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83" r:id="rId135"/>
    <p:sldId id="384" r:id="rId136"/>
    <p:sldId id="385" r:id="rId137"/>
    <p:sldId id="386" r:id="rId138"/>
    <p:sldId id="387" r:id="rId139"/>
    <p:sldId id="388" r:id="rId140"/>
    <p:sldId id="389" r:id="rId141"/>
    <p:sldId id="390" r:id="rId15"/>
  </p:sldIdLst>
  <p:sldSz cx="12191695" cy="6858000" type="screen4x3"/>
  <p:notesSz cx="6858000" cy="9144000"/>
  <p:defaultTextStyle>
    <a:defPPr>
      <a:defRPr lang="tr-TR"/>
    </a:defPPr>
    <a:lvl1pPr marL="0" algn="l" defTabSz="457200" rtl="0" eaLnBrk="1" latinLnBrk="0" hangingPunct="1">
      <a:defRPr lang="tr-TR" sz="1800" kern="1200">
        <a:solidFill>
          <a:schemeClr val="tx1"/>
        </a:solidFill>
        <a:latin typeface="+mn-lt"/>
        <a:ea typeface="+mn-ea"/>
        <a:cs typeface="+mn-cs"/>
      </a:defRPr>
    </a:lvl1pPr>
    <a:lvl2pPr marL="457200" algn="l" defTabSz="457200" rtl="0" eaLnBrk="1" latinLnBrk="0" hangingPunct="1">
      <a:defRPr lang="tr-TR" sz="1800" kern="1200">
        <a:solidFill>
          <a:schemeClr val="tx1"/>
        </a:solidFill>
        <a:latin typeface="+mn-lt"/>
        <a:ea typeface="+mn-ea"/>
        <a:cs typeface="+mn-cs"/>
      </a:defRPr>
    </a:lvl2pPr>
    <a:lvl3pPr marL="914400" algn="l" defTabSz="457200" rtl="0" eaLnBrk="1" latinLnBrk="0" hangingPunct="1">
      <a:defRPr lang="tr-TR" sz="1800" kern="1200">
        <a:solidFill>
          <a:schemeClr val="tx1"/>
        </a:solidFill>
        <a:latin typeface="+mn-lt"/>
        <a:ea typeface="+mn-ea"/>
        <a:cs typeface="+mn-cs"/>
      </a:defRPr>
    </a:lvl3pPr>
    <a:lvl4pPr marL="1371600" algn="l" defTabSz="457200" rtl="0" eaLnBrk="1" latinLnBrk="0" hangingPunct="1">
      <a:defRPr lang="tr-TR" sz="1800" kern="1200">
        <a:solidFill>
          <a:schemeClr val="tx1"/>
        </a:solidFill>
        <a:latin typeface="+mn-lt"/>
        <a:ea typeface="+mn-ea"/>
        <a:cs typeface="+mn-cs"/>
      </a:defRPr>
    </a:lvl4pPr>
    <a:lvl5pPr marL="1828800" algn="l" defTabSz="457200" rtl="0" eaLnBrk="1" latinLnBrk="0" hangingPunct="1">
      <a:defRPr lang="tr-TR" sz="1800" kern="1200">
        <a:solidFill>
          <a:schemeClr val="tx1"/>
        </a:solidFill>
        <a:latin typeface="+mn-lt"/>
        <a:ea typeface="+mn-ea"/>
        <a:cs typeface="+mn-cs"/>
      </a:defRPr>
    </a:lvl5pPr>
    <a:lvl6pPr marL="2286000" algn="l" defTabSz="457200" rtl="0" eaLnBrk="1" latinLnBrk="0" hangingPunct="1">
      <a:defRPr lang="tr-TR" sz="1800" kern="1200">
        <a:solidFill>
          <a:schemeClr val="tx1"/>
        </a:solidFill>
        <a:latin typeface="+mn-lt"/>
        <a:ea typeface="+mn-ea"/>
        <a:cs typeface="+mn-cs"/>
      </a:defRPr>
    </a:lvl6pPr>
    <a:lvl7pPr marL="2743200" algn="l" defTabSz="457200" rtl="0" eaLnBrk="1" latinLnBrk="0" hangingPunct="1">
      <a:defRPr lang="tr-TR" sz="1800" kern="1200">
        <a:solidFill>
          <a:schemeClr val="tx1"/>
        </a:solidFill>
        <a:latin typeface="+mn-lt"/>
        <a:ea typeface="+mn-ea"/>
        <a:cs typeface="+mn-cs"/>
      </a:defRPr>
    </a:lvl7pPr>
    <a:lvl8pPr marL="3200400" algn="l" defTabSz="457200" rtl="0" eaLnBrk="1" latinLnBrk="0" hangingPunct="1">
      <a:defRPr lang="tr-TR" sz="1800" kern="1200">
        <a:solidFill>
          <a:schemeClr val="tx1"/>
        </a:solidFill>
        <a:latin typeface="+mn-lt"/>
        <a:ea typeface="+mn-ea"/>
        <a:cs typeface="+mn-cs"/>
      </a:defRPr>
    </a:lvl8pPr>
    <a:lvl9pPr marL="3657600" algn="l" defTabSz="457200" rtl="0" eaLnBrk="1" latinLnBrk="0" hangingPunct="1">
      <a:defRPr lang="tr-T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15" Type="http://schemas.openxmlformats.org/officeDocument/2006/relationships/slide" Target="slides/slide8.xml"/><Relationship Id="rId135" Type="http://schemas.openxmlformats.org/officeDocument/2006/relationships/slide" Target="slides/slide1.xml"/><Relationship Id="rId136" Type="http://schemas.openxmlformats.org/officeDocument/2006/relationships/slide" Target="slides/slide2.xml"/><Relationship Id="rId137" Type="http://schemas.openxmlformats.org/officeDocument/2006/relationships/slide" Target="slides/slide3.xml"/><Relationship Id="rId138" Type="http://schemas.openxmlformats.org/officeDocument/2006/relationships/slide" Target="slides/slide4.xml"/><Relationship Id="rId139" Type="http://schemas.openxmlformats.org/officeDocument/2006/relationships/slide" Target="slides/slide5.xml"/><Relationship Id="rId140" Type="http://schemas.openxmlformats.org/officeDocument/2006/relationships/slide" Target="slides/slide6.xml"/><Relationship Id="rId141"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lang="tr-TR" sz="1200"/>
            </a:lvl1pPr>
          </a:lstStyle>
          <a:p>
            <a:endParaRPr lang="tr-T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lang="tr-TR" sz="1200"/>
            </a:lvl1pPr>
          </a:lstStyle>
          <a:p>
            <a:fld id="{0F89C1C7-3DCD-1040-A9CF-14679D8B5DDD}" type="datetimeFigureOut">
              <a:rPr lang="tr-TR" smtClean="0"/>
              <a:t>10/17/16</a:t>
            </a:fld>
            <a:endParaRPr lang="tr-T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tr-T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lang="tr-TR" sz="1200"/>
            </a:lvl1pPr>
          </a:lstStyle>
          <a:p>
            <a:endParaRPr lang="tr-T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lang="tr-TR" sz="1200"/>
            </a:lvl1pPr>
          </a:lstStyle>
          <a:p>
            <a:fld id="{BB5E49A5-4136-284D-997B-48E1D791AD67}" type="slidenum">
              <a:rPr lang="tr-TR" smtClean="0"/>
              <a:t>‹#›</a:t>
            </a:fld>
            <a:endParaRPr lang="tr-TR"/>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lang="tr-TR" sz="1200" kern="1200">
        <a:solidFill>
          <a:schemeClr val="tx1"/>
        </a:solidFill>
        <a:latin typeface="+mn-lt"/>
        <a:ea typeface="+mn-ea"/>
        <a:cs typeface="+mn-cs"/>
      </a:defRPr>
    </a:lvl1pPr>
    <a:lvl2pPr marL="457200" algn="l" defTabSz="457200" rtl="0" eaLnBrk="1" latinLnBrk="0" hangingPunct="1">
      <a:defRPr lang="tr-TR" sz="1200" kern="1200">
        <a:solidFill>
          <a:schemeClr val="tx1"/>
        </a:solidFill>
        <a:latin typeface="+mn-lt"/>
        <a:ea typeface="+mn-ea"/>
        <a:cs typeface="+mn-cs"/>
      </a:defRPr>
    </a:lvl2pPr>
    <a:lvl3pPr marL="914400" algn="l" defTabSz="457200" rtl="0" eaLnBrk="1" latinLnBrk="0" hangingPunct="1">
      <a:defRPr lang="tr-TR" sz="1200" kern="1200">
        <a:solidFill>
          <a:schemeClr val="tx1"/>
        </a:solidFill>
        <a:latin typeface="+mn-lt"/>
        <a:ea typeface="+mn-ea"/>
        <a:cs typeface="+mn-cs"/>
      </a:defRPr>
    </a:lvl3pPr>
    <a:lvl4pPr marL="1371600" algn="l" defTabSz="457200" rtl="0" eaLnBrk="1" latinLnBrk="0" hangingPunct="1">
      <a:defRPr lang="tr-TR" sz="1200" kern="1200">
        <a:solidFill>
          <a:schemeClr val="tx1"/>
        </a:solidFill>
        <a:latin typeface="+mn-lt"/>
        <a:ea typeface="+mn-ea"/>
        <a:cs typeface="+mn-cs"/>
      </a:defRPr>
    </a:lvl4pPr>
    <a:lvl5pPr marL="1828800" algn="l" defTabSz="457200" rtl="0" eaLnBrk="1" latinLnBrk="0" hangingPunct="1">
      <a:defRPr lang="tr-TR" sz="1200" kern="1200">
        <a:solidFill>
          <a:schemeClr val="tx1"/>
        </a:solidFill>
        <a:latin typeface="+mn-lt"/>
        <a:ea typeface="+mn-ea"/>
        <a:cs typeface="+mn-cs"/>
      </a:defRPr>
    </a:lvl5pPr>
    <a:lvl6pPr marL="2286000" algn="l" defTabSz="457200" rtl="0" eaLnBrk="1" latinLnBrk="0" hangingPunct="1">
      <a:defRPr lang="tr-TR" sz="1200" kern="1200">
        <a:solidFill>
          <a:schemeClr val="tx1"/>
        </a:solidFill>
        <a:latin typeface="+mn-lt"/>
        <a:ea typeface="+mn-ea"/>
        <a:cs typeface="+mn-cs"/>
      </a:defRPr>
    </a:lvl6pPr>
    <a:lvl7pPr marL="2743200" algn="l" defTabSz="457200" rtl="0" eaLnBrk="1" latinLnBrk="0" hangingPunct="1">
      <a:defRPr lang="tr-TR" sz="1200" kern="1200">
        <a:solidFill>
          <a:schemeClr val="tx1"/>
        </a:solidFill>
        <a:latin typeface="+mn-lt"/>
        <a:ea typeface="+mn-ea"/>
        <a:cs typeface="+mn-cs"/>
      </a:defRPr>
    </a:lvl7pPr>
    <a:lvl8pPr marL="3200400" algn="l" defTabSz="457200" rtl="0" eaLnBrk="1" latinLnBrk="0" hangingPunct="1">
      <a:defRPr lang="tr-TR" sz="1200" kern="1200">
        <a:solidFill>
          <a:schemeClr val="tx1"/>
        </a:solidFill>
        <a:latin typeface="+mn-lt"/>
        <a:ea typeface="+mn-ea"/>
        <a:cs typeface="+mn-cs"/>
      </a:defRPr>
    </a:lvl8pPr>
    <a:lvl9pPr marL="3657600" algn="l" defTabSz="457200" rtl="0" eaLnBrk="1" latinLnBrk="0" hangingPunct="1">
      <a:defRPr lang="tr-T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Kaynak gösterimi — 5846 sayılı Kanun md. 34 eğitim amaçlı seçme ve toplama eserlerde eserin ve eser sahibinin adının belirtilmesini ister. Derste gösterilmesi gerekmez; dosyayı paylaşırken bu slaytı silmeyin.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Kitabın ünite ölçme sorularından 1. soru (sıralama) ve 2. soru (gerekçe).</a:t>
            </a:r>
          </a:p>
          <a:p/>
          <a:p>
            <a:r>
              <a:t>NASIL: Ev çalışmasıdır; 4. haftanın başında ya da ödev kontrolünde kullanın.</a:t>
            </a:r>
          </a:p>
          <a:p/>
          <a:p>
            <a:r>
              <a:t>KAYNAK: Kitap s. 29 (bilgiler, soru ve seçenekler birebir).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Doğru sıralama ve gerekçesi.</a:t>
            </a:r>
          </a:p>
          <a:p/>
          <a:p>
            <a:r>
              <a:t>BEKLENEN CEVAP: D) III, IV, I, II. Gerekçe: III Eski Çağ (yazının icadı), IV Orta Çağ (İpek ve Baharat Yolu), I Yeni Çağ (keşifler ve matbaa), II Yakın Çağ (Fransız İhtilali ve Sanayi Devrimi).</a:t>
            </a:r>
          </a:p>
          <a:p/>
          <a:p>
            <a:r>
              <a:t>KAYNAK: Kitap s. 24 (çağların etkenleri) ve s. 29.</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Görseldeki unsur ve olayları doğal-beşerî süreçlerle ve coğrafyanın alt dallarıyla ilişkilendirmek.</a:t>
            </a:r>
          </a:p>
          <a:p/>
          <a:p>
            <a:r>
              <a:t>NASIL: 3. soru tablosu kitapta (s. 30); 4. sorunun eşleştirmeleri sağdaki tablodadır, doğru olanlar işaretlenir. Önce gruplar tartışsın, sonra sınıfça karar verin.</a:t>
            </a:r>
          </a:p>
          <a:p/>
          <a:p>
            <a:r>
              <a:t>BEKLENEN CEVAP: Kitapta cevap anahtarı yoktur; unsurlar görselden okunmuştur. 1 kayalık dağ yamacı → jeomorfoloji (doğru) · 2 tarım alanları → ekonomik coğrafya (doğru: tarım) · 3 yerleşme → yerleşme coğrafyası (doğru) · 4 orman → biyocoğrafya (doğru) · 5 kumsal/plaj (şemsiyeler, turizm) → ekonomik coğrafya (turizm kullanımıyla doğru; kumsalın oluşumu sorulsaydı jeomorfoloji) · 6 marina ve tekneler → ekonomik coğrafya (doğru: turizm) · 7 deniz → jeomorfoloji (YANLIŞ: deniz hidrografyanın konusudur).</a:t>
            </a:r>
          </a:p>
          <a:p/>
          <a:p>
            <a:r>
              <a:t>KAYNAK: Kitap s. 30-31 (görsel, 3. ve 4. soru birebir; eşleştirme tablosu kitaptaki sırayla).</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3. sorunun tablosu ve 4. sorunun eşleştirmeleri için örnek cevap.</a:t>
            </a:r>
          </a:p>
          <a:p/>
          <a:p>
            <a:r>
              <a:t>NASIL: Kitapta cevap anahtarı yoktur; unsurlar görselden okunmuştur. 5 numara için tartışma açın: kumsalın oluşumu sorulsa jeomorfoloji, turizmde kullanımı düşünüldüğünde ekonomik coğrafya doğru kabul edilir. 7 numaradaki deniz, su küreyi inceleyen hidrografyanın konusudur.</a:t>
            </a:r>
          </a:p>
          <a:p/>
          <a:p>
            <a:r>
              <a:t>BEKLENEN CEVAP: 4. soruda doğru eşleştirmeler: 1, 2, 3, 4, 5, 6. Yanlış: 7 (jeomorfoloji değil hidrografya).</a:t>
            </a:r>
          </a:p>
          <a:p/>
          <a:p>
            <a:r>
              <a:t>KAYNAK: Kitap s. 30-31 (görsel ve sorular); s. 18-19 (alt dalların inceleme alanları).</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Beşerî süreçlerin doğal ortamda yol açtığı değişim ve riskleri, coğrafi bakışla tasarlanan arazi kullanımıyla ilişkilendirmek.</a:t>
            </a:r>
          </a:p>
          <a:p/>
          <a:p>
            <a:r>
              <a:t>NASIL: Açık uçlu; deftere yazılır. 7. soruyu 2. haftanın planlama önerileriyle bağlayın.</a:t>
            </a:r>
          </a:p>
          <a:p/>
          <a:p>
            <a:r>
              <a:t>KAYNAK: Kitap s. 31 (5-7. sorular birebir).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Açık uçlu 5-7. soruların örnek cevapları.</a:t>
            </a:r>
          </a:p>
          <a:p/>
          <a:p>
            <a:r>
              <a:t>NASIL: Öğrenci cevabında en az iki değişim (5), iki risk (6) ve gerekçeli bir 'evet' (7) arayın. 7. soruyu 2. haftanın Bozkurt planlama önerileriyle bağlayın.</a:t>
            </a:r>
          </a:p>
          <a:p/>
          <a:p>
            <a:r>
              <a:t>BEKLENEN CEVAP: Kartlardaki maddeler; gerekçeli her cevap kabul edilir.</a:t>
            </a:r>
          </a:p>
          <a:p/>
          <a:p>
            <a:r>
              <a:t>KAYNAK: Kitap s. 30-31 (görsel ve sorular); s. 21 (doğal ortamın sınırlılıkları, insan faaliyetlerinin tehditleri) ve s. 23 (mekânsal planlama).</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Ünite sonu ev çalışmasını ve sıradaki üniteyi duyurmak.</a:t>
            </a:r>
          </a:p>
          <a:p/>
          <a:p>
            <a:r>
              <a:t>NASIL: Gelişim raporu ünite bitişini izleyen sürede doldurulur (2026-2027 Genelgesi bent 20). MEBİ/EBA erişimi olmayan öğrenci için okul bilgisayar laboratuvarında ders dışı saat planlanır.</a:t>
            </a:r>
          </a:p>
          <a:p/>
          <a:p>
            <a:r>
              <a:t>KAYNAK: Ders planı 3. hafta ev çalışması ve notlar; program (2. ünite); kapak fotoğrafı kitap s. 12-13.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tr-TR" smtClean="0"/>
              <a:t>Click to edit Master title style</a:t>
            </a:r>
            <a:endParaRPr lang="tr-TR"/>
          </a:p>
        </p:txBody>
      </p:sp>
      <p:sp>
        <p:nvSpPr>
          <p:cNvPr id="3" name="Subtitle 2"/>
          <p:cNvSpPr>
            <a:spLocks noGrp="1"/>
          </p:cNvSpPr>
          <p:nvPr>
            <p:ph type="subTitle" idx="1"/>
          </p:nvPr>
        </p:nvSpPr>
        <p:spPr>
          <a:xfrm>
            <a:off x="1371600" y="3886200"/>
            <a:ext cx="6400800" cy="1752600"/>
          </a:xfrm>
        </p:spPr>
        <p:txBody>
          <a:bodyPr/>
          <a:lstStyle>
            <a:lvl1pPr marL="0" indent="0" algn="ctr">
              <a:buNone/>
              <a:defRPr lang="tr-TR">
                <a:solidFill>
                  <a:schemeClr val="tx1">
                    <a:tint val="75000"/>
                  </a:schemeClr>
                </a:solidFill>
              </a:defRPr>
            </a:lvl1pPr>
            <a:lvl2pPr marL="457200" indent="0" algn="ctr">
              <a:buNone/>
              <a:defRPr lang="tr-TR">
                <a:solidFill>
                  <a:schemeClr val="tx1">
                    <a:tint val="75000"/>
                  </a:schemeClr>
                </a:solidFill>
              </a:defRPr>
            </a:lvl2pPr>
            <a:lvl3pPr marL="914400" indent="0" algn="ctr">
              <a:buNone/>
              <a:defRPr lang="tr-TR">
                <a:solidFill>
                  <a:schemeClr val="tx1">
                    <a:tint val="75000"/>
                  </a:schemeClr>
                </a:solidFill>
              </a:defRPr>
            </a:lvl3pPr>
            <a:lvl4pPr marL="1371600" indent="0" algn="ctr">
              <a:buNone/>
              <a:defRPr lang="tr-TR">
                <a:solidFill>
                  <a:schemeClr val="tx1">
                    <a:tint val="75000"/>
                  </a:schemeClr>
                </a:solidFill>
              </a:defRPr>
            </a:lvl4pPr>
            <a:lvl5pPr marL="1828800" indent="0" algn="ctr">
              <a:buNone/>
              <a:defRPr lang="tr-TR">
                <a:solidFill>
                  <a:schemeClr val="tx1">
                    <a:tint val="75000"/>
                  </a:schemeClr>
                </a:solidFill>
              </a:defRPr>
            </a:lvl5pPr>
            <a:lvl6pPr marL="2286000" indent="0" algn="ctr">
              <a:buNone/>
              <a:defRPr lang="tr-TR">
                <a:solidFill>
                  <a:schemeClr val="tx1">
                    <a:tint val="75000"/>
                  </a:schemeClr>
                </a:solidFill>
              </a:defRPr>
            </a:lvl6pPr>
            <a:lvl7pPr marL="2743200" indent="0" algn="ctr">
              <a:buNone/>
              <a:defRPr lang="tr-TR">
                <a:solidFill>
                  <a:schemeClr val="tx1">
                    <a:tint val="75000"/>
                  </a:schemeClr>
                </a:solidFill>
              </a:defRPr>
            </a:lvl7pPr>
            <a:lvl8pPr marL="3200400" indent="0" algn="ctr">
              <a:buNone/>
              <a:defRPr lang="tr-TR">
                <a:solidFill>
                  <a:schemeClr val="tx1">
                    <a:tint val="75000"/>
                  </a:schemeClr>
                </a:solidFill>
              </a:defRPr>
            </a:lvl8pPr>
            <a:lvl9pPr marL="3657600" indent="0" algn="ctr">
              <a:buNone/>
              <a:defRPr lang="tr-TR">
                <a:solidFill>
                  <a:schemeClr val="tx1">
                    <a:tint val="75000"/>
                  </a:schemeClr>
                </a:solidFill>
              </a:defRPr>
            </a:lvl9pPr>
          </a:lstStyle>
          <a:p>
            <a:r>
              <a:rPr lang="tr-TR" smtClean="0"/>
              <a:t>Click to edit Master subtitle style</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Content Placeholder 2"/>
          <p:cNvSpPr>
            <a:spLocks noGrp="1"/>
          </p:cNvSpPr>
          <p:nvPr>
            <p:ph idx="1"/>
          </p:nvPr>
        </p:nvSpPr>
        <p:spPr/>
        <p:txBody>
          <a:body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lang="tr-TR" sz="4000" b="1" cap="all"/>
            </a:lvl1pPr>
          </a:lstStyle>
          <a:p>
            <a:r>
              <a:rPr lang="tr-TR" smtClean="0"/>
              <a:t>Click to edit Master title style</a:t>
            </a:r>
            <a:endParaRPr lang="tr-TR"/>
          </a:p>
        </p:txBody>
      </p:sp>
      <p:sp>
        <p:nvSpPr>
          <p:cNvPr id="3" name="Text Placeholder 2"/>
          <p:cNvSpPr>
            <a:spLocks noGrp="1"/>
          </p:cNvSpPr>
          <p:nvPr>
            <p:ph type="body" idx="1"/>
          </p:nvPr>
        </p:nvSpPr>
        <p:spPr>
          <a:xfrm>
            <a:off x="722313" y="2906713"/>
            <a:ext cx="7772400" cy="1500187"/>
          </a:xfrm>
        </p:spPr>
        <p:txBody>
          <a:bodyPr anchor="b"/>
          <a:lstStyle>
            <a:lvl1pPr marL="0" indent="0">
              <a:buNone/>
              <a:defRPr lang="tr-TR" sz="2000">
                <a:solidFill>
                  <a:schemeClr val="tx1">
                    <a:tint val="75000"/>
                  </a:schemeClr>
                </a:solidFill>
              </a:defRPr>
            </a:lvl1pPr>
            <a:lvl2pPr marL="457200" indent="0">
              <a:buNone/>
              <a:defRPr lang="tr-TR" sz="1800">
                <a:solidFill>
                  <a:schemeClr val="tx1">
                    <a:tint val="75000"/>
                  </a:schemeClr>
                </a:solidFill>
              </a:defRPr>
            </a:lvl2pPr>
            <a:lvl3pPr marL="914400" indent="0">
              <a:buNone/>
              <a:defRPr lang="tr-TR" sz="1600">
                <a:solidFill>
                  <a:schemeClr val="tx1">
                    <a:tint val="75000"/>
                  </a:schemeClr>
                </a:solidFill>
              </a:defRPr>
            </a:lvl3pPr>
            <a:lvl4pPr marL="1371600" indent="0">
              <a:buNone/>
              <a:defRPr lang="tr-TR" sz="1400">
                <a:solidFill>
                  <a:schemeClr val="tx1">
                    <a:tint val="75000"/>
                  </a:schemeClr>
                </a:solidFill>
              </a:defRPr>
            </a:lvl4pPr>
            <a:lvl5pPr marL="1828800" indent="0">
              <a:buNone/>
              <a:defRPr lang="tr-TR" sz="1400">
                <a:solidFill>
                  <a:schemeClr val="tx1">
                    <a:tint val="75000"/>
                  </a:schemeClr>
                </a:solidFill>
              </a:defRPr>
            </a:lvl5pPr>
            <a:lvl6pPr marL="2286000" indent="0">
              <a:buNone/>
              <a:defRPr lang="tr-TR" sz="1400">
                <a:solidFill>
                  <a:schemeClr val="tx1">
                    <a:tint val="75000"/>
                  </a:schemeClr>
                </a:solidFill>
              </a:defRPr>
            </a:lvl6pPr>
            <a:lvl7pPr marL="2743200" indent="0">
              <a:buNone/>
              <a:defRPr lang="tr-TR" sz="1400">
                <a:solidFill>
                  <a:schemeClr val="tx1">
                    <a:tint val="75000"/>
                  </a:schemeClr>
                </a:solidFill>
              </a:defRPr>
            </a:lvl7pPr>
            <a:lvl8pPr marL="3200400" indent="0">
              <a:buNone/>
              <a:defRPr lang="tr-TR" sz="1400">
                <a:solidFill>
                  <a:schemeClr val="tx1">
                    <a:tint val="75000"/>
                  </a:schemeClr>
                </a:solidFill>
              </a:defRPr>
            </a:lvl8pPr>
            <a:lvl9pPr marL="3657600" indent="0">
              <a:buNone/>
              <a:defRPr lang="tr-TR" sz="1400">
                <a:solidFill>
                  <a:schemeClr val="tx1">
                    <a:tint val="75000"/>
                  </a:schemeClr>
                </a:solidFill>
              </a:defRPr>
            </a:lvl9pPr>
          </a:lstStyle>
          <a:p>
            <a:pPr lvl="0"/>
            <a:r>
              <a:rPr lang="tr-TR"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Content Placeholder 2"/>
          <p:cNvSpPr>
            <a:spLocks noGrp="1"/>
          </p:cNvSpPr>
          <p:nvPr>
            <p:ph sz="half" idx="1"/>
          </p:nvPr>
        </p:nvSpPr>
        <p:spPr>
          <a:xfrm>
            <a:off x="457200" y="1600200"/>
            <a:ext cx="4038600" cy="4525963"/>
          </a:xfrm>
        </p:spPr>
        <p:txBody>
          <a:bodyPr/>
          <a:lstStyle>
            <a:lvl1pPr>
              <a:defRPr lang="tr-TR" sz="2800"/>
            </a:lvl1pPr>
            <a:lvl2pPr>
              <a:defRPr lang="tr-TR" sz="2400"/>
            </a:lvl2pPr>
            <a:lvl3pPr>
              <a:defRPr lang="tr-TR" sz="2000"/>
            </a:lvl3pPr>
            <a:lvl4pPr>
              <a:defRPr lang="tr-TR" sz="1800"/>
            </a:lvl4pPr>
            <a:lvl5pPr>
              <a:defRPr lang="tr-TR" sz="1800"/>
            </a:lvl5pPr>
            <a:lvl6pPr>
              <a:defRPr lang="tr-TR" sz="1800"/>
            </a:lvl6pPr>
            <a:lvl7pPr>
              <a:defRPr lang="tr-TR" sz="1800"/>
            </a:lvl7pPr>
            <a:lvl8pPr>
              <a:defRPr lang="tr-TR" sz="1800"/>
            </a:lvl8pPr>
            <a:lvl9pPr>
              <a:defRPr lang="tr-TR" sz="18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Content Placeholder 3"/>
          <p:cNvSpPr>
            <a:spLocks noGrp="1"/>
          </p:cNvSpPr>
          <p:nvPr>
            <p:ph sz="half" idx="2"/>
          </p:nvPr>
        </p:nvSpPr>
        <p:spPr>
          <a:xfrm>
            <a:off x="4648200" y="1600200"/>
            <a:ext cx="4038600" cy="4525963"/>
          </a:xfrm>
        </p:spPr>
        <p:txBody>
          <a:bodyPr/>
          <a:lstStyle>
            <a:lvl1pPr>
              <a:defRPr lang="tr-TR" sz="2800"/>
            </a:lvl1pPr>
            <a:lvl2pPr>
              <a:defRPr lang="tr-TR" sz="2400"/>
            </a:lvl2pPr>
            <a:lvl3pPr>
              <a:defRPr lang="tr-TR" sz="2000"/>
            </a:lvl3pPr>
            <a:lvl4pPr>
              <a:defRPr lang="tr-TR" sz="1800"/>
            </a:lvl4pPr>
            <a:lvl5pPr>
              <a:defRPr lang="tr-TR" sz="1800"/>
            </a:lvl5pPr>
            <a:lvl6pPr>
              <a:defRPr lang="tr-TR" sz="1800"/>
            </a:lvl6pPr>
            <a:lvl7pPr>
              <a:defRPr lang="tr-TR" sz="1800"/>
            </a:lvl7pPr>
            <a:lvl8pPr>
              <a:defRPr lang="tr-TR" sz="1800"/>
            </a:lvl8pPr>
            <a:lvl9pPr>
              <a:defRPr lang="tr-TR" sz="18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5" name="Date Placeholder 4"/>
          <p:cNvSpPr>
            <a:spLocks noGrp="1"/>
          </p:cNvSpPr>
          <p:nvPr>
            <p:ph type="dt" sz="half" idx="10"/>
          </p:nvPr>
        </p:nvSpPr>
        <p:spPr/>
        <p:txBody>
          <a:bodyPr/>
          <a:lstStyle/>
          <a:p>
            <a:fld id="{5BCAD085-E8A6-8845-BD4E-CB4CCA059FC4}" type="datetimeFigureOut">
              <a:rPr lang="tr-TR" smtClean="0"/>
              <a:t>1/27/13</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tr-TR"/>
            </a:lvl1pPr>
          </a:lstStyle>
          <a:p>
            <a:r>
              <a:rPr lang="tr-TR" smtClean="0"/>
              <a:t>Click to edit Master title style</a:t>
            </a:r>
            <a:endParaRPr lang="tr-TR"/>
          </a:p>
        </p:txBody>
      </p:sp>
      <p:sp>
        <p:nvSpPr>
          <p:cNvPr id="3" name="Text Placeholder 2"/>
          <p:cNvSpPr>
            <a:spLocks noGrp="1"/>
          </p:cNvSpPr>
          <p:nvPr>
            <p:ph type="body" idx="1"/>
          </p:nvPr>
        </p:nvSpPr>
        <p:spPr>
          <a:xfrm>
            <a:off x="457200" y="1535113"/>
            <a:ext cx="4040188" cy="639762"/>
          </a:xfrm>
        </p:spPr>
        <p:txBody>
          <a:bodyPr anchor="b"/>
          <a:lstStyle>
            <a:lvl1pPr marL="0" indent="0">
              <a:buNone/>
              <a:defRPr lang="tr-TR" sz="2400" b="1"/>
            </a:lvl1pPr>
            <a:lvl2pPr marL="457200" indent="0">
              <a:buNone/>
              <a:defRPr lang="tr-TR" sz="2000" b="1"/>
            </a:lvl2pPr>
            <a:lvl3pPr marL="914400" indent="0">
              <a:buNone/>
              <a:defRPr lang="tr-TR" sz="1800" b="1"/>
            </a:lvl3pPr>
            <a:lvl4pPr marL="1371600" indent="0">
              <a:buNone/>
              <a:defRPr lang="tr-TR" sz="1600" b="1"/>
            </a:lvl4pPr>
            <a:lvl5pPr marL="1828800" indent="0">
              <a:buNone/>
              <a:defRPr lang="tr-TR" sz="1600" b="1"/>
            </a:lvl5pPr>
            <a:lvl6pPr marL="2286000" indent="0">
              <a:buNone/>
              <a:defRPr lang="tr-TR" sz="1600" b="1"/>
            </a:lvl6pPr>
            <a:lvl7pPr marL="2743200" indent="0">
              <a:buNone/>
              <a:defRPr lang="tr-TR" sz="1600" b="1"/>
            </a:lvl7pPr>
            <a:lvl8pPr marL="3200400" indent="0">
              <a:buNone/>
              <a:defRPr lang="tr-TR" sz="1600" b="1"/>
            </a:lvl8pPr>
            <a:lvl9pPr marL="3657600" indent="0">
              <a:buNone/>
              <a:defRPr lang="tr-TR" sz="1600" b="1"/>
            </a:lvl9pPr>
          </a:lstStyle>
          <a:p>
            <a:pPr lvl="0"/>
            <a:r>
              <a:rPr lang="tr-TR"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lang="tr-TR" sz="2400"/>
            </a:lvl1pPr>
            <a:lvl2pPr>
              <a:defRPr lang="tr-TR" sz="2000"/>
            </a:lvl2pPr>
            <a:lvl3pPr>
              <a:defRPr lang="tr-TR" sz="1800"/>
            </a:lvl3pPr>
            <a:lvl4pPr>
              <a:defRPr lang="tr-TR" sz="1600"/>
            </a:lvl4pPr>
            <a:lvl5pPr>
              <a:defRPr lang="tr-TR" sz="1600"/>
            </a:lvl5pPr>
            <a:lvl6pPr>
              <a:defRPr lang="tr-TR" sz="1600"/>
            </a:lvl6pPr>
            <a:lvl7pPr>
              <a:defRPr lang="tr-TR" sz="1600"/>
            </a:lvl7pPr>
            <a:lvl8pPr>
              <a:defRPr lang="tr-TR" sz="1600"/>
            </a:lvl8pPr>
            <a:lvl9pPr>
              <a:defRPr lang="tr-TR" sz="16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lang="tr-TR" sz="2400" b="1"/>
            </a:lvl1pPr>
            <a:lvl2pPr marL="457200" indent="0">
              <a:buNone/>
              <a:defRPr lang="tr-TR" sz="2000" b="1"/>
            </a:lvl2pPr>
            <a:lvl3pPr marL="914400" indent="0">
              <a:buNone/>
              <a:defRPr lang="tr-TR" sz="1800" b="1"/>
            </a:lvl3pPr>
            <a:lvl4pPr marL="1371600" indent="0">
              <a:buNone/>
              <a:defRPr lang="tr-TR" sz="1600" b="1"/>
            </a:lvl4pPr>
            <a:lvl5pPr marL="1828800" indent="0">
              <a:buNone/>
              <a:defRPr lang="tr-TR" sz="1600" b="1"/>
            </a:lvl5pPr>
            <a:lvl6pPr marL="2286000" indent="0">
              <a:buNone/>
              <a:defRPr lang="tr-TR" sz="1600" b="1"/>
            </a:lvl6pPr>
            <a:lvl7pPr marL="2743200" indent="0">
              <a:buNone/>
              <a:defRPr lang="tr-TR" sz="1600" b="1"/>
            </a:lvl7pPr>
            <a:lvl8pPr marL="3200400" indent="0">
              <a:buNone/>
              <a:defRPr lang="tr-TR" sz="1600" b="1"/>
            </a:lvl8pPr>
            <a:lvl9pPr marL="3657600" indent="0">
              <a:buNone/>
              <a:defRPr lang="tr-TR" sz="1600" b="1"/>
            </a:lvl9pPr>
          </a:lstStyle>
          <a:p>
            <a:pPr lvl="0"/>
            <a:r>
              <a:rPr lang="tr-TR"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lang="tr-TR" sz="2400"/>
            </a:lvl1pPr>
            <a:lvl2pPr>
              <a:defRPr lang="tr-TR" sz="2000"/>
            </a:lvl2pPr>
            <a:lvl3pPr>
              <a:defRPr lang="tr-TR" sz="1800"/>
            </a:lvl3pPr>
            <a:lvl4pPr>
              <a:defRPr lang="tr-TR" sz="1600"/>
            </a:lvl4pPr>
            <a:lvl5pPr>
              <a:defRPr lang="tr-TR" sz="1600"/>
            </a:lvl5pPr>
            <a:lvl6pPr>
              <a:defRPr lang="tr-TR" sz="1600"/>
            </a:lvl6pPr>
            <a:lvl7pPr>
              <a:defRPr lang="tr-TR" sz="1600"/>
            </a:lvl7pPr>
            <a:lvl8pPr>
              <a:defRPr lang="tr-TR" sz="1600"/>
            </a:lvl8pPr>
            <a:lvl9pPr>
              <a:defRPr lang="tr-TR" sz="16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7" name="Date Placeholder 6"/>
          <p:cNvSpPr>
            <a:spLocks noGrp="1"/>
          </p:cNvSpPr>
          <p:nvPr>
            <p:ph type="dt" sz="half" idx="10"/>
          </p:nvPr>
        </p:nvSpPr>
        <p:spPr/>
        <p:txBody>
          <a:bodyPr/>
          <a:lstStyle/>
          <a:p>
            <a:fld id="{5BCAD085-E8A6-8845-BD4E-CB4CCA059FC4}" type="datetimeFigureOut">
              <a:rPr lang="tr-TR" smtClean="0"/>
              <a:t>1/27/13</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Date Placeholder 2"/>
          <p:cNvSpPr>
            <a:spLocks noGrp="1"/>
          </p:cNvSpPr>
          <p:nvPr>
            <p:ph type="dt" sz="half" idx="10"/>
          </p:nvPr>
        </p:nvSpPr>
        <p:spPr/>
        <p:txBody>
          <a:bodyPr/>
          <a:lstStyle/>
          <a:p>
            <a:fld id="{5BCAD085-E8A6-8845-BD4E-CB4CCA059FC4}" type="datetimeFigureOut">
              <a:rPr lang="tr-TR" smtClean="0"/>
              <a:t>1/27/13</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tr-TR" smtClean="0"/>
              <a:t>1/27/13</a:t>
            </a:fld>
            <a:endParaRPr lang="tr-TR"/>
          </a:p>
        </p:txBody>
      </p:sp>
      <p:sp>
        <p:nvSpPr>
          <p:cNvPr id="3" name="Footer Placeholder 2"/>
          <p:cNvSpPr>
            <a:spLocks noGrp="1"/>
          </p:cNvSpPr>
          <p:nvPr>
            <p:ph type="ftr" sz="quarter" idx="11"/>
          </p:nvPr>
        </p:nvSpPr>
        <p:spPr/>
        <p:txBody>
          <a:bodyPr/>
          <a:lstStyle/>
          <a:p>
            <a:endParaRPr lang="tr-TR"/>
          </a:p>
        </p:txBody>
      </p:sp>
      <p:sp>
        <p:nvSpPr>
          <p:cNvPr id="4" name="Slide Number Placeholder 3"/>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lang="tr-TR" sz="2000" b="1"/>
            </a:lvl1pPr>
          </a:lstStyle>
          <a:p>
            <a:r>
              <a:rPr lang="tr-TR" smtClean="0"/>
              <a:t>Click to edit Master title style</a:t>
            </a:r>
            <a:endParaRPr lang="tr-TR"/>
          </a:p>
        </p:txBody>
      </p:sp>
      <p:sp>
        <p:nvSpPr>
          <p:cNvPr id="3" name="Content Placeholder 2"/>
          <p:cNvSpPr>
            <a:spLocks noGrp="1"/>
          </p:cNvSpPr>
          <p:nvPr>
            <p:ph idx="1"/>
          </p:nvPr>
        </p:nvSpPr>
        <p:spPr>
          <a:xfrm>
            <a:off x="3575050" y="273050"/>
            <a:ext cx="5111750" cy="5853113"/>
          </a:xfrm>
        </p:spPr>
        <p:txBody>
          <a:bodyPr/>
          <a:lstStyle>
            <a:lvl1pPr>
              <a:defRPr lang="tr-TR" sz="3200"/>
            </a:lvl1pPr>
            <a:lvl2pPr>
              <a:defRPr lang="tr-TR" sz="2800"/>
            </a:lvl2pPr>
            <a:lvl3pPr>
              <a:defRPr lang="tr-TR" sz="2400"/>
            </a:lvl3pPr>
            <a:lvl4pPr>
              <a:defRPr lang="tr-TR" sz="2000"/>
            </a:lvl4pPr>
            <a:lvl5pPr>
              <a:defRPr lang="tr-TR" sz="2000"/>
            </a:lvl5pPr>
            <a:lvl6pPr>
              <a:defRPr lang="tr-TR" sz="2000"/>
            </a:lvl6pPr>
            <a:lvl7pPr>
              <a:defRPr lang="tr-TR" sz="2000"/>
            </a:lvl7pPr>
            <a:lvl8pPr>
              <a:defRPr lang="tr-TR" sz="2000"/>
            </a:lvl8pPr>
            <a:lvl9pPr>
              <a:defRPr lang="tr-TR" sz="20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Text Placeholder 3"/>
          <p:cNvSpPr>
            <a:spLocks noGrp="1"/>
          </p:cNvSpPr>
          <p:nvPr>
            <p:ph type="body" sz="half" idx="2"/>
          </p:nvPr>
        </p:nvSpPr>
        <p:spPr>
          <a:xfrm>
            <a:off x="457200" y="1435100"/>
            <a:ext cx="3008313" cy="4691063"/>
          </a:xfrm>
        </p:spPr>
        <p:txBody>
          <a:bodyPr/>
          <a:lstStyle>
            <a:lvl1pPr marL="0" indent="0">
              <a:buNone/>
              <a:defRPr lang="tr-TR" sz="1400"/>
            </a:lvl1pPr>
            <a:lvl2pPr marL="457200" indent="0">
              <a:buNone/>
              <a:defRPr lang="tr-TR" sz="1200"/>
            </a:lvl2pPr>
            <a:lvl3pPr marL="914400" indent="0">
              <a:buNone/>
              <a:defRPr lang="tr-TR" sz="1000"/>
            </a:lvl3pPr>
            <a:lvl4pPr marL="1371600" indent="0">
              <a:buNone/>
              <a:defRPr lang="tr-TR" sz="900"/>
            </a:lvl4pPr>
            <a:lvl5pPr marL="1828800" indent="0">
              <a:buNone/>
              <a:defRPr lang="tr-TR" sz="900"/>
            </a:lvl5pPr>
            <a:lvl6pPr marL="2286000" indent="0">
              <a:buNone/>
              <a:defRPr lang="tr-TR" sz="900"/>
            </a:lvl6pPr>
            <a:lvl7pPr marL="2743200" indent="0">
              <a:buNone/>
              <a:defRPr lang="tr-TR" sz="900"/>
            </a:lvl7pPr>
            <a:lvl8pPr marL="3200400" indent="0">
              <a:buNone/>
              <a:defRPr lang="tr-TR" sz="900"/>
            </a:lvl8pPr>
            <a:lvl9pPr marL="3657600" indent="0">
              <a:buNone/>
              <a:defRPr lang="tr-TR" sz="900"/>
            </a:lvl9pPr>
          </a:lstStyle>
          <a:p>
            <a:pPr lvl="0"/>
            <a:r>
              <a:rPr lang="tr-TR"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tr-TR" smtClean="0"/>
              <a:t>1/27/13</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lang="tr-TR" sz="2000" b="1"/>
            </a:lvl1pPr>
          </a:lstStyle>
          <a:p>
            <a:r>
              <a:rPr lang="tr-TR" smtClean="0"/>
              <a:t>Click to edit Master title style</a:t>
            </a:r>
            <a:endParaRPr lang="tr-TR"/>
          </a:p>
        </p:txBody>
      </p:sp>
      <p:sp>
        <p:nvSpPr>
          <p:cNvPr id="3" name="Picture Placeholder 2"/>
          <p:cNvSpPr>
            <a:spLocks noGrp="1"/>
          </p:cNvSpPr>
          <p:nvPr>
            <p:ph type="pic" idx="1"/>
          </p:nvPr>
        </p:nvSpPr>
        <p:spPr>
          <a:xfrm>
            <a:off x="1792288" y="612775"/>
            <a:ext cx="5486400" cy="4114800"/>
          </a:xfrm>
        </p:spPr>
        <p:txBody>
          <a:bodyPr/>
          <a:lstStyle>
            <a:lvl1pPr marL="0" indent="0">
              <a:buNone/>
              <a:defRPr lang="tr-TR" sz="3200"/>
            </a:lvl1pPr>
            <a:lvl2pPr marL="457200" indent="0">
              <a:buNone/>
              <a:defRPr lang="tr-TR" sz="2800"/>
            </a:lvl2pPr>
            <a:lvl3pPr marL="914400" indent="0">
              <a:buNone/>
              <a:defRPr lang="tr-TR" sz="2400"/>
            </a:lvl3pPr>
            <a:lvl4pPr marL="1371600" indent="0">
              <a:buNone/>
              <a:defRPr lang="tr-TR" sz="2000"/>
            </a:lvl4pPr>
            <a:lvl5pPr marL="1828800" indent="0">
              <a:buNone/>
              <a:defRPr lang="tr-TR" sz="2000"/>
            </a:lvl5pPr>
            <a:lvl6pPr marL="2286000" indent="0">
              <a:buNone/>
              <a:defRPr lang="tr-TR" sz="2000"/>
            </a:lvl6pPr>
            <a:lvl7pPr marL="2743200" indent="0">
              <a:buNone/>
              <a:defRPr lang="tr-TR" sz="2000"/>
            </a:lvl7pPr>
            <a:lvl8pPr marL="3200400" indent="0">
              <a:buNone/>
              <a:defRPr lang="tr-TR" sz="2000"/>
            </a:lvl8pPr>
            <a:lvl9pPr marL="3657600" indent="0">
              <a:buNone/>
              <a:defRPr lang="tr-TR" sz="2000"/>
            </a:lvl9pPr>
          </a:lstStyle>
          <a:p>
            <a:endParaRPr lang="tr-TR"/>
          </a:p>
        </p:txBody>
      </p:sp>
      <p:sp>
        <p:nvSpPr>
          <p:cNvPr id="4" name="Text Placeholder 3"/>
          <p:cNvSpPr>
            <a:spLocks noGrp="1"/>
          </p:cNvSpPr>
          <p:nvPr>
            <p:ph type="body" sz="half" idx="2"/>
          </p:nvPr>
        </p:nvSpPr>
        <p:spPr>
          <a:xfrm>
            <a:off x="1792288" y="5367338"/>
            <a:ext cx="5486400" cy="804862"/>
          </a:xfrm>
        </p:spPr>
        <p:txBody>
          <a:bodyPr/>
          <a:lstStyle>
            <a:lvl1pPr marL="0" indent="0">
              <a:buNone/>
              <a:defRPr lang="tr-TR" sz="1400"/>
            </a:lvl1pPr>
            <a:lvl2pPr marL="457200" indent="0">
              <a:buNone/>
              <a:defRPr lang="tr-TR" sz="1200"/>
            </a:lvl2pPr>
            <a:lvl3pPr marL="914400" indent="0">
              <a:buNone/>
              <a:defRPr lang="tr-TR" sz="1000"/>
            </a:lvl3pPr>
            <a:lvl4pPr marL="1371600" indent="0">
              <a:buNone/>
              <a:defRPr lang="tr-TR" sz="900"/>
            </a:lvl4pPr>
            <a:lvl5pPr marL="1828800" indent="0">
              <a:buNone/>
              <a:defRPr lang="tr-TR" sz="900"/>
            </a:lvl5pPr>
            <a:lvl6pPr marL="2286000" indent="0">
              <a:buNone/>
              <a:defRPr lang="tr-TR" sz="900"/>
            </a:lvl6pPr>
            <a:lvl7pPr marL="2743200" indent="0">
              <a:buNone/>
              <a:defRPr lang="tr-TR" sz="900"/>
            </a:lvl7pPr>
            <a:lvl8pPr marL="3200400" indent="0">
              <a:buNone/>
              <a:defRPr lang="tr-TR" sz="900"/>
            </a:lvl8pPr>
            <a:lvl9pPr marL="3657600" indent="0">
              <a:buNone/>
              <a:defRPr lang="tr-TR" sz="900"/>
            </a:lvl9pPr>
          </a:lstStyle>
          <a:p>
            <a:pPr lvl="0"/>
            <a:r>
              <a:rPr lang="tr-TR"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tr-TR" smtClean="0"/>
              <a:t>1/27/13</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Vertical Text Placeholder 2"/>
          <p:cNvSpPr>
            <a:spLocks noGrp="1"/>
          </p:cNvSpPr>
          <p:nvPr>
            <p:ph type="body" orient="vert" idx="1"/>
          </p:nvPr>
        </p:nvSpPr>
        <p:spPr/>
        <p:txBody>
          <a:bodyPr vert="eaVert"/>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tr-TR" smtClean="0"/>
              <a:t>Click to edit Master title style</a:t>
            </a:r>
            <a:endParaRPr lang="tr-T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tr-TR" smtClean="0"/>
              <a:t>Click to edit Master title style</a:t>
            </a:r>
            <a:endParaRPr lang="tr-T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tr-TR" sz="1200">
                <a:solidFill>
                  <a:schemeClr val="tx1">
                    <a:tint val="75000"/>
                  </a:schemeClr>
                </a:solidFill>
              </a:defRPr>
            </a:lvl1pPr>
          </a:lstStyle>
          <a:p>
            <a:fld id="{5BCAD085-E8A6-8845-BD4E-CB4CCA059FC4}" type="datetimeFigureOut">
              <a:rPr lang="tr-TR" smtClean="0"/>
              <a:t>1/27/13</a:t>
            </a:fld>
            <a:endParaRPr lang="tr-T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tr-TR" sz="1200">
                <a:solidFill>
                  <a:schemeClr val="tx1">
                    <a:tint val="75000"/>
                  </a:schemeClr>
                </a:solidFill>
              </a:defRPr>
            </a:lvl1pPr>
          </a:lstStyle>
          <a:p>
            <a:endParaRPr lang="tr-T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tr-TR" sz="1200">
                <a:solidFill>
                  <a:schemeClr val="tx1">
                    <a:tint val="75000"/>
                  </a:schemeClr>
                </a:solidFill>
              </a:defRPr>
            </a:lvl1pPr>
          </a:lstStyle>
          <a:p>
            <a:fld id="{C1FF6DA9-008F-8B48-92A6-B652298478BF}" type="slidenum">
              <a:rPr lang="tr-TR" smtClean="0"/>
              <a:t>‹#›</a:t>
            </a:fld>
            <a:endParaRPr lang="tr-T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lang="tr-T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tr-T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tr-T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tr-T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9pPr>
    </p:bodyStyle>
    <p:otherStyle>
      <a:defPPr>
        <a:defRPr lang="tr-TR"/>
      </a:defPPr>
      <a:lvl1pPr marL="0" algn="l" defTabSz="457200" rtl="0" eaLnBrk="1" latinLnBrk="0" hangingPunct="1">
        <a:defRPr lang="tr-TR" sz="1800" kern="1200">
          <a:solidFill>
            <a:schemeClr val="tx1"/>
          </a:solidFill>
          <a:latin typeface="+mn-lt"/>
          <a:ea typeface="+mn-ea"/>
          <a:cs typeface="+mn-cs"/>
        </a:defRPr>
      </a:lvl1pPr>
      <a:lvl2pPr marL="457200" algn="l" defTabSz="457200" rtl="0" eaLnBrk="1" latinLnBrk="0" hangingPunct="1">
        <a:defRPr lang="tr-TR" sz="1800" kern="1200">
          <a:solidFill>
            <a:schemeClr val="tx1"/>
          </a:solidFill>
          <a:latin typeface="+mn-lt"/>
          <a:ea typeface="+mn-ea"/>
          <a:cs typeface="+mn-cs"/>
        </a:defRPr>
      </a:lvl2pPr>
      <a:lvl3pPr marL="914400" algn="l" defTabSz="457200" rtl="0" eaLnBrk="1" latinLnBrk="0" hangingPunct="1">
        <a:defRPr lang="tr-TR" sz="1800" kern="1200">
          <a:solidFill>
            <a:schemeClr val="tx1"/>
          </a:solidFill>
          <a:latin typeface="+mn-lt"/>
          <a:ea typeface="+mn-ea"/>
          <a:cs typeface="+mn-cs"/>
        </a:defRPr>
      </a:lvl3pPr>
      <a:lvl4pPr marL="1371600" algn="l" defTabSz="457200" rtl="0" eaLnBrk="1" latinLnBrk="0" hangingPunct="1">
        <a:defRPr lang="tr-TR" sz="1800" kern="1200">
          <a:solidFill>
            <a:schemeClr val="tx1"/>
          </a:solidFill>
          <a:latin typeface="+mn-lt"/>
          <a:ea typeface="+mn-ea"/>
          <a:cs typeface="+mn-cs"/>
        </a:defRPr>
      </a:lvl4pPr>
      <a:lvl5pPr marL="1828800" algn="l" defTabSz="457200" rtl="0" eaLnBrk="1" latinLnBrk="0" hangingPunct="1">
        <a:defRPr lang="tr-TR" sz="1800" kern="1200">
          <a:solidFill>
            <a:schemeClr val="tx1"/>
          </a:solidFill>
          <a:latin typeface="+mn-lt"/>
          <a:ea typeface="+mn-ea"/>
          <a:cs typeface="+mn-cs"/>
        </a:defRPr>
      </a:lvl5pPr>
      <a:lvl6pPr marL="2286000" algn="l" defTabSz="457200" rtl="0" eaLnBrk="1" latinLnBrk="0" hangingPunct="1">
        <a:defRPr lang="tr-TR" sz="1800" kern="1200">
          <a:solidFill>
            <a:schemeClr val="tx1"/>
          </a:solidFill>
          <a:latin typeface="+mn-lt"/>
          <a:ea typeface="+mn-ea"/>
          <a:cs typeface="+mn-cs"/>
        </a:defRPr>
      </a:lvl6pPr>
      <a:lvl7pPr marL="2743200" algn="l" defTabSz="457200" rtl="0" eaLnBrk="1" latinLnBrk="0" hangingPunct="1">
        <a:defRPr lang="tr-TR" sz="1800" kern="1200">
          <a:solidFill>
            <a:schemeClr val="tx1"/>
          </a:solidFill>
          <a:latin typeface="+mn-lt"/>
          <a:ea typeface="+mn-ea"/>
          <a:cs typeface="+mn-cs"/>
        </a:defRPr>
      </a:lvl7pPr>
      <a:lvl8pPr marL="3200400" algn="l" defTabSz="457200" rtl="0" eaLnBrk="1" latinLnBrk="0" hangingPunct="1">
        <a:defRPr lang="tr-TR" sz="1800" kern="1200">
          <a:solidFill>
            <a:schemeClr val="tx1"/>
          </a:solidFill>
          <a:latin typeface="+mn-lt"/>
          <a:ea typeface="+mn-ea"/>
          <a:cs typeface="+mn-cs"/>
        </a:defRPr>
      </a:lvl8pPr>
      <a:lvl9pPr marL="3657600" algn="l" defTabSz="457200" rtl="0" eaLnBrk="1" latinLnBrk="0" hangingPunct="1">
        <a:defRPr lang="tr-T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Ünite ölçme: 1-2. sorular</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ÖLÇME</a:t>
            </a:r>
          </a:p>
        </p:txBody>
      </p:sp>
      <p:sp>
        <p:nvSpPr>
          <p:cNvPr id="6" name="Rounded Rectangle 5"/>
          <p:cNvSpPr/>
          <p:nvPr/>
        </p:nvSpPr>
        <p:spPr>
          <a:xfrm>
            <a:off x="502920" y="1216152"/>
            <a:ext cx="2686735" cy="2697480"/>
          </a:xfrm>
          <a:prstGeom prst="roundRect">
            <a:avLst>
              <a:gd name="adj" fmla="val 5000"/>
            </a:avLst>
          </a:prstGeom>
          <a:solidFill>
            <a:srgbClr val="F0F0F0"/>
          </a:solidFill>
          <a:ln>
            <a:noFill/>
          </a:ln>
          <a:effectLst/>
        </p:spPr>
        <p:txBody>
          <a:bodyPr rtlCol="0" anchor="ctr"/>
          <a:lstStyle/>
          <a:p/>
        </p:txBody>
      </p:sp>
      <p:sp>
        <p:nvSpPr>
          <p:cNvPr id="7" name="Rounded Rectangle 6"/>
          <p:cNvSpPr/>
          <p:nvPr/>
        </p:nvSpPr>
        <p:spPr>
          <a:xfrm>
            <a:off x="502920" y="1216152"/>
            <a:ext cx="2686735" cy="457200"/>
          </a:xfrm>
          <a:prstGeom prst="roundRect">
            <a:avLst>
              <a:gd name="adj" fmla="val 25000"/>
            </a:avLst>
          </a:prstGeom>
          <a:solidFill>
            <a:srgbClr val="4F4F4F"/>
          </a:solidFill>
          <a:ln>
            <a:noFill/>
          </a:ln>
          <a:effectLst/>
        </p:spPr>
        <p:txBody>
          <a:bodyPr rtlCol="0" anchor="ctr"/>
          <a:lstStyle/>
          <a:p/>
        </p:txBody>
      </p:sp>
      <p:sp>
        <p:nvSpPr>
          <p:cNvPr id="8" name="Rectangle 7"/>
          <p:cNvSpPr/>
          <p:nvPr/>
        </p:nvSpPr>
        <p:spPr>
          <a:xfrm>
            <a:off x="502920" y="1444752"/>
            <a:ext cx="2686735" cy="228600"/>
          </a:xfrm>
          <a:prstGeom prst="rect">
            <a:avLst/>
          </a:prstGeom>
          <a:solidFill>
            <a:srgbClr val="4F4F4F"/>
          </a:solidFill>
          <a:ln>
            <a:noFill/>
          </a:ln>
          <a:effectLst/>
        </p:spPr>
        <p:txBody>
          <a:bodyPr rtlCol="0" anchor="ctr"/>
          <a:lstStyle/>
          <a:p/>
        </p:txBody>
      </p:sp>
      <p:sp>
        <p:nvSpPr>
          <p:cNvPr id="9" name="TextBox 8"/>
          <p:cNvSpPr txBox="1"/>
          <p:nvPr/>
        </p:nvSpPr>
        <p:spPr>
          <a:xfrm>
            <a:off x="594360"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a:t>
            </a:r>
          </a:p>
        </p:txBody>
      </p:sp>
      <p:sp>
        <p:nvSpPr>
          <p:cNvPr id="10" name="TextBox 9"/>
          <p:cNvSpPr txBox="1"/>
          <p:nvPr/>
        </p:nvSpPr>
        <p:spPr>
          <a:xfrm>
            <a:off x="612648"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550" b="0" i="0">
                <a:solidFill>
                  <a:srgbClr val="262626"/>
                </a:solidFill>
                <a:latin typeface="Calibri"/>
              </a:rPr>
              <a:t>Uzun mesafeli deniz seyahatlerinin yapılabilir hâle gelmesi sonucunda yeni yolların bulunup birçok coğrafi keşfin yapılması ve bu seyahatlerden elde edilen bilgilerin matbaa sayesinde hızla yayılması</a:t>
            </a:r>
          </a:p>
        </p:txBody>
      </p:sp>
      <p:sp>
        <p:nvSpPr>
          <p:cNvPr id="11" name="Rounded Rectangle 10"/>
          <p:cNvSpPr/>
          <p:nvPr/>
        </p:nvSpPr>
        <p:spPr>
          <a:xfrm>
            <a:off x="3335959" y="1216152"/>
            <a:ext cx="2686735" cy="2697480"/>
          </a:xfrm>
          <a:prstGeom prst="roundRect">
            <a:avLst>
              <a:gd name="adj" fmla="val 5000"/>
            </a:avLst>
          </a:prstGeom>
          <a:solidFill>
            <a:srgbClr val="F0F0F0"/>
          </a:solidFill>
          <a:ln>
            <a:noFill/>
          </a:ln>
          <a:effectLst/>
        </p:spPr>
        <p:txBody>
          <a:bodyPr rtlCol="0" anchor="ctr"/>
          <a:lstStyle/>
          <a:p/>
        </p:txBody>
      </p:sp>
      <p:sp>
        <p:nvSpPr>
          <p:cNvPr id="12" name="Rounded Rectangle 11"/>
          <p:cNvSpPr/>
          <p:nvPr/>
        </p:nvSpPr>
        <p:spPr>
          <a:xfrm>
            <a:off x="3335959" y="1216152"/>
            <a:ext cx="2686735" cy="457200"/>
          </a:xfrm>
          <a:prstGeom prst="roundRect">
            <a:avLst>
              <a:gd name="adj" fmla="val 25000"/>
            </a:avLst>
          </a:prstGeom>
          <a:solidFill>
            <a:srgbClr val="4F4F4F"/>
          </a:solidFill>
          <a:ln>
            <a:noFill/>
          </a:ln>
          <a:effectLst/>
        </p:spPr>
        <p:txBody>
          <a:bodyPr rtlCol="0" anchor="ctr"/>
          <a:lstStyle/>
          <a:p/>
        </p:txBody>
      </p:sp>
      <p:sp>
        <p:nvSpPr>
          <p:cNvPr id="13" name="Rectangle 12"/>
          <p:cNvSpPr/>
          <p:nvPr/>
        </p:nvSpPr>
        <p:spPr>
          <a:xfrm>
            <a:off x="3335959" y="1444752"/>
            <a:ext cx="2686735" cy="228600"/>
          </a:xfrm>
          <a:prstGeom prst="rect">
            <a:avLst/>
          </a:prstGeom>
          <a:solidFill>
            <a:srgbClr val="4F4F4F"/>
          </a:solidFill>
          <a:ln>
            <a:noFill/>
          </a:ln>
          <a:effectLst/>
        </p:spPr>
        <p:txBody>
          <a:bodyPr rtlCol="0" anchor="ctr"/>
          <a:lstStyle/>
          <a:p/>
        </p:txBody>
      </p:sp>
      <p:sp>
        <p:nvSpPr>
          <p:cNvPr id="14" name="TextBox 13"/>
          <p:cNvSpPr txBox="1"/>
          <p:nvPr/>
        </p:nvSpPr>
        <p:spPr>
          <a:xfrm>
            <a:off x="3427399"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II</a:t>
            </a:r>
          </a:p>
        </p:txBody>
      </p:sp>
      <p:sp>
        <p:nvSpPr>
          <p:cNvPr id="15" name="TextBox 14"/>
          <p:cNvSpPr txBox="1"/>
          <p:nvPr/>
        </p:nvSpPr>
        <p:spPr>
          <a:xfrm>
            <a:off x="3445687"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700" b="0" i="0">
                <a:solidFill>
                  <a:srgbClr val="262626"/>
                </a:solidFill>
                <a:latin typeface="Calibri"/>
              </a:rPr>
              <a:t>Fransız İhtilali ve Sanayi Devrimi’nin etkisiyle ekonomik, sosyal ve kültürel hayatın hızla gelişmesi</a:t>
            </a:r>
          </a:p>
        </p:txBody>
      </p:sp>
      <p:sp>
        <p:nvSpPr>
          <p:cNvPr id="16" name="Rounded Rectangle 15"/>
          <p:cNvSpPr/>
          <p:nvPr/>
        </p:nvSpPr>
        <p:spPr>
          <a:xfrm>
            <a:off x="6168998" y="1216152"/>
            <a:ext cx="2686735" cy="2697480"/>
          </a:xfrm>
          <a:prstGeom prst="roundRect">
            <a:avLst>
              <a:gd name="adj" fmla="val 5000"/>
            </a:avLst>
          </a:prstGeom>
          <a:solidFill>
            <a:srgbClr val="F0F0F0"/>
          </a:solidFill>
          <a:ln>
            <a:noFill/>
          </a:ln>
          <a:effectLst/>
        </p:spPr>
        <p:txBody>
          <a:bodyPr rtlCol="0" anchor="ctr"/>
          <a:lstStyle/>
          <a:p/>
        </p:txBody>
      </p:sp>
      <p:sp>
        <p:nvSpPr>
          <p:cNvPr id="17" name="Rounded Rectangle 16"/>
          <p:cNvSpPr/>
          <p:nvPr/>
        </p:nvSpPr>
        <p:spPr>
          <a:xfrm>
            <a:off x="6168998" y="1216152"/>
            <a:ext cx="2686735" cy="457200"/>
          </a:xfrm>
          <a:prstGeom prst="roundRect">
            <a:avLst>
              <a:gd name="adj" fmla="val 25000"/>
            </a:avLst>
          </a:prstGeom>
          <a:solidFill>
            <a:srgbClr val="4F4F4F"/>
          </a:solidFill>
          <a:ln>
            <a:noFill/>
          </a:ln>
          <a:effectLst/>
        </p:spPr>
        <p:txBody>
          <a:bodyPr rtlCol="0" anchor="ctr"/>
          <a:lstStyle/>
          <a:p/>
        </p:txBody>
      </p:sp>
      <p:sp>
        <p:nvSpPr>
          <p:cNvPr id="18" name="Rectangle 17"/>
          <p:cNvSpPr/>
          <p:nvPr/>
        </p:nvSpPr>
        <p:spPr>
          <a:xfrm>
            <a:off x="6168998" y="1444752"/>
            <a:ext cx="2686735" cy="228600"/>
          </a:xfrm>
          <a:prstGeom prst="rect">
            <a:avLst/>
          </a:prstGeom>
          <a:solidFill>
            <a:srgbClr val="4F4F4F"/>
          </a:solidFill>
          <a:ln>
            <a:noFill/>
          </a:ln>
          <a:effectLst/>
        </p:spPr>
        <p:txBody>
          <a:bodyPr rtlCol="0" anchor="ctr"/>
          <a:lstStyle/>
          <a:p/>
        </p:txBody>
      </p:sp>
      <p:sp>
        <p:nvSpPr>
          <p:cNvPr id="19" name="TextBox 18"/>
          <p:cNvSpPr txBox="1"/>
          <p:nvPr/>
        </p:nvSpPr>
        <p:spPr>
          <a:xfrm>
            <a:off x="6260438"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III</a:t>
            </a:r>
          </a:p>
        </p:txBody>
      </p:sp>
      <p:sp>
        <p:nvSpPr>
          <p:cNvPr id="20" name="TextBox 19"/>
          <p:cNvSpPr txBox="1"/>
          <p:nvPr/>
        </p:nvSpPr>
        <p:spPr>
          <a:xfrm>
            <a:off x="6278726"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700" b="0" i="0">
                <a:solidFill>
                  <a:srgbClr val="262626"/>
                </a:solidFill>
                <a:latin typeface="Calibri"/>
              </a:rPr>
              <a:t>Yazının icadı, kentler arasında ticaretin başlaması, kültürel etkileşimin artması, felsefi düşüncenin ortaya çıkması</a:t>
            </a:r>
          </a:p>
        </p:txBody>
      </p:sp>
      <p:sp>
        <p:nvSpPr>
          <p:cNvPr id="21" name="Rounded Rectangle 20"/>
          <p:cNvSpPr/>
          <p:nvPr/>
        </p:nvSpPr>
        <p:spPr>
          <a:xfrm>
            <a:off x="9002037" y="1216152"/>
            <a:ext cx="2686735" cy="2697480"/>
          </a:xfrm>
          <a:prstGeom prst="roundRect">
            <a:avLst>
              <a:gd name="adj" fmla="val 5000"/>
            </a:avLst>
          </a:prstGeom>
          <a:solidFill>
            <a:srgbClr val="F0F0F0"/>
          </a:solidFill>
          <a:ln>
            <a:noFill/>
          </a:ln>
          <a:effectLst/>
        </p:spPr>
        <p:txBody>
          <a:bodyPr rtlCol="0" anchor="ctr"/>
          <a:lstStyle/>
          <a:p/>
        </p:txBody>
      </p:sp>
      <p:sp>
        <p:nvSpPr>
          <p:cNvPr id="22" name="Rounded Rectangle 21"/>
          <p:cNvSpPr/>
          <p:nvPr/>
        </p:nvSpPr>
        <p:spPr>
          <a:xfrm>
            <a:off x="9002037" y="1216152"/>
            <a:ext cx="2686735" cy="457200"/>
          </a:xfrm>
          <a:prstGeom prst="roundRect">
            <a:avLst>
              <a:gd name="adj" fmla="val 25000"/>
            </a:avLst>
          </a:prstGeom>
          <a:solidFill>
            <a:srgbClr val="4F4F4F"/>
          </a:solidFill>
          <a:ln>
            <a:noFill/>
          </a:ln>
          <a:effectLst/>
        </p:spPr>
        <p:txBody>
          <a:bodyPr rtlCol="0" anchor="ctr"/>
          <a:lstStyle/>
          <a:p/>
        </p:txBody>
      </p:sp>
      <p:sp>
        <p:nvSpPr>
          <p:cNvPr id="23" name="Rectangle 22"/>
          <p:cNvSpPr/>
          <p:nvPr/>
        </p:nvSpPr>
        <p:spPr>
          <a:xfrm>
            <a:off x="9002037" y="1444752"/>
            <a:ext cx="2686735" cy="228600"/>
          </a:xfrm>
          <a:prstGeom prst="rect">
            <a:avLst/>
          </a:prstGeom>
          <a:solidFill>
            <a:srgbClr val="4F4F4F"/>
          </a:solidFill>
          <a:ln>
            <a:noFill/>
          </a:ln>
          <a:effectLst/>
        </p:spPr>
        <p:txBody>
          <a:bodyPr rtlCol="0" anchor="ctr"/>
          <a:lstStyle/>
          <a:p/>
        </p:txBody>
      </p:sp>
      <p:sp>
        <p:nvSpPr>
          <p:cNvPr id="24" name="TextBox 23"/>
          <p:cNvSpPr txBox="1"/>
          <p:nvPr/>
        </p:nvSpPr>
        <p:spPr>
          <a:xfrm>
            <a:off x="9093477"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IV</a:t>
            </a:r>
          </a:p>
        </p:txBody>
      </p:sp>
      <p:sp>
        <p:nvSpPr>
          <p:cNvPr id="25" name="TextBox 24"/>
          <p:cNvSpPr txBox="1"/>
          <p:nvPr/>
        </p:nvSpPr>
        <p:spPr>
          <a:xfrm>
            <a:off x="9111765"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700" b="0" i="0">
                <a:solidFill>
                  <a:srgbClr val="262626"/>
                </a:solidFill>
                <a:latin typeface="Calibri"/>
              </a:rPr>
              <a:t>İpek Yolu ve Baharat Yolu sayesinde ülkeler arasındaki siyasi, ticari ve kültürel ilişkilerin gelişmesi; büyük göç hareketlerinin gerçekleşmesi</a:t>
            </a:r>
          </a:p>
        </p:txBody>
      </p:sp>
      <p:sp>
        <p:nvSpPr>
          <p:cNvPr id="26" name="TextBox 25"/>
          <p:cNvSpPr txBox="1"/>
          <p:nvPr/>
        </p:nvSpPr>
        <p:spPr>
          <a:xfrm>
            <a:off x="502920" y="3986784"/>
            <a:ext cx="11185855" cy="45720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1. Bilgilerin tarihî çağlara göre sıralanışı aşağıdakilerden hangisinde doğru olarak verilmiştir?</a:t>
            </a:r>
          </a:p>
        </p:txBody>
      </p:sp>
      <p:sp>
        <p:nvSpPr>
          <p:cNvPr id="27" name="Rounded Rectangle 26"/>
          <p:cNvSpPr/>
          <p:nvPr/>
        </p:nvSpPr>
        <p:spPr>
          <a:xfrm>
            <a:off x="502920"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262626"/>
                </a:solidFill>
                <a:latin typeface="Calibri"/>
              </a:rPr>
              <a:t>A) III, IV, II, I</a:t>
            </a:r>
          </a:p>
        </p:txBody>
      </p:sp>
      <p:sp>
        <p:nvSpPr>
          <p:cNvPr id="28" name="Rounded Rectangle 27"/>
          <p:cNvSpPr/>
          <p:nvPr/>
        </p:nvSpPr>
        <p:spPr>
          <a:xfrm>
            <a:off x="2769351"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262626"/>
                </a:solidFill>
                <a:latin typeface="Calibri"/>
              </a:rPr>
              <a:t>B) IV, III, I, II</a:t>
            </a:r>
          </a:p>
        </p:txBody>
      </p:sp>
      <p:sp>
        <p:nvSpPr>
          <p:cNvPr id="29" name="Rounded Rectangle 28"/>
          <p:cNvSpPr/>
          <p:nvPr/>
        </p:nvSpPr>
        <p:spPr>
          <a:xfrm>
            <a:off x="5035783"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262626"/>
                </a:solidFill>
                <a:latin typeface="Calibri"/>
              </a:rPr>
              <a:t>C) III, II, IV, I</a:t>
            </a:r>
          </a:p>
        </p:txBody>
      </p:sp>
      <p:sp>
        <p:nvSpPr>
          <p:cNvPr id="30" name="Rounded Rectangle 29"/>
          <p:cNvSpPr/>
          <p:nvPr/>
        </p:nvSpPr>
        <p:spPr>
          <a:xfrm>
            <a:off x="7302215"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262626"/>
                </a:solidFill>
                <a:latin typeface="Calibri"/>
              </a:rPr>
              <a:t>D) III, IV, I, II</a:t>
            </a:r>
          </a:p>
        </p:txBody>
      </p:sp>
      <p:sp>
        <p:nvSpPr>
          <p:cNvPr id="31" name="Rounded Rectangle 30"/>
          <p:cNvSpPr/>
          <p:nvPr/>
        </p:nvSpPr>
        <p:spPr>
          <a:xfrm>
            <a:off x="9568647"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262626"/>
                </a:solidFill>
                <a:latin typeface="Calibri"/>
              </a:rPr>
              <a:t>E) II, IV, III, I</a:t>
            </a:r>
          </a:p>
        </p:txBody>
      </p:sp>
      <p:sp>
        <p:nvSpPr>
          <p:cNvPr id="32" name="Rounded Rectangle 31"/>
          <p:cNvSpPr/>
          <p:nvPr/>
        </p:nvSpPr>
        <p:spPr>
          <a:xfrm>
            <a:off x="502920" y="5239512"/>
            <a:ext cx="11185855" cy="1005840"/>
          </a:xfrm>
          <a:prstGeom prst="roundRect">
            <a:avLst>
              <a:gd name="adj" fmla="val 8000"/>
            </a:avLst>
          </a:prstGeom>
          <a:solidFill>
            <a:srgbClr val="FFF3D1"/>
          </a:solidFill>
          <a:ln>
            <a:noFill/>
          </a:ln>
          <a:effectLst/>
        </p:spPr>
        <p:txBody>
          <a:bodyPr rtlCol="0" anchor="ctr" wrap="square" lIns="228600" rIns="228600" tIns="73152" bIns="73152">
            <a:noAutofit/>
          </a:bodyPr>
          <a:lstStyle/>
          <a:p>
            <a:pPr algn="l">
              <a:spcBef>
                <a:spcPts val="0"/>
              </a:spcBef>
              <a:spcAft>
                <a:spcPts val="0"/>
              </a:spcAft>
            </a:pPr>
            <a:r>
              <a:rPr lang="tr-TR" sz="2100" b="1" i="0">
                <a:solidFill>
                  <a:srgbClr val="262626"/>
                </a:solidFill>
                <a:latin typeface="Calibri"/>
              </a:rPr>
              <a:t>2. Yaptığınız sıralamanın gerekçesini aşağıya yazınız.</a:t>
            </a:r>
          </a:p>
        </p:txBody>
      </p:sp>
      <p:sp>
        <p:nvSpPr>
          <p:cNvPr id="33" name="TextBox 3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34" name="Rounded Rectangle 33"/>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29</a:t>
            </a:r>
          </a:p>
        </p:txBody>
      </p:sp>
      <p:sp>
        <p:nvSpPr>
          <p:cNvPr id="35" name="TextBox 34"/>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128 / 134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Ünite ölçme: 1-2. sorular — cevap</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CEVAP</a:t>
            </a:r>
          </a:p>
        </p:txBody>
      </p:sp>
      <p:sp>
        <p:nvSpPr>
          <p:cNvPr id="6" name="Rounded Rectangle 5"/>
          <p:cNvSpPr/>
          <p:nvPr/>
        </p:nvSpPr>
        <p:spPr>
          <a:xfrm>
            <a:off x="502920" y="1216152"/>
            <a:ext cx="2686735" cy="2697480"/>
          </a:xfrm>
          <a:prstGeom prst="roundRect">
            <a:avLst>
              <a:gd name="adj" fmla="val 5000"/>
            </a:avLst>
          </a:prstGeom>
          <a:solidFill>
            <a:srgbClr val="F0F0F0"/>
          </a:solidFill>
          <a:ln>
            <a:noFill/>
          </a:ln>
          <a:effectLst/>
        </p:spPr>
        <p:txBody>
          <a:bodyPr rtlCol="0" anchor="ctr"/>
          <a:lstStyle/>
          <a:p/>
        </p:txBody>
      </p:sp>
      <p:sp>
        <p:nvSpPr>
          <p:cNvPr id="7" name="Rounded Rectangle 6"/>
          <p:cNvSpPr/>
          <p:nvPr/>
        </p:nvSpPr>
        <p:spPr>
          <a:xfrm>
            <a:off x="502920" y="1216152"/>
            <a:ext cx="2686735" cy="457200"/>
          </a:xfrm>
          <a:prstGeom prst="roundRect">
            <a:avLst>
              <a:gd name="adj" fmla="val 25000"/>
            </a:avLst>
          </a:prstGeom>
          <a:solidFill>
            <a:srgbClr val="7B4FA0"/>
          </a:solidFill>
          <a:ln>
            <a:noFill/>
          </a:ln>
          <a:effectLst/>
        </p:spPr>
        <p:txBody>
          <a:bodyPr rtlCol="0" anchor="ctr"/>
          <a:lstStyle/>
          <a:p/>
        </p:txBody>
      </p:sp>
      <p:sp>
        <p:nvSpPr>
          <p:cNvPr id="8" name="Rectangle 7"/>
          <p:cNvSpPr/>
          <p:nvPr/>
        </p:nvSpPr>
        <p:spPr>
          <a:xfrm>
            <a:off x="502920" y="1444752"/>
            <a:ext cx="2686735" cy="228600"/>
          </a:xfrm>
          <a:prstGeom prst="rect">
            <a:avLst/>
          </a:prstGeom>
          <a:solidFill>
            <a:srgbClr val="7B4FA0"/>
          </a:solidFill>
          <a:ln>
            <a:noFill/>
          </a:ln>
          <a:effectLst/>
        </p:spPr>
        <p:txBody>
          <a:bodyPr rtlCol="0" anchor="ctr"/>
          <a:lstStyle/>
          <a:p/>
        </p:txBody>
      </p:sp>
      <p:sp>
        <p:nvSpPr>
          <p:cNvPr id="9" name="TextBox 8"/>
          <p:cNvSpPr txBox="1"/>
          <p:nvPr/>
        </p:nvSpPr>
        <p:spPr>
          <a:xfrm>
            <a:off x="594360"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III · Eski Çağ</a:t>
            </a:r>
          </a:p>
        </p:txBody>
      </p:sp>
      <p:sp>
        <p:nvSpPr>
          <p:cNvPr id="10" name="TextBox 9"/>
          <p:cNvSpPr txBox="1"/>
          <p:nvPr/>
        </p:nvSpPr>
        <p:spPr>
          <a:xfrm>
            <a:off x="612648"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700" b="0" i="0">
                <a:solidFill>
                  <a:srgbClr val="262626"/>
                </a:solidFill>
                <a:latin typeface="Calibri"/>
              </a:rPr>
              <a:t>Yazının icadı, kentler arasında ticaretin başlaması, kültürel etkileşimin artması, felsefi düşüncenin ortaya çıkması</a:t>
            </a:r>
          </a:p>
        </p:txBody>
      </p:sp>
      <p:sp>
        <p:nvSpPr>
          <p:cNvPr id="11" name="Rounded Rectangle 10"/>
          <p:cNvSpPr/>
          <p:nvPr/>
        </p:nvSpPr>
        <p:spPr>
          <a:xfrm>
            <a:off x="3335959" y="1216152"/>
            <a:ext cx="2686735" cy="2697480"/>
          </a:xfrm>
          <a:prstGeom prst="roundRect">
            <a:avLst>
              <a:gd name="adj" fmla="val 5000"/>
            </a:avLst>
          </a:prstGeom>
          <a:solidFill>
            <a:srgbClr val="F0F0F0"/>
          </a:solidFill>
          <a:ln>
            <a:noFill/>
          </a:ln>
          <a:effectLst/>
        </p:spPr>
        <p:txBody>
          <a:bodyPr rtlCol="0" anchor="ctr"/>
          <a:lstStyle/>
          <a:p/>
        </p:txBody>
      </p:sp>
      <p:sp>
        <p:nvSpPr>
          <p:cNvPr id="12" name="Rounded Rectangle 11"/>
          <p:cNvSpPr/>
          <p:nvPr/>
        </p:nvSpPr>
        <p:spPr>
          <a:xfrm>
            <a:off x="3335959" y="1216152"/>
            <a:ext cx="2686735" cy="457200"/>
          </a:xfrm>
          <a:prstGeom prst="roundRect">
            <a:avLst>
              <a:gd name="adj" fmla="val 25000"/>
            </a:avLst>
          </a:prstGeom>
          <a:solidFill>
            <a:srgbClr val="1E9AA8"/>
          </a:solidFill>
          <a:ln>
            <a:noFill/>
          </a:ln>
          <a:effectLst/>
        </p:spPr>
        <p:txBody>
          <a:bodyPr rtlCol="0" anchor="ctr"/>
          <a:lstStyle/>
          <a:p/>
        </p:txBody>
      </p:sp>
      <p:sp>
        <p:nvSpPr>
          <p:cNvPr id="13" name="Rectangle 12"/>
          <p:cNvSpPr/>
          <p:nvPr/>
        </p:nvSpPr>
        <p:spPr>
          <a:xfrm>
            <a:off x="3335959" y="1444752"/>
            <a:ext cx="2686735" cy="228600"/>
          </a:xfrm>
          <a:prstGeom prst="rect">
            <a:avLst/>
          </a:prstGeom>
          <a:solidFill>
            <a:srgbClr val="1E9AA8"/>
          </a:solidFill>
          <a:ln>
            <a:noFill/>
          </a:ln>
          <a:effectLst/>
        </p:spPr>
        <p:txBody>
          <a:bodyPr rtlCol="0" anchor="ctr"/>
          <a:lstStyle/>
          <a:p/>
        </p:txBody>
      </p:sp>
      <p:sp>
        <p:nvSpPr>
          <p:cNvPr id="14" name="TextBox 13"/>
          <p:cNvSpPr txBox="1"/>
          <p:nvPr/>
        </p:nvSpPr>
        <p:spPr>
          <a:xfrm>
            <a:off x="3427399"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IV · Orta Çağ</a:t>
            </a:r>
          </a:p>
        </p:txBody>
      </p:sp>
      <p:sp>
        <p:nvSpPr>
          <p:cNvPr id="15" name="TextBox 14"/>
          <p:cNvSpPr txBox="1"/>
          <p:nvPr/>
        </p:nvSpPr>
        <p:spPr>
          <a:xfrm>
            <a:off x="3445687"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700" b="0" i="0">
                <a:solidFill>
                  <a:srgbClr val="262626"/>
                </a:solidFill>
                <a:latin typeface="Calibri"/>
              </a:rPr>
              <a:t>İpek Yolu ve Baharat Yolu sayesinde ülkeler arasındaki siyasi, ticari ve kültürel ilişkilerin gelişmesi; büyük göç hareketlerinin gerçekleşmesi</a:t>
            </a:r>
          </a:p>
        </p:txBody>
      </p:sp>
      <p:sp>
        <p:nvSpPr>
          <p:cNvPr id="16" name="Rounded Rectangle 15"/>
          <p:cNvSpPr/>
          <p:nvPr/>
        </p:nvSpPr>
        <p:spPr>
          <a:xfrm>
            <a:off x="6168998" y="1216152"/>
            <a:ext cx="2686735" cy="2697480"/>
          </a:xfrm>
          <a:prstGeom prst="roundRect">
            <a:avLst>
              <a:gd name="adj" fmla="val 5000"/>
            </a:avLst>
          </a:prstGeom>
          <a:solidFill>
            <a:srgbClr val="F0F0F0"/>
          </a:solidFill>
          <a:ln>
            <a:noFill/>
          </a:ln>
          <a:effectLst/>
        </p:spPr>
        <p:txBody>
          <a:bodyPr rtlCol="0" anchor="ctr"/>
          <a:lstStyle/>
          <a:p/>
        </p:txBody>
      </p:sp>
      <p:sp>
        <p:nvSpPr>
          <p:cNvPr id="17" name="Rounded Rectangle 16"/>
          <p:cNvSpPr/>
          <p:nvPr/>
        </p:nvSpPr>
        <p:spPr>
          <a:xfrm>
            <a:off x="6168998" y="1216152"/>
            <a:ext cx="2686735" cy="457200"/>
          </a:xfrm>
          <a:prstGeom prst="roundRect">
            <a:avLst>
              <a:gd name="adj" fmla="val 25000"/>
            </a:avLst>
          </a:prstGeom>
          <a:solidFill>
            <a:srgbClr val="5C9E3A"/>
          </a:solidFill>
          <a:ln>
            <a:noFill/>
          </a:ln>
          <a:effectLst/>
        </p:spPr>
        <p:txBody>
          <a:bodyPr rtlCol="0" anchor="ctr"/>
          <a:lstStyle/>
          <a:p/>
        </p:txBody>
      </p:sp>
      <p:sp>
        <p:nvSpPr>
          <p:cNvPr id="18" name="Rectangle 17"/>
          <p:cNvSpPr/>
          <p:nvPr/>
        </p:nvSpPr>
        <p:spPr>
          <a:xfrm>
            <a:off x="6168998" y="1444752"/>
            <a:ext cx="2686735" cy="228600"/>
          </a:xfrm>
          <a:prstGeom prst="rect">
            <a:avLst/>
          </a:prstGeom>
          <a:solidFill>
            <a:srgbClr val="5C9E3A"/>
          </a:solidFill>
          <a:ln>
            <a:noFill/>
          </a:ln>
          <a:effectLst/>
        </p:spPr>
        <p:txBody>
          <a:bodyPr rtlCol="0" anchor="ctr"/>
          <a:lstStyle/>
          <a:p/>
        </p:txBody>
      </p:sp>
      <p:sp>
        <p:nvSpPr>
          <p:cNvPr id="19" name="TextBox 18"/>
          <p:cNvSpPr txBox="1"/>
          <p:nvPr/>
        </p:nvSpPr>
        <p:spPr>
          <a:xfrm>
            <a:off x="6260438"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 · Yeni Çağ</a:t>
            </a:r>
          </a:p>
        </p:txBody>
      </p:sp>
      <p:sp>
        <p:nvSpPr>
          <p:cNvPr id="20" name="TextBox 19"/>
          <p:cNvSpPr txBox="1"/>
          <p:nvPr/>
        </p:nvSpPr>
        <p:spPr>
          <a:xfrm>
            <a:off x="6278726"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550" b="0" i="0">
                <a:solidFill>
                  <a:srgbClr val="262626"/>
                </a:solidFill>
                <a:latin typeface="Calibri"/>
              </a:rPr>
              <a:t>Uzun mesafeli deniz seyahatlerinin yapılabilir hâle gelmesi sonucunda yeni yolların bulunup birçok coğrafi keşfin yapılması ve bu seyahatlerden elde edilen bilgilerin matbaa sayesinde hızla yayılması</a:t>
            </a:r>
          </a:p>
        </p:txBody>
      </p:sp>
      <p:sp>
        <p:nvSpPr>
          <p:cNvPr id="21" name="Rounded Rectangle 20"/>
          <p:cNvSpPr/>
          <p:nvPr/>
        </p:nvSpPr>
        <p:spPr>
          <a:xfrm>
            <a:off x="9002037" y="1216152"/>
            <a:ext cx="2686735" cy="2697480"/>
          </a:xfrm>
          <a:prstGeom prst="roundRect">
            <a:avLst>
              <a:gd name="adj" fmla="val 5000"/>
            </a:avLst>
          </a:prstGeom>
          <a:solidFill>
            <a:srgbClr val="F0F0F0"/>
          </a:solidFill>
          <a:ln>
            <a:noFill/>
          </a:ln>
          <a:effectLst/>
        </p:spPr>
        <p:txBody>
          <a:bodyPr rtlCol="0" anchor="ctr"/>
          <a:lstStyle/>
          <a:p/>
        </p:txBody>
      </p:sp>
      <p:sp>
        <p:nvSpPr>
          <p:cNvPr id="22" name="Rounded Rectangle 21"/>
          <p:cNvSpPr/>
          <p:nvPr/>
        </p:nvSpPr>
        <p:spPr>
          <a:xfrm>
            <a:off x="9002037" y="1216152"/>
            <a:ext cx="2686735" cy="457200"/>
          </a:xfrm>
          <a:prstGeom prst="roundRect">
            <a:avLst>
              <a:gd name="adj" fmla="val 25000"/>
            </a:avLst>
          </a:prstGeom>
          <a:solidFill>
            <a:srgbClr val="E07A1F"/>
          </a:solidFill>
          <a:ln>
            <a:noFill/>
          </a:ln>
          <a:effectLst/>
        </p:spPr>
        <p:txBody>
          <a:bodyPr rtlCol="0" anchor="ctr"/>
          <a:lstStyle/>
          <a:p/>
        </p:txBody>
      </p:sp>
      <p:sp>
        <p:nvSpPr>
          <p:cNvPr id="23" name="Rectangle 22"/>
          <p:cNvSpPr/>
          <p:nvPr/>
        </p:nvSpPr>
        <p:spPr>
          <a:xfrm>
            <a:off x="9002037" y="1444752"/>
            <a:ext cx="2686735" cy="228600"/>
          </a:xfrm>
          <a:prstGeom prst="rect">
            <a:avLst/>
          </a:prstGeom>
          <a:solidFill>
            <a:srgbClr val="E07A1F"/>
          </a:solidFill>
          <a:ln>
            <a:noFill/>
          </a:ln>
          <a:effectLst/>
        </p:spPr>
        <p:txBody>
          <a:bodyPr rtlCol="0" anchor="ctr"/>
          <a:lstStyle/>
          <a:p/>
        </p:txBody>
      </p:sp>
      <p:sp>
        <p:nvSpPr>
          <p:cNvPr id="24" name="TextBox 23"/>
          <p:cNvSpPr txBox="1"/>
          <p:nvPr/>
        </p:nvSpPr>
        <p:spPr>
          <a:xfrm>
            <a:off x="9093477" y="1216152"/>
            <a:ext cx="2503855" cy="457200"/>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II · Yakın Çağ</a:t>
            </a:r>
          </a:p>
        </p:txBody>
      </p:sp>
      <p:sp>
        <p:nvSpPr>
          <p:cNvPr id="25" name="TextBox 24"/>
          <p:cNvSpPr txBox="1"/>
          <p:nvPr/>
        </p:nvSpPr>
        <p:spPr>
          <a:xfrm>
            <a:off x="9111765" y="1746504"/>
            <a:ext cx="2467279" cy="2093976"/>
          </a:xfrm>
          <a:prstGeom prst="rect">
            <a:avLst/>
          </a:prstGeom>
          <a:noFill/>
        </p:spPr>
        <p:txBody>
          <a:bodyPr wrap="square" anchor="t" lIns="73152" rIns="73152" tIns="36576" bIns="36576">
            <a:noAutofit/>
          </a:bodyPr>
          <a:lstStyle/>
          <a:p>
            <a:pPr algn="l">
              <a:spcBef>
                <a:spcPts val="0"/>
              </a:spcBef>
              <a:spcAft>
                <a:spcPts val="0"/>
              </a:spcAft>
            </a:pPr>
            <a:r>
              <a:rPr lang="tr-TR" sz="1700" b="0" i="0">
                <a:solidFill>
                  <a:srgbClr val="262626"/>
                </a:solidFill>
                <a:latin typeface="Calibri"/>
              </a:rPr>
              <a:t>Fransız İhtilali ve Sanayi Devrimi’nin etkisiyle ekonomik, sosyal ve kültürel hayatın hızla gelişmesi</a:t>
            </a:r>
          </a:p>
        </p:txBody>
      </p:sp>
      <p:sp>
        <p:nvSpPr>
          <p:cNvPr id="26" name="TextBox 25"/>
          <p:cNvSpPr txBox="1"/>
          <p:nvPr/>
        </p:nvSpPr>
        <p:spPr>
          <a:xfrm>
            <a:off x="502920" y="3986784"/>
            <a:ext cx="11185855" cy="45720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1. Bilgilerin tarihî çağlara göre sıralanışı aşağıdakilerden hangisinde doğru olarak verilmiştir?</a:t>
            </a:r>
          </a:p>
        </p:txBody>
      </p:sp>
      <p:sp>
        <p:nvSpPr>
          <p:cNvPr id="27" name="Rounded Rectangle 26"/>
          <p:cNvSpPr/>
          <p:nvPr/>
        </p:nvSpPr>
        <p:spPr>
          <a:xfrm>
            <a:off x="502920"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767676"/>
                </a:solidFill>
                <a:latin typeface="Calibri"/>
              </a:rPr>
              <a:t>A) III, IV, II, I</a:t>
            </a:r>
          </a:p>
        </p:txBody>
      </p:sp>
      <p:sp>
        <p:nvSpPr>
          <p:cNvPr id="28" name="Rounded Rectangle 27"/>
          <p:cNvSpPr/>
          <p:nvPr/>
        </p:nvSpPr>
        <p:spPr>
          <a:xfrm>
            <a:off x="2769351"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767676"/>
                </a:solidFill>
                <a:latin typeface="Calibri"/>
              </a:rPr>
              <a:t>B) IV, III, I, II</a:t>
            </a:r>
          </a:p>
        </p:txBody>
      </p:sp>
      <p:sp>
        <p:nvSpPr>
          <p:cNvPr id="29" name="Rounded Rectangle 28"/>
          <p:cNvSpPr/>
          <p:nvPr/>
        </p:nvSpPr>
        <p:spPr>
          <a:xfrm>
            <a:off x="5035783"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767676"/>
                </a:solidFill>
                <a:latin typeface="Calibri"/>
              </a:rPr>
              <a:t>C) III, II, IV, I</a:t>
            </a:r>
          </a:p>
        </p:txBody>
      </p:sp>
      <p:sp>
        <p:nvSpPr>
          <p:cNvPr id="30" name="Rounded Rectangle 29"/>
          <p:cNvSpPr/>
          <p:nvPr/>
        </p:nvSpPr>
        <p:spPr>
          <a:xfrm>
            <a:off x="7302215" y="4507992"/>
            <a:ext cx="2120127" cy="566928"/>
          </a:xfrm>
          <a:prstGeom prst="roundRect">
            <a:avLst>
              <a:gd name="adj" fmla="val 30000"/>
            </a:avLst>
          </a:prstGeom>
          <a:solidFill>
            <a:srgbClr val="E3F1E4"/>
          </a:solidFill>
          <a:ln w="31750">
            <a:solidFill>
              <a:srgbClr val="2E7D32"/>
            </a:solidFill>
          </a:ln>
          <a:effectLst/>
        </p:spPr>
        <p:txBody>
          <a:bodyPr rtlCol="0" anchor="ctr" wrap="square" lIns="128016" rIns="128016" tIns="73152" bIns="73152">
            <a:noAutofit/>
          </a:bodyPr>
          <a:lstStyle/>
          <a:p>
            <a:pPr algn="ctr">
              <a:spcBef>
                <a:spcPts val="0"/>
              </a:spcBef>
              <a:spcAft>
                <a:spcPts val="0"/>
              </a:spcAft>
            </a:pPr>
            <a:r>
              <a:rPr lang="tr-TR" sz="2050" b="1" i="0">
                <a:solidFill>
                  <a:srgbClr val="262626"/>
                </a:solidFill>
                <a:latin typeface="Calibri"/>
              </a:rPr>
              <a:t>D) III, IV, I, II</a:t>
            </a:r>
          </a:p>
        </p:txBody>
      </p:sp>
      <p:sp>
        <p:nvSpPr>
          <p:cNvPr id="31" name="Rounded Rectangle 30"/>
          <p:cNvSpPr/>
          <p:nvPr/>
        </p:nvSpPr>
        <p:spPr>
          <a:xfrm>
            <a:off x="9568647" y="4507992"/>
            <a:ext cx="2120127" cy="566928"/>
          </a:xfrm>
          <a:prstGeom prst="roundRect">
            <a:avLst>
              <a:gd name="adj" fmla="val 30000"/>
            </a:avLst>
          </a:prstGeom>
          <a:solidFill>
            <a:srgbClr val="FFFFFF"/>
          </a:solidFill>
          <a:ln w="12700">
            <a:solidFill>
              <a:srgbClr val="D9D9D9"/>
            </a:solidFill>
          </a:ln>
          <a:effectLst/>
        </p:spPr>
        <p:txBody>
          <a:bodyPr rtlCol="0" anchor="ctr" wrap="square" lIns="128016" rIns="128016" tIns="73152" bIns="73152">
            <a:noAutofit/>
          </a:bodyPr>
          <a:lstStyle/>
          <a:p>
            <a:pPr algn="ctr">
              <a:spcBef>
                <a:spcPts val="0"/>
              </a:spcBef>
              <a:spcAft>
                <a:spcPts val="0"/>
              </a:spcAft>
            </a:pPr>
            <a:r>
              <a:rPr lang="tr-TR" sz="2050" b="0" i="0">
                <a:solidFill>
                  <a:srgbClr val="767676"/>
                </a:solidFill>
                <a:latin typeface="Calibri"/>
              </a:rPr>
              <a:t>E) II, IV, III, I</a:t>
            </a:r>
          </a:p>
        </p:txBody>
      </p:sp>
      <p:sp>
        <p:nvSpPr>
          <p:cNvPr id="32" name="Rounded Rectangle 31"/>
          <p:cNvSpPr/>
          <p:nvPr/>
        </p:nvSpPr>
        <p:spPr>
          <a:xfrm>
            <a:off x="502920" y="5239512"/>
            <a:ext cx="11185855" cy="1005840"/>
          </a:xfrm>
          <a:prstGeom prst="roundRect">
            <a:avLst>
              <a:gd name="adj" fmla="val 8000"/>
            </a:avLst>
          </a:prstGeom>
          <a:solidFill>
            <a:srgbClr val="FFF3D1"/>
          </a:solidFill>
          <a:ln>
            <a:noFill/>
          </a:ln>
          <a:effectLst/>
        </p:spPr>
        <p:txBody>
          <a:bodyPr rtlCol="0" anchor="ctr" wrap="square" lIns="228600" rIns="228600" tIns="73152" bIns="73152">
            <a:noAutofit/>
          </a:bodyPr>
          <a:lstStyle/>
          <a:p>
            <a:pPr algn="l">
              <a:spcBef>
                <a:spcPts val="0"/>
              </a:spcBef>
              <a:spcAft>
                <a:spcPts val="600"/>
              </a:spcAft>
            </a:pPr>
            <a:r>
              <a:rPr lang="tr-TR" sz="2100" b="1" i="0">
                <a:solidFill>
                  <a:srgbClr val="262626"/>
                </a:solidFill>
                <a:latin typeface="Calibri"/>
              </a:rPr>
              <a:t>2. Yaptığınız sıralamanın gerekçesini aşağıya yazınız.</a:t>
            </a:r>
          </a:p>
          <a:p>
            <a:pPr algn="l">
              <a:spcBef>
                <a:spcPts val="0"/>
              </a:spcBef>
              <a:spcAft>
                <a:spcPts val="0"/>
              </a:spcAft>
            </a:pPr>
            <a:r>
              <a:rPr lang="tr-TR" sz="2100" b="0" i="0">
                <a:solidFill>
                  <a:srgbClr val="262626"/>
                </a:solidFill>
                <a:latin typeface="Calibri"/>
              </a:rPr>
              <a:t>Eski Çağ (III) → Orta Çağ (IV) → Yeni Çağ (I) → Yakın Çağ (II)</a:t>
            </a:r>
          </a:p>
        </p:txBody>
      </p:sp>
      <p:sp>
        <p:nvSpPr>
          <p:cNvPr id="33" name="TextBox 3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34" name="Rounded Rectangle 33"/>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29</a:t>
            </a:r>
          </a:p>
        </p:txBody>
      </p:sp>
      <p:sp>
        <p:nvSpPr>
          <p:cNvPr id="35" name="TextBox 34"/>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129 / 134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Ünite ölçme: 3-4. sorular</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ÖLÇME</a:t>
            </a:r>
          </a:p>
        </p:txBody>
      </p:sp>
      <p:sp>
        <p:nvSpPr>
          <p:cNvPr id="6" name="TextBox 5"/>
          <p:cNvSpPr txBox="1"/>
          <p:nvPr/>
        </p:nvSpPr>
        <p:spPr>
          <a:xfrm>
            <a:off x="502920" y="1170432"/>
            <a:ext cx="11185855" cy="548640"/>
          </a:xfrm>
          <a:prstGeom prst="rect">
            <a:avLst/>
          </a:prstGeom>
          <a:noFill/>
        </p:spPr>
        <p:txBody>
          <a:bodyPr wrap="square" anchor="ctr" lIns="73152" rIns="73152" tIns="36576" bIns="36576">
            <a:noAutofit/>
          </a:bodyPr>
          <a:lstStyle/>
          <a:p>
            <a:pPr algn="l">
              <a:spcBef>
                <a:spcPts val="0"/>
              </a:spcBef>
              <a:spcAft>
                <a:spcPts val="0"/>
              </a:spcAft>
            </a:pPr>
            <a:r>
              <a:rPr lang="tr-TR" sz="1900" b="0" i="1">
                <a:solidFill>
                  <a:srgbClr val="262626"/>
                </a:solidFill>
                <a:latin typeface="Calibri"/>
              </a:rPr>
              <a:t>Aşağıdaki görselde coğrafi ortama ait birçok unsur ve olay numaralanmış olarak gösterilmiştir.</a:t>
            </a:r>
          </a:p>
        </p:txBody>
      </p:sp>
      <p:pic>
        <p:nvPicPr>
          <p:cNvPr id="7" name="Picture 6" descr="olcme_s30.jpg"/>
          <p:cNvPicPr>
            <a:picLocks noChangeAspect="1"/>
          </p:cNvPicPr>
          <p:nvPr/>
        </p:nvPicPr>
        <p:blipFill>
          <a:blip r:embed="rId3"/>
          <a:srcRect l="83" r="83"/>
          <a:stretch>
            <a:fillRect/>
          </a:stretch>
        </p:blipFill>
        <p:spPr>
          <a:xfrm>
            <a:off x="502920" y="1764792"/>
            <a:ext cx="6309360" cy="3538728"/>
          </a:xfrm>
          <a:prstGeom prst="rect">
            <a:avLst/>
          </a:prstGeom>
          <a:ln w="9525">
            <a:solidFill>
              <a:srgbClr val="D9D9D9"/>
            </a:solidFill>
          </a:ln>
        </p:spPr>
      </p:pic>
      <p:sp>
        <p:nvSpPr>
          <p:cNvPr id="8" name="Rounded Rectangle 7"/>
          <p:cNvSpPr/>
          <p:nvPr/>
        </p:nvSpPr>
        <p:spPr>
          <a:xfrm>
            <a:off x="502920" y="5422392"/>
            <a:ext cx="6309360" cy="822960"/>
          </a:xfrm>
          <a:prstGeom prst="roundRect">
            <a:avLst>
              <a:gd name="adj" fmla="val 8000"/>
            </a:avLst>
          </a:prstGeom>
          <a:solidFill>
            <a:srgbClr val="F0F0F0"/>
          </a:solidFill>
          <a:ln>
            <a:noFill/>
          </a:ln>
          <a:effectLst/>
        </p:spPr>
        <p:txBody>
          <a:bodyPr rtlCol="0" anchor="ctr" wrap="square" lIns="137160" rIns="137160" tIns="73152" bIns="73152">
            <a:noAutofit/>
          </a:bodyPr>
          <a:lstStyle/>
          <a:p>
            <a:pPr algn="l">
              <a:spcBef>
                <a:spcPts val="0"/>
              </a:spcBef>
              <a:spcAft>
                <a:spcPts val="0"/>
              </a:spcAft>
            </a:pPr>
            <a:r>
              <a:rPr lang="tr-TR" sz="1400" b="0" i="0">
                <a:solidFill>
                  <a:srgbClr val="262626"/>
                </a:solidFill>
                <a:latin typeface="Calibri"/>
              </a:rPr>
              <a:t>3. Aşağıdaki tabloya görselde numaralanmış unsur ve olayların neler olduğunu, bunların oluşmasında etkili olan doğal ya da beşerî süreçleri yazınız.</a:t>
            </a:r>
          </a:p>
        </p:txBody>
      </p:sp>
      <p:sp>
        <p:nvSpPr>
          <p:cNvPr id="9" name="TextBox 8"/>
          <p:cNvSpPr txBox="1"/>
          <p:nvPr/>
        </p:nvSpPr>
        <p:spPr>
          <a:xfrm>
            <a:off x="6995160" y="1764792"/>
            <a:ext cx="4693615" cy="1097280"/>
          </a:xfrm>
          <a:prstGeom prst="rect">
            <a:avLst/>
          </a:prstGeom>
          <a:noFill/>
        </p:spPr>
        <p:txBody>
          <a:bodyPr wrap="square" anchor="t" lIns="73152" rIns="73152" tIns="36576" bIns="36576">
            <a:noAutofit/>
          </a:bodyPr>
          <a:lstStyle/>
          <a:p>
            <a:pPr algn="l">
              <a:spcBef>
                <a:spcPts val="0"/>
              </a:spcBef>
              <a:spcAft>
                <a:spcPts val="0"/>
              </a:spcAft>
            </a:pPr>
            <a:r>
              <a:rPr lang="tr-TR" sz="1600" b="1" i="0">
                <a:solidFill>
                  <a:srgbClr val="262626"/>
                </a:solidFill>
                <a:latin typeface="Calibri"/>
              </a:rPr>
              <a:t>4. Görseldeki numaralanmış unsur ve olay ile bu unsur ve olayın coğrafya biliminin aşağıdaki bölümleriyle yapılan eşleştirmelerinden doğru olanları işaretleyiniz.</a:t>
            </a:r>
          </a:p>
        </p:txBody>
      </p:sp>
      <p:graphicFrame>
        <p:nvGraphicFramePr>
          <p:cNvPr id="10" name="Table 9"/>
          <p:cNvGraphicFramePr>
            <a:graphicFrameLocks noGrp="1"/>
          </p:cNvGraphicFramePr>
          <p:nvPr/>
        </p:nvGraphicFramePr>
        <p:xfrm>
          <a:off x="6995160" y="2907792"/>
          <a:ext cx="4690872" cy="3337560"/>
        </p:xfrm>
        <a:graphic>
          <a:graphicData uri="http://schemas.openxmlformats.org/drawingml/2006/table">
            <a:tbl>
              <a:tblPr firstRow="1" bandRow="1">
                <a:tableStyleId>{5C22544A-7EE6-4342-B048-85BDC9FD1C3A}</a:tableStyleId>
              </a:tblPr>
              <a:tblGrid>
                <a:gridCol w="685800"/>
                <a:gridCol w="3044952"/>
                <a:gridCol w="960120"/>
              </a:tblGrid>
              <a:tr h="457200">
                <a:tc>
                  <a:txBody>
                    <a:bodyPr wrap="square"/>
                    <a:lstStyle/>
                    <a:p>
                      <a:pPr algn="ctr">
                        <a:spcBef>
                          <a:spcPts val="0"/>
                        </a:spcBef>
                        <a:spcAft>
                          <a:spcPts val="0"/>
                        </a:spcAft>
                      </a:pPr>
                      <a:r>
                        <a:rPr lang="tr-TR" sz="1500" b="1" i="0">
                          <a:solidFill>
                            <a:srgbClr val="FFFFFF"/>
                          </a:solidFill>
                          <a:latin typeface="Calibri"/>
                        </a:rPr>
                        <a:t>No</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Alt dal</a:t>
                      </a:r>
                    </a:p>
                  </a:txBody>
                  <a:tcPr marL="54864" marR="54864" marT="18288" marB="18288" anchor="ctr">
                    <a:solidFill>
                      <a:srgbClr val="2C6696"/>
                    </a:solidFill>
                  </a:tcPr>
                </a:tc>
                <a:tc>
                  <a:txBody>
                    <a:bodyPr wrap="square"/>
                    <a:lstStyle/>
                    <a:p>
                      <a:pPr algn="ctr">
                        <a:spcBef>
                          <a:spcPts val="0"/>
                        </a:spcBef>
                        <a:spcAft>
                          <a:spcPts val="0"/>
                        </a:spcAft>
                      </a:pPr>
                      <a:r>
                        <a:rPr lang="tr-TR" sz="1400" b="1" i="0">
                          <a:solidFill>
                            <a:srgbClr val="FFFFFF"/>
                          </a:solidFill>
                          <a:latin typeface="Calibri"/>
                        </a:rPr>
                        <a:t>Doğru mu?</a:t>
                      </a:r>
                    </a:p>
                  </a:txBody>
                  <a:tcPr marL="54864" marR="54864" marT="18288" marB="18288" anchor="ctr">
                    <a:solidFill>
                      <a:srgbClr val="2C6696"/>
                    </a:solidFill>
                  </a:tcPr>
                </a:tc>
              </a:tr>
              <a:tr h="411480">
                <a:tc>
                  <a:txBody>
                    <a:bodyPr wrap="square"/>
                    <a:lstStyle/>
                    <a:p>
                      <a:pPr algn="ctr">
                        <a:spcBef>
                          <a:spcPts val="0"/>
                        </a:spcBef>
                        <a:spcAft>
                          <a:spcPts val="0"/>
                        </a:spcAft>
                      </a:pPr>
                      <a:r>
                        <a:rPr lang="tr-TR" sz="1700" b="0" i="0">
                          <a:solidFill>
                            <a:srgbClr val="262626"/>
                          </a:solidFill>
                          <a:latin typeface="Calibri"/>
                        </a:rPr>
                        <a:t>1</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Jeomorfoloji</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FFFFFF"/>
                    </a:solidFill>
                  </a:tcPr>
                </a:tc>
              </a:tr>
              <a:tr h="411480">
                <a:tc>
                  <a:txBody>
                    <a:bodyPr wrap="square"/>
                    <a:lstStyle/>
                    <a:p>
                      <a:pPr algn="ctr">
                        <a:spcBef>
                          <a:spcPts val="0"/>
                        </a:spcBef>
                        <a:spcAft>
                          <a:spcPts val="0"/>
                        </a:spcAft>
                      </a:pPr>
                      <a:r>
                        <a:rPr lang="tr-TR" sz="1700" b="0" i="0">
                          <a:solidFill>
                            <a:srgbClr val="262626"/>
                          </a:solidFill>
                          <a:latin typeface="Calibri"/>
                        </a:rPr>
                        <a:t>2</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Ekonomik Coğrafya</a:t>
                      </a:r>
                    </a:p>
                  </a:txBody>
                  <a:tcPr marL="54864" marR="54864" marT="18288" marB="18288" anchor="ctr">
                    <a:solidFill>
                      <a:srgbClr val="E3ECF5"/>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E3ECF5"/>
                    </a:solidFill>
                  </a:tcPr>
                </a:tc>
              </a:tr>
              <a:tr h="411480">
                <a:tc>
                  <a:txBody>
                    <a:bodyPr wrap="square"/>
                    <a:lstStyle/>
                    <a:p>
                      <a:pPr algn="ctr">
                        <a:spcBef>
                          <a:spcPts val="0"/>
                        </a:spcBef>
                        <a:spcAft>
                          <a:spcPts val="0"/>
                        </a:spcAft>
                      </a:pPr>
                      <a:r>
                        <a:rPr lang="tr-TR" sz="1700" b="0" i="0">
                          <a:solidFill>
                            <a:srgbClr val="262626"/>
                          </a:solidFill>
                          <a:latin typeface="Calibri"/>
                        </a:rPr>
                        <a:t>3</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Yerleşme Coğrafyası</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FFFFFF"/>
                    </a:solidFill>
                  </a:tcPr>
                </a:tc>
              </a:tr>
              <a:tr h="411480">
                <a:tc>
                  <a:txBody>
                    <a:bodyPr wrap="square"/>
                    <a:lstStyle/>
                    <a:p>
                      <a:pPr algn="ctr">
                        <a:spcBef>
                          <a:spcPts val="0"/>
                        </a:spcBef>
                        <a:spcAft>
                          <a:spcPts val="0"/>
                        </a:spcAft>
                      </a:pPr>
                      <a:r>
                        <a:rPr lang="tr-TR" sz="1700" b="0" i="0">
                          <a:solidFill>
                            <a:srgbClr val="262626"/>
                          </a:solidFill>
                          <a:latin typeface="Calibri"/>
                        </a:rPr>
                        <a:t>4</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Biyocoğrafya</a:t>
                      </a:r>
                    </a:p>
                  </a:txBody>
                  <a:tcPr marL="54864" marR="54864" marT="18288" marB="18288" anchor="ctr">
                    <a:solidFill>
                      <a:srgbClr val="E3ECF5"/>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E3ECF5"/>
                    </a:solidFill>
                  </a:tcPr>
                </a:tc>
              </a:tr>
              <a:tr h="411480">
                <a:tc>
                  <a:txBody>
                    <a:bodyPr wrap="square"/>
                    <a:lstStyle/>
                    <a:p>
                      <a:pPr algn="ctr">
                        <a:spcBef>
                          <a:spcPts val="0"/>
                        </a:spcBef>
                        <a:spcAft>
                          <a:spcPts val="0"/>
                        </a:spcAft>
                      </a:pPr>
                      <a:r>
                        <a:rPr lang="tr-TR" sz="1700" b="0" i="0">
                          <a:solidFill>
                            <a:srgbClr val="262626"/>
                          </a:solidFill>
                          <a:latin typeface="Calibri"/>
                        </a:rPr>
                        <a:t>5</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Ekonomik Coğrafya</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FFFFFF"/>
                    </a:solidFill>
                  </a:tcPr>
                </a:tc>
              </a:tr>
              <a:tr h="411480">
                <a:tc>
                  <a:txBody>
                    <a:bodyPr wrap="square"/>
                    <a:lstStyle/>
                    <a:p>
                      <a:pPr algn="ctr">
                        <a:spcBef>
                          <a:spcPts val="0"/>
                        </a:spcBef>
                        <a:spcAft>
                          <a:spcPts val="0"/>
                        </a:spcAft>
                      </a:pPr>
                      <a:r>
                        <a:rPr lang="tr-TR" sz="1700" b="0" i="0">
                          <a:solidFill>
                            <a:srgbClr val="262626"/>
                          </a:solidFill>
                          <a:latin typeface="Calibri"/>
                        </a:rPr>
                        <a:t>6</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Ekonomik Coğrafya</a:t>
                      </a:r>
                    </a:p>
                  </a:txBody>
                  <a:tcPr marL="54864" marR="54864" marT="18288" marB="18288" anchor="ctr">
                    <a:solidFill>
                      <a:srgbClr val="E3ECF5"/>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E3ECF5"/>
                    </a:solidFill>
                  </a:tcPr>
                </a:tc>
              </a:tr>
              <a:tr h="411480">
                <a:tc>
                  <a:txBody>
                    <a:bodyPr wrap="square"/>
                    <a:lstStyle/>
                    <a:p>
                      <a:pPr algn="ctr">
                        <a:spcBef>
                          <a:spcPts val="0"/>
                        </a:spcBef>
                        <a:spcAft>
                          <a:spcPts val="0"/>
                        </a:spcAft>
                      </a:pPr>
                      <a:r>
                        <a:rPr lang="tr-TR" sz="1700" b="0" i="0">
                          <a:solidFill>
                            <a:srgbClr val="262626"/>
                          </a:solidFill>
                          <a:latin typeface="Calibri"/>
                        </a:rPr>
                        <a:t>7</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Jeomorfoloji</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a:t>
                      </a:r>
                    </a:p>
                  </a:txBody>
                  <a:tcPr marL="54864" marR="54864" marT="18288" marB="18288" anchor="ctr">
                    <a:solidFill>
                      <a:srgbClr val="FFFFFF"/>
                    </a:solidFill>
                  </a:tcPr>
                </a:tc>
              </a:tr>
            </a:tbl>
          </a:graphicData>
        </a:graphic>
      </p:graphicFrame>
      <p:sp>
        <p:nvSpPr>
          <p:cNvPr id="11" name="TextBox 10"/>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2" name="Rounded Rectangle 11"/>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30-31</a:t>
            </a:r>
          </a:p>
        </p:txBody>
      </p:sp>
      <p:sp>
        <p:nvSpPr>
          <p:cNvPr id="13" name="TextBox 12"/>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130 / 134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Ünite ölçme: 3-4. sorular — örnek cevaplar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CEVAP</a:t>
            </a:r>
          </a:p>
        </p:txBody>
      </p:sp>
      <p:graphicFrame>
        <p:nvGraphicFramePr>
          <p:cNvPr id="6" name="Table 5"/>
          <p:cNvGraphicFramePr>
            <a:graphicFrameLocks noGrp="1"/>
          </p:cNvGraphicFramePr>
          <p:nvPr/>
        </p:nvGraphicFramePr>
        <p:xfrm>
          <a:off x="502920" y="1216152"/>
          <a:ext cx="11183112" cy="4261104"/>
        </p:xfrm>
        <a:graphic>
          <a:graphicData uri="http://schemas.openxmlformats.org/drawingml/2006/table">
            <a:tbl>
              <a:tblPr firstRow="1" bandRow="1">
                <a:tableStyleId>{5C22544A-7EE6-4342-B048-85BDC9FD1C3A}</a:tableStyleId>
              </a:tblPr>
              <a:tblGrid>
                <a:gridCol w="548640"/>
                <a:gridCol w="2606040"/>
                <a:gridCol w="4160520"/>
                <a:gridCol w="2057400"/>
                <a:gridCol w="1810512"/>
              </a:tblGrid>
              <a:tr h="548640">
                <a:tc>
                  <a:txBody>
                    <a:bodyPr wrap="square"/>
                    <a:lstStyle/>
                    <a:p>
                      <a:pPr algn="ctr">
                        <a:spcBef>
                          <a:spcPts val="0"/>
                        </a:spcBef>
                        <a:spcAft>
                          <a:spcPts val="0"/>
                        </a:spcAft>
                      </a:pPr>
                      <a:r>
                        <a:rPr lang="tr-TR" sz="1500" b="1" i="0">
                          <a:solidFill>
                            <a:srgbClr val="FFFFFF"/>
                          </a:solidFill>
                          <a:latin typeface="Calibri"/>
                        </a:rPr>
                        <a:t>No</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Unsur ve olay (3. soru)</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Oluşmasında etkili süreç (3. soru)</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4. soruda eşleşen dal</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4. soru</a:t>
                      </a:r>
                    </a:p>
                  </a:txBody>
                  <a:tcPr marL="54864" marR="54864" marT="18288" marB="18288" anchor="ctr">
                    <a:solidFill>
                      <a:srgbClr val="2C6696"/>
                    </a:solidFill>
                  </a:tcPr>
                </a:tc>
              </a:tr>
              <a:tr h="530352">
                <a:tc>
                  <a:txBody>
                    <a:bodyPr wrap="square"/>
                    <a:lstStyle/>
                    <a:p>
                      <a:pPr algn="ctr">
                        <a:spcBef>
                          <a:spcPts val="0"/>
                        </a:spcBef>
                        <a:spcAft>
                          <a:spcPts val="0"/>
                        </a:spcAft>
                      </a:pPr>
                      <a:r>
                        <a:rPr lang="tr-TR" sz="1700" b="0" i="0">
                          <a:solidFill>
                            <a:srgbClr val="262626"/>
                          </a:solidFill>
                          <a:latin typeface="Calibri"/>
                        </a:rPr>
                        <a:t>1</a:t>
                      </a:r>
                    </a:p>
                  </a:txBody>
                  <a:tcPr marL="54864" marR="54864" marT="18288" marB="18288" anchor="ctr">
                    <a:solidFill>
                      <a:srgbClr val="FFFFFF"/>
                    </a:solidFill>
                  </a:tcPr>
                </a:tc>
                <a:tc>
                  <a:txBody>
                    <a:bodyPr wrap="square"/>
                    <a:lstStyle/>
                    <a:p>
                      <a:pPr algn="l">
                        <a:spcBef>
                          <a:spcPts val="0"/>
                        </a:spcBef>
                        <a:spcAft>
                          <a:spcPts val="0"/>
                        </a:spcAft>
                      </a:pPr>
                      <a:r>
                        <a:rPr lang="tr-TR" sz="1600" b="0" i="0">
                          <a:solidFill>
                            <a:srgbClr val="262626"/>
                          </a:solidFill>
                          <a:latin typeface="Calibri"/>
                        </a:rPr>
                        <a:t>Kayalık dağ yamacı (kayaçlar)</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Doğal: yer kabuğu hareketleri ve aşınma</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Jeomorfoloji</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Doğru</a:t>
                      </a:r>
                    </a:p>
                  </a:txBody>
                  <a:tcPr marL="54864" marR="54864" marT="18288" marB="18288" anchor="ctr">
                    <a:solidFill>
                      <a:srgbClr val="FFFFFF"/>
                    </a:solidFill>
                  </a:tcPr>
                </a:tc>
              </a:tr>
              <a:tr h="530352">
                <a:tc>
                  <a:txBody>
                    <a:bodyPr wrap="square"/>
                    <a:lstStyle/>
                    <a:p>
                      <a:pPr algn="ctr">
                        <a:spcBef>
                          <a:spcPts val="0"/>
                        </a:spcBef>
                        <a:spcAft>
                          <a:spcPts val="0"/>
                        </a:spcAft>
                      </a:pPr>
                      <a:r>
                        <a:rPr lang="tr-TR" sz="1700" b="0" i="0">
                          <a:solidFill>
                            <a:srgbClr val="262626"/>
                          </a:solidFill>
                          <a:latin typeface="Calibri"/>
                        </a:rPr>
                        <a:t>2</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Tarım alanları</a:t>
                      </a:r>
                    </a:p>
                  </a:txBody>
                  <a:tcPr marL="54864" marR="54864" marT="18288" marB="18288" anchor="ctr">
                    <a:solidFill>
                      <a:srgbClr val="E3ECF5"/>
                    </a:solidFill>
                  </a:tcPr>
                </a:tc>
                <a:tc>
                  <a:txBody>
                    <a:bodyPr wrap="square"/>
                    <a:lstStyle/>
                    <a:p>
                      <a:pPr algn="l">
                        <a:spcBef>
                          <a:spcPts val="0"/>
                        </a:spcBef>
                        <a:spcAft>
                          <a:spcPts val="0"/>
                        </a:spcAft>
                      </a:pPr>
                      <a:r>
                        <a:rPr lang="tr-TR" sz="1650" b="0" i="0">
                          <a:solidFill>
                            <a:srgbClr val="262626"/>
                          </a:solidFill>
                          <a:latin typeface="Calibri"/>
                        </a:rPr>
                        <a:t>Beşerî: tarım (düz arazi ve toprak doğal koşul)</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Ekonomik coğrafya</a:t>
                      </a:r>
                    </a:p>
                  </a:txBody>
                  <a:tcPr marL="54864" marR="54864" marT="18288" marB="18288" anchor="ctr">
                    <a:solidFill>
                      <a:srgbClr val="E3ECF5"/>
                    </a:solidFill>
                  </a:tcPr>
                </a:tc>
                <a:tc>
                  <a:txBody>
                    <a:bodyPr wrap="square"/>
                    <a:lstStyle/>
                    <a:p>
                      <a:pPr algn="ctr">
                        <a:spcBef>
                          <a:spcPts val="0"/>
                        </a:spcBef>
                        <a:spcAft>
                          <a:spcPts val="0"/>
                        </a:spcAft>
                      </a:pPr>
                      <a:r>
                        <a:rPr lang="tr-TR" sz="1700" b="0" i="0">
                          <a:solidFill>
                            <a:srgbClr val="262626"/>
                          </a:solidFill>
                          <a:latin typeface="Calibri"/>
                        </a:rPr>
                        <a:t>Doğru</a:t>
                      </a:r>
                    </a:p>
                  </a:txBody>
                  <a:tcPr marL="54864" marR="54864" marT="18288" marB="18288" anchor="ctr">
                    <a:solidFill>
                      <a:srgbClr val="E3ECF5"/>
                    </a:solidFill>
                  </a:tcPr>
                </a:tc>
              </a:tr>
              <a:tr h="530352">
                <a:tc>
                  <a:txBody>
                    <a:bodyPr wrap="square"/>
                    <a:lstStyle/>
                    <a:p>
                      <a:pPr algn="ctr">
                        <a:spcBef>
                          <a:spcPts val="0"/>
                        </a:spcBef>
                        <a:spcAft>
                          <a:spcPts val="0"/>
                        </a:spcAft>
                      </a:pPr>
                      <a:r>
                        <a:rPr lang="tr-TR" sz="1700" b="0" i="0">
                          <a:solidFill>
                            <a:srgbClr val="262626"/>
                          </a:solidFill>
                          <a:latin typeface="Calibri"/>
                        </a:rPr>
                        <a:t>3</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Yerleşme: konutlar, oteller</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Beşerî: yerleşme ve turizm</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Yerleşme coğrafyası</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Doğru</a:t>
                      </a:r>
                    </a:p>
                  </a:txBody>
                  <a:tcPr marL="54864" marR="54864" marT="18288" marB="18288" anchor="ctr">
                    <a:solidFill>
                      <a:srgbClr val="FFFFFF"/>
                    </a:solidFill>
                  </a:tcPr>
                </a:tc>
              </a:tr>
              <a:tr h="530352">
                <a:tc>
                  <a:txBody>
                    <a:bodyPr wrap="square"/>
                    <a:lstStyle/>
                    <a:p>
                      <a:pPr algn="ctr">
                        <a:spcBef>
                          <a:spcPts val="0"/>
                        </a:spcBef>
                        <a:spcAft>
                          <a:spcPts val="0"/>
                        </a:spcAft>
                      </a:pPr>
                      <a:r>
                        <a:rPr lang="tr-TR" sz="1700" b="0" i="0">
                          <a:solidFill>
                            <a:srgbClr val="262626"/>
                          </a:solidFill>
                          <a:latin typeface="Calibri"/>
                        </a:rPr>
                        <a:t>4</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Orman (bitki örtüsü)</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Doğal: iklim ve toprak koşulları</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Biyocoğrafya</a:t>
                      </a:r>
                    </a:p>
                  </a:txBody>
                  <a:tcPr marL="54864" marR="54864" marT="18288" marB="18288" anchor="ctr">
                    <a:solidFill>
                      <a:srgbClr val="E3ECF5"/>
                    </a:solidFill>
                  </a:tcPr>
                </a:tc>
                <a:tc>
                  <a:txBody>
                    <a:bodyPr wrap="square"/>
                    <a:lstStyle/>
                    <a:p>
                      <a:pPr algn="ctr">
                        <a:spcBef>
                          <a:spcPts val="0"/>
                        </a:spcBef>
                        <a:spcAft>
                          <a:spcPts val="0"/>
                        </a:spcAft>
                      </a:pPr>
                      <a:r>
                        <a:rPr lang="tr-TR" sz="1700" b="0" i="0">
                          <a:solidFill>
                            <a:srgbClr val="262626"/>
                          </a:solidFill>
                          <a:latin typeface="Calibri"/>
                        </a:rPr>
                        <a:t>Doğru</a:t>
                      </a:r>
                    </a:p>
                  </a:txBody>
                  <a:tcPr marL="54864" marR="54864" marT="18288" marB="18288" anchor="ctr">
                    <a:solidFill>
                      <a:srgbClr val="E3ECF5"/>
                    </a:solidFill>
                  </a:tcPr>
                </a:tc>
              </a:tr>
              <a:tr h="530352">
                <a:tc>
                  <a:txBody>
                    <a:bodyPr wrap="square"/>
                    <a:lstStyle/>
                    <a:p>
                      <a:pPr algn="ctr">
                        <a:spcBef>
                          <a:spcPts val="0"/>
                        </a:spcBef>
                        <a:spcAft>
                          <a:spcPts val="0"/>
                        </a:spcAft>
                      </a:pPr>
                      <a:r>
                        <a:rPr lang="tr-TR" sz="1700" b="0" i="0">
                          <a:solidFill>
                            <a:srgbClr val="262626"/>
                          </a:solidFill>
                          <a:latin typeface="Calibri"/>
                        </a:rPr>
                        <a:t>5</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Kumsal (plaj)</a:t>
                      </a:r>
                    </a:p>
                  </a:txBody>
                  <a:tcPr marL="54864" marR="54864" marT="18288" marB="18288" anchor="ctr">
                    <a:solidFill>
                      <a:srgbClr val="FFFFFF"/>
                    </a:solidFill>
                  </a:tcPr>
                </a:tc>
                <a:tc>
                  <a:txBody>
                    <a:bodyPr wrap="square"/>
                    <a:lstStyle/>
                    <a:p>
                      <a:pPr algn="l">
                        <a:spcBef>
                          <a:spcPts val="0"/>
                        </a:spcBef>
                        <a:spcAft>
                          <a:spcPts val="0"/>
                        </a:spcAft>
                      </a:pPr>
                      <a:r>
                        <a:rPr lang="tr-TR" sz="1650" b="0" i="0">
                          <a:solidFill>
                            <a:srgbClr val="262626"/>
                          </a:solidFill>
                          <a:latin typeface="Calibri"/>
                        </a:rPr>
                        <a:t>Doğal: dalga birikimi · kullanımı beşerî: turizm</a:t>
                      </a:r>
                    </a:p>
                  </a:txBody>
                  <a:tcPr marL="54864" marR="54864" marT="18288" marB="18288" anchor="ctr">
                    <a:solidFill>
                      <a:srgbClr val="FFFFFF"/>
                    </a:solidFill>
                  </a:tcPr>
                </a:tc>
                <a:tc>
                  <a:txBody>
                    <a:bodyPr wrap="square"/>
                    <a:lstStyle/>
                    <a:p>
                      <a:pPr algn="l">
                        <a:spcBef>
                          <a:spcPts val="0"/>
                        </a:spcBef>
                        <a:spcAft>
                          <a:spcPts val="0"/>
                        </a:spcAft>
                      </a:pPr>
                      <a:r>
                        <a:rPr lang="tr-TR" sz="1700" b="0" i="0">
                          <a:solidFill>
                            <a:srgbClr val="262626"/>
                          </a:solidFill>
                          <a:latin typeface="Calibri"/>
                        </a:rPr>
                        <a:t>Ekonomik coğrafya</a:t>
                      </a:r>
                    </a:p>
                  </a:txBody>
                  <a:tcPr marL="54864" marR="54864" marT="18288" marB="18288" anchor="ctr">
                    <a:solidFill>
                      <a:srgbClr val="FFFFFF"/>
                    </a:solidFill>
                  </a:tcPr>
                </a:tc>
                <a:tc>
                  <a:txBody>
                    <a:bodyPr wrap="square"/>
                    <a:lstStyle/>
                    <a:p>
                      <a:pPr algn="ctr">
                        <a:spcBef>
                          <a:spcPts val="0"/>
                        </a:spcBef>
                        <a:spcAft>
                          <a:spcPts val="0"/>
                        </a:spcAft>
                      </a:pPr>
                      <a:r>
                        <a:rPr lang="tr-TR" sz="1700" b="0" i="0">
                          <a:solidFill>
                            <a:srgbClr val="262626"/>
                          </a:solidFill>
                          <a:latin typeface="Calibri"/>
                        </a:rPr>
                        <a:t>Doğru (turizm)</a:t>
                      </a:r>
                    </a:p>
                  </a:txBody>
                  <a:tcPr marL="54864" marR="54864" marT="18288" marB="18288" anchor="ctr">
                    <a:solidFill>
                      <a:srgbClr val="FFFFFF"/>
                    </a:solidFill>
                  </a:tcPr>
                </a:tc>
              </a:tr>
              <a:tr h="530352">
                <a:tc>
                  <a:txBody>
                    <a:bodyPr wrap="square"/>
                    <a:lstStyle/>
                    <a:p>
                      <a:pPr algn="ctr">
                        <a:spcBef>
                          <a:spcPts val="0"/>
                        </a:spcBef>
                        <a:spcAft>
                          <a:spcPts val="0"/>
                        </a:spcAft>
                      </a:pPr>
                      <a:r>
                        <a:rPr lang="tr-TR" sz="1700" b="0" i="0">
                          <a:solidFill>
                            <a:srgbClr val="262626"/>
                          </a:solidFill>
                          <a:latin typeface="Calibri"/>
                        </a:rPr>
                        <a:t>6</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Yat limanı ve tekneler</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Beşerî: ulaşım ve turizm (iskele, dalgakıran)</a:t>
                      </a:r>
                    </a:p>
                  </a:txBody>
                  <a:tcPr marL="54864" marR="54864" marT="18288" marB="18288" anchor="ctr">
                    <a:solidFill>
                      <a:srgbClr val="E3ECF5"/>
                    </a:solidFill>
                  </a:tcPr>
                </a:tc>
                <a:tc>
                  <a:txBody>
                    <a:bodyPr wrap="square"/>
                    <a:lstStyle/>
                    <a:p>
                      <a:pPr algn="l">
                        <a:spcBef>
                          <a:spcPts val="0"/>
                        </a:spcBef>
                        <a:spcAft>
                          <a:spcPts val="0"/>
                        </a:spcAft>
                      </a:pPr>
                      <a:r>
                        <a:rPr lang="tr-TR" sz="1700" b="0" i="0">
                          <a:solidFill>
                            <a:srgbClr val="262626"/>
                          </a:solidFill>
                          <a:latin typeface="Calibri"/>
                        </a:rPr>
                        <a:t>Ekonomik coğrafya</a:t>
                      </a:r>
                    </a:p>
                  </a:txBody>
                  <a:tcPr marL="54864" marR="54864" marT="18288" marB="18288" anchor="ctr">
                    <a:solidFill>
                      <a:srgbClr val="E3ECF5"/>
                    </a:solidFill>
                  </a:tcPr>
                </a:tc>
                <a:tc>
                  <a:txBody>
                    <a:bodyPr wrap="square"/>
                    <a:lstStyle/>
                    <a:p>
                      <a:pPr algn="ctr">
                        <a:spcBef>
                          <a:spcPts val="0"/>
                        </a:spcBef>
                        <a:spcAft>
                          <a:spcPts val="0"/>
                        </a:spcAft>
                      </a:pPr>
                      <a:r>
                        <a:rPr lang="tr-TR" sz="1700" b="0" i="0">
                          <a:solidFill>
                            <a:srgbClr val="262626"/>
                          </a:solidFill>
                          <a:latin typeface="Calibri"/>
                        </a:rPr>
                        <a:t>Doğru</a:t>
                      </a:r>
                    </a:p>
                  </a:txBody>
                  <a:tcPr marL="54864" marR="54864" marT="18288" marB="18288" anchor="ctr">
                    <a:solidFill>
                      <a:srgbClr val="E3ECF5"/>
                    </a:solidFill>
                  </a:tcPr>
                </a:tc>
              </a:tr>
              <a:tr h="530352">
                <a:tc>
                  <a:txBody>
                    <a:bodyPr wrap="square"/>
                    <a:lstStyle/>
                    <a:p>
                      <a:pPr algn="ctr">
                        <a:spcBef>
                          <a:spcPts val="0"/>
                        </a:spcBef>
                        <a:spcAft>
                          <a:spcPts val="0"/>
                        </a:spcAft>
                      </a:pPr>
                      <a:r>
                        <a:rPr lang="tr-TR" sz="1700" b="0" i="0">
                          <a:solidFill>
                            <a:srgbClr val="262626"/>
                          </a:solidFill>
                          <a:latin typeface="Calibri"/>
                        </a:rPr>
                        <a:t>7</a:t>
                      </a:r>
                    </a:p>
                  </a:txBody>
                  <a:tcPr marL="54864" marR="54864" marT="18288" marB="18288" anchor="ctr">
                    <a:solidFill>
                      <a:srgbClr val="F9E1E1"/>
                    </a:solidFill>
                  </a:tcPr>
                </a:tc>
                <a:tc>
                  <a:txBody>
                    <a:bodyPr wrap="square"/>
                    <a:lstStyle/>
                    <a:p>
                      <a:pPr algn="l">
                        <a:spcBef>
                          <a:spcPts val="0"/>
                        </a:spcBef>
                        <a:spcAft>
                          <a:spcPts val="0"/>
                        </a:spcAft>
                      </a:pPr>
                      <a:r>
                        <a:rPr lang="tr-TR" sz="1700" b="0" i="0">
                          <a:solidFill>
                            <a:srgbClr val="262626"/>
                          </a:solidFill>
                          <a:latin typeface="Calibri"/>
                        </a:rPr>
                        <a:t>Deniz (koy)</a:t>
                      </a:r>
                    </a:p>
                  </a:txBody>
                  <a:tcPr marL="54864" marR="54864" marT="18288" marB="18288" anchor="ctr">
                    <a:solidFill>
                      <a:srgbClr val="F9E1E1"/>
                    </a:solidFill>
                  </a:tcPr>
                </a:tc>
                <a:tc>
                  <a:txBody>
                    <a:bodyPr wrap="square"/>
                    <a:lstStyle/>
                    <a:p>
                      <a:pPr algn="l">
                        <a:spcBef>
                          <a:spcPts val="0"/>
                        </a:spcBef>
                        <a:spcAft>
                          <a:spcPts val="0"/>
                        </a:spcAft>
                      </a:pPr>
                      <a:r>
                        <a:rPr lang="tr-TR" sz="1700" b="0" i="0">
                          <a:solidFill>
                            <a:srgbClr val="262626"/>
                          </a:solidFill>
                          <a:latin typeface="Calibri"/>
                        </a:rPr>
                        <a:t>Doğal: su küre</a:t>
                      </a:r>
                    </a:p>
                  </a:txBody>
                  <a:tcPr marL="54864" marR="54864" marT="18288" marB="18288" anchor="ctr">
                    <a:solidFill>
                      <a:srgbClr val="F9E1E1"/>
                    </a:solidFill>
                  </a:tcPr>
                </a:tc>
                <a:tc>
                  <a:txBody>
                    <a:bodyPr wrap="square"/>
                    <a:lstStyle/>
                    <a:p>
                      <a:pPr algn="l">
                        <a:spcBef>
                          <a:spcPts val="0"/>
                        </a:spcBef>
                        <a:spcAft>
                          <a:spcPts val="0"/>
                        </a:spcAft>
                      </a:pPr>
                      <a:r>
                        <a:rPr lang="tr-TR" sz="1700" b="0" i="0">
                          <a:solidFill>
                            <a:srgbClr val="262626"/>
                          </a:solidFill>
                          <a:latin typeface="Calibri"/>
                        </a:rPr>
                        <a:t>Jeomorfoloji</a:t>
                      </a:r>
                    </a:p>
                  </a:txBody>
                  <a:tcPr marL="54864" marR="54864" marT="18288" marB="18288" anchor="ctr">
                    <a:solidFill>
                      <a:srgbClr val="F9E1E1"/>
                    </a:solidFill>
                  </a:tcPr>
                </a:tc>
                <a:tc>
                  <a:txBody>
                    <a:bodyPr wrap="square"/>
                    <a:lstStyle/>
                    <a:p>
                      <a:pPr algn="ctr">
                        <a:spcBef>
                          <a:spcPts val="0"/>
                        </a:spcBef>
                        <a:spcAft>
                          <a:spcPts val="0"/>
                        </a:spcAft>
                      </a:pPr>
                      <a:r>
                        <a:rPr lang="tr-TR" sz="1550" b="0" i="0">
                          <a:solidFill>
                            <a:srgbClr val="262626"/>
                          </a:solidFill>
                          <a:latin typeface="Calibri"/>
                        </a:rPr>
                        <a:t>Yanlış → hidrografya</a:t>
                      </a:r>
                    </a:p>
                  </a:txBody>
                  <a:tcPr marL="54864" marR="54864" marT="18288" marB="18288" anchor="ctr">
                    <a:solidFill>
                      <a:srgbClr val="F9E1E1"/>
                    </a:solidFill>
                  </a:tcPr>
                </a:tc>
              </a:tr>
            </a:tbl>
          </a:graphicData>
        </a:graphic>
      </p:graphicFrame>
      <p:sp>
        <p:nvSpPr>
          <p:cNvPr id="7" name="Rounded Rectangle 6"/>
          <p:cNvSpPr/>
          <p:nvPr/>
        </p:nvSpPr>
        <p:spPr>
          <a:xfrm>
            <a:off x="502920" y="5614416"/>
            <a:ext cx="11185855" cy="676656"/>
          </a:xfrm>
          <a:prstGeom prst="roundRect">
            <a:avLst>
              <a:gd name="adj" fmla="val 8000"/>
            </a:avLst>
          </a:prstGeom>
          <a:solidFill>
            <a:srgbClr val="FFF3D1"/>
          </a:solidFill>
          <a:ln>
            <a:noFill/>
          </a:ln>
          <a:effectLst/>
        </p:spPr>
        <p:txBody>
          <a:bodyPr rtlCol="0" anchor="ctr" wrap="square" lIns="182880" rIns="182880" tIns="73152" bIns="73152">
            <a:noAutofit/>
          </a:bodyPr>
          <a:lstStyle/>
          <a:p>
            <a:pPr algn="l">
              <a:spcBef>
                <a:spcPts val="0"/>
              </a:spcBef>
              <a:spcAft>
                <a:spcPts val="0"/>
              </a:spcAft>
            </a:pPr>
            <a:r>
              <a:rPr lang="tr-TR" sz="1600" b="0" i="0">
                <a:solidFill>
                  <a:srgbClr val="262626"/>
                </a:solidFill>
                <a:latin typeface="Calibri"/>
              </a:rPr>
              <a:t>Görseldeki her unsurun oluşumunda doğal ya da beşerî süreç öne çıkar; bazılarında ikisi birlikte etkilidir (tarım alanı, kumsal). Gerekçeli farklı adlandırmalar kabul edilir.</a:t>
            </a:r>
          </a:p>
        </p:txBody>
      </p:sp>
      <p:sp>
        <p:nvSpPr>
          <p:cNvPr id="8" name="TextBox 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9" name="Rounded Rectangle 8"/>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30-31</a:t>
            </a:r>
          </a:p>
        </p:txBody>
      </p:sp>
      <p:sp>
        <p:nvSpPr>
          <p:cNvPr id="10" name="TextBox 9"/>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131 / 134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Ünite ölçme: 5-7. sorular</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ÖLÇME</a:t>
            </a:r>
          </a:p>
        </p:txBody>
      </p:sp>
      <p:sp>
        <p:nvSpPr>
          <p:cNvPr id="6" name="Rounded Rectangle 5"/>
          <p:cNvSpPr/>
          <p:nvPr/>
        </p:nvSpPr>
        <p:spPr>
          <a:xfrm>
            <a:off x="502920" y="1307592"/>
            <a:ext cx="11185855" cy="1575816"/>
          </a:xfrm>
          <a:prstGeom prst="roundRect">
            <a:avLst>
              <a:gd name="adj" fmla="val 8000"/>
            </a:avLst>
          </a:prstGeom>
          <a:solidFill>
            <a:srgbClr val="F0F0F0"/>
          </a:solidFill>
          <a:ln>
            <a:noFill/>
          </a:ln>
          <a:effectLst/>
        </p:spPr>
        <p:txBody>
          <a:bodyPr rtlCol="0" anchor="ctr"/>
          <a:lstStyle/>
          <a:p/>
        </p:txBody>
      </p:sp>
      <p:sp>
        <p:nvSpPr>
          <p:cNvPr id="7" name="Rounded Rectangle 6"/>
          <p:cNvSpPr/>
          <p:nvPr/>
        </p:nvSpPr>
        <p:spPr>
          <a:xfrm>
            <a:off x="502920" y="1307592"/>
            <a:ext cx="1600200" cy="1575816"/>
          </a:xfrm>
          <a:prstGeom prst="roundRect">
            <a:avLst>
              <a:gd name="adj" fmla="val 8000"/>
            </a:avLst>
          </a:prstGeom>
          <a:solidFill>
            <a:srgbClr val="D3373A"/>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5. soru</a:t>
            </a:r>
          </a:p>
        </p:txBody>
      </p:sp>
      <p:sp>
        <p:nvSpPr>
          <p:cNvPr id="8" name="TextBox 7"/>
          <p:cNvSpPr txBox="1"/>
          <p:nvPr/>
        </p:nvSpPr>
        <p:spPr>
          <a:xfrm>
            <a:off x="2240280" y="1307592"/>
            <a:ext cx="9357055" cy="1575816"/>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Görseldeki beşerî süreçlerin etkisiyle oluşmuş unsur ve olaylar, doğal ortamda hangi değişimlere neden olmuştur? Açıklayınız.</a:t>
            </a:r>
          </a:p>
        </p:txBody>
      </p:sp>
      <p:sp>
        <p:nvSpPr>
          <p:cNvPr id="9" name="Rounded Rectangle 8"/>
          <p:cNvSpPr/>
          <p:nvPr/>
        </p:nvSpPr>
        <p:spPr>
          <a:xfrm>
            <a:off x="502920" y="3011424"/>
            <a:ext cx="11185855" cy="1575816"/>
          </a:xfrm>
          <a:prstGeom prst="roundRect">
            <a:avLst>
              <a:gd name="adj" fmla="val 8000"/>
            </a:avLst>
          </a:prstGeom>
          <a:solidFill>
            <a:srgbClr val="F0F0F0"/>
          </a:solidFill>
          <a:ln>
            <a:noFill/>
          </a:ln>
          <a:effectLst/>
        </p:spPr>
        <p:txBody>
          <a:bodyPr rtlCol="0" anchor="ctr"/>
          <a:lstStyle/>
          <a:p/>
        </p:txBody>
      </p:sp>
      <p:sp>
        <p:nvSpPr>
          <p:cNvPr id="10" name="Rounded Rectangle 9"/>
          <p:cNvSpPr/>
          <p:nvPr/>
        </p:nvSpPr>
        <p:spPr>
          <a:xfrm>
            <a:off x="502920" y="3011424"/>
            <a:ext cx="1600200" cy="1575816"/>
          </a:xfrm>
          <a:prstGeom prst="roundRect">
            <a:avLst>
              <a:gd name="adj" fmla="val 8000"/>
            </a:avLst>
          </a:prstGeom>
          <a:solidFill>
            <a:srgbClr val="D3373A"/>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6. soru</a:t>
            </a:r>
          </a:p>
        </p:txBody>
      </p:sp>
      <p:sp>
        <p:nvSpPr>
          <p:cNvPr id="11" name="TextBox 10"/>
          <p:cNvSpPr txBox="1"/>
          <p:nvPr/>
        </p:nvSpPr>
        <p:spPr>
          <a:xfrm>
            <a:off x="2240280" y="3011424"/>
            <a:ext cx="9357055" cy="1575816"/>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Görseldeki beşerî süreçlerin etkisiyle oluşmuş unsur ve olayların doğal ortamda ortaya çıkaracağı çevresel riskler nelerdir? Açıklayınız.</a:t>
            </a:r>
          </a:p>
        </p:txBody>
      </p:sp>
      <p:sp>
        <p:nvSpPr>
          <p:cNvPr id="12" name="Rounded Rectangle 11"/>
          <p:cNvSpPr/>
          <p:nvPr/>
        </p:nvSpPr>
        <p:spPr>
          <a:xfrm>
            <a:off x="502920" y="4715256"/>
            <a:ext cx="11185855" cy="1575816"/>
          </a:xfrm>
          <a:prstGeom prst="roundRect">
            <a:avLst>
              <a:gd name="adj" fmla="val 8000"/>
            </a:avLst>
          </a:prstGeom>
          <a:solidFill>
            <a:srgbClr val="F0F0F0"/>
          </a:solidFill>
          <a:ln>
            <a:noFill/>
          </a:ln>
          <a:effectLst/>
        </p:spPr>
        <p:txBody>
          <a:bodyPr rtlCol="0" anchor="ctr"/>
          <a:lstStyle/>
          <a:p/>
        </p:txBody>
      </p:sp>
      <p:sp>
        <p:nvSpPr>
          <p:cNvPr id="13" name="Rounded Rectangle 12"/>
          <p:cNvSpPr/>
          <p:nvPr/>
        </p:nvSpPr>
        <p:spPr>
          <a:xfrm>
            <a:off x="502920" y="4715256"/>
            <a:ext cx="1600200" cy="1575816"/>
          </a:xfrm>
          <a:prstGeom prst="roundRect">
            <a:avLst>
              <a:gd name="adj" fmla="val 8000"/>
            </a:avLst>
          </a:prstGeom>
          <a:solidFill>
            <a:srgbClr val="D3373A"/>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7. soru</a:t>
            </a:r>
          </a:p>
        </p:txBody>
      </p:sp>
      <p:sp>
        <p:nvSpPr>
          <p:cNvPr id="14" name="TextBox 13"/>
          <p:cNvSpPr txBox="1"/>
          <p:nvPr/>
        </p:nvSpPr>
        <p:spPr>
          <a:xfrm>
            <a:off x="2240280" y="4715256"/>
            <a:ext cx="9357055" cy="1575816"/>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Beşerî süreçlerin etkisiyle oluşmuş unsur ve olayların görseldeki mekânda ortaya çıkaracağı çevresel riskler, coğrafi bakış açısıyla tasarlanan bir arazi kullanımıyla azaltılabilir mi? Açıklayınız.</a:t>
            </a:r>
          </a:p>
        </p:txBody>
      </p:sp>
      <p:sp>
        <p:nvSpPr>
          <p:cNvPr id="15" name="TextBox 14"/>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6" name="Rounded Rectangle 15"/>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31</a:t>
            </a:r>
          </a:p>
        </p:txBody>
      </p:sp>
      <p:sp>
        <p:nvSpPr>
          <p:cNvPr id="17" name="TextBox 16"/>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132 / 134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Ünite ölçme: 5-7. sorular — örnek cevaplar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CEVAP</a:t>
            </a:r>
          </a:p>
        </p:txBody>
      </p:sp>
      <p:sp>
        <p:nvSpPr>
          <p:cNvPr id="6" name="Rounded Rectangle 5"/>
          <p:cNvSpPr/>
          <p:nvPr/>
        </p:nvSpPr>
        <p:spPr>
          <a:xfrm>
            <a:off x="502920" y="1216152"/>
            <a:ext cx="3594506" cy="5029200"/>
          </a:xfrm>
          <a:prstGeom prst="roundRect">
            <a:avLst>
              <a:gd name="adj" fmla="val 5000"/>
            </a:avLst>
          </a:prstGeom>
          <a:solidFill>
            <a:srgbClr val="F0F0F0"/>
          </a:solidFill>
          <a:ln>
            <a:noFill/>
          </a:ln>
          <a:effectLst/>
        </p:spPr>
        <p:txBody>
          <a:bodyPr rtlCol="0" anchor="ctr"/>
          <a:lstStyle/>
          <a:p/>
        </p:txBody>
      </p:sp>
      <p:sp>
        <p:nvSpPr>
          <p:cNvPr id="7" name="Rounded Rectangle 6"/>
          <p:cNvSpPr/>
          <p:nvPr/>
        </p:nvSpPr>
        <p:spPr>
          <a:xfrm>
            <a:off x="502920" y="1216152"/>
            <a:ext cx="3594506" cy="530352"/>
          </a:xfrm>
          <a:prstGeom prst="roundRect">
            <a:avLst>
              <a:gd name="adj" fmla="val 25000"/>
            </a:avLst>
          </a:prstGeom>
          <a:solidFill>
            <a:srgbClr val="4F4F4F"/>
          </a:solidFill>
          <a:ln>
            <a:noFill/>
          </a:ln>
          <a:effectLst/>
        </p:spPr>
        <p:txBody>
          <a:bodyPr rtlCol="0" anchor="ctr"/>
          <a:lstStyle/>
          <a:p/>
        </p:txBody>
      </p:sp>
      <p:sp>
        <p:nvSpPr>
          <p:cNvPr id="8" name="Rectangle 7"/>
          <p:cNvSpPr/>
          <p:nvPr/>
        </p:nvSpPr>
        <p:spPr>
          <a:xfrm>
            <a:off x="502920" y="1481328"/>
            <a:ext cx="3594506" cy="265176"/>
          </a:xfrm>
          <a:prstGeom prst="rect">
            <a:avLst/>
          </a:prstGeom>
          <a:solidFill>
            <a:srgbClr val="4F4F4F"/>
          </a:solidFill>
          <a:ln>
            <a:noFill/>
          </a:ln>
          <a:effectLst/>
        </p:spPr>
        <p:txBody>
          <a:bodyPr rtlCol="0" anchor="ctr"/>
          <a:lstStyle/>
          <a:p/>
        </p:txBody>
      </p:sp>
      <p:sp>
        <p:nvSpPr>
          <p:cNvPr id="9" name="TextBox 8"/>
          <p:cNvSpPr txBox="1"/>
          <p:nvPr/>
        </p:nvSpPr>
        <p:spPr>
          <a:xfrm>
            <a:off x="594360" y="1216152"/>
            <a:ext cx="3411626"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5 · Doğal ortamda değişim</a:t>
            </a:r>
          </a:p>
        </p:txBody>
      </p:sp>
      <p:sp>
        <p:nvSpPr>
          <p:cNvPr id="10" name="TextBox 9"/>
          <p:cNvSpPr txBox="1"/>
          <p:nvPr/>
        </p:nvSpPr>
        <p:spPr>
          <a:xfrm>
            <a:off x="612648" y="1819656"/>
            <a:ext cx="3375050" cy="4352544"/>
          </a:xfrm>
          <a:prstGeom prst="rect">
            <a:avLst/>
          </a:prstGeom>
          <a:noFill/>
        </p:spPr>
        <p:txBody>
          <a:bodyPr wrap="square" anchor="t" lIns="73152" rIns="73152" tIns="36576" bIns="36576">
            <a:noAutofit/>
          </a:bodyPr>
          <a:lstStyle/>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Orman alanlarının yerini konutlar ve oteller aldı</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Kıyının doğal yapısı liman, iskele ve dalgakıranla değişti</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Doğal bitki örtüsü tarım alanlarına dönüştürüldü</a:t>
            </a:r>
          </a:p>
          <a:p>
            <a:pPr algn="l" marL="248620" indent="-248620">
              <a:spcBef>
                <a:spcPts val="0"/>
              </a:spcBef>
              <a:spcAft>
                <a:spcPts val="0"/>
              </a:spcAft>
            </a:pPr>
            <a:r>
              <a:rPr lang="tr-TR" sz="2000" b="1" i="0">
                <a:solidFill>
                  <a:srgbClr val="2C6696"/>
                </a:solidFill>
                <a:latin typeface="Calibri"/>
              </a:rPr>
              <a:t>•  </a:t>
            </a:r>
            <a:r>
              <a:rPr lang="tr-TR" sz="2000" b="0" i="0">
                <a:solidFill>
                  <a:srgbClr val="262626"/>
                </a:solidFill>
                <a:latin typeface="Calibri"/>
              </a:rPr>
              <a:t>Kumsal turizm kullanımına açıldı</a:t>
            </a:r>
          </a:p>
        </p:txBody>
      </p:sp>
      <p:sp>
        <p:nvSpPr>
          <p:cNvPr id="11" name="Rounded Rectangle 10"/>
          <p:cNvSpPr/>
          <p:nvPr/>
        </p:nvSpPr>
        <p:spPr>
          <a:xfrm>
            <a:off x="4298594" y="1216152"/>
            <a:ext cx="3594506" cy="5029200"/>
          </a:xfrm>
          <a:prstGeom prst="roundRect">
            <a:avLst>
              <a:gd name="adj" fmla="val 5000"/>
            </a:avLst>
          </a:prstGeom>
          <a:solidFill>
            <a:srgbClr val="F0F0F0"/>
          </a:solidFill>
          <a:ln>
            <a:noFill/>
          </a:ln>
          <a:effectLst/>
        </p:spPr>
        <p:txBody>
          <a:bodyPr rtlCol="0" anchor="ctr"/>
          <a:lstStyle/>
          <a:p/>
        </p:txBody>
      </p:sp>
      <p:sp>
        <p:nvSpPr>
          <p:cNvPr id="12" name="Rounded Rectangle 11"/>
          <p:cNvSpPr/>
          <p:nvPr/>
        </p:nvSpPr>
        <p:spPr>
          <a:xfrm>
            <a:off x="4298594" y="1216152"/>
            <a:ext cx="3594506" cy="530352"/>
          </a:xfrm>
          <a:prstGeom prst="roundRect">
            <a:avLst>
              <a:gd name="adj" fmla="val 25000"/>
            </a:avLst>
          </a:prstGeom>
          <a:solidFill>
            <a:srgbClr val="D3373A"/>
          </a:solidFill>
          <a:ln>
            <a:noFill/>
          </a:ln>
          <a:effectLst/>
        </p:spPr>
        <p:txBody>
          <a:bodyPr rtlCol="0" anchor="ctr"/>
          <a:lstStyle/>
          <a:p/>
        </p:txBody>
      </p:sp>
      <p:sp>
        <p:nvSpPr>
          <p:cNvPr id="13" name="Rectangle 12"/>
          <p:cNvSpPr/>
          <p:nvPr/>
        </p:nvSpPr>
        <p:spPr>
          <a:xfrm>
            <a:off x="4298594" y="1481328"/>
            <a:ext cx="3594506" cy="265176"/>
          </a:xfrm>
          <a:prstGeom prst="rect">
            <a:avLst/>
          </a:prstGeom>
          <a:solidFill>
            <a:srgbClr val="D3373A"/>
          </a:solidFill>
          <a:ln>
            <a:noFill/>
          </a:ln>
          <a:effectLst/>
        </p:spPr>
        <p:txBody>
          <a:bodyPr rtlCol="0" anchor="ctr"/>
          <a:lstStyle/>
          <a:p/>
        </p:txBody>
      </p:sp>
      <p:sp>
        <p:nvSpPr>
          <p:cNvPr id="14" name="TextBox 13"/>
          <p:cNvSpPr txBox="1"/>
          <p:nvPr/>
        </p:nvSpPr>
        <p:spPr>
          <a:xfrm>
            <a:off x="4390034" y="1216152"/>
            <a:ext cx="3411626"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6 · Çevresel riskler</a:t>
            </a:r>
          </a:p>
        </p:txBody>
      </p:sp>
      <p:sp>
        <p:nvSpPr>
          <p:cNvPr id="15" name="TextBox 14"/>
          <p:cNvSpPr txBox="1"/>
          <p:nvPr/>
        </p:nvSpPr>
        <p:spPr>
          <a:xfrm>
            <a:off x="4408322" y="1819656"/>
            <a:ext cx="3375050" cy="4352544"/>
          </a:xfrm>
          <a:prstGeom prst="rect">
            <a:avLst/>
          </a:prstGeom>
          <a:noFill/>
        </p:spPr>
        <p:txBody>
          <a:bodyPr wrap="square" anchor="t" lIns="73152" rIns="73152" tIns="36576" bIns="36576">
            <a:noAutofit/>
          </a:bodyPr>
          <a:lstStyle/>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Deniz ve kıyı kirliliği (atık su, tekne atıkları)</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Orman kaybı; ormana yakın yerleşmelerde yangın riski</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Tarım ilaçları ve gübreyle toprak ve su kirliliği</a:t>
            </a:r>
          </a:p>
          <a:p>
            <a:pPr algn="l" marL="248620" indent="-248620">
              <a:spcBef>
                <a:spcPts val="0"/>
              </a:spcBef>
              <a:spcAft>
                <a:spcPts val="0"/>
              </a:spcAft>
            </a:pPr>
            <a:r>
              <a:rPr lang="tr-TR" sz="2000" b="1" i="0">
                <a:solidFill>
                  <a:srgbClr val="2C6696"/>
                </a:solidFill>
                <a:latin typeface="Calibri"/>
              </a:rPr>
              <a:t>•  </a:t>
            </a:r>
            <a:r>
              <a:rPr lang="tr-TR" sz="2000" b="0" i="0">
                <a:solidFill>
                  <a:srgbClr val="262626"/>
                </a:solidFill>
                <a:latin typeface="Calibri"/>
              </a:rPr>
              <a:t>Yoğun yapılaşmayla sel ve taşkın riskinin artması</a:t>
            </a:r>
          </a:p>
        </p:txBody>
      </p:sp>
      <p:sp>
        <p:nvSpPr>
          <p:cNvPr id="16" name="Rounded Rectangle 15"/>
          <p:cNvSpPr/>
          <p:nvPr/>
        </p:nvSpPr>
        <p:spPr>
          <a:xfrm>
            <a:off x="8094268" y="1216152"/>
            <a:ext cx="3594506" cy="5029200"/>
          </a:xfrm>
          <a:prstGeom prst="roundRect">
            <a:avLst>
              <a:gd name="adj" fmla="val 5000"/>
            </a:avLst>
          </a:prstGeom>
          <a:solidFill>
            <a:srgbClr val="F0F0F0"/>
          </a:solidFill>
          <a:ln>
            <a:noFill/>
          </a:ln>
          <a:effectLst/>
        </p:spPr>
        <p:txBody>
          <a:bodyPr rtlCol="0" anchor="ctr"/>
          <a:lstStyle/>
          <a:p/>
        </p:txBody>
      </p:sp>
      <p:sp>
        <p:nvSpPr>
          <p:cNvPr id="17" name="Rounded Rectangle 16"/>
          <p:cNvSpPr/>
          <p:nvPr/>
        </p:nvSpPr>
        <p:spPr>
          <a:xfrm>
            <a:off x="8094268" y="1216152"/>
            <a:ext cx="3594506" cy="530352"/>
          </a:xfrm>
          <a:prstGeom prst="roundRect">
            <a:avLst>
              <a:gd name="adj" fmla="val 25000"/>
            </a:avLst>
          </a:prstGeom>
          <a:solidFill>
            <a:srgbClr val="2E7D32"/>
          </a:solidFill>
          <a:ln>
            <a:noFill/>
          </a:ln>
          <a:effectLst/>
        </p:spPr>
        <p:txBody>
          <a:bodyPr rtlCol="0" anchor="ctr"/>
          <a:lstStyle/>
          <a:p/>
        </p:txBody>
      </p:sp>
      <p:sp>
        <p:nvSpPr>
          <p:cNvPr id="18" name="Rectangle 17"/>
          <p:cNvSpPr/>
          <p:nvPr/>
        </p:nvSpPr>
        <p:spPr>
          <a:xfrm>
            <a:off x="8094268" y="1481328"/>
            <a:ext cx="3594506" cy="265176"/>
          </a:xfrm>
          <a:prstGeom prst="rect">
            <a:avLst/>
          </a:prstGeom>
          <a:solidFill>
            <a:srgbClr val="2E7D32"/>
          </a:solidFill>
          <a:ln>
            <a:noFill/>
          </a:ln>
          <a:effectLst/>
        </p:spPr>
        <p:txBody>
          <a:bodyPr rtlCol="0" anchor="ctr"/>
          <a:lstStyle/>
          <a:p/>
        </p:txBody>
      </p:sp>
      <p:sp>
        <p:nvSpPr>
          <p:cNvPr id="19" name="TextBox 18"/>
          <p:cNvSpPr txBox="1"/>
          <p:nvPr/>
        </p:nvSpPr>
        <p:spPr>
          <a:xfrm>
            <a:off x="8185708" y="1216152"/>
            <a:ext cx="3411626"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7 · Evet, azaltılabilir</a:t>
            </a:r>
          </a:p>
        </p:txBody>
      </p:sp>
      <p:sp>
        <p:nvSpPr>
          <p:cNvPr id="20" name="TextBox 19"/>
          <p:cNvSpPr txBox="1"/>
          <p:nvPr/>
        </p:nvSpPr>
        <p:spPr>
          <a:xfrm>
            <a:off x="8203996" y="1819656"/>
            <a:ext cx="3375050" cy="4352544"/>
          </a:xfrm>
          <a:prstGeom prst="rect">
            <a:avLst/>
          </a:prstGeom>
          <a:noFill/>
        </p:spPr>
        <p:txBody>
          <a:bodyPr wrap="square" anchor="t" lIns="73152" rIns="73152" tIns="36576" bIns="36576">
            <a:noAutofit/>
          </a:bodyPr>
          <a:lstStyle/>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Kıyı ve orman alanları yapılaşmaya kapatılır</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Yerleşme riskli alanların dışında planlanır</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Atık su arıtılır, liman atıkları toplanır</a:t>
            </a:r>
          </a:p>
          <a:p>
            <a:pPr algn="l" marL="248620" indent="-248620">
              <a:spcBef>
                <a:spcPts val="0"/>
              </a:spcBef>
              <a:spcAft>
                <a:spcPts val="0"/>
              </a:spcAft>
            </a:pPr>
            <a:r>
              <a:rPr lang="tr-TR" sz="2000" b="1" i="0">
                <a:solidFill>
                  <a:srgbClr val="2C6696"/>
                </a:solidFill>
                <a:latin typeface="Calibri"/>
              </a:rPr>
              <a:t>•  </a:t>
            </a:r>
            <a:r>
              <a:rPr lang="tr-TR" sz="2000" b="0" i="0">
                <a:solidFill>
                  <a:srgbClr val="262626"/>
                </a:solidFill>
                <a:latin typeface="Calibri"/>
              </a:rPr>
              <a:t>Tarım ve turizm, alanın kaldırabileceği yoğunluğa göre planlanır</a:t>
            </a:r>
          </a:p>
        </p:txBody>
      </p:sp>
      <p:sp>
        <p:nvSpPr>
          <p:cNvPr id="21" name="TextBox 20"/>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2" name="Rounded Rectangle 21"/>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31</a:t>
            </a:r>
          </a:p>
        </p:txBody>
      </p:sp>
      <p:sp>
        <p:nvSpPr>
          <p:cNvPr id="23" name="TextBox 22"/>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133 / 134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1. üniteyi tamamladık</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ÜNİTE SONU</a:t>
            </a:r>
          </a:p>
        </p:txBody>
      </p:sp>
      <p:pic>
        <p:nvPicPr>
          <p:cNvPr id="6" name="Picture 5" descr="kapak_s12-13.jpg"/>
          <p:cNvPicPr>
            <a:picLocks noChangeAspect="1"/>
          </p:cNvPicPr>
          <p:nvPr/>
        </p:nvPicPr>
        <p:blipFill>
          <a:blip r:embed="rId3"/>
          <a:srcRect l="36" r="36"/>
          <a:stretch>
            <a:fillRect/>
          </a:stretch>
        </p:blipFill>
        <p:spPr>
          <a:xfrm>
            <a:off x="502920" y="1261872"/>
            <a:ext cx="5669280" cy="3191256"/>
          </a:xfrm>
          <a:prstGeom prst="rect">
            <a:avLst/>
          </a:prstGeom>
          <a:ln w="9525">
            <a:solidFill>
              <a:srgbClr val="D9D9D9"/>
            </a:solidFill>
          </a:ln>
        </p:spPr>
      </p:pic>
      <p:sp>
        <p:nvSpPr>
          <p:cNvPr id="7" name="Rounded Rectangle 6"/>
          <p:cNvSpPr/>
          <p:nvPr/>
        </p:nvSpPr>
        <p:spPr>
          <a:xfrm>
            <a:off x="502920" y="4553712"/>
            <a:ext cx="5669280" cy="1691640"/>
          </a:xfrm>
          <a:prstGeom prst="roundRect">
            <a:avLst>
              <a:gd name="adj" fmla="val 8000"/>
            </a:avLst>
          </a:prstGeom>
          <a:solidFill>
            <a:srgbClr val="FFF3D1"/>
          </a:solidFill>
          <a:ln>
            <a:noFill/>
          </a:ln>
          <a:effectLst/>
        </p:spPr>
        <p:txBody>
          <a:bodyPr rtlCol="0" anchor="ctr" wrap="square" lIns="182880" rIns="182880" tIns="73152" bIns="73152">
            <a:noAutofit/>
          </a:bodyPr>
          <a:lstStyle/>
          <a:p>
            <a:pPr algn="l">
              <a:spcBef>
                <a:spcPts val="0"/>
              </a:spcBef>
              <a:spcAft>
                <a:spcPts val="600"/>
              </a:spcAft>
            </a:pPr>
            <a:r>
              <a:rPr lang="tr-TR" sz="2100" b="1" i="0">
                <a:solidFill>
                  <a:srgbClr val="262626"/>
                </a:solidFill>
                <a:latin typeface="Calibri"/>
              </a:rPr>
              <a:t>Ünitenin ilk fotoğrafına şimdi coğrafi bakışla bakın:</a:t>
            </a:r>
          </a:p>
          <a:p>
            <a:pPr algn="l" marL="261051" indent="-261051">
              <a:spcBef>
                <a:spcPts val="0"/>
              </a:spcBef>
              <a:spcAft>
                <a:spcPts val="0"/>
              </a:spcAft>
            </a:pPr>
            <a:r>
              <a:rPr lang="tr-TR" sz="2100" b="1" i="0">
                <a:solidFill>
                  <a:srgbClr val="2C6696"/>
                </a:solidFill>
                <a:latin typeface="Calibri"/>
              </a:rPr>
              <a:t>•  </a:t>
            </a:r>
            <a:r>
              <a:rPr lang="tr-TR" sz="2100" b="0" i="0">
                <a:solidFill>
                  <a:srgbClr val="262626"/>
                </a:solidFill>
                <a:latin typeface="Calibri"/>
              </a:rPr>
              <a:t>Hangi küreler var? Hangi beşerî unsurlar? Hangi alt dallar inceler?</a:t>
            </a:r>
          </a:p>
        </p:txBody>
      </p:sp>
      <p:sp>
        <p:nvSpPr>
          <p:cNvPr id="8" name="Rounded Rectangle 7"/>
          <p:cNvSpPr/>
          <p:nvPr/>
        </p:nvSpPr>
        <p:spPr>
          <a:xfrm>
            <a:off x="6400800" y="1261872"/>
            <a:ext cx="5287975" cy="2743200"/>
          </a:xfrm>
          <a:prstGeom prst="roundRect">
            <a:avLst>
              <a:gd name="adj" fmla="val 5000"/>
            </a:avLst>
          </a:prstGeom>
          <a:solidFill>
            <a:srgbClr val="F0F0F0"/>
          </a:solidFill>
          <a:ln>
            <a:noFill/>
          </a:ln>
          <a:effectLst/>
        </p:spPr>
        <p:txBody>
          <a:bodyPr rtlCol="0" anchor="ctr"/>
          <a:lstStyle/>
          <a:p/>
        </p:txBody>
      </p:sp>
      <p:sp>
        <p:nvSpPr>
          <p:cNvPr id="9" name="Rounded Rectangle 8"/>
          <p:cNvSpPr/>
          <p:nvPr/>
        </p:nvSpPr>
        <p:spPr>
          <a:xfrm>
            <a:off x="6400800" y="1261872"/>
            <a:ext cx="5287975" cy="530352"/>
          </a:xfrm>
          <a:prstGeom prst="roundRect">
            <a:avLst>
              <a:gd name="adj" fmla="val 25000"/>
            </a:avLst>
          </a:prstGeom>
          <a:solidFill>
            <a:srgbClr val="2C6696"/>
          </a:solidFill>
          <a:ln>
            <a:noFill/>
          </a:ln>
          <a:effectLst/>
        </p:spPr>
        <p:txBody>
          <a:bodyPr rtlCol="0" anchor="ctr"/>
          <a:lstStyle/>
          <a:p/>
        </p:txBody>
      </p:sp>
      <p:sp>
        <p:nvSpPr>
          <p:cNvPr id="10" name="Rectangle 9"/>
          <p:cNvSpPr/>
          <p:nvPr/>
        </p:nvSpPr>
        <p:spPr>
          <a:xfrm>
            <a:off x="6400800" y="1527048"/>
            <a:ext cx="5287975" cy="265176"/>
          </a:xfrm>
          <a:prstGeom prst="rect">
            <a:avLst/>
          </a:prstGeom>
          <a:solidFill>
            <a:srgbClr val="2C6696"/>
          </a:solidFill>
          <a:ln>
            <a:noFill/>
          </a:ln>
          <a:effectLst/>
        </p:spPr>
        <p:txBody>
          <a:bodyPr rtlCol="0" anchor="ctr"/>
          <a:lstStyle/>
          <a:p/>
        </p:txBody>
      </p:sp>
      <p:sp>
        <p:nvSpPr>
          <p:cNvPr id="11" name="TextBox 10"/>
          <p:cNvSpPr txBox="1"/>
          <p:nvPr/>
        </p:nvSpPr>
        <p:spPr>
          <a:xfrm>
            <a:off x="6492240" y="1261872"/>
            <a:ext cx="5105095"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Evde</a:t>
            </a:r>
          </a:p>
        </p:txBody>
      </p:sp>
      <p:sp>
        <p:nvSpPr>
          <p:cNvPr id="12" name="TextBox 11"/>
          <p:cNvSpPr txBox="1"/>
          <p:nvPr/>
        </p:nvSpPr>
        <p:spPr>
          <a:xfrm>
            <a:off x="6510528" y="1865376"/>
            <a:ext cx="5068519" cy="2066544"/>
          </a:xfrm>
          <a:prstGeom prst="rect">
            <a:avLst/>
          </a:prstGeom>
          <a:noFill/>
        </p:spPr>
        <p:txBody>
          <a:bodyPr wrap="square" anchor="t" lIns="73152" rIns="73152" tIns="36576" bIns="36576">
            <a:noAutofit/>
          </a:bodyPr>
          <a:lstStyle/>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COG9-CK-U1 arka yüz: Bölüm 3 ve genel tekrar</a:t>
            </a:r>
          </a:p>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Kitap s. 29-31: 1, 3 ve 4. sorular</a:t>
            </a:r>
          </a:p>
          <a:p>
            <a:pPr algn="l" marL="261051" indent="-261051">
              <a:spcBef>
                <a:spcPts val="0"/>
              </a:spcBef>
              <a:spcAft>
                <a:spcPts val="0"/>
              </a:spcAft>
            </a:pPr>
            <a:r>
              <a:rPr lang="tr-TR" sz="2100" b="1" i="0">
                <a:solidFill>
                  <a:srgbClr val="2C6696"/>
                </a:solidFill>
                <a:latin typeface="Calibri"/>
              </a:rPr>
              <a:t>•  </a:t>
            </a:r>
            <a:r>
              <a:rPr lang="tr-TR" sz="2100" b="0" i="0">
                <a:solidFill>
                  <a:srgbClr val="262626"/>
                </a:solidFill>
                <a:latin typeface="Calibri"/>
              </a:rPr>
              <a:t>MEBİ ve EBA'da 1. ünite konu tekrarı</a:t>
            </a:r>
          </a:p>
        </p:txBody>
      </p:sp>
      <p:sp>
        <p:nvSpPr>
          <p:cNvPr id="13" name="Rounded Rectangle 12"/>
          <p:cNvSpPr/>
          <p:nvPr/>
        </p:nvSpPr>
        <p:spPr>
          <a:xfrm>
            <a:off x="6400800" y="4187952"/>
            <a:ext cx="5287975" cy="2057400"/>
          </a:xfrm>
          <a:prstGeom prst="roundRect">
            <a:avLst>
              <a:gd name="adj" fmla="val 5000"/>
            </a:avLst>
          </a:prstGeom>
          <a:solidFill>
            <a:srgbClr val="F0F0F0"/>
          </a:solidFill>
          <a:ln>
            <a:noFill/>
          </a:ln>
          <a:effectLst/>
        </p:spPr>
        <p:txBody>
          <a:bodyPr rtlCol="0" anchor="ctr"/>
          <a:lstStyle/>
          <a:p/>
        </p:txBody>
      </p:sp>
      <p:sp>
        <p:nvSpPr>
          <p:cNvPr id="14" name="Rounded Rectangle 13"/>
          <p:cNvSpPr/>
          <p:nvPr/>
        </p:nvSpPr>
        <p:spPr>
          <a:xfrm>
            <a:off x="6400800" y="4187952"/>
            <a:ext cx="5287975" cy="530352"/>
          </a:xfrm>
          <a:prstGeom prst="roundRect">
            <a:avLst>
              <a:gd name="adj" fmla="val 25000"/>
            </a:avLst>
          </a:prstGeom>
          <a:solidFill>
            <a:srgbClr val="4F4F4F"/>
          </a:solidFill>
          <a:ln>
            <a:noFill/>
          </a:ln>
          <a:effectLst/>
        </p:spPr>
        <p:txBody>
          <a:bodyPr rtlCol="0" anchor="ctr"/>
          <a:lstStyle/>
          <a:p/>
        </p:txBody>
      </p:sp>
      <p:sp>
        <p:nvSpPr>
          <p:cNvPr id="15" name="Rectangle 14"/>
          <p:cNvSpPr/>
          <p:nvPr/>
        </p:nvSpPr>
        <p:spPr>
          <a:xfrm>
            <a:off x="6400800" y="4453128"/>
            <a:ext cx="5287975" cy="265176"/>
          </a:xfrm>
          <a:prstGeom prst="rect">
            <a:avLst/>
          </a:prstGeom>
          <a:solidFill>
            <a:srgbClr val="4F4F4F"/>
          </a:solidFill>
          <a:ln>
            <a:noFill/>
          </a:ln>
          <a:effectLst/>
        </p:spPr>
        <p:txBody>
          <a:bodyPr rtlCol="0" anchor="ctr"/>
          <a:lstStyle/>
          <a:p/>
        </p:txBody>
      </p:sp>
      <p:sp>
        <p:nvSpPr>
          <p:cNvPr id="16" name="TextBox 15"/>
          <p:cNvSpPr txBox="1"/>
          <p:nvPr/>
        </p:nvSpPr>
        <p:spPr>
          <a:xfrm>
            <a:off x="6492240" y="4187952"/>
            <a:ext cx="5105095"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Sırada</a:t>
            </a:r>
          </a:p>
        </p:txBody>
      </p:sp>
      <p:sp>
        <p:nvSpPr>
          <p:cNvPr id="17" name="TextBox 16"/>
          <p:cNvSpPr txBox="1"/>
          <p:nvPr/>
        </p:nvSpPr>
        <p:spPr>
          <a:xfrm>
            <a:off x="6510528" y="4791456"/>
            <a:ext cx="5068519" cy="1380744"/>
          </a:xfrm>
          <a:prstGeom prst="rect">
            <a:avLst/>
          </a:prstGeom>
          <a:noFill/>
        </p:spPr>
        <p:txBody>
          <a:bodyPr wrap="square" anchor="t" lIns="73152" rIns="73152" tIns="36576" bIns="36576">
            <a:noAutofit/>
          </a:bodyPr>
          <a:lstStyle/>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2. Ünite: Mekânsal Bilgi Teknolojileri</a:t>
            </a:r>
          </a:p>
          <a:p>
            <a:pPr algn="l" marL="261051" indent="-261051">
              <a:spcBef>
                <a:spcPts val="0"/>
              </a:spcBef>
              <a:spcAft>
                <a:spcPts val="0"/>
              </a:spcAft>
            </a:pPr>
            <a:r>
              <a:rPr lang="tr-TR" sz="2100" b="1" i="0">
                <a:solidFill>
                  <a:srgbClr val="2C6696"/>
                </a:solidFill>
                <a:latin typeface="Calibri"/>
              </a:rPr>
              <a:t>•  </a:t>
            </a:r>
            <a:r>
              <a:rPr lang="tr-TR" sz="2100" b="0" i="0">
                <a:solidFill>
                  <a:srgbClr val="262626"/>
                </a:solidFill>
                <a:latin typeface="Calibri"/>
              </a:rPr>
              <a:t>Atlasın varsa getir.</a:t>
            </a:r>
          </a:p>
        </p:txBody>
      </p:sp>
      <p:sp>
        <p:nvSpPr>
          <p:cNvPr id="18" name="TextBox 1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9" name="TextBox 1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134 / 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Kaynaklar ve Haklar</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KAYNAKÇA</a:t>
            </a:r>
          </a:p>
        </p:txBody>
      </p:sp>
      <p:sp>
        <p:nvSpPr>
          <p:cNvPr id="6" name="Rounded Rectangle 5"/>
          <p:cNvSpPr/>
          <p:nvPr/>
        </p:nvSpPr>
        <p:spPr>
          <a:xfrm>
            <a:off x="502920" y="1280160"/>
            <a:ext cx="11185855" cy="1508760"/>
          </a:xfrm>
          <a:prstGeom prst="roundRect">
            <a:avLst>
              <a:gd name="adj" fmla="val 8000"/>
            </a:avLst>
          </a:prstGeom>
          <a:solidFill>
            <a:srgbClr val="F0F0F0"/>
          </a:solidFill>
          <a:ln>
            <a:noFill/>
          </a:ln>
          <a:effectLst/>
        </p:spPr>
        <p:txBody>
          <a:bodyPr rtlCol="0" anchor="t" wrap="square" lIns="128016" rIns="128016" tIns="73152" bIns="73152">
            <a:noAutofit/>
          </a:bodyPr>
          <a:lstStyle/>
          <a:p>
            <a:pPr algn="l">
              <a:spcBef>
                <a:spcPts val="0"/>
              </a:spcBef>
              <a:spcAft>
                <a:spcPts val="0"/>
              </a:spcAft>
            </a:pPr>
            <a:r>
              <a:rPr lang="tr-TR" sz="1650" b="1" i="0">
                <a:solidFill>
                  <a:srgbClr val="262626"/>
                </a:solidFill>
                <a:latin typeface="Calibri"/>
              </a:rPr>
              <a:t>Ders kitabı.</a:t>
            </a:r>
            <a:r>
              <a:rPr lang="tr-TR" sz="1650" b="0" i="0">
                <a:solidFill>
                  <a:srgbClr val="262626"/>
                </a:solidFill>
                <a:latin typeface="Calibri"/>
              </a:rPr>
              <a:t> Coğrafya 9. Sınıf Ders Kitabı (Ortaöğretim), 2026-2027 baskısı. </a:t>
            </a:r>
            <a:r>
              <a:rPr lang="tr-TR" sz="1650" b="1" i="0">
                <a:solidFill>
                  <a:srgbClr val="262626"/>
                </a:solidFill>
                <a:latin typeface="Calibri"/>
              </a:rPr>
              <a:t>Yazarlar:</a:t>
            </a:r>
            <a:r>
              <a:rPr lang="tr-TR" sz="1650" b="0" i="0">
                <a:solidFill>
                  <a:srgbClr val="262626"/>
                </a:solidFill>
                <a:latin typeface="Calibri"/>
              </a:rPr>
              <a:t> Dr. Gülten İçel, Alper Soyatlar, Beyhan Polat, Bülent Akça, Cem Erdebil, Kenan Türkez, Mehmet Ekici, Mutlu Karakoç, Nihal Öztürk, Nurullah Balşen, Orhan Ekin, Ramazan Bıçaklı, Raşit Düzgün, Soner Cırık, Tuba Dirim. Millî Eğitim Bakanlığı Yayınları No 9606 · Ders Kitapları Dizisi No 2027 · Devlet Kitapları, 2026 · ISBN 978-975-11-8046-9. Slaytlardaki “Kitap s. …” etiketleri bu baskının sayfalarıdır.</a:t>
            </a:r>
          </a:p>
        </p:txBody>
      </p:sp>
      <p:sp>
        <p:nvSpPr>
          <p:cNvPr id="7" name="Rounded Rectangle 6"/>
          <p:cNvSpPr/>
          <p:nvPr/>
        </p:nvSpPr>
        <p:spPr>
          <a:xfrm>
            <a:off x="502920" y="2916936"/>
            <a:ext cx="11185855" cy="1143000"/>
          </a:xfrm>
          <a:prstGeom prst="roundRect">
            <a:avLst>
              <a:gd name="adj" fmla="val 8000"/>
            </a:avLst>
          </a:prstGeom>
          <a:solidFill>
            <a:srgbClr val="F0F0F0"/>
          </a:solidFill>
          <a:ln>
            <a:noFill/>
          </a:ln>
          <a:effectLst/>
        </p:spPr>
        <p:txBody>
          <a:bodyPr rtlCol="0" anchor="t" wrap="square" lIns="128016" rIns="128016" tIns="73152" bIns="73152">
            <a:noAutofit/>
          </a:bodyPr>
          <a:lstStyle/>
          <a:p>
            <a:pPr algn="l">
              <a:spcBef>
                <a:spcPts val="0"/>
              </a:spcBef>
              <a:spcAft>
                <a:spcPts val="0"/>
              </a:spcAft>
            </a:pPr>
            <a:r>
              <a:rPr lang="tr-TR" sz="1650" b="1" i="0">
                <a:solidFill>
                  <a:srgbClr val="262626"/>
                </a:solidFill>
                <a:latin typeface="Calibri"/>
              </a:rPr>
              <a:t>Öğretim programı ve etkinlikler.</a:t>
            </a:r>
            <a:r>
              <a:rPr lang="tr-TR" sz="1650" b="0" i="0">
                <a:solidFill>
                  <a:srgbClr val="262626"/>
                </a:solidFill>
                <a:latin typeface="Calibri"/>
              </a:rPr>
              <a:t> Coğrafya dersi öğretim programı (2026 nüshası): Talim ve Terbiye Kurulunun 23.05.2024 tarihli ve 20 sayılı kararıyla kabul edilen, 13.05.2026 tarihli ve 53 sayılı kararıyla güncellenen program. Etkinliklerin bir bölümü MEB Ortaöğretim Genel Müdürlüğünün OGM Materyal platformundaki etkileşimli etkinliklerle paralel kurulmuştur.</a:t>
            </a:r>
          </a:p>
        </p:txBody>
      </p:sp>
      <p:sp>
        <p:nvSpPr>
          <p:cNvPr id="8" name="Rounded Rectangle 7"/>
          <p:cNvSpPr/>
          <p:nvPr/>
        </p:nvSpPr>
        <p:spPr>
          <a:xfrm>
            <a:off x="502920" y="4187952"/>
            <a:ext cx="11185855" cy="1371600"/>
          </a:xfrm>
          <a:prstGeom prst="roundRect">
            <a:avLst>
              <a:gd name="adj" fmla="val 8000"/>
            </a:avLst>
          </a:prstGeom>
          <a:solidFill>
            <a:srgbClr val="F0F0F0"/>
          </a:solidFill>
          <a:ln>
            <a:noFill/>
          </a:ln>
          <a:effectLst/>
        </p:spPr>
        <p:txBody>
          <a:bodyPr rtlCol="0" anchor="t" wrap="square" lIns="128016" rIns="128016" tIns="73152" bIns="73152">
            <a:noAutofit/>
          </a:bodyPr>
          <a:lstStyle/>
          <a:p>
            <a:pPr algn="l">
              <a:spcBef>
                <a:spcPts val="0"/>
              </a:spcBef>
              <a:spcAft>
                <a:spcPts val="0"/>
              </a:spcAft>
            </a:pPr>
            <a:r>
              <a:rPr lang="tr-TR" sz="1700" b="1" i="0">
                <a:solidFill>
                  <a:srgbClr val="262626"/>
                </a:solidFill>
                <a:latin typeface="Calibri"/>
              </a:rPr>
              <a:t>Haklar ve lisans.</a:t>
            </a:r>
            <a:r>
              <a:rPr lang="tr-TR" sz="1700" b="0" i="0">
                <a:solidFill>
                  <a:srgbClr val="262626"/>
                </a:solidFill>
                <a:latin typeface="Calibri"/>
              </a:rPr>
              <a:t> Ders kitabından ve OGM Materyal'den alınan metin, soru ve görsellerin hakları Millî Eğitim Bakanlığına aittir; eğitim ve öğretim amacıyla, kaynak gösterilerek alıntılanmıştır (5846 sayılı Fikir ve Sanat Eserleri Kanunu md. 34). Sunumun tasarımı, ders akışı, etkinlik kurgusu, örnek cevaplar ve öğretmen notları okulapp.org'un özgün katkısıdır; yalnız bu katkılar CC BY 4.0 lisansıyla paylaşılır. Resmî bir Bakanlık materyali değildir.</a:t>
            </a:r>
          </a:p>
        </p:txBody>
      </p:sp>
      <p:sp>
        <p:nvSpPr>
          <p:cNvPr id="9" name="TextBox 8"/>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0" name="TextBox 9"/>
          <p:cNvSpPr txBox="1"/>
          <p:nvPr/>
        </p:nvSpPr>
        <p:spPr>
          <a:xfrm>
            <a:off x="8503920" y="6437376"/>
            <a:ext cx="32918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okulapp.org/cografya · sürüm 2026.10.1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GNL-COG9-SN-U1 — Ünite sonu · Ünite sonu ölçme ve değerlendirme (slayt 128-134)</dc:title>
  <dc:subject>9. Sınıf Coğrafya ders sunumu. Kaynak: Coğrafya 9. Sınıf Ders Kitabı (MEB, 2026-2027 baskısı) ve 2026 öğretim programı. okulapp.org/cografya</dc:subject>
  <dc:creator>okulapp.org</dc:creator>
  <cp:keywords/>
  <dc:description>Kitaptan ve OGM Materyal'den alınan metin, soru ve görsellerin hakları MEB'e aittir (5846 sayılı Kanun md. 34 kapsamında kaynak gösterilerek alıntı). Özgün katkılar CC BY 4.0 — okulapp.org</dc:description>
  <cp:lastModifiedBy>okulapp.org</cp:lastModifiedBy>
  <cp:revision>1</cp:revision>
  <dcterms:created xsi:type="dcterms:W3CDTF">2013-01-27T09:14:16Z</dcterms:created>
  <dcterms:modified xsi:type="dcterms:W3CDTF">2013-01-27T09:15:58Z</dcterms:modified>
  <cp:category>Ders materyali</cp:category>
  <dc:language>tr-TR</dc:language>
</cp:coreProperties>
</file>