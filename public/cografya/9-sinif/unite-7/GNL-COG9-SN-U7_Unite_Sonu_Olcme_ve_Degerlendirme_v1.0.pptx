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50"/>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50" Type="http://schemas.openxmlformats.org/officeDocument/2006/relationships/slide" Target="slides/slide43.xml"/><Relationship Id="rId153" Type="http://schemas.openxmlformats.org/officeDocument/2006/relationships/slide" Target="slides/slide1.xml"/><Relationship Id="rId154" Type="http://schemas.openxmlformats.org/officeDocument/2006/relationships/slide" Target="slides/slide2.xml"/><Relationship Id="rId155" Type="http://schemas.openxmlformats.org/officeDocument/2006/relationships/slide" Target="slides/slide3.xml"/><Relationship Id="rId156" Type="http://schemas.openxmlformats.org/officeDocument/2006/relationships/slide" Target="slides/slide4.xml"/><Relationship Id="rId157" Type="http://schemas.openxmlformats.org/officeDocument/2006/relationships/slide" Target="slides/slide5.xml"/><Relationship Id="rId158" Type="http://schemas.openxmlformats.org/officeDocument/2006/relationships/slide" Target="slides/slide6.xml"/><Relationship Id="rId159" Type="http://schemas.openxmlformats.org/officeDocument/2006/relationships/slide" Target="slides/slide7.xml"/><Relationship Id="rId160" Type="http://schemas.openxmlformats.org/officeDocument/2006/relationships/slide" Target="slides/slide8.xml"/><Relationship Id="rId161" Type="http://schemas.openxmlformats.org/officeDocument/2006/relationships/slide" Target="slides/slide9.xml"/><Relationship Id="rId162" Type="http://schemas.openxmlformats.org/officeDocument/2006/relationships/slide" Target="slides/slide10.xml"/><Relationship Id="rId163" Type="http://schemas.openxmlformats.org/officeDocument/2006/relationships/slide" Target="slides/slide11.xml"/><Relationship Id="rId164" Type="http://schemas.openxmlformats.org/officeDocument/2006/relationships/slide" Target="slides/slide12.xml"/><Relationship Id="rId165" Type="http://schemas.openxmlformats.org/officeDocument/2006/relationships/slide" Target="slides/slide13.xml"/><Relationship Id="rId166" Type="http://schemas.openxmlformats.org/officeDocument/2006/relationships/slide" Target="slides/slide14.xml"/><Relationship Id="rId167" Type="http://schemas.openxmlformats.org/officeDocument/2006/relationships/slide" Target="slides/slide15.xml"/><Relationship Id="rId168" Type="http://schemas.openxmlformats.org/officeDocument/2006/relationships/slide" Target="slides/slide16.xml"/><Relationship Id="rId169" Type="http://schemas.openxmlformats.org/officeDocument/2006/relationships/slide" Target="slides/slide17.xml"/><Relationship Id="rId170" Type="http://schemas.openxmlformats.org/officeDocument/2006/relationships/slide" Target="slides/slide18.xml"/><Relationship Id="rId171" Type="http://schemas.openxmlformats.org/officeDocument/2006/relationships/slide" Target="slides/slide19.xml"/><Relationship Id="rId172" Type="http://schemas.openxmlformats.org/officeDocument/2006/relationships/slide" Target="slides/slide20.xml"/><Relationship Id="rId173" Type="http://schemas.openxmlformats.org/officeDocument/2006/relationships/slide" Target="slides/slide21.xml"/><Relationship Id="rId174" Type="http://schemas.openxmlformats.org/officeDocument/2006/relationships/slide" Target="slides/slide22.xml"/><Relationship Id="rId175" Type="http://schemas.openxmlformats.org/officeDocument/2006/relationships/slide" Target="slides/slide23.xml"/><Relationship Id="rId176" Type="http://schemas.openxmlformats.org/officeDocument/2006/relationships/slide" Target="slides/slide24.xml"/><Relationship Id="rId177" Type="http://schemas.openxmlformats.org/officeDocument/2006/relationships/slide" Target="slides/slide25.xml"/><Relationship Id="rId178" Type="http://schemas.openxmlformats.org/officeDocument/2006/relationships/slide" Target="slides/slide26.xml"/><Relationship Id="rId179" Type="http://schemas.openxmlformats.org/officeDocument/2006/relationships/slide" Target="slides/slide27.xml"/><Relationship Id="rId180" Type="http://schemas.openxmlformats.org/officeDocument/2006/relationships/slide" Target="slides/slide28.xml"/><Relationship Id="rId181" Type="http://schemas.openxmlformats.org/officeDocument/2006/relationships/slide" Target="slides/slide29.xml"/><Relationship Id="rId182" Type="http://schemas.openxmlformats.org/officeDocument/2006/relationships/slide" Target="slides/slide30.xml"/><Relationship Id="rId183" Type="http://schemas.openxmlformats.org/officeDocument/2006/relationships/slide" Target="slides/slide31.xml"/><Relationship Id="rId184" Type="http://schemas.openxmlformats.org/officeDocument/2006/relationships/slide" Target="slides/slide32.xml"/><Relationship Id="rId185" Type="http://schemas.openxmlformats.org/officeDocument/2006/relationships/slide" Target="slides/slide33.xml"/><Relationship Id="rId186" Type="http://schemas.openxmlformats.org/officeDocument/2006/relationships/slide" Target="slides/slide34.xml"/><Relationship Id="rId187" Type="http://schemas.openxmlformats.org/officeDocument/2006/relationships/slide" Target="slides/slide35.xml"/><Relationship Id="rId188" Type="http://schemas.openxmlformats.org/officeDocument/2006/relationships/slide" Target="slides/slide36.xml"/><Relationship Id="rId189" Type="http://schemas.openxmlformats.org/officeDocument/2006/relationships/slide" Target="slides/slide37.xml"/><Relationship Id="rId190" Type="http://schemas.openxmlformats.org/officeDocument/2006/relationships/slide" Target="slides/slide38.xml"/><Relationship Id="rId191" Type="http://schemas.openxmlformats.org/officeDocument/2006/relationships/slide" Target="slides/slide39.xml"/><Relationship Id="rId192" Type="http://schemas.openxmlformats.org/officeDocument/2006/relationships/slide" Target="slides/slide40.xml"/><Relationship Id="rId193" Type="http://schemas.openxmlformats.org/officeDocument/2006/relationships/slide" Target="slides/slide41.xml"/><Relationship Id="rId194"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sonu ölçme sorularının yapısını göstermek; hangi soruların sınıfta, hangilerinin evde çözüleceğini ve karekoddaki ek soruların nasıl kullanılacağını söylemek.</a:t>
            </a:r>
          </a:p>
          <a:p/>
          <a:p>
            <a:r>
              <a:t>SÜRE: Ders planında bu bölüm için ayrı aşama yoktur: 35. haftanın son aşamasında (ünite kapanışı) s. 227 4 ve 5. sorular sınıfça çözülür; s. 226 1-3. sorular 35. haftanın ev çalışmasıdır (ders planı, 35. hafta). EBA'daki 9 ek soru ünite tekrarında ya da 2. dönem 2. yazılı öncesinde tahtada kullanılır; zamanı öğretmen belirler.</a:t>
            </a:r>
          </a:p>
          <a:p/>
          <a:p>
            <a:r>
              <a:t>NASIL: Kitabın beş sorusu iki metne dayanır: 1-3 İskandinav Kültür Bölgesi metni ve haritası (sonraki üç slayt), 4-5 Türkiye orman alanları haritası ve altı öğrencinin cevabı. Her sorunun cevabı ya da örnek cevabı sorunun hemen ardındaki slayttadır: kontrol ederken önce öğrencinin kendi cevabını söylemesini bekleyin. 'Daha fazla soru' karekodu EBA'da 9 soruluk bir test açar (bulmaca + 8 çoktan seçmeli); bu bölümün sonunda tahtada birlikte çözülür (öğrenci telefonu kullanılmaz — karekodu öğretmen açar ya da bu slaytlar kullanılır).</a:t>
            </a:r>
          </a:p>
          <a:p/>
          <a:p>
            <a:r>
              <a:t>KAYNAK: Kitap s. 226 (başlık ve giriş cümleleri birebir), s. 226-227 (5 soru). Ders planı 35. hafta son aşaması ve ev çalışması.</a:t>
            </a:r>
          </a:p>
          <a:p/>
          <a:p>
            <a:r>
              <a:t>NOT: Kartların rengi: yeşil doğal unsurlar (1), turuncu beşerî unsurlar (2), çelik mavisi bölgeyi karşılaştırma ve çıkarım (3-5). Kitabın beş sorusunun cevap anahtarı elimizde değildir (kitabın içindekiler listesine göre cevap anahtarları s. 233'teki karekoddadır); sunumdaki cevaplar kitap metni ve haritalarından gerekçelendirilmiştir. EBA'daki 9 sorunun anahtarı EBA içeriğindedir.</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1-3. soruların dayandığı metnin ilk bölümünü haritayla okumak: bölgenin yeri ve onu oluşturan kriter.</a:t>
            </a:r>
          </a:p>
          <a:p/>
          <a:p>
            <a:r>
              <a:t>NASIL: Metni bir öğrenciye okutun; haritada sekiz yeri sırayla buldurun (kırmızı alanlar bölgedir). Sözlü soru: 'Bu bölgeyi bir arada tutan nedir?' — cevap 2. sorunun çekirdeğidir, şimdilik tahtaya not alın.</a:t>
            </a:r>
          </a:p>
          <a:p/>
          <a:p>
            <a:r>
              <a:t>BEKLENEN CEVAP: Bölge Aland ve Faroe adaları, Norveç, İsveç, Danimarka, Finlandiya, İzlanda ve Grönland'ı kapsar; en önemli kriter Nordik kültürüne sahip toplumların bu alanda yaşamasıdır; toprakların üçte biri kutup dairesi içindedir.</a:t>
            </a:r>
          </a:p>
          <a:p/>
          <a:p>
            <a:r>
              <a:t>KAYNAK: Kitap s. 226 (yönerge, başlık ve metnin ilk üç cümlesi birebir; harita kırpıldı).</a:t>
            </a:r>
          </a:p>
          <a:p/>
          <a:p>
            <a:r>
              <a:t>NOT: Metin kitapta tek paragraftır; okunabilirlik için üç slayta bölündü (cümleler değişmedi). Haritada Grönland ve İzlanda'nın da kırmızı olduğuna dikkat çekin: bölge kıta sınırını değil kültürün yayılışını izler.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Metnin ikinci bölümünü okumak: nüfusun dağılışı, iklim ve tarım.</a:t>
            </a:r>
          </a:p>
          <a:p/>
          <a:p>
            <a:r>
              <a:t>NASIL: Metni okutun. Sözlü soru: 'Nüfus neden güneyde toplanmış? Tarım alanları neden sınırlı?' Öğrencinin 'soğuk iklim, kısa yaz' cevabını 1. soruya bağlayın: hangi iklimler? Bunu kitabın s. 218 haritasında bulacağız (1. soru).</a:t>
            </a:r>
          </a:p>
          <a:p/>
          <a:p>
            <a:r>
              <a:t>BEKLENEN CEVAP: Soğuk iklim şartları nedeniyle nüfusun büyük çoğunluğu güneyde yaşar; kuzeyde yaz kısa sürer; tarım alanları sınırlıdır (İsveç'te yaklaşık %10).</a:t>
            </a:r>
          </a:p>
          <a:p/>
          <a:p>
            <a:r>
              <a:t>KAYNAK: Kitap s. 226 (metnin 4-9. cümleleri birebir).</a:t>
            </a:r>
          </a:p>
          <a:p/>
          <a:p>
            <a:r>
              <a:t>NOT: ⚠ KİTAPTA BİLGİ SORUNU (alıntı değiştirilmedi): '50˚ kuzey enleminin kuzeyindeki alanlar tundra iklim bölgesi sınırları içinde' cümlesi haritayla uyuşmaz. 50° K'nin kuzeyinin tamamı tundra değildir: kitabın kendi s. 218 dünya iklim tipleri haritasında Norveç'in Atlas kıyıları, İsveç'in güneyi ve Danimarka okyanusal, İsveç ve Finlandiya'nın iç kesimleri sert karasal iklimdedir; tundra yalnız kuzeydeki dar kıyı şeridinde, dağların yüksek kesimlerinde, İzlanda'da ve Grönland kıyılarında görülür (bir sonraki soruda haritadan gösterilir). Öğrenci sorarsa haritayı esas alın: 'kuzeye gidildikçe tundra alanları başlar' demek doğrudur.</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Metnin son bölümünü okumak: ekonomik faaliyetler, dikkat çeken coğrafi özellikler, refah ve Avrupa Birliği üyeliği.</a:t>
            </a:r>
          </a:p>
          <a:p/>
          <a:p>
            <a:r>
              <a:t>NASIL: Metni okutun. 'Fiyort' ve 'buzul gölü' kavramlarını kısaca açıklayın: buzulların aşındırdığı vadilere denizin sokulmasıyla oluşan uzun, derin körfezler fiyorttur; buzulların aşındırdığı çukurlarda buzul gölleri oluşur (bilimsel; 7. ünitede tanımı yoktur). 3. soruya hazırlık: 'Bu özelliklerden hangileri Türkiye'de de var?' tahtaya iki sütun açın.</a:t>
            </a:r>
          </a:p>
          <a:p/>
          <a:p>
            <a:r>
              <a:t>BEKLENEN CEVAP: Norveç'te balıkçılık (özellikle somon); İzlanda'da aktif volkanlar, Norveç'te fiyortlar, Finlandiya'da buzul gölleri; refah seviyesi yüksek; Danimarka, İsveç ve Finlandiya AB üyesi.</a:t>
            </a:r>
          </a:p>
          <a:p/>
          <a:p>
            <a:r>
              <a:t>KAYNAK: Kitap s. 226 (metnin 10-16. cümleleri birebir). Fiyort ve buzul gölü tanımları bilimseldir; 7. ünitede yoktur.</a:t>
            </a:r>
          </a:p>
          <a:p/>
          <a:p>
            <a:r>
              <a:t>NOT: ⚠ KİTAPTA BİLGİ SORUNU (alıntı değiştirilmedi): 'İsveç ve Norveç zengin petrol yataklarına sahiptir' cümlesi yalnız Norveç için geçerlidir (Kuzey Denizi petrolü); İsveç'in önemli petrol üretimi yoktur. Öğrenci sorarsa 'Norveç' diye düzeltin. Endeksin Birleşmiş Milletler'deki adı 'İnsani Gelişme Endeksi'dir; kitap 'İnsani Gelişmişlik Endeksi' der — anlam değişmez.</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İklim kriterine göre oluşturulmuş doğal şekilsel bölgeleri haritadan okuyarak İskandinav Kültür Bölgesi'nin hangi iklim bölgelerinde yer aldığını bulmak.</a:t>
            </a:r>
          </a:p>
          <a:p/>
          <a:p>
            <a:r>
              <a:t>NASIL: Haritada önce bölgenin sekiz yerini buldurun (önceki slaytın haritası: Grönland, İzlanda, Faroe, Norveç, İsveç, Danimarka, Finlandiya, Aland). Sonra her renk için lejanttan iklimin adını okutun. Öğrenciler deftere 'iklim — nerede' biçiminde yazar (2 dk). Faroe ve Aland adaları bu ölçekte okunamayacak kadar küçüktür; değerlendirmeye katılmaz.</a:t>
            </a:r>
          </a:p>
          <a:p/>
          <a:p>
            <a:r>
              <a:t>BEKLENEN CEVAP: Okyanusal, sert karasal, tundra ve kutup iklim bölgeleri (ayrıntı sonraki slaytta).</a:t>
            </a:r>
          </a:p>
          <a:p/>
          <a:p>
            <a:r>
              <a:t>KAYNAK: Kitap s. 226 (soru birebir); s. 218 ETKİNLİK 'Bölge Belirleme Kriterleri' dünya iklim tipleri dağılışı haritası (kırpıldı; lejant aynı haritanın sol alt köşesinden). Doğal şekilsel bölge: kitap s. 219.</a:t>
            </a:r>
          </a:p>
          <a:p/>
          <a:p>
            <a:r>
              <a:t>NOT: Bölgenin 'doğal şekilsel' olduğunu hatırlatın: 'Doğal unsurların dağılışı esas alınarak oluşturulan yer şekilleri, iklim, su (hidrografik), toprak, bitki ve afet bölgelerine doğal şekilsel bölge adı verilir.'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cevabını haritada göstermek: bölge dört iklim bölgesinin sınırları içindedir.</a:t>
            </a:r>
          </a:p>
          <a:p/>
          <a:p>
            <a:r>
              <a:t>NASIL: Numaraları sırayla gösterin; her numara için öğrenciye lejanttaki adı söyletin. Sonra sağdaki kartlarla karşılaştırın. Vurgu: tek bir kültür bölgesi birden çok iklim bölgesinin sınırına girer — 'bir alan birden fazla bölgede yer alabilir' (5. soruyla bağ).</a:t>
            </a:r>
          </a:p>
          <a:p/>
          <a:p>
            <a:r>
              <a:t>BEKLENEN CEVAP: 1 Okyanusal iklim: Norveç'in Atlas kıyıları, İsveç'in güneyi, Danimarka · 2 Sert karasal iklim: İsveç, Finlandiya ve Norveç'in iç kesimleri · 3 Tundra iklimi: İzlanda, Grönland'ın kıyıları, İskandinavya'nın kuzeyindeki dar kıyı şeridi ve Norveç dağlarının yüksek kesimleri · 4 Kutup iklimi: Grönland'ın iç kesimi. Öğrenci üç-dört iklimi doğru yerle eşleştirmişse tam kabul edilir.</a:t>
            </a:r>
          </a:p>
          <a:p/>
          <a:p>
            <a:r>
              <a:t>KAYNAK: Kitap s. 218 haritası (yerlerin iklimi sayfanın renklerinden ölçülür ve sunum her üretildiğinde yeniden sınanır — iklim kilidi). 3. ünite s. 118: 'Kutuplara yakın alanlarda ve çok yüksek kesimlerde görülen soğuk iklimlerde sıcaklıklar yıl boyunca düşüktür.' ⚠ Kitabın bu soruya ait cevap anahtarı elimizde değildir (cevap anahtarları s. 233'teki karekoddadır): cevabı kitabın karekodlu cevap anahtarıyla karşılaştırın.</a:t>
            </a:r>
          </a:p>
          <a:p/>
          <a:p>
            <a:r>
              <a:t>NOT: Kitap metnindeki '50˚ kuzey enleminin kuzeyi tundra' cümlesi haritayla uyuşmaz (bkz. metin slaytının notu); cevap haritaya dayanır. Harita üzerindeki numaralar sunuma aittir.</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bölgenin oluşturulmasında kullanılan kriteri metinden bulmak ve fiziki/beşerî diye sınıflandırmak.</a:t>
            </a:r>
          </a:p>
          <a:p/>
          <a:p>
            <a:r>
              <a:t>NASIL: İpucu kutusunu okutun. 'Metinde kriter kelimesi geçen cümle hangisi?' Öğrenciler 2 dk deftere yazar: kriterin adı, türü (fiziki mi beşerî mi) ve metinden kanıt.</a:t>
            </a:r>
          </a:p>
          <a:p/>
          <a:p>
            <a:r>
              <a:t>BEKLENEN CEVAP: Öne çıkan kriter kültürdür (Nordik kültürüne sahip toplumların bu alanda yaşaması) — beşerî bir unsurdur; bu yüzden bölge beşerî şekilsel bir kültür bölgesidir. Ayrıntı sonraki slaytta.</a:t>
            </a:r>
          </a:p>
          <a:p/>
          <a:p>
            <a:r>
              <a:t>KAYNAK: Kitap s. 226 (soru birebir); s. 217 kriter tanımı.</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sorunun ölçütlü örnek cevabı: kriter, türü ve bölge türü.</a:t>
            </a:r>
          </a:p>
          <a:p/>
          <a:p>
            <a:r>
              <a:t>NASIL: Üç kartı soldan sağa okutun. Öğrencinin cevabında üç öğe aranır: (1) kriterin adı — kültür (Nordik kültürü), (2) türü — beşerî unsur, (3) metinden kanıt. Bölge türünü (beşerî şekilsel) söyleyen öğrenci bir adım ileri gitmiştir. Öğrenci 'soğuk iklim' ya da 'kutup dairesi' derse: bunlar bölgenin özellikleridir ama bölgeyi oluşturan kriter değildir — bölge iklime göre çizilseydi sınırı farklı olurdu (1. soru: dört iklim bölgesi).</a:t>
            </a:r>
          </a:p>
          <a:p/>
          <a:p>
            <a:r>
              <a:t>BEKLENEN CEVAP: Öne çıkan kriter kültürdür: Nordik kültürüne sahip toplumların bu alanda yaşaması (metin: 'en önemli kriter'). Kültür beşerî bir unsurdur; kültüre göre oluşturulan bölge beşerî şekilsel bölgedir (s. 219). Bölgeyi tanıtan öteki özellikler: Avrupa'nın kuzeyindeki konum, kutup dairesi, soğuk iklim ve yüksek refah.</a:t>
            </a:r>
          </a:p>
          <a:p/>
          <a:p>
            <a:r>
              <a:t>KAYNAK: Kitap s. 226 (metin), s. 219 (beşerî şekilsel bölge; Türk kültür bölgesi örneği). Bu sorunun cevabı açık uçludur; ölçütlü örnek üründür, tek doğru değildir. ⚠ Kitabın bu soruya ait cevap anahtarı elimizde değildir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İskandinav Kültür Bölgesi ile Türkiye'yi coğrafi özellikler bakımından karşılaştırmak (benzerlik ve farklılık, örnekle).</a:t>
            </a:r>
          </a:p>
          <a:p/>
          <a:p>
            <a:r>
              <a:t>NASIL: Tahtaya iki sütun açın: BENZERLİK · FARKLILIK. Öğrenciler metnin her özelliği için 'Türkiye'de de var mı?' diye sorar. Altı başlık ipucudur; her öğrenci en az iki benzerlik ve iki farklılık yazar, her birine bir örnek verir (3 dk).</a:t>
            </a:r>
          </a:p>
          <a:p/>
          <a:p>
            <a:r>
              <a:t>BEKLENEN CEVAP: Örnek ürün sonraki slaytta. Beklenen: iklim, tarım, yer şekilleri, AB ile ilişki farklılık; kültür bölgesi oluşturma, kıyı ve balıkçılık, volkanik alanlar benzerlik.</a:t>
            </a:r>
          </a:p>
          <a:p/>
          <a:p>
            <a:r>
              <a:t>KAYNAK: Kitap s. 226 (soru birebir); karşılaştırma ölçütleri metnin kendi başlıklarıdır.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sorunun ölçütlü örnek cevabı: iki sütunlu karşılaştırma.</a:t>
            </a:r>
          </a:p>
          <a:p/>
          <a:p>
            <a:r>
              <a:t>NASIL: Önce öğrencilerin tahtadaki iki sütununu okuyun, sonra örnek ürünle karşılaştırın. Ölçüt: en az iki benzerlik ve iki farklılık, her biri örnekli ve metne/kitaba dayalı. Farklı ama doğru örnekler (ör. iki alanda da sanayi ya da turizm) kabul edilir; gerekçe istenir.</a:t>
            </a:r>
          </a:p>
          <a:p/>
          <a:p>
            <a:r>
              <a:t>BEKLENEN CEVAP: Benzerlik: ikisi de bir kültür bölgesi oluşturur (İskandinav — Türk kültür bölgesi, s. 219); kıyıları ve balıkçılığı vardır; volkanik alanlar bulunur (İzlanda'da aktif volkanlar, Türkiye'de Erciyes, Ağrı gibi volkan dağları). Farklılık: İskandinavya soğuk iklimdedir, Türkiye Akdeniz iklim kuşağındadır; İskandinavya'da tarım alanları sınırlıdır (İsveç ~%10); fiyortlar ve buzul gölleri İskandinavya'nın özelliğidir, Türkiye'de buzullar yalnız yüksek dağlarda görülür; Danimarka, İsveç ve Finlandiya AB üyesi, Türkiye aday ülkedir.</a:t>
            </a:r>
          </a:p>
          <a:p/>
          <a:p>
            <a:r>
              <a:t>KAYNAK: Kitap s. 226 (metin), s. 219 (Türk kültür bölgesi), s. 224 (aday ülkeler). Ders kitabı 3. ünite: s. 119 'Türkiye, mutlak konumu itibarıyla Akdeniz iklim kuşağı içinde yer alır.' · s. 98 'Kaçkar Dağları’nın yüksek kesimlerinde ise buzullara rastlanır'. Türkiye'de balıkçılık, volkan dağları (Erciyes, Ağrı) ve tarım alanlarının genişliği bilgileri bilimseldir; 7. ünitede yoktur. Açık uçlu sorudur; tek doğru cevap değildir. ⚠ Kitabın bu soruya ait cevap anahtarı elimizde değildir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ve 5. soruların dayandığı haritayı okumak: normal orman ve boşluklu orman nerede?</a:t>
            </a:r>
          </a:p>
          <a:p/>
          <a:p>
            <a:r>
              <a:t>NASIL: Önce lejantı okutun: koyu yeşil normal orman, açık yeşil boşluklu orman, krem renk ormansız alan. Üç sözlü soru: 'Ormanlar en çok nerede? Hangi kıyıda en yoğun? İç kesimlerde hangi orman türü daha çok?'</a:t>
            </a:r>
          </a:p>
          <a:p/>
          <a:p>
            <a:r>
              <a:t>BEKLENEN CEVAP: Ormanlar kıyı bölgelerinde, özellikle Karadeniz'in batı ve doğusunda, Marmara, Ege ve Akdeniz kıyılarındaki dağlık kesimlerde yoğundur; İç Anadolu, Güneydoğu Anadolu ve Doğu Anadolu'nun çukur alanlarında orman çok azdır; iç kesimlerde boşluklu orman payı artar.</a:t>
            </a:r>
          </a:p>
          <a:p/>
          <a:p>
            <a:r>
              <a:t>KAYNAK: Kitap s. 227 (yönerge ve metin birebir; harita kırpıldı — kitapta harita başlığı yoktur, lejant 'Normal orman · Boşluklu orman').</a:t>
            </a:r>
          </a:p>
          <a:p/>
          <a:p>
            <a:r>
              <a:t>NOT: Kitap metni haritanın etkileşimli tahtada gösterildiğini söyler: bu slayt tam olarak o işi görür.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Altı öğrencinin cevabını okumak; her cevabın hangi bölge türlerini (orman, yağış, yer şekli, yangın, denizel etki) ilişkilendirdiğini görmek.</a:t>
            </a:r>
          </a:p>
          <a:p/>
          <a:p>
            <a:r>
              <a:t>NASIL: Altı cevabı altı öğrenciye okutun. Her cevaptan sonra: 'Haritaya bakınca bu doğru mu? Gerekçe?' — cevapları henüz söylemeyin; 4. soruda işaretlenecek.</a:t>
            </a:r>
          </a:p>
          <a:p/>
          <a:p>
            <a:r>
              <a:t>KAYNAK: Kitap s. 227 (altı öğrencinin cevabı birebir; adlar kitaptaki gibidir).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Orman alanlarının dağılışını etkileyen faktörleri değerlendirmek: hangi açıklama doğru?</a:t>
            </a:r>
          </a:p>
          <a:p/>
          <a:p>
            <a:r>
              <a:t>NASIL: Her öğrencinin cevabı için 'doğru mu, yanlış mı?' oylaması yapın (parmak kaldırma), sonra seçeneklere bakın: doğru üçlüyü içeren tek seçenek hangisi? Harita önceki slaytlardadır.</a:t>
            </a:r>
          </a:p>
          <a:p/>
          <a:p>
            <a:r>
              <a:t>BEKLENEN CEVAP: D) Göktürk, Serhat, Zeynep.</a:t>
            </a:r>
          </a:p>
          <a:p/>
          <a:p>
            <a:r>
              <a:t>KAYNAK: Kitap s. 227 (soru, cevaplar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sorunun cevabını her öğrencinin açıklamasını değerlendirerek gerekçelendirmek.</a:t>
            </a:r>
          </a:p>
          <a:p/>
          <a:p>
            <a:r>
              <a:t>NASIL: Satırları sırayla okutun; yanlış olan üç cevap için 'doğrusu ne olmalıydı?' sorusunu sorun: Yeşim → yağışın azlığı (karasallık); Ceylin → denizel etkinin iç kesimlere sokulamaması; Nuri → ovanın tarım alanı olarak kullanılması. Ardından haritada dört alanı gösterin (sonraki slayt).</a:t>
            </a:r>
          </a:p>
          <a:p/>
          <a:p>
            <a:r>
              <a:t>BEKLENEN CEVAP: D) Göktürk, Serhat, Zeynep. Göktürk ✓: kıyılar orman bakımından zengindir; dağların denize bakan yamaçları yamaç yağışı alır. Yeşim ✗: iç kesimlerde ormanın az olmasının temel nedeni yağışın azlığıdır; orman yangınları daha çok kıyı ormanlarında görülür. Ceylin ✗: kıyıya paralel uzanan dağlar denizel etkinin iç kesimlere sokulmasını engeller; iç kesimler bu yüzden kurak ve karasaldır. Serhat ✓: orta kesimde dağlar kıyıdan uzaklaşır, kıyıda düzlükler (deltalar) vardır; yamaç yağışı ve orman azalır. Nuri ✗: Çukurova'da ormanın azlığının nedeni yağış değil; düz, verimli ovanın tarım alanı olarak kullanılmasıdır. Zeynep ✓: Tuz Gölü çevresi Türkiye'nin en az yağış alan yerlerindendir.</a:t>
            </a:r>
          </a:p>
          <a:p/>
          <a:p>
            <a:r>
              <a:t>KAYNAK: Kitap s. 227 (harita, cevaplar). Ders kitabı 3. ünite: s. 115 'Yamaç yağışları, dağların nemli hava kütlelerine açık yamaçlarında meydana gelir. Türkiye’de Kuzey Anadolu Dağları ve Toros Dağlarının denize bakan yamaçlarında bu tip yağışlar görülür.' · s. 116 'En çok yağış alan yerler; Doğu ve Batı Karadeniz kıyılarında kuzeye, Akdeniz’de güneye bakan dağlık kesimlerdir.' (Orta Karadeniz bu listede yoktur) · s. 116 'Türkiye'de en az yağış alan yer Iğdır ile Tuz Gölü çevresi' · s. 119 'denizellik-karasallık, dağların uzanış doğrultusu gibi faktörlerin etkisiyle'. Orman yangınlarının daha çok kıyı ormanlarında görülmesi, Orta Karadeniz'de dağların kıyıdan uzaklaşıp deltaların bulunması ve Çukurova'nın tarım alanı olarak kullanılması bilimseldir; kitapta yoktur. ⚠ Kitabın bu soruya ait cevap anahtarı elimizde değildir (cevap anahtarları s. 233'teki karekoddadır): cevabı kitabın karekodlu cevap anahtarıyla karşılaştırın.</a:t>
            </a:r>
          </a:p>
          <a:p/>
          <a:p>
            <a:r>
              <a:t>NOT: Çukurova'nın yıllık yağışı ormanın yetişmesine yetmeyecek kadar az değildir; ova tarıma açıldığı için ormansızdır (insan etkisi). 4 ve 5. sorular aynı kitap haritasına dayanır; kitapta bu haritanın başlığı yoktur.</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Serhat, Nuri ve Zeynep'in sözünü ettiği alanları haritada görmek; doğru cevabı (D) haritayla doğrulamak.</a:t>
            </a:r>
          </a:p>
          <a:p/>
          <a:p>
            <a:r>
              <a:t>NASIL: Halkaları sırayla gösterin. Batı ve Orta Karadeniz'i karşılaştırın: batıda koyu yeşil daha yoğun, ortada daha seyrek (Serhat ✓). Tuz Gölü çevresi ormansız: kurak (Zeynep ✓). Çukurova ormansız ama çevresindeki Toroslar ormanlık: aynı yağış koşullarında dağ ormanlık, ova değil → ormanın azlığı yağıştan değil, ovanın tarım alanı olmasından (Nuri ✗).</a:t>
            </a:r>
          </a:p>
          <a:p/>
          <a:p>
            <a:r>
              <a:t>BEKLENEN CEVAP: Doğru cevap D: Göktürk, Serhat, Zeynep.</a:t>
            </a:r>
          </a:p>
          <a:p/>
          <a:p>
            <a:r>
              <a:t>KAYNAK: Kitap s. 227 haritası (kırpıldı). Halkalar ve etiketler sunuma aittir; alan sınırları yaklaşıktır. ⚠ Kitabın bu soruya ait cevap anahtarı elimizde değildir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alanın birden fazla bölgenin (farklı kriterlerle oluşturulmuş bölgelerin) sınırları içinde yer alabileceğini öğrenci cevaplarında fark etmek.</a:t>
            </a:r>
          </a:p>
          <a:p/>
          <a:p>
            <a:r>
              <a:t>NASIL: Önce ilk cümleyi örnekle açın: 'İstanbul hem Akdeniz'e geçiş iklim bölgesinde hem 553+ nüfus yoğunluğu bölgesinde hem de KGM 1. Bölge'de' (34. hafta, s. 220-221). Sonra her cevapta 'aynı alan hangi iki bölgeye konuyor?' diye sorun. Bilgisi doğru olan cevapları seçin.</a:t>
            </a:r>
          </a:p>
          <a:p/>
          <a:p>
            <a:r>
              <a:t>BEKLENEN CEVAP: B) Göktürk ve Zeynep.</a:t>
            </a:r>
          </a:p>
          <a:p/>
          <a:p>
            <a:r>
              <a:t>KAYNAK: Kitap s. 227 (soru ve seçenekler birebir); kitap s. 221 değerlendirme sorusu 2: 'Türkiye’deki bir alanın farklı bölge sınırları içinde yer almasının gerekçeleri neler olabilir?'</a:t>
            </a:r>
          </a:p>
          <a:p/>
          <a:p>
            <a:r>
              <a:t>NOT: İstanbul örneğindeki iklim ve bitki sınıfı 34. haftanın sunumunda haritadan okunmuştur; örneği yalnız 'nüfus yoğunluğu ve KGM bölgesi' diye kısaltabilirsiniz (s. 221 haritaları: İstanbul 553+ sınıfında, KGM 1. Bölge).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5. sorunun gerekçesi: iki öğrencinin cevabında aynı alan iki ayrı bölgenin içindedir.</a:t>
            </a:r>
          </a:p>
          <a:p/>
          <a:p>
            <a:r>
              <a:t>NASIL: Yeşil vurgulu iki cevabı okutun ve sağdaki şemayla eşleştirin: aynı alan (kıyı / Tuz Gölü çevresi) hem bitki örtüsüne (orman) göre bir bölgede hem iklime (yağış) göre bir bölgede. C ile E seçeneklerinin aynı olduğunu fark eden öğrenciyi takdir edin.</a:t>
            </a:r>
          </a:p>
          <a:p/>
          <a:p>
            <a:r>
              <a:t>BEKLENEN CEVAP: B) Göktürk ve Zeynep. Göktürk: kıyı bölgeleri hem orman varlığı zengin bölgede (bitki örtüsü) hem bol yağışlı bölgede (iklim). Zeynep: Tuz Gölü çevresi hem orman yoğunluğu az bölgede hem yağışı yetersiz bölgede. İkisinin bilgisi de doğrudur (4. soru). Yeşim ve Ceylin'in bilgileri yanlıştır (4. soru).</a:t>
            </a:r>
          </a:p>
          <a:p/>
          <a:p>
            <a:r>
              <a:t>KAYNAK: Kitap s. 227; s. 219 (iklim ve bitki bölgeleri doğal şekilsel bölgelerdir). ⚠ Kitabın bu soruya ait cevap anahtarı elimizde değildir (cevap anahtarları s. 233'teki karekoddadır): cevabı kitabın karekodlu cevap anahtarıyla karşılaştırın.</a:t>
            </a:r>
          </a:p>
          <a:p/>
          <a:p>
            <a:r>
              <a:t>NOT: ⚠ KİTAPTA SEÇENEK HATASI: C 'Ceylin ve Serhat' ile E 'Serhat ve Ceylin' aynı iki öğrenciyi verir; iki seçenek aynı olduğu için ikisi de doğru cevap olamaz. Serhat'ın cevabı da orman yoğunluğunu yer şekilleriyle ilişkilendirir (bitki ve yer şekli bölgeleri); ancak bu seçenekler Ceylin'in yanlış bilgisiyle eşleştirilmiştir. Burada 'bölge türü' kelimesi şekilsel/işlevsel ayrımı değil, farklı kriterlerle (orman, yağış) oluşturulmuş bölgeler anlamında kullanılmıştır.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227 karekodundaki EBA içeriğini (9 ek soru) tanıtmak.</a:t>
            </a:r>
          </a:p>
          <a:p/>
          <a:p>
            <a:r>
              <a:t>NASIL: Karekodu öğretmen kendi cihazından ya da etkileşimli tahtadan açar; öğrenci telefonu kullanılmaz (Genelge bent 37). Bu bölüm EBA'daki soruların sunuma aktarılmış hâlidir: her sorunun cevabı hemen ardındadır. Ders planında ayrı aşaması yoktur; ünite tekrarında ya da 2. dönem 2. yazılı öncesinde tahtada birlikte çözülebilir. Bulmaca kâğıda çoğaltılacaksa EBA dosyasının 1. sayfası kullanılır (okul fotokopisi; veliye yük yok).</a:t>
            </a:r>
          </a:p>
          <a:p/>
          <a:p>
            <a:r>
              <a:t>KAYNAK: Kitabın karekod içeriği (EBA): 9.7-Tema Sonu E-Ölçme ve Değerlendirme Soruları (kitap s. 227 karekodu). 3 sayfa: 1. sayfa bulmaca ve 12 tanım, 2. sayfa 2-9. sorular, 3. sayfa bulmacanın çözümü ve cevap anahtarı (2 C · 3 B · 4 D · 5 E · 6 E · 7 C · 8 A · 9 C).</a:t>
            </a:r>
          </a:p>
          <a:p/>
          <a:p>
            <a:r>
              <a:t>NOT: EBA metinleri kitapta yoktur; sunumda birebir alınmış ve EBA PDF'ine karşı denetlenmiştir. Soru rozetleri 'EK SORU 1-9'dur (haftaların ara yoklama numaralarıyla karışmasın). ⚠ EBA ile kitap arasında bir sınıflandırma farkı vardır (KEİ, hizmet ve istatistik bölgeleri): ilgili soruların notunda açıklanmıştır.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temel kavramlarını tanımlarından bulmak (EBA bulmacası, 1-4. tanımlar).</a:t>
            </a:r>
          </a:p>
          <a:p/>
          <a:p>
            <a:r>
              <a:t>NASIL: Tanımları sırayla okutun; harf sayısı ipucudur (boşluklar sayılmaz). Öğrenciler deftere yazar, sonra sözlü kontrol. Bulmacanın ızgarası EBA dosyasının 1. sayfasındadır; çoğaltılırsa öğrenciler ızgaraya da yazabilir.</a:t>
            </a:r>
          </a:p>
          <a:p/>
          <a:p>
            <a:r>
              <a:t>BEKLENEN CEVAP: 1 YER ŞEKİLLERİ · 2 İSTATİSTİK BÖLGELERİ · 3 TAYGA · 4 HİMALAYALAR</a:t>
            </a:r>
          </a:p>
          <a:p/>
          <a:p>
            <a:r>
              <a:t>KAYNAK: Kitabın karekod içeriği (EBA): 9.7-Tema Sonu E-Ölçme ve Değerlendirme Soruları (kitap s. 227 karekodu), 1. sayfa (tanımlar birebir).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Bulmacanın cevaplarını kitaptaki dayanaklarıyla göstermek.</a:t>
            </a:r>
          </a:p>
          <a:p/>
          <a:p>
            <a:r>
              <a:t>NASIL: Önce öğrencinin cevabını alın, sonra yeşil kutuyu gösterin. Kutunun altındaki satır kitaptaki dayanaktır.</a:t>
            </a:r>
          </a:p>
          <a:p/>
          <a:p>
            <a:r>
              <a:t>BEKLENEN CEVAP: 1 YER ŞEKİLLERİ · 2 İSTATİSTİK BÖLGELERİ · 3 TAYGA · 4 HİMALAYALAR</a:t>
            </a:r>
          </a:p>
          <a:p/>
          <a:p>
            <a:r>
              <a:t>KAYNAK: Kitabın karekod içeriği (EBA): 9.7-Tema Sonu E-Ölçme ve Değerlendirme Soruları (kitap s. 227 karekodu), 3. sayfa (Bulmacanın Çözümü — harf harf denetlendi). Kitap dayanakları: 1: 'fiziki unsurlar (yer şekilleri, iklim, bitki örtüsü vb.)' · 2: 'Türkiye İstatistik Kurumu (TÜİK) Akdeniz İstatistik Bölgesi' · 4: 'Alp-Himalaya Dağlık Bölgesi'</a:t>
            </a:r>
          </a:p>
          <a:p/>
          <a:p>
            <a:r>
              <a:t>NOT: 1: kitapta 'yer şekilleri' (s. 217); örneklerden Orta Toroslar dağlık bölgesi kitapta doğal şekilsel bölge örneğidir (s. 219). 2: EBA istatistik bölgelerini 'işlevsel bölge türü' sayar. Kitap TÜİK Akdeniz İstatistik Bölgesi'ni s. 222 anlam çözümleme tablosuna koyar ama türünü yazmaz; 35. haftanın tablo örnek cevabında da işlevseldir (EBA ile kitabın çekirdek-çevre tanımı uyumlu). 3: 'tayga' kelimesi kitapta geçmez: sert karasal iklimin iğne yapraklı ağaçlardan oluşan ormanlarıdır (bilimsel; kitapta yok). Kitabın s. 218 haritasında İsveç ve Finlandiya'nın büyük bölümü sert karasal iklimdedir (1. soru). 4: kitap s. 222 tablosunda 'Alp-Himalaya Dağlık Bölgesi' (yer şekillerine göre — doğal şekilsel).</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temel kavramlarını tanımlarından bulmak (EBA bulmacası, 5-8. tanımlar).</a:t>
            </a:r>
          </a:p>
          <a:p/>
          <a:p>
            <a:r>
              <a:t>NASIL: Tanımları sırayla okutun; harf sayısı ipucudur (boşluklar sayılmaz). Öğrenciler deftere yazar, sonra sözlü kontrol. Bulmacanın ızgarası EBA dosyasının 1. sayfasındadır; çoğaltılırsa öğrenciler ızgaraya da yazabilir.</a:t>
            </a:r>
          </a:p>
          <a:p/>
          <a:p>
            <a:r>
              <a:t>BEKLENEN CEVAP: 5 MAASTRİCHT · 6 AKDENİZ · 7 İŞLEVSEL BÖLGELER · 8 BİTKİ ÖRTÜSÜ</a:t>
            </a:r>
          </a:p>
          <a:p/>
          <a:p>
            <a:r>
              <a:t>KAYNAK: Kitabın karekod içeriği (EBA): 9.7-Tema Sonu E-Ölçme ve Değerlendirme Soruları (kitap s. 227 karekodu), 1. sayfa (tanımlar birebir).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Bulmacanın cevaplarını kitaptaki dayanaklarıyla göstermek.</a:t>
            </a:r>
          </a:p>
          <a:p/>
          <a:p>
            <a:r>
              <a:t>NASIL: Önce öğrencinin cevabını alın, sonra yeşil kutuyu gösterin. Kutunun altındaki satır kitaptaki dayanaktır.</a:t>
            </a:r>
          </a:p>
          <a:p/>
          <a:p>
            <a:r>
              <a:t>BEKLENEN CEVAP: 5 MAASTRİCHT · 6 AKDENİZ · 7 İŞLEVSEL BÖLGELER · 8 BİTKİ ÖRTÜSÜ</a:t>
            </a:r>
          </a:p>
          <a:p/>
          <a:p>
            <a:r>
              <a:t>KAYNAK: Kitabın karekod içeriği (EBA): 9.7-Tema Sonu E-Ölçme ve Değerlendirme Soruları (kitap s. 227 karekodu), 3. sayfa (Bulmacanın Çözümü — harf harf denetlendi). Kitap dayanakları: 5: '1 Kasım 1993’te yürürlüğe koydukları Maastricht Anlaşması' · 6: 'Akdeniz iklim bölgesi' · 7: 'Ekonomik ve kültürel yönden yerel, ulusal ve küresel çapta diğer bölgelerle etkileşim gösteren bölgeler işlevsel (fonksiyonel) bölge olarak adlandırılır.' · 8: 'fiziki unsurlar (yer şekilleri, iklim, bitki örtüsü vb.)'</a:t>
            </a:r>
          </a:p>
          <a:p/>
          <a:p>
            <a:r>
              <a:t>NOT: 5: kitap s. 224 metni: 1 Kasım 1993'te yürürlüğe giren Maastricht Anlaşması. 6: kitap s. 219'da 'Akdeniz iklim bölgesi' doğal şekilsel bölge örneğidir; bulmacaya yalnız 'AKDENİZ' yazılır. 7: EBA'nın tanımı kitabınkinden farklı sözlerle yazılmıştır; kitap s. 219: 'Ekonomik ve kültürel yönden yerel, ulusal ve küresel çapta diğer bölgelerle etkileşim gösteren bölgeler işlevsel (fonksiyonel) bölge olarak adlandırılır.' 8: kitap s. 217: bitki örtüsü fiziki bir kriterdir; bozkır bitki örtüsü bölgesi kitapta doğal şekilsel bölge örneğidir (s. 219).</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temel kavramlarını tanımlarından bulmak (EBA bulmacası, 9-12. tanımlar).</a:t>
            </a:r>
          </a:p>
          <a:p/>
          <a:p>
            <a:r>
              <a:t>NASIL: Tanımları sırayla okutun; harf sayısı ipucudur (boşluklar sayılmaz). Öğrenciler deftere yazar, sonra sözlü kontrol. Bulmacanın ızgarası EBA dosyasının 1. sayfasındadır; çoğaltılırsa öğrenciler ızgaraya da yazabilir.</a:t>
            </a:r>
          </a:p>
          <a:p/>
          <a:p>
            <a:r>
              <a:t>BEKLENEN CEVAP: 9 BÖLGE · 10 ŞEKİLSEL BÖLGELER · 11 HİZMET BÖLGELERİ · 12 KEİ</a:t>
            </a:r>
          </a:p>
          <a:p/>
          <a:p>
            <a:r>
              <a:t>KAYNAK: Kitabın karekod içeriği (EBA): 9.7-Tema Sonu E-Ölçme ve Değerlendirme Soruları (kitap s. 227 karekodu), 1. sayfa (tanımlar birebir).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Bulmacanın cevaplarını kitaptaki dayanaklarıyla göstermek.</a:t>
            </a:r>
          </a:p>
          <a:p/>
          <a:p>
            <a:r>
              <a:t>NASIL: Önce öğrencinin cevabını alın, sonra yeşil kutuyu gösterin. Kutunun altındaki satır kitaptaki dayanaktır.</a:t>
            </a:r>
          </a:p>
          <a:p/>
          <a:p>
            <a:r>
              <a:t>BEKLENEN CEVAP: 9 BÖLGE · 10 ŞEKİLSEL BÖLGELER · 11 HİZMET BÖLGELERİ · 12 KEİ</a:t>
            </a:r>
          </a:p>
          <a:p/>
          <a:p>
            <a:r>
              <a:t>KAYNAK: Kitabın karekod içeriği (EBA): 9.7-Tema Sonu E-Ölçme ve Değerlendirme Soruları (kitap s. 227 karekodu), 3. sayfa (Bulmacanın Çözümü — harf harf denetlendi). Kitap dayanakları: 9: 'Yeryüzünün doğal ve beşerî unsurlar bakımından kendi içinde benzerlik gösteren parçalarına bölge adı verilir.' · 10: 'Sahip oldukları doğal ve beşerî özellikleri ile dünyanın diğer alanlarından ayrılan bölgeler şekilsel bölge olarak adlandırılır.' · 11: 'Türkiye Karayolları Genel Müdürlüğü Hizmet Bölgeleri Haritası' · 12: 'KEİ (Karadeniz Ekonomik İşbirliği) Bölgesi'</a:t>
            </a:r>
          </a:p>
          <a:p/>
          <a:p>
            <a:r>
              <a:t>NOT: 9: EBA'nın tanımı kitap s. 219'daki tanımla aynıdır: 'Yeryüzünün doğal ve beşerî unsurlar bakımından kendi içinde benzerlik gösteren parçalarına bölge adı verilir.' 10: EBA'nın tanımı kitap s. 219'daki tanımla aynıdır: 'Sahip oldukları doğal ve beşerî özellikleri ile dünyanın diğer alanlarından ayrılan bölgeler şekilsel bölge olarak adlandırılır.' 11: EBA hizmet bölgelerini (DSİ, KGM, MGM) 'işlevsel bölge türü' sayar; kitapta KGM hizmet bölgeleri haritası s. 221'de, DSİ hizmet bölgesi s. 222 tablosundadır (türü yazılmaz; hizmet bir merkezden çevreye verilir — çekirdek-çevre ilişkisi). 12: ⚠ EBA ↔ KİTAP AYRIŞMASI: EBA KEİ'yi 'işlevsel bölgelere örnek verilebilecek ekonomik iş birliği örgütü' diye tanımlar; kitap s. 219 ise siyasi, askerî, ekonomik iş birliğine göre oluşturulan bölgeleri BEŞERÎ ŞEKİLSEL sayar ('siyasi, askerî, ekonomik iş birliği gibi beşerî ve ekonomik unsurların esas alındığı bölgelere de beşerî şekilsel bölge denir'). İki sınıflandırma da gerekçesiyle kabul edilir: kitap ortak amaçlı türdeş üyeliğe (şekilsel), EBA örgüt merkezi ile üye ülkeler arasındaki etkileşime (işlevsel) bakar. Bulmacanın cevabı (KEİ) değişmez; sınıflandırmada tek doğru dayatılmaz, gerekçe puanlanır (35. hafta anlam çözümleme tablosu).</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Bulmacanın tamamını EBA'nın çözümüyle görmek; kesişen harflerle cevapları denetlemek.</a:t>
            </a:r>
          </a:p>
          <a:p/>
          <a:p>
            <a:r>
              <a:t>NASIL: Öğrenciler kendi ızgaralarını (çoğaltılmışsa) karşılaştırır. Kesişimleri gösterin: YER ŞEKİLLERİ'nin son İ'si İSTATİSTİK BÖLGELERİ'nin ilk harfidir; HİMALAYALAR TAYGA'yı ve İSTATİSTİK'i keser; MAASTRİCHT, AKDENİZ ile BİTKİ ÖRTÜSÜ'nü keser.</a:t>
            </a:r>
          </a:p>
          <a:p/>
          <a:p>
            <a:r>
              <a:t>BEKLENEN CEVAP: 1 YER ŞEKİLLERİ · 2 İSTATİSTİK BÖLGELERİ · 3 TAYGA · 4 HİMALAYALAR · 5 MAASTRİCHT · 6 AKDENİZ · 7 İŞLEVSEL BÖLGELER · 8 BİTKİ ÖRTÜSÜ · 9 BÖLGE · 10 ŞEKİLSEL BÖLGELER · 11 HİZMET BÖLGELERİ · 12 KEİ.</a:t>
            </a:r>
          </a:p>
          <a:p/>
          <a:p>
            <a:r>
              <a:t>KAYNAK: Kitabın karekod içeriği (EBA): 9.7-Tema Sonu E-Ölçme ve Değerlendirme Soruları (kitap s. 227 karekodu), 3. sayfa 'Bulmacanın Çözümü' (kırpıldı). Izgaradaki sözcükler sunum her üretildiğinde EBA sayfasındaki harflerden yeniden okunur ve sunumdaki cevaplarla karşılaştırılır (bulmaca kilidi).</a:t>
            </a:r>
          </a:p>
          <a:p/>
          <a:p>
            <a:r>
              <a:t>NOT: Bulmacada kavramlar bitişik yazılır (YERŞEKİLLERİ, BİTKİÖRTÜSÜ); kitapta 'yer şekilleri', 'bitki örtüsü' ayrı yazılır.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Bölge türüne göre sınırın değişme süresini değerlendirmek.</a:t>
            </a:r>
          </a:p>
          <a:p/>
          <a:p>
            <a:r>
              <a:t>NASIL: Her öncül için 'Bu bölge hangi kritere göre? Doğal mı, beşerî mi?' diye sorun; sonra s. 223 kuralını hatırlatın.</a:t>
            </a:r>
          </a:p>
          <a:p/>
          <a:p>
            <a:r>
              <a:t>BEKLENEN CEVAP: C) I ve II.</a:t>
            </a:r>
          </a:p>
          <a:p/>
          <a:p>
            <a:r>
              <a:t>KAYNAK: EBA 07_06, 2. sayfa, 2. soru (öncüller,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her seçeneğin gerekçesi.</a:t>
            </a:r>
          </a:p>
          <a:p/>
          <a:p>
            <a:r>
              <a:t>NASIL: Kuralı tahtaya yazın: doğal şekilsel → sınır uzun sürede; beşerî şekilsel ve işlevsel → daha kısa sürede değişir.</a:t>
            </a:r>
          </a:p>
          <a:p/>
          <a:p>
            <a:r>
              <a:t>BEKLENEN CEVAP: C) I ve II: dağlık bölgeler (yer şekli) ve ekvatoral iklim bölgesi (iklim) doğal unsurlara göre belirlenir; sınırları uzun zaman diliminde değişir. Sanayileşmiş bölgeler beşerî unsura göredir; sınırı daha kısa sürede değişebilir.</a:t>
            </a:r>
          </a:p>
          <a:p/>
          <a:p>
            <a:r>
              <a:t>KAYNAK: EBA 07_06, 3. sayfa cevap anahtarı: 2 → C. Kitap s. 223: 'Örneğin doğal unsurlara göre belirlenen doğal şekilsel bölgelerin sınırları daha uzun bir zaman diliminde değişmektedir. Beşerî unsurlara göre belirlenen beşerî şekilsel bölgeler ile işlevsel bölgelerin sınırlarındaki değişim ise daha kısa bir zaman diliminde gerçekleşebilir.'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Türkiye'nin üyesi olduğu uluslararası örgütleri ayırt etmek; olumsuz soru kökünü fark etmek.</a:t>
            </a:r>
          </a:p>
          <a:p/>
          <a:p>
            <a:r>
              <a:t>NASIL: 'değildir' kelimesine dikkat çekin (EBA'da altı çizilidir; sunumda kalın). 35. haftanın Avrupa Birliği metnini hatırlatın.</a:t>
            </a:r>
          </a:p>
          <a:p/>
          <a:p>
            <a:r>
              <a:t>BEKLENEN CEVAP: B) Avrupa Birliği.</a:t>
            </a:r>
          </a:p>
          <a:p/>
          <a:p>
            <a:r>
              <a:t>KAYNAK: EBA 07_06, 2. sayfa, 3.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a:t>
            </a:r>
          </a:p>
          <a:p/>
          <a:p>
            <a:r>
              <a:t>NASIL: Kitabın cümlesini okutun: Türkiye aday ülkeler arasındadır. Siyasi yorum yapılmaz; yalnız üyelik durumu söylenir.</a:t>
            </a:r>
          </a:p>
          <a:p/>
          <a:p>
            <a:r>
              <a:t>BEKLENEN CEVAP: B) Avrupa Birliği: Türkiye AB üyeliğine aday ülkedir, üye değildir. Türkiye NATO, BM, İslam İşbirliği Teşkilatı ve KEİ üyesidir.</a:t>
            </a:r>
          </a:p>
          <a:p/>
          <a:p>
            <a:r>
              <a:t>KAYNAK: EBA 07_06, 3. sayfa cevap anahtarı: 3 → B. Kitap s. 224: 'Türkiye, Kuzey Makedonya, Karadağ, Sırbistan, Arnavutluk, Ukrayna, Moldova, Gürcistan ve Bosna Hersek Avrupa Birliği üyeliğine aday ülkelerdir.' KEİ üyeliği: EBA bulmaca 12. tanımındaki üye listesi. Türkiye'nin NATO, BM ve İİT üyeliği genel bilgidir; kitapta yazılmaz (NATO ve KEİ kitapta s. 222 anlam çözümleme tablosunda bölge örneğidir).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Nüfus yoğunluğuna göre (beşerî şekilsel) bir bölgenin sınırına hangi yerin girmeyeceğini bulmak.</a:t>
            </a:r>
          </a:p>
          <a:p/>
          <a:p>
            <a:r>
              <a:t>NASIL: 'beklenmez' kelimesine dikkat çekin. 34. haftanın Türkiye Nüfus Yoğunluğu Haritası'nı (s. 221) hatırlatın: 'Hangisi yoğun nüfuslu?'</a:t>
            </a:r>
          </a:p>
          <a:p/>
          <a:p>
            <a:r>
              <a:t>BEKLENEN CEVAP: D) İzmir ve çevresi.</a:t>
            </a:r>
          </a:p>
          <a:p/>
          <a:p>
            <a:r>
              <a:t>KAYNAK: EBA 07_06, 2. sayfa, 4.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 il haritası ile yöre arasındaki farkı göstermek.</a:t>
            </a:r>
          </a:p>
          <a:p/>
          <a:p>
            <a:r>
              <a:t>NASIL: Haritada İzmir'i (halka) ve lejantı gösterin. Uyarı: Taşeli Platosu'nun bulunduğu Mersin ve Antalya illeri de haritada 100-553 sınıfındadır, çünkü harita il ortalamasını gösterir ve bu illerin kıyı şehirleri kalabalıktır; platonun kendisi dağlık ve seyrek nüfusludur.</a:t>
            </a:r>
          </a:p>
          <a:p/>
          <a:p>
            <a:r>
              <a:t>BEKLENEN CEVAP: D) İzmir ve çevresi: haritada İzmir ili 100-553 kişi/km² sınıfındadır; seçeneklerin en yoğun nüfuslu yeridir. Taşeli Platosu, Hakkâri Yöresi ve Menteşe Yöresi dağlık ve engebeli, Tuz Gölü çevresi kurak olduğu için seyrek nüfusludur.</a:t>
            </a:r>
          </a:p>
          <a:p/>
          <a:p>
            <a:r>
              <a:t>KAYNAK: EBA 07_06, 3. sayfa cevap anahtarı: 4 → D. Kitap s. 221 'Türkiye Nüfus Yoğunluğu Haritası (2024)' (kırpıldı; illerin sınıfı sayfanın vektör dolgusundan ölçülür ve her üretimde sınanır — yoğunluk kilidi: İzmir, Mersin, Antalya 100-553 · Muğla 60-99 · Konya, Aksaray 42-59 · Hakkâri, Karaman 11-41). Kitap s. 219: 'Türkiye’nin seyrek nüfuslu bölgeleri' beşerî şekilsel bölge örneğidir. Yörelerin dağlık/kurak oluşu bilimseldir; kitapta yok.</a:t>
            </a:r>
          </a:p>
          <a:p/>
          <a:p>
            <a:r>
              <a:t>NOT: ⚠ Kitaptaki lejant birimi 'km2/kişi' yazılmıştır; doğrusu kişi/km²'dir (sunum metninde kişi/km² kullanıldı; harita görseli kitaptaki gibidir).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Kriterin özelliğinin bölgenin dağılış alanını (ve ülke sayısını) etkilediğini kavramak.</a:t>
            </a:r>
          </a:p>
          <a:p/>
          <a:p>
            <a:r>
              <a:t>NASIL: Kitabın s. 220 cümlesini hatırlatın (muson-step örneği). s. 218 dünya iklim haritasında her seçeneğin dağılışını sorun: 'Hangisi yalnız bir kuşakta, kutuplara yakın?'</a:t>
            </a:r>
          </a:p>
          <a:p/>
          <a:p>
            <a:r>
              <a:t>BEKLENEN CEVAP: E) Tundra iklim bölgesi.</a:t>
            </a:r>
          </a:p>
          <a:p/>
          <a:p>
            <a:r>
              <a:t>KAYNAK: EBA 07_06, 2. sayfa, 5. soru (metin,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a:t>
            </a:r>
          </a:p>
          <a:p/>
          <a:p>
            <a:r>
              <a:t>NASIL: s. 218 haritasında tundranın kutuplara yakın dar bir kuşak olduğunu gösterin. Not: s. 218 lejantındaki 'Karasal iklim' 3. ünitedeki 'ılıman karasal (step) iklim'dir — step o renkle gösterilir.</a:t>
            </a:r>
          </a:p>
          <a:p/>
          <a:p>
            <a:r>
              <a:t>BEKLENEN CEVAP: E) Tundra iklim bölgesi: tundra kutuplara yakın, dar bir kuşakta (Kuzey Amerika ve Avrasya'nın kuzey kıyıları, Grönland, İzlanda) görülür; sınırları içinde az sayıda ülke vardır. Step, çöl, ılıman iklimler ve savan birçok kıtaya yayılır.</a:t>
            </a:r>
          </a:p>
          <a:p/>
          <a:p>
            <a:r>
              <a:t>KAYNAK: EBA 07_06, 3. sayfa cevap anahtarı: 5 → E. Kitap s. 220: 'Örneğin yeryüzünde muson ikliminin etkili olduğu alan, step ikliminin etkili olduğu alana göre daha azdır.' · kitap s. 218 haritası. 3. ünite s. 118: 'Dört mevsimin belirgin olarak yaşandığı orta kuşakta (30°-60° enlemleri) görülen ılıman iklimler; Akdeniz iklimi, okyanusal iklim, ılıman karasal (step) iklim ve sert karasal iklim olmak üzere dörde ayrılır.'</a:t>
            </a:r>
          </a:p>
          <a:p/>
          <a:p>
            <a:r>
              <a:t>NOT: Tundranın alanı (Kanada ve Rusya'nın kuzeyi) küçük değildir; soru 'ülke sayısı'nı sorar: bu geniş alan az sayıda büyük ülkenin içindedir. EBA'nın 'alan büyüdükçe ülke sayısı artar' önermesi bir genellemedir.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Bitki örtüsü kriterine göre oluşturulmuş bir doğal şekilsel bölgenin sınırına giren ülkeleri bulmak.</a:t>
            </a:r>
          </a:p>
          <a:p/>
          <a:p>
            <a:r>
              <a:t>NASIL: 'Maki hangi iklimin bitki örtüsü?' sorusuyla başlayın; sonra s. 218 haritasında Akdeniz iklimi (pembe) hangi ülkelerde, buldurun.</a:t>
            </a:r>
          </a:p>
          <a:p/>
          <a:p>
            <a:r>
              <a:t>BEKLENEN CEVAP: E) I, II ve III.</a:t>
            </a:r>
          </a:p>
          <a:p/>
          <a:p>
            <a:r>
              <a:t>KAYNAK: EBA 07_06, 2. sayfa, 6. soru (öncüller,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 (harita).</a:t>
            </a:r>
          </a:p>
          <a:p/>
          <a:p>
            <a:r>
              <a:t>NASIL: Haritada üç numarayı gösterin: İspanya'nın güneyi ve doğusu, Yunanistan, Türkiye'nin Akdeniz ve Ege kıyıları pembedir.</a:t>
            </a:r>
          </a:p>
          <a:p/>
          <a:p>
            <a:r>
              <a:t>BEKLENEN CEVAP: E) I, II ve III: maki Akdeniz ikliminin doğal bitki örtüsüdür; s. 218 haritasında İspanya, Türkiye ve Yunanistan'da Akdeniz iklimi görülür.</a:t>
            </a:r>
          </a:p>
          <a:p/>
          <a:p>
            <a:r>
              <a:t>KAYNAK: EBA 07_06, 3. sayfa cevap anahtarı: 6 → E. Kitap s. 218 haritası (yerlerin rengi sayfadan ölçülür — iklim kilidi). 'Maki' kelimesi ve maki-Akdeniz iklimi ilişkisi bilimseldir; 7. ünitede yoktur.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Fiziki ve beşerî bölge belirleme kriterlerini ayırt etmek.</a:t>
            </a:r>
          </a:p>
          <a:p/>
          <a:p>
            <a:r>
              <a:t>NASIL: 'değildir' kelimesine dikkat çekin. s. 217'deki iki listeyi hatırlatın: fiziki ve beşerî unsurlar.</a:t>
            </a:r>
          </a:p>
          <a:p/>
          <a:p>
            <a:r>
              <a:t>BEKLENEN CEVAP: C) İklim özellikleri.</a:t>
            </a:r>
          </a:p>
          <a:p/>
          <a:p>
            <a:r>
              <a:t>KAYNAK: EBA 07_06, 2. sayfa, 7. soru (kök ve seçenekler birebir).</a:t>
            </a:r>
          </a:p>
          <a:p/>
          <a:p>
            <a:r>
              <a:t>NOT: EBA yazımı: kökte 'kritelerden' yazılıdır (doğrusu 'kriterlerden'); EBA metni olduğu gibi alındı. Kitabın s. 225 performans görevinde de aynı yazım hatası ('kritelere') vardır.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a:t>
            </a:r>
          </a:p>
          <a:p/>
          <a:p>
            <a:r>
              <a:t>NASIL: Her seçeneği 'fiziki mi, beşerî mi?' diye tek kelimeyle söyletin.</a:t>
            </a:r>
          </a:p>
          <a:p/>
          <a:p>
            <a:r>
              <a:t>BEKLENEN CEVAP: C) İklim özellikleri: iklim fiziki (doğal) bir unsurdur; iklim bölgeleri doğal şekilsel bölgelerdir. İdari yapı, dinî inanış (kültür), yerleşme tipleri ve ekonomik özellikler beşerî unsurlardır.</a:t>
            </a:r>
          </a:p>
          <a:p/>
          <a:p>
            <a:r>
              <a:t>KAYNAK: EBA 07_06, 3. sayfa cevap anahtarı: 7 → C. Kitap s. 217: 'Bu kriterler, fiziki unsurlar (yer şekilleri, iklim, bitki örtüsü vb.) ve beşerî unsurlardır (nüfus, yerleşme, sanayi, tarım, turizm vb.).' · s. 219 (beşerî şekilsel: ham madde, üretim, sanayi, nüfus, yerleşme ve kültür ile siyasi, askerî, ekonomik iş birliği).</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İşlevsel bölgeyi şekilsel bölgeden ayırt etmek.</a:t>
            </a:r>
          </a:p>
          <a:p/>
          <a:p>
            <a:r>
              <a:t>NASIL: 'yer almaz' ifadesine dikkat çekin. İşlevsel bölgenin ölçütünü hatırlatın: çekirdek (merkez), çevre ve aralarındaki hareket.</a:t>
            </a:r>
          </a:p>
          <a:p/>
          <a:p>
            <a:r>
              <a:t>BEKLENEN CEVAP: A) Nüfus bölgeleri.</a:t>
            </a:r>
          </a:p>
          <a:p/>
          <a:p>
            <a:r>
              <a:t>KAYNAK: EBA 07_06, 2. sayfa, 8.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 EBA ile kitabın sınıflandırma ilişkisi.</a:t>
            </a:r>
          </a:p>
          <a:p/>
          <a:p>
            <a:r>
              <a:t>NASIL: Nüfus bölgelerinin kitapta beşerî şekilsel örnek olduğunu gösterin. Öğrenci 'hizmet ve istatistik bölgeleri kitapta işlevsel diye yazılmıyor' derse: kitap bunların türünü yazmaz; EBA işlevsel sayar ve bu, kitabın çekirdek-çevre tanımıyla uyumludur (hizmet bir merkezden verilir; kalkınma projesinin bir yönetim merkezi ve etki alanı vardır).</a:t>
            </a:r>
          </a:p>
          <a:p/>
          <a:p>
            <a:r>
              <a:t>BEKLENEN CEVAP: A) Nüfus bölgeleri: nüfus yoğunluğuna göre oluşturulan bölgeler beşerî şekilsel bölgelerdir (kitap s. 219: Türkiye'nin seyrek nüfuslu bölgeleri). Hizmet, yönetim, istatistik ve kalkınma projesi bölgeleri işlevseldir.</a:t>
            </a:r>
          </a:p>
          <a:p/>
          <a:p>
            <a:r>
              <a:t>KAYNAK: EBA 07_06, 3. sayfa cevap anahtarı: 8 → A. Kitap s. 219: 'Türkiye’nin seyrek nüfuslu bölgeleri, Türkiye’nin dağınık kırsal yerleşme bölgeleri, Türk kültür bölgesi ve Türkiye’nin pamuk üretim bölgeleri de beşerî şekilsel bölgelere örnektir.' · 'Örneğin bir metropoliten alan, belirli bir şehirsel yönetimin yetkisi altındaki tüm araziyi içeren işlevsel bir bölgedir.' · s. 221 KGM hizmet bölgeleri, s. 222 DSİ hizmet bölgesi, TÜİK istatistik bölgesi, GAP ve DOKAP (tabloda türleri yazılmaz).</a:t>
            </a:r>
          </a:p>
          <a:p/>
          <a:p>
            <a:r>
              <a:t>NOT: ⚠ EBA ↔ KİTAP: EBA aynı içerikte KEİ'yi de işlevsel örnek sayar (bulmaca 12); kitap s. 219 siyasi, askerî, ekonomik iş birliği bölgelerini beşerî şekilsel sayar. Bu sorunun cevabı (A) bu farktan etkilenmez.</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Örgüt bölgeleri ile kültür bölgesinin sınırını karşılaştırmak.</a:t>
            </a:r>
          </a:p>
          <a:p/>
          <a:p>
            <a:r>
              <a:t>NASIL: 'örtüşmemektedir' kelimesine dikkat çekin. 'Bir ülke bir örgüte üye olunca ülkenin tamamı mı bölgeye girer?' sorusuyla başlayın.</a:t>
            </a:r>
          </a:p>
          <a:p/>
          <a:p>
            <a:r>
              <a:t>BEKLENEN CEVAP: C) Türk Kültür Bölgesi.</a:t>
            </a:r>
          </a:p>
          <a:p/>
          <a:p>
            <a:r>
              <a:t>KAYNAK: EBA 07_06, 2. sayfa, 9.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gerekçesi.</a:t>
            </a:r>
          </a:p>
          <a:p/>
          <a:p>
            <a:r>
              <a:t>NASIL: İskandinav Kültür Bölgesi örneğini hatırlatın (1-3. sorular): kültür bölgesi kültürün yayıldığı alana göre çizilir.</a:t>
            </a:r>
          </a:p>
          <a:p/>
          <a:p>
            <a:r>
              <a:t>BEKLENEN CEVAP: C) Türk Kültür Bölgesi: kültür bölgesinin sınırı kültürün yayılış alanına göre çizilir; bir ülkenin bir kısmını kapsayabilir, birden çok ülkeye taşabilir. Örgütlerin bölgesi ise üye ülkelerin siyasi sınırlarıyla belirlenir.</a:t>
            </a:r>
          </a:p>
          <a:p/>
          <a:p>
            <a:r>
              <a:t>KAYNAK: EBA 07_06, 3. sayfa cevap anahtarı: 9 → C. Kitap s. 220: 'Bölge sınırı, bölge belirlemede esas alınan kriterlere göre belirlenir.' · s. 219 Türk kültür bölgesi (beşerî şekilsel). Kültürün yayılışının ülke sınırını izlemediği bilgisi bilimseldir; kitapta açıkça yazılmaz.</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özünü beş kavramla toparlamak; öğrencinin kendi öğrenmesini değerlendirmesine fırsat vermek.</a:t>
            </a:r>
          </a:p>
          <a:p/>
          <a:p>
            <a:r>
              <a:t>NASIL: Beş kartı soldan sağa okutun; her kart için ünite sonu sorularından bir örnek isteyin (İskandinavya: kriter kültür; 1. soru: dört iklim bölgesi; 5. soru: bir alan birden çok bölgede; AB: sınır değişir). Öz değerlendirme sorularını öğrenciler deftere kısaca yanıtlar (not verilmez).</a:t>
            </a:r>
          </a:p>
          <a:p/>
          <a:p>
            <a:r>
              <a:t>BEKLENEN CEVAP: Bölge: kendi içinde benzer parça · kriter: fiziki ya da beşerî · tür: doğal şekilsel, beşerî şekilsel, işlevsel · sınır: kritere göre, net ya da geçişli · değişim: doğalda uzun, beşerî ve işlevselde kısa sürede.</a:t>
            </a:r>
          </a:p>
          <a:p/>
          <a:p>
            <a:r>
              <a:t>KAYNAK: Program (2026): COĞ.9.7.1. Kitap s. 217 (kriterler), s. 219 (bölge, türler), s. 220 (sınır), s. 223 (değişim).</a:t>
            </a:r>
          </a:p>
          <a:p/>
          <a:p>
            <a:r>
              <a:t>NOT: Bu kısa öz değerlendirme ünite sonu soruları içindir; performans görevinin öz değerlendirme formu (EBA 07_05) ayrıdır ve 35. haftada doldurulur.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image" Target="../media/image3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 Id="rId3" Type="http://schemas.openxmlformats.org/officeDocument/2006/relationships/image" Target="../media/image33.jpg"/><Relationship Id="rId4" Type="http://schemas.openxmlformats.org/officeDocument/2006/relationships/image" Target="../media/image3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 Id="rId3" Type="http://schemas.openxmlformats.org/officeDocument/2006/relationships/image" Target="../media/image3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image" Target="../media/image3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3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3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3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3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7. Ünite Ölçme ve Değerlendirme Soruları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TextBox 5"/>
          <p:cNvSpPr txBox="1"/>
          <p:nvPr/>
        </p:nvSpPr>
        <p:spPr>
          <a:xfrm>
            <a:off x="502920" y="1188720"/>
            <a:ext cx="11185855" cy="658368"/>
          </a:xfrm>
          <a:prstGeom prst="rect">
            <a:avLst/>
          </a:prstGeom>
          <a:noFill/>
        </p:spPr>
        <p:txBody>
          <a:bodyPr wrap="square" anchor="t" lIns="73152" rIns="73152" tIns="36576" bIns="36576">
            <a:noAutofit/>
          </a:bodyPr>
          <a:lstStyle/>
          <a:p>
            <a:pPr algn="ctr">
              <a:spcBef>
                <a:spcPts val="0"/>
              </a:spcBef>
              <a:spcAft>
                <a:spcPts val="200"/>
              </a:spcAft>
            </a:pPr>
            <a:r>
              <a:rPr lang="tr-TR" sz="1800" b="0" i="1">
                <a:solidFill>
                  <a:srgbClr val="767676"/>
                </a:solidFill>
                <a:latin typeface="Calibri"/>
              </a:rPr>
              <a:t>Bu testte cevaplamanız için farklı soru çeşitlerinden oluşan toplam 5 soru verilmiştir.</a:t>
            </a:r>
          </a:p>
          <a:p>
            <a:pPr algn="ctr">
              <a:spcBef>
                <a:spcPts val="0"/>
              </a:spcBef>
              <a:spcAft>
                <a:spcPts val="0"/>
              </a:spcAft>
            </a:pPr>
            <a:r>
              <a:rPr lang="tr-TR" sz="1800" b="0" i="1">
                <a:solidFill>
                  <a:srgbClr val="767676"/>
                </a:solidFill>
                <a:latin typeface="Calibri"/>
              </a:rPr>
              <a:t>Daha fazla soruya ulaşmak için testin sonunda yer alan karekodu okutunuz.</a:t>
            </a:r>
          </a:p>
        </p:txBody>
      </p:sp>
      <p:sp>
        <p:nvSpPr>
          <p:cNvPr id="7" name="Rounded Rectangle 6"/>
          <p:cNvSpPr/>
          <p:nvPr/>
        </p:nvSpPr>
        <p:spPr>
          <a:xfrm>
            <a:off x="502920" y="1947672"/>
            <a:ext cx="2105497" cy="3246120"/>
          </a:xfrm>
          <a:prstGeom prst="roundRect">
            <a:avLst>
              <a:gd name="adj" fmla="val 6000"/>
            </a:avLst>
          </a:prstGeom>
          <a:solidFill>
            <a:srgbClr val="F0F0F0"/>
          </a:solidFill>
          <a:ln>
            <a:noFill/>
          </a:ln>
          <a:effectLst/>
        </p:spPr>
        <p:txBody>
          <a:bodyPr rtlCol="0" anchor="ctr"/>
          <a:lstStyle/>
          <a:p/>
        </p:txBody>
      </p:sp>
      <p:sp>
        <p:nvSpPr>
          <p:cNvPr id="8" name="Rounded Rectangle 7"/>
          <p:cNvSpPr/>
          <p:nvPr/>
        </p:nvSpPr>
        <p:spPr>
          <a:xfrm>
            <a:off x="502920" y="1947672"/>
            <a:ext cx="2105497" cy="777240"/>
          </a:xfrm>
          <a:prstGeom prst="roundRect">
            <a:avLst>
              <a:gd name="adj" fmla="val 12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1</a:t>
            </a:r>
          </a:p>
        </p:txBody>
      </p:sp>
      <p:sp>
        <p:nvSpPr>
          <p:cNvPr id="9" name="TextBox 8"/>
          <p:cNvSpPr txBox="1"/>
          <p:nvPr/>
        </p:nvSpPr>
        <p:spPr>
          <a:xfrm>
            <a:off x="594360" y="2816352"/>
            <a:ext cx="1922617" cy="1325880"/>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262626"/>
                </a:solidFill>
                <a:latin typeface="Calibri"/>
              </a:rPr>
              <a:t>İskandinavya hangi iklim bölgelerinde?</a:t>
            </a:r>
          </a:p>
        </p:txBody>
      </p:sp>
      <p:sp>
        <p:nvSpPr>
          <p:cNvPr id="10" name="Rounded Rectangle 9"/>
          <p:cNvSpPr/>
          <p:nvPr/>
        </p:nvSpPr>
        <p:spPr>
          <a:xfrm>
            <a:off x="612648" y="4233672"/>
            <a:ext cx="1886041" cy="411480"/>
          </a:xfrm>
          <a:prstGeom prst="roundRect">
            <a:avLst>
              <a:gd name="adj" fmla="val 30000"/>
            </a:avLst>
          </a:prstGeom>
          <a:solidFill>
            <a:srgbClr val="FFFFFF"/>
          </a:solidFill>
          <a:ln w="12700">
            <a:solidFill>
              <a:srgbClr val="3E7D3A"/>
            </a:solidFill>
          </a:ln>
          <a:effectLst/>
        </p:spPr>
        <p:txBody>
          <a:bodyPr rtlCol="0" anchor="ctr" wrap="square" lIns="36576" rIns="36576" tIns="0" bIns="0">
            <a:noAutofit/>
          </a:bodyPr>
          <a:lstStyle/>
          <a:p>
            <a:pPr algn="ctr">
              <a:spcBef>
                <a:spcPts val="0"/>
              </a:spcBef>
              <a:spcAft>
                <a:spcPts val="0"/>
              </a:spcAft>
            </a:pPr>
            <a:r>
              <a:rPr lang="tr-TR" sz="1600" b="1" i="0">
                <a:solidFill>
                  <a:srgbClr val="3E7D3A"/>
                </a:solidFill>
                <a:latin typeface="Calibri"/>
              </a:rPr>
              <a:t>açık uçlu</a:t>
            </a:r>
          </a:p>
        </p:txBody>
      </p:sp>
      <p:sp>
        <p:nvSpPr>
          <p:cNvPr id="11" name="Rounded Rectangle 10"/>
          <p:cNvSpPr/>
          <p:nvPr/>
        </p:nvSpPr>
        <p:spPr>
          <a:xfrm>
            <a:off x="612648" y="4690872"/>
            <a:ext cx="1886041"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EVDE</a:t>
            </a:r>
          </a:p>
        </p:txBody>
      </p:sp>
      <p:sp>
        <p:nvSpPr>
          <p:cNvPr id="12" name="Rounded Rectangle 11"/>
          <p:cNvSpPr/>
          <p:nvPr/>
        </p:nvSpPr>
        <p:spPr>
          <a:xfrm>
            <a:off x="2773009" y="1947672"/>
            <a:ext cx="2105497" cy="3246120"/>
          </a:xfrm>
          <a:prstGeom prst="roundRect">
            <a:avLst>
              <a:gd name="adj" fmla="val 6000"/>
            </a:avLst>
          </a:prstGeom>
          <a:solidFill>
            <a:srgbClr val="F0F0F0"/>
          </a:solidFill>
          <a:ln>
            <a:noFill/>
          </a:ln>
          <a:effectLst/>
        </p:spPr>
        <p:txBody>
          <a:bodyPr rtlCol="0" anchor="ctr"/>
          <a:lstStyle/>
          <a:p/>
        </p:txBody>
      </p:sp>
      <p:sp>
        <p:nvSpPr>
          <p:cNvPr id="13" name="Rounded Rectangle 12"/>
          <p:cNvSpPr/>
          <p:nvPr/>
        </p:nvSpPr>
        <p:spPr>
          <a:xfrm>
            <a:off x="2773009" y="1947672"/>
            <a:ext cx="2105497" cy="777240"/>
          </a:xfrm>
          <a:prstGeom prst="roundRect">
            <a:avLst>
              <a:gd name="adj" fmla="val 12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2</a:t>
            </a:r>
          </a:p>
        </p:txBody>
      </p:sp>
      <p:sp>
        <p:nvSpPr>
          <p:cNvPr id="14" name="TextBox 13"/>
          <p:cNvSpPr txBox="1"/>
          <p:nvPr/>
        </p:nvSpPr>
        <p:spPr>
          <a:xfrm>
            <a:off x="2864449" y="2816352"/>
            <a:ext cx="1922617" cy="1325880"/>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262626"/>
                </a:solidFill>
                <a:latin typeface="Calibri"/>
              </a:rPr>
              <a:t>Bölgeyi oluşturan kriterler</a:t>
            </a:r>
          </a:p>
        </p:txBody>
      </p:sp>
      <p:sp>
        <p:nvSpPr>
          <p:cNvPr id="15" name="Rounded Rectangle 14"/>
          <p:cNvSpPr/>
          <p:nvPr/>
        </p:nvSpPr>
        <p:spPr>
          <a:xfrm>
            <a:off x="2882737" y="4233672"/>
            <a:ext cx="1886041" cy="411480"/>
          </a:xfrm>
          <a:prstGeom prst="roundRect">
            <a:avLst>
              <a:gd name="adj" fmla="val 30000"/>
            </a:avLst>
          </a:prstGeom>
          <a:solidFill>
            <a:srgbClr val="FFFFFF"/>
          </a:solidFill>
          <a:ln w="12700">
            <a:solidFill>
              <a:srgbClr val="B05A1E"/>
            </a:solidFill>
          </a:ln>
          <a:effectLst/>
        </p:spPr>
        <p:txBody>
          <a:bodyPr rtlCol="0" anchor="ctr" wrap="square" lIns="36576" rIns="36576" tIns="0" bIns="0">
            <a:noAutofit/>
          </a:bodyPr>
          <a:lstStyle/>
          <a:p>
            <a:pPr algn="ctr">
              <a:spcBef>
                <a:spcPts val="0"/>
              </a:spcBef>
              <a:spcAft>
                <a:spcPts val="0"/>
              </a:spcAft>
            </a:pPr>
            <a:r>
              <a:rPr lang="tr-TR" sz="1600" b="1" i="0">
                <a:solidFill>
                  <a:srgbClr val="B05A1E"/>
                </a:solidFill>
                <a:latin typeface="Calibri"/>
              </a:rPr>
              <a:t>açık uçlu</a:t>
            </a:r>
          </a:p>
        </p:txBody>
      </p:sp>
      <p:sp>
        <p:nvSpPr>
          <p:cNvPr id="16" name="Rounded Rectangle 15"/>
          <p:cNvSpPr/>
          <p:nvPr/>
        </p:nvSpPr>
        <p:spPr>
          <a:xfrm>
            <a:off x="2882737" y="4690872"/>
            <a:ext cx="1886041"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EVDE</a:t>
            </a:r>
          </a:p>
        </p:txBody>
      </p:sp>
      <p:sp>
        <p:nvSpPr>
          <p:cNvPr id="17" name="Rounded Rectangle 16"/>
          <p:cNvSpPr/>
          <p:nvPr/>
        </p:nvSpPr>
        <p:spPr>
          <a:xfrm>
            <a:off x="5043098" y="1947672"/>
            <a:ext cx="2105497" cy="3246120"/>
          </a:xfrm>
          <a:prstGeom prst="roundRect">
            <a:avLst>
              <a:gd name="adj" fmla="val 6000"/>
            </a:avLst>
          </a:prstGeom>
          <a:solidFill>
            <a:srgbClr val="F0F0F0"/>
          </a:solidFill>
          <a:ln>
            <a:noFill/>
          </a:ln>
          <a:effectLst/>
        </p:spPr>
        <p:txBody>
          <a:bodyPr rtlCol="0" anchor="ctr"/>
          <a:lstStyle/>
          <a:p/>
        </p:txBody>
      </p:sp>
      <p:sp>
        <p:nvSpPr>
          <p:cNvPr id="18" name="Rounded Rectangle 17"/>
          <p:cNvSpPr/>
          <p:nvPr/>
        </p:nvSpPr>
        <p:spPr>
          <a:xfrm>
            <a:off x="5043098" y="1947672"/>
            <a:ext cx="2105497" cy="777240"/>
          </a:xfrm>
          <a:prstGeom prst="roundRect">
            <a:avLst>
              <a:gd name="adj" fmla="val 12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3</a:t>
            </a:r>
          </a:p>
        </p:txBody>
      </p:sp>
      <p:sp>
        <p:nvSpPr>
          <p:cNvPr id="19" name="TextBox 18"/>
          <p:cNvSpPr txBox="1"/>
          <p:nvPr/>
        </p:nvSpPr>
        <p:spPr>
          <a:xfrm>
            <a:off x="5134538" y="2816352"/>
            <a:ext cx="1922617" cy="1325880"/>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262626"/>
                </a:solidFill>
                <a:latin typeface="Calibri"/>
              </a:rPr>
              <a:t>İskandinavya ile Türkiye: benzer mi, farklı mı?</a:t>
            </a:r>
          </a:p>
        </p:txBody>
      </p:sp>
      <p:sp>
        <p:nvSpPr>
          <p:cNvPr id="20" name="Rounded Rectangle 19"/>
          <p:cNvSpPr/>
          <p:nvPr/>
        </p:nvSpPr>
        <p:spPr>
          <a:xfrm>
            <a:off x="5152826" y="4233672"/>
            <a:ext cx="1886041" cy="411480"/>
          </a:xfrm>
          <a:prstGeom prst="roundRect">
            <a:avLst>
              <a:gd name="adj" fmla="val 30000"/>
            </a:avLst>
          </a:prstGeom>
          <a:solidFill>
            <a:srgbClr val="FFFFFF"/>
          </a:solidFill>
          <a:ln w="12700">
            <a:solidFill>
              <a:srgbClr val="2A5D8F"/>
            </a:solidFill>
          </a:ln>
          <a:effectLst/>
        </p:spPr>
        <p:txBody>
          <a:bodyPr rtlCol="0" anchor="ctr" wrap="square" lIns="36576" rIns="36576" tIns="0" bIns="0">
            <a:noAutofit/>
          </a:bodyPr>
          <a:lstStyle/>
          <a:p>
            <a:pPr algn="ctr">
              <a:spcBef>
                <a:spcPts val="0"/>
              </a:spcBef>
              <a:spcAft>
                <a:spcPts val="0"/>
              </a:spcAft>
            </a:pPr>
            <a:r>
              <a:rPr lang="tr-TR" sz="1600" b="1" i="0">
                <a:solidFill>
                  <a:srgbClr val="2A5D8F"/>
                </a:solidFill>
                <a:latin typeface="Calibri"/>
              </a:rPr>
              <a:t>açık uçlu</a:t>
            </a:r>
          </a:p>
        </p:txBody>
      </p:sp>
      <p:sp>
        <p:nvSpPr>
          <p:cNvPr id="21" name="Rounded Rectangle 20"/>
          <p:cNvSpPr/>
          <p:nvPr/>
        </p:nvSpPr>
        <p:spPr>
          <a:xfrm>
            <a:off x="5152826" y="4690872"/>
            <a:ext cx="1886041"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EVDE</a:t>
            </a:r>
          </a:p>
        </p:txBody>
      </p:sp>
      <p:sp>
        <p:nvSpPr>
          <p:cNvPr id="22" name="Rounded Rectangle 21"/>
          <p:cNvSpPr/>
          <p:nvPr/>
        </p:nvSpPr>
        <p:spPr>
          <a:xfrm>
            <a:off x="7313188" y="1947672"/>
            <a:ext cx="2105497" cy="3246120"/>
          </a:xfrm>
          <a:prstGeom prst="roundRect">
            <a:avLst>
              <a:gd name="adj" fmla="val 6000"/>
            </a:avLst>
          </a:prstGeom>
          <a:solidFill>
            <a:srgbClr val="F0F0F0"/>
          </a:solidFill>
          <a:ln>
            <a:noFill/>
          </a:ln>
          <a:effectLst/>
        </p:spPr>
        <p:txBody>
          <a:bodyPr rtlCol="0" anchor="ctr"/>
          <a:lstStyle/>
          <a:p/>
        </p:txBody>
      </p:sp>
      <p:sp>
        <p:nvSpPr>
          <p:cNvPr id="23" name="Rounded Rectangle 22"/>
          <p:cNvSpPr/>
          <p:nvPr/>
        </p:nvSpPr>
        <p:spPr>
          <a:xfrm>
            <a:off x="7313188" y="1947672"/>
            <a:ext cx="2105497" cy="777240"/>
          </a:xfrm>
          <a:prstGeom prst="roundRect">
            <a:avLst>
              <a:gd name="adj" fmla="val 12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4</a:t>
            </a:r>
          </a:p>
        </p:txBody>
      </p:sp>
      <p:sp>
        <p:nvSpPr>
          <p:cNvPr id="24" name="TextBox 23"/>
          <p:cNvSpPr txBox="1"/>
          <p:nvPr/>
        </p:nvSpPr>
        <p:spPr>
          <a:xfrm>
            <a:off x="7404628" y="2816352"/>
            <a:ext cx="1922617" cy="1325880"/>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262626"/>
                </a:solidFill>
                <a:latin typeface="Calibri"/>
              </a:rPr>
              <a:t>Orman haritası: hangi öğrenciler doğru?</a:t>
            </a:r>
          </a:p>
        </p:txBody>
      </p:sp>
      <p:sp>
        <p:nvSpPr>
          <p:cNvPr id="25" name="Rounded Rectangle 24"/>
          <p:cNvSpPr/>
          <p:nvPr/>
        </p:nvSpPr>
        <p:spPr>
          <a:xfrm>
            <a:off x="7422916" y="4233672"/>
            <a:ext cx="1886041" cy="411480"/>
          </a:xfrm>
          <a:prstGeom prst="roundRect">
            <a:avLst>
              <a:gd name="adj" fmla="val 30000"/>
            </a:avLst>
          </a:prstGeom>
          <a:solidFill>
            <a:srgbClr val="FFFFFF"/>
          </a:solidFill>
          <a:ln w="12700">
            <a:solidFill>
              <a:srgbClr val="2A5D8F"/>
            </a:solidFill>
          </a:ln>
          <a:effectLst/>
        </p:spPr>
        <p:txBody>
          <a:bodyPr rtlCol="0" anchor="ctr" wrap="square" lIns="36576" rIns="36576" tIns="0" bIns="0">
            <a:noAutofit/>
          </a:bodyPr>
          <a:lstStyle/>
          <a:p>
            <a:pPr algn="ctr">
              <a:spcBef>
                <a:spcPts val="0"/>
              </a:spcBef>
              <a:spcAft>
                <a:spcPts val="0"/>
              </a:spcAft>
            </a:pPr>
            <a:r>
              <a:rPr lang="tr-TR" sz="1600" b="1" i="0">
                <a:solidFill>
                  <a:srgbClr val="2A5D8F"/>
                </a:solidFill>
                <a:latin typeface="Calibri"/>
              </a:rPr>
              <a:t>çoktan seçmeli</a:t>
            </a:r>
          </a:p>
        </p:txBody>
      </p:sp>
      <p:sp>
        <p:nvSpPr>
          <p:cNvPr id="26" name="Rounded Rectangle 25"/>
          <p:cNvSpPr/>
          <p:nvPr/>
        </p:nvSpPr>
        <p:spPr>
          <a:xfrm>
            <a:off x="7422916" y="4690872"/>
            <a:ext cx="1886041" cy="411480"/>
          </a:xfrm>
          <a:prstGeom prst="roundRect">
            <a:avLst>
              <a:gd name="adj" fmla="val 30000"/>
            </a:avLst>
          </a:prstGeom>
          <a:solidFill>
            <a:srgbClr val="2A5D8F"/>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SINIFTA</a:t>
            </a:r>
          </a:p>
        </p:txBody>
      </p:sp>
      <p:sp>
        <p:nvSpPr>
          <p:cNvPr id="27" name="Rounded Rectangle 26"/>
          <p:cNvSpPr/>
          <p:nvPr/>
        </p:nvSpPr>
        <p:spPr>
          <a:xfrm>
            <a:off x="9583277" y="1947672"/>
            <a:ext cx="2105497" cy="3246120"/>
          </a:xfrm>
          <a:prstGeom prst="roundRect">
            <a:avLst>
              <a:gd name="adj" fmla="val 6000"/>
            </a:avLst>
          </a:prstGeom>
          <a:solidFill>
            <a:srgbClr val="F0F0F0"/>
          </a:solidFill>
          <a:ln>
            <a:noFill/>
          </a:ln>
          <a:effectLst/>
        </p:spPr>
        <p:txBody>
          <a:bodyPr rtlCol="0" anchor="ctr"/>
          <a:lstStyle/>
          <a:p/>
        </p:txBody>
      </p:sp>
      <p:sp>
        <p:nvSpPr>
          <p:cNvPr id="28" name="Rounded Rectangle 27"/>
          <p:cNvSpPr/>
          <p:nvPr/>
        </p:nvSpPr>
        <p:spPr>
          <a:xfrm>
            <a:off x="9583277" y="1947672"/>
            <a:ext cx="2105497" cy="777240"/>
          </a:xfrm>
          <a:prstGeom prst="roundRect">
            <a:avLst>
              <a:gd name="adj" fmla="val 12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5</a:t>
            </a:r>
          </a:p>
        </p:txBody>
      </p:sp>
      <p:sp>
        <p:nvSpPr>
          <p:cNvPr id="29" name="TextBox 28"/>
          <p:cNvSpPr txBox="1"/>
          <p:nvPr/>
        </p:nvSpPr>
        <p:spPr>
          <a:xfrm>
            <a:off x="9674717" y="2816352"/>
            <a:ext cx="1922617" cy="1325880"/>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262626"/>
                </a:solidFill>
                <a:latin typeface="Calibri"/>
              </a:rPr>
              <a:t>Bir alan, birden çok bölgede</a:t>
            </a:r>
          </a:p>
        </p:txBody>
      </p:sp>
      <p:sp>
        <p:nvSpPr>
          <p:cNvPr id="30" name="Rounded Rectangle 29"/>
          <p:cNvSpPr/>
          <p:nvPr/>
        </p:nvSpPr>
        <p:spPr>
          <a:xfrm>
            <a:off x="9693005" y="4233672"/>
            <a:ext cx="1886041" cy="411480"/>
          </a:xfrm>
          <a:prstGeom prst="roundRect">
            <a:avLst>
              <a:gd name="adj" fmla="val 30000"/>
            </a:avLst>
          </a:prstGeom>
          <a:solidFill>
            <a:srgbClr val="FFFFFF"/>
          </a:solidFill>
          <a:ln w="12700">
            <a:solidFill>
              <a:srgbClr val="2A5D8F"/>
            </a:solidFill>
          </a:ln>
          <a:effectLst/>
        </p:spPr>
        <p:txBody>
          <a:bodyPr rtlCol="0" anchor="ctr" wrap="square" lIns="36576" rIns="36576" tIns="0" bIns="0">
            <a:noAutofit/>
          </a:bodyPr>
          <a:lstStyle/>
          <a:p>
            <a:pPr algn="ctr">
              <a:spcBef>
                <a:spcPts val="0"/>
              </a:spcBef>
              <a:spcAft>
                <a:spcPts val="0"/>
              </a:spcAft>
            </a:pPr>
            <a:r>
              <a:rPr lang="tr-TR" sz="1600" b="1" i="0">
                <a:solidFill>
                  <a:srgbClr val="2A5D8F"/>
                </a:solidFill>
                <a:latin typeface="Calibri"/>
              </a:rPr>
              <a:t>çoktan seçmeli</a:t>
            </a:r>
          </a:p>
        </p:txBody>
      </p:sp>
      <p:sp>
        <p:nvSpPr>
          <p:cNvPr id="31" name="Rounded Rectangle 30"/>
          <p:cNvSpPr/>
          <p:nvPr/>
        </p:nvSpPr>
        <p:spPr>
          <a:xfrm>
            <a:off x="9693005" y="4690872"/>
            <a:ext cx="1886041" cy="411480"/>
          </a:xfrm>
          <a:prstGeom prst="roundRect">
            <a:avLst>
              <a:gd name="adj" fmla="val 30000"/>
            </a:avLst>
          </a:prstGeom>
          <a:solidFill>
            <a:srgbClr val="2A5D8F"/>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SINIFTA</a:t>
            </a:r>
          </a:p>
        </p:txBody>
      </p:sp>
      <p:sp>
        <p:nvSpPr>
          <p:cNvPr id="32" name="Rounded Rectangle 31"/>
          <p:cNvSpPr/>
          <p:nvPr/>
        </p:nvSpPr>
        <p:spPr>
          <a:xfrm>
            <a:off x="502920" y="5330952"/>
            <a:ext cx="11185855" cy="9601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300"/>
              </a:spcAft>
            </a:pPr>
            <a:r>
              <a:rPr lang="tr-TR" sz="2100" b="1" i="0">
                <a:solidFill>
                  <a:srgbClr val="262626"/>
                </a:solidFill>
                <a:latin typeface="Calibri"/>
              </a:rPr>
              <a:t>4 ve 5. sorular sınıfta · 1, 2 ve 3. sorular evde, deftere</a:t>
            </a:r>
          </a:p>
          <a:p>
            <a:pPr algn="ctr">
              <a:spcBef>
                <a:spcPts val="0"/>
              </a:spcBef>
              <a:spcAft>
                <a:spcPts val="0"/>
              </a:spcAft>
            </a:pPr>
            <a:r>
              <a:rPr lang="tr-TR" sz="1800" b="0" i="0">
                <a:solidFill>
                  <a:srgbClr val="262626"/>
                </a:solidFill>
                <a:latin typeface="Calibri"/>
              </a:rPr>
              <a:t>Karekoddaki 9 ek soru (EBA) bu bölümün sonunda: tahtada birlikte, telefon gerekmez</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226-227</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146 / 187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1-3. sorular: İskandinav Kültür Bölgesi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1-3</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1-3. soruları aşağıda verilen metne göre cevaplayınız.</a:t>
            </a:r>
          </a:p>
        </p:txBody>
      </p:sp>
      <p:sp>
        <p:nvSpPr>
          <p:cNvPr id="7" name="Rounded Rectangle 6"/>
          <p:cNvSpPr/>
          <p:nvPr/>
        </p:nvSpPr>
        <p:spPr>
          <a:xfrm>
            <a:off x="502920" y="1627632"/>
            <a:ext cx="4709160" cy="4617720"/>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B05A1E"/>
          </a:solidFill>
          <a:ln>
            <a:noFill/>
          </a:ln>
          <a:effectLst/>
        </p:spPr>
        <p:txBody>
          <a:bodyPr rtlCol="0" anchor="ctr"/>
          <a:lstStyle/>
          <a:p/>
        </p:txBody>
      </p:sp>
      <p:sp>
        <p:nvSpPr>
          <p:cNvPr id="9" name="TextBox 8"/>
          <p:cNvSpPr txBox="1"/>
          <p:nvPr/>
        </p:nvSpPr>
        <p:spPr>
          <a:xfrm>
            <a:off x="777240" y="1664208"/>
            <a:ext cx="4297680" cy="4544568"/>
          </a:xfrm>
          <a:prstGeom prst="rect">
            <a:avLst/>
          </a:prstGeom>
          <a:noFill/>
        </p:spPr>
        <p:txBody>
          <a:bodyPr wrap="square" anchor="ctr" lIns="73152" rIns="73152" tIns="36576" bIns="36576">
            <a:noAutofit/>
          </a:bodyPr>
          <a:lstStyle/>
          <a:p>
            <a:pPr algn="l">
              <a:spcBef>
                <a:spcPts val="0"/>
              </a:spcBef>
              <a:spcAft>
                <a:spcPts val="1283"/>
              </a:spcAft>
            </a:pPr>
            <a:r>
              <a:rPr lang="tr-TR" sz="2200" b="0" i="0">
                <a:solidFill>
                  <a:srgbClr val="262626"/>
                </a:solidFill>
                <a:latin typeface="Calibri"/>
              </a:rPr>
              <a:t>İskandinav kültürü; Avrupa kıtasının kuzeyinde Aland ve Faroe adaları, Norveç, İsveç, Danimarka, Finlandiya, İzlanda, Grönland’ın bulunduğu bölgede yer alan bir kültürdür.</a:t>
            </a:r>
          </a:p>
          <a:p>
            <a:pPr algn="l">
              <a:spcBef>
                <a:spcPts val="0"/>
              </a:spcBef>
              <a:spcAft>
                <a:spcPts val="1283"/>
              </a:spcAft>
            </a:pPr>
            <a:r>
              <a:rPr lang="tr-TR" sz="2200" b="0" i="0">
                <a:solidFill>
                  <a:srgbClr val="262626"/>
                </a:solidFill>
                <a:latin typeface="Calibri"/>
              </a:rPr>
              <a:t>İskandinav Kültür Bölgesi’nin oluşmasındaki en önemli kriter Nordik kültürüne sahip toplumların bu alanda yaşamasıdır.</a:t>
            </a:r>
          </a:p>
          <a:p>
            <a:pPr algn="l">
              <a:spcBef>
                <a:spcPts val="0"/>
              </a:spcBef>
              <a:spcAft>
                <a:spcPts val="0"/>
              </a:spcAft>
            </a:pPr>
            <a:r>
              <a:rPr lang="tr-TR" sz="2200" b="0" i="0">
                <a:solidFill>
                  <a:srgbClr val="262626"/>
                </a:solidFill>
                <a:latin typeface="Calibri"/>
              </a:rPr>
              <a:t>Bölge topraklarının üçte biri kutup dairesi içinde yer almaktadır.</a:t>
            </a:r>
          </a:p>
        </p:txBody>
      </p:sp>
      <p:pic>
        <p:nvPicPr>
          <p:cNvPr id="10" name="Picture 9" descr="sonu_iskandinav_s226.jpg"/>
          <p:cNvPicPr>
            <a:picLocks noChangeAspect="1"/>
          </p:cNvPicPr>
          <p:nvPr/>
        </p:nvPicPr>
        <p:blipFill>
          <a:blip r:embed="rId3"/>
          <a:stretch>
            <a:fillRect/>
          </a:stretch>
        </p:blipFill>
        <p:spPr>
          <a:xfrm>
            <a:off x="5394960" y="1627632"/>
            <a:ext cx="6293815" cy="2786780"/>
          </a:xfrm>
          <a:prstGeom prst="rect">
            <a:avLst/>
          </a:prstGeom>
          <a:ln w="9525">
            <a:solidFill>
              <a:srgbClr val="D9D9D9"/>
            </a:solidFill>
          </a:ln>
        </p:spPr>
      </p:pic>
      <p:sp>
        <p:nvSpPr>
          <p:cNvPr id="11" name="TextBox 10"/>
          <p:cNvSpPr txBox="1"/>
          <p:nvPr/>
        </p:nvSpPr>
        <p:spPr>
          <a:xfrm>
            <a:off x="5394960" y="4441844"/>
            <a:ext cx="629381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226</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147 / 187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1-3. sorular: nüfus, iklim ve tarım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1-3</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1-3. soruları aşağıda verilen metne göre cevaplayınız.</a:t>
            </a:r>
          </a:p>
        </p:txBody>
      </p:sp>
      <p:sp>
        <p:nvSpPr>
          <p:cNvPr id="7" name="Rounded Rectangle 6"/>
          <p:cNvSpPr/>
          <p:nvPr/>
        </p:nvSpPr>
        <p:spPr>
          <a:xfrm>
            <a:off x="502920" y="1627632"/>
            <a:ext cx="11185855" cy="4617720"/>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3E7D3A"/>
          </a:solidFill>
          <a:ln>
            <a:noFill/>
          </a:ln>
          <a:effectLst/>
        </p:spPr>
        <p:txBody>
          <a:bodyPr rtlCol="0" anchor="ctr"/>
          <a:lstStyle/>
          <a:p/>
        </p:txBody>
      </p:sp>
      <p:sp>
        <p:nvSpPr>
          <p:cNvPr id="9" name="TextBox 8"/>
          <p:cNvSpPr txBox="1"/>
          <p:nvPr/>
        </p:nvSpPr>
        <p:spPr>
          <a:xfrm>
            <a:off x="777240" y="1664208"/>
            <a:ext cx="10774375" cy="4544568"/>
          </a:xfrm>
          <a:prstGeom prst="rect">
            <a:avLst/>
          </a:prstGeom>
          <a:noFill/>
        </p:spPr>
        <p:txBody>
          <a:bodyPr wrap="square" anchor="ctr" lIns="73152" rIns="73152" tIns="36576" bIns="36576">
            <a:noAutofit/>
          </a:bodyPr>
          <a:lstStyle/>
          <a:p>
            <a:pPr algn="l">
              <a:spcBef>
                <a:spcPts val="0"/>
              </a:spcBef>
              <a:spcAft>
                <a:spcPts val="1153"/>
              </a:spcAft>
            </a:pPr>
            <a:r>
              <a:rPr lang="tr-TR" sz="2500" b="0" i="0">
                <a:solidFill>
                  <a:srgbClr val="262626"/>
                </a:solidFill>
                <a:latin typeface="Calibri"/>
              </a:rPr>
              <a:t>Bölgenin toplam nüfusu 27 milyonun üzerindedir.</a:t>
            </a:r>
          </a:p>
          <a:p>
            <a:pPr algn="l">
              <a:spcBef>
                <a:spcPts val="0"/>
              </a:spcBef>
              <a:spcAft>
                <a:spcPts val="1153"/>
              </a:spcAft>
            </a:pPr>
            <a:r>
              <a:rPr lang="tr-TR" sz="2500" b="0" i="0">
                <a:solidFill>
                  <a:srgbClr val="262626"/>
                </a:solidFill>
                <a:latin typeface="Calibri"/>
              </a:rPr>
              <a:t>Nüfusun büyük çoğunluğu, soğuk iklim şartları nedeniyle bölgedeki ülkelerin güney kesimlerinde yaşamaktadır.</a:t>
            </a:r>
          </a:p>
          <a:p>
            <a:pPr algn="l">
              <a:spcBef>
                <a:spcPts val="0"/>
              </a:spcBef>
              <a:spcAft>
                <a:spcPts val="1153"/>
              </a:spcAft>
            </a:pPr>
            <a:r>
              <a:rPr lang="tr-TR" sz="2500" b="0" i="0">
                <a:solidFill>
                  <a:srgbClr val="262626"/>
                </a:solidFill>
                <a:latin typeface="Calibri"/>
              </a:rPr>
              <a:t>Bölgenin kuzey kesimlerinde yaz mevsimi kısa sürer.</a:t>
            </a:r>
          </a:p>
          <a:p>
            <a:pPr algn="l">
              <a:spcBef>
                <a:spcPts val="0"/>
              </a:spcBef>
              <a:spcAft>
                <a:spcPts val="1153"/>
              </a:spcAft>
            </a:pPr>
            <a:r>
              <a:rPr lang="tr-TR" sz="2500" b="0" i="0">
                <a:solidFill>
                  <a:srgbClr val="262626"/>
                </a:solidFill>
                <a:latin typeface="Calibri"/>
              </a:rPr>
              <a:t>Bu nedenle bölgede 50˚ kuzey enleminin kuzeyindeki alanlar tundra iklim bölgesi sınırları içinde yer almaktadır.</a:t>
            </a:r>
          </a:p>
          <a:p>
            <a:pPr algn="l">
              <a:spcBef>
                <a:spcPts val="0"/>
              </a:spcBef>
              <a:spcAft>
                <a:spcPts val="1153"/>
              </a:spcAft>
            </a:pPr>
            <a:r>
              <a:rPr lang="tr-TR" sz="2500" b="0" i="0">
                <a:solidFill>
                  <a:srgbClr val="262626"/>
                </a:solidFill>
                <a:latin typeface="Calibri"/>
              </a:rPr>
              <a:t>İskandinav Kültür Bölgesi’nde yer alan ülkelerde tarım alanları oldukça sınırlıdır.</a:t>
            </a:r>
          </a:p>
          <a:p>
            <a:pPr algn="l">
              <a:spcBef>
                <a:spcPts val="0"/>
              </a:spcBef>
              <a:spcAft>
                <a:spcPts val="0"/>
              </a:spcAft>
            </a:pPr>
            <a:r>
              <a:rPr lang="tr-TR" sz="2500" b="0" i="0">
                <a:solidFill>
                  <a:srgbClr val="262626"/>
                </a:solidFill>
                <a:latin typeface="Calibri"/>
              </a:rPr>
              <a:t>Örneğin İsveç’in orta ve güney kesimlerinde yer alan tarım toprakları, ülke topraklarının yaklaşık %10’una karşılık gelmektedir.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148 / 187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1-3. sorular: ekonomi ve dikkat çeken özellikler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1-3</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1-3. soruları aşağıda verilen metne göre cevaplayınız.</a:t>
            </a:r>
          </a:p>
        </p:txBody>
      </p:sp>
      <p:sp>
        <p:nvSpPr>
          <p:cNvPr id="7" name="Rounded Rectangle 6"/>
          <p:cNvSpPr/>
          <p:nvPr/>
        </p:nvSpPr>
        <p:spPr>
          <a:xfrm>
            <a:off x="502920" y="1627632"/>
            <a:ext cx="11185855" cy="4617720"/>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2A5D8F"/>
          </a:solidFill>
          <a:ln>
            <a:noFill/>
          </a:ln>
          <a:effectLst/>
        </p:spPr>
        <p:txBody>
          <a:bodyPr rtlCol="0" anchor="ctr"/>
          <a:lstStyle/>
          <a:p/>
        </p:txBody>
      </p:sp>
      <p:sp>
        <p:nvSpPr>
          <p:cNvPr id="9" name="TextBox 8"/>
          <p:cNvSpPr txBox="1"/>
          <p:nvPr/>
        </p:nvSpPr>
        <p:spPr>
          <a:xfrm>
            <a:off x="777240" y="1664208"/>
            <a:ext cx="10774375" cy="4544568"/>
          </a:xfrm>
          <a:prstGeom prst="rect">
            <a:avLst/>
          </a:prstGeom>
          <a:noFill/>
        </p:spPr>
        <p:txBody>
          <a:bodyPr wrap="square" anchor="ctr" lIns="73152" rIns="73152" tIns="36576" bIns="36576">
            <a:noAutofit/>
          </a:bodyPr>
          <a:lstStyle/>
          <a:p>
            <a:pPr algn="l">
              <a:spcBef>
                <a:spcPts val="0"/>
              </a:spcBef>
              <a:spcAft>
                <a:spcPts val="1084"/>
              </a:spcAft>
            </a:pPr>
            <a:r>
              <a:rPr lang="tr-TR" sz="2350" b="0" i="0">
                <a:solidFill>
                  <a:srgbClr val="262626"/>
                </a:solidFill>
                <a:latin typeface="Calibri"/>
              </a:rPr>
              <a:t>Norveç’te balıkçılık yaygın ekonomik faaliyetlerdendir.</a:t>
            </a:r>
          </a:p>
          <a:p>
            <a:pPr algn="l">
              <a:spcBef>
                <a:spcPts val="0"/>
              </a:spcBef>
              <a:spcAft>
                <a:spcPts val="1084"/>
              </a:spcAft>
            </a:pPr>
            <a:r>
              <a:rPr lang="tr-TR" sz="2350" b="0" i="0">
                <a:solidFill>
                  <a:srgbClr val="262626"/>
                </a:solidFill>
                <a:latin typeface="Calibri"/>
              </a:rPr>
              <a:t>Özellikle somon balıkçılığı yoğun olarak yapılmaktadır.</a:t>
            </a:r>
          </a:p>
          <a:p>
            <a:pPr algn="l">
              <a:spcBef>
                <a:spcPts val="0"/>
              </a:spcBef>
              <a:spcAft>
                <a:spcPts val="1084"/>
              </a:spcAft>
            </a:pPr>
            <a:r>
              <a:rPr lang="tr-TR" sz="2350" b="0" i="0">
                <a:solidFill>
                  <a:srgbClr val="262626"/>
                </a:solidFill>
                <a:latin typeface="Calibri"/>
              </a:rPr>
              <a:t>İsveç ve Norveç zengin petrol yataklarına sahiptir.</a:t>
            </a:r>
          </a:p>
          <a:p>
            <a:pPr algn="l">
              <a:spcBef>
                <a:spcPts val="0"/>
              </a:spcBef>
              <a:spcAft>
                <a:spcPts val="1084"/>
              </a:spcAft>
            </a:pPr>
            <a:r>
              <a:rPr lang="tr-TR" sz="2350" b="0" i="0">
                <a:solidFill>
                  <a:srgbClr val="262626"/>
                </a:solidFill>
                <a:latin typeface="Calibri"/>
              </a:rPr>
              <a:t>Ayrıca İzlanda’nın aktif volkan alanları, Norveç’teki fiyortlar, Finlandiya’daki buzul gölleri bölgenin dikkat çeken coğrafi özelliklerindendir.</a:t>
            </a:r>
          </a:p>
          <a:p>
            <a:pPr algn="l">
              <a:spcBef>
                <a:spcPts val="0"/>
              </a:spcBef>
              <a:spcAft>
                <a:spcPts val="1084"/>
              </a:spcAft>
            </a:pPr>
            <a:r>
              <a:rPr lang="tr-TR" sz="2350" b="0" i="0">
                <a:solidFill>
                  <a:srgbClr val="262626"/>
                </a:solidFill>
                <a:latin typeface="Calibri"/>
              </a:rPr>
              <a:t>İskandinav Kültür Bölgesi’nde yer alan ülkelerin refah seviyesi oldukça yüksektir.</a:t>
            </a:r>
          </a:p>
          <a:p>
            <a:pPr algn="l">
              <a:spcBef>
                <a:spcPts val="0"/>
              </a:spcBef>
              <a:spcAft>
                <a:spcPts val="1084"/>
              </a:spcAft>
            </a:pPr>
            <a:r>
              <a:rPr lang="tr-TR" sz="2350" b="0" i="0">
                <a:solidFill>
                  <a:srgbClr val="262626"/>
                </a:solidFill>
                <a:latin typeface="Calibri"/>
              </a:rPr>
              <a:t>Bu nedenle söz konusu ülkeler Birleşmiş Milletler İnsani Gelişmişlik Endeksi’nde üst sıralarda yer alırlar.</a:t>
            </a:r>
          </a:p>
          <a:p>
            <a:pPr algn="l">
              <a:spcBef>
                <a:spcPts val="0"/>
              </a:spcBef>
              <a:spcAft>
                <a:spcPts val="0"/>
              </a:spcAft>
            </a:pPr>
            <a:r>
              <a:rPr lang="tr-TR" sz="2350" b="0" i="0">
                <a:solidFill>
                  <a:srgbClr val="262626"/>
                </a:solidFill>
                <a:latin typeface="Calibri"/>
              </a:rPr>
              <a:t>Ayrıca Danimarka (1973), İsveç (1995) ve Finlandiya (1995) Avrupa Birliği’ne üye ülkelerdir.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149 / 187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1.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ounded Rectangle 5"/>
          <p:cNvSpPr/>
          <p:nvPr/>
        </p:nvSpPr>
        <p:spPr>
          <a:xfrm>
            <a:off x="502920" y="1216152"/>
            <a:ext cx="11185855" cy="91440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9903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8" name="TextBox 7"/>
          <p:cNvSpPr txBox="1"/>
          <p:nvPr/>
        </p:nvSpPr>
        <p:spPr>
          <a:xfrm>
            <a:off x="1280160" y="1216152"/>
            <a:ext cx="10317175" cy="9144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İklim kriterleri göz önüne alındığında İskandinav Kültür Bölgesi’nin içinde yer aldığı doğal şekilsel bölgeler hangileridir?</a:t>
            </a:r>
          </a:p>
        </p:txBody>
      </p:sp>
      <p:pic>
        <p:nvPicPr>
          <p:cNvPr id="9" name="Picture 8" descr="sonu_iklim_kuzey_s218.jpg"/>
          <p:cNvPicPr>
            <a:picLocks noChangeAspect="1"/>
          </p:cNvPicPr>
          <p:nvPr/>
        </p:nvPicPr>
        <p:blipFill>
          <a:blip r:embed="rId3"/>
          <a:stretch>
            <a:fillRect/>
          </a:stretch>
        </p:blipFill>
        <p:spPr>
          <a:xfrm>
            <a:off x="779525" y="2267712"/>
            <a:ext cx="7798003" cy="3749040"/>
          </a:xfrm>
          <a:prstGeom prst="rect">
            <a:avLst/>
          </a:prstGeom>
          <a:ln w="9525">
            <a:solidFill>
              <a:srgbClr val="D9D9D9"/>
            </a:solidFill>
          </a:ln>
        </p:spPr>
      </p:pic>
      <p:sp>
        <p:nvSpPr>
          <p:cNvPr id="10" name="TextBox 9"/>
          <p:cNvSpPr txBox="1"/>
          <p:nvPr/>
        </p:nvSpPr>
        <p:spPr>
          <a:xfrm>
            <a:off x="779525" y="6035040"/>
            <a:ext cx="7798003"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218 (Dünya iklim tipleri dağılışı; kırpıldı)</a:t>
            </a:r>
          </a:p>
        </p:txBody>
      </p:sp>
      <p:pic>
        <p:nvPicPr>
          <p:cNvPr id="11" name="Picture 10" descr="sonu_iklim_lejant_s218.jpg"/>
          <p:cNvPicPr>
            <a:picLocks noChangeAspect="1"/>
          </p:cNvPicPr>
          <p:nvPr/>
        </p:nvPicPr>
        <p:blipFill>
          <a:blip r:embed="rId4"/>
          <a:stretch>
            <a:fillRect/>
          </a:stretch>
        </p:blipFill>
        <p:spPr>
          <a:xfrm>
            <a:off x="9165927" y="2267712"/>
            <a:ext cx="2439655" cy="3749040"/>
          </a:xfrm>
          <a:prstGeom prst="rect">
            <a:avLst/>
          </a:prstGeom>
          <a:ln w="9525">
            <a:solidFill>
              <a:srgbClr val="D9D9D9"/>
            </a:solidFill>
          </a:ln>
        </p:spPr>
      </p:pic>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 226</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150 / 187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pic>
        <p:nvPicPr>
          <p:cNvPr id="6" name="Picture 5" descr="sonu_iklim_kuzey_s218.jpg"/>
          <p:cNvPicPr>
            <a:picLocks noChangeAspect="1"/>
          </p:cNvPicPr>
          <p:nvPr/>
        </p:nvPicPr>
        <p:blipFill>
          <a:blip r:embed="rId3"/>
          <a:stretch>
            <a:fillRect/>
          </a:stretch>
        </p:blipFill>
        <p:spPr>
          <a:xfrm>
            <a:off x="502920" y="1261872"/>
            <a:ext cx="5989320" cy="2879480"/>
          </a:xfrm>
          <a:prstGeom prst="rect">
            <a:avLst/>
          </a:prstGeom>
          <a:ln w="9525">
            <a:solidFill>
              <a:srgbClr val="D9D9D9"/>
            </a:solidFill>
          </a:ln>
        </p:spPr>
      </p:pic>
      <p:sp>
        <p:nvSpPr>
          <p:cNvPr id="7" name="TextBox 6"/>
          <p:cNvSpPr txBox="1"/>
          <p:nvPr/>
        </p:nvSpPr>
        <p:spPr>
          <a:xfrm>
            <a:off x="502920" y="4159640"/>
            <a:ext cx="598932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218 · numaralar sunuma aittir</a:t>
            </a:r>
          </a:p>
        </p:txBody>
      </p:sp>
      <p:sp>
        <p:nvSpPr>
          <p:cNvPr id="8" name="Oval 7"/>
          <p:cNvSpPr/>
          <p:nvPr/>
        </p:nvSpPr>
        <p:spPr>
          <a:xfrm>
            <a:off x="4226136" y="2726382"/>
            <a:ext cx="384048" cy="384048"/>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9" name="Oval 8"/>
          <p:cNvSpPr/>
          <p:nvPr/>
        </p:nvSpPr>
        <p:spPr>
          <a:xfrm>
            <a:off x="5496094" y="2870912"/>
            <a:ext cx="384048" cy="384048"/>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10" name="Oval 9"/>
          <p:cNvSpPr/>
          <p:nvPr/>
        </p:nvSpPr>
        <p:spPr>
          <a:xfrm>
            <a:off x="2906268" y="2459558"/>
            <a:ext cx="384048" cy="384048"/>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11" name="Oval 10"/>
          <p:cNvSpPr/>
          <p:nvPr/>
        </p:nvSpPr>
        <p:spPr>
          <a:xfrm>
            <a:off x="1963504" y="1981498"/>
            <a:ext cx="384048" cy="384048"/>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12" name="Oval 11"/>
          <p:cNvSpPr/>
          <p:nvPr/>
        </p:nvSpPr>
        <p:spPr>
          <a:xfrm>
            <a:off x="965284" y="1742467"/>
            <a:ext cx="384048" cy="384048"/>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13" name="Rounded Rectangle 12"/>
          <p:cNvSpPr/>
          <p:nvPr/>
        </p:nvSpPr>
        <p:spPr>
          <a:xfrm>
            <a:off x="502920" y="4461392"/>
            <a:ext cx="5989320" cy="1829680"/>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Haritaya göre tek bir kültür bölgesi, dört ayrı iklim bölgesinin sınırları içinde yer alır.</a:t>
            </a:r>
          </a:p>
        </p:txBody>
      </p:sp>
      <p:sp>
        <p:nvSpPr>
          <p:cNvPr id="14" name="Rounded Rectangle 13"/>
          <p:cNvSpPr/>
          <p:nvPr/>
        </p:nvSpPr>
        <p:spPr>
          <a:xfrm>
            <a:off x="6693408" y="1261872"/>
            <a:ext cx="4995367" cy="1175004"/>
          </a:xfrm>
          <a:prstGeom prst="roundRect">
            <a:avLst>
              <a:gd name="adj" fmla="val 8000"/>
            </a:avLst>
          </a:prstGeom>
          <a:solidFill>
            <a:srgbClr val="E3F1E4"/>
          </a:solidFill>
          <a:ln w="15875">
            <a:solidFill>
              <a:srgbClr val="2E7D32"/>
            </a:solidFill>
          </a:ln>
          <a:effectLst/>
        </p:spPr>
        <p:txBody>
          <a:bodyPr rtlCol="0" anchor="ctr"/>
          <a:lstStyle/>
          <a:p/>
        </p:txBody>
      </p:sp>
      <p:sp>
        <p:nvSpPr>
          <p:cNvPr id="15" name="Rounded Rectangle 14"/>
          <p:cNvSpPr/>
          <p:nvPr/>
        </p:nvSpPr>
        <p:spPr>
          <a:xfrm>
            <a:off x="6803136" y="1371600"/>
            <a:ext cx="457200" cy="955548"/>
          </a:xfrm>
          <a:prstGeom prst="roundRect">
            <a:avLst>
              <a:gd name="adj" fmla="val 20000"/>
            </a:avLst>
          </a:prstGeom>
          <a:solidFill>
            <a:srgbClr val="0F783C"/>
          </a:solidFill>
          <a:ln w="9525">
            <a:solidFill>
              <a:srgbClr val="4F4F4F"/>
            </a:solidFill>
          </a:ln>
          <a:effectLst/>
        </p:spPr>
        <p:txBody>
          <a:bodyPr rtlCol="0" anchor="ctr"/>
          <a:lstStyle/>
          <a:p/>
        </p:txBody>
      </p:sp>
      <p:sp>
        <p:nvSpPr>
          <p:cNvPr id="16" name="Oval 15"/>
          <p:cNvSpPr/>
          <p:nvPr/>
        </p:nvSpPr>
        <p:spPr>
          <a:xfrm>
            <a:off x="6848856" y="1666494"/>
            <a:ext cx="365760" cy="365760"/>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7" name="TextBox 16"/>
          <p:cNvSpPr txBox="1"/>
          <p:nvPr/>
        </p:nvSpPr>
        <p:spPr>
          <a:xfrm>
            <a:off x="7379208" y="1289304"/>
            <a:ext cx="4218127"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Okyanusal iklim</a:t>
            </a:r>
          </a:p>
        </p:txBody>
      </p:sp>
      <p:sp>
        <p:nvSpPr>
          <p:cNvPr id="18" name="TextBox 17"/>
          <p:cNvSpPr txBox="1"/>
          <p:nvPr/>
        </p:nvSpPr>
        <p:spPr>
          <a:xfrm>
            <a:off x="7379208" y="1673352"/>
            <a:ext cx="4218127" cy="71780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Norveç'in Atlas kıyıları, İsveç'in güneyi, Danimarka</a:t>
            </a:r>
          </a:p>
        </p:txBody>
      </p:sp>
      <p:sp>
        <p:nvSpPr>
          <p:cNvPr id="19" name="Rounded Rectangle 18"/>
          <p:cNvSpPr/>
          <p:nvPr/>
        </p:nvSpPr>
        <p:spPr>
          <a:xfrm>
            <a:off x="6693408" y="2546604"/>
            <a:ext cx="4995367" cy="1175004"/>
          </a:xfrm>
          <a:prstGeom prst="roundRect">
            <a:avLst>
              <a:gd name="adj" fmla="val 8000"/>
            </a:avLst>
          </a:prstGeom>
          <a:solidFill>
            <a:srgbClr val="E3F1E4"/>
          </a:solidFill>
          <a:ln w="15875">
            <a:solidFill>
              <a:srgbClr val="2E7D32"/>
            </a:solidFill>
          </a:ln>
          <a:effectLst/>
        </p:spPr>
        <p:txBody>
          <a:bodyPr rtlCol="0" anchor="ctr"/>
          <a:lstStyle/>
          <a:p/>
        </p:txBody>
      </p:sp>
      <p:sp>
        <p:nvSpPr>
          <p:cNvPr id="20" name="Rounded Rectangle 19"/>
          <p:cNvSpPr/>
          <p:nvPr/>
        </p:nvSpPr>
        <p:spPr>
          <a:xfrm>
            <a:off x="6803136" y="2656332"/>
            <a:ext cx="457200" cy="955548"/>
          </a:xfrm>
          <a:prstGeom prst="roundRect">
            <a:avLst>
              <a:gd name="adj" fmla="val 20000"/>
            </a:avLst>
          </a:prstGeom>
          <a:solidFill>
            <a:srgbClr val="B789BD"/>
          </a:solidFill>
          <a:ln w="9525">
            <a:solidFill>
              <a:srgbClr val="4F4F4F"/>
            </a:solidFill>
          </a:ln>
          <a:effectLst/>
        </p:spPr>
        <p:txBody>
          <a:bodyPr rtlCol="0" anchor="ctr"/>
          <a:lstStyle/>
          <a:p/>
        </p:txBody>
      </p:sp>
      <p:sp>
        <p:nvSpPr>
          <p:cNvPr id="21" name="Oval 20"/>
          <p:cNvSpPr/>
          <p:nvPr/>
        </p:nvSpPr>
        <p:spPr>
          <a:xfrm>
            <a:off x="6848856" y="2951226"/>
            <a:ext cx="365760" cy="365760"/>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2" name="TextBox 21"/>
          <p:cNvSpPr txBox="1"/>
          <p:nvPr/>
        </p:nvSpPr>
        <p:spPr>
          <a:xfrm>
            <a:off x="7379208" y="2574036"/>
            <a:ext cx="4218127"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Sert karasal iklim</a:t>
            </a:r>
          </a:p>
        </p:txBody>
      </p:sp>
      <p:sp>
        <p:nvSpPr>
          <p:cNvPr id="23" name="TextBox 22"/>
          <p:cNvSpPr txBox="1"/>
          <p:nvPr/>
        </p:nvSpPr>
        <p:spPr>
          <a:xfrm>
            <a:off x="7379208" y="2958084"/>
            <a:ext cx="4218127" cy="71780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İsveç, Finlandiya ve Norveç'in iç kesimleri</a:t>
            </a:r>
          </a:p>
        </p:txBody>
      </p:sp>
      <p:sp>
        <p:nvSpPr>
          <p:cNvPr id="24" name="Rounded Rectangle 23"/>
          <p:cNvSpPr/>
          <p:nvPr/>
        </p:nvSpPr>
        <p:spPr>
          <a:xfrm>
            <a:off x="6693408" y="3831336"/>
            <a:ext cx="4995367" cy="1175004"/>
          </a:xfrm>
          <a:prstGeom prst="roundRect">
            <a:avLst>
              <a:gd name="adj" fmla="val 8000"/>
            </a:avLst>
          </a:prstGeom>
          <a:solidFill>
            <a:srgbClr val="E3F1E4"/>
          </a:solidFill>
          <a:ln w="15875">
            <a:solidFill>
              <a:srgbClr val="2E7D32"/>
            </a:solidFill>
          </a:ln>
          <a:effectLst/>
        </p:spPr>
        <p:txBody>
          <a:bodyPr rtlCol="0" anchor="ctr"/>
          <a:lstStyle/>
          <a:p/>
        </p:txBody>
      </p:sp>
      <p:sp>
        <p:nvSpPr>
          <p:cNvPr id="25" name="Rounded Rectangle 24"/>
          <p:cNvSpPr/>
          <p:nvPr/>
        </p:nvSpPr>
        <p:spPr>
          <a:xfrm>
            <a:off x="6803136" y="3941064"/>
            <a:ext cx="457200" cy="955548"/>
          </a:xfrm>
          <a:prstGeom prst="roundRect">
            <a:avLst>
              <a:gd name="adj" fmla="val 20000"/>
            </a:avLst>
          </a:prstGeom>
          <a:solidFill>
            <a:srgbClr val="E3DAE4"/>
          </a:solidFill>
          <a:ln w="9525">
            <a:solidFill>
              <a:srgbClr val="4F4F4F"/>
            </a:solidFill>
          </a:ln>
          <a:effectLst/>
        </p:spPr>
        <p:txBody>
          <a:bodyPr rtlCol="0" anchor="ctr"/>
          <a:lstStyle/>
          <a:p/>
        </p:txBody>
      </p:sp>
      <p:sp>
        <p:nvSpPr>
          <p:cNvPr id="26" name="Oval 25"/>
          <p:cNvSpPr/>
          <p:nvPr/>
        </p:nvSpPr>
        <p:spPr>
          <a:xfrm>
            <a:off x="6848856" y="4235958"/>
            <a:ext cx="365760" cy="365760"/>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7" name="TextBox 26"/>
          <p:cNvSpPr txBox="1"/>
          <p:nvPr/>
        </p:nvSpPr>
        <p:spPr>
          <a:xfrm>
            <a:off x="7379208" y="3858768"/>
            <a:ext cx="4218127"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Tundra iklimi</a:t>
            </a:r>
          </a:p>
        </p:txBody>
      </p:sp>
      <p:sp>
        <p:nvSpPr>
          <p:cNvPr id="28" name="TextBox 27"/>
          <p:cNvSpPr txBox="1"/>
          <p:nvPr/>
        </p:nvSpPr>
        <p:spPr>
          <a:xfrm>
            <a:off x="7379208" y="4242816"/>
            <a:ext cx="4218127" cy="71780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İzlanda, Grönland kıyıları, en kuzeydeki kıyılar, Norveç dağlarının yükseği</a:t>
            </a:r>
          </a:p>
        </p:txBody>
      </p:sp>
      <p:sp>
        <p:nvSpPr>
          <p:cNvPr id="29" name="Rounded Rectangle 28"/>
          <p:cNvSpPr/>
          <p:nvPr/>
        </p:nvSpPr>
        <p:spPr>
          <a:xfrm>
            <a:off x="6693408" y="5116068"/>
            <a:ext cx="4995367" cy="1175004"/>
          </a:xfrm>
          <a:prstGeom prst="roundRect">
            <a:avLst>
              <a:gd name="adj" fmla="val 8000"/>
            </a:avLst>
          </a:prstGeom>
          <a:solidFill>
            <a:srgbClr val="E3F1E4"/>
          </a:solidFill>
          <a:ln w="15875">
            <a:solidFill>
              <a:srgbClr val="2E7D32"/>
            </a:solidFill>
          </a:ln>
          <a:effectLst/>
        </p:spPr>
        <p:txBody>
          <a:bodyPr rtlCol="0" anchor="ctr"/>
          <a:lstStyle/>
          <a:p/>
        </p:txBody>
      </p:sp>
      <p:sp>
        <p:nvSpPr>
          <p:cNvPr id="30" name="Rounded Rectangle 29"/>
          <p:cNvSpPr/>
          <p:nvPr/>
        </p:nvSpPr>
        <p:spPr>
          <a:xfrm>
            <a:off x="6803136" y="5225796"/>
            <a:ext cx="457200" cy="955548"/>
          </a:xfrm>
          <a:prstGeom prst="roundRect">
            <a:avLst>
              <a:gd name="adj" fmla="val 20000"/>
            </a:avLst>
          </a:prstGeom>
          <a:solidFill>
            <a:srgbClr val="FFFFFF"/>
          </a:solidFill>
          <a:ln w="9525">
            <a:solidFill>
              <a:srgbClr val="4F4F4F"/>
            </a:solidFill>
          </a:ln>
          <a:effectLst/>
        </p:spPr>
        <p:txBody>
          <a:bodyPr rtlCol="0" anchor="ctr"/>
          <a:lstStyle/>
          <a:p/>
        </p:txBody>
      </p:sp>
      <p:sp>
        <p:nvSpPr>
          <p:cNvPr id="31" name="Oval 30"/>
          <p:cNvSpPr/>
          <p:nvPr/>
        </p:nvSpPr>
        <p:spPr>
          <a:xfrm>
            <a:off x="6848856" y="5520690"/>
            <a:ext cx="365760" cy="365760"/>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32" name="TextBox 31"/>
          <p:cNvSpPr txBox="1"/>
          <p:nvPr/>
        </p:nvSpPr>
        <p:spPr>
          <a:xfrm>
            <a:off x="7379208" y="5143500"/>
            <a:ext cx="4218127"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Kutup iklimi</a:t>
            </a:r>
          </a:p>
        </p:txBody>
      </p:sp>
      <p:sp>
        <p:nvSpPr>
          <p:cNvPr id="33" name="TextBox 32"/>
          <p:cNvSpPr txBox="1"/>
          <p:nvPr/>
        </p:nvSpPr>
        <p:spPr>
          <a:xfrm>
            <a:off x="7379208" y="5527548"/>
            <a:ext cx="4218127" cy="71780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Grönland'ın iç kesimi</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 226</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151 / 187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2.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16152"/>
            <a:ext cx="11185855" cy="91440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9903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8" name="TextBox 7"/>
          <p:cNvSpPr txBox="1"/>
          <p:nvPr/>
        </p:nvSpPr>
        <p:spPr>
          <a:xfrm>
            <a:off x="1280160" y="1216152"/>
            <a:ext cx="10317175" cy="9144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İskandinav Kültür Bölgesi’nin oluşmasında öne çıkan bölge belirleme kriterleri nelerdir? Açıklayınız.</a:t>
            </a:r>
          </a:p>
        </p:txBody>
      </p:sp>
      <p:sp>
        <p:nvSpPr>
          <p:cNvPr id="9" name="Rounded Rectangle 8"/>
          <p:cNvSpPr/>
          <p:nvPr/>
        </p:nvSpPr>
        <p:spPr>
          <a:xfrm>
            <a:off x="502920" y="2313432"/>
            <a:ext cx="11185855" cy="1234440"/>
          </a:xfrm>
          <a:prstGeom prst="roundRect">
            <a:avLst>
              <a:gd name="adj" fmla="val 5000"/>
            </a:avLst>
          </a:prstGeom>
          <a:solidFill>
            <a:srgbClr val="F0F0F0"/>
          </a:solidFill>
          <a:ln>
            <a:noFill/>
          </a:ln>
          <a:effectLst/>
        </p:spPr>
        <p:txBody>
          <a:bodyPr rtlCol="0" anchor="ctr"/>
          <a:lstStyle/>
          <a:p/>
        </p:txBody>
      </p:sp>
      <p:sp>
        <p:nvSpPr>
          <p:cNvPr id="10" name="Rectangle 9"/>
          <p:cNvSpPr/>
          <p:nvPr/>
        </p:nvSpPr>
        <p:spPr>
          <a:xfrm>
            <a:off x="502920" y="2313432"/>
            <a:ext cx="118872" cy="1234440"/>
          </a:xfrm>
          <a:prstGeom prst="rect">
            <a:avLst/>
          </a:prstGeom>
          <a:solidFill>
            <a:srgbClr val="2A5D8F"/>
          </a:solidFill>
          <a:ln>
            <a:noFill/>
          </a:ln>
          <a:effectLst/>
        </p:spPr>
        <p:txBody>
          <a:bodyPr rtlCol="0" anchor="ctr"/>
          <a:lstStyle/>
          <a:p/>
        </p:txBody>
      </p:sp>
      <p:sp>
        <p:nvSpPr>
          <p:cNvPr id="11" name="TextBox 10"/>
          <p:cNvSpPr txBox="1"/>
          <p:nvPr/>
        </p:nvSpPr>
        <p:spPr>
          <a:xfrm>
            <a:off x="777240" y="2350008"/>
            <a:ext cx="10774375" cy="1161288"/>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767676"/>
                </a:solidFill>
                <a:latin typeface="Calibri"/>
              </a:rPr>
              <a:t>Hatırla (s. 217):</a:t>
            </a:r>
          </a:p>
          <a:p>
            <a:pPr algn="l">
              <a:spcBef>
                <a:spcPts val="0"/>
              </a:spcBef>
              <a:spcAft>
                <a:spcPts val="0"/>
              </a:spcAft>
            </a:pPr>
            <a:r>
              <a:rPr lang="tr-TR" sz="2200" b="0" i="0">
                <a:solidFill>
                  <a:srgbClr val="262626"/>
                </a:solidFill>
                <a:latin typeface="Calibri"/>
              </a:rPr>
              <a:t>Bu kriterler, fiziki unsurlar (yer şekilleri, iklim, bitki örtüsü vb.) ve beşerî unsurlardır (nüfus, yerleşme, sanayi, tarım, turizm vb.).</a:t>
            </a:r>
          </a:p>
        </p:txBody>
      </p:sp>
      <p:sp>
        <p:nvSpPr>
          <p:cNvPr id="12" name="Rounded Rectangle 11"/>
          <p:cNvSpPr/>
          <p:nvPr/>
        </p:nvSpPr>
        <p:spPr>
          <a:xfrm>
            <a:off x="502920" y="3730752"/>
            <a:ext cx="3606698" cy="256032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502920" y="3730752"/>
            <a:ext cx="3606698" cy="457200"/>
          </a:xfrm>
          <a:prstGeom prst="roundRect">
            <a:avLst>
              <a:gd name="adj" fmla="val 20000"/>
            </a:avLst>
          </a:prstGeom>
          <a:solidFill>
            <a:srgbClr val="FCC021"/>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1 · BUL</a:t>
            </a:r>
          </a:p>
        </p:txBody>
      </p:sp>
      <p:sp>
        <p:nvSpPr>
          <p:cNvPr id="14" name="TextBox 13"/>
          <p:cNvSpPr txBox="1"/>
          <p:nvPr/>
        </p:nvSpPr>
        <p:spPr>
          <a:xfrm>
            <a:off x="612648" y="4242816"/>
            <a:ext cx="3387242" cy="1993392"/>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Metinde 'kriter' kelimesinin geçtiği cümleyi bul.</a:t>
            </a:r>
          </a:p>
        </p:txBody>
      </p:sp>
      <p:sp>
        <p:nvSpPr>
          <p:cNvPr id="15" name="Rounded Rectangle 14"/>
          <p:cNvSpPr/>
          <p:nvPr/>
        </p:nvSpPr>
        <p:spPr>
          <a:xfrm>
            <a:off x="4292498" y="3730752"/>
            <a:ext cx="3606698" cy="256032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4292498" y="3730752"/>
            <a:ext cx="3606698" cy="457200"/>
          </a:xfrm>
          <a:prstGeom prst="roundRect">
            <a:avLst>
              <a:gd name="adj" fmla="val 20000"/>
            </a:avLst>
          </a:prstGeom>
          <a:solidFill>
            <a:srgbClr val="FCC021"/>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2 · SINIFLA</a:t>
            </a:r>
          </a:p>
        </p:txBody>
      </p:sp>
      <p:sp>
        <p:nvSpPr>
          <p:cNvPr id="17" name="TextBox 16"/>
          <p:cNvSpPr txBox="1"/>
          <p:nvPr/>
        </p:nvSpPr>
        <p:spPr>
          <a:xfrm>
            <a:off x="4402226" y="4242816"/>
            <a:ext cx="3387242" cy="1993392"/>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Bu kriter fiziki mi, beşerî mi?</a:t>
            </a:r>
          </a:p>
        </p:txBody>
      </p:sp>
      <p:sp>
        <p:nvSpPr>
          <p:cNvPr id="18" name="Rounded Rectangle 17"/>
          <p:cNvSpPr/>
          <p:nvPr/>
        </p:nvSpPr>
        <p:spPr>
          <a:xfrm>
            <a:off x="8082076" y="3730752"/>
            <a:ext cx="3606698" cy="256032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82076" y="3730752"/>
            <a:ext cx="3606698" cy="457200"/>
          </a:xfrm>
          <a:prstGeom prst="roundRect">
            <a:avLst>
              <a:gd name="adj" fmla="val 20000"/>
            </a:avLst>
          </a:prstGeom>
          <a:solidFill>
            <a:srgbClr val="FCC021"/>
          </a:solidFill>
          <a:ln>
            <a:no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3 · KANITLA</a:t>
            </a:r>
          </a:p>
        </p:txBody>
      </p:sp>
      <p:sp>
        <p:nvSpPr>
          <p:cNvPr id="20" name="TextBox 19"/>
          <p:cNvSpPr txBox="1"/>
          <p:nvPr/>
        </p:nvSpPr>
        <p:spPr>
          <a:xfrm>
            <a:off x="8191804" y="4242816"/>
            <a:ext cx="3387242" cy="1993392"/>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Bölgeyi tanıtan başka özellikleri metinden göster.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 226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152 / 187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61872"/>
            <a:ext cx="3606698" cy="434340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61872"/>
            <a:ext cx="3606698" cy="457200"/>
          </a:xfrm>
          <a:prstGeom prst="roundRect">
            <a:avLst>
              <a:gd name="adj" fmla="val 20000"/>
            </a:avLst>
          </a:prstGeom>
          <a:solidFill>
            <a:srgbClr val="B05A1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ÖNE ÇIKAN KRİTER: KÜLTÜR</a:t>
            </a:r>
          </a:p>
        </p:txBody>
      </p:sp>
      <p:sp>
        <p:nvSpPr>
          <p:cNvPr id="8" name="TextBox 7"/>
          <p:cNvSpPr txBox="1"/>
          <p:nvPr/>
        </p:nvSpPr>
        <p:spPr>
          <a:xfrm>
            <a:off x="612648" y="1773936"/>
            <a:ext cx="3387242" cy="3776472"/>
          </a:xfrm>
          <a:prstGeom prst="rect">
            <a:avLst/>
          </a:prstGeom>
          <a:noFill/>
        </p:spPr>
        <p:txBody>
          <a:bodyPr wrap="square" anchor="t" lIns="73152" rIns="73152" tIns="36576" bIns="36576">
            <a:noAutofit/>
          </a:bodyPr>
          <a:lstStyle/>
          <a:p>
            <a:pPr algn="l">
              <a:spcBef>
                <a:spcPts val="0"/>
              </a:spcBef>
              <a:spcAft>
                <a:spcPts val="500"/>
              </a:spcAft>
            </a:pPr>
            <a:r>
              <a:rPr lang="tr-TR" sz="2000" b="0" i="1">
                <a:solidFill>
                  <a:srgbClr val="262626"/>
                </a:solidFill>
                <a:latin typeface="Calibri"/>
              </a:rPr>
              <a:t>“İskandinav Kültür Bölgesi’nin oluşmasındaki en önemli kriter Nordik kültürüne sahip toplumların bu alanda yaşamasıdır.”</a:t>
            </a:r>
          </a:p>
          <a:p>
            <a:pPr algn="l">
              <a:spcBef>
                <a:spcPts val="0"/>
              </a:spcBef>
              <a:spcAft>
                <a:spcPts val="0"/>
              </a:spcAft>
            </a:pPr>
            <a:r>
              <a:rPr lang="tr-TR" sz="2000" b="1" i="0">
                <a:solidFill>
                  <a:srgbClr val="262626"/>
                </a:solidFill>
                <a:latin typeface="Calibri"/>
              </a:rPr>
              <a:t>→ beşerî bir unsurdur</a:t>
            </a:r>
          </a:p>
        </p:txBody>
      </p:sp>
      <p:sp>
        <p:nvSpPr>
          <p:cNvPr id="9" name="Rounded Rectangle 8"/>
          <p:cNvSpPr/>
          <p:nvPr/>
        </p:nvSpPr>
        <p:spPr>
          <a:xfrm>
            <a:off x="4292498" y="1261872"/>
            <a:ext cx="3606698" cy="4343400"/>
          </a:xfrm>
          <a:prstGeom prst="roundRect">
            <a:avLst>
              <a:gd name="adj" fmla="val 5000"/>
            </a:avLst>
          </a:prstGeom>
          <a:solidFill>
            <a:srgbClr val="E3F1E4"/>
          </a:solidFill>
          <a:ln>
            <a:noFill/>
          </a:ln>
          <a:effectLst/>
        </p:spPr>
        <p:txBody>
          <a:bodyPr rtlCol="0" anchor="ctr"/>
          <a:lstStyle/>
          <a:p/>
        </p:txBody>
      </p:sp>
      <p:sp>
        <p:nvSpPr>
          <p:cNvPr id="10" name="Rounded Rectangle 9"/>
          <p:cNvSpPr/>
          <p:nvPr/>
        </p:nvSpPr>
        <p:spPr>
          <a:xfrm>
            <a:off x="4292498" y="1261872"/>
            <a:ext cx="3606698" cy="457200"/>
          </a:xfrm>
          <a:prstGeom prst="roundRect">
            <a:avLst>
              <a:gd name="adj" fmla="val 20000"/>
            </a:avLst>
          </a:prstGeom>
          <a:solidFill>
            <a:srgbClr val="B05A1E"/>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BÖLGE TÜRÜ: BEŞERÎ ŞEKİLSEL</a:t>
            </a:r>
          </a:p>
        </p:txBody>
      </p:sp>
      <p:sp>
        <p:nvSpPr>
          <p:cNvPr id="11" name="TextBox 10"/>
          <p:cNvSpPr txBox="1"/>
          <p:nvPr/>
        </p:nvSpPr>
        <p:spPr>
          <a:xfrm>
            <a:off x="4402226" y="1773936"/>
            <a:ext cx="3387242" cy="3776472"/>
          </a:xfrm>
          <a:prstGeom prst="rect">
            <a:avLst/>
          </a:prstGeom>
          <a:noFill/>
        </p:spPr>
        <p:txBody>
          <a:bodyPr wrap="square" anchor="t" lIns="73152" rIns="73152" tIns="36576" bIns="36576">
            <a:noAutofit/>
          </a:bodyPr>
          <a:lstStyle/>
          <a:p>
            <a:pPr algn="l">
              <a:spcBef>
                <a:spcPts val="0"/>
              </a:spcBef>
              <a:spcAft>
                <a:spcPts val="500"/>
              </a:spcAft>
            </a:pPr>
            <a:r>
              <a:rPr lang="tr-TR" sz="2000" b="0" i="1">
                <a:solidFill>
                  <a:srgbClr val="262626"/>
                </a:solidFill>
                <a:latin typeface="Calibri"/>
              </a:rPr>
              <a:t>“Ham madde, üretim, sanayi, nüfus, yerleşme ve kültür ile siyasi, askerî, ekonomik iş birliği gibi beşerî ve ekonomik unsurların esas alındığı bölgelere de beşerî şekilsel bölge denir.”</a:t>
            </a:r>
          </a:p>
          <a:p>
            <a:pPr algn="l">
              <a:spcBef>
                <a:spcPts val="0"/>
              </a:spcBef>
              <a:spcAft>
                <a:spcPts val="0"/>
              </a:spcAft>
            </a:pPr>
            <a:r>
              <a:rPr lang="tr-TR" sz="2000" b="1" i="0">
                <a:solidFill>
                  <a:srgbClr val="262626"/>
                </a:solidFill>
                <a:latin typeface="Calibri"/>
              </a:rPr>
              <a:t>→ kültür bölgesi (s. 219: Türk kültür bölgesi gibi)</a:t>
            </a:r>
          </a:p>
        </p:txBody>
      </p:sp>
      <p:sp>
        <p:nvSpPr>
          <p:cNvPr id="12" name="Rounded Rectangle 11"/>
          <p:cNvSpPr/>
          <p:nvPr/>
        </p:nvSpPr>
        <p:spPr>
          <a:xfrm>
            <a:off x="8082076" y="1261872"/>
            <a:ext cx="3606698" cy="4343400"/>
          </a:xfrm>
          <a:prstGeom prst="roundRect">
            <a:avLst>
              <a:gd name="adj" fmla="val 5000"/>
            </a:avLst>
          </a:prstGeom>
          <a:solidFill>
            <a:srgbClr val="E3F1E4"/>
          </a:solidFill>
          <a:ln>
            <a:noFill/>
          </a:ln>
          <a:effectLst/>
        </p:spPr>
        <p:txBody>
          <a:bodyPr rtlCol="0" anchor="ctr"/>
          <a:lstStyle/>
          <a:p/>
        </p:txBody>
      </p:sp>
      <p:sp>
        <p:nvSpPr>
          <p:cNvPr id="13" name="Rounded Rectangle 12"/>
          <p:cNvSpPr/>
          <p:nvPr/>
        </p:nvSpPr>
        <p:spPr>
          <a:xfrm>
            <a:off x="8082076" y="1261872"/>
            <a:ext cx="3606698" cy="457200"/>
          </a:xfrm>
          <a:prstGeom prst="roundRect">
            <a:avLst>
              <a:gd name="adj" fmla="val 20000"/>
            </a:avLst>
          </a:prstGeom>
          <a:solidFill>
            <a:srgbClr val="2A5D8F"/>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BÖLGEYİ TANITAN ÖTEKİ ÖZELLİKLER</a:t>
            </a:r>
          </a:p>
        </p:txBody>
      </p:sp>
      <p:sp>
        <p:nvSpPr>
          <p:cNvPr id="14" name="TextBox 13"/>
          <p:cNvSpPr txBox="1"/>
          <p:nvPr/>
        </p:nvSpPr>
        <p:spPr>
          <a:xfrm>
            <a:off x="8191804" y="1773936"/>
            <a:ext cx="3387242" cy="3776472"/>
          </a:xfrm>
          <a:prstGeom prst="rect">
            <a:avLst/>
          </a:prstGeom>
          <a:noFill/>
        </p:spPr>
        <p:txBody>
          <a:bodyPr wrap="square" anchor="t" lIns="73152" rIns="73152" tIns="36576" bIns="36576">
            <a:noAutofit/>
          </a:bodyPr>
          <a:lstStyle/>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Avrupa'nın kuzeyinde; topraklarının üçte biri kutup dairesinde</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Soğuk iklim, kısa yaz</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Refah seviyesi yüksek</a:t>
            </a:r>
          </a:p>
        </p:txBody>
      </p:sp>
      <p:sp>
        <p:nvSpPr>
          <p:cNvPr id="15" name="Rounded Rectangle 14"/>
          <p:cNvSpPr/>
          <p:nvPr/>
        </p:nvSpPr>
        <p:spPr>
          <a:xfrm>
            <a:off x="502920" y="5742432"/>
            <a:ext cx="11185855" cy="5486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Ölçüt: kriterin adı + fiziki/beşerî ayrımı + metinden kanıt</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226</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153 / 187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3.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91440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9903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8" name="TextBox 7"/>
          <p:cNvSpPr txBox="1"/>
          <p:nvPr/>
        </p:nvSpPr>
        <p:spPr>
          <a:xfrm>
            <a:off x="1280160" y="1216152"/>
            <a:ext cx="10317175" cy="9144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İskandinav Kültür Bölgesi ile Türkiye arasında coğrafi özellikler bakımından ne gibi benzerlik ve farklılıklar vardır? Örneklendirerek açıklayınız.</a:t>
            </a:r>
          </a:p>
        </p:txBody>
      </p:sp>
      <p:sp>
        <p:nvSpPr>
          <p:cNvPr id="9" name="Rounded Rectangle 8"/>
          <p:cNvSpPr/>
          <p:nvPr/>
        </p:nvSpPr>
        <p:spPr>
          <a:xfrm>
            <a:off x="502920" y="2313432"/>
            <a:ext cx="3618890" cy="777240"/>
          </a:xfrm>
          <a:prstGeom prst="roundRect">
            <a:avLst>
              <a:gd name="adj" fmla="val 25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İKLİM</a:t>
            </a:r>
          </a:p>
        </p:txBody>
      </p:sp>
      <p:sp>
        <p:nvSpPr>
          <p:cNvPr id="10" name="Rounded Rectangle 9"/>
          <p:cNvSpPr/>
          <p:nvPr/>
        </p:nvSpPr>
        <p:spPr>
          <a:xfrm>
            <a:off x="4286402" y="2313432"/>
            <a:ext cx="3618890" cy="777240"/>
          </a:xfrm>
          <a:prstGeom prst="roundRect">
            <a:avLst>
              <a:gd name="adj" fmla="val 25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YER ŞEKİLLERİ</a:t>
            </a:r>
          </a:p>
        </p:txBody>
      </p:sp>
      <p:sp>
        <p:nvSpPr>
          <p:cNvPr id="11" name="Rounded Rectangle 10"/>
          <p:cNvSpPr/>
          <p:nvPr/>
        </p:nvSpPr>
        <p:spPr>
          <a:xfrm>
            <a:off x="8069884" y="2313432"/>
            <a:ext cx="3618890" cy="777240"/>
          </a:xfrm>
          <a:prstGeom prst="roundRect">
            <a:avLst>
              <a:gd name="adj" fmla="val 25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KIYI VE BALIKÇILIK</a:t>
            </a:r>
          </a:p>
        </p:txBody>
      </p:sp>
      <p:sp>
        <p:nvSpPr>
          <p:cNvPr id="12" name="Rounded Rectangle 11"/>
          <p:cNvSpPr/>
          <p:nvPr/>
        </p:nvSpPr>
        <p:spPr>
          <a:xfrm>
            <a:off x="502920" y="3255264"/>
            <a:ext cx="3618890" cy="777240"/>
          </a:xfrm>
          <a:prstGeom prst="roundRect">
            <a:avLst>
              <a:gd name="adj" fmla="val 25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TARIM</a:t>
            </a:r>
          </a:p>
        </p:txBody>
      </p:sp>
      <p:sp>
        <p:nvSpPr>
          <p:cNvPr id="13" name="Rounded Rectangle 12"/>
          <p:cNvSpPr/>
          <p:nvPr/>
        </p:nvSpPr>
        <p:spPr>
          <a:xfrm>
            <a:off x="4286402" y="3255264"/>
            <a:ext cx="3618890" cy="777240"/>
          </a:xfrm>
          <a:prstGeom prst="roundRect">
            <a:avLst>
              <a:gd name="adj" fmla="val 25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KÜLTÜR</a:t>
            </a:r>
          </a:p>
        </p:txBody>
      </p:sp>
      <p:sp>
        <p:nvSpPr>
          <p:cNvPr id="14" name="Rounded Rectangle 13"/>
          <p:cNvSpPr/>
          <p:nvPr/>
        </p:nvSpPr>
        <p:spPr>
          <a:xfrm>
            <a:off x="8069884" y="3255264"/>
            <a:ext cx="3618890" cy="777240"/>
          </a:xfrm>
          <a:prstGeom prst="roundRect">
            <a:avLst>
              <a:gd name="adj" fmla="val 25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AVRUPA BİRLİĞİ</a:t>
            </a:r>
          </a:p>
        </p:txBody>
      </p:sp>
      <p:sp>
        <p:nvSpPr>
          <p:cNvPr id="15" name="Rounded Rectangle 14"/>
          <p:cNvSpPr/>
          <p:nvPr/>
        </p:nvSpPr>
        <p:spPr>
          <a:xfrm>
            <a:off x="502920" y="4306824"/>
            <a:ext cx="5478627" cy="502920"/>
          </a:xfrm>
          <a:prstGeom prst="roundRect">
            <a:avLst>
              <a:gd name="adj" fmla="val 20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BENZERLİK</a:t>
            </a:r>
          </a:p>
        </p:txBody>
      </p:sp>
      <p:sp>
        <p:nvSpPr>
          <p:cNvPr id="16" name="Rounded Rectangle 15"/>
          <p:cNvSpPr/>
          <p:nvPr/>
        </p:nvSpPr>
        <p:spPr>
          <a:xfrm>
            <a:off x="502920" y="4855464"/>
            <a:ext cx="5478627" cy="1435608"/>
          </a:xfrm>
          <a:prstGeom prst="roundRect">
            <a:avLst>
              <a:gd name="adj" fmla="val 6000"/>
            </a:avLst>
          </a:prstGeom>
          <a:solidFill>
            <a:srgbClr val="FFFFFF"/>
          </a:solidFill>
          <a:ln w="12700">
            <a:solidFill>
              <a:srgbClr val="D9D9D9"/>
            </a:solidFill>
          </a:ln>
          <a:effectLst/>
        </p:spPr>
        <p:txBody>
          <a:bodyPr rtlCol="0" anchor="ctr"/>
          <a:lstStyle/>
          <a:p/>
        </p:txBody>
      </p:sp>
      <p:sp>
        <p:nvSpPr>
          <p:cNvPr id="17" name="TextBox 16"/>
          <p:cNvSpPr txBox="1"/>
          <p:nvPr/>
        </p:nvSpPr>
        <p:spPr>
          <a:xfrm>
            <a:off x="685800" y="4901184"/>
            <a:ext cx="5112867" cy="1344168"/>
          </a:xfrm>
          <a:prstGeom prst="rect">
            <a:avLst/>
          </a:prstGeom>
          <a:noFill/>
        </p:spPr>
        <p:txBody>
          <a:bodyPr wrap="square" anchor="t" lIns="73152" rIns="73152" tIns="36576" bIns="36576">
            <a:noAutofit/>
          </a:bodyPr>
          <a:lstStyle/>
          <a:p>
            <a:pPr algn="l">
              <a:spcBef>
                <a:spcPts val="0"/>
              </a:spcBef>
              <a:spcAft>
                <a:spcPts val="0"/>
              </a:spcAft>
            </a:pPr>
            <a:r>
              <a:rPr lang="tr-TR" sz="1800" b="0" i="1">
                <a:solidFill>
                  <a:srgbClr val="767676"/>
                </a:solidFill>
                <a:latin typeface="Calibri"/>
              </a:rPr>
              <a:t>En az iki örnek yaz.</a:t>
            </a:r>
          </a:p>
        </p:txBody>
      </p:sp>
      <p:sp>
        <p:nvSpPr>
          <p:cNvPr id="18" name="Rounded Rectangle 17"/>
          <p:cNvSpPr/>
          <p:nvPr/>
        </p:nvSpPr>
        <p:spPr>
          <a:xfrm>
            <a:off x="6210147" y="4306824"/>
            <a:ext cx="5478627" cy="502920"/>
          </a:xfrm>
          <a:prstGeom prst="roundRect">
            <a:avLst>
              <a:gd name="adj" fmla="val 20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FARKLILIK</a:t>
            </a:r>
          </a:p>
        </p:txBody>
      </p:sp>
      <p:sp>
        <p:nvSpPr>
          <p:cNvPr id="19" name="Rounded Rectangle 18"/>
          <p:cNvSpPr/>
          <p:nvPr/>
        </p:nvSpPr>
        <p:spPr>
          <a:xfrm>
            <a:off x="6210147" y="4855464"/>
            <a:ext cx="5478627" cy="1435608"/>
          </a:xfrm>
          <a:prstGeom prst="roundRect">
            <a:avLst>
              <a:gd name="adj" fmla="val 6000"/>
            </a:avLst>
          </a:prstGeom>
          <a:solidFill>
            <a:srgbClr val="FFFFFF"/>
          </a:solidFill>
          <a:ln w="12700">
            <a:solidFill>
              <a:srgbClr val="D9D9D9"/>
            </a:solidFill>
          </a:ln>
          <a:effectLst/>
        </p:spPr>
        <p:txBody>
          <a:bodyPr rtlCol="0" anchor="ctr"/>
          <a:lstStyle/>
          <a:p/>
        </p:txBody>
      </p:sp>
      <p:sp>
        <p:nvSpPr>
          <p:cNvPr id="20" name="TextBox 19"/>
          <p:cNvSpPr txBox="1"/>
          <p:nvPr/>
        </p:nvSpPr>
        <p:spPr>
          <a:xfrm>
            <a:off x="6393027" y="4901184"/>
            <a:ext cx="5112867" cy="1344168"/>
          </a:xfrm>
          <a:prstGeom prst="rect">
            <a:avLst/>
          </a:prstGeom>
          <a:noFill/>
        </p:spPr>
        <p:txBody>
          <a:bodyPr wrap="square" anchor="t" lIns="73152" rIns="73152" tIns="36576" bIns="36576">
            <a:noAutofit/>
          </a:bodyPr>
          <a:lstStyle/>
          <a:p>
            <a:pPr algn="l">
              <a:spcBef>
                <a:spcPts val="0"/>
              </a:spcBef>
              <a:spcAft>
                <a:spcPts val="0"/>
              </a:spcAft>
            </a:pPr>
            <a:r>
              <a:rPr lang="tr-TR" sz="1800" b="0" i="1">
                <a:solidFill>
                  <a:srgbClr val="767676"/>
                </a:solidFill>
                <a:latin typeface="Calibri"/>
              </a:rPr>
              <a:t>En az iki örnek yaz.</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154 / 187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61872"/>
            <a:ext cx="5478627" cy="438912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61872"/>
            <a:ext cx="5478627" cy="457200"/>
          </a:xfrm>
          <a:prstGeom prst="roundRect">
            <a:avLst>
              <a:gd name="adj" fmla="val 20000"/>
            </a:avLst>
          </a:prstGeom>
          <a:solidFill>
            <a:srgbClr val="2E7D32"/>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BENZERLİKLER</a:t>
            </a:r>
          </a:p>
        </p:txBody>
      </p:sp>
      <p:sp>
        <p:nvSpPr>
          <p:cNvPr id="8" name="TextBox 7"/>
          <p:cNvSpPr txBox="1"/>
          <p:nvPr/>
        </p:nvSpPr>
        <p:spPr>
          <a:xfrm>
            <a:off x="612648" y="1773936"/>
            <a:ext cx="5259171" cy="3822192"/>
          </a:xfrm>
          <a:prstGeom prst="rect">
            <a:avLst/>
          </a:prstGeom>
          <a:noFill/>
        </p:spPr>
        <p:txBody>
          <a:bodyPr wrap="square" anchor="t" lIns="73152" rIns="73152" tIns="36576" bIns="36576">
            <a:noAutofit/>
          </a:bodyPr>
          <a:lstStyle/>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Kültür bölgesi: İskandinav Kültür Bölgesi gibi Türkiye de Türk kültür bölgesindedir (s. 219).</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Kıyı ve balıkçılık: Norveç'te somon; Türkiye'nin üç tarafı denizdir, kıyılarda balıkçılık yapılır.</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Volkanik alanlar: İzlanda'da aktif volkanlar; Türkiye'de Erciyes, Ağrı gibi volkan dağları.</a:t>
            </a:r>
          </a:p>
        </p:txBody>
      </p:sp>
      <p:sp>
        <p:nvSpPr>
          <p:cNvPr id="9" name="Rounded Rectangle 8"/>
          <p:cNvSpPr/>
          <p:nvPr/>
        </p:nvSpPr>
        <p:spPr>
          <a:xfrm>
            <a:off x="6210147" y="1261872"/>
            <a:ext cx="5478627" cy="4389120"/>
          </a:xfrm>
          <a:prstGeom prst="roundRect">
            <a:avLst>
              <a:gd name="adj" fmla="val 5000"/>
            </a:avLst>
          </a:prstGeom>
          <a:solidFill>
            <a:srgbClr val="F9E1E1"/>
          </a:solidFill>
          <a:ln>
            <a:noFill/>
          </a:ln>
          <a:effectLst/>
        </p:spPr>
        <p:txBody>
          <a:bodyPr rtlCol="0" anchor="ctr"/>
          <a:lstStyle/>
          <a:p/>
        </p:txBody>
      </p:sp>
      <p:sp>
        <p:nvSpPr>
          <p:cNvPr id="10" name="Rounded Rectangle 9"/>
          <p:cNvSpPr/>
          <p:nvPr/>
        </p:nvSpPr>
        <p:spPr>
          <a:xfrm>
            <a:off x="6210147" y="1261872"/>
            <a:ext cx="5478627" cy="457200"/>
          </a:xfrm>
          <a:prstGeom prst="roundRect">
            <a:avLst>
              <a:gd name="adj" fmla="val 20000"/>
            </a:avLst>
          </a:prstGeom>
          <a:solidFill>
            <a:srgbClr val="D3373A"/>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FARKLILIKLAR</a:t>
            </a:r>
          </a:p>
        </p:txBody>
      </p:sp>
      <p:sp>
        <p:nvSpPr>
          <p:cNvPr id="11" name="TextBox 10"/>
          <p:cNvSpPr txBox="1"/>
          <p:nvPr/>
        </p:nvSpPr>
        <p:spPr>
          <a:xfrm>
            <a:off x="6319875" y="1773936"/>
            <a:ext cx="5259171" cy="3822192"/>
          </a:xfrm>
          <a:prstGeom prst="rect">
            <a:avLst/>
          </a:prstGeom>
          <a:noFill/>
        </p:spPr>
        <p:txBody>
          <a:bodyPr wrap="square" anchor="t" lIns="73152" rIns="73152" tIns="36576" bIns="36576">
            <a:noAutofit/>
          </a:bodyPr>
          <a:lstStyle/>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İklim: İskandinavya soğuk, kısa yazlı; Türkiye Akdeniz iklim kuşağında (3. ünite).</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Tarım: İskandinavya'da tarım alanları sınırlı (İsveç ≈ %10); Türkiye'de geniş tarım alanları.</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Yer şekilleri: fiyortlar ve buzul gölleri; Türkiye'de buzul yalnız yüksek dağlarda (Kaçkarlar).</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Avrupa Birliği: Danimarka, İsveç, Finlandiya üye; Türkiye aday ülke (s. 224).</a:t>
            </a:r>
          </a:p>
        </p:txBody>
      </p:sp>
      <p:sp>
        <p:nvSpPr>
          <p:cNvPr id="12" name="Rounded Rectangle 11"/>
          <p:cNvSpPr/>
          <p:nvPr/>
        </p:nvSpPr>
        <p:spPr>
          <a:xfrm>
            <a:off x="502920" y="5788152"/>
            <a:ext cx="11185855" cy="5029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Ölçüt: en az iki benzerlik + iki farklılık · her biri örnekli · kanıt metinde ya da kitapta</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224, 226</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155 / 187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4-5. sorular: Türkiye'de orman alanları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4-5</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4 ve 5. soruları aşağıdaki metin ve haritaya göre cevaplayınız.</a:t>
            </a:r>
          </a:p>
        </p:txBody>
      </p:sp>
      <p:sp>
        <p:nvSpPr>
          <p:cNvPr id="7" name="TextBox 6"/>
          <p:cNvSpPr txBox="1"/>
          <p:nvPr/>
        </p:nvSpPr>
        <p:spPr>
          <a:xfrm>
            <a:off x="502920" y="1554480"/>
            <a:ext cx="11185855" cy="685800"/>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262626"/>
                </a:solidFill>
                <a:latin typeface="Calibri"/>
              </a:rPr>
              <a:t>Coğrafya öğretmeni Ali Bey, Türkiye’deki orman alanlarının dağılışını gösteren aşağıdaki haritayı etkileşimli tahta üzerinde göstermiş ve öğrencilere bazı sorular sormuştur.</a:t>
            </a:r>
          </a:p>
        </p:txBody>
      </p:sp>
      <p:pic>
        <p:nvPicPr>
          <p:cNvPr id="8" name="Picture 7" descr="sonu_orman_s227.jpg"/>
          <p:cNvPicPr>
            <a:picLocks noChangeAspect="1"/>
          </p:cNvPicPr>
          <p:nvPr/>
        </p:nvPicPr>
        <p:blipFill>
          <a:blip r:embed="rId3"/>
          <a:stretch>
            <a:fillRect/>
          </a:stretch>
        </p:blipFill>
        <p:spPr>
          <a:xfrm>
            <a:off x="2490619" y="2267712"/>
            <a:ext cx="7210455" cy="3749040"/>
          </a:xfrm>
          <a:prstGeom prst="rect">
            <a:avLst/>
          </a:prstGeom>
          <a:ln w="9525">
            <a:solidFill>
              <a:srgbClr val="D9D9D9"/>
            </a:solidFill>
          </a:ln>
        </p:spPr>
      </p:pic>
      <p:sp>
        <p:nvSpPr>
          <p:cNvPr id="9" name="TextBox 8"/>
          <p:cNvSpPr txBox="1"/>
          <p:nvPr/>
        </p:nvSpPr>
        <p:spPr>
          <a:xfrm>
            <a:off x="2490619" y="6035040"/>
            <a:ext cx="72104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227 (Türkiye'de orman alanları)</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156 / 187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4-5. sorular: öğrencilerin cevapları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4-5</a:t>
            </a:r>
          </a:p>
        </p:txBody>
      </p:sp>
      <p:sp>
        <p:nvSpPr>
          <p:cNvPr id="6" name="TextBox 5"/>
          <p:cNvSpPr txBox="1"/>
          <p:nvPr/>
        </p:nvSpPr>
        <p:spPr>
          <a:xfrm>
            <a:off x="502920" y="1188720"/>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767676"/>
                </a:solidFill>
                <a:latin typeface="Calibri"/>
              </a:rPr>
              <a:t>Öğrencilerin verdiği cevaplar şu şekildedir:</a:t>
            </a:r>
          </a:p>
        </p:txBody>
      </p:sp>
      <p:sp>
        <p:nvSpPr>
          <p:cNvPr id="7" name="Rounded Rectangle 6"/>
          <p:cNvSpPr/>
          <p:nvPr/>
        </p:nvSpPr>
        <p:spPr>
          <a:xfrm>
            <a:off x="502920" y="1673352"/>
            <a:ext cx="5510631" cy="1429512"/>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1673352"/>
            <a:ext cx="118872" cy="1429512"/>
          </a:xfrm>
          <a:prstGeom prst="rect">
            <a:avLst/>
          </a:prstGeom>
          <a:solidFill>
            <a:srgbClr val="2A5D8F"/>
          </a:solidFill>
          <a:ln>
            <a:noFill/>
          </a:ln>
          <a:effectLst/>
        </p:spPr>
        <p:txBody>
          <a:bodyPr rtlCol="0" anchor="ctr"/>
          <a:lstStyle/>
          <a:p/>
        </p:txBody>
      </p:sp>
      <p:sp>
        <p:nvSpPr>
          <p:cNvPr id="9" name="TextBox 8"/>
          <p:cNvSpPr txBox="1"/>
          <p:nvPr/>
        </p:nvSpPr>
        <p:spPr>
          <a:xfrm>
            <a:off x="777240" y="1709928"/>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Göktürk:</a:t>
            </a:r>
            <a:r>
              <a:rPr lang="tr-TR" sz="2000" b="0" i="0">
                <a:solidFill>
                  <a:srgbClr val="262626"/>
                </a:solidFill>
                <a:latin typeface="Calibri"/>
              </a:rPr>
              <a:t> Türkiye’de kıyı bölgeleri orman varlığı bakımından iç bölgelere oranla daha zengindir. Bu durumun ana nedenlerinden biri bölgelerin yağış miktarlarının farklı olmasıdır.</a:t>
            </a:r>
          </a:p>
        </p:txBody>
      </p:sp>
      <p:sp>
        <p:nvSpPr>
          <p:cNvPr id="10" name="Rounded Rectangle 9"/>
          <p:cNvSpPr/>
          <p:nvPr/>
        </p:nvSpPr>
        <p:spPr>
          <a:xfrm>
            <a:off x="6178143" y="1673352"/>
            <a:ext cx="5510631" cy="1429512"/>
          </a:xfrm>
          <a:prstGeom prst="roundRect">
            <a:avLst>
              <a:gd name="adj" fmla="val 5000"/>
            </a:avLst>
          </a:prstGeom>
          <a:solidFill>
            <a:srgbClr val="F0F0F0"/>
          </a:solidFill>
          <a:ln>
            <a:noFill/>
          </a:ln>
          <a:effectLst/>
        </p:spPr>
        <p:txBody>
          <a:bodyPr rtlCol="0" anchor="ctr"/>
          <a:lstStyle/>
          <a:p/>
        </p:txBody>
      </p:sp>
      <p:sp>
        <p:nvSpPr>
          <p:cNvPr id="11" name="Rectangle 10"/>
          <p:cNvSpPr/>
          <p:nvPr/>
        </p:nvSpPr>
        <p:spPr>
          <a:xfrm>
            <a:off x="6178143" y="1673352"/>
            <a:ext cx="118872" cy="1429512"/>
          </a:xfrm>
          <a:prstGeom prst="rect">
            <a:avLst/>
          </a:prstGeom>
          <a:solidFill>
            <a:srgbClr val="2A5D8F"/>
          </a:solidFill>
          <a:ln>
            <a:noFill/>
          </a:ln>
          <a:effectLst/>
        </p:spPr>
        <p:txBody>
          <a:bodyPr rtlCol="0" anchor="ctr"/>
          <a:lstStyle/>
          <a:p/>
        </p:txBody>
      </p:sp>
      <p:sp>
        <p:nvSpPr>
          <p:cNvPr id="12" name="TextBox 11"/>
          <p:cNvSpPr txBox="1"/>
          <p:nvPr/>
        </p:nvSpPr>
        <p:spPr>
          <a:xfrm>
            <a:off x="6452463" y="1709928"/>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Yeşim:</a:t>
            </a:r>
            <a:r>
              <a:rPr lang="tr-TR" sz="2000" b="0" i="0">
                <a:solidFill>
                  <a:srgbClr val="262626"/>
                </a:solidFill>
                <a:latin typeface="Calibri"/>
              </a:rPr>
              <a:t> Türkiye’nin iç kesimlerinde orman varlığının kıyı kesimlerine göre daha az olmasında orman yangınları etkili olmuştur.</a:t>
            </a:r>
          </a:p>
        </p:txBody>
      </p:sp>
      <p:sp>
        <p:nvSpPr>
          <p:cNvPr id="13" name="Rounded Rectangle 12"/>
          <p:cNvSpPr/>
          <p:nvPr/>
        </p:nvSpPr>
        <p:spPr>
          <a:xfrm>
            <a:off x="502920" y="3267456"/>
            <a:ext cx="5510631" cy="1429512"/>
          </a:xfrm>
          <a:prstGeom prst="roundRect">
            <a:avLst>
              <a:gd name="adj" fmla="val 5000"/>
            </a:avLst>
          </a:prstGeom>
          <a:solidFill>
            <a:srgbClr val="F0F0F0"/>
          </a:solidFill>
          <a:ln>
            <a:noFill/>
          </a:ln>
          <a:effectLst/>
        </p:spPr>
        <p:txBody>
          <a:bodyPr rtlCol="0" anchor="ctr"/>
          <a:lstStyle/>
          <a:p/>
        </p:txBody>
      </p:sp>
      <p:sp>
        <p:nvSpPr>
          <p:cNvPr id="14" name="Rectangle 13"/>
          <p:cNvSpPr/>
          <p:nvPr/>
        </p:nvSpPr>
        <p:spPr>
          <a:xfrm>
            <a:off x="502920" y="3267456"/>
            <a:ext cx="118872" cy="1429512"/>
          </a:xfrm>
          <a:prstGeom prst="rect">
            <a:avLst/>
          </a:prstGeom>
          <a:solidFill>
            <a:srgbClr val="2A5D8F"/>
          </a:solidFill>
          <a:ln>
            <a:noFill/>
          </a:ln>
          <a:effectLst/>
        </p:spPr>
        <p:txBody>
          <a:bodyPr rtlCol="0" anchor="ctr"/>
          <a:lstStyle/>
          <a:p/>
        </p:txBody>
      </p:sp>
      <p:sp>
        <p:nvSpPr>
          <p:cNvPr id="15" name="TextBox 14"/>
          <p:cNvSpPr txBox="1"/>
          <p:nvPr/>
        </p:nvSpPr>
        <p:spPr>
          <a:xfrm>
            <a:off x="777240" y="3304032"/>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Ceylin:</a:t>
            </a:r>
            <a:r>
              <a:rPr lang="tr-TR" sz="2000" b="0" i="0">
                <a:solidFill>
                  <a:srgbClr val="262626"/>
                </a:solidFill>
                <a:latin typeface="Calibri"/>
              </a:rPr>
              <a:t> Türkiye’nin iç kesimlerinde boşluklu orman alanlarının, kıyı alanlarına göre daha fazla olmasında denizel etkinin iç kesimlere sokulması etkili olmaktadır.</a:t>
            </a:r>
          </a:p>
        </p:txBody>
      </p:sp>
      <p:sp>
        <p:nvSpPr>
          <p:cNvPr id="16" name="Rounded Rectangle 15"/>
          <p:cNvSpPr/>
          <p:nvPr/>
        </p:nvSpPr>
        <p:spPr>
          <a:xfrm>
            <a:off x="6178143" y="3267456"/>
            <a:ext cx="5510631" cy="1429512"/>
          </a:xfrm>
          <a:prstGeom prst="roundRect">
            <a:avLst>
              <a:gd name="adj" fmla="val 5000"/>
            </a:avLst>
          </a:prstGeom>
          <a:solidFill>
            <a:srgbClr val="F0F0F0"/>
          </a:solidFill>
          <a:ln>
            <a:noFill/>
          </a:ln>
          <a:effectLst/>
        </p:spPr>
        <p:txBody>
          <a:bodyPr rtlCol="0" anchor="ctr"/>
          <a:lstStyle/>
          <a:p/>
        </p:txBody>
      </p:sp>
      <p:sp>
        <p:nvSpPr>
          <p:cNvPr id="17" name="Rectangle 16"/>
          <p:cNvSpPr/>
          <p:nvPr/>
        </p:nvSpPr>
        <p:spPr>
          <a:xfrm>
            <a:off x="6178143" y="3267456"/>
            <a:ext cx="118872" cy="1429512"/>
          </a:xfrm>
          <a:prstGeom prst="rect">
            <a:avLst/>
          </a:prstGeom>
          <a:solidFill>
            <a:srgbClr val="2A5D8F"/>
          </a:solidFill>
          <a:ln>
            <a:noFill/>
          </a:ln>
          <a:effectLst/>
        </p:spPr>
        <p:txBody>
          <a:bodyPr rtlCol="0" anchor="ctr"/>
          <a:lstStyle/>
          <a:p/>
        </p:txBody>
      </p:sp>
      <p:sp>
        <p:nvSpPr>
          <p:cNvPr id="18" name="TextBox 17"/>
          <p:cNvSpPr txBox="1"/>
          <p:nvPr/>
        </p:nvSpPr>
        <p:spPr>
          <a:xfrm>
            <a:off x="6452463" y="3304032"/>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Serhat:</a:t>
            </a:r>
            <a:r>
              <a:rPr lang="tr-TR" sz="2000" b="0" i="0">
                <a:solidFill>
                  <a:srgbClr val="262626"/>
                </a:solidFill>
                <a:latin typeface="Calibri"/>
              </a:rPr>
              <a:t> Türkiye’nin Karadeniz kıyısının orta kesiminde orman yoğunluğunun batı kesimine göre daha az olmasında topografik koşullar etkilidir.</a:t>
            </a:r>
          </a:p>
        </p:txBody>
      </p:sp>
      <p:sp>
        <p:nvSpPr>
          <p:cNvPr id="19" name="Rounded Rectangle 18"/>
          <p:cNvSpPr/>
          <p:nvPr/>
        </p:nvSpPr>
        <p:spPr>
          <a:xfrm>
            <a:off x="502920" y="4861560"/>
            <a:ext cx="5510631" cy="1429512"/>
          </a:xfrm>
          <a:prstGeom prst="roundRect">
            <a:avLst>
              <a:gd name="adj" fmla="val 5000"/>
            </a:avLst>
          </a:prstGeom>
          <a:solidFill>
            <a:srgbClr val="F0F0F0"/>
          </a:solidFill>
          <a:ln>
            <a:noFill/>
          </a:ln>
          <a:effectLst/>
        </p:spPr>
        <p:txBody>
          <a:bodyPr rtlCol="0" anchor="ctr"/>
          <a:lstStyle/>
          <a:p/>
        </p:txBody>
      </p:sp>
      <p:sp>
        <p:nvSpPr>
          <p:cNvPr id="20" name="Rectangle 19"/>
          <p:cNvSpPr/>
          <p:nvPr/>
        </p:nvSpPr>
        <p:spPr>
          <a:xfrm>
            <a:off x="502920" y="4861560"/>
            <a:ext cx="118872" cy="1429512"/>
          </a:xfrm>
          <a:prstGeom prst="rect">
            <a:avLst/>
          </a:prstGeom>
          <a:solidFill>
            <a:srgbClr val="2A5D8F"/>
          </a:solidFill>
          <a:ln>
            <a:noFill/>
          </a:ln>
          <a:effectLst/>
        </p:spPr>
        <p:txBody>
          <a:bodyPr rtlCol="0" anchor="ctr"/>
          <a:lstStyle/>
          <a:p/>
        </p:txBody>
      </p:sp>
      <p:sp>
        <p:nvSpPr>
          <p:cNvPr id="21" name="TextBox 20"/>
          <p:cNvSpPr txBox="1"/>
          <p:nvPr/>
        </p:nvSpPr>
        <p:spPr>
          <a:xfrm>
            <a:off x="777240" y="4898136"/>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Nuri:</a:t>
            </a:r>
            <a:r>
              <a:rPr lang="tr-TR" sz="2000" b="0" i="0">
                <a:solidFill>
                  <a:srgbClr val="262626"/>
                </a:solidFill>
                <a:latin typeface="Calibri"/>
              </a:rPr>
              <a:t> Çukurova’da orman yoğunluğunun diğer alanlara göre daha az olmasında yağış miktarı etkili olmuştur.</a:t>
            </a:r>
          </a:p>
        </p:txBody>
      </p:sp>
      <p:sp>
        <p:nvSpPr>
          <p:cNvPr id="22" name="Rounded Rectangle 21"/>
          <p:cNvSpPr/>
          <p:nvPr/>
        </p:nvSpPr>
        <p:spPr>
          <a:xfrm>
            <a:off x="6178143" y="4861560"/>
            <a:ext cx="5510631" cy="1429512"/>
          </a:xfrm>
          <a:prstGeom prst="roundRect">
            <a:avLst>
              <a:gd name="adj" fmla="val 5000"/>
            </a:avLst>
          </a:prstGeom>
          <a:solidFill>
            <a:srgbClr val="F0F0F0"/>
          </a:solidFill>
          <a:ln>
            <a:noFill/>
          </a:ln>
          <a:effectLst/>
        </p:spPr>
        <p:txBody>
          <a:bodyPr rtlCol="0" anchor="ctr"/>
          <a:lstStyle/>
          <a:p/>
        </p:txBody>
      </p:sp>
      <p:sp>
        <p:nvSpPr>
          <p:cNvPr id="23" name="Rectangle 22"/>
          <p:cNvSpPr/>
          <p:nvPr/>
        </p:nvSpPr>
        <p:spPr>
          <a:xfrm>
            <a:off x="6178143" y="4861560"/>
            <a:ext cx="118872" cy="1429512"/>
          </a:xfrm>
          <a:prstGeom prst="rect">
            <a:avLst/>
          </a:prstGeom>
          <a:solidFill>
            <a:srgbClr val="2A5D8F"/>
          </a:solidFill>
          <a:ln>
            <a:noFill/>
          </a:ln>
          <a:effectLst/>
        </p:spPr>
        <p:txBody>
          <a:bodyPr rtlCol="0" anchor="ctr"/>
          <a:lstStyle/>
          <a:p/>
        </p:txBody>
      </p:sp>
      <p:sp>
        <p:nvSpPr>
          <p:cNvPr id="24" name="TextBox 23"/>
          <p:cNvSpPr txBox="1"/>
          <p:nvPr/>
        </p:nvSpPr>
        <p:spPr>
          <a:xfrm>
            <a:off x="6452463" y="4898136"/>
            <a:ext cx="5099151" cy="135636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Zeynep:</a:t>
            </a:r>
            <a:r>
              <a:rPr lang="tr-TR" sz="2000" b="0" i="0">
                <a:solidFill>
                  <a:srgbClr val="262626"/>
                </a:solidFill>
                <a:latin typeface="Calibri"/>
              </a:rPr>
              <a:t> Tuz Gölü çevresinde orman yoğunluğunun az olmasının nedeni yağışın yetersizliğidir.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157 / 187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4.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6949440" cy="937009"/>
          </a:xfrm>
          <a:prstGeom prst="roundRect">
            <a:avLst>
              <a:gd name="adj" fmla="val 9758"/>
            </a:avLst>
          </a:prstGeom>
          <a:solidFill>
            <a:srgbClr val="F0F0F0"/>
          </a:solidFill>
          <a:ln>
            <a:noFill/>
          </a:ln>
          <a:effectLst/>
        </p:spPr>
        <p:txBody>
          <a:bodyPr rtlCol="0" anchor="ctr"/>
          <a:lstStyle/>
          <a:p/>
        </p:txBody>
      </p:sp>
      <p:sp>
        <p:nvSpPr>
          <p:cNvPr id="7" name="TextBox 6"/>
          <p:cNvSpPr txBox="1"/>
          <p:nvPr/>
        </p:nvSpPr>
        <p:spPr>
          <a:xfrm>
            <a:off x="640080" y="1216152"/>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Göktürk:</a:t>
            </a:r>
            <a:r>
              <a:rPr lang="tr-TR" sz="1600" b="0" i="0">
                <a:solidFill>
                  <a:srgbClr val="262626"/>
                </a:solidFill>
                <a:latin typeface="Calibri"/>
              </a:rPr>
              <a:t> Türkiye’de kıyı bölgeleri orman varlığı bakımından iç bölgelere oranla daha zengindir. Bu durumun ana nedenlerinden biri bölgelerin yağış miktarlarının farklı olmasıdır.</a:t>
            </a:r>
          </a:p>
        </p:txBody>
      </p:sp>
      <p:sp>
        <p:nvSpPr>
          <p:cNvPr id="8" name="Rounded Rectangle 7"/>
          <p:cNvSpPr/>
          <p:nvPr/>
        </p:nvSpPr>
        <p:spPr>
          <a:xfrm>
            <a:off x="502920" y="2226313"/>
            <a:ext cx="6949440" cy="697355"/>
          </a:xfrm>
          <a:prstGeom prst="roundRect">
            <a:avLst>
              <a:gd name="adj" fmla="val 13112"/>
            </a:avLst>
          </a:prstGeom>
          <a:solidFill>
            <a:srgbClr val="F0F0F0"/>
          </a:solidFill>
          <a:ln>
            <a:noFill/>
          </a:ln>
          <a:effectLst/>
        </p:spPr>
        <p:txBody>
          <a:bodyPr rtlCol="0" anchor="ctr"/>
          <a:lstStyle/>
          <a:p/>
        </p:txBody>
      </p:sp>
      <p:sp>
        <p:nvSpPr>
          <p:cNvPr id="9" name="TextBox 8"/>
          <p:cNvSpPr txBox="1"/>
          <p:nvPr/>
        </p:nvSpPr>
        <p:spPr>
          <a:xfrm>
            <a:off x="640080" y="2226313"/>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Yeşim:</a:t>
            </a:r>
            <a:r>
              <a:rPr lang="tr-TR" sz="1600" b="0" i="0">
                <a:solidFill>
                  <a:srgbClr val="262626"/>
                </a:solidFill>
                <a:latin typeface="Calibri"/>
              </a:rPr>
              <a:t> Türkiye’nin iç kesimlerinde orman varlığının kıyı kesimlerine göre daha az olmasında orman yangınları etkili olmuştur.</a:t>
            </a:r>
          </a:p>
        </p:txBody>
      </p:sp>
      <p:sp>
        <p:nvSpPr>
          <p:cNvPr id="10" name="Rounded Rectangle 9"/>
          <p:cNvSpPr/>
          <p:nvPr/>
        </p:nvSpPr>
        <p:spPr>
          <a:xfrm>
            <a:off x="502920" y="2996820"/>
            <a:ext cx="6949440" cy="937009"/>
          </a:xfrm>
          <a:prstGeom prst="roundRect">
            <a:avLst>
              <a:gd name="adj" fmla="val 9758"/>
            </a:avLst>
          </a:prstGeom>
          <a:solidFill>
            <a:srgbClr val="F0F0F0"/>
          </a:solidFill>
          <a:ln>
            <a:noFill/>
          </a:ln>
          <a:effectLst/>
        </p:spPr>
        <p:txBody>
          <a:bodyPr rtlCol="0" anchor="ctr"/>
          <a:lstStyle/>
          <a:p/>
        </p:txBody>
      </p:sp>
      <p:sp>
        <p:nvSpPr>
          <p:cNvPr id="11" name="TextBox 10"/>
          <p:cNvSpPr txBox="1"/>
          <p:nvPr/>
        </p:nvSpPr>
        <p:spPr>
          <a:xfrm>
            <a:off x="640080" y="2996820"/>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Ceylin:</a:t>
            </a:r>
            <a:r>
              <a:rPr lang="tr-TR" sz="1600" b="0" i="0">
                <a:solidFill>
                  <a:srgbClr val="262626"/>
                </a:solidFill>
                <a:latin typeface="Calibri"/>
              </a:rPr>
              <a:t> Türkiye’nin iç kesimlerinde boşluklu orman alanlarının, kıyı alanlarına göre daha fazla olmasında denizel etkinin iç kesimlere sokulması etkili olmaktadır.</a:t>
            </a:r>
          </a:p>
        </p:txBody>
      </p:sp>
      <p:sp>
        <p:nvSpPr>
          <p:cNvPr id="12" name="Rounded Rectangle 11"/>
          <p:cNvSpPr/>
          <p:nvPr/>
        </p:nvSpPr>
        <p:spPr>
          <a:xfrm>
            <a:off x="502920" y="4006982"/>
            <a:ext cx="6949440" cy="697355"/>
          </a:xfrm>
          <a:prstGeom prst="roundRect">
            <a:avLst>
              <a:gd name="adj" fmla="val 13112"/>
            </a:avLst>
          </a:prstGeom>
          <a:solidFill>
            <a:srgbClr val="F0F0F0"/>
          </a:solidFill>
          <a:ln>
            <a:noFill/>
          </a:ln>
          <a:effectLst/>
        </p:spPr>
        <p:txBody>
          <a:bodyPr rtlCol="0" anchor="ctr"/>
          <a:lstStyle/>
          <a:p/>
        </p:txBody>
      </p:sp>
      <p:sp>
        <p:nvSpPr>
          <p:cNvPr id="13" name="TextBox 12"/>
          <p:cNvSpPr txBox="1"/>
          <p:nvPr/>
        </p:nvSpPr>
        <p:spPr>
          <a:xfrm>
            <a:off x="640080" y="4006982"/>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Serhat:</a:t>
            </a:r>
            <a:r>
              <a:rPr lang="tr-TR" sz="1600" b="0" i="0">
                <a:solidFill>
                  <a:srgbClr val="262626"/>
                </a:solidFill>
                <a:latin typeface="Calibri"/>
              </a:rPr>
              <a:t> Türkiye’nin Karadeniz kıyısının orta kesiminde orman yoğunluğunun batı kesimine göre daha az olmasında topografik koşullar etkilidir.</a:t>
            </a:r>
          </a:p>
        </p:txBody>
      </p:sp>
      <p:sp>
        <p:nvSpPr>
          <p:cNvPr id="14" name="Rounded Rectangle 13"/>
          <p:cNvSpPr/>
          <p:nvPr/>
        </p:nvSpPr>
        <p:spPr>
          <a:xfrm>
            <a:off x="502920" y="4777489"/>
            <a:ext cx="6949440" cy="697355"/>
          </a:xfrm>
          <a:prstGeom prst="roundRect">
            <a:avLst>
              <a:gd name="adj" fmla="val 13112"/>
            </a:avLst>
          </a:prstGeom>
          <a:solidFill>
            <a:srgbClr val="F0F0F0"/>
          </a:solidFill>
          <a:ln>
            <a:noFill/>
          </a:ln>
          <a:effectLst/>
        </p:spPr>
        <p:txBody>
          <a:bodyPr rtlCol="0" anchor="ctr"/>
          <a:lstStyle/>
          <a:p/>
        </p:txBody>
      </p:sp>
      <p:sp>
        <p:nvSpPr>
          <p:cNvPr id="15" name="TextBox 14"/>
          <p:cNvSpPr txBox="1"/>
          <p:nvPr/>
        </p:nvSpPr>
        <p:spPr>
          <a:xfrm>
            <a:off x="640080" y="4777489"/>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Nuri:</a:t>
            </a:r>
            <a:r>
              <a:rPr lang="tr-TR" sz="1600" b="0" i="0">
                <a:solidFill>
                  <a:srgbClr val="262626"/>
                </a:solidFill>
                <a:latin typeface="Calibri"/>
              </a:rPr>
              <a:t> Çukurova’da orman yoğunluğunun diğer alanlara göre daha az olmasında yağış miktarı etkili olmuştur.</a:t>
            </a:r>
          </a:p>
        </p:txBody>
      </p:sp>
      <p:sp>
        <p:nvSpPr>
          <p:cNvPr id="16" name="Rounded Rectangle 15"/>
          <p:cNvSpPr/>
          <p:nvPr/>
        </p:nvSpPr>
        <p:spPr>
          <a:xfrm>
            <a:off x="502920" y="5547996"/>
            <a:ext cx="6949440" cy="697355"/>
          </a:xfrm>
          <a:prstGeom prst="roundRect">
            <a:avLst>
              <a:gd name="adj" fmla="val 13112"/>
            </a:avLst>
          </a:prstGeom>
          <a:solidFill>
            <a:srgbClr val="F0F0F0"/>
          </a:solidFill>
          <a:ln>
            <a:noFill/>
          </a:ln>
          <a:effectLst/>
        </p:spPr>
        <p:txBody>
          <a:bodyPr rtlCol="0" anchor="ctr"/>
          <a:lstStyle/>
          <a:p/>
        </p:txBody>
      </p:sp>
      <p:sp>
        <p:nvSpPr>
          <p:cNvPr id="17" name="TextBox 16"/>
          <p:cNvSpPr txBox="1"/>
          <p:nvPr/>
        </p:nvSpPr>
        <p:spPr>
          <a:xfrm>
            <a:off x="640080" y="5547996"/>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Zeynep:</a:t>
            </a:r>
            <a:r>
              <a:rPr lang="tr-TR" sz="1600" b="0" i="0">
                <a:solidFill>
                  <a:srgbClr val="262626"/>
                </a:solidFill>
                <a:latin typeface="Calibri"/>
              </a:rPr>
              <a:t> Tuz Gölü çevresinde orman yoğunluğunun az olmasının nedeni yağışın yetersizliğidir.</a:t>
            </a:r>
          </a:p>
        </p:txBody>
      </p:sp>
      <p:sp>
        <p:nvSpPr>
          <p:cNvPr id="18" name="Rounded Rectangle 17"/>
          <p:cNvSpPr/>
          <p:nvPr/>
        </p:nvSpPr>
        <p:spPr>
          <a:xfrm>
            <a:off x="7653528" y="1216152"/>
            <a:ext cx="4035247" cy="8686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0"/>
              </a:spcAft>
            </a:pPr>
            <a:r>
              <a:rPr lang="tr-TR" sz="2150" b="1" i="0">
                <a:solidFill>
                  <a:srgbClr val="262626"/>
                </a:solidFill>
                <a:latin typeface="Calibri"/>
              </a:rPr>
              <a:t>4. Hangi öğrencilerin verdiği bilgiler doğrudur?</a:t>
            </a:r>
          </a:p>
        </p:txBody>
      </p:sp>
      <p:sp>
        <p:nvSpPr>
          <p:cNvPr id="19" name="Rounded Rectangle 18"/>
          <p:cNvSpPr/>
          <p:nvPr/>
        </p:nvSpPr>
        <p:spPr>
          <a:xfrm>
            <a:off x="7653528" y="2221992"/>
            <a:ext cx="403524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7754112" y="235915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21" name="TextBox 20"/>
          <p:cNvSpPr txBox="1"/>
          <p:nvPr/>
        </p:nvSpPr>
        <p:spPr>
          <a:xfrm>
            <a:off x="8311896" y="2221992"/>
            <a:ext cx="328543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Göktürk, Yeşim, Ceylin</a:t>
            </a:r>
          </a:p>
        </p:txBody>
      </p:sp>
      <p:sp>
        <p:nvSpPr>
          <p:cNvPr id="22" name="Rounded Rectangle 21"/>
          <p:cNvSpPr/>
          <p:nvPr/>
        </p:nvSpPr>
        <p:spPr>
          <a:xfrm>
            <a:off x="7653528" y="3044952"/>
            <a:ext cx="403524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3" name="Oval 22"/>
          <p:cNvSpPr/>
          <p:nvPr/>
        </p:nvSpPr>
        <p:spPr>
          <a:xfrm>
            <a:off x="7754112" y="318211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4" name="TextBox 23"/>
          <p:cNvSpPr txBox="1"/>
          <p:nvPr/>
        </p:nvSpPr>
        <p:spPr>
          <a:xfrm>
            <a:off x="8311896" y="3044952"/>
            <a:ext cx="328543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Serhat, Nuri, Zeynep</a:t>
            </a:r>
          </a:p>
        </p:txBody>
      </p:sp>
      <p:sp>
        <p:nvSpPr>
          <p:cNvPr id="25" name="Rounded Rectangle 24"/>
          <p:cNvSpPr/>
          <p:nvPr/>
        </p:nvSpPr>
        <p:spPr>
          <a:xfrm>
            <a:off x="7653528" y="3867912"/>
            <a:ext cx="403524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6" name="Oval 25"/>
          <p:cNvSpPr/>
          <p:nvPr/>
        </p:nvSpPr>
        <p:spPr>
          <a:xfrm>
            <a:off x="7754112" y="400507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7" name="TextBox 26"/>
          <p:cNvSpPr txBox="1"/>
          <p:nvPr/>
        </p:nvSpPr>
        <p:spPr>
          <a:xfrm>
            <a:off x="8311896" y="3867912"/>
            <a:ext cx="328543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Ceylin, Serhat, Nuri</a:t>
            </a:r>
          </a:p>
        </p:txBody>
      </p:sp>
      <p:sp>
        <p:nvSpPr>
          <p:cNvPr id="28" name="Rounded Rectangle 27"/>
          <p:cNvSpPr/>
          <p:nvPr/>
        </p:nvSpPr>
        <p:spPr>
          <a:xfrm>
            <a:off x="7653528" y="4690872"/>
            <a:ext cx="403524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9" name="Oval 28"/>
          <p:cNvSpPr/>
          <p:nvPr/>
        </p:nvSpPr>
        <p:spPr>
          <a:xfrm>
            <a:off x="7754112" y="482803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30" name="TextBox 29"/>
          <p:cNvSpPr txBox="1"/>
          <p:nvPr/>
        </p:nvSpPr>
        <p:spPr>
          <a:xfrm>
            <a:off x="8311896" y="4690872"/>
            <a:ext cx="328543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Göktürk, Serhat, Zeynep</a:t>
            </a:r>
          </a:p>
        </p:txBody>
      </p:sp>
      <p:sp>
        <p:nvSpPr>
          <p:cNvPr id="31" name="Rounded Rectangle 30"/>
          <p:cNvSpPr/>
          <p:nvPr/>
        </p:nvSpPr>
        <p:spPr>
          <a:xfrm>
            <a:off x="7653528" y="5513832"/>
            <a:ext cx="403524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32" name="Oval 31"/>
          <p:cNvSpPr/>
          <p:nvPr/>
        </p:nvSpPr>
        <p:spPr>
          <a:xfrm>
            <a:off x="7754112" y="56509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33" name="TextBox 32"/>
          <p:cNvSpPr txBox="1"/>
          <p:nvPr/>
        </p:nvSpPr>
        <p:spPr>
          <a:xfrm>
            <a:off x="8311896" y="5513832"/>
            <a:ext cx="328543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Yeşim, Nuri, Zeynep</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158 / 187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soru — cevap: kim doğru, kim yanlış?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11185855" cy="777240"/>
          </a:xfrm>
          <a:prstGeom prst="roundRect">
            <a:avLst>
              <a:gd name="adj" fmla="val 11764"/>
            </a:avLst>
          </a:prstGeom>
          <a:solidFill>
            <a:srgbClr val="E3F1E4"/>
          </a:solidFill>
          <a:ln w="19050">
            <a:solidFill>
              <a:srgbClr val="2E7D32"/>
            </a:solidFill>
          </a:ln>
          <a:effectLst/>
        </p:spPr>
        <p:txBody>
          <a:bodyPr rtlCol="0" anchor="ctr"/>
          <a:lstStyle/>
          <a:p/>
        </p:txBody>
      </p:sp>
      <p:sp>
        <p:nvSpPr>
          <p:cNvPr id="7" name="Rectangle 6"/>
          <p:cNvSpPr/>
          <p:nvPr/>
        </p:nvSpPr>
        <p:spPr>
          <a:xfrm>
            <a:off x="594360" y="1289304"/>
            <a:ext cx="457200" cy="630936"/>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8" name="TextBox 7"/>
          <p:cNvSpPr txBox="1"/>
          <p:nvPr/>
        </p:nvSpPr>
        <p:spPr>
          <a:xfrm>
            <a:off x="1143000" y="1216152"/>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E7D32"/>
                </a:solidFill>
                <a:latin typeface="Calibri"/>
              </a:rPr>
              <a:t>Göktürk</a:t>
            </a:r>
          </a:p>
        </p:txBody>
      </p:sp>
      <p:sp>
        <p:nvSpPr>
          <p:cNvPr id="9" name="TextBox 8"/>
          <p:cNvSpPr txBox="1"/>
          <p:nvPr/>
        </p:nvSpPr>
        <p:spPr>
          <a:xfrm>
            <a:off x="2560320" y="1216152"/>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kıyılar daha ormanlık ← yağış farkı</a:t>
            </a:r>
          </a:p>
        </p:txBody>
      </p:sp>
      <p:sp>
        <p:nvSpPr>
          <p:cNvPr id="10" name="TextBox 9"/>
          <p:cNvSpPr txBox="1"/>
          <p:nvPr/>
        </p:nvSpPr>
        <p:spPr>
          <a:xfrm>
            <a:off x="6858000" y="1216152"/>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E7D32"/>
                </a:solidFill>
                <a:latin typeface="Calibri"/>
              </a:rPr>
              <a:t>→ Haritada kıyılar daha ormanlık; dağların denize bakan yamaçları bol yağış alır.</a:t>
            </a:r>
          </a:p>
        </p:txBody>
      </p:sp>
      <p:sp>
        <p:nvSpPr>
          <p:cNvPr id="11" name="Rounded Rectangle 10"/>
          <p:cNvSpPr/>
          <p:nvPr/>
        </p:nvSpPr>
        <p:spPr>
          <a:xfrm>
            <a:off x="502920" y="2066544"/>
            <a:ext cx="11185855" cy="777240"/>
          </a:xfrm>
          <a:prstGeom prst="roundRect">
            <a:avLst>
              <a:gd name="adj" fmla="val 11764"/>
            </a:avLst>
          </a:prstGeom>
          <a:solidFill>
            <a:srgbClr val="F9E1E1"/>
          </a:solidFill>
          <a:ln w="19050">
            <a:solidFill>
              <a:srgbClr val="D3373A"/>
            </a:solidFill>
          </a:ln>
          <a:effectLst/>
        </p:spPr>
        <p:txBody>
          <a:bodyPr rtlCol="0" anchor="ctr"/>
          <a:lstStyle/>
          <a:p/>
        </p:txBody>
      </p:sp>
      <p:sp>
        <p:nvSpPr>
          <p:cNvPr id="12" name="Rectangle 11"/>
          <p:cNvSpPr/>
          <p:nvPr/>
        </p:nvSpPr>
        <p:spPr>
          <a:xfrm>
            <a:off x="594360" y="2139696"/>
            <a:ext cx="457200" cy="630936"/>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3" name="TextBox 12"/>
          <p:cNvSpPr txBox="1"/>
          <p:nvPr/>
        </p:nvSpPr>
        <p:spPr>
          <a:xfrm>
            <a:off x="1143000" y="2066544"/>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D3373A"/>
                </a:solidFill>
                <a:latin typeface="Calibri"/>
              </a:rPr>
              <a:t>Yeşim</a:t>
            </a:r>
          </a:p>
        </p:txBody>
      </p:sp>
      <p:sp>
        <p:nvSpPr>
          <p:cNvPr id="14" name="TextBox 13"/>
          <p:cNvSpPr txBox="1"/>
          <p:nvPr/>
        </p:nvSpPr>
        <p:spPr>
          <a:xfrm>
            <a:off x="2560320" y="2066544"/>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iç kesimde orman az ← orman yangınları</a:t>
            </a:r>
          </a:p>
        </p:txBody>
      </p:sp>
      <p:sp>
        <p:nvSpPr>
          <p:cNvPr id="15" name="TextBox 14"/>
          <p:cNvSpPr txBox="1"/>
          <p:nvPr/>
        </p:nvSpPr>
        <p:spPr>
          <a:xfrm>
            <a:off x="6858000" y="2066544"/>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D3373A"/>
                </a:solidFill>
                <a:latin typeface="Calibri"/>
              </a:rPr>
              <a:t>→ İç kesimlerde ormanın azlığının temel nedeni yağışın azlığıdır, yangınlar değil.</a:t>
            </a:r>
          </a:p>
        </p:txBody>
      </p:sp>
      <p:sp>
        <p:nvSpPr>
          <p:cNvPr id="16" name="Rounded Rectangle 15"/>
          <p:cNvSpPr/>
          <p:nvPr/>
        </p:nvSpPr>
        <p:spPr>
          <a:xfrm>
            <a:off x="502920" y="2916936"/>
            <a:ext cx="11185855" cy="777240"/>
          </a:xfrm>
          <a:prstGeom prst="roundRect">
            <a:avLst>
              <a:gd name="adj" fmla="val 11764"/>
            </a:avLst>
          </a:prstGeom>
          <a:solidFill>
            <a:srgbClr val="F9E1E1"/>
          </a:solidFill>
          <a:ln w="19050">
            <a:solidFill>
              <a:srgbClr val="D3373A"/>
            </a:solidFill>
          </a:ln>
          <a:effectLst/>
        </p:spPr>
        <p:txBody>
          <a:bodyPr rtlCol="0" anchor="ctr"/>
          <a:lstStyle/>
          <a:p/>
        </p:txBody>
      </p:sp>
      <p:sp>
        <p:nvSpPr>
          <p:cNvPr id="17" name="Rectangle 16"/>
          <p:cNvSpPr/>
          <p:nvPr/>
        </p:nvSpPr>
        <p:spPr>
          <a:xfrm>
            <a:off x="594360" y="2990088"/>
            <a:ext cx="457200" cy="630936"/>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8" name="TextBox 17"/>
          <p:cNvSpPr txBox="1"/>
          <p:nvPr/>
        </p:nvSpPr>
        <p:spPr>
          <a:xfrm>
            <a:off x="1143000" y="2916936"/>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D3373A"/>
                </a:solidFill>
                <a:latin typeface="Calibri"/>
              </a:rPr>
              <a:t>Ceylin</a:t>
            </a:r>
          </a:p>
        </p:txBody>
      </p:sp>
      <p:sp>
        <p:nvSpPr>
          <p:cNvPr id="19" name="TextBox 18"/>
          <p:cNvSpPr txBox="1"/>
          <p:nvPr/>
        </p:nvSpPr>
        <p:spPr>
          <a:xfrm>
            <a:off x="2560320" y="2916936"/>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iç kesimde boşluklu orman ← denizel etkinin sokulması</a:t>
            </a:r>
          </a:p>
        </p:txBody>
      </p:sp>
      <p:sp>
        <p:nvSpPr>
          <p:cNvPr id="20" name="TextBox 19"/>
          <p:cNvSpPr txBox="1"/>
          <p:nvPr/>
        </p:nvSpPr>
        <p:spPr>
          <a:xfrm>
            <a:off x="6858000" y="2916936"/>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D3373A"/>
                </a:solidFill>
                <a:latin typeface="Calibri"/>
              </a:rPr>
              <a:t>→ Kıyıya paralel dağlar denizel etkinin iç kesimlere sokulmasını ENGELLER.</a:t>
            </a:r>
          </a:p>
        </p:txBody>
      </p:sp>
      <p:sp>
        <p:nvSpPr>
          <p:cNvPr id="21" name="Rounded Rectangle 20"/>
          <p:cNvSpPr/>
          <p:nvPr/>
        </p:nvSpPr>
        <p:spPr>
          <a:xfrm>
            <a:off x="502920" y="3767328"/>
            <a:ext cx="11185855" cy="777240"/>
          </a:xfrm>
          <a:prstGeom prst="roundRect">
            <a:avLst>
              <a:gd name="adj" fmla="val 11764"/>
            </a:avLst>
          </a:prstGeom>
          <a:solidFill>
            <a:srgbClr val="E3F1E4"/>
          </a:solidFill>
          <a:ln w="19050">
            <a:solidFill>
              <a:srgbClr val="2E7D32"/>
            </a:solidFill>
          </a:ln>
          <a:effectLst/>
        </p:spPr>
        <p:txBody>
          <a:bodyPr rtlCol="0" anchor="ctr"/>
          <a:lstStyle/>
          <a:p/>
        </p:txBody>
      </p:sp>
      <p:sp>
        <p:nvSpPr>
          <p:cNvPr id="22" name="Rectangle 21"/>
          <p:cNvSpPr/>
          <p:nvPr/>
        </p:nvSpPr>
        <p:spPr>
          <a:xfrm>
            <a:off x="594360" y="3840480"/>
            <a:ext cx="457200" cy="630936"/>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3" name="TextBox 22"/>
          <p:cNvSpPr txBox="1"/>
          <p:nvPr/>
        </p:nvSpPr>
        <p:spPr>
          <a:xfrm>
            <a:off x="1143000" y="3767328"/>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E7D32"/>
                </a:solidFill>
                <a:latin typeface="Calibri"/>
              </a:rPr>
              <a:t>Serhat</a:t>
            </a:r>
          </a:p>
        </p:txBody>
      </p:sp>
      <p:sp>
        <p:nvSpPr>
          <p:cNvPr id="24" name="TextBox 23"/>
          <p:cNvSpPr txBox="1"/>
          <p:nvPr/>
        </p:nvSpPr>
        <p:spPr>
          <a:xfrm>
            <a:off x="2560320" y="3767328"/>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Orta Karadeniz'de orman az ← topoğrafya</a:t>
            </a:r>
          </a:p>
        </p:txBody>
      </p:sp>
      <p:sp>
        <p:nvSpPr>
          <p:cNvPr id="25" name="TextBox 24"/>
          <p:cNvSpPr txBox="1"/>
          <p:nvPr/>
        </p:nvSpPr>
        <p:spPr>
          <a:xfrm>
            <a:off x="6858000" y="3767328"/>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E7D32"/>
                </a:solidFill>
                <a:latin typeface="Calibri"/>
              </a:rPr>
              <a:t>→ Orta kesimde dağlar kıyıdan uzaklaşır, kıyıda düzlükler vardır: yamaç yağışı ve orman azalır.</a:t>
            </a:r>
          </a:p>
        </p:txBody>
      </p:sp>
      <p:sp>
        <p:nvSpPr>
          <p:cNvPr id="26" name="Rounded Rectangle 25"/>
          <p:cNvSpPr/>
          <p:nvPr/>
        </p:nvSpPr>
        <p:spPr>
          <a:xfrm>
            <a:off x="502920" y="4617720"/>
            <a:ext cx="11185855" cy="777240"/>
          </a:xfrm>
          <a:prstGeom prst="roundRect">
            <a:avLst>
              <a:gd name="adj" fmla="val 11764"/>
            </a:avLst>
          </a:prstGeom>
          <a:solidFill>
            <a:srgbClr val="F9E1E1"/>
          </a:solidFill>
          <a:ln w="19050">
            <a:solidFill>
              <a:srgbClr val="D3373A"/>
            </a:solidFill>
          </a:ln>
          <a:effectLst/>
        </p:spPr>
        <p:txBody>
          <a:bodyPr rtlCol="0" anchor="ctr"/>
          <a:lstStyle/>
          <a:p/>
        </p:txBody>
      </p:sp>
      <p:sp>
        <p:nvSpPr>
          <p:cNvPr id="27" name="Rectangle 26"/>
          <p:cNvSpPr/>
          <p:nvPr/>
        </p:nvSpPr>
        <p:spPr>
          <a:xfrm>
            <a:off x="594360" y="4690872"/>
            <a:ext cx="457200" cy="630936"/>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8" name="TextBox 27"/>
          <p:cNvSpPr txBox="1"/>
          <p:nvPr/>
        </p:nvSpPr>
        <p:spPr>
          <a:xfrm>
            <a:off x="1143000" y="4617720"/>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D3373A"/>
                </a:solidFill>
                <a:latin typeface="Calibri"/>
              </a:rPr>
              <a:t>Nuri</a:t>
            </a:r>
          </a:p>
        </p:txBody>
      </p:sp>
      <p:sp>
        <p:nvSpPr>
          <p:cNvPr id="29" name="TextBox 28"/>
          <p:cNvSpPr txBox="1"/>
          <p:nvPr/>
        </p:nvSpPr>
        <p:spPr>
          <a:xfrm>
            <a:off x="2560320" y="4617720"/>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Çukurova'da orman az ← yağış miktarı</a:t>
            </a:r>
          </a:p>
        </p:txBody>
      </p:sp>
      <p:sp>
        <p:nvSpPr>
          <p:cNvPr id="30" name="TextBox 29"/>
          <p:cNvSpPr txBox="1"/>
          <p:nvPr/>
        </p:nvSpPr>
        <p:spPr>
          <a:xfrm>
            <a:off x="6858000" y="4617720"/>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D3373A"/>
                </a:solidFill>
                <a:latin typeface="Calibri"/>
              </a:rPr>
              <a:t>→ Çukurova düz ve verimli bir ovadır, tarım alanıdır; ormanın azlığı yağışla açıklanmaz.</a:t>
            </a:r>
          </a:p>
        </p:txBody>
      </p:sp>
      <p:sp>
        <p:nvSpPr>
          <p:cNvPr id="31" name="Rounded Rectangle 30"/>
          <p:cNvSpPr/>
          <p:nvPr/>
        </p:nvSpPr>
        <p:spPr>
          <a:xfrm>
            <a:off x="502920" y="5468112"/>
            <a:ext cx="11185855" cy="777240"/>
          </a:xfrm>
          <a:prstGeom prst="roundRect">
            <a:avLst>
              <a:gd name="adj" fmla="val 11764"/>
            </a:avLst>
          </a:prstGeom>
          <a:solidFill>
            <a:srgbClr val="E3F1E4"/>
          </a:solidFill>
          <a:ln w="19050">
            <a:solidFill>
              <a:srgbClr val="2E7D32"/>
            </a:solidFill>
          </a:ln>
          <a:effectLst/>
        </p:spPr>
        <p:txBody>
          <a:bodyPr rtlCol="0" anchor="ctr"/>
          <a:lstStyle/>
          <a:p/>
        </p:txBody>
      </p:sp>
      <p:sp>
        <p:nvSpPr>
          <p:cNvPr id="32" name="Rectangle 31"/>
          <p:cNvSpPr/>
          <p:nvPr/>
        </p:nvSpPr>
        <p:spPr>
          <a:xfrm>
            <a:off x="594360" y="5541264"/>
            <a:ext cx="457200" cy="630936"/>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33" name="TextBox 32"/>
          <p:cNvSpPr txBox="1"/>
          <p:nvPr/>
        </p:nvSpPr>
        <p:spPr>
          <a:xfrm>
            <a:off x="1143000" y="5468112"/>
            <a:ext cx="1417320" cy="7772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E7D32"/>
                </a:solidFill>
                <a:latin typeface="Calibri"/>
              </a:rPr>
              <a:t>Zeynep</a:t>
            </a:r>
          </a:p>
        </p:txBody>
      </p:sp>
      <p:sp>
        <p:nvSpPr>
          <p:cNvPr id="34" name="TextBox 33"/>
          <p:cNvSpPr txBox="1"/>
          <p:nvPr/>
        </p:nvSpPr>
        <p:spPr>
          <a:xfrm>
            <a:off x="2560320" y="5468112"/>
            <a:ext cx="4206240" cy="7772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Tuz Gölü çevresinde orman az ← yağış yetersiz</a:t>
            </a:r>
          </a:p>
        </p:txBody>
      </p:sp>
      <p:sp>
        <p:nvSpPr>
          <p:cNvPr id="35" name="TextBox 34"/>
          <p:cNvSpPr txBox="1"/>
          <p:nvPr/>
        </p:nvSpPr>
        <p:spPr>
          <a:xfrm>
            <a:off x="6858000" y="5468112"/>
            <a:ext cx="4647895" cy="77724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E7D32"/>
                </a:solidFill>
                <a:latin typeface="Calibri"/>
              </a:rPr>
              <a:t>→ Tuz Gölü çevresi Türkiye'nin en az yağış alan yerlerindendir.</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3. ünite</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159 / 187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soru — haritada bakalım</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pic>
        <p:nvPicPr>
          <p:cNvPr id="6" name="Picture 5" descr="sonu_orman_s227.jpg"/>
          <p:cNvPicPr>
            <a:picLocks noChangeAspect="1"/>
          </p:cNvPicPr>
          <p:nvPr/>
        </p:nvPicPr>
        <p:blipFill>
          <a:blip r:embed="rId3"/>
          <a:stretch>
            <a:fillRect/>
          </a:stretch>
        </p:blipFill>
        <p:spPr>
          <a:xfrm>
            <a:off x="502920" y="1261872"/>
            <a:ext cx="7680960" cy="3993676"/>
          </a:xfrm>
          <a:prstGeom prst="rect">
            <a:avLst/>
          </a:prstGeom>
          <a:ln w="9525">
            <a:solidFill>
              <a:srgbClr val="D9D9D9"/>
            </a:solidFill>
          </a:ln>
        </p:spPr>
      </p:pic>
      <p:sp>
        <p:nvSpPr>
          <p:cNvPr id="7" name="TextBox 6"/>
          <p:cNvSpPr txBox="1"/>
          <p:nvPr/>
        </p:nvSpPr>
        <p:spPr>
          <a:xfrm>
            <a:off x="502920" y="5273836"/>
            <a:ext cx="768096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227 (Türkiye'de orman alanları)</a:t>
            </a:r>
          </a:p>
        </p:txBody>
      </p:sp>
      <p:sp>
        <p:nvSpPr>
          <p:cNvPr id="8" name="Oval 7"/>
          <p:cNvSpPr/>
          <p:nvPr/>
        </p:nvSpPr>
        <p:spPr>
          <a:xfrm>
            <a:off x="2569091" y="1764942"/>
            <a:ext cx="881097" cy="353032"/>
          </a:xfrm>
          <a:prstGeom prst="ellipse">
            <a:avLst/>
          </a:prstGeom>
          <a:noFill/>
          <a:ln w="41275">
            <a:solidFill>
              <a:srgbClr val="2E7D32"/>
            </a:solidFill>
          </a:ln>
          <a:effectLst/>
        </p:spPr>
        <p:txBody>
          <a:bodyPr rtlCol="0" anchor="ctr"/>
          <a:lstStyle/>
          <a:p/>
        </p:txBody>
      </p:sp>
      <p:sp>
        <p:nvSpPr>
          <p:cNvPr id="9" name="Rounded Rectangle 8"/>
          <p:cNvSpPr/>
          <p:nvPr/>
        </p:nvSpPr>
        <p:spPr>
          <a:xfrm>
            <a:off x="1729479" y="2136262"/>
            <a:ext cx="1554480" cy="274320"/>
          </a:xfrm>
          <a:prstGeom prst="roundRect">
            <a:avLst>
              <a:gd name="adj" fmla="val 30000"/>
            </a:avLst>
          </a:prstGeom>
          <a:solidFill>
            <a:srgbClr val="FFFFFF"/>
          </a:solidFill>
          <a:ln w="9525">
            <a:solidFill>
              <a:srgbClr val="2E7D32"/>
            </a:solidFill>
          </a:ln>
          <a:effectLst/>
        </p:spPr>
        <p:txBody>
          <a:bodyPr rtlCol="0" anchor="ctr" wrap="square" lIns="27432" rIns="27432" tIns="0" bIns="0">
            <a:noAutofit/>
          </a:bodyPr>
          <a:lstStyle/>
          <a:p>
            <a:pPr algn="ctr">
              <a:spcBef>
                <a:spcPts val="0"/>
              </a:spcBef>
              <a:spcAft>
                <a:spcPts val="0"/>
              </a:spcAft>
            </a:pPr>
            <a:r>
              <a:rPr lang="tr-TR" sz="1300" b="1" i="0">
                <a:solidFill>
                  <a:srgbClr val="2E7D32"/>
                </a:solidFill>
                <a:latin typeface="Calibri"/>
              </a:rPr>
              <a:t>Batı Karadeniz</a:t>
            </a:r>
          </a:p>
        </p:txBody>
      </p:sp>
      <p:sp>
        <p:nvSpPr>
          <p:cNvPr id="10" name="Oval 9"/>
          <p:cNvSpPr/>
          <p:nvPr/>
        </p:nvSpPr>
        <p:spPr>
          <a:xfrm>
            <a:off x="3813640" y="1740671"/>
            <a:ext cx="792987" cy="353032"/>
          </a:xfrm>
          <a:prstGeom prst="ellipse">
            <a:avLst/>
          </a:prstGeom>
          <a:noFill/>
          <a:ln w="41275">
            <a:solidFill>
              <a:srgbClr val="2E7D32"/>
            </a:solidFill>
          </a:ln>
          <a:effectLst/>
        </p:spPr>
        <p:txBody>
          <a:bodyPr rtlCol="0" anchor="ctr"/>
          <a:lstStyle/>
          <a:p/>
        </p:txBody>
      </p:sp>
      <p:sp>
        <p:nvSpPr>
          <p:cNvPr id="11" name="Rounded Rectangle 10"/>
          <p:cNvSpPr/>
          <p:nvPr/>
        </p:nvSpPr>
        <p:spPr>
          <a:xfrm>
            <a:off x="3844373" y="2111991"/>
            <a:ext cx="1554480" cy="274320"/>
          </a:xfrm>
          <a:prstGeom prst="roundRect">
            <a:avLst>
              <a:gd name="adj" fmla="val 30000"/>
            </a:avLst>
          </a:prstGeom>
          <a:solidFill>
            <a:srgbClr val="FFFFFF"/>
          </a:solidFill>
          <a:ln w="9525">
            <a:solidFill>
              <a:srgbClr val="2E7D32"/>
            </a:solidFill>
          </a:ln>
          <a:effectLst/>
        </p:spPr>
        <p:txBody>
          <a:bodyPr rtlCol="0" anchor="ctr" wrap="square" lIns="27432" rIns="27432" tIns="0" bIns="0">
            <a:noAutofit/>
          </a:bodyPr>
          <a:lstStyle/>
          <a:p>
            <a:pPr algn="ctr">
              <a:spcBef>
                <a:spcPts val="0"/>
              </a:spcBef>
              <a:spcAft>
                <a:spcPts val="0"/>
              </a:spcAft>
            </a:pPr>
            <a:r>
              <a:rPr lang="tr-TR" sz="1300" b="1" i="0">
                <a:solidFill>
                  <a:srgbClr val="2E7D32"/>
                </a:solidFill>
                <a:latin typeface="Calibri"/>
              </a:rPr>
              <a:t>Orta Karadeniz</a:t>
            </a:r>
          </a:p>
        </p:txBody>
      </p:sp>
      <p:sp>
        <p:nvSpPr>
          <p:cNvPr id="12" name="Oval 11"/>
          <p:cNvSpPr/>
          <p:nvPr/>
        </p:nvSpPr>
        <p:spPr>
          <a:xfrm>
            <a:off x="3280577" y="3013793"/>
            <a:ext cx="396493" cy="353033"/>
          </a:xfrm>
          <a:prstGeom prst="ellipse">
            <a:avLst/>
          </a:prstGeom>
          <a:noFill/>
          <a:ln w="41275">
            <a:solidFill>
              <a:srgbClr val="2E7D32"/>
            </a:solidFill>
          </a:ln>
          <a:effectLst/>
        </p:spPr>
        <p:txBody>
          <a:bodyPr rtlCol="0" anchor="ctr"/>
          <a:lstStyle/>
          <a:p/>
        </p:txBody>
      </p:sp>
      <p:sp>
        <p:nvSpPr>
          <p:cNvPr id="13" name="Rounded Rectangle 12"/>
          <p:cNvSpPr/>
          <p:nvPr/>
        </p:nvSpPr>
        <p:spPr>
          <a:xfrm>
            <a:off x="2701583" y="3385114"/>
            <a:ext cx="1554480" cy="274320"/>
          </a:xfrm>
          <a:prstGeom prst="roundRect">
            <a:avLst>
              <a:gd name="adj" fmla="val 30000"/>
            </a:avLst>
          </a:prstGeom>
          <a:solidFill>
            <a:srgbClr val="FFFFFF"/>
          </a:solidFill>
          <a:ln w="9525">
            <a:solidFill>
              <a:srgbClr val="2E7D32"/>
            </a:solidFill>
          </a:ln>
          <a:effectLst/>
        </p:spPr>
        <p:txBody>
          <a:bodyPr rtlCol="0" anchor="ctr" wrap="square" lIns="27432" rIns="27432" tIns="0" bIns="0">
            <a:noAutofit/>
          </a:bodyPr>
          <a:lstStyle/>
          <a:p>
            <a:pPr algn="ctr">
              <a:spcBef>
                <a:spcPts val="0"/>
              </a:spcBef>
              <a:spcAft>
                <a:spcPts val="0"/>
              </a:spcAft>
            </a:pPr>
            <a:r>
              <a:rPr lang="tr-TR" sz="1300" b="1" i="0">
                <a:solidFill>
                  <a:srgbClr val="2E7D32"/>
                </a:solidFill>
                <a:latin typeface="Calibri"/>
              </a:rPr>
              <a:t>Tuz Gölü çevresi</a:t>
            </a:r>
          </a:p>
        </p:txBody>
      </p:sp>
      <p:sp>
        <p:nvSpPr>
          <p:cNvPr id="14" name="Oval 13"/>
          <p:cNvSpPr/>
          <p:nvPr/>
        </p:nvSpPr>
        <p:spPr>
          <a:xfrm>
            <a:off x="4152862" y="3925058"/>
            <a:ext cx="528658" cy="264774"/>
          </a:xfrm>
          <a:prstGeom prst="ellipse">
            <a:avLst/>
          </a:prstGeom>
          <a:noFill/>
          <a:ln w="41275">
            <a:solidFill>
              <a:srgbClr val="D3373A"/>
            </a:solidFill>
          </a:ln>
          <a:effectLst/>
        </p:spPr>
        <p:txBody>
          <a:bodyPr rtlCol="0" anchor="ctr"/>
          <a:lstStyle/>
          <a:p/>
        </p:txBody>
      </p:sp>
      <p:sp>
        <p:nvSpPr>
          <p:cNvPr id="15" name="Rounded Rectangle 14"/>
          <p:cNvSpPr/>
          <p:nvPr/>
        </p:nvSpPr>
        <p:spPr>
          <a:xfrm>
            <a:off x="3845691" y="4208120"/>
            <a:ext cx="1143000" cy="274320"/>
          </a:xfrm>
          <a:prstGeom prst="roundRect">
            <a:avLst>
              <a:gd name="adj" fmla="val 30000"/>
            </a:avLst>
          </a:prstGeom>
          <a:solidFill>
            <a:srgbClr val="FFFFFF"/>
          </a:solidFill>
          <a:ln w="9525">
            <a:solidFill>
              <a:srgbClr val="D3373A"/>
            </a:solidFill>
          </a:ln>
          <a:effectLst/>
        </p:spPr>
        <p:txBody>
          <a:bodyPr rtlCol="0" anchor="ctr" wrap="square" lIns="27432" rIns="27432" tIns="0" bIns="0">
            <a:noAutofit/>
          </a:bodyPr>
          <a:lstStyle/>
          <a:p>
            <a:pPr algn="ctr">
              <a:spcBef>
                <a:spcPts val="0"/>
              </a:spcBef>
              <a:spcAft>
                <a:spcPts val="0"/>
              </a:spcAft>
            </a:pPr>
            <a:r>
              <a:rPr lang="tr-TR" sz="1300" b="1" i="0">
                <a:solidFill>
                  <a:srgbClr val="D3373A"/>
                </a:solidFill>
                <a:latin typeface="Calibri"/>
              </a:rPr>
              <a:t>Çukurova</a:t>
            </a:r>
          </a:p>
        </p:txBody>
      </p:sp>
      <p:sp>
        <p:nvSpPr>
          <p:cNvPr id="16" name="Rounded Rectangle 15"/>
          <p:cNvSpPr/>
          <p:nvPr/>
        </p:nvSpPr>
        <p:spPr>
          <a:xfrm>
            <a:off x="8385048" y="1261872"/>
            <a:ext cx="3303727" cy="1310640"/>
          </a:xfrm>
          <a:prstGeom prst="roundRect">
            <a:avLst>
              <a:gd name="adj" fmla="val 5000"/>
            </a:avLst>
          </a:prstGeom>
          <a:solidFill>
            <a:srgbClr val="E3F1E4"/>
          </a:solidFill>
          <a:ln>
            <a:noFill/>
          </a:ln>
          <a:effectLst/>
        </p:spPr>
        <p:txBody>
          <a:bodyPr rtlCol="0" anchor="ctr"/>
          <a:lstStyle/>
          <a:p/>
        </p:txBody>
      </p:sp>
      <p:sp>
        <p:nvSpPr>
          <p:cNvPr id="17" name="Rounded Rectangle 16"/>
          <p:cNvSpPr/>
          <p:nvPr/>
        </p:nvSpPr>
        <p:spPr>
          <a:xfrm>
            <a:off x="8385048" y="1261872"/>
            <a:ext cx="3303727" cy="411480"/>
          </a:xfrm>
          <a:prstGeom prst="roundRect">
            <a:avLst>
              <a:gd name="adj" fmla="val 20000"/>
            </a:avLst>
          </a:prstGeom>
          <a:solidFill>
            <a:srgbClr val="2E7D32"/>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Serhat ✓</a:t>
            </a:r>
          </a:p>
        </p:txBody>
      </p:sp>
      <p:sp>
        <p:nvSpPr>
          <p:cNvPr id="18" name="TextBox 17"/>
          <p:cNvSpPr txBox="1"/>
          <p:nvPr/>
        </p:nvSpPr>
        <p:spPr>
          <a:xfrm>
            <a:off x="8494776" y="1728216"/>
            <a:ext cx="3084271" cy="789432"/>
          </a:xfrm>
          <a:prstGeom prst="rect">
            <a:avLst/>
          </a:prstGeom>
          <a:noFill/>
        </p:spPr>
        <p:txBody>
          <a:bodyPr wrap="square" anchor="t" lIns="73152" rIns="73152" tIns="36576" bIns="36576">
            <a:noAutofit/>
          </a:bodyPr>
          <a:lstStyle/>
          <a:p>
            <a:pPr algn="l">
              <a:spcBef>
                <a:spcPts val="0"/>
              </a:spcBef>
              <a:spcAft>
                <a:spcPts val="0"/>
              </a:spcAft>
            </a:pPr>
            <a:r>
              <a:rPr lang="tr-TR" sz="1550" b="0" i="0">
                <a:solidFill>
                  <a:srgbClr val="262626"/>
                </a:solidFill>
                <a:latin typeface="Calibri"/>
              </a:rPr>
              <a:t>Batı Karadeniz koyu yeşil, orta kesim daha seyrek.</a:t>
            </a:r>
          </a:p>
        </p:txBody>
      </p:sp>
      <p:sp>
        <p:nvSpPr>
          <p:cNvPr id="19" name="Rounded Rectangle 18"/>
          <p:cNvSpPr/>
          <p:nvPr/>
        </p:nvSpPr>
        <p:spPr>
          <a:xfrm>
            <a:off x="8385048" y="2709672"/>
            <a:ext cx="3303727" cy="1310640"/>
          </a:xfrm>
          <a:prstGeom prst="roundRect">
            <a:avLst>
              <a:gd name="adj" fmla="val 5000"/>
            </a:avLst>
          </a:prstGeom>
          <a:solidFill>
            <a:srgbClr val="E3F1E4"/>
          </a:solidFill>
          <a:ln>
            <a:noFill/>
          </a:ln>
          <a:effectLst/>
        </p:spPr>
        <p:txBody>
          <a:bodyPr rtlCol="0" anchor="ctr"/>
          <a:lstStyle/>
          <a:p/>
        </p:txBody>
      </p:sp>
      <p:sp>
        <p:nvSpPr>
          <p:cNvPr id="20" name="Rounded Rectangle 19"/>
          <p:cNvSpPr/>
          <p:nvPr/>
        </p:nvSpPr>
        <p:spPr>
          <a:xfrm>
            <a:off x="8385048" y="2709672"/>
            <a:ext cx="3303727" cy="411480"/>
          </a:xfrm>
          <a:prstGeom prst="roundRect">
            <a:avLst>
              <a:gd name="adj" fmla="val 20000"/>
            </a:avLst>
          </a:prstGeom>
          <a:solidFill>
            <a:srgbClr val="2E7D32"/>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Zeynep ✓</a:t>
            </a:r>
          </a:p>
        </p:txBody>
      </p:sp>
      <p:sp>
        <p:nvSpPr>
          <p:cNvPr id="21" name="TextBox 20"/>
          <p:cNvSpPr txBox="1"/>
          <p:nvPr/>
        </p:nvSpPr>
        <p:spPr>
          <a:xfrm>
            <a:off x="8494776" y="3176016"/>
            <a:ext cx="3084271" cy="789432"/>
          </a:xfrm>
          <a:prstGeom prst="rect">
            <a:avLst/>
          </a:prstGeom>
          <a:noFill/>
        </p:spPr>
        <p:txBody>
          <a:bodyPr wrap="square" anchor="t" lIns="73152" rIns="73152" tIns="36576" bIns="36576">
            <a:noAutofit/>
          </a:bodyPr>
          <a:lstStyle/>
          <a:p>
            <a:pPr algn="l">
              <a:spcBef>
                <a:spcPts val="0"/>
              </a:spcBef>
              <a:spcAft>
                <a:spcPts val="0"/>
              </a:spcAft>
            </a:pPr>
            <a:r>
              <a:rPr lang="tr-TR" sz="1550" b="0" i="0">
                <a:solidFill>
                  <a:srgbClr val="262626"/>
                </a:solidFill>
                <a:latin typeface="Calibri"/>
              </a:rPr>
              <a:t>Tuz Gölü çevresi ormansız: en az yağış alan yerlerden.</a:t>
            </a:r>
          </a:p>
        </p:txBody>
      </p:sp>
      <p:sp>
        <p:nvSpPr>
          <p:cNvPr id="22" name="Rounded Rectangle 21"/>
          <p:cNvSpPr/>
          <p:nvPr/>
        </p:nvSpPr>
        <p:spPr>
          <a:xfrm>
            <a:off x="8385048" y="4157472"/>
            <a:ext cx="3303727" cy="1310640"/>
          </a:xfrm>
          <a:prstGeom prst="roundRect">
            <a:avLst>
              <a:gd name="adj" fmla="val 5000"/>
            </a:avLst>
          </a:prstGeom>
          <a:solidFill>
            <a:srgbClr val="F9E1E1"/>
          </a:solidFill>
          <a:ln>
            <a:noFill/>
          </a:ln>
          <a:effectLst/>
        </p:spPr>
        <p:txBody>
          <a:bodyPr rtlCol="0" anchor="ctr"/>
          <a:lstStyle/>
          <a:p/>
        </p:txBody>
      </p:sp>
      <p:sp>
        <p:nvSpPr>
          <p:cNvPr id="23" name="Rounded Rectangle 22"/>
          <p:cNvSpPr/>
          <p:nvPr/>
        </p:nvSpPr>
        <p:spPr>
          <a:xfrm>
            <a:off x="8385048" y="4157472"/>
            <a:ext cx="3303727" cy="411480"/>
          </a:xfrm>
          <a:prstGeom prst="roundRect">
            <a:avLst>
              <a:gd name="adj" fmla="val 20000"/>
            </a:avLst>
          </a:prstGeom>
          <a:solidFill>
            <a:srgbClr val="D3373A"/>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Nuri ✗</a:t>
            </a:r>
          </a:p>
        </p:txBody>
      </p:sp>
      <p:sp>
        <p:nvSpPr>
          <p:cNvPr id="24" name="TextBox 23"/>
          <p:cNvSpPr txBox="1"/>
          <p:nvPr/>
        </p:nvSpPr>
        <p:spPr>
          <a:xfrm>
            <a:off x="8494776" y="4623816"/>
            <a:ext cx="3084271" cy="789432"/>
          </a:xfrm>
          <a:prstGeom prst="rect">
            <a:avLst/>
          </a:prstGeom>
          <a:noFill/>
        </p:spPr>
        <p:txBody>
          <a:bodyPr wrap="square" anchor="t" lIns="73152" rIns="73152" tIns="36576" bIns="36576">
            <a:noAutofit/>
          </a:bodyPr>
          <a:lstStyle/>
          <a:p>
            <a:pPr algn="l">
              <a:spcBef>
                <a:spcPts val="0"/>
              </a:spcBef>
              <a:spcAft>
                <a:spcPts val="0"/>
              </a:spcAft>
            </a:pPr>
            <a:r>
              <a:rPr lang="tr-TR" sz="1500" b="0" i="0">
                <a:solidFill>
                  <a:srgbClr val="262626"/>
                </a:solidFill>
                <a:latin typeface="Calibri"/>
              </a:rPr>
              <a:t>Çukurova ormansız ama yanındaki Toroslar ormanlık: neden yağış değil, ovanın tarım alanı olması.</a:t>
            </a:r>
          </a:p>
        </p:txBody>
      </p:sp>
      <p:sp>
        <p:nvSpPr>
          <p:cNvPr id="25" name="Rounded Rectangle 24"/>
          <p:cNvSpPr/>
          <p:nvPr/>
        </p:nvSpPr>
        <p:spPr>
          <a:xfrm>
            <a:off x="8385048" y="5559552"/>
            <a:ext cx="3303727" cy="731520"/>
          </a:xfrm>
          <a:prstGeom prst="roundRect">
            <a:avLst>
              <a:gd name="adj" fmla="val 8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FFFFFF"/>
                </a:solidFill>
                <a:latin typeface="Calibri"/>
              </a:rPr>
              <a:t>CEVAP: D</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160 / 187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5.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6949440" cy="937009"/>
          </a:xfrm>
          <a:prstGeom prst="roundRect">
            <a:avLst>
              <a:gd name="adj" fmla="val 9758"/>
            </a:avLst>
          </a:prstGeom>
          <a:solidFill>
            <a:srgbClr val="F0F0F0"/>
          </a:solidFill>
          <a:ln>
            <a:noFill/>
          </a:ln>
          <a:effectLst/>
        </p:spPr>
        <p:txBody>
          <a:bodyPr rtlCol="0" anchor="ctr"/>
          <a:lstStyle/>
          <a:p/>
        </p:txBody>
      </p:sp>
      <p:sp>
        <p:nvSpPr>
          <p:cNvPr id="7" name="TextBox 6"/>
          <p:cNvSpPr txBox="1"/>
          <p:nvPr/>
        </p:nvSpPr>
        <p:spPr>
          <a:xfrm>
            <a:off x="640080" y="1216152"/>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Göktürk:</a:t>
            </a:r>
            <a:r>
              <a:rPr lang="tr-TR" sz="1600" b="0" i="0">
                <a:solidFill>
                  <a:srgbClr val="262626"/>
                </a:solidFill>
                <a:latin typeface="Calibri"/>
              </a:rPr>
              <a:t> Türkiye’de kıyı bölgeleri orman varlığı bakımından iç bölgelere oranla daha zengindir. Bu durumun ana nedenlerinden biri bölgelerin yağış miktarlarının farklı olmasıdır.</a:t>
            </a:r>
          </a:p>
        </p:txBody>
      </p:sp>
      <p:sp>
        <p:nvSpPr>
          <p:cNvPr id="8" name="Rounded Rectangle 7"/>
          <p:cNvSpPr/>
          <p:nvPr/>
        </p:nvSpPr>
        <p:spPr>
          <a:xfrm>
            <a:off x="502920" y="2226313"/>
            <a:ext cx="6949440" cy="697355"/>
          </a:xfrm>
          <a:prstGeom prst="roundRect">
            <a:avLst>
              <a:gd name="adj" fmla="val 13112"/>
            </a:avLst>
          </a:prstGeom>
          <a:solidFill>
            <a:srgbClr val="F0F0F0"/>
          </a:solidFill>
          <a:ln>
            <a:noFill/>
          </a:ln>
          <a:effectLst/>
        </p:spPr>
        <p:txBody>
          <a:bodyPr rtlCol="0" anchor="ctr"/>
          <a:lstStyle/>
          <a:p/>
        </p:txBody>
      </p:sp>
      <p:sp>
        <p:nvSpPr>
          <p:cNvPr id="9" name="TextBox 8"/>
          <p:cNvSpPr txBox="1"/>
          <p:nvPr/>
        </p:nvSpPr>
        <p:spPr>
          <a:xfrm>
            <a:off x="640080" y="2226313"/>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Yeşim:</a:t>
            </a:r>
            <a:r>
              <a:rPr lang="tr-TR" sz="1600" b="0" i="0">
                <a:solidFill>
                  <a:srgbClr val="262626"/>
                </a:solidFill>
                <a:latin typeface="Calibri"/>
              </a:rPr>
              <a:t> Türkiye’nin iç kesimlerinde orman varlığının kıyı kesimlerine göre daha az olmasında orman yangınları etkili olmuştur.</a:t>
            </a:r>
          </a:p>
        </p:txBody>
      </p:sp>
      <p:sp>
        <p:nvSpPr>
          <p:cNvPr id="10" name="Rounded Rectangle 9"/>
          <p:cNvSpPr/>
          <p:nvPr/>
        </p:nvSpPr>
        <p:spPr>
          <a:xfrm>
            <a:off x="502920" y="2996820"/>
            <a:ext cx="6949440" cy="937009"/>
          </a:xfrm>
          <a:prstGeom prst="roundRect">
            <a:avLst>
              <a:gd name="adj" fmla="val 9758"/>
            </a:avLst>
          </a:prstGeom>
          <a:solidFill>
            <a:srgbClr val="F0F0F0"/>
          </a:solidFill>
          <a:ln>
            <a:noFill/>
          </a:ln>
          <a:effectLst/>
        </p:spPr>
        <p:txBody>
          <a:bodyPr rtlCol="0" anchor="ctr"/>
          <a:lstStyle/>
          <a:p/>
        </p:txBody>
      </p:sp>
      <p:sp>
        <p:nvSpPr>
          <p:cNvPr id="11" name="TextBox 10"/>
          <p:cNvSpPr txBox="1"/>
          <p:nvPr/>
        </p:nvSpPr>
        <p:spPr>
          <a:xfrm>
            <a:off x="640080" y="2996820"/>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Ceylin:</a:t>
            </a:r>
            <a:r>
              <a:rPr lang="tr-TR" sz="1600" b="0" i="0">
                <a:solidFill>
                  <a:srgbClr val="262626"/>
                </a:solidFill>
                <a:latin typeface="Calibri"/>
              </a:rPr>
              <a:t> Türkiye’nin iç kesimlerinde boşluklu orman alanlarının, kıyı alanlarına göre daha fazla olmasında denizel etkinin iç kesimlere sokulması etkili olmaktadır.</a:t>
            </a:r>
          </a:p>
        </p:txBody>
      </p:sp>
      <p:sp>
        <p:nvSpPr>
          <p:cNvPr id="12" name="Rounded Rectangle 11"/>
          <p:cNvSpPr/>
          <p:nvPr/>
        </p:nvSpPr>
        <p:spPr>
          <a:xfrm>
            <a:off x="502920" y="4006982"/>
            <a:ext cx="6949440" cy="697355"/>
          </a:xfrm>
          <a:prstGeom prst="roundRect">
            <a:avLst>
              <a:gd name="adj" fmla="val 13112"/>
            </a:avLst>
          </a:prstGeom>
          <a:solidFill>
            <a:srgbClr val="F0F0F0"/>
          </a:solidFill>
          <a:ln>
            <a:noFill/>
          </a:ln>
          <a:effectLst/>
        </p:spPr>
        <p:txBody>
          <a:bodyPr rtlCol="0" anchor="ctr"/>
          <a:lstStyle/>
          <a:p/>
        </p:txBody>
      </p:sp>
      <p:sp>
        <p:nvSpPr>
          <p:cNvPr id="13" name="TextBox 12"/>
          <p:cNvSpPr txBox="1"/>
          <p:nvPr/>
        </p:nvSpPr>
        <p:spPr>
          <a:xfrm>
            <a:off x="640080" y="4006982"/>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Serhat:</a:t>
            </a:r>
            <a:r>
              <a:rPr lang="tr-TR" sz="1600" b="0" i="0">
                <a:solidFill>
                  <a:srgbClr val="262626"/>
                </a:solidFill>
                <a:latin typeface="Calibri"/>
              </a:rPr>
              <a:t> Türkiye’nin Karadeniz kıyısının orta kesiminde orman yoğunluğunun batı kesimine göre daha az olmasında topografik koşullar etkilidir.</a:t>
            </a:r>
          </a:p>
        </p:txBody>
      </p:sp>
      <p:sp>
        <p:nvSpPr>
          <p:cNvPr id="14" name="Rounded Rectangle 13"/>
          <p:cNvSpPr/>
          <p:nvPr/>
        </p:nvSpPr>
        <p:spPr>
          <a:xfrm>
            <a:off x="502920" y="4777489"/>
            <a:ext cx="6949440" cy="697355"/>
          </a:xfrm>
          <a:prstGeom prst="roundRect">
            <a:avLst>
              <a:gd name="adj" fmla="val 13112"/>
            </a:avLst>
          </a:prstGeom>
          <a:solidFill>
            <a:srgbClr val="F0F0F0"/>
          </a:solidFill>
          <a:ln>
            <a:noFill/>
          </a:ln>
          <a:effectLst/>
        </p:spPr>
        <p:txBody>
          <a:bodyPr rtlCol="0" anchor="ctr"/>
          <a:lstStyle/>
          <a:p/>
        </p:txBody>
      </p:sp>
      <p:sp>
        <p:nvSpPr>
          <p:cNvPr id="15" name="TextBox 14"/>
          <p:cNvSpPr txBox="1"/>
          <p:nvPr/>
        </p:nvSpPr>
        <p:spPr>
          <a:xfrm>
            <a:off x="640080" y="4777489"/>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Nuri:</a:t>
            </a:r>
            <a:r>
              <a:rPr lang="tr-TR" sz="1600" b="0" i="0">
                <a:solidFill>
                  <a:srgbClr val="262626"/>
                </a:solidFill>
                <a:latin typeface="Calibri"/>
              </a:rPr>
              <a:t> Çukurova’da orman yoğunluğunun diğer alanlara göre daha az olmasında yağış miktarı etkili olmuştur.</a:t>
            </a:r>
          </a:p>
        </p:txBody>
      </p:sp>
      <p:sp>
        <p:nvSpPr>
          <p:cNvPr id="16" name="Rounded Rectangle 15"/>
          <p:cNvSpPr/>
          <p:nvPr/>
        </p:nvSpPr>
        <p:spPr>
          <a:xfrm>
            <a:off x="502920" y="5547996"/>
            <a:ext cx="6949440" cy="697355"/>
          </a:xfrm>
          <a:prstGeom prst="roundRect">
            <a:avLst>
              <a:gd name="adj" fmla="val 13112"/>
            </a:avLst>
          </a:prstGeom>
          <a:solidFill>
            <a:srgbClr val="F0F0F0"/>
          </a:solidFill>
          <a:ln>
            <a:noFill/>
          </a:ln>
          <a:effectLst/>
        </p:spPr>
        <p:txBody>
          <a:bodyPr rtlCol="0" anchor="ctr"/>
          <a:lstStyle/>
          <a:p/>
        </p:txBody>
      </p:sp>
      <p:sp>
        <p:nvSpPr>
          <p:cNvPr id="17" name="TextBox 16"/>
          <p:cNvSpPr txBox="1"/>
          <p:nvPr/>
        </p:nvSpPr>
        <p:spPr>
          <a:xfrm>
            <a:off x="640080" y="5547996"/>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Zeynep:</a:t>
            </a:r>
            <a:r>
              <a:rPr lang="tr-TR" sz="1600" b="0" i="0">
                <a:solidFill>
                  <a:srgbClr val="262626"/>
                </a:solidFill>
                <a:latin typeface="Calibri"/>
              </a:rPr>
              <a:t> Tuz Gölü çevresinde orman yoğunluğunun az olmasının nedeni yağışın yetersizliğidir.</a:t>
            </a:r>
          </a:p>
        </p:txBody>
      </p:sp>
      <p:sp>
        <p:nvSpPr>
          <p:cNvPr id="18" name="Rounded Rectangle 17"/>
          <p:cNvSpPr/>
          <p:nvPr/>
        </p:nvSpPr>
        <p:spPr>
          <a:xfrm>
            <a:off x="7653528" y="1216152"/>
            <a:ext cx="4035247" cy="1600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330"/>
              </a:spcAft>
            </a:pPr>
            <a:r>
              <a:rPr lang="tr-TR" sz="1650" b="0" i="0">
                <a:solidFill>
                  <a:srgbClr val="262626"/>
                </a:solidFill>
                <a:latin typeface="Calibri"/>
              </a:rPr>
              <a:t>Coğrafi bir alan, birden fazla bölge türünün sınırları içinde yer alabilmektedir.</a:t>
            </a:r>
          </a:p>
          <a:p>
            <a:pPr algn="l">
              <a:spcBef>
                <a:spcPts val="0"/>
              </a:spcBef>
              <a:spcAft>
                <a:spcPts val="0"/>
              </a:spcAft>
            </a:pPr>
            <a:r>
              <a:rPr lang="tr-TR" sz="1650" b="1" i="0">
                <a:solidFill>
                  <a:srgbClr val="262626"/>
                </a:solidFill>
                <a:latin typeface="Calibri"/>
              </a:rPr>
              <a:t>5. Aşağıdaki öğrencilerden hangilerinin cevaplarında bu özellik öne çıkmaktadır?</a:t>
            </a:r>
          </a:p>
        </p:txBody>
      </p:sp>
      <p:sp>
        <p:nvSpPr>
          <p:cNvPr id="19" name="Rounded Rectangle 18"/>
          <p:cNvSpPr/>
          <p:nvPr/>
        </p:nvSpPr>
        <p:spPr>
          <a:xfrm>
            <a:off x="7653528" y="2953512"/>
            <a:ext cx="4035247" cy="594360"/>
          </a:xfrm>
          <a:prstGeom prst="roundRect">
            <a:avLst>
              <a:gd name="adj" fmla="val 18461"/>
            </a:avLst>
          </a:prstGeom>
          <a:solidFill>
            <a:srgbClr val="FFFFFF"/>
          </a:solidFill>
          <a:ln w="12700">
            <a:solidFill>
              <a:srgbClr val="D9D9D9"/>
            </a:solidFill>
          </a:ln>
          <a:effectLst/>
        </p:spPr>
        <p:txBody>
          <a:bodyPr rtlCol="0" anchor="ctr"/>
          <a:lstStyle/>
          <a:p/>
        </p:txBody>
      </p:sp>
      <p:sp>
        <p:nvSpPr>
          <p:cNvPr id="20" name="Oval 19"/>
          <p:cNvSpPr/>
          <p:nvPr/>
        </p:nvSpPr>
        <p:spPr>
          <a:xfrm>
            <a:off x="7754112" y="30220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21" name="TextBox 20"/>
          <p:cNvSpPr txBox="1"/>
          <p:nvPr/>
        </p:nvSpPr>
        <p:spPr>
          <a:xfrm>
            <a:off x="8311896" y="2953512"/>
            <a:ext cx="3285439" cy="59436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Yeşim ve Ceylin</a:t>
            </a:r>
          </a:p>
        </p:txBody>
      </p:sp>
      <p:sp>
        <p:nvSpPr>
          <p:cNvPr id="22" name="Rounded Rectangle 21"/>
          <p:cNvSpPr/>
          <p:nvPr/>
        </p:nvSpPr>
        <p:spPr>
          <a:xfrm>
            <a:off x="7653528" y="3639312"/>
            <a:ext cx="4035247" cy="594360"/>
          </a:xfrm>
          <a:prstGeom prst="roundRect">
            <a:avLst>
              <a:gd name="adj" fmla="val 18461"/>
            </a:avLst>
          </a:prstGeom>
          <a:solidFill>
            <a:srgbClr val="FFFFFF"/>
          </a:solidFill>
          <a:ln w="12700">
            <a:solidFill>
              <a:srgbClr val="D9D9D9"/>
            </a:solidFill>
          </a:ln>
          <a:effectLst/>
        </p:spPr>
        <p:txBody>
          <a:bodyPr rtlCol="0" anchor="ctr"/>
          <a:lstStyle/>
          <a:p/>
        </p:txBody>
      </p:sp>
      <p:sp>
        <p:nvSpPr>
          <p:cNvPr id="23" name="Oval 22"/>
          <p:cNvSpPr/>
          <p:nvPr/>
        </p:nvSpPr>
        <p:spPr>
          <a:xfrm>
            <a:off x="7754112" y="37078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4" name="TextBox 23"/>
          <p:cNvSpPr txBox="1"/>
          <p:nvPr/>
        </p:nvSpPr>
        <p:spPr>
          <a:xfrm>
            <a:off x="8311896" y="3639312"/>
            <a:ext cx="3285439" cy="59436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Göktürk ve Zeynep</a:t>
            </a:r>
          </a:p>
        </p:txBody>
      </p:sp>
      <p:sp>
        <p:nvSpPr>
          <p:cNvPr id="25" name="Rounded Rectangle 24"/>
          <p:cNvSpPr/>
          <p:nvPr/>
        </p:nvSpPr>
        <p:spPr>
          <a:xfrm>
            <a:off x="7653528" y="4325112"/>
            <a:ext cx="4035247" cy="594360"/>
          </a:xfrm>
          <a:prstGeom prst="roundRect">
            <a:avLst>
              <a:gd name="adj" fmla="val 18461"/>
            </a:avLst>
          </a:prstGeom>
          <a:solidFill>
            <a:srgbClr val="FFFFFF"/>
          </a:solidFill>
          <a:ln w="12700">
            <a:solidFill>
              <a:srgbClr val="D9D9D9"/>
            </a:solidFill>
          </a:ln>
          <a:effectLst/>
        </p:spPr>
        <p:txBody>
          <a:bodyPr rtlCol="0" anchor="ctr"/>
          <a:lstStyle/>
          <a:p/>
        </p:txBody>
      </p:sp>
      <p:sp>
        <p:nvSpPr>
          <p:cNvPr id="26" name="Oval 25"/>
          <p:cNvSpPr/>
          <p:nvPr/>
        </p:nvSpPr>
        <p:spPr>
          <a:xfrm>
            <a:off x="7754112" y="43936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7" name="TextBox 26"/>
          <p:cNvSpPr txBox="1"/>
          <p:nvPr/>
        </p:nvSpPr>
        <p:spPr>
          <a:xfrm>
            <a:off x="8311896" y="4325112"/>
            <a:ext cx="3285439" cy="59436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Ceylin ve Serhat</a:t>
            </a:r>
          </a:p>
        </p:txBody>
      </p:sp>
      <p:sp>
        <p:nvSpPr>
          <p:cNvPr id="28" name="Rounded Rectangle 27"/>
          <p:cNvSpPr/>
          <p:nvPr/>
        </p:nvSpPr>
        <p:spPr>
          <a:xfrm>
            <a:off x="7653528" y="5010912"/>
            <a:ext cx="4035247" cy="594360"/>
          </a:xfrm>
          <a:prstGeom prst="roundRect">
            <a:avLst>
              <a:gd name="adj" fmla="val 18461"/>
            </a:avLst>
          </a:prstGeom>
          <a:solidFill>
            <a:srgbClr val="FFFFFF"/>
          </a:solidFill>
          <a:ln w="12700">
            <a:solidFill>
              <a:srgbClr val="D9D9D9"/>
            </a:solidFill>
          </a:ln>
          <a:effectLst/>
        </p:spPr>
        <p:txBody>
          <a:bodyPr rtlCol="0" anchor="ctr"/>
          <a:lstStyle/>
          <a:p/>
        </p:txBody>
      </p:sp>
      <p:sp>
        <p:nvSpPr>
          <p:cNvPr id="29" name="Oval 28"/>
          <p:cNvSpPr/>
          <p:nvPr/>
        </p:nvSpPr>
        <p:spPr>
          <a:xfrm>
            <a:off x="7754112" y="50794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30" name="TextBox 29"/>
          <p:cNvSpPr txBox="1"/>
          <p:nvPr/>
        </p:nvSpPr>
        <p:spPr>
          <a:xfrm>
            <a:off x="8311896" y="5010912"/>
            <a:ext cx="3285439" cy="59436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Yeşim ve Zeynep</a:t>
            </a:r>
          </a:p>
        </p:txBody>
      </p:sp>
      <p:sp>
        <p:nvSpPr>
          <p:cNvPr id="31" name="Rounded Rectangle 30"/>
          <p:cNvSpPr/>
          <p:nvPr/>
        </p:nvSpPr>
        <p:spPr>
          <a:xfrm>
            <a:off x="7653528" y="5696712"/>
            <a:ext cx="4035247" cy="594360"/>
          </a:xfrm>
          <a:prstGeom prst="roundRect">
            <a:avLst>
              <a:gd name="adj" fmla="val 18461"/>
            </a:avLst>
          </a:prstGeom>
          <a:solidFill>
            <a:srgbClr val="FFFFFF"/>
          </a:solidFill>
          <a:ln w="12700">
            <a:solidFill>
              <a:srgbClr val="D9D9D9"/>
            </a:solidFill>
          </a:ln>
          <a:effectLst/>
        </p:spPr>
        <p:txBody>
          <a:bodyPr rtlCol="0" anchor="ctr"/>
          <a:lstStyle/>
          <a:p/>
        </p:txBody>
      </p:sp>
      <p:sp>
        <p:nvSpPr>
          <p:cNvPr id="32" name="Oval 31"/>
          <p:cNvSpPr/>
          <p:nvPr/>
        </p:nvSpPr>
        <p:spPr>
          <a:xfrm>
            <a:off x="7754112" y="57652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33" name="TextBox 32"/>
          <p:cNvSpPr txBox="1"/>
          <p:nvPr/>
        </p:nvSpPr>
        <p:spPr>
          <a:xfrm>
            <a:off x="8311896" y="5696712"/>
            <a:ext cx="3285439" cy="59436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Serhat ve Ceylin</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161 / 187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6949440" cy="937009"/>
          </a:xfrm>
          <a:prstGeom prst="roundRect">
            <a:avLst>
              <a:gd name="adj" fmla="val 9758"/>
            </a:avLst>
          </a:prstGeom>
          <a:solidFill>
            <a:srgbClr val="E3F1E4"/>
          </a:solidFill>
          <a:ln w="22225">
            <a:solidFill>
              <a:srgbClr val="2E7D32"/>
            </a:solidFill>
          </a:ln>
          <a:effectLst/>
        </p:spPr>
        <p:txBody>
          <a:bodyPr rtlCol="0" anchor="ctr"/>
          <a:lstStyle/>
          <a:p/>
        </p:txBody>
      </p:sp>
      <p:sp>
        <p:nvSpPr>
          <p:cNvPr id="7" name="TextBox 6"/>
          <p:cNvSpPr txBox="1"/>
          <p:nvPr/>
        </p:nvSpPr>
        <p:spPr>
          <a:xfrm>
            <a:off x="640080" y="1216152"/>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Göktürk:</a:t>
            </a:r>
            <a:r>
              <a:rPr lang="tr-TR" sz="1600" b="0" i="0">
                <a:solidFill>
                  <a:srgbClr val="262626"/>
                </a:solidFill>
                <a:latin typeface="Calibri"/>
              </a:rPr>
              <a:t> Türkiye’de kıyı bölgeleri orman varlığı bakımından iç bölgelere oranla daha zengindir. Bu durumun ana nedenlerinden biri bölgelerin yağış miktarlarının farklı olmasıdır.</a:t>
            </a:r>
          </a:p>
        </p:txBody>
      </p:sp>
      <p:sp>
        <p:nvSpPr>
          <p:cNvPr id="8" name="Rounded Rectangle 7"/>
          <p:cNvSpPr/>
          <p:nvPr/>
        </p:nvSpPr>
        <p:spPr>
          <a:xfrm>
            <a:off x="502920" y="2226313"/>
            <a:ext cx="6949440" cy="697355"/>
          </a:xfrm>
          <a:prstGeom prst="roundRect">
            <a:avLst>
              <a:gd name="adj" fmla="val 13112"/>
            </a:avLst>
          </a:prstGeom>
          <a:solidFill>
            <a:srgbClr val="F0F0F0"/>
          </a:solidFill>
          <a:ln>
            <a:noFill/>
          </a:ln>
          <a:effectLst/>
        </p:spPr>
        <p:txBody>
          <a:bodyPr rtlCol="0" anchor="ctr"/>
          <a:lstStyle/>
          <a:p/>
        </p:txBody>
      </p:sp>
      <p:sp>
        <p:nvSpPr>
          <p:cNvPr id="9" name="TextBox 8"/>
          <p:cNvSpPr txBox="1"/>
          <p:nvPr/>
        </p:nvSpPr>
        <p:spPr>
          <a:xfrm>
            <a:off x="640080" y="2226313"/>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Yeşim:</a:t>
            </a:r>
            <a:r>
              <a:rPr lang="tr-TR" sz="1600" b="0" i="0">
                <a:solidFill>
                  <a:srgbClr val="767676"/>
                </a:solidFill>
                <a:latin typeface="Calibri"/>
              </a:rPr>
              <a:t> Türkiye’nin iç kesimlerinde orman varlığının kıyı kesimlerine göre daha az olmasında orman yangınları etkili olmuştur.</a:t>
            </a:r>
          </a:p>
        </p:txBody>
      </p:sp>
      <p:sp>
        <p:nvSpPr>
          <p:cNvPr id="10" name="Rounded Rectangle 9"/>
          <p:cNvSpPr/>
          <p:nvPr/>
        </p:nvSpPr>
        <p:spPr>
          <a:xfrm>
            <a:off x="502920" y="2996820"/>
            <a:ext cx="6949440" cy="937009"/>
          </a:xfrm>
          <a:prstGeom prst="roundRect">
            <a:avLst>
              <a:gd name="adj" fmla="val 9758"/>
            </a:avLst>
          </a:prstGeom>
          <a:solidFill>
            <a:srgbClr val="F0F0F0"/>
          </a:solidFill>
          <a:ln>
            <a:noFill/>
          </a:ln>
          <a:effectLst/>
        </p:spPr>
        <p:txBody>
          <a:bodyPr rtlCol="0" anchor="ctr"/>
          <a:lstStyle/>
          <a:p/>
        </p:txBody>
      </p:sp>
      <p:sp>
        <p:nvSpPr>
          <p:cNvPr id="11" name="TextBox 10"/>
          <p:cNvSpPr txBox="1"/>
          <p:nvPr/>
        </p:nvSpPr>
        <p:spPr>
          <a:xfrm>
            <a:off x="640080" y="2996820"/>
            <a:ext cx="6675120" cy="937009"/>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Ceylin:</a:t>
            </a:r>
            <a:r>
              <a:rPr lang="tr-TR" sz="1600" b="0" i="0">
                <a:solidFill>
                  <a:srgbClr val="767676"/>
                </a:solidFill>
                <a:latin typeface="Calibri"/>
              </a:rPr>
              <a:t> Türkiye’nin iç kesimlerinde boşluklu orman alanlarının, kıyı alanlarına göre daha fazla olmasında denizel etkinin iç kesimlere sokulması etkili olmaktadır.</a:t>
            </a:r>
          </a:p>
        </p:txBody>
      </p:sp>
      <p:sp>
        <p:nvSpPr>
          <p:cNvPr id="12" name="Rounded Rectangle 11"/>
          <p:cNvSpPr/>
          <p:nvPr/>
        </p:nvSpPr>
        <p:spPr>
          <a:xfrm>
            <a:off x="502920" y="4006982"/>
            <a:ext cx="6949440" cy="697355"/>
          </a:xfrm>
          <a:prstGeom prst="roundRect">
            <a:avLst>
              <a:gd name="adj" fmla="val 13112"/>
            </a:avLst>
          </a:prstGeom>
          <a:solidFill>
            <a:srgbClr val="F0F0F0"/>
          </a:solidFill>
          <a:ln>
            <a:noFill/>
          </a:ln>
          <a:effectLst/>
        </p:spPr>
        <p:txBody>
          <a:bodyPr rtlCol="0" anchor="ctr"/>
          <a:lstStyle/>
          <a:p/>
        </p:txBody>
      </p:sp>
      <p:sp>
        <p:nvSpPr>
          <p:cNvPr id="13" name="TextBox 12"/>
          <p:cNvSpPr txBox="1"/>
          <p:nvPr/>
        </p:nvSpPr>
        <p:spPr>
          <a:xfrm>
            <a:off x="640080" y="4006982"/>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Serhat:</a:t>
            </a:r>
            <a:r>
              <a:rPr lang="tr-TR" sz="1600" b="0" i="0">
                <a:solidFill>
                  <a:srgbClr val="767676"/>
                </a:solidFill>
                <a:latin typeface="Calibri"/>
              </a:rPr>
              <a:t> Türkiye’nin Karadeniz kıyısının orta kesiminde orman yoğunluğunun batı kesimine göre daha az olmasında topografik koşullar etkilidir.</a:t>
            </a:r>
          </a:p>
        </p:txBody>
      </p:sp>
      <p:sp>
        <p:nvSpPr>
          <p:cNvPr id="14" name="Rounded Rectangle 13"/>
          <p:cNvSpPr/>
          <p:nvPr/>
        </p:nvSpPr>
        <p:spPr>
          <a:xfrm>
            <a:off x="502920" y="4777489"/>
            <a:ext cx="6949440" cy="697355"/>
          </a:xfrm>
          <a:prstGeom prst="roundRect">
            <a:avLst>
              <a:gd name="adj" fmla="val 13112"/>
            </a:avLst>
          </a:prstGeom>
          <a:solidFill>
            <a:srgbClr val="F0F0F0"/>
          </a:solidFill>
          <a:ln>
            <a:noFill/>
          </a:ln>
          <a:effectLst/>
        </p:spPr>
        <p:txBody>
          <a:bodyPr rtlCol="0" anchor="ctr"/>
          <a:lstStyle/>
          <a:p/>
        </p:txBody>
      </p:sp>
      <p:sp>
        <p:nvSpPr>
          <p:cNvPr id="15" name="TextBox 14"/>
          <p:cNvSpPr txBox="1"/>
          <p:nvPr/>
        </p:nvSpPr>
        <p:spPr>
          <a:xfrm>
            <a:off x="640080" y="4777489"/>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Nuri:</a:t>
            </a:r>
            <a:r>
              <a:rPr lang="tr-TR" sz="1600" b="0" i="0">
                <a:solidFill>
                  <a:srgbClr val="767676"/>
                </a:solidFill>
                <a:latin typeface="Calibri"/>
              </a:rPr>
              <a:t> Çukurova’da orman yoğunluğunun diğer alanlara göre daha az olmasında yağış miktarı etkili olmuştur.</a:t>
            </a:r>
          </a:p>
        </p:txBody>
      </p:sp>
      <p:sp>
        <p:nvSpPr>
          <p:cNvPr id="16" name="Rounded Rectangle 15"/>
          <p:cNvSpPr/>
          <p:nvPr/>
        </p:nvSpPr>
        <p:spPr>
          <a:xfrm>
            <a:off x="502920" y="5547996"/>
            <a:ext cx="6949440" cy="697355"/>
          </a:xfrm>
          <a:prstGeom prst="roundRect">
            <a:avLst>
              <a:gd name="adj" fmla="val 13112"/>
            </a:avLst>
          </a:prstGeom>
          <a:solidFill>
            <a:srgbClr val="E3F1E4"/>
          </a:solidFill>
          <a:ln w="22225">
            <a:solidFill>
              <a:srgbClr val="2E7D32"/>
            </a:solidFill>
          </a:ln>
          <a:effectLst/>
        </p:spPr>
        <p:txBody>
          <a:bodyPr rtlCol="0" anchor="ctr"/>
          <a:lstStyle/>
          <a:p/>
        </p:txBody>
      </p:sp>
      <p:sp>
        <p:nvSpPr>
          <p:cNvPr id="17" name="TextBox 16"/>
          <p:cNvSpPr txBox="1"/>
          <p:nvPr/>
        </p:nvSpPr>
        <p:spPr>
          <a:xfrm>
            <a:off x="640080" y="5547996"/>
            <a:ext cx="6675120" cy="697355"/>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Zeynep:</a:t>
            </a:r>
            <a:r>
              <a:rPr lang="tr-TR" sz="1600" b="0" i="0">
                <a:solidFill>
                  <a:srgbClr val="262626"/>
                </a:solidFill>
                <a:latin typeface="Calibri"/>
              </a:rPr>
              <a:t> Tuz Gölü çevresinde orman yoğunluğunun az olmasının nedeni yağışın yetersizliğidir.</a:t>
            </a:r>
          </a:p>
        </p:txBody>
      </p:sp>
      <p:sp>
        <p:nvSpPr>
          <p:cNvPr id="18" name="Rounded Rectangle 17"/>
          <p:cNvSpPr/>
          <p:nvPr/>
        </p:nvSpPr>
        <p:spPr>
          <a:xfrm>
            <a:off x="7653528" y="1216152"/>
            <a:ext cx="4035247" cy="685800"/>
          </a:xfrm>
          <a:prstGeom prst="roundRect">
            <a:avLst>
              <a:gd name="adj" fmla="val 8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CEVAP: B) Göktürk ve Zeynep</a:t>
            </a:r>
          </a:p>
        </p:txBody>
      </p:sp>
      <p:sp>
        <p:nvSpPr>
          <p:cNvPr id="19" name="Rounded Rectangle 18"/>
          <p:cNvSpPr/>
          <p:nvPr/>
        </p:nvSpPr>
        <p:spPr>
          <a:xfrm>
            <a:off x="7653528" y="2039112"/>
            <a:ext cx="4035247" cy="1554480"/>
          </a:xfrm>
          <a:prstGeom prst="roundRect">
            <a:avLst>
              <a:gd name="adj" fmla="val 6000"/>
            </a:avLst>
          </a:prstGeom>
          <a:solidFill>
            <a:srgbClr val="E3F1E4"/>
          </a:solidFill>
          <a:ln w="12700">
            <a:solidFill>
              <a:srgbClr val="2E7D32"/>
            </a:solidFill>
          </a:ln>
          <a:effectLst/>
        </p:spPr>
        <p:txBody>
          <a:bodyPr rtlCol="0" anchor="ctr"/>
          <a:lstStyle/>
          <a:p/>
        </p:txBody>
      </p:sp>
      <p:sp>
        <p:nvSpPr>
          <p:cNvPr id="20" name="TextBox 19"/>
          <p:cNvSpPr txBox="1"/>
          <p:nvPr/>
        </p:nvSpPr>
        <p:spPr>
          <a:xfrm>
            <a:off x="7790688" y="2084832"/>
            <a:ext cx="3760927" cy="384048"/>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Göktürk: Kıyı bölgeleri</a:t>
            </a:r>
          </a:p>
        </p:txBody>
      </p:sp>
      <p:sp>
        <p:nvSpPr>
          <p:cNvPr id="21" name="Rounded Rectangle 20"/>
          <p:cNvSpPr/>
          <p:nvPr/>
        </p:nvSpPr>
        <p:spPr>
          <a:xfrm>
            <a:off x="7790688" y="2542032"/>
            <a:ext cx="1811883" cy="91440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188"/>
              </a:spcAft>
            </a:pPr>
            <a:r>
              <a:rPr lang="tr-TR" sz="1600" b="1" i="0">
                <a:solidFill>
                  <a:srgbClr val="FFFFFF"/>
                </a:solidFill>
                <a:latin typeface="Calibri"/>
              </a:rPr>
              <a:t>orman varlığı zengin</a:t>
            </a:r>
          </a:p>
          <a:p>
            <a:pPr algn="ctr">
              <a:spcBef>
                <a:spcPts val="0"/>
              </a:spcBef>
              <a:spcAft>
                <a:spcPts val="0"/>
              </a:spcAft>
            </a:pPr>
            <a:r>
              <a:rPr lang="tr-TR" sz="1317" b="0" i="0">
                <a:solidFill>
                  <a:srgbClr val="FFFFFF"/>
                </a:solidFill>
                <a:latin typeface="Calibri"/>
              </a:rPr>
              <a:t>bitki örtüsü bölgesi</a:t>
            </a:r>
          </a:p>
        </p:txBody>
      </p:sp>
      <p:sp>
        <p:nvSpPr>
          <p:cNvPr id="22" name="Rounded Rectangle 21"/>
          <p:cNvSpPr/>
          <p:nvPr/>
        </p:nvSpPr>
        <p:spPr>
          <a:xfrm>
            <a:off x="9739731" y="2542032"/>
            <a:ext cx="1811883" cy="91440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200"/>
              </a:spcAft>
            </a:pPr>
            <a:r>
              <a:rPr lang="tr-TR" sz="1700" b="1" i="0">
                <a:solidFill>
                  <a:srgbClr val="FFFFFF"/>
                </a:solidFill>
                <a:latin typeface="Calibri"/>
              </a:rPr>
              <a:t>bol yağışlı</a:t>
            </a:r>
          </a:p>
          <a:p>
            <a:pPr algn="ctr">
              <a:spcBef>
                <a:spcPts val="0"/>
              </a:spcBef>
              <a:spcAft>
                <a:spcPts val="0"/>
              </a:spcAft>
            </a:pPr>
            <a:r>
              <a:rPr lang="tr-TR" sz="1400" b="0" i="0">
                <a:solidFill>
                  <a:srgbClr val="FFFFFF"/>
                </a:solidFill>
                <a:latin typeface="Calibri"/>
              </a:rPr>
              <a:t>iklim (yağış) bölgesi</a:t>
            </a:r>
          </a:p>
        </p:txBody>
      </p:sp>
      <p:sp>
        <p:nvSpPr>
          <p:cNvPr id="23" name="Rounded Rectangle 22"/>
          <p:cNvSpPr/>
          <p:nvPr/>
        </p:nvSpPr>
        <p:spPr>
          <a:xfrm>
            <a:off x="7653528" y="3730752"/>
            <a:ext cx="4035247" cy="1554480"/>
          </a:xfrm>
          <a:prstGeom prst="roundRect">
            <a:avLst>
              <a:gd name="adj" fmla="val 6000"/>
            </a:avLst>
          </a:prstGeom>
          <a:solidFill>
            <a:srgbClr val="E3F1E4"/>
          </a:solidFill>
          <a:ln w="12700">
            <a:solidFill>
              <a:srgbClr val="2E7D32"/>
            </a:solidFill>
          </a:ln>
          <a:effectLst/>
        </p:spPr>
        <p:txBody>
          <a:bodyPr rtlCol="0" anchor="ctr"/>
          <a:lstStyle/>
          <a:p/>
        </p:txBody>
      </p:sp>
      <p:sp>
        <p:nvSpPr>
          <p:cNvPr id="24" name="TextBox 23"/>
          <p:cNvSpPr txBox="1"/>
          <p:nvPr/>
        </p:nvSpPr>
        <p:spPr>
          <a:xfrm>
            <a:off x="7790688" y="3776472"/>
            <a:ext cx="3760927" cy="384048"/>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Zeynep: Tuz Gölü çevresi</a:t>
            </a:r>
          </a:p>
        </p:txBody>
      </p:sp>
      <p:sp>
        <p:nvSpPr>
          <p:cNvPr id="25" name="Rounded Rectangle 24"/>
          <p:cNvSpPr/>
          <p:nvPr/>
        </p:nvSpPr>
        <p:spPr>
          <a:xfrm>
            <a:off x="7790688" y="4233672"/>
            <a:ext cx="1811883" cy="91440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188"/>
              </a:spcAft>
            </a:pPr>
            <a:r>
              <a:rPr lang="tr-TR" sz="1600" b="1" i="0">
                <a:solidFill>
                  <a:srgbClr val="FFFFFF"/>
                </a:solidFill>
                <a:latin typeface="Calibri"/>
              </a:rPr>
              <a:t>orman yoğunluğu az</a:t>
            </a:r>
          </a:p>
          <a:p>
            <a:pPr algn="ctr">
              <a:spcBef>
                <a:spcPts val="0"/>
              </a:spcBef>
              <a:spcAft>
                <a:spcPts val="0"/>
              </a:spcAft>
            </a:pPr>
            <a:r>
              <a:rPr lang="tr-TR" sz="1317" b="0" i="0">
                <a:solidFill>
                  <a:srgbClr val="FFFFFF"/>
                </a:solidFill>
                <a:latin typeface="Calibri"/>
              </a:rPr>
              <a:t>bitki örtüsü bölgesi</a:t>
            </a:r>
          </a:p>
        </p:txBody>
      </p:sp>
      <p:sp>
        <p:nvSpPr>
          <p:cNvPr id="26" name="Rounded Rectangle 25"/>
          <p:cNvSpPr/>
          <p:nvPr/>
        </p:nvSpPr>
        <p:spPr>
          <a:xfrm>
            <a:off x="9739731" y="4233672"/>
            <a:ext cx="1811883" cy="91440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200"/>
              </a:spcAft>
            </a:pPr>
            <a:r>
              <a:rPr lang="tr-TR" sz="1700" b="1" i="0">
                <a:solidFill>
                  <a:srgbClr val="FFFFFF"/>
                </a:solidFill>
                <a:latin typeface="Calibri"/>
              </a:rPr>
              <a:t>yağışı yetersiz</a:t>
            </a:r>
          </a:p>
          <a:p>
            <a:pPr algn="ctr">
              <a:spcBef>
                <a:spcPts val="0"/>
              </a:spcBef>
              <a:spcAft>
                <a:spcPts val="0"/>
              </a:spcAft>
            </a:pPr>
            <a:r>
              <a:rPr lang="tr-TR" sz="1400" b="0" i="0">
                <a:solidFill>
                  <a:srgbClr val="FFFFFF"/>
                </a:solidFill>
                <a:latin typeface="Calibri"/>
              </a:rPr>
              <a:t>iklim (yağış) bölgesi</a:t>
            </a:r>
          </a:p>
        </p:txBody>
      </p:sp>
      <p:sp>
        <p:nvSpPr>
          <p:cNvPr id="27" name="Rounded Rectangle 26"/>
          <p:cNvSpPr/>
          <p:nvPr/>
        </p:nvSpPr>
        <p:spPr>
          <a:xfrm>
            <a:off x="7653528" y="5422392"/>
            <a:ext cx="4035247" cy="8686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241"/>
              </a:spcAft>
            </a:pPr>
            <a:r>
              <a:rPr lang="tr-TR" sz="1450" b="1" i="0">
                <a:solidFill>
                  <a:srgbClr val="262626"/>
                </a:solidFill>
                <a:latin typeface="Calibri"/>
              </a:rPr>
              <a:t>Aynı alan, iki ayrı kritere göre oluşturulmuş iki bölgenin sınırları içinde.</a:t>
            </a:r>
          </a:p>
          <a:p>
            <a:pPr algn="l">
              <a:spcBef>
                <a:spcPts val="0"/>
              </a:spcBef>
              <a:spcAft>
                <a:spcPts val="0"/>
              </a:spcAft>
            </a:pPr>
            <a:r>
              <a:rPr lang="tr-TR" sz="1208" b="0" i="0">
                <a:solidFill>
                  <a:srgbClr val="D3373A"/>
                </a:solidFill>
                <a:latin typeface="Calibri"/>
              </a:rPr>
              <a:t>Dikkat: kitapta C ve E seçenekleri aynı iki öğrenciyi verir.</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227</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162 / 187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Daha fazla soru: karekod (EBA)</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a:t>
            </a:r>
          </a:p>
        </p:txBody>
      </p:sp>
      <p:sp>
        <p:nvSpPr>
          <p:cNvPr id="6" name="Rounded Rectangle 5"/>
          <p:cNvSpPr/>
          <p:nvPr/>
        </p:nvSpPr>
        <p:spPr>
          <a:xfrm>
            <a:off x="502920" y="1216152"/>
            <a:ext cx="7208216" cy="1737360"/>
          </a:xfrm>
          <a:prstGeom prst="roundRect">
            <a:avLst>
              <a:gd name="adj" fmla="val 5000"/>
            </a:avLst>
          </a:prstGeom>
          <a:solidFill>
            <a:srgbClr val="F0F0F0"/>
          </a:solidFill>
          <a:ln>
            <a:noFill/>
          </a:ln>
          <a:effectLst/>
        </p:spPr>
        <p:txBody>
          <a:bodyPr rtlCol="0" anchor="ctr"/>
          <a:lstStyle/>
          <a:p/>
        </p:txBody>
      </p:sp>
      <p:sp>
        <p:nvSpPr>
          <p:cNvPr id="7" name="Rectangle 6"/>
          <p:cNvSpPr/>
          <p:nvPr/>
        </p:nvSpPr>
        <p:spPr>
          <a:xfrm>
            <a:off x="502920" y="1216152"/>
            <a:ext cx="118872" cy="1737360"/>
          </a:xfrm>
          <a:prstGeom prst="rect">
            <a:avLst/>
          </a:prstGeom>
          <a:solidFill>
            <a:srgbClr val="2C6696"/>
          </a:solidFill>
          <a:ln>
            <a:noFill/>
          </a:ln>
          <a:effectLst/>
        </p:spPr>
        <p:txBody>
          <a:bodyPr rtlCol="0" anchor="ctr"/>
          <a:lstStyle/>
          <a:p/>
        </p:txBody>
      </p:sp>
      <p:sp>
        <p:nvSpPr>
          <p:cNvPr id="8" name="TextBox 7"/>
          <p:cNvSpPr txBox="1"/>
          <p:nvPr/>
        </p:nvSpPr>
        <p:spPr>
          <a:xfrm>
            <a:off x="777240" y="1252728"/>
            <a:ext cx="6796736" cy="1664208"/>
          </a:xfrm>
          <a:prstGeom prst="rect">
            <a:avLst/>
          </a:prstGeom>
          <a:noFill/>
        </p:spPr>
        <p:txBody>
          <a:bodyPr wrap="square" anchor="ctr" lIns="73152" rIns="73152" tIns="36576" bIns="36576">
            <a:noAutofit/>
          </a:bodyPr>
          <a:lstStyle/>
          <a:p>
            <a:pPr algn="l">
              <a:spcBef>
                <a:spcPts val="0"/>
              </a:spcBef>
              <a:spcAft>
                <a:spcPts val="400"/>
              </a:spcAft>
            </a:pPr>
            <a:r>
              <a:rPr lang="tr-TR" sz="1600" b="0" i="0">
                <a:solidFill>
                  <a:srgbClr val="767676"/>
                </a:solidFill>
                <a:latin typeface="Calibri"/>
              </a:rPr>
              <a:t>Kitap s. 227:</a:t>
            </a:r>
          </a:p>
          <a:p>
            <a:pPr algn="l">
              <a:spcBef>
                <a:spcPts val="0"/>
              </a:spcBef>
              <a:spcAft>
                <a:spcPts val="400"/>
              </a:spcAft>
            </a:pPr>
            <a:r>
              <a:rPr lang="tr-TR" sz="2200" b="1" i="0">
                <a:solidFill>
                  <a:srgbClr val="262626"/>
                </a:solidFill>
                <a:latin typeface="Calibri"/>
              </a:rPr>
              <a:t>“Daha fazla soruya ulaşmak için karekodu okutunuz.”</a:t>
            </a:r>
          </a:p>
          <a:p>
            <a:pPr algn="l">
              <a:spcBef>
                <a:spcPts val="0"/>
              </a:spcBef>
              <a:spcAft>
                <a:spcPts val="0"/>
              </a:spcAft>
            </a:pPr>
            <a:r>
              <a:rPr lang="tr-TR" sz="1800" b="0" i="1">
                <a:solidFill>
                  <a:srgbClr val="262626"/>
                </a:solidFill>
                <a:latin typeface="Calibri"/>
              </a:rPr>
              <a:t>“Bu testte cevaplamanız için farklı soru çeşitlerinden toplam 9 soru verilmiştir.”</a:t>
            </a:r>
          </a:p>
        </p:txBody>
      </p:sp>
      <p:sp>
        <p:nvSpPr>
          <p:cNvPr id="9" name="Rounded Rectangle 8"/>
          <p:cNvSpPr/>
          <p:nvPr/>
        </p:nvSpPr>
        <p:spPr>
          <a:xfrm>
            <a:off x="502920" y="3136392"/>
            <a:ext cx="7208216" cy="1165860"/>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313639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1</a:t>
            </a:r>
          </a:p>
        </p:txBody>
      </p:sp>
      <p:sp>
        <p:nvSpPr>
          <p:cNvPr id="11" name="TextBox 10"/>
          <p:cNvSpPr txBox="1"/>
          <p:nvPr/>
        </p:nvSpPr>
        <p:spPr>
          <a:xfrm>
            <a:off x="1874520" y="3182112"/>
            <a:ext cx="5745176" cy="1074420"/>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Bulmaca: Tanım ve Bilgiler</a:t>
            </a:r>
          </a:p>
          <a:p>
            <a:pPr algn="l">
              <a:spcBef>
                <a:spcPts val="0"/>
              </a:spcBef>
              <a:spcAft>
                <a:spcPts val="0"/>
              </a:spcAft>
            </a:pPr>
            <a:r>
              <a:rPr lang="tr-TR" sz="1700" b="0" i="0">
                <a:solidFill>
                  <a:srgbClr val="767676"/>
                </a:solidFill>
                <a:latin typeface="Calibri"/>
              </a:rPr>
              <a:t>12 tanım → 12 kavram (üç parça)</a:t>
            </a:r>
          </a:p>
        </p:txBody>
      </p:sp>
      <p:sp>
        <p:nvSpPr>
          <p:cNvPr id="12" name="Rounded Rectangle 11"/>
          <p:cNvSpPr/>
          <p:nvPr/>
        </p:nvSpPr>
        <p:spPr>
          <a:xfrm>
            <a:off x="502920" y="4439412"/>
            <a:ext cx="7208216" cy="1165860"/>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443941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2-9</a:t>
            </a:r>
          </a:p>
        </p:txBody>
      </p:sp>
      <p:sp>
        <p:nvSpPr>
          <p:cNvPr id="14" name="TextBox 13"/>
          <p:cNvSpPr txBox="1"/>
          <p:nvPr/>
        </p:nvSpPr>
        <p:spPr>
          <a:xfrm>
            <a:off x="1874520" y="4485132"/>
            <a:ext cx="5745176" cy="1074420"/>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Çoktan seçmeli</a:t>
            </a:r>
          </a:p>
          <a:p>
            <a:pPr algn="l">
              <a:spcBef>
                <a:spcPts val="0"/>
              </a:spcBef>
              <a:spcAft>
                <a:spcPts val="0"/>
              </a:spcAft>
            </a:pPr>
            <a:r>
              <a:rPr lang="tr-TR" sz="1700" b="0" i="0">
                <a:solidFill>
                  <a:srgbClr val="767676"/>
                </a:solidFill>
                <a:latin typeface="Calibri"/>
              </a:rPr>
              <a:t>Sınırın değişimi · örgütler · nüfus yoğunluğu · iklim, bitki örtüsü · işlevsel bölgeler</a:t>
            </a:r>
          </a:p>
        </p:txBody>
      </p:sp>
      <p:sp>
        <p:nvSpPr>
          <p:cNvPr id="15" name="Rounded Rectangle 14"/>
          <p:cNvSpPr/>
          <p:nvPr/>
        </p:nvSpPr>
        <p:spPr>
          <a:xfrm>
            <a:off x="502920" y="5742432"/>
            <a:ext cx="7208216" cy="54864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Karekodu öğretmen tahtada açar; telefonunuzu çıkarmayın.</a:t>
            </a:r>
          </a:p>
        </p:txBody>
      </p:sp>
      <p:pic>
        <p:nvPicPr>
          <p:cNvPr id="16" name="Picture 15" descr="sonu_eba_bulmaca.jpg"/>
          <p:cNvPicPr>
            <a:picLocks noChangeAspect="1"/>
          </p:cNvPicPr>
          <p:nvPr/>
        </p:nvPicPr>
        <p:blipFill>
          <a:blip r:embed="rId3"/>
          <a:stretch>
            <a:fillRect/>
          </a:stretch>
        </p:blipFill>
        <p:spPr>
          <a:xfrm>
            <a:off x="7939736" y="1304423"/>
            <a:ext cx="3749039" cy="4578337"/>
          </a:xfrm>
          <a:prstGeom prst="rect">
            <a:avLst/>
          </a:prstGeom>
          <a:ln w="9525">
            <a:solidFill>
              <a:srgbClr val="D9D9D9"/>
            </a:solidFill>
          </a:ln>
        </p:spPr>
      </p:pic>
      <p:sp>
        <p:nvSpPr>
          <p:cNvPr id="17" name="TextBox 16"/>
          <p:cNvSpPr txBox="1"/>
          <p:nvPr/>
        </p:nvSpPr>
        <p:spPr>
          <a:xfrm>
            <a:off x="7939736" y="5901048"/>
            <a:ext cx="3749039"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Bulmaca: EBA 9.7 tema sonu e-ölçme, s. 1</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163 / 187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(1-4)</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1090422"/>
          </a:xfrm>
          <a:prstGeom prst="roundRect">
            <a:avLst>
              <a:gd name="adj" fmla="val 8385"/>
            </a:avLst>
          </a:prstGeom>
          <a:solidFill>
            <a:srgbClr val="F0F0F0"/>
          </a:solidFill>
          <a:ln>
            <a:noFill/>
          </a:ln>
          <a:effectLst/>
        </p:spPr>
        <p:txBody>
          <a:bodyPr rtlCol="0" anchor="ctr"/>
          <a:lstStyle/>
          <a:p/>
        </p:txBody>
      </p:sp>
      <p:sp>
        <p:nvSpPr>
          <p:cNvPr id="8" name="Oval 7"/>
          <p:cNvSpPr/>
          <p:nvPr/>
        </p:nvSpPr>
        <p:spPr>
          <a:xfrm>
            <a:off x="594360" y="190766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9" name="TextBox 8"/>
          <p:cNvSpPr txBox="1"/>
          <p:nvPr/>
        </p:nvSpPr>
        <p:spPr>
          <a:xfrm>
            <a:off x="1188720" y="160020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Alp Himalaya bölgesi, Orta Toroslar bölgesi, Tibet Platosu bölgesi, Mezopotamya bölgesi gibi bölgelerin oluşturulmasında kullanılan bölge belirleme kriteri.</a:t>
            </a:r>
          </a:p>
        </p:txBody>
      </p:sp>
      <p:sp>
        <p:nvSpPr>
          <p:cNvPr id="10" name="Rounded Rectangle 9"/>
          <p:cNvSpPr/>
          <p:nvPr/>
        </p:nvSpPr>
        <p:spPr>
          <a:xfrm>
            <a:off x="7958023" y="1673352"/>
            <a:ext cx="3657600" cy="94411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12 harf</a:t>
            </a:r>
          </a:p>
        </p:txBody>
      </p:sp>
      <p:sp>
        <p:nvSpPr>
          <p:cNvPr id="11" name="Rounded Rectangle 10"/>
          <p:cNvSpPr/>
          <p:nvPr/>
        </p:nvSpPr>
        <p:spPr>
          <a:xfrm>
            <a:off x="502920" y="2800350"/>
            <a:ext cx="11185855" cy="1090422"/>
          </a:xfrm>
          <a:prstGeom prst="roundRect">
            <a:avLst>
              <a:gd name="adj" fmla="val 8385"/>
            </a:avLst>
          </a:prstGeom>
          <a:solidFill>
            <a:srgbClr val="F0F0F0"/>
          </a:solidFill>
          <a:ln>
            <a:noFill/>
          </a:ln>
          <a:effectLst/>
        </p:spPr>
        <p:txBody>
          <a:bodyPr rtlCol="0" anchor="ctr"/>
          <a:lstStyle/>
          <a:p/>
        </p:txBody>
      </p:sp>
      <p:sp>
        <p:nvSpPr>
          <p:cNvPr id="12" name="Oval 11"/>
          <p:cNvSpPr/>
          <p:nvPr/>
        </p:nvSpPr>
        <p:spPr>
          <a:xfrm>
            <a:off x="594360" y="310781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13" name="TextBox 12"/>
          <p:cNvSpPr txBox="1"/>
          <p:nvPr/>
        </p:nvSpPr>
        <p:spPr>
          <a:xfrm>
            <a:off x="1188720" y="280035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Ülkelerin kalkınma için gerekli olan verileri elde etmek amacıyla oluşturdukları, sosyoekonomik bakımdan benzer özellik gösteren yerleri içeren işlevsel bölge türü.</a:t>
            </a:r>
          </a:p>
        </p:txBody>
      </p:sp>
      <p:sp>
        <p:nvSpPr>
          <p:cNvPr id="14" name="Rounded Rectangle 13"/>
          <p:cNvSpPr/>
          <p:nvPr/>
        </p:nvSpPr>
        <p:spPr>
          <a:xfrm>
            <a:off x="7958023" y="2873502"/>
            <a:ext cx="3657600" cy="94411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19 harf</a:t>
            </a:r>
          </a:p>
        </p:txBody>
      </p:sp>
      <p:sp>
        <p:nvSpPr>
          <p:cNvPr id="15" name="Rounded Rectangle 14"/>
          <p:cNvSpPr/>
          <p:nvPr/>
        </p:nvSpPr>
        <p:spPr>
          <a:xfrm>
            <a:off x="502920" y="4000500"/>
            <a:ext cx="11185855" cy="1090422"/>
          </a:xfrm>
          <a:prstGeom prst="roundRect">
            <a:avLst>
              <a:gd name="adj" fmla="val 8385"/>
            </a:avLst>
          </a:prstGeom>
          <a:solidFill>
            <a:srgbClr val="F0F0F0"/>
          </a:solidFill>
          <a:ln>
            <a:noFill/>
          </a:ln>
          <a:effectLst/>
        </p:spPr>
        <p:txBody>
          <a:bodyPr rtlCol="0" anchor="ctr"/>
          <a:lstStyle/>
          <a:p/>
        </p:txBody>
      </p:sp>
      <p:sp>
        <p:nvSpPr>
          <p:cNvPr id="16" name="Oval 15"/>
          <p:cNvSpPr/>
          <p:nvPr/>
        </p:nvSpPr>
        <p:spPr>
          <a:xfrm>
            <a:off x="594360" y="430796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7" name="TextBox 16"/>
          <p:cNvSpPr txBox="1"/>
          <p:nvPr/>
        </p:nvSpPr>
        <p:spPr>
          <a:xfrm>
            <a:off x="1188720" y="400050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Rusya, İsveç, Norveç, Finlandiya, Kanada gibi ülkelerin bulunduğu bitki örtüsü kriterine göre oluşmuş doğal şekilsel bölge.</a:t>
            </a:r>
          </a:p>
        </p:txBody>
      </p:sp>
      <p:sp>
        <p:nvSpPr>
          <p:cNvPr id="18" name="Rounded Rectangle 17"/>
          <p:cNvSpPr/>
          <p:nvPr/>
        </p:nvSpPr>
        <p:spPr>
          <a:xfrm>
            <a:off x="7958023" y="4073652"/>
            <a:ext cx="3657600" cy="94411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5 harf</a:t>
            </a:r>
          </a:p>
        </p:txBody>
      </p:sp>
      <p:sp>
        <p:nvSpPr>
          <p:cNvPr id="19" name="Rounded Rectangle 18"/>
          <p:cNvSpPr/>
          <p:nvPr/>
        </p:nvSpPr>
        <p:spPr>
          <a:xfrm>
            <a:off x="502920" y="5200650"/>
            <a:ext cx="11185855" cy="1090422"/>
          </a:xfrm>
          <a:prstGeom prst="roundRect">
            <a:avLst>
              <a:gd name="adj" fmla="val 8385"/>
            </a:avLst>
          </a:prstGeom>
          <a:solidFill>
            <a:srgbClr val="F0F0F0"/>
          </a:solidFill>
          <a:ln>
            <a:noFill/>
          </a:ln>
          <a:effectLst/>
        </p:spPr>
        <p:txBody>
          <a:bodyPr rtlCol="0" anchor="ctr"/>
          <a:lstStyle/>
          <a:p/>
        </p:txBody>
      </p:sp>
      <p:sp>
        <p:nvSpPr>
          <p:cNvPr id="20" name="Oval 19"/>
          <p:cNvSpPr/>
          <p:nvPr/>
        </p:nvSpPr>
        <p:spPr>
          <a:xfrm>
            <a:off x="594360" y="550811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21" name="TextBox 20"/>
          <p:cNvSpPr txBox="1"/>
          <p:nvPr/>
        </p:nvSpPr>
        <p:spPr>
          <a:xfrm>
            <a:off x="1188720" y="520065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Çin (Tibet), Pakistan, Hindistan, Nepal ve Bhutan ülkeleri arasında yer alan yer şekillerine göre bölgelere örnek verilebilecek doğal şekilsel bölge.</a:t>
            </a:r>
          </a:p>
        </p:txBody>
      </p:sp>
      <p:sp>
        <p:nvSpPr>
          <p:cNvPr id="22" name="Rounded Rectangle 21"/>
          <p:cNvSpPr/>
          <p:nvPr/>
        </p:nvSpPr>
        <p:spPr>
          <a:xfrm>
            <a:off x="7958023" y="5273802"/>
            <a:ext cx="3657600" cy="94411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11 harf</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164 / 187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(1-4)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1090422"/>
          </a:xfrm>
          <a:prstGeom prst="roundRect">
            <a:avLst>
              <a:gd name="adj" fmla="val 8385"/>
            </a:avLst>
          </a:prstGeom>
          <a:solidFill>
            <a:srgbClr val="F0F0F0"/>
          </a:solidFill>
          <a:ln>
            <a:noFill/>
          </a:ln>
          <a:effectLst/>
        </p:spPr>
        <p:txBody>
          <a:bodyPr rtlCol="0" anchor="ctr"/>
          <a:lstStyle/>
          <a:p/>
        </p:txBody>
      </p:sp>
      <p:sp>
        <p:nvSpPr>
          <p:cNvPr id="8" name="Oval 7"/>
          <p:cNvSpPr/>
          <p:nvPr/>
        </p:nvSpPr>
        <p:spPr>
          <a:xfrm>
            <a:off x="594360" y="1907667"/>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9" name="TextBox 8"/>
          <p:cNvSpPr txBox="1"/>
          <p:nvPr/>
        </p:nvSpPr>
        <p:spPr>
          <a:xfrm>
            <a:off x="1188720" y="160020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Alp Himalaya bölgesi, Orta Toroslar bölgesi, Tibet Platosu bölgesi, Mezopotamya bölgesi gibi bölgelerin oluşturulmasında kullanılan bölge belirleme kriteri.</a:t>
            </a:r>
          </a:p>
        </p:txBody>
      </p:sp>
      <p:sp>
        <p:nvSpPr>
          <p:cNvPr id="10" name="Rounded Rectangle 9"/>
          <p:cNvSpPr/>
          <p:nvPr/>
        </p:nvSpPr>
        <p:spPr>
          <a:xfrm>
            <a:off x="7958023" y="1673352"/>
            <a:ext cx="3657600" cy="944118"/>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YER ŞEKİLLERİ</a:t>
            </a:r>
          </a:p>
          <a:p>
            <a:pPr algn="ctr">
              <a:spcBef>
                <a:spcPts val="0"/>
              </a:spcBef>
              <a:spcAft>
                <a:spcPts val="0"/>
              </a:spcAft>
            </a:pPr>
            <a:r>
              <a:rPr lang="tr-TR" sz="1500" b="0" i="0">
                <a:solidFill>
                  <a:srgbClr val="262626"/>
                </a:solidFill>
                <a:latin typeface="Calibri"/>
              </a:rPr>
              <a:t>s. 217: fiziki unsur</a:t>
            </a:r>
          </a:p>
        </p:txBody>
      </p:sp>
      <p:sp>
        <p:nvSpPr>
          <p:cNvPr id="11" name="Rounded Rectangle 10"/>
          <p:cNvSpPr/>
          <p:nvPr/>
        </p:nvSpPr>
        <p:spPr>
          <a:xfrm>
            <a:off x="502920" y="2800350"/>
            <a:ext cx="11185855" cy="1090422"/>
          </a:xfrm>
          <a:prstGeom prst="roundRect">
            <a:avLst>
              <a:gd name="adj" fmla="val 8385"/>
            </a:avLst>
          </a:prstGeom>
          <a:solidFill>
            <a:srgbClr val="F0F0F0"/>
          </a:solidFill>
          <a:ln>
            <a:noFill/>
          </a:ln>
          <a:effectLst/>
        </p:spPr>
        <p:txBody>
          <a:bodyPr rtlCol="0" anchor="ctr"/>
          <a:lstStyle/>
          <a:p/>
        </p:txBody>
      </p:sp>
      <p:sp>
        <p:nvSpPr>
          <p:cNvPr id="12" name="Oval 11"/>
          <p:cNvSpPr/>
          <p:nvPr/>
        </p:nvSpPr>
        <p:spPr>
          <a:xfrm>
            <a:off x="594360" y="3107817"/>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13" name="TextBox 12"/>
          <p:cNvSpPr txBox="1"/>
          <p:nvPr/>
        </p:nvSpPr>
        <p:spPr>
          <a:xfrm>
            <a:off x="1188720" y="280035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Ülkelerin kalkınma için gerekli olan verileri elde etmek amacıyla oluşturdukları, sosyoekonomik bakımdan benzer özellik gösteren yerleri içeren işlevsel bölge türü.</a:t>
            </a:r>
          </a:p>
        </p:txBody>
      </p:sp>
      <p:sp>
        <p:nvSpPr>
          <p:cNvPr id="14" name="Rounded Rectangle 13"/>
          <p:cNvSpPr/>
          <p:nvPr/>
        </p:nvSpPr>
        <p:spPr>
          <a:xfrm>
            <a:off x="7958023" y="2873502"/>
            <a:ext cx="3657600" cy="944118"/>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İSTATİSTİK BÖLGELERİ</a:t>
            </a:r>
          </a:p>
          <a:p>
            <a:pPr algn="ctr">
              <a:spcBef>
                <a:spcPts val="0"/>
              </a:spcBef>
              <a:spcAft>
                <a:spcPts val="0"/>
              </a:spcAft>
            </a:pPr>
            <a:r>
              <a:rPr lang="tr-TR" sz="1500" b="0" i="0">
                <a:solidFill>
                  <a:srgbClr val="262626"/>
                </a:solidFill>
                <a:latin typeface="Calibri"/>
              </a:rPr>
              <a:t>s. 222: TÜİK Akdeniz İstatistik Bölgesi</a:t>
            </a:r>
          </a:p>
        </p:txBody>
      </p:sp>
      <p:sp>
        <p:nvSpPr>
          <p:cNvPr id="15" name="Rounded Rectangle 14"/>
          <p:cNvSpPr/>
          <p:nvPr/>
        </p:nvSpPr>
        <p:spPr>
          <a:xfrm>
            <a:off x="502920" y="4000500"/>
            <a:ext cx="11185855" cy="1090422"/>
          </a:xfrm>
          <a:prstGeom prst="roundRect">
            <a:avLst>
              <a:gd name="adj" fmla="val 8385"/>
            </a:avLst>
          </a:prstGeom>
          <a:solidFill>
            <a:srgbClr val="F0F0F0"/>
          </a:solidFill>
          <a:ln>
            <a:noFill/>
          </a:ln>
          <a:effectLst/>
        </p:spPr>
        <p:txBody>
          <a:bodyPr rtlCol="0" anchor="ctr"/>
          <a:lstStyle/>
          <a:p/>
        </p:txBody>
      </p:sp>
      <p:sp>
        <p:nvSpPr>
          <p:cNvPr id="16" name="Oval 15"/>
          <p:cNvSpPr/>
          <p:nvPr/>
        </p:nvSpPr>
        <p:spPr>
          <a:xfrm>
            <a:off x="594360" y="4307967"/>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7" name="TextBox 16"/>
          <p:cNvSpPr txBox="1"/>
          <p:nvPr/>
        </p:nvSpPr>
        <p:spPr>
          <a:xfrm>
            <a:off x="1188720" y="400050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Rusya, İsveç, Norveç, Finlandiya, Kanada gibi ülkelerin bulunduğu bitki örtüsü kriterine göre oluşmuş doğal şekilsel bölge.</a:t>
            </a:r>
          </a:p>
        </p:txBody>
      </p:sp>
      <p:sp>
        <p:nvSpPr>
          <p:cNvPr id="18" name="Rounded Rectangle 17"/>
          <p:cNvSpPr/>
          <p:nvPr/>
        </p:nvSpPr>
        <p:spPr>
          <a:xfrm>
            <a:off x="7958023" y="4073652"/>
            <a:ext cx="3657600" cy="944118"/>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TAYGA</a:t>
            </a:r>
          </a:p>
          <a:p>
            <a:pPr algn="ctr">
              <a:spcBef>
                <a:spcPts val="0"/>
              </a:spcBef>
              <a:spcAft>
                <a:spcPts val="0"/>
              </a:spcAft>
            </a:pPr>
            <a:r>
              <a:rPr lang="tr-TR" sz="1500" b="0" i="0">
                <a:solidFill>
                  <a:srgbClr val="262626"/>
                </a:solidFill>
                <a:latin typeface="Calibri"/>
              </a:rPr>
              <a:t>iğne yapraklı orman (kitapta adı yok)</a:t>
            </a:r>
          </a:p>
        </p:txBody>
      </p:sp>
      <p:sp>
        <p:nvSpPr>
          <p:cNvPr id="19" name="Rounded Rectangle 18"/>
          <p:cNvSpPr/>
          <p:nvPr/>
        </p:nvSpPr>
        <p:spPr>
          <a:xfrm>
            <a:off x="502920" y="5200650"/>
            <a:ext cx="11185855" cy="1090422"/>
          </a:xfrm>
          <a:prstGeom prst="roundRect">
            <a:avLst>
              <a:gd name="adj" fmla="val 8385"/>
            </a:avLst>
          </a:prstGeom>
          <a:solidFill>
            <a:srgbClr val="F0F0F0"/>
          </a:solidFill>
          <a:ln>
            <a:noFill/>
          </a:ln>
          <a:effectLst/>
        </p:spPr>
        <p:txBody>
          <a:bodyPr rtlCol="0" anchor="ctr"/>
          <a:lstStyle/>
          <a:p/>
        </p:txBody>
      </p:sp>
      <p:sp>
        <p:nvSpPr>
          <p:cNvPr id="20" name="Oval 19"/>
          <p:cNvSpPr/>
          <p:nvPr/>
        </p:nvSpPr>
        <p:spPr>
          <a:xfrm>
            <a:off x="594360" y="5508117"/>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21" name="TextBox 20"/>
          <p:cNvSpPr txBox="1"/>
          <p:nvPr/>
        </p:nvSpPr>
        <p:spPr>
          <a:xfrm>
            <a:off x="1188720" y="5200650"/>
            <a:ext cx="6751015" cy="1090422"/>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Çin (Tibet), Pakistan, Hindistan, Nepal ve Bhutan ülkeleri arasında yer alan yer şekillerine göre bölgelere örnek verilebilecek doğal şekilsel bölge.</a:t>
            </a:r>
          </a:p>
        </p:txBody>
      </p:sp>
      <p:sp>
        <p:nvSpPr>
          <p:cNvPr id="22" name="Rounded Rectangle 21"/>
          <p:cNvSpPr/>
          <p:nvPr/>
        </p:nvSpPr>
        <p:spPr>
          <a:xfrm>
            <a:off x="7958023" y="5273802"/>
            <a:ext cx="3657600" cy="944118"/>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HİMALAYALAR</a:t>
            </a:r>
          </a:p>
          <a:p>
            <a:pPr algn="ctr">
              <a:spcBef>
                <a:spcPts val="0"/>
              </a:spcBef>
              <a:spcAft>
                <a:spcPts val="0"/>
              </a:spcAft>
            </a:pPr>
            <a:r>
              <a:rPr lang="tr-TR" sz="1500" b="0" i="0">
                <a:solidFill>
                  <a:srgbClr val="262626"/>
                </a:solidFill>
                <a:latin typeface="Calibri"/>
              </a:rPr>
              <a:t>s. 222: Alp-Himalaya Dağlık Bölgesi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165 / 187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(5-8)</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1261162"/>
          </a:xfrm>
          <a:prstGeom prst="roundRect">
            <a:avLst>
              <a:gd name="adj" fmla="val 7250"/>
            </a:avLst>
          </a:prstGeom>
          <a:solidFill>
            <a:srgbClr val="F0F0F0"/>
          </a:solidFill>
          <a:ln>
            <a:noFill/>
          </a:ln>
          <a:effectLst/>
        </p:spPr>
        <p:txBody>
          <a:bodyPr rtlCol="0" anchor="ctr"/>
          <a:lstStyle/>
          <a:p/>
        </p:txBody>
      </p:sp>
      <p:sp>
        <p:nvSpPr>
          <p:cNvPr id="8" name="Oval 7"/>
          <p:cNvSpPr/>
          <p:nvPr/>
        </p:nvSpPr>
        <p:spPr>
          <a:xfrm>
            <a:off x="594360" y="199303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5</a:t>
            </a:r>
          </a:p>
        </p:txBody>
      </p:sp>
      <p:sp>
        <p:nvSpPr>
          <p:cNvPr id="9" name="TextBox 8"/>
          <p:cNvSpPr txBox="1"/>
          <p:nvPr/>
        </p:nvSpPr>
        <p:spPr>
          <a:xfrm>
            <a:off x="1188720" y="1600200"/>
            <a:ext cx="6751015" cy="1261162"/>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Avrupa Topluluğu’na üye devletlerin 1 Kasım 1993’te yürürlüğe koydukları ve topluluğa üye ülkelerin parasal birliği sağladıkları uluslararası anlaşma.</a:t>
            </a:r>
          </a:p>
        </p:txBody>
      </p:sp>
      <p:sp>
        <p:nvSpPr>
          <p:cNvPr id="10" name="Rounded Rectangle 9"/>
          <p:cNvSpPr/>
          <p:nvPr/>
        </p:nvSpPr>
        <p:spPr>
          <a:xfrm>
            <a:off x="7958023" y="1673352"/>
            <a:ext cx="3657600" cy="111485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10 harf</a:t>
            </a:r>
          </a:p>
        </p:txBody>
      </p:sp>
      <p:sp>
        <p:nvSpPr>
          <p:cNvPr id="11" name="Rounded Rectangle 10"/>
          <p:cNvSpPr/>
          <p:nvPr/>
        </p:nvSpPr>
        <p:spPr>
          <a:xfrm>
            <a:off x="502920" y="2971090"/>
            <a:ext cx="11185855" cy="919681"/>
          </a:xfrm>
          <a:prstGeom prst="roundRect">
            <a:avLst>
              <a:gd name="adj" fmla="val 9942"/>
            </a:avLst>
          </a:prstGeom>
          <a:solidFill>
            <a:srgbClr val="F0F0F0"/>
          </a:solidFill>
          <a:ln>
            <a:noFill/>
          </a:ln>
          <a:effectLst/>
        </p:spPr>
        <p:txBody>
          <a:bodyPr rtlCol="0" anchor="ctr"/>
          <a:lstStyle/>
          <a:p/>
        </p:txBody>
      </p:sp>
      <p:sp>
        <p:nvSpPr>
          <p:cNvPr id="12" name="Oval 11"/>
          <p:cNvSpPr/>
          <p:nvPr/>
        </p:nvSpPr>
        <p:spPr>
          <a:xfrm>
            <a:off x="594360" y="319318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6</a:t>
            </a:r>
          </a:p>
        </p:txBody>
      </p:sp>
      <p:sp>
        <p:nvSpPr>
          <p:cNvPr id="13" name="TextBox 12"/>
          <p:cNvSpPr txBox="1"/>
          <p:nvPr/>
        </p:nvSpPr>
        <p:spPr>
          <a:xfrm>
            <a:off x="1188720" y="2971090"/>
            <a:ext cx="6751015" cy="919681"/>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Türkiye, Yunanistan, İtalya, Fransa gibi ülkelerin bulunduğu iklim kriterine göre oluşmuş doğal şekilsel bölge.</a:t>
            </a:r>
          </a:p>
        </p:txBody>
      </p:sp>
      <p:sp>
        <p:nvSpPr>
          <p:cNvPr id="14" name="Rounded Rectangle 13"/>
          <p:cNvSpPr/>
          <p:nvPr/>
        </p:nvSpPr>
        <p:spPr>
          <a:xfrm>
            <a:off x="7958023" y="3044242"/>
            <a:ext cx="3657600" cy="773377"/>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7 harf</a:t>
            </a:r>
          </a:p>
        </p:txBody>
      </p:sp>
      <p:sp>
        <p:nvSpPr>
          <p:cNvPr id="15" name="Rounded Rectangle 14"/>
          <p:cNvSpPr/>
          <p:nvPr/>
        </p:nvSpPr>
        <p:spPr>
          <a:xfrm>
            <a:off x="502920" y="4000500"/>
            <a:ext cx="11185855" cy="1261162"/>
          </a:xfrm>
          <a:prstGeom prst="roundRect">
            <a:avLst>
              <a:gd name="adj" fmla="val 7250"/>
            </a:avLst>
          </a:prstGeom>
          <a:solidFill>
            <a:srgbClr val="F0F0F0"/>
          </a:solidFill>
          <a:ln>
            <a:noFill/>
          </a:ln>
          <a:effectLst/>
        </p:spPr>
        <p:txBody>
          <a:bodyPr rtlCol="0" anchor="ctr"/>
          <a:lstStyle/>
          <a:p/>
        </p:txBody>
      </p:sp>
      <p:sp>
        <p:nvSpPr>
          <p:cNvPr id="16" name="Oval 15"/>
          <p:cNvSpPr/>
          <p:nvPr/>
        </p:nvSpPr>
        <p:spPr>
          <a:xfrm>
            <a:off x="594360" y="439333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7</a:t>
            </a:r>
          </a:p>
        </p:txBody>
      </p:sp>
      <p:sp>
        <p:nvSpPr>
          <p:cNvPr id="17" name="TextBox 16"/>
          <p:cNvSpPr txBox="1"/>
          <p:nvPr/>
        </p:nvSpPr>
        <p:spPr>
          <a:xfrm>
            <a:off x="1188720" y="4000500"/>
            <a:ext cx="6751015" cy="1261162"/>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Mekânsal yapıyı, mekân üzerindeki ekonomik ve kültürel işleyişi daha iyi organize edebilmek amacıyla oluşturulan bölgeler.</a:t>
            </a:r>
          </a:p>
        </p:txBody>
      </p:sp>
      <p:sp>
        <p:nvSpPr>
          <p:cNvPr id="18" name="Rounded Rectangle 17"/>
          <p:cNvSpPr/>
          <p:nvPr/>
        </p:nvSpPr>
        <p:spPr>
          <a:xfrm>
            <a:off x="7958023" y="4073652"/>
            <a:ext cx="3657600" cy="1114858"/>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16 harf</a:t>
            </a:r>
          </a:p>
        </p:txBody>
      </p:sp>
      <p:sp>
        <p:nvSpPr>
          <p:cNvPr id="19" name="Rounded Rectangle 18"/>
          <p:cNvSpPr/>
          <p:nvPr/>
        </p:nvSpPr>
        <p:spPr>
          <a:xfrm>
            <a:off x="502920" y="5371390"/>
            <a:ext cx="11185855" cy="919681"/>
          </a:xfrm>
          <a:prstGeom prst="roundRect">
            <a:avLst>
              <a:gd name="adj" fmla="val 9942"/>
            </a:avLst>
          </a:prstGeom>
          <a:solidFill>
            <a:srgbClr val="F0F0F0"/>
          </a:solidFill>
          <a:ln>
            <a:noFill/>
          </a:ln>
          <a:effectLst/>
        </p:spPr>
        <p:txBody>
          <a:bodyPr rtlCol="0" anchor="ctr"/>
          <a:lstStyle/>
          <a:p/>
        </p:txBody>
      </p:sp>
      <p:sp>
        <p:nvSpPr>
          <p:cNvPr id="20" name="Oval 19"/>
          <p:cNvSpPr/>
          <p:nvPr/>
        </p:nvSpPr>
        <p:spPr>
          <a:xfrm>
            <a:off x="594360" y="5593487"/>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8</a:t>
            </a:r>
          </a:p>
        </p:txBody>
      </p:sp>
      <p:sp>
        <p:nvSpPr>
          <p:cNvPr id="21" name="TextBox 20"/>
          <p:cNvSpPr txBox="1"/>
          <p:nvPr/>
        </p:nvSpPr>
        <p:spPr>
          <a:xfrm>
            <a:off x="1188720" y="5371390"/>
            <a:ext cx="6751015" cy="919681"/>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Bozkır bölgesi, tundra bölgesi, tayga bölgesi gibi bölgelerin oluşturulmasında kullanılan bölge belirleme kriteri.</a:t>
            </a:r>
          </a:p>
        </p:txBody>
      </p:sp>
      <p:sp>
        <p:nvSpPr>
          <p:cNvPr id="22" name="Rounded Rectangle 21"/>
          <p:cNvSpPr/>
          <p:nvPr/>
        </p:nvSpPr>
        <p:spPr>
          <a:xfrm>
            <a:off x="7958023" y="5444542"/>
            <a:ext cx="3657600" cy="773377"/>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11 harf</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166 / 187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(5-8)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1361565"/>
          </a:xfrm>
          <a:prstGeom prst="roundRect">
            <a:avLst>
              <a:gd name="adj" fmla="val 6715"/>
            </a:avLst>
          </a:prstGeom>
          <a:solidFill>
            <a:srgbClr val="F0F0F0"/>
          </a:solidFill>
          <a:ln>
            <a:noFill/>
          </a:ln>
          <a:effectLst/>
        </p:spPr>
        <p:txBody>
          <a:bodyPr rtlCol="0" anchor="ctr"/>
          <a:lstStyle/>
          <a:p/>
        </p:txBody>
      </p:sp>
      <p:sp>
        <p:nvSpPr>
          <p:cNvPr id="8" name="Oval 7"/>
          <p:cNvSpPr/>
          <p:nvPr/>
        </p:nvSpPr>
        <p:spPr>
          <a:xfrm>
            <a:off x="594360" y="2043238"/>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5</a:t>
            </a:r>
          </a:p>
        </p:txBody>
      </p:sp>
      <p:sp>
        <p:nvSpPr>
          <p:cNvPr id="9" name="TextBox 8"/>
          <p:cNvSpPr txBox="1"/>
          <p:nvPr/>
        </p:nvSpPr>
        <p:spPr>
          <a:xfrm>
            <a:off x="1188720" y="1600200"/>
            <a:ext cx="6751015" cy="1361565"/>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Avrupa Topluluğu’na üye devletlerin 1 Kasım 1993’te yürürlüğe koydukları ve topluluğa üye ülkelerin parasal birliği sağladıkları uluslararası anlaşma.</a:t>
            </a:r>
          </a:p>
        </p:txBody>
      </p:sp>
      <p:sp>
        <p:nvSpPr>
          <p:cNvPr id="10" name="Rounded Rectangle 9"/>
          <p:cNvSpPr/>
          <p:nvPr/>
        </p:nvSpPr>
        <p:spPr>
          <a:xfrm>
            <a:off x="7958023" y="1673352"/>
            <a:ext cx="3657600" cy="1215261"/>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MAASTRİCHT</a:t>
            </a:r>
          </a:p>
          <a:p>
            <a:pPr algn="ctr">
              <a:spcBef>
                <a:spcPts val="0"/>
              </a:spcBef>
              <a:spcAft>
                <a:spcPts val="0"/>
              </a:spcAft>
            </a:pPr>
            <a:r>
              <a:rPr lang="tr-TR" sz="1500" b="0" i="0">
                <a:solidFill>
                  <a:srgbClr val="262626"/>
                </a:solidFill>
                <a:latin typeface="Calibri"/>
              </a:rPr>
              <a:t>s. 224: Maastricht Anlaşması</a:t>
            </a:r>
          </a:p>
        </p:txBody>
      </p:sp>
      <p:sp>
        <p:nvSpPr>
          <p:cNvPr id="11" name="Rounded Rectangle 10"/>
          <p:cNvSpPr/>
          <p:nvPr/>
        </p:nvSpPr>
        <p:spPr>
          <a:xfrm>
            <a:off x="502920" y="3071493"/>
            <a:ext cx="11185855" cy="1000040"/>
          </a:xfrm>
          <a:prstGeom prst="roundRect">
            <a:avLst>
              <a:gd name="adj" fmla="val 9143"/>
            </a:avLst>
          </a:prstGeom>
          <a:solidFill>
            <a:srgbClr val="F0F0F0"/>
          </a:solidFill>
          <a:ln>
            <a:noFill/>
          </a:ln>
          <a:effectLst/>
        </p:spPr>
        <p:txBody>
          <a:bodyPr rtlCol="0" anchor="ctr"/>
          <a:lstStyle/>
          <a:p/>
        </p:txBody>
      </p:sp>
      <p:sp>
        <p:nvSpPr>
          <p:cNvPr id="12" name="Oval 11"/>
          <p:cNvSpPr/>
          <p:nvPr/>
        </p:nvSpPr>
        <p:spPr>
          <a:xfrm>
            <a:off x="594360" y="3333769"/>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6</a:t>
            </a:r>
          </a:p>
        </p:txBody>
      </p:sp>
      <p:sp>
        <p:nvSpPr>
          <p:cNvPr id="13" name="TextBox 12"/>
          <p:cNvSpPr txBox="1"/>
          <p:nvPr/>
        </p:nvSpPr>
        <p:spPr>
          <a:xfrm>
            <a:off x="1188720" y="3071493"/>
            <a:ext cx="6751015" cy="100004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Türkiye, Yunanistan, İtalya, Fransa gibi ülkelerin bulunduğu iklim kriterine göre oluşmuş doğal şekilsel bölge.</a:t>
            </a:r>
          </a:p>
        </p:txBody>
      </p:sp>
      <p:sp>
        <p:nvSpPr>
          <p:cNvPr id="14" name="Rounded Rectangle 13"/>
          <p:cNvSpPr/>
          <p:nvPr/>
        </p:nvSpPr>
        <p:spPr>
          <a:xfrm>
            <a:off x="7958023" y="3144645"/>
            <a:ext cx="3657600" cy="853736"/>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AKDENİZ</a:t>
            </a:r>
          </a:p>
          <a:p>
            <a:pPr algn="ctr">
              <a:spcBef>
                <a:spcPts val="0"/>
              </a:spcBef>
              <a:spcAft>
                <a:spcPts val="0"/>
              </a:spcAft>
            </a:pPr>
            <a:r>
              <a:rPr lang="tr-TR" sz="1500" b="0" i="0">
                <a:solidFill>
                  <a:srgbClr val="262626"/>
                </a:solidFill>
                <a:latin typeface="Calibri"/>
              </a:rPr>
              <a:t>s. 219: Akdeniz iklim bölgesi</a:t>
            </a:r>
          </a:p>
        </p:txBody>
      </p:sp>
      <p:sp>
        <p:nvSpPr>
          <p:cNvPr id="15" name="Rounded Rectangle 14"/>
          <p:cNvSpPr/>
          <p:nvPr/>
        </p:nvSpPr>
        <p:spPr>
          <a:xfrm>
            <a:off x="502920" y="4181262"/>
            <a:ext cx="11185855" cy="1000040"/>
          </a:xfrm>
          <a:prstGeom prst="roundRect">
            <a:avLst>
              <a:gd name="adj" fmla="val 9143"/>
            </a:avLst>
          </a:prstGeom>
          <a:solidFill>
            <a:srgbClr val="F0F0F0"/>
          </a:solidFill>
          <a:ln>
            <a:noFill/>
          </a:ln>
          <a:effectLst/>
        </p:spPr>
        <p:txBody>
          <a:bodyPr rtlCol="0" anchor="ctr"/>
          <a:lstStyle/>
          <a:p/>
        </p:txBody>
      </p:sp>
      <p:sp>
        <p:nvSpPr>
          <p:cNvPr id="16" name="Oval 15"/>
          <p:cNvSpPr/>
          <p:nvPr/>
        </p:nvSpPr>
        <p:spPr>
          <a:xfrm>
            <a:off x="594360" y="4443538"/>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7</a:t>
            </a:r>
          </a:p>
        </p:txBody>
      </p:sp>
      <p:sp>
        <p:nvSpPr>
          <p:cNvPr id="17" name="TextBox 16"/>
          <p:cNvSpPr txBox="1"/>
          <p:nvPr/>
        </p:nvSpPr>
        <p:spPr>
          <a:xfrm>
            <a:off x="1188720" y="4181262"/>
            <a:ext cx="6751015" cy="100004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Mekânsal yapıyı, mekân üzerindeki ekonomik ve kültürel işleyişi daha iyi organize edebilmek amacıyla oluşturulan bölgeler.</a:t>
            </a:r>
          </a:p>
        </p:txBody>
      </p:sp>
      <p:sp>
        <p:nvSpPr>
          <p:cNvPr id="18" name="Rounded Rectangle 17"/>
          <p:cNvSpPr/>
          <p:nvPr/>
        </p:nvSpPr>
        <p:spPr>
          <a:xfrm>
            <a:off x="7958023" y="4254414"/>
            <a:ext cx="3657600" cy="853736"/>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İŞLEVSEL BÖLGELER</a:t>
            </a:r>
          </a:p>
          <a:p>
            <a:pPr algn="ctr">
              <a:spcBef>
                <a:spcPts val="0"/>
              </a:spcBef>
              <a:spcAft>
                <a:spcPts val="0"/>
              </a:spcAft>
            </a:pPr>
            <a:r>
              <a:rPr lang="tr-TR" sz="1500" b="0" i="0">
                <a:solidFill>
                  <a:srgbClr val="262626"/>
                </a:solidFill>
                <a:latin typeface="Calibri"/>
              </a:rPr>
              <a:t>s. 219: çekirdek ve çevre</a:t>
            </a:r>
          </a:p>
        </p:txBody>
      </p:sp>
      <p:sp>
        <p:nvSpPr>
          <p:cNvPr id="19" name="Rounded Rectangle 18"/>
          <p:cNvSpPr/>
          <p:nvPr/>
        </p:nvSpPr>
        <p:spPr>
          <a:xfrm>
            <a:off x="502920" y="5291031"/>
            <a:ext cx="11185855" cy="1000040"/>
          </a:xfrm>
          <a:prstGeom prst="roundRect">
            <a:avLst>
              <a:gd name="adj" fmla="val 9143"/>
            </a:avLst>
          </a:prstGeom>
          <a:solidFill>
            <a:srgbClr val="F0F0F0"/>
          </a:solidFill>
          <a:ln>
            <a:noFill/>
          </a:ln>
          <a:effectLst/>
        </p:spPr>
        <p:txBody>
          <a:bodyPr rtlCol="0" anchor="ctr"/>
          <a:lstStyle/>
          <a:p/>
        </p:txBody>
      </p:sp>
      <p:sp>
        <p:nvSpPr>
          <p:cNvPr id="20" name="Oval 19"/>
          <p:cNvSpPr/>
          <p:nvPr/>
        </p:nvSpPr>
        <p:spPr>
          <a:xfrm>
            <a:off x="594360" y="5553307"/>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8</a:t>
            </a:r>
          </a:p>
        </p:txBody>
      </p:sp>
      <p:sp>
        <p:nvSpPr>
          <p:cNvPr id="21" name="TextBox 20"/>
          <p:cNvSpPr txBox="1"/>
          <p:nvPr/>
        </p:nvSpPr>
        <p:spPr>
          <a:xfrm>
            <a:off x="1188720" y="5291031"/>
            <a:ext cx="6751015" cy="100004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Bozkır bölgesi, tundra bölgesi, tayga bölgesi gibi bölgelerin oluşturulmasında kullanılan bölge belirleme kriteri.</a:t>
            </a:r>
          </a:p>
        </p:txBody>
      </p:sp>
      <p:sp>
        <p:nvSpPr>
          <p:cNvPr id="22" name="Rounded Rectangle 21"/>
          <p:cNvSpPr/>
          <p:nvPr/>
        </p:nvSpPr>
        <p:spPr>
          <a:xfrm>
            <a:off x="7958023" y="5364183"/>
            <a:ext cx="3657600" cy="853736"/>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BİTKİ ÖRTÜSÜ</a:t>
            </a:r>
          </a:p>
          <a:p>
            <a:pPr algn="ctr">
              <a:spcBef>
                <a:spcPts val="0"/>
              </a:spcBef>
              <a:spcAft>
                <a:spcPts val="0"/>
              </a:spcAft>
            </a:pPr>
            <a:r>
              <a:rPr lang="tr-TR" sz="1500" b="0" i="0">
                <a:solidFill>
                  <a:srgbClr val="262626"/>
                </a:solidFill>
                <a:latin typeface="Calibri"/>
              </a:rPr>
              <a:t>s. 217: fiziki unsur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167 / 187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(9-12)</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914400"/>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594360" y="1819656"/>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9</a:t>
            </a:r>
          </a:p>
        </p:txBody>
      </p:sp>
      <p:sp>
        <p:nvSpPr>
          <p:cNvPr id="9" name="TextBox 8"/>
          <p:cNvSpPr txBox="1"/>
          <p:nvPr/>
        </p:nvSpPr>
        <p:spPr>
          <a:xfrm>
            <a:off x="1188720" y="1600200"/>
            <a:ext cx="6751015" cy="914400"/>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Yeryüzünün doğal ve beşerî unsurlar bakımından kendi içinde benzerlik gösteren parçaları.</a:t>
            </a:r>
          </a:p>
        </p:txBody>
      </p:sp>
      <p:sp>
        <p:nvSpPr>
          <p:cNvPr id="10" name="Rounded Rectangle 9"/>
          <p:cNvSpPr/>
          <p:nvPr/>
        </p:nvSpPr>
        <p:spPr>
          <a:xfrm>
            <a:off x="7958023" y="1673352"/>
            <a:ext cx="3657600" cy="768096"/>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5 harf</a:t>
            </a:r>
          </a:p>
        </p:txBody>
      </p:sp>
      <p:sp>
        <p:nvSpPr>
          <p:cNvPr id="11" name="Rounded Rectangle 10"/>
          <p:cNvSpPr/>
          <p:nvPr/>
        </p:nvSpPr>
        <p:spPr>
          <a:xfrm>
            <a:off x="502920" y="2624328"/>
            <a:ext cx="11185855" cy="914400"/>
          </a:xfrm>
          <a:prstGeom prst="roundRect">
            <a:avLst>
              <a:gd name="adj" fmla="val 10000"/>
            </a:avLst>
          </a:prstGeom>
          <a:solidFill>
            <a:srgbClr val="F0F0F0"/>
          </a:solidFill>
          <a:ln>
            <a:noFill/>
          </a:ln>
          <a:effectLst/>
        </p:spPr>
        <p:txBody>
          <a:bodyPr rtlCol="0" anchor="ctr"/>
          <a:lstStyle/>
          <a:p/>
        </p:txBody>
      </p:sp>
      <p:sp>
        <p:nvSpPr>
          <p:cNvPr id="12" name="Oval 11"/>
          <p:cNvSpPr/>
          <p:nvPr/>
        </p:nvSpPr>
        <p:spPr>
          <a:xfrm>
            <a:off x="594360" y="2843784"/>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10</a:t>
            </a:r>
          </a:p>
        </p:txBody>
      </p:sp>
      <p:sp>
        <p:nvSpPr>
          <p:cNvPr id="13" name="TextBox 12"/>
          <p:cNvSpPr txBox="1"/>
          <p:nvPr/>
        </p:nvSpPr>
        <p:spPr>
          <a:xfrm>
            <a:off x="1188720" y="2624328"/>
            <a:ext cx="6751015" cy="914400"/>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Sahip oldukları doğal ve beşerî özellikleri ile dünyanın diğer alanlarından ayrılan bölgeler.</a:t>
            </a:r>
          </a:p>
        </p:txBody>
      </p:sp>
      <p:sp>
        <p:nvSpPr>
          <p:cNvPr id="14" name="Rounded Rectangle 13"/>
          <p:cNvSpPr/>
          <p:nvPr/>
        </p:nvSpPr>
        <p:spPr>
          <a:xfrm>
            <a:off x="7958023" y="2697480"/>
            <a:ext cx="3657600" cy="768096"/>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16 harf</a:t>
            </a:r>
          </a:p>
        </p:txBody>
      </p:sp>
      <p:sp>
        <p:nvSpPr>
          <p:cNvPr id="15" name="Rounded Rectangle 14"/>
          <p:cNvSpPr/>
          <p:nvPr/>
        </p:nvSpPr>
        <p:spPr>
          <a:xfrm>
            <a:off x="502920" y="3648456"/>
            <a:ext cx="11185855" cy="1117328"/>
          </a:xfrm>
          <a:prstGeom prst="roundRect">
            <a:avLst>
              <a:gd name="adj" fmla="val 8183"/>
            </a:avLst>
          </a:prstGeom>
          <a:solidFill>
            <a:srgbClr val="F0F0F0"/>
          </a:solidFill>
          <a:ln>
            <a:noFill/>
          </a:ln>
          <a:effectLst/>
        </p:spPr>
        <p:txBody>
          <a:bodyPr rtlCol="0" anchor="ctr"/>
          <a:lstStyle/>
          <a:p/>
        </p:txBody>
      </p:sp>
      <p:sp>
        <p:nvSpPr>
          <p:cNvPr id="16" name="Oval 15"/>
          <p:cNvSpPr/>
          <p:nvPr/>
        </p:nvSpPr>
        <p:spPr>
          <a:xfrm>
            <a:off x="594360" y="3969376"/>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11</a:t>
            </a:r>
          </a:p>
        </p:txBody>
      </p:sp>
      <p:sp>
        <p:nvSpPr>
          <p:cNvPr id="17" name="TextBox 16"/>
          <p:cNvSpPr txBox="1"/>
          <p:nvPr/>
        </p:nvSpPr>
        <p:spPr>
          <a:xfrm>
            <a:off x="1188720" y="3648456"/>
            <a:ext cx="6751015" cy="1117328"/>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Devlet Su İşleri, Karayolları Genel Müdürlüğü, Meteoroloji İşleri Genel Müdürlüğü gibi kurumların ülke genelinde belirlediği işlevsel bölge türü.</a:t>
            </a:r>
          </a:p>
        </p:txBody>
      </p:sp>
      <p:sp>
        <p:nvSpPr>
          <p:cNvPr id="18" name="Rounded Rectangle 17"/>
          <p:cNvSpPr/>
          <p:nvPr/>
        </p:nvSpPr>
        <p:spPr>
          <a:xfrm>
            <a:off x="7958023" y="3721608"/>
            <a:ext cx="3657600" cy="971024"/>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15 harf</a:t>
            </a:r>
          </a:p>
        </p:txBody>
      </p:sp>
      <p:sp>
        <p:nvSpPr>
          <p:cNvPr id="19" name="Rounded Rectangle 18"/>
          <p:cNvSpPr/>
          <p:nvPr/>
        </p:nvSpPr>
        <p:spPr>
          <a:xfrm>
            <a:off x="502920" y="4875512"/>
            <a:ext cx="11185855" cy="1415559"/>
          </a:xfrm>
          <a:prstGeom prst="roundRect">
            <a:avLst>
              <a:gd name="adj" fmla="val 6459"/>
            </a:avLst>
          </a:prstGeom>
          <a:solidFill>
            <a:srgbClr val="F0F0F0"/>
          </a:solidFill>
          <a:ln>
            <a:noFill/>
          </a:ln>
          <a:effectLst/>
        </p:spPr>
        <p:txBody>
          <a:bodyPr rtlCol="0" anchor="ctr"/>
          <a:lstStyle/>
          <a:p/>
        </p:txBody>
      </p:sp>
      <p:sp>
        <p:nvSpPr>
          <p:cNvPr id="20" name="Oval 19"/>
          <p:cNvSpPr/>
          <p:nvPr/>
        </p:nvSpPr>
        <p:spPr>
          <a:xfrm>
            <a:off x="594360" y="5345548"/>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12</a:t>
            </a:r>
          </a:p>
        </p:txBody>
      </p:sp>
      <p:sp>
        <p:nvSpPr>
          <p:cNvPr id="21" name="TextBox 20"/>
          <p:cNvSpPr txBox="1"/>
          <p:nvPr/>
        </p:nvSpPr>
        <p:spPr>
          <a:xfrm>
            <a:off x="1188720" y="4875512"/>
            <a:ext cx="6751015" cy="1415559"/>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Türkiye, Azerbaycan, Ermenistan, Gürcistan, Moldova, Rusya, Ukrayna, Bulgaristan, Romanya, Yunanistan, Kuzey Makedonya, Arnavutluk ve Sırbistan’ın üye olduğu işlevsel bölgelere örnek verilebilecek ekonomik iş birliği örgütünün kısaltması.</a:t>
            </a:r>
          </a:p>
        </p:txBody>
      </p:sp>
      <p:sp>
        <p:nvSpPr>
          <p:cNvPr id="22" name="Rounded Rectangle 21"/>
          <p:cNvSpPr/>
          <p:nvPr/>
        </p:nvSpPr>
        <p:spPr>
          <a:xfrm>
            <a:off x="7958023" y="4948664"/>
            <a:ext cx="3657600" cy="1269255"/>
          </a:xfrm>
          <a:prstGeom prst="roundRect">
            <a:avLst>
              <a:gd name="adj" fmla="val 15000"/>
            </a:avLst>
          </a:prstGeom>
          <a:solidFill>
            <a:srgbClr val="FFFFFF"/>
          </a:solidFill>
          <a:ln w="12700">
            <a:solidFill>
              <a:srgbClr val="D9D9D9"/>
            </a:solidFill>
          </a:ln>
          <a:effectLst/>
        </p:spPr>
        <p:txBody>
          <a:bodyPr rtlCol="0" anchor="ctr" wrap="square" lIns="128016" rIns="128016" tIns="73152" bIns="73152">
            <a:noAutofit/>
          </a:bodyPr>
          <a:lstStyle/>
          <a:p>
            <a:pPr algn="ctr">
              <a:spcBef>
                <a:spcPts val="0"/>
              </a:spcBef>
              <a:spcAft>
                <a:spcPts val="0"/>
              </a:spcAft>
            </a:pPr>
            <a:r>
              <a:rPr lang="tr-TR" sz="1800" b="1" i="0">
                <a:solidFill>
                  <a:srgbClr val="767676"/>
                </a:solidFill>
                <a:latin typeface="Calibri"/>
              </a:rPr>
              <a:t>3 harf</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168 /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 (9-12)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Tanım ve Bilgiler: tanıma uyan kavramı bul (kutudaki sayı, kavramın harf sayısıdır; boşluklar sayılmaz)</a:t>
            </a:r>
          </a:p>
        </p:txBody>
      </p:sp>
      <p:sp>
        <p:nvSpPr>
          <p:cNvPr id="7" name="Rounded Rectangle 6"/>
          <p:cNvSpPr/>
          <p:nvPr/>
        </p:nvSpPr>
        <p:spPr>
          <a:xfrm>
            <a:off x="502920" y="1600200"/>
            <a:ext cx="11185855" cy="914400"/>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594360" y="1819656"/>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9</a:t>
            </a:r>
          </a:p>
        </p:txBody>
      </p:sp>
      <p:sp>
        <p:nvSpPr>
          <p:cNvPr id="9" name="TextBox 8"/>
          <p:cNvSpPr txBox="1"/>
          <p:nvPr/>
        </p:nvSpPr>
        <p:spPr>
          <a:xfrm>
            <a:off x="1188720" y="1600200"/>
            <a:ext cx="6751015" cy="91440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Yeryüzünün doğal ve beşerî unsurlar bakımından kendi içinde benzerlik gösteren parçaları.</a:t>
            </a:r>
          </a:p>
        </p:txBody>
      </p:sp>
      <p:sp>
        <p:nvSpPr>
          <p:cNvPr id="10" name="Rounded Rectangle 9"/>
          <p:cNvSpPr/>
          <p:nvPr/>
        </p:nvSpPr>
        <p:spPr>
          <a:xfrm>
            <a:off x="7958023" y="1673352"/>
            <a:ext cx="3657600" cy="768096"/>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92"/>
              </a:spcAft>
            </a:pPr>
            <a:r>
              <a:rPr lang="tr-TR" sz="2042" b="1" i="0">
                <a:solidFill>
                  <a:srgbClr val="2E7D32"/>
                </a:solidFill>
                <a:latin typeface="Calibri"/>
              </a:rPr>
              <a:t>BÖLGE</a:t>
            </a:r>
          </a:p>
          <a:p>
            <a:pPr algn="ctr">
              <a:spcBef>
                <a:spcPts val="0"/>
              </a:spcBef>
              <a:spcAft>
                <a:spcPts val="0"/>
              </a:spcAft>
            </a:pPr>
            <a:r>
              <a:rPr lang="tr-TR" sz="1392" b="0" i="0">
                <a:solidFill>
                  <a:srgbClr val="262626"/>
                </a:solidFill>
                <a:latin typeface="Calibri"/>
              </a:rPr>
              <a:t>s. 219: tanım</a:t>
            </a:r>
          </a:p>
        </p:txBody>
      </p:sp>
      <p:sp>
        <p:nvSpPr>
          <p:cNvPr id="11" name="Rounded Rectangle 10"/>
          <p:cNvSpPr/>
          <p:nvPr/>
        </p:nvSpPr>
        <p:spPr>
          <a:xfrm>
            <a:off x="502920" y="2624328"/>
            <a:ext cx="11185855" cy="914400"/>
          </a:xfrm>
          <a:prstGeom prst="roundRect">
            <a:avLst>
              <a:gd name="adj" fmla="val 10000"/>
            </a:avLst>
          </a:prstGeom>
          <a:solidFill>
            <a:srgbClr val="F0F0F0"/>
          </a:solidFill>
          <a:ln>
            <a:noFill/>
          </a:ln>
          <a:effectLst/>
        </p:spPr>
        <p:txBody>
          <a:bodyPr rtlCol="0" anchor="ctr"/>
          <a:lstStyle/>
          <a:p/>
        </p:txBody>
      </p:sp>
      <p:sp>
        <p:nvSpPr>
          <p:cNvPr id="12" name="Oval 11"/>
          <p:cNvSpPr/>
          <p:nvPr/>
        </p:nvSpPr>
        <p:spPr>
          <a:xfrm>
            <a:off x="594360" y="2843784"/>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10</a:t>
            </a:r>
          </a:p>
        </p:txBody>
      </p:sp>
      <p:sp>
        <p:nvSpPr>
          <p:cNvPr id="13" name="TextBox 12"/>
          <p:cNvSpPr txBox="1"/>
          <p:nvPr/>
        </p:nvSpPr>
        <p:spPr>
          <a:xfrm>
            <a:off x="1188720" y="2624328"/>
            <a:ext cx="6751015" cy="91440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Sahip oldukları doğal ve beşerî özellikleri ile dünyanın diğer alanlarından ayrılan bölgeler.</a:t>
            </a:r>
          </a:p>
        </p:txBody>
      </p:sp>
      <p:sp>
        <p:nvSpPr>
          <p:cNvPr id="14" name="Rounded Rectangle 13"/>
          <p:cNvSpPr/>
          <p:nvPr/>
        </p:nvSpPr>
        <p:spPr>
          <a:xfrm>
            <a:off x="7958023" y="2697480"/>
            <a:ext cx="3657600" cy="768096"/>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92"/>
              </a:spcAft>
            </a:pPr>
            <a:r>
              <a:rPr lang="tr-TR" sz="2042" b="1" i="0">
                <a:solidFill>
                  <a:srgbClr val="2E7D32"/>
                </a:solidFill>
                <a:latin typeface="Calibri"/>
              </a:rPr>
              <a:t>ŞEKİLSEL BÖLGELER</a:t>
            </a:r>
          </a:p>
          <a:p>
            <a:pPr algn="ctr">
              <a:spcBef>
                <a:spcPts val="0"/>
              </a:spcBef>
              <a:spcAft>
                <a:spcPts val="0"/>
              </a:spcAft>
            </a:pPr>
            <a:r>
              <a:rPr lang="tr-TR" sz="1392" b="0" i="0">
                <a:solidFill>
                  <a:srgbClr val="262626"/>
                </a:solidFill>
                <a:latin typeface="Calibri"/>
              </a:rPr>
              <a:t>s. 219: tanım</a:t>
            </a:r>
          </a:p>
        </p:txBody>
      </p:sp>
      <p:sp>
        <p:nvSpPr>
          <p:cNvPr id="15" name="Rounded Rectangle 14"/>
          <p:cNvSpPr/>
          <p:nvPr/>
        </p:nvSpPr>
        <p:spPr>
          <a:xfrm>
            <a:off x="502920" y="3648456"/>
            <a:ext cx="11185855" cy="1118015"/>
          </a:xfrm>
          <a:prstGeom prst="roundRect">
            <a:avLst>
              <a:gd name="adj" fmla="val 8178"/>
            </a:avLst>
          </a:prstGeom>
          <a:solidFill>
            <a:srgbClr val="F0F0F0"/>
          </a:solidFill>
          <a:ln>
            <a:noFill/>
          </a:ln>
          <a:effectLst/>
        </p:spPr>
        <p:txBody>
          <a:bodyPr rtlCol="0" anchor="ctr"/>
          <a:lstStyle/>
          <a:p/>
        </p:txBody>
      </p:sp>
      <p:sp>
        <p:nvSpPr>
          <p:cNvPr id="16" name="Oval 15"/>
          <p:cNvSpPr/>
          <p:nvPr/>
        </p:nvSpPr>
        <p:spPr>
          <a:xfrm>
            <a:off x="594360" y="3969719"/>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11</a:t>
            </a:r>
          </a:p>
        </p:txBody>
      </p:sp>
      <p:sp>
        <p:nvSpPr>
          <p:cNvPr id="17" name="TextBox 16"/>
          <p:cNvSpPr txBox="1"/>
          <p:nvPr/>
        </p:nvSpPr>
        <p:spPr>
          <a:xfrm>
            <a:off x="1188720" y="3648456"/>
            <a:ext cx="6751015" cy="1118015"/>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Devlet Su İşleri, Karayolları Genel Müdürlüğü, Meteoroloji İşleri Genel Müdürlüğü gibi kurumların ülke genelinde belirlediği işlevsel bölge türü.</a:t>
            </a:r>
          </a:p>
        </p:txBody>
      </p:sp>
      <p:sp>
        <p:nvSpPr>
          <p:cNvPr id="18" name="Rounded Rectangle 17"/>
          <p:cNvSpPr/>
          <p:nvPr/>
        </p:nvSpPr>
        <p:spPr>
          <a:xfrm>
            <a:off x="7958023" y="3721608"/>
            <a:ext cx="3657600" cy="971711"/>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HİZMET BÖLGELERİ</a:t>
            </a:r>
          </a:p>
          <a:p>
            <a:pPr algn="ctr">
              <a:spcBef>
                <a:spcPts val="0"/>
              </a:spcBef>
              <a:spcAft>
                <a:spcPts val="0"/>
              </a:spcAft>
            </a:pPr>
            <a:r>
              <a:rPr lang="tr-TR" sz="1500" b="0" i="0">
                <a:solidFill>
                  <a:srgbClr val="262626"/>
                </a:solidFill>
                <a:latin typeface="Calibri"/>
              </a:rPr>
              <a:t>s. 221: KGM hizmet bölgeleri</a:t>
            </a:r>
          </a:p>
        </p:txBody>
      </p:sp>
      <p:sp>
        <p:nvSpPr>
          <p:cNvPr id="19" name="Rounded Rectangle 18"/>
          <p:cNvSpPr/>
          <p:nvPr/>
        </p:nvSpPr>
        <p:spPr>
          <a:xfrm>
            <a:off x="502920" y="4876199"/>
            <a:ext cx="11185855" cy="1414872"/>
          </a:xfrm>
          <a:prstGeom prst="roundRect">
            <a:avLst>
              <a:gd name="adj" fmla="val 6462"/>
            </a:avLst>
          </a:prstGeom>
          <a:solidFill>
            <a:srgbClr val="F0F0F0"/>
          </a:solidFill>
          <a:ln>
            <a:noFill/>
          </a:ln>
          <a:effectLst/>
        </p:spPr>
        <p:txBody>
          <a:bodyPr rtlCol="0" anchor="ctr"/>
          <a:lstStyle/>
          <a:p/>
        </p:txBody>
      </p:sp>
      <p:sp>
        <p:nvSpPr>
          <p:cNvPr id="20" name="Oval 19"/>
          <p:cNvSpPr/>
          <p:nvPr/>
        </p:nvSpPr>
        <p:spPr>
          <a:xfrm>
            <a:off x="594360" y="5345891"/>
            <a:ext cx="475488" cy="47548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12</a:t>
            </a:r>
          </a:p>
        </p:txBody>
      </p:sp>
      <p:sp>
        <p:nvSpPr>
          <p:cNvPr id="21" name="TextBox 20"/>
          <p:cNvSpPr txBox="1"/>
          <p:nvPr/>
        </p:nvSpPr>
        <p:spPr>
          <a:xfrm>
            <a:off x="1188720" y="4876199"/>
            <a:ext cx="6751015" cy="1414872"/>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767676"/>
                </a:solidFill>
                <a:latin typeface="Calibri"/>
              </a:rPr>
              <a:t>Türkiye, Azerbaycan, Ermenistan, Gürcistan, Moldova, Rusya, Ukrayna, Bulgaristan, Romanya, Yunanistan, Kuzey Makedonya, Arnavutluk ve Sırbistan’ın üye olduğu işlevsel bölgelere örnek verilebilecek ekonomik iş birliği örgütünün kısaltması.</a:t>
            </a:r>
          </a:p>
        </p:txBody>
      </p:sp>
      <p:sp>
        <p:nvSpPr>
          <p:cNvPr id="22" name="Rounded Rectangle 21"/>
          <p:cNvSpPr/>
          <p:nvPr/>
        </p:nvSpPr>
        <p:spPr>
          <a:xfrm>
            <a:off x="7958023" y="4949351"/>
            <a:ext cx="3657600" cy="1268568"/>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100"/>
              </a:spcAft>
            </a:pPr>
            <a:r>
              <a:rPr lang="tr-TR" sz="2200" b="1" i="0">
                <a:solidFill>
                  <a:srgbClr val="2E7D32"/>
                </a:solidFill>
                <a:latin typeface="Calibri"/>
              </a:rPr>
              <a:t>KEİ</a:t>
            </a:r>
          </a:p>
          <a:p>
            <a:pPr algn="ctr">
              <a:spcBef>
                <a:spcPts val="0"/>
              </a:spcBef>
              <a:spcAft>
                <a:spcPts val="0"/>
              </a:spcAft>
            </a:pPr>
            <a:r>
              <a:rPr lang="tr-TR" sz="1500" b="0" i="0">
                <a:solidFill>
                  <a:srgbClr val="262626"/>
                </a:solidFill>
                <a:latin typeface="Calibri"/>
              </a:rPr>
              <a:t>s. 222: KEİ Bölgesi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169 / 187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bulmacanın çözümü</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pic>
        <p:nvPicPr>
          <p:cNvPr id="6" name="Picture 5" descr="sonu_eba_cozum.jpg"/>
          <p:cNvPicPr>
            <a:picLocks noChangeAspect="1"/>
          </p:cNvPicPr>
          <p:nvPr/>
        </p:nvPicPr>
        <p:blipFill>
          <a:blip r:embed="rId3"/>
          <a:stretch>
            <a:fillRect/>
          </a:stretch>
        </p:blipFill>
        <p:spPr>
          <a:xfrm>
            <a:off x="631006" y="1216152"/>
            <a:ext cx="3904347" cy="4754880"/>
          </a:xfrm>
          <a:prstGeom prst="rect">
            <a:avLst/>
          </a:prstGeom>
          <a:ln w="9525">
            <a:solidFill>
              <a:srgbClr val="D9D9D9"/>
            </a:solidFill>
          </a:ln>
        </p:spPr>
      </p:pic>
      <p:sp>
        <p:nvSpPr>
          <p:cNvPr id="7" name="TextBox 6"/>
          <p:cNvSpPr txBox="1"/>
          <p:nvPr/>
        </p:nvSpPr>
        <p:spPr>
          <a:xfrm>
            <a:off x="631006" y="5989320"/>
            <a:ext cx="3904347"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Çözüm: EBA 9.7 tema sonu e-ölçme, s. 3</a:t>
            </a:r>
          </a:p>
        </p:txBody>
      </p:sp>
      <p:sp>
        <p:nvSpPr>
          <p:cNvPr id="8" name="Rounded Rectangle 7"/>
          <p:cNvSpPr/>
          <p:nvPr/>
        </p:nvSpPr>
        <p:spPr>
          <a:xfrm>
            <a:off x="4681587" y="121615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9" name="Oval 8"/>
          <p:cNvSpPr/>
          <p:nvPr/>
        </p:nvSpPr>
        <p:spPr>
          <a:xfrm>
            <a:off x="4754739" y="139141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0" name="TextBox 9"/>
          <p:cNvSpPr txBox="1"/>
          <p:nvPr/>
        </p:nvSpPr>
        <p:spPr>
          <a:xfrm>
            <a:off x="5230227" y="121615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YER ŞEKİLLERİ</a:t>
            </a:r>
          </a:p>
        </p:txBody>
      </p:sp>
      <p:sp>
        <p:nvSpPr>
          <p:cNvPr id="11" name="Rounded Rectangle 10"/>
          <p:cNvSpPr/>
          <p:nvPr/>
        </p:nvSpPr>
        <p:spPr>
          <a:xfrm>
            <a:off x="4681587" y="206959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12" name="Oval 11"/>
          <p:cNvSpPr/>
          <p:nvPr/>
        </p:nvSpPr>
        <p:spPr>
          <a:xfrm>
            <a:off x="4754739" y="224485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3" name="TextBox 12"/>
          <p:cNvSpPr txBox="1"/>
          <p:nvPr/>
        </p:nvSpPr>
        <p:spPr>
          <a:xfrm>
            <a:off x="5230227" y="206959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İSTATİSTİK BÖLGELERİ</a:t>
            </a:r>
          </a:p>
        </p:txBody>
      </p:sp>
      <p:sp>
        <p:nvSpPr>
          <p:cNvPr id="14" name="Rounded Rectangle 13"/>
          <p:cNvSpPr/>
          <p:nvPr/>
        </p:nvSpPr>
        <p:spPr>
          <a:xfrm>
            <a:off x="4681587" y="292303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15" name="Oval 14"/>
          <p:cNvSpPr/>
          <p:nvPr/>
        </p:nvSpPr>
        <p:spPr>
          <a:xfrm>
            <a:off x="4754739" y="309829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6" name="TextBox 15"/>
          <p:cNvSpPr txBox="1"/>
          <p:nvPr/>
        </p:nvSpPr>
        <p:spPr>
          <a:xfrm>
            <a:off x="5230227" y="292303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TAYGA</a:t>
            </a:r>
          </a:p>
        </p:txBody>
      </p:sp>
      <p:sp>
        <p:nvSpPr>
          <p:cNvPr id="17" name="Rounded Rectangle 16"/>
          <p:cNvSpPr/>
          <p:nvPr/>
        </p:nvSpPr>
        <p:spPr>
          <a:xfrm>
            <a:off x="4681587" y="377647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18" name="Oval 17"/>
          <p:cNvSpPr/>
          <p:nvPr/>
        </p:nvSpPr>
        <p:spPr>
          <a:xfrm>
            <a:off x="4754739" y="395173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19" name="TextBox 18"/>
          <p:cNvSpPr txBox="1"/>
          <p:nvPr/>
        </p:nvSpPr>
        <p:spPr>
          <a:xfrm>
            <a:off x="5230227" y="377647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HİMALAYALAR</a:t>
            </a:r>
          </a:p>
        </p:txBody>
      </p:sp>
      <p:sp>
        <p:nvSpPr>
          <p:cNvPr id="20" name="Rounded Rectangle 19"/>
          <p:cNvSpPr/>
          <p:nvPr/>
        </p:nvSpPr>
        <p:spPr>
          <a:xfrm>
            <a:off x="4681587" y="462991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21" name="Oval 20"/>
          <p:cNvSpPr/>
          <p:nvPr/>
        </p:nvSpPr>
        <p:spPr>
          <a:xfrm>
            <a:off x="4754739" y="480517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22" name="TextBox 21"/>
          <p:cNvSpPr txBox="1"/>
          <p:nvPr/>
        </p:nvSpPr>
        <p:spPr>
          <a:xfrm>
            <a:off x="5230227" y="462991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MAASTRİCHT</a:t>
            </a:r>
          </a:p>
        </p:txBody>
      </p:sp>
      <p:sp>
        <p:nvSpPr>
          <p:cNvPr id="23" name="Rounded Rectangle 22"/>
          <p:cNvSpPr/>
          <p:nvPr/>
        </p:nvSpPr>
        <p:spPr>
          <a:xfrm>
            <a:off x="4681587" y="548335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24" name="Oval 23"/>
          <p:cNvSpPr/>
          <p:nvPr/>
        </p:nvSpPr>
        <p:spPr>
          <a:xfrm>
            <a:off x="4754739" y="565861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25" name="TextBox 24"/>
          <p:cNvSpPr txBox="1"/>
          <p:nvPr/>
        </p:nvSpPr>
        <p:spPr>
          <a:xfrm>
            <a:off x="5230227" y="548335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AKDENİZ</a:t>
            </a:r>
          </a:p>
        </p:txBody>
      </p:sp>
      <p:sp>
        <p:nvSpPr>
          <p:cNvPr id="26" name="Rounded Rectangle 25"/>
          <p:cNvSpPr/>
          <p:nvPr/>
        </p:nvSpPr>
        <p:spPr>
          <a:xfrm>
            <a:off x="8276621" y="121615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27" name="Oval 26"/>
          <p:cNvSpPr/>
          <p:nvPr/>
        </p:nvSpPr>
        <p:spPr>
          <a:xfrm>
            <a:off x="8349773" y="139141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7</a:t>
            </a:r>
          </a:p>
        </p:txBody>
      </p:sp>
      <p:sp>
        <p:nvSpPr>
          <p:cNvPr id="28" name="TextBox 27"/>
          <p:cNvSpPr txBox="1"/>
          <p:nvPr/>
        </p:nvSpPr>
        <p:spPr>
          <a:xfrm>
            <a:off x="8825261" y="121615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İŞLEVSEL BÖLGELER</a:t>
            </a:r>
          </a:p>
        </p:txBody>
      </p:sp>
      <p:sp>
        <p:nvSpPr>
          <p:cNvPr id="29" name="Rounded Rectangle 28"/>
          <p:cNvSpPr/>
          <p:nvPr/>
        </p:nvSpPr>
        <p:spPr>
          <a:xfrm>
            <a:off x="8276621" y="206959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30" name="Oval 29"/>
          <p:cNvSpPr/>
          <p:nvPr/>
        </p:nvSpPr>
        <p:spPr>
          <a:xfrm>
            <a:off x="8349773" y="224485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8</a:t>
            </a:r>
          </a:p>
        </p:txBody>
      </p:sp>
      <p:sp>
        <p:nvSpPr>
          <p:cNvPr id="31" name="TextBox 30"/>
          <p:cNvSpPr txBox="1"/>
          <p:nvPr/>
        </p:nvSpPr>
        <p:spPr>
          <a:xfrm>
            <a:off x="8825261" y="206959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BİTKİ ÖRTÜSÜ</a:t>
            </a:r>
          </a:p>
        </p:txBody>
      </p:sp>
      <p:sp>
        <p:nvSpPr>
          <p:cNvPr id="32" name="Rounded Rectangle 31"/>
          <p:cNvSpPr/>
          <p:nvPr/>
        </p:nvSpPr>
        <p:spPr>
          <a:xfrm>
            <a:off x="8276621" y="292303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33" name="Oval 32"/>
          <p:cNvSpPr/>
          <p:nvPr/>
        </p:nvSpPr>
        <p:spPr>
          <a:xfrm>
            <a:off x="8349773" y="309829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9</a:t>
            </a:r>
          </a:p>
        </p:txBody>
      </p:sp>
      <p:sp>
        <p:nvSpPr>
          <p:cNvPr id="34" name="TextBox 33"/>
          <p:cNvSpPr txBox="1"/>
          <p:nvPr/>
        </p:nvSpPr>
        <p:spPr>
          <a:xfrm>
            <a:off x="8825261" y="292303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BÖLGE</a:t>
            </a:r>
          </a:p>
        </p:txBody>
      </p:sp>
      <p:sp>
        <p:nvSpPr>
          <p:cNvPr id="35" name="Rounded Rectangle 34"/>
          <p:cNvSpPr/>
          <p:nvPr/>
        </p:nvSpPr>
        <p:spPr>
          <a:xfrm>
            <a:off x="8276621" y="377647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36" name="Oval 35"/>
          <p:cNvSpPr/>
          <p:nvPr/>
        </p:nvSpPr>
        <p:spPr>
          <a:xfrm>
            <a:off x="8349773" y="395173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10</a:t>
            </a:r>
          </a:p>
        </p:txBody>
      </p:sp>
      <p:sp>
        <p:nvSpPr>
          <p:cNvPr id="37" name="TextBox 36"/>
          <p:cNvSpPr txBox="1"/>
          <p:nvPr/>
        </p:nvSpPr>
        <p:spPr>
          <a:xfrm>
            <a:off x="8825261" y="377647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ŞEKİLSEL BÖLGELER</a:t>
            </a:r>
          </a:p>
        </p:txBody>
      </p:sp>
      <p:sp>
        <p:nvSpPr>
          <p:cNvPr id="38" name="Rounded Rectangle 37"/>
          <p:cNvSpPr/>
          <p:nvPr/>
        </p:nvSpPr>
        <p:spPr>
          <a:xfrm>
            <a:off x="8276621" y="462991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39" name="Oval 38"/>
          <p:cNvSpPr/>
          <p:nvPr/>
        </p:nvSpPr>
        <p:spPr>
          <a:xfrm>
            <a:off x="8349773" y="480517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11</a:t>
            </a:r>
          </a:p>
        </p:txBody>
      </p:sp>
      <p:sp>
        <p:nvSpPr>
          <p:cNvPr id="40" name="TextBox 39"/>
          <p:cNvSpPr txBox="1"/>
          <p:nvPr/>
        </p:nvSpPr>
        <p:spPr>
          <a:xfrm>
            <a:off x="8825261" y="462991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HİZMET BÖLGELERİ</a:t>
            </a:r>
          </a:p>
        </p:txBody>
      </p:sp>
      <p:sp>
        <p:nvSpPr>
          <p:cNvPr id="41" name="Rounded Rectangle 40"/>
          <p:cNvSpPr/>
          <p:nvPr/>
        </p:nvSpPr>
        <p:spPr>
          <a:xfrm>
            <a:off x="8276621" y="5483352"/>
            <a:ext cx="3412154" cy="762000"/>
          </a:xfrm>
          <a:prstGeom prst="roundRect">
            <a:avLst>
              <a:gd name="adj" fmla="val 20000"/>
            </a:avLst>
          </a:prstGeom>
          <a:solidFill>
            <a:srgbClr val="E3F1E4"/>
          </a:solidFill>
          <a:ln w="12700">
            <a:solidFill>
              <a:srgbClr val="2E7D32"/>
            </a:solidFill>
          </a:ln>
          <a:effectLst/>
        </p:spPr>
        <p:txBody>
          <a:bodyPr rtlCol="0" anchor="ctr"/>
          <a:lstStyle/>
          <a:p/>
        </p:txBody>
      </p:sp>
      <p:sp>
        <p:nvSpPr>
          <p:cNvPr id="42" name="Oval 41"/>
          <p:cNvSpPr/>
          <p:nvPr/>
        </p:nvSpPr>
        <p:spPr>
          <a:xfrm>
            <a:off x="8349773" y="5658612"/>
            <a:ext cx="411480" cy="41148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12</a:t>
            </a:r>
          </a:p>
        </p:txBody>
      </p:sp>
      <p:sp>
        <p:nvSpPr>
          <p:cNvPr id="43" name="TextBox 42"/>
          <p:cNvSpPr txBox="1"/>
          <p:nvPr/>
        </p:nvSpPr>
        <p:spPr>
          <a:xfrm>
            <a:off x="8825261" y="5483352"/>
            <a:ext cx="2817794" cy="7620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KEİ</a:t>
            </a:r>
          </a:p>
        </p:txBody>
      </p:sp>
      <p:sp>
        <p:nvSpPr>
          <p:cNvPr id="44" name="TextBox 4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45" name="Rounded Rectangle 4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46" name="TextBox 4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170 / 187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2: sınırı zor değişen bölgeler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2</a:t>
            </a:r>
          </a:p>
        </p:txBody>
      </p:sp>
      <p:sp>
        <p:nvSpPr>
          <p:cNvPr id="6" name="Rounded Rectangle 5"/>
          <p:cNvSpPr/>
          <p:nvPr/>
        </p:nvSpPr>
        <p:spPr>
          <a:xfrm>
            <a:off x="502920" y="1216152"/>
            <a:ext cx="11185855" cy="16002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279"/>
              </a:spcAft>
            </a:pPr>
            <a:r>
              <a:rPr lang="tr-TR" sz="2050" b="0" i="0">
                <a:solidFill>
                  <a:srgbClr val="262626"/>
                </a:solidFill>
                <a:latin typeface="Calibri"/>
              </a:rPr>
              <a:t>I. Dağlık bölgeler</a:t>
            </a:r>
          </a:p>
          <a:p>
            <a:pPr algn="l">
              <a:spcBef>
                <a:spcPts val="0"/>
              </a:spcBef>
              <a:spcAft>
                <a:spcPts val="279"/>
              </a:spcAft>
            </a:pPr>
            <a:r>
              <a:rPr lang="tr-TR" sz="2050" b="0" i="0">
                <a:solidFill>
                  <a:srgbClr val="262626"/>
                </a:solidFill>
                <a:latin typeface="Calibri"/>
              </a:rPr>
              <a:t>II. Ekvatoral iklim bölgesi</a:t>
            </a:r>
          </a:p>
          <a:p>
            <a:pPr algn="l">
              <a:spcBef>
                <a:spcPts val="0"/>
              </a:spcBef>
              <a:spcAft>
                <a:spcPts val="279"/>
              </a:spcAft>
            </a:pPr>
            <a:r>
              <a:rPr lang="tr-TR" sz="2050" b="0" i="0">
                <a:solidFill>
                  <a:srgbClr val="262626"/>
                </a:solidFill>
                <a:latin typeface="Calibri"/>
              </a:rPr>
              <a:t>III. Sanayileşmiş bölgeler</a:t>
            </a:r>
          </a:p>
          <a:p>
            <a:pPr algn="l">
              <a:spcBef>
                <a:spcPts val="0"/>
              </a:spcBef>
              <a:spcAft>
                <a:spcPts val="0"/>
              </a:spcAft>
            </a:pPr>
            <a:r>
              <a:rPr lang="tr-TR" sz="2050" b="1" i="0">
                <a:solidFill>
                  <a:srgbClr val="262626"/>
                </a:solidFill>
                <a:latin typeface="Calibri"/>
              </a:rPr>
              <a:t>Verilen bölgelerden hangilerinin sınırlarında zaman içinde değişim daha zordur?</a:t>
            </a:r>
          </a:p>
        </p:txBody>
      </p:sp>
      <p:sp>
        <p:nvSpPr>
          <p:cNvPr id="7" name="Rounded Rectangle 6"/>
          <p:cNvSpPr/>
          <p:nvPr/>
        </p:nvSpPr>
        <p:spPr>
          <a:xfrm>
            <a:off x="502920" y="2944368"/>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8" name="Oval 7"/>
          <p:cNvSpPr/>
          <p:nvPr/>
        </p:nvSpPr>
        <p:spPr>
          <a:xfrm>
            <a:off x="603504" y="301386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944368"/>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a:t>
            </a:r>
          </a:p>
        </p:txBody>
      </p:sp>
      <p:sp>
        <p:nvSpPr>
          <p:cNvPr id="10" name="Rounded Rectangle 9"/>
          <p:cNvSpPr/>
          <p:nvPr/>
        </p:nvSpPr>
        <p:spPr>
          <a:xfrm>
            <a:off x="502920" y="3631996"/>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1" name="Oval 10"/>
          <p:cNvSpPr/>
          <p:nvPr/>
        </p:nvSpPr>
        <p:spPr>
          <a:xfrm>
            <a:off x="603504" y="3701491"/>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631996"/>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II</a:t>
            </a:r>
          </a:p>
        </p:txBody>
      </p:sp>
      <p:sp>
        <p:nvSpPr>
          <p:cNvPr id="13" name="Rounded Rectangle 12"/>
          <p:cNvSpPr/>
          <p:nvPr/>
        </p:nvSpPr>
        <p:spPr>
          <a:xfrm>
            <a:off x="502920" y="4319625"/>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4" name="Oval 13"/>
          <p:cNvSpPr/>
          <p:nvPr/>
        </p:nvSpPr>
        <p:spPr>
          <a:xfrm>
            <a:off x="603504" y="438912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319625"/>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 ve II</a:t>
            </a:r>
          </a:p>
        </p:txBody>
      </p:sp>
      <p:sp>
        <p:nvSpPr>
          <p:cNvPr id="16" name="Rounded Rectangle 15"/>
          <p:cNvSpPr/>
          <p:nvPr/>
        </p:nvSpPr>
        <p:spPr>
          <a:xfrm>
            <a:off x="502920" y="5007254"/>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7" name="Oval 16"/>
          <p:cNvSpPr/>
          <p:nvPr/>
        </p:nvSpPr>
        <p:spPr>
          <a:xfrm>
            <a:off x="603504" y="50767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5007254"/>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 ve III</a:t>
            </a:r>
          </a:p>
        </p:txBody>
      </p:sp>
      <p:sp>
        <p:nvSpPr>
          <p:cNvPr id="19" name="Rounded Rectangle 18"/>
          <p:cNvSpPr/>
          <p:nvPr/>
        </p:nvSpPr>
        <p:spPr>
          <a:xfrm>
            <a:off x="502920" y="5694883"/>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20" name="Oval 19"/>
          <p:cNvSpPr/>
          <p:nvPr/>
        </p:nvSpPr>
        <p:spPr>
          <a:xfrm>
            <a:off x="603504" y="576437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94883"/>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II ve III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171 / 187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2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2</a:t>
            </a:r>
          </a:p>
        </p:txBody>
      </p:sp>
      <p:sp>
        <p:nvSpPr>
          <p:cNvPr id="6" name="Rounded Rectangle 5"/>
          <p:cNvSpPr/>
          <p:nvPr/>
        </p:nvSpPr>
        <p:spPr>
          <a:xfrm>
            <a:off x="502920" y="1216152"/>
            <a:ext cx="11185855" cy="1376172"/>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268"/>
              </a:spcAft>
            </a:pPr>
            <a:r>
              <a:rPr lang="tr-TR" sz="1700" b="0" i="0">
                <a:solidFill>
                  <a:srgbClr val="262626"/>
                </a:solidFill>
                <a:latin typeface="Calibri"/>
              </a:rPr>
              <a:t>I. Dağlık bölgeler</a:t>
            </a:r>
          </a:p>
          <a:p>
            <a:pPr algn="l">
              <a:spcBef>
                <a:spcPts val="0"/>
              </a:spcBef>
              <a:spcAft>
                <a:spcPts val="268"/>
              </a:spcAft>
            </a:pPr>
            <a:r>
              <a:rPr lang="tr-TR" sz="1700" b="0" i="0">
                <a:solidFill>
                  <a:srgbClr val="262626"/>
                </a:solidFill>
                <a:latin typeface="Calibri"/>
              </a:rPr>
              <a:t>II. Ekvatoral iklim bölgesi</a:t>
            </a:r>
          </a:p>
          <a:p>
            <a:pPr algn="l">
              <a:spcBef>
                <a:spcPts val="0"/>
              </a:spcBef>
              <a:spcAft>
                <a:spcPts val="268"/>
              </a:spcAft>
            </a:pPr>
            <a:r>
              <a:rPr lang="tr-TR" sz="1700" b="0" i="0">
                <a:solidFill>
                  <a:srgbClr val="262626"/>
                </a:solidFill>
                <a:latin typeface="Calibri"/>
              </a:rPr>
              <a:t>III. Sanayileşmiş bölgeler</a:t>
            </a:r>
          </a:p>
          <a:p>
            <a:pPr algn="l">
              <a:spcBef>
                <a:spcPts val="0"/>
              </a:spcBef>
              <a:spcAft>
                <a:spcPts val="0"/>
              </a:spcAft>
            </a:pPr>
            <a:r>
              <a:rPr lang="tr-TR" sz="1700" b="1" i="0">
                <a:solidFill>
                  <a:srgbClr val="262626"/>
                </a:solidFill>
                <a:latin typeface="Calibri"/>
              </a:rPr>
              <a:t>Verilen bölgelerden hangilerinin sınırlarında zaman içinde değişim daha zordur?</a:t>
            </a:r>
          </a:p>
        </p:txBody>
      </p:sp>
      <p:sp>
        <p:nvSpPr>
          <p:cNvPr id="7" name="Rounded Rectangle 6"/>
          <p:cNvSpPr/>
          <p:nvPr/>
        </p:nvSpPr>
        <p:spPr>
          <a:xfrm>
            <a:off x="502920" y="2720340"/>
            <a:ext cx="11185855" cy="640994"/>
          </a:xfrm>
          <a:prstGeom prst="roundRect">
            <a:avLst>
              <a:gd name="adj" fmla="val 17118"/>
            </a:avLst>
          </a:prstGeom>
          <a:solidFill>
            <a:srgbClr val="FFFFFF"/>
          </a:solidFill>
          <a:ln w="12700">
            <a:solidFill>
              <a:srgbClr val="D9D9D9"/>
            </a:solidFill>
          </a:ln>
          <a:effectLst/>
        </p:spPr>
        <p:txBody>
          <a:bodyPr rtlCol="0" anchor="ctr"/>
          <a:lstStyle/>
          <a:p/>
        </p:txBody>
      </p:sp>
      <p:sp>
        <p:nvSpPr>
          <p:cNvPr id="8" name="Oval 7"/>
          <p:cNvSpPr/>
          <p:nvPr/>
        </p:nvSpPr>
        <p:spPr>
          <a:xfrm>
            <a:off x="603504" y="2812237"/>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720340"/>
            <a:ext cx="10436047" cy="640994"/>
          </a:xfrm>
          <a:prstGeom prst="rect">
            <a:avLst/>
          </a:prstGeom>
          <a:noFill/>
        </p:spPr>
        <p:txBody>
          <a:bodyPr wrap="square" anchor="ctr" lIns="73152" rIns="73152" tIns="36576" bIns="36576">
            <a:noAutofit/>
          </a:bodyPr>
          <a:lstStyle/>
          <a:p>
            <a:pPr algn="l">
              <a:spcBef>
                <a:spcPts val="0"/>
              </a:spcBef>
              <a:spcAft>
                <a:spcPts val="200"/>
              </a:spcAft>
            </a:pPr>
            <a:r>
              <a:rPr lang="tr-TR" sz="1900" b="0" i="0">
                <a:solidFill>
                  <a:srgbClr val="767676"/>
                </a:solidFill>
                <a:latin typeface="Calibri"/>
              </a:rPr>
              <a:t>Yalnız I</a:t>
            </a:r>
          </a:p>
          <a:p>
            <a:pPr algn="l">
              <a:spcBef>
                <a:spcPts val="0"/>
              </a:spcBef>
              <a:spcAft>
                <a:spcPts val="0"/>
              </a:spcAft>
            </a:pPr>
            <a:r>
              <a:rPr lang="tr-TR" sz="1520" b="0" i="0">
                <a:solidFill>
                  <a:srgbClr val="767676"/>
                </a:solidFill>
                <a:latin typeface="Calibri"/>
              </a:rPr>
              <a:t>→ Eksik: ekvatoral iklim bölgesi de doğal unsura göredir</a:t>
            </a:r>
          </a:p>
        </p:txBody>
      </p:sp>
      <p:sp>
        <p:nvSpPr>
          <p:cNvPr id="10" name="Rounded Rectangle 9"/>
          <p:cNvSpPr/>
          <p:nvPr/>
        </p:nvSpPr>
        <p:spPr>
          <a:xfrm>
            <a:off x="502920" y="3452774"/>
            <a:ext cx="11185855" cy="640994"/>
          </a:xfrm>
          <a:prstGeom prst="roundRect">
            <a:avLst>
              <a:gd name="adj" fmla="val 17118"/>
            </a:avLst>
          </a:prstGeom>
          <a:solidFill>
            <a:srgbClr val="FFFFFF"/>
          </a:solidFill>
          <a:ln w="12700">
            <a:solidFill>
              <a:srgbClr val="D9D9D9"/>
            </a:solidFill>
          </a:ln>
          <a:effectLst/>
        </p:spPr>
        <p:txBody>
          <a:bodyPr rtlCol="0" anchor="ctr"/>
          <a:lstStyle/>
          <a:p/>
        </p:txBody>
      </p:sp>
      <p:sp>
        <p:nvSpPr>
          <p:cNvPr id="11" name="Oval 10"/>
          <p:cNvSpPr/>
          <p:nvPr/>
        </p:nvSpPr>
        <p:spPr>
          <a:xfrm>
            <a:off x="603504" y="3544671"/>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452774"/>
            <a:ext cx="10436047" cy="640994"/>
          </a:xfrm>
          <a:prstGeom prst="rect">
            <a:avLst/>
          </a:prstGeom>
          <a:noFill/>
        </p:spPr>
        <p:txBody>
          <a:bodyPr wrap="square" anchor="ctr" lIns="73152" rIns="73152" tIns="36576" bIns="36576">
            <a:noAutofit/>
          </a:bodyPr>
          <a:lstStyle/>
          <a:p>
            <a:pPr algn="l">
              <a:spcBef>
                <a:spcPts val="0"/>
              </a:spcBef>
              <a:spcAft>
                <a:spcPts val="200"/>
              </a:spcAft>
            </a:pPr>
            <a:r>
              <a:rPr lang="tr-TR" sz="1900" b="0" i="0">
                <a:solidFill>
                  <a:srgbClr val="767676"/>
                </a:solidFill>
                <a:latin typeface="Calibri"/>
              </a:rPr>
              <a:t>Yalnız II</a:t>
            </a:r>
          </a:p>
          <a:p>
            <a:pPr algn="l">
              <a:spcBef>
                <a:spcPts val="0"/>
              </a:spcBef>
              <a:spcAft>
                <a:spcPts val="0"/>
              </a:spcAft>
            </a:pPr>
            <a:r>
              <a:rPr lang="tr-TR" sz="1520" b="0" i="0">
                <a:solidFill>
                  <a:srgbClr val="767676"/>
                </a:solidFill>
                <a:latin typeface="Calibri"/>
              </a:rPr>
              <a:t>→ Eksik: dağlık bölgeler de doğal unsura göredir</a:t>
            </a:r>
          </a:p>
        </p:txBody>
      </p:sp>
      <p:sp>
        <p:nvSpPr>
          <p:cNvPr id="13" name="Rounded Rectangle 12"/>
          <p:cNvSpPr/>
          <p:nvPr/>
        </p:nvSpPr>
        <p:spPr>
          <a:xfrm>
            <a:off x="502920" y="4185208"/>
            <a:ext cx="11185855" cy="640994"/>
          </a:xfrm>
          <a:prstGeom prst="roundRect">
            <a:avLst>
              <a:gd name="adj" fmla="val 17118"/>
            </a:avLst>
          </a:prstGeom>
          <a:solidFill>
            <a:srgbClr val="E3F1E4"/>
          </a:solidFill>
          <a:ln w="31750">
            <a:solidFill>
              <a:srgbClr val="2E7D32"/>
            </a:solidFill>
          </a:ln>
          <a:effectLst/>
        </p:spPr>
        <p:txBody>
          <a:bodyPr rtlCol="0" anchor="ctr"/>
          <a:lstStyle/>
          <a:p/>
        </p:txBody>
      </p:sp>
      <p:sp>
        <p:nvSpPr>
          <p:cNvPr id="14" name="Oval 13"/>
          <p:cNvSpPr/>
          <p:nvPr/>
        </p:nvSpPr>
        <p:spPr>
          <a:xfrm>
            <a:off x="603504" y="427710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185208"/>
            <a:ext cx="10436047" cy="640994"/>
          </a:xfrm>
          <a:prstGeom prst="rect">
            <a:avLst/>
          </a:prstGeom>
          <a:noFill/>
        </p:spPr>
        <p:txBody>
          <a:bodyPr wrap="square" anchor="ctr" lIns="73152" rIns="73152" tIns="36576" bIns="36576">
            <a:noAutofit/>
          </a:bodyPr>
          <a:lstStyle/>
          <a:p>
            <a:pPr algn="l">
              <a:spcBef>
                <a:spcPts val="0"/>
              </a:spcBef>
              <a:spcAft>
                <a:spcPts val="200"/>
              </a:spcAft>
            </a:pPr>
            <a:r>
              <a:rPr lang="tr-TR" sz="1900" b="1" i="0">
                <a:solidFill>
                  <a:srgbClr val="262626"/>
                </a:solidFill>
                <a:latin typeface="Calibri"/>
              </a:rPr>
              <a:t>I ve II</a:t>
            </a:r>
          </a:p>
          <a:p>
            <a:pPr algn="l">
              <a:spcBef>
                <a:spcPts val="0"/>
              </a:spcBef>
              <a:spcAft>
                <a:spcPts val="0"/>
              </a:spcAft>
            </a:pPr>
            <a:r>
              <a:rPr lang="tr-TR" sz="1520" b="0" i="0">
                <a:solidFill>
                  <a:srgbClr val="2E7D32"/>
                </a:solidFill>
                <a:latin typeface="Calibri"/>
              </a:rPr>
              <a:t>→ İkisi de doğal şekilsel: sınırı uzun zamanda değişir</a:t>
            </a:r>
          </a:p>
        </p:txBody>
      </p:sp>
      <p:sp>
        <p:nvSpPr>
          <p:cNvPr id="16" name="Rounded Rectangle 15"/>
          <p:cNvSpPr/>
          <p:nvPr/>
        </p:nvSpPr>
        <p:spPr>
          <a:xfrm>
            <a:off x="502920" y="4917643"/>
            <a:ext cx="11185855" cy="640994"/>
          </a:xfrm>
          <a:prstGeom prst="roundRect">
            <a:avLst>
              <a:gd name="adj" fmla="val 17118"/>
            </a:avLst>
          </a:prstGeom>
          <a:solidFill>
            <a:srgbClr val="FFFFFF"/>
          </a:solidFill>
          <a:ln w="12700">
            <a:solidFill>
              <a:srgbClr val="D9D9D9"/>
            </a:solidFill>
          </a:ln>
          <a:effectLst/>
        </p:spPr>
        <p:txBody>
          <a:bodyPr rtlCol="0" anchor="ctr"/>
          <a:lstStyle/>
          <a:p/>
        </p:txBody>
      </p:sp>
      <p:sp>
        <p:nvSpPr>
          <p:cNvPr id="17" name="Oval 16"/>
          <p:cNvSpPr/>
          <p:nvPr/>
        </p:nvSpPr>
        <p:spPr>
          <a:xfrm>
            <a:off x="603504" y="500954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917643"/>
            <a:ext cx="10436047" cy="640994"/>
          </a:xfrm>
          <a:prstGeom prst="rect">
            <a:avLst/>
          </a:prstGeom>
          <a:noFill/>
        </p:spPr>
        <p:txBody>
          <a:bodyPr wrap="square" anchor="ctr" lIns="73152" rIns="73152" tIns="36576" bIns="36576">
            <a:noAutofit/>
          </a:bodyPr>
          <a:lstStyle/>
          <a:p>
            <a:pPr algn="l">
              <a:spcBef>
                <a:spcPts val="0"/>
              </a:spcBef>
              <a:spcAft>
                <a:spcPts val="200"/>
              </a:spcAft>
            </a:pPr>
            <a:r>
              <a:rPr lang="tr-TR" sz="1900" b="0" i="0">
                <a:solidFill>
                  <a:srgbClr val="767676"/>
                </a:solidFill>
                <a:latin typeface="Calibri"/>
              </a:rPr>
              <a:t>I ve III</a:t>
            </a:r>
          </a:p>
          <a:p>
            <a:pPr algn="l">
              <a:spcBef>
                <a:spcPts val="0"/>
              </a:spcBef>
              <a:spcAft>
                <a:spcPts val="0"/>
              </a:spcAft>
            </a:pPr>
            <a:r>
              <a:rPr lang="tr-TR" sz="1520" b="0" i="0">
                <a:solidFill>
                  <a:srgbClr val="767676"/>
                </a:solidFill>
                <a:latin typeface="Calibri"/>
              </a:rPr>
              <a:t>→ III beşerî: sanayileşme kısa sürede değişebilir</a:t>
            </a:r>
          </a:p>
        </p:txBody>
      </p:sp>
      <p:sp>
        <p:nvSpPr>
          <p:cNvPr id="19" name="Rounded Rectangle 18"/>
          <p:cNvSpPr/>
          <p:nvPr/>
        </p:nvSpPr>
        <p:spPr>
          <a:xfrm>
            <a:off x="502920" y="5650077"/>
            <a:ext cx="11185855" cy="640994"/>
          </a:xfrm>
          <a:prstGeom prst="roundRect">
            <a:avLst>
              <a:gd name="adj" fmla="val 17118"/>
            </a:avLst>
          </a:prstGeom>
          <a:solidFill>
            <a:srgbClr val="FFFFFF"/>
          </a:solidFill>
          <a:ln w="12700">
            <a:solidFill>
              <a:srgbClr val="D9D9D9"/>
            </a:solidFill>
          </a:ln>
          <a:effectLst/>
        </p:spPr>
        <p:txBody>
          <a:bodyPr rtlCol="0" anchor="ctr"/>
          <a:lstStyle/>
          <a:p/>
        </p:txBody>
      </p:sp>
      <p:sp>
        <p:nvSpPr>
          <p:cNvPr id="20" name="Oval 19"/>
          <p:cNvSpPr/>
          <p:nvPr/>
        </p:nvSpPr>
        <p:spPr>
          <a:xfrm>
            <a:off x="603504" y="574197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50077"/>
            <a:ext cx="10436047" cy="640994"/>
          </a:xfrm>
          <a:prstGeom prst="rect">
            <a:avLst/>
          </a:prstGeom>
          <a:noFill/>
        </p:spPr>
        <p:txBody>
          <a:bodyPr wrap="square" anchor="ctr" lIns="73152" rIns="73152" tIns="36576" bIns="36576">
            <a:noAutofit/>
          </a:bodyPr>
          <a:lstStyle/>
          <a:p>
            <a:pPr algn="l">
              <a:spcBef>
                <a:spcPts val="0"/>
              </a:spcBef>
              <a:spcAft>
                <a:spcPts val="200"/>
              </a:spcAft>
            </a:pPr>
            <a:r>
              <a:rPr lang="tr-TR" sz="1900" b="0" i="0">
                <a:solidFill>
                  <a:srgbClr val="767676"/>
                </a:solidFill>
                <a:latin typeface="Calibri"/>
              </a:rPr>
              <a:t>II ve III</a:t>
            </a:r>
          </a:p>
          <a:p>
            <a:pPr algn="l">
              <a:spcBef>
                <a:spcPts val="0"/>
              </a:spcBef>
              <a:spcAft>
                <a:spcPts val="0"/>
              </a:spcAft>
            </a:pPr>
            <a:r>
              <a:rPr lang="tr-TR" sz="1520" b="0" i="0">
                <a:solidFill>
                  <a:srgbClr val="767676"/>
                </a:solidFill>
                <a:latin typeface="Calibri"/>
              </a:rPr>
              <a:t>→ III beşerî: sanayileşme kısa sürede değişebilir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172 / 187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3: Türkiye'nin üyelikleri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3</a:t>
            </a:r>
          </a:p>
        </p:txBody>
      </p:sp>
      <p:sp>
        <p:nvSpPr>
          <p:cNvPr id="6" name="Rounded Rectangle 5"/>
          <p:cNvSpPr/>
          <p:nvPr/>
        </p:nvSpPr>
        <p:spPr>
          <a:xfrm>
            <a:off x="502920" y="1216152"/>
            <a:ext cx="11185855" cy="77724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200" b="1" i="0">
                <a:solidFill>
                  <a:srgbClr val="262626"/>
                </a:solidFill>
                <a:latin typeface="Calibri"/>
              </a:rPr>
              <a:t>Türkiye aşağıdaki örgütlerden hangisine üye </a:t>
            </a:r>
            <a:r>
              <a:rPr lang="tr-TR" sz="2200" b="1" i="0">
                <a:solidFill>
                  <a:srgbClr val="262626"/>
                </a:solidFill>
                <a:latin typeface="Calibri"/>
              </a:rPr>
              <a:t>değildir</a:t>
            </a:r>
            <a:r>
              <a:rPr lang="tr-TR" sz="2200" b="1" i="0">
                <a:solidFill>
                  <a:srgbClr val="262626"/>
                </a:solidFill>
                <a:latin typeface="Calibri"/>
              </a:rPr>
              <a:t>?</a:t>
            </a:r>
          </a:p>
        </p:txBody>
      </p:sp>
      <p:sp>
        <p:nvSpPr>
          <p:cNvPr id="7" name="Rounded Rectangle 6"/>
          <p:cNvSpPr/>
          <p:nvPr/>
        </p:nvSpPr>
        <p:spPr>
          <a:xfrm>
            <a:off x="502920" y="212140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8" name="Oval 7"/>
          <p:cNvSpPr/>
          <p:nvPr/>
        </p:nvSpPr>
        <p:spPr>
          <a:xfrm>
            <a:off x="603504" y="225856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12140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NATO</a:t>
            </a:r>
          </a:p>
        </p:txBody>
      </p:sp>
      <p:sp>
        <p:nvSpPr>
          <p:cNvPr id="10" name="Rounded Rectangle 9"/>
          <p:cNvSpPr/>
          <p:nvPr/>
        </p:nvSpPr>
        <p:spPr>
          <a:xfrm>
            <a:off x="502920" y="294436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1" name="Oval 10"/>
          <p:cNvSpPr/>
          <p:nvPr/>
        </p:nvSpPr>
        <p:spPr>
          <a:xfrm>
            <a:off x="603504" y="308152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94436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Avrupa Birliği</a:t>
            </a:r>
          </a:p>
        </p:txBody>
      </p:sp>
      <p:sp>
        <p:nvSpPr>
          <p:cNvPr id="13" name="Rounded Rectangle 12"/>
          <p:cNvSpPr/>
          <p:nvPr/>
        </p:nvSpPr>
        <p:spPr>
          <a:xfrm>
            <a:off x="502920" y="376732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4" name="Oval 13"/>
          <p:cNvSpPr/>
          <p:nvPr/>
        </p:nvSpPr>
        <p:spPr>
          <a:xfrm>
            <a:off x="603504" y="390448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732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Birleşmiş Milletler</a:t>
            </a:r>
          </a:p>
        </p:txBody>
      </p:sp>
      <p:sp>
        <p:nvSpPr>
          <p:cNvPr id="16" name="Rounded Rectangle 15"/>
          <p:cNvSpPr/>
          <p:nvPr/>
        </p:nvSpPr>
        <p:spPr>
          <a:xfrm>
            <a:off x="502920" y="459028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7" name="Oval 16"/>
          <p:cNvSpPr/>
          <p:nvPr/>
        </p:nvSpPr>
        <p:spPr>
          <a:xfrm>
            <a:off x="603504" y="47274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59028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İslam İşbirliği Teşkilatı</a:t>
            </a:r>
          </a:p>
        </p:txBody>
      </p:sp>
      <p:sp>
        <p:nvSpPr>
          <p:cNvPr id="19" name="Rounded Rectangle 18"/>
          <p:cNvSpPr/>
          <p:nvPr/>
        </p:nvSpPr>
        <p:spPr>
          <a:xfrm>
            <a:off x="502920" y="541324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603504" y="555040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41324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Karadeniz Ekonomik İşbirliği Teşkilatı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173 / 187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3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3</a:t>
            </a:r>
          </a:p>
        </p:txBody>
      </p:sp>
      <p:sp>
        <p:nvSpPr>
          <p:cNvPr id="6" name="Rounded Rectangle 5"/>
          <p:cNvSpPr/>
          <p:nvPr/>
        </p:nvSpPr>
        <p:spPr>
          <a:xfrm>
            <a:off x="502920" y="1216152"/>
            <a:ext cx="11185855" cy="668426"/>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Türkiye aşağıdaki örgütlerden hangisine üye </a:t>
            </a:r>
            <a:r>
              <a:rPr lang="tr-TR" sz="1900" b="1" i="0">
                <a:solidFill>
                  <a:srgbClr val="262626"/>
                </a:solidFill>
                <a:latin typeface="Calibri"/>
              </a:rPr>
              <a:t>değildir</a:t>
            </a:r>
            <a:r>
              <a:rPr lang="tr-TR" sz="1900" b="1" i="0">
                <a:solidFill>
                  <a:srgbClr val="262626"/>
                </a:solidFill>
                <a:latin typeface="Calibri"/>
              </a:rPr>
              <a:t>?</a:t>
            </a:r>
          </a:p>
        </p:txBody>
      </p:sp>
      <p:sp>
        <p:nvSpPr>
          <p:cNvPr id="7" name="Rounded Rectangle 6"/>
          <p:cNvSpPr/>
          <p:nvPr/>
        </p:nvSpPr>
        <p:spPr>
          <a:xfrm>
            <a:off x="502920" y="2012594"/>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8" name="Oval 7"/>
          <p:cNvSpPr/>
          <p:nvPr/>
        </p:nvSpPr>
        <p:spPr>
          <a:xfrm>
            <a:off x="603504" y="2175265"/>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01259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NATO</a:t>
            </a:r>
          </a:p>
          <a:p>
            <a:pPr algn="l">
              <a:spcBef>
                <a:spcPts val="0"/>
              </a:spcBef>
              <a:spcAft>
                <a:spcPts val="0"/>
              </a:spcAft>
            </a:pPr>
            <a:r>
              <a:rPr lang="tr-TR" sz="1600" b="0" i="0">
                <a:solidFill>
                  <a:srgbClr val="767676"/>
                </a:solidFill>
                <a:latin typeface="Calibri"/>
              </a:rPr>
              <a:t>→ Türkiye NATO üyesidir</a:t>
            </a:r>
          </a:p>
        </p:txBody>
      </p:sp>
      <p:sp>
        <p:nvSpPr>
          <p:cNvPr id="10" name="Rounded Rectangle 9"/>
          <p:cNvSpPr/>
          <p:nvPr/>
        </p:nvSpPr>
        <p:spPr>
          <a:xfrm>
            <a:off x="502920" y="2886577"/>
            <a:ext cx="11185855" cy="782543"/>
          </a:xfrm>
          <a:prstGeom prst="roundRect">
            <a:avLst>
              <a:gd name="adj" fmla="val 14021"/>
            </a:avLst>
          </a:prstGeom>
          <a:solidFill>
            <a:srgbClr val="E3F1E4"/>
          </a:solidFill>
          <a:ln w="31750">
            <a:solidFill>
              <a:srgbClr val="2E7D32"/>
            </a:solidFill>
          </a:ln>
          <a:effectLst/>
        </p:spPr>
        <p:txBody>
          <a:bodyPr rtlCol="0" anchor="ctr"/>
          <a:lstStyle/>
          <a:p/>
        </p:txBody>
      </p:sp>
      <p:sp>
        <p:nvSpPr>
          <p:cNvPr id="11" name="Oval 10"/>
          <p:cNvSpPr/>
          <p:nvPr/>
        </p:nvSpPr>
        <p:spPr>
          <a:xfrm>
            <a:off x="603504" y="3049249"/>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886577"/>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Avrupa Birliği</a:t>
            </a:r>
          </a:p>
          <a:p>
            <a:pPr algn="l">
              <a:spcBef>
                <a:spcPts val="0"/>
              </a:spcBef>
              <a:spcAft>
                <a:spcPts val="0"/>
              </a:spcAft>
            </a:pPr>
            <a:r>
              <a:rPr lang="tr-TR" sz="1600" b="0" i="0">
                <a:solidFill>
                  <a:srgbClr val="2E7D32"/>
                </a:solidFill>
                <a:latin typeface="Calibri"/>
              </a:rPr>
              <a:t>→ Türkiye AB'ye aday ülkedir, üye değildir (s. 224)</a:t>
            </a:r>
          </a:p>
        </p:txBody>
      </p:sp>
      <p:sp>
        <p:nvSpPr>
          <p:cNvPr id="13" name="Rounded Rectangle 12"/>
          <p:cNvSpPr/>
          <p:nvPr/>
        </p:nvSpPr>
        <p:spPr>
          <a:xfrm>
            <a:off x="502920" y="3760561"/>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4" name="Oval 13"/>
          <p:cNvSpPr/>
          <p:nvPr/>
        </p:nvSpPr>
        <p:spPr>
          <a:xfrm>
            <a:off x="603504" y="392323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0561"/>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Birleşmiş Milletler</a:t>
            </a:r>
          </a:p>
          <a:p>
            <a:pPr algn="l">
              <a:spcBef>
                <a:spcPts val="0"/>
              </a:spcBef>
              <a:spcAft>
                <a:spcPts val="0"/>
              </a:spcAft>
            </a:pPr>
            <a:r>
              <a:rPr lang="tr-TR" sz="1600" b="0" i="0">
                <a:solidFill>
                  <a:srgbClr val="767676"/>
                </a:solidFill>
                <a:latin typeface="Calibri"/>
              </a:rPr>
              <a:t>→ Türkiye BM üyesidir</a:t>
            </a:r>
          </a:p>
        </p:txBody>
      </p:sp>
      <p:sp>
        <p:nvSpPr>
          <p:cNvPr id="16" name="Rounded Rectangle 15"/>
          <p:cNvSpPr/>
          <p:nvPr/>
        </p:nvSpPr>
        <p:spPr>
          <a:xfrm>
            <a:off x="502920" y="4634544"/>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7" name="Oval 16"/>
          <p:cNvSpPr/>
          <p:nvPr/>
        </p:nvSpPr>
        <p:spPr>
          <a:xfrm>
            <a:off x="603504" y="479721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63454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İslam İşbirliği Teşkilatı</a:t>
            </a:r>
          </a:p>
          <a:p>
            <a:pPr algn="l">
              <a:spcBef>
                <a:spcPts val="0"/>
              </a:spcBef>
              <a:spcAft>
                <a:spcPts val="0"/>
              </a:spcAft>
            </a:pPr>
            <a:r>
              <a:rPr lang="tr-TR" sz="1600" b="0" i="0">
                <a:solidFill>
                  <a:srgbClr val="767676"/>
                </a:solidFill>
                <a:latin typeface="Calibri"/>
              </a:rPr>
              <a:t>→ Türkiye İİT üyesidir</a:t>
            </a:r>
          </a:p>
        </p:txBody>
      </p:sp>
      <p:sp>
        <p:nvSpPr>
          <p:cNvPr id="19" name="Rounded Rectangle 18"/>
          <p:cNvSpPr/>
          <p:nvPr/>
        </p:nvSpPr>
        <p:spPr>
          <a:xfrm>
            <a:off x="502920" y="5508528"/>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20" name="Oval 19"/>
          <p:cNvSpPr/>
          <p:nvPr/>
        </p:nvSpPr>
        <p:spPr>
          <a:xfrm>
            <a:off x="603504" y="567120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08528"/>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Karadeniz Ekonomik İşbirliği Teşkilatı</a:t>
            </a:r>
          </a:p>
          <a:p>
            <a:pPr algn="l">
              <a:spcBef>
                <a:spcPts val="0"/>
              </a:spcBef>
              <a:spcAft>
                <a:spcPts val="0"/>
              </a:spcAft>
            </a:pPr>
            <a:r>
              <a:rPr lang="tr-TR" sz="1600" b="0" i="0">
                <a:solidFill>
                  <a:srgbClr val="767676"/>
                </a:solidFill>
                <a:latin typeface="Calibri"/>
              </a:rPr>
              <a:t>→ Türkiye KEİ üyesidir (EBA bulmaca 12)</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174 / 187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4: seyrek nüfuslu alanlar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4</a:t>
            </a:r>
          </a:p>
        </p:txBody>
      </p:sp>
      <p:sp>
        <p:nvSpPr>
          <p:cNvPr id="6" name="Rounded Rectangle 5"/>
          <p:cNvSpPr/>
          <p:nvPr/>
        </p:nvSpPr>
        <p:spPr>
          <a:xfrm>
            <a:off x="502920" y="1216152"/>
            <a:ext cx="11185855" cy="11430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200" b="1" i="0">
                <a:solidFill>
                  <a:srgbClr val="262626"/>
                </a:solidFill>
                <a:latin typeface="Calibri"/>
              </a:rPr>
              <a:t>Türkiye’de nüfus yoğunluğunun seyrek olduğu alanları içine alan bir bölge oluşturulmak istenirse aşağıdaki yerlerden hangisinin bu bölge sınırları içerisinde olması </a:t>
            </a:r>
            <a:r>
              <a:rPr lang="tr-TR" sz="2200" b="1" i="0">
                <a:solidFill>
                  <a:srgbClr val="262626"/>
                </a:solidFill>
                <a:latin typeface="Calibri"/>
              </a:rPr>
              <a:t>beklenmez</a:t>
            </a:r>
            <a:r>
              <a:rPr lang="tr-TR" sz="2200" b="1" i="0">
                <a:solidFill>
                  <a:srgbClr val="262626"/>
                </a:solidFill>
                <a:latin typeface="Calibri"/>
              </a:rPr>
              <a:t>?</a:t>
            </a:r>
          </a:p>
        </p:txBody>
      </p:sp>
      <p:sp>
        <p:nvSpPr>
          <p:cNvPr id="7" name="Rounded Rectangle 6"/>
          <p:cNvSpPr/>
          <p:nvPr/>
        </p:nvSpPr>
        <p:spPr>
          <a:xfrm>
            <a:off x="502920" y="2487168"/>
            <a:ext cx="11185855" cy="687628"/>
          </a:xfrm>
          <a:prstGeom prst="roundRect">
            <a:avLst>
              <a:gd name="adj" fmla="val 15957"/>
            </a:avLst>
          </a:prstGeom>
          <a:solidFill>
            <a:srgbClr val="FFFFFF"/>
          </a:solidFill>
          <a:ln w="12700">
            <a:solidFill>
              <a:srgbClr val="D9D9D9"/>
            </a:solidFill>
          </a:ln>
          <a:effectLst/>
        </p:spPr>
        <p:txBody>
          <a:bodyPr rtlCol="0" anchor="ctr"/>
          <a:lstStyle/>
          <a:p/>
        </p:txBody>
      </p:sp>
      <p:sp>
        <p:nvSpPr>
          <p:cNvPr id="8" name="Oval 7"/>
          <p:cNvSpPr/>
          <p:nvPr/>
        </p:nvSpPr>
        <p:spPr>
          <a:xfrm>
            <a:off x="603504" y="260238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487168"/>
            <a:ext cx="10436047" cy="68762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Taşeli Platosu</a:t>
            </a:r>
          </a:p>
        </p:txBody>
      </p:sp>
      <p:sp>
        <p:nvSpPr>
          <p:cNvPr id="10" name="Rounded Rectangle 9"/>
          <p:cNvSpPr/>
          <p:nvPr/>
        </p:nvSpPr>
        <p:spPr>
          <a:xfrm>
            <a:off x="502920" y="3266236"/>
            <a:ext cx="11185855" cy="687628"/>
          </a:xfrm>
          <a:prstGeom prst="roundRect">
            <a:avLst>
              <a:gd name="adj" fmla="val 15957"/>
            </a:avLst>
          </a:prstGeom>
          <a:solidFill>
            <a:srgbClr val="FFFFFF"/>
          </a:solidFill>
          <a:ln w="12700">
            <a:solidFill>
              <a:srgbClr val="D9D9D9"/>
            </a:solidFill>
          </a:ln>
          <a:effectLst/>
        </p:spPr>
        <p:txBody>
          <a:bodyPr rtlCol="0" anchor="ctr"/>
          <a:lstStyle/>
          <a:p/>
        </p:txBody>
      </p:sp>
      <p:sp>
        <p:nvSpPr>
          <p:cNvPr id="11" name="Oval 10"/>
          <p:cNvSpPr/>
          <p:nvPr/>
        </p:nvSpPr>
        <p:spPr>
          <a:xfrm>
            <a:off x="603504" y="3381451"/>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266236"/>
            <a:ext cx="10436047" cy="68762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Hakkâri Yöresi</a:t>
            </a:r>
          </a:p>
        </p:txBody>
      </p:sp>
      <p:sp>
        <p:nvSpPr>
          <p:cNvPr id="13" name="Rounded Rectangle 12"/>
          <p:cNvSpPr/>
          <p:nvPr/>
        </p:nvSpPr>
        <p:spPr>
          <a:xfrm>
            <a:off x="502920" y="4045305"/>
            <a:ext cx="11185855" cy="687628"/>
          </a:xfrm>
          <a:prstGeom prst="roundRect">
            <a:avLst>
              <a:gd name="adj" fmla="val 15957"/>
            </a:avLst>
          </a:prstGeom>
          <a:solidFill>
            <a:srgbClr val="FFFFFF"/>
          </a:solidFill>
          <a:ln w="12700">
            <a:solidFill>
              <a:srgbClr val="D9D9D9"/>
            </a:solidFill>
          </a:ln>
          <a:effectLst/>
        </p:spPr>
        <p:txBody>
          <a:bodyPr rtlCol="0" anchor="ctr"/>
          <a:lstStyle/>
          <a:p/>
        </p:txBody>
      </p:sp>
      <p:sp>
        <p:nvSpPr>
          <p:cNvPr id="14" name="Oval 13"/>
          <p:cNvSpPr/>
          <p:nvPr/>
        </p:nvSpPr>
        <p:spPr>
          <a:xfrm>
            <a:off x="603504" y="4160519"/>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045305"/>
            <a:ext cx="10436047" cy="68762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Tuz Gölü çevresi</a:t>
            </a:r>
          </a:p>
        </p:txBody>
      </p:sp>
      <p:sp>
        <p:nvSpPr>
          <p:cNvPr id="16" name="Rounded Rectangle 15"/>
          <p:cNvSpPr/>
          <p:nvPr/>
        </p:nvSpPr>
        <p:spPr>
          <a:xfrm>
            <a:off x="502920" y="4824374"/>
            <a:ext cx="11185855" cy="687628"/>
          </a:xfrm>
          <a:prstGeom prst="roundRect">
            <a:avLst>
              <a:gd name="adj" fmla="val 15957"/>
            </a:avLst>
          </a:prstGeom>
          <a:solidFill>
            <a:srgbClr val="FFFFFF"/>
          </a:solidFill>
          <a:ln w="12700">
            <a:solidFill>
              <a:srgbClr val="D9D9D9"/>
            </a:solidFill>
          </a:ln>
          <a:effectLst/>
        </p:spPr>
        <p:txBody>
          <a:bodyPr rtlCol="0" anchor="ctr"/>
          <a:lstStyle/>
          <a:p/>
        </p:txBody>
      </p:sp>
      <p:sp>
        <p:nvSpPr>
          <p:cNvPr id="17" name="Oval 16"/>
          <p:cNvSpPr/>
          <p:nvPr/>
        </p:nvSpPr>
        <p:spPr>
          <a:xfrm>
            <a:off x="603504" y="493958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824374"/>
            <a:ext cx="10436047" cy="68762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İzmir ve çevresi</a:t>
            </a:r>
          </a:p>
        </p:txBody>
      </p:sp>
      <p:sp>
        <p:nvSpPr>
          <p:cNvPr id="19" name="Rounded Rectangle 18"/>
          <p:cNvSpPr/>
          <p:nvPr/>
        </p:nvSpPr>
        <p:spPr>
          <a:xfrm>
            <a:off x="502920" y="5603443"/>
            <a:ext cx="11185855" cy="687628"/>
          </a:xfrm>
          <a:prstGeom prst="roundRect">
            <a:avLst>
              <a:gd name="adj" fmla="val 15957"/>
            </a:avLst>
          </a:prstGeom>
          <a:solidFill>
            <a:srgbClr val="FFFFFF"/>
          </a:solidFill>
          <a:ln w="12700">
            <a:solidFill>
              <a:srgbClr val="D9D9D9"/>
            </a:solidFill>
          </a:ln>
          <a:effectLst/>
        </p:spPr>
        <p:txBody>
          <a:bodyPr rtlCol="0" anchor="ctr"/>
          <a:lstStyle/>
          <a:p/>
        </p:txBody>
      </p:sp>
      <p:sp>
        <p:nvSpPr>
          <p:cNvPr id="20" name="Oval 19"/>
          <p:cNvSpPr/>
          <p:nvPr/>
        </p:nvSpPr>
        <p:spPr>
          <a:xfrm>
            <a:off x="603504" y="571865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03443"/>
            <a:ext cx="10436047" cy="68762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Menteşe Yöresi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175 / 187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4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4</a:t>
            </a:r>
          </a:p>
        </p:txBody>
      </p:sp>
      <p:sp>
        <p:nvSpPr>
          <p:cNvPr id="6" name="Rounded Rectangle 5"/>
          <p:cNvSpPr/>
          <p:nvPr/>
        </p:nvSpPr>
        <p:spPr>
          <a:xfrm>
            <a:off x="502920" y="1216152"/>
            <a:ext cx="6412687" cy="108585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850" b="1" i="0">
                <a:solidFill>
                  <a:srgbClr val="262626"/>
                </a:solidFill>
                <a:latin typeface="Calibri"/>
              </a:rPr>
              <a:t>Türkiye’de nüfus yoğunluğunun seyrek olduğu alanları içine alan bir bölge oluşturulmak istenirse aşağıdaki yerlerden hangisinin bu bölge sınırları içerisinde olması </a:t>
            </a:r>
            <a:r>
              <a:rPr lang="tr-TR" sz="1850" b="1" i="0">
                <a:solidFill>
                  <a:srgbClr val="262626"/>
                </a:solidFill>
                <a:latin typeface="Calibri"/>
              </a:rPr>
              <a:t>beklenmez</a:t>
            </a:r>
            <a:r>
              <a:rPr lang="tr-TR" sz="1850" b="1" i="0">
                <a:solidFill>
                  <a:srgbClr val="262626"/>
                </a:solidFill>
                <a:latin typeface="Calibri"/>
              </a:rPr>
              <a:t>?</a:t>
            </a:r>
          </a:p>
        </p:txBody>
      </p:sp>
      <p:sp>
        <p:nvSpPr>
          <p:cNvPr id="7" name="Rounded Rectangle 6"/>
          <p:cNvSpPr/>
          <p:nvPr/>
        </p:nvSpPr>
        <p:spPr>
          <a:xfrm>
            <a:off x="502920" y="2430018"/>
            <a:ext cx="6412687" cy="699058"/>
          </a:xfrm>
          <a:prstGeom prst="roundRect">
            <a:avLst>
              <a:gd name="adj" fmla="val 15696"/>
            </a:avLst>
          </a:prstGeom>
          <a:solidFill>
            <a:srgbClr val="FFFFFF"/>
          </a:solidFill>
          <a:ln w="12700">
            <a:solidFill>
              <a:srgbClr val="D9D9D9"/>
            </a:solidFill>
          </a:ln>
          <a:effectLst/>
        </p:spPr>
        <p:txBody>
          <a:bodyPr rtlCol="0" anchor="ctr"/>
          <a:lstStyle/>
          <a:p/>
        </p:txBody>
      </p:sp>
      <p:sp>
        <p:nvSpPr>
          <p:cNvPr id="8" name="Oval 7"/>
          <p:cNvSpPr/>
          <p:nvPr/>
        </p:nvSpPr>
        <p:spPr>
          <a:xfrm>
            <a:off x="603504" y="2550947"/>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430018"/>
            <a:ext cx="5662879" cy="699058"/>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Taşeli Platosu</a:t>
            </a:r>
          </a:p>
          <a:p>
            <a:pPr algn="l">
              <a:spcBef>
                <a:spcPts val="0"/>
              </a:spcBef>
              <a:spcAft>
                <a:spcPts val="0"/>
              </a:spcAft>
            </a:pPr>
            <a:r>
              <a:rPr lang="tr-TR" sz="1600" b="0" i="0">
                <a:solidFill>
                  <a:srgbClr val="767676"/>
                </a:solidFill>
                <a:latin typeface="Calibri"/>
              </a:rPr>
              <a:t>→ Toroslarda dağlık, engebeli plato: nüfus seyrek</a:t>
            </a:r>
          </a:p>
        </p:txBody>
      </p:sp>
      <p:sp>
        <p:nvSpPr>
          <p:cNvPr id="10" name="Rounded Rectangle 9"/>
          <p:cNvSpPr/>
          <p:nvPr/>
        </p:nvSpPr>
        <p:spPr>
          <a:xfrm>
            <a:off x="502920" y="3220516"/>
            <a:ext cx="6412687" cy="699058"/>
          </a:xfrm>
          <a:prstGeom prst="roundRect">
            <a:avLst>
              <a:gd name="adj" fmla="val 15696"/>
            </a:avLst>
          </a:prstGeom>
          <a:solidFill>
            <a:srgbClr val="FFFFFF"/>
          </a:solidFill>
          <a:ln w="12700">
            <a:solidFill>
              <a:srgbClr val="D9D9D9"/>
            </a:solidFill>
          </a:ln>
          <a:effectLst/>
        </p:spPr>
        <p:txBody>
          <a:bodyPr rtlCol="0" anchor="ctr"/>
          <a:lstStyle/>
          <a:p/>
        </p:txBody>
      </p:sp>
      <p:sp>
        <p:nvSpPr>
          <p:cNvPr id="11" name="Oval 10"/>
          <p:cNvSpPr/>
          <p:nvPr/>
        </p:nvSpPr>
        <p:spPr>
          <a:xfrm>
            <a:off x="603504" y="334144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220516"/>
            <a:ext cx="5662879" cy="699058"/>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Hakkâri Yöresi</a:t>
            </a:r>
          </a:p>
          <a:p>
            <a:pPr algn="l">
              <a:spcBef>
                <a:spcPts val="0"/>
              </a:spcBef>
              <a:spcAft>
                <a:spcPts val="0"/>
              </a:spcAft>
            </a:pPr>
            <a:r>
              <a:rPr lang="tr-TR" sz="1600" b="0" i="0">
                <a:solidFill>
                  <a:srgbClr val="767676"/>
                </a:solidFill>
                <a:latin typeface="Calibri"/>
              </a:rPr>
              <a:t>→ Dağlık, engebeli; Hakkâri ili en seyrek sınıfta (11-41)</a:t>
            </a:r>
          </a:p>
        </p:txBody>
      </p:sp>
      <p:sp>
        <p:nvSpPr>
          <p:cNvPr id="13" name="Rounded Rectangle 12"/>
          <p:cNvSpPr/>
          <p:nvPr/>
        </p:nvSpPr>
        <p:spPr>
          <a:xfrm>
            <a:off x="502920" y="4011015"/>
            <a:ext cx="6412687" cy="699058"/>
          </a:xfrm>
          <a:prstGeom prst="roundRect">
            <a:avLst>
              <a:gd name="adj" fmla="val 15696"/>
            </a:avLst>
          </a:prstGeom>
          <a:solidFill>
            <a:srgbClr val="FFFFFF"/>
          </a:solidFill>
          <a:ln w="12700">
            <a:solidFill>
              <a:srgbClr val="D9D9D9"/>
            </a:solidFill>
          </a:ln>
          <a:effectLst/>
        </p:spPr>
        <p:txBody>
          <a:bodyPr rtlCol="0" anchor="ctr"/>
          <a:lstStyle/>
          <a:p/>
        </p:txBody>
      </p:sp>
      <p:sp>
        <p:nvSpPr>
          <p:cNvPr id="14" name="Oval 13"/>
          <p:cNvSpPr/>
          <p:nvPr/>
        </p:nvSpPr>
        <p:spPr>
          <a:xfrm>
            <a:off x="603504" y="413194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011015"/>
            <a:ext cx="5662879" cy="699058"/>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Tuz Gölü çevresi</a:t>
            </a:r>
          </a:p>
          <a:p>
            <a:pPr algn="l">
              <a:spcBef>
                <a:spcPts val="0"/>
              </a:spcBef>
              <a:spcAft>
                <a:spcPts val="0"/>
              </a:spcAft>
            </a:pPr>
            <a:r>
              <a:rPr lang="tr-TR" sz="1600" b="0" i="0">
                <a:solidFill>
                  <a:srgbClr val="767676"/>
                </a:solidFill>
                <a:latin typeface="Calibri"/>
              </a:rPr>
              <a:t>→ Az yağışlı, kurak; Konya ve Aksaray 42-59 sınıfında</a:t>
            </a:r>
          </a:p>
        </p:txBody>
      </p:sp>
      <p:sp>
        <p:nvSpPr>
          <p:cNvPr id="16" name="Rounded Rectangle 15"/>
          <p:cNvSpPr/>
          <p:nvPr/>
        </p:nvSpPr>
        <p:spPr>
          <a:xfrm>
            <a:off x="502920" y="4801514"/>
            <a:ext cx="6412687" cy="699058"/>
          </a:xfrm>
          <a:prstGeom prst="roundRect">
            <a:avLst>
              <a:gd name="adj" fmla="val 15696"/>
            </a:avLst>
          </a:prstGeom>
          <a:solidFill>
            <a:srgbClr val="E3F1E4"/>
          </a:solidFill>
          <a:ln w="31750">
            <a:solidFill>
              <a:srgbClr val="2E7D32"/>
            </a:solidFill>
          </a:ln>
          <a:effectLst/>
        </p:spPr>
        <p:txBody>
          <a:bodyPr rtlCol="0" anchor="ctr"/>
          <a:lstStyle/>
          <a:p/>
        </p:txBody>
      </p:sp>
      <p:sp>
        <p:nvSpPr>
          <p:cNvPr id="17" name="Oval 16"/>
          <p:cNvSpPr/>
          <p:nvPr/>
        </p:nvSpPr>
        <p:spPr>
          <a:xfrm>
            <a:off x="603504" y="4922443"/>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801514"/>
            <a:ext cx="5662879" cy="699058"/>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İzmir ve çevresi</a:t>
            </a:r>
          </a:p>
          <a:p>
            <a:pPr algn="l">
              <a:spcBef>
                <a:spcPts val="0"/>
              </a:spcBef>
              <a:spcAft>
                <a:spcPts val="0"/>
              </a:spcAft>
            </a:pPr>
            <a:r>
              <a:rPr lang="tr-TR" sz="1600" b="0" i="0">
                <a:solidFill>
                  <a:srgbClr val="2E7D32"/>
                </a:solidFill>
                <a:latin typeface="Calibri"/>
              </a:rPr>
              <a:t>→ İzmir ili 100-553 kişi/km² sınıfında: yoğun nüfuslu</a:t>
            </a:r>
          </a:p>
        </p:txBody>
      </p:sp>
      <p:sp>
        <p:nvSpPr>
          <p:cNvPr id="19" name="Rounded Rectangle 18"/>
          <p:cNvSpPr/>
          <p:nvPr/>
        </p:nvSpPr>
        <p:spPr>
          <a:xfrm>
            <a:off x="502920" y="5592013"/>
            <a:ext cx="6412687" cy="699058"/>
          </a:xfrm>
          <a:prstGeom prst="roundRect">
            <a:avLst>
              <a:gd name="adj" fmla="val 15696"/>
            </a:avLst>
          </a:prstGeom>
          <a:solidFill>
            <a:srgbClr val="FFFFFF"/>
          </a:solidFill>
          <a:ln w="12700">
            <a:solidFill>
              <a:srgbClr val="D9D9D9"/>
            </a:solidFill>
          </a:ln>
          <a:effectLst/>
        </p:spPr>
        <p:txBody>
          <a:bodyPr rtlCol="0" anchor="ctr"/>
          <a:lstStyle/>
          <a:p/>
        </p:txBody>
      </p:sp>
      <p:sp>
        <p:nvSpPr>
          <p:cNvPr id="20" name="Oval 19"/>
          <p:cNvSpPr/>
          <p:nvPr/>
        </p:nvSpPr>
        <p:spPr>
          <a:xfrm>
            <a:off x="603504" y="5712942"/>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92013"/>
            <a:ext cx="5662879" cy="699058"/>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Menteşe Yöresi</a:t>
            </a:r>
          </a:p>
          <a:p>
            <a:pPr algn="l">
              <a:spcBef>
                <a:spcPts val="0"/>
              </a:spcBef>
              <a:spcAft>
                <a:spcPts val="0"/>
              </a:spcAft>
            </a:pPr>
            <a:r>
              <a:rPr lang="tr-TR" sz="1600" b="0" i="0">
                <a:solidFill>
                  <a:srgbClr val="767676"/>
                </a:solidFill>
                <a:latin typeface="Calibri"/>
              </a:rPr>
              <a:t>→ Dağlık, engebeli yöre; Muğla ili 60-99 sınıfında</a:t>
            </a:r>
          </a:p>
        </p:txBody>
      </p:sp>
      <p:pic>
        <p:nvPicPr>
          <p:cNvPr id="22" name="Picture 21" descr="sonu_yogunluk_s221.jpg"/>
          <p:cNvPicPr>
            <a:picLocks noChangeAspect="1"/>
          </p:cNvPicPr>
          <p:nvPr/>
        </p:nvPicPr>
        <p:blipFill>
          <a:blip r:embed="rId3"/>
          <a:stretch>
            <a:fillRect/>
          </a:stretch>
        </p:blipFill>
        <p:spPr>
          <a:xfrm>
            <a:off x="7116775" y="1216152"/>
            <a:ext cx="4572000" cy="2513622"/>
          </a:xfrm>
          <a:prstGeom prst="rect">
            <a:avLst/>
          </a:prstGeom>
          <a:ln w="9525">
            <a:solidFill>
              <a:srgbClr val="D9D9D9"/>
            </a:solidFill>
          </a:ln>
        </p:spPr>
      </p:pic>
      <p:sp>
        <p:nvSpPr>
          <p:cNvPr id="23" name="Oval 22"/>
          <p:cNvSpPr/>
          <p:nvPr/>
        </p:nvSpPr>
        <p:spPr>
          <a:xfrm>
            <a:off x="7416255" y="2543506"/>
            <a:ext cx="282596" cy="181708"/>
          </a:xfrm>
          <a:prstGeom prst="ellipse">
            <a:avLst/>
          </a:prstGeom>
          <a:noFill/>
          <a:ln w="38100">
            <a:solidFill>
              <a:srgbClr val="2E7D32"/>
            </a:solidFill>
          </a:ln>
          <a:effectLst/>
        </p:spPr>
        <p:txBody>
          <a:bodyPr rtlCol="0" anchor="ctr"/>
          <a:lstStyle/>
          <a:p/>
        </p:txBody>
      </p:sp>
      <p:sp>
        <p:nvSpPr>
          <p:cNvPr id="24" name="TextBox 23"/>
          <p:cNvSpPr txBox="1"/>
          <p:nvPr/>
        </p:nvSpPr>
        <p:spPr>
          <a:xfrm>
            <a:off x="7116775" y="3748062"/>
            <a:ext cx="45720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221 · halka sunuma aittir</a:t>
            </a:r>
          </a:p>
        </p:txBody>
      </p:sp>
      <p:sp>
        <p:nvSpPr>
          <p:cNvPr id="25" name="Rounded Rectangle 24"/>
          <p:cNvSpPr/>
          <p:nvPr/>
        </p:nvSpPr>
        <p:spPr>
          <a:xfrm>
            <a:off x="7116775" y="4095534"/>
            <a:ext cx="4572000" cy="2149818"/>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600"/>
              </a:spcAft>
            </a:pPr>
            <a:r>
              <a:rPr lang="tr-TR" sz="2000" b="1" i="0">
                <a:solidFill>
                  <a:srgbClr val="262626"/>
                </a:solidFill>
                <a:latin typeface="Calibri"/>
              </a:rPr>
              <a:t>Haritaya göre İzmir ili 100-553 kişi/km² sınıfında; Hakkâri ve Karaman en seyrek sınıfta (11-41).</a:t>
            </a:r>
          </a:p>
          <a:p>
            <a:pPr algn="l">
              <a:spcBef>
                <a:spcPts val="0"/>
              </a:spcBef>
              <a:spcAft>
                <a:spcPts val="0"/>
              </a:spcAft>
            </a:pPr>
            <a:r>
              <a:rPr lang="tr-TR" sz="1700" b="0" i="0">
                <a:solidFill>
                  <a:srgbClr val="262626"/>
                </a:solidFill>
                <a:latin typeface="Calibri"/>
              </a:rPr>
              <a:t>Harita il ortalamasını gösterir; plato ve dağlık yöreler ilden daha seyrektir.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176 / 187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5: bölgenin alanı ve ülke sayısı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5</a:t>
            </a:r>
          </a:p>
        </p:txBody>
      </p:sp>
      <p:sp>
        <p:nvSpPr>
          <p:cNvPr id="6" name="Rounded Rectangle 5"/>
          <p:cNvSpPr/>
          <p:nvPr/>
        </p:nvSpPr>
        <p:spPr>
          <a:xfrm>
            <a:off x="502920" y="1216152"/>
            <a:ext cx="11185855" cy="178308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278"/>
              </a:spcAft>
            </a:pPr>
            <a:r>
              <a:rPr lang="tr-TR" sz="1950" b="0" i="0">
                <a:solidFill>
                  <a:srgbClr val="262626"/>
                </a:solidFill>
                <a:latin typeface="Calibri"/>
              </a:rPr>
              <a:t>Bir amaca göre oluşturulan bölgelerin kapladığı alanın büyüklüğü, o bölgenin oluşturulmasında kullanılan kriterin özelliğine göre değişir. Oluşturulan bölgenin alanı büyüdükçe sınırları içerisinde bulunan ülke sayısı da o kadar fazla olur.</a:t>
            </a:r>
          </a:p>
          <a:p>
            <a:pPr algn="l">
              <a:spcBef>
                <a:spcPts val="0"/>
              </a:spcBef>
              <a:spcAft>
                <a:spcPts val="0"/>
              </a:spcAft>
            </a:pPr>
            <a:r>
              <a:rPr lang="tr-TR" sz="1950" b="1" i="0">
                <a:solidFill>
                  <a:srgbClr val="262626"/>
                </a:solidFill>
                <a:latin typeface="Calibri"/>
              </a:rPr>
              <a:t>Buna göre aşağıdaki bölgelerden hangisinin sınırları içerisinde bulunan ülke sayısı diğerlerine göre daha azdır?</a:t>
            </a:r>
          </a:p>
        </p:txBody>
      </p:sp>
      <p:sp>
        <p:nvSpPr>
          <p:cNvPr id="7" name="Rounded Rectangle 6"/>
          <p:cNvSpPr/>
          <p:nvPr/>
        </p:nvSpPr>
        <p:spPr>
          <a:xfrm>
            <a:off x="502920" y="3127248"/>
            <a:ext cx="11185855" cy="559612"/>
          </a:xfrm>
          <a:prstGeom prst="roundRect">
            <a:avLst>
              <a:gd name="adj" fmla="val 19607"/>
            </a:avLst>
          </a:prstGeom>
          <a:solidFill>
            <a:srgbClr val="FFFFFF"/>
          </a:solidFill>
          <a:ln w="12700">
            <a:solidFill>
              <a:srgbClr val="D9D9D9"/>
            </a:solidFill>
          </a:ln>
          <a:effectLst/>
        </p:spPr>
        <p:txBody>
          <a:bodyPr rtlCol="0" anchor="ctr"/>
          <a:lstStyle/>
          <a:p/>
        </p:txBody>
      </p:sp>
      <p:sp>
        <p:nvSpPr>
          <p:cNvPr id="8" name="Oval 7"/>
          <p:cNvSpPr/>
          <p:nvPr/>
        </p:nvSpPr>
        <p:spPr>
          <a:xfrm>
            <a:off x="603504" y="3178454"/>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3127248"/>
            <a:ext cx="10436047" cy="5596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Step iklim bölgesi</a:t>
            </a:r>
          </a:p>
        </p:txBody>
      </p:sp>
      <p:sp>
        <p:nvSpPr>
          <p:cNvPr id="10" name="Rounded Rectangle 9"/>
          <p:cNvSpPr/>
          <p:nvPr/>
        </p:nvSpPr>
        <p:spPr>
          <a:xfrm>
            <a:off x="502920" y="3778300"/>
            <a:ext cx="11185855" cy="559612"/>
          </a:xfrm>
          <a:prstGeom prst="roundRect">
            <a:avLst>
              <a:gd name="adj" fmla="val 19607"/>
            </a:avLst>
          </a:prstGeom>
          <a:solidFill>
            <a:srgbClr val="FFFFFF"/>
          </a:solidFill>
          <a:ln w="12700">
            <a:solidFill>
              <a:srgbClr val="D9D9D9"/>
            </a:solidFill>
          </a:ln>
          <a:effectLst/>
        </p:spPr>
        <p:txBody>
          <a:bodyPr rtlCol="0" anchor="ctr"/>
          <a:lstStyle/>
          <a:p/>
        </p:txBody>
      </p:sp>
      <p:sp>
        <p:nvSpPr>
          <p:cNvPr id="11" name="Oval 10"/>
          <p:cNvSpPr/>
          <p:nvPr/>
        </p:nvSpPr>
        <p:spPr>
          <a:xfrm>
            <a:off x="603504" y="382950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778300"/>
            <a:ext cx="10436047" cy="5596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 çöl bölgeleri</a:t>
            </a:r>
          </a:p>
        </p:txBody>
      </p:sp>
      <p:sp>
        <p:nvSpPr>
          <p:cNvPr id="13" name="Rounded Rectangle 12"/>
          <p:cNvSpPr/>
          <p:nvPr/>
        </p:nvSpPr>
        <p:spPr>
          <a:xfrm>
            <a:off x="502920" y="4429353"/>
            <a:ext cx="11185855" cy="559612"/>
          </a:xfrm>
          <a:prstGeom prst="roundRect">
            <a:avLst>
              <a:gd name="adj" fmla="val 19607"/>
            </a:avLst>
          </a:prstGeom>
          <a:solidFill>
            <a:srgbClr val="FFFFFF"/>
          </a:solidFill>
          <a:ln w="12700">
            <a:solidFill>
              <a:srgbClr val="D9D9D9"/>
            </a:solidFill>
          </a:ln>
          <a:effectLst/>
        </p:spPr>
        <p:txBody>
          <a:bodyPr rtlCol="0" anchor="ctr"/>
          <a:lstStyle/>
          <a:p/>
        </p:txBody>
      </p:sp>
      <p:sp>
        <p:nvSpPr>
          <p:cNvPr id="14" name="Oval 13"/>
          <p:cNvSpPr/>
          <p:nvPr/>
        </p:nvSpPr>
        <p:spPr>
          <a:xfrm>
            <a:off x="603504" y="448056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429353"/>
            <a:ext cx="10436047" cy="5596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Ilıman iklim bölgesi</a:t>
            </a:r>
          </a:p>
        </p:txBody>
      </p:sp>
      <p:sp>
        <p:nvSpPr>
          <p:cNvPr id="16" name="Rounded Rectangle 15"/>
          <p:cNvSpPr/>
          <p:nvPr/>
        </p:nvSpPr>
        <p:spPr>
          <a:xfrm>
            <a:off x="502920" y="5080406"/>
            <a:ext cx="11185855" cy="559612"/>
          </a:xfrm>
          <a:prstGeom prst="roundRect">
            <a:avLst>
              <a:gd name="adj" fmla="val 19607"/>
            </a:avLst>
          </a:prstGeom>
          <a:solidFill>
            <a:srgbClr val="FFFFFF"/>
          </a:solidFill>
          <a:ln w="12700">
            <a:solidFill>
              <a:srgbClr val="D9D9D9"/>
            </a:solidFill>
          </a:ln>
          <a:effectLst/>
        </p:spPr>
        <p:txBody>
          <a:bodyPr rtlCol="0" anchor="ctr"/>
          <a:lstStyle/>
          <a:p/>
        </p:txBody>
      </p:sp>
      <p:sp>
        <p:nvSpPr>
          <p:cNvPr id="17" name="Oval 16"/>
          <p:cNvSpPr/>
          <p:nvPr/>
        </p:nvSpPr>
        <p:spPr>
          <a:xfrm>
            <a:off x="603504" y="513161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5080406"/>
            <a:ext cx="10436047" cy="5596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Savan bitki örtüsü bölgesi</a:t>
            </a:r>
          </a:p>
        </p:txBody>
      </p:sp>
      <p:sp>
        <p:nvSpPr>
          <p:cNvPr id="19" name="Rounded Rectangle 18"/>
          <p:cNvSpPr/>
          <p:nvPr/>
        </p:nvSpPr>
        <p:spPr>
          <a:xfrm>
            <a:off x="502920" y="5731459"/>
            <a:ext cx="11185855" cy="559612"/>
          </a:xfrm>
          <a:prstGeom prst="roundRect">
            <a:avLst>
              <a:gd name="adj" fmla="val 19607"/>
            </a:avLst>
          </a:prstGeom>
          <a:solidFill>
            <a:srgbClr val="FFFFFF"/>
          </a:solidFill>
          <a:ln w="12700">
            <a:solidFill>
              <a:srgbClr val="D9D9D9"/>
            </a:solidFill>
          </a:ln>
          <a:effectLst/>
        </p:spPr>
        <p:txBody>
          <a:bodyPr rtlCol="0" anchor="ctr"/>
          <a:lstStyle/>
          <a:p/>
        </p:txBody>
      </p:sp>
      <p:sp>
        <p:nvSpPr>
          <p:cNvPr id="20" name="Oval 19"/>
          <p:cNvSpPr/>
          <p:nvPr/>
        </p:nvSpPr>
        <p:spPr>
          <a:xfrm>
            <a:off x="603504" y="5782665"/>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731459"/>
            <a:ext cx="10436047" cy="55961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Tundra iklim bölgesi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177 / 187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5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5</a:t>
            </a:r>
          </a:p>
        </p:txBody>
      </p:sp>
      <p:sp>
        <p:nvSpPr>
          <p:cNvPr id="6" name="Rounded Rectangle 5"/>
          <p:cNvSpPr/>
          <p:nvPr/>
        </p:nvSpPr>
        <p:spPr>
          <a:xfrm>
            <a:off x="502920" y="1216152"/>
            <a:ext cx="11185855" cy="153344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300"/>
              </a:spcAft>
            </a:pPr>
            <a:r>
              <a:rPr lang="tr-TR" sz="1800" b="0" i="0">
                <a:solidFill>
                  <a:srgbClr val="262626"/>
                </a:solidFill>
                <a:latin typeface="Calibri"/>
              </a:rPr>
              <a:t>Bir amaca göre oluşturulan bölgelerin kapladığı alanın büyüklüğü, o bölgenin oluşturulmasında kullanılan kriterin özelliğine göre değişir. Oluşturulan bölgenin alanı büyüdükçe sınırları içerisinde bulunan ülke sayısı da o kadar fazla olur.</a:t>
            </a:r>
          </a:p>
          <a:p>
            <a:pPr algn="l">
              <a:spcBef>
                <a:spcPts val="0"/>
              </a:spcBef>
              <a:spcAft>
                <a:spcPts val="0"/>
              </a:spcAft>
            </a:pPr>
            <a:r>
              <a:rPr lang="tr-TR" sz="1800" b="1" i="0">
                <a:solidFill>
                  <a:srgbClr val="262626"/>
                </a:solidFill>
                <a:latin typeface="Calibri"/>
              </a:rPr>
              <a:t>Buna göre aşağıdaki bölgelerden hangisinin sınırları içerisinde bulunan ülke sayısı diğerlerine göre daha azdır?</a:t>
            </a:r>
          </a:p>
        </p:txBody>
      </p:sp>
      <p:sp>
        <p:nvSpPr>
          <p:cNvPr id="7" name="Rounded Rectangle 6"/>
          <p:cNvSpPr/>
          <p:nvPr/>
        </p:nvSpPr>
        <p:spPr>
          <a:xfrm>
            <a:off x="502920" y="2877616"/>
            <a:ext cx="11185855" cy="609539"/>
          </a:xfrm>
          <a:prstGeom prst="roundRect">
            <a:avLst>
              <a:gd name="adj" fmla="val 18001"/>
            </a:avLst>
          </a:prstGeom>
          <a:solidFill>
            <a:srgbClr val="FFFFFF"/>
          </a:solidFill>
          <a:ln w="12700">
            <a:solidFill>
              <a:srgbClr val="D9D9D9"/>
            </a:solidFill>
          </a:ln>
          <a:effectLst/>
        </p:spPr>
        <p:txBody>
          <a:bodyPr rtlCol="0" anchor="ctr"/>
          <a:lstStyle/>
          <a:p/>
        </p:txBody>
      </p:sp>
      <p:sp>
        <p:nvSpPr>
          <p:cNvPr id="8" name="Oval 7"/>
          <p:cNvSpPr/>
          <p:nvPr/>
        </p:nvSpPr>
        <p:spPr>
          <a:xfrm>
            <a:off x="603504" y="2953785"/>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877616"/>
            <a:ext cx="10436047" cy="609539"/>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Step iklim bölgesi</a:t>
            </a:r>
          </a:p>
          <a:p>
            <a:pPr algn="l">
              <a:spcBef>
                <a:spcPts val="0"/>
              </a:spcBef>
              <a:spcAft>
                <a:spcPts val="0"/>
              </a:spcAft>
            </a:pPr>
            <a:r>
              <a:rPr lang="tr-TR" sz="1440" b="0" i="0">
                <a:solidFill>
                  <a:srgbClr val="767676"/>
                </a:solidFill>
                <a:latin typeface="Calibri"/>
              </a:rPr>
              <a:t>→ Birçok kıtada geniş alan (s. 220: musondan geniş)</a:t>
            </a:r>
          </a:p>
        </p:txBody>
      </p:sp>
      <p:sp>
        <p:nvSpPr>
          <p:cNvPr id="10" name="Rounded Rectangle 9"/>
          <p:cNvSpPr/>
          <p:nvPr/>
        </p:nvSpPr>
        <p:spPr>
          <a:xfrm>
            <a:off x="502920" y="3578595"/>
            <a:ext cx="11185855" cy="609539"/>
          </a:xfrm>
          <a:prstGeom prst="roundRect">
            <a:avLst>
              <a:gd name="adj" fmla="val 18001"/>
            </a:avLst>
          </a:prstGeom>
          <a:solidFill>
            <a:srgbClr val="FFFFFF"/>
          </a:solidFill>
          <a:ln w="12700">
            <a:solidFill>
              <a:srgbClr val="D9D9D9"/>
            </a:solidFill>
          </a:ln>
          <a:effectLst/>
        </p:spPr>
        <p:txBody>
          <a:bodyPr rtlCol="0" anchor="ctr"/>
          <a:lstStyle/>
          <a:p/>
        </p:txBody>
      </p:sp>
      <p:sp>
        <p:nvSpPr>
          <p:cNvPr id="11" name="Oval 10"/>
          <p:cNvSpPr/>
          <p:nvPr/>
        </p:nvSpPr>
        <p:spPr>
          <a:xfrm>
            <a:off x="603504" y="365476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578595"/>
            <a:ext cx="10436047" cy="609539"/>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Dünya çöl bölgeleri</a:t>
            </a:r>
          </a:p>
          <a:p>
            <a:pPr algn="l">
              <a:spcBef>
                <a:spcPts val="0"/>
              </a:spcBef>
              <a:spcAft>
                <a:spcPts val="0"/>
              </a:spcAft>
            </a:pPr>
            <a:r>
              <a:rPr lang="tr-TR" sz="1440" b="0" i="0">
                <a:solidFill>
                  <a:srgbClr val="767676"/>
                </a:solidFill>
                <a:latin typeface="Calibri"/>
              </a:rPr>
              <a:t>→ Birçok kıtada, çok sayıda ülkede</a:t>
            </a:r>
          </a:p>
        </p:txBody>
      </p:sp>
      <p:sp>
        <p:nvSpPr>
          <p:cNvPr id="13" name="Rounded Rectangle 12"/>
          <p:cNvSpPr/>
          <p:nvPr/>
        </p:nvSpPr>
        <p:spPr>
          <a:xfrm>
            <a:off x="502920" y="4279574"/>
            <a:ext cx="11185855" cy="609539"/>
          </a:xfrm>
          <a:prstGeom prst="roundRect">
            <a:avLst>
              <a:gd name="adj" fmla="val 18001"/>
            </a:avLst>
          </a:prstGeom>
          <a:solidFill>
            <a:srgbClr val="FFFFFF"/>
          </a:solidFill>
          <a:ln w="12700">
            <a:solidFill>
              <a:srgbClr val="D9D9D9"/>
            </a:solidFill>
          </a:ln>
          <a:effectLst/>
        </p:spPr>
        <p:txBody>
          <a:bodyPr rtlCol="0" anchor="ctr"/>
          <a:lstStyle/>
          <a:p/>
        </p:txBody>
      </p:sp>
      <p:sp>
        <p:nvSpPr>
          <p:cNvPr id="14" name="Oval 13"/>
          <p:cNvSpPr/>
          <p:nvPr/>
        </p:nvSpPr>
        <p:spPr>
          <a:xfrm>
            <a:off x="603504" y="435574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279574"/>
            <a:ext cx="10436047" cy="609539"/>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Ilıman iklim bölgesi</a:t>
            </a:r>
          </a:p>
          <a:p>
            <a:pPr algn="l">
              <a:spcBef>
                <a:spcPts val="0"/>
              </a:spcBef>
              <a:spcAft>
                <a:spcPts val="0"/>
              </a:spcAft>
            </a:pPr>
            <a:r>
              <a:rPr lang="tr-TR" sz="1440" b="0" i="0">
                <a:solidFill>
                  <a:srgbClr val="767676"/>
                </a:solidFill>
                <a:latin typeface="Calibri"/>
              </a:rPr>
              <a:t>→ Orta kuşakta dört iklim türü: çok geniş</a:t>
            </a:r>
          </a:p>
        </p:txBody>
      </p:sp>
      <p:sp>
        <p:nvSpPr>
          <p:cNvPr id="16" name="Rounded Rectangle 15"/>
          <p:cNvSpPr/>
          <p:nvPr/>
        </p:nvSpPr>
        <p:spPr>
          <a:xfrm>
            <a:off x="502920" y="4980553"/>
            <a:ext cx="11185855" cy="609539"/>
          </a:xfrm>
          <a:prstGeom prst="roundRect">
            <a:avLst>
              <a:gd name="adj" fmla="val 18001"/>
            </a:avLst>
          </a:prstGeom>
          <a:solidFill>
            <a:srgbClr val="FFFFFF"/>
          </a:solidFill>
          <a:ln w="12700">
            <a:solidFill>
              <a:srgbClr val="D9D9D9"/>
            </a:solidFill>
          </a:ln>
          <a:effectLst/>
        </p:spPr>
        <p:txBody>
          <a:bodyPr rtlCol="0" anchor="ctr"/>
          <a:lstStyle/>
          <a:p/>
        </p:txBody>
      </p:sp>
      <p:sp>
        <p:nvSpPr>
          <p:cNvPr id="17" name="Oval 16"/>
          <p:cNvSpPr/>
          <p:nvPr/>
        </p:nvSpPr>
        <p:spPr>
          <a:xfrm>
            <a:off x="603504" y="505672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980553"/>
            <a:ext cx="10436047" cy="609539"/>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Savan bitki örtüsü bölgesi</a:t>
            </a:r>
          </a:p>
          <a:p>
            <a:pPr algn="l">
              <a:spcBef>
                <a:spcPts val="0"/>
              </a:spcBef>
              <a:spcAft>
                <a:spcPts val="0"/>
              </a:spcAft>
            </a:pPr>
            <a:r>
              <a:rPr lang="tr-TR" sz="1440" b="0" i="0">
                <a:solidFill>
                  <a:srgbClr val="767676"/>
                </a:solidFill>
                <a:latin typeface="Calibri"/>
              </a:rPr>
              <a:t>→ Afrika, Güney Amerika, Asya, Avustralya</a:t>
            </a:r>
          </a:p>
        </p:txBody>
      </p:sp>
      <p:sp>
        <p:nvSpPr>
          <p:cNvPr id="19" name="Rounded Rectangle 18"/>
          <p:cNvSpPr/>
          <p:nvPr/>
        </p:nvSpPr>
        <p:spPr>
          <a:xfrm>
            <a:off x="502920" y="5681532"/>
            <a:ext cx="11185855" cy="609539"/>
          </a:xfrm>
          <a:prstGeom prst="roundRect">
            <a:avLst>
              <a:gd name="adj" fmla="val 18001"/>
            </a:avLst>
          </a:prstGeom>
          <a:solidFill>
            <a:srgbClr val="E3F1E4"/>
          </a:solidFill>
          <a:ln w="31750">
            <a:solidFill>
              <a:srgbClr val="2E7D32"/>
            </a:solidFill>
          </a:ln>
          <a:effectLst/>
        </p:spPr>
        <p:txBody>
          <a:bodyPr rtlCol="0" anchor="ctr"/>
          <a:lstStyle/>
          <a:p/>
        </p:txBody>
      </p:sp>
      <p:sp>
        <p:nvSpPr>
          <p:cNvPr id="20" name="Oval 19"/>
          <p:cNvSpPr/>
          <p:nvPr/>
        </p:nvSpPr>
        <p:spPr>
          <a:xfrm>
            <a:off x="603504" y="575770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81532"/>
            <a:ext cx="10436047" cy="609539"/>
          </a:xfrm>
          <a:prstGeom prst="rect">
            <a:avLst/>
          </a:prstGeom>
          <a:noFill/>
        </p:spPr>
        <p:txBody>
          <a:bodyPr wrap="square" anchor="ctr" lIns="73152" rIns="73152" tIns="36576" bIns="36576">
            <a:noAutofit/>
          </a:bodyPr>
          <a:lstStyle/>
          <a:p>
            <a:pPr algn="l">
              <a:spcBef>
                <a:spcPts val="0"/>
              </a:spcBef>
              <a:spcAft>
                <a:spcPts val="200"/>
              </a:spcAft>
            </a:pPr>
            <a:r>
              <a:rPr lang="tr-TR" sz="1800" b="1" i="0">
                <a:solidFill>
                  <a:srgbClr val="262626"/>
                </a:solidFill>
                <a:latin typeface="Calibri"/>
              </a:rPr>
              <a:t>Tundra iklim bölgesi</a:t>
            </a:r>
          </a:p>
          <a:p>
            <a:pPr algn="l">
              <a:spcBef>
                <a:spcPts val="0"/>
              </a:spcBef>
              <a:spcAft>
                <a:spcPts val="0"/>
              </a:spcAft>
            </a:pPr>
            <a:r>
              <a:rPr lang="tr-TR" sz="1440" b="0" i="0">
                <a:solidFill>
                  <a:srgbClr val="2E7D32"/>
                </a:solidFill>
                <a:latin typeface="Calibri"/>
              </a:rPr>
              <a:t>→ Kutuplara yakın dar kuşak: az sayıda ülke</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178 / 187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 maki bitki örtüsü</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a:t>
            </a:r>
          </a:p>
        </p:txBody>
      </p:sp>
      <p:sp>
        <p:nvSpPr>
          <p:cNvPr id="6" name="Rounded Rectangle 5"/>
          <p:cNvSpPr/>
          <p:nvPr/>
        </p:nvSpPr>
        <p:spPr>
          <a:xfrm>
            <a:off x="502920" y="1216152"/>
            <a:ext cx="11185855" cy="16002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279"/>
              </a:spcAft>
            </a:pPr>
            <a:r>
              <a:rPr lang="tr-TR" sz="2050" b="0" i="0">
                <a:solidFill>
                  <a:srgbClr val="262626"/>
                </a:solidFill>
                <a:latin typeface="Calibri"/>
              </a:rPr>
              <a:t>I. İspanya</a:t>
            </a:r>
          </a:p>
          <a:p>
            <a:pPr algn="l">
              <a:spcBef>
                <a:spcPts val="0"/>
              </a:spcBef>
              <a:spcAft>
                <a:spcPts val="279"/>
              </a:spcAft>
            </a:pPr>
            <a:r>
              <a:rPr lang="tr-TR" sz="2050" b="0" i="0">
                <a:solidFill>
                  <a:srgbClr val="262626"/>
                </a:solidFill>
                <a:latin typeface="Calibri"/>
              </a:rPr>
              <a:t>II. Türkiye</a:t>
            </a:r>
          </a:p>
          <a:p>
            <a:pPr algn="l">
              <a:spcBef>
                <a:spcPts val="0"/>
              </a:spcBef>
              <a:spcAft>
                <a:spcPts val="279"/>
              </a:spcAft>
            </a:pPr>
            <a:r>
              <a:rPr lang="tr-TR" sz="2050" b="0" i="0">
                <a:solidFill>
                  <a:srgbClr val="262626"/>
                </a:solidFill>
                <a:latin typeface="Calibri"/>
              </a:rPr>
              <a:t>III. Yunanistan</a:t>
            </a:r>
          </a:p>
          <a:p>
            <a:pPr algn="l">
              <a:spcBef>
                <a:spcPts val="0"/>
              </a:spcBef>
              <a:spcAft>
                <a:spcPts val="0"/>
              </a:spcAft>
            </a:pPr>
            <a:r>
              <a:rPr lang="tr-TR" sz="2050" b="1" i="0">
                <a:solidFill>
                  <a:srgbClr val="262626"/>
                </a:solidFill>
                <a:latin typeface="Calibri"/>
              </a:rPr>
              <a:t>Yukarıda verilen ülkelerden hangileri maki bitki örtüsü bölgesi sınırları içerisinde yer alır?</a:t>
            </a:r>
          </a:p>
        </p:txBody>
      </p:sp>
      <p:sp>
        <p:nvSpPr>
          <p:cNvPr id="7" name="Rounded Rectangle 6"/>
          <p:cNvSpPr/>
          <p:nvPr/>
        </p:nvSpPr>
        <p:spPr>
          <a:xfrm>
            <a:off x="502920" y="2944368"/>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8" name="Oval 7"/>
          <p:cNvSpPr/>
          <p:nvPr/>
        </p:nvSpPr>
        <p:spPr>
          <a:xfrm>
            <a:off x="603504" y="301386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944368"/>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a:t>
            </a:r>
          </a:p>
        </p:txBody>
      </p:sp>
      <p:sp>
        <p:nvSpPr>
          <p:cNvPr id="10" name="Rounded Rectangle 9"/>
          <p:cNvSpPr/>
          <p:nvPr/>
        </p:nvSpPr>
        <p:spPr>
          <a:xfrm>
            <a:off x="502920" y="3631996"/>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1" name="Oval 10"/>
          <p:cNvSpPr/>
          <p:nvPr/>
        </p:nvSpPr>
        <p:spPr>
          <a:xfrm>
            <a:off x="603504" y="3701491"/>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631996"/>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III</a:t>
            </a:r>
          </a:p>
        </p:txBody>
      </p:sp>
      <p:sp>
        <p:nvSpPr>
          <p:cNvPr id="13" name="Rounded Rectangle 12"/>
          <p:cNvSpPr/>
          <p:nvPr/>
        </p:nvSpPr>
        <p:spPr>
          <a:xfrm>
            <a:off x="502920" y="4319625"/>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4" name="Oval 13"/>
          <p:cNvSpPr/>
          <p:nvPr/>
        </p:nvSpPr>
        <p:spPr>
          <a:xfrm>
            <a:off x="603504" y="438912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319625"/>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 ve II</a:t>
            </a:r>
          </a:p>
        </p:txBody>
      </p:sp>
      <p:sp>
        <p:nvSpPr>
          <p:cNvPr id="16" name="Rounded Rectangle 15"/>
          <p:cNvSpPr/>
          <p:nvPr/>
        </p:nvSpPr>
        <p:spPr>
          <a:xfrm>
            <a:off x="502920" y="5007254"/>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17" name="Oval 16"/>
          <p:cNvSpPr/>
          <p:nvPr/>
        </p:nvSpPr>
        <p:spPr>
          <a:xfrm>
            <a:off x="603504" y="50767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5007254"/>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II ve III</a:t>
            </a:r>
          </a:p>
        </p:txBody>
      </p:sp>
      <p:sp>
        <p:nvSpPr>
          <p:cNvPr id="19" name="Rounded Rectangle 18"/>
          <p:cNvSpPr/>
          <p:nvPr/>
        </p:nvSpPr>
        <p:spPr>
          <a:xfrm>
            <a:off x="502920" y="5694883"/>
            <a:ext cx="11185855" cy="596188"/>
          </a:xfrm>
          <a:prstGeom prst="roundRect">
            <a:avLst>
              <a:gd name="adj" fmla="val 18404"/>
            </a:avLst>
          </a:prstGeom>
          <a:solidFill>
            <a:srgbClr val="FFFFFF"/>
          </a:solidFill>
          <a:ln w="12700">
            <a:solidFill>
              <a:srgbClr val="D9D9D9"/>
            </a:solidFill>
          </a:ln>
          <a:effectLst/>
        </p:spPr>
        <p:txBody>
          <a:bodyPr rtlCol="0" anchor="ctr"/>
          <a:lstStyle/>
          <a:p/>
        </p:txBody>
      </p:sp>
      <p:sp>
        <p:nvSpPr>
          <p:cNvPr id="20" name="Oval 19"/>
          <p:cNvSpPr/>
          <p:nvPr/>
        </p:nvSpPr>
        <p:spPr>
          <a:xfrm>
            <a:off x="603504" y="576437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94883"/>
            <a:ext cx="10436047" cy="59618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 II ve III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179 / 187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a:t>
            </a:r>
          </a:p>
        </p:txBody>
      </p:sp>
      <p:sp>
        <p:nvSpPr>
          <p:cNvPr id="6" name="Rounded Rectangle 5"/>
          <p:cNvSpPr/>
          <p:nvPr/>
        </p:nvSpPr>
        <p:spPr>
          <a:xfrm>
            <a:off x="502920" y="1216152"/>
            <a:ext cx="6778447" cy="152019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244"/>
              </a:spcAft>
            </a:pPr>
            <a:r>
              <a:rPr lang="tr-TR" sz="1550" b="0" i="0">
                <a:solidFill>
                  <a:srgbClr val="262626"/>
                </a:solidFill>
                <a:latin typeface="Calibri"/>
              </a:rPr>
              <a:t>I. İspanya</a:t>
            </a:r>
          </a:p>
          <a:p>
            <a:pPr algn="l">
              <a:spcBef>
                <a:spcPts val="0"/>
              </a:spcBef>
              <a:spcAft>
                <a:spcPts val="244"/>
              </a:spcAft>
            </a:pPr>
            <a:r>
              <a:rPr lang="tr-TR" sz="1550" b="0" i="0">
                <a:solidFill>
                  <a:srgbClr val="262626"/>
                </a:solidFill>
                <a:latin typeface="Calibri"/>
              </a:rPr>
              <a:t>II. Türkiye</a:t>
            </a:r>
          </a:p>
          <a:p>
            <a:pPr algn="l">
              <a:spcBef>
                <a:spcPts val="0"/>
              </a:spcBef>
              <a:spcAft>
                <a:spcPts val="244"/>
              </a:spcAft>
            </a:pPr>
            <a:r>
              <a:rPr lang="tr-TR" sz="1550" b="0" i="0">
                <a:solidFill>
                  <a:srgbClr val="262626"/>
                </a:solidFill>
                <a:latin typeface="Calibri"/>
              </a:rPr>
              <a:t>III. Yunanistan</a:t>
            </a:r>
          </a:p>
          <a:p>
            <a:pPr algn="l">
              <a:spcBef>
                <a:spcPts val="0"/>
              </a:spcBef>
              <a:spcAft>
                <a:spcPts val="0"/>
              </a:spcAft>
            </a:pPr>
            <a:r>
              <a:rPr lang="tr-TR" sz="1550" b="1" i="0">
                <a:solidFill>
                  <a:srgbClr val="262626"/>
                </a:solidFill>
                <a:latin typeface="Calibri"/>
              </a:rPr>
              <a:t>Yukarıda verilen ülkelerden hangileri maki bitki örtüsü bölgesi sınırları içerisinde yer alır?</a:t>
            </a:r>
          </a:p>
        </p:txBody>
      </p:sp>
      <p:sp>
        <p:nvSpPr>
          <p:cNvPr id="7" name="Rounded Rectangle 6"/>
          <p:cNvSpPr/>
          <p:nvPr/>
        </p:nvSpPr>
        <p:spPr>
          <a:xfrm>
            <a:off x="502920" y="2864358"/>
            <a:ext cx="6778447" cy="612190"/>
          </a:xfrm>
          <a:prstGeom prst="roundRect">
            <a:avLst>
              <a:gd name="adj" fmla="val 17923"/>
            </a:avLst>
          </a:prstGeom>
          <a:solidFill>
            <a:srgbClr val="FFFFFF"/>
          </a:solidFill>
          <a:ln w="12700">
            <a:solidFill>
              <a:srgbClr val="D9D9D9"/>
            </a:solidFill>
          </a:ln>
          <a:effectLst/>
        </p:spPr>
        <p:txBody>
          <a:bodyPr rtlCol="0" anchor="ctr"/>
          <a:lstStyle/>
          <a:p/>
        </p:txBody>
      </p:sp>
      <p:sp>
        <p:nvSpPr>
          <p:cNvPr id="8" name="Oval 7"/>
          <p:cNvSpPr/>
          <p:nvPr/>
        </p:nvSpPr>
        <p:spPr>
          <a:xfrm>
            <a:off x="603504" y="294185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864358"/>
            <a:ext cx="6028639" cy="612190"/>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Yalnız I</a:t>
            </a:r>
          </a:p>
          <a:p>
            <a:pPr algn="l">
              <a:spcBef>
                <a:spcPts val="0"/>
              </a:spcBef>
              <a:spcAft>
                <a:spcPts val="0"/>
              </a:spcAft>
            </a:pPr>
            <a:r>
              <a:rPr lang="tr-TR" sz="1440" b="0" i="0">
                <a:solidFill>
                  <a:srgbClr val="767676"/>
                </a:solidFill>
                <a:latin typeface="Calibri"/>
              </a:rPr>
              <a:t>→ Eksik: Türkiye ve Yunanistan da</a:t>
            </a:r>
          </a:p>
        </p:txBody>
      </p:sp>
      <p:sp>
        <p:nvSpPr>
          <p:cNvPr id="10" name="Rounded Rectangle 9"/>
          <p:cNvSpPr/>
          <p:nvPr/>
        </p:nvSpPr>
        <p:spPr>
          <a:xfrm>
            <a:off x="502920" y="3567988"/>
            <a:ext cx="6778447" cy="612190"/>
          </a:xfrm>
          <a:prstGeom prst="roundRect">
            <a:avLst>
              <a:gd name="adj" fmla="val 17923"/>
            </a:avLst>
          </a:prstGeom>
          <a:solidFill>
            <a:srgbClr val="FFFFFF"/>
          </a:solidFill>
          <a:ln w="12700">
            <a:solidFill>
              <a:srgbClr val="D9D9D9"/>
            </a:solidFill>
          </a:ln>
          <a:effectLst/>
        </p:spPr>
        <p:txBody>
          <a:bodyPr rtlCol="0" anchor="ctr"/>
          <a:lstStyle/>
          <a:p/>
        </p:txBody>
      </p:sp>
      <p:sp>
        <p:nvSpPr>
          <p:cNvPr id="11" name="Oval 10"/>
          <p:cNvSpPr/>
          <p:nvPr/>
        </p:nvSpPr>
        <p:spPr>
          <a:xfrm>
            <a:off x="603504" y="364548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567988"/>
            <a:ext cx="6028639" cy="612190"/>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Yalnız III</a:t>
            </a:r>
          </a:p>
          <a:p>
            <a:pPr algn="l">
              <a:spcBef>
                <a:spcPts val="0"/>
              </a:spcBef>
              <a:spcAft>
                <a:spcPts val="0"/>
              </a:spcAft>
            </a:pPr>
            <a:r>
              <a:rPr lang="tr-TR" sz="1440" b="0" i="0">
                <a:solidFill>
                  <a:srgbClr val="767676"/>
                </a:solidFill>
                <a:latin typeface="Calibri"/>
              </a:rPr>
              <a:t>→ Eksik: İspanya ve Türkiye de</a:t>
            </a:r>
          </a:p>
        </p:txBody>
      </p:sp>
      <p:sp>
        <p:nvSpPr>
          <p:cNvPr id="13" name="Rounded Rectangle 12"/>
          <p:cNvSpPr/>
          <p:nvPr/>
        </p:nvSpPr>
        <p:spPr>
          <a:xfrm>
            <a:off x="502920" y="4271619"/>
            <a:ext cx="6778447" cy="612190"/>
          </a:xfrm>
          <a:prstGeom prst="roundRect">
            <a:avLst>
              <a:gd name="adj" fmla="val 17923"/>
            </a:avLst>
          </a:prstGeom>
          <a:solidFill>
            <a:srgbClr val="FFFFFF"/>
          </a:solidFill>
          <a:ln w="12700">
            <a:solidFill>
              <a:srgbClr val="D9D9D9"/>
            </a:solidFill>
          </a:ln>
          <a:effectLst/>
        </p:spPr>
        <p:txBody>
          <a:bodyPr rtlCol="0" anchor="ctr"/>
          <a:lstStyle/>
          <a:p/>
        </p:txBody>
      </p:sp>
      <p:sp>
        <p:nvSpPr>
          <p:cNvPr id="14" name="Oval 13"/>
          <p:cNvSpPr/>
          <p:nvPr/>
        </p:nvSpPr>
        <p:spPr>
          <a:xfrm>
            <a:off x="603504" y="4349115"/>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4271619"/>
            <a:ext cx="6028639" cy="612190"/>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I ve II</a:t>
            </a:r>
          </a:p>
          <a:p>
            <a:pPr algn="l">
              <a:spcBef>
                <a:spcPts val="0"/>
              </a:spcBef>
              <a:spcAft>
                <a:spcPts val="0"/>
              </a:spcAft>
            </a:pPr>
            <a:r>
              <a:rPr lang="tr-TR" sz="1440" b="0" i="0">
                <a:solidFill>
                  <a:srgbClr val="767676"/>
                </a:solidFill>
                <a:latin typeface="Calibri"/>
              </a:rPr>
              <a:t>→ Eksik: Yunanistan da</a:t>
            </a:r>
          </a:p>
        </p:txBody>
      </p:sp>
      <p:sp>
        <p:nvSpPr>
          <p:cNvPr id="16" name="Rounded Rectangle 15"/>
          <p:cNvSpPr/>
          <p:nvPr/>
        </p:nvSpPr>
        <p:spPr>
          <a:xfrm>
            <a:off x="502920" y="4975250"/>
            <a:ext cx="6778447" cy="612190"/>
          </a:xfrm>
          <a:prstGeom prst="roundRect">
            <a:avLst>
              <a:gd name="adj" fmla="val 17923"/>
            </a:avLst>
          </a:prstGeom>
          <a:solidFill>
            <a:srgbClr val="FFFFFF"/>
          </a:solidFill>
          <a:ln w="12700">
            <a:solidFill>
              <a:srgbClr val="D9D9D9"/>
            </a:solidFill>
          </a:ln>
          <a:effectLst/>
        </p:spPr>
        <p:txBody>
          <a:bodyPr rtlCol="0" anchor="ctr"/>
          <a:lstStyle/>
          <a:p/>
        </p:txBody>
      </p:sp>
      <p:sp>
        <p:nvSpPr>
          <p:cNvPr id="17" name="Oval 16"/>
          <p:cNvSpPr/>
          <p:nvPr/>
        </p:nvSpPr>
        <p:spPr>
          <a:xfrm>
            <a:off x="603504" y="5052745"/>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975250"/>
            <a:ext cx="6028639" cy="612190"/>
          </a:xfrm>
          <a:prstGeom prst="rect">
            <a:avLst/>
          </a:prstGeom>
          <a:noFill/>
        </p:spPr>
        <p:txBody>
          <a:bodyPr wrap="square" anchor="ctr" lIns="73152" rIns="73152" tIns="36576" bIns="36576">
            <a:noAutofit/>
          </a:bodyPr>
          <a:lstStyle/>
          <a:p>
            <a:pPr algn="l">
              <a:spcBef>
                <a:spcPts val="0"/>
              </a:spcBef>
              <a:spcAft>
                <a:spcPts val="200"/>
              </a:spcAft>
            </a:pPr>
            <a:r>
              <a:rPr lang="tr-TR" sz="1800" b="0" i="0">
                <a:solidFill>
                  <a:srgbClr val="767676"/>
                </a:solidFill>
                <a:latin typeface="Calibri"/>
              </a:rPr>
              <a:t>II ve III</a:t>
            </a:r>
          </a:p>
          <a:p>
            <a:pPr algn="l">
              <a:spcBef>
                <a:spcPts val="0"/>
              </a:spcBef>
              <a:spcAft>
                <a:spcPts val="0"/>
              </a:spcAft>
            </a:pPr>
            <a:r>
              <a:rPr lang="tr-TR" sz="1440" b="0" i="0">
                <a:solidFill>
                  <a:srgbClr val="767676"/>
                </a:solidFill>
                <a:latin typeface="Calibri"/>
              </a:rPr>
              <a:t>→ Eksik: İspanya da</a:t>
            </a:r>
          </a:p>
        </p:txBody>
      </p:sp>
      <p:sp>
        <p:nvSpPr>
          <p:cNvPr id="19" name="Rounded Rectangle 18"/>
          <p:cNvSpPr/>
          <p:nvPr/>
        </p:nvSpPr>
        <p:spPr>
          <a:xfrm>
            <a:off x="502920" y="5678881"/>
            <a:ext cx="6778447" cy="612190"/>
          </a:xfrm>
          <a:prstGeom prst="roundRect">
            <a:avLst>
              <a:gd name="adj" fmla="val 17923"/>
            </a:avLst>
          </a:prstGeom>
          <a:solidFill>
            <a:srgbClr val="E3F1E4"/>
          </a:solidFill>
          <a:ln w="31750">
            <a:solidFill>
              <a:srgbClr val="2E7D32"/>
            </a:solidFill>
          </a:ln>
          <a:effectLst/>
        </p:spPr>
        <p:txBody>
          <a:bodyPr rtlCol="0" anchor="ctr"/>
          <a:lstStyle/>
          <a:p/>
        </p:txBody>
      </p:sp>
      <p:sp>
        <p:nvSpPr>
          <p:cNvPr id="20" name="Oval 19"/>
          <p:cNvSpPr/>
          <p:nvPr/>
        </p:nvSpPr>
        <p:spPr>
          <a:xfrm>
            <a:off x="603504" y="575637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678881"/>
            <a:ext cx="6028639" cy="612190"/>
          </a:xfrm>
          <a:prstGeom prst="rect">
            <a:avLst/>
          </a:prstGeom>
          <a:noFill/>
        </p:spPr>
        <p:txBody>
          <a:bodyPr wrap="square" anchor="ctr" lIns="73152" rIns="73152" tIns="36576" bIns="36576">
            <a:noAutofit/>
          </a:bodyPr>
          <a:lstStyle/>
          <a:p>
            <a:pPr algn="l">
              <a:spcBef>
                <a:spcPts val="0"/>
              </a:spcBef>
              <a:spcAft>
                <a:spcPts val="200"/>
              </a:spcAft>
            </a:pPr>
            <a:r>
              <a:rPr lang="tr-TR" sz="1800" b="1" i="0">
                <a:solidFill>
                  <a:srgbClr val="262626"/>
                </a:solidFill>
                <a:latin typeface="Calibri"/>
              </a:rPr>
              <a:t>I, II ve III</a:t>
            </a:r>
          </a:p>
          <a:p>
            <a:pPr algn="l">
              <a:spcBef>
                <a:spcPts val="0"/>
              </a:spcBef>
              <a:spcAft>
                <a:spcPts val="0"/>
              </a:spcAft>
            </a:pPr>
            <a:r>
              <a:rPr lang="tr-TR" sz="1440" b="0" i="0">
                <a:solidFill>
                  <a:srgbClr val="2E7D32"/>
                </a:solidFill>
                <a:latin typeface="Calibri"/>
              </a:rPr>
              <a:t>→ Üçünde de Akdeniz iklimi ve maki var</a:t>
            </a:r>
          </a:p>
        </p:txBody>
      </p:sp>
      <p:pic>
        <p:nvPicPr>
          <p:cNvPr id="22" name="Picture 21" descr="sonu_iklim_akdeniz_s218.jpg"/>
          <p:cNvPicPr>
            <a:picLocks noChangeAspect="1"/>
          </p:cNvPicPr>
          <p:nvPr/>
        </p:nvPicPr>
        <p:blipFill>
          <a:blip r:embed="rId3"/>
          <a:stretch>
            <a:fillRect/>
          </a:stretch>
        </p:blipFill>
        <p:spPr>
          <a:xfrm>
            <a:off x="7482535" y="1216152"/>
            <a:ext cx="4206240" cy="1703287"/>
          </a:xfrm>
          <a:prstGeom prst="rect">
            <a:avLst/>
          </a:prstGeom>
          <a:ln w="9525">
            <a:solidFill>
              <a:srgbClr val="D9D9D9"/>
            </a:solidFill>
          </a:ln>
        </p:spPr>
      </p:pic>
      <p:sp>
        <p:nvSpPr>
          <p:cNvPr id="23" name="Oval 22"/>
          <p:cNvSpPr/>
          <p:nvPr/>
        </p:nvSpPr>
        <p:spPr>
          <a:xfrm>
            <a:off x="7849601" y="1884040"/>
            <a:ext cx="347472" cy="347472"/>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I</a:t>
            </a:r>
          </a:p>
        </p:txBody>
      </p:sp>
      <p:sp>
        <p:nvSpPr>
          <p:cNvPr id="24" name="Oval 23"/>
          <p:cNvSpPr/>
          <p:nvPr/>
        </p:nvSpPr>
        <p:spPr>
          <a:xfrm>
            <a:off x="9376867" y="1843962"/>
            <a:ext cx="347472" cy="347472"/>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III</a:t>
            </a:r>
          </a:p>
        </p:txBody>
      </p:sp>
      <p:sp>
        <p:nvSpPr>
          <p:cNvPr id="25" name="Oval 24"/>
          <p:cNvSpPr/>
          <p:nvPr/>
        </p:nvSpPr>
        <p:spPr>
          <a:xfrm>
            <a:off x="10433434" y="2094446"/>
            <a:ext cx="347472" cy="347472"/>
          </a:xfrm>
          <a:prstGeom prst="ellipse">
            <a:avLst/>
          </a:prstGeom>
          <a:solidFill>
            <a:srgbClr val="262626"/>
          </a:solidFill>
          <a:ln>
            <a:noFill/>
          </a:ln>
          <a:effectLst/>
        </p:spPr>
        <p:txBody>
          <a:bodyPr rtlCol="0" anchor="ctr" wrap="none" lIns="0" rIns="0" tIns="0" bIns="0">
            <a:noAutofit/>
          </a:bodyPr>
          <a:lstStyle/>
          <a:p>
            <a:pPr algn="ctr">
              <a:spcBef>
                <a:spcPts val="0"/>
              </a:spcBef>
              <a:spcAft>
                <a:spcPts val="0"/>
              </a:spcAft>
            </a:pPr>
            <a:r>
              <a:rPr lang="tr-TR" sz="1200" b="1" i="0">
                <a:solidFill>
                  <a:srgbClr val="FFFFFF"/>
                </a:solidFill>
                <a:latin typeface="Calibri"/>
              </a:rPr>
              <a:t>II</a:t>
            </a:r>
          </a:p>
        </p:txBody>
      </p:sp>
      <p:sp>
        <p:nvSpPr>
          <p:cNvPr id="26" name="TextBox 25"/>
          <p:cNvSpPr txBox="1"/>
          <p:nvPr/>
        </p:nvSpPr>
        <p:spPr>
          <a:xfrm>
            <a:off x="7482535" y="2937727"/>
            <a:ext cx="420624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218 (kırpıldı) · numaralar sunuma aittir</a:t>
            </a:r>
          </a:p>
        </p:txBody>
      </p:sp>
      <p:sp>
        <p:nvSpPr>
          <p:cNvPr id="27" name="Rounded Rectangle 26"/>
          <p:cNvSpPr/>
          <p:nvPr/>
        </p:nvSpPr>
        <p:spPr>
          <a:xfrm>
            <a:off x="7482535" y="3285199"/>
            <a:ext cx="4206240" cy="2960153"/>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600"/>
              </a:spcAft>
            </a:pPr>
            <a:r>
              <a:rPr lang="tr-TR" sz="2100" b="1" i="0">
                <a:solidFill>
                  <a:srgbClr val="262626"/>
                </a:solidFill>
                <a:latin typeface="Calibri"/>
              </a:rPr>
              <a:t>Pembe: Akdeniz iklimi</a:t>
            </a:r>
          </a:p>
          <a:p>
            <a:pPr algn="l">
              <a:spcBef>
                <a:spcPts val="0"/>
              </a:spcBef>
              <a:spcAft>
                <a:spcPts val="0"/>
              </a:spcAft>
            </a:pPr>
            <a:r>
              <a:rPr lang="tr-TR" sz="1800" b="0" i="0">
                <a:solidFill>
                  <a:srgbClr val="262626"/>
                </a:solidFill>
                <a:latin typeface="Calibri"/>
              </a:rPr>
              <a:t>Maki, Akdeniz ikliminin doğal bitki örtüsüdür: kurak yaza dayanıklı, her mevsim yeşil çalılıklar.</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180 / 187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7: beşerî kriterler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7</a:t>
            </a:r>
          </a:p>
        </p:txBody>
      </p:sp>
      <p:sp>
        <p:nvSpPr>
          <p:cNvPr id="6" name="Rounded Rectangle 5"/>
          <p:cNvSpPr/>
          <p:nvPr/>
        </p:nvSpPr>
        <p:spPr>
          <a:xfrm>
            <a:off x="502920" y="1216152"/>
            <a:ext cx="11185855" cy="86868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150" b="1" i="0">
                <a:solidFill>
                  <a:srgbClr val="262626"/>
                </a:solidFill>
                <a:latin typeface="Calibri"/>
              </a:rPr>
              <a:t>Aşağıdakilerden hangisi beşerî bölgelerin oluşturulmasında kullanılan kritelerden biri </a:t>
            </a:r>
            <a:r>
              <a:rPr lang="tr-TR" sz="2150" b="1" i="0">
                <a:solidFill>
                  <a:srgbClr val="262626"/>
                </a:solidFill>
                <a:latin typeface="Calibri"/>
              </a:rPr>
              <a:t>değildir</a:t>
            </a:r>
            <a:r>
              <a:rPr lang="tr-TR" sz="2150" b="1" i="0">
                <a:solidFill>
                  <a:srgbClr val="262626"/>
                </a:solidFill>
                <a:latin typeface="Calibri"/>
              </a:rPr>
              <a:t>?</a:t>
            </a:r>
          </a:p>
        </p:txBody>
      </p:sp>
      <p:sp>
        <p:nvSpPr>
          <p:cNvPr id="7" name="Rounded Rectangle 6"/>
          <p:cNvSpPr/>
          <p:nvPr/>
        </p:nvSpPr>
        <p:spPr>
          <a:xfrm>
            <a:off x="502920" y="221284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8" name="Oval 7"/>
          <p:cNvSpPr/>
          <p:nvPr/>
        </p:nvSpPr>
        <p:spPr>
          <a:xfrm>
            <a:off x="603504" y="235000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21284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İdari yapı</a:t>
            </a:r>
          </a:p>
        </p:txBody>
      </p:sp>
      <p:sp>
        <p:nvSpPr>
          <p:cNvPr id="10" name="Rounded Rectangle 9"/>
          <p:cNvSpPr/>
          <p:nvPr/>
        </p:nvSpPr>
        <p:spPr>
          <a:xfrm>
            <a:off x="502920" y="303580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1" name="Oval 10"/>
          <p:cNvSpPr/>
          <p:nvPr/>
        </p:nvSpPr>
        <p:spPr>
          <a:xfrm>
            <a:off x="603504" y="317296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303580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Dinî inanış</a:t>
            </a:r>
          </a:p>
        </p:txBody>
      </p:sp>
      <p:sp>
        <p:nvSpPr>
          <p:cNvPr id="13" name="Rounded Rectangle 12"/>
          <p:cNvSpPr/>
          <p:nvPr/>
        </p:nvSpPr>
        <p:spPr>
          <a:xfrm>
            <a:off x="502920" y="385876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4" name="Oval 13"/>
          <p:cNvSpPr/>
          <p:nvPr/>
        </p:nvSpPr>
        <p:spPr>
          <a:xfrm>
            <a:off x="603504" y="399592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85876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İklim özellikleri</a:t>
            </a:r>
          </a:p>
        </p:txBody>
      </p:sp>
      <p:sp>
        <p:nvSpPr>
          <p:cNvPr id="16" name="Rounded Rectangle 15"/>
          <p:cNvSpPr/>
          <p:nvPr/>
        </p:nvSpPr>
        <p:spPr>
          <a:xfrm>
            <a:off x="502920" y="468172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7" name="Oval 16"/>
          <p:cNvSpPr/>
          <p:nvPr/>
        </p:nvSpPr>
        <p:spPr>
          <a:xfrm>
            <a:off x="603504" y="481888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68172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Yerleşme tipleri</a:t>
            </a:r>
          </a:p>
        </p:txBody>
      </p:sp>
      <p:sp>
        <p:nvSpPr>
          <p:cNvPr id="19" name="Rounded Rectangle 18"/>
          <p:cNvSpPr/>
          <p:nvPr/>
        </p:nvSpPr>
        <p:spPr>
          <a:xfrm>
            <a:off x="502920" y="550468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603504" y="56418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0468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özellikler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181 / 187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7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7</a:t>
            </a:r>
          </a:p>
        </p:txBody>
      </p:sp>
      <p:sp>
        <p:nvSpPr>
          <p:cNvPr id="6" name="Rounded Rectangle 5"/>
          <p:cNvSpPr/>
          <p:nvPr/>
        </p:nvSpPr>
        <p:spPr>
          <a:xfrm>
            <a:off x="502920" y="1216152"/>
            <a:ext cx="11185855" cy="747064"/>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Aşağıdakilerden hangisi beşerî bölgelerin oluşturulmasında kullanılan kritelerden biri </a:t>
            </a:r>
            <a:r>
              <a:rPr lang="tr-TR" sz="1900" b="1" i="0">
                <a:solidFill>
                  <a:srgbClr val="262626"/>
                </a:solidFill>
                <a:latin typeface="Calibri"/>
              </a:rPr>
              <a:t>değildir</a:t>
            </a:r>
            <a:r>
              <a:rPr lang="tr-TR" sz="1900" b="1" i="0">
                <a:solidFill>
                  <a:srgbClr val="262626"/>
                </a:solidFill>
                <a:latin typeface="Calibri"/>
              </a:rPr>
              <a:t>?</a:t>
            </a:r>
          </a:p>
        </p:txBody>
      </p:sp>
      <p:sp>
        <p:nvSpPr>
          <p:cNvPr id="7" name="Rounded Rectangle 6"/>
          <p:cNvSpPr/>
          <p:nvPr/>
        </p:nvSpPr>
        <p:spPr>
          <a:xfrm>
            <a:off x="502920" y="2091232"/>
            <a:ext cx="11185855" cy="766816"/>
          </a:xfrm>
          <a:prstGeom prst="roundRect">
            <a:avLst>
              <a:gd name="adj" fmla="val 14309"/>
            </a:avLst>
          </a:prstGeom>
          <a:solidFill>
            <a:srgbClr val="FFFFFF"/>
          </a:solidFill>
          <a:ln w="12700">
            <a:solidFill>
              <a:srgbClr val="D9D9D9"/>
            </a:solidFill>
          </a:ln>
          <a:effectLst/>
        </p:spPr>
        <p:txBody>
          <a:bodyPr rtlCol="0" anchor="ctr"/>
          <a:lstStyle/>
          <a:p/>
        </p:txBody>
      </p:sp>
      <p:sp>
        <p:nvSpPr>
          <p:cNvPr id="8" name="Oval 7"/>
          <p:cNvSpPr/>
          <p:nvPr/>
        </p:nvSpPr>
        <p:spPr>
          <a:xfrm>
            <a:off x="603504" y="224604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091232"/>
            <a:ext cx="10436047" cy="7668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İdari yapı</a:t>
            </a:r>
          </a:p>
          <a:p>
            <a:pPr algn="l">
              <a:spcBef>
                <a:spcPts val="0"/>
              </a:spcBef>
              <a:spcAft>
                <a:spcPts val="0"/>
              </a:spcAft>
            </a:pPr>
            <a:r>
              <a:rPr lang="tr-TR" sz="1600" b="0" i="0">
                <a:solidFill>
                  <a:srgbClr val="767676"/>
                </a:solidFill>
                <a:latin typeface="Calibri"/>
              </a:rPr>
              <a:t>→ Beşerî: siyasi-idari unsur</a:t>
            </a:r>
          </a:p>
        </p:txBody>
      </p:sp>
      <p:sp>
        <p:nvSpPr>
          <p:cNvPr id="10" name="Rounded Rectangle 9"/>
          <p:cNvSpPr/>
          <p:nvPr/>
        </p:nvSpPr>
        <p:spPr>
          <a:xfrm>
            <a:off x="502920" y="2949488"/>
            <a:ext cx="11185855" cy="766816"/>
          </a:xfrm>
          <a:prstGeom prst="roundRect">
            <a:avLst>
              <a:gd name="adj" fmla="val 14309"/>
            </a:avLst>
          </a:prstGeom>
          <a:solidFill>
            <a:srgbClr val="FFFFFF"/>
          </a:solidFill>
          <a:ln w="12700">
            <a:solidFill>
              <a:srgbClr val="D9D9D9"/>
            </a:solidFill>
          </a:ln>
          <a:effectLst/>
        </p:spPr>
        <p:txBody>
          <a:bodyPr rtlCol="0" anchor="ctr"/>
          <a:lstStyle/>
          <a:p/>
        </p:txBody>
      </p:sp>
      <p:sp>
        <p:nvSpPr>
          <p:cNvPr id="11" name="Oval 10"/>
          <p:cNvSpPr/>
          <p:nvPr/>
        </p:nvSpPr>
        <p:spPr>
          <a:xfrm>
            <a:off x="603504" y="310429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949488"/>
            <a:ext cx="10436047" cy="7668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Dinî inanış</a:t>
            </a:r>
          </a:p>
          <a:p>
            <a:pPr algn="l">
              <a:spcBef>
                <a:spcPts val="0"/>
              </a:spcBef>
              <a:spcAft>
                <a:spcPts val="0"/>
              </a:spcAft>
            </a:pPr>
            <a:r>
              <a:rPr lang="tr-TR" sz="1600" b="0" i="0">
                <a:solidFill>
                  <a:srgbClr val="767676"/>
                </a:solidFill>
                <a:latin typeface="Calibri"/>
              </a:rPr>
              <a:t>→ Beşerî: kültür unsuru</a:t>
            </a:r>
          </a:p>
        </p:txBody>
      </p:sp>
      <p:sp>
        <p:nvSpPr>
          <p:cNvPr id="13" name="Rounded Rectangle 12"/>
          <p:cNvSpPr/>
          <p:nvPr/>
        </p:nvSpPr>
        <p:spPr>
          <a:xfrm>
            <a:off x="502920" y="3807744"/>
            <a:ext cx="11185855" cy="766816"/>
          </a:xfrm>
          <a:prstGeom prst="roundRect">
            <a:avLst>
              <a:gd name="adj" fmla="val 14309"/>
            </a:avLst>
          </a:prstGeom>
          <a:solidFill>
            <a:srgbClr val="E3F1E4"/>
          </a:solidFill>
          <a:ln w="31750">
            <a:solidFill>
              <a:srgbClr val="2E7D32"/>
            </a:solidFill>
          </a:ln>
          <a:effectLst/>
        </p:spPr>
        <p:txBody>
          <a:bodyPr rtlCol="0" anchor="ctr"/>
          <a:lstStyle/>
          <a:p/>
        </p:txBody>
      </p:sp>
      <p:sp>
        <p:nvSpPr>
          <p:cNvPr id="14" name="Oval 13"/>
          <p:cNvSpPr/>
          <p:nvPr/>
        </p:nvSpPr>
        <p:spPr>
          <a:xfrm>
            <a:off x="603504" y="396255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807744"/>
            <a:ext cx="10436047" cy="766816"/>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İklim özellikleri</a:t>
            </a:r>
          </a:p>
          <a:p>
            <a:pPr algn="l">
              <a:spcBef>
                <a:spcPts val="0"/>
              </a:spcBef>
              <a:spcAft>
                <a:spcPts val="0"/>
              </a:spcAft>
            </a:pPr>
            <a:r>
              <a:rPr lang="tr-TR" sz="1600" b="0" i="0">
                <a:solidFill>
                  <a:srgbClr val="2E7D32"/>
                </a:solidFill>
                <a:latin typeface="Calibri"/>
              </a:rPr>
              <a:t>→ Fiziki unsur: doğal şekilsel bölgelerin kriteri</a:t>
            </a:r>
          </a:p>
        </p:txBody>
      </p:sp>
      <p:sp>
        <p:nvSpPr>
          <p:cNvPr id="16" name="Rounded Rectangle 15"/>
          <p:cNvSpPr/>
          <p:nvPr/>
        </p:nvSpPr>
        <p:spPr>
          <a:xfrm>
            <a:off x="502920" y="4666000"/>
            <a:ext cx="11185855" cy="766816"/>
          </a:xfrm>
          <a:prstGeom prst="roundRect">
            <a:avLst>
              <a:gd name="adj" fmla="val 14309"/>
            </a:avLst>
          </a:prstGeom>
          <a:solidFill>
            <a:srgbClr val="FFFFFF"/>
          </a:solidFill>
          <a:ln w="12700">
            <a:solidFill>
              <a:srgbClr val="D9D9D9"/>
            </a:solidFill>
          </a:ln>
          <a:effectLst/>
        </p:spPr>
        <p:txBody>
          <a:bodyPr rtlCol="0" anchor="ctr"/>
          <a:lstStyle/>
          <a:p/>
        </p:txBody>
      </p:sp>
      <p:sp>
        <p:nvSpPr>
          <p:cNvPr id="17" name="Oval 16"/>
          <p:cNvSpPr/>
          <p:nvPr/>
        </p:nvSpPr>
        <p:spPr>
          <a:xfrm>
            <a:off x="603504" y="4820808"/>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666000"/>
            <a:ext cx="10436047" cy="7668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Yerleşme tipleri</a:t>
            </a:r>
          </a:p>
          <a:p>
            <a:pPr algn="l">
              <a:spcBef>
                <a:spcPts val="0"/>
              </a:spcBef>
              <a:spcAft>
                <a:spcPts val="0"/>
              </a:spcAft>
            </a:pPr>
            <a:r>
              <a:rPr lang="tr-TR" sz="1600" b="0" i="0">
                <a:solidFill>
                  <a:srgbClr val="767676"/>
                </a:solidFill>
                <a:latin typeface="Calibri"/>
              </a:rPr>
              <a:t>→ Beşerî: yerleşme (s. 217)</a:t>
            </a:r>
          </a:p>
        </p:txBody>
      </p:sp>
      <p:sp>
        <p:nvSpPr>
          <p:cNvPr id="19" name="Rounded Rectangle 18"/>
          <p:cNvSpPr/>
          <p:nvPr/>
        </p:nvSpPr>
        <p:spPr>
          <a:xfrm>
            <a:off x="502920" y="5524256"/>
            <a:ext cx="11185855" cy="766816"/>
          </a:xfrm>
          <a:prstGeom prst="roundRect">
            <a:avLst>
              <a:gd name="adj" fmla="val 14309"/>
            </a:avLst>
          </a:prstGeom>
          <a:solidFill>
            <a:srgbClr val="FFFFFF"/>
          </a:solidFill>
          <a:ln w="12700">
            <a:solidFill>
              <a:srgbClr val="D9D9D9"/>
            </a:solidFill>
          </a:ln>
          <a:effectLst/>
        </p:spPr>
        <p:txBody>
          <a:bodyPr rtlCol="0" anchor="ctr"/>
          <a:lstStyle/>
          <a:p/>
        </p:txBody>
      </p:sp>
      <p:sp>
        <p:nvSpPr>
          <p:cNvPr id="20" name="Oval 19"/>
          <p:cNvSpPr/>
          <p:nvPr/>
        </p:nvSpPr>
        <p:spPr>
          <a:xfrm>
            <a:off x="603504" y="567906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24256"/>
            <a:ext cx="10436047" cy="7668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Ekonomik özellikler</a:t>
            </a:r>
          </a:p>
          <a:p>
            <a:pPr algn="l">
              <a:spcBef>
                <a:spcPts val="0"/>
              </a:spcBef>
              <a:spcAft>
                <a:spcPts val="0"/>
              </a:spcAft>
            </a:pPr>
            <a:r>
              <a:rPr lang="tr-TR" sz="1600" b="0" i="0">
                <a:solidFill>
                  <a:srgbClr val="767676"/>
                </a:solidFill>
                <a:latin typeface="Calibri"/>
              </a:rPr>
              <a:t>→ Beşerî: sanayi, tarım, turizm (s. 217)</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182 / 187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8: işlevsel bölgeler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8</a:t>
            </a:r>
          </a:p>
        </p:txBody>
      </p:sp>
      <p:sp>
        <p:nvSpPr>
          <p:cNvPr id="6" name="Rounded Rectangle 5"/>
          <p:cNvSpPr/>
          <p:nvPr/>
        </p:nvSpPr>
        <p:spPr>
          <a:xfrm>
            <a:off x="502920" y="1216152"/>
            <a:ext cx="11185855" cy="77724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200" b="1" i="0">
                <a:solidFill>
                  <a:srgbClr val="262626"/>
                </a:solidFill>
                <a:latin typeface="Calibri"/>
              </a:rPr>
              <a:t>Aşağıdakilerden hangisi işlevsel bölgeler arasında </a:t>
            </a:r>
            <a:r>
              <a:rPr lang="tr-TR" sz="2200" b="1" i="0">
                <a:solidFill>
                  <a:srgbClr val="262626"/>
                </a:solidFill>
                <a:latin typeface="Calibri"/>
              </a:rPr>
              <a:t>yer almaz</a:t>
            </a:r>
            <a:r>
              <a:rPr lang="tr-TR" sz="2200" b="1" i="0">
                <a:solidFill>
                  <a:srgbClr val="262626"/>
                </a:solidFill>
                <a:latin typeface="Calibri"/>
              </a:rPr>
              <a:t>?</a:t>
            </a:r>
          </a:p>
        </p:txBody>
      </p:sp>
      <p:sp>
        <p:nvSpPr>
          <p:cNvPr id="7" name="Rounded Rectangle 6"/>
          <p:cNvSpPr/>
          <p:nvPr/>
        </p:nvSpPr>
        <p:spPr>
          <a:xfrm>
            <a:off x="502920" y="212140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8" name="Oval 7"/>
          <p:cNvSpPr/>
          <p:nvPr/>
        </p:nvSpPr>
        <p:spPr>
          <a:xfrm>
            <a:off x="603504" y="225856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12140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bölgeleri</a:t>
            </a:r>
          </a:p>
        </p:txBody>
      </p:sp>
      <p:sp>
        <p:nvSpPr>
          <p:cNvPr id="10" name="Rounded Rectangle 9"/>
          <p:cNvSpPr/>
          <p:nvPr/>
        </p:nvSpPr>
        <p:spPr>
          <a:xfrm>
            <a:off x="502920" y="294436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1" name="Oval 10"/>
          <p:cNvSpPr/>
          <p:nvPr/>
        </p:nvSpPr>
        <p:spPr>
          <a:xfrm>
            <a:off x="603504" y="308152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94436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Hizmet bölgeleri</a:t>
            </a:r>
          </a:p>
        </p:txBody>
      </p:sp>
      <p:sp>
        <p:nvSpPr>
          <p:cNvPr id="13" name="Rounded Rectangle 12"/>
          <p:cNvSpPr/>
          <p:nvPr/>
        </p:nvSpPr>
        <p:spPr>
          <a:xfrm>
            <a:off x="502920" y="376732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4" name="Oval 13"/>
          <p:cNvSpPr/>
          <p:nvPr/>
        </p:nvSpPr>
        <p:spPr>
          <a:xfrm>
            <a:off x="603504" y="390448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732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Yönetim bölgeleri</a:t>
            </a:r>
          </a:p>
        </p:txBody>
      </p:sp>
      <p:sp>
        <p:nvSpPr>
          <p:cNvPr id="16" name="Rounded Rectangle 15"/>
          <p:cNvSpPr/>
          <p:nvPr/>
        </p:nvSpPr>
        <p:spPr>
          <a:xfrm>
            <a:off x="502920" y="459028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7" name="Oval 16"/>
          <p:cNvSpPr/>
          <p:nvPr/>
        </p:nvSpPr>
        <p:spPr>
          <a:xfrm>
            <a:off x="603504" y="47274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59028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İstatistik bölgeleri</a:t>
            </a:r>
          </a:p>
        </p:txBody>
      </p:sp>
      <p:sp>
        <p:nvSpPr>
          <p:cNvPr id="19" name="Rounded Rectangle 18"/>
          <p:cNvSpPr/>
          <p:nvPr/>
        </p:nvSpPr>
        <p:spPr>
          <a:xfrm>
            <a:off x="502920" y="541324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603504" y="555040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41324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Kalkınma projesi bölgeleri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183 / 187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8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8</a:t>
            </a:r>
          </a:p>
        </p:txBody>
      </p:sp>
      <p:sp>
        <p:nvSpPr>
          <p:cNvPr id="6" name="Rounded Rectangle 5"/>
          <p:cNvSpPr/>
          <p:nvPr/>
        </p:nvSpPr>
        <p:spPr>
          <a:xfrm>
            <a:off x="502920" y="1216152"/>
            <a:ext cx="11185855" cy="668426"/>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Aşağıdakilerden hangisi işlevsel bölgeler arasında </a:t>
            </a:r>
            <a:r>
              <a:rPr lang="tr-TR" sz="1900" b="1" i="0">
                <a:solidFill>
                  <a:srgbClr val="262626"/>
                </a:solidFill>
                <a:latin typeface="Calibri"/>
              </a:rPr>
              <a:t>yer almaz</a:t>
            </a:r>
            <a:r>
              <a:rPr lang="tr-TR" sz="1900" b="1" i="0">
                <a:solidFill>
                  <a:srgbClr val="262626"/>
                </a:solidFill>
                <a:latin typeface="Calibri"/>
              </a:rPr>
              <a:t>?</a:t>
            </a:r>
          </a:p>
        </p:txBody>
      </p:sp>
      <p:sp>
        <p:nvSpPr>
          <p:cNvPr id="7" name="Rounded Rectangle 6"/>
          <p:cNvSpPr/>
          <p:nvPr/>
        </p:nvSpPr>
        <p:spPr>
          <a:xfrm>
            <a:off x="502920" y="2012594"/>
            <a:ext cx="11185855" cy="782543"/>
          </a:xfrm>
          <a:prstGeom prst="roundRect">
            <a:avLst>
              <a:gd name="adj" fmla="val 14021"/>
            </a:avLst>
          </a:prstGeom>
          <a:solidFill>
            <a:srgbClr val="E3F1E4"/>
          </a:solidFill>
          <a:ln w="31750">
            <a:solidFill>
              <a:srgbClr val="2E7D32"/>
            </a:solidFill>
          </a:ln>
          <a:effectLst/>
        </p:spPr>
        <p:txBody>
          <a:bodyPr rtlCol="0" anchor="ctr"/>
          <a:lstStyle/>
          <a:p/>
        </p:txBody>
      </p:sp>
      <p:sp>
        <p:nvSpPr>
          <p:cNvPr id="8" name="Oval 7"/>
          <p:cNvSpPr/>
          <p:nvPr/>
        </p:nvSpPr>
        <p:spPr>
          <a:xfrm>
            <a:off x="603504" y="2175265"/>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01259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Nüfus bölgeleri</a:t>
            </a:r>
          </a:p>
          <a:p>
            <a:pPr algn="l">
              <a:spcBef>
                <a:spcPts val="0"/>
              </a:spcBef>
              <a:spcAft>
                <a:spcPts val="0"/>
              </a:spcAft>
            </a:pPr>
            <a:r>
              <a:rPr lang="tr-TR" sz="1600" b="0" i="0">
                <a:solidFill>
                  <a:srgbClr val="2E7D32"/>
                </a:solidFill>
                <a:latin typeface="Calibri"/>
              </a:rPr>
              <a:t>→ Nüfusa göre: beşerî şekilsel (s. 219)</a:t>
            </a:r>
          </a:p>
        </p:txBody>
      </p:sp>
      <p:sp>
        <p:nvSpPr>
          <p:cNvPr id="10" name="Rounded Rectangle 9"/>
          <p:cNvSpPr/>
          <p:nvPr/>
        </p:nvSpPr>
        <p:spPr>
          <a:xfrm>
            <a:off x="502920" y="2886577"/>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1" name="Oval 10"/>
          <p:cNvSpPr/>
          <p:nvPr/>
        </p:nvSpPr>
        <p:spPr>
          <a:xfrm>
            <a:off x="603504" y="3049249"/>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886577"/>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Hizmet bölgeleri</a:t>
            </a:r>
          </a:p>
          <a:p>
            <a:pPr algn="l">
              <a:spcBef>
                <a:spcPts val="0"/>
              </a:spcBef>
              <a:spcAft>
                <a:spcPts val="0"/>
              </a:spcAft>
            </a:pPr>
            <a:r>
              <a:rPr lang="tr-TR" sz="1600" b="0" i="0">
                <a:solidFill>
                  <a:srgbClr val="767676"/>
                </a:solidFill>
                <a:latin typeface="Calibri"/>
              </a:rPr>
              <a:t>→ KGM, DSİ: bir merkezden çevreye hizmet</a:t>
            </a:r>
          </a:p>
        </p:txBody>
      </p:sp>
      <p:sp>
        <p:nvSpPr>
          <p:cNvPr id="13" name="Rounded Rectangle 12"/>
          <p:cNvSpPr/>
          <p:nvPr/>
        </p:nvSpPr>
        <p:spPr>
          <a:xfrm>
            <a:off x="502920" y="3760561"/>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4" name="Oval 13"/>
          <p:cNvSpPr/>
          <p:nvPr/>
        </p:nvSpPr>
        <p:spPr>
          <a:xfrm>
            <a:off x="603504" y="392323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0561"/>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Yönetim bölgeleri</a:t>
            </a:r>
          </a:p>
          <a:p>
            <a:pPr algn="l">
              <a:spcBef>
                <a:spcPts val="0"/>
              </a:spcBef>
              <a:spcAft>
                <a:spcPts val="0"/>
              </a:spcAft>
            </a:pPr>
            <a:r>
              <a:rPr lang="tr-TR" sz="1600" b="0" i="0">
                <a:solidFill>
                  <a:srgbClr val="767676"/>
                </a:solidFill>
                <a:latin typeface="Calibri"/>
              </a:rPr>
              <a:t>→ Metropoliten alan: işlevsel (s. 219)</a:t>
            </a:r>
          </a:p>
        </p:txBody>
      </p:sp>
      <p:sp>
        <p:nvSpPr>
          <p:cNvPr id="16" name="Rounded Rectangle 15"/>
          <p:cNvSpPr/>
          <p:nvPr/>
        </p:nvSpPr>
        <p:spPr>
          <a:xfrm>
            <a:off x="502920" y="4634544"/>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7" name="Oval 16"/>
          <p:cNvSpPr/>
          <p:nvPr/>
        </p:nvSpPr>
        <p:spPr>
          <a:xfrm>
            <a:off x="603504" y="479721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63454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İstatistik bölgeleri</a:t>
            </a:r>
          </a:p>
          <a:p>
            <a:pPr algn="l">
              <a:spcBef>
                <a:spcPts val="0"/>
              </a:spcBef>
              <a:spcAft>
                <a:spcPts val="0"/>
              </a:spcAft>
            </a:pPr>
            <a:r>
              <a:rPr lang="tr-TR" sz="1600" b="0" i="0">
                <a:solidFill>
                  <a:srgbClr val="767676"/>
                </a:solidFill>
                <a:latin typeface="Calibri"/>
              </a:rPr>
              <a:t>→ TÜİK istatistik bölgeleri (s. 222)</a:t>
            </a:r>
          </a:p>
        </p:txBody>
      </p:sp>
      <p:sp>
        <p:nvSpPr>
          <p:cNvPr id="19" name="Rounded Rectangle 18"/>
          <p:cNvSpPr/>
          <p:nvPr/>
        </p:nvSpPr>
        <p:spPr>
          <a:xfrm>
            <a:off x="502920" y="5508528"/>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20" name="Oval 19"/>
          <p:cNvSpPr/>
          <p:nvPr/>
        </p:nvSpPr>
        <p:spPr>
          <a:xfrm>
            <a:off x="603504" y="567120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08528"/>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Kalkınma projesi bölgeleri</a:t>
            </a:r>
          </a:p>
          <a:p>
            <a:pPr algn="l">
              <a:spcBef>
                <a:spcPts val="0"/>
              </a:spcBef>
              <a:spcAft>
                <a:spcPts val="0"/>
              </a:spcAft>
            </a:pPr>
            <a:r>
              <a:rPr lang="tr-TR" sz="1600" b="0" i="0">
                <a:solidFill>
                  <a:srgbClr val="767676"/>
                </a:solidFill>
                <a:latin typeface="Calibri"/>
              </a:rPr>
              <a:t>→ GAP, DOKAP (s. 222): merkez ve etki alanı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184 / 187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9: sınırı ülke sınırlarıyla örtüşmeyen bölge</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9</a:t>
            </a:r>
          </a:p>
        </p:txBody>
      </p:sp>
      <p:sp>
        <p:nvSpPr>
          <p:cNvPr id="6" name="Rounded Rectangle 5"/>
          <p:cNvSpPr/>
          <p:nvPr/>
        </p:nvSpPr>
        <p:spPr>
          <a:xfrm>
            <a:off x="502920" y="1216152"/>
            <a:ext cx="11185855" cy="77724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200" b="1" i="0">
                <a:solidFill>
                  <a:srgbClr val="262626"/>
                </a:solidFill>
                <a:latin typeface="Calibri"/>
              </a:rPr>
              <a:t>Aşağıda verilen bölgelerden hangisinin sınırı ile ülke sınırları </a:t>
            </a:r>
            <a:r>
              <a:rPr lang="tr-TR" sz="2200" b="1" i="0">
                <a:solidFill>
                  <a:srgbClr val="262626"/>
                </a:solidFill>
                <a:latin typeface="Calibri"/>
              </a:rPr>
              <a:t>örtüşmemektedir</a:t>
            </a:r>
            <a:r>
              <a:rPr lang="tr-TR" sz="2200" b="1" i="0">
                <a:solidFill>
                  <a:srgbClr val="262626"/>
                </a:solidFill>
                <a:latin typeface="Calibri"/>
              </a:rPr>
              <a:t>?</a:t>
            </a:r>
          </a:p>
        </p:txBody>
      </p:sp>
      <p:sp>
        <p:nvSpPr>
          <p:cNvPr id="7" name="Rounded Rectangle 6"/>
          <p:cNvSpPr/>
          <p:nvPr/>
        </p:nvSpPr>
        <p:spPr>
          <a:xfrm>
            <a:off x="502920" y="212140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8" name="Oval 7"/>
          <p:cNvSpPr/>
          <p:nvPr/>
        </p:nvSpPr>
        <p:spPr>
          <a:xfrm>
            <a:off x="603504" y="225856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12140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NATO</a:t>
            </a:r>
          </a:p>
        </p:txBody>
      </p:sp>
      <p:sp>
        <p:nvSpPr>
          <p:cNvPr id="10" name="Rounded Rectangle 9"/>
          <p:cNvSpPr/>
          <p:nvPr/>
        </p:nvSpPr>
        <p:spPr>
          <a:xfrm>
            <a:off x="502920" y="294436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1" name="Oval 10"/>
          <p:cNvSpPr/>
          <p:nvPr/>
        </p:nvSpPr>
        <p:spPr>
          <a:xfrm>
            <a:off x="603504" y="308152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94436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Birleşmiş Milletler</a:t>
            </a:r>
          </a:p>
        </p:txBody>
      </p:sp>
      <p:sp>
        <p:nvSpPr>
          <p:cNvPr id="13" name="Rounded Rectangle 12"/>
          <p:cNvSpPr/>
          <p:nvPr/>
        </p:nvSpPr>
        <p:spPr>
          <a:xfrm>
            <a:off x="502920" y="376732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4" name="Oval 13"/>
          <p:cNvSpPr/>
          <p:nvPr/>
        </p:nvSpPr>
        <p:spPr>
          <a:xfrm>
            <a:off x="603504" y="390448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732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 Kültür Bölgesi</a:t>
            </a:r>
          </a:p>
        </p:txBody>
      </p:sp>
      <p:sp>
        <p:nvSpPr>
          <p:cNvPr id="16" name="Rounded Rectangle 15"/>
          <p:cNvSpPr/>
          <p:nvPr/>
        </p:nvSpPr>
        <p:spPr>
          <a:xfrm>
            <a:off x="502920" y="459028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7" name="Oval 16"/>
          <p:cNvSpPr/>
          <p:nvPr/>
        </p:nvSpPr>
        <p:spPr>
          <a:xfrm>
            <a:off x="603504" y="47274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59028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İslam İşbirliği Teşkilatı</a:t>
            </a:r>
          </a:p>
        </p:txBody>
      </p:sp>
      <p:sp>
        <p:nvSpPr>
          <p:cNvPr id="19" name="Rounded Rectangle 18"/>
          <p:cNvSpPr/>
          <p:nvPr/>
        </p:nvSpPr>
        <p:spPr>
          <a:xfrm>
            <a:off x="502920" y="5413248"/>
            <a:ext cx="11185855"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603504" y="555040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413248"/>
            <a:ext cx="10436047" cy="7315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Karadeniz Ekonomik İşbirliği Teşkilatı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185 / 187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9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9</a:t>
            </a:r>
          </a:p>
        </p:txBody>
      </p:sp>
      <p:sp>
        <p:nvSpPr>
          <p:cNvPr id="6" name="Rounded Rectangle 5"/>
          <p:cNvSpPr/>
          <p:nvPr/>
        </p:nvSpPr>
        <p:spPr>
          <a:xfrm>
            <a:off x="502920" y="1216152"/>
            <a:ext cx="11185855" cy="668426"/>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Aşağıda verilen bölgelerden hangisinin sınırı ile ülke sınırları </a:t>
            </a:r>
            <a:r>
              <a:rPr lang="tr-TR" sz="1900" b="1" i="0">
                <a:solidFill>
                  <a:srgbClr val="262626"/>
                </a:solidFill>
                <a:latin typeface="Calibri"/>
              </a:rPr>
              <a:t>örtüşmemektedir</a:t>
            </a:r>
            <a:r>
              <a:rPr lang="tr-TR" sz="1900" b="1" i="0">
                <a:solidFill>
                  <a:srgbClr val="262626"/>
                </a:solidFill>
                <a:latin typeface="Calibri"/>
              </a:rPr>
              <a:t>?</a:t>
            </a:r>
          </a:p>
        </p:txBody>
      </p:sp>
      <p:sp>
        <p:nvSpPr>
          <p:cNvPr id="7" name="Rounded Rectangle 6"/>
          <p:cNvSpPr/>
          <p:nvPr/>
        </p:nvSpPr>
        <p:spPr>
          <a:xfrm>
            <a:off x="502920" y="2012594"/>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8" name="Oval 7"/>
          <p:cNvSpPr/>
          <p:nvPr/>
        </p:nvSpPr>
        <p:spPr>
          <a:xfrm>
            <a:off x="603504" y="2175265"/>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9" name="TextBox 8"/>
          <p:cNvSpPr txBox="1"/>
          <p:nvPr/>
        </p:nvSpPr>
        <p:spPr>
          <a:xfrm>
            <a:off x="1161288" y="201259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NATO</a:t>
            </a:r>
          </a:p>
          <a:p>
            <a:pPr algn="l">
              <a:spcBef>
                <a:spcPts val="0"/>
              </a:spcBef>
              <a:spcAft>
                <a:spcPts val="0"/>
              </a:spcAft>
            </a:pPr>
            <a:r>
              <a:rPr lang="tr-TR" sz="1600" b="0" i="0">
                <a:solidFill>
                  <a:srgbClr val="767676"/>
                </a:solidFill>
                <a:latin typeface="Calibri"/>
              </a:rPr>
              <a:t>→ Örgüt: sınırı üye ülkelerin sınırları</a:t>
            </a:r>
          </a:p>
        </p:txBody>
      </p:sp>
      <p:sp>
        <p:nvSpPr>
          <p:cNvPr id="10" name="Rounded Rectangle 9"/>
          <p:cNvSpPr/>
          <p:nvPr/>
        </p:nvSpPr>
        <p:spPr>
          <a:xfrm>
            <a:off x="502920" y="2886577"/>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1" name="Oval 10"/>
          <p:cNvSpPr/>
          <p:nvPr/>
        </p:nvSpPr>
        <p:spPr>
          <a:xfrm>
            <a:off x="603504" y="3049249"/>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2" name="TextBox 11"/>
          <p:cNvSpPr txBox="1"/>
          <p:nvPr/>
        </p:nvSpPr>
        <p:spPr>
          <a:xfrm>
            <a:off x="1161288" y="2886577"/>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Birleşmiş Milletler</a:t>
            </a:r>
          </a:p>
          <a:p>
            <a:pPr algn="l">
              <a:spcBef>
                <a:spcPts val="0"/>
              </a:spcBef>
              <a:spcAft>
                <a:spcPts val="0"/>
              </a:spcAft>
            </a:pPr>
            <a:r>
              <a:rPr lang="tr-TR" sz="1600" b="0" i="0">
                <a:solidFill>
                  <a:srgbClr val="767676"/>
                </a:solidFill>
                <a:latin typeface="Calibri"/>
              </a:rPr>
              <a:t>→ Örgüt: sınırı üye ülkelerin sınırları</a:t>
            </a:r>
          </a:p>
        </p:txBody>
      </p:sp>
      <p:sp>
        <p:nvSpPr>
          <p:cNvPr id="13" name="Rounded Rectangle 12"/>
          <p:cNvSpPr/>
          <p:nvPr/>
        </p:nvSpPr>
        <p:spPr>
          <a:xfrm>
            <a:off x="502920" y="3760561"/>
            <a:ext cx="11185855" cy="782543"/>
          </a:xfrm>
          <a:prstGeom prst="roundRect">
            <a:avLst>
              <a:gd name="adj" fmla="val 14021"/>
            </a:avLst>
          </a:prstGeom>
          <a:solidFill>
            <a:srgbClr val="E3F1E4"/>
          </a:solidFill>
          <a:ln w="31750">
            <a:solidFill>
              <a:srgbClr val="2E7D32"/>
            </a:solidFill>
          </a:ln>
          <a:effectLst/>
        </p:spPr>
        <p:txBody>
          <a:bodyPr rtlCol="0" anchor="ctr"/>
          <a:lstStyle/>
          <a:p/>
        </p:txBody>
      </p:sp>
      <p:sp>
        <p:nvSpPr>
          <p:cNvPr id="14" name="Oval 13"/>
          <p:cNvSpPr/>
          <p:nvPr/>
        </p:nvSpPr>
        <p:spPr>
          <a:xfrm>
            <a:off x="603504" y="3923233"/>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TextBox 14"/>
          <p:cNvSpPr txBox="1"/>
          <p:nvPr/>
        </p:nvSpPr>
        <p:spPr>
          <a:xfrm>
            <a:off x="1161288" y="3760561"/>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Türk Kültür Bölgesi</a:t>
            </a:r>
          </a:p>
          <a:p>
            <a:pPr algn="l">
              <a:spcBef>
                <a:spcPts val="0"/>
              </a:spcBef>
              <a:spcAft>
                <a:spcPts val="0"/>
              </a:spcAft>
            </a:pPr>
            <a:r>
              <a:rPr lang="tr-TR" sz="1600" b="0" i="0">
                <a:solidFill>
                  <a:srgbClr val="2E7D32"/>
                </a:solidFill>
                <a:latin typeface="Calibri"/>
              </a:rPr>
              <a:t>→ Kültürün yayılışına göre: ülke sınırlarını izlemez</a:t>
            </a:r>
          </a:p>
        </p:txBody>
      </p:sp>
      <p:sp>
        <p:nvSpPr>
          <p:cNvPr id="16" name="Rounded Rectangle 15"/>
          <p:cNvSpPr/>
          <p:nvPr/>
        </p:nvSpPr>
        <p:spPr>
          <a:xfrm>
            <a:off x="502920" y="4634544"/>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17" name="Oval 16"/>
          <p:cNvSpPr/>
          <p:nvPr/>
        </p:nvSpPr>
        <p:spPr>
          <a:xfrm>
            <a:off x="603504" y="479721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8" name="TextBox 17"/>
          <p:cNvSpPr txBox="1"/>
          <p:nvPr/>
        </p:nvSpPr>
        <p:spPr>
          <a:xfrm>
            <a:off x="1161288" y="4634544"/>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İslam İşbirliği Teşkilatı</a:t>
            </a:r>
          </a:p>
          <a:p>
            <a:pPr algn="l">
              <a:spcBef>
                <a:spcPts val="0"/>
              </a:spcBef>
              <a:spcAft>
                <a:spcPts val="0"/>
              </a:spcAft>
            </a:pPr>
            <a:r>
              <a:rPr lang="tr-TR" sz="1600" b="0" i="0">
                <a:solidFill>
                  <a:srgbClr val="767676"/>
                </a:solidFill>
                <a:latin typeface="Calibri"/>
              </a:rPr>
              <a:t>→ Örgüt: sınırı üye ülkelerin sınırları</a:t>
            </a:r>
          </a:p>
        </p:txBody>
      </p:sp>
      <p:sp>
        <p:nvSpPr>
          <p:cNvPr id="19" name="Rounded Rectangle 18"/>
          <p:cNvSpPr/>
          <p:nvPr/>
        </p:nvSpPr>
        <p:spPr>
          <a:xfrm>
            <a:off x="502920" y="5508528"/>
            <a:ext cx="11185855" cy="782543"/>
          </a:xfrm>
          <a:prstGeom prst="roundRect">
            <a:avLst>
              <a:gd name="adj" fmla="val 14021"/>
            </a:avLst>
          </a:prstGeom>
          <a:solidFill>
            <a:srgbClr val="FFFFFF"/>
          </a:solidFill>
          <a:ln w="12700">
            <a:solidFill>
              <a:srgbClr val="D9D9D9"/>
            </a:solidFill>
          </a:ln>
          <a:effectLst/>
        </p:spPr>
        <p:txBody>
          <a:bodyPr rtlCol="0" anchor="ctr"/>
          <a:lstStyle/>
          <a:p/>
        </p:txBody>
      </p:sp>
      <p:sp>
        <p:nvSpPr>
          <p:cNvPr id="20" name="Oval 19"/>
          <p:cNvSpPr/>
          <p:nvPr/>
        </p:nvSpPr>
        <p:spPr>
          <a:xfrm>
            <a:off x="603504" y="567120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1" name="TextBox 20"/>
          <p:cNvSpPr txBox="1"/>
          <p:nvPr/>
        </p:nvSpPr>
        <p:spPr>
          <a:xfrm>
            <a:off x="1161288" y="5508528"/>
            <a:ext cx="10436047" cy="782543"/>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Karadeniz Ekonomik İşbirliği Teşkilatı</a:t>
            </a:r>
          </a:p>
          <a:p>
            <a:pPr algn="l">
              <a:spcBef>
                <a:spcPts val="0"/>
              </a:spcBef>
              <a:spcAft>
                <a:spcPts val="0"/>
              </a:spcAft>
            </a:pPr>
            <a:r>
              <a:rPr lang="tr-TR" sz="1600" b="0" i="0">
                <a:solidFill>
                  <a:srgbClr val="767676"/>
                </a:solidFill>
                <a:latin typeface="Calibri"/>
              </a:rPr>
              <a:t>→ Örgüt: sınırı üye ülkelerin sınırları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227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186 / 187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Ünitenin özeti ve öz değerlendirme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11185855" cy="548640"/>
          </a:xfrm>
          <a:prstGeom prst="roundRect">
            <a:avLst>
              <a:gd name="adj" fmla="val 8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COĞ.9.7.1 · Bölgelerin belirlenmesinde kullanılan kriterlere göre bölge hakkında çıkarım yapabilme</a:t>
            </a:r>
          </a:p>
        </p:txBody>
      </p:sp>
      <p:sp>
        <p:nvSpPr>
          <p:cNvPr id="7" name="Rounded Rectangle 6"/>
          <p:cNvSpPr/>
          <p:nvPr/>
        </p:nvSpPr>
        <p:spPr>
          <a:xfrm>
            <a:off x="502920" y="1901952"/>
            <a:ext cx="2127443" cy="251460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1901952"/>
            <a:ext cx="2127443" cy="457200"/>
          </a:xfrm>
          <a:prstGeom prst="roundRect">
            <a:avLst>
              <a:gd name="adj" fmla="val 20000"/>
            </a:avLst>
          </a:prstGeom>
          <a:solidFill>
            <a:srgbClr val="2A5D8F"/>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BÖLGE</a:t>
            </a:r>
          </a:p>
        </p:txBody>
      </p:sp>
      <p:sp>
        <p:nvSpPr>
          <p:cNvPr id="9" name="TextBox 8"/>
          <p:cNvSpPr txBox="1"/>
          <p:nvPr/>
        </p:nvSpPr>
        <p:spPr>
          <a:xfrm>
            <a:off x="612648" y="2414016"/>
            <a:ext cx="1907987" cy="1947672"/>
          </a:xfrm>
          <a:prstGeom prst="rect">
            <a:avLst/>
          </a:prstGeom>
          <a:noFill/>
        </p:spPr>
        <p:txBody>
          <a:bodyPr wrap="square" anchor="t" lIns="73152" rIns="73152" tIns="36576" bIns="36576">
            <a:noAutofit/>
          </a:bodyPr>
          <a:lstStyle/>
          <a:p>
            <a:pPr algn="l" marL="205112" indent="-205112">
              <a:spcBef>
                <a:spcPts val="0"/>
              </a:spcBef>
              <a:spcAft>
                <a:spcPts val="0"/>
              </a:spcAft>
            </a:pPr>
            <a:r>
              <a:rPr lang="tr-TR" sz="1650" b="1" i="0">
                <a:solidFill>
                  <a:srgbClr val="2C6696"/>
                </a:solidFill>
                <a:latin typeface="Calibri"/>
              </a:rPr>
              <a:t>•  </a:t>
            </a:r>
            <a:r>
              <a:rPr lang="tr-TR" sz="1650" b="0" i="0">
                <a:solidFill>
                  <a:srgbClr val="262626"/>
                </a:solidFill>
                <a:latin typeface="Calibri"/>
              </a:rPr>
              <a:t>Doğal ve beşerî unsurlar bakımından kendi içinde benzer parça (s. 219)</a:t>
            </a:r>
          </a:p>
        </p:txBody>
      </p:sp>
      <p:sp>
        <p:nvSpPr>
          <p:cNvPr id="10" name="Rounded Rectangle 9"/>
          <p:cNvSpPr/>
          <p:nvPr/>
        </p:nvSpPr>
        <p:spPr>
          <a:xfrm>
            <a:off x="2767523" y="1901952"/>
            <a:ext cx="2127443" cy="251460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2767523" y="1901952"/>
            <a:ext cx="2127443" cy="457200"/>
          </a:xfrm>
          <a:prstGeom prst="roundRect">
            <a:avLst>
              <a:gd name="adj" fmla="val 20000"/>
            </a:avLst>
          </a:prstGeom>
          <a:solidFill>
            <a:srgbClr val="3E7D3A"/>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KRİTER</a:t>
            </a:r>
          </a:p>
        </p:txBody>
      </p:sp>
      <p:sp>
        <p:nvSpPr>
          <p:cNvPr id="12" name="TextBox 11"/>
          <p:cNvSpPr txBox="1"/>
          <p:nvPr/>
        </p:nvSpPr>
        <p:spPr>
          <a:xfrm>
            <a:off x="2877251" y="2414016"/>
            <a:ext cx="1907987" cy="1947672"/>
          </a:xfrm>
          <a:prstGeom prst="rect">
            <a:avLst/>
          </a:prstGeom>
          <a:noFill/>
        </p:spPr>
        <p:txBody>
          <a:bodyPr wrap="square" anchor="t" lIns="73152" rIns="73152" tIns="36576" bIns="36576">
            <a:noAutofit/>
          </a:bodyPr>
          <a:lstStyle/>
          <a:p>
            <a:pPr algn="l" marL="205112" indent="-205112">
              <a:spcBef>
                <a:spcPts val="0"/>
              </a:spcBef>
              <a:spcAft>
                <a:spcPts val="500"/>
              </a:spcAft>
            </a:pPr>
            <a:r>
              <a:rPr lang="tr-TR" sz="1650" b="1" i="0">
                <a:solidFill>
                  <a:srgbClr val="2C6696"/>
                </a:solidFill>
                <a:latin typeface="Calibri"/>
              </a:rPr>
              <a:t>•  </a:t>
            </a:r>
            <a:r>
              <a:rPr lang="tr-TR" sz="1650" b="0" i="0">
                <a:solidFill>
                  <a:srgbClr val="262626"/>
                </a:solidFill>
                <a:latin typeface="Calibri"/>
              </a:rPr>
              <a:t>Fiziki: yer şekilleri, iklim, bitki örtüsü</a:t>
            </a:r>
          </a:p>
          <a:p>
            <a:pPr algn="l" marL="205112" indent="-205112">
              <a:spcBef>
                <a:spcPts val="0"/>
              </a:spcBef>
              <a:spcAft>
                <a:spcPts val="0"/>
              </a:spcAft>
            </a:pPr>
            <a:r>
              <a:rPr lang="tr-TR" sz="1650" b="1" i="0">
                <a:solidFill>
                  <a:srgbClr val="2C6696"/>
                </a:solidFill>
                <a:latin typeface="Calibri"/>
              </a:rPr>
              <a:t>•  </a:t>
            </a:r>
            <a:r>
              <a:rPr lang="tr-TR" sz="1650" b="0" i="0">
                <a:solidFill>
                  <a:srgbClr val="262626"/>
                </a:solidFill>
                <a:latin typeface="Calibri"/>
              </a:rPr>
              <a:t>Beşerî: nüfus, yerleşme, sanayi, tarım, turizm (s. 217)</a:t>
            </a:r>
          </a:p>
        </p:txBody>
      </p:sp>
      <p:sp>
        <p:nvSpPr>
          <p:cNvPr id="13" name="Rounded Rectangle 12"/>
          <p:cNvSpPr/>
          <p:nvPr/>
        </p:nvSpPr>
        <p:spPr>
          <a:xfrm>
            <a:off x="5032126" y="1901952"/>
            <a:ext cx="2127443" cy="251460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5032126" y="1901952"/>
            <a:ext cx="2127443" cy="457200"/>
          </a:xfrm>
          <a:prstGeom prst="roundRect">
            <a:avLst>
              <a:gd name="adj" fmla="val 20000"/>
            </a:avLst>
          </a:prstGeom>
          <a:solidFill>
            <a:srgbClr val="1F6EA8"/>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TÜR</a:t>
            </a:r>
          </a:p>
        </p:txBody>
      </p:sp>
      <p:sp>
        <p:nvSpPr>
          <p:cNvPr id="15" name="TextBox 14"/>
          <p:cNvSpPr txBox="1"/>
          <p:nvPr/>
        </p:nvSpPr>
        <p:spPr>
          <a:xfrm>
            <a:off x="5141854" y="2414016"/>
            <a:ext cx="1907987" cy="1947672"/>
          </a:xfrm>
          <a:prstGeom prst="rect">
            <a:avLst/>
          </a:prstGeom>
          <a:noFill/>
        </p:spPr>
        <p:txBody>
          <a:bodyPr wrap="square" anchor="t" lIns="73152" rIns="73152" tIns="36576" bIns="36576">
            <a:noAutofit/>
          </a:bodyPr>
          <a:lstStyle/>
          <a:p>
            <a:pPr algn="l" marL="205112" indent="-205112">
              <a:spcBef>
                <a:spcPts val="0"/>
              </a:spcBef>
              <a:spcAft>
                <a:spcPts val="500"/>
              </a:spcAft>
            </a:pPr>
            <a:r>
              <a:rPr lang="tr-TR" sz="1650" b="1" i="0">
                <a:solidFill>
                  <a:srgbClr val="2C6696"/>
                </a:solidFill>
                <a:latin typeface="Calibri"/>
              </a:rPr>
              <a:t>•  </a:t>
            </a:r>
            <a:r>
              <a:rPr lang="tr-TR" sz="1650" b="0" i="0">
                <a:solidFill>
                  <a:srgbClr val="262626"/>
                </a:solidFill>
                <a:latin typeface="Calibri"/>
              </a:rPr>
              <a:t>Şekilsel: doğal ya da beşerî, merkezi yok</a:t>
            </a:r>
          </a:p>
          <a:p>
            <a:pPr algn="l" marL="205112" indent="-205112">
              <a:spcBef>
                <a:spcPts val="0"/>
              </a:spcBef>
              <a:spcAft>
                <a:spcPts val="0"/>
              </a:spcAft>
            </a:pPr>
            <a:r>
              <a:rPr lang="tr-TR" sz="1650" b="1" i="0">
                <a:solidFill>
                  <a:srgbClr val="2C6696"/>
                </a:solidFill>
                <a:latin typeface="Calibri"/>
              </a:rPr>
              <a:t>•  </a:t>
            </a:r>
            <a:r>
              <a:rPr lang="tr-TR" sz="1650" b="0" i="0">
                <a:solidFill>
                  <a:srgbClr val="262626"/>
                </a:solidFill>
                <a:latin typeface="Calibri"/>
              </a:rPr>
              <a:t>İşlevsel: çekirdek ve çevre (s. 219)</a:t>
            </a:r>
          </a:p>
        </p:txBody>
      </p:sp>
      <p:sp>
        <p:nvSpPr>
          <p:cNvPr id="16" name="Rounded Rectangle 15"/>
          <p:cNvSpPr/>
          <p:nvPr/>
        </p:nvSpPr>
        <p:spPr>
          <a:xfrm>
            <a:off x="7296729" y="1901952"/>
            <a:ext cx="2127443" cy="25146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7296729" y="1901952"/>
            <a:ext cx="2127443" cy="457200"/>
          </a:xfrm>
          <a:prstGeom prst="roundRect">
            <a:avLst>
              <a:gd name="adj" fmla="val 20000"/>
            </a:avLst>
          </a:prstGeom>
          <a:solidFill>
            <a:srgbClr val="B05A1E"/>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SINIR</a:t>
            </a:r>
          </a:p>
        </p:txBody>
      </p:sp>
      <p:sp>
        <p:nvSpPr>
          <p:cNvPr id="18" name="TextBox 17"/>
          <p:cNvSpPr txBox="1"/>
          <p:nvPr/>
        </p:nvSpPr>
        <p:spPr>
          <a:xfrm>
            <a:off x="7406457" y="2414016"/>
            <a:ext cx="1907987" cy="1947672"/>
          </a:xfrm>
          <a:prstGeom prst="rect">
            <a:avLst/>
          </a:prstGeom>
          <a:noFill/>
        </p:spPr>
        <p:txBody>
          <a:bodyPr wrap="square" anchor="t" lIns="73152" rIns="73152" tIns="36576" bIns="36576">
            <a:noAutofit/>
          </a:bodyPr>
          <a:lstStyle/>
          <a:p>
            <a:pPr algn="l" marL="205112" indent="-205112">
              <a:spcBef>
                <a:spcPts val="0"/>
              </a:spcBef>
              <a:spcAft>
                <a:spcPts val="500"/>
              </a:spcAft>
            </a:pPr>
            <a:r>
              <a:rPr lang="tr-TR" sz="1650" b="1" i="0">
                <a:solidFill>
                  <a:srgbClr val="2C6696"/>
                </a:solidFill>
                <a:latin typeface="Calibri"/>
              </a:rPr>
              <a:t>•  </a:t>
            </a:r>
            <a:r>
              <a:rPr lang="tr-TR" sz="1650" b="0" i="0">
                <a:solidFill>
                  <a:srgbClr val="262626"/>
                </a:solidFill>
                <a:latin typeface="Calibri"/>
              </a:rPr>
              <a:t>Kritere göre çizilir</a:t>
            </a:r>
          </a:p>
          <a:p>
            <a:pPr algn="l" marL="205112" indent="-205112">
              <a:spcBef>
                <a:spcPts val="0"/>
              </a:spcBef>
              <a:spcAft>
                <a:spcPts val="0"/>
              </a:spcAft>
            </a:pPr>
            <a:r>
              <a:rPr lang="tr-TR" sz="1650" b="1" i="0">
                <a:solidFill>
                  <a:srgbClr val="2C6696"/>
                </a:solidFill>
                <a:latin typeface="Calibri"/>
              </a:rPr>
              <a:t>•  </a:t>
            </a:r>
            <a:r>
              <a:rPr lang="tr-TR" sz="1650" b="0" i="0">
                <a:solidFill>
                  <a:srgbClr val="262626"/>
                </a:solidFill>
                <a:latin typeface="Calibri"/>
              </a:rPr>
              <a:t>Kimi net, kimi geçişli (s. 220)</a:t>
            </a:r>
          </a:p>
        </p:txBody>
      </p:sp>
      <p:sp>
        <p:nvSpPr>
          <p:cNvPr id="19" name="Rounded Rectangle 18"/>
          <p:cNvSpPr/>
          <p:nvPr/>
        </p:nvSpPr>
        <p:spPr>
          <a:xfrm>
            <a:off x="9561332" y="1901952"/>
            <a:ext cx="2127443" cy="251460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9561332" y="1901952"/>
            <a:ext cx="2127443" cy="457200"/>
          </a:xfrm>
          <a:prstGeom prst="roundRect">
            <a:avLst>
              <a:gd name="adj" fmla="val 20000"/>
            </a:avLst>
          </a:prstGeom>
          <a:solidFill>
            <a:srgbClr val="4F4F4F"/>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DEĞİŞİM</a:t>
            </a:r>
          </a:p>
        </p:txBody>
      </p:sp>
      <p:sp>
        <p:nvSpPr>
          <p:cNvPr id="21" name="TextBox 20"/>
          <p:cNvSpPr txBox="1"/>
          <p:nvPr/>
        </p:nvSpPr>
        <p:spPr>
          <a:xfrm>
            <a:off x="9671060" y="2414016"/>
            <a:ext cx="1907987" cy="1947672"/>
          </a:xfrm>
          <a:prstGeom prst="rect">
            <a:avLst/>
          </a:prstGeom>
          <a:noFill/>
        </p:spPr>
        <p:txBody>
          <a:bodyPr wrap="square" anchor="t" lIns="73152" rIns="73152" tIns="36576" bIns="36576">
            <a:noAutofit/>
          </a:bodyPr>
          <a:lstStyle/>
          <a:p>
            <a:pPr algn="l" marL="205112" indent="-205112">
              <a:spcBef>
                <a:spcPts val="0"/>
              </a:spcBef>
              <a:spcAft>
                <a:spcPts val="500"/>
              </a:spcAft>
            </a:pPr>
            <a:r>
              <a:rPr lang="tr-TR" sz="1650" b="1" i="0">
                <a:solidFill>
                  <a:srgbClr val="2C6696"/>
                </a:solidFill>
                <a:latin typeface="Calibri"/>
              </a:rPr>
              <a:t>•  </a:t>
            </a:r>
            <a:r>
              <a:rPr lang="tr-TR" sz="1650" b="0" i="0">
                <a:solidFill>
                  <a:srgbClr val="262626"/>
                </a:solidFill>
                <a:latin typeface="Calibri"/>
              </a:rPr>
              <a:t>Doğal şekilsel: uzun sürede</a:t>
            </a:r>
          </a:p>
          <a:p>
            <a:pPr algn="l" marL="205112" indent="-205112">
              <a:spcBef>
                <a:spcPts val="0"/>
              </a:spcBef>
              <a:spcAft>
                <a:spcPts val="0"/>
              </a:spcAft>
            </a:pPr>
            <a:r>
              <a:rPr lang="tr-TR" sz="1650" b="1" i="0">
                <a:solidFill>
                  <a:srgbClr val="2C6696"/>
                </a:solidFill>
                <a:latin typeface="Calibri"/>
              </a:rPr>
              <a:t>•  </a:t>
            </a:r>
            <a:r>
              <a:rPr lang="tr-TR" sz="1650" b="0" i="0">
                <a:solidFill>
                  <a:srgbClr val="262626"/>
                </a:solidFill>
                <a:latin typeface="Calibri"/>
              </a:rPr>
              <a:t>Beşerî ve işlevsel: kısa sürede (s. 223)</a:t>
            </a:r>
          </a:p>
        </p:txBody>
      </p:sp>
      <p:sp>
        <p:nvSpPr>
          <p:cNvPr id="22" name="Rounded Rectangle 21"/>
          <p:cNvSpPr/>
          <p:nvPr/>
        </p:nvSpPr>
        <p:spPr>
          <a:xfrm>
            <a:off x="502920" y="4599432"/>
            <a:ext cx="3606698" cy="1691640"/>
          </a:xfrm>
          <a:prstGeom prst="roundRect">
            <a:avLst>
              <a:gd name="adj" fmla="val 8000"/>
            </a:avLst>
          </a:prstGeom>
          <a:solidFill>
            <a:srgbClr val="FFF3D1"/>
          </a:solidFill>
          <a:ln>
            <a:noFill/>
          </a:ln>
          <a:effectLst/>
        </p:spPr>
        <p:txBody>
          <a:bodyPr rtlCol="0" anchor="ctr"/>
          <a:lstStyle/>
          <a:p/>
        </p:txBody>
      </p:sp>
      <p:sp>
        <p:nvSpPr>
          <p:cNvPr id="23" name="Oval 22"/>
          <p:cNvSpPr/>
          <p:nvPr/>
        </p:nvSpPr>
        <p:spPr>
          <a:xfrm>
            <a:off x="612648" y="470916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1</a:t>
            </a:r>
          </a:p>
        </p:txBody>
      </p:sp>
      <p:sp>
        <p:nvSpPr>
          <p:cNvPr id="24" name="TextBox 23"/>
          <p:cNvSpPr txBox="1"/>
          <p:nvPr/>
        </p:nvSpPr>
        <p:spPr>
          <a:xfrm>
            <a:off x="1097280" y="4645152"/>
            <a:ext cx="2920898" cy="16002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bölgenin hangi kritere göre oluşturulduğunu söyleyebiliyor muyum?</a:t>
            </a:r>
          </a:p>
        </p:txBody>
      </p:sp>
      <p:sp>
        <p:nvSpPr>
          <p:cNvPr id="25" name="Rounded Rectangle 24"/>
          <p:cNvSpPr/>
          <p:nvPr/>
        </p:nvSpPr>
        <p:spPr>
          <a:xfrm>
            <a:off x="4292498" y="4599432"/>
            <a:ext cx="3606698" cy="1691640"/>
          </a:xfrm>
          <a:prstGeom prst="roundRect">
            <a:avLst>
              <a:gd name="adj" fmla="val 8000"/>
            </a:avLst>
          </a:prstGeom>
          <a:solidFill>
            <a:srgbClr val="FFF3D1"/>
          </a:solidFill>
          <a:ln>
            <a:noFill/>
          </a:ln>
          <a:effectLst/>
        </p:spPr>
        <p:txBody>
          <a:bodyPr rtlCol="0" anchor="ctr"/>
          <a:lstStyle/>
          <a:p/>
        </p:txBody>
      </p:sp>
      <p:sp>
        <p:nvSpPr>
          <p:cNvPr id="26" name="Oval 25"/>
          <p:cNvSpPr/>
          <p:nvPr/>
        </p:nvSpPr>
        <p:spPr>
          <a:xfrm>
            <a:off x="4402226" y="470916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2</a:t>
            </a:r>
          </a:p>
        </p:txBody>
      </p:sp>
      <p:sp>
        <p:nvSpPr>
          <p:cNvPr id="27" name="TextBox 26"/>
          <p:cNvSpPr txBox="1"/>
          <p:nvPr/>
        </p:nvSpPr>
        <p:spPr>
          <a:xfrm>
            <a:off x="4886858" y="4645152"/>
            <a:ext cx="2920898" cy="16002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alanın birden çok bölgede yer aldığını örnekle açıklayabiliyor muyum?</a:t>
            </a:r>
          </a:p>
        </p:txBody>
      </p:sp>
      <p:sp>
        <p:nvSpPr>
          <p:cNvPr id="28" name="Rounded Rectangle 27"/>
          <p:cNvSpPr/>
          <p:nvPr/>
        </p:nvSpPr>
        <p:spPr>
          <a:xfrm>
            <a:off x="8082076" y="4599432"/>
            <a:ext cx="3606698" cy="1691640"/>
          </a:xfrm>
          <a:prstGeom prst="roundRect">
            <a:avLst>
              <a:gd name="adj" fmla="val 8000"/>
            </a:avLst>
          </a:prstGeom>
          <a:solidFill>
            <a:srgbClr val="FFF3D1"/>
          </a:solidFill>
          <a:ln>
            <a:noFill/>
          </a:ln>
          <a:effectLst/>
        </p:spPr>
        <p:txBody>
          <a:bodyPr rtlCol="0" anchor="ctr"/>
          <a:lstStyle/>
          <a:p/>
        </p:txBody>
      </p:sp>
      <p:sp>
        <p:nvSpPr>
          <p:cNvPr id="29" name="Oval 28"/>
          <p:cNvSpPr/>
          <p:nvPr/>
        </p:nvSpPr>
        <p:spPr>
          <a:xfrm>
            <a:off x="8191804" y="470916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3</a:t>
            </a:r>
          </a:p>
        </p:txBody>
      </p:sp>
      <p:sp>
        <p:nvSpPr>
          <p:cNvPr id="30" name="TextBox 29"/>
          <p:cNvSpPr txBox="1"/>
          <p:nvPr/>
        </p:nvSpPr>
        <p:spPr>
          <a:xfrm>
            <a:off x="8676436" y="4645152"/>
            <a:ext cx="2920898" cy="16002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Hangi soruda zorlandım, neyi tekrar etmeliyim?</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217-223</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187 / 187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Öğretim programı ve etkinlikler.</a:t>
            </a:r>
            <a:r>
              <a:rPr lang="tr-TR" sz="1700" b="0" i="0">
                <a:solidFill>
                  <a:srgbClr val="262626"/>
                </a:solidFill>
                <a:latin typeface="Calibri"/>
              </a:rPr>
              <a:t> Coğrafya dersi öğretim programı (2026 nüshası): Talim ve Terbiye Kurulunun 23.05.2024 tarihli ve 20 sayılı kararıyla kabul edilen, 13.05.2026 tarihli ve 53 sayılı kararıyla güncellenen program.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GNL-COG9-SN-U7 — Ünite sonu · Ünite sonu ölçme ve değerlendirme (slayt 146-187)</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