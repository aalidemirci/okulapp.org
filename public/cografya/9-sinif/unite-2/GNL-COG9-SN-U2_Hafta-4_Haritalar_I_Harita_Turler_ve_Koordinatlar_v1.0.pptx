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tr-TR"/>
    </a:defPPr>
    <a:lvl1pPr marL="0" algn="l" defTabSz="457200" rtl="0" eaLnBrk="1" latinLnBrk="0" hangingPunct="1">
      <a:defRPr lang="tr-TR" sz="1800" kern="1200">
        <a:solidFill>
          <a:schemeClr val="tx1"/>
        </a:solidFill>
        <a:latin typeface="+mn-lt"/>
        <a:ea typeface="+mn-ea"/>
        <a:cs typeface="+mn-cs"/>
      </a:defRPr>
    </a:lvl1pPr>
    <a:lvl2pPr marL="457200" algn="l" defTabSz="457200" rtl="0" eaLnBrk="1" latinLnBrk="0" hangingPunct="1">
      <a:defRPr lang="tr-TR" sz="1800" kern="1200">
        <a:solidFill>
          <a:schemeClr val="tx1"/>
        </a:solidFill>
        <a:latin typeface="+mn-lt"/>
        <a:ea typeface="+mn-ea"/>
        <a:cs typeface="+mn-cs"/>
      </a:defRPr>
    </a:lvl2pPr>
    <a:lvl3pPr marL="914400" algn="l" defTabSz="457200" rtl="0" eaLnBrk="1" latinLnBrk="0" hangingPunct="1">
      <a:defRPr lang="tr-TR" sz="1800" kern="1200">
        <a:solidFill>
          <a:schemeClr val="tx1"/>
        </a:solidFill>
        <a:latin typeface="+mn-lt"/>
        <a:ea typeface="+mn-ea"/>
        <a:cs typeface="+mn-cs"/>
      </a:defRPr>
    </a:lvl3pPr>
    <a:lvl4pPr marL="1371600" algn="l" defTabSz="457200" rtl="0" eaLnBrk="1" latinLnBrk="0" hangingPunct="1">
      <a:defRPr lang="tr-TR" sz="1800" kern="1200">
        <a:solidFill>
          <a:schemeClr val="tx1"/>
        </a:solidFill>
        <a:latin typeface="+mn-lt"/>
        <a:ea typeface="+mn-ea"/>
        <a:cs typeface="+mn-cs"/>
      </a:defRPr>
    </a:lvl4pPr>
    <a:lvl5pPr marL="1828800" algn="l" defTabSz="457200" rtl="0" eaLnBrk="1" latinLnBrk="0" hangingPunct="1">
      <a:defRPr lang="tr-TR" sz="1800" kern="1200">
        <a:solidFill>
          <a:schemeClr val="tx1"/>
        </a:solidFill>
        <a:latin typeface="+mn-lt"/>
        <a:ea typeface="+mn-ea"/>
        <a:cs typeface="+mn-cs"/>
      </a:defRPr>
    </a:lvl5pPr>
    <a:lvl6pPr marL="2286000" algn="l" defTabSz="457200" rtl="0" eaLnBrk="1" latinLnBrk="0" hangingPunct="1">
      <a:defRPr lang="tr-TR" sz="1800" kern="1200">
        <a:solidFill>
          <a:schemeClr val="tx1"/>
        </a:solidFill>
        <a:latin typeface="+mn-lt"/>
        <a:ea typeface="+mn-ea"/>
        <a:cs typeface="+mn-cs"/>
      </a:defRPr>
    </a:lvl6pPr>
    <a:lvl7pPr marL="2743200" algn="l" defTabSz="457200" rtl="0" eaLnBrk="1" latinLnBrk="0" hangingPunct="1">
      <a:defRPr lang="tr-TR" sz="1800" kern="1200">
        <a:solidFill>
          <a:schemeClr val="tx1"/>
        </a:solidFill>
        <a:latin typeface="+mn-lt"/>
        <a:ea typeface="+mn-ea"/>
        <a:cs typeface="+mn-cs"/>
      </a:defRPr>
    </a:lvl7pPr>
    <a:lvl8pPr marL="3200400" algn="l" defTabSz="457200" rtl="0" eaLnBrk="1" latinLnBrk="0" hangingPunct="1">
      <a:defRPr lang="tr-TR" sz="1800" kern="1200">
        <a:solidFill>
          <a:schemeClr val="tx1"/>
        </a:solidFill>
        <a:latin typeface="+mn-lt"/>
        <a:ea typeface="+mn-ea"/>
        <a:cs typeface="+mn-cs"/>
      </a:defRPr>
    </a:lvl8pPr>
    <a:lvl9pPr marL="3657600" algn="l" defTabSz="457200" rtl="0" eaLnBrk="1" latinLnBrk="0" hangingPunct="1">
      <a:defRPr lang="tr-T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lang="tr-TR" sz="1200"/>
            </a:lvl1pPr>
          </a:lstStyle>
          <a:p>
            <a:endParaRPr lang="tr-T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lang="tr-TR" sz="1200"/>
            </a:lvl1pPr>
          </a:lstStyle>
          <a:p>
            <a:fld id="{0F89C1C7-3DCD-1040-A9CF-14679D8B5DDD}" type="datetimeFigureOut">
              <a:rPr lang="tr-TR" smtClean="0"/>
              <a:t>10/17/16</a:t>
            </a:fld>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lang="tr-TR" sz="1200"/>
            </a:lvl1pPr>
          </a:lstStyle>
          <a:p>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lang="tr-TR" sz="1200"/>
            </a:lvl1pPr>
          </a:lstStyle>
          <a:p>
            <a:fld id="{BB5E49A5-4136-284D-997B-48E1D791AD67}" type="slidenum">
              <a:rPr lang="tr-TR" smtClean="0"/>
              <a:t>‹#›</a:t>
            </a:fld>
            <a:endParaRPr lang="tr-TR"/>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lang="tr-TR" sz="1200" kern="1200">
        <a:solidFill>
          <a:schemeClr val="tx1"/>
        </a:solidFill>
        <a:latin typeface="+mn-lt"/>
        <a:ea typeface="+mn-ea"/>
        <a:cs typeface="+mn-cs"/>
      </a:defRPr>
    </a:lvl1pPr>
    <a:lvl2pPr marL="457200" algn="l" defTabSz="457200" rtl="0" eaLnBrk="1" latinLnBrk="0" hangingPunct="1">
      <a:defRPr lang="tr-TR" sz="1200" kern="1200">
        <a:solidFill>
          <a:schemeClr val="tx1"/>
        </a:solidFill>
        <a:latin typeface="+mn-lt"/>
        <a:ea typeface="+mn-ea"/>
        <a:cs typeface="+mn-cs"/>
      </a:defRPr>
    </a:lvl2pPr>
    <a:lvl3pPr marL="914400" algn="l" defTabSz="457200" rtl="0" eaLnBrk="1" latinLnBrk="0" hangingPunct="1">
      <a:defRPr lang="tr-TR" sz="1200" kern="1200">
        <a:solidFill>
          <a:schemeClr val="tx1"/>
        </a:solidFill>
        <a:latin typeface="+mn-lt"/>
        <a:ea typeface="+mn-ea"/>
        <a:cs typeface="+mn-cs"/>
      </a:defRPr>
    </a:lvl3pPr>
    <a:lvl4pPr marL="1371600" algn="l" defTabSz="457200" rtl="0" eaLnBrk="1" latinLnBrk="0" hangingPunct="1">
      <a:defRPr lang="tr-TR" sz="1200" kern="1200">
        <a:solidFill>
          <a:schemeClr val="tx1"/>
        </a:solidFill>
        <a:latin typeface="+mn-lt"/>
        <a:ea typeface="+mn-ea"/>
        <a:cs typeface="+mn-cs"/>
      </a:defRPr>
    </a:lvl4pPr>
    <a:lvl5pPr marL="1828800" algn="l" defTabSz="457200" rtl="0" eaLnBrk="1" latinLnBrk="0" hangingPunct="1">
      <a:defRPr lang="tr-TR" sz="1200" kern="1200">
        <a:solidFill>
          <a:schemeClr val="tx1"/>
        </a:solidFill>
        <a:latin typeface="+mn-lt"/>
        <a:ea typeface="+mn-ea"/>
        <a:cs typeface="+mn-cs"/>
      </a:defRPr>
    </a:lvl5pPr>
    <a:lvl6pPr marL="2286000" algn="l" defTabSz="457200" rtl="0" eaLnBrk="1" latinLnBrk="0" hangingPunct="1">
      <a:defRPr lang="tr-TR" sz="1200" kern="1200">
        <a:solidFill>
          <a:schemeClr val="tx1"/>
        </a:solidFill>
        <a:latin typeface="+mn-lt"/>
        <a:ea typeface="+mn-ea"/>
        <a:cs typeface="+mn-cs"/>
      </a:defRPr>
    </a:lvl6pPr>
    <a:lvl7pPr marL="2743200" algn="l" defTabSz="457200" rtl="0" eaLnBrk="1" latinLnBrk="0" hangingPunct="1">
      <a:defRPr lang="tr-TR" sz="1200" kern="1200">
        <a:solidFill>
          <a:schemeClr val="tx1"/>
        </a:solidFill>
        <a:latin typeface="+mn-lt"/>
        <a:ea typeface="+mn-ea"/>
        <a:cs typeface="+mn-cs"/>
      </a:defRPr>
    </a:lvl7pPr>
    <a:lvl8pPr marL="3200400" algn="l" defTabSz="457200" rtl="0" eaLnBrk="1" latinLnBrk="0" hangingPunct="1">
      <a:defRPr lang="tr-TR" sz="1200" kern="1200">
        <a:solidFill>
          <a:schemeClr val="tx1"/>
        </a:solidFill>
        <a:latin typeface="+mn-lt"/>
        <a:ea typeface="+mn-ea"/>
        <a:cs typeface="+mn-cs"/>
      </a:defRPr>
    </a:lvl8pPr>
    <a:lvl9pPr marL="3657600" algn="l" defTabSz="457200" rtl="0" eaLnBrk="1" latinLnBrk="0" hangingPunct="1">
      <a:defRPr lang="tr-T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Üniteyi tanıtmak; kapak fotoğrafıyla haritanın 'nerede?' sorusuna verdiği cevaba ilk bakışı açmak.</a:t>
            </a:r>
          </a:p>
          <a:p/>
          <a:p>
            <a:r>
              <a:t>SÜRE: Ünite açılışı aşamasında (4. hafta, ilk 3 dk) — 1-6. slaytlar.</a:t>
            </a:r>
          </a:p>
          <a:p/>
          <a:p>
            <a:r>
              <a:t>NASIL: Fotoğrafı 20 saniye inceletin: 'Bu kişiler yolunu nasıl buluyor? Ellerinde hangi araçlar var?' Cevapları tahtanın köşesine yazın; 8. haftada uydu, GPS ve CBS ile karşılaştıracağız.</a:t>
            </a:r>
          </a:p>
          <a:p/>
          <a:p>
            <a:r>
              <a:t>BEKLENEN CEVAP: Kâğıt bir harita (yer şekillerini renklerle gösteren fiziki harita; üzerinde il adları okunuyor) ve pusula. Harita yeri ve yolu, pusula yönü gösterir; ikisi birlikte 'Neredeyim, nereye gidiyorum?' sorusuna cevap verir.</a:t>
            </a:r>
          </a:p>
          <a:p/>
          <a:p>
            <a:r>
              <a:t>KAYNAK: Ders kitabı s. 32-33 ünite açılış görseli (kitapta fotoğrafın yeri yazılmaz).</a:t>
            </a:r>
          </a:p>
          <a:p/>
          <a:p>
            <a:r>
              <a:t>NOT: Bu sunum yalnız okul içi ders kullanımı içindir: harita ve fotoğraflar MEB ders kitabındandır; dosya okul dışında paylaşılmaz, internete konmaz.</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Ünitenin üç öğrenme çıktısını ve hangi haftalarda işleneceğini göstermek.</a:t>
            </a:r>
          </a:p>
          <a:p/>
          <a:p>
            <a:r>
              <a:t>NASIL: Kartları soldan sağa okuyun; her kartın altındaki italik cümle kitabın ünite açılışındaki amaç cümlesidir. 'Bu ünitenin sonunda kendi turizm haritanızı üreteceksiniz' diyerek performans görevini önceden duyurun (6. haftada verilir).</a:t>
            </a:r>
          </a:p>
          <a:p/>
          <a:p>
            <a:r>
              <a:t>KAYNAK: Program (2026): COĞ.9.2.1-9.2.3; kitap s. 32 'Bu ünitede … amaçlanmaktadır.'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Ünitede kullanılacak ölçme araçlarını öğrencinin diliyle duyurmak.</a:t>
            </a:r>
          </a:p>
          <a:p/>
          <a:p>
            <a:r>
              <a:t>NASIL: Dört kartı kısaca tanıtın; hangisinin hangi hafta yapılacağını alttaki çiplerden gösterin. Kontrol listesi, grup değerlendirme formu ve analitik dereceli puanlama anahtarı kitaptaki karekodlardadır; çıktıları öğretmen getirir (öğrenci telefonu kullanılmaz). Ünite sonunda 7 ölçme sorusu vardır (s. 71-73).</a:t>
            </a:r>
          </a:p>
          <a:p/>
          <a:p>
            <a:r>
              <a:t>KAYNAK: Kitap s. 32: 'Ünitede sizden … beklenmektedir.' Program, Öğrenme Kanıtları.</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Ünitenin on altı anahtar kavramını dört grupta göstermek.</a:t>
            </a:r>
          </a:p>
          <a:p/>
          <a:p>
            <a:r>
              <a:t>NASIL: Kavramları sesli okutun; 'Hangilerini ortaokulda duydunuz?' sorusuyla ön bilgiyi yoklayın (programın temel kabulü: paralel ve meridyen, haritanın temel unsurları, bazı tematik haritalar, dijital küre, uydu ve dijital harita bilinir). Gruplama sunum içindir; kavram listesi kitapla aynıdır.</a:t>
            </a:r>
          </a:p>
          <a:p/>
          <a:p>
            <a:r>
              <a:t>KAYNAK: Kitap s. 33 Anahtar Kavramlar (program listesiyle aynı).</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Haftanın öğrenme çıktısını ve süreç bileşenlerini tanıtmak.</a:t>
            </a:r>
          </a:p>
          <a:p/>
          <a:p>
            <a:r>
              <a:t>SÜRE: 80 dakikalık akış (ders planı, 4. hafta): ünite açılışı 3 · ertelenen sunumlar 4 · Başlarken: ön değerlendirme 9 · Konuya Başlarken (köprü kurma), harita, şartlar ve elemanlar 12 · harita türleri 8 · geçiş 4 (40. dk) · koordinat sistemi 12 · Rota Oluşturuyorum 14 · paylaşım 6 · toparlama 8.</a:t>
            </a:r>
          </a:p>
          <a:p/>
          <a:p>
            <a:r>
              <a:t>NASIL: Çıktıyı öğrencinin diliyle söyleyin: 'Bu hafta bir haritayı nasıl okuyacağımızı ve bir yerin konumunu enlem-boylamla nasıl bulacağımızı öğreneceğiz.'</a:t>
            </a:r>
          </a:p>
          <a:p/>
          <a:p>
            <a:r>
              <a:t>KAYNAK: Program (2026) COĞ.9.2.1 a-b; ders planı 4. hafta; kitap 2.1.1 (s. 34-38).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Dersin yol haritasını göstermek (30 sn).</a:t>
            </a:r>
          </a:p>
          <a:p/>
          <a:p>
            <a:r>
              <a:t>NASIL: Her istasyonu bir cümleyle söyleyin; 4. istasyondan sonra dersin ilk yarısı biter. Başlarken bu ünitede ön değerlendirmedir: not verilmez, nereden başlayacağımızı görmek içindir.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3. haftada sunamayan dört grubun gazete haberini dinlemek (1. ünite performans görevi).</a:t>
            </a:r>
          </a:p>
          <a:p/>
          <a:p>
            <a:r>
              <a:t>SÜRE: 4 dk (esnek aşama: zaman daralırsa atlanır, puanlama ürün üzerinden tamamlanır).</a:t>
            </a:r>
          </a:p>
          <a:p/>
          <a:p>
            <a:r>
              <a:t>NASIL: Dört sözcüye birer dakika; zaman sorumlusu süreyi tutar. Dinleyiciler bir övgü ya da bir soru notu yazar. 1. ünite anahtarının 'sunu' ölçütü için not alın.</a:t>
            </a:r>
          </a:p>
          <a:p/>
          <a:p>
            <a:r>
              <a:t>KAYNAK: Ders planı 4. hafta 2. aşama; 1. ünite performans görevi (kitap s. 28).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Ön değerlendirme (not amaçlı değil): günlük hayatta harita ihtiyacı ve bunun dijital karşılığı.</a:t>
            </a:r>
          </a:p>
          <a:p/>
          <a:p>
            <a:r>
              <a:t>SÜRE: Başlarken 9 dk: 1. bölüm 2 dk · 2. bölüm (Irma) 5 dk · c şıkkı ve toplama 2 dk.</a:t>
            </a:r>
          </a:p>
          <a:p/>
          <a:p>
            <a:r>
              <a:t>NASIL: Kitapta s. 34'ü açtırın: 'Sınav değil, nereden başlayacağımızı görmek için.' Örnek satırı okuyun; öğrenciler kitaptaki tabloya en az üç örnek olay yazar, 'Görüşler' sütununa dijital teknolojiyle karşılanıp karşılanmadığını not eder. Kalemler bırakılınca izleyen örnek cevap slaytı açılır. Sonuç, sınıf özeti olarak zümre dosyasına gider.</a:t>
            </a:r>
          </a:p>
          <a:p/>
          <a:p>
            <a:r>
              <a:t>KAYNAK: Kitap s. 34 BAŞLARKEN 1 (yönerge ve örnek satır birebir). Program 'Ön Değerlendirme Süreci': 'Günlük hayatta haritalara hangi alanlarda ve ne kadar ihtiyaç duyulduğu ile ilgili bir liste oluşturulabilir.' · 'Tematik haritalar üzerinde öğrencilere haritanın temel unsurları, paralel ve meridyenden oluşan koordinat sistemi vb. konulara yönelik uygulamalar yaptırılarak onların harita becerisiyle ilgili ön bilgileri belirlenebilir.' Kitabın Başlarken'i (s. 34) bu iki öneriyi karşılar.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1. bölümün örnek cevapları (OGM Materyal etkileşimli kitap s. 34 'olası cevaplar').</a:t>
            </a:r>
          </a:p>
          <a:p/>
          <a:p>
            <a:r>
              <a:t>NASIL: Yazma bitince, kalemler bırakılmışken gösterin; ön değerlendirme not amaçlı değildir, kitaptaki cevaplar değiştirilmez. Öğrencinin kendi gerekçeli örneği doğrudur; satırlar örnektir. Sonra 2. bölüme (Irma kasırgası) geçin.</a:t>
            </a:r>
          </a:p>
          <a:p/>
          <a:p>
            <a:r>
              <a:t>KAYNAK: OGM Materyal etkileşimli kitap s. 34 BAŞLARKEN 1. bölüm 'Olası Cevaplar'; kitap s. 34.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Tematik bir harita üzerinde koordinat okuma ve lejant kullanma becerisini yoklamak (not amaçlı değil).</a:t>
            </a:r>
          </a:p>
          <a:p/>
          <a:p>
            <a:r>
              <a:t>NASIL: Tabloyu birlikte okuyun: her satırda bir gün, kasırganın o gün bulunduğu paralel (°K, Ekvator'un kuzeyi) ve meridyen (°B, başlangıç meridyeninin batısı) ile kategorisi var. 'Kategori' kasırganın şiddetidir; '-' kasırga kategorisine girmeyen evredir. İlk iki satır kitaptaki haritada örnek olarak işaretlenmiştir.</a:t>
            </a:r>
          </a:p>
          <a:p/>
          <a:p>
            <a:r>
              <a:t>BEKLENEN CEVAP: Kasırga 31 Ağustos'ta 16° kuzey paraleli ile 31° batı meridyeninin kesiştiği yerde, 13 Eylül'de 35° K – 88° B'dedir; en güçlü (5. kategori) olduğu günler 6-8 Eylül'dür.</a:t>
            </a:r>
          </a:p>
          <a:p/>
          <a:p>
            <a:r>
              <a:t>KAYNAK: Kitap s. 34 BAŞLARKEN 2 (yönerge ve 'Tablo: Irma Kasırgasının Etkili Olduğu Gün, Konum ve Kategoriler' birebir). Tablo bir günde tek konum verir; kasırga gün içinde de yer ve şiddet değiştirebilir — soru gelirse böyle açıklayın.</a:t>
            </a:r>
          </a:p>
          <a:p/>
          <a:p>
            <a:r>
              <a:t>NOT: Program 'Ön Değerlendirme Süreci': 'Günlük hayatta haritalara hangi alanlarda ve ne kadar ihtiyaç duyulduğu ile ilgili bir liste oluşturulabilir.' · 'Tematik haritalar üzerinde öğrencilere haritanın temel unsurları, paralel ve meridyenden oluşan koordinat sistemi vb. konulara yönelik uygulamalar yaptırılarak onların harita becerisiyle ilgili ön bilgileri belirlenebilir.' Kitabın Başlarken'i (s. 34) bu iki öneriyi karşılar.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Koordinatları lejantla haritaya işlemek ve noktaları birleştirerek hareket yönünü bulmak.</a:t>
            </a:r>
          </a:p>
          <a:p/>
          <a:p>
            <a:r>
              <a:t>SÜRE: a ve b: 5 dk (bireysel, kitap üzerinde) · c: izleyen cevap slaytından sonra 2 dk, tüm sınıf.</a:t>
            </a:r>
          </a:p>
          <a:p/>
          <a:p>
            <a:r>
              <a:t>NASIL: Öğrenciler kitaptaki haritaya işaretler: önce paraleli (yatay çizgi), sonra meridyeni (dikey çizgi) bulur; kesişim noktasına o günün kategorisini lejanttaki gibi daire içinde yazar. İnce çizgiler 1°, kalın çizgiler 5° aralıklıdır. Dolaşırken yalnız 'önce paralel, sonra meridyen' ipucunu verin — bu bir ön değerlendirmedir. Süre bitince noktaları birleştirmeyen öğrenciler de cevap slaytına bakar; c şıkkı atlas/duvar haritasıyla tüm sınıfça yapılır.</a:t>
            </a:r>
          </a:p>
          <a:p/>
          <a:p>
            <a:r>
              <a:t>KAYNAK: Kitap s. 34 (harita, a-c soruları birebir). Harita ders kitabındandır.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 ve b şıklarının örnek cevabı: noktalar kitabın haritasında, kitabın lejantıyla.</a:t>
            </a:r>
          </a:p>
          <a:p/>
          <a:p>
            <a:r>
              <a:t>NASIL: Öğrenciler kendi işaretlerini karşılaştırır. İki noktayı birlikte sınayın: '7 Eylül — 18° kuzey, 65° batı: 65 ile 70 arasındaki kalın çizgilerin hangisine yakın?' Yön: önce Atlas Okyanusu'nu doğudan batıya geçer, Karayipler'in kuzeyinde batı-kuzeybatıya ilerler, Florida'dan sonra kuzeye döner. Koordinatları okuyamayan öğrencileri not edin (5. haftanın grup listesi ve destekleme sütunu).</a:t>
            </a:r>
          </a:p>
          <a:p/>
          <a:p>
            <a:r>
              <a:t>BEKLENEN CEVAP: a) 14 nokta, her biri o günün kategorisiyle (kırmızı dolu: 4 ve 5. kategori). b) Hareket yönü: doğudan batıya (31 Ağustos-7 Eylül, 16°-18° K boyunca), sonra batı-kuzeybatıya (8-10 Eylül), 11 Eylül'den sonra kuzeye.</a:t>
            </a:r>
          </a:p>
          <a:p/>
          <a:p>
            <a:r>
              <a:t>KAYNAK: Kitap s. 34 tablo ve harita. Noktalar kitabın tablosundaki koordinatlardır; haritaya kitabın ızgarasıyla yerleştirildi (kitabın örnek iki noktasıyla 1,5 pt içinde).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c şıkkının örnek cevabı: 4 ve 5. kategorideki konumların (5-9 Eylül) ve bu konumları birleştiren yolun yakınındaki ülkeler.</a:t>
            </a:r>
          </a:p>
          <a:p/>
          <a:p>
            <a:r>
              <a:t>SÜRE: 2 dk: atlas ya da dünya siyasi duvar haritasında tüm sınıfça.</a:t>
            </a:r>
          </a:p>
          <a:p/>
          <a:p>
            <a:r>
              <a:t>NASIL: Kırmızı yol 4 ve 5. kategori günleridir. 'Bu yol hangi adaların üzerinden ya da yakınından geçiyor?' Atlasla bulunan ülke adları kitaptaki haritaya yazılır. Kitap ülke adı vermez; liste atlasla eşlenmiş örnek cevaptır. 5 Eylül noktası açık okyanustadır.</a:t>
            </a:r>
          </a:p>
          <a:p/>
          <a:p>
            <a:r>
              <a:t>BEKLENEN CEVAP: Antigua ve Barbuda; Porto Riko (ABD'ye bağlı); Dominik Cumhuriyeti ve Haiti (Hispanyola Adası'nın kuzeyi); Küba ve Bahamalar. Yolun yakınındaki küçük adalar (Virjin Adaları, Turks ve Caicos Adaları) da kabul edilir. 10-11 Eylül'deki 3 ve 2. kategori konumları Florida'dadır (ABD).</a:t>
            </a:r>
          </a:p>
          <a:p/>
          <a:p>
            <a:r>
              <a:t>KAYNAK: Kitap s. 34 (tablo, harita, c şıkkı). Ülkeler kitabın koordinatlarının atlasla eşlenmesiyle bulundu (Antigua ve Barbuda ≈17° K–62° B, Porto Riko ≈18° K–66° B, Hispanyola ≈19° K–70-74° B, Küba'nın kuzey kıyısı ≈22° K–78° B, Bahamalar ≈21-27° K–73-79° B).</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Harita üretiminde gözlem araçlarının değişimini fark ettirmek; günlük hayattaki dijital haritalara köprü kurmak.</a:t>
            </a:r>
          </a:p>
          <a:p/>
          <a:p>
            <a:r>
              <a:t>SÜRE: Konuya Başlarken 4 dk (1. soru evde, 2. soru sınıfta tabloyla).</a:t>
            </a:r>
          </a:p>
          <a:p/>
          <a:p>
            <a:r>
              <a:t>NASIL: Metni okutun; iki fotoğrafı karşılaştırın: 'Güvercinin taşıdığı kameradan uyduya ne değişti?' 1. soru evde deftere üç maddeyle yazılır (ev çalışması); 2. soru izleyen slaytta kitaptaki tabloyla yapılır.</a:t>
            </a:r>
          </a:p>
          <a:p/>
          <a:p>
            <a:r>
              <a:t>KAYNAK: Kitap s. 35 KONUYA BAŞLARKEN (metin, fotoğraf adları ve sorular birebir); ders planı 4. hafta 4. aşama.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Programın Köprü Kurma sorusu (kitapta Konuya Başlarken 2. soru): günlük hayattaki dijital haritaları ve kullanım amaçlarını görünür kılmak.</a:t>
            </a:r>
          </a:p>
          <a:p/>
          <a:p>
            <a:r>
              <a:t>NASIL: Kitaptaki örnek satırı okuyun (AFAD Acil). İkililer 2 dakikada kitaptaki tabloya iki-üç uygulama yazar; isim kartıyla 4-5 öğrenciden görüş alın, tahtaya 'uygulama → amaç' olarak yazın. Derste telefon kullanılmaz; öğrenciler bildikleri uygulamaları anlatır.</a:t>
            </a:r>
          </a:p>
          <a:p/>
          <a:p>
            <a:r>
              <a:t>KAYNAK: Kitap s. 35 KONUYA BAŞLARKEN 2 (soru ve örnek satır birebir). Program 'Köprü Kurma': 'Cep telefonu, bilgisayar veya tabletlerde haritalarla ilgili ne tür uygulamalar bulunmaktadır?'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Konuya Başlarken sorularının örnek cevapları (OGM Materyal 'Konuya Başlarken' ile paralel).</a:t>
            </a:r>
          </a:p>
          <a:p/>
          <a:p>
            <a:r>
              <a:t>NASIL: 2. soruda öğrencilerin saydığı uygulamaları tabloyla karşılaştırın; uygulama adları örnektir, başka bir uygulamayı doğru amaçla söylemek de doğrudur. 1. sorunun cevabını 5. haftanın girişinde ev çalışması kontrolünde gösterin.</a:t>
            </a:r>
          </a:p>
          <a:p/>
          <a:p>
            <a:r>
              <a:t>BEKLENEN CEVAP: 2) AFAD Acil (kitaptaki örnek) · navigasyon/yol tarifi · hava durumu (MGM) · e-Devlet parsel sorgu (TKGM) · deprem bilgi sistemleri (Kandilli, AFAD). 1) Çevreyi tanımak, gözlemleri kaydetmek, yön ve konum bulmak, ticaret ve askerî yolları planlamak, kaynakları ve sınırları göstermek, bilgiyi sonraki kuşaklara aktarmak (OGM).</a:t>
            </a:r>
          </a:p>
          <a:p/>
          <a:p>
            <a:r>
              <a:t>KAYNAK: Kitap s. 35; OGM Materyal etkileşimli kitap s. 35 'Konuya Başlarken' örnek cevapları.</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Haritanın doğuşunu ve 'mekân' kavramını kitabın cümleleriyle açmak.</a:t>
            </a:r>
          </a:p>
          <a:p/>
          <a:p>
            <a:r>
              <a:t>NASIL: Cümleleri sesli okutun; 'çizim yöntemi' ile 'harita' arasındaki farkı bir sonraki slayttaki tanıma bağlayın. Mekân kutusunu okulun bulunduğu yerle örnekleyin: 'Okulumuz nasıl bir yerde? Nerede?'</a:t>
            </a:r>
          </a:p>
          <a:p/>
          <a:p>
            <a:r>
              <a:t>KAYNAK: Kitap s. 35 (giriş paragrafı ve Mekân kutusu birebir).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Harita tanımını üç anahtar sözcükle kavratmak: küçültme, kuş bakışı, düzlem.</a:t>
            </a:r>
          </a:p>
          <a:p/>
          <a:p>
            <a:r>
              <a:t>NASIL: Tanımı deftere yazdırın; altını çizecekleri üç sözcüğü sorun.</a:t>
            </a:r>
          </a:p>
          <a:p/>
          <a:p>
            <a:r>
              <a:t>BEKLENEN CEVAP: Bir oran dâhilinde küçültülerek · kuş bakışı görünümle · düzlem üzerine.</a:t>
            </a:r>
          </a:p>
          <a:p/>
          <a:p>
            <a:r>
              <a:t>KAYNAK: Kitap s. 35.</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Harita olma şartlarını ve kroki kavramını öğretmek.</a:t>
            </a:r>
          </a:p>
          <a:p/>
          <a:p>
            <a:r>
              <a:t>NASIL: Üç kartı okutun; kroki kutusunda 'Krokide neden uzunluk hesaplanamaz?' diye sorun.</a:t>
            </a:r>
          </a:p>
          <a:p/>
          <a:p>
            <a:r>
              <a:t>BEKLENEN CEVAP: Krokide ölçek yoktur; küçültme oranı bilinmediği için haritadaki uzunluk gerçek uzunluğa çevrilemez.</a:t>
            </a:r>
          </a:p>
          <a:p/>
          <a:p>
            <a:r>
              <a:t>KAYNAK: Kitap s. 35 (harita olarak kabul edilmenin üç özelliği).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OGM Materyal 'Harita Özellikleri' uygulamasıyla paralel ara yoklama (birden çok doğru).</a:t>
            </a:r>
          </a:p>
          <a:p/>
          <a:p>
            <a:r>
              <a:t>NASIL: Öğrenciler doğru bulduklarının numarasını mini kâğıda yazar ya da parmakla gösterir; sonra cevap slaytı.</a:t>
            </a:r>
          </a:p>
          <a:p/>
          <a:p>
            <a:r>
              <a:t>BEKLENEN CEVAP: Doğru: 1, 4, 5, 6 · Yanlış: 2 (krokide ölçek yok), 3 (boyutlar küçültülür).</a:t>
            </a:r>
          </a:p>
          <a:p/>
          <a:p>
            <a:r>
              <a:t>KAYNAK: Kitap s. 35; OGM Materyal etkileşimli kitap s. 35 'Harita Özellikleri'.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OGM Materyal 'Harita Özellikleri' uygulamasıyla paralel ara yoklama (birden çok doğru).</a:t>
            </a:r>
          </a:p>
          <a:p/>
          <a:p>
            <a:r>
              <a:t>NASIL: Öğrenciler doğru bulduklarının numarasını mini kâğıda yazar ya da parmakla gösterir; sonra cevap slaytı.</a:t>
            </a:r>
          </a:p>
          <a:p/>
          <a:p>
            <a:r>
              <a:t>BEKLENEN CEVAP: Doğru: 1, 4, 5, 6 · Yanlış: 2 (krokide ölçek yok), 3 (boyutlar küçültülür).</a:t>
            </a:r>
          </a:p>
          <a:p/>
          <a:p>
            <a:r>
              <a:t>KAYNAK: Kitap s. 35; OGM Materyal etkileşimli kitap s. 35 'Harita Özellikleri'.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Görsel 2.1 üzerinde harita elemanlarını soru-cevapla buldurmak (OGM 'Harita Elemanları' sürükle-bırak uygulamasıyla paralel).</a:t>
            </a:r>
          </a:p>
          <a:p/>
          <a:p>
            <a:r>
              <a:t>NASIL: Önce üç soruyu sorun (isim kartı); sonra haritadaki 1-5 numaralı yerlere hangi elemanın geldiğini sözlü eşleştirin. Öğrenciler kitaplarında aynı elemanları numaralandırır.</a:t>
            </a:r>
          </a:p>
          <a:p/>
          <a:p>
            <a:r>
              <a:t>BEKLENEN CEVAP: Konu: Güney Amerika ülkelerinin nüfusu — başlıktan ve lejanttan. 212 milyon ve üzeri: Brezilya, en koyu mor. Kuzey: sağ üstteki yön oku (K) yukarıyı gösterir. Numaralar: 1 Başlık · 2 Coğrafi koordinatlar · 3 Yön oku · 4 Lejant · 5 Ölçek.</a:t>
            </a:r>
          </a:p>
          <a:p/>
          <a:p>
            <a:r>
              <a:t>KAYNAK: Kitap s. 36 Görsel 2.1 (Birleşmiş Milletler 2025); OGM Materyal etkileşimli kitap s. 36 'HARİTA ELEMANLARI'; ders planı 4. hafta.</a:t>
            </a:r>
          </a:p>
          <a:p/>
          <a:p>
            <a:r>
              <a:t>NOT: Kitabın 2026-2027 baskısındaki haritada (BM 2025 verisi) bazı başkent adları yanlış yazılmıştır: 'Kita' (Kito), 'Bogoto' (Bogota), 'San Tiago' (Santiago), 'Asancion' (Asuncion), 'Montevido' (Montevideo). Parantez içindeki yazım kitabın önceki baskısındakidir; öğrencilere doğrusunu söyleyin.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Harita elemanlarının kitaptaki açıklamalı gösterimi (Görsel 2.1).</a:t>
            </a:r>
          </a:p>
          <a:p/>
          <a:p>
            <a:r>
              <a:t>NASIL: Kitabın açıklamalı görselini gösterin; çerçevenin de bir eleman olduğunu ekleyin (kitap altı elemanı sayar: başlık, çerçeve, coğrafi koordinatlar, lejant, yön oku, ölçek).</a:t>
            </a:r>
          </a:p>
          <a:p/>
          <a:p>
            <a:r>
              <a:t>BEKLENEN CEVAP: 1 Başlık · 2 Coğrafi koordinatlar · 3 Yön oku · 4 Lejant · 5 Ölçek; ayrıca çerçeve.</a:t>
            </a:r>
          </a:p>
          <a:p/>
          <a:p>
            <a:r>
              <a:t>KAYNAK: Kitap s. 36 Görsel 2.1 ve 'Haritalar Nasıl Okunur?' paragrafı.</a:t>
            </a:r>
          </a:p>
          <a:p/>
          <a:p>
            <a:r>
              <a:t>NOT: Kitabın 2026-2027 baskısındaki haritada (BM 2025 verisi) bazı başkent adları yanlış yazılmıştır: 'Kita' (Kito), 'Bogoto' (Bogota), 'San Tiago' (Santiago), 'Asancion' (Asuncion), 'Montevido' (Montevideo). Parantez içindeki yazım kitabın önceki baskısındakidir; öğrencilere doğrusunu söyleyin.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Beş elemanın görevini kitabın açıklamalarıyla pekiştirmek.</a:t>
            </a:r>
          </a:p>
          <a:p/>
          <a:p>
            <a:r>
              <a:t>NASIL: Her kartı bir öğrenciye okutun; öğrenciler deftere eleman + görev olarak yazar.</a:t>
            </a:r>
          </a:p>
          <a:p/>
          <a:p>
            <a:r>
              <a:t>KAYNAK: Kitap s. 36 Görsel 2.1 açıklamaları.</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(parmakla A-E).</a:t>
            </a:r>
          </a:p>
          <a:p/>
          <a:p>
            <a:r>
              <a:t>KAYNAK: Kitap s. 35.</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SÖYLENEBİLİR: Ölçek kullanılmadan yapılan kabataslak çizimler kroki olarak adlandırılır. Krokide uzunluk ve alan hesaplanamaz.</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Haritaları kullanım amacına göre genel ve tematik olarak sınıflandırmak.</a:t>
            </a:r>
          </a:p>
          <a:p/>
          <a:p>
            <a:r>
              <a:t>SÜRE: Harita türleri: 8 dk.</a:t>
            </a:r>
          </a:p>
          <a:p/>
          <a:p>
            <a:r>
              <a:t>NASIL: Şemayı okutun; 'Siyasi haritada ne var, jeomorfoloji haritasında ne var?' sorusuyla kitabın örneğini açın. Atlas açtırırken: atlas, haritaların bir araya getirildiği kitaptır; içinde hem genel hem tematik haritalar bulunur — sayfadaki haritanın türü başlık ve lejanttan anlaşılır.</a:t>
            </a:r>
          </a:p>
          <a:p/>
          <a:p>
            <a:r>
              <a:t>BEKLENEN CEVAP: Siyasi haritada ülke ve il sınırları, jeomorfoloji haritasında yer şekilleri bulunur.</a:t>
            </a:r>
          </a:p>
          <a:p/>
          <a:p>
            <a:r>
              <a:t>KAYNAK: Kitap s. 36 'a) Harita Türleri' ve Şema 2.1 (2026-2027 baskısı, basılı sayfadan teyitli).</a:t>
            </a:r>
          </a:p>
          <a:p/>
          <a:p>
            <a:r>
              <a:t>NOT: 2026-2027 baskısında Şema 2.1 değişti: genel haritalar fiziki, siyasi ve topoğrafya haritalarıdır (önceki baskının saydığı atlas ve duvar haritası listede yok); tematik haritalar 'jeoloji haritası … ekonomi haritası' diye adlandırılır.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Programın 'harita unsurlarından yararlanarak harita türünün belirlenmesi' ve 'sınıflandırma tablosu' önerisi (E1.4 kendine inanma).</a:t>
            </a:r>
          </a:p>
          <a:p/>
          <a:p>
            <a:r>
              <a:t>NASIL: İkililer atlas da açar: 'Açtığınız sayfadaki harita genel mi, tematik mi? Başlık ve lejanttan nasıl anladınız?' Tahtaya iki sütunlu tablo kurulur; öğrenciler deftere geçirir.</a:t>
            </a:r>
          </a:p>
          <a:p/>
          <a:p>
            <a:r>
              <a:t>BEKLENEN CEVAP: Siyasi ve fiziki haritalar genel; nüfus, mısır üretimi, kirlilik ve sulanan tarım alanı haritaları tematik.</a:t>
            </a:r>
          </a:p>
          <a:p/>
          <a:p>
            <a:r>
              <a:t>KAYNAK: Haritaların adları kitabın ilgili sayfalarındaki başlıklardır; tür ayrımı s. 36 Şema 2.1'e göre.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Programın 'harita unsurlarından yararlanarak harita türünün belirlenmesi' ve 'sınıflandırma tablosu' önerisi (E1.4 kendine inanma).</a:t>
            </a:r>
          </a:p>
          <a:p/>
          <a:p>
            <a:r>
              <a:t>NASIL: Gerekçe her zaman başlık ve lejanttır: belirli bir konu (nüfus, üretim, kirlilik) gösteriliyorsa tematik; yeryüzünün genel görünümü, sınırlar, yer şekilleri ise genel.</a:t>
            </a:r>
          </a:p>
          <a:p/>
          <a:p>
            <a:r>
              <a:t>BEKLENEN CEVAP: Siyasi ve fiziki haritalar genel; nüfus, mısır üretimi, kirlilik ve sulanan tarım alanı haritaları tematik.</a:t>
            </a:r>
          </a:p>
          <a:p/>
          <a:p>
            <a:r>
              <a:t>KAYNAK: Haritaların adları kitabın ilgili sayfalarındaki başlıklardır; tür ayrımı s. 36 Şema 2.1'e göre.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(parmakla A-E).</a:t>
            </a:r>
          </a:p>
          <a:p/>
          <a:p>
            <a:r>
              <a:t>NASIL: Soru 2026-2027 baskısının Şema 2.1'ine göre kuruldu: genel haritalar listesinde yalnız fiziki, siyasi ve topoğrafya haritaları vardır.</a:t>
            </a:r>
          </a:p>
          <a:p/>
          <a:p>
            <a:r>
              <a:t>KAYNAK: Kitap s. 36 Şema 2.1.</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SÖYLENEBİLİR: Genel haritalar: fiziki, siyasi ve topoğrafya haritaları (Şema 2.1). Jeoloji, nüfus, iklim ve turizm haritaları belirli bir konuyu gösteren tematik haritalardır.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Grup çalışmasına geçiş: rolleri ve kuralları hatırlatmak.</a:t>
            </a:r>
          </a:p>
          <a:p/>
          <a:p>
            <a:r>
              <a:t>SÜRE: Geçiş aşaması (ders planındaki süre).</a:t>
            </a:r>
          </a:p>
          <a:p/>
          <a:p>
            <a:r>
              <a:t>NASIL: Ayağa kalkma molası; sıralar 4'lü adalara çevrilir, malzeme sorumluları grup zarflarını alır. Roller her hafta döner; 4 kişilik grupta ilk dört rol, 5 kişilikte editör de vardır. Malzeme sorumluları rota setini (s. 38 haritasının A3 kopyası) ve atlası alır.</a:t>
            </a:r>
          </a:p>
          <a:p/>
          <a:p>
            <a:r>
              <a:t>KAYNAK: Ders planı (34 kişilik sınıf için grup düzeni: 6 × 4 + 2 × 5; sınıf mevcuduna göre uyarlanır).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Coğrafi koordinat sisteminin neden ve nasıl kurulduğunu göstermek.</a:t>
            </a:r>
          </a:p>
          <a:p/>
          <a:p>
            <a:r>
              <a:t>SÜRE: Koordinat sistemi: 12 dk.</a:t>
            </a:r>
          </a:p>
          <a:p/>
          <a:p>
            <a:r>
              <a:t>NASIL: Yer kürede Ekvator'u ve başlangıç meridyenini gösterin. Görsel 2.2'de açıları (40° enlem, 50° boylam) parmakla izletin; derece, dakika, saniye: 1° = 60', 1' = 60'' (Matematik bağı).</a:t>
            </a:r>
          </a:p>
          <a:p/>
          <a:p>
            <a:r>
              <a:t>KAYNAK: Kitap s. 37 'b) Coğrafi Koordinatlar' ve Görsel 2.2.</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Enlem ve boylamı tanımlamak; farkını açıkça göstermek.</a:t>
            </a:r>
          </a:p>
          <a:p/>
          <a:p>
            <a:r>
              <a:t>NASIL: İki kartı karşılaştırın: enlem Ekvator'a, boylam başlangıç meridyenine göre uzaklıktır; ikisi de yerin merkezinde ölçülen açıdır. Öğrenciler Görsel 2.2'yi deftere çizer.</a:t>
            </a:r>
          </a:p>
          <a:p/>
          <a:p>
            <a:r>
              <a:t>BEKLENEN CEVAP: Enlem: Ekvator'a uzaklık (kuzey/güney). Boylam: başlangıç meridyenine uzaklık (doğu/batı).</a:t>
            </a:r>
          </a:p>
          <a:p/>
          <a:p>
            <a:r>
              <a:t>KAYNAK: Kitap s. 37 Enlem ve Boylam tanımları.</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Bir yerin konumunu enlem ve boylamla ifade etmek.</a:t>
            </a:r>
          </a:p>
          <a:p/>
          <a:p>
            <a:r>
              <a:t>NASIL: Harita 2.1'i gösterin; soruyu sorun. Ardından atlas dizininde Çanakkale'yi buldurun ve duvar haritasında gösterin. Gruplar atlastan seçtikleri bir yerin enlem-boylamını yazar.</a:t>
            </a:r>
          </a:p>
          <a:p/>
          <a:p>
            <a:r>
              <a:t>BEKLENEN CEVAP: 40° 03' 00'' kuzey enlemi Ekvator'a, 26° 13' 08'' doğu boylamı başlangıç meridyenine göre uzaklığı gösterir.</a:t>
            </a:r>
          </a:p>
          <a:p/>
          <a:p>
            <a:r>
              <a:t>KAYNAK: Kitap s. 37 Harita 2.1.</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Koordinat sistemini GPS ve günlük hayatla bağlamak.</a:t>
            </a:r>
          </a:p>
          <a:p/>
          <a:p>
            <a:r>
              <a:t>NASIL: Kutuyu okutun; 'Bugün koordinat kullandığınız bir an düşünün' sorusuyla bitirin. GPS 8. haftada bileşenleriyle işlenecek.</a:t>
            </a:r>
          </a:p>
          <a:p/>
          <a:p>
            <a:r>
              <a:t>BEKLENEN CEVAP: Navigasyonla yol bulma, kargo ve taksi uygulamaları, hava durumu, deprem haritaları.</a:t>
            </a:r>
          </a:p>
          <a:p/>
          <a:p>
            <a:r>
              <a:t>KAYNAK: Kitap s. 37 (GPS kutusu ve son paragraf).</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(parmakla A-E).</a:t>
            </a:r>
          </a:p>
          <a:p/>
          <a:p>
            <a:r>
              <a:t>KAYNAK: Kitap s. 37.</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SÖYLENEBİLİR: Dünya üzerindeki bir noktanın Ekvator'a uzaklığının yerin merkeziyle yaptığı açı değerine enlem denir. Boylam başlangıç meridyenine göre ölçülür.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Koordinatları haritada bulup gemi ve uçak rotası çizmek (programın 'rota gösterimi, rotanın izlenmesi veya oluşturulması' uygulaması).</a:t>
            </a:r>
          </a:p>
          <a:p/>
          <a:p>
            <a:r>
              <a:t>SÜRE: 14 dk (grup).</a:t>
            </a:r>
          </a:p>
          <a:p/>
          <a:p>
            <a:r>
              <a:t>NASIL: Yönergeyi okuyun. Roller: harita/veri okuyucu koordinatı okur, yazıcı çizer, sözcü doğrular, zaman sorumlusu 12 dakikayı izler. Dolaşırken takılan gruba Ekvator'u ve 0° meridyenini gösterin. Atlastan limanın bulunduğu ülkeyi de buldurun.</a:t>
            </a:r>
          </a:p>
          <a:p/>
          <a:p>
            <a:r>
              <a:t>KAYNAK: Kitap s. 38 UYGULAMA; OGM Materyal etkileşimli kitap s. 38 'Rota Oluşturuyorum'.</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Kitaptaki koordinat listesini büyük ve okunur göstermek.</a:t>
            </a:r>
          </a:p>
          <a:p/>
          <a:p>
            <a:r>
              <a:t>NASIL: Gruplar bu slayta bakarak çalışır; harita kitapta ve A3 kopyadadır.</a:t>
            </a:r>
          </a:p>
          <a:p/>
          <a:p>
            <a:r>
              <a:t>KAYNAK: Kitap s. 38 (koordinatlar birebir).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Gemi ve uçak rotasının örnek çizimi; noktaların bulunduğu şehirler (atlasla).</a:t>
            </a:r>
          </a:p>
          <a:p/>
          <a:p>
            <a:r>
              <a:t>NASIL: Grupların çizimiyle karşılaştırın. Gemi rotası deniz yolundan çizilir (Malakka Boğazı, Süveyş Kanalı, Cebelitarık); öğrencinin düz çizgiyle sıra göstermesi de kabul edilir. Şehir adları kitapta yoktur: koordinatlar atlasla eşlenerek bulunur (zenginleştirme).</a:t>
            </a:r>
          </a:p>
          <a:p/>
          <a:p>
            <a:r>
              <a:t>BEKLENEN CEVAP: Gemi: Şanghay → Singapur → Mumbai → Cibuti → Mersin → Barselona → Lizbon. Uçak: Semerkant → İstanbul → Lagos.</a:t>
            </a:r>
          </a:p>
          <a:p/>
          <a:p>
            <a:r>
              <a:t>KAYNAK: Kitap s. 38. Noktalar, kitap haritasındaki işaretlerin koordinatlarla eşlenmesiyle yerleştirildi (her biri 6 pt'den yakın; OGM kaydı). OGM Materyal yalnız örnek çizim verir, şehir adı vermez.</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Rotaları konum-ilişki bağıyla yorumlamak (süreç bileşeni b).</a:t>
            </a:r>
          </a:p>
          <a:p/>
          <a:p>
            <a:r>
              <a:t>SÜRE: 6 dk.</a:t>
            </a:r>
          </a:p>
          <a:p/>
          <a:p>
            <a:r>
              <a:t>NASIL: İsim kartıyla iki grup seçin: biri gemi, biri uçak rotasını dünya siyasi duvar haritasında gösterir; diğer gruplar çizimleriyle karşılaştırır.</a:t>
            </a:r>
          </a:p>
          <a:p/>
          <a:p>
            <a:r>
              <a:t>KAYNAK: Ders planı 4. hafta 9. aşama.</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Paylaşım sorularının örnek cevabı.</a:t>
            </a:r>
          </a:p>
          <a:p/>
          <a:p>
            <a:r>
              <a:t>NASIL: Duvar haritasında sırayla gösterin. Süveyş Kanalı'nın Kızıldeniz ile Akdeniz'i bağladığını kitap s. 64'teki Kıbrıs metni de söyler; Türk boğazları 7. haftada işlenir.</a:t>
            </a:r>
          </a:p>
          <a:p/>
          <a:p>
            <a:r>
              <a:t>BEKLENEN CEVAP: Gemi: Doğu Çin Denizi → Güney Çin Denizi → Malakka Boğazı → Hint Okyanusu (Arap Denizi) → Aden Körfezi → Babülmendep → Kızıldeniz → Süveyş Kanalı → Akdeniz → Cebelitarık → Atlas Okyanusu. Uçak: Asya (Semerkant) → Avrupa (İstanbul) → Afrika (Lagos).</a:t>
            </a:r>
          </a:p>
          <a:p/>
          <a:p>
            <a:r>
              <a:t>KAYNAK: Atlas bilgisi; Süveyş Kanalı kitap s. 64 ('Kızıldeniz ve Akdeniz’i birbirine bağlamak için 1869 yılında Süveyş Kanalı açılmıştır').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Üç cümlelik özet.</a:t>
            </a:r>
          </a:p>
          <a:p/>
          <a:p>
            <a:r>
              <a:t>SÜRE: Toparlama, çıkış kartı ve ev çalışması: 8 dk.</a:t>
            </a:r>
          </a:p>
          <a:p/>
          <a:p>
            <a:r>
              <a:t>NASIL: Her kartı bir öğrenciye tamamlatın, sonra çıkış kartına geçin.</a:t>
            </a:r>
          </a:p>
          <a:p/>
          <a:p>
            <a:r>
              <a:t>KAYNAK: Kitap s. 35-37.</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Haftanın üç çıkış sorusu (ders planı).</a:t>
            </a:r>
          </a:p>
          <a:p/>
          <a:p>
            <a:r>
              <a:t>NASIL: 4 dakika; yazıcılar toplar. Kartlar P2 katılım gözlemine işlenir.</a:t>
            </a:r>
          </a:p>
          <a:p/>
          <a:p>
            <a:r>
              <a:t>BEKLENEN CEVAP: 1) Başlık, çerçeve, coğrafi koordinatlar, harita işaretleri (lejant), yön oku, ölçek. 2) Kroki; uzunluk ve alan hesaplanamaz. 3) 40° kuzey enlemi Ekvator'a, 26° doğu boylamı başlangıç meridyenine göre.</a:t>
            </a:r>
          </a:p>
          <a:p/>
          <a:p>
            <a:r>
              <a:t>KAYNAK: Ders planı 4. hafta ölçme bölümü.</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Ev çalışmasını duyurmak.</a:t>
            </a:r>
          </a:p>
          <a:p/>
          <a:p>
            <a:r>
              <a:t>NASIL: Tahtaya da yazın. MEBİ/EBA tekrarına erişimi olmayan öğrenci okul laboratuvarını ders dışı saatte kullanır; telefon gerekmez.</a:t>
            </a:r>
          </a:p>
          <a:p/>
          <a:p>
            <a:r>
              <a:t>KAYNAK: Ders planı 4. hafta ev çalışması.</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Kaynak gösterimi — 5846 sayılı Kanun md. 34 eğitim amaçlı seçme ve toplama eserlerde eserin ve eser sahibinin adının belirtilmesini ister. Derste gösterilmesi gerekmez; dosyayı paylaşırken bu slaytı silmeyin.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tr-TR" smtClean="0"/>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lang="tr-TR">
                <a:solidFill>
                  <a:schemeClr val="tx1">
                    <a:tint val="75000"/>
                  </a:schemeClr>
                </a:solidFill>
              </a:defRPr>
            </a:lvl1pPr>
            <a:lvl2pPr marL="457200" indent="0" algn="ctr">
              <a:buNone/>
              <a:defRPr lang="tr-TR">
                <a:solidFill>
                  <a:schemeClr val="tx1">
                    <a:tint val="75000"/>
                  </a:schemeClr>
                </a:solidFill>
              </a:defRPr>
            </a:lvl2pPr>
            <a:lvl3pPr marL="914400" indent="0" algn="ctr">
              <a:buNone/>
              <a:defRPr lang="tr-TR">
                <a:solidFill>
                  <a:schemeClr val="tx1">
                    <a:tint val="75000"/>
                  </a:schemeClr>
                </a:solidFill>
              </a:defRPr>
            </a:lvl3pPr>
            <a:lvl4pPr marL="1371600" indent="0" algn="ctr">
              <a:buNone/>
              <a:defRPr lang="tr-TR">
                <a:solidFill>
                  <a:schemeClr val="tx1">
                    <a:tint val="75000"/>
                  </a:schemeClr>
                </a:solidFill>
              </a:defRPr>
            </a:lvl4pPr>
            <a:lvl5pPr marL="1828800" indent="0" algn="ctr">
              <a:buNone/>
              <a:defRPr lang="tr-TR">
                <a:solidFill>
                  <a:schemeClr val="tx1">
                    <a:tint val="75000"/>
                  </a:schemeClr>
                </a:solidFill>
              </a:defRPr>
            </a:lvl5pPr>
            <a:lvl6pPr marL="2286000" indent="0" algn="ctr">
              <a:buNone/>
              <a:defRPr lang="tr-TR">
                <a:solidFill>
                  <a:schemeClr val="tx1">
                    <a:tint val="75000"/>
                  </a:schemeClr>
                </a:solidFill>
              </a:defRPr>
            </a:lvl6pPr>
            <a:lvl7pPr marL="2743200" indent="0" algn="ctr">
              <a:buNone/>
              <a:defRPr lang="tr-TR">
                <a:solidFill>
                  <a:schemeClr val="tx1">
                    <a:tint val="75000"/>
                  </a:schemeClr>
                </a:solidFill>
              </a:defRPr>
            </a:lvl7pPr>
            <a:lvl8pPr marL="3200400" indent="0" algn="ctr">
              <a:buNone/>
              <a:defRPr lang="tr-TR">
                <a:solidFill>
                  <a:schemeClr val="tx1">
                    <a:tint val="75000"/>
                  </a:schemeClr>
                </a:solidFill>
              </a:defRPr>
            </a:lvl8pPr>
            <a:lvl9pPr marL="3657600" indent="0" algn="ctr">
              <a:buNone/>
              <a:defRPr lang="tr-TR">
                <a:solidFill>
                  <a:schemeClr val="tx1">
                    <a:tint val="75000"/>
                  </a:schemeClr>
                </a:solidFill>
              </a:defRPr>
            </a:lvl9pPr>
          </a:lstStyle>
          <a:p>
            <a:r>
              <a:rPr lang="tr-TR" smtClean="0"/>
              <a:t>Click to edit Master subtitle style</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Content Placeholder 2"/>
          <p:cNvSpPr>
            <a:spLocks noGrp="1"/>
          </p:cNvSpPr>
          <p:nvPr>
            <p:ph idx="1"/>
          </p:nvPr>
        </p:nvSpPr>
        <p:spPr/>
        <p:txBody>
          <a:body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lang="tr-TR" sz="4000" b="1" cap="all"/>
            </a:lvl1pPr>
          </a:lstStyle>
          <a:p>
            <a:r>
              <a:rPr lang="tr-TR" smtClean="0"/>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lang="tr-TR" sz="2000">
                <a:solidFill>
                  <a:schemeClr val="tx1">
                    <a:tint val="75000"/>
                  </a:schemeClr>
                </a:solidFill>
              </a:defRPr>
            </a:lvl1pPr>
            <a:lvl2pPr marL="457200" indent="0">
              <a:buNone/>
              <a:defRPr lang="tr-TR" sz="1800">
                <a:solidFill>
                  <a:schemeClr val="tx1">
                    <a:tint val="75000"/>
                  </a:schemeClr>
                </a:solidFill>
              </a:defRPr>
            </a:lvl2pPr>
            <a:lvl3pPr marL="914400" indent="0">
              <a:buNone/>
              <a:defRPr lang="tr-TR" sz="1600">
                <a:solidFill>
                  <a:schemeClr val="tx1">
                    <a:tint val="75000"/>
                  </a:schemeClr>
                </a:solidFill>
              </a:defRPr>
            </a:lvl3pPr>
            <a:lvl4pPr marL="1371600" indent="0">
              <a:buNone/>
              <a:defRPr lang="tr-TR" sz="1400">
                <a:solidFill>
                  <a:schemeClr val="tx1">
                    <a:tint val="75000"/>
                  </a:schemeClr>
                </a:solidFill>
              </a:defRPr>
            </a:lvl4pPr>
            <a:lvl5pPr marL="1828800" indent="0">
              <a:buNone/>
              <a:defRPr lang="tr-TR" sz="1400">
                <a:solidFill>
                  <a:schemeClr val="tx1">
                    <a:tint val="75000"/>
                  </a:schemeClr>
                </a:solidFill>
              </a:defRPr>
            </a:lvl5pPr>
            <a:lvl6pPr marL="2286000" indent="0">
              <a:buNone/>
              <a:defRPr lang="tr-TR" sz="1400">
                <a:solidFill>
                  <a:schemeClr val="tx1">
                    <a:tint val="75000"/>
                  </a:schemeClr>
                </a:solidFill>
              </a:defRPr>
            </a:lvl6pPr>
            <a:lvl7pPr marL="2743200" indent="0">
              <a:buNone/>
              <a:defRPr lang="tr-TR" sz="1400">
                <a:solidFill>
                  <a:schemeClr val="tx1">
                    <a:tint val="75000"/>
                  </a:schemeClr>
                </a:solidFill>
              </a:defRPr>
            </a:lvl7pPr>
            <a:lvl8pPr marL="3200400" indent="0">
              <a:buNone/>
              <a:defRPr lang="tr-TR" sz="1400">
                <a:solidFill>
                  <a:schemeClr val="tx1">
                    <a:tint val="75000"/>
                  </a:schemeClr>
                </a:solidFill>
              </a:defRPr>
            </a:lvl8pPr>
            <a:lvl9pPr marL="3657600" indent="0">
              <a:buNone/>
              <a:defRPr lang="tr-TR" sz="1400">
                <a:solidFill>
                  <a:schemeClr val="tx1">
                    <a:tint val="75000"/>
                  </a:schemeClr>
                </a:solidFill>
              </a:defRPr>
            </a:lvl9pPr>
          </a:lstStyle>
          <a:p>
            <a:pPr lvl="0"/>
            <a:r>
              <a:rPr lang="tr-TR"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Content Placeholder 2"/>
          <p:cNvSpPr>
            <a:spLocks noGrp="1"/>
          </p:cNvSpPr>
          <p:nvPr>
            <p:ph sz="half" idx="1"/>
          </p:nvPr>
        </p:nvSpPr>
        <p:spPr>
          <a:xfrm>
            <a:off x="457200" y="1600200"/>
            <a:ext cx="4038600" cy="4525963"/>
          </a:xfrm>
        </p:spPr>
        <p:txBody>
          <a:bodyPr/>
          <a:lstStyle>
            <a:lvl1pPr>
              <a:defRPr lang="tr-TR" sz="2800"/>
            </a:lvl1pPr>
            <a:lvl2pPr>
              <a:defRPr lang="tr-TR" sz="2400"/>
            </a:lvl2pPr>
            <a:lvl3pPr>
              <a:defRPr lang="tr-TR" sz="2000"/>
            </a:lvl3pPr>
            <a:lvl4pPr>
              <a:defRPr lang="tr-TR" sz="1800"/>
            </a:lvl4pPr>
            <a:lvl5pPr>
              <a:defRPr lang="tr-TR" sz="1800"/>
            </a:lvl5pPr>
            <a:lvl6pPr>
              <a:defRPr lang="tr-TR" sz="1800"/>
            </a:lvl6pPr>
            <a:lvl7pPr>
              <a:defRPr lang="tr-TR" sz="1800"/>
            </a:lvl7pPr>
            <a:lvl8pPr>
              <a:defRPr lang="tr-TR" sz="1800"/>
            </a:lvl8pPr>
            <a:lvl9pPr>
              <a:defRPr lang="tr-TR" sz="18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Content Placeholder 3"/>
          <p:cNvSpPr>
            <a:spLocks noGrp="1"/>
          </p:cNvSpPr>
          <p:nvPr>
            <p:ph sz="half" idx="2"/>
          </p:nvPr>
        </p:nvSpPr>
        <p:spPr>
          <a:xfrm>
            <a:off x="4648200" y="1600200"/>
            <a:ext cx="4038600" cy="4525963"/>
          </a:xfrm>
        </p:spPr>
        <p:txBody>
          <a:bodyPr/>
          <a:lstStyle>
            <a:lvl1pPr>
              <a:defRPr lang="tr-TR" sz="2800"/>
            </a:lvl1pPr>
            <a:lvl2pPr>
              <a:defRPr lang="tr-TR" sz="2400"/>
            </a:lvl2pPr>
            <a:lvl3pPr>
              <a:defRPr lang="tr-TR" sz="2000"/>
            </a:lvl3pPr>
            <a:lvl4pPr>
              <a:defRPr lang="tr-TR" sz="1800"/>
            </a:lvl4pPr>
            <a:lvl5pPr>
              <a:defRPr lang="tr-TR" sz="1800"/>
            </a:lvl5pPr>
            <a:lvl6pPr>
              <a:defRPr lang="tr-TR" sz="1800"/>
            </a:lvl6pPr>
            <a:lvl7pPr>
              <a:defRPr lang="tr-TR" sz="1800"/>
            </a:lvl7pPr>
            <a:lvl8pPr>
              <a:defRPr lang="tr-TR" sz="1800"/>
            </a:lvl8pPr>
            <a:lvl9pPr>
              <a:defRPr lang="tr-TR" sz="18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lang="tr-TR"/>
            </a:lvl1pPr>
          </a:lstStyle>
          <a:p>
            <a:r>
              <a:rPr lang="tr-TR" smtClean="0"/>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lang="tr-TR" sz="2400" b="1"/>
            </a:lvl1pPr>
            <a:lvl2pPr marL="457200" indent="0">
              <a:buNone/>
              <a:defRPr lang="tr-TR" sz="2000" b="1"/>
            </a:lvl2pPr>
            <a:lvl3pPr marL="914400" indent="0">
              <a:buNone/>
              <a:defRPr lang="tr-TR" sz="1800" b="1"/>
            </a:lvl3pPr>
            <a:lvl4pPr marL="1371600" indent="0">
              <a:buNone/>
              <a:defRPr lang="tr-TR" sz="1600" b="1"/>
            </a:lvl4pPr>
            <a:lvl5pPr marL="1828800" indent="0">
              <a:buNone/>
              <a:defRPr lang="tr-TR" sz="1600" b="1"/>
            </a:lvl5pPr>
            <a:lvl6pPr marL="2286000" indent="0">
              <a:buNone/>
              <a:defRPr lang="tr-TR" sz="1600" b="1"/>
            </a:lvl6pPr>
            <a:lvl7pPr marL="2743200" indent="0">
              <a:buNone/>
              <a:defRPr lang="tr-TR" sz="1600" b="1"/>
            </a:lvl7pPr>
            <a:lvl8pPr marL="3200400" indent="0">
              <a:buNone/>
              <a:defRPr lang="tr-TR" sz="1600" b="1"/>
            </a:lvl8pPr>
            <a:lvl9pPr marL="3657600" indent="0">
              <a:buNone/>
              <a:defRPr lang="tr-TR" sz="1600" b="1"/>
            </a:lvl9pPr>
          </a:lstStyle>
          <a:p>
            <a:pPr lvl="0"/>
            <a:r>
              <a:rPr lang="tr-TR"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lang="tr-TR" sz="2400"/>
            </a:lvl1pPr>
            <a:lvl2pPr>
              <a:defRPr lang="tr-TR" sz="2000"/>
            </a:lvl2pPr>
            <a:lvl3pPr>
              <a:defRPr lang="tr-TR" sz="1800"/>
            </a:lvl3pPr>
            <a:lvl4pPr>
              <a:defRPr lang="tr-TR" sz="1600"/>
            </a:lvl4pPr>
            <a:lvl5pPr>
              <a:defRPr lang="tr-TR" sz="1600"/>
            </a:lvl5pPr>
            <a:lvl6pPr>
              <a:defRPr lang="tr-TR" sz="1600"/>
            </a:lvl6pPr>
            <a:lvl7pPr>
              <a:defRPr lang="tr-TR" sz="1600"/>
            </a:lvl7pPr>
            <a:lvl8pPr>
              <a:defRPr lang="tr-TR" sz="1600"/>
            </a:lvl8pPr>
            <a:lvl9pPr>
              <a:defRPr lang="tr-TR" sz="16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lang="tr-TR" sz="2400" b="1"/>
            </a:lvl1pPr>
            <a:lvl2pPr marL="457200" indent="0">
              <a:buNone/>
              <a:defRPr lang="tr-TR" sz="2000" b="1"/>
            </a:lvl2pPr>
            <a:lvl3pPr marL="914400" indent="0">
              <a:buNone/>
              <a:defRPr lang="tr-TR" sz="1800" b="1"/>
            </a:lvl3pPr>
            <a:lvl4pPr marL="1371600" indent="0">
              <a:buNone/>
              <a:defRPr lang="tr-TR" sz="1600" b="1"/>
            </a:lvl4pPr>
            <a:lvl5pPr marL="1828800" indent="0">
              <a:buNone/>
              <a:defRPr lang="tr-TR" sz="1600" b="1"/>
            </a:lvl5pPr>
            <a:lvl6pPr marL="2286000" indent="0">
              <a:buNone/>
              <a:defRPr lang="tr-TR" sz="1600" b="1"/>
            </a:lvl6pPr>
            <a:lvl7pPr marL="2743200" indent="0">
              <a:buNone/>
              <a:defRPr lang="tr-TR" sz="1600" b="1"/>
            </a:lvl7pPr>
            <a:lvl8pPr marL="3200400" indent="0">
              <a:buNone/>
              <a:defRPr lang="tr-TR" sz="1600" b="1"/>
            </a:lvl8pPr>
            <a:lvl9pPr marL="3657600" indent="0">
              <a:buNone/>
              <a:defRPr lang="tr-TR" sz="1600" b="1"/>
            </a:lvl9pPr>
          </a:lstStyle>
          <a:p>
            <a:pPr lvl="0"/>
            <a:r>
              <a:rPr lang="tr-TR"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lang="tr-TR" sz="2400"/>
            </a:lvl1pPr>
            <a:lvl2pPr>
              <a:defRPr lang="tr-TR" sz="2000"/>
            </a:lvl2pPr>
            <a:lvl3pPr>
              <a:defRPr lang="tr-TR" sz="1800"/>
            </a:lvl3pPr>
            <a:lvl4pPr>
              <a:defRPr lang="tr-TR" sz="1600"/>
            </a:lvl4pPr>
            <a:lvl5pPr>
              <a:defRPr lang="tr-TR" sz="1600"/>
            </a:lvl5pPr>
            <a:lvl6pPr>
              <a:defRPr lang="tr-TR" sz="1600"/>
            </a:lvl6pPr>
            <a:lvl7pPr>
              <a:defRPr lang="tr-TR" sz="1600"/>
            </a:lvl7pPr>
            <a:lvl8pPr>
              <a:defRPr lang="tr-TR" sz="1600"/>
            </a:lvl8pPr>
            <a:lvl9pPr>
              <a:defRPr lang="tr-TR" sz="16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7" name="Date Placeholder 6"/>
          <p:cNvSpPr>
            <a:spLocks noGrp="1"/>
          </p:cNvSpPr>
          <p:nvPr>
            <p:ph type="dt" sz="half" idx="10"/>
          </p:nvPr>
        </p:nvSpPr>
        <p:spPr/>
        <p:txBody>
          <a:bodyPr/>
          <a:lstStyle/>
          <a:p>
            <a:fld id="{5BCAD085-E8A6-8845-BD4E-CB4CCA059FC4}" type="datetimeFigureOut">
              <a:rPr lang="tr-TR" smtClean="0"/>
              <a:t>1/27/13</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Date Placeholder 2"/>
          <p:cNvSpPr>
            <a:spLocks noGrp="1"/>
          </p:cNvSpPr>
          <p:nvPr>
            <p:ph type="dt" sz="half" idx="10"/>
          </p:nvPr>
        </p:nvSpPr>
        <p:spPr/>
        <p:txBody>
          <a:bodyPr/>
          <a:lstStyle/>
          <a:p>
            <a:fld id="{5BCAD085-E8A6-8845-BD4E-CB4CCA059FC4}" type="datetimeFigureOut">
              <a:rPr lang="tr-TR" smtClean="0"/>
              <a:t>1/27/13</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lang="tr-TR" sz="2000" b="1"/>
            </a:lvl1pPr>
          </a:lstStyle>
          <a:p>
            <a:r>
              <a:rPr lang="tr-TR" smtClean="0"/>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lang="tr-TR" sz="3200"/>
            </a:lvl1pPr>
            <a:lvl2pPr>
              <a:defRPr lang="tr-TR" sz="2800"/>
            </a:lvl2pPr>
            <a:lvl3pPr>
              <a:defRPr lang="tr-TR" sz="2400"/>
            </a:lvl3pPr>
            <a:lvl4pPr>
              <a:defRPr lang="tr-TR" sz="2000"/>
            </a:lvl4pPr>
            <a:lvl5pPr>
              <a:defRPr lang="tr-TR" sz="2000"/>
            </a:lvl5pPr>
            <a:lvl6pPr>
              <a:defRPr lang="tr-TR" sz="2000"/>
            </a:lvl6pPr>
            <a:lvl7pPr>
              <a:defRPr lang="tr-TR" sz="2000"/>
            </a:lvl7pPr>
            <a:lvl8pPr>
              <a:defRPr lang="tr-TR" sz="2000"/>
            </a:lvl8pPr>
            <a:lvl9pPr>
              <a:defRPr lang="tr-TR" sz="20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lang="tr-TR" sz="1400"/>
            </a:lvl1pPr>
            <a:lvl2pPr marL="457200" indent="0">
              <a:buNone/>
              <a:defRPr lang="tr-TR" sz="1200"/>
            </a:lvl2pPr>
            <a:lvl3pPr marL="914400" indent="0">
              <a:buNone/>
              <a:defRPr lang="tr-TR" sz="1000"/>
            </a:lvl3pPr>
            <a:lvl4pPr marL="1371600" indent="0">
              <a:buNone/>
              <a:defRPr lang="tr-TR" sz="900"/>
            </a:lvl4pPr>
            <a:lvl5pPr marL="1828800" indent="0">
              <a:buNone/>
              <a:defRPr lang="tr-TR" sz="900"/>
            </a:lvl5pPr>
            <a:lvl6pPr marL="2286000" indent="0">
              <a:buNone/>
              <a:defRPr lang="tr-TR" sz="900"/>
            </a:lvl6pPr>
            <a:lvl7pPr marL="2743200" indent="0">
              <a:buNone/>
              <a:defRPr lang="tr-TR" sz="900"/>
            </a:lvl7pPr>
            <a:lvl8pPr marL="3200400" indent="0">
              <a:buNone/>
              <a:defRPr lang="tr-TR" sz="900"/>
            </a:lvl8pPr>
            <a:lvl9pPr marL="3657600" indent="0">
              <a:buNone/>
              <a:defRPr lang="tr-TR" sz="900"/>
            </a:lvl9pPr>
          </a:lstStyle>
          <a:p>
            <a:pPr lvl="0"/>
            <a:r>
              <a:rPr lang="tr-TR"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lang="tr-TR" sz="2000" b="1"/>
            </a:lvl1pPr>
          </a:lstStyle>
          <a:p>
            <a:r>
              <a:rPr lang="tr-TR" smtClean="0"/>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lang="tr-TR" sz="3200"/>
            </a:lvl1pPr>
            <a:lvl2pPr marL="457200" indent="0">
              <a:buNone/>
              <a:defRPr lang="tr-TR" sz="2800"/>
            </a:lvl2pPr>
            <a:lvl3pPr marL="914400" indent="0">
              <a:buNone/>
              <a:defRPr lang="tr-TR" sz="2400"/>
            </a:lvl3pPr>
            <a:lvl4pPr marL="1371600" indent="0">
              <a:buNone/>
              <a:defRPr lang="tr-TR" sz="2000"/>
            </a:lvl4pPr>
            <a:lvl5pPr marL="1828800" indent="0">
              <a:buNone/>
              <a:defRPr lang="tr-TR" sz="2000"/>
            </a:lvl5pPr>
            <a:lvl6pPr marL="2286000" indent="0">
              <a:buNone/>
              <a:defRPr lang="tr-TR" sz="2000"/>
            </a:lvl6pPr>
            <a:lvl7pPr marL="2743200" indent="0">
              <a:buNone/>
              <a:defRPr lang="tr-TR" sz="2000"/>
            </a:lvl7pPr>
            <a:lvl8pPr marL="3200400" indent="0">
              <a:buNone/>
              <a:defRPr lang="tr-TR" sz="2000"/>
            </a:lvl8pPr>
            <a:lvl9pPr marL="3657600" indent="0">
              <a:buNone/>
              <a:defRPr lang="tr-TR" sz="2000"/>
            </a:lvl9pPr>
          </a:lstStyle>
          <a:p>
            <a:endParaRPr lang="tr-TR"/>
          </a:p>
        </p:txBody>
      </p:sp>
      <p:sp>
        <p:nvSpPr>
          <p:cNvPr id="4" name="Text Placeholder 3"/>
          <p:cNvSpPr>
            <a:spLocks noGrp="1"/>
          </p:cNvSpPr>
          <p:nvPr>
            <p:ph type="body" sz="half" idx="2"/>
          </p:nvPr>
        </p:nvSpPr>
        <p:spPr>
          <a:xfrm>
            <a:off x="1792288" y="5367338"/>
            <a:ext cx="5486400" cy="804862"/>
          </a:xfrm>
        </p:spPr>
        <p:txBody>
          <a:bodyPr/>
          <a:lstStyle>
            <a:lvl1pPr marL="0" indent="0">
              <a:buNone/>
              <a:defRPr lang="tr-TR" sz="1400"/>
            </a:lvl1pPr>
            <a:lvl2pPr marL="457200" indent="0">
              <a:buNone/>
              <a:defRPr lang="tr-TR" sz="1200"/>
            </a:lvl2pPr>
            <a:lvl3pPr marL="914400" indent="0">
              <a:buNone/>
              <a:defRPr lang="tr-TR" sz="1000"/>
            </a:lvl3pPr>
            <a:lvl4pPr marL="1371600" indent="0">
              <a:buNone/>
              <a:defRPr lang="tr-TR" sz="900"/>
            </a:lvl4pPr>
            <a:lvl5pPr marL="1828800" indent="0">
              <a:buNone/>
              <a:defRPr lang="tr-TR" sz="900"/>
            </a:lvl5pPr>
            <a:lvl6pPr marL="2286000" indent="0">
              <a:buNone/>
              <a:defRPr lang="tr-TR" sz="900"/>
            </a:lvl6pPr>
            <a:lvl7pPr marL="2743200" indent="0">
              <a:buNone/>
              <a:defRPr lang="tr-TR" sz="900"/>
            </a:lvl7pPr>
            <a:lvl8pPr marL="3200400" indent="0">
              <a:buNone/>
              <a:defRPr lang="tr-TR" sz="900"/>
            </a:lvl8pPr>
            <a:lvl9pPr marL="3657600" indent="0">
              <a:buNone/>
              <a:defRPr lang="tr-TR" sz="900"/>
            </a:lvl9pPr>
          </a:lstStyle>
          <a:p>
            <a:pPr lvl="0"/>
            <a:r>
              <a:rPr lang="tr-TR"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tr-TR" smtClean="0"/>
              <a:t>Click to edit Master title style</a:t>
            </a:r>
            <a:endParaRPr lang="tr-T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smtClean="0"/>
              <a:t>Click to edit Master title style</a:t>
            </a:r>
            <a:endParaRPr lang="tr-T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tr-TR" sz="1200">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tr-TR" sz="12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tr-TR" sz="1200">
                <a:solidFill>
                  <a:schemeClr val="tx1">
                    <a:tint val="75000"/>
                  </a:schemeClr>
                </a:solidFill>
              </a:defRPr>
            </a:lvl1pPr>
          </a:lstStyle>
          <a:p>
            <a:fld id="{C1FF6DA9-008F-8B48-92A6-B652298478BF}" type="slidenum">
              <a:rPr lang="tr-TR" smtClean="0"/>
              <a:t>‹#›</a:t>
            </a:fld>
            <a:endParaRPr lang="tr-T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lang="tr-T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lang="tr-T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lang="tr-T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lang="tr-T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9pPr>
    </p:bodyStyle>
    <p:otherStyle>
      <a:defPPr>
        <a:defRPr lang="tr-TR"/>
      </a:defPPr>
      <a:lvl1pPr marL="0" algn="l" defTabSz="457200" rtl="0" eaLnBrk="1" latinLnBrk="0" hangingPunct="1">
        <a:defRPr lang="tr-TR" sz="1800" kern="1200">
          <a:solidFill>
            <a:schemeClr val="tx1"/>
          </a:solidFill>
          <a:latin typeface="+mn-lt"/>
          <a:ea typeface="+mn-ea"/>
          <a:cs typeface="+mn-cs"/>
        </a:defRPr>
      </a:lvl1pPr>
      <a:lvl2pPr marL="457200" algn="l" defTabSz="457200" rtl="0" eaLnBrk="1" latinLnBrk="0" hangingPunct="1">
        <a:defRPr lang="tr-TR" sz="1800" kern="1200">
          <a:solidFill>
            <a:schemeClr val="tx1"/>
          </a:solidFill>
          <a:latin typeface="+mn-lt"/>
          <a:ea typeface="+mn-ea"/>
          <a:cs typeface="+mn-cs"/>
        </a:defRPr>
      </a:lvl2pPr>
      <a:lvl3pPr marL="914400" algn="l" defTabSz="457200" rtl="0" eaLnBrk="1" latinLnBrk="0" hangingPunct="1">
        <a:defRPr lang="tr-TR" sz="1800" kern="1200">
          <a:solidFill>
            <a:schemeClr val="tx1"/>
          </a:solidFill>
          <a:latin typeface="+mn-lt"/>
          <a:ea typeface="+mn-ea"/>
          <a:cs typeface="+mn-cs"/>
        </a:defRPr>
      </a:lvl3pPr>
      <a:lvl4pPr marL="1371600" algn="l" defTabSz="457200" rtl="0" eaLnBrk="1" latinLnBrk="0" hangingPunct="1">
        <a:defRPr lang="tr-TR" sz="1800" kern="1200">
          <a:solidFill>
            <a:schemeClr val="tx1"/>
          </a:solidFill>
          <a:latin typeface="+mn-lt"/>
          <a:ea typeface="+mn-ea"/>
          <a:cs typeface="+mn-cs"/>
        </a:defRPr>
      </a:lvl4pPr>
      <a:lvl5pPr marL="1828800" algn="l" defTabSz="457200" rtl="0" eaLnBrk="1" latinLnBrk="0" hangingPunct="1">
        <a:defRPr lang="tr-TR" sz="1800" kern="1200">
          <a:solidFill>
            <a:schemeClr val="tx1"/>
          </a:solidFill>
          <a:latin typeface="+mn-lt"/>
          <a:ea typeface="+mn-ea"/>
          <a:cs typeface="+mn-cs"/>
        </a:defRPr>
      </a:lvl5pPr>
      <a:lvl6pPr marL="2286000" algn="l" defTabSz="457200" rtl="0" eaLnBrk="1" latinLnBrk="0" hangingPunct="1">
        <a:defRPr lang="tr-TR" sz="1800" kern="1200">
          <a:solidFill>
            <a:schemeClr val="tx1"/>
          </a:solidFill>
          <a:latin typeface="+mn-lt"/>
          <a:ea typeface="+mn-ea"/>
          <a:cs typeface="+mn-cs"/>
        </a:defRPr>
      </a:lvl6pPr>
      <a:lvl7pPr marL="2743200" algn="l" defTabSz="457200" rtl="0" eaLnBrk="1" latinLnBrk="0" hangingPunct="1">
        <a:defRPr lang="tr-TR" sz="1800" kern="1200">
          <a:solidFill>
            <a:schemeClr val="tx1"/>
          </a:solidFill>
          <a:latin typeface="+mn-lt"/>
          <a:ea typeface="+mn-ea"/>
          <a:cs typeface="+mn-cs"/>
        </a:defRPr>
      </a:lvl7pPr>
      <a:lvl8pPr marL="3200400" algn="l" defTabSz="457200" rtl="0" eaLnBrk="1" latinLnBrk="0" hangingPunct="1">
        <a:defRPr lang="tr-TR" sz="1800" kern="1200">
          <a:solidFill>
            <a:schemeClr val="tx1"/>
          </a:solidFill>
          <a:latin typeface="+mn-lt"/>
          <a:ea typeface="+mn-ea"/>
          <a:cs typeface="+mn-cs"/>
        </a:defRPr>
      </a:lvl8pPr>
      <a:lvl9pPr marL="3657600" algn="l" defTabSz="457200" rtl="0" eaLnBrk="1" latinLnBrk="0" hangingPunct="1">
        <a:defRPr lang="tr-T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3.jpg"/><Relationship Id="rId4" Type="http://schemas.openxmlformats.org/officeDocument/2006/relationships/image" Target="../media/image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7.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8.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9.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9.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apak_s32-33.jpg"/>
          <p:cNvPicPr>
            <a:picLocks noChangeAspect="1"/>
          </p:cNvPicPr>
          <p:nvPr/>
        </p:nvPicPr>
        <p:blipFill>
          <a:blip r:embed="rId2"/>
          <a:srcRect l="1" r="1"/>
          <a:stretch>
            <a:fillRect/>
          </a:stretch>
        </p:blipFill>
        <p:spPr>
          <a:xfrm>
            <a:off x="0" y="0"/>
            <a:ext cx="12191695" cy="6858000"/>
          </a:xfrm>
          <a:prstGeom prst="rect">
            <a:avLst/>
          </a:prstGeom>
        </p:spPr>
      </p:pic>
      <p:sp>
        <p:nvSpPr>
          <p:cNvPr id="3" name="Rectangle 2"/>
          <p:cNvSpPr/>
          <p:nvPr/>
        </p:nvSpPr>
        <p:spPr>
          <a:xfrm>
            <a:off x="0" y="3886200"/>
            <a:ext cx="12191695" cy="2971800"/>
          </a:xfrm>
          <a:prstGeom prst="rect">
            <a:avLst/>
          </a:prstGeom>
          <a:solidFill>
            <a:srgbClr val="4F4F4F">
              <a:alpha val="86000"/>
            </a:srgbClr>
          </a:solidFill>
          <a:ln>
            <a:noFill/>
          </a:ln>
          <a:effectLst/>
        </p:spPr>
        <p:txBody>
          <a:bodyPr rtlCol="0" anchor="ctr"/>
          <a:lstStyle/>
          <a:p/>
        </p:txBody>
      </p:sp>
      <p:sp>
        <p:nvSpPr>
          <p:cNvPr id="4" name="Rectangle 3"/>
          <p:cNvSpPr/>
          <p:nvPr/>
        </p:nvSpPr>
        <p:spPr>
          <a:xfrm>
            <a:off x="0" y="3886200"/>
            <a:ext cx="12191695" cy="73152"/>
          </a:xfrm>
          <a:prstGeom prst="rect">
            <a:avLst/>
          </a:prstGeom>
          <a:solidFill>
            <a:srgbClr val="FCC021"/>
          </a:solidFill>
          <a:ln>
            <a:noFill/>
          </a:ln>
          <a:effectLst/>
        </p:spPr>
        <p:txBody>
          <a:bodyPr rtlCol="0" anchor="ctr"/>
          <a:lstStyle/>
          <a:p/>
        </p:txBody>
      </p:sp>
      <p:sp>
        <p:nvSpPr>
          <p:cNvPr id="5" name="TextBox 4"/>
          <p:cNvSpPr txBox="1"/>
          <p:nvPr/>
        </p:nvSpPr>
        <p:spPr>
          <a:xfrm>
            <a:off x="685800" y="4069080"/>
            <a:ext cx="10789920" cy="457200"/>
          </a:xfrm>
          <a:prstGeom prst="rect">
            <a:avLst/>
          </a:prstGeom>
          <a:noFill/>
        </p:spPr>
        <p:txBody>
          <a:bodyPr wrap="square" anchor="t" lIns="73152" rIns="73152" tIns="36576" bIns="36576">
            <a:noAutofit/>
          </a:bodyPr>
          <a:lstStyle/>
          <a:p>
            <a:pPr algn="l">
              <a:spcBef>
                <a:spcPts val="0"/>
              </a:spcBef>
              <a:spcAft>
                <a:spcPts val="0"/>
              </a:spcAft>
            </a:pPr>
            <a:r>
              <a:rPr lang="tr-TR" sz="2000" b="1" i="0">
                <a:solidFill>
                  <a:srgbClr val="FCC021"/>
                </a:solidFill>
                <a:latin typeface="Calibri"/>
              </a:rPr>
              <a:t>9. SINIF COĞRAFYA · 2. ÜNİTE</a:t>
            </a:r>
          </a:p>
        </p:txBody>
      </p:sp>
      <p:sp>
        <p:nvSpPr>
          <p:cNvPr id="6" name="TextBox 5"/>
          <p:cNvSpPr txBox="1"/>
          <p:nvPr/>
        </p:nvSpPr>
        <p:spPr>
          <a:xfrm>
            <a:off x="685800" y="4498848"/>
            <a:ext cx="10789920" cy="1051560"/>
          </a:xfrm>
          <a:prstGeom prst="rect">
            <a:avLst/>
          </a:prstGeom>
          <a:noFill/>
        </p:spPr>
        <p:txBody>
          <a:bodyPr wrap="square" anchor="ctr" lIns="73152" rIns="73152" tIns="36576" bIns="36576">
            <a:noAutofit/>
          </a:bodyPr>
          <a:lstStyle/>
          <a:p>
            <a:pPr algn="l">
              <a:spcBef>
                <a:spcPts val="0"/>
              </a:spcBef>
              <a:spcAft>
                <a:spcPts val="0"/>
              </a:spcAft>
            </a:pPr>
            <a:r>
              <a:rPr lang="tr-TR" sz="6000" b="1" i="0">
                <a:solidFill>
                  <a:srgbClr val="FFFFFF"/>
                </a:solidFill>
                <a:latin typeface="Calibri"/>
              </a:rPr>
              <a:t>MEKÂNSAL BİLGİ TEKNOLOJİLERİ</a:t>
            </a:r>
          </a:p>
        </p:txBody>
      </p:sp>
      <p:sp>
        <p:nvSpPr>
          <p:cNvPr id="7" name="TextBox 6"/>
          <p:cNvSpPr txBox="1"/>
          <p:nvPr/>
        </p:nvSpPr>
        <p:spPr>
          <a:xfrm>
            <a:off x="685800" y="5577840"/>
            <a:ext cx="8778240" cy="1051560"/>
          </a:xfrm>
          <a:prstGeom prst="rect">
            <a:avLst/>
          </a:prstGeom>
          <a:noFill/>
        </p:spPr>
        <p:txBody>
          <a:bodyPr wrap="square" anchor="t" lIns="73152" rIns="73152" tIns="36576" bIns="36576">
            <a:noAutofit/>
          </a:bodyPr>
          <a:lstStyle/>
          <a:p>
            <a:pPr algn="l">
              <a:spcBef>
                <a:spcPts val="0"/>
              </a:spcBef>
              <a:spcAft>
                <a:spcPts val="200"/>
              </a:spcAft>
            </a:pPr>
            <a:r>
              <a:rPr lang="tr-TR" sz="1800" b="0" i="0">
                <a:solidFill>
                  <a:srgbClr val="FFFFFF"/>
                </a:solidFill>
                <a:latin typeface="Calibri"/>
              </a:rPr>
              <a:t>2.1. Harita Okuryazarlığı · 10 ders saati · 4-8. haftalar</a:t>
            </a:r>
          </a:p>
          <a:p>
            <a:pPr algn="l">
              <a:spcBef>
                <a:spcPts val="0"/>
              </a:spcBef>
              <a:spcAft>
                <a:spcPts val="0"/>
              </a:spcAft>
            </a:pPr>
            <a:r>
              <a:rPr lang="tr-TR" sz="1800" b="0" i="0">
                <a:solidFill>
                  <a:srgbClr val="FFFFFF"/>
                </a:solidFill>
                <a:latin typeface="Calibri"/>
              </a:rPr>
              <a:t>2026-2027 Eğitim ve Öğretim Yılı</a:t>
            </a:r>
          </a:p>
        </p:txBody>
      </p:sp>
      <p:sp>
        <p:nvSpPr>
          <p:cNvPr id="8" name="TextBox 7"/>
          <p:cNvSpPr txBox="1"/>
          <p:nvPr/>
        </p:nvSpPr>
        <p:spPr>
          <a:xfrm>
            <a:off x="8229600" y="6446520"/>
            <a:ext cx="3794760" cy="320040"/>
          </a:xfrm>
          <a:prstGeom prst="rect">
            <a:avLst/>
          </a:prstGeom>
          <a:noFill/>
        </p:spPr>
        <p:txBody>
          <a:bodyPr wrap="square" anchor="t" lIns="73152" rIns="73152" tIns="36576" bIns="36576">
            <a:noAutofit/>
          </a:bodyPr>
          <a:lstStyle/>
          <a:p>
            <a:pPr algn="r">
              <a:spcBef>
                <a:spcPts val="0"/>
              </a:spcBef>
              <a:spcAft>
                <a:spcPts val="0"/>
              </a:spcAft>
            </a:pPr>
            <a:r>
              <a:rPr lang="tr-TR" sz="1000" b="0" i="0">
                <a:solidFill>
                  <a:srgbClr val="F0F0F0"/>
                </a:solidFill>
                <a:latin typeface="Calibri"/>
              </a:rPr>
              <a:t>Görsel: 9. Sınıf Coğrafya Ders Kitabı, s. 32-33 (ünite açılışı)</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 ünitede neler öğreneceğiz?</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2. ÜNİTE</a:t>
            </a:r>
          </a:p>
        </p:txBody>
      </p:sp>
      <p:sp>
        <p:nvSpPr>
          <p:cNvPr id="6" name="Rounded Rectangle 5"/>
          <p:cNvSpPr/>
          <p:nvPr/>
        </p:nvSpPr>
        <p:spPr>
          <a:xfrm>
            <a:off x="502920" y="1261872"/>
            <a:ext cx="3576218" cy="4983480"/>
          </a:xfrm>
          <a:prstGeom prst="roundRect">
            <a:avLst>
              <a:gd name="adj" fmla="val 4000"/>
            </a:avLst>
          </a:prstGeom>
          <a:solidFill>
            <a:srgbClr val="F0F0F0"/>
          </a:solidFill>
          <a:ln>
            <a:noFill/>
          </a:ln>
          <a:effectLst/>
        </p:spPr>
        <p:txBody>
          <a:bodyPr rtlCol="0" anchor="ctr"/>
          <a:lstStyle/>
          <a:p/>
        </p:txBody>
      </p:sp>
      <p:sp>
        <p:nvSpPr>
          <p:cNvPr id="7" name="Rounded Rectangle 6"/>
          <p:cNvSpPr/>
          <p:nvPr/>
        </p:nvSpPr>
        <p:spPr>
          <a:xfrm>
            <a:off x="502920" y="1261872"/>
            <a:ext cx="3576218" cy="502920"/>
          </a:xfrm>
          <a:prstGeom prst="roundRect">
            <a:avLst>
              <a:gd name="adj" fmla="val 15000"/>
            </a:avLst>
          </a:prstGeom>
          <a:solidFill>
            <a:srgbClr val="2C6696"/>
          </a:solidFill>
          <a:ln>
            <a:noFill/>
          </a:ln>
          <a:effectLst/>
        </p:spPr>
        <p:txBody>
          <a:bodyPr rtlCol="0" anchor="ctr" wrap="square" lIns="128016" rIns="128016" tIns="73152" bIns="73152">
            <a:noAutofit/>
          </a:bodyPr>
          <a:lstStyle/>
          <a:p>
            <a:pPr algn="ctr">
              <a:spcBef>
                <a:spcPts val="0"/>
              </a:spcBef>
              <a:spcAft>
                <a:spcPts val="0"/>
              </a:spcAft>
            </a:pPr>
            <a:r>
              <a:rPr lang="tr-TR" sz="1700" b="1" i="0">
                <a:solidFill>
                  <a:srgbClr val="FFFFFF"/>
                </a:solidFill>
                <a:latin typeface="Calibri"/>
              </a:rPr>
              <a:t>4-6. haftalar · Kitap s. 34-58</a:t>
            </a:r>
          </a:p>
        </p:txBody>
      </p:sp>
      <p:sp>
        <p:nvSpPr>
          <p:cNvPr id="8" name="TextBox 7"/>
          <p:cNvSpPr txBox="1"/>
          <p:nvPr/>
        </p:nvSpPr>
        <p:spPr>
          <a:xfrm>
            <a:off x="640080" y="1901952"/>
            <a:ext cx="3301898" cy="1143000"/>
          </a:xfrm>
          <a:prstGeom prst="rect">
            <a:avLst/>
          </a:prstGeom>
          <a:noFill/>
        </p:spPr>
        <p:txBody>
          <a:bodyPr wrap="square" anchor="t" lIns="73152" rIns="73152" tIns="36576" bIns="36576">
            <a:noAutofit/>
          </a:bodyPr>
          <a:lstStyle/>
          <a:p>
            <a:pPr algn="l">
              <a:spcBef>
                <a:spcPts val="0"/>
              </a:spcBef>
              <a:spcAft>
                <a:spcPts val="0"/>
              </a:spcAft>
            </a:pPr>
            <a:r>
              <a:rPr lang="tr-TR" sz="2400" b="1" i="0">
                <a:solidFill>
                  <a:srgbClr val="2C6696"/>
                </a:solidFill>
                <a:latin typeface="Calibri"/>
              </a:rPr>
              <a:t>2.1.1. Mekânın Sembolik Dili: Harita</a:t>
            </a:r>
          </a:p>
        </p:txBody>
      </p:sp>
      <p:sp>
        <p:nvSpPr>
          <p:cNvPr id="9" name="TextBox 8"/>
          <p:cNvSpPr txBox="1"/>
          <p:nvPr/>
        </p:nvSpPr>
        <p:spPr>
          <a:xfrm>
            <a:off x="640080" y="3090672"/>
            <a:ext cx="3301898" cy="365760"/>
          </a:xfrm>
          <a:prstGeom prst="rect">
            <a:avLst/>
          </a:prstGeom>
          <a:noFill/>
        </p:spPr>
        <p:txBody>
          <a:bodyPr wrap="square" anchor="t" lIns="73152" rIns="73152" tIns="36576" bIns="36576">
            <a:noAutofit/>
          </a:bodyPr>
          <a:lstStyle/>
          <a:p>
            <a:pPr algn="l">
              <a:spcBef>
                <a:spcPts val="0"/>
              </a:spcBef>
              <a:spcAft>
                <a:spcPts val="0"/>
              </a:spcAft>
            </a:pPr>
            <a:r>
              <a:rPr lang="tr-TR" sz="1600" b="1" i="0">
                <a:solidFill>
                  <a:srgbClr val="D3373A"/>
                </a:solidFill>
                <a:latin typeface="Calibri"/>
              </a:rPr>
              <a:t>COĞ.9.2.1</a:t>
            </a:r>
          </a:p>
        </p:txBody>
      </p:sp>
      <p:sp>
        <p:nvSpPr>
          <p:cNvPr id="10" name="TextBox 9"/>
          <p:cNvSpPr txBox="1"/>
          <p:nvPr/>
        </p:nvSpPr>
        <p:spPr>
          <a:xfrm>
            <a:off x="640080" y="3438144"/>
            <a:ext cx="3301898" cy="1143000"/>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Harita uygulamaları yapabilme</a:t>
            </a:r>
          </a:p>
        </p:txBody>
      </p:sp>
      <p:cxnSp>
        <p:nvCxnSpPr>
          <p:cNvPr id="11" name="Connector 10"/>
          <p:cNvCxnSpPr/>
          <p:nvPr/>
        </p:nvCxnSpPr>
        <p:spPr>
          <a:xfrm>
            <a:off x="685800" y="4645152"/>
            <a:ext cx="3210458" cy="0"/>
          </a:xfrm>
          <a:prstGeom prst="line">
            <a:avLst/>
          </a:prstGeom>
          <a:ln w="12700">
            <a:solidFill>
              <a:srgbClr val="D9D9D9"/>
            </a:solidFill>
          </a:ln>
        </p:spPr>
      </p:cxnSp>
      <p:sp>
        <p:nvSpPr>
          <p:cNvPr id="12" name="TextBox 11"/>
          <p:cNvSpPr txBox="1"/>
          <p:nvPr/>
        </p:nvSpPr>
        <p:spPr>
          <a:xfrm>
            <a:off x="640080" y="4736592"/>
            <a:ext cx="3301898" cy="1417320"/>
          </a:xfrm>
          <a:prstGeom prst="rect">
            <a:avLst/>
          </a:prstGeom>
          <a:noFill/>
        </p:spPr>
        <p:txBody>
          <a:bodyPr wrap="square" anchor="t" lIns="73152" rIns="73152" tIns="36576" bIns="36576">
            <a:noAutofit/>
          </a:bodyPr>
          <a:lstStyle/>
          <a:p>
            <a:pPr algn="l">
              <a:spcBef>
                <a:spcPts val="0"/>
              </a:spcBef>
              <a:spcAft>
                <a:spcPts val="0"/>
              </a:spcAft>
            </a:pPr>
            <a:r>
              <a:rPr lang="tr-TR" sz="1700" b="0" i="1">
                <a:solidFill>
                  <a:srgbClr val="767676"/>
                </a:solidFill>
                <a:latin typeface="Calibri"/>
              </a:rPr>
              <a:t>Kitap: …harita bileşenlerinden yararlanılarak çeşitli uygulamaların yapılabilmesi; koordinat sistemi hakkında bilgi edinilebilmesi…</a:t>
            </a:r>
          </a:p>
        </p:txBody>
      </p:sp>
      <p:sp>
        <p:nvSpPr>
          <p:cNvPr id="13" name="Rounded Rectangle 12"/>
          <p:cNvSpPr/>
          <p:nvPr/>
        </p:nvSpPr>
        <p:spPr>
          <a:xfrm>
            <a:off x="4307738" y="1261872"/>
            <a:ext cx="3576218" cy="4983480"/>
          </a:xfrm>
          <a:prstGeom prst="roundRect">
            <a:avLst>
              <a:gd name="adj" fmla="val 4000"/>
            </a:avLst>
          </a:prstGeom>
          <a:solidFill>
            <a:srgbClr val="F0F0F0"/>
          </a:solidFill>
          <a:ln>
            <a:noFill/>
          </a:ln>
          <a:effectLst/>
        </p:spPr>
        <p:txBody>
          <a:bodyPr rtlCol="0" anchor="ctr"/>
          <a:lstStyle/>
          <a:p/>
        </p:txBody>
      </p:sp>
      <p:sp>
        <p:nvSpPr>
          <p:cNvPr id="14" name="Rounded Rectangle 13"/>
          <p:cNvSpPr/>
          <p:nvPr/>
        </p:nvSpPr>
        <p:spPr>
          <a:xfrm>
            <a:off x="4307738" y="1261872"/>
            <a:ext cx="3576218" cy="502920"/>
          </a:xfrm>
          <a:prstGeom prst="roundRect">
            <a:avLst>
              <a:gd name="adj" fmla="val 15000"/>
            </a:avLst>
          </a:prstGeom>
          <a:solidFill>
            <a:srgbClr val="D3373A"/>
          </a:solidFill>
          <a:ln>
            <a:noFill/>
          </a:ln>
          <a:effectLst/>
        </p:spPr>
        <p:txBody>
          <a:bodyPr rtlCol="0" anchor="ctr" wrap="square" lIns="128016" rIns="128016" tIns="73152" bIns="73152">
            <a:noAutofit/>
          </a:bodyPr>
          <a:lstStyle/>
          <a:p>
            <a:pPr algn="ctr">
              <a:spcBef>
                <a:spcPts val="0"/>
              </a:spcBef>
              <a:spcAft>
                <a:spcPts val="0"/>
              </a:spcAft>
            </a:pPr>
            <a:r>
              <a:rPr lang="tr-TR" sz="1700" b="1" i="0">
                <a:solidFill>
                  <a:srgbClr val="FFFFFF"/>
                </a:solidFill>
                <a:latin typeface="Calibri"/>
              </a:rPr>
              <a:t>7. hafta · Kitap s. 59-65</a:t>
            </a:r>
          </a:p>
        </p:txBody>
      </p:sp>
      <p:sp>
        <p:nvSpPr>
          <p:cNvPr id="15" name="TextBox 14"/>
          <p:cNvSpPr txBox="1"/>
          <p:nvPr/>
        </p:nvSpPr>
        <p:spPr>
          <a:xfrm>
            <a:off x="4444898" y="1901952"/>
            <a:ext cx="3301898" cy="1143000"/>
          </a:xfrm>
          <a:prstGeom prst="rect">
            <a:avLst/>
          </a:prstGeom>
          <a:noFill/>
        </p:spPr>
        <p:txBody>
          <a:bodyPr wrap="square" anchor="t" lIns="73152" rIns="73152" tIns="36576" bIns="36576">
            <a:noAutofit/>
          </a:bodyPr>
          <a:lstStyle/>
          <a:p>
            <a:pPr algn="l">
              <a:spcBef>
                <a:spcPts val="0"/>
              </a:spcBef>
              <a:spcAft>
                <a:spcPts val="0"/>
              </a:spcAft>
            </a:pPr>
            <a:r>
              <a:rPr lang="tr-TR" sz="2400" b="1" i="0">
                <a:solidFill>
                  <a:srgbClr val="D3373A"/>
                </a:solidFill>
                <a:latin typeface="Calibri"/>
              </a:rPr>
              <a:t>2.1.2. Türkiye’nin Coğrafi Konumu</a:t>
            </a:r>
          </a:p>
        </p:txBody>
      </p:sp>
      <p:sp>
        <p:nvSpPr>
          <p:cNvPr id="16" name="TextBox 15"/>
          <p:cNvSpPr txBox="1"/>
          <p:nvPr/>
        </p:nvSpPr>
        <p:spPr>
          <a:xfrm>
            <a:off x="4444898" y="3090672"/>
            <a:ext cx="3301898" cy="365760"/>
          </a:xfrm>
          <a:prstGeom prst="rect">
            <a:avLst/>
          </a:prstGeom>
          <a:noFill/>
        </p:spPr>
        <p:txBody>
          <a:bodyPr wrap="square" anchor="t" lIns="73152" rIns="73152" tIns="36576" bIns="36576">
            <a:noAutofit/>
          </a:bodyPr>
          <a:lstStyle/>
          <a:p>
            <a:pPr algn="l">
              <a:spcBef>
                <a:spcPts val="0"/>
              </a:spcBef>
              <a:spcAft>
                <a:spcPts val="0"/>
              </a:spcAft>
            </a:pPr>
            <a:r>
              <a:rPr lang="tr-TR" sz="1600" b="1" i="0">
                <a:solidFill>
                  <a:srgbClr val="D3373A"/>
                </a:solidFill>
                <a:latin typeface="Calibri"/>
              </a:rPr>
              <a:t>COĞ.9.2.2</a:t>
            </a:r>
          </a:p>
        </p:txBody>
      </p:sp>
      <p:sp>
        <p:nvSpPr>
          <p:cNvPr id="17" name="TextBox 16"/>
          <p:cNvSpPr txBox="1"/>
          <p:nvPr/>
        </p:nvSpPr>
        <p:spPr>
          <a:xfrm>
            <a:off x="4444898" y="3438144"/>
            <a:ext cx="3301898" cy="1143000"/>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Türkiye'nin konum özelliklerini algılayabilme</a:t>
            </a:r>
          </a:p>
        </p:txBody>
      </p:sp>
      <p:cxnSp>
        <p:nvCxnSpPr>
          <p:cNvPr id="18" name="Connector 17"/>
          <p:cNvCxnSpPr/>
          <p:nvPr/>
        </p:nvCxnSpPr>
        <p:spPr>
          <a:xfrm>
            <a:off x="4490618" y="4645152"/>
            <a:ext cx="3210458" cy="0"/>
          </a:xfrm>
          <a:prstGeom prst="line">
            <a:avLst/>
          </a:prstGeom>
          <a:ln w="12700">
            <a:solidFill>
              <a:srgbClr val="D9D9D9"/>
            </a:solidFill>
          </a:ln>
        </p:spPr>
      </p:cxnSp>
      <p:sp>
        <p:nvSpPr>
          <p:cNvPr id="19" name="TextBox 18"/>
          <p:cNvSpPr txBox="1"/>
          <p:nvPr/>
        </p:nvSpPr>
        <p:spPr>
          <a:xfrm>
            <a:off x="4444898" y="4736592"/>
            <a:ext cx="3301898" cy="1417320"/>
          </a:xfrm>
          <a:prstGeom prst="rect">
            <a:avLst/>
          </a:prstGeom>
          <a:noFill/>
        </p:spPr>
        <p:txBody>
          <a:bodyPr wrap="square" anchor="t" lIns="73152" rIns="73152" tIns="36576" bIns="36576">
            <a:noAutofit/>
          </a:bodyPr>
          <a:lstStyle/>
          <a:p>
            <a:pPr algn="l">
              <a:spcBef>
                <a:spcPts val="0"/>
              </a:spcBef>
              <a:spcAft>
                <a:spcPts val="0"/>
              </a:spcAft>
            </a:pPr>
            <a:r>
              <a:rPr lang="tr-TR" sz="1700" b="0" i="1">
                <a:solidFill>
                  <a:srgbClr val="767676"/>
                </a:solidFill>
                <a:latin typeface="Calibri"/>
              </a:rPr>
              <a:t>Kitap: …Türkiye’nin coğrafi konum özelliklerinin açıklanabilmesi…</a:t>
            </a:r>
          </a:p>
        </p:txBody>
      </p:sp>
      <p:sp>
        <p:nvSpPr>
          <p:cNvPr id="20" name="Rounded Rectangle 19"/>
          <p:cNvSpPr/>
          <p:nvPr/>
        </p:nvSpPr>
        <p:spPr>
          <a:xfrm>
            <a:off x="8112556" y="1261872"/>
            <a:ext cx="3576218" cy="4983480"/>
          </a:xfrm>
          <a:prstGeom prst="roundRect">
            <a:avLst>
              <a:gd name="adj" fmla="val 4000"/>
            </a:avLst>
          </a:prstGeom>
          <a:solidFill>
            <a:srgbClr val="F0F0F0"/>
          </a:solidFill>
          <a:ln>
            <a:noFill/>
          </a:ln>
          <a:effectLst/>
        </p:spPr>
        <p:txBody>
          <a:bodyPr rtlCol="0" anchor="ctr"/>
          <a:lstStyle/>
          <a:p/>
        </p:txBody>
      </p:sp>
      <p:sp>
        <p:nvSpPr>
          <p:cNvPr id="21" name="Rounded Rectangle 20"/>
          <p:cNvSpPr/>
          <p:nvPr/>
        </p:nvSpPr>
        <p:spPr>
          <a:xfrm>
            <a:off x="8112556" y="1261872"/>
            <a:ext cx="3576218" cy="502920"/>
          </a:xfrm>
          <a:prstGeom prst="roundRect">
            <a:avLst>
              <a:gd name="adj" fmla="val 15000"/>
            </a:avLst>
          </a:prstGeom>
          <a:solidFill>
            <a:srgbClr val="1E7B6E"/>
          </a:solidFill>
          <a:ln>
            <a:noFill/>
          </a:ln>
          <a:effectLst/>
        </p:spPr>
        <p:txBody>
          <a:bodyPr rtlCol="0" anchor="ctr" wrap="square" lIns="128016" rIns="128016" tIns="73152" bIns="73152">
            <a:noAutofit/>
          </a:bodyPr>
          <a:lstStyle/>
          <a:p>
            <a:pPr algn="ctr">
              <a:spcBef>
                <a:spcPts val="0"/>
              </a:spcBef>
              <a:spcAft>
                <a:spcPts val="0"/>
              </a:spcAft>
            </a:pPr>
            <a:r>
              <a:rPr lang="tr-TR" sz="1700" b="1" i="0">
                <a:solidFill>
                  <a:srgbClr val="FFFFFF"/>
                </a:solidFill>
                <a:latin typeface="Calibri"/>
              </a:rPr>
              <a:t>8. hafta · Kitap s. 66-73</a:t>
            </a:r>
          </a:p>
        </p:txBody>
      </p:sp>
      <p:sp>
        <p:nvSpPr>
          <p:cNvPr id="22" name="TextBox 21"/>
          <p:cNvSpPr txBox="1"/>
          <p:nvPr/>
        </p:nvSpPr>
        <p:spPr>
          <a:xfrm>
            <a:off x="8249716" y="1901952"/>
            <a:ext cx="3301898" cy="1143000"/>
          </a:xfrm>
          <a:prstGeom prst="rect">
            <a:avLst/>
          </a:prstGeom>
          <a:noFill/>
        </p:spPr>
        <p:txBody>
          <a:bodyPr wrap="square" anchor="t" lIns="73152" rIns="73152" tIns="36576" bIns="36576">
            <a:noAutofit/>
          </a:bodyPr>
          <a:lstStyle/>
          <a:p>
            <a:pPr algn="l">
              <a:spcBef>
                <a:spcPts val="0"/>
              </a:spcBef>
              <a:spcAft>
                <a:spcPts val="0"/>
              </a:spcAft>
            </a:pPr>
            <a:r>
              <a:rPr lang="tr-TR" sz="2300" b="1" i="0">
                <a:solidFill>
                  <a:srgbClr val="1E7B6E"/>
                </a:solidFill>
                <a:latin typeface="Calibri"/>
              </a:rPr>
              <a:t>2.1.3. Mekânsal Bilgi Teknolojilerinin Bileşenleri</a:t>
            </a:r>
          </a:p>
        </p:txBody>
      </p:sp>
      <p:sp>
        <p:nvSpPr>
          <p:cNvPr id="23" name="TextBox 22"/>
          <p:cNvSpPr txBox="1"/>
          <p:nvPr/>
        </p:nvSpPr>
        <p:spPr>
          <a:xfrm>
            <a:off x="8249716" y="3090672"/>
            <a:ext cx="3301898" cy="365760"/>
          </a:xfrm>
          <a:prstGeom prst="rect">
            <a:avLst/>
          </a:prstGeom>
          <a:noFill/>
        </p:spPr>
        <p:txBody>
          <a:bodyPr wrap="square" anchor="t" lIns="73152" rIns="73152" tIns="36576" bIns="36576">
            <a:noAutofit/>
          </a:bodyPr>
          <a:lstStyle/>
          <a:p>
            <a:pPr algn="l">
              <a:spcBef>
                <a:spcPts val="0"/>
              </a:spcBef>
              <a:spcAft>
                <a:spcPts val="0"/>
              </a:spcAft>
            </a:pPr>
            <a:r>
              <a:rPr lang="tr-TR" sz="1600" b="1" i="0">
                <a:solidFill>
                  <a:srgbClr val="D3373A"/>
                </a:solidFill>
                <a:latin typeface="Calibri"/>
              </a:rPr>
              <a:t>COĞ.9.2.3</a:t>
            </a:r>
          </a:p>
        </p:txBody>
      </p:sp>
      <p:sp>
        <p:nvSpPr>
          <p:cNvPr id="24" name="TextBox 23"/>
          <p:cNvSpPr txBox="1"/>
          <p:nvPr/>
        </p:nvSpPr>
        <p:spPr>
          <a:xfrm>
            <a:off x="8249716" y="3438144"/>
            <a:ext cx="3301898" cy="1143000"/>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Mekânsal bilgi teknolojilerini oluşturan bileşenleri çözümleyebilme</a:t>
            </a:r>
          </a:p>
        </p:txBody>
      </p:sp>
      <p:cxnSp>
        <p:nvCxnSpPr>
          <p:cNvPr id="25" name="Connector 24"/>
          <p:cNvCxnSpPr/>
          <p:nvPr/>
        </p:nvCxnSpPr>
        <p:spPr>
          <a:xfrm>
            <a:off x="8295436" y="4645152"/>
            <a:ext cx="3210458" cy="0"/>
          </a:xfrm>
          <a:prstGeom prst="line">
            <a:avLst/>
          </a:prstGeom>
          <a:ln w="12700">
            <a:solidFill>
              <a:srgbClr val="D9D9D9"/>
            </a:solidFill>
          </a:ln>
        </p:spPr>
      </p:cxnSp>
      <p:sp>
        <p:nvSpPr>
          <p:cNvPr id="26" name="TextBox 25"/>
          <p:cNvSpPr txBox="1"/>
          <p:nvPr/>
        </p:nvSpPr>
        <p:spPr>
          <a:xfrm>
            <a:off x="8249716" y="4736592"/>
            <a:ext cx="3301898" cy="1417320"/>
          </a:xfrm>
          <a:prstGeom prst="rect">
            <a:avLst/>
          </a:prstGeom>
          <a:noFill/>
        </p:spPr>
        <p:txBody>
          <a:bodyPr wrap="square" anchor="t" lIns="73152" rIns="73152" tIns="36576" bIns="36576">
            <a:noAutofit/>
          </a:bodyPr>
          <a:lstStyle/>
          <a:p>
            <a:pPr algn="l">
              <a:spcBef>
                <a:spcPts val="0"/>
              </a:spcBef>
              <a:spcAft>
                <a:spcPts val="0"/>
              </a:spcAft>
            </a:pPr>
            <a:r>
              <a:rPr lang="tr-TR" sz="1700" b="0" i="1">
                <a:solidFill>
                  <a:srgbClr val="767676"/>
                </a:solidFill>
                <a:latin typeface="Calibri"/>
              </a:rPr>
              <a:t>Kitap: …mekânsal bilgi teknolojilerine ait bileşenlerin çözümlenebilmesi…</a:t>
            </a:r>
          </a:p>
        </p:txBody>
      </p:sp>
      <p:sp>
        <p:nvSpPr>
          <p:cNvPr id="27" name="TextBox 2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28" name="Rounded Rectangle 2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32</a:t>
            </a:r>
          </a:p>
        </p:txBody>
      </p:sp>
      <p:sp>
        <p:nvSpPr>
          <p:cNvPr id="29" name="TextBox 2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 / 226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Ünitede sizden beklenenler</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2. ÜNİTE</a:t>
            </a:r>
          </a:p>
        </p:txBody>
      </p:sp>
      <p:sp>
        <p:nvSpPr>
          <p:cNvPr id="6" name="Rounded Rectangle 5"/>
          <p:cNvSpPr/>
          <p:nvPr/>
        </p:nvSpPr>
        <p:spPr>
          <a:xfrm>
            <a:off x="502920" y="1399032"/>
            <a:ext cx="2645587" cy="4480560"/>
          </a:xfrm>
          <a:prstGeom prst="roundRect">
            <a:avLst>
              <a:gd name="adj" fmla="val 6000"/>
            </a:avLst>
          </a:prstGeom>
          <a:solidFill>
            <a:srgbClr val="F0F0F0"/>
          </a:solidFill>
          <a:ln>
            <a:noFill/>
          </a:ln>
          <a:effectLst/>
        </p:spPr>
        <p:txBody>
          <a:bodyPr rtlCol="0" anchor="ctr"/>
          <a:lstStyle/>
          <a:p/>
        </p:txBody>
      </p:sp>
      <p:sp>
        <p:nvSpPr>
          <p:cNvPr id="7" name="Oval 6"/>
          <p:cNvSpPr/>
          <p:nvPr/>
        </p:nvSpPr>
        <p:spPr>
          <a:xfrm>
            <a:off x="1368513" y="1673352"/>
            <a:ext cx="914400" cy="91440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3400" b="1" i="0">
                <a:solidFill>
                  <a:srgbClr val="262626"/>
                </a:solidFill>
                <a:latin typeface="Calibri"/>
              </a:rPr>
              <a:t>1</a:t>
            </a:r>
          </a:p>
        </p:txBody>
      </p:sp>
      <p:sp>
        <p:nvSpPr>
          <p:cNvPr id="8" name="TextBox 7"/>
          <p:cNvSpPr txBox="1"/>
          <p:nvPr/>
        </p:nvSpPr>
        <p:spPr>
          <a:xfrm>
            <a:off x="640080" y="2770632"/>
            <a:ext cx="2371267" cy="2240280"/>
          </a:xfrm>
          <a:prstGeom prst="rect">
            <a:avLst/>
          </a:prstGeom>
          <a:noFill/>
        </p:spPr>
        <p:txBody>
          <a:bodyPr wrap="square" anchor="ctr" lIns="73152" rIns="73152" tIns="36576" bIns="36576">
            <a:noAutofit/>
          </a:bodyPr>
          <a:lstStyle/>
          <a:p>
            <a:pPr algn="ctr">
              <a:spcBef>
                <a:spcPts val="0"/>
              </a:spcBef>
              <a:spcAft>
                <a:spcPts val="0"/>
              </a:spcAft>
            </a:pPr>
            <a:r>
              <a:rPr lang="tr-TR" sz="2100" b="0" i="0">
                <a:solidFill>
                  <a:srgbClr val="262626"/>
                </a:solidFill>
                <a:latin typeface="Calibri"/>
              </a:rPr>
              <a:t>Etkinlikleri yaparak etkinliklerdeki kontrol listesi, öz ve grup değerlendirme formlarını doldurmanız</a:t>
            </a:r>
          </a:p>
        </p:txBody>
      </p:sp>
      <p:sp>
        <p:nvSpPr>
          <p:cNvPr id="9" name="Rounded Rectangle 8"/>
          <p:cNvSpPr/>
          <p:nvPr/>
        </p:nvSpPr>
        <p:spPr>
          <a:xfrm>
            <a:off x="640080" y="5148071"/>
            <a:ext cx="2371267" cy="502920"/>
          </a:xfrm>
          <a:prstGeom prst="roundRect">
            <a:avLst>
              <a:gd name="adj" fmla="val 50000"/>
            </a:avLst>
          </a:prstGeom>
          <a:solidFill>
            <a:srgbClr val="FFFFFF"/>
          </a:solidFill>
          <a:ln w="12700">
            <a:solidFill>
              <a:srgbClr val="2C6696"/>
            </a:solidFill>
          </a:ln>
          <a:effectLst/>
        </p:spPr>
        <p:txBody>
          <a:bodyPr rtlCol="0" anchor="ctr" wrap="square" lIns="36576" rIns="36576" tIns="73152" bIns="73152">
            <a:noAutofit/>
          </a:bodyPr>
          <a:lstStyle/>
          <a:p>
            <a:pPr algn="ctr">
              <a:spcBef>
                <a:spcPts val="0"/>
              </a:spcBef>
              <a:spcAft>
                <a:spcPts val="0"/>
              </a:spcAft>
            </a:pPr>
            <a:r>
              <a:rPr lang="tr-TR" sz="1350" b="1" i="0">
                <a:solidFill>
                  <a:srgbClr val="2C6696"/>
                </a:solidFill>
                <a:latin typeface="Calibri"/>
              </a:rPr>
              <a:t>4-8. hafta · s. 57-58</a:t>
            </a:r>
          </a:p>
        </p:txBody>
      </p:sp>
      <p:sp>
        <p:nvSpPr>
          <p:cNvPr id="10" name="Rounded Rectangle 9"/>
          <p:cNvSpPr/>
          <p:nvPr/>
        </p:nvSpPr>
        <p:spPr>
          <a:xfrm>
            <a:off x="3349675" y="1399032"/>
            <a:ext cx="2645587" cy="4480560"/>
          </a:xfrm>
          <a:prstGeom prst="roundRect">
            <a:avLst>
              <a:gd name="adj" fmla="val 6000"/>
            </a:avLst>
          </a:prstGeom>
          <a:solidFill>
            <a:srgbClr val="F0F0F0"/>
          </a:solidFill>
          <a:ln>
            <a:noFill/>
          </a:ln>
          <a:effectLst/>
        </p:spPr>
        <p:txBody>
          <a:bodyPr rtlCol="0" anchor="ctr"/>
          <a:lstStyle/>
          <a:p/>
        </p:txBody>
      </p:sp>
      <p:sp>
        <p:nvSpPr>
          <p:cNvPr id="11" name="Oval 10"/>
          <p:cNvSpPr/>
          <p:nvPr/>
        </p:nvSpPr>
        <p:spPr>
          <a:xfrm>
            <a:off x="4215268" y="1673352"/>
            <a:ext cx="914400" cy="91440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3400" b="1" i="0">
                <a:solidFill>
                  <a:srgbClr val="262626"/>
                </a:solidFill>
                <a:latin typeface="Calibri"/>
              </a:rPr>
              <a:t>2</a:t>
            </a:r>
          </a:p>
        </p:txBody>
      </p:sp>
      <p:sp>
        <p:nvSpPr>
          <p:cNvPr id="12" name="TextBox 11"/>
          <p:cNvSpPr txBox="1"/>
          <p:nvPr/>
        </p:nvSpPr>
        <p:spPr>
          <a:xfrm>
            <a:off x="3486835" y="2770632"/>
            <a:ext cx="2371267" cy="2240280"/>
          </a:xfrm>
          <a:prstGeom prst="rect">
            <a:avLst/>
          </a:prstGeom>
          <a:noFill/>
        </p:spPr>
        <p:txBody>
          <a:bodyPr wrap="square" anchor="ctr" lIns="73152" rIns="73152" tIns="36576" bIns="36576">
            <a:noAutofit/>
          </a:bodyPr>
          <a:lstStyle/>
          <a:p>
            <a:pPr algn="ctr">
              <a:spcBef>
                <a:spcPts val="0"/>
              </a:spcBef>
              <a:spcAft>
                <a:spcPts val="0"/>
              </a:spcAft>
            </a:pPr>
            <a:r>
              <a:rPr lang="tr-TR" sz="2300" b="0" i="0">
                <a:solidFill>
                  <a:srgbClr val="262626"/>
                </a:solidFill>
                <a:latin typeface="Calibri"/>
              </a:rPr>
              <a:t>Açık uçlu soruları cevaplamanız</a:t>
            </a:r>
          </a:p>
        </p:txBody>
      </p:sp>
      <p:sp>
        <p:nvSpPr>
          <p:cNvPr id="13" name="Rounded Rectangle 12"/>
          <p:cNvSpPr/>
          <p:nvPr/>
        </p:nvSpPr>
        <p:spPr>
          <a:xfrm>
            <a:off x="3486835" y="5148071"/>
            <a:ext cx="2371267" cy="502920"/>
          </a:xfrm>
          <a:prstGeom prst="roundRect">
            <a:avLst>
              <a:gd name="adj" fmla="val 50000"/>
            </a:avLst>
          </a:prstGeom>
          <a:solidFill>
            <a:srgbClr val="FFFFFF"/>
          </a:solidFill>
          <a:ln w="12700">
            <a:solidFill>
              <a:srgbClr val="2C6696"/>
            </a:solidFill>
          </a:ln>
          <a:effectLst/>
        </p:spPr>
        <p:txBody>
          <a:bodyPr rtlCol="0" anchor="ctr" wrap="square" lIns="36576" rIns="36576" tIns="73152" bIns="73152">
            <a:noAutofit/>
          </a:bodyPr>
          <a:lstStyle/>
          <a:p>
            <a:pPr algn="ctr">
              <a:spcBef>
                <a:spcPts val="0"/>
              </a:spcBef>
              <a:spcAft>
                <a:spcPts val="0"/>
              </a:spcAft>
            </a:pPr>
            <a:r>
              <a:rPr lang="tr-TR" sz="1350" b="1" i="0">
                <a:solidFill>
                  <a:srgbClr val="2C6696"/>
                </a:solidFill>
                <a:latin typeface="Calibri"/>
              </a:rPr>
              <a:t>her hafta · uygulamalar</a:t>
            </a:r>
          </a:p>
        </p:txBody>
      </p:sp>
      <p:sp>
        <p:nvSpPr>
          <p:cNvPr id="14" name="Rounded Rectangle 13"/>
          <p:cNvSpPr/>
          <p:nvPr/>
        </p:nvSpPr>
        <p:spPr>
          <a:xfrm>
            <a:off x="6196430" y="1399032"/>
            <a:ext cx="2645587" cy="4480560"/>
          </a:xfrm>
          <a:prstGeom prst="roundRect">
            <a:avLst>
              <a:gd name="adj" fmla="val 6000"/>
            </a:avLst>
          </a:prstGeom>
          <a:solidFill>
            <a:srgbClr val="F0F0F0"/>
          </a:solidFill>
          <a:ln>
            <a:noFill/>
          </a:ln>
          <a:effectLst/>
        </p:spPr>
        <p:txBody>
          <a:bodyPr rtlCol="0" anchor="ctr"/>
          <a:lstStyle/>
          <a:p/>
        </p:txBody>
      </p:sp>
      <p:sp>
        <p:nvSpPr>
          <p:cNvPr id="15" name="Oval 14"/>
          <p:cNvSpPr/>
          <p:nvPr/>
        </p:nvSpPr>
        <p:spPr>
          <a:xfrm>
            <a:off x="7062023" y="1673352"/>
            <a:ext cx="914400" cy="91440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3400" b="1" i="0">
                <a:solidFill>
                  <a:srgbClr val="262626"/>
                </a:solidFill>
                <a:latin typeface="Calibri"/>
              </a:rPr>
              <a:t>3</a:t>
            </a:r>
          </a:p>
        </p:txBody>
      </p:sp>
      <p:sp>
        <p:nvSpPr>
          <p:cNvPr id="16" name="TextBox 15"/>
          <p:cNvSpPr txBox="1"/>
          <p:nvPr/>
        </p:nvSpPr>
        <p:spPr>
          <a:xfrm>
            <a:off x="6333590" y="2770632"/>
            <a:ext cx="2371267" cy="2240280"/>
          </a:xfrm>
          <a:prstGeom prst="rect">
            <a:avLst/>
          </a:prstGeom>
          <a:noFill/>
        </p:spPr>
        <p:txBody>
          <a:bodyPr wrap="square" anchor="ctr" lIns="73152" rIns="73152" tIns="36576" bIns="36576">
            <a:noAutofit/>
          </a:bodyPr>
          <a:lstStyle/>
          <a:p>
            <a:pPr algn="ctr">
              <a:spcBef>
                <a:spcPts val="0"/>
              </a:spcBef>
              <a:spcAft>
                <a:spcPts val="0"/>
              </a:spcAft>
            </a:pPr>
            <a:r>
              <a:rPr lang="tr-TR" sz="2300" b="0" i="0">
                <a:solidFill>
                  <a:srgbClr val="262626"/>
                </a:solidFill>
                <a:latin typeface="Calibri"/>
              </a:rPr>
              <a:t>Üniteyle ilgili performans görevini yerine getirmeniz</a:t>
            </a:r>
          </a:p>
        </p:txBody>
      </p:sp>
      <p:sp>
        <p:nvSpPr>
          <p:cNvPr id="17" name="Rounded Rectangle 16"/>
          <p:cNvSpPr/>
          <p:nvPr/>
        </p:nvSpPr>
        <p:spPr>
          <a:xfrm>
            <a:off x="6333590" y="5148071"/>
            <a:ext cx="2371267" cy="502920"/>
          </a:xfrm>
          <a:prstGeom prst="roundRect">
            <a:avLst>
              <a:gd name="adj" fmla="val 50000"/>
            </a:avLst>
          </a:prstGeom>
          <a:solidFill>
            <a:srgbClr val="FFFFFF"/>
          </a:solidFill>
          <a:ln w="12700">
            <a:solidFill>
              <a:srgbClr val="2C6696"/>
            </a:solidFill>
          </a:ln>
          <a:effectLst/>
        </p:spPr>
        <p:txBody>
          <a:bodyPr rtlCol="0" anchor="ctr" wrap="square" lIns="36576" rIns="36576" tIns="73152" bIns="73152">
            <a:noAutofit/>
          </a:bodyPr>
          <a:lstStyle/>
          <a:p>
            <a:pPr algn="ctr">
              <a:spcBef>
                <a:spcPts val="0"/>
              </a:spcBef>
              <a:spcAft>
                <a:spcPts val="0"/>
              </a:spcAft>
            </a:pPr>
            <a:r>
              <a:rPr lang="tr-TR" sz="1350" b="1" i="0">
                <a:solidFill>
                  <a:srgbClr val="2C6696"/>
                </a:solidFill>
                <a:latin typeface="Calibri"/>
              </a:rPr>
              <a:t>6-8. hafta · s. 58</a:t>
            </a:r>
          </a:p>
        </p:txBody>
      </p:sp>
      <p:sp>
        <p:nvSpPr>
          <p:cNvPr id="18" name="Rounded Rectangle 17"/>
          <p:cNvSpPr/>
          <p:nvPr/>
        </p:nvSpPr>
        <p:spPr>
          <a:xfrm>
            <a:off x="9043185" y="1399032"/>
            <a:ext cx="2645587" cy="4480560"/>
          </a:xfrm>
          <a:prstGeom prst="roundRect">
            <a:avLst>
              <a:gd name="adj" fmla="val 6000"/>
            </a:avLst>
          </a:prstGeom>
          <a:solidFill>
            <a:srgbClr val="F0F0F0"/>
          </a:solidFill>
          <a:ln>
            <a:noFill/>
          </a:ln>
          <a:effectLst/>
        </p:spPr>
        <p:txBody>
          <a:bodyPr rtlCol="0" anchor="ctr"/>
          <a:lstStyle/>
          <a:p/>
        </p:txBody>
      </p:sp>
      <p:sp>
        <p:nvSpPr>
          <p:cNvPr id="19" name="Oval 18"/>
          <p:cNvSpPr/>
          <p:nvPr/>
        </p:nvSpPr>
        <p:spPr>
          <a:xfrm>
            <a:off x="9908778" y="1673352"/>
            <a:ext cx="914400" cy="91440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3400" b="1" i="0">
                <a:solidFill>
                  <a:srgbClr val="262626"/>
                </a:solidFill>
                <a:latin typeface="Calibri"/>
              </a:rPr>
              <a:t>4</a:t>
            </a:r>
          </a:p>
        </p:txBody>
      </p:sp>
      <p:sp>
        <p:nvSpPr>
          <p:cNvPr id="20" name="TextBox 19"/>
          <p:cNvSpPr txBox="1"/>
          <p:nvPr/>
        </p:nvSpPr>
        <p:spPr>
          <a:xfrm>
            <a:off x="9180345" y="2770632"/>
            <a:ext cx="2371267" cy="2240280"/>
          </a:xfrm>
          <a:prstGeom prst="rect">
            <a:avLst/>
          </a:prstGeom>
          <a:noFill/>
        </p:spPr>
        <p:txBody>
          <a:bodyPr wrap="square" anchor="ctr" lIns="73152" rIns="73152" tIns="36576" bIns="36576">
            <a:noAutofit/>
          </a:bodyPr>
          <a:lstStyle/>
          <a:p>
            <a:pPr algn="ctr">
              <a:spcBef>
                <a:spcPts val="0"/>
              </a:spcBef>
              <a:spcAft>
                <a:spcPts val="0"/>
              </a:spcAft>
            </a:pPr>
            <a:r>
              <a:rPr lang="tr-TR" sz="2300" b="0" i="0">
                <a:solidFill>
                  <a:srgbClr val="262626"/>
                </a:solidFill>
                <a:latin typeface="Calibri"/>
              </a:rPr>
              <a:t>Ünite sonundaki ölçme ve değerlendirme sorularını cevaplamanız</a:t>
            </a:r>
          </a:p>
        </p:txBody>
      </p:sp>
      <p:sp>
        <p:nvSpPr>
          <p:cNvPr id="21" name="Rounded Rectangle 20"/>
          <p:cNvSpPr/>
          <p:nvPr/>
        </p:nvSpPr>
        <p:spPr>
          <a:xfrm>
            <a:off x="9180345" y="5148071"/>
            <a:ext cx="2371267" cy="502920"/>
          </a:xfrm>
          <a:prstGeom prst="roundRect">
            <a:avLst>
              <a:gd name="adj" fmla="val 50000"/>
            </a:avLst>
          </a:prstGeom>
          <a:solidFill>
            <a:srgbClr val="FFFFFF"/>
          </a:solidFill>
          <a:ln w="12700">
            <a:solidFill>
              <a:srgbClr val="2C6696"/>
            </a:solidFill>
          </a:ln>
          <a:effectLst/>
        </p:spPr>
        <p:txBody>
          <a:bodyPr rtlCol="0" anchor="ctr" wrap="square" lIns="36576" rIns="36576" tIns="73152" bIns="73152">
            <a:noAutofit/>
          </a:bodyPr>
          <a:lstStyle/>
          <a:p>
            <a:pPr algn="ctr">
              <a:spcBef>
                <a:spcPts val="0"/>
              </a:spcBef>
              <a:spcAft>
                <a:spcPts val="0"/>
              </a:spcAft>
            </a:pPr>
            <a:r>
              <a:rPr lang="tr-TR" sz="1350" b="1" i="0">
                <a:solidFill>
                  <a:srgbClr val="2C6696"/>
                </a:solidFill>
                <a:latin typeface="Calibri"/>
              </a:rPr>
              <a:t>8. hafta · s. 71-73</a:t>
            </a:r>
          </a:p>
        </p:txBody>
      </p:sp>
      <p:sp>
        <p:nvSpPr>
          <p:cNvPr id="22" name="TextBox 21"/>
          <p:cNvSpPr txBox="1"/>
          <p:nvPr/>
        </p:nvSpPr>
        <p:spPr>
          <a:xfrm>
            <a:off x="502920" y="6016752"/>
            <a:ext cx="11185855" cy="365760"/>
          </a:xfrm>
          <a:prstGeom prst="rect">
            <a:avLst/>
          </a:prstGeom>
          <a:noFill/>
        </p:spPr>
        <p:txBody>
          <a:bodyPr wrap="square" anchor="t" lIns="73152" rIns="73152" tIns="36576" bIns="36576">
            <a:noAutofit/>
          </a:bodyPr>
          <a:lstStyle/>
          <a:p>
            <a:pPr algn="r">
              <a:spcBef>
                <a:spcPts val="0"/>
              </a:spcBef>
              <a:spcAft>
                <a:spcPts val="0"/>
              </a:spcAft>
            </a:pPr>
            <a:r>
              <a:rPr lang="tr-TR" sz="1400" b="0" i="0">
                <a:solidFill>
                  <a:srgbClr val="767676"/>
                </a:solidFill>
                <a:latin typeface="Calibri"/>
              </a:rPr>
              <a:t>…beklenmektedir. (Ders kitabı, ünite açılışı; 4. kart ünite sonundaki ölçme sayfasıdır.)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32</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 / 226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Anahtar kavramlar</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2. ÜNİTE</a:t>
            </a:r>
          </a:p>
        </p:txBody>
      </p:sp>
      <p:sp>
        <p:nvSpPr>
          <p:cNvPr id="6" name="Rounded Rectangle 5"/>
          <p:cNvSpPr/>
          <p:nvPr/>
        </p:nvSpPr>
        <p:spPr>
          <a:xfrm>
            <a:off x="502920" y="1307592"/>
            <a:ext cx="2148840" cy="822960"/>
          </a:xfrm>
          <a:prstGeom prst="roundRect">
            <a:avLst>
              <a:gd name="adj" fmla="val 8000"/>
            </a:avLst>
          </a:prstGeom>
          <a:solidFill>
            <a:srgbClr val="2C6696"/>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Harita</a:t>
            </a:r>
          </a:p>
        </p:txBody>
      </p:sp>
      <p:sp>
        <p:nvSpPr>
          <p:cNvPr id="7" name="Rounded Rectangle 6"/>
          <p:cNvSpPr/>
          <p:nvPr/>
        </p:nvSpPr>
        <p:spPr>
          <a:xfrm>
            <a:off x="2834640" y="1399032"/>
            <a:ext cx="1178318" cy="640080"/>
          </a:xfrm>
          <a:prstGeom prst="roundRect">
            <a:avLst>
              <a:gd name="adj" fmla="val 50000"/>
            </a:avLst>
          </a:prstGeom>
          <a:solidFill>
            <a:srgbClr val="FFFFFF"/>
          </a:solidFill>
          <a:ln w="28575">
            <a:solidFill>
              <a:srgbClr val="2C6696"/>
            </a:solidFill>
          </a:ln>
          <a:effectLst/>
        </p:spPr>
        <p:txBody>
          <a:bodyPr rtlCol="0" anchor="ctr" wrap="square" tIns="18288" bIns="18288">
            <a:noAutofit/>
          </a:bodyPr>
          <a:lstStyle/>
          <a:p>
            <a:pPr algn="ctr">
              <a:spcBef>
                <a:spcPts val="0"/>
              </a:spcBef>
              <a:spcAft>
                <a:spcPts val="0"/>
              </a:spcAft>
            </a:pPr>
            <a:r>
              <a:rPr lang="tr-TR" sz="2300" b="0" i="0">
                <a:solidFill>
                  <a:srgbClr val="262626"/>
                </a:solidFill>
                <a:latin typeface="Calibri"/>
              </a:rPr>
              <a:t>harita</a:t>
            </a:r>
          </a:p>
        </p:txBody>
      </p:sp>
      <p:sp>
        <p:nvSpPr>
          <p:cNvPr id="8" name="Rounded Rectangle 7"/>
          <p:cNvSpPr/>
          <p:nvPr/>
        </p:nvSpPr>
        <p:spPr>
          <a:xfrm>
            <a:off x="4177550" y="1399032"/>
            <a:ext cx="1100735" cy="640080"/>
          </a:xfrm>
          <a:prstGeom prst="roundRect">
            <a:avLst>
              <a:gd name="adj" fmla="val 50000"/>
            </a:avLst>
          </a:prstGeom>
          <a:solidFill>
            <a:srgbClr val="FFFFFF"/>
          </a:solidFill>
          <a:ln w="28575">
            <a:solidFill>
              <a:srgbClr val="2C6696"/>
            </a:solidFill>
          </a:ln>
          <a:effectLst/>
        </p:spPr>
        <p:txBody>
          <a:bodyPr rtlCol="0" anchor="ctr" wrap="square" tIns="18288" bIns="18288">
            <a:noAutofit/>
          </a:bodyPr>
          <a:lstStyle/>
          <a:p>
            <a:pPr algn="ctr">
              <a:spcBef>
                <a:spcPts val="0"/>
              </a:spcBef>
              <a:spcAft>
                <a:spcPts val="0"/>
              </a:spcAft>
            </a:pPr>
            <a:r>
              <a:rPr lang="tr-TR" sz="2300" b="0" i="0">
                <a:solidFill>
                  <a:srgbClr val="262626"/>
                </a:solidFill>
                <a:latin typeface="Calibri"/>
              </a:rPr>
              <a:t>ölçek</a:t>
            </a:r>
          </a:p>
        </p:txBody>
      </p:sp>
      <p:sp>
        <p:nvSpPr>
          <p:cNvPr id="9" name="Rounded Rectangle 8"/>
          <p:cNvSpPr/>
          <p:nvPr/>
        </p:nvSpPr>
        <p:spPr>
          <a:xfrm>
            <a:off x="5442877" y="1399032"/>
            <a:ext cx="1883280" cy="640080"/>
          </a:xfrm>
          <a:prstGeom prst="roundRect">
            <a:avLst>
              <a:gd name="adj" fmla="val 50000"/>
            </a:avLst>
          </a:prstGeom>
          <a:solidFill>
            <a:srgbClr val="FFFFFF"/>
          </a:solidFill>
          <a:ln w="28575">
            <a:solidFill>
              <a:srgbClr val="2C6696"/>
            </a:solidFill>
          </a:ln>
          <a:effectLst/>
        </p:spPr>
        <p:txBody>
          <a:bodyPr rtlCol="0" anchor="ctr" wrap="square" tIns="18288" bIns="18288">
            <a:noAutofit/>
          </a:bodyPr>
          <a:lstStyle/>
          <a:p>
            <a:pPr algn="ctr">
              <a:spcBef>
                <a:spcPts val="0"/>
              </a:spcBef>
              <a:spcAft>
                <a:spcPts val="0"/>
              </a:spcAft>
            </a:pPr>
            <a:r>
              <a:rPr lang="tr-TR" sz="2300" b="0" i="0">
                <a:solidFill>
                  <a:srgbClr val="262626"/>
                </a:solidFill>
                <a:latin typeface="Calibri"/>
              </a:rPr>
              <a:t>projeksiyon</a:t>
            </a:r>
          </a:p>
        </p:txBody>
      </p:sp>
      <p:sp>
        <p:nvSpPr>
          <p:cNvPr id="10" name="Rounded Rectangle 9"/>
          <p:cNvSpPr/>
          <p:nvPr/>
        </p:nvSpPr>
        <p:spPr>
          <a:xfrm>
            <a:off x="7490749" y="1399032"/>
            <a:ext cx="1304762" cy="640080"/>
          </a:xfrm>
          <a:prstGeom prst="roundRect">
            <a:avLst>
              <a:gd name="adj" fmla="val 50000"/>
            </a:avLst>
          </a:prstGeom>
          <a:solidFill>
            <a:srgbClr val="FFFFFF"/>
          </a:solidFill>
          <a:ln w="28575">
            <a:solidFill>
              <a:srgbClr val="2C6696"/>
            </a:solidFill>
          </a:ln>
          <a:effectLst/>
        </p:spPr>
        <p:txBody>
          <a:bodyPr rtlCol="0" anchor="ctr" wrap="square" tIns="18288" bIns="18288">
            <a:noAutofit/>
          </a:bodyPr>
          <a:lstStyle/>
          <a:p>
            <a:pPr algn="ctr">
              <a:spcBef>
                <a:spcPts val="0"/>
              </a:spcBef>
              <a:spcAft>
                <a:spcPts val="0"/>
              </a:spcAft>
            </a:pPr>
            <a:r>
              <a:rPr lang="tr-TR" sz="2300" b="0" i="0">
                <a:solidFill>
                  <a:srgbClr val="262626"/>
                </a:solidFill>
                <a:latin typeface="Calibri"/>
              </a:rPr>
              <a:t>izohips</a:t>
            </a:r>
          </a:p>
        </p:txBody>
      </p:sp>
      <p:sp>
        <p:nvSpPr>
          <p:cNvPr id="11" name="Rounded Rectangle 10"/>
          <p:cNvSpPr/>
          <p:nvPr/>
        </p:nvSpPr>
        <p:spPr>
          <a:xfrm>
            <a:off x="8960103" y="1399032"/>
            <a:ext cx="2586275" cy="640080"/>
          </a:xfrm>
          <a:prstGeom prst="roundRect">
            <a:avLst>
              <a:gd name="adj" fmla="val 50000"/>
            </a:avLst>
          </a:prstGeom>
          <a:solidFill>
            <a:srgbClr val="FFFFFF"/>
          </a:solidFill>
          <a:ln w="28575">
            <a:solidFill>
              <a:srgbClr val="2C6696"/>
            </a:solidFill>
          </a:ln>
          <a:effectLst/>
        </p:spPr>
        <p:txBody>
          <a:bodyPr rtlCol="0" anchor="ctr" wrap="square" tIns="18288" bIns="18288">
            <a:noAutofit/>
          </a:bodyPr>
          <a:lstStyle/>
          <a:p>
            <a:pPr algn="ctr">
              <a:spcBef>
                <a:spcPts val="0"/>
              </a:spcBef>
              <a:spcAft>
                <a:spcPts val="0"/>
              </a:spcAft>
            </a:pPr>
            <a:r>
              <a:rPr lang="tr-TR" sz="2300" b="0" i="0">
                <a:solidFill>
                  <a:srgbClr val="262626"/>
                </a:solidFill>
                <a:latin typeface="Calibri"/>
              </a:rPr>
              <a:t>koordinat sistemi</a:t>
            </a:r>
          </a:p>
        </p:txBody>
      </p:sp>
      <p:sp>
        <p:nvSpPr>
          <p:cNvPr id="12" name="Rounded Rectangle 11"/>
          <p:cNvSpPr/>
          <p:nvPr/>
        </p:nvSpPr>
        <p:spPr>
          <a:xfrm>
            <a:off x="502920" y="2359152"/>
            <a:ext cx="2148840" cy="822960"/>
          </a:xfrm>
          <a:prstGeom prst="roundRect">
            <a:avLst>
              <a:gd name="adj" fmla="val 8000"/>
            </a:avLst>
          </a:prstGeom>
          <a:solidFill>
            <a:srgbClr val="FCC021"/>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262626"/>
                </a:solidFill>
                <a:latin typeface="Calibri"/>
              </a:rPr>
              <a:t>Zaman</a:t>
            </a:r>
          </a:p>
        </p:txBody>
      </p:sp>
      <p:sp>
        <p:nvSpPr>
          <p:cNvPr id="13" name="Rounded Rectangle 12"/>
          <p:cNvSpPr/>
          <p:nvPr/>
        </p:nvSpPr>
        <p:spPr>
          <a:xfrm>
            <a:off x="2834640" y="2450592"/>
            <a:ext cx="1643865" cy="640080"/>
          </a:xfrm>
          <a:prstGeom prst="roundRect">
            <a:avLst>
              <a:gd name="adj" fmla="val 50000"/>
            </a:avLst>
          </a:prstGeom>
          <a:solidFill>
            <a:srgbClr val="FFFFFF"/>
          </a:solidFill>
          <a:ln w="28575">
            <a:solidFill>
              <a:srgbClr val="CEAC58"/>
            </a:solidFill>
          </a:ln>
          <a:effectLst/>
        </p:spPr>
        <p:txBody>
          <a:bodyPr rtlCol="0" anchor="ctr" wrap="square" tIns="18288" bIns="18288">
            <a:noAutofit/>
          </a:bodyPr>
          <a:lstStyle/>
          <a:p>
            <a:pPr algn="ctr">
              <a:spcBef>
                <a:spcPts val="0"/>
              </a:spcBef>
              <a:spcAft>
                <a:spcPts val="0"/>
              </a:spcAft>
            </a:pPr>
            <a:r>
              <a:rPr lang="tr-TR" sz="2300" b="0" i="0">
                <a:solidFill>
                  <a:srgbClr val="262626"/>
                </a:solidFill>
                <a:latin typeface="Calibri"/>
              </a:rPr>
              <a:t>yerel saat</a:t>
            </a:r>
          </a:p>
        </p:txBody>
      </p:sp>
      <p:sp>
        <p:nvSpPr>
          <p:cNvPr id="14" name="Rounded Rectangle 13"/>
          <p:cNvSpPr/>
          <p:nvPr/>
        </p:nvSpPr>
        <p:spPr>
          <a:xfrm>
            <a:off x="4643097" y="2450592"/>
            <a:ext cx="1760384" cy="640080"/>
          </a:xfrm>
          <a:prstGeom prst="roundRect">
            <a:avLst>
              <a:gd name="adj" fmla="val 50000"/>
            </a:avLst>
          </a:prstGeom>
          <a:solidFill>
            <a:srgbClr val="FFFFFF"/>
          </a:solidFill>
          <a:ln w="28575">
            <a:solidFill>
              <a:srgbClr val="CEAC58"/>
            </a:solidFill>
          </a:ln>
          <a:effectLst/>
        </p:spPr>
        <p:txBody>
          <a:bodyPr rtlCol="0" anchor="ctr" wrap="square" tIns="18288" bIns="18288">
            <a:noAutofit/>
          </a:bodyPr>
          <a:lstStyle/>
          <a:p>
            <a:pPr algn="ctr">
              <a:spcBef>
                <a:spcPts val="0"/>
              </a:spcBef>
              <a:spcAft>
                <a:spcPts val="0"/>
              </a:spcAft>
            </a:pPr>
            <a:r>
              <a:rPr lang="tr-TR" sz="2300" b="0" i="0">
                <a:solidFill>
                  <a:srgbClr val="262626"/>
                </a:solidFill>
                <a:latin typeface="Calibri"/>
              </a:rPr>
              <a:t>ulusal saat</a:t>
            </a:r>
          </a:p>
        </p:txBody>
      </p:sp>
      <p:sp>
        <p:nvSpPr>
          <p:cNvPr id="15" name="Rounded Rectangle 14"/>
          <p:cNvSpPr/>
          <p:nvPr/>
        </p:nvSpPr>
        <p:spPr>
          <a:xfrm>
            <a:off x="6568073" y="2450592"/>
            <a:ext cx="2048228" cy="640080"/>
          </a:xfrm>
          <a:prstGeom prst="roundRect">
            <a:avLst>
              <a:gd name="adj" fmla="val 50000"/>
            </a:avLst>
          </a:prstGeom>
          <a:solidFill>
            <a:srgbClr val="FFFFFF"/>
          </a:solidFill>
          <a:ln w="28575">
            <a:solidFill>
              <a:srgbClr val="CEAC58"/>
            </a:solidFill>
          </a:ln>
          <a:effectLst/>
        </p:spPr>
        <p:txBody>
          <a:bodyPr rtlCol="0" anchor="ctr" wrap="square" tIns="18288" bIns="18288">
            <a:noAutofit/>
          </a:bodyPr>
          <a:lstStyle/>
          <a:p>
            <a:pPr algn="ctr">
              <a:spcBef>
                <a:spcPts val="0"/>
              </a:spcBef>
              <a:spcAft>
                <a:spcPts val="0"/>
              </a:spcAft>
            </a:pPr>
            <a:r>
              <a:rPr lang="tr-TR" sz="2300" b="0" i="0">
                <a:solidFill>
                  <a:srgbClr val="262626"/>
                </a:solidFill>
                <a:latin typeface="Calibri"/>
              </a:rPr>
              <a:t>saat dilimleri</a:t>
            </a:r>
          </a:p>
        </p:txBody>
      </p:sp>
      <p:sp>
        <p:nvSpPr>
          <p:cNvPr id="16" name="Rounded Rectangle 15"/>
          <p:cNvSpPr/>
          <p:nvPr/>
        </p:nvSpPr>
        <p:spPr>
          <a:xfrm>
            <a:off x="502920" y="3410712"/>
            <a:ext cx="2148840" cy="822960"/>
          </a:xfrm>
          <a:prstGeom prst="roundRect">
            <a:avLst>
              <a:gd name="adj" fmla="val 8000"/>
            </a:avLst>
          </a:prstGeom>
          <a:solidFill>
            <a:srgbClr val="D3373A"/>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Konum</a:t>
            </a:r>
          </a:p>
        </p:txBody>
      </p:sp>
      <p:sp>
        <p:nvSpPr>
          <p:cNvPr id="17" name="Rounded Rectangle 16"/>
          <p:cNvSpPr/>
          <p:nvPr/>
        </p:nvSpPr>
        <p:spPr>
          <a:xfrm>
            <a:off x="2834640" y="3502152"/>
            <a:ext cx="1286925" cy="640080"/>
          </a:xfrm>
          <a:prstGeom prst="roundRect">
            <a:avLst>
              <a:gd name="adj" fmla="val 50000"/>
            </a:avLst>
          </a:prstGeom>
          <a:solidFill>
            <a:srgbClr val="FFFFFF"/>
          </a:solidFill>
          <a:ln w="28575">
            <a:solidFill>
              <a:srgbClr val="D3373A"/>
            </a:solidFill>
          </a:ln>
          <a:effectLst/>
        </p:spPr>
        <p:txBody>
          <a:bodyPr rtlCol="0" anchor="ctr" wrap="square" tIns="18288" bIns="18288">
            <a:noAutofit/>
          </a:bodyPr>
          <a:lstStyle/>
          <a:p>
            <a:pPr algn="ctr">
              <a:spcBef>
                <a:spcPts val="0"/>
              </a:spcBef>
              <a:spcAft>
                <a:spcPts val="0"/>
              </a:spcAft>
            </a:pPr>
            <a:r>
              <a:rPr lang="tr-TR" sz="2300" b="0" i="0">
                <a:solidFill>
                  <a:srgbClr val="262626"/>
                </a:solidFill>
                <a:latin typeface="Calibri"/>
              </a:rPr>
              <a:t>mekân</a:t>
            </a:r>
          </a:p>
        </p:txBody>
      </p:sp>
      <p:sp>
        <p:nvSpPr>
          <p:cNvPr id="18" name="Rounded Rectangle 17"/>
          <p:cNvSpPr/>
          <p:nvPr/>
        </p:nvSpPr>
        <p:spPr>
          <a:xfrm>
            <a:off x="4286157" y="3502152"/>
            <a:ext cx="2240747" cy="640080"/>
          </a:xfrm>
          <a:prstGeom prst="roundRect">
            <a:avLst>
              <a:gd name="adj" fmla="val 50000"/>
            </a:avLst>
          </a:prstGeom>
          <a:solidFill>
            <a:srgbClr val="FFFFFF"/>
          </a:solidFill>
          <a:ln w="28575">
            <a:solidFill>
              <a:srgbClr val="D3373A"/>
            </a:solidFill>
          </a:ln>
          <a:effectLst/>
        </p:spPr>
        <p:txBody>
          <a:bodyPr rtlCol="0" anchor="ctr" wrap="square" tIns="18288" bIns="18288">
            <a:noAutofit/>
          </a:bodyPr>
          <a:lstStyle/>
          <a:p>
            <a:pPr algn="ctr">
              <a:spcBef>
                <a:spcPts val="0"/>
              </a:spcBef>
              <a:spcAft>
                <a:spcPts val="0"/>
              </a:spcAft>
            </a:pPr>
            <a:r>
              <a:rPr lang="tr-TR" sz="2300" b="0" i="0">
                <a:solidFill>
                  <a:srgbClr val="262626"/>
                </a:solidFill>
                <a:latin typeface="Calibri"/>
              </a:rPr>
              <a:t>mutlak konum</a:t>
            </a:r>
          </a:p>
        </p:txBody>
      </p:sp>
      <p:sp>
        <p:nvSpPr>
          <p:cNvPr id="19" name="Rounded Rectangle 18"/>
          <p:cNvSpPr/>
          <p:nvPr/>
        </p:nvSpPr>
        <p:spPr>
          <a:xfrm>
            <a:off x="6691496" y="3502152"/>
            <a:ext cx="2357697" cy="640080"/>
          </a:xfrm>
          <a:prstGeom prst="roundRect">
            <a:avLst>
              <a:gd name="adj" fmla="val 50000"/>
            </a:avLst>
          </a:prstGeom>
          <a:solidFill>
            <a:srgbClr val="FFFFFF"/>
          </a:solidFill>
          <a:ln w="28575">
            <a:solidFill>
              <a:srgbClr val="D3373A"/>
            </a:solidFill>
          </a:ln>
          <a:effectLst/>
        </p:spPr>
        <p:txBody>
          <a:bodyPr rtlCol="0" anchor="ctr" wrap="square" tIns="18288" bIns="18288">
            <a:noAutofit/>
          </a:bodyPr>
          <a:lstStyle/>
          <a:p>
            <a:pPr algn="ctr">
              <a:spcBef>
                <a:spcPts val="0"/>
              </a:spcBef>
              <a:spcAft>
                <a:spcPts val="0"/>
              </a:spcAft>
            </a:pPr>
            <a:r>
              <a:rPr lang="tr-TR" sz="2300" b="0" i="0">
                <a:solidFill>
                  <a:srgbClr val="262626"/>
                </a:solidFill>
                <a:latin typeface="Calibri"/>
              </a:rPr>
              <a:t>göreceli konum</a:t>
            </a:r>
          </a:p>
        </p:txBody>
      </p:sp>
      <p:sp>
        <p:nvSpPr>
          <p:cNvPr id="20" name="Rounded Rectangle 19"/>
          <p:cNvSpPr/>
          <p:nvPr/>
        </p:nvSpPr>
        <p:spPr>
          <a:xfrm>
            <a:off x="9213785" y="3502152"/>
            <a:ext cx="1608909" cy="640080"/>
          </a:xfrm>
          <a:prstGeom prst="roundRect">
            <a:avLst>
              <a:gd name="adj" fmla="val 50000"/>
            </a:avLst>
          </a:prstGeom>
          <a:solidFill>
            <a:srgbClr val="FFFFFF"/>
          </a:solidFill>
          <a:ln w="28575">
            <a:solidFill>
              <a:srgbClr val="D3373A"/>
            </a:solidFill>
          </a:ln>
          <a:effectLst/>
        </p:spPr>
        <p:txBody>
          <a:bodyPr rtlCol="0" anchor="ctr" wrap="square" tIns="18288" bIns="18288">
            <a:noAutofit/>
          </a:bodyPr>
          <a:lstStyle/>
          <a:p>
            <a:pPr algn="ctr">
              <a:spcBef>
                <a:spcPts val="0"/>
              </a:spcBef>
              <a:spcAft>
                <a:spcPts val="0"/>
              </a:spcAft>
            </a:pPr>
            <a:r>
              <a:rPr lang="tr-TR" sz="2300" b="0" i="0">
                <a:solidFill>
                  <a:srgbClr val="262626"/>
                </a:solidFill>
                <a:latin typeface="Calibri"/>
              </a:rPr>
              <a:t>jeopolitik</a:t>
            </a:r>
          </a:p>
        </p:txBody>
      </p:sp>
      <p:sp>
        <p:nvSpPr>
          <p:cNvPr id="21" name="Rounded Rectangle 20"/>
          <p:cNvSpPr/>
          <p:nvPr/>
        </p:nvSpPr>
        <p:spPr>
          <a:xfrm>
            <a:off x="502920" y="4462272"/>
            <a:ext cx="2148840" cy="1591056"/>
          </a:xfrm>
          <a:prstGeom prst="roundRect">
            <a:avLst>
              <a:gd name="adj" fmla="val 8000"/>
            </a:avLst>
          </a:prstGeom>
          <a:solidFill>
            <a:srgbClr val="1E7B6E"/>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Teknoloji</a:t>
            </a:r>
          </a:p>
        </p:txBody>
      </p:sp>
      <p:sp>
        <p:nvSpPr>
          <p:cNvPr id="22" name="Rounded Rectangle 21"/>
          <p:cNvSpPr/>
          <p:nvPr/>
        </p:nvSpPr>
        <p:spPr>
          <a:xfrm>
            <a:off x="2834640" y="4553712"/>
            <a:ext cx="3771600" cy="640080"/>
          </a:xfrm>
          <a:prstGeom prst="roundRect">
            <a:avLst>
              <a:gd name="adj" fmla="val 50000"/>
            </a:avLst>
          </a:prstGeom>
          <a:solidFill>
            <a:srgbClr val="FFFFFF"/>
          </a:solidFill>
          <a:ln w="28575">
            <a:solidFill>
              <a:srgbClr val="1E7B6E"/>
            </a:solidFill>
          </a:ln>
          <a:effectLst/>
        </p:spPr>
        <p:txBody>
          <a:bodyPr rtlCol="0" anchor="ctr" wrap="square" tIns="18288" bIns="18288">
            <a:noAutofit/>
          </a:bodyPr>
          <a:lstStyle/>
          <a:p>
            <a:pPr algn="ctr">
              <a:spcBef>
                <a:spcPts val="0"/>
              </a:spcBef>
              <a:spcAft>
                <a:spcPts val="0"/>
              </a:spcAft>
            </a:pPr>
            <a:r>
              <a:rPr lang="tr-TR" sz="2300" b="0" i="0">
                <a:solidFill>
                  <a:srgbClr val="262626"/>
                </a:solidFill>
                <a:latin typeface="Calibri"/>
              </a:rPr>
              <a:t>mekânsal bilgi teknolojileri</a:t>
            </a:r>
          </a:p>
        </p:txBody>
      </p:sp>
      <p:sp>
        <p:nvSpPr>
          <p:cNvPr id="23" name="Rounded Rectangle 22"/>
          <p:cNvSpPr/>
          <p:nvPr/>
        </p:nvSpPr>
        <p:spPr>
          <a:xfrm>
            <a:off x="6770832" y="4553712"/>
            <a:ext cx="3876275" cy="640080"/>
          </a:xfrm>
          <a:prstGeom prst="roundRect">
            <a:avLst>
              <a:gd name="adj" fmla="val 50000"/>
            </a:avLst>
          </a:prstGeom>
          <a:solidFill>
            <a:srgbClr val="FFFFFF"/>
          </a:solidFill>
          <a:ln w="28575">
            <a:solidFill>
              <a:srgbClr val="1E7B6E"/>
            </a:solidFill>
          </a:ln>
          <a:effectLst/>
        </p:spPr>
        <p:txBody>
          <a:bodyPr rtlCol="0" anchor="ctr" wrap="square" tIns="18288" bIns="18288">
            <a:noAutofit/>
          </a:bodyPr>
          <a:lstStyle/>
          <a:p>
            <a:pPr algn="ctr">
              <a:spcBef>
                <a:spcPts val="0"/>
              </a:spcBef>
              <a:spcAft>
                <a:spcPts val="0"/>
              </a:spcAft>
            </a:pPr>
            <a:r>
              <a:rPr lang="tr-TR" sz="2300" b="0" i="0">
                <a:solidFill>
                  <a:srgbClr val="262626"/>
                </a:solidFill>
                <a:latin typeface="Calibri"/>
              </a:rPr>
              <a:t>coğrafi bilgi sistemleri (CBS)</a:t>
            </a:r>
          </a:p>
        </p:txBody>
      </p:sp>
      <p:sp>
        <p:nvSpPr>
          <p:cNvPr id="24" name="Rounded Rectangle 23"/>
          <p:cNvSpPr/>
          <p:nvPr/>
        </p:nvSpPr>
        <p:spPr>
          <a:xfrm>
            <a:off x="2834640" y="5321808"/>
            <a:ext cx="2527680" cy="640080"/>
          </a:xfrm>
          <a:prstGeom prst="roundRect">
            <a:avLst>
              <a:gd name="adj" fmla="val 50000"/>
            </a:avLst>
          </a:prstGeom>
          <a:solidFill>
            <a:srgbClr val="FFFFFF"/>
          </a:solidFill>
          <a:ln w="28575">
            <a:solidFill>
              <a:srgbClr val="1E7B6E"/>
            </a:solidFill>
          </a:ln>
          <a:effectLst/>
        </p:spPr>
        <p:txBody>
          <a:bodyPr rtlCol="0" anchor="ctr" wrap="square" tIns="18288" bIns="18288">
            <a:noAutofit/>
          </a:bodyPr>
          <a:lstStyle/>
          <a:p>
            <a:pPr algn="ctr">
              <a:spcBef>
                <a:spcPts val="0"/>
              </a:spcBef>
              <a:spcAft>
                <a:spcPts val="0"/>
              </a:spcAft>
            </a:pPr>
            <a:r>
              <a:rPr lang="tr-TR" sz="2300" b="0" i="0">
                <a:solidFill>
                  <a:srgbClr val="262626"/>
                </a:solidFill>
                <a:latin typeface="Calibri"/>
              </a:rPr>
              <a:t>uzaktan algılama</a:t>
            </a:r>
          </a:p>
        </p:txBody>
      </p:sp>
      <p:sp>
        <p:nvSpPr>
          <p:cNvPr id="25" name="Rounded Rectangle 24"/>
          <p:cNvSpPr/>
          <p:nvPr/>
        </p:nvSpPr>
        <p:spPr>
          <a:xfrm>
            <a:off x="5526912" y="5321808"/>
            <a:ext cx="2159520" cy="640080"/>
          </a:xfrm>
          <a:prstGeom prst="roundRect">
            <a:avLst>
              <a:gd name="adj" fmla="val 50000"/>
            </a:avLst>
          </a:prstGeom>
          <a:solidFill>
            <a:srgbClr val="FFFFFF"/>
          </a:solidFill>
          <a:ln w="28575">
            <a:solidFill>
              <a:srgbClr val="1E7B6E"/>
            </a:solidFill>
          </a:ln>
          <a:effectLst/>
        </p:spPr>
        <p:txBody>
          <a:bodyPr rtlCol="0" anchor="ctr" wrap="square" tIns="18288" bIns="18288">
            <a:noAutofit/>
          </a:bodyPr>
          <a:lstStyle/>
          <a:p>
            <a:pPr algn="ctr">
              <a:spcBef>
                <a:spcPts val="0"/>
              </a:spcBef>
              <a:spcAft>
                <a:spcPts val="0"/>
              </a:spcAft>
            </a:pPr>
            <a:r>
              <a:rPr lang="tr-TR" sz="2300" b="0" i="0">
                <a:solidFill>
                  <a:srgbClr val="262626"/>
                </a:solidFill>
                <a:latin typeface="Calibri"/>
              </a:rPr>
              <a:t>mekânsal veri</a:t>
            </a:r>
          </a:p>
        </p:txBody>
      </p:sp>
      <p:sp>
        <p:nvSpPr>
          <p:cNvPr id="26" name="TextBox 2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27" name="Rounded Rectangle 2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33</a:t>
            </a:r>
          </a:p>
        </p:txBody>
      </p:sp>
      <p:sp>
        <p:nvSpPr>
          <p:cNvPr id="28" name="TextBox 2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 / 226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6696"/>
          </a:solidFill>
          <a:ln>
            <a:noFill/>
          </a:ln>
          <a:effectLst/>
        </p:spPr>
        <p:txBody>
          <a:bodyPr rtlCol="0" anchor="ctr"/>
          <a:lstStyle/>
          <a:p/>
        </p:txBody>
      </p:sp>
      <p:sp>
        <p:nvSpPr>
          <p:cNvPr id="3" name="Rectangle 2"/>
          <p:cNvSpPr/>
          <p:nvPr/>
        </p:nvSpPr>
        <p:spPr>
          <a:xfrm>
            <a:off x="0" y="6199632"/>
            <a:ext cx="12191695" cy="73152"/>
          </a:xfrm>
          <a:prstGeom prst="rect">
            <a:avLst/>
          </a:prstGeom>
          <a:solidFill>
            <a:srgbClr val="FCC021"/>
          </a:solidFill>
          <a:ln>
            <a:noFill/>
          </a:ln>
          <a:effectLst/>
        </p:spPr>
        <p:txBody>
          <a:bodyPr rtlCol="0" anchor="ctr"/>
          <a:lstStyle/>
          <a:p/>
        </p:txBody>
      </p:sp>
      <p:sp>
        <p:nvSpPr>
          <p:cNvPr id="4" name="TextBox 3"/>
          <p:cNvSpPr txBox="1"/>
          <p:nvPr/>
        </p:nvSpPr>
        <p:spPr>
          <a:xfrm>
            <a:off x="548640" y="320040"/>
            <a:ext cx="2377440" cy="502920"/>
          </a:xfrm>
          <a:prstGeom prst="rect">
            <a:avLst/>
          </a:prstGeom>
          <a:noFill/>
        </p:spPr>
        <p:txBody>
          <a:bodyPr wrap="square" anchor="t" lIns="73152" rIns="73152" tIns="36576" bIns="36576">
            <a:noAutofit/>
          </a:bodyPr>
          <a:lstStyle/>
          <a:p>
            <a:pPr algn="l">
              <a:spcBef>
                <a:spcPts val="0"/>
              </a:spcBef>
              <a:spcAft>
                <a:spcPts val="0"/>
              </a:spcAft>
            </a:pPr>
            <a:r>
              <a:rPr lang="tr-TR" sz="2400" b="1" i="0">
                <a:solidFill>
                  <a:srgbClr val="FCC021"/>
                </a:solidFill>
                <a:latin typeface="Calibri"/>
              </a:rPr>
              <a:t>4. HAFTA</a:t>
            </a:r>
          </a:p>
        </p:txBody>
      </p:sp>
      <p:sp>
        <p:nvSpPr>
          <p:cNvPr id="5" name="TextBox 4"/>
          <p:cNvSpPr txBox="1"/>
          <p:nvPr/>
        </p:nvSpPr>
        <p:spPr>
          <a:xfrm>
            <a:off x="411480" y="731520"/>
            <a:ext cx="2377440" cy="2514600"/>
          </a:xfrm>
          <a:prstGeom prst="rect">
            <a:avLst/>
          </a:prstGeom>
          <a:noFill/>
        </p:spPr>
        <p:txBody>
          <a:bodyPr wrap="square" anchor="t" lIns="73152" rIns="73152" tIns="0" bIns="0">
            <a:noAutofit/>
          </a:bodyPr>
          <a:lstStyle/>
          <a:p>
            <a:pPr algn="l">
              <a:spcBef>
                <a:spcPts val="0"/>
              </a:spcBef>
              <a:spcAft>
                <a:spcPts val="0"/>
              </a:spcAft>
            </a:pPr>
            <a:r>
              <a:rPr lang="tr-TR" sz="16000" b="1" i="0">
                <a:solidFill>
                  <a:srgbClr val="FCC021"/>
                </a:solidFill>
                <a:latin typeface="Calibri"/>
              </a:rPr>
              <a:t>4</a:t>
            </a:r>
          </a:p>
        </p:txBody>
      </p:sp>
      <p:sp>
        <p:nvSpPr>
          <p:cNvPr id="6" name="TextBox 5"/>
          <p:cNvSpPr txBox="1"/>
          <p:nvPr/>
        </p:nvSpPr>
        <p:spPr>
          <a:xfrm>
            <a:off x="2834640" y="411480"/>
            <a:ext cx="8869680" cy="1051560"/>
          </a:xfrm>
          <a:prstGeom prst="rect">
            <a:avLst/>
          </a:prstGeom>
          <a:noFill/>
        </p:spPr>
        <p:txBody>
          <a:bodyPr wrap="square" anchor="ctr" lIns="73152" rIns="73152" tIns="36576" bIns="36576">
            <a:noAutofit/>
          </a:bodyPr>
          <a:lstStyle/>
          <a:p>
            <a:pPr algn="l">
              <a:spcBef>
                <a:spcPts val="0"/>
              </a:spcBef>
              <a:spcAft>
                <a:spcPts val="0"/>
              </a:spcAft>
            </a:pPr>
            <a:r>
              <a:rPr lang="tr-TR" sz="3150" b="1" i="0">
                <a:solidFill>
                  <a:srgbClr val="FFFFFF"/>
                </a:solidFill>
                <a:latin typeface="Calibri"/>
              </a:rPr>
              <a:t>Mekânın Aynası Haritalar I: Harita, Türler ve Koordinatlar</a:t>
            </a:r>
          </a:p>
        </p:txBody>
      </p:sp>
      <p:sp>
        <p:nvSpPr>
          <p:cNvPr id="7" name="TextBox 6"/>
          <p:cNvSpPr txBox="1"/>
          <p:nvPr/>
        </p:nvSpPr>
        <p:spPr>
          <a:xfrm>
            <a:off x="2834640" y="1481328"/>
            <a:ext cx="8869680" cy="411480"/>
          </a:xfrm>
          <a:prstGeom prst="rect">
            <a:avLst/>
          </a:prstGeom>
          <a:noFill/>
        </p:spPr>
        <p:txBody>
          <a:bodyPr wrap="square" anchor="t" lIns="73152" rIns="73152" tIns="36576" bIns="36576">
            <a:noAutofit/>
          </a:bodyPr>
          <a:lstStyle/>
          <a:p>
            <a:pPr algn="l">
              <a:spcBef>
                <a:spcPts val="0"/>
              </a:spcBef>
              <a:spcAft>
                <a:spcPts val="0"/>
              </a:spcAft>
            </a:pPr>
            <a:r>
              <a:rPr lang="tr-TR" sz="1800" b="0" i="0">
                <a:solidFill>
                  <a:srgbClr val="E3ECF5"/>
                </a:solidFill>
                <a:latin typeface="Calibri"/>
              </a:rPr>
              <a:t>5-9 Ekim 2026 · 2 ders saati · Kitap s. 34-38</a:t>
            </a:r>
          </a:p>
        </p:txBody>
      </p:sp>
      <p:sp>
        <p:nvSpPr>
          <p:cNvPr id="8" name="Rounded Rectangle 7"/>
          <p:cNvSpPr/>
          <p:nvPr/>
        </p:nvSpPr>
        <p:spPr>
          <a:xfrm>
            <a:off x="2834640" y="2011680"/>
            <a:ext cx="8869680" cy="4023360"/>
          </a:xfrm>
          <a:prstGeom prst="roundRect">
            <a:avLst>
              <a:gd name="adj" fmla="val 5000"/>
            </a:avLst>
          </a:prstGeom>
          <a:solidFill>
            <a:srgbClr val="FFFFFF">
              <a:alpha val="12000"/>
            </a:srgbClr>
          </a:solidFill>
          <a:ln>
            <a:noFill/>
          </a:ln>
          <a:effectLst/>
        </p:spPr>
        <p:txBody>
          <a:bodyPr rtlCol="0" anchor="ctr"/>
          <a:lstStyle/>
          <a:p/>
        </p:txBody>
      </p:sp>
      <p:sp>
        <p:nvSpPr>
          <p:cNvPr id="9" name="TextBox 8"/>
          <p:cNvSpPr txBox="1"/>
          <p:nvPr/>
        </p:nvSpPr>
        <p:spPr>
          <a:xfrm>
            <a:off x="3063240" y="2148840"/>
            <a:ext cx="8412480" cy="365760"/>
          </a:xfrm>
          <a:prstGeom prst="rect">
            <a:avLst/>
          </a:prstGeom>
          <a:noFill/>
        </p:spPr>
        <p:txBody>
          <a:bodyPr wrap="square" anchor="t" lIns="73152" rIns="73152" tIns="36576" bIns="36576">
            <a:noAutofit/>
          </a:bodyPr>
          <a:lstStyle/>
          <a:p>
            <a:pPr algn="l">
              <a:spcBef>
                <a:spcPts val="0"/>
              </a:spcBef>
              <a:spcAft>
                <a:spcPts val="0"/>
              </a:spcAft>
            </a:pPr>
            <a:r>
              <a:rPr lang="tr-TR" sz="1600" b="1" i="0">
                <a:solidFill>
                  <a:srgbClr val="FCC021"/>
                </a:solidFill>
                <a:latin typeface="Calibri"/>
              </a:rPr>
              <a:t>ÖĞRENME ÇIKTISI · COĞ.9.2.1</a:t>
            </a:r>
          </a:p>
        </p:txBody>
      </p:sp>
      <p:sp>
        <p:nvSpPr>
          <p:cNvPr id="10" name="TextBox 9"/>
          <p:cNvSpPr txBox="1"/>
          <p:nvPr/>
        </p:nvSpPr>
        <p:spPr>
          <a:xfrm>
            <a:off x="3063240" y="2532888"/>
            <a:ext cx="8412480" cy="485902"/>
          </a:xfrm>
          <a:prstGeom prst="rect">
            <a:avLst/>
          </a:prstGeom>
          <a:noFill/>
        </p:spPr>
        <p:txBody>
          <a:bodyPr wrap="square" anchor="t" lIns="73152" rIns="73152" tIns="36576" bIns="36576">
            <a:noAutofit/>
          </a:bodyPr>
          <a:lstStyle/>
          <a:p>
            <a:pPr algn="l">
              <a:spcBef>
                <a:spcPts val="0"/>
              </a:spcBef>
              <a:spcAft>
                <a:spcPts val="0"/>
              </a:spcAft>
            </a:pPr>
            <a:r>
              <a:rPr lang="tr-TR" sz="2500" b="1" i="0">
                <a:solidFill>
                  <a:srgbClr val="FFFFFF"/>
                </a:solidFill>
                <a:latin typeface="Calibri"/>
              </a:rPr>
              <a:t>Harita uygulamaları yapabilme</a:t>
            </a:r>
          </a:p>
        </p:txBody>
      </p:sp>
      <p:sp>
        <p:nvSpPr>
          <p:cNvPr id="11" name="TextBox 10"/>
          <p:cNvSpPr txBox="1"/>
          <p:nvPr/>
        </p:nvSpPr>
        <p:spPr>
          <a:xfrm>
            <a:off x="3063240" y="3128518"/>
            <a:ext cx="8412480" cy="347472"/>
          </a:xfrm>
          <a:prstGeom prst="rect">
            <a:avLst/>
          </a:prstGeom>
          <a:noFill/>
        </p:spPr>
        <p:txBody>
          <a:bodyPr wrap="square" anchor="t" lIns="73152" rIns="73152" tIns="36576" bIns="36576">
            <a:noAutofit/>
          </a:bodyPr>
          <a:lstStyle/>
          <a:p>
            <a:pPr algn="l">
              <a:spcBef>
                <a:spcPts val="0"/>
              </a:spcBef>
              <a:spcAft>
                <a:spcPts val="0"/>
              </a:spcAft>
            </a:pPr>
            <a:r>
              <a:rPr lang="tr-TR" sz="1500" b="1" i="0">
                <a:solidFill>
                  <a:srgbClr val="FCC021"/>
                </a:solidFill>
                <a:latin typeface="Calibri"/>
              </a:rPr>
              <a:t>Süreç bileşenleri</a:t>
            </a:r>
          </a:p>
        </p:txBody>
      </p:sp>
      <p:sp>
        <p:nvSpPr>
          <p:cNvPr id="12" name="TextBox 11"/>
          <p:cNvSpPr txBox="1"/>
          <p:nvPr/>
        </p:nvSpPr>
        <p:spPr>
          <a:xfrm>
            <a:off x="3063240" y="3494278"/>
            <a:ext cx="8412480" cy="2431034"/>
          </a:xfrm>
          <a:prstGeom prst="rect">
            <a:avLst/>
          </a:prstGeom>
          <a:noFill/>
        </p:spPr>
        <p:txBody>
          <a:bodyPr wrap="square" anchor="t" lIns="73152" rIns="73152" tIns="36576" bIns="36576">
            <a:noAutofit/>
          </a:bodyPr>
          <a:lstStyle/>
          <a:p>
            <a:pPr algn="l" marL="328946" indent="-328946">
              <a:spcBef>
                <a:spcPts val="0"/>
              </a:spcBef>
              <a:spcAft>
                <a:spcPts val="500"/>
              </a:spcAft>
            </a:pPr>
            <a:r>
              <a:rPr lang="tr-TR" sz="2000" b="1" i="0">
                <a:solidFill>
                  <a:srgbClr val="FCC021"/>
                </a:solidFill>
                <a:latin typeface="Calibri"/>
              </a:rPr>
              <a:t>a)  </a:t>
            </a:r>
            <a:r>
              <a:rPr lang="tr-TR" sz="2000" b="0" i="0">
                <a:solidFill>
                  <a:srgbClr val="FFFFFF"/>
                </a:solidFill>
                <a:latin typeface="Calibri"/>
              </a:rPr>
              <a:t>Haritaya ait bileşenlerden yararlanarak haritaları okur.</a:t>
            </a:r>
          </a:p>
          <a:p>
            <a:pPr algn="l" marL="340187" indent="-340187">
              <a:spcBef>
                <a:spcPts val="0"/>
              </a:spcBef>
              <a:spcAft>
                <a:spcPts val="0"/>
              </a:spcAft>
            </a:pPr>
            <a:r>
              <a:rPr lang="tr-TR" sz="2000" b="1" i="0">
                <a:solidFill>
                  <a:srgbClr val="FCC021"/>
                </a:solidFill>
                <a:latin typeface="Calibri"/>
              </a:rPr>
              <a:t>b)  </a:t>
            </a:r>
            <a:r>
              <a:rPr lang="tr-TR" sz="2000" b="0" i="0">
                <a:solidFill>
                  <a:srgbClr val="FFFFFF"/>
                </a:solidFill>
                <a:latin typeface="Calibri"/>
              </a:rPr>
              <a:t>Haritaya ait bileşenlerden yararlanarak haritadaki olay, olgu ve mekânlar arası ilişkileri çözümler.</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F0F0F0"/>
                </a:solidFill>
                <a:latin typeface="Calibri"/>
              </a:rPr>
              <a:t>9. Sınıf Coğrafya · 2. Ünite: Mekânsal Bilgi Teknolojileri</a:t>
            </a:r>
          </a:p>
        </p:txBody>
      </p:sp>
      <p:sp>
        <p:nvSpPr>
          <p:cNvPr id="14" name="TextBox 1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F0F0F0"/>
                </a:solidFill>
                <a:latin typeface="Calibri"/>
              </a:rPr>
              <a:t>5 / 226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Bugün neler yapacağız?</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4. HAFTA</a:t>
            </a:r>
          </a:p>
        </p:txBody>
      </p:sp>
      <p:cxnSp>
        <p:nvCxnSpPr>
          <p:cNvPr id="6" name="Connector 5"/>
          <p:cNvCxnSpPr/>
          <p:nvPr/>
        </p:nvCxnSpPr>
        <p:spPr>
          <a:xfrm>
            <a:off x="1541038" y="2212848"/>
            <a:ext cx="9109616" cy="0"/>
          </a:xfrm>
          <a:prstGeom prst="line">
            <a:avLst/>
          </a:prstGeom>
          <a:ln w="50800">
            <a:solidFill>
              <a:srgbClr val="D9D9D9"/>
            </a:solidFill>
          </a:ln>
        </p:spPr>
      </p:cxnSp>
      <p:sp>
        <p:nvSpPr>
          <p:cNvPr id="7" name="Oval 6"/>
          <p:cNvSpPr/>
          <p:nvPr/>
        </p:nvSpPr>
        <p:spPr>
          <a:xfrm>
            <a:off x="1156990" y="1828800"/>
            <a:ext cx="768096" cy="768096"/>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1</a:t>
            </a:r>
          </a:p>
        </p:txBody>
      </p:sp>
      <p:sp>
        <p:nvSpPr>
          <p:cNvPr id="8" name="Rounded Rectangle 7"/>
          <p:cNvSpPr/>
          <p:nvPr/>
        </p:nvSpPr>
        <p:spPr>
          <a:xfrm>
            <a:off x="502920" y="2788920"/>
            <a:ext cx="2076236"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Başlarken</a:t>
            </a:r>
          </a:p>
        </p:txBody>
      </p:sp>
      <p:sp>
        <p:nvSpPr>
          <p:cNvPr id="9" name="TextBox 8"/>
          <p:cNvSpPr txBox="1"/>
          <p:nvPr/>
        </p:nvSpPr>
        <p:spPr>
          <a:xfrm>
            <a:off x="502920" y="4041648"/>
            <a:ext cx="2076236"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Haritaya ihtiyaç ve Irma kasırgası (not amaçlı değil)</a:t>
            </a:r>
          </a:p>
        </p:txBody>
      </p:sp>
      <p:sp>
        <p:nvSpPr>
          <p:cNvPr id="10" name="Oval 9"/>
          <p:cNvSpPr/>
          <p:nvPr/>
        </p:nvSpPr>
        <p:spPr>
          <a:xfrm>
            <a:off x="3434394"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2</a:t>
            </a:r>
          </a:p>
        </p:txBody>
      </p:sp>
      <p:sp>
        <p:nvSpPr>
          <p:cNvPr id="11" name="Rounded Rectangle 10"/>
          <p:cNvSpPr/>
          <p:nvPr/>
        </p:nvSpPr>
        <p:spPr>
          <a:xfrm>
            <a:off x="2780324" y="2788920"/>
            <a:ext cx="2076236"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Konuya başlarken</a:t>
            </a:r>
          </a:p>
        </p:txBody>
      </p:sp>
      <p:sp>
        <p:nvSpPr>
          <p:cNvPr id="12" name="TextBox 11"/>
          <p:cNvSpPr txBox="1"/>
          <p:nvPr/>
        </p:nvSpPr>
        <p:spPr>
          <a:xfrm>
            <a:off x="2780324" y="4041648"/>
            <a:ext cx="2076236"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Güvercinden uyduya; ekranlardaki haritalar</a:t>
            </a:r>
          </a:p>
        </p:txBody>
      </p:sp>
      <p:sp>
        <p:nvSpPr>
          <p:cNvPr id="13" name="Oval 12"/>
          <p:cNvSpPr/>
          <p:nvPr/>
        </p:nvSpPr>
        <p:spPr>
          <a:xfrm>
            <a:off x="5711798" y="1828800"/>
            <a:ext cx="768096" cy="768096"/>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3</a:t>
            </a:r>
          </a:p>
        </p:txBody>
      </p:sp>
      <p:sp>
        <p:nvSpPr>
          <p:cNvPr id="14" name="Rounded Rectangle 13"/>
          <p:cNvSpPr/>
          <p:nvPr/>
        </p:nvSpPr>
        <p:spPr>
          <a:xfrm>
            <a:off x="5057728" y="2788920"/>
            <a:ext cx="2076236"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Harita nedir?</a:t>
            </a:r>
          </a:p>
        </p:txBody>
      </p:sp>
      <p:sp>
        <p:nvSpPr>
          <p:cNvPr id="15" name="TextBox 14"/>
          <p:cNvSpPr txBox="1"/>
          <p:nvPr/>
        </p:nvSpPr>
        <p:spPr>
          <a:xfrm>
            <a:off x="5057728" y="4041648"/>
            <a:ext cx="2076236"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Şartlar ve elemanlar</a:t>
            </a:r>
          </a:p>
        </p:txBody>
      </p:sp>
      <p:sp>
        <p:nvSpPr>
          <p:cNvPr id="16" name="Oval 15"/>
          <p:cNvSpPr/>
          <p:nvPr/>
        </p:nvSpPr>
        <p:spPr>
          <a:xfrm>
            <a:off x="7989202"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4</a:t>
            </a:r>
          </a:p>
        </p:txBody>
      </p:sp>
      <p:sp>
        <p:nvSpPr>
          <p:cNvPr id="17" name="Rounded Rectangle 16"/>
          <p:cNvSpPr/>
          <p:nvPr/>
        </p:nvSpPr>
        <p:spPr>
          <a:xfrm>
            <a:off x="7335132" y="2788920"/>
            <a:ext cx="2076236"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Harita türleri</a:t>
            </a:r>
          </a:p>
        </p:txBody>
      </p:sp>
      <p:sp>
        <p:nvSpPr>
          <p:cNvPr id="18" name="TextBox 17"/>
          <p:cNvSpPr txBox="1"/>
          <p:nvPr/>
        </p:nvSpPr>
        <p:spPr>
          <a:xfrm>
            <a:off x="7335132" y="4041648"/>
            <a:ext cx="2076236"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Genel mi, tematik mi?</a:t>
            </a:r>
          </a:p>
        </p:txBody>
      </p:sp>
      <p:sp>
        <p:nvSpPr>
          <p:cNvPr id="19" name="Oval 18"/>
          <p:cNvSpPr/>
          <p:nvPr/>
        </p:nvSpPr>
        <p:spPr>
          <a:xfrm>
            <a:off x="10266606" y="1828800"/>
            <a:ext cx="768096" cy="768096"/>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5</a:t>
            </a:r>
          </a:p>
        </p:txBody>
      </p:sp>
      <p:sp>
        <p:nvSpPr>
          <p:cNvPr id="20" name="Rounded Rectangle 19"/>
          <p:cNvSpPr/>
          <p:nvPr/>
        </p:nvSpPr>
        <p:spPr>
          <a:xfrm>
            <a:off x="9612536" y="2788920"/>
            <a:ext cx="2076236"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Koordinatlar</a:t>
            </a:r>
          </a:p>
        </p:txBody>
      </p:sp>
      <p:sp>
        <p:nvSpPr>
          <p:cNvPr id="21" name="TextBox 20"/>
          <p:cNvSpPr txBox="1"/>
          <p:nvPr/>
        </p:nvSpPr>
        <p:spPr>
          <a:xfrm>
            <a:off x="9612536" y="4041648"/>
            <a:ext cx="2076236"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Enlem, boylam ve rota</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 / 226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 ünitenin gazete haberleri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PAYLAŞIM · 4 dk</a:t>
            </a:r>
          </a:p>
        </p:txBody>
      </p:sp>
      <p:sp>
        <p:nvSpPr>
          <p:cNvPr id="6" name="Rounded Rectangle 5"/>
          <p:cNvSpPr/>
          <p:nvPr/>
        </p:nvSpPr>
        <p:spPr>
          <a:xfrm>
            <a:off x="502920" y="1444752"/>
            <a:ext cx="3594506" cy="448056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444752"/>
            <a:ext cx="3594506" cy="530352"/>
          </a:xfrm>
          <a:prstGeom prst="roundRect">
            <a:avLst>
              <a:gd name="adj" fmla="val 25000"/>
            </a:avLst>
          </a:prstGeom>
          <a:solidFill>
            <a:srgbClr val="2C6696"/>
          </a:solidFill>
          <a:ln>
            <a:noFill/>
          </a:ln>
          <a:effectLst/>
        </p:spPr>
        <p:txBody>
          <a:bodyPr rtlCol="0" anchor="ctr"/>
          <a:lstStyle/>
          <a:p/>
        </p:txBody>
      </p:sp>
      <p:sp>
        <p:nvSpPr>
          <p:cNvPr id="8" name="Rectangle 7"/>
          <p:cNvSpPr/>
          <p:nvPr/>
        </p:nvSpPr>
        <p:spPr>
          <a:xfrm>
            <a:off x="502920" y="1709928"/>
            <a:ext cx="3594506" cy="265176"/>
          </a:xfrm>
          <a:prstGeom prst="rect">
            <a:avLst/>
          </a:prstGeom>
          <a:solidFill>
            <a:srgbClr val="2C6696"/>
          </a:solidFill>
          <a:ln>
            <a:noFill/>
          </a:ln>
          <a:effectLst/>
        </p:spPr>
        <p:txBody>
          <a:bodyPr rtlCol="0" anchor="ctr"/>
          <a:lstStyle/>
          <a:p/>
        </p:txBody>
      </p:sp>
      <p:sp>
        <p:nvSpPr>
          <p:cNvPr id="9" name="TextBox 8"/>
          <p:cNvSpPr txBox="1"/>
          <p:nvPr/>
        </p:nvSpPr>
        <p:spPr>
          <a:xfrm>
            <a:off x="594360" y="14447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SÖZCÜ · 1 dk</a:t>
            </a:r>
          </a:p>
        </p:txBody>
      </p:sp>
      <p:sp>
        <p:nvSpPr>
          <p:cNvPr id="10" name="TextBox 9"/>
          <p:cNvSpPr txBox="1"/>
          <p:nvPr/>
        </p:nvSpPr>
        <p:spPr>
          <a:xfrm>
            <a:off x="612648" y="2048256"/>
            <a:ext cx="3375050" cy="3803904"/>
          </a:xfrm>
          <a:prstGeom prst="rect">
            <a:avLst/>
          </a:prstGeom>
          <a:noFill/>
        </p:spPr>
        <p:txBody>
          <a:bodyPr wrap="square" anchor="t" lIns="73152" rIns="73152" tIns="36576" bIns="36576">
            <a:noAutofit/>
          </a:bodyPr>
          <a:lstStyle/>
          <a:p>
            <a:pPr algn="l" marL="298344" indent="-298344">
              <a:spcBef>
                <a:spcPts val="0"/>
              </a:spcBef>
              <a:spcAft>
                <a:spcPts val="600"/>
              </a:spcAft>
            </a:pPr>
            <a:r>
              <a:rPr lang="tr-TR" sz="2400" b="1" i="0">
                <a:solidFill>
                  <a:srgbClr val="2C6696"/>
                </a:solidFill>
                <a:latin typeface="Calibri"/>
              </a:rPr>
              <a:t>•  </a:t>
            </a:r>
            <a:r>
              <a:rPr lang="tr-TR" sz="2400" b="0" i="0">
                <a:solidFill>
                  <a:srgbClr val="262626"/>
                </a:solidFill>
                <a:latin typeface="Calibri"/>
              </a:rPr>
              <a:t>Haberimizin başlığı</a:t>
            </a:r>
          </a:p>
          <a:p>
            <a:pPr algn="l" marL="298344" indent="-298344">
              <a:spcBef>
                <a:spcPts val="0"/>
              </a:spcBef>
              <a:spcAft>
                <a:spcPts val="0"/>
              </a:spcAft>
            </a:pPr>
            <a:r>
              <a:rPr lang="tr-TR" sz="2400" b="1" i="0">
                <a:solidFill>
                  <a:srgbClr val="2C6696"/>
                </a:solidFill>
                <a:latin typeface="Calibri"/>
              </a:rPr>
              <a:t>•  </a:t>
            </a:r>
            <a:r>
              <a:rPr lang="tr-TR" sz="2400" b="0" i="0">
                <a:solidFill>
                  <a:srgbClr val="262626"/>
                </a:solidFill>
                <a:latin typeface="Calibri"/>
              </a:rPr>
              <a:t>Coğrafyanın önemine ilişkin yargımız</a:t>
            </a:r>
          </a:p>
        </p:txBody>
      </p:sp>
      <p:sp>
        <p:nvSpPr>
          <p:cNvPr id="11" name="Rounded Rectangle 10"/>
          <p:cNvSpPr/>
          <p:nvPr/>
        </p:nvSpPr>
        <p:spPr>
          <a:xfrm>
            <a:off x="4298594" y="1444752"/>
            <a:ext cx="3594506" cy="448056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4298594" y="1444752"/>
            <a:ext cx="3594506" cy="530352"/>
          </a:xfrm>
          <a:prstGeom prst="roundRect">
            <a:avLst>
              <a:gd name="adj" fmla="val 25000"/>
            </a:avLst>
          </a:prstGeom>
          <a:solidFill>
            <a:srgbClr val="4F4F4F"/>
          </a:solidFill>
          <a:ln>
            <a:noFill/>
          </a:ln>
          <a:effectLst/>
        </p:spPr>
        <p:txBody>
          <a:bodyPr rtlCol="0" anchor="ctr"/>
          <a:lstStyle/>
          <a:p/>
        </p:txBody>
      </p:sp>
      <p:sp>
        <p:nvSpPr>
          <p:cNvPr id="13" name="Rectangle 12"/>
          <p:cNvSpPr/>
          <p:nvPr/>
        </p:nvSpPr>
        <p:spPr>
          <a:xfrm>
            <a:off x="4298594" y="1709928"/>
            <a:ext cx="3594506" cy="265176"/>
          </a:xfrm>
          <a:prstGeom prst="rect">
            <a:avLst/>
          </a:prstGeom>
          <a:solidFill>
            <a:srgbClr val="4F4F4F"/>
          </a:solidFill>
          <a:ln>
            <a:noFill/>
          </a:ln>
          <a:effectLst/>
        </p:spPr>
        <p:txBody>
          <a:bodyPr rtlCol="0" anchor="ctr"/>
          <a:lstStyle/>
          <a:p/>
        </p:txBody>
      </p:sp>
      <p:sp>
        <p:nvSpPr>
          <p:cNvPr id="14" name="TextBox 13"/>
          <p:cNvSpPr txBox="1"/>
          <p:nvPr/>
        </p:nvSpPr>
        <p:spPr>
          <a:xfrm>
            <a:off x="4390034" y="14447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DİNLEYİCİ</a:t>
            </a:r>
          </a:p>
        </p:txBody>
      </p:sp>
      <p:sp>
        <p:nvSpPr>
          <p:cNvPr id="15" name="TextBox 14"/>
          <p:cNvSpPr txBox="1"/>
          <p:nvPr/>
        </p:nvSpPr>
        <p:spPr>
          <a:xfrm>
            <a:off x="4408322" y="2048256"/>
            <a:ext cx="3375050" cy="3803904"/>
          </a:xfrm>
          <a:prstGeom prst="rect">
            <a:avLst/>
          </a:prstGeom>
          <a:noFill/>
        </p:spPr>
        <p:txBody>
          <a:bodyPr wrap="square" anchor="t" lIns="73152" rIns="73152" tIns="36576" bIns="36576">
            <a:noAutofit/>
          </a:bodyPr>
          <a:lstStyle/>
          <a:p>
            <a:pPr algn="l" marL="298344" indent="-298344">
              <a:spcBef>
                <a:spcPts val="0"/>
              </a:spcBef>
              <a:spcAft>
                <a:spcPts val="600"/>
              </a:spcAft>
            </a:pPr>
            <a:r>
              <a:rPr lang="tr-TR" sz="2400" b="1" i="0">
                <a:solidFill>
                  <a:srgbClr val="2C6696"/>
                </a:solidFill>
                <a:latin typeface="Calibri"/>
              </a:rPr>
              <a:t>•  </a:t>
            </a:r>
            <a:r>
              <a:rPr lang="tr-TR" sz="2400" b="0" i="0">
                <a:solidFill>
                  <a:srgbClr val="262626"/>
                </a:solidFill>
                <a:latin typeface="Calibri"/>
              </a:rPr>
              <a:t>Bir övgü: Ne güzeldi?</a:t>
            </a:r>
          </a:p>
          <a:p>
            <a:pPr algn="l" marL="298344" indent="-298344">
              <a:spcBef>
                <a:spcPts val="0"/>
              </a:spcBef>
              <a:spcAft>
                <a:spcPts val="0"/>
              </a:spcAft>
            </a:pPr>
            <a:r>
              <a:rPr lang="tr-TR" sz="2400" b="1" i="0">
                <a:solidFill>
                  <a:srgbClr val="2C6696"/>
                </a:solidFill>
                <a:latin typeface="Calibri"/>
              </a:rPr>
              <a:t>•  </a:t>
            </a:r>
            <a:r>
              <a:rPr lang="tr-TR" sz="2400" b="0" i="0">
                <a:solidFill>
                  <a:srgbClr val="262626"/>
                </a:solidFill>
                <a:latin typeface="Calibri"/>
              </a:rPr>
              <a:t>Bir soru: Ne merak ettim?</a:t>
            </a:r>
          </a:p>
        </p:txBody>
      </p:sp>
      <p:sp>
        <p:nvSpPr>
          <p:cNvPr id="16" name="Rounded Rectangle 15"/>
          <p:cNvSpPr/>
          <p:nvPr/>
        </p:nvSpPr>
        <p:spPr>
          <a:xfrm>
            <a:off x="8094268" y="1444752"/>
            <a:ext cx="3594506" cy="448056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8094268" y="1444752"/>
            <a:ext cx="3594506" cy="530352"/>
          </a:xfrm>
          <a:prstGeom prst="roundRect">
            <a:avLst>
              <a:gd name="adj" fmla="val 25000"/>
            </a:avLst>
          </a:prstGeom>
          <a:solidFill>
            <a:srgbClr val="FCC021"/>
          </a:solidFill>
          <a:ln>
            <a:noFill/>
          </a:ln>
          <a:effectLst/>
        </p:spPr>
        <p:txBody>
          <a:bodyPr rtlCol="0" anchor="ctr"/>
          <a:lstStyle/>
          <a:p/>
        </p:txBody>
      </p:sp>
      <p:sp>
        <p:nvSpPr>
          <p:cNvPr id="18" name="Rectangle 17"/>
          <p:cNvSpPr/>
          <p:nvPr/>
        </p:nvSpPr>
        <p:spPr>
          <a:xfrm>
            <a:off x="8094268" y="1709928"/>
            <a:ext cx="3594506" cy="265176"/>
          </a:xfrm>
          <a:prstGeom prst="rect">
            <a:avLst/>
          </a:prstGeom>
          <a:solidFill>
            <a:srgbClr val="FCC021"/>
          </a:solidFill>
          <a:ln>
            <a:noFill/>
          </a:ln>
          <a:effectLst/>
        </p:spPr>
        <p:txBody>
          <a:bodyPr rtlCol="0" anchor="ctr"/>
          <a:lstStyle/>
          <a:p/>
        </p:txBody>
      </p:sp>
      <p:sp>
        <p:nvSpPr>
          <p:cNvPr id="19" name="TextBox 18"/>
          <p:cNvSpPr txBox="1"/>
          <p:nvPr/>
        </p:nvSpPr>
        <p:spPr>
          <a:xfrm>
            <a:off x="8185708" y="14447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ZAMAN SORUMLUSU</a:t>
            </a:r>
          </a:p>
        </p:txBody>
      </p:sp>
      <p:sp>
        <p:nvSpPr>
          <p:cNvPr id="20" name="TextBox 19"/>
          <p:cNvSpPr txBox="1"/>
          <p:nvPr/>
        </p:nvSpPr>
        <p:spPr>
          <a:xfrm>
            <a:off x="8203996" y="2048256"/>
            <a:ext cx="3375050" cy="3803904"/>
          </a:xfrm>
          <a:prstGeom prst="rect">
            <a:avLst/>
          </a:prstGeom>
          <a:noFill/>
        </p:spPr>
        <p:txBody>
          <a:bodyPr wrap="square" anchor="t" lIns="73152" rIns="73152" tIns="36576" bIns="36576">
            <a:noAutofit/>
          </a:bodyPr>
          <a:lstStyle/>
          <a:p>
            <a:pPr algn="l" marL="298344" indent="-298344">
              <a:spcBef>
                <a:spcPts val="0"/>
              </a:spcBef>
              <a:spcAft>
                <a:spcPts val="600"/>
              </a:spcAft>
            </a:pPr>
            <a:r>
              <a:rPr lang="tr-TR" sz="2400" b="1" i="0">
                <a:solidFill>
                  <a:srgbClr val="2C6696"/>
                </a:solidFill>
                <a:latin typeface="Calibri"/>
              </a:rPr>
              <a:t>•  </a:t>
            </a:r>
            <a:r>
              <a:rPr lang="tr-TR" sz="2400" b="0" i="0">
                <a:solidFill>
                  <a:srgbClr val="262626"/>
                </a:solidFill>
                <a:latin typeface="Calibri"/>
              </a:rPr>
              <a:t>50. saniyede işaret</a:t>
            </a:r>
          </a:p>
          <a:p>
            <a:pPr algn="l" marL="298344" indent="-298344">
              <a:spcBef>
                <a:spcPts val="0"/>
              </a:spcBef>
              <a:spcAft>
                <a:spcPts val="0"/>
              </a:spcAft>
            </a:pPr>
            <a:r>
              <a:rPr lang="tr-TR" sz="2400" b="1" i="0">
                <a:solidFill>
                  <a:srgbClr val="2C6696"/>
                </a:solidFill>
                <a:latin typeface="Calibri"/>
              </a:rPr>
              <a:t>•  </a:t>
            </a:r>
            <a:r>
              <a:rPr lang="tr-TR" sz="2400" b="0" i="0">
                <a:solidFill>
                  <a:srgbClr val="262626"/>
                </a:solidFill>
                <a:latin typeface="Calibri"/>
              </a:rPr>
              <a:t>60. saniyede söz biter</a:t>
            </a:r>
          </a:p>
        </p:txBody>
      </p:sp>
      <p:sp>
        <p:nvSpPr>
          <p:cNvPr id="21" name="TextBox 2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22" name="TextBox 2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 / 226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Başlarken 1: haritaya nerede ihtiyaç duyarız?</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BAŞLARKEN</a:t>
            </a:r>
          </a:p>
        </p:txBody>
      </p:sp>
      <p:sp>
        <p:nvSpPr>
          <p:cNvPr id="6" name="Rounded Rectangle 5"/>
          <p:cNvSpPr/>
          <p:nvPr/>
        </p:nvSpPr>
        <p:spPr>
          <a:xfrm>
            <a:off x="502920" y="1216152"/>
            <a:ext cx="11185855" cy="1188720"/>
          </a:xfrm>
          <a:prstGeom prst="roundRect">
            <a:avLst>
              <a:gd name="adj" fmla="val 8000"/>
            </a:avLst>
          </a:prstGeom>
          <a:solidFill>
            <a:srgbClr val="FFF3D1"/>
          </a:solidFill>
          <a:ln>
            <a:noFill/>
          </a:ln>
          <a:effectLst/>
        </p:spPr>
        <p:txBody>
          <a:bodyPr rtlCol="0" anchor="ctr" wrap="square" lIns="274320" rIns="274320" tIns="73152" bIns="73152">
            <a:noAutofit/>
          </a:bodyPr>
          <a:lstStyle/>
          <a:p>
            <a:pPr algn="l">
              <a:spcBef>
                <a:spcPts val="0"/>
              </a:spcBef>
              <a:spcAft>
                <a:spcPts val="0"/>
              </a:spcAft>
            </a:pPr>
            <a:r>
              <a:rPr lang="tr-TR" sz="2100" b="1" i="0">
                <a:solidFill>
                  <a:srgbClr val="262626"/>
                </a:solidFill>
                <a:latin typeface="Calibri"/>
              </a:rPr>
              <a:t>1. Aşağıda verilen örnekten yola çıkarak haritaya ihtiyaç duyulan farklı alanlara örnekler veriniz. Verdiğiniz örneklerden hangilerinin dijital yöntemlerle karşılandığına dair görüşlerinizi ilgili tabloya yazınız.</a:t>
            </a:r>
          </a:p>
        </p:txBody>
      </p:sp>
      <p:graphicFrame>
        <p:nvGraphicFramePr>
          <p:cNvPr id="7" name="Table 6"/>
          <p:cNvGraphicFramePr>
            <a:graphicFrameLocks noGrp="1"/>
          </p:cNvGraphicFramePr>
          <p:nvPr/>
        </p:nvGraphicFramePr>
        <p:xfrm>
          <a:off x="502920" y="2587752"/>
          <a:ext cx="11183112" cy="3950208"/>
        </p:xfrm>
        <a:graphic>
          <a:graphicData uri="http://schemas.openxmlformats.org/drawingml/2006/table">
            <a:tbl>
              <a:tblPr firstRow="1" bandRow="1">
                <a:tableStyleId>{5C22544A-7EE6-4342-B048-85BDC9FD1C3A}</a:tableStyleId>
              </a:tblPr>
              <a:tblGrid>
                <a:gridCol w="6400800"/>
                <a:gridCol w="4782312"/>
              </a:tblGrid>
              <a:tr h="566928">
                <a:tc>
                  <a:txBody>
                    <a:bodyPr wrap="square"/>
                    <a:lstStyle/>
                    <a:p>
                      <a:pPr algn="ctr">
                        <a:spcBef>
                          <a:spcPts val="0"/>
                        </a:spcBef>
                        <a:spcAft>
                          <a:spcPts val="0"/>
                        </a:spcAft>
                      </a:pPr>
                      <a:r>
                        <a:rPr lang="tr-TR" sz="1800" b="1" i="0">
                          <a:solidFill>
                            <a:srgbClr val="FFFFFF"/>
                          </a:solidFill>
                          <a:latin typeface="Calibri"/>
                        </a:rPr>
                        <a:t>Örnek olay</a:t>
                      </a:r>
                    </a:p>
                  </a:txBody>
                  <a:tcPr marL="54864" marR="54864" marT="18288" marB="18288" anchor="ctr">
                    <a:solidFill>
                      <a:srgbClr val="2C6696"/>
                    </a:solidFill>
                  </a:tcPr>
                </a:tc>
                <a:tc>
                  <a:txBody>
                    <a:bodyPr wrap="square"/>
                    <a:lstStyle/>
                    <a:p>
                      <a:pPr algn="ctr">
                        <a:spcBef>
                          <a:spcPts val="0"/>
                        </a:spcBef>
                        <a:spcAft>
                          <a:spcPts val="0"/>
                        </a:spcAft>
                      </a:pPr>
                      <a:r>
                        <a:rPr lang="tr-TR" sz="1800" b="1" i="0">
                          <a:solidFill>
                            <a:srgbClr val="FFFFFF"/>
                          </a:solidFill>
                          <a:latin typeface="Calibri"/>
                        </a:rPr>
                        <a:t>Görüşler</a:t>
                      </a:r>
                    </a:p>
                  </a:txBody>
                  <a:tcPr marL="54864" marR="54864" marT="18288" marB="18288" anchor="ctr">
                    <a:solidFill>
                      <a:srgbClr val="2C6696"/>
                    </a:solidFill>
                  </a:tcPr>
                </a:tc>
              </a:tr>
              <a:tr h="676656">
                <a:tc>
                  <a:txBody>
                    <a:bodyPr wrap="square"/>
                    <a:lstStyle/>
                    <a:p>
                      <a:pPr algn="l">
                        <a:spcBef>
                          <a:spcPts val="0"/>
                        </a:spcBef>
                        <a:spcAft>
                          <a:spcPts val="0"/>
                        </a:spcAft>
                      </a:pPr>
                      <a:r>
                        <a:rPr lang="tr-TR" sz="2000" b="0" i="0">
                          <a:solidFill>
                            <a:srgbClr val="262626"/>
                          </a:solidFill>
                          <a:latin typeface="Calibri"/>
                        </a:rPr>
                        <a:t>Bir pilotun uçuş rotasını oluşturması.</a:t>
                      </a:r>
                    </a:p>
                  </a:txBody>
                  <a:tcPr marL="54864" marR="54864" marT="18288" marB="18288" anchor="ctr">
                    <a:solidFill>
                      <a:srgbClr val="FFFFFF"/>
                    </a:solidFill>
                  </a:tcPr>
                </a:tc>
                <a:tc>
                  <a:txBody>
                    <a:bodyPr wrap="square"/>
                    <a:lstStyle/>
                    <a:p>
                      <a:pPr algn="l">
                        <a:spcBef>
                          <a:spcPts val="0"/>
                        </a:spcBef>
                        <a:spcAft>
                          <a:spcPts val="0"/>
                        </a:spcAft>
                      </a:pPr>
                      <a:r>
                        <a:rPr lang="tr-TR" sz="2000" b="0" i="0">
                          <a:solidFill>
                            <a:srgbClr val="262626"/>
                          </a:solidFill>
                          <a:latin typeface="Calibri"/>
                        </a:rPr>
                        <a:t>Dijital teknolojiyle karşılanabilir.</a:t>
                      </a:r>
                    </a:p>
                  </a:txBody>
                  <a:tcPr marL="54864" marR="54864" marT="18288" marB="18288" anchor="ctr">
                    <a:solidFill>
                      <a:srgbClr val="FFFFFF"/>
                    </a:solidFill>
                  </a:tcPr>
                </a:tc>
              </a:tr>
              <a:tr h="676656">
                <a:tc>
                  <a:txBody>
                    <a:bodyPr wrap="square"/>
                    <a:lstStyle/>
                    <a:p>
                      <a:pPr algn="l">
                        <a:spcBef>
                          <a:spcPts val="0"/>
                        </a:spcBef>
                        <a:spcAft>
                          <a:spcPts val="0"/>
                        </a:spcAft>
                      </a:pPr>
                    </a:p>
                  </a:txBody>
                  <a:tcPr marL="54864" marR="54864" marT="18288" marB="18288" anchor="ctr">
                    <a:solidFill>
                      <a:srgbClr val="F0F0F0"/>
                    </a:solidFill>
                  </a:tcPr>
                </a:tc>
                <a:tc>
                  <a:txBody>
                    <a:bodyPr wrap="square"/>
                    <a:lstStyle/>
                    <a:p>
                      <a:pPr algn="l">
                        <a:spcBef>
                          <a:spcPts val="0"/>
                        </a:spcBef>
                        <a:spcAft>
                          <a:spcPts val="0"/>
                        </a:spcAft>
                      </a:pPr>
                    </a:p>
                  </a:txBody>
                  <a:tcPr marL="54864" marR="54864" marT="18288" marB="18288" anchor="ctr">
                    <a:solidFill>
                      <a:srgbClr val="F0F0F0"/>
                    </a:solidFill>
                  </a:tcPr>
                </a:tc>
              </a:tr>
              <a:tr h="676656">
                <a:tc>
                  <a:txBody>
                    <a:bodyPr wrap="square"/>
                    <a:lstStyle/>
                    <a:p>
                      <a:pPr algn="l">
                        <a:spcBef>
                          <a:spcPts val="0"/>
                        </a:spcBef>
                        <a:spcAft>
                          <a:spcPts val="0"/>
                        </a:spcAft>
                      </a:pPr>
                    </a:p>
                  </a:txBody>
                  <a:tcPr marL="54864" marR="54864" marT="18288" marB="18288" anchor="ctr">
                    <a:solidFill>
                      <a:srgbClr val="FFFFFF"/>
                    </a:solidFill>
                  </a:tcPr>
                </a:tc>
                <a:tc>
                  <a:txBody>
                    <a:bodyPr wrap="square"/>
                    <a:lstStyle/>
                    <a:p>
                      <a:pPr algn="l">
                        <a:spcBef>
                          <a:spcPts val="0"/>
                        </a:spcBef>
                        <a:spcAft>
                          <a:spcPts val="0"/>
                        </a:spcAft>
                      </a:pPr>
                    </a:p>
                  </a:txBody>
                  <a:tcPr marL="54864" marR="54864" marT="18288" marB="18288" anchor="ctr">
                    <a:solidFill>
                      <a:srgbClr val="FFFFFF"/>
                    </a:solidFill>
                  </a:tcPr>
                </a:tc>
              </a:tr>
              <a:tr h="676656">
                <a:tc>
                  <a:txBody>
                    <a:bodyPr wrap="square"/>
                    <a:lstStyle/>
                    <a:p>
                      <a:pPr algn="l">
                        <a:spcBef>
                          <a:spcPts val="0"/>
                        </a:spcBef>
                        <a:spcAft>
                          <a:spcPts val="0"/>
                        </a:spcAft>
                      </a:pPr>
                    </a:p>
                  </a:txBody>
                  <a:tcPr marL="54864" marR="54864" marT="18288" marB="18288" anchor="ctr">
                    <a:solidFill>
                      <a:srgbClr val="F0F0F0"/>
                    </a:solidFill>
                  </a:tcPr>
                </a:tc>
                <a:tc>
                  <a:txBody>
                    <a:bodyPr wrap="square"/>
                    <a:lstStyle/>
                    <a:p>
                      <a:pPr algn="l">
                        <a:spcBef>
                          <a:spcPts val="0"/>
                        </a:spcBef>
                        <a:spcAft>
                          <a:spcPts val="0"/>
                        </a:spcAft>
                      </a:pPr>
                    </a:p>
                  </a:txBody>
                  <a:tcPr marL="54864" marR="54864" marT="18288" marB="18288" anchor="ctr">
                    <a:solidFill>
                      <a:srgbClr val="F0F0F0"/>
                    </a:solidFill>
                  </a:tcPr>
                </a:tc>
              </a:tr>
              <a:tr h="676656">
                <a:tc>
                  <a:txBody>
                    <a:bodyPr wrap="square"/>
                    <a:lstStyle/>
                    <a:p>
                      <a:pPr algn="l">
                        <a:spcBef>
                          <a:spcPts val="0"/>
                        </a:spcBef>
                        <a:spcAft>
                          <a:spcPts val="0"/>
                        </a:spcAft>
                      </a:pPr>
                    </a:p>
                  </a:txBody>
                  <a:tcPr marL="54864" marR="54864" marT="18288" marB="18288" anchor="ctr">
                    <a:solidFill>
                      <a:srgbClr val="FFFFFF"/>
                    </a:solidFill>
                  </a:tcPr>
                </a:tc>
                <a:tc>
                  <a:txBody>
                    <a:bodyPr wrap="square"/>
                    <a:lstStyle/>
                    <a:p>
                      <a:pPr algn="l">
                        <a:spcBef>
                          <a:spcPts val="0"/>
                        </a:spcBef>
                        <a:spcAft>
                          <a:spcPts val="0"/>
                        </a:spcAft>
                      </a:pPr>
                    </a:p>
                  </a:txBody>
                  <a:tcPr marL="54864" marR="54864" marT="18288" marB="18288" anchor="ctr">
                    <a:solidFill>
                      <a:srgbClr val="FFFFFF"/>
                    </a:solidFill>
                  </a:tcPr>
                </a:tc>
              </a:tr>
            </a:tbl>
          </a:graphicData>
        </a:graphic>
      </p:graphicFrame>
      <p:sp>
        <p:nvSpPr>
          <p:cNvPr id="8" name="TextBox 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9" name="Rounded Rectangle 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34</a:t>
            </a:r>
          </a:p>
        </p:txBody>
      </p:sp>
      <p:sp>
        <p:nvSpPr>
          <p:cNvPr id="10" name="TextBox 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 / 226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Başlarken 1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graphicFrame>
        <p:nvGraphicFramePr>
          <p:cNvPr id="6" name="Table 5"/>
          <p:cNvGraphicFramePr>
            <a:graphicFrameLocks noGrp="1"/>
          </p:cNvGraphicFramePr>
          <p:nvPr/>
        </p:nvGraphicFramePr>
        <p:xfrm>
          <a:off x="502920" y="1261872"/>
          <a:ext cx="11183112" cy="4937760"/>
        </p:xfrm>
        <a:graphic>
          <a:graphicData uri="http://schemas.openxmlformats.org/drawingml/2006/table">
            <a:tbl>
              <a:tblPr firstRow="1" bandRow="1">
                <a:tableStyleId>{5C22544A-7EE6-4342-B048-85BDC9FD1C3A}</a:tableStyleId>
              </a:tblPr>
              <a:tblGrid>
                <a:gridCol w="5486400"/>
                <a:gridCol w="5696712"/>
              </a:tblGrid>
              <a:tr h="548640">
                <a:tc>
                  <a:txBody>
                    <a:bodyPr wrap="square"/>
                    <a:lstStyle/>
                    <a:p>
                      <a:pPr algn="ctr">
                        <a:spcBef>
                          <a:spcPts val="0"/>
                        </a:spcBef>
                        <a:spcAft>
                          <a:spcPts val="0"/>
                        </a:spcAft>
                      </a:pPr>
                      <a:r>
                        <a:rPr lang="tr-TR" sz="1700" b="1" i="0">
                          <a:solidFill>
                            <a:srgbClr val="FFFFFF"/>
                          </a:solidFill>
                          <a:latin typeface="Calibri"/>
                        </a:rPr>
                        <a:t>Örnek olay</a:t>
                      </a:r>
                    </a:p>
                  </a:txBody>
                  <a:tcPr marL="54864" marR="54864" marT="18288" marB="18288" anchor="ctr">
                    <a:solidFill>
                      <a:srgbClr val="2E7D32"/>
                    </a:solidFill>
                  </a:tcPr>
                </a:tc>
                <a:tc>
                  <a:txBody>
                    <a:bodyPr wrap="square"/>
                    <a:lstStyle/>
                    <a:p>
                      <a:pPr algn="ctr">
                        <a:spcBef>
                          <a:spcPts val="0"/>
                        </a:spcBef>
                        <a:spcAft>
                          <a:spcPts val="0"/>
                        </a:spcAft>
                      </a:pPr>
                      <a:r>
                        <a:rPr lang="tr-TR" sz="1700" b="1" i="0">
                          <a:solidFill>
                            <a:srgbClr val="FFFFFF"/>
                          </a:solidFill>
                          <a:latin typeface="Calibri"/>
                        </a:rPr>
                        <a:t>Görüşler (dijital olarak nasıl karşılanır?)</a:t>
                      </a:r>
                    </a:p>
                  </a:txBody>
                  <a:tcPr marL="54864" marR="54864" marT="18288" marB="18288" anchor="ctr">
                    <a:solidFill>
                      <a:srgbClr val="2E7D32"/>
                    </a:solidFill>
                  </a:tcPr>
                </a:tc>
              </a:tr>
              <a:tr h="731520">
                <a:tc>
                  <a:txBody>
                    <a:bodyPr wrap="square"/>
                    <a:lstStyle/>
                    <a:p>
                      <a:pPr algn="l">
                        <a:spcBef>
                          <a:spcPts val="0"/>
                        </a:spcBef>
                        <a:spcAft>
                          <a:spcPts val="0"/>
                        </a:spcAft>
                      </a:pPr>
                      <a:r>
                        <a:rPr lang="tr-TR" sz="1900" b="0" i="0">
                          <a:solidFill>
                            <a:srgbClr val="262626"/>
                          </a:solidFill>
                          <a:latin typeface="Calibri"/>
                        </a:rPr>
                        <a:t>Afetlerde tahliye ve arama kurtarma rotası</a:t>
                      </a:r>
                    </a:p>
                  </a:txBody>
                  <a:tcPr marL="54864" marR="54864" marT="18288" marB="18288" anchor="ctr">
                    <a:solidFill>
                      <a:srgbClr val="FFFFFF"/>
                    </a:solidFill>
                  </a:tcPr>
                </a:tc>
                <a:tc>
                  <a:txBody>
                    <a:bodyPr wrap="square"/>
                    <a:lstStyle/>
                    <a:p>
                      <a:pPr algn="l">
                        <a:spcBef>
                          <a:spcPts val="0"/>
                        </a:spcBef>
                        <a:spcAft>
                          <a:spcPts val="0"/>
                        </a:spcAft>
                      </a:pPr>
                      <a:r>
                        <a:rPr lang="tr-TR" sz="1900" b="0" i="0">
                          <a:solidFill>
                            <a:srgbClr val="262626"/>
                          </a:solidFill>
                          <a:latin typeface="Calibri"/>
                        </a:rPr>
                        <a:t>Uydu görüntüleri, coğrafi bilgi sistemleri, GPS</a:t>
                      </a:r>
                    </a:p>
                  </a:txBody>
                  <a:tcPr marL="54864" marR="54864" marT="18288" marB="18288" anchor="ctr">
                    <a:solidFill>
                      <a:srgbClr val="FFFFFF"/>
                    </a:solidFill>
                  </a:tcPr>
                </a:tc>
              </a:tr>
              <a:tr h="731520">
                <a:tc>
                  <a:txBody>
                    <a:bodyPr wrap="square"/>
                    <a:lstStyle/>
                    <a:p>
                      <a:pPr algn="l">
                        <a:spcBef>
                          <a:spcPts val="0"/>
                        </a:spcBef>
                        <a:spcAft>
                          <a:spcPts val="0"/>
                        </a:spcAft>
                      </a:pPr>
                      <a:r>
                        <a:rPr lang="tr-TR" sz="1900" b="0" i="0">
                          <a:solidFill>
                            <a:srgbClr val="262626"/>
                          </a:solidFill>
                          <a:latin typeface="Calibri"/>
                        </a:rPr>
                        <a:t>Kuryenin şehirde en kısa rotayı bulması</a:t>
                      </a:r>
                    </a:p>
                  </a:txBody>
                  <a:tcPr marL="54864" marR="54864" marT="18288" marB="18288" anchor="ctr">
                    <a:solidFill>
                      <a:srgbClr val="E3F1E4"/>
                    </a:solidFill>
                  </a:tcPr>
                </a:tc>
                <a:tc>
                  <a:txBody>
                    <a:bodyPr wrap="square"/>
                    <a:lstStyle/>
                    <a:p>
                      <a:pPr algn="l">
                        <a:spcBef>
                          <a:spcPts val="0"/>
                        </a:spcBef>
                        <a:spcAft>
                          <a:spcPts val="0"/>
                        </a:spcAft>
                      </a:pPr>
                      <a:r>
                        <a:rPr lang="tr-TR" sz="1900" b="0" i="0">
                          <a:solidFill>
                            <a:srgbClr val="262626"/>
                          </a:solidFill>
                          <a:latin typeface="Calibri"/>
                        </a:rPr>
                        <a:t>Canlı trafik gösteren navigasyon uygulaması</a:t>
                      </a:r>
                    </a:p>
                  </a:txBody>
                  <a:tcPr marL="54864" marR="54864" marT="18288" marB="18288" anchor="ctr">
                    <a:solidFill>
                      <a:srgbClr val="E3F1E4"/>
                    </a:solidFill>
                  </a:tcPr>
                </a:tc>
              </a:tr>
              <a:tr h="731520">
                <a:tc>
                  <a:txBody>
                    <a:bodyPr wrap="square"/>
                    <a:lstStyle/>
                    <a:p>
                      <a:pPr algn="l">
                        <a:spcBef>
                          <a:spcPts val="0"/>
                        </a:spcBef>
                        <a:spcAft>
                          <a:spcPts val="0"/>
                        </a:spcAft>
                      </a:pPr>
                      <a:r>
                        <a:rPr lang="tr-TR" sz="1900" b="0" i="0">
                          <a:solidFill>
                            <a:srgbClr val="262626"/>
                          </a:solidFill>
                          <a:latin typeface="Calibri"/>
                        </a:rPr>
                        <a:t>Yeni yerleşim, yol ve altyapı planlaması</a:t>
                      </a:r>
                    </a:p>
                  </a:txBody>
                  <a:tcPr marL="54864" marR="54864" marT="18288" marB="18288" anchor="ctr">
                    <a:solidFill>
                      <a:srgbClr val="FFFFFF"/>
                    </a:solidFill>
                  </a:tcPr>
                </a:tc>
                <a:tc>
                  <a:txBody>
                    <a:bodyPr wrap="square"/>
                    <a:lstStyle/>
                    <a:p>
                      <a:pPr algn="l">
                        <a:spcBef>
                          <a:spcPts val="0"/>
                        </a:spcBef>
                        <a:spcAft>
                          <a:spcPts val="0"/>
                        </a:spcAft>
                      </a:pPr>
                      <a:r>
                        <a:rPr lang="tr-TR" sz="1900" b="0" i="0">
                          <a:solidFill>
                            <a:srgbClr val="262626"/>
                          </a:solidFill>
                          <a:latin typeface="Calibri"/>
                        </a:rPr>
                        <a:t>CBS'de katmanlı mekânsal analiz</a:t>
                      </a:r>
                    </a:p>
                  </a:txBody>
                  <a:tcPr marL="54864" marR="54864" marT="18288" marB="18288" anchor="ctr">
                    <a:solidFill>
                      <a:srgbClr val="FFFFFF"/>
                    </a:solidFill>
                  </a:tcPr>
                </a:tc>
              </a:tr>
              <a:tr h="731520">
                <a:tc>
                  <a:txBody>
                    <a:bodyPr wrap="square"/>
                    <a:lstStyle/>
                    <a:p>
                      <a:pPr algn="l">
                        <a:spcBef>
                          <a:spcPts val="0"/>
                        </a:spcBef>
                        <a:spcAft>
                          <a:spcPts val="0"/>
                        </a:spcAft>
                      </a:pPr>
                      <a:r>
                        <a:rPr lang="tr-TR" sz="1900" b="0" i="0">
                          <a:solidFill>
                            <a:srgbClr val="262626"/>
                          </a:solidFill>
                          <a:latin typeface="Calibri"/>
                        </a:rPr>
                        <a:t>Gemilerin güvenli rotası, fırtına takibi</a:t>
                      </a:r>
                    </a:p>
                  </a:txBody>
                  <a:tcPr marL="54864" marR="54864" marT="18288" marB="18288" anchor="ctr">
                    <a:solidFill>
                      <a:srgbClr val="E3F1E4"/>
                    </a:solidFill>
                  </a:tcPr>
                </a:tc>
                <a:tc>
                  <a:txBody>
                    <a:bodyPr wrap="square"/>
                    <a:lstStyle/>
                    <a:p>
                      <a:pPr algn="l">
                        <a:spcBef>
                          <a:spcPts val="0"/>
                        </a:spcBef>
                        <a:spcAft>
                          <a:spcPts val="0"/>
                        </a:spcAft>
                      </a:pPr>
                      <a:r>
                        <a:rPr lang="tr-TR" sz="1900" b="0" i="0">
                          <a:solidFill>
                            <a:srgbClr val="262626"/>
                          </a:solidFill>
                          <a:latin typeface="Calibri"/>
                        </a:rPr>
                        <a:t>Elektronik seyir haritası, meteoroloji uyduları</a:t>
                      </a:r>
                    </a:p>
                  </a:txBody>
                  <a:tcPr marL="54864" marR="54864" marT="18288" marB="18288" anchor="ctr">
                    <a:solidFill>
                      <a:srgbClr val="E3F1E4"/>
                    </a:solidFill>
                  </a:tcPr>
                </a:tc>
              </a:tr>
              <a:tr h="731520">
                <a:tc>
                  <a:txBody>
                    <a:bodyPr wrap="square"/>
                    <a:lstStyle/>
                    <a:p>
                      <a:pPr algn="l">
                        <a:spcBef>
                          <a:spcPts val="0"/>
                        </a:spcBef>
                        <a:spcAft>
                          <a:spcPts val="0"/>
                        </a:spcAft>
                      </a:pPr>
                      <a:r>
                        <a:rPr lang="tr-TR" sz="1900" b="0" i="0">
                          <a:solidFill>
                            <a:srgbClr val="262626"/>
                          </a:solidFill>
                          <a:latin typeface="Calibri"/>
                        </a:rPr>
                        <a:t>Orman yangınının yayılışını izleme</a:t>
                      </a:r>
                    </a:p>
                  </a:txBody>
                  <a:tcPr marL="54864" marR="54864" marT="18288" marB="18288" anchor="ctr">
                    <a:solidFill>
                      <a:srgbClr val="FFFFFF"/>
                    </a:solidFill>
                  </a:tcPr>
                </a:tc>
                <a:tc>
                  <a:txBody>
                    <a:bodyPr wrap="square"/>
                    <a:lstStyle/>
                    <a:p>
                      <a:pPr algn="l">
                        <a:spcBef>
                          <a:spcPts val="0"/>
                        </a:spcBef>
                        <a:spcAft>
                          <a:spcPts val="0"/>
                        </a:spcAft>
                      </a:pPr>
                      <a:r>
                        <a:rPr lang="tr-TR" sz="1900" b="0" i="0">
                          <a:solidFill>
                            <a:srgbClr val="262626"/>
                          </a:solidFill>
                          <a:latin typeface="Calibri"/>
                        </a:rPr>
                        <a:t>Uzaktan algılama ve CBS analizleri</a:t>
                      </a:r>
                    </a:p>
                  </a:txBody>
                  <a:tcPr marL="54864" marR="54864" marT="18288" marB="18288" anchor="ctr">
                    <a:solidFill>
                      <a:srgbClr val="FFFFFF"/>
                    </a:solidFill>
                  </a:tcPr>
                </a:tc>
              </a:tr>
              <a:tr h="731520">
                <a:tc>
                  <a:txBody>
                    <a:bodyPr wrap="square"/>
                    <a:lstStyle/>
                    <a:p>
                      <a:pPr algn="l">
                        <a:spcBef>
                          <a:spcPts val="0"/>
                        </a:spcBef>
                        <a:spcAft>
                          <a:spcPts val="0"/>
                        </a:spcAft>
                      </a:pPr>
                      <a:r>
                        <a:rPr lang="tr-TR" sz="1900" b="0" i="0">
                          <a:solidFill>
                            <a:srgbClr val="262626"/>
                          </a:solidFill>
                          <a:latin typeface="Calibri"/>
                        </a:rPr>
                        <a:t>Derste yer şekillerini inceleme</a:t>
                      </a:r>
                    </a:p>
                  </a:txBody>
                  <a:tcPr marL="54864" marR="54864" marT="18288" marB="18288" anchor="ctr">
                    <a:solidFill>
                      <a:srgbClr val="E3F1E4"/>
                    </a:solidFill>
                  </a:tcPr>
                </a:tc>
                <a:tc>
                  <a:txBody>
                    <a:bodyPr wrap="square"/>
                    <a:lstStyle/>
                    <a:p>
                      <a:pPr algn="l">
                        <a:spcBef>
                          <a:spcPts val="0"/>
                        </a:spcBef>
                        <a:spcAft>
                          <a:spcPts val="0"/>
                        </a:spcAft>
                      </a:pPr>
                      <a:r>
                        <a:rPr lang="tr-TR" sz="1900" b="0" i="0">
                          <a:solidFill>
                            <a:srgbClr val="262626"/>
                          </a:solidFill>
                          <a:latin typeface="Calibri"/>
                        </a:rPr>
                        <a:t>Dijital atlas ve sanal küre (HGM Küre)</a:t>
                      </a:r>
                    </a:p>
                  </a:txBody>
                  <a:tcPr marL="54864" marR="54864" marT="18288" marB="18288" anchor="ctr">
                    <a:solidFill>
                      <a:srgbClr val="E3F1E4"/>
                    </a:solidFill>
                  </a:tcPr>
                </a:tc>
              </a:tr>
            </a:tbl>
          </a:graphicData>
        </a:graphic>
      </p:graphicFrame>
      <p:sp>
        <p:nvSpPr>
          <p:cNvPr id="7" name="TextBox 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8" name="Rounded Rectangle 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34</a:t>
            </a:r>
          </a:p>
        </p:txBody>
      </p:sp>
      <p:sp>
        <p:nvSpPr>
          <p:cNvPr id="9" name="TextBox 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 / 226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Başlarken 2: Irma kasırgası (Eylül 2017)</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BAŞLARKEN</a:t>
            </a:r>
          </a:p>
        </p:txBody>
      </p:sp>
      <p:sp>
        <p:nvSpPr>
          <p:cNvPr id="6" name="TextBox 5"/>
          <p:cNvSpPr txBox="1"/>
          <p:nvPr/>
        </p:nvSpPr>
        <p:spPr>
          <a:xfrm>
            <a:off x="502920" y="1170432"/>
            <a:ext cx="11185855" cy="868680"/>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262626"/>
                </a:solidFill>
                <a:latin typeface="Calibri"/>
              </a:rPr>
              <a:t>2. Aşağıda Irma kasırgasına (Eylül 2017) ait bilgilerin yer aldığı tablo ile kasırganın görüldüğü bölgenin haritası verilmiştir. Tablo ve haritadan yararlanarak soruları cevaplayınız.</a:t>
            </a:r>
          </a:p>
        </p:txBody>
      </p:sp>
      <p:graphicFrame>
        <p:nvGraphicFramePr>
          <p:cNvPr id="7" name="Table 6"/>
          <p:cNvGraphicFramePr>
            <a:graphicFrameLocks noGrp="1"/>
          </p:cNvGraphicFramePr>
          <p:nvPr/>
        </p:nvGraphicFramePr>
        <p:xfrm>
          <a:off x="502920" y="2130552"/>
          <a:ext cx="5394960" cy="3657600"/>
        </p:xfrm>
        <a:graphic>
          <a:graphicData uri="http://schemas.openxmlformats.org/drawingml/2006/table">
            <a:tbl>
              <a:tblPr firstRow="1" bandRow="1">
                <a:tableStyleId>{5C22544A-7EE6-4342-B048-85BDC9FD1C3A}</a:tableStyleId>
              </a:tblPr>
              <a:tblGrid>
                <a:gridCol w="1600200"/>
                <a:gridCol w="1188720"/>
                <a:gridCol w="1325880"/>
                <a:gridCol w="1280160"/>
              </a:tblGrid>
              <a:tr h="457200">
                <a:tc>
                  <a:txBody>
                    <a:bodyPr wrap="square"/>
                    <a:lstStyle/>
                    <a:p>
                      <a:pPr algn="ctr">
                        <a:spcBef>
                          <a:spcPts val="0"/>
                        </a:spcBef>
                        <a:spcAft>
                          <a:spcPts val="0"/>
                        </a:spcAft>
                      </a:pPr>
                      <a:r>
                        <a:rPr lang="tr-TR" sz="1700" b="1" i="0">
                          <a:solidFill>
                            <a:srgbClr val="FFFFFF"/>
                          </a:solidFill>
                          <a:latin typeface="Calibri"/>
                        </a:rPr>
                        <a:t>Gün</a:t>
                      </a:r>
                    </a:p>
                  </a:txBody>
                  <a:tcPr marL="54864" marR="54864" marT="18288" marB="18288" anchor="ctr">
                    <a:solidFill>
                      <a:srgbClr val="2C6696"/>
                    </a:solidFill>
                  </a:tcPr>
                </a:tc>
                <a:tc>
                  <a:txBody>
                    <a:bodyPr wrap="square"/>
                    <a:lstStyle/>
                    <a:p>
                      <a:pPr algn="ctr">
                        <a:spcBef>
                          <a:spcPts val="0"/>
                        </a:spcBef>
                        <a:spcAft>
                          <a:spcPts val="0"/>
                        </a:spcAft>
                      </a:pPr>
                      <a:r>
                        <a:rPr lang="tr-TR" sz="1700" b="1" i="0">
                          <a:solidFill>
                            <a:srgbClr val="FFFFFF"/>
                          </a:solidFill>
                          <a:latin typeface="Calibri"/>
                        </a:rPr>
                        <a:t>Paralel</a:t>
                      </a:r>
                    </a:p>
                  </a:txBody>
                  <a:tcPr marL="54864" marR="54864" marT="18288" marB="18288" anchor="ctr">
                    <a:solidFill>
                      <a:srgbClr val="2C6696"/>
                    </a:solidFill>
                  </a:tcPr>
                </a:tc>
                <a:tc>
                  <a:txBody>
                    <a:bodyPr wrap="square"/>
                    <a:lstStyle/>
                    <a:p>
                      <a:pPr algn="ctr">
                        <a:spcBef>
                          <a:spcPts val="0"/>
                        </a:spcBef>
                        <a:spcAft>
                          <a:spcPts val="0"/>
                        </a:spcAft>
                      </a:pPr>
                      <a:r>
                        <a:rPr lang="tr-TR" sz="1700" b="1" i="0">
                          <a:solidFill>
                            <a:srgbClr val="FFFFFF"/>
                          </a:solidFill>
                          <a:latin typeface="Calibri"/>
                        </a:rPr>
                        <a:t>Meridyen</a:t>
                      </a:r>
                    </a:p>
                  </a:txBody>
                  <a:tcPr marL="54864" marR="54864" marT="18288" marB="18288" anchor="ctr">
                    <a:solidFill>
                      <a:srgbClr val="2C6696"/>
                    </a:solidFill>
                  </a:tcPr>
                </a:tc>
                <a:tc>
                  <a:txBody>
                    <a:bodyPr wrap="square"/>
                    <a:lstStyle/>
                    <a:p>
                      <a:pPr algn="ctr">
                        <a:spcBef>
                          <a:spcPts val="0"/>
                        </a:spcBef>
                        <a:spcAft>
                          <a:spcPts val="0"/>
                        </a:spcAft>
                      </a:pPr>
                      <a:r>
                        <a:rPr lang="tr-TR" sz="1700" b="1" i="0">
                          <a:solidFill>
                            <a:srgbClr val="FFFFFF"/>
                          </a:solidFill>
                          <a:latin typeface="Calibri"/>
                        </a:rPr>
                        <a:t>Kategori</a:t>
                      </a:r>
                    </a:p>
                  </a:txBody>
                  <a:tcPr marL="54864" marR="54864" marT="18288" marB="18288" anchor="ctr">
                    <a:solidFill>
                      <a:srgbClr val="2C6696"/>
                    </a:solidFill>
                  </a:tcPr>
                </a:tc>
              </a:tr>
              <a:tr h="457200">
                <a:tc>
                  <a:txBody>
                    <a:bodyPr wrap="square"/>
                    <a:lstStyle/>
                    <a:p>
                      <a:pPr algn="l">
                        <a:spcBef>
                          <a:spcPts val="0"/>
                        </a:spcBef>
                        <a:spcAft>
                          <a:spcPts val="0"/>
                        </a:spcAft>
                      </a:pPr>
                      <a:r>
                        <a:rPr lang="tr-TR" sz="1900" b="0" i="0">
                          <a:solidFill>
                            <a:srgbClr val="262626"/>
                          </a:solidFill>
                          <a:latin typeface="Calibri"/>
                        </a:rPr>
                        <a:t>31 Ağustos</a:t>
                      </a:r>
                    </a:p>
                  </a:txBody>
                  <a:tcPr marL="54864" marR="54864" marT="18288" marB="18288" anchor="ctr">
                    <a:solidFill>
                      <a:srgbClr val="FFFFFF"/>
                    </a:solidFill>
                  </a:tcPr>
                </a:tc>
                <a:tc>
                  <a:txBody>
                    <a:bodyPr wrap="square"/>
                    <a:lstStyle/>
                    <a:p>
                      <a:pPr algn="ctr">
                        <a:spcBef>
                          <a:spcPts val="0"/>
                        </a:spcBef>
                        <a:spcAft>
                          <a:spcPts val="0"/>
                        </a:spcAft>
                      </a:pPr>
                      <a:r>
                        <a:rPr lang="tr-TR" sz="1900" b="0" i="0">
                          <a:solidFill>
                            <a:srgbClr val="262626"/>
                          </a:solidFill>
                          <a:latin typeface="Calibri"/>
                        </a:rPr>
                        <a:t>16°K</a:t>
                      </a:r>
                    </a:p>
                  </a:txBody>
                  <a:tcPr marL="54864" marR="54864" marT="18288" marB="18288" anchor="ctr">
                    <a:solidFill>
                      <a:srgbClr val="FFFFFF"/>
                    </a:solidFill>
                  </a:tcPr>
                </a:tc>
                <a:tc>
                  <a:txBody>
                    <a:bodyPr wrap="square"/>
                    <a:lstStyle/>
                    <a:p>
                      <a:pPr algn="ctr">
                        <a:spcBef>
                          <a:spcPts val="0"/>
                        </a:spcBef>
                        <a:spcAft>
                          <a:spcPts val="0"/>
                        </a:spcAft>
                      </a:pPr>
                      <a:r>
                        <a:rPr lang="tr-TR" sz="1900" b="0" i="0">
                          <a:solidFill>
                            <a:srgbClr val="262626"/>
                          </a:solidFill>
                          <a:latin typeface="Calibri"/>
                        </a:rPr>
                        <a:t>31°B</a:t>
                      </a:r>
                    </a:p>
                  </a:txBody>
                  <a:tcPr marL="54864" marR="54864" marT="18288" marB="18288" anchor="ctr">
                    <a:solidFill>
                      <a:srgbClr val="FFFFFF"/>
                    </a:solidFill>
                  </a:tcPr>
                </a:tc>
                <a:tc>
                  <a:txBody>
                    <a:bodyPr wrap="square"/>
                    <a:lstStyle/>
                    <a:p>
                      <a:pPr algn="ctr">
                        <a:spcBef>
                          <a:spcPts val="0"/>
                        </a:spcBef>
                        <a:spcAft>
                          <a:spcPts val="0"/>
                        </a:spcAft>
                      </a:pPr>
                      <a:r>
                        <a:rPr lang="tr-TR" sz="1900" b="0" i="0">
                          <a:solidFill>
                            <a:srgbClr val="262626"/>
                          </a:solidFill>
                          <a:latin typeface="Calibri"/>
                        </a:rPr>
                        <a:t>-</a:t>
                      </a:r>
                    </a:p>
                  </a:txBody>
                  <a:tcPr marL="54864" marR="54864" marT="18288" marB="18288" anchor="ctr">
                    <a:solidFill>
                      <a:srgbClr val="FFFFFF"/>
                    </a:solidFill>
                  </a:tcPr>
                </a:tc>
              </a:tr>
              <a:tr h="457200">
                <a:tc>
                  <a:txBody>
                    <a:bodyPr wrap="square"/>
                    <a:lstStyle/>
                    <a:p>
                      <a:pPr algn="l">
                        <a:spcBef>
                          <a:spcPts val="0"/>
                        </a:spcBef>
                        <a:spcAft>
                          <a:spcPts val="0"/>
                        </a:spcAft>
                      </a:pPr>
                      <a:r>
                        <a:rPr lang="tr-TR" sz="1900" b="0" i="0">
                          <a:solidFill>
                            <a:srgbClr val="262626"/>
                          </a:solidFill>
                          <a:latin typeface="Calibri"/>
                        </a:rPr>
                        <a:t>1 Eylül</a:t>
                      </a:r>
                    </a:p>
                  </a:txBody>
                  <a:tcPr marL="54864" marR="54864" marT="18288" marB="18288" anchor="ctr">
                    <a:solidFill>
                      <a:srgbClr val="E3ECF5"/>
                    </a:solidFill>
                  </a:tcPr>
                </a:tc>
                <a:tc>
                  <a:txBody>
                    <a:bodyPr wrap="square"/>
                    <a:lstStyle/>
                    <a:p>
                      <a:pPr algn="ctr">
                        <a:spcBef>
                          <a:spcPts val="0"/>
                        </a:spcBef>
                        <a:spcAft>
                          <a:spcPts val="0"/>
                        </a:spcAft>
                      </a:pPr>
                      <a:r>
                        <a:rPr lang="tr-TR" sz="1900" b="0" i="0">
                          <a:solidFill>
                            <a:srgbClr val="262626"/>
                          </a:solidFill>
                          <a:latin typeface="Calibri"/>
                        </a:rPr>
                        <a:t>17°K</a:t>
                      </a:r>
                    </a:p>
                  </a:txBody>
                  <a:tcPr marL="54864" marR="54864" marT="18288" marB="18288" anchor="ctr">
                    <a:solidFill>
                      <a:srgbClr val="E3ECF5"/>
                    </a:solidFill>
                  </a:tcPr>
                </a:tc>
                <a:tc>
                  <a:txBody>
                    <a:bodyPr wrap="square"/>
                    <a:lstStyle/>
                    <a:p>
                      <a:pPr algn="ctr">
                        <a:spcBef>
                          <a:spcPts val="0"/>
                        </a:spcBef>
                        <a:spcAft>
                          <a:spcPts val="0"/>
                        </a:spcAft>
                      </a:pPr>
                      <a:r>
                        <a:rPr lang="tr-TR" sz="1900" b="0" i="0">
                          <a:solidFill>
                            <a:srgbClr val="262626"/>
                          </a:solidFill>
                          <a:latin typeface="Calibri"/>
                        </a:rPr>
                        <a:t>34°B</a:t>
                      </a:r>
                    </a:p>
                  </a:txBody>
                  <a:tcPr marL="54864" marR="54864" marT="18288" marB="18288" anchor="ctr">
                    <a:solidFill>
                      <a:srgbClr val="E3ECF5"/>
                    </a:solidFill>
                  </a:tcPr>
                </a:tc>
                <a:tc>
                  <a:txBody>
                    <a:bodyPr wrap="square"/>
                    <a:lstStyle/>
                    <a:p>
                      <a:pPr algn="ctr">
                        <a:spcBef>
                          <a:spcPts val="0"/>
                        </a:spcBef>
                        <a:spcAft>
                          <a:spcPts val="0"/>
                        </a:spcAft>
                      </a:pPr>
                      <a:r>
                        <a:rPr lang="tr-TR" sz="1900" b="0" i="0">
                          <a:solidFill>
                            <a:srgbClr val="262626"/>
                          </a:solidFill>
                          <a:latin typeface="Calibri"/>
                        </a:rPr>
                        <a:t>3</a:t>
                      </a:r>
                    </a:p>
                  </a:txBody>
                  <a:tcPr marL="54864" marR="54864" marT="18288" marB="18288" anchor="ctr">
                    <a:solidFill>
                      <a:srgbClr val="E3ECF5"/>
                    </a:solidFill>
                  </a:tcPr>
                </a:tc>
              </a:tr>
              <a:tr h="457200">
                <a:tc>
                  <a:txBody>
                    <a:bodyPr wrap="square"/>
                    <a:lstStyle/>
                    <a:p>
                      <a:pPr algn="l">
                        <a:spcBef>
                          <a:spcPts val="0"/>
                        </a:spcBef>
                        <a:spcAft>
                          <a:spcPts val="0"/>
                        </a:spcAft>
                      </a:pPr>
                      <a:r>
                        <a:rPr lang="tr-TR" sz="1900" b="0" i="0">
                          <a:solidFill>
                            <a:srgbClr val="262626"/>
                          </a:solidFill>
                          <a:latin typeface="Calibri"/>
                        </a:rPr>
                        <a:t>2 Eylül</a:t>
                      </a:r>
                    </a:p>
                  </a:txBody>
                  <a:tcPr marL="54864" marR="54864" marT="18288" marB="18288" anchor="ctr">
                    <a:solidFill>
                      <a:srgbClr val="FFFFFF"/>
                    </a:solidFill>
                  </a:tcPr>
                </a:tc>
                <a:tc>
                  <a:txBody>
                    <a:bodyPr wrap="square"/>
                    <a:lstStyle/>
                    <a:p>
                      <a:pPr algn="ctr">
                        <a:spcBef>
                          <a:spcPts val="0"/>
                        </a:spcBef>
                        <a:spcAft>
                          <a:spcPts val="0"/>
                        </a:spcAft>
                      </a:pPr>
                      <a:r>
                        <a:rPr lang="tr-TR" sz="1900" b="0" i="0">
                          <a:solidFill>
                            <a:srgbClr val="262626"/>
                          </a:solidFill>
                          <a:latin typeface="Calibri"/>
                        </a:rPr>
                        <a:t>18°K</a:t>
                      </a:r>
                    </a:p>
                  </a:txBody>
                  <a:tcPr marL="54864" marR="54864" marT="18288" marB="18288" anchor="ctr">
                    <a:solidFill>
                      <a:srgbClr val="FFFFFF"/>
                    </a:solidFill>
                  </a:tcPr>
                </a:tc>
                <a:tc>
                  <a:txBody>
                    <a:bodyPr wrap="square"/>
                    <a:lstStyle/>
                    <a:p>
                      <a:pPr algn="ctr">
                        <a:spcBef>
                          <a:spcPts val="0"/>
                        </a:spcBef>
                        <a:spcAft>
                          <a:spcPts val="0"/>
                        </a:spcAft>
                      </a:pPr>
                      <a:r>
                        <a:rPr lang="tr-TR" sz="1900" b="0" i="0">
                          <a:solidFill>
                            <a:srgbClr val="262626"/>
                          </a:solidFill>
                          <a:latin typeface="Calibri"/>
                        </a:rPr>
                        <a:t>38°B</a:t>
                      </a:r>
                    </a:p>
                  </a:txBody>
                  <a:tcPr marL="54864" marR="54864" marT="18288" marB="18288" anchor="ctr">
                    <a:solidFill>
                      <a:srgbClr val="FFFFFF"/>
                    </a:solidFill>
                  </a:tcPr>
                </a:tc>
                <a:tc>
                  <a:txBody>
                    <a:bodyPr wrap="square"/>
                    <a:lstStyle/>
                    <a:p>
                      <a:pPr algn="ctr">
                        <a:spcBef>
                          <a:spcPts val="0"/>
                        </a:spcBef>
                        <a:spcAft>
                          <a:spcPts val="0"/>
                        </a:spcAft>
                      </a:pPr>
                      <a:r>
                        <a:rPr lang="tr-TR" sz="1900" b="0" i="0">
                          <a:solidFill>
                            <a:srgbClr val="262626"/>
                          </a:solidFill>
                          <a:latin typeface="Calibri"/>
                        </a:rPr>
                        <a:t>3</a:t>
                      </a:r>
                    </a:p>
                  </a:txBody>
                  <a:tcPr marL="54864" marR="54864" marT="18288" marB="18288" anchor="ctr">
                    <a:solidFill>
                      <a:srgbClr val="FFFFFF"/>
                    </a:solidFill>
                  </a:tcPr>
                </a:tc>
              </a:tr>
              <a:tr h="457200">
                <a:tc>
                  <a:txBody>
                    <a:bodyPr wrap="square"/>
                    <a:lstStyle/>
                    <a:p>
                      <a:pPr algn="l">
                        <a:spcBef>
                          <a:spcPts val="0"/>
                        </a:spcBef>
                        <a:spcAft>
                          <a:spcPts val="0"/>
                        </a:spcAft>
                      </a:pPr>
                      <a:r>
                        <a:rPr lang="tr-TR" sz="1900" b="0" i="0">
                          <a:solidFill>
                            <a:srgbClr val="262626"/>
                          </a:solidFill>
                          <a:latin typeface="Calibri"/>
                        </a:rPr>
                        <a:t>3 Eylül</a:t>
                      </a:r>
                    </a:p>
                  </a:txBody>
                  <a:tcPr marL="54864" marR="54864" marT="18288" marB="18288" anchor="ctr">
                    <a:solidFill>
                      <a:srgbClr val="E3ECF5"/>
                    </a:solidFill>
                  </a:tcPr>
                </a:tc>
                <a:tc>
                  <a:txBody>
                    <a:bodyPr wrap="square"/>
                    <a:lstStyle/>
                    <a:p>
                      <a:pPr algn="ctr">
                        <a:spcBef>
                          <a:spcPts val="0"/>
                        </a:spcBef>
                        <a:spcAft>
                          <a:spcPts val="0"/>
                        </a:spcAft>
                      </a:pPr>
                      <a:r>
                        <a:rPr lang="tr-TR" sz="1900" b="0" i="0">
                          <a:solidFill>
                            <a:srgbClr val="262626"/>
                          </a:solidFill>
                          <a:latin typeface="Calibri"/>
                        </a:rPr>
                        <a:t>18°K</a:t>
                      </a:r>
                    </a:p>
                  </a:txBody>
                  <a:tcPr marL="54864" marR="54864" marT="18288" marB="18288" anchor="ctr">
                    <a:solidFill>
                      <a:srgbClr val="E3ECF5"/>
                    </a:solidFill>
                  </a:tcPr>
                </a:tc>
                <a:tc>
                  <a:txBody>
                    <a:bodyPr wrap="square"/>
                    <a:lstStyle/>
                    <a:p>
                      <a:pPr algn="ctr">
                        <a:spcBef>
                          <a:spcPts val="0"/>
                        </a:spcBef>
                        <a:spcAft>
                          <a:spcPts val="0"/>
                        </a:spcAft>
                      </a:pPr>
                      <a:r>
                        <a:rPr lang="tr-TR" sz="1900" b="0" i="0">
                          <a:solidFill>
                            <a:srgbClr val="262626"/>
                          </a:solidFill>
                          <a:latin typeface="Calibri"/>
                        </a:rPr>
                        <a:t>44°B</a:t>
                      </a:r>
                    </a:p>
                  </a:txBody>
                  <a:tcPr marL="54864" marR="54864" marT="18288" marB="18288" anchor="ctr">
                    <a:solidFill>
                      <a:srgbClr val="E3ECF5"/>
                    </a:solidFill>
                  </a:tcPr>
                </a:tc>
                <a:tc>
                  <a:txBody>
                    <a:bodyPr wrap="square"/>
                    <a:lstStyle/>
                    <a:p>
                      <a:pPr algn="ctr">
                        <a:spcBef>
                          <a:spcPts val="0"/>
                        </a:spcBef>
                        <a:spcAft>
                          <a:spcPts val="0"/>
                        </a:spcAft>
                      </a:pPr>
                      <a:r>
                        <a:rPr lang="tr-TR" sz="1900" b="0" i="0">
                          <a:solidFill>
                            <a:srgbClr val="262626"/>
                          </a:solidFill>
                          <a:latin typeface="Calibri"/>
                        </a:rPr>
                        <a:t>2</a:t>
                      </a:r>
                    </a:p>
                  </a:txBody>
                  <a:tcPr marL="54864" marR="54864" marT="18288" marB="18288" anchor="ctr">
                    <a:solidFill>
                      <a:srgbClr val="E3ECF5"/>
                    </a:solidFill>
                  </a:tcPr>
                </a:tc>
              </a:tr>
              <a:tr h="457200">
                <a:tc>
                  <a:txBody>
                    <a:bodyPr wrap="square"/>
                    <a:lstStyle/>
                    <a:p>
                      <a:pPr algn="l">
                        <a:spcBef>
                          <a:spcPts val="0"/>
                        </a:spcBef>
                        <a:spcAft>
                          <a:spcPts val="0"/>
                        </a:spcAft>
                      </a:pPr>
                      <a:r>
                        <a:rPr lang="tr-TR" sz="1900" b="0" i="0">
                          <a:solidFill>
                            <a:srgbClr val="262626"/>
                          </a:solidFill>
                          <a:latin typeface="Calibri"/>
                        </a:rPr>
                        <a:t>4 Eylül</a:t>
                      </a:r>
                    </a:p>
                  </a:txBody>
                  <a:tcPr marL="54864" marR="54864" marT="18288" marB="18288" anchor="ctr">
                    <a:solidFill>
                      <a:srgbClr val="FFFFFF"/>
                    </a:solidFill>
                  </a:tcPr>
                </a:tc>
                <a:tc>
                  <a:txBody>
                    <a:bodyPr wrap="square"/>
                    <a:lstStyle/>
                    <a:p>
                      <a:pPr algn="ctr">
                        <a:spcBef>
                          <a:spcPts val="0"/>
                        </a:spcBef>
                        <a:spcAft>
                          <a:spcPts val="0"/>
                        </a:spcAft>
                      </a:pPr>
                      <a:r>
                        <a:rPr lang="tr-TR" sz="1900" b="0" i="0">
                          <a:solidFill>
                            <a:srgbClr val="262626"/>
                          </a:solidFill>
                          <a:latin typeface="Calibri"/>
                        </a:rPr>
                        <a:t>17°K</a:t>
                      </a:r>
                    </a:p>
                  </a:txBody>
                  <a:tcPr marL="54864" marR="54864" marT="18288" marB="18288" anchor="ctr">
                    <a:solidFill>
                      <a:srgbClr val="FFFFFF"/>
                    </a:solidFill>
                  </a:tcPr>
                </a:tc>
                <a:tc>
                  <a:txBody>
                    <a:bodyPr wrap="square"/>
                    <a:lstStyle/>
                    <a:p>
                      <a:pPr algn="ctr">
                        <a:spcBef>
                          <a:spcPts val="0"/>
                        </a:spcBef>
                        <a:spcAft>
                          <a:spcPts val="0"/>
                        </a:spcAft>
                      </a:pPr>
                      <a:r>
                        <a:rPr lang="tr-TR" sz="1900" b="0" i="0">
                          <a:solidFill>
                            <a:srgbClr val="262626"/>
                          </a:solidFill>
                          <a:latin typeface="Calibri"/>
                        </a:rPr>
                        <a:t>49°B</a:t>
                      </a:r>
                    </a:p>
                  </a:txBody>
                  <a:tcPr marL="54864" marR="54864" marT="18288" marB="18288" anchor="ctr">
                    <a:solidFill>
                      <a:srgbClr val="FFFFFF"/>
                    </a:solidFill>
                  </a:tcPr>
                </a:tc>
                <a:tc>
                  <a:txBody>
                    <a:bodyPr wrap="square"/>
                    <a:lstStyle/>
                    <a:p>
                      <a:pPr algn="ctr">
                        <a:spcBef>
                          <a:spcPts val="0"/>
                        </a:spcBef>
                        <a:spcAft>
                          <a:spcPts val="0"/>
                        </a:spcAft>
                      </a:pPr>
                      <a:r>
                        <a:rPr lang="tr-TR" sz="1900" b="0" i="0">
                          <a:solidFill>
                            <a:srgbClr val="262626"/>
                          </a:solidFill>
                          <a:latin typeface="Calibri"/>
                        </a:rPr>
                        <a:t>3</a:t>
                      </a:r>
                    </a:p>
                  </a:txBody>
                  <a:tcPr marL="54864" marR="54864" marT="18288" marB="18288" anchor="ctr">
                    <a:solidFill>
                      <a:srgbClr val="FFFFFF"/>
                    </a:solidFill>
                  </a:tcPr>
                </a:tc>
              </a:tr>
              <a:tr h="457200">
                <a:tc>
                  <a:txBody>
                    <a:bodyPr wrap="square"/>
                    <a:lstStyle/>
                    <a:p>
                      <a:pPr algn="l">
                        <a:spcBef>
                          <a:spcPts val="0"/>
                        </a:spcBef>
                        <a:spcAft>
                          <a:spcPts val="0"/>
                        </a:spcAft>
                      </a:pPr>
                      <a:r>
                        <a:rPr lang="tr-TR" sz="1900" b="0" i="0">
                          <a:solidFill>
                            <a:srgbClr val="262626"/>
                          </a:solidFill>
                          <a:latin typeface="Calibri"/>
                        </a:rPr>
                        <a:t>5 Eylül</a:t>
                      </a:r>
                    </a:p>
                  </a:txBody>
                  <a:tcPr marL="54864" marR="54864" marT="18288" marB="18288" anchor="ctr">
                    <a:solidFill>
                      <a:srgbClr val="F9E1E1"/>
                    </a:solidFill>
                  </a:tcPr>
                </a:tc>
                <a:tc>
                  <a:txBody>
                    <a:bodyPr wrap="square"/>
                    <a:lstStyle/>
                    <a:p>
                      <a:pPr algn="ctr">
                        <a:spcBef>
                          <a:spcPts val="0"/>
                        </a:spcBef>
                        <a:spcAft>
                          <a:spcPts val="0"/>
                        </a:spcAft>
                      </a:pPr>
                      <a:r>
                        <a:rPr lang="tr-TR" sz="1900" b="0" i="0">
                          <a:solidFill>
                            <a:srgbClr val="262626"/>
                          </a:solidFill>
                          <a:latin typeface="Calibri"/>
                        </a:rPr>
                        <a:t>16°K</a:t>
                      </a:r>
                    </a:p>
                  </a:txBody>
                  <a:tcPr marL="54864" marR="54864" marT="18288" marB="18288" anchor="ctr">
                    <a:solidFill>
                      <a:srgbClr val="F9E1E1"/>
                    </a:solidFill>
                  </a:tcPr>
                </a:tc>
                <a:tc>
                  <a:txBody>
                    <a:bodyPr wrap="square"/>
                    <a:lstStyle/>
                    <a:p>
                      <a:pPr algn="ctr">
                        <a:spcBef>
                          <a:spcPts val="0"/>
                        </a:spcBef>
                        <a:spcAft>
                          <a:spcPts val="0"/>
                        </a:spcAft>
                      </a:pPr>
                      <a:r>
                        <a:rPr lang="tr-TR" sz="1900" b="0" i="0">
                          <a:solidFill>
                            <a:srgbClr val="262626"/>
                          </a:solidFill>
                          <a:latin typeface="Calibri"/>
                        </a:rPr>
                        <a:t>54°B</a:t>
                      </a:r>
                    </a:p>
                  </a:txBody>
                  <a:tcPr marL="54864" marR="54864" marT="18288" marB="18288" anchor="ctr">
                    <a:solidFill>
                      <a:srgbClr val="F9E1E1"/>
                    </a:solidFill>
                  </a:tcPr>
                </a:tc>
                <a:tc>
                  <a:txBody>
                    <a:bodyPr wrap="square"/>
                    <a:lstStyle/>
                    <a:p>
                      <a:pPr algn="ctr">
                        <a:spcBef>
                          <a:spcPts val="0"/>
                        </a:spcBef>
                        <a:spcAft>
                          <a:spcPts val="0"/>
                        </a:spcAft>
                      </a:pPr>
                      <a:r>
                        <a:rPr lang="tr-TR" sz="1900" b="0" i="0">
                          <a:solidFill>
                            <a:srgbClr val="262626"/>
                          </a:solidFill>
                          <a:latin typeface="Calibri"/>
                        </a:rPr>
                        <a:t>4</a:t>
                      </a:r>
                    </a:p>
                  </a:txBody>
                  <a:tcPr marL="54864" marR="54864" marT="18288" marB="18288" anchor="ctr">
                    <a:solidFill>
                      <a:srgbClr val="F9E1E1"/>
                    </a:solidFill>
                  </a:tcPr>
                </a:tc>
              </a:tr>
              <a:tr h="457200">
                <a:tc>
                  <a:txBody>
                    <a:bodyPr wrap="square"/>
                    <a:lstStyle/>
                    <a:p>
                      <a:pPr algn="l">
                        <a:spcBef>
                          <a:spcPts val="0"/>
                        </a:spcBef>
                        <a:spcAft>
                          <a:spcPts val="0"/>
                        </a:spcAft>
                      </a:pPr>
                      <a:r>
                        <a:rPr lang="tr-TR" sz="1900" b="0" i="0">
                          <a:solidFill>
                            <a:srgbClr val="262626"/>
                          </a:solidFill>
                          <a:latin typeface="Calibri"/>
                        </a:rPr>
                        <a:t>6 Eylül</a:t>
                      </a:r>
                    </a:p>
                  </a:txBody>
                  <a:tcPr marL="54864" marR="54864" marT="18288" marB="18288" anchor="ctr">
                    <a:solidFill>
                      <a:srgbClr val="F9E1E1"/>
                    </a:solidFill>
                  </a:tcPr>
                </a:tc>
                <a:tc>
                  <a:txBody>
                    <a:bodyPr wrap="square"/>
                    <a:lstStyle/>
                    <a:p>
                      <a:pPr algn="ctr">
                        <a:spcBef>
                          <a:spcPts val="0"/>
                        </a:spcBef>
                        <a:spcAft>
                          <a:spcPts val="0"/>
                        </a:spcAft>
                      </a:pPr>
                      <a:r>
                        <a:rPr lang="tr-TR" sz="1900" b="0" i="0">
                          <a:solidFill>
                            <a:srgbClr val="262626"/>
                          </a:solidFill>
                          <a:latin typeface="Calibri"/>
                        </a:rPr>
                        <a:t>17°K</a:t>
                      </a:r>
                    </a:p>
                  </a:txBody>
                  <a:tcPr marL="54864" marR="54864" marT="18288" marB="18288" anchor="ctr">
                    <a:solidFill>
                      <a:srgbClr val="F9E1E1"/>
                    </a:solidFill>
                  </a:tcPr>
                </a:tc>
                <a:tc>
                  <a:txBody>
                    <a:bodyPr wrap="square"/>
                    <a:lstStyle/>
                    <a:p>
                      <a:pPr algn="ctr">
                        <a:spcBef>
                          <a:spcPts val="0"/>
                        </a:spcBef>
                        <a:spcAft>
                          <a:spcPts val="0"/>
                        </a:spcAft>
                      </a:pPr>
                      <a:r>
                        <a:rPr lang="tr-TR" sz="1900" b="0" i="0">
                          <a:solidFill>
                            <a:srgbClr val="262626"/>
                          </a:solidFill>
                          <a:latin typeface="Calibri"/>
                        </a:rPr>
                        <a:t>59°B</a:t>
                      </a:r>
                    </a:p>
                  </a:txBody>
                  <a:tcPr marL="54864" marR="54864" marT="18288" marB="18288" anchor="ctr">
                    <a:solidFill>
                      <a:srgbClr val="F9E1E1"/>
                    </a:solidFill>
                  </a:tcPr>
                </a:tc>
                <a:tc>
                  <a:txBody>
                    <a:bodyPr wrap="square"/>
                    <a:lstStyle/>
                    <a:p>
                      <a:pPr algn="ctr">
                        <a:spcBef>
                          <a:spcPts val="0"/>
                        </a:spcBef>
                        <a:spcAft>
                          <a:spcPts val="0"/>
                        </a:spcAft>
                      </a:pPr>
                      <a:r>
                        <a:rPr lang="tr-TR" sz="1900" b="0" i="0">
                          <a:solidFill>
                            <a:srgbClr val="262626"/>
                          </a:solidFill>
                          <a:latin typeface="Calibri"/>
                        </a:rPr>
                        <a:t>5</a:t>
                      </a:r>
                    </a:p>
                  </a:txBody>
                  <a:tcPr marL="54864" marR="54864" marT="18288" marB="18288" anchor="ctr">
                    <a:solidFill>
                      <a:srgbClr val="F9E1E1"/>
                    </a:solidFill>
                  </a:tcPr>
                </a:tc>
              </a:tr>
            </a:tbl>
          </a:graphicData>
        </a:graphic>
      </p:graphicFrame>
      <p:graphicFrame>
        <p:nvGraphicFramePr>
          <p:cNvPr id="8" name="Table 7"/>
          <p:cNvGraphicFramePr>
            <a:graphicFrameLocks noGrp="1"/>
          </p:cNvGraphicFramePr>
          <p:nvPr/>
        </p:nvGraphicFramePr>
        <p:xfrm>
          <a:off x="6293815" y="2130552"/>
          <a:ext cx="5394960" cy="3657600"/>
        </p:xfrm>
        <a:graphic>
          <a:graphicData uri="http://schemas.openxmlformats.org/drawingml/2006/table">
            <a:tbl>
              <a:tblPr firstRow="1" bandRow="1">
                <a:tableStyleId>{5C22544A-7EE6-4342-B048-85BDC9FD1C3A}</a:tableStyleId>
              </a:tblPr>
              <a:tblGrid>
                <a:gridCol w="1600200"/>
                <a:gridCol w="1188720"/>
                <a:gridCol w="1325880"/>
                <a:gridCol w="1280160"/>
              </a:tblGrid>
              <a:tr h="457200">
                <a:tc>
                  <a:txBody>
                    <a:bodyPr wrap="square"/>
                    <a:lstStyle/>
                    <a:p>
                      <a:pPr algn="ctr">
                        <a:spcBef>
                          <a:spcPts val="0"/>
                        </a:spcBef>
                        <a:spcAft>
                          <a:spcPts val="0"/>
                        </a:spcAft>
                      </a:pPr>
                      <a:r>
                        <a:rPr lang="tr-TR" sz="1700" b="1" i="0">
                          <a:solidFill>
                            <a:srgbClr val="FFFFFF"/>
                          </a:solidFill>
                          <a:latin typeface="Calibri"/>
                        </a:rPr>
                        <a:t>Gün</a:t>
                      </a:r>
                    </a:p>
                  </a:txBody>
                  <a:tcPr marL="54864" marR="54864" marT="18288" marB="18288" anchor="ctr">
                    <a:solidFill>
                      <a:srgbClr val="2C6696"/>
                    </a:solidFill>
                  </a:tcPr>
                </a:tc>
                <a:tc>
                  <a:txBody>
                    <a:bodyPr wrap="square"/>
                    <a:lstStyle/>
                    <a:p>
                      <a:pPr algn="ctr">
                        <a:spcBef>
                          <a:spcPts val="0"/>
                        </a:spcBef>
                        <a:spcAft>
                          <a:spcPts val="0"/>
                        </a:spcAft>
                      </a:pPr>
                      <a:r>
                        <a:rPr lang="tr-TR" sz="1700" b="1" i="0">
                          <a:solidFill>
                            <a:srgbClr val="FFFFFF"/>
                          </a:solidFill>
                          <a:latin typeface="Calibri"/>
                        </a:rPr>
                        <a:t>Paralel</a:t>
                      </a:r>
                    </a:p>
                  </a:txBody>
                  <a:tcPr marL="54864" marR="54864" marT="18288" marB="18288" anchor="ctr">
                    <a:solidFill>
                      <a:srgbClr val="2C6696"/>
                    </a:solidFill>
                  </a:tcPr>
                </a:tc>
                <a:tc>
                  <a:txBody>
                    <a:bodyPr wrap="square"/>
                    <a:lstStyle/>
                    <a:p>
                      <a:pPr algn="ctr">
                        <a:spcBef>
                          <a:spcPts val="0"/>
                        </a:spcBef>
                        <a:spcAft>
                          <a:spcPts val="0"/>
                        </a:spcAft>
                      </a:pPr>
                      <a:r>
                        <a:rPr lang="tr-TR" sz="1700" b="1" i="0">
                          <a:solidFill>
                            <a:srgbClr val="FFFFFF"/>
                          </a:solidFill>
                          <a:latin typeface="Calibri"/>
                        </a:rPr>
                        <a:t>Meridyen</a:t>
                      </a:r>
                    </a:p>
                  </a:txBody>
                  <a:tcPr marL="54864" marR="54864" marT="18288" marB="18288" anchor="ctr">
                    <a:solidFill>
                      <a:srgbClr val="2C6696"/>
                    </a:solidFill>
                  </a:tcPr>
                </a:tc>
                <a:tc>
                  <a:txBody>
                    <a:bodyPr wrap="square"/>
                    <a:lstStyle/>
                    <a:p>
                      <a:pPr algn="ctr">
                        <a:spcBef>
                          <a:spcPts val="0"/>
                        </a:spcBef>
                        <a:spcAft>
                          <a:spcPts val="0"/>
                        </a:spcAft>
                      </a:pPr>
                      <a:r>
                        <a:rPr lang="tr-TR" sz="1700" b="1" i="0">
                          <a:solidFill>
                            <a:srgbClr val="FFFFFF"/>
                          </a:solidFill>
                          <a:latin typeface="Calibri"/>
                        </a:rPr>
                        <a:t>Kategori</a:t>
                      </a:r>
                    </a:p>
                  </a:txBody>
                  <a:tcPr marL="54864" marR="54864" marT="18288" marB="18288" anchor="ctr">
                    <a:solidFill>
                      <a:srgbClr val="2C6696"/>
                    </a:solidFill>
                  </a:tcPr>
                </a:tc>
              </a:tr>
              <a:tr h="457200">
                <a:tc>
                  <a:txBody>
                    <a:bodyPr wrap="square"/>
                    <a:lstStyle/>
                    <a:p>
                      <a:pPr algn="l">
                        <a:spcBef>
                          <a:spcPts val="0"/>
                        </a:spcBef>
                        <a:spcAft>
                          <a:spcPts val="0"/>
                        </a:spcAft>
                      </a:pPr>
                      <a:r>
                        <a:rPr lang="tr-TR" sz="1900" b="0" i="0">
                          <a:solidFill>
                            <a:srgbClr val="262626"/>
                          </a:solidFill>
                          <a:latin typeface="Calibri"/>
                        </a:rPr>
                        <a:t>7 Eylül</a:t>
                      </a:r>
                    </a:p>
                  </a:txBody>
                  <a:tcPr marL="54864" marR="54864" marT="18288" marB="18288" anchor="ctr">
                    <a:solidFill>
                      <a:srgbClr val="F9E1E1"/>
                    </a:solidFill>
                  </a:tcPr>
                </a:tc>
                <a:tc>
                  <a:txBody>
                    <a:bodyPr wrap="square"/>
                    <a:lstStyle/>
                    <a:p>
                      <a:pPr algn="ctr">
                        <a:spcBef>
                          <a:spcPts val="0"/>
                        </a:spcBef>
                        <a:spcAft>
                          <a:spcPts val="0"/>
                        </a:spcAft>
                      </a:pPr>
                      <a:r>
                        <a:rPr lang="tr-TR" sz="1900" b="0" i="0">
                          <a:solidFill>
                            <a:srgbClr val="262626"/>
                          </a:solidFill>
                          <a:latin typeface="Calibri"/>
                        </a:rPr>
                        <a:t>18°K</a:t>
                      </a:r>
                    </a:p>
                  </a:txBody>
                  <a:tcPr marL="54864" marR="54864" marT="18288" marB="18288" anchor="ctr">
                    <a:solidFill>
                      <a:srgbClr val="F9E1E1"/>
                    </a:solidFill>
                  </a:tcPr>
                </a:tc>
                <a:tc>
                  <a:txBody>
                    <a:bodyPr wrap="square"/>
                    <a:lstStyle/>
                    <a:p>
                      <a:pPr algn="ctr">
                        <a:spcBef>
                          <a:spcPts val="0"/>
                        </a:spcBef>
                        <a:spcAft>
                          <a:spcPts val="0"/>
                        </a:spcAft>
                      </a:pPr>
                      <a:r>
                        <a:rPr lang="tr-TR" sz="1900" b="0" i="0">
                          <a:solidFill>
                            <a:srgbClr val="262626"/>
                          </a:solidFill>
                          <a:latin typeface="Calibri"/>
                        </a:rPr>
                        <a:t>65°B</a:t>
                      </a:r>
                    </a:p>
                  </a:txBody>
                  <a:tcPr marL="54864" marR="54864" marT="18288" marB="18288" anchor="ctr">
                    <a:solidFill>
                      <a:srgbClr val="F9E1E1"/>
                    </a:solidFill>
                  </a:tcPr>
                </a:tc>
                <a:tc>
                  <a:txBody>
                    <a:bodyPr wrap="square"/>
                    <a:lstStyle/>
                    <a:p>
                      <a:pPr algn="ctr">
                        <a:spcBef>
                          <a:spcPts val="0"/>
                        </a:spcBef>
                        <a:spcAft>
                          <a:spcPts val="0"/>
                        </a:spcAft>
                      </a:pPr>
                      <a:r>
                        <a:rPr lang="tr-TR" sz="1900" b="0" i="0">
                          <a:solidFill>
                            <a:srgbClr val="262626"/>
                          </a:solidFill>
                          <a:latin typeface="Calibri"/>
                        </a:rPr>
                        <a:t>5</a:t>
                      </a:r>
                    </a:p>
                  </a:txBody>
                  <a:tcPr marL="54864" marR="54864" marT="18288" marB="18288" anchor="ctr">
                    <a:solidFill>
                      <a:srgbClr val="F9E1E1"/>
                    </a:solidFill>
                  </a:tcPr>
                </a:tc>
              </a:tr>
              <a:tr h="457200">
                <a:tc>
                  <a:txBody>
                    <a:bodyPr wrap="square"/>
                    <a:lstStyle/>
                    <a:p>
                      <a:pPr algn="l">
                        <a:spcBef>
                          <a:spcPts val="0"/>
                        </a:spcBef>
                        <a:spcAft>
                          <a:spcPts val="0"/>
                        </a:spcAft>
                      </a:pPr>
                      <a:r>
                        <a:rPr lang="tr-TR" sz="1900" b="0" i="0">
                          <a:solidFill>
                            <a:srgbClr val="262626"/>
                          </a:solidFill>
                          <a:latin typeface="Calibri"/>
                        </a:rPr>
                        <a:t>8 Eylül</a:t>
                      </a:r>
                    </a:p>
                  </a:txBody>
                  <a:tcPr marL="54864" marR="54864" marT="18288" marB="18288" anchor="ctr">
                    <a:solidFill>
                      <a:srgbClr val="F9E1E1"/>
                    </a:solidFill>
                  </a:tcPr>
                </a:tc>
                <a:tc>
                  <a:txBody>
                    <a:bodyPr wrap="square"/>
                    <a:lstStyle/>
                    <a:p>
                      <a:pPr algn="ctr">
                        <a:spcBef>
                          <a:spcPts val="0"/>
                        </a:spcBef>
                        <a:spcAft>
                          <a:spcPts val="0"/>
                        </a:spcAft>
                      </a:pPr>
                      <a:r>
                        <a:rPr lang="tr-TR" sz="1900" b="0" i="0">
                          <a:solidFill>
                            <a:srgbClr val="262626"/>
                          </a:solidFill>
                          <a:latin typeface="Calibri"/>
                        </a:rPr>
                        <a:t>20°K</a:t>
                      </a:r>
                    </a:p>
                  </a:txBody>
                  <a:tcPr marL="54864" marR="54864" marT="18288" marB="18288" anchor="ctr">
                    <a:solidFill>
                      <a:srgbClr val="F9E1E1"/>
                    </a:solidFill>
                  </a:tcPr>
                </a:tc>
                <a:tc>
                  <a:txBody>
                    <a:bodyPr wrap="square"/>
                    <a:lstStyle/>
                    <a:p>
                      <a:pPr algn="ctr">
                        <a:spcBef>
                          <a:spcPts val="0"/>
                        </a:spcBef>
                        <a:spcAft>
                          <a:spcPts val="0"/>
                        </a:spcAft>
                      </a:pPr>
                      <a:r>
                        <a:rPr lang="tr-TR" sz="1900" b="0" i="0">
                          <a:solidFill>
                            <a:srgbClr val="262626"/>
                          </a:solidFill>
                          <a:latin typeface="Calibri"/>
                        </a:rPr>
                        <a:t>71°B</a:t>
                      </a:r>
                    </a:p>
                  </a:txBody>
                  <a:tcPr marL="54864" marR="54864" marT="18288" marB="18288" anchor="ctr">
                    <a:solidFill>
                      <a:srgbClr val="F9E1E1"/>
                    </a:solidFill>
                  </a:tcPr>
                </a:tc>
                <a:tc>
                  <a:txBody>
                    <a:bodyPr wrap="square"/>
                    <a:lstStyle/>
                    <a:p>
                      <a:pPr algn="ctr">
                        <a:spcBef>
                          <a:spcPts val="0"/>
                        </a:spcBef>
                        <a:spcAft>
                          <a:spcPts val="0"/>
                        </a:spcAft>
                      </a:pPr>
                      <a:r>
                        <a:rPr lang="tr-TR" sz="1900" b="0" i="0">
                          <a:solidFill>
                            <a:srgbClr val="262626"/>
                          </a:solidFill>
                          <a:latin typeface="Calibri"/>
                        </a:rPr>
                        <a:t>5</a:t>
                      </a:r>
                    </a:p>
                  </a:txBody>
                  <a:tcPr marL="54864" marR="54864" marT="18288" marB="18288" anchor="ctr">
                    <a:solidFill>
                      <a:srgbClr val="F9E1E1"/>
                    </a:solidFill>
                  </a:tcPr>
                </a:tc>
              </a:tr>
              <a:tr h="457200">
                <a:tc>
                  <a:txBody>
                    <a:bodyPr wrap="square"/>
                    <a:lstStyle/>
                    <a:p>
                      <a:pPr algn="l">
                        <a:spcBef>
                          <a:spcPts val="0"/>
                        </a:spcBef>
                        <a:spcAft>
                          <a:spcPts val="0"/>
                        </a:spcAft>
                      </a:pPr>
                      <a:r>
                        <a:rPr lang="tr-TR" sz="1900" b="0" i="0">
                          <a:solidFill>
                            <a:srgbClr val="262626"/>
                          </a:solidFill>
                          <a:latin typeface="Calibri"/>
                        </a:rPr>
                        <a:t>9 Eylül</a:t>
                      </a:r>
                    </a:p>
                  </a:txBody>
                  <a:tcPr marL="54864" marR="54864" marT="18288" marB="18288" anchor="ctr">
                    <a:solidFill>
                      <a:srgbClr val="F9E1E1"/>
                    </a:solidFill>
                  </a:tcPr>
                </a:tc>
                <a:tc>
                  <a:txBody>
                    <a:bodyPr wrap="square"/>
                    <a:lstStyle/>
                    <a:p>
                      <a:pPr algn="ctr">
                        <a:spcBef>
                          <a:spcPts val="0"/>
                        </a:spcBef>
                        <a:spcAft>
                          <a:spcPts val="0"/>
                        </a:spcAft>
                      </a:pPr>
                      <a:r>
                        <a:rPr lang="tr-TR" sz="1900" b="0" i="0">
                          <a:solidFill>
                            <a:srgbClr val="262626"/>
                          </a:solidFill>
                          <a:latin typeface="Calibri"/>
                        </a:rPr>
                        <a:t>22°K</a:t>
                      </a:r>
                    </a:p>
                  </a:txBody>
                  <a:tcPr marL="54864" marR="54864" marT="18288" marB="18288" anchor="ctr">
                    <a:solidFill>
                      <a:srgbClr val="F9E1E1"/>
                    </a:solidFill>
                  </a:tcPr>
                </a:tc>
                <a:tc>
                  <a:txBody>
                    <a:bodyPr wrap="square"/>
                    <a:lstStyle/>
                    <a:p>
                      <a:pPr algn="ctr">
                        <a:spcBef>
                          <a:spcPts val="0"/>
                        </a:spcBef>
                        <a:spcAft>
                          <a:spcPts val="0"/>
                        </a:spcAft>
                      </a:pPr>
                      <a:r>
                        <a:rPr lang="tr-TR" sz="1900" b="0" i="0">
                          <a:solidFill>
                            <a:srgbClr val="262626"/>
                          </a:solidFill>
                          <a:latin typeface="Calibri"/>
                        </a:rPr>
                        <a:t>76°B</a:t>
                      </a:r>
                    </a:p>
                  </a:txBody>
                  <a:tcPr marL="54864" marR="54864" marT="18288" marB="18288" anchor="ctr">
                    <a:solidFill>
                      <a:srgbClr val="F9E1E1"/>
                    </a:solidFill>
                  </a:tcPr>
                </a:tc>
                <a:tc>
                  <a:txBody>
                    <a:bodyPr wrap="square"/>
                    <a:lstStyle/>
                    <a:p>
                      <a:pPr algn="ctr">
                        <a:spcBef>
                          <a:spcPts val="0"/>
                        </a:spcBef>
                        <a:spcAft>
                          <a:spcPts val="0"/>
                        </a:spcAft>
                      </a:pPr>
                      <a:r>
                        <a:rPr lang="tr-TR" sz="1900" b="0" i="0">
                          <a:solidFill>
                            <a:srgbClr val="262626"/>
                          </a:solidFill>
                          <a:latin typeface="Calibri"/>
                        </a:rPr>
                        <a:t>4</a:t>
                      </a:r>
                    </a:p>
                  </a:txBody>
                  <a:tcPr marL="54864" marR="54864" marT="18288" marB="18288" anchor="ctr">
                    <a:solidFill>
                      <a:srgbClr val="F9E1E1"/>
                    </a:solidFill>
                  </a:tcPr>
                </a:tc>
              </a:tr>
              <a:tr h="457200">
                <a:tc>
                  <a:txBody>
                    <a:bodyPr wrap="square"/>
                    <a:lstStyle/>
                    <a:p>
                      <a:pPr algn="l">
                        <a:spcBef>
                          <a:spcPts val="0"/>
                        </a:spcBef>
                        <a:spcAft>
                          <a:spcPts val="0"/>
                        </a:spcAft>
                      </a:pPr>
                      <a:r>
                        <a:rPr lang="tr-TR" sz="1900" b="0" i="0">
                          <a:solidFill>
                            <a:srgbClr val="262626"/>
                          </a:solidFill>
                          <a:latin typeface="Calibri"/>
                        </a:rPr>
                        <a:t>10 Eylül</a:t>
                      </a:r>
                    </a:p>
                  </a:txBody>
                  <a:tcPr marL="54864" marR="54864" marT="18288" marB="18288" anchor="ctr">
                    <a:solidFill>
                      <a:srgbClr val="E3ECF5"/>
                    </a:solidFill>
                  </a:tcPr>
                </a:tc>
                <a:tc>
                  <a:txBody>
                    <a:bodyPr wrap="square"/>
                    <a:lstStyle/>
                    <a:p>
                      <a:pPr algn="ctr">
                        <a:spcBef>
                          <a:spcPts val="0"/>
                        </a:spcBef>
                        <a:spcAft>
                          <a:spcPts val="0"/>
                        </a:spcAft>
                      </a:pPr>
                      <a:r>
                        <a:rPr lang="tr-TR" sz="1900" b="0" i="0">
                          <a:solidFill>
                            <a:srgbClr val="262626"/>
                          </a:solidFill>
                          <a:latin typeface="Calibri"/>
                        </a:rPr>
                        <a:t>23°K</a:t>
                      </a:r>
                    </a:p>
                  </a:txBody>
                  <a:tcPr marL="54864" marR="54864" marT="18288" marB="18288" anchor="ctr">
                    <a:solidFill>
                      <a:srgbClr val="E3ECF5"/>
                    </a:solidFill>
                  </a:tcPr>
                </a:tc>
                <a:tc>
                  <a:txBody>
                    <a:bodyPr wrap="square"/>
                    <a:lstStyle/>
                    <a:p>
                      <a:pPr algn="ctr">
                        <a:spcBef>
                          <a:spcPts val="0"/>
                        </a:spcBef>
                        <a:spcAft>
                          <a:spcPts val="0"/>
                        </a:spcAft>
                      </a:pPr>
                      <a:r>
                        <a:rPr lang="tr-TR" sz="1900" b="0" i="0">
                          <a:solidFill>
                            <a:srgbClr val="262626"/>
                          </a:solidFill>
                          <a:latin typeface="Calibri"/>
                        </a:rPr>
                        <a:t>80°B</a:t>
                      </a:r>
                    </a:p>
                  </a:txBody>
                  <a:tcPr marL="54864" marR="54864" marT="18288" marB="18288" anchor="ctr">
                    <a:solidFill>
                      <a:srgbClr val="E3ECF5"/>
                    </a:solidFill>
                  </a:tcPr>
                </a:tc>
                <a:tc>
                  <a:txBody>
                    <a:bodyPr wrap="square"/>
                    <a:lstStyle/>
                    <a:p>
                      <a:pPr algn="ctr">
                        <a:spcBef>
                          <a:spcPts val="0"/>
                        </a:spcBef>
                        <a:spcAft>
                          <a:spcPts val="0"/>
                        </a:spcAft>
                      </a:pPr>
                      <a:r>
                        <a:rPr lang="tr-TR" sz="1900" b="0" i="0">
                          <a:solidFill>
                            <a:srgbClr val="262626"/>
                          </a:solidFill>
                          <a:latin typeface="Calibri"/>
                        </a:rPr>
                        <a:t>3</a:t>
                      </a:r>
                    </a:p>
                  </a:txBody>
                  <a:tcPr marL="54864" marR="54864" marT="18288" marB="18288" anchor="ctr">
                    <a:solidFill>
                      <a:srgbClr val="E3ECF5"/>
                    </a:solidFill>
                  </a:tcPr>
                </a:tc>
              </a:tr>
              <a:tr h="457200">
                <a:tc>
                  <a:txBody>
                    <a:bodyPr wrap="square"/>
                    <a:lstStyle/>
                    <a:p>
                      <a:pPr algn="l">
                        <a:spcBef>
                          <a:spcPts val="0"/>
                        </a:spcBef>
                        <a:spcAft>
                          <a:spcPts val="0"/>
                        </a:spcAft>
                      </a:pPr>
                      <a:r>
                        <a:rPr lang="tr-TR" sz="1900" b="0" i="0">
                          <a:solidFill>
                            <a:srgbClr val="262626"/>
                          </a:solidFill>
                          <a:latin typeface="Calibri"/>
                        </a:rPr>
                        <a:t>11 Eylül</a:t>
                      </a:r>
                    </a:p>
                  </a:txBody>
                  <a:tcPr marL="54864" marR="54864" marT="18288" marB="18288" anchor="ctr">
                    <a:solidFill>
                      <a:srgbClr val="FFFFFF"/>
                    </a:solidFill>
                  </a:tcPr>
                </a:tc>
                <a:tc>
                  <a:txBody>
                    <a:bodyPr wrap="square"/>
                    <a:lstStyle/>
                    <a:p>
                      <a:pPr algn="ctr">
                        <a:spcBef>
                          <a:spcPts val="0"/>
                        </a:spcBef>
                        <a:spcAft>
                          <a:spcPts val="0"/>
                        </a:spcAft>
                      </a:pPr>
                      <a:r>
                        <a:rPr lang="tr-TR" sz="1900" b="0" i="0">
                          <a:solidFill>
                            <a:srgbClr val="262626"/>
                          </a:solidFill>
                          <a:latin typeface="Calibri"/>
                        </a:rPr>
                        <a:t>26°K</a:t>
                      </a:r>
                    </a:p>
                  </a:txBody>
                  <a:tcPr marL="54864" marR="54864" marT="18288" marB="18288" anchor="ctr">
                    <a:solidFill>
                      <a:srgbClr val="FFFFFF"/>
                    </a:solidFill>
                  </a:tcPr>
                </a:tc>
                <a:tc>
                  <a:txBody>
                    <a:bodyPr wrap="square"/>
                    <a:lstStyle/>
                    <a:p>
                      <a:pPr algn="ctr">
                        <a:spcBef>
                          <a:spcPts val="0"/>
                        </a:spcBef>
                        <a:spcAft>
                          <a:spcPts val="0"/>
                        </a:spcAft>
                      </a:pPr>
                      <a:r>
                        <a:rPr lang="tr-TR" sz="1900" b="0" i="0">
                          <a:solidFill>
                            <a:srgbClr val="262626"/>
                          </a:solidFill>
                          <a:latin typeface="Calibri"/>
                        </a:rPr>
                        <a:t>81°B</a:t>
                      </a:r>
                    </a:p>
                  </a:txBody>
                  <a:tcPr marL="54864" marR="54864" marT="18288" marB="18288" anchor="ctr">
                    <a:solidFill>
                      <a:srgbClr val="FFFFFF"/>
                    </a:solidFill>
                  </a:tcPr>
                </a:tc>
                <a:tc>
                  <a:txBody>
                    <a:bodyPr wrap="square"/>
                    <a:lstStyle/>
                    <a:p>
                      <a:pPr algn="ctr">
                        <a:spcBef>
                          <a:spcPts val="0"/>
                        </a:spcBef>
                        <a:spcAft>
                          <a:spcPts val="0"/>
                        </a:spcAft>
                      </a:pPr>
                      <a:r>
                        <a:rPr lang="tr-TR" sz="1900" b="0" i="0">
                          <a:solidFill>
                            <a:srgbClr val="262626"/>
                          </a:solidFill>
                          <a:latin typeface="Calibri"/>
                        </a:rPr>
                        <a:t>2</a:t>
                      </a:r>
                    </a:p>
                  </a:txBody>
                  <a:tcPr marL="54864" marR="54864" marT="18288" marB="18288" anchor="ctr">
                    <a:solidFill>
                      <a:srgbClr val="FFFFFF"/>
                    </a:solidFill>
                  </a:tcPr>
                </a:tc>
              </a:tr>
              <a:tr h="457200">
                <a:tc>
                  <a:txBody>
                    <a:bodyPr wrap="square"/>
                    <a:lstStyle/>
                    <a:p>
                      <a:pPr algn="l">
                        <a:spcBef>
                          <a:spcPts val="0"/>
                        </a:spcBef>
                        <a:spcAft>
                          <a:spcPts val="0"/>
                        </a:spcAft>
                      </a:pPr>
                      <a:r>
                        <a:rPr lang="tr-TR" sz="1900" b="0" i="0">
                          <a:solidFill>
                            <a:srgbClr val="262626"/>
                          </a:solidFill>
                          <a:latin typeface="Calibri"/>
                        </a:rPr>
                        <a:t>12 Eylül</a:t>
                      </a:r>
                    </a:p>
                  </a:txBody>
                  <a:tcPr marL="54864" marR="54864" marT="18288" marB="18288" anchor="ctr">
                    <a:solidFill>
                      <a:srgbClr val="E3ECF5"/>
                    </a:solidFill>
                  </a:tcPr>
                </a:tc>
                <a:tc>
                  <a:txBody>
                    <a:bodyPr wrap="square"/>
                    <a:lstStyle/>
                    <a:p>
                      <a:pPr algn="ctr">
                        <a:spcBef>
                          <a:spcPts val="0"/>
                        </a:spcBef>
                        <a:spcAft>
                          <a:spcPts val="0"/>
                        </a:spcAft>
                      </a:pPr>
                      <a:r>
                        <a:rPr lang="tr-TR" sz="1900" b="0" i="0">
                          <a:solidFill>
                            <a:srgbClr val="262626"/>
                          </a:solidFill>
                          <a:latin typeface="Calibri"/>
                        </a:rPr>
                        <a:t>31°K</a:t>
                      </a:r>
                    </a:p>
                  </a:txBody>
                  <a:tcPr marL="54864" marR="54864" marT="18288" marB="18288" anchor="ctr">
                    <a:solidFill>
                      <a:srgbClr val="E3ECF5"/>
                    </a:solidFill>
                  </a:tcPr>
                </a:tc>
                <a:tc>
                  <a:txBody>
                    <a:bodyPr wrap="square"/>
                    <a:lstStyle/>
                    <a:p>
                      <a:pPr algn="ctr">
                        <a:spcBef>
                          <a:spcPts val="0"/>
                        </a:spcBef>
                        <a:spcAft>
                          <a:spcPts val="0"/>
                        </a:spcAft>
                      </a:pPr>
                      <a:r>
                        <a:rPr lang="tr-TR" sz="1900" b="0" i="0">
                          <a:solidFill>
                            <a:srgbClr val="262626"/>
                          </a:solidFill>
                          <a:latin typeface="Calibri"/>
                        </a:rPr>
                        <a:t>84°B</a:t>
                      </a:r>
                    </a:p>
                  </a:txBody>
                  <a:tcPr marL="54864" marR="54864" marT="18288" marB="18288" anchor="ctr">
                    <a:solidFill>
                      <a:srgbClr val="E3ECF5"/>
                    </a:solidFill>
                  </a:tcPr>
                </a:tc>
                <a:tc>
                  <a:txBody>
                    <a:bodyPr wrap="square"/>
                    <a:lstStyle/>
                    <a:p>
                      <a:pPr algn="ctr">
                        <a:spcBef>
                          <a:spcPts val="0"/>
                        </a:spcBef>
                        <a:spcAft>
                          <a:spcPts val="0"/>
                        </a:spcAft>
                      </a:pPr>
                      <a:r>
                        <a:rPr lang="tr-TR" sz="1900" b="0" i="0">
                          <a:solidFill>
                            <a:srgbClr val="262626"/>
                          </a:solidFill>
                          <a:latin typeface="Calibri"/>
                        </a:rPr>
                        <a:t>-</a:t>
                      </a:r>
                    </a:p>
                  </a:txBody>
                  <a:tcPr marL="54864" marR="54864" marT="18288" marB="18288" anchor="ctr">
                    <a:solidFill>
                      <a:srgbClr val="E3ECF5"/>
                    </a:solidFill>
                  </a:tcPr>
                </a:tc>
              </a:tr>
              <a:tr h="457200">
                <a:tc>
                  <a:txBody>
                    <a:bodyPr wrap="square"/>
                    <a:lstStyle/>
                    <a:p>
                      <a:pPr algn="l">
                        <a:spcBef>
                          <a:spcPts val="0"/>
                        </a:spcBef>
                        <a:spcAft>
                          <a:spcPts val="0"/>
                        </a:spcAft>
                      </a:pPr>
                      <a:r>
                        <a:rPr lang="tr-TR" sz="1900" b="0" i="0">
                          <a:solidFill>
                            <a:srgbClr val="262626"/>
                          </a:solidFill>
                          <a:latin typeface="Calibri"/>
                        </a:rPr>
                        <a:t>13 Eylül</a:t>
                      </a:r>
                    </a:p>
                  </a:txBody>
                  <a:tcPr marL="54864" marR="54864" marT="18288" marB="18288" anchor="ctr">
                    <a:solidFill>
                      <a:srgbClr val="FFFFFF"/>
                    </a:solidFill>
                  </a:tcPr>
                </a:tc>
                <a:tc>
                  <a:txBody>
                    <a:bodyPr wrap="square"/>
                    <a:lstStyle/>
                    <a:p>
                      <a:pPr algn="ctr">
                        <a:spcBef>
                          <a:spcPts val="0"/>
                        </a:spcBef>
                        <a:spcAft>
                          <a:spcPts val="0"/>
                        </a:spcAft>
                      </a:pPr>
                      <a:r>
                        <a:rPr lang="tr-TR" sz="1900" b="0" i="0">
                          <a:solidFill>
                            <a:srgbClr val="262626"/>
                          </a:solidFill>
                          <a:latin typeface="Calibri"/>
                        </a:rPr>
                        <a:t>35°K</a:t>
                      </a:r>
                    </a:p>
                  </a:txBody>
                  <a:tcPr marL="54864" marR="54864" marT="18288" marB="18288" anchor="ctr">
                    <a:solidFill>
                      <a:srgbClr val="FFFFFF"/>
                    </a:solidFill>
                  </a:tcPr>
                </a:tc>
                <a:tc>
                  <a:txBody>
                    <a:bodyPr wrap="square"/>
                    <a:lstStyle/>
                    <a:p>
                      <a:pPr algn="ctr">
                        <a:spcBef>
                          <a:spcPts val="0"/>
                        </a:spcBef>
                        <a:spcAft>
                          <a:spcPts val="0"/>
                        </a:spcAft>
                      </a:pPr>
                      <a:r>
                        <a:rPr lang="tr-TR" sz="1900" b="0" i="0">
                          <a:solidFill>
                            <a:srgbClr val="262626"/>
                          </a:solidFill>
                          <a:latin typeface="Calibri"/>
                        </a:rPr>
                        <a:t>88°B</a:t>
                      </a:r>
                    </a:p>
                  </a:txBody>
                  <a:tcPr marL="54864" marR="54864" marT="18288" marB="18288" anchor="ctr">
                    <a:solidFill>
                      <a:srgbClr val="FFFFFF"/>
                    </a:solidFill>
                  </a:tcPr>
                </a:tc>
                <a:tc>
                  <a:txBody>
                    <a:bodyPr wrap="square"/>
                    <a:lstStyle/>
                    <a:p>
                      <a:pPr algn="ctr">
                        <a:spcBef>
                          <a:spcPts val="0"/>
                        </a:spcBef>
                        <a:spcAft>
                          <a:spcPts val="0"/>
                        </a:spcAft>
                      </a:pPr>
                      <a:r>
                        <a:rPr lang="tr-TR" sz="1900" b="0" i="0">
                          <a:solidFill>
                            <a:srgbClr val="262626"/>
                          </a:solidFill>
                          <a:latin typeface="Calibri"/>
                        </a:rPr>
                        <a:t>-</a:t>
                      </a:r>
                    </a:p>
                  </a:txBody>
                  <a:tcPr marL="54864" marR="54864" marT="18288" marB="18288" anchor="ctr">
                    <a:solidFill>
                      <a:srgbClr val="FFFFFF"/>
                    </a:solidFill>
                  </a:tcPr>
                </a:tc>
              </a:tr>
            </a:tbl>
          </a:graphicData>
        </a:graphic>
      </p:graphicFrame>
      <p:sp>
        <p:nvSpPr>
          <p:cNvPr id="9" name="TextBox 8"/>
          <p:cNvSpPr txBox="1"/>
          <p:nvPr/>
        </p:nvSpPr>
        <p:spPr>
          <a:xfrm>
            <a:off x="502920" y="5833872"/>
            <a:ext cx="11185855" cy="411480"/>
          </a:xfrm>
          <a:prstGeom prst="rect">
            <a:avLst/>
          </a:prstGeom>
          <a:noFill/>
        </p:spPr>
        <p:txBody>
          <a:bodyPr wrap="square" anchor="ctr" lIns="73152" rIns="73152" tIns="36576" bIns="36576">
            <a:noAutofit/>
          </a:bodyPr>
          <a:lstStyle/>
          <a:p>
            <a:pPr algn="ctr">
              <a:spcBef>
                <a:spcPts val="0"/>
              </a:spcBef>
              <a:spcAft>
                <a:spcPts val="0"/>
              </a:spcAft>
            </a:pPr>
            <a:r>
              <a:rPr lang="tr-TR" sz="1350" b="0" i="1">
                <a:solidFill>
                  <a:srgbClr val="767676"/>
                </a:solidFill>
                <a:latin typeface="Calibri"/>
              </a:rPr>
              <a:t>Tablo: Irma Kasırgasının Etkili Olduğu Gün, Konum ve Kategoriler   ·   K: kuzey · B: batı · “-”: kasırga kategorisine girmeyen evre · pembe: 4 ve 5. kategori</a:t>
            </a:r>
          </a:p>
        </p:txBody>
      </p:sp>
      <p:sp>
        <p:nvSpPr>
          <p:cNvPr id="10" name="TextBox 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11" name="Rounded Rectangle 1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34</a:t>
            </a:r>
          </a:p>
        </p:txBody>
      </p:sp>
      <p:sp>
        <p:nvSpPr>
          <p:cNvPr id="12" name="TextBox 1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 / 226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Başlarken 2: kasırganın yolunu çizelim</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BAŞLARKEN · 5 dk</a:t>
            </a:r>
          </a:p>
        </p:txBody>
      </p:sp>
      <p:pic>
        <p:nvPicPr>
          <p:cNvPr id="6" name="Picture 5" descr="irma_harita_s34.jpg"/>
          <p:cNvPicPr>
            <a:picLocks noChangeAspect="1"/>
          </p:cNvPicPr>
          <p:nvPr/>
        </p:nvPicPr>
        <p:blipFill>
          <a:blip r:embed="rId3"/>
          <a:stretch>
            <a:fillRect/>
          </a:stretch>
        </p:blipFill>
        <p:spPr>
          <a:xfrm>
            <a:off x="502920" y="1216152"/>
            <a:ext cx="7543800" cy="4053385"/>
          </a:xfrm>
          <a:prstGeom prst="rect">
            <a:avLst/>
          </a:prstGeom>
          <a:ln w="9525">
            <a:solidFill>
              <a:srgbClr val="D9D9D9"/>
            </a:solidFill>
          </a:ln>
        </p:spPr>
      </p:pic>
      <p:sp>
        <p:nvSpPr>
          <p:cNvPr id="7" name="TextBox 6"/>
          <p:cNvSpPr txBox="1"/>
          <p:nvPr/>
        </p:nvSpPr>
        <p:spPr>
          <a:xfrm>
            <a:off x="502920" y="5333545"/>
            <a:ext cx="7543800" cy="384048"/>
          </a:xfrm>
          <a:prstGeom prst="rect">
            <a:avLst/>
          </a:prstGeom>
          <a:noFill/>
        </p:spPr>
        <p:txBody>
          <a:bodyPr wrap="square" anchor="ctr" lIns="73152" rIns="73152" tIns="36576" bIns="36576">
            <a:noAutofit/>
          </a:bodyPr>
          <a:lstStyle/>
          <a:p>
            <a:pPr algn="l">
              <a:spcBef>
                <a:spcPts val="0"/>
              </a:spcBef>
              <a:spcAft>
                <a:spcPts val="0"/>
              </a:spcAft>
            </a:pPr>
            <a:r>
              <a:rPr lang="tr-TR" sz="1500" b="0" i="1">
                <a:solidFill>
                  <a:srgbClr val="767676"/>
                </a:solidFill>
                <a:latin typeface="Calibri"/>
              </a:rPr>
              <a:t>Kitabındaki haritaya işaretle: önce paralel (yatay), sonra meridyen (dikey) — ince çizgiler 1°.</a:t>
            </a:r>
          </a:p>
        </p:txBody>
      </p:sp>
      <p:sp>
        <p:nvSpPr>
          <p:cNvPr id="8" name="Rounded Rectangle 7"/>
          <p:cNvSpPr/>
          <p:nvPr/>
        </p:nvSpPr>
        <p:spPr>
          <a:xfrm>
            <a:off x="8275320" y="1216152"/>
            <a:ext cx="3413455" cy="5029200"/>
          </a:xfrm>
          <a:prstGeom prst="roundRect">
            <a:avLst>
              <a:gd name="adj" fmla="val 8000"/>
            </a:avLst>
          </a:prstGeom>
          <a:solidFill>
            <a:srgbClr val="F0F0F0"/>
          </a:solidFill>
          <a:ln>
            <a:noFill/>
          </a:ln>
          <a:effectLst/>
        </p:spPr>
        <p:txBody>
          <a:bodyPr rtlCol="0" anchor="t" wrap="square" lIns="164592" rIns="164592" tIns="73152" bIns="73152">
            <a:noAutofit/>
          </a:bodyPr>
          <a:lstStyle/>
          <a:p>
            <a:pPr algn="l">
              <a:spcBef>
                <a:spcPts val="0"/>
              </a:spcBef>
              <a:spcAft>
                <a:spcPts val="729"/>
              </a:spcAft>
            </a:pPr>
            <a:r>
              <a:rPr lang="tr-TR" sz="1550" b="1" i="0">
                <a:solidFill>
                  <a:srgbClr val="2C6696"/>
                </a:solidFill>
                <a:latin typeface="Calibri"/>
              </a:rPr>
              <a:t>Buna göre</a:t>
            </a:r>
          </a:p>
          <a:p>
            <a:pPr algn="l" marL="254933" indent="-254933">
              <a:spcBef>
                <a:spcPts val="0"/>
              </a:spcBef>
              <a:spcAft>
                <a:spcPts val="729"/>
              </a:spcAft>
            </a:pPr>
            <a:r>
              <a:rPr lang="tr-TR" sz="1550" b="1" i="0">
                <a:solidFill>
                  <a:srgbClr val="2C6696"/>
                </a:solidFill>
                <a:latin typeface="Calibri"/>
              </a:rPr>
              <a:t>a)  </a:t>
            </a:r>
            <a:r>
              <a:rPr lang="tr-TR" sz="1550" b="0" i="0">
                <a:solidFill>
                  <a:srgbClr val="262626"/>
                </a:solidFill>
                <a:latin typeface="Calibri"/>
              </a:rPr>
              <a:t>Kasırganın günler bazında görüldüğü koordinatları lejantı kullanarak harita üzerine örnekteki gibi işaretleyiniz.</a:t>
            </a:r>
          </a:p>
          <a:p>
            <a:pPr algn="l" marL="263645" indent="-263645">
              <a:spcBef>
                <a:spcPts val="0"/>
              </a:spcBef>
              <a:spcAft>
                <a:spcPts val="729"/>
              </a:spcAft>
            </a:pPr>
            <a:r>
              <a:rPr lang="tr-TR" sz="1550" b="1" i="0">
                <a:solidFill>
                  <a:srgbClr val="2C6696"/>
                </a:solidFill>
                <a:latin typeface="Calibri"/>
              </a:rPr>
              <a:t>b)  </a:t>
            </a:r>
            <a:r>
              <a:rPr lang="tr-TR" sz="1550" b="0" i="0">
                <a:solidFill>
                  <a:srgbClr val="262626"/>
                </a:solidFill>
                <a:latin typeface="Calibri"/>
              </a:rPr>
              <a:t>İşaretli yerleri birleştirerek kasırganın hareket yönünü oluşturunuz.</a:t>
            </a:r>
          </a:p>
          <a:p>
            <a:pPr algn="l" marL="239695" indent="-239695">
              <a:spcBef>
                <a:spcPts val="0"/>
              </a:spcBef>
              <a:spcAft>
                <a:spcPts val="0"/>
              </a:spcAft>
            </a:pPr>
            <a:r>
              <a:rPr lang="tr-TR" sz="1550" b="1" i="0">
                <a:solidFill>
                  <a:srgbClr val="2C6696"/>
                </a:solidFill>
                <a:latin typeface="Calibri"/>
              </a:rPr>
              <a:t>c)  </a:t>
            </a:r>
            <a:r>
              <a:rPr lang="tr-TR" sz="1550" b="0" i="0">
                <a:solidFill>
                  <a:srgbClr val="262626"/>
                </a:solidFill>
                <a:latin typeface="Calibri"/>
              </a:rPr>
              <a:t>Kasırgalar etkilerine göre kategorilere ayrılır. 4 ve 5. kategorideki kasırgalar etkili olduğu yerlerde doğal ve beşerî çevreye ciddi zararlar verebilir. Buna göre söz konusu kasırganın en etkili olduğu ülkeleri atlaslarınızdan veya dijital haritalardan yararlanarak harita üzerine yazınız.</a:t>
            </a:r>
          </a:p>
        </p:txBody>
      </p:sp>
      <p:sp>
        <p:nvSpPr>
          <p:cNvPr id="9" name="TextBox 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10" name="Rounded Rectangle 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34</a:t>
            </a:r>
          </a:p>
        </p:txBody>
      </p:sp>
      <p:sp>
        <p:nvSpPr>
          <p:cNvPr id="11" name="TextBox 1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 / 226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Başlarken 2 — örnek cevap (a, b)</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pic>
        <p:nvPicPr>
          <p:cNvPr id="6" name="Picture 5" descr="irma_harita_s34.jpg"/>
          <p:cNvPicPr>
            <a:picLocks noChangeAspect="1"/>
          </p:cNvPicPr>
          <p:nvPr/>
        </p:nvPicPr>
        <p:blipFill>
          <a:blip r:embed="rId3"/>
          <a:stretch>
            <a:fillRect/>
          </a:stretch>
        </p:blipFill>
        <p:spPr>
          <a:xfrm>
            <a:off x="502920" y="1216152"/>
            <a:ext cx="9359900" cy="5029200"/>
          </a:xfrm>
          <a:prstGeom prst="rect">
            <a:avLst/>
          </a:prstGeom>
          <a:ln w="9525">
            <a:solidFill>
              <a:srgbClr val="D9D9D9"/>
            </a:solidFill>
          </a:ln>
        </p:spPr>
      </p:pic>
      <p:cxnSp>
        <p:nvCxnSpPr>
          <p:cNvPr id="7" name="Connector 6"/>
          <p:cNvCxnSpPr/>
          <p:nvPr/>
        </p:nvCxnSpPr>
        <p:spPr>
          <a:xfrm flipH="1" flipV="1">
            <a:off x="8686891" y="4038099"/>
            <a:ext cx="66254" cy="20264"/>
          </a:xfrm>
          <a:prstGeom prst="line">
            <a:avLst/>
          </a:prstGeom>
          <a:ln w="28575">
            <a:solidFill>
              <a:srgbClr val="262626"/>
            </a:solidFill>
          </a:ln>
        </p:spPr>
      </p:cxnSp>
      <p:cxnSp>
        <p:nvCxnSpPr>
          <p:cNvPr id="8" name="Connector 7"/>
          <p:cNvCxnSpPr/>
          <p:nvPr/>
        </p:nvCxnSpPr>
        <p:spPr>
          <a:xfrm flipH="1" flipV="1">
            <a:off x="8273313" y="3934056"/>
            <a:ext cx="166367" cy="38056"/>
          </a:xfrm>
          <a:prstGeom prst="line">
            <a:avLst/>
          </a:prstGeom>
          <a:ln w="28575">
            <a:solidFill>
              <a:srgbClr val="262626"/>
            </a:solidFill>
            <a:tailEnd type="triangle" w="med" len="med"/>
          </a:ln>
        </p:spPr>
      </p:cxnSp>
      <p:cxnSp>
        <p:nvCxnSpPr>
          <p:cNvPr id="9" name="Connector 8"/>
          <p:cNvCxnSpPr/>
          <p:nvPr/>
        </p:nvCxnSpPr>
        <p:spPr>
          <a:xfrm flipH="1">
            <a:off x="7652026" y="3905511"/>
            <a:ext cx="368479" cy="0"/>
          </a:xfrm>
          <a:prstGeom prst="line">
            <a:avLst/>
          </a:prstGeom>
          <a:ln w="28575">
            <a:solidFill>
              <a:srgbClr val="262626"/>
            </a:solidFill>
            <a:tailEnd type="triangle" w="med" len="med"/>
          </a:ln>
        </p:spPr>
      </p:cxnSp>
      <p:cxnSp>
        <p:nvCxnSpPr>
          <p:cNvPr id="10" name="Connector 9"/>
          <p:cNvCxnSpPr/>
          <p:nvPr/>
        </p:nvCxnSpPr>
        <p:spPr>
          <a:xfrm flipH="1">
            <a:off x="7129512" y="3928533"/>
            <a:ext cx="268569" cy="49102"/>
          </a:xfrm>
          <a:prstGeom prst="line">
            <a:avLst/>
          </a:prstGeom>
          <a:ln w="28575">
            <a:solidFill>
              <a:srgbClr val="262626"/>
            </a:solidFill>
            <a:tailEnd type="triangle" w="med" len="med"/>
          </a:ln>
        </p:spPr>
      </p:cxnSp>
      <p:cxnSp>
        <p:nvCxnSpPr>
          <p:cNvPr id="11" name="Connector 10"/>
          <p:cNvCxnSpPr/>
          <p:nvPr/>
        </p:nvCxnSpPr>
        <p:spPr>
          <a:xfrm flipH="1">
            <a:off x="6610627" y="4023747"/>
            <a:ext cx="267040" cy="48968"/>
          </a:xfrm>
          <a:prstGeom prst="line">
            <a:avLst/>
          </a:prstGeom>
          <a:ln w="28575">
            <a:solidFill>
              <a:srgbClr val="262626"/>
            </a:solidFill>
            <a:tailEnd type="triangle" w="med" len="med"/>
          </a:ln>
        </p:spPr>
      </p:cxnSp>
      <p:cxnSp>
        <p:nvCxnSpPr>
          <p:cNvPr id="12" name="Connector 11"/>
          <p:cNvCxnSpPr/>
          <p:nvPr/>
        </p:nvCxnSpPr>
        <p:spPr>
          <a:xfrm flipH="1" flipV="1">
            <a:off x="6090599" y="4023697"/>
            <a:ext cx="268186" cy="49068"/>
          </a:xfrm>
          <a:prstGeom prst="line">
            <a:avLst/>
          </a:prstGeom>
          <a:ln w="28575">
            <a:solidFill>
              <a:srgbClr val="262626"/>
            </a:solidFill>
            <a:tailEnd type="triangle" w="med" len="med"/>
          </a:ln>
        </p:spPr>
      </p:cxnSp>
      <p:cxnSp>
        <p:nvCxnSpPr>
          <p:cNvPr id="13" name="Connector 12"/>
          <p:cNvCxnSpPr/>
          <p:nvPr/>
        </p:nvCxnSpPr>
        <p:spPr>
          <a:xfrm flipH="1" flipV="1">
            <a:off x="5466717" y="3924792"/>
            <a:ext cx="371401" cy="56584"/>
          </a:xfrm>
          <a:prstGeom prst="line">
            <a:avLst/>
          </a:prstGeom>
          <a:ln w="28575">
            <a:solidFill>
              <a:srgbClr val="262626"/>
            </a:solidFill>
            <a:tailEnd type="triangle" w="med" len="med"/>
          </a:ln>
        </p:spPr>
      </p:cxnSp>
      <p:cxnSp>
        <p:nvCxnSpPr>
          <p:cNvPr id="14" name="Connector 13"/>
          <p:cNvCxnSpPr/>
          <p:nvPr/>
        </p:nvCxnSpPr>
        <p:spPr>
          <a:xfrm flipH="1" flipV="1">
            <a:off x="4840017" y="3752637"/>
            <a:ext cx="377720" cy="115453"/>
          </a:xfrm>
          <a:prstGeom prst="line">
            <a:avLst/>
          </a:prstGeom>
          <a:ln w="28575">
            <a:solidFill>
              <a:srgbClr val="262626"/>
            </a:solidFill>
            <a:tailEnd type="triangle" w="med" len="med"/>
          </a:ln>
        </p:spPr>
      </p:cxnSp>
      <p:cxnSp>
        <p:nvCxnSpPr>
          <p:cNvPr id="15" name="Connector 14"/>
          <p:cNvCxnSpPr/>
          <p:nvPr/>
        </p:nvCxnSpPr>
        <p:spPr>
          <a:xfrm flipH="1" flipV="1">
            <a:off x="4317397" y="3568885"/>
            <a:ext cx="279965" cy="102369"/>
          </a:xfrm>
          <a:prstGeom prst="line">
            <a:avLst/>
          </a:prstGeom>
          <a:ln w="28575">
            <a:solidFill>
              <a:srgbClr val="262626"/>
            </a:solidFill>
            <a:tailEnd type="triangle" w="med" len="med"/>
          </a:ln>
        </p:spPr>
      </p:cxnSp>
      <p:cxnSp>
        <p:nvCxnSpPr>
          <p:cNvPr id="16" name="Connector 15"/>
          <p:cNvCxnSpPr/>
          <p:nvPr/>
        </p:nvCxnSpPr>
        <p:spPr>
          <a:xfrm flipH="1" flipV="1">
            <a:off x="3905624" y="3458296"/>
            <a:ext cx="166744" cy="38106"/>
          </a:xfrm>
          <a:prstGeom prst="line">
            <a:avLst/>
          </a:prstGeom>
          <a:ln w="28575">
            <a:solidFill>
              <a:srgbClr val="262626"/>
            </a:solidFill>
            <a:tailEnd type="triangle" w="med" len="med"/>
          </a:ln>
        </p:spPr>
      </p:cxnSp>
      <p:cxnSp>
        <p:nvCxnSpPr>
          <p:cNvPr id="17" name="Connector 16"/>
          <p:cNvCxnSpPr/>
          <p:nvPr/>
        </p:nvCxnSpPr>
        <p:spPr>
          <a:xfrm flipH="1" flipV="1">
            <a:off x="3720413" y="3259902"/>
            <a:ext cx="17517" cy="49258"/>
          </a:xfrm>
          <a:prstGeom prst="line">
            <a:avLst/>
          </a:prstGeom>
          <a:ln w="28575">
            <a:solidFill>
              <a:srgbClr val="262626"/>
            </a:solidFill>
          </a:ln>
        </p:spPr>
      </p:cxnSp>
      <p:cxnSp>
        <p:nvCxnSpPr>
          <p:cNvPr id="18" name="Connector 17"/>
          <p:cNvCxnSpPr/>
          <p:nvPr/>
        </p:nvCxnSpPr>
        <p:spPr>
          <a:xfrm flipH="1" flipV="1">
            <a:off x="3434716" y="2744984"/>
            <a:ext cx="175678" cy="285296"/>
          </a:xfrm>
          <a:prstGeom prst="line">
            <a:avLst/>
          </a:prstGeom>
          <a:ln w="28575">
            <a:solidFill>
              <a:srgbClr val="262626"/>
            </a:solidFill>
            <a:tailEnd type="triangle" w="med" len="med"/>
          </a:ln>
        </p:spPr>
      </p:cxnSp>
      <p:cxnSp>
        <p:nvCxnSpPr>
          <p:cNvPr id="19" name="Connector 18"/>
          <p:cNvCxnSpPr/>
          <p:nvPr/>
        </p:nvCxnSpPr>
        <p:spPr>
          <a:xfrm flipH="1" flipV="1">
            <a:off x="3043146" y="2315795"/>
            <a:ext cx="233329" cy="230262"/>
          </a:xfrm>
          <a:prstGeom prst="line">
            <a:avLst/>
          </a:prstGeom>
          <a:ln w="28575">
            <a:solidFill>
              <a:srgbClr val="262626"/>
            </a:solidFill>
            <a:tailEnd type="triangle" w="med" len="med"/>
          </a:ln>
        </p:spPr>
      </p:cxnSp>
      <p:sp>
        <p:nvSpPr>
          <p:cNvPr id="20" name="Oval 19"/>
          <p:cNvSpPr/>
          <p:nvPr/>
        </p:nvSpPr>
        <p:spPr>
          <a:xfrm>
            <a:off x="8752120" y="3972361"/>
            <a:ext cx="246888" cy="246888"/>
          </a:xfrm>
          <a:prstGeom prst="ellipse">
            <a:avLst/>
          </a:prstGeom>
          <a:solidFill>
            <a:srgbClr val="FFFFFF"/>
          </a:solidFill>
          <a:ln w="22225">
            <a:solidFill>
              <a:srgbClr val="D3373A"/>
            </a:solidFill>
          </a:ln>
          <a:effectLst/>
        </p:spPr>
        <p:txBody>
          <a:bodyPr rtlCol="0" anchor="ctr" wrap="none" lIns="0" rIns="0" tIns="0" bIns="0">
            <a:noAutofit/>
          </a:bodyPr>
          <a:lstStyle/>
          <a:p>
            <a:pPr algn="ctr">
              <a:spcBef>
                <a:spcPts val="0"/>
              </a:spcBef>
              <a:spcAft>
                <a:spcPts val="0"/>
              </a:spcAft>
            </a:pPr>
            <a:r>
              <a:rPr lang="tr-TR" sz="1200" b="1" i="0">
                <a:solidFill>
                  <a:srgbClr val="D3373A"/>
                </a:solidFill>
                <a:latin typeface="Calibri"/>
              </a:rPr>
              <a:t>-</a:t>
            </a:r>
          </a:p>
        </p:txBody>
      </p:sp>
      <p:sp>
        <p:nvSpPr>
          <p:cNvPr id="21" name="Oval 20"/>
          <p:cNvSpPr/>
          <p:nvPr/>
        </p:nvSpPr>
        <p:spPr>
          <a:xfrm>
            <a:off x="8441029" y="3877214"/>
            <a:ext cx="246888" cy="246888"/>
          </a:xfrm>
          <a:prstGeom prst="ellipse">
            <a:avLst/>
          </a:prstGeom>
          <a:solidFill>
            <a:srgbClr val="FFFFFF"/>
          </a:solidFill>
          <a:ln w="22225">
            <a:solidFill>
              <a:srgbClr val="D3373A"/>
            </a:solidFill>
          </a:ln>
          <a:effectLst/>
        </p:spPr>
        <p:txBody>
          <a:bodyPr rtlCol="0" anchor="ctr" wrap="none" lIns="0" rIns="0" tIns="0" bIns="0">
            <a:noAutofit/>
          </a:bodyPr>
          <a:lstStyle/>
          <a:p>
            <a:pPr algn="ctr">
              <a:spcBef>
                <a:spcPts val="0"/>
              </a:spcBef>
              <a:spcAft>
                <a:spcPts val="0"/>
              </a:spcAft>
            </a:pPr>
            <a:r>
              <a:rPr lang="tr-TR" sz="1200" b="1" i="0">
                <a:solidFill>
                  <a:srgbClr val="D3373A"/>
                </a:solidFill>
                <a:latin typeface="Calibri"/>
              </a:rPr>
              <a:t>3</a:t>
            </a:r>
          </a:p>
        </p:txBody>
      </p:sp>
      <p:sp>
        <p:nvSpPr>
          <p:cNvPr id="22" name="Oval 21"/>
          <p:cNvSpPr/>
          <p:nvPr/>
        </p:nvSpPr>
        <p:spPr>
          <a:xfrm>
            <a:off x="8025077" y="3782067"/>
            <a:ext cx="246888" cy="246888"/>
          </a:xfrm>
          <a:prstGeom prst="ellipse">
            <a:avLst/>
          </a:prstGeom>
          <a:solidFill>
            <a:srgbClr val="FFFFFF"/>
          </a:solidFill>
          <a:ln w="22225">
            <a:solidFill>
              <a:srgbClr val="D3373A"/>
            </a:solidFill>
          </a:ln>
          <a:effectLst/>
        </p:spPr>
        <p:txBody>
          <a:bodyPr rtlCol="0" anchor="ctr" wrap="none" lIns="0" rIns="0" tIns="0" bIns="0">
            <a:noAutofit/>
          </a:bodyPr>
          <a:lstStyle/>
          <a:p>
            <a:pPr algn="ctr">
              <a:spcBef>
                <a:spcPts val="0"/>
              </a:spcBef>
              <a:spcAft>
                <a:spcPts val="0"/>
              </a:spcAft>
            </a:pPr>
            <a:r>
              <a:rPr lang="tr-TR" sz="1200" b="1" i="0">
                <a:solidFill>
                  <a:srgbClr val="D3373A"/>
                </a:solidFill>
                <a:latin typeface="Calibri"/>
              </a:rPr>
              <a:t>3</a:t>
            </a:r>
          </a:p>
        </p:txBody>
      </p:sp>
      <p:sp>
        <p:nvSpPr>
          <p:cNvPr id="23" name="Rounded Rectangle 22"/>
          <p:cNvSpPr/>
          <p:nvPr/>
        </p:nvSpPr>
        <p:spPr>
          <a:xfrm>
            <a:off x="7791905" y="3494031"/>
            <a:ext cx="713232" cy="219456"/>
          </a:xfrm>
          <a:prstGeom prst="roundRect">
            <a:avLst>
              <a:gd name="adj" fmla="val 30000"/>
            </a:avLst>
          </a:prstGeom>
          <a:solidFill>
            <a:srgbClr val="FFFFFF"/>
          </a:solidFill>
          <a:ln w="6350">
            <a:solidFill>
              <a:srgbClr val="D9D9D9"/>
            </a:solidFill>
          </a:ln>
          <a:effectLst/>
        </p:spPr>
        <p:txBody>
          <a:bodyPr rtlCol="0" anchor="ctr" wrap="square" lIns="18288" rIns="18288" tIns="0" bIns="0">
            <a:noAutofit/>
          </a:bodyPr>
          <a:lstStyle/>
          <a:p>
            <a:pPr algn="ctr">
              <a:spcBef>
                <a:spcPts val="0"/>
              </a:spcBef>
              <a:spcAft>
                <a:spcPts val="0"/>
              </a:spcAft>
            </a:pPr>
            <a:r>
              <a:rPr lang="tr-TR" sz="1100" b="1" i="0">
                <a:solidFill>
                  <a:srgbClr val="262626"/>
                </a:solidFill>
                <a:latin typeface="Calibri"/>
              </a:rPr>
              <a:t>2 Eylül</a:t>
            </a:r>
          </a:p>
        </p:txBody>
      </p:sp>
      <p:sp>
        <p:nvSpPr>
          <p:cNvPr id="24" name="Oval 23"/>
          <p:cNvSpPr/>
          <p:nvPr/>
        </p:nvSpPr>
        <p:spPr>
          <a:xfrm>
            <a:off x="7400566" y="3782067"/>
            <a:ext cx="246888" cy="246888"/>
          </a:xfrm>
          <a:prstGeom prst="ellipse">
            <a:avLst/>
          </a:prstGeom>
          <a:solidFill>
            <a:srgbClr val="FFFFFF"/>
          </a:solidFill>
          <a:ln w="22225">
            <a:solidFill>
              <a:srgbClr val="D3373A"/>
            </a:solidFill>
          </a:ln>
          <a:effectLst/>
        </p:spPr>
        <p:txBody>
          <a:bodyPr rtlCol="0" anchor="ctr" wrap="none" lIns="0" rIns="0" tIns="0" bIns="0">
            <a:noAutofit/>
          </a:bodyPr>
          <a:lstStyle/>
          <a:p>
            <a:pPr algn="ctr">
              <a:spcBef>
                <a:spcPts val="0"/>
              </a:spcBef>
              <a:spcAft>
                <a:spcPts val="0"/>
              </a:spcAft>
            </a:pPr>
            <a:r>
              <a:rPr lang="tr-TR" sz="1200" b="1" i="0">
                <a:solidFill>
                  <a:srgbClr val="D3373A"/>
                </a:solidFill>
                <a:latin typeface="Calibri"/>
              </a:rPr>
              <a:t>2</a:t>
            </a:r>
          </a:p>
        </p:txBody>
      </p:sp>
      <p:sp>
        <p:nvSpPr>
          <p:cNvPr id="25" name="Rounded Rectangle 24"/>
          <p:cNvSpPr/>
          <p:nvPr/>
        </p:nvSpPr>
        <p:spPr>
          <a:xfrm>
            <a:off x="7167394" y="4097535"/>
            <a:ext cx="713232" cy="219456"/>
          </a:xfrm>
          <a:prstGeom prst="roundRect">
            <a:avLst>
              <a:gd name="adj" fmla="val 30000"/>
            </a:avLst>
          </a:prstGeom>
          <a:solidFill>
            <a:srgbClr val="FFFFFF"/>
          </a:solidFill>
          <a:ln w="6350">
            <a:solidFill>
              <a:srgbClr val="D9D9D9"/>
            </a:solidFill>
          </a:ln>
          <a:effectLst/>
        </p:spPr>
        <p:txBody>
          <a:bodyPr rtlCol="0" anchor="ctr" wrap="square" lIns="18288" rIns="18288" tIns="0" bIns="0">
            <a:noAutofit/>
          </a:bodyPr>
          <a:lstStyle/>
          <a:p>
            <a:pPr algn="ctr">
              <a:spcBef>
                <a:spcPts val="0"/>
              </a:spcBef>
              <a:spcAft>
                <a:spcPts val="0"/>
              </a:spcAft>
            </a:pPr>
            <a:r>
              <a:rPr lang="tr-TR" sz="1100" b="1" i="0">
                <a:solidFill>
                  <a:srgbClr val="262626"/>
                </a:solidFill>
                <a:latin typeface="Calibri"/>
              </a:rPr>
              <a:t>3 Eylül</a:t>
            </a:r>
          </a:p>
        </p:txBody>
      </p:sp>
      <p:sp>
        <p:nvSpPr>
          <p:cNvPr id="26" name="Oval 25"/>
          <p:cNvSpPr/>
          <p:nvPr/>
        </p:nvSpPr>
        <p:spPr>
          <a:xfrm>
            <a:off x="6880140" y="3877214"/>
            <a:ext cx="246888" cy="246888"/>
          </a:xfrm>
          <a:prstGeom prst="ellipse">
            <a:avLst/>
          </a:prstGeom>
          <a:solidFill>
            <a:srgbClr val="FFFFFF"/>
          </a:solidFill>
          <a:ln w="22225">
            <a:solidFill>
              <a:srgbClr val="D3373A"/>
            </a:solidFill>
          </a:ln>
          <a:effectLst/>
        </p:spPr>
        <p:txBody>
          <a:bodyPr rtlCol="0" anchor="ctr" wrap="none" lIns="0" rIns="0" tIns="0" bIns="0">
            <a:noAutofit/>
          </a:bodyPr>
          <a:lstStyle/>
          <a:p>
            <a:pPr algn="ctr">
              <a:spcBef>
                <a:spcPts val="0"/>
              </a:spcBef>
              <a:spcAft>
                <a:spcPts val="0"/>
              </a:spcAft>
            </a:pPr>
            <a:r>
              <a:rPr lang="tr-TR" sz="1200" b="1" i="0">
                <a:solidFill>
                  <a:srgbClr val="D3373A"/>
                </a:solidFill>
                <a:latin typeface="Calibri"/>
              </a:rPr>
              <a:t>3</a:t>
            </a:r>
          </a:p>
        </p:txBody>
      </p:sp>
      <p:sp>
        <p:nvSpPr>
          <p:cNvPr id="27" name="Rounded Rectangle 26"/>
          <p:cNvSpPr/>
          <p:nvPr/>
        </p:nvSpPr>
        <p:spPr>
          <a:xfrm>
            <a:off x="6646968" y="3589178"/>
            <a:ext cx="713232" cy="219456"/>
          </a:xfrm>
          <a:prstGeom prst="roundRect">
            <a:avLst>
              <a:gd name="adj" fmla="val 30000"/>
            </a:avLst>
          </a:prstGeom>
          <a:solidFill>
            <a:srgbClr val="FFFFFF"/>
          </a:solidFill>
          <a:ln w="6350">
            <a:solidFill>
              <a:srgbClr val="D9D9D9"/>
            </a:solidFill>
          </a:ln>
          <a:effectLst/>
        </p:spPr>
        <p:txBody>
          <a:bodyPr rtlCol="0" anchor="ctr" wrap="square" lIns="18288" rIns="18288" tIns="0" bIns="0">
            <a:noAutofit/>
          </a:bodyPr>
          <a:lstStyle/>
          <a:p>
            <a:pPr algn="ctr">
              <a:spcBef>
                <a:spcPts val="0"/>
              </a:spcBef>
              <a:spcAft>
                <a:spcPts val="0"/>
              </a:spcAft>
            </a:pPr>
            <a:r>
              <a:rPr lang="tr-TR" sz="1100" b="1" i="0">
                <a:solidFill>
                  <a:srgbClr val="262626"/>
                </a:solidFill>
                <a:latin typeface="Calibri"/>
              </a:rPr>
              <a:t>4 Eylül</a:t>
            </a:r>
          </a:p>
        </p:txBody>
      </p:sp>
      <p:sp>
        <p:nvSpPr>
          <p:cNvPr id="28" name="Oval 27"/>
          <p:cNvSpPr/>
          <p:nvPr/>
        </p:nvSpPr>
        <p:spPr>
          <a:xfrm>
            <a:off x="6361267" y="3972361"/>
            <a:ext cx="246888" cy="246888"/>
          </a:xfrm>
          <a:prstGeom prst="ellipse">
            <a:avLst/>
          </a:prstGeom>
          <a:solidFill>
            <a:srgbClr val="D3373A"/>
          </a:solidFill>
          <a:ln w="22225">
            <a:solidFill>
              <a:srgbClr val="D3373A"/>
            </a:solidFill>
          </a:ln>
          <a:effectLst/>
        </p:spPr>
        <p:txBody>
          <a:bodyPr rtlCol="0" anchor="ctr" wrap="none" lIns="0" rIns="0" tIns="0" bIns="0">
            <a:noAutofit/>
          </a:bodyPr>
          <a:lstStyle/>
          <a:p>
            <a:pPr algn="ctr">
              <a:spcBef>
                <a:spcPts val="0"/>
              </a:spcBef>
              <a:spcAft>
                <a:spcPts val="0"/>
              </a:spcAft>
            </a:pPr>
            <a:r>
              <a:rPr lang="tr-TR" sz="1200" b="1" i="0">
                <a:solidFill>
                  <a:srgbClr val="FFFFFF"/>
                </a:solidFill>
                <a:latin typeface="Calibri"/>
              </a:rPr>
              <a:t>4</a:t>
            </a:r>
          </a:p>
        </p:txBody>
      </p:sp>
      <p:sp>
        <p:nvSpPr>
          <p:cNvPr id="29" name="Rounded Rectangle 28"/>
          <p:cNvSpPr/>
          <p:nvPr/>
        </p:nvSpPr>
        <p:spPr>
          <a:xfrm>
            <a:off x="6128095" y="4287829"/>
            <a:ext cx="713232" cy="219456"/>
          </a:xfrm>
          <a:prstGeom prst="roundRect">
            <a:avLst>
              <a:gd name="adj" fmla="val 30000"/>
            </a:avLst>
          </a:prstGeom>
          <a:solidFill>
            <a:srgbClr val="FFFFFF"/>
          </a:solidFill>
          <a:ln w="6350">
            <a:solidFill>
              <a:srgbClr val="D9D9D9"/>
            </a:solidFill>
          </a:ln>
          <a:effectLst/>
        </p:spPr>
        <p:txBody>
          <a:bodyPr rtlCol="0" anchor="ctr" wrap="square" lIns="18288" rIns="18288" tIns="0" bIns="0">
            <a:noAutofit/>
          </a:bodyPr>
          <a:lstStyle/>
          <a:p>
            <a:pPr algn="ctr">
              <a:spcBef>
                <a:spcPts val="0"/>
              </a:spcBef>
              <a:spcAft>
                <a:spcPts val="0"/>
              </a:spcAft>
            </a:pPr>
            <a:r>
              <a:rPr lang="tr-TR" sz="1100" b="1" i="0">
                <a:solidFill>
                  <a:srgbClr val="262626"/>
                </a:solidFill>
                <a:latin typeface="Calibri"/>
              </a:rPr>
              <a:t>5 Eylül</a:t>
            </a:r>
          </a:p>
        </p:txBody>
      </p:sp>
      <p:sp>
        <p:nvSpPr>
          <p:cNvPr id="30" name="Oval 29"/>
          <p:cNvSpPr/>
          <p:nvPr/>
        </p:nvSpPr>
        <p:spPr>
          <a:xfrm>
            <a:off x="5841230" y="3877214"/>
            <a:ext cx="246888" cy="246888"/>
          </a:xfrm>
          <a:prstGeom prst="ellipse">
            <a:avLst/>
          </a:prstGeom>
          <a:solidFill>
            <a:srgbClr val="D3373A"/>
          </a:solidFill>
          <a:ln w="22225">
            <a:solidFill>
              <a:srgbClr val="D3373A"/>
            </a:solidFill>
          </a:ln>
          <a:effectLst/>
        </p:spPr>
        <p:txBody>
          <a:bodyPr rtlCol="0" anchor="ctr" wrap="none" lIns="0" rIns="0" tIns="0" bIns="0">
            <a:noAutofit/>
          </a:bodyPr>
          <a:lstStyle/>
          <a:p>
            <a:pPr algn="ctr">
              <a:spcBef>
                <a:spcPts val="0"/>
              </a:spcBef>
              <a:spcAft>
                <a:spcPts val="0"/>
              </a:spcAft>
            </a:pPr>
            <a:r>
              <a:rPr lang="tr-TR" sz="1200" b="1" i="0">
                <a:solidFill>
                  <a:srgbClr val="FFFFFF"/>
                </a:solidFill>
                <a:latin typeface="Calibri"/>
              </a:rPr>
              <a:t>5</a:t>
            </a:r>
          </a:p>
        </p:txBody>
      </p:sp>
      <p:sp>
        <p:nvSpPr>
          <p:cNvPr id="31" name="Rounded Rectangle 30"/>
          <p:cNvSpPr/>
          <p:nvPr/>
        </p:nvSpPr>
        <p:spPr>
          <a:xfrm>
            <a:off x="5608058" y="3589178"/>
            <a:ext cx="713232" cy="219456"/>
          </a:xfrm>
          <a:prstGeom prst="roundRect">
            <a:avLst>
              <a:gd name="adj" fmla="val 30000"/>
            </a:avLst>
          </a:prstGeom>
          <a:solidFill>
            <a:srgbClr val="FFFFFF"/>
          </a:solidFill>
          <a:ln w="6350">
            <a:solidFill>
              <a:srgbClr val="D9D9D9"/>
            </a:solidFill>
          </a:ln>
          <a:effectLst/>
        </p:spPr>
        <p:txBody>
          <a:bodyPr rtlCol="0" anchor="ctr" wrap="square" lIns="18288" rIns="18288" tIns="0" bIns="0">
            <a:noAutofit/>
          </a:bodyPr>
          <a:lstStyle/>
          <a:p>
            <a:pPr algn="ctr">
              <a:spcBef>
                <a:spcPts val="0"/>
              </a:spcBef>
              <a:spcAft>
                <a:spcPts val="0"/>
              </a:spcAft>
            </a:pPr>
            <a:r>
              <a:rPr lang="tr-TR" sz="1100" b="1" i="0">
                <a:solidFill>
                  <a:srgbClr val="262626"/>
                </a:solidFill>
                <a:latin typeface="Calibri"/>
              </a:rPr>
              <a:t>6 Eylül</a:t>
            </a:r>
          </a:p>
        </p:txBody>
      </p:sp>
      <p:sp>
        <p:nvSpPr>
          <p:cNvPr id="32" name="Oval 31"/>
          <p:cNvSpPr/>
          <p:nvPr/>
        </p:nvSpPr>
        <p:spPr>
          <a:xfrm>
            <a:off x="5216718" y="3782067"/>
            <a:ext cx="246888" cy="246888"/>
          </a:xfrm>
          <a:prstGeom prst="ellipse">
            <a:avLst/>
          </a:prstGeom>
          <a:solidFill>
            <a:srgbClr val="D3373A"/>
          </a:solidFill>
          <a:ln w="22225">
            <a:solidFill>
              <a:srgbClr val="D3373A"/>
            </a:solidFill>
          </a:ln>
          <a:effectLst/>
        </p:spPr>
        <p:txBody>
          <a:bodyPr rtlCol="0" anchor="ctr" wrap="none" lIns="0" rIns="0" tIns="0" bIns="0">
            <a:noAutofit/>
          </a:bodyPr>
          <a:lstStyle/>
          <a:p>
            <a:pPr algn="ctr">
              <a:spcBef>
                <a:spcPts val="0"/>
              </a:spcBef>
              <a:spcAft>
                <a:spcPts val="0"/>
              </a:spcAft>
            </a:pPr>
            <a:r>
              <a:rPr lang="tr-TR" sz="1200" b="1" i="0">
                <a:solidFill>
                  <a:srgbClr val="FFFFFF"/>
                </a:solidFill>
                <a:latin typeface="Calibri"/>
              </a:rPr>
              <a:t>5</a:t>
            </a:r>
          </a:p>
        </p:txBody>
      </p:sp>
      <p:sp>
        <p:nvSpPr>
          <p:cNvPr id="33" name="Rounded Rectangle 32"/>
          <p:cNvSpPr/>
          <p:nvPr/>
        </p:nvSpPr>
        <p:spPr>
          <a:xfrm>
            <a:off x="4983546" y="4097535"/>
            <a:ext cx="713232" cy="219456"/>
          </a:xfrm>
          <a:prstGeom prst="roundRect">
            <a:avLst>
              <a:gd name="adj" fmla="val 30000"/>
            </a:avLst>
          </a:prstGeom>
          <a:solidFill>
            <a:srgbClr val="FFFFFF"/>
          </a:solidFill>
          <a:ln w="6350">
            <a:solidFill>
              <a:srgbClr val="D9D9D9"/>
            </a:solidFill>
          </a:ln>
          <a:effectLst/>
        </p:spPr>
        <p:txBody>
          <a:bodyPr rtlCol="0" anchor="ctr" wrap="square" lIns="18288" rIns="18288" tIns="0" bIns="0">
            <a:noAutofit/>
          </a:bodyPr>
          <a:lstStyle/>
          <a:p>
            <a:pPr algn="ctr">
              <a:spcBef>
                <a:spcPts val="0"/>
              </a:spcBef>
              <a:spcAft>
                <a:spcPts val="0"/>
              </a:spcAft>
            </a:pPr>
            <a:r>
              <a:rPr lang="tr-TR" sz="1100" b="1" i="0">
                <a:solidFill>
                  <a:srgbClr val="262626"/>
                </a:solidFill>
                <a:latin typeface="Calibri"/>
              </a:rPr>
              <a:t>7 Eylül</a:t>
            </a:r>
          </a:p>
        </p:txBody>
      </p:sp>
      <p:sp>
        <p:nvSpPr>
          <p:cNvPr id="34" name="Oval 33"/>
          <p:cNvSpPr/>
          <p:nvPr/>
        </p:nvSpPr>
        <p:spPr>
          <a:xfrm>
            <a:off x="4594149" y="3591773"/>
            <a:ext cx="246888" cy="246888"/>
          </a:xfrm>
          <a:prstGeom prst="ellipse">
            <a:avLst/>
          </a:prstGeom>
          <a:solidFill>
            <a:srgbClr val="D3373A"/>
          </a:solidFill>
          <a:ln w="22225">
            <a:solidFill>
              <a:srgbClr val="D3373A"/>
            </a:solidFill>
          </a:ln>
          <a:effectLst/>
        </p:spPr>
        <p:txBody>
          <a:bodyPr rtlCol="0" anchor="ctr" wrap="none" lIns="0" rIns="0" tIns="0" bIns="0">
            <a:noAutofit/>
          </a:bodyPr>
          <a:lstStyle/>
          <a:p>
            <a:pPr algn="ctr">
              <a:spcBef>
                <a:spcPts val="0"/>
              </a:spcBef>
              <a:spcAft>
                <a:spcPts val="0"/>
              </a:spcAft>
            </a:pPr>
            <a:r>
              <a:rPr lang="tr-TR" sz="1200" b="1" i="0">
                <a:solidFill>
                  <a:srgbClr val="FFFFFF"/>
                </a:solidFill>
                <a:latin typeface="Calibri"/>
              </a:rPr>
              <a:t>5</a:t>
            </a:r>
          </a:p>
        </p:txBody>
      </p:sp>
      <p:sp>
        <p:nvSpPr>
          <p:cNvPr id="35" name="Rounded Rectangle 34"/>
          <p:cNvSpPr/>
          <p:nvPr/>
        </p:nvSpPr>
        <p:spPr>
          <a:xfrm>
            <a:off x="4562145" y="3276305"/>
            <a:ext cx="713232" cy="219456"/>
          </a:xfrm>
          <a:prstGeom prst="roundRect">
            <a:avLst>
              <a:gd name="adj" fmla="val 30000"/>
            </a:avLst>
          </a:prstGeom>
          <a:solidFill>
            <a:srgbClr val="FFFFFF"/>
          </a:solidFill>
          <a:ln w="6350">
            <a:solidFill>
              <a:srgbClr val="D9D9D9"/>
            </a:solidFill>
          </a:ln>
          <a:effectLst/>
        </p:spPr>
        <p:txBody>
          <a:bodyPr rtlCol="0" anchor="ctr" wrap="square" lIns="18288" rIns="18288" tIns="0" bIns="0">
            <a:noAutofit/>
          </a:bodyPr>
          <a:lstStyle/>
          <a:p>
            <a:pPr algn="ctr">
              <a:spcBef>
                <a:spcPts val="0"/>
              </a:spcBef>
              <a:spcAft>
                <a:spcPts val="0"/>
              </a:spcAft>
            </a:pPr>
            <a:r>
              <a:rPr lang="tr-TR" sz="1100" b="1" i="0">
                <a:solidFill>
                  <a:srgbClr val="262626"/>
                </a:solidFill>
                <a:latin typeface="Calibri"/>
              </a:rPr>
              <a:t>8 Eylül</a:t>
            </a:r>
          </a:p>
        </p:txBody>
      </p:sp>
      <p:sp>
        <p:nvSpPr>
          <p:cNvPr id="36" name="Oval 35"/>
          <p:cNvSpPr/>
          <p:nvPr/>
        </p:nvSpPr>
        <p:spPr>
          <a:xfrm>
            <a:off x="4073723" y="3401479"/>
            <a:ext cx="246888" cy="246888"/>
          </a:xfrm>
          <a:prstGeom prst="ellipse">
            <a:avLst/>
          </a:prstGeom>
          <a:solidFill>
            <a:srgbClr val="D3373A"/>
          </a:solidFill>
          <a:ln w="22225">
            <a:solidFill>
              <a:srgbClr val="D3373A"/>
            </a:solidFill>
          </a:ln>
          <a:effectLst/>
        </p:spPr>
        <p:txBody>
          <a:bodyPr rtlCol="0" anchor="ctr" wrap="none" lIns="0" rIns="0" tIns="0" bIns="0">
            <a:noAutofit/>
          </a:bodyPr>
          <a:lstStyle/>
          <a:p>
            <a:pPr algn="ctr">
              <a:spcBef>
                <a:spcPts val="0"/>
              </a:spcBef>
              <a:spcAft>
                <a:spcPts val="0"/>
              </a:spcAft>
            </a:pPr>
            <a:r>
              <a:rPr lang="tr-TR" sz="1200" b="1" i="0">
                <a:solidFill>
                  <a:srgbClr val="FFFFFF"/>
                </a:solidFill>
                <a:latin typeface="Calibri"/>
              </a:rPr>
              <a:t>4</a:t>
            </a:r>
          </a:p>
        </p:txBody>
      </p:sp>
      <p:sp>
        <p:nvSpPr>
          <p:cNvPr id="37" name="Rounded Rectangle 36"/>
          <p:cNvSpPr/>
          <p:nvPr/>
        </p:nvSpPr>
        <p:spPr>
          <a:xfrm>
            <a:off x="3566231" y="3744379"/>
            <a:ext cx="713232" cy="219456"/>
          </a:xfrm>
          <a:prstGeom prst="roundRect">
            <a:avLst>
              <a:gd name="adj" fmla="val 30000"/>
            </a:avLst>
          </a:prstGeom>
          <a:solidFill>
            <a:srgbClr val="FFFFFF"/>
          </a:solidFill>
          <a:ln w="6350">
            <a:solidFill>
              <a:srgbClr val="D9D9D9"/>
            </a:solidFill>
          </a:ln>
          <a:effectLst/>
        </p:spPr>
        <p:txBody>
          <a:bodyPr rtlCol="0" anchor="ctr" wrap="square" lIns="18288" rIns="18288" tIns="0" bIns="0">
            <a:noAutofit/>
          </a:bodyPr>
          <a:lstStyle/>
          <a:p>
            <a:pPr algn="ctr">
              <a:spcBef>
                <a:spcPts val="0"/>
              </a:spcBef>
              <a:spcAft>
                <a:spcPts val="0"/>
              </a:spcAft>
            </a:pPr>
            <a:r>
              <a:rPr lang="tr-TR" sz="1100" b="1" i="0">
                <a:solidFill>
                  <a:srgbClr val="262626"/>
                </a:solidFill>
                <a:latin typeface="Calibri"/>
              </a:rPr>
              <a:t>9 Eylül</a:t>
            </a:r>
          </a:p>
        </p:txBody>
      </p:sp>
      <p:sp>
        <p:nvSpPr>
          <p:cNvPr id="38" name="Oval 37"/>
          <p:cNvSpPr/>
          <p:nvPr/>
        </p:nvSpPr>
        <p:spPr>
          <a:xfrm>
            <a:off x="3657382" y="3306332"/>
            <a:ext cx="246888" cy="246888"/>
          </a:xfrm>
          <a:prstGeom prst="ellipse">
            <a:avLst/>
          </a:prstGeom>
          <a:solidFill>
            <a:srgbClr val="FFFFFF"/>
          </a:solidFill>
          <a:ln w="22225">
            <a:solidFill>
              <a:srgbClr val="D3373A"/>
            </a:solidFill>
          </a:ln>
          <a:effectLst/>
        </p:spPr>
        <p:txBody>
          <a:bodyPr rtlCol="0" anchor="ctr" wrap="none" lIns="0" rIns="0" tIns="0" bIns="0">
            <a:noAutofit/>
          </a:bodyPr>
          <a:lstStyle/>
          <a:p>
            <a:pPr algn="ctr">
              <a:spcBef>
                <a:spcPts val="0"/>
              </a:spcBef>
              <a:spcAft>
                <a:spcPts val="0"/>
              </a:spcAft>
            </a:pPr>
            <a:r>
              <a:rPr lang="tr-TR" sz="1200" b="1" i="0">
                <a:solidFill>
                  <a:srgbClr val="D3373A"/>
                </a:solidFill>
                <a:latin typeface="Calibri"/>
              </a:rPr>
              <a:t>3</a:t>
            </a:r>
          </a:p>
        </p:txBody>
      </p:sp>
      <p:sp>
        <p:nvSpPr>
          <p:cNvPr id="39" name="Rounded Rectangle 38"/>
          <p:cNvSpPr/>
          <p:nvPr/>
        </p:nvSpPr>
        <p:spPr>
          <a:xfrm>
            <a:off x="2857282" y="3429776"/>
            <a:ext cx="713232" cy="219456"/>
          </a:xfrm>
          <a:prstGeom prst="roundRect">
            <a:avLst>
              <a:gd name="adj" fmla="val 30000"/>
            </a:avLst>
          </a:prstGeom>
          <a:solidFill>
            <a:srgbClr val="FFFFFF"/>
          </a:solidFill>
          <a:ln w="6350">
            <a:solidFill>
              <a:srgbClr val="D9D9D9"/>
            </a:solidFill>
          </a:ln>
          <a:effectLst/>
        </p:spPr>
        <p:txBody>
          <a:bodyPr rtlCol="0" anchor="ctr" wrap="square" lIns="18288" rIns="18288" tIns="0" bIns="0">
            <a:noAutofit/>
          </a:bodyPr>
          <a:lstStyle/>
          <a:p>
            <a:pPr algn="ctr">
              <a:spcBef>
                <a:spcPts val="0"/>
              </a:spcBef>
              <a:spcAft>
                <a:spcPts val="0"/>
              </a:spcAft>
            </a:pPr>
            <a:r>
              <a:rPr lang="tr-TR" sz="1100" b="1" i="0">
                <a:solidFill>
                  <a:srgbClr val="262626"/>
                </a:solidFill>
                <a:latin typeface="Calibri"/>
              </a:rPr>
              <a:t>10 Eylül</a:t>
            </a:r>
          </a:p>
        </p:txBody>
      </p:sp>
      <p:sp>
        <p:nvSpPr>
          <p:cNvPr id="40" name="Oval 39"/>
          <p:cNvSpPr/>
          <p:nvPr/>
        </p:nvSpPr>
        <p:spPr>
          <a:xfrm>
            <a:off x="3554074" y="3015843"/>
            <a:ext cx="246888" cy="246888"/>
          </a:xfrm>
          <a:prstGeom prst="ellipse">
            <a:avLst/>
          </a:prstGeom>
          <a:solidFill>
            <a:srgbClr val="FFFFFF"/>
          </a:solidFill>
          <a:ln w="22225">
            <a:solidFill>
              <a:srgbClr val="D3373A"/>
            </a:solidFill>
          </a:ln>
          <a:effectLst/>
        </p:spPr>
        <p:txBody>
          <a:bodyPr rtlCol="0" anchor="ctr" wrap="none" lIns="0" rIns="0" tIns="0" bIns="0">
            <a:noAutofit/>
          </a:bodyPr>
          <a:lstStyle/>
          <a:p>
            <a:pPr algn="ctr">
              <a:spcBef>
                <a:spcPts val="0"/>
              </a:spcBef>
              <a:spcAft>
                <a:spcPts val="0"/>
              </a:spcAft>
            </a:pPr>
            <a:r>
              <a:rPr lang="tr-TR" sz="1200" b="1" i="0">
                <a:solidFill>
                  <a:srgbClr val="D3373A"/>
                </a:solidFill>
                <a:latin typeface="Calibri"/>
              </a:rPr>
              <a:t>2</a:t>
            </a:r>
          </a:p>
        </p:txBody>
      </p:sp>
      <p:sp>
        <p:nvSpPr>
          <p:cNvPr id="41" name="Rounded Rectangle 40"/>
          <p:cNvSpPr/>
          <p:nvPr/>
        </p:nvSpPr>
        <p:spPr>
          <a:xfrm>
            <a:off x="2753974" y="3011271"/>
            <a:ext cx="713232" cy="219456"/>
          </a:xfrm>
          <a:prstGeom prst="roundRect">
            <a:avLst>
              <a:gd name="adj" fmla="val 30000"/>
            </a:avLst>
          </a:prstGeom>
          <a:solidFill>
            <a:srgbClr val="FFFFFF"/>
          </a:solidFill>
          <a:ln w="6350">
            <a:solidFill>
              <a:srgbClr val="D9D9D9"/>
            </a:solidFill>
          </a:ln>
          <a:effectLst/>
        </p:spPr>
        <p:txBody>
          <a:bodyPr rtlCol="0" anchor="ctr" wrap="square" lIns="18288" rIns="18288" tIns="0" bIns="0">
            <a:noAutofit/>
          </a:bodyPr>
          <a:lstStyle/>
          <a:p>
            <a:pPr algn="ctr">
              <a:spcBef>
                <a:spcPts val="0"/>
              </a:spcBef>
              <a:spcAft>
                <a:spcPts val="0"/>
              </a:spcAft>
            </a:pPr>
            <a:r>
              <a:rPr lang="tr-TR" sz="1100" b="1" i="0">
                <a:solidFill>
                  <a:srgbClr val="262626"/>
                </a:solidFill>
                <a:latin typeface="Calibri"/>
              </a:rPr>
              <a:t>11 Eylül</a:t>
            </a:r>
          </a:p>
        </p:txBody>
      </p:sp>
      <p:sp>
        <p:nvSpPr>
          <p:cNvPr id="42" name="Oval 41"/>
          <p:cNvSpPr/>
          <p:nvPr/>
        </p:nvSpPr>
        <p:spPr>
          <a:xfrm>
            <a:off x="3244149" y="2512534"/>
            <a:ext cx="246888" cy="246888"/>
          </a:xfrm>
          <a:prstGeom prst="ellipse">
            <a:avLst/>
          </a:prstGeom>
          <a:solidFill>
            <a:srgbClr val="FFFFFF"/>
          </a:solidFill>
          <a:ln w="22225">
            <a:solidFill>
              <a:srgbClr val="D3373A"/>
            </a:solidFill>
          </a:ln>
          <a:effectLst/>
        </p:spPr>
        <p:txBody>
          <a:bodyPr rtlCol="0" anchor="ctr" wrap="none" lIns="0" rIns="0" tIns="0" bIns="0">
            <a:noAutofit/>
          </a:bodyPr>
          <a:lstStyle/>
          <a:p>
            <a:pPr algn="ctr">
              <a:spcBef>
                <a:spcPts val="0"/>
              </a:spcBef>
              <a:spcAft>
                <a:spcPts val="0"/>
              </a:spcAft>
            </a:pPr>
            <a:r>
              <a:rPr lang="tr-TR" sz="1200" b="1" i="0">
                <a:solidFill>
                  <a:srgbClr val="D3373A"/>
                </a:solidFill>
                <a:latin typeface="Calibri"/>
              </a:rPr>
              <a:t>-</a:t>
            </a:r>
          </a:p>
        </p:txBody>
      </p:sp>
      <p:sp>
        <p:nvSpPr>
          <p:cNvPr id="43" name="Rounded Rectangle 42"/>
          <p:cNvSpPr/>
          <p:nvPr/>
        </p:nvSpPr>
        <p:spPr>
          <a:xfrm>
            <a:off x="2444049" y="2526250"/>
            <a:ext cx="713232" cy="219456"/>
          </a:xfrm>
          <a:prstGeom prst="roundRect">
            <a:avLst>
              <a:gd name="adj" fmla="val 30000"/>
            </a:avLst>
          </a:prstGeom>
          <a:solidFill>
            <a:srgbClr val="FFFFFF"/>
          </a:solidFill>
          <a:ln w="6350">
            <a:solidFill>
              <a:srgbClr val="D9D9D9"/>
            </a:solidFill>
          </a:ln>
          <a:effectLst/>
        </p:spPr>
        <p:txBody>
          <a:bodyPr rtlCol="0" anchor="ctr" wrap="square" lIns="18288" rIns="18288" tIns="0" bIns="0">
            <a:noAutofit/>
          </a:bodyPr>
          <a:lstStyle/>
          <a:p>
            <a:pPr algn="ctr">
              <a:spcBef>
                <a:spcPts val="0"/>
              </a:spcBef>
              <a:spcAft>
                <a:spcPts val="0"/>
              </a:spcAft>
            </a:pPr>
            <a:r>
              <a:rPr lang="tr-TR" sz="1100" b="1" i="0">
                <a:solidFill>
                  <a:srgbClr val="262626"/>
                </a:solidFill>
                <a:latin typeface="Calibri"/>
              </a:rPr>
              <a:t>12 Eylül</a:t>
            </a:r>
          </a:p>
        </p:txBody>
      </p:sp>
      <p:sp>
        <p:nvSpPr>
          <p:cNvPr id="44" name="Oval 43"/>
          <p:cNvSpPr/>
          <p:nvPr/>
        </p:nvSpPr>
        <p:spPr>
          <a:xfrm>
            <a:off x="2828585" y="2102431"/>
            <a:ext cx="246888" cy="246888"/>
          </a:xfrm>
          <a:prstGeom prst="ellipse">
            <a:avLst/>
          </a:prstGeom>
          <a:solidFill>
            <a:srgbClr val="FFFFFF"/>
          </a:solidFill>
          <a:ln w="22225">
            <a:solidFill>
              <a:srgbClr val="D3373A"/>
            </a:solidFill>
          </a:ln>
          <a:effectLst/>
        </p:spPr>
        <p:txBody>
          <a:bodyPr rtlCol="0" anchor="ctr" wrap="none" lIns="0" rIns="0" tIns="0" bIns="0">
            <a:noAutofit/>
          </a:bodyPr>
          <a:lstStyle/>
          <a:p>
            <a:pPr algn="ctr">
              <a:spcBef>
                <a:spcPts val="0"/>
              </a:spcBef>
              <a:spcAft>
                <a:spcPts val="0"/>
              </a:spcAft>
            </a:pPr>
            <a:r>
              <a:rPr lang="tr-TR" sz="1200" b="1" i="0">
                <a:solidFill>
                  <a:srgbClr val="D3373A"/>
                </a:solidFill>
                <a:latin typeface="Calibri"/>
              </a:rPr>
              <a:t>-</a:t>
            </a:r>
          </a:p>
        </p:txBody>
      </p:sp>
      <p:sp>
        <p:nvSpPr>
          <p:cNvPr id="45" name="Rounded Rectangle 44"/>
          <p:cNvSpPr/>
          <p:nvPr/>
        </p:nvSpPr>
        <p:spPr>
          <a:xfrm>
            <a:off x="2028485" y="2116147"/>
            <a:ext cx="713232" cy="219456"/>
          </a:xfrm>
          <a:prstGeom prst="roundRect">
            <a:avLst>
              <a:gd name="adj" fmla="val 30000"/>
            </a:avLst>
          </a:prstGeom>
          <a:solidFill>
            <a:srgbClr val="FFFFFF"/>
          </a:solidFill>
          <a:ln w="6350">
            <a:solidFill>
              <a:srgbClr val="D9D9D9"/>
            </a:solidFill>
          </a:ln>
          <a:effectLst/>
        </p:spPr>
        <p:txBody>
          <a:bodyPr rtlCol="0" anchor="ctr" wrap="square" lIns="18288" rIns="18288" tIns="0" bIns="0">
            <a:noAutofit/>
          </a:bodyPr>
          <a:lstStyle/>
          <a:p>
            <a:pPr algn="ctr">
              <a:spcBef>
                <a:spcPts val="0"/>
              </a:spcBef>
              <a:spcAft>
                <a:spcPts val="0"/>
              </a:spcAft>
            </a:pPr>
            <a:r>
              <a:rPr lang="tr-TR" sz="1100" b="1" i="0">
                <a:solidFill>
                  <a:srgbClr val="262626"/>
                </a:solidFill>
                <a:latin typeface="Calibri"/>
              </a:rPr>
              <a:t>13 Eylül</a:t>
            </a:r>
          </a:p>
        </p:txBody>
      </p:sp>
      <p:sp>
        <p:nvSpPr>
          <p:cNvPr id="46" name="Rounded Rectangle 45"/>
          <p:cNvSpPr/>
          <p:nvPr/>
        </p:nvSpPr>
        <p:spPr>
          <a:xfrm>
            <a:off x="6068759" y="1769985"/>
            <a:ext cx="2754956" cy="1148871"/>
          </a:xfrm>
          <a:prstGeom prst="roundRect">
            <a:avLst>
              <a:gd name="adj" fmla="val 6000"/>
            </a:avLst>
          </a:prstGeom>
          <a:solidFill>
            <a:srgbClr val="E3F1E4"/>
          </a:solidFill>
          <a:ln>
            <a:noFill/>
          </a:ln>
          <a:effectLst/>
        </p:spPr>
        <p:txBody>
          <a:bodyPr rtlCol="0" anchor="ctr"/>
          <a:lstStyle/>
          <a:p/>
        </p:txBody>
      </p:sp>
      <p:sp>
        <p:nvSpPr>
          <p:cNvPr id="47" name="Rectangle 46"/>
          <p:cNvSpPr/>
          <p:nvPr/>
        </p:nvSpPr>
        <p:spPr>
          <a:xfrm>
            <a:off x="6068759" y="1769985"/>
            <a:ext cx="109728" cy="1148871"/>
          </a:xfrm>
          <a:prstGeom prst="rect">
            <a:avLst/>
          </a:prstGeom>
          <a:solidFill>
            <a:srgbClr val="2E7D32"/>
          </a:solidFill>
          <a:ln>
            <a:noFill/>
          </a:ln>
          <a:effectLst/>
        </p:spPr>
        <p:txBody>
          <a:bodyPr rtlCol="0" anchor="ctr"/>
          <a:lstStyle/>
          <a:p/>
        </p:txBody>
      </p:sp>
      <p:sp>
        <p:nvSpPr>
          <p:cNvPr id="48" name="TextBox 47"/>
          <p:cNvSpPr txBox="1"/>
          <p:nvPr/>
        </p:nvSpPr>
        <p:spPr>
          <a:xfrm>
            <a:off x="6297359" y="1824849"/>
            <a:ext cx="2434916" cy="1039143"/>
          </a:xfrm>
          <a:prstGeom prst="rect">
            <a:avLst/>
          </a:prstGeom>
          <a:noFill/>
        </p:spPr>
        <p:txBody>
          <a:bodyPr wrap="square" anchor="ctr" lIns="73152" rIns="73152" tIns="36576" bIns="36576">
            <a:noAutofit/>
          </a:bodyPr>
          <a:lstStyle/>
          <a:p>
            <a:pPr algn="l">
              <a:spcBef>
                <a:spcPts val="0"/>
              </a:spcBef>
              <a:spcAft>
                <a:spcPts val="306"/>
              </a:spcAft>
            </a:pPr>
            <a:r>
              <a:rPr lang="tr-TR" sz="1150" b="1" i="0">
                <a:solidFill>
                  <a:srgbClr val="2E7D32"/>
                </a:solidFill>
                <a:latin typeface="Calibri"/>
              </a:rPr>
              <a:t>b · Hareket yönü</a:t>
            </a:r>
          </a:p>
          <a:p>
            <a:pPr algn="l">
              <a:spcBef>
                <a:spcPts val="0"/>
              </a:spcBef>
              <a:spcAft>
                <a:spcPts val="0"/>
              </a:spcAft>
            </a:pPr>
            <a:r>
              <a:rPr lang="tr-TR" sz="1150" b="0" i="0">
                <a:solidFill>
                  <a:srgbClr val="262626"/>
                </a:solidFill>
                <a:latin typeface="Calibri"/>
              </a:rPr>
              <a:t>Doğudan batıya (Atlas Okyanusu) → Karayipler'in kuzeyinde batı-kuzeybatıya → 11 Eylül'den sonra kuzeye.</a:t>
            </a:r>
          </a:p>
        </p:txBody>
      </p:sp>
      <p:sp>
        <p:nvSpPr>
          <p:cNvPr id="49" name="Rounded Rectangle 48"/>
          <p:cNvSpPr/>
          <p:nvPr/>
        </p:nvSpPr>
        <p:spPr>
          <a:xfrm>
            <a:off x="10045700" y="1216152"/>
            <a:ext cx="1643075" cy="2743200"/>
          </a:xfrm>
          <a:prstGeom prst="roundRect">
            <a:avLst>
              <a:gd name="adj" fmla="val 8000"/>
            </a:avLst>
          </a:prstGeom>
          <a:solidFill>
            <a:srgbClr val="F9E1E1"/>
          </a:solidFill>
          <a:ln>
            <a:noFill/>
          </a:ln>
          <a:effectLst/>
        </p:spPr>
        <p:txBody>
          <a:bodyPr rtlCol="0" anchor="ctr" wrap="square" tIns="73152" bIns="73152">
            <a:noAutofit/>
          </a:bodyPr>
          <a:lstStyle/>
          <a:p>
            <a:pPr algn="l">
              <a:spcBef>
                <a:spcPts val="0"/>
              </a:spcBef>
              <a:spcAft>
                <a:spcPts val="600"/>
              </a:spcAft>
            </a:pPr>
            <a:r>
              <a:rPr lang="tr-TR" sz="1500" b="1" i="0">
                <a:solidFill>
                  <a:srgbClr val="D3373A"/>
                </a:solidFill>
                <a:latin typeface="Calibri"/>
              </a:rPr>
              <a:t>a · Lejant</a:t>
            </a:r>
          </a:p>
          <a:p>
            <a:pPr algn="l">
              <a:spcBef>
                <a:spcPts val="0"/>
              </a:spcBef>
              <a:spcAft>
                <a:spcPts val="600"/>
              </a:spcAft>
            </a:pPr>
            <a:r>
              <a:rPr lang="tr-TR" sz="1400" b="0" i="0">
                <a:solidFill>
                  <a:srgbClr val="262626"/>
                </a:solidFill>
                <a:latin typeface="Calibri"/>
              </a:rPr>
              <a:t>Daire içinde o günün kategorisi; dolu daire: 4 ve 5.</a:t>
            </a:r>
          </a:p>
          <a:p>
            <a:pPr algn="l">
              <a:spcBef>
                <a:spcPts val="0"/>
              </a:spcBef>
              <a:spcAft>
                <a:spcPts val="0"/>
              </a:spcAft>
            </a:pPr>
            <a:r>
              <a:rPr lang="tr-TR" sz="1400" b="0" i="0">
                <a:solidFill>
                  <a:srgbClr val="262626"/>
                </a:solidFill>
                <a:latin typeface="Calibri"/>
              </a:rPr>
              <a:t>b · Ok: bir sonraki güne, hareket yönü.</a:t>
            </a:r>
          </a:p>
        </p:txBody>
      </p:sp>
      <p:sp>
        <p:nvSpPr>
          <p:cNvPr id="50" name="TextBox 4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51" name="Rounded Rectangle 5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34</a:t>
            </a:r>
          </a:p>
        </p:txBody>
      </p:sp>
      <p:sp>
        <p:nvSpPr>
          <p:cNvPr id="52" name="TextBox 5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 / 226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Başlarken 2 — örnek cevap (c)</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pic>
        <p:nvPicPr>
          <p:cNvPr id="6" name="Picture 5" descr="irma_harita_s34.jpg"/>
          <p:cNvPicPr>
            <a:picLocks noChangeAspect="1"/>
          </p:cNvPicPr>
          <p:nvPr/>
        </p:nvPicPr>
        <p:blipFill>
          <a:blip r:embed="rId3"/>
          <a:stretch>
            <a:fillRect/>
          </a:stretch>
        </p:blipFill>
        <p:spPr>
          <a:xfrm>
            <a:off x="502920" y="1216152"/>
            <a:ext cx="9359900" cy="5029200"/>
          </a:xfrm>
          <a:prstGeom prst="rect">
            <a:avLst/>
          </a:prstGeom>
          <a:ln w="9525">
            <a:solidFill>
              <a:srgbClr val="D9D9D9"/>
            </a:solidFill>
          </a:ln>
        </p:spPr>
      </p:pic>
      <p:cxnSp>
        <p:nvCxnSpPr>
          <p:cNvPr id="7" name="Connector 6"/>
          <p:cNvCxnSpPr/>
          <p:nvPr/>
        </p:nvCxnSpPr>
        <p:spPr>
          <a:xfrm flipH="1" flipV="1">
            <a:off x="8686891" y="4038099"/>
            <a:ext cx="66254" cy="20264"/>
          </a:xfrm>
          <a:prstGeom prst="line">
            <a:avLst/>
          </a:prstGeom>
          <a:ln w="19050">
            <a:solidFill>
              <a:srgbClr val="767676"/>
            </a:solidFill>
          </a:ln>
        </p:spPr>
      </p:cxnSp>
      <p:cxnSp>
        <p:nvCxnSpPr>
          <p:cNvPr id="8" name="Connector 7"/>
          <p:cNvCxnSpPr/>
          <p:nvPr/>
        </p:nvCxnSpPr>
        <p:spPr>
          <a:xfrm flipH="1" flipV="1">
            <a:off x="8273313" y="3934056"/>
            <a:ext cx="166367" cy="38056"/>
          </a:xfrm>
          <a:prstGeom prst="line">
            <a:avLst/>
          </a:prstGeom>
          <a:ln w="19050">
            <a:solidFill>
              <a:srgbClr val="767676"/>
            </a:solidFill>
            <a:tailEnd type="triangle" w="med" len="med"/>
          </a:ln>
        </p:spPr>
      </p:cxnSp>
      <p:cxnSp>
        <p:nvCxnSpPr>
          <p:cNvPr id="9" name="Connector 8"/>
          <p:cNvCxnSpPr/>
          <p:nvPr/>
        </p:nvCxnSpPr>
        <p:spPr>
          <a:xfrm flipH="1">
            <a:off x="7652026" y="3905511"/>
            <a:ext cx="368479" cy="0"/>
          </a:xfrm>
          <a:prstGeom prst="line">
            <a:avLst/>
          </a:prstGeom>
          <a:ln w="19050">
            <a:solidFill>
              <a:srgbClr val="767676"/>
            </a:solidFill>
            <a:tailEnd type="triangle" w="med" len="med"/>
          </a:ln>
        </p:spPr>
      </p:cxnSp>
      <p:cxnSp>
        <p:nvCxnSpPr>
          <p:cNvPr id="10" name="Connector 9"/>
          <p:cNvCxnSpPr/>
          <p:nvPr/>
        </p:nvCxnSpPr>
        <p:spPr>
          <a:xfrm flipH="1">
            <a:off x="7129512" y="3928533"/>
            <a:ext cx="268569" cy="49102"/>
          </a:xfrm>
          <a:prstGeom prst="line">
            <a:avLst/>
          </a:prstGeom>
          <a:ln w="19050">
            <a:solidFill>
              <a:srgbClr val="767676"/>
            </a:solidFill>
            <a:tailEnd type="triangle" w="med" len="med"/>
          </a:ln>
        </p:spPr>
      </p:cxnSp>
      <p:cxnSp>
        <p:nvCxnSpPr>
          <p:cNvPr id="11" name="Connector 10"/>
          <p:cNvCxnSpPr/>
          <p:nvPr/>
        </p:nvCxnSpPr>
        <p:spPr>
          <a:xfrm flipH="1">
            <a:off x="6610627" y="4023747"/>
            <a:ext cx="267040" cy="48968"/>
          </a:xfrm>
          <a:prstGeom prst="line">
            <a:avLst/>
          </a:prstGeom>
          <a:ln w="19050">
            <a:solidFill>
              <a:srgbClr val="767676"/>
            </a:solidFill>
            <a:tailEnd type="triangle" w="med" len="med"/>
          </a:ln>
        </p:spPr>
      </p:cxnSp>
      <p:cxnSp>
        <p:nvCxnSpPr>
          <p:cNvPr id="12" name="Connector 11"/>
          <p:cNvCxnSpPr/>
          <p:nvPr/>
        </p:nvCxnSpPr>
        <p:spPr>
          <a:xfrm flipH="1" flipV="1">
            <a:off x="6090599" y="4023697"/>
            <a:ext cx="268186" cy="49068"/>
          </a:xfrm>
          <a:prstGeom prst="line">
            <a:avLst/>
          </a:prstGeom>
          <a:ln w="34925">
            <a:solidFill>
              <a:srgbClr val="D3373A"/>
            </a:solidFill>
            <a:tailEnd type="triangle" w="med" len="med"/>
          </a:ln>
        </p:spPr>
      </p:cxnSp>
      <p:cxnSp>
        <p:nvCxnSpPr>
          <p:cNvPr id="13" name="Connector 12"/>
          <p:cNvCxnSpPr/>
          <p:nvPr/>
        </p:nvCxnSpPr>
        <p:spPr>
          <a:xfrm flipH="1" flipV="1">
            <a:off x="5466717" y="3924792"/>
            <a:ext cx="371401" cy="56584"/>
          </a:xfrm>
          <a:prstGeom prst="line">
            <a:avLst/>
          </a:prstGeom>
          <a:ln w="34925">
            <a:solidFill>
              <a:srgbClr val="D3373A"/>
            </a:solidFill>
            <a:tailEnd type="triangle" w="med" len="med"/>
          </a:ln>
        </p:spPr>
      </p:cxnSp>
      <p:cxnSp>
        <p:nvCxnSpPr>
          <p:cNvPr id="14" name="Connector 13"/>
          <p:cNvCxnSpPr/>
          <p:nvPr/>
        </p:nvCxnSpPr>
        <p:spPr>
          <a:xfrm flipH="1" flipV="1">
            <a:off x="4840017" y="3752637"/>
            <a:ext cx="377720" cy="115453"/>
          </a:xfrm>
          <a:prstGeom prst="line">
            <a:avLst/>
          </a:prstGeom>
          <a:ln w="34925">
            <a:solidFill>
              <a:srgbClr val="D3373A"/>
            </a:solidFill>
            <a:tailEnd type="triangle" w="med" len="med"/>
          </a:ln>
        </p:spPr>
      </p:cxnSp>
      <p:cxnSp>
        <p:nvCxnSpPr>
          <p:cNvPr id="15" name="Connector 14"/>
          <p:cNvCxnSpPr/>
          <p:nvPr/>
        </p:nvCxnSpPr>
        <p:spPr>
          <a:xfrm flipH="1" flipV="1">
            <a:off x="4317397" y="3568885"/>
            <a:ext cx="279965" cy="102369"/>
          </a:xfrm>
          <a:prstGeom prst="line">
            <a:avLst/>
          </a:prstGeom>
          <a:ln w="34925">
            <a:solidFill>
              <a:srgbClr val="D3373A"/>
            </a:solidFill>
            <a:tailEnd type="triangle" w="med" len="med"/>
          </a:ln>
        </p:spPr>
      </p:cxnSp>
      <p:cxnSp>
        <p:nvCxnSpPr>
          <p:cNvPr id="16" name="Connector 15"/>
          <p:cNvCxnSpPr/>
          <p:nvPr/>
        </p:nvCxnSpPr>
        <p:spPr>
          <a:xfrm flipH="1" flipV="1">
            <a:off x="3905624" y="3458296"/>
            <a:ext cx="166744" cy="38106"/>
          </a:xfrm>
          <a:prstGeom prst="line">
            <a:avLst/>
          </a:prstGeom>
          <a:ln w="19050">
            <a:solidFill>
              <a:srgbClr val="767676"/>
            </a:solidFill>
            <a:tailEnd type="triangle" w="med" len="med"/>
          </a:ln>
        </p:spPr>
      </p:cxnSp>
      <p:cxnSp>
        <p:nvCxnSpPr>
          <p:cNvPr id="17" name="Connector 16"/>
          <p:cNvCxnSpPr/>
          <p:nvPr/>
        </p:nvCxnSpPr>
        <p:spPr>
          <a:xfrm flipH="1" flipV="1">
            <a:off x="3720413" y="3259902"/>
            <a:ext cx="17517" cy="49258"/>
          </a:xfrm>
          <a:prstGeom prst="line">
            <a:avLst/>
          </a:prstGeom>
          <a:ln w="19050">
            <a:solidFill>
              <a:srgbClr val="767676"/>
            </a:solidFill>
          </a:ln>
        </p:spPr>
      </p:cxnSp>
      <p:cxnSp>
        <p:nvCxnSpPr>
          <p:cNvPr id="18" name="Connector 17"/>
          <p:cNvCxnSpPr/>
          <p:nvPr/>
        </p:nvCxnSpPr>
        <p:spPr>
          <a:xfrm flipH="1" flipV="1">
            <a:off x="3434716" y="2744984"/>
            <a:ext cx="175678" cy="285296"/>
          </a:xfrm>
          <a:prstGeom prst="line">
            <a:avLst/>
          </a:prstGeom>
          <a:ln w="19050">
            <a:solidFill>
              <a:srgbClr val="767676"/>
            </a:solidFill>
            <a:tailEnd type="triangle" w="med" len="med"/>
          </a:ln>
        </p:spPr>
      </p:cxnSp>
      <p:cxnSp>
        <p:nvCxnSpPr>
          <p:cNvPr id="19" name="Connector 18"/>
          <p:cNvCxnSpPr/>
          <p:nvPr/>
        </p:nvCxnSpPr>
        <p:spPr>
          <a:xfrm flipH="1" flipV="1">
            <a:off x="3043146" y="2315795"/>
            <a:ext cx="233329" cy="230262"/>
          </a:xfrm>
          <a:prstGeom prst="line">
            <a:avLst/>
          </a:prstGeom>
          <a:ln w="19050">
            <a:solidFill>
              <a:srgbClr val="767676"/>
            </a:solidFill>
            <a:tailEnd type="triangle" w="med" len="med"/>
          </a:ln>
        </p:spPr>
      </p:cxnSp>
      <p:sp>
        <p:nvSpPr>
          <p:cNvPr id="20" name="Oval 19"/>
          <p:cNvSpPr/>
          <p:nvPr/>
        </p:nvSpPr>
        <p:spPr>
          <a:xfrm>
            <a:off x="8752120" y="3972361"/>
            <a:ext cx="246888" cy="246888"/>
          </a:xfrm>
          <a:prstGeom prst="ellipse">
            <a:avLst/>
          </a:prstGeom>
          <a:solidFill>
            <a:srgbClr val="FFFFFF"/>
          </a:solidFill>
          <a:ln w="22225">
            <a:solidFill>
              <a:srgbClr val="767676"/>
            </a:solidFill>
          </a:ln>
          <a:effectLst/>
        </p:spPr>
        <p:txBody>
          <a:bodyPr rtlCol="0" anchor="ctr" wrap="none" lIns="0" rIns="0" tIns="0" bIns="0">
            <a:noAutofit/>
          </a:bodyPr>
          <a:lstStyle/>
          <a:p>
            <a:pPr algn="ctr">
              <a:spcBef>
                <a:spcPts val="0"/>
              </a:spcBef>
              <a:spcAft>
                <a:spcPts val="0"/>
              </a:spcAft>
            </a:pPr>
            <a:r>
              <a:rPr lang="tr-TR" sz="1200" b="1" i="0">
                <a:solidFill>
                  <a:srgbClr val="767676"/>
                </a:solidFill>
                <a:latin typeface="Calibri"/>
              </a:rPr>
              <a:t>-</a:t>
            </a:r>
          </a:p>
        </p:txBody>
      </p:sp>
      <p:sp>
        <p:nvSpPr>
          <p:cNvPr id="21" name="Oval 20"/>
          <p:cNvSpPr/>
          <p:nvPr/>
        </p:nvSpPr>
        <p:spPr>
          <a:xfrm>
            <a:off x="8441029" y="3877214"/>
            <a:ext cx="246888" cy="246888"/>
          </a:xfrm>
          <a:prstGeom prst="ellipse">
            <a:avLst/>
          </a:prstGeom>
          <a:solidFill>
            <a:srgbClr val="FFFFFF"/>
          </a:solidFill>
          <a:ln w="22225">
            <a:solidFill>
              <a:srgbClr val="767676"/>
            </a:solidFill>
          </a:ln>
          <a:effectLst/>
        </p:spPr>
        <p:txBody>
          <a:bodyPr rtlCol="0" anchor="ctr" wrap="none" lIns="0" rIns="0" tIns="0" bIns="0">
            <a:noAutofit/>
          </a:bodyPr>
          <a:lstStyle/>
          <a:p>
            <a:pPr algn="ctr">
              <a:spcBef>
                <a:spcPts val="0"/>
              </a:spcBef>
              <a:spcAft>
                <a:spcPts val="0"/>
              </a:spcAft>
            </a:pPr>
            <a:r>
              <a:rPr lang="tr-TR" sz="1200" b="1" i="0">
                <a:solidFill>
                  <a:srgbClr val="767676"/>
                </a:solidFill>
                <a:latin typeface="Calibri"/>
              </a:rPr>
              <a:t>3</a:t>
            </a:r>
          </a:p>
        </p:txBody>
      </p:sp>
      <p:sp>
        <p:nvSpPr>
          <p:cNvPr id="22" name="Oval 21"/>
          <p:cNvSpPr/>
          <p:nvPr/>
        </p:nvSpPr>
        <p:spPr>
          <a:xfrm>
            <a:off x="8025077" y="3782067"/>
            <a:ext cx="246888" cy="246888"/>
          </a:xfrm>
          <a:prstGeom prst="ellipse">
            <a:avLst/>
          </a:prstGeom>
          <a:solidFill>
            <a:srgbClr val="FFFFFF"/>
          </a:solidFill>
          <a:ln w="22225">
            <a:solidFill>
              <a:srgbClr val="767676"/>
            </a:solidFill>
          </a:ln>
          <a:effectLst/>
        </p:spPr>
        <p:txBody>
          <a:bodyPr rtlCol="0" anchor="ctr" wrap="none" lIns="0" rIns="0" tIns="0" bIns="0">
            <a:noAutofit/>
          </a:bodyPr>
          <a:lstStyle/>
          <a:p>
            <a:pPr algn="ctr">
              <a:spcBef>
                <a:spcPts val="0"/>
              </a:spcBef>
              <a:spcAft>
                <a:spcPts val="0"/>
              </a:spcAft>
            </a:pPr>
            <a:r>
              <a:rPr lang="tr-TR" sz="1200" b="1" i="0">
                <a:solidFill>
                  <a:srgbClr val="767676"/>
                </a:solidFill>
                <a:latin typeface="Calibri"/>
              </a:rPr>
              <a:t>3</a:t>
            </a:r>
          </a:p>
        </p:txBody>
      </p:sp>
      <p:sp>
        <p:nvSpPr>
          <p:cNvPr id="23" name="Oval 22"/>
          <p:cNvSpPr/>
          <p:nvPr/>
        </p:nvSpPr>
        <p:spPr>
          <a:xfrm>
            <a:off x="7400566" y="3782067"/>
            <a:ext cx="246888" cy="246888"/>
          </a:xfrm>
          <a:prstGeom prst="ellipse">
            <a:avLst/>
          </a:prstGeom>
          <a:solidFill>
            <a:srgbClr val="FFFFFF"/>
          </a:solidFill>
          <a:ln w="22225">
            <a:solidFill>
              <a:srgbClr val="767676"/>
            </a:solidFill>
          </a:ln>
          <a:effectLst/>
        </p:spPr>
        <p:txBody>
          <a:bodyPr rtlCol="0" anchor="ctr" wrap="none" lIns="0" rIns="0" tIns="0" bIns="0">
            <a:noAutofit/>
          </a:bodyPr>
          <a:lstStyle/>
          <a:p>
            <a:pPr algn="ctr">
              <a:spcBef>
                <a:spcPts val="0"/>
              </a:spcBef>
              <a:spcAft>
                <a:spcPts val="0"/>
              </a:spcAft>
            </a:pPr>
            <a:r>
              <a:rPr lang="tr-TR" sz="1200" b="1" i="0">
                <a:solidFill>
                  <a:srgbClr val="767676"/>
                </a:solidFill>
                <a:latin typeface="Calibri"/>
              </a:rPr>
              <a:t>2</a:t>
            </a:r>
          </a:p>
        </p:txBody>
      </p:sp>
      <p:sp>
        <p:nvSpPr>
          <p:cNvPr id="24" name="Oval 23"/>
          <p:cNvSpPr/>
          <p:nvPr/>
        </p:nvSpPr>
        <p:spPr>
          <a:xfrm>
            <a:off x="6880140" y="3877214"/>
            <a:ext cx="246888" cy="246888"/>
          </a:xfrm>
          <a:prstGeom prst="ellipse">
            <a:avLst/>
          </a:prstGeom>
          <a:solidFill>
            <a:srgbClr val="FFFFFF"/>
          </a:solidFill>
          <a:ln w="22225">
            <a:solidFill>
              <a:srgbClr val="767676"/>
            </a:solidFill>
          </a:ln>
          <a:effectLst/>
        </p:spPr>
        <p:txBody>
          <a:bodyPr rtlCol="0" anchor="ctr" wrap="none" lIns="0" rIns="0" tIns="0" bIns="0">
            <a:noAutofit/>
          </a:bodyPr>
          <a:lstStyle/>
          <a:p>
            <a:pPr algn="ctr">
              <a:spcBef>
                <a:spcPts val="0"/>
              </a:spcBef>
              <a:spcAft>
                <a:spcPts val="0"/>
              </a:spcAft>
            </a:pPr>
            <a:r>
              <a:rPr lang="tr-TR" sz="1200" b="1" i="0">
                <a:solidFill>
                  <a:srgbClr val="767676"/>
                </a:solidFill>
                <a:latin typeface="Calibri"/>
              </a:rPr>
              <a:t>3</a:t>
            </a:r>
          </a:p>
        </p:txBody>
      </p:sp>
      <p:sp>
        <p:nvSpPr>
          <p:cNvPr id="25" name="Oval 24"/>
          <p:cNvSpPr/>
          <p:nvPr/>
        </p:nvSpPr>
        <p:spPr>
          <a:xfrm>
            <a:off x="6361267" y="3972361"/>
            <a:ext cx="246888" cy="246888"/>
          </a:xfrm>
          <a:prstGeom prst="ellipse">
            <a:avLst/>
          </a:prstGeom>
          <a:solidFill>
            <a:srgbClr val="D3373A"/>
          </a:solidFill>
          <a:ln w="22225">
            <a:solidFill>
              <a:srgbClr val="D3373A"/>
            </a:solidFill>
          </a:ln>
          <a:effectLst/>
        </p:spPr>
        <p:txBody>
          <a:bodyPr rtlCol="0" anchor="ctr" wrap="none" lIns="0" rIns="0" tIns="0" bIns="0">
            <a:noAutofit/>
          </a:bodyPr>
          <a:lstStyle/>
          <a:p>
            <a:pPr algn="ctr">
              <a:spcBef>
                <a:spcPts val="0"/>
              </a:spcBef>
              <a:spcAft>
                <a:spcPts val="0"/>
              </a:spcAft>
            </a:pPr>
            <a:r>
              <a:rPr lang="tr-TR" sz="1200" b="1" i="0">
                <a:solidFill>
                  <a:srgbClr val="FFFFFF"/>
                </a:solidFill>
                <a:latin typeface="Calibri"/>
              </a:rPr>
              <a:t>4</a:t>
            </a:r>
          </a:p>
        </p:txBody>
      </p:sp>
      <p:sp>
        <p:nvSpPr>
          <p:cNvPr id="26" name="Oval 25"/>
          <p:cNvSpPr/>
          <p:nvPr/>
        </p:nvSpPr>
        <p:spPr>
          <a:xfrm>
            <a:off x="5841230" y="3877214"/>
            <a:ext cx="246888" cy="246888"/>
          </a:xfrm>
          <a:prstGeom prst="ellipse">
            <a:avLst/>
          </a:prstGeom>
          <a:solidFill>
            <a:srgbClr val="D3373A"/>
          </a:solidFill>
          <a:ln w="22225">
            <a:solidFill>
              <a:srgbClr val="D3373A"/>
            </a:solidFill>
          </a:ln>
          <a:effectLst/>
        </p:spPr>
        <p:txBody>
          <a:bodyPr rtlCol="0" anchor="ctr" wrap="none" lIns="0" rIns="0" tIns="0" bIns="0">
            <a:noAutofit/>
          </a:bodyPr>
          <a:lstStyle/>
          <a:p>
            <a:pPr algn="ctr">
              <a:spcBef>
                <a:spcPts val="0"/>
              </a:spcBef>
              <a:spcAft>
                <a:spcPts val="0"/>
              </a:spcAft>
            </a:pPr>
            <a:r>
              <a:rPr lang="tr-TR" sz="1200" b="1" i="0">
                <a:solidFill>
                  <a:srgbClr val="FFFFFF"/>
                </a:solidFill>
                <a:latin typeface="Calibri"/>
              </a:rPr>
              <a:t>5</a:t>
            </a:r>
          </a:p>
        </p:txBody>
      </p:sp>
      <p:sp>
        <p:nvSpPr>
          <p:cNvPr id="27" name="Oval 26"/>
          <p:cNvSpPr/>
          <p:nvPr/>
        </p:nvSpPr>
        <p:spPr>
          <a:xfrm>
            <a:off x="5216718" y="3782067"/>
            <a:ext cx="246888" cy="246888"/>
          </a:xfrm>
          <a:prstGeom prst="ellipse">
            <a:avLst/>
          </a:prstGeom>
          <a:solidFill>
            <a:srgbClr val="D3373A"/>
          </a:solidFill>
          <a:ln w="22225">
            <a:solidFill>
              <a:srgbClr val="D3373A"/>
            </a:solidFill>
          </a:ln>
          <a:effectLst/>
        </p:spPr>
        <p:txBody>
          <a:bodyPr rtlCol="0" anchor="ctr" wrap="none" lIns="0" rIns="0" tIns="0" bIns="0">
            <a:noAutofit/>
          </a:bodyPr>
          <a:lstStyle/>
          <a:p>
            <a:pPr algn="ctr">
              <a:spcBef>
                <a:spcPts val="0"/>
              </a:spcBef>
              <a:spcAft>
                <a:spcPts val="0"/>
              </a:spcAft>
            </a:pPr>
            <a:r>
              <a:rPr lang="tr-TR" sz="1200" b="1" i="0">
                <a:solidFill>
                  <a:srgbClr val="FFFFFF"/>
                </a:solidFill>
                <a:latin typeface="Calibri"/>
              </a:rPr>
              <a:t>5</a:t>
            </a:r>
          </a:p>
        </p:txBody>
      </p:sp>
      <p:sp>
        <p:nvSpPr>
          <p:cNvPr id="28" name="Oval 27"/>
          <p:cNvSpPr/>
          <p:nvPr/>
        </p:nvSpPr>
        <p:spPr>
          <a:xfrm>
            <a:off x="4594149" y="3591773"/>
            <a:ext cx="246888" cy="246888"/>
          </a:xfrm>
          <a:prstGeom prst="ellipse">
            <a:avLst/>
          </a:prstGeom>
          <a:solidFill>
            <a:srgbClr val="D3373A"/>
          </a:solidFill>
          <a:ln w="22225">
            <a:solidFill>
              <a:srgbClr val="D3373A"/>
            </a:solidFill>
          </a:ln>
          <a:effectLst/>
        </p:spPr>
        <p:txBody>
          <a:bodyPr rtlCol="0" anchor="ctr" wrap="none" lIns="0" rIns="0" tIns="0" bIns="0">
            <a:noAutofit/>
          </a:bodyPr>
          <a:lstStyle/>
          <a:p>
            <a:pPr algn="ctr">
              <a:spcBef>
                <a:spcPts val="0"/>
              </a:spcBef>
              <a:spcAft>
                <a:spcPts val="0"/>
              </a:spcAft>
            </a:pPr>
            <a:r>
              <a:rPr lang="tr-TR" sz="1200" b="1" i="0">
                <a:solidFill>
                  <a:srgbClr val="FFFFFF"/>
                </a:solidFill>
                <a:latin typeface="Calibri"/>
              </a:rPr>
              <a:t>5</a:t>
            </a:r>
          </a:p>
        </p:txBody>
      </p:sp>
      <p:sp>
        <p:nvSpPr>
          <p:cNvPr id="29" name="Oval 28"/>
          <p:cNvSpPr/>
          <p:nvPr/>
        </p:nvSpPr>
        <p:spPr>
          <a:xfrm>
            <a:off x="4073723" y="3401479"/>
            <a:ext cx="246888" cy="246888"/>
          </a:xfrm>
          <a:prstGeom prst="ellipse">
            <a:avLst/>
          </a:prstGeom>
          <a:solidFill>
            <a:srgbClr val="D3373A"/>
          </a:solidFill>
          <a:ln w="22225">
            <a:solidFill>
              <a:srgbClr val="D3373A"/>
            </a:solidFill>
          </a:ln>
          <a:effectLst/>
        </p:spPr>
        <p:txBody>
          <a:bodyPr rtlCol="0" anchor="ctr" wrap="none" lIns="0" rIns="0" tIns="0" bIns="0">
            <a:noAutofit/>
          </a:bodyPr>
          <a:lstStyle/>
          <a:p>
            <a:pPr algn="ctr">
              <a:spcBef>
                <a:spcPts val="0"/>
              </a:spcBef>
              <a:spcAft>
                <a:spcPts val="0"/>
              </a:spcAft>
            </a:pPr>
            <a:r>
              <a:rPr lang="tr-TR" sz="1200" b="1" i="0">
                <a:solidFill>
                  <a:srgbClr val="FFFFFF"/>
                </a:solidFill>
                <a:latin typeface="Calibri"/>
              </a:rPr>
              <a:t>4</a:t>
            </a:r>
          </a:p>
        </p:txBody>
      </p:sp>
      <p:sp>
        <p:nvSpPr>
          <p:cNvPr id="30" name="Oval 29"/>
          <p:cNvSpPr/>
          <p:nvPr/>
        </p:nvSpPr>
        <p:spPr>
          <a:xfrm>
            <a:off x="3657382" y="3306332"/>
            <a:ext cx="246888" cy="246888"/>
          </a:xfrm>
          <a:prstGeom prst="ellipse">
            <a:avLst/>
          </a:prstGeom>
          <a:solidFill>
            <a:srgbClr val="FFFFFF"/>
          </a:solidFill>
          <a:ln w="22225">
            <a:solidFill>
              <a:srgbClr val="767676"/>
            </a:solidFill>
          </a:ln>
          <a:effectLst/>
        </p:spPr>
        <p:txBody>
          <a:bodyPr rtlCol="0" anchor="ctr" wrap="none" lIns="0" rIns="0" tIns="0" bIns="0">
            <a:noAutofit/>
          </a:bodyPr>
          <a:lstStyle/>
          <a:p>
            <a:pPr algn="ctr">
              <a:spcBef>
                <a:spcPts val="0"/>
              </a:spcBef>
              <a:spcAft>
                <a:spcPts val="0"/>
              </a:spcAft>
            </a:pPr>
            <a:r>
              <a:rPr lang="tr-TR" sz="1200" b="1" i="0">
                <a:solidFill>
                  <a:srgbClr val="767676"/>
                </a:solidFill>
                <a:latin typeface="Calibri"/>
              </a:rPr>
              <a:t>3</a:t>
            </a:r>
          </a:p>
        </p:txBody>
      </p:sp>
      <p:sp>
        <p:nvSpPr>
          <p:cNvPr id="31" name="Oval 30"/>
          <p:cNvSpPr/>
          <p:nvPr/>
        </p:nvSpPr>
        <p:spPr>
          <a:xfrm>
            <a:off x="3554074" y="3015843"/>
            <a:ext cx="246888" cy="246888"/>
          </a:xfrm>
          <a:prstGeom prst="ellipse">
            <a:avLst/>
          </a:prstGeom>
          <a:solidFill>
            <a:srgbClr val="FFFFFF"/>
          </a:solidFill>
          <a:ln w="22225">
            <a:solidFill>
              <a:srgbClr val="767676"/>
            </a:solidFill>
          </a:ln>
          <a:effectLst/>
        </p:spPr>
        <p:txBody>
          <a:bodyPr rtlCol="0" anchor="ctr" wrap="none" lIns="0" rIns="0" tIns="0" bIns="0">
            <a:noAutofit/>
          </a:bodyPr>
          <a:lstStyle/>
          <a:p>
            <a:pPr algn="ctr">
              <a:spcBef>
                <a:spcPts val="0"/>
              </a:spcBef>
              <a:spcAft>
                <a:spcPts val="0"/>
              </a:spcAft>
            </a:pPr>
            <a:r>
              <a:rPr lang="tr-TR" sz="1200" b="1" i="0">
                <a:solidFill>
                  <a:srgbClr val="767676"/>
                </a:solidFill>
                <a:latin typeface="Calibri"/>
              </a:rPr>
              <a:t>2</a:t>
            </a:r>
          </a:p>
        </p:txBody>
      </p:sp>
      <p:sp>
        <p:nvSpPr>
          <p:cNvPr id="32" name="Oval 31"/>
          <p:cNvSpPr/>
          <p:nvPr/>
        </p:nvSpPr>
        <p:spPr>
          <a:xfrm>
            <a:off x="3244149" y="2512534"/>
            <a:ext cx="246888" cy="246888"/>
          </a:xfrm>
          <a:prstGeom prst="ellipse">
            <a:avLst/>
          </a:prstGeom>
          <a:solidFill>
            <a:srgbClr val="FFFFFF"/>
          </a:solidFill>
          <a:ln w="22225">
            <a:solidFill>
              <a:srgbClr val="767676"/>
            </a:solidFill>
          </a:ln>
          <a:effectLst/>
        </p:spPr>
        <p:txBody>
          <a:bodyPr rtlCol="0" anchor="ctr" wrap="none" lIns="0" rIns="0" tIns="0" bIns="0">
            <a:noAutofit/>
          </a:bodyPr>
          <a:lstStyle/>
          <a:p>
            <a:pPr algn="ctr">
              <a:spcBef>
                <a:spcPts val="0"/>
              </a:spcBef>
              <a:spcAft>
                <a:spcPts val="0"/>
              </a:spcAft>
            </a:pPr>
            <a:r>
              <a:rPr lang="tr-TR" sz="1200" b="1" i="0">
                <a:solidFill>
                  <a:srgbClr val="767676"/>
                </a:solidFill>
                <a:latin typeface="Calibri"/>
              </a:rPr>
              <a:t>-</a:t>
            </a:r>
          </a:p>
        </p:txBody>
      </p:sp>
      <p:sp>
        <p:nvSpPr>
          <p:cNvPr id="33" name="Oval 32"/>
          <p:cNvSpPr/>
          <p:nvPr/>
        </p:nvSpPr>
        <p:spPr>
          <a:xfrm>
            <a:off x="2828585" y="2102431"/>
            <a:ext cx="246888" cy="246888"/>
          </a:xfrm>
          <a:prstGeom prst="ellipse">
            <a:avLst/>
          </a:prstGeom>
          <a:solidFill>
            <a:srgbClr val="FFFFFF"/>
          </a:solidFill>
          <a:ln w="22225">
            <a:solidFill>
              <a:srgbClr val="767676"/>
            </a:solidFill>
          </a:ln>
          <a:effectLst/>
        </p:spPr>
        <p:txBody>
          <a:bodyPr rtlCol="0" anchor="ctr" wrap="none" lIns="0" rIns="0" tIns="0" bIns="0">
            <a:noAutofit/>
          </a:bodyPr>
          <a:lstStyle/>
          <a:p>
            <a:pPr algn="ctr">
              <a:spcBef>
                <a:spcPts val="0"/>
              </a:spcBef>
              <a:spcAft>
                <a:spcPts val="0"/>
              </a:spcAft>
            </a:pPr>
            <a:r>
              <a:rPr lang="tr-TR" sz="1200" b="1" i="0">
                <a:solidFill>
                  <a:srgbClr val="767676"/>
                </a:solidFill>
                <a:latin typeface="Calibri"/>
              </a:rPr>
              <a:t>-</a:t>
            </a:r>
          </a:p>
        </p:txBody>
      </p:sp>
      <p:cxnSp>
        <p:nvCxnSpPr>
          <p:cNvPr id="34" name="Connector 33"/>
          <p:cNvCxnSpPr/>
          <p:nvPr/>
        </p:nvCxnSpPr>
        <p:spPr>
          <a:xfrm flipH="1" flipV="1">
            <a:off x="5673235" y="3981629"/>
            <a:ext cx="395524" cy="283266"/>
          </a:xfrm>
          <a:prstGeom prst="line">
            <a:avLst/>
          </a:prstGeom>
          <a:ln w="19050">
            <a:solidFill>
              <a:srgbClr val="2C6696"/>
            </a:solidFill>
          </a:ln>
        </p:spPr>
      </p:cxnSp>
      <p:sp>
        <p:nvSpPr>
          <p:cNvPr id="35" name="Oval 34"/>
          <p:cNvSpPr/>
          <p:nvPr/>
        </p:nvSpPr>
        <p:spPr>
          <a:xfrm>
            <a:off x="5632087" y="3940481"/>
            <a:ext cx="82296" cy="82296"/>
          </a:xfrm>
          <a:prstGeom prst="ellipse">
            <a:avLst/>
          </a:prstGeom>
          <a:solidFill>
            <a:srgbClr val="2C6696"/>
          </a:solidFill>
          <a:ln>
            <a:noFill/>
          </a:ln>
          <a:effectLst/>
        </p:spPr>
        <p:txBody>
          <a:bodyPr rtlCol="0" anchor="ctr"/>
          <a:lstStyle/>
          <a:p/>
        </p:txBody>
      </p:sp>
      <p:sp>
        <p:nvSpPr>
          <p:cNvPr id="36" name="Rounded Rectangle 35"/>
          <p:cNvSpPr/>
          <p:nvPr/>
        </p:nvSpPr>
        <p:spPr>
          <a:xfrm>
            <a:off x="5931599" y="4127735"/>
            <a:ext cx="274320" cy="274320"/>
          </a:xfrm>
          <a:prstGeom prst="roundRect">
            <a:avLst>
              <a:gd name="adj" fmla="val 18000"/>
            </a:avLst>
          </a:prstGeom>
          <a:solidFill>
            <a:srgbClr val="2C6696"/>
          </a:solidFill>
          <a:ln>
            <a:noFill/>
          </a:ln>
          <a:effectLst/>
        </p:spPr>
        <p:txBody>
          <a:bodyPr rtlCol="0" anchor="ctr" wrap="square" lIns="0" rIns="0" tIns="0" bIns="0">
            <a:noAutofit/>
          </a:bodyPr>
          <a:lstStyle/>
          <a:p>
            <a:pPr algn="ctr">
              <a:spcBef>
                <a:spcPts val="0"/>
              </a:spcBef>
              <a:spcAft>
                <a:spcPts val="0"/>
              </a:spcAft>
            </a:pPr>
            <a:r>
              <a:rPr lang="tr-TR" sz="1300" b="1" i="0">
                <a:solidFill>
                  <a:srgbClr val="FFFFFF"/>
                </a:solidFill>
                <a:latin typeface="Calibri"/>
              </a:rPr>
              <a:t>1</a:t>
            </a:r>
          </a:p>
        </p:txBody>
      </p:sp>
      <p:cxnSp>
        <p:nvCxnSpPr>
          <p:cNvPr id="37" name="Connector 36"/>
          <p:cNvCxnSpPr/>
          <p:nvPr/>
        </p:nvCxnSpPr>
        <p:spPr>
          <a:xfrm flipH="1" flipV="1">
            <a:off x="5194987" y="3895997"/>
            <a:ext cx="10370" cy="256897"/>
          </a:xfrm>
          <a:prstGeom prst="line">
            <a:avLst/>
          </a:prstGeom>
          <a:ln w="19050">
            <a:solidFill>
              <a:srgbClr val="2C6696"/>
            </a:solidFill>
          </a:ln>
        </p:spPr>
      </p:cxnSp>
      <p:sp>
        <p:nvSpPr>
          <p:cNvPr id="38" name="Oval 37"/>
          <p:cNvSpPr/>
          <p:nvPr/>
        </p:nvSpPr>
        <p:spPr>
          <a:xfrm>
            <a:off x="5153839" y="3854849"/>
            <a:ext cx="82296" cy="82296"/>
          </a:xfrm>
          <a:prstGeom prst="ellipse">
            <a:avLst/>
          </a:prstGeom>
          <a:solidFill>
            <a:srgbClr val="2C6696"/>
          </a:solidFill>
          <a:ln>
            <a:noFill/>
          </a:ln>
          <a:effectLst/>
        </p:spPr>
        <p:txBody>
          <a:bodyPr rtlCol="0" anchor="ctr"/>
          <a:lstStyle/>
          <a:p/>
        </p:txBody>
      </p:sp>
      <p:sp>
        <p:nvSpPr>
          <p:cNvPr id="39" name="Rounded Rectangle 38"/>
          <p:cNvSpPr/>
          <p:nvPr/>
        </p:nvSpPr>
        <p:spPr>
          <a:xfrm>
            <a:off x="5068197" y="4015734"/>
            <a:ext cx="274320" cy="274320"/>
          </a:xfrm>
          <a:prstGeom prst="roundRect">
            <a:avLst>
              <a:gd name="adj" fmla="val 18000"/>
            </a:avLst>
          </a:prstGeom>
          <a:solidFill>
            <a:srgbClr val="2C6696"/>
          </a:solidFill>
          <a:ln>
            <a:noFill/>
          </a:ln>
          <a:effectLst/>
        </p:spPr>
        <p:txBody>
          <a:bodyPr rtlCol="0" anchor="ctr" wrap="square" lIns="0" rIns="0" tIns="0" bIns="0">
            <a:noAutofit/>
          </a:bodyPr>
          <a:lstStyle/>
          <a:p>
            <a:pPr algn="ctr">
              <a:spcBef>
                <a:spcPts val="0"/>
              </a:spcBef>
              <a:spcAft>
                <a:spcPts val="0"/>
              </a:spcAft>
            </a:pPr>
            <a:r>
              <a:rPr lang="tr-TR" sz="1300" b="1" i="0">
                <a:solidFill>
                  <a:srgbClr val="FFFFFF"/>
                </a:solidFill>
                <a:latin typeface="Calibri"/>
              </a:rPr>
              <a:t>2</a:t>
            </a:r>
          </a:p>
        </p:txBody>
      </p:sp>
      <p:cxnSp>
        <p:nvCxnSpPr>
          <p:cNvPr id="40" name="Connector 39"/>
          <p:cNvCxnSpPr/>
          <p:nvPr/>
        </p:nvCxnSpPr>
        <p:spPr>
          <a:xfrm flipH="1" flipV="1">
            <a:off x="4780044" y="3838908"/>
            <a:ext cx="10409" cy="256897"/>
          </a:xfrm>
          <a:prstGeom prst="line">
            <a:avLst/>
          </a:prstGeom>
          <a:ln w="19050">
            <a:solidFill>
              <a:srgbClr val="2C6696"/>
            </a:solidFill>
          </a:ln>
        </p:spPr>
      </p:cxnSp>
      <p:sp>
        <p:nvSpPr>
          <p:cNvPr id="41" name="Oval 40"/>
          <p:cNvSpPr/>
          <p:nvPr/>
        </p:nvSpPr>
        <p:spPr>
          <a:xfrm>
            <a:off x="4738896" y="3797760"/>
            <a:ext cx="82296" cy="82296"/>
          </a:xfrm>
          <a:prstGeom prst="ellipse">
            <a:avLst/>
          </a:prstGeom>
          <a:solidFill>
            <a:srgbClr val="2C6696"/>
          </a:solidFill>
          <a:ln>
            <a:noFill/>
          </a:ln>
          <a:effectLst/>
        </p:spPr>
        <p:txBody>
          <a:bodyPr rtlCol="0" anchor="ctr"/>
          <a:lstStyle/>
          <a:p/>
        </p:txBody>
      </p:sp>
      <p:sp>
        <p:nvSpPr>
          <p:cNvPr id="42" name="Rounded Rectangle 41"/>
          <p:cNvSpPr/>
          <p:nvPr/>
        </p:nvSpPr>
        <p:spPr>
          <a:xfrm>
            <a:off x="4653293" y="3958645"/>
            <a:ext cx="274320" cy="274320"/>
          </a:xfrm>
          <a:prstGeom prst="roundRect">
            <a:avLst>
              <a:gd name="adj" fmla="val 18000"/>
            </a:avLst>
          </a:prstGeom>
          <a:solidFill>
            <a:srgbClr val="2C6696"/>
          </a:solidFill>
          <a:ln>
            <a:noFill/>
          </a:ln>
          <a:effectLst/>
        </p:spPr>
        <p:txBody>
          <a:bodyPr rtlCol="0" anchor="ctr" wrap="square" lIns="0" rIns="0" tIns="0" bIns="0">
            <a:noAutofit/>
          </a:bodyPr>
          <a:lstStyle/>
          <a:p>
            <a:pPr algn="ctr">
              <a:spcBef>
                <a:spcPts val="0"/>
              </a:spcBef>
              <a:spcAft>
                <a:spcPts val="0"/>
              </a:spcAft>
            </a:pPr>
            <a:r>
              <a:rPr lang="tr-TR" sz="1300" b="1" i="0">
                <a:solidFill>
                  <a:srgbClr val="FFFFFF"/>
                </a:solidFill>
                <a:latin typeface="Calibri"/>
              </a:rPr>
              <a:t>3</a:t>
            </a:r>
          </a:p>
        </p:txBody>
      </p:sp>
      <p:cxnSp>
        <p:nvCxnSpPr>
          <p:cNvPr id="43" name="Connector 42"/>
          <p:cNvCxnSpPr/>
          <p:nvPr/>
        </p:nvCxnSpPr>
        <p:spPr>
          <a:xfrm flipV="1">
            <a:off x="4374112" y="3819879"/>
            <a:ext cx="166536" cy="237868"/>
          </a:xfrm>
          <a:prstGeom prst="line">
            <a:avLst/>
          </a:prstGeom>
          <a:ln w="19050">
            <a:solidFill>
              <a:srgbClr val="2C6696"/>
            </a:solidFill>
          </a:ln>
        </p:spPr>
      </p:cxnSp>
      <p:sp>
        <p:nvSpPr>
          <p:cNvPr id="44" name="Oval 43"/>
          <p:cNvSpPr/>
          <p:nvPr/>
        </p:nvSpPr>
        <p:spPr>
          <a:xfrm>
            <a:off x="4499500" y="3778731"/>
            <a:ext cx="82296" cy="82296"/>
          </a:xfrm>
          <a:prstGeom prst="ellipse">
            <a:avLst/>
          </a:prstGeom>
          <a:solidFill>
            <a:srgbClr val="2C6696"/>
          </a:solidFill>
          <a:ln>
            <a:noFill/>
          </a:ln>
          <a:effectLst/>
        </p:spPr>
        <p:txBody>
          <a:bodyPr rtlCol="0" anchor="ctr"/>
          <a:lstStyle/>
          <a:p/>
        </p:txBody>
      </p:sp>
      <p:sp>
        <p:nvSpPr>
          <p:cNvPr id="45" name="Rounded Rectangle 44"/>
          <p:cNvSpPr/>
          <p:nvPr/>
        </p:nvSpPr>
        <p:spPr>
          <a:xfrm>
            <a:off x="4236952" y="3920587"/>
            <a:ext cx="274320" cy="274320"/>
          </a:xfrm>
          <a:prstGeom prst="roundRect">
            <a:avLst>
              <a:gd name="adj" fmla="val 18000"/>
            </a:avLst>
          </a:prstGeom>
          <a:solidFill>
            <a:srgbClr val="2C6696"/>
          </a:solidFill>
          <a:ln>
            <a:noFill/>
          </a:ln>
          <a:effectLst/>
        </p:spPr>
        <p:txBody>
          <a:bodyPr rtlCol="0" anchor="ctr" wrap="square" lIns="0" rIns="0" tIns="0" bIns="0">
            <a:noAutofit/>
          </a:bodyPr>
          <a:lstStyle/>
          <a:p>
            <a:pPr algn="ctr">
              <a:spcBef>
                <a:spcPts val="0"/>
              </a:spcBef>
              <a:spcAft>
                <a:spcPts val="0"/>
              </a:spcAft>
            </a:pPr>
            <a:r>
              <a:rPr lang="tr-TR" sz="1300" b="1" i="0">
                <a:solidFill>
                  <a:srgbClr val="FFFFFF"/>
                </a:solidFill>
                <a:latin typeface="Calibri"/>
              </a:rPr>
              <a:t>4</a:t>
            </a:r>
          </a:p>
        </p:txBody>
      </p:sp>
      <p:cxnSp>
        <p:nvCxnSpPr>
          <p:cNvPr id="46" name="Connector 45"/>
          <p:cNvCxnSpPr/>
          <p:nvPr/>
        </p:nvCxnSpPr>
        <p:spPr>
          <a:xfrm flipV="1">
            <a:off x="3718841" y="3562982"/>
            <a:ext cx="186888" cy="228353"/>
          </a:xfrm>
          <a:prstGeom prst="line">
            <a:avLst/>
          </a:prstGeom>
          <a:ln w="19050">
            <a:solidFill>
              <a:srgbClr val="2C6696"/>
            </a:solidFill>
          </a:ln>
        </p:spPr>
      </p:cxnSp>
      <p:sp>
        <p:nvSpPr>
          <p:cNvPr id="47" name="Oval 46"/>
          <p:cNvSpPr/>
          <p:nvPr/>
        </p:nvSpPr>
        <p:spPr>
          <a:xfrm>
            <a:off x="3864581" y="3521834"/>
            <a:ext cx="82296" cy="82296"/>
          </a:xfrm>
          <a:prstGeom prst="ellipse">
            <a:avLst/>
          </a:prstGeom>
          <a:solidFill>
            <a:srgbClr val="2C6696"/>
          </a:solidFill>
          <a:ln>
            <a:noFill/>
          </a:ln>
          <a:effectLst/>
        </p:spPr>
        <p:txBody>
          <a:bodyPr rtlCol="0" anchor="ctr"/>
          <a:lstStyle/>
          <a:p/>
        </p:txBody>
      </p:sp>
      <p:sp>
        <p:nvSpPr>
          <p:cNvPr id="48" name="Rounded Rectangle 47"/>
          <p:cNvSpPr/>
          <p:nvPr/>
        </p:nvSpPr>
        <p:spPr>
          <a:xfrm>
            <a:off x="3581681" y="3654175"/>
            <a:ext cx="274320" cy="274320"/>
          </a:xfrm>
          <a:prstGeom prst="roundRect">
            <a:avLst>
              <a:gd name="adj" fmla="val 18000"/>
            </a:avLst>
          </a:prstGeom>
          <a:solidFill>
            <a:srgbClr val="2C6696"/>
          </a:solidFill>
          <a:ln>
            <a:noFill/>
          </a:ln>
          <a:effectLst/>
        </p:spPr>
        <p:txBody>
          <a:bodyPr rtlCol="0" anchor="ctr" wrap="square" lIns="0" rIns="0" tIns="0" bIns="0">
            <a:noAutofit/>
          </a:bodyPr>
          <a:lstStyle/>
          <a:p>
            <a:pPr algn="ctr">
              <a:spcBef>
                <a:spcPts val="0"/>
              </a:spcBef>
              <a:spcAft>
                <a:spcPts val="0"/>
              </a:spcAft>
            </a:pPr>
            <a:r>
              <a:rPr lang="tr-TR" sz="1300" b="1" i="0">
                <a:solidFill>
                  <a:srgbClr val="FFFFFF"/>
                </a:solidFill>
                <a:latin typeface="Calibri"/>
              </a:rPr>
              <a:t>5</a:t>
            </a:r>
          </a:p>
        </p:txBody>
      </p:sp>
      <p:cxnSp>
        <p:nvCxnSpPr>
          <p:cNvPr id="49" name="Connector 48"/>
          <p:cNvCxnSpPr/>
          <p:nvPr/>
        </p:nvCxnSpPr>
        <p:spPr>
          <a:xfrm flipH="1">
            <a:off x="4155533" y="3009032"/>
            <a:ext cx="333073" cy="268509"/>
          </a:xfrm>
          <a:prstGeom prst="line">
            <a:avLst/>
          </a:prstGeom>
          <a:ln w="19050">
            <a:solidFill>
              <a:srgbClr val="2C6696"/>
            </a:solidFill>
          </a:ln>
        </p:spPr>
      </p:cxnSp>
      <p:sp>
        <p:nvSpPr>
          <p:cNvPr id="50" name="Oval 49"/>
          <p:cNvSpPr/>
          <p:nvPr/>
        </p:nvSpPr>
        <p:spPr>
          <a:xfrm>
            <a:off x="4114385" y="3236393"/>
            <a:ext cx="82296" cy="82296"/>
          </a:xfrm>
          <a:prstGeom prst="ellipse">
            <a:avLst/>
          </a:prstGeom>
          <a:solidFill>
            <a:srgbClr val="2C6696"/>
          </a:solidFill>
          <a:ln>
            <a:noFill/>
          </a:ln>
          <a:effectLst/>
        </p:spPr>
        <p:txBody>
          <a:bodyPr rtlCol="0" anchor="ctr"/>
          <a:lstStyle/>
          <a:p/>
        </p:txBody>
      </p:sp>
      <p:sp>
        <p:nvSpPr>
          <p:cNvPr id="51" name="Rounded Rectangle 50"/>
          <p:cNvSpPr/>
          <p:nvPr/>
        </p:nvSpPr>
        <p:spPr>
          <a:xfrm>
            <a:off x="4351446" y="2871872"/>
            <a:ext cx="274320" cy="274320"/>
          </a:xfrm>
          <a:prstGeom prst="roundRect">
            <a:avLst>
              <a:gd name="adj" fmla="val 18000"/>
            </a:avLst>
          </a:prstGeom>
          <a:solidFill>
            <a:srgbClr val="2C6696"/>
          </a:solidFill>
          <a:ln>
            <a:noFill/>
          </a:ln>
          <a:effectLst/>
        </p:spPr>
        <p:txBody>
          <a:bodyPr rtlCol="0" anchor="ctr" wrap="square" lIns="0" rIns="0" tIns="0" bIns="0">
            <a:noAutofit/>
          </a:bodyPr>
          <a:lstStyle/>
          <a:p>
            <a:pPr algn="ctr">
              <a:spcBef>
                <a:spcPts val="0"/>
              </a:spcBef>
              <a:spcAft>
                <a:spcPts val="0"/>
              </a:spcAft>
            </a:pPr>
            <a:r>
              <a:rPr lang="tr-TR" sz="1300" b="1" i="0">
                <a:solidFill>
                  <a:srgbClr val="FFFFFF"/>
                </a:solidFill>
                <a:latin typeface="Calibri"/>
              </a:rPr>
              <a:t>6</a:t>
            </a:r>
          </a:p>
        </p:txBody>
      </p:sp>
      <p:sp>
        <p:nvSpPr>
          <p:cNvPr id="52" name="Rounded Rectangle 51"/>
          <p:cNvSpPr/>
          <p:nvPr/>
        </p:nvSpPr>
        <p:spPr>
          <a:xfrm>
            <a:off x="5808546" y="1769985"/>
            <a:ext cx="3015169" cy="1659791"/>
          </a:xfrm>
          <a:prstGeom prst="roundRect">
            <a:avLst>
              <a:gd name="adj" fmla="val 6000"/>
            </a:avLst>
          </a:prstGeom>
          <a:solidFill>
            <a:srgbClr val="E3F1E4"/>
          </a:solidFill>
          <a:ln>
            <a:noFill/>
          </a:ln>
          <a:effectLst/>
        </p:spPr>
        <p:txBody>
          <a:bodyPr rtlCol="0" anchor="ctr"/>
          <a:lstStyle/>
          <a:p/>
        </p:txBody>
      </p:sp>
      <p:sp>
        <p:nvSpPr>
          <p:cNvPr id="53" name="Rectangle 52"/>
          <p:cNvSpPr/>
          <p:nvPr/>
        </p:nvSpPr>
        <p:spPr>
          <a:xfrm>
            <a:off x="5808546" y="1769985"/>
            <a:ext cx="109728" cy="1659791"/>
          </a:xfrm>
          <a:prstGeom prst="rect">
            <a:avLst/>
          </a:prstGeom>
          <a:solidFill>
            <a:srgbClr val="2E7D32"/>
          </a:solidFill>
          <a:ln>
            <a:noFill/>
          </a:ln>
          <a:effectLst/>
        </p:spPr>
        <p:txBody>
          <a:bodyPr rtlCol="0" anchor="ctr"/>
          <a:lstStyle/>
          <a:p/>
        </p:txBody>
      </p:sp>
      <p:sp>
        <p:nvSpPr>
          <p:cNvPr id="54" name="TextBox 53"/>
          <p:cNvSpPr txBox="1"/>
          <p:nvPr/>
        </p:nvSpPr>
        <p:spPr>
          <a:xfrm>
            <a:off x="6037146" y="1824849"/>
            <a:ext cx="2695129" cy="1550063"/>
          </a:xfrm>
          <a:prstGeom prst="rect">
            <a:avLst/>
          </a:prstGeom>
          <a:noFill/>
        </p:spPr>
        <p:txBody>
          <a:bodyPr wrap="square" anchor="ctr" lIns="73152" rIns="73152" tIns="36576" bIns="36576">
            <a:noAutofit/>
          </a:bodyPr>
          <a:lstStyle/>
          <a:p>
            <a:pPr algn="l">
              <a:spcBef>
                <a:spcPts val="0"/>
              </a:spcBef>
              <a:spcAft>
                <a:spcPts val="314"/>
              </a:spcAft>
            </a:pPr>
            <a:r>
              <a:rPr lang="tr-TR" sz="1100" b="1" i="0">
                <a:solidFill>
                  <a:srgbClr val="2E7D32"/>
                </a:solidFill>
                <a:latin typeface="Calibri"/>
              </a:rPr>
              <a:t>c · En etkili olduğu ülkeler (kırmızı yol: 4-5. kategori)</a:t>
            </a:r>
          </a:p>
          <a:p>
            <a:pPr algn="l">
              <a:spcBef>
                <a:spcPts val="0"/>
              </a:spcBef>
              <a:spcAft>
                <a:spcPts val="78"/>
              </a:spcAft>
            </a:pPr>
            <a:r>
              <a:rPr lang="tr-TR" sz="1100" b="1" i="0">
                <a:solidFill>
                  <a:srgbClr val="262626"/>
                </a:solidFill>
                <a:latin typeface="Calibri"/>
              </a:rPr>
              <a:t>1</a:t>
            </a:r>
            <a:r>
              <a:rPr lang="tr-TR" sz="1100" b="0" i="0">
                <a:solidFill>
                  <a:srgbClr val="262626"/>
                </a:solidFill>
                <a:latin typeface="Calibri"/>
              </a:rPr>
              <a:t> Antigua ve Barbuda</a:t>
            </a:r>
          </a:p>
          <a:p>
            <a:pPr algn="l">
              <a:spcBef>
                <a:spcPts val="0"/>
              </a:spcBef>
              <a:spcAft>
                <a:spcPts val="78"/>
              </a:spcAft>
            </a:pPr>
            <a:r>
              <a:rPr lang="tr-TR" sz="1100" b="1" i="0">
                <a:solidFill>
                  <a:srgbClr val="262626"/>
                </a:solidFill>
                <a:latin typeface="Calibri"/>
              </a:rPr>
              <a:t>2</a:t>
            </a:r>
            <a:r>
              <a:rPr lang="tr-TR" sz="1100" b="0" i="0">
                <a:solidFill>
                  <a:srgbClr val="262626"/>
                </a:solidFill>
                <a:latin typeface="Calibri"/>
              </a:rPr>
              <a:t> Porto Riko (ABD'ye bağlı)</a:t>
            </a:r>
          </a:p>
          <a:p>
            <a:pPr algn="l">
              <a:spcBef>
                <a:spcPts val="0"/>
              </a:spcBef>
              <a:spcAft>
                <a:spcPts val="78"/>
              </a:spcAft>
            </a:pPr>
            <a:r>
              <a:rPr lang="tr-TR" sz="1100" b="1" i="0">
                <a:solidFill>
                  <a:srgbClr val="262626"/>
                </a:solidFill>
                <a:latin typeface="Calibri"/>
              </a:rPr>
              <a:t>3</a:t>
            </a:r>
            <a:r>
              <a:rPr lang="tr-TR" sz="1100" b="0" i="0">
                <a:solidFill>
                  <a:srgbClr val="262626"/>
                </a:solidFill>
                <a:latin typeface="Calibri"/>
              </a:rPr>
              <a:t> Dominik Cumhuriyeti</a:t>
            </a:r>
          </a:p>
          <a:p>
            <a:pPr algn="l">
              <a:spcBef>
                <a:spcPts val="0"/>
              </a:spcBef>
              <a:spcAft>
                <a:spcPts val="78"/>
              </a:spcAft>
            </a:pPr>
            <a:r>
              <a:rPr lang="tr-TR" sz="1100" b="1" i="0">
                <a:solidFill>
                  <a:srgbClr val="262626"/>
                </a:solidFill>
                <a:latin typeface="Calibri"/>
              </a:rPr>
              <a:t>4</a:t>
            </a:r>
            <a:r>
              <a:rPr lang="tr-TR" sz="1100" b="0" i="0">
                <a:solidFill>
                  <a:srgbClr val="262626"/>
                </a:solidFill>
                <a:latin typeface="Calibri"/>
              </a:rPr>
              <a:t> Haiti</a:t>
            </a:r>
          </a:p>
          <a:p>
            <a:pPr algn="l">
              <a:spcBef>
                <a:spcPts val="0"/>
              </a:spcBef>
              <a:spcAft>
                <a:spcPts val="78"/>
              </a:spcAft>
            </a:pPr>
            <a:r>
              <a:rPr lang="tr-TR" sz="1100" b="1" i="0">
                <a:solidFill>
                  <a:srgbClr val="262626"/>
                </a:solidFill>
                <a:latin typeface="Calibri"/>
              </a:rPr>
              <a:t>5</a:t>
            </a:r>
            <a:r>
              <a:rPr lang="tr-TR" sz="1100" b="0" i="0">
                <a:solidFill>
                  <a:srgbClr val="262626"/>
                </a:solidFill>
                <a:latin typeface="Calibri"/>
              </a:rPr>
              <a:t> Küba</a:t>
            </a:r>
          </a:p>
          <a:p>
            <a:pPr algn="l">
              <a:spcBef>
                <a:spcPts val="0"/>
              </a:spcBef>
              <a:spcAft>
                <a:spcPts val="0"/>
              </a:spcAft>
            </a:pPr>
            <a:r>
              <a:rPr lang="tr-TR" sz="1100" b="1" i="0">
                <a:solidFill>
                  <a:srgbClr val="262626"/>
                </a:solidFill>
                <a:latin typeface="Calibri"/>
              </a:rPr>
              <a:t>6</a:t>
            </a:r>
            <a:r>
              <a:rPr lang="tr-TR" sz="1100" b="0" i="0">
                <a:solidFill>
                  <a:srgbClr val="262626"/>
                </a:solidFill>
                <a:latin typeface="Calibri"/>
              </a:rPr>
              <a:t> Bahamalar</a:t>
            </a:r>
          </a:p>
        </p:txBody>
      </p:sp>
      <p:sp>
        <p:nvSpPr>
          <p:cNvPr id="55" name="TextBox 5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56" name="Rounded Rectangle 5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34</a:t>
            </a:r>
          </a:p>
        </p:txBody>
      </p:sp>
      <p:sp>
        <p:nvSpPr>
          <p:cNvPr id="57" name="TextBox 5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 / 226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Konuya başlarken: güvercinden uyduya</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KONUYA BAŞLARKEN</a:t>
            </a:r>
          </a:p>
        </p:txBody>
      </p:sp>
      <p:pic>
        <p:nvPicPr>
          <p:cNvPr id="6" name="Picture 5" descr="kb_guvercin_s35.jpg"/>
          <p:cNvPicPr>
            <a:picLocks noChangeAspect="1"/>
          </p:cNvPicPr>
          <p:nvPr/>
        </p:nvPicPr>
        <p:blipFill>
          <a:blip r:embed="rId3"/>
          <a:stretch>
            <a:fillRect/>
          </a:stretch>
        </p:blipFill>
        <p:spPr>
          <a:xfrm>
            <a:off x="540067" y="1261872"/>
            <a:ext cx="2303145" cy="2743200"/>
          </a:xfrm>
          <a:prstGeom prst="rect">
            <a:avLst/>
          </a:prstGeom>
          <a:ln w="9525">
            <a:solidFill>
              <a:srgbClr val="D9D9D9"/>
            </a:solidFill>
          </a:ln>
        </p:spPr>
      </p:pic>
      <p:pic>
        <p:nvPicPr>
          <p:cNvPr id="7" name="Picture 6" descr="kb_gokturk_s35.jpg"/>
          <p:cNvPicPr>
            <a:picLocks noChangeAspect="1"/>
          </p:cNvPicPr>
          <p:nvPr/>
        </p:nvPicPr>
        <p:blipFill>
          <a:blip r:embed="rId4"/>
          <a:stretch>
            <a:fillRect/>
          </a:stretch>
        </p:blipFill>
        <p:spPr>
          <a:xfrm>
            <a:off x="3126011" y="1261872"/>
            <a:ext cx="3074857" cy="2743200"/>
          </a:xfrm>
          <a:prstGeom prst="rect">
            <a:avLst/>
          </a:prstGeom>
          <a:ln w="9525">
            <a:solidFill>
              <a:srgbClr val="D9D9D9"/>
            </a:solidFill>
          </a:ln>
        </p:spPr>
      </p:pic>
      <p:sp>
        <p:nvSpPr>
          <p:cNvPr id="8" name="TextBox 7"/>
          <p:cNvSpPr txBox="1"/>
          <p:nvPr/>
        </p:nvSpPr>
        <p:spPr>
          <a:xfrm>
            <a:off x="502920" y="4050792"/>
            <a:ext cx="2377440" cy="457200"/>
          </a:xfrm>
          <a:prstGeom prst="rect">
            <a:avLst/>
          </a:prstGeom>
          <a:noFill/>
        </p:spPr>
        <p:txBody>
          <a:bodyPr wrap="square" anchor="t" lIns="73152" rIns="73152" tIns="36576" bIns="36576">
            <a:noAutofit/>
          </a:bodyPr>
          <a:lstStyle/>
          <a:p>
            <a:pPr algn="ctr">
              <a:spcBef>
                <a:spcPts val="0"/>
              </a:spcBef>
              <a:spcAft>
                <a:spcPts val="0"/>
              </a:spcAft>
            </a:pPr>
            <a:r>
              <a:rPr lang="tr-TR" sz="1200" b="0" i="1">
                <a:solidFill>
                  <a:srgbClr val="767676"/>
                </a:solidFill>
                <a:latin typeface="Calibri"/>
              </a:rPr>
              <a:t>Hava fotoğrafı çekmesi için kamera takılan güvercin (1903)</a:t>
            </a:r>
          </a:p>
        </p:txBody>
      </p:sp>
      <p:sp>
        <p:nvSpPr>
          <p:cNvPr id="9" name="TextBox 8"/>
          <p:cNvSpPr txBox="1"/>
          <p:nvPr/>
        </p:nvSpPr>
        <p:spPr>
          <a:xfrm>
            <a:off x="3017520" y="4050792"/>
            <a:ext cx="3291840" cy="457200"/>
          </a:xfrm>
          <a:prstGeom prst="rect">
            <a:avLst/>
          </a:prstGeom>
          <a:noFill/>
        </p:spPr>
        <p:txBody>
          <a:bodyPr wrap="square" anchor="t" lIns="73152" rIns="73152" tIns="36576" bIns="36576">
            <a:noAutofit/>
          </a:bodyPr>
          <a:lstStyle/>
          <a:p>
            <a:pPr algn="ctr">
              <a:spcBef>
                <a:spcPts val="0"/>
              </a:spcBef>
              <a:spcAft>
                <a:spcPts val="0"/>
              </a:spcAft>
            </a:pPr>
            <a:r>
              <a:rPr lang="tr-TR" sz="1300" b="0" i="1">
                <a:solidFill>
                  <a:srgbClr val="767676"/>
                </a:solidFill>
                <a:latin typeface="Calibri"/>
              </a:rPr>
              <a:t>Göktürk-2 uydusu</a:t>
            </a:r>
          </a:p>
        </p:txBody>
      </p:sp>
      <p:sp>
        <p:nvSpPr>
          <p:cNvPr id="10" name="TextBox 9"/>
          <p:cNvSpPr txBox="1"/>
          <p:nvPr/>
        </p:nvSpPr>
        <p:spPr>
          <a:xfrm>
            <a:off x="6537960" y="1216152"/>
            <a:ext cx="5150815" cy="3291840"/>
          </a:xfrm>
          <a:prstGeom prst="rect">
            <a:avLst/>
          </a:prstGeom>
          <a:noFill/>
        </p:spPr>
        <p:txBody>
          <a:bodyPr wrap="square" anchor="ctr" lIns="73152" rIns="73152" tIns="36576" bIns="36576">
            <a:noAutofit/>
          </a:bodyPr>
          <a:lstStyle/>
          <a:p>
            <a:pPr algn="l">
              <a:spcBef>
                <a:spcPts val="0"/>
              </a:spcBef>
              <a:spcAft>
                <a:spcPts val="1000"/>
              </a:spcAft>
            </a:pPr>
            <a:r>
              <a:rPr lang="tr-TR" sz="2100" b="0" i="0">
                <a:solidFill>
                  <a:srgbClr val="262626"/>
                </a:solidFill>
                <a:latin typeface="Calibri"/>
              </a:rPr>
              <a:t>Harita üretmede 1900’lü yılların başlarında güvercinlere takılan kameralar kullanılmış; daha sonra balon, zeplin ve uçaklardan çekilen hava fotoğraflarından yararlanılmıştır.</a:t>
            </a:r>
          </a:p>
          <a:p>
            <a:pPr algn="l">
              <a:spcBef>
                <a:spcPts val="0"/>
              </a:spcBef>
              <a:spcAft>
                <a:spcPts val="0"/>
              </a:spcAft>
            </a:pPr>
            <a:r>
              <a:rPr lang="tr-TR" sz="2100" b="0" i="0">
                <a:solidFill>
                  <a:srgbClr val="262626"/>
                </a:solidFill>
                <a:latin typeface="Calibri"/>
              </a:rPr>
              <a:t>Haritalar, günümüzde genellikle uydulardan alınan görüntülerden üretilmektedir.</a:t>
            </a:r>
          </a:p>
        </p:txBody>
      </p:sp>
      <p:sp>
        <p:nvSpPr>
          <p:cNvPr id="11" name="Rounded Rectangle 10"/>
          <p:cNvSpPr/>
          <p:nvPr/>
        </p:nvSpPr>
        <p:spPr>
          <a:xfrm>
            <a:off x="502920" y="4599432"/>
            <a:ext cx="11185855" cy="1645920"/>
          </a:xfrm>
          <a:prstGeom prst="roundRect">
            <a:avLst>
              <a:gd name="adj" fmla="val 8000"/>
            </a:avLst>
          </a:prstGeom>
          <a:solidFill>
            <a:srgbClr val="FFF3D1"/>
          </a:solidFill>
          <a:ln>
            <a:noFill/>
          </a:ln>
          <a:effectLst/>
        </p:spPr>
        <p:txBody>
          <a:bodyPr rtlCol="0" anchor="ctr" wrap="square" lIns="274320" rIns="274320" tIns="73152" bIns="73152">
            <a:noAutofit/>
          </a:bodyPr>
          <a:lstStyle/>
          <a:p>
            <a:pPr algn="l">
              <a:spcBef>
                <a:spcPts val="0"/>
              </a:spcBef>
              <a:spcAft>
                <a:spcPts val="600"/>
              </a:spcAft>
            </a:pPr>
            <a:r>
              <a:rPr lang="tr-TR" sz="2000" b="0" i="0">
                <a:solidFill>
                  <a:srgbClr val="262626"/>
                </a:solidFill>
                <a:latin typeface="Calibri"/>
              </a:rPr>
              <a:t>1. Tarih boyunca haritaya neden ihtiyaç duyulmuştur?  (evde)</a:t>
            </a:r>
          </a:p>
          <a:p>
            <a:pPr algn="l">
              <a:spcBef>
                <a:spcPts val="0"/>
              </a:spcBef>
              <a:spcAft>
                <a:spcPts val="0"/>
              </a:spcAft>
            </a:pPr>
            <a:r>
              <a:rPr lang="tr-TR" sz="2000" b="1" i="0">
                <a:solidFill>
                  <a:srgbClr val="262626"/>
                </a:solidFill>
                <a:latin typeface="Calibri"/>
              </a:rPr>
              <a:t>2. Günlük hayatta cep telefonu, tablet ve bilgisayar gibi cihazlarda haritaların kullanıldığı uygulamalara örnekler vererek bu uygulamaların kullanım amaçlarını ilgili tabloya yazınız.</a:t>
            </a:r>
          </a:p>
        </p:txBody>
      </p:sp>
      <p:sp>
        <p:nvSpPr>
          <p:cNvPr id="12" name="TextBox 1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13" name="Rounded Rectangle 1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35</a:t>
            </a:r>
          </a:p>
        </p:txBody>
      </p:sp>
      <p:sp>
        <p:nvSpPr>
          <p:cNvPr id="14" name="TextBox 1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 / 226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Konuya başlarken 2: ekranlardaki haritalar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KÖPRÜ KURMA</a:t>
            </a:r>
          </a:p>
        </p:txBody>
      </p:sp>
      <p:sp>
        <p:nvSpPr>
          <p:cNvPr id="6" name="Rounded Rectangle 5"/>
          <p:cNvSpPr/>
          <p:nvPr/>
        </p:nvSpPr>
        <p:spPr>
          <a:xfrm>
            <a:off x="502920" y="1216152"/>
            <a:ext cx="11185855" cy="1097280"/>
          </a:xfrm>
          <a:prstGeom prst="roundRect">
            <a:avLst>
              <a:gd name="adj" fmla="val 8000"/>
            </a:avLst>
          </a:prstGeom>
          <a:solidFill>
            <a:srgbClr val="FFF3D1"/>
          </a:solidFill>
          <a:ln>
            <a:noFill/>
          </a:ln>
          <a:effectLst/>
        </p:spPr>
        <p:txBody>
          <a:bodyPr rtlCol="0" anchor="ctr" wrap="square" lIns="274320" rIns="274320" tIns="73152" bIns="73152">
            <a:noAutofit/>
          </a:bodyPr>
          <a:lstStyle/>
          <a:p>
            <a:pPr algn="l">
              <a:spcBef>
                <a:spcPts val="0"/>
              </a:spcBef>
              <a:spcAft>
                <a:spcPts val="0"/>
              </a:spcAft>
            </a:pPr>
            <a:r>
              <a:rPr lang="tr-TR" sz="2150" b="1" i="0">
                <a:solidFill>
                  <a:srgbClr val="262626"/>
                </a:solidFill>
                <a:latin typeface="Calibri"/>
              </a:rPr>
              <a:t>2. Günlük hayatta cep telefonu, tablet ve bilgisayar gibi cihazlarda haritaların kullanıldığı uygulamalara örnekler vererek bu uygulamaların kullanım amaçlarını ilgili tabloya yazınız.</a:t>
            </a:r>
          </a:p>
        </p:txBody>
      </p:sp>
      <p:graphicFrame>
        <p:nvGraphicFramePr>
          <p:cNvPr id="7" name="Table 6"/>
          <p:cNvGraphicFramePr>
            <a:graphicFrameLocks noGrp="1"/>
          </p:cNvGraphicFramePr>
          <p:nvPr/>
        </p:nvGraphicFramePr>
        <p:xfrm>
          <a:off x="502920" y="2496312"/>
          <a:ext cx="11183112" cy="4041648"/>
        </p:xfrm>
        <a:graphic>
          <a:graphicData uri="http://schemas.openxmlformats.org/drawingml/2006/table">
            <a:tbl>
              <a:tblPr firstRow="1" bandRow="1">
                <a:tableStyleId>{5C22544A-7EE6-4342-B048-85BDC9FD1C3A}</a:tableStyleId>
              </a:tblPr>
              <a:tblGrid>
                <a:gridCol w="4206240"/>
                <a:gridCol w="6976872"/>
              </a:tblGrid>
              <a:tr h="566928">
                <a:tc>
                  <a:txBody>
                    <a:bodyPr wrap="square"/>
                    <a:lstStyle/>
                    <a:p>
                      <a:pPr algn="ctr">
                        <a:spcBef>
                          <a:spcPts val="0"/>
                        </a:spcBef>
                        <a:spcAft>
                          <a:spcPts val="0"/>
                        </a:spcAft>
                      </a:pPr>
                      <a:r>
                        <a:rPr lang="tr-TR" sz="1800" b="1" i="0">
                          <a:solidFill>
                            <a:srgbClr val="FFFFFF"/>
                          </a:solidFill>
                          <a:latin typeface="Calibri"/>
                        </a:rPr>
                        <a:t>Örnek uygulama</a:t>
                      </a:r>
                    </a:p>
                  </a:txBody>
                  <a:tcPr marL="54864" marR="54864" marT="18288" marB="18288" anchor="ctr">
                    <a:solidFill>
                      <a:srgbClr val="2C6696"/>
                    </a:solidFill>
                  </a:tcPr>
                </a:tc>
                <a:tc>
                  <a:txBody>
                    <a:bodyPr wrap="square"/>
                    <a:lstStyle/>
                    <a:p>
                      <a:pPr algn="ctr">
                        <a:spcBef>
                          <a:spcPts val="0"/>
                        </a:spcBef>
                        <a:spcAft>
                          <a:spcPts val="0"/>
                        </a:spcAft>
                      </a:pPr>
                      <a:r>
                        <a:rPr lang="tr-TR" sz="1800" b="1" i="0">
                          <a:solidFill>
                            <a:srgbClr val="FFFFFF"/>
                          </a:solidFill>
                          <a:latin typeface="Calibri"/>
                        </a:rPr>
                        <a:t>Kullanım amaçları</a:t>
                      </a:r>
                    </a:p>
                  </a:txBody>
                  <a:tcPr marL="54864" marR="54864" marT="18288" marB="18288" anchor="ctr">
                    <a:solidFill>
                      <a:srgbClr val="2C6696"/>
                    </a:solidFill>
                  </a:tcPr>
                </a:tc>
              </a:tr>
              <a:tr h="694944">
                <a:tc>
                  <a:txBody>
                    <a:bodyPr wrap="square"/>
                    <a:lstStyle/>
                    <a:p>
                      <a:pPr algn="l">
                        <a:spcBef>
                          <a:spcPts val="0"/>
                        </a:spcBef>
                        <a:spcAft>
                          <a:spcPts val="0"/>
                        </a:spcAft>
                      </a:pPr>
                      <a:r>
                        <a:rPr lang="tr-TR" sz="2000" b="0" i="0">
                          <a:solidFill>
                            <a:srgbClr val="262626"/>
                          </a:solidFill>
                          <a:latin typeface="Calibri"/>
                        </a:rPr>
                        <a:t>AFAD Acil</a:t>
                      </a:r>
                    </a:p>
                  </a:txBody>
                  <a:tcPr marL="54864" marR="54864" marT="18288" marB="18288" anchor="ctr">
                    <a:solidFill>
                      <a:srgbClr val="FFFFFF"/>
                    </a:solidFill>
                  </a:tcPr>
                </a:tc>
                <a:tc>
                  <a:txBody>
                    <a:bodyPr wrap="square"/>
                    <a:lstStyle/>
                    <a:p>
                      <a:pPr algn="l">
                        <a:spcBef>
                          <a:spcPts val="0"/>
                        </a:spcBef>
                        <a:spcAft>
                          <a:spcPts val="0"/>
                        </a:spcAft>
                      </a:pPr>
                      <a:r>
                        <a:rPr lang="tr-TR" sz="2000" b="0" i="0">
                          <a:solidFill>
                            <a:srgbClr val="262626"/>
                          </a:solidFill>
                          <a:latin typeface="Calibri"/>
                        </a:rPr>
                        <a:t>Acil durumlarda ekiplere ulaşılması</a:t>
                      </a:r>
                    </a:p>
                  </a:txBody>
                  <a:tcPr marL="54864" marR="54864" marT="18288" marB="18288" anchor="ctr">
                    <a:solidFill>
                      <a:srgbClr val="FFFFFF"/>
                    </a:solidFill>
                  </a:tcPr>
                </a:tc>
              </a:tr>
              <a:tr h="694944">
                <a:tc>
                  <a:txBody>
                    <a:bodyPr wrap="square"/>
                    <a:lstStyle/>
                    <a:p>
                      <a:pPr algn="l">
                        <a:spcBef>
                          <a:spcPts val="0"/>
                        </a:spcBef>
                        <a:spcAft>
                          <a:spcPts val="0"/>
                        </a:spcAft>
                      </a:pPr>
                    </a:p>
                  </a:txBody>
                  <a:tcPr marL="54864" marR="54864" marT="18288" marB="18288" anchor="ctr">
                    <a:solidFill>
                      <a:srgbClr val="F0F0F0"/>
                    </a:solidFill>
                  </a:tcPr>
                </a:tc>
                <a:tc>
                  <a:txBody>
                    <a:bodyPr wrap="square"/>
                    <a:lstStyle/>
                    <a:p>
                      <a:pPr algn="l">
                        <a:spcBef>
                          <a:spcPts val="0"/>
                        </a:spcBef>
                        <a:spcAft>
                          <a:spcPts val="0"/>
                        </a:spcAft>
                      </a:pPr>
                    </a:p>
                  </a:txBody>
                  <a:tcPr marL="54864" marR="54864" marT="18288" marB="18288" anchor="ctr">
                    <a:solidFill>
                      <a:srgbClr val="F0F0F0"/>
                    </a:solidFill>
                  </a:tcPr>
                </a:tc>
              </a:tr>
              <a:tr h="694944">
                <a:tc>
                  <a:txBody>
                    <a:bodyPr wrap="square"/>
                    <a:lstStyle/>
                    <a:p>
                      <a:pPr algn="l">
                        <a:spcBef>
                          <a:spcPts val="0"/>
                        </a:spcBef>
                        <a:spcAft>
                          <a:spcPts val="0"/>
                        </a:spcAft>
                      </a:pPr>
                    </a:p>
                  </a:txBody>
                  <a:tcPr marL="54864" marR="54864" marT="18288" marB="18288" anchor="ctr">
                    <a:solidFill>
                      <a:srgbClr val="FFFFFF"/>
                    </a:solidFill>
                  </a:tcPr>
                </a:tc>
                <a:tc>
                  <a:txBody>
                    <a:bodyPr wrap="square"/>
                    <a:lstStyle/>
                    <a:p>
                      <a:pPr algn="l">
                        <a:spcBef>
                          <a:spcPts val="0"/>
                        </a:spcBef>
                        <a:spcAft>
                          <a:spcPts val="0"/>
                        </a:spcAft>
                      </a:pPr>
                    </a:p>
                  </a:txBody>
                  <a:tcPr marL="54864" marR="54864" marT="18288" marB="18288" anchor="ctr">
                    <a:solidFill>
                      <a:srgbClr val="FFFFFF"/>
                    </a:solidFill>
                  </a:tcPr>
                </a:tc>
              </a:tr>
              <a:tr h="694944">
                <a:tc>
                  <a:txBody>
                    <a:bodyPr wrap="square"/>
                    <a:lstStyle/>
                    <a:p>
                      <a:pPr algn="l">
                        <a:spcBef>
                          <a:spcPts val="0"/>
                        </a:spcBef>
                        <a:spcAft>
                          <a:spcPts val="0"/>
                        </a:spcAft>
                      </a:pPr>
                    </a:p>
                  </a:txBody>
                  <a:tcPr marL="54864" marR="54864" marT="18288" marB="18288" anchor="ctr">
                    <a:solidFill>
                      <a:srgbClr val="F0F0F0"/>
                    </a:solidFill>
                  </a:tcPr>
                </a:tc>
                <a:tc>
                  <a:txBody>
                    <a:bodyPr wrap="square"/>
                    <a:lstStyle/>
                    <a:p>
                      <a:pPr algn="l">
                        <a:spcBef>
                          <a:spcPts val="0"/>
                        </a:spcBef>
                        <a:spcAft>
                          <a:spcPts val="0"/>
                        </a:spcAft>
                      </a:pPr>
                    </a:p>
                  </a:txBody>
                  <a:tcPr marL="54864" marR="54864" marT="18288" marB="18288" anchor="ctr">
                    <a:solidFill>
                      <a:srgbClr val="F0F0F0"/>
                    </a:solidFill>
                  </a:tcPr>
                </a:tc>
              </a:tr>
              <a:tr h="694944">
                <a:tc>
                  <a:txBody>
                    <a:bodyPr wrap="square"/>
                    <a:lstStyle/>
                    <a:p>
                      <a:pPr algn="l">
                        <a:spcBef>
                          <a:spcPts val="0"/>
                        </a:spcBef>
                        <a:spcAft>
                          <a:spcPts val="0"/>
                        </a:spcAft>
                      </a:pPr>
                    </a:p>
                  </a:txBody>
                  <a:tcPr marL="54864" marR="54864" marT="18288" marB="18288" anchor="ctr">
                    <a:solidFill>
                      <a:srgbClr val="FFFFFF"/>
                    </a:solidFill>
                  </a:tcPr>
                </a:tc>
                <a:tc>
                  <a:txBody>
                    <a:bodyPr wrap="square"/>
                    <a:lstStyle/>
                    <a:p>
                      <a:pPr algn="l">
                        <a:spcBef>
                          <a:spcPts val="0"/>
                        </a:spcBef>
                        <a:spcAft>
                          <a:spcPts val="0"/>
                        </a:spcAft>
                      </a:pPr>
                    </a:p>
                  </a:txBody>
                  <a:tcPr marL="54864" marR="54864" marT="18288" marB="18288" anchor="ctr">
                    <a:solidFill>
                      <a:srgbClr val="FFFFFF"/>
                    </a:solidFill>
                  </a:tcPr>
                </a:tc>
              </a:tr>
            </a:tbl>
          </a:graphicData>
        </a:graphic>
      </p:graphicFrame>
      <p:sp>
        <p:nvSpPr>
          <p:cNvPr id="8" name="TextBox 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9" name="Rounded Rectangle 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35</a:t>
            </a:r>
          </a:p>
        </p:txBody>
      </p:sp>
      <p:sp>
        <p:nvSpPr>
          <p:cNvPr id="10" name="TextBox 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 / 226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Konuya başlarken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graphicFrame>
        <p:nvGraphicFramePr>
          <p:cNvPr id="6" name="Table 5"/>
          <p:cNvGraphicFramePr>
            <a:graphicFrameLocks noGrp="1"/>
          </p:cNvGraphicFramePr>
          <p:nvPr/>
        </p:nvGraphicFramePr>
        <p:xfrm>
          <a:off x="502920" y="1216152"/>
          <a:ext cx="11183112" cy="3154680"/>
        </p:xfrm>
        <a:graphic>
          <a:graphicData uri="http://schemas.openxmlformats.org/drawingml/2006/table">
            <a:tbl>
              <a:tblPr firstRow="1" bandRow="1">
                <a:tableStyleId>{5C22544A-7EE6-4342-B048-85BDC9FD1C3A}</a:tableStyleId>
              </a:tblPr>
              <a:tblGrid>
                <a:gridCol w="4206240"/>
                <a:gridCol w="6976872"/>
              </a:tblGrid>
              <a:tr h="502920">
                <a:tc>
                  <a:txBody>
                    <a:bodyPr wrap="square"/>
                    <a:lstStyle/>
                    <a:p>
                      <a:pPr algn="ctr">
                        <a:spcBef>
                          <a:spcPts val="0"/>
                        </a:spcBef>
                        <a:spcAft>
                          <a:spcPts val="0"/>
                        </a:spcAft>
                      </a:pPr>
                      <a:r>
                        <a:rPr lang="tr-TR" sz="1700" b="1" i="0">
                          <a:solidFill>
                            <a:srgbClr val="FFFFFF"/>
                          </a:solidFill>
                          <a:latin typeface="Calibri"/>
                        </a:rPr>
                        <a:t>Örnek uygulama</a:t>
                      </a:r>
                    </a:p>
                  </a:txBody>
                  <a:tcPr marL="54864" marR="54864" marT="18288" marB="18288" anchor="ctr">
                    <a:solidFill>
                      <a:srgbClr val="2E7D32"/>
                    </a:solidFill>
                  </a:tcPr>
                </a:tc>
                <a:tc>
                  <a:txBody>
                    <a:bodyPr wrap="square"/>
                    <a:lstStyle/>
                    <a:p>
                      <a:pPr algn="ctr">
                        <a:spcBef>
                          <a:spcPts val="0"/>
                        </a:spcBef>
                        <a:spcAft>
                          <a:spcPts val="0"/>
                        </a:spcAft>
                      </a:pPr>
                      <a:r>
                        <a:rPr lang="tr-TR" sz="1700" b="1" i="0">
                          <a:solidFill>
                            <a:srgbClr val="FFFFFF"/>
                          </a:solidFill>
                          <a:latin typeface="Calibri"/>
                        </a:rPr>
                        <a:t>Kullanım amaçları</a:t>
                      </a:r>
                    </a:p>
                  </a:txBody>
                  <a:tcPr marL="54864" marR="54864" marT="18288" marB="18288" anchor="ctr">
                    <a:solidFill>
                      <a:srgbClr val="2E7D32"/>
                    </a:solidFill>
                  </a:tcPr>
                </a:tc>
              </a:tr>
              <a:tr h="530352">
                <a:tc>
                  <a:txBody>
                    <a:bodyPr wrap="square"/>
                    <a:lstStyle/>
                    <a:p>
                      <a:pPr algn="l">
                        <a:spcBef>
                          <a:spcPts val="0"/>
                        </a:spcBef>
                        <a:spcAft>
                          <a:spcPts val="0"/>
                        </a:spcAft>
                      </a:pPr>
                      <a:r>
                        <a:rPr lang="tr-TR" sz="1800" b="0" i="0">
                          <a:solidFill>
                            <a:srgbClr val="262626"/>
                          </a:solidFill>
                          <a:latin typeface="Calibri"/>
                        </a:rPr>
                        <a:t>AFAD Acil (kitap)</a:t>
                      </a:r>
                    </a:p>
                  </a:txBody>
                  <a:tcPr marL="54864" marR="54864" marT="18288" marB="18288" anchor="ctr">
                    <a:solidFill>
                      <a:srgbClr val="FFFFFF"/>
                    </a:solidFill>
                  </a:tcPr>
                </a:tc>
                <a:tc>
                  <a:txBody>
                    <a:bodyPr wrap="square"/>
                    <a:lstStyle/>
                    <a:p>
                      <a:pPr algn="l">
                        <a:spcBef>
                          <a:spcPts val="0"/>
                        </a:spcBef>
                        <a:spcAft>
                          <a:spcPts val="0"/>
                        </a:spcAft>
                      </a:pPr>
                      <a:r>
                        <a:rPr lang="tr-TR" sz="1800" b="0" i="0">
                          <a:solidFill>
                            <a:srgbClr val="262626"/>
                          </a:solidFill>
                          <a:latin typeface="Calibri"/>
                        </a:rPr>
                        <a:t>Acil durumlarda ekiplere ulaşılması</a:t>
                      </a:r>
                    </a:p>
                  </a:txBody>
                  <a:tcPr marL="54864" marR="54864" marT="18288" marB="18288" anchor="ctr">
                    <a:solidFill>
                      <a:srgbClr val="FFFFFF"/>
                    </a:solidFill>
                  </a:tcPr>
                </a:tc>
              </a:tr>
              <a:tr h="530352">
                <a:tc>
                  <a:txBody>
                    <a:bodyPr wrap="square"/>
                    <a:lstStyle/>
                    <a:p>
                      <a:pPr algn="l">
                        <a:spcBef>
                          <a:spcPts val="0"/>
                        </a:spcBef>
                        <a:spcAft>
                          <a:spcPts val="0"/>
                        </a:spcAft>
                      </a:pPr>
                      <a:r>
                        <a:rPr lang="tr-TR" sz="1800" b="0" i="0">
                          <a:solidFill>
                            <a:srgbClr val="262626"/>
                          </a:solidFill>
                          <a:latin typeface="Calibri"/>
                        </a:rPr>
                        <a:t>Navigasyon ve yol tarifi</a:t>
                      </a:r>
                    </a:p>
                  </a:txBody>
                  <a:tcPr marL="54864" marR="54864" marT="18288" marB="18288" anchor="ctr">
                    <a:solidFill>
                      <a:srgbClr val="E3F1E4"/>
                    </a:solidFill>
                  </a:tcPr>
                </a:tc>
                <a:tc>
                  <a:txBody>
                    <a:bodyPr wrap="square"/>
                    <a:lstStyle/>
                    <a:p>
                      <a:pPr algn="l">
                        <a:spcBef>
                          <a:spcPts val="0"/>
                        </a:spcBef>
                        <a:spcAft>
                          <a:spcPts val="0"/>
                        </a:spcAft>
                      </a:pPr>
                      <a:r>
                        <a:rPr lang="tr-TR" sz="1800" b="0" i="0">
                          <a:solidFill>
                            <a:srgbClr val="262626"/>
                          </a:solidFill>
                          <a:latin typeface="Calibri"/>
                        </a:rPr>
                        <a:t>En uygun rotayı bulmak, konum aramak, canlı trafiği izlemek</a:t>
                      </a:r>
                    </a:p>
                  </a:txBody>
                  <a:tcPr marL="54864" marR="54864" marT="18288" marB="18288" anchor="ctr">
                    <a:solidFill>
                      <a:srgbClr val="E3F1E4"/>
                    </a:solidFill>
                  </a:tcPr>
                </a:tc>
              </a:tr>
              <a:tr h="530352">
                <a:tc>
                  <a:txBody>
                    <a:bodyPr wrap="square"/>
                    <a:lstStyle/>
                    <a:p>
                      <a:pPr algn="l">
                        <a:spcBef>
                          <a:spcPts val="0"/>
                        </a:spcBef>
                        <a:spcAft>
                          <a:spcPts val="0"/>
                        </a:spcAft>
                      </a:pPr>
                      <a:r>
                        <a:rPr lang="tr-TR" sz="1800" b="0" i="0">
                          <a:solidFill>
                            <a:srgbClr val="262626"/>
                          </a:solidFill>
                          <a:latin typeface="Calibri"/>
                        </a:rPr>
                        <a:t>Hava durumu (MGM)</a:t>
                      </a:r>
                    </a:p>
                  </a:txBody>
                  <a:tcPr marL="54864" marR="54864" marT="18288" marB="18288" anchor="ctr">
                    <a:solidFill>
                      <a:srgbClr val="FFFFFF"/>
                    </a:solidFill>
                  </a:tcPr>
                </a:tc>
                <a:tc>
                  <a:txBody>
                    <a:bodyPr wrap="square"/>
                    <a:lstStyle/>
                    <a:p>
                      <a:pPr algn="l">
                        <a:spcBef>
                          <a:spcPts val="0"/>
                        </a:spcBef>
                        <a:spcAft>
                          <a:spcPts val="0"/>
                        </a:spcAft>
                      </a:pPr>
                      <a:r>
                        <a:rPr lang="tr-TR" sz="1800" b="0" i="0">
                          <a:solidFill>
                            <a:srgbClr val="262626"/>
                          </a:solidFill>
                          <a:latin typeface="Calibri"/>
                        </a:rPr>
                        <a:t>Sıcaklık, yağış ve bulut hareketlerini harita üzerinde izlemek</a:t>
                      </a:r>
                    </a:p>
                  </a:txBody>
                  <a:tcPr marL="54864" marR="54864" marT="18288" marB="18288" anchor="ctr">
                    <a:solidFill>
                      <a:srgbClr val="FFFFFF"/>
                    </a:solidFill>
                  </a:tcPr>
                </a:tc>
              </a:tr>
              <a:tr h="530352">
                <a:tc>
                  <a:txBody>
                    <a:bodyPr wrap="square"/>
                    <a:lstStyle/>
                    <a:p>
                      <a:pPr algn="l">
                        <a:spcBef>
                          <a:spcPts val="0"/>
                        </a:spcBef>
                        <a:spcAft>
                          <a:spcPts val="0"/>
                        </a:spcAft>
                      </a:pPr>
                      <a:r>
                        <a:rPr lang="tr-TR" sz="1800" b="0" i="0">
                          <a:solidFill>
                            <a:srgbClr val="262626"/>
                          </a:solidFill>
                          <a:latin typeface="Calibri"/>
                        </a:rPr>
                        <a:t>e-Devlet parsel sorgu (TKGM)</a:t>
                      </a:r>
                    </a:p>
                  </a:txBody>
                  <a:tcPr marL="54864" marR="54864" marT="18288" marB="18288" anchor="ctr">
                    <a:solidFill>
                      <a:srgbClr val="E3F1E4"/>
                    </a:solidFill>
                  </a:tcPr>
                </a:tc>
                <a:tc>
                  <a:txBody>
                    <a:bodyPr wrap="square"/>
                    <a:lstStyle/>
                    <a:p>
                      <a:pPr algn="l">
                        <a:spcBef>
                          <a:spcPts val="0"/>
                        </a:spcBef>
                        <a:spcAft>
                          <a:spcPts val="0"/>
                        </a:spcAft>
                      </a:pPr>
                      <a:r>
                        <a:rPr lang="tr-TR" sz="1800" b="0" i="0">
                          <a:solidFill>
                            <a:srgbClr val="262626"/>
                          </a:solidFill>
                          <a:latin typeface="Calibri"/>
                        </a:rPr>
                        <a:t>Arsa ve arazi sınırlarını uydu görüntüsü üzerinde incelemek</a:t>
                      </a:r>
                    </a:p>
                  </a:txBody>
                  <a:tcPr marL="54864" marR="54864" marT="18288" marB="18288" anchor="ctr">
                    <a:solidFill>
                      <a:srgbClr val="E3F1E4"/>
                    </a:solidFill>
                  </a:tcPr>
                </a:tc>
              </a:tr>
              <a:tr h="530352">
                <a:tc>
                  <a:txBody>
                    <a:bodyPr wrap="square"/>
                    <a:lstStyle/>
                    <a:p>
                      <a:pPr algn="l">
                        <a:spcBef>
                          <a:spcPts val="0"/>
                        </a:spcBef>
                        <a:spcAft>
                          <a:spcPts val="0"/>
                        </a:spcAft>
                      </a:pPr>
                      <a:r>
                        <a:rPr lang="tr-TR" sz="1800" b="0" i="0">
                          <a:solidFill>
                            <a:srgbClr val="262626"/>
                          </a:solidFill>
                          <a:latin typeface="Calibri"/>
                        </a:rPr>
                        <a:t>Deprem bilgi sistemleri (Kandilli, AFAD)</a:t>
                      </a:r>
                    </a:p>
                  </a:txBody>
                  <a:tcPr marL="54864" marR="54864" marT="18288" marB="18288" anchor="ctr">
                    <a:solidFill>
                      <a:srgbClr val="FFFFFF"/>
                    </a:solidFill>
                  </a:tcPr>
                </a:tc>
                <a:tc>
                  <a:txBody>
                    <a:bodyPr wrap="square"/>
                    <a:lstStyle/>
                    <a:p>
                      <a:pPr algn="l">
                        <a:spcBef>
                          <a:spcPts val="0"/>
                        </a:spcBef>
                        <a:spcAft>
                          <a:spcPts val="0"/>
                        </a:spcAft>
                      </a:pPr>
                      <a:r>
                        <a:rPr lang="tr-TR" sz="1800" b="0" i="0">
                          <a:solidFill>
                            <a:srgbClr val="262626"/>
                          </a:solidFill>
                          <a:latin typeface="Calibri"/>
                        </a:rPr>
                        <a:t>Depremin merkez üssünü, büyüklüğünü, derinliğini görmek</a:t>
                      </a:r>
                    </a:p>
                  </a:txBody>
                  <a:tcPr marL="54864" marR="54864" marT="18288" marB="18288" anchor="ctr">
                    <a:solidFill>
                      <a:srgbClr val="FFFFFF"/>
                    </a:solidFill>
                  </a:tcPr>
                </a:tc>
              </a:tr>
            </a:tbl>
          </a:graphicData>
        </a:graphic>
      </p:graphicFrame>
      <p:sp>
        <p:nvSpPr>
          <p:cNvPr id="7" name="Rounded Rectangle 6"/>
          <p:cNvSpPr/>
          <p:nvPr/>
        </p:nvSpPr>
        <p:spPr>
          <a:xfrm>
            <a:off x="502920" y="4690872"/>
            <a:ext cx="11185855" cy="1554480"/>
          </a:xfrm>
          <a:prstGeom prst="roundRect">
            <a:avLst>
              <a:gd name="adj" fmla="val 6000"/>
            </a:avLst>
          </a:prstGeom>
          <a:solidFill>
            <a:srgbClr val="E3F1E4"/>
          </a:solidFill>
          <a:ln>
            <a:noFill/>
          </a:ln>
          <a:effectLst/>
        </p:spPr>
        <p:txBody>
          <a:bodyPr rtlCol="0" anchor="ctr"/>
          <a:lstStyle/>
          <a:p/>
        </p:txBody>
      </p:sp>
      <p:sp>
        <p:nvSpPr>
          <p:cNvPr id="8" name="Rectangle 7"/>
          <p:cNvSpPr/>
          <p:nvPr/>
        </p:nvSpPr>
        <p:spPr>
          <a:xfrm>
            <a:off x="502920" y="4690872"/>
            <a:ext cx="109728" cy="1554480"/>
          </a:xfrm>
          <a:prstGeom prst="rect">
            <a:avLst/>
          </a:prstGeom>
          <a:solidFill>
            <a:srgbClr val="2E7D32"/>
          </a:solidFill>
          <a:ln>
            <a:noFill/>
          </a:ln>
          <a:effectLst/>
        </p:spPr>
        <p:txBody>
          <a:bodyPr rtlCol="0" anchor="ctr"/>
          <a:lstStyle/>
          <a:p/>
        </p:txBody>
      </p:sp>
      <p:sp>
        <p:nvSpPr>
          <p:cNvPr id="9" name="TextBox 8"/>
          <p:cNvSpPr txBox="1"/>
          <p:nvPr/>
        </p:nvSpPr>
        <p:spPr>
          <a:xfrm>
            <a:off x="731520" y="4745736"/>
            <a:ext cx="10865815" cy="1444752"/>
          </a:xfrm>
          <a:prstGeom prst="rect">
            <a:avLst/>
          </a:prstGeom>
          <a:noFill/>
        </p:spPr>
        <p:txBody>
          <a:bodyPr wrap="square" anchor="ctr" lIns="73152" rIns="73152" tIns="36576" bIns="36576">
            <a:noAutofit/>
          </a:bodyPr>
          <a:lstStyle/>
          <a:p>
            <a:pPr algn="l">
              <a:spcBef>
                <a:spcPts val="0"/>
              </a:spcBef>
              <a:spcAft>
                <a:spcPts val="400"/>
              </a:spcAft>
            </a:pPr>
            <a:r>
              <a:rPr lang="tr-TR" sz="1900" b="1" i="0">
                <a:solidFill>
                  <a:srgbClr val="2E7D32"/>
                </a:solidFill>
                <a:latin typeface="Calibri"/>
              </a:rPr>
              <a:t>1 · Neden harita? (evde yazılacak)</a:t>
            </a:r>
          </a:p>
          <a:p>
            <a:pPr algn="l">
              <a:spcBef>
                <a:spcPts val="0"/>
              </a:spcBef>
              <a:spcAft>
                <a:spcPts val="0"/>
              </a:spcAft>
            </a:pPr>
            <a:r>
              <a:rPr lang="tr-TR" sz="1900" b="0" i="0">
                <a:solidFill>
                  <a:srgbClr val="262626"/>
                </a:solidFill>
                <a:latin typeface="Calibri"/>
              </a:rPr>
              <a:t>Çevreyi tanımak ve gözlemleri kaydetmek, yön ve konum bulmak, ticaret ve askerî yolları planlamak, kaynakların yerini ve sınırları göstermek, bilgiyi sonraki kuşaklara aktarmak.</a:t>
            </a:r>
          </a:p>
        </p:txBody>
      </p:sp>
      <p:sp>
        <p:nvSpPr>
          <p:cNvPr id="10" name="TextBox 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11" name="Rounded Rectangle 1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35</a:t>
            </a:r>
          </a:p>
        </p:txBody>
      </p:sp>
      <p:sp>
        <p:nvSpPr>
          <p:cNvPr id="12" name="TextBox 1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16 / 226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Haritalar nasıl ortaya çıktı?</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HARİTA</a:t>
            </a:r>
          </a:p>
        </p:txBody>
      </p:sp>
      <p:sp>
        <p:nvSpPr>
          <p:cNvPr id="6" name="Rounded Rectangle 5"/>
          <p:cNvSpPr/>
          <p:nvPr/>
        </p:nvSpPr>
        <p:spPr>
          <a:xfrm>
            <a:off x="502920" y="1261872"/>
            <a:ext cx="7315200" cy="1463040"/>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61872"/>
            <a:ext cx="118872" cy="1463040"/>
          </a:xfrm>
          <a:prstGeom prst="rect">
            <a:avLst/>
          </a:prstGeom>
          <a:solidFill>
            <a:srgbClr val="2C6696"/>
          </a:solidFill>
          <a:ln>
            <a:noFill/>
          </a:ln>
          <a:effectLst/>
        </p:spPr>
        <p:txBody>
          <a:bodyPr rtlCol="0" anchor="ctr"/>
          <a:lstStyle/>
          <a:p/>
        </p:txBody>
      </p:sp>
      <p:sp>
        <p:nvSpPr>
          <p:cNvPr id="8" name="TextBox 7"/>
          <p:cNvSpPr txBox="1"/>
          <p:nvPr/>
        </p:nvSpPr>
        <p:spPr>
          <a:xfrm>
            <a:off x="777240" y="1261872"/>
            <a:ext cx="6903720" cy="1463040"/>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İnsan, var olduğundan beri yaşadığı yeri konumlandırmaya ve çevresinde gördüklerini bir bütün olarak algılamaya çalışmıştır.</a:t>
            </a:r>
          </a:p>
        </p:txBody>
      </p:sp>
      <p:sp>
        <p:nvSpPr>
          <p:cNvPr id="9" name="Rounded Rectangle 8"/>
          <p:cNvSpPr/>
          <p:nvPr/>
        </p:nvSpPr>
        <p:spPr>
          <a:xfrm>
            <a:off x="502920" y="2907792"/>
            <a:ext cx="7315200" cy="1463040"/>
          </a:xfrm>
          <a:prstGeom prst="roundRect">
            <a:avLst>
              <a:gd name="adj" fmla="val 8000"/>
            </a:avLst>
          </a:prstGeom>
          <a:solidFill>
            <a:srgbClr val="F0F0F0"/>
          </a:solidFill>
          <a:ln>
            <a:noFill/>
          </a:ln>
          <a:effectLst/>
        </p:spPr>
        <p:txBody>
          <a:bodyPr rtlCol="0" anchor="ctr"/>
          <a:lstStyle/>
          <a:p/>
        </p:txBody>
      </p:sp>
      <p:sp>
        <p:nvSpPr>
          <p:cNvPr id="10" name="Rectangle 9"/>
          <p:cNvSpPr/>
          <p:nvPr/>
        </p:nvSpPr>
        <p:spPr>
          <a:xfrm>
            <a:off x="502920" y="2907792"/>
            <a:ext cx="118872" cy="1463040"/>
          </a:xfrm>
          <a:prstGeom prst="rect">
            <a:avLst/>
          </a:prstGeom>
          <a:solidFill>
            <a:srgbClr val="2C6696"/>
          </a:solidFill>
          <a:ln>
            <a:noFill/>
          </a:ln>
          <a:effectLst/>
        </p:spPr>
        <p:txBody>
          <a:bodyPr rtlCol="0" anchor="ctr"/>
          <a:lstStyle/>
          <a:p/>
        </p:txBody>
      </p:sp>
      <p:sp>
        <p:nvSpPr>
          <p:cNvPr id="11" name="TextBox 10"/>
          <p:cNvSpPr txBox="1"/>
          <p:nvPr/>
        </p:nvSpPr>
        <p:spPr>
          <a:xfrm>
            <a:off x="777240" y="2907792"/>
            <a:ext cx="6903720" cy="1463040"/>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Mekâna ait bilgileri düzenleyerek bunların kolaylıkla gösterilebilmesi için çizim yöntemini kullanmıştır.</a:t>
            </a:r>
          </a:p>
        </p:txBody>
      </p:sp>
      <p:sp>
        <p:nvSpPr>
          <p:cNvPr id="12" name="Rounded Rectangle 11"/>
          <p:cNvSpPr/>
          <p:nvPr/>
        </p:nvSpPr>
        <p:spPr>
          <a:xfrm>
            <a:off x="502920" y="4553712"/>
            <a:ext cx="7315200" cy="1691640"/>
          </a:xfrm>
          <a:prstGeom prst="roundRect">
            <a:avLst>
              <a:gd name="adj" fmla="val 8000"/>
            </a:avLst>
          </a:prstGeom>
          <a:solidFill>
            <a:srgbClr val="F0F0F0"/>
          </a:solidFill>
          <a:ln>
            <a:noFill/>
          </a:ln>
          <a:effectLst/>
        </p:spPr>
        <p:txBody>
          <a:bodyPr rtlCol="0" anchor="ctr"/>
          <a:lstStyle/>
          <a:p/>
        </p:txBody>
      </p:sp>
      <p:sp>
        <p:nvSpPr>
          <p:cNvPr id="13" name="Rectangle 12"/>
          <p:cNvSpPr/>
          <p:nvPr/>
        </p:nvSpPr>
        <p:spPr>
          <a:xfrm>
            <a:off x="502920" y="4553712"/>
            <a:ext cx="118872" cy="1691640"/>
          </a:xfrm>
          <a:prstGeom prst="rect">
            <a:avLst/>
          </a:prstGeom>
          <a:solidFill>
            <a:srgbClr val="FCC021"/>
          </a:solidFill>
          <a:ln>
            <a:noFill/>
          </a:ln>
          <a:effectLst/>
        </p:spPr>
        <p:txBody>
          <a:bodyPr rtlCol="0" anchor="ctr"/>
          <a:lstStyle/>
          <a:p/>
        </p:txBody>
      </p:sp>
      <p:sp>
        <p:nvSpPr>
          <p:cNvPr id="14" name="TextBox 13"/>
          <p:cNvSpPr txBox="1"/>
          <p:nvPr/>
        </p:nvSpPr>
        <p:spPr>
          <a:xfrm>
            <a:off x="777240" y="4553712"/>
            <a:ext cx="6903720" cy="1691640"/>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Genellikle coğrafi betimlemeleri içeren bu çizimler, zamanla haritaları ortaya çıkarmıştır.</a:t>
            </a:r>
          </a:p>
        </p:txBody>
      </p:sp>
      <p:sp>
        <p:nvSpPr>
          <p:cNvPr id="15" name="Rounded Rectangle 14"/>
          <p:cNvSpPr/>
          <p:nvPr/>
        </p:nvSpPr>
        <p:spPr>
          <a:xfrm>
            <a:off x="8092440" y="1261872"/>
            <a:ext cx="3596335" cy="4983480"/>
          </a:xfrm>
          <a:prstGeom prst="roundRect">
            <a:avLst>
              <a:gd name="adj" fmla="val 5000"/>
            </a:avLst>
          </a:prstGeom>
          <a:solidFill>
            <a:srgbClr val="F0F0F0"/>
          </a:solidFill>
          <a:ln>
            <a:noFill/>
          </a:ln>
          <a:effectLst/>
        </p:spPr>
        <p:txBody>
          <a:bodyPr rtlCol="0" anchor="ctr"/>
          <a:lstStyle/>
          <a:p/>
        </p:txBody>
      </p:sp>
      <p:sp>
        <p:nvSpPr>
          <p:cNvPr id="16" name="Rounded Rectangle 15"/>
          <p:cNvSpPr/>
          <p:nvPr/>
        </p:nvSpPr>
        <p:spPr>
          <a:xfrm>
            <a:off x="8092440" y="1261872"/>
            <a:ext cx="3596335" cy="530352"/>
          </a:xfrm>
          <a:prstGeom prst="roundRect">
            <a:avLst>
              <a:gd name="adj" fmla="val 25000"/>
            </a:avLst>
          </a:prstGeom>
          <a:solidFill>
            <a:srgbClr val="4F4F4F"/>
          </a:solidFill>
          <a:ln>
            <a:noFill/>
          </a:ln>
          <a:effectLst/>
        </p:spPr>
        <p:txBody>
          <a:bodyPr rtlCol="0" anchor="ctr"/>
          <a:lstStyle/>
          <a:p/>
        </p:txBody>
      </p:sp>
      <p:sp>
        <p:nvSpPr>
          <p:cNvPr id="17" name="Rectangle 16"/>
          <p:cNvSpPr/>
          <p:nvPr/>
        </p:nvSpPr>
        <p:spPr>
          <a:xfrm>
            <a:off x="8092440" y="1527048"/>
            <a:ext cx="3596335" cy="265176"/>
          </a:xfrm>
          <a:prstGeom prst="rect">
            <a:avLst/>
          </a:prstGeom>
          <a:solidFill>
            <a:srgbClr val="4F4F4F"/>
          </a:solidFill>
          <a:ln>
            <a:noFill/>
          </a:ln>
          <a:effectLst/>
        </p:spPr>
        <p:txBody>
          <a:bodyPr rtlCol="0" anchor="ctr"/>
          <a:lstStyle/>
          <a:p/>
        </p:txBody>
      </p:sp>
      <p:sp>
        <p:nvSpPr>
          <p:cNvPr id="18" name="TextBox 17"/>
          <p:cNvSpPr txBox="1"/>
          <p:nvPr/>
        </p:nvSpPr>
        <p:spPr>
          <a:xfrm>
            <a:off x="8183880" y="1261872"/>
            <a:ext cx="3413455"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MEKÂN</a:t>
            </a:r>
          </a:p>
        </p:txBody>
      </p:sp>
      <p:sp>
        <p:nvSpPr>
          <p:cNvPr id="19" name="TextBox 18"/>
          <p:cNvSpPr txBox="1"/>
          <p:nvPr/>
        </p:nvSpPr>
        <p:spPr>
          <a:xfrm>
            <a:off x="8202168" y="1865376"/>
            <a:ext cx="3376879" cy="4306824"/>
          </a:xfrm>
          <a:prstGeom prst="rect">
            <a:avLst/>
          </a:prstGeom>
          <a:noFill/>
        </p:spPr>
        <p:txBody>
          <a:bodyPr wrap="square" anchor="ctr" lIns="73152" rIns="73152" tIns="36576" bIns="36576">
            <a:noAutofit/>
          </a:bodyPr>
          <a:lstStyle/>
          <a:p>
            <a:pPr algn="l">
              <a:spcBef>
                <a:spcPts val="0"/>
              </a:spcBef>
              <a:spcAft>
                <a:spcPts val="600"/>
              </a:spcAft>
            </a:pPr>
            <a:r>
              <a:rPr lang="tr-TR" sz="2400" b="0" i="0">
                <a:solidFill>
                  <a:srgbClr val="262626"/>
                </a:solidFill>
                <a:latin typeface="Calibri"/>
              </a:rPr>
              <a:t>Doğal ve beşerî unsurların birleşimidir.</a:t>
            </a:r>
          </a:p>
          <a:p>
            <a:pPr algn="l">
              <a:spcBef>
                <a:spcPts val="0"/>
              </a:spcBef>
              <a:spcAft>
                <a:spcPts val="0"/>
              </a:spcAft>
            </a:pPr>
            <a:r>
              <a:rPr lang="tr-TR" sz="2400" b="0" i="0">
                <a:solidFill>
                  <a:srgbClr val="262626"/>
                </a:solidFill>
                <a:latin typeface="Calibri"/>
              </a:rPr>
              <a:t>“Nasıl bir yer?”, “Bu yer nerede?” sorularına cevap verir.</a:t>
            </a:r>
          </a:p>
        </p:txBody>
      </p:sp>
      <p:sp>
        <p:nvSpPr>
          <p:cNvPr id="20" name="TextBox 1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21" name="Rounded Rectangle 2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35</a:t>
            </a:r>
          </a:p>
        </p:txBody>
      </p:sp>
      <p:sp>
        <p:nvSpPr>
          <p:cNvPr id="22" name="TextBox 2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17 / 226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Harita nedir?</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HARİTA</a:t>
            </a:r>
          </a:p>
        </p:txBody>
      </p:sp>
      <p:sp>
        <p:nvSpPr>
          <p:cNvPr id="6" name="Rounded Rectangle 5"/>
          <p:cNvSpPr/>
          <p:nvPr/>
        </p:nvSpPr>
        <p:spPr>
          <a:xfrm>
            <a:off x="502920" y="1307592"/>
            <a:ext cx="11185855" cy="2377440"/>
          </a:xfrm>
          <a:prstGeom prst="roundRect">
            <a:avLst>
              <a:gd name="adj" fmla="val 6000"/>
            </a:avLst>
          </a:prstGeom>
          <a:solidFill>
            <a:srgbClr val="F0F0F0"/>
          </a:solidFill>
          <a:ln>
            <a:noFill/>
          </a:ln>
          <a:effectLst/>
        </p:spPr>
        <p:txBody>
          <a:bodyPr rtlCol="0" anchor="ctr"/>
          <a:lstStyle/>
          <a:p/>
        </p:txBody>
      </p:sp>
      <p:sp>
        <p:nvSpPr>
          <p:cNvPr id="7" name="Rectangle 6"/>
          <p:cNvSpPr/>
          <p:nvPr/>
        </p:nvSpPr>
        <p:spPr>
          <a:xfrm>
            <a:off x="502920" y="1307592"/>
            <a:ext cx="146304" cy="2377440"/>
          </a:xfrm>
          <a:prstGeom prst="rect">
            <a:avLst/>
          </a:prstGeom>
          <a:solidFill>
            <a:srgbClr val="2C6696"/>
          </a:solidFill>
          <a:ln>
            <a:noFill/>
          </a:ln>
          <a:effectLst/>
        </p:spPr>
        <p:txBody>
          <a:bodyPr rtlCol="0" anchor="ctr"/>
          <a:lstStyle/>
          <a:p/>
        </p:txBody>
      </p:sp>
      <p:sp>
        <p:nvSpPr>
          <p:cNvPr id="8" name="TextBox 7"/>
          <p:cNvSpPr txBox="1"/>
          <p:nvPr/>
        </p:nvSpPr>
        <p:spPr>
          <a:xfrm>
            <a:off x="868680" y="1417320"/>
            <a:ext cx="10637215" cy="411480"/>
          </a:xfrm>
          <a:prstGeom prst="rect">
            <a:avLst/>
          </a:prstGeom>
          <a:noFill/>
        </p:spPr>
        <p:txBody>
          <a:bodyPr wrap="square" anchor="t" lIns="73152" rIns="73152" tIns="36576" bIns="36576">
            <a:noAutofit/>
          </a:bodyPr>
          <a:lstStyle/>
          <a:p>
            <a:pPr algn="l">
              <a:spcBef>
                <a:spcPts val="0"/>
              </a:spcBef>
              <a:spcAft>
                <a:spcPts val="0"/>
              </a:spcAft>
            </a:pPr>
            <a:r>
              <a:rPr lang="tr-TR" sz="1800" b="1" i="0">
                <a:solidFill>
                  <a:srgbClr val="2C6696"/>
                </a:solidFill>
                <a:latin typeface="Calibri"/>
              </a:rPr>
              <a:t>HARİTA</a:t>
            </a:r>
          </a:p>
        </p:txBody>
      </p:sp>
      <p:sp>
        <p:nvSpPr>
          <p:cNvPr id="9" name="TextBox 8"/>
          <p:cNvSpPr txBox="1"/>
          <p:nvPr/>
        </p:nvSpPr>
        <p:spPr>
          <a:xfrm>
            <a:off x="868680" y="1810512"/>
            <a:ext cx="10637215" cy="1737360"/>
          </a:xfrm>
          <a:prstGeom prst="rect">
            <a:avLst/>
          </a:prstGeom>
          <a:noFill/>
        </p:spPr>
        <p:txBody>
          <a:bodyPr wrap="square" anchor="ctr" lIns="73152" rIns="73152" tIns="36576" bIns="36576">
            <a:noAutofit/>
          </a:bodyPr>
          <a:lstStyle/>
          <a:p>
            <a:pPr algn="l">
              <a:spcBef>
                <a:spcPts val="0"/>
              </a:spcBef>
              <a:spcAft>
                <a:spcPts val="0"/>
              </a:spcAft>
            </a:pPr>
            <a:r>
              <a:rPr lang="tr-TR" sz="2800" b="0" i="0">
                <a:solidFill>
                  <a:srgbClr val="262626"/>
                </a:solidFill>
                <a:latin typeface="Calibri"/>
              </a:rPr>
              <a:t>Harita, Dünya’nın veya bir başka gök cisminin (Ay, Mars vb.) tamamına veya bir bölümüne ait coğrafi unsurların bir oran dâhilinde küçültülerek kuş bakışı görünümle düzlem üzerine çizilmesidir.</a:t>
            </a:r>
          </a:p>
        </p:txBody>
      </p:sp>
      <p:sp>
        <p:nvSpPr>
          <p:cNvPr id="10" name="Rounded Rectangle 9"/>
          <p:cNvSpPr/>
          <p:nvPr/>
        </p:nvSpPr>
        <p:spPr>
          <a:xfrm>
            <a:off x="502920" y="3867912"/>
            <a:ext cx="3594506" cy="1600200"/>
          </a:xfrm>
          <a:prstGeom prst="roundRect">
            <a:avLst>
              <a:gd name="adj" fmla="val 5000"/>
            </a:avLst>
          </a:prstGeom>
          <a:solidFill>
            <a:srgbClr val="F0F0F0"/>
          </a:solidFill>
          <a:ln>
            <a:noFill/>
          </a:ln>
          <a:effectLst/>
        </p:spPr>
        <p:txBody>
          <a:bodyPr rtlCol="0" anchor="ctr"/>
          <a:lstStyle/>
          <a:p/>
        </p:txBody>
      </p:sp>
      <p:sp>
        <p:nvSpPr>
          <p:cNvPr id="11" name="Rounded Rectangle 10"/>
          <p:cNvSpPr/>
          <p:nvPr/>
        </p:nvSpPr>
        <p:spPr>
          <a:xfrm>
            <a:off x="502920" y="3867912"/>
            <a:ext cx="3594506" cy="530352"/>
          </a:xfrm>
          <a:prstGeom prst="roundRect">
            <a:avLst>
              <a:gd name="adj" fmla="val 25000"/>
            </a:avLst>
          </a:prstGeom>
          <a:solidFill>
            <a:srgbClr val="2C6696"/>
          </a:solidFill>
          <a:ln>
            <a:noFill/>
          </a:ln>
          <a:effectLst/>
        </p:spPr>
        <p:txBody>
          <a:bodyPr rtlCol="0" anchor="ctr"/>
          <a:lstStyle/>
          <a:p/>
        </p:txBody>
      </p:sp>
      <p:sp>
        <p:nvSpPr>
          <p:cNvPr id="12" name="Rectangle 11"/>
          <p:cNvSpPr/>
          <p:nvPr/>
        </p:nvSpPr>
        <p:spPr>
          <a:xfrm>
            <a:off x="502920" y="4133088"/>
            <a:ext cx="3594506" cy="265176"/>
          </a:xfrm>
          <a:prstGeom prst="rect">
            <a:avLst/>
          </a:prstGeom>
          <a:solidFill>
            <a:srgbClr val="2C6696"/>
          </a:solidFill>
          <a:ln>
            <a:noFill/>
          </a:ln>
          <a:effectLst/>
        </p:spPr>
        <p:txBody>
          <a:bodyPr rtlCol="0" anchor="ctr"/>
          <a:lstStyle/>
          <a:p/>
        </p:txBody>
      </p:sp>
      <p:sp>
        <p:nvSpPr>
          <p:cNvPr id="13" name="TextBox 12"/>
          <p:cNvSpPr txBox="1"/>
          <p:nvPr/>
        </p:nvSpPr>
        <p:spPr>
          <a:xfrm>
            <a:off x="594360" y="386791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küçültme</a:t>
            </a:r>
          </a:p>
        </p:txBody>
      </p:sp>
      <p:sp>
        <p:nvSpPr>
          <p:cNvPr id="14" name="TextBox 13"/>
          <p:cNvSpPr txBox="1"/>
          <p:nvPr/>
        </p:nvSpPr>
        <p:spPr>
          <a:xfrm>
            <a:off x="612648" y="4471416"/>
            <a:ext cx="3375050" cy="92354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bir oran dâhilinde → ölçek</a:t>
            </a:r>
          </a:p>
        </p:txBody>
      </p:sp>
      <p:sp>
        <p:nvSpPr>
          <p:cNvPr id="15" name="Rounded Rectangle 14"/>
          <p:cNvSpPr/>
          <p:nvPr/>
        </p:nvSpPr>
        <p:spPr>
          <a:xfrm>
            <a:off x="4298594" y="3867912"/>
            <a:ext cx="3594506" cy="1600200"/>
          </a:xfrm>
          <a:prstGeom prst="roundRect">
            <a:avLst>
              <a:gd name="adj" fmla="val 5000"/>
            </a:avLst>
          </a:prstGeom>
          <a:solidFill>
            <a:srgbClr val="F0F0F0"/>
          </a:solidFill>
          <a:ln>
            <a:noFill/>
          </a:ln>
          <a:effectLst/>
        </p:spPr>
        <p:txBody>
          <a:bodyPr rtlCol="0" anchor="ctr"/>
          <a:lstStyle/>
          <a:p/>
        </p:txBody>
      </p:sp>
      <p:sp>
        <p:nvSpPr>
          <p:cNvPr id="16" name="Rounded Rectangle 15"/>
          <p:cNvSpPr/>
          <p:nvPr/>
        </p:nvSpPr>
        <p:spPr>
          <a:xfrm>
            <a:off x="4298594" y="3867912"/>
            <a:ext cx="3594506" cy="530352"/>
          </a:xfrm>
          <a:prstGeom prst="roundRect">
            <a:avLst>
              <a:gd name="adj" fmla="val 25000"/>
            </a:avLst>
          </a:prstGeom>
          <a:solidFill>
            <a:srgbClr val="4F4F4F"/>
          </a:solidFill>
          <a:ln>
            <a:noFill/>
          </a:ln>
          <a:effectLst/>
        </p:spPr>
        <p:txBody>
          <a:bodyPr rtlCol="0" anchor="ctr"/>
          <a:lstStyle/>
          <a:p/>
        </p:txBody>
      </p:sp>
      <p:sp>
        <p:nvSpPr>
          <p:cNvPr id="17" name="Rectangle 16"/>
          <p:cNvSpPr/>
          <p:nvPr/>
        </p:nvSpPr>
        <p:spPr>
          <a:xfrm>
            <a:off x="4298594" y="4133088"/>
            <a:ext cx="3594506" cy="265176"/>
          </a:xfrm>
          <a:prstGeom prst="rect">
            <a:avLst/>
          </a:prstGeom>
          <a:solidFill>
            <a:srgbClr val="4F4F4F"/>
          </a:solidFill>
          <a:ln>
            <a:noFill/>
          </a:ln>
          <a:effectLst/>
        </p:spPr>
        <p:txBody>
          <a:bodyPr rtlCol="0" anchor="ctr"/>
          <a:lstStyle/>
          <a:p/>
        </p:txBody>
      </p:sp>
      <p:sp>
        <p:nvSpPr>
          <p:cNvPr id="18" name="TextBox 17"/>
          <p:cNvSpPr txBox="1"/>
          <p:nvPr/>
        </p:nvSpPr>
        <p:spPr>
          <a:xfrm>
            <a:off x="4390034" y="386791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kuş bakışı</a:t>
            </a:r>
          </a:p>
        </p:txBody>
      </p:sp>
      <p:sp>
        <p:nvSpPr>
          <p:cNvPr id="19" name="TextBox 18"/>
          <p:cNvSpPr txBox="1"/>
          <p:nvPr/>
        </p:nvSpPr>
        <p:spPr>
          <a:xfrm>
            <a:off x="4408322" y="4471416"/>
            <a:ext cx="3375050" cy="92354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dik açıyla, gökyüzünden bakılıyormuş gibi</a:t>
            </a:r>
          </a:p>
        </p:txBody>
      </p:sp>
      <p:sp>
        <p:nvSpPr>
          <p:cNvPr id="20" name="Rounded Rectangle 19"/>
          <p:cNvSpPr/>
          <p:nvPr/>
        </p:nvSpPr>
        <p:spPr>
          <a:xfrm>
            <a:off x="8094268" y="3867912"/>
            <a:ext cx="3594506" cy="1600200"/>
          </a:xfrm>
          <a:prstGeom prst="roundRect">
            <a:avLst>
              <a:gd name="adj" fmla="val 5000"/>
            </a:avLst>
          </a:prstGeom>
          <a:solidFill>
            <a:srgbClr val="F0F0F0"/>
          </a:solidFill>
          <a:ln>
            <a:noFill/>
          </a:ln>
          <a:effectLst/>
        </p:spPr>
        <p:txBody>
          <a:bodyPr rtlCol="0" anchor="ctr"/>
          <a:lstStyle/>
          <a:p/>
        </p:txBody>
      </p:sp>
      <p:sp>
        <p:nvSpPr>
          <p:cNvPr id="21" name="Rounded Rectangle 20"/>
          <p:cNvSpPr/>
          <p:nvPr/>
        </p:nvSpPr>
        <p:spPr>
          <a:xfrm>
            <a:off x="8094268" y="3867912"/>
            <a:ext cx="3594506" cy="530352"/>
          </a:xfrm>
          <a:prstGeom prst="roundRect">
            <a:avLst>
              <a:gd name="adj" fmla="val 25000"/>
            </a:avLst>
          </a:prstGeom>
          <a:solidFill>
            <a:srgbClr val="2C6696"/>
          </a:solidFill>
          <a:ln>
            <a:noFill/>
          </a:ln>
          <a:effectLst/>
        </p:spPr>
        <p:txBody>
          <a:bodyPr rtlCol="0" anchor="ctr"/>
          <a:lstStyle/>
          <a:p/>
        </p:txBody>
      </p:sp>
      <p:sp>
        <p:nvSpPr>
          <p:cNvPr id="22" name="Rectangle 21"/>
          <p:cNvSpPr/>
          <p:nvPr/>
        </p:nvSpPr>
        <p:spPr>
          <a:xfrm>
            <a:off x="8094268" y="4133088"/>
            <a:ext cx="3594506" cy="265176"/>
          </a:xfrm>
          <a:prstGeom prst="rect">
            <a:avLst/>
          </a:prstGeom>
          <a:solidFill>
            <a:srgbClr val="2C6696"/>
          </a:solidFill>
          <a:ln>
            <a:noFill/>
          </a:ln>
          <a:effectLst/>
        </p:spPr>
        <p:txBody>
          <a:bodyPr rtlCol="0" anchor="ctr"/>
          <a:lstStyle/>
          <a:p/>
        </p:txBody>
      </p:sp>
      <p:sp>
        <p:nvSpPr>
          <p:cNvPr id="23" name="TextBox 22"/>
          <p:cNvSpPr txBox="1"/>
          <p:nvPr/>
        </p:nvSpPr>
        <p:spPr>
          <a:xfrm>
            <a:off x="8185708" y="386791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düzlem</a:t>
            </a:r>
          </a:p>
        </p:txBody>
      </p:sp>
      <p:sp>
        <p:nvSpPr>
          <p:cNvPr id="24" name="TextBox 23"/>
          <p:cNvSpPr txBox="1"/>
          <p:nvPr/>
        </p:nvSpPr>
        <p:spPr>
          <a:xfrm>
            <a:off x="8203996" y="4471416"/>
            <a:ext cx="3375050" cy="92354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kâğıt, kabartma yüzey ya da ekran</a:t>
            </a:r>
          </a:p>
        </p:txBody>
      </p:sp>
      <p:sp>
        <p:nvSpPr>
          <p:cNvPr id="25" name="TextBox 24"/>
          <p:cNvSpPr txBox="1"/>
          <p:nvPr/>
        </p:nvSpPr>
        <p:spPr>
          <a:xfrm>
            <a:off x="502920" y="5605272"/>
            <a:ext cx="11185855" cy="594360"/>
          </a:xfrm>
          <a:prstGeom prst="rect">
            <a:avLst/>
          </a:prstGeom>
          <a:noFill/>
        </p:spPr>
        <p:txBody>
          <a:bodyPr wrap="square" anchor="ctr" lIns="73152" rIns="73152" tIns="36576" bIns="36576">
            <a:noAutofit/>
          </a:bodyPr>
          <a:lstStyle/>
          <a:p>
            <a:pPr algn="l">
              <a:spcBef>
                <a:spcPts val="0"/>
              </a:spcBef>
              <a:spcAft>
                <a:spcPts val="0"/>
              </a:spcAft>
            </a:pPr>
            <a:r>
              <a:rPr lang="tr-TR" sz="2100" b="0" i="1">
                <a:solidFill>
                  <a:srgbClr val="767676"/>
                </a:solidFill>
                <a:latin typeface="Calibri"/>
              </a:rPr>
              <a:t>Haritada kullanım amacına göre coğrafi olay, olgu ve özellikler gösterilir.</a:t>
            </a:r>
          </a:p>
        </p:txBody>
      </p:sp>
      <p:sp>
        <p:nvSpPr>
          <p:cNvPr id="26" name="TextBox 2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27" name="Rounded Rectangle 2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35</a:t>
            </a:r>
          </a:p>
        </p:txBody>
      </p:sp>
      <p:sp>
        <p:nvSpPr>
          <p:cNvPr id="28" name="TextBox 2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18 / 226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Bir çizim ne zaman harita olur?</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HARİTA</a:t>
            </a:r>
          </a:p>
        </p:txBody>
      </p:sp>
      <p:sp>
        <p:nvSpPr>
          <p:cNvPr id="6" name="Rounded Rectangle 5"/>
          <p:cNvSpPr/>
          <p:nvPr/>
        </p:nvSpPr>
        <p:spPr>
          <a:xfrm>
            <a:off x="502920" y="1261872"/>
            <a:ext cx="3594506" cy="301752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61872"/>
            <a:ext cx="3594506" cy="530352"/>
          </a:xfrm>
          <a:prstGeom prst="roundRect">
            <a:avLst>
              <a:gd name="adj" fmla="val 25000"/>
            </a:avLst>
          </a:prstGeom>
          <a:solidFill>
            <a:srgbClr val="2C6696"/>
          </a:solidFill>
          <a:ln>
            <a:noFill/>
          </a:ln>
          <a:effectLst/>
        </p:spPr>
        <p:txBody>
          <a:bodyPr rtlCol="0" anchor="ctr"/>
          <a:lstStyle/>
          <a:p/>
        </p:txBody>
      </p:sp>
      <p:sp>
        <p:nvSpPr>
          <p:cNvPr id="8" name="Rectangle 7"/>
          <p:cNvSpPr/>
          <p:nvPr/>
        </p:nvSpPr>
        <p:spPr>
          <a:xfrm>
            <a:off x="502920" y="1527048"/>
            <a:ext cx="3594506" cy="265176"/>
          </a:xfrm>
          <a:prstGeom prst="rect">
            <a:avLst/>
          </a:prstGeom>
          <a:solidFill>
            <a:srgbClr val="2C6696"/>
          </a:solidFill>
          <a:ln>
            <a:noFill/>
          </a:ln>
          <a:effectLst/>
        </p:spPr>
        <p:txBody>
          <a:bodyPr rtlCol="0" anchor="ctr"/>
          <a:lstStyle/>
          <a:p/>
        </p:txBody>
      </p:sp>
      <p:sp>
        <p:nvSpPr>
          <p:cNvPr id="9" name="TextBox 8"/>
          <p:cNvSpPr txBox="1"/>
          <p:nvPr/>
        </p:nvSpPr>
        <p:spPr>
          <a:xfrm>
            <a:off x="594360" y="126187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1 · Kuş bakışı</a:t>
            </a:r>
          </a:p>
        </p:txBody>
      </p:sp>
      <p:sp>
        <p:nvSpPr>
          <p:cNvPr id="10" name="TextBox 9"/>
          <p:cNvSpPr txBox="1"/>
          <p:nvPr/>
        </p:nvSpPr>
        <p:spPr>
          <a:xfrm>
            <a:off x="612648" y="1865376"/>
            <a:ext cx="3375050" cy="2340864"/>
          </a:xfrm>
          <a:prstGeom prst="rect">
            <a:avLst/>
          </a:prstGeom>
          <a:noFill/>
        </p:spPr>
        <p:txBody>
          <a:bodyPr wrap="square" anchor="t" lIns="73152" rIns="73152" tIns="36576" bIns="36576">
            <a:noAutofit/>
          </a:bodyPr>
          <a:lstStyle/>
          <a:p>
            <a:pPr algn="l">
              <a:spcBef>
                <a:spcPts val="0"/>
              </a:spcBef>
              <a:spcAft>
                <a:spcPts val="0"/>
              </a:spcAft>
            </a:pPr>
            <a:r>
              <a:rPr lang="tr-TR" sz="2000" b="0" i="0">
                <a:solidFill>
                  <a:srgbClr val="262626"/>
                </a:solidFill>
                <a:latin typeface="Calibri"/>
              </a:rPr>
              <a:t>Haritalar, kuş bakışı görünümle diğer bir ifadeyle dik açıyla gökyüzünden bakılıyormuş gibi çizilir.</a:t>
            </a:r>
          </a:p>
        </p:txBody>
      </p:sp>
      <p:sp>
        <p:nvSpPr>
          <p:cNvPr id="11" name="Rounded Rectangle 10"/>
          <p:cNvSpPr/>
          <p:nvPr/>
        </p:nvSpPr>
        <p:spPr>
          <a:xfrm>
            <a:off x="4298594" y="1261872"/>
            <a:ext cx="3594506" cy="301752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4298594" y="1261872"/>
            <a:ext cx="3594506" cy="530352"/>
          </a:xfrm>
          <a:prstGeom prst="roundRect">
            <a:avLst>
              <a:gd name="adj" fmla="val 25000"/>
            </a:avLst>
          </a:prstGeom>
          <a:solidFill>
            <a:srgbClr val="4F4F4F"/>
          </a:solidFill>
          <a:ln>
            <a:noFill/>
          </a:ln>
          <a:effectLst/>
        </p:spPr>
        <p:txBody>
          <a:bodyPr rtlCol="0" anchor="ctr"/>
          <a:lstStyle/>
          <a:p/>
        </p:txBody>
      </p:sp>
      <p:sp>
        <p:nvSpPr>
          <p:cNvPr id="13" name="Rectangle 12"/>
          <p:cNvSpPr/>
          <p:nvPr/>
        </p:nvSpPr>
        <p:spPr>
          <a:xfrm>
            <a:off x="4298594" y="1527048"/>
            <a:ext cx="3594506" cy="265176"/>
          </a:xfrm>
          <a:prstGeom prst="rect">
            <a:avLst/>
          </a:prstGeom>
          <a:solidFill>
            <a:srgbClr val="4F4F4F"/>
          </a:solidFill>
          <a:ln>
            <a:noFill/>
          </a:ln>
          <a:effectLst/>
        </p:spPr>
        <p:txBody>
          <a:bodyPr rtlCol="0" anchor="ctr"/>
          <a:lstStyle/>
          <a:p/>
        </p:txBody>
      </p:sp>
      <p:sp>
        <p:nvSpPr>
          <p:cNvPr id="14" name="TextBox 13"/>
          <p:cNvSpPr txBox="1"/>
          <p:nvPr/>
        </p:nvSpPr>
        <p:spPr>
          <a:xfrm>
            <a:off x="4390034" y="126187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2 · Ölçek</a:t>
            </a:r>
          </a:p>
        </p:txBody>
      </p:sp>
      <p:sp>
        <p:nvSpPr>
          <p:cNvPr id="15" name="TextBox 14"/>
          <p:cNvSpPr txBox="1"/>
          <p:nvPr/>
        </p:nvSpPr>
        <p:spPr>
          <a:xfrm>
            <a:off x="4408322" y="1865376"/>
            <a:ext cx="3375050" cy="2340864"/>
          </a:xfrm>
          <a:prstGeom prst="rect">
            <a:avLst/>
          </a:prstGeom>
          <a:noFill/>
        </p:spPr>
        <p:txBody>
          <a:bodyPr wrap="square" anchor="t" lIns="73152" rIns="73152" tIns="36576" bIns="36576">
            <a:noAutofit/>
          </a:bodyPr>
          <a:lstStyle/>
          <a:p>
            <a:pPr algn="l">
              <a:spcBef>
                <a:spcPts val="0"/>
              </a:spcBef>
              <a:spcAft>
                <a:spcPts val="0"/>
              </a:spcAft>
            </a:pPr>
            <a:r>
              <a:rPr lang="tr-TR" sz="2000" b="0" i="0">
                <a:solidFill>
                  <a:srgbClr val="262626"/>
                </a:solidFill>
                <a:latin typeface="Calibri"/>
              </a:rPr>
              <a:t>Haritalarda ölçek kullanılır. Buna göre haritanın tümünde gerçek boyutlar orantılı bir şekilde küçültülür.</a:t>
            </a:r>
          </a:p>
        </p:txBody>
      </p:sp>
      <p:sp>
        <p:nvSpPr>
          <p:cNvPr id="16" name="Rounded Rectangle 15"/>
          <p:cNvSpPr/>
          <p:nvPr/>
        </p:nvSpPr>
        <p:spPr>
          <a:xfrm>
            <a:off x="8094268" y="1261872"/>
            <a:ext cx="3594506" cy="301752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8094268" y="1261872"/>
            <a:ext cx="3594506" cy="530352"/>
          </a:xfrm>
          <a:prstGeom prst="roundRect">
            <a:avLst>
              <a:gd name="adj" fmla="val 25000"/>
            </a:avLst>
          </a:prstGeom>
          <a:solidFill>
            <a:srgbClr val="2C6696"/>
          </a:solidFill>
          <a:ln>
            <a:noFill/>
          </a:ln>
          <a:effectLst/>
        </p:spPr>
        <p:txBody>
          <a:bodyPr rtlCol="0" anchor="ctr"/>
          <a:lstStyle/>
          <a:p/>
        </p:txBody>
      </p:sp>
      <p:sp>
        <p:nvSpPr>
          <p:cNvPr id="18" name="Rectangle 17"/>
          <p:cNvSpPr/>
          <p:nvPr/>
        </p:nvSpPr>
        <p:spPr>
          <a:xfrm>
            <a:off x="8094268" y="1527048"/>
            <a:ext cx="3594506" cy="265176"/>
          </a:xfrm>
          <a:prstGeom prst="rect">
            <a:avLst/>
          </a:prstGeom>
          <a:solidFill>
            <a:srgbClr val="2C6696"/>
          </a:solidFill>
          <a:ln>
            <a:noFill/>
          </a:ln>
          <a:effectLst/>
        </p:spPr>
        <p:txBody>
          <a:bodyPr rtlCol="0" anchor="ctr"/>
          <a:lstStyle/>
          <a:p/>
        </p:txBody>
      </p:sp>
      <p:sp>
        <p:nvSpPr>
          <p:cNvPr id="19" name="TextBox 18"/>
          <p:cNvSpPr txBox="1"/>
          <p:nvPr/>
        </p:nvSpPr>
        <p:spPr>
          <a:xfrm>
            <a:off x="8185708" y="126187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3 · Düzlem</a:t>
            </a:r>
          </a:p>
        </p:txBody>
      </p:sp>
      <p:sp>
        <p:nvSpPr>
          <p:cNvPr id="20" name="TextBox 19"/>
          <p:cNvSpPr txBox="1"/>
          <p:nvPr/>
        </p:nvSpPr>
        <p:spPr>
          <a:xfrm>
            <a:off x="8203996" y="1865376"/>
            <a:ext cx="3375050" cy="2340864"/>
          </a:xfrm>
          <a:prstGeom prst="rect">
            <a:avLst/>
          </a:prstGeom>
          <a:noFill/>
        </p:spPr>
        <p:txBody>
          <a:bodyPr wrap="square" anchor="t" lIns="73152" rIns="73152" tIns="36576" bIns="36576">
            <a:noAutofit/>
          </a:bodyPr>
          <a:lstStyle/>
          <a:p>
            <a:pPr algn="l">
              <a:spcBef>
                <a:spcPts val="0"/>
              </a:spcBef>
              <a:spcAft>
                <a:spcPts val="0"/>
              </a:spcAft>
            </a:pPr>
            <a:r>
              <a:rPr lang="tr-TR" sz="2000" b="0" i="0">
                <a:solidFill>
                  <a:srgbClr val="262626"/>
                </a:solidFill>
                <a:latin typeface="Calibri"/>
              </a:rPr>
              <a:t>Haritalar düzlem üzerine çizilir. Bir yerin doğal ve beşerî unsurlarına ait bilgilerin aktarıldığı düzlem; kâğıt, kabartma yüzeyler veya ekran olabilir.</a:t>
            </a:r>
          </a:p>
        </p:txBody>
      </p:sp>
      <p:sp>
        <p:nvSpPr>
          <p:cNvPr id="21" name="Rounded Rectangle 20"/>
          <p:cNvSpPr/>
          <p:nvPr/>
        </p:nvSpPr>
        <p:spPr>
          <a:xfrm>
            <a:off x="502920" y="4462272"/>
            <a:ext cx="11185855" cy="1783080"/>
          </a:xfrm>
          <a:prstGeom prst="roundRect">
            <a:avLst>
              <a:gd name="adj" fmla="val 8000"/>
            </a:avLst>
          </a:prstGeom>
          <a:solidFill>
            <a:srgbClr val="F9E1E1"/>
          </a:solidFill>
          <a:ln>
            <a:noFill/>
          </a:ln>
          <a:effectLst/>
        </p:spPr>
        <p:txBody>
          <a:bodyPr rtlCol="0" anchor="ctr" wrap="square" lIns="274320" rIns="274320" tIns="73152" bIns="73152">
            <a:noAutofit/>
          </a:bodyPr>
          <a:lstStyle/>
          <a:p>
            <a:pPr algn="l">
              <a:spcBef>
                <a:spcPts val="0"/>
              </a:spcBef>
              <a:spcAft>
                <a:spcPts val="400"/>
              </a:spcAft>
            </a:pPr>
            <a:r>
              <a:rPr lang="tr-TR" sz="2300" b="1" i="0">
                <a:solidFill>
                  <a:srgbClr val="D3373A"/>
                </a:solidFill>
                <a:latin typeface="Calibri"/>
              </a:rPr>
              <a:t>KROKİ</a:t>
            </a:r>
          </a:p>
          <a:p>
            <a:pPr algn="l">
              <a:spcBef>
                <a:spcPts val="0"/>
              </a:spcBef>
              <a:spcAft>
                <a:spcPts val="0"/>
              </a:spcAft>
            </a:pPr>
            <a:r>
              <a:rPr lang="tr-TR" sz="2300" b="0" i="0">
                <a:solidFill>
                  <a:srgbClr val="262626"/>
                </a:solidFill>
                <a:latin typeface="Calibri"/>
              </a:rPr>
              <a:t>Ölçek kullanılmadan yapılan kabataslak çizimler kroki olarak adlandırılır. Ölçeği olmadığı için kroki üzerinde uzunluk ve alan hesaplaması yapılamaz.</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35</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19 / 226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Harita özellikleri: hangileri doğru?</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DOĞRU OLANLARI SEÇ</a:t>
            </a:r>
          </a:p>
        </p:txBody>
      </p:sp>
      <p:sp>
        <p:nvSpPr>
          <p:cNvPr id="6" name="Rounded Rectangle 5"/>
          <p:cNvSpPr/>
          <p:nvPr/>
        </p:nvSpPr>
        <p:spPr>
          <a:xfrm>
            <a:off x="502920" y="1216152"/>
            <a:ext cx="11185855" cy="731520"/>
          </a:xfrm>
          <a:prstGeom prst="roundRect">
            <a:avLst>
              <a:gd name="adj" fmla="val 25000"/>
            </a:avLst>
          </a:prstGeom>
          <a:solidFill>
            <a:srgbClr val="FFFFFF"/>
          </a:solidFill>
          <a:ln w="12700">
            <a:solidFill>
              <a:srgbClr val="D9D9D9"/>
            </a:solidFill>
          </a:ln>
          <a:effectLst/>
        </p:spPr>
        <p:txBody>
          <a:bodyPr rtlCol="0" anchor="ctr"/>
          <a:lstStyle/>
          <a:p/>
        </p:txBody>
      </p:sp>
      <p:sp>
        <p:nvSpPr>
          <p:cNvPr id="7" name="Oval 6"/>
          <p:cNvSpPr/>
          <p:nvPr/>
        </p:nvSpPr>
        <p:spPr>
          <a:xfrm>
            <a:off x="612648" y="1325880"/>
            <a:ext cx="512064" cy="512064"/>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1</a:t>
            </a:r>
          </a:p>
        </p:txBody>
      </p:sp>
      <p:sp>
        <p:nvSpPr>
          <p:cNvPr id="8" name="TextBox 7"/>
          <p:cNvSpPr txBox="1"/>
          <p:nvPr/>
        </p:nvSpPr>
        <p:spPr>
          <a:xfrm>
            <a:off x="1280160" y="1216152"/>
            <a:ext cx="10271455" cy="73152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Haritada kullanım amacına göre coğrafi olay, olgu ve özellikler gösterilir.</a:t>
            </a:r>
          </a:p>
        </p:txBody>
      </p:sp>
      <p:sp>
        <p:nvSpPr>
          <p:cNvPr id="9" name="Rounded Rectangle 8"/>
          <p:cNvSpPr/>
          <p:nvPr/>
        </p:nvSpPr>
        <p:spPr>
          <a:xfrm>
            <a:off x="502920" y="2057400"/>
            <a:ext cx="11185855" cy="731520"/>
          </a:xfrm>
          <a:prstGeom prst="roundRect">
            <a:avLst>
              <a:gd name="adj" fmla="val 25000"/>
            </a:avLst>
          </a:prstGeom>
          <a:solidFill>
            <a:srgbClr val="FFFFFF"/>
          </a:solidFill>
          <a:ln w="12700">
            <a:solidFill>
              <a:srgbClr val="D9D9D9"/>
            </a:solidFill>
          </a:ln>
          <a:effectLst/>
        </p:spPr>
        <p:txBody>
          <a:bodyPr rtlCol="0" anchor="ctr"/>
          <a:lstStyle/>
          <a:p/>
        </p:txBody>
      </p:sp>
      <p:sp>
        <p:nvSpPr>
          <p:cNvPr id="10" name="Oval 9"/>
          <p:cNvSpPr/>
          <p:nvPr/>
        </p:nvSpPr>
        <p:spPr>
          <a:xfrm>
            <a:off x="612648" y="2167128"/>
            <a:ext cx="512064" cy="512064"/>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2</a:t>
            </a:r>
          </a:p>
        </p:txBody>
      </p:sp>
      <p:sp>
        <p:nvSpPr>
          <p:cNvPr id="11" name="TextBox 10"/>
          <p:cNvSpPr txBox="1"/>
          <p:nvPr/>
        </p:nvSpPr>
        <p:spPr>
          <a:xfrm>
            <a:off x="1280160" y="2057400"/>
            <a:ext cx="10271455" cy="73152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Kroki üzerinde uzunluk ve alan hesaplaması yapılabilir.</a:t>
            </a:r>
          </a:p>
        </p:txBody>
      </p:sp>
      <p:sp>
        <p:nvSpPr>
          <p:cNvPr id="12" name="Rounded Rectangle 11"/>
          <p:cNvSpPr/>
          <p:nvPr/>
        </p:nvSpPr>
        <p:spPr>
          <a:xfrm>
            <a:off x="502920" y="2898648"/>
            <a:ext cx="11185855" cy="731520"/>
          </a:xfrm>
          <a:prstGeom prst="roundRect">
            <a:avLst>
              <a:gd name="adj" fmla="val 25000"/>
            </a:avLst>
          </a:prstGeom>
          <a:solidFill>
            <a:srgbClr val="FFFFFF"/>
          </a:solidFill>
          <a:ln w="12700">
            <a:solidFill>
              <a:srgbClr val="D9D9D9"/>
            </a:solidFill>
          </a:ln>
          <a:effectLst/>
        </p:spPr>
        <p:txBody>
          <a:bodyPr rtlCol="0" anchor="ctr"/>
          <a:lstStyle/>
          <a:p/>
        </p:txBody>
      </p:sp>
      <p:sp>
        <p:nvSpPr>
          <p:cNvPr id="13" name="Oval 12"/>
          <p:cNvSpPr/>
          <p:nvPr/>
        </p:nvSpPr>
        <p:spPr>
          <a:xfrm>
            <a:off x="612648" y="3008376"/>
            <a:ext cx="512064" cy="512064"/>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3</a:t>
            </a:r>
          </a:p>
        </p:txBody>
      </p:sp>
      <p:sp>
        <p:nvSpPr>
          <p:cNvPr id="14" name="TextBox 13"/>
          <p:cNvSpPr txBox="1"/>
          <p:nvPr/>
        </p:nvSpPr>
        <p:spPr>
          <a:xfrm>
            <a:off x="1280160" y="2898648"/>
            <a:ext cx="10271455" cy="73152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Haritalarda ölçek kullanılır; haritanın tümünde gerçek boyutlar orantılı olarak büyütülür.</a:t>
            </a:r>
          </a:p>
        </p:txBody>
      </p:sp>
      <p:sp>
        <p:nvSpPr>
          <p:cNvPr id="15" name="Rounded Rectangle 14"/>
          <p:cNvSpPr/>
          <p:nvPr/>
        </p:nvSpPr>
        <p:spPr>
          <a:xfrm>
            <a:off x="502920" y="3739896"/>
            <a:ext cx="11185855" cy="731520"/>
          </a:xfrm>
          <a:prstGeom prst="roundRect">
            <a:avLst>
              <a:gd name="adj" fmla="val 25000"/>
            </a:avLst>
          </a:prstGeom>
          <a:solidFill>
            <a:srgbClr val="FFFFFF"/>
          </a:solidFill>
          <a:ln w="12700">
            <a:solidFill>
              <a:srgbClr val="D9D9D9"/>
            </a:solidFill>
          </a:ln>
          <a:effectLst/>
        </p:spPr>
        <p:txBody>
          <a:bodyPr rtlCol="0" anchor="ctr"/>
          <a:lstStyle/>
          <a:p/>
        </p:txBody>
      </p:sp>
      <p:sp>
        <p:nvSpPr>
          <p:cNvPr id="16" name="Oval 15"/>
          <p:cNvSpPr/>
          <p:nvPr/>
        </p:nvSpPr>
        <p:spPr>
          <a:xfrm>
            <a:off x="612648" y="3849624"/>
            <a:ext cx="512064" cy="512064"/>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4</a:t>
            </a:r>
          </a:p>
        </p:txBody>
      </p:sp>
      <p:sp>
        <p:nvSpPr>
          <p:cNvPr id="17" name="TextBox 16"/>
          <p:cNvSpPr txBox="1"/>
          <p:nvPr/>
        </p:nvSpPr>
        <p:spPr>
          <a:xfrm>
            <a:off x="1280160" y="3739896"/>
            <a:ext cx="10271455" cy="73152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Haritalar, kuş bakışı görünümle diğer bir ifadeyle dik açıyla gökyüzünden bakılıyormuş gibi çizilir.</a:t>
            </a:r>
          </a:p>
        </p:txBody>
      </p:sp>
      <p:sp>
        <p:nvSpPr>
          <p:cNvPr id="18" name="Rounded Rectangle 17"/>
          <p:cNvSpPr/>
          <p:nvPr/>
        </p:nvSpPr>
        <p:spPr>
          <a:xfrm>
            <a:off x="502920" y="4581144"/>
            <a:ext cx="11185855" cy="731520"/>
          </a:xfrm>
          <a:prstGeom prst="roundRect">
            <a:avLst>
              <a:gd name="adj" fmla="val 25000"/>
            </a:avLst>
          </a:prstGeom>
          <a:solidFill>
            <a:srgbClr val="FFFFFF"/>
          </a:solidFill>
          <a:ln w="12700">
            <a:solidFill>
              <a:srgbClr val="D9D9D9"/>
            </a:solidFill>
          </a:ln>
          <a:effectLst/>
        </p:spPr>
        <p:txBody>
          <a:bodyPr rtlCol="0" anchor="ctr"/>
          <a:lstStyle/>
          <a:p/>
        </p:txBody>
      </p:sp>
      <p:sp>
        <p:nvSpPr>
          <p:cNvPr id="19" name="Oval 18"/>
          <p:cNvSpPr/>
          <p:nvPr/>
        </p:nvSpPr>
        <p:spPr>
          <a:xfrm>
            <a:off x="612648" y="4690872"/>
            <a:ext cx="512064" cy="512064"/>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5</a:t>
            </a:r>
          </a:p>
        </p:txBody>
      </p:sp>
      <p:sp>
        <p:nvSpPr>
          <p:cNvPr id="20" name="TextBox 19"/>
          <p:cNvSpPr txBox="1"/>
          <p:nvPr/>
        </p:nvSpPr>
        <p:spPr>
          <a:xfrm>
            <a:off x="1280160" y="4581144"/>
            <a:ext cx="10271455" cy="73152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Haritalar düzlem üzerine çizilir.</a:t>
            </a:r>
          </a:p>
        </p:txBody>
      </p:sp>
      <p:sp>
        <p:nvSpPr>
          <p:cNvPr id="21" name="Rounded Rectangle 20"/>
          <p:cNvSpPr/>
          <p:nvPr/>
        </p:nvSpPr>
        <p:spPr>
          <a:xfrm>
            <a:off x="502920" y="5422392"/>
            <a:ext cx="11185855" cy="731520"/>
          </a:xfrm>
          <a:prstGeom prst="roundRect">
            <a:avLst>
              <a:gd name="adj" fmla="val 25000"/>
            </a:avLst>
          </a:prstGeom>
          <a:solidFill>
            <a:srgbClr val="FFFFFF"/>
          </a:solidFill>
          <a:ln w="12700">
            <a:solidFill>
              <a:srgbClr val="D9D9D9"/>
            </a:solidFill>
          </a:ln>
          <a:effectLst/>
        </p:spPr>
        <p:txBody>
          <a:bodyPr rtlCol="0" anchor="ctr"/>
          <a:lstStyle/>
          <a:p/>
        </p:txBody>
      </p:sp>
      <p:sp>
        <p:nvSpPr>
          <p:cNvPr id="22" name="Oval 21"/>
          <p:cNvSpPr/>
          <p:nvPr/>
        </p:nvSpPr>
        <p:spPr>
          <a:xfrm>
            <a:off x="612648" y="5532120"/>
            <a:ext cx="512064" cy="512064"/>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6</a:t>
            </a:r>
          </a:p>
        </p:txBody>
      </p:sp>
      <p:sp>
        <p:nvSpPr>
          <p:cNvPr id="23" name="TextBox 22"/>
          <p:cNvSpPr txBox="1"/>
          <p:nvPr/>
        </p:nvSpPr>
        <p:spPr>
          <a:xfrm>
            <a:off x="1280160" y="5422392"/>
            <a:ext cx="10271455" cy="73152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Ölçek kullanılmadan yapılan kabataslak çizimler kroki olarak adlandırılır.</a:t>
            </a:r>
          </a:p>
        </p:txBody>
      </p:sp>
      <p:sp>
        <p:nvSpPr>
          <p:cNvPr id="24" name="TextBox 2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25" name="Rounded Rectangle 2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35</a:t>
            </a:r>
          </a:p>
        </p:txBody>
      </p:sp>
      <p:sp>
        <p:nvSpPr>
          <p:cNvPr id="26" name="TextBox 2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20 / 226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Harita özellikleri: hangileri doğru?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11185855" cy="731520"/>
          </a:xfrm>
          <a:prstGeom prst="roundRect">
            <a:avLst>
              <a:gd name="adj" fmla="val 25000"/>
            </a:avLst>
          </a:prstGeom>
          <a:solidFill>
            <a:srgbClr val="E3F1E4"/>
          </a:solidFill>
          <a:ln w="25400">
            <a:solidFill>
              <a:srgbClr val="2E7D32"/>
            </a:solidFill>
          </a:ln>
          <a:effectLst/>
        </p:spPr>
        <p:txBody>
          <a:bodyPr rtlCol="0" anchor="ctr"/>
          <a:lstStyle/>
          <a:p/>
        </p:txBody>
      </p:sp>
      <p:sp>
        <p:nvSpPr>
          <p:cNvPr id="7" name="Oval 6"/>
          <p:cNvSpPr/>
          <p:nvPr/>
        </p:nvSpPr>
        <p:spPr>
          <a:xfrm>
            <a:off x="612648" y="1325880"/>
            <a:ext cx="512064" cy="512064"/>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t>
            </a:r>
          </a:p>
        </p:txBody>
      </p:sp>
      <p:sp>
        <p:nvSpPr>
          <p:cNvPr id="8" name="TextBox 7"/>
          <p:cNvSpPr txBox="1"/>
          <p:nvPr/>
        </p:nvSpPr>
        <p:spPr>
          <a:xfrm>
            <a:off x="1280160" y="1216152"/>
            <a:ext cx="10271455" cy="73152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1. Haritada kullanım amacına göre coğrafi olay, olgu ve özellikler gösterilir.</a:t>
            </a:r>
          </a:p>
        </p:txBody>
      </p:sp>
      <p:sp>
        <p:nvSpPr>
          <p:cNvPr id="9" name="Rounded Rectangle 8"/>
          <p:cNvSpPr/>
          <p:nvPr/>
        </p:nvSpPr>
        <p:spPr>
          <a:xfrm>
            <a:off x="502920" y="2057400"/>
            <a:ext cx="11185855" cy="731520"/>
          </a:xfrm>
          <a:prstGeom prst="roundRect">
            <a:avLst>
              <a:gd name="adj" fmla="val 25000"/>
            </a:avLst>
          </a:prstGeom>
          <a:solidFill>
            <a:srgbClr val="F9E1E1"/>
          </a:solidFill>
          <a:ln w="25400">
            <a:solidFill>
              <a:srgbClr val="D3373A"/>
            </a:solidFill>
          </a:ln>
          <a:effectLst/>
        </p:spPr>
        <p:txBody>
          <a:bodyPr rtlCol="0" anchor="ctr"/>
          <a:lstStyle/>
          <a:p/>
        </p:txBody>
      </p:sp>
      <p:sp>
        <p:nvSpPr>
          <p:cNvPr id="10" name="Oval 9"/>
          <p:cNvSpPr/>
          <p:nvPr/>
        </p:nvSpPr>
        <p:spPr>
          <a:xfrm>
            <a:off x="612648" y="2167128"/>
            <a:ext cx="512064" cy="512064"/>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t>
            </a:r>
          </a:p>
        </p:txBody>
      </p:sp>
      <p:sp>
        <p:nvSpPr>
          <p:cNvPr id="11" name="TextBox 10"/>
          <p:cNvSpPr txBox="1"/>
          <p:nvPr/>
        </p:nvSpPr>
        <p:spPr>
          <a:xfrm>
            <a:off x="1280160" y="2057400"/>
            <a:ext cx="10271455" cy="73152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2. Kroki üzerinde uzunluk ve alan hesaplaması yapılabilir.  → </a:t>
            </a:r>
            <a:r>
              <a:rPr lang="tr-TR" sz="1900" b="1" i="0">
                <a:solidFill>
                  <a:srgbClr val="262626"/>
                </a:solidFill>
                <a:latin typeface="Calibri"/>
              </a:rPr>
              <a:t>Krokide ölçek olmadığı için uzunluk ve alan hesaplanamaz.</a:t>
            </a:r>
          </a:p>
        </p:txBody>
      </p:sp>
      <p:sp>
        <p:nvSpPr>
          <p:cNvPr id="12" name="Rounded Rectangle 11"/>
          <p:cNvSpPr/>
          <p:nvPr/>
        </p:nvSpPr>
        <p:spPr>
          <a:xfrm>
            <a:off x="502920" y="2898648"/>
            <a:ext cx="11185855" cy="731520"/>
          </a:xfrm>
          <a:prstGeom prst="roundRect">
            <a:avLst>
              <a:gd name="adj" fmla="val 25000"/>
            </a:avLst>
          </a:prstGeom>
          <a:solidFill>
            <a:srgbClr val="F9E1E1"/>
          </a:solidFill>
          <a:ln w="25400">
            <a:solidFill>
              <a:srgbClr val="D3373A"/>
            </a:solidFill>
          </a:ln>
          <a:effectLst/>
        </p:spPr>
        <p:txBody>
          <a:bodyPr rtlCol="0" anchor="ctr"/>
          <a:lstStyle/>
          <a:p/>
        </p:txBody>
      </p:sp>
      <p:sp>
        <p:nvSpPr>
          <p:cNvPr id="13" name="Oval 12"/>
          <p:cNvSpPr/>
          <p:nvPr/>
        </p:nvSpPr>
        <p:spPr>
          <a:xfrm>
            <a:off x="612648" y="3008376"/>
            <a:ext cx="512064" cy="512064"/>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t>
            </a:r>
          </a:p>
        </p:txBody>
      </p:sp>
      <p:sp>
        <p:nvSpPr>
          <p:cNvPr id="14" name="TextBox 13"/>
          <p:cNvSpPr txBox="1"/>
          <p:nvPr/>
        </p:nvSpPr>
        <p:spPr>
          <a:xfrm>
            <a:off x="1280160" y="2898648"/>
            <a:ext cx="10271455" cy="73152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3. Haritalarda ölçek kullanılır; haritanın tümünde gerçek boyutlar orantılı olarak büyütülür.  → </a:t>
            </a:r>
            <a:r>
              <a:rPr lang="tr-TR" sz="1900" b="1" i="0">
                <a:solidFill>
                  <a:srgbClr val="262626"/>
                </a:solidFill>
                <a:latin typeface="Calibri"/>
              </a:rPr>
              <a:t>Gerçek boyutlar küçültülür.</a:t>
            </a:r>
          </a:p>
        </p:txBody>
      </p:sp>
      <p:sp>
        <p:nvSpPr>
          <p:cNvPr id="15" name="Rounded Rectangle 14"/>
          <p:cNvSpPr/>
          <p:nvPr/>
        </p:nvSpPr>
        <p:spPr>
          <a:xfrm>
            <a:off x="502920" y="3739896"/>
            <a:ext cx="11185855" cy="731520"/>
          </a:xfrm>
          <a:prstGeom prst="roundRect">
            <a:avLst>
              <a:gd name="adj" fmla="val 25000"/>
            </a:avLst>
          </a:prstGeom>
          <a:solidFill>
            <a:srgbClr val="E3F1E4"/>
          </a:solidFill>
          <a:ln w="25400">
            <a:solidFill>
              <a:srgbClr val="2E7D32"/>
            </a:solidFill>
          </a:ln>
          <a:effectLst/>
        </p:spPr>
        <p:txBody>
          <a:bodyPr rtlCol="0" anchor="ctr"/>
          <a:lstStyle/>
          <a:p/>
        </p:txBody>
      </p:sp>
      <p:sp>
        <p:nvSpPr>
          <p:cNvPr id="16" name="Oval 15"/>
          <p:cNvSpPr/>
          <p:nvPr/>
        </p:nvSpPr>
        <p:spPr>
          <a:xfrm>
            <a:off x="612648" y="3849624"/>
            <a:ext cx="512064" cy="512064"/>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t>
            </a:r>
          </a:p>
        </p:txBody>
      </p:sp>
      <p:sp>
        <p:nvSpPr>
          <p:cNvPr id="17" name="TextBox 16"/>
          <p:cNvSpPr txBox="1"/>
          <p:nvPr/>
        </p:nvSpPr>
        <p:spPr>
          <a:xfrm>
            <a:off x="1280160" y="3739896"/>
            <a:ext cx="10271455" cy="73152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4. Haritalar, kuş bakışı görünümle diğer bir ifadeyle dik açıyla gökyüzünden bakılıyormuş gibi çizilir.</a:t>
            </a:r>
          </a:p>
        </p:txBody>
      </p:sp>
      <p:sp>
        <p:nvSpPr>
          <p:cNvPr id="18" name="Rounded Rectangle 17"/>
          <p:cNvSpPr/>
          <p:nvPr/>
        </p:nvSpPr>
        <p:spPr>
          <a:xfrm>
            <a:off x="502920" y="4581144"/>
            <a:ext cx="11185855" cy="731520"/>
          </a:xfrm>
          <a:prstGeom prst="roundRect">
            <a:avLst>
              <a:gd name="adj" fmla="val 25000"/>
            </a:avLst>
          </a:prstGeom>
          <a:solidFill>
            <a:srgbClr val="E3F1E4"/>
          </a:solidFill>
          <a:ln w="25400">
            <a:solidFill>
              <a:srgbClr val="2E7D32"/>
            </a:solidFill>
          </a:ln>
          <a:effectLst/>
        </p:spPr>
        <p:txBody>
          <a:bodyPr rtlCol="0" anchor="ctr"/>
          <a:lstStyle/>
          <a:p/>
        </p:txBody>
      </p:sp>
      <p:sp>
        <p:nvSpPr>
          <p:cNvPr id="19" name="Oval 18"/>
          <p:cNvSpPr/>
          <p:nvPr/>
        </p:nvSpPr>
        <p:spPr>
          <a:xfrm>
            <a:off x="612648" y="4690872"/>
            <a:ext cx="512064" cy="512064"/>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t>
            </a:r>
          </a:p>
        </p:txBody>
      </p:sp>
      <p:sp>
        <p:nvSpPr>
          <p:cNvPr id="20" name="TextBox 19"/>
          <p:cNvSpPr txBox="1"/>
          <p:nvPr/>
        </p:nvSpPr>
        <p:spPr>
          <a:xfrm>
            <a:off x="1280160" y="4581144"/>
            <a:ext cx="10271455" cy="73152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5. Haritalar düzlem üzerine çizilir.</a:t>
            </a:r>
          </a:p>
        </p:txBody>
      </p:sp>
      <p:sp>
        <p:nvSpPr>
          <p:cNvPr id="21" name="Rounded Rectangle 20"/>
          <p:cNvSpPr/>
          <p:nvPr/>
        </p:nvSpPr>
        <p:spPr>
          <a:xfrm>
            <a:off x="502920" y="5422392"/>
            <a:ext cx="11185855" cy="731520"/>
          </a:xfrm>
          <a:prstGeom prst="roundRect">
            <a:avLst>
              <a:gd name="adj" fmla="val 25000"/>
            </a:avLst>
          </a:prstGeom>
          <a:solidFill>
            <a:srgbClr val="E3F1E4"/>
          </a:solidFill>
          <a:ln w="25400">
            <a:solidFill>
              <a:srgbClr val="2E7D32"/>
            </a:solidFill>
          </a:ln>
          <a:effectLst/>
        </p:spPr>
        <p:txBody>
          <a:bodyPr rtlCol="0" anchor="ctr"/>
          <a:lstStyle/>
          <a:p/>
        </p:txBody>
      </p:sp>
      <p:sp>
        <p:nvSpPr>
          <p:cNvPr id="22" name="Oval 21"/>
          <p:cNvSpPr/>
          <p:nvPr/>
        </p:nvSpPr>
        <p:spPr>
          <a:xfrm>
            <a:off x="612648" y="5532120"/>
            <a:ext cx="512064" cy="512064"/>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t>
            </a:r>
          </a:p>
        </p:txBody>
      </p:sp>
      <p:sp>
        <p:nvSpPr>
          <p:cNvPr id="23" name="TextBox 22"/>
          <p:cNvSpPr txBox="1"/>
          <p:nvPr/>
        </p:nvSpPr>
        <p:spPr>
          <a:xfrm>
            <a:off x="1280160" y="5422392"/>
            <a:ext cx="10271455" cy="73152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6. Ölçek kullanılmadan yapılan kabataslak çizimler kroki olarak adlandırılır.</a:t>
            </a:r>
          </a:p>
        </p:txBody>
      </p:sp>
      <p:sp>
        <p:nvSpPr>
          <p:cNvPr id="24" name="TextBox 2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25" name="Rounded Rectangle 2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35</a:t>
            </a:r>
          </a:p>
        </p:txBody>
      </p:sp>
      <p:sp>
        <p:nvSpPr>
          <p:cNvPr id="26" name="TextBox 2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21 / 226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 haritayı okuyalım</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HARİTA ELEMANLARI</a:t>
            </a:r>
          </a:p>
        </p:txBody>
      </p:sp>
      <p:pic>
        <p:nvPicPr>
          <p:cNvPr id="6" name="Picture 5" descr="guney_amerika_s36.jpg"/>
          <p:cNvPicPr>
            <a:picLocks noChangeAspect="1"/>
          </p:cNvPicPr>
          <p:nvPr/>
        </p:nvPicPr>
        <p:blipFill>
          <a:blip r:embed="rId3"/>
          <a:stretch>
            <a:fillRect/>
          </a:stretch>
        </p:blipFill>
        <p:spPr>
          <a:xfrm>
            <a:off x="502920" y="1216152"/>
            <a:ext cx="3466772" cy="5029200"/>
          </a:xfrm>
          <a:prstGeom prst="rect">
            <a:avLst/>
          </a:prstGeom>
          <a:ln w="9525">
            <a:solidFill>
              <a:srgbClr val="D9D9D9"/>
            </a:solidFill>
          </a:ln>
        </p:spPr>
      </p:pic>
      <p:sp>
        <p:nvSpPr>
          <p:cNvPr id="7" name="Oval 6"/>
          <p:cNvSpPr/>
          <p:nvPr/>
        </p:nvSpPr>
        <p:spPr>
          <a:xfrm>
            <a:off x="528310" y="1111717"/>
            <a:ext cx="420624" cy="420624"/>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1</a:t>
            </a:r>
          </a:p>
        </p:txBody>
      </p:sp>
      <p:sp>
        <p:nvSpPr>
          <p:cNvPr id="8" name="Oval 7"/>
          <p:cNvSpPr/>
          <p:nvPr/>
        </p:nvSpPr>
        <p:spPr>
          <a:xfrm>
            <a:off x="263670" y="2408722"/>
            <a:ext cx="420624" cy="420624"/>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2</a:t>
            </a:r>
          </a:p>
        </p:txBody>
      </p:sp>
      <p:sp>
        <p:nvSpPr>
          <p:cNvPr id="9" name="Oval 8"/>
          <p:cNvSpPr/>
          <p:nvPr/>
        </p:nvSpPr>
        <p:spPr>
          <a:xfrm>
            <a:off x="2936525" y="1667576"/>
            <a:ext cx="420624" cy="420624"/>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3</a:t>
            </a:r>
          </a:p>
        </p:txBody>
      </p:sp>
      <p:sp>
        <p:nvSpPr>
          <p:cNvPr id="10" name="Oval 9"/>
          <p:cNvSpPr/>
          <p:nvPr/>
        </p:nvSpPr>
        <p:spPr>
          <a:xfrm>
            <a:off x="2777742" y="5373303"/>
            <a:ext cx="420624" cy="420624"/>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4</a:t>
            </a:r>
          </a:p>
        </p:txBody>
      </p:sp>
      <p:sp>
        <p:nvSpPr>
          <p:cNvPr id="11" name="Oval 10"/>
          <p:cNvSpPr/>
          <p:nvPr/>
        </p:nvSpPr>
        <p:spPr>
          <a:xfrm>
            <a:off x="832645" y="5757110"/>
            <a:ext cx="420624" cy="420624"/>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5</a:t>
            </a:r>
          </a:p>
        </p:txBody>
      </p:sp>
      <p:sp>
        <p:nvSpPr>
          <p:cNvPr id="12" name="Rounded Rectangle 11"/>
          <p:cNvSpPr/>
          <p:nvPr/>
        </p:nvSpPr>
        <p:spPr>
          <a:xfrm>
            <a:off x="4709160" y="1216152"/>
            <a:ext cx="6979615" cy="2240280"/>
          </a:xfrm>
          <a:prstGeom prst="roundRect">
            <a:avLst>
              <a:gd name="adj" fmla="val 8000"/>
            </a:avLst>
          </a:prstGeom>
          <a:solidFill>
            <a:srgbClr val="F0F0F0"/>
          </a:solidFill>
          <a:ln>
            <a:noFill/>
          </a:ln>
          <a:effectLst/>
        </p:spPr>
        <p:txBody>
          <a:bodyPr rtlCol="0" anchor="ctr" wrap="square" lIns="274320" rIns="274320" tIns="73152" bIns="73152">
            <a:noAutofit/>
          </a:bodyPr>
          <a:lstStyle/>
          <a:p>
            <a:pPr algn="l">
              <a:spcBef>
                <a:spcPts val="0"/>
              </a:spcBef>
              <a:spcAft>
                <a:spcPts val="600"/>
              </a:spcAft>
            </a:pPr>
            <a:r>
              <a:rPr lang="tr-TR" sz="2200" b="1" i="0">
                <a:solidFill>
                  <a:srgbClr val="2C6696"/>
                </a:solidFill>
                <a:latin typeface="Calibri"/>
              </a:rPr>
              <a:t>Konuşalım</a:t>
            </a:r>
          </a:p>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Bu haritanın konusu ne? Nereden anladın?</a:t>
            </a:r>
          </a:p>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Nüfusu 212 milyon ve üzeri olan ülke hangisi, hangi renk?</a:t>
            </a:r>
          </a:p>
          <a:p>
            <a:pPr algn="l" marL="273482" indent="-273482">
              <a:spcBef>
                <a:spcPts val="0"/>
              </a:spcBef>
              <a:spcAft>
                <a:spcPts val="0"/>
              </a:spcAft>
            </a:pPr>
            <a:r>
              <a:rPr lang="tr-TR" sz="2200" b="1" i="0">
                <a:solidFill>
                  <a:srgbClr val="2C6696"/>
                </a:solidFill>
                <a:latin typeface="Calibri"/>
              </a:rPr>
              <a:t>•  </a:t>
            </a:r>
            <a:r>
              <a:rPr lang="tr-TR" sz="2200" b="0" i="0">
                <a:solidFill>
                  <a:srgbClr val="262626"/>
                </a:solidFill>
                <a:latin typeface="Calibri"/>
              </a:rPr>
              <a:t>Kuzey nerede?</a:t>
            </a:r>
          </a:p>
        </p:txBody>
      </p:sp>
      <p:sp>
        <p:nvSpPr>
          <p:cNvPr id="13" name="TextBox 12"/>
          <p:cNvSpPr txBox="1"/>
          <p:nvPr/>
        </p:nvSpPr>
        <p:spPr>
          <a:xfrm>
            <a:off x="4709160" y="3593592"/>
            <a:ext cx="6979615" cy="457200"/>
          </a:xfrm>
          <a:prstGeom prst="rect">
            <a:avLst/>
          </a:prstGeom>
          <a:noFill/>
        </p:spPr>
        <p:txBody>
          <a:bodyPr wrap="square" anchor="t" lIns="73152" rIns="73152" tIns="36576" bIns="36576">
            <a:noAutofit/>
          </a:bodyPr>
          <a:lstStyle/>
          <a:p>
            <a:pPr algn="l">
              <a:spcBef>
                <a:spcPts val="0"/>
              </a:spcBef>
              <a:spcAft>
                <a:spcPts val="0"/>
              </a:spcAft>
            </a:pPr>
            <a:r>
              <a:rPr lang="tr-TR" sz="2100" b="1" i="0">
                <a:solidFill>
                  <a:srgbClr val="D3373A"/>
                </a:solidFill>
                <a:latin typeface="Calibri"/>
              </a:rPr>
              <a:t>1-5 numaralı yerlere hangi eleman gelir?</a:t>
            </a:r>
          </a:p>
        </p:txBody>
      </p:sp>
      <p:sp>
        <p:nvSpPr>
          <p:cNvPr id="14" name="Rounded Rectangle 13"/>
          <p:cNvSpPr/>
          <p:nvPr/>
        </p:nvSpPr>
        <p:spPr>
          <a:xfrm>
            <a:off x="4754880" y="4142232"/>
            <a:ext cx="3352647" cy="566928"/>
          </a:xfrm>
          <a:prstGeom prst="roundRect">
            <a:avLst>
              <a:gd name="adj" fmla="val 50000"/>
            </a:avLst>
          </a:prstGeom>
          <a:solidFill>
            <a:srgbClr val="FFFFFF"/>
          </a:solidFill>
          <a:ln w="25400">
            <a:solidFill>
              <a:srgbClr val="2C6696"/>
            </a:solidFill>
          </a:ln>
          <a:effectLst/>
        </p:spPr>
        <p:txBody>
          <a:bodyPr rtlCol="0" anchor="ctr" wrap="square" lIns="54864" rIns="54864" tIns="0" bIns="0">
            <a:noAutofit/>
          </a:bodyPr>
          <a:lstStyle/>
          <a:p>
            <a:pPr algn="ctr">
              <a:spcBef>
                <a:spcPts val="0"/>
              </a:spcBef>
              <a:spcAft>
                <a:spcPts val="0"/>
              </a:spcAft>
            </a:pPr>
            <a:r>
              <a:rPr lang="tr-TR" sz="2000" b="0" i="0">
                <a:solidFill>
                  <a:srgbClr val="262626"/>
                </a:solidFill>
                <a:latin typeface="Calibri"/>
              </a:rPr>
              <a:t>Başlık</a:t>
            </a:r>
          </a:p>
        </p:txBody>
      </p:sp>
      <p:sp>
        <p:nvSpPr>
          <p:cNvPr id="15" name="Rounded Rectangle 14"/>
          <p:cNvSpPr/>
          <p:nvPr/>
        </p:nvSpPr>
        <p:spPr>
          <a:xfrm>
            <a:off x="8244687" y="4142232"/>
            <a:ext cx="3352647" cy="566928"/>
          </a:xfrm>
          <a:prstGeom prst="roundRect">
            <a:avLst>
              <a:gd name="adj" fmla="val 50000"/>
            </a:avLst>
          </a:prstGeom>
          <a:solidFill>
            <a:srgbClr val="FFFFFF"/>
          </a:solidFill>
          <a:ln w="25400">
            <a:solidFill>
              <a:srgbClr val="2C6696"/>
            </a:solidFill>
          </a:ln>
          <a:effectLst/>
        </p:spPr>
        <p:txBody>
          <a:bodyPr rtlCol="0" anchor="ctr" wrap="square" lIns="54864" rIns="54864" tIns="0" bIns="0">
            <a:noAutofit/>
          </a:bodyPr>
          <a:lstStyle/>
          <a:p>
            <a:pPr algn="ctr">
              <a:spcBef>
                <a:spcPts val="0"/>
              </a:spcBef>
              <a:spcAft>
                <a:spcPts val="0"/>
              </a:spcAft>
            </a:pPr>
            <a:r>
              <a:rPr lang="tr-TR" sz="2000" b="0" i="0">
                <a:solidFill>
                  <a:srgbClr val="262626"/>
                </a:solidFill>
                <a:latin typeface="Calibri"/>
              </a:rPr>
              <a:t>Ölçek</a:t>
            </a:r>
          </a:p>
        </p:txBody>
      </p:sp>
      <p:sp>
        <p:nvSpPr>
          <p:cNvPr id="16" name="Rounded Rectangle 15"/>
          <p:cNvSpPr/>
          <p:nvPr/>
        </p:nvSpPr>
        <p:spPr>
          <a:xfrm>
            <a:off x="4754880" y="4855464"/>
            <a:ext cx="3352647" cy="566928"/>
          </a:xfrm>
          <a:prstGeom prst="roundRect">
            <a:avLst>
              <a:gd name="adj" fmla="val 50000"/>
            </a:avLst>
          </a:prstGeom>
          <a:solidFill>
            <a:srgbClr val="FFFFFF"/>
          </a:solidFill>
          <a:ln w="25400">
            <a:solidFill>
              <a:srgbClr val="2C6696"/>
            </a:solidFill>
          </a:ln>
          <a:effectLst/>
        </p:spPr>
        <p:txBody>
          <a:bodyPr rtlCol="0" anchor="ctr" wrap="square" lIns="54864" rIns="54864" tIns="0" bIns="0">
            <a:noAutofit/>
          </a:bodyPr>
          <a:lstStyle/>
          <a:p>
            <a:pPr algn="ctr">
              <a:spcBef>
                <a:spcPts val="0"/>
              </a:spcBef>
              <a:spcAft>
                <a:spcPts val="0"/>
              </a:spcAft>
            </a:pPr>
            <a:r>
              <a:rPr lang="tr-TR" sz="2000" b="0" i="0">
                <a:solidFill>
                  <a:srgbClr val="262626"/>
                </a:solidFill>
                <a:latin typeface="Calibri"/>
              </a:rPr>
              <a:t>Coğrafi koordinatlar</a:t>
            </a:r>
          </a:p>
        </p:txBody>
      </p:sp>
      <p:sp>
        <p:nvSpPr>
          <p:cNvPr id="17" name="Rounded Rectangle 16"/>
          <p:cNvSpPr/>
          <p:nvPr/>
        </p:nvSpPr>
        <p:spPr>
          <a:xfrm>
            <a:off x="8244687" y="4855464"/>
            <a:ext cx="3352647" cy="566928"/>
          </a:xfrm>
          <a:prstGeom prst="roundRect">
            <a:avLst>
              <a:gd name="adj" fmla="val 50000"/>
            </a:avLst>
          </a:prstGeom>
          <a:solidFill>
            <a:srgbClr val="FFFFFF"/>
          </a:solidFill>
          <a:ln w="25400">
            <a:solidFill>
              <a:srgbClr val="2C6696"/>
            </a:solidFill>
          </a:ln>
          <a:effectLst/>
        </p:spPr>
        <p:txBody>
          <a:bodyPr rtlCol="0" anchor="ctr" wrap="square" lIns="54864" rIns="54864" tIns="0" bIns="0">
            <a:noAutofit/>
          </a:bodyPr>
          <a:lstStyle/>
          <a:p>
            <a:pPr algn="ctr">
              <a:spcBef>
                <a:spcPts val="0"/>
              </a:spcBef>
              <a:spcAft>
                <a:spcPts val="0"/>
              </a:spcAft>
            </a:pPr>
            <a:r>
              <a:rPr lang="tr-TR" sz="2000" b="0" i="0">
                <a:solidFill>
                  <a:srgbClr val="262626"/>
                </a:solidFill>
                <a:latin typeface="Calibri"/>
              </a:rPr>
              <a:t>Lejant</a:t>
            </a:r>
          </a:p>
        </p:txBody>
      </p:sp>
      <p:sp>
        <p:nvSpPr>
          <p:cNvPr id="18" name="Rounded Rectangle 17"/>
          <p:cNvSpPr/>
          <p:nvPr/>
        </p:nvSpPr>
        <p:spPr>
          <a:xfrm>
            <a:off x="4754880" y="5568696"/>
            <a:ext cx="3352647" cy="566928"/>
          </a:xfrm>
          <a:prstGeom prst="roundRect">
            <a:avLst>
              <a:gd name="adj" fmla="val 50000"/>
            </a:avLst>
          </a:prstGeom>
          <a:solidFill>
            <a:srgbClr val="FFFFFF"/>
          </a:solidFill>
          <a:ln w="25400">
            <a:solidFill>
              <a:srgbClr val="2C6696"/>
            </a:solidFill>
          </a:ln>
          <a:effectLst/>
        </p:spPr>
        <p:txBody>
          <a:bodyPr rtlCol="0" anchor="ctr" wrap="square" lIns="54864" rIns="54864" tIns="0" bIns="0">
            <a:noAutofit/>
          </a:bodyPr>
          <a:lstStyle/>
          <a:p>
            <a:pPr algn="ctr">
              <a:spcBef>
                <a:spcPts val="0"/>
              </a:spcBef>
              <a:spcAft>
                <a:spcPts val="0"/>
              </a:spcAft>
            </a:pPr>
            <a:r>
              <a:rPr lang="tr-TR" sz="2000" b="0" i="0">
                <a:solidFill>
                  <a:srgbClr val="262626"/>
                </a:solidFill>
                <a:latin typeface="Calibri"/>
              </a:rPr>
              <a:t>Yön oku</a:t>
            </a:r>
          </a:p>
        </p:txBody>
      </p:sp>
      <p:sp>
        <p:nvSpPr>
          <p:cNvPr id="19" name="TextBox 1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20" name="Rounded Rectangle 1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36</a:t>
            </a:r>
          </a:p>
        </p:txBody>
      </p:sp>
      <p:sp>
        <p:nvSpPr>
          <p:cNvPr id="21" name="TextBox 2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22 / 226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 haritayı okuyalım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pic>
        <p:nvPicPr>
          <p:cNvPr id="6" name="Picture 5" descr="gorsel_2_1_s36.jpg"/>
          <p:cNvPicPr>
            <a:picLocks noChangeAspect="1"/>
          </p:cNvPicPr>
          <p:nvPr/>
        </p:nvPicPr>
        <p:blipFill>
          <a:blip r:embed="rId3"/>
          <a:stretch>
            <a:fillRect/>
          </a:stretch>
        </p:blipFill>
        <p:spPr>
          <a:xfrm>
            <a:off x="502920" y="1216152"/>
            <a:ext cx="5586270" cy="4434840"/>
          </a:xfrm>
          <a:prstGeom prst="rect">
            <a:avLst/>
          </a:prstGeom>
          <a:ln w="9525">
            <a:solidFill>
              <a:srgbClr val="D9D9D9"/>
            </a:solidFill>
          </a:ln>
        </p:spPr>
      </p:pic>
      <p:sp>
        <p:nvSpPr>
          <p:cNvPr id="7" name="Rounded Rectangle 6"/>
          <p:cNvSpPr/>
          <p:nvPr/>
        </p:nvSpPr>
        <p:spPr>
          <a:xfrm>
            <a:off x="502920" y="5724144"/>
            <a:ext cx="11185855" cy="548640"/>
          </a:xfrm>
          <a:prstGeom prst="roundRect">
            <a:avLst>
              <a:gd name="adj" fmla="val 8000"/>
            </a:avLst>
          </a:prstGeom>
          <a:solidFill>
            <a:srgbClr val="E3F1E4"/>
          </a:solidFill>
          <a:ln>
            <a:noFill/>
          </a:ln>
          <a:effectLst/>
        </p:spPr>
        <p:txBody>
          <a:bodyPr rtlCol="0" anchor="ctr" wrap="square" lIns="128016" rIns="128016" tIns="0" bIns="0">
            <a:noAutofit/>
          </a:bodyPr>
          <a:lstStyle/>
          <a:p>
            <a:pPr algn="ctr">
              <a:spcBef>
                <a:spcPts val="0"/>
              </a:spcBef>
              <a:spcAft>
                <a:spcPts val="0"/>
              </a:spcAft>
            </a:pPr>
            <a:r>
              <a:rPr lang="tr-TR" sz="2100" b="1" i="0">
                <a:solidFill>
                  <a:srgbClr val="262626"/>
                </a:solidFill>
                <a:latin typeface="Calibri"/>
              </a:rPr>
              <a:t>1 Başlık · 2 Coğrafi koordinatlar · 3 Yön oku · 4 Lejant · 5 Ölçek · ve çerçeve</a:t>
            </a:r>
          </a:p>
        </p:txBody>
      </p:sp>
      <p:sp>
        <p:nvSpPr>
          <p:cNvPr id="8" name="Rounded Rectangle 7"/>
          <p:cNvSpPr/>
          <p:nvPr/>
        </p:nvSpPr>
        <p:spPr>
          <a:xfrm>
            <a:off x="6812280" y="1216152"/>
            <a:ext cx="4876495" cy="4434840"/>
          </a:xfrm>
          <a:prstGeom prst="roundRect">
            <a:avLst>
              <a:gd name="adj" fmla="val 8000"/>
            </a:avLst>
          </a:prstGeom>
          <a:solidFill>
            <a:srgbClr val="F0F0F0"/>
          </a:solidFill>
          <a:ln>
            <a:noFill/>
          </a:ln>
          <a:effectLst/>
        </p:spPr>
        <p:txBody>
          <a:bodyPr rtlCol="0" anchor="ctr" wrap="square" lIns="274320" rIns="274320" tIns="73152" bIns="73152">
            <a:noAutofit/>
          </a:bodyPr>
          <a:lstStyle/>
          <a:p>
            <a:pPr algn="l">
              <a:spcBef>
                <a:spcPts val="0"/>
              </a:spcBef>
              <a:spcAft>
                <a:spcPts val="1200"/>
              </a:spcAft>
            </a:pPr>
            <a:r>
              <a:rPr lang="tr-TR" sz="2200" b="0" i="0">
                <a:solidFill>
                  <a:srgbClr val="262626"/>
                </a:solidFill>
                <a:latin typeface="Calibri"/>
              </a:rPr>
              <a:t>Haritadaki başlıca elemanlar; başlık, çerçeve, coğrafi koordinatlar, harita işaretleri (lejant), yön oku ve ölçektir.</a:t>
            </a:r>
          </a:p>
          <a:p>
            <a:pPr algn="l">
              <a:spcBef>
                <a:spcPts val="0"/>
              </a:spcBef>
              <a:spcAft>
                <a:spcPts val="0"/>
              </a:spcAft>
            </a:pPr>
            <a:r>
              <a:rPr lang="tr-TR" sz="2200" b="0" i="1">
                <a:solidFill>
                  <a:srgbClr val="767676"/>
                </a:solidFill>
                <a:latin typeface="Calibri"/>
              </a:rPr>
              <a:t>Haritaları okuyabilmek, diğer bir ifadeyle haritadan bilgi edinebilmek için haritanın sembolik dilini çözmek gerekir.</a:t>
            </a:r>
          </a:p>
        </p:txBody>
      </p:sp>
      <p:sp>
        <p:nvSpPr>
          <p:cNvPr id="9" name="TextBox 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10" name="Rounded Rectangle 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36</a:t>
            </a:r>
          </a:p>
        </p:txBody>
      </p:sp>
      <p:sp>
        <p:nvSpPr>
          <p:cNvPr id="11" name="TextBox 1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23 / 226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Harita elemanları ne işe yarar?</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HARİTA ELEMANLARI</a:t>
            </a:r>
          </a:p>
        </p:txBody>
      </p:sp>
      <p:sp>
        <p:nvSpPr>
          <p:cNvPr id="6" name="Rounded Rectangle 5"/>
          <p:cNvSpPr/>
          <p:nvPr/>
        </p:nvSpPr>
        <p:spPr>
          <a:xfrm>
            <a:off x="502920" y="1216152"/>
            <a:ext cx="3594506" cy="233172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3594506" cy="530352"/>
          </a:xfrm>
          <a:prstGeom prst="roundRect">
            <a:avLst>
              <a:gd name="adj" fmla="val 25000"/>
            </a:avLst>
          </a:prstGeom>
          <a:solidFill>
            <a:srgbClr val="2C6696"/>
          </a:solidFill>
          <a:ln>
            <a:noFill/>
          </a:ln>
          <a:effectLst/>
        </p:spPr>
        <p:txBody>
          <a:bodyPr rtlCol="0" anchor="ctr"/>
          <a:lstStyle/>
          <a:p/>
        </p:txBody>
      </p:sp>
      <p:sp>
        <p:nvSpPr>
          <p:cNvPr id="8" name="Rectangle 7"/>
          <p:cNvSpPr/>
          <p:nvPr/>
        </p:nvSpPr>
        <p:spPr>
          <a:xfrm>
            <a:off x="502920" y="1481328"/>
            <a:ext cx="3594506" cy="265176"/>
          </a:xfrm>
          <a:prstGeom prst="rect">
            <a:avLst/>
          </a:prstGeom>
          <a:solidFill>
            <a:srgbClr val="2C6696"/>
          </a:solidFill>
          <a:ln>
            <a:noFill/>
          </a:ln>
          <a:effectLst/>
        </p:spPr>
        <p:txBody>
          <a:bodyPr rtlCol="0" anchor="ctr"/>
          <a:lstStyle/>
          <a:p/>
        </p:txBody>
      </p:sp>
      <p:sp>
        <p:nvSpPr>
          <p:cNvPr id="9" name="TextBox 8"/>
          <p:cNvSpPr txBox="1"/>
          <p:nvPr/>
        </p:nvSpPr>
        <p:spPr>
          <a:xfrm>
            <a:off x="594360" y="12161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Başlık</a:t>
            </a:r>
          </a:p>
        </p:txBody>
      </p:sp>
      <p:sp>
        <p:nvSpPr>
          <p:cNvPr id="10" name="TextBox 9"/>
          <p:cNvSpPr txBox="1"/>
          <p:nvPr/>
        </p:nvSpPr>
        <p:spPr>
          <a:xfrm>
            <a:off x="612648" y="1819656"/>
            <a:ext cx="3375050" cy="1655064"/>
          </a:xfrm>
          <a:prstGeom prst="rect">
            <a:avLst/>
          </a:prstGeom>
          <a:noFill/>
        </p:spPr>
        <p:txBody>
          <a:bodyPr wrap="square" anchor="t" lIns="73152" rIns="73152" tIns="36576" bIns="36576">
            <a:noAutofit/>
          </a:bodyPr>
          <a:lstStyle/>
          <a:p>
            <a:pPr algn="l">
              <a:spcBef>
                <a:spcPts val="0"/>
              </a:spcBef>
              <a:spcAft>
                <a:spcPts val="0"/>
              </a:spcAft>
            </a:pPr>
            <a:r>
              <a:rPr lang="tr-TR" sz="2000" b="0" i="0">
                <a:solidFill>
                  <a:srgbClr val="262626"/>
                </a:solidFill>
                <a:latin typeface="Calibri"/>
              </a:rPr>
              <a:t>Haritanın konusunu ve gösterdiği yeri belirtir.</a:t>
            </a:r>
          </a:p>
        </p:txBody>
      </p:sp>
      <p:sp>
        <p:nvSpPr>
          <p:cNvPr id="11" name="Rounded Rectangle 10"/>
          <p:cNvSpPr/>
          <p:nvPr/>
        </p:nvSpPr>
        <p:spPr>
          <a:xfrm>
            <a:off x="4298594" y="1216152"/>
            <a:ext cx="3594506" cy="233172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4298594" y="1216152"/>
            <a:ext cx="3594506" cy="530352"/>
          </a:xfrm>
          <a:prstGeom prst="roundRect">
            <a:avLst>
              <a:gd name="adj" fmla="val 25000"/>
            </a:avLst>
          </a:prstGeom>
          <a:solidFill>
            <a:srgbClr val="4F4F4F"/>
          </a:solidFill>
          <a:ln>
            <a:noFill/>
          </a:ln>
          <a:effectLst/>
        </p:spPr>
        <p:txBody>
          <a:bodyPr rtlCol="0" anchor="ctr"/>
          <a:lstStyle/>
          <a:p/>
        </p:txBody>
      </p:sp>
      <p:sp>
        <p:nvSpPr>
          <p:cNvPr id="13" name="Rectangle 12"/>
          <p:cNvSpPr/>
          <p:nvPr/>
        </p:nvSpPr>
        <p:spPr>
          <a:xfrm>
            <a:off x="4298594" y="1481328"/>
            <a:ext cx="3594506" cy="265176"/>
          </a:xfrm>
          <a:prstGeom prst="rect">
            <a:avLst/>
          </a:prstGeom>
          <a:solidFill>
            <a:srgbClr val="4F4F4F"/>
          </a:solidFill>
          <a:ln>
            <a:noFill/>
          </a:ln>
          <a:effectLst/>
        </p:spPr>
        <p:txBody>
          <a:bodyPr rtlCol="0" anchor="ctr"/>
          <a:lstStyle/>
          <a:p/>
        </p:txBody>
      </p:sp>
      <p:sp>
        <p:nvSpPr>
          <p:cNvPr id="14" name="TextBox 13"/>
          <p:cNvSpPr txBox="1"/>
          <p:nvPr/>
        </p:nvSpPr>
        <p:spPr>
          <a:xfrm>
            <a:off x="4390034" y="12161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Coğrafi koordinatlar</a:t>
            </a:r>
          </a:p>
        </p:txBody>
      </p:sp>
      <p:sp>
        <p:nvSpPr>
          <p:cNvPr id="15" name="TextBox 14"/>
          <p:cNvSpPr txBox="1"/>
          <p:nvPr/>
        </p:nvSpPr>
        <p:spPr>
          <a:xfrm>
            <a:off x="4408322" y="1819656"/>
            <a:ext cx="3375050" cy="1655064"/>
          </a:xfrm>
          <a:prstGeom prst="rect">
            <a:avLst/>
          </a:prstGeom>
          <a:noFill/>
        </p:spPr>
        <p:txBody>
          <a:bodyPr wrap="square" anchor="t" lIns="73152" rIns="73152" tIns="36576" bIns="36576">
            <a:noAutofit/>
          </a:bodyPr>
          <a:lstStyle/>
          <a:p>
            <a:pPr algn="l">
              <a:spcBef>
                <a:spcPts val="0"/>
              </a:spcBef>
              <a:spcAft>
                <a:spcPts val="0"/>
              </a:spcAft>
            </a:pPr>
            <a:r>
              <a:rPr lang="tr-TR" sz="2000" b="0" i="0">
                <a:solidFill>
                  <a:srgbClr val="262626"/>
                </a:solidFill>
                <a:latin typeface="Calibri"/>
              </a:rPr>
              <a:t>Harita üzerine paralel ve meridyenler çizilerek coğrafi koordinatlar belirtilir.</a:t>
            </a:r>
          </a:p>
        </p:txBody>
      </p:sp>
      <p:sp>
        <p:nvSpPr>
          <p:cNvPr id="16" name="Rounded Rectangle 15"/>
          <p:cNvSpPr/>
          <p:nvPr/>
        </p:nvSpPr>
        <p:spPr>
          <a:xfrm>
            <a:off x="8094268" y="1216152"/>
            <a:ext cx="3594506" cy="233172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8094268" y="1216152"/>
            <a:ext cx="3594506" cy="530352"/>
          </a:xfrm>
          <a:prstGeom prst="roundRect">
            <a:avLst>
              <a:gd name="adj" fmla="val 25000"/>
            </a:avLst>
          </a:prstGeom>
          <a:solidFill>
            <a:srgbClr val="2C6696"/>
          </a:solidFill>
          <a:ln>
            <a:noFill/>
          </a:ln>
          <a:effectLst/>
        </p:spPr>
        <p:txBody>
          <a:bodyPr rtlCol="0" anchor="ctr"/>
          <a:lstStyle/>
          <a:p/>
        </p:txBody>
      </p:sp>
      <p:sp>
        <p:nvSpPr>
          <p:cNvPr id="18" name="Rectangle 17"/>
          <p:cNvSpPr/>
          <p:nvPr/>
        </p:nvSpPr>
        <p:spPr>
          <a:xfrm>
            <a:off x="8094268" y="1481328"/>
            <a:ext cx="3594506" cy="265176"/>
          </a:xfrm>
          <a:prstGeom prst="rect">
            <a:avLst/>
          </a:prstGeom>
          <a:solidFill>
            <a:srgbClr val="2C6696"/>
          </a:solidFill>
          <a:ln>
            <a:noFill/>
          </a:ln>
          <a:effectLst/>
        </p:spPr>
        <p:txBody>
          <a:bodyPr rtlCol="0" anchor="ctr"/>
          <a:lstStyle/>
          <a:p/>
        </p:txBody>
      </p:sp>
      <p:sp>
        <p:nvSpPr>
          <p:cNvPr id="19" name="TextBox 18"/>
          <p:cNvSpPr txBox="1"/>
          <p:nvPr/>
        </p:nvSpPr>
        <p:spPr>
          <a:xfrm>
            <a:off x="8185708" y="12161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Yön oku</a:t>
            </a:r>
          </a:p>
        </p:txBody>
      </p:sp>
      <p:sp>
        <p:nvSpPr>
          <p:cNvPr id="20" name="TextBox 19"/>
          <p:cNvSpPr txBox="1"/>
          <p:nvPr/>
        </p:nvSpPr>
        <p:spPr>
          <a:xfrm>
            <a:off x="8203996" y="1819656"/>
            <a:ext cx="3375050" cy="1655064"/>
          </a:xfrm>
          <a:prstGeom prst="rect">
            <a:avLst/>
          </a:prstGeom>
          <a:noFill/>
        </p:spPr>
        <p:txBody>
          <a:bodyPr wrap="square" anchor="t" lIns="73152" rIns="73152" tIns="36576" bIns="36576">
            <a:noAutofit/>
          </a:bodyPr>
          <a:lstStyle/>
          <a:p>
            <a:pPr algn="l">
              <a:spcBef>
                <a:spcPts val="0"/>
              </a:spcBef>
              <a:spcAft>
                <a:spcPts val="0"/>
              </a:spcAft>
            </a:pPr>
            <a:r>
              <a:rPr lang="tr-TR" sz="2000" b="0" i="0">
                <a:solidFill>
                  <a:srgbClr val="262626"/>
                </a:solidFill>
                <a:latin typeface="Calibri"/>
              </a:rPr>
              <a:t>Haritadaki coğrafi yönleri gösteren işarettir.</a:t>
            </a:r>
          </a:p>
        </p:txBody>
      </p:sp>
      <p:sp>
        <p:nvSpPr>
          <p:cNvPr id="21" name="Rounded Rectangle 20"/>
          <p:cNvSpPr/>
          <p:nvPr/>
        </p:nvSpPr>
        <p:spPr>
          <a:xfrm>
            <a:off x="502920" y="3730752"/>
            <a:ext cx="5492343" cy="2514600"/>
          </a:xfrm>
          <a:prstGeom prst="roundRect">
            <a:avLst>
              <a:gd name="adj" fmla="val 5000"/>
            </a:avLst>
          </a:prstGeom>
          <a:solidFill>
            <a:srgbClr val="F0F0F0"/>
          </a:solidFill>
          <a:ln>
            <a:noFill/>
          </a:ln>
          <a:effectLst/>
        </p:spPr>
        <p:txBody>
          <a:bodyPr rtlCol="0" anchor="ctr"/>
          <a:lstStyle/>
          <a:p/>
        </p:txBody>
      </p:sp>
      <p:sp>
        <p:nvSpPr>
          <p:cNvPr id="22" name="Rounded Rectangle 21"/>
          <p:cNvSpPr/>
          <p:nvPr/>
        </p:nvSpPr>
        <p:spPr>
          <a:xfrm>
            <a:off x="502920" y="3730752"/>
            <a:ext cx="5492343" cy="530352"/>
          </a:xfrm>
          <a:prstGeom prst="roundRect">
            <a:avLst>
              <a:gd name="adj" fmla="val 25000"/>
            </a:avLst>
          </a:prstGeom>
          <a:solidFill>
            <a:srgbClr val="4F4F4F"/>
          </a:solidFill>
          <a:ln>
            <a:noFill/>
          </a:ln>
          <a:effectLst/>
        </p:spPr>
        <p:txBody>
          <a:bodyPr rtlCol="0" anchor="ctr"/>
          <a:lstStyle/>
          <a:p/>
        </p:txBody>
      </p:sp>
      <p:sp>
        <p:nvSpPr>
          <p:cNvPr id="23" name="Rectangle 22"/>
          <p:cNvSpPr/>
          <p:nvPr/>
        </p:nvSpPr>
        <p:spPr>
          <a:xfrm>
            <a:off x="502920" y="3995928"/>
            <a:ext cx="5492343" cy="265176"/>
          </a:xfrm>
          <a:prstGeom prst="rect">
            <a:avLst/>
          </a:prstGeom>
          <a:solidFill>
            <a:srgbClr val="4F4F4F"/>
          </a:solidFill>
          <a:ln>
            <a:noFill/>
          </a:ln>
          <a:effectLst/>
        </p:spPr>
        <p:txBody>
          <a:bodyPr rtlCol="0" anchor="ctr"/>
          <a:lstStyle/>
          <a:p/>
        </p:txBody>
      </p:sp>
      <p:sp>
        <p:nvSpPr>
          <p:cNvPr id="24" name="TextBox 23"/>
          <p:cNvSpPr txBox="1"/>
          <p:nvPr/>
        </p:nvSpPr>
        <p:spPr>
          <a:xfrm>
            <a:off x="594360" y="3730752"/>
            <a:ext cx="5309463"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Lejant (harita işaretleri)</a:t>
            </a:r>
          </a:p>
        </p:txBody>
      </p:sp>
      <p:sp>
        <p:nvSpPr>
          <p:cNvPr id="25" name="TextBox 24"/>
          <p:cNvSpPr txBox="1"/>
          <p:nvPr/>
        </p:nvSpPr>
        <p:spPr>
          <a:xfrm>
            <a:off x="612648" y="4334256"/>
            <a:ext cx="5272887" cy="1837944"/>
          </a:xfrm>
          <a:prstGeom prst="rect">
            <a:avLst/>
          </a:prstGeom>
          <a:noFill/>
        </p:spPr>
        <p:txBody>
          <a:bodyPr wrap="square" anchor="t" lIns="73152" rIns="73152" tIns="36576" bIns="36576">
            <a:noAutofit/>
          </a:bodyPr>
          <a:lstStyle/>
          <a:p>
            <a:pPr algn="l">
              <a:spcBef>
                <a:spcPts val="0"/>
              </a:spcBef>
              <a:spcAft>
                <a:spcPts val="0"/>
              </a:spcAft>
            </a:pPr>
            <a:r>
              <a:rPr lang="tr-TR" sz="2000" b="0" i="0">
                <a:solidFill>
                  <a:srgbClr val="262626"/>
                </a:solidFill>
                <a:latin typeface="Calibri"/>
              </a:rPr>
              <a:t>Haritada kullanılan renk ve sembollerin anlamlarını gösteren listedir.</a:t>
            </a:r>
          </a:p>
        </p:txBody>
      </p:sp>
      <p:sp>
        <p:nvSpPr>
          <p:cNvPr id="26" name="Rounded Rectangle 25"/>
          <p:cNvSpPr/>
          <p:nvPr/>
        </p:nvSpPr>
        <p:spPr>
          <a:xfrm>
            <a:off x="6196431" y="3730752"/>
            <a:ext cx="5492343" cy="2514600"/>
          </a:xfrm>
          <a:prstGeom prst="roundRect">
            <a:avLst>
              <a:gd name="adj" fmla="val 5000"/>
            </a:avLst>
          </a:prstGeom>
          <a:solidFill>
            <a:srgbClr val="F0F0F0"/>
          </a:solidFill>
          <a:ln>
            <a:noFill/>
          </a:ln>
          <a:effectLst/>
        </p:spPr>
        <p:txBody>
          <a:bodyPr rtlCol="0" anchor="ctr"/>
          <a:lstStyle/>
          <a:p/>
        </p:txBody>
      </p:sp>
      <p:sp>
        <p:nvSpPr>
          <p:cNvPr id="27" name="Rounded Rectangle 26"/>
          <p:cNvSpPr/>
          <p:nvPr/>
        </p:nvSpPr>
        <p:spPr>
          <a:xfrm>
            <a:off x="6196431" y="3730752"/>
            <a:ext cx="5492343" cy="530352"/>
          </a:xfrm>
          <a:prstGeom prst="roundRect">
            <a:avLst>
              <a:gd name="adj" fmla="val 25000"/>
            </a:avLst>
          </a:prstGeom>
          <a:solidFill>
            <a:srgbClr val="2C6696"/>
          </a:solidFill>
          <a:ln>
            <a:noFill/>
          </a:ln>
          <a:effectLst/>
        </p:spPr>
        <p:txBody>
          <a:bodyPr rtlCol="0" anchor="ctr"/>
          <a:lstStyle/>
          <a:p/>
        </p:txBody>
      </p:sp>
      <p:sp>
        <p:nvSpPr>
          <p:cNvPr id="28" name="Rectangle 27"/>
          <p:cNvSpPr/>
          <p:nvPr/>
        </p:nvSpPr>
        <p:spPr>
          <a:xfrm>
            <a:off x="6196431" y="3995928"/>
            <a:ext cx="5492343" cy="265176"/>
          </a:xfrm>
          <a:prstGeom prst="rect">
            <a:avLst/>
          </a:prstGeom>
          <a:solidFill>
            <a:srgbClr val="2C6696"/>
          </a:solidFill>
          <a:ln>
            <a:noFill/>
          </a:ln>
          <a:effectLst/>
        </p:spPr>
        <p:txBody>
          <a:bodyPr rtlCol="0" anchor="ctr"/>
          <a:lstStyle/>
          <a:p/>
        </p:txBody>
      </p:sp>
      <p:sp>
        <p:nvSpPr>
          <p:cNvPr id="29" name="TextBox 28"/>
          <p:cNvSpPr txBox="1"/>
          <p:nvPr/>
        </p:nvSpPr>
        <p:spPr>
          <a:xfrm>
            <a:off x="6287871" y="3730752"/>
            <a:ext cx="5309463"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Ölçek</a:t>
            </a:r>
          </a:p>
        </p:txBody>
      </p:sp>
      <p:sp>
        <p:nvSpPr>
          <p:cNvPr id="30" name="TextBox 29"/>
          <p:cNvSpPr txBox="1"/>
          <p:nvPr/>
        </p:nvSpPr>
        <p:spPr>
          <a:xfrm>
            <a:off x="6306159" y="4334256"/>
            <a:ext cx="5272887" cy="1837944"/>
          </a:xfrm>
          <a:prstGeom prst="rect">
            <a:avLst/>
          </a:prstGeom>
          <a:noFill/>
        </p:spPr>
        <p:txBody>
          <a:bodyPr wrap="square" anchor="t" lIns="73152" rIns="73152" tIns="36576" bIns="36576">
            <a:noAutofit/>
          </a:bodyPr>
          <a:lstStyle/>
          <a:p>
            <a:pPr algn="l">
              <a:spcBef>
                <a:spcPts val="0"/>
              </a:spcBef>
              <a:spcAft>
                <a:spcPts val="0"/>
              </a:spcAft>
            </a:pPr>
            <a:r>
              <a:rPr lang="tr-TR" sz="2000" b="0" i="0">
                <a:solidFill>
                  <a:srgbClr val="262626"/>
                </a:solidFill>
                <a:latin typeface="Calibri"/>
              </a:rPr>
              <a:t>Haritada kullanılan küçültme oranıdır. Ölçek yardımıyla haritadaki mesafe ve alanların gerçek uzunluk ve alan değeri bulunur.</a:t>
            </a:r>
          </a:p>
        </p:txBody>
      </p:sp>
      <p:sp>
        <p:nvSpPr>
          <p:cNvPr id="31" name="TextBox 3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32" name="Rounded Rectangle 3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36</a:t>
            </a:r>
          </a:p>
        </p:txBody>
      </p:sp>
      <p:sp>
        <p:nvSpPr>
          <p:cNvPr id="33" name="TextBox 3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24 / 226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1</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Ölçek kullanılmadan yapılan kabataslak çizimlere ne ad verilir?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Harita</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Kroki</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Profil</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Lejant</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Projeksiyon</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35</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25 / 226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1</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Ölçek kullanılmadan yapılan kabataslak çizimlere ne ad verilir?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Harita</a:t>
            </a:r>
          </a:p>
        </p:txBody>
      </p:sp>
      <p:sp>
        <p:nvSpPr>
          <p:cNvPr id="10" name="Rounded Rectangle 9"/>
          <p:cNvSpPr/>
          <p:nvPr/>
        </p:nvSpPr>
        <p:spPr>
          <a:xfrm>
            <a:off x="502920" y="3158337"/>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1" name="Oval 10"/>
          <p:cNvSpPr/>
          <p:nvPr/>
        </p:nvSpPr>
        <p:spPr>
          <a:xfrm>
            <a:off x="594360" y="3114445"/>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Kroki</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Profil</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Lejant</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Projeksiyon</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Ölçek kullanılmadan yapılan kabataslak çizimler kroki olarak adlandırılır. Krokide uzunluk ve alan hesaplanamaz.</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35</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26 / 226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Harita türleri: kullanım amacına göre</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HARİTA TÜRLERİ</a:t>
            </a:r>
          </a:p>
        </p:txBody>
      </p:sp>
      <p:sp>
        <p:nvSpPr>
          <p:cNvPr id="6" name="TextBox 5"/>
          <p:cNvSpPr txBox="1"/>
          <p:nvPr/>
        </p:nvSpPr>
        <p:spPr>
          <a:xfrm>
            <a:off x="502920" y="1188720"/>
            <a:ext cx="11185855" cy="96012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Haritaları birbirinden farklı kılan ilk özellik, haritanın kullanım amacı ve buna bağlı olarak içerdiği coğrafi bilgilerdir. Haritalar, kullanım amacına göre genel ve tematik olmak üzere iki gruba ayrılır.</a:t>
            </a:r>
          </a:p>
        </p:txBody>
      </p:sp>
      <p:sp>
        <p:nvSpPr>
          <p:cNvPr id="7" name="Rounded Rectangle 6"/>
          <p:cNvSpPr/>
          <p:nvPr/>
        </p:nvSpPr>
        <p:spPr>
          <a:xfrm>
            <a:off x="502920" y="2267712"/>
            <a:ext cx="4023360" cy="3063240"/>
          </a:xfrm>
          <a:prstGeom prst="roundRect">
            <a:avLst>
              <a:gd name="adj" fmla="val 5000"/>
            </a:avLst>
          </a:prstGeom>
          <a:solidFill>
            <a:srgbClr val="F0F0F0"/>
          </a:solidFill>
          <a:ln>
            <a:noFill/>
          </a:ln>
          <a:effectLst/>
        </p:spPr>
        <p:txBody>
          <a:bodyPr rtlCol="0" anchor="ctr"/>
          <a:lstStyle/>
          <a:p/>
        </p:txBody>
      </p:sp>
      <p:sp>
        <p:nvSpPr>
          <p:cNvPr id="8" name="Rounded Rectangle 7"/>
          <p:cNvSpPr/>
          <p:nvPr/>
        </p:nvSpPr>
        <p:spPr>
          <a:xfrm>
            <a:off x="502920" y="2267712"/>
            <a:ext cx="4023360" cy="530352"/>
          </a:xfrm>
          <a:prstGeom prst="roundRect">
            <a:avLst>
              <a:gd name="adj" fmla="val 25000"/>
            </a:avLst>
          </a:prstGeom>
          <a:solidFill>
            <a:srgbClr val="4F4F4F"/>
          </a:solidFill>
          <a:ln>
            <a:noFill/>
          </a:ln>
          <a:effectLst/>
        </p:spPr>
        <p:txBody>
          <a:bodyPr rtlCol="0" anchor="ctr"/>
          <a:lstStyle/>
          <a:p/>
        </p:txBody>
      </p:sp>
      <p:sp>
        <p:nvSpPr>
          <p:cNvPr id="9" name="Rectangle 8"/>
          <p:cNvSpPr/>
          <p:nvPr/>
        </p:nvSpPr>
        <p:spPr>
          <a:xfrm>
            <a:off x="502920" y="2532888"/>
            <a:ext cx="4023360" cy="265176"/>
          </a:xfrm>
          <a:prstGeom prst="rect">
            <a:avLst/>
          </a:prstGeom>
          <a:solidFill>
            <a:srgbClr val="4F4F4F"/>
          </a:solidFill>
          <a:ln>
            <a:noFill/>
          </a:ln>
          <a:effectLst/>
        </p:spPr>
        <p:txBody>
          <a:bodyPr rtlCol="0" anchor="ctr"/>
          <a:lstStyle/>
          <a:p/>
        </p:txBody>
      </p:sp>
      <p:sp>
        <p:nvSpPr>
          <p:cNvPr id="10" name="TextBox 9"/>
          <p:cNvSpPr txBox="1"/>
          <p:nvPr/>
        </p:nvSpPr>
        <p:spPr>
          <a:xfrm>
            <a:off x="594360" y="2267712"/>
            <a:ext cx="3840480" cy="530352"/>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1. Genel haritalar</a:t>
            </a:r>
          </a:p>
        </p:txBody>
      </p:sp>
      <p:sp>
        <p:nvSpPr>
          <p:cNvPr id="11" name="TextBox 10"/>
          <p:cNvSpPr txBox="1"/>
          <p:nvPr/>
        </p:nvSpPr>
        <p:spPr>
          <a:xfrm>
            <a:off x="612648" y="2871216"/>
            <a:ext cx="3803904" cy="2386584"/>
          </a:xfrm>
          <a:prstGeom prst="rect">
            <a:avLst/>
          </a:prstGeom>
          <a:noFill/>
        </p:spPr>
        <p:txBody>
          <a:bodyPr wrap="square" anchor="t" lIns="73152" rIns="73152" tIns="36576" bIns="36576">
            <a:noAutofit/>
          </a:bodyPr>
          <a:lstStyle/>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Fiziki haritalar</a:t>
            </a:r>
          </a:p>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Siyasi haritalar</a:t>
            </a:r>
          </a:p>
          <a:p>
            <a:pPr algn="l" marL="273482" indent="-273482">
              <a:spcBef>
                <a:spcPts val="0"/>
              </a:spcBef>
              <a:spcAft>
                <a:spcPts val="0"/>
              </a:spcAft>
            </a:pPr>
            <a:r>
              <a:rPr lang="tr-TR" sz="2200" b="1" i="0">
                <a:solidFill>
                  <a:srgbClr val="2C6696"/>
                </a:solidFill>
                <a:latin typeface="Calibri"/>
              </a:rPr>
              <a:t>•  </a:t>
            </a:r>
            <a:r>
              <a:rPr lang="tr-TR" sz="2200" b="0" i="0">
                <a:solidFill>
                  <a:srgbClr val="262626"/>
                </a:solidFill>
                <a:latin typeface="Calibri"/>
              </a:rPr>
              <a:t>Topoğrafya haritaları vb.</a:t>
            </a:r>
          </a:p>
        </p:txBody>
      </p:sp>
      <p:sp>
        <p:nvSpPr>
          <p:cNvPr id="12" name="Rounded Rectangle 11"/>
          <p:cNvSpPr/>
          <p:nvPr/>
        </p:nvSpPr>
        <p:spPr>
          <a:xfrm>
            <a:off x="4754880" y="2267712"/>
            <a:ext cx="6933895" cy="3063240"/>
          </a:xfrm>
          <a:prstGeom prst="roundRect">
            <a:avLst>
              <a:gd name="adj" fmla="val 5000"/>
            </a:avLst>
          </a:prstGeom>
          <a:solidFill>
            <a:srgbClr val="F0F0F0"/>
          </a:solidFill>
          <a:ln>
            <a:noFill/>
          </a:ln>
          <a:effectLst/>
        </p:spPr>
        <p:txBody>
          <a:bodyPr rtlCol="0" anchor="ctr"/>
          <a:lstStyle/>
          <a:p/>
        </p:txBody>
      </p:sp>
      <p:sp>
        <p:nvSpPr>
          <p:cNvPr id="13" name="Rounded Rectangle 12"/>
          <p:cNvSpPr/>
          <p:nvPr/>
        </p:nvSpPr>
        <p:spPr>
          <a:xfrm>
            <a:off x="4754880" y="2267712"/>
            <a:ext cx="6933895" cy="530352"/>
          </a:xfrm>
          <a:prstGeom prst="roundRect">
            <a:avLst>
              <a:gd name="adj" fmla="val 25000"/>
            </a:avLst>
          </a:prstGeom>
          <a:solidFill>
            <a:srgbClr val="7A4EA0"/>
          </a:solidFill>
          <a:ln>
            <a:noFill/>
          </a:ln>
          <a:effectLst/>
        </p:spPr>
        <p:txBody>
          <a:bodyPr rtlCol="0" anchor="ctr"/>
          <a:lstStyle/>
          <a:p/>
        </p:txBody>
      </p:sp>
      <p:sp>
        <p:nvSpPr>
          <p:cNvPr id="14" name="Rectangle 13"/>
          <p:cNvSpPr/>
          <p:nvPr/>
        </p:nvSpPr>
        <p:spPr>
          <a:xfrm>
            <a:off x="4754880" y="2532888"/>
            <a:ext cx="6933895" cy="265176"/>
          </a:xfrm>
          <a:prstGeom prst="rect">
            <a:avLst/>
          </a:prstGeom>
          <a:solidFill>
            <a:srgbClr val="7A4EA0"/>
          </a:solidFill>
          <a:ln>
            <a:noFill/>
          </a:ln>
          <a:effectLst/>
        </p:spPr>
        <p:txBody>
          <a:bodyPr rtlCol="0" anchor="ctr"/>
          <a:lstStyle/>
          <a:p/>
        </p:txBody>
      </p:sp>
      <p:sp>
        <p:nvSpPr>
          <p:cNvPr id="15" name="TextBox 14"/>
          <p:cNvSpPr txBox="1"/>
          <p:nvPr/>
        </p:nvSpPr>
        <p:spPr>
          <a:xfrm>
            <a:off x="4846320" y="2267712"/>
            <a:ext cx="6751015" cy="530352"/>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2. Tematik haritalar</a:t>
            </a:r>
          </a:p>
        </p:txBody>
      </p:sp>
      <p:sp>
        <p:nvSpPr>
          <p:cNvPr id="16" name="TextBox 15"/>
          <p:cNvSpPr txBox="1"/>
          <p:nvPr/>
        </p:nvSpPr>
        <p:spPr>
          <a:xfrm>
            <a:off x="4864608" y="2871216"/>
            <a:ext cx="6714439" cy="2386584"/>
          </a:xfrm>
          <a:prstGeom prst="rect">
            <a:avLst/>
          </a:prstGeom>
          <a:noFill/>
        </p:spPr>
        <p:txBody>
          <a:bodyPr wrap="square" anchor="t" lIns="73152" rIns="73152" tIns="36576" bIns="36576">
            <a:noAutofit/>
          </a:bodyPr>
          <a:lstStyle/>
          <a:p>
            <a:pPr algn="l" marL="261051" indent="-261051">
              <a:spcBef>
                <a:spcPts val="0"/>
              </a:spcBef>
              <a:spcAft>
                <a:spcPts val="600"/>
              </a:spcAft>
            </a:pPr>
            <a:r>
              <a:rPr lang="tr-TR" sz="2100" b="1" i="0">
                <a:solidFill>
                  <a:srgbClr val="2C6696"/>
                </a:solidFill>
                <a:latin typeface="Calibri"/>
              </a:rPr>
              <a:t>•  </a:t>
            </a:r>
            <a:r>
              <a:rPr lang="tr-TR" sz="2100" b="0" i="0">
                <a:solidFill>
                  <a:srgbClr val="262626"/>
                </a:solidFill>
                <a:latin typeface="Calibri"/>
              </a:rPr>
              <a:t>Jeoloji haritası · Jeomorfoloji haritası</a:t>
            </a:r>
          </a:p>
          <a:p>
            <a:pPr algn="l" marL="261051" indent="-261051">
              <a:spcBef>
                <a:spcPts val="0"/>
              </a:spcBef>
              <a:spcAft>
                <a:spcPts val="600"/>
              </a:spcAft>
            </a:pPr>
            <a:r>
              <a:rPr lang="tr-TR" sz="2100" b="1" i="0">
                <a:solidFill>
                  <a:srgbClr val="2C6696"/>
                </a:solidFill>
                <a:latin typeface="Calibri"/>
              </a:rPr>
              <a:t>•  </a:t>
            </a:r>
            <a:r>
              <a:rPr lang="tr-TR" sz="2100" b="0" i="0">
                <a:solidFill>
                  <a:srgbClr val="262626"/>
                </a:solidFill>
                <a:latin typeface="Calibri"/>
              </a:rPr>
              <a:t>İklim haritası · Toprak haritası</a:t>
            </a:r>
          </a:p>
          <a:p>
            <a:pPr algn="l" marL="261051" indent="-261051">
              <a:spcBef>
                <a:spcPts val="0"/>
              </a:spcBef>
              <a:spcAft>
                <a:spcPts val="600"/>
              </a:spcAft>
            </a:pPr>
            <a:r>
              <a:rPr lang="tr-TR" sz="2100" b="1" i="0">
                <a:solidFill>
                  <a:srgbClr val="2C6696"/>
                </a:solidFill>
                <a:latin typeface="Calibri"/>
              </a:rPr>
              <a:t>•  </a:t>
            </a:r>
            <a:r>
              <a:rPr lang="tr-TR" sz="2100" b="0" i="0">
                <a:solidFill>
                  <a:srgbClr val="262626"/>
                </a:solidFill>
                <a:latin typeface="Calibri"/>
              </a:rPr>
              <a:t>Bitki örtüsü haritası · Nüfus haritası</a:t>
            </a:r>
          </a:p>
          <a:p>
            <a:pPr algn="l" marL="261051" indent="-261051">
              <a:spcBef>
                <a:spcPts val="0"/>
              </a:spcBef>
              <a:spcAft>
                <a:spcPts val="600"/>
              </a:spcAft>
            </a:pPr>
            <a:r>
              <a:rPr lang="tr-TR" sz="2100" b="1" i="0">
                <a:solidFill>
                  <a:srgbClr val="2C6696"/>
                </a:solidFill>
                <a:latin typeface="Calibri"/>
              </a:rPr>
              <a:t>•  </a:t>
            </a:r>
            <a:r>
              <a:rPr lang="tr-TR" sz="2100" b="0" i="0">
                <a:solidFill>
                  <a:srgbClr val="262626"/>
                </a:solidFill>
                <a:latin typeface="Calibri"/>
              </a:rPr>
              <a:t>Ulaşım haritası · Turizm haritası</a:t>
            </a:r>
          </a:p>
          <a:p>
            <a:pPr algn="l" marL="261051" indent="-261051">
              <a:spcBef>
                <a:spcPts val="0"/>
              </a:spcBef>
              <a:spcAft>
                <a:spcPts val="0"/>
              </a:spcAft>
            </a:pPr>
            <a:r>
              <a:rPr lang="tr-TR" sz="2100" b="1" i="0">
                <a:solidFill>
                  <a:srgbClr val="2C6696"/>
                </a:solidFill>
                <a:latin typeface="Calibri"/>
              </a:rPr>
              <a:t>•  </a:t>
            </a:r>
            <a:r>
              <a:rPr lang="tr-TR" sz="2100" b="0" i="0">
                <a:solidFill>
                  <a:srgbClr val="262626"/>
                </a:solidFill>
                <a:latin typeface="Calibri"/>
              </a:rPr>
              <a:t>Ekonomi haritası vb.</a:t>
            </a:r>
          </a:p>
        </p:txBody>
      </p:sp>
      <p:sp>
        <p:nvSpPr>
          <p:cNvPr id="17" name="Rounded Rectangle 16"/>
          <p:cNvSpPr/>
          <p:nvPr/>
        </p:nvSpPr>
        <p:spPr>
          <a:xfrm>
            <a:off x="502920" y="5468112"/>
            <a:ext cx="11185855" cy="822960"/>
          </a:xfrm>
          <a:prstGeom prst="roundRect">
            <a:avLst>
              <a:gd name="adj" fmla="val 8000"/>
            </a:avLst>
          </a:prstGeom>
          <a:solidFill>
            <a:srgbClr val="F0F0F0"/>
          </a:solidFill>
          <a:ln>
            <a:noFill/>
          </a:ln>
          <a:effectLst/>
        </p:spPr>
        <p:txBody>
          <a:bodyPr rtlCol="0" anchor="ctr"/>
          <a:lstStyle/>
          <a:p/>
        </p:txBody>
      </p:sp>
      <p:sp>
        <p:nvSpPr>
          <p:cNvPr id="18" name="Rectangle 17"/>
          <p:cNvSpPr/>
          <p:nvPr/>
        </p:nvSpPr>
        <p:spPr>
          <a:xfrm>
            <a:off x="502920" y="5468112"/>
            <a:ext cx="118872" cy="822960"/>
          </a:xfrm>
          <a:prstGeom prst="rect">
            <a:avLst/>
          </a:prstGeom>
          <a:solidFill>
            <a:srgbClr val="7A4EA0"/>
          </a:solidFill>
          <a:ln>
            <a:noFill/>
          </a:ln>
          <a:effectLst/>
        </p:spPr>
        <p:txBody>
          <a:bodyPr rtlCol="0" anchor="ctr"/>
          <a:lstStyle/>
          <a:p/>
        </p:txBody>
      </p:sp>
      <p:sp>
        <p:nvSpPr>
          <p:cNvPr id="19" name="TextBox 18"/>
          <p:cNvSpPr txBox="1"/>
          <p:nvPr/>
        </p:nvSpPr>
        <p:spPr>
          <a:xfrm>
            <a:off x="777240" y="5468112"/>
            <a:ext cx="10774375" cy="822960"/>
          </a:xfrm>
          <a:prstGeom prst="rect">
            <a:avLst/>
          </a:prstGeom>
          <a:noFill/>
        </p:spPr>
        <p:txBody>
          <a:bodyPr wrap="square" anchor="ctr" lIns="73152" rIns="73152" tIns="36576" bIns="36576">
            <a:noAutofit/>
          </a:bodyPr>
          <a:lstStyle/>
          <a:p>
            <a:pPr algn="l">
              <a:spcBef>
                <a:spcPts val="0"/>
              </a:spcBef>
              <a:spcAft>
                <a:spcPts val="0"/>
              </a:spcAft>
            </a:pPr>
            <a:r>
              <a:rPr lang="tr-TR" sz="2000" b="0" i="1">
                <a:solidFill>
                  <a:srgbClr val="262626"/>
                </a:solidFill>
                <a:latin typeface="Calibri"/>
              </a:rPr>
              <a:t>Örneğin siyasi haritalarda ülke ve il sınırları yer alırken jeomorfoloji haritalarında yer şekilleri hakkında bilgiler bulunur.</a:t>
            </a:r>
          </a:p>
        </p:txBody>
      </p:sp>
      <p:sp>
        <p:nvSpPr>
          <p:cNvPr id="20" name="TextBox 1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21" name="Rounded Rectangle 2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36</a:t>
            </a:r>
          </a:p>
        </p:txBody>
      </p:sp>
      <p:sp>
        <p:nvSpPr>
          <p:cNvPr id="22" name="TextBox 2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27 / 226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Kitabımızdaki haritalar hangi türde?</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SINIFLANDIR</a:t>
            </a:r>
          </a:p>
        </p:txBody>
      </p:sp>
      <p:sp>
        <p:nvSpPr>
          <p:cNvPr id="6" name="Rounded Rectangle 5"/>
          <p:cNvSpPr/>
          <p:nvPr/>
        </p:nvSpPr>
        <p:spPr>
          <a:xfrm>
            <a:off x="502920" y="1216152"/>
            <a:ext cx="11185855" cy="658368"/>
          </a:xfrm>
          <a:prstGeom prst="roundRect">
            <a:avLst>
              <a:gd name="adj" fmla="val 25000"/>
            </a:avLst>
          </a:prstGeom>
          <a:solidFill>
            <a:srgbClr val="F0F0F0"/>
          </a:solidFill>
          <a:ln>
            <a:noFill/>
          </a:ln>
          <a:effectLst/>
        </p:spPr>
        <p:txBody>
          <a:bodyPr rtlCol="0" anchor="ctr"/>
          <a:lstStyle/>
          <a:p/>
        </p:txBody>
      </p:sp>
      <p:sp>
        <p:nvSpPr>
          <p:cNvPr id="7" name="TextBox 6"/>
          <p:cNvSpPr txBox="1"/>
          <p:nvPr/>
        </p:nvSpPr>
        <p:spPr>
          <a:xfrm>
            <a:off x="731520" y="1216152"/>
            <a:ext cx="6949440" cy="65836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Kıbrıs Adası ve Çevresinin Siyasi Haritası</a:t>
            </a:r>
          </a:p>
        </p:txBody>
      </p:sp>
      <p:sp>
        <p:nvSpPr>
          <p:cNvPr id="8" name="TextBox 7"/>
          <p:cNvSpPr txBox="1"/>
          <p:nvPr/>
        </p:nvSpPr>
        <p:spPr>
          <a:xfrm>
            <a:off x="7726680" y="1216152"/>
            <a:ext cx="914400" cy="658368"/>
          </a:xfrm>
          <a:prstGeom prst="rect">
            <a:avLst/>
          </a:prstGeom>
          <a:noFill/>
        </p:spPr>
        <p:txBody>
          <a:bodyPr wrap="square" anchor="ctr" lIns="73152" rIns="73152" tIns="36576" bIns="36576">
            <a:noAutofit/>
          </a:bodyPr>
          <a:lstStyle/>
          <a:p>
            <a:pPr algn="l">
              <a:spcBef>
                <a:spcPts val="0"/>
              </a:spcBef>
              <a:spcAft>
                <a:spcPts val="0"/>
              </a:spcAft>
            </a:pPr>
            <a:r>
              <a:rPr lang="tr-TR" sz="1600" b="0" i="0">
                <a:solidFill>
                  <a:srgbClr val="767676"/>
                </a:solidFill>
                <a:latin typeface="Calibri"/>
              </a:rPr>
              <a:t>s. 43</a:t>
            </a:r>
          </a:p>
        </p:txBody>
      </p:sp>
      <p:sp>
        <p:nvSpPr>
          <p:cNvPr id="9" name="Rounded Rectangle 8"/>
          <p:cNvSpPr/>
          <p:nvPr/>
        </p:nvSpPr>
        <p:spPr>
          <a:xfrm>
            <a:off x="8732520" y="1289304"/>
            <a:ext cx="2834640" cy="512064"/>
          </a:xfrm>
          <a:prstGeom prst="roundRect">
            <a:avLst>
              <a:gd name="adj" fmla="val 40000"/>
            </a:avLst>
          </a:prstGeom>
          <a:solidFill>
            <a:srgbClr val="FFFFFF"/>
          </a:solidFill>
          <a:ln w="12700">
            <a:solidFill>
              <a:srgbClr val="D9D9D9"/>
            </a:solidFill>
          </a:ln>
          <a:effectLst/>
        </p:spPr>
        <p:txBody>
          <a:bodyPr rtlCol="0" anchor="ctr" wrap="square" lIns="128016" rIns="128016" tIns="0" bIns="0">
            <a:noAutofit/>
          </a:bodyPr>
          <a:lstStyle/>
          <a:p>
            <a:pPr algn="ctr">
              <a:spcBef>
                <a:spcPts val="0"/>
              </a:spcBef>
              <a:spcAft>
                <a:spcPts val="0"/>
              </a:spcAft>
            </a:pPr>
            <a:r>
              <a:rPr lang="tr-TR" sz="1800" b="0" i="0">
                <a:solidFill>
                  <a:srgbClr val="767676"/>
                </a:solidFill>
                <a:latin typeface="Calibri"/>
              </a:rPr>
              <a:t>genel / tematik?</a:t>
            </a:r>
          </a:p>
        </p:txBody>
      </p:sp>
      <p:sp>
        <p:nvSpPr>
          <p:cNvPr id="10" name="Rounded Rectangle 9"/>
          <p:cNvSpPr/>
          <p:nvPr/>
        </p:nvSpPr>
        <p:spPr>
          <a:xfrm>
            <a:off x="502920" y="2002536"/>
            <a:ext cx="11185855" cy="658368"/>
          </a:xfrm>
          <a:prstGeom prst="roundRect">
            <a:avLst>
              <a:gd name="adj" fmla="val 25000"/>
            </a:avLst>
          </a:prstGeom>
          <a:solidFill>
            <a:srgbClr val="F0F0F0"/>
          </a:solidFill>
          <a:ln>
            <a:noFill/>
          </a:ln>
          <a:effectLst/>
        </p:spPr>
        <p:txBody>
          <a:bodyPr rtlCol="0" anchor="ctr"/>
          <a:lstStyle/>
          <a:p/>
        </p:txBody>
      </p:sp>
      <p:sp>
        <p:nvSpPr>
          <p:cNvPr id="11" name="TextBox 10"/>
          <p:cNvSpPr txBox="1"/>
          <p:nvPr/>
        </p:nvSpPr>
        <p:spPr>
          <a:xfrm>
            <a:off x="731520" y="2002536"/>
            <a:ext cx="6949440" cy="65836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Rize ilinin fiziki haritası</a:t>
            </a:r>
          </a:p>
        </p:txBody>
      </p:sp>
      <p:sp>
        <p:nvSpPr>
          <p:cNvPr id="12" name="TextBox 11"/>
          <p:cNvSpPr txBox="1"/>
          <p:nvPr/>
        </p:nvSpPr>
        <p:spPr>
          <a:xfrm>
            <a:off x="7726680" y="2002536"/>
            <a:ext cx="914400" cy="658368"/>
          </a:xfrm>
          <a:prstGeom prst="rect">
            <a:avLst/>
          </a:prstGeom>
          <a:noFill/>
        </p:spPr>
        <p:txBody>
          <a:bodyPr wrap="square" anchor="ctr" lIns="73152" rIns="73152" tIns="36576" bIns="36576">
            <a:noAutofit/>
          </a:bodyPr>
          <a:lstStyle/>
          <a:p>
            <a:pPr algn="l">
              <a:spcBef>
                <a:spcPts val="0"/>
              </a:spcBef>
              <a:spcAft>
                <a:spcPts val="0"/>
              </a:spcAft>
            </a:pPr>
            <a:r>
              <a:rPr lang="tr-TR" sz="1600" b="0" i="0">
                <a:solidFill>
                  <a:srgbClr val="767676"/>
                </a:solidFill>
                <a:latin typeface="Calibri"/>
              </a:rPr>
              <a:t>s. 52</a:t>
            </a:r>
          </a:p>
        </p:txBody>
      </p:sp>
      <p:sp>
        <p:nvSpPr>
          <p:cNvPr id="13" name="Rounded Rectangle 12"/>
          <p:cNvSpPr/>
          <p:nvPr/>
        </p:nvSpPr>
        <p:spPr>
          <a:xfrm>
            <a:off x="8732520" y="2075688"/>
            <a:ext cx="2834640" cy="512064"/>
          </a:xfrm>
          <a:prstGeom prst="roundRect">
            <a:avLst>
              <a:gd name="adj" fmla="val 40000"/>
            </a:avLst>
          </a:prstGeom>
          <a:solidFill>
            <a:srgbClr val="FFFFFF"/>
          </a:solidFill>
          <a:ln w="12700">
            <a:solidFill>
              <a:srgbClr val="D9D9D9"/>
            </a:solidFill>
          </a:ln>
          <a:effectLst/>
        </p:spPr>
        <p:txBody>
          <a:bodyPr rtlCol="0" anchor="ctr" wrap="square" lIns="128016" rIns="128016" tIns="0" bIns="0">
            <a:noAutofit/>
          </a:bodyPr>
          <a:lstStyle/>
          <a:p>
            <a:pPr algn="ctr">
              <a:spcBef>
                <a:spcPts val="0"/>
              </a:spcBef>
              <a:spcAft>
                <a:spcPts val="0"/>
              </a:spcAft>
            </a:pPr>
            <a:r>
              <a:rPr lang="tr-TR" sz="1800" b="0" i="0">
                <a:solidFill>
                  <a:srgbClr val="767676"/>
                </a:solidFill>
                <a:latin typeface="Calibri"/>
              </a:rPr>
              <a:t>genel / tematik?</a:t>
            </a:r>
          </a:p>
        </p:txBody>
      </p:sp>
      <p:sp>
        <p:nvSpPr>
          <p:cNvPr id="14" name="Rounded Rectangle 13"/>
          <p:cNvSpPr/>
          <p:nvPr/>
        </p:nvSpPr>
        <p:spPr>
          <a:xfrm>
            <a:off x="502920" y="2788920"/>
            <a:ext cx="11185855" cy="658368"/>
          </a:xfrm>
          <a:prstGeom prst="roundRect">
            <a:avLst>
              <a:gd name="adj" fmla="val 25000"/>
            </a:avLst>
          </a:prstGeom>
          <a:solidFill>
            <a:srgbClr val="F0F0F0"/>
          </a:solidFill>
          <a:ln>
            <a:noFill/>
          </a:ln>
          <a:effectLst/>
        </p:spPr>
        <p:txBody>
          <a:bodyPr rtlCol="0" anchor="ctr"/>
          <a:lstStyle/>
          <a:p/>
        </p:txBody>
      </p:sp>
      <p:sp>
        <p:nvSpPr>
          <p:cNvPr id="15" name="TextBox 14"/>
          <p:cNvSpPr txBox="1"/>
          <p:nvPr/>
        </p:nvSpPr>
        <p:spPr>
          <a:xfrm>
            <a:off x="731520" y="2788920"/>
            <a:ext cx="6949440" cy="65836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Güney Amerika Ülkeleri Nüfus Haritası</a:t>
            </a:r>
          </a:p>
        </p:txBody>
      </p:sp>
      <p:sp>
        <p:nvSpPr>
          <p:cNvPr id="16" name="TextBox 15"/>
          <p:cNvSpPr txBox="1"/>
          <p:nvPr/>
        </p:nvSpPr>
        <p:spPr>
          <a:xfrm>
            <a:off x="7726680" y="2788920"/>
            <a:ext cx="914400" cy="658368"/>
          </a:xfrm>
          <a:prstGeom prst="rect">
            <a:avLst/>
          </a:prstGeom>
          <a:noFill/>
        </p:spPr>
        <p:txBody>
          <a:bodyPr wrap="square" anchor="ctr" lIns="73152" rIns="73152" tIns="36576" bIns="36576">
            <a:noAutofit/>
          </a:bodyPr>
          <a:lstStyle/>
          <a:p>
            <a:pPr algn="l">
              <a:spcBef>
                <a:spcPts val="0"/>
              </a:spcBef>
              <a:spcAft>
                <a:spcPts val="0"/>
              </a:spcAft>
            </a:pPr>
            <a:r>
              <a:rPr lang="tr-TR" sz="1600" b="0" i="0">
                <a:solidFill>
                  <a:srgbClr val="767676"/>
                </a:solidFill>
                <a:latin typeface="Calibri"/>
              </a:rPr>
              <a:t>s. 36</a:t>
            </a:r>
          </a:p>
        </p:txBody>
      </p:sp>
      <p:sp>
        <p:nvSpPr>
          <p:cNvPr id="17" name="Rounded Rectangle 16"/>
          <p:cNvSpPr/>
          <p:nvPr/>
        </p:nvSpPr>
        <p:spPr>
          <a:xfrm>
            <a:off x="8732520" y="2862072"/>
            <a:ext cx="2834640" cy="512064"/>
          </a:xfrm>
          <a:prstGeom prst="roundRect">
            <a:avLst>
              <a:gd name="adj" fmla="val 40000"/>
            </a:avLst>
          </a:prstGeom>
          <a:solidFill>
            <a:srgbClr val="FFFFFF"/>
          </a:solidFill>
          <a:ln w="12700">
            <a:solidFill>
              <a:srgbClr val="D9D9D9"/>
            </a:solidFill>
          </a:ln>
          <a:effectLst/>
        </p:spPr>
        <p:txBody>
          <a:bodyPr rtlCol="0" anchor="ctr" wrap="square" lIns="128016" rIns="128016" tIns="0" bIns="0">
            <a:noAutofit/>
          </a:bodyPr>
          <a:lstStyle/>
          <a:p>
            <a:pPr algn="ctr">
              <a:spcBef>
                <a:spcPts val="0"/>
              </a:spcBef>
              <a:spcAft>
                <a:spcPts val="0"/>
              </a:spcAft>
            </a:pPr>
            <a:r>
              <a:rPr lang="tr-TR" sz="1800" b="0" i="0">
                <a:solidFill>
                  <a:srgbClr val="767676"/>
                </a:solidFill>
                <a:latin typeface="Calibri"/>
              </a:rPr>
              <a:t>genel / tematik?</a:t>
            </a:r>
          </a:p>
        </p:txBody>
      </p:sp>
      <p:sp>
        <p:nvSpPr>
          <p:cNvPr id="18" name="Rounded Rectangle 17"/>
          <p:cNvSpPr/>
          <p:nvPr/>
        </p:nvSpPr>
        <p:spPr>
          <a:xfrm>
            <a:off x="502920" y="3575304"/>
            <a:ext cx="11185855" cy="658368"/>
          </a:xfrm>
          <a:prstGeom prst="roundRect">
            <a:avLst>
              <a:gd name="adj" fmla="val 25000"/>
            </a:avLst>
          </a:prstGeom>
          <a:solidFill>
            <a:srgbClr val="F0F0F0"/>
          </a:solidFill>
          <a:ln>
            <a:noFill/>
          </a:ln>
          <a:effectLst/>
        </p:spPr>
        <p:txBody>
          <a:bodyPr rtlCol="0" anchor="ctr"/>
          <a:lstStyle/>
          <a:p/>
        </p:txBody>
      </p:sp>
      <p:sp>
        <p:nvSpPr>
          <p:cNvPr id="19" name="TextBox 18"/>
          <p:cNvSpPr txBox="1"/>
          <p:nvPr/>
        </p:nvSpPr>
        <p:spPr>
          <a:xfrm>
            <a:off x="731520" y="3575304"/>
            <a:ext cx="6949440" cy="65836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Türkiye’de mısır üretiminin dağılışı</a:t>
            </a:r>
          </a:p>
        </p:txBody>
      </p:sp>
      <p:sp>
        <p:nvSpPr>
          <p:cNvPr id="20" name="TextBox 19"/>
          <p:cNvSpPr txBox="1"/>
          <p:nvPr/>
        </p:nvSpPr>
        <p:spPr>
          <a:xfrm>
            <a:off x="7726680" y="3575304"/>
            <a:ext cx="914400" cy="658368"/>
          </a:xfrm>
          <a:prstGeom prst="rect">
            <a:avLst/>
          </a:prstGeom>
          <a:noFill/>
        </p:spPr>
        <p:txBody>
          <a:bodyPr wrap="square" anchor="ctr" lIns="73152" rIns="73152" tIns="36576" bIns="36576">
            <a:noAutofit/>
          </a:bodyPr>
          <a:lstStyle/>
          <a:p>
            <a:pPr algn="l">
              <a:spcBef>
                <a:spcPts val="0"/>
              </a:spcBef>
              <a:spcAft>
                <a:spcPts val="0"/>
              </a:spcAft>
            </a:pPr>
            <a:r>
              <a:rPr lang="tr-TR" sz="1600" b="0" i="0">
                <a:solidFill>
                  <a:srgbClr val="767676"/>
                </a:solidFill>
                <a:latin typeface="Calibri"/>
              </a:rPr>
              <a:t>s. 47</a:t>
            </a:r>
          </a:p>
        </p:txBody>
      </p:sp>
      <p:sp>
        <p:nvSpPr>
          <p:cNvPr id="21" name="Rounded Rectangle 20"/>
          <p:cNvSpPr/>
          <p:nvPr/>
        </p:nvSpPr>
        <p:spPr>
          <a:xfrm>
            <a:off x="8732520" y="3648456"/>
            <a:ext cx="2834640" cy="512064"/>
          </a:xfrm>
          <a:prstGeom prst="roundRect">
            <a:avLst>
              <a:gd name="adj" fmla="val 40000"/>
            </a:avLst>
          </a:prstGeom>
          <a:solidFill>
            <a:srgbClr val="FFFFFF"/>
          </a:solidFill>
          <a:ln w="12700">
            <a:solidFill>
              <a:srgbClr val="D9D9D9"/>
            </a:solidFill>
          </a:ln>
          <a:effectLst/>
        </p:spPr>
        <p:txBody>
          <a:bodyPr rtlCol="0" anchor="ctr" wrap="square" lIns="128016" rIns="128016" tIns="0" bIns="0">
            <a:noAutofit/>
          </a:bodyPr>
          <a:lstStyle/>
          <a:p>
            <a:pPr algn="ctr">
              <a:spcBef>
                <a:spcPts val="0"/>
              </a:spcBef>
              <a:spcAft>
                <a:spcPts val="0"/>
              </a:spcAft>
            </a:pPr>
            <a:r>
              <a:rPr lang="tr-TR" sz="1800" b="0" i="0">
                <a:solidFill>
                  <a:srgbClr val="767676"/>
                </a:solidFill>
                <a:latin typeface="Calibri"/>
              </a:rPr>
              <a:t>genel / tematik?</a:t>
            </a:r>
          </a:p>
        </p:txBody>
      </p:sp>
      <p:sp>
        <p:nvSpPr>
          <p:cNvPr id="22" name="Rounded Rectangle 21"/>
          <p:cNvSpPr/>
          <p:nvPr/>
        </p:nvSpPr>
        <p:spPr>
          <a:xfrm>
            <a:off x="502920" y="4361688"/>
            <a:ext cx="11185855" cy="658368"/>
          </a:xfrm>
          <a:prstGeom prst="roundRect">
            <a:avLst>
              <a:gd name="adj" fmla="val 25000"/>
            </a:avLst>
          </a:prstGeom>
          <a:solidFill>
            <a:srgbClr val="F0F0F0"/>
          </a:solidFill>
          <a:ln>
            <a:noFill/>
          </a:ln>
          <a:effectLst/>
        </p:spPr>
        <p:txBody>
          <a:bodyPr rtlCol="0" anchor="ctr"/>
          <a:lstStyle/>
          <a:p/>
        </p:txBody>
      </p:sp>
      <p:sp>
        <p:nvSpPr>
          <p:cNvPr id="23" name="TextBox 22"/>
          <p:cNvSpPr txBox="1"/>
          <p:nvPr/>
        </p:nvSpPr>
        <p:spPr>
          <a:xfrm>
            <a:off x="731520" y="4361688"/>
            <a:ext cx="6949440" cy="65836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Eğirdir Gölü Kirlilik (Nitrit Azotu) Haritası</a:t>
            </a:r>
          </a:p>
        </p:txBody>
      </p:sp>
      <p:sp>
        <p:nvSpPr>
          <p:cNvPr id="24" name="TextBox 23"/>
          <p:cNvSpPr txBox="1"/>
          <p:nvPr/>
        </p:nvSpPr>
        <p:spPr>
          <a:xfrm>
            <a:off x="7726680" y="4361688"/>
            <a:ext cx="914400" cy="658368"/>
          </a:xfrm>
          <a:prstGeom prst="rect">
            <a:avLst/>
          </a:prstGeom>
          <a:noFill/>
        </p:spPr>
        <p:txBody>
          <a:bodyPr wrap="square" anchor="ctr" lIns="73152" rIns="73152" tIns="36576" bIns="36576">
            <a:noAutofit/>
          </a:bodyPr>
          <a:lstStyle/>
          <a:p>
            <a:pPr algn="l">
              <a:spcBef>
                <a:spcPts val="0"/>
              </a:spcBef>
              <a:spcAft>
                <a:spcPts val="0"/>
              </a:spcAft>
            </a:pPr>
            <a:r>
              <a:rPr lang="tr-TR" sz="1600" b="0" i="0">
                <a:solidFill>
                  <a:srgbClr val="767676"/>
                </a:solidFill>
                <a:latin typeface="Calibri"/>
              </a:rPr>
              <a:t>s. 48</a:t>
            </a:r>
          </a:p>
        </p:txBody>
      </p:sp>
      <p:sp>
        <p:nvSpPr>
          <p:cNvPr id="25" name="Rounded Rectangle 24"/>
          <p:cNvSpPr/>
          <p:nvPr/>
        </p:nvSpPr>
        <p:spPr>
          <a:xfrm>
            <a:off x="8732520" y="4434840"/>
            <a:ext cx="2834640" cy="512064"/>
          </a:xfrm>
          <a:prstGeom prst="roundRect">
            <a:avLst>
              <a:gd name="adj" fmla="val 40000"/>
            </a:avLst>
          </a:prstGeom>
          <a:solidFill>
            <a:srgbClr val="FFFFFF"/>
          </a:solidFill>
          <a:ln w="12700">
            <a:solidFill>
              <a:srgbClr val="D9D9D9"/>
            </a:solidFill>
          </a:ln>
          <a:effectLst/>
        </p:spPr>
        <p:txBody>
          <a:bodyPr rtlCol="0" anchor="ctr" wrap="square" lIns="128016" rIns="128016" tIns="0" bIns="0">
            <a:noAutofit/>
          </a:bodyPr>
          <a:lstStyle/>
          <a:p>
            <a:pPr algn="ctr">
              <a:spcBef>
                <a:spcPts val="0"/>
              </a:spcBef>
              <a:spcAft>
                <a:spcPts val="0"/>
              </a:spcAft>
            </a:pPr>
            <a:r>
              <a:rPr lang="tr-TR" sz="1800" b="0" i="0">
                <a:solidFill>
                  <a:srgbClr val="767676"/>
                </a:solidFill>
                <a:latin typeface="Calibri"/>
              </a:rPr>
              <a:t>genel / tematik?</a:t>
            </a:r>
          </a:p>
        </p:txBody>
      </p:sp>
      <p:sp>
        <p:nvSpPr>
          <p:cNvPr id="26" name="Rounded Rectangle 25"/>
          <p:cNvSpPr/>
          <p:nvPr/>
        </p:nvSpPr>
        <p:spPr>
          <a:xfrm>
            <a:off x="502920" y="5148072"/>
            <a:ext cx="11185855" cy="658368"/>
          </a:xfrm>
          <a:prstGeom prst="roundRect">
            <a:avLst>
              <a:gd name="adj" fmla="val 25000"/>
            </a:avLst>
          </a:prstGeom>
          <a:solidFill>
            <a:srgbClr val="F0F0F0"/>
          </a:solidFill>
          <a:ln>
            <a:noFill/>
          </a:ln>
          <a:effectLst/>
        </p:spPr>
        <p:txBody>
          <a:bodyPr rtlCol="0" anchor="ctr"/>
          <a:lstStyle/>
          <a:p/>
        </p:txBody>
      </p:sp>
      <p:sp>
        <p:nvSpPr>
          <p:cNvPr id="27" name="TextBox 26"/>
          <p:cNvSpPr txBox="1"/>
          <p:nvPr/>
        </p:nvSpPr>
        <p:spPr>
          <a:xfrm>
            <a:off x="731520" y="5148072"/>
            <a:ext cx="6949440" cy="65836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KOP İllerinde Sulanan Tarım Alanı Miktarı Haritası</a:t>
            </a:r>
          </a:p>
        </p:txBody>
      </p:sp>
      <p:sp>
        <p:nvSpPr>
          <p:cNvPr id="28" name="TextBox 27"/>
          <p:cNvSpPr txBox="1"/>
          <p:nvPr/>
        </p:nvSpPr>
        <p:spPr>
          <a:xfrm>
            <a:off x="7726680" y="5148072"/>
            <a:ext cx="914400" cy="658368"/>
          </a:xfrm>
          <a:prstGeom prst="rect">
            <a:avLst/>
          </a:prstGeom>
          <a:noFill/>
        </p:spPr>
        <p:txBody>
          <a:bodyPr wrap="square" anchor="ctr" lIns="73152" rIns="73152" tIns="36576" bIns="36576">
            <a:noAutofit/>
          </a:bodyPr>
          <a:lstStyle/>
          <a:p>
            <a:pPr algn="l">
              <a:spcBef>
                <a:spcPts val="0"/>
              </a:spcBef>
              <a:spcAft>
                <a:spcPts val="0"/>
              </a:spcAft>
            </a:pPr>
            <a:r>
              <a:rPr lang="tr-TR" sz="1600" b="0" i="0">
                <a:solidFill>
                  <a:srgbClr val="767676"/>
                </a:solidFill>
                <a:latin typeface="Calibri"/>
              </a:rPr>
              <a:t>s. 50</a:t>
            </a:r>
          </a:p>
        </p:txBody>
      </p:sp>
      <p:sp>
        <p:nvSpPr>
          <p:cNvPr id="29" name="Rounded Rectangle 28"/>
          <p:cNvSpPr/>
          <p:nvPr/>
        </p:nvSpPr>
        <p:spPr>
          <a:xfrm>
            <a:off x="8732520" y="5221224"/>
            <a:ext cx="2834640" cy="512064"/>
          </a:xfrm>
          <a:prstGeom prst="roundRect">
            <a:avLst>
              <a:gd name="adj" fmla="val 40000"/>
            </a:avLst>
          </a:prstGeom>
          <a:solidFill>
            <a:srgbClr val="FFFFFF"/>
          </a:solidFill>
          <a:ln w="12700">
            <a:solidFill>
              <a:srgbClr val="D9D9D9"/>
            </a:solidFill>
          </a:ln>
          <a:effectLst/>
        </p:spPr>
        <p:txBody>
          <a:bodyPr rtlCol="0" anchor="ctr" wrap="square" lIns="128016" rIns="128016" tIns="0" bIns="0">
            <a:noAutofit/>
          </a:bodyPr>
          <a:lstStyle/>
          <a:p>
            <a:pPr algn="ctr">
              <a:spcBef>
                <a:spcPts val="0"/>
              </a:spcBef>
              <a:spcAft>
                <a:spcPts val="0"/>
              </a:spcAft>
            </a:pPr>
            <a:r>
              <a:rPr lang="tr-TR" sz="1800" b="0" i="0">
                <a:solidFill>
                  <a:srgbClr val="767676"/>
                </a:solidFill>
                <a:latin typeface="Calibri"/>
              </a:rPr>
              <a:t>genel / tematik?</a:t>
            </a:r>
          </a:p>
        </p:txBody>
      </p:sp>
      <p:sp>
        <p:nvSpPr>
          <p:cNvPr id="30" name="TextBox 2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31" name="TextBox 3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28 / 226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Kitabımızdaki haritalar hangi türde?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11185855" cy="658368"/>
          </a:xfrm>
          <a:prstGeom prst="roundRect">
            <a:avLst>
              <a:gd name="adj" fmla="val 25000"/>
            </a:avLst>
          </a:prstGeom>
          <a:solidFill>
            <a:srgbClr val="F0F0F0"/>
          </a:solidFill>
          <a:ln>
            <a:noFill/>
          </a:ln>
          <a:effectLst/>
        </p:spPr>
        <p:txBody>
          <a:bodyPr rtlCol="0" anchor="ctr"/>
          <a:lstStyle/>
          <a:p/>
        </p:txBody>
      </p:sp>
      <p:sp>
        <p:nvSpPr>
          <p:cNvPr id="7" name="TextBox 6"/>
          <p:cNvSpPr txBox="1"/>
          <p:nvPr/>
        </p:nvSpPr>
        <p:spPr>
          <a:xfrm>
            <a:off x="731520" y="1216152"/>
            <a:ext cx="6949440" cy="65836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Kıbrıs Adası ve Çevresinin Siyasi Haritası</a:t>
            </a:r>
          </a:p>
        </p:txBody>
      </p:sp>
      <p:sp>
        <p:nvSpPr>
          <p:cNvPr id="8" name="TextBox 7"/>
          <p:cNvSpPr txBox="1"/>
          <p:nvPr/>
        </p:nvSpPr>
        <p:spPr>
          <a:xfrm>
            <a:off x="7726680" y="1216152"/>
            <a:ext cx="914400" cy="658368"/>
          </a:xfrm>
          <a:prstGeom prst="rect">
            <a:avLst/>
          </a:prstGeom>
          <a:noFill/>
        </p:spPr>
        <p:txBody>
          <a:bodyPr wrap="square" anchor="ctr" lIns="73152" rIns="73152" tIns="36576" bIns="36576">
            <a:noAutofit/>
          </a:bodyPr>
          <a:lstStyle/>
          <a:p>
            <a:pPr algn="l">
              <a:spcBef>
                <a:spcPts val="0"/>
              </a:spcBef>
              <a:spcAft>
                <a:spcPts val="0"/>
              </a:spcAft>
            </a:pPr>
            <a:r>
              <a:rPr lang="tr-TR" sz="1600" b="0" i="0">
                <a:solidFill>
                  <a:srgbClr val="767676"/>
                </a:solidFill>
                <a:latin typeface="Calibri"/>
              </a:rPr>
              <a:t>s. 43</a:t>
            </a:r>
          </a:p>
        </p:txBody>
      </p:sp>
      <p:sp>
        <p:nvSpPr>
          <p:cNvPr id="9" name="Rounded Rectangle 8"/>
          <p:cNvSpPr/>
          <p:nvPr/>
        </p:nvSpPr>
        <p:spPr>
          <a:xfrm>
            <a:off x="8732520" y="1289304"/>
            <a:ext cx="2834640" cy="512064"/>
          </a:xfrm>
          <a:prstGeom prst="roundRect">
            <a:avLst>
              <a:gd name="adj" fmla="val 40000"/>
            </a:avLst>
          </a:prstGeom>
          <a:solidFill>
            <a:srgbClr val="4F4F4F"/>
          </a:solidFill>
          <a:ln>
            <a:noFill/>
          </a:ln>
          <a:effectLst/>
        </p:spPr>
        <p:txBody>
          <a:bodyPr rtlCol="0" anchor="ctr" wrap="square" lIns="128016" rIns="128016" tIns="0" bIns="0">
            <a:noAutofit/>
          </a:bodyPr>
          <a:lstStyle/>
          <a:p>
            <a:pPr algn="ctr">
              <a:spcBef>
                <a:spcPts val="0"/>
              </a:spcBef>
              <a:spcAft>
                <a:spcPts val="0"/>
              </a:spcAft>
            </a:pPr>
            <a:r>
              <a:rPr lang="tr-TR" sz="1900" b="1" i="0">
                <a:solidFill>
                  <a:srgbClr val="FFFFFF"/>
                </a:solidFill>
                <a:latin typeface="Calibri"/>
              </a:rPr>
              <a:t>Genel (siyasi)</a:t>
            </a:r>
          </a:p>
        </p:txBody>
      </p:sp>
      <p:sp>
        <p:nvSpPr>
          <p:cNvPr id="10" name="Rounded Rectangle 9"/>
          <p:cNvSpPr/>
          <p:nvPr/>
        </p:nvSpPr>
        <p:spPr>
          <a:xfrm>
            <a:off x="502920" y="2002536"/>
            <a:ext cx="11185855" cy="658368"/>
          </a:xfrm>
          <a:prstGeom prst="roundRect">
            <a:avLst>
              <a:gd name="adj" fmla="val 25000"/>
            </a:avLst>
          </a:prstGeom>
          <a:solidFill>
            <a:srgbClr val="F0F0F0"/>
          </a:solidFill>
          <a:ln>
            <a:noFill/>
          </a:ln>
          <a:effectLst/>
        </p:spPr>
        <p:txBody>
          <a:bodyPr rtlCol="0" anchor="ctr"/>
          <a:lstStyle/>
          <a:p/>
        </p:txBody>
      </p:sp>
      <p:sp>
        <p:nvSpPr>
          <p:cNvPr id="11" name="TextBox 10"/>
          <p:cNvSpPr txBox="1"/>
          <p:nvPr/>
        </p:nvSpPr>
        <p:spPr>
          <a:xfrm>
            <a:off x="731520" y="2002536"/>
            <a:ext cx="6949440" cy="65836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Rize ilinin fiziki haritası</a:t>
            </a:r>
          </a:p>
        </p:txBody>
      </p:sp>
      <p:sp>
        <p:nvSpPr>
          <p:cNvPr id="12" name="TextBox 11"/>
          <p:cNvSpPr txBox="1"/>
          <p:nvPr/>
        </p:nvSpPr>
        <p:spPr>
          <a:xfrm>
            <a:off x="7726680" y="2002536"/>
            <a:ext cx="914400" cy="658368"/>
          </a:xfrm>
          <a:prstGeom prst="rect">
            <a:avLst/>
          </a:prstGeom>
          <a:noFill/>
        </p:spPr>
        <p:txBody>
          <a:bodyPr wrap="square" anchor="ctr" lIns="73152" rIns="73152" tIns="36576" bIns="36576">
            <a:noAutofit/>
          </a:bodyPr>
          <a:lstStyle/>
          <a:p>
            <a:pPr algn="l">
              <a:spcBef>
                <a:spcPts val="0"/>
              </a:spcBef>
              <a:spcAft>
                <a:spcPts val="0"/>
              </a:spcAft>
            </a:pPr>
            <a:r>
              <a:rPr lang="tr-TR" sz="1600" b="0" i="0">
                <a:solidFill>
                  <a:srgbClr val="767676"/>
                </a:solidFill>
                <a:latin typeface="Calibri"/>
              </a:rPr>
              <a:t>s. 52</a:t>
            </a:r>
          </a:p>
        </p:txBody>
      </p:sp>
      <p:sp>
        <p:nvSpPr>
          <p:cNvPr id="13" name="Rounded Rectangle 12"/>
          <p:cNvSpPr/>
          <p:nvPr/>
        </p:nvSpPr>
        <p:spPr>
          <a:xfrm>
            <a:off x="8732520" y="2075688"/>
            <a:ext cx="2834640" cy="512064"/>
          </a:xfrm>
          <a:prstGeom prst="roundRect">
            <a:avLst>
              <a:gd name="adj" fmla="val 40000"/>
            </a:avLst>
          </a:prstGeom>
          <a:solidFill>
            <a:srgbClr val="4F4F4F"/>
          </a:solidFill>
          <a:ln>
            <a:noFill/>
          </a:ln>
          <a:effectLst/>
        </p:spPr>
        <p:txBody>
          <a:bodyPr rtlCol="0" anchor="ctr" wrap="square" lIns="128016" rIns="128016" tIns="0" bIns="0">
            <a:noAutofit/>
          </a:bodyPr>
          <a:lstStyle/>
          <a:p>
            <a:pPr algn="ctr">
              <a:spcBef>
                <a:spcPts val="0"/>
              </a:spcBef>
              <a:spcAft>
                <a:spcPts val="0"/>
              </a:spcAft>
            </a:pPr>
            <a:r>
              <a:rPr lang="tr-TR" sz="1900" b="1" i="0">
                <a:solidFill>
                  <a:srgbClr val="FFFFFF"/>
                </a:solidFill>
                <a:latin typeface="Calibri"/>
              </a:rPr>
              <a:t>Genel (fiziki)</a:t>
            </a:r>
          </a:p>
        </p:txBody>
      </p:sp>
      <p:sp>
        <p:nvSpPr>
          <p:cNvPr id="14" name="Rounded Rectangle 13"/>
          <p:cNvSpPr/>
          <p:nvPr/>
        </p:nvSpPr>
        <p:spPr>
          <a:xfrm>
            <a:off x="502920" y="2788920"/>
            <a:ext cx="11185855" cy="658368"/>
          </a:xfrm>
          <a:prstGeom prst="roundRect">
            <a:avLst>
              <a:gd name="adj" fmla="val 25000"/>
            </a:avLst>
          </a:prstGeom>
          <a:solidFill>
            <a:srgbClr val="F0F0F0"/>
          </a:solidFill>
          <a:ln>
            <a:noFill/>
          </a:ln>
          <a:effectLst/>
        </p:spPr>
        <p:txBody>
          <a:bodyPr rtlCol="0" anchor="ctr"/>
          <a:lstStyle/>
          <a:p/>
        </p:txBody>
      </p:sp>
      <p:sp>
        <p:nvSpPr>
          <p:cNvPr id="15" name="TextBox 14"/>
          <p:cNvSpPr txBox="1"/>
          <p:nvPr/>
        </p:nvSpPr>
        <p:spPr>
          <a:xfrm>
            <a:off x="731520" y="2788920"/>
            <a:ext cx="6949440" cy="65836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Güney Amerika Ülkeleri Nüfus Haritası</a:t>
            </a:r>
          </a:p>
        </p:txBody>
      </p:sp>
      <p:sp>
        <p:nvSpPr>
          <p:cNvPr id="16" name="TextBox 15"/>
          <p:cNvSpPr txBox="1"/>
          <p:nvPr/>
        </p:nvSpPr>
        <p:spPr>
          <a:xfrm>
            <a:off x="7726680" y="2788920"/>
            <a:ext cx="914400" cy="658368"/>
          </a:xfrm>
          <a:prstGeom prst="rect">
            <a:avLst/>
          </a:prstGeom>
          <a:noFill/>
        </p:spPr>
        <p:txBody>
          <a:bodyPr wrap="square" anchor="ctr" lIns="73152" rIns="73152" tIns="36576" bIns="36576">
            <a:noAutofit/>
          </a:bodyPr>
          <a:lstStyle/>
          <a:p>
            <a:pPr algn="l">
              <a:spcBef>
                <a:spcPts val="0"/>
              </a:spcBef>
              <a:spcAft>
                <a:spcPts val="0"/>
              </a:spcAft>
            </a:pPr>
            <a:r>
              <a:rPr lang="tr-TR" sz="1600" b="0" i="0">
                <a:solidFill>
                  <a:srgbClr val="767676"/>
                </a:solidFill>
                <a:latin typeface="Calibri"/>
              </a:rPr>
              <a:t>s. 36</a:t>
            </a:r>
          </a:p>
        </p:txBody>
      </p:sp>
      <p:sp>
        <p:nvSpPr>
          <p:cNvPr id="17" name="Rounded Rectangle 16"/>
          <p:cNvSpPr/>
          <p:nvPr/>
        </p:nvSpPr>
        <p:spPr>
          <a:xfrm>
            <a:off x="8732520" y="2862072"/>
            <a:ext cx="2834640" cy="512064"/>
          </a:xfrm>
          <a:prstGeom prst="roundRect">
            <a:avLst>
              <a:gd name="adj" fmla="val 40000"/>
            </a:avLst>
          </a:prstGeom>
          <a:solidFill>
            <a:srgbClr val="7A4EA0"/>
          </a:solidFill>
          <a:ln>
            <a:noFill/>
          </a:ln>
          <a:effectLst/>
        </p:spPr>
        <p:txBody>
          <a:bodyPr rtlCol="0" anchor="ctr" wrap="square" lIns="128016" rIns="128016" tIns="0" bIns="0">
            <a:noAutofit/>
          </a:bodyPr>
          <a:lstStyle/>
          <a:p>
            <a:pPr algn="ctr">
              <a:spcBef>
                <a:spcPts val="0"/>
              </a:spcBef>
              <a:spcAft>
                <a:spcPts val="0"/>
              </a:spcAft>
            </a:pPr>
            <a:r>
              <a:rPr lang="tr-TR" sz="1900" b="1" i="0">
                <a:solidFill>
                  <a:srgbClr val="FFFFFF"/>
                </a:solidFill>
                <a:latin typeface="Calibri"/>
              </a:rPr>
              <a:t>Tematik (nüfus)</a:t>
            </a:r>
          </a:p>
        </p:txBody>
      </p:sp>
      <p:sp>
        <p:nvSpPr>
          <p:cNvPr id="18" name="Rounded Rectangle 17"/>
          <p:cNvSpPr/>
          <p:nvPr/>
        </p:nvSpPr>
        <p:spPr>
          <a:xfrm>
            <a:off x="502920" y="3575304"/>
            <a:ext cx="11185855" cy="658368"/>
          </a:xfrm>
          <a:prstGeom prst="roundRect">
            <a:avLst>
              <a:gd name="adj" fmla="val 25000"/>
            </a:avLst>
          </a:prstGeom>
          <a:solidFill>
            <a:srgbClr val="F0F0F0"/>
          </a:solidFill>
          <a:ln>
            <a:noFill/>
          </a:ln>
          <a:effectLst/>
        </p:spPr>
        <p:txBody>
          <a:bodyPr rtlCol="0" anchor="ctr"/>
          <a:lstStyle/>
          <a:p/>
        </p:txBody>
      </p:sp>
      <p:sp>
        <p:nvSpPr>
          <p:cNvPr id="19" name="TextBox 18"/>
          <p:cNvSpPr txBox="1"/>
          <p:nvPr/>
        </p:nvSpPr>
        <p:spPr>
          <a:xfrm>
            <a:off x="731520" y="3575304"/>
            <a:ext cx="6949440" cy="65836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Türkiye’de mısır üretiminin dağılışı</a:t>
            </a:r>
          </a:p>
        </p:txBody>
      </p:sp>
      <p:sp>
        <p:nvSpPr>
          <p:cNvPr id="20" name="TextBox 19"/>
          <p:cNvSpPr txBox="1"/>
          <p:nvPr/>
        </p:nvSpPr>
        <p:spPr>
          <a:xfrm>
            <a:off x="7726680" y="3575304"/>
            <a:ext cx="914400" cy="658368"/>
          </a:xfrm>
          <a:prstGeom prst="rect">
            <a:avLst/>
          </a:prstGeom>
          <a:noFill/>
        </p:spPr>
        <p:txBody>
          <a:bodyPr wrap="square" anchor="ctr" lIns="73152" rIns="73152" tIns="36576" bIns="36576">
            <a:noAutofit/>
          </a:bodyPr>
          <a:lstStyle/>
          <a:p>
            <a:pPr algn="l">
              <a:spcBef>
                <a:spcPts val="0"/>
              </a:spcBef>
              <a:spcAft>
                <a:spcPts val="0"/>
              </a:spcAft>
            </a:pPr>
            <a:r>
              <a:rPr lang="tr-TR" sz="1600" b="0" i="0">
                <a:solidFill>
                  <a:srgbClr val="767676"/>
                </a:solidFill>
                <a:latin typeface="Calibri"/>
              </a:rPr>
              <a:t>s. 47</a:t>
            </a:r>
          </a:p>
        </p:txBody>
      </p:sp>
      <p:sp>
        <p:nvSpPr>
          <p:cNvPr id="21" name="Rounded Rectangle 20"/>
          <p:cNvSpPr/>
          <p:nvPr/>
        </p:nvSpPr>
        <p:spPr>
          <a:xfrm>
            <a:off x="8732520" y="3648456"/>
            <a:ext cx="2834640" cy="512064"/>
          </a:xfrm>
          <a:prstGeom prst="roundRect">
            <a:avLst>
              <a:gd name="adj" fmla="val 40000"/>
            </a:avLst>
          </a:prstGeom>
          <a:solidFill>
            <a:srgbClr val="7A4EA0"/>
          </a:solidFill>
          <a:ln>
            <a:noFill/>
          </a:ln>
          <a:effectLst/>
        </p:spPr>
        <p:txBody>
          <a:bodyPr rtlCol="0" anchor="ctr" wrap="square" lIns="128016" rIns="128016" tIns="0" bIns="0">
            <a:noAutofit/>
          </a:bodyPr>
          <a:lstStyle/>
          <a:p>
            <a:pPr algn="ctr">
              <a:spcBef>
                <a:spcPts val="0"/>
              </a:spcBef>
              <a:spcAft>
                <a:spcPts val="0"/>
              </a:spcAft>
            </a:pPr>
            <a:r>
              <a:rPr lang="tr-TR" sz="1900" b="1" i="0">
                <a:solidFill>
                  <a:srgbClr val="FFFFFF"/>
                </a:solidFill>
                <a:latin typeface="Calibri"/>
              </a:rPr>
              <a:t>Tematik (ekonomi)</a:t>
            </a:r>
          </a:p>
        </p:txBody>
      </p:sp>
      <p:sp>
        <p:nvSpPr>
          <p:cNvPr id="22" name="Rounded Rectangle 21"/>
          <p:cNvSpPr/>
          <p:nvPr/>
        </p:nvSpPr>
        <p:spPr>
          <a:xfrm>
            <a:off x="502920" y="4361688"/>
            <a:ext cx="11185855" cy="658368"/>
          </a:xfrm>
          <a:prstGeom prst="roundRect">
            <a:avLst>
              <a:gd name="adj" fmla="val 25000"/>
            </a:avLst>
          </a:prstGeom>
          <a:solidFill>
            <a:srgbClr val="F0F0F0"/>
          </a:solidFill>
          <a:ln>
            <a:noFill/>
          </a:ln>
          <a:effectLst/>
        </p:spPr>
        <p:txBody>
          <a:bodyPr rtlCol="0" anchor="ctr"/>
          <a:lstStyle/>
          <a:p/>
        </p:txBody>
      </p:sp>
      <p:sp>
        <p:nvSpPr>
          <p:cNvPr id="23" name="TextBox 22"/>
          <p:cNvSpPr txBox="1"/>
          <p:nvPr/>
        </p:nvSpPr>
        <p:spPr>
          <a:xfrm>
            <a:off x="731520" y="4361688"/>
            <a:ext cx="6949440" cy="65836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Eğirdir Gölü Kirlilik (Nitrit Azotu) Haritası</a:t>
            </a:r>
          </a:p>
        </p:txBody>
      </p:sp>
      <p:sp>
        <p:nvSpPr>
          <p:cNvPr id="24" name="TextBox 23"/>
          <p:cNvSpPr txBox="1"/>
          <p:nvPr/>
        </p:nvSpPr>
        <p:spPr>
          <a:xfrm>
            <a:off x="7726680" y="4361688"/>
            <a:ext cx="914400" cy="658368"/>
          </a:xfrm>
          <a:prstGeom prst="rect">
            <a:avLst/>
          </a:prstGeom>
          <a:noFill/>
        </p:spPr>
        <p:txBody>
          <a:bodyPr wrap="square" anchor="ctr" lIns="73152" rIns="73152" tIns="36576" bIns="36576">
            <a:noAutofit/>
          </a:bodyPr>
          <a:lstStyle/>
          <a:p>
            <a:pPr algn="l">
              <a:spcBef>
                <a:spcPts val="0"/>
              </a:spcBef>
              <a:spcAft>
                <a:spcPts val="0"/>
              </a:spcAft>
            </a:pPr>
            <a:r>
              <a:rPr lang="tr-TR" sz="1600" b="0" i="0">
                <a:solidFill>
                  <a:srgbClr val="767676"/>
                </a:solidFill>
                <a:latin typeface="Calibri"/>
              </a:rPr>
              <a:t>s. 48</a:t>
            </a:r>
          </a:p>
        </p:txBody>
      </p:sp>
      <p:sp>
        <p:nvSpPr>
          <p:cNvPr id="25" name="Rounded Rectangle 24"/>
          <p:cNvSpPr/>
          <p:nvPr/>
        </p:nvSpPr>
        <p:spPr>
          <a:xfrm>
            <a:off x="8732520" y="4434840"/>
            <a:ext cx="2834640" cy="512064"/>
          </a:xfrm>
          <a:prstGeom prst="roundRect">
            <a:avLst>
              <a:gd name="adj" fmla="val 40000"/>
            </a:avLst>
          </a:prstGeom>
          <a:solidFill>
            <a:srgbClr val="7A4EA0"/>
          </a:solidFill>
          <a:ln>
            <a:noFill/>
          </a:ln>
          <a:effectLst/>
        </p:spPr>
        <p:txBody>
          <a:bodyPr rtlCol="0" anchor="ctr" wrap="square" lIns="128016" rIns="128016" tIns="0" bIns="0">
            <a:noAutofit/>
          </a:bodyPr>
          <a:lstStyle/>
          <a:p>
            <a:pPr algn="ctr">
              <a:spcBef>
                <a:spcPts val="0"/>
              </a:spcBef>
              <a:spcAft>
                <a:spcPts val="0"/>
              </a:spcAft>
            </a:pPr>
            <a:r>
              <a:rPr lang="tr-TR" sz="1900" b="1" i="0">
                <a:solidFill>
                  <a:srgbClr val="FFFFFF"/>
                </a:solidFill>
                <a:latin typeface="Calibri"/>
              </a:rPr>
              <a:t>Tematik (çevre)</a:t>
            </a:r>
          </a:p>
        </p:txBody>
      </p:sp>
      <p:sp>
        <p:nvSpPr>
          <p:cNvPr id="26" name="Rounded Rectangle 25"/>
          <p:cNvSpPr/>
          <p:nvPr/>
        </p:nvSpPr>
        <p:spPr>
          <a:xfrm>
            <a:off x="502920" y="5148072"/>
            <a:ext cx="11185855" cy="658368"/>
          </a:xfrm>
          <a:prstGeom prst="roundRect">
            <a:avLst>
              <a:gd name="adj" fmla="val 25000"/>
            </a:avLst>
          </a:prstGeom>
          <a:solidFill>
            <a:srgbClr val="F0F0F0"/>
          </a:solidFill>
          <a:ln>
            <a:noFill/>
          </a:ln>
          <a:effectLst/>
        </p:spPr>
        <p:txBody>
          <a:bodyPr rtlCol="0" anchor="ctr"/>
          <a:lstStyle/>
          <a:p/>
        </p:txBody>
      </p:sp>
      <p:sp>
        <p:nvSpPr>
          <p:cNvPr id="27" name="TextBox 26"/>
          <p:cNvSpPr txBox="1"/>
          <p:nvPr/>
        </p:nvSpPr>
        <p:spPr>
          <a:xfrm>
            <a:off x="731520" y="5148072"/>
            <a:ext cx="6949440" cy="65836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KOP İllerinde Sulanan Tarım Alanı Miktarı Haritası</a:t>
            </a:r>
          </a:p>
        </p:txBody>
      </p:sp>
      <p:sp>
        <p:nvSpPr>
          <p:cNvPr id="28" name="TextBox 27"/>
          <p:cNvSpPr txBox="1"/>
          <p:nvPr/>
        </p:nvSpPr>
        <p:spPr>
          <a:xfrm>
            <a:off x="7726680" y="5148072"/>
            <a:ext cx="914400" cy="658368"/>
          </a:xfrm>
          <a:prstGeom prst="rect">
            <a:avLst/>
          </a:prstGeom>
          <a:noFill/>
        </p:spPr>
        <p:txBody>
          <a:bodyPr wrap="square" anchor="ctr" lIns="73152" rIns="73152" tIns="36576" bIns="36576">
            <a:noAutofit/>
          </a:bodyPr>
          <a:lstStyle/>
          <a:p>
            <a:pPr algn="l">
              <a:spcBef>
                <a:spcPts val="0"/>
              </a:spcBef>
              <a:spcAft>
                <a:spcPts val="0"/>
              </a:spcAft>
            </a:pPr>
            <a:r>
              <a:rPr lang="tr-TR" sz="1600" b="0" i="0">
                <a:solidFill>
                  <a:srgbClr val="767676"/>
                </a:solidFill>
                <a:latin typeface="Calibri"/>
              </a:rPr>
              <a:t>s. 50</a:t>
            </a:r>
          </a:p>
        </p:txBody>
      </p:sp>
      <p:sp>
        <p:nvSpPr>
          <p:cNvPr id="29" name="Rounded Rectangle 28"/>
          <p:cNvSpPr/>
          <p:nvPr/>
        </p:nvSpPr>
        <p:spPr>
          <a:xfrm>
            <a:off x="8732520" y="5221224"/>
            <a:ext cx="2834640" cy="512064"/>
          </a:xfrm>
          <a:prstGeom prst="roundRect">
            <a:avLst>
              <a:gd name="adj" fmla="val 40000"/>
            </a:avLst>
          </a:prstGeom>
          <a:solidFill>
            <a:srgbClr val="7A4EA0"/>
          </a:solidFill>
          <a:ln>
            <a:noFill/>
          </a:ln>
          <a:effectLst/>
        </p:spPr>
        <p:txBody>
          <a:bodyPr rtlCol="0" anchor="ctr" wrap="square" lIns="128016" rIns="128016" tIns="0" bIns="0">
            <a:noAutofit/>
          </a:bodyPr>
          <a:lstStyle/>
          <a:p>
            <a:pPr algn="ctr">
              <a:spcBef>
                <a:spcPts val="0"/>
              </a:spcBef>
              <a:spcAft>
                <a:spcPts val="0"/>
              </a:spcAft>
            </a:pPr>
            <a:r>
              <a:rPr lang="tr-TR" sz="1900" b="1" i="0">
                <a:solidFill>
                  <a:srgbClr val="FFFFFF"/>
                </a:solidFill>
                <a:latin typeface="Calibri"/>
              </a:rPr>
              <a:t>Tematik (tarım)</a:t>
            </a:r>
          </a:p>
        </p:txBody>
      </p:sp>
      <p:sp>
        <p:nvSpPr>
          <p:cNvPr id="30" name="TextBox 2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31" name="TextBox 3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29 / 226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2</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Aşağıdakilerden hangisi genel haritaya örnektir?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Jeoloji haritası</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Nüfus haritası</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Siyasi harita</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İklim haritası</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Turizm haritası</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36</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30 / 226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2</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Aşağıdakilerden hangisi genel haritaya örnektir?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Jeoloji haritası</a:t>
            </a:r>
          </a:p>
        </p:txBody>
      </p:sp>
      <p:sp>
        <p:nvSpPr>
          <p:cNvPr id="10" name="Rounded Rectangle 9"/>
          <p:cNvSpPr/>
          <p:nvPr/>
        </p:nvSpPr>
        <p:spPr>
          <a:xfrm>
            <a:off x="502920" y="315833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11444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Nüfus haritası</a:t>
            </a:r>
          </a:p>
        </p:txBody>
      </p:sp>
      <p:sp>
        <p:nvSpPr>
          <p:cNvPr id="13" name="Rounded Rectangle 12"/>
          <p:cNvSpPr/>
          <p:nvPr/>
        </p:nvSpPr>
        <p:spPr>
          <a:xfrm>
            <a:off x="502920" y="3683202"/>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4" name="Oval 13"/>
          <p:cNvSpPr/>
          <p:nvPr/>
        </p:nvSpPr>
        <p:spPr>
          <a:xfrm>
            <a:off x="594360" y="3639310"/>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Siyasi harita</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İklim haritası</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Turizm haritası</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Genel haritalar: fiziki, siyasi ve topoğrafya haritaları (Şema 2.1). Jeoloji, nüfus, iklim ve turizm haritaları belirli bir konuyu gösteren tematik haritalardır.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36</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31 / 226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Gruplara geçiş: görevlerimiz</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8 GRUP</a:t>
            </a:r>
          </a:p>
        </p:txBody>
      </p:sp>
      <p:sp>
        <p:nvSpPr>
          <p:cNvPr id="6" name="Rounded Rectangle 5"/>
          <p:cNvSpPr/>
          <p:nvPr/>
        </p:nvSpPr>
        <p:spPr>
          <a:xfrm>
            <a:off x="502920" y="1261872"/>
            <a:ext cx="2076236" cy="310896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61872"/>
            <a:ext cx="2076236" cy="530352"/>
          </a:xfrm>
          <a:prstGeom prst="roundRect">
            <a:avLst>
              <a:gd name="adj" fmla="val 25000"/>
            </a:avLst>
          </a:prstGeom>
          <a:solidFill>
            <a:srgbClr val="2C6696"/>
          </a:solidFill>
          <a:ln>
            <a:noFill/>
          </a:ln>
          <a:effectLst/>
        </p:spPr>
        <p:txBody>
          <a:bodyPr rtlCol="0" anchor="ctr"/>
          <a:lstStyle/>
          <a:p/>
        </p:txBody>
      </p:sp>
      <p:sp>
        <p:nvSpPr>
          <p:cNvPr id="8" name="Rectangle 7"/>
          <p:cNvSpPr/>
          <p:nvPr/>
        </p:nvSpPr>
        <p:spPr>
          <a:xfrm>
            <a:off x="502920" y="1527048"/>
            <a:ext cx="2076236" cy="265176"/>
          </a:xfrm>
          <a:prstGeom prst="rect">
            <a:avLst/>
          </a:prstGeom>
          <a:solidFill>
            <a:srgbClr val="2C6696"/>
          </a:solidFill>
          <a:ln>
            <a:noFill/>
          </a:ln>
          <a:effectLst/>
        </p:spPr>
        <p:txBody>
          <a:bodyPr rtlCol="0" anchor="ctr"/>
          <a:lstStyle/>
          <a:p/>
        </p:txBody>
      </p:sp>
      <p:sp>
        <p:nvSpPr>
          <p:cNvPr id="9" name="TextBox 8"/>
          <p:cNvSpPr txBox="1"/>
          <p:nvPr/>
        </p:nvSpPr>
        <p:spPr>
          <a:xfrm>
            <a:off x="594360"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SÖZCÜ</a:t>
            </a:r>
          </a:p>
        </p:txBody>
      </p:sp>
      <p:sp>
        <p:nvSpPr>
          <p:cNvPr id="10" name="TextBox 9"/>
          <p:cNvSpPr txBox="1"/>
          <p:nvPr/>
        </p:nvSpPr>
        <p:spPr>
          <a:xfrm>
            <a:off x="612648"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Grubun cevabını sınıfla paylaşır.</a:t>
            </a:r>
          </a:p>
        </p:txBody>
      </p:sp>
      <p:sp>
        <p:nvSpPr>
          <p:cNvPr id="11" name="Rounded Rectangle 10"/>
          <p:cNvSpPr/>
          <p:nvPr/>
        </p:nvSpPr>
        <p:spPr>
          <a:xfrm>
            <a:off x="2780324" y="1261872"/>
            <a:ext cx="2076236" cy="310896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2780324" y="1261872"/>
            <a:ext cx="2076236" cy="530352"/>
          </a:xfrm>
          <a:prstGeom prst="roundRect">
            <a:avLst>
              <a:gd name="adj" fmla="val 25000"/>
            </a:avLst>
          </a:prstGeom>
          <a:solidFill>
            <a:srgbClr val="4F4F4F"/>
          </a:solidFill>
          <a:ln>
            <a:noFill/>
          </a:ln>
          <a:effectLst/>
        </p:spPr>
        <p:txBody>
          <a:bodyPr rtlCol="0" anchor="ctr"/>
          <a:lstStyle/>
          <a:p/>
        </p:txBody>
      </p:sp>
      <p:sp>
        <p:nvSpPr>
          <p:cNvPr id="13" name="Rectangle 12"/>
          <p:cNvSpPr/>
          <p:nvPr/>
        </p:nvSpPr>
        <p:spPr>
          <a:xfrm>
            <a:off x="2780324" y="1527048"/>
            <a:ext cx="2076236" cy="265176"/>
          </a:xfrm>
          <a:prstGeom prst="rect">
            <a:avLst/>
          </a:prstGeom>
          <a:solidFill>
            <a:srgbClr val="4F4F4F"/>
          </a:solidFill>
          <a:ln>
            <a:noFill/>
          </a:ln>
          <a:effectLst/>
        </p:spPr>
        <p:txBody>
          <a:bodyPr rtlCol="0" anchor="ctr"/>
          <a:lstStyle/>
          <a:p/>
        </p:txBody>
      </p:sp>
      <p:sp>
        <p:nvSpPr>
          <p:cNvPr id="14" name="TextBox 13"/>
          <p:cNvSpPr txBox="1"/>
          <p:nvPr/>
        </p:nvSpPr>
        <p:spPr>
          <a:xfrm>
            <a:off x="2871764"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YAZICI</a:t>
            </a:r>
          </a:p>
        </p:txBody>
      </p:sp>
      <p:sp>
        <p:nvSpPr>
          <p:cNvPr id="15" name="TextBox 14"/>
          <p:cNvSpPr txBox="1"/>
          <p:nvPr/>
        </p:nvSpPr>
        <p:spPr>
          <a:xfrm>
            <a:off x="2890052"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Ortak cevabı yazar, çizimi yapar.</a:t>
            </a:r>
          </a:p>
        </p:txBody>
      </p:sp>
      <p:sp>
        <p:nvSpPr>
          <p:cNvPr id="16" name="Rounded Rectangle 15"/>
          <p:cNvSpPr/>
          <p:nvPr/>
        </p:nvSpPr>
        <p:spPr>
          <a:xfrm>
            <a:off x="5057728" y="1261872"/>
            <a:ext cx="2076236" cy="310896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5057728" y="1261872"/>
            <a:ext cx="2076236" cy="530352"/>
          </a:xfrm>
          <a:prstGeom prst="roundRect">
            <a:avLst>
              <a:gd name="adj" fmla="val 25000"/>
            </a:avLst>
          </a:prstGeom>
          <a:solidFill>
            <a:srgbClr val="2C6696"/>
          </a:solidFill>
          <a:ln>
            <a:noFill/>
          </a:ln>
          <a:effectLst/>
        </p:spPr>
        <p:txBody>
          <a:bodyPr rtlCol="0" anchor="ctr"/>
          <a:lstStyle/>
          <a:p/>
        </p:txBody>
      </p:sp>
      <p:sp>
        <p:nvSpPr>
          <p:cNvPr id="18" name="Rectangle 17"/>
          <p:cNvSpPr/>
          <p:nvPr/>
        </p:nvSpPr>
        <p:spPr>
          <a:xfrm>
            <a:off x="5057728" y="1527048"/>
            <a:ext cx="2076236" cy="265176"/>
          </a:xfrm>
          <a:prstGeom prst="rect">
            <a:avLst/>
          </a:prstGeom>
          <a:solidFill>
            <a:srgbClr val="2C6696"/>
          </a:solidFill>
          <a:ln>
            <a:noFill/>
          </a:ln>
          <a:effectLst/>
        </p:spPr>
        <p:txBody>
          <a:bodyPr rtlCol="0" anchor="ctr"/>
          <a:lstStyle/>
          <a:p/>
        </p:txBody>
      </p:sp>
      <p:sp>
        <p:nvSpPr>
          <p:cNvPr id="19" name="TextBox 18"/>
          <p:cNvSpPr txBox="1"/>
          <p:nvPr/>
        </p:nvSpPr>
        <p:spPr>
          <a:xfrm>
            <a:off x="5149168"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450" b="1" i="0">
                <a:solidFill>
                  <a:srgbClr val="FFFFFF"/>
                </a:solidFill>
                <a:latin typeface="Calibri"/>
              </a:rPr>
              <a:t>ZAMAN VE MALZEME</a:t>
            </a:r>
          </a:p>
        </p:txBody>
      </p:sp>
      <p:sp>
        <p:nvSpPr>
          <p:cNvPr id="20" name="TextBox 19"/>
          <p:cNvSpPr txBox="1"/>
          <p:nvPr/>
        </p:nvSpPr>
        <p:spPr>
          <a:xfrm>
            <a:off x="5167456"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Süreyi izler, 2 dk kala uyarır; malzemeyi alır, teslim eder.</a:t>
            </a:r>
          </a:p>
        </p:txBody>
      </p:sp>
      <p:sp>
        <p:nvSpPr>
          <p:cNvPr id="21" name="Rounded Rectangle 20"/>
          <p:cNvSpPr/>
          <p:nvPr/>
        </p:nvSpPr>
        <p:spPr>
          <a:xfrm>
            <a:off x="7335132" y="1261872"/>
            <a:ext cx="2076236" cy="3108960"/>
          </a:xfrm>
          <a:prstGeom prst="roundRect">
            <a:avLst>
              <a:gd name="adj" fmla="val 5000"/>
            </a:avLst>
          </a:prstGeom>
          <a:solidFill>
            <a:srgbClr val="F0F0F0"/>
          </a:solidFill>
          <a:ln>
            <a:noFill/>
          </a:ln>
          <a:effectLst/>
        </p:spPr>
        <p:txBody>
          <a:bodyPr rtlCol="0" anchor="ctr"/>
          <a:lstStyle/>
          <a:p/>
        </p:txBody>
      </p:sp>
      <p:sp>
        <p:nvSpPr>
          <p:cNvPr id="22" name="Rounded Rectangle 21"/>
          <p:cNvSpPr/>
          <p:nvPr/>
        </p:nvSpPr>
        <p:spPr>
          <a:xfrm>
            <a:off x="7335132" y="1261872"/>
            <a:ext cx="2076236" cy="530352"/>
          </a:xfrm>
          <a:prstGeom prst="roundRect">
            <a:avLst>
              <a:gd name="adj" fmla="val 25000"/>
            </a:avLst>
          </a:prstGeom>
          <a:solidFill>
            <a:srgbClr val="4F4F4F"/>
          </a:solidFill>
          <a:ln>
            <a:noFill/>
          </a:ln>
          <a:effectLst/>
        </p:spPr>
        <p:txBody>
          <a:bodyPr rtlCol="0" anchor="ctr"/>
          <a:lstStyle/>
          <a:p/>
        </p:txBody>
      </p:sp>
      <p:sp>
        <p:nvSpPr>
          <p:cNvPr id="23" name="Rectangle 22"/>
          <p:cNvSpPr/>
          <p:nvPr/>
        </p:nvSpPr>
        <p:spPr>
          <a:xfrm>
            <a:off x="7335132" y="1527048"/>
            <a:ext cx="2076236" cy="265176"/>
          </a:xfrm>
          <a:prstGeom prst="rect">
            <a:avLst/>
          </a:prstGeom>
          <a:solidFill>
            <a:srgbClr val="4F4F4F"/>
          </a:solidFill>
          <a:ln>
            <a:noFill/>
          </a:ln>
          <a:effectLst/>
        </p:spPr>
        <p:txBody>
          <a:bodyPr rtlCol="0" anchor="ctr"/>
          <a:lstStyle/>
          <a:p/>
        </p:txBody>
      </p:sp>
      <p:sp>
        <p:nvSpPr>
          <p:cNvPr id="24" name="TextBox 23"/>
          <p:cNvSpPr txBox="1"/>
          <p:nvPr/>
        </p:nvSpPr>
        <p:spPr>
          <a:xfrm>
            <a:off x="7426572"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450" b="1" i="0">
                <a:solidFill>
                  <a:srgbClr val="FFFFFF"/>
                </a:solidFill>
                <a:latin typeface="Calibri"/>
              </a:rPr>
              <a:t>HARİTA / VERİ OKUYUCU</a:t>
            </a:r>
          </a:p>
        </p:txBody>
      </p:sp>
      <p:sp>
        <p:nvSpPr>
          <p:cNvPr id="25" name="TextBox 24"/>
          <p:cNvSpPr txBox="1"/>
          <p:nvPr/>
        </p:nvSpPr>
        <p:spPr>
          <a:xfrm>
            <a:off x="7444860"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Haritayı, koordinatı ve tabloyu okur, gösterir.</a:t>
            </a:r>
          </a:p>
        </p:txBody>
      </p:sp>
      <p:sp>
        <p:nvSpPr>
          <p:cNvPr id="26" name="Rounded Rectangle 25"/>
          <p:cNvSpPr/>
          <p:nvPr/>
        </p:nvSpPr>
        <p:spPr>
          <a:xfrm>
            <a:off x="9612536" y="1261872"/>
            <a:ext cx="2076236" cy="3108960"/>
          </a:xfrm>
          <a:prstGeom prst="roundRect">
            <a:avLst>
              <a:gd name="adj" fmla="val 5000"/>
            </a:avLst>
          </a:prstGeom>
          <a:solidFill>
            <a:srgbClr val="F0F0F0"/>
          </a:solidFill>
          <a:ln>
            <a:noFill/>
          </a:ln>
          <a:effectLst/>
        </p:spPr>
        <p:txBody>
          <a:bodyPr rtlCol="0" anchor="ctr"/>
          <a:lstStyle/>
          <a:p/>
        </p:txBody>
      </p:sp>
      <p:sp>
        <p:nvSpPr>
          <p:cNvPr id="27" name="Rounded Rectangle 26"/>
          <p:cNvSpPr/>
          <p:nvPr/>
        </p:nvSpPr>
        <p:spPr>
          <a:xfrm>
            <a:off x="9612536" y="1261872"/>
            <a:ext cx="2076236" cy="530352"/>
          </a:xfrm>
          <a:prstGeom prst="roundRect">
            <a:avLst>
              <a:gd name="adj" fmla="val 25000"/>
            </a:avLst>
          </a:prstGeom>
          <a:solidFill>
            <a:srgbClr val="2C6696"/>
          </a:solidFill>
          <a:ln>
            <a:noFill/>
          </a:ln>
          <a:effectLst/>
        </p:spPr>
        <p:txBody>
          <a:bodyPr rtlCol="0" anchor="ctr"/>
          <a:lstStyle/>
          <a:p/>
        </p:txBody>
      </p:sp>
      <p:sp>
        <p:nvSpPr>
          <p:cNvPr id="28" name="Rectangle 27"/>
          <p:cNvSpPr/>
          <p:nvPr/>
        </p:nvSpPr>
        <p:spPr>
          <a:xfrm>
            <a:off x="9612536" y="1527048"/>
            <a:ext cx="2076236" cy="265176"/>
          </a:xfrm>
          <a:prstGeom prst="rect">
            <a:avLst/>
          </a:prstGeom>
          <a:solidFill>
            <a:srgbClr val="2C6696"/>
          </a:solidFill>
          <a:ln>
            <a:noFill/>
          </a:ln>
          <a:effectLst/>
        </p:spPr>
        <p:txBody>
          <a:bodyPr rtlCol="0" anchor="ctr"/>
          <a:lstStyle/>
          <a:p/>
        </p:txBody>
      </p:sp>
      <p:sp>
        <p:nvSpPr>
          <p:cNvPr id="29" name="TextBox 28"/>
          <p:cNvSpPr txBox="1"/>
          <p:nvPr/>
        </p:nvSpPr>
        <p:spPr>
          <a:xfrm>
            <a:off x="9703976"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EDİTÖR</a:t>
            </a:r>
          </a:p>
        </p:txBody>
      </p:sp>
      <p:sp>
        <p:nvSpPr>
          <p:cNvPr id="30" name="TextBox 29"/>
          <p:cNvSpPr txBox="1"/>
          <p:nvPr/>
        </p:nvSpPr>
        <p:spPr>
          <a:xfrm>
            <a:off x="9722264"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5 kişilik grupta yazımı ve doğruluğu denetler.</a:t>
            </a:r>
          </a:p>
        </p:txBody>
      </p:sp>
      <p:sp>
        <p:nvSpPr>
          <p:cNvPr id="31" name="Rounded Rectangle 30"/>
          <p:cNvSpPr/>
          <p:nvPr/>
        </p:nvSpPr>
        <p:spPr>
          <a:xfrm>
            <a:off x="502920" y="4599432"/>
            <a:ext cx="11185855" cy="1645920"/>
          </a:xfrm>
          <a:prstGeom prst="roundRect">
            <a:avLst>
              <a:gd name="adj" fmla="val 8000"/>
            </a:avLst>
          </a:prstGeom>
          <a:solidFill>
            <a:srgbClr val="F0F0F0"/>
          </a:solidFill>
          <a:ln>
            <a:noFill/>
          </a:ln>
          <a:effectLst/>
        </p:spPr>
        <p:txBody>
          <a:bodyPr rtlCol="0" anchor="ctr" wrap="square" lIns="274320" rIns="274320" tIns="73152" bIns="73152">
            <a:noAutofit/>
          </a:bodyPr>
          <a:lstStyle/>
          <a:p>
            <a:pPr algn="l">
              <a:spcBef>
                <a:spcPts val="0"/>
              </a:spcBef>
              <a:spcAft>
                <a:spcPts val="600"/>
              </a:spcAft>
            </a:pPr>
            <a:r>
              <a:rPr lang="tr-TR" sz="2400" b="1" i="0">
                <a:solidFill>
                  <a:srgbClr val="2C6696"/>
                </a:solidFill>
                <a:latin typeface="Calibri"/>
              </a:rPr>
              <a:t>8 grup · 4-5 kişi · roller her hafta döner</a:t>
            </a:r>
          </a:p>
          <a:p>
            <a:pPr algn="l" marL="298344" indent="-298344">
              <a:spcBef>
                <a:spcPts val="0"/>
              </a:spcBef>
              <a:spcAft>
                <a:spcPts val="0"/>
              </a:spcAft>
            </a:pPr>
            <a:r>
              <a:rPr lang="tr-TR" sz="2400" b="1" i="0">
                <a:solidFill>
                  <a:srgbClr val="2C6696"/>
                </a:solidFill>
                <a:latin typeface="Calibri"/>
              </a:rPr>
              <a:t>•  </a:t>
            </a:r>
            <a:r>
              <a:rPr lang="tr-TR" sz="2400" b="0" i="0">
                <a:solidFill>
                  <a:srgbClr val="262626"/>
                </a:solidFill>
                <a:latin typeface="Calibri"/>
              </a:rPr>
              <a:t>Grupta “30 cm sesi” · söz hakkı isim kartıyla · farklı görüşlere saygı</a:t>
            </a:r>
          </a:p>
        </p:txBody>
      </p:sp>
      <p:sp>
        <p:nvSpPr>
          <p:cNvPr id="32" name="TextBox 3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33" name="TextBox 3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32 / 226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Coğrafi koordinat sistemi</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KOORDİNATLAR</a:t>
            </a:r>
          </a:p>
        </p:txBody>
      </p:sp>
      <p:sp>
        <p:nvSpPr>
          <p:cNvPr id="6" name="TextBox 5"/>
          <p:cNvSpPr txBox="1"/>
          <p:nvPr/>
        </p:nvSpPr>
        <p:spPr>
          <a:xfrm>
            <a:off x="502920" y="1216152"/>
            <a:ext cx="6766560" cy="2194560"/>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Dünya üzerindeki herhangi bir noktanın matematiksel olarak ifade edilmesine duyulan ihtiyaç, coğrafi koordinat sisteminin oluşturulmasıyla giderilmiştir.</a:t>
            </a:r>
          </a:p>
        </p:txBody>
      </p:sp>
      <p:sp>
        <p:nvSpPr>
          <p:cNvPr id="7" name="Rounded Rectangle 6"/>
          <p:cNvSpPr/>
          <p:nvPr/>
        </p:nvSpPr>
        <p:spPr>
          <a:xfrm>
            <a:off x="502920" y="3547872"/>
            <a:ext cx="6766560" cy="2697480"/>
          </a:xfrm>
          <a:prstGeom prst="roundRect">
            <a:avLst>
              <a:gd name="adj" fmla="val 6000"/>
            </a:avLst>
          </a:prstGeom>
          <a:solidFill>
            <a:srgbClr val="F0F0F0"/>
          </a:solidFill>
          <a:ln>
            <a:noFill/>
          </a:ln>
          <a:effectLst/>
        </p:spPr>
        <p:txBody>
          <a:bodyPr rtlCol="0" anchor="ctr"/>
          <a:lstStyle/>
          <a:p/>
        </p:txBody>
      </p:sp>
      <p:sp>
        <p:nvSpPr>
          <p:cNvPr id="8" name="Rectangle 7"/>
          <p:cNvSpPr/>
          <p:nvPr/>
        </p:nvSpPr>
        <p:spPr>
          <a:xfrm>
            <a:off x="502920" y="3547872"/>
            <a:ext cx="146304" cy="2697480"/>
          </a:xfrm>
          <a:prstGeom prst="rect">
            <a:avLst/>
          </a:prstGeom>
          <a:solidFill>
            <a:srgbClr val="2C6696"/>
          </a:solidFill>
          <a:ln>
            <a:noFill/>
          </a:ln>
          <a:effectLst/>
        </p:spPr>
        <p:txBody>
          <a:bodyPr rtlCol="0" anchor="ctr"/>
          <a:lstStyle/>
          <a:p/>
        </p:txBody>
      </p:sp>
      <p:sp>
        <p:nvSpPr>
          <p:cNvPr id="9" name="TextBox 8"/>
          <p:cNvSpPr txBox="1"/>
          <p:nvPr/>
        </p:nvSpPr>
        <p:spPr>
          <a:xfrm>
            <a:off x="868680" y="3657600"/>
            <a:ext cx="6217920" cy="411480"/>
          </a:xfrm>
          <a:prstGeom prst="rect">
            <a:avLst/>
          </a:prstGeom>
          <a:noFill/>
        </p:spPr>
        <p:txBody>
          <a:bodyPr wrap="square" anchor="t" lIns="73152" rIns="73152" tIns="36576" bIns="36576">
            <a:noAutofit/>
          </a:bodyPr>
          <a:lstStyle/>
          <a:p>
            <a:pPr algn="l">
              <a:spcBef>
                <a:spcPts val="0"/>
              </a:spcBef>
              <a:spcAft>
                <a:spcPts val="0"/>
              </a:spcAft>
            </a:pPr>
            <a:r>
              <a:rPr lang="tr-TR" sz="1800" b="1" i="0">
                <a:solidFill>
                  <a:srgbClr val="2C6696"/>
                </a:solidFill>
                <a:latin typeface="Calibri"/>
              </a:rPr>
              <a:t>COĞRAFİ KOORDİNAT SİSTEMİ</a:t>
            </a:r>
          </a:p>
        </p:txBody>
      </p:sp>
      <p:sp>
        <p:nvSpPr>
          <p:cNvPr id="10" name="TextBox 9"/>
          <p:cNvSpPr txBox="1"/>
          <p:nvPr/>
        </p:nvSpPr>
        <p:spPr>
          <a:xfrm>
            <a:off x="868680" y="4050792"/>
            <a:ext cx="6217920" cy="2057400"/>
          </a:xfrm>
          <a:prstGeom prst="rect">
            <a:avLst/>
          </a:prstGeom>
          <a:noFill/>
        </p:spPr>
        <p:txBody>
          <a:bodyPr wrap="square" anchor="ctr" lIns="73152" rIns="73152" tIns="36576" bIns="36576">
            <a:noAutofit/>
          </a:bodyPr>
          <a:lstStyle/>
          <a:p>
            <a:pPr algn="l">
              <a:spcBef>
                <a:spcPts val="0"/>
              </a:spcBef>
              <a:spcAft>
                <a:spcPts val="0"/>
              </a:spcAft>
            </a:pPr>
            <a:r>
              <a:rPr lang="tr-TR" sz="2500" b="0" i="0">
                <a:solidFill>
                  <a:srgbClr val="262626"/>
                </a:solidFill>
                <a:latin typeface="Calibri"/>
              </a:rPr>
              <a:t>Coğrafi koordinat sistemi, Ekvator ve başlangıç meridyeni esas alınarak enlem ve boylamların kullanılmasıyla oluşturulan sistemdir.</a:t>
            </a:r>
          </a:p>
        </p:txBody>
      </p:sp>
      <p:pic>
        <p:nvPicPr>
          <p:cNvPr id="11" name="Picture 10" descr="gorsel_2_2_s37.jpg"/>
          <p:cNvPicPr>
            <a:picLocks noChangeAspect="1"/>
          </p:cNvPicPr>
          <p:nvPr/>
        </p:nvPicPr>
        <p:blipFill>
          <a:blip r:embed="rId3"/>
          <a:stretch>
            <a:fillRect/>
          </a:stretch>
        </p:blipFill>
        <p:spPr>
          <a:xfrm>
            <a:off x="7498080" y="1216152"/>
            <a:ext cx="4190695" cy="3901044"/>
          </a:xfrm>
          <a:prstGeom prst="rect">
            <a:avLst/>
          </a:prstGeom>
          <a:ln w="9525">
            <a:solidFill>
              <a:srgbClr val="D9D9D9"/>
            </a:solidFill>
          </a:ln>
        </p:spPr>
      </p:pic>
      <p:sp>
        <p:nvSpPr>
          <p:cNvPr id="12" name="TextBox 11"/>
          <p:cNvSpPr txBox="1"/>
          <p:nvPr/>
        </p:nvSpPr>
        <p:spPr>
          <a:xfrm>
            <a:off x="502920" y="6016752"/>
            <a:ext cx="11185855" cy="274320"/>
          </a:xfrm>
          <a:prstGeom prst="rect">
            <a:avLst/>
          </a:prstGeom>
          <a:noFill/>
        </p:spPr>
        <p:txBody>
          <a:bodyPr wrap="square" anchor="t" lIns="73152" rIns="73152" tIns="36576" bIns="36576">
            <a:noAutofit/>
          </a:bodyPr>
          <a:lstStyle/>
          <a:p>
            <a:pPr algn="r">
              <a:spcBef>
                <a:spcPts val="0"/>
              </a:spcBef>
              <a:spcAft>
                <a:spcPts val="0"/>
              </a:spcAft>
            </a:pPr>
            <a:r>
              <a:rPr lang="tr-TR" sz="1100" b="0" i="0">
                <a:solidFill>
                  <a:srgbClr val="767676"/>
                </a:solidFill>
                <a:latin typeface="Calibri"/>
              </a:rPr>
              <a:t>Görsel 2.2: Enlem ve boylamın şekil üzerinde gösterimi (kitap s. 37)</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14" name="Rounded Rectangle 1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37</a:t>
            </a:r>
          </a:p>
        </p:txBody>
      </p:sp>
      <p:sp>
        <p:nvSpPr>
          <p:cNvPr id="15" name="TextBox 1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33 / 226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Enlem ve boylam</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KOORDİNATLAR</a:t>
            </a:r>
          </a:p>
        </p:txBody>
      </p:sp>
      <p:sp>
        <p:nvSpPr>
          <p:cNvPr id="6" name="Rounded Rectangle 5"/>
          <p:cNvSpPr/>
          <p:nvPr/>
        </p:nvSpPr>
        <p:spPr>
          <a:xfrm>
            <a:off x="502920" y="1216152"/>
            <a:ext cx="5486400" cy="502920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5486400" cy="530352"/>
          </a:xfrm>
          <a:prstGeom prst="roundRect">
            <a:avLst>
              <a:gd name="adj" fmla="val 25000"/>
            </a:avLst>
          </a:prstGeom>
          <a:solidFill>
            <a:srgbClr val="2C6696"/>
          </a:solidFill>
          <a:ln>
            <a:noFill/>
          </a:ln>
          <a:effectLst/>
        </p:spPr>
        <p:txBody>
          <a:bodyPr rtlCol="0" anchor="ctr"/>
          <a:lstStyle/>
          <a:p/>
        </p:txBody>
      </p:sp>
      <p:sp>
        <p:nvSpPr>
          <p:cNvPr id="8" name="Rectangle 7"/>
          <p:cNvSpPr/>
          <p:nvPr/>
        </p:nvSpPr>
        <p:spPr>
          <a:xfrm>
            <a:off x="502920" y="1481328"/>
            <a:ext cx="5486400" cy="265176"/>
          </a:xfrm>
          <a:prstGeom prst="rect">
            <a:avLst/>
          </a:prstGeom>
          <a:solidFill>
            <a:srgbClr val="2C6696"/>
          </a:solidFill>
          <a:ln>
            <a:noFill/>
          </a:ln>
          <a:effectLst/>
        </p:spPr>
        <p:txBody>
          <a:bodyPr rtlCol="0" anchor="ctr"/>
          <a:lstStyle/>
          <a:p/>
        </p:txBody>
      </p:sp>
      <p:sp>
        <p:nvSpPr>
          <p:cNvPr id="9" name="TextBox 8"/>
          <p:cNvSpPr txBox="1"/>
          <p:nvPr/>
        </p:nvSpPr>
        <p:spPr>
          <a:xfrm>
            <a:off x="594360" y="1216152"/>
            <a:ext cx="5303520" cy="530352"/>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ENLEM</a:t>
            </a:r>
          </a:p>
        </p:txBody>
      </p:sp>
      <p:sp>
        <p:nvSpPr>
          <p:cNvPr id="10" name="TextBox 9"/>
          <p:cNvSpPr txBox="1"/>
          <p:nvPr/>
        </p:nvSpPr>
        <p:spPr>
          <a:xfrm>
            <a:off x="612648" y="1819656"/>
            <a:ext cx="5266944" cy="4352544"/>
          </a:xfrm>
          <a:prstGeom prst="rect">
            <a:avLst/>
          </a:prstGeom>
          <a:noFill/>
        </p:spPr>
        <p:txBody>
          <a:bodyPr wrap="square" anchor="t" lIns="73152" rIns="73152" tIns="36576" bIns="36576">
            <a:noAutofit/>
          </a:bodyPr>
          <a:lstStyle/>
          <a:p>
            <a:pPr algn="l">
              <a:spcBef>
                <a:spcPts val="0"/>
              </a:spcBef>
              <a:spcAft>
                <a:spcPts val="600"/>
              </a:spcAft>
            </a:pPr>
            <a:r>
              <a:rPr lang="tr-TR" sz="2300" b="0" i="0">
                <a:solidFill>
                  <a:srgbClr val="262626"/>
                </a:solidFill>
                <a:latin typeface="Calibri"/>
              </a:rPr>
              <a:t>Dünya üzerindeki bir noktanın Ekvator'a uzaklığının yerin merkeziyle yaptığı açı değerine enlem denir.</a:t>
            </a:r>
          </a:p>
          <a:p>
            <a:pPr algn="l">
              <a:spcBef>
                <a:spcPts val="0"/>
              </a:spcBef>
              <a:spcAft>
                <a:spcPts val="0"/>
              </a:spcAft>
            </a:pPr>
            <a:r>
              <a:rPr lang="tr-TR" sz="2300" b="0" i="0">
                <a:solidFill>
                  <a:srgbClr val="767676"/>
                </a:solidFill>
                <a:latin typeface="Calibri"/>
              </a:rPr>
              <a:t>Bu açı; derece (°), dakika (') ve saniye ('') olarak ifade edilir.</a:t>
            </a:r>
          </a:p>
        </p:txBody>
      </p:sp>
      <p:sp>
        <p:nvSpPr>
          <p:cNvPr id="11" name="Rounded Rectangle 10"/>
          <p:cNvSpPr/>
          <p:nvPr/>
        </p:nvSpPr>
        <p:spPr>
          <a:xfrm>
            <a:off x="6199632" y="1216152"/>
            <a:ext cx="5489143" cy="502920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6199632" y="1216152"/>
            <a:ext cx="5489143" cy="530352"/>
          </a:xfrm>
          <a:prstGeom prst="roundRect">
            <a:avLst>
              <a:gd name="adj" fmla="val 25000"/>
            </a:avLst>
          </a:prstGeom>
          <a:solidFill>
            <a:srgbClr val="4F4F4F"/>
          </a:solidFill>
          <a:ln>
            <a:noFill/>
          </a:ln>
          <a:effectLst/>
        </p:spPr>
        <p:txBody>
          <a:bodyPr rtlCol="0" anchor="ctr"/>
          <a:lstStyle/>
          <a:p/>
        </p:txBody>
      </p:sp>
      <p:sp>
        <p:nvSpPr>
          <p:cNvPr id="13" name="Rectangle 12"/>
          <p:cNvSpPr/>
          <p:nvPr/>
        </p:nvSpPr>
        <p:spPr>
          <a:xfrm>
            <a:off x="6199632" y="1481328"/>
            <a:ext cx="5489143" cy="265176"/>
          </a:xfrm>
          <a:prstGeom prst="rect">
            <a:avLst/>
          </a:prstGeom>
          <a:solidFill>
            <a:srgbClr val="4F4F4F"/>
          </a:solidFill>
          <a:ln>
            <a:noFill/>
          </a:ln>
          <a:effectLst/>
        </p:spPr>
        <p:txBody>
          <a:bodyPr rtlCol="0" anchor="ctr"/>
          <a:lstStyle/>
          <a:p/>
        </p:txBody>
      </p:sp>
      <p:sp>
        <p:nvSpPr>
          <p:cNvPr id="14" name="TextBox 13"/>
          <p:cNvSpPr txBox="1"/>
          <p:nvPr/>
        </p:nvSpPr>
        <p:spPr>
          <a:xfrm>
            <a:off x="6291072" y="1216152"/>
            <a:ext cx="5306263" cy="530352"/>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BOYLAM</a:t>
            </a:r>
          </a:p>
        </p:txBody>
      </p:sp>
      <p:sp>
        <p:nvSpPr>
          <p:cNvPr id="15" name="TextBox 14"/>
          <p:cNvSpPr txBox="1"/>
          <p:nvPr/>
        </p:nvSpPr>
        <p:spPr>
          <a:xfrm>
            <a:off x="6309360" y="1819656"/>
            <a:ext cx="5269687" cy="4352544"/>
          </a:xfrm>
          <a:prstGeom prst="rect">
            <a:avLst/>
          </a:prstGeom>
          <a:noFill/>
        </p:spPr>
        <p:txBody>
          <a:bodyPr wrap="square" anchor="t" lIns="73152" rIns="73152" tIns="36576" bIns="36576">
            <a:noAutofit/>
          </a:bodyPr>
          <a:lstStyle/>
          <a:p>
            <a:pPr algn="l">
              <a:spcBef>
                <a:spcPts val="0"/>
              </a:spcBef>
              <a:spcAft>
                <a:spcPts val="600"/>
              </a:spcAft>
            </a:pPr>
            <a:r>
              <a:rPr lang="tr-TR" sz="2300" b="0" i="0">
                <a:solidFill>
                  <a:srgbClr val="262626"/>
                </a:solidFill>
                <a:latin typeface="Calibri"/>
              </a:rPr>
              <a:t>Dünya üzerindeki bir noktanın başlangıç meridyenine uzaklığının yerin merkeziyle yaptığı açı değerine boylam denir.</a:t>
            </a:r>
          </a:p>
          <a:p>
            <a:pPr algn="l">
              <a:spcBef>
                <a:spcPts val="0"/>
              </a:spcBef>
              <a:spcAft>
                <a:spcPts val="0"/>
              </a:spcAft>
            </a:pPr>
            <a:r>
              <a:rPr lang="tr-TR" sz="2300" b="0" i="0">
                <a:solidFill>
                  <a:srgbClr val="767676"/>
                </a:solidFill>
                <a:latin typeface="Calibri"/>
              </a:rPr>
              <a:t>Kuzey/güney değil, doğu/batı olarak söylenir: 26° doğu boylamı gibi.</a:t>
            </a:r>
          </a:p>
        </p:txBody>
      </p: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17" name="Rounded Rectangle 1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37</a:t>
            </a:r>
          </a:p>
        </p:txBody>
      </p:sp>
      <p:sp>
        <p:nvSpPr>
          <p:cNvPr id="18" name="TextBox 1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34 / 226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Çanakkale Şehitler Abidesi nerede?</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KOORDİNATLAR</a:t>
            </a:r>
          </a:p>
        </p:txBody>
      </p:sp>
      <p:pic>
        <p:nvPicPr>
          <p:cNvPr id="6" name="Picture 5" descr="harita_2_1_s37.jpg"/>
          <p:cNvPicPr>
            <a:picLocks noChangeAspect="1"/>
          </p:cNvPicPr>
          <p:nvPr/>
        </p:nvPicPr>
        <p:blipFill>
          <a:blip r:embed="rId3"/>
          <a:stretch>
            <a:fillRect/>
          </a:stretch>
        </p:blipFill>
        <p:spPr>
          <a:xfrm>
            <a:off x="1327967" y="1216152"/>
            <a:ext cx="9535759" cy="3749040"/>
          </a:xfrm>
          <a:prstGeom prst="rect">
            <a:avLst/>
          </a:prstGeom>
          <a:ln w="9525">
            <a:solidFill>
              <a:srgbClr val="D9D9D9"/>
            </a:solidFill>
          </a:ln>
        </p:spPr>
      </p:pic>
      <p:sp>
        <p:nvSpPr>
          <p:cNvPr id="7" name="Rounded Rectangle 6"/>
          <p:cNvSpPr/>
          <p:nvPr/>
        </p:nvSpPr>
        <p:spPr>
          <a:xfrm>
            <a:off x="502920" y="5102352"/>
            <a:ext cx="11185855" cy="1143000"/>
          </a:xfrm>
          <a:prstGeom prst="roundRect">
            <a:avLst>
              <a:gd name="adj" fmla="val 8000"/>
            </a:avLst>
          </a:prstGeom>
          <a:solidFill>
            <a:srgbClr val="FFF3D1"/>
          </a:solidFill>
          <a:ln>
            <a:noFill/>
          </a:ln>
          <a:effectLst/>
        </p:spPr>
        <p:txBody>
          <a:bodyPr rtlCol="0" anchor="ctr" wrap="square" lIns="274320" rIns="274320" tIns="73152" bIns="73152">
            <a:noAutofit/>
          </a:bodyPr>
          <a:lstStyle/>
          <a:p>
            <a:pPr algn="l">
              <a:spcBef>
                <a:spcPts val="0"/>
              </a:spcBef>
              <a:spcAft>
                <a:spcPts val="361"/>
              </a:spcAft>
            </a:pPr>
            <a:r>
              <a:rPr lang="tr-TR" sz="1900" b="1" i="0">
                <a:solidFill>
                  <a:srgbClr val="262626"/>
                </a:solidFill>
                <a:latin typeface="Calibri"/>
              </a:rPr>
              <a:t>Örneğin Çanakkale Şehitler Abidesi’nin konumu, 40° 03' 00'' kuzey enlemi ile 26° 13' 08'' doğu boylamının kesiştiği nokta olarak ifade edilir.</a:t>
            </a:r>
          </a:p>
          <a:p>
            <a:pPr algn="l">
              <a:spcBef>
                <a:spcPts val="0"/>
              </a:spcBef>
              <a:spcAft>
                <a:spcPts val="0"/>
              </a:spcAft>
            </a:pPr>
            <a:r>
              <a:rPr lang="tr-TR" sz="1900" b="0" i="0">
                <a:solidFill>
                  <a:srgbClr val="D3373A"/>
                </a:solidFill>
                <a:latin typeface="Calibri"/>
              </a:rPr>
              <a:t>Hangi değer Ekvator'a, hangisi başlangıç meridyenine göre uzaklığı gösterir?</a:t>
            </a:r>
          </a:p>
        </p:txBody>
      </p:sp>
      <p:sp>
        <p:nvSpPr>
          <p:cNvPr id="8" name="TextBox 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9" name="Rounded Rectangle 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37</a:t>
            </a:r>
          </a:p>
        </p:txBody>
      </p:sp>
      <p:sp>
        <p:nvSpPr>
          <p:cNvPr id="10" name="TextBox 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35 / 226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Koordinatlar bugün nerede kullanılıyor?</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GPS</a:t>
            </a:r>
          </a:p>
        </p:txBody>
      </p:sp>
      <p:sp>
        <p:nvSpPr>
          <p:cNvPr id="6" name="Rounded Rectangle 5"/>
          <p:cNvSpPr/>
          <p:nvPr/>
        </p:nvSpPr>
        <p:spPr>
          <a:xfrm>
            <a:off x="502920" y="1307592"/>
            <a:ext cx="11185855" cy="1920240"/>
          </a:xfrm>
          <a:prstGeom prst="roundRect">
            <a:avLst>
              <a:gd name="adj" fmla="val 6000"/>
            </a:avLst>
          </a:prstGeom>
          <a:solidFill>
            <a:srgbClr val="F0F0F0"/>
          </a:solidFill>
          <a:ln>
            <a:noFill/>
          </a:ln>
          <a:effectLst/>
        </p:spPr>
        <p:txBody>
          <a:bodyPr rtlCol="0" anchor="ctr"/>
          <a:lstStyle/>
          <a:p/>
        </p:txBody>
      </p:sp>
      <p:sp>
        <p:nvSpPr>
          <p:cNvPr id="7" name="Rectangle 6"/>
          <p:cNvSpPr/>
          <p:nvPr/>
        </p:nvSpPr>
        <p:spPr>
          <a:xfrm>
            <a:off x="502920" y="1307592"/>
            <a:ext cx="146304" cy="1920240"/>
          </a:xfrm>
          <a:prstGeom prst="rect">
            <a:avLst/>
          </a:prstGeom>
          <a:solidFill>
            <a:srgbClr val="1E7B6E"/>
          </a:solidFill>
          <a:ln>
            <a:noFill/>
          </a:ln>
          <a:effectLst/>
        </p:spPr>
        <p:txBody>
          <a:bodyPr rtlCol="0" anchor="ctr"/>
          <a:lstStyle/>
          <a:p/>
        </p:txBody>
      </p:sp>
      <p:sp>
        <p:nvSpPr>
          <p:cNvPr id="8" name="TextBox 7"/>
          <p:cNvSpPr txBox="1"/>
          <p:nvPr/>
        </p:nvSpPr>
        <p:spPr>
          <a:xfrm>
            <a:off x="868680" y="1417320"/>
            <a:ext cx="10637215" cy="411480"/>
          </a:xfrm>
          <a:prstGeom prst="rect">
            <a:avLst/>
          </a:prstGeom>
          <a:noFill/>
        </p:spPr>
        <p:txBody>
          <a:bodyPr wrap="square" anchor="t" lIns="73152" rIns="73152" tIns="36576" bIns="36576">
            <a:noAutofit/>
          </a:bodyPr>
          <a:lstStyle/>
          <a:p>
            <a:pPr algn="l">
              <a:spcBef>
                <a:spcPts val="0"/>
              </a:spcBef>
              <a:spcAft>
                <a:spcPts val="0"/>
              </a:spcAft>
            </a:pPr>
            <a:r>
              <a:rPr lang="tr-TR" sz="1800" b="1" i="0">
                <a:solidFill>
                  <a:srgbClr val="1E7B6E"/>
                </a:solidFill>
                <a:latin typeface="Calibri"/>
              </a:rPr>
              <a:t>GPS</a:t>
            </a:r>
          </a:p>
        </p:txBody>
      </p:sp>
      <p:sp>
        <p:nvSpPr>
          <p:cNvPr id="9" name="TextBox 8"/>
          <p:cNvSpPr txBox="1"/>
          <p:nvPr/>
        </p:nvSpPr>
        <p:spPr>
          <a:xfrm>
            <a:off x="868680" y="1810512"/>
            <a:ext cx="10637215" cy="1280160"/>
          </a:xfrm>
          <a:prstGeom prst="rect">
            <a:avLst/>
          </a:prstGeom>
          <a:noFill/>
        </p:spPr>
        <p:txBody>
          <a:bodyPr wrap="square" anchor="ctr" lIns="73152" rIns="73152" tIns="36576" bIns="36576">
            <a:noAutofit/>
          </a:bodyPr>
          <a:lstStyle/>
          <a:p>
            <a:pPr algn="l">
              <a:spcBef>
                <a:spcPts val="0"/>
              </a:spcBef>
              <a:spcAft>
                <a:spcPts val="0"/>
              </a:spcAft>
            </a:pPr>
            <a:r>
              <a:rPr lang="tr-TR" sz="2700" b="0" i="0">
                <a:solidFill>
                  <a:srgbClr val="262626"/>
                </a:solidFill>
                <a:latin typeface="Calibri"/>
              </a:rPr>
              <a:t>Bir yerin coğrafi koordinatlarını, uydular aracılığıyla belirlemeye yarayan Küresel Konumlandırma Sistemi’dir.</a:t>
            </a:r>
          </a:p>
        </p:txBody>
      </p:sp>
      <p:sp>
        <p:nvSpPr>
          <p:cNvPr id="10" name="Rounded Rectangle 9"/>
          <p:cNvSpPr/>
          <p:nvPr/>
        </p:nvSpPr>
        <p:spPr>
          <a:xfrm>
            <a:off x="502920" y="3410712"/>
            <a:ext cx="11185855" cy="1828800"/>
          </a:xfrm>
          <a:prstGeom prst="roundRect">
            <a:avLst>
              <a:gd name="adj" fmla="val 8000"/>
            </a:avLst>
          </a:prstGeom>
          <a:solidFill>
            <a:srgbClr val="F0F0F0"/>
          </a:solidFill>
          <a:ln>
            <a:noFill/>
          </a:ln>
          <a:effectLst/>
        </p:spPr>
        <p:txBody>
          <a:bodyPr rtlCol="0" anchor="ctr"/>
          <a:lstStyle/>
          <a:p/>
        </p:txBody>
      </p:sp>
      <p:sp>
        <p:nvSpPr>
          <p:cNvPr id="11" name="Rectangle 10"/>
          <p:cNvSpPr/>
          <p:nvPr/>
        </p:nvSpPr>
        <p:spPr>
          <a:xfrm>
            <a:off x="502920" y="3410712"/>
            <a:ext cx="118872" cy="1828800"/>
          </a:xfrm>
          <a:prstGeom prst="rect">
            <a:avLst/>
          </a:prstGeom>
          <a:solidFill>
            <a:srgbClr val="1E7B6E"/>
          </a:solidFill>
          <a:ln>
            <a:noFill/>
          </a:ln>
          <a:effectLst/>
        </p:spPr>
        <p:txBody>
          <a:bodyPr rtlCol="0" anchor="ctr"/>
          <a:lstStyle/>
          <a:p/>
        </p:txBody>
      </p:sp>
      <p:sp>
        <p:nvSpPr>
          <p:cNvPr id="12" name="TextBox 11"/>
          <p:cNvSpPr txBox="1"/>
          <p:nvPr/>
        </p:nvSpPr>
        <p:spPr>
          <a:xfrm>
            <a:off x="777240" y="3410712"/>
            <a:ext cx="10774375" cy="182880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Geçmişte askerî alanda, ulaşımda ve haritacılıkta yararlanılan koordinat sistemi; günümüzde Küresel Konumlandırma Sistemi (GPS) ile ulaşım, ekonomi, sağlık, eğitim, bilişim, mühendislik, havacılık, meteoroloji, uzay araştırmaları gibi birçok alanda kullanılır hâle gelmiştir.</a:t>
            </a:r>
          </a:p>
        </p:txBody>
      </p:sp>
      <p:sp>
        <p:nvSpPr>
          <p:cNvPr id="13" name="TextBox 12"/>
          <p:cNvSpPr txBox="1"/>
          <p:nvPr/>
        </p:nvSpPr>
        <p:spPr>
          <a:xfrm>
            <a:off x="502920" y="5422392"/>
            <a:ext cx="11185855" cy="777240"/>
          </a:xfrm>
          <a:prstGeom prst="rect">
            <a:avLst/>
          </a:prstGeom>
          <a:noFill/>
        </p:spPr>
        <p:txBody>
          <a:bodyPr wrap="square" anchor="ctr" lIns="73152" rIns="73152" tIns="36576" bIns="36576">
            <a:noAutofit/>
          </a:bodyPr>
          <a:lstStyle/>
          <a:p>
            <a:pPr algn="l">
              <a:spcBef>
                <a:spcPts val="0"/>
              </a:spcBef>
              <a:spcAft>
                <a:spcPts val="0"/>
              </a:spcAft>
            </a:pPr>
            <a:r>
              <a:rPr lang="tr-TR" sz="2600" b="1" i="0">
                <a:solidFill>
                  <a:srgbClr val="D3373A"/>
                </a:solidFill>
                <a:latin typeface="Calibri"/>
              </a:rPr>
              <a:t>Sen bugün koordinat kullandın mı? Nerede?</a:t>
            </a:r>
          </a:p>
        </p:txBody>
      </p:sp>
      <p:sp>
        <p:nvSpPr>
          <p:cNvPr id="14" name="TextBox 1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15" name="Rounded Rectangle 1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37</a:t>
            </a:r>
          </a:p>
        </p:txBody>
      </p:sp>
      <p:sp>
        <p:nvSpPr>
          <p:cNvPr id="16" name="TextBox 1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36 / 226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3</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Dünya üzerindeki bir noktanın Ekvator'a uzaklığının yerin merkeziyle yaptığı açıya ne denir?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Boylam</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Enlem</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Ölçek</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Projeksiyon</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Saat dilimi</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37</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37 / 226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3</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Dünya üzerindeki bir noktanın Ekvator'a uzaklığının yerin merkeziyle yaptığı açıya ne denir?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Boylam</a:t>
            </a:r>
          </a:p>
        </p:txBody>
      </p:sp>
      <p:sp>
        <p:nvSpPr>
          <p:cNvPr id="10" name="Rounded Rectangle 9"/>
          <p:cNvSpPr/>
          <p:nvPr/>
        </p:nvSpPr>
        <p:spPr>
          <a:xfrm>
            <a:off x="502920" y="3158337"/>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1" name="Oval 10"/>
          <p:cNvSpPr/>
          <p:nvPr/>
        </p:nvSpPr>
        <p:spPr>
          <a:xfrm>
            <a:off x="594360" y="3114445"/>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Enlem</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Ölçek</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Projeksiyon</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Saat dilimi</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Dünya üzerindeki bir noktanın Ekvator'a uzaklığının yerin merkeziyle yaptığı açı değerine enlem denir. Boylam başlangıç meridyenine göre ölçülür.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37</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38 / 226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Uygulama: Rota Oluşturuyorum</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UYGULAMA · 14 dk</a:t>
            </a:r>
          </a:p>
        </p:txBody>
      </p:sp>
      <p:pic>
        <p:nvPicPr>
          <p:cNvPr id="6" name="Picture 5" descr="rota_s38.jpg"/>
          <p:cNvPicPr>
            <a:picLocks noChangeAspect="1"/>
          </p:cNvPicPr>
          <p:nvPr/>
        </p:nvPicPr>
        <p:blipFill>
          <a:blip r:embed="rId3"/>
          <a:stretch>
            <a:fillRect/>
          </a:stretch>
        </p:blipFill>
        <p:spPr>
          <a:xfrm>
            <a:off x="502920" y="1216152"/>
            <a:ext cx="7053011" cy="5029200"/>
          </a:xfrm>
          <a:prstGeom prst="rect">
            <a:avLst/>
          </a:prstGeom>
          <a:ln w="9525">
            <a:solidFill>
              <a:srgbClr val="D9D9D9"/>
            </a:solidFill>
          </a:ln>
        </p:spPr>
      </p:pic>
      <p:sp>
        <p:nvSpPr>
          <p:cNvPr id="7" name="Rounded Rectangle 6"/>
          <p:cNvSpPr/>
          <p:nvPr/>
        </p:nvSpPr>
        <p:spPr>
          <a:xfrm>
            <a:off x="7589520" y="1216152"/>
            <a:ext cx="4099255" cy="1920240"/>
          </a:xfrm>
          <a:prstGeom prst="roundRect">
            <a:avLst>
              <a:gd name="adj" fmla="val 8000"/>
            </a:avLst>
          </a:prstGeom>
          <a:solidFill>
            <a:srgbClr val="FFF3D1"/>
          </a:solidFill>
          <a:ln>
            <a:noFill/>
          </a:ln>
          <a:effectLst/>
        </p:spPr>
        <p:txBody>
          <a:bodyPr rtlCol="0" anchor="ctr" wrap="square" lIns="164592" rIns="164592" tIns="73152" bIns="73152">
            <a:noAutofit/>
          </a:bodyPr>
          <a:lstStyle/>
          <a:p>
            <a:pPr algn="l">
              <a:spcBef>
                <a:spcPts val="0"/>
              </a:spcBef>
              <a:spcAft>
                <a:spcPts val="470"/>
              </a:spcAft>
            </a:pPr>
            <a:r>
              <a:rPr lang="tr-TR" sz="1600" b="0" i="0">
                <a:solidFill>
                  <a:srgbClr val="262626"/>
                </a:solidFill>
                <a:latin typeface="Calibri"/>
              </a:rPr>
              <a:t>1. Geminin kalkacağı, uğrayacağı ve varacağı limanların rotasını aşağıdaki koordinatlara göre haritaya sırasıyla çiziniz.</a:t>
            </a:r>
          </a:p>
          <a:p>
            <a:pPr algn="l">
              <a:spcBef>
                <a:spcPts val="0"/>
              </a:spcBef>
              <a:spcAft>
                <a:spcPts val="0"/>
              </a:spcAft>
            </a:pPr>
            <a:r>
              <a:rPr lang="tr-TR" sz="1600" b="0" i="0">
                <a:solidFill>
                  <a:srgbClr val="262626"/>
                </a:solidFill>
                <a:latin typeface="Calibri"/>
              </a:rPr>
              <a:t>2. Uçağın kalkacağı, aktarma yapacağı ve ineceği havalimanlarının rotasını aşağıdaki koordinatlara göre haritaya sırasıyla çiziniz.</a:t>
            </a:r>
          </a:p>
        </p:txBody>
      </p:sp>
      <p:sp>
        <p:nvSpPr>
          <p:cNvPr id="8" name="Rounded Rectangle 7"/>
          <p:cNvSpPr/>
          <p:nvPr/>
        </p:nvSpPr>
        <p:spPr>
          <a:xfrm>
            <a:off x="7589520" y="3273552"/>
            <a:ext cx="4099255" cy="2971800"/>
          </a:xfrm>
          <a:prstGeom prst="roundRect">
            <a:avLst>
              <a:gd name="adj" fmla="val 8000"/>
            </a:avLst>
          </a:prstGeom>
          <a:solidFill>
            <a:srgbClr val="F0F0F0"/>
          </a:solidFill>
          <a:ln>
            <a:noFill/>
          </a:ln>
          <a:effectLst/>
        </p:spPr>
        <p:txBody>
          <a:bodyPr rtlCol="0" anchor="ctr" wrap="square" lIns="164592" rIns="164592" tIns="73152" bIns="73152">
            <a:noAutofit/>
          </a:bodyPr>
          <a:lstStyle/>
          <a:p>
            <a:pPr algn="l">
              <a:spcBef>
                <a:spcPts val="0"/>
              </a:spcBef>
              <a:spcAft>
                <a:spcPts val="388"/>
              </a:spcAft>
            </a:pPr>
            <a:r>
              <a:rPr lang="tr-TR" sz="1750" b="1" i="0">
                <a:solidFill>
                  <a:srgbClr val="2C6696"/>
                </a:solidFill>
                <a:latin typeface="Calibri"/>
              </a:rPr>
              <a:t>İpuçları</a:t>
            </a:r>
          </a:p>
          <a:p>
            <a:pPr algn="l" marL="217543" indent="-217543">
              <a:spcBef>
                <a:spcPts val="0"/>
              </a:spcBef>
              <a:spcAft>
                <a:spcPts val="388"/>
              </a:spcAft>
            </a:pPr>
            <a:r>
              <a:rPr lang="tr-TR" sz="1750" b="1" i="0">
                <a:solidFill>
                  <a:srgbClr val="2C6696"/>
                </a:solidFill>
                <a:latin typeface="Calibri"/>
              </a:rPr>
              <a:t>•  </a:t>
            </a:r>
            <a:r>
              <a:rPr lang="tr-TR" sz="1750" b="0" i="0">
                <a:solidFill>
                  <a:srgbClr val="262626"/>
                </a:solidFill>
                <a:latin typeface="Calibri"/>
              </a:rPr>
              <a:t>Önce enlemi bul (kuzey-güney), sonra boylamı (doğu-batı).</a:t>
            </a:r>
          </a:p>
          <a:p>
            <a:pPr algn="l" marL="217543" indent="-217543">
              <a:spcBef>
                <a:spcPts val="0"/>
              </a:spcBef>
              <a:spcAft>
                <a:spcPts val="388"/>
              </a:spcAft>
            </a:pPr>
            <a:r>
              <a:rPr lang="tr-TR" sz="1750" b="1" i="0">
                <a:solidFill>
                  <a:srgbClr val="2C6696"/>
                </a:solidFill>
                <a:latin typeface="Calibri"/>
              </a:rPr>
              <a:t>•  </a:t>
            </a:r>
            <a:r>
              <a:rPr lang="tr-TR" sz="1750" b="0" i="0">
                <a:solidFill>
                  <a:srgbClr val="262626"/>
                </a:solidFill>
                <a:latin typeface="Calibri"/>
              </a:rPr>
              <a:t>Batı boylamı 0° meridyeninin solundadır.</a:t>
            </a:r>
          </a:p>
          <a:p>
            <a:pPr algn="l" marL="217543" indent="-217543">
              <a:spcBef>
                <a:spcPts val="0"/>
              </a:spcBef>
              <a:spcAft>
                <a:spcPts val="388"/>
              </a:spcAft>
            </a:pPr>
            <a:r>
              <a:rPr lang="tr-TR" sz="1750" b="1" i="0">
                <a:solidFill>
                  <a:srgbClr val="2C6696"/>
                </a:solidFill>
                <a:latin typeface="Calibri"/>
              </a:rPr>
              <a:t>•  </a:t>
            </a:r>
            <a:r>
              <a:rPr lang="tr-TR" sz="1750" b="0" i="0">
                <a:solidFill>
                  <a:srgbClr val="262626"/>
                </a:solidFill>
                <a:latin typeface="Calibri"/>
              </a:rPr>
              <a:t>Harita ağı 10 derecede birdir: dakika ve saniyeyi tahminle yerleştir.</a:t>
            </a:r>
          </a:p>
          <a:p>
            <a:pPr algn="l" marL="217543" indent="-217543">
              <a:spcBef>
                <a:spcPts val="0"/>
              </a:spcBef>
              <a:spcAft>
                <a:spcPts val="0"/>
              </a:spcAft>
            </a:pPr>
            <a:r>
              <a:rPr lang="tr-TR" sz="1750" b="1" i="0">
                <a:solidFill>
                  <a:srgbClr val="2C6696"/>
                </a:solidFill>
                <a:latin typeface="Calibri"/>
              </a:rPr>
              <a:t>•  </a:t>
            </a:r>
            <a:r>
              <a:rPr lang="tr-TR" sz="1750" b="0" i="0">
                <a:solidFill>
                  <a:srgbClr val="262626"/>
                </a:solidFill>
                <a:latin typeface="Calibri"/>
              </a:rPr>
              <a:t>Liman: kırmızı nokta · Havalimanı: uçak işareti</a:t>
            </a:r>
          </a:p>
        </p:txBody>
      </p:sp>
      <p:sp>
        <p:nvSpPr>
          <p:cNvPr id="9" name="TextBox 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10" name="Rounded Rectangle 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38</a:t>
            </a:r>
          </a:p>
        </p:txBody>
      </p:sp>
      <p:sp>
        <p:nvSpPr>
          <p:cNvPr id="11" name="TextBox 1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39 / 226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Rota Oluşturuyorum: koordinatlar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UYGULAMA</a:t>
            </a:r>
          </a:p>
        </p:txBody>
      </p:sp>
      <p:graphicFrame>
        <p:nvGraphicFramePr>
          <p:cNvPr id="6" name="Table 5"/>
          <p:cNvGraphicFramePr>
            <a:graphicFrameLocks noGrp="1"/>
          </p:cNvGraphicFramePr>
          <p:nvPr/>
        </p:nvGraphicFramePr>
        <p:xfrm>
          <a:off x="502920" y="1216152"/>
          <a:ext cx="6035040" cy="4471416"/>
        </p:xfrm>
        <a:graphic>
          <a:graphicData uri="http://schemas.openxmlformats.org/drawingml/2006/table">
            <a:tbl>
              <a:tblPr firstRow="1" bandRow="1">
                <a:tableStyleId>{5C22544A-7EE6-4342-B048-85BDC9FD1C3A}</a:tableStyleId>
              </a:tblPr>
              <a:tblGrid>
                <a:gridCol w="548640"/>
                <a:gridCol w="2743200"/>
                <a:gridCol w="2743200"/>
              </a:tblGrid>
              <a:tr h="502920">
                <a:tc>
                  <a:txBody>
                    <a:bodyPr wrap="square"/>
                    <a:lstStyle/>
                    <a:p>
                      <a:pPr algn="ctr">
                        <a:spcBef>
                          <a:spcPts val="0"/>
                        </a:spcBef>
                        <a:spcAft>
                          <a:spcPts val="0"/>
                        </a:spcAft>
                      </a:pPr>
                      <a:r>
                        <a:rPr lang="tr-TR" sz="1500" b="1" i="0">
                          <a:solidFill>
                            <a:srgbClr val="FFFFFF"/>
                          </a:solidFill>
                          <a:latin typeface="Calibri"/>
                        </a:rPr>
                        <a:t>Gemi</a:t>
                      </a:r>
                    </a:p>
                  </a:txBody>
                  <a:tcPr marL="54864" marR="54864" marT="18288" marB="18288" anchor="ctr">
                    <a:solidFill>
                      <a:srgbClr val="D3373A"/>
                    </a:solidFill>
                  </a:tcPr>
                </a:tc>
                <a:tc>
                  <a:txBody>
                    <a:bodyPr wrap="square"/>
                    <a:lstStyle/>
                    <a:p>
                      <a:pPr algn="ctr">
                        <a:spcBef>
                          <a:spcPts val="0"/>
                        </a:spcBef>
                        <a:spcAft>
                          <a:spcPts val="0"/>
                        </a:spcAft>
                      </a:pPr>
                      <a:r>
                        <a:rPr lang="tr-TR" sz="1700" b="1" i="0">
                          <a:solidFill>
                            <a:srgbClr val="FFFFFF"/>
                          </a:solidFill>
                          <a:latin typeface="Calibri"/>
                        </a:rPr>
                        <a:t>Enlem</a:t>
                      </a:r>
                    </a:p>
                  </a:txBody>
                  <a:tcPr marL="54864" marR="54864" marT="18288" marB="18288" anchor="ctr">
                    <a:solidFill>
                      <a:srgbClr val="D3373A"/>
                    </a:solidFill>
                  </a:tcPr>
                </a:tc>
                <a:tc>
                  <a:txBody>
                    <a:bodyPr wrap="square"/>
                    <a:lstStyle/>
                    <a:p>
                      <a:pPr algn="ctr">
                        <a:spcBef>
                          <a:spcPts val="0"/>
                        </a:spcBef>
                        <a:spcAft>
                          <a:spcPts val="0"/>
                        </a:spcAft>
                      </a:pPr>
                      <a:r>
                        <a:rPr lang="tr-TR" sz="1700" b="1" i="0">
                          <a:solidFill>
                            <a:srgbClr val="FFFFFF"/>
                          </a:solidFill>
                          <a:latin typeface="Calibri"/>
                        </a:rPr>
                        <a:t>Boylam</a:t>
                      </a:r>
                    </a:p>
                  </a:txBody>
                  <a:tcPr marL="54864" marR="54864" marT="18288" marB="18288" anchor="ctr">
                    <a:solidFill>
                      <a:srgbClr val="D3373A"/>
                    </a:solidFill>
                  </a:tcPr>
                </a:tc>
              </a:tr>
              <a:tr h="566928">
                <a:tc>
                  <a:txBody>
                    <a:bodyPr wrap="square"/>
                    <a:lstStyle/>
                    <a:p>
                      <a:pPr algn="ctr">
                        <a:spcBef>
                          <a:spcPts val="0"/>
                        </a:spcBef>
                        <a:spcAft>
                          <a:spcPts val="0"/>
                        </a:spcAft>
                      </a:pPr>
                      <a:r>
                        <a:rPr lang="tr-TR" sz="1900" b="0" i="0">
                          <a:solidFill>
                            <a:srgbClr val="262626"/>
                          </a:solidFill>
                          <a:latin typeface="Calibri"/>
                        </a:rPr>
                        <a:t>a</a:t>
                      </a:r>
                    </a:p>
                  </a:txBody>
                  <a:tcPr marL="54864" marR="54864" marT="18288" marB="18288" anchor="ctr">
                    <a:solidFill>
                      <a:srgbClr val="FFFFFF"/>
                    </a:solidFill>
                  </a:tcPr>
                </a:tc>
                <a:tc>
                  <a:txBody>
                    <a:bodyPr wrap="square"/>
                    <a:lstStyle/>
                    <a:p>
                      <a:pPr algn="l">
                        <a:spcBef>
                          <a:spcPts val="0"/>
                        </a:spcBef>
                        <a:spcAft>
                          <a:spcPts val="0"/>
                        </a:spcAft>
                      </a:pPr>
                      <a:r>
                        <a:rPr lang="tr-TR" sz="1900" b="0" i="0">
                          <a:solidFill>
                            <a:srgbClr val="262626"/>
                          </a:solidFill>
                          <a:latin typeface="Calibri"/>
                        </a:rPr>
                        <a:t>30° 52' 39'' Kuzey</a:t>
                      </a:r>
                    </a:p>
                  </a:txBody>
                  <a:tcPr marL="54864" marR="54864" marT="18288" marB="18288" anchor="ctr">
                    <a:solidFill>
                      <a:srgbClr val="FFFFFF"/>
                    </a:solidFill>
                  </a:tcPr>
                </a:tc>
                <a:tc>
                  <a:txBody>
                    <a:bodyPr wrap="square"/>
                    <a:lstStyle/>
                    <a:p>
                      <a:pPr algn="l">
                        <a:spcBef>
                          <a:spcPts val="0"/>
                        </a:spcBef>
                        <a:spcAft>
                          <a:spcPts val="0"/>
                        </a:spcAft>
                      </a:pPr>
                      <a:r>
                        <a:rPr lang="tr-TR" sz="1900" b="0" i="0">
                          <a:solidFill>
                            <a:srgbClr val="262626"/>
                          </a:solidFill>
                          <a:latin typeface="Calibri"/>
                        </a:rPr>
                        <a:t>122° 08' 01'' Doğu</a:t>
                      </a:r>
                    </a:p>
                  </a:txBody>
                  <a:tcPr marL="54864" marR="54864" marT="18288" marB="18288" anchor="ctr">
                    <a:solidFill>
                      <a:srgbClr val="FFFFFF"/>
                    </a:solidFill>
                  </a:tcPr>
                </a:tc>
              </a:tr>
              <a:tr h="566928">
                <a:tc>
                  <a:txBody>
                    <a:bodyPr wrap="square"/>
                    <a:lstStyle/>
                    <a:p>
                      <a:pPr algn="ctr">
                        <a:spcBef>
                          <a:spcPts val="0"/>
                        </a:spcBef>
                        <a:spcAft>
                          <a:spcPts val="0"/>
                        </a:spcAft>
                      </a:pPr>
                      <a:r>
                        <a:rPr lang="tr-TR" sz="1900" b="0" i="0">
                          <a:solidFill>
                            <a:srgbClr val="262626"/>
                          </a:solidFill>
                          <a:latin typeface="Calibri"/>
                        </a:rPr>
                        <a:t>b</a:t>
                      </a:r>
                    </a:p>
                  </a:txBody>
                  <a:tcPr marL="54864" marR="54864" marT="18288" marB="18288" anchor="ctr">
                    <a:solidFill>
                      <a:srgbClr val="E3ECF5"/>
                    </a:solidFill>
                  </a:tcPr>
                </a:tc>
                <a:tc>
                  <a:txBody>
                    <a:bodyPr wrap="square"/>
                    <a:lstStyle/>
                    <a:p>
                      <a:pPr algn="l">
                        <a:spcBef>
                          <a:spcPts val="0"/>
                        </a:spcBef>
                        <a:spcAft>
                          <a:spcPts val="0"/>
                        </a:spcAft>
                      </a:pPr>
                      <a:r>
                        <a:rPr lang="tr-TR" sz="1900" b="0" i="0">
                          <a:solidFill>
                            <a:srgbClr val="262626"/>
                          </a:solidFill>
                          <a:latin typeface="Calibri"/>
                        </a:rPr>
                        <a:t>01° 16' 26'' Kuzey</a:t>
                      </a:r>
                    </a:p>
                  </a:txBody>
                  <a:tcPr marL="54864" marR="54864" marT="18288" marB="18288" anchor="ctr">
                    <a:solidFill>
                      <a:srgbClr val="E3ECF5"/>
                    </a:solidFill>
                  </a:tcPr>
                </a:tc>
                <a:tc>
                  <a:txBody>
                    <a:bodyPr wrap="square"/>
                    <a:lstStyle/>
                    <a:p>
                      <a:pPr algn="l">
                        <a:spcBef>
                          <a:spcPts val="0"/>
                        </a:spcBef>
                        <a:spcAft>
                          <a:spcPts val="0"/>
                        </a:spcAft>
                      </a:pPr>
                      <a:r>
                        <a:rPr lang="tr-TR" sz="1900" b="0" i="0">
                          <a:solidFill>
                            <a:srgbClr val="262626"/>
                          </a:solidFill>
                          <a:latin typeface="Calibri"/>
                        </a:rPr>
                        <a:t>103° 48' 01'' Doğu</a:t>
                      </a:r>
                    </a:p>
                  </a:txBody>
                  <a:tcPr marL="54864" marR="54864" marT="18288" marB="18288" anchor="ctr">
                    <a:solidFill>
                      <a:srgbClr val="E3ECF5"/>
                    </a:solidFill>
                  </a:tcPr>
                </a:tc>
              </a:tr>
              <a:tr h="566928">
                <a:tc>
                  <a:txBody>
                    <a:bodyPr wrap="square"/>
                    <a:lstStyle/>
                    <a:p>
                      <a:pPr algn="ctr">
                        <a:spcBef>
                          <a:spcPts val="0"/>
                        </a:spcBef>
                        <a:spcAft>
                          <a:spcPts val="0"/>
                        </a:spcAft>
                      </a:pPr>
                      <a:r>
                        <a:rPr lang="tr-TR" sz="1900" b="0" i="0">
                          <a:solidFill>
                            <a:srgbClr val="262626"/>
                          </a:solidFill>
                          <a:latin typeface="Calibri"/>
                        </a:rPr>
                        <a:t>c</a:t>
                      </a:r>
                    </a:p>
                  </a:txBody>
                  <a:tcPr marL="54864" marR="54864" marT="18288" marB="18288" anchor="ctr">
                    <a:solidFill>
                      <a:srgbClr val="FFFFFF"/>
                    </a:solidFill>
                  </a:tcPr>
                </a:tc>
                <a:tc>
                  <a:txBody>
                    <a:bodyPr wrap="square"/>
                    <a:lstStyle/>
                    <a:p>
                      <a:pPr algn="l">
                        <a:spcBef>
                          <a:spcPts val="0"/>
                        </a:spcBef>
                        <a:spcAft>
                          <a:spcPts val="0"/>
                        </a:spcAft>
                      </a:pPr>
                      <a:r>
                        <a:rPr lang="tr-TR" sz="1900" b="0" i="0">
                          <a:solidFill>
                            <a:srgbClr val="262626"/>
                          </a:solidFill>
                          <a:latin typeface="Calibri"/>
                        </a:rPr>
                        <a:t>18° 57' 00'' Kuzey</a:t>
                      </a:r>
                    </a:p>
                  </a:txBody>
                  <a:tcPr marL="54864" marR="54864" marT="18288" marB="18288" anchor="ctr">
                    <a:solidFill>
                      <a:srgbClr val="FFFFFF"/>
                    </a:solidFill>
                  </a:tcPr>
                </a:tc>
                <a:tc>
                  <a:txBody>
                    <a:bodyPr wrap="square"/>
                    <a:lstStyle/>
                    <a:p>
                      <a:pPr algn="l">
                        <a:spcBef>
                          <a:spcPts val="0"/>
                        </a:spcBef>
                        <a:spcAft>
                          <a:spcPts val="0"/>
                        </a:spcAft>
                      </a:pPr>
                      <a:r>
                        <a:rPr lang="tr-TR" sz="1900" b="0" i="0">
                          <a:solidFill>
                            <a:srgbClr val="262626"/>
                          </a:solidFill>
                          <a:latin typeface="Calibri"/>
                        </a:rPr>
                        <a:t>72° 51' 42'' Doğu</a:t>
                      </a:r>
                    </a:p>
                  </a:txBody>
                  <a:tcPr marL="54864" marR="54864" marT="18288" marB="18288" anchor="ctr">
                    <a:solidFill>
                      <a:srgbClr val="FFFFFF"/>
                    </a:solidFill>
                  </a:tcPr>
                </a:tc>
              </a:tr>
              <a:tr h="566928">
                <a:tc>
                  <a:txBody>
                    <a:bodyPr wrap="square"/>
                    <a:lstStyle/>
                    <a:p>
                      <a:pPr algn="ctr">
                        <a:spcBef>
                          <a:spcPts val="0"/>
                        </a:spcBef>
                        <a:spcAft>
                          <a:spcPts val="0"/>
                        </a:spcAft>
                      </a:pPr>
                      <a:r>
                        <a:rPr lang="tr-TR" sz="1900" b="0" i="0">
                          <a:solidFill>
                            <a:srgbClr val="262626"/>
                          </a:solidFill>
                          <a:latin typeface="Calibri"/>
                        </a:rPr>
                        <a:t>ç</a:t>
                      </a:r>
                    </a:p>
                  </a:txBody>
                  <a:tcPr marL="54864" marR="54864" marT="18288" marB="18288" anchor="ctr">
                    <a:solidFill>
                      <a:srgbClr val="E3ECF5"/>
                    </a:solidFill>
                  </a:tcPr>
                </a:tc>
                <a:tc>
                  <a:txBody>
                    <a:bodyPr wrap="square"/>
                    <a:lstStyle/>
                    <a:p>
                      <a:pPr algn="l">
                        <a:spcBef>
                          <a:spcPts val="0"/>
                        </a:spcBef>
                        <a:spcAft>
                          <a:spcPts val="0"/>
                        </a:spcAft>
                      </a:pPr>
                      <a:r>
                        <a:rPr lang="tr-TR" sz="1900" b="0" i="0">
                          <a:solidFill>
                            <a:srgbClr val="262626"/>
                          </a:solidFill>
                          <a:latin typeface="Calibri"/>
                        </a:rPr>
                        <a:t>11° 35' 48'' Kuzey</a:t>
                      </a:r>
                    </a:p>
                  </a:txBody>
                  <a:tcPr marL="54864" marR="54864" marT="18288" marB="18288" anchor="ctr">
                    <a:solidFill>
                      <a:srgbClr val="E3ECF5"/>
                    </a:solidFill>
                  </a:tcPr>
                </a:tc>
                <a:tc>
                  <a:txBody>
                    <a:bodyPr wrap="square"/>
                    <a:lstStyle/>
                    <a:p>
                      <a:pPr algn="l">
                        <a:spcBef>
                          <a:spcPts val="0"/>
                        </a:spcBef>
                        <a:spcAft>
                          <a:spcPts val="0"/>
                        </a:spcAft>
                      </a:pPr>
                      <a:r>
                        <a:rPr lang="tr-TR" sz="1900" b="0" i="0">
                          <a:solidFill>
                            <a:srgbClr val="262626"/>
                          </a:solidFill>
                          <a:latin typeface="Calibri"/>
                        </a:rPr>
                        <a:t>43° 06' 51'' Doğu</a:t>
                      </a:r>
                    </a:p>
                  </a:txBody>
                  <a:tcPr marL="54864" marR="54864" marT="18288" marB="18288" anchor="ctr">
                    <a:solidFill>
                      <a:srgbClr val="E3ECF5"/>
                    </a:solidFill>
                  </a:tcPr>
                </a:tc>
              </a:tr>
              <a:tr h="566928">
                <a:tc>
                  <a:txBody>
                    <a:bodyPr wrap="square"/>
                    <a:lstStyle/>
                    <a:p>
                      <a:pPr algn="ctr">
                        <a:spcBef>
                          <a:spcPts val="0"/>
                        </a:spcBef>
                        <a:spcAft>
                          <a:spcPts val="0"/>
                        </a:spcAft>
                      </a:pPr>
                      <a:r>
                        <a:rPr lang="tr-TR" sz="1900" b="0" i="0">
                          <a:solidFill>
                            <a:srgbClr val="262626"/>
                          </a:solidFill>
                          <a:latin typeface="Calibri"/>
                        </a:rPr>
                        <a:t>d</a:t>
                      </a:r>
                    </a:p>
                  </a:txBody>
                  <a:tcPr marL="54864" marR="54864" marT="18288" marB="18288" anchor="ctr">
                    <a:solidFill>
                      <a:srgbClr val="FFFFFF"/>
                    </a:solidFill>
                  </a:tcPr>
                </a:tc>
                <a:tc>
                  <a:txBody>
                    <a:bodyPr wrap="square"/>
                    <a:lstStyle/>
                    <a:p>
                      <a:pPr algn="l">
                        <a:spcBef>
                          <a:spcPts val="0"/>
                        </a:spcBef>
                        <a:spcAft>
                          <a:spcPts val="0"/>
                        </a:spcAft>
                      </a:pPr>
                      <a:r>
                        <a:rPr lang="tr-TR" sz="1900" b="0" i="0">
                          <a:solidFill>
                            <a:srgbClr val="262626"/>
                          </a:solidFill>
                          <a:latin typeface="Calibri"/>
                        </a:rPr>
                        <a:t>36° 48' 08'' Kuzey</a:t>
                      </a:r>
                    </a:p>
                  </a:txBody>
                  <a:tcPr marL="54864" marR="54864" marT="18288" marB="18288" anchor="ctr">
                    <a:solidFill>
                      <a:srgbClr val="FFFFFF"/>
                    </a:solidFill>
                  </a:tcPr>
                </a:tc>
                <a:tc>
                  <a:txBody>
                    <a:bodyPr wrap="square"/>
                    <a:lstStyle/>
                    <a:p>
                      <a:pPr algn="l">
                        <a:spcBef>
                          <a:spcPts val="0"/>
                        </a:spcBef>
                        <a:spcAft>
                          <a:spcPts val="0"/>
                        </a:spcAft>
                      </a:pPr>
                      <a:r>
                        <a:rPr lang="tr-TR" sz="1900" b="0" i="0">
                          <a:solidFill>
                            <a:srgbClr val="262626"/>
                          </a:solidFill>
                          <a:latin typeface="Calibri"/>
                        </a:rPr>
                        <a:t>34° 38' 48'' Doğu</a:t>
                      </a:r>
                    </a:p>
                  </a:txBody>
                  <a:tcPr marL="54864" marR="54864" marT="18288" marB="18288" anchor="ctr">
                    <a:solidFill>
                      <a:srgbClr val="FFFFFF"/>
                    </a:solidFill>
                  </a:tcPr>
                </a:tc>
              </a:tr>
              <a:tr h="566928">
                <a:tc>
                  <a:txBody>
                    <a:bodyPr wrap="square"/>
                    <a:lstStyle/>
                    <a:p>
                      <a:pPr algn="ctr">
                        <a:spcBef>
                          <a:spcPts val="0"/>
                        </a:spcBef>
                        <a:spcAft>
                          <a:spcPts val="0"/>
                        </a:spcAft>
                      </a:pPr>
                      <a:r>
                        <a:rPr lang="tr-TR" sz="1900" b="0" i="0">
                          <a:solidFill>
                            <a:srgbClr val="262626"/>
                          </a:solidFill>
                          <a:latin typeface="Calibri"/>
                        </a:rPr>
                        <a:t>e</a:t>
                      </a:r>
                    </a:p>
                  </a:txBody>
                  <a:tcPr marL="54864" marR="54864" marT="18288" marB="18288" anchor="ctr">
                    <a:solidFill>
                      <a:srgbClr val="E3ECF5"/>
                    </a:solidFill>
                  </a:tcPr>
                </a:tc>
                <a:tc>
                  <a:txBody>
                    <a:bodyPr wrap="square"/>
                    <a:lstStyle/>
                    <a:p>
                      <a:pPr algn="l">
                        <a:spcBef>
                          <a:spcPts val="0"/>
                        </a:spcBef>
                        <a:spcAft>
                          <a:spcPts val="0"/>
                        </a:spcAft>
                      </a:pPr>
                      <a:r>
                        <a:rPr lang="tr-TR" sz="1900" b="0" i="0">
                          <a:solidFill>
                            <a:srgbClr val="262626"/>
                          </a:solidFill>
                          <a:latin typeface="Calibri"/>
                        </a:rPr>
                        <a:t>41° 21' 04'' Kuzey</a:t>
                      </a:r>
                    </a:p>
                  </a:txBody>
                  <a:tcPr marL="54864" marR="54864" marT="18288" marB="18288" anchor="ctr">
                    <a:solidFill>
                      <a:srgbClr val="E3ECF5"/>
                    </a:solidFill>
                  </a:tcPr>
                </a:tc>
                <a:tc>
                  <a:txBody>
                    <a:bodyPr wrap="square"/>
                    <a:lstStyle/>
                    <a:p>
                      <a:pPr algn="l">
                        <a:spcBef>
                          <a:spcPts val="0"/>
                        </a:spcBef>
                        <a:spcAft>
                          <a:spcPts val="0"/>
                        </a:spcAft>
                      </a:pPr>
                      <a:r>
                        <a:rPr lang="tr-TR" sz="1900" b="0" i="0">
                          <a:solidFill>
                            <a:srgbClr val="262626"/>
                          </a:solidFill>
                          <a:latin typeface="Calibri"/>
                        </a:rPr>
                        <a:t>02° 10' 12'' Doğu</a:t>
                      </a:r>
                    </a:p>
                  </a:txBody>
                  <a:tcPr marL="54864" marR="54864" marT="18288" marB="18288" anchor="ctr">
                    <a:solidFill>
                      <a:srgbClr val="E3ECF5"/>
                    </a:solidFill>
                  </a:tcPr>
                </a:tc>
              </a:tr>
              <a:tr h="566928">
                <a:tc>
                  <a:txBody>
                    <a:bodyPr wrap="square"/>
                    <a:lstStyle/>
                    <a:p>
                      <a:pPr algn="ctr">
                        <a:spcBef>
                          <a:spcPts val="0"/>
                        </a:spcBef>
                        <a:spcAft>
                          <a:spcPts val="0"/>
                        </a:spcAft>
                      </a:pPr>
                      <a:r>
                        <a:rPr lang="tr-TR" sz="1900" b="0" i="0">
                          <a:solidFill>
                            <a:srgbClr val="262626"/>
                          </a:solidFill>
                          <a:latin typeface="Calibri"/>
                        </a:rPr>
                        <a:t>f</a:t>
                      </a:r>
                    </a:p>
                  </a:txBody>
                  <a:tcPr marL="54864" marR="54864" marT="18288" marB="18288" anchor="ctr">
                    <a:solidFill>
                      <a:srgbClr val="FFFFFF"/>
                    </a:solidFill>
                  </a:tcPr>
                </a:tc>
                <a:tc>
                  <a:txBody>
                    <a:bodyPr wrap="square"/>
                    <a:lstStyle/>
                    <a:p>
                      <a:pPr algn="l">
                        <a:spcBef>
                          <a:spcPts val="0"/>
                        </a:spcBef>
                        <a:spcAft>
                          <a:spcPts val="0"/>
                        </a:spcAft>
                      </a:pPr>
                      <a:r>
                        <a:rPr lang="tr-TR" sz="1900" b="0" i="0">
                          <a:solidFill>
                            <a:srgbClr val="262626"/>
                          </a:solidFill>
                          <a:latin typeface="Calibri"/>
                        </a:rPr>
                        <a:t>38° 42' 04'' Kuzey</a:t>
                      </a:r>
                    </a:p>
                  </a:txBody>
                  <a:tcPr marL="54864" marR="54864" marT="18288" marB="18288" anchor="ctr">
                    <a:solidFill>
                      <a:srgbClr val="FFFFFF"/>
                    </a:solidFill>
                  </a:tcPr>
                </a:tc>
                <a:tc>
                  <a:txBody>
                    <a:bodyPr wrap="square"/>
                    <a:lstStyle/>
                    <a:p>
                      <a:pPr algn="l">
                        <a:spcBef>
                          <a:spcPts val="0"/>
                        </a:spcBef>
                        <a:spcAft>
                          <a:spcPts val="0"/>
                        </a:spcAft>
                      </a:pPr>
                      <a:r>
                        <a:rPr lang="tr-TR" sz="1900" b="0" i="0">
                          <a:solidFill>
                            <a:srgbClr val="262626"/>
                          </a:solidFill>
                          <a:latin typeface="Calibri"/>
                        </a:rPr>
                        <a:t>09° 10' 01'' Batı</a:t>
                      </a:r>
                    </a:p>
                  </a:txBody>
                  <a:tcPr marL="54864" marR="54864" marT="18288" marB="18288" anchor="ctr">
                    <a:solidFill>
                      <a:srgbClr val="FFFFFF"/>
                    </a:solidFill>
                  </a:tcPr>
                </a:tc>
              </a:tr>
            </a:tbl>
          </a:graphicData>
        </a:graphic>
      </p:graphicFrame>
      <p:graphicFrame>
        <p:nvGraphicFramePr>
          <p:cNvPr id="7" name="Table 6"/>
          <p:cNvGraphicFramePr>
            <a:graphicFrameLocks noGrp="1"/>
          </p:cNvGraphicFramePr>
          <p:nvPr/>
        </p:nvGraphicFramePr>
        <p:xfrm>
          <a:off x="6766560" y="1216152"/>
          <a:ext cx="4919472" cy="2203704"/>
        </p:xfrm>
        <a:graphic>
          <a:graphicData uri="http://schemas.openxmlformats.org/drawingml/2006/table">
            <a:tbl>
              <a:tblPr firstRow="1" bandRow="1">
                <a:tableStyleId>{5C22544A-7EE6-4342-B048-85BDC9FD1C3A}</a:tableStyleId>
              </a:tblPr>
              <a:tblGrid>
                <a:gridCol w="548640"/>
                <a:gridCol w="2185416"/>
                <a:gridCol w="2185416"/>
              </a:tblGrid>
              <a:tr h="502920">
                <a:tc>
                  <a:txBody>
                    <a:bodyPr wrap="square"/>
                    <a:lstStyle/>
                    <a:p>
                      <a:pPr algn="ctr">
                        <a:spcBef>
                          <a:spcPts val="0"/>
                        </a:spcBef>
                        <a:spcAft>
                          <a:spcPts val="0"/>
                        </a:spcAft>
                      </a:pPr>
                      <a:r>
                        <a:rPr lang="tr-TR" sz="1600" b="1" i="0">
                          <a:solidFill>
                            <a:srgbClr val="FFFFFF"/>
                          </a:solidFill>
                          <a:latin typeface="Calibri"/>
                        </a:rPr>
                        <a:t>Uçak</a:t>
                      </a:r>
                    </a:p>
                  </a:txBody>
                  <a:tcPr marL="54864" marR="54864" marT="18288" marB="18288" anchor="ctr">
                    <a:solidFill>
                      <a:srgbClr val="2C6696"/>
                    </a:solidFill>
                  </a:tcPr>
                </a:tc>
                <a:tc>
                  <a:txBody>
                    <a:bodyPr wrap="square"/>
                    <a:lstStyle/>
                    <a:p>
                      <a:pPr algn="ctr">
                        <a:spcBef>
                          <a:spcPts val="0"/>
                        </a:spcBef>
                        <a:spcAft>
                          <a:spcPts val="0"/>
                        </a:spcAft>
                      </a:pPr>
                      <a:r>
                        <a:rPr lang="tr-TR" sz="1700" b="1" i="0">
                          <a:solidFill>
                            <a:srgbClr val="FFFFFF"/>
                          </a:solidFill>
                          <a:latin typeface="Calibri"/>
                        </a:rPr>
                        <a:t>Enlem</a:t>
                      </a:r>
                    </a:p>
                  </a:txBody>
                  <a:tcPr marL="54864" marR="54864" marT="18288" marB="18288" anchor="ctr">
                    <a:solidFill>
                      <a:srgbClr val="2C6696"/>
                    </a:solidFill>
                  </a:tcPr>
                </a:tc>
                <a:tc>
                  <a:txBody>
                    <a:bodyPr wrap="square"/>
                    <a:lstStyle/>
                    <a:p>
                      <a:pPr algn="ctr">
                        <a:spcBef>
                          <a:spcPts val="0"/>
                        </a:spcBef>
                        <a:spcAft>
                          <a:spcPts val="0"/>
                        </a:spcAft>
                      </a:pPr>
                      <a:r>
                        <a:rPr lang="tr-TR" sz="1700" b="1" i="0">
                          <a:solidFill>
                            <a:srgbClr val="FFFFFF"/>
                          </a:solidFill>
                          <a:latin typeface="Calibri"/>
                        </a:rPr>
                        <a:t>Boylam</a:t>
                      </a:r>
                    </a:p>
                  </a:txBody>
                  <a:tcPr marL="54864" marR="54864" marT="18288" marB="18288" anchor="ctr">
                    <a:solidFill>
                      <a:srgbClr val="2C6696"/>
                    </a:solidFill>
                  </a:tcPr>
                </a:tc>
              </a:tr>
              <a:tr h="566928">
                <a:tc>
                  <a:txBody>
                    <a:bodyPr wrap="square"/>
                    <a:lstStyle/>
                    <a:p>
                      <a:pPr algn="ctr">
                        <a:spcBef>
                          <a:spcPts val="0"/>
                        </a:spcBef>
                        <a:spcAft>
                          <a:spcPts val="0"/>
                        </a:spcAft>
                      </a:pPr>
                      <a:r>
                        <a:rPr lang="tr-TR" sz="1700" b="0" i="0">
                          <a:solidFill>
                            <a:srgbClr val="262626"/>
                          </a:solidFill>
                          <a:latin typeface="Calibri"/>
                        </a:rPr>
                        <a:t>a</a:t>
                      </a:r>
                    </a:p>
                  </a:txBody>
                  <a:tcPr marL="54864" marR="54864" marT="18288" marB="18288" anchor="ctr">
                    <a:solidFill>
                      <a:srgbClr val="FFFFFF"/>
                    </a:solidFill>
                  </a:tcPr>
                </a:tc>
                <a:tc>
                  <a:txBody>
                    <a:bodyPr wrap="square"/>
                    <a:lstStyle/>
                    <a:p>
                      <a:pPr algn="l">
                        <a:spcBef>
                          <a:spcPts val="0"/>
                        </a:spcBef>
                        <a:spcAft>
                          <a:spcPts val="0"/>
                        </a:spcAft>
                      </a:pPr>
                      <a:r>
                        <a:rPr lang="tr-TR" sz="1700" b="0" i="0">
                          <a:solidFill>
                            <a:srgbClr val="262626"/>
                          </a:solidFill>
                          <a:latin typeface="Calibri"/>
                        </a:rPr>
                        <a:t>39° 41' 49'' Kuzey</a:t>
                      </a:r>
                    </a:p>
                  </a:txBody>
                  <a:tcPr marL="54864" marR="54864" marT="18288" marB="18288" anchor="ctr">
                    <a:solidFill>
                      <a:srgbClr val="FFFFFF"/>
                    </a:solidFill>
                  </a:tcPr>
                </a:tc>
                <a:tc>
                  <a:txBody>
                    <a:bodyPr wrap="square"/>
                    <a:lstStyle/>
                    <a:p>
                      <a:pPr algn="l">
                        <a:spcBef>
                          <a:spcPts val="0"/>
                        </a:spcBef>
                        <a:spcAft>
                          <a:spcPts val="0"/>
                        </a:spcAft>
                      </a:pPr>
                      <a:r>
                        <a:rPr lang="tr-TR" sz="1700" b="0" i="0">
                          <a:solidFill>
                            <a:srgbClr val="262626"/>
                          </a:solidFill>
                          <a:latin typeface="Calibri"/>
                        </a:rPr>
                        <a:t>66° 59' 27'' Doğu</a:t>
                      </a:r>
                    </a:p>
                  </a:txBody>
                  <a:tcPr marL="54864" marR="54864" marT="18288" marB="18288" anchor="ctr">
                    <a:solidFill>
                      <a:srgbClr val="FFFFFF"/>
                    </a:solidFill>
                  </a:tcPr>
                </a:tc>
              </a:tr>
              <a:tr h="566928">
                <a:tc>
                  <a:txBody>
                    <a:bodyPr wrap="square"/>
                    <a:lstStyle/>
                    <a:p>
                      <a:pPr algn="ctr">
                        <a:spcBef>
                          <a:spcPts val="0"/>
                        </a:spcBef>
                        <a:spcAft>
                          <a:spcPts val="0"/>
                        </a:spcAft>
                      </a:pPr>
                      <a:r>
                        <a:rPr lang="tr-TR" sz="1700" b="0" i="0">
                          <a:solidFill>
                            <a:srgbClr val="262626"/>
                          </a:solidFill>
                          <a:latin typeface="Calibri"/>
                        </a:rPr>
                        <a:t>b</a:t>
                      </a:r>
                    </a:p>
                  </a:txBody>
                  <a:tcPr marL="54864" marR="54864" marT="18288" marB="18288" anchor="ctr">
                    <a:solidFill>
                      <a:srgbClr val="E3ECF5"/>
                    </a:solidFill>
                  </a:tcPr>
                </a:tc>
                <a:tc>
                  <a:txBody>
                    <a:bodyPr wrap="square"/>
                    <a:lstStyle/>
                    <a:p>
                      <a:pPr algn="l">
                        <a:spcBef>
                          <a:spcPts val="0"/>
                        </a:spcBef>
                        <a:spcAft>
                          <a:spcPts val="0"/>
                        </a:spcAft>
                      </a:pPr>
                      <a:r>
                        <a:rPr lang="tr-TR" sz="1700" b="0" i="0">
                          <a:solidFill>
                            <a:srgbClr val="262626"/>
                          </a:solidFill>
                          <a:latin typeface="Calibri"/>
                        </a:rPr>
                        <a:t>41° 15' 38'' Kuzey</a:t>
                      </a:r>
                    </a:p>
                  </a:txBody>
                  <a:tcPr marL="54864" marR="54864" marT="18288" marB="18288" anchor="ctr">
                    <a:solidFill>
                      <a:srgbClr val="E3ECF5"/>
                    </a:solidFill>
                  </a:tcPr>
                </a:tc>
                <a:tc>
                  <a:txBody>
                    <a:bodyPr wrap="square"/>
                    <a:lstStyle/>
                    <a:p>
                      <a:pPr algn="l">
                        <a:spcBef>
                          <a:spcPts val="0"/>
                        </a:spcBef>
                        <a:spcAft>
                          <a:spcPts val="0"/>
                        </a:spcAft>
                      </a:pPr>
                      <a:r>
                        <a:rPr lang="tr-TR" sz="1700" b="0" i="0">
                          <a:solidFill>
                            <a:srgbClr val="262626"/>
                          </a:solidFill>
                          <a:latin typeface="Calibri"/>
                        </a:rPr>
                        <a:t>28° 44' 32'' Doğu</a:t>
                      </a:r>
                    </a:p>
                  </a:txBody>
                  <a:tcPr marL="54864" marR="54864" marT="18288" marB="18288" anchor="ctr">
                    <a:solidFill>
                      <a:srgbClr val="E3ECF5"/>
                    </a:solidFill>
                  </a:tcPr>
                </a:tc>
              </a:tr>
              <a:tr h="566928">
                <a:tc>
                  <a:txBody>
                    <a:bodyPr wrap="square"/>
                    <a:lstStyle/>
                    <a:p>
                      <a:pPr algn="ctr">
                        <a:spcBef>
                          <a:spcPts val="0"/>
                        </a:spcBef>
                        <a:spcAft>
                          <a:spcPts val="0"/>
                        </a:spcAft>
                      </a:pPr>
                      <a:r>
                        <a:rPr lang="tr-TR" sz="1700" b="0" i="0">
                          <a:solidFill>
                            <a:srgbClr val="262626"/>
                          </a:solidFill>
                          <a:latin typeface="Calibri"/>
                        </a:rPr>
                        <a:t>c</a:t>
                      </a:r>
                    </a:p>
                  </a:txBody>
                  <a:tcPr marL="54864" marR="54864" marT="18288" marB="18288" anchor="ctr">
                    <a:solidFill>
                      <a:srgbClr val="FFFFFF"/>
                    </a:solidFill>
                  </a:tcPr>
                </a:tc>
                <a:tc>
                  <a:txBody>
                    <a:bodyPr wrap="square"/>
                    <a:lstStyle/>
                    <a:p>
                      <a:pPr algn="l">
                        <a:spcBef>
                          <a:spcPts val="0"/>
                        </a:spcBef>
                        <a:spcAft>
                          <a:spcPts val="0"/>
                        </a:spcAft>
                      </a:pPr>
                      <a:r>
                        <a:rPr lang="tr-TR" sz="1700" b="0" i="0">
                          <a:solidFill>
                            <a:srgbClr val="262626"/>
                          </a:solidFill>
                          <a:latin typeface="Calibri"/>
                        </a:rPr>
                        <a:t>06° 33' 45'' Kuzey</a:t>
                      </a:r>
                    </a:p>
                  </a:txBody>
                  <a:tcPr marL="54864" marR="54864" marT="18288" marB="18288" anchor="ctr">
                    <a:solidFill>
                      <a:srgbClr val="FFFFFF"/>
                    </a:solidFill>
                  </a:tcPr>
                </a:tc>
                <a:tc>
                  <a:txBody>
                    <a:bodyPr wrap="square"/>
                    <a:lstStyle/>
                    <a:p>
                      <a:pPr algn="l">
                        <a:spcBef>
                          <a:spcPts val="0"/>
                        </a:spcBef>
                        <a:spcAft>
                          <a:spcPts val="0"/>
                        </a:spcAft>
                      </a:pPr>
                      <a:r>
                        <a:rPr lang="tr-TR" sz="1700" b="0" i="0">
                          <a:solidFill>
                            <a:srgbClr val="262626"/>
                          </a:solidFill>
                          <a:latin typeface="Calibri"/>
                        </a:rPr>
                        <a:t>03° 28' 01'' Doğu</a:t>
                      </a:r>
                    </a:p>
                  </a:txBody>
                  <a:tcPr marL="54864" marR="54864" marT="18288" marB="18288" anchor="ctr">
                    <a:solidFill>
                      <a:srgbClr val="FFFFFF"/>
                    </a:solidFill>
                  </a:tcPr>
                </a:tc>
              </a:tr>
            </a:tbl>
          </a:graphicData>
        </a:graphic>
      </p:graphicFrame>
      <p:sp>
        <p:nvSpPr>
          <p:cNvPr id="8" name="Rounded Rectangle 7"/>
          <p:cNvSpPr/>
          <p:nvPr/>
        </p:nvSpPr>
        <p:spPr>
          <a:xfrm>
            <a:off x="6766560" y="3593592"/>
            <a:ext cx="4922215" cy="2377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600"/>
              </a:spcAft>
            </a:pPr>
            <a:r>
              <a:rPr lang="tr-TR" sz="2000" b="1" i="0">
                <a:solidFill>
                  <a:srgbClr val="262626"/>
                </a:solidFill>
                <a:latin typeface="Calibri"/>
              </a:rPr>
              <a:t>a: kalkış · son harf: varış</a:t>
            </a:r>
          </a:p>
          <a:p>
            <a:pPr algn="l" marL="248620" indent="-248620">
              <a:spcBef>
                <a:spcPts val="0"/>
              </a:spcBef>
              <a:spcAft>
                <a:spcPts val="600"/>
              </a:spcAft>
            </a:pPr>
            <a:r>
              <a:rPr lang="tr-TR" sz="2000" b="1" i="0">
                <a:solidFill>
                  <a:srgbClr val="2C6696"/>
                </a:solidFill>
                <a:latin typeface="Calibri"/>
              </a:rPr>
              <a:t>•  </a:t>
            </a:r>
            <a:r>
              <a:rPr lang="tr-TR" sz="2000" b="0" i="0">
                <a:solidFill>
                  <a:srgbClr val="262626"/>
                </a:solidFill>
                <a:latin typeface="Calibri"/>
              </a:rPr>
              <a:t>Gemi a → b → c → ç → d → e → f</a:t>
            </a:r>
          </a:p>
          <a:p>
            <a:pPr algn="l" marL="248620" indent="-248620">
              <a:spcBef>
                <a:spcPts val="0"/>
              </a:spcBef>
              <a:spcAft>
                <a:spcPts val="0"/>
              </a:spcAft>
            </a:pPr>
            <a:r>
              <a:rPr lang="tr-TR" sz="2000" b="1" i="0">
                <a:solidFill>
                  <a:srgbClr val="2C6696"/>
                </a:solidFill>
                <a:latin typeface="Calibri"/>
              </a:rPr>
              <a:t>•  </a:t>
            </a:r>
            <a:r>
              <a:rPr lang="tr-TR" sz="2000" b="0" i="0">
                <a:solidFill>
                  <a:srgbClr val="262626"/>
                </a:solidFill>
                <a:latin typeface="Calibri"/>
              </a:rPr>
              <a:t>Uçak a → b → c</a:t>
            </a:r>
          </a:p>
        </p:txBody>
      </p:sp>
      <p:sp>
        <p:nvSpPr>
          <p:cNvPr id="9" name="TextBox 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10" name="Rounded Rectangle 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38</a:t>
            </a:r>
          </a:p>
        </p:txBody>
      </p:sp>
      <p:sp>
        <p:nvSpPr>
          <p:cNvPr id="11" name="TextBox 1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40 / 226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Rota Oluşturuyorum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pic>
        <p:nvPicPr>
          <p:cNvPr id="6" name="Picture 5" descr="rota_s38.jpg"/>
          <p:cNvPicPr>
            <a:picLocks noChangeAspect="1"/>
          </p:cNvPicPr>
          <p:nvPr/>
        </p:nvPicPr>
        <p:blipFill>
          <a:blip r:embed="rId3"/>
          <a:stretch>
            <a:fillRect/>
          </a:stretch>
        </p:blipFill>
        <p:spPr>
          <a:xfrm>
            <a:off x="502920" y="1216152"/>
            <a:ext cx="7053011" cy="5029200"/>
          </a:xfrm>
          <a:prstGeom prst="rect">
            <a:avLst/>
          </a:prstGeom>
          <a:ln w="9525">
            <a:solidFill>
              <a:srgbClr val="D9D9D9"/>
            </a:solidFill>
          </a:ln>
        </p:spPr>
      </p:pic>
      <p:cxnSp>
        <p:nvCxnSpPr>
          <p:cNvPr id="7" name="Connector 6"/>
          <p:cNvCxnSpPr/>
          <p:nvPr/>
        </p:nvCxnSpPr>
        <p:spPr>
          <a:xfrm flipH="1">
            <a:off x="6772433" y="2632914"/>
            <a:ext cx="383316" cy="1019640"/>
          </a:xfrm>
          <a:prstGeom prst="line">
            <a:avLst/>
          </a:prstGeom>
          <a:ln w="38100">
            <a:solidFill>
              <a:srgbClr val="D3373A"/>
            </a:solidFill>
          </a:ln>
        </p:spPr>
      </p:cxnSp>
      <p:cxnSp>
        <p:nvCxnSpPr>
          <p:cNvPr id="8" name="Connector 7"/>
          <p:cNvCxnSpPr/>
          <p:nvPr/>
        </p:nvCxnSpPr>
        <p:spPr>
          <a:xfrm flipH="1">
            <a:off x="6332386" y="3652554"/>
            <a:ext cx="440047" cy="392523"/>
          </a:xfrm>
          <a:prstGeom prst="line">
            <a:avLst/>
          </a:prstGeom>
          <a:ln w="38100">
            <a:solidFill>
              <a:srgbClr val="D3373A"/>
            </a:solidFill>
            <a:tailEnd type="triangle" w="med" len="med"/>
          </a:ln>
        </p:spPr>
      </p:cxnSp>
      <p:cxnSp>
        <p:nvCxnSpPr>
          <p:cNvPr id="9" name="Connector 8"/>
          <p:cNvCxnSpPr/>
          <p:nvPr/>
        </p:nvCxnSpPr>
        <p:spPr>
          <a:xfrm flipH="1" flipV="1">
            <a:off x="6179060" y="3930080"/>
            <a:ext cx="153326" cy="114997"/>
          </a:xfrm>
          <a:prstGeom prst="line">
            <a:avLst/>
          </a:prstGeom>
          <a:ln w="38100">
            <a:solidFill>
              <a:srgbClr val="D3373A"/>
            </a:solidFill>
          </a:ln>
        </p:spPr>
      </p:cxnSp>
      <p:cxnSp>
        <p:nvCxnSpPr>
          <p:cNvPr id="10" name="Connector 9"/>
          <p:cNvCxnSpPr/>
          <p:nvPr/>
        </p:nvCxnSpPr>
        <p:spPr>
          <a:xfrm flipH="1" flipV="1">
            <a:off x="5334232" y="3859548"/>
            <a:ext cx="844828" cy="70532"/>
          </a:xfrm>
          <a:prstGeom prst="line">
            <a:avLst/>
          </a:prstGeom>
          <a:ln w="38100">
            <a:solidFill>
              <a:srgbClr val="D3373A"/>
            </a:solidFill>
          </a:ln>
        </p:spPr>
      </p:cxnSp>
      <p:cxnSp>
        <p:nvCxnSpPr>
          <p:cNvPr id="11" name="Connector 10"/>
          <p:cNvCxnSpPr/>
          <p:nvPr/>
        </p:nvCxnSpPr>
        <p:spPr>
          <a:xfrm flipH="1" flipV="1">
            <a:off x="4961649" y="3329029"/>
            <a:ext cx="372583" cy="530519"/>
          </a:xfrm>
          <a:prstGeom prst="line">
            <a:avLst/>
          </a:prstGeom>
          <a:ln w="38100">
            <a:solidFill>
              <a:srgbClr val="D3373A"/>
            </a:solidFill>
            <a:tailEnd type="triangle" w="med" len="med"/>
          </a:ln>
        </p:spPr>
      </p:cxnSp>
      <p:cxnSp>
        <p:nvCxnSpPr>
          <p:cNvPr id="12" name="Connector 11"/>
          <p:cNvCxnSpPr/>
          <p:nvPr/>
        </p:nvCxnSpPr>
        <p:spPr>
          <a:xfrm flipH="1">
            <a:off x="3581712" y="3329029"/>
            <a:ext cx="1379937" cy="260660"/>
          </a:xfrm>
          <a:prstGeom prst="line">
            <a:avLst/>
          </a:prstGeom>
          <a:ln w="38100">
            <a:solidFill>
              <a:srgbClr val="D3373A"/>
            </a:solidFill>
            <a:tailEnd type="triangle" w="med" len="med"/>
          </a:ln>
        </p:spPr>
      </p:cxnSp>
      <p:cxnSp>
        <p:nvCxnSpPr>
          <p:cNvPr id="13" name="Connector 12"/>
          <p:cNvCxnSpPr/>
          <p:nvPr/>
        </p:nvCxnSpPr>
        <p:spPr>
          <a:xfrm flipH="1" flipV="1">
            <a:off x="3416120" y="3187966"/>
            <a:ext cx="165592" cy="401723"/>
          </a:xfrm>
          <a:prstGeom prst="line">
            <a:avLst/>
          </a:prstGeom>
          <a:ln w="38100">
            <a:solidFill>
              <a:srgbClr val="D3373A"/>
            </a:solidFill>
          </a:ln>
        </p:spPr>
      </p:cxnSp>
      <p:cxnSp>
        <p:nvCxnSpPr>
          <p:cNvPr id="14" name="Connector 13"/>
          <p:cNvCxnSpPr/>
          <p:nvPr/>
        </p:nvCxnSpPr>
        <p:spPr>
          <a:xfrm flipH="1" flipV="1">
            <a:off x="3141666" y="2685046"/>
            <a:ext cx="274454" cy="502920"/>
          </a:xfrm>
          <a:prstGeom prst="line">
            <a:avLst/>
          </a:prstGeom>
          <a:ln w="38100">
            <a:solidFill>
              <a:srgbClr val="D3373A"/>
            </a:solidFill>
          </a:ln>
        </p:spPr>
      </p:cxnSp>
      <p:cxnSp>
        <p:nvCxnSpPr>
          <p:cNvPr id="15" name="Connector 14"/>
          <p:cNvCxnSpPr/>
          <p:nvPr/>
        </p:nvCxnSpPr>
        <p:spPr>
          <a:xfrm flipH="1" flipV="1">
            <a:off x="3132466" y="2605315"/>
            <a:ext cx="9200" cy="79731"/>
          </a:xfrm>
          <a:prstGeom prst="line">
            <a:avLst/>
          </a:prstGeom>
          <a:ln w="38100">
            <a:solidFill>
              <a:srgbClr val="D3373A"/>
            </a:solidFill>
          </a:ln>
        </p:spPr>
      </p:cxnSp>
      <p:cxnSp>
        <p:nvCxnSpPr>
          <p:cNvPr id="16" name="Connector 15"/>
          <p:cNvCxnSpPr/>
          <p:nvPr/>
        </p:nvCxnSpPr>
        <p:spPr>
          <a:xfrm flipV="1">
            <a:off x="3132466" y="2321656"/>
            <a:ext cx="61331" cy="283659"/>
          </a:xfrm>
          <a:prstGeom prst="line">
            <a:avLst/>
          </a:prstGeom>
          <a:ln w="38100">
            <a:solidFill>
              <a:srgbClr val="D3373A"/>
            </a:solidFill>
            <a:tailEnd type="triangle" w="med" len="med"/>
          </a:ln>
        </p:spPr>
      </p:cxnSp>
      <p:cxnSp>
        <p:nvCxnSpPr>
          <p:cNvPr id="17" name="Connector 16"/>
          <p:cNvCxnSpPr/>
          <p:nvPr/>
        </p:nvCxnSpPr>
        <p:spPr>
          <a:xfrm flipH="1">
            <a:off x="2753750" y="2321656"/>
            <a:ext cx="440047" cy="102730"/>
          </a:xfrm>
          <a:prstGeom prst="line">
            <a:avLst/>
          </a:prstGeom>
          <a:ln w="38100">
            <a:solidFill>
              <a:srgbClr val="D3373A"/>
            </a:solidFill>
          </a:ln>
        </p:spPr>
      </p:cxnSp>
      <p:cxnSp>
        <p:nvCxnSpPr>
          <p:cNvPr id="18" name="Connector 17"/>
          <p:cNvCxnSpPr/>
          <p:nvPr/>
        </p:nvCxnSpPr>
        <p:spPr>
          <a:xfrm flipH="1" flipV="1">
            <a:off x="2183376" y="2266457"/>
            <a:ext cx="570374" cy="157929"/>
          </a:xfrm>
          <a:prstGeom prst="line">
            <a:avLst/>
          </a:prstGeom>
          <a:ln w="38100">
            <a:solidFill>
              <a:srgbClr val="D3373A"/>
            </a:solidFill>
          </a:ln>
        </p:spPr>
      </p:cxnSp>
      <p:cxnSp>
        <p:nvCxnSpPr>
          <p:cNvPr id="19" name="Connector 18"/>
          <p:cNvCxnSpPr/>
          <p:nvPr/>
        </p:nvCxnSpPr>
        <p:spPr>
          <a:xfrm flipH="1" flipV="1">
            <a:off x="1665133" y="2087062"/>
            <a:ext cx="518243" cy="179395"/>
          </a:xfrm>
          <a:prstGeom prst="line">
            <a:avLst/>
          </a:prstGeom>
          <a:ln w="38100">
            <a:solidFill>
              <a:srgbClr val="D3373A"/>
            </a:solidFill>
            <a:tailEnd type="triangle" w="med" len="med"/>
          </a:ln>
        </p:spPr>
      </p:cxnSp>
      <p:cxnSp>
        <p:nvCxnSpPr>
          <p:cNvPr id="20" name="Connector 19"/>
          <p:cNvCxnSpPr/>
          <p:nvPr/>
        </p:nvCxnSpPr>
        <p:spPr>
          <a:xfrm flipH="1">
            <a:off x="1406012" y="2087062"/>
            <a:ext cx="259121" cy="252993"/>
          </a:xfrm>
          <a:prstGeom prst="line">
            <a:avLst/>
          </a:prstGeom>
          <a:ln w="38100">
            <a:solidFill>
              <a:srgbClr val="D3373A"/>
            </a:solidFill>
          </a:ln>
        </p:spPr>
      </p:cxnSp>
      <p:cxnSp>
        <p:nvCxnSpPr>
          <p:cNvPr id="21" name="Connector 20"/>
          <p:cNvCxnSpPr/>
          <p:nvPr/>
        </p:nvCxnSpPr>
        <p:spPr>
          <a:xfrm flipH="1" flipV="1">
            <a:off x="1246552" y="2283323"/>
            <a:ext cx="159460" cy="56732"/>
          </a:xfrm>
          <a:prstGeom prst="line">
            <a:avLst/>
          </a:prstGeom>
          <a:ln w="38100">
            <a:solidFill>
              <a:srgbClr val="D3373A"/>
            </a:solidFill>
          </a:ln>
        </p:spPr>
      </p:cxnSp>
      <p:cxnSp>
        <p:nvCxnSpPr>
          <p:cNvPr id="22" name="Connector 21"/>
          <p:cNvCxnSpPr/>
          <p:nvPr/>
        </p:nvCxnSpPr>
        <p:spPr>
          <a:xfrm flipH="1" flipV="1">
            <a:off x="1218953" y="2208192"/>
            <a:ext cx="27599" cy="75131"/>
          </a:xfrm>
          <a:prstGeom prst="line">
            <a:avLst/>
          </a:prstGeom>
          <a:ln w="38100">
            <a:solidFill>
              <a:srgbClr val="D3373A"/>
            </a:solidFill>
            <a:tailEnd type="triangle" w="med" len="med"/>
          </a:ln>
        </p:spPr>
      </p:cxnSp>
      <p:cxnSp>
        <p:nvCxnSpPr>
          <p:cNvPr id="23" name="Connector 22"/>
          <p:cNvCxnSpPr/>
          <p:nvPr/>
        </p:nvCxnSpPr>
        <p:spPr>
          <a:xfrm flipH="1" flipV="1">
            <a:off x="2930075" y="2036463"/>
            <a:ext cx="1754053" cy="133397"/>
          </a:xfrm>
          <a:prstGeom prst="line">
            <a:avLst/>
          </a:prstGeom>
          <a:ln w="38100">
            <a:solidFill>
              <a:srgbClr val="2C6696"/>
            </a:solidFill>
            <a:prstDash val="dash"/>
            <a:tailEnd type="triangle" w="med" len="med"/>
          </a:ln>
        </p:spPr>
      </p:cxnSp>
      <p:cxnSp>
        <p:nvCxnSpPr>
          <p:cNvPr id="24" name="Connector 23"/>
          <p:cNvCxnSpPr/>
          <p:nvPr/>
        </p:nvCxnSpPr>
        <p:spPr>
          <a:xfrm flipH="1">
            <a:off x="1800060" y="2036463"/>
            <a:ext cx="1130015" cy="1764820"/>
          </a:xfrm>
          <a:prstGeom prst="line">
            <a:avLst/>
          </a:prstGeom>
          <a:ln w="38100">
            <a:solidFill>
              <a:srgbClr val="2C6696"/>
            </a:solidFill>
            <a:prstDash val="dash"/>
            <a:tailEnd type="triangle" w="med" len="med"/>
          </a:ln>
        </p:spPr>
      </p:cxnSp>
      <p:sp>
        <p:nvSpPr>
          <p:cNvPr id="25" name="Oval 24"/>
          <p:cNvSpPr/>
          <p:nvPr/>
        </p:nvSpPr>
        <p:spPr>
          <a:xfrm>
            <a:off x="6991157" y="2212290"/>
            <a:ext cx="329184" cy="329184"/>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a</a:t>
            </a:r>
          </a:p>
        </p:txBody>
      </p:sp>
      <p:sp>
        <p:nvSpPr>
          <p:cNvPr id="26" name="Oval 25"/>
          <p:cNvSpPr/>
          <p:nvPr/>
        </p:nvSpPr>
        <p:spPr>
          <a:xfrm>
            <a:off x="6167794" y="3624453"/>
            <a:ext cx="329184" cy="329184"/>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b</a:t>
            </a:r>
          </a:p>
        </p:txBody>
      </p:sp>
      <p:sp>
        <p:nvSpPr>
          <p:cNvPr id="27" name="Oval 26"/>
          <p:cNvSpPr/>
          <p:nvPr/>
        </p:nvSpPr>
        <p:spPr>
          <a:xfrm>
            <a:off x="4797057" y="2908405"/>
            <a:ext cx="329184" cy="329184"/>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c</a:t>
            </a:r>
          </a:p>
        </p:txBody>
      </p:sp>
      <p:sp>
        <p:nvSpPr>
          <p:cNvPr id="28" name="Oval 27"/>
          <p:cNvSpPr/>
          <p:nvPr/>
        </p:nvSpPr>
        <p:spPr>
          <a:xfrm>
            <a:off x="3417120" y="3169065"/>
            <a:ext cx="329184" cy="329184"/>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ç</a:t>
            </a:r>
          </a:p>
        </p:txBody>
      </p:sp>
      <p:sp>
        <p:nvSpPr>
          <p:cNvPr id="29" name="Oval 28"/>
          <p:cNvSpPr/>
          <p:nvPr/>
        </p:nvSpPr>
        <p:spPr>
          <a:xfrm>
            <a:off x="3029205" y="1901032"/>
            <a:ext cx="329184" cy="329184"/>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d</a:t>
            </a:r>
          </a:p>
        </p:txBody>
      </p:sp>
      <p:sp>
        <p:nvSpPr>
          <p:cNvPr id="30" name="Oval 29"/>
          <p:cNvSpPr/>
          <p:nvPr/>
        </p:nvSpPr>
        <p:spPr>
          <a:xfrm>
            <a:off x="1500541" y="1666438"/>
            <a:ext cx="329184" cy="329184"/>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e</a:t>
            </a:r>
          </a:p>
        </p:txBody>
      </p:sp>
      <p:sp>
        <p:nvSpPr>
          <p:cNvPr id="31" name="Oval 30"/>
          <p:cNvSpPr/>
          <p:nvPr/>
        </p:nvSpPr>
        <p:spPr>
          <a:xfrm>
            <a:off x="1054361" y="1787568"/>
            <a:ext cx="329184" cy="329184"/>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f</a:t>
            </a:r>
          </a:p>
        </p:txBody>
      </p:sp>
      <p:sp>
        <p:nvSpPr>
          <p:cNvPr id="32" name="Oval 31"/>
          <p:cNvSpPr/>
          <p:nvPr/>
        </p:nvSpPr>
        <p:spPr>
          <a:xfrm>
            <a:off x="4245216" y="2114996"/>
            <a:ext cx="329184" cy="329184"/>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a</a:t>
            </a:r>
          </a:p>
        </p:txBody>
      </p:sp>
      <p:sp>
        <p:nvSpPr>
          <p:cNvPr id="33" name="Oval 32"/>
          <p:cNvSpPr/>
          <p:nvPr/>
        </p:nvSpPr>
        <p:spPr>
          <a:xfrm>
            <a:off x="2491163" y="1981599"/>
            <a:ext cx="329184" cy="329184"/>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b</a:t>
            </a:r>
          </a:p>
        </p:txBody>
      </p:sp>
      <p:sp>
        <p:nvSpPr>
          <p:cNvPr id="34" name="Oval 33"/>
          <p:cNvSpPr/>
          <p:nvPr/>
        </p:nvSpPr>
        <p:spPr>
          <a:xfrm>
            <a:off x="1361148" y="3746419"/>
            <a:ext cx="329184" cy="329184"/>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c</a:t>
            </a:r>
          </a:p>
        </p:txBody>
      </p:sp>
      <p:sp>
        <p:nvSpPr>
          <p:cNvPr id="35" name="Rounded Rectangle 34"/>
          <p:cNvSpPr/>
          <p:nvPr/>
        </p:nvSpPr>
        <p:spPr>
          <a:xfrm>
            <a:off x="7589520" y="1216152"/>
            <a:ext cx="4099255" cy="3063240"/>
          </a:xfrm>
          <a:prstGeom prst="roundRect">
            <a:avLst>
              <a:gd name="adj" fmla="val 6000"/>
            </a:avLst>
          </a:prstGeom>
          <a:solidFill>
            <a:srgbClr val="F9E1E1"/>
          </a:solidFill>
          <a:ln>
            <a:noFill/>
          </a:ln>
          <a:effectLst/>
        </p:spPr>
        <p:txBody>
          <a:bodyPr rtlCol="0" anchor="ctr"/>
          <a:lstStyle/>
          <a:p/>
        </p:txBody>
      </p:sp>
      <p:sp>
        <p:nvSpPr>
          <p:cNvPr id="36" name="Rectangle 35"/>
          <p:cNvSpPr/>
          <p:nvPr/>
        </p:nvSpPr>
        <p:spPr>
          <a:xfrm>
            <a:off x="7589520" y="1216152"/>
            <a:ext cx="109728" cy="3063240"/>
          </a:xfrm>
          <a:prstGeom prst="rect">
            <a:avLst/>
          </a:prstGeom>
          <a:solidFill>
            <a:srgbClr val="D3373A"/>
          </a:solidFill>
          <a:ln>
            <a:noFill/>
          </a:ln>
          <a:effectLst/>
        </p:spPr>
        <p:txBody>
          <a:bodyPr rtlCol="0" anchor="ctr"/>
          <a:lstStyle/>
          <a:p/>
        </p:txBody>
      </p:sp>
      <p:sp>
        <p:nvSpPr>
          <p:cNvPr id="37" name="TextBox 36"/>
          <p:cNvSpPr txBox="1"/>
          <p:nvPr/>
        </p:nvSpPr>
        <p:spPr>
          <a:xfrm>
            <a:off x="7818120" y="1271016"/>
            <a:ext cx="3779215" cy="2953512"/>
          </a:xfrm>
          <a:prstGeom prst="rect">
            <a:avLst/>
          </a:prstGeom>
          <a:noFill/>
        </p:spPr>
        <p:txBody>
          <a:bodyPr wrap="square" anchor="ctr" lIns="73152" rIns="73152" tIns="36576" bIns="36576">
            <a:noAutofit/>
          </a:bodyPr>
          <a:lstStyle/>
          <a:p>
            <a:pPr algn="l">
              <a:spcBef>
                <a:spcPts val="0"/>
              </a:spcBef>
              <a:spcAft>
                <a:spcPts val="400"/>
              </a:spcAft>
            </a:pPr>
            <a:r>
              <a:rPr lang="tr-TR" sz="1700" b="1" i="0">
                <a:solidFill>
                  <a:srgbClr val="D3373A"/>
                </a:solidFill>
                <a:latin typeface="Calibri"/>
              </a:rPr>
              <a:t>Gemi (kırmızı)</a:t>
            </a:r>
          </a:p>
          <a:p>
            <a:pPr algn="l">
              <a:spcBef>
                <a:spcPts val="0"/>
              </a:spcBef>
              <a:spcAft>
                <a:spcPts val="500"/>
              </a:spcAft>
            </a:pPr>
            <a:r>
              <a:rPr lang="tr-TR" sz="1700" b="0" i="0">
                <a:solidFill>
                  <a:srgbClr val="262626"/>
                </a:solidFill>
                <a:latin typeface="Calibri"/>
              </a:rPr>
              <a:t>a · Şanghay (Çin)</a:t>
            </a:r>
          </a:p>
          <a:p>
            <a:pPr algn="l">
              <a:spcBef>
                <a:spcPts val="0"/>
              </a:spcBef>
              <a:spcAft>
                <a:spcPts val="500"/>
              </a:spcAft>
            </a:pPr>
            <a:r>
              <a:rPr lang="tr-TR" sz="1700" b="0" i="0">
                <a:solidFill>
                  <a:srgbClr val="262626"/>
                </a:solidFill>
                <a:latin typeface="Calibri"/>
              </a:rPr>
              <a:t>b · Singapur</a:t>
            </a:r>
          </a:p>
          <a:p>
            <a:pPr algn="l">
              <a:spcBef>
                <a:spcPts val="0"/>
              </a:spcBef>
              <a:spcAft>
                <a:spcPts val="500"/>
              </a:spcAft>
            </a:pPr>
            <a:r>
              <a:rPr lang="tr-TR" sz="1700" b="0" i="0">
                <a:solidFill>
                  <a:srgbClr val="262626"/>
                </a:solidFill>
                <a:latin typeface="Calibri"/>
              </a:rPr>
              <a:t>c · Mumbai (Hindistan)</a:t>
            </a:r>
          </a:p>
          <a:p>
            <a:pPr algn="l">
              <a:spcBef>
                <a:spcPts val="0"/>
              </a:spcBef>
              <a:spcAft>
                <a:spcPts val="500"/>
              </a:spcAft>
            </a:pPr>
            <a:r>
              <a:rPr lang="tr-TR" sz="1700" b="0" i="0">
                <a:solidFill>
                  <a:srgbClr val="262626"/>
                </a:solidFill>
                <a:latin typeface="Calibri"/>
              </a:rPr>
              <a:t>ç · Cibuti</a:t>
            </a:r>
          </a:p>
          <a:p>
            <a:pPr algn="l">
              <a:spcBef>
                <a:spcPts val="0"/>
              </a:spcBef>
              <a:spcAft>
                <a:spcPts val="500"/>
              </a:spcAft>
            </a:pPr>
            <a:r>
              <a:rPr lang="tr-TR" sz="1700" b="0" i="0">
                <a:solidFill>
                  <a:srgbClr val="262626"/>
                </a:solidFill>
                <a:latin typeface="Calibri"/>
              </a:rPr>
              <a:t>d · Mersin (Türkiye)</a:t>
            </a:r>
          </a:p>
          <a:p>
            <a:pPr algn="l">
              <a:spcBef>
                <a:spcPts val="0"/>
              </a:spcBef>
              <a:spcAft>
                <a:spcPts val="500"/>
              </a:spcAft>
            </a:pPr>
            <a:r>
              <a:rPr lang="tr-TR" sz="1700" b="0" i="0">
                <a:solidFill>
                  <a:srgbClr val="262626"/>
                </a:solidFill>
                <a:latin typeface="Calibri"/>
              </a:rPr>
              <a:t>e · Barselona (İspanya)</a:t>
            </a:r>
          </a:p>
          <a:p>
            <a:pPr algn="l">
              <a:spcBef>
                <a:spcPts val="0"/>
              </a:spcBef>
              <a:spcAft>
                <a:spcPts val="0"/>
              </a:spcAft>
            </a:pPr>
            <a:r>
              <a:rPr lang="tr-TR" sz="1700" b="0" i="0">
                <a:solidFill>
                  <a:srgbClr val="262626"/>
                </a:solidFill>
                <a:latin typeface="Calibri"/>
              </a:rPr>
              <a:t>f · Lizbon (Portekiz)</a:t>
            </a:r>
          </a:p>
        </p:txBody>
      </p:sp>
      <p:sp>
        <p:nvSpPr>
          <p:cNvPr id="38" name="Rounded Rectangle 37"/>
          <p:cNvSpPr/>
          <p:nvPr/>
        </p:nvSpPr>
        <p:spPr>
          <a:xfrm>
            <a:off x="7589520" y="4370832"/>
            <a:ext cx="4099255" cy="1874519"/>
          </a:xfrm>
          <a:prstGeom prst="roundRect">
            <a:avLst>
              <a:gd name="adj" fmla="val 6000"/>
            </a:avLst>
          </a:prstGeom>
          <a:solidFill>
            <a:srgbClr val="E3ECF5"/>
          </a:solidFill>
          <a:ln>
            <a:noFill/>
          </a:ln>
          <a:effectLst/>
        </p:spPr>
        <p:txBody>
          <a:bodyPr rtlCol="0" anchor="ctr"/>
          <a:lstStyle/>
          <a:p/>
        </p:txBody>
      </p:sp>
      <p:sp>
        <p:nvSpPr>
          <p:cNvPr id="39" name="Rectangle 38"/>
          <p:cNvSpPr/>
          <p:nvPr/>
        </p:nvSpPr>
        <p:spPr>
          <a:xfrm>
            <a:off x="7589520" y="4370832"/>
            <a:ext cx="109728" cy="1874519"/>
          </a:xfrm>
          <a:prstGeom prst="rect">
            <a:avLst/>
          </a:prstGeom>
          <a:solidFill>
            <a:srgbClr val="2C6696"/>
          </a:solidFill>
          <a:ln>
            <a:noFill/>
          </a:ln>
          <a:effectLst/>
        </p:spPr>
        <p:txBody>
          <a:bodyPr rtlCol="0" anchor="ctr"/>
          <a:lstStyle/>
          <a:p/>
        </p:txBody>
      </p:sp>
      <p:sp>
        <p:nvSpPr>
          <p:cNvPr id="40" name="TextBox 39"/>
          <p:cNvSpPr txBox="1"/>
          <p:nvPr/>
        </p:nvSpPr>
        <p:spPr>
          <a:xfrm>
            <a:off x="7818120" y="4425696"/>
            <a:ext cx="3779215" cy="1764791"/>
          </a:xfrm>
          <a:prstGeom prst="rect">
            <a:avLst/>
          </a:prstGeom>
          <a:noFill/>
        </p:spPr>
        <p:txBody>
          <a:bodyPr wrap="square" anchor="ctr" lIns="73152" rIns="73152" tIns="36576" bIns="36576">
            <a:noAutofit/>
          </a:bodyPr>
          <a:lstStyle/>
          <a:p>
            <a:pPr algn="l">
              <a:spcBef>
                <a:spcPts val="0"/>
              </a:spcBef>
              <a:spcAft>
                <a:spcPts val="400"/>
              </a:spcAft>
            </a:pPr>
            <a:r>
              <a:rPr lang="tr-TR" sz="1700" b="1" i="0">
                <a:solidFill>
                  <a:srgbClr val="2C6696"/>
                </a:solidFill>
                <a:latin typeface="Calibri"/>
              </a:rPr>
              <a:t>Uçak (mavi, kesik)</a:t>
            </a:r>
          </a:p>
          <a:p>
            <a:pPr algn="l">
              <a:spcBef>
                <a:spcPts val="0"/>
              </a:spcBef>
              <a:spcAft>
                <a:spcPts val="500"/>
              </a:spcAft>
            </a:pPr>
            <a:r>
              <a:rPr lang="tr-TR" sz="1700" b="0" i="0">
                <a:solidFill>
                  <a:srgbClr val="262626"/>
                </a:solidFill>
                <a:latin typeface="Calibri"/>
              </a:rPr>
              <a:t>a · Semerkant (Özbekistan)</a:t>
            </a:r>
          </a:p>
          <a:p>
            <a:pPr algn="l">
              <a:spcBef>
                <a:spcPts val="0"/>
              </a:spcBef>
              <a:spcAft>
                <a:spcPts val="500"/>
              </a:spcAft>
            </a:pPr>
            <a:r>
              <a:rPr lang="tr-TR" sz="1700" b="0" i="0">
                <a:solidFill>
                  <a:srgbClr val="262626"/>
                </a:solidFill>
                <a:latin typeface="Calibri"/>
              </a:rPr>
              <a:t>b · İstanbul (Türkiye)</a:t>
            </a:r>
          </a:p>
          <a:p>
            <a:pPr algn="l">
              <a:spcBef>
                <a:spcPts val="0"/>
              </a:spcBef>
              <a:spcAft>
                <a:spcPts val="0"/>
              </a:spcAft>
            </a:pPr>
            <a:r>
              <a:rPr lang="tr-TR" sz="1700" b="0" i="0">
                <a:solidFill>
                  <a:srgbClr val="262626"/>
                </a:solidFill>
                <a:latin typeface="Calibri"/>
              </a:rPr>
              <a:t>c · Lagos (Nijerya)</a:t>
            </a:r>
          </a:p>
        </p:txBody>
      </p:sp>
      <p:sp>
        <p:nvSpPr>
          <p:cNvPr id="41" name="TextBox 4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42" name="Rounded Rectangle 4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38</a:t>
            </a:r>
          </a:p>
        </p:txBody>
      </p:sp>
      <p:sp>
        <p:nvSpPr>
          <p:cNvPr id="43" name="TextBox 4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41 / 226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Rotalarımız duvar haritasında</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PAYLAŞIM · 6 dk</a:t>
            </a:r>
          </a:p>
        </p:txBody>
      </p:sp>
      <p:sp>
        <p:nvSpPr>
          <p:cNvPr id="6" name="Rounded Rectangle 5"/>
          <p:cNvSpPr/>
          <p:nvPr/>
        </p:nvSpPr>
        <p:spPr>
          <a:xfrm>
            <a:off x="502920" y="1444752"/>
            <a:ext cx="5492343" cy="448056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444752"/>
            <a:ext cx="5492343" cy="530352"/>
          </a:xfrm>
          <a:prstGeom prst="roundRect">
            <a:avLst>
              <a:gd name="adj" fmla="val 25000"/>
            </a:avLst>
          </a:prstGeom>
          <a:solidFill>
            <a:srgbClr val="D3373A"/>
          </a:solidFill>
          <a:ln>
            <a:noFill/>
          </a:ln>
          <a:effectLst/>
        </p:spPr>
        <p:txBody>
          <a:bodyPr rtlCol="0" anchor="ctr"/>
          <a:lstStyle/>
          <a:p/>
        </p:txBody>
      </p:sp>
      <p:sp>
        <p:nvSpPr>
          <p:cNvPr id="8" name="Rectangle 7"/>
          <p:cNvSpPr/>
          <p:nvPr/>
        </p:nvSpPr>
        <p:spPr>
          <a:xfrm>
            <a:off x="502920" y="1709928"/>
            <a:ext cx="5492343" cy="265176"/>
          </a:xfrm>
          <a:prstGeom prst="rect">
            <a:avLst/>
          </a:prstGeom>
          <a:solidFill>
            <a:srgbClr val="D3373A"/>
          </a:solidFill>
          <a:ln>
            <a:noFill/>
          </a:ln>
          <a:effectLst/>
        </p:spPr>
        <p:txBody>
          <a:bodyPr rtlCol="0" anchor="ctr"/>
          <a:lstStyle/>
          <a:p/>
        </p:txBody>
      </p:sp>
      <p:sp>
        <p:nvSpPr>
          <p:cNvPr id="9" name="TextBox 8"/>
          <p:cNvSpPr txBox="1"/>
          <p:nvPr/>
        </p:nvSpPr>
        <p:spPr>
          <a:xfrm>
            <a:off x="594360" y="1444752"/>
            <a:ext cx="5309463" cy="530352"/>
          </a:xfrm>
          <a:prstGeom prst="rect">
            <a:avLst/>
          </a:prstGeom>
          <a:noFill/>
        </p:spPr>
        <p:txBody>
          <a:bodyPr wrap="square" anchor="ctr" lIns="73152" rIns="73152" tIns="36576" bIns="36576">
            <a:noAutofit/>
          </a:bodyPr>
          <a:lstStyle/>
          <a:p>
            <a:pPr algn="l">
              <a:spcBef>
                <a:spcPts val="0"/>
              </a:spcBef>
              <a:spcAft>
                <a:spcPts val="0"/>
              </a:spcAft>
            </a:pPr>
            <a:r>
              <a:rPr lang="tr-TR" sz="2400" b="1" i="0">
                <a:solidFill>
                  <a:srgbClr val="FFFFFF"/>
                </a:solidFill>
                <a:latin typeface="Calibri"/>
              </a:rPr>
              <a:t>Gemi rotası</a:t>
            </a:r>
          </a:p>
        </p:txBody>
      </p:sp>
      <p:sp>
        <p:nvSpPr>
          <p:cNvPr id="10" name="TextBox 9"/>
          <p:cNvSpPr txBox="1"/>
          <p:nvPr/>
        </p:nvSpPr>
        <p:spPr>
          <a:xfrm>
            <a:off x="612648" y="2048256"/>
            <a:ext cx="5272887" cy="3803904"/>
          </a:xfrm>
          <a:prstGeom prst="rect">
            <a:avLst/>
          </a:prstGeom>
          <a:noFill/>
        </p:spPr>
        <p:txBody>
          <a:bodyPr wrap="square" anchor="t" lIns="73152" rIns="73152" tIns="36576" bIns="36576">
            <a:noAutofit/>
          </a:bodyPr>
          <a:lstStyle/>
          <a:p>
            <a:pPr algn="l" marL="323206" indent="-323206">
              <a:spcBef>
                <a:spcPts val="0"/>
              </a:spcBef>
              <a:spcAft>
                <a:spcPts val="600"/>
              </a:spcAft>
            </a:pPr>
            <a:r>
              <a:rPr lang="tr-TR" sz="2600" b="1" i="0">
                <a:solidFill>
                  <a:srgbClr val="2C6696"/>
                </a:solidFill>
                <a:latin typeface="Calibri"/>
              </a:rPr>
              <a:t>•  </a:t>
            </a:r>
            <a:r>
              <a:rPr lang="tr-TR" sz="2600" b="0" i="0">
                <a:solidFill>
                  <a:srgbClr val="262626"/>
                </a:solidFill>
                <a:latin typeface="Calibri"/>
              </a:rPr>
              <a:t>Hangi okyanus ve denizlerden geçiyor?</a:t>
            </a:r>
          </a:p>
          <a:p>
            <a:pPr algn="l" marL="323206" indent="-323206">
              <a:spcBef>
                <a:spcPts val="0"/>
              </a:spcBef>
              <a:spcAft>
                <a:spcPts val="0"/>
              </a:spcAft>
            </a:pPr>
            <a:r>
              <a:rPr lang="tr-TR" sz="2600" b="1" i="0">
                <a:solidFill>
                  <a:srgbClr val="2C6696"/>
                </a:solidFill>
                <a:latin typeface="Calibri"/>
              </a:rPr>
              <a:t>•  </a:t>
            </a:r>
            <a:r>
              <a:rPr lang="tr-TR" sz="2600" b="0" i="0">
                <a:solidFill>
                  <a:srgbClr val="262626"/>
                </a:solidFill>
                <a:latin typeface="Calibri"/>
              </a:rPr>
              <a:t>Hangi boğaz ve kanallardan geçmek zorunda?</a:t>
            </a:r>
          </a:p>
        </p:txBody>
      </p:sp>
      <p:sp>
        <p:nvSpPr>
          <p:cNvPr id="11" name="Rounded Rectangle 10"/>
          <p:cNvSpPr/>
          <p:nvPr/>
        </p:nvSpPr>
        <p:spPr>
          <a:xfrm>
            <a:off x="6196431" y="1444752"/>
            <a:ext cx="5492343" cy="448056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6196431" y="1444752"/>
            <a:ext cx="5492343" cy="530352"/>
          </a:xfrm>
          <a:prstGeom prst="roundRect">
            <a:avLst>
              <a:gd name="adj" fmla="val 25000"/>
            </a:avLst>
          </a:prstGeom>
          <a:solidFill>
            <a:srgbClr val="2C6696"/>
          </a:solidFill>
          <a:ln>
            <a:noFill/>
          </a:ln>
          <a:effectLst/>
        </p:spPr>
        <p:txBody>
          <a:bodyPr rtlCol="0" anchor="ctr"/>
          <a:lstStyle/>
          <a:p/>
        </p:txBody>
      </p:sp>
      <p:sp>
        <p:nvSpPr>
          <p:cNvPr id="13" name="Rectangle 12"/>
          <p:cNvSpPr/>
          <p:nvPr/>
        </p:nvSpPr>
        <p:spPr>
          <a:xfrm>
            <a:off x="6196431" y="1709928"/>
            <a:ext cx="5492343" cy="265176"/>
          </a:xfrm>
          <a:prstGeom prst="rect">
            <a:avLst/>
          </a:prstGeom>
          <a:solidFill>
            <a:srgbClr val="2C6696"/>
          </a:solidFill>
          <a:ln>
            <a:noFill/>
          </a:ln>
          <a:effectLst/>
        </p:spPr>
        <p:txBody>
          <a:bodyPr rtlCol="0" anchor="ctr"/>
          <a:lstStyle/>
          <a:p/>
        </p:txBody>
      </p:sp>
      <p:sp>
        <p:nvSpPr>
          <p:cNvPr id="14" name="TextBox 13"/>
          <p:cNvSpPr txBox="1"/>
          <p:nvPr/>
        </p:nvSpPr>
        <p:spPr>
          <a:xfrm>
            <a:off x="6287871" y="1444752"/>
            <a:ext cx="5309463" cy="530352"/>
          </a:xfrm>
          <a:prstGeom prst="rect">
            <a:avLst/>
          </a:prstGeom>
          <a:noFill/>
        </p:spPr>
        <p:txBody>
          <a:bodyPr wrap="square" anchor="ctr" lIns="73152" rIns="73152" tIns="36576" bIns="36576">
            <a:noAutofit/>
          </a:bodyPr>
          <a:lstStyle/>
          <a:p>
            <a:pPr algn="l">
              <a:spcBef>
                <a:spcPts val="0"/>
              </a:spcBef>
              <a:spcAft>
                <a:spcPts val="0"/>
              </a:spcAft>
            </a:pPr>
            <a:r>
              <a:rPr lang="tr-TR" sz="2400" b="1" i="0">
                <a:solidFill>
                  <a:srgbClr val="FFFFFF"/>
                </a:solidFill>
                <a:latin typeface="Calibri"/>
              </a:rPr>
              <a:t>Uçak rotası</a:t>
            </a:r>
          </a:p>
        </p:txBody>
      </p:sp>
      <p:sp>
        <p:nvSpPr>
          <p:cNvPr id="15" name="TextBox 14"/>
          <p:cNvSpPr txBox="1"/>
          <p:nvPr/>
        </p:nvSpPr>
        <p:spPr>
          <a:xfrm>
            <a:off x="6306159" y="2048256"/>
            <a:ext cx="5272887" cy="3803904"/>
          </a:xfrm>
          <a:prstGeom prst="rect">
            <a:avLst/>
          </a:prstGeom>
          <a:noFill/>
        </p:spPr>
        <p:txBody>
          <a:bodyPr wrap="square" anchor="t" lIns="73152" rIns="73152" tIns="36576" bIns="36576">
            <a:noAutofit/>
          </a:bodyPr>
          <a:lstStyle/>
          <a:p>
            <a:pPr algn="l" marL="323206" indent="-323206">
              <a:spcBef>
                <a:spcPts val="0"/>
              </a:spcBef>
              <a:spcAft>
                <a:spcPts val="600"/>
              </a:spcAft>
            </a:pPr>
            <a:r>
              <a:rPr lang="tr-TR" sz="2600" b="1" i="0">
                <a:solidFill>
                  <a:srgbClr val="2C6696"/>
                </a:solidFill>
                <a:latin typeface="Calibri"/>
              </a:rPr>
              <a:t>•  </a:t>
            </a:r>
            <a:r>
              <a:rPr lang="tr-TR" sz="2600" b="0" i="0">
                <a:solidFill>
                  <a:srgbClr val="262626"/>
                </a:solidFill>
                <a:latin typeface="Calibri"/>
              </a:rPr>
              <a:t>Hangi kıtaları birbirine bağlıyor?</a:t>
            </a:r>
          </a:p>
          <a:p>
            <a:pPr algn="l" marL="323206" indent="-323206">
              <a:spcBef>
                <a:spcPts val="0"/>
              </a:spcBef>
              <a:spcAft>
                <a:spcPts val="0"/>
              </a:spcAft>
            </a:pPr>
            <a:r>
              <a:rPr lang="tr-TR" sz="2600" b="1" i="0">
                <a:solidFill>
                  <a:srgbClr val="2C6696"/>
                </a:solidFill>
                <a:latin typeface="Calibri"/>
              </a:rPr>
              <a:t>•  </a:t>
            </a:r>
            <a:r>
              <a:rPr lang="tr-TR" sz="2600" b="0" i="0">
                <a:solidFill>
                  <a:srgbClr val="262626"/>
                </a:solidFill>
                <a:latin typeface="Calibri"/>
              </a:rPr>
              <a:t>Aktarma havalimanı neden önemli olabilir?</a:t>
            </a:r>
          </a:p>
        </p:txBody>
      </p: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17" name="TextBox 1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42 / 226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Rotalarımız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11185855" cy="2651760"/>
          </a:xfrm>
          <a:prstGeom prst="roundRect">
            <a:avLst>
              <a:gd name="adj" fmla="val 6000"/>
            </a:avLst>
          </a:prstGeom>
          <a:solidFill>
            <a:srgbClr val="F9E1E1"/>
          </a:solidFill>
          <a:ln>
            <a:noFill/>
          </a:ln>
          <a:effectLst/>
        </p:spPr>
        <p:txBody>
          <a:bodyPr rtlCol="0" anchor="ctr"/>
          <a:lstStyle/>
          <a:p/>
        </p:txBody>
      </p:sp>
      <p:sp>
        <p:nvSpPr>
          <p:cNvPr id="7" name="Rectangle 6"/>
          <p:cNvSpPr/>
          <p:nvPr/>
        </p:nvSpPr>
        <p:spPr>
          <a:xfrm>
            <a:off x="502920" y="1216152"/>
            <a:ext cx="109728" cy="2651760"/>
          </a:xfrm>
          <a:prstGeom prst="rect">
            <a:avLst/>
          </a:prstGeom>
          <a:solidFill>
            <a:srgbClr val="D3373A"/>
          </a:solidFill>
          <a:ln>
            <a:noFill/>
          </a:ln>
          <a:effectLst/>
        </p:spPr>
        <p:txBody>
          <a:bodyPr rtlCol="0" anchor="ctr"/>
          <a:lstStyle/>
          <a:p/>
        </p:txBody>
      </p:sp>
      <p:sp>
        <p:nvSpPr>
          <p:cNvPr id="8" name="TextBox 7"/>
          <p:cNvSpPr txBox="1"/>
          <p:nvPr/>
        </p:nvSpPr>
        <p:spPr>
          <a:xfrm>
            <a:off x="731520" y="1271016"/>
            <a:ext cx="10865815" cy="2542032"/>
          </a:xfrm>
          <a:prstGeom prst="rect">
            <a:avLst/>
          </a:prstGeom>
          <a:noFill/>
        </p:spPr>
        <p:txBody>
          <a:bodyPr wrap="square" anchor="ctr" lIns="73152" rIns="73152" tIns="36576" bIns="36576">
            <a:noAutofit/>
          </a:bodyPr>
          <a:lstStyle/>
          <a:p>
            <a:pPr algn="l">
              <a:spcBef>
                <a:spcPts val="0"/>
              </a:spcBef>
              <a:spcAft>
                <a:spcPts val="400"/>
              </a:spcAft>
            </a:pPr>
            <a:r>
              <a:rPr lang="tr-TR" sz="2100" b="1" i="0">
                <a:solidFill>
                  <a:srgbClr val="D3373A"/>
                </a:solidFill>
                <a:latin typeface="Calibri"/>
              </a:rPr>
              <a:t>Gemi rotası</a:t>
            </a:r>
          </a:p>
          <a:p>
            <a:pPr algn="l">
              <a:spcBef>
                <a:spcPts val="0"/>
              </a:spcBef>
              <a:spcAft>
                <a:spcPts val="500"/>
              </a:spcAft>
            </a:pPr>
            <a:r>
              <a:rPr lang="tr-TR" sz="2100" b="0" i="0">
                <a:solidFill>
                  <a:srgbClr val="262626"/>
                </a:solidFill>
                <a:latin typeface="Calibri"/>
              </a:rPr>
              <a:t>Doğu Çin Denizi → Güney Çin Denizi → Malakka Boğazı → Hint Okyanusu (Arap Denizi) → Aden Körfezi → Babülmendep → Kızıldeniz → Süveyş Kanalı → Akdeniz → Cebelitarık → Atlas Okyanusu</a:t>
            </a:r>
          </a:p>
          <a:p>
            <a:pPr algn="l">
              <a:spcBef>
                <a:spcPts val="0"/>
              </a:spcBef>
              <a:spcAft>
                <a:spcPts val="0"/>
              </a:spcAft>
            </a:pPr>
            <a:r>
              <a:rPr lang="tr-TR" sz="2100" b="0" i="1">
                <a:solidFill>
                  <a:srgbClr val="767676"/>
                </a:solidFill>
                <a:latin typeface="Calibri"/>
              </a:rPr>
              <a:t>Kızıldeniz ve Akdeniz’i birbirine bağlamak için 1869 yılında Süveyş Kanalı açılmıştır.</a:t>
            </a:r>
          </a:p>
        </p:txBody>
      </p:sp>
      <p:sp>
        <p:nvSpPr>
          <p:cNvPr id="9" name="Rounded Rectangle 8"/>
          <p:cNvSpPr/>
          <p:nvPr/>
        </p:nvSpPr>
        <p:spPr>
          <a:xfrm>
            <a:off x="502920" y="4005072"/>
            <a:ext cx="11185855" cy="2240280"/>
          </a:xfrm>
          <a:prstGeom prst="roundRect">
            <a:avLst>
              <a:gd name="adj" fmla="val 6000"/>
            </a:avLst>
          </a:prstGeom>
          <a:solidFill>
            <a:srgbClr val="E3ECF5"/>
          </a:solidFill>
          <a:ln>
            <a:noFill/>
          </a:ln>
          <a:effectLst/>
        </p:spPr>
        <p:txBody>
          <a:bodyPr rtlCol="0" anchor="ctr"/>
          <a:lstStyle/>
          <a:p/>
        </p:txBody>
      </p:sp>
      <p:sp>
        <p:nvSpPr>
          <p:cNvPr id="10" name="Rectangle 9"/>
          <p:cNvSpPr/>
          <p:nvPr/>
        </p:nvSpPr>
        <p:spPr>
          <a:xfrm>
            <a:off x="502920" y="4005072"/>
            <a:ext cx="109728" cy="2240280"/>
          </a:xfrm>
          <a:prstGeom prst="rect">
            <a:avLst/>
          </a:prstGeom>
          <a:solidFill>
            <a:srgbClr val="2C6696"/>
          </a:solidFill>
          <a:ln>
            <a:noFill/>
          </a:ln>
          <a:effectLst/>
        </p:spPr>
        <p:txBody>
          <a:bodyPr rtlCol="0" anchor="ctr"/>
          <a:lstStyle/>
          <a:p/>
        </p:txBody>
      </p:sp>
      <p:sp>
        <p:nvSpPr>
          <p:cNvPr id="11" name="TextBox 10"/>
          <p:cNvSpPr txBox="1"/>
          <p:nvPr/>
        </p:nvSpPr>
        <p:spPr>
          <a:xfrm>
            <a:off x="731520" y="4059936"/>
            <a:ext cx="10865815" cy="2130552"/>
          </a:xfrm>
          <a:prstGeom prst="rect">
            <a:avLst/>
          </a:prstGeom>
          <a:noFill/>
        </p:spPr>
        <p:txBody>
          <a:bodyPr wrap="square" anchor="ctr" lIns="73152" rIns="73152" tIns="36576" bIns="36576">
            <a:noAutofit/>
          </a:bodyPr>
          <a:lstStyle/>
          <a:p>
            <a:pPr algn="l">
              <a:spcBef>
                <a:spcPts val="0"/>
              </a:spcBef>
              <a:spcAft>
                <a:spcPts val="400"/>
              </a:spcAft>
            </a:pPr>
            <a:r>
              <a:rPr lang="tr-TR" sz="2100" b="1" i="0">
                <a:solidFill>
                  <a:srgbClr val="2C6696"/>
                </a:solidFill>
                <a:latin typeface="Calibri"/>
              </a:rPr>
              <a:t>Uçak rotası</a:t>
            </a:r>
          </a:p>
          <a:p>
            <a:pPr algn="l">
              <a:spcBef>
                <a:spcPts val="0"/>
              </a:spcBef>
              <a:spcAft>
                <a:spcPts val="500"/>
              </a:spcAft>
            </a:pPr>
            <a:r>
              <a:rPr lang="tr-TR" sz="2100" b="0" i="0">
                <a:solidFill>
                  <a:srgbClr val="262626"/>
                </a:solidFill>
                <a:latin typeface="Calibri"/>
              </a:rPr>
              <a:t>Asya (Semerkant) → Avrupa (İstanbul) → Afrika (Lagos): üç kıtayı bağlar.</a:t>
            </a:r>
          </a:p>
          <a:p>
            <a:pPr algn="l">
              <a:spcBef>
                <a:spcPts val="0"/>
              </a:spcBef>
              <a:spcAft>
                <a:spcPts val="0"/>
              </a:spcAft>
            </a:pPr>
            <a:r>
              <a:rPr lang="tr-TR" sz="2100" b="0" i="0">
                <a:solidFill>
                  <a:srgbClr val="262626"/>
                </a:solidFill>
                <a:latin typeface="Calibri"/>
              </a:rPr>
              <a:t>İstanbul kıtalar arasında aktarma noktasıdır — 7. haftada Türkiye'nin konumunda göreceğiz.</a:t>
            </a:r>
          </a:p>
        </p:txBody>
      </p:sp>
      <p:sp>
        <p:nvSpPr>
          <p:cNvPr id="12" name="TextBox 1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13" name="TextBox 1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43 / 226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Bugün öğrendiklerimiz</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TOPARLAMA</a:t>
            </a:r>
          </a:p>
        </p:txBody>
      </p:sp>
      <p:sp>
        <p:nvSpPr>
          <p:cNvPr id="6" name="Rounded Rectangle 5"/>
          <p:cNvSpPr/>
          <p:nvPr/>
        </p:nvSpPr>
        <p:spPr>
          <a:xfrm>
            <a:off x="502920" y="1353312"/>
            <a:ext cx="3594506" cy="466344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353312"/>
            <a:ext cx="3594506" cy="530352"/>
          </a:xfrm>
          <a:prstGeom prst="roundRect">
            <a:avLst>
              <a:gd name="adj" fmla="val 25000"/>
            </a:avLst>
          </a:prstGeom>
          <a:solidFill>
            <a:srgbClr val="2C6696"/>
          </a:solidFill>
          <a:ln>
            <a:noFill/>
          </a:ln>
          <a:effectLst/>
        </p:spPr>
        <p:txBody>
          <a:bodyPr rtlCol="0" anchor="ctr"/>
          <a:lstStyle/>
          <a:p/>
        </p:txBody>
      </p:sp>
      <p:sp>
        <p:nvSpPr>
          <p:cNvPr id="8" name="Rectangle 7"/>
          <p:cNvSpPr/>
          <p:nvPr/>
        </p:nvSpPr>
        <p:spPr>
          <a:xfrm>
            <a:off x="502920" y="1618488"/>
            <a:ext cx="3594506" cy="265176"/>
          </a:xfrm>
          <a:prstGeom prst="rect">
            <a:avLst/>
          </a:prstGeom>
          <a:solidFill>
            <a:srgbClr val="2C6696"/>
          </a:solidFill>
          <a:ln>
            <a:noFill/>
          </a:ln>
          <a:effectLst/>
        </p:spPr>
        <p:txBody>
          <a:bodyPr rtlCol="0" anchor="ctr"/>
          <a:lstStyle/>
          <a:p/>
        </p:txBody>
      </p:sp>
      <p:sp>
        <p:nvSpPr>
          <p:cNvPr id="9" name="TextBox 8"/>
          <p:cNvSpPr txBox="1"/>
          <p:nvPr/>
        </p:nvSpPr>
        <p:spPr>
          <a:xfrm>
            <a:off x="594360" y="135331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300" b="1" i="0">
                <a:solidFill>
                  <a:srgbClr val="FFFFFF"/>
                </a:solidFill>
                <a:latin typeface="Calibri"/>
              </a:rPr>
              <a:t>Harita</a:t>
            </a:r>
          </a:p>
        </p:txBody>
      </p:sp>
      <p:sp>
        <p:nvSpPr>
          <p:cNvPr id="10" name="TextBox 9"/>
          <p:cNvSpPr txBox="1"/>
          <p:nvPr/>
        </p:nvSpPr>
        <p:spPr>
          <a:xfrm>
            <a:off x="612648" y="1956816"/>
            <a:ext cx="3375050" cy="3986784"/>
          </a:xfrm>
          <a:prstGeom prst="rect">
            <a:avLst/>
          </a:prstGeom>
          <a:noFill/>
        </p:spPr>
        <p:txBody>
          <a:bodyPr wrap="square" anchor="t" lIns="73152" rIns="73152" tIns="36576" bIns="36576">
            <a:noAutofit/>
          </a:bodyPr>
          <a:lstStyle/>
          <a:p>
            <a:pPr algn="l" marL="298344" indent="-298344">
              <a:spcBef>
                <a:spcPts val="0"/>
              </a:spcBef>
              <a:spcAft>
                <a:spcPts val="600"/>
              </a:spcAft>
            </a:pPr>
            <a:r>
              <a:rPr lang="tr-TR" sz="2400" b="1" i="0">
                <a:solidFill>
                  <a:srgbClr val="2C6696"/>
                </a:solidFill>
                <a:latin typeface="Calibri"/>
              </a:rPr>
              <a:t>•  </a:t>
            </a:r>
            <a:r>
              <a:rPr lang="tr-TR" sz="2400" b="0" i="0">
                <a:solidFill>
                  <a:srgbClr val="262626"/>
                </a:solidFill>
                <a:latin typeface="Calibri"/>
              </a:rPr>
              <a:t>küçültülmüş (ölçekli)</a:t>
            </a:r>
          </a:p>
          <a:p>
            <a:pPr algn="l" marL="298344" indent="-298344">
              <a:spcBef>
                <a:spcPts val="0"/>
              </a:spcBef>
              <a:spcAft>
                <a:spcPts val="600"/>
              </a:spcAft>
            </a:pPr>
            <a:r>
              <a:rPr lang="tr-TR" sz="2400" b="1" i="0">
                <a:solidFill>
                  <a:srgbClr val="2C6696"/>
                </a:solidFill>
                <a:latin typeface="Calibri"/>
              </a:rPr>
              <a:t>•  </a:t>
            </a:r>
            <a:r>
              <a:rPr lang="tr-TR" sz="2400" b="0" i="0">
                <a:solidFill>
                  <a:srgbClr val="262626"/>
                </a:solidFill>
                <a:latin typeface="Calibri"/>
              </a:rPr>
              <a:t>kuş bakışı</a:t>
            </a:r>
          </a:p>
          <a:p>
            <a:pPr algn="l" marL="298344" indent="-298344">
              <a:spcBef>
                <a:spcPts val="0"/>
              </a:spcBef>
              <a:spcAft>
                <a:spcPts val="0"/>
              </a:spcAft>
            </a:pPr>
            <a:r>
              <a:rPr lang="tr-TR" sz="2400" b="1" i="0">
                <a:solidFill>
                  <a:srgbClr val="2C6696"/>
                </a:solidFill>
                <a:latin typeface="Calibri"/>
              </a:rPr>
              <a:t>•  </a:t>
            </a:r>
            <a:r>
              <a:rPr lang="tr-TR" sz="2400" b="0" i="0">
                <a:solidFill>
                  <a:srgbClr val="262626"/>
                </a:solidFill>
                <a:latin typeface="Calibri"/>
              </a:rPr>
              <a:t>düzlem üzerine çizilmiş</a:t>
            </a:r>
          </a:p>
        </p:txBody>
      </p:sp>
      <p:sp>
        <p:nvSpPr>
          <p:cNvPr id="11" name="Rounded Rectangle 10"/>
          <p:cNvSpPr/>
          <p:nvPr/>
        </p:nvSpPr>
        <p:spPr>
          <a:xfrm>
            <a:off x="4298594" y="1353312"/>
            <a:ext cx="3594506" cy="466344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4298594" y="1353312"/>
            <a:ext cx="3594506" cy="530352"/>
          </a:xfrm>
          <a:prstGeom prst="roundRect">
            <a:avLst>
              <a:gd name="adj" fmla="val 25000"/>
            </a:avLst>
          </a:prstGeom>
          <a:solidFill>
            <a:srgbClr val="4F4F4F"/>
          </a:solidFill>
          <a:ln>
            <a:noFill/>
          </a:ln>
          <a:effectLst/>
        </p:spPr>
        <p:txBody>
          <a:bodyPr rtlCol="0" anchor="ctr"/>
          <a:lstStyle/>
          <a:p/>
        </p:txBody>
      </p:sp>
      <p:sp>
        <p:nvSpPr>
          <p:cNvPr id="13" name="Rectangle 12"/>
          <p:cNvSpPr/>
          <p:nvPr/>
        </p:nvSpPr>
        <p:spPr>
          <a:xfrm>
            <a:off x="4298594" y="1618488"/>
            <a:ext cx="3594506" cy="265176"/>
          </a:xfrm>
          <a:prstGeom prst="rect">
            <a:avLst/>
          </a:prstGeom>
          <a:solidFill>
            <a:srgbClr val="4F4F4F"/>
          </a:solidFill>
          <a:ln>
            <a:noFill/>
          </a:ln>
          <a:effectLst/>
        </p:spPr>
        <p:txBody>
          <a:bodyPr rtlCol="0" anchor="ctr"/>
          <a:lstStyle/>
          <a:p/>
        </p:txBody>
      </p:sp>
      <p:sp>
        <p:nvSpPr>
          <p:cNvPr id="14" name="TextBox 13"/>
          <p:cNvSpPr txBox="1"/>
          <p:nvPr/>
        </p:nvSpPr>
        <p:spPr>
          <a:xfrm>
            <a:off x="4390034" y="135331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300" b="1" i="0">
                <a:solidFill>
                  <a:srgbClr val="FFFFFF"/>
                </a:solidFill>
                <a:latin typeface="Calibri"/>
              </a:rPr>
              <a:t>Elemanlar</a:t>
            </a:r>
          </a:p>
        </p:txBody>
      </p:sp>
      <p:sp>
        <p:nvSpPr>
          <p:cNvPr id="15" name="TextBox 14"/>
          <p:cNvSpPr txBox="1"/>
          <p:nvPr/>
        </p:nvSpPr>
        <p:spPr>
          <a:xfrm>
            <a:off x="4408322" y="1956816"/>
            <a:ext cx="3375050" cy="3986784"/>
          </a:xfrm>
          <a:prstGeom prst="rect">
            <a:avLst/>
          </a:prstGeom>
          <a:noFill/>
        </p:spPr>
        <p:txBody>
          <a:bodyPr wrap="square" anchor="t" lIns="73152" rIns="73152" tIns="36576" bIns="36576">
            <a:noAutofit/>
          </a:bodyPr>
          <a:lstStyle/>
          <a:p>
            <a:pPr algn="l" marL="298344" indent="-298344">
              <a:spcBef>
                <a:spcPts val="0"/>
              </a:spcBef>
              <a:spcAft>
                <a:spcPts val="600"/>
              </a:spcAft>
            </a:pPr>
            <a:r>
              <a:rPr lang="tr-TR" sz="2400" b="1" i="0">
                <a:solidFill>
                  <a:srgbClr val="2C6696"/>
                </a:solidFill>
                <a:latin typeface="Calibri"/>
              </a:rPr>
              <a:t>•  </a:t>
            </a:r>
            <a:r>
              <a:rPr lang="tr-TR" sz="2400" b="0" i="0">
                <a:solidFill>
                  <a:srgbClr val="262626"/>
                </a:solidFill>
                <a:latin typeface="Calibri"/>
              </a:rPr>
              <a:t>başlık · çerçeve</a:t>
            </a:r>
          </a:p>
          <a:p>
            <a:pPr algn="l" marL="298344" indent="-298344">
              <a:spcBef>
                <a:spcPts val="0"/>
              </a:spcBef>
              <a:spcAft>
                <a:spcPts val="600"/>
              </a:spcAft>
            </a:pPr>
            <a:r>
              <a:rPr lang="tr-TR" sz="2400" b="1" i="0">
                <a:solidFill>
                  <a:srgbClr val="2C6696"/>
                </a:solidFill>
                <a:latin typeface="Calibri"/>
              </a:rPr>
              <a:t>•  </a:t>
            </a:r>
            <a:r>
              <a:rPr lang="tr-TR" sz="2400" b="0" i="0">
                <a:solidFill>
                  <a:srgbClr val="262626"/>
                </a:solidFill>
                <a:latin typeface="Calibri"/>
              </a:rPr>
              <a:t>coğrafi koordinatlar</a:t>
            </a:r>
          </a:p>
          <a:p>
            <a:pPr algn="l" marL="298344" indent="-298344">
              <a:spcBef>
                <a:spcPts val="0"/>
              </a:spcBef>
              <a:spcAft>
                <a:spcPts val="0"/>
              </a:spcAft>
            </a:pPr>
            <a:r>
              <a:rPr lang="tr-TR" sz="2400" b="1" i="0">
                <a:solidFill>
                  <a:srgbClr val="2C6696"/>
                </a:solidFill>
                <a:latin typeface="Calibri"/>
              </a:rPr>
              <a:t>•  </a:t>
            </a:r>
            <a:r>
              <a:rPr lang="tr-TR" sz="2400" b="0" i="0">
                <a:solidFill>
                  <a:srgbClr val="262626"/>
                </a:solidFill>
                <a:latin typeface="Calibri"/>
              </a:rPr>
              <a:t>lejant · yön oku · ölçek</a:t>
            </a:r>
          </a:p>
        </p:txBody>
      </p:sp>
      <p:sp>
        <p:nvSpPr>
          <p:cNvPr id="16" name="Rounded Rectangle 15"/>
          <p:cNvSpPr/>
          <p:nvPr/>
        </p:nvSpPr>
        <p:spPr>
          <a:xfrm>
            <a:off x="8094268" y="1353312"/>
            <a:ext cx="3594506" cy="466344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8094268" y="1353312"/>
            <a:ext cx="3594506" cy="530352"/>
          </a:xfrm>
          <a:prstGeom prst="roundRect">
            <a:avLst>
              <a:gd name="adj" fmla="val 25000"/>
            </a:avLst>
          </a:prstGeom>
          <a:solidFill>
            <a:srgbClr val="1E7B6E"/>
          </a:solidFill>
          <a:ln>
            <a:noFill/>
          </a:ln>
          <a:effectLst/>
        </p:spPr>
        <p:txBody>
          <a:bodyPr rtlCol="0" anchor="ctr"/>
          <a:lstStyle/>
          <a:p/>
        </p:txBody>
      </p:sp>
      <p:sp>
        <p:nvSpPr>
          <p:cNvPr id="18" name="Rectangle 17"/>
          <p:cNvSpPr/>
          <p:nvPr/>
        </p:nvSpPr>
        <p:spPr>
          <a:xfrm>
            <a:off x="8094268" y="1618488"/>
            <a:ext cx="3594506" cy="265176"/>
          </a:xfrm>
          <a:prstGeom prst="rect">
            <a:avLst/>
          </a:prstGeom>
          <a:solidFill>
            <a:srgbClr val="1E7B6E"/>
          </a:solidFill>
          <a:ln>
            <a:noFill/>
          </a:ln>
          <a:effectLst/>
        </p:spPr>
        <p:txBody>
          <a:bodyPr rtlCol="0" anchor="ctr"/>
          <a:lstStyle/>
          <a:p/>
        </p:txBody>
      </p:sp>
      <p:sp>
        <p:nvSpPr>
          <p:cNvPr id="19" name="TextBox 18"/>
          <p:cNvSpPr txBox="1"/>
          <p:nvPr/>
        </p:nvSpPr>
        <p:spPr>
          <a:xfrm>
            <a:off x="8185708" y="135331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300" b="1" i="0">
                <a:solidFill>
                  <a:srgbClr val="FFFFFF"/>
                </a:solidFill>
                <a:latin typeface="Calibri"/>
              </a:rPr>
              <a:t>Koordinat</a:t>
            </a:r>
          </a:p>
        </p:txBody>
      </p:sp>
      <p:sp>
        <p:nvSpPr>
          <p:cNvPr id="20" name="TextBox 19"/>
          <p:cNvSpPr txBox="1"/>
          <p:nvPr/>
        </p:nvSpPr>
        <p:spPr>
          <a:xfrm>
            <a:off x="8203996" y="1956816"/>
            <a:ext cx="3375050" cy="3986784"/>
          </a:xfrm>
          <a:prstGeom prst="rect">
            <a:avLst/>
          </a:prstGeom>
          <a:noFill/>
        </p:spPr>
        <p:txBody>
          <a:bodyPr wrap="square" anchor="t" lIns="73152" rIns="73152" tIns="36576" bIns="36576">
            <a:noAutofit/>
          </a:bodyPr>
          <a:lstStyle/>
          <a:p>
            <a:pPr algn="l" marL="298344" indent="-298344">
              <a:spcBef>
                <a:spcPts val="0"/>
              </a:spcBef>
              <a:spcAft>
                <a:spcPts val="600"/>
              </a:spcAft>
            </a:pPr>
            <a:r>
              <a:rPr lang="tr-TR" sz="2400" b="1" i="0">
                <a:solidFill>
                  <a:srgbClr val="2C6696"/>
                </a:solidFill>
                <a:latin typeface="Calibri"/>
              </a:rPr>
              <a:t>•  </a:t>
            </a:r>
            <a:r>
              <a:rPr lang="tr-TR" sz="2400" b="0" i="0">
                <a:solidFill>
                  <a:srgbClr val="262626"/>
                </a:solidFill>
                <a:latin typeface="Calibri"/>
              </a:rPr>
              <a:t>enlem: Ekvator'a göre</a:t>
            </a:r>
          </a:p>
          <a:p>
            <a:pPr algn="l" marL="298344" indent="-298344">
              <a:spcBef>
                <a:spcPts val="0"/>
              </a:spcBef>
              <a:spcAft>
                <a:spcPts val="600"/>
              </a:spcAft>
            </a:pPr>
            <a:r>
              <a:rPr lang="tr-TR" sz="2400" b="1" i="0">
                <a:solidFill>
                  <a:srgbClr val="2C6696"/>
                </a:solidFill>
                <a:latin typeface="Calibri"/>
              </a:rPr>
              <a:t>•  </a:t>
            </a:r>
            <a:r>
              <a:rPr lang="tr-TR" sz="2400" b="0" i="0">
                <a:solidFill>
                  <a:srgbClr val="262626"/>
                </a:solidFill>
                <a:latin typeface="Calibri"/>
              </a:rPr>
              <a:t>boylam: başlangıç meridyenine göre</a:t>
            </a:r>
          </a:p>
          <a:p>
            <a:pPr algn="l" marL="298344" indent="-298344">
              <a:spcBef>
                <a:spcPts val="0"/>
              </a:spcBef>
              <a:spcAft>
                <a:spcPts val="0"/>
              </a:spcAft>
            </a:pPr>
            <a:r>
              <a:rPr lang="tr-TR" sz="2400" b="1" i="0">
                <a:solidFill>
                  <a:srgbClr val="2C6696"/>
                </a:solidFill>
                <a:latin typeface="Calibri"/>
              </a:rPr>
              <a:t>•  </a:t>
            </a:r>
            <a:r>
              <a:rPr lang="tr-TR" sz="2400" b="0" i="0">
                <a:solidFill>
                  <a:srgbClr val="262626"/>
                </a:solidFill>
                <a:latin typeface="Calibri"/>
              </a:rPr>
              <a:t>GPS uydularla belirler</a:t>
            </a:r>
          </a:p>
        </p:txBody>
      </p:sp>
      <p:sp>
        <p:nvSpPr>
          <p:cNvPr id="21" name="TextBox 2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22" name="TextBox 2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44 / 226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Çıkış Kartı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4. HAFTA</a:t>
            </a:r>
          </a:p>
        </p:txBody>
      </p:sp>
      <p:sp>
        <p:nvSpPr>
          <p:cNvPr id="6" name="TextBox 5"/>
          <p:cNvSpPr txBox="1"/>
          <p:nvPr/>
        </p:nvSpPr>
        <p:spPr>
          <a:xfrm>
            <a:off x="502920" y="1170432"/>
            <a:ext cx="11185855" cy="502920"/>
          </a:xfrm>
          <a:prstGeom prst="rect">
            <a:avLst/>
          </a:prstGeom>
          <a:noFill/>
        </p:spPr>
        <p:txBody>
          <a:bodyPr wrap="square" anchor="t" lIns="73152" rIns="73152" tIns="36576" bIns="36576">
            <a:noAutofit/>
          </a:bodyPr>
          <a:lstStyle/>
          <a:p>
            <a:pPr algn="l">
              <a:spcBef>
                <a:spcPts val="0"/>
              </a:spcBef>
              <a:spcAft>
                <a:spcPts val="0"/>
              </a:spcAft>
            </a:pPr>
            <a:r>
              <a:rPr lang="tr-TR" sz="2200" b="0" i="0">
                <a:solidFill>
                  <a:srgbClr val="767676"/>
                </a:solidFill>
                <a:latin typeface="Calibri"/>
              </a:rPr>
              <a:t>Çıkmadan önce kâğıdına yaz:</a:t>
            </a:r>
          </a:p>
        </p:txBody>
      </p:sp>
      <p:sp>
        <p:nvSpPr>
          <p:cNvPr id="7" name="Rounded Rectangle 6"/>
          <p:cNvSpPr/>
          <p:nvPr/>
        </p:nvSpPr>
        <p:spPr>
          <a:xfrm>
            <a:off x="502920" y="1764792"/>
            <a:ext cx="11185855" cy="1399032"/>
          </a:xfrm>
          <a:prstGeom prst="roundRect">
            <a:avLst>
              <a:gd name="adj" fmla="val 10000"/>
            </a:avLst>
          </a:prstGeom>
          <a:solidFill>
            <a:srgbClr val="F0F0F0"/>
          </a:solidFill>
          <a:ln>
            <a:noFill/>
          </a:ln>
          <a:effectLst/>
        </p:spPr>
        <p:txBody>
          <a:bodyPr rtlCol="0" anchor="ctr"/>
          <a:lstStyle/>
          <a:p/>
        </p:txBody>
      </p:sp>
      <p:sp>
        <p:nvSpPr>
          <p:cNvPr id="8" name="Oval 7"/>
          <p:cNvSpPr/>
          <p:nvPr/>
        </p:nvSpPr>
        <p:spPr>
          <a:xfrm>
            <a:off x="667512" y="2144268"/>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1</a:t>
            </a:r>
          </a:p>
        </p:txBody>
      </p:sp>
      <p:sp>
        <p:nvSpPr>
          <p:cNvPr id="9" name="TextBox 8"/>
          <p:cNvSpPr txBox="1"/>
          <p:nvPr/>
        </p:nvSpPr>
        <p:spPr>
          <a:xfrm>
            <a:off x="1508760" y="1764792"/>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Bir haritanın başlıca elemanlarını yaz.</a:t>
            </a:r>
          </a:p>
        </p:txBody>
      </p:sp>
      <p:sp>
        <p:nvSpPr>
          <p:cNvPr id="10" name="Rounded Rectangle 9"/>
          <p:cNvSpPr/>
          <p:nvPr/>
        </p:nvSpPr>
        <p:spPr>
          <a:xfrm>
            <a:off x="502920" y="3328416"/>
            <a:ext cx="11185855" cy="1399032"/>
          </a:xfrm>
          <a:prstGeom prst="roundRect">
            <a:avLst>
              <a:gd name="adj" fmla="val 10000"/>
            </a:avLst>
          </a:prstGeom>
          <a:solidFill>
            <a:srgbClr val="F0F0F0"/>
          </a:solidFill>
          <a:ln>
            <a:noFill/>
          </a:ln>
          <a:effectLst/>
        </p:spPr>
        <p:txBody>
          <a:bodyPr rtlCol="0" anchor="ctr"/>
          <a:lstStyle/>
          <a:p/>
        </p:txBody>
      </p:sp>
      <p:sp>
        <p:nvSpPr>
          <p:cNvPr id="11" name="Oval 10"/>
          <p:cNvSpPr/>
          <p:nvPr/>
        </p:nvSpPr>
        <p:spPr>
          <a:xfrm>
            <a:off x="667512" y="3707892"/>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2</a:t>
            </a:r>
          </a:p>
        </p:txBody>
      </p:sp>
      <p:sp>
        <p:nvSpPr>
          <p:cNvPr id="12" name="TextBox 11"/>
          <p:cNvSpPr txBox="1"/>
          <p:nvPr/>
        </p:nvSpPr>
        <p:spPr>
          <a:xfrm>
            <a:off x="1508760" y="3328416"/>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Ölçek kullanılmadan yapılan kabataslak çizime ne denir; üzerinde ne yapılamaz?</a:t>
            </a:r>
          </a:p>
        </p:txBody>
      </p:sp>
      <p:sp>
        <p:nvSpPr>
          <p:cNvPr id="13" name="Rounded Rectangle 12"/>
          <p:cNvSpPr/>
          <p:nvPr/>
        </p:nvSpPr>
        <p:spPr>
          <a:xfrm>
            <a:off x="502920" y="4892040"/>
            <a:ext cx="11185855" cy="1399032"/>
          </a:xfrm>
          <a:prstGeom prst="roundRect">
            <a:avLst>
              <a:gd name="adj" fmla="val 10000"/>
            </a:avLst>
          </a:prstGeom>
          <a:solidFill>
            <a:srgbClr val="F0F0F0"/>
          </a:solidFill>
          <a:ln>
            <a:noFill/>
          </a:ln>
          <a:effectLst/>
        </p:spPr>
        <p:txBody>
          <a:bodyPr rtlCol="0" anchor="ctr"/>
          <a:lstStyle/>
          <a:p/>
        </p:txBody>
      </p:sp>
      <p:sp>
        <p:nvSpPr>
          <p:cNvPr id="14" name="Oval 13"/>
          <p:cNvSpPr/>
          <p:nvPr/>
        </p:nvSpPr>
        <p:spPr>
          <a:xfrm>
            <a:off x="667512" y="5271516"/>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3</a:t>
            </a:r>
          </a:p>
        </p:txBody>
      </p:sp>
      <p:sp>
        <p:nvSpPr>
          <p:cNvPr id="15" name="TextBox 14"/>
          <p:cNvSpPr txBox="1"/>
          <p:nvPr/>
        </p:nvSpPr>
        <p:spPr>
          <a:xfrm>
            <a:off x="1508760" y="4892040"/>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'40° 03' 00'' kuzey enlemi – 26° 13' 08'' doğu boylamı' ifadesinde hangi değer Ekvator'a, hangisi başlangıç meridyenine göre uzaklığı gösterir?</a:t>
            </a:r>
          </a:p>
        </p:txBody>
      </p: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17" name="Rounded Rectangle 1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35-37</a:t>
            </a:r>
          </a:p>
        </p:txBody>
      </p:sp>
      <p:sp>
        <p:nvSpPr>
          <p:cNvPr id="18" name="TextBox 1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45 / 226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 hafta evde</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4. HAFTA</a:t>
            </a:r>
          </a:p>
        </p:txBody>
      </p:sp>
      <p:sp>
        <p:nvSpPr>
          <p:cNvPr id="6" name="Rounded Rectangle 5"/>
          <p:cNvSpPr/>
          <p:nvPr/>
        </p:nvSpPr>
        <p:spPr>
          <a:xfrm>
            <a:off x="502920" y="1261872"/>
            <a:ext cx="11185855" cy="1161288"/>
          </a:xfrm>
          <a:prstGeom prst="roundRect">
            <a:avLst>
              <a:gd name="adj" fmla="val 8000"/>
            </a:avLst>
          </a:prstGeom>
          <a:solidFill>
            <a:srgbClr val="F0F0F0"/>
          </a:solidFill>
          <a:ln>
            <a:noFill/>
          </a:ln>
          <a:effectLst/>
        </p:spPr>
        <p:txBody>
          <a:bodyPr rtlCol="0" anchor="ctr"/>
          <a:lstStyle/>
          <a:p/>
        </p:txBody>
      </p:sp>
      <p:sp>
        <p:nvSpPr>
          <p:cNvPr id="7" name="Rounded Rectangle 6"/>
          <p:cNvSpPr/>
          <p:nvPr/>
        </p:nvSpPr>
        <p:spPr>
          <a:xfrm>
            <a:off x="502920" y="1261872"/>
            <a:ext cx="1600200" cy="1161288"/>
          </a:xfrm>
          <a:prstGeom prst="roundRect">
            <a:avLst>
              <a:gd name="adj" fmla="val 8000"/>
            </a:avLst>
          </a:prstGeom>
          <a:solidFill>
            <a:srgbClr val="2C6696"/>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ÇK</a:t>
            </a:r>
          </a:p>
        </p:txBody>
      </p:sp>
      <p:sp>
        <p:nvSpPr>
          <p:cNvPr id="8" name="TextBox 7"/>
          <p:cNvSpPr txBox="1"/>
          <p:nvPr/>
        </p:nvSpPr>
        <p:spPr>
          <a:xfrm>
            <a:off x="2240280" y="1261872"/>
            <a:ext cx="9357055" cy="1161288"/>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Çalışma kâğıdı Bölüm 1: harita, elemanlar, türler ve koordinat soruları (1-4).</a:t>
            </a:r>
          </a:p>
        </p:txBody>
      </p:sp>
      <p:sp>
        <p:nvSpPr>
          <p:cNvPr id="9" name="Rounded Rectangle 8"/>
          <p:cNvSpPr/>
          <p:nvPr/>
        </p:nvSpPr>
        <p:spPr>
          <a:xfrm>
            <a:off x="502920" y="2551176"/>
            <a:ext cx="11185855" cy="1161288"/>
          </a:xfrm>
          <a:prstGeom prst="roundRect">
            <a:avLst>
              <a:gd name="adj" fmla="val 8000"/>
            </a:avLst>
          </a:prstGeom>
          <a:solidFill>
            <a:srgbClr val="F0F0F0"/>
          </a:solidFill>
          <a:ln>
            <a:noFill/>
          </a:ln>
          <a:effectLst/>
        </p:spPr>
        <p:txBody>
          <a:bodyPr rtlCol="0" anchor="ctr"/>
          <a:lstStyle/>
          <a:p/>
        </p:txBody>
      </p:sp>
      <p:sp>
        <p:nvSpPr>
          <p:cNvPr id="10" name="Rounded Rectangle 9"/>
          <p:cNvSpPr/>
          <p:nvPr/>
        </p:nvSpPr>
        <p:spPr>
          <a:xfrm>
            <a:off x="502920" y="2551176"/>
            <a:ext cx="1600200" cy="1161288"/>
          </a:xfrm>
          <a:prstGeom prst="roundRect">
            <a:avLst>
              <a:gd name="adj" fmla="val 8000"/>
            </a:avLst>
          </a:prstGeom>
          <a:solidFill>
            <a:srgbClr val="2C6696"/>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Defter</a:t>
            </a:r>
          </a:p>
        </p:txBody>
      </p:sp>
      <p:sp>
        <p:nvSpPr>
          <p:cNvPr id="11" name="TextBox 10"/>
          <p:cNvSpPr txBox="1"/>
          <p:nvPr/>
        </p:nvSpPr>
        <p:spPr>
          <a:xfrm>
            <a:off x="2240280" y="2551176"/>
            <a:ext cx="9357055" cy="1161288"/>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Kitap s. 35, Konuya Başlarken 1. soru: tarih boyunca haritaya neden ihtiyaç duyuldu? Üç madde.</a:t>
            </a:r>
          </a:p>
        </p:txBody>
      </p:sp>
      <p:sp>
        <p:nvSpPr>
          <p:cNvPr id="12" name="Rounded Rectangle 11"/>
          <p:cNvSpPr/>
          <p:nvPr/>
        </p:nvSpPr>
        <p:spPr>
          <a:xfrm>
            <a:off x="502920" y="3840480"/>
            <a:ext cx="11185855" cy="1161288"/>
          </a:xfrm>
          <a:prstGeom prst="roundRect">
            <a:avLst>
              <a:gd name="adj" fmla="val 8000"/>
            </a:avLst>
          </a:prstGeom>
          <a:solidFill>
            <a:srgbClr val="F0F0F0"/>
          </a:solidFill>
          <a:ln>
            <a:noFill/>
          </a:ln>
          <a:effectLst/>
        </p:spPr>
        <p:txBody>
          <a:bodyPr rtlCol="0" anchor="ctr"/>
          <a:lstStyle/>
          <a:p/>
        </p:txBody>
      </p:sp>
      <p:sp>
        <p:nvSpPr>
          <p:cNvPr id="13" name="Rounded Rectangle 12"/>
          <p:cNvSpPr/>
          <p:nvPr/>
        </p:nvSpPr>
        <p:spPr>
          <a:xfrm>
            <a:off x="502920" y="3840480"/>
            <a:ext cx="1600200" cy="1161288"/>
          </a:xfrm>
          <a:prstGeom prst="roundRect">
            <a:avLst>
              <a:gd name="adj" fmla="val 8000"/>
            </a:avLst>
          </a:prstGeom>
          <a:solidFill>
            <a:srgbClr val="2C6696"/>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Oku</a:t>
            </a:r>
          </a:p>
        </p:txBody>
      </p:sp>
      <p:sp>
        <p:nvSpPr>
          <p:cNvPr id="14" name="TextBox 13"/>
          <p:cNvSpPr txBox="1"/>
          <p:nvPr/>
        </p:nvSpPr>
        <p:spPr>
          <a:xfrm>
            <a:off x="2240280" y="3840480"/>
            <a:ext cx="9357055" cy="1161288"/>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Kitap s. 39: 'Yerel Saat' ve 'Ulusal (Ortak) Saat' metinleri.</a:t>
            </a:r>
          </a:p>
        </p:txBody>
      </p:sp>
      <p:sp>
        <p:nvSpPr>
          <p:cNvPr id="15" name="Rounded Rectangle 14"/>
          <p:cNvSpPr/>
          <p:nvPr/>
        </p:nvSpPr>
        <p:spPr>
          <a:xfrm>
            <a:off x="502920" y="5129784"/>
            <a:ext cx="11185855" cy="1161288"/>
          </a:xfrm>
          <a:prstGeom prst="roundRect">
            <a:avLst>
              <a:gd name="adj" fmla="val 8000"/>
            </a:avLst>
          </a:prstGeom>
          <a:solidFill>
            <a:srgbClr val="F0F0F0"/>
          </a:solidFill>
          <a:ln>
            <a:noFill/>
          </a:ln>
          <a:effectLst/>
        </p:spPr>
        <p:txBody>
          <a:bodyPr rtlCol="0" anchor="ctr"/>
          <a:lstStyle/>
          <a:p/>
        </p:txBody>
      </p:sp>
      <p:sp>
        <p:nvSpPr>
          <p:cNvPr id="16" name="Rounded Rectangle 15"/>
          <p:cNvSpPr/>
          <p:nvPr/>
        </p:nvSpPr>
        <p:spPr>
          <a:xfrm>
            <a:off x="502920" y="5129784"/>
            <a:ext cx="1600200" cy="1161288"/>
          </a:xfrm>
          <a:prstGeom prst="roundRect">
            <a:avLst>
              <a:gd name="adj" fmla="val 8000"/>
            </a:avLst>
          </a:prstGeom>
          <a:solidFill>
            <a:srgbClr val="2C6696"/>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Getir</a:t>
            </a:r>
          </a:p>
        </p:txBody>
      </p:sp>
      <p:sp>
        <p:nvSpPr>
          <p:cNvPr id="17" name="TextBox 16"/>
          <p:cNvSpPr txBox="1"/>
          <p:nvPr/>
        </p:nvSpPr>
        <p:spPr>
          <a:xfrm>
            <a:off x="2240280" y="5129784"/>
            <a:ext cx="9357055" cy="1161288"/>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Atlas (ikili başına bir).</a:t>
            </a:r>
          </a:p>
        </p:txBody>
      </p:sp>
      <p:sp>
        <p:nvSpPr>
          <p:cNvPr id="18" name="TextBox 1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19" name="TextBox 1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46 / 226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Kaynaklar ve Haklar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KAYNAKÇA</a:t>
            </a:r>
          </a:p>
        </p:txBody>
      </p:sp>
      <p:sp>
        <p:nvSpPr>
          <p:cNvPr id="6" name="Rounded Rectangle 5"/>
          <p:cNvSpPr/>
          <p:nvPr/>
        </p:nvSpPr>
        <p:spPr>
          <a:xfrm>
            <a:off x="502920" y="1280160"/>
            <a:ext cx="11185855" cy="150876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Ders kitabı.</a:t>
            </a:r>
            <a:r>
              <a:rPr lang="tr-TR" sz="1650" b="0" i="0">
                <a:solidFill>
                  <a:srgbClr val="262626"/>
                </a:solidFill>
                <a:latin typeface="Calibri"/>
              </a:rPr>
              <a:t> Coğrafya 9. Sınıf Ders Kitabı (Ortaöğretim), 2026-2027 baskısı. </a:t>
            </a:r>
            <a:r>
              <a:rPr lang="tr-TR" sz="1650" b="1" i="0">
                <a:solidFill>
                  <a:srgbClr val="262626"/>
                </a:solidFill>
                <a:latin typeface="Calibri"/>
              </a:rPr>
              <a:t>Yazarlar:</a:t>
            </a:r>
            <a:r>
              <a:rPr lang="tr-TR" sz="1650" b="0" i="0">
                <a:solidFill>
                  <a:srgbClr val="262626"/>
                </a:solidFill>
                <a:latin typeface="Calibri"/>
              </a:rPr>
              <a:t> Dr. Gülten İçel, Alper Soyatlar, Beyhan Polat, Bülent Akça, Cem Erdebil, Kenan Türkez, Mehmet Ekici, Mutlu Karakoç, Nihal Öztürk, Nurullah Balşen, Orhan Ekin, Ramazan Bıçaklı, Raşit Düzgün, Soner Cırık, Tuba Dirim. Millî Eğitim Bakanlığı Yayınları No 9606 · Ders Kitapları Dizisi No 2027 · Devlet Kitapları, 2026 · ISBN 978-975-11-8046-9. Slaytlardaki “Kitap s. …” etiketleri bu baskının sayfalarıdır.</a:t>
            </a:r>
          </a:p>
        </p:txBody>
      </p:sp>
      <p:sp>
        <p:nvSpPr>
          <p:cNvPr id="7" name="Rounded Rectangle 6"/>
          <p:cNvSpPr/>
          <p:nvPr/>
        </p:nvSpPr>
        <p:spPr>
          <a:xfrm>
            <a:off x="502920" y="2916936"/>
            <a:ext cx="11185855" cy="114300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Öğretim programı ve etkinlikler.</a:t>
            </a:r>
            <a:r>
              <a:rPr lang="tr-TR" sz="1650" b="0" i="0">
                <a:solidFill>
                  <a:srgbClr val="262626"/>
                </a:solidFill>
                <a:latin typeface="Calibri"/>
              </a:rPr>
              <a:t> Coğrafya dersi öğretim programı (2026 nüshası): Talim ve Terbiye Kurulunun 23.05.2024 tarihli ve 20 sayılı kararıyla kabul edilen, 13.05.2026 tarihli ve 53 sayılı kararıyla güncellenen program. Etkinliklerin bir bölümü MEB Ortaöğretim Genel Müdürlüğünün OGM Materyal platformundaki etkileşimli etkinliklerle paralel kurulmuştur.</a:t>
            </a:r>
          </a:p>
        </p:txBody>
      </p:sp>
      <p:sp>
        <p:nvSpPr>
          <p:cNvPr id="8" name="Rounded Rectangle 7"/>
          <p:cNvSpPr/>
          <p:nvPr/>
        </p:nvSpPr>
        <p:spPr>
          <a:xfrm>
            <a:off x="502920" y="4187952"/>
            <a:ext cx="11185855" cy="137160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700" b="1" i="0">
                <a:solidFill>
                  <a:srgbClr val="262626"/>
                </a:solidFill>
                <a:latin typeface="Calibri"/>
              </a:rPr>
              <a:t>Haklar ve lisans.</a:t>
            </a:r>
            <a:r>
              <a:rPr lang="tr-TR" sz="1700" b="0" i="0">
                <a:solidFill>
                  <a:srgbClr val="262626"/>
                </a:solidFill>
                <a:latin typeface="Calibri"/>
              </a:rPr>
              <a:t> Ders kitabından ve OGM Materyal'den alınan metin, soru ve görsellerin hakları Millî Eğitim Bakanlığına aittir; eğitim ve öğretim amacıyla, kaynak gösterilerek alıntılanmıştır (5846 sayılı Fikir ve Sanat Eserleri Kanunu md. 34). Sunumun tasarımı, ders akışı, etkinlik kurgusu, örnek cevaplar ve öğretmen notları okulapp.org'un özgün katkısıdır; yalnız bu katkılar CC BY 4.0 lisansıyla paylaşılır. Resmî bir Bakanlık materyali değildir.</a:t>
            </a:r>
          </a:p>
        </p:txBody>
      </p:sp>
      <p:sp>
        <p:nvSpPr>
          <p:cNvPr id="9" name="TextBox 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2. Ünite: Mekânsal Bilgi Teknolojileri</a:t>
            </a:r>
          </a:p>
        </p:txBody>
      </p:sp>
      <p:sp>
        <p:nvSpPr>
          <p:cNvPr id="10" name="TextBox 9"/>
          <p:cNvSpPr txBox="1"/>
          <p:nvPr/>
        </p:nvSpPr>
        <p:spPr>
          <a:xfrm>
            <a:off x="8503920" y="6437376"/>
            <a:ext cx="32918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okulapp.org/cografya · sürüm 2026.10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GNL-COG9-SN-U2 — 4. hafta · Mekânın Aynası Haritalar I: Harita, Türler ve Koordinatlar (slayt 1-46)</dc:title>
  <dc:subject>9. Sınıf Coğrafya ders sunumu. Kaynak: Coğrafya 9. Sınıf Ders Kitabı (MEB, 2026-2027 baskısı) ve 2026 öğretim programı. okulapp.org/cografya</dc:subject>
  <dc:creator>okulapp.org</dc:creator>
  <cp:keywords/>
  <dc:description>Kitaptan ve OGM Materyal'den alınan metin, soru ve görsellerin hakları MEB'e aittir (5846 sayılı Kanun md. 34 kapsamında kaynak gösterilerek alıntı). Özgün katkılar CC BY 4.0 — okulapp.org</dc:description>
  <cp:lastModifiedBy>okulapp.org</cp:lastModifiedBy>
  <cp:revision>1</cp:revision>
  <dcterms:created xsi:type="dcterms:W3CDTF">2013-01-27T09:14:16Z</dcterms:created>
  <dcterms:modified xsi:type="dcterms:W3CDTF">2013-01-27T09:15:58Z</dcterms:modified>
  <cp:category>Ders materyali</cp:category>
  <dc:language>tr-TR</dc:language>
</cp:coreProperties>
</file>