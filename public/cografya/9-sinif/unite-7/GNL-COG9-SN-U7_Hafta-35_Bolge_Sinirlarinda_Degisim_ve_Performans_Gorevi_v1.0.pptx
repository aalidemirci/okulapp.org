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5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63"/>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63" Type="http://schemas.openxmlformats.org/officeDocument/2006/relationships/slide" Target="slides/slide56.xml"/><Relationship Id="rId69" Type="http://schemas.openxmlformats.org/officeDocument/2006/relationships/slide" Target="slides/slide1.xml"/><Relationship Id="rId70" Type="http://schemas.openxmlformats.org/officeDocument/2006/relationships/slide" Target="slides/slide2.xml"/><Relationship Id="rId71" Type="http://schemas.openxmlformats.org/officeDocument/2006/relationships/slide" Target="slides/slide3.xml"/><Relationship Id="rId72" Type="http://schemas.openxmlformats.org/officeDocument/2006/relationships/slide" Target="slides/slide4.xml"/><Relationship Id="rId73" Type="http://schemas.openxmlformats.org/officeDocument/2006/relationships/slide" Target="slides/slide5.xml"/><Relationship Id="rId74" Type="http://schemas.openxmlformats.org/officeDocument/2006/relationships/slide" Target="slides/slide6.xml"/><Relationship Id="rId75" Type="http://schemas.openxmlformats.org/officeDocument/2006/relationships/slide" Target="slides/slide7.xml"/><Relationship Id="rId76" Type="http://schemas.openxmlformats.org/officeDocument/2006/relationships/slide" Target="slides/slide8.xml"/><Relationship Id="rId77" Type="http://schemas.openxmlformats.org/officeDocument/2006/relationships/slide" Target="slides/slide9.xml"/><Relationship Id="rId78" Type="http://schemas.openxmlformats.org/officeDocument/2006/relationships/slide" Target="slides/slide10.xml"/><Relationship Id="rId79" Type="http://schemas.openxmlformats.org/officeDocument/2006/relationships/slide" Target="slides/slide11.xml"/><Relationship Id="rId80" Type="http://schemas.openxmlformats.org/officeDocument/2006/relationships/slide" Target="slides/slide12.xml"/><Relationship Id="rId81" Type="http://schemas.openxmlformats.org/officeDocument/2006/relationships/slide" Target="slides/slide13.xml"/><Relationship Id="rId82" Type="http://schemas.openxmlformats.org/officeDocument/2006/relationships/slide" Target="slides/slide14.xml"/><Relationship Id="rId83" Type="http://schemas.openxmlformats.org/officeDocument/2006/relationships/slide" Target="slides/slide15.xml"/><Relationship Id="rId84" Type="http://schemas.openxmlformats.org/officeDocument/2006/relationships/slide" Target="slides/slide16.xml"/><Relationship Id="rId85" Type="http://schemas.openxmlformats.org/officeDocument/2006/relationships/slide" Target="slides/slide17.xml"/><Relationship Id="rId86" Type="http://schemas.openxmlformats.org/officeDocument/2006/relationships/slide" Target="slides/slide18.xml"/><Relationship Id="rId87" Type="http://schemas.openxmlformats.org/officeDocument/2006/relationships/slide" Target="slides/slide19.xml"/><Relationship Id="rId88" Type="http://schemas.openxmlformats.org/officeDocument/2006/relationships/slide" Target="slides/slide20.xml"/><Relationship Id="rId89" Type="http://schemas.openxmlformats.org/officeDocument/2006/relationships/slide" Target="slides/slide21.xml"/><Relationship Id="rId90" Type="http://schemas.openxmlformats.org/officeDocument/2006/relationships/slide" Target="slides/slide22.xml"/><Relationship Id="rId91" Type="http://schemas.openxmlformats.org/officeDocument/2006/relationships/slide" Target="slides/slide23.xml"/><Relationship Id="rId92" Type="http://schemas.openxmlformats.org/officeDocument/2006/relationships/slide" Target="slides/slide24.xml"/><Relationship Id="rId93" Type="http://schemas.openxmlformats.org/officeDocument/2006/relationships/slide" Target="slides/slide25.xml"/><Relationship Id="rId94" Type="http://schemas.openxmlformats.org/officeDocument/2006/relationships/slide" Target="slides/slide26.xml"/><Relationship Id="rId95" Type="http://schemas.openxmlformats.org/officeDocument/2006/relationships/slide" Target="slides/slide27.xml"/><Relationship Id="rId96" Type="http://schemas.openxmlformats.org/officeDocument/2006/relationships/slide" Target="slides/slide28.xml"/><Relationship Id="rId97" Type="http://schemas.openxmlformats.org/officeDocument/2006/relationships/slide" Target="slides/slide29.xml"/><Relationship Id="rId98" Type="http://schemas.openxmlformats.org/officeDocument/2006/relationships/slide" Target="slides/slide30.xml"/><Relationship Id="rId99" Type="http://schemas.openxmlformats.org/officeDocument/2006/relationships/slide" Target="slides/slide31.xml"/><Relationship Id="rId100" Type="http://schemas.openxmlformats.org/officeDocument/2006/relationships/slide" Target="slides/slide32.xml"/><Relationship Id="rId101" Type="http://schemas.openxmlformats.org/officeDocument/2006/relationships/slide" Target="slides/slide33.xml"/><Relationship Id="rId102" Type="http://schemas.openxmlformats.org/officeDocument/2006/relationships/slide" Target="slides/slide34.xml"/><Relationship Id="rId103" Type="http://schemas.openxmlformats.org/officeDocument/2006/relationships/slide" Target="slides/slide35.xml"/><Relationship Id="rId104" Type="http://schemas.openxmlformats.org/officeDocument/2006/relationships/slide" Target="slides/slide36.xml"/><Relationship Id="rId105" Type="http://schemas.openxmlformats.org/officeDocument/2006/relationships/slide" Target="slides/slide37.xml"/><Relationship Id="rId106" Type="http://schemas.openxmlformats.org/officeDocument/2006/relationships/slide" Target="slides/slide38.xml"/><Relationship Id="rId107" Type="http://schemas.openxmlformats.org/officeDocument/2006/relationships/slide" Target="slides/slide39.xml"/><Relationship Id="rId108" Type="http://schemas.openxmlformats.org/officeDocument/2006/relationships/slide" Target="slides/slide40.xml"/><Relationship Id="rId109" Type="http://schemas.openxmlformats.org/officeDocument/2006/relationships/slide" Target="slides/slide41.xml"/><Relationship Id="rId110" Type="http://schemas.openxmlformats.org/officeDocument/2006/relationships/slide" Target="slides/slide42.xml"/><Relationship Id="rId111" Type="http://schemas.openxmlformats.org/officeDocument/2006/relationships/slide" Target="slides/slide43.xml"/><Relationship Id="rId112" Type="http://schemas.openxmlformats.org/officeDocument/2006/relationships/slide" Target="slides/slide44.xml"/><Relationship Id="rId113" Type="http://schemas.openxmlformats.org/officeDocument/2006/relationships/slide" Target="slides/slide45.xml"/><Relationship Id="rId114" Type="http://schemas.openxmlformats.org/officeDocument/2006/relationships/slide" Target="slides/slide46.xml"/><Relationship Id="rId115" Type="http://schemas.openxmlformats.org/officeDocument/2006/relationships/slide" Target="slides/slide47.xml"/><Relationship Id="rId116" Type="http://schemas.openxmlformats.org/officeDocument/2006/relationships/slide" Target="slides/slide48.xml"/><Relationship Id="rId117" Type="http://schemas.openxmlformats.org/officeDocument/2006/relationships/slide" Target="slides/slide49.xml"/><Relationship Id="rId118" Type="http://schemas.openxmlformats.org/officeDocument/2006/relationships/slide" Target="slides/slide50.xml"/><Relationship Id="rId119" Type="http://schemas.openxmlformats.org/officeDocument/2006/relationships/slide" Target="slides/slide51.xml"/><Relationship Id="rId120" Type="http://schemas.openxmlformats.org/officeDocument/2006/relationships/slide" Target="slides/slide52.xml"/><Relationship Id="rId121" Type="http://schemas.openxmlformats.org/officeDocument/2006/relationships/slide" Target="slides/slide53.xml"/><Relationship Id="rId122" Type="http://schemas.openxmlformats.org/officeDocument/2006/relationships/slide" Target="slides/slide54.xml"/><Relationship Id="rId123"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iki süreç bileşenini tanıtmak: geçen hafta bölge ve sınır hakkında varsayımda bulunduk, örüntüleri listeledik ve karşılaştırdık (a-c); bu hafta bölge ve sınırlar hakkında önerme sunacak (ç) ve bölgeyi, sınırlarını değerlendireceğiz (d). Ünite bu hafta biter.</a:t>
            </a:r>
          </a:p>
          <a:p/>
          <a:p>
            <a:r>
              <a:t>SÜRE: 80 dakikalık akış (ders planı, 35. hafta): giriş 4 · sınav dönütü (E) 10 · anlam çözümleme 12 · geçiş ve değişim, önerme 14 (40. dk) · geçiş (E) 2 · Avrupa Birliği 10 · performans görevi 16 · paylaşım ve formlar 6 · ünite kapanışı 6. Giriş 4 dk: ayraç ve yol haritası 1 · çıkış kartı dönütü 2 · tablo ve görev kartı kontrolü 1.</a:t>
            </a:r>
          </a:p>
          <a:p/>
          <a:p>
            <a:r>
              <a:t>NASIL: Çıktıyı öğrencinin diliyle söyleyin: 'Bugün bölgeleri türlerine ayıracak, sınırların nasıl değiştiğini konuşacak, Avrupa Birliği'nin sınırını haritada izleyecek ve grupça kendi bölgemizi oluşturacağız.' 2. dönem 2. yazılı sınav dönemi bu hafta başlar (07-18 Haziran 2027): sınav bu dersten önce yapıldıysa sınav dönütü aşaması uygulanır 65-66; yapılmadıysa o iki slayt atlanır, süre performans görevine (+4) ve paylaşıma (+6) eklenir. Sınav tarihi slayta yazılmaz.</a:t>
            </a:r>
          </a:p>
          <a:p/>
          <a:p>
            <a:r>
              <a:t>KAYNAK: Program (2026) COĞ.9.7.1 ç-d (birebir); ders planı 35. hafta; kitap 7.1.2-7.1.3 (s. 220-225, 2026-2027 baskısı; 7. ünitede sayfa kayması yok).</a:t>
            </a:r>
          </a:p>
          <a:p/>
          <a:p>
            <a:r>
              <a:t>NOT: Bu sunum yalnız okul içi ders kullanımı içindir: haritalar ve formlar MEB ders kitabından ve EBA'dan (kitabın karekod içerikleri) alınmıştır.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durağı bir cümleyle söyleyin. Dersin ilk yarısı (40. dk) 'geçiş ve değişim' bölümüyle biter; ikinci yarıda Avrupa Birliği etkinliği ve performans görevi vardır. Ünitenin ölçme soruları (s. 226-227) sunumun ünite sonu bölümündedir (146-187).</a:t>
            </a:r>
          </a:p>
          <a:p/>
          <a:p>
            <a:r>
              <a:t>KAYNAK: Ders planı 35.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34. haftanın çıkış kartlarındaki en sık karışıklığa (şekilsel ve işlevsel bölge) dönüt vermek; anlam çözümleme tablosunun kontrolüne hazırlık.</a:t>
            </a:r>
          </a:p>
          <a:p/>
          <a:p>
            <a:r>
              <a:t>NASIL: Çıkış kartlarındaki ortak yanlışı isimsiz ve tek cümleyle söyleyin (ör. 'Sınırı net olan her bölgeyi işlevsel sandık; oysa ölçüt sınır değil, merkez ve hareket.'). İki kartı okutun; simgeleri gösterin: solda her yer aynı özellikte (türdeş, merkez yok), sağda bir merkez ve ona bağlı çevre (hareket var). Bu sırada evde doldurulan s. 222 tablosunu ve grup görev kartını göz ucuyla kontrol edin (P2 derse hazırlık).</a:t>
            </a:r>
          </a:p>
          <a:p/>
          <a:p>
            <a:r>
              <a:t>BEKLENEN CEVAP: Şekilsel: kritere göre türdeş, belirli bir merkezi yok (ör. Akdeniz iklim bölgesi). İşlevsel: çekirdek (merkez) + ona bağlı çevre, aralarında hareket; etkileşim odaktan uzaklaştıkça azalır (ör. Rotterdam Limanı'nın taşımacılık bölgesi, bir gazetenin tiraj alanı).</a:t>
            </a:r>
          </a:p>
          <a:p/>
          <a:p>
            <a:r>
              <a:t>KAYNAK: Kitap s. 219 (birebir alıntılar); ders planı 35. hafta 1. aşama.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dönem 2. yazılının ortak hatalarını açıklamak (OKY md. 49/1) ve düzeltme cümlesiyle kapatmak (zümre kararı).</a:t>
            </a:r>
          </a:p>
          <a:p/>
          <a:p>
            <a:r>
              <a:t>SÜRE: 10 dk — esnek aşama, YALNIZ SINAV BU DERSTEN ÖNCE YAPILDIYSA. Yapılmadıysa bu iki slayt atlanır; süre performans görevine (+4 dk) ve paylaşıma (+6 dk) eklenir (ders planı ön hazırlık).</a:t>
            </a:r>
          </a:p>
          <a:p/>
          <a:p>
            <a:r>
              <a:t>NASIL: Şube analizini isimsiz yansıtın; tablo bir kalıptır: en çok yanlış yapılan üç soruyu tahtada bu sütunlarla doldurun (soru · ortak hata · doğru çözüm · konu). Sınavın içeriği sunumda yoktur; satırları sınavın cevap anahtarından siz doldurursunuz. Hatanın kaynağını üç başlıkla adlandırın: kavram, harita okuma, yönerge.</a:t>
            </a:r>
          </a:p>
          <a:p/>
          <a:p>
            <a:r>
              <a:t>KAYNAK: OKY md. 49/1 (ortak hataların açıklanması); zümre kararı (sınav dönütü ve telafi kaydı); 2. dönem 2. yazılı sınav dönemi 07-18 Haziran 2027 (Bakanlık penceresi, okul sınav takvimi). Sınav tarihi sunuma ve plana yazılmaz.</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Öğrencinin kendi hatasını 'ortak hata → doğru çözüm' kalıbıyla defterine yazması (SDB1.3); inceleme ve itiraz haklarını duyurmak.</a:t>
            </a:r>
          </a:p>
          <a:p/>
          <a:p>
            <a:r>
              <a:t>NASIL: Kâğıtları dağıtın; öğrenciler 4-5 dakikada kendi hatasını defterine yazar. Talep eden öğrencinin kâğıdını onunla bir kez daha inceleyeceğinizi söyleyin. İtiraz velinin yazılı başvurusuyla okul yönetimine yapılır. Telafi ders defterine işlenir (zümre kararı).</a:t>
            </a:r>
          </a:p>
          <a:p/>
          <a:p>
            <a:r>
              <a:t>BEKLENEN CEVAP: Örnek cevap sınavın içeriğine bağlıdır (kalıp slayt): 'Ortak hata: … → Doğru çözüm: …'.</a:t>
            </a:r>
          </a:p>
          <a:p/>
          <a:p>
            <a:r>
              <a:t>KAYNAK: OKY md. 49/3 (talep hâlinde sınav evrakının öğrenciyle bir defa daha incelenmesi), md. 49/4 (sonuçların ilanını takip eden 5 işgünü içinde veli yazılı itirazı).</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öğrenme kanıtı olan anlam çözümleme tablosunu (evde dolduruldu) ikili karşılaştırma ve karar anahtarıyla kontrol ettirmek (KB2.7, SBAB7.7).</a:t>
            </a:r>
          </a:p>
          <a:p/>
          <a:p>
            <a:r>
              <a:t>SÜRE: Anlam çözümleme 12 dk: ikili karşılaştırma 5 · ortak kontrol 5 (iki cevap slaytı ve tartışmalı örnekler) · YOKLAMA 5 2.</a:t>
            </a:r>
          </a:p>
          <a:p/>
          <a:p>
            <a:r>
              <a:t>NASIL: Öğrenciler tablolarını sıra arkadaşıyla karşılaştırır; FARKLI işaretledikleri örnekleri bulur, karar anahtarındaki iki soruyla gerekçesini söyler, değiştirmeye karar verirse farklı renk kalemle düzeltir (silmek yok). Tabloyu evde doldurmamış öğrenci arkadaşının tablosunu anahtarla sınar. Anahtar: önce 'merkez ve ona bağlı çevre, aralarında hareket var mı?' (varsa işlevsel); yoksa kriter türdeş, şekilsel → kriter doğal mı, beşerî mi?</a:t>
            </a:r>
          </a:p>
          <a:p/>
          <a:p>
            <a:r>
              <a:t>KAYNAK: Kitap s. 222 UYGULAMA yönergesi (birebir); s. 219 tanımları (anahtarın iki sorusu ve doğal / beşerî şekilsel bölgenin kriter listeleri); program: Öğrencilerin şekilsel ve işlevsel bölgelere yönelik öğrenmeleri anlam çözümleme tablosu ile değerlendirilebilir.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Tablonun 1-12. örneklerini tahtada birlikte işaretlemek.</a:t>
            </a:r>
          </a:p>
          <a:p/>
          <a:p>
            <a:r>
              <a:t>NASIL: Satırları sırayla okuyun; öğrenciler kendi tablolarındaki işareti parmakla gösterir (1 doğal · 2 beşerî · 3 işlevsel). Farklı işaretlenen satırları tahtaya yazın, cevap slaytında gerekçesiyle konuşun.</a:t>
            </a:r>
          </a:p>
          <a:p/>
          <a:p>
            <a:r>
              <a:t>BEKLENEN CEVAP: Doğal şekilsel: 1 Alp-Himalaya Dağlık Bölgesi (yer şekli); 3 Nil Nehri Havzası (su (hidrografik)); 6 Savan Bitki Örtüsü Bölgesi (bitki); 11 Tundra Toprakları Bölgesi (toprak) · Beşerî şekilsel: 2 Türk Kültür Bölgesi (kültür · kitap örneği); 5 Asya Kıtasının Kentsel Yerleşme Bölgeleri (yerleşme); 8 NATO (Kuzey Atlantik Anlaşması Örgütü) Bölgesi (siyasi, askerî iş birliği); 10 Asya Kıtasında Sık Nüfuslu Bölgeler (nüfus); 12 Dünyadaki Petrol Üretim Bölgeleri (üretim (ham madde)) · İşlevsel: 4 İstanbul Büyükşehir Belediyesi Yetki Alanı Bölgesi (metropoliten alan · kitap); 7 DOKAP (Doğu Karadeniz Projesi) Bölgesi (kalkınma projesi · EBA); 9 Türkiye İstatistik Kurumu (TÜİK) Akdeniz İstatistik Bölgesi (istatistik bölgesi · EBA)</a:t>
            </a:r>
          </a:p>
          <a:p/>
          <a:p>
            <a:r>
              <a:t>KAYNAK: Kitap s. 222 tablo (örnek adları birebir); s. 219 şekilsel/işlevsel tanımları ve örnekleri; EBA tema sonu e-ölçme soruları (kitabın s. 227 karekodu): bulmaca 2 istatistik bölgeleri ve 11 hizmet bölgeleri işlevsel bölge türü; 8. soru: hizmet, yönetim, istatistik ve kalkınma projesi bölgeleri işlevsel; bulmaca 12 KEİ 'işlevsel bölgelere örnek'.</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Ortak kontrol: her örneğin türünü ve gerekçesini (kriter) göstermek.</a:t>
            </a:r>
          </a:p>
          <a:p/>
          <a:p>
            <a:r>
              <a:t>NASIL: Her satırda önce bir öğrenciye türü ve gerekçeyi söyletin, sonra slaytla doğrulayın. 'Kitap' etiketli satırlar kitabın s. 219'da adını verdiği örneklerdir; 'EBA' etiketli satırlar kitabın karekodundaki tema sonu sorularına dayanır. (✓) EBA işareti: bu örnekte iki gerekçe de kabul edilir (sonraki slayt). Puanlanan, gerekçedir.</a:t>
            </a:r>
          </a:p>
          <a:p/>
          <a:p>
            <a:r>
              <a:t>BEKLENEN CEVAP: Doğal şekilsel: 1 Alp-Himalaya Dağlık Bölgesi (yer şekli); 3 Nil Nehri Havzası (su (hidrografik)); 6 Savan Bitki Örtüsü Bölgesi (bitki); 11 Tundra Toprakları Bölgesi (toprak) · Beşerî şekilsel: 2 Türk Kültür Bölgesi (kültür · kitap örneği); 5 Asya Kıtasının Kentsel Yerleşme Bölgeleri (yerleşme); 8 NATO (Kuzey Atlantik Anlaşması Örgütü) Bölgesi (siyasi, askerî iş birliği); 10 Asya Kıtasında Sık Nüfuslu Bölgeler (nüfus); 12 Dünyadaki Petrol Üretim Bölgeleri (üretim (ham madde)) · İşlevsel: 4 İstanbul Büyükşehir Belediyesi Yetki Alanı Bölgesi (metropoliten alan · kitap); 7 DOKAP (Doğu Karadeniz Projesi) Bölgesi (kalkınma projesi · EBA); 9 Türkiye İstatistik Kurumu (TÜİK) Akdeniz İstatistik Bölgesi (istatistik bölgesi · EBA)</a:t>
            </a:r>
          </a:p>
          <a:p/>
          <a:p>
            <a:r>
              <a:t>KAYNAK: Kitap s. 222 tablo (örnek adları birebir); s. 219 şekilsel/işlevsel tanımları ve örnekleri; EBA tema sonu e-ölçme soruları (kitabın s. 227 karekodu): bulmaca 2 istatistik bölgeleri ve 11 hizmet bölgeleri işlevsel bölge türü; 8. soru: hizmet, yönetim, istatistik ve kalkınma projesi bölgeleri işlevsel; bulmaca 12 KEİ 'işlevsel bölgelere örnek'.</a:t>
            </a:r>
          </a:p>
          <a:p/>
          <a:p>
            <a:r>
              <a:t>NOT: Kitap s. 219 'siyasi, askerî, ekonomik iş birliği gibi beşerî ve ekonomik unsurların esas alındığı bölgeleri' beşerî şekilsel sayar (NATO, KEİ); EBA ise KEİ'yi işlevsel bölge örneği verir — iki kaynak ayrışır, tek doğru dayatılmaz (ders planı ön hazırlık).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Tablonun 13-23. örneklerini tahtada birlikte işaretlemek.</a:t>
            </a:r>
          </a:p>
          <a:p/>
          <a:p>
            <a:r>
              <a:t>NASIL: Satırları sırayla okuyun; öğrenciler kendi tablolarındaki işareti parmakla gösterir (1 doğal · 2 beşerî · 3 işlevsel). Farklı işaretlenen satırları tahtaya yazın, cevap slaytında gerekçesiyle konuşun.</a:t>
            </a:r>
          </a:p>
          <a:p/>
          <a:p>
            <a:r>
              <a:t>BEKLENEN CEVAP: Doğal şekilsel: 14 Ekvatoral İklim Bölgesi (iklim); 16 Akdeniz İklim Bölgesi (iklim · kitap örneği); 19 Bozkır Bitki Örtüsü Bölgesi (bitki · kitap örneği); 21 Dünyadaki Kasırga Bölgeleri (afet) · Beşerî şekilsel: 15 Türkiye’nin Dağınık Kırsal Yerleşme Bölgeleri (yerleşme · kitap örneği); 18 Avrupa’daki Otomotiv Sanayi Bölgeleri (sanayi); 20 Asya Kıtasının Çeltik Tarımı Bölgeleri (tarım (üretim)); 22 Büyük Sahra Seyrek Nüfus Bölgesi (nüfus); 23 KEİ (Karadeniz Ekonomik İşbirliği) Bölgesi (ekonomik iş birliği) · İşlevsel: 13 Devlet Su İşleri Hizmet Bölgesi (hizmet bölgesi · EBA); 17 GAP (Güneydoğu Anadolu Projesi) Bölgesi (kalkınma projesi · EBA)</a:t>
            </a:r>
          </a:p>
          <a:p/>
          <a:p>
            <a:r>
              <a:t>KAYNAK: Kitap s. 222 tablo (örnek adları birebir); s. 219 şekilsel/işlevsel tanımları ve örnekleri; EBA tema sonu e-ölçme soruları (kitabın s. 227 karekodu): bulmaca 2 istatistik bölgeleri ve 11 hizmet bölgeleri işlevsel bölge türü; 8. soru: hizmet, yönetim, istatistik ve kalkınma projesi bölgeleri işlevsel; bulmaca 12 KEİ 'işlevsel bölgelere örnek'.</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Ortak kontrol: her örneğin türünü ve gerekçesini (kriter) göstermek.</a:t>
            </a:r>
          </a:p>
          <a:p/>
          <a:p>
            <a:r>
              <a:t>NASIL: Her satırda önce bir öğrenciye türü ve gerekçeyi söyletin, sonra slaytla doğrulayın. 'Kitap' etiketli satırlar kitabın s. 219'da adını verdiği örneklerdir; 'EBA' etiketli satırlar kitabın karekodundaki tema sonu sorularına dayanır. (✓) EBA işareti: bu örnekte iki gerekçe de kabul edilir (sonraki slayt). Puanlanan, gerekçedir.</a:t>
            </a:r>
          </a:p>
          <a:p/>
          <a:p>
            <a:r>
              <a:t>BEKLENEN CEVAP: Doğal şekilsel: 14 Ekvatoral İklim Bölgesi (iklim); 16 Akdeniz İklim Bölgesi (iklim · kitap örneği); 19 Bozkır Bitki Örtüsü Bölgesi (bitki · kitap örneği); 21 Dünyadaki Kasırga Bölgeleri (afet) · Beşerî şekilsel: 15 Türkiye’nin Dağınık Kırsal Yerleşme Bölgeleri (yerleşme · kitap örneği); 18 Avrupa’daki Otomotiv Sanayi Bölgeleri (sanayi); 20 Asya Kıtasının Çeltik Tarımı Bölgeleri (tarım (üretim)); 22 Büyük Sahra Seyrek Nüfus Bölgesi (nüfus); 23 KEİ (Karadeniz Ekonomik İşbirliği) Bölgesi (ekonomik iş birliği) · İşlevsel: 13 Devlet Su İşleri Hizmet Bölgesi (hizmet bölgesi · EBA); 17 GAP (Güneydoğu Anadolu Projesi) Bölgesi (kalkınma projesi · EBA)</a:t>
            </a:r>
          </a:p>
          <a:p/>
          <a:p>
            <a:r>
              <a:t>KAYNAK: Kitap s. 222 tablo (örnek adları birebir); s. 219 şekilsel/işlevsel tanımları ve örnekleri; EBA tema sonu e-ölçme soruları (kitabın s. 227 karekodu): bulmaca 2 istatistik bölgeleri ve 11 hizmet bölgeleri işlevsel bölge türü; 8. soru: hizmet, yönetim, istatistik ve kalkınma projesi bölgeleri işlevsel; bulmaca 12 KEİ 'işlevsel bölgelere örnek'.</a:t>
            </a:r>
          </a:p>
          <a:p/>
          <a:p>
            <a:r>
              <a:t>NOT: Kitap s. 219 'siyasi, askerî, ekonomik iş birliği gibi beşerî ve ekonomik unsurların esas alındığı bölgeleri' beşerî şekilsel sayar (NATO, KEİ); EBA ise KEİ'yi işlevsel bölge örneği verir — iki kaynak ayrışır, tek doğru dayatılmaz (ders planı ön hazırlık).</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açıkça sınıflandırmadığı ya da kaynakların ayrıştığı örneklerde gerekçeli karar vermeyi öğretmek (d: bölgeyi değerlendirir).</a:t>
            </a:r>
          </a:p>
          <a:p/>
          <a:p>
            <a:r>
              <a:t>NASIL: Üç kartı okuyun. Soldaki iki kart sınıfın en çok karıştırdığı örneklerdir: kurumların belirlediği bölgelerde bir merkez (kurumun bölge müdürlüğü, proje yönetimi) ve ona bağlı çevre vardır → işlevsel. Sağdaki kartta kitap ile EBA ayrışır: kitap iş birliği örgütlerini beşerî şekilsel sayar, EBA KEİ'yi işlevsel örnek verir. Öğrenciye 'iki gerekçeden hangisini seçiyorsun, neden?' diye sorun; iki gerekçe de kabul edilir.</a:t>
            </a:r>
          </a:p>
          <a:p/>
          <a:p>
            <a:r>
              <a:t>BEKLENEN CEVAP: GAP, DOKAP: kalkınma projesi bölgesi → işlevsel. DSİ hizmet bölgesi, TÜİK istatistik bölgesi: kurumun belirlediği hizmet ya da veri bölgesi → işlevsel. NATO, KEİ: üye ülkelerin iş birliği → kitaba göre beşerî şekilsel; üyeler arası etkileşim gerekçesiyle işlevsel (EBA) de kabul.</a:t>
            </a:r>
          </a:p>
          <a:p/>
          <a:p>
            <a:r>
              <a:t>KAYNAK: Kitap s. 219 (birebir alıntı); EBA tema sonu e-ölçme: işlevsel bölgelere örnek verilebilecek ekonomik iş birliği örgütünün kısaltması (bulmaca 12, cevap KEİ); 8. soru 'işlevsel bölgeler arasında yer almaz' → nüfus bölgeleri (seçeneklerde hizmet, yönetim, istatistik, kalkınma projesi bölgeleri).</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Zaman kalmazsa yoklama atlanır (ders planı). </a:t>
            </a:r>
          </a:p>
          <a:p/>
          <a:p>
            <a:r>
              <a:t>BEKLENEN CEVAP: C) İstanbul Büyükşehir Belediyesi Yetki Alanı Bölgesi</a:t>
            </a:r>
          </a:p>
          <a:p/>
          <a:p>
            <a:r>
              <a:t>KAYNAK: Kitap s. 219 (metropoliten alan) ve s. 222 tablo örnekleri.</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Kitap: bir metropoliten alan, belirli bir şehirsel yönetimin yetkisi altındaki tüm araziyi içeren işlevsel bir bölgedir. Diğerleri kritere göre türdeş şekilsel bölgelerdir.</a:t>
            </a:r>
          </a:p>
          <a:p/>
          <a:p>
            <a:r>
              <a:t>BEKLENEN CEVAP: C) İstanbul Büyükşehir Belediyesi Yetki Alanı Bölgesi</a:t>
            </a:r>
          </a:p>
          <a:p/>
          <a:p>
            <a:r>
              <a:t>KAYNAK: Kitap s. 219 (metropoliten alan) ve s. 222 tablo örnekleri.</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sorusu: bir bölgeden diğerine geçerken coğrafi koşullar aniden mi değişir? İki haritanın sınırlarını karşılaştırarak geçişli ve net sınırı keşfettirmek (SBAB7.8).</a:t>
            </a:r>
          </a:p>
          <a:p/>
          <a:p>
            <a:r>
              <a:t>SÜRE: Geçiş ve değişim 14 dk: sınır çizgi mi kuşak mı 3 · kriter değişince sınır ve değişim süresi 3 · önerme kurma 4 · önerme değerlendirme 2 · YOKLAMA 6 2.</a:t>
            </a:r>
          </a:p>
          <a:p/>
          <a:p>
            <a:r>
              <a:t>NASIL: Haritaları 30 saniye inceletin: 'Soldaki haritada bir renkten diğerine geçerken sınır nerede? Sağdakinde?' Parmakla tahtada gösterecek iki gönüllü alın. Haritalar 34. haftada ayrıntılı incelendi (Kritere Göre Bölgeler); bugün yalnız sınırların biçimine bakıyoruz.</a:t>
            </a:r>
          </a:p>
          <a:p/>
          <a:p>
            <a:r>
              <a:t>BEKLENEN CEVAP: Soldaki haritada renk alanları iç içe girer, sınır bir kuşaktır (geçiş alanı); sağdakinde sınırlar il sınırlarını izler, nettir (bir sonraki slayt).</a:t>
            </a:r>
          </a:p>
          <a:p/>
          <a:p>
            <a:r>
              <a:t>KAYNAK: Kitap s. 220 'Türkiye’de Bitki Topluluklarının Dağılışı Haritası', s. 221 'Türkiye Karayolları Genel Müdürlüğü Hizmet Bölgeleri Haritası' (kırpım; başlıklar birebir); program: Bir bölgeden diğerine geçerken coğrafi koşulların aniden değişip değişmediği, bölge sınırlarındaki geçiş özelliği çerçevesinde tartışılır.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Geçişli (kuşak) ve net (çizgi) sınırı kitabın cümlesiyle adlandırmak.</a:t>
            </a:r>
          </a:p>
          <a:p/>
          <a:p>
            <a:r>
              <a:t>NASIL: İki etiketi gösterin, kitabın iki cümlesini okutun. Sorun: 'Hangi bölgenin sınırını çizmek daha zor? Neden?' Doğal bitki örtüsünde bir topluluktan diğerine kademeli geçilir; hizmet bölgesi kurumun belirlediği il sınırlarından geçer. Not: kitaptaki bitki örtüsü-deniz turizmi karşılaştırması aynı mantıktır.</a:t>
            </a:r>
          </a:p>
          <a:p/>
          <a:p>
            <a:r>
              <a:t>BEKLENEN CEVAP: Bitki toplulukları: sınır geçişli, bir topluluktan diğerine geçiş alanı var (doğal kriter). KGM hizmet bölgeleri: sınır net, il sınırlarını izler (kurumun belirlediği işlevsel bölge). Koşullar çoğunlukla aniden değil, kademeli değişir; net sınır çoğu kez insanın belirlediği sınırdır.</a:t>
            </a:r>
          </a:p>
          <a:p/>
          <a:p>
            <a:r>
              <a:t>KAYNAK: Kitap s. 220 (iki cümle birebir); haritalar s. 220-221 (sayfa görüntüsünden: bitki topluluklarının renk alanları iç içe; KGM bölgelerinin sınırları il sınırlarıyla çakışık).</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7.1.3'ün ana fikrini (kriter değişince sınır değişir) kitabın örneğiyle şemalaştırmak.</a:t>
            </a:r>
          </a:p>
          <a:p/>
          <a:p>
            <a:r>
              <a:t>NASIL: Kitabın iki cümlesini okutun; şemada 'önce' ve 'sonra' panellerini gösterin: yıldızlı yer önce seyrek nüfuslu bölgede; yeni bir fabrika, liman ya da üniversite gibi sebeplerle nüfus orada toplanınca yoğun nüfuslu bölgenin sınırı genişleyip o yeri içine alır. 'Sınırı değiştiren ne? — Kriterin (nüfus) değeri.' sorusuyla bitirin.</a:t>
            </a:r>
          </a:p>
          <a:p/>
          <a:p>
            <a:r>
              <a:t>BEKLENEN CEVAP: Bölgenin sınırı, kriterin değeri değiştiğinde değişir (seyrek → yoğun nüfus).</a:t>
            </a:r>
          </a:p>
          <a:p/>
          <a:p>
            <a:r>
              <a:t>KAYNAK: Kitap s. 223 (iki cümle birebir); şema sunumun çizimidir (sebep örnekleri bilimsel, kitapta 'farklı sebeplerle').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Değişim süresinin bölge türüne göre değiştiğini tahminle keşfettirmek (SBAB4.2).</a:t>
            </a:r>
          </a:p>
          <a:p/>
          <a:p>
            <a:r>
              <a:t>NASIL: Üç kartı okuyun; öğrenciler en çabuk değişenden en yavaş değişene sıralar ve türünü söyler (30 sn, ikili). İki-üç sıralama alın; cevap slaytında kitabın cümleleriyle doğrulayın.</a:t>
            </a:r>
          </a:p>
          <a:p/>
          <a:p>
            <a:r>
              <a:t>BEKLENEN CEVAP: Gazetenin tiraj alanı (işlevsel) → pamuk üretim bölgeleri (beşerî şekilsel) → Kızılırmak Nehri Havzası (doğal şekilsel).</a:t>
            </a:r>
          </a:p>
          <a:p/>
          <a:p>
            <a:r>
              <a:t>KAYNAK: Kitap s. 219 (üç örnek birebir), s. 223 (değişim süresi).</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Değişim süresini bölge türüne bağlamak (kitabın iki cümlesi).</a:t>
            </a:r>
          </a:p>
          <a:p/>
          <a:p>
            <a:r>
              <a:t>NASIL: Sıralamayı gösterin, üç cümleyi okutun. Gazetenin satış alanı 'gün içerisinde bile' değişebilir: işlevsel bölgenin sınırı çok kısa sürede değişebilir. Pamuk ekim alanları tarım koşulları ve talep değiştikçe birkaç yılda değişebilir; bir akarsu havzasının sınırı (su bölümü çizgisi) yer şekillerine bağlıdır, çok uzun zamanda değişir.</a:t>
            </a:r>
          </a:p>
          <a:p/>
          <a:p>
            <a:r>
              <a:t>BEKLENEN CEVAP: 1 gazetenin tiraj alanı (işlevsel; kısa) · 2 pamuk üretim bölgeleri (beşerî şekilsel; kısa) · 3 Kızılırmak Nehri Havzası (doğal şekilsel; uzun).</a:t>
            </a:r>
          </a:p>
          <a:p/>
          <a:p>
            <a:r>
              <a:t>KAYNAK: Kitap s. 219 ('Hatta gazetenin satış alanı gün içerisinde bile değişebilir.'), s. 223 (iki cümle birebir). Pamuk ve havza açıklaması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Süreç bileşeni ç: bölge ve bölge sınırları hakkında önerme sunmak (KB2.17, SBAB4.2).</a:t>
            </a:r>
          </a:p>
          <a:p/>
          <a:p>
            <a:r>
              <a:t>NASIL: Kalıbı okuyun. Her grup iki önerme yazar: biri doğal, biri beşerî ya da işlevsel bir bölge için; her önermenin yanına değişimin süresini (kısa / uzun) yazar. Yazıcı yazar, sözcü okur. Çevre ve İklim Değişikliği Haftası (Haziran'ın 2. haftası) için ipucu kartını kullanabilirler. 4 dakika sonra dört grup okur; sınıf işaretle değerlendirir (sonraki slaytlar).</a:t>
            </a:r>
          </a:p>
          <a:p/>
          <a:p>
            <a:r>
              <a:t>BEKLENEN CEVAP: Örnek önermeler bir sonraki slayttadır; ölçüt: kriter açık mı, neden-sonuç tutarlı mı, süre bölge türüne uygun mu.</a:t>
            </a:r>
          </a:p>
          <a:p/>
          <a:p>
            <a:r>
              <a:t>KAYNAK: Program: Bölgeler ile bölge sınırlarının zaman ve amaca göre değişebileceğine ilişkin önermelerde bulunulur (KB2.17, SBAB4.2); kitap s. 223; ders planı 4. aşama ve notlar (Çevre ve İklim Değişikliği Haftası; 3. ünite COĞ.9.3.4 bağı).</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Ölçütleri karşılayan örnek önermeler göstermek (tek doğru cevap değildir).</a:t>
            </a:r>
          </a:p>
          <a:p/>
          <a:p>
            <a:r>
              <a:t>NASIL: Grup önermeleri okunduktan sonra gösterin. Üç önermeyi alttaki üç ölçütle sınayın: kriter açık mı (iklim, nüfus, merkez), neden-sonuç tutarlı mı, süre bölge türüne uygun mu (s. 223). Grupların önermelerinden ölçütleri karşılayanları tahtaya yazın.</a:t>
            </a:r>
          </a:p>
          <a:p/>
          <a:p>
            <a:r>
              <a:t>BEKLENEN CEVAP: 1) İklim bölgesi: koşullar uzun süre değişirse sınır değişir — uzun sürede (doğal şekilsel). 2) Seyrek → yoğun nüfus: kitabın örneği — daha kısa sürede (beşerî şekilsel). 3) Şehre yeni havaalanı: odak noktasının etkisi artar, işlevsel bölgenin sınırı genişleyebilir — kısa sürede.</a:t>
            </a:r>
          </a:p>
          <a:p/>
          <a:p>
            <a:r>
              <a:t>KAYNAK: Kitap s. 223 (değişim ve süre), s. 219 (odak noktası: 'bir şehir, bir havaalanı veya bir alışveriş merkezi'); iklim önermesi bilimsel — 3. ünite iklim değişikliği (COĞ.9.3.4) ile bağ; kitabın bu ünitesinde iklim değişikliği geçmez.</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Süreç bileşeni d: bir önermeyi ölçütlerle değerlendirmek; grupların önermelerini aynı ölçütlerle değerlendirmeye hazırlık.</a:t>
            </a:r>
          </a:p>
          <a:p/>
          <a:p>
            <a:r>
              <a:t>NASIL: Önermeyi okuyun. Öğrenciler başparmakla işaret eder (yukarı: katılıyorum, aşağı: katılmıyorum). İki farklı işaretten birer gerekçe alın; üç soruyu tek tek sorun. Sonra aynı işaretle dört grubun önermesi değerlendirilir (ders planı).</a:t>
            </a:r>
          </a:p>
          <a:p/>
          <a:p>
            <a:r>
              <a:t>BEKLENEN CEVAP: Katılmıyorum: kriter yer şeklidir, yol yer şeklini değiştirmez; doğal şekilsel bölgenin sınırı uzun zamanda değişir (s. 223).</a:t>
            </a:r>
          </a:p>
          <a:p/>
          <a:p>
            <a:r>
              <a:t>KAYNAK: Kitap s. 223; s. 222 tablo örneği (Alp-Himalaya Dağlık Bölgesi). Önerme sunumun kurgusudur.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Değerlendirmenin gerekçeli örneğini göstermek.</a:t>
            </a:r>
          </a:p>
          <a:p/>
          <a:p>
            <a:r>
              <a:t>NASIL: Üç cevabı soru slaytındaki sırayla okutun. Önermeyi düzeltmeyi isteyin: 'Yol hangi bölgenin sınırını değiştirebilir?' — bir şehrin etki alanı (işlevsel) ya da yerleşme bölgesi (beşerî).</a:t>
            </a:r>
          </a:p>
          <a:p/>
          <a:p>
            <a:r>
              <a:t>BEKLENEN CEVAP: Katılmıyorum. 1) Kriter yer şeklidir; yol yer şeklini değiştirmez, ulaşımı değiştirir. 2) Neden (yol) ile sonuç (dağlık bölgenin sınırı) arasında bağ yok. 3) Doğal şekilsel bölgenin sınırı daha uzun zaman diliminde değişir; 'birkaç yıl' uymaz. Düzeltilmiş önerme: 'Eğer dağın eteğine yeni bir yol yapılırsa yakındaki şehrin işlevsel bölgesinin sınırı genişleyebilir.'</a:t>
            </a:r>
          </a:p>
          <a:p/>
          <a:p>
            <a:r>
              <a:t>KAYNAK: Kitap s. 223 (değişim süresi), s. 219 (işlevsel bölge).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Zaman kalmazsa yoklama atlanır (ders planı). </a:t>
            </a:r>
          </a:p>
          <a:p/>
          <a:p>
            <a:r>
              <a:t>BEKLENEN CEVAP: B) Orta Toroslar dağlık bölgesi</a:t>
            </a:r>
          </a:p>
          <a:p/>
          <a:p>
            <a:r>
              <a:t>KAYNAK: Kitap s. 219 (örnekler) ve s. 223 (değişim süresi).</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Orta Toroslar dağlık bölgesi yer şekline göre belirlenen doğal şekilsel bölgedir (s. 219); doğal şekilsel bölgelerin sınırları daha uzun bir zaman diliminde değişir (s. 223).</a:t>
            </a:r>
          </a:p>
          <a:p/>
          <a:p>
            <a:r>
              <a:t>BEKLENEN CEVAP: B) Orta Toroslar dağlık bölgesi</a:t>
            </a:r>
          </a:p>
          <a:p/>
          <a:p>
            <a:r>
              <a:t>KAYNAK: Kitap s. 219 (örnekler) ve s. 223 (değişim süresi).</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Geçiş 2 dk: ayağa kalkma, malzeme sorumluları setleri alır.</a:t>
            </a:r>
          </a:p>
          <a:p/>
          <a:p>
            <a:r>
              <a:t>NASIL: Ayağa kalkma molası; sıralar adalara çevrilir, malzeme sorumluları grup setlerini alır. Roller her hafta döner. Avrupa Birliği etkinliğinde dönemler: 1-3. gruplar 1951-1986, 4-5. gruplar 1995-2002, 6-8. gruplar 2004-2020. Performans görevinde her grubun harita türü farklıdır (34. haftada kur'ayla).</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etkinliğini künyesi ve yönergesiyle tanıtmak; üç dönemi gruplara paylaştırmak (SBAB1 zamanı algılama ve kronolojik düşünme, SBAB4 değişim ve süreklilik).</a:t>
            </a:r>
          </a:p>
          <a:p/>
          <a:p>
            <a:r>
              <a:t>SÜRE: Avrupa Birliği 10 dk: künye ve dönem dağılımı 1 · grup çalışması 4 · paylaşım (üç dönemin örnek cevabı, dört soru) 4 · YOKLAMA 7 1.</a:t>
            </a:r>
          </a:p>
          <a:p/>
          <a:p>
            <a:r>
              <a:t>NASIL: Künyeyi ve yönergeyi okutun; tarihçenin giriş cümlelerini bir öğrenciye okutun. Dönem dağılımı: 1-3. gruplar 1951-1986, 4-5. gruplar 1995-2002, 6-8. gruplar 2004-2020. Gruplar metni (sonraki slaytlar ve kitap) ve atlası kullanarak dönemde üye olan ülkeleri Avrupa dilsiz haritasında boyar ya da işaretler; 2004-2020 grupları 2020'de ayrılan ülkeyi farklı işaretler. Siyasi tartışmaya girilmez; kitabın cümleleri esastır.</a:t>
            </a:r>
          </a:p>
          <a:p/>
          <a:p>
            <a:r>
              <a:t>KAYNAK: Kitap s. 223 ETKİNLİK (künye, yönerge, tarihçe girişi birebir); ders planı 6. aşama.</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1951-1986 dönemi grubunun metni ve dilsiz haritası: üye olan ülkeleri haritada göstermek.</a:t>
            </a:r>
          </a:p>
          <a:p/>
          <a:p>
            <a:r>
              <a:t>NASIL: Grup çalışması sırasında üç dönem slaytı sırayla açık kalabilir (her biri bir dakika) ya da gruplar kitaptan çalışır. Atlası açtırın: 'Metindeki her ülkeyi atlasta bulun, sonra dilsiz haritada boyayın.' Yıl yanına yazılabilir. Paylaşımda her dönemin örnek cevabı hemen bu slaytın ardındadır.</a:t>
            </a:r>
          </a:p>
          <a:p/>
          <a:p>
            <a:r>
              <a:t>BEKLENEN CEVAP: Belçika, Almanya, Lüksemburg, Fransa, İtalya, Hollanda, Birleşik Krallık, Danimarka, İrlanda, Yunanistan, İspanya, Portekiz</a:t>
            </a:r>
          </a:p>
          <a:p/>
          <a:p>
            <a:r>
              <a:t>KAYNAK: Kitap s. 223 (metin birebir; dilsiz harita kırpım).</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1951-1986 döneminde Avrupa Birliği (ve öncesinde Avrupa Topluluğu) bölgesinin sınırını haritada göstermek.</a:t>
            </a:r>
          </a:p>
          <a:p/>
          <a:p>
            <a:r>
              <a:t>NASIL: Sözcü dönemin değişimini bir cümleyle anlatır; haritadaki numaraları listeden okutun. Numaralar haritadaki ülkeleri gösterir; Belçika, Hollanda ve Lüksemburg'un numaraları küçük olduklarından denizde, çizgiyle bağlıdır. </a:t>
            </a:r>
          </a:p>
          <a:p/>
          <a:p>
            <a:r>
              <a:t>BEKLENEN CEVAP: 1951: Belçika; 1951: Almanya; 1951: Lüksemburg; 1951: Fransa; 1951: İtalya; 1951: Hollanda; 1973: Birleşik Krallık; 1973: Danimarka; 1973: İrlanda; 1981: Yunanistan; 1986: İspanya; 1986: Portekiz.</a:t>
            </a:r>
          </a:p>
          <a:p/>
          <a:p>
            <a:r>
              <a:t>KAYNAK: Kitap s. 223 metni (üyeler ve yıllar birebir). Harita: kitabın s. 223 dilsiz haritasının ülke çizimleri boyanarak üretildi (sunumun çizimi; ülke ↔ çizim eşlemesi sayfa görüntüsünden doğrulandı).</a:t>
            </a:r>
          </a:p>
          <a:p/>
          <a:p>
            <a:r>
              <a:t>NOT: Haritada bugünkü sınırlar vardır: 1951'de Almanya ikiye ayrılmıştı, kurucu üye Federal Almanya'dır (Batı Almanya); Almanya 1990'da birleşti (bilimsel; kitapta yok). Doğu Ege'deki küçük Yunan adaları haritanın çiziminde Türkiye ile aynı parçadadır, boyanmadı.</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1995-2002 dönemi grubunun metni ve dilsiz haritası: üye olan ülkeleri haritada göstermek.</a:t>
            </a:r>
          </a:p>
          <a:p/>
          <a:p>
            <a:r>
              <a:t>NASIL: Grup çalışması sırasında üç dönem slaytı sırayla açık kalabilir (her biri bir dakika) ya da gruplar kitaptan çalışır. Atlası açtırın: 'Metindeki her ülkeyi atlasta bulun, sonra dilsiz haritada boyayın.' Yıl yanına yazılabilir. Paylaşımda her dönemin örnek cevabı hemen bu slaytın ardındadır.</a:t>
            </a:r>
          </a:p>
          <a:p/>
          <a:p>
            <a:r>
              <a:t>BEKLENEN CEVAP: Avusturya, Finlandiya, İsveç</a:t>
            </a:r>
          </a:p>
          <a:p/>
          <a:p>
            <a:r>
              <a:t>KAYNAK: Kitap s. 224 (metin birebir; dilsiz harita kırpım).</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1995-2002 döneminde Avrupa Birliği (ve öncesinde Avrupa Topluluğu) bölgesinin sınırını haritada göstermek.</a:t>
            </a:r>
          </a:p>
          <a:p/>
          <a:p>
            <a:r>
              <a:t>NASIL: Sözcü dönemin değişimini bir cümleyle anlatır; haritadaki numaraları listeden okutun. Açık gri-mavi ülkeler önceki dönemlerin üyeleridir. </a:t>
            </a:r>
          </a:p>
          <a:p/>
          <a:p>
            <a:r>
              <a:t>BEKLENEN CEVAP: 1995: Avusturya; 1995: Finlandiya; 1995: İsveç.</a:t>
            </a:r>
          </a:p>
          <a:p/>
          <a:p>
            <a:r>
              <a:t>KAYNAK: Kitap s. 224 metni (üyeler ve yıllar birebir). Harita: kitabın s. 223 dilsiz haritasının ülke çizimleri boyanarak üretildi (sunumun çizimi; ülke ↔ çizim eşlemesi sayfa görüntüsünden doğrulandı).</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2004-2020 dönemi grubunun metni ve dilsiz haritası: üye olan ülkeleri haritada göstermek.</a:t>
            </a:r>
          </a:p>
          <a:p/>
          <a:p>
            <a:r>
              <a:t>NASIL: Grup çalışması sırasında üç dönem slaytı sırayla açık kalabilir (her biri bir dakika) ya da gruplar kitaptan çalışır. Atlası açtırın: 'Metindeki her ülkeyi atlasta bulun, sonra dilsiz haritada boyayın.' Yıl yanına yazılabilir. Paylaşımda her dönemin örnek cevabı hemen bu slaytın ardındadır.</a:t>
            </a:r>
          </a:p>
          <a:p/>
          <a:p>
            <a:r>
              <a:t>BEKLENEN CEVAP: Çekya, Estonya, Güney Kıbrıs Rum Yönetimi, Letonya, Litvanya, Macaristan, Malta, Polonya, Slovakya, Slovenya, Bulgaristan, Romanya, Hırvatistan · 2020: Birleşik Krallık ayrıldı.</a:t>
            </a:r>
          </a:p>
          <a:p/>
          <a:p>
            <a:r>
              <a:t>KAYNAK: Kitap s. 224 (metin birebir; dilsiz harita kırpım).</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2004-2020 döneminde Avrupa Birliği (ve öncesinde Avrupa Topluluğu) bölgesinin sınırını haritada göstermek.</a:t>
            </a:r>
          </a:p>
          <a:p/>
          <a:p>
            <a:r>
              <a:t>NASIL: Sözcü dönemin değişimini bir cümleyle anlatır; haritadaki numaraları listeden okutun. Açık gri-mavi ülkeler önceki dönemlerin üyeleridir. Malta haritada çizilmeyecek kadar küçük bir ada ülkesidir (Sicilya'nın güneyinde); yalnız listede. Birleşik Krallık 2020'de ayrıldı: gri. Aday ülkeler (kitabın listesi) üye değildir; haritada boyanmaz.</a:t>
            </a:r>
          </a:p>
          <a:p/>
          <a:p>
            <a:r>
              <a:t>BEKLENEN CEVAP: 2004: Çekya; 2004: Estonya; 2004: Güney Kıbrıs Rum Yönetimi; 2004: Letonya; 2004: Litvanya; 2004: Macaristan; 2004: Malta; 2004: Polonya; 2004: Slovakya; 2004: Slovenya; 2007: Bulgaristan; 2007: Romanya; 2013: Hırvatistan · 2020: Birleşik Krallık ayrıldı → 27 üye.</a:t>
            </a:r>
          </a:p>
          <a:p/>
          <a:p>
            <a:r>
              <a:t>KAYNAK: Kitap s. 224 metni (üyeler ve yıllar birebir). Harita: kitabın s. 223 dilsiz haritasının ülke çizimleri boyanarak üretildi (sunumun çizimi; ülke ↔ çizim eşlemesi sayfa görüntüsünden doğrulandı).</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ilk iki değerlendirme sorusu: örgütlenmenin nedeni ve sınırın tarihsel değişimi.</a:t>
            </a:r>
          </a:p>
          <a:p/>
          <a:p>
            <a:r>
              <a:t>NASIL: 1. soruyu tek cümlelik görüş turuyla, 2. soruyu üç dönemin sözcüleriyle cevaplatın: 'Sınır önce nereye, sonra nereye genişledi?'</a:t>
            </a:r>
          </a:p>
          <a:p/>
          <a:p>
            <a:r>
              <a:t>BEKLENEN CEVAP: 1) Savaşların sona ermesi ve barışın sürdürülmesi; ekonomik ve siyasi birleşme fikri. 2) Altı kurucu ülkeden katılımlarla genişledi; 2020'de bir ülke ayrıldı (sonraki slayt).</a:t>
            </a:r>
          </a:p>
          <a:p/>
          <a:p>
            <a:r>
              <a:t>KAYNAK: Kitap s. 224 DEĞERLENDİRME 1-2 (birebir).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Sınırın tarihsel değişimini üç haritanın yan yana görünümüyle ve üye sayılarıyla göstermek.</a:t>
            </a:r>
          </a:p>
          <a:p/>
          <a:p>
            <a:r>
              <a:t>NASIL: Üç haritayı soldan sağa okutun: önce batı (kurucular), sonra kuzey ve batı kıyıları (1973-1986), 1995'te kuzey ve orta Avrupa, 2004-2013'te doğu ve orta Avrupa. Sayı şeridini okutun. 'Bir bölgenin sınırını değiştiren ne oldu?' — kriterdeki değişim: üyelik (s. 223).</a:t>
            </a:r>
          </a:p>
          <a:p/>
          <a:p>
            <a:r>
              <a:t>BEKLENEN CEVAP: 1) İkinci Dünya Savaşı sonrasında Avrupa’da savaşların sona ermesi ve barışın sürdürülebilmesinin tek yolunun ülkelerin ekonomik ve siyasi yönden birleşmesiyle mümkün olacağı fikri ortaya çıkmıştır. 2) 6 (1951) → 9 (1973) → 10 (1981) → 12 (1986) → 15 (1995) → 25 (2004) → 27 (2007) → 28 (2013) → 27 (2020): sınır katılımlarla batıdan kuzeye, orta ve doğu Avrupa'ya genişledi; 2020'de Birleşik Krallık ayrıldı.</a:t>
            </a:r>
          </a:p>
          <a:p/>
          <a:p>
            <a:r>
              <a:t>KAYNAK: Kitap s. 223-224 (cümle birebir; üyeler ve yıllar). Ara üye sayıları (9, 10, 25, 28) metindeki katılımlardan hesaplandı (6 + 3 = 9, + 1 = 10, + 2 = 12, + 3 = 15, + 10 = 25, + 2 = 27, + 1 = 28, − 1 = 27); kitap 12, 15 ve 27'yi yazar.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Bir ülkenin aynı anda birden fazla bölge sınırı içinde yer alabileceğini örneklerle göstermek (SBAB7.7).</a:t>
            </a:r>
          </a:p>
          <a:p/>
          <a:p>
            <a:r>
              <a:t>NASIL: Soruyu okutun; ipucu: 'AB bir iş birliği bölgesidir. Aynı ülke bir iklim bölgesinde ya da bir kültür bölgesinde de olabilir mi?' 34. haftadaki üç Türkiye haritasını hatırlatın (aynı yer üç farklı bölgede).</a:t>
            </a:r>
          </a:p>
          <a:p/>
          <a:p>
            <a:r>
              <a:t>BEKLENEN CEVAP: Evet: Danimarka, İsveç, Finlandiya hem AB hem İskandinav Kültür Bölgesi (s. 226); Yunanistan, İtalya, Fransa hem AB hem Akdeniz iklim bölgesi.</a:t>
            </a:r>
          </a:p>
          <a:p/>
          <a:p>
            <a:r>
              <a:t>KAYNAK: Kitap s. 224 DEĞERLENDİRME 3 (birebir).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Aynı ülkenin farklı kriterlerle çizilen bölgelerde yer alabildiğini kitap ve EBA örnekleriyle göstermek.</a:t>
            </a:r>
          </a:p>
          <a:p/>
          <a:p>
            <a:r>
              <a:t>NASIL: İki kartı okutun; s. 226 metni ünite sonu ölçme sorularındadır (orada ayrıntılı). Öğrenciden Türkiye için de örnek isteyin: Türkiye hem Akdeniz iklim bölgesinde (doğal şekilsel) hem Türk kültür bölgesinde (beşerî şekilsel) yer alır.</a:t>
            </a:r>
          </a:p>
          <a:p/>
          <a:p>
            <a:r>
              <a:t>BEKLENEN CEVAP: Evet. Danimarka (1973), İsveç ve Finlandiya (1995): AB + İskandinav Kültür Bölgesi. Yunanistan, İtalya, Fransa: AB + Akdeniz iklim bölgesi (doğal şekilsel). Bir ülke farklı kriterlere göre çizilmiş birçok bölgenin içinde olabilir.</a:t>
            </a:r>
          </a:p>
          <a:p/>
          <a:p>
            <a:r>
              <a:t>KAYNAK: Kitap s. 226 (birebir: Danimarka, İsveç, Finlandiya'nın AB üyeliği); s. 219 (Akdeniz iklim bölgesi, Türk kültür bölgesi örnekleri); EBA tema sonu bulmaca 6 (Türkiye, Yunanistan, İtalya, Fransa gibi ülkelerin bulunduğu iklim kriterine göre oluşmuş doğal şekilsel bölge → AKDENİZ; çözümlü bulmaca).</a:t>
            </a:r>
          </a:p>
          <a:p/>
          <a:p>
            <a:r>
              <a:t>NOT: Türkiye'nin iklim bölgesi örneği EBA bulmacasının (6) cümlesindendir; kitapta Türkiye'nin iklim bölgeleri 34. haftanın dünya iklim haritasında (s. 218) okunur.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Görüş sorusu: sınırdaki olası değişimi haritadan, sonuçları iki yönlü düşünmek (KB2.17, KB3.1).</a:t>
            </a:r>
          </a:p>
          <a:p/>
          <a:p>
            <a:r>
              <a:t>NASIL: Önce sorunun ilk yarısı: 'Sınır nasıl değişir?' (haritadan, olgu). Sonra görüş turu: her konuşan bir olası kazanım ya da bir olası güçlük söyler, gerekçesini ekler. Farklı görüşlere saygı: görüşler tartışılmaz, gerekçeleri dinlenir; doğru görüş dayatılmaz, siyasi yorum yapılmaz.</a:t>
            </a:r>
          </a:p>
          <a:p/>
          <a:p>
            <a:r>
              <a:t>BEKLENEN CEVAP: Sınır güneydoğuya genişler; görüşler iki yönlü (sonraki slayt).</a:t>
            </a:r>
          </a:p>
          <a:p/>
          <a:p>
            <a:r>
              <a:t>KAYNAK: Kitap s. 224 DEĞERLENDİRME 4 (birebir); ders planı notları (görüş sorusu).</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Görüş sorusunun iki yönlü, dengeli bir örnek cevabını göstermek (tek doğru görüş yoktur).</a:t>
            </a:r>
          </a:p>
          <a:p/>
          <a:p>
            <a:r>
              <a:t>NASIL: Sol kart olgudur (harita). Sağdaki iki sütun örnek görüşlerdir; öğrencilerin görüşleri bu sütunlara eklenebilir. Vurgu: görüş gerekçeyle desteklenir; öğretmen görüş bildirmez, siyasi yorum yapılmaz. Türkiye ile AB arasındaki güncel ilişkiler bu etkinliğin konusu değildir — kitabın cümleleri esastır.</a:t>
            </a:r>
          </a:p>
          <a:p/>
          <a:p>
            <a:r>
              <a:t>BEKLENEN CEVAP: Sınır: AB bölgesi güneydoğuya genişler, Anadolu ile Asya kıtasına uzanır; Türkiye'nin AB dışı komşuları (Gürcistan, Ermenistan, Azerbaycan-Nahçıvan, İran, Irak, Suriye) AB'nin sınır komşusu olur. Görüş (örnek, iki yönlü): olası kazanımlar — ticaret, ulaşım, eğitim ve kültür alanında iş birliğinin artması; olası güçlükler — ortak kurallara uyum süreci, ortak kararlara katılma; her ikisi Türkiye ve AB için ayrı ayrı düşünülür.</a:t>
            </a:r>
          </a:p>
          <a:p/>
          <a:p>
            <a:r>
              <a:t>KAYNAK: Kitap s. 224 (aday ülkeler: Türkiye); Türkiye'nin komşuları kitabın s. 216-221 dilsiz haritalarındaki adlarla. Görüş örnekleri sunumun örneğidir (bilimsel, tarafsız).</a:t>
            </a:r>
          </a:p>
          <a:p/>
          <a:p>
            <a:r>
              <a:t>NOT: Hassasiyet: konu siyasi tartışmaya dönüşürse öğretmen 'coğrafi soru: sınır ve bölge' çerçevesine geri döndürür.</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Zaman kalmazsa yoklama atlanır (ders planı). </a:t>
            </a:r>
          </a:p>
          <a:p/>
          <a:p>
            <a:r>
              <a:t>BEKLENEN CEVAP: E) Avusturya, Finlandiya ve İsveç</a:t>
            </a:r>
          </a:p>
          <a:p/>
          <a:p>
            <a:r>
              <a:t>KAYNAK: Kitap s. 224 (cümle birebir); diğer seçenekler s. 223-224'teki farklı yılların katılımlarıdır (1986, 1973, 2007, 2004).</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Birliğin üye sayısı 1995’te Avusturya, Finlandiya ve İsveç’in katılımıyla 15’e yükselmiştir.</a:t>
            </a:r>
          </a:p>
          <a:p/>
          <a:p>
            <a:r>
              <a:t>BEKLENEN CEVAP: E) Avusturya, Finlandiya ve İsveç</a:t>
            </a:r>
          </a:p>
          <a:p/>
          <a:p>
            <a:r>
              <a:t>KAYNAK: Kitap s. 224 (cümle birebir); diğer seçenekler s. 223-224'teki farklı yılların katılımlarıdır (1986, 1973, 2007, 2004).</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performans görevini künyesi, görev cümlesi ve yönergesiyle başlatmak (SDB2.2, KB3.1).</a:t>
            </a:r>
          </a:p>
          <a:p/>
          <a:p>
            <a:r>
              <a:t>SÜRE: Performans görevi 16 dk: 1-2. adım 2 · 3. adım 4 · 4. adım 3 · 5. adım 2 · 6. adım 5 (7. adım paylaşım aşamasında). Sınav dönütü yapılmadıysa +4 dk.</a:t>
            </a:r>
          </a:p>
          <a:p/>
          <a:p>
            <a:r>
              <a:t>NASIL: Görev cümlesini ve yönergeyi okutun. Gruplar 34. haftada kur'ayla aldıkları harita türüyle çalışır (ev çalışmasında kriter ve harita seçimi deftere not edildi). Programın destekleme seçeneği: gerekli görülen gruplarda görev, s. 220-221'deki farklı kriterlere göre oluşturulmuş bölgelerin incelenip benzerlik ve farklılıklarının listelenmesine dönüştürülür. Kişisel veri yok; telefon kullanılmaz, harita atlastan ve kitaptan.</a:t>
            </a:r>
          </a:p>
          <a:p/>
          <a:p>
            <a:r>
              <a:t>KAYNAK: Kitap s. 225 PERFORMANS GÖREVİ (künye, görev, yönerge, değerlendirme cümlesi birebir); program: Performans görevi; analitik dereceli puanlama anahtarı, öz ve grup değerlendirme formuyla değerlendirilebilir; Performans görevi; farklı kriterlere göre oluşturulmuş bölgelerin incelenmesi, benzerlik ve farklılıklarının listelenmesi şeklinde düzenlenebilir. (destekleme).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Yedi adımı ve sürelerini çalışma boyunca ekranda tutmak.</a:t>
            </a:r>
          </a:p>
          <a:p/>
          <a:p>
            <a:r>
              <a:t>NASIL: Zaman sorumluları süre çiplerini izler, 1 dakika kala uyarır. 1-2. adım (2 dk): 34. haftadan gelen kriter ve harita teyit edilir. 3. adım (4 dk): benzerlik-farklılık tablosu. 4. adım (3 dk): en az iki önerme. 5. adım (2 dk): sonuçlar. 6. adım (5 dk): aydınger üzerine bölge. 7. adım paylaşım aşamasında. Dolaşırken süreç ölçütleri (kriter, harita, karşılaştırma) için gözlem notu tutun. Kitaptaki 6. adımda 'kritelere' yazım hatası vardır; slaytta 'kriterlere'.</a:t>
            </a:r>
          </a:p>
          <a:p/>
          <a:p>
            <a:r>
              <a:t>KAYNAK: Kitap s. 225 (yedi adım birebir; 6. adımda yazım düzeltmesi); ders planı 7. aşama süreleri. EBA öz değerlendirme formu ve puanlama anahtarında da aynı yazım hatası vardır.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Analitik dereceli puanlama anahtarının yedi ölçütünü ve puanlarını göstermek (ürün bu anahtarla puanlanır).</a:t>
            </a:r>
          </a:p>
          <a:p/>
          <a:p>
            <a:r>
              <a:t>NASIL: Tabloyu satır satır değil, bir bütün olarak gösterin: yedi ölçüt yedi adımla aynıdır; en çok puan çıkarım ve bölge oluşturmadadır (16'şar). 75 ve üzeri yeterli düzeydir. Anahtarın çıktısı gruplara dağıtılmıştır (ön hazırlık). Görselde anahtarın ilk sayfası.</a:t>
            </a:r>
          </a:p>
          <a:p/>
          <a:p>
            <a:r>
              <a:t>KAYNAK: Kitap s. 225 karekodu → EBA '9.7-Analitik Dereceli Puanlama Anahtarı' (07_03, 2 sayfa): ölçütler, puanlar ve değerlendirme cümlesi birebir (EBA metin kilidi).</a:t>
            </a:r>
          </a:p>
          <a:p/>
          <a:p>
            <a:r>
              <a:t>NOT: Puan, öğrencinin performans notuna zümre kararına göre işlenir: zümre önerisinde 2. dönem P1 4. ünitedendir; bu ürün P2 beceri temelli görevdir (P1'i bu üniteden veren öğretmen için P1 kanıtı).</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Kriter ve harita seçimini, karşılaştırma tablosunu, önerme ve sonuç kalıplarını çalışma yaprağının düzeniyle göstermek.</a:t>
            </a:r>
          </a:p>
          <a:p/>
          <a:p>
            <a:r>
              <a:t>NASIL: Sol sütun 1-2. adımdır: kriter listesi kitabın s. 217'sinden, harita türleri programdan. Sağ sütun yaprağın düzenidir: iki harita arasındaki benzerlik ve farklılıkları yazın (3), önermeyi kalıpla kurun (4), sonucu yazın (5). Karşılaştırma için en az iki harita gerekir (adım 3 'haritalardaki bilgiler').</a:t>
            </a:r>
          </a:p>
          <a:p/>
          <a:p>
            <a:r>
              <a:t>KAYNAK: Kitap s. 217 (kriterler birebir), s. 225 (adımlar); program: farklı haritalar (fiziki, siyasi, nüfus, ekonomi vb.); ders planı materyali (çalışma yaprağının satırları).</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Bölgenin harita üzerinde kritere uygun çizilmesi; sınırın biçimini (net / geçişli) göstermek (SBAB7.6).</a:t>
            </a:r>
          </a:p>
          <a:p/>
          <a:p>
            <a:r>
              <a:t>NASIL: Aydınger haritanın üzerine konur, köşeleri bantlanır (makas yok). Kritere uyan alan tek renkle taranır; sınır net ise düz, geçişli ise kesik çizgi (bugünkü 'çizgi mi, kuşak mı?' sorusu). Her ürün dört öğeyi taşır: bölgenin adı, kriter kartı (lejant), yön oku, kaynak (atlas sayfası). Ürün bitmezse 36. hafta başında teslim alınır; paylaşım bu hafta yapılır.</a:t>
            </a:r>
          </a:p>
          <a:p/>
          <a:p>
            <a:r>
              <a:t>KAYNAK: Kitap s. 225 (6. adım), s. 220 (net ve geçişli sınır); ders planı materyali (aydınger, renkli kalem) ve ön hazırlık (zaman riski).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Ölçütleri karşılayan örnek bir ürün zincirini göstermek (kopyalanacak cevap değildir).</a:t>
            </a:r>
          </a:p>
          <a:p/>
          <a:p>
            <a:r>
              <a:t>NASIL: Çalışmanın sonunda ya da takılan gruplara gösterin. Her satır bir ölçütü karşılar (EBA anahtarı): kriter belirleme, harita belirleme, karşılaştırma, önerme, çıkarım, bölge oluşturma, sunum. Örnek kitabın s. 220 haritasıyla kurulduğundan gruplar KENDİ kriterleri ve haritalarıyla çalışır; aynı örneği yazan grup 'kriter belirleme' ölçütünde ileri düzey alamaz.</a:t>
            </a:r>
          </a:p>
          <a:p/>
          <a:p>
            <a:r>
              <a:t>BEKLENEN CEVAP: Kriter → harita → karşılaştırma → önerme → sonuç → bölge → sunum zinciri birbirini izler; önerme ve sonuç haritadaki gözleme dayanır; sınırın biçimi (geçişli) kriterin özelliğine uygundur (s. 220).</a:t>
            </a:r>
          </a:p>
          <a:p/>
          <a:p>
            <a:r>
              <a:t>KAYNAK: Kitap s. 220 haritası (gözlemler sayfa görüntüsünden: Karadeniz kıyısı boyunca orman kuşağı, iç kesimde step); s. 225 adımlar; EBA puanlama anahtarı ölçütleri. Önerme ve sonuç bilimsel örnek (kıyı dağlarının denize bakan yamaçları daha nemli); kitabın bu sayfasında yazmaz.</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ürününü sunması (SDB2.1) ve dinleyenlerin değerlendirmesi (d).</a:t>
            </a:r>
          </a:p>
          <a:p/>
          <a:p>
            <a:r>
              <a:t>SÜRE: Paylaşım ve formlar 6 dk: sekiz sözcü × 30 sn 4 · formlar 2. Sınav dönütü yapılmadıysa +6 dk: her gruba bir soru.</a:t>
            </a:r>
          </a:p>
          <a:p/>
          <a:p>
            <a:r>
              <a:t>NASIL: Sözcü dört cümleyi kalıpla söyler; ürün panoya asılır. Dinleyenler başparmakla değerlendirir (sınır kritere uygun mu?), zaman kalırsa bir soru sorulur. Ekleme sözcüye notla iletilir.</a:t>
            </a:r>
          </a:p>
          <a:p/>
          <a:p>
            <a:r>
              <a:t>BEKLENEN CEVAP: Örnek sunum: 'Haritamız bitki toplulukları ve fiziki harita; kriterimiz doğal bitki örtüsü; bölgemiz Karadeniz kıyısı orman bölgesi; sınır kıyı dağlarının iç yamaçlarından geçiyor, geçişli olduğu için kesik çizdik.'</a:t>
            </a:r>
          </a:p>
          <a:p/>
          <a:p>
            <a:r>
              <a:t>KAYNAK: Kitap s. 225 7. adım; EBA puanlama anahtarı 'Sunum Yapma' ölçütü; ders planı 8. aşama.</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karekodundaki iki formu doldurtmak (SDB1.2 öz düzenleme, SDB1.3 öz yansıtma).</a:t>
            </a:r>
          </a:p>
          <a:p/>
          <a:p>
            <a:r>
              <a:t>NASIL: Formların çıktısı dağıtılmıştır (ön hazırlık; 34'er). Öz değerlendirme: yedi ifade yedi adımla aynıdır (evet / kısmen / hayır) + üç açık uçlu satır. Grup değerlendirme: yedi ölçüt (hiçbir zaman / ara sıra / çoğu zaman / her zaman). Formlar ürünle birlikte teslim alınır. Formlarda ad, numara ve sınıf alanı vardır: formlar okulda kalır, kişisel veri sunuma ya da dışarıya aktarılmaz.</a:t>
            </a:r>
          </a:p>
          <a:p/>
          <a:p>
            <a:r>
              <a:t>KAYNAK: Kitap s. 225 DEĞERLENDİRME; EBA '9.7-Öz Değerlendirme Formu' (07_05) ve '9.7-Grup Değerlendirme Formu' (07_04): ifadeler ve ölçüt adları birebir (EBA metin kilidi).</a:t>
            </a:r>
          </a:p>
          <a:p/>
          <a:p>
            <a:r>
              <a:t>NOT: EBA öz değerlendirme formunun 6. ifadesinde de kitaptaki 'kritelere' yazım hatası vardır (doğrusu 'kriterlere').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Açık uçlu üç satırın nasıl doldurulacağını örneklemek (somut, kısa, kendi çalışmasına dair).</a:t>
            </a:r>
          </a:p>
          <a:p/>
          <a:p>
            <a:r>
              <a:t>NASIL: Örneği gösterin; 'genel ve süslü cümle değil, bugünkü çalışmandan bir şey yaz' deyin. Örnek kişisel veri içermez; öğrenci kendi formunu doldurur.</a:t>
            </a:r>
          </a:p>
          <a:p/>
          <a:p>
            <a:r>
              <a:t>BEKLENEN CEVAP: Öğrendim: kriter değişince bölgenin sınırının da değiştiğini. Zorlandım: geçiş alanında sınırı nereden çizeceğimize karar verirken. Yeniden yapsaydım: iki haritayı daha erken karşılaştırırdım.</a:t>
            </a:r>
          </a:p>
          <a:p/>
          <a:p>
            <a:r>
              <a:t>KAYNAK: EBA öz değerlendirme formu (07_05) açık uçlu satırları (birebir); örnek yazımlar sunumundur.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tek öğrenme çıktısını üç kartta toplamak.</a:t>
            </a:r>
          </a:p>
          <a:p/>
          <a:p>
            <a:r>
              <a:t>SÜRE: Ünite kapanışı 6 dk: özet 0,5 · ünite ölçme soruları 4-5 (ünite sonu bölümü) 2 · YOKLAMA 8 1 · çıkış kartı 2 · ev ve 36. hafta 0,5.</a:t>
            </a:r>
          </a:p>
          <a:p/>
          <a:p>
            <a:r>
              <a:t>NASIL: Üç kartı hızla okutun: kriter → tür → sınır. Ünite bitti: e-Okul gelişim raporu ünite bitişini izleyen sürede doldurulur (2026-2027 Genelgesi bent 20); kanıt dosyası (dilsiz harita, anlam çözümleme tablosu, bölge oluşturma ürünü ve formlar) zümre dosyasına konur.</a:t>
            </a:r>
          </a:p>
          <a:p/>
          <a:p>
            <a:r>
              <a:t>BEKLENEN CEVAP: Özet kartlarının cümleleri kitaptandır.</a:t>
            </a:r>
          </a:p>
          <a:p/>
          <a:p>
            <a:r>
              <a:t>KAYNAK: Kitap s. 217, 219, 220, 223 (birebir); program COĞ.9.7.1 a-d; ders planı 9. aşama ve notlar.</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ünite ölçme sorularına yönlendirmek: 4 ve 5. sorular sınıfta, 1-3. sorular evde.</a:t>
            </a:r>
          </a:p>
          <a:p/>
          <a:p>
            <a:r>
              <a:t>NASIL: Sunumun ünite sonu bölümüne geçin (146-187): 4 ve 5. soruları (Türkiye orman alanları haritası; bir alanın birden fazla bölge türünde yer alması) birlikte çözün ve hemen ardından çözümleri gösterin; sonra bu bölüme dönüp yoklama ve çıkış kartıyla bitirin. 1-3. sorular (İskandinav Kültür Bölgesi) ev çalışmasıdır; çözümleri ünite sonu bölümündedir — derste ayrı süre yoktur, öğretmen sınav öncesi tekrarda ya da ders dışında paylaşır. Zaman yetmezse 5. soru eve kalır.</a:t>
            </a:r>
          </a:p>
          <a:p/>
          <a:p>
            <a:r>
              <a:t>KAYNAK: Kitap s. 226-227 (5 soru; karekodlu cevap anahtarı s. 233); ders planı 9. aşama.</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Zaman kalmazsa yoklama atlanır (ders planı). </a:t>
            </a:r>
          </a:p>
          <a:p/>
          <a:p>
            <a:r>
              <a:t>BEKLENEN CEVAP: D) Danimarka’nın hem AB üyesi hem İskandinav Kültür Bölgesi’nde olması</a:t>
            </a:r>
          </a:p>
          <a:p/>
          <a:p>
            <a:r>
              <a:t>KAYNAK: Kitap s. 226 (Danimarka), s. 224 (2020), s. 223 (seyrek → yoğun nüfus), s. 219 (gazete, Rotterdam).</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Danimarka hem Avrupa Birliği (1973) hem İskandinav Kültür Bölgesi içindedir (s. 226). A, B ve C sınır değişimine, E işlevsel bölgenin özelliğine örnektir.</a:t>
            </a:r>
          </a:p>
          <a:p/>
          <a:p>
            <a:r>
              <a:t>BEKLENEN CEVAP: D) Danimarka’nın hem AB üyesi hem İskandinav Kültür Bölgesi’nde olması</a:t>
            </a:r>
          </a:p>
          <a:p/>
          <a:p>
            <a:r>
              <a:t>KAYNAK: Kitap s. 226 (Danimarka), s. 224 (2020), s. 223 (seyrek → yoğun nüfus), s. 219 (gazete, Rotterdam).</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SÜRE: Çıkış kartı 2 dk; kitapsız.</a:t>
            </a:r>
          </a:p>
          <a:p/>
          <a:p>
            <a:r>
              <a:t>NASIL: Öğrenciler kâğıda yazar; yazıcılar kartları, formları ve ürünleri toplar. Kartlar P2 katılım gözlemine ve e-Okul gelişim raporuna kaynak olur.</a:t>
            </a:r>
          </a:p>
          <a:p/>
          <a:p>
            <a:r>
              <a:t>BEKLENEN CEVAP: 1) işlevsel (ve beşerî şekilsel) bölgeninki; beşerî unsurlar daha hızlı değişir, doğal unsurlara dayalı sınırlar daha uzun zaman diliminde değişir (s. 223). · 2) 1951'de altı kurucu ülkeyle başladı; katılımlarla genişledi (1973, 1981, 1986, 1995, 2004, 2007, 2013), 2020'de Birleşik Krallık ayrıldı; hâlihazırda 27 üye (s. 223-224). · 3) grubun kriteri ve gerekçeli bir değişim tahmini (KB2.10; doğru-yanlış aranmaz, gerekçe puanlanır).</a:t>
            </a:r>
          </a:p>
          <a:p/>
          <a:p>
            <a:r>
              <a:t>KAYNAK: Ders planı 35. hafta çıkış kartı; kitap s. 223-225.</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ünite tekrarını ve 36. hafta hazırlığını duyurmak.</a:t>
            </a:r>
          </a:p>
          <a:p/>
          <a:p>
            <a:r>
              <a:t>NASIL: Tahtaya da yazın. Çalışma kâğıdı cevap anahtarıyla kontrol edilir. MEBİ ve EBA tekrarı P2 'MEBİ ve EBA' kalemidir; erişimi olmayan öğrenci için okul laboratuvarında ders dışı saat planlanır (telefon gerekmez). 36. hafta okul çevresi gözlem yürüyüşüdür: okul dışına çıkılacaksa etkinlik bazlı veli izni dağıtılır ve teslim tarihi söylenir; zaman-yer-refakat onayı okul yönetimine sunulur. Veliye mali yük getirilmez. Yıl sonu performans kanıt dosyası tamamlanır.</a:t>
            </a:r>
          </a:p>
          <a:p/>
          <a:p>
            <a:r>
              <a:t>KAYNAK: Ders planı 35. hafta ev çalışması ve notlar; çalışma kâğıdı COG9-CK-U7 Bölüm 2 (7-11) ve 12; kitap s. 226.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21.jpg"/><Relationship Id="rId4"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21.jpg"/><Relationship Id="rId4"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2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2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2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2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2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2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23.jpg"/><Relationship Id="rId4" Type="http://schemas.openxmlformats.org/officeDocument/2006/relationships/image" Target="../media/image25.jpg"/><Relationship Id="rId5" Type="http://schemas.openxmlformats.org/officeDocument/2006/relationships/image" Target="../media/image2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24.jpg"/><Relationship Id="rId4" Type="http://schemas.openxmlformats.org/officeDocument/2006/relationships/image" Target="../media/image26.jpg"/><Relationship Id="rId5" Type="http://schemas.openxmlformats.org/officeDocument/2006/relationships/image" Target="../media/image2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2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30.jpg"/><Relationship Id="rId4" Type="http://schemas.openxmlformats.org/officeDocument/2006/relationships/image" Target="../media/image3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5D8F"/>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35.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35</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3450" b="1" i="0">
                <a:solidFill>
                  <a:srgbClr val="FFFFFF"/>
                </a:solidFill>
                <a:latin typeface="Calibri"/>
              </a:rPr>
              <a:t>Bölge Sınırlarında Değişim ve Bölge Oluşturma</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7-11 Haziran 2027 · 2 ders saati · Kitap s. 220-227</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COĞ.9.7.1</a:t>
            </a:r>
          </a:p>
        </p:txBody>
      </p:sp>
      <p:sp>
        <p:nvSpPr>
          <p:cNvPr id="10" name="TextBox 9"/>
          <p:cNvSpPr txBox="1"/>
          <p:nvPr/>
        </p:nvSpPr>
        <p:spPr>
          <a:xfrm>
            <a:off x="3063240" y="2532888"/>
            <a:ext cx="8412480" cy="87325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Bölgelerin belirlenmesinde kullanılan kriterlere göre bölge hakkında çıkarım yapabilme</a:t>
            </a:r>
          </a:p>
        </p:txBody>
      </p:sp>
      <p:sp>
        <p:nvSpPr>
          <p:cNvPr id="11" name="TextBox 10"/>
          <p:cNvSpPr txBox="1"/>
          <p:nvPr/>
        </p:nvSpPr>
        <p:spPr>
          <a:xfrm>
            <a:off x="3063240" y="351586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881628"/>
            <a:ext cx="8412480" cy="2043684"/>
          </a:xfrm>
          <a:prstGeom prst="rect">
            <a:avLst/>
          </a:prstGeom>
          <a:noFill/>
        </p:spPr>
        <p:txBody>
          <a:bodyPr wrap="square" anchor="t" lIns="73152" rIns="73152" tIns="36576" bIns="36576">
            <a:noAutofit/>
          </a:bodyPr>
          <a:lstStyle/>
          <a:p>
            <a:pPr algn="l" marL="309283" indent="-309283">
              <a:spcBef>
                <a:spcPts val="0"/>
              </a:spcBef>
              <a:spcAft>
                <a:spcPts val="500"/>
              </a:spcAft>
            </a:pPr>
            <a:r>
              <a:rPr lang="tr-TR" sz="2000" b="1" i="0">
                <a:solidFill>
                  <a:srgbClr val="FCC021"/>
                </a:solidFill>
                <a:latin typeface="Calibri"/>
              </a:rPr>
              <a:t>ç)  </a:t>
            </a:r>
            <a:r>
              <a:rPr lang="tr-TR" sz="2000" b="0" i="0">
                <a:solidFill>
                  <a:srgbClr val="FFFFFF"/>
                </a:solidFill>
                <a:latin typeface="Calibri"/>
              </a:rPr>
              <a:t>Bölge ve bölge sınırları hakkında önerme sunar.</a:t>
            </a:r>
          </a:p>
          <a:p>
            <a:pPr algn="l" marL="340187" indent="-340187">
              <a:spcBef>
                <a:spcPts val="0"/>
              </a:spcBef>
              <a:spcAft>
                <a:spcPts val="0"/>
              </a:spcAft>
            </a:pPr>
            <a:r>
              <a:rPr lang="tr-TR" sz="2000" b="1" i="0">
                <a:solidFill>
                  <a:srgbClr val="FCC021"/>
                </a:solidFill>
                <a:latin typeface="Calibri"/>
              </a:rPr>
              <a:t>d)  </a:t>
            </a:r>
            <a:r>
              <a:rPr lang="tr-TR" sz="2000" b="0" i="0">
                <a:solidFill>
                  <a:srgbClr val="FFFFFF"/>
                </a:solidFill>
                <a:latin typeface="Calibri"/>
              </a:rPr>
              <a:t>Bölgeyi ve bölge sınırlarını değerlendirir.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7. Ünite: Bölgeler, Ülkeler ve Küresel Bağlantılar</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62 / 187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35. HAFTA</a:t>
            </a:r>
          </a:p>
        </p:txBody>
      </p:sp>
      <p:cxnSp>
        <p:nvCxnSpPr>
          <p:cNvPr id="6" name="Connector 5"/>
          <p:cNvCxnSpPr/>
          <p:nvPr/>
        </p:nvCxnSpPr>
        <p:spPr>
          <a:xfrm>
            <a:off x="1351254" y="2212848"/>
            <a:ext cx="9489185" cy="0"/>
          </a:xfrm>
          <a:prstGeom prst="line">
            <a:avLst/>
          </a:prstGeom>
          <a:ln w="50800">
            <a:solidFill>
              <a:srgbClr val="D9D9D9"/>
            </a:solidFill>
          </a:ln>
        </p:spPr>
      </p:cxnSp>
      <p:sp>
        <p:nvSpPr>
          <p:cNvPr id="7" name="Oval 6"/>
          <p:cNvSpPr/>
          <p:nvPr/>
        </p:nvSpPr>
        <p:spPr>
          <a:xfrm>
            <a:off x="967206" y="1828800"/>
            <a:ext cx="768096" cy="76809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Anlam çözümleme</a:t>
            </a:r>
          </a:p>
        </p:txBody>
      </p:sp>
      <p:sp>
        <p:nvSpPr>
          <p:cNvPr id="9" name="TextBox 8"/>
          <p:cNvSpPr txBox="1"/>
          <p:nvPr/>
        </p:nvSpPr>
        <p:spPr>
          <a:xfrm>
            <a:off x="502920"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s. 222 tablosunu birlikte kontrol</a:t>
            </a:r>
          </a:p>
        </p:txBody>
      </p:sp>
      <p:sp>
        <p:nvSpPr>
          <p:cNvPr id="10" name="Oval 9"/>
          <p:cNvSpPr/>
          <p:nvPr/>
        </p:nvSpPr>
        <p:spPr>
          <a:xfrm>
            <a:off x="2865043"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400757"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Geçiş ve değişim</a:t>
            </a:r>
          </a:p>
        </p:txBody>
      </p:sp>
      <p:sp>
        <p:nvSpPr>
          <p:cNvPr id="12" name="TextBox 11"/>
          <p:cNvSpPr txBox="1"/>
          <p:nvPr/>
        </p:nvSpPr>
        <p:spPr>
          <a:xfrm>
            <a:off x="2400757"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Sınır nasıl çizilir, nasıl değişir? Önerme</a:t>
            </a:r>
          </a:p>
        </p:txBody>
      </p:sp>
      <p:sp>
        <p:nvSpPr>
          <p:cNvPr id="13" name="Oval 12"/>
          <p:cNvSpPr/>
          <p:nvPr/>
        </p:nvSpPr>
        <p:spPr>
          <a:xfrm>
            <a:off x="4762880" y="1828800"/>
            <a:ext cx="768096" cy="76809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4298594"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Avrupa Birliği</a:t>
            </a:r>
          </a:p>
        </p:txBody>
      </p:sp>
      <p:sp>
        <p:nvSpPr>
          <p:cNvPr id="15" name="TextBox 14"/>
          <p:cNvSpPr txBox="1"/>
          <p:nvPr/>
        </p:nvSpPr>
        <p:spPr>
          <a:xfrm>
            <a:off x="4298594"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Bir bölgenin sınırı genişliyor (s. 223-224)</a:t>
            </a:r>
          </a:p>
        </p:txBody>
      </p:sp>
      <p:sp>
        <p:nvSpPr>
          <p:cNvPr id="16" name="Oval 15"/>
          <p:cNvSpPr/>
          <p:nvPr/>
        </p:nvSpPr>
        <p:spPr>
          <a:xfrm>
            <a:off x="6660717"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6196431"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Bölge oluşturma</a:t>
            </a:r>
          </a:p>
        </p:txBody>
      </p:sp>
      <p:sp>
        <p:nvSpPr>
          <p:cNvPr id="18" name="TextBox 17"/>
          <p:cNvSpPr txBox="1"/>
          <p:nvPr/>
        </p:nvSpPr>
        <p:spPr>
          <a:xfrm>
            <a:off x="6196431"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Performans görevi (s. 225)</a:t>
            </a:r>
          </a:p>
        </p:txBody>
      </p:sp>
      <p:sp>
        <p:nvSpPr>
          <p:cNvPr id="19" name="Oval 18"/>
          <p:cNvSpPr/>
          <p:nvPr/>
        </p:nvSpPr>
        <p:spPr>
          <a:xfrm>
            <a:off x="8558554" y="1828800"/>
            <a:ext cx="768096" cy="76809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8094268"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Paylaşım</a:t>
            </a:r>
          </a:p>
        </p:txBody>
      </p:sp>
      <p:sp>
        <p:nvSpPr>
          <p:cNvPr id="21" name="TextBox 20"/>
          <p:cNvSpPr txBox="1"/>
          <p:nvPr/>
        </p:nvSpPr>
        <p:spPr>
          <a:xfrm>
            <a:off x="8094268"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Sunum, öz ve grup değerlendirme</a:t>
            </a:r>
          </a:p>
        </p:txBody>
      </p:sp>
      <p:sp>
        <p:nvSpPr>
          <p:cNvPr id="22" name="Oval 21"/>
          <p:cNvSpPr/>
          <p:nvPr/>
        </p:nvSpPr>
        <p:spPr>
          <a:xfrm>
            <a:off x="10456391"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6</a:t>
            </a:r>
          </a:p>
        </p:txBody>
      </p:sp>
      <p:sp>
        <p:nvSpPr>
          <p:cNvPr id="23" name="Rounded Rectangle 22"/>
          <p:cNvSpPr/>
          <p:nvPr/>
        </p:nvSpPr>
        <p:spPr>
          <a:xfrm>
            <a:off x="9992105"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Kapanış</a:t>
            </a:r>
          </a:p>
        </p:txBody>
      </p:sp>
      <p:sp>
        <p:nvSpPr>
          <p:cNvPr id="24" name="TextBox 23"/>
          <p:cNvSpPr txBox="1"/>
          <p:nvPr/>
        </p:nvSpPr>
        <p:spPr>
          <a:xfrm>
            <a:off x="9992105"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Ünite özeti, çıkış kartı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63 / 187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Geçen haftadan: şekilsel mi, işlevsel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HATIRLAYALIM</a:t>
            </a:r>
          </a:p>
        </p:txBody>
      </p:sp>
      <p:sp>
        <p:nvSpPr>
          <p:cNvPr id="6" name="Rounded Rectangle 5"/>
          <p:cNvSpPr/>
          <p:nvPr/>
        </p:nvSpPr>
        <p:spPr>
          <a:xfrm>
            <a:off x="502920" y="1261872"/>
            <a:ext cx="5455767" cy="42062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5455767" cy="566928"/>
          </a:xfrm>
          <a:prstGeom prst="roundRect">
            <a:avLst>
              <a:gd name="adj" fmla="val 25000"/>
            </a:avLst>
          </a:prstGeom>
          <a:solidFill>
            <a:srgbClr val="3E7D3A"/>
          </a:solidFill>
          <a:ln>
            <a:noFill/>
          </a:ln>
          <a:effectLst/>
        </p:spPr>
        <p:txBody>
          <a:bodyPr rtlCol="0" anchor="ctr"/>
          <a:lstStyle/>
          <a:p/>
        </p:txBody>
      </p:sp>
      <p:sp>
        <p:nvSpPr>
          <p:cNvPr id="8" name="Rectangle 7"/>
          <p:cNvSpPr/>
          <p:nvPr/>
        </p:nvSpPr>
        <p:spPr>
          <a:xfrm>
            <a:off x="502920" y="1545336"/>
            <a:ext cx="5455767" cy="283464"/>
          </a:xfrm>
          <a:prstGeom prst="rect">
            <a:avLst/>
          </a:prstGeom>
          <a:solidFill>
            <a:srgbClr val="3E7D3A"/>
          </a:solidFill>
          <a:ln>
            <a:noFill/>
          </a:ln>
          <a:effectLst/>
        </p:spPr>
        <p:txBody>
          <a:bodyPr rtlCol="0" anchor="ctr"/>
          <a:lstStyle/>
          <a:p/>
        </p:txBody>
      </p:sp>
      <p:sp>
        <p:nvSpPr>
          <p:cNvPr id="9" name="TextBox 8"/>
          <p:cNvSpPr txBox="1"/>
          <p:nvPr/>
        </p:nvSpPr>
        <p:spPr>
          <a:xfrm>
            <a:off x="594360" y="1261872"/>
            <a:ext cx="5272887" cy="566928"/>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Şekilsel bölge</a:t>
            </a:r>
          </a:p>
        </p:txBody>
      </p:sp>
      <p:sp>
        <p:nvSpPr>
          <p:cNvPr id="10" name="Rounded Rectangle 9"/>
          <p:cNvSpPr/>
          <p:nvPr/>
        </p:nvSpPr>
        <p:spPr>
          <a:xfrm>
            <a:off x="1051560" y="1993392"/>
            <a:ext cx="813175" cy="484632"/>
          </a:xfrm>
          <a:prstGeom prst="roundRect">
            <a:avLst>
              <a:gd name="adj" fmla="val 15000"/>
            </a:avLst>
          </a:prstGeom>
          <a:solidFill>
            <a:srgbClr val="6E9D6B"/>
          </a:solidFill>
          <a:ln>
            <a:noFill/>
          </a:ln>
          <a:effectLst/>
        </p:spPr>
        <p:txBody>
          <a:bodyPr rtlCol="0" anchor="ctr"/>
          <a:lstStyle/>
          <a:p/>
        </p:txBody>
      </p:sp>
      <p:sp>
        <p:nvSpPr>
          <p:cNvPr id="11" name="Rounded Rectangle 10"/>
          <p:cNvSpPr/>
          <p:nvPr/>
        </p:nvSpPr>
        <p:spPr>
          <a:xfrm>
            <a:off x="1051560" y="2551176"/>
            <a:ext cx="813175" cy="484632"/>
          </a:xfrm>
          <a:prstGeom prst="roundRect">
            <a:avLst>
              <a:gd name="adj" fmla="val 15000"/>
            </a:avLst>
          </a:prstGeom>
          <a:solidFill>
            <a:srgbClr val="6E9D6B"/>
          </a:solidFill>
          <a:ln>
            <a:noFill/>
          </a:ln>
          <a:effectLst/>
        </p:spPr>
        <p:txBody>
          <a:bodyPr rtlCol="0" anchor="ctr"/>
          <a:lstStyle/>
          <a:p/>
        </p:txBody>
      </p:sp>
      <p:sp>
        <p:nvSpPr>
          <p:cNvPr id="12" name="Rounded Rectangle 11"/>
          <p:cNvSpPr/>
          <p:nvPr/>
        </p:nvSpPr>
        <p:spPr>
          <a:xfrm>
            <a:off x="1051560" y="3108960"/>
            <a:ext cx="813175" cy="484632"/>
          </a:xfrm>
          <a:prstGeom prst="roundRect">
            <a:avLst>
              <a:gd name="adj" fmla="val 15000"/>
            </a:avLst>
          </a:prstGeom>
          <a:solidFill>
            <a:srgbClr val="6E9D6B"/>
          </a:solidFill>
          <a:ln>
            <a:noFill/>
          </a:ln>
          <a:effectLst/>
        </p:spPr>
        <p:txBody>
          <a:bodyPr rtlCol="0" anchor="ctr"/>
          <a:lstStyle/>
          <a:p/>
        </p:txBody>
      </p:sp>
      <p:sp>
        <p:nvSpPr>
          <p:cNvPr id="13" name="Rounded Rectangle 12"/>
          <p:cNvSpPr/>
          <p:nvPr/>
        </p:nvSpPr>
        <p:spPr>
          <a:xfrm>
            <a:off x="1937887" y="1993392"/>
            <a:ext cx="813175" cy="484632"/>
          </a:xfrm>
          <a:prstGeom prst="roundRect">
            <a:avLst>
              <a:gd name="adj" fmla="val 15000"/>
            </a:avLst>
          </a:prstGeom>
          <a:solidFill>
            <a:srgbClr val="6E9D6B"/>
          </a:solidFill>
          <a:ln>
            <a:noFill/>
          </a:ln>
          <a:effectLst/>
        </p:spPr>
        <p:txBody>
          <a:bodyPr rtlCol="0" anchor="ctr"/>
          <a:lstStyle/>
          <a:p/>
        </p:txBody>
      </p:sp>
      <p:sp>
        <p:nvSpPr>
          <p:cNvPr id="14" name="Rounded Rectangle 13"/>
          <p:cNvSpPr/>
          <p:nvPr/>
        </p:nvSpPr>
        <p:spPr>
          <a:xfrm>
            <a:off x="1937887" y="2551176"/>
            <a:ext cx="813175" cy="484632"/>
          </a:xfrm>
          <a:prstGeom prst="roundRect">
            <a:avLst>
              <a:gd name="adj" fmla="val 15000"/>
            </a:avLst>
          </a:prstGeom>
          <a:solidFill>
            <a:srgbClr val="6E9D6B"/>
          </a:solidFill>
          <a:ln>
            <a:noFill/>
          </a:ln>
          <a:effectLst/>
        </p:spPr>
        <p:txBody>
          <a:bodyPr rtlCol="0" anchor="ctr"/>
          <a:lstStyle/>
          <a:p/>
        </p:txBody>
      </p:sp>
      <p:sp>
        <p:nvSpPr>
          <p:cNvPr id="15" name="Rounded Rectangle 14"/>
          <p:cNvSpPr/>
          <p:nvPr/>
        </p:nvSpPr>
        <p:spPr>
          <a:xfrm>
            <a:off x="1937887" y="3108960"/>
            <a:ext cx="813175" cy="484632"/>
          </a:xfrm>
          <a:prstGeom prst="roundRect">
            <a:avLst>
              <a:gd name="adj" fmla="val 15000"/>
            </a:avLst>
          </a:prstGeom>
          <a:solidFill>
            <a:srgbClr val="6E9D6B"/>
          </a:solidFill>
          <a:ln>
            <a:noFill/>
          </a:ln>
          <a:effectLst/>
        </p:spPr>
        <p:txBody>
          <a:bodyPr rtlCol="0" anchor="ctr"/>
          <a:lstStyle/>
          <a:p/>
        </p:txBody>
      </p:sp>
      <p:sp>
        <p:nvSpPr>
          <p:cNvPr id="16" name="Rounded Rectangle 15"/>
          <p:cNvSpPr/>
          <p:nvPr/>
        </p:nvSpPr>
        <p:spPr>
          <a:xfrm>
            <a:off x="2824215" y="1993392"/>
            <a:ext cx="813175" cy="484632"/>
          </a:xfrm>
          <a:prstGeom prst="roundRect">
            <a:avLst>
              <a:gd name="adj" fmla="val 15000"/>
            </a:avLst>
          </a:prstGeom>
          <a:solidFill>
            <a:srgbClr val="6E9D6B"/>
          </a:solidFill>
          <a:ln>
            <a:noFill/>
          </a:ln>
          <a:effectLst/>
        </p:spPr>
        <p:txBody>
          <a:bodyPr rtlCol="0" anchor="ctr"/>
          <a:lstStyle/>
          <a:p/>
        </p:txBody>
      </p:sp>
      <p:sp>
        <p:nvSpPr>
          <p:cNvPr id="17" name="Rounded Rectangle 16"/>
          <p:cNvSpPr/>
          <p:nvPr/>
        </p:nvSpPr>
        <p:spPr>
          <a:xfrm>
            <a:off x="2824215" y="2551176"/>
            <a:ext cx="813175" cy="484632"/>
          </a:xfrm>
          <a:prstGeom prst="roundRect">
            <a:avLst>
              <a:gd name="adj" fmla="val 15000"/>
            </a:avLst>
          </a:prstGeom>
          <a:solidFill>
            <a:srgbClr val="6E9D6B"/>
          </a:solidFill>
          <a:ln>
            <a:noFill/>
          </a:ln>
          <a:effectLst/>
        </p:spPr>
        <p:txBody>
          <a:bodyPr rtlCol="0" anchor="ctr"/>
          <a:lstStyle/>
          <a:p/>
        </p:txBody>
      </p:sp>
      <p:sp>
        <p:nvSpPr>
          <p:cNvPr id="18" name="Rounded Rectangle 17"/>
          <p:cNvSpPr/>
          <p:nvPr/>
        </p:nvSpPr>
        <p:spPr>
          <a:xfrm>
            <a:off x="2824215" y="3108960"/>
            <a:ext cx="813175" cy="484632"/>
          </a:xfrm>
          <a:prstGeom prst="roundRect">
            <a:avLst>
              <a:gd name="adj" fmla="val 15000"/>
            </a:avLst>
          </a:prstGeom>
          <a:solidFill>
            <a:srgbClr val="6E9D6B"/>
          </a:solidFill>
          <a:ln>
            <a:noFill/>
          </a:ln>
          <a:effectLst/>
        </p:spPr>
        <p:txBody>
          <a:bodyPr rtlCol="0" anchor="ctr"/>
          <a:lstStyle/>
          <a:p/>
        </p:txBody>
      </p:sp>
      <p:sp>
        <p:nvSpPr>
          <p:cNvPr id="19" name="Rounded Rectangle 18"/>
          <p:cNvSpPr/>
          <p:nvPr/>
        </p:nvSpPr>
        <p:spPr>
          <a:xfrm>
            <a:off x="3710543" y="1993392"/>
            <a:ext cx="813175" cy="484632"/>
          </a:xfrm>
          <a:prstGeom prst="roundRect">
            <a:avLst>
              <a:gd name="adj" fmla="val 15000"/>
            </a:avLst>
          </a:prstGeom>
          <a:solidFill>
            <a:srgbClr val="6E9D6B"/>
          </a:solidFill>
          <a:ln>
            <a:noFill/>
          </a:ln>
          <a:effectLst/>
        </p:spPr>
        <p:txBody>
          <a:bodyPr rtlCol="0" anchor="ctr"/>
          <a:lstStyle/>
          <a:p/>
        </p:txBody>
      </p:sp>
      <p:sp>
        <p:nvSpPr>
          <p:cNvPr id="20" name="Rounded Rectangle 19"/>
          <p:cNvSpPr/>
          <p:nvPr/>
        </p:nvSpPr>
        <p:spPr>
          <a:xfrm>
            <a:off x="3710543" y="2551176"/>
            <a:ext cx="813175" cy="484632"/>
          </a:xfrm>
          <a:prstGeom prst="roundRect">
            <a:avLst>
              <a:gd name="adj" fmla="val 15000"/>
            </a:avLst>
          </a:prstGeom>
          <a:solidFill>
            <a:srgbClr val="6E9D6B"/>
          </a:solidFill>
          <a:ln>
            <a:noFill/>
          </a:ln>
          <a:effectLst/>
        </p:spPr>
        <p:txBody>
          <a:bodyPr rtlCol="0" anchor="ctr"/>
          <a:lstStyle/>
          <a:p/>
        </p:txBody>
      </p:sp>
      <p:sp>
        <p:nvSpPr>
          <p:cNvPr id="21" name="Rounded Rectangle 20"/>
          <p:cNvSpPr/>
          <p:nvPr/>
        </p:nvSpPr>
        <p:spPr>
          <a:xfrm>
            <a:off x="3710543" y="3108960"/>
            <a:ext cx="813175" cy="484632"/>
          </a:xfrm>
          <a:prstGeom prst="roundRect">
            <a:avLst>
              <a:gd name="adj" fmla="val 15000"/>
            </a:avLst>
          </a:prstGeom>
          <a:solidFill>
            <a:srgbClr val="6E9D6B"/>
          </a:solidFill>
          <a:ln>
            <a:noFill/>
          </a:ln>
          <a:effectLst/>
        </p:spPr>
        <p:txBody>
          <a:bodyPr rtlCol="0" anchor="ctr"/>
          <a:lstStyle/>
          <a:p/>
        </p:txBody>
      </p:sp>
      <p:sp>
        <p:nvSpPr>
          <p:cNvPr id="22" name="Rounded Rectangle 21"/>
          <p:cNvSpPr/>
          <p:nvPr/>
        </p:nvSpPr>
        <p:spPr>
          <a:xfrm>
            <a:off x="4596871" y="1993392"/>
            <a:ext cx="813175" cy="484632"/>
          </a:xfrm>
          <a:prstGeom prst="roundRect">
            <a:avLst>
              <a:gd name="adj" fmla="val 15000"/>
            </a:avLst>
          </a:prstGeom>
          <a:solidFill>
            <a:srgbClr val="6E9D6B"/>
          </a:solidFill>
          <a:ln>
            <a:noFill/>
          </a:ln>
          <a:effectLst/>
        </p:spPr>
        <p:txBody>
          <a:bodyPr rtlCol="0" anchor="ctr"/>
          <a:lstStyle/>
          <a:p/>
        </p:txBody>
      </p:sp>
      <p:sp>
        <p:nvSpPr>
          <p:cNvPr id="23" name="Rounded Rectangle 22"/>
          <p:cNvSpPr/>
          <p:nvPr/>
        </p:nvSpPr>
        <p:spPr>
          <a:xfrm>
            <a:off x="4596871" y="2551176"/>
            <a:ext cx="813175" cy="484632"/>
          </a:xfrm>
          <a:prstGeom prst="roundRect">
            <a:avLst>
              <a:gd name="adj" fmla="val 15000"/>
            </a:avLst>
          </a:prstGeom>
          <a:solidFill>
            <a:srgbClr val="6E9D6B"/>
          </a:solidFill>
          <a:ln>
            <a:noFill/>
          </a:ln>
          <a:effectLst/>
        </p:spPr>
        <p:txBody>
          <a:bodyPr rtlCol="0" anchor="ctr"/>
          <a:lstStyle/>
          <a:p/>
        </p:txBody>
      </p:sp>
      <p:sp>
        <p:nvSpPr>
          <p:cNvPr id="24" name="Rounded Rectangle 23"/>
          <p:cNvSpPr/>
          <p:nvPr/>
        </p:nvSpPr>
        <p:spPr>
          <a:xfrm>
            <a:off x="4596871" y="3108960"/>
            <a:ext cx="813175" cy="484632"/>
          </a:xfrm>
          <a:prstGeom prst="roundRect">
            <a:avLst>
              <a:gd name="adj" fmla="val 15000"/>
            </a:avLst>
          </a:prstGeom>
          <a:solidFill>
            <a:srgbClr val="6E9D6B"/>
          </a:solidFill>
          <a:ln>
            <a:noFill/>
          </a:ln>
          <a:effectLst/>
        </p:spPr>
        <p:txBody>
          <a:bodyPr rtlCol="0" anchor="ctr"/>
          <a:lstStyle/>
          <a:p/>
        </p:txBody>
      </p:sp>
      <p:sp>
        <p:nvSpPr>
          <p:cNvPr id="25" name="TextBox 24"/>
          <p:cNvSpPr txBox="1"/>
          <p:nvPr/>
        </p:nvSpPr>
        <p:spPr>
          <a:xfrm>
            <a:off x="685800" y="3730752"/>
            <a:ext cx="5090007" cy="1645920"/>
          </a:xfrm>
          <a:prstGeom prst="rect">
            <a:avLst/>
          </a:prstGeom>
          <a:noFill/>
        </p:spPr>
        <p:txBody>
          <a:bodyPr wrap="square" anchor="t" lIns="73152" rIns="73152" tIns="36576" bIns="36576">
            <a:noAutofit/>
          </a:bodyPr>
          <a:lstStyle/>
          <a:p>
            <a:pPr algn="l" marL="248620" indent="-248620">
              <a:spcBef>
                <a:spcPts val="0"/>
              </a:spcBef>
              <a:spcAft>
                <a:spcPts val="761"/>
              </a:spcAft>
            </a:pPr>
            <a:r>
              <a:rPr lang="tr-TR" sz="2000" b="1" i="0">
                <a:solidFill>
                  <a:srgbClr val="3E7D3A"/>
                </a:solidFill>
                <a:latin typeface="Calibri"/>
              </a:rPr>
              <a:t>•  </a:t>
            </a:r>
            <a:r>
              <a:rPr lang="tr-TR" sz="2000" b="0" i="0">
                <a:solidFill>
                  <a:srgbClr val="262626"/>
                </a:solidFill>
                <a:latin typeface="Calibri"/>
              </a:rPr>
              <a:t>Şekilsel bölgeler, bölge oluşturmada belirlenen kritere göre bir türdeşliğe sahiptir.</a:t>
            </a:r>
          </a:p>
          <a:p>
            <a:pPr algn="l" marL="248620" indent="-248620">
              <a:spcBef>
                <a:spcPts val="0"/>
              </a:spcBef>
              <a:spcAft>
                <a:spcPts val="0"/>
              </a:spcAft>
            </a:pPr>
            <a:r>
              <a:rPr lang="tr-TR" sz="2000" b="1" i="0">
                <a:solidFill>
                  <a:srgbClr val="3E7D3A"/>
                </a:solidFill>
                <a:latin typeface="Calibri"/>
              </a:rPr>
              <a:t>•  </a:t>
            </a:r>
            <a:r>
              <a:rPr lang="tr-TR" sz="2000" b="0" i="0">
                <a:solidFill>
                  <a:srgbClr val="262626"/>
                </a:solidFill>
                <a:latin typeface="Calibri"/>
              </a:rPr>
              <a:t>Şekilsel bölgelerin belirli bir merkezi yoktur.</a:t>
            </a:r>
          </a:p>
        </p:txBody>
      </p:sp>
      <p:sp>
        <p:nvSpPr>
          <p:cNvPr id="26" name="Rounded Rectangle 25"/>
          <p:cNvSpPr/>
          <p:nvPr/>
        </p:nvSpPr>
        <p:spPr>
          <a:xfrm>
            <a:off x="6233007" y="1261872"/>
            <a:ext cx="5455767" cy="420624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6233007" y="1261872"/>
            <a:ext cx="5455767" cy="566928"/>
          </a:xfrm>
          <a:prstGeom prst="roundRect">
            <a:avLst>
              <a:gd name="adj" fmla="val 25000"/>
            </a:avLst>
          </a:prstGeom>
          <a:solidFill>
            <a:srgbClr val="1F6EA8"/>
          </a:solidFill>
          <a:ln>
            <a:noFill/>
          </a:ln>
          <a:effectLst/>
        </p:spPr>
        <p:txBody>
          <a:bodyPr rtlCol="0" anchor="ctr"/>
          <a:lstStyle/>
          <a:p/>
        </p:txBody>
      </p:sp>
      <p:sp>
        <p:nvSpPr>
          <p:cNvPr id="28" name="Rectangle 27"/>
          <p:cNvSpPr/>
          <p:nvPr/>
        </p:nvSpPr>
        <p:spPr>
          <a:xfrm>
            <a:off x="6233007" y="1545336"/>
            <a:ext cx="5455767" cy="283464"/>
          </a:xfrm>
          <a:prstGeom prst="rect">
            <a:avLst/>
          </a:prstGeom>
          <a:solidFill>
            <a:srgbClr val="1F6EA8"/>
          </a:solidFill>
          <a:ln>
            <a:noFill/>
          </a:ln>
          <a:effectLst/>
        </p:spPr>
        <p:txBody>
          <a:bodyPr rtlCol="0" anchor="ctr"/>
          <a:lstStyle/>
          <a:p/>
        </p:txBody>
      </p:sp>
      <p:sp>
        <p:nvSpPr>
          <p:cNvPr id="29" name="TextBox 28"/>
          <p:cNvSpPr txBox="1"/>
          <p:nvPr/>
        </p:nvSpPr>
        <p:spPr>
          <a:xfrm>
            <a:off x="6324447" y="1261872"/>
            <a:ext cx="5272887" cy="566928"/>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İşlevsel (fonksiyonel) bölge</a:t>
            </a:r>
          </a:p>
        </p:txBody>
      </p:sp>
      <p:cxnSp>
        <p:nvCxnSpPr>
          <p:cNvPr id="30" name="Connector 29"/>
          <p:cNvCxnSpPr/>
          <p:nvPr/>
        </p:nvCxnSpPr>
        <p:spPr>
          <a:xfrm>
            <a:off x="9244640" y="2914842"/>
            <a:ext cx="350673" cy="149971"/>
          </a:xfrm>
          <a:prstGeom prst="line">
            <a:avLst/>
          </a:prstGeom>
          <a:ln w="25400">
            <a:solidFill>
              <a:srgbClr val="1F6EA8"/>
            </a:solidFill>
            <a:headEnd type="triangle" w="med" len="med"/>
            <a:tailEnd type="triangle" w="med" len="med"/>
          </a:ln>
        </p:spPr>
      </p:cxnSp>
      <p:sp>
        <p:nvSpPr>
          <p:cNvPr id="31" name="Oval 30"/>
          <p:cNvSpPr/>
          <p:nvPr/>
        </p:nvSpPr>
        <p:spPr>
          <a:xfrm>
            <a:off x="9618630" y="3001518"/>
            <a:ext cx="256032" cy="256032"/>
          </a:xfrm>
          <a:prstGeom prst="ellipse">
            <a:avLst/>
          </a:prstGeom>
          <a:solidFill>
            <a:srgbClr val="83AFCF"/>
          </a:solidFill>
          <a:ln>
            <a:noFill/>
          </a:ln>
          <a:effectLst/>
        </p:spPr>
        <p:txBody>
          <a:bodyPr rtlCol="0" anchor="ctr"/>
          <a:lstStyle/>
          <a:p/>
        </p:txBody>
      </p:sp>
      <p:cxnSp>
        <p:nvCxnSpPr>
          <p:cNvPr id="32" name="Connector 31"/>
          <p:cNvCxnSpPr/>
          <p:nvPr/>
        </p:nvCxnSpPr>
        <p:spPr>
          <a:xfrm>
            <a:off x="8960890" y="3102102"/>
            <a:ext cx="0" cy="198882"/>
          </a:xfrm>
          <a:prstGeom prst="line">
            <a:avLst/>
          </a:prstGeom>
          <a:ln w="25400">
            <a:solidFill>
              <a:srgbClr val="1F6EA8"/>
            </a:solidFill>
            <a:headEnd type="triangle" w="med" len="med"/>
            <a:tailEnd type="triangle" w="med" len="med"/>
          </a:ln>
        </p:spPr>
      </p:cxnSp>
      <p:sp>
        <p:nvSpPr>
          <p:cNvPr id="33" name="Oval 32"/>
          <p:cNvSpPr/>
          <p:nvPr/>
        </p:nvSpPr>
        <p:spPr>
          <a:xfrm>
            <a:off x="8832874" y="3337560"/>
            <a:ext cx="256032" cy="256032"/>
          </a:xfrm>
          <a:prstGeom prst="ellipse">
            <a:avLst/>
          </a:prstGeom>
          <a:solidFill>
            <a:srgbClr val="83AFCF"/>
          </a:solidFill>
          <a:ln>
            <a:noFill/>
          </a:ln>
          <a:effectLst/>
        </p:spPr>
        <p:txBody>
          <a:bodyPr rtlCol="0" anchor="ctr"/>
          <a:lstStyle/>
          <a:p/>
        </p:txBody>
      </p:sp>
      <p:cxnSp>
        <p:nvCxnSpPr>
          <p:cNvPr id="34" name="Connector 33"/>
          <p:cNvCxnSpPr/>
          <p:nvPr/>
        </p:nvCxnSpPr>
        <p:spPr>
          <a:xfrm flipH="1">
            <a:off x="8326467" y="2914842"/>
            <a:ext cx="350673" cy="149971"/>
          </a:xfrm>
          <a:prstGeom prst="line">
            <a:avLst/>
          </a:prstGeom>
          <a:ln w="25400">
            <a:solidFill>
              <a:srgbClr val="1F6EA8"/>
            </a:solidFill>
            <a:headEnd type="triangle" w="med" len="med"/>
            <a:tailEnd type="triangle" w="med" len="med"/>
          </a:ln>
        </p:spPr>
      </p:cxnSp>
      <p:sp>
        <p:nvSpPr>
          <p:cNvPr id="35" name="Oval 34"/>
          <p:cNvSpPr/>
          <p:nvPr/>
        </p:nvSpPr>
        <p:spPr>
          <a:xfrm>
            <a:off x="8047118" y="3001518"/>
            <a:ext cx="256032" cy="256032"/>
          </a:xfrm>
          <a:prstGeom prst="ellipse">
            <a:avLst/>
          </a:prstGeom>
          <a:solidFill>
            <a:srgbClr val="83AFCF"/>
          </a:solidFill>
          <a:ln>
            <a:noFill/>
          </a:ln>
          <a:effectLst/>
        </p:spPr>
        <p:txBody>
          <a:bodyPr rtlCol="0" anchor="ctr"/>
          <a:lstStyle/>
          <a:p/>
        </p:txBody>
      </p:sp>
      <p:cxnSp>
        <p:nvCxnSpPr>
          <p:cNvPr id="36" name="Connector 35"/>
          <p:cNvCxnSpPr/>
          <p:nvPr/>
        </p:nvCxnSpPr>
        <p:spPr>
          <a:xfrm flipH="1" flipV="1">
            <a:off x="8326467" y="2522170"/>
            <a:ext cx="350673" cy="149971"/>
          </a:xfrm>
          <a:prstGeom prst="line">
            <a:avLst/>
          </a:prstGeom>
          <a:ln w="25400">
            <a:solidFill>
              <a:srgbClr val="1F6EA8"/>
            </a:solidFill>
            <a:headEnd type="triangle" w="med" len="med"/>
            <a:tailEnd type="triangle" w="med" len="med"/>
          </a:ln>
        </p:spPr>
      </p:cxnSp>
      <p:sp>
        <p:nvSpPr>
          <p:cNvPr id="37" name="Oval 36"/>
          <p:cNvSpPr/>
          <p:nvPr/>
        </p:nvSpPr>
        <p:spPr>
          <a:xfrm>
            <a:off x="8047118" y="2329434"/>
            <a:ext cx="256032" cy="256032"/>
          </a:xfrm>
          <a:prstGeom prst="ellipse">
            <a:avLst/>
          </a:prstGeom>
          <a:solidFill>
            <a:srgbClr val="83AFCF"/>
          </a:solidFill>
          <a:ln>
            <a:noFill/>
          </a:ln>
          <a:effectLst/>
        </p:spPr>
        <p:txBody>
          <a:bodyPr rtlCol="0" anchor="ctr"/>
          <a:lstStyle/>
          <a:p/>
        </p:txBody>
      </p:sp>
      <p:cxnSp>
        <p:nvCxnSpPr>
          <p:cNvPr id="38" name="Connector 37"/>
          <p:cNvCxnSpPr/>
          <p:nvPr/>
        </p:nvCxnSpPr>
        <p:spPr>
          <a:xfrm flipV="1">
            <a:off x="8960890" y="2286000"/>
            <a:ext cx="0" cy="198882"/>
          </a:xfrm>
          <a:prstGeom prst="line">
            <a:avLst/>
          </a:prstGeom>
          <a:ln w="25400">
            <a:solidFill>
              <a:srgbClr val="1F6EA8"/>
            </a:solidFill>
            <a:headEnd type="triangle" w="med" len="med"/>
            <a:tailEnd type="triangle" w="med" len="med"/>
          </a:ln>
        </p:spPr>
      </p:cxnSp>
      <p:sp>
        <p:nvSpPr>
          <p:cNvPr id="39" name="Oval 38"/>
          <p:cNvSpPr/>
          <p:nvPr/>
        </p:nvSpPr>
        <p:spPr>
          <a:xfrm>
            <a:off x="8832874" y="1993392"/>
            <a:ext cx="256032" cy="256032"/>
          </a:xfrm>
          <a:prstGeom prst="ellipse">
            <a:avLst/>
          </a:prstGeom>
          <a:solidFill>
            <a:srgbClr val="83AFCF"/>
          </a:solidFill>
          <a:ln>
            <a:noFill/>
          </a:ln>
          <a:effectLst/>
        </p:spPr>
        <p:txBody>
          <a:bodyPr rtlCol="0" anchor="ctr"/>
          <a:lstStyle/>
          <a:p/>
        </p:txBody>
      </p:sp>
      <p:cxnSp>
        <p:nvCxnSpPr>
          <p:cNvPr id="40" name="Connector 39"/>
          <p:cNvCxnSpPr/>
          <p:nvPr/>
        </p:nvCxnSpPr>
        <p:spPr>
          <a:xfrm flipV="1">
            <a:off x="9244640" y="2522170"/>
            <a:ext cx="350673" cy="149971"/>
          </a:xfrm>
          <a:prstGeom prst="line">
            <a:avLst/>
          </a:prstGeom>
          <a:ln w="25400">
            <a:solidFill>
              <a:srgbClr val="1F6EA8"/>
            </a:solidFill>
            <a:headEnd type="triangle" w="med" len="med"/>
            <a:tailEnd type="triangle" w="med" len="med"/>
          </a:ln>
        </p:spPr>
      </p:cxnSp>
      <p:sp>
        <p:nvSpPr>
          <p:cNvPr id="41" name="Oval 40"/>
          <p:cNvSpPr/>
          <p:nvPr/>
        </p:nvSpPr>
        <p:spPr>
          <a:xfrm>
            <a:off x="9618630" y="2329434"/>
            <a:ext cx="256032" cy="256032"/>
          </a:xfrm>
          <a:prstGeom prst="ellipse">
            <a:avLst/>
          </a:prstGeom>
          <a:solidFill>
            <a:srgbClr val="83AFCF"/>
          </a:solidFill>
          <a:ln>
            <a:noFill/>
          </a:ln>
          <a:effectLst/>
        </p:spPr>
        <p:txBody>
          <a:bodyPr rtlCol="0" anchor="ctr"/>
          <a:lstStyle/>
          <a:p/>
        </p:txBody>
      </p:sp>
      <p:sp>
        <p:nvSpPr>
          <p:cNvPr id="42" name="Oval 41"/>
          <p:cNvSpPr/>
          <p:nvPr/>
        </p:nvSpPr>
        <p:spPr>
          <a:xfrm>
            <a:off x="8688856" y="2521458"/>
            <a:ext cx="544068" cy="544068"/>
          </a:xfrm>
          <a:prstGeom prst="ellipse">
            <a:avLst/>
          </a:prstGeom>
          <a:solidFill>
            <a:srgbClr val="1F6EA8"/>
          </a:solidFill>
          <a:ln>
            <a:noFill/>
          </a:ln>
          <a:effectLst/>
        </p:spPr>
        <p:txBody>
          <a:bodyPr rtlCol="0" anchor="ctr" wrap="square" lIns="0" rIns="0" tIns="0" bIns="0">
            <a:noAutofit/>
          </a:bodyPr>
          <a:lstStyle/>
          <a:p>
            <a:pPr algn="ctr">
              <a:spcBef>
                <a:spcPts val="0"/>
              </a:spcBef>
              <a:spcAft>
                <a:spcPts val="0"/>
              </a:spcAft>
            </a:pPr>
            <a:r>
              <a:rPr lang="tr-TR" sz="950" b="1" i="0">
                <a:solidFill>
                  <a:srgbClr val="FFFFFF"/>
                </a:solidFill>
                <a:latin typeface="Calibri"/>
              </a:rPr>
              <a:t>merkez</a:t>
            </a:r>
          </a:p>
        </p:txBody>
      </p:sp>
      <p:sp>
        <p:nvSpPr>
          <p:cNvPr id="43" name="TextBox 42"/>
          <p:cNvSpPr txBox="1"/>
          <p:nvPr/>
        </p:nvSpPr>
        <p:spPr>
          <a:xfrm>
            <a:off x="6415887" y="3730752"/>
            <a:ext cx="5090007" cy="1645920"/>
          </a:xfrm>
          <a:prstGeom prst="rect">
            <a:avLst/>
          </a:prstGeom>
          <a:noFill/>
        </p:spPr>
        <p:txBody>
          <a:bodyPr wrap="square" anchor="t" lIns="73152" rIns="73152" tIns="36576" bIns="36576">
            <a:noAutofit/>
          </a:bodyPr>
          <a:lstStyle/>
          <a:p>
            <a:pPr algn="l" marL="261051" indent="-261051">
              <a:spcBef>
                <a:spcPts val="0"/>
              </a:spcBef>
              <a:spcAft>
                <a:spcPts val="800"/>
              </a:spcAft>
            </a:pPr>
            <a:r>
              <a:rPr lang="tr-TR" sz="2100" b="1" i="0">
                <a:solidFill>
                  <a:srgbClr val="1F6EA8"/>
                </a:solidFill>
                <a:latin typeface="Calibri"/>
              </a:rPr>
              <a:t>•  </a:t>
            </a:r>
            <a:r>
              <a:rPr lang="tr-TR" sz="2100" b="0" i="0">
                <a:solidFill>
                  <a:srgbClr val="262626"/>
                </a:solidFill>
                <a:latin typeface="Calibri"/>
              </a:rPr>
              <a:t>İşlevsel bölge, bir çekirdek (merkez) ve bunu çevreleyen bir alana sahiptir.</a:t>
            </a:r>
          </a:p>
          <a:p>
            <a:pPr algn="l" marL="261051" indent="-261051">
              <a:spcBef>
                <a:spcPts val="0"/>
              </a:spcBef>
              <a:spcAft>
                <a:spcPts val="0"/>
              </a:spcAft>
            </a:pPr>
            <a:r>
              <a:rPr lang="tr-TR" sz="2100" b="1" i="0">
                <a:solidFill>
                  <a:srgbClr val="1F6EA8"/>
                </a:solidFill>
                <a:latin typeface="Calibri"/>
              </a:rPr>
              <a:t>•  </a:t>
            </a:r>
            <a:r>
              <a:rPr lang="tr-TR" sz="2100" b="0" i="0">
                <a:solidFill>
                  <a:srgbClr val="262626"/>
                </a:solidFill>
                <a:latin typeface="Calibri"/>
              </a:rPr>
              <a:t>Bu alan da çekirdeğe bağlıdır ve aralarında bir hareket vardır.</a:t>
            </a:r>
          </a:p>
        </p:txBody>
      </p:sp>
      <p:sp>
        <p:nvSpPr>
          <p:cNvPr id="44" name="Rounded Rectangle 43"/>
          <p:cNvSpPr/>
          <p:nvPr/>
        </p:nvSpPr>
        <p:spPr>
          <a:xfrm>
            <a:off x="502920" y="5577840"/>
            <a:ext cx="11185855" cy="694944"/>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100" b="0" i="0">
                <a:solidFill>
                  <a:srgbClr val="262626"/>
                </a:solidFill>
                <a:latin typeface="Calibri"/>
              </a:rPr>
              <a:t>Ölçüt sınır değildir: </a:t>
            </a:r>
            <a:r>
              <a:rPr lang="tr-TR" sz="2100" b="1" i="0">
                <a:solidFill>
                  <a:srgbClr val="262626"/>
                </a:solidFill>
                <a:latin typeface="Calibri"/>
              </a:rPr>
              <a:t>merkez ve hareket varsa işlevsel</a:t>
            </a:r>
            <a:r>
              <a:rPr lang="tr-TR" sz="2100" b="0" i="0">
                <a:solidFill>
                  <a:srgbClr val="262626"/>
                </a:solidFill>
                <a:latin typeface="Calibri"/>
              </a:rPr>
              <a:t>, kritere göre türdeş ve merkezsizse şekilsel.</a:t>
            </a:r>
          </a:p>
        </p:txBody>
      </p:sp>
      <p:sp>
        <p:nvSpPr>
          <p:cNvPr id="45" name="TextBox 4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46" name="Rounded Rectangle 4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47" name="TextBox 4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64 / 187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Yazılı: ortak hatalarımız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SINAV DÖNÜTÜ</a:t>
            </a:r>
          </a:p>
        </p:txBody>
      </p:sp>
      <p:sp>
        <p:nvSpPr>
          <p:cNvPr id="6" name="TextBox 5"/>
          <p:cNvSpPr txBox="1"/>
          <p:nvPr/>
        </p:nvSpPr>
        <p:spPr>
          <a:xfrm>
            <a:off x="502920" y="1170432"/>
            <a:ext cx="11185855" cy="5029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Sınıfımızın sonuçları (isimsiz): en çok yanlış yapılan sorular</a:t>
            </a:r>
          </a:p>
        </p:txBody>
      </p:sp>
      <p:graphicFrame>
        <p:nvGraphicFramePr>
          <p:cNvPr id="7" name="Table 6"/>
          <p:cNvGraphicFramePr>
            <a:graphicFrameLocks noGrp="1"/>
          </p:cNvGraphicFramePr>
          <p:nvPr/>
        </p:nvGraphicFramePr>
        <p:xfrm>
          <a:off x="502920" y="1764792"/>
          <a:ext cx="11185855" cy="3246120"/>
        </p:xfrm>
        <a:graphic>
          <a:graphicData uri="http://schemas.openxmlformats.org/drawingml/2006/table">
            <a:tbl>
              <a:tblPr firstRow="1" bandRow="1">
                <a:tableStyleId>{5C22544A-7EE6-4342-B048-85BDC9FD1C3A}</a:tableStyleId>
              </a:tblPr>
              <a:tblGrid>
                <a:gridCol w="1280160"/>
                <a:gridCol w="4023360"/>
                <a:gridCol w="4023360"/>
                <a:gridCol w="1858975"/>
              </a:tblGrid>
              <a:tr h="502920">
                <a:tc>
                  <a:txBody>
                    <a:bodyPr wrap="square"/>
                    <a:lstStyle/>
                    <a:p>
                      <a:pPr algn="ctr">
                        <a:spcBef>
                          <a:spcPts val="0"/>
                        </a:spcBef>
                        <a:spcAft>
                          <a:spcPts val="0"/>
                        </a:spcAft>
                      </a:pPr>
                      <a:r>
                        <a:rPr lang="tr-TR" sz="1800" b="1" i="0">
                          <a:solidFill>
                            <a:srgbClr val="FFFFFF"/>
                          </a:solidFill>
                          <a:latin typeface="Calibri"/>
                        </a:rPr>
                        <a:t>Soru</a:t>
                      </a:r>
                    </a:p>
                  </a:txBody>
                  <a:tcPr marL="54864" marR="54864" marT="18288" marB="18288" anchor="ctr">
                    <a:solidFill>
                      <a:srgbClr val="4F4F4F"/>
                    </a:solidFill>
                  </a:tcPr>
                </a:tc>
                <a:tc>
                  <a:txBody>
                    <a:bodyPr wrap="square"/>
                    <a:lstStyle/>
                    <a:p>
                      <a:pPr algn="ctr">
                        <a:spcBef>
                          <a:spcPts val="0"/>
                        </a:spcBef>
                        <a:spcAft>
                          <a:spcPts val="0"/>
                        </a:spcAft>
                      </a:pPr>
                      <a:r>
                        <a:rPr lang="tr-TR" sz="1800" b="1" i="0">
                          <a:solidFill>
                            <a:srgbClr val="FFFFFF"/>
                          </a:solidFill>
                          <a:latin typeface="Calibri"/>
                        </a:rPr>
                        <a:t>Ortak hata</a:t>
                      </a:r>
                    </a:p>
                  </a:txBody>
                  <a:tcPr marL="54864" marR="54864" marT="18288" marB="18288" anchor="ctr">
                    <a:solidFill>
                      <a:srgbClr val="4F4F4F"/>
                    </a:solidFill>
                  </a:tcPr>
                </a:tc>
                <a:tc>
                  <a:txBody>
                    <a:bodyPr wrap="square"/>
                    <a:lstStyle/>
                    <a:p>
                      <a:pPr algn="ctr">
                        <a:spcBef>
                          <a:spcPts val="0"/>
                        </a:spcBef>
                        <a:spcAft>
                          <a:spcPts val="0"/>
                        </a:spcAft>
                      </a:pPr>
                      <a:r>
                        <a:rPr lang="tr-TR" sz="1800" b="1" i="0">
                          <a:solidFill>
                            <a:srgbClr val="FFFFFF"/>
                          </a:solidFill>
                          <a:latin typeface="Calibri"/>
                        </a:rPr>
                        <a:t>Doğru çözüm</a:t>
                      </a:r>
                    </a:p>
                  </a:txBody>
                  <a:tcPr marL="54864" marR="54864" marT="18288" marB="18288" anchor="ctr">
                    <a:solidFill>
                      <a:srgbClr val="4F4F4F"/>
                    </a:solidFill>
                  </a:tcPr>
                </a:tc>
                <a:tc>
                  <a:txBody>
                    <a:bodyPr wrap="square"/>
                    <a:lstStyle/>
                    <a:p>
                      <a:pPr algn="ctr">
                        <a:spcBef>
                          <a:spcPts val="0"/>
                        </a:spcBef>
                        <a:spcAft>
                          <a:spcPts val="0"/>
                        </a:spcAft>
                      </a:pPr>
                      <a:r>
                        <a:rPr lang="tr-TR" sz="1800" b="1" i="0">
                          <a:solidFill>
                            <a:srgbClr val="FFFFFF"/>
                          </a:solidFill>
                          <a:latin typeface="Calibri"/>
                        </a:rPr>
                        <a:t>Hatanın kaynağı</a:t>
                      </a:r>
                    </a:p>
                  </a:txBody>
                  <a:tcPr marL="54864" marR="54864" marT="18288" marB="18288" anchor="ctr">
                    <a:solidFill>
                      <a:srgbClr val="4F4F4F"/>
                    </a:solidFill>
                  </a:tcPr>
                </a:tc>
              </a:tr>
              <a:tr h="914400">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r h="914400">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c>
                  <a:txBody>
                    <a:bodyPr wrap="square"/>
                    <a:lstStyle/>
                    <a:p>
                      <a:pPr algn="l">
                        <a:spcBef>
                          <a:spcPts val="0"/>
                        </a:spcBef>
                        <a:spcAft>
                          <a:spcPts val="0"/>
                        </a:spcAft>
                      </a:pPr>
                    </a:p>
                  </a:txBody>
                  <a:tcPr marL="54864" marR="54864" marT="18288" marB="18288" anchor="ctr">
                    <a:solidFill>
                      <a:srgbClr val="F0F0F0"/>
                    </a:solidFill>
                  </a:tcPr>
                </a:tc>
              </a:tr>
              <a:tr h="914400">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c>
                  <a:txBody>
                    <a:bodyPr wrap="square"/>
                    <a:lstStyle/>
                    <a:p>
                      <a:pPr algn="l">
                        <a:spcBef>
                          <a:spcPts val="0"/>
                        </a:spcBef>
                        <a:spcAft>
                          <a:spcPts val="0"/>
                        </a:spcAft>
                      </a:pPr>
                    </a:p>
                  </a:txBody>
                  <a:tcPr marL="54864" marR="54864" marT="18288" marB="18288" anchor="ctr">
                    <a:solidFill>
                      <a:srgbClr val="FFFFFF"/>
                    </a:solidFill>
                  </a:tcPr>
                </a:tc>
              </a:tr>
            </a:tbl>
          </a:graphicData>
        </a:graphic>
      </p:graphicFrame>
      <p:sp>
        <p:nvSpPr>
          <p:cNvPr id="8" name="Rounded Rectangle 7"/>
          <p:cNvSpPr/>
          <p:nvPr/>
        </p:nvSpPr>
        <p:spPr>
          <a:xfrm>
            <a:off x="502920" y="5285232"/>
            <a:ext cx="11185855" cy="8686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000" b="0" i="0">
                <a:solidFill>
                  <a:srgbClr val="262626"/>
                </a:solidFill>
                <a:latin typeface="Calibri"/>
              </a:rPr>
              <a:t>Hatanın kaynağı: </a:t>
            </a:r>
            <a:r>
              <a:rPr lang="tr-TR" sz="2000" b="1" i="0">
                <a:solidFill>
                  <a:srgbClr val="262626"/>
                </a:solidFill>
                <a:latin typeface="Calibri"/>
              </a:rPr>
              <a:t>kavram</a:t>
            </a:r>
            <a:r>
              <a:rPr lang="tr-TR" sz="2000" b="0" i="0">
                <a:solidFill>
                  <a:srgbClr val="262626"/>
                </a:solidFill>
                <a:latin typeface="Calibri"/>
              </a:rPr>
              <a:t> (tanımı karıştırdım) · </a:t>
            </a:r>
            <a:r>
              <a:rPr lang="tr-TR" sz="2000" b="1" i="0">
                <a:solidFill>
                  <a:srgbClr val="262626"/>
                </a:solidFill>
                <a:latin typeface="Calibri"/>
              </a:rPr>
              <a:t>harita okuma</a:t>
            </a:r>
            <a:r>
              <a:rPr lang="tr-TR" sz="2000" b="0" i="0">
                <a:solidFill>
                  <a:srgbClr val="262626"/>
                </a:solidFill>
                <a:latin typeface="Calibri"/>
              </a:rPr>
              <a:t> (lejantı, yönü okumadım) · </a:t>
            </a:r>
            <a:r>
              <a:rPr lang="tr-TR" sz="2000" b="1" i="0">
                <a:solidFill>
                  <a:srgbClr val="262626"/>
                </a:solidFill>
                <a:latin typeface="Calibri"/>
              </a:rPr>
              <a:t>yönerge</a:t>
            </a:r>
            <a:r>
              <a:rPr lang="tr-TR" sz="2000" b="0" i="0">
                <a:solidFill>
                  <a:srgbClr val="262626"/>
                </a:solidFill>
                <a:latin typeface="Calibri"/>
              </a:rPr>
              <a:t> (soruyu eksik okudum)</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65 / 187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Kâğıdını incele, hatanı yaz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SINAV DÖNÜTÜ</a:t>
            </a:r>
          </a:p>
        </p:txBody>
      </p:sp>
      <p:sp>
        <p:nvSpPr>
          <p:cNvPr id="6" name="Rounded Rectangle 5"/>
          <p:cNvSpPr/>
          <p:nvPr/>
        </p:nvSpPr>
        <p:spPr>
          <a:xfrm>
            <a:off x="502920" y="1261872"/>
            <a:ext cx="11185855" cy="1161288"/>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61872"/>
            <a:ext cx="1600200" cy="1161288"/>
          </a:xfrm>
          <a:prstGeom prst="roundRect">
            <a:avLst>
              <a:gd name="adj" fmla="val 8000"/>
            </a:avLst>
          </a:prstGeom>
          <a:solidFill>
            <a:srgbClr val="4F4F4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İNCELE</a:t>
            </a:r>
          </a:p>
        </p:txBody>
      </p:sp>
      <p:sp>
        <p:nvSpPr>
          <p:cNvPr id="8" name="TextBox 7"/>
          <p:cNvSpPr txBox="1"/>
          <p:nvPr/>
        </p:nvSpPr>
        <p:spPr>
          <a:xfrm>
            <a:off x="2240280" y="1261872"/>
            <a:ext cx="9357055" cy="1161288"/>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Kâğıdındaki yanlışları bul; anlamadığın soruyu sor.</a:t>
            </a:r>
          </a:p>
        </p:txBody>
      </p:sp>
      <p:sp>
        <p:nvSpPr>
          <p:cNvPr id="9" name="Rounded Rectangle 8"/>
          <p:cNvSpPr/>
          <p:nvPr/>
        </p:nvSpPr>
        <p:spPr>
          <a:xfrm>
            <a:off x="502920" y="2551176"/>
            <a:ext cx="11185855" cy="1161288"/>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2551176"/>
            <a:ext cx="1600200" cy="1161288"/>
          </a:xfrm>
          <a:prstGeom prst="roundRect">
            <a:avLst>
              <a:gd name="adj" fmla="val 8000"/>
            </a:avLst>
          </a:prstGeom>
          <a:solidFill>
            <a:srgbClr val="4F4F4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YAZ</a:t>
            </a:r>
          </a:p>
        </p:txBody>
      </p:sp>
      <p:sp>
        <p:nvSpPr>
          <p:cNvPr id="11" name="TextBox 10"/>
          <p:cNvSpPr txBox="1"/>
          <p:nvPr/>
        </p:nvSpPr>
        <p:spPr>
          <a:xfrm>
            <a:off x="2240280" y="2551176"/>
            <a:ext cx="9357055" cy="1161288"/>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Defterine: ortak hata → doğru çözüm.</a:t>
            </a:r>
          </a:p>
        </p:txBody>
      </p:sp>
      <p:sp>
        <p:nvSpPr>
          <p:cNvPr id="12" name="Rounded Rectangle 11"/>
          <p:cNvSpPr/>
          <p:nvPr/>
        </p:nvSpPr>
        <p:spPr>
          <a:xfrm>
            <a:off x="502920" y="3840480"/>
            <a:ext cx="11185855" cy="1161288"/>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840480"/>
            <a:ext cx="1600200" cy="1161288"/>
          </a:xfrm>
          <a:prstGeom prst="roundRect">
            <a:avLst>
              <a:gd name="adj" fmla="val 8000"/>
            </a:avLst>
          </a:prstGeom>
          <a:solidFill>
            <a:srgbClr val="4F4F4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SOR</a:t>
            </a:r>
          </a:p>
        </p:txBody>
      </p:sp>
      <p:sp>
        <p:nvSpPr>
          <p:cNvPr id="14" name="TextBox 13"/>
          <p:cNvSpPr txBox="1"/>
          <p:nvPr/>
        </p:nvSpPr>
        <p:spPr>
          <a:xfrm>
            <a:off x="2240280" y="3840480"/>
            <a:ext cx="9357055" cy="1161288"/>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İstersen kâğıdını öğretmeninle bir kez daha inceleyebilirsin.</a:t>
            </a:r>
          </a:p>
        </p:txBody>
      </p:sp>
      <p:sp>
        <p:nvSpPr>
          <p:cNvPr id="15" name="Rounded Rectangle 14"/>
          <p:cNvSpPr/>
          <p:nvPr/>
        </p:nvSpPr>
        <p:spPr>
          <a:xfrm>
            <a:off x="502920" y="5129784"/>
            <a:ext cx="11185855" cy="1161288"/>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5129784"/>
            <a:ext cx="1600200" cy="1161288"/>
          </a:xfrm>
          <a:prstGeom prst="roundRect">
            <a:avLst>
              <a:gd name="adj" fmla="val 8000"/>
            </a:avLst>
          </a:prstGeom>
          <a:solidFill>
            <a:srgbClr val="4F4F4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İTİRAZ</a:t>
            </a:r>
          </a:p>
        </p:txBody>
      </p:sp>
      <p:sp>
        <p:nvSpPr>
          <p:cNvPr id="17" name="TextBox 16"/>
          <p:cNvSpPr txBox="1"/>
          <p:nvPr/>
        </p:nvSpPr>
        <p:spPr>
          <a:xfrm>
            <a:off x="2240280" y="5129784"/>
            <a:ext cx="9357055" cy="1161288"/>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Sonuçların ilanını takip eden 5 iş günü içinde velin okul yönetimine yazılı başvurabilir.</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66 / 187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Anlam Çözümleme Tablosu</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İKİLİ · 5 dk</a:t>
            </a:r>
          </a:p>
        </p:txBody>
      </p:sp>
      <p:sp>
        <p:nvSpPr>
          <p:cNvPr id="6" name="TextBox 5"/>
          <p:cNvSpPr txBox="1"/>
          <p:nvPr/>
        </p:nvSpPr>
        <p:spPr>
          <a:xfrm>
            <a:off x="502920" y="1188720"/>
            <a:ext cx="11185855" cy="64008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Yönerge:</a:t>
            </a:r>
            <a:r>
              <a:rPr lang="tr-TR" sz="1800" b="0" i="0">
                <a:solidFill>
                  <a:srgbClr val="262626"/>
                </a:solidFill>
                <a:latin typeface="Calibri"/>
              </a:rPr>
              <a:t> Aşağıdaki tabloda verilen bölge örneklerinin hangi bölge türüne ait olduğunu ilgili kutucukları işaretleyerek belirtiniz.</a:t>
            </a:r>
          </a:p>
        </p:txBody>
      </p:sp>
      <p:sp>
        <p:nvSpPr>
          <p:cNvPr id="7" name="Rounded Rectangle 6"/>
          <p:cNvSpPr/>
          <p:nvPr/>
        </p:nvSpPr>
        <p:spPr>
          <a:xfrm>
            <a:off x="502920" y="1947672"/>
            <a:ext cx="4206240" cy="1347216"/>
          </a:xfrm>
          <a:prstGeom prst="roundRect">
            <a:avLst>
              <a:gd name="adj" fmla="val 8000"/>
            </a:avLst>
          </a:prstGeom>
          <a:solidFill>
            <a:srgbClr val="F0F0F0"/>
          </a:solidFill>
          <a:ln>
            <a:noFill/>
          </a:ln>
          <a:effectLst/>
        </p:spPr>
        <p:txBody>
          <a:bodyPr rtlCol="0" anchor="ctr"/>
          <a:lstStyle/>
          <a:p/>
        </p:txBody>
      </p:sp>
      <p:sp>
        <p:nvSpPr>
          <p:cNvPr id="8" name="Rounded Rectangle 7"/>
          <p:cNvSpPr/>
          <p:nvPr/>
        </p:nvSpPr>
        <p:spPr>
          <a:xfrm>
            <a:off x="502920" y="1947672"/>
            <a:ext cx="1600200" cy="134721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KARŞILAŞTIR</a:t>
            </a:r>
          </a:p>
        </p:txBody>
      </p:sp>
      <p:sp>
        <p:nvSpPr>
          <p:cNvPr id="9" name="TextBox 8"/>
          <p:cNvSpPr txBox="1"/>
          <p:nvPr/>
        </p:nvSpPr>
        <p:spPr>
          <a:xfrm>
            <a:off x="2240280" y="1947672"/>
            <a:ext cx="2377440" cy="134721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Tablonu sıra arkadaşınınkiyle karşılaştır.</a:t>
            </a:r>
          </a:p>
        </p:txBody>
      </p:sp>
      <p:sp>
        <p:nvSpPr>
          <p:cNvPr id="10" name="Rounded Rectangle 9"/>
          <p:cNvSpPr/>
          <p:nvPr/>
        </p:nvSpPr>
        <p:spPr>
          <a:xfrm>
            <a:off x="502920" y="3422904"/>
            <a:ext cx="4206240" cy="1347216"/>
          </a:xfrm>
          <a:prstGeom prst="roundRect">
            <a:avLst>
              <a:gd name="adj" fmla="val 8000"/>
            </a:avLst>
          </a:prstGeom>
          <a:solidFill>
            <a:srgbClr val="F0F0F0"/>
          </a:solidFill>
          <a:ln>
            <a:noFill/>
          </a:ln>
          <a:effectLst/>
        </p:spPr>
        <p:txBody>
          <a:bodyPr rtlCol="0" anchor="ctr"/>
          <a:lstStyle/>
          <a:p/>
        </p:txBody>
      </p:sp>
      <p:sp>
        <p:nvSpPr>
          <p:cNvPr id="11" name="Rounded Rectangle 10"/>
          <p:cNvSpPr/>
          <p:nvPr/>
        </p:nvSpPr>
        <p:spPr>
          <a:xfrm>
            <a:off x="502920" y="3422904"/>
            <a:ext cx="1600200" cy="134721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BUL</a:t>
            </a:r>
          </a:p>
        </p:txBody>
      </p:sp>
      <p:sp>
        <p:nvSpPr>
          <p:cNvPr id="12" name="TextBox 11"/>
          <p:cNvSpPr txBox="1"/>
          <p:nvPr/>
        </p:nvSpPr>
        <p:spPr>
          <a:xfrm>
            <a:off x="2240280" y="3422904"/>
            <a:ext cx="2377440" cy="134721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Farklı işaretlediğiniz örnekleri bulun.</a:t>
            </a:r>
          </a:p>
        </p:txBody>
      </p:sp>
      <p:sp>
        <p:nvSpPr>
          <p:cNvPr id="13" name="Rounded Rectangle 12"/>
          <p:cNvSpPr/>
          <p:nvPr/>
        </p:nvSpPr>
        <p:spPr>
          <a:xfrm>
            <a:off x="502920" y="4898136"/>
            <a:ext cx="4206240" cy="1347216"/>
          </a:xfrm>
          <a:prstGeom prst="roundRect">
            <a:avLst>
              <a:gd name="adj" fmla="val 8000"/>
            </a:avLst>
          </a:prstGeom>
          <a:solidFill>
            <a:srgbClr val="F0F0F0"/>
          </a:solidFill>
          <a:ln>
            <a:noFill/>
          </a:ln>
          <a:effectLst/>
        </p:spPr>
        <p:txBody>
          <a:bodyPr rtlCol="0" anchor="ctr"/>
          <a:lstStyle/>
          <a:p/>
        </p:txBody>
      </p:sp>
      <p:sp>
        <p:nvSpPr>
          <p:cNvPr id="14" name="Rounded Rectangle 13"/>
          <p:cNvSpPr/>
          <p:nvPr/>
        </p:nvSpPr>
        <p:spPr>
          <a:xfrm>
            <a:off x="502920" y="4898136"/>
            <a:ext cx="1600200" cy="134721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GEREKÇE</a:t>
            </a:r>
          </a:p>
        </p:txBody>
      </p:sp>
      <p:sp>
        <p:nvSpPr>
          <p:cNvPr id="15" name="TextBox 14"/>
          <p:cNvSpPr txBox="1"/>
          <p:nvPr/>
        </p:nvSpPr>
        <p:spPr>
          <a:xfrm>
            <a:off x="2240280" y="4898136"/>
            <a:ext cx="2377440" cy="134721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Anahtarla gerekçenizi söyleyin; farklı renkle düzeltin.</a:t>
            </a:r>
          </a:p>
        </p:txBody>
      </p:sp>
      <p:sp>
        <p:nvSpPr>
          <p:cNvPr id="16" name="Rounded Rectangle 15"/>
          <p:cNvSpPr/>
          <p:nvPr/>
        </p:nvSpPr>
        <p:spPr>
          <a:xfrm>
            <a:off x="4983480" y="1947672"/>
            <a:ext cx="6705295" cy="914400"/>
          </a:xfrm>
          <a:prstGeom prst="roundRect">
            <a:avLst>
              <a:gd name="adj" fmla="val 8000"/>
            </a:avLst>
          </a:prstGeom>
          <a:solidFill>
            <a:srgbClr val="FFFFFF"/>
          </a:solidFill>
          <a:ln w="25400">
            <a:solidFill>
              <a:srgbClr val="4F4F4F"/>
            </a:solidFill>
          </a:ln>
          <a:effectLst/>
        </p:spPr>
        <p:txBody>
          <a:bodyPr rtlCol="0" anchor="ctr" wrap="square" lIns="128016" rIns="128016" tIns="73152" bIns="73152">
            <a:noAutofit/>
          </a:bodyPr>
          <a:lstStyle/>
          <a:p>
            <a:pPr algn="ctr">
              <a:spcBef>
                <a:spcPts val="0"/>
              </a:spcBef>
              <a:spcAft>
                <a:spcPts val="0"/>
              </a:spcAft>
            </a:pPr>
            <a:r>
              <a:rPr lang="tr-TR" sz="2000" b="0" i="0">
                <a:solidFill>
                  <a:srgbClr val="262626"/>
                </a:solidFill>
                <a:latin typeface="Calibri"/>
              </a:rPr>
              <a:t>1. Bir </a:t>
            </a:r>
            <a:r>
              <a:rPr lang="tr-TR" sz="2000" b="1" i="0">
                <a:solidFill>
                  <a:srgbClr val="262626"/>
                </a:solidFill>
                <a:latin typeface="Calibri"/>
              </a:rPr>
              <a:t>merkez</a:t>
            </a:r>
            <a:r>
              <a:rPr lang="tr-TR" sz="2000" b="0" i="0">
                <a:solidFill>
                  <a:srgbClr val="262626"/>
                </a:solidFill>
                <a:latin typeface="Calibri"/>
              </a:rPr>
              <a:t> ve ona bağlı </a:t>
            </a:r>
            <a:r>
              <a:rPr lang="tr-TR" sz="2000" b="1" i="0">
                <a:solidFill>
                  <a:srgbClr val="262626"/>
                </a:solidFill>
                <a:latin typeface="Calibri"/>
              </a:rPr>
              <a:t>çevre</a:t>
            </a:r>
            <a:r>
              <a:rPr lang="tr-TR" sz="2000" b="0" i="0">
                <a:solidFill>
                  <a:srgbClr val="262626"/>
                </a:solidFill>
                <a:latin typeface="Calibri"/>
              </a:rPr>
              <a:t> var mı? Aralarında </a:t>
            </a:r>
            <a:r>
              <a:rPr lang="tr-TR" sz="2000" b="1" i="0">
                <a:solidFill>
                  <a:srgbClr val="262626"/>
                </a:solidFill>
                <a:latin typeface="Calibri"/>
              </a:rPr>
              <a:t>hareket</a:t>
            </a:r>
            <a:r>
              <a:rPr lang="tr-TR" sz="2000" b="0" i="0">
                <a:solidFill>
                  <a:srgbClr val="262626"/>
                </a:solidFill>
                <a:latin typeface="Calibri"/>
              </a:rPr>
              <a:t> var mı?</a:t>
            </a:r>
          </a:p>
        </p:txBody>
      </p:sp>
      <p:cxnSp>
        <p:nvCxnSpPr>
          <p:cNvPr id="17" name="Connector 16"/>
          <p:cNvCxnSpPr/>
          <p:nvPr/>
        </p:nvCxnSpPr>
        <p:spPr>
          <a:xfrm>
            <a:off x="10705795" y="2862072"/>
            <a:ext cx="0" cy="411480"/>
          </a:xfrm>
          <a:prstGeom prst="line">
            <a:avLst/>
          </a:prstGeom>
          <a:ln w="31750">
            <a:solidFill>
              <a:srgbClr val="4F4F4F"/>
            </a:solidFill>
            <a:tailEnd type="triangle" w="med" len="med"/>
          </a:ln>
        </p:spPr>
      </p:cxnSp>
      <p:sp>
        <p:nvSpPr>
          <p:cNvPr id="18" name="Rounded Rectangle 17"/>
          <p:cNvSpPr/>
          <p:nvPr/>
        </p:nvSpPr>
        <p:spPr>
          <a:xfrm>
            <a:off x="9722815" y="3319272"/>
            <a:ext cx="1965960" cy="685800"/>
          </a:xfrm>
          <a:prstGeom prst="roundRect">
            <a:avLst>
              <a:gd name="adj" fmla="val 8000"/>
            </a:avLst>
          </a:prstGeom>
          <a:solidFill>
            <a:srgbClr val="1F6EA8"/>
          </a:solidFill>
          <a:ln>
            <a:noFill/>
          </a:ln>
          <a:effectLst/>
        </p:spPr>
        <p:txBody>
          <a:bodyPr rtlCol="0" anchor="ctr" wrap="square" lIns="128016" rIns="128016" tIns="73152" bIns="73152">
            <a:noAutofit/>
          </a:bodyPr>
          <a:lstStyle/>
          <a:p>
            <a:pPr algn="ctr">
              <a:spcBef>
                <a:spcPts val="0"/>
              </a:spcBef>
              <a:spcAft>
                <a:spcPts val="0"/>
              </a:spcAft>
            </a:pPr>
            <a:r>
              <a:rPr lang="tr-TR" sz="1900" b="0" i="0">
                <a:solidFill>
                  <a:srgbClr val="FFFFFF"/>
                </a:solidFill>
                <a:latin typeface="Calibri"/>
              </a:rPr>
              <a:t>EVET → </a:t>
            </a:r>
            <a:r>
              <a:rPr lang="tr-TR" sz="1900" b="1" i="0">
                <a:solidFill>
                  <a:srgbClr val="FFFFFF"/>
                </a:solidFill>
                <a:latin typeface="Calibri"/>
              </a:rPr>
              <a:t>İşlevsel</a:t>
            </a:r>
          </a:p>
        </p:txBody>
      </p:sp>
      <p:cxnSp>
        <p:nvCxnSpPr>
          <p:cNvPr id="19" name="Connector 18"/>
          <p:cNvCxnSpPr/>
          <p:nvPr/>
        </p:nvCxnSpPr>
        <p:spPr>
          <a:xfrm>
            <a:off x="6446520" y="2862072"/>
            <a:ext cx="0" cy="411480"/>
          </a:xfrm>
          <a:prstGeom prst="line">
            <a:avLst/>
          </a:prstGeom>
          <a:ln w="31750">
            <a:solidFill>
              <a:srgbClr val="4F4F4F"/>
            </a:solidFill>
            <a:tailEnd type="triangle" w="med" len="med"/>
          </a:ln>
        </p:spPr>
      </p:cxnSp>
      <p:sp>
        <p:nvSpPr>
          <p:cNvPr id="20" name="Rounded Rectangle 19"/>
          <p:cNvSpPr/>
          <p:nvPr/>
        </p:nvSpPr>
        <p:spPr>
          <a:xfrm>
            <a:off x="4983480" y="3319272"/>
            <a:ext cx="4556455" cy="6858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1800" b="0" i="0">
                <a:solidFill>
                  <a:srgbClr val="262626"/>
                </a:solidFill>
                <a:latin typeface="Calibri"/>
              </a:rPr>
              <a:t>HAYIR → kritere göre türdeş: </a:t>
            </a:r>
            <a:r>
              <a:rPr lang="tr-TR" sz="1800" b="1" i="0">
                <a:solidFill>
                  <a:srgbClr val="262626"/>
                </a:solidFill>
                <a:latin typeface="Calibri"/>
              </a:rPr>
              <a:t>şekilsel</a:t>
            </a:r>
          </a:p>
        </p:txBody>
      </p:sp>
      <p:cxnSp>
        <p:nvCxnSpPr>
          <p:cNvPr id="21" name="Connector 20"/>
          <p:cNvCxnSpPr/>
          <p:nvPr/>
        </p:nvCxnSpPr>
        <p:spPr>
          <a:xfrm>
            <a:off x="6446520" y="4005072"/>
            <a:ext cx="0" cy="201168"/>
          </a:xfrm>
          <a:prstGeom prst="line">
            <a:avLst/>
          </a:prstGeom>
          <a:ln w="31750">
            <a:solidFill>
              <a:srgbClr val="4F4F4F"/>
            </a:solidFill>
            <a:tailEnd type="triangle" w="med" len="med"/>
          </a:ln>
        </p:spPr>
      </p:cxnSp>
      <p:sp>
        <p:nvSpPr>
          <p:cNvPr id="22" name="Rounded Rectangle 21"/>
          <p:cNvSpPr/>
          <p:nvPr/>
        </p:nvSpPr>
        <p:spPr>
          <a:xfrm>
            <a:off x="4983480" y="4233672"/>
            <a:ext cx="6705295" cy="384048"/>
          </a:xfrm>
          <a:prstGeom prst="roundRect">
            <a:avLst>
              <a:gd name="adj" fmla="val 8000"/>
            </a:avLst>
          </a:prstGeom>
          <a:solidFill>
            <a:srgbClr val="FFFFFF"/>
          </a:solidFill>
          <a:ln w="25400">
            <a:solidFill>
              <a:srgbClr val="4F4F4F"/>
            </a:solidFill>
          </a:ln>
          <a:effectLst/>
        </p:spPr>
        <p:txBody>
          <a:bodyPr rtlCol="0" anchor="ctr" wrap="square" lIns="128016" rIns="128016" tIns="0" bIns="0">
            <a:noAutofit/>
          </a:bodyPr>
          <a:lstStyle/>
          <a:p>
            <a:pPr algn="ctr">
              <a:spcBef>
                <a:spcPts val="0"/>
              </a:spcBef>
              <a:spcAft>
                <a:spcPts val="0"/>
              </a:spcAft>
            </a:pPr>
            <a:r>
              <a:rPr lang="tr-TR" sz="1900" b="1" i="0">
                <a:solidFill>
                  <a:srgbClr val="262626"/>
                </a:solidFill>
                <a:latin typeface="Calibri"/>
              </a:rPr>
              <a:t>2. Kriter doğal mı, beşerî mi?</a:t>
            </a:r>
          </a:p>
        </p:txBody>
      </p:sp>
      <p:sp>
        <p:nvSpPr>
          <p:cNvPr id="23" name="Rounded Rectangle 22"/>
          <p:cNvSpPr/>
          <p:nvPr/>
        </p:nvSpPr>
        <p:spPr>
          <a:xfrm>
            <a:off x="4983480" y="4736592"/>
            <a:ext cx="3261207" cy="1554480"/>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600"/>
              </a:spcAft>
            </a:pPr>
            <a:r>
              <a:rPr lang="tr-TR" sz="1800" b="1" i="0">
                <a:solidFill>
                  <a:srgbClr val="FFFFFF"/>
                </a:solidFill>
                <a:latin typeface="Calibri"/>
              </a:rPr>
              <a:t>Doğal şekilsel</a:t>
            </a:r>
          </a:p>
          <a:p>
            <a:pPr algn="ctr">
              <a:spcBef>
                <a:spcPts val="0"/>
              </a:spcBef>
              <a:spcAft>
                <a:spcPts val="0"/>
              </a:spcAft>
            </a:pPr>
            <a:r>
              <a:rPr lang="tr-TR" sz="1800" b="0" i="0">
                <a:solidFill>
                  <a:srgbClr val="FFFFFF"/>
                </a:solidFill>
                <a:latin typeface="Calibri"/>
              </a:rPr>
              <a:t>yer şekilleri · iklim · su (hidrografik) · toprak · bitki · afet</a:t>
            </a:r>
          </a:p>
        </p:txBody>
      </p:sp>
      <p:sp>
        <p:nvSpPr>
          <p:cNvPr id="24" name="Rounded Rectangle 23"/>
          <p:cNvSpPr/>
          <p:nvPr/>
        </p:nvSpPr>
        <p:spPr>
          <a:xfrm>
            <a:off x="8427567" y="4736592"/>
            <a:ext cx="3261207" cy="1554480"/>
          </a:xfrm>
          <a:prstGeom prst="roundRect">
            <a:avLst>
              <a:gd name="adj" fmla="val 8000"/>
            </a:avLst>
          </a:prstGeom>
          <a:solidFill>
            <a:srgbClr val="B05A1E"/>
          </a:solidFill>
          <a:ln>
            <a:noFill/>
          </a:ln>
          <a:effectLst/>
        </p:spPr>
        <p:txBody>
          <a:bodyPr rtlCol="0" anchor="ctr" wrap="square" lIns="128016" rIns="128016" tIns="73152" bIns="73152">
            <a:noAutofit/>
          </a:bodyPr>
          <a:lstStyle/>
          <a:p>
            <a:pPr algn="ctr">
              <a:spcBef>
                <a:spcPts val="0"/>
              </a:spcBef>
              <a:spcAft>
                <a:spcPts val="583"/>
              </a:spcAft>
            </a:pPr>
            <a:r>
              <a:rPr lang="tr-TR" sz="1750" b="1" i="0">
                <a:solidFill>
                  <a:srgbClr val="FFFFFF"/>
                </a:solidFill>
                <a:latin typeface="Calibri"/>
              </a:rPr>
              <a:t>Beşerî şekilsel</a:t>
            </a:r>
          </a:p>
          <a:p>
            <a:pPr algn="ctr">
              <a:spcBef>
                <a:spcPts val="0"/>
              </a:spcBef>
              <a:spcAft>
                <a:spcPts val="0"/>
              </a:spcAft>
            </a:pPr>
            <a:r>
              <a:rPr lang="tr-TR" sz="1750" b="0" i="0">
                <a:solidFill>
                  <a:srgbClr val="FFFFFF"/>
                </a:solidFill>
                <a:latin typeface="Calibri"/>
              </a:rPr>
              <a:t>ham madde · üretim · sanayi · nüfus · yerleşme · kültür · siyasi, askerî, ekonomik iş birliği</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222</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67 / 187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Anlam Çözümleme Tablosu 1-12</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a:t>
            </a:r>
          </a:p>
        </p:txBody>
      </p:sp>
      <p:sp>
        <p:nvSpPr>
          <p:cNvPr id="6" name="Rectangle 5"/>
          <p:cNvSpPr/>
          <p:nvPr/>
        </p:nvSpPr>
        <p:spPr>
          <a:xfrm>
            <a:off x="502920" y="1216152"/>
            <a:ext cx="457200"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No</a:t>
            </a:r>
          </a:p>
        </p:txBody>
      </p:sp>
      <p:sp>
        <p:nvSpPr>
          <p:cNvPr id="7" name="Rectangle 6"/>
          <p:cNvSpPr/>
          <p:nvPr/>
        </p:nvSpPr>
        <p:spPr>
          <a:xfrm>
            <a:off x="960120" y="1216152"/>
            <a:ext cx="4983480"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700" b="1" i="0">
                <a:solidFill>
                  <a:srgbClr val="FFFFFF"/>
                </a:solidFill>
                <a:latin typeface="Calibri"/>
              </a:rPr>
              <a:t>Bölge örnekleri</a:t>
            </a:r>
          </a:p>
        </p:txBody>
      </p:sp>
      <p:sp>
        <p:nvSpPr>
          <p:cNvPr id="8" name="Rectangle 7"/>
          <p:cNvSpPr/>
          <p:nvPr/>
        </p:nvSpPr>
        <p:spPr>
          <a:xfrm>
            <a:off x="5943600" y="1216152"/>
            <a:ext cx="2194560" cy="329184"/>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600" b="1" i="0">
                <a:solidFill>
                  <a:srgbClr val="FFFFFF"/>
                </a:solidFill>
                <a:latin typeface="Calibri"/>
              </a:rPr>
              <a:t>Şekilsel bölge</a:t>
            </a:r>
          </a:p>
        </p:txBody>
      </p:sp>
      <p:sp>
        <p:nvSpPr>
          <p:cNvPr id="9" name="Rectangle 8"/>
          <p:cNvSpPr/>
          <p:nvPr/>
        </p:nvSpPr>
        <p:spPr>
          <a:xfrm>
            <a:off x="5943600" y="1545336"/>
            <a:ext cx="1097280" cy="329184"/>
          </a:xfrm>
          <a:prstGeom prst="rect">
            <a:avLst/>
          </a:prstGeom>
          <a:solidFill>
            <a:srgbClr val="3E7D3A"/>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Doğal</a:t>
            </a:r>
          </a:p>
        </p:txBody>
      </p:sp>
      <p:sp>
        <p:nvSpPr>
          <p:cNvPr id="10" name="Rectangle 9"/>
          <p:cNvSpPr/>
          <p:nvPr/>
        </p:nvSpPr>
        <p:spPr>
          <a:xfrm>
            <a:off x="7040880" y="1545336"/>
            <a:ext cx="1097280" cy="329184"/>
          </a:xfrm>
          <a:prstGeom prst="rect">
            <a:avLst/>
          </a:prstGeom>
          <a:solidFill>
            <a:srgbClr val="B05A1E"/>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Beşerî</a:t>
            </a:r>
          </a:p>
        </p:txBody>
      </p:sp>
      <p:sp>
        <p:nvSpPr>
          <p:cNvPr id="11" name="Rectangle 10"/>
          <p:cNvSpPr/>
          <p:nvPr/>
        </p:nvSpPr>
        <p:spPr>
          <a:xfrm>
            <a:off x="8138160" y="1216152"/>
            <a:ext cx="1097280" cy="658368"/>
          </a:xfrm>
          <a:prstGeom prst="rect">
            <a:avLst/>
          </a:prstGeom>
          <a:solidFill>
            <a:srgbClr val="1F6EA8"/>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İşlevsel bölge</a:t>
            </a:r>
          </a:p>
        </p:txBody>
      </p:sp>
      <p:sp>
        <p:nvSpPr>
          <p:cNvPr id="12" name="Rectangle 11"/>
          <p:cNvSpPr/>
          <p:nvPr/>
        </p:nvSpPr>
        <p:spPr>
          <a:xfrm>
            <a:off x="9235440" y="1216152"/>
            <a:ext cx="2453335"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Gerekçe (kriter)</a:t>
            </a:r>
          </a:p>
        </p:txBody>
      </p:sp>
      <p:sp>
        <p:nvSpPr>
          <p:cNvPr id="13" name="Rectangle 12"/>
          <p:cNvSpPr/>
          <p:nvPr/>
        </p:nvSpPr>
        <p:spPr>
          <a:xfrm>
            <a:off x="502920" y="1874520"/>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a:t>
            </a:r>
          </a:p>
        </p:txBody>
      </p:sp>
      <p:sp>
        <p:nvSpPr>
          <p:cNvPr id="14" name="Rectangle 13"/>
          <p:cNvSpPr/>
          <p:nvPr/>
        </p:nvSpPr>
        <p:spPr>
          <a:xfrm>
            <a:off x="960120" y="1874520"/>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Alp-Himalaya Dağlık Bölgesi</a:t>
            </a:r>
          </a:p>
        </p:txBody>
      </p:sp>
      <p:sp>
        <p:nvSpPr>
          <p:cNvPr id="15" name="Rectangle 14"/>
          <p:cNvSpPr/>
          <p:nvPr/>
        </p:nvSpPr>
        <p:spPr>
          <a:xfrm>
            <a:off x="5943600" y="1874520"/>
            <a:ext cx="1097280" cy="368046"/>
          </a:xfrm>
          <a:prstGeom prst="rect">
            <a:avLst/>
          </a:prstGeom>
          <a:solidFill>
            <a:srgbClr val="FFFFFF"/>
          </a:solidFill>
          <a:ln w="6350">
            <a:solidFill>
              <a:srgbClr val="D9D9D9"/>
            </a:solidFill>
          </a:ln>
          <a:effectLst/>
        </p:spPr>
        <p:txBody>
          <a:bodyPr rtlCol="0" anchor="ctr"/>
          <a:lstStyle/>
          <a:p/>
        </p:txBody>
      </p:sp>
      <p:sp>
        <p:nvSpPr>
          <p:cNvPr id="16" name="Rectangle 15"/>
          <p:cNvSpPr/>
          <p:nvPr/>
        </p:nvSpPr>
        <p:spPr>
          <a:xfrm>
            <a:off x="7040880" y="1874520"/>
            <a:ext cx="1097280" cy="368046"/>
          </a:xfrm>
          <a:prstGeom prst="rect">
            <a:avLst/>
          </a:prstGeom>
          <a:solidFill>
            <a:srgbClr val="FFFFFF"/>
          </a:solidFill>
          <a:ln w="6350">
            <a:solidFill>
              <a:srgbClr val="D9D9D9"/>
            </a:solidFill>
          </a:ln>
          <a:effectLst/>
        </p:spPr>
        <p:txBody>
          <a:bodyPr rtlCol="0" anchor="ctr"/>
          <a:lstStyle/>
          <a:p/>
        </p:txBody>
      </p:sp>
      <p:sp>
        <p:nvSpPr>
          <p:cNvPr id="17" name="Rectangle 16"/>
          <p:cNvSpPr/>
          <p:nvPr/>
        </p:nvSpPr>
        <p:spPr>
          <a:xfrm>
            <a:off x="8138160" y="1874520"/>
            <a:ext cx="1097280" cy="368046"/>
          </a:xfrm>
          <a:prstGeom prst="rect">
            <a:avLst/>
          </a:prstGeom>
          <a:solidFill>
            <a:srgbClr val="FFFFFF"/>
          </a:solidFill>
          <a:ln w="6350">
            <a:solidFill>
              <a:srgbClr val="D9D9D9"/>
            </a:solidFill>
          </a:ln>
          <a:effectLst/>
        </p:spPr>
        <p:txBody>
          <a:bodyPr rtlCol="0" anchor="ctr"/>
          <a:lstStyle/>
          <a:p/>
        </p:txBody>
      </p:sp>
      <p:sp>
        <p:nvSpPr>
          <p:cNvPr id="18" name="Rectangle 17"/>
          <p:cNvSpPr/>
          <p:nvPr/>
        </p:nvSpPr>
        <p:spPr>
          <a:xfrm>
            <a:off x="9235440" y="1874520"/>
            <a:ext cx="2453335" cy="368046"/>
          </a:xfrm>
          <a:prstGeom prst="rect">
            <a:avLst/>
          </a:prstGeom>
          <a:solidFill>
            <a:srgbClr val="FFFFFF"/>
          </a:solidFill>
          <a:ln w="6350">
            <a:solidFill>
              <a:srgbClr val="D9D9D9"/>
            </a:solidFill>
          </a:ln>
          <a:effectLst/>
        </p:spPr>
        <p:txBody>
          <a:bodyPr rtlCol="0" anchor="ctr"/>
          <a:lstStyle/>
          <a:p/>
        </p:txBody>
      </p:sp>
      <p:sp>
        <p:nvSpPr>
          <p:cNvPr id="19" name="Rectangle 18"/>
          <p:cNvSpPr/>
          <p:nvPr/>
        </p:nvSpPr>
        <p:spPr>
          <a:xfrm>
            <a:off x="502920" y="2242566"/>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a:t>
            </a:r>
          </a:p>
        </p:txBody>
      </p:sp>
      <p:sp>
        <p:nvSpPr>
          <p:cNvPr id="20" name="Rectangle 19"/>
          <p:cNvSpPr/>
          <p:nvPr/>
        </p:nvSpPr>
        <p:spPr>
          <a:xfrm>
            <a:off x="960120" y="2242566"/>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Türk Kültür Bölgesi</a:t>
            </a:r>
          </a:p>
        </p:txBody>
      </p:sp>
      <p:sp>
        <p:nvSpPr>
          <p:cNvPr id="21" name="Rectangle 20"/>
          <p:cNvSpPr/>
          <p:nvPr/>
        </p:nvSpPr>
        <p:spPr>
          <a:xfrm>
            <a:off x="5943600" y="2242566"/>
            <a:ext cx="1097280" cy="368046"/>
          </a:xfrm>
          <a:prstGeom prst="rect">
            <a:avLst/>
          </a:prstGeom>
          <a:solidFill>
            <a:srgbClr val="F0F0F0"/>
          </a:solidFill>
          <a:ln w="6350">
            <a:solidFill>
              <a:srgbClr val="D9D9D9"/>
            </a:solidFill>
          </a:ln>
          <a:effectLst/>
        </p:spPr>
        <p:txBody>
          <a:bodyPr rtlCol="0" anchor="ctr"/>
          <a:lstStyle/>
          <a:p/>
        </p:txBody>
      </p:sp>
      <p:sp>
        <p:nvSpPr>
          <p:cNvPr id="22" name="Rectangle 21"/>
          <p:cNvSpPr/>
          <p:nvPr/>
        </p:nvSpPr>
        <p:spPr>
          <a:xfrm>
            <a:off x="7040880" y="2242566"/>
            <a:ext cx="1097280" cy="368046"/>
          </a:xfrm>
          <a:prstGeom prst="rect">
            <a:avLst/>
          </a:prstGeom>
          <a:solidFill>
            <a:srgbClr val="F0F0F0"/>
          </a:solidFill>
          <a:ln w="6350">
            <a:solidFill>
              <a:srgbClr val="D9D9D9"/>
            </a:solidFill>
          </a:ln>
          <a:effectLst/>
        </p:spPr>
        <p:txBody>
          <a:bodyPr rtlCol="0" anchor="ctr"/>
          <a:lstStyle/>
          <a:p/>
        </p:txBody>
      </p:sp>
      <p:sp>
        <p:nvSpPr>
          <p:cNvPr id="23" name="Rectangle 22"/>
          <p:cNvSpPr/>
          <p:nvPr/>
        </p:nvSpPr>
        <p:spPr>
          <a:xfrm>
            <a:off x="8138160" y="2242566"/>
            <a:ext cx="1097280" cy="368046"/>
          </a:xfrm>
          <a:prstGeom prst="rect">
            <a:avLst/>
          </a:prstGeom>
          <a:solidFill>
            <a:srgbClr val="F0F0F0"/>
          </a:solidFill>
          <a:ln w="6350">
            <a:solidFill>
              <a:srgbClr val="D9D9D9"/>
            </a:solidFill>
          </a:ln>
          <a:effectLst/>
        </p:spPr>
        <p:txBody>
          <a:bodyPr rtlCol="0" anchor="ctr"/>
          <a:lstStyle/>
          <a:p/>
        </p:txBody>
      </p:sp>
      <p:sp>
        <p:nvSpPr>
          <p:cNvPr id="24" name="Rectangle 23"/>
          <p:cNvSpPr/>
          <p:nvPr/>
        </p:nvSpPr>
        <p:spPr>
          <a:xfrm>
            <a:off x="9235440" y="2242566"/>
            <a:ext cx="2453335" cy="368046"/>
          </a:xfrm>
          <a:prstGeom prst="rect">
            <a:avLst/>
          </a:prstGeom>
          <a:solidFill>
            <a:srgbClr val="F0F0F0"/>
          </a:solidFill>
          <a:ln w="6350">
            <a:solidFill>
              <a:srgbClr val="D9D9D9"/>
            </a:solidFill>
          </a:ln>
          <a:effectLst/>
        </p:spPr>
        <p:txBody>
          <a:bodyPr rtlCol="0" anchor="ctr"/>
          <a:lstStyle/>
          <a:p/>
        </p:txBody>
      </p:sp>
      <p:sp>
        <p:nvSpPr>
          <p:cNvPr id="25" name="Rectangle 24"/>
          <p:cNvSpPr/>
          <p:nvPr/>
        </p:nvSpPr>
        <p:spPr>
          <a:xfrm>
            <a:off x="502920" y="2610612"/>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3</a:t>
            </a:r>
          </a:p>
        </p:txBody>
      </p:sp>
      <p:sp>
        <p:nvSpPr>
          <p:cNvPr id="26" name="Rectangle 25"/>
          <p:cNvSpPr/>
          <p:nvPr/>
        </p:nvSpPr>
        <p:spPr>
          <a:xfrm>
            <a:off x="960120" y="2610612"/>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Nil Nehri Havzası</a:t>
            </a:r>
          </a:p>
        </p:txBody>
      </p:sp>
      <p:sp>
        <p:nvSpPr>
          <p:cNvPr id="27" name="Rectangle 26"/>
          <p:cNvSpPr/>
          <p:nvPr/>
        </p:nvSpPr>
        <p:spPr>
          <a:xfrm>
            <a:off x="5943600" y="2610612"/>
            <a:ext cx="1097280" cy="368046"/>
          </a:xfrm>
          <a:prstGeom prst="rect">
            <a:avLst/>
          </a:prstGeom>
          <a:solidFill>
            <a:srgbClr val="FFFFFF"/>
          </a:solidFill>
          <a:ln w="6350">
            <a:solidFill>
              <a:srgbClr val="D9D9D9"/>
            </a:solidFill>
          </a:ln>
          <a:effectLst/>
        </p:spPr>
        <p:txBody>
          <a:bodyPr rtlCol="0" anchor="ctr"/>
          <a:lstStyle/>
          <a:p/>
        </p:txBody>
      </p:sp>
      <p:sp>
        <p:nvSpPr>
          <p:cNvPr id="28" name="Rectangle 27"/>
          <p:cNvSpPr/>
          <p:nvPr/>
        </p:nvSpPr>
        <p:spPr>
          <a:xfrm>
            <a:off x="7040880" y="2610612"/>
            <a:ext cx="1097280" cy="368046"/>
          </a:xfrm>
          <a:prstGeom prst="rect">
            <a:avLst/>
          </a:prstGeom>
          <a:solidFill>
            <a:srgbClr val="FFFFFF"/>
          </a:solidFill>
          <a:ln w="6350">
            <a:solidFill>
              <a:srgbClr val="D9D9D9"/>
            </a:solidFill>
          </a:ln>
          <a:effectLst/>
        </p:spPr>
        <p:txBody>
          <a:bodyPr rtlCol="0" anchor="ctr"/>
          <a:lstStyle/>
          <a:p/>
        </p:txBody>
      </p:sp>
      <p:sp>
        <p:nvSpPr>
          <p:cNvPr id="29" name="Rectangle 28"/>
          <p:cNvSpPr/>
          <p:nvPr/>
        </p:nvSpPr>
        <p:spPr>
          <a:xfrm>
            <a:off x="8138160" y="2610612"/>
            <a:ext cx="1097280" cy="368046"/>
          </a:xfrm>
          <a:prstGeom prst="rect">
            <a:avLst/>
          </a:prstGeom>
          <a:solidFill>
            <a:srgbClr val="FFFFFF"/>
          </a:solidFill>
          <a:ln w="6350">
            <a:solidFill>
              <a:srgbClr val="D9D9D9"/>
            </a:solidFill>
          </a:ln>
          <a:effectLst/>
        </p:spPr>
        <p:txBody>
          <a:bodyPr rtlCol="0" anchor="ctr"/>
          <a:lstStyle/>
          <a:p/>
        </p:txBody>
      </p:sp>
      <p:sp>
        <p:nvSpPr>
          <p:cNvPr id="30" name="Rectangle 29"/>
          <p:cNvSpPr/>
          <p:nvPr/>
        </p:nvSpPr>
        <p:spPr>
          <a:xfrm>
            <a:off x="9235440" y="2610612"/>
            <a:ext cx="2453335" cy="368046"/>
          </a:xfrm>
          <a:prstGeom prst="rect">
            <a:avLst/>
          </a:prstGeom>
          <a:solidFill>
            <a:srgbClr val="FFFFFF"/>
          </a:solidFill>
          <a:ln w="6350">
            <a:solidFill>
              <a:srgbClr val="D9D9D9"/>
            </a:solidFill>
          </a:ln>
          <a:effectLst/>
        </p:spPr>
        <p:txBody>
          <a:bodyPr rtlCol="0" anchor="ctr"/>
          <a:lstStyle/>
          <a:p/>
        </p:txBody>
      </p:sp>
      <p:sp>
        <p:nvSpPr>
          <p:cNvPr id="31" name="Rectangle 30"/>
          <p:cNvSpPr/>
          <p:nvPr/>
        </p:nvSpPr>
        <p:spPr>
          <a:xfrm>
            <a:off x="502920" y="2978658"/>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4</a:t>
            </a:r>
          </a:p>
        </p:txBody>
      </p:sp>
      <p:sp>
        <p:nvSpPr>
          <p:cNvPr id="32" name="Rectangle 31"/>
          <p:cNvSpPr/>
          <p:nvPr/>
        </p:nvSpPr>
        <p:spPr>
          <a:xfrm>
            <a:off x="960120" y="2978658"/>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İstanbul Büyükşehir Belediyesi Yetki Alanı Bölgesi</a:t>
            </a:r>
          </a:p>
        </p:txBody>
      </p:sp>
      <p:sp>
        <p:nvSpPr>
          <p:cNvPr id="33" name="Rectangle 32"/>
          <p:cNvSpPr/>
          <p:nvPr/>
        </p:nvSpPr>
        <p:spPr>
          <a:xfrm>
            <a:off x="5943600" y="2978658"/>
            <a:ext cx="1097280" cy="368046"/>
          </a:xfrm>
          <a:prstGeom prst="rect">
            <a:avLst/>
          </a:prstGeom>
          <a:solidFill>
            <a:srgbClr val="F0F0F0"/>
          </a:solidFill>
          <a:ln w="6350">
            <a:solidFill>
              <a:srgbClr val="D9D9D9"/>
            </a:solidFill>
          </a:ln>
          <a:effectLst/>
        </p:spPr>
        <p:txBody>
          <a:bodyPr rtlCol="0" anchor="ctr"/>
          <a:lstStyle/>
          <a:p/>
        </p:txBody>
      </p:sp>
      <p:sp>
        <p:nvSpPr>
          <p:cNvPr id="34" name="Rectangle 33"/>
          <p:cNvSpPr/>
          <p:nvPr/>
        </p:nvSpPr>
        <p:spPr>
          <a:xfrm>
            <a:off x="7040880" y="2978658"/>
            <a:ext cx="1097280" cy="368046"/>
          </a:xfrm>
          <a:prstGeom prst="rect">
            <a:avLst/>
          </a:prstGeom>
          <a:solidFill>
            <a:srgbClr val="F0F0F0"/>
          </a:solidFill>
          <a:ln w="6350">
            <a:solidFill>
              <a:srgbClr val="D9D9D9"/>
            </a:solidFill>
          </a:ln>
          <a:effectLst/>
        </p:spPr>
        <p:txBody>
          <a:bodyPr rtlCol="0" anchor="ctr"/>
          <a:lstStyle/>
          <a:p/>
        </p:txBody>
      </p:sp>
      <p:sp>
        <p:nvSpPr>
          <p:cNvPr id="35" name="Rectangle 34"/>
          <p:cNvSpPr/>
          <p:nvPr/>
        </p:nvSpPr>
        <p:spPr>
          <a:xfrm>
            <a:off x="8138160" y="2978658"/>
            <a:ext cx="1097280" cy="368046"/>
          </a:xfrm>
          <a:prstGeom prst="rect">
            <a:avLst/>
          </a:prstGeom>
          <a:solidFill>
            <a:srgbClr val="F0F0F0"/>
          </a:solidFill>
          <a:ln w="6350">
            <a:solidFill>
              <a:srgbClr val="D9D9D9"/>
            </a:solidFill>
          </a:ln>
          <a:effectLst/>
        </p:spPr>
        <p:txBody>
          <a:bodyPr rtlCol="0" anchor="ctr"/>
          <a:lstStyle/>
          <a:p/>
        </p:txBody>
      </p:sp>
      <p:sp>
        <p:nvSpPr>
          <p:cNvPr id="36" name="Rectangle 35"/>
          <p:cNvSpPr/>
          <p:nvPr/>
        </p:nvSpPr>
        <p:spPr>
          <a:xfrm>
            <a:off x="9235440" y="2978658"/>
            <a:ext cx="2453335" cy="368046"/>
          </a:xfrm>
          <a:prstGeom prst="rect">
            <a:avLst/>
          </a:prstGeom>
          <a:solidFill>
            <a:srgbClr val="F0F0F0"/>
          </a:solidFill>
          <a:ln w="6350">
            <a:solidFill>
              <a:srgbClr val="D9D9D9"/>
            </a:solidFill>
          </a:ln>
          <a:effectLst/>
        </p:spPr>
        <p:txBody>
          <a:bodyPr rtlCol="0" anchor="ctr"/>
          <a:lstStyle/>
          <a:p/>
        </p:txBody>
      </p:sp>
      <p:sp>
        <p:nvSpPr>
          <p:cNvPr id="37" name="Rectangle 36"/>
          <p:cNvSpPr/>
          <p:nvPr/>
        </p:nvSpPr>
        <p:spPr>
          <a:xfrm>
            <a:off x="502920" y="3346704"/>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5</a:t>
            </a:r>
          </a:p>
        </p:txBody>
      </p:sp>
      <p:sp>
        <p:nvSpPr>
          <p:cNvPr id="38" name="Rectangle 37"/>
          <p:cNvSpPr/>
          <p:nvPr/>
        </p:nvSpPr>
        <p:spPr>
          <a:xfrm>
            <a:off x="960120" y="3346704"/>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Asya Kıtasının Kentsel Yerleşme Bölgeleri</a:t>
            </a:r>
          </a:p>
        </p:txBody>
      </p:sp>
      <p:sp>
        <p:nvSpPr>
          <p:cNvPr id="39" name="Rectangle 38"/>
          <p:cNvSpPr/>
          <p:nvPr/>
        </p:nvSpPr>
        <p:spPr>
          <a:xfrm>
            <a:off x="5943600" y="3346704"/>
            <a:ext cx="1097280" cy="368046"/>
          </a:xfrm>
          <a:prstGeom prst="rect">
            <a:avLst/>
          </a:prstGeom>
          <a:solidFill>
            <a:srgbClr val="FFFFFF"/>
          </a:solidFill>
          <a:ln w="6350">
            <a:solidFill>
              <a:srgbClr val="D9D9D9"/>
            </a:solidFill>
          </a:ln>
          <a:effectLst/>
        </p:spPr>
        <p:txBody>
          <a:bodyPr rtlCol="0" anchor="ctr"/>
          <a:lstStyle/>
          <a:p/>
        </p:txBody>
      </p:sp>
      <p:sp>
        <p:nvSpPr>
          <p:cNvPr id="40" name="Rectangle 39"/>
          <p:cNvSpPr/>
          <p:nvPr/>
        </p:nvSpPr>
        <p:spPr>
          <a:xfrm>
            <a:off x="7040880" y="3346704"/>
            <a:ext cx="1097280" cy="368046"/>
          </a:xfrm>
          <a:prstGeom prst="rect">
            <a:avLst/>
          </a:prstGeom>
          <a:solidFill>
            <a:srgbClr val="FFFFFF"/>
          </a:solidFill>
          <a:ln w="6350">
            <a:solidFill>
              <a:srgbClr val="D9D9D9"/>
            </a:solidFill>
          </a:ln>
          <a:effectLst/>
        </p:spPr>
        <p:txBody>
          <a:bodyPr rtlCol="0" anchor="ctr"/>
          <a:lstStyle/>
          <a:p/>
        </p:txBody>
      </p:sp>
      <p:sp>
        <p:nvSpPr>
          <p:cNvPr id="41" name="Rectangle 40"/>
          <p:cNvSpPr/>
          <p:nvPr/>
        </p:nvSpPr>
        <p:spPr>
          <a:xfrm>
            <a:off x="8138160" y="3346704"/>
            <a:ext cx="1097280" cy="368046"/>
          </a:xfrm>
          <a:prstGeom prst="rect">
            <a:avLst/>
          </a:prstGeom>
          <a:solidFill>
            <a:srgbClr val="FFFFFF"/>
          </a:solidFill>
          <a:ln w="6350">
            <a:solidFill>
              <a:srgbClr val="D9D9D9"/>
            </a:solidFill>
          </a:ln>
          <a:effectLst/>
        </p:spPr>
        <p:txBody>
          <a:bodyPr rtlCol="0" anchor="ctr"/>
          <a:lstStyle/>
          <a:p/>
        </p:txBody>
      </p:sp>
      <p:sp>
        <p:nvSpPr>
          <p:cNvPr id="42" name="Rectangle 41"/>
          <p:cNvSpPr/>
          <p:nvPr/>
        </p:nvSpPr>
        <p:spPr>
          <a:xfrm>
            <a:off x="9235440" y="3346704"/>
            <a:ext cx="2453335" cy="368046"/>
          </a:xfrm>
          <a:prstGeom prst="rect">
            <a:avLst/>
          </a:prstGeom>
          <a:solidFill>
            <a:srgbClr val="FFFFFF"/>
          </a:solidFill>
          <a:ln w="6350">
            <a:solidFill>
              <a:srgbClr val="D9D9D9"/>
            </a:solidFill>
          </a:ln>
          <a:effectLst/>
        </p:spPr>
        <p:txBody>
          <a:bodyPr rtlCol="0" anchor="ctr"/>
          <a:lstStyle/>
          <a:p/>
        </p:txBody>
      </p:sp>
      <p:sp>
        <p:nvSpPr>
          <p:cNvPr id="43" name="Rectangle 42"/>
          <p:cNvSpPr/>
          <p:nvPr/>
        </p:nvSpPr>
        <p:spPr>
          <a:xfrm>
            <a:off x="502920" y="3714750"/>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6</a:t>
            </a:r>
          </a:p>
        </p:txBody>
      </p:sp>
      <p:sp>
        <p:nvSpPr>
          <p:cNvPr id="44" name="Rectangle 43"/>
          <p:cNvSpPr/>
          <p:nvPr/>
        </p:nvSpPr>
        <p:spPr>
          <a:xfrm>
            <a:off x="960120" y="3714750"/>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Savan Bitki Örtüsü Bölgesi</a:t>
            </a:r>
          </a:p>
        </p:txBody>
      </p:sp>
      <p:sp>
        <p:nvSpPr>
          <p:cNvPr id="45" name="Rectangle 44"/>
          <p:cNvSpPr/>
          <p:nvPr/>
        </p:nvSpPr>
        <p:spPr>
          <a:xfrm>
            <a:off x="5943600" y="3714750"/>
            <a:ext cx="1097280" cy="368046"/>
          </a:xfrm>
          <a:prstGeom prst="rect">
            <a:avLst/>
          </a:prstGeom>
          <a:solidFill>
            <a:srgbClr val="F0F0F0"/>
          </a:solidFill>
          <a:ln w="6350">
            <a:solidFill>
              <a:srgbClr val="D9D9D9"/>
            </a:solidFill>
          </a:ln>
          <a:effectLst/>
        </p:spPr>
        <p:txBody>
          <a:bodyPr rtlCol="0" anchor="ctr"/>
          <a:lstStyle/>
          <a:p/>
        </p:txBody>
      </p:sp>
      <p:sp>
        <p:nvSpPr>
          <p:cNvPr id="46" name="Rectangle 45"/>
          <p:cNvSpPr/>
          <p:nvPr/>
        </p:nvSpPr>
        <p:spPr>
          <a:xfrm>
            <a:off x="7040880" y="3714750"/>
            <a:ext cx="1097280" cy="368046"/>
          </a:xfrm>
          <a:prstGeom prst="rect">
            <a:avLst/>
          </a:prstGeom>
          <a:solidFill>
            <a:srgbClr val="F0F0F0"/>
          </a:solidFill>
          <a:ln w="6350">
            <a:solidFill>
              <a:srgbClr val="D9D9D9"/>
            </a:solidFill>
          </a:ln>
          <a:effectLst/>
        </p:spPr>
        <p:txBody>
          <a:bodyPr rtlCol="0" anchor="ctr"/>
          <a:lstStyle/>
          <a:p/>
        </p:txBody>
      </p:sp>
      <p:sp>
        <p:nvSpPr>
          <p:cNvPr id="47" name="Rectangle 46"/>
          <p:cNvSpPr/>
          <p:nvPr/>
        </p:nvSpPr>
        <p:spPr>
          <a:xfrm>
            <a:off x="8138160" y="3714750"/>
            <a:ext cx="1097280" cy="368046"/>
          </a:xfrm>
          <a:prstGeom prst="rect">
            <a:avLst/>
          </a:prstGeom>
          <a:solidFill>
            <a:srgbClr val="F0F0F0"/>
          </a:solidFill>
          <a:ln w="6350">
            <a:solidFill>
              <a:srgbClr val="D9D9D9"/>
            </a:solidFill>
          </a:ln>
          <a:effectLst/>
        </p:spPr>
        <p:txBody>
          <a:bodyPr rtlCol="0" anchor="ctr"/>
          <a:lstStyle/>
          <a:p/>
        </p:txBody>
      </p:sp>
      <p:sp>
        <p:nvSpPr>
          <p:cNvPr id="48" name="Rectangle 47"/>
          <p:cNvSpPr/>
          <p:nvPr/>
        </p:nvSpPr>
        <p:spPr>
          <a:xfrm>
            <a:off x="9235440" y="3714750"/>
            <a:ext cx="2453335" cy="368046"/>
          </a:xfrm>
          <a:prstGeom prst="rect">
            <a:avLst/>
          </a:prstGeom>
          <a:solidFill>
            <a:srgbClr val="F0F0F0"/>
          </a:solidFill>
          <a:ln w="6350">
            <a:solidFill>
              <a:srgbClr val="D9D9D9"/>
            </a:solidFill>
          </a:ln>
          <a:effectLst/>
        </p:spPr>
        <p:txBody>
          <a:bodyPr rtlCol="0" anchor="ctr"/>
          <a:lstStyle/>
          <a:p/>
        </p:txBody>
      </p:sp>
      <p:sp>
        <p:nvSpPr>
          <p:cNvPr id="49" name="Rectangle 48"/>
          <p:cNvSpPr/>
          <p:nvPr/>
        </p:nvSpPr>
        <p:spPr>
          <a:xfrm>
            <a:off x="502920" y="4082796"/>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7</a:t>
            </a:r>
          </a:p>
        </p:txBody>
      </p:sp>
      <p:sp>
        <p:nvSpPr>
          <p:cNvPr id="50" name="Rectangle 49"/>
          <p:cNvSpPr/>
          <p:nvPr/>
        </p:nvSpPr>
        <p:spPr>
          <a:xfrm>
            <a:off x="960120" y="4082796"/>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DOKAP (Doğu Karadeniz Projesi) Bölgesi</a:t>
            </a:r>
          </a:p>
        </p:txBody>
      </p:sp>
      <p:sp>
        <p:nvSpPr>
          <p:cNvPr id="51" name="Rectangle 50"/>
          <p:cNvSpPr/>
          <p:nvPr/>
        </p:nvSpPr>
        <p:spPr>
          <a:xfrm>
            <a:off x="5943600" y="4082796"/>
            <a:ext cx="1097280" cy="368046"/>
          </a:xfrm>
          <a:prstGeom prst="rect">
            <a:avLst/>
          </a:prstGeom>
          <a:solidFill>
            <a:srgbClr val="FFFFFF"/>
          </a:solidFill>
          <a:ln w="6350">
            <a:solidFill>
              <a:srgbClr val="D9D9D9"/>
            </a:solidFill>
          </a:ln>
          <a:effectLst/>
        </p:spPr>
        <p:txBody>
          <a:bodyPr rtlCol="0" anchor="ctr"/>
          <a:lstStyle/>
          <a:p/>
        </p:txBody>
      </p:sp>
      <p:sp>
        <p:nvSpPr>
          <p:cNvPr id="52" name="Rectangle 51"/>
          <p:cNvSpPr/>
          <p:nvPr/>
        </p:nvSpPr>
        <p:spPr>
          <a:xfrm>
            <a:off x="7040880" y="4082796"/>
            <a:ext cx="1097280" cy="368046"/>
          </a:xfrm>
          <a:prstGeom prst="rect">
            <a:avLst/>
          </a:prstGeom>
          <a:solidFill>
            <a:srgbClr val="FFFFFF"/>
          </a:solidFill>
          <a:ln w="6350">
            <a:solidFill>
              <a:srgbClr val="D9D9D9"/>
            </a:solidFill>
          </a:ln>
          <a:effectLst/>
        </p:spPr>
        <p:txBody>
          <a:bodyPr rtlCol="0" anchor="ctr"/>
          <a:lstStyle/>
          <a:p/>
        </p:txBody>
      </p:sp>
      <p:sp>
        <p:nvSpPr>
          <p:cNvPr id="53" name="Rectangle 52"/>
          <p:cNvSpPr/>
          <p:nvPr/>
        </p:nvSpPr>
        <p:spPr>
          <a:xfrm>
            <a:off x="8138160" y="4082796"/>
            <a:ext cx="1097280" cy="368046"/>
          </a:xfrm>
          <a:prstGeom prst="rect">
            <a:avLst/>
          </a:prstGeom>
          <a:solidFill>
            <a:srgbClr val="FFFFFF"/>
          </a:solidFill>
          <a:ln w="6350">
            <a:solidFill>
              <a:srgbClr val="D9D9D9"/>
            </a:solidFill>
          </a:ln>
          <a:effectLst/>
        </p:spPr>
        <p:txBody>
          <a:bodyPr rtlCol="0" anchor="ctr"/>
          <a:lstStyle/>
          <a:p/>
        </p:txBody>
      </p:sp>
      <p:sp>
        <p:nvSpPr>
          <p:cNvPr id="54" name="Rectangle 53"/>
          <p:cNvSpPr/>
          <p:nvPr/>
        </p:nvSpPr>
        <p:spPr>
          <a:xfrm>
            <a:off x="9235440" y="4082796"/>
            <a:ext cx="2453335" cy="368046"/>
          </a:xfrm>
          <a:prstGeom prst="rect">
            <a:avLst/>
          </a:prstGeom>
          <a:solidFill>
            <a:srgbClr val="FFFFFF"/>
          </a:solidFill>
          <a:ln w="6350">
            <a:solidFill>
              <a:srgbClr val="D9D9D9"/>
            </a:solidFill>
          </a:ln>
          <a:effectLst/>
        </p:spPr>
        <p:txBody>
          <a:bodyPr rtlCol="0" anchor="ctr"/>
          <a:lstStyle/>
          <a:p/>
        </p:txBody>
      </p:sp>
      <p:sp>
        <p:nvSpPr>
          <p:cNvPr id="55" name="Rectangle 54"/>
          <p:cNvSpPr/>
          <p:nvPr/>
        </p:nvSpPr>
        <p:spPr>
          <a:xfrm>
            <a:off x="502920" y="4450842"/>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8</a:t>
            </a:r>
          </a:p>
        </p:txBody>
      </p:sp>
      <p:sp>
        <p:nvSpPr>
          <p:cNvPr id="56" name="Rectangle 55"/>
          <p:cNvSpPr/>
          <p:nvPr/>
        </p:nvSpPr>
        <p:spPr>
          <a:xfrm>
            <a:off x="960120" y="4450842"/>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NATO (Kuzey Atlantik Anlaşması Örgütü) Bölgesi</a:t>
            </a:r>
          </a:p>
        </p:txBody>
      </p:sp>
      <p:sp>
        <p:nvSpPr>
          <p:cNvPr id="57" name="Rectangle 56"/>
          <p:cNvSpPr/>
          <p:nvPr/>
        </p:nvSpPr>
        <p:spPr>
          <a:xfrm>
            <a:off x="5943600" y="4450842"/>
            <a:ext cx="1097280" cy="368046"/>
          </a:xfrm>
          <a:prstGeom prst="rect">
            <a:avLst/>
          </a:prstGeom>
          <a:solidFill>
            <a:srgbClr val="F0F0F0"/>
          </a:solidFill>
          <a:ln w="6350">
            <a:solidFill>
              <a:srgbClr val="D9D9D9"/>
            </a:solidFill>
          </a:ln>
          <a:effectLst/>
        </p:spPr>
        <p:txBody>
          <a:bodyPr rtlCol="0" anchor="ctr"/>
          <a:lstStyle/>
          <a:p/>
        </p:txBody>
      </p:sp>
      <p:sp>
        <p:nvSpPr>
          <p:cNvPr id="58" name="Rectangle 57"/>
          <p:cNvSpPr/>
          <p:nvPr/>
        </p:nvSpPr>
        <p:spPr>
          <a:xfrm>
            <a:off x="7040880" y="4450842"/>
            <a:ext cx="1097280" cy="368046"/>
          </a:xfrm>
          <a:prstGeom prst="rect">
            <a:avLst/>
          </a:prstGeom>
          <a:solidFill>
            <a:srgbClr val="F0F0F0"/>
          </a:solidFill>
          <a:ln w="6350">
            <a:solidFill>
              <a:srgbClr val="D9D9D9"/>
            </a:solidFill>
          </a:ln>
          <a:effectLst/>
        </p:spPr>
        <p:txBody>
          <a:bodyPr rtlCol="0" anchor="ctr"/>
          <a:lstStyle/>
          <a:p/>
        </p:txBody>
      </p:sp>
      <p:sp>
        <p:nvSpPr>
          <p:cNvPr id="59" name="Rectangle 58"/>
          <p:cNvSpPr/>
          <p:nvPr/>
        </p:nvSpPr>
        <p:spPr>
          <a:xfrm>
            <a:off x="8138160" y="4450842"/>
            <a:ext cx="1097280" cy="368046"/>
          </a:xfrm>
          <a:prstGeom prst="rect">
            <a:avLst/>
          </a:prstGeom>
          <a:solidFill>
            <a:srgbClr val="F0F0F0"/>
          </a:solidFill>
          <a:ln w="6350">
            <a:solidFill>
              <a:srgbClr val="D9D9D9"/>
            </a:solidFill>
          </a:ln>
          <a:effectLst/>
        </p:spPr>
        <p:txBody>
          <a:bodyPr rtlCol="0" anchor="ctr"/>
          <a:lstStyle/>
          <a:p/>
        </p:txBody>
      </p:sp>
      <p:sp>
        <p:nvSpPr>
          <p:cNvPr id="60" name="Rectangle 59"/>
          <p:cNvSpPr/>
          <p:nvPr/>
        </p:nvSpPr>
        <p:spPr>
          <a:xfrm>
            <a:off x="9235440" y="4450842"/>
            <a:ext cx="2453335" cy="368046"/>
          </a:xfrm>
          <a:prstGeom prst="rect">
            <a:avLst/>
          </a:prstGeom>
          <a:solidFill>
            <a:srgbClr val="F0F0F0"/>
          </a:solidFill>
          <a:ln w="6350">
            <a:solidFill>
              <a:srgbClr val="D9D9D9"/>
            </a:solidFill>
          </a:ln>
          <a:effectLst/>
        </p:spPr>
        <p:txBody>
          <a:bodyPr rtlCol="0" anchor="ctr"/>
          <a:lstStyle/>
          <a:p/>
        </p:txBody>
      </p:sp>
      <p:sp>
        <p:nvSpPr>
          <p:cNvPr id="61" name="Rectangle 60"/>
          <p:cNvSpPr/>
          <p:nvPr/>
        </p:nvSpPr>
        <p:spPr>
          <a:xfrm>
            <a:off x="502920" y="4818888"/>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9</a:t>
            </a:r>
          </a:p>
        </p:txBody>
      </p:sp>
      <p:sp>
        <p:nvSpPr>
          <p:cNvPr id="62" name="Rectangle 61"/>
          <p:cNvSpPr/>
          <p:nvPr/>
        </p:nvSpPr>
        <p:spPr>
          <a:xfrm>
            <a:off x="960120" y="4818888"/>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600" b="0" i="0">
                <a:solidFill>
                  <a:srgbClr val="262626"/>
                </a:solidFill>
                <a:latin typeface="Calibri"/>
              </a:rPr>
              <a:t>Türkiye İstatistik Kurumu (TÜİK) Akdeniz İstatistik Bölgesi</a:t>
            </a:r>
          </a:p>
        </p:txBody>
      </p:sp>
      <p:sp>
        <p:nvSpPr>
          <p:cNvPr id="63" name="Rectangle 62"/>
          <p:cNvSpPr/>
          <p:nvPr/>
        </p:nvSpPr>
        <p:spPr>
          <a:xfrm>
            <a:off x="5943600" y="4818888"/>
            <a:ext cx="1097280" cy="368046"/>
          </a:xfrm>
          <a:prstGeom prst="rect">
            <a:avLst/>
          </a:prstGeom>
          <a:solidFill>
            <a:srgbClr val="FFFFFF"/>
          </a:solidFill>
          <a:ln w="6350">
            <a:solidFill>
              <a:srgbClr val="D9D9D9"/>
            </a:solidFill>
          </a:ln>
          <a:effectLst/>
        </p:spPr>
        <p:txBody>
          <a:bodyPr rtlCol="0" anchor="ctr"/>
          <a:lstStyle/>
          <a:p/>
        </p:txBody>
      </p:sp>
      <p:sp>
        <p:nvSpPr>
          <p:cNvPr id="64" name="Rectangle 63"/>
          <p:cNvSpPr/>
          <p:nvPr/>
        </p:nvSpPr>
        <p:spPr>
          <a:xfrm>
            <a:off x="7040880" y="4818888"/>
            <a:ext cx="1097280" cy="368046"/>
          </a:xfrm>
          <a:prstGeom prst="rect">
            <a:avLst/>
          </a:prstGeom>
          <a:solidFill>
            <a:srgbClr val="FFFFFF"/>
          </a:solidFill>
          <a:ln w="6350">
            <a:solidFill>
              <a:srgbClr val="D9D9D9"/>
            </a:solidFill>
          </a:ln>
          <a:effectLst/>
        </p:spPr>
        <p:txBody>
          <a:bodyPr rtlCol="0" anchor="ctr"/>
          <a:lstStyle/>
          <a:p/>
        </p:txBody>
      </p:sp>
      <p:sp>
        <p:nvSpPr>
          <p:cNvPr id="65" name="Rectangle 64"/>
          <p:cNvSpPr/>
          <p:nvPr/>
        </p:nvSpPr>
        <p:spPr>
          <a:xfrm>
            <a:off x="8138160" y="4818888"/>
            <a:ext cx="1097280" cy="368046"/>
          </a:xfrm>
          <a:prstGeom prst="rect">
            <a:avLst/>
          </a:prstGeom>
          <a:solidFill>
            <a:srgbClr val="FFFFFF"/>
          </a:solidFill>
          <a:ln w="6350">
            <a:solidFill>
              <a:srgbClr val="D9D9D9"/>
            </a:solidFill>
          </a:ln>
          <a:effectLst/>
        </p:spPr>
        <p:txBody>
          <a:bodyPr rtlCol="0" anchor="ctr"/>
          <a:lstStyle/>
          <a:p/>
        </p:txBody>
      </p:sp>
      <p:sp>
        <p:nvSpPr>
          <p:cNvPr id="66" name="Rectangle 65"/>
          <p:cNvSpPr/>
          <p:nvPr/>
        </p:nvSpPr>
        <p:spPr>
          <a:xfrm>
            <a:off x="9235440" y="4818888"/>
            <a:ext cx="2453335" cy="368046"/>
          </a:xfrm>
          <a:prstGeom prst="rect">
            <a:avLst/>
          </a:prstGeom>
          <a:solidFill>
            <a:srgbClr val="FFFFFF"/>
          </a:solidFill>
          <a:ln w="6350">
            <a:solidFill>
              <a:srgbClr val="D9D9D9"/>
            </a:solidFill>
          </a:ln>
          <a:effectLst/>
        </p:spPr>
        <p:txBody>
          <a:bodyPr rtlCol="0" anchor="ctr"/>
          <a:lstStyle/>
          <a:p/>
        </p:txBody>
      </p:sp>
      <p:sp>
        <p:nvSpPr>
          <p:cNvPr id="67" name="Rectangle 66"/>
          <p:cNvSpPr/>
          <p:nvPr/>
        </p:nvSpPr>
        <p:spPr>
          <a:xfrm>
            <a:off x="502920" y="5186934"/>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10</a:t>
            </a:r>
          </a:p>
        </p:txBody>
      </p:sp>
      <p:sp>
        <p:nvSpPr>
          <p:cNvPr id="68" name="Rectangle 67"/>
          <p:cNvSpPr/>
          <p:nvPr/>
        </p:nvSpPr>
        <p:spPr>
          <a:xfrm>
            <a:off x="960120" y="5186934"/>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Asya Kıtasında Sık Nüfuslu Bölgeler</a:t>
            </a:r>
          </a:p>
        </p:txBody>
      </p:sp>
      <p:sp>
        <p:nvSpPr>
          <p:cNvPr id="69" name="Rectangle 68"/>
          <p:cNvSpPr/>
          <p:nvPr/>
        </p:nvSpPr>
        <p:spPr>
          <a:xfrm>
            <a:off x="5943600" y="5186934"/>
            <a:ext cx="1097280" cy="368046"/>
          </a:xfrm>
          <a:prstGeom prst="rect">
            <a:avLst/>
          </a:prstGeom>
          <a:solidFill>
            <a:srgbClr val="F0F0F0"/>
          </a:solidFill>
          <a:ln w="6350">
            <a:solidFill>
              <a:srgbClr val="D9D9D9"/>
            </a:solidFill>
          </a:ln>
          <a:effectLst/>
        </p:spPr>
        <p:txBody>
          <a:bodyPr rtlCol="0" anchor="ctr"/>
          <a:lstStyle/>
          <a:p/>
        </p:txBody>
      </p:sp>
      <p:sp>
        <p:nvSpPr>
          <p:cNvPr id="70" name="Rectangle 69"/>
          <p:cNvSpPr/>
          <p:nvPr/>
        </p:nvSpPr>
        <p:spPr>
          <a:xfrm>
            <a:off x="7040880" y="5186934"/>
            <a:ext cx="1097280" cy="368046"/>
          </a:xfrm>
          <a:prstGeom prst="rect">
            <a:avLst/>
          </a:prstGeom>
          <a:solidFill>
            <a:srgbClr val="F0F0F0"/>
          </a:solidFill>
          <a:ln w="6350">
            <a:solidFill>
              <a:srgbClr val="D9D9D9"/>
            </a:solidFill>
          </a:ln>
          <a:effectLst/>
        </p:spPr>
        <p:txBody>
          <a:bodyPr rtlCol="0" anchor="ctr"/>
          <a:lstStyle/>
          <a:p/>
        </p:txBody>
      </p:sp>
      <p:sp>
        <p:nvSpPr>
          <p:cNvPr id="71" name="Rectangle 70"/>
          <p:cNvSpPr/>
          <p:nvPr/>
        </p:nvSpPr>
        <p:spPr>
          <a:xfrm>
            <a:off x="8138160" y="5186934"/>
            <a:ext cx="1097280" cy="368046"/>
          </a:xfrm>
          <a:prstGeom prst="rect">
            <a:avLst/>
          </a:prstGeom>
          <a:solidFill>
            <a:srgbClr val="F0F0F0"/>
          </a:solidFill>
          <a:ln w="6350">
            <a:solidFill>
              <a:srgbClr val="D9D9D9"/>
            </a:solidFill>
          </a:ln>
          <a:effectLst/>
        </p:spPr>
        <p:txBody>
          <a:bodyPr rtlCol="0" anchor="ctr"/>
          <a:lstStyle/>
          <a:p/>
        </p:txBody>
      </p:sp>
      <p:sp>
        <p:nvSpPr>
          <p:cNvPr id="72" name="Rectangle 71"/>
          <p:cNvSpPr/>
          <p:nvPr/>
        </p:nvSpPr>
        <p:spPr>
          <a:xfrm>
            <a:off x="9235440" y="5186934"/>
            <a:ext cx="2453335" cy="368046"/>
          </a:xfrm>
          <a:prstGeom prst="rect">
            <a:avLst/>
          </a:prstGeom>
          <a:solidFill>
            <a:srgbClr val="F0F0F0"/>
          </a:solidFill>
          <a:ln w="6350">
            <a:solidFill>
              <a:srgbClr val="D9D9D9"/>
            </a:solidFill>
          </a:ln>
          <a:effectLst/>
        </p:spPr>
        <p:txBody>
          <a:bodyPr rtlCol="0" anchor="ctr"/>
          <a:lstStyle/>
          <a:p/>
        </p:txBody>
      </p:sp>
      <p:sp>
        <p:nvSpPr>
          <p:cNvPr id="73" name="Rectangle 72"/>
          <p:cNvSpPr/>
          <p:nvPr/>
        </p:nvSpPr>
        <p:spPr>
          <a:xfrm>
            <a:off x="502920" y="5554980"/>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11</a:t>
            </a:r>
          </a:p>
        </p:txBody>
      </p:sp>
      <p:sp>
        <p:nvSpPr>
          <p:cNvPr id="74" name="Rectangle 73"/>
          <p:cNvSpPr/>
          <p:nvPr/>
        </p:nvSpPr>
        <p:spPr>
          <a:xfrm>
            <a:off x="960120" y="5554980"/>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Tundra Toprakları Bölgesi</a:t>
            </a:r>
          </a:p>
        </p:txBody>
      </p:sp>
      <p:sp>
        <p:nvSpPr>
          <p:cNvPr id="75" name="Rectangle 74"/>
          <p:cNvSpPr/>
          <p:nvPr/>
        </p:nvSpPr>
        <p:spPr>
          <a:xfrm>
            <a:off x="5943600" y="5554980"/>
            <a:ext cx="1097280" cy="368046"/>
          </a:xfrm>
          <a:prstGeom prst="rect">
            <a:avLst/>
          </a:prstGeom>
          <a:solidFill>
            <a:srgbClr val="FFFFFF"/>
          </a:solidFill>
          <a:ln w="6350">
            <a:solidFill>
              <a:srgbClr val="D9D9D9"/>
            </a:solidFill>
          </a:ln>
          <a:effectLst/>
        </p:spPr>
        <p:txBody>
          <a:bodyPr rtlCol="0" anchor="ctr"/>
          <a:lstStyle/>
          <a:p/>
        </p:txBody>
      </p:sp>
      <p:sp>
        <p:nvSpPr>
          <p:cNvPr id="76" name="Rectangle 75"/>
          <p:cNvSpPr/>
          <p:nvPr/>
        </p:nvSpPr>
        <p:spPr>
          <a:xfrm>
            <a:off x="7040880" y="5554980"/>
            <a:ext cx="1097280" cy="368046"/>
          </a:xfrm>
          <a:prstGeom prst="rect">
            <a:avLst/>
          </a:prstGeom>
          <a:solidFill>
            <a:srgbClr val="FFFFFF"/>
          </a:solidFill>
          <a:ln w="6350">
            <a:solidFill>
              <a:srgbClr val="D9D9D9"/>
            </a:solidFill>
          </a:ln>
          <a:effectLst/>
        </p:spPr>
        <p:txBody>
          <a:bodyPr rtlCol="0" anchor="ctr"/>
          <a:lstStyle/>
          <a:p/>
        </p:txBody>
      </p:sp>
      <p:sp>
        <p:nvSpPr>
          <p:cNvPr id="77" name="Rectangle 76"/>
          <p:cNvSpPr/>
          <p:nvPr/>
        </p:nvSpPr>
        <p:spPr>
          <a:xfrm>
            <a:off x="8138160" y="5554980"/>
            <a:ext cx="1097280" cy="368046"/>
          </a:xfrm>
          <a:prstGeom prst="rect">
            <a:avLst/>
          </a:prstGeom>
          <a:solidFill>
            <a:srgbClr val="FFFFFF"/>
          </a:solidFill>
          <a:ln w="6350">
            <a:solidFill>
              <a:srgbClr val="D9D9D9"/>
            </a:solidFill>
          </a:ln>
          <a:effectLst/>
        </p:spPr>
        <p:txBody>
          <a:bodyPr rtlCol="0" anchor="ctr"/>
          <a:lstStyle/>
          <a:p/>
        </p:txBody>
      </p:sp>
      <p:sp>
        <p:nvSpPr>
          <p:cNvPr id="78" name="Rectangle 77"/>
          <p:cNvSpPr/>
          <p:nvPr/>
        </p:nvSpPr>
        <p:spPr>
          <a:xfrm>
            <a:off x="9235440" y="5554980"/>
            <a:ext cx="2453335" cy="368046"/>
          </a:xfrm>
          <a:prstGeom prst="rect">
            <a:avLst/>
          </a:prstGeom>
          <a:solidFill>
            <a:srgbClr val="FFFFFF"/>
          </a:solidFill>
          <a:ln w="6350">
            <a:solidFill>
              <a:srgbClr val="D9D9D9"/>
            </a:solidFill>
          </a:ln>
          <a:effectLst/>
        </p:spPr>
        <p:txBody>
          <a:bodyPr rtlCol="0" anchor="ctr"/>
          <a:lstStyle/>
          <a:p/>
        </p:txBody>
      </p:sp>
      <p:sp>
        <p:nvSpPr>
          <p:cNvPr id="79" name="Rectangle 78"/>
          <p:cNvSpPr/>
          <p:nvPr/>
        </p:nvSpPr>
        <p:spPr>
          <a:xfrm>
            <a:off x="502920" y="5923026"/>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12</a:t>
            </a:r>
          </a:p>
        </p:txBody>
      </p:sp>
      <p:sp>
        <p:nvSpPr>
          <p:cNvPr id="80" name="Rectangle 79"/>
          <p:cNvSpPr/>
          <p:nvPr/>
        </p:nvSpPr>
        <p:spPr>
          <a:xfrm>
            <a:off x="960120" y="5923026"/>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Dünyadaki Petrol Üretim Bölgeleri</a:t>
            </a:r>
          </a:p>
        </p:txBody>
      </p:sp>
      <p:sp>
        <p:nvSpPr>
          <p:cNvPr id="81" name="Rectangle 80"/>
          <p:cNvSpPr/>
          <p:nvPr/>
        </p:nvSpPr>
        <p:spPr>
          <a:xfrm>
            <a:off x="5943600" y="5923026"/>
            <a:ext cx="1097280" cy="368046"/>
          </a:xfrm>
          <a:prstGeom prst="rect">
            <a:avLst/>
          </a:prstGeom>
          <a:solidFill>
            <a:srgbClr val="F0F0F0"/>
          </a:solidFill>
          <a:ln w="6350">
            <a:solidFill>
              <a:srgbClr val="D9D9D9"/>
            </a:solidFill>
          </a:ln>
          <a:effectLst/>
        </p:spPr>
        <p:txBody>
          <a:bodyPr rtlCol="0" anchor="ctr"/>
          <a:lstStyle/>
          <a:p/>
        </p:txBody>
      </p:sp>
      <p:sp>
        <p:nvSpPr>
          <p:cNvPr id="82" name="Rectangle 81"/>
          <p:cNvSpPr/>
          <p:nvPr/>
        </p:nvSpPr>
        <p:spPr>
          <a:xfrm>
            <a:off x="7040880" y="5923026"/>
            <a:ext cx="1097280" cy="368046"/>
          </a:xfrm>
          <a:prstGeom prst="rect">
            <a:avLst/>
          </a:prstGeom>
          <a:solidFill>
            <a:srgbClr val="F0F0F0"/>
          </a:solidFill>
          <a:ln w="6350">
            <a:solidFill>
              <a:srgbClr val="D9D9D9"/>
            </a:solidFill>
          </a:ln>
          <a:effectLst/>
        </p:spPr>
        <p:txBody>
          <a:bodyPr rtlCol="0" anchor="ctr"/>
          <a:lstStyle/>
          <a:p/>
        </p:txBody>
      </p:sp>
      <p:sp>
        <p:nvSpPr>
          <p:cNvPr id="83" name="Rectangle 82"/>
          <p:cNvSpPr/>
          <p:nvPr/>
        </p:nvSpPr>
        <p:spPr>
          <a:xfrm>
            <a:off x="8138160" y="5923026"/>
            <a:ext cx="1097280" cy="368046"/>
          </a:xfrm>
          <a:prstGeom prst="rect">
            <a:avLst/>
          </a:prstGeom>
          <a:solidFill>
            <a:srgbClr val="F0F0F0"/>
          </a:solidFill>
          <a:ln w="6350">
            <a:solidFill>
              <a:srgbClr val="D9D9D9"/>
            </a:solidFill>
          </a:ln>
          <a:effectLst/>
        </p:spPr>
        <p:txBody>
          <a:bodyPr rtlCol="0" anchor="ctr"/>
          <a:lstStyle/>
          <a:p/>
        </p:txBody>
      </p:sp>
      <p:sp>
        <p:nvSpPr>
          <p:cNvPr id="84" name="Rectangle 83"/>
          <p:cNvSpPr/>
          <p:nvPr/>
        </p:nvSpPr>
        <p:spPr>
          <a:xfrm>
            <a:off x="9235440" y="5923026"/>
            <a:ext cx="2453335" cy="368046"/>
          </a:xfrm>
          <a:prstGeom prst="rect">
            <a:avLst/>
          </a:prstGeom>
          <a:solidFill>
            <a:srgbClr val="F0F0F0"/>
          </a:solidFill>
          <a:ln w="6350">
            <a:solidFill>
              <a:srgbClr val="D9D9D9"/>
            </a:solidFill>
          </a:ln>
          <a:effectLst/>
        </p:spPr>
        <p:txBody>
          <a:bodyPr rtlCol="0" anchor="ctr"/>
          <a:lstStyle/>
          <a:p/>
        </p:txBody>
      </p:sp>
      <p:sp>
        <p:nvSpPr>
          <p:cNvPr id="85" name="TextBox 8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86" name="Rounded Rectangle 8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222</a:t>
            </a:r>
          </a:p>
        </p:txBody>
      </p:sp>
      <p:sp>
        <p:nvSpPr>
          <p:cNvPr id="87" name="TextBox 8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68 / 187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Anlam Çözümleme Tablosu 1-12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ectangle 5"/>
          <p:cNvSpPr/>
          <p:nvPr/>
        </p:nvSpPr>
        <p:spPr>
          <a:xfrm>
            <a:off x="502920" y="1216152"/>
            <a:ext cx="457200"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No</a:t>
            </a:r>
          </a:p>
        </p:txBody>
      </p:sp>
      <p:sp>
        <p:nvSpPr>
          <p:cNvPr id="7" name="Rectangle 6"/>
          <p:cNvSpPr/>
          <p:nvPr/>
        </p:nvSpPr>
        <p:spPr>
          <a:xfrm>
            <a:off x="960120" y="1216152"/>
            <a:ext cx="4983480"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700" b="1" i="0">
                <a:solidFill>
                  <a:srgbClr val="FFFFFF"/>
                </a:solidFill>
                <a:latin typeface="Calibri"/>
              </a:rPr>
              <a:t>Bölge örnekleri</a:t>
            </a:r>
          </a:p>
        </p:txBody>
      </p:sp>
      <p:sp>
        <p:nvSpPr>
          <p:cNvPr id="8" name="Rectangle 7"/>
          <p:cNvSpPr/>
          <p:nvPr/>
        </p:nvSpPr>
        <p:spPr>
          <a:xfrm>
            <a:off x="5943600" y="1216152"/>
            <a:ext cx="2194560" cy="329184"/>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600" b="1" i="0">
                <a:solidFill>
                  <a:srgbClr val="FFFFFF"/>
                </a:solidFill>
                <a:latin typeface="Calibri"/>
              </a:rPr>
              <a:t>Şekilsel bölge</a:t>
            </a:r>
          </a:p>
        </p:txBody>
      </p:sp>
      <p:sp>
        <p:nvSpPr>
          <p:cNvPr id="9" name="Rectangle 8"/>
          <p:cNvSpPr/>
          <p:nvPr/>
        </p:nvSpPr>
        <p:spPr>
          <a:xfrm>
            <a:off x="5943600" y="1545336"/>
            <a:ext cx="1097280" cy="329184"/>
          </a:xfrm>
          <a:prstGeom prst="rect">
            <a:avLst/>
          </a:prstGeom>
          <a:solidFill>
            <a:srgbClr val="3E7D3A"/>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Doğal</a:t>
            </a:r>
          </a:p>
        </p:txBody>
      </p:sp>
      <p:sp>
        <p:nvSpPr>
          <p:cNvPr id="10" name="Rectangle 9"/>
          <p:cNvSpPr/>
          <p:nvPr/>
        </p:nvSpPr>
        <p:spPr>
          <a:xfrm>
            <a:off x="7040880" y="1545336"/>
            <a:ext cx="1097280" cy="329184"/>
          </a:xfrm>
          <a:prstGeom prst="rect">
            <a:avLst/>
          </a:prstGeom>
          <a:solidFill>
            <a:srgbClr val="B05A1E"/>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Beşerî</a:t>
            </a:r>
          </a:p>
        </p:txBody>
      </p:sp>
      <p:sp>
        <p:nvSpPr>
          <p:cNvPr id="11" name="Rectangle 10"/>
          <p:cNvSpPr/>
          <p:nvPr/>
        </p:nvSpPr>
        <p:spPr>
          <a:xfrm>
            <a:off x="8138160" y="1216152"/>
            <a:ext cx="1097280" cy="658368"/>
          </a:xfrm>
          <a:prstGeom prst="rect">
            <a:avLst/>
          </a:prstGeom>
          <a:solidFill>
            <a:srgbClr val="1F6EA8"/>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İşlevsel bölge</a:t>
            </a:r>
          </a:p>
        </p:txBody>
      </p:sp>
      <p:sp>
        <p:nvSpPr>
          <p:cNvPr id="12" name="Rectangle 11"/>
          <p:cNvSpPr/>
          <p:nvPr/>
        </p:nvSpPr>
        <p:spPr>
          <a:xfrm>
            <a:off x="9235440" y="1216152"/>
            <a:ext cx="2453335"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Gerekçe (kriter)</a:t>
            </a:r>
          </a:p>
        </p:txBody>
      </p:sp>
      <p:sp>
        <p:nvSpPr>
          <p:cNvPr id="13" name="Rectangle 12"/>
          <p:cNvSpPr/>
          <p:nvPr/>
        </p:nvSpPr>
        <p:spPr>
          <a:xfrm>
            <a:off x="502920" y="1874520"/>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a:t>
            </a:r>
          </a:p>
        </p:txBody>
      </p:sp>
      <p:sp>
        <p:nvSpPr>
          <p:cNvPr id="14" name="Rectangle 13"/>
          <p:cNvSpPr/>
          <p:nvPr/>
        </p:nvSpPr>
        <p:spPr>
          <a:xfrm>
            <a:off x="960120" y="1874520"/>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Alp-Himalaya Dağlık Bölgesi</a:t>
            </a:r>
          </a:p>
        </p:txBody>
      </p:sp>
      <p:sp>
        <p:nvSpPr>
          <p:cNvPr id="15" name="Rectangle 14"/>
          <p:cNvSpPr/>
          <p:nvPr/>
        </p:nvSpPr>
        <p:spPr>
          <a:xfrm>
            <a:off x="5943600" y="1874520"/>
            <a:ext cx="1097280" cy="368046"/>
          </a:xfrm>
          <a:prstGeom prst="rect">
            <a:avLst/>
          </a:prstGeom>
          <a:solidFill>
            <a:srgbClr val="3E7D3A"/>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16" name="Rectangle 15"/>
          <p:cNvSpPr/>
          <p:nvPr/>
        </p:nvSpPr>
        <p:spPr>
          <a:xfrm>
            <a:off x="7040880" y="1874520"/>
            <a:ext cx="1097280" cy="368046"/>
          </a:xfrm>
          <a:prstGeom prst="rect">
            <a:avLst/>
          </a:prstGeom>
          <a:solidFill>
            <a:srgbClr val="FFFFFF"/>
          </a:solidFill>
          <a:ln w="6350">
            <a:solidFill>
              <a:srgbClr val="D9D9D9"/>
            </a:solidFill>
          </a:ln>
          <a:effectLst/>
        </p:spPr>
        <p:txBody>
          <a:bodyPr rtlCol="0" anchor="ctr"/>
          <a:lstStyle/>
          <a:p/>
        </p:txBody>
      </p:sp>
      <p:sp>
        <p:nvSpPr>
          <p:cNvPr id="17" name="Rectangle 16"/>
          <p:cNvSpPr/>
          <p:nvPr/>
        </p:nvSpPr>
        <p:spPr>
          <a:xfrm>
            <a:off x="8138160" y="1874520"/>
            <a:ext cx="1097280" cy="368046"/>
          </a:xfrm>
          <a:prstGeom prst="rect">
            <a:avLst/>
          </a:prstGeom>
          <a:solidFill>
            <a:srgbClr val="FFFFFF"/>
          </a:solidFill>
          <a:ln w="6350">
            <a:solidFill>
              <a:srgbClr val="D9D9D9"/>
            </a:solidFill>
          </a:ln>
          <a:effectLst/>
        </p:spPr>
        <p:txBody>
          <a:bodyPr rtlCol="0" anchor="ctr"/>
          <a:lstStyle/>
          <a:p/>
        </p:txBody>
      </p:sp>
      <p:sp>
        <p:nvSpPr>
          <p:cNvPr id="18" name="Rectangle 17"/>
          <p:cNvSpPr/>
          <p:nvPr/>
        </p:nvSpPr>
        <p:spPr>
          <a:xfrm>
            <a:off x="9235440" y="1874520"/>
            <a:ext cx="2453335"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3E7D3A"/>
                </a:solidFill>
                <a:latin typeface="Calibri"/>
              </a:rPr>
              <a:t>yer şekli</a:t>
            </a:r>
          </a:p>
        </p:txBody>
      </p:sp>
      <p:sp>
        <p:nvSpPr>
          <p:cNvPr id="19" name="Rectangle 18"/>
          <p:cNvSpPr/>
          <p:nvPr/>
        </p:nvSpPr>
        <p:spPr>
          <a:xfrm>
            <a:off x="502920" y="2242566"/>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a:t>
            </a:r>
          </a:p>
        </p:txBody>
      </p:sp>
      <p:sp>
        <p:nvSpPr>
          <p:cNvPr id="20" name="Rectangle 19"/>
          <p:cNvSpPr/>
          <p:nvPr/>
        </p:nvSpPr>
        <p:spPr>
          <a:xfrm>
            <a:off x="960120" y="2242566"/>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Türk Kültür Bölgesi</a:t>
            </a:r>
          </a:p>
        </p:txBody>
      </p:sp>
      <p:sp>
        <p:nvSpPr>
          <p:cNvPr id="21" name="Rectangle 20"/>
          <p:cNvSpPr/>
          <p:nvPr/>
        </p:nvSpPr>
        <p:spPr>
          <a:xfrm>
            <a:off x="5943600" y="2242566"/>
            <a:ext cx="1097280" cy="368046"/>
          </a:xfrm>
          <a:prstGeom prst="rect">
            <a:avLst/>
          </a:prstGeom>
          <a:solidFill>
            <a:srgbClr val="F0F0F0"/>
          </a:solidFill>
          <a:ln w="6350">
            <a:solidFill>
              <a:srgbClr val="D9D9D9"/>
            </a:solidFill>
          </a:ln>
          <a:effectLst/>
        </p:spPr>
        <p:txBody>
          <a:bodyPr rtlCol="0" anchor="ctr"/>
          <a:lstStyle/>
          <a:p/>
        </p:txBody>
      </p:sp>
      <p:sp>
        <p:nvSpPr>
          <p:cNvPr id="22" name="Rectangle 21"/>
          <p:cNvSpPr/>
          <p:nvPr/>
        </p:nvSpPr>
        <p:spPr>
          <a:xfrm>
            <a:off x="7040880" y="2242566"/>
            <a:ext cx="1097280" cy="368046"/>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23" name="Rectangle 22"/>
          <p:cNvSpPr/>
          <p:nvPr/>
        </p:nvSpPr>
        <p:spPr>
          <a:xfrm>
            <a:off x="8138160" y="2242566"/>
            <a:ext cx="1097280" cy="368046"/>
          </a:xfrm>
          <a:prstGeom prst="rect">
            <a:avLst/>
          </a:prstGeom>
          <a:solidFill>
            <a:srgbClr val="F0F0F0"/>
          </a:solidFill>
          <a:ln w="6350">
            <a:solidFill>
              <a:srgbClr val="D9D9D9"/>
            </a:solidFill>
          </a:ln>
          <a:effectLst/>
        </p:spPr>
        <p:txBody>
          <a:bodyPr rtlCol="0" anchor="ctr"/>
          <a:lstStyle/>
          <a:p/>
        </p:txBody>
      </p:sp>
      <p:sp>
        <p:nvSpPr>
          <p:cNvPr id="24" name="Rectangle 23"/>
          <p:cNvSpPr/>
          <p:nvPr/>
        </p:nvSpPr>
        <p:spPr>
          <a:xfrm>
            <a:off x="9235440" y="2242566"/>
            <a:ext cx="2453335"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kültür · kitap örneği</a:t>
            </a:r>
          </a:p>
        </p:txBody>
      </p:sp>
      <p:sp>
        <p:nvSpPr>
          <p:cNvPr id="25" name="Rectangle 24"/>
          <p:cNvSpPr/>
          <p:nvPr/>
        </p:nvSpPr>
        <p:spPr>
          <a:xfrm>
            <a:off x="502920" y="2610612"/>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3</a:t>
            </a:r>
          </a:p>
        </p:txBody>
      </p:sp>
      <p:sp>
        <p:nvSpPr>
          <p:cNvPr id="26" name="Rectangle 25"/>
          <p:cNvSpPr/>
          <p:nvPr/>
        </p:nvSpPr>
        <p:spPr>
          <a:xfrm>
            <a:off x="960120" y="2610612"/>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Nil Nehri Havzası</a:t>
            </a:r>
          </a:p>
        </p:txBody>
      </p:sp>
      <p:sp>
        <p:nvSpPr>
          <p:cNvPr id="27" name="Rectangle 26"/>
          <p:cNvSpPr/>
          <p:nvPr/>
        </p:nvSpPr>
        <p:spPr>
          <a:xfrm>
            <a:off x="5943600" y="2610612"/>
            <a:ext cx="1097280" cy="368046"/>
          </a:xfrm>
          <a:prstGeom prst="rect">
            <a:avLst/>
          </a:prstGeom>
          <a:solidFill>
            <a:srgbClr val="3E7D3A"/>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28" name="Rectangle 27"/>
          <p:cNvSpPr/>
          <p:nvPr/>
        </p:nvSpPr>
        <p:spPr>
          <a:xfrm>
            <a:off x="7040880" y="2610612"/>
            <a:ext cx="1097280" cy="368046"/>
          </a:xfrm>
          <a:prstGeom prst="rect">
            <a:avLst/>
          </a:prstGeom>
          <a:solidFill>
            <a:srgbClr val="FFFFFF"/>
          </a:solidFill>
          <a:ln w="6350">
            <a:solidFill>
              <a:srgbClr val="D9D9D9"/>
            </a:solidFill>
          </a:ln>
          <a:effectLst/>
        </p:spPr>
        <p:txBody>
          <a:bodyPr rtlCol="0" anchor="ctr"/>
          <a:lstStyle/>
          <a:p/>
        </p:txBody>
      </p:sp>
      <p:sp>
        <p:nvSpPr>
          <p:cNvPr id="29" name="Rectangle 28"/>
          <p:cNvSpPr/>
          <p:nvPr/>
        </p:nvSpPr>
        <p:spPr>
          <a:xfrm>
            <a:off x="8138160" y="2610612"/>
            <a:ext cx="1097280" cy="368046"/>
          </a:xfrm>
          <a:prstGeom prst="rect">
            <a:avLst/>
          </a:prstGeom>
          <a:solidFill>
            <a:srgbClr val="FFFFFF"/>
          </a:solidFill>
          <a:ln w="6350">
            <a:solidFill>
              <a:srgbClr val="D9D9D9"/>
            </a:solidFill>
          </a:ln>
          <a:effectLst/>
        </p:spPr>
        <p:txBody>
          <a:bodyPr rtlCol="0" anchor="ctr"/>
          <a:lstStyle/>
          <a:p/>
        </p:txBody>
      </p:sp>
      <p:sp>
        <p:nvSpPr>
          <p:cNvPr id="30" name="Rectangle 29"/>
          <p:cNvSpPr/>
          <p:nvPr/>
        </p:nvSpPr>
        <p:spPr>
          <a:xfrm>
            <a:off x="9235440" y="2610612"/>
            <a:ext cx="2453335"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3E7D3A"/>
                </a:solidFill>
                <a:latin typeface="Calibri"/>
              </a:rPr>
              <a:t>su (hidrografik)</a:t>
            </a:r>
          </a:p>
        </p:txBody>
      </p:sp>
      <p:sp>
        <p:nvSpPr>
          <p:cNvPr id="31" name="Rectangle 30"/>
          <p:cNvSpPr/>
          <p:nvPr/>
        </p:nvSpPr>
        <p:spPr>
          <a:xfrm>
            <a:off x="502920" y="2978658"/>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4</a:t>
            </a:r>
          </a:p>
        </p:txBody>
      </p:sp>
      <p:sp>
        <p:nvSpPr>
          <p:cNvPr id="32" name="Rectangle 31"/>
          <p:cNvSpPr/>
          <p:nvPr/>
        </p:nvSpPr>
        <p:spPr>
          <a:xfrm>
            <a:off x="960120" y="2978658"/>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İstanbul Büyükşehir Belediyesi Yetki Alanı Bölgesi</a:t>
            </a:r>
          </a:p>
        </p:txBody>
      </p:sp>
      <p:sp>
        <p:nvSpPr>
          <p:cNvPr id="33" name="Rectangle 32"/>
          <p:cNvSpPr/>
          <p:nvPr/>
        </p:nvSpPr>
        <p:spPr>
          <a:xfrm>
            <a:off x="5943600" y="2978658"/>
            <a:ext cx="1097280" cy="368046"/>
          </a:xfrm>
          <a:prstGeom prst="rect">
            <a:avLst/>
          </a:prstGeom>
          <a:solidFill>
            <a:srgbClr val="F0F0F0"/>
          </a:solidFill>
          <a:ln w="6350">
            <a:solidFill>
              <a:srgbClr val="D9D9D9"/>
            </a:solidFill>
          </a:ln>
          <a:effectLst/>
        </p:spPr>
        <p:txBody>
          <a:bodyPr rtlCol="0" anchor="ctr"/>
          <a:lstStyle/>
          <a:p/>
        </p:txBody>
      </p:sp>
      <p:sp>
        <p:nvSpPr>
          <p:cNvPr id="34" name="Rectangle 33"/>
          <p:cNvSpPr/>
          <p:nvPr/>
        </p:nvSpPr>
        <p:spPr>
          <a:xfrm>
            <a:off x="7040880" y="2978658"/>
            <a:ext cx="1097280" cy="368046"/>
          </a:xfrm>
          <a:prstGeom prst="rect">
            <a:avLst/>
          </a:prstGeom>
          <a:solidFill>
            <a:srgbClr val="F0F0F0"/>
          </a:solidFill>
          <a:ln w="6350">
            <a:solidFill>
              <a:srgbClr val="D9D9D9"/>
            </a:solidFill>
          </a:ln>
          <a:effectLst/>
        </p:spPr>
        <p:txBody>
          <a:bodyPr rtlCol="0" anchor="ctr"/>
          <a:lstStyle/>
          <a:p/>
        </p:txBody>
      </p:sp>
      <p:sp>
        <p:nvSpPr>
          <p:cNvPr id="35" name="Rectangle 34"/>
          <p:cNvSpPr/>
          <p:nvPr/>
        </p:nvSpPr>
        <p:spPr>
          <a:xfrm>
            <a:off x="8138160" y="2978658"/>
            <a:ext cx="1097280" cy="368046"/>
          </a:xfrm>
          <a:prstGeom prst="rect">
            <a:avLst/>
          </a:prstGeom>
          <a:solidFill>
            <a:srgbClr val="1F6EA8"/>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36" name="Rectangle 35"/>
          <p:cNvSpPr/>
          <p:nvPr/>
        </p:nvSpPr>
        <p:spPr>
          <a:xfrm>
            <a:off x="9235440" y="2978658"/>
            <a:ext cx="2453335"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1F6EA8"/>
                </a:solidFill>
                <a:latin typeface="Calibri"/>
              </a:rPr>
              <a:t>metropoliten alan · kitap</a:t>
            </a:r>
          </a:p>
        </p:txBody>
      </p:sp>
      <p:sp>
        <p:nvSpPr>
          <p:cNvPr id="37" name="Rectangle 36"/>
          <p:cNvSpPr/>
          <p:nvPr/>
        </p:nvSpPr>
        <p:spPr>
          <a:xfrm>
            <a:off x="502920" y="3346704"/>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5</a:t>
            </a:r>
          </a:p>
        </p:txBody>
      </p:sp>
      <p:sp>
        <p:nvSpPr>
          <p:cNvPr id="38" name="Rectangle 37"/>
          <p:cNvSpPr/>
          <p:nvPr/>
        </p:nvSpPr>
        <p:spPr>
          <a:xfrm>
            <a:off x="960120" y="3346704"/>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Asya Kıtasının Kentsel Yerleşme Bölgeleri</a:t>
            </a:r>
          </a:p>
        </p:txBody>
      </p:sp>
      <p:sp>
        <p:nvSpPr>
          <p:cNvPr id="39" name="Rectangle 38"/>
          <p:cNvSpPr/>
          <p:nvPr/>
        </p:nvSpPr>
        <p:spPr>
          <a:xfrm>
            <a:off x="5943600" y="3346704"/>
            <a:ext cx="1097280" cy="368046"/>
          </a:xfrm>
          <a:prstGeom prst="rect">
            <a:avLst/>
          </a:prstGeom>
          <a:solidFill>
            <a:srgbClr val="FFFFFF"/>
          </a:solidFill>
          <a:ln w="6350">
            <a:solidFill>
              <a:srgbClr val="D9D9D9"/>
            </a:solidFill>
          </a:ln>
          <a:effectLst/>
        </p:spPr>
        <p:txBody>
          <a:bodyPr rtlCol="0" anchor="ctr"/>
          <a:lstStyle/>
          <a:p/>
        </p:txBody>
      </p:sp>
      <p:sp>
        <p:nvSpPr>
          <p:cNvPr id="40" name="Rectangle 39"/>
          <p:cNvSpPr/>
          <p:nvPr/>
        </p:nvSpPr>
        <p:spPr>
          <a:xfrm>
            <a:off x="7040880" y="3346704"/>
            <a:ext cx="1097280" cy="368046"/>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41" name="Rectangle 40"/>
          <p:cNvSpPr/>
          <p:nvPr/>
        </p:nvSpPr>
        <p:spPr>
          <a:xfrm>
            <a:off x="8138160" y="3346704"/>
            <a:ext cx="1097280" cy="368046"/>
          </a:xfrm>
          <a:prstGeom prst="rect">
            <a:avLst/>
          </a:prstGeom>
          <a:solidFill>
            <a:srgbClr val="FFFFFF"/>
          </a:solidFill>
          <a:ln w="6350">
            <a:solidFill>
              <a:srgbClr val="D9D9D9"/>
            </a:solidFill>
          </a:ln>
          <a:effectLst/>
        </p:spPr>
        <p:txBody>
          <a:bodyPr rtlCol="0" anchor="ctr"/>
          <a:lstStyle/>
          <a:p/>
        </p:txBody>
      </p:sp>
      <p:sp>
        <p:nvSpPr>
          <p:cNvPr id="42" name="Rectangle 41"/>
          <p:cNvSpPr/>
          <p:nvPr/>
        </p:nvSpPr>
        <p:spPr>
          <a:xfrm>
            <a:off x="9235440" y="3346704"/>
            <a:ext cx="2453335"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yerleşme</a:t>
            </a:r>
          </a:p>
        </p:txBody>
      </p:sp>
      <p:sp>
        <p:nvSpPr>
          <p:cNvPr id="43" name="Rectangle 42"/>
          <p:cNvSpPr/>
          <p:nvPr/>
        </p:nvSpPr>
        <p:spPr>
          <a:xfrm>
            <a:off x="502920" y="3714750"/>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6</a:t>
            </a:r>
          </a:p>
        </p:txBody>
      </p:sp>
      <p:sp>
        <p:nvSpPr>
          <p:cNvPr id="44" name="Rectangle 43"/>
          <p:cNvSpPr/>
          <p:nvPr/>
        </p:nvSpPr>
        <p:spPr>
          <a:xfrm>
            <a:off x="960120" y="3714750"/>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Savan Bitki Örtüsü Bölgesi</a:t>
            </a:r>
          </a:p>
        </p:txBody>
      </p:sp>
      <p:sp>
        <p:nvSpPr>
          <p:cNvPr id="45" name="Rectangle 44"/>
          <p:cNvSpPr/>
          <p:nvPr/>
        </p:nvSpPr>
        <p:spPr>
          <a:xfrm>
            <a:off x="5943600" y="3714750"/>
            <a:ext cx="1097280" cy="368046"/>
          </a:xfrm>
          <a:prstGeom prst="rect">
            <a:avLst/>
          </a:prstGeom>
          <a:solidFill>
            <a:srgbClr val="3E7D3A"/>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46" name="Rectangle 45"/>
          <p:cNvSpPr/>
          <p:nvPr/>
        </p:nvSpPr>
        <p:spPr>
          <a:xfrm>
            <a:off x="7040880" y="3714750"/>
            <a:ext cx="1097280" cy="368046"/>
          </a:xfrm>
          <a:prstGeom prst="rect">
            <a:avLst/>
          </a:prstGeom>
          <a:solidFill>
            <a:srgbClr val="F0F0F0"/>
          </a:solidFill>
          <a:ln w="6350">
            <a:solidFill>
              <a:srgbClr val="D9D9D9"/>
            </a:solidFill>
          </a:ln>
          <a:effectLst/>
        </p:spPr>
        <p:txBody>
          <a:bodyPr rtlCol="0" anchor="ctr"/>
          <a:lstStyle/>
          <a:p/>
        </p:txBody>
      </p:sp>
      <p:sp>
        <p:nvSpPr>
          <p:cNvPr id="47" name="Rectangle 46"/>
          <p:cNvSpPr/>
          <p:nvPr/>
        </p:nvSpPr>
        <p:spPr>
          <a:xfrm>
            <a:off x="8138160" y="3714750"/>
            <a:ext cx="1097280" cy="368046"/>
          </a:xfrm>
          <a:prstGeom prst="rect">
            <a:avLst/>
          </a:prstGeom>
          <a:solidFill>
            <a:srgbClr val="F0F0F0"/>
          </a:solidFill>
          <a:ln w="6350">
            <a:solidFill>
              <a:srgbClr val="D9D9D9"/>
            </a:solidFill>
          </a:ln>
          <a:effectLst/>
        </p:spPr>
        <p:txBody>
          <a:bodyPr rtlCol="0" anchor="ctr"/>
          <a:lstStyle/>
          <a:p/>
        </p:txBody>
      </p:sp>
      <p:sp>
        <p:nvSpPr>
          <p:cNvPr id="48" name="Rectangle 47"/>
          <p:cNvSpPr/>
          <p:nvPr/>
        </p:nvSpPr>
        <p:spPr>
          <a:xfrm>
            <a:off x="9235440" y="3714750"/>
            <a:ext cx="2453335"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3E7D3A"/>
                </a:solidFill>
                <a:latin typeface="Calibri"/>
              </a:rPr>
              <a:t>bitki</a:t>
            </a:r>
          </a:p>
        </p:txBody>
      </p:sp>
      <p:sp>
        <p:nvSpPr>
          <p:cNvPr id="49" name="Rectangle 48"/>
          <p:cNvSpPr/>
          <p:nvPr/>
        </p:nvSpPr>
        <p:spPr>
          <a:xfrm>
            <a:off x="502920" y="4082796"/>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7</a:t>
            </a:r>
          </a:p>
        </p:txBody>
      </p:sp>
      <p:sp>
        <p:nvSpPr>
          <p:cNvPr id="50" name="Rectangle 49"/>
          <p:cNvSpPr/>
          <p:nvPr/>
        </p:nvSpPr>
        <p:spPr>
          <a:xfrm>
            <a:off x="960120" y="4082796"/>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DOKAP (Doğu Karadeniz Projesi) Bölgesi</a:t>
            </a:r>
          </a:p>
        </p:txBody>
      </p:sp>
      <p:sp>
        <p:nvSpPr>
          <p:cNvPr id="51" name="Rectangle 50"/>
          <p:cNvSpPr/>
          <p:nvPr/>
        </p:nvSpPr>
        <p:spPr>
          <a:xfrm>
            <a:off x="5943600" y="4082796"/>
            <a:ext cx="1097280" cy="368046"/>
          </a:xfrm>
          <a:prstGeom prst="rect">
            <a:avLst/>
          </a:prstGeom>
          <a:solidFill>
            <a:srgbClr val="FFFFFF"/>
          </a:solidFill>
          <a:ln w="6350">
            <a:solidFill>
              <a:srgbClr val="D9D9D9"/>
            </a:solidFill>
          </a:ln>
          <a:effectLst/>
        </p:spPr>
        <p:txBody>
          <a:bodyPr rtlCol="0" anchor="ctr"/>
          <a:lstStyle/>
          <a:p/>
        </p:txBody>
      </p:sp>
      <p:sp>
        <p:nvSpPr>
          <p:cNvPr id="52" name="Rectangle 51"/>
          <p:cNvSpPr/>
          <p:nvPr/>
        </p:nvSpPr>
        <p:spPr>
          <a:xfrm>
            <a:off x="7040880" y="4082796"/>
            <a:ext cx="1097280" cy="368046"/>
          </a:xfrm>
          <a:prstGeom prst="rect">
            <a:avLst/>
          </a:prstGeom>
          <a:solidFill>
            <a:srgbClr val="FFFFFF"/>
          </a:solidFill>
          <a:ln w="6350">
            <a:solidFill>
              <a:srgbClr val="D9D9D9"/>
            </a:solidFill>
          </a:ln>
          <a:effectLst/>
        </p:spPr>
        <p:txBody>
          <a:bodyPr rtlCol="0" anchor="ctr"/>
          <a:lstStyle/>
          <a:p/>
        </p:txBody>
      </p:sp>
      <p:sp>
        <p:nvSpPr>
          <p:cNvPr id="53" name="Rectangle 52"/>
          <p:cNvSpPr/>
          <p:nvPr/>
        </p:nvSpPr>
        <p:spPr>
          <a:xfrm>
            <a:off x="8138160" y="4082796"/>
            <a:ext cx="1097280" cy="368046"/>
          </a:xfrm>
          <a:prstGeom prst="rect">
            <a:avLst/>
          </a:prstGeom>
          <a:solidFill>
            <a:srgbClr val="1F6EA8"/>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54" name="Rectangle 53"/>
          <p:cNvSpPr/>
          <p:nvPr/>
        </p:nvSpPr>
        <p:spPr>
          <a:xfrm>
            <a:off x="9235440" y="4082796"/>
            <a:ext cx="2453335"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1F6EA8"/>
                </a:solidFill>
                <a:latin typeface="Calibri"/>
              </a:rPr>
              <a:t>kalkınma projesi · EBA</a:t>
            </a:r>
          </a:p>
        </p:txBody>
      </p:sp>
      <p:sp>
        <p:nvSpPr>
          <p:cNvPr id="55" name="Rectangle 54"/>
          <p:cNvSpPr/>
          <p:nvPr/>
        </p:nvSpPr>
        <p:spPr>
          <a:xfrm>
            <a:off x="502920" y="4450842"/>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8</a:t>
            </a:r>
          </a:p>
        </p:txBody>
      </p:sp>
      <p:sp>
        <p:nvSpPr>
          <p:cNvPr id="56" name="Rectangle 55"/>
          <p:cNvSpPr/>
          <p:nvPr/>
        </p:nvSpPr>
        <p:spPr>
          <a:xfrm>
            <a:off x="960120" y="4450842"/>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NATO (Kuzey Atlantik Anlaşması Örgütü) Bölgesi</a:t>
            </a:r>
          </a:p>
        </p:txBody>
      </p:sp>
      <p:sp>
        <p:nvSpPr>
          <p:cNvPr id="57" name="Rectangle 56"/>
          <p:cNvSpPr/>
          <p:nvPr/>
        </p:nvSpPr>
        <p:spPr>
          <a:xfrm>
            <a:off x="5943600" y="4450842"/>
            <a:ext cx="1097280" cy="368046"/>
          </a:xfrm>
          <a:prstGeom prst="rect">
            <a:avLst/>
          </a:prstGeom>
          <a:solidFill>
            <a:srgbClr val="F0F0F0"/>
          </a:solidFill>
          <a:ln w="6350">
            <a:solidFill>
              <a:srgbClr val="D9D9D9"/>
            </a:solidFill>
          </a:ln>
          <a:effectLst/>
        </p:spPr>
        <p:txBody>
          <a:bodyPr rtlCol="0" anchor="ctr"/>
          <a:lstStyle/>
          <a:p/>
        </p:txBody>
      </p:sp>
      <p:sp>
        <p:nvSpPr>
          <p:cNvPr id="58" name="Rectangle 57"/>
          <p:cNvSpPr/>
          <p:nvPr/>
        </p:nvSpPr>
        <p:spPr>
          <a:xfrm>
            <a:off x="7040880" y="4450842"/>
            <a:ext cx="1097280" cy="368046"/>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59" name="Rectangle 58"/>
          <p:cNvSpPr/>
          <p:nvPr/>
        </p:nvSpPr>
        <p:spPr>
          <a:xfrm>
            <a:off x="8138160" y="4450842"/>
            <a:ext cx="1097280" cy="368046"/>
          </a:xfrm>
          <a:prstGeom prst="rect">
            <a:avLst/>
          </a:prstGeom>
          <a:solidFill>
            <a:srgbClr val="D6E6F3"/>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400" b="1" i="0">
                <a:solidFill>
                  <a:srgbClr val="1F6EA8"/>
                </a:solidFill>
                <a:latin typeface="Calibri"/>
              </a:rPr>
              <a:t>(✓) EBA</a:t>
            </a:r>
          </a:p>
        </p:txBody>
      </p:sp>
      <p:sp>
        <p:nvSpPr>
          <p:cNvPr id="60" name="Rectangle 59"/>
          <p:cNvSpPr/>
          <p:nvPr/>
        </p:nvSpPr>
        <p:spPr>
          <a:xfrm>
            <a:off x="9235440" y="4450842"/>
            <a:ext cx="2453335"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siyasi, askerî iş birliği</a:t>
            </a:r>
          </a:p>
        </p:txBody>
      </p:sp>
      <p:sp>
        <p:nvSpPr>
          <p:cNvPr id="61" name="Rectangle 60"/>
          <p:cNvSpPr/>
          <p:nvPr/>
        </p:nvSpPr>
        <p:spPr>
          <a:xfrm>
            <a:off x="502920" y="4818888"/>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9</a:t>
            </a:r>
          </a:p>
        </p:txBody>
      </p:sp>
      <p:sp>
        <p:nvSpPr>
          <p:cNvPr id="62" name="Rectangle 61"/>
          <p:cNvSpPr/>
          <p:nvPr/>
        </p:nvSpPr>
        <p:spPr>
          <a:xfrm>
            <a:off x="960120" y="4818888"/>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600" b="0" i="0">
                <a:solidFill>
                  <a:srgbClr val="262626"/>
                </a:solidFill>
                <a:latin typeface="Calibri"/>
              </a:rPr>
              <a:t>Türkiye İstatistik Kurumu (TÜİK) Akdeniz İstatistik Bölgesi</a:t>
            </a:r>
          </a:p>
        </p:txBody>
      </p:sp>
      <p:sp>
        <p:nvSpPr>
          <p:cNvPr id="63" name="Rectangle 62"/>
          <p:cNvSpPr/>
          <p:nvPr/>
        </p:nvSpPr>
        <p:spPr>
          <a:xfrm>
            <a:off x="5943600" y="4818888"/>
            <a:ext cx="1097280" cy="368046"/>
          </a:xfrm>
          <a:prstGeom prst="rect">
            <a:avLst/>
          </a:prstGeom>
          <a:solidFill>
            <a:srgbClr val="FFFFFF"/>
          </a:solidFill>
          <a:ln w="6350">
            <a:solidFill>
              <a:srgbClr val="D9D9D9"/>
            </a:solidFill>
          </a:ln>
          <a:effectLst/>
        </p:spPr>
        <p:txBody>
          <a:bodyPr rtlCol="0" anchor="ctr"/>
          <a:lstStyle/>
          <a:p/>
        </p:txBody>
      </p:sp>
      <p:sp>
        <p:nvSpPr>
          <p:cNvPr id="64" name="Rectangle 63"/>
          <p:cNvSpPr/>
          <p:nvPr/>
        </p:nvSpPr>
        <p:spPr>
          <a:xfrm>
            <a:off x="7040880" y="4818888"/>
            <a:ext cx="1097280" cy="368046"/>
          </a:xfrm>
          <a:prstGeom prst="rect">
            <a:avLst/>
          </a:prstGeom>
          <a:solidFill>
            <a:srgbClr val="FFFFFF"/>
          </a:solidFill>
          <a:ln w="6350">
            <a:solidFill>
              <a:srgbClr val="D9D9D9"/>
            </a:solidFill>
          </a:ln>
          <a:effectLst/>
        </p:spPr>
        <p:txBody>
          <a:bodyPr rtlCol="0" anchor="ctr"/>
          <a:lstStyle/>
          <a:p/>
        </p:txBody>
      </p:sp>
      <p:sp>
        <p:nvSpPr>
          <p:cNvPr id="65" name="Rectangle 64"/>
          <p:cNvSpPr/>
          <p:nvPr/>
        </p:nvSpPr>
        <p:spPr>
          <a:xfrm>
            <a:off x="8138160" y="4818888"/>
            <a:ext cx="1097280" cy="368046"/>
          </a:xfrm>
          <a:prstGeom prst="rect">
            <a:avLst/>
          </a:prstGeom>
          <a:solidFill>
            <a:srgbClr val="1F6EA8"/>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66" name="Rectangle 65"/>
          <p:cNvSpPr/>
          <p:nvPr/>
        </p:nvSpPr>
        <p:spPr>
          <a:xfrm>
            <a:off x="9235440" y="4818888"/>
            <a:ext cx="2453335"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1F6EA8"/>
                </a:solidFill>
                <a:latin typeface="Calibri"/>
              </a:rPr>
              <a:t>istatistik bölgesi · EBA</a:t>
            </a:r>
          </a:p>
        </p:txBody>
      </p:sp>
      <p:sp>
        <p:nvSpPr>
          <p:cNvPr id="67" name="Rectangle 66"/>
          <p:cNvSpPr/>
          <p:nvPr/>
        </p:nvSpPr>
        <p:spPr>
          <a:xfrm>
            <a:off x="502920" y="5186934"/>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10</a:t>
            </a:r>
          </a:p>
        </p:txBody>
      </p:sp>
      <p:sp>
        <p:nvSpPr>
          <p:cNvPr id="68" name="Rectangle 67"/>
          <p:cNvSpPr/>
          <p:nvPr/>
        </p:nvSpPr>
        <p:spPr>
          <a:xfrm>
            <a:off x="960120" y="5186934"/>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Asya Kıtasında Sık Nüfuslu Bölgeler</a:t>
            </a:r>
          </a:p>
        </p:txBody>
      </p:sp>
      <p:sp>
        <p:nvSpPr>
          <p:cNvPr id="69" name="Rectangle 68"/>
          <p:cNvSpPr/>
          <p:nvPr/>
        </p:nvSpPr>
        <p:spPr>
          <a:xfrm>
            <a:off x="5943600" y="5186934"/>
            <a:ext cx="1097280" cy="368046"/>
          </a:xfrm>
          <a:prstGeom prst="rect">
            <a:avLst/>
          </a:prstGeom>
          <a:solidFill>
            <a:srgbClr val="F0F0F0"/>
          </a:solidFill>
          <a:ln w="6350">
            <a:solidFill>
              <a:srgbClr val="D9D9D9"/>
            </a:solidFill>
          </a:ln>
          <a:effectLst/>
        </p:spPr>
        <p:txBody>
          <a:bodyPr rtlCol="0" anchor="ctr"/>
          <a:lstStyle/>
          <a:p/>
        </p:txBody>
      </p:sp>
      <p:sp>
        <p:nvSpPr>
          <p:cNvPr id="70" name="Rectangle 69"/>
          <p:cNvSpPr/>
          <p:nvPr/>
        </p:nvSpPr>
        <p:spPr>
          <a:xfrm>
            <a:off x="7040880" y="5186934"/>
            <a:ext cx="1097280" cy="368046"/>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71" name="Rectangle 70"/>
          <p:cNvSpPr/>
          <p:nvPr/>
        </p:nvSpPr>
        <p:spPr>
          <a:xfrm>
            <a:off x="8138160" y="5186934"/>
            <a:ext cx="1097280" cy="368046"/>
          </a:xfrm>
          <a:prstGeom prst="rect">
            <a:avLst/>
          </a:prstGeom>
          <a:solidFill>
            <a:srgbClr val="F0F0F0"/>
          </a:solidFill>
          <a:ln w="6350">
            <a:solidFill>
              <a:srgbClr val="D9D9D9"/>
            </a:solidFill>
          </a:ln>
          <a:effectLst/>
        </p:spPr>
        <p:txBody>
          <a:bodyPr rtlCol="0" anchor="ctr"/>
          <a:lstStyle/>
          <a:p/>
        </p:txBody>
      </p:sp>
      <p:sp>
        <p:nvSpPr>
          <p:cNvPr id="72" name="Rectangle 71"/>
          <p:cNvSpPr/>
          <p:nvPr/>
        </p:nvSpPr>
        <p:spPr>
          <a:xfrm>
            <a:off x="9235440" y="5186934"/>
            <a:ext cx="2453335"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nüfus</a:t>
            </a:r>
          </a:p>
        </p:txBody>
      </p:sp>
      <p:sp>
        <p:nvSpPr>
          <p:cNvPr id="73" name="Rectangle 72"/>
          <p:cNvSpPr/>
          <p:nvPr/>
        </p:nvSpPr>
        <p:spPr>
          <a:xfrm>
            <a:off x="502920" y="5554980"/>
            <a:ext cx="45720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11</a:t>
            </a:r>
          </a:p>
        </p:txBody>
      </p:sp>
      <p:sp>
        <p:nvSpPr>
          <p:cNvPr id="74" name="Rectangle 73"/>
          <p:cNvSpPr/>
          <p:nvPr/>
        </p:nvSpPr>
        <p:spPr>
          <a:xfrm>
            <a:off x="960120" y="5554980"/>
            <a:ext cx="4983480"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Tundra Toprakları Bölgesi</a:t>
            </a:r>
          </a:p>
        </p:txBody>
      </p:sp>
      <p:sp>
        <p:nvSpPr>
          <p:cNvPr id="75" name="Rectangle 74"/>
          <p:cNvSpPr/>
          <p:nvPr/>
        </p:nvSpPr>
        <p:spPr>
          <a:xfrm>
            <a:off x="5943600" y="5554980"/>
            <a:ext cx="1097280" cy="368046"/>
          </a:xfrm>
          <a:prstGeom prst="rect">
            <a:avLst/>
          </a:prstGeom>
          <a:solidFill>
            <a:srgbClr val="3E7D3A"/>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76" name="Rectangle 75"/>
          <p:cNvSpPr/>
          <p:nvPr/>
        </p:nvSpPr>
        <p:spPr>
          <a:xfrm>
            <a:off x="7040880" y="5554980"/>
            <a:ext cx="1097280" cy="368046"/>
          </a:xfrm>
          <a:prstGeom prst="rect">
            <a:avLst/>
          </a:prstGeom>
          <a:solidFill>
            <a:srgbClr val="FFFFFF"/>
          </a:solidFill>
          <a:ln w="6350">
            <a:solidFill>
              <a:srgbClr val="D9D9D9"/>
            </a:solidFill>
          </a:ln>
          <a:effectLst/>
        </p:spPr>
        <p:txBody>
          <a:bodyPr rtlCol="0" anchor="ctr"/>
          <a:lstStyle/>
          <a:p/>
        </p:txBody>
      </p:sp>
      <p:sp>
        <p:nvSpPr>
          <p:cNvPr id="77" name="Rectangle 76"/>
          <p:cNvSpPr/>
          <p:nvPr/>
        </p:nvSpPr>
        <p:spPr>
          <a:xfrm>
            <a:off x="8138160" y="5554980"/>
            <a:ext cx="1097280" cy="368046"/>
          </a:xfrm>
          <a:prstGeom prst="rect">
            <a:avLst/>
          </a:prstGeom>
          <a:solidFill>
            <a:srgbClr val="FFFFFF"/>
          </a:solidFill>
          <a:ln w="6350">
            <a:solidFill>
              <a:srgbClr val="D9D9D9"/>
            </a:solidFill>
          </a:ln>
          <a:effectLst/>
        </p:spPr>
        <p:txBody>
          <a:bodyPr rtlCol="0" anchor="ctr"/>
          <a:lstStyle/>
          <a:p/>
        </p:txBody>
      </p:sp>
      <p:sp>
        <p:nvSpPr>
          <p:cNvPr id="78" name="Rectangle 77"/>
          <p:cNvSpPr/>
          <p:nvPr/>
        </p:nvSpPr>
        <p:spPr>
          <a:xfrm>
            <a:off x="9235440" y="5554980"/>
            <a:ext cx="2453335" cy="368046"/>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3E7D3A"/>
                </a:solidFill>
                <a:latin typeface="Calibri"/>
              </a:rPr>
              <a:t>toprak</a:t>
            </a:r>
          </a:p>
        </p:txBody>
      </p:sp>
      <p:sp>
        <p:nvSpPr>
          <p:cNvPr id="79" name="Rectangle 78"/>
          <p:cNvSpPr/>
          <p:nvPr/>
        </p:nvSpPr>
        <p:spPr>
          <a:xfrm>
            <a:off x="502920" y="5923026"/>
            <a:ext cx="45720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12</a:t>
            </a:r>
          </a:p>
        </p:txBody>
      </p:sp>
      <p:sp>
        <p:nvSpPr>
          <p:cNvPr id="80" name="Rectangle 79"/>
          <p:cNvSpPr/>
          <p:nvPr/>
        </p:nvSpPr>
        <p:spPr>
          <a:xfrm>
            <a:off x="960120" y="5923026"/>
            <a:ext cx="4983480"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Dünyadaki Petrol Üretim Bölgeleri</a:t>
            </a:r>
          </a:p>
        </p:txBody>
      </p:sp>
      <p:sp>
        <p:nvSpPr>
          <p:cNvPr id="81" name="Rectangle 80"/>
          <p:cNvSpPr/>
          <p:nvPr/>
        </p:nvSpPr>
        <p:spPr>
          <a:xfrm>
            <a:off x="5943600" y="5923026"/>
            <a:ext cx="1097280" cy="368046"/>
          </a:xfrm>
          <a:prstGeom prst="rect">
            <a:avLst/>
          </a:prstGeom>
          <a:solidFill>
            <a:srgbClr val="F0F0F0"/>
          </a:solidFill>
          <a:ln w="6350">
            <a:solidFill>
              <a:srgbClr val="D9D9D9"/>
            </a:solidFill>
          </a:ln>
          <a:effectLst/>
        </p:spPr>
        <p:txBody>
          <a:bodyPr rtlCol="0" anchor="ctr"/>
          <a:lstStyle/>
          <a:p/>
        </p:txBody>
      </p:sp>
      <p:sp>
        <p:nvSpPr>
          <p:cNvPr id="82" name="Rectangle 81"/>
          <p:cNvSpPr/>
          <p:nvPr/>
        </p:nvSpPr>
        <p:spPr>
          <a:xfrm>
            <a:off x="7040880" y="5923026"/>
            <a:ext cx="1097280" cy="368046"/>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83" name="Rectangle 82"/>
          <p:cNvSpPr/>
          <p:nvPr/>
        </p:nvSpPr>
        <p:spPr>
          <a:xfrm>
            <a:off x="8138160" y="5923026"/>
            <a:ext cx="1097280" cy="368046"/>
          </a:xfrm>
          <a:prstGeom prst="rect">
            <a:avLst/>
          </a:prstGeom>
          <a:solidFill>
            <a:srgbClr val="F0F0F0"/>
          </a:solidFill>
          <a:ln w="6350">
            <a:solidFill>
              <a:srgbClr val="D9D9D9"/>
            </a:solidFill>
          </a:ln>
          <a:effectLst/>
        </p:spPr>
        <p:txBody>
          <a:bodyPr rtlCol="0" anchor="ctr"/>
          <a:lstStyle/>
          <a:p/>
        </p:txBody>
      </p:sp>
      <p:sp>
        <p:nvSpPr>
          <p:cNvPr id="84" name="Rectangle 83"/>
          <p:cNvSpPr/>
          <p:nvPr/>
        </p:nvSpPr>
        <p:spPr>
          <a:xfrm>
            <a:off x="9235440" y="5923026"/>
            <a:ext cx="2453335" cy="368046"/>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üretim (ham madde)</a:t>
            </a:r>
          </a:p>
        </p:txBody>
      </p:sp>
      <p:sp>
        <p:nvSpPr>
          <p:cNvPr id="85" name="TextBox 8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86" name="Rounded Rectangle 8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222</a:t>
            </a:r>
          </a:p>
        </p:txBody>
      </p:sp>
      <p:sp>
        <p:nvSpPr>
          <p:cNvPr id="87" name="TextBox 8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69 / 187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Anlam Çözümleme Tablosu 13-23</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a:t>
            </a:r>
          </a:p>
        </p:txBody>
      </p:sp>
      <p:sp>
        <p:nvSpPr>
          <p:cNvPr id="6" name="Rectangle 5"/>
          <p:cNvSpPr/>
          <p:nvPr/>
        </p:nvSpPr>
        <p:spPr>
          <a:xfrm>
            <a:off x="502920" y="1216152"/>
            <a:ext cx="457200"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No</a:t>
            </a:r>
          </a:p>
        </p:txBody>
      </p:sp>
      <p:sp>
        <p:nvSpPr>
          <p:cNvPr id="7" name="Rectangle 6"/>
          <p:cNvSpPr/>
          <p:nvPr/>
        </p:nvSpPr>
        <p:spPr>
          <a:xfrm>
            <a:off x="960120" y="1216152"/>
            <a:ext cx="4983480"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700" b="1" i="0">
                <a:solidFill>
                  <a:srgbClr val="FFFFFF"/>
                </a:solidFill>
                <a:latin typeface="Calibri"/>
              </a:rPr>
              <a:t>Bölge örnekleri</a:t>
            </a:r>
          </a:p>
        </p:txBody>
      </p:sp>
      <p:sp>
        <p:nvSpPr>
          <p:cNvPr id="8" name="Rectangle 7"/>
          <p:cNvSpPr/>
          <p:nvPr/>
        </p:nvSpPr>
        <p:spPr>
          <a:xfrm>
            <a:off x="5943600" y="1216152"/>
            <a:ext cx="2194560" cy="329184"/>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600" b="1" i="0">
                <a:solidFill>
                  <a:srgbClr val="FFFFFF"/>
                </a:solidFill>
                <a:latin typeface="Calibri"/>
              </a:rPr>
              <a:t>Şekilsel bölge</a:t>
            </a:r>
          </a:p>
        </p:txBody>
      </p:sp>
      <p:sp>
        <p:nvSpPr>
          <p:cNvPr id="9" name="Rectangle 8"/>
          <p:cNvSpPr/>
          <p:nvPr/>
        </p:nvSpPr>
        <p:spPr>
          <a:xfrm>
            <a:off x="5943600" y="1545336"/>
            <a:ext cx="1097280" cy="329184"/>
          </a:xfrm>
          <a:prstGeom prst="rect">
            <a:avLst/>
          </a:prstGeom>
          <a:solidFill>
            <a:srgbClr val="3E7D3A"/>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Doğal</a:t>
            </a:r>
          </a:p>
        </p:txBody>
      </p:sp>
      <p:sp>
        <p:nvSpPr>
          <p:cNvPr id="10" name="Rectangle 9"/>
          <p:cNvSpPr/>
          <p:nvPr/>
        </p:nvSpPr>
        <p:spPr>
          <a:xfrm>
            <a:off x="7040880" y="1545336"/>
            <a:ext cx="1097280" cy="329184"/>
          </a:xfrm>
          <a:prstGeom prst="rect">
            <a:avLst/>
          </a:prstGeom>
          <a:solidFill>
            <a:srgbClr val="B05A1E"/>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Beşerî</a:t>
            </a:r>
          </a:p>
        </p:txBody>
      </p:sp>
      <p:sp>
        <p:nvSpPr>
          <p:cNvPr id="11" name="Rectangle 10"/>
          <p:cNvSpPr/>
          <p:nvPr/>
        </p:nvSpPr>
        <p:spPr>
          <a:xfrm>
            <a:off x="8138160" y="1216152"/>
            <a:ext cx="1097280" cy="658368"/>
          </a:xfrm>
          <a:prstGeom prst="rect">
            <a:avLst/>
          </a:prstGeom>
          <a:solidFill>
            <a:srgbClr val="1F6EA8"/>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İşlevsel bölge</a:t>
            </a:r>
          </a:p>
        </p:txBody>
      </p:sp>
      <p:sp>
        <p:nvSpPr>
          <p:cNvPr id="12" name="Rectangle 11"/>
          <p:cNvSpPr/>
          <p:nvPr/>
        </p:nvSpPr>
        <p:spPr>
          <a:xfrm>
            <a:off x="9235440" y="1216152"/>
            <a:ext cx="2453335"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Gerekçe (kriter)</a:t>
            </a:r>
          </a:p>
        </p:txBody>
      </p:sp>
      <p:sp>
        <p:nvSpPr>
          <p:cNvPr id="13" name="Rectangle 12"/>
          <p:cNvSpPr/>
          <p:nvPr/>
        </p:nvSpPr>
        <p:spPr>
          <a:xfrm>
            <a:off x="502920" y="1874520"/>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13</a:t>
            </a:r>
          </a:p>
        </p:txBody>
      </p:sp>
      <p:sp>
        <p:nvSpPr>
          <p:cNvPr id="14" name="Rectangle 13"/>
          <p:cNvSpPr/>
          <p:nvPr/>
        </p:nvSpPr>
        <p:spPr>
          <a:xfrm>
            <a:off x="960120" y="1874520"/>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Devlet Su İşleri Hizmet Bölgesi</a:t>
            </a:r>
          </a:p>
        </p:txBody>
      </p:sp>
      <p:sp>
        <p:nvSpPr>
          <p:cNvPr id="15" name="Rectangle 14"/>
          <p:cNvSpPr/>
          <p:nvPr/>
        </p:nvSpPr>
        <p:spPr>
          <a:xfrm>
            <a:off x="5943600" y="1874520"/>
            <a:ext cx="1097280" cy="401504"/>
          </a:xfrm>
          <a:prstGeom prst="rect">
            <a:avLst/>
          </a:prstGeom>
          <a:solidFill>
            <a:srgbClr val="FFFFFF"/>
          </a:solidFill>
          <a:ln w="6350">
            <a:solidFill>
              <a:srgbClr val="D9D9D9"/>
            </a:solidFill>
          </a:ln>
          <a:effectLst/>
        </p:spPr>
        <p:txBody>
          <a:bodyPr rtlCol="0" anchor="ctr"/>
          <a:lstStyle/>
          <a:p/>
        </p:txBody>
      </p:sp>
      <p:sp>
        <p:nvSpPr>
          <p:cNvPr id="16" name="Rectangle 15"/>
          <p:cNvSpPr/>
          <p:nvPr/>
        </p:nvSpPr>
        <p:spPr>
          <a:xfrm>
            <a:off x="7040880" y="1874520"/>
            <a:ext cx="1097280" cy="401504"/>
          </a:xfrm>
          <a:prstGeom prst="rect">
            <a:avLst/>
          </a:prstGeom>
          <a:solidFill>
            <a:srgbClr val="FFFFFF"/>
          </a:solidFill>
          <a:ln w="6350">
            <a:solidFill>
              <a:srgbClr val="D9D9D9"/>
            </a:solidFill>
          </a:ln>
          <a:effectLst/>
        </p:spPr>
        <p:txBody>
          <a:bodyPr rtlCol="0" anchor="ctr"/>
          <a:lstStyle/>
          <a:p/>
        </p:txBody>
      </p:sp>
      <p:sp>
        <p:nvSpPr>
          <p:cNvPr id="17" name="Rectangle 16"/>
          <p:cNvSpPr/>
          <p:nvPr/>
        </p:nvSpPr>
        <p:spPr>
          <a:xfrm>
            <a:off x="8138160" y="1874520"/>
            <a:ext cx="1097280" cy="401504"/>
          </a:xfrm>
          <a:prstGeom prst="rect">
            <a:avLst/>
          </a:prstGeom>
          <a:solidFill>
            <a:srgbClr val="FFFFFF"/>
          </a:solidFill>
          <a:ln w="6350">
            <a:solidFill>
              <a:srgbClr val="D9D9D9"/>
            </a:solidFill>
          </a:ln>
          <a:effectLst/>
        </p:spPr>
        <p:txBody>
          <a:bodyPr rtlCol="0" anchor="ctr"/>
          <a:lstStyle/>
          <a:p/>
        </p:txBody>
      </p:sp>
      <p:sp>
        <p:nvSpPr>
          <p:cNvPr id="18" name="Rectangle 17"/>
          <p:cNvSpPr/>
          <p:nvPr/>
        </p:nvSpPr>
        <p:spPr>
          <a:xfrm>
            <a:off x="9235440" y="1874520"/>
            <a:ext cx="2453335" cy="401504"/>
          </a:xfrm>
          <a:prstGeom prst="rect">
            <a:avLst/>
          </a:prstGeom>
          <a:solidFill>
            <a:srgbClr val="FFFFFF"/>
          </a:solidFill>
          <a:ln w="6350">
            <a:solidFill>
              <a:srgbClr val="D9D9D9"/>
            </a:solidFill>
          </a:ln>
          <a:effectLst/>
        </p:spPr>
        <p:txBody>
          <a:bodyPr rtlCol="0" anchor="ctr"/>
          <a:lstStyle/>
          <a:p/>
        </p:txBody>
      </p:sp>
      <p:sp>
        <p:nvSpPr>
          <p:cNvPr id="19" name="Rectangle 18"/>
          <p:cNvSpPr/>
          <p:nvPr/>
        </p:nvSpPr>
        <p:spPr>
          <a:xfrm>
            <a:off x="502920" y="2276024"/>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14</a:t>
            </a:r>
          </a:p>
        </p:txBody>
      </p:sp>
      <p:sp>
        <p:nvSpPr>
          <p:cNvPr id="20" name="Rectangle 19"/>
          <p:cNvSpPr/>
          <p:nvPr/>
        </p:nvSpPr>
        <p:spPr>
          <a:xfrm>
            <a:off x="960120" y="2276024"/>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Ekvatoral İklim Bölgesi</a:t>
            </a:r>
          </a:p>
        </p:txBody>
      </p:sp>
      <p:sp>
        <p:nvSpPr>
          <p:cNvPr id="21" name="Rectangle 20"/>
          <p:cNvSpPr/>
          <p:nvPr/>
        </p:nvSpPr>
        <p:spPr>
          <a:xfrm>
            <a:off x="5943600" y="2276024"/>
            <a:ext cx="1097280" cy="401504"/>
          </a:xfrm>
          <a:prstGeom prst="rect">
            <a:avLst/>
          </a:prstGeom>
          <a:solidFill>
            <a:srgbClr val="F0F0F0"/>
          </a:solidFill>
          <a:ln w="6350">
            <a:solidFill>
              <a:srgbClr val="D9D9D9"/>
            </a:solidFill>
          </a:ln>
          <a:effectLst/>
        </p:spPr>
        <p:txBody>
          <a:bodyPr rtlCol="0" anchor="ctr"/>
          <a:lstStyle/>
          <a:p/>
        </p:txBody>
      </p:sp>
      <p:sp>
        <p:nvSpPr>
          <p:cNvPr id="22" name="Rectangle 21"/>
          <p:cNvSpPr/>
          <p:nvPr/>
        </p:nvSpPr>
        <p:spPr>
          <a:xfrm>
            <a:off x="7040880" y="2276024"/>
            <a:ext cx="1097280" cy="401504"/>
          </a:xfrm>
          <a:prstGeom prst="rect">
            <a:avLst/>
          </a:prstGeom>
          <a:solidFill>
            <a:srgbClr val="F0F0F0"/>
          </a:solidFill>
          <a:ln w="6350">
            <a:solidFill>
              <a:srgbClr val="D9D9D9"/>
            </a:solidFill>
          </a:ln>
          <a:effectLst/>
        </p:spPr>
        <p:txBody>
          <a:bodyPr rtlCol="0" anchor="ctr"/>
          <a:lstStyle/>
          <a:p/>
        </p:txBody>
      </p:sp>
      <p:sp>
        <p:nvSpPr>
          <p:cNvPr id="23" name="Rectangle 22"/>
          <p:cNvSpPr/>
          <p:nvPr/>
        </p:nvSpPr>
        <p:spPr>
          <a:xfrm>
            <a:off x="8138160" y="2276024"/>
            <a:ext cx="1097280" cy="401504"/>
          </a:xfrm>
          <a:prstGeom prst="rect">
            <a:avLst/>
          </a:prstGeom>
          <a:solidFill>
            <a:srgbClr val="F0F0F0"/>
          </a:solidFill>
          <a:ln w="6350">
            <a:solidFill>
              <a:srgbClr val="D9D9D9"/>
            </a:solidFill>
          </a:ln>
          <a:effectLst/>
        </p:spPr>
        <p:txBody>
          <a:bodyPr rtlCol="0" anchor="ctr"/>
          <a:lstStyle/>
          <a:p/>
        </p:txBody>
      </p:sp>
      <p:sp>
        <p:nvSpPr>
          <p:cNvPr id="24" name="Rectangle 23"/>
          <p:cNvSpPr/>
          <p:nvPr/>
        </p:nvSpPr>
        <p:spPr>
          <a:xfrm>
            <a:off x="9235440" y="2276024"/>
            <a:ext cx="2453335" cy="401504"/>
          </a:xfrm>
          <a:prstGeom prst="rect">
            <a:avLst/>
          </a:prstGeom>
          <a:solidFill>
            <a:srgbClr val="F0F0F0"/>
          </a:solidFill>
          <a:ln w="6350">
            <a:solidFill>
              <a:srgbClr val="D9D9D9"/>
            </a:solidFill>
          </a:ln>
          <a:effectLst/>
        </p:spPr>
        <p:txBody>
          <a:bodyPr rtlCol="0" anchor="ctr"/>
          <a:lstStyle/>
          <a:p/>
        </p:txBody>
      </p:sp>
      <p:sp>
        <p:nvSpPr>
          <p:cNvPr id="25" name="Rectangle 24"/>
          <p:cNvSpPr/>
          <p:nvPr/>
        </p:nvSpPr>
        <p:spPr>
          <a:xfrm>
            <a:off x="502920" y="2677529"/>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15</a:t>
            </a:r>
          </a:p>
        </p:txBody>
      </p:sp>
      <p:sp>
        <p:nvSpPr>
          <p:cNvPr id="26" name="Rectangle 25"/>
          <p:cNvSpPr/>
          <p:nvPr/>
        </p:nvSpPr>
        <p:spPr>
          <a:xfrm>
            <a:off x="960120" y="2677529"/>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Türkiye’nin Dağınık Kırsal Yerleşme Bölgeleri</a:t>
            </a:r>
          </a:p>
        </p:txBody>
      </p:sp>
      <p:sp>
        <p:nvSpPr>
          <p:cNvPr id="27" name="Rectangle 26"/>
          <p:cNvSpPr/>
          <p:nvPr/>
        </p:nvSpPr>
        <p:spPr>
          <a:xfrm>
            <a:off x="5943600" y="2677529"/>
            <a:ext cx="1097280" cy="401504"/>
          </a:xfrm>
          <a:prstGeom prst="rect">
            <a:avLst/>
          </a:prstGeom>
          <a:solidFill>
            <a:srgbClr val="FFFFFF"/>
          </a:solidFill>
          <a:ln w="6350">
            <a:solidFill>
              <a:srgbClr val="D9D9D9"/>
            </a:solidFill>
          </a:ln>
          <a:effectLst/>
        </p:spPr>
        <p:txBody>
          <a:bodyPr rtlCol="0" anchor="ctr"/>
          <a:lstStyle/>
          <a:p/>
        </p:txBody>
      </p:sp>
      <p:sp>
        <p:nvSpPr>
          <p:cNvPr id="28" name="Rectangle 27"/>
          <p:cNvSpPr/>
          <p:nvPr/>
        </p:nvSpPr>
        <p:spPr>
          <a:xfrm>
            <a:off x="7040880" y="2677529"/>
            <a:ext cx="1097280" cy="401504"/>
          </a:xfrm>
          <a:prstGeom prst="rect">
            <a:avLst/>
          </a:prstGeom>
          <a:solidFill>
            <a:srgbClr val="FFFFFF"/>
          </a:solidFill>
          <a:ln w="6350">
            <a:solidFill>
              <a:srgbClr val="D9D9D9"/>
            </a:solidFill>
          </a:ln>
          <a:effectLst/>
        </p:spPr>
        <p:txBody>
          <a:bodyPr rtlCol="0" anchor="ctr"/>
          <a:lstStyle/>
          <a:p/>
        </p:txBody>
      </p:sp>
      <p:sp>
        <p:nvSpPr>
          <p:cNvPr id="29" name="Rectangle 28"/>
          <p:cNvSpPr/>
          <p:nvPr/>
        </p:nvSpPr>
        <p:spPr>
          <a:xfrm>
            <a:off x="8138160" y="2677529"/>
            <a:ext cx="1097280" cy="401504"/>
          </a:xfrm>
          <a:prstGeom prst="rect">
            <a:avLst/>
          </a:prstGeom>
          <a:solidFill>
            <a:srgbClr val="FFFFFF"/>
          </a:solidFill>
          <a:ln w="6350">
            <a:solidFill>
              <a:srgbClr val="D9D9D9"/>
            </a:solidFill>
          </a:ln>
          <a:effectLst/>
        </p:spPr>
        <p:txBody>
          <a:bodyPr rtlCol="0" anchor="ctr"/>
          <a:lstStyle/>
          <a:p/>
        </p:txBody>
      </p:sp>
      <p:sp>
        <p:nvSpPr>
          <p:cNvPr id="30" name="Rectangle 29"/>
          <p:cNvSpPr/>
          <p:nvPr/>
        </p:nvSpPr>
        <p:spPr>
          <a:xfrm>
            <a:off x="9235440" y="2677529"/>
            <a:ext cx="2453335" cy="401504"/>
          </a:xfrm>
          <a:prstGeom prst="rect">
            <a:avLst/>
          </a:prstGeom>
          <a:solidFill>
            <a:srgbClr val="FFFFFF"/>
          </a:solidFill>
          <a:ln w="6350">
            <a:solidFill>
              <a:srgbClr val="D9D9D9"/>
            </a:solidFill>
          </a:ln>
          <a:effectLst/>
        </p:spPr>
        <p:txBody>
          <a:bodyPr rtlCol="0" anchor="ctr"/>
          <a:lstStyle/>
          <a:p/>
        </p:txBody>
      </p:sp>
      <p:sp>
        <p:nvSpPr>
          <p:cNvPr id="31" name="Rectangle 30"/>
          <p:cNvSpPr/>
          <p:nvPr/>
        </p:nvSpPr>
        <p:spPr>
          <a:xfrm>
            <a:off x="502920" y="3079034"/>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16</a:t>
            </a:r>
          </a:p>
        </p:txBody>
      </p:sp>
      <p:sp>
        <p:nvSpPr>
          <p:cNvPr id="32" name="Rectangle 31"/>
          <p:cNvSpPr/>
          <p:nvPr/>
        </p:nvSpPr>
        <p:spPr>
          <a:xfrm>
            <a:off x="960120" y="3079034"/>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Akdeniz İklim Bölgesi</a:t>
            </a:r>
          </a:p>
        </p:txBody>
      </p:sp>
      <p:sp>
        <p:nvSpPr>
          <p:cNvPr id="33" name="Rectangle 32"/>
          <p:cNvSpPr/>
          <p:nvPr/>
        </p:nvSpPr>
        <p:spPr>
          <a:xfrm>
            <a:off x="5943600" y="3079034"/>
            <a:ext cx="1097280" cy="401504"/>
          </a:xfrm>
          <a:prstGeom prst="rect">
            <a:avLst/>
          </a:prstGeom>
          <a:solidFill>
            <a:srgbClr val="F0F0F0"/>
          </a:solidFill>
          <a:ln w="6350">
            <a:solidFill>
              <a:srgbClr val="D9D9D9"/>
            </a:solidFill>
          </a:ln>
          <a:effectLst/>
        </p:spPr>
        <p:txBody>
          <a:bodyPr rtlCol="0" anchor="ctr"/>
          <a:lstStyle/>
          <a:p/>
        </p:txBody>
      </p:sp>
      <p:sp>
        <p:nvSpPr>
          <p:cNvPr id="34" name="Rectangle 33"/>
          <p:cNvSpPr/>
          <p:nvPr/>
        </p:nvSpPr>
        <p:spPr>
          <a:xfrm>
            <a:off x="7040880" y="3079034"/>
            <a:ext cx="1097280" cy="401504"/>
          </a:xfrm>
          <a:prstGeom prst="rect">
            <a:avLst/>
          </a:prstGeom>
          <a:solidFill>
            <a:srgbClr val="F0F0F0"/>
          </a:solidFill>
          <a:ln w="6350">
            <a:solidFill>
              <a:srgbClr val="D9D9D9"/>
            </a:solidFill>
          </a:ln>
          <a:effectLst/>
        </p:spPr>
        <p:txBody>
          <a:bodyPr rtlCol="0" anchor="ctr"/>
          <a:lstStyle/>
          <a:p/>
        </p:txBody>
      </p:sp>
      <p:sp>
        <p:nvSpPr>
          <p:cNvPr id="35" name="Rectangle 34"/>
          <p:cNvSpPr/>
          <p:nvPr/>
        </p:nvSpPr>
        <p:spPr>
          <a:xfrm>
            <a:off x="8138160" y="3079034"/>
            <a:ext cx="1097280" cy="401504"/>
          </a:xfrm>
          <a:prstGeom prst="rect">
            <a:avLst/>
          </a:prstGeom>
          <a:solidFill>
            <a:srgbClr val="F0F0F0"/>
          </a:solidFill>
          <a:ln w="6350">
            <a:solidFill>
              <a:srgbClr val="D9D9D9"/>
            </a:solidFill>
          </a:ln>
          <a:effectLst/>
        </p:spPr>
        <p:txBody>
          <a:bodyPr rtlCol="0" anchor="ctr"/>
          <a:lstStyle/>
          <a:p/>
        </p:txBody>
      </p:sp>
      <p:sp>
        <p:nvSpPr>
          <p:cNvPr id="36" name="Rectangle 35"/>
          <p:cNvSpPr/>
          <p:nvPr/>
        </p:nvSpPr>
        <p:spPr>
          <a:xfrm>
            <a:off x="9235440" y="3079034"/>
            <a:ext cx="2453335" cy="401504"/>
          </a:xfrm>
          <a:prstGeom prst="rect">
            <a:avLst/>
          </a:prstGeom>
          <a:solidFill>
            <a:srgbClr val="F0F0F0"/>
          </a:solidFill>
          <a:ln w="6350">
            <a:solidFill>
              <a:srgbClr val="D9D9D9"/>
            </a:solidFill>
          </a:ln>
          <a:effectLst/>
        </p:spPr>
        <p:txBody>
          <a:bodyPr rtlCol="0" anchor="ctr"/>
          <a:lstStyle/>
          <a:p/>
        </p:txBody>
      </p:sp>
      <p:sp>
        <p:nvSpPr>
          <p:cNvPr id="37" name="Rectangle 36"/>
          <p:cNvSpPr/>
          <p:nvPr/>
        </p:nvSpPr>
        <p:spPr>
          <a:xfrm>
            <a:off x="502920" y="3480538"/>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17</a:t>
            </a:r>
          </a:p>
        </p:txBody>
      </p:sp>
      <p:sp>
        <p:nvSpPr>
          <p:cNvPr id="38" name="Rectangle 37"/>
          <p:cNvSpPr/>
          <p:nvPr/>
        </p:nvSpPr>
        <p:spPr>
          <a:xfrm>
            <a:off x="960120" y="3480538"/>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GAP (Güneydoğu Anadolu Projesi) Bölgesi</a:t>
            </a:r>
          </a:p>
        </p:txBody>
      </p:sp>
      <p:sp>
        <p:nvSpPr>
          <p:cNvPr id="39" name="Rectangle 38"/>
          <p:cNvSpPr/>
          <p:nvPr/>
        </p:nvSpPr>
        <p:spPr>
          <a:xfrm>
            <a:off x="5943600" y="3480538"/>
            <a:ext cx="1097280" cy="401504"/>
          </a:xfrm>
          <a:prstGeom prst="rect">
            <a:avLst/>
          </a:prstGeom>
          <a:solidFill>
            <a:srgbClr val="FFFFFF"/>
          </a:solidFill>
          <a:ln w="6350">
            <a:solidFill>
              <a:srgbClr val="D9D9D9"/>
            </a:solidFill>
          </a:ln>
          <a:effectLst/>
        </p:spPr>
        <p:txBody>
          <a:bodyPr rtlCol="0" anchor="ctr"/>
          <a:lstStyle/>
          <a:p/>
        </p:txBody>
      </p:sp>
      <p:sp>
        <p:nvSpPr>
          <p:cNvPr id="40" name="Rectangle 39"/>
          <p:cNvSpPr/>
          <p:nvPr/>
        </p:nvSpPr>
        <p:spPr>
          <a:xfrm>
            <a:off x="7040880" y="3480538"/>
            <a:ext cx="1097280" cy="401504"/>
          </a:xfrm>
          <a:prstGeom prst="rect">
            <a:avLst/>
          </a:prstGeom>
          <a:solidFill>
            <a:srgbClr val="FFFFFF"/>
          </a:solidFill>
          <a:ln w="6350">
            <a:solidFill>
              <a:srgbClr val="D9D9D9"/>
            </a:solidFill>
          </a:ln>
          <a:effectLst/>
        </p:spPr>
        <p:txBody>
          <a:bodyPr rtlCol="0" anchor="ctr"/>
          <a:lstStyle/>
          <a:p/>
        </p:txBody>
      </p:sp>
      <p:sp>
        <p:nvSpPr>
          <p:cNvPr id="41" name="Rectangle 40"/>
          <p:cNvSpPr/>
          <p:nvPr/>
        </p:nvSpPr>
        <p:spPr>
          <a:xfrm>
            <a:off x="8138160" y="3480538"/>
            <a:ext cx="1097280" cy="401504"/>
          </a:xfrm>
          <a:prstGeom prst="rect">
            <a:avLst/>
          </a:prstGeom>
          <a:solidFill>
            <a:srgbClr val="FFFFFF"/>
          </a:solidFill>
          <a:ln w="6350">
            <a:solidFill>
              <a:srgbClr val="D9D9D9"/>
            </a:solidFill>
          </a:ln>
          <a:effectLst/>
        </p:spPr>
        <p:txBody>
          <a:bodyPr rtlCol="0" anchor="ctr"/>
          <a:lstStyle/>
          <a:p/>
        </p:txBody>
      </p:sp>
      <p:sp>
        <p:nvSpPr>
          <p:cNvPr id="42" name="Rectangle 41"/>
          <p:cNvSpPr/>
          <p:nvPr/>
        </p:nvSpPr>
        <p:spPr>
          <a:xfrm>
            <a:off x="9235440" y="3480538"/>
            <a:ext cx="2453335" cy="401504"/>
          </a:xfrm>
          <a:prstGeom prst="rect">
            <a:avLst/>
          </a:prstGeom>
          <a:solidFill>
            <a:srgbClr val="FFFFFF"/>
          </a:solidFill>
          <a:ln w="6350">
            <a:solidFill>
              <a:srgbClr val="D9D9D9"/>
            </a:solidFill>
          </a:ln>
          <a:effectLst/>
        </p:spPr>
        <p:txBody>
          <a:bodyPr rtlCol="0" anchor="ctr"/>
          <a:lstStyle/>
          <a:p/>
        </p:txBody>
      </p:sp>
      <p:sp>
        <p:nvSpPr>
          <p:cNvPr id="43" name="Rectangle 42"/>
          <p:cNvSpPr/>
          <p:nvPr/>
        </p:nvSpPr>
        <p:spPr>
          <a:xfrm>
            <a:off x="502920" y="3882043"/>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18</a:t>
            </a:r>
          </a:p>
        </p:txBody>
      </p:sp>
      <p:sp>
        <p:nvSpPr>
          <p:cNvPr id="44" name="Rectangle 43"/>
          <p:cNvSpPr/>
          <p:nvPr/>
        </p:nvSpPr>
        <p:spPr>
          <a:xfrm>
            <a:off x="960120" y="3882043"/>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Avrupa’daki Otomotiv Sanayi Bölgeleri</a:t>
            </a:r>
          </a:p>
        </p:txBody>
      </p:sp>
      <p:sp>
        <p:nvSpPr>
          <p:cNvPr id="45" name="Rectangle 44"/>
          <p:cNvSpPr/>
          <p:nvPr/>
        </p:nvSpPr>
        <p:spPr>
          <a:xfrm>
            <a:off x="5943600" y="3882043"/>
            <a:ext cx="1097280" cy="401504"/>
          </a:xfrm>
          <a:prstGeom prst="rect">
            <a:avLst/>
          </a:prstGeom>
          <a:solidFill>
            <a:srgbClr val="F0F0F0"/>
          </a:solidFill>
          <a:ln w="6350">
            <a:solidFill>
              <a:srgbClr val="D9D9D9"/>
            </a:solidFill>
          </a:ln>
          <a:effectLst/>
        </p:spPr>
        <p:txBody>
          <a:bodyPr rtlCol="0" anchor="ctr"/>
          <a:lstStyle/>
          <a:p/>
        </p:txBody>
      </p:sp>
      <p:sp>
        <p:nvSpPr>
          <p:cNvPr id="46" name="Rectangle 45"/>
          <p:cNvSpPr/>
          <p:nvPr/>
        </p:nvSpPr>
        <p:spPr>
          <a:xfrm>
            <a:off x="7040880" y="3882043"/>
            <a:ext cx="1097280" cy="401504"/>
          </a:xfrm>
          <a:prstGeom prst="rect">
            <a:avLst/>
          </a:prstGeom>
          <a:solidFill>
            <a:srgbClr val="F0F0F0"/>
          </a:solidFill>
          <a:ln w="6350">
            <a:solidFill>
              <a:srgbClr val="D9D9D9"/>
            </a:solidFill>
          </a:ln>
          <a:effectLst/>
        </p:spPr>
        <p:txBody>
          <a:bodyPr rtlCol="0" anchor="ctr"/>
          <a:lstStyle/>
          <a:p/>
        </p:txBody>
      </p:sp>
      <p:sp>
        <p:nvSpPr>
          <p:cNvPr id="47" name="Rectangle 46"/>
          <p:cNvSpPr/>
          <p:nvPr/>
        </p:nvSpPr>
        <p:spPr>
          <a:xfrm>
            <a:off x="8138160" y="3882043"/>
            <a:ext cx="1097280" cy="401504"/>
          </a:xfrm>
          <a:prstGeom prst="rect">
            <a:avLst/>
          </a:prstGeom>
          <a:solidFill>
            <a:srgbClr val="F0F0F0"/>
          </a:solidFill>
          <a:ln w="6350">
            <a:solidFill>
              <a:srgbClr val="D9D9D9"/>
            </a:solidFill>
          </a:ln>
          <a:effectLst/>
        </p:spPr>
        <p:txBody>
          <a:bodyPr rtlCol="0" anchor="ctr"/>
          <a:lstStyle/>
          <a:p/>
        </p:txBody>
      </p:sp>
      <p:sp>
        <p:nvSpPr>
          <p:cNvPr id="48" name="Rectangle 47"/>
          <p:cNvSpPr/>
          <p:nvPr/>
        </p:nvSpPr>
        <p:spPr>
          <a:xfrm>
            <a:off x="9235440" y="3882043"/>
            <a:ext cx="2453335" cy="401504"/>
          </a:xfrm>
          <a:prstGeom prst="rect">
            <a:avLst/>
          </a:prstGeom>
          <a:solidFill>
            <a:srgbClr val="F0F0F0"/>
          </a:solidFill>
          <a:ln w="6350">
            <a:solidFill>
              <a:srgbClr val="D9D9D9"/>
            </a:solidFill>
          </a:ln>
          <a:effectLst/>
        </p:spPr>
        <p:txBody>
          <a:bodyPr rtlCol="0" anchor="ctr"/>
          <a:lstStyle/>
          <a:p/>
        </p:txBody>
      </p:sp>
      <p:sp>
        <p:nvSpPr>
          <p:cNvPr id="49" name="Rectangle 48"/>
          <p:cNvSpPr/>
          <p:nvPr/>
        </p:nvSpPr>
        <p:spPr>
          <a:xfrm>
            <a:off x="502920" y="4283548"/>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19</a:t>
            </a:r>
          </a:p>
        </p:txBody>
      </p:sp>
      <p:sp>
        <p:nvSpPr>
          <p:cNvPr id="50" name="Rectangle 49"/>
          <p:cNvSpPr/>
          <p:nvPr/>
        </p:nvSpPr>
        <p:spPr>
          <a:xfrm>
            <a:off x="960120" y="4283548"/>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Bozkır Bitki Örtüsü Bölgesi</a:t>
            </a:r>
          </a:p>
        </p:txBody>
      </p:sp>
      <p:sp>
        <p:nvSpPr>
          <p:cNvPr id="51" name="Rectangle 50"/>
          <p:cNvSpPr/>
          <p:nvPr/>
        </p:nvSpPr>
        <p:spPr>
          <a:xfrm>
            <a:off x="5943600" y="4283548"/>
            <a:ext cx="1097280" cy="401504"/>
          </a:xfrm>
          <a:prstGeom prst="rect">
            <a:avLst/>
          </a:prstGeom>
          <a:solidFill>
            <a:srgbClr val="FFFFFF"/>
          </a:solidFill>
          <a:ln w="6350">
            <a:solidFill>
              <a:srgbClr val="D9D9D9"/>
            </a:solidFill>
          </a:ln>
          <a:effectLst/>
        </p:spPr>
        <p:txBody>
          <a:bodyPr rtlCol="0" anchor="ctr"/>
          <a:lstStyle/>
          <a:p/>
        </p:txBody>
      </p:sp>
      <p:sp>
        <p:nvSpPr>
          <p:cNvPr id="52" name="Rectangle 51"/>
          <p:cNvSpPr/>
          <p:nvPr/>
        </p:nvSpPr>
        <p:spPr>
          <a:xfrm>
            <a:off x="7040880" y="4283548"/>
            <a:ext cx="1097280" cy="401504"/>
          </a:xfrm>
          <a:prstGeom prst="rect">
            <a:avLst/>
          </a:prstGeom>
          <a:solidFill>
            <a:srgbClr val="FFFFFF"/>
          </a:solidFill>
          <a:ln w="6350">
            <a:solidFill>
              <a:srgbClr val="D9D9D9"/>
            </a:solidFill>
          </a:ln>
          <a:effectLst/>
        </p:spPr>
        <p:txBody>
          <a:bodyPr rtlCol="0" anchor="ctr"/>
          <a:lstStyle/>
          <a:p/>
        </p:txBody>
      </p:sp>
      <p:sp>
        <p:nvSpPr>
          <p:cNvPr id="53" name="Rectangle 52"/>
          <p:cNvSpPr/>
          <p:nvPr/>
        </p:nvSpPr>
        <p:spPr>
          <a:xfrm>
            <a:off x="8138160" y="4283548"/>
            <a:ext cx="1097280" cy="401504"/>
          </a:xfrm>
          <a:prstGeom prst="rect">
            <a:avLst/>
          </a:prstGeom>
          <a:solidFill>
            <a:srgbClr val="FFFFFF"/>
          </a:solidFill>
          <a:ln w="6350">
            <a:solidFill>
              <a:srgbClr val="D9D9D9"/>
            </a:solidFill>
          </a:ln>
          <a:effectLst/>
        </p:spPr>
        <p:txBody>
          <a:bodyPr rtlCol="0" anchor="ctr"/>
          <a:lstStyle/>
          <a:p/>
        </p:txBody>
      </p:sp>
      <p:sp>
        <p:nvSpPr>
          <p:cNvPr id="54" name="Rectangle 53"/>
          <p:cNvSpPr/>
          <p:nvPr/>
        </p:nvSpPr>
        <p:spPr>
          <a:xfrm>
            <a:off x="9235440" y="4283548"/>
            <a:ext cx="2453335" cy="401504"/>
          </a:xfrm>
          <a:prstGeom prst="rect">
            <a:avLst/>
          </a:prstGeom>
          <a:solidFill>
            <a:srgbClr val="FFFFFF"/>
          </a:solidFill>
          <a:ln w="6350">
            <a:solidFill>
              <a:srgbClr val="D9D9D9"/>
            </a:solidFill>
          </a:ln>
          <a:effectLst/>
        </p:spPr>
        <p:txBody>
          <a:bodyPr rtlCol="0" anchor="ctr"/>
          <a:lstStyle/>
          <a:p/>
        </p:txBody>
      </p:sp>
      <p:sp>
        <p:nvSpPr>
          <p:cNvPr id="55" name="Rectangle 54"/>
          <p:cNvSpPr/>
          <p:nvPr/>
        </p:nvSpPr>
        <p:spPr>
          <a:xfrm>
            <a:off x="502920" y="4685053"/>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20</a:t>
            </a:r>
          </a:p>
        </p:txBody>
      </p:sp>
      <p:sp>
        <p:nvSpPr>
          <p:cNvPr id="56" name="Rectangle 55"/>
          <p:cNvSpPr/>
          <p:nvPr/>
        </p:nvSpPr>
        <p:spPr>
          <a:xfrm>
            <a:off x="960120" y="4685053"/>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Asya Kıtasının Çeltik Tarımı Bölgeleri</a:t>
            </a:r>
          </a:p>
        </p:txBody>
      </p:sp>
      <p:sp>
        <p:nvSpPr>
          <p:cNvPr id="57" name="Rectangle 56"/>
          <p:cNvSpPr/>
          <p:nvPr/>
        </p:nvSpPr>
        <p:spPr>
          <a:xfrm>
            <a:off x="5943600" y="4685053"/>
            <a:ext cx="1097280" cy="401504"/>
          </a:xfrm>
          <a:prstGeom prst="rect">
            <a:avLst/>
          </a:prstGeom>
          <a:solidFill>
            <a:srgbClr val="F0F0F0"/>
          </a:solidFill>
          <a:ln w="6350">
            <a:solidFill>
              <a:srgbClr val="D9D9D9"/>
            </a:solidFill>
          </a:ln>
          <a:effectLst/>
        </p:spPr>
        <p:txBody>
          <a:bodyPr rtlCol="0" anchor="ctr"/>
          <a:lstStyle/>
          <a:p/>
        </p:txBody>
      </p:sp>
      <p:sp>
        <p:nvSpPr>
          <p:cNvPr id="58" name="Rectangle 57"/>
          <p:cNvSpPr/>
          <p:nvPr/>
        </p:nvSpPr>
        <p:spPr>
          <a:xfrm>
            <a:off x="7040880" y="4685053"/>
            <a:ext cx="1097280" cy="401504"/>
          </a:xfrm>
          <a:prstGeom prst="rect">
            <a:avLst/>
          </a:prstGeom>
          <a:solidFill>
            <a:srgbClr val="F0F0F0"/>
          </a:solidFill>
          <a:ln w="6350">
            <a:solidFill>
              <a:srgbClr val="D9D9D9"/>
            </a:solidFill>
          </a:ln>
          <a:effectLst/>
        </p:spPr>
        <p:txBody>
          <a:bodyPr rtlCol="0" anchor="ctr"/>
          <a:lstStyle/>
          <a:p/>
        </p:txBody>
      </p:sp>
      <p:sp>
        <p:nvSpPr>
          <p:cNvPr id="59" name="Rectangle 58"/>
          <p:cNvSpPr/>
          <p:nvPr/>
        </p:nvSpPr>
        <p:spPr>
          <a:xfrm>
            <a:off x="8138160" y="4685053"/>
            <a:ext cx="1097280" cy="401504"/>
          </a:xfrm>
          <a:prstGeom prst="rect">
            <a:avLst/>
          </a:prstGeom>
          <a:solidFill>
            <a:srgbClr val="F0F0F0"/>
          </a:solidFill>
          <a:ln w="6350">
            <a:solidFill>
              <a:srgbClr val="D9D9D9"/>
            </a:solidFill>
          </a:ln>
          <a:effectLst/>
        </p:spPr>
        <p:txBody>
          <a:bodyPr rtlCol="0" anchor="ctr"/>
          <a:lstStyle/>
          <a:p/>
        </p:txBody>
      </p:sp>
      <p:sp>
        <p:nvSpPr>
          <p:cNvPr id="60" name="Rectangle 59"/>
          <p:cNvSpPr/>
          <p:nvPr/>
        </p:nvSpPr>
        <p:spPr>
          <a:xfrm>
            <a:off x="9235440" y="4685053"/>
            <a:ext cx="2453335" cy="401504"/>
          </a:xfrm>
          <a:prstGeom prst="rect">
            <a:avLst/>
          </a:prstGeom>
          <a:solidFill>
            <a:srgbClr val="F0F0F0"/>
          </a:solidFill>
          <a:ln w="6350">
            <a:solidFill>
              <a:srgbClr val="D9D9D9"/>
            </a:solidFill>
          </a:ln>
          <a:effectLst/>
        </p:spPr>
        <p:txBody>
          <a:bodyPr rtlCol="0" anchor="ctr"/>
          <a:lstStyle/>
          <a:p/>
        </p:txBody>
      </p:sp>
      <p:sp>
        <p:nvSpPr>
          <p:cNvPr id="61" name="Rectangle 60"/>
          <p:cNvSpPr/>
          <p:nvPr/>
        </p:nvSpPr>
        <p:spPr>
          <a:xfrm>
            <a:off x="502920" y="5086557"/>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21</a:t>
            </a:r>
          </a:p>
        </p:txBody>
      </p:sp>
      <p:sp>
        <p:nvSpPr>
          <p:cNvPr id="62" name="Rectangle 61"/>
          <p:cNvSpPr/>
          <p:nvPr/>
        </p:nvSpPr>
        <p:spPr>
          <a:xfrm>
            <a:off x="960120" y="5086557"/>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Dünyadaki Kasırga Bölgeleri</a:t>
            </a:r>
          </a:p>
        </p:txBody>
      </p:sp>
      <p:sp>
        <p:nvSpPr>
          <p:cNvPr id="63" name="Rectangle 62"/>
          <p:cNvSpPr/>
          <p:nvPr/>
        </p:nvSpPr>
        <p:spPr>
          <a:xfrm>
            <a:off x="5943600" y="5086557"/>
            <a:ext cx="1097280" cy="401504"/>
          </a:xfrm>
          <a:prstGeom prst="rect">
            <a:avLst/>
          </a:prstGeom>
          <a:solidFill>
            <a:srgbClr val="FFFFFF"/>
          </a:solidFill>
          <a:ln w="6350">
            <a:solidFill>
              <a:srgbClr val="D9D9D9"/>
            </a:solidFill>
          </a:ln>
          <a:effectLst/>
        </p:spPr>
        <p:txBody>
          <a:bodyPr rtlCol="0" anchor="ctr"/>
          <a:lstStyle/>
          <a:p/>
        </p:txBody>
      </p:sp>
      <p:sp>
        <p:nvSpPr>
          <p:cNvPr id="64" name="Rectangle 63"/>
          <p:cNvSpPr/>
          <p:nvPr/>
        </p:nvSpPr>
        <p:spPr>
          <a:xfrm>
            <a:off x="7040880" y="5086557"/>
            <a:ext cx="1097280" cy="401504"/>
          </a:xfrm>
          <a:prstGeom prst="rect">
            <a:avLst/>
          </a:prstGeom>
          <a:solidFill>
            <a:srgbClr val="FFFFFF"/>
          </a:solidFill>
          <a:ln w="6350">
            <a:solidFill>
              <a:srgbClr val="D9D9D9"/>
            </a:solidFill>
          </a:ln>
          <a:effectLst/>
        </p:spPr>
        <p:txBody>
          <a:bodyPr rtlCol="0" anchor="ctr"/>
          <a:lstStyle/>
          <a:p/>
        </p:txBody>
      </p:sp>
      <p:sp>
        <p:nvSpPr>
          <p:cNvPr id="65" name="Rectangle 64"/>
          <p:cNvSpPr/>
          <p:nvPr/>
        </p:nvSpPr>
        <p:spPr>
          <a:xfrm>
            <a:off x="8138160" y="5086557"/>
            <a:ext cx="1097280" cy="401504"/>
          </a:xfrm>
          <a:prstGeom prst="rect">
            <a:avLst/>
          </a:prstGeom>
          <a:solidFill>
            <a:srgbClr val="FFFFFF"/>
          </a:solidFill>
          <a:ln w="6350">
            <a:solidFill>
              <a:srgbClr val="D9D9D9"/>
            </a:solidFill>
          </a:ln>
          <a:effectLst/>
        </p:spPr>
        <p:txBody>
          <a:bodyPr rtlCol="0" anchor="ctr"/>
          <a:lstStyle/>
          <a:p/>
        </p:txBody>
      </p:sp>
      <p:sp>
        <p:nvSpPr>
          <p:cNvPr id="66" name="Rectangle 65"/>
          <p:cNvSpPr/>
          <p:nvPr/>
        </p:nvSpPr>
        <p:spPr>
          <a:xfrm>
            <a:off x="9235440" y="5086557"/>
            <a:ext cx="2453335" cy="401504"/>
          </a:xfrm>
          <a:prstGeom prst="rect">
            <a:avLst/>
          </a:prstGeom>
          <a:solidFill>
            <a:srgbClr val="FFFFFF"/>
          </a:solidFill>
          <a:ln w="6350">
            <a:solidFill>
              <a:srgbClr val="D9D9D9"/>
            </a:solidFill>
          </a:ln>
          <a:effectLst/>
        </p:spPr>
        <p:txBody>
          <a:bodyPr rtlCol="0" anchor="ctr"/>
          <a:lstStyle/>
          <a:p/>
        </p:txBody>
      </p:sp>
      <p:sp>
        <p:nvSpPr>
          <p:cNvPr id="67" name="Rectangle 66"/>
          <p:cNvSpPr/>
          <p:nvPr/>
        </p:nvSpPr>
        <p:spPr>
          <a:xfrm>
            <a:off x="502920" y="5488062"/>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22</a:t>
            </a:r>
          </a:p>
        </p:txBody>
      </p:sp>
      <p:sp>
        <p:nvSpPr>
          <p:cNvPr id="68" name="Rectangle 67"/>
          <p:cNvSpPr/>
          <p:nvPr/>
        </p:nvSpPr>
        <p:spPr>
          <a:xfrm>
            <a:off x="960120" y="5488062"/>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Büyük Sahra Seyrek Nüfus Bölgesi</a:t>
            </a:r>
          </a:p>
        </p:txBody>
      </p:sp>
      <p:sp>
        <p:nvSpPr>
          <p:cNvPr id="69" name="Rectangle 68"/>
          <p:cNvSpPr/>
          <p:nvPr/>
        </p:nvSpPr>
        <p:spPr>
          <a:xfrm>
            <a:off x="5943600" y="5488062"/>
            <a:ext cx="1097280" cy="401504"/>
          </a:xfrm>
          <a:prstGeom prst="rect">
            <a:avLst/>
          </a:prstGeom>
          <a:solidFill>
            <a:srgbClr val="F0F0F0"/>
          </a:solidFill>
          <a:ln w="6350">
            <a:solidFill>
              <a:srgbClr val="D9D9D9"/>
            </a:solidFill>
          </a:ln>
          <a:effectLst/>
        </p:spPr>
        <p:txBody>
          <a:bodyPr rtlCol="0" anchor="ctr"/>
          <a:lstStyle/>
          <a:p/>
        </p:txBody>
      </p:sp>
      <p:sp>
        <p:nvSpPr>
          <p:cNvPr id="70" name="Rectangle 69"/>
          <p:cNvSpPr/>
          <p:nvPr/>
        </p:nvSpPr>
        <p:spPr>
          <a:xfrm>
            <a:off x="7040880" y="5488062"/>
            <a:ext cx="1097280" cy="401504"/>
          </a:xfrm>
          <a:prstGeom prst="rect">
            <a:avLst/>
          </a:prstGeom>
          <a:solidFill>
            <a:srgbClr val="F0F0F0"/>
          </a:solidFill>
          <a:ln w="6350">
            <a:solidFill>
              <a:srgbClr val="D9D9D9"/>
            </a:solidFill>
          </a:ln>
          <a:effectLst/>
        </p:spPr>
        <p:txBody>
          <a:bodyPr rtlCol="0" anchor="ctr"/>
          <a:lstStyle/>
          <a:p/>
        </p:txBody>
      </p:sp>
      <p:sp>
        <p:nvSpPr>
          <p:cNvPr id="71" name="Rectangle 70"/>
          <p:cNvSpPr/>
          <p:nvPr/>
        </p:nvSpPr>
        <p:spPr>
          <a:xfrm>
            <a:off x="8138160" y="5488062"/>
            <a:ext cx="1097280" cy="401504"/>
          </a:xfrm>
          <a:prstGeom prst="rect">
            <a:avLst/>
          </a:prstGeom>
          <a:solidFill>
            <a:srgbClr val="F0F0F0"/>
          </a:solidFill>
          <a:ln w="6350">
            <a:solidFill>
              <a:srgbClr val="D9D9D9"/>
            </a:solidFill>
          </a:ln>
          <a:effectLst/>
        </p:spPr>
        <p:txBody>
          <a:bodyPr rtlCol="0" anchor="ctr"/>
          <a:lstStyle/>
          <a:p/>
        </p:txBody>
      </p:sp>
      <p:sp>
        <p:nvSpPr>
          <p:cNvPr id="72" name="Rectangle 71"/>
          <p:cNvSpPr/>
          <p:nvPr/>
        </p:nvSpPr>
        <p:spPr>
          <a:xfrm>
            <a:off x="9235440" y="5488062"/>
            <a:ext cx="2453335" cy="401504"/>
          </a:xfrm>
          <a:prstGeom prst="rect">
            <a:avLst/>
          </a:prstGeom>
          <a:solidFill>
            <a:srgbClr val="F0F0F0"/>
          </a:solidFill>
          <a:ln w="6350">
            <a:solidFill>
              <a:srgbClr val="D9D9D9"/>
            </a:solidFill>
          </a:ln>
          <a:effectLst/>
        </p:spPr>
        <p:txBody>
          <a:bodyPr rtlCol="0" anchor="ctr"/>
          <a:lstStyle/>
          <a:p/>
        </p:txBody>
      </p:sp>
      <p:sp>
        <p:nvSpPr>
          <p:cNvPr id="73" name="Rectangle 72"/>
          <p:cNvSpPr/>
          <p:nvPr/>
        </p:nvSpPr>
        <p:spPr>
          <a:xfrm>
            <a:off x="502920" y="5889567"/>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23</a:t>
            </a:r>
          </a:p>
        </p:txBody>
      </p:sp>
      <p:sp>
        <p:nvSpPr>
          <p:cNvPr id="74" name="Rectangle 73"/>
          <p:cNvSpPr/>
          <p:nvPr/>
        </p:nvSpPr>
        <p:spPr>
          <a:xfrm>
            <a:off x="960120" y="5889567"/>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KEİ (Karadeniz Ekonomik İşbirliği) Bölgesi</a:t>
            </a:r>
          </a:p>
        </p:txBody>
      </p:sp>
      <p:sp>
        <p:nvSpPr>
          <p:cNvPr id="75" name="Rectangle 74"/>
          <p:cNvSpPr/>
          <p:nvPr/>
        </p:nvSpPr>
        <p:spPr>
          <a:xfrm>
            <a:off x="5943600" y="5889567"/>
            <a:ext cx="1097280" cy="401504"/>
          </a:xfrm>
          <a:prstGeom prst="rect">
            <a:avLst/>
          </a:prstGeom>
          <a:solidFill>
            <a:srgbClr val="FFFFFF"/>
          </a:solidFill>
          <a:ln w="6350">
            <a:solidFill>
              <a:srgbClr val="D9D9D9"/>
            </a:solidFill>
          </a:ln>
          <a:effectLst/>
        </p:spPr>
        <p:txBody>
          <a:bodyPr rtlCol="0" anchor="ctr"/>
          <a:lstStyle/>
          <a:p/>
        </p:txBody>
      </p:sp>
      <p:sp>
        <p:nvSpPr>
          <p:cNvPr id="76" name="Rectangle 75"/>
          <p:cNvSpPr/>
          <p:nvPr/>
        </p:nvSpPr>
        <p:spPr>
          <a:xfrm>
            <a:off x="7040880" y="5889567"/>
            <a:ext cx="1097280" cy="401504"/>
          </a:xfrm>
          <a:prstGeom prst="rect">
            <a:avLst/>
          </a:prstGeom>
          <a:solidFill>
            <a:srgbClr val="FFFFFF"/>
          </a:solidFill>
          <a:ln w="6350">
            <a:solidFill>
              <a:srgbClr val="D9D9D9"/>
            </a:solidFill>
          </a:ln>
          <a:effectLst/>
        </p:spPr>
        <p:txBody>
          <a:bodyPr rtlCol="0" anchor="ctr"/>
          <a:lstStyle/>
          <a:p/>
        </p:txBody>
      </p:sp>
      <p:sp>
        <p:nvSpPr>
          <p:cNvPr id="77" name="Rectangle 76"/>
          <p:cNvSpPr/>
          <p:nvPr/>
        </p:nvSpPr>
        <p:spPr>
          <a:xfrm>
            <a:off x="8138160" y="5889567"/>
            <a:ext cx="1097280" cy="401504"/>
          </a:xfrm>
          <a:prstGeom prst="rect">
            <a:avLst/>
          </a:prstGeom>
          <a:solidFill>
            <a:srgbClr val="FFFFFF"/>
          </a:solidFill>
          <a:ln w="6350">
            <a:solidFill>
              <a:srgbClr val="D9D9D9"/>
            </a:solidFill>
          </a:ln>
          <a:effectLst/>
        </p:spPr>
        <p:txBody>
          <a:bodyPr rtlCol="0" anchor="ctr"/>
          <a:lstStyle/>
          <a:p/>
        </p:txBody>
      </p:sp>
      <p:sp>
        <p:nvSpPr>
          <p:cNvPr id="78" name="Rectangle 77"/>
          <p:cNvSpPr/>
          <p:nvPr/>
        </p:nvSpPr>
        <p:spPr>
          <a:xfrm>
            <a:off x="9235440" y="5889567"/>
            <a:ext cx="2453335" cy="401504"/>
          </a:xfrm>
          <a:prstGeom prst="rect">
            <a:avLst/>
          </a:prstGeom>
          <a:solidFill>
            <a:srgbClr val="FFFFFF"/>
          </a:solidFill>
          <a:ln w="6350">
            <a:solidFill>
              <a:srgbClr val="D9D9D9"/>
            </a:solidFill>
          </a:ln>
          <a:effectLst/>
        </p:spPr>
        <p:txBody>
          <a:bodyPr rtlCol="0" anchor="ctr"/>
          <a:lstStyle/>
          <a:p/>
        </p:txBody>
      </p:sp>
      <p:sp>
        <p:nvSpPr>
          <p:cNvPr id="79" name="TextBox 7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80" name="Rounded Rectangle 7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222</a:t>
            </a:r>
          </a:p>
        </p:txBody>
      </p:sp>
      <p:sp>
        <p:nvSpPr>
          <p:cNvPr id="81" name="TextBox 8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70 / 187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Anlam Çözümleme Tablosu 13-23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ectangle 5"/>
          <p:cNvSpPr/>
          <p:nvPr/>
        </p:nvSpPr>
        <p:spPr>
          <a:xfrm>
            <a:off x="502920" y="1216152"/>
            <a:ext cx="457200"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No</a:t>
            </a:r>
          </a:p>
        </p:txBody>
      </p:sp>
      <p:sp>
        <p:nvSpPr>
          <p:cNvPr id="7" name="Rectangle 6"/>
          <p:cNvSpPr/>
          <p:nvPr/>
        </p:nvSpPr>
        <p:spPr>
          <a:xfrm>
            <a:off x="960120" y="1216152"/>
            <a:ext cx="4983480"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700" b="1" i="0">
                <a:solidFill>
                  <a:srgbClr val="FFFFFF"/>
                </a:solidFill>
                <a:latin typeface="Calibri"/>
              </a:rPr>
              <a:t>Bölge örnekleri</a:t>
            </a:r>
          </a:p>
        </p:txBody>
      </p:sp>
      <p:sp>
        <p:nvSpPr>
          <p:cNvPr id="8" name="Rectangle 7"/>
          <p:cNvSpPr/>
          <p:nvPr/>
        </p:nvSpPr>
        <p:spPr>
          <a:xfrm>
            <a:off x="5943600" y="1216152"/>
            <a:ext cx="2194560" cy="329184"/>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600" b="1" i="0">
                <a:solidFill>
                  <a:srgbClr val="FFFFFF"/>
                </a:solidFill>
                <a:latin typeface="Calibri"/>
              </a:rPr>
              <a:t>Şekilsel bölge</a:t>
            </a:r>
          </a:p>
        </p:txBody>
      </p:sp>
      <p:sp>
        <p:nvSpPr>
          <p:cNvPr id="9" name="Rectangle 8"/>
          <p:cNvSpPr/>
          <p:nvPr/>
        </p:nvSpPr>
        <p:spPr>
          <a:xfrm>
            <a:off x="5943600" y="1545336"/>
            <a:ext cx="1097280" cy="329184"/>
          </a:xfrm>
          <a:prstGeom prst="rect">
            <a:avLst/>
          </a:prstGeom>
          <a:solidFill>
            <a:srgbClr val="3E7D3A"/>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Doğal</a:t>
            </a:r>
          </a:p>
        </p:txBody>
      </p:sp>
      <p:sp>
        <p:nvSpPr>
          <p:cNvPr id="10" name="Rectangle 9"/>
          <p:cNvSpPr/>
          <p:nvPr/>
        </p:nvSpPr>
        <p:spPr>
          <a:xfrm>
            <a:off x="7040880" y="1545336"/>
            <a:ext cx="1097280" cy="329184"/>
          </a:xfrm>
          <a:prstGeom prst="rect">
            <a:avLst/>
          </a:prstGeom>
          <a:solidFill>
            <a:srgbClr val="B05A1E"/>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Beşerî</a:t>
            </a:r>
          </a:p>
        </p:txBody>
      </p:sp>
      <p:sp>
        <p:nvSpPr>
          <p:cNvPr id="11" name="Rectangle 10"/>
          <p:cNvSpPr/>
          <p:nvPr/>
        </p:nvSpPr>
        <p:spPr>
          <a:xfrm>
            <a:off x="8138160" y="1216152"/>
            <a:ext cx="1097280" cy="658368"/>
          </a:xfrm>
          <a:prstGeom prst="rect">
            <a:avLst/>
          </a:prstGeom>
          <a:solidFill>
            <a:srgbClr val="1F6EA8"/>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İşlevsel bölge</a:t>
            </a:r>
          </a:p>
        </p:txBody>
      </p:sp>
      <p:sp>
        <p:nvSpPr>
          <p:cNvPr id="12" name="Rectangle 11"/>
          <p:cNvSpPr/>
          <p:nvPr/>
        </p:nvSpPr>
        <p:spPr>
          <a:xfrm>
            <a:off x="9235440" y="1216152"/>
            <a:ext cx="2453335" cy="658368"/>
          </a:xfrm>
          <a:prstGeom prst="rect">
            <a:avLst/>
          </a:prstGeom>
          <a:solidFill>
            <a:srgbClr val="4F4F4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Gerekçe (kriter)</a:t>
            </a:r>
          </a:p>
        </p:txBody>
      </p:sp>
      <p:sp>
        <p:nvSpPr>
          <p:cNvPr id="13" name="Rectangle 12"/>
          <p:cNvSpPr/>
          <p:nvPr/>
        </p:nvSpPr>
        <p:spPr>
          <a:xfrm>
            <a:off x="502920" y="1874520"/>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13</a:t>
            </a:r>
          </a:p>
        </p:txBody>
      </p:sp>
      <p:sp>
        <p:nvSpPr>
          <p:cNvPr id="14" name="Rectangle 13"/>
          <p:cNvSpPr/>
          <p:nvPr/>
        </p:nvSpPr>
        <p:spPr>
          <a:xfrm>
            <a:off x="960120" y="1874520"/>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Devlet Su İşleri Hizmet Bölgesi</a:t>
            </a:r>
          </a:p>
        </p:txBody>
      </p:sp>
      <p:sp>
        <p:nvSpPr>
          <p:cNvPr id="15" name="Rectangle 14"/>
          <p:cNvSpPr/>
          <p:nvPr/>
        </p:nvSpPr>
        <p:spPr>
          <a:xfrm>
            <a:off x="5943600" y="1874520"/>
            <a:ext cx="1097280" cy="401504"/>
          </a:xfrm>
          <a:prstGeom prst="rect">
            <a:avLst/>
          </a:prstGeom>
          <a:solidFill>
            <a:srgbClr val="FFFFFF"/>
          </a:solidFill>
          <a:ln w="6350">
            <a:solidFill>
              <a:srgbClr val="D9D9D9"/>
            </a:solidFill>
          </a:ln>
          <a:effectLst/>
        </p:spPr>
        <p:txBody>
          <a:bodyPr rtlCol="0" anchor="ctr"/>
          <a:lstStyle/>
          <a:p/>
        </p:txBody>
      </p:sp>
      <p:sp>
        <p:nvSpPr>
          <p:cNvPr id="16" name="Rectangle 15"/>
          <p:cNvSpPr/>
          <p:nvPr/>
        </p:nvSpPr>
        <p:spPr>
          <a:xfrm>
            <a:off x="7040880" y="1874520"/>
            <a:ext cx="1097280" cy="401504"/>
          </a:xfrm>
          <a:prstGeom prst="rect">
            <a:avLst/>
          </a:prstGeom>
          <a:solidFill>
            <a:srgbClr val="FFFFFF"/>
          </a:solidFill>
          <a:ln w="6350">
            <a:solidFill>
              <a:srgbClr val="D9D9D9"/>
            </a:solidFill>
          </a:ln>
          <a:effectLst/>
        </p:spPr>
        <p:txBody>
          <a:bodyPr rtlCol="0" anchor="ctr"/>
          <a:lstStyle/>
          <a:p/>
        </p:txBody>
      </p:sp>
      <p:sp>
        <p:nvSpPr>
          <p:cNvPr id="17" name="Rectangle 16"/>
          <p:cNvSpPr/>
          <p:nvPr/>
        </p:nvSpPr>
        <p:spPr>
          <a:xfrm>
            <a:off x="8138160" y="1874520"/>
            <a:ext cx="1097280" cy="401504"/>
          </a:xfrm>
          <a:prstGeom prst="rect">
            <a:avLst/>
          </a:prstGeom>
          <a:solidFill>
            <a:srgbClr val="1F6EA8"/>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18" name="Rectangle 17"/>
          <p:cNvSpPr/>
          <p:nvPr/>
        </p:nvSpPr>
        <p:spPr>
          <a:xfrm>
            <a:off x="9235440" y="1874520"/>
            <a:ext cx="2453335"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1F6EA8"/>
                </a:solidFill>
                <a:latin typeface="Calibri"/>
              </a:rPr>
              <a:t>hizmet bölgesi · EBA</a:t>
            </a:r>
          </a:p>
        </p:txBody>
      </p:sp>
      <p:sp>
        <p:nvSpPr>
          <p:cNvPr id="19" name="Rectangle 18"/>
          <p:cNvSpPr/>
          <p:nvPr/>
        </p:nvSpPr>
        <p:spPr>
          <a:xfrm>
            <a:off x="502920" y="2276024"/>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14</a:t>
            </a:r>
          </a:p>
        </p:txBody>
      </p:sp>
      <p:sp>
        <p:nvSpPr>
          <p:cNvPr id="20" name="Rectangle 19"/>
          <p:cNvSpPr/>
          <p:nvPr/>
        </p:nvSpPr>
        <p:spPr>
          <a:xfrm>
            <a:off x="960120" y="2276024"/>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Ekvatoral İklim Bölgesi</a:t>
            </a:r>
          </a:p>
        </p:txBody>
      </p:sp>
      <p:sp>
        <p:nvSpPr>
          <p:cNvPr id="21" name="Rectangle 20"/>
          <p:cNvSpPr/>
          <p:nvPr/>
        </p:nvSpPr>
        <p:spPr>
          <a:xfrm>
            <a:off x="5943600" y="2276024"/>
            <a:ext cx="1097280" cy="401504"/>
          </a:xfrm>
          <a:prstGeom prst="rect">
            <a:avLst/>
          </a:prstGeom>
          <a:solidFill>
            <a:srgbClr val="3E7D3A"/>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22" name="Rectangle 21"/>
          <p:cNvSpPr/>
          <p:nvPr/>
        </p:nvSpPr>
        <p:spPr>
          <a:xfrm>
            <a:off x="7040880" y="2276024"/>
            <a:ext cx="1097280" cy="401504"/>
          </a:xfrm>
          <a:prstGeom prst="rect">
            <a:avLst/>
          </a:prstGeom>
          <a:solidFill>
            <a:srgbClr val="F0F0F0"/>
          </a:solidFill>
          <a:ln w="6350">
            <a:solidFill>
              <a:srgbClr val="D9D9D9"/>
            </a:solidFill>
          </a:ln>
          <a:effectLst/>
        </p:spPr>
        <p:txBody>
          <a:bodyPr rtlCol="0" anchor="ctr"/>
          <a:lstStyle/>
          <a:p/>
        </p:txBody>
      </p:sp>
      <p:sp>
        <p:nvSpPr>
          <p:cNvPr id="23" name="Rectangle 22"/>
          <p:cNvSpPr/>
          <p:nvPr/>
        </p:nvSpPr>
        <p:spPr>
          <a:xfrm>
            <a:off x="8138160" y="2276024"/>
            <a:ext cx="1097280" cy="401504"/>
          </a:xfrm>
          <a:prstGeom prst="rect">
            <a:avLst/>
          </a:prstGeom>
          <a:solidFill>
            <a:srgbClr val="F0F0F0"/>
          </a:solidFill>
          <a:ln w="6350">
            <a:solidFill>
              <a:srgbClr val="D9D9D9"/>
            </a:solidFill>
          </a:ln>
          <a:effectLst/>
        </p:spPr>
        <p:txBody>
          <a:bodyPr rtlCol="0" anchor="ctr"/>
          <a:lstStyle/>
          <a:p/>
        </p:txBody>
      </p:sp>
      <p:sp>
        <p:nvSpPr>
          <p:cNvPr id="24" name="Rectangle 23"/>
          <p:cNvSpPr/>
          <p:nvPr/>
        </p:nvSpPr>
        <p:spPr>
          <a:xfrm>
            <a:off x="9235440" y="2276024"/>
            <a:ext cx="2453335"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3E7D3A"/>
                </a:solidFill>
                <a:latin typeface="Calibri"/>
              </a:rPr>
              <a:t>iklim</a:t>
            </a:r>
          </a:p>
        </p:txBody>
      </p:sp>
      <p:sp>
        <p:nvSpPr>
          <p:cNvPr id="25" name="Rectangle 24"/>
          <p:cNvSpPr/>
          <p:nvPr/>
        </p:nvSpPr>
        <p:spPr>
          <a:xfrm>
            <a:off x="502920" y="2677529"/>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15</a:t>
            </a:r>
          </a:p>
        </p:txBody>
      </p:sp>
      <p:sp>
        <p:nvSpPr>
          <p:cNvPr id="26" name="Rectangle 25"/>
          <p:cNvSpPr/>
          <p:nvPr/>
        </p:nvSpPr>
        <p:spPr>
          <a:xfrm>
            <a:off x="960120" y="2677529"/>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Türkiye’nin Dağınık Kırsal Yerleşme Bölgeleri</a:t>
            </a:r>
          </a:p>
        </p:txBody>
      </p:sp>
      <p:sp>
        <p:nvSpPr>
          <p:cNvPr id="27" name="Rectangle 26"/>
          <p:cNvSpPr/>
          <p:nvPr/>
        </p:nvSpPr>
        <p:spPr>
          <a:xfrm>
            <a:off x="5943600" y="2677529"/>
            <a:ext cx="1097280" cy="401504"/>
          </a:xfrm>
          <a:prstGeom prst="rect">
            <a:avLst/>
          </a:prstGeom>
          <a:solidFill>
            <a:srgbClr val="FFFFFF"/>
          </a:solidFill>
          <a:ln w="6350">
            <a:solidFill>
              <a:srgbClr val="D9D9D9"/>
            </a:solidFill>
          </a:ln>
          <a:effectLst/>
        </p:spPr>
        <p:txBody>
          <a:bodyPr rtlCol="0" anchor="ctr"/>
          <a:lstStyle/>
          <a:p/>
        </p:txBody>
      </p:sp>
      <p:sp>
        <p:nvSpPr>
          <p:cNvPr id="28" name="Rectangle 27"/>
          <p:cNvSpPr/>
          <p:nvPr/>
        </p:nvSpPr>
        <p:spPr>
          <a:xfrm>
            <a:off x="7040880" y="2677529"/>
            <a:ext cx="1097280" cy="401504"/>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29" name="Rectangle 28"/>
          <p:cNvSpPr/>
          <p:nvPr/>
        </p:nvSpPr>
        <p:spPr>
          <a:xfrm>
            <a:off x="8138160" y="2677529"/>
            <a:ext cx="1097280" cy="401504"/>
          </a:xfrm>
          <a:prstGeom prst="rect">
            <a:avLst/>
          </a:prstGeom>
          <a:solidFill>
            <a:srgbClr val="FFFFFF"/>
          </a:solidFill>
          <a:ln w="6350">
            <a:solidFill>
              <a:srgbClr val="D9D9D9"/>
            </a:solidFill>
          </a:ln>
          <a:effectLst/>
        </p:spPr>
        <p:txBody>
          <a:bodyPr rtlCol="0" anchor="ctr"/>
          <a:lstStyle/>
          <a:p/>
        </p:txBody>
      </p:sp>
      <p:sp>
        <p:nvSpPr>
          <p:cNvPr id="30" name="Rectangle 29"/>
          <p:cNvSpPr/>
          <p:nvPr/>
        </p:nvSpPr>
        <p:spPr>
          <a:xfrm>
            <a:off x="9235440" y="2677529"/>
            <a:ext cx="2453335"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yerleşme · kitap örneği</a:t>
            </a:r>
          </a:p>
        </p:txBody>
      </p:sp>
      <p:sp>
        <p:nvSpPr>
          <p:cNvPr id="31" name="Rectangle 30"/>
          <p:cNvSpPr/>
          <p:nvPr/>
        </p:nvSpPr>
        <p:spPr>
          <a:xfrm>
            <a:off x="502920" y="3079034"/>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16</a:t>
            </a:r>
          </a:p>
        </p:txBody>
      </p:sp>
      <p:sp>
        <p:nvSpPr>
          <p:cNvPr id="32" name="Rectangle 31"/>
          <p:cNvSpPr/>
          <p:nvPr/>
        </p:nvSpPr>
        <p:spPr>
          <a:xfrm>
            <a:off x="960120" y="3079034"/>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Akdeniz İklim Bölgesi</a:t>
            </a:r>
          </a:p>
        </p:txBody>
      </p:sp>
      <p:sp>
        <p:nvSpPr>
          <p:cNvPr id="33" name="Rectangle 32"/>
          <p:cNvSpPr/>
          <p:nvPr/>
        </p:nvSpPr>
        <p:spPr>
          <a:xfrm>
            <a:off x="5943600" y="3079034"/>
            <a:ext cx="1097280" cy="401504"/>
          </a:xfrm>
          <a:prstGeom prst="rect">
            <a:avLst/>
          </a:prstGeom>
          <a:solidFill>
            <a:srgbClr val="3E7D3A"/>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34" name="Rectangle 33"/>
          <p:cNvSpPr/>
          <p:nvPr/>
        </p:nvSpPr>
        <p:spPr>
          <a:xfrm>
            <a:off x="7040880" y="3079034"/>
            <a:ext cx="1097280" cy="401504"/>
          </a:xfrm>
          <a:prstGeom prst="rect">
            <a:avLst/>
          </a:prstGeom>
          <a:solidFill>
            <a:srgbClr val="F0F0F0"/>
          </a:solidFill>
          <a:ln w="6350">
            <a:solidFill>
              <a:srgbClr val="D9D9D9"/>
            </a:solidFill>
          </a:ln>
          <a:effectLst/>
        </p:spPr>
        <p:txBody>
          <a:bodyPr rtlCol="0" anchor="ctr"/>
          <a:lstStyle/>
          <a:p/>
        </p:txBody>
      </p:sp>
      <p:sp>
        <p:nvSpPr>
          <p:cNvPr id="35" name="Rectangle 34"/>
          <p:cNvSpPr/>
          <p:nvPr/>
        </p:nvSpPr>
        <p:spPr>
          <a:xfrm>
            <a:off x="8138160" y="3079034"/>
            <a:ext cx="1097280" cy="401504"/>
          </a:xfrm>
          <a:prstGeom prst="rect">
            <a:avLst/>
          </a:prstGeom>
          <a:solidFill>
            <a:srgbClr val="F0F0F0"/>
          </a:solidFill>
          <a:ln w="6350">
            <a:solidFill>
              <a:srgbClr val="D9D9D9"/>
            </a:solidFill>
          </a:ln>
          <a:effectLst/>
        </p:spPr>
        <p:txBody>
          <a:bodyPr rtlCol="0" anchor="ctr"/>
          <a:lstStyle/>
          <a:p/>
        </p:txBody>
      </p:sp>
      <p:sp>
        <p:nvSpPr>
          <p:cNvPr id="36" name="Rectangle 35"/>
          <p:cNvSpPr/>
          <p:nvPr/>
        </p:nvSpPr>
        <p:spPr>
          <a:xfrm>
            <a:off x="9235440" y="3079034"/>
            <a:ext cx="2453335"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3E7D3A"/>
                </a:solidFill>
                <a:latin typeface="Calibri"/>
              </a:rPr>
              <a:t>iklim · kitap örneği</a:t>
            </a:r>
          </a:p>
        </p:txBody>
      </p:sp>
      <p:sp>
        <p:nvSpPr>
          <p:cNvPr id="37" name="Rectangle 36"/>
          <p:cNvSpPr/>
          <p:nvPr/>
        </p:nvSpPr>
        <p:spPr>
          <a:xfrm>
            <a:off x="502920" y="3480538"/>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17</a:t>
            </a:r>
          </a:p>
        </p:txBody>
      </p:sp>
      <p:sp>
        <p:nvSpPr>
          <p:cNvPr id="38" name="Rectangle 37"/>
          <p:cNvSpPr/>
          <p:nvPr/>
        </p:nvSpPr>
        <p:spPr>
          <a:xfrm>
            <a:off x="960120" y="3480538"/>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GAP (Güneydoğu Anadolu Projesi) Bölgesi</a:t>
            </a:r>
          </a:p>
        </p:txBody>
      </p:sp>
      <p:sp>
        <p:nvSpPr>
          <p:cNvPr id="39" name="Rectangle 38"/>
          <p:cNvSpPr/>
          <p:nvPr/>
        </p:nvSpPr>
        <p:spPr>
          <a:xfrm>
            <a:off x="5943600" y="3480538"/>
            <a:ext cx="1097280" cy="401504"/>
          </a:xfrm>
          <a:prstGeom prst="rect">
            <a:avLst/>
          </a:prstGeom>
          <a:solidFill>
            <a:srgbClr val="FFFFFF"/>
          </a:solidFill>
          <a:ln w="6350">
            <a:solidFill>
              <a:srgbClr val="D9D9D9"/>
            </a:solidFill>
          </a:ln>
          <a:effectLst/>
        </p:spPr>
        <p:txBody>
          <a:bodyPr rtlCol="0" anchor="ctr"/>
          <a:lstStyle/>
          <a:p/>
        </p:txBody>
      </p:sp>
      <p:sp>
        <p:nvSpPr>
          <p:cNvPr id="40" name="Rectangle 39"/>
          <p:cNvSpPr/>
          <p:nvPr/>
        </p:nvSpPr>
        <p:spPr>
          <a:xfrm>
            <a:off x="7040880" y="3480538"/>
            <a:ext cx="1097280" cy="401504"/>
          </a:xfrm>
          <a:prstGeom prst="rect">
            <a:avLst/>
          </a:prstGeom>
          <a:solidFill>
            <a:srgbClr val="FFFFFF"/>
          </a:solidFill>
          <a:ln w="6350">
            <a:solidFill>
              <a:srgbClr val="D9D9D9"/>
            </a:solidFill>
          </a:ln>
          <a:effectLst/>
        </p:spPr>
        <p:txBody>
          <a:bodyPr rtlCol="0" anchor="ctr"/>
          <a:lstStyle/>
          <a:p/>
        </p:txBody>
      </p:sp>
      <p:sp>
        <p:nvSpPr>
          <p:cNvPr id="41" name="Rectangle 40"/>
          <p:cNvSpPr/>
          <p:nvPr/>
        </p:nvSpPr>
        <p:spPr>
          <a:xfrm>
            <a:off x="8138160" y="3480538"/>
            <a:ext cx="1097280" cy="401504"/>
          </a:xfrm>
          <a:prstGeom prst="rect">
            <a:avLst/>
          </a:prstGeom>
          <a:solidFill>
            <a:srgbClr val="1F6EA8"/>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42" name="Rectangle 41"/>
          <p:cNvSpPr/>
          <p:nvPr/>
        </p:nvSpPr>
        <p:spPr>
          <a:xfrm>
            <a:off x="9235440" y="3480538"/>
            <a:ext cx="2453335"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1F6EA8"/>
                </a:solidFill>
                <a:latin typeface="Calibri"/>
              </a:rPr>
              <a:t>kalkınma projesi · EBA</a:t>
            </a:r>
          </a:p>
        </p:txBody>
      </p:sp>
      <p:sp>
        <p:nvSpPr>
          <p:cNvPr id="43" name="Rectangle 42"/>
          <p:cNvSpPr/>
          <p:nvPr/>
        </p:nvSpPr>
        <p:spPr>
          <a:xfrm>
            <a:off x="502920" y="3882043"/>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18</a:t>
            </a:r>
          </a:p>
        </p:txBody>
      </p:sp>
      <p:sp>
        <p:nvSpPr>
          <p:cNvPr id="44" name="Rectangle 43"/>
          <p:cNvSpPr/>
          <p:nvPr/>
        </p:nvSpPr>
        <p:spPr>
          <a:xfrm>
            <a:off x="960120" y="3882043"/>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Avrupa’daki Otomotiv Sanayi Bölgeleri</a:t>
            </a:r>
          </a:p>
        </p:txBody>
      </p:sp>
      <p:sp>
        <p:nvSpPr>
          <p:cNvPr id="45" name="Rectangle 44"/>
          <p:cNvSpPr/>
          <p:nvPr/>
        </p:nvSpPr>
        <p:spPr>
          <a:xfrm>
            <a:off x="5943600" y="3882043"/>
            <a:ext cx="1097280" cy="401504"/>
          </a:xfrm>
          <a:prstGeom prst="rect">
            <a:avLst/>
          </a:prstGeom>
          <a:solidFill>
            <a:srgbClr val="F0F0F0"/>
          </a:solidFill>
          <a:ln w="6350">
            <a:solidFill>
              <a:srgbClr val="D9D9D9"/>
            </a:solidFill>
          </a:ln>
          <a:effectLst/>
        </p:spPr>
        <p:txBody>
          <a:bodyPr rtlCol="0" anchor="ctr"/>
          <a:lstStyle/>
          <a:p/>
        </p:txBody>
      </p:sp>
      <p:sp>
        <p:nvSpPr>
          <p:cNvPr id="46" name="Rectangle 45"/>
          <p:cNvSpPr/>
          <p:nvPr/>
        </p:nvSpPr>
        <p:spPr>
          <a:xfrm>
            <a:off x="7040880" y="3882043"/>
            <a:ext cx="1097280" cy="401504"/>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47" name="Rectangle 46"/>
          <p:cNvSpPr/>
          <p:nvPr/>
        </p:nvSpPr>
        <p:spPr>
          <a:xfrm>
            <a:off x="8138160" y="3882043"/>
            <a:ext cx="1097280" cy="401504"/>
          </a:xfrm>
          <a:prstGeom prst="rect">
            <a:avLst/>
          </a:prstGeom>
          <a:solidFill>
            <a:srgbClr val="F0F0F0"/>
          </a:solidFill>
          <a:ln w="6350">
            <a:solidFill>
              <a:srgbClr val="D9D9D9"/>
            </a:solidFill>
          </a:ln>
          <a:effectLst/>
        </p:spPr>
        <p:txBody>
          <a:bodyPr rtlCol="0" anchor="ctr"/>
          <a:lstStyle/>
          <a:p/>
        </p:txBody>
      </p:sp>
      <p:sp>
        <p:nvSpPr>
          <p:cNvPr id="48" name="Rectangle 47"/>
          <p:cNvSpPr/>
          <p:nvPr/>
        </p:nvSpPr>
        <p:spPr>
          <a:xfrm>
            <a:off x="9235440" y="3882043"/>
            <a:ext cx="2453335"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sanayi</a:t>
            </a:r>
          </a:p>
        </p:txBody>
      </p:sp>
      <p:sp>
        <p:nvSpPr>
          <p:cNvPr id="49" name="Rectangle 48"/>
          <p:cNvSpPr/>
          <p:nvPr/>
        </p:nvSpPr>
        <p:spPr>
          <a:xfrm>
            <a:off x="502920" y="4283548"/>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19</a:t>
            </a:r>
          </a:p>
        </p:txBody>
      </p:sp>
      <p:sp>
        <p:nvSpPr>
          <p:cNvPr id="50" name="Rectangle 49"/>
          <p:cNvSpPr/>
          <p:nvPr/>
        </p:nvSpPr>
        <p:spPr>
          <a:xfrm>
            <a:off x="960120" y="4283548"/>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Bozkır Bitki Örtüsü Bölgesi</a:t>
            </a:r>
          </a:p>
        </p:txBody>
      </p:sp>
      <p:sp>
        <p:nvSpPr>
          <p:cNvPr id="51" name="Rectangle 50"/>
          <p:cNvSpPr/>
          <p:nvPr/>
        </p:nvSpPr>
        <p:spPr>
          <a:xfrm>
            <a:off x="5943600" y="4283548"/>
            <a:ext cx="1097280" cy="401504"/>
          </a:xfrm>
          <a:prstGeom prst="rect">
            <a:avLst/>
          </a:prstGeom>
          <a:solidFill>
            <a:srgbClr val="3E7D3A"/>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52" name="Rectangle 51"/>
          <p:cNvSpPr/>
          <p:nvPr/>
        </p:nvSpPr>
        <p:spPr>
          <a:xfrm>
            <a:off x="7040880" y="4283548"/>
            <a:ext cx="1097280" cy="401504"/>
          </a:xfrm>
          <a:prstGeom prst="rect">
            <a:avLst/>
          </a:prstGeom>
          <a:solidFill>
            <a:srgbClr val="FFFFFF"/>
          </a:solidFill>
          <a:ln w="6350">
            <a:solidFill>
              <a:srgbClr val="D9D9D9"/>
            </a:solidFill>
          </a:ln>
          <a:effectLst/>
        </p:spPr>
        <p:txBody>
          <a:bodyPr rtlCol="0" anchor="ctr"/>
          <a:lstStyle/>
          <a:p/>
        </p:txBody>
      </p:sp>
      <p:sp>
        <p:nvSpPr>
          <p:cNvPr id="53" name="Rectangle 52"/>
          <p:cNvSpPr/>
          <p:nvPr/>
        </p:nvSpPr>
        <p:spPr>
          <a:xfrm>
            <a:off x="8138160" y="4283548"/>
            <a:ext cx="1097280" cy="401504"/>
          </a:xfrm>
          <a:prstGeom prst="rect">
            <a:avLst/>
          </a:prstGeom>
          <a:solidFill>
            <a:srgbClr val="FFFFFF"/>
          </a:solidFill>
          <a:ln w="6350">
            <a:solidFill>
              <a:srgbClr val="D9D9D9"/>
            </a:solidFill>
          </a:ln>
          <a:effectLst/>
        </p:spPr>
        <p:txBody>
          <a:bodyPr rtlCol="0" anchor="ctr"/>
          <a:lstStyle/>
          <a:p/>
        </p:txBody>
      </p:sp>
      <p:sp>
        <p:nvSpPr>
          <p:cNvPr id="54" name="Rectangle 53"/>
          <p:cNvSpPr/>
          <p:nvPr/>
        </p:nvSpPr>
        <p:spPr>
          <a:xfrm>
            <a:off x="9235440" y="4283548"/>
            <a:ext cx="2453335"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3E7D3A"/>
                </a:solidFill>
                <a:latin typeface="Calibri"/>
              </a:rPr>
              <a:t>bitki · kitap örneği</a:t>
            </a:r>
          </a:p>
        </p:txBody>
      </p:sp>
      <p:sp>
        <p:nvSpPr>
          <p:cNvPr id="55" name="Rectangle 54"/>
          <p:cNvSpPr/>
          <p:nvPr/>
        </p:nvSpPr>
        <p:spPr>
          <a:xfrm>
            <a:off x="502920" y="4685053"/>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20</a:t>
            </a:r>
          </a:p>
        </p:txBody>
      </p:sp>
      <p:sp>
        <p:nvSpPr>
          <p:cNvPr id="56" name="Rectangle 55"/>
          <p:cNvSpPr/>
          <p:nvPr/>
        </p:nvSpPr>
        <p:spPr>
          <a:xfrm>
            <a:off x="960120" y="4685053"/>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Asya Kıtasının Çeltik Tarımı Bölgeleri</a:t>
            </a:r>
          </a:p>
        </p:txBody>
      </p:sp>
      <p:sp>
        <p:nvSpPr>
          <p:cNvPr id="57" name="Rectangle 56"/>
          <p:cNvSpPr/>
          <p:nvPr/>
        </p:nvSpPr>
        <p:spPr>
          <a:xfrm>
            <a:off x="5943600" y="4685053"/>
            <a:ext cx="1097280" cy="401504"/>
          </a:xfrm>
          <a:prstGeom prst="rect">
            <a:avLst/>
          </a:prstGeom>
          <a:solidFill>
            <a:srgbClr val="F0F0F0"/>
          </a:solidFill>
          <a:ln w="6350">
            <a:solidFill>
              <a:srgbClr val="D9D9D9"/>
            </a:solidFill>
          </a:ln>
          <a:effectLst/>
        </p:spPr>
        <p:txBody>
          <a:bodyPr rtlCol="0" anchor="ctr"/>
          <a:lstStyle/>
          <a:p/>
        </p:txBody>
      </p:sp>
      <p:sp>
        <p:nvSpPr>
          <p:cNvPr id="58" name="Rectangle 57"/>
          <p:cNvSpPr/>
          <p:nvPr/>
        </p:nvSpPr>
        <p:spPr>
          <a:xfrm>
            <a:off x="7040880" y="4685053"/>
            <a:ext cx="1097280" cy="401504"/>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59" name="Rectangle 58"/>
          <p:cNvSpPr/>
          <p:nvPr/>
        </p:nvSpPr>
        <p:spPr>
          <a:xfrm>
            <a:off x="8138160" y="4685053"/>
            <a:ext cx="1097280" cy="401504"/>
          </a:xfrm>
          <a:prstGeom prst="rect">
            <a:avLst/>
          </a:prstGeom>
          <a:solidFill>
            <a:srgbClr val="F0F0F0"/>
          </a:solidFill>
          <a:ln w="6350">
            <a:solidFill>
              <a:srgbClr val="D9D9D9"/>
            </a:solidFill>
          </a:ln>
          <a:effectLst/>
        </p:spPr>
        <p:txBody>
          <a:bodyPr rtlCol="0" anchor="ctr"/>
          <a:lstStyle/>
          <a:p/>
        </p:txBody>
      </p:sp>
      <p:sp>
        <p:nvSpPr>
          <p:cNvPr id="60" name="Rectangle 59"/>
          <p:cNvSpPr/>
          <p:nvPr/>
        </p:nvSpPr>
        <p:spPr>
          <a:xfrm>
            <a:off x="9235440" y="4685053"/>
            <a:ext cx="2453335"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tarım (üretim)</a:t>
            </a:r>
          </a:p>
        </p:txBody>
      </p:sp>
      <p:sp>
        <p:nvSpPr>
          <p:cNvPr id="61" name="Rectangle 60"/>
          <p:cNvSpPr/>
          <p:nvPr/>
        </p:nvSpPr>
        <p:spPr>
          <a:xfrm>
            <a:off x="502920" y="5086557"/>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21</a:t>
            </a:r>
          </a:p>
        </p:txBody>
      </p:sp>
      <p:sp>
        <p:nvSpPr>
          <p:cNvPr id="62" name="Rectangle 61"/>
          <p:cNvSpPr/>
          <p:nvPr/>
        </p:nvSpPr>
        <p:spPr>
          <a:xfrm>
            <a:off x="960120" y="5086557"/>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Dünyadaki Kasırga Bölgeleri</a:t>
            </a:r>
          </a:p>
        </p:txBody>
      </p:sp>
      <p:sp>
        <p:nvSpPr>
          <p:cNvPr id="63" name="Rectangle 62"/>
          <p:cNvSpPr/>
          <p:nvPr/>
        </p:nvSpPr>
        <p:spPr>
          <a:xfrm>
            <a:off x="5943600" y="5086557"/>
            <a:ext cx="1097280" cy="401504"/>
          </a:xfrm>
          <a:prstGeom prst="rect">
            <a:avLst/>
          </a:prstGeom>
          <a:solidFill>
            <a:srgbClr val="3E7D3A"/>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64" name="Rectangle 63"/>
          <p:cNvSpPr/>
          <p:nvPr/>
        </p:nvSpPr>
        <p:spPr>
          <a:xfrm>
            <a:off x="7040880" y="5086557"/>
            <a:ext cx="1097280" cy="401504"/>
          </a:xfrm>
          <a:prstGeom prst="rect">
            <a:avLst/>
          </a:prstGeom>
          <a:solidFill>
            <a:srgbClr val="FFFFFF"/>
          </a:solidFill>
          <a:ln w="6350">
            <a:solidFill>
              <a:srgbClr val="D9D9D9"/>
            </a:solidFill>
          </a:ln>
          <a:effectLst/>
        </p:spPr>
        <p:txBody>
          <a:bodyPr rtlCol="0" anchor="ctr"/>
          <a:lstStyle/>
          <a:p/>
        </p:txBody>
      </p:sp>
      <p:sp>
        <p:nvSpPr>
          <p:cNvPr id="65" name="Rectangle 64"/>
          <p:cNvSpPr/>
          <p:nvPr/>
        </p:nvSpPr>
        <p:spPr>
          <a:xfrm>
            <a:off x="8138160" y="5086557"/>
            <a:ext cx="1097280" cy="401504"/>
          </a:xfrm>
          <a:prstGeom prst="rect">
            <a:avLst/>
          </a:prstGeom>
          <a:solidFill>
            <a:srgbClr val="FFFFFF"/>
          </a:solidFill>
          <a:ln w="6350">
            <a:solidFill>
              <a:srgbClr val="D9D9D9"/>
            </a:solidFill>
          </a:ln>
          <a:effectLst/>
        </p:spPr>
        <p:txBody>
          <a:bodyPr rtlCol="0" anchor="ctr"/>
          <a:lstStyle/>
          <a:p/>
        </p:txBody>
      </p:sp>
      <p:sp>
        <p:nvSpPr>
          <p:cNvPr id="66" name="Rectangle 65"/>
          <p:cNvSpPr/>
          <p:nvPr/>
        </p:nvSpPr>
        <p:spPr>
          <a:xfrm>
            <a:off x="9235440" y="5086557"/>
            <a:ext cx="2453335"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3E7D3A"/>
                </a:solidFill>
                <a:latin typeface="Calibri"/>
              </a:rPr>
              <a:t>afet</a:t>
            </a:r>
          </a:p>
        </p:txBody>
      </p:sp>
      <p:sp>
        <p:nvSpPr>
          <p:cNvPr id="67" name="Rectangle 66"/>
          <p:cNvSpPr/>
          <p:nvPr/>
        </p:nvSpPr>
        <p:spPr>
          <a:xfrm>
            <a:off x="502920" y="5488062"/>
            <a:ext cx="45720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22</a:t>
            </a:r>
          </a:p>
        </p:txBody>
      </p:sp>
      <p:sp>
        <p:nvSpPr>
          <p:cNvPr id="68" name="Rectangle 67"/>
          <p:cNvSpPr/>
          <p:nvPr/>
        </p:nvSpPr>
        <p:spPr>
          <a:xfrm>
            <a:off x="960120" y="5488062"/>
            <a:ext cx="4983480"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Büyük Sahra Seyrek Nüfus Bölgesi</a:t>
            </a:r>
          </a:p>
        </p:txBody>
      </p:sp>
      <p:sp>
        <p:nvSpPr>
          <p:cNvPr id="69" name="Rectangle 68"/>
          <p:cNvSpPr/>
          <p:nvPr/>
        </p:nvSpPr>
        <p:spPr>
          <a:xfrm>
            <a:off x="5943600" y="5488062"/>
            <a:ext cx="1097280" cy="401504"/>
          </a:xfrm>
          <a:prstGeom prst="rect">
            <a:avLst/>
          </a:prstGeom>
          <a:solidFill>
            <a:srgbClr val="F0F0F0"/>
          </a:solidFill>
          <a:ln w="6350">
            <a:solidFill>
              <a:srgbClr val="D9D9D9"/>
            </a:solidFill>
          </a:ln>
          <a:effectLst/>
        </p:spPr>
        <p:txBody>
          <a:bodyPr rtlCol="0" anchor="ctr"/>
          <a:lstStyle/>
          <a:p/>
        </p:txBody>
      </p:sp>
      <p:sp>
        <p:nvSpPr>
          <p:cNvPr id="70" name="Rectangle 69"/>
          <p:cNvSpPr/>
          <p:nvPr/>
        </p:nvSpPr>
        <p:spPr>
          <a:xfrm>
            <a:off x="7040880" y="5488062"/>
            <a:ext cx="1097280" cy="401504"/>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71" name="Rectangle 70"/>
          <p:cNvSpPr/>
          <p:nvPr/>
        </p:nvSpPr>
        <p:spPr>
          <a:xfrm>
            <a:off x="8138160" y="5488062"/>
            <a:ext cx="1097280" cy="401504"/>
          </a:xfrm>
          <a:prstGeom prst="rect">
            <a:avLst/>
          </a:prstGeom>
          <a:solidFill>
            <a:srgbClr val="F0F0F0"/>
          </a:solidFill>
          <a:ln w="6350">
            <a:solidFill>
              <a:srgbClr val="D9D9D9"/>
            </a:solidFill>
          </a:ln>
          <a:effectLst/>
        </p:spPr>
        <p:txBody>
          <a:bodyPr rtlCol="0" anchor="ctr"/>
          <a:lstStyle/>
          <a:p/>
        </p:txBody>
      </p:sp>
      <p:sp>
        <p:nvSpPr>
          <p:cNvPr id="72" name="Rectangle 71"/>
          <p:cNvSpPr/>
          <p:nvPr/>
        </p:nvSpPr>
        <p:spPr>
          <a:xfrm>
            <a:off x="9235440" y="5488062"/>
            <a:ext cx="2453335" cy="401504"/>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nüfus</a:t>
            </a:r>
          </a:p>
        </p:txBody>
      </p:sp>
      <p:sp>
        <p:nvSpPr>
          <p:cNvPr id="73" name="Rectangle 72"/>
          <p:cNvSpPr/>
          <p:nvPr/>
        </p:nvSpPr>
        <p:spPr>
          <a:xfrm>
            <a:off x="502920" y="5889567"/>
            <a:ext cx="45720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500" b="0" i="0">
                <a:solidFill>
                  <a:srgbClr val="262626"/>
                </a:solidFill>
                <a:latin typeface="Calibri"/>
              </a:rPr>
              <a:t>23</a:t>
            </a:r>
          </a:p>
        </p:txBody>
      </p:sp>
      <p:sp>
        <p:nvSpPr>
          <p:cNvPr id="74" name="Rectangle 73"/>
          <p:cNvSpPr/>
          <p:nvPr/>
        </p:nvSpPr>
        <p:spPr>
          <a:xfrm>
            <a:off x="960120" y="5889567"/>
            <a:ext cx="4983480"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KEİ (Karadeniz Ekonomik İşbirliği) Bölgesi</a:t>
            </a:r>
          </a:p>
        </p:txBody>
      </p:sp>
      <p:sp>
        <p:nvSpPr>
          <p:cNvPr id="75" name="Rectangle 74"/>
          <p:cNvSpPr/>
          <p:nvPr/>
        </p:nvSpPr>
        <p:spPr>
          <a:xfrm>
            <a:off x="5943600" y="5889567"/>
            <a:ext cx="1097280" cy="401504"/>
          </a:xfrm>
          <a:prstGeom prst="rect">
            <a:avLst/>
          </a:prstGeom>
          <a:solidFill>
            <a:srgbClr val="FFFFFF"/>
          </a:solidFill>
          <a:ln w="6350">
            <a:solidFill>
              <a:srgbClr val="D9D9D9"/>
            </a:solidFill>
          </a:ln>
          <a:effectLst/>
        </p:spPr>
        <p:txBody>
          <a:bodyPr rtlCol="0" anchor="ctr"/>
          <a:lstStyle/>
          <a:p/>
        </p:txBody>
      </p:sp>
      <p:sp>
        <p:nvSpPr>
          <p:cNvPr id="76" name="Rectangle 75"/>
          <p:cNvSpPr/>
          <p:nvPr/>
        </p:nvSpPr>
        <p:spPr>
          <a:xfrm>
            <a:off x="7040880" y="5889567"/>
            <a:ext cx="1097280" cy="401504"/>
          </a:xfrm>
          <a:prstGeom prst="rect">
            <a:avLst/>
          </a:prstGeom>
          <a:solidFill>
            <a:srgbClr val="B05A1E"/>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FFFFFF"/>
                </a:solidFill>
                <a:latin typeface="Calibri"/>
              </a:rPr>
              <a:t>✓</a:t>
            </a:r>
          </a:p>
        </p:txBody>
      </p:sp>
      <p:sp>
        <p:nvSpPr>
          <p:cNvPr id="77" name="Rectangle 76"/>
          <p:cNvSpPr/>
          <p:nvPr/>
        </p:nvSpPr>
        <p:spPr>
          <a:xfrm>
            <a:off x="8138160" y="5889567"/>
            <a:ext cx="1097280" cy="401504"/>
          </a:xfrm>
          <a:prstGeom prst="rect">
            <a:avLst/>
          </a:prstGeom>
          <a:solidFill>
            <a:srgbClr val="D6E6F3"/>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1400" b="1" i="0">
                <a:solidFill>
                  <a:srgbClr val="1F6EA8"/>
                </a:solidFill>
                <a:latin typeface="Calibri"/>
              </a:rPr>
              <a:t>(✓) EBA</a:t>
            </a:r>
          </a:p>
        </p:txBody>
      </p:sp>
      <p:sp>
        <p:nvSpPr>
          <p:cNvPr id="78" name="Rectangle 77"/>
          <p:cNvSpPr/>
          <p:nvPr/>
        </p:nvSpPr>
        <p:spPr>
          <a:xfrm>
            <a:off x="9235440" y="5889567"/>
            <a:ext cx="2453335" cy="401504"/>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500" b="1" i="0">
                <a:solidFill>
                  <a:srgbClr val="B05A1E"/>
                </a:solidFill>
                <a:latin typeface="Calibri"/>
              </a:rPr>
              <a:t>ekonomik iş birliği</a:t>
            </a:r>
          </a:p>
        </p:txBody>
      </p:sp>
      <p:sp>
        <p:nvSpPr>
          <p:cNvPr id="79" name="TextBox 7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80" name="Rounded Rectangle 7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222</a:t>
            </a:r>
          </a:p>
        </p:txBody>
      </p:sp>
      <p:sp>
        <p:nvSpPr>
          <p:cNvPr id="81" name="TextBox 8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71 / 187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Tartışmalı örnekler: gerekçeni söyle</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TARTIŞALIM</a:t>
            </a:r>
          </a:p>
        </p:txBody>
      </p:sp>
      <p:sp>
        <p:nvSpPr>
          <p:cNvPr id="6" name="Rounded Rectangle 5"/>
          <p:cNvSpPr/>
          <p:nvPr/>
        </p:nvSpPr>
        <p:spPr>
          <a:xfrm>
            <a:off x="502920" y="1243584"/>
            <a:ext cx="3576218" cy="38862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43584"/>
            <a:ext cx="3576218" cy="530352"/>
          </a:xfrm>
          <a:prstGeom prst="roundRect">
            <a:avLst>
              <a:gd name="adj" fmla="val 25000"/>
            </a:avLst>
          </a:prstGeom>
          <a:solidFill>
            <a:srgbClr val="1F6EA8"/>
          </a:solidFill>
          <a:ln>
            <a:noFill/>
          </a:ln>
          <a:effectLst/>
        </p:spPr>
        <p:txBody>
          <a:bodyPr rtlCol="0" anchor="ctr"/>
          <a:lstStyle/>
          <a:p/>
        </p:txBody>
      </p:sp>
      <p:sp>
        <p:nvSpPr>
          <p:cNvPr id="8" name="Rectangle 7"/>
          <p:cNvSpPr/>
          <p:nvPr/>
        </p:nvSpPr>
        <p:spPr>
          <a:xfrm>
            <a:off x="502920" y="1508760"/>
            <a:ext cx="3576218" cy="265176"/>
          </a:xfrm>
          <a:prstGeom prst="rect">
            <a:avLst/>
          </a:prstGeom>
          <a:solidFill>
            <a:srgbClr val="1F6EA8"/>
          </a:solidFill>
          <a:ln>
            <a:noFill/>
          </a:ln>
          <a:effectLst/>
        </p:spPr>
        <p:txBody>
          <a:bodyPr rtlCol="0" anchor="ctr"/>
          <a:lstStyle/>
          <a:p/>
        </p:txBody>
      </p:sp>
      <p:sp>
        <p:nvSpPr>
          <p:cNvPr id="9" name="TextBox 8"/>
          <p:cNvSpPr txBox="1"/>
          <p:nvPr/>
        </p:nvSpPr>
        <p:spPr>
          <a:xfrm>
            <a:off x="594360" y="1243584"/>
            <a:ext cx="3393338"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GAP · DOKAP</a:t>
            </a:r>
          </a:p>
        </p:txBody>
      </p:sp>
      <p:sp>
        <p:nvSpPr>
          <p:cNvPr id="10" name="TextBox 9"/>
          <p:cNvSpPr txBox="1"/>
          <p:nvPr/>
        </p:nvSpPr>
        <p:spPr>
          <a:xfrm>
            <a:off x="612648" y="1847088"/>
            <a:ext cx="3356762" cy="320954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1F6EA8"/>
                </a:solidFill>
                <a:latin typeface="Calibri"/>
              </a:rPr>
              <a:t>•  </a:t>
            </a:r>
            <a:r>
              <a:rPr lang="tr-TR" sz="2400" b="0" i="0">
                <a:solidFill>
                  <a:srgbClr val="262626"/>
                </a:solidFill>
                <a:latin typeface="Calibri"/>
              </a:rPr>
              <a:t>Kalkınma projesi bölgesi</a:t>
            </a:r>
          </a:p>
          <a:p>
            <a:pPr algn="l" marL="298344" indent="-298344">
              <a:spcBef>
                <a:spcPts val="0"/>
              </a:spcBef>
              <a:spcAft>
                <a:spcPts val="600"/>
              </a:spcAft>
            </a:pPr>
            <a:r>
              <a:rPr lang="tr-TR" sz="2400" b="1" i="0">
                <a:solidFill>
                  <a:srgbClr val="1F6EA8"/>
                </a:solidFill>
                <a:latin typeface="Calibri"/>
              </a:rPr>
              <a:t>•  </a:t>
            </a:r>
            <a:r>
              <a:rPr lang="tr-TR" sz="2400" b="0" i="0">
                <a:solidFill>
                  <a:srgbClr val="262626"/>
                </a:solidFill>
                <a:latin typeface="Calibri"/>
              </a:rPr>
              <a:t>Proje merkezi ↔ bölgedeki iller</a:t>
            </a:r>
          </a:p>
          <a:p>
            <a:pPr algn="l" marL="298344" indent="-298344">
              <a:spcBef>
                <a:spcPts val="0"/>
              </a:spcBef>
              <a:spcAft>
                <a:spcPts val="0"/>
              </a:spcAft>
            </a:pPr>
            <a:r>
              <a:rPr lang="tr-TR" sz="2400" b="1" i="0">
                <a:solidFill>
                  <a:srgbClr val="1F6EA8"/>
                </a:solidFill>
                <a:latin typeface="Calibri"/>
              </a:rPr>
              <a:t>•  </a:t>
            </a:r>
            <a:r>
              <a:rPr lang="tr-TR" sz="2400" b="0" i="0">
                <a:solidFill>
                  <a:srgbClr val="262626"/>
                </a:solidFill>
                <a:latin typeface="Calibri"/>
              </a:rPr>
              <a:t>→ </a:t>
            </a:r>
            <a:r>
              <a:rPr lang="tr-TR" sz="2400" b="1" i="0">
                <a:solidFill>
                  <a:srgbClr val="262626"/>
                </a:solidFill>
                <a:latin typeface="Calibri"/>
              </a:rPr>
              <a:t>İşlevsel</a:t>
            </a:r>
          </a:p>
        </p:txBody>
      </p:sp>
      <p:sp>
        <p:nvSpPr>
          <p:cNvPr id="11" name="Rounded Rectangle 10"/>
          <p:cNvSpPr/>
          <p:nvPr/>
        </p:nvSpPr>
        <p:spPr>
          <a:xfrm>
            <a:off x="4307738" y="1243584"/>
            <a:ext cx="3576218" cy="38862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307738" y="1243584"/>
            <a:ext cx="3576218" cy="530352"/>
          </a:xfrm>
          <a:prstGeom prst="roundRect">
            <a:avLst>
              <a:gd name="adj" fmla="val 25000"/>
            </a:avLst>
          </a:prstGeom>
          <a:solidFill>
            <a:srgbClr val="1F6EA8"/>
          </a:solidFill>
          <a:ln>
            <a:noFill/>
          </a:ln>
          <a:effectLst/>
        </p:spPr>
        <p:txBody>
          <a:bodyPr rtlCol="0" anchor="ctr"/>
          <a:lstStyle/>
          <a:p/>
        </p:txBody>
      </p:sp>
      <p:sp>
        <p:nvSpPr>
          <p:cNvPr id="13" name="Rectangle 12"/>
          <p:cNvSpPr/>
          <p:nvPr/>
        </p:nvSpPr>
        <p:spPr>
          <a:xfrm>
            <a:off x="4307738" y="1508760"/>
            <a:ext cx="3576218" cy="265176"/>
          </a:xfrm>
          <a:prstGeom prst="rect">
            <a:avLst/>
          </a:prstGeom>
          <a:solidFill>
            <a:srgbClr val="1F6EA8"/>
          </a:solidFill>
          <a:ln>
            <a:noFill/>
          </a:ln>
          <a:effectLst/>
        </p:spPr>
        <p:txBody>
          <a:bodyPr rtlCol="0" anchor="ctr"/>
          <a:lstStyle/>
          <a:p/>
        </p:txBody>
      </p:sp>
      <p:sp>
        <p:nvSpPr>
          <p:cNvPr id="14" name="TextBox 13"/>
          <p:cNvSpPr txBox="1"/>
          <p:nvPr/>
        </p:nvSpPr>
        <p:spPr>
          <a:xfrm>
            <a:off x="4399178" y="1243584"/>
            <a:ext cx="3393338"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DSİ · TÜİK</a:t>
            </a:r>
          </a:p>
        </p:txBody>
      </p:sp>
      <p:sp>
        <p:nvSpPr>
          <p:cNvPr id="15" name="TextBox 14"/>
          <p:cNvSpPr txBox="1"/>
          <p:nvPr/>
        </p:nvSpPr>
        <p:spPr>
          <a:xfrm>
            <a:off x="4417466" y="1847088"/>
            <a:ext cx="3356762" cy="320954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1F6EA8"/>
                </a:solidFill>
                <a:latin typeface="Calibri"/>
              </a:rPr>
              <a:t>•  </a:t>
            </a:r>
            <a:r>
              <a:rPr lang="tr-TR" sz="2400" b="0" i="0">
                <a:solidFill>
                  <a:srgbClr val="262626"/>
                </a:solidFill>
                <a:latin typeface="Calibri"/>
              </a:rPr>
              <a:t>Hizmet ve istatistik bölgesi</a:t>
            </a:r>
          </a:p>
          <a:p>
            <a:pPr algn="l" marL="298344" indent="-298344">
              <a:spcBef>
                <a:spcPts val="0"/>
              </a:spcBef>
              <a:spcAft>
                <a:spcPts val="600"/>
              </a:spcAft>
            </a:pPr>
            <a:r>
              <a:rPr lang="tr-TR" sz="2400" b="1" i="0">
                <a:solidFill>
                  <a:srgbClr val="1F6EA8"/>
                </a:solidFill>
                <a:latin typeface="Calibri"/>
              </a:rPr>
              <a:t>•  </a:t>
            </a:r>
            <a:r>
              <a:rPr lang="tr-TR" sz="2400" b="0" i="0">
                <a:solidFill>
                  <a:srgbClr val="262626"/>
                </a:solidFill>
                <a:latin typeface="Calibri"/>
              </a:rPr>
              <a:t>Kurumun belirlediği bölge, merkezle bağlantılı</a:t>
            </a:r>
          </a:p>
          <a:p>
            <a:pPr algn="l" marL="298344" indent="-298344">
              <a:spcBef>
                <a:spcPts val="0"/>
              </a:spcBef>
              <a:spcAft>
                <a:spcPts val="0"/>
              </a:spcAft>
            </a:pPr>
            <a:r>
              <a:rPr lang="tr-TR" sz="2400" b="1" i="0">
                <a:solidFill>
                  <a:srgbClr val="1F6EA8"/>
                </a:solidFill>
                <a:latin typeface="Calibri"/>
              </a:rPr>
              <a:t>•  </a:t>
            </a:r>
            <a:r>
              <a:rPr lang="tr-TR" sz="2400" b="0" i="0">
                <a:solidFill>
                  <a:srgbClr val="262626"/>
                </a:solidFill>
                <a:latin typeface="Calibri"/>
              </a:rPr>
              <a:t>→ </a:t>
            </a:r>
            <a:r>
              <a:rPr lang="tr-TR" sz="2400" b="1" i="0">
                <a:solidFill>
                  <a:srgbClr val="262626"/>
                </a:solidFill>
                <a:latin typeface="Calibri"/>
              </a:rPr>
              <a:t>İşlevsel</a:t>
            </a:r>
          </a:p>
        </p:txBody>
      </p:sp>
      <p:sp>
        <p:nvSpPr>
          <p:cNvPr id="16" name="Rounded Rectangle 15"/>
          <p:cNvSpPr/>
          <p:nvPr/>
        </p:nvSpPr>
        <p:spPr>
          <a:xfrm>
            <a:off x="8112556" y="1243584"/>
            <a:ext cx="3576218" cy="388620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112556" y="1243584"/>
            <a:ext cx="3576218" cy="530352"/>
          </a:xfrm>
          <a:prstGeom prst="roundRect">
            <a:avLst>
              <a:gd name="adj" fmla="val 25000"/>
            </a:avLst>
          </a:prstGeom>
          <a:solidFill>
            <a:srgbClr val="B05A1E"/>
          </a:solidFill>
          <a:ln>
            <a:noFill/>
          </a:ln>
          <a:effectLst/>
        </p:spPr>
        <p:txBody>
          <a:bodyPr rtlCol="0" anchor="ctr"/>
          <a:lstStyle/>
          <a:p/>
        </p:txBody>
      </p:sp>
      <p:sp>
        <p:nvSpPr>
          <p:cNvPr id="18" name="Rectangle 17"/>
          <p:cNvSpPr/>
          <p:nvPr/>
        </p:nvSpPr>
        <p:spPr>
          <a:xfrm>
            <a:off x="8112556" y="1508760"/>
            <a:ext cx="3576218" cy="265176"/>
          </a:xfrm>
          <a:prstGeom prst="rect">
            <a:avLst/>
          </a:prstGeom>
          <a:solidFill>
            <a:srgbClr val="B05A1E"/>
          </a:solidFill>
          <a:ln>
            <a:noFill/>
          </a:ln>
          <a:effectLst/>
        </p:spPr>
        <p:txBody>
          <a:bodyPr rtlCol="0" anchor="ctr"/>
          <a:lstStyle/>
          <a:p/>
        </p:txBody>
      </p:sp>
      <p:sp>
        <p:nvSpPr>
          <p:cNvPr id="19" name="TextBox 18"/>
          <p:cNvSpPr txBox="1"/>
          <p:nvPr/>
        </p:nvSpPr>
        <p:spPr>
          <a:xfrm>
            <a:off x="8203996" y="1243584"/>
            <a:ext cx="3393338"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NATO · KEİ</a:t>
            </a:r>
          </a:p>
        </p:txBody>
      </p:sp>
      <p:sp>
        <p:nvSpPr>
          <p:cNvPr id="20" name="TextBox 19"/>
          <p:cNvSpPr txBox="1"/>
          <p:nvPr/>
        </p:nvSpPr>
        <p:spPr>
          <a:xfrm>
            <a:off x="8222284" y="1847088"/>
            <a:ext cx="3356762" cy="320954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B05A1E"/>
                </a:solidFill>
                <a:latin typeface="Calibri"/>
              </a:rPr>
              <a:t>•  </a:t>
            </a:r>
            <a:r>
              <a:rPr lang="tr-TR" sz="2400" b="0" i="0">
                <a:solidFill>
                  <a:srgbClr val="262626"/>
                </a:solidFill>
                <a:latin typeface="Calibri"/>
              </a:rPr>
              <a:t>İş birliği örgütü</a:t>
            </a:r>
          </a:p>
          <a:p>
            <a:pPr algn="l" marL="298344" indent="-298344">
              <a:spcBef>
                <a:spcPts val="0"/>
              </a:spcBef>
              <a:spcAft>
                <a:spcPts val="600"/>
              </a:spcAft>
            </a:pPr>
            <a:r>
              <a:rPr lang="tr-TR" sz="2400" b="1" i="0">
                <a:solidFill>
                  <a:srgbClr val="B05A1E"/>
                </a:solidFill>
                <a:latin typeface="Calibri"/>
              </a:rPr>
              <a:t>•  </a:t>
            </a:r>
            <a:r>
              <a:rPr lang="tr-TR" sz="2400" b="0" i="0">
                <a:solidFill>
                  <a:srgbClr val="262626"/>
                </a:solidFill>
                <a:latin typeface="Calibri"/>
              </a:rPr>
              <a:t>Kitap: siyasi, askerî, ekonomik iş birliği → </a:t>
            </a:r>
            <a:r>
              <a:rPr lang="tr-TR" sz="2400" b="1" i="0">
                <a:solidFill>
                  <a:srgbClr val="262626"/>
                </a:solidFill>
                <a:latin typeface="Calibri"/>
              </a:rPr>
              <a:t>beşerî şekilsel</a:t>
            </a:r>
          </a:p>
          <a:p>
            <a:pPr algn="l" marL="298344" indent="-298344">
              <a:spcBef>
                <a:spcPts val="0"/>
              </a:spcBef>
              <a:spcAft>
                <a:spcPts val="0"/>
              </a:spcAft>
            </a:pPr>
            <a:r>
              <a:rPr lang="tr-TR" sz="2400" b="1" i="0">
                <a:solidFill>
                  <a:srgbClr val="B05A1E"/>
                </a:solidFill>
                <a:latin typeface="Calibri"/>
              </a:rPr>
              <a:t>•  </a:t>
            </a:r>
            <a:r>
              <a:rPr lang="tr-TR" sz="2400" b="0" i="0">
                <a:solidFill>
                  <a:srgbClr val="262626"/>
                </a:solidFill>
                <a:latin typeface="Calibri"/>
              </a:rPr>
              <a:t>EBA: KEİ işlevsel örnek → iki gerekçe de kabul</a:t>
            </a:r>
          </a:p>
        </p:txBody>
      </p:sp>
      <p:sp>
        <p:nvSpPr>
          <p:cNvPr id="21" name="Rounded Rectangle 20"/>
          <p:cNvSpPr/>
          <p:nvPr/>
        </p:nvSpPr>
        <p:spPr>
          <a:xfrm>
            <a:off x="502920" y="5239512"/>
            <a:ext cx="11185855" cy="1024128"/>
          </a:xfrm>
          <a:prstGeom prst="roundRect">
            <a:avLst>
              <a:gd name="adj" fmla="val 8000"/>
            </a:avLst>
          </a:prstGeom>
          <a:solidFill>
            <a:srgbClr val="F0F0F0"/>
          </a:solidFill>
          <a:ln>
            <a:noFill/>
          </a:ln>
          <a:effectLst/>
        </p:spPr>
        <p:txBody>
          <a:bodyPr rtlCol="0" anchor="ctr"/>
          <a:lstStyle/>
          <a:p/>
        </p:txBody>
      </p:sp>
      <p:sp>
        <p:nvSpPr>
          <p:cNvPr id="22" name="Rectangle 21"/>
          <p:cNvSpPr/>
          <p:nvPr/>
        </p:nvSpPr>
        <p:spPr>
          <a:xfrm>
            <a:off x="502920" y="5239512"/>
            <a:ext cx="118872" cy="1024128"/>
          </a:xfrm>
          <a:prstGeom prst="rect">
            <a:avLst/>
          </a:prstGeom>
          <a:solidFill>
            <a:srgbClr val="B05A1E"/>
          </a:solidFill>
          <a:ln>
            <a:noFill/>
          </a:ln>
          <a:effectLst/>
        </p:spPr>
        <p:txBody>
          <a:bodyPr rtlCol="0" anchor="ctr"/>
          <a:lstStyle/>
          <a:p/>
        </p:txBody>
      </p:sp>
      <p:sp>
        <p:nvSpPr>
          <p:cNvPr id="23" name="TextBox 22"/>
          <p:cNvSpPr txBox="1"/>
          <p:nvPr/>
        </p:nvSpPr>
        <p:spPr>
          <a:xfrm>
            <a:off x="777240" y="5239512"/>
            <a:ext cx="10774375" cy="1024128"/>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Kitap: Ham madde, üretim, sanayi, nüfus, yerleşme ve kültür ile siyasi, askerî, ekonomik iş birliği gibi beşerî ve ekonomik unsurların esas alındığı bölgelere de beşerî şekilsel bölge denir.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72 / 187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5</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 bölge örneklerinden hangisi işlevsel bölgedir?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Savan Bitki Örtüsü Bölgesi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Türk Kültür Bölgesi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İstanbul Büyükşehir Belediyesi Yetki Alanı Bölgesi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Akdeniz İklim Bölgesi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Tundra Toprakları Bölgesi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222</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73 / 187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5</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 bölge örneklerinden hangisi işlevsel bölgedir?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Savan Bitki Örtüsü Bölgesi</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Türk Kültür Bölgesi</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İstanbul Büyükşehir Belediyesi Yetki Alanı Bölgesi</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Akdeniz İklim Bölgesi</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Tundra Toprakları Bölgesi</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Kitap: bir metropoliten alan, belirli bir şehirsel yönetimin yetkisi altındaki tüm araziyi içeren işlevsel bir bölgedir. Diğerleri kritere göre türdeş şekilsel bölgelerdir.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74 / 187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Sınır: çizgi mi, kuşak mı?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DÜŞÜN</a:t>
            </a:r>
          </a:p>
        </p:txBody>
      </p:sp>
      <p:sp>
        <p:nvSpPr>
          <p:cNvPr id="6" name="Rounded Rectangle 5"/>
          <p:cNvSpPr/>
          <p:nvPr/>
        </p:nvSpPr>
        <p:spPr>
          <a:xfrm>
            <a:off x="502920" y="1216152"/>
            <a:ext cx="11185855" cy="73152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100" b="0" i="0">
                <a:solidFill>
                  <a:srgbClr val="262626"/>
                </a:solidFill>
                <a:latin typeface="Calibri"/>
              </a:rPr>
              <a:t>Bir bölgeden diğerine geçerken coğrafi koşullar </a:t>
            </a:r>
            <a:r>
              <a:rPr lang="tr-TR" sz="2100" b="1" i="0">
                <a:solidFill>
                  <a:srgbClr val="262626"/>
                </a:solidFill>
                <a:latin typeface="Calibri"/>
              </a:rPr>
              <a:t>aniden mi</a:t>
            </a:r>
            <a:r>
              <a:rPr lang="tr-TR" sz="2100" b="0" i="0">
                <a:solidFill>
                  <a:srgbClr val="262626"/>
                </a:solidFill>
                <a:latin typeface="Calibri"/>
              </a:rPr>
              <a:t> değişir? İki haritada sınırları karşılaştır.</a:t>
            </a:r>
          </a:p>
        </p:txBody>
      </p:sp>
      <p:sp>
        <p:nvSpPr>
          <p:cNvPr id="7" name="TextBox 6"/>
          <p:cNvSpPr txBox="1"/>
          <p:nvPr/>
        </p:nvSpPr>
        <p:spPr>
          <a:xfrm>
            <a:off x="502920" y="2039112"/>
            <a:ext cx="5478627" cy="384048"/>
          </a:xfrm>
          <a:prstGeom prst="rect">
            <a:avLst/>
          </a:prstGeom>
          <a:noFill/>
        </p:spPr>
        <p:txBody>
          <a:bodyPr wrap="square" anchor="ctr" lIns="73152" rIns="73152" tIns="36576" bIns="36576">
            <a:noAutofit/>
          </a:bodyPr>
          <a:lstStyle/>
          <a:p>
            <a:pPr algn="ctr">
              <a:spcBef>
                <a:spcPts val="0"/>
              </a:spcBef>
              <a:spcAft>
                <a:spcPts val="0"/>
              </a:spcAft>
            </a:pPr>
            <a:r>
              <a:rPr lang="tr-TR" sz="1600" b="1" i="0">
                <a:solidFill>
                  <a:srgbClr val="262626"/>
                </a:solidFill>
                <a:latin typeface="Calibri"/>
              </a:rPr>
              <a:t>Türkiye’de Bitki Topluluklarının Dağılışı Haritası</a:t>
            </a:r>
          </a:p>
        </p:txBody>
      </p:sp>
      <p:pic>
        <p:nvPicPr>
          <p:cNvPr id="8" name="Picture 7" descr="h35_s220_bitki.jpg"/>
          <p:cNvPicPr>
            <a:picLocks noChangeAspect="1"/>
          </p:cNvPicPr>
          <p:nvPr/>
        </p:nvPicPr>
        <p:blipFill>
          <a:blip r:embed="rId3"/>
          <a:stretch>
            <a:fillRect/>
          </a:stretch>
        </p:blipFill>
        <p:spPr>
          <a:xfrm>
            <a:off x="502920" y="2956021"/>
            <a:ext cx="5478627" cy="2829620"/>
          </a:xfrm>
          <a:prstGeom prst="rect">
            <a:avLst/>
          </a:prstGeom>
          <a:ln w="9525">
            <a:solidFill>
              <a:srgbClr val="D9D9D9"/>
            </a:solidFill>
          </a:ln>
        </p:spPr>
      </p:pic>
      <p:sp>
        <p:nvSpPr>
          <p:cNvPr id="9" name="TextBox 8"/>
          <p:cNvSpPr txBox="1"/>
          <p:nvPr/>
        </p:nvSpPr>
        <p:spPr>
          <a:xfrm>
            <a:off x="6210147" y="2039112"/>
            <a:ext cx="5478627" cy="384048"/>
          </a:xfrm>
          <a:prstGeom prst="rect">
            <a:avLst/>
          </a:prstGeom>
          <a:noFill/>
        </p:spPr>
        <p:txBody>
          <a:bodyPr wrap="square" anchor="ctr" lIns="73152" rIns="73152" tIns="36576" bIns="36576">
            <a:noAutofit/>
          </a:bodyPr>
          <a:lstStyle/>
          <a:p>
            <a:pPr algn="ctr">
              <a:spcBef>
                <a:spcPts val="0"/>
              </a:spcBef>
              <a:spcAft>
                <a:spcPts val="0"/>
              </a:spcAft>
            </a:pPr>
            <a:r>
              <a:rPr lang="tr-TR" sz="1550" b="1" i="0">
                <a:solidFill>
                  <a:srgbClr val="262626"/>
                </a:solidFill>
                <a:latin typeface="Calibri"/>
              </a:rPr>
              <a:t>Türkiye Karayolları Genel Müdürlüğü Hizmet Bölgeleri Haritası</a:t>
            </a:r>
          </a:p>
        </p:txBody>
      </p:sp>
      <p:pic>
        <p:nvPicPr>
          <p:cNvPr id="10" name="Picture 9" descr="h35_s221_kgm.jpg"/>
          <p:cNvPicPr>
            <a:picLocks noChangeAspect="1"/>
          </p:cNvPicPr>
          <p:nvPr/>
        </p:nvPicPr>
        <p:blipFill>
          <a:blip r:embed="rId4"/>
          <a:stretch>
            <a:fillRect/>
          </a:stretch>
        </p:blipFill>
        <p:spPr>
          <a:xfrm>
            <a:off x="6210147" y="2970250"/>
            <a:ext cx="5478627" cy="2801162"/>
          </a:xfrm>
          <a:prstGeom prst="rect">
            <a:avLst/>
          </a:prstGeom>
          <a:ln w="9525">
            <a:solidFill>
              <a:srgbClr val="D9D9D9"/>
            </a:solidFill>
          </a:ln>
        </p:spPr>
      </p:pic>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220-221</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75 / 187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Sınır: çizgi mi, kuşak mı?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88720"/>
            <a:ext cx="5478627" cy="384048"/>
          </a:xfrm>
          <a:prstGeom prst="rect">
            <a:avLst/>
          </a:prstGeom>
          <a:noFill/>
        </p:spPr>
        <p:txBody>
          <a:bodyPr wrap="square" anchor="ctr" lIns="73152" rIns="73152" tIns="36576" bIns="36576">
            <a:noAutofit/>
          </a:bodyPr>
          <a:lstStyle/>
          <a:p>
            <a:pPr algn="ctr">
              <a:spcBef>
                <a:spcPts val="0"/>
              </a:spcBef>
              <a:spcAft>
                <a:spcPts val="0"/>
              </a:spcAft>
            </a:pPr>
            <a:r>
              <a:rPr lang="tr-TR" sz="1600" b="1" i="0">
                <a:solidFill>
                  <a:srgbClr val="262626"/>
                </a:solidFill>
                <a:latin typeface="Calibri"/>
              </a:rPr>
              <a:t>Türkiye’de Bitki Topluluklarının Dağılışı Haritası</a:t>
            </a:r>
          </a:p>
        </p:txBody>
      </p:sp>
      <p:pic>
        <p:nvPicPr>
          <p:cNvPr id="7" name="Picture 6" descr="h35_s220_bitki.jpg"/>
          <p:cNvPicPr>
            <a:picLocks noChangeAspect="1"/>
          </p:cNvPicPr>
          <p:nvPr/>
        </p:nvPicPr>
        <p:blipFill>
          <a:blip r:embed="rId3"/>
          <a:stretch>
            <a:fillRect/>
          </a:stretch>
        </p:blipFill>
        <p:spPr>
          <a:xfrm>
            <a:off x="719364" y="1600200"/>
            <a:ext cx="5045737" cy="2606040"/>
          </a:xfrm>
          <a:prstGeom prst="rect">
            <a:avLst/>
          </a:prstGeom>
          <a:ln w="9525">
            <a:solidFill>
              <a:srgbClr val="D9D9D9"/>
            </a:solidFill>
          </a:ln>
        </p:spPr>
      </p:pic>
      <p:sp>
        <p:nvSpPr>
          <p:cNvPr id="8" name="TextBox 7"/>
          <p:cNvSpPr txBox="1"/>
          <p:nvPr/>
        </p:nvSpPr>
        <p:spPr>
          <a:xfrm>
            <a:off x="6210147" y="1188720"/>
            <a:ext cx="5478627" cy="384048"/>
          </a:xfrm>
          <a:prstGeom prst="rect">
            <a:avLst/>
          </a:prstGeom>
          <a:noFill/>
        </p:spPr>
        <p:txBody>
          <a:bodyPr wrap="square" anchor="ctr" lIns="73152" rIns="73152" tIns="36576" bIns="36576">
            <a:noAutofit/>
          </a:bodyPr>
          <a:lstStyle/>
          <a:p>
            <a:pPr algn="ctr">
              <a:spcBef>
                <a:spcPts val="0"/>
              </a:spcBef>
              <a:spcAft>
                <a:spcPts val="0"/>
              </a:spcAft>
            </a:pPr>
            <a:r>
              <a:rPr lang="tr-TR" sz="1550" b="1" i="0">
                <a:solidFill>
                  <a:srgbClr val="262626"/>
                </a:solidFill>
                <a:latin typeface="Calibri"/>
              </a:rPr>
              <a:t>Türkiye Karayolları Genel Müdürlüğü Hizmet Bölgeleri Haritası</a:t>
            </a:r>
          </a:p>
        </p:txBody>
      </p:sp>
      <p:pic>
        <p:nvPicPr>
          <p:cNvPr id="9" name="Picture 8" descr="h35_s221_kgm.jpg"/>
          <p:cNvPicPr>
            <a:picLocks noChangeAspect="1"/>
          </p:cNvPicPr>
          <p:nvPr/>
        </p:nvPicPr>
        <p:blipFill>
          <a:blip r:embed="rId4"/>
          <a:stretch>
            <a:fillRect/>
          </a:stretch>
        </p:blipFill>
        <p:spPr>
          <a:xfrm>
            <a:off x="6400961" y="1600200"/>
            <a:ext cx="5096998" cy="2606040"/>
          </a:xfrm>
          <a:prstGeom prst="rect">
            <a:avLst/>
          </a:prstGeom>
          <a:ln w="9525">
            <a:solidFill>
              <a:srgbClr val="D9D9D9"/>
            </a:solidFill>
          </a:ln>
        </p:spPr>
      </p:pic>
      <p:sp>
        <p:nvSpPr>
          <p:cNvPr id="10" name="Rounded Rectangle 9"/>
          <p:cNvSpPr/>
          <p:nvPr/>
        </p:nvSpPr>
        <p:spPr>
          <a:xfrm>
            <a:off x="856524" y="3703320"/>
            <a:ext cx="4771417" cy="438912"/>
          </a:xfrm>
          <a:prstGeom prst="roundRect">
            <a:avLst>
              <a:gd name="adj" fmla="val 8000"/>
            </a:avLst>
          </a:prstGeom>
          <a:solidFill>
            <a:srgbClr val="3E7D3A"/>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Geçişli sınır: renkler iç içe, kuşak hâlinde</a:t>
            </a:r>
          </a:p>
        </p:txBody>
      </p:sp>
      <p:sp>
        <p:nvSpPr>
          <p:cNvPr id="11" name="Rounded Rectangle 10"/>
          <p:cNvSpPr/>
          <p:nvPr/>
        </p:nvSpPr>
        <p:spPr>
          <a:xfrm>
            <a:off x="6538121" y="3703320"/>
            <a:ext cx="4822678" cy="438912"/>
          </a:xfrm>
          <a:prstGeom prst="roundRect">
            <a:avLst>
              <a:gd name="adj" fmla="val 8000"/>
            </a:avLst>
          </a:prstGeom>
          <a:solidFill>
            <a:srgbClr val="1F6EA8"/>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Net sınır: il sınırlarını izler</a:t>
            </a:r>
          </a:p>
        </p:txBody>
      </p:sp>
      <p:sp>
        <p:nvSpPr>
          <p:cNvPr id="12" name="Rounded Rectangle 11"/>
          <p:cNvSpPr/>
          <p:nvPr/>
        </p:nvSpPr>
        <p:spPr>
          <a:xfrm>
            <a:off x="502920" y="4325112"/>
            <a:ext cx="11185855" cy="196596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325112"/>
            <a:ext cx="118872" cy="1965960"/>
          </a:xfrm>
          <a:prstGeom prst="rect">
            <a:avLst/>
          </a:prstGeom>
          <a:solidFill>
            <a:srgbClr val="2A5D8F"/>
          </a:solidFill>
          <a:ln>
            <a:noFill/>
          </a:ln>
          <a:effectLst/>
        </p:spPr>
        <p:txBody>
          <a:bodyPr rtlCol="0" anchor="ctr"/>
          <a:lstStyle/>
          <a:p/>
        </p:txBody>
      </p:sp>
      <p:sp>
        <p:nvSpPr>
          <p:cNvPr id="14" name="TextBox 13"/>
          <p:cNvSpPr txBox="1"/>
          <p:nvPr/>
        </p:nvSpPr>
        <p:spPr>
          <a:xfrm>
            <a:off x="777240" y="4325112"/>
            <a:ext cx="10774375" cy="196596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Ayrıca bazı bölge sınırları, kullanılan kriterin özelliğine göre net olarak belirlenebilirken bazı bölge sınırlarında -oluşturulan bölgelerde geçiş alanları bulunması nedeniyle- bu netlik yoktur. Örneğin doğal kriterlerden olan doğal bitki örtüsüne göre oluşturulmak istenen bir bölgenin sınırının belirlenmesi, beşerî kriterlerden olan deniz turizmi alanlarına göre oluşturulmak istenen bir bölgenin sınırının belirlenmesinden daha zordur.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220-221</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76 / 187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Kriter değişirse sınır da değişir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7.1.3</a:t>
            </a:r>
          </a:p>
        </p:txBody>
      </p:sp>
      <p:sp>
        <p:nvSpPr>
          <p:cNvPr id="6" name="Rounded Rectangle 5"/>
          <p:cNvSpPr/>
          <p:nvPr/>
        </p:nvSpPr>
        <p:spPr>
          <a:xfrm>
            <a:off x="502920" y="1243584"/>
            <a:ext cx="4937760" cy="14630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43584"/>
            <a:ext cx="118872" cy="1463040"/>
          </a:xfrm>
          <a:prstGeom prst="rect">
            <a:avLst/>
          </a:prstGeom>
          <a:solidFill>
            <a:srgbClr val="2A5D8F"/>
          </a:solidFill>
          <a:ln>
            <a:noFill/>
          </a:ln>
          <a:effectLst/>
        </p:spPr>
        <p:txBody>
          <a:bodyPr rtlCol="0" anchor="ctr"/>
          <a:lstStyle/>
          <a:p/>
        </p:txBody>
      </p:sp>
      <p:sp>
        <p:nvSpPr>
          <p:cNvPr id="8" name="TextBox 7"/>
          <p:cNvSpPr txBox="1"/>
          <p:nvPr/>
        </p:nvSpPr>
        <p:spPr>
          <a:xfrm>
            <a:off x="777240" y="1243584"/>
            <a:ext cx="4526280" cy="146304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Bir bölge sınırını oluşturmada kullanılan kriterin özelliğinde yaşanacak değişim, o bölgenin sınırının da değişmesine neden olur.</a:t>
            </a:r>
          </a:p>
        </p:txBody>
      </p:sp>
      <p:sp>
        <p:nvSpPr>
          <p:cNvPr id="9" name="Rounded Rectangle 8"/>
          <p:cNvSpPr/>
          <p:nvPr/>
        </p:nvSpPr>
        <p:spPr>
          <a:xfrm>
            <a:off x="502920" y="2843784"/>
            <a:ext cx="4937760" cy="210312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843784"/>
            <a:ext cx="118872" cy="2103120"/>
          </a:xfrm>
          <a:prstGeom prst="rect">
            <a:avLst/>
          </a:prstGeom>
          <a:solidFill>
            <a:srgbClr val="2A5D8F"/>
          </a:solidFill>
          <a:ln>
            <a:noFill/>
          </a:ln>
          <a:effectLst/>
        </p:spPr>
        <p:txBody>
          <a:bodyPr rtlCol="0" anchor="ctr"/>
          <a:lstStyle/>
          <a:p/>
        </p:txBody>
      </p:sp>
      <p:sp>
        <p:nvSpPr>
          <p:cNvPr id="11" name="TextBox 10"/>
          <p:cNvSpPr txBox="1"/>
          <p:nvPr/>
        </p:nvSpPr>
        <p:spPr>
          <a:xfrm>
            <a:off x="777240" y="2843784"/>
            <a:ext cx="4526280" cy="21031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Örneğin seyrek nüfuslu bölge sınırı içinde olan bir yer, farklı sebeplerle nüfusun toplanma alanı hâline gelirse yoğun nüfuslu bölge sınırı içinde yer almaya başlar.</a:t>
            </a:r>
          </a:p>
        </p:txBody>
      </p:sp>
      <p:sp>
        <p:nvSpPr>
          <p:cNvPr id="12" name="Rounded Rectangle 11"/>
          <p:cNvSpPr/>
          <p:nvPr/>
        </p:nvSpPr>
        <p:spPr>
          <a:xfrm>
            <a:off x="502920" y="5084064"/>
            <a:ext cx="4937760" cy="1207008"/>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Sınırı değiştiren: </a:t>
            </a:r>
            <a:r>
              <a:rPr lang="tr-TR" sz="2000" b="1" i="0">
                <a:solidFill>
                  <a:srgbClr val="262626"/>
                </a:solidFill>
                <a:latin typeface="Calibri"/>
              </a:rPr>
              <a:t>kriterin değeri</a:t>
            </a:r>
            <a:r>
              <a:rPr lang="tr-TR" sz="2000" b="0" i="0">
                <a:solidFill>
                  <a:srgbClr val="262626"/>
                </a:solidFill>
                <a:latin typeface="Calibri"/>
              </a:rPr>
              <a:t> (burada nüfus)</a:t>
            </a:r>
          </a:p>
        </p:txBody>
      </p:sp>
      <p:sp>
        <p:nvSpPr>
          <p:cNvPr id="13" name="Rounded Rectangle 12"/>
          <p:cNvSpPr/>
          <p:nvPr/>
        </p:nvSpPr>
        <p:spPr>
          <a:xfrm>
            <a:off x="5760720" y="1216152"/>
            <a:ext cx="2849727" cy="5029200"/>
          </a:xfrm>
          <a:prstGeom prst="roundRect">
            <a:avLst>
              <a:gd name="adj" fmla="val 5000"/>
            </a:avLst>
          </a:prstGeom>
          <a:solidFill>
            <a:srgbClr val="FFFFFF"/>
          </a:solidFill>
          <a:ln>
            <a:noFill/>
          </a:ln>
          <a:effectLst/>
        </p:spPr>
        <p:txBody>
          <a:bodyPr rtlCol="0" anchor="ctr"/>
          <a:lstStyle/>
          <a:p/>
        </p:txBody>
      </p:sp>
      <p:sp>
        <p:nvSpPr>
          <p:cNvPr id="14" name="Rounded Rectangle 13"/>
          <p:cNvSpPr/>
          <p:nvPr/>
        </p:nvSpPr>
        <p:spPr>
          <a:xfrm>
            <a:off x="5760720" y="1216152"/>
            <a:ext cx="2849727" cy="502920"/>
          </a:xfrm>
          <a:prstGeom prst="roundRect">
            <a:avLst>
              <a:gd name="adj" fmla="val 25000"/>
            </a:avLst>
          </a:prstGeom>
          <a:solidFill>
            <a:srgbClr val="4F4F4F"/>
          </a:solidFill>
          <a:ln>
            <a:noFill/>
          </a:ln>
          <a:effectLst/>
        </p:spPr>
        <p:txBody>
          <a:bodyPr rtlCol="0" anchor="ctr"/>
          <a:lstStyle/>
          <a:p/>
        </p:txBody>
      </p:sp>
      <p:sp>
        <p:nvSpPr>
          <p:cNvPr id="15" name="Rectangle 14"/>
          <p:cNvSpPr/>
          <p:nvPr/>
        </p:nvSpPr>
        <p:spPr>
          <a:xfrm>
            <a:off x="5760720" y="1467612"/>
            <a:ext cx="2849727" cy="251460"/>
          </a:xfrm>
          <a:prstGeom prst="rect">
            <a:avLst/>
          </a:prstGeom>
          <a:solidFill>
            <a:srgbClr val="4F4F4F"/>
          </a:solidFill>
          <a:ln>
            <a:noFill/>
          </a:ln>
          <a:effectLst/>
        </p:spPr>
        <p:txBody>
          <a:bodyPr rtlCol="0" anchor="ctr"/>
          <a:lstStyle/>
          <a:p/>
        </p:txBody>
      </p:sp>
      <p:sp>
        <p:nvSpPr>
          <p:cNvPr id="16" name="TextBox 15"/>
          <p:cNvSpPr txBox="1"/>
          <p:nvPr/>
        </p:nvSpPr>
        <p:spPr>
          <a:xfrm>
            <a:off x="5852160" y="1216152"/>
            <a:ext cx="2666847" cy="5029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Önce</a:t>
            </a:r>
          </a:p>
        </p:txBody>
      </p:sp>
      <p:sp>
        <p:nvSpPr>
          <p:cNvPr id="17" name="Rounded Rectangle 16"/>
          <p:cNvSpPr/>
          <p:nvPr/>
        </p:nvSpPr>
        <p:spPr>
          <a:xfrm>
            <a:off x="5897880" y="1856232"/>
            <a:ext cx="2575407" cy="4297680"/>
          </a:xfrm>
          <a:prstGeom prst="roundRect">
            <a:avLst>
              <a:gd name="adj" fmla="val 6000"/>
            </a:avLst>
          </a:prstGeom>
          <a:solidFill>
            <a:srgbClr val="F3E6DD"/>
          </a:solidFill>
          <a:ln>
            <a:noFill/>
          </a:ln>
          <a:effectLst/>
        </p:spPr>
        <p:txBody>
          <a:bodyPr rtlCol="0" anchor="ctr"/>
          <a:lstStyle/>
          <a:p/>
        </p:txBody>
      </p:sp>
      <p:sp>
        <p:nvSpPr>
          <p:cNvPr id="18" name="TextBox 17"/>
          <p:cNvSpPr txBox="1"/>
          <p:nvPr/>
        </p:nvSpPr>
        <p:spPr>
          <a:xfrm>
            <a:off x="5943600" y="1901952"/>
            <a:ext cx="2483967" cy="548640"/>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B05A1E"/>
                </a:solidFill>
                <a:latin typeface="Calibri"/>
              </a:rPr>
              <a:t>seyrek nüfuslu bölge</a:t>
            </a:r>
          </a:p>
        </p:txBody>
      </p:sp>
      <p:sp>
        <p:nvSpPr>
          <p:cNvPr id="19" name="Oval 18"/>
          <p:cNvSpPr/>
          <p:nvPr/>
        </p:nvSpPr>
        <p:spPr>
          <a:xfrm>
            <a:off x="6080760" y="2542032"/>
            <a:ext cx="2209647" cy="1828800"/>
          </a:xfrm>
          <a:prstGeom prst="ellipse">
            <a:avLst/>
          </a:prstGeom>
          <a:solidFill>
            <a:srgbClr val="CB936C"/>
          </a:solidFill>
          <a:ln w="25400">
            <a:solidFill>
              <a:srgbClr val="B05A1E"/>
            </a:solidFill>
          </a:ln>
          <a:effectLst/>
        </p:spPr>
        <p:txBody>
          <a:bodyPr rtlCol="0" anchor="ctr"/>
          <a:lstStyle/>
          <a:p/>
        </p:txBody>
      </p:sp>
      <p:sp>
        <p:nvSpPr>
          <p:cNvPr id="20" name="TextBox 19"/>
          <p:cNvSpPr txBox="1"/>
          <p:nvPr/>
        </p:nvSpPr>
        <p:spPr>
          <a:xfrm>
            <a:off x="6080760" y="2816352"/>
            <a:ext cx="2209647" cy="457200"/>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FFFFFF"/>
                </a:solidFill>
                <a:latin typeface="Calibri"/>
              </a:rPr>
              <a:t>yoğun nüfuslu bölge</a:t>
            </a:r>
          </a:p>
        </p:txBody>
      </p:sp>
      <p:sp>
        <p:nvSpPr>
          <p:cNvPr id="21" name="5-Point Star 20"/>
          <p:cNvSpPr/>
          <p:nvPr/>
        </p:nvSpPr>
        <p:spPr>
          <a:xfrm>
            <a:off x="7002703" y="5010912"/>
            <a:ext cx="365760" cy="365760"/>
          </a:xfrm>
          <a:prstGeom prst="star5">
            <a:avLst/>
          </a:prstGeom>
          <a:solidFill>
            <a:srgbClr val="FCC021"/>
          </a:solidFill>
          <a:ln w="12700">
            <a:solidFill>
              <a:srgbClr val="262626"/>
            </a:solidFill>
          </a:ln>
          <a:effectLst/>
        </p:spPr>
        <p:txBody>
          <a:bodyPr rtlCol="0" anchor="ctr"/>
          <a:lstStyle/>
          <a:p/>
        </p:txBody>
      </p:sp>
      <p:sp>
        <p:nvSpPr>
          <p:cNvPr id="22" name="TextBox 21"/>
          <p:cNvSpPr txBox="1"/>
          <p:nvPr/>
        </p:nvSpPr>
        <p:spPr>
          <a:xfrm>
            <a:off x="5897880" y="5422392"/>
            <a:ext cx="2575407" cy="411480"/>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262626"/>
                </a:solidFill>
                <a:latin typeface="Calibri"/>
              </a:rPr>
              <a:t>bir yer</a:t>
            </a:r>
          </a:p>
        </p:txBody>
      </p:sp>
      <p:sp>
        <p:nvSpPr>
          <p:cNvPr id="23" name="Rounded Rectangle 22"/>
          <p:cNvSpPr/>
          <p:nvPr/>
        </p:nvSpPr>
        <p:spPr>
          <a:xfrm>
            <a:off x="8839047" y="1216152"/>
            <a:ext cx="2849727" cy="5029200"/>
          </a:xfrm>
          <a:prstGeom prst="roundRect">
            <a:avLst>
              <a:gd name="adj" fmla="val 5000"/>
            </a:avLst>
          </a:prstGeom>
          <a:solidFill>
            <a:srgbClr val="FFFFFF"/>
          </a:solidFill>
          <a:ln>
            <a:noFill/>
          </a:ln>
          <a:effectLst/>
        </p:spPr>
        <p:txBody>
          <a:bodyPr rtlCol="0" anchor="ctr"/>
          <a:lstStyle/>
          <a:p/>
        </p:txBody>
      </p:sp>
      <p:sp>
        <p:nvSpPr>
          <p:cNvPr id="24" name="Rounded Rectangle 23"/>
          <p:cNvSpPr/>
          <p:nvPr/>
        </p:nvSpPr>
        <p:spPr>
          <a:xfrm>
            <a:off x="8839047" y="1216152"/>
            <a:ext cx="2849727" cy="502920"/>
          </a:xfrm>
          <a:prstGeom prst="roundRect">
            <a:avLst>
              <a:gd name="adj" fmla="val 25000"/>
            </a:avLst>
          </a:prstGeom>
          <a:solidFill>
            <a:srgbClr val="2A5D8F"/>
          </a:solidFill>
          <a:ln>
            <a:noFill/>
          </a:ln>
          <a:effectLst/>
        </p:spPr>
        <p:txBody>
          <a:bodyPr rtlCol="0" anchor="ctr"/>
          <a:lstStyle/>
          <a:p/>
        </p:txBody>
      </p:sp>
      <p:sp>
        <p:nvSpPr>
          <p:cNvPr id="25" name="Rectangle 24"/>
          <p:cNvSpPr/>
          <p:nvPr/>
        </p:nvSpPr>
        <p:spPr>
          <a:xfrm>
            <a:off x="8839047" y="1467612"/>
            <a:ext cx="2849727" cy="251460"/>
          </a:xfrm>
          <a:prstGeom prst="rect">
            <a:avLst/>
          </a:prstGeom>
          <a:solidFill>
            <a:srgbClr val="2A5D8F"/>
          </a:solidFill>
          <a:ln>
            <a:noFill/>
          </a:ln>
          <a:effectLst/>
        </p:spPr>
        <p:txBody>
          <a:bodyPr rtlCol="0" anchor="ctr"/>
          <a:lstStyle/>
          <a:p/>
        </p:txBody>
      </p:sp>
      <p:sp>
        <p:nvSpPr>
          <p:cNvPr id="26" name="TextBox 25"/>
          <p:cNvSpPr txBox="1"/>
          <p:nvPr/>
        </p:nvSpPr>
        <p:spPr>
          <a:xfrm>
            <a:off x="8930487" y="1216152"/>
            <a:ext cx="2666847" cy="5029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Sonra</a:t>
            </a:r>
          </a:p>
        </p:txBody>
      </p:sp>
      <p:sp>
        <p:nvSpPr>
          <p:cNvPr id="27" name="Rounded Rectangle 26"/>
          <p:cNvSpPr/>
          <p:nvPr/>
        </p:nvSpPr>
        <p:spPr>
          <a:xfrm>
            <a:off x="8976207" y="1856232"/>
            <a:ext cx="2575407" cy="4297680"/>
          </a:xfrm>
          <a:prstGeom prst="roundRect">
            <a:avLst>
              <a:gd name="adj" fmla="val 6000"/>
            </a:avLst>
          </a:prstGeom>
          <a:solidFill>
            <a:srgbClr val="F3E6DD"/>
          </a:solidFill>
          <a:ln>
            <a:noFill/>
          </a:ln>
          <a:effectLst/>
        </p:spPr>
        <p:txBody>
          <a:bodyPr rtlCol="0" anchor="ctr"/>
          <a:lstStyle/>
          <a:p/>
        </p:txBody>
      </p:sp>
      <p:sp>
        <p:nvSpPr>
          <p:cNvPr id="28" name="TextBox 27"/>
          <p:cNvSpPr txBox="1"/>
          <p:nvPr/>
        </p:nvSpPr>
        <p:spPr>
          <a:xfrm>
            <a:off x="9021927" y="1901952"/>
            <a:ext cx="2483967" cy="548640"/>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B05A1E"/>
                </a:solidFill>
                <a:latin typeface="Calibri"/>
              </a:rPr>
              <a:t>seyrek nüfuslu bölge</a:t>
            </a:r>
          </a:p>
        </p:txBody>
      </p:sp>
      <p:sp>
        <p:nvSpPr>
          <p:cNvPr id="29" name="Oval 28"/>
          <p:cNvSpPr/>
          <p:nvPr/>
        </p:nvSpPr>
        <p:spPr>
          <a:xfrm>
            <a:off x="9159087" y="2542032"/>
            <a:ext cx="2209647" cy="2926080"/>
          </a:xfrm>
          <a:prstGeom prst="ellipse">
            <a:avLst/>
          </a:prstGeom>
          <a:solidFill>
            <a:srgbClr val="CB936C"/>
          </a:solidFill>
          <a:ln w="25400">
            <a:solidFill>
              <a:srgbClr val="B05A1E"/>
            </a:solidFill>
          </a:ln>
          <a:effectLst/>
        </p:spPr>
        <p:txBody>
          <a:bodyPr rtlCol="0" anchor="ctr"/>
          <a:lstStyle/>
          <a:p/>
        </p:txBody>
      </p:sp>
      <p:sp>
        <p:nvSpPr>
          <p:cNvPr id="30" name="TextBox 29"/>
          <p:cNvSpPr txBox="1"/>
          <p:nvPr/>
        </p:nvSpPr>
        <p:spPr>
          <a:xfrm>
            <a:off x="9159087" y="2816352"/>
            <a:ext cx="2209647" cy="457200"/>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FFFFFF"/>
                </a:solidFill>
                <a:latin typeface="Calibri"/>
              </a:rPr>
              <a:t>yoğun nüfuslu bölge</a:t>
            </a:r>
          </a:p>
        </p:txBody>
      </p:sp>
      <p:sp>
        <p:nvSpPr>
          <p:cNvPr id="31" name="5-Point Star 30"/>
          <p:cNvSpPr/>
          <p:nvPr/>
        </p:nvSpPr>
        <p:spPr>
          <a:xfrm>
            <a:off x="10081030" y="5010912"/>
            <a:ext cx="365760" cy="365760"/>
          </a:xfrm>
          <a:prstGeom prst="star5">
            <a:avLst/>
          </a:prstGeom>
          <a:solidFill>
            <a:srgbClr val="FCC021"/>
          </a:solidFill>
          <a:ln w="12700">
            <a:solidFill>
              <a:srgbClr val="262626"/>
            </a:solidFill>
          </a:ln>
          <a:effectLst/>
        </p:spPr>
        <p:txBody>
          <a:bodyPr rtlCol="0" anchor="ctr"/>
          <a:lstStyle/>
          <a:p/>
        </p:txBody>
      </p:sp>
      <p:sp>
        <p:nvSpPr>
          <p:cNvPr id="32" name="TextBox 31"/>
          <p:cNvSpPr txBox="1"/>
          <p:nvPr/>
        </p:nvSpPr>
        <p:spPr>
          <a:xfrm>
            <a:off x="8976207" y="5422392"/>
            <a:ext cx="2575407" cy="411480"/>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262626"/>
                </a:solidFill>
                <a:latin typeface="Calibri"/>
              </a:rPr>
              <a:t>nüfusun toplanma alanı</a:t>
            </a:r>
          </a:p>
        </p:txBody>
      </p:sp>
      <p:cxnSp>
        <p:nvCxnSpPr>
          <p:cNvPr id="33" name="Connector 32"/>
          <p:cNvCxnSpPr/>
          <p:nvPr/>
        </p:nvCxnSpPr>
        <p:spPr>
          <a:xfrm>
            <a:off x="8628735" y="3822192"/>
            <a:ext cx="192024" cy="0"/>
          </a:xfrm>
          <a:prstGeom prst="line">
            <a:avLst/>
          </a:prstGeom>
          <a:ln w="38100">
            <a:solidFill>
              <a:srgbClr val="4F4F4F"/>
            </a:solidFill>
            <a:tailEnd type="triangle" w="med" len="med"/>
          </a:ln>
        </p:spPr>
      </p:cxn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77 / 187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Tahmin et: hangi sınır daha çabuk değişir?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TAHMİN</a:t>
            </a:r>
          </a:p>
        </p:txBody>
      </p:sp>
      <p:sp>
        <p:nvSpPr>
          <p:cNvPr id="6" name="Rounded Rectangle 5"/>
          <p:cNvSpPr/>
          <p:nvPr/>
        </p:nvSpPr>
        <p:spPr>
          <a:xfrm>
            <a:off x="502920" y="1536192"/>
            <a:ext cx="3545738" cy="2011680"/>
          </a:xfrm>
          <a:prstGeom prst="roundRect">
            <a:avLst>
              <a:gd name="adj" fmla="val 8000"/>
            </a:avLst>
          </a:prstGeom>
          <a:solidFill>
            <a:srgbClr val="FFFFFF"/>
          </a:solidFill>
          <a:ln w="31750">
            <a:solidFill>
              <a:srgbClr val="4F4F4F"/>
            </a:solidFill>
          </a:ln>
          <a:effectLst/>
        </p:spPr>
        <p:txBody>
          <a:bodyPr rtlCol="0" anchor="ctr" wrap="square" lIns="128016" rIns="128016" tIns="73152" bIns="73152">
            <a:noAutofit/>
          </a:bodyPr>
          <a:lstStyle/>
          <a:p>
            <a:pPr algn="ctr">
              <a:spcBef>
                <a:spcPts val="0"/>
              </a:spcBef>
              <a:spcAft>
                <a:spcPts val="0"/>
              </a:spcAft>
            </a:pPr>
            <a:r>
              <a:rPr lang="tr-TR" sz="2600" b="1" i="0">
                <a:solidFill>
                  <a:srgbClr val="262626"/>
                </a:solidFill>
                <a:latin typeface="Calibri"/>
              </a:rPr>
              <a:t>Kızılırmak Nehri Havzası</a:t>
            </a:r>
          </a:p>
        </p:txBody>
      </p:sp>
      <p:sp>
        <p:nvSpPr>
          <p:cNvPr id="7" name="Oval 6"/>
          <p:cNvSpPr/>
          <p:nvPr/>
        </p:nvSpPr>
        <p:spPr>
          <a:xfrm>
            <a:off x="2001469" y="1216152"/>
            <a:ext cx="548640" cy="54864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a:t>
            </a:r>
          </a:p>
        </p:txBody>
      </p:sp>
      <p:sp>
        <p:nvSpPr>
          <p:cNvPr id="8" name="Rounded Rectangle 7"/>
          <p:cNvSpPr/>
          <p:nvPr/>
        </p:nvSpPr>
        <p:spPr>
          <a:xfrm>
            <a:off x="4322978" y="1536192"/>
            <a:ext cx="3545738" cy="2011680"/>
          </a:xfrm>
          <a:prstGeom prst="roundRect">
            <a:avLst>
              <a:gd name="adj" fmla="val 8000"/>
            </a:avLst>
          </a:prstGeom>
          <a:solidFill>
            <a:srgbClr val="FFFFFF"/>
          </a:solidFill>
          <a:ln w="31750">
            <a:solidFill>
              <a:srgbClr val="4F4F4F"/>
            </a:solidFill>
          </a:ln>
          <a:effectLst/>
        </p:spPr>
        <p:txBody>
          <a:bodyPr rtlCol="0" anchor="ctr" wrap="square" lIns="128016" rIns="128016" tIns="73152" bIns="73152">
            <a:noAutofit/>
          </a:bodyPr>
          <a:lstStyle/>
          <a:p>
            <a:pPr algn="ctr">
              <a:spcBef>
                <a:spcPts val="0"/>
              </a:spcBef>
              <a:spcAft>
                <a:spcPts val="0"/>
              </a:spcAft>
            </a:pPr>
            <a:r>
              <a:rPr lang="tr-TR" sz="2600" b="1" i="0">
                <a:solidFill>
                  <a:srgbClr val="262626"/>
                </a:solidFill>
                <a:latin typeface="Calibri"/>
              </a:rPr>
              <a:t>Türkiye’nin pamuk üretim bölgeleri</a:t>
            </a:r>
          </a:p>
        </p:txBody>
      </p:sp>
      <p:sp>
        <p:nvSpPr>
          <p:cNvPr id="9" name="Oval 8"/>
          <p:cNvSpPr/>
          <p:nvPr/>
        </p:nvSpPr>
        <p:spPr>
          <a:xfrm>
            <a:off x="5821527" y="1216152"/>
            <a:ext cx="548640" cy="54864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a:t>
            </a:r>
          </a:p>
        </p:txBody>
      </p:sp>
      <p:sp>
        <p:nvSpPr>
          <p:cNvPr id="10" name="Rounded Rectangle 9"/>
          <p:cNvSpPr/>
          <p:nvPr/>
        </p:nvSpPr>
        <p:spPr>
          <a:xfrm>
            <a:off x="8143036" y="1536192"/>
            <a:ext cx="3545738" cy="2011680"/>
          </a:xfrm>
          <a:prstGeom prst="roundRect">
            <a:avLst>
              <a:gd name="adj" fmla="val 8000"/>
            </a:avLst>
          </a:prstGeom>
          <a:solidFill>
            <a:srgbClr val="FFFFFF"/>
          </a:solidFill>
          <a:ln w="31750">
            <a:solidFill>
              <a:srgbClr val="4F4F4F"/>
            </a:solidFill>
          </a:ln>
          <a:effectLst/>
        </p:spPr>
        <p:txBody>
          <a:bodyPr rtlCol="0" anchor="ctr" wrap="square" lIns="128016" rIns="128016" tIns="73152" bIns="73152">
            <a:noAutofit/>
          </a:bodyPr>
          <a:lstStyle/>
          <a:p>
            <a:pPr algn="ctr">
              <a:spcBef>
                <a:spcPts val="0"/>
              </a:spcBef>
              <a:spcAft>
                <a:spcPts val="0"/>
              </a:spcAft>
            </a:pPr>
            <a:r>
              <a:rPr lang="tr-TR" sz="2600" b="1" i="0">
                <a:solidFill>
                  <a:srgbClr val="262626"/>
                </a:solidFill>
                <a:latin typeface="Calibri"/>
              </a:rPr>
              <a:t>Günlük bir gazetenin tiraj alanı</a:t>
            </a:r>
          </a:p>
        </p:txBody>
      </p:sp>
      <p:sp>
        <p:nvSpPr>
          <p:cNvPr id="11" name="Oval 10"/>
          <p:cNvSpPr/>
          <p:nvPr/>
        </p:nvSpPr>
        <p:spPr>
          <a:xfrm>
            <a:off x="9641585" y="1216152"/>
            <a:ext cx="548640" cy="54864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a:t>
            </a:r>
          </a:p>
        </p:txBody>
      </p:sp>
      <p:cxnSp>
        <p:nvCxnSpPr>
          <p:cNvPr id="12" name="Connector 11"/>
          <p:cNvCxnSpPr/>
          <p:nvPr/>
        </p:nvCxnSpPr>
        <p:spPr>
          <a:xfrm>
            <a:off x="868680" y="4233672"/>
            <a:ext cx="10454335" cy="0"/>
          </a:xfrm>
          <a:prstGeom prst="line">
            <a:avLst/>
          </a:prstGeom>
          <a:ln w="50800">
            <a:solidFill>
              <a:srgbClr val="4F4F4F"/>
            </a:solidFill>
            <a:tailEnd type="triangle" w="med" len="med"/>
          </a:ln>
        </p:spPr>
      </p:cxnSp>
      <p:sp>
        <p:nvSpPr>
          <p:cNvPr id="13" name="TextBox 12"/>
          <p:cNvSpPr txBox="1"/>
          <p:nvPr/>
        </p:nvSpPr>
        <p:spPr>
          <a:xfrm>
            <a:off x="502920" y="4370832"/>
            <a:ext cx="3200400" cy="457200"/>
          </a:xfrm>
          <a:prstGeom prst="rect">
            <a:avLst/>
          </a:prstGeom>
          <a:noFill/>
        </p:spPr>
        <p:txBody>
          <a:bodyPr wrap="square" anchor="t" lIns="73152" rIns="73152" tIns="36576" bIns="36576">
            <a:noAutofit/>
          </a:bodyPr>
          <a:lstStyle/>
          <a:p>
            <a:pPr algn="l">
              <a:spcBef>
                <a:spcPts val="0"/>
              </a:spcBef>
              <a:spcAft>
                <a:spcPts val="0"/>
              </a:spcAft>
            </a:pPr>
            <a:r>
              <a:rPr lang="tr-TR" sz="1900" b="0" i="0">
                <a:solidFill>
                  <a:srgbClr val="767676"/>
                </a:solidFill>
                <a:latin typeface="Calibri"/>
              </a:rPr>
              <a:t>en çabuk değişen</a:t>
            </a:r>
          </a:p>
        </p:txBody>
      </p:sp>
      <p:sp>
        <p:nvSpPr>
          <p:cNvPr id="14" name="TextBox 13"/>
          <p:cNvSpPr txBox="1"/>
          <p:nvPr/>
        </p:nvSpPr>
        <p:spPr>
          <a:xfrm>
            <a:off x="8488375" y="4370832"/>
            <a:ext cx="3200400" cy="457200"/>
          </a:xfrm>
          <a:prstGeom prst="rect">
            <a:avLst/>
          </a:prstGeom>
          <a:noFill/>
        </p:spPr>
        <p:txBody>
          <a:bodyPr wrap="square" anchor="t" lIns="73152" rIns="73152" tIns="36576" bIns="36576">
            <a:noAutofit/>
          </a:bodyPr>
          <a:lstStyle/>
          <a:p>
            <a:pPr algn="r">
              <a:spcBef>
                <a:spcPts val="0"/>
              </a:spcBef>
              <a:spcAft>
                <a:spcPts val="0"/>
              </a:spcAft>
            </a:pPr>
            <a:r>
              <a:rPr lang="tr-TR" sz="1900" b="0" i="0">
                <a:solidFill>
                  <a:srgbClr val="767676"/>
                </a:solidFill>
                <a:latin typeface="Calibri"/>
              </a:rPr>
              <a:t>en yavaş değişen</a:t>
            </a:r>
          </a:p>
        </p:txBody>
      </p:sp>
      <p:sp>
        <p:nvSpPr>
          <p:cNvPr id="15" name="Rounded Rectangle 14"/>
          <p:cNvSpPr/>
          <p:nvPr/>
        </p:nvSpPr>
        <p:spPr>
          <a:xfrm>
            <a:off x="502920" y="5102352"/>
            <a:ext cx="11185855" cy="114300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200" b="0" i="0">
                <a:solidFill>
                  <a:srgbClr val="262626"/>
                </a:solidFill>
                <a:latin typeface="Calibri"/>
              </a:rPr>
              <a:t>Kartları en çabuk değişenden en yavaş değişene sırala ve </a:t>
            </a:r>
            <a:r>
              <a:rPr lang="tr-TR" sz="2200" b="1" i="0">
                <a:solidFill>
                  <a:srgbClr val="262626"/>
                </a:solidFill>
                <a:latin typeface="Calibri"/>
              </a:rPr>
              <a:t>bölge türünü</a:t>
            </a:r>
            <a:r>
              <a:rPr lang="tr-TR" sz="2200" b="0" i="0">
                <a:solidFill>
                  <a:srgbClr val="262626"/>
                </a:solidFill>
                <a:latin typeface="Calibri"/>
              </a:rPr>
              <a:t> söyle.</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223</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78 / 187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Tahmin et: hangi sınır daha çabuk değişir?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cxnSp>
        <p:nvCxnSpPr>
          <p:cNvPr id="6" name="Connector 5"/>
          <p:cNvCxnSpPr/>
          <p:nvPr/>
        </p:nvCxnSpPr>
        <p:spPr>
          <a:xfrm>
            <a:off x="777240" y="2907792"/>
            <a:ext cx="10637215" cy="0"/>
          </a:xfrm>
          <a:prstGeom prst="line">
            <a:avLst/>
          </a:prstGeom>
          <a:ln w="50800">
            <a:solidFill>
              <a:srgbClr val="4F4F4F"/>
            </a:solidFill>
            <a:tailEnd type="triangle" w="med" len="med"/>
          </a:ln>
        </p:spPr>
      </p:cxnSp>
      <p:sp>
        <p:nvSpPr>
          <p:cNvPr id="7" name="Rounded Rectangle 6"/>
          <p:cNvSpPr/>
          <p:nvPr/>
        </p:nvSpPr>
        <p:spPr>
          <a:xfrm>
            <a:off x="502920" y="1307592"/>
            <a:ext cx="3545738" cy="1325880"/>
          </a:xfrm>
          <a:prstGeom prst="roundRect">
            <a:avLst>
              <a:gd name="adj" fmla="val 8000"/>
            </a:avLst>
          </a:prstGeom>
          <a:solidFill>
            <a:srgbClr val="1F6EA8"/>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Günlük bir gazetenin tiraj alanı</a:t>
            </a:r>
          </a:p>
        </p:txBody>
      </p:sp>
      <p:sp>
        <p:nvSpPr>
          <p:cNvPr id="8" name="Oval 7"/>
          <p:cNvSpPr/>
          <p:nvPr/>
        </p:nvSpPr>
        <p:spPr>
          <a:xfrm>
            <a:off x="2047189" y="2679192"/>
            <a:ext cx="457200" cy="4572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800" b="1" i="0">
                <a:solidFill>
                  <a:srgbClr val="262626"/>
                </a:solidFill>
                <a:latin typeface="Calibri"/>
              </a:rPr>
              <a:t>1</a:t>
            </a:r>
          </a:p>
        </p:txBody>
      </p:sp>
      <p:sp>
        <p:nvSpPr>
          <p:cNvPr id="9" name="TextBox 8"/>
          <p:cNvSpPr txBox="1"/>
          <p:nvPr/>
        </p:nvSpPr>
        <p:spPr>
          <a:xfrm>
            <a:off x="502920" y="3182111"/>
            <a:ext cx="3545738" cy="411480"/>
          </a:xfrm>
          <a:prstGeom prst="rect">
            <a:avLst/>
          </a:prstGeom>
          <a:noFill/>
        </p:spPr>
        <p:txBody>
          <a:bodyPr wrap="square" anchor="t" lIns="73152" rIns="73152" tIns="36576" bIns="36576">
            <a:noAutofit/>
          </a:bodyPr>
          <a:lstStyle/>
          <a:p>
            <a:pPr algn="ctr">
              <a:spcBef>
                <a:spcPts val="0"/>
              </a:spcBef>
              <a:spcAft>
                <a:spcPts val="0"/>
              </a:spcAft>
            </a:pPr>
            <a:r>
              <a:rPr lang="tr-TR" sz="1800" b="1" i="0">
                <a:solidFill>
                  <a:srgbClr val="1F6EA8"/>
                </a:solidFill>
                <a:latin typeface="Calibri"/>
              </a:rPr>
              <a:t>işlevsel</a:t>
            </a:r>
          </a:p>
        </p:txBody>
      </p:sp>
      <p:sp>
        <p:nvSpPr>
          <p:cNvPr id="10" name="Rounded Rectangle 9"/>
          <p:cNvSpPr/>
          <p:nvPr/>
        </p:nvSpPr>
        <p:spPr>
          <a:xfrm>
            <a:off x="4322978" y="1307592"/>
            <a:ext cx="3545738" cy="1325880"/>
          </a:xfrm>
          <a:prstGeom prst="roundRect">
            <a:avLst>
              <a:gd name="adj" fmla="val 8000"/>
            </a:avLst>
          </a:prstGeom>
          <a:solidFill>
            <a:srgbClr val="B05A1E"/>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Türkiye’nin pamuk üretim bölgeleri</a:t>
            </a:r>
          </a:p>
        </p:txBody>
      </p:sp>
      <p:sp>
        <p:nvSpPr>
          <p:cNvPr id="11" name="Oval 10"/>
          <p:cNvSpPr/>
          <p:nvPr/>
        </p:nvSpPr>
        <p:spPr>
          <a:xfrm>
            <a:off x="5867247" y="2679192"/>
            <a:ext cx="457200" cy="4572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800" b="1" i="0">
                <a:solidFill>
                  <a:srgbClr val="262626"/>
                </a:solidFill>
                <a:latin typeface="Calibri"/>
              </a:rPr>
              <a:t>2</a:t>
            </a:r>
          </a:p>
        </p:txBody>
      </p:sp>
      <p:sp>
        <p:nvSpPr>
          <p:cNvPr id="12" name="TextBox 11"/>
          <p:cNvSpPr txBox="1"/>
          <p:nvPr/>
        </p:nvSpPr>
        <p:spPr>
          <a:xfrm>
            <a:off x="4322978" y="3182111"/>
            <a:ext cx="3545738" cy="411480"/>
          </a:xfrm>
          <a:prstGeom prst="rect">
            <a:avLst/>
          </a:prstGeom>
          <a:noFill/>
        </p:spPr>
        <p:txBody>
          <a:bodyPr wrap="square" anchor="t" lIns="73152" rIns="73152" tIns="36576" bIns="36576">
            <a:noAutofit/>
          </a:bodyPr>
          <a:lstStyle/>
          <a:p>
            <a:pPr algn="ctr">
              <a:spcBef>
                <a:spcPts val="0"/>
              </a:spcBef>
              <a:spcAft>
                <a:spcPts val="0"/>
              </a:spcAft>
            </a:pPr>
            <a:r>
              <a:rPr lang="tr-TR" sz="1800" b="1" i="0">
                <a:solidFill>
                  <a:srgbClr val="B05A1E"/>
                </a:solidFill>
                <a:latin typeface="Calibri"/>
              </a:rPr>
              <a:t>beşerî şekilsel</a:t>
            </a:r>
          </a:p>
        </p:txBody>
      </p:sp>
      <p:sp>
        <p:nvSpPr>
          <p:cNvPr id="13" name="Rounded Rectangle 12"/>
          <p:cNvSpPr/>
          <p:nvPr/>
        </p:nvSpPr>
        <p:spPr>
          <a:xfrm>
            <a:off x="8143036" y="1307592"/>
            <a:ext cx="3545738" cy="1325880"/>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Kızılırmak Nehri Havzası</a:t>
            </a:r>
          </a:p>
        </p:txBody>
      </p:sp>
      <p:sp>
        <p:nvSpPr>
          <p:cNvPr id="14" name="Oval 13"/>
          <p:cNvSpPr/>
          <p:nvPr/>
        </p:nvSpPr>
        <p:spPr>
          <a:xfrm>
            <a:off x="9687305" y="2679192"/>
            <a:ext cx="457200" cy="4572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800" b="1" i="0">
                <a:solidFill>
                  <a:srgbClr val="262626"/>
                </a:solidFill>
                <a:latin typeface="Calibri"/>
              </a:rPr>
              <a:t>3</a:t>
            </a:r>
          </a:p>
        </p:txBody>
      </p:sp>
      <p:sp>
        <p:nvSpPr>
          <p:cNvPr id="15" name="TextBox 14"/>
          <p:cNvSpPr txBox="1"/>
          <p:nvPr/>
        </p:nvSpPr>
        <p:spPr>
          <a:xfrm>
            <a:off x="8143036" y="3182111"/>
            <a:ext cx="3545738" cy="411480"/>
          </a:xfrm>
          <a:prstGeom prst="rect">
            <a:avLst/>
          </a:prstGeom>
          <a:noFill/>
        </p:spPr>
        <p:txBody>
          <a:bodyPr wrap="square" anchor="t" lIns="73152" rIns="73152" tIns="36576" bIns="36576">
            <a:noAutofit/>
          </a:bodyPr>
          <a:lstStyle/>
          <a:p>
            <a:pPr algn="ctr">
              <a:spcBef>
                <a:spcPts val="0"/>
              </a:spcBef>
              <a:spcAft>
                <a:spcPts val="0"/>
              </a:spcAft>
            </a:pPr>
            <a:r>
              <a:rPr lang="tr-TR" sz="1800" b="1" i="0">
                <a:solidFill>
                  <a:srgbClr val="3E7D3A"/>
                </a:solidFill>
                <a:latin typeface="Calibri"/>
              </a:rPr>
              <a:t>doğal şekilsel</a:t>
            </a:r>
          </a:p>
        </p:txBody>
      </p:sp>
      <p:sp>
        <p:nvSpPr>
          <p:cNvPr id="16" name="Rounded Rectangle 15"/>
          <p:cNvSpPr/>
          <p:nvPr/>
        </p:nvSpPr>
        <p:spPr>
          <a:xfrm>
            <a:off x="502920" y="3730752"/>
            <a:ext cx="5501487" cy="2560320"/>
          </a:xfrm>
          <a:prstGeom prst="roundRect">
            <a:avLst>
              <a:gd name="adj" fmla="val 8000"/>
            </a:avLst>
          </a:prstGeom>
          <a:solidFill>
            <a:srgbClr val="F0F0F0"/>
          </a:solidFill>
          <a:ln>
            <a:noFill/>
          </a:ln>
          <a:effectLst/>
        </p:spPr>
        <p:txBody>
          <a:bodyPr rtlCol="0" anchor="ctr"/>
          <a:lstStyle/>
          <a:p/>
        </p:txBody>
      </p:sp>
      <p:sp>
        <p:nvSpPr>
          <p:cNvPr id="17" name="Rectangle 16"/>
          <p:cNvSpPr/>
          <p:nvPr/>
        </p:nvSpPr>
        <p:spPr>
          <a:xfrm>
            <a:off x="502920" y="3730752"/>
            <a:ext cx="118872" cy="2560320"/>
          </a:xfrm>
          <a:prstGeom prst="rect">
            <a:avLst/>
          </a:prstGeom>
          <a:solidFill>
            <a:srgbClr val="1F6EA8"/>
          </a:solidFill>
          <a:ln>
            <a:noFill/>
          </a:ln>
          <a:effectLst/>
        </p:spPr>
        <p:txBody>
          <a:bodyPr rtlCol="0" anchor="ctr"/>
          <a:lstStyle/>
          <a:p/>
        </p:txBody>
      </p:sp>
      <p:sp>
        <p:nvSpPr>
          <p:cNvPr id="18" name="TextBox 17"/>
          <p:cNvSpPr txBox="1"/>
          <p:nvPr/>
        </p:nvSpPr>
        <p:spPr>
          <a:xfrm>
            <a:off x="777240" y="3730752"/>
            <a:ext cx="5090007" cy="25603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Beşerî unsurlara göre belirlenen beşerî şekilsel bölgeler ile işlevsel bölgelerin sınırlarındaki değişim ise daha kısa bir zaman diliminde gerçekleşebilir. Hatta gazetenin satış alanı gün içerisinde bile değişebilir.</a:t>
            </a:r>
          </a:p>
        </p:txBody>
      </p:sp>
      <p:sp>
        <p:nvSpPr>
          <p:cNvPr id="19" name="Rounded Rectangle 18"/>
          <p:cNvSpPr/>
          <p:nvPr/>
        </p:nvSpPr>
        <p:spPr>
          <a:xfrm>
            <a:off x="6187287" y="3730752"/>
            <a:ext cx="5501487" cy="2560320"/>
          </a:xfrm>
          <a:prstGeom prst="roundRect">
            <a:avLst>
              <a:gd name="adj" fmla="val 8000"/>
            </a:avLst>
          </a:prstGeom>
          <a:solidFill>
            <a:srgbClr val="F0F0F0"/>
          </a:solidFill>
          <a:ln>
            <a:noFill/>
          </a:ln>
          <a:effectLst/>
        </p:spPr>
        <p:txBody>
          <a:bodyPr rtlCol="0" anchor="ctr"/>
          <a:lstStyle/>
          <a:p/>
        </p:txBody>
      </p:sp>
      <p:sp>
        <p:nvSpPr>
          <p:cNvPr id="20" name="Rectangle 19"/>
          <p:cNvSpPr/>
          <p:nvPr/>
        </p:nvSpPr>
        <p:spPr>
          <a:xfrm>
            <a:off x="6187287" y="3730752"/>
            <a:ext cx="118872" cy="2560320"/>
          </a:xfrm>
          <a:prstGeom prst="rect">
            <a:avLst/>
          </a:prstGeom>
          <a:solidFill>
            <a:srgbClr val="3E7D3A"/>
          </a:solidFill>
          <a:ln>
            <a:noFill/>
          </a:ln>
          <a:effectLst/>
        </p:spPr>
        <p:txBody>
          <a:bodyPr rtlCol="0" anchor="ctr"/>
          <a:lstStyle/>
          <a:p/>
        </p:txBody>
      </p:sp>
      <p:sp>
        <p:nvSpPr>
          <p:cNvPr id="21" name="TextBox 20"/>
          <p:cNvSpPr txBox="1"/>
          <p:nvPr/>
        </p:nvSpPr>
        <p:spPr>
          <a:xfrm>
            <a:off x="6461607" y="3730752"/>
            <a:ext cx="5090007" cy="25603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Örneğin doğal unsurlara göre belirlenen doğal şekilsel bölgelerin sınırları daha uzun bir zaman diliminde değişmektedir.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79 / 187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Önerme kuralım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4 dk</a:t>
            </a:r>
          </a:p>
        </p:txBody>
      </p:sp>
      <p:sp>
        <p:nvSpPr>
          <p:cNvPr id="6" name="Rounded Rectangle 5"/>
          <p:cNvSpPr/>
          <p:nvPr/>
        </p:nvSpPr>
        <p:spPr>
          <a:xfrm>
            <a:off x="502920" y="1261872"/>
            <a:ext cx="11185855" cy="1188720"/>
          </a:xfrm>
          <a:prstGeom prst="roundRect">
            <a:avLst>
              <a:gd name="adj" fmla="val 8000"/>
            </a:avLst>
          </a:prstGeom>
          <a:solidFill>
            <a:srgbClr val="FFFFFF"/>
          </a:solidFill>
          <a:ln w="38100">
            <a:solidFill>
              <a:srgbClr val="2A5D8F"/>
            </a:solidFill>
          </a:ln>
          <a:effectLst/>
        </p:spPr>
        <p:txBody>
          <a:bodyPr rtlCol="0" anchor="ctr" wrap="square" lIns="128016" rIns="128016" tIns="73152" bIns="73152">
            <a:noAutofit/>
          </a:bodyPr>
          <a:lstStyle/>
          <a:p>
            <a:pPr algn="ctr">
              <a:spcBef>
                <a:spcPts val="0"/>
              </a:spcBef>
              <a:spcAft>
                <a:spcPts val="0"/>
              </a:spcAft>
            </a:pPr>
            <a:r>
              <a:rPr lang="tr-TR" sz="3400" b="0" i="0">
                <a:solidFill>
                  <a:srgbClr val="262626"/>
                </a:solidFill>
                <a:latin typeface="Calibri"/>
              </a:rPr>
              <a:t>Eğer </a:t>
            </a:r>
            <a:r>
              <a:rPr lang="tr-TR" sz="3400" b="1" i="0">
                <a:solidFill>
                  <a:srgbClr val="262626"/>
                </a:solidFill>
                <a:latin typeface="Calibri"/>
              </a:rPr>
              <a:t>…</a:t>
            </a:r>
            <a:r>
              <a:rPr lang="tr-TR" sz="3400" b="0" i="0">
                <a:solidFill>
                  <a:srgbClr val="262626"/>
                </a:solidFill>
                <a:latin typeface="Calibri"/>
              </a:rPr>
              <a:t> ise </a:t>
            </a:r>
            <a:r>
              <a:rPr lang="tr-TR" sz="3400" b="1" i="0">
                <a:solidFill>
                  <a:srgbClr val="262626"/>
                </a:solidFill>
                <a:latin typeface="Calibri"/>
              </a:rPr>
              <a:t>…</a:t>
            </a:r>
            <a:r>
              <a:rPr lang="tr-TR" sz="3400" b="0" i="0">
                <a:solidFill>
                  <a:srgbClr val="262626"/>
                </a:solidFill>
                <a:latin typeface="Calibri"/>
              </a:rPr>
              <a:t> bölgesinin sınırı </a:t>
            </a:r>
            <a:r>
              <a:rPr lang="tr-TR" sz="3400" b="1" i="0">
                <a:solidFill>
                  <a:srgbClr val="262626"/>
                </a:solidFill>
                <a:latin typeface="Calibri"/>
              </a:rPr>
              <a:t>…</a:t>
            </a:r>
            <a:r>
              <a:rPr lang="tr-TR" sz="3400" b="0" i="0">
                <a:solidFill>
                  <a:srgbClr val="262626"/>
                </a:solidFill>
                <a:latin typeface="Calibri"/>
              </a:rPr>
              <a:t> değişir.</a:t>
            </a:r>
          </a:p>
        </p:txBody>
      </p:sp>
      <p:sp>
        <p:nvSpPr>
          <p:cNvPr id="7" name="Rounded Rectangle 6"/>
          <p:cNvSpPr/>
          <p:nvPr/>
        </p:nvSpPr>
        <p:spPr>
          <a:xfrm>
            <a:off x="502920" y="2679192"/>
            <a:ext cx="5455767" cy="210312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2679192"/>
            <a:ext cx="5455767" cy="530352"/>
          </a:xfrm>
          <a:prstGeom prst="roundRect">
            <a:avLst>
              <a:gd name="adj" fmla="val 25000"/>
            </a:avLst>
          </a:prstGeom>
          <a:solidFill>
            <a:srgbClr val="3E7D3A"/>
          </a:solidFill>
          <a:ln>
            <a:noFill/>
          </a:ln>
          <a:effectLst/>
        </p:spPr>
        <p:txBody>
          <a:bodyPr rtlCol="0" anchor="ctr"/>
          <a:lstStyle/>
          <a:p/>
        </p:txBody>
      </p:sp>
      <p:sp>
        <p:nvSpPr>
          <p:cNvPr id="9" name="Rectangle 8"/>
          <p:cNvSpPr/>
          <p:nvPr/>
        </p:nvSpPr>
        <p:spPr>
          <a:xfrm>
            <a:off x="502920" y="2944368"/>
            <a:ext cx="5455767" cy="265176"/>
          </a:xfrm>
          <a:prstGeom prst="rect">
            <a:avLst/>
          </a:prstGeom>
          <a:solidFill>
            <a:srgbClr val="3E7D3A"/>
          </a:solidFill>
          <a:ln>
            <a:noFill/>
          </a:ln>
          <a:effectLst/>
        </p:spPr>
        <p:txBody>
          <a:bodyPr rtlCol="0" anchor="ctr"/>
          <a:lstStyle/>
          <a:p/>
        </p:txBody>
      </p:sp>
      <p:sp>
        <p:nvSpPr>
          <p:cNvPr id="10" name="TextBox 9"/>
          <p:cNvSpPr txBox="1"/>
          <p:nvPr/>
        </p:nvSpPr>
        <p:spPr>
          <a:xfrm>
            <a:off x="594360" y="267919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Önerme 1 · doğal şekilsel bölge</a:t>
            </a:r>
          </a:p>
        </p:txBody>
      </p:sp>
      <p:sp>
        <p:nvSpPr>
          <p:cNvPr id="11" name="TextBox 10"/>
          <p:cNvSpPr txBox="1"/>
          <p:nvPr/>
        </p:nvSpPr>
        <p:spPr>
          <a:xfrm>
            <a:off x="612648" y="3282696"/>
            <a:ext cx="5236311" cy="1426464"/>
          </a:xfrm>
          <a:prstGeom prst="rect">
            <a:avLst/>
          </a:prstGeom>
          <a:noFill/>
        </p:spPr>
        <p:txBody>
          <a:bodyPr wrap="square" anchor="t" lIns="73152" rIns="73152" tIns="36576" bIns="36576">
            <a:noAutofit/>
          </a:bodyPr>
          <a:lstStyle/>
          <a:p>
            <a:pPr algn="l" marL="310775" indent="-310775">
              <a:spcBef>
                <a:spcPts val="0"/>
              </a:spcBef>
              <a:spcAft>
                <a:spcPts val="600"/>
              </a:spcAft>
            </a:pPr>
            <a:r>
              <a:rPr lang="tr-TR" sz="2500" b="1" i="0">
                <a:solidFill>
                  <a:srgbClr val="3E7D3A"/>
                </a:solidFill>
                <a:latin typeface="Calibri"/>
              </a:rPr>
              <a:t>•  </a:t>
            </a:r>
            <a:r>
              <a:rPr lang="tr-TR" sz="2500" b="0" i="0">
                <a:solidFill>
                  <a:srgbClr val="262626"/>
                </a:solidFill>
                <a:latin typeface="Calibri"/>
              </a:rPr>
              <a:t>kriter: iklim, bitki, yer şekli, su …</a:t>
            </a:r>
          </a:p>
          <a:p>
            <a:pPr algn="l" marL="310775" indent="-310775">
              <a:spcBef>
                <a:spcPts val="0"/>
              </a:spcBef>
              <a:spcAft>
                <a:spcPts val="0"/>
              </a:spcAft>
            </a:pPr>
            <a:r>
              <a:rPr lang="tr-TR" sz="2500" b="1" i="0">
                <a:solidFill>
                  <a:srgbClr val="3E7D3A"/>
                </a:solidFill>
                <a:latin typeface="Calibri"/>
              </a:rPr>
              <a:t>•  </a:t>
            </a:r>
            <a:r>
              <a:rPr lang="tr-TR" sz="2500" b="0" i="0">
                <a:solidFill>
                  <a:srgbClr val="262626"/>
                </a:solidFill>
                <a:latin typeface="Calibri"/>
              </a:rPr>
              <a:t>süre: kısa mı, uzun mu?</a:t>
            </a:r>
          </a:p>
        </p:txBody>
      </p:sp>
      <p:sp>
        <p:nvSpPr>
          <p:cNvPr id="12" name="Rounded Rectangle 11"/>
          <p:cNvSpPr/>
          <p:nvPr/>
        </p:nvSpPr>
        <p:spPr>
          <a:xfrm>
            <a:off x="6233007" y="2679192"/>
            <a:ext cx="5455767" cy="210312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6233007" y="2679192"/>
            <a:ext cx="5455767" cy="530352"/>
          </a:xfrm>
          <a:prstGeom prst="roundRect">
            <a:avLst>
              <a:gd name="adj" fmla="val 25000"/>
            </a:avLst>
          </a:prstGeom>
          <a:solidFill>
            <a:srgbClr val="B05A1E"/>
          </a:solidFill>
          <a:ln>
            <a:noFill/>
          </a:ln>
          <a:effectLst/>
        </p:spPr>
        <p:txBody>
          <a:bodyPr rtlCol="0" anchor="ctr"/>
          <a:lstStyle/>
          <a:p/>
        </p:txBody>
      </p:sp>
      <p:sp>
        <p:nvSpPr>
          <p:cNvPr id="14" name="Rectangle 13"/>
          <p:cNvSpPr/>
          <p:nvPr/>
        </p:nvSpPr>
        <p:spPr>
          <a:xfrm>
            <a:off x="6233007" y="2944368"/>
            <a:ext cx="5455767" cy="265176"/>
          </a:xfrm>
          <a:prstGeom prst="rect">
            <a:avLst/>
          </a:prstGeom>
          <a:solidFill>
            <a:srgbClr val="B05A1E"/>
          </a:solidFill>
          <a:ln>
            <a:noFill/>
          </a:ln>
          <a:effectLst/>
        </p:spPr>
        <p:txBody>
          <a:bodyPr rtlCol="0" anchor="ctr"/>
          <a:lstStyle/>
          <a:p/>
        </p:txBody>
      </p:sp>
      <p:sp>
        <p:nvSpPr>
          <p:cNvPr id="15" name="TextBox 14"/>
          <p:cNvSpPr txBox="1"/>
          <p:nvPr/>
        </p:nvSpPr>
        <p:spPr>
          <a:xfrm>
            <a:off x="6324447" y="267919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Önerme 2 · beşerî şekilsel ya da işlevsel</a:t>
            </a:r>
          </a:p>
        </p:txBody>
      </p:sp>
      <p:sp>
        <p:nvSpPr>
          <p:cNvPr id="16" name="TextBox 15"/>
          <p:cNvSpPr txBox="1"/>
          <p:nvPr/>
        </p:nvSpPr>
        <p:spPr>
          <a:xfrm>
            <a:off x="6342735" y="3282696"/>
            <a:ext cx="5236311" cy="1426464"/>
          </a:xfrm>
          <a:prstGeom prst="rect">
            <a:avLst/>
          </a:prstGeom>
          <a:noFill/>
        </p:spPr>
        <p:txBody>
          <a:bodyPr wrap="square" anchor="t" lIns="73152" rIns="73152" tIns="36576" bIns="36576">
            <a:noAutofit/>
          </a:bodyPr>
          <a:lstStyle/>
          <a:p>
            <a:pPr algn="l" marL="310775" indent="-310775">
              <a:spcBef>
                <a:spcPts val="0"/>
              </a:spcBef>
              <a:spcAft>
                <a:spcPts val="600"/>
              </a:spcAft>
            </a:pPr>
            <a:r>
              <a:rPr lang="tr-TR" sz="2500" b="1" i="0">
                <a:solidFill>
                  <a:srgbClr val="B05A1E"/>
                </a:solidFill>
                <a:latin typeface="Calibri"/>
              </a:rPr>
              <a:t>•  </a:t>
            </a:r>
            <a:r>
              <a:rPr lang="tr-TR" sz="2500" b="0" i="0">
                <a:solidFill>
                  <a:srgbClr val="262626"/>
                </a:solidFill>
                <a:latin typeface="Calibri"/>
              </a:rPr>
              <a:t>kriter: nüfus, üretim, hizmet, merkez …</a:t>
            </a:r>
          </a:p>
          <a:p>
            <a:pPr algn="l" marL="310775" indent="-310775">
              <a:spcBef>
                <a:spcPts val="0"/>
              </a:spcBef>
              <a:spcAft>
                <a:spcPts val="0"/>
              </a:spcAft>
            </a:pPr>
            <a:r>
              <a:rPr lang="tr-TR" sz="2500" b="1" i="0">
                <a:solidFill>
                  <a:srgbClr val="B05A1E"/>
                </a:solidFill>
                <a:latin typeface="Calibri"/>
              </a:rPr>
              <a:t>•  </a:t>
            </a:r>
            <a:r>
              <a:rPr lang="tr-TR" sz="2500" b="0" i="0">
                <a:solidFill>
                  <a:srgbClr val="262626"/>
                </a:solidFill>
                <a:latin typeface="Calibri"/>
              </a:rPr>
              <a:t>süre: kısa mı, uzun mu?</a:t>
            </a:r>
          </a:p>
        </p:txBody>
      </p:sp>
      <p:sp>
        <p:nvSpPr>
          <p:cNvPr id="17" name="Rounded Rectangle 16"/>
          <p:cNvSpPr/>
          <p:nvPr/>
        </p:nvSpPr>
        <p:spPr>
          <a:xfrm>
            <a:off x="502920" y="5193792"/>
            <a:ext cx="11185855" cy="10515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İpucu (Çevre ve İklim Değişikliği Haftası): İklim değişirse iklim bölgelerinin sınırı değişir mi? Ne kadar sürede?</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80 / 187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Önerme kuralım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43584"/>
            <a:ext cx="2377440" cy="1298448"/>
          </a:xfrm>
          <a:prstGeom prst="roundRect">
            <a:avLst>
              <a:gd name="adj" fmla="val 8000"/>
            </a:avLst>
          </a:prstGeom>
          <a:solidFill>
            <a:srgbClr val="3E7D3A"/>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Doğal şekilsel · uzun</a:t>
            </a:r>
          </a:p>
        </p:txBody>
      </p:sp>
      <p:sp>
        <p:nvSpPr>
          <p:cNvPr id="7" name="Rounded Rectangle 6"/>
          <p:cNvSpPr/>
          <p:nvPr/>
        </p:nvSpPr>
        <p:spPr>
          <a:xfrm>
            <a:off x="3017520" y="1243584"/>
            <a:ext cx="8671255" cy="1298448"/>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l">
              <a:spcBef>
                <a:spcPts val="0"/>
              </a:spcBef>
              <a:spcAft>
                <a:spcPts val="0"/>
              </a:spcAft>
            </a:pPr>
            <a:r>
              <a:rPr lang="tr-TR" sz="2400" b="0" i="0">
                <a:solidFill>
                  <a:srgbClr val="262626"/>
                </a:solidFill>
                <a:latin typeface="Calibri"/>
              </a:rPr>
              <a:t>“Eğer bir alanda sıcaklık ve yağış koşulları uzun süre değişirse o alanın iklim bölgesinin sınırı değişir.”</a:t>
            </a:r>
          </a:p>
        </p:txBody>
      </p:sp>
      <p:sp>
        <p:nvSpPr>
          <p:cNvPr id="8" name="Rounded Rectangle 7"/>
          <p:cNvSpPr/>
          <p:nvPr/>
        </p:nvSpPr>
        <p:spPr>
          <a:xfrm>
            <a:off x="502920" y="2651760"/>
            <a:ext cx="2377440" cy="1298448"/>
          </a:xfrm>
          <a:prstGeom prst="roundRect">
            <a:avLst>
              <a:gd name="adj" fmla="val 8000"/>
            </a:avLst>
          </a:prstGeom>
          <a:solidFill>
            <a:srgbClr val="B05A1E"/>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Beşerî şekilsel · daha kısa</a:t>
            </a:r>
          </a:p>
        </p:txBody>
      </p:sp>
      <p:sp>
        <p:nvSpPr>
          <p:cNvPr id="9" name="Rounded Rectangle 8"/>
          <p:cNvSpPr/>
          <p:nvPr/>
        </p:nvSpPr>
        <p:spPr>
          <a:xfrm>
            <a:off x="3017520" y="2651760"/>
            <a:ext cx="8671255" cy="1298448"/>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l">
              <a:spcBef>
                <a:spcPts val="0"/>
              </a:spcBef>
              <a:spcAft>
                <a:spcPts val="0"/>
              </a:spcAft>
            </a:pPr>
            <a:r>
              <a:rPr lang="tr-TR" sz="2400" b="0" i="0">
                <a:solidFill>
                  <a:srgbClr val="262626"/>
                </a:solidFill>
                <a:latin typeface="Calibri"/>
              </a:rPr>
              <a:t>“Eğer seyrek nüfuslu bir yer nüfusun toplanma alanı hâline gelirse yoğun nüfuslu bölgenin sınırı genişler.”</a:t>
            </a:r>
          </a:p>
        </p:txBody>
      </p:sp>
      <p:sp>
        <p:nvSpPr>
          <p:cNvPr id="10" name="Rounded Rectangle 9"/>
          <p:cNvSpPr/>
          <p:nvPr/>
        </p:nvSpPr>
        <p:spPr>
          <a:xfrm>
            <a:off x="502920" y="4059936"/>
            <a:ext cx="2377440" cy="1298448"/>
          </a:xfrm>
          <a:prstGeom prst="roundRect">
            <a:avLst>
              <a:gd name="adj" fmla="val 8000"/>
            </a:avLst>
          </a:prstGeom>
          <a:solidFill>
            <a:srgbClr val="1F6EA8"/>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İşlevsel · kısa</a:t>
            </a:r>
          </a:p>
        </p:txBody>
      </p:sp>
      <p:sp>
        <p:nvSpPr>
          <p:cNvPr id="11" name="Rounded Rectangle 10"/>
          <p:cNvSpPr/>
          <p:nvPr/>
        </p:nvSpPr>
        <p:spPr>
          <a:xfrm>
            <a:off x="3017520" y="4059936"/>
            <a:ext cx="8671255" cy="1298448"/>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l">
              <a:spcBef>
                <a:spcPts val="0"/>
              </a:spcBef>
              <a:spcAft>
                <a:spcPts val="0"/>
              </a:spcAft>
            </a:pPr>
            <a:r>
              <a:rPr lang="tr-TR" sz="2400" b="0" i="0">
                <a:solidFill>
                  <a:srgbClr val="262626"/>
                </a:solidFill>
                <a:latin typeface="Calibri"/>
              </a:rPr>
              <a:t>“Eğer bir şehre yeni bir havaalanı açılırsa o şehrin işlevsel bölgesinin sınırı genişleyebilir.”</a:t>
            </a:r>
          </a:p>
        </p:txBody>
      </p:sp>
      <p:sp>
        <p:nvSpPr>
          <p:cNvPr id="12" name="Rounded Rectangle 11"/>
          <p:cNvSpPr/>
          <p:nvPr/>
        </p:nvSpPr>
        <p:spPr>
          <a:xfrm>
            <a:off x="502920" y="5513832"/>
            <a:ext cx="11185855" cy="77724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Ölçüt: </a:t>
            </a:r>
            <a:r>
              <a:rPr lang="tr-TR" sz="2000" b="1" i="0">
                <a:solidFill>
                  <a:srgbClr val="262626"/>
                </a:solidFill>
                <a:latin typeface="Calibri"/>
              </a:rPr>
              <a:t>kriter açık</a:t>
            </a:r>
            <a:r>
              <a:rPr lang="tr-TR" sz="2000" b="0" i="0">
                <a:solidFill>
                  <a:srgbClr val="262626"/>
                </a:solidFill>
                <a:latin typeface="Calibri"/>
              </a:rPr>
              <a:t> · </a:t>
            </a:r>
            <a:r>
              <a:rPr lang="tr-TR" sz="2000" b="1" i="0">
                <a:solidFill>
                  <a:srgbClr val="262626"/>
                </a:solidFill>
                <a:latin typeface="Calibri"/>
              </a:rPr>
              <a:t>neden-sonuç tutarlı</a:t>
            </a:r>
            <a:r>
              <a:rPr lang="tr-TR" sz="2000" b="0" i="0">
                <a:solidFill>
                  <a:srgbClr val="262626"/>
                </a:solidFill>
                <a:latin typeface="Calibri"/>
              </a:rPr>
              <a:t> · </a:t>
            </a:r>
            <a:r>
              <a:rPr lang="tr-TR" sz="2000" b="1" i="0">
                <a:solidFill>
                  <a:srgbClr val="262626"/>
                </a:solidFill>
                <a:latin typeface="Calibri"/>
              </a:rPr>
              <a:t>süre bölge türüne uygun</a:t>
            </a:r>
            <a:r>
              <a:rPr lang="tr-TR" sz="2000" b="0" i="0">
                <a:solidFill>
                  <a:srgbClr val="262626"/>
                </a:solidFill>
                <a:latin typeface="Calibri"/>
              </a:rPr>
              <a:t> (s. 223)</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223</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81 / 187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Önermeyi değerlendir: katılıyor musun?</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DEĞERLENDİR</a:t>
            </a:r>
          </a:p>
        </p:txBody>
      </p:sp>
      <p:sp>
        <p:nvSpPr>
          <p:cNvPr id="6" name="Rounded Rectangle 5"/>
          <p:cNvSpPr/>
          <p:nvPr/>
        </p:nvSpPr>
        <p:spPr>
          <a:xfrm>
            <a:off x="502920" y="1307592"/>
            <a:ext cx="11185855" cy="146304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600" b="1" i="0">
                <a:solidFill>
                  <a:srgbClr val="262626"/>
                </a:solidFill>
                <a:latin typeface="Calibri"/>
              </a:rPr>
              <a:t>“Eğer bir dağın eteğine yeni bir yol yapılırsa Alp-Himalaya Dağlık Bölgesi’nin sınırı birkaç yıl içinde değişir.”</a:t>
            </a:r>
          </a:p>
        </p:txBody>
      </p:sp>
      <p:sp>
        <p:nvSpPr>
          <p:cNvPr id="7" name="Oval 6"/>
          <p:cNvSpPr/>
          <p:nvPr/>
        </p:nvSpPr>
        <p:spPr>
          <a:xfrm>
            <a:off x="1998421" y="3044951"/>
            <a:ext cx="585216" cy="58521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1</a:t>
            </a:r>
          </a:p>
        </p:txBody>
      </p:sp>
      <p:sp>
        <p:nvSpPr>
          <p:cNvPr id="8" name="Rounded Rectangle 7"/>
          <p:cNvSpPr/>
          <p:nvPr/>
        </p:nvSpPr>
        <p:spPr>
          <a:xfrm>
            <a:off x="502920" y="3730752"/>
            <a:ext cx="3576218" cy="13716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200" b="0" i="0">
                <a:solidFill>
                  <a:srgbClr val="262626"/>
                </a:solidFill>
                <a:latin typeface="Calibri"/>
              </a:rPr>
              <a:t>Kriter ne? Bu kriter yolla değişir mi?</a:t>
            </a:r>
          </a:p>
        </p:txBody>
      </p:sp>
      <p:sp>
        <p:nvSpPr>
          <p:cNvPr id="9" name="Oval 8"/>
          <p:cNvSpPr/>
          <p:nvPr/>
        </p:nvSpPr>
        <p:spPr>
          <a:xfrm>
            <a:off x="5803239" y="3044951"/>
            <a:ext cx="585216" cy="58521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2</a:t>
            </a:r>
          </a:p>
        </p:txBody>
      </p:sp>
      <p:sp>
        <p:nvSpPr>
          <p:cNvPr id="10" name="Rounded Rectangle 9"/>
          <p:cNvSpPr/>
          <p:nvPr/>
        </p:nvSpPr>
        <p:spPr>
          <a:xfrm>
            <a:off x="4307738" y="3730752"/>
            <a:ext cx="3576218" cy="13716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200" b="0" i="0">
                <a:solidFill>
                  <a:srgbClr val="262626"/>
                </a:solidFill>
                <a:latin typeface="Calibri"/>
              </a:rPr>
              <a:t>Neden-sonuç tutarlı mı?</a:t>
            </a:r>
          </a:p>
        </p:txBody>
      </p:sp>
      <p:sp>
        <p:nvSpPr>
          <p:cNvPr id="11" name="Oval 10"/>
          <p:cNvSpPr/>
          <p:nvPr/>
        </p:nvSpPr>
        <p:spPr>
          <a:xfrm>
            <a:off x="9608057" y="3044951"/>
            <a:ext cx="585216" cy="585216"/>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3</a:t>
            </a:r>
          </a:p>
        </p:txBody>
      </p:sp>
      <p:sp>
        <p:nvSpPr>
          <p:cNvPr id="12" name="Rounded Rectangle 11"/>
          <p:cNvSpPr/>
          <p:nvPr/>
        </p:nvSpPr>
        <p:spPr>
          <a:xfrm>
            <a:off x="8112556" y="3730752"/>
            <a:ext cx="3576218" cy="13716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200" b="0" i="0">
                <a:solidFill>
                  <a:srgbClr val="262626"/>
                </a:solidFill>
                <a:latin typeface="Calibri"/>
              </a:rPr>
              <a:t>Süre bu bölge türüne uygun mu?</a:t>
            </a:r>
          </a:p>
        </p:txBody>
      </p:sp>
      <p:sp>
        <p:nvSpPr>
          <p:cNvPr id="13" name="Rounded Rectangle 12"/>
          <p:cNvSpPr/>
          <p:nvPr/>
        </p:nvSpPr>
        <p:spPr>
          <a:xfrm>
            <a:off x="502920" y="5513832"/>
            <a:ext cx="11185855" cy="73152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200" b="0" i="0">
                <a:solidFill>
                  <a:srgbClr val="262626"/>
                </a:solidFill>
                <a:latin typeface="Calibri"/>
              </a:rPr>
              <a:t>Başparmak yukarı: katılıyorum · aşağı: katılmıyorum — </a:t>
            </a:r>
            <a:r>
              <a:rPr lang="tr-TR" sz="2200" b="1" i="0">
                <a:solidFill>
                  <a:srgbClr val="262626"/>
                </a:solidFill>
                <a:latin typeface="Calibri"/>
              </a:rPr>
              <a:t>gerekçeni söyle</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82 / 187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Önermeyi değerlendir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61872"/>
            <a:ext cx="11185855" cy="685800"/>
          </a:xfrm>
          <a:prstGeom prst="roundRect">
            <a:avLst>
              <a:gd name="adj" fmla="val 8000"/>
            </a:avLst>
          </a:prstGeom>
          <a:solidFill>
            <a:srgbClr val="E3F1E4"/>
          </a:solidFill>
          <a:ln>
            <a:noFill/>
          </a:ln>
          <a:effectLst/>
        </p:spPr>
        <p:txBody>
          <a:bodyPr rtlCol="0" anchor="ctr" wrap="square" lIns="128016" rIns="128016" tIns="73152" bIns="73152">
            <a:noAutofit/>
          </a:bodyPr>
          <a:lstStyle/>
          <a:p>
            <a:pPr algn="ctr">
              <a:spcBef>
                <a:spcPts val="0"/>
              </a:spcBef>
              <a:spcAft>
                <a:spcPts val="0"/>
              </a:spcAft>
            </a:pPr>
            <a:r>
              <a:rPr lang="tr-TR" sz="2600" b="1" i="0">
                <a:solidFill>
                  <a:srgbClr val="2E7D32"/>
                </a:solidFill>
                <a:latin typeface="Calibri"/>
              </a:rPr>
              <a:t>Katılmıyorum</a:t>
            </a:r>
          </a:p>
        </p:txBody>
      </p:sp>
      <p:sp>
        <p:nvSpPr>
          <p:cNvPr id="7" name="Oval 6"/>
          <p:cNvSpPr/>
          <p:nvPr/>
        </p:nvSpPr>
        <p:spPr>
          <a:xfrm>
            <a:off x="2044141" y="2084832"/>
            <a:ext cx="493776" cy="493776"/>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1</a:t>
            </a:r>
          </a:p>
        </p:txBody>
      </p:sp>
      <p:sp>
        <p:nvSpPr>
          <p:cNvPr id="8" name="Rounded Rectangle 7"/>
          <p:cNvSpPr/>
          <p:nvPr/>
        </p:nvSpPr>
        <p:spPr>
          <a:xfrm>
            <a:off x="502920" y="2679192"/>
            <a:ext cx="3576218" cy="18288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100" b="0" i="0">
                <a:solidFill>
                  <a:srgbClr val="262626"/>
                </a:solidFill>
                <a:latin typeface="Calibri"/>
              </a:rPr>
              <a:t>Kriter yer şeklidir; yol yer şeklini değil, ulaşımı değiştirir.</a:t>
            </a:r>
          </a:p>
        </p:txBody>
      </p:sp>
      <p:sp>
        <p:nvSpPr>
          <p:cNvPr id="9" name="Oval 8"/>
          <p:cNvSpPr/>
          <p:nvPr/>
        </p:nvSpPr>
        <p:spPr>
          <a:xfrm>
            <a:off x="5848959" y="2084832"/>
            <a:ext cx="493776" cy="493776"/>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2</a:t>
            </a:r>
          </a:p>
        </p:txBody>
      </p:sp>
      <p:sp>
        <p:nvSpPr>
          <p:cNvPr id="10" name="Rounded Rectangle 9"/>
          <p:cNvSpPr/>
          <p:nvPr/>
        </p:nvSpPr>
        <p:spPr>
          <a:xfrm>
            <a:off x="4307738" y="2679192"/>
            <a:ext cx="3576218" cy="18288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100" b="0" i="0">
                <a:solidFill>
                  <a:srgbClr val="262626"/>
                </a:solidFill>
                <a:latin typeface="Calibri"/>
              </a:rPr>
              <a:t>Yol ile dağlık bölgenin sınırı arasında neden-sonuç bağı yok.</a:t>
            </a:r>
          </a:p>
        </p:txBody>
      </p:sp>
      <p:sp>
        <p:nvSpPr>
          <p:cNvPr id="11" name="Oval 10"/>
          <p:cNvSpPr/>
          <p:nvPr/>
        </p:nvSpPr>
        <p:spPr>
          <a:xfrm>
            <a:off x="9653777" y="2084832"/>
            <a:ext cx="493776" cy="493776"/>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3</a:t>
            </a:r>
          </a:p>
        </p:txBody>
      </p:sp>
      <p:sp>
        <p:nvSpPr>
          <p:cNvPr id="12" name="Rounded Rectangle 11"/>
          <p:cNvSpPr/>
          <p:nvPr/>
        </p:nvSpPr>
        <p:spPr>
          <a:xfrm>
            <a:off x="8112556" y="2679192"/>
            <a:ext cx="3576218" cy="18288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100" b="0" i="0">
                <a:solidFill>
                  <a:srgbClr val="262626"/>
                </a:solidFill>
                <a:latin typeface="Calibri"/>
              </a:rPr>
              <a:t>Doğal şekilsel bölgenin sınırı uzun zamanda değişir; “birkaç yıl” uymaz.</a:t>
            </a:r>
          </a:p>
        </p:txBody>
      </p:sp>
      <p:sp>
        <p:nvSpPr>
          <p:cNvPr id="13" name="Rounded Rectangle 12"/>
          <p:cNvSpPr/>
          <p:nvPr/>
        </p:nvSpPr>
        <p:spPr>
          <a:xfrm>
            <a:off x="502920" y="4690872"/>
            <a:ext cx="11185855" cy="1600200"/>
          </a:xfrm>
          <a:prstGeom prst="roundRect">
            <a:avLst>
              <a:gd name="adj" fmla="val 6000"/>
            </a:avLst>
          </a:prstGeom>
          <a:solidFill>
            <a:srgbClr val="E3F1E4"/>
          </a:solidFill>
          <a:ln>
            <a:noFill/>
          </a:ln>
          <a:effectLst/>
        </p:spPr>
        <p:txBody>
          <a:bodyPr rtlCol="0" anchor="ctr"/>
          <a:lstStyle/>
          <a:p/>
        </p:txBody>
      </p:sp>
      <p:sp>
        <p:nvSpPr>
          <p:cNvPr id="14" name="Rectangle 13"/>
          <p:cNvSpPr/>
          <p:nvPr/>
        </p:nvSpPr>
        <p:spPr>
          <a:xfrm>
            <a:off x="502920" y="4690872"/>
            <a:ext cx="109728" cy="1600200"/>
          </a:xfrm>
          <a:prstGeom prst="rect">
            <a:avLst/>
          </a:prstGeom>
          <a:solidFill>
            <a:srgbClr val="2E7D32"/>
          </a:solidFill>
          <a:ln>
            <a:noFill/>
          </a:ln>
          <a:effectLst/>
        </p:spPr>
        <p:txBody>
          <a:bodyPr rtlCol="0" anchor="ctr"/>
          <a:lstStyle/>
          <a:p/>
        </p:txBody>
      </p:sp>
      <p:sp>
        <p:nvSpPr>
          <p:cNvPr id="15" name="TextBox 14"/>
          <p:cNvSpPr txBox="1"/>
          <p:nvPr/>
        </p:nvSpPr>
        <p:spPr>
          <a:xfrm>
            <a:off x="731520" y="4745736"/>
            <a:ext cx="10865815" cy="149047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2E7D32"/>
                </a:solidFill>
                <a:latin typeface="Calibri"/>
              </a:rPr>
              <a:t>Düzeltilmiş önerme</a:t>
            </a:r>
          </a:p>
          <a:p>
            <a:pPr algn="l">
              <a:spcBef>
                <a:spcPts val="0"/>
              </a:spcBef>
              <a:spcAft>
                <a:spcPts val="0"/>
              </a:spcAft>
            </a:pPr>
            <a:r>
              <a:rPr lang="tr-TR" sz="2100" b="0" i="0">
                <a:solidFill>
                  <a:srgbClr val="262626"/>
                </a:solidFill>
                <a:latin typeface="Calibri"/>
              </a:rPr>
              <a:t>“Eğer dağın eteğine yeni bir yol yapılırsa yakındaki şehrin işlevsel bölgesinin sınırı genişleyebilir.” (kısa sürede)</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83 / 187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6</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 bölgelerden hangisinin sınırı daha uzun bir zaman diliminde değişir?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Günlük bir gazetenin tiraj alanı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Orta Toroslar dağlık bölgesi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Türkiye’nin pamuk üretim bölgeleri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 şehrin metropoliten alanı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Türkiye’nin seyrek nüfuslu bölgeleri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84 / 187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6</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 bölgelerden hangisinin sınırı daha uzun bir zaman diliminde değişir?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Günlük bir gazetenin tiraj alanı</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Orta Toroslar dağlık bölgesi</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Türkiye’nin pamuk üretim bölgeleri</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Bir şehrin metropoliten alanı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Türkiye’nin seyrek nüfuslu bölgeleri</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Orta Toroslar dağlık bölgesi yer şekline göre belirlenen doğal şekilsel bölgedir (s. 219); doğal şekilsel bölgelerin sınırları daha uzun bir zaman diliminde değişir (s. 223).</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223</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85 / 187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Gruplara geçiş: atlas ve setler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2A5D8F"/>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tabloyu doldurur.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2A5D8F"/>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2A5D8F"/>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tabloyu ve grafiği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2A5D8F"/>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2A5D8F"/>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KONTROLCÜ</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kaynağı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2A5D8F"/>
                </a:solidFill>
                <a:latin typeface="Calibri"/>
              </a:rPr>
              <a:t>Malzeme sorumlusu: atlas, Avrupa dilsiz haritası, performans seti (yaprak, aydınger, kalem)</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86 / 187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Bölge Sınırlarının Değişimi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Rounded Rectangle 5"/>
          <p:cNvSpPr/>
          <p:nvPr/>
        </p:nvSpPr>
        <p:spPr>
          <a:xfrm>
            <a:off x="502920" y="1216152"/>
            <a:ext cx="11185855" cy="100584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7548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7548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Bölge sınırlarındaki değişimlerin nedenlerini değerlendirebilme</a:t>
            </a:r>
          </a:p>
        </p:txBody>
      </p:sp>
      <p:sp>
        <p:nvSpPr>
          <p:cNvPr id="9" name="TextBox 8"/>
          <p:cNvSpPr txBox="1"/>
          <p:nvPr/>
        </p:nvSpPr>
        <p:spPr>
          <a:xfrm>
            <a:off x="640080" y="1719072"/>
            <a:ext cx="1143000" cy="44805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719072"/>
            <a:ext cx="9722815" cy="448056"/>
          </a:xfrm>
          <a:prstGeom prst="rect">
            <a:avLst/>
          </a:prstGeom>
          <a:noFill/>
        </p:spPr>
        <p:txBody>
          <a:bodyPr wrap="square" anchor="ctr" lIns="73152" rIns="73152" tIns="36576" bIns="36576">
            <a:noAutofit/>
          </a:bodyPr>
          <a:lstStyle/>
          <a:p>
            <a:pPr algn="l">
              <a:spcBef>
                <a:spcPts val="0"/>
              </a:spcBef>
              <a:spcAft>
                <a:spcPts val="0"/>
              </a:spcAft>
            </a:pPr>
            <a:r>
              <a:rPr lang="tr-TR" sz="1700" b="0" i="1">
                <a:solidFill>
                  <a:srgbClr val="262626"/>
                </a:solidFill>
                <a:latin typeface="Calibri"/>
              </a:rPr>
              <a:t>Çıkarım Yapma, İletişim, Zamanı Algılama ve Kronolojik Düşünme, Değişim ve Sürekliliği Algılama, Harita</a:t>
            </a:r>
          </a:p>
        </p:txBody>
      </p:sp>
      <p:sp>
        <p:nvSpPr>
          <p:cNvPr id="11" name="TextBox 10"/>
          <p:cNvSpPr txBox="1"/>
          <p:nvPr/>
        </p:nvSpPr>
        <p:spPr>
          <a:xfrm>
            <a:off x="502920" y="2267712"/>
            <a:ext cx="11185855"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Yönerge:</a:t>
            </a:r>
            <a:r>
              <a:rPr lang="tr-TR" sz="1900" b="0" i="0">
                <a:solidFill>
                  <a:srgbClr val="262626"/>
                </a:solidFill>
                <a:latin typeface="Calibri"/>
              </a:rPr>
              <a:t> Aşağıdaki metinlerden ve atlaslarınızdan yararlanarak bahsi geçen dönemlerde Avrupa Birliği’ne üye olan ülkeleri harita üzerinde gösteriniz.</a:t>
            </a:r>
          </a:p>
        </p:txBody>
      </p:sp>
      <p:sp>
        <p:nvSpPr>
          <p:cNvPr id="12" name="Rounded Rectangle 11"/>
          <p:cNvSpPr/>
          <p:nvPr/>
        </p:nvSpPr>
        <p:spPr>
          <a:xfrm>
            <a:off x="502920" y="3044952"/>
            <a:ext cx="11185855" cy="118872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3044952"/>
            <a:ext cx="118872" cy="1188720"/>
          </a:xfrm>
          <a:prstGeom prst="rect">
            <a:avLst/>
          </a:prstGeom>
          <a:solidFill>
            <a:srgbClr val="2A5D8F"/>
          </a:solidFill>
          <a:ln>
            <a:noFill/>
          </a:ln>
          <a:effectLst/>
        </p:spPr>
        <p:txBody>
          <a:bodyPr rtlCol="0" anchor="ctr"/>
          <a:lstStyle/>
          <a:p/>
        </p:txBody>
      </p:sp>
      <p:sp>
        <p:nvSpPr>
          <p:cNvPr id="14" name="TextBox 13"/>
          <p:cNvSpPr txBox="1"/>
          <p:nvPr/>
        </p:nvSpPr>
        <p:spPr>
          <a:xfrm>
            <a:off x="777240" y="3044952"/>
            <a:ext cx="10774375" cy="11887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Avrupa ülkeleri yüzyıllarca birbiriyle savaşmış ve büyük yıkımlara uğramıştır. İkinci Dünya Savaşı sonrasında Avrupa’da savaşların sona ermesi ve barışın sürdürülebilmesinin tek yolunun ülkelerin ekonomik ve siyasi yönden birleşmesiyle mümkün olacağı fikri ortaya çıkmıştır.</a:t>
            </a:r>
          </a:p>
        </p:txBody>
      </p:sp>
      <p:sp>
        <p:nvSpPr>
          <p:cNvPr id="15" name="Rounded Rectangle 14"/>
          <p:cNvSpPr/>
          <p:nvPr/>
        </p:nvSpPr>
        <p:spPr>
          <a:xfrm>
            <a:off x="502920" y="4370832"/>
            <a:ext cx="3576218" cy="1920240"/>
          </a:xfrm>
          <a:prstGeom prst="roundRect">
            <a:avLst>
              <a:gd name="adj" fmla="val 8000"/>
            </a:avLst>
          </a:prstGeom>
          <a:solidFill>
            <a:srgbClr val="1F4E8C"/>
          </a:solidFill>
          <a:ln>
            <a:noFill/>
          </a:ln>
          <a:effectLst/>
        </p:spPr>
        <p:txBody>
          <a:bodyPr rtlCol="0" anchor="ctr" wrap="square" lIns="128016" rIns="128016" tIns="73152" bIns="73152">
            <a:noAutofit/>
          </a:bodyPr>
          <a:lstStyle/>
          <a:p>
            <a:pPr algn="ctr">
              <a:spcBef>
                <a:spcPts val="0"/>
              </a:spcBef>
              <a:spcAft>
                <a:spcPts val="200"/>
              </a:spcAft>
            </a:pPr>
            <a:r>
              <a:rPr lang="tr-TR" sz="1800" b="0" i="0">
                <a:solidFill>
                  <a:srgbClr val="FFFFFF"/>
                </a:solidFill>
                <a:latin typeface="Calibri"/>
              </a:rPr>
              <a:t>Gruplar 1-3</a:t>
            </a:r>
          </a:p>
          <a:p>
            <a:pPr algn="ctr">
              <a:spcBef>
                <a:spcPts val="0"/>
              </a:spcBef>
              <a:spcAft>
                <a:spcPts val="0"/>
              </a:spcAft>
            </a:pPr>
            <a:r>
              <a:rPr lang="tr-TR" sz="2600" b="1" i="0">
                <a:solidFill>
                  <a:srgbClr val="FFFFFF"/>
                </a:solidFill>
                <a:latin typeface="Calibri"/>
              </a:rPr>
              <a:t>1951-1986</a:t>
            </a:r>
          </a:p>
        </p:txBody>
      </p:sp>
      <p:sp>
        <p:nvSpPr>
          <p:cNvPr id="16" name="Rounded Rectangle 15"/>
          <p:cNvSpPr/>
          <p:nvPr/>
        </p:nvSpPr>
        <p:spPr>
          <a:xfrm>
            <a:off x="4307738" y="4370832"/>
            <a:ext cx="3576218" cy="1920240"/>
          </a:xfrm>
          <a:prstGeom prst="roundRect">
            <a:avLst>
              <a:gd name="adj" fmla="val 8000"/>
            </a:avLst>
          </a:prstGeom>
          <a:solidFill>
            <a:srgbClr val="2E8B57"/>
          </a:solidFill>
          <a:ln>
            <a:noFill/>
          </a:ln>
          <a:effectLst/>
        </p:spPr>
        <p:txBody>
          <a:bodyPr rtlCol="0" anchor="ctr" wrap="square" lIns="128016" rIns="128016" tIns="73152" bIns="73152">
            <a:noAutofit/>
          </a:bodyPr>
          <a:lstStyle/>
          <a:p>
            <a:pPr algn="ctr">
              <a:spcBef>
                <a:spcPts val="0"/>
              </a:spcBef>
              <a:spcAft>
                <a:spcPts val="200"/>
              </a:spcAft>
            </a:pPr>
            <a:r>
              <a:rPr lang="tr-TR" sz="1800" b="0" i="0">
                <a:solidFill>
                  <a:srgbClr val="FFFFFF"/>
                </a:solidFill>
                <a:latin typeface="Calibri"/>
              </a:rPr>
              <a:t>Gruplar 4-5</a:t>
            </a:r>
          </a:p>
          <a:p>
            <a:pPr algn="ctr">
              <a:spcBef>
                <a:spcPts val="0"/>
              </a:spcBef>
              <a:spcAft>
                <a:spcPts val="0"/>
              </a:spcAft>
            </a:pPr>
            <a:r>
              <a:rPr lang="tr-TR" sz="2600" b="1" i="0">
                <a:solidFill>
                  <a:srgbClr val="FFFFFF"/>
                </a:solidFill>
                <a:latin typeface="Calibri"/>
              </a:rPr>
              <a:t>1995-2002</a:t>
            </a:r>
          </a:p>
        </p:txBody>
      </p:sp>
      <p:sp>
        <p:nvSpPr>
          <p:cNvPr id="17" name="Rounded Rectangle 16"/>
          <p:cNvSpPr/>
          <p:nvPr/>
        </p:nvSpPr>
        <p:spPr>
          <a:xfrm>
            <a:off x="8112556" y="4370832"/>
            <a:ext cx="3576218" cy="1920240"/>
          </a:xfrm>
          <a:prstGeom prst="roundRect">
            <a:avLst>
              <a:gd name="adj" fmla="val 8000"/>
            </a:avLst>
          </a:prstGeom>
          <a:solidFill>
            <a:srgbClr val="C27C0E"/>
          </a:solidFill>
          <a:ln>
            <a:noFill/>
          </a:ln>
          <a:effectLst/>
        </p:spPr>
        <p:txBody>
          <a:bodyPr rtlCol="0" anchor="ctr" wrap="square" lIns="128016" rIns="128016" tIns="73152" bIns="73152">
            <a:noAutofit/>
          </a:bodyPr>
          <a:lstStyle/>
          <a:p>
            <a:pPr algn="ctr">
              <a:spcBef>
                <a:spcPts val="0"/>
              </a:spcBef>
              <a:spcAft>
                <a:spcPts val="200"/>
              </a:spcAft>
            </a:pPr>
            <a:r>
              <a:rPr lang="tr-TR" sz="1800" b="0" i="0">
                <a:solidFill>
                  <a:srgbClr val="FFFFFF"/>
                </a:solidFill>
                <a:latin typeface="Calibri"/>
              </a:rPr>
              <a:t>Gruplar 6-8</a:t>
            </a:r>
          </a:p>
          <a:p>
            <a:pPr algn="ctr">
              <a:spcBef>
                <a:spcPts val="0"/>
              </a:spcBef>
              <a:spcAft>
                <a:spcPts val="0"/>
              </a:spcAft>
            </a:pPr>
            <a:r>
              <a:rPr lang="tr-TR" sz="2600" b="1" i="0">
                <a:solidFill>
                  <a:srgbClr val="FFFFFF"/>
                </a:solidFill>
                <a:latin typeface="Calibri"/>
              </a:rPr>
              <a:t>2004-2020</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87 / 187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1951-1986 Yılları Arasında Avrupa Kıtasında İlk Örgütlenmeler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GRUP 1-3</a:t>
            </a:r>
          </a:p>
        </p:txBody>
      </p:sp>
      <p:sp>
        <p:nvSpPr>
          <p:cNvPr id="6" name="Rounded Rectangle 5"/>
          <p:cNvSpPr/>
          <p:nvPr/>
        </p:nvSpPr>
        <p:spPr>
          <a:xfrm>
            <a:off x="502920" y="1243584"/>
            <a:ext cx="4800600" cy="5001768"/>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43584"/>
            <a:ext cx="118872" cy="5001768"/>
          </a:xfrm>
          <a:prstGeom prst="rect">
            <a:avLst/>
          </a:prstGeom>
          <a:solidFill>
            <a:srgbClr val="1F4E8C"/>
          </a:solidFill>
          <a:ln>
            <a:noFill/>
          </a:ln>
          <a:effectLst/>
        </p:spPr>
        <p:txBody>
          <a:bodyPr rtlCol="0" anchor="ctr"/>
          <a:lstStyle/>
          <a:p/>
        </p:txBody>
      </p:sp>
      <p:sp>
        <p:nvSpPr>
          <p:cNvPr id="8" name="TextBox 7"/>
          <p:cNvSpPr txBox="1"/>
          <p:nvPr/>
        </p:nvSpPr>
        <p:spPr>
          <a:xfrm>
            <a:off x="777240" y="1243584"/>
            <a:ext cx="4389120" cy="500176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1951’de Belçika, Almanya, Lüksemburg, Fransa, İtalya ve Hollanda tarafından Avrupa Kömür ve Çelik Topluluğu (AKÇT) kurulmuştur. Aynı devletler, 1957’de Roma Anlaşması’nı imzalayarak Avrupa Ekonomik Topluluğunu (AET) kurmuştur. Bu topluluk, 1965’ten itibaren Avrupa Toplulukları adıyla anılmaya başlanmıştır. 1973’te Birleşik Krallık, Danimarka ve İrlanda Avrupa Topluluğuna katılmıştır. 1981’de Yunanistan, 1986’da İspanya ve Portekiz’in katılımlarıyla Avrupa Topluluğunun üye sayısı 12’ye ulaşmıştır.</a:t>
            </a:r>
          </a:p>
        </p:txBody>
      </p:sp>
      <p:pic>
        <p:nvPicPr>
          <p:cNvPr id="9" name="Picture 8" descr="h35_s223_ab_bos.jpg"/>
          <p:cNvPicPr>
            <a:picLocks noChangeAspect="1"/>
          </p:cNvPicPr>
          <p:nvPr/>
        </p:nvPicPr>
        <p:blipFill>
          <a:blip r:embed="rId3"/>
          <a:stretch>
            <a:fillRect/>
          </a:stretch>
        </p:blipFill>
        <p:spPr>
          <a:xfrm>
            <a:off x="5532120" y="1351965"/>
            <a:ext cx="6156655" cy="4785005"/>
          </a:xfrm>
          <a:prstGeom prst="rect">
            <a:avLst/>
          </a:prstGeom>
          <a:ln w="9525">
            <a:solidFill>
              <a:srgbClr val="D9D9D9"/>
            </a:solidFill>
          </a:ln>
        </p:spPr>
      </p:pic>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88 / 187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1951-1986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5_ab_cevap_1951_1986.jpg"/>
          <p:cNvPicPr>
            <a:picLocks noChangeAspect="1"/>
          </p:cNvPicPr>
          <p:nvPr/>
        </p:nvPicPr>
        <p:blipFill>
          <a:blip r:embed="rId3"/>
          <a:stretch>
            <a:fillRect/>
          </a:stretch>
        </p:blipFill>
        <p:spPr>
          <a:xfrm>
            <a:off x="502920" y="1216152"/>
            <a:ext cx="6469011" cy="5025223"/>
          </a:xfrm>
          <a:prstGeom prst="rect">
            <a:avLst/>
          </a:prstGeom>
          <a:ln w="9525">
            <a:solidFill>
              <a:srgbClr val="D9D9D9"/>
            </a:solidFill>
          </a:ln>
        </p:spPr>
      </p:pic>
      <p:cxnSp>
        <p:nvCxnSpPr>
          <p:cNvPr id="7" name="Connector 6"/>
          <p:cNvCxnSpPr/>
          <p:nvPr/>
        </p:nvCxnSpPr>
        <p:spPr>
          <a:xfrm flipH="1" flipV="1">
            <a:off x="2219033" y="3384292"/>
            <a:ext cx="25348" cy="531904"/>
          </a:xfrm>
          <a:prstGeom prst="line">
            <a:avLst/>
          </a:prstGeom>
          <a:ln w="15875">
            <a:solidFill>
              <a:srgbClr val="262626"/>
            </a:solidFill>
          </a:ln>
        </p:spPr>
      </p:cxnSp>
      <p:sp>
        <p:nvSpPr>
          <p:cNvPr id="8" name="Oval 7"/>
          <p:cNvSpPr/>
          <p:nvPr/>
        </p:nvSpPr>
        <p:spPr>
          <a:xfrm>
            <a:off x="2216949" y="3888764"/>
            <a:ext cx="54864" cy="54864"/>
          </a:xfrm>
          <a:prstGeom prst="ellipse">
            <a:avLst/>
          </a:prstGeom>
          <a:solidFill>
            <a:srgbClr val="262626"/>
          </a:solidFill>
          <a:ln>
            <a:noFill/>
          </a:ln>
          <a:effectLst/>
        </p:spPr>
        <p:txBody>
          <a:bodyPr rtlCol="0" anchor="ctr"/>
          <a:lstStyle/>
          <a:p/>
        </p:txBody>
      </p:sp>
      <p:sp>
        <p:nvSpPr>
          <p:cNvPr id="9" name="Oval 8"/>
          <p:cNvSpPr/>
          <p:nvPr/>
        </p:nvSpPr>
        <p:spPr>
          <a:xfrm>
            <a:off x="2091017" y="3256276"/>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a:t>
            </a:r>
          </a:p>
        </p:txBody>
      </p:sp>
      <p:sp>
        <p:nvSpPr>
          <p:cNvPr id="10" name="Oval 9"/>
          <p:cNvSpPr/>
          <p:nvPr/>
        </p:nvSpPr>
        <p:spPr>
          <a:xfrm>
            <a:off x="2091017" y="3256276"/>
            <a:ext cx="256032" cy="256032"/>
          </a:xfrm>
          <a:prstGeom prst="ellipse">
            <a:avLst/>
          </a:prstGeom>
          <a:noFill/>
          <a:ln w="25400">
            <a:solidFill>
              <a:srgbClr val="1F4E8C"/>
            </a:solidFill>
          </a:ln>
          <a:effectLst/>
        </p:spPr>
        <p:txBody>
          <a:bodyPr rtlCol="0" anchor="ctr"/>
          <a:lstStyle/>
          <a:p/>
        </p:txBody>
      </p:sp>
      <p:sp>
        <p:nvSpPr>
          <p:cNvPr id="11" name="Oval 10"/>
          <p:cNvSpPr/>
          <p:nvPr/>
        </p:nvSpPr>
        <p:spPr>
          <a:xfrm>
            <a:off x="2750085" y="3623543"/>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2</a:t>
            </a:r>
          </a:p>
        </p:txBody>
      </p:sp>
      <p:sp>
        <p:nvSpPr>
          <p:cNvPr id="12" name="Oval 11"/>
          <p:cNvSpPr/>
          <p:nvPr/>
        </p:nvSpPr>
        <p:spPr>
          <a:xfrm>
            <a:off x="2750085" y="3623543"/>
            <a:ext cx="256032" cy="256032"/>
          </a:xfrm>
          <a:prstGeom prst="ellipse">
            <a:avLst/>
          </a:prstGeom>
          <a:noFill/>
          <a:ln w="25400">
            <a:solidFill>
              <a:srgbClr val="1F4E8C"/>
            </a:solidFill>
          </a:ln>
          <a:effectLst/>
        </p:spPr>
        <p:txBody>
          <a:bodyPr rtlCol="0" anchor="ctr"/>
          <a:lstStyle/>
          <a:p/>
        </p:txBody>
      </p:sp>
      <p:cxnSp>
        <p:nvCxnSpPr>
          <p:cNvPr id="13" name="Connector 12"/>
          <p:cNvCxnSpPr/>
          <p:nvPr/>
        </p:nvCxnSpPr>
        <p:spPr>
          <a:xfrm flipH="1" flipV="1">
            <a:off x="2016242" y="3586922"/>
            <a:ext cx="405581" cy="422990"/>
          </a:xfrm>
          <a:prstGeom prst="line">
            <a:avLst/>
          </a:prstGeom>
          <a:ln w="15875">
            <a:solidFill>
              <a:srgbClr val="262626"/>
            </a:solidFill>
          </a:ln>
        </p:spPr>
      </p:cxnSp>
      <p:sp>
        <p:nvSpPr>
          <p:cNvPr id="14" name="Oval 13"/>
          <p:cNvSpPr/>
          <p:nvPr/>
        </p:nvSpPr>
        <p:spPr>
          <a:xfrm>
            <a:off x="2394391" y="3982480"/>
            <a:ext cx="54864" cy="54864"/>
          </a:xfrm>
          <a:prstGeom prst="ellipse">
            <a:avLst/>
          </a:prstGeom>
          <a:solidFill>
            <a:srgbClr val="262626"/>
          </a:solidFill>
          <a:ln>
            <a:noFill/>
          </a:ln>
          <a:effectLst/>
        </p:spPr>
        <p:txBody>
          <a:bodyPr rtlCol="0" anchor="ctr"/>
          <a:lstStyle/>
          <a:p/>
        </p:txBody>
      </p:sp>
      <p:sp>
        <p:nvSpPr>
          <p:cNvPr id="15" name="Oval 14"/>
          <p:cNvSpPr/>
          <p:nvPr/>
        </p:nvSpPr>
        <p:spPr>
          <a:xfrm>
            <a:off x="1888226" y="3458906"/>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3</a:t>
            </a:r>
          </a:p>
        </p:txBody>
      </p:sp>
      <p:sp>
        <p:nvSpPr>
          <p:cNvPr id="16" name="Oval 15"/>
          <p:cNvSpPr/>
          <p:nvPr/>
        </p:nvSpPr>
        <p:spPr>
          <a:xfrm>
            <a:off x="1888226" y="3458906"/>
            <a:ext cx="256032" cy="256032"/>
          </a:xfrm>
          <a:prstGeom prst="ellipse">
            <a:avLst/>
          </a:prstGeom>
          <a:noFill/>
          <a:ln w="25400">
            <a:solidFill>
              <a:srgbClr val="1F4E8C"/>
            </a:solidFill>
          </a:ln>
          <a:effectLst/>
        </p:spPr>
        <p:txBody>
          <a:bodyPr rtlCol="0" anchor="ctr"/>
          <a:lstStyle/>
          <a:p/>
        </p:txBody>
      </p:sp>
      <p:sp>
        <p:nvSpPr>
          <p:cNvPr id="17" name="Oval 16"/>
          <p:cNvSpPr/>
          <p:nvPr/>
        </p:nvSpPr>
        <p:spPr>
          <a:xfrm>
            <a:off x="1736133" y="4332748"/>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4</a:t>
            </a:r>
          </a:p>
        </p:txBody>
      </p:sp>
      <p:sp>
        <p:nvSpPr>
          <p:cNvPr id="18" name="Oval 17"/>
          <p:cNvSpPr/>
          <p:nvPr/>
        </p:nvSpPr>
        <p:spPr>
          <a:xfrm>
            <a:off x="1736133" y="4332748"/>
            <a:ext cx="256032" cy="256032"/>
          </a:xfrm>
          <a:prstGeom prst="ellipse">
            <a:avLst/>
          </a:prstGeom>
          <a:noFill/>
          <a:ln w="25400">
            <a:solidFill>
              <a:srgbClr val="1F4E8C"/>
            </a:solidFill>
          </a:ln>
          <a:effectLst/>
        </p:spPr>
        <p:txBody>
          <a:bodyPr rtlCol="0" anchor="ctr"/>
          <a:lstStyle/>
          <a:p/>
        </p:txBody>
      </p:sp>
      <p:sp>
        <p:nvSpPr>
          <p:cNvPr id="19" name="Oval 18"/>
          <p:cNvSpPr/>
          <p:nvPr/>
        </p:nvSpPr>
        <p:spPr>
          <a:xfrm>
            <a:off x="2927527" y="4662021"/>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5</a:t>
            </a:r>
          </a:p>
        </p:txBody>
      </p:sp>
      <p:sp>
        <p:nvSpPr>
          <p:cNvPr id="20" name="Oval 19"/>
          <p:cNvSpPr/>
          <p:nvPr/>
        </p:nvSpPr>
        <p:spPr>
          <a:xfrm>
            <a:off x="2927527" y="4662021"/>
            <a:ext cx="256032" cy="256032"/>
          </a:xfrm>
          <a:prstGeom prst="ellipse">
            <a:avLst/>
          </a:prstGeom>
          <a:noFill/>
          <a:ln w="25400">
            <a:solidFill>
              <a:srgbClr val="1F4E8C"/>
            </a:solidFill>
          </a:ln>
          <a:effectLst/>
        </p:spPr>
        <p:txBody>
          <a:bodyPr rtlCol="0" anchor="ctr"/>
          <a:lstStyle/>
          <a:p/>
        </p:txBody>
      </p:sp>
      <p:cxnSp>
        <p:nvCxnSpPr>
          <p:cNvPr id="21" name="Connector 20"/>
          <p:cNvCxnSpPr/>
          <p:nvPr/>
        </p:nvCxnSpPr>
        <p:spPr>
          <a:xfrm flipV="1">
            <a:off x="2421823" y="3333635"/>
            <a:ext cx="88721" cy="367266"/>
          </a:xfrm>
          <a:prstGeom prst="line">
            <a:avLst/>
          </a:prstGeom>
          <a:ln w="15875">
            <a:solidFill>
              <a:srgbClr val="262626"/>
            </a:solidFill>
          </a:ln>
        </p:spPr>
      </p:cxnSp>
      <p:sp>
        <p:nvSpPr>
          <p:cNvPr id="22" name="Oval 21"/>
          <p:cNvSpPr/>
          <p:nvPr/>
        </p:nvSpPr>
        <p:spPr>
          <a:xfrm>
            <a:off x="2394391" y="3673469"/>
            <a:ext cx="54864" cy="54864"/>
          </a:xfrm>
          <a:prstGeom prst="ellipse">
            <a:avLst/>
          </a:prstGeom>
          <a:solidFill>
            <a:srgbClr val="262626"/>
          </a:solidFill>
          <a:ln>
            <a:noFill/>
          </a:ln>
          <a:effectLst/>
        </p:spPr>
        <p:txBody>
          <a:bodyPr rtlCol="0" anchor="ctr"/>
          <a:lstStyle/>
          <a:p/>
        </p:txBody>
      </p:sp>
      <p:sp>
        <p:nvSpPr>
          <p:cNvPr id="23" name="Oval 22"/>
          <p:cNvSpPr/>
          <p:nvPr/>
        </p:nvSpPr>
        <p:spPr>
          <a:xfrm>
            <a:off x="2382528" y="3205619"/>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6</a:t>
            </a:r>
          </a:p>
        </p:txBody>
      </p:sp>
      <p:sp>
        <p:nvSpPr>
          <p:cNvPr id="24" name="Oval 23"/>
          <p:cNvSpPr/>
          <p:nvPr/>
        </p:nvSpPr>
        <p:spPr>
          <a:xfrm>
            <a:off x="2382528" y="3205619"/>
            <a:ext cx="256032" cy="256032"/>
          </a:xfrm>
          <a:prstGeom prst="ellipse">
            <a:avLst/>
          </a:prstGeom>
          <a:noFill/>
          <a:ln w="25400">
            <a:solidFill>
              <a:srgbClr val="1F4E8C"/>
            </a:solidFill>
          </a:ln>
          <a:effectLst/>
        </p:spPr>
        <p:txBody>
          <a:bodyPr rtlCol="0" anchor="ctr"/>
          <a:lstStyle/>
          <a:p/>
        </p:txBody>
      </p:sp>
      <p:sp>
        <p:nvSpPr>
          <p:cNvPr id="25" name="Oval 24"/>
          <p:cNvSpPr/>
          <p:nvPr/>
        </p:nvSpPr>
        <p:spPr>
          <a:xfrm>
            <a:off x="1507994" y="3547557"/>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7</a:t>
            </a:r>
          </a:p>
        </p:txBody>
      </p:sp>
      <p:sp>
        <p:nvSpPr>
          <p:cNvPr id="26" name="Oval 25"/>
          <p:cNvSpPr/>
          <p:nvPr/>
        </p:nvSpPr>
        <p:spPr>
          <a:xfrm>
            <a:off x="1507994" y="3547557"/>
            <a:ext cx="256032" cy="256032"/>
          </a:xfrm>
          <a:prstGeom prst="ellipse">
            <a:avLst/>
          </a:prstGeom>
          <a:noFill/>
          <a:ln w="25400">
            <a:solidFill>
              <a:srgbClr val="8FA6C5"/>
            </a:solidFill>
          </a:ln>
          <a:effectLst/>
        </p:spPr>
        <p:txBody>
          <a:bodyPr rtlCol="0" anchor="ctr"/>
          <a:lstStyle/>
          <a:p/>
        </p:txBody>
      </p:sp>
      <p:sp>
        <p:nvSpPr>
          <p:cNvPr id="27" name="Oval 26"/>
          <p:cNvSpPr/>
          <p:nvPr/>
        </p:nvSpPr>
        <p:spPr>
          <a:xfrm>
            <a:off x="2648690" y="3015653"/>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8</a:t>
            </a:r>
          </a:p>
        </p:txBody>
      </p:sp>
      <p:sp>
        <p:nvSpPr>
          <p:cNvPr id="28" name="Oval 27"/>
          <p:cNvSpPr/>
          <p:nvPr/>
        </p:nvSpPr>
        <p:spPr>
          <a:xfrm>
            <a:off x="2648690" y="3015653"/>
            <a:ext cx="256032" cy="256032"/>
          </a:xfrm>
          <a:prstGeom prst="ellipse">
            <a:avLst/>
          </a:prstGeom>
          <a:noFill/>
          <a:ln w="25400">
            <a:solidFill>
              <a:srgbClr val="8FA6C5"/>
            </a:solidFill>
          </a:ln>
          <a:effectLst/>
        </p:spPr>
        <p:txBody>
          <a:bodyPr rtlCol="0" anchor="ctr"/>
          <a:lstStyle/>
          <a:p/>
        </p:txBody>
      </p:sp>
      <p:sp>
        <p:nvSpPr>
          <p:cNvPr id="29" name="Oval 28"/>
          <p:cNvSpPr/>
          <p:nvPr/>
        </p:nvSpPr>
        <p:spPr>
          <a:xfrm>
            <a:off x="785554" y="3471570"/>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9</a:t>
            </a:r>
          </a:p>
        </p:txBody>
      </p:sp>
      <p:sp>
        <p:nvSpPr>
          <p:cNvPr id="30" name="Oval 29"/>
          <p:cNvSpPr/>
          <p:nvPr/>
        </p:nvSpPr>
        <p:spPr>
          <a:xfrm>
            <a:off x="785554" y="3471570"/>
            <a:ext cx="256032" cy="256032"/>
          </a:xfrm>
          <a:prstGeom prst="ellipse">
            <a:avLst/>
          </a:prstGeom>
          <a:noFill/>
          <a:ln w="25400">
            <a:solidFill>
              <a:srgbClr val="8FA6C5"/>
            </a:solidFill>
          </a:ln>
          <a:effectLst/>
        </p:spPr>
        <p:txBody>
          <a:bodyPr rtlCol="0" anchor="ctr"/>
          <a:lstStyle/>
          <a:p/>
        </p:txBody>
      </p:sp>
      <p:sp>
        <p:nvSpPr>
          <p:cNvPr id="31" name="Oval 30"/>
          <p:cNvSpPr/>
          <p:nvPr/>
        </p:nvSpPr>
        <p:spPr>
          <a:xfrm>
            <a:off x="4144268" y="5143268"/>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10</a:t>
            </a:r>
          </a:p>
        </p:txBody>
      </p:sp>
      <p:sp>
        <p:nvSpPr>
          <p:cNvPr id="32" name="Oval 31"/>
          <p:cNvSpPr/>
          <p:nvPr/>
        </p:nvSpPr>
        <p:spPr>
          <a:xfrm>
            <a:off x="4144268" y="5143268"/>
            <a:ext cx="256032" cy="256032"/>
          </a:xfrm>
          <a:prstGeom prst="ellipse">
            <a:avLst/>
          </a:prstGeom>
          <a:noFill/>
          <a:ln w="25400">
            <a:solidFill>
              <a:srgbClr val="8FA6C5"/>
            </a:solidFill>
          </a:ln>
          <a:effectLst/>
        </p:spPr>
        <p:txBody>
          <a:bodyPr rtlCol="0" anchor="ctr"/>
          <a:lstStyle/>
          <a:p/>
        </p:txBody>
      </p:sp>
      <p:sp>
        <p:nvSpPr>
          <p:cNvPr id="33" name="Oval 32"/>
          <p:cNvSpPr/>
          <p:nvPr/>
        </p:nvSpPr>
        <p:spPr>
          <a:xfrm>
            <a:off x="1305204" y="5193925"/>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11</a:t>
            </a:r>
          </a:p>
        </p:txBody>
      </p:sp>
      <p:sp>
        <p:nvSpPr>
          <p:cNvPr id="34" name="Oval 33"/>
          <p:cNvSpPr/>
          <p:nvPr/>
        </p:nvSpPr>
        <p:spPr>
          <a:xfrm>
            <a:off x="1305204" y="5193925"/>
            <a:ext cx="256032" cy="256032"/>
          </a:xfrm>
          <a:prstGeom prst="ellipse">
            <a:avLst/>
          </a:prstGeom>
          <a:noFill/>
          <a:ln w="25400">
            <a:solidFill>
              <a:srgbClr val="8FA6C5"/>
            </a:solidFill>
          </a:ln>
          <a:effectLst/>
        </p:spPr>
        <p:txBody>
          <a:bodyPr rtlCol="0" anchor="ctr"/>
          <a:lstStyle/>
          <a:p/>
        </p:txBody>
      </p:sp>
      <p:sp>
        <p:nvSpPr>
          <p:cNvPr id="35" name="Oval 34"/>
          <p:cNvSpPr/>
          <p:nvPr/>
        </p:nvSpPr>
        <p:spPr>
          <a:xfrm>
            <a:off x="722182" y="5295240"/>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12</a:t>
            </a:r>
          </a:p>
        </p:txBody>
      </p:sp>
      <p:sp>
        <p:nvSpPr>
          <p:cNvPr id="36" name="Oval 35"/>
          <p:cNvSpPr/>
          <p:nvPr/>
        </p:nvSpPr>
        <p:spPr>
          <a:xfrm>
            <a:off x="722182" y="5295240"/>
            <a:ext cx="256032" cy="256032"/>
          </a:xfrm>
          <a:prstGeom prst="ellipse">
            <a:avLst/>
          </a:prstGeom>
          <a:noFill/>
          <a:ln w="25400">
            <a:solidFill>
              <a:srgbClr val="8FA6C5"/>
            </a:solidFill>
          </a:ln>
          <a:effectLst/>
        </p:spPr>
        <p:txBody>
          <a:bodyPr rtlCol="0" anchor="ctr"/>
          <a:lstStyle/>
          <a:p/>
        </p:txBody>
      </p:sp>
      <p:sp>
        <p:nvSpPr>
          <p:cNvPr id="37" name="Rounded Rectangle 36"/>
          <p:cNvSpPr/>
          <p:nvPr/>
        </p:nvSpPr>
        <p:spPr>
          <a:xfrm>
            <a:off x="7154811" y="1216152"/>
            <a:ext cx="4533963" cy="4279392"/>
          </a:xfrm>
          <a:prstGeom prst="roundRect">
            <a:avLst>
              <a:gd name="adj" fmla="val 8000"/>
            </a:avLst>
          </a:prstGeom>
          <a:solidFill>
            <a:srgbClr val="F0F0F0"/>
          </a:solidFill>
          <a:ln>
            <a:noFill/>
          </a:ln>
          <a:effectLst/>
        </p:spPr>
        <p:txBody>
          <a:bodyPr rtlCol="0" anchor="t" wrap="square" lIns="146304" rIns="146304" tIns="73152" bIns="73152">
            <a:noAutofit/>
          </a:bodyPr>
          <a:lstStyle/>
          <a:p>
            <a:pPr algn="l">
              <a:spcBef>
                <a:spcPts val="0"/>
              </a:spcBef>
              <a:spcAft>
                <a:spcPts val="92"/>
              </a:spcAft>
            </a:pPr>
            <a:r>
              <a:rPr lang="tr-TR" sz="1942" b="1" i="0">
                <a:solidFill>
                  <a:srgbClr val="1F4E8C"/>
                </a:solidFill>
                <a:latin typeface="Calibri"/>
              </a:rPr>
              <a:t>1951</a:t>
            </a:r>
          </a:p>
          <a:p>
            <a:pPr algn="l">
              <a:spcBef>
                <a:spcPts val="0"/>
              </a:spcBef>
              <a:spcAft>
                <a:spcPts val="832"/>
              </a:spcAft>
            </a:pPr>
            <a:r>
              <a:rPr lang="tr-TR" sz="1850" b="0" i="0">
                <a:solidFill>
                  <a:srgbClr val="262626"/>
                </a:solidFill>
                <a:latin typeface="Calibri"/>
              </a:rPr>
              <a:t>1 Belçika · 2 Almanya · 3 Lüksemburg · 4 Fransa · 5 İtalya · 6 Hollanda</a:t>
            </a:r>
          </a:p>
          <a:p>
            <a:pPr algn="l">
              <a:spcBef>
                <a:spcPts val="0"/>
              </a:spcBef>
              <a:spcAft>
                <a:spcPts val="832"/>
              </a:spcAft>
            </a:pPr>
            <a:r>
              <a:rPr lang="tr-TR" sz="1572" b="0" i="1">
                <a:solidFill>
                  <a:srgbClr val="767676"/>
                </a:solidFill>
                <a:latin typeface="Calibri"/>
              </a:rPr>
              <a:t>1957 Roma Anlaşması → AET (aynı altı ülke)</a:t>
            </a:r>
          </a:p>
          <a:p>
            <a:pPr algn="l">
              <a:spcBef>
                <a:spcPts val="0"/>
              </a:spcBef>
              <a:spcAft>
                <a:spcPts val="92"/>
              </a:spcAft>
            </a:pPr>
            <a:r>
              <a:rPr lang="tr-TR" sz="1942" b="1" i="0">
                <a:solidFill>
                  <a:srgbClr val="8FA6C5"/>
                </a:solidFill>
                <a:latin typeface="Calibri"/>
              </a:rPr>
              <a:t>1973</a:t>
            </a:r>
          </a:p>
          <a:p>
            <a:pPr algn="l">
              <a:spcBef>
                <a:spcPts val="0"/>
              </a:spcBef>
              <a:spcAft>
                <a:spcPts val="832"/>
              </a:spcAft>
            </a:pPr>
            <a:r>
              <a:rPr lang="tr-TR" sz="1850" b="0" i="0">
                <a:solidFill>
                  <a:srgbClr val="262626"/>
                </a:solidFill>
                <a:latin typeface="Calibri"/>
              </a:rPr>
              <a:t>7 Birleşik Krallık · 8 Danimarka · 9 İrlanda</a:t>
            </a:r>
          </a:p>
          <a:p>
            <a:pPr algn="l">
              <a:spcBef>
                <a:spcPts val="0"/>
              </a:spcBef>
              <a:spcAft>
                <a:spcPts val="92"/>
              </a:spcAft>
            </a:pPr>
            <a:r>
              <a:rPr lang="tr-TR" sz="1942" b="1" i="0">
                <a:solidFill>
                  <a:srgbClr val="8FA6C5"/>
                </a:solidFill>
                <a:latin typeface="Calibri"/>
              </a:rPr>
              <a:t>1981</a:t>
            </a:r>
          </a:p>
          <a:p>
            <a:pPr algn="l">
              <a:spcBef>
                <a:spcPts val="0"/>
              </a:spcBef>
              <a:spcAft>
                <a:spcPts val="832"/>
              </a:spcAft>
            </a:pPr>
            <a:r>
              <a:rPr lang="tr-TR" sz="1850" b="0" i="0">
                <a:solidFill>
                  <a:srgbClr val="262626"/>
                </a:solidFill>
                <a:latin typeface="Calibri"/>
              </a:rPr>
              <a:t>10 Yunanistan</a:t>
            </a:r>
          </a:p>
          <a:p>
            <a:pPr algn="l">
              <a:spcBef>
                <a:spcPts val="0"/>
              </a:spcBef>
              <a:spcAft>
                <a:spcPts val="92"/>
              </a:spcAft>
            </a:pPr>
            <a:r>
              <a:rPr lang="tr-TR" sz="1942" b="1" i="0">
                <a:solidFill>
                  <a:srgbClr val="8FA6C5"/>
                </a:solidFill>
                <a:latin typeface="Calibri"/>
              </a:rPr>
              <a:t>1986</a:t>
            </a:r>
          </a:p>
          <a:p>
            <a:pPr algn="l">
              <a:spcBef>
                <a:spcPts val="0"/>
              </a:spcBef>
              <a:spcAft>
                <a:spcPts val="832"/>
              </a:spcAft>
            </a:pPr>
            <a:r>
              <a:rPr lang="tr-TR" sz="1850" b="0" i="0">
                <a:solidFill>
                  <a:srgbClr val="262626"/>
                </a:solidFill>
                <a:latin typeface="Calibri"/>
              </a:rPr>
              <a:t>11 İspanya · 12 Portekiz</a:t>
            </a:r>
          </a:p>
          <a:p>
            <a:pPr algn="l">
              <a:spcBef>
                <a:spcPts val="0"/>
              </a:spcBef>
              <a:spcAft>
                <a:spcPts val="0"/>
              </a:spcAft>
            </a:pPr>
            <a:r>
              <a:rPr lang="tr-TR" sz="1850" b="1" i="0">
                <a:solidFill>
                  <a:srgbClr val="2E7D32"/>
                </a:solidFill>
                <a:latin typeface="Calibri"/>
              </a:rPr>
              <a:t>→ 12 üye</a:t>
            </a:r>
          </a:p>
        </p:txBody>
      </p:sp>
      <p:sp>
        <p:nvSpPr>
          <p:cNvPr id="38" name="Rectangle 37"/>
          <p:cNvSpPr/>
          <p:nvPr/>
        </p:nvSpPr>
        <p:spPr>
          <a:xfrm>
            <a:off x="7154811" y="6016752"/>
            <a:ext cx="201168" cy="201168"/>
          </a:xfrm>
          <a:prstGeom prst="rect">
            <a:avLst/>
          </a:prstGeom>
          <a:solidFill>
            <a:srgbClr val="1F4E8C"/>
          </a:solidFill>
          <a:ln w="6350">
            <a:solidFill>
              <a:srgbClr val="D9D9D9"/>
            </a:solidFill>
          </a:ln>
          <a:effectLst/>
        </p:spPr>
        <p:txBody>
          <a:bodyPr rtlCol="0" anchor="ctr"/>
          <a:lstStyle/>
          <a:p/>
        </p:txBody>
      </p:sp>
      <p:sp>
        <p:nvSpPr>
          <p:cNvPr id="39" name="TextBox 38"/>
          <p:cNvSpPr txBox="1"/>
          <p:nvPr/>
        </p:nvSpPr>
        <p:spPr>
          <a:xfrm>
            <a:off x="7401699" y="5961888"/>
            <a:ext cx="1992661" cy="310896"/>
          </a:xfrm>
          <a:prstGeom prst="rect">
            <a:avLst/>
          </a:prstGeom>
          <a:noFill/>
        </p:spPr>
        <p:txBody>
          <a:bodyPr wrap="square" anchor="ctr" lIns="73152" rIns="73152" tIns="36576" bIns="36576">
            <a:noAutofit/>
          </a:bodyPr>
          <a:lstStyle/>
          <a:p>
            <a:pPr algn="l">
              <a:spcBef>
                <a:spcPts val="0"/>
              </a:spcBef>
              <a:spcAft>
                <a:spcPts val="0"/>
              </a:spcAft>
            </a:pPr>
            <a:r>
              <a:rPr lang="tr-TR" sz="1200" b="0" i="0">
                <a:solidFill>
                  <a:srgbClr val="262626"/>
                </a:solidFill>
                <a:latin typeface="Calibri"/>
              </a:rPr>
              <a:t>1951 kurucu üyeler</a:t>
            </a:r>
          </a:p>
        </p:txBody>
      </p:sp>
      <p:sp>
        <p:nvSpPr>
          <p:cNvPr id="40" name="Rectangle 39"/>
          <p:cNvSpPr/>
          <p:nvPr/>
        </p:nvSpPr>
        <p:spPr>
          <a:xfrm>
            <a:off x="9421793" y="6016752"/>
            <a:ext cx="201168" cy="201168"/>
          </a:xfrm>
          <a:prstGeom prst="rect">
            <a:avLst/>
          </a:prstGeom>
          <a:solidFill>
            <a:srgbClr val="8FA6C5"/>
          </a:solidFill>
          <a:ln w="6350">
            <a:solidFill>
              <a:srgbClr val="D9D9D9"/>
            </a:solidFill>
          </a:ln>
          <a:effectLst/>
        </p:spPr>
        <p:txBody>
          <a:bodyPr rtlCol="0" anchor="ctr"/>
          <a:lstStyle/>
          <a:p/>
        </p:txBody>
      </p:sp>
      <p:sp>
        <p:nvSpPr>
          <p:cNvPr id="41" name="TextBox 40"/>
          <p:cNvSpPr txBox="1"/>
          <p:nvPr/>
        </p:nvSpPr>
        <p:spPr>
          <a:xfrm>
            <a:off x="9668681" y="5961888"/>
            <a:ext cx="1992661" cy="310896"/>
          </a:xfrm>
          <a:prstGeom prst="rect">
            <a:avLst/>
          </a:prstGeom>
          <a:noFill/>
        </p:spPr>
        <p:txBody>
          <a:bodyPr wrap="square" anchor="ctr" lIns="73152" rIns="73152" tIns="36576" bIns="36576">
            <a:noAutofit/>
          </a:bodyPr>
          <a:lstStyle/>
          <a:p>
            <a:pPr algn="l">
              <a:spcBef>
                <a:spcPts val="0"/>
              </a:spcBef>
              <a:spcAft>
                <a:spcPts val="0"/>
              </a:spcAft>
            </a:pPr>
            <a:r>
              <a:rPr lang="tr-TR" sz="1200" b="0" i="0">
                <a:solidFill>
                  <a:srgbClr val="262626"/>
                </a:solidFill>
                <a:latin typeface="Calibri"/>
              </a:rPr>
              <a:t>1973, 1981, 1986 katılımları</a:t>
            </a:r>
          </a:p>
        </p:txBody>
      </p:sp>
      <p:sp>
        <p:nvSpPr>
          <p:cNvPr id="42" name="TextBox 4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43" name="Rounded Rectangle 4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a:t>
            </a:r>
          </a:p>
        </p:txBody>
      </p:sp>
      <p:sp>
        <p:nvSpPr>
          <p:cNvPr id="44" name="TextBox 4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89 / 187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1995-2002 Yılları Arasında AB Üyesi Ülkeler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GRUP 4-5</a:t>
            </a:r>
          </a:p>
        </p:txBody>
      </p:sp>
      <p:sp>
        <p:nvSpPr>
          <p:cNvPr id="6" name="Rounded Rectangle 5"/>
          <p:cNvSpPr/>
          <p:nvPr/>
        </p:nvSpPr>
        <p:spPr>
          <a:xfrm>
            <a:off x="502920" y="1243584"/>
            <a:ext cx="4800600" cy="5001768"/>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43584"/>
            <a:ext cx="118872" cy="5001768"/>
          </a:xfrm>
          <a:prstGeom prst="rect">
            <a:avLst/>
          </a:prstGeom>
          <a:solidFill>
            <a:srgbClr val="2E8B57"/>
          </a:solidFill>
          <a:ln>
            <a:noFill/>
          </a:ln>
          <a:effectLst/>
        </p:spPr>
        <p:txBody>
          <a:bodyPr rtlCol="0" anchor="ctr"/>
          <a:lstStyle/>
          <a:p/>
        </p:txBody>
      </p:sp>
      <p:sp>
        <p:nvSpPr>
          <p:cNvPr id="8" name="TextBox 7"/>
          <p:cNvSpPr txBox="1"/>
          <p:nvPr/>
        </p:nvSpPr>
        <p:spPr>
          <a:xfrm>
            <a:off x="777240" y="1243584"/>
            <a:ext cx="4389120" cy="50017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Avrupa Topluluğu’na üye devletler; 1 Kasım 1993’te yürürlüğe koydukları Maastricht Anlaşması ile üye ülkeler arasında parasal birliğin sağlanması, Avrupa vatandaşlığı oluşturulması, ortak dış işleri, güvenlik, adalet ve iç işlerinde iş birliği politikalarının geliştirilmesine karar vermişlerdir. Böylece 1995’te Avrupa Birliği yapısı oluşturulmuştur. Birliğin üye sayısı 1995’te Avusturya, Finlandiya ve İsveç’in katılımıyla 15’e yükselmiştir.</a:t>
            </a:r>
          </a:p>
        </p:txBody>
      </p:sp>
      <p:pic>
        <p:nvPicPr>
          <p:cNvPr id="9" name="Picture 8" descr="h35_s224_ab_bos_1995.jpg"/>
          <p:cNvPicPr>
            <a:picLocks noChangeAspect="1"/>
          </p:cNvPicPr>
          <p:nvPr/>
        </p:nvPicPr>
        <p:blipFill>
          <a:blip r:embed="rId3"/>
          <a:stretch>
            <a:fillRect/>
          </a:stretch>
        </p:blipFill>
        <p:spPr>
          <a:xfrm>
            <a:off x="5532120" y="1351965"/>
            <a:ext cx="6156655" cy="4785005"/>
          </a:xfrm>
          <a:prstGeom prst="rect">
            <a:avLst/>
          </a:prstGeom>
          <a:ln w="9525">
            <a:solidFill>
              <a:srgbClr val="D9D9D9"/>
            </a:solidFill>
          </a:ln>
        </p:spPr>
      </p:pic>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224</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90 / 187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1995-2002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5_ab_cevap_1995_2002.jpg"/>
          <p:cNvPicPr>
            <a:picLocks noChangeAspect="1"/>
          </p:cNvPicPr>
          <p:nvPr/>
        </p:nvPicPr>
        <p:blipFill>
          <a:blip r:embed="rId3"/>
          <a:stretch>
            <a:fillRect/>
          </a:stretch>
        </p:blipFill>
        <p:spPr>
          <a:xfrm>
            <a:off x="502920" y="1216152"/>
            <a:ext cx="6469011" cy="5025223"/>
          </a:xfrm>
          <a:prstGeom prst="rect">
            <a:avLst/>
          </a:prstGeom>
          <a:ln w="9525">
            <a:solidFill>
              <a:srgbClr val="D9D9D9"/>
            </a:solidFill>
          </a:ln>
        </p:spPr>
      </p:pic>
      <p:sp>
        <p:nvSpPr>
          <p:cNvPr id="7" name="Oval 6"/>
          <p:cNvSpPr/>
          <p:nvPr/>
        </p:nvSpPr>
        <p:spPr>
          <a:xfrm>
            <a:off x="3079619" y="4130118"/>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a:t>
            </a:r>
          </a:p>
        </p:txBody>
      </p:sp>
      <p:sp>
        <p:nvSpPr>
          <p:cNvPr id="8" name="Oval 7"/>
          <p:cNvSpPr/>
          <p:nvPr/>
        </p:nvSpPr>
        <p:spPr>
          <a:xfrm>
            <a:off x="3079619" y="4130118"/>
            <a:ext cx="256032" cy="256032"/>
          </a:xfrm>
          <a:prstGeom prst="ellipse">
            <a:avLst/>
          </a:prstGeom>
          <a:noFill/>
          <a:ln w="25400">
            <a:solidFill>
              <a:srgbClr val="2E8B57"/>
            </a:solidFill>
          </a:ln>
          <a:effectLst/>
        </p:spPr>
        <p:txBody>
          <a:bodyPr rtlCol="0" anchor="ctr"/>
          <a:lstStyle/>
          <a:p/>
        </p:txBody>
      </p:sp>
      <p:sp>
        <p:nvSpPr>
          <p:cNvPr id="9" name="Oval 8"/>
          <p:cNvSpPr/>
          <p:nvPr/>
        </p:nvSpPr>
        <p:spPr>
          <a:xfrm>
            <a:off x="4144268" y="2103818"/>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2</a:t>
            </a:r>
          </a:p>
        </p:txBody>
      </p:sp>
      <p:sp>
        <p:nvSpPr>
          <p:cNvPr id="10" name="Oval 9"/>
          <p:cNvSpPr/>
          <p:nvPr/>
        </p:nvSpPr>
        <p:spPr>
          <a:xfrm>
            <a:off x="4144268" y="2103818"/>
            <a:ext cx="256032" cy="256032"/>
          </a:xfrm>
          <a:prstGeom prst="ellipse">
            <a:avLst/>
          </a:prstGeom>
          <a:noFill/>
          <a:ln w="25400">
            <a:solidFill>
              <a:srgbClr val="2E8B57"/>
            </a:solidFill>
          </a:ln>
          <a:effectLst/>
        </p:spPr>
        <p:txBody>
          <a:bodyPr rtlCol="0" anchor="ctr"/>
          <a:lstStyle/>
          <a:p/>
        </p:txBody>
      </p:sp>
      <p:sp>
        <p:nvSpPr>
          <p:cNvPr id="11" name="Oval 10"/>
          <p:cNvSpPr/>
          <p:nvPr/>
        </p:nvSpPr>
        <p:spPr>
          <a:xfrm>
            <a:off x="3130317" y="2559736"/>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3</a:t>
            </a:r>
          </a:p>
        </p:txBody>
      </p:sp>
      <p:sp>
        <p:nvSpPr>
          <p:cNvPr id="12" name="Oval 11"/>
          <p:cNvSpPr/>
          <p:nvPr/>
        </p:nvSpPr>
        <p:spPr>
          <a:xfrm>
            <a:off x="3130317" y="2559736"/>
            <a:ext cx="256032" cy="256032"/>
          </a:xfrm>
          <a:prstGeom prst="ellipse">
            <a:avLst/>
          </a:prstGeom>
          <a:noFill/>
          <a:ln w="25400">
            <a:solidFill>
              <a:srgbClr val="2E8B57"/>
            </a:solidFill>
          </a:ln>
          <a:effectLst/>
        </p:spPr>
        <p:txBody>
          <a:bodyPr rtlCol="0" anchor="ctr"/>
          <a:lstStyle/>
          <a:p/>
        </p:txBody>
      </p:sp>
      <p:sp>
        <p:nvSpPr>
          <p:cNvPr id="13" name="Rounded Rectangle 12"/>
          <p:cNvSpPr/>
          <p:nvPr/>
        </p:nvSpPr>
        <p:spPr>
          <a:xfrm>
            <a:off x="7154811" y="1216152"/>
            <a:ext cx="4533963" cy="4279392"/>
          </a:xfrm>
          <a:prstGeom prst="roundRect">
            <a:avLst>
              <a:gd name="adj" fmla="val 8000"/>
            </a:avLst>
          </a:prstGeom>
          <a:solidFill>
            <a:srgbClr val="F0F0F0"/>
          </a:solidFill>
          <a:ln>
            <a:noFill/>
          </a:ln>
          <a:effectLst/>
        </p:spPr>
        <p:txBody>
          <a:bodyPr rtlCol="0" anchor="t" wrap="square" lIns="146304" rIns="146304" tIns="73152" bIns="73152">
            <a:noAutofit/>
          </a:bodyPr>
          <a:lstStyle/>
          <a:p>
            <a:pPr algn="l">
              <a:spcBef>
                <a:spcPts val="0"/>
              </a:spcBef>
              <a:spcAft>
                <a:spcPts val="100"/>
              </a:spcAft>
            </a:pPr>
            <a:r>
              <a:rPr lang="tr-TR" sz="2100" b="1" i="0">
                <a:solidFill>
                  <a:srgbClr val="2E8B57"/>
                </a:solidFill>
                <a:latin typeface="Calibri"/>
              </a:rPr>
              <a:t>1995</a:t>
            </a:r>
          </a:p>
          <a:p>
            <a:pPr algn="l">
              <a:spcBef>
                <a:spcPts val="0"/>
              </a:spcBef>
              <a:spcAft>
                <a:spcPts val="900"/>
              </a:spcAft>
            </a:pPr>
            <a:r>
              <a:rPr lang="tr-TR" sz="2000" b="0" i="0">
                <a:solidFill>
                  <a:srgbClr val="262626"/>
                </a:solidFill>
                <a:latin typeface="Calibri"/>
              </a:rPr>
              <a:t>1 Avusturya · 2 Finlandiya · 3 İsveç</a:t>
            </a:r>
          </a:p>
          <a:p>
            <a:pPr algn="l">
              <a:spcBef>
                <a:spcPts val="0"/>
              </a:spcBef>
              <a:spcAft>
                <a:spcPts val="0"/>
              </a:spcAft>
            </a:pPr>
            <a:r>
              <a:rPr lang="tr-TR" sz="2000" b="1" i="0">
                <a:solidFill>
                  <a:srgbClr val="2E7D32"/>
                </a:solidFill>
                <a:latin typeface="Calibri"/>
              </a:rPr>
              <a:t>→ 15 üye (1993 Maastricht; 1995 AB)</a:t>
            </a:r>
          </a:p>
        </p:txBody>
      </p:sp>
      <p:sp>
        <p:nvSpPr>
          <p:cNvPr id="14" name="Rectangle 13"/>
          <p:cNvSpPr/>
          <p:nvPr/>
        </p:nvSpPr>
        <p:spPr>
          <a:xfrm>
            <a:off x="7154811" y="6016752"/>
            <a:ext cx="201168" cy="201168"/>
          </a:xfrm>
          <a:prstGeom prst="rect">
            <a:avLst/>
          </a:prstGeom>
          <a:solidFill>
            <a:srgbClr val="C9D3DE"/>
          </a:solidFill>
          <a:ln w="6350">
            <a:solidFill>
              <a:srgbClr val="D9D9D9"/>
            </a:solidFill>
          </a:ln>
          <a:effectLst/>
        </p:spPr>
        <p:txBody>
          <a:bodyPr rtlCol="0" anchor="ctr"/>
          <a:lstStyle/>
          <a:p/>
        </p:txBody>
      </p:sp>
      <p:sp>
        <p:nvSpPr>
          <p:cNvPr id="15" name="TextBox 14"/>
          <p:cNvSpPr txBox="1"/>
          <p:nvPr/>
        </p:nvSpPr>
        <p:spPr>
          <a:xfrm>
            <a:off x="7401699" y="5961888"/>
            <a:ext cx="1992661" cy="310896"/>
          </a:xfrm>
          <a:prstGeom prst="rect">
            <a:avLst/>
          </a:prstGeom>
          <a:noFill/>
        </p:spPr>
        <p:txBody>
          <a:bodyPr wrap="square" anchor="ctr" lIns="73152" rIns="73152" tIns="36576" bIns="36576">
            <a:noAutofit/>
          </a:bodyPr>
          <a:lstStyle/>
          <a:p>
            <a:pPr algn="l">
              <a:spcBef>
                <a:spcPts val="0"/>
              </a:spcBef>
              <a:spcAft>
                <a:spcPts val="0"/>
              </a:spcAft>
            </a:pPr>
            <a:r>
              <a:rPr lang="tr-TR" sz="1200" b="0" i="0">
                <a:solidFill>
                  <a:srgbClr val="262626"/>
                </a:solidFill>
                <a:latin typeface="Calibri"/>
              </a:rPr>
              <a:t>önceki üyeler</a:t>
            </a:r>
          </a:p>
        </p:txBody>
      </p:sp>
      <p:sp>
        <p:nvSpPr>
          <p:cNvPr id="16" name="Rectangle 15"/>
          <p:cNvSpPr/>
          <p:nvPr/>
        </p:nvSpPr>
        <p:spPr>
          <a:xfrm>
            <a:off x="9421793" y="6016752"/>
            <a:ext cx="201168" cy="201168"/>
          </a:xfrm>
          <a:prstGeom prst="rect">
            <a:avLst/>
          </a:prstGeom>
          <a:solidFill>
            <a:srgbClr val="2E8B57"/>
          </a:solidFill>
          <a:ln w="6350">
            <a:solidFill>
              <a:srgbClr val="D9D9D9"/>
            </a:solidFill>
          </a:ln>
          <a:effectLst/>
        </p:spPr>
        <p:txBody>
          <a:bodyPr rtlCol="0" anchor="ctr"/>
          <a:lstStyle/>
          <a:p/>
        </p:txBody>
      </p:sp>
      <p:sp>
        <p:nvSpPr>
          <p:cNvPr id="17" name="TextBox 16"/>
          <p:cNvSpPr txBox="1"/>
          <p:nvPr/>
        </p:nvSpPr>
        <p:spPr>
          <a:xfrm>
            <a:off x="9668681" y="5961888"/>
            <a:ext cx="1992661" cy="310896"/>
          </a:xfrm>
          <a:prstGeom prst="rect">
            <a:avLst/>
          </a:prstGeom>
          <a:noFill/>
        </p:spPr>
        <p:txBody>
          <a:bodyPr wrap="square" anchor="ctr" lIns="73152" rIns="73152" tIns="36576" bIns="36576">
            <a:noAutofit/>
          </a:bodyPr>
          <a:lstStyle/>
          <a:p>
            <a:pPr algn="l">
              <a:spcBef>
                <a:spcPts val="0"/>
              </a:spcBef>
              <a:spcAft>
                <a:spcPts val="0"/>
              </a:spcAft>
            </a:pPr>
            <a:r>
              <a:rPr lang="tr-TR" sz="1200" b="0" i="0">
                <a:solidFill>
                  <a:srgbClr val="262626"/>
                </a:solidFill>
                <a:latin typeface="Calibri"/>
              </a:rPr>
              <a:t>1995 katılımı</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224</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91 / 187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2004-2020 Yılları Arasında AB Üyesi Ülkeler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GRUP 6-8</a:t>
            </a:r>
          </a:p>
        </p:txBody>
      </p:sp>
      <p:sp>
        <p:nvSpPr>
          <p:cNvPr id="6" name="Rounded Rectangle 5"/>
          <p:cNvSpPr/>
          <p:nvPr/>
        </p:nvSpPr>
        <p:spPr>
          <a:xfrm>
            <a:off x="502920" y="1243584"/>
            <a:ext cx="4800600" cy="5001768"/>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43584"/>
            <a:ext cx="118872" cy="5001768"/>
          </a:xfrm>
          <a:prstGeom prst="rect">
            <a:avLst/>
          </a:prstGeom>
          <a:solidFill>
            <a:srgbClr val="C27C0E"/>
          </a:solidFill>
          <a:ln>
            <a:noFill/>
          </a:ln>
          <a:effectLst/>
        </p:spPr>
        <p:txBody>
          <a:bodyPr rtlCol="0" anchor="ctr"/>
          <a:lstStyle/>
          <a:p/>
        </p:txBody>
      </p:sp>
      <p:sp>
        <p:nvSpPr>
          <p:cNvPr id="8" name="TextBox 7"/>
          <p:cNvSpPr txBox="1"/>
          <p:nvPr/>
        </p:nvSpPr>
        <p:spPr>
          <a:xfrm>
            <a:off x="777240" y="1243584"/>
            <a:ext cx="4389120" cy="50017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2004 yılında Çek Cumhuriyeti (Çekya), Estonya, Güney Kıbrıs Rum Yönetimi, Letonya, Litvanya, Macaristan, Malta, Polonya, Slovakya ve Slovenya; 2007 yılında Bulgaristan ve Romanya, 2013 yılında da Hırvatistan Avrupa Birliği’ne üye olmuştur. 2020 yılında ise Birleşik Krallık, Avrupa Birliği’nden ayrılmıştır. Avrupa Birliği’ne üye ülke sayısı hâlihazırda 27’dir. Türkiye, Kuzey Makedonya, Karadağ, Sırbistan, Arnavutluk, Ukrayna, Moldova, Gürcistan ve Bosna Hersek Avrupa Birliği üyeliğine aday ülkelerdir.</a:t>
            </a:r>
          </a:p>
        </p:txBody>
      </p:sp>
      <p:pic>
        <p:nvPicPr>
          <p:cNvPr id="9" name="Picture 8" descr="h35_s224_ab_bos_2004.jpg"/>
          <p:cNvPicPr>
            <a:picLocks noChangeAspect="1"/>
          </p:cNvPicPr>
          <p:nvPr/>
        </p:nvPicPr>
        <p:blipFill>
          <a:blip r:embed="rId3"/>
          <a:stretch>
            <a:fillRect/>
          </a:stretch>
        </p:blipFill>
        <p:spPr>
          <a:xfrm>
            <a:off x="5532120" y="1348023"/>
            <a:ext cx="6156655" cy="4792888"/>
          </a:xfrm>
          <a:prstGeom prst="rect">
            <a:avLst/>
          </a:prstGeom>
          <a:ln w="9525">
            <a:solidFill>
              <a:srgbClr val="D9D9D9"/>
            </a:solidFill>
          </a:ln>
        </p:spPr>
      </p:pic>
      <p:sp>
        <p:nvSpPr>
          <p:cNvPr id="10" name="TextBox 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1" name="Rounded Rectangle 1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224</a:t>
            </a:r>
          </a:p>
        </p:txBody>
      </p:sp>
      <p:sp>
        <p:nvSpPr>
          <p:cNvPr id="12" name="TextBox 1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92 / 187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2004-2020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5_ab_cevap_2004_2020.jpg"/>
          <p:cNvPicPr>
            <a:picLocks noChangeAspect="1"/>
          </p:cNvPicPr>
          <p:nvPr/>
        </p:nvPicPr>
        <p:blipFill>
          <a:blip r:embed="rId3"/>
          <a:stretch>
            <a:fillRect/>
          </a:stretch>
        </p:blipFill>
        <p:spPr>
          <a:xfrm>
            <a:off x="502920" y="1216152"/>
            <a:ext cx="6469011" cy="5025223"/>
          </a:xfrm>
          <a:prstGeom prst="rect">
            <a:avLst/>
          </a:prstGeom>
          <a:ln w="9525">
            <a:solidFill>
              <a:srgbClr val="D9D9D9"/>
            </a:solidFill>
          </a:ln>
        </p:spPr>
      </p:pic>
      <p:sp>
        <p:nvSpPr>
          <p:cNvPr id="7" name="Oval 6"/>
          <p:cNvSpPr/>
          <p:nvPr/>
        </p:nvSpPr>
        <p:spPr>
          <a:xfrm>
            <a:off x="3282410" y="3851502"/>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a:t>
            </a:r>
          </a:p>
        </p:txBody>
      </p:sp>
      <p:sp>
        <p:nvSpPr>
          <p:cNvPr id="8" name="Oval 7"/>
          <p:cNvSpPr/>
          <p:nvPr/>
        </p:nvSpPr>
        <p:spPr>
          <a:xfrm>
            <a:off x="3282410" y="3851502"/>
            <a:ext cx="256032" cy="256032"/>
          </a:xfrm>
          <a:prstGeom prst="ellipse">
            <a:avLst/>
          </a:prstGeom>
          <a:noFill/>
          <a:ln w="25400">
            <a:solidFill>
              <a:srgbClr val="C27C0E"/>
            </a:solidFill>
          </a:ln>
          <a:effectLst/>
        </p:spPr>
        <p:txBody>
          <a:bodyPr rtlCol="0" anchor="ctr"/>
          <a:lstStyle/>
          <a:p/>
        </p:txBody>
      </p:sp>
      <p:sp>
        <p:nvSpPr>
          <p:cNvPr id="9" name="Oval 8"/>
          <p:cNvSpPr/>
          <p:nvPr/>
        </p:nvSpPr>
        <p:spPr>
          <a:xfrm>
            <a:off x="4220315" y="2711708"/>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2</a:t>
            </a:r>
          </a:p>
        </p:txBody>
      </p:sp>
      <p:sp>
        <p:nvSpPr>
          <p:cNvPr id="10" name="Oval 9"/>
          <p:cNvSpPr/>
          <p:nvPr/>
        </p:nvSpPr>
        <p:spPr>
          <a:xfrm>
            <a:off x="4220315" y="2711708"/>
            <a:ext cx="256032" cy="256032"/>
          </a:xfrm>
          <a:prstGeom prst="ellipse">
            <a:avLst/>
          </a:prstGeom>
          <a:noFill/>
          <a:ln w="25400">
            <a:solidFill>
              <a:srgbClr val="C27C0E"/>
            </a:solidFill>
          </a:ln>
          <a:effectLst/>
        </p:spPr>
        <p:txBody>
          <a:bodyPr rtlCol="0" anchor="ctr"/>
          <a:lstStyle/>
          <a:p/>
        </p:txBody>
      </p:sp>
      <p:sp>
        <p:nvSpPr>
          <p:cNvPr id="11" name="Oval 10"/>
          <p:cNvSpPr/>
          <p:nvPr/>
        </p:nvSpPr>
        <p:spPr>
          <a:xfrm>
            <a:off x="5462405" y="5877801"/>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3</a:t>
            </a:r>
          </a:p>
        </p:txBody>
      </p:sp>
      <p:sp>
        <p:nvSpPr>
          <p:cNvPr id="12" name="Oval 11"/>
          <p:cNvSpPr/>
          <p:nvPr/>
        </p:nvSpPr>
        <p:spPr>
          <a:xfrm>
            <a:off x="5462405" y="5877801"/>
            <a:ext cx="256032" cy="256032"/>
          </a:xfrm>
          <a:prstGeom prst="ellipse">
            <a:avLst/>
          </a:prstGeom>
          <a:noFill/>
          <a:ln w="25400">
            <a:solidFill>
              <a:srgbClr val="C27C0E"/>
            </a:solidFill>
          </a:ln>
          <a:effectLst/>
        </p:spPr>
        <p:txBody>
          <a:bodyPr rtlCol="0" anchor="ctr"/>
          <a:lstStyle/>
          <a:p/>
        </p:txBody>
      </p:sp>
      <p:sp>
        <p:nvSpPr>
          <p:cNvPr id="13" name="Oval 12"/>
          <p:cNvSpPr/>
          <p:nvPr/>
        </p:nvSpPr>
        <p:spPr>
          <a:xfrm>
            <a:off x="4169617" y="2914338"/>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4</a:t>
            </a:r>
          </a:p>
        </p:txBody>
      </p:sp>
      <p:sp>
        <p:nvSpPr>
          <p:cNvPr id="14" name="Oval 13"/>
          <p:cNvSpPr/>
          <p:nvPr/>
        </p:nvSpPr>
        <p:spPr>
          <a:xfrm>
            <a:off x="4169617" y="2914338"/>
            <a:ext cx="256032" cy="256032"/>
          </a:xfrm>
          <a:prstGeom prst="ellipse">
            <a:avLst/>
          </a:prstGeom>
          <a:noFill/>
          <a:ln w="25400">
            <a:solidFill>
              <a:srgbClr val="C27C0E"/>
            </a:solidFill>
          </a:ln>
          <a:effectLst/>
        </p:spPr>
        <p:txBody>
          <a:bodyPr rtlCol="0" anchor="ctr"/>
          <a:lstStyle/>
          <a:p/>
        </p:txBody>
      </p:sp>
      <p:sp>
        <p:nvSpPr>
          <p:cNvPr id="15" name="Oval 14"/>
          <p:cNvSpPr/>
          <p:nvPr/>
        </p:nvSpPr>
        <p:spPr>
          <a:xfrm>
            <a:off x="4042873" y="3142297"/>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5</a:t>
            </a:r>
          </a:p>
        </p:txBody>
      </p:sp>
      <p:sp>
        <p:nvSpPr>
          <p:cNvPr id="16" name="Oval 15"/>
          <p:cNvSpPr/>
          <p:nvPr/>
        </p:nvSpPr>
        <p:spPr>
          <a:xfrm>
            <a:off x="4042873" y="3142297"/>
            <a:ext cx="256032" cy="256032"/>
          </a:xfrm>
          <a:prstGeom prst="ellipse">
            <a:avLst/>
          </a:prstGeom>
          <a:noFill/>
          <a:ln w="25400">
            <a:solidFill>
              <a:srgbClr val="C27C0E"/>
            </a:solidFill>
          </a:ln>
          <a:effectLst/>
        </p:spPr>
        <p:txBody>
          <a:bodyPr rtlCol="0" anchor="ctr"/>
          <a:lstStyle/>
          <a:p/>
        </p:txBody>
      </p:sp>
      <p:sp>
        <p:nvSpPr>
          <p:cNvPr id="17" name="Oval 16"/>
          <p:cNvSpPr/>
          <p:nvPr/>
        </p:nvSpPr>
        <p:spPr>
          <a:xfrm>
            <a:off x="3764037" y="4206104"/>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6</a:t>
            </a:r>
          </a:p>
        </p:txBody>
      </p:sp>
      <p:sp>
        <p:nvSpPr>
          <p:cNvPr id="18" name="Oval 17"/>
          <p:cNvSpPr/>
          <p:nvPr/>
        </p:nvSpPr>
        <p:spPr>
          <a:xfrm>
            <a:off x="3764037" y="4206104"/>
            <a:ext cx="256032" cy="256032"/>
          </a:xfrm>
          <a:prstGeom prst="ellipse">
            <a:avLst/>
          </a:prstGeom>
          <a:noFill/>
          <a:ln w="25400">
            <a:solidFill>
              <a:srgbClr val="C27C0E"/>
            </a:solidFill>
          </a:ln>
          <a:effectLst/>
        </p:spPr>
        <p:txBody>
          <a:bodyPr rtlCol="0" anchor="ctr"/>
          <a:lstStyle/>
          <a:p/>
        </p:txBody>
      </p:sp>
      <p:sp>
        <p:nvSpPr>
          <p:cNvPr id="19" name="Oval 18"/>
          <p:cNvSpPr/>
          <p:nvPr/>
        </p:nvSpPr>
        <p:spPr>
          <a:xfrm>
            <a:off x="3662641" y="3547557"/>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8</a:t>
            </a:r>
          </a:p>
        </p:txBody>
      </p:sp>
      <p:sp>
        <p:nvSpPr>
          <p:cNvPr id="20" name="Oval 19"/>
          <p:cNvSpPr/>
          <p:nvPr/>
        </p:nvSpPr>
        <p:spPr>
          <a:xfrm>
            <a:off x="3662641" y="3547557"/>
            <a:ext cx="256032" cy="256032"/>
          </a:xfrm>
          <a:prstGeom prst="ellipse">
            <a:avLst/>
          </a:prstGeom>
          <a:noFill/>
          <a:ln w="25400">
            <a:solidFill>
              <a:srgbClr val="C27C0E"/>
            </a:solidFill>
          </a:ln>
          <a:effectLst/>
        </p:spPr>
        <p:txBody>
          <a:bodyPr rtlCol="0" anchor="ctr"/>
          <a:lstStyle/>
          <a:p/>
        </p:txBody>
      </p:sp>
      <p:sp>
        <p:nvSpPr>
          <p:cNvPr id="21" name="Oval 20"/>
          <p:cNvSpPr/>
          <p:nvPr/>
        </p:nvSpPr>
        <p:spPr>
          <a:xfrm>
            <a:off x="3789385" y="4003474"/>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9</a:t>
            </a:r>
          </a:p>
        </p:txBody>
      </p:sp>
      <p:sp>
        <p:nvSpPr>
          <p:cNvPr id="22" name="Oval 21"/>
          <p:cNvSpPr/>
          <p:nvPr/>
        </p:nvSpPr>
        <p:spPr>
          <a:xfrm>
            <a:off x="3789385" y="4003474"/>
            <a:ext cx="256032" cy="256032"/>
          </a:xfrm>
          <a:prstGeom prst="ellipse">
            <a:avLst/>
          </a:prstGeom>
          <a:noFill/>
          <a:ln w="25400">
            <a:solidFill>
              <a:srgbClr val="C27C0E"/>
            </a:solidFill>
          </a:ln>
          <a:effectLst/>
        </p:spPr>
        <p:txBody>
          <a:bodyPr rtlCol="0" anchor="ctr"/>
          <a:lstStyle/>
          <a:p/>
        </p:txBody>
      </p:sp>
      <p:sp>
        <p:nvSpPr>
          <p:cNvPr id="23" name="Oval 22"/>
          <p:cNvSpPr/>
          <p:nvPr/>
        </p:nvSpPr>
        <p:spPr>
          <a:xfrm>
            <a:off x="3257061" y="4358076"/>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10</a:t>
            </a:r>
          </a:p>
        </p:txBody>
      </p:sp>
      <p:sp>
        <p:nvSpPr>
          <p:cNvPr id="24" name="Oval 23"/>
          <p:cNvSpPr/>
          <p:nvPr/>
        </p:nvSpPr>
        <p:spPr>
          <a:xfrm>
            <a:off x="3257061" y="4358076"/>
            <a:ext cx="256032" cy="256032"/>
          </a:xfrm>
          <a:prstGeom prst="ellipse">
            <a:avLst/>
          </a:prstGeom>
          <a:noFill/>
          <a:ln w="25400">
            <a:solidFill>
              <a:srgbClr val="C27C0E"/>
            </a:solidFill>
          </a:ln>
          <a:effectLst/>
        </p:spPr>
        <p:txBody>
          <a:bodyPr rtlCol="0" anchor="ctr"/>
          <a:lstStyle/>
          <a:p/>
        </p:txBody>
      </p:sp>
      <p:sp>
        <p:nvSpPr>
          <p:cNvPr id="25" name="Oval 24"/>
          <p:cNvSpPr/>
          <p:nvPr/>
        </p:nvSpPr>
        <p:spPr>
          <a:xfrm>
            <a:off x="4448454" y="4813994"/>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11</a:t>
            </a:r>
          </a:p>
        </p:txBody>
      </p:sp>
      <p:sp>
        <p:nvSpPr>
          <p:cNvPr id="26" name="Oval 25"/>
          <p:cNvSpPr/>
          <p:nvPr/>
        </p:nvSpPr>
        <p:spPr>
          <a:xfrm>
            <a:off x="4448454" y="4813994"/>
            <a:ext cx="256032" cy="256032"/>
          </a:xfrm>
          <a:prstGeom prst="ellipse">
            <a:avLst/>
          </a:prstGeom>
          <a:noFill/>
          <a:ln w="25400">
            <a:solidFill>
              <a:srgbClr val="C27C0E"/>
            </a:solidFill>
          </a:ln>
          <a:effectLst/>
        </p:spPr>
        <p:txBody>
          <a:bodyPr rtlCol="0" anchor="ctr"/>
          <a:lstStyle/>
          <a:p/>
        </p:txBody>
      </p:sp>
      <p:sp>
        <p:nvSpPr>
          <p:cNvPr id="27" name="Oval 26"/>
          <p:cNvSpPr/>
          <p:nvPr/>
        </p:nvSpPr>
        <p:spPr>
          <a:xfrm>
            <a:off x="4347059" y="4332748"/>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12</a:t>
            </a:r>
          </a:p>
        </p:txBody>
      </p:sp>
      <p:sp>
        <p:nvSpPr>
          <p:cNvPr id="28" name="Oval 27"/>
          <p:cNvSpPr/>
          <p:nvPr/>
        </p:nvSpPr>
        <p:spPr>
          <a:xfrm>
            <a:off x="4347059" y="4332748"/>
            <a:ext cx="256032" cy="256032"/>
          </a:xfrm>
          <a:prstGeom prst="ellipse">
            <a:avLst/>
          </a:prstGeom>
          <a:noFill/>
          <a:ln w="25400">
            <a:solidFill>
              <a:srgbClr val="C27C0E"/>
            </a:solidFill>
          </a:ln>
          <a:effectLst/>
        </p:spPr>
        <p:txBody>
          <a:bodyPr rtlCol="0" anchor="ctr"/>
          <a:lstStyle/>
          <a:p/>
        </p:txBody>
      </p:sp>
      <p:sp>
        <p:nvSpPr>
          <p:cNvPr id="29" name="Oval 28"/>
          <p:cNvSpPr/>
          <p:nvPr/>
        </p:nvSpPr>
        <p:spPr>
          <a:xfrm>
            <a:off x="3586595" y="4408734"/>
            <a:ext cx="256032" cy="256032"/>
          </a:xfrm>
          <a:prstGeom prst="ellipse">
            <a:avLst/>
          </a:prstGeom>
          <a:solidFill>
            <a:srgbClr val="FFFFFF"/>
          </a:solidFill>
          <a:ln>
            <a:noFill/>
          </a:ln>
          <a:effectLst/>
        </p:spPr>
        <p:txBody>
          <a:bodyPr rtlCol="0" anchor="ctr" wrap="none" lIns="0" rIns="0" tIns="0" bIns="0">
            <a:noAutofit/>
          </a:bodyPr>
          <a:lstStyle/>
          <a:p>
            <a:pPr algn="ctr">
              <a:spcBef>
                <a:spcPts val="0"/>
              </a:spcBef>
              <a:spcAft>
                <a:spcPts val="0"/>
              </a:spcAft>
            </a:pPr>
            <a:r>
              <a:rPr lang="tr-TR" sz="1100" b="1" i="0">
                <a:solidFill>
                  <a:srgbClr val="262626"/>
                </a:solidFill>
                <a:latin typeface="Calibri"/>
              </a:rPr>
              <a:t>13</a:t>
            </a:r>
          </a:p>
        </p:txBody>
      </p:sp>
      <p:sp>
        <p:nvSpPr>
          <p:cNvPr id="30" name="Oval 29"/>
          <p:cNvSpPr/>
          <p:nvPr/>
        </p:nvSpPr>
        <p:spPr>
          <a:xfrm>
            <a:off x="3586595" y="4408734"/>
            <a:ext cx="256032" cy="256032"/>
          </a:xfrm>
          <a:prstGeom prst="ellipse">
            <a:avLst/>
          </a:prstGeom>
          <a:noFill/>
          <a:ln w="25400">
            <a:solidFill>
              <a:srgbClr val="C27C0E"/>
            </a:solidFill>
          </a:ln>
          <a:effectLst/>
        </p:spPr>
        <p:txBody>
          <a:bodyPr rtlCol="0" anchor="ctr"/>
          <a:lstStyle/>
          <a:p/>
        </p:txBody>
      </p:sp>
      <p:sp>
        <p:nvSpPr>
          <p:cNvPr id="31" name="Rounded Rectangle 30"/>
          <p:cNvSpPr/>
          <p:nvPr/>
        </p:nvSpPr>
        <p:spPr>
          <a:xfrm>
            <a:off x="7154811" y="1216152"/>
            <a:ext cx="4533963" cy="4279392"/>
          </a:xfrm>
          <a:prstGeom prst="roundRect">
            <a:avLst>
              <a:gd name="adj" fmla="val 8000"/>
            </a:avLst>
          </a:prstGeom>
          <a:solidFill>
            <a:srgbClr val="F0F0F0"/>
          </a:solidFill>
          <a:ln>
            <a:noFill/>
          </a:ln>
          <a:effectLst/>
        </p:spPr>
        <p:txBody>
          <a:bodyPr rtlCol="0" anchor="t" wrap="square" lIns="146304" rIns="146304" tIns="73152" bIns="73152">
            <a:noAutofit/>
          </a:bodyPr>
          <a:lstStyle/>
          <a:p>
            <a:pPr algn="l">
              <a:spcBef>
                <a:spcPts val="0"/>
              </a:spcBef>
              <a:spcAft>
                <a:spcPts val="100"/>
              </a:spcAft>
            </a:pPr>
            <a:r>
              <a:rPr lang="tr-TR" sz="2100" b="1" i="0">
                <a:solidFill>
                  <a:srgbClr val="C27C0E"/>
                </a:solidFill>
                <a:latin typeface="Calibri"/>
              </a:rPr>
              <a:t>2004</a:t>
            </a:r>
          </a:p>
          <a:p>
            <a:pPr algn="l">
              <a:spcBef>
                <a:spcPts val="0"/>
              </a:spcBef>
              <a:spcAft>
                <a:spcPts val="900"/>
              </a:spcAft>
            </a:pPr>
            <a:r>
              <a:rPr lang="tr-TR" sz="2000" b="0" i="0">
                <a:solidFill>
                  <a:srgbClr val="262626"/>
                </a:solidFill>
                <a:latin typeface="Calibri"/>
              </a:rPr>
              <a:t>1 Çekya · 2 Estonya · 3 Güney Kıbrıs Rum Yönetimi · 4 Letonya · 5 Litvanya · 6 Macaristan · 7 Malta (haritada çizili değil) · 8 Polonya · 9 Slovakya · 10 Slovenya</a:t>
            </a:r>
          </a:p>
          <a:p>
            <a:pPr algn="l">
              <a:spcBef>
                <a:spcPts val="0"/>
              </a:spcBef>
              <a:spcAft>
                <a:spcPts val="100"/>
              </a:spcAft>
            </a:pPr>
            <a:r>
              <a:rPr lang="tr-TR" sz="2100" b="1" i="0">
                <a:solidFill>
                  <a:srgbClr val="C27C0E"/>
                </a:solidFill>
                <a:latin typeface="Calibri"/>
              </a:rPr>
              <a:t>2007</a:t>
            </a:r>
          </a:p>
          <a:p>
            <a:pPr algn="l">
              <a:spcBef>
                <a:spcPts val="0"/>
              </a:spcBef>
              <a:spcAft>
                <a:spcPts val="900"/>
              </a:spcAft>
            </a:pPr>
            <a:r>
              <a:rPr lang="tr-TR" sz="2000" b="0" i="0">
                <a:solidFill>
                  <a:srgbClr val="262626"/>
                </a:solidFill>
                <a:latin typeface="Calibri"/>
              </a:rPr>
              <a:t>11 Bulgaristan · 12 Romanya</a:t>
            </a:r>
          </a:p>
          <a:p>
            <a:pPr algn="l">
              <a:spcBef>
                <a:spcPts val="0"/>
              </a:spcBef>
              <a:spcAft>
                <a:spcPts val="100"/>
              </a:spcAft>
            </a:pPr>
            <a:r>
              <a:rPr lang="tr-TR" sz="2100" b="1" i="0">
                <a:solidFill>
                  <a:srgbClr val="C27C0E"/>
                </a:solidFill>
                <a:latin typeface="Calibri"/>
              </a:rPr>
              <a:t>2013</a:t>
            </a:r>
          </a:p>
          <a:p>
            <a:pPr algn="l">
              <a:spcBef>
                <a:spcPts val="0"/>
              </a:spcBef>
              <a:spcAft>
                <a:spcPts val="900"/>
              </a:spcAft>
            </a:pPr>
            <a:r>
              <a:rPr lang="tr-TR" sz="2000" b="0" i="0">
                <a:solidFill>
                  <a:srgbClr val="262626"/>
                </a:solidFill>
                <a:latin typeface="Calibri"/>
              </a:rPr>
              <a:t>13 Hırvatistan</a:t>
            </a:r>
          </a:p>
          <a:p>
            <a:pPr algn="l">
              <a:spcBef>
                <a:spcPts val="0"/>
              </a:spcBef>
              <a:spcAft>
                <a:spcPts val="0"/>
              </a:spcAft>
            </a:pPr>
            <a:r>
              <a:rPr lang="tr-TR" sz="2000" b="1" i="0">
                <a:solidFill>
                  <a:srgbClr val="2E7D32"/>
                </a:solidFill>
                <a:latin typeface="Calibri"/>
              </a:rPr>
              <a:t>2020 Birleşik Krallık ayrıldı → 27 üye</a:t>
            </a:r>
          </a:p>
        </p:txBody>
      </p:sp>
      <p:sp>
        <p:nvSpPr>
          <p:cNvPr id="32" name="Rectangle 31"/>
          <p:cNvSpPr/>
          <p:nvPr/>
        </p:nvSpPr>
        <p:spPr>
          <a:xfrm>
            <a:off x="7154811" y="5687568"/>
            <a:ext cx="201168" cy="201168"/>
          </a:xfrm>
          <a:prstGeom prst="rect">
            <a:avLst/>
          </a:prstGeom>
          <a:solidFill>
            <a:srgbClr val="C9D3DE"/>
          </a:solidFill>
          <a:ln w="6350">
            <a:solidFill>
              <a:srgbClr val="D9D9D9"/>
            </a:solidFill>
          </a:ln>
          <a:effectLst/>
        </p:spPr>
        <p:txBody>
          <a:bodyPr rtlCol="0" anchor="ctr"/>
          <a:lstStyle/>
          <a:p/>
        </p:txBody>
      </p:sp>
      <p:sp>
        <p:nvSpPr>
          <p:cNvPr id="33" name="TextBox 32"/>
          <p:cNvSpPr txBox="1"/>
          <p:nvPr/>
        </p:nvSpPr>
        <p:spPr>
          <a:xfrm>
            <a:off x="7401699" y="5632704"/>
            <a:ext cx="1992661" cy="310896"/>
          </a:xfrm>
          <a:prstGeom prst="rect">
            <a:avLst/>
          </a:prstGeom>
          <a:noFill/>
        </p:spPr>
        <p:txBody>
          <a:bodyPr wrap="square" anchor="ctr" lIns="73152" rIns="73152" tIns="36576" bIns="36576">
            <a:noAutofit/>
          </a:bodyPr>
          <a:lstStyle/>
          <a:p>
            <a:pPr algn="l">
              <a:spcBef>
                <a:spcPts val="0"/>
              </a:spcBef>
              <a:spcAft>
                <a:spcPts val="0"/>
              </a:spcAft>
            </a:pPr>
            <a:r>
              <a:rPr lang="tr-TR" sz="1200" b="0" i="0">
                <a:solidFill>
                  <a:srgbClr val="262626"/>
                </a:solidFill>
                <a:latin typeface="Calibri"/>
              </a:rPr>
              <a:t>önceki üyeler</a:t>
            </a:r>
          </a:p>
        </p:txBody>
      </p:sp>
      <p:sp>
        <p:nvSpPr>
          <p:cNvPr id="34" name="Rectangle 33"/>
          <p:cNvSpPr/>
          <p:nvPr/>
        </p:nvSpPr>
        <p:spPr>
          <a:xfrm>
            <a:off x="9421793" y="5687568"/>
            <a:ext cx="201168" cy="201168"/>
          </a:xfrm>
          <a:prstGeom prst="rect">
            <a:avLst/>
          </a:prstGeom>
          <a:solidFill>
            <a:srgbClr val="C27C0E"/>
          </a:solidFill>
          <a:ln w="6350">
            <a:solidFill>
              <a:srgbClr val="D9D9D9"/>
            </a:solidFill>
          </a:ln>
          <a:effectLst/>
        </p:spPr>
        <p:txBody>
          <a:bodyPr rtlCol="0" anchor="ctr"/>
          <a:lstStyle/>
          <a:p/>
        </p:txBody>
      </p:sp>
      <p:sp>
        <p:nvSpPr>
          <p:cNvPr id="35" name="TextBox 34"/>
          <p:cNvSpPr txBox="1"/>
          <p:nvPr/>
        </p:nvSpPr>
        <p:spPr>
          <a:xfrm>
            <a:off x="9668681" y="5632704"/>
            <a:ext cx="1992661" cy="310896"/>
          </a:xfrm>
          <a:prstGeom prst="rect">
            <a:avLst/>
          </a:prstGeom>
          <a:noFill/>
        </p:spPr>
        <p:txBody>
          <a:bodyPr wrap="square" anchor="ctr" lIns="73152" rIns="73152" tIns="36576" bIns="36576">
            <a:noAutofit/>
          </a:bodyPr>
          <a:lstStyle/>
          <a:p>
            <a:pPr algn="l">
              <a:spcBef>
                <a:spcPts val="0"/>
              </a:spcBef>
              <a:spcAft>
                <a:spcPts val="0"/>
              </a:spcAft>
            </a:pPr>
            <a:r>
              <a:rPr lang="tr-TR" sz="1200" b="0" i="0">
                <a:solidFill>
                  <a:srgbClr val="262626"/>
                </a:solidFill>
                <a:latin typeface="Calibri"/>
              </a:rPr>
              <a:t>2004, 2007, 2013 katılımları</a:t>
            </a:r>
          </a:p>
        </p:txBody>
      </p:sp>
      <p:sp>
        <p:nvSpPr>
          <p:cNvPr id="36" name="Rectangle 35"/>
          <p:cNvSpPr/>
          <p:nvPr/>
        </p:nvSpPr>
        <p:spPr>
          <a:xfrm>
            <a:off x="7154811" y="6016752"/>
            <a:ext cx="201168" cy="201168"/>
          </a:xfrm>
          <a:prstGeom prst="rect">
            <a:avLst/>
          </a:prstGeom>
          <a:solidFill>
            <a:srgbClr val="A6A6A6"/>
          </a:solidFill>
          <a:ln w="6350">
            <a:solidFill>
              <a:srgbClr val="D9D9D9"/>
            </a:solidFill>
          </a:ln>
          <a:effectLst/>
        </p:spPr>
        <p:txBody>
          <a:bodyPr rtlCol="0" anchor="ctr"/>
          <a:lstStyle/>
          <a:p/>
        </p:txBody>
      </p:sp>
      <p:sp>
        <p:nvSpPr>
          <p:cNvPr id="37" name="TextBox 36"/>
          <p:cNvSpPr txBox="1"/>
          <p:nvPr/>
        </p:nvSpPr>
        <p:spPr>
          <a:xfrm>
            <a:off x="7401699" y="5961888"/>
            <a:ext cx="1992661" cy="310896"/>
          </a:xfrm>
          <a:prstGeom prst="rect">
            <a:avLst/>
          </a:prstGeom>
          <a:noFill/>
        </p:spPr>
        <p:txBody>
          <a:bodyPr wrap="square" anchor="ctr" lIns="73152" rIns="73152" tIns="36576" bIns="36576">
            <a:noAutofit/>
          </a:bodyPr>
          <a:lstStyle/>
          <a:p>
            <a:pPr algn="l">
              <a:spcBef>
                <a:spcPts val="0"/>
              </a:spcBef>
              <a:spcAft>
                <a:spcPts val="0"/>
              </a:spcAft>
            </a:pPr>
            <a:r>
              <a:rPr lang="tr-TR" sz="1200" b="0" i="0">
                <a:solidFill>
                  <a:srgbClr val="262626"/>
                </a:solidFill>
                <a:latin typeface="Calibri"/>
              </a:rPr>
              <a:t>2020'de ayrıldı</a:t>
            </a:r>
          </a:p>
        </p:txBody>
      </p:sp>
      <p:sp>
        <p:nvSpPr>
          <p:cNvPr id="38" name="TextBox 3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9" name="Rounded Rectangle 3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224</a:t>
            </a:r>
          </a:p>
        </p:txBody>
      </p:sp>
      <p:sp>
        <p:nvSpPr>
          <p:cNvPr id="40" name="TextBox 3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93 / 187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1-2</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DEĞERLENDİRME</a:t>
            </a:r>
          </a:p>
        </p:txBody>
      </p:sp>
      <p:sp>
        <p:nvSpPr>
          <p:cNvPr id="6" name="Rounded Rectangle 5"/>
          <p:cNvSpPr/>
          <p:nvPr/>
        </p:nvSpPr>
        <p:spPr>
          <a:xfrm>
            <a:off x="502920" y="1261872"/>
            <a:ext cx="5455767" cy="2194560"/>
          </a:xfrm>
          <a:prstGeom prst="roundRect">
            <a:avLst>
              <a:gd name="adj" fmla="val 6000"/>
            </a:avLst>
          </a:prstGeom>
          <a:solidFill>
            <a:srgbClr val="FFF3D1"/>
          </a:solidFill>
          <a:ln>
            <a:noFill/>
          </a:ln>
          <a:effectLst/>
        </p:spPr>
        <p:txBody>
          <a:bodyPr rtlCol="0" anchor="ctr"/>
          <a:lstStyle/>
          <a:p/>
        </p:txBody>
      </p:sp>
      <p:sp>
        <p:nvSpPr>
          <p:cNvPr id="7" name="TextBox 6"/>
          <p:cNvSpPr txBox="1"/>
          <p:nvPr/>
        </p:nvSpPr>
        <p:spPr>
          <a:xfrm>
            <a:off x="685800" y="1335024"/>
            <a:ext cx="5090007"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2A5D8F"/>
                </a:solidFill>
                <a:latin typeface="Calibri"/>
              </a:rPr>
              <a:t>DEĞERLENDİRME 1</a:t>
            </a:r>
          </a:p>
        </p:txBody>
      </p:sp>
      <p:sp>
        <p:nvSpPr>
          <p:cNvPr id="8" name="TextBox 7"/>
          <p:cNvSpPr txBox="1"/>
          <p:nvPr/>
        </p:nvSpPr>
        <p:spPr>
          <a:xfrm>
            <a:off x="685800" y="1682496"/>
            <a:ext cx="5090007" cy="1682496"/>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262626"/>
                </a:solidFill>
                <a:latin typeface="Calibri"/>
              </a:rPr>
              <a:t>Avrupa Birliği örgütlenmesine neden ihtiyaç duyulmuştur?</a:t>
            </a:r>
          </a:p>
        </p:txBody>
      </p:sp>
      <p:sp>
        <p:nvSpPr>
          <p:cNvPr id="9" name="Rounded Rectangle 8"/>
          <p:cNvSpPr/>
          <p:nvPr/>
        </p:nvSpPr>
        <p:spPr>
          <a:xfrm>
            <a:off x="6233007" y="1261872"/>
            <a:ext cx="5455767" cy="2194560"/>
          </a:xfrm>
          <a:prstGeom prst="roundRect">
            <a:avLst>
              <a:gd name="adj" fmla="val 6000"/>
            </a:avLst>
          </a:prstGeom>
          <a:solidFill>
            <a:srgbClr val="FFF3D1"/>
          </a:solidFill>
          <a:ln>
            <a:noFill/>
          </a:ln>
          <a:effectLst/>
        </p:spPr>
        <p:txBody>
          <a:bodyPr rtlCol="0" anchor="ctr"/>
          <a:lstStyle/>
          <a:p/>
        </p:txBody>
      </p:sp>
      <p:sp>
        <p:nvSpPr>
          <p:cNvPr id="10" name="TextBox 9"/>
          <p:cNvSpPr txBox="1"/>
          <p:nvPr/>
        </p:nvSpPr>
        <p:spPr>
          <a:xfrm>
            <a:off x="6415887" y="1335024"/>
            <a:ext cx="5090007"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2A5D8F"/>
                </a:solidFill>
                <a:latin typeface="Calibri"/>
              </a:rPr>
              <a:t>DEĞERLENDİRME 2</a:t>
            </a:r>
          </a:p>
        </p:txBody>
      </p:sp>
      <p:sp>
        <p:nvSpPr>
          <p:cNvPr id="11" name="TextBox 10"/>
          <p:cNvSpPr txBox="1"/>
          <p:nvPr/>
        </p:nvSpPr>
        <p:spPr>
          <a:xfrm>
            <a:off x="6415887" y="1682496"/>
            <a:ext cx="5090007" cy="1682496"/>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262626"/>
                </a:solidFill>
                <a:latin typeface="Calibri"/>
              </a:rPr>
              <a:t>Avrupa Birliği Bölgesi’nin sınırlarında tarihsel süreçte nasıl bir değişim yaşanmıştır?</a:t>
            </a:r>
          </a:p>
        </p:txBody>
      </p:sp>
      <p:pic>
        <p:nvPicPr>
          <p:cNvPr id="12" name="Picture 11" descr="h35_s223_ab_bos.jpg"/>
          <p:cNvPicPr>
            <a:picLocks noChangeAspect="1"/>
          </p:cNvPicPr>
          <p:nvPr/>
        </p:nvPicPr>
        <p:blipFill>
          <a:blip r:embed="rId3"/>
          <a:stretch>
            <a:fillRect/>
          </a:stretch>
        </p:blipFill>
        <p:spPr>
          <a:xfrm>
            <a:off x="629730" y="3639312"/>
            <a:ext cx="3353076" cy="2606040"/>
          </a:xfrm>
          <a:prstGeom prst="rect">
            <a:avLst/>
          </a:prstGeom>
          <a:ln w="9525">
            <a:solidFill>
              <a:srgbClr val="D9D9D9"/>
            </a:solidFill>
          </a:ln>
        </p:spPr>
      </p:pic>
      <p:pic>
        <p:nvPicPr>
          <p:cNvPr id="13" name="Picture 12" descr="h35_s224_ab_bos_1995.jpg"/>
          <p:cNvPicPr>
            <a:picLocks noChangeAspect="1"/>
          </p:cNvPicPr>
          <p:nvPr/>
        </p:nvPicPr>
        <p:blipFill>
          <a:blip r:embed="rId4"/>
          <a:stretch>
            <a:fillRect/>
          </a:stretch>
        </p:blipFill>
        <p:spPr>
          <a:xfrm>
            <a:off x="4419308" y="3639312"/>
            <a:ext cx="3353076" cy="2606040"/>
          </a:xfrm>
          <a:prstGeom prst="rect">
            <a:avLst/>
          </a:prstGeom>
          <a:ln w="9525">
            <a:solidFill>
              <a:srgbClr val="D9D9D9"/>
            </a:solidFill>
          </a:ln>
        </p:spPr>
      </p:pic>
      <p:pic>
        <p:nvPicPr>
          <p:cNvPr id="14" name="Picture 13" descr="h35_s224_ab_bos_2004.jpg"/>
          <p:cNvPicPr>
            <a:picLocks noChangeAspect="1"/>
          </p:cNvPicPr>
          <p:nvPr/>
        </p:nvPicPr>
        <p:blipFill>
          <a:blip r:embed="rId5"/>
          <a:stretch>
            <a:fillRect/>
          </a:stretch>
        </p:blipFill>
        <p:spPr>
          <a:xfrm>
            <a:off x="8211644" y="3639312"/>
            <a:ext cx="3347561" cy="2606040"/>
          </a:xfrm>
          <a:prstGeom prst="rect">
            <a:avLst/>
          </a:prstGeom>
          <a:ln w="9525">
            <a:solidFill>
              <a:srgbClr val="D9D9D9"/>
            </a:solidFill>
          </a:ln>
        </p:spPr>
      </p:pic>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224</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94 / 187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1-2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105156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105156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10865815" cy="941832"/>
          </a:xfrm>
          <a:prstGeom prst="rect">
            <a:avLst/>
          </a:prstGeom>
          <a:noFill/>
        </p:spPr>
        <p:txBody>
          <a:bodyPr wrap="square" anchor="ctr" lIns="73152" rIns="73152" tIns="36576" bIns="36576">
            <a:noAutofit/>
          </a:bodyPr>
          <a:lstStyle/>
          <a:p>
            <a:pPr algn="l">
              <a:spcBef>
                <a:spcPts val="0"/>
              </a:spcBef>
              <a:spcAft>
                <a:spcPts val="368"/>
              </a:spcAft>
            </a:pPr>
            <a:r>
              <a:rPr lang="tr-TR" sz="1750" b="1" i="0">
                <a:solidFill>
                  <a:srgbClr val="2E7D32"/>
                </a:solidFill>
                <a:latin typeface="Calibri"/>
              </a:rPr>
              <a:t>1 · Neden?</a:t>
            </a:r>
          </a:p>
          <a:p>
            <a:pPr algn="l">
              <a:spcBef>
                <a:spcPts val="0"/>
              </a:spcBef>
              <a:spcAft>
                <a:spcPts val="0"/>
              </a:spcAft>
            </a:pPr>
            <a:r>
              <a:rPr lang="tr-TR" sz="1750" b="0" i="0">
                <a:solidFill>
                  <a:srgbClr val="262626"/>
                </a:solidFill>
                <a:latin typeface="Calibri"/>
              </a:rPr>
              <a:t>İkinci Dünya Savaşı sonrasında Avrupa’da savaşların sona ermesi ve barışın sürdürülebilmesinin tek yolunun ülkelerin ekonomik ve siyasi yönden birleşmesiyle mümkün olacağı fikri ortaya çıkmıştır.</a:t>
            </a:r>
          </a:p>
        </p:txBody>
      </p:sp>
      <p:sp>
        <p:nvSpPr>
          <p:cNvPr id="9" name="TextBox 8"/>
          <p:cNvSpPr txBox="1"/>
          <p:nvPr/>
        </p:nvSpPr>
        <p:spPr>
          <a:xfrm>
            <a:off x="502920" y="2359152"/>
            <a:ext cx="3637178" cy="329184"/>
          </a:xfrm>
          <a:prstGeom prst="rect">
            <a:avLst/>
          </a:prstGeom>
          <a:noFill/>
        </p:spPr>
        <p:txBody>
          <a:bodyPr wrap="square" anchor="ctr" lIns="73152" rIns="73152" tIns="36576" bIns="36576">
            <a:noAutofit/>
          </a:bodyPr>
          <a:lstStyle/>
          <a:p>
            <a:pPr algn="ctr">
              <a:spcBef>
                <a:spcPts val="0"/>
              </a:spcBef>
              <a:spcAft>
                <a:spcPts val="0"/>
              </a:spcAft>
            </a:pPr>
            <a:r>
              <a:rPr lang="tr-TR" sz="1600" b="1" i="0">
                <a:solidFill>
                  <a:srgbClr val="1F4E8C"/>
                </a:solidFill>
                <a:latin typeface="Calibri"/>
              </a:rPr>
              <a:t>1951-1986</a:t>
            </a:r>
          </a:p>
        </p:txBody>
      </p:sp>
      <p:pic>
        <p:nvPicPr>
          <p:cNvPr id="10" name="Picture 9" descr="h35_ab_cevap_1951_1986.jpg"/>
          <p:cNvPicPr>
            <a:picLocks noChangeAspect="1"/>
          </p:cNvPicPr>
          <p:nvPr/>
        </p:nvPicPr>
        <p:blipFill>
          <a:blip r:embed="rId3"/>
          <a:stretch>
            <a:fillRect/>
          </a:stretch>
        </p:blipFill>
        <p:spPr>
          <a:xfrm>
            <a:off x="555837" y="2706624"/>
            <a:ext cx="3531343" cy="2743200"/>
          </a:xfrm>
          <a:prstGeom prst="rect">
            <a:avLst/>
          </a:prstGeom>
          <a:ln w="9525">
            <a:solidFill>
              <a:srgbClr val="D9D9D9"/>
            </a:solidFill>
          </a:ln>
        </p:spPr>
      </p:pic>
      <p:sp>
        <p:nvSpPr>
          <p:cNvPr id="11" name="TextBox 10"/>
          <p:cNvSpPr txBox="1"/>
          <p:nvPr/>
        </p:nvSpPr>
        <p:spPr>
          <a:xfrm>
            <a:off x="4277258" y="2359152"/>
            <a:ext cx="3637178" cy="329184"/>
          </a:xfrm>
          <a:prstGeom prst="rect">
            <a:avLst/>
          </a:prstGeom>
          <a:noFill/>
        </p:spPr>
        <p:txBody>
          <a:bodyPr wrap="square" anchor="ctr" lIns="73152" rIns="73152" tIns="36576" bIns="36576">
            <a:noAutofit/>
          </a:bodyPr>
          <a:lstStyle/>
          <a:p>
            <a:pPr algn="ctr">
              <a:spcBef>
                <a:spcPts val="0"/>
              </a:spcBef>
              <a:spcAft>
                <a:spcPts val="0"/>
              </a:spcAft>
            </a:pPr>
            <a:r>
              <a:rPr lang="tr-TR" sz="1600" b="1" i="0">
                <a:solidFill>
                  <a:srgbClr val="2E8B57"/>
                </a:solidFill>
                <a:latin typeface="Calibri"/>
              </a:rPr>
              <a:t>1995-2002</a:t>
            </a:r>
          </a:p>
        </p:txBody>
      </p:sp>
      <p:pic>
        <p:nvPicPr>
          <p:cNvPr id="12" name="Picture 11" descr="h35_ab_cevap_1995_2002.jpg"/>
          <p:cNvPicPr>
            <a:picLocks noChangeAspect="1"/>
          </p:cNvPicPr>
          <p:nvPr/>
        </p:nvPicPr>
        <p:blipFill>
          <a:blip r:embed="rId4"/>
          <a:stretch>
            <a:fillRect/>
          </a:stretch>
        </p:blipFill>
        <p:spPr>
          <a:xfrm>
            <a:off x="4330175" y="2706624"/>
            <a:ext cx="3531343" cy="2743200"/>
          </a:xfrm>
          <a:prstGeom prst="rect">
            <a:avLst/>
          </a:prstGeom>
          <a:ln w="9525">
            <a:solidFill>
              <a:srgbClr val="D9D9D9"/>
            </a:solidFill>
          </a:ln>
        </p:spPr>
      </p:pic>
      <p:sp>
        <p:nvSpPr>
          <p:cNvPr id="13" name="TextBox 12"/>
          <p:cNvSpPr txBox="1"/>
          <p:nvPr/>
        </p:nvSpPr>
        <p:spPr>
          <a:xfrm>
            <a:off x="8051596" y="2359152"/>
            <a:ext cx="3637178" cy="329184"/>
          </a:xfrm>
          <a:prstGeom prst="rect">
            <a:avLst/>
          </a:prstGeom>
          <a:noFill/>
        </p:spPr>
        <p:txBody>
          <a:bodyPr wrap="square" anchor="ctr" lIns="73152" rIns="73152" tIns="36576" bIns="36576">
            <a:noAutofit/>
          </a:bodyPr>
          <a:lstStyle/>
          <a:p>
            <a:pPr algn="ctr">
              <a:spcBef>
                <a:spcPts val="0"/>
              </a:spcBef>
              <a:spcAft>
                <a:spcPts val="0"/>
              </a:spcAft>
            </a:pPr>
            <a:r>
              <a:rPr lang="tr-TR" sz="1600" b="1" i="0">
                <a:solidFill>
                  <a:srgbClr val="C27C0E"/>
                </a:solidFill>
                <a:latin typeface="Calibri"/>
              </a:rPr>
              <a:t>2004-2020</a:t>
            </a:r>
          </a:p>
        </p:txBody>
      </p:sp>
      <p:pic>
        <p:nvPicPr>
          <p:cNvPr id="14" name="Picture 13" descr="h35_ab_cevap_2004_2020.jpg"/>
          <p:cNvPicPr>
            <a:picLocks noChangeAspect="1"/>
          </p:cNvPicPr>
          <p:nvPr/>
        </p:nvPicPr>
        <p:blipFill>
          <a:blip r:embed="rId5"/>
          <a:stretch>
            <a:fillRect/>
          </a:stretch>
        </p:blipFill>
        <p:spPr>
          <a:xfrm>
            <a:off x="8104513" y="2706624"/>
            <a:ext cx="3531343" cy="2743200"/>
          </a:xfrm>
          <a:prstGeom prst="rect">
            <a:avLst/>
          </a:prstGeom>
          <a:ln w="9525">
            <a:solidFill>
              <a:srgbClr val="D9D9D9"/>
            </a:solidFill>
          </a:ln>
        </p:spPr>
      </p:pic>
      <p:sp>
        <p:nvSpPr>
          <p:cNvPr id="15" name="TextBox 14"/>
          <p:cNvSpPr txBox="1"/>
          <p:nvPr/>
        </p:nvSpPr>
        <p:spPr>
          <a:xfrm>
            <a:off x="502920" y="5559552"/>
            <a:ext cx="1417320" cy="73152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E7D32"/>
                </a:solidFill>
                <a:latin typeface="Calibri"/>
              </a:rPr>
              <a:t>2 · Üye sayısı:</a:t>
            </a:r>
          </a:p>
        </p:txBody>
      </p:sp>
      <p:sp>
        <p:nvSpPr>
          <p:cNvPr id="16" name="Rounded Rectangle 15"/>
          <p:cNvSpPr/>
          <p:nvPr/>
        </p:nvSpPr>
        <p:spPr>
          <a:xfrm>
            <a:off x="1965960" y="5559552"/>
            <a:ext cx="1025448" cy="731520"/>
          </a:xfrm>
          <a:prstGeom prst="roundRect">
            <a:avLst>
              <a:gd name="adj" fmla="val 15000"/>
            </a:avLst>
          </a:prstGeom>
          <a:solidFill>
            <a:srgbClr val="1F4E8C"/>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6</a:t>
            </a:r>
          </a:p>
          <a:p>
            <a:pPr algn="ctr">
              <a:spcBef>
                <a:spcPts val="0"/>
              </a:spcBef>
              <a:spcAft>
                <a:spcPts val="0"/>
              </a:spcAft>
            </a:pPr>
            <a:r>
              <a:rPr lang="tr-TR" sz="1200" b="0" i="0">
                <a:solidFill>
                  <a:srgbClr val="FFFFFF"/>
                </a:solidFill>
                <a:latin typeface="Calibri"/>
              </a:rPr>
              <a:t>1951</a:t>
            </a:r>
          </a:p>
        </p:txBody>
      </p:sp>
      <p:sp>
        <p:nvSpPr>
          <p:cNvPr id="17" name="Rounded Rectangle 16"/>
          <p:cNvSpPr/>
          <p:nvPr/>
        </p:nvSpPr>
        <p:spPr>
          <a:xfrm>
            <a:off x="3046272" y="5559552"/>
            <a:ext cx="1025448" cy="731520"/>
          </a:xfrm>
          <a:prstGeom prst="roundRect">
            <a:avLst>
              <a:gd name="adj" fmla="val 15000"/>
            </a:avLst>
          </a:prstGeom>
          <a:solidFill>
            <a:srgbClr val="1F4E8C"/>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9</a:t>
            </a:r>
          </a:p>
          <a:p>
            <a:pPr algn="ctr">
              <a:spcBef>
                <a:spcPts val="0"/>
              </a:spcBef>
              <a:spcAft>
                <a:spcPts val="0"/>
              </a:spcAft>
            </a:pPr>
            <a:r>
              <a:rPr lang="tr-TR" sz="1200" b="0" i="0">
                <a:solidFill>
                  <a:srgbClr val="FFFFFF"/>
                </a:solidFill>
                <a:latin typeface="Calibri"/>
              </a:rPr>
              <a:t>1973</a:t>
            </a:r>
          </a:p>
        </p:txBody>
      </p:sp>
      <p:sp>
        <p:nvSpPr>
          <p:cNvPr id="18" name="Rounded Rectangle 17"/>
          <p:cNvSpPr/>
          <p:nvPr/>
        </p:nvSpPr>
        <p:spPr>
          <a:xfrm>
            <a:off x="4126585" y="5559552"/>
            <a:ext cx="1025448" cy="731520"/>
          </a:xfrm>
          <a:prstGeom prst="roundRect">
            <a:avLst>
              <a:gd name="adj" fmla="val 15000"/>
            </a:avLst>
          </a:prstGeom>
          <a:solidFill>
            <a:srgbClr val="1F4E8C"/>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10</a:t>
            </a:r>
          </a:p>
          <a:p>
            <a:pPr algn="ctr">
              <a:spcBef>
                <a:spcPts val="0"/>
              </a:spcBef>
              <a:spcAft>
                <a:spcPts val="0"/>
              </a:spcAft>
            </a:pPr>
            <a:r>
              <a:rPr lang="tr-TR" sz="1200" b="0" i="0">
                <a:solidFill>
                  <a:srgbClr val="FFFFFF"/>
                </a:solidFill>
                <a:latin typeface="Calibri"/>
              </a:rPr>
              <a:t>1981</a:t>
            </a:r>
          </a:p>
        </p:txBody>
      </p:sp>
      <p:sp>
        <p:nvSpPr>
          <p:cNvPr id="19" name="Rounded Rectangle 18"/>
          <p:cNvSpPr/>
          <p:nvPr/>
        </p:nvSpPr>
        <p:spPr>
          <a:xfrm>
            <a:off x="5206898" y="5559552"/>
            <a:ext cx="1025448" cy="731520"/>
          </a:xfrm>
          <a:prstGeom prst="roundRect">
            <a:avLst>
              <a:gd name="adj" fmla="val 15000"/>
            </a:avLst>
          </a:prstGeom>
          <a:solidFill>
            <a:srgbClr val="1F4E8C"/>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12</a:t>
            </a:r>
          </a:p>
          <a:p>
            <a:pPr algn="ctr">
              <a:spcBef>
                <a:spcPts val="0"/>
              </a:spcBef>
              <a:spcAft>
                <a:spcPts val="0"/>
              </a:spcAft>
            </a:pPr>
            <a:r>
              <a:rPr lang="tr-TR" sz="1200" b="0" i="0">
                <a:solidFill>
                  <a:srgbClr val="FFFFFF"/>
                </a:solidFill>
                <a:latin typeface="Calibri"/>
              </a:rPr>
              <a:t>1986</a:t>
            </a:r>
          </a:p>
        </p:txBody>
      </p:sp>
      <p:sp>
        <p:nvSpPr>
          <p:cNvPr id="20" name="Rounded Rectangle 19"/>
          <p:cNvSpPr/>
          <p:nvPr/>
        </p:nvSpPr>
        <p:spPr>
          <a:xfrm>
            <a:off x="6287211" y="5559552"/>
            <a:ext cx="1025448" cy="731520"/>
          </a:xfrm>
          <a:prstGeom prst="roundRect">
            <a:avLst>
              <a:gd name="adj" fmla="val 15000"/>
            </a:avLst>
          </a:prstGeom>
          <a:solidFill>
            <a:srgbClr val="2E8B57"/>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15</a:t>
            </a:r>
          </a:p>
          <a:p>
            <a:pPr algn="ctr">
              <a:spcBef>
                <a:spcPts val="0"/>
              </a:spcBef>
              <a:spcAft>
                <a:spcPts val="0"/>
              </a:spcAft>
            </a:pPr>
            <a:r>
              <a:rPr lang="tr-TR" sz="1200" b="0" i="0">
                <a:solidFill>
                  <a:srgbClr val="FFFFFF"/>
                </a:solidFill>
                <a:latin typeface="Calibri"/>
              </a:rPr>
              <a:t>1995</a:t>
            </a:r>
          </a:p>
        </p:txBody>
      </p:sp>
      <p:sp>
        <p:nvSpPr>
          <p:cNvPr id="21" name="Rounded Rectangle 20"/>
          <p:cNvSpPr/>
          <p:nvPr/>
        </p:nvSpPr>
        <p:spPr>
          <a:xfrm>
            <a:off x="7367523" y="5559552"/>
            <a:ext cx="1025448" cy="731520"/>
          </a:xfrm>
          <a:prstGeom prst="roundRect">
            <a:avLst>
              <a:gd name="adj" fmla="val 15000"/>
            </a:avLst>
          </a:prstGeom>
          <a:solidFill>
            <a:srgbClr val="C27C0E"/>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25</a:t>
            </a:r>
          </a:p>
          <a:p>
            <a:pPr algn="ctr">
              <a:spcBef>
                <a:spcPts val="0"/>
              </a:spcBef>
              <a:spcAft>
                <a:spcPts val="0"/>
              </a:spcAft>
            </a:pPr>
            <a:r>
              <a:rPr lang="tr-TR" sz="1200" b="0" i="0">
                <a:solidFill>
                  <a:srgbClr val="FFFFFF"/>
                </a:solidFill>
                <a:latin typeface="Calibri"/>
              </a:rPr>
              <a:t>2004</a:t>
            </a:r>
          </a:p>
        </p:txBody>
      </p:sp>
      <p:sp>
        <p:nvSpPr>
          <p:cNvPr id="22" name="Rounded Rectangle 21"/>
          <p:cNvSpPr/>
          <p:nvPr/>
        </p:nvSpPr>
        <p:spPr>
          <a:xfrm>
            <a:off x="8447836" y="5559552"/>
            <a:ext cx="1025448" cy="731520"/>
          </a:xfrm>
          <a:prstGeom prst="roundRect">
            <a:avLst>
              <a:gd name="adj" fmla="val 15000"/>
            </a:avLst>
          </a:prstGeom>
          <a:solidFill>
            <a:srgbClr val="C27C0E"/>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27</a:t>
            </a:r>
          </a:p>
          <a:p>
            <a:pPr algn="ctr">
              <a:spcBef>
                <a:spcPts val="0"/>
              </a:spcBef>
              <a:spcAft>
                <a:spcPts val="0"/>
              </a:spcAft>
            </a:pPr>
            <a:r>
              <a:rPr lang="tr-TR" sz="1200" b="0" i="0">
                <a:solidFill>
                  <a:srgbClr val="FFFFFF"/>
                </a:solidFill>
                <a:latin typeface="Calibri"/>
              </a:rPr>
              <a:t>2007</a:t>
            </a:r>
          </a:p>
        </p:txBody>
      </p:sp>
      <p:sp>
        <p:nvSpPr>
          <p:cNvPr id="23" name="Rounded Rectangle 22"/>
          <p:cNvSpPr/>
          <p:nvPr/>
        </p:nvSpPr>
        <p:spPr>
          <a:xfrm>
            <a:off x="9528149" y="5559552"/>
            <a:ext cx="1025448" cy="731520"/>
          </a:xfrm>
          <a:prstGeom prst="roundRect">
            <a:avLst>
              <a:gd name="adj" fmla="val 15000"/>
            </a:avLst>
          </a:prstGeom>
          <a:solidFill>
            <a:srgbClr val="C27C0E"/>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28</a:t>
            </a:r>
          </a:p>
          <a:p>
            <a:pPr algn="ctr">
              <a:spcBef>
                <a:spcPts val="0"/>
              </a:spcBef>
              <a:spcAft>
                <a:spcPts val="0"/>
              </a:spcAft>
            </a:pPr>
            <a:r>
              <a:rPr lang="tr-TR" sz="1200" b="0" i="0">
                <a:solidFill>
                  <a:srgbClr val="FFFFFF"/>
                </a:solidFill>
                <a:latin typeface="Calibri"/>
              </a:rPr>
              <a:t>2013</a:t>
            </a:r>
          </a:p>
        </p:txBody>
      </p:sp>
      <p:sp>
        <p:nvSpPr>
          <p:cNvPr id="24" name="Rounded Rectangle 23"/>
          <p:cNvSpPr/>
          <p:nvPr/>
        </p:nvSpPr>
        <p:spPr>
          <a:xfrm>
            <a:off x="10608462" y="5559552"/>
            <a:ext cx="1025448" cy="731520"/>
          </a:xfrm>
          <a:prstGeom prst="roundRect">
            <a:avLst>
              <a:gd name="adj" fmla="val 15000"/>
            </a:avLst>
          </a:prstGeom>
          <a:solidFill>
            <a:srgbClr val="D3373A"/>
          </a:solidFill>
          <a:ln>
            <a:noFill/>
          </a:ln>
          <a:effectLst/>
        </p:spPr>
        <p:txBody>
          <a:bodyPr rtlCol="0" anchor="ctr" wrap="square" lIns="18288" rIns="18288" tIns="0" bIns="0">
            <a:noAutofit/>
          </a:bodyPr>
          <a:lstStyle/>
          <a:p>
            <a:pPr algn="ctr">
              <a:spcBef>
                <a:spcPts val="0"/>
              </a:spcBef>
              <a:spcAft>
                <a:spcPts val="0"/>
              </a:spcAft>
            </a:pPr>
            <a:r>
              <a:rPr lang="tr-TR" sz="1800" b="1" i="0">
                <a:solidFill>
                  <a:srgbClr val="FFFFFF"/>
                </a:solidFill>
                <a:latin typeface="Calibri"/>
              </a:rPr>
              <a:t>27</a:t>
            </a:r>
          </a:p>
          <a:p>
            <a:pPr algn="ctr">
              <a:spcBef>
                <a:spcPts val="0"/>
              </a:spcBef>
              <a:spcAft>
                <a:spcPts val="0"/>
              </a:spcAft>
            </a:pPr>
            <a:r>
              <a:rPr lang="tr-TR" sz="1200" b="0" i="0">
                <a:solidFill>
                  <a:srgbClr val="FFFFFF"/>
                </a:solidFill>
                <a:latin typeface="Calibri"/>
              </a:rPr>
              <a:t>2020</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223-224</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95 / 187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3</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DEĞERLENDİRME</a:t>
            </a:r>
          </a:p>
        </p:txBody>
      </p:sp>
      <p:sp>
        <p:nvSpPr>
          <p:cNvPr id="6" name="Rounded Rectangle 5"/>
          <p:cNvSpPr/>
          <p:nvPr/>
        </p:nvSpPr>
        <p:spPr>
          <a:xfrm>
            <a:off x="502920" y="1307592"/>
            <a:ext cx="11185855" cy="1828800"/>
          </a:xfrm>
          <a:prstGeom prst="roundRect">
            <a:avLst>
              <a:gd name="adj" fmla="val 6000"/>
            </a:avLst>
          </a:prstGeom>
          <a:solidFill>
            <a:srgbClr val="FFF3D1"/>
          </a:solidFill>
          <a:ln>
            <a:noFill/>
          </a:ln>
          <a:effectLst/>
        </p:spPr>
        <p:txBody>
          <a:bodyPr rtlCol="0" anchor="ctr"/>
          <a:lstStyle/>
          <a:p/>
        </p:txBody>
      </p:sp>
      <p:sp>
        <p:nvSpPr>
          <p:cNvPr id="7" name="TextBox 6"/>
          <p:cNvSpPr txBox="1"/>
          <p:nvPr/>
        </p:nvSpPr>
        <p:spPr>
          <a:xfrm>
            <a:off x="685800" y="1380744"/>
            <a:ext cx="1082009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2A5D8F"/>
                </a:solidFill>
                <a:latin typeface="Calibri"/>
              </a:rPr>
              <a:t>DEĞERLENDİRME 3</a:t>
            </a:r>
          </a:p>
        </p:txBody>
      </p:sp>
      <p:sp>
        <p:nvSpPr>
          <p:cNvPr id="8" name="TextBox 7"/>
          <p:cNvSpPr txBox="1"/>
          <p:nvPr/>
        </p:nvSpPr>
        <p:spPr>
          <a:xfrm>
            <a:off x="685800" y="1728216"/>
            <a:ext cx="10820095" cy="1316736"/>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262626"/>
                </a:solidFill>
                <a:latin typeface="Calibri"/>
              </a:rPr>
              <a:t>Avrupa Birliği’ne üye bir ülke, aynı zamanda başka bölge sınırları içerisinde de yer alabilir mi? Örneklerle açıklayınız.</a:t>
            </a:r>
          </a:p>
        </p:txBody>
      </p:sp>
      <p:sp>
        <p:nvSpPr>
          <p:cNvPr id="9" name="Rounded Rectangle 8"/>
          <p:cNvSpPr/>
          <p:nvPr/>
        </p:nvSpPr>
        <p:spPr>
          <a:xfrm>
            <a:off x="502920" y="3502152"/>
            <a:ext cx="3545738" cy="1280160"/>
          </a:xfrm>
          <a:prstGeom prst="roundRect">
            <a:avLst>
              <a:gd name="adj" fmla="val 8000"/>
            </a:avLst>
          </a:prstGeom>
          <a:solidFill>
            <a:srgbClr val="FFFFFF"/>
          </a:solidFill>
          <a:ln w="31750">
            <a:solidFill>
              <a:srgbClr val="B05A1E"/>
            </a:solidFill>
          </a:ln>
          <a:effectLst/>
        </p:spPr>
        <p:txBody>
          <a:bodyPr rtlCol="0" anchor="ctr" wrap="square" lIns="128016" rIns="128016" tIns="73152" bIns="73152">
            <a:noAutofit/>
          </a:bodyPr>
          <a:lstStyle/>
          <a:p>
            <a:pPr algn="ctr">
              <a:spcBef>
                <a:spcPts val="0"/>
              </a:spcBef>
              <a:spcAft>
                <a:spcPts val="0"/>
              </a:spcAft>
            </a:pPr>
            <a:r>
              <a:rPr lang="tr-TR" sz="2300" b="1" i="0">
                <a:solidFill>
                  <a:srgbClr val="262626"/>
                </a:solidFill>
                <a:latin typeface="Calibri"/>
              </a:rPr>
              <a:t>Aynı ülke bir iş birliği bölgesi?</a:t>
            </a:r>
          </a:p>
        </p:txBody>
      </p:sp>
      <p:sp>
        <p:nvSpPr>
          <p:cNvPr id="10" name="Rounded Rectangle 9"/>
          <p:cNvSpPr/>
          <p:nvPr/>
        </p:nvSpPr>
        <p:spPr>
          <a:xfrm>
            <a:off x="4322978" y="3502152"/>
            <a:ext cx="3545738" cy="1280160"/>
          </a:xfrm>
          <a:prstGeom prst="roundRect">
            <a:avLst>
              <a:gd name="adj" fmla="val 8000"/>
            </a:avLst>
          </a:prstGeom>
          <a:solidFill>
            <a:srgbClr val="FFFFFF"/>
          </a:solidFill>
          <a:ln w="31750">
            <a:solidFill>
              <a:srgbClr val="3E7D3A"/>
            </a:solidFill>
          </a:ln>
          <a:effectLst/>
        </p:spPr>
        <p:txBody>
          <a:bodyPr rtlCol="0" anchor="ctr" wrap="square" lIns="128016" rIns="128016" tIns="73152" bIns="73152">
            <a:noAutofit/>
          </a:bodyPr>
          <a:lstStyle/>
          <a:p>
            <a:pPr algn="ctr">
              <a:spcBef>
                <a:spcPts val="0"/>
              </a:spcBef>
              <a:spcAft>
                <a:spcPts val="0"/>
              </a:spcAft>
            </a:pPr>
            <a:r>
              <a:rPr lang="tr-TR" sz="2300" b="1" i="0">
                <a:solidFill>
                  <a:srgbClr val="262626"/>
                </a:solidFill>
                <a:latin typeface="Calibri"/>
              </a:rPr>
              <a:t>Aynı ülke bir iklim bölgesi?</a:t>
            </a:r>
          </a:p>
        </p:txBody>
      </p:sp>
      <p:sp>
        <p:nvSpPr>
          <p:cNvPr id="11" name="Rounded Rectangle 10"/>
          <p:cNvSpPr/>
          <p:nvPr/>
        </p:nvSpPr>
        <p:spPr>
          <a:xfrm>
            <a:off x="8143036" y="3502152"/>
            <a:ext cx="3545738" cy="1280160"/>
          </a:xfrm>
          <a:prstGeom prst="roundRect">
            <a:avLst>
              <a:gd name="adj" fmla="val 8000"/>
            </a:avLst>
          </a:prstGeom>
          <a:solidFill>
            <a:srgbClr val="FFFFFF"/>
          </a:solidFill>
          <a:ln w="31750">
            <a:solidFill>
              <a:srgbClr val="B05A1E"/>
            </a:solidFill>
          </a:ln>
          <a:effectLst/>
        </p:spPr>
        <p:txBody>
          <a:bodyPr rtlCol="0" anchor="ctr" wrap="square" lIns="128016" rIns="128016" tIns="73152" bIns="73152">
            <a:noAutofit/>
          </a:bodyPr>
          <a:lstStyle/>
          <a:p>
            <a:pPr algn="ctr">
              <a:spcBef>
                <a:spcPts val="0"/>
              </a:spcBef>
              <a:spcAft>
                <a:spcPts val="0"/>
              </a:spcAft>
            </a:pPr>
            <a:r>
              <a:rPr lang="tr-TR" sz="2300" b="1" i="0">
                <a:solidFill>
                  <a:srgbClr val="262626"/>
                </a:solidFill>
                <a:latin typeface="Calibri"/>
              </a:rPr>
              <a:t>Aynı ülke bir kültür bölgesi?</a:t>
            </a:r>
          </a:p>
        </p:txBody>
      </p:sp>
      <p:sp>
        <p:nvSpPr>
          <p:cNvPr id="12" name="Rounded Rectangle 11"/>
          <p:cNvSpPr/>
          <p:nvPr/>
        </p:nvSpPr>
        <p:spPr>
          <a:xfrm>
            <a:off x="502920" y="5330952"/>
            <a:ext cx="11185855" cy="91440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İpucu: kriter değişince bölge de değişir — bir ülke </a:t>
            </a:r>
            <a:r>
              <a:rPr lang="tr-TR" sz="2000" b="1" i="0">
                <a:solidFill>
                  <a:srgbClr val="262626"/>
                </a:solidFill>
                <a:latin typeface="Calibri"/>
              </a:rPr>
              <a:t>farklı kriterlere göre</a:t>
            </a:r>
            <a:r>
              <a:rPr lang="tr-TR" sz="2000" b="0" i="0">
                <a:solidFill>
                  <a:srgbClr val="262626"/>
                </a:solidFill>
                <a:latin typeface="Calibri"/>
              </a:rPr>
              <a:t> çizilmiş birçok bölgenin içinde olabilir mi?</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224</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96 / 187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3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43584"/>
            <a:ext cx="5455767" cy="39776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43584"/>
            <a:ext cx="5455767" cy="530352"/>
          </a:xfrm>
          <a:prstGeom prst="roundRect">
            <a:avLst>
              <a:gd name="adj" fmla="val 25000"/>
            </a:avLst>
          </a:prstGeom>
          <a:solidFill>
            <a:srgbClr val="B05A1E"/>
          </a:solidFill>
          <a:ln>
            <a:noFill/>
          </a:ln>
          <a:effectLst/>
        </p:spPr>
        <p:txBody>
          <a:bodyPr rtlCol="0" anchor="ctr"/>
          <a:lstStyle/>
          <a:p/>
        </p:txBody>
      </p:sp>
      <p:sp>
        <p:nvSpPr>
          <p:cNvPr id="8" name="Rectangle 7"/>
          <p:cNvSpPr/>
          <p:nvPr/>
        </p:nvSpPr>
        <p:spPr>
          <a:xfrm>
            <a:off x="502920" y="1508760"/>
            <a:ext cx="5455767" cy="265176"/>
          </a:xfrm>
          <a:prstGeom prst="rect">
            <a:avLst/>
          </a:prstGeom>
          <a:solidFill>
            <a:srgbClr val="B05A1E"/>
          </a:solidFill>
          <a:ln>
            <a:noFill/>
          </a:ln>
          <a:effectLst/>
        </p:spPr>
        <p:txBody>
          <a:bodyPr rtlCol="0" anchor="ctr"/>
          <a:lstStyle/>
          <a:p/>
        </p:txBody>
      </p:sp>
      <p:sp>
        <p:nvSpPr>
          <p:cNvPr id="9" name="TextBox 8"/>
          <p:cNvSpPr txBox="1"/>
          <p:nvPr/>
        </p:nvSpPr>
        <p:spPr>
          <a:xfrm>
            <a:off x="594360" y="1243584"/>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AB + İskandinav Kültür Bölgesi</a:t>
            </a:r>
          </a:p>
        </p:txBody>
      </p:sp>
      <p:sp>
        <p:nvSpPr>
          <p:cNvPr id="10" name="TextBox 9"/>
          <p:cNvSpPr txBox="1"/>
          <p:nvPr/>
        </p:nvSpPr>
        <p:spPr>
          <a:xfrm>
            <a:off x="612648" y="1847088"/>
            <a:ext cx="5236311" cy="3300984"/>
          </a:xfrm>
          <a:prstGeom prst="rect">
            <a:avLst/>
          </a:prstGeom>
          <a:noFill/>
        </p:spPr>
        <p:txBody>
          <a:bodyPr wrap="square" anchor="t" lIns="73152" rIns="73152" tIns="36576" bIns="36576">
            <a:noAutofit/>
          </a:bodyPr>
          <a:lstStyle/>
          <a:p>
            <a:pPr algn="l">
              <a:spcBef>
                <a:spcPts val="0"/>
              </a:spcBef>
              <a:spcAft>
                <a:spcPts val="586"/>
              </a:spcAft>
            </a:pPr>
            <a:r>
              <a:rPr lang="tr-TR" sz="2150" b="0" i="0">
                <a:solidFill>
                  <a:srgbClr val="262626"/>
                </a:solidFill>
                <a:latin typeface="Calibri"/>
              </a:rPr>
              <a:t>İskandinav kültürü; Avrupa kıtasının kuzeyinde Aland ve Faroe adaları, Norveç, İsveç, Danimarka, Finlandiya, İzlanda, Grönland’ın bulunduğu bölgede yer alan bir kültürdür.</a:t>
            </a:r>
          </a:p>
          <a:p>
            <a:pPr algn="l">
              <a:spcBef>
                <a:spcPts val="0"/>
              </a:spcBef>
              <a:spcAft>
                <a:spcPts val="586"/>
              </a:spcAft>
            </a:pPr>
            <a:r>
              <a:rPr lang="tr-TR" sz="2150" b="0" i="0">
                <a:solidFill>
                  <a:srgbClr val="262626"/>
                </a:solidFill>
                <a:latin typeface="Calibri"/>
              </a:rPr>
              <a:t>Danimarka (1973), İsveç (1995) ve Finlandiya (1995) Avrupa Birliği’ne üye ülkelerdir.</a:t>
            </a:r>
          </a:p>
          <a:p>
            <a:pPr algn="l">
              <a:spcBef>
                <a:spcPts val="0"/>
              </a:spcBef>
              <a:spcAft>
                <a:spcPts val="0"/>
              </a:spcAft>
            </a:pPr>
            <a:r>
              <a:rPr lang="tr-TR" sz="2150" b="0" i="0">
                <a:solidFill>
                  <a:srgbClr val="262626"/>
                </a:solidFill>
                <a:latin typeface="Calibri"/>
              </a:rPr>
              <a:t>Kriter: Nordik kültürü (beşerî) + üyelik (iş birliği)</a:t>
            </a:r>
          </a:p>
        </p:txBody>
      </p:sp>
      <p:sp>
        <p:nvSpPr>
          <p:cNvPr id="11" name="Rounded Rectangle 10"/>
          <p:cNvSpPr/>
          <p:nvPr/>
        </p:nvSpPr>
        <p:spPr>
          <a:xfrm>
            <a:off x="6233007" y="1243584"/>
            <a:ext cx="5455767" cy="39776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233007" y="1243584"/>
            <a:ext cx="5455767" cy="530352"/>
          </a:xfrm>
          <a:prstGeom prst="roundRect">
            <a:avLst>
              <a:gd name="adj" fmla="val 25000"/>
            </a:avLst>
          </a:prstGeom>
          <a:solidFill>
            <a:srgbClr val="3E7D3A"/>
          </a:solidFill>
          <a:ln>
            <a:noFill/>
          </a:ln>
          <a:effectLst/>
        </p:spPr>
        <p:txBody>
          <a:bodyPr rtlCol="0" anchor="ctr"/>
          <a:lstStyle/>
          <a:p/>
        </p:txBody>
      </p:sp>
      <p:sp>
        <p:nvSpPr>
          <p:cNvPr id="13" name="Rectangle 12"/>
          <p:cNvSpPr/>
          <p:nvPr/>
        </p:nvSpPr>
        <p:spPr>
          <a:xfrm>
            <a:off x="6233007" y="1508760"/>
            <a:ext cx="5455767" cy="265176"/>
          </a:xfrm>
          <a:prstGeom prst="rect">
            <a:avLst/>
          </a:prstGeom>
          <a:solidFill>
            <a:srgbClr val="3E7D3A"/>
          </a:solidFill>
          <a:ln>
            <a:noFill/>
          </a:ln>
          <a:effectLst/>
        </p:spPr>
        <p:txBody>
          <a:bodyPr rtlCol="0" anchor="ctr"/>
          <a:lstStyle/>
          <a:p/>
        </p:txBody>
      </p:sp>
      <p:sp>
        <p:nvSpPr>
          <p:cNvPr id="14" name="TextBox 13"/>
          <p:cNvSpPr txBox="1"/>
          <p:nvPr/>
        </p:nvSpPr>
        <p:spPr>
          <a:xfrm>
            <a:off x="6324447" y="1243584"/>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AB + Akdeniz iklim bölgesi</a:t>
            </a:r>
          </a:p>
        </p:txBody>
      </p:sp>
      <p:sp>
        <p:nvSpPr>
          <p:cNvPr id="15" name="TextBox 14"/>
          <p:cNvSpPr txBox="1"/>
          <p:nvPr/>
        </p:nvSpPr>
        <p:spPr>
          <a:xfrm>
            <a:off x="6342735" y="1847088"/>
            <a:ext cx="5236311" cy="3300984"/>
          </a:xfrm>
          <a:prstGeom prst="rect">
            <a:avLst/>
          </a:prstGeom>
          <a:noFill/>
        </p:spPr>
        <p:txBody>
          <a:bodyPr wrap="square" anchor="t" lIns="73152" rIns="73152" tIns="36576" bIns="36576">
            <a:noAutofit/>
          </a:bodyPr>
          <a:lstStyle/>
          <a:p>
            <a:pPr algn="l">
              <a:spcBef>
                <a:spcPts val="0"/>
              </a:spcBef>
              <a:spcAft>
                <a:spcPts val="600"/>
              </a:spcAft>
            </a:pPr>
            <a:r>
              <a:rPr lang="tr-TR" sz="2400" b="0" i="0">
                <a:solidFill>
                  <a:srgbClr val="262626"/>
                </a:solidFill>
                <a:latin typeface="Calibri"/>
              </a:rPr>
              <a:t>Yunanistan, İtalya, Fransa: AB üyesi ve Akdeniz iklim bölgesinde (doğal şekilsel)</a:t>
            </a:r>
          </a:p>
          <a:p>
            <a:pPr algn="l">
              <a:spcBef>
                <a:spcPts val="0"/>
              </a:spcBef>
              <a:spcAft>
                <a:spcPts val="0"/>
              </a:spcAft>
            </a:pPr>
            <a:r>
              <a:rPr lang="tr-TR" sz="2400" b="0" i="0">
                <a:solidFill>
                  <a:srgbClr val="262626"/>
                </a:solidFill>
                <a:latin typeface="Calibri"/>
              </a:rPr>
              <a:t>Kriter: iklim (doğal) + üyelik (iş birliği)</a:t>
            </a:r>
          </a:p>
        </p:txBody>
      </p:sp>
      <p:sp>
        <p:nvSpPr>
          <p:cNvPr id="16" name="Rounded Rectangle 15"/>
          <p:cNvSpPr/>
          <p:nvPr/>
        </p:nvSpPr>
        <p:spPr>
          <a:xfrm>
            <a:off x="502920" y="5330952"/>
            <a:ext cx="11185855" cy="914400"/>
          </a:xfrm>
          <a:prstGeom prst="roundRect">
            <a:avLst>
              <a:gd name="adj" fmla="val 6000"/>
            </a:avLst>
          </a:prstGeom>
          <a:solidFill>
            <a:srgbClr val="E3F1E4"/>
          </a:solidFill>
          <a:ln>
            <a:noFill/>
          </a:ln>
          <a:effectLst/>
        </p:spPr>
        <p:txBody>
          <a:bodyPr rtlCol="0" anchor="ctr"/>
          <a:lstStyle/>
          <a:p/>
        </p:txBody>
      </p:sp>
      <p:sp>
        <p:nvSpPr>
          <p:cNvPr id="17" name="Rectangle 16"/>
          <p:cNvSpPr/>
          <p:nvPr/>
        </p:nvSpPr>
        <p:spPr>
          <a:xfrm>
            <a:off x="502920" y="5330952"/>
            <a:ext cx="109728" cy="914400"/>
          </a:xfrm>
          <a:prstGeom prst="rect">
            <a:avLst/>
          </a:prstGeom>
          <a:solidFill>
            <a:srgbClr val="2E7D32"/>
          </a:solidFill>
          <a:ln>
            <a:noFill/>
          </a:ln>
          <a:effectLst/>
        </p:spPr>
        <p:txBody>
          <a:bodyPr rtlCol="0" anchor="ctr"/>
          <a:lstStyle/>
          <a:p/>
        </p:txBody>
      </p:sp>
      <p:sp>
        <p:nvSpPr>
          <p:cNvPr id="18" name="TextBox 17"/>
          <p:cNvSpPr txBox="1"/>
          <p:nvPr/>
        </p:nvSpPr>
        <p:spPr>
          <a:xfrm>
            <a:off x="731520" y="5385816"/>
            <a:ext cx="10865815" cy="80467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Sonuç</a:t>
            </a:r>
          </a:p>
          <a:p>
            <a:pPr algn="l">
              <a:spcBef>
                <a:spcPts val="0"/>
              </a:spcBef>
              <a:spcAft>
                <a:spcPts val="0"/>
              </a:spcAft>
            </a:pPr>
            <a:r>
              <a:rPr lang="tr-TR" sz="2000" b="0" i="0">
                <a:solidFill>
                  <a:srgbClr val="262626"/>
                </a:solidFill>
                <a:latin typeface="Calibri"/>
              </a:rPr>
              <a:t>Bir ülke, farklı kriterlere göre çizilmiş birçok bölgenin sınırları içinde yer alabilir.</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226</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97 / 187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4: senin görüşün</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GÖRÜŞ</a:t>
            </a:r>
          </a:p>
        </p:txBody>
      </p:sp>
      <p:sp>
        <p:nvSpPr>
          <p:cNvPr id="6" name="Rounded Rectangle 5"/>
          <p:cNvSpPr/>
          <p:nvPr/>
        </p:nvSpPr>
        <p:spPr>
          <a:xfrm>
            <a:off x="502920" y="1307592"/>
            <a:ext cx="11185855" cy="1828800"/>
          </a:xfrm>
          <a:prstGeom prst="roundRect">
            <a:avLst>
              <a:gd name="adj" fmla="val 6000"/>
            </a:avLst>
          </a:prstGeom>
          <a:solidFill>
            <a:srgbClr val="FFF3D1"/>
          </a:solidFill>
          <a:ln>
            <a:noFill/>
          </a:ln>
          <a:effectLst/>
        </p:spPr>
        <p:txBody>
          <a:bodyPr rtlCol="0" anchor="ctr"/>
          <a:lstStyle/>
          <a:p/>
        </p:txBody>
      </p:sp>
      <p:sp>
        <p:nvSpPr>
          <p:cNvPr id="7" name="TextBox 6"/>
          <p:cNvSpPr txBox="1"/>
          <p:nvPr/>
        </p:nvSpPr>
        <p:spPr>
          <a:xfrm>
            <a:off x="685800" y="1380744"/>
            <a:ext cx="10820095" cy="329184"/>
          </a:xfrm>
          <a:prstGeom prst="rect">
            <a:avLst/>
          </a:prstGeom>
          <a:noFill/>
        </p:spPr>
        <p:txBody>
          <a:bodyPr wrap="square" anchor="ctr" lIns="73152" rIns="73152" tIns="36576" bIns="36576">
            <a:noAutofit/>
          </a:bodyPr>
          <a:lstStyle/>
          <a:p>
            <a:pPr algn="l">
              <a:spcBef>
                <a:spcPts val="0"/>
              </a:spcBef>
              <a:spcAft>
                <a:spcPts val="0"/>
              </a:spcAft>
            </a:pPr>
            <a:r>
              <a:rPr lang="tr-TR" sz="1400" b="1" i="0">
                <a:solidFill>
                  <a:srgbClr val="2A5D8F"/>
                </a:solidFill>
                <a:latin typeface="Calibri"/>
              </a:rPr>
              <a:t>DEĞERLENDİRME 4</a:t>
            </a:r>
          </a:p>
        </p:txBody>
      </p:sp>
      <p:sp>
        <p:nvSpPr>
          <p:cNvPr id="8" name="TextBox 7"/>
          <p:cNvSpPr txBox="1"/>
          <p:nvPr/>
        </p:nvSpPr>
        <p:spPr>
          <a:xfrm>
            <a:off x="685800" y="1728216"/>
            <a:ext cx="10820095" cy="1316736"/>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262626"/>
                </a:solidFill>
                <a:latin typeface="Calibri"/>
              </a:rPr>
              <a:t>Türkiye’nin üyelik süreci tamamlanırsa Avrupa Birliği’nin sınırlarında nasıl bir değişim gerçekleşir? Bu değişimin Türkiye ve Avrupa Birliği için sonuçlarına ilişkin görüşlerinizi açıklayınız.</a:t>
            </a:r>
          </a:p>
        </p:txBody>
      </p:sp>
      <p:sp>
        <p:nvSpPr>
          <p:cNvPr id="9" name="Rounded Rectangle 8"/>
          <p:cNvSpPr/>
          <p:nvPr/>
        </p:nvSpPr>
        <p:spPr>
          <a:xfrm>
            <a:off x="502920" y="3364992"/>
            <a:ext cx="5455767" cy="192024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3364992"/>
            <a:ext cx="5455767" cy="530352"/>
          </a:xfrm>
          <a:prstGeom prst="roundRect">
            <a:avLst>
              <a:gd name="adj" fmla="val 25000"/>
            </a:avLst>
          </a:prstGeom>
          <a:solidFill>
            <a:srgbClr val="2A5D8F"/>
          </a:solidFill>
          <a:ln>
            <a:noFill/>
          </a:ln>
          <a:effectLst/>
        </p:spPr>
        <p:txBody>
          <a:bodyPr rtlCol="0" anchor="ctr"/>
          <a:lstStyle/>
          <a:p/>
        </p:txBody>
      </p:sp>
      <p:sp>
        <p:nvSpPr>
          <p:cNvPr id="11" name="Rectangle 10"/>
          <p:cNvSpPr/>
          <p:nvPr/>
        </p:nvSpPr>
        <p:spPr>
          <a:xfrm>
            <a:off x="502920" y="3630168"/>
            <a:ext cx="5455767" cy="265176"/>
          </a:xfrm>
          <a:prstGeom prst="rect">
            <a:avLst/>
          </a:prstGeom>
          <a:solidFill>
            <a:srgbClr val="2A5D8F"/>
          </a:solidFill>
          <a:ln>
            <a:noFill/>
          </a:ln>
          <a:effectLst/>
        </p:spPr>
        <p:txBody>
          <a:bodyPr rtlCol="0" anchor="ctr"/>
          <a:lstStyle/>
          <a:p/>
        </p:txBody>
      </p:sp>
      <p:sp>
        <p:nvSpPr>
          <p:cNvPr id="12" name="TextBox 11"/>
          <p:cNvSpPr txBox="1"/>
          <p:nvPr/>
        </p:nvSpPr>
        <p:spPr>
          <a:xfrm>
            <a:off x="594360" y="336499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1 · Sınır nasıl değişir?</a:t>
            </a:r>
          </a:p>
        </p:txBody>
      </p:sp>
      <p:sp>
        <p:nvSpPr>
          <p:cNvPr id="13" name="TextBox 12"/>
          <p:cNvSpPr txBox="1"/>
          <p:nvPr/>
        </p:nvSpPr>
        <p:spPr>
          <a:xfrm>
            <a:off x="612648" y="3968496"/>
            <a:ext cx="5236311" cy="1243584"/>
          </a:xfrm>
          <a:prstGeom prst="rect">
            <a:avLst/>
          </a:prstGeom>
          <a:noFill/>
        </p:spPr>
        <p:txBody>
          <a:bodyPr wrap="square" anchor="t" lIns="73152" rIns="73152" tIns="36576" bIns="36576">
            <a:noAutofit/>
          </a:bodyPr>
          <a:lstStyle/>
          <a:p>
            <a:pPr algn="l">
              <a:spcBef>
                <a:spcPts val="0"/>
              </a:spcBef>
              <a:spcAft>
                <a:spcPts val="0"/>
              </a:spcAft>
            </a:pPr>
            <a:r>
              <a:rPr lang="tr-TR" sz="2600" b="0" i="0">
                <a:solidFill>
                  <a:srgbClr val="262626"/>
                </a:solidFill>
                <a:latin typeface="Calibri"/>
              </a:rPr>
              <a:t>Haritaya bak: hangi yönde genişler, kimler yeni komşu olur?</a:t>
            </a:r>
          </a:p>
        </p:txBody>
      </p:sp>
      <p:sp>
        <p:nvSpPr>
          <p:cNvPr id="14" name="Rounded Rectangle 13"/>
          <p:cNvSpPr/>
          <p:nvPr/>
        </p:nvSpPr>
        <p:spPr>
          <a:xfrm>
            <a:off x="6233007" y="3364992"/>
            <a:ext cx="5455767" cy="192024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6233007" y="3364992"/>
            <a:ext cx="5455767" cy="530352"/>
          </a:xfrm>
          <a:prstGeom prst="roundRect">
            <a:avLst>
              <a:gd name="adj" fmla="val 25000"/>
            </a:avLst>
          </a:prstGeom>
          <a:solidFill>
            <a:srgbClr val="4F4F4F"/>
          </a:solidFill>
          <a:ln>
            <a:noFill/>
          </a:ln>
          <a:effectLst/>
        </p:spPr>
        <p:txBody>
          <a:bodyPr rtlCol="0" anchor="ctr"/>
          <a:lstStyle/>
          <a:p/>
        </p:txBody>
      </p:sp>
      <p:sp>
        <p:nvSpPr>
          <p:cNvPr id="16" name="Rectangle 15"/>
          <p:cNvSpPr/>
          <p:nvPr/>
        </p:nvSpPr>
        <p:spPr>
          <a:xfrm>
            <a:off x="6233007" y="3630168"/>
            <a:ext cx="5455767" cy="265176"/>
          </a:xfrm>
          <a:prstGeom prst="rect">
            <a:avLst/>
          </a:prstGeom>
          <a:solidFill>
            <a:srgbClr val="4F4F4F"/>
          </a:solidFill>
          <a:ln>
            <a:noFill/>
          </a:ln>
          <a:effectLst/>
        </p:spPr>
        <p:txBody>
          <a:bodyPr rtlCol="0" anchor="ctr"/>
          <a:lstStyle/>
          <a:p/>
        </p:txBody>
      </p:sp>
      <p:sp>
        <p:nvSpPr>
          <p:cNvPr id="17" name="TextBox 16"/>
          <p:cNvSpPr txBox="1"/>
          <p:nvPr/>
        </p:nvSpPr>
        <p:spPr>
          <a:xfrm>
            <a:off x="6324447" y="336499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2 · Sonuçlar: senin görüşün</a:t>
            </a:r>
          </a:p>
        </p:txBody>
      </p:sp>
      <p:sp>
        <p:nvSpPr>
          <p:cNvPr id="18" name="TextBox 17"/>
          <p:cNvSpPr txBox="1"/>
          <p:nvPr/>
        </p:nvSpPr>
        <p:spPr>
          <a:xfrm>
            <a:off x="6342735" y="3968496"/>
            <a:ext cx="5236311" cy="1243584"/>
          </a:xfrm>
          <a:prstGeom prst="rect">
            <a:avLst/>
          </a:prstGeom>
          <a:noFill/>
        </p:spPr>
        <p:txBody>
          <a:bodyPr wrap="square" anchor="t" lIns="73152" rIns="73152" tIns="36576" bIns="36576">
            <a:noAutofit/>
          </a:bodyPr>
          <a:lstStyle/>
          <a:p>
            <a:pPr algn="l">
              <a:spcBef>
                <a:spcPts val="0"/>
              </a:spcBef>
              <a:spcAft>
                <a:spcPts val="0"/>
              </a:spcAft>
            </a:pPr>
            <a:r>
              <a:rPr lang="tr-TR" sz="2600" b="0" i="0">
                <a:solidFill>
                  <a:srgbClr val="262626"/>
                </a:solidFill>
                <a:latin typeface="Calibri"/>
              </a:rPr>
              <a:t>Bir olası kazanım ya da bir olası güçlük + gerekçen</a:t>
            </a:r>
          </a:p>
        </p:txBody>
      </p:sp>
      <p:sp>
        <p:nvSpPr>
          <p:cNvPr id="19" name="Rounded Rectangle 18"/>
          <p:cNvSpPr/>
          <p:nvPr/>
        </p:nvSpPr>
        <p:spPr>
          <a:xfrm>
            <a:off x="502920" y="5513832"/>
            <a:ext cx="11185855" cy="73152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100" b="0" i="0">
                <a:solidFill>
                  <a:srgbClr val="262626"/>
                </a:solidFill>
                <a:latin typeface="Calibri"/>
              </a:rPr>
              <a:t>Farklı görüşlere saygı: görüşünü </a:t>
            </a:r>
            <a:r>
              <a:rPr lang="tr-TR" sz="2100" b="1" i="0">
                <a:solidFill>
                  <a:srgbClr val="262626"/>
                </a:solidFill>
                <a:latin typeface="Calibri"/>
              </a:rPr>
              <a:t>gerekçeyle</a:t>
            </a:r>
            <a:r>
              <a:rPr lang="tr-TR" sz="2100" b="0" i="0">
                <a:solidFill>
                  <a:srgbClr val="262626"/>
                </a:solidFill>
                <a:latin typeface="Calibri"/>
              </a:rPr>
              <a:t> söyle, dinle.</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224</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98 / 187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4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43584"/>
            <a:ext cx="4023360" cy="5001768"/>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43584"/>
            <a:ext cx="4023360" cy="530352"/>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508760"/>
            <a:ext cx="4023360" cy="265176"/>
          </a:xfrm>
          <a:prstGeom prst="rect">
            <a:avLst/>
          </a:prstGeom>
          <a:solidFill>
            <a:srgbClr val="2A5D8F"/>
          </a:solidFill>
          <a:ln>
            <a:noFill/>
          </a:ln>
          <a:effectLst/>
        </p:spPr>
        <p:txBody>
          <a:bodyPr rtlCol="0" anchor="ctr"/>
          <a:lstStyle/>
          <a:p/>
        </p:txBody>
      </p:sp>
      <p:sp>
        <p:nvSpPr>
          <p:cNvPr id="9" name="TextBox 8"/>
          <p:cNvSpPr txBox="1"/>
          <p:nvPr/>
        </p:nvSpPr>
        <p:spPr>
          <a:xfrm>
            <a:off x="594360" y="1243584"/>
            <a:ext cx="3840480"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Sınır (haritadan)</a:t>
            </a:r>
          </a:p>
        </p:txBody>
      </p:sp>
      <p:sp>
        <p:nvSpPr>
          <p:cNvPr id="10" name="TextBox 9"/>
          <p:cNvSpPr txBox="1"/>
          <p:nvPr/>
        </p:nvSpPr>
        <p:spPr>
          <a:xfrm>
            <a:off x="612648" y="1847088"/>
            <a:ext cx="3803904" cy="4325112"/>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A5D8F"/>
                </a:solidFill>
                <a:latin typeface="Calibri"/>
              </a:rPr>
              <a:t>•  </a:t>
            </a:r>
            <a:r>
              <a:rPr lang="tr-TR" sz="2400" b="0" i="0">
                <a:solidFill>
                  <a:srgbClr val="262626"/>
                </a:solidFill>
                <a:latin typeface="Calibri"/>
              </a:rPr>
              <a:t>AB bölgesi </a:t>
            </a:r>
            <a:r>
              <a:rPr lang="tr-TR" sz="2400" b="1" i="0">
                <a:solidFill>
                  <a:srgbClr val="262626"/>
                </a:solidFill>
                <a:latin typeface="Calibri"/>
              </a:rPr>
              <a:t>güneydoğuya</a:t>
            </a:r>
            <a:r>
              <a:rPr lang="tr-TR" sz="2400" b="0" i="0">
                <a:solidFill>
                  <a:srgbClr val="262626"/>
                </a:solidFill>
                <a:latin typeface="Calibri"/>
              </a:rPr>
              <a:t> genişler; Anadolu ile </a:t>
            </a:r>
            <a:r>
              <a:rPr lang="tr-TR" sz="2400" b="1" i="0">
                <a:solidFill>
                  <a:srgbClr val="262626"/>
                </a:solidFill>
                <a:latin typeface="Calibri"/>
              </a:rPr>
              <a:t>Asya</a:t>
            </a:r>
            <a:r>
              <a:rPr lang="tr-TR" sz="2400" b="0" i="0">
                <a:solidFill>
                  <a:srgbClr val="262626"/>
                </a:solidFill>
                <a:latin typeface="Calibri"/>
              </a:rPr>
              <a:t>'ya uzanır.</a:t>
            </a:r>
          </a:p>
          <a:p>
            <a:pPr algn="l" marL="298344" indent="-298344">
              <a:spcBef>
                <a:spcPts val="0"/>
              </a:spcBef>
              <a:spcAft>
                <a:spcPts val="0"/>
              </a:spcAft>
            </a:pPr>
            <a:r>
              <a:rPr lang="tr-TR" sz="2400" b="1" i="0">
                <a:solidFill>
                  <a:srgbClr val="2A5D8F"/>
                </a:solidFill>
                <a:latin typeface="Calibri"/>
              </a:rPr>
              <a:t>•  </a:t>
            </a:r>
            <a:r>
              <a:rPr lang="tr-TR" sz="2400" b="0" i="0">
                <a:solidFill>
                  <a:srgbClr val="262626"/>
                </a:solidFill>
                <a:latin typeface="Calibri"/>
              </a:rPr>
              <a:t>Yeni sınır komşuları: Gürcistan, Ermenistan, Azerbaycan (Nahçıvan), İran, Irak, Suriye.</a:t>
            </a:r>
          </a:p>
        </p:txBody>
      </p:sp>
      <p:sp>
        <p:nvSpPr>
          <p:cNvPr id="11" name="Rounded Rectangle 10"/>
          <p:cNvSpPr/>
          <p:nvPr/>
        </p:nvSpPr>
        <p:spPr>
          <a:xfrm>
            <a:off x="4754880" y="1243584"/>
            <a:ext cx="3352647" cy="30632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754880" y="1243584"/>
            <a:ext cx="3352647" cy="530352"/>
          </a:xfrm>
          <a:prstGeom prst="roundRect">
            <a:avLst>
              <a:gd name="adj" fmla="val 25000"/>
            </a:avLst>
          </a:prstGeom>
          <a:solidFill>
            <a:srgbClr val="2E7D32"/>
          </a:solidFill>
          <a:ln>
            <a:noFill/>
          </a:ln>
          <a:effectLst/>
        </p:spPr>
        <p:txBody>
          <a:bodyPr rtlCol="0" anchor="ctr"/>
          <a:lstStyle/>
          <a:p/>
        </p:txBody>
      </p:sp>
      <p:sp>
        <p:nvSpPr>
          <p:cNvPr id="13" name="Rectangle 12"/>
          <p:cNvSpPr/>
          <p:nvPr/>
        </p:nvSpPr>
        <p:spPr>
          <a:xfrm>
            <a:off x="4754880" y="1508760"/>
            <a:ext cx="3352647" cy="265176"/>
          </a:xfrm>
          <a:prstGeom prst="rect">
            <a:avLst/>
          </a:prstGeom>
          <a:solidFill>
            <a:srgbClr val="2E7D32"/>
          </a:solidFill>
          <a:ln>
            <a:noFill/>
          </a:ln>
          <a:effectLst/>
        </p:spPr>
        <p:txBody>
          <a:bodyPr rtlCol="0" anchor="ctr"/>
          <a:lstStyle/>
          <a:p/>
        </p:txBody>
      </p:sp>
      <p:sp>
        <p:nvSpPr>
          <p:cNvPr id="14" name="TextBox 13"/>
          <p:cNvSpPr txBox="1"/>
          <p:nvPr/>
        </p:nvSpPr>
        <p:spPr>
          <a:xfrm>
            <a:off x="4846320" y="1243584"/>
            <a:ext cx="316976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Olası kazanımlar</a:t>
            </a:r>
          </a:p>
        </p:txBody>
      </p:sp>
      <p:sp>
        <p:nvSpPr>
          <p:cNvPr id="15" name="TextBox 14"/>
          <p:cNvSpPr txBox="1"/>
          <p:nvPr/>
        </p:nvSpPr>
        <p:spPr>
          <a:xfrm>
            <a:off x="4864608" y="1847088"/>
            <a:ext cx="3133191" cy="2386584"/>
          </a:xfrm>
          <a:prstGeom prst="rect">
            <a:avLst/>
          </a:prstGeom>
          <a:noFill/>
        </p:spPr>
        <p:txBody>
          <a:bodyPr wrap="square" anchor="t" lIns="73152" rIns="73152" tIns="36576" bIns="36576">
            <a:noAutofit/>
          </a:bodyPr>
          <a:lstStyle/>
          <a:p>
            <a:pPr algn="l" marL="310775" indent="-310775">
              <a:spcBef>
                <a:spcPts val="0"/>
              </a:spcBef>
              <a:spcAft>
                <a:spcPts val="600"/>
              </a:spcAft>
            </a:pPr>
            <a:r>
              <a:rPr lang="tr-TR" sz="2500" b="1" i="0">
                <a:solidFill>
                  <a:srgbClr val="2E7D32"/>
                </a:solidFill>
                <a:latin typeface="Calibri"/>
              </a:rPr>
              <a:t>•  </a:t>
            </a:r>
            <a:r>
              <a:rPr lang="tr-TR" sz="2500" b="0" i="0">
                <a:solidFill>
                  <a:srgbClr val="262626"/>
                </a:solidFill>
                <a:latin typeface="Calibri"/>
              </a:rPr>
              <a:t>ticaret ve ulaşımda iş birliği</a:t>
            </a:r>
          </a:p>
          <a:p>
            <a:pPr algn="l" marL="310775" indent="-310775">
              <a:spcBef>
                <a:spcPts val="0"/>
              </a:spcBef>
              <a:spcAft>
                <a:spcPts val="0"/>
              </a:spcAft>
            </a:pPr>
            <a:r>
              <a:rPr lang="tr-TR" sz="2500" b="1" i="0">
                <a:solidFill>
                  <a:srgbClr val="2E7D32"/>
                </a:solidFill>
                <a:latin typeface="Calibri"/>
              </a:rPr>
              <a:t>•  </a:t>
            </a:r>
            <a:r>
              <a:rPr lang="tr-TR" sz="2500" b="0" i="0">
                <a:solidFill>
                  <a:srgbClr val="262626"/>
                </a:solidFill>
                <a:latin typeface="Calibri"/>
              </a:rPr>
              <a:t>eğitim ve kültürde iş birliği</a:t>
            </a:r>
          </a:p>
        </p:txBody>
      </p:sp>
      <p:sp>
        <p:nvSpPr>
          <p:cNvPr id="16" name="Rounded Rectangle 15"/>
          <p:cNvSpPr/>
          <p:nvPr/>
        </p:nvSpPr>
        <p:spPr>
          <a:xfrm>
            <a:off x="8336127" y="1243584"/>
            <a:ext cx="3352647" cy="30632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336127" y="1243584"/>
            <a:ext cx="3352647" cy="530352"/>
          </a:xfrm>
          <a:prstGeom prst="roundRect">
            <a:avLst>
              <a:gd name="adj" fmla="val 25000"/>
            </a:avLst>
          </a:prstGeom>
          <a:solidFill>
            <a:srgbClr val="D3373A"/>
          </a:solidFill>
          <a:ln>
            <a:noFill/>
          </a:ln>
          <a:effectLst/>
        </p:spPr>
        <p:txBody>
          <a:bodyPr rtlCol="0" anchor="ctr"/>
          <a:lstStyle/>
          <a:p/>
        </p:txBody>
      </p:sp>
      <p:sp>
        <p:nvSpPr>
          <p:cNvPr id="18" name="Rectangle 17"/>
          <p:cNvSpPr/>
          <p:nvPr/>
        </p:nvSpPr>
        <p:spPr>
          <a:xfrm>
            <a:off x="8336127" y="1508760"/>
            <a:ext cx="3352647" cy="265176"/>
          </a:xfrm>
          <a:prstGeom prst="rect">
            <a:avLst/>
          </a:prstGeom>
          <a:solidFill>
            <a:srgbClr val="D3373A"/>
          </a:solidFill>
          <a:ln>
            <a:noFill/>
          </a:ln>
          <a:effectLst/>
        </p:spPr>
        <p:txBody>
          <a:bodyPr rtlCol="0" anchor="ctr"/>
          <a:lstStyle/>
          <a:p/>
        </p:txBody>
      </p:sp>
      <p:sp>
        <p:nvSpPr>
          <p:cNvPr id="19" name="TextBox 18"/>
          <p:cNvSpPr txBox="1"/>
          <p:nvPr/>
        </p:nvSpPr>
        <p:spPr>
          <a:xfrm>
            <a:off x="8427567" y="1243584"/>
            <a:ext cx="316976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Olası güçlükler</a:t>
            </a:r>
          </a:p>
        </p:txBody>
      </p:sp>
      <p:sp>
        <p:nvSpPr>
          <p:cNvPr id="20" name="TextBox 19"/>
          <p:cNvSpPr txBox="1"/>
          <p:nvPr/>
        </p:nvSpPr>
        <p:spPr>
          <a:xfrm>
            <a:off x="8445855" y="1847088"/>
            <a:ext cx="3133191" cy="2386584"/>
          </a:xfrm>
          <a:prstGeom prst="rect">
            <a:avLst/>
          </a:prstGeom>
          <a:noFill/>
        </p:spPr>
        <p:txBody>
          <a:bodyPr wrap="square" anchor="t" lIns="73152" rIns="73152" tIns="36576" bIns="36576">
            <a:noAutofit/>
          </a:bodyPr>
          <a:lstStyle/>
          <a:p>
            <a:pPr algn="l" marL="310775" indent="-310775">
              <a:spcBef>
                <a:spcPts val="0"/>
              </a:spcBef>
              <a:spcAft>
                <a:spcPts val="600"/>
              </a:spcAft>
            </a:pPr>
            <a:r>
              <a:rPr lang="tr-TR" sz="2500" b="1" i="0">
                <a:solidFill>
                  <a:srgbClr val="D3373A"/>
                </a:solidFill>
                <a:latin typeface="Calibri"/>
              </a:rPr>
              <a:t>•  </a:t>
            </a:r>
            <a:r>
              <a:rPr lang="tr-TR" sz="2500" b="0" i="0">
                <a:solidFill>
                  <a:srgbClr val="262626"/>
                </a:solidFill>
                <a:latin typeface="Calibri"/>
              </a:rPr>
              <a:t>ortak kurallara uyum süreci</a:t>
            </a:r>
          </a:p>
          <a:p>
            <a:pPr algn="l" marL="310775" indent="-310775">
              <a:spcBef>
                <a:spcPts val="0"/>
              </a:spcBef>
              <a:spcAft>
                <a:spcPts val="0"/>
              </a:spcAft>
            </a:pPr>
            <a:r>
              <a:rPr lang="tr-TR" sz="2500" b="1" i="0">
                <a:solidFill>
                  <a:srgbClr val="D3373A"/>
                </a:solidFill>
                <a:latin typeface="Calibri"/>
              </a:rPr>
              <a:t>•  </a:t>
            </a:r>
            <a:r>
              <a:rPr lang="tr-TR" sz="2500" b="0" i="0">
                <a:solidFill>
                  <a:srgbClr val="262626"/>
                </a:solidFill>
                <a:latin typeface="Calibri"/>
              </a:rPr>
              <a:t>ortak kararlara katılma</a:t>
            </a:r>
          </a:p>
        </p:txBody>
      </p:sp>
      <p:sp>
        <p:nvSpPr>
          <p:cNvPr id="21" name="Rounded Rectangle 20"/>
          <p:cNvSpPr/>
          <p:nvPr/>
        </p:nvSpPr>
        <p:spPr>
          <a:xfrm>
            <a:off x="4754880" y="4462272"/>
            <a:ext cx="6933895" cy="1783080"/>
          </a:xfrm>
          <a:prstGeom prst="roundRect">
            <a:avLst>
              <a:gd name="adj" fmla="val 6000"/>
            </a:avLst>
          </a:prstGeom>
          <a:solidFill>
            <a:srgbClr val="E3F1E4"/>
          </a:solidFill>
          <a:ln>
            <a:noFill/>
          </a:ln>
          <a:effectLst/>
        </p:spPr>
        <p:txBody>
          <a:bodyPr rtlCol="0" anchor="ctr"/>
          <a:lstStyle/>
          <a:p/>
        </p:txBody>
      </p:sp>
      <p:sp>
        <p:nvSpPr>
          <p:cNvPr id="22" name="Rectangle 21"/>
          <p:cNvSpPr/>
          <p:nvPr/>
        </p:nvSpPr>
        <p:spPr>
          <a:xfrm>
            <a:off x="4754880" y="4462272"/>
            <a:ext cx="109728" cy="1783080"/>
          </a:xfrm>
          <a:prstGeom prst="rect">
            <a:avLst/>
          </a:prstGeom>
          <a:solidFill>
            <a:srgbClr val="2E7D32"/>
          </a:solidFill>
          <a:ln>
            <a:noFill/>
          </a:ln>
          <a:effectLst/>
        </p:spPr>
        <p:txBody>
          <a:bodyPr rtlCol="0" anchor="ctr"/>
          <a:lstStyle/>
          <a:p/>
        </p:txBody>
      </p:sp>
      <p:sp>
        <p:nvSpPr>
          <p:cNvPr id="23" name="TextBox 22"/>
          <p:cNvSpPr txBox="1"/>
          <p:nvPr/>
        </p:nvSpPr>
        <p:spPr>
          <a:xfrm>
            <a:off x="4983480" y="4517136"/>
            <a:ext cx="6613855" cy="167335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2E7D32"/>
                </a:solidFill>
                <a:latin typeface="Calibri"/>
              </a:rPr>
              <a:t>Türkiye için de, AB için de düşün</a:t>
            </a:r>
          </a:p>
          <a:p>
            <a:pPr algn="l">
              <a:spcBef>
                <a:spcPts val="0"/>
              </a:spcBef>
              <a:spcAft>
                <a:spcPts val="0"/>
              </a:spcAft>
            </a:pPr>
            <a:r>
              <a:rPr lang="tr-TR" sz="2300" b="0" i="0">
                <a:solidFill>
                  <a:srgbClr val="262626"/>
                </a:solidFill>
                <a:latin typeface="Calibri"/>
              </a:rPr>
              <a:t>Görüşünü gerekçeyle söyle; tek doğru görüş yoktur.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224</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99 / 187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7</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Avrupa Birliği’nin üye sayısı 1995’te hangi ülkelerin katılımıyla 15’e yükselmiştir?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İspanya ve Portekiz</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Birleşik Krallık, Danimarka ve İrlanda</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Bulgaristan ve Romanya</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Polonya, Macaristan ve Çekya</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Avusturya, Finlandiya ve İsveç</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223-224</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100 / 187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7</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Avrupa Birliği’nin üye sayısı 1995’te hangi ülkelerin katılımıyla 15’e yükselmiştir?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İspanya ve Portekiz</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Birleşik Krallık, Danimarka ve İrlanda</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Bulgaristan ve Romanya</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Polonya, Macaristan ve Çekya</a:t>
            </a:r>
          </a:p>
        </p:txBody>
      </p:sp>
      <p:sp>
        <p:nvSpPr>
          <p:cNvPr id="19" name="Rounded Rectangle 18"/>
          <p:cNvSpPr/>
          <p:nvPr/>
        </p:nvSpPr>
        <p:spPr>
          <a:xfrm>
            <a:off x="502920" y="473293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20" name="Oval 19"/>
          <p:cNvSpPr/>
          <p:nvPr/>
        </p:nvSpPr>
        <p:spPr>
          <a:xfrm>
            <a:off x="594360" y="468904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Avusturya, Finlandiya ve İsveç</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Birliğin üye sayısı 1995’te Avusturya, Finlandiya ve İsveç’in katılımıyla 15’e yükselmiştir.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223-224</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101 / 187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Performans görevi: Bölge Oluşturma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16 dk</a:t>
            </a:r>
          </a:p>
        </p:txBody>
      </p:sp>
      <p:sp>
        <p:nvSpPr>
          <p:cNvPr id="6" name="Rounded Rectangle 5"/>
          <p:cNvSpPr/>
          <p:nvPr/>
        </p:nvSpPr>
        <p:spPr>
          <a:xfrm>
            <a:off x="502920" y="1216152"/>
            <a:ext cx="11185855" cy="548640"/>
          </a:xfrm>
          <a:prstGeom prst="roundRect">
            <a:avLst>
              <a:gd name="adj" fmla="val 15000"/>
            </a:avLst>
          </a:prstGeom>
          <a:solidFill>
            <a:srgbClr val="FFF3D1"/>
          </a:solidFill>
          <a:ln>
            <a:noFill/>
          </a:ln>
          <a:effectLst/>
        </p:spPr>
        <p:txBody>
          <a:bodyPr rtlCol="0" anchor="ctr"/>
          <a:lstStyle/>
          <a:p/>
        </p:txBody>
      </p:sp>
      <p:sp>
        <p:nvSpPr>
          <p:cNvPr id="7" name="TextBox 6"/>
          <p:cNvSpPr txBox="1"/>
          <p:nvPr/>
        </p:nvSpPr>
        <p:spPr>
          <a:xfrm>
            <a:off x="640080" y="1216152"/>
            <a:ext cx="1143000" cy="54864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8" name="TextBox 7"/>
          <p:cNvSpPr txBox="1"/>
          <p:nvPr/>
        </p:nvSpPr>
        <p:spPr>
          <a:xfrm>
            <a:off x="1783080" y="1216152"/>
            <a:ext cx="9722815" cy="548640"/>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Değişim ve Sürekliliği Algılama, Harita, Çıkarım Yapma</a:t>
            </a:r>
          </a:p>
        </p:txBody>
      </p:sp>
      <p:sp>
        <p:nvSpPr>
          <p:cNvPr id="9" name="Rounded Rectangle 8"/>
          <p:cNvSpPr/>
          <p:nvPr/>
        </p:nvSpPr>
        <p:spPr>
          <a:xfrm>
            <a:off x="502920" y="1947672"/>
            <a:ext cx="11185855" cy="914400"/>
          </a:xfrm>
          <a:prstGeom prst="roundRect">
            <a:avLst>
              <a:gd name="adj" fmla="val 8000"/>
            </a:avLst>
          </a:prstGeom>
          <a:solidFill>
            <a:srgbClr val="FFFFFF"/>
          </a:solidFill>
          <a:ln w="38100">
            <a:solidFill>
              <a:srgbClr val="2A5D8F"/>
            </a:solidFill>
          </a:ln>
          <a:effectLst/>
        </p:spPr>
        <p:txBody>
          <a:bodyPr rtlCol="0" anchor="ctr" wrap="square" lIns="128016" rIns="128016" tIns="73152" bIns="73152">
            <a:noAutofit/>
          </a:bodyPr>
          <a:lstStyle/>
          <a:p>
            <a:pPr algn="ctr">
              <a:spcBef>
                <a:spcPts val="0"/>
              </a:spcBef>
              <a:spcAft>
                <a:spcPts val="0"/>
              </a:spcAft>
            </a:pPr>
            <a:r>
              <a:rPr lang="tr-TR" sz="3000" b="1" i="0">
                <a:solidFill>
                  <a:srgbClr val="262626"/>
                </a:solidFill>
                <a:latin typeface="Calibri"/>
              </a:rPr>
              <a:t>Bölge belirleme kriterlerine göre bölge oluşturunuz.</a:t>
            </a:r>
          </a:p>
        </p:txBody>
      </p:sp>
      <p:sp>
        <p:nvSpPr>
          <p:cNvPr id="10" name="TextBox 9"/>
          <p:cNvSpPr txBox="1"/>
          <p:nvPr/>
        </p:nvSpPr>
        <p:spPr>
          <a:xfrm>
            <a:off x="502920" y="2999232"/>
            <a:ext cx="11185855" cy="91440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Yönerge:</a:t>
            </a:r>
            <a:r>
              <a:rPr lang="tr-TR" sz="2000" b="0" i="0">
                <a:solidFill>
                  <a:srgbClr val="262626"/>
                </a:solidFill>
                <a:latin typeface="Calibri"/>
              </a:rPr>
              <a:t> Bölge oluşturma çalışması için öğretmen rehberliğinde heterojen çalışma grupları oluşturup aşağıdaki işlem adımlarını uygulayınız.</a:t>
            </a:r>
          </a:p>
        </p:txBody>
      </p:sp>
      <p:sp>
        <p:nvSpPr>
          <p:cNvPr id="11" name="Rounded Rectangle 10"/>
          <p:cNvSpPr/>
          <p:nvPr/>
        </p:nvSpPr>
        <p:spPr>
          <a:xfrm>
            <a:off x="502920" y="4050792"/>
            <a:ext cx="11185855" cy="1417320"/>
          </a:xfrm>
          <a:prstGeom prst="roundRect">
            <a:avLst>
              <a:gd name="adj" fmla="val 8000"/>
            </a:avLst>
          </a:prstGeom>
          <a:solidFill>
            <a:srgbClr val="F0F0F0"/>
          </a:solidFill>
          <a:ln>
            <a:noFill/>
          </a:ln>
          <a:effectLst/>
        </p:spPr>
        <p:txBody>
          <a:bodyPr rtlCol="0" anchor="ctr"/>
          <a:lstStyle/>
          <a:p/>
        </p:txBody>
      </p:sp>
      <p:sp>
        <p:nvSpPr>
          <p:cNvPr id="12" name="Rectangle 11"/>
          <p:cNvSpPr/>
          <p:nvPr/>
        </p:nvSpPr>
        <p:spPr>
          <a:xfrm>
            <a:off x="502920" y="4050792"/>
            <a:ext cx="118872" cy="1417320"/>
          </a:xfrm>
          <a:prstGeom prst="rect">
            <a:avLst/>
          </a:prstGeom>
          <a:solidFill>
            <a:srgbClr val="2A5D8F"/>
          </a:solidFill>
          <a:ln>
            <a:noFill/>
          </a:ln>
          <a:effectLst/>
        </p:spPr>
        <p:txBody>
          <a:bodyPr rtlCol="0" anchor="ctr"/>
          <a:lstStyle/>
          <a:p/>
        </p:txBody>
      </p:sp>
      <p:sp>
        <p:nvSpPr>
          <p:cNvPr id="13" name="TextBox 12"/>
          <p:cNvSpPr txBox="1"/>
          <p:nvPr/>
        </p:nvSpPr>
        <p:spPr>
          <a:xfrm>
            <a:off x="777240" y="4050792"/>
            <a:ext cx="10774375" cy="14173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Değerlendirme: Yapılan performans görevi; bölge belirleme kriterlerinin belirlenmesi, harita belirleme, haritalardaki bilgilerin karşılaştırılması, önermelerde bulunma, çıkarımlarda bulunma, bölge oluşturma ve sunum yapma ölçütlerine göre karekodda verilen analitik dereceli puanlama anahtarıyla değerlendirilecektir.</a:t>
            </a:r>
          </a:p>
        </p:txBody>
      </p:sp>
      <p:sp>
        <p:nvSpPr>
          <p:cNvPr id="14" name="Rounded Rectangle 13"/>
          <p:cNvSpPr/>
          <p:nvPr/>
        </p:nvSpPr>
        <p:spPr>
          <a:xfrm>
            <a:off x="502920" y="5559552"/>
            <a:ext cx="3606698" cy="68580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0"/>
              </a:spcAft>
            </a:pPr>
            <a:r>
              <a:rPr lang="tr-TR" sz="1600" b="1" i="0">
                <a:solidFill>
                  <a:srgbClr val="2C6696"/>
                </a:solidFill>
                <a:latin typeface="Calibri"/>
              </a:rPr>
              <a:t>Karekod · Analitik dereceli puanlama anahtarı</a:t>
            </a:r>
          </a:p>
        </p:txBody>
      </p:sp>
      <p:sp>
        <p:nvSpPr>
          <p:cNvPr id="15" name="Rounded Rectangle 14"/>
          <p:cNvSpPr/>
          <p:nvPr/>
        </p:nvSpPr>
        <p:spPr>
          <a:xfrm>
            <a:off x="4292498" y="5559552"/>
            <a:ext cx="3606698" cy="68580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0"/>
              </a:spcAft>
            </a:pPr>
            <a:r>
              <a:rPr lang="tr-TR" sz="1600" b="1" i="0">
                <a:solidFill>
                  <a:srgbClr val="2C6696"/>
                </a:solidFill>
                <a:latin typeface="Calibri"/>
              </a:rPr>
              <a:t>Karekod · Öz değerlendirme formu</a:t>
            </a:r>
          </a:p>
        </p:txBody>
      </p:sp>
      <p:sp>
        <p:nvSpPr>
          <p:cNvPr id="16" name="Rounded Rectangle 15"/>
          <p:cNvSpPr/>
          <p:nvPr/>
        </p:nvSpPr>
        <p:spPr>
          <a:xfrm>
            <a:off x="8082076" y="5559552"/>
            <a:ext cx="3606698" cy="68580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0"/>
              </a:spcAft>
            </a:pPr>
            <a:r>
              <a:rPr lang="tr-TR" sz="1600" b="1" i="0">
                <a:solidFill>
                  <a:srgbClr val="2C6696"/>
                </a:solidFill>
                <a:latin typeface="Calibri"/>
              </a:rPr>
              <a:t>Karekod · Grup değerlendirme formu</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225</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102 / 187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Yedi adım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ADIMLAR</a:t>
            </a:r>
          </a:p>
        </p:txBody>
      </p:sp>
      <p:sp>
        <p:nvSpPr>
          <p:cNvPr id="6" name="Rounded Rectangle 5"/>
          <p:cNvSpPr/>
          <p:nvPr/>
        </p:nvSpPr>
        <p:spPr>
          <a:xfrm>
            <a:off x="502920" y="1216152"/>
            <a:ext cx="11185855" cy="662286"/>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16152"/>
            <a:ext cx="1600200" cy="66228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Adım</a:t>
            </a:r>
          </a:p>
        </p:txBody>
      </p:sp>
      <p:sp>
        <p:nvSpPr>
          <p:cNvPr id="8" name="TextBox 7"/>
          <p:cNvSpPr txBox="1"/>
          <p:nvPr/>
        </p:nvSpPr>
        <p:spPr>
          <a:xfrm>
            <a:off x="2240280" y="1216152"/>
            <a:ext cx="81226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Bölge oluşturmak için bölge belirleme kriterlerinizi belirleyiniz.</a:t>
            </a:r>
          </a:p>
        </p:txBody>
      </p:sp>
      <p:sp>
        <p:nvSpPr>
          <p:cNvPr id="9" name="Rounded Rectangle 8"/>
          <p:cNvSpPr/>
          <p:nvPr/>
        </p:nvSpPr>
        <p:spPr>
          <a:xfrm>
            <a:off x="10545775" y="1272975"/>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2 dk</a:t>
            </a:r>
          </a:p>
        </p:txBody>
      </p:sp>
      <p:sp>
        <p:nvSpPr>
          <p:cNvPr id="10" name="Rounded Rectangle 9"/>
          <p:cNvSpPr/>
          <p:nvPr/>
        </p:nvSpPr>
        <p:spPr>
          <a:xfrm>
            <a:off x="502920" y="1951590"/>
            <a:ext cx="11185855" cy="662286"/>
          </a:xfrm>
          <a:prstGeom prst="roundRect">
            <a:avLst>
              <a:gd name="adj" fmla="val 8000"/>
            </a:avLst>
          </a:prstGeom>
          <a:solidFill>
            <a:srgbClr val="F0F0F0"/>
          </a:solidFill>
          <a:ln>
            <a:noFill/>
          </a:ln>
          <a:effectLst/>
        </p:spPr>
        <p:txBody>
          <a:bodyPr rtlCol="0" anchor="ctr"/>
          <a:lstStyle/>
          <a:p/>
        </p:txBody>
      </p:sp>
      <p:sp>
        <p:nvSpPr>
          <p:cNvPr id="11" name="Rounded Rectangle 10"/>
          <p:cNvSpPr/>
          <p:nvPr/>
        </p:nvSpPr>
        <p:spPr>
          <a:xfrm>
            <a:off x="502920" y="1951590"/>
            <a:ext cx="1600200" cy="66228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Adım</a:t>
            </a:r>
          </a:p>
        </p:txBody>
      </p:sp>
      <p:sp>
        <p:nvSpPr>
          <p:cNvPr id="12" name="TextBox 11"/>
          <p:cNvSpPr txBox="1"/>
          <p:nvPr/>
        </p:nvSpPr>
        <p:spPr>
          <a:xfrm>
            <a:off x="2240280" y="1951590"/>
            <a:ext cx="935705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Bölge oluşturma görevi için çalışmak istediğiniz haritaları belirleyiniz.</a:t>
            </a:r>
          </a:p>
        </p:txBody>
      </p:sp>
      <p:sp>
        <p:nvSpPr>
          <p:cNvPr id="13" name="Rounded Rectangle 12"/>
          <p:cNvSpPr/>
          <p:nvPr/>
        </p:nvSpPr>
        <p:spPr>
          <a:xfrm>
            <a:off x="502920" y="2687028"/>
            <a:ext cx="11185855" cy="662286"/>
          </a:xfrm>
          <a:prstGeom prst="roundRect">
            <a:avLst>
              <a:gd name="adj" fmla="val 8000"/>
            </a:avLst>
          </a:prstGeom>
          <a:solidFill>
            <a:srgbClr val="F0F0F0"/>
          </a:solidFill>
          <a:ln>
            <a:noFill/>
          </a:ln>
          <a:effectLst/>
        </p:spPr>
        <p:txBody>
          <a:bodyPr rtlCol="0" anchor="ctr"/>
          <a:lstStyle/>
          <a:p/>
        </p:txBody>
      </p:sp>
      <p:sp>
        <p:nvSpPr>
          <p:cNvPr id="14" name="Rounded Rectangle 13"/>
          <p:cNvSpPr/>
          <p:nvPr/>
        </p:nvSpPr>
        <p:spPr>
          <a:xfrm>
            <a:off x="502920" y="2687028"/>
            <a:ext cx="1600200" cy="66228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Adım</a:t>
            </a:r>
          </a:p>
        </p:txBody>
      </p:sp>
      <p:sp>
        <p:nvSpPr>
          <p:cNvPr id="15" name="TextBox 14"/>
          <p:cNvSpPr txBox="1"/>
          <p:nvPr/>
        </p:nvSpPr>
        <p:spPr>
          <a:xfrm>
            <a:off x="2240280" y="2687028"/>
            <a:ext cx="81226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Belirlediğiniz haritalardaki bilgileri, oluşturmak istediğiniz bölge bağlamında benzerlik ve farklılıklar açısından karşılaştırınız.</a:t>
            </a:r>
          </a:p>
        </p:txBody>
      </p:sp>
      <p:sp>
        <p:nvSpPr>
          <p:cNvPr id="16" name="Rounded Rectangle 15"/>
          <p:cNvSpPr/>
          <p:nvPr/>
        </p:nvSpPr>
        <p:spPr>
          <a:xfrm>
            <a:off x="10545775" y="2743851"/>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4 dk</a:t>
            </a:r>
          </a:p>
        </p:txBody>
      </p:sp>
      <p:sp>
        <p:nvSpPr>
          <p:cNvPr id="17" name="Rounded Rectangle 16"/>
          <p:cNvSpPr/>
          <p:nvPr/>
        </p:nvSpPr>
        <p:spPr>
          <a:xfrm>
            <a:off x="502920" y="3422466"/>
            <a:ext cx="11185855" cy="662286"/>
          </a:xfrm>
          <a:prstGeom prst="roundRect">
            <a:avLst>
              <a:gd name="adj" fmla="val 8000"/>
            </a:avLst>
          </a:prstGeom>
          <a:solidFill>
            <a:srgbClr val="F0F0F0"/>
          </a:solidFill>
          <a:ln>
            <a:noFill/>
          </a:ln>
          <a:effectLst/>
        </p:spPr>
        <p:txBody>
          <a:bodyPr rtlCol="0" anchor="ctr"/>
          <a:lstStyle/>
          <a:p/>
        </p:txBody>
      </p:sp>
      <p:sp>
        <p:nvSpPr>
          <p:cNvPr id="18" name="Rounded Rectangle 17"/>
          <p:cNvSpPr/>
          <p:nvPr/>
        </p:nvSpPr>
        <p:spPr>
          <a:xfrm>
            <a:off x="502920" y="3422466"/>
            <a:ext cx="1600200" cy="66228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4. Adım</a:t>
            </a:r>
          </a:p>
        </p:txBody>
      </p:sp>
      <p:sp>
        <p:nvSpPr>
          <p:cNvPr id="19" name="TextBox 18"/>
          <p:cNvSpPr txBox="1"/>
          <p:nvPr/>
        </p:nvSpPr>
        <p:spPr>
          <a:xfrm>
            <a:off x="2240280" y="3422466"/>
            <a:ext cx="81226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Tespit ettiğiniz benzerlik ve farklılıklardan hareketle oluşturmak istediğiniz bölge hakkında önermelerde bulununuz.</a:t>
            </a:r>
          </a:p>
        </p:txBody>
      </p:sp>
      <p:sp>
        <p:nvSpPr>
          <p:cNvPr id="20" name="Rounded Rectangle 19"/>
          <p:cNvSpPr/>
          <p:nvPr/>
        </p:nvSpPr>
        <p:spPr>
          <a:xfrm>
            <a:off x="10545775" y="3479289"/>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3 dk</a:t>
            </a:r>
          </a:p>
        </p:txBody>
      </p:sp>
      <p:sp>
        <p:nvSpPr>
          <p:cNvPr id="21" name="Rounded Rectangle 20"/>
          <p:cNvSpPr/>
          <p:nvPr/>
        </p:nvSpPr>
        <p:spPr>
          <a:xfrm>
            <a:off x="502920" y="4157904"/>
            <a:ext cx="11185855" cy="662286"/>
          </a:xfrm>
          <a:prstGeom prst="roundRect">
            <a:avLst>
              <a:gd name="adj" fmla="val 8000"/>
            </a:avLst>
          </a:prstGeom>
          <a:solidFill>
            <a:srgbClr val="F0F0F0"/>
          </a:solidFill>
          <a:ln>
            <a:noFill/>
          </a:ln>
          <a:effectLst/>
        </p:spPr>
        <p:txBody>
          <a:bodyPr rtlCol="0" anchor="ctr"/>
          <a:lstStyle/>
          <a:p/>
        </p:txBody>
      </p:sp>
      <p:sp>
        <p:nvSpPr>
          <p:cNvPr id="22" name="Rounded Rectangle 21"/>
          <p:cNvSpPr/>
          <p:nvPr/>
        </p:nvSpPr>
        <p:spPr>
          <a:xfrm>
            <a:off x="502920" y="4157904"/>
            <a:ext cx="1600200" cy="66228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5. Adım</a:t>
            </a:r>
          </a:p>
        </p:txBody>
      </p:sp>
      <p:sp>
        <p:nvSpPr>
          <p:cNvPr id="23" name="TextBox 22"/>
          <p:cNvSpPr txBox="1"/>
          <p:nvPr/>
        </p:nvSpPr>
        <p:spPr>
          <a:xfrm>
            <a:off x="2240280" y="4157904"/>
            <a:ext cx="81226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Yaptığınız önermelere yönelik sonuçlar çıkarınız.</a:t>
            </a:r>
          </a:p>
        </p:txBody>
      </p:sp>
      <p:sp>
        <p:nvSpPr>
          <p:cNvPr id="24" name="Rounded Rectangle 23"/>
          <p:cNvSpPr/>
          <p:nvPr/>
        </p:nvSpPr>
        <p:spPr>
          <a:xfrm>
            <a:off x="10545775" y="4214727"/>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2 dk</a:t>
            </a:r>
          </a:p>
        </p:txBody>
      </p:sp>
      <p:sp>
        <p:nvSpPr>
          <p:cNvPr id="25" name="Rounded Rectangle 24"/>
          <p:cNvSpPr/>
          <p:nvPr/>
        </p:nvSpPr>
        <p:spPr>
          <a:xfrm>
            <a:off x="502920" y="4893342"/>
            <a:ext cx="11185855" cy="662286"/>
          </a:xfrm>
          <a:prstGeom prst="roundRect">
            <a:avLst>
              <a:gd name="adj" fmla="val 8000"/>
            </a:avLst>
          </a:prstGeom>
          <a:solidFill>
            <a:srgbClr val="F0F0F0"/>
          </a:solidFill>
          <a:ln>
            <a:noFill/>
          </a:ln>
          <a:effectLst/>
        </p:spPr>
        <p:txBody>
          <a:bodyPr rtlCol="0" anchor="ctr"/>
          <a:lstStyle/>
          <a:p/>
        </p:txBody>
      </p:sp>
      <p:sp>
        <p:nvSpPr>
          <p:cNvPr id="26" name="Rounded Rectangle 25"/>
          <p:cNvSpPr/>
          <p:nvPr/>
        </p:nvSpPr>
        <p:spPr>
          <a:xfrm>
            <a:off x="502920" y="4893342"/>
            <a:ext cx="1600200" cy="66228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6. Adım</a:t>
            </a:r>
          </a:p>
        </p:txBody>
      </p:sp>
      <p:sp>
        <p:nvSpPr>
          <p:cNvPr id="27" name="TextBox 26"/>
          <p:cNvSpPr txBox="1"/>
          <p:nvPr/>
        </p:nvSpPr>
        <p:spPr>
          <a:xfrm>
            <a:off x="2240280" y="4893342"/>
            <a:ext cx="81226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Çıkarımlarınız doğrultusunda belirlediğiniz kriterlere uygun olarak bir bölge oluşturunuz.</a:t>
            </a:r>
          </a:p>
        </p:txBody>
      </p:sp>
      <p:sp>
        <p:nvSpPr>
          <p:cNvPr id="28" name="Rounded Rectangle 27"/>
          <p:cNvSpPr/>
          <p:nvPr/>
        </p:nvSpPr>
        <p:spPr>
          <a:xfrm>
            <a:off x="10545775" y="4950165"/>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5 dk</a:t>
            </a:r>
          </a:p>
        </p:txBody>
      </p:sp>
      <p:sp>
        <p:nvSpPr>
          <p:cNvPr id="29" name="Rounded Rectangle 28"/>
          <p:cNvSpPr/>
          <p:nvPr/>
        </p:nvSpPr>
        <p:spPr>
          <a:xfrm>
            <a:off x="502920" y="5628780"/>
            <a:ext cx="11185855" cy="662286"/>
          </a:xfrm>
          <a:prstGeom prst="roundRect">
            <a:avLst>
              <a:gd name="adj" fmla="val 8000"/>
            </a:avLst>
          </a:prstGeom>
          <a:solidFill>
            <a:srgbClr val="F0F0F0"/>
          </a:solidFill>
          <a:ln>
            <a:noFill/>
          </a:ln>
          <a:effectLst/>
        </p:spPr>
        <p:txBody>
          <a:bodyPr rtlCol="0" anchor="ctr"/>
          <a:lstStyle/>
          <a:p/>
        </p:txBody>
      </p:sp>
      <p:sp>
        <p:nvSpPr>
          <p:cNvPr id="30" name="Rounded Rectangle 29"/>
          <p:cNvSpPr/>
          <p:nvPr/>
        </p:nvSpPr>
        <p:spPr>
          <a:xfrm>
            <a:off x="502920" y="5628780"/>
            <a:ext cx="1600200" cy="662286"/>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7. Adım</a:t>
            </a:r>
          </a:p>
        </p:txBody>
      </p:sp>
      <p:sp>
        <p:nvSpPr>
          <p:cNvPr id="31" name="TextBox 30"/>
          <p:cNvSpPr txBox="1"/>
          <p:nvPr/>
        </p:nvSpPr>
        <p:spPr>
          <a:xfrm>
            <a:off x="2240280" y="5628780"/>
            <a:ext cx="81226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Oluşturduğunuz bölgeyi arkadaşlarınızla paylaşınız.</a:t>
            </a:r>
          </a:p>
        </p:txBody>
      </p:sp>
      <p:sp>
        <p:nvSpPr>
          <p:cNvPr id="32" name="Rounded Rectangle 31"/>
          <p:cNvSpPr/>
          <p:nvPr/>
        </p:nvSpPr>
        <p:spPr>
          <a:xfrm>
            <a:off x="10545775" y="5685603"/>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750" b="1" i="0">
                <a:solidFill>
                  <a:srgbClr val="262626"/>
                </a:solidFill>
                <a:latin typeface="Calibri"/>
              </a:rPr>
              <a:t>paylaşım</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225</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103 / 187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Nasıl puanlanacak?</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PUANLAMA</a:t>
            </a:r>
          </a:p>
        </p:txBody>
      </p:sp>
      <p:sp>
        <p:nvSpPr>
          <p:cNvPr id="6" name="Rectangle 5"/>
          <p:cNvSpPr/>
          <p:nvPr/>
        </p:nvSpPr>
        <p:spPr>
          <a:xfrm>
            <a:off x="502920" y="1216152"/>
            <a:ext cx="3794760" cy="566928"/>
          </a:xfrm>
          <a:prstGeom prst="rect">
            <a:avLst/>
          </a:prstGeom>
          <a:solidFill>
            <a:srgbClr val="2A5D8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Ölçüt</a:t>
            </a:r>
          </a:p>
        </p:txBody>
      </p:sp>
      <p:sp>
        <p:nvSpPr>
          <p:cNvPr id="7" name="Rectangle 6"/>
          <p:cNvSpPr/>
          <p:nvPr/>
        </p:nvSpPr>
        <p:spPr>
          <a:xfrm>
            <a:off x="4297680" y="1216152"/>
            <a:ext cx="1143000" cy="566928"/>
          </a:xfrm>
          <a:prstGeom prst="rect">
            <a:avLst/>
          </a:prstGeom>
          <a:solidFill>
            <a:srgbClr val="2A5D8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Başlangıç düzeyinde</a:t>
            </a:r>
          </a:p>
        </p:txBody>
      </p:sp>
      <p:sp>
        <p:nvSpPr>
          <p:cNvPr id="8" name="Rectangle 7"/>
          <p:cNvSpPr/>
          <p:nvPr/>
        </p:nvSpPr>
        <p:spPr>
          <a:xfrm>
            <a:off x="5440680" y="1216152"/>
            <a:ext cx="1143000" cy="566928"/>
          </a:xfrm>
          <a:prstGeom prst="rect">
            <a:avLst/>
          </a:prstGeom>
          <a:solidFill>
            <a:srgbClr val="2A5D8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Kabul edilebilir</a:t>
            </a:r>
          </a:p>
        </p:txBody>
      </p:sp>
      <p:sp>
        <p:nvSpPr>
          <p:cNvPr id="9" name="Rectangle 8"/>
          <p:cNvSpPr/>
          <p:nvPr/>
        </p:nvSpPr>
        <p:spPr>
          <a:xfrm>
            <a:off x="6583680" y="1216152"/>
            <a:ext cx="1143000" cy="566928"/>
          </a:xfrm>
          <a:prstGeom prst="rect">
            <a:avLst/>
          </a:prstGeom>
          <a:solidFill>
            <a:srgbClr val="2A5D8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İyi</a:t>
            </a:r>
          </a:p>
        </p:txBody>
      </p:sp>
      <p:sp>
        <p:nvSpPr>
          <p:cNvPr id="10" name="Rectangle 9"/>
          <p:cNvSpPr/>
          <p:nvPr/>
        </p:nvSpPr>
        <p:spPr>
          <a:xfrm>
            <a:off x="7726680" y="1216152"/>
            <a:ext cx="1143000" cy="566928"/>
          </a:xfrm>
          <a:prstGeom prst="rect">
            <a:avLst/>
          </a:prstGeom>
          <a:solidFill>
            <a:srgbClr val="2A5D8F"/>
          </a:solidFill>
          <a:ln w="9525">
            <a:solidFill>
              <a:srgbClr val="FFFFFF"/>
            </a:solidFill>
          </a:ln>
          <a:effectLst/>
        </p:spPr>
        <p:txBody>
          <a:bodyPr rtlCol="0" anchor="ctr" wrap="square" lIns="36576" rIns="36576" tIns="9144" bIns="9144">
            <a:noAutofit/>
          </a:bodyPr>
          <a:lstStyle/>
          <a:p>
            <a:pPr algn="ctr">
              <a:spcBef>
                <a:spcPts val="0"/>
              </a:spcBef>
              <a:spcAft>
                <a:spcPts val="0"/>
              </a:spcAft>
            </a:pPr>
            <a:r>
              <a:rPr lang="tr-TR" sz="1500" b="1" i="0">
                <a:solidFill>
                  <a:srgbClr val="FFFFFF"/>
                </a:solidFill>
                <a:latin typeface="Calibri"/>
              </a:rPr>
              <a:t>Çok iyi</a:t>
            </a:r>
          </a:p>
        </p:txBody>
      </p:sp>
      <p:sp>
        <p:nvSpPr>
          <p:cNvPr id="11" name="Rectangle 10"/>
          <p:cNvSpPr/>
          <p:nvPr/>
        </p:nvSpPr>
        <p:spPr>
          <a:xfrm>
            <a:off x="502920" y="1783080"/>
            <a:ext cx="379476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700" b="0" i="0">
                <a:solidFill>
                  <a:srgbClr val="262626"/>
                </a:solidFill>
                <a:latin typeface="Calibri"/>
              </a:rPr>
              <a:t>Bölge Belirleme Kriterlerinin Belirlenmesi</a:t>
            </a:r>
          </a:p>
        </p:txBody>
      </p:sp>
      <p:sp>
        <p:nvSpPr>
          <p:cNvPr id="12" name="Rectangle 11"/>
          <p:cNvSpPr/>
          <p:nvPr/>
        </p:nvSpPr>
        <p:spPr>
          <a:xfrm>
            <a:off x="4297680" y="1783080"/>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3</a:t>
            </a:r>
          </a:p>
        </p:txBody>
      </p:sp>
      <p:sp>
        <p:nvSpPr>
          <p:cNvPr id="13" name="Rectangle 12"/>
          <p:cNvSpPr/>
          <p:nvPr/>
        </p:nvSpPr>
        <p:spPr>
          <a:xfrm>
            <a:off x="5440680" y="1783080"/>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6</a:t>
            </a:r>
          </a:p>
        </p:txBody>
      </p:sp>
      <p:sp>
        <p:nvSpPr>
          <p:cNvPr id="14" name="Rectangle 13"/>
          <p:cNvSpPr/>
          <p:nvPr/>
        </p:nvSpPr>
        <p:spPr>
          <a:xfrm>
            <a:off x="6583680" y="1783080"/>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10</a:t>
            </a:r>
          </a:p>
        </p:txBody>
      </p:sp>
      <p:sp>
        <p:nvSpPr>
          <p:cNvPr id="15" name="Rectangle 14"/>
          <p:cNvSpPr/>
          <p:nvPr/>
        </p:nvSpPr>
        <p:spPr>
          <a:xfrm>
            <a:off x="7726680" y="1783080"/>
            <a:ext cx="1143000" cy="546027"/>
          </a:xfrm>
          <a:prstGeom prst="rect">
            <a:avLst/>
          </a:prstGeom>
          <a:solidFill>
            <a:srgbClr val="E3F1E4"/>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262626"/>
                </a:solidFill>
                <a:latin typeface="Calibri"/>
              </a:rPr>
              <a:t>14</a:t>
            </a:r>
          </a:p>
        </p:txBody>
      </p:sp>
      <p:sp>
        <p:nvSpPr>
          <p:cNvPr id="16" name="Rectangle 15"/>
          <p:cNvSpPr/>
          <p:nvPr/>
        </p:nvSpPr>
        <p:spPr>
          <a:xfrm>
            <a:off x="502920" y="2329107"/>
            <a:ext cx="379476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900" b="0" i="0">
                <a:solidFill>
                  <a:srgbClr val="262626"/>
                </a:solidFill>
                <a:latin typeface="Calibri"/>
              </a:rPr>
              <a:t>Harita Belirleme</a:t>
            </a:r>
          </a:p>
        </p:txBody>
      </p:sp>
      <p:sp>
        <p:nvSpPr>
          <p:cNvPr id="17" name="Rectangle 16"/>
          <p:cNvSpPr/>
          <p:nvPr/>
        </p:nvSpPr>
        <p:spPr>
          <a:xfrm>
            <a:off x="4297680" y="2329107"/>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3</a:t>
            </a:r>
          </a:p>
        </p:txBody>
      </p:sp>
      <p:sp>
        <p:nvSpPr>
          <p:cNvPr id="18" name="Rectangle 17"/>
          <p:cNvSpPr/>
          <p:nvPr/>
        </p:nvSpPr>
        <p:spPr>
          <a:xfrm>
            <a:off x="5440680" y="2329107"/>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6</a:t>
            </a:r>
          </a:p>
        </p:txBody>
      </p:sp>
      <p:sp>
        <p:nvSpPr>
          <p:cNvPr id="19" name="Rectangle 18"/>
          <p:cNvSpPr/>
          <p:nvPr/>
        </p:nvSpPr>
        <p:spPr>
          <a:xfrm>
            <a:off x="6583680" y="2329107"/>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10</a:t>
            </a:r>
          </a:p>
        </p:txBody>
      </p:sp>
      <p:sp>
        <p:nvSpPr>
          <p:cNvPr id="20" name="Rectangle 19"/>
          <p:cNvSpPr/>
          <p:nvPr/>
        </p:nvSpPr>
        <p:spPr>
          <a:xfrm>
            <a:off x="7726680" y="2329107"/>
            <a:ext cx="1143000" cy="546027"/>
          </a:xfrm>
          <a:prstGeom prst="rect">
            <a:avLst/>
          </a:prstGeom>
          <a:solidFill>
            <a:srgbClr val="E3F1E4"/>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262626"/>
                </a:solidFill>
                <a:latin typeface="Calibri"/>
              </a:rPr>
              <a:t>14</a:t>
            </a:r>
          </a:p>
        </p:txBody>
      </p:sp>
      <p:sp>
        <p:nvSpPr>
          <p:cNvPr id="21" name="Rectangle 20"/>
          <p:cNvSpPr/>
          <p:nvPr/>
        </p:nvSpPr>
        <p:spPr>
          <a:xfrm>
            <a:off x="502920" y="2875134"/>
            <a:ext cx="379476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800" b="0" i="0">
                <a:solidFill>
                  <a:srgbClr val="262626"/>
                </a:solidFill>
                <a:latin typeface="Calibri"/>
              </a:rPr>
              <a:t>Haritalardaki Bilgilerin Karşılaştırılması</a:t>
            </a:r>
          </a:p>
        </p:txBody>
      </p:sp>
      <p:sp>
        <p:nvSpPr>
          <p:cNvPr id="22" name="Rectangle 21"/>
          <p:cNvSpPr/>
          <p:nvPr/>
        </p:nvSpPr>
        <p:spPr>
          <a:xfrm>
            <a:off x="4297680" y="2875134"/>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3</a:t>
            </a:r>
          </a:p>
        </p:txBody>
      </p:sp>
      <p:sp>
        <p:nvSpPr>
          <p:cNvPr id="23" name="Rectangle 22"/>
          <p:cNvSpPr/>
          <p:nvPr/>
        </p:nvSpPr>
        <p:spPr>
          <a:xfrm>
            <a:off x="5440680" y="2875134"/>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6</a:t>
            </a:r>
          </a:p>
        </p:txBody>
      </p:sp>
      <p:sp>
        <p:nvSpPr>
          <p:cNvPr id="24" name="Rectangle 23"/>
          <p:cNvSpPr/>
          <p:nvPr/>
        </p:nvSpPr>
        <p:spPr>
          <a:xfrm>
            <a:off x="6583680" y="2875134"/>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10</a:t>
            </a:r>
          </a:p>
        </p:txBody>
      </p:sp>
      <p:sp>
        <p:nvSpPr>
          <p:cNvPr id="25" name="Rectangle 24"/>
          <p:cNvSpPr/>
          <p:nvPr/>
        </p:nvSpPr>
        <p:spPr>
          <a:xfrm>
            <a:off x="7726680" y="2875134"/>
            <a:ext cx="1143000" cy="546027"/>
          </a:xfrm>
          <a:prstGeom prst="rect">
            <a:avLst/>
          </a:prstGeom>
          <a:solidFill>
            <a:srgbClr val="E3F1E4"/>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262626"/>
                </a:solidFill>
                <a:latin typeface="Calibri"/>
              </a:rPr>
              <a:t>14</a:t>
            </a:r>
          </a:p>
        </p:txBody>
      </p:sp>
      <p:sp>
        <p:nvSpPr>
          <p:cNvPr id="26" name="Rectangle 25"/>
          <p:cNvSpPr/>
          <p:nvPr/>
        </p:nvSpPr>
        <p:spPr>
          <a:xfrm>
            <a:off x="502920" y="3421162"/>
            <a:ext cx="379476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900" b="0" i="0">
                <a:solidFill>
                  <a:srgbClr val="262626"/>
                </a:solidFill>
                <a:latin typeface="Calibri"/>
              </a:rPr>
              <a:t>Önermelerde Bulunma</a:t>
            </a:r>
          </a:p>
        </p:txBody>
      </p:sp>
      <p:sp>
        <p:nvSpPr>
          <p:cNvPr id="27" name="Rectangle 26"/>
          <p:cNvSpPr/>
          <p:nvPr/>
        </p:nvSpPr>
        <p:spPr>
          <a:xfrm>
            <a:off x="4297680" y="3421162"/>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3</a:t>
            </a:r>
          </a:p>
        </p:txBody>
      </p:sp>
      <p:sp>
        <p:nvSpPr>
          <p:cNvPr id="28" name="Rectangle 27"/>
          <p:cNvSpPr/>
          <p:nvPr/>
        </p:nvSpPr>
        <p:spPr>
          <a:xfrm>
            <a:off x="5440680" y="3421162"/>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6</a:t>
            </a:r>
          </a:p>
        </p:txBody>
      </p:sp>
      <p:sp>
        <p:nvSpPr>
          <p:cNvPr id="29" name="Rectangle 28"/>
          <p:cNvSpPr/>
          <p:nvPr/>
        </p:nvSpPr>
        <p:spPr>
          <a:xfrm>
            <a:off x="6583680" y="3421162"/>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10</a:t>
            </a:r>
          </a:p>
        </p:txBody>
      </p:sp>
      <p:sp>
        <p:nvSpPr>
          <p:cNvPr id="30" name="Rectangle 29"/>
          <p:cNvSpPr/>
          <p:nvPr/>
        </p:nvSpPr>
        <p:spPr>
          <a:xfrm>
            <a:off x="7726680" y="3421162"/>
            <a:ext cx="1143000" cy="546027"/>
          </a:xfrm>
          <a:prstGeom prst="rect">
            <a:avLst/>
          </a:prstGeom>
          <a:solidFill>
            <a:srgbClr val="E3F1E4"/>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262626"/>
                </a:solidFill>
                <a:latin typeface="Calibri"/>
              </a:rPr>
              <a:t>14</a:t>
            </a:r>
          </a:p>
        </p:txBody>
      </p:sp>
      <p:sp>
        <p:nvSpPr>
          <p:cNvPr id="31" name="Rectangle 30"/>
          <p:cNvSpPr/>
          <p:nvPr/>
        </p:nvSpPr>
        <p:spPr>
          <a:xfrm>
            <a:off x="502920" y="3967189"/>
            <a:ext cx="379476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900" b="0" i="0">
                <a:solidFill>
                  <a:srgbClr val="262626"/>
                </a:solidFill>
                <a:latin typeface="Calibri"/>
              </a:rPr>
              <a:t>Çıkarımda Bulunma</a:t>
            </a:r>
          </a:p>
        </p:txBody>
      </p:sp>
      <p:sp>
        <p:nvSpPr>
          <p:cNvPr id="32" name="Rectangle 31"/>
          <p:cNvSpPr/>
          <p:nvPr/>
        </p:nvSpPr>
        <p:spPr>
          <a:xfrm>
            <a:off x="4297680" y="3967189"/>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4</a:t>
            </a:r>
          </a:p>
        </p:txBody>
      </p:sp>
      <p:sp>
        <p:nvSpPr>
          <p:cNvPr id="33" name="Rectangle 32"/>
          <p:cNvSpPr/>
          <p:nvPr/>
        </p:nvSpPr>
        <p:spPr>
          <a:xfrm>
            <a:off x="5440680" y="3967189"/>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8</a:t>
            </a:r>
          </a:p>
        </p:txBody>
      </p:sp>
      <p:sp>
        <p:nvSpPr>
          <p:cNvPr id="34" name="Rectangle 33"/>
          <p:cNvSpPr/>
          <p:nvPr/>
        </p:nvSpPr>
        <p:spPr>
          <a:xfrm>
            <a:off x="6583680" y="3967189"/>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12</a:t>
            </a:r>
          </a:p>
        </p:txBody>
      </p:sp>
      <p:sp>
        <p:nvSpPr>
          <p:cNvPr id="35" name="Rectangle 34"/>
          <p:cNvSpPr/>
          <p:nvPr/>
        </p:nvSpPr>
        <p:spPr>
          <a:xfrm>
            <a:off x="7726680" y="3967189"/>
            <a:ext cx="1143000" cy="546027"/>
          </a:xfrm>
          <a:prstGeom prst="rect">
            <a:avLst/>
          </a:prstGeom>
          <a:solidFill>
            <a:srgbClr val="E3F1E4"/>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262626"/>
                </a:solidFill>
                <a:latin typeface="Calibri"/>
              </a:rPr>
              <a:t>16</a:t>
            </a:r>
          </a:p>
        </p:txBody>
      </p:sp>
      <p:sp>
        <p:nvSpPr>
          <p:cNvPr id="36" name="Rectangle 35"/>
          <p:cNvSpPr/>
          <p:nvPr/>
        </p:nvSpPr>
        <p:spPr>
          <a:xfrm>
            <a:off x="502920" y="4513217"/>
            <a:ext cx="379476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900" b="0" i="0">
                <a:solidFill>
                  <a:srgbClr val="262626"/>
                </a:solidFill>
                <a:latin typeface="Calibri"/>
              </a:rPr>
              <a:t>Bölge Oluşturma</a:t>
            </a:r>
          </a:p>
        </p:txBody>
      </p:sp>
      <p:sp>
        <p:nvSpPr>
          <p:cNvPr id="37" name="Rectangle 36"/>
          <p:cNvSpPr/>
          <p:nvPr/>
        </p:nvSpPr>
        <p:spPr>
          <a:xfrm>
            <a:off x="4297680" y="4513217"/>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4</a:t>
            </a:r>
          </a:p>
        </p:txBody>
      </p:sp>
      <p:sp>
        <p:nvSpPr>
          <p:cNvPr id="38" name="Rectangle 37"/>
          <p:cNvSpPr/>
          <p:nvPr/>
        </p:nvSpPr>
        <p:spPr>
          <a:xfrm>
            <a:off x="5440680" y="4513217"/>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8</a:t>
            </a:r>
          </a:p>
        </p:txBody>
      </p:sp>
      <p:sp>
        <p:nvSpPr>
          <p:cNvPr id="39" name="Rectangle 38"/>
          <p:cNvSpPr/>
          <p:nvPr/>
        </p:nvSpPr>
        <p:spPr>
          <a:xfrm>
            <a:off x="6583680" y="4513217"/>
            <a:ext cx="1143000" cy="546027"/>
          </a:xfrm>
          <a:prstGeom prst="rect">
            <a:avLst/>
          </a:prstGeom>
          <a:solidFill>
            <a:srgbClr val="F0F0F0"/>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12</a:t>
            </a:r>
          </a:p>
        </p:txBody>
      </p:sp>
      <p:sp>
        <p:nvSpPr>
          <p:cNvPr id="40" name="Rectangle 39"/>
          <p:cNvSpPr/>
          <p:nvPr/>
        </p:nvSpPr>
        <p:spPr>
          <a:xfrm>
            <a:off x="7726680" y="4513217"/>
            <a:ext cx="1143000" cy="546027"/>
          </a:xfrm>
          <a:prstGeom prst="rect">
            <a:avLst/>
          </a:prstGeom>
          <a:solidFill>
            <a:srgbClr val="E3F1E4"/>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262626"/>
                </a:solidFill>
                <a:latin typeface="Calibri"/>
              </a:rPr>
              <a:t>16</a:t>
            </a:r>
          </a:p>
        </p:txBody>
      </p:sp>
      <p:sp>
        <p:nvSpPr>
          <p:cNvPr id="41" name="Rectangle 40"/>
          <p:cNvSpPr/>
          <p:nvPr/>
        </p:nvSpPr>
        <p:spPr>
          <a:xfrm>
            <a:off x="502920" y="5059244"/>
            <a:ext cx="379476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l">
              <a:spcBef>
                <a:spcPts val="0"/>
              </a:spcBef>
              <a:spcAft>
                <a:spcPts val="0"/>
              </a:spcAft>
            </a:pPr>
            <a:r>
              <a:rPr lang="tr-TR" sz="1900" b="0" i="0">
                <a:solidFill>
                  <a:srgbClr val="262626"/>
                </a:solidFill>
                <a:latin typeface="Calibri"/>
              </a:rPr>
              <a:t>Sunum Yapma</a:t>
            </a:r>
          </a:p>
        </p:txBody>
      </p:sp>
      <p:sp>
        <p:nvSpPr>
          <p:cNvPr id="42" name="Rectangle 41"/>
          <p:cNvSpPr/>
          <p:nvPr/>
        </p:nvSpPr>
        <p:spPr>
          <a:xfrm>
            <a:off x="4297680" y="5059244"/>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3</a:t>
            </a:r>
          </a:p>
        </p:txBody>
      </p:sp>
      <p:sp>
        <p:nvSpPr>
          <p:cNvPr id="43" name="Rectangle 42"/>
          <p:cNvSpPr/>
          <p:nvPr/>
        </p:nvSpPr>
        <p:spPr>
          <a:xfrm>
            <a:off x="5440680" y="5059244"/>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6</a:t>
            </a:r>
          </a:p>
        </p:txBody>
      </p:sp>
      <p:sp>
        <p:nvSpPr>
          <p:cNvPr id="44" name="Rectangle 43"/>
          <p:cNvSpPr/>
          <p:nvPr/>
        </p:nvSpPr>
        <p:spPr>
          <a:xfrm>
            <a:off x="6583680" y="5059244"/>
            <a:ext cx="1143000" cy="546027"/>
          </a:xfrm>
          <a:prstGeom prst="rect">
            <a:avLst/>
          </a:prstGeom>
          <a:solidFill>
            <a:srgbClr val="FFFFFF"/>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0" i="0">
                <a:solidFill>
                  <a:srgbClr val="262626"/>
                </a:solidFill>
                <a:latin typeface="Calibri"/>
              </a:rPr>
              <a:t>9</a:t>
            </a:r>
          </a:p>
        </p:txBody>
      </p:sp>
      <p:sp>
        <p:nvSpPr>
          <p:cNvPr id="45" name="Rectangle 44"/>
          <p:cNvSpPr/>
          <p:nvPr/>
        </p:nvSpPr>
        <p:spPr>
          <a:xfrm>
            <a:off x="7726680" y="5059244"/>
            <a:ext cx="1143000" cy="546027"/>
          </a:xfrm>
          <a:prstGeom prst="rect">
            <a:avLst/>
          </a:prstGeom>
          <a:solidFill>
            <a:srgbClr val="E3F1E4"/>
          </a:solidFill>
          <a:ln w="6350">
            <a:solidFill>
              <a:srgbClr val="D9D9D9"/>
            </a:solidFill>
          </a:ln>
          <a:effectLst/>
        </p:spPr>
        <p:txBody>
          <a:bodyPr rtlCol="0" anchor="ctr" wrap="square" lIns="64008" rIns="64008" tIns="9144" bIns="9144">
            <a:noAutofit/>
          </a:bodyPr>
          <a:lstStyle/>
          <a:p>
            <a:pPr algn="ctr">
              <a:spcBef>
                <a:spcPts val="0"/>
              </a:spcBef>
              <a:spcAft>
                <a:spcPts val="0"/>
              </a:spcAft>
            </a:pPr>
            <a:r>
              <a:rPr lang="tr-TR" sz="2000" b="1" i="0">
                <a:solidFill>
                  <a:srgbClr val="262626"/>
                </a:solidFill>
                <a:latin typeface="Calibri"/>
              </a:rPr>
              <a:t>12</a:t>
            </a:r>
          </a:p>
        </p:txBody>
      </p:sp>
      <p:sp>
        <p:nvSpPr>
          <p:cNvPr id="46" name="Rounded Rectangle 45"/>
          <p:cNvSpPr/>
          <p:nvPr/>
        </p:nvSpPr>
        <p:spPr>
          <a:xfrm>
            <a:off x="502920" y="5669280"/>
            <a:ext cx="8366760" cy="603504"/>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900" b="0" i="0">
                <a:solidFill>
                  <a:srgbClr val="262626"/>
                </a:solidFill>
                <a:latin typeface="Calibri"/>
              </a:rPr>
              <a:t>Toplam </a:t>
            </a:r>
            <a:r>
              <a:rPr lang="tr-TR" sz="1900" b="1" i="0">
                <a:solidFill>
                  <a:srgbClr val="262626"/>
                </a:solidFill>
                <a:latin typeface="Calibri"/>
              </a:rPr>
              <a:t>100</a:t>
            </a:r>
            <a:r>
              <a:rPr lang="tr-TR" sz="1900" b="0" i="0">
                <a:solidFill>
                  <a:srgbClr val="262626"/>
                </a:solidFill>
                <a:latin typeface="Calibri"/>
              </a:rPr>
              <a:t> · </a:t>
            </a:r>
            <a:r>
              <a:rPr lang="tr-TR" sz="1900" b="1" i="0">
                <a:solidFill>
                  <a:srgbClr val="262626"/>
                </a:solidFill>
                <a:latin typeface="Calibri"/>
              </a:rPr>
              <a:t>75 ve üzeri:</a:t>
            </a:r>
            <a:r>
              <a:rPr lang="tr-TR" sz="1900" b="0" i="0">
                <a:solidFill>
                  <a:srgbClr val="262626"/>
                </a:solidFill>
                <a:latin typeface="Calibri"/>
              </a:rPr>
              <a:t> başarı yeterli düzeyde</a:t>
            </a:r>
          </a:p>
        </p:txBody>
      </p:sp>
      <p:pic>
        <p:nvPicPr>
          <p:cNvPr id="47" name="Picture 46" descr="h35_eba_puanlama_1.jpg"/>
          <p:cNvPicPr>
            <a:picLocks noChangeAspect="1"/>
          </p:cNvPicPr>
          <p:nvPr/>
        </p:nvPicPr>
        <p:blipFill>
          <a:blip r:embed="rId3"/>
          <a:stretch>
            <a:fillRect/>
          </a:stretch>
        </p:blipFill>
        <p:spPr>
          <a:xfrm>
            <a:off x="9052560" y="1661968"/>
            <a:ext cx="2636215" cy="3726086"/>
          </a:xfrm>
          <a:prstGeom prst="rect">
            <a:avLst/>
          </a:prstGeom>
          <a:ln w="9525">
            <a:solidFill>
              <a:srgbClr val="D9D9D9"/>
            </a:solidFill>
          </a:ln>
        </p:spPr>
      </p:pic>
      <p:sp>
        <p:nvSpPr>
          <p:cNvPr id="48" name="TextBox 47"/>
          <p:cNvSpPr txBox="1"/>
          <p:nvPr/>
        </p:nvSpPr>
        <p:spPr>
          <a:xfrm>
            <a:off x="9052560" y="5879592"/>
            <a:ext cx="2636215" cy="365760"/>
          </a:xfrm>
          <a:prstGeom prst="rect">
            <a:avLst/>
          </a:prstGeom>
          <a:noFill/>
        </p:spPr>
        <p:txBody>
          <a:bodyPr wrap="square" anchor="t" lIns="73152" rIns="73152" tIns="36576" bIns="36576">
            <a:noAutofit/>
          </a:bodyPr>
          <a:lstStyle/>
          <a:p>
            <a:pPr algn="ctr">
              <a:spcBef>
                <a:spcPts val="0"/>
              </a:spcBef>
              <a:spcAft>
                <a:spcPts val="0"/>
              </a:spcAft>
            </a:pPr>
            <a:r>
              <a:rPr lang="tr-TR" sz="1100" b="0" i="0">
                <a:solidFill>
                  <a:srgbClr val="767676"/>
                </a:solidFill>
                <a:latin typeface="Calibri"/>
              </a:rPr>
              <a:t>Karekod: puanlama anahtarı (EBA)</a:t>
            </a:r>
          </a:p>
        </p:txBody>
      </p:sp>
      <p:sp>
        <p:nvSpPr>
          <p:cNvPr id="49" name="TextBox 4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50" name="Rounded Rectangle 4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225</a:t>
            </a:r>
          </a:p>
        </p:txBody>
      </p:sp>
      <p:sp>
        <p:nvSpPr>
          <p:cNvPr id="51" name="TextBox 5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104 / 187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Çalışma yaprağı: 1-5. adımlar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11 dk</a:t>
            </a:r>
          </a:p>
        </p:txBody>
      </p:sp>
      <p:sp>
        <p:nvSpPr>
          <p:cNvPr id="6" name="Rounded Rectangle 5"/>
          <p:cNvSpPr/>
          <p:nvPr/>
        </p:nvSpPr>
        <p:spPr>
          <a:xfrm>
            <a:off x="502920" y="1216152"/>
            <a:ext cx="4206240" cy="26060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4206240" cy="530352"/>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481328"/>
            <a:ext cx="4206240" cy="265176"/>
          </a:xfrm>
          <a:prstGeom prst="rect">
            <a:avLst/>
          </a:prstGeom>
          <a:solidFill>
            <a:srgbClr val="2A5D8F"/>
          </a:solidFill>
          <a:ln>
            <a:noFill/>
          </a:ln>
          <a:effectLst/>
        </p:spPr>
        <p:txBody>
          <a:bodyPr rtlCol="0" anchor="ctr"/>
          <a:lstStyle/>
          <a:p/>
        </p:txBody>
      </p:sp>
      <p:sp>
        <p:nvSpPr>
          <p:cNvPr id="9" name="TextBox 8"/>
          <p:cNvSpPr txBox="1"/>
          <p:nvPr/>
        </p:nvSpPr>
        <p:spPr>
          <a:xfrm>
            <a:off x="594360" y="1216152"/>
            <a:ext cx="4023360" cy="53035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1 · Kriter</a:t>
            </a:r>
          </a:p>
        </p:txBody>
      </p:sp>
      <p:sp>
        <p:nvSpPr>
          <p:cNvPr id="10" name="TextBox 9"/>
          <p:cNvSpPr txBox="1"/>
          <p:nvPr/>
        </p:nvSpPr>
        <p:spPr>
          <a:xfrm>
            <a:off x="612648" y="1819656"/>
            <a:ext cx="3986784" cy="1929384"/>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3E7D3A"/>
                </a:solidFill>
                <a:latin typeface="Calibri"/>
              </a:rPr>
              <a:t>•  </a:t>
            </a:r>
            <a:r>
              <a:rPr lang="tr-TR" sz="1900" b="1" i="0">
                <a:solidFill>
                  <a:srgbClr val="262626"/>
                </a:solidFill>
                <a:latin typeface="Calibri"/>
              </a:rPr>
              <a:t>Fiziki:</a:t>
            </a:r>
            <a:r>
              <a:rPr lang="tr-TR" sz="1900" b="0" i="0">
                <a:solidFill>
                  <a:srgbClr val="262626"/>
                </a:solidFill>
                <a:latin typeface="Calibri"/>
              </a:rPr>
              <a:t> yer şekilleri, iklim, bitki örtüsü vb.</a:t>
            </a:r>
          </a:p>
          <a:p>
            <a:pPr algn="l" marL="236189" indent="-236189">
              <a:spcBef>
                <a:spcPts val="0"/>
              </a:spcBef>
              <a:spcAft>
                <a:spcPts val="0"/>
              </a:spcAft>
            </a:pPr>
            <a:r>
              <a:rPr lang="tr-TR" sz="1900" b="1" i="0">
                <a:solidFill>
                  <a:srgbClr val="B05A1E"/>
                </a:solidFill>
                <a:latin typeface="Calibri"/>
              </a:rPr>
              <a:t>•  </a:t>
            </a:r>
            <a:r>
              <a:rPr lang="tr-TR" sz="1900" b="1" i="0">
                <a:solidFill>
                  <a:srgbClr val="262626"/>
                </a:solidFill>
                <a:latin typeface="Calibri"/>
              </a:rPr>
              <a:t>Beşerî:</a:t>
            </a:r>
            <a:r>
              <a:rPr lang="tr-TR" sz="1900" b="0" i="0">
                <a:solidFill>
                  <a:srgbClr val="262626"/>
                </a:solidFill>
                <a:latin typeface="Calibri"/>
              </a:rPr>
              <a:t> nüfus, yerleşme, sanayi, tarım, turizm vb.</a:t>
            </a:r>
          </a:p>
        </p:txBody>
      </p:sp>
      <p:sp>
        <p:nvSpPr>
          <p:cNvPr id="11" name="Rounded Rectangle 10"/>
          <p:cNvSpPr/>
          <p:nvPr/>
        </p:nvSpPr>
        <p:spPr>
          <a:xfrm>
            <a:off x="502920" y="3959352"/>
            <a:ext cx="4206240" cy="233172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502920" y="3959352"/>
            <a:ext cx="4206240" cy="530352"/>
          </a:xfrm>
          <a:prstGeom prst="roundRect">
            <a:avLst>
              <a:gd name="adj" fmla="val 25000"/>
            </a:avLst>
          </a:prstGeom>
          <a:solidFill>
            <a:srgbClr val="2A5D8F"/>
          </a:solidFill>
          <a:ln>
            <a:noFill/>
          </a:ln>
          <a:effectLst/>
        </p:spPr>
        <p:txBody>
          <a:bodyPr rtlCol="0" anchor="ctr"/>
          <a:lstStyle/>
          <a:p/>
        </p:txBody>
      </p:sp>
      <p:sp>
        <p:nvSpPr>
          <p:cNvPr id="13" name="Rectangle 12"/>
          <p:cNvSpPr/>
          <p:nvPr/>
        </p:nvSpPr>
        <p:spPr>
          <a:xfrm>
            <a:off x="502920" y="4224528"/>
            <a:ext cx="4206240" cy="265176"/>
          </a:xfrm>
          <a:prstGeom prst="rect">
            <a:avLst/>
          </a:prstGeom>
          <a:solidFill>
            <a:srgbClr val="2A5D8F"/>
          </a:solidFill>
          <a:ln>
            <a:noFill/>
          </a:ln>
          <a:effectLst/>
        </p:spPr>
        <p:txBody>
          <a:bodyPr rtlCol="0" anchor="ctr"/>
          <a:lstStyle/>
          <a:p/>
        </p:txBody>
      </p:sp>
      <p:sp>
        <p:nvSpPr>
          <p:cNvPr id="14" name="TextBox 13"/>
          <p:cNvSpPr txBox="1"/>
          <p:nvPr/>
        </p:nvSpPr>
        <p:spPr>
          <a:xfrm>
            <a:off x="594360" y="3959352"/>
            <a:ext cx="4023360" cy="53035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2 · Harita (en az iki)</a:t>
            </a:r>
          </a:p>
        </p:txBody>
      </p:sp>
      <p:sp>
        <p:nvSpPr>
          <p:cNvPr id="15" name="TextBox 14"/>
          <p:cNvSpPr txBox="1"/>
          <p:nvPr/>
        </p:nvSpPr>
        <p:spPr>
          <a:xfrm>
            <a:off x="612648" y="4562856"/>
            <a:ext cx="3986784" cy="1655064"/>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2A5D8F"/>
                </a:solidFill>
                <a:latin typeface="Calibri"/>
              </a:rPr>
              <a:t>•  </a:t>
            </a:r>
            <a:r>
              <a:rPr lang="tr-TR" sz="1900" b="0" i="0">
                <a:solidFill>
                  <a:srgbClr val="262626"/>
                </a:solidFill>
                <a:latin typeface="Calibri"/>
              </a:rPr>
              <a:t>fiziki · siyasi · nüfus · ekonomi</a:t>
            </a:r>
          </a:p>
          <a:p>
            <a:pPr algn="l" marL="236189" indent="-236189">
              <a:spcBef>
                <a:spcPts val="0"/>
              </a:spcBef>
              <a:spcAft>
                <a:spcPts val="0"/>
              </a:spcAft>
            </a:pPr>
            <a:r>
              <a:rPr lang="tr-TR" sz="1900" b="1" i="0">
                <a:solidFill>
                  <a:srgbClr val="2A5D8F"/>
                </a:solidFill>
                <a:latin typeface="Calibri"/>
              </a:rPr>
              <a:t>•  </a:t>
            </a:r>
            <a:r>
              <a:rPr lang="tr-TR" sz="1900" b="0" i="0">
                <a:solidFill>
                  <a:srgbClr val="262626"/>
                </a:solidFill>
                <a:latin typeface="Calibri"/>
              </a:rPr>
              <a:t>kitap s. 218, 220-221 ve atlas</a:t>
            </a:r>
          </a:p>
        </p:txBody>
      </p:sp>
      <p:sp>
        <p:nvSpPr>
          <p:cNvPr id="16" name="TextBox 15"/>
          <p:cNvSpPr txBox="1"/>
          <p:nvPr/>
        </p:nvSpPr>
        <p:spPr>
          <a:xfrm>
            <a:off x="4937760" y="1216152"/>
            <a:ext cx="6751015" cy="4114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A5D8F"/>
                </a:solidFill>
                <a:latin typeface="Calibri"/>
              </a:rPr>
              <a:t>3 · Karşılaştır</a:t>
            </a:r>
          </a:p>
        </p:txBody>
      </p:sp>
      <p:sp>
        <p:nvSpPr>
          <p:cNvPr id="17" name="Rectangle 16"/>
          <p:cNvSpPr/>
          <p:nvPr/>
        </p:nvSpPr>
        <p:spPr>
          <a:xfrm>
            <a:off x="4937760" y="1673352"/>
            <a:ext cx="3306927" cy="411480"/>
          </a:xfrm>
          <a:prstGeom prst="rect">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Benzerlik</a:t>
            </a:r>
          </a:p>
        </p:txBody>
      </p:sp>
      <p:sp>
        <p:nvSpPr>
          <p:cNvPr id="18" name="Rectangle 17"/>
          <p:cNvSpPr/>
          <p:nvPr/>
        </p:nvSpPr>
        <p:spPr>
          <a:xfrm>
            <a:off x="4937760" y="2084832"/>
            <a:ext cx="3306927" cy="1188720"/>
          </a:xfrm>
          <a:prstGeom prst="rect">
            <a:avLst/>
          </a:prstGeom>
          <a:solidFill>
            <a:srgbClr val="FFFFFF"/>
          </a:solidFill>
          <a:ln w="12700">
            <a:solidFill>
              <a:srgbClr val="D9D9D9"/>
            </a:solidFill>
          </a:ln>
          <a:effectLst/>
        </p:spPr>
        <p:txBody>
          <a:bodyPr rtlCol="0" anchor="ctr"/>
          <a:lstStyle/>
          <a:p/>
        </p:txBody>
      </p:sp>
      <p:cxnSp>
        <p:nvCxnSpPr>
          <p:cNvPr id="19" name="Connector 18"/>
          <p:cNvCxnSpPr/>
          <p:nvPr/>
        </p:nvCxnSpPr>
        <p:spPr>
          <a:xfrm>
            <a:off x="5074920" y="2481072"/>
            <a:ext cx="3032607" cy="0"/>
          </a:xfrm>
          <a:prstGeom prst="line">
            <a:avLst/>
          </a:prstGeom>
          <a:ln w="12700">
            <a:solidFill>
              <a:srgbClr val="D9D9D9"/>
            </a:solidFill>
            <a:prstDash val="dash"/>
          </a:ln>
        </p:spPr>
      </p:cxnSp>
      <p:cxnSp>
        <p:nvCxnSpPr>
          <p:cNvPr id="20" name="Connector 19"/>
          <p:cNvCxnSpPr/>
          <p:nvPr/>
        </p:nvCxnSpPr>
        <p:spPr>
          <a:xfrm>
            <a:off x="5074920" y="2877312"/>
            <a:ext cx="3032607" cy="0"/>
          </a:xfrm>
          <a:prstGeom prst="line">
            <a:avLst/>
          </a:prstGeom>
          <a:ln w="12700">
            <a:solidFill>
              <a:srgbClr val="D9D9D9"/>
            </a:solidFill>
            <a:prstDash val="dash"/>
          </a:ln>
        </p:spPr>
      </p:cxnSp>
      <p:sp>
        <p:nvSpPr>
          <p:cNvPr id="21" name="Rectangle 20"/>
          <p:cNvSpPr/>
          <p:nvPr/>
        </p:nvSpPr>
        <p:spPr>
          <a:xfrm>
            <a:off x="8381847" y="1673352"/>
            <a:ext cx="3306927" cy="411480"/>
          </a:xfrm>
          <a:prstGeom prst="rect">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Farklılık</a:t>
            </a:r>
          </a:p>
        </p:txBody>
      </p:sp>
      <p:sp>
        <p:nvSpPr>
          <p:cNvPr id="22" name="Rectangle 21"/>
          <p:cNvSpPr/>
          <p:nvPr/>
        </p:nvSpPr>
        <p:spPr>
          <a:xfrm>
            <a:off x="8381847" y="2084832"/>
            <a:ext cx="3306927" cy="1188720"/>
          </a:xfrm>
          <a:prstGeom prst="rect">
            <a:avLst/>
          </a:prstGeom>
          <a:solidFill>
            <a:srgbClr val="FFFFFF"/>
          </a:solidFill>
          <a:ln w="12700">
            <a:solidFill>
              <a:srgbClr val="D9D9D9"/>
            </a:solidFill>
          </a:ln>
          <a:effectLst/>
        </p:spPr>
        <p:txBody>
          <a:bodyPr rtlCol="0" anchor="ctr"/>
          <a:lstStyle/>
          <a:p/>
        </p:txBody>
      </p:sp>
      <p:cxnSp>
        <p:nvCxnSpPr>
          <p:cNvPr id="23" name="Connector 22"/>
          <p:cNvCxnSpPr/>
          <p:nvPr/>
        </p:nvCxnSpPr>
        <p:spPr>
          <a:xfrm>
            <a:off x="8519007" y="2481072"/>
            <a:ext cx="3032607" cy="0"/>
          </a:xfrm>
          <a:prstGeom prst="line">
            <a:avLst/>
          </a:prstGeom>
          <a:ln w="12700">
            <a:solidFill>
              <a:srgbClr val="D9D9D9"/>
            </a:solidFill>
            <a:prstDash val="dash"/>
          </a:ln>
        </p:spPr>
      </p:cxnSp>
      <p:cxnSp>
        <p:nvCxnSpPr>
          <p:cNvPr id="24" name="Connector 23"/>
          <p:cNvCxnSpPr/>
          <p:nvPr/>
        </p:nvCxnSpPr>
        <p:spPr>
          <a:xfrm>
            <a:off x="8519007" y="2877312"/>
            <a:ext cx="3032607" cy="0"/>
          </a:xfrm>
          <a:prstGeom prst="line">
            <a:avLst/>
          </a:prstGeom>
          <a:ln w="12700">
            <a:solidFill>
              <a:srgbClr val="D9D9D9"/>
            </a:solidFill>
            <a:prstDash val="dash"/>
          </a:ln>
        </p:spPr>
      </p:cxnSp>
      <p:sp>
        <p:nvSpPr>
          <p:cNvPr id="25" name="TextBox 24"/>
          <p:cNvSpPr txBox="1"/>
          <p:nvPr/>
        </p:nvSpPr>
        <p:spPr>
          <a:xfrm>
            <a:off x="4937760" y="3456432"/>
            <a:ext cx="6751015" cy="4114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A5D8F"/>
                </a:solidFill>
                <a:latin typeface="Calibri"/>
              </a:rPr>
              <a:t>4 · Önerme</a:t>
            </a:r>
          </a:p>
        </p:txBody>
      </p:sp>
      <p:sp>
        <p:nvSpPr>
          <p:cNvPr id="26" name="Rounded Rectangle 25"/>
          <p:cNvSpPr/>
          <p:nvPr/>
        </p:nvSpPr>
        <p:spPr>
          <a:xfrm>
            <a:off x="4937760" y="3886200"/>
            <a:ext cx="6751015" cy="8686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0" i="1">
                <a:solidFill>
                  <a:srgbClr val="262626"/>
                </a:solidFill>
                <a:latin typeface="Calibri"/>
              </a:rPr>
              <a:t>Eğer bir alan … ise … bölgesi içinde yer alır.</a:t>
            </a:r>
          </a:p>
        </p:txBody>
      </p:sp>
      <p:sp>
        <p:nvSpPr>
          <p:cNvPr id="27" name="TextBox 26"/>
          <p:cNvSpPr txBox="1"/>
          <p:nvPr/>
        </p:nvSpPr>
        <p:spPr>
          <a:xfrm>
            <a:off x="4937760" y="4873752"/>
            <a:ext cx="6751015" cy="4114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A5D8F"/>
                </a:solidFill>
                <a:latin typeface="Calibri"/>
              </a:rPr>
              <a:t>5 · Sonuç</a:t>
            </a:r>
          </a:p>
        </p:txBody>
      </p:sp>
      <p:sp>
        <p:nvSpPr>
          <p:cNvPr id="28" name="Rounded Rectangle 27"/>
          <p:cNvSpPr/>
          <p:nvPr/>
        </p:nvSpPr>
        <p:spPr>
          <a:xfrm>
            <a:off x="4937760" y="5303520"/>
            <a:ext cx="6751015" cy="8686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0" i="1">
                <a:solidFill>
                  <a:srgbClr val="262626"/>
                </a:solidFill>
                <a:latin typeface="Calibri"/>
              </a:rPr>
              <a:t>Buna göre bölgemiz … ile … arasında uzanır; sınırı … (net / geçişli).</a:t>
            </a:r>
          </a:p>
        </p:txBody>
      </p: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 225</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105 / 187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6. adım: bölgeni çiz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5 dk</a:t>
            </a:r>
          </a:p>
        </p:txBody>
      </p:sp>
      <p:sp>
        <p:nvSpPr>
          <p:cNvPr id="6" name="Rounded Rectangle 5"/>
          <p:cNvSpPr/>
          <p:nvPr/>
        </p:nvSpPr>
        <p:spPr>
          <a:xfrm>
            <a:off x="502920" y="1216152"/>
            <a:ext cx="6675120" cy="1172718"/>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16152"/>
            <a:ext cx="1600200" cy="1172718"/>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TARA</a:t>
            </a:r>
          </a:p>
        </p:txBody>
      </p:sp>
      <p:sp>
        <p:nvSpPr>
          <p:cNvPr id="8" name="TextBox 7"/>
          <p:cNvSpPr txBox="1"/>
          <p:nvPr/>
        </p:nvSpPr>
        <p:spPr>
          <a:xfrm>
            <a:off x="2240280" y="1216152"/>
            <a:ext cx="4846320" cy="117271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Kritere uyan alanı tek renkle tara.</a:t>
            </a:r>
          </a:p>
        </p:txBody>
      </p:sp>
      <p:sp>
        <p:nvSpPr>
          <p:cNvPr id="9" name="Rounded Rectangle 8"/>
          <p:cNvSpPr/>
          <p:nvPr/>
        </p:nvSpPr>
        <p:spPr>
          <a:xfrm>
            <a:off x="502920" y="2516886"/>
            <a:ext cx="6675120" cy="1172718"/>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2516886"/>
            <a:ext cx="1600200" cy="1172718"/>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ÇİZ</a:t>
            </a:r>
          </a:p>
        </p:txBody>
      </p:sp>
      <p:sp>
        <p:nvSpPr>
          <p:cNvPr id="11" name="TextBox 10"/>
          <p:cNvSpPr txBox="1"/>
          <p:nvPr/>
        </p:nvSpPr>
        <p:spPr>
          <a:xfrm>
            <a:off x="2240280" y="2516886"/>
            <a:ext cx="4846320" cy="117271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Sınır net ise düz, geçişli ise kesik çizgi.</a:t>
            </a:r>
          </a:p>
        </p:txBody>
      </p:sp>
      <p:sp>
        <p:nvSpPr>
          <p:cNvPr id="12" name="Rounded Rectangle 11"/>
          <p:cNvSpPr/>
          <p:nvPr/>
        </p:nvSpPr>
        <p:spPr>
          <a:xfrm>
            <a:off x="502920" y="3817620"/>
            <a:ext cx="6675120" cy="1172718"/>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817620"/>
            <a:ext cx="1600200" cy="1172718"/>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ADLANDIR</a:t>
            </a:r>
          </a:p>
        </p:txBody>
      </p:sp>
      <p:sp>
        <p:nvSpPr>
          <p:cNvPr id="14" name="TextBox 13"/>
          <p:cNvSpPr txBox="1"/>
          <p:nvPr/>
        </p:nvSpPr>
        <p:spPr>
          <a:xfrm>
            <a:off x="2240280" y="3817620"/>
            <a:ext cx="4846320" cy="117271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Bölgenin adı + kriter kartı (lejant).</a:t>
            </a:r>
          </a:p>
        </p:txBody>
      </p:sp>
      <p:sp>
        <p:nvSpPr>
          <p:cNvPr id="15" name="Rounded Rectangle 14"/>
          <p:cNvSpPr/>
          <p:nvPr/>
        </p:nvSpPr>
        <p:spPr>
          <a:xfrm>
            <a:off x="502920" y="5118354"/>
            <a:ext cx="6675120" cy="1172718"/>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5118354"/>
            <a:ext cx="1600200" cy="1172718"/>
          </a:xfrm>
          <a:prstGeom prst="roundRect">
            <a:avLst>
              <a:gd name="adj" fmla="val 8000"/>
            </a:avLst>
          </a:prstGeom>
          <a:solidFill>
            <a:srgbClr val="2A5D8F"/>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TAMAMLA</a:t>
            </a:r>
          </a:p>
        </p:txBody>
      </p:sp>
      <p:sp>
        <p:nvSpPr>
          <p:cNvPr id="17" name="TextBox 16"/>
          <p:cNvSpPr txBox="1"/>
          <p:nvPr/>
        </p:nvSpPr>
        <p:spPr>
          <a:xfrm>
            <a:off x="2240280" y="5118354"/>
            <a:ext cx="4846320" cy="117271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Yön oku ve kaynak (atlas sayfası).</a:t>
            </a:r>
          </a:p>
        </p:txBody>
      </p:sp>
      <p:sp>
        <p:nvSpPr>
          <p:cNvPr id="18" name="Rounded Rectangle 17"/>
          <p:cNvSpPr/>
          <p:nvPr/>
        </p:nvSpPr>
        <p:spPr>
          <a:xfrm>
            <a:off x="7406640" y="1216152"/>
            <a:ext cx="4282135" cy="3291840"/>
          </a:xfrm>
          <a:prstGeom prst="roundRect">
            <a:avLst>
              <a:gd name="adj" fmla="val 4000"/>
            </a:avLst>
          </a:prstGeom>
          <a:solidFill>
            <a:srgbClr val="FFFFFF"/>
          </a:solidFill>
          <a:ln w="19050">
            <a:solidFill>
              <a:srgbClr val="D9D9D9"/>
            </a:solidFill>
          </a:ln>
          <a:effectLst/>
        </p:spPr>
        <p:txBody>
          <a:bodyPr rtlCol="0" anchor="ctr"/>
          <a:lstStyle/>
          <a:p/>
        </p:txBody>
      </p:sp>
      <p:sp>
        <p:nvSpPr>
          <p:cNvPr id="19" name="Oval 18"/>
          <p:cNvSpPr/>
          <p:nvPr/>
        </p:nvSpPr>
        <p:spPr>
          <a:xfrm>
            <a:off x="7863840" y="1719072"/>
            <a:ext cx="3001975" cy="2194560"/>
          </a:xfrm>
          <a:prstGeom prst="ellipse">
            <a:avLst/>
          </a:prstGeom>
          <a:solidFill>
            <a:srgbClr val="A8C4A6"/>
          </a:solidFill>
          <a:ln>
            <a:noFill/>
          </a:ln>
          <a:effectLst/>
        </p:spPr>
        <p:txBody>
          <a:bodyPr rtlCol="0" anchor="ctr"/>
          <a:lstStyle/>
          <a:p/>
        </p:txBody>
      </p:sp>
      <p:sp>
        <p:nvSpPr>
          <p:cNvPr id="20" name="Oval 19"/>
          <p:cNvSpPr/>
          <p:nvPr/>
        </p:nvSpPr>
        <p:spPr>
          <a:xfrm>
            <a:off x="7863840" y="1719072"/>
            <a:ext cx="3001975" cy="2194560"/>
          </a:xfrm>
          <a:prstGeom prst="ellipse">
            <a:avLst/>
          </a:prstGeom>
          <a:noFill/>
          <a:ln w="31750">
            <a:solidFill>
              <a:srgbClr val="3E7D3A"/>
            </a:solidFill>
            <a:prstDash val="dash"/>
          </a:ln>
          <a:effectLst/>
        </p:spPr>
        <p:txBody>
          <a:bodyPr rtlCol="0" anchor="ctr"/>
          <a:lstStyle/>
          <a:p/>
        </p:txBody>
      </p:sp>
      <p:sp>
        <p:nvSpPr>
          <p:cNvPr id="21" name="TextBox 20"/>
          <p:cNvSpPr txBox="1"/>
          <p:nvPr/>
        </p:nvSpPr>
        <p:spPr>
          <a:xfrm>
            <a:off x="7589520" y="1280160"/>
            <a:ext cx="3916375" cy="411480"/>
          </a:xfrm>
          <a:prstGeom prst="rect">
            <a:avLst/>
          </a:prstGeom>
          <a:noFill/>
        </p:spPr>
        <p:txBody>
          <a:bodyPr wrap="square" anchor="t" lIns="73152" rIns="73152" tIns="36576" bIns="36576">
            <a:noAutofit/>
          </a:bodyPr>
          <a:lstStyle/>
          <a:p>
            <a:pPr algn="ctr">
              <a:spcBef>
                <a:spcPts val="0"/>
              </a:spcBef>
              <a:spcAft>
                <a:spcPts val="0"/>
              </a:spcAft>
            </a:pPr>
            <a:r>
              <a:rPr lang="tr-TR" sz="1700" b="1" i="0">
                <a:solidFill>
                  <a:srgbClr val="262626"/>
                </a:solidFill>
                <a:latin typeface="Calibri"/>
              </a:rPr>
              <a:t>Bölgenin adı</a:t>
            </a:r>
          </a:p>
        </p:txBody>
      </p:sp>
      <p:sp>
        <p:nvSpPr>
          <p:cNvPr id="22" name="Oval 21"/>
          <p:cNvSpPr/>
          <p:nvPr/>
        </p:nvSpPr>
        <p:spPr>
          <a:xfrm>
            <a:off x="11002975" y="1719072"/>
            <a:ext cx="457200" cy="457200"/>
          </a:xfrm>
          <a:prstGeom prst="ellipse">
            <a:avLst/>
          </a:prstGeom>
          <a:solidFill>
            <a:srgbClr val="4F4F4F"/>
          </a:solidFill>
          <a:ln>
            <a:noFill/>
          </a:ln>
          <a:effectLst/>
        </p:spPr>
        <p:txBody>
          <a:bodyPr rtlCol="0" anchor="ctr" wrap="square" lIns="0" rIns="0" tIns="0" bIns="0">
            <a:noAutofit/>
          </a:bodyPr>
          <a:lstStyle/>
          <a:p>
            <a:pPr algn="ctr">
              <a:spcBef>
                <a:spcPts val="0"/>
              </a:spcBef>
              <a:spcAft>
                <a:spcPts val="0"/>
              </a:spcAft>
            </a:pPr>
            <a:r>
              <a:rPr lang="tr-TR" sz="1600" b="1" i="0">
                <a:solidFill>
                  <a:srgbClr val="FFFFFF"/>
                </a:solidFill>
                <a:latin typeface="Calibri"/>
              </a:rPr>
              <a:t>K</a:t>
            </a:r>
          </a:p>
        </p:txBody>
      </p:sp>
      <p:sp>
        <p:nvSpPr>
          <p:cNvPr id="23" name="Rectangle 22"/>
          <p:cNvSpPr/>
          <p:nvPr/>
        </p:nvSpPr>
        <p:spPr>
          <a:xfrm>
            <a:off x="7635240" y="4023360"/>
            <a:ext cx="320040" cy="274320"/>
          </a:xfrm>
          <a:prstGeom prst="rect">
            <a:avLst/>
          </a:prstGeom>
          <a:solidFill>
            <a:srgbClr val="A8C4A6"/>
          </a:solidFill>
          <a:ln>
            <a:noFill/>
          </a:ln>
          <a:effectLst/>
        </p:spPr>
        <p:txBody>
          <a:bodyPr rtlCol="0" anchor="ctr"/>
          <a:lstStyle/>
          <a:p/>
        </p:txBody>
      </p:sp>
      <p:sp>
        <p:nvSpPr>
          <p:cNvPr id="24" name="TextBox 23"/>
          <p:cNvSpPr txBox="1"/>
          <p:nvPr/>
        </p:nvSpPr>
        <p:spPr>
          <a:xfrm>
            <a:off x="8028432" y="3959352"/>
            <a:ext cx="3550615" cy="411480"/>
          </a:xfrm>
          <a:prstGeom prst="rect">
            <a:avLst/>
          </a:prstGeom>
          <a:noFill/>
        </p:spPr>
        <p:txBody>
          <a:bodyPr wrap="square" anchor="ctr" lIns="73152" rIns="73152" tIns="36576" bIns="36576">
            <a:noAutofit/>
          </a:bodyPr>
          <a:lstStyle/>
          <a:p>
            <a:pPr algn="l">
              <a:spcBef>
                <a:spcPts val="0"/>
              </a:spcBef>
              <a:spcAft>
                <a:spcPts val="0"/>
              </a:spcAft>
            </a:pPr>
            <a:r>
              <a:rPr lang="tr-TR" sz="1400" b="0" i="0">
                <a:solidFill>
                  <a:srgbClr val="262626"/>
                </a:solidFill>
                <a:latin typeface="Calibri"/>
              </a:rPr>
              <a:t>kriter: … (lejant)</a:t>
            </a:r>
          </a:p>
        </p:txBody>
      </p:sp>
      <p:sp>
        <p:nvSpPr>
          <p:cNvPr id="25" name="Rounded Rectangle 24"/>
          <p:cNvSpPr/>
          <p:nvPr/>
        </p:nvSpPr>
        <p:spPr>
          <a:xfrm>
            <a:off x="7406640" y="4690872"/>
            <a:ext cx="4282135" cy="160020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900" b="0" i="0">
                <a:solidFill>
                  <a:srgbClr val="262626"/>
                </a:solidFill>
                <a:latin typeface="Calibri"/>
              </a:rPr>
              <a:t>Kesik çizgi = </a:t>
            </a:r>
            <a:r>
              <a:rPr lang="tr-TR" sz="1900" b="1" i="0">
                <a:solidFill>
                  <a:srgbClr val="262626"/>
                </a:solidFill>
                <a:latin typeface="Calibri"/>
              </a:rPr>
              <a:t>geçişli sınır</a:t>
            </a:r>
            <a:r>
              <a:rPr lang="tr-TR" sz="1900" b="0" i="0">
                <a:solidFill>
                  <a:srgbClr val="262626"/>
                </a:solidFill>
                <a:latin typeface="Calibri"/>
              </a:rPr>
              <a:t> · düz çizgi = </a:t>
            </a:r>
            <a:r>
              <a:rPr lang="tr-TR" sz="1900" b="1" i="0">
                <a:solidFill>
                  <a:srgbClr val="262626"/>
                </a:solidFill>
                <a:latin typeface="Calibri"/>
              </a:rPr>
              <a:t>net sınır</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 225</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106 / 187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Örnek ürün: ne içermeli?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2103120" cy="670124"/>
          </a:xfrm>
          <a:prstGeom prst="roundRect">
            <a:avLst>
              <a:gd name="adj" fmla="val 8000"/>
            </a:avLst>
          </a:prstGeom>
          <a:solidFill>
            <a:srgbClr val="2A5D8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1 · Kriter</a:t>
            </a:r>
          </a:p>
        </p:txBody>
      </p:sp>
      <p:sp>
        <p:nvSpPr>
          <p:cNvPr id="7" name="Rounded Rectangle 6"/>
          <p:cNvSpPr/>
          <p:nvPr/>
        </p:nvSpPr>
        <p:spPr>
          <a:xfrm>
            <a:off x="2697480" y="1216152"/>
            <a:ext cx="8991295" cy="670124"/>
          </a:xfrm>
          <a:prstGeom prst="roundRect">
            <a:avLst>
              <a:gd name="adj" fmla="val 8000"/>
            </a:avLst>
          </a:prstGeom>
          <a:solidFill>
            <a:srgbClr val="E3F1E4"/>
          </a:solidFill>
          <a:ln>
            <a:noFill/>
          </a:ln>
          <a:effectLst/>
        </p:spPr>
        <p:txBody>
          <a:bodyPr rtlCol="0" anchor="ctr" wrap="square" lIns="128016" rIns="128016" tIns="0" bIns="0">
            <a:noAutofit/>
          </a:bodyPr>
          <a:lstStyle/>
          <a:p>
            <a:pPr algn="l">
              <a:spcBef>
                <a:spcPts val="0"/>
              </a:spcBef>
              <a:spcAft>
                <a:spcPts val="0"/>
              </a:spcAft>
            </a:pPr>
            <a:r>
              <a:rPr lang="tr-TR" sz="1800" b="0" i="0">
                <a:solidFill>
                  <a:srgbClr val="262626"/>
                </a:solidFill>
                <a:latin typeface="Calibri"/>
              </a:rPr>
              <a:t>Doğal bitki örtüsü (fiziki unsur)</a:t>
            </a:r>
          </a:p>
        </p:txBody>
      </p:sp>
      <p:sp>
        <p:nvSpPr>
          <p:cNvPr id="8" name="Rounded Rectangle 7"/>
          <p:cNvSpPr/>
          <p:nvPr/>
        </p:nvSpPr>
        <p:spPr>
          <a:xfrm>
            <a:off x="502920" y="1941140"/>
            <a:ext cx="2103120" cy="670124"/>
          </a:xfrm>
          <a:prstGeom prst="roundRect">
            <a:avLst>
              <a:gd name="adj" fmla="val 8000"/>
            </a:avLst>
          </a:prstGeom>
          <a:solidFill>
            <a:srgbClr val="2A5D8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2 · Harita</a:t>
            </a:r>
          </a:p>
        </p:txBody>
      </p:sp>
      <p:sp>
        <p:nvSpPr>
          <p:cNvPr id="9" name="Rounded Rectangle 8"/>
          <p:cNvSpPr/>
          <p:nvPr/>
        </p:nvSpPr>
        <p:spPr>
          <a:xfrm>
            <a:off x="2697480" y="1941140"/>
            <a:ext cx="8991295" cy="670124"/>
          </a:xfrm>
          <a:prstGeom prst="roundRect">
            <a:avLst>
              <a:gd name="adj" fmla="val 8000"/>
            </a:avLst>
          </a:prstGeom>
          <a:solidFill>
            <a:srgbClr val="E3F1E4"/>
          </a:solidFill>
          <a:ln>
            <a:noFill/>
          </a:ln>
          <a:effectLst/>
        </p:spPr>
        <p:txBody>
          <a:bodyPr rtlCol="0" anchor="ctr" wrap="square" lIns="128016" rIns="128016" tIns="0" bIns="0">
            <a:noAutofit/>
          </a:bodyPr>
          <a:lstStyle/>
          <a:p>
            <a:pPr algn="l">
              <a:spcBef>
                <a:spcPts val="0"/>
              </a:spcBef>
              <a:spcAft>
                <a:spcPts val="0"/>
              </a:spcAft>
            </a:pPr>
            <a:r>
              <a:rPr lang="tr-TR" sz="1800" b="0" i="0">
                <a:solidFill>
                  <a:srgbClr val="262626"/>
                </a:solidFill>
                <a:latin typeface="Calibri"/>
              </a:rPr>
              <a:t>Türkiye’de bitki toplulukları (kitap s. 220) + atlasta Türkiye fiziki haritası</a:t>
            </a:r>
          </a:p>
        </p:txBody>
      </p:sp>
      <p:sp>
        <p:nvSpPr>
          <p:cNvPr id="10" name="Rounded Rectangle 9"/>
          <p:cNvSpPr/>
          <p:nvPr/>
        </p:nvSpPr>
        <p:spPr>
          <a:xfrm>
            <a:off x="502920" y="2666129"/>
            <a:ext cx="2103120" cy="670124"/>
          </a:xfrm>
          <a:prstGeom prst="roundRect">
            <a:avLst>
              <a:gd name="adj" fmla="val 8000"/>
            </a:avLst>
          </a:prstGeom>
          <a:solidFill>
            <a:srgbClr val="2A5D8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3 · Karşılaştırma</a:t>
            </a:r>
          </a:p>
        </p:txBody>
      </p:sp>
      <p:sp>
        <p:nvSpPr>
          <p:cNvPr id="11" name="Rounded Rectangle 10"/>
          <p:cNvSpPr/>
          <p:nvPr/>
        </p:nvSpPr>
        <p:spPr>
          <a:xfrm>
            <a:off x="2697480" y="2666129"/>
            <a:ext cx="8991295" cy="670124"/>
          </a:xfrm>
          <a:prstGeom prst="roundRect">
            <a:avLst>
              <a:gd name="adj" fmla="val 8000"/>
            </a:avLst>
          </a:prstGeom>
          <a:solidFill>
            <a:srgbClr val="E3F1E4"/>
          </a:solidFill>
          <a:ln>
            <a:noFill/>
          </a:ln>
          <a:effectLst/>
        </p:spPr>
        <p:txBody>
          <a:bodyPr rtlCol="0" anchor="ctr" wrap="square" lIns="128016" rIns="128016" tIns="0" bIns="0">
            <a:noAutofit/>
          </a:bodyPr>
          <a:lstStyle/>
          <a:p>
            <a:pPr algn="l">
              <a:spcBef>
                <a:spcPts val="0"/>
              </a:spcBef>
              <a:spcAft>
                <a:spcPts val="0"/>
              </a:spcAft>
            </a:pPr>
            <a:r>
              <a:rPr lang="tr-TR" sz="1800" b="0" i="0">
                <a:solidFill>
                  <a:srgbClr val="262626"/>
                </a:solidFill>
                <a:latin typeface="Calibri"/>
              </a:rPr>
              <a:t>Haritaya göre ormanlar Karadeniz kıyısı boyunca kuşak oluşturur; iç kesimde step (bozkır) geniş yer kaplar; kuşak kıyıya paralel dağlarla örtüşür.</a:t>
            </a:r>
          </a:p>
        </p:txBody>
      </p:sp>
      <p:sp>
        <p:nvSpPr>
          <p:cNvPr id="12" name="Rounded Rectangle 11"/>
          <p:cNvSpPr/>
          <p:nvPr/>
        </p:nvSpPr>
        <p:spPr>
          <a:xfrm>
            <a:off x="502920" y="3391117"/>
            <a:ext cx="2103120" cy="670124"/>
          </a:xfrm>
          <a:prstGeom prst="roundRect">
            <a:avLst>
              <a:gd name="adj" fmla="val 8000"/>
            </a:avLst>
          </a:prstGeom>
          <a:solidFill>
            <a:srgbClr val="2A5D8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4 · Önerme</a:t>
            </a:r>
          </a:p>
        </p:txBody>
      </p:sp>
      <p:sp>
        <p:nvSpPr>
          <p:cNvPr id="13" name="Rounded Rectangle 12"/>
          <p:cNvSpPr/>
          <p:nvPr/>
        </p:nvSpPr>
        <p:spPr>
          <a:xfrm>
            <a:off x="2697480" y="3391117"/>
            <a:ext cx="8991295" cy="670124"/>
          </a:xfrm>
          <a:prstGeom prst="roundRect">
            <a:avLst>
              <a:gd name="adj" fmla="val 8000"/>
            </a:avLst>
          </a:prstGeom>
          <a:solidFill>
            <a:srgbClr val="E3F1E4"/>
          </a:solidFill>
          <a:ln>
            <a:noFill/>
          </a:ln>
          <a:effectLst/>
        </p:spPr>
        <p:txBody>
          <a:bodyPr rtlCol="0" anchor="ctr" wrap="square" lIns="128016" rIns="128016" tIns="0" bIns="0">
            <a:noAutofit/>
          </a:bodyPr>
          <a:lstStyle/>
          <a:p>
            <a:pPr algn="l">
              <a:spcBef>
                <a:spcPts val="0"/>
              </a:spcBef>
              <a:spcAft>
                <a:spcPts val="0"/>
              </a:spcAft>
            </a:pPr>
            <a:r>
              <a:rPr lang="tr-TR" sz="1800" b="0" i="0">
                <a:solidFill>
                  <a:srgbClr val="262626"/>
                </a:solidFill>
                <a:latin typeface="Calibri"/>
              </a:rPr>
              <a:t>“Eğer bir alan denizden gelen nemli havaya açık bir dağ yamacındaysa orman bölgesi içinde yer alır.”</a:t>
            </a:r>
          </a:p>
        </p:txBody>
      </p:sp>
      <p:sp>
        <p:nvSpPr>
          <p:cNvPr id="14" name="Rounded Rectangle 13"/>
          <p:cNvSpPr/>
          <p:nvPr/>
        </p:nvSpPr>
        <p:spPr>
          <a:xfrm>
            <a:off x="502920" y="4116106"/>
            <a:ext cx="2103120" cy="670124"/>
          </a:xfrm>
          <a:prstGeom prst="roundRect">
            <a:avLst>
              <a:gd name="adj" fmla="val 8000"/>
            </a:avLst>
          </a:prstGeom>
          <a:solidFill>
            <a:srgbClr val="2A5D8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5 · Sonuç</a:t>
            </a:r>
          </a:p>
        </p:txBody>
      </p:sp>
      <p:sp>
        <p:nvSpPr>
          <p:cNvPr id="15" name="Rounded Rectangle 14"/>
          <p:cNvSpPr/>
          <p:nvPr/>
        </p:nvSpPr>
        <p:spPr>
          <a:xfrm>
            <a:off x="2697480" y="4116106"/>
            <a:ext cx="8991295" cy="670124"/>
          </a:xfrm>
          <a:prstGeom prst="roundRect">
            <a:avLst>
              <a:gd name="adj" fmla="val 8000"/>
            </a:avLst>
          </a:prstGeom>
          <a:solidFill>
            <a:srgbClr val="E3F1E4"/>
          </a:solidFill>
          <a:ln>
            <a:noFill/>
          </a:ln>
          <a:effectLst/>
        </p:spPr>
        <p:txBody>
          <a:bodyPr rtlCol="0" anchor="ctr" wrap="square" lIns="128016" rIns="128016" tIns="0" bIns="0">
            <a:noAutofit/>
          </a:bodyPr>
          <a:lstStyle/>
          <a:p>
            <a:pPr algn="l">
              <a:spcBef>
                <a:spcPts val="0"/>
              </a:spcBef>
              <a:spcAft>
                <a:spcPts val="0"/>
              </a:spcAft>
            </a:pPr>
            <a:r>
              <a:rPr lang="tr-TR" sz="1800" b="0" i="0">
                <a:solidFill>
                  <a:srgbClr val="262626"/>
                </a:solidFill>
                <a:latin typeface="Calibri"/>
              </a:rPr>
              <a:t>Orman bölgesi kıyı dağlarının denize bakan yamaçlarını izler; iç kesime doğru geçiş alanından sonra step başlar.</a:t>
            </a:r>
          </a:p>
        </p:txBody>
      </p:sp>
      <p:sp>
        <p:nvSpPr>
          <p:cNvPr id="16" name="Rounded Rectangle 15"/>
          <p:cNvSpPr/>
          <p:nvPr/>
        </p:nvSpPr>
        <p:spPr>
          <a:xfrm>
            <a:off x="502920" y="4841094"/>
            <a:ext cx="2103120" cy="670124"/>
          </a:xfrm>
          <a:prstGeom prst="roundRect">
            <a:avLst>
              <a:gd name="adj" fmla="val 8000"/>
            </a:avLst>
          </a:prstGeom>
          <a:solidFill>
            <a:srgbClr val="2A5D8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6 · Bölge</a:t>
            </a:r>
          </a:p>
        </p:txBody>
      </p:sp>
      <p:sp>
        <p:nvSpPr>
          <p:cNvPr id="17" name="Rounded Rectangle 16"/>
          <p:cNvSpPr/>
          <p:nvPr/>
        </p:nvSpPr>
        <p:spPr>
          <a:xfrm>
            <a:off x="2697480" y="4841094"/>
            <a:ext cx="8991295" cy="670124"/>
          </a:xfrm>
          <a:prstGeom prst="roundRect">
            <a:avLst>
              <a:gd name="adj" fmla="val 8000"/>
            </a:avLst>
          </a:prstGeom>
          <a:solidFill>
            <a:srgbClr val="E3F1E4"/>
          </a:solidFill>
          <a:ln>
            <a:noFill/>
          </a:ln>
          <a:effectLst/>
        </p:spPr>
        <p:txBody>
          <a:bodyPr rtlCol="0" anchor="ctr" wrap="square" lIns="128016" rIns="128016" tIns="0" bIns="0">
            <a:noAutofit/>
          </a:bodyPr>
          <a:lstStyle/>
          <a:p>
            <a:pPr algn="l">
              <a:spcBef>
                <a:spcPts val="0"/>
              </a:spcBef>
              <a:spcAft>
                <a:spcPts val="0"/>
              </a:spcAft>
            </a:pPr>
            <a:r>
              <a:rPr lang="tr-TR" sz="1800" b="0" i="0">
                <a:solidFill>
                  <a:srgbClr val="262626"/>
                </a:solidFill>
                <a:latin typeface="Calibri"/>
              </a:rPr>
              <a:t>“Karadeniz kıyısı orman bölgesi” — doğal şekilsel; sınır geçişli → kesik çizgi; lejantta kriter</a:t>
            </a:r>
          </a:p>
        </p:txBody>
      </p:sp>
      <p:sp>
        <p:nvSpPr>
          <p:cNvPr id="18" name="Rounded Rectangle 17"/>
          <p:cNvSpPr/>
          <p:nvPr/>
        </p:nvSpPr>
        <p:spPr>
          <a:xfrm>
            <a:off x="502920" y="5566083"/>
            <a:ext cx="2103120" cy="670124"/>
          </a:xfrm>
          <a:prstGeom prst="roundRect">
            <a:avLst>
              <a:gd name="adj" fmla="val 8000"/>
            </a:avLst>
          </a:prstGeom>
          <a:solidFill>
            <a:srgbClr val="2A5D8F"/>
          </a:solidFill>
          <a:ln>
            <a:noFill/>
          </a:ln>
          <a:effectLst/>
        </p:spPr>
        <p:txBody>
          <a:bodyPr rtlCol="0" anchor="ctr" wrap="square" lIns="128016" rIns="128016" tIns="0" bIns="0">
            <a:noAutofit/>
          </a:bodyPr>
          <a:lstStyle/>
          <a:p>
            <a:pPr algn="ctr">
              <a:spcBef>
                <a:spcPts val="0"/>
              </a:spcBef>
              <a:spcAft>
                <a:spcPts val="0"/>
              </a:spcAft>
            </a:pPr>
            <a:r>
              <a:rPr lang="tr-TR" sz="1700" b="1" i="0">
                <a:solidFill>
                  <a:srgbClr val="FFFFFF"/>
                </a:solidFill>
                <a:latin typeface="Calibri"/>
              </a:rPr>
              <a:t>7 · Sunum</a:t>
            </a:r>
          </a:p>
        </p:txBody>
      </p:sp>
      <p:sp>
        <p:nvSpPr>
          <p:cNvPr id="19" name="Rounded Rectangle 18"/>
          <p:cNvSpPr/>
          <p:nvPr/>
        </p:nvSpPr>
        <p:spPr>
          <a:xfrm>
            <a:off x="2697480" y="5566083"/>
            <a:ext cx="8991295" cy="670124"/>
          </a:xfrm>
          <a:prstGeom prst="roundRect">
            <a:avLst>
              <a:gd name="adj" fmla="val 8000"/>
            </a:avLst>
          </a:prstGeom>
          <a:solidFill>
            <a:srgbClr val="E3F1E4"/>
          </a:solidFill>
          <a:ln>
            <a:noFill/>
          </a:ln>
          <a:effectLst/>
        </p:spPr>
        <p:txBody>
          <a:bodyPr rtlCol="0" anchor="ctr" wrap="square" lIns="128016" rIns="128016" tIns="0" bIns="0">
            <a:noAutofit/>
          </a:bodyPr>
          <a:lstStyle/>
          <a:p>
            <a:pPr algn="l">
              <a:spcBef>
                <a:spcPts val="0"/>
              </a:spcBef>
              <a:spcAft>
                <a:spcPts val="0"/>
              </a:spcAft>
            </a:pPr>
            <a:r>
              <a:rPr lang="tr-TR" sz="1800" b="0" i="0">
                <a:solidFill>
                  <a:srgbClr val="262626"/>
                </a:solidFill>
                <a:latin typeface="Calibri"/>
              </a:rPr>
              <a:t>30 sn: harita, kriter, bölge ve sınırın gerekçesi</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220, 225</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107 / 187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7. adım: 30 saniyede bölgemiz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SÖZCÜ · 30 sn</a:t>
            </a:r>
          </a:p>
        </p:txBody>
      </p:sp>
      <p:sp>
        <p:nvSpPr>
          <p:cNvPr id="6" name="Oval 5"/>
          <p:cNvSpPr/>
          <p:nvPr/>
        </p:nvSpPr>
        <p:spPr>
          <a:xfrm>
            <a:off x="502920" y="1357884"/>
            <a:ext cx="640080" cy="640080"/>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1</a:t>
            </a:r>
          </a:p>
        </p:txBody>
      </p:sp>
      <p:sp>
        <p:nvSpPr>
          <p:cNvPr id="7" name="Rounded Rectangle 6"/>
          <p:cNvSpPr/>
          <p:nvPr/>
        </p:nvSpPr>
        <p:spPr>
          <a:xfrm>
            <a:off x="1280160" y="1243584"/>
            <a:ext cx="6035040" cy="8686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600" b="1" i="0">
                <a:solidFill>
                  <a:srgbClr val="262626"/>
                </a:solidFill>
                <a:latin typeface="Calibri"/>
              </a:rPr>
              <a:t>Haritamız …</a:t>
            </a:r>
          </a:p>
        </p:txBody>
      </p:sp>
      <p:sp>
        <p:nvSpPr>
          <p:cNvPr id="8" name="TextBox 7"/>
          <p:cNvSpPr txBox="1"/>
          <p:nvPr/>
        </p:nvSpPr>
        <p:spPr>
          <a:xfrm>
            <a:off x="7452360" y="1243584"/>
            <a:ext cx="4236415" cy="868680"/>
          </a:xfrm>
          <a:prstGeom prst="rect">
            <a:avLst/>
          </a:prstGeom>
          <a:noFill/>
        </p:spPr>
        <p:txBody>
          <a:bodyPr wrap="square" anchor="ctr" lIns="73152" rIns="73152" tIns="36576" bIns="36576">
            <a:noAutofit/>
          </a:bodyPr>
          <a:lstStyle/>
          <a:p>
            <a:pPr algn="l">
              <a:spcBef>
                <a:spcPts val="0"/>
              </a:spcBef>
              <a:spcAft>
                <a:spcPts val="0"/>
              </a:spcAft>
            </a:pPr>
            <a:r>
              <a:rPr lang="tr-TR" sz="2000" b="0" i="1">
                <a:solidFill>
                  <a:srgbClr val="767676"/>
                </a:solidFill>
                <a:latin typeface="Calibri"/>
              </a:rPr>
              <a:t>hangi haritalar?</a:t>
            </a:r>
          </a:p>
        </p:txBody>
      </p:sp>
      <p:sp>
        <p:nvSpPr>
          <p:cNvPr id="9" name="Oval 8"/>
          <p:cNvSpPr/>
          <p:nvPr/>
        </p:nvSpPr>
        <p:spPr>
          <a:xfrm>
            <a:off x="502920" y="2336292"/>
            <a:ext cx="640080" cy="640080"/>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2</a:t>
            </a:r>
          </a:p>
        </p:txBody>
      </p:sp>
      <p:sp>
        <p:nvSpPr>
          <p:cNvPr id="10" name="Rounded Rectangle 9"/>
          <p:cNvSpPr/>
          <p:nvPr/>
        </p:nvSpPr>
        <p:spPr>
          <a:xfrm>
            <a:off x="1280160" y="2221992"/>
            <a:ext cx="6035040" cy="8686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600" b="1" i="0">
                <a:solidFill>
                  <a:srgbClr val="262626"/>
                </a:solidFill>
                <a:latin typeface="Calibri"/>
              </a:rPr>
              <a:t>Kriterimiz …</a:t>
            </a:r>
          </a:p>
        </p:txBody>
      </p:sp>
      <p:sp>
        <p:nvSpPr>
          <p:cNvPr id="11" name="TextBox 10"/>
          <p:cNvSpPr txBox="1"/>
          <p:nvPr/>
        </p:nvSpPr>
        <p:spPr>
          <a:xfrm>
            <a:off x="7452360" y="2221992"/>
            <a:ext cx="4236415" cy="868680"/>
          </a:xfrm>
          <a:prstGeom prst="rect">
            <a:avLst/>
          </a:prstGeom>
          <a:noFill/>
        </p:spPr>
        <p:txBody>
          <a:bodyPr wrap="square" anchor="ctr" lIns="73152" rIns="73152" tIns="36576" bIns="36576">
            <a:noAutofit/>
          </a:bodyPr>
          <a:lstStyle/>
          <a:p>
            <a:pPr algn="l">
              <a:spcBef>
                <a:spcPts val="0"/>
              </a:spcBef>
              <a:spcAft>
                <a:spcPts val="0"/>
              </a:spcAft>
            </a:pPr>
            <a:r>
              <a:rPr lang="tr-TR" sz="2000" b="0" i="1">
                <a:solidFill>
                  <a:srgbClr val="767676"/>
                </a:solidFill>
                <a:latin typeface="Calibri"/>
              </a:rPr>
              <a:t>fiziki mi, beşerî mi?</a:t>
            </a:r>
          </a:p>
        </p:txBody>
      </p:sp>
      <p:sp>
        <p:nvSpPr>
          <p:cNvPr id="12" name="Oval 11"/>
          <p:cNvSpPr/>
          <p:nvPr/>
        </p:nvSpPr>
        <p:spPr>
          <a:xfrm>
            <a:off x="502920" y="3314700"/>
            <a:ext cx="640080" cy="640080"/>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3</a:t>
            </a:r>
          </a:p>
        </p:txBody>
      </p:sp>
      <p:sp>
        <p:nvSpPr>
          <p:cNvPr id="13" name="Rounded Rectangle 12"/>
          <p:cNvSpPr/>
          <p:nvPr/>
        </p:nvSpPr>
        <p:spPr>
          <a:xfrm>
            <a:off x="1280160" y="3200400"/>
            <a:ext cx="6035040" cy="8686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600" b="1" i="0">
                <a:solidFill>
                  <a:srgbClr val="262626"/>
                </a:solidFill>
                <a:latin typeface="Calibri"/>
              </a:rPr>
              <a:t>Bölgemiz …</a:t>
            </a:r>
          </a:p>
        </p:txBody>
      </p:sp>
      <p:sp>
        <p:nvSpPr>
          <p:cNvPr id="14" name="TextBox 13"/>
          <p:cNvSpPr txBox="1"/>
          <p:nvPr/>
        </p:nvSpPr>
        <p:spPr>
          <a:xfrm>
            <a:off x="7452360" y="3200400"/>
            <a:ext cx="4236415" cy="868680"/>
          </a:xfrm>
          <a:prstGeom prst="rect">
            <a:avLst/>
          </a:prstGeom>
          <a:noFill/>
        </p:spPr>
        <p:txBody>
          <a:bodyPr wrap="square" anchor="ctr" lIns="73152" rIns="73152" tIns="36576" bIns="36576">
            <a:noAutofit/>
          </a:bodyPr>
          <a:lstStyle/>
          <a:p>
            <a:pPr algn="l">
              <a:spcBef>
                <a:spcPts val="0"/>
              </a:spcBef>
              <a:spcAft>
                <a:spcPts val="0"/>
              </a:spcAft>
            </a:pPr>
            <a:r>
              <a:rPr lang="tr-TR" sz="2000" b="0" i="1">
                <a:solidFill>
                  <a:srgbClr val="767676"/>
                </a:solidFill>
                <a:latin typeface="Calibri"/>
              </a:rPr>
              <a:t>adı ve türü</a:t>
            </a:r>
          </a:p>
        </p:txBody>
      </p:sp>
      <p:sp>
        <p:nvSpPr>
          <p:cNvPr id="15" name="Oval 14"/>
          <p:cNvSpPr/>
          <p:nvPr/>
        </p:nvSpPr>
        <p:spPr>
          <a:xfrm>
            <a:off x="502920" y="4293108"/>
            <a:ext cx="640080" cy="640080"/>
          </a:xfrm>
          <a:prstGeom prst="ellipse">
            <a:avLst/>
          </a:prstGeom>
          <a:solidFill>
            <a:srgbClr val="2A5D8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4</a:t>
            </a:r>
          </a:p>
        </p:txBody>
      </p:sp>
      <p:sp>
        <p:nvSpPr>
          <p:cNvPr id="16" name="Rounded Rectangle 15"/>
          <p:cNvSpPr/>
          <p:nvPr/>
        </p:nvSpPr>
        <p:spPr>
          <a:xfrm>
            <a:off x="1280160" y="4178808"/>
            <a:ext cx="6035040" cy="8686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600" b="1" i="0">
                <a:solidFill>
                  <a:srgbClr val="262626"/>
                </a:solidFill>
                <a:latin typeface="Calibri"/>
              </a:rPr>
              <a:t>Sınır buradan geçiyor, çünkü …</a:t>
            </a:r>
          </a:p>
        </p:txBody>
      </p:sp>
      <p:sp>
        <p:nvSpPr>
          <p:cNvPr id="17" name="TextBox 16"/>
          <p:cNvSpPr txBox="1"/>
          <p:nvPr/>
        </p:nvSpPr>
        <p:spPr>
          <a:xfrm>
            <a:off x="7452360" y="4178808"/>
            <a:ext cx="4236415" cy="868680"/>
          </a:xfrm>
          <a:prstGeom prst="rect">
            <a:avLst/>
          </a:prstGeom>
          <a:noFill/>
        </p:spPr>
        <p:txBody>
          <a:bodyPr wrap="square" anchor="ctr" lIns="73152" rIns="73152" tIns="36576" bIns="36576">
            <a:noAutofit/>
          </a:bodyPr>
          <a:lstStyle/>
          <a:p>
            <a:pPr algn="l">
              <a:spcBef>
                <a:spcPts val="0"/>
              </a:spcBef>
              <a:spcAft>
                <a:spcPts val="0"/>
              </a:spcAft>
            </a:pPr>
            <a:r>
              <a:rPr lang="tr-TR" sz="2000" b="0" i="1">
                <a:solidFill>
                  <a:srgbClr val="767676"/>
                </a:solidFill>
                <a:latin typeface="Calibri"/>
              </a:rPr>
              <a:t>net mi, geçişli mi?</a:t>
            </a:r>
          </a:p>
        </p:txBody>
      </p:sp>
      <p:sp>
        <p:nvSpPr>
          <p:cNvPr id="18" name="Rounded Rectangle 17"/>
          <p:cNvSpPr/>
          <p:nvPr/>
        </p:nvSpPr>
        <p:spPr>
          <a:xfrm>
            <a:off x="502920" y="5468112"/>
            <a:ext cx="11185855" cy="77724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100" b="0" i="0">
                <a:solidFill>
                  <a:srgbClr val="262626"/>
                </a:solidFill>
                <a:latin typeface="Calibri"/>
              </a:rPr>
              <a:t>Dinleyen: başparmak yukarı = kritere uygun, aşağı = değil — </a:t>
            </a:r>
            <a:r>
              <a:rPr lang="tr-TR" sz="2100" b="1" i="0">
                <a:solidFill>
                  <a:srgbClr val="262626"/>
                </a:solidFill>
                <a:latin typeface="Calibri"/>
              </a:rPr>
              <a:t>bir gerekçe ya da bir soru</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225</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108 / 187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Öz ve grup değerlendirme formları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FORMLAR · 2 dk</a:t>
            </a:r>
          </a:p>
        </p:txBody>
      </p:sp>
      <p:sp>
        <p:nvSpPr>
          <p:cNvPr id="6" name="Rounded Rectangle 5"/>
          <p:cNvSpPr/>
          <p:nvPr/>
        </p:nvSpPr>
        <p:spPr>
          <a:xfrm>
            <a:off x="502920" y="1216152"/>
            <a:ext cx="5455767" cy="50749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55767" cy="548640"/>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490472"/>
            <a:ext cx="5455767" cy="274320"/>
          </a:xfrm>
          <a:prstGeom prst="rect">
            <a:avLst/>
          </a:prstGeom>
          <a:solidFill>
            <a:srgbClr val="2A5D8F"/>
          </a:solidFill>
          <a:ln>
            <a:noFill/>
          </a:ln>
          <a:effectLst/>
        </p:spPr>
        <p:txBody>
          <a:bodyPr rtlCol="0" anchor="ctr"/>
          <a:lstStyle/>
          <a:p/>
        </p:txBody>
      </p:sp>
      <p:sp>
        <p:nvSpPr>
          <p:cNvPr id="9" name="TextBox 8"/>
          <p:cNvSpPr txBox="1"/>
          <p:nvPr/>
        </p:nvSpPr>
        <p:spPr>
          <a:xfrm>
            <a:off x="594360" y="1216152"/>
            <a:ext cx="5272887" cy="5486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Öz değerlendirme formu</a:t>
            </a:r>
          </a:p>
        </p:txBody>
      </p:sp>
      <p:pic>
        <p:nvPicPr>
          <p:cNvPr id="10" name="Picture 9" descr="h35_eba_oz_formu.jpg"/>
          <p:cNvPicPr>
            <a:picLocks noChangeAspect="1"/>
          </p:cNvPicPr>
          <p:nvPr/>
        </p:nvPicPr>
        <p:blipFill>
          <a:blip r:embed="rId3"/>
          <a:stretch>
            <a:fillRect/>
          </a:stretch>
        </p:blipFill>
        <p:spPr>
          <a:xfrm>
            <a:off x="612648" y="2638565"/>
            <a:ext cx="1965960" cy="2778732"/>
          </a:xfrm>
          <a:prstGeom prst="rect">
            <a:avLst/>
          </a:prstGeom>
          <a:ln w="9525">
            <a:solidFill>
              <a:srgbClr val="D9D9D9"/>
            </a:solidFill>
          </a:ln>
        </p:spPr>
      </p:pic>
      <p:sp>
        <p:nvSpPr>
          <p:cNvPr id="11" name="TextBox 10"/>
          <p:cNvSpPr txBox="1"/>
          <p:nvPr/>
        </p:nvSpPr>
        <p:spPr>
          <a:xfrm>
            <a:off x="2697480" y="1856232"/>
            <a:ext cx="3169767" cy="4343400"/>
          </a:xfrm>
          <a:prstGeom prst="rect">
            <a:avLst/>
          </a:prstGeom>
          <a:noFill/>
        </p:spPr>
        <p:txBody>
          <a:bodyPr wrap="square" anchor="t" lIns="73152" rIns="73152" tIns="36576" bIns="36576">
            <a:noAutofit/>
          </a:bodyPr>
          <a:lstStyle/>
          <a:p>
            <a:pPr algn="l" marL="223758" indent="-223758">
              <a:spcBef>
                <a:spcPts val="0"/>
              </a:spcBef>
              <a:spcAft>
                <a:spcPts val="800"/>
              </a:spcAft>
            </a:pPr>
            <a:r>
              <a:rPr lang="tr-TR" sz="1800" b="1" i="0">
                <a:solidFill>
                  <a:srgbClr val="2A5D8F"/>
                </a:solidFill>
                <a:latin typeface="Calibri"/>
              </a:rPr>
              <a:t>•  </a:t>
            </a:r>
            <a:r>
              <a:rPr lang="tr-TR" sz="1800" b="0" i="0">
                <a:solidFill>
                  <a:srgbClr val="262626"/>
                </a:solidFill>
                <a:latin typeface="Calibri"/>
              </a:rPr>
              <a:t>7 ifade = 7 adım</a:t>
            </a:r>
          </a:p>
          <a:p>
            <a:pPr algn="l" marL="223758" indent="-223758">
              <a:spcBef>
                <a:spcPts val="0"/>
              </a:spcBef>
              <a:spcAft>
                <a:spcPts val="800"/>
              </a:spcAft>
            </a:pPr>
            <a:r>
              <a:rPr lang="tr-TR" sz="1800" b="1" i="0">
                <a:solidFill>
                  <a:srgbClr val="2A5D8F"/>
                </a:solidFill>
                <a:latin typeface="Calibri"/>
              </a:rPr>
              <a:t>•  </a:t>
            </a:r>
            <a:r>
              <a:rPr lang="tr-TR" sz="1800" b="0" i="0">
                <a:solidFill>
                  <a:srgbClr val="262626"/>
                </a:solidFill>
                <a:latin typeface="Calibri"/>
              </a:rPr>
              <a:t>Evet · Kısmen · Hayır</a:t>
            </a:r>
          </a:p>
          <a:p>
            <a:pPr algn="l" marL="223758" indent="-223758">
              <a:spcBef>
                <a:spcPts val="0"/>
              </a:spcBef>
              <a:spcAft>
                <a:spcPts val="800"/>
              </a:spcAft>
            </a:pPr>
            <a:r>
              <a:rPr lang="tr-TR" sz="1800" b="1" i="0">
                <a:solidFill>
                  <a:srgbClr val="2A5D8F"/>
                </a:solidFill>
                <a:latin typeface="Calibri"/>
              </a:rPr>
              <a:t>•  </a:t>
            </a:r>
            <a:r>
              <a:rPr lang="tr-TR" sz="1800" b="0" i="0">
                <a:solidFill>
                  <a:srgbClr val="262626"/>
                </a:solidFill>
                <a:latin typeface="Calibri"/>
              </a:rPr>
              <a:t>Çalışmam sırasında şu bilgileri öğrendim:</a:t>
            </a:r>
          </a:p>
          <a:p>
            <a:pPr algn="l" marL="223758" indent="-223758">
              <a:spcBef>
                <a:spcPts val="0"/>
              </a:spcBef>
              <a:spcAft>
                <a:spcPts val="800"/>
              </a:spcAft>
            </a:pPr>
            <a:r>
              <a:rPr lang="tr-TR" sz="1800" b="1" i="0">
                <a:solidFill>
                  <a:srgbClr val="2A5D8F"/>
                </a:solidFill>
                <a:latin typeface="Calibri"/>
              </a:rPr>
              <a:t>•  </a:t>
            </a:r>
            <a:r>
              <a:rPr lang="tr-TR" sz="1800" b="0" i="0">
                <a:solidFill>
                  <a:srgbClr val="262626"/>
                </a:solidFill>
                <a:latin typeface="Calibri"/>
              </a:rPr>
              <a:t>Çalışmam sırasında şu noktalarda zorlandım:</a:t>
            </a:r>
          </a:p>
          <a:p>
            <a:pPr algn="l" marL="223758" indent="-223758">
              <a:spcBef>
                <a:spcPts val="0"/>
              </a:spcBef>
              <a:spcAft>
                <a:spcPts val="0"/>
              </a:spcAft>
            </a:pPr>
            <a:r>
              <a:rPr lang="tr-TR" sz="1800" b="1" i="0">
                <a:solidFill>
                  <a:srgbClr val="2A5D8F"/>
                </a:solidFill>
                <a:latin typeface="Calibri"/>
              </a:rPr>
              <a:t>•  </a:t>
            </a:r>
            <a:r>
              <a:rPr lang="tr-TR" sz="1800" b="0" i="0">
                <a:solidFill>
                  <a:srgbClr val="262626"/>
                </a:solidFill>
                <a:latin typeface="Calibri"/>
              </a:rPr>
              <a:t>Çalışmamı yeniden yapacak olsaydım şunlara dikkat ederdim:</a:t>
            </a:r>
          </a:p>
        </p:txBody>
      </p:sp>
      <p:sp>
        <p:nvSpPr>
          <p:cNvPr id="12" name="Rounded Rectangle 11"/>
          <p:cNvSpPr/>
          <p:nvPr/>
        </p:nvSpPr>
        <p:spPr>
          <a:xfrm>
            <a:off x="6233007" y="1216152"/>
            <a:ext cx="5455767" cy="507492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6233007" y="1216152"/>
            <a:ext cx="5455767" cy="548640"/>
          </a:xfrm>
          <a:prstGeom prst="roundRect">
            <a:avLst>
              <a:gd name="adj" fmla="val 25000"/>
            </a:avLst>
          </a:prstGeom>
          <a:solidFill>
            <a:srgbClr val="4F4F4F"/>
          </a:solidFill>
          <a:ln>
            <a:noFill/>
          </a:ln>
          <a:effectLst/>
        </p:spPr>
        <p:txBody>
          <a:bodyPr rtlCol="0" anchor="ctr"/>
          <a:lstStyle/>
          <a:p/>
        </p:txBody>
      </p:sp>
      <p:sp>
        <p:nvSpPr>
          <p:cNvPr id="14" name="Rectangle 13"/>
          <p:cNvSpPr/>
          <p:nvPr/>
        </p:nvSpPr>
        <p:spPr>
          <a:xfrm>
            <a:off x="6233007" y="1490472"/>
            <a:ext cx="5455767" cy="274320"/>
          </a:xfrm>
          <a:prstGeom prst="rect">
            <a:avLst/>
          </a:prstGeom>
          <a:solidFill>
            <a:srgbClr val="4F4F4F"/>
          </a:solidFill>
          <a:ln>
            <a:noFill/>
          </a:ln>
          <a:effectLst/>
        </p:spPr>
        <p:txBody>
          <a:bodyPr rtlCol="0" anchor="ctr"/>
          <a:lstStyle/>
          <a:p/>
        </p:txBody>
      </p:sp>
      <p:sp>
        <p:nvSpPr>
          <p:cNvPr id="15" name="TextBox 14"/>
          <p:cNvSpPr txBox="1"/>
          <p:nvPr/>
        </p:nvSpPr>
        <p:spPr>
          <a:xfrm>
            <a:off x="6324447" y="1216152"/>
            <a:ext cx="5272887" cy="5486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Grup değerlendirme formu</a:t>
            </a:r>
          </a:p>
        </p:txBody>
      </p:sp>
      <p:pic>
        <p:nvPicPr>
          <p:cNvPr id="16" name="Picture 15" descr="h35_eba_grup_formu.jpg"/>
          <p:cNvPicPr>
            <a:picLocks noChangeAspect="1"/>
          </p:cNvPicPr>
          <p:nvPr/>
        </p:nvPicPr>
        <p:blipFill>
          <a:blip r:embed="rId4"/>
          <a:stretch>
            <a:fillRect/>
          </a:stretch>
        </p:blipFill>
        <p:spPr>
          <a:xfrm>
            <a:off x="6342735" y="2638565"/>
            <a:ext cx="1965960" cy="2778732"/>
          </a:xfrm>
          <a:prstGeom prst="rect">
            <a:avLst/>
          </a:prstGeom>
          <a:ln w="9525">
            <a:solidFill>
              <a:srgbClr val="D9D9D9"/>
            </a:solidFill>
          </a:ln>
        </p:spPr>
      </p:pic>
      <p:sp>
        <p:nvSpPr>
          <p:cNvPr id="17" name="TextBox 16"/>
          <p:cNvSpPr txBox="1"/>
          <p:nvPr/>
        </p:nvSpPr>
        <p:spPr>
          <a:xfrm>
            <a:off x="8427567" y="1856232"/>
            <a:ext cx="3169767" cy="4343400"/>
          </a:xfrm>
          <a:prstGeom prst="rect">
            <a:avLst/>
          </a:prstGeom>
          <a:noFill/>
        </p:spPr>
        <p:txBody>
          <a:bodyPr wrap="square" anchor="t" lIns="73152" rIns="73152" tIns="36576" bIns="36576">
            <a:noAutofit/>
          </a:bodyPr>
          <a:lstStyle/>
          <a:p>
            <a:pPr algn="l" marL="223758" indent="-223758">
              <a:spcBef>
                <a:spcPts val="0"/>
              </a:spcBef>
              <a:spcAft>
                <a:spcPts val="800"/>
              </a:spcAft>
            </a:pPr>
            <a:r>
              <a:rPr lang="tr-TR" sz="1800" b="1" i="0">
                <a:solidFill>
                  <a:srgbClr val="4F4F4F"/>
                </a:solidFill>
                <a:latin typeface="Calibri"/>
              </a:rPr>
              <a:t>•  </a:t>
            </a:r>
            <a:r>
              <a:rPr lang="tr-TR" sz="1800" b="0" i="0">
                <a:solidFill>
                  <a:srgbClr val="262626"/>
                </a:solidFill>
                <a:latin typeface="Calibri"/>
              </a:rPr>
              <a:t>Yardımlaşma, Dinleme, Katılım ve Sorumlulukları Paylaşma, Sorgulama, Saygı, Paylaşma, Zamanı Verimli Kullanma</a:t>
            </a:r>
          </a:p>
          <a:p>
            <a:pPr algn="l" marL="223758" indent="-223758">
              <a:spcBef>
                <a:spcPts val="0"/>
              </a:spcBef>
              <a:spcAft>
                <a:spcPts val="0"/>
              </a:spcAft>
            </a:pPr>
            <a:r>
              <a:rPr lang="tr-TR" sz="1800" b="1" i="0">
                <a:solidFill>
                  <a:srgbClr val="4F4F4F"/>
                </a:solidFill>
                <a:latin typeface="Calibri"/>
              </a:rPr>
              <a:t>•  </a:t>
            </a:r>
            <a:r>
              <a:rPr lang="tr-TR" sz="1800" b="0" i="0">
                <a:solidFill>
                  <a:srgbClr val="262626"/>
                </a:solidFill>
                <a:latin typeface="Calibri"/>
              </a:rPr>
              <a:t>Hiçbir zaman · Ara sıra · Çoğu zaman · Her zaman</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225</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109 / 187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Öz değerlendirme — örnek yazım</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61872"/>
            <a:ext cx="11185855" cy="158496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61872"/>
            <a:ext cx="109728" cy="1584960"/>
          </a:xfrm>
          <a:prstGeom prst="rect">
            <a:avLst/>
          </a:prstGeom>
          <a:solidFill>
            <a:srgbClr val="2E7D32"/>
          </a:solidFill>
          <a:ln>
            <a:noFill/>
          </a:ln>
          <a:effectLst/>
        </p:spPr>
        <p:txBody>
          <a:bodyPr rtlCol="0" anchor="ctr"/>
          <a:lstStyle/>
          <a:p/>
        </p:txBody>
      </p:sp>
      <p:sp>
        <p:nvSpPr>
          <p:cNvPr id="8" name="TextBox 7"/>
          <p:cNvSpPr txBox="1"/>
          <p:nvPr/>
        </p:nvSpPr>
        <p:spPr>
          <a:xfrm>
            <a:off x="731520" y="1316736"/>
            <a:ext cx="10865815" cy="1475232"/>
          </a:xfrm>
          <a:prstGeom prst="rect">
            <a:avLst/>
          </a:prstGeom>
          <a:noFill/>
        </p:spPr>
        <p:txBody>
          <a:bodyPr wrap="square" anchor="ctr" lIns="73152" rIns="73152" tIns="36576" bIns="36576">
            <a:noAutofit/>
          </a:bodyPr>
          <a:lstStyle/>
          <a:p>
            <a:pPr algn="l">
              <a:spcBef>
                <a:spcPts val="0"/>
              </a:spcBef>
              <a:spcAft>
                <a:spcPts val="400"/>
              </a:spcAft>
            </a:pPr>
            <a:r>
              <a:rPr lang="tr-TR" sz="2200" b="1" i="0">
                <a:solidFill>
                  <a:srgbClr val="2E7D32"/>
                </a:solidFill>
                <a:latin typeface="Calibri"/>
              </a:rPr>
              <a:t>Çalışmam sırasında şu bilgileri öğrendim:</a:t>
            </a:r>
          </a:p>
          <a:p>
            <a:pPr algn="l">
              <a:spcBef>
                <a:spcPts val="0"/>
              </a:spcBef>
              <a:spcAft>
                <a:spcPts val="0"/>
              </a:spcAft>
            </a:pPr>
            <a:r>
              <a:rPr lang="tr-TR" sz="2200" b="0" i="0">
                <a:solidFill>
                  <a:srgbClr val="262626"/>
                </a:solidFill>
                <a:latin typeface="Calibri"/>
              </a:rPr>
              <a:t>“Kriter değişince bölgenin sınırının da değiştiğini.”</a:t>
            </a:r>
          </a:p>
        </p:txBody>
      </p:sp>
      <p:sp>
        <p:nvSpPr>
          <p:cNvPr id="9" name="Rounded Rectangle 8"/>
          <p:cNvSpPr/>
          <p:nvPr/>
        </p:nvSpPr>
        <p:spPr>
          <a:xfrm>
            <a:off x="502920" y="2983992"/>
            <a:ext cx="11185855" cy="158496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502920" y="2983992"/>
            <a:ext cx="109728" cy="1584960"/>
          </a:xfrm>
          <a:prstGeom prst="rect">
            <a:avLst/>
          </a:prstGeom>
          <a:solidFill>
            <a:srgbClr val="2E7D32"/>
          </a:solidFill>
          <a:ln>
            <a:noFill/>
          </a:ln>
          <a:effectLst/>
        </p:spPr>
        <p:txBody>
          <a:bodyPr rtlCol="0" anchor="ctr"/>
          <a:lstStyle/>
          <a:p/>
        </p:txBody>
      </p:sp>
      <p:sp>
        <p:nvSpPr>
          <p:cNvPr id="11" name="TextBox 10"/>
          <p:cNvSpPr txBox="1"/>
          <p:nvPr/>
        </p:nvSpPr>
        <p:spPr>
          <a:xfrm>
            <a:off x="731520" y="3038856"/>
            <a:ext cx="10865815" cy="1475232"/>
          </a:xfrm>
          <a:prstGeom prst="rect">
            <a:avLst/>
          </a:prstGeom>
          <a:noFill/>
        </p:spPr>
        <p:txBody>
          <a:bodyPr wrap="square" anchor="ctr" lIns="73152" rIns="73152" tIns="36576" bIns="36576">
            <a:noAutofit/>
          </a:bodyPr>
          <a:lstStyle/>
          <a:p>
            <a:pPr algn="l">
              <a:spcBef>
                <a:spcPts val="0"/>
              </a:spcBef>
              <a:spcAft>
                <a:spcPts val="400"/>
              </a:spcAft>
            </a:pPr>
            <a:r>
              <a:rPr lang="tr-TR" sz="2200" b="1" i="0">
                <a:solidFill>
                  <a:srgbClr val="2E7D32"/>
                </a:solidFill>
                <a:latin typeface="Calibri"/>
              </a:rPr>
              <a:t>Çalışmam sırasında şu noktalarda zorlandım:</a:t>
            </a:r>
          </a:p>
          <a:p>
            <a:pPr algn="l">
              <a:spcBef>
                <a:spcPts val="0"/>
              </a:spcBef>
              <a:spcAft>
                <a:spcPts val="0"/>
              </a:spcAft>
            </a:pPr>
            <a:r>
              <a:rPr lang="tr-TR" sz="2200" b="0" i="0">
                <a:solidFill>
                  <a:srgbClr val="262626"/>
                </a:solidFill>
                <a:latin typeface="Calibri"/>
              </a:rPr>
              <a:t>“Geçiş alanında sınırı nereden çizeceğimize karar verirken.”</a:t>
            </a:r>
          </a:p>
        </p:txBody>
      </p:sp>
      <p:sp>
        <p:nvSpPr>
          <p:cNvPr id="12" name="Rounded Rectangle 11"/>
          <p:cNvSpPr/>
          <p:nvPr/>
        </p:nvSpPr>
        <p:spPr>
          <a:xfrm>
            <a:off x="502920" y="4706112"/>
            <a:ext cx="11185855" cy="1584960"/>
          </a:xfrm>
          <a:prstGeom prst="roundRect">
            <a:avLst>
              <a:gd name="adj" fmla="val 6000"/>
            </a:avLst>
          </a:prstGeom>
          <a:solidFill>
            <a:srgbClr val="E3F1E4"/>
          </a:solidFill>
          <a:ln>
            <a:noFill/>
          </a:ln>
          <a:effectLst/>
        </p:spPr>
        <p:txBody>
          <a:bodyPr rtlCol="0" anchor="ctr"/>
          <a:lstStyle/>
          <a:p/>
        </p:txBody>
      </p:sp>
      <p:sp>
        <p:nvSpPr>
          <p:cNvPr id="13" name="Rectangle 12"/>
          <p:cNvSpPr/>
          <p:nvPr/>
        </p:nvSpPr>
        <p:spPr>
          <a:xfrm>
            <a:off x="502920" y="4706112"/>
            <a:ext cx="109728" cy="1584960"/>
          </a:xfrm>
          <a:prstGeom prst="rect">
            <a:avLst/>
          </a:prstGeom>
          <a:solidFill>
            <a:srgbClr val="2E7D32"/>
          </a:solidFill>
          <a:ln>
            <a:noFill/>
          </a:ln>
          <a:effectLst/>
        </p:spPr>
        <p:txBody>
          <a:bodyPr rtlCol="0" anchor="ctr"/>
          <a:lstStyle/>
          <a:p/>
        </p:txBody>
      </p:sp>
      <p:sp>
        <p:nvSpPr>
          <p:cNvPr id="14" name="TextBox 13"/>
          <p:cNvSpPr txBox="1"/>
          <p:nvPr/>
        </p:nvSpPr>
        <p:spPr>
          <a:xfrm>
            <a:off x="731520" y="4760976"/>
            <a:ext cx="10865815" cy="1475232"/>
          </a:xfrm>
          <a:prstGeom prst="rect">
            <a:avLst/>
          </a:prstGeom>
          <a:noFill/>
        </p:spPr>
        <p:txBody>
          <a:bodyPr wrap="square" anchor="ctr" lIns="73152" rIns="73152" tIns="36576" bIns="36576">
            <a:noAutofit/>
          </a:bodyPr>
          <a:lstStyle/>
          <a:p>
            <a:pPr algn="l">
              <a:spcBef>
                <a:spcPts val="0"/>
              </a:spcBef>
              <a:spcAft>
                <a:spcPts val="400"/>
              </a:spcAft>
            </a:pPr>
            <a:r>
              <a:rPr lang="tr-TR" sz="2200" b="1" i="0">
                <a:solidFill>
                  <a:srgbClr val="2E7D32"/>
                </a:solidFill>
                <a:latin typeface="Calibri"/>
              </a:rPr>
              <a:t>Çalışmamı yeniden yapacak olsaydım şunlara dikkat ederdim:</a:t>
            </a:r>
          </a:p>
          <a:p>
            <a:pPr algn="l">
              <a:spcBef>
                <a:spcPts val="0"/>
              </a:spcBef>
              <a:spcAft>
                <a:spcPts val="0"/>
              </a:spcAft>
            </a:pPr>
            <a:r>
              <a:rPr lang="tr-TR" sz="2200" b="0" i="0">
                <a:solidFill>
                  <a:srgbClr val="262626"/>
                </a:solidFill>
                <a:latin typeface="Calibri"/>
              </a:rPr>
              <a:t>“İki haritayı daha erken karşılaştırırdım.”</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225</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110 / 187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Ünitemizin özeti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Rounded Rectangle 5"/>
          <p:cNvSpPr/>
          <p:nvPr/>
        </p:nvSpPr>
        <p:spPr>
          <a:xfrm>
            <a:off x="502920" y="1216152"/>
            <a:ext cx="3594506" cy="39319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594506" cy="530352"/>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481328"/>
            <a:ext cx="3594506" cy="265176"/>
          </a:xfrm>
          <a:prstGeom prst="rect">
            <a:avLst/>
          </a:prstGeom>
          <a:solidFill>
            <a:srgbClr val="2A5D8F"/>
          </a:solidFill>
          <a:ln>
            <a:noFill/>
          </a:ln>
          <a:effectLst/>
        </p:spPr>
        <p:txBody>
          <a:bodyPr rtlCol="0" anchor="ctr"/>
          <a:lstStyle/>
          <a:p/>
        </p:txBody>
      </p:sp>
      <p:sp>
        <p:nvSpPr>
          <p:cNvPr id="9" name="TextBox 8"/>
          <p:cNvSpPr txBox="1"/>
          <p:nvPr/>
        </p:nvSpPr>
        <p:spPr>
          <a:xfrm>
            <a:off x="594360"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Bölge ve kriter</a:t>
            </a:r>
          </a:p>
        </p:txBody>
      </p:sp>
      <p:sp>
        <p:nvSpPr>
          <p:cNvPr id="10" name="TextBox 9"/>
          <p:cNvSpPr txBox="1"/>
          <p:nvPr/>
        </p:nvSpPr>
        <p:spPr>
          <a:xfrm>
            <a:off x="612648" y="1819656"/>
            <a:ext cx="3375050" cy="325526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Yeryüzünün doğal ve beşerî unsurlar bakımından kendi içinde benzerlik gösteren parçalarına bölge adı verilir. Kriter: fiziki ya da beşerî unsurlar.</a:t>
            </a:r>
          </a:p>
        </p:txBody>
      </p:sp>
      <p:sp>
        <p:nvSpPr>
          <p:cNvPr id="11" name="Rounded Rectangle 10"/>
          <p:cNvSpPr/>
          <p:nvPr/>
        </p:nvSpPr>
        <p:spPr>
          <a:xfrm>
            <a:off x="4298594" y="1216152"/>
            <a:ext cx="3594506" cy="393192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16152"/>
            <a:ext cx="3594506" cy="530352"/>
          </a:xfrm>
          <a:prstGeom prst="roundRect">
            <a:avLst>
              <a:gd name="adj" fmla="val 25000"/>
            </a:avLst>
          </a:prstGeom>
          <a:solidFill>
            <a:srgbClr val="1F6EA8"/>
          </a:solidFill>
          <a:ln>
            <a:noFill/>
          </a:ln>
          <a:effectLst/>
        </p:spPr>
        <p:txBody>
          <a:bodyPr rtlCol="0" anchor="ctr"/>
          <a:lstStyle/>
          <a:p/>
        </p:txBody>
      </p:sp>
      <p:sp>
        <p:nvSpPr>
          <p:cNvPr id="13" name="Rectangle 12"/>
          <p:cNvSpPr/>
          <p:nvPr/>
        </p:nvSpPr>
        <p:spPr>
          <a:xfrm>
            <a:off x="4298594" y="1481328"/>
            <a:ext cx="3594506" cy="265176"/>
          </a:xfrm>
          <a:prstGeom prst="rect">
            <a:avLst/>
          </a:prstGeom>
          <a:solidFill>
            <a:srgbClr val="1F6EA8"/>
          </a:solidFill>
          <a:ln>
            <a:noFill/>
          </a:ln>
          <a:effectLst/>
        </p:spPr>
        <p:txBody>
          <a:bodyPr rtlCol="0" anchor="ctr"/>
          <a:lstStyle/>
          <a:p/>
        </p:txBody>
      </p:sp>
      <p:sp>
        <p:nvSpPr>
          <p:cNvPr id="14" name="TextBox 13"/>
          <p:cNvSpPr txBox="1"/>
          <p:nvPr/>
        </p:nvSpPr>
        <p:spPr>
          <a:xfrm>
            <a:off x="4390034"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Şekilsel ve işlevsel</a:t>
            </a:r>
          </a:p>
        </p:txBody>
      </p:sp>
      <p:sp>
        <p:nvSpPr>
          <p:cNvPr id="15" name="TextBox 14"/>
          <p:cNvSpPr txBox="1"/>
          <p:nvPr/>
        </p:nvSpPr>
        <p:spPr>
          <a:xfrm>
            <a:off x="4408322" y="1819656"/>
            <a:ext cx="3375050" cy="325526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Şekilsel: kritere göre türdeş, merkezsiz (doğal ya da beşerî). İşlevsel: çekirdek (merkez) ve ona bağlı çevre.</a:t>
            </a:r>
          </a:p>
        </p:txBody>
      </p:sp>
      <p:sp>
        <p:nvSpPr>
          <p:cNvPr id="16" name="Rounded Rectangle 15"/>
          <p:cNvSpPr/>
          <p:nvPr/>
        </p:nvSpPr>
        <p:spPr>
          <a:xfrm>
            <a:off x="8094268" y="1216152"/>
            <a:ext cx="3594506" cy="393192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16152"/>
            <a:ext cx="3594506" cy="530352"/>
          </a:xfrm>
          <a:prstGeom prst="roundRect">
            <a:avLst>
              <a:gd name="adj" fmla="val 25000"/>
            </a:avLst>
          </a:prstGeom>
          <a:solidFill>
            <a:srgbClr val="3E7D3A"/>
          </a:solidFill>
          <a:ln>
            <a:noFill/>
          </a:ln>
          <a:effectLst/>
        </p:spPr>
        <p:txBody>
          <a:bodyPr rtlCol="0" anchor="ctr"/>
          <a:lstStyle/>
          <a:p/>
        </p:txBody>
      </p:sp>
      <p:sp>
        <p:nvSpPr>
          <p:cNvPr id="18" name="Rectangle 17"/>
          <p:cNvSpPr/>
          <p:nvPr/>
        </p:nvSpPr>
        <p:spPr>
          <a:xfrm>
            <a:off x="8094268" y="1481328"/>
            <a:ext cx="3594506" cy="265176"/>
          </a:xfrm>
          <a:prstGeom prst="rect">
            <a:avLst/>
          </a:prstGeom>
          <a:solidFill>
            <a:srgbClr val="3E7D3A"/>
          </a:solidFill>
          <a:ln>
            <a:noFill/>
          </a:ln>
          <a:effectLst/>
        </p:spPr>
        <p:txBody>
          <a:bodyPr rtlCol="0" anchor="ctr"/>
          <a:lstStyle/>
          <a:p/>
        </p:txBody>
      </p:sp>
      <p:sp>
        <p:nvSpPr>
          <p:cNvPr id="19" name="TextBox 18"/>
          <p:cNvSpPr txBox="1"/>
          <p:nvPr/>
        </p:nvSpPr>
        <p:spPr>
          <a:xfrm>
            <a:off x="8185708" y="12161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Sınır: geçiş ve değişim</a:t>
            </a:r>
          </a:p>
        </p:txBody>
      </p:sp>
      <p:sp>
        <p:nvSpPr>
          <p:cNvPr id="20" name="TextBox 19"/>
          <p:cNvSpPr txBox="1"/>
          <p:nvPr/>
        </p:nvSpPr>
        <p:spPr>
          <a:xfrm>
            <a:off x="8203996" y="1819656"/>
            <a:ext cx="3375050" cy="325526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Sınır net ya da geçişli olabilir. Bir bölge sınırını oluşturmada kullanılan kriterin özelliğinde yaşanacak değişim, o bölgenin sınırının da değişmesine neden olur.</a:t>
            </a:r>
          </a:p>
        </p:txBody>
      </p:sp>
      <p:sp>
        <p:nvSpPr>
          <p:cNvPr id="21" name="Rounded Rectangle 20"/>
          <p:cNvSpPr/>
          <p:nvPr/>
        </p:nvSpPr>
        <p:spPr>
          <a:xfrm>
            <a:off x="502920" y="5330952"/>
            <a:ext cx="11185855" cy="96012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200" b="0" i="0">
                <a:solidFill>
                  <a:srgbClr val="262626"/>
                </a:solidFill>
                <a:latin typeface="Calibri"/>
              </a:rPr>
              <a:t>Bir yer, farklı kriterlere göre çizilmiş </a:t>
            </a:r>
            <a:r>
              <a:rPr lang="tr-TR" sz="2200" b="1" i="0">
                <a:solidFill>
                  <a:srgbClr val="262626"/>
                </a:solidFill>
                <a:latin typeface="Calibri"/>
              </a:rPr>
              <a:t>birçok bölgenin</a:t>
            </a:r>
            <a:r>
              <a:rPr lang="tr-TR" sz="2200" b="0" i="0">
                <a:solidFill>
                  <a:srgbClr val="262626"/>
                </a:solidFill>
                <a:latin typeface="Calibri"/>
              </a:rPr>
              <a:t> içinde olabilir.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217-223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111 / 187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ölçme soruları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 226-227</a:t>
            </a:r>
          </a:p>
        </p:txBody>
      </p:sp>
      <p:sp>
        <p:nvSpPr>
          <p:cNvPr id="6" name="Rounded Rectangle 5"/>
          <p:cNvSpPr/>
          <p:nvPr/>
        </p:nvSpPr>
        <p:spPr>
          <a:xfrm>
            <a:off x="502920" y="1261872"/>
            <a:ext cx="5455767" cy="36576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5455767" cy="530352"/>
          </a:xfrm>
          <a:prstGeom prst="roundRect">
            <a:avLst>
              <a:gd name="adj" fmla="val 25000"/>
            </a:avLst>
          </a:prstGeom>
          <a:solidFill>
            <a:srgbClr val="2A5D8F"/>
          </a:solidFill>
          <a:ln>
            <a:noFill/>
          </a:ln>
          <a:effectLst/>
        </p:spPr>
        <p:txBody>
          <a:bodyPr rtlCol="0" anchor="ctr"/>
          <a:lstStyle/>
          <a:p/>
        </p:txBody>
      </p:sp>
      <p:sp>
        <p:nvSpPr>
          <p:cNvPr id="8" name="Rectangle 7"/>
          <p:cNvSpPr/>
          <p:nvPr/>
        </p:nvSpPr>
        <p:spPr>
          <a:xfrm>
            <a:off x="502920" y="1527048"/>
            <a:ext cx="5455767" cy="265176"/>
          </a:xfrm>
          <a:prstGeom prst="rect">
            <a:avLst/>
          </a:prstGeom>
          <a:solidFill>
            <a:srgbClr val="2A5D8F"/>
          </a:solidFill>
          <a:ln>
            <a:noFill/>
          </a:ln>
          <a:effectLst/>
        </p:spPr>
        <p:txBody>
          <a:bodyPr rtlCol="0" anchor="ctr"/>
          <a:lstStyle/>
          <a:p/>
        </p:txBody>
      </p:sp>
      <p:sp>
        <p:nvSpPr>
          <p:cNvPr id="9" name="TextBox 8"/>
          <p:cNvSpPr txBox="1"/>
          <p:nvPr/>
        </p:nvSpPr>
        <p:spPr>
          <a:xfrm>
            <a:off x="594360" y="12618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Sınıfta: 4 ve 5. sorular</a:t>
            </a:r>
          </a:p>
        </p:txBody>
      </p:sp>
      <p:sp>
        <p:nvSpPr>
          <p:cNvPr id="10" name="TextBox 9"/>
          <p:cNvSpPr txBox="1"/>
          <p:nvPr/>
        </p:nvSpPr>
        <p:spPr>
          <a:xfrm>
            <a:off x="612648" y="1865376"/>
            <a:ext cx="5236311" cy="2980944"/>
          </a:xfrm>
          <a:prstGeom prst="rect">
            <a:avLst/>
          </a:prstGeom>
          <a:noFill/>
        </p:spPr>
        <p:txBody>
          <a:bodyPr wrap="square" anchor="t" lIns="73152" rIns="73152" tIns="36576" bIns="36576">
            <a:noAutofit/>
          </a:bodyPr>
          <a:lstStyle/>
          <a:p>
            <a:pPr algn="l" marL="323206" indent="-323206">
              <a:spcBef>
                <a:spcPts val="0"/>
              </a:spcBef>
              <a:spcAft>
                <a:spcPts val="600"/>
              </a:spcAft>
            </a:pPr>
            <a:r>
              <a:rPr lang="tr-TR" sz="2600" b="1" i="0">
                <a:solidFill>
                  <a:srgbClr val="2A5D8F"/>
                </a:solidFill>
                <a:latin typeface="Calibri"/>
              </a:rPr>
              <a:t>•  </a:t>
            </a:r>
            <a:r>
              <a:rPr lang="tr-TR" sz="2600" b="0" i="0">
                <a:solidFill>
                  <a:srgbClr val="262626"/>
                </a:solidFill>
                <a:latin typeface="Calibri"/>
              </a:rPr>
              <a:t>s. 227 · Türkiye orman alanları haritası</a:t>
            </a:r>
          </a:p>
          <a:p>
            <a:pPr algn="l" marL="323206" indent="-323206">
              <a:spcBef>
                <a:spcPts val="0"/>
              </a:spcBef>
              <a:spcAft>
                <a:spcPts val="600"/>
              </a:spcAft>
            </a:pPr>
            <a:r>
              <a:rPr lang="tr-TR" sz="2600" b="1" i="0">
                <a:solidFill>
                  <a:srgbClr val="2A5D8F"/>
                </a:solidFill>
                <a:latin typeface="Calibri"/>
              </a:rPr>
              <a:t>•  </a:t>
            </a:r>
            <a:r>
              <a:rPr lang="tr-TR" sz="2600" b="0" i="0">
                <a:solidFill>
                  <a:srgbClr val="262626"/>
                </a:solidFill>
                <a:latin typeface="Calibri"/>
              </a:rPr>
              <a:t>altı öğrencinin cevabı</a:t>
            </a:r>
          </a:p>
          <a:p>
            <a:pPr algn="l" marL="323206" indent="-323206">
              <a:spcBef>
                <a:spcPts val="0"/>
              </a:spcBef>
              <a:spcAft>
                <a:spcPts val="0"/>
              </a:spcAft>
            </a:pPr>
            <a:r>
              <a:rPr lang="tr-TR" sz="2600" b="1" i="0">
                <a:solidFill>
                  <a:srgbClr val="2A5D8F"/>
                </a:solidFill>
                <a:latin typeface="Calibri"/>
              </a:rPr>
              <a:t>•  </a:t>
            </a:r>
            <a:r>
              <a:rPr lang="tr-TR" sz="2600" b="0" i="0">
                <a:solidFill>
                  <a:srgbClr val="262626"/>
                </a:solidFill>
                <a:latin typeface="Calibri"/>
              </a:rPr>
              <a:t>çözümler: sunumun ünite sonu bölümü</a:t>
            </a:r>
          </a:p>
        </p:txBody>
      </p:sp>
      <p:sp>
        <p:nvSpPr>
          <p:cNvPr id="11" name="Rounded Rectangle 10"/>
          <p:cNvSpPr/>
          <p:nvPr/>
        </p:nvSpPr>
        <p:spPr>
          <a:xfrm>
            <a:off x="6233007" y="1261872"/>
            <a:ext cx="5455767" cy="36576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233007" y="1261872"/>
            <a:ext cx="5455767"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6233007" y="1527048"/>
            <a:ext cx="5455767" cy="265176"/>
          </a:xfrm>
          <a:prstGeom prst="rect">
            <a:avLst/>
          </a:prstGeom>
          <a:solidFill>
            <a:srgbClr val="4F4F4F"/>
          </a:solidFill>
          <a:ln>
            <a:noFill/>
          </a:ln>
          <a:effectLst/>
        </p:spPr>
        <p:txBody>
          <a:bodyPr rtlCol="0" anchor="ctr"/>
          <a:lstStyle/>
          <a:p/>
        </p:txBody>
      </p:sp>
      <p:sp>
        <p:nvSpPr>
          <p:cNvPr id="14" name="TextBox 13"/>
          <p:cNvSpPr txBox="1"/>
          <p:nvPr/>
        </p:nvSpPr>
        <p:spPr>
          <a:xfrm>
            <a:off x="6324447" y="12618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Evde: 1-3. sorular</a:t>
            </a:r>
          </a:p>
        </p:txBody>
      </p:sp>
      <p:sp>
        <p:nvSpPr>
          <p:cNvPr id="15" name="TextBox 14"/>
          <p:cNvSpPr txBox="1"/>
          <p:nvPr/>
        </p:nvSpPr>
        <p:spPr>
          <a:xfrm>
            <a:off x="6342735" y="1865376"/>
            <a:ext cx="5236311" cy="2980944"/>
          </a:xfrm>
          <a:prstGeom prst="rect">
            <a:avLst/>
          </a:prstGeom>
          <a:noFill/>
        </p:spPr>
        <p:txBody>
          <a:bodyPr wrap="square" anchor="t" lIns="73152" rIns="73152" tIns="36576" bIns="36576">
            <a:noAutofit/>
          </a:bodyPr>
          <a:lstStyle/>
          <a:p>
            <a:pPr algn="l" marL="323206" indent="-323206">
              <a:spcBef>
                <a:spcPts val="0"/>
              </a:spcBef>
              <a:spcAft>
                <a:spcPts val="600"/>
              </a:spcAft>
            </a:pPr>
            <a:r>
              <a:rPr lang="tr-TR" sz="2600" b="1" i="0">
                <a:solidFill>
                  <a:srgbClr val="4F4F4F"/>
                </a:solidFill>
                <a:latin typeface="Calibri"/>
              </a:rPr>
              <a:t>•  </a:t>
            </a:r>
            <a:r>
              <a:rPr lang="tr-TR" sz="2600" b="0" i="0">
                <a:solidFill>
                  <a:srgbClr val="262626"/>
                </a:solidFill>
                <a:latin typeface="Calibri"/>
              </a:rPr>
              <a:t>s. 226 · İskandinav Kültür Bölgesi metni ve haritası</a:t>
            </a:r>
          </a:p>
          <a:p>
            <a:pPr algn="l" marL="323206" indent="-323206">
              <a:spcBef>
                <a:spcPts val="0"/>
              </a:spcBef>
              <a:spcAft>
                <a:spcPts val="600"/>
              </a:spcAft>
            </a:pPr>
            <a:r>
              <a:rPr lang="tr-TR" sz="2600" b="1" i="0">
                <a:solidFill>
                  <a:srgbClr val="4F4F4F"/>
                </a:solidFill>
                <a:latin typeface="Calibri"/>
              </a:rPr>
              <a:t>•  </a:t>
            </a:r>
            <a:r>
              <a:rPr lang="tr-TR" sz="2600" b="0" i="0">
                <a:solidFill>
                  <a:srgbClr val="262626"/>
                </a:solidFill>
                <a:latin typeface="Calibri"/>
              </a:rPr>
              <a:t>deftere</a:t>
            </a:r>
          </a:p>
          <a:p>
            <a:pPr algn="l" marL="323206" indent="-323206">
              <a:spcBef>
                <a:spcPts val="0"/>
              </a:spcBef>
              <a:spcAft>
                <a:spcPts val="0"/>
              </a:spcAft>
            </a:pPr>
            <a:r>
              <a:rPr lang="tr-TR" sz="2600" b="1" i="0">
                <a:solidFill>
                  <a:srgbClr val="4F4F4F"/>
                </a:solidFill>
                <a:latin typeface="Calibri"/>
              </a:rPr>
              <a:t>•  </a:t>
            </a:r>
            <a:r>
              <a:rPr lang="tr-TR" sz="2600" b="0" i="0">
                <a:solidFill>
                  <a:srgbClr val="262626"/>
                </a:solidFill>
                <a:latin typeface="Calibri"/>
              </a:rPr>
              <a:t>çözümler: ünite sonu slaytları (öğretmen paylaşır)</a:t>
            </a:r>
          </a:p>
        </p:txBody>
      </p:sp>
      <p:sp>
        <p:nvSpPr>
          <p:cNvPr id="16" name="Rounded Rectangle 15"/>
          <p:cNvSpPr/>
          <p:nvPr/>
        </p:nvSpPr>
        <p:spPr>
          <a:xfrm>
            <a:off x="502920" y="5148071"/>
            <a:ext cx="11185855" cy="1143001"/>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Daha fazla soru: s. 227 karekodu (EBA tema sonu soruları) — ünite sonu bölümünde</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226-227</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112 / 187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8</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bir ülkenin aynı anda birden fazla bölgenin sınırları içinde yer alabileceğine örnektir?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Birleşik Krallık’ın 2020’de Avrupa Birliği’nden ayrılması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Seyrek nüfuslu bir yerin yoğun nüfuslu bölgeye katılması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Gazetenin satış alanının gün içinde değişmesi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Danimarka’nın hem AB üyesi hem İskandinav Kültür Bölgesi’nde olması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Rotterdam Limanı’ndan uzaklaştıkça etki alanının zayıflaması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223-226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113 / 187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8</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bir ülkenin aynı anda birden fazla bölgenin sınırları içinde yer alabileceğine örnektir?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Birleşik Krallık’ın 2020’de Avrupa Birliği’nden ayrılması</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Seyrek nüfuslu bir yerin yoğun nüfuslu bölgeye katılması</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Gazetenin satış alanının gün içinde değişmesi</a:t>
            </a:r>
          </a:p>
        </p:txBody>
      </p:sp>
      <p:sp>
        <p:nvSpPr>
          <p:cNvPr id="16" name="Rounded Rectangle 15"/>
          <p:cNvSpPr/>
          <p:nvPr/>
        </p:nvSpPr>
        <p:spPr>
          <a:xfrm>
            <a:off x="502920" y="420806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7" name="Oval 16"/>
          <p:cNvSpPr/>
          <p:nvPr/>
        </p:nvSpPr>
        <p:spPr>
          <a:xfrm>
            <a:off x="594360" y="416417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Danimarka’nın hem AB üyesi hem İskandinav Kültür Bölgesi’nde olması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Rotterdam Limanı’ndan uzaklaştıkça etki alanının zayıflaması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Danimarka hem Avrupa Birliği (1973) hem İskandinav Kültür Bölgesi içindedir (s. 226). A, B ve C sınır değişimine, E işlevsel bölgenin özelliğine örnektir.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223-226</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114 / 187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35.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Doğal şekilsel bir bölgenin sınırı ile işlevsel bir bölgenin sınırından hangisi daha kısa sürede değişir? Neden?</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Avrupa Birliği Bölgesi'nin sınırı 1951'den bugüne nasıl değişti? İki cümle.</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Bugün oluşturduğunuz bölgenin kriteri neydi; kriteri değiştirseydiniz sınır nasıl değişirdi?</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223-225</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115 / 187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35.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2A5D8F"/>
                </a:solidFill>
                <a:latin typeface="Calibri"/>
              </a:rPr>
              <a:t>•  </a:t>
            </a:r>
            <a:r>
              <a:rPr lang="tr-TR" sz="2600" b="0" i="0">
                <a:solidFill>
                  <a:srgbClr val="262626"/>
                </a:solidFill>
                <a:latin typeface="Calibri"/>
              </a:rPr>
              <a:t>Çalışma kâğıdı Bölüm 2: 7-11. maddeler ve 12. madde (öz değerlendirme).</a:t>
            </a:r>
          </a:p>
          <a:p>
            <a:pPr algn="l" marL="323206" indent="-323206">
              <a:spcBef>
                <a:spcPts val="0"/>
              </a:spcBef>
              <a:spcAft>
                <a:spcPts val="1200"/>
              </a:spcAft>
            </a:pPr>
            <a:r>
              <a:rPr lang="tr-TR" sz="2600" b="1" i="0">
                <a:solidFill>
                  <a:srgbClr val="2A5D8F"/>
                </a:solidFill>
                <a:latin typeface="Calibri"/>
              </a:rPr>
              <a:t>•  </a:t>
            </a:r>
            <a:r>
              <a:rPr lang="tr-TR" sz="2600" b="0" i="0">
                <a:solidFill>
                  <a:srgbClr val="262626"/>
                </a:solidFill>
                <a:latin typeface="Calibri"/>
              </a:rPr>
              <a:t>Ünite ölçme soruları s. 226: 1-3. sorular deftere (İskandinav Kültür Bölgesi).</a:t>
            </a:r>
          </a:p>
          <a:p>
            <a:pPr algn="l" marL="323206" indent="-323206">
              <a:spcBef>
                <a:spcPts val="0"/>
              </a:spcBef>
              <a:spcAft>
                <a:spcPts val="1200"/>
              </a:spcAft>
            </a:pPr>
            <a:r>
              <a:rPr lang="tr-TR" sz="2600" b="1" i="0">
                <a:solidFill>
                  <a:srgbClr val="2A5D8F"/>
                </a:solidFill>
                <a:latin typeface="Calibri"/>
              </a:rPr>
              <a:t>•  </a:t>
            </a:r>
            <a:r>
              <a:rPr lang="tr-TR" sz="2600" b="0" i="0">
                <a:solidFill>
                  <a:srgbClr val="262626"/>
                </a:solidFill>
                <a:latin typeface="Calibri"/>
              </a:rPr>
              <a:t>MEBİ ve EBA: 7. ünite konu tekrarı ve etkinlik çözümleri (erişimin yoksa okul laboratuvarında).</a:t>
            </a:r>
          </a:p>
          <a:p>
            <a:pPr algn="l" marL="323206" indent="-323206">
              <a:spcBef>
                <a:spcPts val="0"/>
              </a:spcBef>
              <a:spcAft>
                <a:spcPts val="0"/>
              </a:spcAft>
            </a:pPr>
            <a:r>
              <a:rPr lang="tr-TR" sz="2600" b="1" i="0">
                <a:solidFill>
                  <a:srgbClr val="2A5D8F"/>
                </a:solidFill>
                <a:latin typeface="Calibri"/>
              </a:rPr>
              <a:t>•  </a:t>
            </a:r>
            <a:r>
              <a:rPr lang="tr-TR" sz="2600" b="0" i="0">
                <a:solidFill>
                  <a:srgbClr val="262626"/>
                </a:solidFill>
                <a:latin typeface="Calibri"/>
              </a:rPr>
              <a:t>36. hafta gözlem yürüyüşü: yürüyüşe uygun ayakkabı, su ve şapka; izin formu imzalı getirilir.</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226</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116 / 187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700" b="1" i="0">
                <a:solidFill>
                  <a:srgbClr val="262626"/>
                </a:solidFill>
                <a:latin typeface="Calibri"/>
              </a:rPr>
              <a:t>Öğretim programı ve etkinlikler.</a:t>
            </a:r>
            <a:r>
              <a:rPr lang="tr-TR" sz="1700" b="0" i="0">
                <a:solidFill>
                  <a:srgbClr val="262626"/>
                </a:solidFill>
                <a:latin typeface="Calibri"/>
              </a:rPr>
              <a:t> Coğrafya dersi öğretim programı (2026 nüshası): Talim ve Terbiye Kurulunun 23.05.2024 tarihli ve 20 sayılı kararıyla kabul edilen, 13.05.2026 tarihli ve 53 sayılı kararıyla güncellenen program. Bazı görseller ve sorular ders kitabının karekod içeriklerinden (EBA: ölçme araçları, tema sonu soruları, harita ve bilgi görselleri) alınmıştır.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GNL-COG9-SN-U7 — 35. hafta · Bölge Sınırlarında Değişim ve Bölge Oluşturma (slayt 62-116)</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