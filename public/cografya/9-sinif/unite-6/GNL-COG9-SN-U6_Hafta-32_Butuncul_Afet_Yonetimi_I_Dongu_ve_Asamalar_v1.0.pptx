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4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56"/>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56" Type="http://schemas.openxmlformats.org/officeDocument/2006/relationships/slide" Target="slides/slide49.xml"/><Relationship Id="rId127" Type="http://schemas.openxmlformats.org/officeDocument/2006/relationships/slide" Target="slides/slide1.xml"/><Relationship Id="rId128" Type="http://schemas.openxmlformats.org/officeDocument/2006/relationships/slide" Target="slides/slide2.xml"/><Relationship Id="rId129" Type="http://schemas.openxmlformats.org/officeDocument/2006/relationships/slide" Target="slides/slide3.xml"/><Relationship Id="rId130" Type="http://schemas.openxmlformats.org/officeDocument/2006/relationships/slide" Target="slides/slide4.xml"/><Relationship Id="rId131" Type="http://schemas.openxmlformats.org/officeDocument/2006/relationships/slide" Target="slides/slide5.xml"/><Relationship Id="rId132" Type="http://schemas.openxmlformats.org/officeDocument/2006/relationships/slide" Target="slides/slide6.xml"/><Relationship Id="rId133" Type="http://schemas.openxmlformats.org/officeDocument/2006/relationships/slide" Target="slides/slide7.xml"/><Relationship Id="rId134" Type="http://schemas.openxmlformats.org/officeDocument/2006/relationships/slide" Target="slides/slide8.xml"/><Relationship Id="rId135" Type="http://schemas.openxmlformats.org/officeDocument/2006/relationships/slide" Target="slides/slide9.xml"/><Relationship Id="rId136" Type="http://schemas.openxmlformats.org/officeDocument/2006/relationships/slide" Target="slides/slide10.xml"/><Relationship Id="rId137" Type="http://schemas.openxmlformats.org/officeDocument/2006/relationships/slide" Target="slides/slide11.xml"/><Relationship Id="rId138" Type="http://schemas.openxmlformats.org/officeDocument/2006/relationships/slide" Target="slides/slide12.xml"/><Relationship Id="rId139" Type="http://schemas.openxmlformats.org/officeDocument/2006/relationships/slide" Target="slides/slide13.xml"/><Relationship Id="rId140" Type="http://schemas.openxmlformats.org/officeDocument/2006/relationships/slide" Target="slides/slide14.xml"/><Relationship Id="rId141" Type="http://schemas.openxmlformats.org/officeDocument/2006/relationships/slide" Target="slides/slide15.xml"/><Relationship Id="rId142" Type="http://schemas.openxmlformats.org/officeDocument/2006/relationships/slide" Target="slides/slide16.xml"/><Relationship Id="rId143" Type="http://schemas.openxmlformats.org/officeDocument/2006/relationships/slide" Target="slides/slide17.xml"/><Relationship Id="rId144" Type="http://schemas.openxmlformats.org/officeDocument/2006/relationships/slide" Target="slides/slide18.xml"/><Relationship Id="rId145" Type="http://schemas.openxmlformats.org/officeDocument/2006/relationships/slide" Target="slides/slide19.xml"/><Relationship Id="rId146" Type="http://schemas.openxmlformats.org/officeDocument/2006/relationships/slide" Target="slides/slide20.xml"/><Relationship Id="rId147" Type="http://schemas.openxmlformats.org/officeDocument/2006/relationships/slide" Target="slides/slide21.xml"/><Relationship Id="rId148" Type="http://schemas.openxmlformats.org/officeDocument/2006/relationships/slide" Target="slides/slide22.xml"/><Relationship Id="rId149" Type="http://schemas.openxmlformats.org/officeDocument/2006/relationships/slide" Target="slides/slide23.xml"/><Relationship Id="rId150" Type="http://schemas.openxmlformats.org/officeDocument/2006/relationships/slide" Target="slides/slide24.xml"/><Relationship Id="rId151" Type="http://schemas.openxmlformats.org/officeDocument/2006/relationships/slide" Target="slides/slide25.xml"/><Relationship Id="rId152" Type="http://schemas.openxmlformats.org/officeDocument/2006/relationships/slide" Target="slides/slide26.xml"/><Relationship Id="rId153" Type="http://schemas.openxmlformats.org/officeDocument/2006/relationships/slide" Target="slides/slide27.xml"/><Relationship Id="rId154" Type="http://schemas.openxmlformats.org/officeDocument/2006/relationships/slide" Target="slides/slide28.xml"/><Relationship Id="rId155" Type="http://schemas.openxmlformats.org/officeDocument/2006/relationships/slide" Target="slides/slide29.xml"/><Relationship Id="rId156" Type="http://schemas.openxmlformats.org/officeDocument/2006/relationships/slide" Target="slides/slide30.xml"/><Relationship Id="rId157" Type="http://schemas.openxmlformats.org/officeDocument/2006/relationships/slide" Target="slides/slide31.xml"/><Relationship Id="rId158" Type="http://schemas.openxmlformats.org/officeDocument/2006/relationships/slide" Target="slides/slide32.xml"/><Relationship Id="rId159" Type="http://schemas.openxmlformats.org/officeDocument/2006/relationships/slide" Target="slides/slide33.xml"/><Relationship Id="rId160" Type="http://schemas.openxmlformats.org/officeDocument/2006/relationships/slide" Target="slides/slide34.xml"/><Relationship Id="rId161" Type="http://schemas.openxmlformats.org/officeDocument/2006/relationships/slide" Target="slides/slide35.xml"/><Relationship Id="rId162" Type="http://schemas.openxmlformats.org/officeDocument/2006/relationships/slide" Target="slides/slide36.xml"/><Relationship Id="rId163" Type="http://schemas.openxmlformats.org/officeDocument/2006/relationships/slide" Target="slides/slide37.xml"/><Relationship Id="rId164" Type="http://schemas.openxmlformats.org/officeDocument/2006/relationships/slide" Target="slides/slide38.xml"/><Relationship Id="rId165" Type="http://schemas.openxmlformats.org/officeDocument/2006/relationships/slide" Target="slides/slide39.xml"/><Relationship Id="rId166" Type="http://schemas.openxmlformats.org/officeDocument/2006/relationships/slide" Target="slides/slide40.xml"/><Relationship Id="rId167" Type="http://schemas.openxmlformats.org/officeDocument/2006/relationships/slide" Target="slides/slide41.xml"/><Relationship Id="rId168" Type="http://schemas.openxmlformats.org/officeDocument/2006/relationships/slide" Target="slides/slide42.xml"/><Relationship Id="rId169" Type="http://schemas.openxmlformats.org/officeDocument/2006/relationships/slide" Target="slides/slide43.xml"/><Relationship Id="rId170" Type="http://schemas.openxmlformats.org/officeDocument/2006/relationships/slide" Target="slides/slide44.xml"/><Relationship Id="rId171" Type="http://schemas.openxmlformats.org/officeDocument/2006/relationships/slide" Target="slides/slide45.xml"/><Relationship Id="rId172" Type="http://schemas.openxmlformats.org/officeDocument/2006/relationships/slide" Target="slides/slide46.xml"/><Relationship Id="rId173" Type="http://schemas.openxmlformats.org/officeDocument/2006/relationships/slide" Target="slides/slide47.xml"/><Relationship Id="rId174"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(COĞ.9.6.3) ve iki süreç bileşenini tanıtmak: a) şemadaki bileşenleri anlamlandırma, b) bileşenleri ve aralarındaki ilişkileri çözümleme.</a:t>
            </a:r>
          </a:p>
          <a:p/>
          <a:p>
            <a:r>
              <a:t>SÜRE: 80 dakikalık akış (ders planı, 32. hafta; E = esnek): giriş 6 (E) · döngü şeması 9 · dört aşama 9 · R mi K mi? 3 · döngü ve iki yoklama 8 (E) · geçiş 5 (E) — 40. dk · s. 208 etkinliği 12 (E) · paylaşım 6 (E) · klasik-yeni yaklaşım 8 (E) · istasyona hazırlık 8 (E) · çıkış kartı 6 (E).</a:t>
            </a:r>
          </a:p>
          <a:p/>
          <a:p>
            <a:r>
              <a:t>NASIL: Çıktıyı öğrencinin diliyle söyleyin: 'Afetlerle nasıl baş edildiğini bu hafta bir şema üzerinden okuyacağız: önce şemanın parçalarını tanıyacağız (a), sonra parçaların birbirini nasıl etkilediğini çözeceğiz (b).' Bayram sonrası ilk derstir; ilk 6 dakika toparlanmaya ayrılmıştır. KISA HAFTA — Kurban Bayramı 15-19 Mayıs 2027: bu hafta yalnız perşembe-cuma ders vardır. Dersi perşembe-cuma olan şubede plan aynen uygulanır. Dersi pazartesi-çarşamba olan şubede bu hafta ders yoktur; 33. haftanın başında, o haftanın esnek aşamalarının (1, 7, 9, 11 = 21 dk) yerine bu haftanın çekirdeği kullanılır: döngü şeması 125-128 (9 dk), dört aşama 129-134 (9 dk), R mi K mi? 135-136 (3 dk). Aynı şubelerde s. 208 kart takımı 33. hafta istasyonlarına başlangıç kartı olarak dağıtılır, bu haftanın çıkış kartı soruları 33. hafta kartına eklenir, çalışma kâğıdının 11-12. maddeleri 33. haftanın evine eklenir.</a:t>
            </a:r>
          </a:p>
          <a:p/>
          <a:p>
            <a:r>
              <a:t>KAYNAK: Program (2026) COĞ.9.6.3 a-b (süreç bileşenleri birebir); ders planı 32. hafta (kısa hafta notu ve birleştirme reçetesi); kitap 6.1.3 (s. 202-203, 208, 212).</a:t>
            </a:r>
          </a:p>
          <a:p/>
          <a:p>
            <a:r>
              <a:t>NOT: Kitap 2026-2027 baskısı: s. 202-203, 208 ve 212 önceki baskıyla aynıdır. 19 Mayıs bu yıl bayram tatiline denk gelir; ders içinde ayrı etkinlik planlanmaz. Müzeler Haftası (18-24 Mayıs): programın önerdiği deprem simülasyon merkezi ya da rasathane ziyareti ve afet uzmanı paneli yalnız öneri olarak okul sosyal etkinlik takvimine iletilir. Hassasiyet: sınıfta afet yaşamış ya da yakınını kaybetmiş öğrenci bulunabilir; kişisel afet anlatımı istenmez, isteyen dinlenir; gerektiğinde rehberlik servisiyle eşgüdüm.</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İlk dört istasyon dersin ilk yarısıdır (bireysel ve ikili); etkinlik ve yeni yaklaşım gruplarla yapılır. Son dakikalarda gelecek haftanın istasyon çalışmasına hazırlanacağız.</a:t>
            </a:r>
          </a:p>
          <a:p/>
          <a:p>
            <a:r>
              <a:t>KAYNAK: Ders planı 32.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Bayram sonrası toparlanma: 31. haftanın afet türlerini bir bakışta hatırlatmak ve bu haftanın sorusuna köprü kurmak.</a:t>
            </a:r>
          </a:p>
          <a:p/>
          <a:p>
            <a:r>
              <a:t>SÜRE: Giriş 6 dk: ayraç ve yol haritası 0,5 dk · hatırlatma 1 dk · düşün-eşleş 2 dk · üç ikiliden cevap 2 dk · örnek cevap 0,5 dk.</a:t>
            </a:r>
          </a:p>
          <a:p/>
          <a:p>
            <a:r>
              <a:t>NASIL: 31. hafta yapılandırılmış gridinin ortak hatalarını iki cümleyle, isim vermeden söyleyin (ör. erozyonun kitapta biyolojik afetler arasında sayıldığını unutmak; iki türe de bağlanabilen çığ, heyelan gibi afetlerde gerekçe yazmamak). Sonra alttaki şeridi okuyun: 'Afetleri tanıdık; bu hafta onlarla nasıl baş edileceğini öğreneceğiz.'</a:t>
            </a:r>
          </a:p>
          <a:p/>
          <a:p>
            <a:r>
              <a:t>KAYNAK: Kitap s. 196 (beş tür ve kitabın verdiği örnekler birebir); ders planı 32. hafta 1. aşama.</a:t>
            </a:r>
          </a:p>
          <a:p/>
          <a:p>
            <a:r>
              <a:t>NOT: Erozyon farklı kaynaklarda jeolojik ya da hidrometeorolojik süreç olarak da ele alınır; sınıfta kitabın sınıflandırması esastır (31. hafta notu).</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Köprü kurma (program: afetleri yakın çevreden örneklerle günlük hayata bağlamak): bir afetin öncesinde, esnasında ve sonrasında yapılanları öğrencinin kendi bilgisinden toplamak.</a:t>
            </a:r>
          </a:p>
          <a:p/>
          <a:p>
            <a:r>
              <a:t>NASIL: Soruyu sorun: 'Bir afet olmadan önce, olurken ve olduktan sonra kim ne yapar?' Sıra arkadaşıyla 2 dakikada her sütuna birer iş yazarlar. Üç ikiliden cevap alın, tahtaya üç sütun hâlinde yazın; tahtayı silmeyin (yol haritasının 4. adımında, 137-143, döngüyle eşleyeceğiz). Kişisel afet anlatımı istemeyin; isteyen dinlenir.</a:t>
            </a:r>
          </a:p>
          <a:p/>
          <a:p>
            <a:r>
              <a:t>BEKLENEN CEVAP: Afet öncesi: Aile afet planı, afet ve acil durum çantası (aile); Tahliye tatbikatı, toplanma alanı (okul); Sağlam bina, denetim, erken uyarı (kurumlar) · Afet esnası: Güvenli yere geçmek (depremde çök-kapan-tutun) (birey); Arama kurtarma, ilk yardım (kurtarma ekipleri); Güvenilir kaynaktan bilgi almak (herkes) · Afet sonrası: Barınma, yiyecek, ilaç (kurumlar, gönüllüler); Hasar tespiti, enkaz kaldırma (kurumlar); Psikolojik destek; okulları, evleri yeniden yapmak (kurumlar, toplum)</a:t>
            </a:r>
          </a:p>
          <a:p/>
          <a:p>
            <a:r>
              <a:t>KAYNAK: Program (2026) köprü kurma; ders planı 32. hafta 1. aşama (düşün-eşleş, üç sütun).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sütunun örnek cevabı; sütunlar dersin ortasında döngünün dört aşamasıyla eşlenecek.</a:t>
            </a:r>
          </a:p>
          <a:p/>
          <a:p>
            <a:r>
              <a:t>NASIL: Tahtadaki cevaplarla karşılaştırın; her işin yanına 'kim yapar?' sorusunu ekleyin: birey, aile, okul, kurumlar. 'Bu işler bir sırayla mı yapılıyor, yoksa iç içe mi? Bugün bunu bir şemada göreceğiz.' Sütunları 'Döngü neden döngü?' bölümünde (137-143) dört aşamaya taşıyacağız.</a:t>
            </a:r>
          </a:p>
          <a:p/>
          <a:p>
            <a:r>
              <a:t>BEKLENEN CEVAP: Afet öncesi: Aile afet planı, afet ve acil durum çantası (aile); Tahliye tatbikatı, toplanma alanı (okul); Sağlam bina, denetim, erken uyarı (kurumlar) · Afet esnası: Güvenli yere geçmek (depremde çök-kapan-tutun) (birey); Arama kurtarma, ilk yardım (kurtarma ekipleri); Güvenilir kaynaktan bilgi almak (herkes) · Afet sonrası: Barınma, yiyecek, ilaç (kurumlar, gönüllüler); Hasar tespiti, enkaz kaldırma (kurumlar); Psikolojik destek; okulları, evleri yeniden yapmak (kurumlar, toplum)</a:t>
            </a:r>
          </a:p>
          <a:p/>
          <a:p>
            <a:r>
              <a:t>KAYNAK: Örnekler kitap s. 202 aşama kutularından (tehlike haritaları, yapılanma yönetmelikleri, tahliye, toplanma merkezi, erken uyarı; arama kurtarma, gıda-barınma-ilaç, hasar tespiti, enkaz; eğitim, kalıcı konut) ve s. 208 ifadelerinden (aile afet planı); s. 188 afet ve acil durum çantası. 'Çök-kapan-tutun' ve güvenilir kaynaktan bilgi almak: bilimsel (AFAD afet eğitimi), kitapta s. 203 bilgi kirliliği metniyle ilişkili; ayrıntısı 33. haftada.</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Bütüncül afet yönetiminin tanımını ve tanımdaki dört aşamayı göstermek (süreç bileşeni a: bileşenleri anlamlandırma).</a:t>
            </a:r>
          </a:p>
          <a:p/>
          <a:p>
            <a:r>
              <a:t>SÜRE: Bu aşama 9 dk (çekirdek): tanım ve yönerge 1 dk · şema yaprağı 6 dk bireysel · 2 dk ikili kontrol ve cevap (risk ve kriz yönetimi slaytıyla). KISA HAFTA: bu derste yalnız perşembe-cuma şubeleri vardır. Dersi pazartesi-çarşamba olan şubede bu aşama 33. haftanın başında yapılır (32. haftanın 21 dakikalık çekirdeği: 125-128, 129-134, 135-136).</a:t>
            </a:r>
          </a:p>
          <a:p/>
          <a:p>
            <a:r>
              <a:t>NASIL: Tanımı bir öğrenciye okutun. Üç kartı gösterin: neden (afetlerle baş edebilen toplum), neyi kapsar (bütün tehlikeler), nasıl (toplumdaki kaynaklarla). Alttaki dört aşamanın adı tanımın içindedir; 'Bu dört aşama bir döngü oluşturur: şimdi şemasını kuracağız.' Tanımda 'hazırlık', şemada 'hazırlıklı olma' yazar: aynı aşamadır.</a:t>
            </a:r>
          </a:p>
          <a:p/>
          <a:p>
            <a:r>
              <a:t>KAYNAK: Kitap s. 202 tanım (birebir). Program COĞ.9.6.3-a (OB4).</a:t>
            </a:r>
          </a:p>
          <a:p/>
          <a:p>
            <a:r>
              <a:t>NOT: Birleştirilen şubede (dersi pazartesi-çarşamba) bu slayt 33. haftanın ilk slaytı olur.</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Kitap s. 202 şemasının bileşenlerini anlamlandırmak: dört aşama, iki bant (risk ve kriz yönetimi), beş ok yazısı, AFET'in yeri (OB4, SBAB11.1).</a:t>
            </a:r>
          </a:p>
          <a:p/>
          <a:p>
            <a:r>
              <a:t>NASIL: Boş şema yaprağını dağıtın (34 + 4 yedek); bu slayt yaprağın aynısıdır. Numaralar (1-4) ve harfler (a, b, c, ç, d) kitapta yoktur; cevabı konuşurken ortak dil olsun diye konmuştur — 1-4 numaraları s. 208 etkinliğindeki yerlerle aynıdır. AFET kutusu ve merkezdeki yazı yaprakta hazırdır. 6 dakika tek başına, kitap s. 202'den; sonra 2 dakika sıra arkadaşıyla karşılaştırma. İpucu: 'Oklar hep saat yönünde döner. AFET hangi iki aşamanın arasında? Bantların cümlesini oku: afet öncesi mi, sonrası mı?'</a:t>
            </a:r>
          </a:p>
          <a:p/>
          <a:p>
            <a:r>
              <a:t>BEKLENEN CEVAP: 1 Risk ve zarar azaltma · 2 Hazırlıklı olma · 3 Müdahale · 4 İyileştirme · üst bant RİSK YÖNETİMİ, alt bant KRİZ YÖNETİMİ · a Önlem · b Tahmin ve erken uyarı · c Etki analizi · ç Rehabilitasyon · d Yeniden yapılandırma. (Cevap izleyen slaytta.)</a:t>
            </a:r>
          </a:p>
          <a:p/>
          <a:p>
            <a:r>
              <a:t>KAYNAK: Kitap s. 202 şeması; etiketlerin yeri sayfa görüntüsünden ve PDF'in vektör çiziminden doğrulandı (her ok kendi aşamasının çeyreğindedir; 'Rehabilitasyon' halkanın içinde, saat 6 yönünde; AFET okların dışında, saat 3 yönünde). Şema motorla yeniden çizildi; renkler kitabın renkleri. Ok yazılarının anlamı kitapta tanımlanmaz: açıklamalar s. 202 kutularından (erken uyarı sistemleri, hasar tespiti, yeniden yapılanma faaliyeti) ve bilimsel genel bilgiden (afet yönetiminde rehabilitasyon kısa-orta vadeli iyileştirme, yeniden yapılandırma kalıcı yeniden yapılanmadır — kitapta yok). Program COĞ.9.6.3-a.</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Şemanın tamamı: öğrenciler yapraklarını kontrol eder; okların ne anlattığını konuşuruz.</a:t>
            </a:r>
          </a:p>
          <a:p/>
          <a:p>
            <a:r>
              <a:t>NASIL: Yaprakları cevapla karşılaştırın; yanlış etiketi kırmızı kalemle düzelttirin. Okları okutun: her ok yazısı bir aşamanın işini söyler — önlem → risk ve zarar azaltma; tahmin ve erken uyarı → hazırlıklı olma; sonra AFET; etki analizi (hasarın, etkinin belirlenmesi) → müdahale; rehabilitasyon (yaraları sarma: temel hizmetlerin, hasar görenlerin ilk onarımı) → müdahaleden iyileştirmeye geçiş; yeniden yapılandırma (kalıcı yeniden kurma) → iyileştirme; sonra başa dönüş. Dikkat: üst yarının iki aşaması afet öncesidir, alt yarının iki aşaması afet esnası ve sonrasıdır.</a:t>
            </a:r>
          </a:p>
          <a:p/>
          <a:p>
            <a:r>
              <a:t>BEKLENEN CEVAP: 1 Risk ve zarar azaltma · 2 Hazırlıklı olma · 3 Müdahale · 4 İyileştirme · üst bant RİSK YÖNETİMİ, alt bant KRİZ YÖNETİMİ · a Önlem · b Tahmin ve erken uyarı · c Etki analizi · ç Rehabilitasyon · d Yeniden yapılandırma.</a:t>
            </a:r>
          </a:p>
          <a:p/>
          <a:p>
            <a:r>
              <a:t>KAYNAK: Kitap s. 202 şeması; etiketlerin yeri sayfa görüntüsünden ve PDF'in vektör çiziminden doğrulandı (her ok kendi aşamasının çeyreğindedir; 'Rehabilitasyon' halkanın içinde, saat 6 yönünde; AFET okların dışında, saat 3 yönünde). Şema motorla yeniden çizildi; renkler kitabın renkleri. Ok yazılarının anlamı kitapta tanımlanmaz: açıklamalar s. 202 kutularından (erken uyarı sistemleri, hasar tespiti, yeniden yapılanma faaliyeti) ve bilimsel genel bilgiden (afet yönetiminde rehabilitasyon kısa-orta vadeli iyileştirme, yeniden yapılandırma kalıcı yeniden yapılanmadır — kitapta yok). Program COĞ.9.6.3-a.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Şemanın iki bandını açmak: risk yönetimi afet öncesinin, kriz yönetimi afet esnası ve sonrasının yönetimidir; AFET iki yönetimin sınırındadır.</a:t>
            </a:r>
          </a:p>
          <a:p/>
          <a:p>
            <a:r>
              <a:t>NASIL: İki cümleyi iki öğrenciye okutun. Şemada gösterin: üst yarının iki aşaması (risk ve zarar azaltma, hazırlıklı olma) risk yönetimi; alt yarının iki aşaması (müdahale, iyileştirme) kriz yönetimi. AFET kutusu hazırlıklı olma ile müdahalenin arasındadır. 'Risk yönetiminde amaç afetten etkilenmeyi önlemek, kriz yönetiminde ise elimizdeki imkânlarla en hızlı ve etkili müdahale.'</a:t>
            </a:r>
          </a:p>
          <a:p/>
          <a:p>
            <a:r>
              <a:t>BEKLENEN CEVAP: Risk yönetimi: afet öncesi — risk ve zarar azaltma + hazırlıklı olma. Kriz yönetimi: afet esnası ve sonrası — müdahale + iyileştirme.</a:t>
            </a:r>
          </a:p>
          <a:p/>
          <a:p>
            <a:r>
              <a:t>KAYNAK: Kitap s. 202 RİSK YÖNETİMİ ve KRİZ YÖNETİMİ cümleleri (birebir). Program COĞ.9.6.3-a (OB4, SBAB11.1).</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dört aşama kutusunu okuyarak her aşamanın amacını ve uygulamalarını tabloya düzenlemek (süreç bileşeni a).</a:t>
            </a:r>
          </a:p>
          <a:p/>
          <a:p>
            <a:r>
              <a:t>SÜRE: Bu aşama 9 dk (çekirdek): tablo açma 0,5 dk · dört kutu 2'şer dk (okutma ve tahtaya kısa yazım) · örnek cevap 0,5 dk. KISA HAFTA: bu derste yalnız perşembe-cuma şubeleri vardır. Dersi pazartesi-çarşamba olan şubede bu aşama 33. haftanın başında yapılır (32. haftanın 21 dakikalık çekirdeği: 125-128, 129-134, 135-136).</a:t>
            </a:r>
          </a:p>
          <a:p/>
          <a:p>
            <a:r>
              <a:t>NASIL: Deftere üç sütunlu tablo açtırın (aşama · amacı ne? · kitaptan uygulamalar). İzleyen dört slaytta her aşamanın kitap kutusunu bir öğrenciye okutun, kalın yazılı uygulamaları gösterin; tahtaya kısa yazın, öğrenciler tabloya geçirir.</a:t>
            </a:r>
          </a:p>
          <a:p/>
          <a:p>
            <a:r>
              <a:t>BEKLENEN CEVAP: Risk ve zarar azaltma: Afetlerin etkisini azaltmak ya da yok etmek — Tehlike haritaları; yasal düzenlemeler; yapılanma ve afet yönetmelikleri · Hazırlıklı olma: Afet olmadan önce olası sonuçlarına hazırlanmak — İhtiyaç belirleme, tahliye, toplanma merkezi, acil eylem planı, teçhizat merkezleri, erken uyarı · Müdahale: Olaya en kısa sürede müdahale, zaruri ihtiyaçları karşılamak — Arama kurtarma; gıda, barınma, ilaç, güvenlik; hasar tespiti, enkaz; yangın, salgına karşı önlem · İyileştirme: Hayatın normale dönmesi (kriz yönetiminin en uzun evresi) — Temel ihtiyaçlar, haberleşme, ulaşım, elektrik, kanalizasyon, eğitim, kalıcı konut; ekonomik ve sosyal hayat</a:t>
            </a:r>
          </a:p>
          <a:p/>
          <a:p>
            <a:r>
              <a:t>KAYNAK: Kitap s. 202 dört aşama kutusu (kısa yazım; kutuların cümleleri izleyen slaytlarda birebir). Ders planı 32. hafta 3. aşama.</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'RİSK VE ZARAR AZALTMA' kutusunu okuyarak aşamanın amacını ve uygulamalarını bulmak.</a:t>
            </a:r>
          </a:p>
          <a:p/>
          <a:p>
            <a:r>
              <a:t>NASIL: Kutuyu okutun. 'Amaç: afetin etkisini azaltmak ya da yok etmek. Kalın yazılanlar uygulamalar: tehlike haritası, yasal düzenleme, yönetmelik.' Ok yazısı 'önlem' bu aşamanın işini özetler. 30. haftadan bağ: depreme dayanıklı yapı ve zemin etüdü riski azaltır.</a:t>
            </a:r>
          </a:p>
          <a:p/>
          <a:p>
            <a:r>
              <a:t>BEKLENEN CEVAP: Amacı: Afetlerin etkisini azaltmak ya da yok etmek. Uygulamalar: Tehlike haritaları; yasal düzenlemeler; yapılanma ve afet yönetmelikleri.</a:t>
            </a:r>
          </a:p>
          <a:p/>
          <a:p>
            <a:r>
              <a:t>KAYNAK: Kitap s. 202 'RİSK VE ZARAR AZALTMA' kutusu (birebir) ve şemanın ok yazısı. Program COĞ.9.6.3-a.</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'HAZIRLIKLI OLMA' kutusunu okuyarak aşamanın amacını ve uygulamalarını bulmak.</a:t>
            </a:r>
          </a:p>
          <a:p/>
          <a:p>
            <a:r>
              <a:t>NASIL: Kutuyu okutun; 'risk analizi ve zarar azaltma evresinde elde edilen verilerden hareketle' ifadesine dikkat çekin: hazırlık, birinci aşamanın verisiyle yapılır. Okulumuzun tahliye planını ve toplanma alanını hazırlıklı olma örneği olarak gösterin (ders planında [toplanma alanı]; okul planındaki yer söylenir). Ok yazısı: tahmin ve erken uyarı.</a:t>
            </a:r>
          </a:p>
          <a:p/>
          <a:p>
            <a:r>
              <a:t>BEKLENEN CEVAP: Amacı: Afet olmadan önce olası sonuçlarına hazırlanmak. Uygulamalar: İhtiyaç belirleme, tahliye, toplanma merkezi, acil eylem planı, teçhizat merkezleri, erken uyarı.</a:t>
            </a:r>
          </a:p>
          <a:p/>
          <a:p>
            <a:r>
              <a:t>KAYNAK: Kitap s. 202 'HAZIRLIKLI OLMA' kutusu (birebir) ve şemanın ok yazısı. Program COĞ.9.6.3-a. Okul tahliye planı: okulun acil durum planı (yer adı sunuma yazılmaz).</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'MÜDAHALE' kutusunu okuyarak aşamanın amacını ve uygulamalarını bulmak.</a:t>
            </a:r>
          </a:p>
          <a:p/>
          <a:p>
            <a:r>
              <a:t>NASIL: Kutuyu okutun. 'AFET'ten hemen sonra bu aşama başlar: en kısa sürede.' Hasar tespiti ve enkaz kaldırma da bu aşamadadır; ok yazısı 'etki analizi' hasarın, etkinin belirlenmesidir. Can kaybı ve kurtarma anlatımlarına girmeyin; kişisel deneyim istenmez.</a:t>
            </a:r>
          </a:p>
          <a:p/>
          <a:p>
            <a:r>
              <a:t>BEKLENEN CEVAP: Amacı: Olaya en kısa sürede müdahale, zaruri ihtiyaçları karşılamak. Uygulamalar: Arama kurtarma; gıda, barınma, ilaç, güvenlik; hasar tespiti, enkaz; yangın, salgına karşı önlem.</a:t>
            </a:r>
          </a:p>
          <a:p/>
          <a:p>
            <a:r>
              <a:t>KAYNAK: Kitap s. 202 'MÜDAHALE' kutusu (birebir) ve şemanın ok yazısı. Program COĞ.9.6.3-a.</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'İYİLEŞTİRME' kutusunu okuyarak aşamanın amacını ve uygulamalarını bulmak.</a:t>
            </a:r>
          </a:p>
          <a:p/>
          <a:p>
            <a:r>
              <a:t>NASIL: Kutuyu okutun. 'Kriz yönetiminin en uzun süren evresi' vurgusunu yapın: kalıcı konut, okul ve altyapı yıllar alabilir. Halkadaki 'rehabilitasyon' müdahaleden iyileştirmeye geçişi, ok yazısı 'yeniden yapılandırma' kalıcı yeniden kurmayı anlatır.</a:t>
            </a:r>
          </a:p>
          <a:p/>
          <a:p>
            <a:r>
              <a:t>BEKLENEN CEVAP: Amacı: Hayatın normale dönmesi (kriz yönetiminin en uzun evresi). Uygulamalar: Temel ihtiyaçlar, haberleşme, ulaşım, elektrik, kanalizasyon, eğitim, kalıcı konut; ekonomik ve sosyal hayat.</a:t>
            </a:r>
          </a:p>
          <a:p/>
          <a:p>
            <a:r>
              <a:t>KAYNAK: Kitap s. 202 'İYİLEŞTİRME' kutusu (birebir) ve şemanın ok yazısı. Program COĞ.9.6.3-a.</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Defter tablosunun örnek cevabı: öğrenciler kendi tablosunu karşılaştırır.</a:t>
            </a:r>
          </a:p>
          <a:p/>
          <a:p>
            <a:r>
              <a:t>NASIL: Tabloyu kendi tablolarıyla karşılaştırtın; eksik uygulamayı ekletin. Bu tablo çalışma kâğıdının 11. maddesinin de hazırlığıdır (ev). Hatırlatın: ilk iki aşama risk yönetimi, son iki aşama kriz yönetimidir.</a:t>
            </a:r>
          </a:p>
          <a:p/>
          <a:p>
            <a:r>
              <a:t>BEKLENEN CEVAP: Risk ve zarar azaltma: Afetlerin etkisini azaltmak ya da yok etmek — Tehlike haritaları; yasal düzenlemeler; yapılanma ve afet yönetmelikleri · Hazırlıklı olma: Afet olmadan önce olası sonuçlarına hazırlanmak — İhtiyaç belirleme, tahliye, toplanma merkezi, acil eylem planı, teçhizat merkezleri, erken uyarı · Müdahale: Olaya en kısa sürede müdahale, zaruri ihtiyaçları karşılamak — Arama kurtarma; gıda, barınma, ilaç, güvenlik; hasar tespiti, enkaz; yangın, salgına karşı önlem · İyileştirme: Hayatın normale dönmesi (kriz yönetiminin en uzun evresi) — Temel ihtiyaçlar, haberleşme, ulaşım, elektrik, kanalizasyon, eğitim, kalıcı konut; ekonomik ve sosyal hayat</a:t>
            </a:r>
          </a:p>
          <a:p/>
          <a:p>
            <a:r>
              <a:t>KAYNAK: Kitap s. 202 dört aşama kutusu (kısa yazım; kutuların cümleleri izleyen slaytlarda birebir). Ders planı 32. hafta 3. aşama.</a:t>
            </a:r>
          </a:p>
          <a:p/>
          <a:p>
            <a:r>
              <a:t>OGM MATERYAL: OGM Materyal 177 dört aşamayı s. 202 kutularının ilk cümleleriyle eşleştirir (kavram-tanım); bu tablo o eşleştirmenin defterdeki karşılığıdır ve kutuların ikinci cümlelerini de içerir. OGM'de risk yönetimi ve kriz yönetimi bantları yoktur; burada kitabın şeması kullanılır.</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Hızlı kavram kontrolü: üç iş risk yönetimine mi (R), kriz yönetimine mi (K) girer?</a:t>
            </a:r>
          </a:p>
          <a:p/>
          <a:p>
            <a:r>
              <a:t>SÜRE: Bu aşama 3 dk (çekirdek): üç ifade 2 dk · cevap 1 dk. KISA HAFTA: bu derste yalnız perşembe-cuma şubeleri vardır. Dersi pazartesi-çarşamba olan şubede bu aşama 33. haftanın başında yapılır (32. haftanın 21 dakikalık çekirdeği: 125-128, 129-134, 135-136).</a:t>
            </a:r>
          </a:p>
          <a:p/>
          <a:p>
            <a:r>
              <a:t>NASIL: İfadeleri tek tek okuyun; öğrenciler mini kâğıda R ya da K yazıp kaldırır (ifade başına 20 sn). Gerekçesini sıra arkadaşına söyler.</a:t>
            </a:r>
          </a:p>
          <a:p/>
          <a:p>
            <a:r>
              <a:t>BEKLENEN CEVAP: Tahliye planı hazırlamak: R (Hazırlıklı olma) · Enkaz kaldırmak: K (Müdahale) · Kalıcı konut yapmak: K (İyileştirme)</a:t>
            </a:r>
          </a:p>
          <a:p/>
          <a:p>
            <a:r>
              <a:t>KAYNAK: Kitap s. 202 (hazırlıklı olma: tahliye sürecinin şekillendirilmesi; müdahale: enkazların kaldırılması; iyileştirme: kalıcı konut); ders planı 32. hafta 4. aşama.</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Hızlı kavram kontrolü: üç iş risk yönetimine mi (R), kriz yönetimine mi (K) girer?</a:t>
            </a:r>
          </a:p>
          <a:p/>
          <a:p>
            <a:r>
              <a:t>NASIL: Yanlış çoğunluktaysa s. 202 bantlarını yeniden okutun (125-128): risk yönetimi afet öncesi, kriz yönetimi afet esnası ve sonrasıdır. 'Enkaz kaldırmak afet sonrasındadır ama müdahalenin işidir; müdahale de kriz yönetimindedir.'</a:t>
            </a:r>
          </a:p>
          <a:p/>
          <a:p>
            <a:r>
              <a:t>BEKLENEN CEVAP: Tahliye planı hazırlamak: R (Hazırlıklı olma) · Enkaz kaldırmak: K (Müdahale) · Kalıcı konut yapmak: K (İyileştirme)</a:t>
            </a:r>
          </a:p>
          <a:p/>
          <a:p>
            <a:r>
              <a:t>KAYNAK: Kitap s. 202 (hazırlıklı olma: tahliye sürecinin şekillendirilmesi; müdahale: enkazların kaldırılması; iyileştirme: kalıcı konut); ders planı 32. hafta 4. aşama.</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Aşamalar arası ilişkiyi çözümlemek (süreç bileşeni b): aşamalar iç içedir; tecrübeyle başa dönülür; iyileştirme yeni riskleri önler.</a:t>
            </a:r>
          </a:p>
          <a:p/>
          <a:p>
            <a:r>
              <a:t>SÜRE: Bu aşama 8 dk (esnek): metin 2,5 dk · sütunları döngüye taşıma 2,5 dk · iki yoklama 3 dk. Zaman darsa yoklamalar çıkış kartına bırakılır.</a:t>
            </a:r>
          </a:p>
          <a:p/>
          <a:p>
            <a:r>
              <a:t>NASIL: Üç kartı üç öğrenciye okutun. Şemada gösterin: yeşil okun ucundan maviye geçiş 'başa dönüş'tür; iyileştirmede öğrenilen, bir sonraki afete hazırlığı güçlendirir. 'Aşamalar iç içedir' örneği: müdahale sürerken hazırlık eksikleri not edilir; iyileştirmede yeni konutlar dayanıklı yapılırsa risk de azalır.</a:t>
            </a:r>
          </a:p>
          <a:p/>
          <a:p>
            <a:r>
              <a:t>BEKLENEN CEVAP: Döngüdür çünkü her aşama bir sonrakini etkiler; iyileştirmeden elde edilen tecrübe ve bilgilerle başa (risk ve zarar azaltma, hazırlıklı olma) dönülür; iyileştirmede yeni tehlike ve riskler önlenir.</a:t>
            </a:r>
          </a:p>
          <a:p/>
          <a:p>
            <a:r>
              <a:t>KAYNAK: Kitap s. 202 alt paragraf ve s. 203 ilk paragraf (birebir). Program COĞ.9.6.3-b.</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başındaki üç sütunu (afet öncesi · esnası · sonrası) döngünün dört aşamasıyla eşlemek: kitabın 'bir bütünlük' cümlesinin uygulaması.</a:t>
            </a:r>
          </a:p>
          <a:p/>
          <a:p>
            <a:r>
              <a:t>NASIL: Tahtadaki üç sütuna dönün (dersin başında yazılanlar). 'Her sütundaki işler hangi aşamanın işidir?' Öğrenciler sütun başına aşama numaralarını (1-4) söyler; tahtada maddelerin yanına numara yazılır.</a:t>
            </a:r>
          </a:p>
          <a:p/>
          <a:p>
            <a:r>
              <a:t>BEKLENEN CEVAP: Afet öncesi → 1 risk ve zarar azaltma + 2 hazırlıklı olma (risk yönetimi) · afet esnası → 3 müdahale · afet sonrası → 3 müdahale (barınma, hasar tespiti, enkaz) + 4 iyileştirme (kalıcı konut, psikolojik destek, eğitim) — kriz yönetimi.</a:t>
            </a:r>
          </a:p>
          <a:p/>
          <a:p>
            <a:r>
              <a:t>KAYNAK: Kitap s. 203: Bütüncül afet yönetiminin aşamaları; bir bütünlük içerisinde olup afet öncesi, esnası ve sonrasında uygulanabilecek niteliktedir. Aşama kutuları s. 202.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başındaki üç sütunu (afet öncesi · esnası · sonrası) döngünün dört aşamasıyla eşlemek: kitabın 'bir bütünlük' cümlesinin uygulaması.</a:t>
            </a:r>
          </a:p>
          <a:p/>
          <a:p>
            <a:r>
              <a:t>NASIL: Afet sonrası sütunu iki aşamaya bölünür: barınma, hasar tespiti ve enkaz müdahalenin; kalıcı konut ve psikolojik destek iyileştirmenin işidir. 'Üç zaman, dört aşama: aşamalar iç içe.' Bu eşleme gelecek haftanın istasyonlarının da temelidir (öncesi = 1 + 2, esnası = 3, sonrası = 3 + 4).</a:t>
            </a:r>
          </a:p>
          <a:p/>
          <a:p>
            <a:r>
              <a:t>BEKLENEN CEVAP: Afet öncesi → 1 risk ve zarar azaltma + 2 hazırlıklı olma (risk yönetimi) · afet esnası → 3 müdahale · afet sonrası → 3 müdahale (barınma, hasar tespiti, enkaz) + 4 iyileştirme (kalıcı konut, psikolojik destek, eğitim) — kriz yönetimi.</a:t>
            </a:r>
          </a:p>
          <a:p/>
          <a:p>
            <a:r>
              <a:t>KAYNAK: Kitap s. 203: Bütüncül afet yönetiminin aşamaları; bir bütünlük içerisinde olup afet öncesi, esnası ve sonrasında uygulanabilecek niteliktedir. Aşama kutuları s. 202.</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seçenekleri kitapla çürütün: aşamalar afet öncesi, esnası ve sonrasında uygulanır (C); bir bütünlük içindedir (D); tanım 'tüm tehlikelerin dikkate alındığı' der (E).</a:t>
            </a:r>
          </a:p>
          <a:p/>
          <a:p>
            <a:r>
              <a:t>BEKLENEN CEVAP: B) Genellikle iç içedir.</a:t>
            </a:r>
          </a:p>
          <a:p/>
          <a:p>
            <a:r>
              <a:t>KAYNAK: Kitap s. 202 alt paragraf; s. 203 ilk paragraf; s. 202 tanım.</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Aşamalar, her zaman birbirini takip etmek zorunda olmayıp genellikle iç içedir.</a:t>
            </a:r>
          </a:p>
          <a:p/>
          <a:p>
            <a:r>
              <a:t>BEKLENEN CEVAP: B) Genellikle iç içedir.</a:t>
            </a:r>
          </a:p>
          <a:p/>
          <a:p>
            <a:r>
              <a:t>KAYNAK: Kitap s. 202 alt paragraf; s. 203 ilk paragraf; s. 202 tanım.</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Cevap slaytında şemadaki yeşil okun ucunu gösterin: başa dönüş.</a:t>
            </a:r>
          </a:p>
          <a:p/>
          <a:p>
            <a:r>
              <a:t>BEKLENEN CEVAP: B) Risk ve zarar azaltma ile hazırlıklı olma</a:t>
            </a:r>
          </a:p>
          <a:p/>
          <a:p>
            <a:r>
              <a:t>KAYNAK: Kitap s. 203 ilk paragraf.</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Kitap: tecrübe ve bilgiler bağlamında başa dönülerek afet öncesi risk ve zarar azaltma ile hazırlıklı olma evrelerine geçilmelidir (s. 203).</a:t>
            </a:r>
          </a:p>
          <a:p/>
          <a:p>
            <a:r>
              <a:t>BEKLENEN CEVAP: B) Risk ve zarar azaltma ile hazırlıklı olma</a:t>
            </a:r>
          </a:p>
          <a:p/>
          <a:p>
            <a:r>
              <a:t>KAYNAK: Kitap s. 203 ilk paragraf.</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Geçiş 5 dk (esnek): yer değiştirme 2 dk · yönerge, 12 ifade ve roller 3 dk. Kısaltılırsa yalnız 2 dakikalık geçiş kalır.</a:t>
            </a:r>
          </a:p>
          <a:p/>
          <a:p>
            <a:r>
              <a:t>NASIL: Ayağa kalkma molası; sıralar adalara çevrilir, malzeme sorumluları grup setlerini alır. Roller her hafta döner. Malzeme sorumluları zarfı (12 kart) ve A3 boş şemayı (dört numaralı alan) alır; yazıcı kartları şemaya yapıştırır ya da yazar, sözcü 3. sorunun cevabını hazırlar. 12 kartlık takım küçüktür: malzeme sorumlusu zarfı sayarak teslim alır ve verir.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208 etkinliğini tanıtmak: amaç, beceri, yönerge ve üç adım (süreç bileşeni b: bileşenleri ve aralarındaki ilişkiyi çözümleme).</a:t>
            </a:r>
          </a:p>
          <a:p/>
          <a:p>
            <a:r>
              <a:t>NASIL: Künyeyi ve yönergeyi okutun. Kart takımının 12 ifadesini sırayla 12 öğrenciye sesli okutun (kitapta da aynı sayfadadır). Adımları gösterin: önce numaralı yerlere aşama adları (2 dk), sonra kartlar (8 dk), en sonda 3. soru (sözcü hazırlar, paylaşımda okur).</a:t>
            </a:r>
          </a:p>
          <a:p/>
          <a:p>
            <a:r>
              <a:t>KAYNAK: Kitap s. 208 ETKİNLİK (künye, yönerge ve üç adım birebir).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208 şemasının numaralı yerlerine bütüncül afet yönetiminin aşamalarını döngü sırasıyla yazmak.</a:t>
            </a:r>
          </a:p>
          <a:p/>
          <a:p>
            <a:r>
              <a:t>SÜRE: Etkinlik 12 dk (esnek): 1. adım 2 dk · cevap 0,5 dk · 2. adım 8 dk · cevap 1,5 dk.</a:t>
            </a:r>
          </a:p>
          <a:p/>
          <a:p>
            <a:r>
              <a:t>NASIL: Gruplar A3 şemaya aşama adlarını yazar. Dolaşımda ipucu: 'Kitaptaki renklere değil, AFET'in yerine bakın: AFET'ten önceki iki yer afet öncesidir.' Dikkat: s. 208 şemasının renkleri s. 202'dekinden farklıdır (1 turuncu, 2 mavi, 3 yeşil, 4 mor); aşamayı renk değil, yeri ve sırası belirler.</a:t>
            </a:r>
          </a:p>
          <a:p/>
          <a:p>
            <a:r>
              <a:t>BEKLENEN CEVAP: 1 risk ve zarar azaltma · 2 hazırlıklı olma · 3 müdahale · 4 iyileştirme (cevap izleyen slaytta).</a:t>
            </a:r>
          </a:p>
          <a:p/>
          <a:p>
            <a:r>
              <a:t>KAYNAK: Kitap s. 208 şeması (kırpım) ve 1. adım (birebir); numaraların yeri sayfa görüntüsünden: 1 sol üst, 2 sağ üst, 3 sağ alt, 4 sol alt; halkadaki oklar saat yönünde, kırmızı AFET işareti 2 ile 3 arasında.</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Numaralı yerlerin cevabı: s. 202 şemasıyla aynı sıra, s. 208'in kendi renkleriyle.</a:t>
            </a:r>
          </a:p>
          <a:p/>
          <a:p>
            <a:r>
              <a:t>NASIL: Grupların şemasıyla karşılaştırın; yanlış yazan grup düzeltir. 'İkonlara bakın: kalkan korunmayı, ünlem uyarıyı, can simidi kurtarmayı, dönen oklar yenilenmeyi anlatır.' Sonra 2. adıma geçin.</a:t>
            </a:r>
          </a:p>
          <a:p/>
          <a:p>
            <a:r>
              <a:t>BEKLENEN CEVAP: 1 risk ve zarar azaltma · 2 hazırlıklı olma · 3 müdahale · 4 iyileştirme.</a:t>
            </a:r>
          </a:p>
          <a:p/>
          <a:p>
            <a:r>
              <a:t>KAYNAK: Kitap s. 202 döngüsü ve s. 208 şeması; ikonlar s. 208'den kırpıldı. İkonların anlamı kitapta yazmaz (görsel okuma; bilimsel değil, yorum).</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208'in 12 ifadesini s. 202 kutularına göre dört aşamaya yerleştirmek (bileşenler arası ilişkiyi çözümleme).</a:t>
            </a:r>
          </a:p>
          <a:p/>
          <a:p>
            <a:r>
              <a:t>NASIL: Gruplar kartları tartışarak A3 şemaya yerleştirir; yazıcı yapıştırır. Her kartın köşesindeki boş daireye aşama numarası (1-4) yazılabilir. Dolaşım turu: 'Bu iş afetten önce mi, sırasında mı, sonra mı? Kitaptaki kutuda hangi aşamaya benziyor?' Takılan gruba ipucu: her aşamaya üç kart düşer (kitap bunu söylemez; yalnız takılan gruba).</a:t>
            </a:r>
          </a:p>
          <a:p/>
          <a:p>
            <a:r>
              <a:t>BEKLENEN CEVAP: 1 risk ve zarar azaltma: güvenli yerleşim alanları, sel yataklarına yerleşmeme, risk haritası ve yasal düzenlemeler · 2 hazırlıklı olma: aile afet planı, halkın eğitilmesi, uyarıların takibi · 3 müdahale: acil yiyecek-barınak-tıbbi malzeme, bağış ve gönüllü yönetimi, elektrik telleriyle temas edebilecek su birikintilerinden uzak durma · 4 iyileştirme: sosyal ve psikolojik destek, ekonomik canlılık, normal hayat koşulları (izleyen slaytta).</a:t>
            </a:r>
          </a:p>
          <a:p/>
          <a:p>
            <a:r>
              <a:t>KAYNAK: Kitap s. 208 2. adım ve 12 ifade (birebir; kitaptaki sırayla).</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12 ifadenin s. 202 kutularına göre örnek dağılımı.</a:t>
            </a:r>
          </a:p>
          <a:p/>
          <a:p>
            <a:r>
              <a:t>NASIL: Grupların yerleştirmesiyle karşılaştırın; her aşama için gerekçeyi kitabın kutusuna bağlayın: risk haritası ve yasal düzenleme → s. 202 'tehlike haritalarının hazırlanması, yasal düzenlemelerin oluşturulması'; aile afet planı → hazırlık; acil yiyecek, barınak → 'zaruri ihtiyaçların karşılanması'; normal hayat → 'normale dönmesi'. Farklı yerleştiren gruplar paylaşımda gerekçesini söyler (izleyen bölüm).</a:t>
            </a:r>
          </a:p>
          <a:p/>
          <a:p>
            <a:r>
              <a:t>BEKLENEN CEVAP: 1 Risk ve zarar azaltma: Sel ve taşkına karşı güvenli yerleşim alanları oluşturulması; Sel yataklarına yerleşilmemesi; Sel ve taşkın risk haritası hazırlanması ve yasal düzenlemelerin yapılması · 2 Hazırlıklı olma: Aile afet planı hazırlanırken sel ve taşkın riskinin göz önünde bulundurulması; Halkın sel ve taşkın konusunda eğitilmesi; Sel konusundaki uyarıların iletişim araçlarından mutlaka takip edilmesi · 3 Müdahale: Acil yiyecek, barınak ve tıbbi malzemenin sağlanması; Bağışlar ve gönüllülerin yönetimi; Elektrik telleriyle temas edebilecek su birikintilerinden uzak durulması · 4 İyileştirme: Sosyal ve psikolojik destek hizmetlerinin sağlanması; Ekonomik canlılığın yeniden sağlanması; Normal hayat koşullarının kurulması</a:t>
            </a:r>
          </a:p>
          <a:p/>
          <a:p>
            <a:r>
              <a:t>KAYNAK: Kitap s. 208 (12 ifade) ve s. 202 aşama kutuları; örnek dağılım bu kutulara göredir. Kitabın kendi cevabı verilmez (etkinlik açık uçlu).</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Farklı yerleştirilen kartları gerekçeleriyle tartışmak: bir uygulama birden çok aşamaya hizmet edebilir (aşamalar iç içedir).</a:t>
            </a:r>
          </a:p>
          <a:p/>
          <a:p>
            <a:r>
              <a:t>SÜRE: Paylaşım 6 dk (esnek): tartışmalı kartlar 3 dk · 3. soru ve ilişki cümlesi 3 dk.</a:t>
            </a:r>
          </a:p>
          <a:p/>
          <a:p>
            <a:r>
              <a:t>NASIL: Her aşama için bir grubun sözcüsü kartlarını okur. Farklı yerleştiren gruplar bu iki kart için gerekçesini söyler: 'Nereye koydunuz, neden?'</a:t>
            </a:r>
          </a:p>
          <a:p/>
          <a:p>
            <a:r>
              <a:t>BEKLENEN CEVAP: 'Halkın sel ve taşkın konusunda eğitilmesi': örnek yerleşim Hazırlıklı olma — Afetten önce, olası sonuçlara hazırlık (s. 202 hazırlıklı olma). Gerekçeyle şu aşama da kabul: Risk ve zarar azaltma — Eğitilen halk riskli yere yerleşmez, zarar görme riski azalır (s. 212: toplumun kapasitesi). · 'Sel konusundaki uyarıların iletişim araçlarından mutlaka takip edilmesi': örnek yerleşim Hazırlıklı olma — Erken uyarı sistemleri bu aşamadadır (s. 202). Gerekçeyle şu aşama da kabul: Müdahale — Sel sırasında uyarıyı izleyip tahliyeye uymak afet esnasında yapılır.</a:t>
            </a:r>
          </a:p>
          <a:p/>
          <a:p>
            <a:r>
              <a:t>KAYNAK: Kitap s. 208 ifadeleri; s. 202 kutuları; s. 212 yeni yaklaşım tablosu ('toplumun kapasitesini geliştirecek'). İki aşamaya bağlanabilme: kural dosyası ve ders planı notu.</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Farklı yerleştirilen kartları gerekçeleriyle tartışmak: bir uygulama birden çok aşamaya hizmet edebilir (aşamalar iç içedir).</a:t>
            </a:r>
          </a:p>
          <a:p/>
          <a:p>
            <a:r>
              <a:t>NASIL: İki gerekçe de kabul edilir; ölçüt gerekçenin kitaptaki kutuya dayanmasıdır. Üçüncü olası tartışma: 'elektrik telleriyle temas edebilecek su birikintilerinden uzak durulması' afet esnası ve hemen sonrasının güvenlik davranışıdır: müdahale (kitap: afet sonrasında oluşabilecek olumsuzluklara karşı önlem); 'bağışlar ve gönüllülerin yönetimi' iyileştirmede de sürebilir.</a:t>
            </a:r>
          </a:p>
          <a:p/>
          <a:p>
            <a:r>
              <a:t>BEKLENEN CEVAP: 'Halkın sel ve taşkın konusunda eğitilmesi': örnek yerleşim Hazırlıklı olma — Afetten önce, olası sonuçlara hazırlık (s. 202 hazırlıklı olma). Gerekçeyle şu aşama da kabul: Risk ve zarar azaltma — Eğitilen halk riskli yere yerleşmez, zarar görme riski azalır (s. 212: toplumun kapasitesi). · 'Sel konusundaki uyarıların iletişim araçlarından mutlaka takip edilmesi': örnek yerleşim Hazırlıklı olma — Erken uyarı sistemleri bu aşamadadır (s. 202). Gerekçeyle şu aşama da kabul: Müdahale — Sel sırasında uyarıyı izleyip tahliyeye uymak afet esnasında yapılır.</a:t>
            </a:r>
          </a:p>
          <a:p/>
          <a:p>
            <a:r>
              <a:t>KAYNAK: Kitap s. 208 ifadeleri; s. 202 kutuları; s. 212 yeni yaklaşım tablosu ('toplumun kapasitesini geliştirecek'). İki aşamaya bağlanabilme: kural dosyası ve ders planı notu.</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208 etkinliğinin 3. sorusu: aşamalar arası ilişkiyi tek cümleyle ifade etmek (süreç bileşeni b).</a:t>
            </a:r>
          </a:p>
          <a:p/>
          <a:p>
            <a:r>
              <a:t>NASIL: Sözcüler grubun ilişki cümlesini okur (grup başına 20 sn); cümleleri tahtaya yazın. 'Düşüncelerinizi arkadaşlarınızla paylaşınız': farklı cümleleri karşılaştırın.</a:t>
            </a:r>
          </a:p>
          <a:p/>
          <a:p>
            <a:r>
              <a:t>BEKLENEN CEVAP: Aşamalar bir döngüdür: her aşamada yapılanlar bir sonrakini etkiler. Risk ve zarar azaltma ne kadar iyi yapılırsa afetin zararı ve sonraki aşamaların yükü o kadar azalır. Müdahale ve iyileştirmeden öğrenilenlerle başa dönülür; iyileştirmede yeni riskler önlenir.</a:t>
            </a:r>
          </a:p>
          <a:p/>
          <a:p>
            <a:r>
              <a:t>KAYNAK: Kitap s. 208 3. soru (birebir); örnek cevap s. 203 ilk paragraf, s. 202 alt paragraf ve s. 212 metninden ('ilk ve en önemli aşaması, afet risklerini azaltma evresidir').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208 etkinliğinin 3. sorusu: aşamalar arası ilişkiyi tek cümleyle ifade etmek (süreç bileşeni b).</a:t>
            </a:r>
          </a:p>
          <a:p/>
          <a:p>
            <a:r>
              <a:t>NASIL: Tahtadaki cümlelerle karşılaştırın; sınıfın ortak cümlesini deftere yazdırın. Bu cümle ünite sonundaki 8. sorunun da (risk ve zarar azaltma ile diğer aşamaların ilişkisi) temelidir (221-250).</a:t>
            </a:r>
          </a:p>
          <a:p/>
          <a:p>
            <a:r>
              <a:t>BEKLENEN CEVAP: Aşamalar bir döngüdür: her aşamada yapılanlar bir sonrakini etkiler. Risk ve zarar azaltma ne kadar iyi yapılırsa afetin zararı ve sonraki aşamaların yükü o kadar azalır. Müdahale ve iyileştirmeden öğrenilenlerle başa dönülür; iyileştirmede yeni riskler önlenir.</a:t>
            </a:r>
          </a:p>
          <a:p/>
          <a:p>
            <a:r>
              <a:t>KAYNAK: Kitap s. 208 3. soru (birebir); örnek cevap s. 203 ilk paragraf, s. 202 alt paragraf ve s. 212 metninden ('ilk ve en önemli aşaması, afet risklerini azaltma evresidir').</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212 tablosuyla klasik ve yeni yaklaşımı karşılaştırmak; yeni yaklaşımın döngünün hangi aşamasını güçlendirdiğini çözümlemek (süreç bileşeni b).</a:t>
            </a:r>
          </a:p>
          <a:p/>
          <a:p>
            <a:r>
              <a:t>SÜRE: Derinleşme 8 dk (esnek): tablo okuma ve ikili çalışma 4 dk · üç ikiliden cevap ve örnek cevap 1,5 dk · s. 212 metni 1 dk · yoklama 1,5 dk.</a:t>
            </a:r>
          </a:p>
          <a:p/>
          <a:p>
            <a:r>
              <a:t>NASIL: Tablonun başlığını okutun. İkililer iki slayttaki yedi satırdan ikisini seçer ve 'bu satırdaki yeni yaklaşım döngünün hangi aşamasını güçlendirir?' sorusuna gerekçeli cevap yazar (ör. 'çalışmalar daha çok afet öncesi yapılır' → risk ve zarar azaltma). Klasik yaklaşım sütununu da okutun: 'afetzede' sözcüğü insanın sürece katılmadığını anlatır.</a:t>
            </a:r>
          </a:p>
          <a:p/>
          <a:p>
            <a:r>
              <a:t>BEKLENEN CEVAP: Örnek cevap izleyen slaytta (satır satır aşama ve gerekçe).</a:t>
            </a:r>
          </a:p>
          <a:p/>
          <a:p>
            <a:r>
              <a:t>KAYNAK: Kitap s. 212 tablo (başlık ve hücreler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212 tablosuyla klasik ve yeni yaklaşımı karşılaştırmak; yeni yaklaşımın döngünün hangi aşamasını güçlendirdiğini çözümlemek (süreç bileşeni b).</a:t>
            </a:r>
          </a:p>
          <a:p/>
          <a:p>
            <a:r>
              <a:t>NASIL: İkililer seçimini tamamlar; üç ikiliden cevap alın. Örnek cevap izleyen slaytta. Bu tablo ünite sonundaki 9. sorunun da kaynağıdır (221-250).</a:t>
            </a:r>
          </a:p>
          <a:p/>
          <a:p>
            <a:r>
              <a:t>BEKLENEN CEVAP: Örnek cevap izleyen slaytta (satır satır aşama ve gerekçe).</a:t>
            </a:r>
          </a:p>
          <a:p/>
          <a:p>
            <a:r>
              <a:t>KAYNAK: Kitap s. 212 tablo (başlık ve hücreler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Yedi satırın örnek eşlemesi: yeni yaklaşım döngünün hangi aşamasını güçlendirir?</a:t>
            </a:r>
          </a:p>
          <a:p/>
          <a:p>
            <a:r>
              <a:t>NASIL: İkililerin cevaplarını satırla karşılaştırın. Bu eşlemeler gerekçeli önerilerdir; kitapta satır-aşama eşlemesi verilmez. Ölçüt: gerekçe s. 202'deki aşama kutusuna dayanıyor mu? En çok tekrar eden aşamayı sorun: risk ve zarar azaltma — izleyen slaytta kitabın cümlesi.</a:t>
            </a:r>
          </a:p>
          <a:p/>
          <a:p>
            <a:r>
              <a:t>BEKLENEN CEVAP: 1) gündelik hayatın parçası, fırsat penceresi: Risk ve zarar azaltma, İyileştirme — risk baştan planlanır; yeniden yapılanma daha güvenli olur · 2) afet öncesinde de analiz: Risk ve zarar azaltma, Hazırlıklı olma — riskin belirlenmesi, ihtiyaçların önceden belirlenmesi · 3) toplum tabanlı çözüm, zarar görme riskini azaltma: Risk ve zarar azaltma, Hazırlıklı olma — riski azaltır; toplumun kapasitesi (eğitim) artar · 4) insanlar hazırlıkta paydaş, yerel kurumlar güçlü: Hazırlıklı olma — aile afet planı, gönüllülük, tatbikat · 5) hesap verme, şeffaflık, başarı değerlendirmesi: İyileştirme, Risk ve zarar azaltma — değerlendirme tecrübeyle başa dönüşü sağlar · 6) çalışmalar daha çok afet öncesi: Risk ve zarar azaltma, Hazırlıklı olma — risk yönetimi güçlenir · 7) afet, toplumsal dönüşüm fırsatı: İyileştirme — yeni tehlike ve riskler önlenerek yeniden yapılanma</a:t>
            </a:r>
          </a:p>
          <a:p/>
          <a:p>
            <a:r>
              <a:t>KAYNAK: Kitap s. 212 tablosu ve s. 202 kutuları; eşleme: gerekçeli öneri (kitapta yok). Ders planı örnekleri: 'çalışmalar daha çok afet öncesi yapılır' → risk ve zarar azaltma; 'insanlar hazırlıkta paydaştır' → hazırlıklı olma.</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vurgusunu okumak: bütüncül afet yönetiminin ilk ve en önemli aşaması risk ve zarar azaltmadır; yeni yaklaşım tablosuyla ilişkisi.</a:t>
            </a:r>
          </a:p>
          <a:p/>
          <a:p>
            <a:r>
              <a:t>NASIL: Metni okutun. 'Tablodaki yeni yaklaşımın çoğu satırı neden risk azaltmaya bağlandı?' Cevap: zararı en aza indirmenin yolu afetten önce çalışmaktır. Afet kültürü cümlesini 12 Kasım Afet Eğitimi Hazırlık Günü'ne (30. hafta, s. 188) bağlayın.</a:t>
            </a:r>
          </a:p>
          <a:p/>
          <a:p>
            <a:r>
              <a:t>BEKLENEN CEVAP: Çünkü afetlerin verebileceği zararı en aza indirmek için afet öncesi çalışmalar en etkili yoldur; risk azaldıkça müdahale ve iyileştirmenin yükü de azalır.</a:t>
            </a:r>
          </a:p>
          <a:p/>
          <a:p>
            <a:r>
              <a:t>KAYNAK: Kitap s. 212 metni (birebir). Ünite sonu 8. sorusuyla bağ (221-250).</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seçeneklerin hepsi tablonun klasik yaklaşım sütunundandır; bir öğrenciye hangi satırdan geldiklerini buldurun.</a:t>
            </a:r>
          </a:p>
          <a:p/>
          <a:p>
            <a:r>
              <a:t>BEKLENEN CEVAP: C) İnsanlar hazırlıkta önemli bir paydaştır.</a:t>
            </a:r>
          </a:p>
          <a:p/>
          <a:p>
            <a:r>
              <a:t>KAYNAK: Kitap s. 212 tablosu.</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İnsanlar afetlere hazırlıkta önemli bir paydaş olarak görülür ve onların da sürece katılımları esastır. Diğer seçenekler klasik yaklaşımdır.</a:t>
            </a:r>
          </a:p>
          <a:p/>
          <a:p>
            <a:r>
              <a:t>BEKLENEN CEVAP: C) İnsanlar hazırlıkta önemli bir paydaştır.</a:t>
            </a:r>
          </a:p>
          <a:p/>
          <a:p>
            <a:r>
              <a:t>KAYNAK: Kitap s. 212 tablosu.</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33. haftanın istasyon çalışmasına (s. 204) ham malzeme hazırlamak: bugünkü döngüden afet öncesi, esnası ve sonrası için yapılması gerekenler.</a:t>
            </a:r>
          </a:p>
          <a:p/>
          <a:p>
            <a:r>
              <a:t>SÜRE: Bu aşama 8 dk (esnek): grup listesi 5 dk · örnek cevap 1,5 dk · duyuru 1,5 dk.</a:t>
            </a:r>
          </a:p>
          <a:p/>
          <a:p>
            <a:r>
              <a:t>NASIL: Her grup üç başlığın her birine bugünkü döngüden üçer madde yazar; yazıcı listeyi grup defterinde saklar (gelecek hafta istasyon afişlerinin ham malzemesi).</a:t>
            </a:r>
          </a:p>
          <a:p/>
          <a:p>
            <a:r>
              <a:t>BEKLENEN CEVAP: Afet öncesi: Tehlike haritası, yapılanma yönetmelikleri (1); Tahliye planı, toplanma merkezi, acil eylem planı (2); Erken uyarı sistemi; aile afet planı (2) · Afet esnası: En kısa sürede müdahale, arama kurtarma (3); Gıda, barınma, ilaç, güvenlik (3); Yangın, patlama, salgına karşı önlem (3) · Afet sonrası: Haberleşme, ulaşım, elektrik, kanalizasyon (4); Eğitimin sürmesi, kalıcı konut (4); Ekonomik ve sosyal hayatın normale dönmesi (4)</a:t>
            </a:r>
          </a:p>
          <a:p/>
          <a:p>
            <a:r>
              <a:t>KAYNAK: Kitap s. 202 aşama kutuları (maddeler kutulardan kısa yazım); s. 204 istasyon çalışması (afet öncesi, esnası, sonrası istasyonları). Ders planı 32. hafta 10. aşama.</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33. haftanın istasyon çalışmasına (s. 204) ham malzeme hazırlamak: bugünkü döngüden afet öncesi, esnası ve sonrası için yapılması gerekenler.</a:t>
            </a:r>
          </a:p>
          <a:p/>
          <a:p>
            <a:r>
              <a:t>NASIL: Grupların listesiyle karşılaştırın; parantezdeki numara maddenin aşamasıdır. 'Öncesi istasyonunda 1 ve 2, esnası istasyonunda 3, sonrası istasyonunda 4 numaralı aşamayı düşüneceğiz; müdahale afet sonrasında da sürer (hasar tespiti, enkaz).' Liste defterde kalır.</a:t>
            </a:r>
          </a:p>
          <a:p/>
          <a:p>
            <a:r>
              <a:t>BEKLENEN CEVAP: Afet öncesi: Tehlike haritası, yapılanma yönetmelikleri (1); Tahliye planı, toplanma merkezi, acil eylem planı (2); Erken uyarı sistemi; aile afet planı (2) · Afet esnası: En kısa sürede müdahale, arama kurtarma (3); Gıda, barınma, ilaç, güvenlik (3); Yangın, patlama, salgına karşı önlem (3) · Afet sonrası: Haberleşme, ulaşım, elektrik, kanalizasyon (4); Eğitimin sürmesi, kalıcı konut (4); Ekonomik ve sosyal hayatın normale dönmesi (4)</a:t>
            </a:r>
          </a:p>
          <a:p/>
          <a:p>
            <a:r>
              <a:t>KAYNAK: Kitap s. 202 aşama kutuları (maddeler kutulardan kısa yazım); s. 204 istasyon çalışması (afet öncesi, esnası, sonrası istasyonları). Ders planı 32. hafta 10. aşama.</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33. haftanın düzenini duyurmak: istasyon çalışması ve performans görevi.</a:t>
            </a:r>
          </a:p>
          <a:p/>
          <a:p>
            <a:r>
              <a:t>NASIL: Kısaca söyleyin: gelecek hafta 6 grup olacak (bu haftaki 8 grup değil), altı istasyonda afiş hazırlanacak; her 5 dakikada bir istasyon değişecek ve başlanmış afişe devam edilecek. Afiş kâğıdı ve kalemler okuldan; veliye mali yük yok. Ardından deprem senaryosu performans görevi yapılacak (s. 209).</a:t>
            </a:r>
          </a:p>
          <a:p/>
          <a:p>
            <a:r>
              <a:t>KAYNAK: Kitap s. 204 istasyon çalışması; ders planı 33. hafta (6 grup, 6 istasyon, 3 tur × 5 dk); program COĞ.9.6.3 (istasyon çalışması önerisi).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SÜRE: Toparlama 6 dk (esnek): yoklama 1 dk · çıkış kartı 3 dk · kontrol listesi ve ev 2 dk.</a:t>
            </a:r>
          </a:p>
          <a:p/>
          <a:p>
            <a:r>
              <a:t>NASIL: Öğrenciler 20 saniye düşünür, parmakla (1-5 = A-E) cevap gösterir; dağılıma bakıp cevap slaytına geçin. Toparlamanın başında. Yanlış seçeneklerin aşamasını buldurun.</a:t>
            </a:r>
          </a:p>
          <a:p/>
          <a:p>
            <a:r>
              <a:t>BEKLENEN CEVAP: C) Erken uyarı sistemlerinin kurulması ve güncellenmesi</a:t>
            </a:r>
          </a:p>
          <a:p/>
          <a:p>
            <a:r>
              <a:t>KAYNAK: Kitap s. 202 hazırlıklı olma, müdahale ve iyileştirme kutuları.</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Kitap: erken uyarı sistemlerinin kurulması, kontrol edilmesi, işletilmesi ve güncellenmesi bu aşamada yapılması gerekenler arasındadır (s. 202). A ve D müdahalenin, B ve E iyileştirmenin işidir.</a:t>
            </a:r>
          </a:p>
          <a:p/>
          <a:p>
            <a:r>
              <a:t>BEKLENEN CEVAP: C) Erken uyarı sistemlerinin kurulması ve güncellenmesi</a:t>
            </a:r>
          </a:p>
          <a:p/>
          <a:p>
            <a:r>
              <a:t>KAYNAK: Kitap s. 202 hazırlıklı olma, müdahale ve iyileştirme kutuları.</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NASIL: Öğrenciler kâğıda yazar (3 dk); sıra başları toplar. Kartlar P2 katılım gözlemine işlenir. Birleştirilen şubelerde (dersi pazartesi-çarşamba) bu sorular 33. hafta çıkış kartına eklenir.</a:t>
            </a:r>
          </a:p>
          <a:p/>
          <a:p>
            <a:r>
              <a:t>BEKLENEN CEVAP: 1) risk ve zarar azaltma, hazırlıklı olma, müdahale, iyileştirme. · 2) risk yönetimi afet öncesindeki risk ve zarar azaltma ile hazırlıklı olmayı; kriz yönetimi afet esnası ve sonrasındaki müdahale ile iyileştirmeyi kapsar. · 3) hazırlıklı olma; kalıcı konut, altyapının onarımı, eğitimin sürdürülmesi, ekonomik ve sosyal hayatın normale dönmesi.</a:t>
            </a:r>
          </a:p>
          <a:p/>
          <a:p>
            <a:r>
              <a:t>KAYNAK: Ders planı 32. hafta ölçme bölümü; kitap s. 202.</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Aile afet planı kontrol listesini dağıtmak ve kullanımını açıklamak (hazırlıklı olma aşamasının evdeki karşılığı; kişisel veri yok).</a:t>
            </a:r>
          </a:p>
          <a:p/>
          <a:p>
            <a:r>
              <a:t>NASIL: Listeyi dağıtın: ailece konuşulur, yalnız kutular işaretlenir. Adres, telefon, kişi adı gibi hiçbir bilgi yazılmaz ve sınıfa getirilmez; yalnız işaretli liste 33. haftada teslim edilir (derse hazırlık beyanı). Afet farkındalığı temalı sosyal sorumluluk faaliyeti kulüp danışmanlarınca yürütülür; ders yalnız yönlendirir (zümre kararı). Hassasiyet: ailesi ya da evi konusunda konuşmak istemeyen öğrenci zorlanmaz.</a:t>
            </a:r>
          </a:p>
          <a:p/>
          <a:p>
            <a:r>
              <a:t>KAYNAK: Ders planı 32. hafta materyal ve notlar (kontrol listesi: dört onay kutusu); kitap s. 208 'aile afet planı' ifadesi; s. 202 hazırlıklı olma.</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Hafif ev çalışmasını duyurmak (bayram sonrası ilk hafta).</a:t>
            </a:r>
          </a:p>
          <a:p/>
          <a:p>
            <a:r>
              <a:t>NASIL: Tahtaya da yazın. Çalışma kâğıdının 11. maddesi bugünkü defter tablosunun, 12. maddesi s. 208 etkinliğinin tekrarıdır; cevap anahtarıyla kontrol edilir. Telefon gerekmez. Birleştirilen şubelerde bu iki madde 33. haftanın evine eklenir.</a:t>
            </a:r>
          </a:p>
          <a:p/>
          <a:p>
            <a:r>
              <a:t>KAYNAK: Ders planı 32. hafta ev çalışması; COG9-CK-U6 11-12 (kitap s. 202-203, 208).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image" Target="../media/image3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image" Target="../media/image3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image" Target="../media/image3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7B6E"/>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32.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32</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550" b="1" i="0">
                <a:solidFill>
                  <a:srgbClr val="FFFFFF"/>
                </a:solidFill>
                <a:latin typeface="Calibri"/>
              </a:rPr>
              <a:t>Bütüncül Afet Yönetimi I: Döngü ve Aşamalar</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17-21 Mayıs 2027 · kısa hafta · 2 ders saati · Kitap s. 202-203, 208, 212</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COĞ.9.6.3</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Bütüncül afet yönetimi uygulamalarını tablo, grafik, şekil ve/veya diyagramlar aracılığıyla yorumlayabilme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Bütüncül afet yönetimi uygulamalarını gösteren tablo, grafik, şekil ve/veya diyagramlardaki bileşenleri anlamlandırır.</a:t>
            </a:r>
          </a:p>
          <a:p>
            <a:pPr algn="l" marL="340187" indent="-340187">
              <a:spcBef>
                <a:spcPts val="0"/>
              </a:spcBef>
              <a:spcAft>
                <a:spcPts val="0"/>
              </a:spcAft>
            </a:pPr>
            <a:r>
              <a:rPr lang="tr-TR" sz="2000" b="1" i="0">
                <a:solidFill>
                  <a:srgbClr val="FCC021"/>
                </a:solidFill>
                <a:latin typeface="Calibri"/>
              </a:rPr>
              <a:t>b)  </a:t>
            </a:r>
            <a:r>
              <a:rPr lang="tr-TR" sz="2000" b="0" i="0">
                <a:solidFill>
                  <a:srgbClr val="FFFFFF"/>
                </a:solidFill>
                <a:latin typeface="Calibri"/>
              </a:rPr>
              <a:t>Bütüncül afet yönetimi uygulamalarını gösteren tablo, grafik, şekil ve/veya diyagramlardaki bileşenleri ve bu bileşenler arası ilişkileri çözümler.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6. Ünite: Afetler ve Sürdürülebilir Çevre</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120 / 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32.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Önce, esnasında, sonra</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Afette kim ne yapar?</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Döngü şeması</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Kitap s. 202: parçaları yerleştir</a:t>
            </a:r>
          </a:p>
        </p:txBody>
      </p:sp>
      <p:sp>
        <p:nvSpPr>
          <p:cNvPr id="13" name="Oval 12"/>
          <p:cNvSpPr/>
          <p:nvPr/>
        </p:nvSpPr>
        <p:spPr>
          <a:xfrm>
            <a:off x="4762880" y="1828800"/>
            <a:ext cx="768096" cy="768096"/>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Dört aşama</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Amaç ve uygulama tablosu</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Döngü neden döngü?</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Aşamalar birbirini nasıl etkiler?</a:t>
            </a:r>
          </a:p>
        </p:txBody>
      </p:sp>
      <p:sp>
        <p:nvSpPr>
          <p:cNvPr id="19" name="Oval 18"/>
          <p:cNvSpPr/>
          <p:nvPr/>
        </p:nvSpPr>
        <p:spPr>
          <a:xfrm>
            <a:off x="8558554" y="1828800"/>
            <a:ext cx="768096" cy="768096"/>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Etkinlik</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12 ifade, dört aşama (s. 208)</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Yeni yaklaşım</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Klasik ve yeni yaklaşım (s. 212)</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121 / 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Bayramdan sonra: nerede kalmıştık?</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31. HAFTA</a:t>
            </a:r>
          </a:p>
        </p:txBody>
      </p:sp>
      <p:sp>
        <p:nvSpPr>
          <p:cNvPr id="6" name="Rounded Rectangle 5"/>
          <p:cNvSpPr/>
          <p:nvPr/>
        </p:nvSpPr>
        <p:spPr>
          <a:xfrm>
            <a:off x="502920" y="1261872"/>
            <a:ext cx="6546921" cy="457200"/>
          </a:xfrm>
          <a:prstGeom prst="roundRect">
            <a:avLst>
              <a:gd name="adj" fmla="val 20000"/>
            </a:avLst>
          </a:prstGeom>
          <a:solidFill>
            <a:srgbClr val="2F6F8F"/>
          </a:solidFill>
          <a:ln>
            <a:noFill/>
          </a:ln>
          <a:effectLst/>
        </p:spPr>
        <p:txBody>
          <a:bodyPr rtlCol="0" anchor="ctr" wrap="square" lIns="128016" rIns="128016" tIns="73152" bIns="73152">
            <a:noAutofit/>
          </a:bodyPr>
          <a:lstStyle/>
          <a:p>
            <a:pPr algn="ctr">
              <a:spcBef>
                <a:spcPts val="0"/>
              </a:spcBef>
              <a:spcAft>
                <a:spcPts val="0"/>
              </a:spcAft>
            </a:pPr>
            <a:r>
              <a:rPr lang="tr-TR" sz="1650" b="1" i="0">
                <a:solidFill>
                  <a:srgbClr val="FFFFFF"/>
                </a:solidFill>
                <a:latin typeface="Calibri"/>
              </a:rPr>
              <a:t>Doğa kaynaklı afetler</a:t>
            </a:r>
          </a:p>
        </p:txBody>
      </p:sp>
      <p:sp>
        <p:nvSpPr>
          <p:cNvPr id="7" name="Rounded Rectangle 6"/>
          <p:cNvSpPr/>
          <p:nvPr/>
        </p:nvSpPr>
        <p:spPr>
          <a:xfrm>
            <a:off x="502920" y="1856232"/>
            <a:ext cx="2072579" cy="251460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1856232"/>
            <a:ext cx="2072579" cy="530352"/>
          </a:xfrm>
          <a:prstGeom prst="roundRect">
            <a:avLst>
              <a:gd name="adj" fmla="val 25000"/>
            </a:avLst>
          </a:prstGeom>
          <a:solidFill>
            <a:srgbClr val="8B5A2B"/>
          </a:solidFill>
          <a:ln>
            <a:noFill/>
          </a:ln>
          <a:effectLst/>
        </p:spPr>
        <p:txBody>
          <a:bodyPr rtlCol="0" anchor="ctr"/>
          <a:lstStyle/>
          <a:p/>
        </p:txBody>
      </p:sp>
      <p:sp>
        <p:nvSpPr>
          <p:cNvPr id="9" name="Rectangle 8"/>
          <p:cNvSpPr/>
          <p:nvPr/>
        </p:nvSpPr>
        <p:spPr>
          <a:xfrm>
            <a:off x="502920" y="2121408"/>
            <a:ext cx="2072579" cy="265176"/>
          </a:xfrm>
          <a:prstGeom prst="rect">
            <a:avLst/>
          </a:prstGeom>
          <a:solidFill>
            <a:srgbClr val="8B5A2B"/>
          </a:solidFill>
          <a:ln>
            <a:noFill/>
          </a:ln>
          <a:effectLst/>
        </p:spPr>
        <p:txBody>
          <a:bodyPr rtlCol="0" anchor="ctr"/>
          <a:lstStyle/>
          <a:p/>
        </p:txBody>
      </p:sp>
      <p:sp>
        <p:nvSpPr>
          <p:cNvPr id="10" name="TextBox 9"/>
          <p:cNvSpPr txBox="1"/>
          <p:nvPr/>
        </p:nvSpPr>
        <p:spPr>
          <a:xfrm>
            <a:off x="594360" y="1856232"/>
            <a:ext cx="1889699"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Jeolojik</a:t>
            </a:r>
          </a:p>
        </p:txBody>
      </p:sp>
      <p:sp>
        <p:nvSpPr>
          <p:cNvPr id="11" name="TextBox 10"/>
          <p:cNvSpPr txBox="1"/>
          <p:nvPr/>
        </p:nvSpPr>
        <p:spPr>
          <a:xfrm>
            <a:off x="612648" y="2459736"/>
            <a:ext cx="1853123" cy="1837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deprem, volkanik faaliyetler</a:t>
            </a:r>
          </a:p>
        </p:txBody>
      </p:sp>
      <p:sp>
        <p:nvSpPr>
          <p:cNvPr id="12" name="Rounded Rectangle 11"/>
          <p:cNvSpPr/>
          <p:nvPr/>
        </p:nvSpPr>
        <p:spPr>
          <a:xfrm>
            <a:off x="2740091" y="1856232"/>
            <a:ext cx="2072579" cy="251460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2740091" y="1856232"/>
            <a:ext cx="2072579" cy="530352"/>
          </a:xfrm>
          <a:prstGeom prst="roundRect">
            <a:avLst>
              <a:gd name="adj" fmla="val 25000"/>
            </a:avLst>
          </a:prstGeom>
          <a:solidFill>
            <a:srgbClr val="2C6696"/>
          </a:solidFill>
          <a:ln>
            <a:noFill/>
          </a:ln>
          <a:effectLst/>
        </p:spPr>
        <p:txBody>
          <a:bodyPr rtlCol="0" anchor="ctr"/>
          <a:lstStyle/>
          <a:p/>
        </p:txBody>
      </p:sp>
      <p:sp>
        <p:nvSpPr>
          <p:cNvPr id="14" name="Rectangle 13"/>
          <p:cNvSpPr/>
          <p:nvPr/>
        </p:nvSpPr>
        <p:spPr>
          <a:xfrm>
            <a:off x="2740091" y="2121408"/>
            <a:ext cx="2072579" cy="265176"/>
          </a:xfrm>
          <a:prstGeom prst="rect">
            <a:avLst/>
          </a:prstGeom>
          <a:solidFill>
            <a:srgbClr val="2C6696"/>
          </a:solidFill>
          <a:ln>
            <a:noFill/>
          </a:ln>
          <a:effectLst/>
        </p:spPr>
        <p:txBody>
          <a:bodyPr rtlCol="0" anchor="ctr"/>
          <a:lstStyle/>
          <a:p/>
        </p:txBody>
      </p:sp>
      <p:sp>
        <p:nvSpPr>
          <p:cNvPr id="15" name="TextBox 14"/>
          <p:cNvSpPr txBox="1"/>
          <p:nvPr/>
        </p:nvSpPr>
        <p:spPr>
          <a:xfrm>
            <a:off x="2831531" y="1856232"/>
            <a:ext cx="1889699"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Klimatik-hidrolojik</a:t>
            </a:r>
          </a:p>
        </p:txBody>
      </p:sp>
      <p:sp>
        <p:nvSpPr>
          <p:cNvPr id="16" name="TextBox 15"/>
          <p:cNvSpPr txBox="1"/>
          <p:nvPr/>
        </p:nvSpPr>
        <p:spPr>
          <a:xfrm>
            <a:off x="2849819" y="2459736"/>
            <a:ext cx="1853123" cy="1837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kuraklık, sel</a:t>
            </a:r>
          </a:p>
        </p:txBody>
      </p:sp>
      <p:sp>
        <p:nvSpPr>
          <p:cNvPr id="17" name="Rounded Rectangle 16"/>
          <p:cNvSpPr/>
          <p:nvPr/>
        </p:nvSpPr>
        <p:spPr>
          <a:xfrm>
            <a:off x="4977262" y="1856232"/>
            <a:ext cx="2072579" cy="251460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4977262" y="1856232"/>
            <a:ext cx="2072579" cy="530352"/>
          </a:xfrm>
          <a:prstGeom prst="roundRect">
            <a:avLst>
              <a:gd name="adj" fmla="val 25000"/>
            </a:avLst>
          </a:prstGeom>
          <a:solidFill>
            <a:srgbClr val="3E8E41"/>
          </a:solidFill>
          <a:ln>
            <a:noFill/>
          </a:ln>
          <a:effectLst/>
        </p:spPr>
        <p:txBody>
          <a:bodyPr rtlCol="0" anchor="ctr"/>
          <a:lstStyle/>
          <a:p/>
        </p:txBody>
      </p:sp>
      <p:sp>
        <p:nvSpPr>
          <p:cNvPr id="19" name="Rectangle 18"/>
          <p:cNvSpPr/>
          <p:nvPr/>
        </p:nvSpPr>
        <p:spPr>
          <a:xfrm>
            <a:off x="4977262" y="2121408"/>
            <a:ext cx="2072579" cy="265176"/>
          </a:xfrm>
          <a:prstGeom prst="rect">
            <a:avLst/>
          </a:prstGeom>
          <a:solidFill>
            <a:srgbClr val="3E8E41"/>
          </a:solidFill>
          <a:ln>
            <a:noFill/>
          </a:ln>
          <a:effectLst/>
        </p:spPr>
        <p:txBody>
          <a:bodyPr rtlCol="0" anchor="ctr"/>
          <a:lstStyle/>
          <a:p/>
        </p:txBody>
      </p:sp>
      <p:sp>
        <p:nvSpPr>
          <p:cNvPr id="20" name="TextBox 19"/>
          <p:cNvSpPr txBox="1"/>
          <p:nvPr/>
        </p:nvSpPr>
        <p:spPr>
          <a:xfrm>
            <a:off x="5068702" y="1856232"/>
            <a:ext cx="1889699"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Biyolojik</a:t>
            </a:r>
          </a:p>
        </p:txBody>
      </p:sp>
      <p:sp>
        <p:nvSpPr>
          <p:cNvPr id="21" name="TextBox 20"/>
          <p:cNvSpPr txBox="1"/>
          <p:nvPr/>
        </p:nvSpPr>
        <p:spPr>
          <a:xfrm>
            <a:off x="5086990" y="2459736"/>
            <a:ext cx="1853123" cy="1837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erozyon, salgınlar</a:t>
            </a:r>
          </a:p>
        </p:txBody>
      </p:sp>
      <p:sp>
        <p:nvSpPr>
          <p:cNvPr id="22" name="Rounded Rectangle 21"/>
          <p:cNvSpPr/>
          <p:nvPr/>
        </p:nvSpPr>
        <p:spPr>
          <a:xfrm>
            <a:off x="7324161" y="1261872"/>
            <a:ext cx="4364614" cy="457200"/>
          </a:xfrm>
          <a:prstGeom prst="roundRect">
            <a:avLst>
              <a:gd name="adj" fmla="val 20000"/>
            </a:avLst>
          </a:prstGeom>
          <a:solidFill>
            <a:srgbClr val="A0521A"/>
          </a:solidFill>
          <a:ln>
            <a:noFill/>
          </a:ln>
          <a:effectLst/>
        </p:spPr>
        <p:txBody>
          <a:bodyPr rtlCol="0" anchor="ctr" wrap="square" lIns="128016" rIns="128016" tIns="73152" bIns="73152">
            <a:noAutofit/>
          </a:bodyPr>
          <a:lstStyle/>
          <a:p>
            <a:pPr algn="ctr">
              <a:spcBef>
                <a:spcPts val="0"/>
              </a:spcBef>
              <a:spcAft>
                <a:spcPts val="0"/>
              </a:spcAft>
            </a:pPr>
            <a:r>
              <a:rPr lang="tr-TR" sz="1650" b="1" i="0">
                <a:solidFill>
                  <a:srgbClr val="FFFFFF"/>
                </a:solidFill>
                <a:latin typeface="Calibri"/>
              </a:rPr>
              <a:t>İnsan kaynaklı afetler</a:t>
            </a:r>
          </a:p>
        </p:txBody>
      </p:sp>
      <p:sp>
        <p:nvSpPr>
          <p:cNvPr id="23" name="Rounded Rectangle 22"/>
          <p:cNvSpPr/>
          <p:nvPr/>
        </p:nvSpPr>
        <p:spPr>
          <a:xfrm>
            <a:off x="7324161" y="1856232"/>
            <a:ext cx="2100011" cy="2514600"/>
          </a:xfrm>
          <a:prstGeom prst="roundRect">
            <a:avLst>
              <a:gd name="adj" fmla="val 5000"/>
            </a:avLst>
          </a:prstGeom>
          <a:solidFill>
            <a:srgbClr val="F0F0F0"/>
          </a:solidFill>
          <a:ln>
            <a:noFill/>
          </a:ln>
          <a:effectLst/>
        </p:spPr>
        <p:txBody>
          <a:bodyPr rtlCol="0" anchor="ctr"/>
          <a:lstStyle/>
          <a:p/>
        </p:txBody>
      </p:sp>
      <p:sp>
        <p:nvSpPr>
          <p:cNvPr id="24" name="Rounded Rectangle 23"/>
          <p:cNvSpPr/>
          <p:nvPr/>
        </p:nvSpPr>
        <p:spPr>
          <a:xfrm>
            <a:off x="7324161" y="1856232"/>
            <a:ext cx="2100011" cy="530352"/>
          </a:xfrm>
          <a:prstGeom prst="roundRect">
            <a:avLst>
              <a:gd name="adj" fmla="val 25000"/>
            </a:avLst>
          </a:prstGeom>
          <a:solidFill>
            <a:srgbClr val="7A4EA0"/>
          </a:solidFill>
          <a:ln>
            <a:noFill/>
          </a:ln>
          <a:effectLst/>
        </p:spPr>
        <p:txBody>
          <a:bodyPr rtlCol="0" anchor="ctr"/>
          <a:lstStyle/>
          <a:p/>
        </p:txBody>
      </p:sp>
      <p:sp>
        <p:nvSpPr>
          <p:cNvPr id="25" name="Rectangle 24"/>
          <p:cNvSpPr/>
          <p:nvPr/>
        </p:nvSpPr>
        <p:spPr>
          <a:xfrm>
            <a:off x="7324161" y="2121408"/>
            <a:ext cx="2100011" cy="265176"/>
          </a:xfrm>
          <a:prstGeom prst="rect">
            <a:avLst/>
          </a:prstGeom>
          <a:solidFill>
            <a:srgbClr val="7A4EA0"/>
          </a:solidFill>
          <a:ln>
            <a:noFill/>
          </a:ln>
          <a:effectLst/>
        </p:spPr>
        <p:txBody>
          <a:bodyPr rtlCol="0" anchor="ctr"/>
          <a:lstStyle/>
          <a:p/>
        </p:txBody>
      </p:sp>
      <p:sp>
        <p:nvSpPr>
          <p:cNvPr id="26" name="TextBox 25"/>
          <p:cNvSpPr txBox="1"/>
          <p:nvPr/>
        </p:nvSpPr>
        <p:spPr>
          <a:xfrm>
            <a:off x="7415601" y="1856232"/>
            <a:ext cx="1917131"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Sosyal</a:t>
            </a:r>
          </a:p>
        </p:txBody>
      </p:sp>
      <p:sp>
        <p:nvSpPr>
          <p:cNvPr id="27" name="TextBox 26"/>
          <p:cNvSpPr txBox="1"/>
          <p:nvPr/>
        </p:nvSpPr>
        <p:spPr>
          <a:xfrm>
            <a:off x="7433889" y="2459736"/>
            <a:ext cx="1880555" cy="1837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savaşlar, terör saldırıları ve göçler</a:t>
            </a:r>
          </a:p>
        </p:txBody>
      </p:sp>
      <p:sp>
        <p:nvSpPr>
          <p:cNvPr id="28" name="Rounded Rectangle 27"/>
          <p:cNvSpPr/>
          <p:nvPr/>
        </p:nvSpPr>
        <p:spPr>
          <a:xfrm>
            <a:off x="9588764" y="1856232"/>
            <a:ext cx="2100011" cy="2514600"/>
          </a:xfrm>
          <a:prstGeom prst="roundRect">
            <a:avLst>
              <a:gd name="adj" fmla="val 5000"/>
            </a:avLst>
          </a:prstGeom>
          <a:solidFill>
            <a:srgbClr val="F0F0F0"/>
          </a:solidFill>
          <a:ln>
            <a:noFill/>
          </a:ln>
          <a:effectLst/>
        </p:spPr>
        <p:txBody>
          <a:bodyPr rtlCol="0" anchor="ctr"/>
          <a:lstStyle/>
          <a:p/>
        </p:txBody>
      </p:sp>
      <p:sp>
        <p:nvSpPr>
          <p:cNvPr id="29" name="Rounded Rectangle 28"/>
          <p:cNvSpPr/>
          <p:nvPr/>
        </p:nvSpPr>
        <p:spPr>
          <a:xfrm>
            <a:off x="9588764" y="1856232"/>
            <a:ext cx="2100011" cy="530352"/>
          </a:xfrm>
          <a:prstGeom prst="roundRect">
            <a:avLst>
              <a:gd name="adj" fmla="val 25000"/>
            </a:avLst>
          </a:prstGeom>
          <a:solidFill>
            <a:srgbClr val="5A6470"/>
          </a:solidFill>
          <a:ln>
            <a:noFill/>
          </a:ln>
          <a:effectLst/>
        </p:spPr>
        <p:txBody>
          <a:bodyPr rtlCol="0" anchor="ctr"/>
          <a:lstStyle/>
          <a:p/>
        </p:txBody>
      </p:sp>
      <p:sp>
        <p:nvSpPr>
          <p:cNvPr id="30" name="Rectangle 29"/>
          <p:cNvSpPr/>
          <p:nvPr/>
        </p:nvSpPr>
        <p:spPr>
          <a:xfrm>
            <a:off x="9588764" y="2121408"/>
            <a:ext cx="2100011" cy="265176"/>
          </a:xfrm>
          <a:prstGeom prst="rect">
            <a:avLst/>
          </a:prstGeom>
          <a:solidFill>
            <a:srgbClr val="5A6470"/>
          </a:solidFill>
          <a:ln>
            <a:noFill/>
          </a:ln>
          <a:effectLst/>
        </p:spPr>
        <p:txBody>
          <a:bodyPr rtlCol="0" anchor="ctr"/>
          <a:lstStyle/>
          <a:p/>
        </p:txBody>
      </p:sp>
      <p:sp>
        <p:nvSpPr>
          <p:cNvPr id="31" name="TextBox 30"/>
          <p:cNvSpPr txBox="1"/>
          <p:nvPr/>
        </p:nvSpPr>
        <p:spPr>
          <a:xfrm>
            <a:off x="9680204" y="1856232"/>
            <a:ext cx="1917131"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Teknolojik</a:t>
            </a:r>
          </a:p>
        </p:txBody>
      </p:sp>
      <p:sp>
        <p:nvSpPr>
          <p:cNvPr id="32" name="TextBox 31"/>
          <p:cNvSpPr txBox="1"/>
          <p:nvPr/>
        </p:nvSpPr>
        <p:spPr>
          <a:xfrm>
            <a:off x="9698492" y="2459736"/>
            <a:ext cx="1880555" cy="1837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maden kazaları, nükleer santral kazaları ve ulaşım kazaları</a:t>
            </a:r>
          </a:p>
        </p:txBody>
      </p:sp>
      <p:sp>
        <p:nvSpPr>
          <p:cNvPr id="33" name="Rounded Rectangle 32"/>
          <p:cNvSpPr/>
          <p:nvPr/>
        </p:nvSpPr>
        <p:spPr>
          <a:xfrm>
            <a:off x="502920" y="4873752"/>
            <a:ext cx="11185855" cy="13258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600"/>
              </a:spcAft>
            </a:pPr>
            <a:r>
              <a:rPr lang="tr-TR" sz="2400" b="1" i="0">
                <a:solidFill>
                  <a:srgbClr val="1E7B6E"/>
                </a:solidFill>
                <a:latin typeface="Calibri"/>
              </a:rPr>
              <a:t>Bu hafta: afetlerle nasıl baş ederiz?</a:t>
            </a:r>
          </a:p>
          <a:p>
            <a:pPr algn="ctr">
              <a:spcBef>
                <a:spcPts val="0"/>
              </a:spcBef>
              <a:spcAft>
                <a:spcPts val="0"/>
              </a:spcAft>
            </a:pPr>
            <a:r>
              <a:rPr lang="tr-TR" sz="2400" b="0" i="0">
                <a:solidFill>
                  <a:srgbClr val="262626"/>
                </a:solidFill>
                <a:latin typeface="Calibri"/>
              </a:rPr>
              <a:t>Afet olmadan önce, olurken ve olduktan sonra yapılanlar: bütüncül afet yönetimi</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122 / 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Afette kim ne yapar?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DÜŞÜN-EŞLEŞ · 2 dk</a:t>
            </a:r>
          </a:p>
        </p:txBody>
      </p:sp>
      <p:sp>
        <p:nvSpPr>
          <p:cNvPr id="6" name="TextBox 5"/>
          <p:cNvSpPr txBox="1"/>
          <p:nvPr/>
        </p:nvSpPr>
        <p:spPr>
          <a:xfrm>
            <a:off x="502920" y="1188720"/>
            <a:ext cx="11185855" cy="50292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Bir afet olmadan önce, olurken ve olduktan sonra kim ne yapar? Sıra arkadaşınla her sütuna birer iş yaz.</a:t>
            </a:r>
          </a:p>
        </p:txBody>
      </p:sp>
      <p:sp>
        <p:nvSpPr>
          <p:cNvPr id="7" name="Rounded Rectangle 6"/>
          <p:cNvSpPr/>
          <p:nvPr/>
        </p:nvSpPr>
        <p:spPr>
          <a:xfrm>
            <a:off x="502920" y="1810512"/>
            <a:ext cx="3606698" cy="448056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1810512"/>
            <a:ext cx="3606698" cy="685800"/>
          </a:xfrm>
          <a:prstGeom prst="roundRect">
            <a:avLst>
              <a:gd name="adj" fmla="val 25000"/>
            </a:avLst>
          </a:prstGeom>
          <a:solidFill>
            <a:srgbClr val="1F86BF"/>
          </a:solidFill>
          <a:ln>
            <a:noFill/>
          </a:ln>
          <a:effectLst/>
        </p:spPr>
        <p:txBody>
          <a:bodyPr rtlCol="0" anchor="ctr"/>
          <a:lstStyle/>
          <a:p/>
        </p:txBody>
      </p:sp>
      <p:sp>
        <p:nvSpPr>
          <p:cNvPr id="9" name="Rectangle 8"/>
          <p:cNvSpPr/>
          <p:nvPr/>
        </p:nvSpPr>
        <p:spPr>
          <a:xfrm>
            <a:off x="502920" y="2153412"/>
            <a:ext cx="3606698" cy="342900"/>
          </a:xfrm>
          <a:prstGeom prst="rect">
            <a:avLst/>
          </a:prstGeom>
          <a:solidFill>
            <a:srgbClr val="1F86BF"/>
          </a:solidFill>
          <a:ln>
            <a:noFill/>
          </a:ln>
          <a:effectLst/>
        </p:spPr>
        <p:txBody>
          <a:bodyPr rtlCol="0" anchor="ctr"/>
          <a:lstStyle/>
          <a:p/>
        </p:txBody>
      </p:sp>
      <p:sp>
        <p:nvSpPr>
          <p:cNvPr id="10" name="TextBox 9"/>
          <p:cNvSpPr txBox="1"/>
          <p:nvPr/>
        </p:nvSpPr>
        <p:spPr>
          <a:xfrm>
            <a:off x="594360" y="181051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öncesi</a:t>
            </a:r>
          </a:p>
        </p:txBody>
      </p:sp>
      <p:sp>
        <p:nvSpPr>
          <p:cNvPr id="11" name="Rounded Rectangle 10"/>
          <p:cNvSpPr/>
          <p:nvPr/>
        </p:nvSpPr>
        <p:spPr>
          <a:xfrm>
            <a:off x="502920" y="1810512"/>
            <a:ext cx="3606698" cy="448056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445002"/>
            <a:ext cx="3240938" cy="0"/>
          </a:xfrm>
          <a:prstGeom prst="line">
            <a:avLst/>
          </a:prstGeom>
          <a:ln w="12700">
            <a:solidFill>
              <a:srgbClr val="D9D9D9"/>
            </a:solidFill>
            <a:prstDash val="dash"/>
          </a:ln>
        </p:spPr>
      </p:cxnSp>
      <p:cxnSp>
        <p:nvCxnSpPr>
          <p:cNvPr id="13" name="Connector 12"/>
          <p:cNvCxnSpPr/>
          <p:nvPr/>
        </p:nvCxnSpPr>
        <p:spPr>
          <a:xfrm>
            <a:off x="685800" y="4393692"/>
            <a:ext cx="3240938" cy="0"/>
          </a:xfrm>
          <a:prstGeom prst="line">
            <a:avLst/>
          </a:prstGeom>
          <a:ln w="12700">
            <a:solidFill>
              <a:srgbClr val="D9D9D9"/>
            </a:solidFill>
            <a:prstDash val="dash"/>
          </a:ln>
        </p:spPr>
      </p:cxnSp>
      <p:cxnSp>
        <p:nvCxnSpPr>
          <p:cNvPr id="14" name="Connector 13"/>
          <p:cNvCxnSpPr/>
          <p:nvPr/>
        </p:nvCxnSpPr>
        <p:spPr>
          <a:xfrm>
            <a:off x="685800" y="5342382"/>
            <a:ext cx="3240938" cy="0"/>
          </a:xfrm>
          <a:prstGeom prst="line">
            <a:avLst/>
          </a:prstGeom>
          <a:ln w="12700">
            <a:solidFill>
              <a:srgbClr val="D9D9D9"/>
            </a:solidFill>
            <a:prstDash val="dash"/>
          </a:ln>
        </p:spPr>
      </p:cxnSp>
      <p:sp>
        <p:nvSpPr>
          <p:cNvPr id="15" name="Rounded Rectangle 14"/>
          <p:cNvSpPr/>
          <p:nvPr/>
        </p:nvSpPr>
        <p:spPr>
          <a:xfrm>
            <a:off x="4292498" y="1810512"/>
            <a:ext cx="3606698" cy="4480560"/>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4292498" y="1810512"/>
            <a:ext cx="3606698" cy="685800"/>
          </a:xfrm>
          <a:prstGeom prst="roundRect">
            <a:avLst>
              <a:gd name="adj" fmla="val 25000"/>
            </a:avLst>
          </a:prstGeom>
          <a:solidFill>
            <a:srgbClr val="CC3333"/>
          </a:solidFill>
          <a:ln>
            <a:noFill/>
          </a:ln>
          <a:effectLst/>
        </p:spPr>
        <p:txBody>
          <a:bodyPr rtlCol="0" anchor="ctr"/>
          <a:lstStyle/>
          <a:p/>
        </p:txBody>
      </p:sp>
      <p:sp>
        <p:nvSpPr>
          <p:cNvPr id="17" name="Rectangle 16"/>
          <p:cNvSpPr/>
          <p:nvPr/>
        </p:nvSpPr>
        <p:spPr>
          <a:xfrm>
            <a:off x="4292498" y="2153412"/>
            <a:ext cx="3606698" cy="342900"/>
          </a:xfrm>
          <a:prstGeom prst="rect">
            <a:avLst/>
          </a:prstGeom>
          <a:solidFill>
            <a:srgbClr val="CC3333"/>
          </a:solidFill>
          <a:ln>
            <a:noFill/>
          </a:ln>
          <a:effectLst/>
        </p:spPr>
        <p:txBody>
          <a:bodyPr rtlCol="0" anchor="ctr"/>
          <a:lstStyle/>
          <a:p/>
        </p:txBody>
      </p:sp>
      <p:sp>
        <p:nvSpPr>
          <p:cNvPr id="18" name="TextBox 17"/>
          <p:cNvSpPr txBox="1"/>
          <p:nvPr/>
        </p:nvSpPr>
        <p:spPr>
          <a:xfrm>
            <a:off x="4383938" y="181051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esnası</a:t>
            </a:r>
          </a:p>
        </p:txBody>
      </p:sp>
      <p:sp>
        <p:nvSpPr>
          <p:cNvPr id="19" name="Rounded Rectangle 18"/>
          <p:cNvSpPr/>
          <p:nvPr/>
        </p:nvSpPr>
        <p:spPr>
          <a:xfrm>
            <a:off x="4292498" y="1810512"/>
            <a:ext cx="3606698" cy="4480560"/>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4475378" y="3445002"/>
            <a:ext cx="3240938" cy="0"/>
          </a:xfrm>
          <a:prstGeom prst="line">
            <a:avLst/>
          </a:prstGeom>
          <a:ln w="12700">
            <a:solidFill>
              <a:srgbClr val="D9D9D9"/>
            </a:solidFill>
            <a:prstDash val="dash"/>
          </a:ln>
        </p:spPr>
      </p:cxnSp>
      <p:cxnSp>
        <p:nvCxnSpPr>
          <p:cNvPr id="21" name="Connector 20"/>
          <p:cNvCxnSpPr/>
          <p:nvPr/>
        </p:nvCxnSpPr>
        <p:spPr>
          <a:xfrm>
            <a:off x="4475378" y="4393692"/>
            <a:ext cx="3240938" cy="0"/>
          </a:xfrm>
          <a:prstGeom prst="line">
            <a:avLst/>
          </a:prstGeom>
          <a:ln w="12700">
            <a:solidFill>
              <a:srgbClr val="D9D9D9"/>
            </a:solidFill>
            <a:prstDash val="dash"/>
          </a:ln>
        </p:spPr>
      </p:cxnSp>
      <p:cxnSp>
        <p:nvCxnSpPr>
          <p:cNvPr id="22" name="Connector 21"/>
          <p:cNvCxnSpPr/>
          <p:nvPr/>
        </p:nvCxnSpPr>
        <p:spPr>
          <a:xfrm>
            <a:off x="4475378" y="5342382"/>
            <a:ext cx="3240938" cy="0"/>
          </a:xfrm>
          <a:prstGeom prst="line">
            <a:avLst/>
          </a:prstGeom>
          <a:ln w="12700">
            <a:solidFill>
              <a:srgbClr val="D9D9D9"/>
            </a:solidFill>
            <a:prstDash val="dash"/>
          </a:ln>
        </p:spPr>
      </p:cxnSp>
      <p:sp>
        <p:nvSpPr>
          <p:cNvPr id="23" name="Rounded Rectangle 22"/>
          <p:cNvSpPr/>
          <p:nvPr/>
        </p:nvSpPr>
        <p:spPr>
          <a:xfrm>
            <a:off x="8082076" y="1810512"/>
            <a:ext cx="3606698" cy="4480560"/>
          </a:xfrm>
          <a:prstGeom prst="roundRect">
            <a:avLst>
              <a:gd name="adj" fmla="val 5000"/>
            </a:avLst>
          </a:prstGeom>
          <a:solidFill>
            <a:srgbClr val="FFFFFF"/>
          </a:solidFill>
          <a:ln>
            <a:noFill/>
          </a:ln>
          <a:effectLst/>
        </p:spPr>
        <p:txBody>
          <a:bodyPr rtlCol="0" anchor="ctr"/>
          <a:lstStyle/>
          <a:p/>
        </p:txBody>
      </p:sp>
      <p:sp>
        <p:nvSpPr>
          <p:cNvPr id="24" name="Rounded Rectangle 23"/>
          <p:cNvSpPr/>
          <p:nvPr/>
        </p:nvSpPr>
        <p:spPr>
          <a:xfrm>
            <a:off x="8082076" y="1810512"/>
            <a:ext cx="3606698" cy="685800"/>
          </a:xfrm>
          <a:prstGeom prst="roundRect">
            <a:avLst>
              <a:gd name="adj" fmla="val 25000"/>
            </a:avLst>
          </a:prstGeom>
          <a:solidFill>
            <a:srgbClr val="55992E"/>
          </a:solidFill>
          <a:ln>
            <a:noFill/>
          </a:ln>
          <a:effectLst/>
        </p:spPr>
        <p:txBody>
          <a:bodyPr rtlCol="0" anchor="ctr"/>
          <a:lstStyle/>
          <a:p/>
        </p:txBody>
      </p:sp>
      <p:sp>
        <p:nvSpPr>
          <p:cNvPr id="25" name="Rectangle 24"/>
          <p:cNvSpPr/>
          <p:nvPr/>
        </p:nvSpPr>
        <p:spPr>
          <a:xfrm>
            <a:off x="8082076" y="2153412"/>
            <a:ext cx="3606698" cy="342900"/>
          </a:xfrm>
          <a:prstGeom prst="rect">
            <a:avLst/>
          </a:prstGeom>
          <a:solidFill>
            <a:srgbClr val="55992E"/>
          </a:solidFill>
          <a:ln>
            <a:noFill/>
          </a:ln>
          <a:effectLst/>
        </p:spPr>
        <p:txBody>
          <a:bodyPr rtlCol="0" anchor="ctr"/>
          <a:lstStyle/>
          <a:p/>
        </p:txBody>
      </p:sp>
      <p:sp>
        <p:nvSpPr>
          <p:cNvPr id="26" name="TextBox 25"/>
          <p:cNvSpPr txBox="1"/>
          <p:nvPr/>
        </p:nvSpPr>
        <p:spPr>
          <a:xfrm>
            <a:off x="8173516" y="181051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sonrası</a:t>
            </a:r>
          </a:p>
        </p:txBody>
      </p:sp>
      <p:sp>
        <p:nvSpPr>
          <p:cNvPr id="27" name="Rounded Rectangle 26"/>
          <p:cNvSpPr/>
          <p:nvPr/>
        </p:nvSpPr>
        <p:spPr>
          <a:xfrm>
            <a:off x="8082076" y="1810512"/>
            <a:ext cx="3606698" cy="4480560"/>
          </a:xfrm>
          <a:prstGeom prst="roundRect">
            <a:avLst>
              <a:gd name="adj" fmla="val 5000"/>
            </a:avLst>
          </a:prstGeom>
          <a:noFill/>
          <a:ln w="12700">
            <a:solidFill>
              <a:srgbClr val="D9D9D9"/>
            </a:solidFill>
          </a:ln>
          <a:effectLst/>
        </p:spPr>
        <p:txBody>
          <a:bodyPr rtlCol="0" anchor="ctr"/>
          <a:lstStyle/>
          <a:p/>
        </p:txBody>
      </p:sp>
      <p:cxnSp>
        <p:nvCxnSpPr>
          <p:cNvPr id="28" name="Connector 27"/>
          <p:cNvCxnSpPr/>
          <p:nvPr/>
        </p:nvCxnSpPr>
        <p:spPr>
          <a:xfrm>
            <a:off x="8264956" y="3445002"/>
            <a:ext cx="3240938" cy="0"/>
          </a:xfrm>
          <a:prstGeom prst="line">
            <a:avLst/>
          </a:prstGeom>
          <a:ln w="12700">
            <a:solidFill>
              <a:srgbClr val="D9D9D9"/>
            </a:solidFill>
            <a:prstDash val="dash"/>
          </a:ln>
        </p:spPr>
      </p:cxnSp>
      <p:cxnSp>
        <p:nvCxnSpPr>
          <p:cNvPr id="29" name="Connector 28"/>
          <p:cNvCxnSpPr/>
          <p:nvPr/>
        </p:nvCxnSpPr>
        <p:spPr>
          <a:xfrm>
            <a:off x="8264956" y="4393692"/>
            <a:ext cx="3240938" cy="0"/>
          </a:xfrm>
          <a:prstGeom prst="line">
            <a:avLst/>
          </a:prstGeom>
          <a:ln w="12700">
            <a:solidFill>
              <a:srgbClr val="D9D9D9"/>
            </a:solidFill>
            <a:prstDash val="dash"/>
          </a:ln>
        </p:spPr>
      </p:cxnSp>
      <p:cxnSp>
        <p:nvCxnSpPr>
          <p:cNvPr id="30" name="Connector 29"/>
          <p:cNvCxnSpPr/>
          <p:nvPr/>
        </p:nvCxnSpPr>
        <p:spPr>
          <a:xfrm>
            <a:off x="8264956" y="5342382"/>
            <a:ext cx="3240938" cy="0"/>
          </a:xfrm>
          <a:prstGeom prst="line">
            <a:avLst/>
          </a:prstGeom>
          <a:ln w="12700">
            <a:solidFill>
              <a:srgbClr val="D9D9D9"/>
            </a:solidFill>
            <a:prstDash val="dash"/>
          </a:ln>
        </p:spPr>
      </p:cxn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123 / 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Afette kim ne yapar?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88720"/>
            <a:ext cx="11185855" cy="50292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767676"/>
                </a:solidFill>
                <a:latin typeface="Calibri"/>
              </a:rPr>
              <a:t>Her işin yanında: kim yapar?</a:t>
            </a:r>
          </a:p>
        </p:txBody>
      </p:sp>
      <p:sp>
        <p:nvSpPr>
          <p:cNvPr id="7" name="Rounded Rectangle 6"/>
          <p:cNvSpPr/>
          <p:nvPr/>
        </p:nvSpPr>
        <p:spPr>
          <a:xfrm>
            <a:off x="502920" y="1810512"/>
            <a:ext cx="3606698" cy="448056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1810512"/>
            <a:ext cx="3606698" cy="548640"/>
          </a:xfrm>
          <a:prstGeom prst="roundRect">
            <a:avLst>
              <a:gd name="adj" fmla="val 25000"/>
            </a:avLst>
          </a:prstGeom>
          <a:solidFill>
            <a:srgbClr val="1F86BF"/>
          </a:solidFill>
          <a:ln>
            <a:noFill/>
          </a:ln>
          <a:effectLst/>
        </p:spPr>
        <p:txBody>
          <a:bodyPr rtlCol="0" anchor="ctr"/>
          <a:lstStyle/>
          <a:p/>
        </p:txBody>
      </p:sp>
      <p:sp>
        <p:nvSpPr>
          <p:cNvPr id="9" name="Rectangle 8"/>
          <p:cNvSpPr/>
          <p:nvPr/>
        </p:nvSpPr>
        <p:spPr>
          <a:xfrm>
            <a:off x="502920" y="2084832"/>
            <a:ext cx="3606698" cy="274320"/>
          </a:xfrm>
          <a:prstGeom prst="rect">
            <a:avLst/>
          </a:prstGeom>
          <a:solidFill>
            <a:srgbClr val="1F86BF"/>
          </a:solidFill>
          <a:ln>
            <a:noFill/>
          </a:ln>
          <a:effectLst/>
        </p:spPr>
        <p:txBody>
          <a:bodyPr rtlCol="0" anchor="ctr"/>
          <a:lstStyle/>
          <a:p/>
        </p:txBody>
      </p:sp>
      <p:sp>
        <p:nvSpPr>
          <p:cNvPr id="10" name="TextBox 9"/>
          <p:cNvSpPr txBox="1"/>
          <p:nvPr/>
        </p:nvSpPr>
        <p:spPr>
          <a:xfrm>
            <a:off x="594360" y="1810512"/>
            <a:ext cx="3423818"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Afet öncesi</a:t>
            </a:r>
          </a:p>
        </p:txBody>
      </p:sp>
      <p:sp>
        <p:nvSpPr>
          <p:cNvPr id="11" name="Rounded Rectangle 10"/>
          <p:cNvSpPr/>
          <p:nvPr/>
        </p:nvSpPr>
        <p:spPr>
          <a:xfrm>
            <a:off x="594360" y="2468880"/>
            <a:ext cx="3423818" cy="1191768"/>
          </a:xfrm>
          <a:prstGeom prst="roundRect">
            <a:avLst>
              <a:gd name="adj" fmla="val 8000"/>
            </a:avLst>
          </a:prstGeom>
          <a:solidFill>
            <a:srgbClr val="FFFFFF"/>
          </a:solidFill>
          <a:ln w="12700">
            <a:solidFill>
              <a:srgbClr val="1F86BF"/>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Aile afet planı, afet ve acil durum çantası</a:t>
            </a:r>
          </a:p>
          <a:p>
            <a:pPr algn="l">
              <a:spcBef>
                <a:spcPts val="0"/>
              </a:spcBef>
              <a:spcAft>
                <a:spcPts val="0"/>
              </a:spcAft>
            </a:pPr>
            <a:r>
              <a:rPr lang="tr-TR" sz="1500" b="0" i="0">
                <a:solidFill>
                  <a:srgbClr val="1F86BF"/>
                </a:solidFill>
                <a:latin typeface="Calibri"/>
              </a:rPr>
              <a:t>aile</a:t>
            </a:r>
          </a:p>
        </p:txBody>
      </p:sp>
      <p:sp>
        <p:nvSpPr>
          <p:cNvPr id="12" name="Rounded Rectangle 11"/>
          <p:cNvSpPr/>
          <p:nvPr/>
        </p:nvSpPr>
        <p:spPr>
          <a:xfrm>
            <a:off x="594360" y="3770376"/>
            <a:ext cx="3423818" cy="1191768"/>
          </a:xfrm>
          <a:prstGeom prst="roundRect">
            <a:avLst>
              <a:gd name="adj" fmla="val 8000"/>
            </a:avLst>
          </a:prstGeom>
          <a:solidFill>
            <a:srgbClr val="FFFFFF"/>
          </a:solidFill>
          <a:ln w="12700">
            <a:solidFill>
              <a:srgbClr val="1F86BF"/>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Tahliye tatbikatı, toplanma alanı</a:t>
            </a:r>
          </a:p>
          <a:p>
            <a:pPr algn="l">
              <a:spcBef>
                <a:spcPts val="0"/>
              </a:spcBef>
              <a:spcAft>
                <a:spcPts val="0"/>
              </a:spcAft>
            </a:pPr>
            <a:r>
              <a:rPr lang="tr-TR" sz="1500" b="0" i="0">
                <a:solidFill>
                  <a:srgbClr val="1F86BF"/>
                </a:solidFill>
                <a:latin typeface="Calibri"/>
              </a:rPr>
              <a:t>okul</a:t>
            </a:r>
          </a:p>
        </p:txBody>
      </p:sp>
      <p:sp>
        <p:nvSpPr>
          <p:cNvPr id="13" name="Rounded Rectangle 12"/>
          <p:cNvSpPr/>
          <p:nvPr/>
        </p:nvSpPr>
        <p:spPr>
          <a:xfrm>
            <a:off x="594360" y="5071872"/>
            <a:ext cx="3423818" cy="1191768"/>
          </a:xfrm>
          <a:prstGeom prst="roundRect">
            <a:avLst>
              <a:gd name="adj" fmla="val 8000"/>
            </a:avLst>
          </a:prstGeom>
          <a:solidFill>
            <a:srgbClr val="FFFFFF"/>
          </a:solidFill>
          <a:ln w="12700">
            <a:solidFill>
              <a:srgbClr val="1F86BF"/>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Sağlam bina, denetim, erken uyarı</a:t>
            </a:r>
          </a:p>
          <a:p>
            <a:pPr algn="l">
              <a:spcBef>
                <a:spcPts val="0"/>
              </a:spcBef>
              <a:spcAft>
                <a:spcPts val="0"/>
              </a:spcAft>
            </a:pPr>
            <a:r>
              <a:rPr lang="tr-TR" sz="1500" b="0" i="0">
                <a:solidFill>
                  <a:srgbClr val="1F86BF"/>
                </a:solidFill>
                <a:latin typeface="Calibri"/>
              </a:rPr>
              <a:t>kurumlar</a:t>
            </a:r>
          </a:p>
        </p:txBody>
      </p:sp>
      <p:sp>
        <p:nvSpPr>
          <p:cNvPr id="14" name="Rounded Rectangle 13"/>
          <p:cNvSpPr/>
          <p:nvPr/>
        </p:nvSpPr>
        <p:spPr>
          <a:xfrm>
            <a:off x="4292498" y="1810512"/>
            <a:ext cx="3606698" cy="448056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2498" y="1810512"/>
            <a:ext cx="3606698" cy="548640"/>
          </a:xfrm>
          <a:prstGeom prst="roundRect">
            <a:avLst>
              <a:gd name="adj" fmla="val 25000"/>
            </a:avLst>
          </a:prstGeom>
          <a:solidFill>
            <a:srgbClr val="CC3333"/>
          </a:solidFill>
          <a:ln>
            <a:noFill/>
          </a:ln>
          <a:effectLst/>
        </p:spPr>
        <p:txBody>
          <a:bodyPr rtlCol="0" anchor="ctr"/>
          <a:lstStyle/>
          <a:p/>
        </p:txBody>
      </p:sp>
      <p:sp>
        <p:nvSpPr>
          <p:cNvPr id="16" name="Rectangle 15"/>
          <p:cNvSpPr/>
          <p:nvPr/>
        </p:nvSpPr>
        <p:spPr>
          <a:xfrm>
            <a:off x="4292498" y="2084832"/>
            <a:ext cx="3606698" cy="274320"/>
          </a:xfrm>
          <a:prstGeom prst="rect">
            <a:avLst/>
          </a:prstGeom>
          <a:solidFill>
            <a:srgbClr val="CC3333"/>
          </a:solidFill>
          <a:ln>
            <a:noFill/>
          </a:ln>
          <a:effectLst/>
        </p:spPr>
        <p:txBody>
          <a:bodyPr rtlCol="0" anchor="ctr"/>
          <a:lstStyle/>
          <a:p/>
        </p:txBody>
      </p:sp>
      <p:sp>
        <p:nvSpPr>
          <p:cNvPr id="17" name="TextBox 16"/>
          <p:cNvSpPr txBox="1"/>
          <p:nvPr/>
        </p:nvSpPr>
        <p:spPr>
          <a:xfrm>
            <a:off x="4383938" y="1810512"/>
            <a:ext cx="3423818"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Afet esnası</a:t>
            </a:r>
          </a:p>
        </p:txBody>
      </p:sp>
      <p:sp>
        <p:nvSpPr>
          <p:cNvPr id="18" name="Rounded Rectangle 17"/>
          <p:cNvSpPr/>
          <p:nvPr/>
        </p:nvSpPr>
        <p:spPr>
          <a:xfrm>
            <a:off x="4383938" y="2468880"/>
            <a:ext cx="3423818" cy="1191768"/>
          </a:xfrm>
          <a:prstGeom prst="roundRect">
            <a:avLst>
              <a:gd name="adj" fmla="val 8000"/>
            </a:avLst>
          </a:prstGeom>
          <a:solidFill>
            <a:srgbClr val="FFFFFF"/>
          </a:solidFill>
          <a:ln w="12700">
            <a:solidFill>
              <a:srgbClr val="CC3333"/>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Güvenli yere geçmek (depremde çök-kapan-tutun)</a:t>
            </a:r>
          </a:p>
          <a:p>
            <a:pPr algn="l">
              <a:spcBef>
                <a:spcPts val="0"/>
              </a:spcBef>
              <a:spcAft>
                <a:spcPts val="0"/>
              </a:spcAft>
            </a:pPr>
            <a:r>
              <a:rPr lang="tr-TR" sz="1500" b="0" i="0">
                <a:solidFill>
                  <a:srgbClr val="CC3333"/>
                </a:solidFill>
                <a:latin typeface="Calibri"/>
              </a:rPr>
              <a:t>birey</a:t>
            </a:r>
          </a:p>
        </p:txBody>
      </p:sp>
      <p:sp>
        <p:nvSpPr>
          <p:cNvPr id="19" name="Rounded Rectangle 18"/>
          <p:cNvSpPr/>
          <p:nvPr/>
        </p:nvSpPr>
        <p:spPr>
          <a:xfrm>
            <a:off x="4383938" y="3770376"/>
            <a:ext cx="3423818" cy="1191768"/>
          </a:xfrm>
          <a:prstGeom prst="roundRect">
            <a:avLst>
              <a:gd name="adj" fmla="val 8000"/>
            </a:avLst>
          </a:prstGeom>
          <a:solidFill>
            <a:srgbClr val="FFFFFF"/>
          </a:solidFill>
          <a:ln w="12700">
            <a:solidFill>
              <a:srgbClr val="CC3333"/>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Arama kurtarma, ilk yardım</a:t>
            </a:r>
          </a:p>
          <a:p>
            <a:pPr algn="l">
              <a:spcBef>
                <a:spcPts val="0"/>
              </a:spcBef>
              <a:spcAft>
                <a:spcPts val="0"/>
              </a:spcAft>
            </a:pPr>
            <a:r>
              <a:rPr lang="tr-TR" sz="1500" b="0" i="0">
                <a:solidFill>
                  <a:srgbClr val="CC3333"/>
                </a:solidFill>
                <a:latin typeface="Calibri"/>
              </a:rPr>
              <a:t>kurtarma ekipleri</a:t>
            </a:r>
          </a:p>
        </p:txBody>
      </p:sp>
      <p:sp>
        <p:nvSpPr>
          <p:cNvPr id="20" name="Rounded Rectangle 19"/>
          <p:cNvSpPr/>
          <p:nvPr/>
        </p:nvSpPr>
        <p:spPr>
          <a:xfrm>
            <a:off x="4383938" y="5071872"/>
            <a:ext cx="3423818" cy="1191768"/>
          </a:xfrm>
          <a:prstGeom prst="roundRect">
            <a:avLst>
              <a:gd name="adj" fmla="val 8000"/>
            </a:avLst>
          </a:prstGeom>
          <a:solidFill>
            <a:srgbClr val="FFFFFF"/>
          </a:solidFill>
          <a:ln w="12700">
            <a:solidFill>
              <a:srgbClr val="CC3333"/>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Güvenilir kaynaktan bilgi almak</a:t>
            </a:r>
          </a:p>
          <a:p>
            <a:pPr algn="l">
              <a:spcBef>
                <a:spcPts val="0"/>
              </a:spcBef>
              <a:spcAft>
                <a:spcPts val="0"/>
              </a:spcAft>
            </a:pPr>
            <a:r>
              <a:rPr lang="tr-TR" sz="1500" b="0" i="0">
                <a:solidFill>
                  <a:srgbClr val="CC3333"/>
                </a:solidFill>
                <a:latin typeface="Calibri"/>
              </a:rPr>
              <a:t>herkes</a:t>
            </a:r>
          </a:p>
        </p:txBody>
      </p:sp>
      <p:sp>
        <p:nvSpPr>
          <p:cNvPr id="21" name="Rounded Rectangle 20"/>
          <p:cNvSpPr/>
          <p:nvPr/>
        </p:nvSpPr>
        <p:spPr>
          <a:xfrm>
            <a:off x="8082076" y="1810512"/>
            <a:ext cx="3606698" cy="44805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8082076" y="1810512"/>
            <a:ext cx="3606698" cy="548640"/>
          </a:xfrm>
          <a:prstGeom prst="roundRect">
            <a:avLst>
              <a:gd name="adj" fmla="val 25000"/>
            </a:avLst>
          </a:prstGeom>
          <a:solidFill>
            <a:srgbClr val="55992E"/>
          </a:solidFill>
          <a:ln>
            <a:noFill/>
          </a:ln>
          <a:effectLst/>
        </p:spPr>
        <p:txBody>
          <a:bodyPr rtlCol="0" anchor="ctr"/>
          <a:lstStyle/>
          <a:p/>
        </p:txBody>
      </p:sp>
      <p:sp>
        <p:nvSpPr>
          <p:cNvPr id="23" name="Rectangle 22"/>
          <p:cNvSpPr/>
          <p:nvPr/>
        </p:nvSpPr>
        <p:spPr>
          <a:xfrm>
            <a:off x="8082076" y="2084832"/>
            <a:ext cx="3606698" cy="274320"/>
          </a:xfrm>
          <a:prstGeom prst="rect">
            <a:avLst/>
          </a:prstGeom>
          <a:solidFill>
            <a:srgbClr val="55992E"/>
          </a:solidFill>
          <a:ln>
            <a:noFill/>
          </a:ln>
          <a:effectLst/>
        </p:spPr>
        <p:txBody>
          <a:bodyPr rtlCol="0" anchor="ctr"/>
          <a:lstStyle/>
          <a:p/>
        </p:txBody>
      </p:sp>
      <p:sp>
        <p:nvSpPr>
          <p:cNvPr id="24" name="TextBox 23"/>
          <p:cNvSpPr txBox="1"/>
          <p:nvPr/>
        </p:nvSpPr>
        <p:spPr>
          <a:xfrm>
            <a:off x="8173516" y="1810512"/>
            <a:ext cx="3423818"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Afet sonrası</a:t>
            </a:r>
          </a:p>
        </p:txBody>
      </p:sp>
      <p:sp>
        <p:nvSpPr>
          <p:cNvPr id="25" name="Rounded Rectangle 24"/>
          <p:cNvSpPr/>
          <p:nvPr/>
        </p:nvSpPr>
        <p:spPr>
          <a:xfrm>
            <a:off x="8173516" y="2468880"/>
            <a:ext cx="3423818" cy="1191768"/>
          </a:xfrm>
          <a:prstGeom prst="roundRect">
            <a:avLst>
              <a:gd name="adj" fmla="val 8000"/>
            </a:avLst>
          </a:prstGeom>
          <a:solidFill>
            <a:srgbClr val="FFFFFF"/>
          </a:solidFill>
          <a:ln w="12700">
            <a:solidFill>
              <a:srgbClr val="55992E"/>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Barınma, yiyecek, ilaç</a:t>
            </a:r>
          </a:p>
          <a:p>
            <a:pPr algn="l">
              <a:spcBef>
                <a:spcPts val="0"/>
              </a:spcBef>
              <a:spcAft>
                <a:spcPts val="0"/>
              </a:spcAft>
            </a:pPr>
            <a:r>
              <a:rPr lang="tr-TR" sz="1500" b="0" i="0">
                <a:solidFill>
                  <a:srgbClr val="55992E"/>
                </a:solidFill>
                <a:latin typeface="Calibri"/>
              </a:rPr>
              <a:t>kurumlar, gönüllüler</a:t>
            </a:r>
          </a:p>
        </p:txBody>
      </p:sp>
      <p:sp>
        <p:nvSpPr>
          <p:cNvPr id="26" name="Rounded Rectangle 25"/>
          <p:cNvSpPr/>
          <p:nvPr/>
        </p:nvSpPr>
        <p:spPr>
          <a:xfrm>
            <a:off x="8173516" y="3770376"/>
            <a:ext cx="3423818" cy="1191768"/>
          </a:xfrm>
          <a:prstGeom prst="roundRect">
            <a:avLst>
              <a:gd name="adj" fmla="val 8000"/>
            </a:avLst>
          </a:prstGeom>
          <a:solidFill>
            <a:srgbClr val="FFFFFF"/>
          </a:solidFill>
          <a:ln w="12700">
            <a:solidFill>
              <a:srgbClr val="55992E"/>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Hasar tespiti, enkaz kaldırma</a:t>
            </a:r>
          </a:p>
          <a:p>
            <a:pPr algn="l">
              <a:spcBef>
                <a:spcPts val="0"/>
              </a:spcBef>
              <a:spcAft>
                <a:spcPts val="0"/>
              </a:spcAft>
            </a:pPr>
            <a:r>
              <a:rPr lang="tr-TR" sz="1500" b="0" i="0">
                <a:solidFill>
                  <a:srgbClr val="55992E"/>
                </a:solidFill>
                <a:latin typeface="Calibri"/>
              </a:rPr>
              <a:t>kurumlar</a:t>
            </a:r>
          </a:p>
        </p:txBody>
      </p:sp>
      <p:sp>
        <p:nvSpPr>
          <p:cNvPr id="27" name="Rounded Rectangle 26"/>
          <p:cNvSpPr/>
          <p:nvPr/>
        </p:nvSpPr>
        <p:spPr>
          <a:xfrm>
            <a:off x="8173516" y="5071872"/>
            <a:ext cx="3423818" cy="1191768"/>
          </a:xfrm>
          <a:prstGeom prst="roundRect">
            <a:avLst>
              <a:gd name="adj" fmla="val 8000"/>
            </a:avLst>
          </a:prstGeom>
          <a:solidFill>
            <a:srgbClr val="FFFFFF"/>
          </a:solidFill>
          <a:ln w="12700">
            <a:solidFill>
              <a:srgbClr val="55992E"/>
            </a:solid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Psikolojik destek; okulları, evleri yeniden yapmak</a:t>
            </a:r>
          </a:p>
          <a:p>
            <a:pPr algn="l">
              <a:spcBef>
                <a:spcPts val="0"/>
              </a:spcBef>
              <a:spcAft>
                <a:spcPts val="0"/>
              </a:spcAft>
            </a:pPr>
            <a:r>
              <a:rPr lang="tr-TR" sz="1500" b="0" i="0">
                <a:solidFill>
                  <a:srgbClr val="55992E"/>
                </a:solidFill>
                <a:latin typeface="Calibri"/>
              </a:rPr>
              <a:t>kurumlar, toplum</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124 / 250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Bütüncül afet yönetimi nedir?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TANIM</a:t>
            </a:r>
          </a:p>
        </p:txBody>
      </p:sp>
      <p:sp>
        <p:nvSpPr>
          <p:cNvPr id="6" name="Rounded Rectangle 5"/>
          <p:cNvSpPr/>
          <p:nvPr/>
        </p:nvSpPr>
        <p:spPr>
          <a:xfrm>
            <a:off x="502920" y="1216152"/>
            <a:ext cx="11185855" cy="233172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46304" cy="2331720"/>
          </a:xfrm>
          <a:prstGeom prst="rect">
            <a:avLst/>
          </a:prstGeom>
          <a:solidFill>
            <a:srgbClr val="1E7B6E"/>
          </a:solidFill>
          <a:ln>
            <a:noFill/>
          </a:ln>
          <a:effectLst/>
        </p:spPr>
        <p:txBody>
          <a:bodyPr rtlCol="0" anchor="ctr"/>
          <a:lstStyle/>
          <a:p/>
        </p:txBody>
      </p:sp>
      <p:sp>
        <p:nvSpPr>
          <p:cNvPr id="8" name="TextBox 7"/>
          <p:cNvSpPr txBox="1"/>
          <p:nvPr/>
        </p:nvSpPr>
        <p:spPr>
          <a:xfrm>
            <a:off x="868680" y="132588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1E7B6E"/>
                </a:solidFill>
                <a:latin typeface="Calibri"/>
              </a:rPr>
              <a:t>BÜTÜNCÜL AFET YÖNETİMİ</a:t>
            </a:r>
          </a:p>
        </p:txBody>
      </p:sp>
      <p:sp>
        <p:nvSpPr>
          <p:cNvPr id="9" name="TextBox 8"/>
          <p:cNvSpPr txBox="1"/>
          <p:nvPr/>
        </p:nvSpPr>
        <p:spPr>
          <a:xfrm>
            <a:off x="868680" y="1719072"/>
            <a:ext cx="10637215" cy="169164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Bütüncül afet yönetimi, afetlerle baş edebilen bir toplum oluşturmak için tüm tehlikelerin dikkate alındığı; risk ve zarar azaltma, hazırlık, müdahale ve iyileştirme aşamalarında yapılması gereken çalışmalar ve alınması gereken önlemlerin toplumdaki kaynakların kullanılmasıyla gerçekleştirilebildiği bir süreçtir.</a:t>
            </a:r>
          </a:p>
        </p:txBody>
      </p:sp>
      <p:sp>
        <p:nvSpPr>
          <p:cNvPr id="10" name="Rounded Rectangle 9"/>
          <p:cNvSpPr/>
          <p:nvPr/>
        </p:nvSpPr>
        <p:spPr>
          <a:xfrm>
            <a:off x="502920" y="3712464"/>
            <a:ext cx="3594506" cy="137160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502920" y="3712464"/>
            <a:ext cx="3594506" cy="530352"/>
          </a:xfrm>
          <a:prstGeom prst="roundRect">
            <a:avLst>
              <a:gd name="adj" fmla="val 25000"/>
            </a:avLst>
          </a:prstGeom>
          <a:solidFill>
            <a:srgbClr val="1E7B6E"/>
          </a:solidFill>
          <a:ln>
            <a:noFill/>
          </a:ln>
          <a:effectLst/>
        </p:spPr>
        <p:txBody>
          <a:bodyPr rtlCol="0" anchor="ctr"/>
          <a:lstStyle/>
          <a:p/>
        </p:txBody>
      </p:sp>
      <p:sp>
        <p:nvSpPr>
          <p:cNvPr id="12" name="Rectangle 11"/>
          <p:cNvSpPr/>
          <p:nvPr/>
        </p:nvSpPr>
        <p:spPr>
          <a:xfrm>
            <a:off x="502920" y="3977640"/>
            <a:ext cx="3594506" cy="265176"/>
          </a:xfrm>
          <a:prstGeom prst="rect">
            <a:avLst/>
          </a:prstGeom>
          <a:solidFill>
            <a:srgbClr val="1E7B6E"/>
          </a:solidFill>
          <a:ln>
            <a:noFill/>
          </a:ln>
          <a:effectLst/>
        </p:spPr>
        <p:txBody>
          <a:bodyPr rtlCol="0" anchor="ctr"/>
          <a:lstStyle/>
          <a:p/>
        </p:txBody>
      </p:sp>
      <p:sp>
        <p:nvSpPr>
          <p:cNvPr id="13" name="TextBox 12"/>
          <p:cNvSpPr txBox="1"/>
          <p:nvPr/>
        </p:nvSpPr>
        <p:spPr>
          <a:xfrm>
            <a:off x="594360" y="37124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Neden?</a:t>
            </a:r>
          </a:p>
        </p:txBody>
      </p:sp>
      <p:sp>
        <p:nvSpPr>
          <p:cNvPr id="14" name="TextBox 13"/>
          <p:cNvSpPr txBox="1"/>
          <p:nvPr/>
        </p:nvSpPr>
        <p:spPr>
          <a:xfrm>
            <a:off x="612648" y="4315968"/>
            <a:ext cx="3375050" cy="694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Afetlerle baş edebilen bir toplum oluşturmak</a:t>
            </a:r>
          </a:p>
        </p:txBody>
      </p:sp>
      <p:sp>
        <p:nvSpPr>
          <p:cNvPr id="15" name="Rounded Rectangle 14"/>
          <p:cNvSpPr/>
          <p:nvPr/>
        </p:nvSpPr>
        <p:spPr>
          <a:xfrm>
            <a:off x="4298594" y="3712464"/>
            <a:ext cx="3594506" cy="137160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4298594" y="3712464"/>
            <a:ext cx="3594506" cy="530352"/>
          </a:xfrm>
          <a:prstGeom prst="roundRect">
            <a:avLst>
              <a:gd name="adj" fmla="val 25000"/>
            </a:avLst>
          </a:prstGeom>
          <a:solidFill>
            <a:srgbClr val="4F4F4F"/>
          </a:solidFill>
          <a:ln>
            <a:noFill/>
          </a:ln>
          <a:effectLst/>
        </p:spPr>
        <p:txBody>
          <a:bodyPr rtlCol="0" anchor="ctr"/>
          <a:lstStyle/>
          <a:p/>
        </p:txBody>
      </p:sp>
      <p:sp>
        <p:nvSpPr>
          <p:cNvPr id="17" name="Rectangle 16"/>
          <p:cNvSpPr/>
          <p:nvPr/>
        </p:nvSpPr>
        <p:spPr>
          <a:xfrm>
            <a:off x="4298594" y="3977640"/>
            <a:ext cx="3594506" cy="265176"/>
          </a:xfrm>
          <a:prstGeom prst="rect">
            <a:avLst/>
          </a:prstGeom>
          <a:solidFill>
            <a:srgbClr val="4F4F4F"/>
          </a:solidFill>
          <a:ln>
            <a:noFill/>
          </a:ln>
          <a:effectLst/>
        </p:spPr>
        <p:txBody>
          <a:bodyPr rtlCol="0" anchor="ctr"/>
          <a:lstStyle/>
          <a:p/>
        </p:txBody>
      </p:sp>
      <p:sp>
        <p:nvSpPr>
          <p:cNvPr id="18" name="TextBox 17"/>
          <p:cNvSpPr txBox="1"/>
          <p:nvPr/>
        </p:nvSpPr>
        <p:spPr>
          <a:xfrm>
            <a:off x="4390034" y="37124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Neyi kapsar?</a:t>
            </a:r>
          </a:p>
        </p:txBody>
      </p:sp>
      <p:sp>
        <p:nvSpPr>
          <p:cNvPr id="19" name="TextBox 18"/>
          <p:cNvSpPr txBox="1"/>
          <p:nvPr/>
        </p:nvSpPr>
        <p:spPr>
          <a:xfrm>
            <a:off x="4408322" y="4315968"/>
            <a:ext cx="3375050" cy="694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Tüm tehlikelerin dikkate alındığı</a:t>
            </a:r>
          </a:p>
        </p:txBody>
      </p:sp>
      <p:sp>
        <p:nvSpPr>
          <p:cNvPr id="20" name="Rounded Rectangle 19"/>
          <p:cNvSpPr/>
          <p:nvPr/>
        </p:nvSpPr>
        <p:spPr>
          <a:xfrm>
            <a:off x="8094268" y="3712464"/>
            <a:ext cx="3594506" cy="1371600"/>
          </a:xfrm>
          <a:prstGeom prst="roundRect">
            <a:avLst>
              <a:gd name="adj" fmla="val 5000"/>
            </a:avLst>
          </a:prstGeom>
          <a:solidFill>
            <a:srgbClr val="F0F0F0"/>
          </a:solidFill>
          <a:ln>
            <a:noFill/>
          </a:ln>
          <a:effectLst/>
        </p:spPr>
        <p:txBody>
          <a:bodyPr rtlCol="0" anchor="ctr"/>
          <a:lstStyle/>
          <a:p/>
        </p:txBody>
      </p:sp>
      <p:sp>
        <p:nvSpPr>
          <p:cNvPr id="21" name="Rounded Rectangle 20"/>
          <p:cNvSpPr/>
          <p:nvPr/>
        </p:nvSpPr>
        <p:spPr>
          <a:xfrm>
            <a:off x="8094268" y="3712464"/>
            <a:ext cx="3594506" cy="530352"/>
          </a:xfrm>
          <a:prstGeom prst="roundRect">
            <a:avLst>
              <a:gd name="adj" fmla="val 25000"/>
            </a:avLst>
          </a:prstGeom>
          <a:solidFill>
            <a:srgbClr val="1E7B6E"/>
          </a:solidFill>
          <a:ln>
            <a:noFill/>
          </a:ln>
          <a:effectLst/>
        </p:spPr>
        <p:txBody>
          <a:bodyPr rtlCol="0" anchor="ctr"/>
          <a:lstStyle/>
          <a:p/>
        </p:txBody>
      </p:sp>
      <p:sp>
        <p:nvSpPr>
          <p:cNvPr id="22" name="Rectangle 21"/>
          <p:cNvSpPr/>
          <p:nvPr/>
        </p:nvSpPr>
        <p:spPr>
          <a:xfrm>
            <a:off x="8094268" y="3977640"/>
            <a:ext cx="3594506" cy="265176"/>
          </a:xfrm>
          <a:prstGeom prst="rect">
            <a:avLst/>
          </a:prstGeom>
          <a:solidFill>
            <a:srgbClr val="1E7B6E"/>
          </a:solidFill>
          <a:ln>
            <a:noFill/>
          </a:ln>
          <a:effectLst/>
        </p:spPr>
        <p:txBody>
          <a:bodyPr rtlCol="0" anchor="ctr"/>
          <a:lstStyle/>
          <a:p/>
        </p:txBody>
      </p:sp>
      <p:sp>
        <p:nvSpPr>
          <p:cNvPr id="23" name="TextBox 22"/>
          <p:cNvSpPr txBox="1"/>
          <p:nvPr/>
        </p:nvSpPr>
        <p:spPr>
          <a:xfrm>
            <a:off x="8185708" y="37124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Nasıl?</a:t>
            </a:r>
          </a:p>
        </p:txBody>
      </p:sp>
      <p:sp>
        <p:nvSpPr>
          <p:cNvPr id="24" name="TextBox 23"/>
          <p:cNvSpPr txBox="1"/>
          <p:nvPr/>
        </p:nvSpPr>
        <p:spPr>
          <a:xfrm>
            <a:off x="8203996" y="4315968"/>
            <a:ext cx="3375050" cy="694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Toplumdaki kaynakların kullanılmasıyla</a:t>
            </a:r>
          </a:p>
        </p:txBody>
      </p:sp>
      <p:sp>
        <p:nvSpPr>
          <p:cNvPr id="25" name="Rounded Rectangle 24"/>
          <p:cNvSpPr/>
          <p:nvPr/>
        </p:nvSpPr>
        <p:spPr>
          <a:xfrm>
            <a:off x="502920" y="5248656"/>
            <a:ext cx="2453563" cy="1042416"/>
          </a:xfrm>
          <a:prstGeom prst="roundRect">
            <a:avLst>
              <a:gd name="adj" fmla="val 30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1 · risk ve zarar azaltma</a:t>
            </a:r>
          </a:p>
        </p:txBody>
      </p:sp>
      <p:sp>
        <p:nvSpPr>
          <p:cNvPr id="26" name="TextBox 25"/>
          <p:cNvSpPr txBox="1"/>
          <p:nvPr/>
        </p:nvSpPr>
        <p:spPr>
          <a:xfrm>
            <a:off x="2956483" y="5248656"/>
            <a:ext cx="457200" cy="1042416"/>
          </a:xfrm>
          <a:prstGeom prst="rect">
            <a:avLst/>
          </a:prstGeom>
          <a:noFill/>
        </p:spPr>
        <p:txBody>
          <a:bodyPr wrap="square" anchor="ctr" lIns="0" rIns="0" tIns="36576" bIns="36576">
            <a:noAutofit/>
          </a:bodyPr>
          <a:lstStyle/>
          <a:p>
            <a:pPr algn="ctr">
              <a:spcBef>
                <a:spcPts val="0"/>
              </a:spcBef>
              <a:spcAft>
                <a:spcPts val="0"/>
              </a:spcAft>
            </a:pPr>
            <a:r>
              <a:rPr lang="tr-TR" sz="2400" b="1" i="0">
                <a:solidFill>
                  <a:srgbClr val="767676"/>
                </a:solidFill>
                <a:latin typeface="Calibri"/>
              </a:rPr>
              <a:t>→</a:t>
            </a:r>
          </a:p>
        </p:txBody>
      </p:sp>
      <p:sp>
        <p:nvSpPr>
          <p:cNvPr id="27" name="Rounded Rectangle 26"/>
          <p:cNvSpPr/>
          <p:nvPr/>
        </p:nvSpPr>
        <p:spPr>
          <a:xfrm>
            <a:off x="3413683" y="5248656"/>
            <a:ext cx="2453563" cy="1042416"/>
          </a:xfrm>
          <a:prstGeom prst="roundRect">
            <a:avLst>
              <a:gd name="adj" fmla="val 30000"/>
            </a:avLst>
          </a:prstGeom>
          <a:solidFill>
            <a:srgbClr val="D97316"/>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2 · hazırlık</a:t>
            </a:r>
          </a:p>
        </p:txBody>
      </p:sp>
      <p:sp>
        <p:nvSpPr>
          <p:cNvPr id="28" name="TextBox 27"/>
          <p:cNvSpPr txBox="1"/>
          <p:nvPr/>
        </p:nvSpPr>
        <p:spPr>
          <a:xfrm>
            <a:off x="5867246" y="5248656"/>
            <a:ext cx="457200" cy="1042416"/>
          </a:xfrm>
          <a:prstGeom prst="rect">
            <a:avLst/>
          </a:prstGeom>
          <a:noFill/>
        </p:spPr>
        <p:txBody>
          <a:bodyPr wrap="square" anchor="ctr" lIns="0" rIns="0" tIns="36576" bIns="36576">
            <a:noAutofit/>
          </a:bodyPr>
          <a:lstStyle/>
          <a:p>
            <a:pPr algn="ctr">
              <a:spcBef>
                <a:spcPts val="0"/>
              </a:spcBef>
              <a:spcAft>
                <a:spcPts val="0"/>
              </a:spcAft>
            </a:pPr>
            <a:r>
              <a:rPr lang="tr-TR" sz="2400" b="1" i="0">
                <a:solidFill>
                  <a:srgbClr val="767676"/>
                </a:solidFill>
                <a:latin typeface="Calibri"/>
              </a:rPr>
              <a:t>→</a:t>
            </a:r>
          </a:p>
        </p:txBody>
      </p:sp>
      <p:sp>
        <p:nvSpPr>
          <p:cNvPr id="29" name="Rounded Rectangle 28"/>
          <p:cNvSpPr/>
          <p:nvPr/>
        </p:nvSpPr>
        <p:spPr>
          <a:xfrm>
            <a:off x="6324446" y="5248656"/>
            <a:ext cx="2453563" cy="1042416"/>
          </a:xfrm>
          <a:prstGeom prst="roundRect">
            <a:avLst>
              <a:gd name="adj" fmla="val 3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3 · müdahale</a:t>
            </a:r>
          </a:p>
        </p:txBody>
      </p:sp>
      <p:sp>
        <p:nvSpPr>
          <p:cNvPr id="30" name="TextBox 29"/>
          <p:cNvSpPr txBox="1"/>
          <p:nvPr/>
        </p:nvSpPr>
        <p:spPr>
          <a:xfrm>
            <a:off x="8778009" y="5248656"/>
            <a:ext cx="457200" cy="1042416"/>
          </a:xfrm>
          <a:prstGeom prst="rect">
            <a:avLst/>
          </a:prstGeom>
          <a:noFill/>
        </p:spPr>
        <p:txBody>
          <a:bodyPr wrap="square" anchor="ctr" lIns="0" rIns="0" tIns="36576" bIns="36576">
            <a:noAutofit/>
          </a:bodyPr>
          <a:lstStyle/>
          <a:p>
            <a:pPr algn="ctr">
              <a:spcBef>
                <a:spcPts val="0"/>
              </a:spcBef>
              <a:spcAft>
                <a:spcPts val="0"/>
              </a:spcAft>
            </a:pPr>
            <a:r>
              <a:rPr lang="tr-TR" sz="2400" b="1" i="0">
                <a:solidFill>
                  <a:srgbClr val="767676"/>
                </a:solidFill>
                <a:latin typeface="Calibri"/>
              </a:rPr>
              <a:t>→</a:t>
            </a:r>
          </a:p>
        </p:txBody>
      </p:sp>
      <p:sp>
        <p:nvSpPr>
          <p:cNvPr id="31" name="Rounded Rectangle 30"/>
          <p:cNvSpPr/>
          <p:nvPr/>
        </p:nvSpPr>
        <p:spPr>
          <a:xfrm>
            <a:off x="9235209" y="5248656"/>
            <a:ext cx="2453563" cy="1042416"/>
          </a:xfrm>
          <a:prstGeom prst="roundRect">
            <a:avLst>
              <a:gd name="adj" fmla="val 3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4 · iyileştirme</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125 / 250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Bütüncül afet yönetimi döngüsü: şemayı tamamla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450" b="1" i="0">
                <a:solidFill>
                  <a:srgbClr val="262626"/>
                </a:solidFill>
                <a:latin typeface="Calibri"/>
              </a:rPr>
              <a:t>ŞEMA YAPRAĞI · 6 + 2 dk</a:t>
            </a:r>
          </a:p>
        </p:txBody>
      </p:sp>
      <p:sp>
        <p:nvSpPr>
          <p:cNvPr id="6" name="Rounded Rectangle 5"/>
          <p:cNvSpPr/>
          <p:nvPr/>
        </p:nvSpPr>
        <p:spPr>
          <a:xfrm>
            <a:off x="953353" y="1236817"/>
            <a:ext cx="4468672" cy="2493934"/>
          </a:xfrm>
          <a:prstGeom prst="roundRect">
            <a:avLst>
              <a:gd name="adj" fmla="val 6000"/>
            </a:avLst>
          </a:prstGeom>
          <a:solidFill>
            <a:srgbClr val="E4EFF8"/>
          </a:solidFill>
          <a:ln>
            <a:noFill/>
          </a:ln>
          <a:effectLst/>
        </p:spPr>
        <p:txBody>
          <a:bodyPr rtlCol="0" anchor="ctr"/>
          <a:lstStyle/>
          <a:p/>
        </p:txBody>
      </p:sp>
      <p:sp>
        <p:nvSpPr>
          <p:cNvPr id="7" name="Rounded Rectangle 6"/>
          <p:cNvSpPr/>
          <p:nvPr/>
        </p:nvSpPr>
        <p:spPr>
          <a:xfrm>
            <a:off x="953353" y="3730752"/>
            <a:ext cx="4468672" cy="2493934"/>
          </a:xfrm>
          <a:prstGeom prst="roundRect">
            <a:avLst>
              <a:gd name="adj" fmla="val 6000"/>
            </a:avLst>
          </a:prstGeom>
          <a:solidFill>
            <a:srgbClr val="FAE6E4"/>
          </a:solidFill>
          <a:ln>
            <a:noFill/>
          </a:ln>
          <a:effectLst/>
        </p:spPr>
        <p:txBody>
          <a:bodyPr rtlCol="0" anchor="ctr"/>
          <a:lstStyle/>
          <a:p/>
        </p:txBody>
      </p:sp>
      <p:cxnSp>
        <p:nvCxnSpPr>
          <p:cNvPr id="8" name="Connector 7"/>
          <p:cNvCxnSpPr/>
          <p:nvPr/>
        </p:nvCxnSpPr>
        <p:spPr>
          <a:xfrm>
            <a:off x="1090513" y="3730752"/>
            <a:ext cx="4194353" cy="0"/>
          </a:xfrm>
          <a:prstGeom prst="line">
            <a:avLst/>
          </a:prstGeom>
          <a:ln w="25400">
            <a:solidFill>
              <a:srgbClr val="FFFFFF"/>
            </a:solidFill>
          </a:ln>
        </p:spPr>
      </p:cxnSp>
      <p:sp>
        <p:nvSpPr>
          <p:cNvPr id="9" name="Freeform 8"/>
          <p:cNvSpPr/>
          <p:nvPr/>
        </p:nvSpPr>
        <p:spPr>
          <a:xfrm>
            <a:off x="1508760" y="2249424"/>
            <a:ext cx="1481328" cy="1481328"/>
          </a:xfrm>
          <a:custGeom>
            <a:avLst/>
            <a:gdLst/>
            <a:ahLst/>
            <a:cxnLst/>
            <a:rect l="l" t="t" r="r" b="b"/>
            <a:pathLst>
              <a:path w="1481328" h="1481328">
                <a:moveTo>
                  <a:pt x="1481328" y="0"/>
                </a:moveTo>
                <a:lnTo>
                  <a:pt x="1429630" y="902"/>
                </a:lnTo>
                <a:lnTo>
                  <a:pt x="1377995" y="3608"/>
                </a:lnTo>
                <a:lnTo>
                  <a:pt x="1326487" y="8114"/>
                </a:lnTo>
                <a:lnTo>
                  <a:pt x="1275166" y="14416"/>
                </a:lnTo>
                <a:lnTo>
                  <a:pt x="1224098" y="22504"/>
                </a:lnTo>
                <a:lnTo>
                  <a:pt x="1173342" y="32370"/>
                </a:lnTo>
                <a:lnTo>
                  <a:pt x="1122962" y="44001"/>
                </a:lnTo>
                <a:lnTo>
                  <a:pt x="1073018" y="57384"/>
                </a:lnTo>
                <a:lnTo>
                  <a:pt x="1023572" y="72501"/>
                </a:lnTo>
                <a:lnTo>
                  <a:pt x="974683" y="89335"/>
                </a:lnTo>
                <a:lnTo>
                  <a:pt x="926412" y="107864"/>
                </a:lnTo>
                <a:lnTo>
                  <a:pt x="878817" y="128067"/>
                </a:lnTo>
                <a:lnTo>
                  <a:pt x="831956" y="149919"/>
                </a:lnTo>
                <a:lnTo>
                  <a:pt x="785886" y="173393"/>
                </a:lnTo>
                <a:lnTo>
                  <a:pt x="740664" y="198460"/>
                </a:lnTo>
                <a:lnTo>
                  <a:pt x="696343" y="225090"/>
                </a:lnTo>
                <a:lnTo>
                  <a:pt x="652979" y="253251"/>
                </a:lnTo>
                <a:lnTo>
                  <a:pt x="610625" y="282908"/>
                </a:lnTo>
                <a:lnTo>
                  <a:pt x="569331" y="314025"/>
                </a:lnTo>
                <a:lnTo>
                  <a:pt x="529148" y="346564"/>
                </a:lnTo>
                <a:lnTo>
                  <a:pt x="490126" y="380486"/>
                </a:lnTo>
                <a:lnTo>
                  <a:pt x="452311" y="415749"/>
                </a:lnTo>
                <a:lnTo>
                  <a:pt x="415749" y="452311"/>
                </a:lnTo>
                <a:lnTo>
                  <a:pt x="380486" y="490126"/>
                </a:lnTo>
                <a:lnTo>
                  <a:pt x="346564" y="529148"/>
                </a:lnTo>
                <a:lnTo>
                  <a:pt x="314025" y="569331"/>
                </a:lnTo>
                <a:lnTo>
                  <a:pt x="282908" y="610625"/>
                </a:lnTo>
                <a:lnTo>
                  <a:pt x="253251" y="652979"/>
                </a:lnTo>
                <a:lnTo>
                  <a:pt x="225090" y="696343"/>
                </a:lnTo>
                <a:lnTo>
                  <a:pt x="198460" y="740664"/>
                </a:lnTo>
                <a:lnTo>
                  <a:pt x="173393" y="785886"/>
                </a:lnTo>
                <a:lnTo>
                  <a:pt x="149919" y="831956"/>
                </a:lnTo>
                <a:lnTo>
                  <a:pt x="128067" y="878817"/>
                </a:lnTo>
                <a:lnTo>
                  <a:pt x="107864" y="926412"/>
                </a:lnTo>
                <a:lnTo>
                  <a:pt x="89335" y="974683"/>
                </a:lnTo>
                <a:lnTo>
                  <a:pt x="72501" y="1023572"/>
                </a:lnTo>
                <a:lnTo>
                  <a:pt x="57384" y="1073018"/>
                </a:lnTo>
                <a:lnTo>
                  <a:pt x="44001" y="1122962"/>
                </a:lnTo>
                <a:lnTo>
                  <a:pt x="32370" y="1173342"/>
                </a:lnTo>
                <a:lnTo>
                  <a:pt x="22504" y="1224098"/>
                </a:lnTo>
                <a:lnTo>
                  <a:pt x="14416" y="1275166"/>
                </a:lnTo>
                <a:lnTo>
                  <a:pt x="8114" y="1326487"/>
                </a:lnTo>
                <a:lnTo>
                  <a:pt x="3608" y="1377995"/>
                </a:lnTo>
                <a:lnTo>
                  <a:pt x="902" y="1429630"/>
                </a:lnTo>
                <a:lnTo>
                  <a:pt x="0" y="1481328"/>
                </a:lnTo>
                <a:lnTo>
                  <a:pt x="622157" y="1481328"/>
                </a:lnTo>
                <a:lnTo>
                  <a:pt x="622681" y="1451343"/>
                </a:lnTo>
                <a:lnTo>
                  <a:pt x="624250" y="1421395"/>
                </a:lnTo>
                <a:lnTo>
                  <a:pt x="626864" y="1391520"/>
                </a:lnTo>
                <a:lnTo>
                  <a:pt x="630519" y="1361754"/>
                </a:lnTo>
                <a:lnTo>
                  <a:pt x="635210" y="1332134"/>
                </a:lnTo>
                <a:lnTo>
                  <a:pt x="640932" y="1302696"/>
                </a:lnTo>
                <a:lnTo>
                  <a:pt x="647678" y="1273475"/>
                </a:lnTo>
                <a:lnTo>
                  <a:pt x="655440" y="1244508"/>
                </a:lnTo>
                <a:lnTo>
                  <a:pt x="664208" y="1215829"/>
                </a:lnTo>
                <a:lnTo>
                  <a:pt x="673972" y="1187474"/>
                </a:lnTo>
                <a:lnTo>
                  <a:pt x="684719" y="1159477"/>
                </a:lnTo>
                <a:lnTo>
                  <a:pt x="696436" y="1131871"/>
                </a:lnTo>
                <a:lnTo>
                  <a:pt x="709110" y="1104692"/>
                </a:lnTo>
                <a:lnTo>
                  <a:pt x="722725" y="1077972"/>
                </a:lnTo>
                <a:lnTo>
                  <a:pt x="737264" y="1051742"/>
                </a:lnTo>
                <a:lnTo>
                  <a:pt x="752710" y="1026037"/>
                </a:lnTo>
                <a:lnTo>
                  <a:pt x="769043" y="1000886"/>
                </a:lnTo>
                <a:lnTo>
                  <a:pt x="786244" y="976320"/>
                </a:lnTo>
                <a:lnTo>
                  <a:pt x="804292" y="952369"/>
                </a:lnTo>
                <a:lnTo>
                  <a:pt x="823165" y="929064"/>
                </a:lnTo>
                <a:lnTo>
                  <a:pt x="842840" y="906430"/>
                </a:lnTo>
                <a:lnTo>
                  <a:pt x="863292" y="884498"/>
                </a:lnTo>
                <a:lnTo>
                  <a:pt x="884498" y="863292"/>
                </a:lnTo>
                <a:lnTo>
                  <a:pt x="906430" y="842840"/>
                </a:lnTo>
                <a:lnTo>
                  <a:pt x="929064" y="823165"/>
                </a:lnTo>
                <a:lnTo>
                  <a:pt x="952369" y="804292"/>
                </a:lnTo>
                <a:lnTo>
                  <a:pt x="976320" y="786244"/>
                </a:lnTo>
                <a:lnTo>
                  <a:pt x="1000886" y="769043"/>
                </a:lnTo>
                <a:lnTo>
                  <a:pt x="1026037" y="752710"/>
                </a:lnTo>
                <a:lnTo>
                  <a:pt x="1051742" y="737264"/>
                </a:lnTo>
                <a:lnTo>
                  <a:pt x="1077972" y="722725"/>
                </a:lnTo>
                <a:lnTo>
                  <a:pt x="1104692" y="709110"/>
                </a:lnTo>
                <a:lnTo>
                  <a:pt x="1131871" y="696436"/>
                </a:lnTo>
                <a:lnTo>
                  <a:pt x="1159477" y="684719"/>
                </a:lnTo>
                <a:lnTo>
                  <a:pt x="1187474" y="673972"/>
                </a:lnTo>
                <a:lnTo>
                  <a:pt x="1215829" y="664208"/>
                </a:lnTo>
                <a:lnTo>
                  <a:pt x="1244508" y="655440"/>
                </a:lnTo>
                <a:lnTo>
                  <a:pt x="1273475" y="647678"/>
                </a:lnTo>
                <a:lnTo>
                  <a:pt x="1302696" y="640932"/>
                </a:lnTo>
                <a:lnTo>
                  <a:pt x="1332134" y="635210"/>
                </a:lnTo>
                <a:lnTo>
                  <a:pt x="1361754" y="630519"/>
                </a:lnTo>
                <a:lnTo>
                  <a:pt x="1391520" y="626864"/>
                </a:lnTo>
                <a:lnTo>
                  <a:pt x="1421395" y="624250"/>
                </a:lnTo>
                <a:lnTo>
                  <a:pt x="1451343" y="622681"/>
                </a:lnTo>
                <a:lnTo>
                  <a:pt x="1481328" y="622157"/>
                </a:lnTo>
                <a:close/>
              </a:path>
            </a:pathLst>
          </a:custGeom>
          <a:solidFill>
            <a:srgbClr val="1F86BF"/>
          </a:solidFill>
          <a:ln>
            <a:noFill/>
          </a:ln>
        </p:spPr>
        <p:txBody>
          <a:bodyPr rtlCol="0" anchor="ctr"/>
          <a:lstStyle/>
          <a:p>
            <a:pPr algn="ctr"/>
          </a:p>
        </p:txBody>
      </p:sp>
      <p:sp>
        <p:nvSpPr>
          <p:cNvPr id="10" name="Freeform 9"/>
          <p:cNvSpPr/>
          <p:nvPr/>
        </p:nvSpPr>
        <p:spPr>
          <a:xfrm>
            <a:off x="2990088" y="2249424"/>
            <a:ext cx="1481328" cy="1481328"/>
          </a:xfrm>
          <a:custGeom>
            <a:avLst/>
            <a:gdLst/>
            <a:ahLst/>
            <a:cxnLst/>
            <a:rect l="l" t="t" r="r" b="b"/>
            <a:pathLst>
              <a:path w="1481328" h="1481328">
                <a:moveTo>
                  <a:pt x="1481328" y="1481328"/>
                </a:moveTo>
                <a:lnTo>
                  <a:pt x="1480425" y="1429630"/>
                </a:lnTo>
                <a:lnTo>
                  <a:pt x="1477719" y="1377995"/>
                </a:lnTo>
                <a:lnTo>
                  <a:pt x="1473213" y="1326487"/>
                </a:lnTo>
                <a:lnTo>
                  <a:pt x="1466911" y="1275166"/>
                </a:lnTo>
                <a:lnTo>
                  <a:pt x="1458823" y="1224098"/>
                </a:lnTo>
                <a:lnTo>
                  <a:pt x="1448957" y="1173342"/>
                </a:lnTo>
                <a:lnTo>
                  <a:pt x="1437326" y="1122962"/>
                </a:lnTo>
                <a:lnTo>
                  <a:pt x="1423943" y="1073018"/>
                </a:lnTo>
                <a:lnTo>
                  <a:pt x="1408826" y="1023572"/>
                </a:lnTo>
                <a:lnTo>
                  <a:pt x="1391992" y="974683"/>
                </a:lnTo>
                <a:lnTo>
                  <a:pt x="1373463" y="926412"/>
                </a:lnTo>
                <a:lnTo>
                  <a:pt x="1353260" y="878817"/>
                </a:lnTo>
                <a:lnTo>
                  <a:pt x="1331408" y="831956"/>
                </a:lnTo>
                <a:lnTo>
                  <a:pt x="1307934" y="785886"/>
                </a:lnTo>
                <a:lnTo>
                  <a:pt x="1282867" y="740664"/>
                </a:lnTo>
                <a:lnTo>
                  <a:pt x="1256237" y="696343"/>
                </a:lnTo>
                <a:lnTo>
                  <a:pt x="1228076" y="652979"/>
                </a:lnTo>
                <a:lnTo>
                  <a:pt x="1198419" y="610625"/>
                </a:lnTo>
                <a:lnTo>
                  <a:pt x="1167302" y="569331"/>
                </a:lnTo>
                <a:lnTo>
                  <a:pt x="1134763" y="529148"/>
                </a:lnTo>
                <a:lnTo>
                  <a:pt x="1100841" y="490126"/>
                </a:lnTo>
                <a:lnTo>
                  <a:pt x="1065578" y="452311"/>
                </a:lnTo>
                <a:lnTo>
                  <a:pt x="1029016" y="415749"/>
                </a:lnTo>
                <a:lnTo>
                  <a:pt x="991201" y="380486"/>
                </a:lnTo>
                <a:lnTo>
                  <a:pt x="952179" y="346564"/>
                </a:lnTo>
                <a:lnTo>
                  <a:pt x="911996" y="314025"/>
                </a:lnTo>
                <a:lnTo>
                  <a:pt x="870702" y="282908"/>
                </a:lnTo>
                <a:lnTo>
                  <a:pt x="828348" y="253251"/>
                </a:lnTo>
                <a:lnTo>
                  <a:pt x="784984" y="225090"/>
                </a:lnTo>
                <a:lnTo>
                  <a:pt x="740664" y="198460"/>
                </a:lnTo>
                <a:lnTo>
                  <a:pt x="695441" y="173393"/>
                </a:lnTo>
                <a:lnTo>
                  <a:pt x="649371" y="149919"/>
                </a:lnTo>
                <a:lnTo>
                  <a:pt x="602510" y="128067"/>
                </a:lnTo>
                <a:lnTo>
                  <a:pt x="554915" y="107864"/>
                </a:lnTo>
                <a:lnTo>
                  <a:pt x="506644" y="89335"/>
                </a:lnTo>
                <a:lnTo>
                  <a:pt x="457755" y="72501"/>
                </a:lnTo>
                <a:lnTo>
                  <a:pt x="408309" y="57384"/>
                </a:lnTo>
                <a:lnTo>
                  <a:pt x="358365" y="44001"/>
                </a:lnTo>
                <a:lnTo>
                  <a:pt x="307985" y="32370"/>
                </a:lnTo>
                <a:lnTo>
                  <a:pt x="257229" y="22504"/>
                </a:lnTo>
                <a:lnTo>
                  <a:pt x="206161" y="14416"/>
                </a:lnTo>
                <a:lnTo>
                  <a:pt x="154840" y="8114"/>
                </a:lnTo>
                <a:lnTo>
                  <a:pt x="103332" y="3608"/>
                </a:lnTo>
                <a:lnTo>
                  <a:pt x="51697" y="902"/>
                </a:lnTo>
                <a:lnTo>
                  <a:pt x="0" y="0"/>
                </a:lnTo>
                <a:lnTo>
                  <a:pt x="0" y="622157"/>
                </a:lnTo>
                <a:lnTo>
                  <a:pt x="29984" y="622681"/>
                </a:lnTo>
                <a:lnTo>
                  <a:pt x="59932" y="624250"/>
                </a:lnTo>
                <a:lnTo>
                  <a:pt x="89807" y="626864"/>
                </a:lnTo>
                <a:lnTo>
                  <a:pt x="119573" y="630519"/>
                </a:lnTo>
                <a:lnTo>
                  <a:pt x="149193" y="635210"/>
                </a:lnTo>
                <a:lnTo>
                  <a:pt x="178631" y="640932"/>
                </a:lnTo>
                <a:lnTo>
                  <a:pt x="207852" y="647678"/>
                </a:lnTo>
                <a:lnTo>
                  <a:pt x="236819" y="655440"/>
                </a:lnTo>
                <a:lnTo>
                  <a:pt x="265498" y="664208"/>
                </a:lnTo>
                <a:lnTo>
                  <a:pt x="293853" y="673972"/>
                </a:lnTo>
                <a:lnTo>
                  <a:pt x="321850" y="684719"/>
                </a:lnTo>
                <a:lnTo>
                  <a:pt x="349456" y="696436"/>
                </a:lnTo>
                <a:lnTo>
                  <a:pt x="376635" y="709110"/>
                </a:lnTo>
                <a:lnTo>
                  <a:pt x="403355" y="722725"/>
                </a:lnTo>
                <a:lnTo>
                  <a:pt x="429585" y="737264"/>
                </a:lnTo>
                <a:lnTo>
                  <a:pt x="455290" y="752710"/>
                </a:lnTo>
                <a:lnTo>
                  <a:pt x="480441" y="769043"/>
                </a:lnTo>
                <a:lnTo>
                  <a:pt x="505007" y="786244"/>
                </a:lnTo>
                <a:lnTo>
                  <a:pt x="528958" y="804292"/>
                </a:lnTo>
                <a:lnTo>
                  <a:pt x="552263" y="823165"/>
                </a:lnTo>
                <a:lnTo>
                  <a:pt x="574897" y="842840"/>
                </a:lnTo>
                <a:lnTo>
                  <a:pt x="596829" y="863292"/>
                </a:lnTo>
                <a:lnTo>
                  <a:pt x="618035" y="884498"/>
                </a:lnTo>
                <a:lnTo>
                  <a:pt x="638487" y="906430"/>
                </a:lnTo>
                <a:lnTo>
                  <a:pt x="658162" y="929064"/>
                </a:lnTo>
                <a:lnTo>
                  <a:pt x="677035" y="952369"/>
                </a:lnTo>
                <a:lnTo>
                  <a:pt x="695083" y="976320"/>
                </a:lnTo>
                <a:lnTo>
                  <a:pt x="712284" y="1000886"/>
                </a:lnTo>
                <a:lnTo>
                  <a:pt x="728617" y="1026037"/>
                </a:lnTo>
                <a:lnTo>
                  <a:pt x="744063" y="1051742"/>
                </a:lnTo>
                <a:lnTo>
                  <a:pt x="758602" y="1077972"/>
                </a:lnTo>
                <a:lnTo>
                  <a:pt x="772217" y="1104692"/>
                </a:lnTo>
                <a:lnTo>
                  <a:pt x="784891" y="1131871"/>
                </a:lnTo>
                <a:lnTo>
                  <a:pt x="796608" y="1159477"/>
                </a:lnTo>
                <a:lnTo>
                  <a:pt x="807355" y="1187474"/>
                </a:lnTo>
                <a:lnTo>
                  <a:pt x="817119" y="1215829"/>
                </a:lnTo>
                <a:lnTo>
                  <a:pt x="825887" y="1244508"/>
                </a:lnTo>
                <a:lnTo>
                  <a:pt x="833649" y="1273475"/>
                </a:lnTo>
                <a:lnTo>
                  <a:pt x="840395" y="1302696"/>
                </a:lnTo>
                <a:lnTo>
                  <a:pt x="846117" y="1332134"/>
                </a:lnTo>
                <a:lnTo>
                  <a:pt x="850808" y="1361754"/>
                </a:lnTo>
                <a:lnTo>
                  <a:pt x="854463" y="1391520"/>
                </a:lnTo>
                <a:lnTo>
                  <a:pt x="857077" y="1421395"/>
                </a:lnTo>
                <a:lnTo>
                  <a:pt x="858646" y="1451343"/>
                </a:lnTo>
                <a:lnTo>
                  <a:pt x="859170" y="1481328"/>
                </a:lnTo>
                <a:close/>
              </a:path>
            </a:pathLst>
          </a:custGeom>
          <a:solidFill>
            <a:srgbClr val="D97316"/>
          </a:solidFill>
          <a:ln>
            <a:noFill/>
          </a:ln>
        </p:spPr>
        <p:txBody>
          <a:bodyPr rtlCol="0" anchor="ctr"/>
          <a:lstStyle/>
          <a:p>
            <a:pPr algn="ctr"/>
          </a:p>
        </p:txBody>
      </p:sp>
      <p:sp>
        <p:nvSpPr>
          <p:cNvPr id="11" name="Freeform 10"/>
          <p:cNvSpPr/>
          <p:nvPr/>
        </p:nvSpPr>
        <p:spPr>
          <a:xfrm>
            <a:off x="2990088" y="3730752"/>
            <a:ext cx="1481328" cy="1481328"/>
          </a:xfrm>
          <a:custGeom>
            <a:avLst/>
            <a:gdLst/>
            <a:ahLst/>
            <a:cxnLst/>
            <a:rect l="l" t="t" r="r" b="b"/>
            <a:pathLst>
              <a:path w="1481328" h="1481328">
                <a:moveTo>
                  <a:pt x="0" y="1481328"/>
                </a:moveTo>
                <a:lnTo>
                  <a:pt x="51697" y="1480425"/>
                </a:lnTo>
                <a:lnTo>
                  <a:pt x="103332" y="1477719"/>
                </a:lnTo>
                <a:lnTo>
                  <a:pt x="154840" y="1473213"/>
                </a:lnTo>
                <a:lnTo>
                  <a:pt x="206161" y="1466911"/>
                </a:lnTo>
                <a:lnTo>
                  <a:pt x="257229" y="1458823"/>
                </a:lnTo>
                <a:lnTo>
                  <a:pt x="307985" y="1448957"/>
                </a:lnTo>
                <a:lnTo>
                  <a:pt x="358365" y="1437326"/>
                </a:lnTo>
                <a:lnTo>
                  <a:pt x="408309" y="1423943"/>
                </a:lnTo>
                <a:lnTo>
                  <a:pt x="457755" y="1408826"/>
                </a:lnTo>
                <a:lnTo>
                  <a:pt x="506644" y="1391992"/>
                </a:lnTo>
                <a:lnTo>
                  <a:pt x="554915" y="1373463"/>
                </a:lnTo>
                <a:lnTo>
                  <a:pt x="602510" y="1353260"/>
                </a:lnTo>
                <a:lnTo>
                  <a:pt x="649371" y="1331408"/>
                </a:lnTo>
                <a:lnTo>
                  <a:pt x="695441" y="1307934"/>
                </a:lnTo>
                <a:lnTo>
                  <a:pt x="740664" y="1282867"/>
                </a:lnTo>
                <a:lnTo>
                  <a:pt x="784984" y="1256237"/>
                </a:lnTo>
                <a:lnTo>
                  <a:pt x="828348" y="1228076"/>
                </a:lnTo>
                <a:lnTo>
                  <a:pt x="870702" y="1198419"/>
                </a:lnTo>
                <a:lnTo>
                  <a:pt x="911996" y="1167302"/>
                </a:lnTo>
                <a:lnTo>
                  <a:pt x="952179" y="1134763"/>
                </a:lnTo>
                <a:lnTo>
                  <a:pt x="991201" y="1100841"/>
                </a:lnTo>
                <a:lnTo>
                  <a:pt x="1029016" y="1065578"/>
                </a:lnTo>
                <a:lnTo>
                  <a:pt x="1065578" y="1029016"/>
                </a:lnTo>
                <a:lnTo>
                  <a:pt x="1100841" y="991201"/>
                </a:lnTo>
                <a:lnTo>
                  <a:pt x="1134763" y="952179"/>
                </a:lnTo>
                <a:lnTo>
                  <a:pt x="1167302" y="911996"/>
                </a:lnTo>
                <a:lnTo>
                  <a:pt x="1198419" y="870702"/>
                </a:lnTo>
                <a:lnTo>
                  <a:pt x="1228076" y="828348"/>
                </a:lnTo>
                <a:lnTo>
                  <a:pt x="1256237" y="784984"/>
                </a:lnTo>
                <a:lnTo>
                  <a:pt x="1282867" y="740664"/>
                </a:lnTo>
                <a:lnTo>
                  <a:pt x="1307934" y="695441"/>
                </a:lnTo>
                <a:lnTo>
                  <a:pt x="1331408" y="649371"/>
                </a:lnTo>
                <a:lnTo>
                  <a:pt x="1353260" y="602510"/>
                </a:lnTo>
                <a:lnTo>
                  <a:pt x="1373463" y="554915"/>
                </a:lnTo>
                <a:lnTo>
                  <a:pt x="1391992" y="506644"/>
                </a:lnTo>
                <a:lnTo>
                  <a:pt x="1408826" y="457755"/>
                </a:lnTo>
                <a:lnTo>
                  <a:pt x="1423943" y="408309"/>
                </a:lnTo>
                <a:lnTo>
                  <a:pt x="1437326" y="358365"/>
                </a:lnTo>
                <a:lnTo>
                  <a:pt x="1448957" y="307985"/>
                </a:lnTo>
                <a:lnTo>
                  <a:pt x="1458823" y="257229"/>
                </a:lnTo>
                <a:lnTo>
                  <a:pt x="1466911" y="206161"/>
                </a:lnTo>
                <a:lnTo>
                  <a:pt x="1473213" y="154840"/>
                </a:lnTo>
                <a:lnTo>
                  <a:pt x="1477719" y="103332"/>
                </a:lnTo>
                <a:lnTo>
                  <a:pt x="1480425" y="51697"/>
                </a:lnTo>
                <a:lnTo>
                  <a:pt x="1481328" y="0"/>
                </a:lnTo>
                <a:lnTo>
                  <a:pt x="859170" y="0"/>
                </a:lnTo>
                <a:lnTo>
                  <a:pt x="858646" y="29984"/>
                </a:lnTo>
                <a:lnTo>
                  <a:pt x="857077" y="59932"/>
                </a:lnTo>
                <a:lnTo>
                  <a:pt x="854463" y="89807"/>
                </a:lnTo>
                <a:lnTo>
                  <a:pt x="850808" y="119573"/>
                </a:lnTo>
                <a:lnTo>
                  <a:pt x="846117" y="149193"/>
                </a:lnTo>
                <a:lnTo>
                  <a:pt x="840395" y="178631"/>
                </a:lnTo>
                <a:lnTo>
                  <a:pt x="833649" y="207852"/>
                </a:lnTo>
                <a:lnTo>
                  <a:pt x="825887" y="236819"/>
                </a:lnTo>
                <a:lnTo>
                  <a:pt x="817119" y="265498"/>
                </a:lnTo>
                <a:lnTo>
                  <a:pt x="807355" y="293853"/>
                </a:lnTo>
                <a:lnTo>
                  <a:pt x="796608" y="321850"/>
                </a:lnTo>
                <a:lnTo>
                  <a:pt x="784891" y="349456"/>
                </a:lnTo>
                <a:lnTo>
                  <a:pt x="772217" y="376635"/>
                </a:lnTo>
                <a:lnTo>
                  <a:pt x="758602" y="403355"/>
                </a:lnTo>
                <a:lnTo>
                  <a:pt x="744063" y="429585"/>
                </a:lnTo>
                <a:lnTo>
                  <a:pt x="728617" y="455290"/>
                </a:lnTo>
                <a:lnTo>
                  <a:pt x="712284" y="480441"/>
                </a:lnTo>
                <a:lnTo>
                  <a:pt x="695083" y="505007"/>
                </a:lnTo>
                <a:lnTo>
                  <a:pt x="677035" y="528958"/>
                </a:lnTo>
                <a:lnTo>
                  <a:pt x="658162" y="552263"/>
                </a:lnTo>
                <a:lnTo>
                  <a:pt x="638487" y="574897"/>
                </a:lnTo>
                <a:lnTo>
                  <a:pt x="618035" y="596829"/>
                </a:lnTo>
                <a:lnTo>
                  <a:pt x="596829" y="618035"/>
                </a:lnTo>
                <a:lnTo>
                  <a:pt x="574897" y="638487"/>
                </a:lnTo>
                <a:lnTo>
                  <a:pt x="552263" y="658162"/>
                </a:lnTo>
                <a:lnTo>
                  <a:pt x="528958" y="677035"/>
                </a:lnTo>
                <a:lnTo>
                  <a:pt x="505007" y="695083"/>
                </a:lnTo>
                <a:lnTo>
                  <a:pt x="480441" y="712284"/>
                </a:lnTo>
                <a:lnTo>
                  <a:pt x="455290" y="728617"/>
                </a:lnTo>
                <a:lnTo>
                  <a:pt x="429585" y="744063"/>
                </a:lnTo>
                <a:lnTo>
                  <a:pt x="403355" y="758602"/>
                </a:lnTo>
                <a:lnTo>
                  <a:pt x="376635" y="772217"/>
                </a:lnTo>
                <a:lnTo>
                  <a:pt x="349456" y="784891"/>
                </a:lnTo>
                <a:lnTo>
                  <a:pt x="321850" y="796608"/>
                </a:lnTo>
                <a:lnTo>
                  <a:pt x="293853" y="807355"/>
                </a:lnTo>
                <a:lnTo>
                  <a:pt x="265498" y="817119"/>
                </a:lnTo>
                <a:lnTo>
                  <a:pt x="236819" y="825887"/>
                </a:lnTo>
                <a:lnTo>
                  <a:pt x="207852" y="833649"/>
                </a:lnTo>
                <a:lnTo>
                  <a:pt x="178631" y="840395"/>
                </a:lnTo>
                <a:lnTo>
                  <a:pt x="149193" y="846117"/>
                </a:lnTo>
                <a:lnTo>
                  <a:pt x="119573" y="850808"/>
                </a:lnTo>
                <a:lnTo>
                  <a:pt x="89807" y="854463"/>
                </a:lnTo>
                <a:lnTo>
                  <a:pt x="59932" y="857077"/>
                </a:lnTo>
                <a:lnTo>
                  <a:pt x="29984" y="858646"/>
                </a:lnTo>
                <a:lnTo>
                  <a:pt x="0" y="859170"/>
                </a:lnTo>
                <a:close/>
              </a:path>
            </a:pathLst>
          </a:custGeom>
          <a:solidFill>
            <a:srgbClr val="CC3333"/>
          </a:solidFill>
          <a:ln>
            <a:noFill/>
          </a:ln>
        </p:spPr>
        <p:txBody>
          <a:bodyPr rtlCol="0" anchor="ctr"/>
          <a:lstStyle/>
          <a:p>
            <a:pPr algn="ctr"/>
          </a:p>
        </p:txBody>
      </p:sp>
      <p:sp>
        <p:nvSpPr>
          <p:cNvPr id="12" name="Freeform 11"/>
          <p:cNvSpPr/>
          <p:nvPr/>
        </p:nvSpPr>
        <p:spPr>
          <a:xfrm>
            <a:off x="1508760" y="3730752"/>
            <a:ext cx="1481328" cy="1481328"/>
          </a:xfrm>
          <a:custGeom>
            <a:avLst/>
            <a:gdLst/>
            <a:ahLst/>
            <a:cxnLst/>
            <a:rect l="l" t="t" r="r" b="b"/>
            <a:pathLst>
              <a:path w="1481328" h="1481328">
                <a:moveTo>
                  <a:pt x="0" y="0"/>
                </a:moveTo>
                <a:lnTo>
                  <a:pt x="902" y="51697"/>
                </a:lnTo>
                <a:lnTo>
                  <a:pt x="3608" y="103332"/>
                </a:lnTo>
                <a:lnTo>
                  <a:pt x="8114" y="154840"/>
                </a:lnTo>
                <a:lnTo>
                  <a:pt x="14416" y="206161"/>
                </a:lnTo>
                <a:lnTo>
                  <a:pt x="22504" y="257229"/>
                </a:lnTo>
                <a:lnTo>
                  <a:pt x="32370" y="307985"/>
                </a:lnTo>
                <a:lnTo>
                  <a:pt x="44001" y="358365"/>
                </a:lnTo>
                <a:lnTo>
                  <a:pt x="57384" y="408309"/>
                </a:lnTo>
                <a:lnTo>
                  <a:pt x="72501" y="457755"/>
                </a:lnTo>
                <a:lnTo>
                  <a:pt x="89335" y="506644"/>
                </a:lnTo>
                <a:lnTo>
                  <a:pt x="107864" y="554915"/>
                </a:lnTo>
                <a:lnTo>
                  <a:pt x="128067" y="602510"/>
                </a:lnTo>
                <a:lnTo>
                  <a:pt x="149919" y="649371"/>
                </a:lnTo>
                <a:lnTo>
                  <a:pt x="173393" y="695441"/>
                </a:lnTo>
                <a:lnTo>
                  <a:pt x="198460" y="740664"/>
                </a:lnTo>
                <a:lnTo>
                  <a:pt x="225090" y="784984"/>
                </a:lnTo>
                <a:lnTo>
                  <a:pt x="253251" y="828348"/>
                </a:lnTo>
                <a:lnTo>
                  <a:pt x="282908" y="870702"/>
                </a:lnTo>
                <a:lnTo>
                  <a:pt x="314025" y="911996"/>
                </a:lnTo>
                <a:lnTo>
                  <a:pt x="346564" y="952179"/>
                </a:lnTo>
                <a:lnTo>
                  <a:pt x="380486" y="991201"/>
                </a:lnTo>
                <a:lnTo>
                  <a:pt x="415749" y="1029016"/>
                </a:lnTo>
                <a:lnTo>
                  <a:pt x="452311" y="1065578"/>
                </a:lnTo>
                <a:lnTo>
                  <a:pt x="490126" y="1100841"/>
                </a:lnTo>
                <a:lnTo>
                  <a:pt x="529148" y="1134763"/>
                </a:lnTo>
                <a:lnTo>
                  <a:pt x="569331" y="1167302"/>
                </a:lnTo>
                <a:lnTo>
                  <a:pt x="610625" y="1198419"/>
                </a:lnTo>
                <a:lnTo>
                  <a:pt x="652979" y="1228076"/>
                </a:lnTo>
                <a:lnTo>
                  <a:pt x="696343" y="1256237"/>
                </a:lnTo>
                <a:lnTo>
                  <a:pt x="740664" y="1282867"/>
                </a:lnTo>
                <a:lnTo>
                  <a:pt x="785886" y="1307934"/>
                </a:lnTo>
                <a:lnTo>
                  <a:pt x="831956" y="1331408"/>
                </a:lnTo>
                <a:lnTo>
                  <a:pt x="878817" y="1353260"/>
                </a:lnTo>
                <a:lnTo>
                  <a:pt x="926412" y="1373463"/>
                </a:lnTo>
                <a:lnTo>
                  <a:pt x="974683" y="1391992"/>
                </a:lnTo>
                <a:lnTo>
                  <a:pt x="1023572" y="1408826"/>
                </a:lnTo>
                <a:lnTo>
                  <a:pt x="1073018" y="1423943"/>
                </a:lnTo>
                <a:lnTo>
                  <a:pt x="1122962" y="1437326"/>
                </a:lnTo>
                <a:lnTo>
                  <a:pt x="1173342" y="1448957"/>
                </a:lnTo>
                <a:lnTo>
                  <a:pt x="1224098" y="1458823"/>
                </a:lnTo>
                <a:lnTo>
                  <a:pt x="1275166" y="1466911"/>
                </a:lnTo>
                <a:lnTo>
                  <a:pt x="1326487" y="1473213"/>
                </a:lnTo>
                <a:lnTo>
                  <a:pt x="1377995" y="1477719"/>
                </a:lnTo>
                <a:lnTo>
                  <a:pt x="1429630" y="1480425"/>
                </a:lnTo>
                <a:lnTo>
                  <a:pt x="1481328" y="1481328"/>
                </a:lnTo>
                <a:lnTo>
                  <a:pt x="1481328" y="859170"/>
                </a:lnTo>
                <a:lnTo>
                  <a:pt x="1451343" y="858646"/>
                </a:lnTo>
                <a:lnTo>
                  <a:pt x="1421395" y="857077"/>
                </a:lnTo>
                <a:lnTo>
                  <a:pt x="1391520" y="854463"/>
                </a:lnTo>
                <a:lnTo>
                  <a:pt x="1361754" y="850808"/>
                </a:lnTo>
                <a:lnTo>
                  <a:pt x="1332134" y="846117"/>
                </a:lnTo>
                <a:lnTo>
                  <a:pt x="1302696" y="840395"/>
                </a:lnTo>
                <a:lnTo>
                  <a:pt x="1273475" y="833649"/>
                </a:lnTo>
                <a:lnTo>
                  <a:pt x="1244508" y="825887"/>
                </a:lnTo>
                <a:lnTo>
                  <a:pt x="1215829" y="817119"/>
                </a:lnTo>
                <a:lnTo>
                  <a:pt x="1187474" y="807355"/>
                </a:lnTo>
                <a:lnTo>
                  <a:pt x="1159477" y="796608"/>
                </a:lnTo>
                <a:lnTo>
                  <a:pt x="1131871" y="784891"/>
                </a:lnTo>
                <a:lnTo>
                  <a:pt x="1104692" y="772217"/>
                </a:lnTo>
                <a:lnTo>
                  <a:pt x="1077972" y="758602"/>
                </a:lnTo>
                <a:lnTo>
                  <a:pt x="1051742" y="744063"/>
                </a:lnTo>
                <a:lnTo>
                  <a:pt x="1026037" y="728617"/>
                </a:lnTo>
                <a:lnTo>
                  <a:pt x="1000886" y="712284"/>
                </a:lnTo>
                <a:lnTo>
                  <a:pt x="976320" y="695083"/>
                </a:lnTo>
                <a:lnTo>
                  <a:pt x="952369" y="677035"/>
                </a:lnTo>
                <a:lnTo>
                  <a:pt x="929064" y="658162"/>
                </a:lnTo>
                <a:lnTo>
                  <a:pt x="906430" y="638487"/>
                </a:lnTo>
                <a:lnTo>
                  <a:pt x="884498" y="618035"/>
                </a:lnTo>
                <a:lnTo>
                  <a:pt x="863292" y="596829"/>
                </a:lnTo>
                <a:lnTo>
                  <a:pt x="842840" y="574897"/>
                </a:lnTo>
                <a:lnTo>
                  <a:pt x="823165" y="552263"/>
                </a:lnTo>
                <a:lnTo>
                  <a:pt x="804292" y="528958"/>
                </a:lnTo>
                <a:lnTo>
                  <a:pt x="786244" y="505007"/>
                </a:lnTo>
                <a:lnTo>
                  <a:pt x="769043" y="480441"/>
                </a:lnTo>
                <a:lnTo>
                  <a:pt x="752710" y="455290"/>
                </a:lnTo>
                <a:lnTo>
                  <a:pt x="737264" y="429585"/>
                </a:lnTo>
                <a:lnTo>
                  <a:pt x="722725" y="403355"/>
                </a:lnTo>
                <a:lnTo>
                  <a:pt x="709110" y="376635"/>
                </a:lnTo>
                <a:lnTo>
                  <a:pt x="696436" y="349456"/>
                </a:lnTo>
                <a:lnTo>
                  <a:pt x="684719" y="321850"/>
                </a:lnTo>
                <a:lnTo>
                  <a:pt x="673972" y="293853"/>
                </a:lnTo>
                <a:lnTo>
                  <a:pt x="664208" y="265498"/>
                </a:lnTo>
                <a:lnTo>
                  <a:pt x="655440" y="236819"/>
                </a:lnTo>
                <a:lnTo>
                  <a:pt x="647678" y="207852"/>
                </a:lnTo>
                <a:lnTo>
                  <a:pt x="640932" y="178631"/>
                </a:lnTo>
                <a:lnTo>
                  <a:pt x="635210" y="149193"/>
                </a:lnTo>
                <a:lnTo>
                  <a:pt x="630519" y="119573"/>
                </a:lnTo>
                <a:lnTo>
                  <a:pt x="626864" y="89807"/>
                </a:lnTo>
                <a:lnTo>
                  <a:pt x="624250" y="59932"/>
                </a:lnTo>
                <a:lnTo>
                  <a:pt x="622681" y="29984"/>
                </a:lnTo>
                <a:lnTo>
                  <a:pt x="622157" y="0"/>
                </a:lnTo>
                <a:close/>
              </a:path>
            </a:pathLst>
          </a:custGeom>
          <a:solidFill>
            <a:srgbClr val="55992E"/>
          </a:solidFill>
          <a:ln>
            <a:noFill/>
          </a:ln>
        </p:spPr>
        <p:txBody>
          <a:bodyPr rtlCol="0" anchor="ctr"/>
          <a:lstStyle/>
          <a:p>
            <a:pPr algn="ctr"/>
          </a:p>
        </p:txBody>
      </p:sp>
      <p:cxnSp>
        <p:nvCxnSpPr>
          <p:cNvPr id="13" name="Connector 12"/>
          <p:cNvCxnSpPr/>
          <p:nvPr/>
        </p:nvCxnSpPr>
        <p:spPr>
          <a:xfrm flipH="1">
            <a:off x="1508760" y="3730752"/>
            <a:ext cx="622157" cy="0"/>
          </a:xfrm>
          <a:prstGeom prst="line">
            <a:avLst/>
          </a:prstGeom>
          <a:ln w="31750">
            <a:solidFill>
              <a:srgbClr val="FFFFFF"/>
            </a:solidFill>
          </a:ln>
        </p:spPr>
      </p:cxnSp>
      <p:cxnSp>
        <p:nvCxnSpPr>
          <p:cNvPr id="14" name="Connector 13"/>
          <p:cNvCxnSpPr/>
          <p:nvPr/>
        </p:nvCxnSpPr>
        <p:spPr>
          <a:xfrm flipV="1">
            <a:off x="2990088" y="2249424"/>
            <a:ext cx="0" cy="622157"/>
          </a:xfrm>
          <a:prstGeom prst="line">
            <a:avLst/>
          </a:prstGeom>
          <a:ln w="31750">
            <a:solidFill>
              <a:srgbClr val="FFFFFF"/>
            </a:solidFill>
          </a:ln>
        </p:spPr>
      </p:cxnSp>
      <p:cxnSp>
        <p:nvCxnSpPr>
          <p:cNvPr id="15" name="Connector 14"/>
          <p:cNvCxnSpPr/>
          <p:nvPr/>
        </p:nvCxnSpPr>
        <p:spPr>
          <a:xfrm>
            <a:off x="3849258" y="3730752"/>
            <a:ext cx="622158" cy="0"/>
          </a:xfrm>
          <a:prstGeom prst="line">
            <a:avLst/>
          </a:prstGeom>
          <a:ln w="31750">
            <a:solidFill>
              <a:srgbClr val="FFFFFF"/>
            </a:solidFill>
          </a:ln>
        </p:spPr>
      </p:cxnSp>
      <p:cxnSp>
        <p:nvCxnSpPr>
          <p:cNvPr id="16" name="Connector 15"/>
          <p:cNvCxnSpPr/>
          <p:nvPr/>
        </p:nvCxnSpPr>
        <p:spPr>
          <a:xfrm>
            <a:off x="2990088" y="4589922"/>
            <a:ext cx="0" cy="223977"/>
          </a:xfrm>
          <a:prstGeom prst="line">
            <a:avLst/>
          </a:prstGeom>
          <a:ln w="31750">
            <a:solidFill>
              <a:srgbClr val="FFFFFF"/>
            </a:solidFill>
          </a:ln>
        </p:spPr>
      </p:cxnSp>
      <p:sp>
        <p:nvSpPr>
          <p:cNvPr id="17" name="Oval 16"/>
          <p:cNvSpPr/>
          <p:nvPr/>
        </p:nvSpPr>
        <p:spPr>
          <a:xfrm>
            <a:off x="2249424" y="2990088"/>
            <a:ext cx="1481328" cy="1481328"/>
          </a:xfrm>
          <a:prstGeom prst="ellipse">
            <a:avLst/>
          </a:prstGeom>
          <a:solidFill>
            <a:srgbClr val="FFFFFF"/>
          </a:solidFill>
          <a:ln w="19050">
            <a:solidFill>
              <a:srgbClr val="D9D9D9"/>
            </a:solidFill>
          </a:ln>
          <a:effectLst/>
        </p:spPr>
        <p:txBody>
          <a:bodyPr rtlCol="0" anchor="ctr"/>
          <a:lstStyle/>
          <a:p/>
        </p:txBody>
      </p:sp>
      <p:sp>
        <p:nvSpPr>
          <p:cNvPr id="18" name="Freeform 17"/>
          <p:cNvSpPr/>
          <p:nvPr/>
        </p:nvSpPr>
        <p:spPr>
          <a:xfrm>
            <a:off x="1108801" y="1891009"/>
            <a:ext cx="1488111" cy="1839743"/>
          </a:xfrm>
          <a:custGeom>
            <a:avLst/>
            <a:gdLst/>
            <a:ahLst/>
            <a:cxnLst/>
            <a:rect l="l" t="t" r="r" b="b"/>
            <a:pathLst>
              <a:path w="1488111" h="1839743">
                <a:moveTo>
                  <a:pt x="399959" y="1839743"/>
                </a:moveTo>
                <a:lnTo>
                  <a:pt x="0" y="1839743"/>
                </a:lnTo>
                <a:lnTo>
                  <a:pt x="1088" y="1775779"/>
                </a:lnTo>
                <a:lnTo>
                  <a:pt x="4349" y="1711890"/>
                </a:lnTo>
                <a:lnTo>
                  <a:pt x="9782" y="1648149"/>
                </a:lnTo>
                <a:lnTo>
                  <a:pt x="17378" y="1584629"/>
                </a:lnTo>
                <a:lnTo>
                  <a:pt x="27129" y="1521404"/>
                </a:lnTo>
                <a:lnTo>
                  <a:pt x="39025" y="1458547"/>
                </a:lnTo>
                <a:lnTo>
                  <a:pt x="53050" y="1396131"/>
                </a:lnTo>
                <a:lnTo>
                  <a:pt x="69190" y="1334228"/>
                </a:lnTo>
                <a:lnTo>
                  <a:pt x="87425" y="1272909"/>
                </a:lnTo>
                <a:lnTo>
                  <a:pt x="107734" y="1212246"/>
                </a:lnTo>
                <a:lnTo>
                  <a:pt x="130094" y="1152309"/>
                </a:lnTo>
                <a:lnTo>
                  <a:pt x="154479" y="1093166"/>
                </a:lnTo>
                <a:lnTo>
                  <a:pt x="180861" y="1034887"/>
                </a:lnTo>
                <a:lnTo>
                  <a:pt x="209209" y="977538"/>
                </a:lnTo>
                <a:lnTo>
                  <a:pt x="239490" y="921187"/>
                </a:lnTo>
                <a:lnTo>
                  <a:pt x="271670" y="865897"/>
                </a:lnTo>
                <a:lnTo>
                  <a:pt x="305711" y="811734"/>
                </a:lnTo>
                <a:lnTo>
                  <a:pt x="341574" y="758759"/>
                </a:lnTo>
                <a:lnTo>
                  <a:pt x="379218" y="707034"/>
                </a:lnTo>
                <a:lnTo>
                  <a:pt x="418598" y="656619"/>
                </a:lnTo>
                <a:lnTo>
                  <a:pt x="459669" y="607572"/>
                </a:lnTo>
                <a:lnTo>
                  <a:pt x="502385" y="559950"/>
                </a:lnTo>
                <a:lnTo>
                  <a:pt x="546695" y="513807"/>
                </a:lnTo>
                <a:lnTo>
                  <a:pt x="592548" y="469198"/>
                </a:lnTo>
                <a:lnTo>
                  <a:pt x="639891" y="426174"/>
                </a:lnTo>
                <a:lnTo>
                  <a:pt x="688670" y="384784"/>
                </a:lnTo>
                <a:lnTo>
                  <a:pt x="738827" y="345077"/>
                </a:lnTo>
                <a:lnTo>
                  <a:pt x="790306" y="307097"/>
                </a:lnTo>
                <a:lnTo>
                  <a:pt x="843046" y="270891"/>
                </a:lnTo>
                <a:lnTo>
                  <a:pt x="896987" y="236498"/>
                </a:lnTo>
                <a:lnTo>
                  <a:pt x="952066" y="203959"/>
                </a:lnTo>
                <a:lnTo>
                  <a:pt x="1008220" y="173311"/>
                </a:lnTo>
                <a:lnTo>
                  <a:pt x="1065383" y="144591"/>
                </a:lnTo>
                <a:lnTo>
                  <a:pt x="1123489" y="117830"/>
                </a:lnTo>
                <a:lnTo>
                  <a:pt x="1182472" y="93061"/>
                </a:lnTo>
                <a:lnTo>
                  <a:pt x="1242262" y="70311"/>
                </a:lnTo>
                <a:lnTo>
                  <a:pt x="1302792" y="49608"/>
                </a:lnTo>
                <a:lnTo>
                  <a:pt x="1363991" y="30974"/>
                </a:lnTo>
                <a:lnTo>
                  <a:pt x="1425787" y="14432"/>
                </a:lnTo>
                <a:lnTo>
                  <a:pt x="1488111" y="0"/>
                </a:lnTo>
              </a:path>
            </a:pathLst>
          </a:custGeom>
          <a:noFill/>
          <a:ln w="38100">
            <a:solidFill>
              <a:srgbClr val="1F86BF"/>
            </a:solidFill>
          </a:ln>
        </p:spPr>
        <p:txBody>
          <a:bodyPr rtlCol="0" anchor="ctr"/>
          <a:lstStyle/>
          <a:p>
            <a:pPr algn="ctr"/>
          </a:p>
        </p:txBody>
      </p:sp>
      <p:sp>
        <p:nvSpPr>
          <p:cNvPr id="19" name="Freeform 18"/>
          <p:cNvSpPr/>
          <p:nvPr/>
        </p:nvSpPr>
        <p:spPr>
          <a:xfrm>
            <a:off x="2578566" y="1805165"/>
            <a:ext cx="197187" cy="171688"/>
          </a:xfrm>
          <a:custGeom>
            <a:avLst/>
            <a:gdLst/>
            <a:ahLst/>
            <a:cxnLst/>
            <a:rect l="l" t="t" r="r" b="b"/>
            <a:pathLst>
              <a:path w="197187" h="171688">
                <a:moveTo>
                  <a:pt x="197187" y="47624"/>
                </a:moveTo>
                <a:lnTo>
                  <a:pt x="36692" y="171688"/>
                </a:lnTo>
                <a:lnTo>
                  <a:pt x="0" y="0"/>
                </a:lnTo>
                <a:close/>
              </a:path>
            </a:pathLst>
          </a:custGeom>
          <a:solidFill>
            <a:srgbClr val="1F86BF"/>
          </a:solidFill>
          <a:ln>
            <a:noFill/>
          </a:ln>
        </p:spPr>
        <p:txBody>
          <a:bodyPr rtlCol="0" anchor="ctr"/>
          <a:lstStyle/>
          <a:p>
            <a:pPr algn="ctr"/>
          </a:p>
        </p:txBody>
      </p:sp>
      <p:sp>
        <p:nvSpPr>
          <p:cNvPr id="20" name="Freeform 19"/>
          <p:cNvSpPr/>
          <p:nvPr/>
        </p:nvSpPr>
        <p:spPr>
          <a:xfrm>
            <a:off x="2990088" y="1849465"/>
            <a:ext cx="1839742" cy="1488111"/>
          </a:xfrm>
          <a:custGeom>
            <a:avLst/>
            <a:gdLst/>
            <a:ahLst/>
            <a:cxnLst/>
            <a:rect l="l" t="t" r="r" b="b"/>
            <a:pathLst>
              <a:path w="1839742" h="1488111">
                <a:moveTo>
                  <a:pt x="0" y="399959"/>
                </a:moveTo>
                <a:lnTo>
                  <a:pt x="0" y="0"/>
                </a:lnTo>
                <a:lnTo>
                  <a:pt x="63963" y="1088"/>
                </a:lnTo>
                <a:lnTo>
                  <a:pt x="127852" y="4349"/>
                </a:lnTo>
                <a:lnTo>
                  <a:pt x="191593" y="9782"/>
                </a:lnTo>
                <a:lnTo>
                  <a:pt x="255113" y="17378"/>
                </a:lnTo>
                <a:lnTo>
                  <a:pt x="318338" y="27129"/>
                </a:lnTo>
                <a:lnTo>
                  <a:pt x="381195" y="39025"/>
                </a:lnTo>
                <a:lnTo>
                  <a:pt x="443611" y="53050"/>
                </a:lnTo>
                <a:lnTo>
                  <a:pt x="505514" y="69190"/>
                </a:lnTo>
                <a:lnTo>
                  <a:pt x="566833" y="87425"/>
                </a:lnTo>
                <a:lnTo>
                  <a:pt x="627496" y="107734"/>
                </a:lnTo>
                <a:lnTo>
                  <a:pt x="687433" y="130094"/>
                </a:lnTo>
                <a:lnTo>
                  <a:pt x="746576" y="154479"/>
                </a:lnTo>
                <a:lnTo>
                  <a:pt x="804855" y="180861"/>
                </a:lnTo>
                <a:lnTo>
                  <a:pt x="862204" y="209209"/>
                </a:lnTo>
                <a:lnTo>
                  <a:pt x="918555" y="239490"/>
                </a:lnTo>
                <a:lnTo>
                  <a:pt x="973845" y="271670"/>
                </a:lnTo>
                <a:lnTo>
                  <a:pt x="1028008" y="305711"/>
                </a:lnTo>
                <a:lnTo>
                  <a:pt x="1080983" y="341574"/>
                </a:lnTo>
                <a:lnTo>
                  <a:pt x="1132708" y="379218"/>
                </a:lnTo>
                <a:lnTo>
                  <a:pt x="1183123" y="418598"/>
                </a:lnTo>
                <a:lnTo>
                  <a:pt x="1232170" y="459669"/>
                </a:lnTo>
                <a:lnTo>
                  <a:pt x="1279792" y="502385"/>
                </a:lnTo>
                <a:lnTo>
                  <a:pt x="1325935" y="546695"/>
                </a:lnTo>
                <a:lnTo>
                  <a:pt x="1370544" y="592548"/>
                </a:lnTo>
                <a:lnTo>
                  <a:pt x="1413568" y="639891"/>
                </a:lnTo>
                <a:lnTo>
                  <a:pt x="1454958" y="688670"/>
                </a:lnTo>
                <a:lnTo>
                  <a:pt x="1494665" y="738827"/>
                </a:lnTo>
                <a:lnTo>
                  <a:pt x="1532645" y="790306"/>
                </a:lnTo>
                <a:lnTo>
                  <a:pt x="1568851" y="843046"/>
                </a:lnTo>
                <a:lnTo>
                  <a:pt x="1603244" y="896987"/>
                </a:lnTo>
                <a:lnTo>
                  <a:pt x="1635783" y="952066"/>
                </a:lnTo>
                <a:lnTo>
                  <a:pt x="1666431" y="1008220"/>
                </a:lnTo>
                <a:lnTo>
                  <a:pt x="1695151" y="1065383"/>
                </a:lnTo>
                <a:lnTo>
                  <a:pt x="1721912" y="1123489"/>
                </a:lnTo>
                <a:lnTo>
                  <a:pt x="1746681" y="1182472"/>
                </a:lnTo>
                <a:lnTo>
                  <a:pt x="1769431" y="1242262"/>
                </a:lnTo>
                <a:lnTo>
                  <a:pt x="1790134" y="1302792"/>
                </a:lnTo>
                <a:lnTo>
                  <a:pt x="1808768" y="1363991"/>
                </a:lnTo>
                <a:lnTo>
                  <a:pt x="1825310" y="1425787"/>
                </a:lnTo>
                <a:lnTo>
                  <a:pt x="1839742" y="1488111"/>
                </a:lnTo>
              </a:path>
            </a:pathLst>
          </a:custGeom>
          <a:noFill/>
          <a:ln w="38100">
            <a:solidFill>
              <a:srgbClr val="D97316"/>
            </a:solidFill>
          </a:ln>
        </p:spPr>
        <p:txBody>
          <a:bodyPr rtlCol="0" anchor="ctr"/>
          <a:lstStyle/>
          <a:p>
            <a:pPr algn="ctr"/>
          </a:p>
        </p:txBody>
      </p:sp>
      <p:sp>
        <p:nvSpPr>
          <p:cNvPr id="21" name="Freeform 20"/>
          <p:cNvSpPr/>
          <p:nvPr/>
        </p:nvSpPr>
        <p:spPr>
          <a:xfrm>
            <a:off x="4743986" y="3319230"/>
            <a:ext cx="171688" cy="197187"/>
          </a:xfrm>
          <a:custGeom>
            <a:avLst/>
            <a:gdLst/>
            <a:ahLst/>
            <a:cxnLst/>
            <a:rect l="l" t="t" r="r" b="b"/>
            <a:pathLst>
              <a:path w="171688" h="197187">
                <a:moveTo>
                  <a:pt x="124064" y="197187"/>
                </a:moveTo>
                <a:lnTo>
                  <a:pt x="0" y="36692"/>
                </a:lnTo>
                <a:lnTo>
                  <a:pt x="171688" y="0"/>
                </a:lnTo>
                <a:close/>
              </a:path>
            </a:pathLst>
          </a:custGeom>
          <a:solidFill>
            <a:srgbClr val="D97316"/>
          </a:solidFill>
          <a:ln>
            <a:noFill/>
          </a:ln>
        </p:spPr>
        <p:txBody>
          <a:bodyPr rtlCol="0" anchor="ctr"/>
          <a:lstStyle/>
          <a:p>
            <a:pPr algn="ctr"/>
          </a:p>
        </p:txBody>
      </p:sp>
      <p:sp>
        <p:nvSpPr>
          <p:cNvPr id="22" name="Freeform 21"/>
          <p:cNvSpPr/>
          <p:nvPr/>
        </p:nvSpPr>
        <p:spPr>
          <a:xfrm>
            <a:off x="3383263" y="3730752"/>
            <a:ext cx="1488111" cy="1839742"/>
          </a:xfrm>
          <a:custGeom>
            <a:avLst/>
            <a:gdLst/>
            <a:ahLst/>
            <a:cxnLst/>
            <a:rect l="l" t="t" r="r" b="b"/>
            <a:pathLst>
              <a:path w="1488111" h="1839742">
                <a:moveTo>
                  <a:pt x="1088153" y="0"/>
                </a:moveTo>
                <a:lnTo>
                  <a:pt x="1488111" y="0"/>
                </a:lnTo>
                <a:lnTo>
                  <a:pt x="1487023" y="63963"/>
                </a:lnTo>
                <a:lnTo>
                  <a:pt x="1483762" y="127852"/>
                </a:lnTo>
                <a:lnTo>
                  <a:pt x="1478329" y="191593"/>
                </a:lnTo>
                <a:lnTo>
                  <a:pt x="1470733" y="255113"/>
                </a:lnTo>
                <a:lnTo>
                  <a:pt x="1460982" y="318338"/>
                </a:lnTo>
                <a:lnTo>
                  <a:pt x="1449086" y="381195"/>
                </a:lnTo>
                <a:lnTo>
                  <a:pt x="1435061" y="443611"/>
                </a:lnTo>
                <a:lnTo>
                  <a:pt x="1418921" y="505514"/>
                </a:lnTo>
                <a:lnTo>
                  <a:pt x="1400686" y="566833"/>
                </a:lnTo>
                <a:lnTo>
                  <a:pt x="1380377" y="627496"/>
                </a:lnTo>
                <a:lnTo>
                  <a:pt x="1358017" y="687433"/>
                </a:lnTo>
                <a:lnTo>
                  <a:pt x="1333632" y="746576"/>
                </a:lnTo>
                <a:lnTo>
                  <a:pt x="1307250" y="804855"/>
                </a:lnTo>
                <a:lnTo>
                  <a:pt x="1278902" y="862204"/>
                </a:lnTo>
                <a:lnTo>
                  <a:pt x="1248621" y="918555"/>
                </a:lnTo>
                <a:lnTo>
                  <a:pt x="1216441" y="973845"/>
                </a:lnTo>
                <a:lnTo>
                  <a:pt x="1182400" y="1028008"/>
                </a:lnTo>
                <a:lnTo>
                  <a:pt x="1146537" y="1080983"/>
                </a:lnTo>
                <a:lnTo>
                  <a:pt x="1108893" y="1132708"/>
                </a:lnTo>
                <a:lnTo>
                  <a:pt x="1069513" y="1183123"/>
                </a:lnTo>
                <a:lnTo>
                  <a:pt x="1028442" y="1232170"/>
                </a:lnTo>
                <a:lnTo>
                  <a:pt x="985726" y="1279792"/>
                </a:lnTo>
                <a:lnTo>
                  <a:pt x="941416" y="1325935"/>
                </a:lnTo>
                <a:lnTo>
                  <a:pt x="895563" y="1370544"/>
                </a:lnTo>
                <a:lnTo>
                  <a:pt x="848220" y="1413568"/>
                </a:lnTo>
                <a:lnTo>
                  <a:pt x="799441" y="1454958"/>
                </a:lnTo>
                <a:lnTo>
                  <a:pt x="749284" y="1494665"/>
                </a:lnTo>
                <a:lnTo>
                  <a:pt x="697805" y="1532645"/>
                </a:lnTo>
                <a:lnTo>
                  <a:pt x="645065" y="1568851"/>
                </a:lnTo>
                <a:lnTo>
                  <a:pt x="591124" y="1603244"/>
                </a:lnTo>
                <a:lnTo>
                  <a:pt x="536045" y="1635783"/>
                </a:lnTo>
                <a:lnTo>
                  <a:pt x="479891" y="1666431"/>
                </a:lnTo>
                <a:lnTo>
                  <a:pt x="422728" y="1695151"/>
                </a:lnTo>
                <a:lnTo>
                  <a:pt x="364622" y="1721912"/>
                </a:lnTo>
                <a:lnTo>
                  <a:pt x="305639" y="1746681"/>
                </a:lnTo>
                <a:lnTo>
                  <a:pt x="245849" y="1769431"/>
                </a:lnTo>
                <a:lnTo>
                  <a:pt x="185319" y="1790134"/>
                </a:lnTo>
                <a:lnTo>
                  <a:pt x="124120" y="1808768"/>
                </a:lnTo>
                <a:lnTo>
                  <a:pt x="62324" y="1825310"/>
                </a:lnTo>
                <a:lnTo>
                  <a:pt x="0" y="1839742"/>
                </a:lnTo>
              </a:path>
            </a:pathLst>
          </a:custGeom>
          <a:noFill/>
          <a:ln w="38100">
            <a:solidFill>
              <a:srgbClr val="CC3333"/>
            </a:solidFill>
          </a:ln>
        </p:spPr>
        <p:txBody>
          <a:bodyPr rtlCol="0" anchor="ctr"/>
          <a:lstStyle/>
          <a:p>
            <a:pPr algn="ctr"/>
          </a:p>
        </p:txBody>
      </p:sp>
      <p:sp>
        <p:nvSpPr>
          <p:cNvPr id="23" name="Freeform 22"/>
          <p:cNvSpPr/>
          <p:nvPr/>
        </p:nvSpPr>
        <p:spPr>
          <a:xfrm>
            <a:off x="3204422" y="5484650"/>
            <a:ext cx="197187" cy="171688"/>
          </a:xfrm>
          <a:custGeom>
            <a:avLst/>
            <a:gdLst/>
            <a:ahLst/>
            <a:cxnLst/>
            <a:rect l="l" t="t" r="r" b="b"/>
            <a:pathLst>
              <a:path w="197187" h="171688">
                <a:moveTo>
                  <a:pt x="0" y="124064"/>
                </a:moveTo>
                <a:lnTo>
                  <a:pt x="160495" y="0"/>
                </a:lnTo>
                <a:lnTo>
                  <a:pt x="197187" y="171688"/>
                </a:lnTo>
                <a:close/>
              </a:path>
            </a:pathLst>
          </a:custGeom>
          <a:solidFill>
            <a:srgbClr val="CC3333"/>
          </a:solidFill>
          <a:ln>
            <a:noFill/>
          </a:ln>
        </p:spPr>
        <p:txBody>
          <a:bodyPr rtlCol="0" anchor="ctr"/>
          <a:lstStyle/>
          <a:p>
            <a:pPr algn="ctr"/>
          </a:p>
        </p:txBody>
      </p:sp>
      <p:sp>
        <p:nvSpPr>
          <p:cNvPr id="24" name="Freeform 23"/>
          <p:cNvSpPr/>
          <p:nvPr/>
        </p:nvSpPr>
        <p:spPr>
          <a:xfrm>
            <a:off x="1150345" y="4123927"/>
            <a:ext cx="1839743" cy="1488111"/>
          </a:xfrm>
          <a:custGeom>
            <a:avLst/>
            <a:gdLst/>
            <a:ahLst/>
            <a:cxnLst/>
            <a:rect l="l" t="t" r="r" b="b"/>
            <a:pathLst>
              <a:path w="1839743" h="1488111">
                <a:moveTo>
                  <a:pt x="1839743" y="1088153"/>
                </a:moveTo>
                <a:lnTo>
                  <a:pt x="1839743" y="1488111"/>
                </a:lnTo>
                <a:lnTo>
                  <a:pt x="1775779" y="1487023"/>
                </a:lnTo>
                <a:lnTo>
                  <a:pt x="1711890" y="1483762"/>
                </a:lnTo>
                <a:lnTo>
                  <a:pt x="1648149" y="1478329"/>
                </a:lnTo>
                <a:lnTo>
                  <a:pt x="1584629" y="1470733"/>
                </a:lnTo>
                <a:lnTo>
                  <a:pt x="1521404" y="1460982"/>
                </a:lnTo>
                <a:lnTo>
                  <a:pt x="1458547" y="1449086"/>
                </a:lnTo>
                <a:lnTo>
                  <a:pt x="1396131" y="1435061"/>
                </a:lnTo>
                <a:lnTo>
                  <a:pt x="1334228" y="1418921"/>
                </a:lnTo>
                <a:lnTo>
                  <a:pt x="1272909" y="1400686"/>
                </a:lnTo>
                <a:lnTo>
                  <a:pt x="1212246" y="1380377"/>
                </a:lnTo>
                <a:lnTo>
                  <a:pt x="1152309" y="1358017"/>
                </a:lnTo>
                <a:lnTo>
                  <a:pt x="1093166" y="1333632"/>
                </a:lnTo>
                <a:lnTo>
                  <a:pt x="1034887" y="1307250"/>
                </a:lnTo>
                <a:lnTo>
                  <a:pt x="977538" y="1278902"/>
                </a:lnTo>
                <a:lnTo>
                  <a:pt x="921187" y="1248621"/>
                </a:lnTo>
                <a:lnTo>
                  <a:pt x="865897" y="1216441"/>
                </a:lnTo>
                <a:lnTo>
                  <a:pt x="811734" y="1182400"/>
                </a:lnTo>
                <a:lnTo>
                  <a:pt x="758759" y="1146537"/>
                </a:lnTo>
                <a:lnTo>
                  <a:pt x="707034" y="1108893"/>
                </a:lnTo>
                <a:lnTo>
                  <a:pt x="656619" y="1069513"/>
                </a:lnTo>
                <a:lnTo>
                  <a:pt x="607572" y="1028442"/>
                </a:lnTo>
                <a:lnTo>
                  <a:pt x="559950" y="985726"/>
                </a:lnTo>
                <a:lnTo>
                  <a:pt x="513807" y="941416"/>
                </a:lnTo>
                <a:lnTo>
                  <a:pt x="469198" y="895563"/>
                </a:lnTo>
                <a:lnTo>
                  <a:pt x="426174" y="848220"/>
                </a:lnTo>
                <a:lnTo>
                  <a:pt x="384784" y="799441"/>
                </a:lnTo>
                <a:lnTo>
                  <a:pt x="345077" y="749284"/>
                </a:lnTo>
                <a:lnTo>
                  <a:pt x="307097" y="697805"/>
                </a:lnTo>
                <a:lnTo>
                  <a:pt x="270891" y="645065"/>
                </a:lnTo>
                <a:lnTo>
                  <a:pt x="236498" y="591124"/>
                </a:lnTo>
                <a:lnTo>
                  <a:pt x="203959" y="536045"/>
                </a:lnTo>
                <a:lnTo>
                  <a:pt x="173311" y="479891"/>
                </a:lnTo>
                <a:lnTo>
                  <a:pt x="144591" y="422728"/>
                </a:lnTo>
                <a:lnTo>
                  <a:pt x="117830" y="364622"/>
                </a:lnTo>
                <a:lnTo>
                  <a:pt x="93061" y="305639"/>
                </a:lnTo>
                <a:lnTo>
                  <a:pt x="70311" y="245849"/>
                </a:lnTo>
                <a:lnTo>
                  <a:pt x="49608" y="185319"/>
                </a:lnTo>
                <a:lnTo>
                  <a:pt x="30974" y="124120"/>
                </a:lnTo>
                <a:lnTo>
                  <a:pt x="14432" y="62324"/>
                </a:lnTo>
                <a:lnTo>
                  <a:pt x="0" y="0"/>
                </a:lnTo>
              </a:path>
            </a:pathLst>
          </a:custGeom>
          <a:noFill/>
          <a:ln w="38100">
            <a:solidFill>
              <a:srgbClr val="55992E"/>
            </a:solidFill>
          </a:ln>
        </p:spPr>
        <p:txBody>
          <a:bodyPr rtlCol="0" anchor="ctr"/>
          <a:lstStyle/>
          <a:p>
            <a:pPr algn="ctr"/>
          </a:p>
        </p:txBody>
      </p:sp>
      <p:sp>
        <p:nvSpPr>
          <p:cNvPr id="25" name="Freeform 24"/>
          <p:cNvSpPr/>
          <p:nvPr/>
        </p:nvSpPr>
        <p:spPr>
          <a:xfrm>
            <a:off x="1064501" y="3945086"/>
            <a:ext cx="171688" cy="197187"/>
          </a:xfrm>
          <a:custGeom>
            <a:avLst/>
            <a:gdLst/>
            <a:ahLst/>
            <a:cxnLst/>
            <a:rect l="l" t="t" r="r" b="b"/>
            <a:pathLst>
              <a:path w="171688" h="197187">
                <a:moveTo>
                  <a:pt x="47624" y="0"/>
                </a:moveTo>
                <a:lnTo>
                  <a:pt x="171688" y="160495"/>
                </a:lnTo>
                <a:lnTo>
                  <a:pt x="0" y="197187"/>
                </a:lnTo>
                <a:close/>
              </a:path>
            </a:pathLst>
          </a:custGeom>
          <a:solidFill>
            <a:srgbClr val="55992E"/>
          </a:solidFill>
          <a:ln>
            <a:noFill/>
          </a:ln>
        </p:spPr>
        <p:txBody>
          <a:bodyPr rtlCol="0" anchor="ctr"/>
          <a:lstStyle/>
          <a:p>
            <a:pPr algn="ctr"/>
          </a:p>
        </p:txBody>
      </p:sp>
      <p:sp>
        <p:nvSpPr>
          <p:cNvPr id="26" name="Rounded Rectangle 25"/>
          <p:cNvSpPr/>
          <p:nvPr/>
        </p:nvSpPr>
        <p:spPr>
          <a:xfrm>
            <a:off x="4975067" y="3093780"/>
            <a:ext cx="355518" cy="1273942"/>
          </a:xfrm>
          <a:prstGeom prst="roundRect">
            <a:avLst>
              <a:gd name="adj" fmla="val 12000"/>
            </a:avLst>
          </a:prstGeom>
          <a:solidFill>
            <a:srgbClr val="D33327"/>
          </a:solidFill>
          <a:ln w="19050">
            <a:solidFill>
              <a:srgbClr val="FFFFFF"/>
            </a:solidFill>
          </a:ln>
          <a:effectLst/>
        </p:spPr>
        <p:txBody>
          <a:bodyPr rtlCol="0" anchor="ctr"/>
          <a:lstStyle/>
          <a:p/>
        </p:txBody>
      </p:sp>
      <p:sp>
        <p:nvSpPr>
          <p:cNvPr id="27" name="TextBox 26"/>
          <p:cNvSpPr txBox="1"/>
          <p:nvPr/>
        </p:nvSpPr>
        <p:spPr>
          <a:xfrm rot="5400000">
            <a:off x="4904696" y="3482622"/>
            <a:ext cx="496260" cy="496260"/>
          </a:xfrm>
          <a:prstGeom prst="rect">
            <a:avLst/>
          </a:prstGeom>
          <a:noFill/>
        </p:spPr>
        <p:txBody>
          <a:bodyPr wrap="square" anchor="ctr" lIns="0" rIns="0" tIns="0" bIns="0">
            <a:noAutofit/>
          </a:bodyPr>
          <a:lstStyle/>
          <a:p>
            <a:pPr algn="ctr">
              <a:spcBef>
                <a:spcPts val="0"/>
              </a:spcBef>
              <a:spcAft>
                <a:spcPts val="0"/>
              </a:spcAft>
            </a:pPr>
            <a:r>
              <a:rPr lang="tr-TR" sz="1539" b="1" i="0">
                <a:solidFill>
                  <a:srgbClr val="FFFFFF"/>
                </a:solidFill>
                <a:latin typeface="Calibri"/>
              </a:rPr>
              <a:t>AFET</a:t>
            </a:r>
          </a:p>
        </p:txBody>
      </p:sp>
      <p:sp>
        <p:nvSpPr>
          <p:cNvPr id="28" name="TextBox 27"/>
          <p:cNvSpPr txBox="1"/>
          <p:nvPr/>
        </p:nvSpPr>
        <p:spPr>
          <a:xfrm>
            <a:off x="2353116" y="3286353"/>
            <a:ext cx="1273942" cy="888796"/>
          </a:xfrm>
          <a:prstGeom prst="rect">
            <a:avLst/>
          </a:prstGeom>
          <a:noFill/>
        </p:spPr>
        <p:txBody>
          <a:bodyPr wrap="square" anchor="ctr" lIns="0" rIns="0" tIns="0" bIns="0">
            <a:noAutofit/>
          </a:bodyPr>
          <a:lstStyle/>
          <a:p>
            <a:pPr algn="ctr">
              <a:spcBef>
                <a:spcPts val="0"/>
              </a:spcBef>
              <a:spcAft>
                <a:spcPts val="0"/>
              </a:spcAft>
            </a:pPr>
            <a:r>
              <a:rPr lang="tr-TR" sz="1283" b="1" i="0">
                <a:solidFill>
                  <a:srgbClr val="262626"/>
                </a:solidFill>
                <a:latin typeface="Calibri"/>
              </a:rPr>
              <a:t>BÜTÜNCÜL</a:t>
            </a:r>
          </a:p>
          <a:p>
            <a:pPr algn="ctr">
              <a:spcBef>
                <a:spcPts val="0"/>
              </a:spcBef>
              <a:spcAft>
                <a:spcPts val="0"/>
              </a:spcAft>
            </a:pPr>
            <a:r>
              <a:rPr lang="tr-TR" sz="1283" b="1" i="0">
                <a:solidFill>
                  <a:srgbClr val="262626"/>
                </a:solidFill>
                <a:latin typeface="Calibri"/>
              </a:rPr>
              <a:t>AFET YÖNETİMİ</a:t>
            </a:r>
          </a:p>
        </p:txBody>
      </p:sp>
      <p:sp>
        <p:nvSpPr>
          <p:cNvPr id="29" name="Oval 28"/>
          <p:cNvSpPr/>
          <p:nvPr/>
        </p:nvSpPr>
        <p:spPr>
          <a:xfrm>
            <a:off x="1969728" y="2710392"/>
            <a:ext cx="385737" cy="385737"/>
          </a:xfrm>
          <a:prstGeom prst="ellipse">
            <a:avLst/>
          </a:prstGeom>
          <a:solidFill>
            <a:srgbClr val="FFFFFF"/>
          </a:solidFill>
          <a:ln w="25400">
            <a:solidFill>
              <a:srgbClr val="1F86BF"/>
            </a:solidFill>
          </a:ln>
          <a:effectLst/>
        </p:spPr>
        <p:txBody>
          <a:bodyPr rtlCol="0" anchor="ctr" wrap="none" lIns="0" rIns="0" tIns="0" bIns="0">
            <a:noAutofit/>
          </a:bodyPr>
          <a:lstStyle/>
          <a:p>
            <a:pPr algn="ctr">
              <a:spcBef>
                <a:spcPts val="0"/>
              </a:spcBef>
              <a:spcAft>
                <a:spcPts val="0"/>
              </a:spcAft>
            </a:pPr>
            <a:r>
              <a:rPr lang="tr-TR" sz="1670" b="1" i="0">
                <a:solidFill>
                  <a:srgbClr val="1F86BF"/>
                </a:solidFill>
                <a:latin typeface="Calibri"/>
              </a:rPr>
              <a:t>1</a:t>
            </a:r>
          </a:p>
        </p:txBody>
      </p:sp>
      <p:sp>
        <p:nvSpPr>
          <p:cNvPr id="30" name="Oval 29"/>
          <p:cNvSpPr/>
          <p:nvPr/>
        </p:nvSpPr>
        <p:spPr>
          <a:xfrm>
            <a:off x="3624710" y="2710392"/>
            <a:ext cx="385737" cy="385737"/>
          </a:xfrm>
          <a:prstGeom prst="ellipse">
            <a:avLst/>
          </a:prstGeom>
          <a:solidFill>
            <a:srgbClr val="FFFFFF"/>
          </a:solidFill>
          <a:ln w="25400">
            <a:solidFill>
              <a:srgbClr val="D97316"/>
            </a:solidFill>
          </a:ln>
          <a:effectLst/>
        </p:spPr>
        <p:txBody>
          <a:bodyPr rtlCol="0" anchor="ctr" wrap="none" lIns="0" rIns="0" tIns="0" bIns="0">
            <a:noAutofit/>
          </a:bodyPr>
          <a:lstStyle/>
          <a:p>
            <a:pPr algn="ctr">
              <a:spcBef>
                <a:spcPts val="0"/>
              </a:spcBef>
              <a:spcAft>
                <a:spcPts val="0"/>
              </a:spcAft>
            </a:pPr>
            <a:r>
              <a:rPr lang="tr-TR" sz="1670" b="1" i="0">
                <a:solidFill>
                  <a:srgbClr val="D97316"/>
                </a:solidFill>
                <a:latin typeface="Calibri"/>
              </a:rPr>
              <a:t>2</a:t>
            </a:r>
          </a:p>
        </p:txBody>
      </p:sp>
      <p:sp>
        <p:nvSpPr>
          <p:cNvPr id="31" name="Oval 30"/>
          <p:cNvSpPr/>
          <p:nvPr/>
        </p:nvSpPr>
        <p:spPr>
          <a:xfrm>
            <a:off x="3624710" y="4365374"/>
            <a:ext cx="385737" cy="385737"/>
          </a:xfrm>
          <a:prstGeom prst="ellipse">
            <a:avLst/>
          </a:prstGeom>
          <a:solidFill>
            <a:srgbClr val="FFFFFF"/>
          </a:solidFill>
          <a:ln w="25400">
            <a:solidFill>
              <a:srgbClr val="CC3333"/>
            </a:solidFill>
          </a:ln>
          <a:effectLst/>
        </p:spPr>
        <p:txBody>
          <a:bodyPr rtlCol="0" anchor="ctr" wrap="none" lIns="0" rIns="0" tIns="0" bIns="0">
            <a:noAutofit/>
          </a:bodyPr>
          <a:lstStyle/>
          <a:p>
            <a:pPr algn="ctr">
              <a:spcBef>
                <a:spcPts val="0"/>
              </a:spcBef>
              <a:spcAft>
                <a:spcPts val="0"/>
              </a:spcAft>
            </a:pPr>
            <a:r>
              <a:rPr lang="tr-TR" sz="1670" b="1" i="0">
                <a:solidFill>
                  <a:srgbClr val="CC3333"/>
                </a:solidFill>
                <a:latin typeface="Calibri"/>
              </a:rPr>
              <a:t>3</a:t>
            </a:r>
          </a:p>
        </p:txBody>
      </p:sp>
      <p:sp>
        <p:nvSpPr>
          <p:cNvPr id="32" name="Oval 31"/>
          <p:cNvSpPr/>
          <p:nvPr/>
        </p:nvSpPr>
        <p:spPr>
          <a:xfrm>
            <a:off x="1969728" y="4365374"/>
            <a:ext cx="385737" cy="385737"/>
          </a:xfrm>
          <a:prstGeom prst="ellipse">
            <a:avLst/>
          </a:prstGeom>
          <a:solidFill>
            <a:srgbClr val="FFFFFF"/>
          </a:solidFill>
          <a:ln w="25400">
            <a:solidFill>
              <a:srgbClr val="55992E"/>
            </a:solidFill>
          </a:ln>
          <a:effectLst/>
        </p:spPr>
        <p:txBody>
          <a:bodyPr rtlCol="0" anchor="ctr" wrap="none" lIns="0" rIns="0" tIns="0" bIns="0">
            <a:noAutofit/>
          </a:bodyPr>
          <a:lstStyle/>
          <a:p>
            <a:pPr algn="ctr">
              <a:spcBef>
                <a:spcPts val="0"/>
              </a:spcBef>
              <a:spcAft>
                <a:spcPts val="0"/>
              </a:spcAft>
            </a:pPr>
            <a:r>
              <a:rPr lang="tr-TR" sz="1670" b="1" i="0">
                <a:solidFill>
                  <a:srgbClr val="55992E"/>
                </a:solidFill>
                <a:latin typeface="Calibri"/>
              </a:rPr>
              <a:t>4</a:t>
            </a:r>
          </a:p>
        </p:txBody>
      </p:sp>
      <p:sp>
        <p:nvSpPr>
          <p:cNvPr id="33" name="Oval 32"/>
          <p:cNvSpPr/>
          <p:nvPr/>
        </p:nvSpPr>
        <p:spPr>
          <a:xfrm>
            <a:off x="2271062" y="2006854"/>
            <a:ext cx="287970" cy="287970"/>
          </a:xfrm>
          <a:prstGeom prst="ellipse">
            <a:avLst/>
          </a:prstGeom>
          <a:solidFill>
            <a:srgbClr val="FFFFFF"/>
          </a:solidFill>
          <a:ln w="25400">
            <a:solidFill>
              <a:srgbClr val="2A5F7E"/>
            </a:solidFill>
          </a:ln>
          <a:effectLst/>
        </p:spPr>
        <p:txBody>
          <a:bodyPr rtlCol="0" anchor="ctr" wrap="none" lIns="0" rIns="0" tIns="0" bIns="0">
            <a:noAutofit/>
          </a:bodyPr>
          <a:lstStyle/>
          <a:p>
            <a:pPr algn="ctr">
              <a:spcBef>
                <a:spcPts val="0"/>
              </a:spcBef>
              <a:spcAft>
                <a:spcPts val="0"/>
              </a:spcAft>
            </a:pPr>
            <a:r>
              <a:rPr lang="tr-TR" sz="1247" b="1" i="0">
                <a:solidFill>
                  <a:srgbClr val="2A5F7E"/>
                </a:solidFill>
                <a:latin typeface="Calibri"/>
              </a:rPr>
              <a:t>a</a:t>
            </a:r>
          </a:p>
        </p:txBody>
      </p:sp>
      <p:sp>
        <p:nvSpPr>
          <p:cNvPr id="34" name="Oval 33"/>
          <p:cNvSpPr/>
          <p:nvPr/>
        </p:nvSpPr>
        <p:spPr>
          <a:xfrm>
            <a:off x="4223349" y="2622408"/>
            <a:ext cx="287970" cy="287970"/>
          </a:xfrm>
          <a:prstGeom prst="ellipse">
            <a:avLst/>
          </a:prstGeom>
          <a:solidFill>
            <a:srgbClr val="FFFFFF"/>
          </a:solidFill>
          <a:ln w="25400">
            <a:solidFill>
              <a:srgbClr val="B05E10"/>
            </a:solidFill>
          </a:ln>
          <a:effectLst/>
        </p:spPr>
        <p:txBody>
          <a:bodyPr rtlCol="0" anchor="ctr" wrap="none" lIns="0" rIns="0" tIns="0" bIns="0">
            <a:noAutofit/>
          </a:bodyPr>
          <a:lstStyle/>
          <a:p>
            <a:pPr algn="ctr">
              <a:spcBef>
                <a:spcPts val="0"/>
              </a:spcBef>
              <a:spcAft>
                <a:spcPts val="0"/>
              </a:spcAft>
            </a:pPr>
            <a:r>
              <a:rPr lang="tr-TR" sz="1247" b="1" i="0">
                <a:solidFill>
                  <a:srgbClr val="B05E10"/>
                </a:solidFill>
                <a:latin typeface="Calibri"/>
              </a:rPr>
              <a:t>b</a:t>
            </a:r>
          </a:p>
        </p:txBody>
      </p:sp>
      <p:sp>
        <p:nvSpPr>
          <p:cNvPr id="35" name="Oval 34"/>
          <p:cNvSpPr/>
          <p:nvPr/>
        </p:nvSpPr>
        <p:spPr>
          <a:xfrm>
            <a:off x="3583139" y="5097915"/>
            <a:ext cx="287970" cy="287970"/>
          </a:xfrm>
          <a:prstGeom prst="ellipse">
            <a:avLst/>
          </a:prstGeom>
          <a:solidFill>
            <a:srgbClr val="FFFFFF"/>
          </a:solidFill>
          <a:ln w="25400">
            <a:solidFill>
              <a:srgbClr val="A6342F"/>
            </a:solidFill>
          </a:ln>
          <a:effectLst/>
        </p:spPr>
        <p:txBody>
          <a:bodyPr rtlCol="0" anchor="ctr" wrap="none" lIns="0" rIns="0" tIns="0" bIns="0">
            <a:noAutofit/>
          </a:bodyPr>
          <a:lstStyle/>
          <a:p>
            <a:pPr algn="ctr">
              <a:spcBef>
                <a:spcPts val="0"/>
              </a:spcBef>
              <a:spcAft>
                <a:spcPts val="0"/>
              </a:spcAft>
            </a:pPr>
            <a:r>
              <a:rPr lang="tr-TR" sz="1247" b="1" i="0">
                <a:solidFill>
                  <a:srgbClr val="A6342F"/>
                </a:solidFill>
                <a:latin typeface="Calibri"/>
              </a:rPr>
              <a:t>c</a:t>
            </a:r>
          </a:p>
        </p:txBody>
      </p:sp>
      <p:sp>
        <p:nvSpPr>
          <p:cNvPr id="36" name="Oval 35"/>
          <p:cNvSpPr/>
          <p:nvPr/>
        </p:nvSpPr>
        <p:spPr>
          <a:xfrm>
            <a:off x="1521214" y="4621883"/>
            <a:ext cx="287970" cy="287970"/>
          </a:xfrm>
          <a:prstGeom prst="ellipse">
            <a:avLst/>
          </a:prstGeom>
          <a:solidFill>
            <a:srgbClr val="FFFFFF"/>
          </a:solidFill>
          <a:ln w="25400">
            <a:solidFill>
              <a:srgbClr val="3B7D2A"/>
            </a:solidFill>
          </a:ln>
          <a:effectLst/>
        </p:spPr>
        <p:txBody>
          <a:bodyPr rtlCol="0" anchor="ctr" wrap="none" lIns="0" rIns="0" tIns="0" bIns="0">
            <a:noAutofit/>
          </a:bodyPr>
          <a:lstStyle/>
          <a:p>
            <a:pPr algn="ctr">
              <a:spcBef>
                <a:spcPts val="0"/>
              </a:spcBef>
              <a:spcAft>
                <a:spcPts val="0"/>
              </a:spcAft>
            </a:pPr>
            <a:r>
              <a:rPr lang="tr-TR" sz="1247" b="1" i="0">
                <a:solidFill>
                  <a:srgbClr val="3B7D2A"/>
                </a:solidFill>
                <a:latin typeface="Calibri"/>
              </a:rPr>
              <a:t>d</a:t>
            </a:r>
          </a:p>
        </p:txBody>
      </p:sp>
      <p:sp>
        <p:nvSpPr>
          <p:cNvPr id="37" name="Oval 36"/>
          <p:cNvSpPr/>
          <p:nvPr/>
        </p:nvSpPr>
        <p:spPr>
          <a:xfrm>
            <a:off x="2860501" y="4802522"/>
            <a:ext cx="259173" cy="259173"/>
          </a:xfrm>
          <a:prstGeom prst="ellipse">
            <a:avLst/>
          </a:prstGeom>
          <a:solidFill>
            <a:srgbClr val="FFFFFF"/>
          </a:solidFill>
          <a:ln w="25400">
            <a:solidFill>
              <a:srgbClr val="4F4F4F"/>
            </a:solidFill>
          </a:ln>
          <a:effectLst/>
        </p:spPr>
        <p:txBody>
          <a:bodyPr rtlCol="0" anchor="ctr" wrap="none" lIns="0" rIns="0" tIns="0" bIns="0">
            <a:noAutofit/>
          </a:bodyPr>
          <a:lstStyle/>
          <a:p>
            <a:pPr algn="ctr">
              <a:spcBef>
                <a:spcPts val="0"/>
              </a:spcBef>
              <a:spcAft>
                <a:spcPts val="0"/>
              </a:spcAft>
            </a:pPr>
            <a:r>
              <a:rPr lang="tr-TR" sz="1122" b="1" i="0">
                <a:solidFill>
                  <a:srgbClr val="262626"/>
                </a:solidFill>
                <a:latin typeface="Calibri"/>
              </a:rPr>
              <a:t>ç</a:t>
            </a:r>
          </a:p>
        </p:txBody>
      </p:sp>
      <p:sp>
        <p:nvSpPr>
          <p:cNvPr id="38" name="Rounded Rectangle 37"/>
          <p:cNvSpPr/>
          <p:nvPr/>
        </p:nvSpPr>
        <p:spPr>
          <a:xfrm>
            <a:off x="1044793" y="1291681"/>
            <a:ext cx="2011680" cy="384048"/>
          </a:xfrm>
          <a:prstGeom prst="roundRect">
            <a:avLst>
              <a:gd name="adj" fmla="val 50000"/>
            </a:avLst>
          </a:prstGeom>
          <a:solidFill>
            <a:srgbClr val="FFFFFF"/>
          </a:solidFill>
          <a:ln w="19050">
            <a:solidFill>
              <a:srgbClr val="1F6E9E"/>
            </a:solidFill>
          </a:ln>
          <a:effectLst/>
        </p:spPr>
        <p:txBody>
          <a:bodyPr rtlCol="0" anchor="ctr" wrap="square" lIns="54864" rIns="54864" tIns="0" bIns="0">
            <a:noAutofit/>
          </a:bodyPr>
          <a:lstStyle/>
          <a:p>
            <a:pPr algn="ctr">
              <a:spcBef>
                <a:spcPts val="0"/>
              </a:spcBef>
              <a:spcAft>
                <a:spcPts val="0"/>
              </a:spcAft>
            </a:pPr>
            <a:r>
              <a:rPr lang="tr-TR" sz="1500" b="0" i="0">
                <a:solidFill>
                  <a:srgbClr val="767676"/>
                </a:solidFill>
                <a:latin typeface="Calibri"/>
              </a:rPr>
              <a:t>üst bant: ……………</a:t>
            </a:r>
          </a:p>
        </p:txBody>
      </p:sp>
      <p:sp>
        <p:nvSpPr>
          <p:cNvPr id="39" name="Rounded Rectangle 38"/>
          <p:cNvSpPr/>
          <p:nvPr/>
        </p:nvSpPr>
        <p:spPr>
          <a:xfrm>
            <a:off x="1044793" y="5785774"/>
            <a:ext cx="2011680" cy="384048"/>
          </a:xfrm>
          <a:prstGeom prst="roundRect">
            <a:avLst>
              <a:gd name="adj" fmla="val 50000"/>
            </a:avLst>
          </a:prstGeom>
          <a:solidFill>
            <a:srgbClr val="FFFFFF"/>
          </a:solidFill>
          <a:ln w="19050">
            <a:solidFill>
              <a:srgbClr val="A8322C"/>
            </a:solidFill>
          </a:ln>
          <a:effectLst/>
        </p:spPr>
        <p:txBody>
          <a:bodyPr rtlCol="0" anchor="ctr" wrap="square" lIns="54864" rIns="54864" tIns="0" bIns="0">
            <a:noAutofit/>
          </a:bodyPr>
          <a:lstStyle/>
          <a:p>
            <a:pPr algn="ctr">
              <a:spcBef>
                <a:spcPts val="0"/>
              </a:spcBef>
              <a:spcAft>
                <a:spcPts val="0"/>
              </a:spcAft>
            </a:pPr>
            <a:r>
              <a:rPr lang="tr-TR" sz="1500" b="0" i="0">
                <a:solidFill>
                  <a:srgbClr val="767676"/>
                </a:solidFill>
                <a:latin typeface="Calibri"/>
              </a:rPr>
              <a:t>alt bant: ……………</a:t>
            </a:r>
          </a:p>
        </p:txBody>
      </p:sp>
      <p:sp>
        <p:nvSpPr>
          <p:cNvPr id="40" name="Rounded Rectangle 39"/>
          <p:cNvSpPr/>
          <p:nvPr/>
        </p:nvSpPr>
        <p:spPr>
          <a:xfrm>
            <a:off x="5696346" y="1216152"/>
            <a:ext cx="5992428" cy="8686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Kitap s. 202'deki şemaya bakarak yaprağını doldur.</a:t>
            </a:r>
          </a:p>
        </p:txBody>
      </p:sp>
      <p:sp>
        <p:nvSpPr>
          <p:cNvPr id="41" name="Rounded Rectangle 40"/>
          <p:cNvSpPr/>
          <p:nvPr/>
        </p:nvSpPr>
        <p:spPr>
          <a:xfrm>
            <a:off x="5696346" y="2221992"/>
            <a:ext cx="1234440" cy="713232"/>
          </a:xfrm>
          <a:prstGeom prst="roundRect">
            <a:avLst>
              <a:gd name="adj" fmla="val 20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1-4</a:t>
            </a:r>
          </a:p>
        </p:txBody>
      </p:sp>
      <p:sp>
        <p:nvSpPr>
          <p:cNvPr id="42" name="TextBox 41"/>
          <p:cNvSpPr txBox="1"/>
          <p:nvPr/>
        </p:nvSpPr>
        <p:spPr>
          <a:xfrm>
            <a:off x="7067946" y="2221992"/>
            <a:ext cx="4620828" cy="713232"/>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Dört aşamanın adı</a:t>
            </a:r>
          </a:p>
        </p:txBody>
      </p:sp>
      <p:sp>
        <p:nvSpPr>
          <p:cNvPr id="43" name="Rounded Rectangle 42"/>
          <p:cNvSpPr/>
          <p:nvPr/>
        </p:nvSpPr>
        <p:spPr>
          <a:xfrm>
            <a:off x="5696346" y="3063240"/>
            <a:ext cx="1234440" cy="713232"/>
          </a:xfrm>
          <a:prstGeom prst="roundRect">
            <a:avLst>
              <a:gd name="adj" fmla="val 20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bantlar</a:t>
            </a:r>
          </a:p>
        </p:txBody>
      </p:sp>
      <p:sp>
        <p:nvSpPr>
          <p:cNvPr id="44" name="TextBox 43"/>
          <p:cNvSpPr txBox="1"/>
          <p:nvPr/>
        </p:nvSpPr>
        <p:spPr>
          <a:xfrm>
            <a:off x="7067946" y="3063240"/>
            <a:ext cx="4620828" cy="713232"/>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Üstte ve altta hangi yönetim?</a:t>
            </a:r>
          </a:p>
        </p:txBody>
      </p:sp>
      <p:sp>
        <p:nvSpPr>
          <p:cNvPr id="45" name="Rounded Rectangle 44"/>
          <p:cNvSpPr/>
          <p:nvPr/>
        </p:nvSpPr>
        <p:spPr>
          <a:xfrm>
            <a:off x="5696346" y="3904488"/>
            <a:ext cx="1234440" cy="713232"/>
          </a:xfrm>
          <a:prstGeom prst="roundRect">
            <a:avLst>
              <a:gd name="adj" fmla="val 20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a-d, ç</a:t>
            </a:r>
          </a:p>
        </p:txBody>
      </p:sp>
      <p:sp>
        <p:nvSpPr>
          <p:cNvPr id="46" name="TextBox 45"/>
          <p:cNvSpPr txBox="1"/>
          <p:nvPr/>
        </p:nvSpPr>
        <p:spPr>
          <a:xfrm>
            <a:off x="7067946" y="3904488"/>
            <a:ext cx="4620828" cy="713232"/>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Oklardaki ve halkanın altındaki sözcükler</a:t>
            </a:r>
          </a:p>
        </p:txBody>
      </p:sp>
      <p:sp>
        <p:nvSpPr>
          <p:cNvPr id="47" name="Rounded Rectangle 46"/>
          <p:cNvSpPr/>
          <p:nvPr/>
        </p:nvSpPr>
        <p:spPr>
          <a:xfrm>
            <a:off x="5696346" y="4873752"/>
            <a:ext cx="5992428" cy="13716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400"/>
              </a:spcAft>
            </a:pPr>
            <a:r>
              <a:rPr lang="tr-TR" sz="1900" b="1" i="0">
                <a:solidFill>
                  <a:srgbClr val="1E7B6E"/>
                </a:solidFill>
                <a:latin typeface="Calibri"/>
              </a:rPr>
              <a:t>İpucu</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Oklar saat yönünde döner. AFET hangi iki aşamanın arasında?</a:t>
            </a:r>
          </a:p>
        </p:txBody>
      </p:sp>
      <p:sp>
        <p:nvSpPr>
          <p:cNvPr id="48" name="TextBox 4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9" name="Rounded Rectangle 4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50" name="TextBox 4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126 / 250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Bütüncül afet yönetimi döngüsü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953353" y="1236817"/>
            <a:ext cx="4468672" cy="2493934"/>
          </a:xfrm>
          <a:prstGeom prst="roundRect">
            <a:avLst>
              <a:gd name="adj" fmla="val 6000"/>
            </a:avLst>
          </a:prstGeom>
          <a:solidFill>
            <a:srgbClr val="E4EFF8"/>
          </a:solidFill>
          <a:ln>
            <a:noFill/>
          </a:ln>
          <a:effectLst/>
        </p:spPr>
        <p:txBody>
          <a:bodyPr rtlCol="0" anchor="ctr"/>
          <a:lstStyle/>
          <a:p/>
        </p:txBody>
      </p:sp>
      <p:sp>
        <p:nvSpPr>
          <p:cNvPr id="7" name="Rounded Rectangle 6"/>
          <p:cNvSpPr/>
          <p:nvPr/>
        </p:nvSpPr>
        <p:spPr>
          <a:xfrm>
            <a:off x="953353" y="3730752"/>
            <a:ext cx="4468672" cy="2493934"/>
          </a:xfrm>
          <a:prstGeom prst="roundRect">
            <a:avLst>
              <a:gd name="adj" fmla="val 6000"/>
            </a:avLst>
          </a:prstGeom>
          <a:solidFill>
            <a:srgbClr val="FAE6E4"/>
          </a:solidFill>
          <a:ln>
            <a:noFill/>
          </a:ln>
          <a:effectLst/>
        </p:spPr>
        <p:txBody>
          <a:bodyPr rtlCol="0" anchor="ctr"/>
          <a:lstStyle/>
          <a:p/>
        </p:txBody>
      </p:sp>
      <p:cxnSp>
        <p:nvCxnSpPr>
          <p:cNvPr id="8" name="Connector 7"/>
          <p:cNvCxnSpPr/>
          <p:nvPr/>
        </p:nvCxnSpPr>
        <p:spPr>
          <a:xfrm>
            <a:off x="1090513" y="3730752"/>
            <a:ext cx="4194353" cy="0"/>
          </a:xfrm>
          <a:prstGeom prst="line">
            <a:avLst/>
          </a:prstGeom>
          <a:ln w="25400">
            <a:solidFill>
              <a:srgbClr val="FFFFFF"/>
            </a:solidFill>
          </a:ln>
        </p:spPr>
      </p:cxnSp>
      <p:sp>
        <p:nvSpPr>
          <p:cNvPr id="9" name="Freeform 8"/>
          <p:cNvSpPr/>
          <p:nvPr/>
        </p:nvSpPr>
        <p:spPr>
          <a:xfrm>
            <a:off x="1508760" y="2249424"/>
            <a:ext cx="1481328" cy="1481328"/>
          </a:xfrm>
          <a:custGeom>
            <a:avLst/>
            <a:gdLst/>
            <a:ahLst/>
            <a:cxnLst/>
            <a:rect l="l" t="t" r="r" b="b"/>
            <a:pathLst>
              <a:path w="1481328" h="1481328">
                <a:moveTo>
                  <a:pt x="1481328" y="0"/>
                </a:moveTo>
                <a:lnTo>
                  <a:pt x="1429630" y="902"/>
                </a:lnTo>
                <a:lnTo>
                  <a:pt x="1377995" y="3608"/>
                </a:lnTo>
                <a:lnTo>
                  <a:pt x="1326487" y="8114"/>
                </a:lnTo>
                <a:lnTo>
                  <a:pt x="1275166" y="14416"/>
                </a:lnTo>
                <a:lnTo>
                  <a:pt x="1224098" y="22504"/>
                </a:lnTo>
                <a:lnTo>
                  <a:pt x="1173342" y="32370"/>
                </a:lnTo>
                <a:lnTo>
                  <a:pt x="1122962" y="44001"/>
                </a:lnTo>
                <a:lnTo>
                  <a:pt x="1073018" y="57384"/>
                </a:lnTo>
                <a:lnTo>
                  <a:pt x="1023572" y="72501"/>
                </a:lnTo>
                <a:lnTo>
                  <a:pt x="974683" y="89335"/>
                </a:lnTo>
                <a:lnTo>
                  <a:pt x="926412" y="107864"/>
                </a:lnTo>
                <a:lnTo>
                  <a:pt x="878817" y="128067"/>
                </a:lnTo>
                <a:lnTo>
                  <a:pt x="831956" y="149919"/>
                </a:lnTo>
                <a:lnTo>
                  <a:pt x="785886" y="173393"/>
                </a:lnTo>
                <a:lnTo>
                  <a:pt x="740664" y="198460"/>
                </a:lnTo>
                <a:lnTo>
                  <a:pt x="696343" y="225090"/>
                </a:lnTo>
                <a:lnTo>
                  <a:pt x="652979" y="253251"/>
                </a:lnTo>
                <a:lnTo>
                  <a:pt x="610625" y="282908"/>
                </a:lnTo>
                <a:lnTo>
                  <a:pt x="569331" y="314025"/>
                </a:lnTo>
                <a:lnTo>
                  <a:pt x="529148" y="346564"/>
                </a:lnTo>
                <a:lnTo>
                  <a:pt x="490126" y="380486"/>
                </a:lnTo>
                <a:lnTo>
                  <a:pt x="452311" y="415749"/>
                </a:lnTo>
                <a:lnTo>
                  <a:pt x="415749" y="452311"/>
                </a:lnTo>
                <a:lnTo>
                  <a:pt x="380486" y="490126"/>
                </a:lnTo>
                <a:lnTo>
                  <a:pt x="346564" y="529148"/>
                </a:lnTo>
                <a:lnTo>
                  <a:pt x="314025" y="569331"/>
                </a:lnTo>
                <a:lnTo>
                  <a:pt x="282908" y="610625"/>
                </a:lnTo>
                <a:lnTo>
                  <a:pt x="253251" y="652979"/>
                </a:lnTo>
                <a:lnTo>
                  <a:pt x="225090" y="696343"/>
                </a:lnTo>
                <a:lnTo>
                  <a:pt x="198460" y="740664"/>
                </a:lnTo>
                <a:lnTo>
                  <a:pt x="173393" y="785886"/>
                </a:lnTo>
                <a:lnTo>
                  <a:pt x="149919" y="831956"/>
                </a:lnTo>
                <a:lnTo>
                  <a:pt x="128067" y="878817"/>
                </a:lnTo>
                <a:lnTo>
                  <a:pt x="107864" y="926412"/>
                </a:lnTo>
                <a:lnTo>
                  <a:pt x="89335" y="974683"/>
                </a:lnTo>
                <a:lnTo>
                  <a:pt x="72501" y="1023572"/>
                </a:lnTo>
                <a:lnTo>
                  <a:pt x="57384" y="1073018"/>
                </a:lnTo>
                <a:lnTo>
                  <a:pt x="44001" y="1122962"/>
                </a:lnTo>
                <a:lnTo>
                  <a:pt x="32370" y="1173342"/>
                </a:lnTo>
                <a:lnTo>
                  <a:pt x="22504" y="1224098"/>
                </a:lnTo>
                <a:lnTo>
                  <a:pt x="14416" y="1275166"/>
                </a:lnTo>
                <a:lnTo>
                  <a:pt x="8114" y="1326487"/>
                </a:lnTo>
                <a:lnTo>
                  <a:pt x="3608" y="1377995"/>
                </a:lnTo>
                <a:lnTo>
                  <a:pt x="902" y="1429630"/>
                </a:lnTo>
                <a:lnTo>
                  <a:pt x="0" y="1481328"/>
                </a:lnTo>
                <a:lnTo>
                  <a:pt x="622157" y="1481328"/>
                </a:lnTo>
                <a:lnTo>
                  <a:pt x="622681" y="1451343"/>
                </a:lnTo>
                <a:lnTo>
                  <a:pt x="624250" y="1421395"/>
                </a:lnTo>
                <a:lnTo>
                  <a:pt x="626864" y="1391520"/>
                </a:lnTo>
                <a:lnTo>
                  <a:pt x="630519" y="1361754"/>
                </a:lnTo>
                <a:lnTo>
                  <a:pt x="635210" y="1332134"/>
                </a:lnTo>
                <a:lnTo>
                  <a:pt x="640932" y="1302696"/>
                </a:lnTo>
                <a:lnTo>
                  <a:pt x="647678" y="1273475"/>
                </a:lnTo>
                <a:lnTo>
                  <a:pt x="655440" y="1244508"/>
                </a:lnTo>
                <a:lnTo>
                  <a:pt x="664208" y="1215829"/>
                </a:lnTo>
                <a:lnTo>
                  <a:pt x="673972" y="1187474"/>
                </a:lnTo>
                <a:lnTo>
                  <a:pt x="684719" y="1159477"/>
                </a:lnTo>
                <a:lnTo>
                  <a:pt x="696436" y="1131871"/>
                </a:lnTo>
                <a:lnTo>
                  <a:pt x="709110" y="1104692"/>
                </a:lnTo>
                <a:lnTo>
                  <a:pt x="722725" y="1077972"/>
                </a:lnTo>
                <a:lnTo>
                  <a:pt x="737264" y="1051742"/>
                </a:lnTo>
                <a:lnTo>
                  <a:pt x="752710" y="1026037"/>
                </a:lnTo>
                <a:lnTo>
                  <a:pt x="769043" y="1000886"/>
                </a:lnTo>
                <a:lnTo>
                  <a:pt x="786244" y="976320"/>
                </a:lnTo>
                <a:lnTo>
                  <a:pt x="804292" y="952369"/>
                </a:lnTo>
                <a:lnTo>
                  <a:pt x="823165" y="929064"/>
                </a:lnTo>
                <a:lnTo>
                  <a:pt x="842840" y="906430"/>
                </a:lnTo>
                <a:lnTo>
                  <a:pt x="863292" y="884498"/>
                </a:lnTo>
                <a:lnTo>
                  <a:pt x="884498" y="863292"/>
                </a:lnTo>
                <a:lnTo>
                  <a:pt x="906430" y="842840"/>
                </a:lnTo>
                <a:lnTo>
                  <a:pt x="929064" y="823165"/>
                </a:lnTo>
                <a:lnTo>
                  <a:pt x="952369" y="804292"/>
                </a:lnTo>
                <a:lnTo>
                  <a:pt x="976320" y="786244"/>
                </a:lnTo>
                <a:lnTo>
                  <a:pt x="1000886" y="769043"/>
                </a:lnTo>
                <a:lnTo>
                  <a:pt x="1026037" y="752710"/>
                </a:lnTo>
                <a:lnTo>
                  <a:pt x="1051742" y="737264"/>
                </a:lnTo>
                <a:lnTo>
                  <a:pt x="1077972" y="722725"/>
                </a:lnTo>
                <a:lnTo>
                  <a:pt x="1104692" y="709110"/>
                </a:lnTo>
                <a:lnTo>
                  <a:pt x="1131871" y="696436"/>
                </a:lnTo>
                <a:lnTo>
                  <a:pt x="1159477" y="684719"/>
                </a:lnTo>
                <a:lnTo>
                  <a:pt x="1187474" y="673972"/>
                </a:lnTo>
                <a:lnTo>
                  <a:pt x="1215829" y="664208"/>
                </a:lnTo>
                <a:lnTo>
                  <a:pt x="1244508" y="655440"/>
                </a:lnTo>
                <a:lnTo>
                  <a:pt x="1273475" y="647678"/>
                </a:lnTo>
                <a:lnTo>
                  <a:pt x="1302696" y="640932"/>
                </a:lnTo>
                <a:lnTo>
                  <a:pt x="1332134" y="635210"/>
                </a:lnTo>
                <a:lnTo>
                  <a:pt x="1361754" y="630519"/>
                </a:lnTo>
                <a:lnTo>
                  <a:pt x="1391520" y="626864"/>
                </a:lnTo>
                <a:lnTo>
                  <a:pt x="1421395" y="624250"/>
                </a:lnTo>
                <a:lnTo>
                  <a:pt x="1451343" y="622681"/>
                </a:lnTo>
                <a:lnTo>
                  <a:pt x="1481328" y="622157"/>
                </a:lnTo>
                <a:close/>
              </a:path>
            </a:pathLst>
          </a:custGeom>
          <a:solidFill>
            <a:srgbClr val="1F86BF"/>
          </a:solidFill>
          <a:ln>
            <a:noFill/>
          </a:ln>
        </p:spPr>
        <p:txBody>
          <a:bodyPr rtlCol="0" anchor="ctr"/>
          <a:lstStyle/>
          <a:p>
            <a:pPr algn="ctr"/>
          </a:p>
        </p:txBody>
      </p:sp>
      <p:sp>
        <p:nvSpPr>
          <p:cNvPr id="10" name="Freeform 9"/>
          <p:cNvSpPr/>
          <p:nvPr/>
        </p:nvSpPr>
        <p:spPr>
          <a:xfrm>
            <a:off x="2990088" y="2249424"/>
            <a:ext cx="1481328" cy="1481328"/>
          </a:xfrm>
          <a:custGeom>
            <a:avLst/>
            <a:gdLst/>
            <a:ahLst/>
            <a:cxnLst/>
            <a:rect l="l" t="t" r="r" b="b"/>
            <a:pathLst>
              <a:path w="1481328" h="1481328">
                <a:moveTo>
                  <a:pt x="1481328" y="1481328"/>
                </a:moveTo>
                <a:lnTo>
                  <a:pt x="1480425" y="1429630"/>
                </a:lnTo>
                <a:lnTo>
                  <a:pt x="1477719" y="1377995"/>
                </a:lnTo>
                <a:lnTo>
                  <a:pt x="1473213" y="1326487"/>
                </a:lnTo>
                <a:lnTo>
                  <a:pt x="1466911" y="1275166"/>
                </a:lnTo>
                <a:lnTo>
                  <a:pt x="1458823" y="1224098"/>
                </a:lnTo>
                <a:lnTo>
                  <a:pt x="1448957" y="1173342"/>
                </a:lnTo>
                <a:lnTo>
                  <a:pt x="1437326" y="1122962"/>
                </a:lnTo>
                <a:lnTo>
                  <a:pt x="1423943" y="1073018"/>
                </a:lnTo>
                <a:lnTo>
                  <a:pt x="1408826" y="1023572"/>
                </a:lnTo>
                <a:lnTo>
                  <a:pt x="1391992" y="974683"/>
                </a:lnTo>
                <a:lnTo>
                  <a:pt x="1373463" y="926412"/>
                </a:lnTo>
                <a:lnTo>
                  <a:pt x="1353260" y="878817"/>
                </a:lnTo>
                <a:lnTo>
                  <a:pt x="1331408" y="831956"/>
                </a:lnTo>
                <a:lnTo>
                  <a:pt x="1307934" y="785886"/>
                </a:lnTo>
                <a:lnTo>
                  <a:pt x="1282867" y="740664"/>
                </a:lnTo>
                <a:lnTo>
                  <a:pt x="1256237" y="696343"/>
                </a:lnTo>
                <a:lnTo>
                  <a:pt x="1228076" y="652979"/>
                </a:lnTo>
                <a:lnTo>
                  <a:pt x="1198419" y="610625"/>
                </a:lnTo>
                <a:lnTo>
                  <a:pt x="1167302" y="569331"/>
                </a:lnTo>
                <a:lnTo>
                  <a:pt x="1134763" y="529148"/>
                </a:lnTo>
                <a:lnTo>
                  <a:pt x="1100841" y="490126"/>
                </a:lnTo>
                <a:lnTo>
                  <a:pt x="1065578" y="452311"/>
                </a:lnTo>
                <a:lnTo>
                  <a:pt x="1029016" y="415749"/>
                </a:lnTo>
                <a:lnTo>
                  <a:pt x="991201" y="380486"/>
                </a:lnTo>
                <a:lnTo>
                  <a:pt x="952179" y="346564"/>
                </a:lnTo>
                <a:lnTo>
                  <a:pt x="911996" y="314025"/>
                </a:lnTo>
                <a:lnTo>
                  <a:pt x="870702" y="282908"/>
                </a:lnTo>
                <a:lnTo>
                  <a:pt x="828348" y="253251"/>
                </a:lnTo>
                <a:lnTo>
                  <a:pt x="784984" y="225090"/>
                </a:lnTo>
                <a:lnTo>
                  <a:pt x="740664" y="198460"/>
                </a:lnTo>
                <a:lnTo>
                  <a:pt x="695441" y="173393"/>
                </a:lnTo>
                <a:lnTo>
                  <a:pt x="649371" y="149919"/>
                </a:lnTo>
                <a:lnTo>
                  <a:pt x="602510" y="128067"/>
                </a:lnTo>
                <a:lnTo>
                  <a:pt x="554915" y="107864"/>
                </a:lnTo>
                <a:lnTo>
                  <a:pt x="506644" y="89335"/>
                </a:lnTo>
                <a:lnTo>
                  <a:pt x="457755" y="72501"/>
                </a:lnTo>
                <a:lnTo>
                  <a:pt x="408309" y="57384"/>
                </a:lnTo>
                <a:lnTo>
                  <a:pt x="358365" y="44001"/>
                </a:lnTo>
                <a:lnTo>
                  <a:pt x="307985" y="32370"/>
                </a:lnTo>
                <a:lnTo>
                  <a:pt x="257229" y="22504"/>
                </a:lnTo>
                <a:lnTo>
                  <a:pt x="206161" y="14416"/>
                </a:lnTo>
                <a:lnTo>
                  <a:pt x="154840" y="8114"/>
                </a:lnTo>
                <a:lnTo>
                  <a:pt x="103332" y="3608"/>
                </a:lnTo>
                <a:lnTo>
                  <a:pt x="51697" y="902"/>
                </a:lnTo>
                <a:lnTo>
                  <a:pt x="0" y="0"/>
                </a:lnTo>
                <a:lnTo>
                  <a:pt x="0" y="622157"/>
                </a:lnTo>
                <a:lnTo>
                  <a:pt x="29984" y="622681"/>
                </a:lnTo>
                <a:lnTo>
                  <a:pt x="59932" y="624250"/>
                </a:lnTo>
                <a:lnTo>
                  <a:pt x="89807" y="626864"/>
                </a:lnTo>
                <a:lnTo>
                  <a:pt x="119573" y="630519"/>
                </a:lnTo>
                <a:lnTo>
                  <a:pt x="149193" y="635210"/>
                </a:lnTo>
                <a:lnTo>
                  <a:pt x="178631" y="640932"/>
                </a:lnTo>
                <a:lnTo>
                  <a:pt x="207852" y="647678"/>
                </a:lnTo>
                <a:lnTo>
                  <a:pt x="236819" y="655440"/>
                </a:lnTo>
                <a:lnTo>
                  <a:pt x="265498" y="664208"/>
                </a:lnTo>
                <a:lnTo>
                  <a:pt x="293853" y="673972"/>
                </a:lnTo>
                <a:lnTo>
                  <a:pt x="321850" y="684719"/>
                </a:lnTo>
                <a:lnTo>
                  <a:pt x="349456" y="696436"/>
                </a:lnTo>
                <a:lnTo>
                  <a:pt x="376635" y="709110"/>
                </a:lnTo>
                <a:lnTo>
                  <a:pt x="403355" y="722725"/>
                </a:lnTo>
                <a:lnTo>
                  <a:pt x="429585" y="737264"/>
                </a:lnTo>
                <a:lnTo>
                  <a:pt x="455290" y="752710"/>
                </a:lnTo>
                <a:lnTo>
                  <a:pt x="480441" y="769043"/>
                </a:lnTo>
                <a:lnTo>
                  <a:pt x="505007" y="786244"/>
                </a:lnTo>
                <a:lnTo>
                  <a:pt x="528958" y="804292"/>
                </a:lnTo>
                <a:lnTo>
                  <a:pt x="552263" y="823165"/>
                </a:lnTo>
                <a:lnTo>
                  <a:pt x="574897" y="842840"/>
                </a:lnTo>
                <a:lnTo>
                  <a:pt x="596829" y="863292"/>
                </a:lnTo>
                <a:lnTo>
                  <a:pt x="618035" y="884498"/>
                </a:lnTo>
                <a:lnTo>
                  <a:pt x="638487" y="906430"/>
                </a:lnTo>
                <a:lnTo>
                  <a:pt x="658162" y="929064"/>
                </a:lnTo>
                <a:lnTo>
                  <a:pt x="677035" y="952369"/>
                </a:lnTo>
                <a:lnTo>
                  <a:pt x="695083" y="976320"/>
                </a:lnTo>
                <a:lnTo>
                  <a:pt x="712284" y="1000886"/>
                </a:lnTo>
                <a:lnTo>
                  <a:pt x="728617" y="1026037"/>
                </a:lnTo>
                <a:lnTo>
                  <a:pt x="744063" y="1051742"/>
                </a:lnTo>
                <a:lnTo>
                  <a:pt x="758602" y="1077972"/>
                </a:lnTo>
                <a:lnTo>
                  <a:pt x="772217" y="1104692"/>
                </a:lnTo>
                <a:lnTo>
                  <a:pt x="784891" y="1131871"/>
                </a:lnTo>
                <a:lnTo>
                  <a:pt x="796608" y="1159477"/>
                </a:lnTo>
                <a:lnTo>
                  <a:pt x="807355" y="1187474"/>
                </a:lnTo>
                <a:lnTo>
                  <a:pt x="817119" y="1215829"/>
                </a:lnTo>
                <a:lnTo>
                  <a:pt x="825887" y="1244508"/>
                </a:lnTo>
                <a:lnTo>
                  <a:pt x="833649" y="1273475"/>
                </a:lnTo>
                <a:lnTo>
                  <a:pt x="840395" y="1302696"/>
                </a:lnTo>
                <a:lnTo>
                  <a:pt x="846117" y="1332134"/>
                </a:lnTo>
                <a:lnTo>
                  <a:pt x="850808" y="1361754"/>
                </a:lnTo>
                <a:lnTo>
                  <a:pt x="854463" y="1391520"/>
                </a:lnTo>
                <a:lnTo>
                  <a:pt x="857077" y="1421395"/>
                </a:lnTo>
                <a:lnTo>
                  <a:pt x="858646" y="1451343"/>
                </a:lnTo>
                <a:lnTo>
                  <a:pt x="859170" y="1481328"/>
                </a:lnTo>
                <a:close/>
              </a:path>
            </a:pathLst>
          </a:custGeom>
          <a:solidFill>
            <a:srgbClr val="D97316"/>
          </a:solidFill>
          <a:ln>
            <a:noFill/>
          </a:ln>
        </p:spPr>
        <p:txBody>
          <a:bodyPr rtlCol="0" anchor="ctr"/>
          <a:lstStyle/>
          <a:p>
            <a:pPr algn="ctr"/>
          </a:p>
        </p:txBody>
      </p:sp>
      <p:sp>
        <p:nvSpPr>
          <p:cNvPr id="11" name="Freeform 10"/>
          <p:cNvSpPr/>
          <p:nvPr/>
        </p:nvSpPr>
        <p:spPr>
          <a:xfrm>
            <a:off x="2990088" y="3730752"/>
            <a:ext cx="1481328" cy="1481328"/>
          </a:xfrm>
          <a:custGeom>
            <a:avLst/>
            <a:gdLst/>
            <a:ahLst/>
            <a:cxnLst/>
            <a:rect l="l" t="t" r="r" b="b"/>
            <a:pathLst>
              <a:path w="1481328" h="1481328">
                <a:moveTo>
                  <a:pt x="0" y="1481328"/>
                </a:moveTo>
                <a:lnTo>
                  <a:pt x="51697" y="1480425"/>
                </a:lnTo>
                <a:lnTo>
                  <a:pt x="103332" y="1477719"/>
                </a:lnTo>
                <a:lnTo>
                  <a:pt x="154840" y="1473213"/>
                </a:lnTo>
                <a:lnTo>
                  <a:pt x="206161" y="1466911"/>
                </a:lnTo>
                <a:lnTo>
                  <a:pt x="257229" y="1458823"/>
                </a:lnTo>
                <a:lnTo>
                  <a:pt x="307985" y="1448957"/>
                </a:lnTo>
                <a:lnTo>
                  <a:pt x="358365" y="1437326"/>
                </a:lnTo>
                <a:lnTo>
                  <a:pt x="408309" y="1423943"/>
                </a:lnTo>
                <a:lnTo>
                  <a:pt x="457755" y="1408826"/>
                </a:lnTo>
                <a:lnTo>
                  <a:pt x="506644" y="1391992"/>
                </a:lnTo>
                <a:lnTo>
                  <a:pt x="554915" y="1373463"/>
                </a:lnTo>
                <a:lnTo>
                  <a:pt x="602510" y="1353260"/>
                </a:lnTo>
                <a:lnTo>
                  <a:pt x="649371" y="1331408"/>
                </a:lnTo>
                <a:lnTo>
                  <a:pt x="695441" y="1307934"/>
                </a:lnTo>
                <a:lnTo>
                  <a:pt x="740664" y="1282867"/>
                </a:lnTo>
                <a:lnTo>
                  <a:pt x="784984" y="1256237"/>
                </a:lnTo>
                <a:lnTo>
                  <a:pt x="828348" y="1228076"/>
                </a:lnTo>
                <a:lnTo>
                  <a:pt x="870702" y="1198419"/>
                </a:lnTo>
                <a:lnTo>
                  <a:pt x="911996" y="1167302"/>
                </a:lnTo>
                <a:lnTo>
                  <a:pt x="952179" y="1134763"/>
                </a:lnTo>
                <a:lnTo>
                  <a:pt x="991201" y="1100841"/>
                </a:lnTo>
                <a:lnTo>
                  <a:pt x="1029016" y="1065578"/>
                </a:lnTo>
                <a:lnTo>
                  <a:pt x="1065578" y="1029016"/>
                </a:lnTo>
                <a:lnTo>
                  <a:pt x="1100841" y="991201"/>
                </a:lnTo>
                <a:lnTo>
                  <a:pt x="1134763" y="952179"/>
                </a:lnTo>
                <a:lnTo>
                  <a:pt x="1167302" y="911996"/>
                </a:lnTo>
                <a:lnTo>
                  <a:pt x="1198419" y="870702"/>
                </a:lnTo>
                <a:lnTo>
                  <a:pt x="1228076" y="828348"/>
                </a:lnTo>
                <a:lnTo>
                  <a:pt x="1256237" y="784984"/>
                </a:lnTo>
                <a:lnTo>
                  <a:pt x="1282867" y="740664"/>
                </a:lnTo>
                <a:lnTo>
                  <a:pt x="1307934" y="695441"/>
                </a:lnTo>
                <a:lnTo>
                  <a:pt x="1331408" y="649371"/>
                </a:lnTo>
                <a:lnTo>
                  <a:pt x="1353260" y="602510"/>
                </a:lnTo>
                <a:lnTo>
                  <a:pt x="1373463" y="554915"/>
                </a:lnTo>
                <a:lnTo>
                  <a:pt x="1391992" y="506644"/>
                </a:lnTo>
                <a:lnTo>
                  <a:pt x="1408826" y="457755"/>
                </a:lnTo>
                <a:lnTo>
                  <a:pt x="1423943" y="408309"/>
                </a:lnTo>
                <a:lnTo>
                  <a:pt x="1437326" y="358365"/>
                </a:lnTo>
                <a:lnTo>
                  <a:pt x="1448957" y="307985"/>
                </a:lnTo>
                <a:lnTo>
                  <a:pt x="1458823" y="257229"/>
                </a:lnTo>
                <a:lnTo>
                  <a:pt x="1466911" y="206161"/>
                </a:lnTo>
                <a:lnTo>
                  <a:pt x="1473213" y="154840"/>
                </a:lnTo>
                <a:lnTo>
                  <a:pt x="1477719" y="103332"/>
                </a:lnTo>
                <a:lnTo>
                  <a:pt x="1480425" y="51697"/>
                </a:lnTo>
                <a:lnTo>
                  <a:pt x="1481328" y="0"/>
                </a:lnTo>
                <a:lnTo>
                  <a:pt x="859170" y="0"/>
                </a:lnTo>
                <a:lnTo>
                  <a:pt x="858646" y="29984"/>
                </a:lnTo>
                <a:lnTo>
                  <a:pt x="857077" y="59932"/>
                </a:lnTo>
                <a:lnTo>
                  <a:pt x="854463" y="89807"/>
                </a:lnTo>
                <a:lnTo>
                  <a:pt x="850808" y="119573"/>
                </a:lnTo>
                <a:lnTo>
                  <a:pt x="846117" y="149193"/>
                </a:lnTo>
                <a:lnTo>
                  <a:pt x="840395" y="178631"/>
                </a:lnTo>
                <a:lnTo>
                  <a:pt x="833649" y="207852"/>
                </a:lnTo>
                <a:lnTo>
                  <a:pt x="825887" y="236819"/>
                </a:lnTo>
                <a:lnTo>
                  <a:pt x="817119" y="265498"/>
                </a:lnTo>
                <a:lnTo>
                  <a:pt x="807355" y="293853"/>
                </a:lnTo>
                <a:lnTo>
                  <a:pt x="796608" y="321850"/>
                </a:lnTo>
                <a:lnTo>
                  <a:pt x="784891" y="349456"/>
                </a:lnTo>
                <a:lnTo>
                  <a:pt x="772217" y="376635"/>
                </a:lnTo>
                <a:lnTo>
                  <a:pt x="758602" y="403355"/>
                </a:lnTo>
                <a:lnTo>
                  <a:pt x="744063" y="429585"/>
                </a:lnTo>
                <a:lnTo>
                  <a:pt x="728617" y="455290"/>
                </a:lnTo>
                <a:lnTo>
                  <a:pt x="712284" y="480441"/>
                </a:lnTo>
                <a:lnTo>
                  <a:pt x="695083" y="505007"/>
                </a:lnTo>
                <a:lnTo>
                  <a:pt x="677035" y="528958"/>
                </a:lnTo>
                <a:lnTo>
                  <a:pt x="658162" y="552263"/>
                </a:lnTo>
                <a:lnTo>
                  <a:pt x="638487" y="574897"/>
                </a:lnTo>
                <a:lnTo>
                  <a:pt x="618035" y="596829"/>
                </a:lnTo>
                <a:lnTo>
                  <a:pt x="596829" y="618035"/>
                </a:lnTo>
                <a:lnTo>
                  <a:pt x="574897" y="638487"/>
                </a:lnTo>
                <a:lnTo>
                  <a:pt x="552263" y="658162"/>
                </a:lnTo>
                <a:lnTo>
                  <a:pt x="528958" y="677035"/>
                </a:lnTo>
                <a:lnTo>
                  <a:pt x="505007" y="695083"/>
                </a:lnTo>
                <a:lnTo>
                  <a:pt x="480441" y="712284"/>
                </a:lnTo>
                <a:lnTo>
                  <a:pt x="455290" y="728617"/>
                </a:lnTo>
                <a:lnTo>
                  <a:pt x="429585" y="744063"/>
                </a:lnTo>
                <a:lnTo>
                  <a:pt x="403355" y="758602"/>
                </a:lnTo>
                <a:lnTo>
                  <a:pt x="376635" y="772217"/>
                </a:lnTo>
                <a:lnTo>
                  <a:pt x="349456" y="784891"/>
                </a:lnTo>
                <a:lnTo>
                  <a:pt x="321850" y="796608"/>
                </a:lnTo>
                <a:lnTo>
                  <a:pt x="293853" y="807355"/>
                </a:lnTo>
                <a:lnTo>
                  <a:pt x="265498" y="817119"/>
                </a:lnTo>
                <a:lnTo>
                  <a:pt x="236819" y="825887"/>
                </a:lnTo>
                <a:lnTo>
                  <a:pt x="207852" y="833649"/>
                </a:lnTo>
                <a:lnTo>
                  <a:pt x="178631" y="840395"/>
                </a:lnTo>
                <a:lnTo>
                  <a:pt x="149193" y="846117"/>
                </a:lnTo>
                <a:lnTo>
                  <a:pt x="119573" y="850808"/>
                </a:lnTo>
                <a:lnTo>
                  <a:pt x="89807" y="854463"/>
                </a:lnTo>
                <a:lnTo>
                  <a:pt x="59932" y="857077"/>
                </a:lnTo>
                <a:lnTo>
                  <a:pt x="29984" y="858646"/>
                </a:lnTo>
                <a:lnTo>
                  <a:pt x="0" y="859170"/>
                </a:lnTo>
                <a:close/>
              </a:path>
            </a:pathLst>
          </a:custGeom>
          <a:solidFill>
            <a:srgbClr val="CC3333"/>
          </a:solidFill>
          <a:ln>
            <a:noFill/>
          </a:ln>
        </p:spPr>
        <p:txBody>
          <a:bodyPr rtlCol="0" anchor="ctr"/>
          <a:lstStyle/>
          <a:p>
            <a:pPr algn="ctr"/>
          </a:p>
        </p:txBody>
      </p:sp>
      <p:sp>
        <p:nvSpPr>
          <p:cNvPr id="12" name="Freeform 11"/>
          <p:cNvSpPr/>
          <p:nvPr/>
        </p:nvSpPr>
        <p:spPr>
          <a:xfrm>
            <a:off x="1508760" y="3730752"/>
            <a:ext cx="1481328" cy="1481328"/>
          </a:xfrm>
          <a:custGeom>
            <a:avLst/>
            <a:gdLst/>
            <a:ahLst/>
            <a:cxnLst/>
            <a:rect l="l" t="t" r="r" b="b"/>
            <a:pathLst>
              <a:path w="1481328" h="1481328">
                <a:moveTo>
                  <a:pt x="0" y="0"/>
                </a:moveTo>
                <a:lnTo>
                  <a:pt x="902" y="51697"/>
                </a:lnTo>
                <a:lnTo>
                  <a:pt x="3608" y="103332"/>
                </a:lnTo>
                <a:lnTo>
                  <a:pt x="8114" y="154840"/>
                </a:lnTo>
                <a:lnTo>
                  <a:pt x="14416" y="206161"/>
                </a:lnTo>
                <a:lnTo>
                  <a:pt x="22504" y="257229"/>
                </a:lnTo>
                <a:lnTo>
                  <a:pt x="32370" y="307985"/>
                </a:lnTo>
                <a:lnTo>
                  <a:pt x="44001" y="358365"/>
                </a:lnTo>
                <a:lnTo>
                  <a:pt x="57384" y="408309"/>
                </a:lnTo>
                <a:lnTo>
                  <a:pt x="72501" y="457755"/>
                </a:lnTo>
                <a:lnTo>
                  <a:pt x="89335" y="506644"/>
                </a:lnTo>
                <a:lnTo>
                  <a:pt x="107864" y="554915"/>
                </a:lnTo>
                <a:lnTo>
                  <a:pt x="128067" y="602510"/>
                </a:lnTo>
                <a:lnTo>
                  <a:pt x="149919" y="649371"/>
                </a:lnTo>
                <a:lnTo>
                  <a:pt x="173393" y="695441"/>
                </a:lnTo>
                <a:lnTo>
                  <a:pt x="198460" y="740664"/>
                </a:lnTo>
                <a:lnTo>
                  <a:pt x="225090" y="784984"/>
                </a:lnTo>
                <a:lnTo>
                  <a:pt x="253251" y="828348"/>
                </a:lnTo>
                <a:lnTo>
                  <a:pt x="282908" y="870702"/>
                </a:lnTo>
                <a:lnTo>
                  <a:pt x="314025" y="911996"/>
                </a:lnTo>
                <a:lnTo>
                  <a:pt x="346564" y="952179"/>
                </a:lnTo>
                <a:lnTo>
                  <a:pt x="380486" y="991201"/>
                </a:lnTo>
                <a:lnTo>
                  <a:pt x="415749" y="1029016"/>
                </a:lnTo>
                <a:lnTo>
                  <a:pt x="452311" y="1065578"/>
                </a:lnTo>
                <a:lnTo>
                  <a:pt x="490126" y="1100841"/>
                </a:lnTo>
                <a:lnTo>
                  <a:pt x="529148" y="1134763"/>
                </a:lnTo>
                <a:lnTo>
                  <a:pt x="569331" y="1167302"/>
                </a:lnTo>
                <a:lnTo>
                  <a:pt x="610625" y="1198419"/>
                </a:lnTo>
                <a:lnTo>
                  <a:pt x="652979" y="1228076"/>
                </a:lnTo>
                <a:lnTo>
                  <a:pt x="696343" y="1256237"/>
                </a:lnTo>
                <a:lnTo>
                  <a:pt x="740664" y="1282867"/>
                </a:lnTo>
                <a:lnTo>
                  <a:pt x="785886" y="1307934"/>
                </a:lnTo>
                <a:lnTo>
                  <a:pt x="831956" y="1331408"/>
                </a:lnTo>
                <a:lnTo>
                  <a:pt x="878817" y="1353260"/>
                </a:lnTo>
                <a:lnTo>
                  <a:pt x="926412" y="1373463"/>
                </a:lnTo>
                <a:lnTo>
                  <a:pt x="974683" y="1391992"/>
                </a:lnTo>
                <a:lnTo>
                  <a:pt x="1023572" y="1408826"/>
                </a:lnTo>
                <a:lnTo>
                  <a:pt x="1073018" y="1423943"/>
                </a:lnTo>
                <a:lnTo>
                  <a:pt x="1122962" y="1437326"/>
                </a:lnTo>
                <a:lnTo>
                  <a:pt x="1173342" y="1448957"/>
                </a:lnTo>
                <a:lnTo>
                  <a:pt x="1224098" y="1458823"/>
                </a:lnTo>
                <a:lnTo>
                  <a:pt x="1275166" y="1466911"/>
                </a:lnTo>
                <a:lnTo>
                  <a:pt x="1326487" y="1473213"/>
                </a:lnTo>
                <a:lnTo>
                  <a:pt x="1377995" y="1477719"/>
                </a:lnTo>
                <a:lnTo>
                  <a:pt x="1429630" y="1480425"/>
                </a:lnTo>
                <a:lnTo>
                  <a:pt x="1481328" y="1481328"/>
                </a:lnTo>
                <a:lnTo>
                  <a:pt x="1481328" y="859170"/>
                </a:lnTo>
                <a:lnTo>
                  <a:pt x="1451343" y="858646"/>
                </a:lnTo>
                <a:lnTo>
                  <a:pt x="1421395" y="857077"/>
                </a:lnTo>
                <a:lnTo>
                  <a:pt x="1391520" y="854463"/>
                </a:lnTo>
                <a:lnTo>
                  <a:pt x="1361754" y="850808"/>
                </a:lnTo>
                <a:lnTo>
                  <a:pt x="1332134" y="846117"/>
                </a:lnTo>
                <a:lnTo>
                  <a:pt x="1302696" y="840395"/>
                </a:lnTo>
                <a:lnTo>
                  <a:pt x="1273475" y="833649"/>
                </a:lnTo>
                <a:lnTo>
                  <a:pt x="1244508" y="825887"/>
                </a:lnTo>
                <a:lnTo>
                  <a:pt x="1215829" y="817119"/>
                </a:lnTo>
                <a:lnTo>
                  <a:pt x="1187474" y="807355"/>
                </a:lnTo>
                <a:lnTo>
                  <a:pt x="1159477" y="796608"/>
                </a:lnTo>
                <a:lnTo>
                  <a:pt x="1131871" y="784891"/>
                </a:lnTo>
                <a:lnTo>
                  <a:pt x="1104692" y="772217"/>
                </a:lnTo>
                <a:lnTo>
                  <a:pt x="1077972" y="758602"/>
                </a:lnTo>
                <a:lnTo>
                  <a:pt x="1051742" y="744063"/>
                </a:lnTo>
                <a:lnTo>
                  <a:pt x="1026037" y="728617"/>
                </a:lnTo>
                <a:lnTo>
                  <a:pt x="1000886" y="712284"/>
                </a:lnTo>
                <a:lnTo>
                  <a:pt x="976320" y="695083"/>
                </a:lnTo>
                <a:lnTo>
                  <a:pt x="952369" y="677035"/>
                </a:lnTo>
                <a:lnTo>
                  <a:pt x="929064" y="658162"/>
                </a:lnTo>
                <a:lnTo>
                  <a:pt x="906430" y="638487"/>
                </a:lnTo>
                <a:lnTo>
                  <a:pt x="884498" y="618035"/>
                </a:lnTo>
                <a:lnTo>
                  <a:pt x="863292" y="596829"/>
                </a:lnTo>
                <a:lnTo>
                  <a:pt x="842840" y="574897"/>
                </a:lnTo>
                <a:lnTo>
                  <a:pt x="823165" y="552263"/>
                </a:lnTo>
                <a:lnTo>
                  <a:pt x="804292" y="528958"/>
                </a:lnTo>
                <a:lnTo>
                  <a:pt x="786244" y="505007"/>
                </a:lnTo>
                <a:lnTo>
                  <a:pt x="769043" y="480441"/>
                </a:lnTo>
                <a:lnTo>
                  <a:pt x="752710" y="455290"/>
                </a:lnTo>
                <a:lnTo>
                  <a:pt x="737264" y="429585"/>
                </a:lnTo>
                <a:lnTo>
                  <a:pt x="722725" y="403355"/>
                </a:lnTo>
                <a:lnTo>
                  <a:pt x="709110" y="376635"/>
                </a:lnTo>
                <a:lnTo>
                  <a:pt x="696436" y="349456"/>
                </a:lnTo>
                <a:lnTo>
                  <a:pt x="684719" y="321850"/>
                </a:lnTo>
                <a:lnTo>
                  <a:pt x="673972" y="293853"/>
                </a:lnTo>
                <a:lnTo>
                  <a:pt x="664208" y="265498"/>
                </a:lnTo>
                <a:lnTo>
                  <a:pt x="655440" y="236819"/>
                </a:lnTo>
                <a:lnTo>
                  <a:pt x="647678" y="207852"/>
                </a:lnTo>
                <a:lnTo>
                  <a:pt x="640932" y="178631"/>
                </a:lnTo>
                <a:lnTo>
                  <a:pt x="635210" y="149193"/>
                </a:lnTo>
                <a:lnTo>
                  <a:pt x="630519" y="119573"/>
                </a:lnTo>
                <a:lnTo>
                  <a:pt x="626864" y="89807"/>
                </a:lnTo>
                <a:lnTo>
                  <a:pt x="624250" y="59932"/>
                </a:lnTo>
                <a:lnTo>
                  <a:pt x="622681" y="29984"/>
                </a:lnTo>
                <a:lnTo>
                  <a:pt x="622157" y="0"/>
                </a:lnTo>
                <a:close/>
              </a:path>
            </a:pathLst>
          </a:custGeom>
          <a:solidFill>
            <a:srgbClr val="55992E"/>
          </a:solidFill>
          <a:ln>
            <a:noFill/>
          </a:ln>
        </p:spPr>
        <p:txBody>
          <a:bodyPr rtlCol="0" anchor="ctr"/>
          <a:lstStyle/>
          <a:p>
            <a:pPr algn="ctr"/>
          </a:p>
        </p:txBody>
      </p:sp>
      <p:cxnSp>
        <p:nvCxnSpPr>
          <p:cNvPr id="13" name="Connector 12"/>
          <p:cNvCxnSpPr/>
          <p:nvPr/>
        </p:nvCxnSpPr>
        <p:spPr>
          <a:xfrm flipH="1">
            <a:off x="1508760" y="3730752"/>
            <a:ext cx="622157" cy="0"/>
          </a:xfrm>
          <a:prstGeom prst="line">
            <a:avLst/>
          </a:prstGeom>
          <a:ln w="31750">
            <a:solidFill>
              <a:srgbClr val="FFFFFF"/>
            </a:solidFill>
          </a:ln>
        </p:spPr>
      </p:cxnSp>
      <p:cxnSp>
        <p:nvCxnSpPr>
          <p:cNvPr id="14" name="Connector 13"/>
          <p:cNvCxnSpPr/>
          <p:nvPr/>
        </p:nvCxnSpPr>
        <p:spPr>
          <a:xfrm flipV="1">
            <a:off x="2990088" y="2249424"/>
            <a:ext cx="0" cy="622157"/>
          </a:xfrm>
          <a:prstGeom prst="line">
            <a:avLst/>
          </a:prstGeom>
          <a:ln w="31750">
            <a:solidFill>
              <a:srgbClr val="FFFFFF"/>
            </a:solidFill>
          </a:ln>
        </p:spPr>
      </p:cxnSp>
      <p:cxnSp>
        <p:nvCxnSpPr>
          <p:cNvPr id="15" name="Connector 14"/>
          <p:cNvCxnSpPr/>
          <p:nvPr/>
        </p:nvCxnSpPr>
        <p:spPr>
          <a:xfrm>
            <a:off x="3849258" y="3730752"/>
            <a:ext cx="622158" cy="0"/>
          </a:xfrm>
          <a:prstGeom prst="line">
            <a:avLst/>
          </a:prstGeom>
          <a:ln w="31750">
            <a:solidFill>
              <a:srgbClr val="FFFFFF"/>
            </a:solidFill>
          </a:ln>
        </p:spPr>
      </p:cxnSp>
      <p:cxnSp>
        <p:nvCxnSpPr>
          <p:cNvPr id="16" name="Connector 15"/>
          <p:cNvCxnSpPr/>
          <p:nvPr/>
        </p:nvCxnSpPr>
        <p:spPr>
          <a:xfrm>
            <a:off x="2990088" y="4589922"/>
            <a:ext cx="0" cy="223977"/>
          </a:xfrm>
          <a:prstGeom prst="line">
            <a:avLst/>
          </a:prstGeom>
          <a:ln w="31750">
            <a:solidFill>
              <a:srgbClr val="FFFFFF"/>
            </a:solidFill>
          </a:ln>
        </p:spPr>
      </p:cxnSp>
      <p:sp>
        <p:nvSpPr>
          <p:cNvPr id="17" name="Oval 16"/>
          <p:cNvSpPr/>
          <p:nvPr/>
        </p:nvSpPr>
        <p:spPr>
          <a:xfrm>
            <a:off x="2249424" y="2990088"/>
            <a:ext cx="1481328" cy="1481328"/>
          </a:xfrm>
          <a:prstGeom prst="ellipse">
            <a:avLst/>
          </a:prstGeom>
          <a:solidFill>
            <a:srgbClr val="FFFFFF"/>
          </a:solidFill>
          <a:ln w="19050">
            <a:solidFill>
              <a:srgbClr val="D9D9D9"/>
            </a:solidFill>
          </a:ln>
          <a:effectLst/>
        </p:spPr>
        <p:txBody>
          <a:bodyPr rtlCol="0" anchor="ctr"/>
          <a:lstStyle/>
          <a:p/>
        </p:txBody>
      </p:sp>
      <p:sp>
        <p:nvSpPr>
          <p:cNvPr id="18" name="Freeform 17"/>
          <p:cNvSpPr/>
          <p:nvPr/>
        </p:nvSpPr>
        <p:spPr>
          <a:xfrm>
            <a:off x="1108801" y="1891009"/>
            <a:ext cx="1488111" cy="1839743"/>
          </a:xfrm>
          <a:custGeom>
            <a:avLst/>
            <a:gdLst/>
            <a:ahLst/>
            <a:cxnLst/>
            <a:rect l="l" t="t" r="r" b="b"/>
            <a:pathLst>
              <a:path w="1488111" h="1839743">
                <a:moveTo>
                  <a:pt x="399959" y="1839743"/>
                </a:moveTo>
                <a:lnTo>
                  <a:pt x="0" y="1839743"/>
                </a:lnTo>
                <a:lnTo>
                  <a:pt x="1088" y="1775779"/>
                </a:lnTo>
                <a:lnTo>
                  <a:pt x="4349" y="1711890"/>
                </a:lnTo>
                <a:lnTo>
                  <a:pt x="9782" y="1648149"/>
                </a:lnTo>
                <a:lnTo>
                  <a:pt x="17378" y="1584629"/>
                </a:lnTo>
                <a:lnTo>
                  <a:pt x="27129" y="1521404"/>
                </a:lnTo>
                <a:lnTo>
                  <a:pt x="39025" y="1458547"/>
                </a:lnTo>
                <a:lnTo>
                  <a:pt x="53050" y="1396131"/>
                </a:lnTo>
                <a:lnTo>
                  <a:pt x="69190" y="1334228"/>
                </a:lnTo>
                <a:lnTo>
                  <a:pt x="87425" y="1272909"/>
                </a:lnTo>
                <a:lnTo>
                  <a:pt x="107734" y="1212246"/>
                </a:lnTo>
                <a:lnTo>
                  <a:pt x="130094" y="1152309"/>
                </a:lnTo>
                <a:lnTo>
                  <a:pt x="154479" y="1093166"/>
                </a:lnTo>
                <a:lnTo>
                  <a:pt x="180861" y="1034887"/>
                </a:lnTo>
                <a:lnTo>
                  <a:pt x="209209" y="977538"/>
                </a:lnTo>
                <a:lnTo>
                  <a:pt x="239490" y="921187"/>
                </a:lnTo>
                <a:lnTo>
                  <a:pt x="271670" y="865897"/>
                </a:lnTo>
                <a:lnTo>
                  <a:pt x="305711" y="811734"/>
                </a:lnTo>
                <a:lnTo>
                  <a:pt x="341574" y="758759"/>
                </a:lnTo>
                <a:lnTo>
                  <a:pt x="379218" y="707034"/>
                </a:lnTo>
                <a:lnTo>
                  <a:pt x="418598" y="656619"/>
                </a:lnTo>
                <a:lnTo>
                  <a:pt x="459669" y="607572"/>
                </a:lnTo>
                <a:lnTo>
                  <a:pt x="502385" y="559950"/>
                </a:lnTo>
                <a:lnTo>
                  <a:pt x="546695" y="513807"/>
                </a:lnTo>
                <a:lnTo>
                  <a:pt x="592548" y="469198"/>
                </a:lnTo>
                <a:lnTo>
                  <a:pt x="639891" y="426174"/>
                </a:lnTo>
                <a:lnTo>
                  <a:pt x="688670" y="384784"/>
                </a:lnTo>
                <a:lnTo>
                  <a:pt x="738827" y="345077"/>
                </a:lnTo>
                <a:lnTo>
                  <a:pt x="790306" y="307097"/>
                </a:lnTo>
                <a:lnTo>
                  <a:pt x="843046" y="270891"/>
                </a:lnTo>
                <a:lnTo>
                  <a:pt x="896987" y="236498"/>
                </a:lnTo>
                <a:lnTo>
                  <a:pt x="952066" y="203959"/>
                </a:lnTo>
                <a:lnTo>
                  <a:pt x="1008220" y="173311"/>
                </a:lnTo>
                <a:lnTo>
                  <a:pt x="1065383" y="144591"/>
                </a:lnTo>
                <a:lnTo>
                  <a:pt x="1123489" y="117830"/>
                </a:lnTo>
                <a:lnTo>
                  <a:pt x="1182472" y="93061"/>
                </a:lnTo>
                <a:lnTo>
                  <a:pt x="1242262" y="70311"/>
                </a:lnTo>
                <a:lnTo>
                  <a:pt x="1302792" y="49608"/>
                </a:lnTo>
                <a:lnTo>
                  <a:pt x="1363991" y="30974"/>
                </a:lnTo>
                <a:lnTo>
                  <a:pt x="1425787" y="14432"/>
                </a:lnTo>
                <a:lnTo>
                  <a:pt x="1488111" y="0"/>
                </a:lnTo>
              </a:path>
            </a:pathLst>
          </a:custGeom>
          <a:noFill/>
          <a:ln w="38100">
            <a:solidFill>
              <a:srgbClr val="1F86BF"/>
            </a:solidFill>
          </a:ln>
        </p:spPr>
        <p:txBody>
          <a:bodyPr rtlCol="0" anchor="ctr"/>
          <a:lstStyle/>
          <a:p>
            <a:pPr algn="ctr"/>
          </a:p>
        </p:txBody>
      </p:sp>
      <p:sp>
        <p:nvSpPr>
          <p:cNvPr id="19" name="Freeform 18"/>
          <p:cNvSpPr/>
          <p:nvPr/>
        </p:nvSpPr>
        <p:spPr>
          <a:xfrm>
            <a:off x="2578566" y="1805165"/>
            <a:ext cx="197187" cy="171688"/>
          </a:xfrm>
          <a:custGeom>
            <a:avLst/>
            <a:gdLst/>
            <a:ahLst/>
            <a:cxnLst/>
            <a:rect l="l" t="t" r="r" b="b"/>
            <a:pathLst>
              <a:path w="197187" h="171688">
                <a:moveTo>
                  <a:pt x="197187" y="47624"/>
                </a:moveTo>
                <a:lnTo>
                  <a:pt x="36692" y="171688"/>
                </a:lnTo>
                <a:lnTo>
                  <a:pt x="0" y="0"/>
                </a:lnTo>
                <a:close/>
              </a:path>
            </a:pathLst>
          </a:custGeom>
          <a:solidFill>
            <a:srgbClr val="1F86BF"/>
          </a:solidFill>
          <a:ln>
            <a:noFill/>
          </a:ln>
        </p:spPr>
        <p:txBody>
          <a:bodyPr rtlCol="0" anchor="ctr"/>
          <a:lstStyle/>
          <a:p>
            <a:pPr algn="ctr"/>
          </a:p>
        </p:txBody>
      </p:sp>
      <p:sp>
        <p:nvSpPr>
          <p:cNvPr id="20" name="Freeform 19"/>
          <p:cNvSpPr/>
          <p:nvPr/>
        </p:nvSpPr>
        <p:spPr>
          <a:xfrm>
            <a:off x="2990088" y="1849465"/>
            <a:ext cx="1839742" cy="1488111"/>
          </a:xfrm>
          <a:custGeom>
            <a:avLst/>
            <a:gdLst/>
            <a:ahLst/>
            <a:cxnLst/>
            <a:rect l="l" t="t" r="r" b="b"/>
            <a:pathLst>
              <a:path w="1839742" h="1488111">
                <a:moveTo>
                  <a:pt x="0" y="399959"/>
                </a:moveTo>
                <a:lnTo>
                  <a:pt x="0" y="0"/>
                </a:lnTo>
                <a:lnTo>
                  <a:pt x="63963" y="1088"/>
                </a:lnTo>
                <a:lnTo>
                  <a:pt x="127852" y="4349"/>
                </a:lnTo>
                <a:lnTo>
                  <a:pt x="191593" y="9782"/>
                </a:lnTo>
                <a:lnTo>
                  <a:pt x="255113" y="17378"/>
                </a:lnTo>
                <a:lnTo>
                  <a:pt x="318338" y="27129"/>
                </a:lnTo>
                <a:lnTo>
                  <a:pt x="381195" y="39025"/>
                </a:lnTo>
                <a:lnTo>
                  <a:pt x="443611" y="53050"/>
                </a:lnTo>
                <a:lnTo>
                  <a:pt x="505514" y="69190"/>
                </a:lnTo>
                <a:lnTo>
                  <a:pt x="566833" y="87425"/>
                </a:lnTo>
                <a:lnTo>
                  <a:pt x="627496" y="107734"/>
                </a:lnTo>
                <a:lnTo>
                  <a:pt x="687433" y="130094"/>
                </a:lnTo>
                <a:lnTo>
                  <a:pt x="746576" y="154479"/>
                </a:lnTo>
                <a:lnTo>
                  <a:pt x="804855" y="180861"/>
                </a:lnTo>
                <a:lnTo>
                  <a:pt x="862204" y="209209"/>
                </a:lnTo>
                <a:lnTo>
                  <a:pt x="918555" y="239490"/>
                </a:lnTo>
                <a:lnTo>
                  <a:pt x="973845" y="271670"/>
                </a:lnTo>
                <a:lnTo>
                  <a:pt x="1028008" y="305711"/>
                </a:lnTo>
                <a:lnTo>
                  <a:pt x="1080983" y="341574"/>
                </a:lnTo>
                <a:lnTo>
                  <a:pt x="1132708" y="379218"/>
                </a:lnTo>
                <a:lnTo>
                  <a:pt x="1183123" y="418598"/>
                </a:lnTo>
                <a:lnTo>
                  <a:pt x="1232170" y="459669"/>
                </a:lnTo>
                <a:lnTo>
                  <a:pt x="1279792" y="502385"/>
                </a:lnTo>
                <a:lnTo>
                  <a:pt x="1325935" y="546695"/>
                </a:lnTo>
                <a:lnTo>
                  <a:pt x="1370544" y="592548"/>
                </a:lnTo>
                <a:lnTo>
                  <a:pt x="1413568" y="639891"/>
                </a:lnTo>
                <a:lnTo>
                  <a:pt x="1454958" y="688670"/>
                </a:lnTo>
                <a:lnTo>
                  <a:pt x="1494665" y="738827"/>
                </a:lnTo>
                <a:lnTo>
                  <a:pt x="1532645" y="790306"/>
                </a:lnTo>
                <a:lnTo>
                  <a:pt x="1568851" y="843046"/>
                </a:lnTo>
                <a:lnTo>
                  <a:pt x="1603244" y="896987"/>
                </a:lnTo>
                <a:lnTo>
                  <a:pt x="1635783" y="952066"/>
                </a:lnTo>
                <a:lnTo>
                  <a:pt x="1666431" y="1008220"/>
                </a:lnTo>
                <a:lnTo>
                  <a:pt x="1695151" y="1065383"/>
                </a:lnTo>
                <a:lnTo>
                  <a:pt x="1721912" y="1123489"/>
                </a:lnTo>
                <a:lnTo>
                  <a:pt x="1746681" y="1182472"/>
                </a:lnTo>
                <a:lnTo>
                  <a:pt x="1769431" y="1242262"/>
                </a:lnTo>
                <a:lnTo>
                  <a:pt x="1790134" y="1302792"/>
                </a:lnTo>
                <a:lnTo>
                  <a:pt x="1808768" y="1363991"/>
                </a:lnTo>
                <a:lnTo>
                  <a:pt x="1825310" y="1425787"/>
                </a:lnTo>
                <a:lnTo>
                  <a:pt x="1839742" y="1488111"/>
                </a:lnTo>
              </a:path>
            </a:pathLst>
          </a:custGeom>
          <a:noFill/>
          <a:ln w="38100">
            <a:solidFill>
              <a:srgbClr val="D97316"/>
            </a:solidFill>
          </a:ln>
        </p:spPr>
        <p:txBody>
          <a:bodyPr rtlCol="0" anchor="ctr"/>
          <a:lstStyle/>
          <a:p>
            <a:pPr algn="ctr"/>
          </a:p>
        </p:txBody>
      </p:sp>
      <p:sp>
        <p:nvSpPr>
          <p:cNvPr id="21" name="Freeform 20"/>
          <p:cNvSpPr/>
          <p:nvPr/>
        </p:nvSpPr>
        <p:spPr>
          <a:xfrm>
            <a:off x="4743986" y="3319230"/>
            <a:ext cx="171688" cy="197187"/>
          </a:xfrm>
          <a:custGeom>
            <a:avLst/>
            <a:gdLst/>
            <a:ahLst/>
            <a:cxnLst/>
            <a:rect l="l" t="t" r="r" b="b"/>
            <a:pathLst>
              <a:path w="171688" h="197187">
                <a:moveTo>
                  <a:pt x="124064" y="197187"/>
                </a:moveTo>
                <a:lnTo>
                  <a:pt x="0" y="36692"/>
                </a:lnTo>
                <a:lnTo>
                  <a:pt x="171688" y="0"/>
                </a:lnTo>
                <a:close/>
              </a:path>
            </a:pathLst>
          </a:custGeom>
          <a:solidFill>
            <a:srgbClr val="D97316"/>
          </a:solidFill>
          <a:ln>
            <a:noFill/>
          </a:ln>
        </p:spPr>
        <p:txBody>
          <a:bodyPr rtlCol="0" anchor="ctr"/>
          <a:lstStyle/>
          <a:p>
            <a:pPr algn="ctr"/>
          </a:p>
        </p:txBody>
      </p:sp>
      <p:sp>
        <p:nvSpPr>
          <p:cNvPr id="22" name="Freeform 21"/>
          <p:cNvSpPr/>
          <p:nvPr/>
        </p:nvSpPr>
        <p:spPr>
          <a:xfrm>
            <a:off x="3383263" y="3730752"/>
            <a:ext cx="1488111" cy="1839742"/>
          </a:xfrm>
          <a:custGeom>
            <a:avLst/>
            <a:gdLst/>
            <a:ahLst/>
            <a:cxnLst/>
            <a:rect l="l" t="t" r="r" b="b"/>
            <a:pathLst>
              <a:path w="1488111" h="1839742">
                <a:moveTo>
                  <a:pt x="1088153" y="0"/>
                </a:moveTo>
                <a:lnTo>
                  <a:pt x="1488111" y="0"/>
                </a:lnTo>
                <a:lnTo>
                  <a:pt x="1487023" y="63963"/>
                </a:lnTo>
                <a:lnTo>
                  <a:pt x="1483762" y="127852"/>
                </a:lnTo>
                <a:lnTo>
                  <a:pt x="1478329" y="191593"/>
                </a:lnTo>
                <a:lnTo>
                  <a:pt x="1470733" y="255113"/>
                </a:lnTo>
                <a:lnTo>
                  <a:pt x="1460982" y="318338"/>
                </a:lnTo>
                <a:lnTo>
                  <a:pt x="1449086" y="381195"/>
                </a:lnTo>
                <a:lnTo>
                  <a:pt x="1435061" y="443611"/>
                </a:lnTo>
                <a:lnTo>
                  <a:pt x="1418921" y="505514"/>
                </a:lnTo>
                <a:lnTo>
                  <a:pt x="1400686" y="566833"/>
                </a:lnTo>
                <a:lnTo>
                  <a:pt x="1380377" y="627496"/>
                </a:lnTo>
                <a:lnTo>
                  <a:pt x="1358017" y="687433"/>
                </a:lnTo>
                <a:lnTo>
                  <a:pt x="1333632" y="746576"/>
                </a:lnTo>
                <a:lnTo>
                  <a:pt x="1307250" y="804855"/>
                </a:lnTo>
                <a:lnTo>
                  <a:pt x="1278902" y="862204"/>
                </a:lnTo>
                <a:lnTo>
                  <a:pt x="1248621" y="918555"/>
                </a:lnTo>
                <a:lnTo>
                  <a:pt x="1216441" y="973845"/>
                </a:lnTo>
                <a:lnTo>
                  <a:pt x="1182400" y="1028008"/>
                </a:lnTo>
                <a:lnTo>
                  <a:pt x="1146537" y="1080983"/>
                </a:lnTo>
                <a:lnTo>
                  <a:pt x="1108893" y="1132708"/>
                </a:lnTo>
                <a:lnTo>
                  <a:pt x="1069513" y="1183123"/>
                </a:lnTo>
                <a:lnTo>
                  <a:pt x="1028442" y="1232170"/>
                </a:lnTo>
                <a:lnTo>
                  <a:pt x="985726" y="1279792"/>
                </a:lnTo>
                <a:lnTo>
                  <a:pt x="941416" y="1325935"/>
                </a:lnTo>
                <a:lnTo>
                  <a:pt x="895563" y="1370544"/>
                </a:lnTo>
                <a:lnTo>
                  <a:pt x="848220" y="1413568"/>
                </a:lnTo>
                <a:lnTo>
                  <a:pt x="799441" y="1454958"/>
                </a:lnTo>
                <a:lnTo>
                  <a:pt x="749284" y="1494665"/>
                </a:lnTo>
                <a:lnTo>
                  <a:pt x="697805" y="1532645"/>
                </a:lnTo>
                <a:lnTo>
                  <a:pt x="645065" y="1568851"/>
                </a:lnTo>
                <a:lnTo>
                  <a:pt x="591124" y="1603244"/>
                </a:lnTo>
                <a:lnTo>
                  <a:pt x="536045" y="1635783"/>
                </a:lnTo>
                <a:lnTo>
                  <a:pt x="479891" y="1666431"/>
                </a:lnTo>
                <a:lnTo>
                  <a:pt x="422728" y="1695151"/>
                </a:lnTo>
                <a:lnTo>
                  <a:pt x="364622" y="1721912"/>
                </a:lnTo>
                <a:lnTo>
                  <a:pt x="305639" y="1746681"/>
                </a:lnTo>
                <a:lnTo>
                  <a:pt x="245849" y="1769431"/>
                </a:lnTo>
                <a:lnTo>
                  <a:pt x="185319" y="1790134"/>
                </a:lnTo>
                <a:lnTo>
                  <a:pt x="124120" y="1808768"/>
                </a:lnTo>
                <a:lnTo>
                  <a:pt x="62324" y="1825310"/>
                </a:lnTo>
                <a:lnTo>
                  <a:pt x="0" y="1839742"/>
                </a:lnTo>
              </a:path>
            </a:pathLst>
          </a:custGeom>
          <a:noFill/>
          <a:ln w="38100">
            <a:solidFill>
              <a:srgbClr val="CC3333"/>
            </a:solidFill>
          </a:ln>
        </p:spPr>
        <p:txBody>
          <a:bodyPr rtlCol="0" anchor="ctr"/>
          <a:lstStyle/>
          <a:p>
            <a:pPr algn="ctr"/>
          </a:p>
        </p:txBody>
      </p:sp>
      <p:sp>
        <p:nvSpPr>
          <p:cNvPr id="23" name="Freeform 22"/>
          <p:cNvSpPr/>
          <p:nvPr/>
        </p:nvSpPr>
        <p:spPr>
          <a:xfrm>
            <a:off x="3204422" y="5484650"/>
            <a:ext cx="197187" cy="171688"/>
          </a:xfrm>
          <a:custGeom>
            <a:avLst/>
            <a:gdLst/>
            <a:ahLst/>
            <a:cxnLst/>
            <a:rect l="l" t="t" r="r" b="b"/>
            <a:pathLst>
              <a:path w="197187" h="171688">
                <a:moveTo>
                  <a:pt x="0" y="124064"/>
                </a:moveTo>
                <a:lnTo>
                  <a:pt x="160495" y="0"/>
                </a:lnTo>
                <a:lnTo>
                  <a:pt x="197187" y="171688"/>
                </a:lnTo>
                <a:close/>
              </a:path>
            </a:pathLst>
          </a:custGeom>
          <a:solidFill>
            <a:srgbClr val="CC3333"/>
          </a:solidFill>
          <a:ln>
            <a:noFill/>
          </a:ln>
        </p:spPr>
        <p:txBody>
          <a:bodyPr rtlCol="0" anchor="ctr"/>
          <a:lstStyle/>
          <a:p>
            <a:pPr algn="ctr"/>
          </a:p>
        </p:txBody>
      </p:sp>
      <p:sp>
        <p:nvSpPr>
          <p:cNvPr id="24" name="Freeform 23"/>
          <p:cNvSpPr/>
          <p:nvPr/>
        </p:nvSpPr>
        <p:spPr>
          <a:xfrm>
            <a:off x="1150345" y="4123927"/>
            <a:ext cx="1839743" cy="1488111"/>
          </a:xfrm>
          <a:custGeom>
            <a:avLst/>
            <a:gdLst/>
            <a:ahLst/>
            <a:cxnLst/>
            <a:rect l="l" t="t" r="r" b="b"/>
            <a:pathLst>
              <a:path w="1839743" h="1488111">
                <a:moveTo>
                  <a:pt x="1839743" y="1088153"/>
                </a:moveTo>
                <a:lnTo>
                  <a:pt x="1839743" y="1488111"/>
                </a:lnTo>
                <a:lnTo>
                  <a:pt x="1775779" y="1487023"/>
                </a:lnTo>
                <a:lnTo>
                  <a:pt x="1711890" y="1483762"/>
                </a:lnTo>
                <a:lnTo>
                  <a:pt x="1648149" y="1478329"/>
                </a:lnTo>
                <a:lnTo>
                  <a:pt x="1584629" y="1470733"/>
                </a:lnTo>
                <a:lnTo>
                  <a:pt x="1521404" y="1460982"/>
                </a:lnTo>
                <a:lnTo>
                  <a:pt x="1458547" y="1449086"/>
                </a:lnTo>
                <a:lnTo>
                  <a:pt x="1396131" y="1435061"/>
                </a:lnTo>
                <a:lnTo>
                  <a:pt x="1334228" y="1418921"/>
                </a:lnTo>
                <a:lnTo>
                  <a:pt x="1272909" y="1400686"/>
                </a:lnTo>
                <a:lnTo>
                  <a:pt x="1212246" y="1380377"/>
                </a:lnTo>
                <a:lnTo>
                  <a:pt x="1152309" y="1358017"/>
                </a:lnTo>
                <a:lnTo>
                  <a:pt x="1093166" y="1333632"/>
                </a:lnTo>
                <a:lnTo>
                  <a:pt x="1034887" y="1307250"/>
                </a:lnTo>
                <a:lnTo>
                  <a:pt x="977538" y="1278902"/>
                </a:lnTo>
                <a:lnTo>
                  <a:pt x="921187" y="1248621"/>
                </a:lnTo>
                <a:lnTo>
                  <a:pt x="865897" y="1216441"/>
                </a:lnTo>
                <a:lnTo>
                  <a:pt x="811734" y="1182400"/>
                </a:lnTo>
                <a:lnTo>
                  <a:pt x="758759" y="1146537"/>
                </a:lnTo>
                <a:lnTo>
                  <a:pt x="707034" y="1108893"/>
                </a:lnTo>
                <a:lnTo>
                  <a:pt x="656619" y="1069513"/>
                </a:lnTo>
                <a:lnTo>
                  <a:pt x="607572" y="1028442"/>
                </a:lnTo>
                <a:lnTo>
                  <a:pt x="559950" y="985726"/>
                </a:lnTo>
                <a:lnTo>
                  <a:pt x="513807" y="941416"/>
                </a:lnTo>
                <a:lnTo>
                  <a:pt x="469198" y="895563"/>
                </a:lnTo>
                <a:lnTo>
                  <a:pt x="426174" y="848220"/>
                </a:lnTo>
                <a:lnTo>
                  <a:pt x="384784" y="799441"/>
                </a:lnTo>
                <a:lnTo>
                  <a:pt x="345077" y="749284"/>
                </a:lnTo>
                <a:lnTo>
                  <a:pt x="307097" y="697805"/>
                </a:lnTo>
                <a:lnTo>
                  <a:pt x="270891" y="645065"/>
                </a:lnTo>
                <a:lnTo>
                  <a:pt x="236498" y="591124"/>
                </a:lnTo>
                <a:lnTo>
                  <a:pt x="203959" y="536045"/>
                </a:lnTo>
                <a:lnTo>
                  <a:pt x="173311" y="479891"/>
                </a:lnTo>
                <a:lnTo>
                  <a:pt x="144591" y="422728"/>
                </a:lnTo>
                <a:lnTo>
                  <a:pt x="117830" y="364622"/>
                </a:lnTo>
                <a:lnTo>
                  <a:pt x="93061" y="305639"/>
                </a:lnTo>
                <a:lnTo>
                  <a:pt x="70311" y="245849"/>
                </a:lnTo>
                <a:lnTo>
                  <a:pt x="49608" y="185319"/>
                </a:lnTo>
                <a:lnTo>
                  <a:pt x="30974" y="124120"/>
                </a:lnTo>
                <a:lnTo>
                  <a:pt x="14432" y="62324"/>
                </a:lnTo>
                <a:lnTo>
                  <a:pt x="0" y="0"/>
                </a:lnTo>
              </a:path>
            </a:pathLst>
          </a:custGeom>
          <a:noFill/>
          <a:ln w="38100">
            <a:solidFill>
              <a:srgbClr val="55992E"/>
            </a:solidFill>
          </a:ln>
        </p:spPr>
        <p:txBody>
          <a:bodyPr rtlCol="0" anchor="ctr"/>
          <a:lstStyle/>
          <a:p>
            <a:pPr algn="ctr"/>
          </a:p>
        </p:txBody>
      </p:sp>
      <p:sp>
        <p:nvSpPr>
          <p:cNvPr id="25" name="Freeform 24"/>
          <p:cNvSpPr/>
          <p:nvPr/>
        </p:nvSpPr>
        <p:spPr>
          <a:xfrm>
            <a:off x="1064501" y="3945086"/>
            <a:ext cx="171688" cy="197187"/>
          </a:xfrm>
          <a:custGeom>
            <a:avLst/>
            <a:gdLst/>
            <a:ahLst/>
            <a:cxnLst/>
            <a:rect l="l" t="t" r="r" b="b"/>
            <a:pathLst>
              <a:path w="171688" h="197187">
                <a:moveTo>
                  <a:pt x="47624" y="0"/>
                </a:moveTo>
                <a:lnTo>
                  <a:pt x="171688" y="160495"/>
                </a:lnTo>
                <a:lnTo>
                  <a:pt x="0" y="197187"/>
                </a:lnTo>
                <a:close/>
              </a:path>
            </a:pathLst>
          </a:custGeom>
          <a:solidFill>
            <a:srgbClr val="55992E"/>
          </a:solidFill>
          <a:ln>
            <a:noFill/>
          </a:ln>
        </p:spPr>
        <p:txBody>
          <a:bodyPr rtlCol="0" anchor="ctr"/>
          <a:lstStyle/>
          <a:p>
            <a:pPr algn="ctr"/>
          </a:p>
        </p:txBody>
      </p:sp>
      <p:sp>
        <p:nvSpPr>
          <p:cNvPr id="26" name="Rounded Rectangle 25"/>
          <p:cNvSpPr/>
          <p:nvPr/>
        </p:nvSpPr>
        <p:spPr>
          <a:xfrm>
            <a:off x="4975067" y="3093780"/>
            <a:ext cx="355518" cy="1273942"/>
          </a:xfrm>
          <a:prstGeom prst="roundRect">
            <a:avLst>
              <a:gd name="adj" fmla="val 12000"/>
            </a:avLst>
          </a:prstGeom>
          <a:solidFill>
            <a:srgbClr val="D33327"/>
          </a:solidFill>
          <a:ln w="19050">
            <a:solidFill>
              <a:srgbClr val="FFFFFF"/>
            </a:solidFill>
          </a:ln>
          <a:effectLst/>
        </p:spPr>
        <p:txBody>
          <a:bodyPr rtlCol="0" anchor="ctr"/>
          <a:lstStyle/>
          <a:p/>
        </p:txBody>
      </p:sp>
      <p:sp>
        <p:nvSpPr>
          <p:cNvPr id="27" name="TextBox 26"/>
          <p:cNvSpPr txBox="1"/>
          <p:nvPr/>
        </p:nvSpPr>
        <p:spPr>
          <a:xfrm rot="5400000">
            <a:off x="4904696" y="3482622"/>
            <a:ext cx="496260" cy="496260"/>
          </a:xfrm>
          <a:prstGeom prst="rect">
            <a:avLst/>
          </a:prstGeom>
          <a:noFill/>
        </p:spPr>
        <p:txBody>
          <a:bodyPr wrap="square" anchor="ctr" lIns="0" rIns="0" tIns="0" bIns="0">
            <a:noAutofit/>
          </a:bodyPr>
          <a:lstStyle/>
          <a:p>
            <a:pPr algn="ctr">
              <a:spcBef>
                <a:spcPts val="0"/>
              </a:spcBef>
              <a:spcAft>
                <a:spcPts val="0"/>
              </a:spcAft>
            </a:pPr>
            <a:r>
              <a:rPr lang="tr-TR" sz="1539" b="1" i="0">
                <a:solidFill>
                  <a:srgbClr val="FFFFFF"/>
                </a:solidFill>
                <a:latin typeface="Calibri"/>
              </a:rPr>
              <a:t>AFET</a:t>
            </a:r>
          </a:p>
        </p:txBody>
      </p:sp>
      <p:sp>
        <p:nvSpPr>
          <p:cNvPr id="28" name="TextBox 27"/>
          <p:cNvSpPr txBox="1"/>
          <p:nvPr/>
        </p:nvSpPr>
        <p:spPr>
          <a:xfrm>
            <a:off x="2353116" y="3286353"/>
            <a:ext cx="1273942" cy="888796"/>
          </a:xfrm>
          <a:prstGeom prst="rect">
            <a:avLst/>
          </a:prstGeom>
          <a:noFill/>
        </p:spPr>
        <p:txBody>
          <a:bodyPr wrap="square" anchor="ctr" lIns="0" rIns="0" tIns="0" bIns="0">
            <a:noAutofit/>
          </a:bodyPr>
          <a:lstStyle/>
          <a:p>
            <a:pPr algn="ctr">
              <a:spcBef>
                <a:spcPts val="0"/>
              </a:spcBef>
              <a:spcAft>
                <a:spcPts val="0"/>
              </a:spcAft>
            </a:pPr>
            <a:r>
              <a:rPr lang="tr-TR" sz="1283" b="1" i="0">
                <a:solidFill>
                  <a:srgbClr val="262626"/>
                </a:solidFill>
                <a:latin typeface="Calibri"/>
              </a:rPr>
              <a:t>BÜTÜNCÜL</a:t>
            </a:r>
          </a:p>
          <a:p>
            <a:pPr algn="ctr">
              <a:spcBef>
                <a:spcPts val="0"/>
              </a:spcBef>
              <a:spcAft>
                <a:spcPts val="0"/>
              </a:spcAft>
            </a:pPr>
            <a:r>
              <a:rPr lang="tr-TR" sz="1283" b="1" i="0">
                <a:solidFill>
                  <a:srgbClr val="262626"/>
                </a:solidFill>
                <a:latin typeface="Calibri"/>
              </a:rPr>
              <a:t>AFET YÖNETİMİ</a:t>
            </a:r>
          </a:p>
        </p:txBody>
      </p:sp>
      <p:sp>
        <p:nvSpPr>
          <p:cNvPr id="29" name="TextBox 28"/>
          <p:cNvSpPr txBox="1"/>
          <p:nvPr/>
        </p:nvSpPr>
        <p:spPr>
          <a:xfrm rot="16771343">
            <a:off x="1679793" y="3380984"/>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R</a:t>
            </a:r>
          </a:p>
        </p:txBody>
      </p:sp>
      <p:sp>
        <p:nvSpPr>
          <p:cNvPr id="30" name="TextBox 29"/>
          <p:cNvSpPr txBox="1"/>
          <p:nvPr/>
        </p:nvSpPr>
        <p:spPr>
          <a:xfrm rot="16977431">
            <a:off x="1693465" y="3312185"/>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i</a:t>
            </a:r>
          </a:p>
        </p:txBody>
      </p:sp>
      <p:sp>
        <p:nvSpPr>
          <p:cNvPr id="31" name="TextBox 30"/>
          <p:cNvSpPr txBox="1"/>
          <p:nvPr/>
        </p:nvSpPr>
        <p:spPr>
          <a:xfrm rot="17141703">
            <a:off x="1707301" y="3258009"/>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s</a:t>
            </a:r>
          </a:p>
        </p:txBody>
      </p:sp>
      <p:sp>
        <p:nvSpPr>
          <p:cNvPr id="32" name="TextBox 31"/>
          <p:cNvSpPr txBox="1"/>
          <p:nvPr/>
        </p:nvSpPr>
        <p:spPr>
          <a:xfrm rot="17365712">
            <a:off x="1730306" y="3185321"/>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k</a:t>
            </a:r>
          </a:p>
        </p:txBody>
      </p:sp>
      <p:sp>
        <p:nvSpPr>
          <p:cNvPr id="33" name="TextBox 32"/>
          <p:cNvSpPr txBox="1"/>
          <p:nvPr/>
        </p:nvSpPr>
        <p:spPr>
          <a:xfrm rot="17723886">
            <a:off x="1776774" y="3072655"/>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v</a:t>
            </a:r>
          </a:p>
        </p:txBody>
      </p:sp>
      <p:sp>
        <p:nvSpPr>
          <p:cNvPr id="34" name="TextBox 33"/>
          <p:cNvSpPr txBox="1"/>
          <p:nvPr/>
        </p:nvSpPr>
        <p:spPr>
          <a:xfrm rot="17972785">
            <a:off x="1815852" y="2997498"/>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e</a:t>
            </a:r>
          </a:p>
        </p:txBody>
      </p:sp>
      <p:sp>
        <p:nvSpPr>
          <p:cNvPr id="35" name="TextBox 34"/>
          <p:cNvSpPr txBox="1"/>
          <p:nvPr/>
        </p:nvSpPr>
        <p:spPr>
          <a:xfrm rot="18338167">
            <a:off x="1882817" y="289275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Z</a:t>
            </a:r>
          </a:p>
        </p:txBody>
      </p:sp>
      <p:sp>
        <p:nvSpPr>
          <p:cNvPr id="36" name="TextBox 35"/>
          <p:cNvSpPr txBox="1"/>
          <p:nvPr/>
        </p:nvSpPr>
        <p:spPr>
          <a:xfrm rot="18585791">
            <a:off x="1934353" y="282607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a</a:t>
            </a:r>
          </a:p>
        </p:txBody>
      </p:sp>
      <p:sp>
        <p:nvSpPr>
          <p:cNvPr id="37" name="TextBox 36"/>
          <p:cNvSpPr txBox="1"/>
          <p:nvPr/>
        </p:nvSpPr>
        <p:spPr>
          <a:xfrm rot="18802193">
            <a:off x="1983222" y="2770965"/>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r</a:t>
            </a:r>
          </a:p>
        </p:txBody>
      </p:sp>
      <p:sp>
        <p:nvSpPr>
          <p:cNvPr id="38" name="TextBox 37"/>
          <p:cNvSpPr txBox="1"/>
          <p:nvPr/>
        </p:nvSpPr>
        <p:spPr>
          <a:xfrm rot="19018595">
            <a:off x="2035460" y="271904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a</a:t>
            </a:r>
          </a:p>
        </p:txBody>
      </p:sp>
      <p:sp>
        <p:nvSpPr>
          <p:cNvPr id="39" name="TextBox 38"/>
          <p:cNvSpPr txBox="1"/>
          <p:nvPr/>
        </p:nvSpPr>
        <p:spPr>
          <a:xfrm rot="19234997">
            <a:off x="2090861" y="267050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r</a:t>
            </a:r>
          </a:p>
        </p:txBody>
      </p:sp>
      <p:sp>
        <p:nvSpPr>
          <p:cNvPr id="40" name="TextBox 39"/>
          <p:cNvSpPr txBox="1"/>
          <p:nvPr/>
        </p:nvSpPr>
        <p:spPr>
          <a:xfrm rot="19595282">
            <a:off x="2189514" y="2597736"/>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A</a:t>
            </a:r>
          </a:p>
        </p:txBody>
      </p:sp>
      <p:sp>
        <p:nvSpPr>
          <p:cNvPr id="41" name="TextBox 40"/>
          <p:cNvSpPr txBox="1"/>
          <p:nvPr/>
        </p:nvSpPr>
        <p:spPr>
          <a:xfrm rot="19851030">
            <a:off x="2263901" y="255254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z</a:t>
            </a:r>
          </a:p>
        </p:txBody>
      </p:sp>
      <p:sp>
        <p:nvSpPr>
          <p:cNvPr id="42" name="TextBox 41"/>
          <p:cNvSpPr txBox="1"/>
          <p:nvPr/>
        </p:nvSpPr>
        <p:spPr>
          <a:xfrm rot="20078145">
            <a:off x="2332616" y="2517141"/>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a</a:t>
            </a:r>
          </a:p>
        </p:txBody>
      </p:sp>
      <p:sp>
        <p:nvSpPr>
          <p:cNvPr id="43" name="TextBox 42"/>
          <p:cNvSpPr txBox="1"/>
          <p:nvPr/>
        </p:nvSpPr>
        <p:spPr>
          <a:xfrm rot="20266551">
            <a:off x="2391293" y="2491269"/>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l</a:t>
            </a:r>
          </a:p>
        </p:txBody>
      </p:sp>
      <p:sp>
        <p:nvSpPr>
          <p:cNvPr id="44" name="TextBox 43"/>
          <p:cNvSpPr txBox="1"/>
          <p:nvPr/>
        </p:nvSpPr>
        <p:spPr>
          <a:xfrm rot="20417522">
            <a:off x="2439279" y="2472881"/>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t</a:t>
            </a:r>
          </a:p>
        </p:txBody>
      </p:sp>
      <p:sp>
        <p:nvSpPr>
          <p:cNvPr id="45" name="TextBox 44"/>
          <p:cNvSpPr txBox="1"/>
          <p:nvPr/>
        </p:nvSpPr>
        <p:spPr>
          <a:xfrm rot="20713213">
            <a:off x="2535382" y="244305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m</a:t>
            </a:r>
          </a:p>
        </p:txBody>
      </p:sp>
      <p:sp>
        <p:nvSpPr>
          <p:cNvPr id="46" name="TextBox 45"/>
          <p:cNvSpPr txBox="1"/>
          <p:nvPr/>
        </p:nvSpPr>
        <p:spPr>
          <a:xfrm rot="21046339">
            <a:off x="2646258" y="241947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a</a:t>
            </a:r>
          </a:p>
        </p:txBody>
      </p:sp>
      <p:sp>
        <p:nvSpPr>
          <p:cNvPr id="47" name="TextBox 46"/>
          <p:cNvSpPr txBox="1"/>
          <p:nvPr/>
        </p:nvSpPr>
        <p:spPr>
          <a:xfrm rot="1321223">
            <a:off x="3272687" y="2489701"/>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H</a:t>
            </a:r>
          </a:p>
        </p:txBody>
      </p:sp>
      <p:sp>
        <p:nvSpPr>
          <p:cNvPr id="48" name="TextBox 47"/>
          <p:cNvSpPr txBox="1"/>
          <p:nvPr/>
        </p:nvSpPr>
        <p:spPr>
          <a:xfrm rot="1607835">
            <a:off x="3361506" y="2530008"/>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a</a:t>
            </a:r>
          </a:p>
        </p:txBody>
      </p:sp>
      <p:sp>
        <p:nvSpPr>
          <p:cNvPr id="49" name="TextBox 48"/>
          <p:cNvSpPr txBox="1"/>
          <p:nvPr/>
        </p:nvSpPr>
        <p:spPr>
          <a:xfrm rot="1834949">
            <a:off x="3429315" y="256711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z</a:t>
            </a:r>
          </a:p>
        </p:txBody>
      </p:sp>
      <p:sp>
        <p:nvSpPr>
          <p:cNvPr id="50" name="TextBox 49"/>
          <p:cNvSpPr txBox="1"/>
          <p:nvPr/>
        </p:nvSpPr>
        <p:spPr>
          <a:xfrm rot="1998864">
            <a:off x="3476657" y="2596640"/>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ı</a:t>
            </a:r>
          </a:p>
        </p:txBody>
      </p:sp>
      <p:sp>
        <p:nvSpPr>
          <p:cNvPr id="51" name="TextBox 50"/>
          <p:cNvSpPr txBox="1"/>
          <p:nvPr/>
        </p:nvSpPr>
        <p:spPr>
          <a:xfrm rot="2152066">
            <a:off x="3519586" y="2626245"/>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r</a:t>
            </a:r>
          </a:p>
        </p:txBody>
      </p:sp>
      <p:sp>
        <p:nvSpPr>
          <p:cNvPr id="52" name="TextBox 51"/>
          <p:cNvSpPr txBox="1"/>
          <p:nvPr/>
        </p:nvSpPr>
        <p:spPr>
          <a:xfrm rot="2305267">
            <a:off x="3561153" y="265773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l</a:t>
            </a:r>
          </a:p>
        </p:txBody>
      </p:sp>
      <p:sp>
        <p:nvSpPr>
          <p:cNvPr id="53" name="TextBox 52"/>
          <p:cNvSpPr txBox="1"/>
          <p:nvPr/>
        </p:nvSpPr>
        <p:spPr>
          <a:xfrm rot="2430473">
            <a:off x="3594056" y="268482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ı</a:t>
            </a:r>
          </a:p>
        </p:txBody>
      </p:sp>
      <p:sp>
        <p:nvSpPr>
          <p:cNvPr id="54" name="TextBox 53"/>
          <p:cNvSpPr txBox="1"/>
          <p:nvPr/>
        </p:nvSpPr>
        <p:spPr>
          <a:xfrm rot="2615414">
            <a:off x="3640800" y="272698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k</a:t>
            </a:r>
          </a:p>
        </p:txBody>
      </p:sp>
      <p:sp>
        <p:nvSpPr>
          <p:cNvPr id="55" name="TextBox 54"/>
          <p:cNvSpPr txBox="1"/>
          <p:nvPr/>
        </p:nvSpPr>
        <p:spPr>
          <a:xfrm rot="2800356">
            <a:off x="3685209" y="2771596"/>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l</a:t>
            </a:r>
          </a:p>
        </p:txBody>
      </p:sp>
      <p:sp>
        <p:nvSpPr>
          <p:cNvPr id="56" name="TextBox 55"/>
          <p:cNvSpPr txBox="1"/>
          <p:nvPr/>
        </p:nvSpPr>
        <p:spPr>
          <a:xfrm rot="2925562">
            <a:off x="3713883" y="2803126"/>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ı</a:t>
            </a:r>
          </a:p>
        </p:txBody>
      </p:sp>
      <p:sp>
        <p:nvSpPr>
          <p:cNvPr id="57" name="TextBox 56"/>
          <p:cNvSpPr txBox="1"/>
          <p:nvPr/>
        </p:nvSpPr>
        <p:spPr>
          <a:xfrm rot="3275771">
            <a:off x="3787775" y="2896615"/>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O</a:t>
            </a:r>
          </a:p>
        </p:txBody>
      </p:sp>
      <p:sp>
        <p:nvSpPr>
          <p:cNvPr id="58" name="TextBox 57"/>
          <p:cNvSpPr txBox="1"/>
          <p:nvPr/>
        </p:nvSpPr>
        <p:spPr>
          <a:xfrm rot="3510731">
            <a:off x="3831849" y="2963340"/>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l</a:t>
            </a:r>
          </a:p>
        </p:txBody>
      </p:sp>
      <p:sp>
        <p:nvSpPr>
          <p:cNvPr id="59" name="TextBox 58"/>
          <p:cNvSpPr txBox="1"/>
          <p:nvPr/>
        </p:nvSpPr>
        <p:spPr>
          <a:xfrm rot="3780656">
            <a:off x="3876719" y="3043499"/>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m</a:t>
            </a:r>
          </a:p>
        </p:txBody>
      </p:sp>
      <p:sp>
        <p:nvSpPr>
          <p:cNvPr id="60" name="TextBox 59"/>
          <p:cNvSpPr txBox="1"/>
          <p:nvPr/>
        </p:nvSpPr>
        <p:spPr>
          <a:xfrm rot="4113782">
            <a:off x="3923209" y="314688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a</a:t>
            </a:r>
          </a:p>
        </p:txBody>
      </p:sp>
      <p:sp>
        <p:nvSpPr>
          <p:cNvPr id="61" name="TextBox 60"/>
          <p:cNvSpPr txBox="1"/>
          <p:nvPr/>
        </p:nvSpPr>
        <p:spPr>
          <a:xfrm rot="19752785">
            <a:off x="3432906" y="4579915"/>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M</a:t>
            </a:r>
          </a:p>
        </p:txBody>
      </p:sp>
      <p:sp>
        <p:nvSpPr>
          <p:cNvPr id="62" name="TextBox 61"/>
          <p:cNvSpPr txBox="1"/>
          <p:nvPr/>
        </p:nvSpPr>
        <p:spPr>
          <a:xfrm rot="19393256">
            <a:off x="3534582" y="451189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ü</a:t>
            </a:r>
          </a:p>
        </p:txBody>
      </p:sp>
      <p:sp>
        <p:nvSpPr>
          <p:cNvPr id="63" name="TextBox 62"/>
          <p:cNvSpPr txBox="1"/>
          <p:nvPr/>
        </p:nvSpPr>
        <p:spPr>
          <a:xfrm rot="19119747">
            <a:off x="3606860" y="4453241"/>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d</a:t>
            </a:r>
          </a:p>
        </p:txBody>
      </p:sp>
      <p:sp>
        <p:nvSpPr>
          <p:cNvPr id="64" name="TextBox 63"/>
          <p:cNvSpPr txBox="1"/>
          <p:nvPr/>
        </p:nvSpPr>
        <p:spPr>
          <a:xfrm rot="18857190">
            <a:off x="3671649" y="4391704"/>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a</a:t>
            </a:r>
          </a:p>
        </p:txBody>
      </p:sp>
      <p:sp>
        <p:nvSpPr>
          <p:cNvPr id="65" name="TextBox 64"/>
          <p:cNvSpPr txBox="1"/>
          <p:nvPr/>
        </p:nvSpPr>
        <p:spPr>
          <a:xfrm rot="18594632">
            <a:off x="3731554" y="4325402"/>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h</a:t>
            </a:r>
          </a:p>
        </p:txBody>
      </p:sp>
      <p:sp>
        <p:nvSpPr>
          <p:cNvPr id="66" name="TextBox 65"/>
          <p:cNvSpPr txBox="1"/>
          <p:nvPr/>
        </p:nvSpPr>
        <p:spPr>
          <a:xfrm rot="18332074">
            <a:off x="3786225" y="425472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a</a:t>
            </a:r>
          </a:p>
        </p:txBody>
      </p:sp>
      <p:sp>
        <p:nvSpPr>
          <p:cNvPr id="67" name="TextBox 66"/>
          <p:cNvSpPr txBox="1"/>
          <p:nvPr/>
        </p:nvSpPr>
        <p:spPr>
          <a:xfrm rot="18143668">
            <a:off x="3822052" y="420153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l</a:t>
            </a:r>
          </a:p>
        </p:txBody>
      </p:sp>
      <p:sp>
        <p:nvSpPr>
          <p:cNvPr id="68" name="TextBox 67"/>
          <p:cNvSpPr txBox="1"/>
          <p:nvPr/>
        </p:nvSpPr>
        <p:spPr>
          <a:xfrm rot="17952753">
            <a:off x="3855329" y="414572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e</a:t>
            </a:r>
          </a:p>
        </p:txBody>
      </p:sp>
      <p:sp>
        <p:nvSpPr>
          <p:cNvPr id="69" name="TextBox 68"/>
          <p:cNvSpPr txBox="1"/>
          <p:nvPr/>
        </p:nvSpPr>
        <p:spPr>
          <a:xfrm rot="3753098">
            <a:off x="1795407" y="411400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İ</a:t>
            </a:r>
          </a:p>
        </p:txBody>
      </p:sp>
      <p:sp>
        <p:nvSpPr>
          <p:cNvPr id="70" name="TextBox 69"/>
          <p:cNvSpPr txBox="1"/>
          <p:nvPr/>
        </p:nvSpPr>
        <p:spPr>
          <a:xfrm rot="3564453">
            <a:off x="1826556" y="4170154"/>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y</a:t>
            </a:r>
          </a:p>
        </p:txBody>
      </p:sp>
      <p:sp>
        <p:nvSpPr>
          <p:cNvPr id="71" name="TextBox 70"/>
          <p:cNvSpPr txBox="1"/>
          <p:nvPr/>
        </p:nvSpPr>
        <p:spPr>
          <a:xfrm rot="3381145">
            <a:off x="1859730" y="422299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i</a:t>
            </a:r>
          </a:p>
        </p:txBody>
      </p:sp>
      <p:sp>
        <p:nvSpPr>
          <p:cNvPr id="72" name="TextBox 71"/>
          <p:cNvSpPr txBox="1"/>
          <p:nvPr/>
        </p:nvSpPr>
        <p:spPr>
          <a:xfrm rot="3255939">
            <a:off x="1883987" y="4258040"/>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l</a:t>
            </a:r>
          </a:p>
        </p:txBody>
      </p:sp>
      <p:sp>
        <p:nvSpPr>
          <p:cNvPr id="73" name="TextBox 72"/>
          <p:cNvSpPr txBox="1"/>
          <p:nvPr/>
        </p:nvSpPr>
        <p:spPr>
          <a:xfrm rot="3065024">
            <a:off x="1923388" y="4309713"/>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e</a:t>
            </a:r>
          </a:p>
        </p:txBody>
      </p:sp>
      <p:sp>
        <p:nvSpPr>
          <p:cNvPr id="74" name="TextBox 73"/>
          <p:cNvSpPr txBox="1"/>
          <p:nvPr/>
        </p:nvSpPr>
        <p:spPr>
          <a:xfrm rot="2835042">
            <a:off x="1974567" y="4368937"/>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ş</a:t>
            </a:r>
          </a:p>
        </p:txBody>
      </p:sp>
      <p:sp>
        <p:nvSpPr>
          <p:cNvPr id="75" name="TextBox 74"/>
          <p:cNvSpPr txBox="1"/>
          <p:nvPr/>
        </p:nvSpPr>
        <p:spPr>
          <a:xfrm rot="2645003">
            <a:off x="2019770" y="4415204"/>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t</a:t>
            </a:r>
          </a:p>
        </p:txBody>
      </p:sp>
      <p:sp>
        <p:nvSpPr>
          <p:cNvPr id="76" name="TextBox 75"/>
          <p:cNvSpPr txBox="1"/>
          <p:nvPr/>
        </p:nvSpPr>
        <p:spPr>
          <a:xfrm rot="2494032">
            <a:off x="2057460" y="4450136"/>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i</a:t>
            </a:r>
          </a:p>
        </p:txBody>
      </p:sp>
      <p:sp>
        <p:nvSpPr>
          <p:cNvPr id="77" name="TextBox 76"/>
          <p:cNvSpPr txBox="1"/>
          <p:nvPr/>
        </p:nvSpPr>
        <p:spPr>
          <a:xfrm rot="2340830">
            <a:off x="2097236" y="4483858"/>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r</a:t>
            </a:r>
          </a:p>
        </p:txBody>
      </p:sp>
      <p:sp>
        <p:nvSpPr>
          <p:cNvPr id="78" name="TextBox 77"/>
          <p:cNvSpPr txBox="1"/>
          <p:nvPr/>
        </p:nvSpPr>
        <p:spPr>
          <a:xfrm rot="2042909">
            <a:off x="2178702" y="4544208"/>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E"/>
                </a:solidFill>
                <a:latin typeface="Calibri"/>
              </a:rPr>
              <a:t>m</a:t>
            </a:r>
          </a:p>
        </p:txBody>
      </p:sp>
      <p:sp>
        <p:nvSpPr>
          <p:cNvPr id="79" name="TextBox 78"/>
          <p:cNvSpPr txBox="1"/>
          <p:nvPr/>
        </p:nvSpPr>
        <p:spPr>
          <a:xfrm rot="1707275">
            <a:off x="2276338" y="4603459"/>
            <a:ext cx="312340" cy="312340"/>
          </a:xfrm>
          <a:prstGeom prst="rect">
            <a:avLst/>
          </a:prstGeom>
          <a:noFill/>
        </p:spPr>
        <p:txBody>
          <a:bodyPr wrap="square" anchor="ctr" lIns="0" rIns="0" tIns="0" bIns="0">
            <a:noAutofit/>
          </a:bodyPr>
          <a:lstStyle/>
          <a:p>
            <a:pPr algn="ctr">
              <a:spcBef>
                <a:spcPts val="0"/>
              </a:spcBef>
              <a:spcAft>
                <a:spcPts val="0"/>
              </a:spcAft>
            </a:pPr>
            <a:r>
              <a:rPr lang="tr-TR" sz="1366" b="1" i="0">
                <a:solidFill>
                  <a:srgbClr val="FFFFFF"/>
                </a:solidFill>
                <a:latin typeface="Calibri"/>
              </a:rPr>
              <a:t>e</a:t>
            </a:r>
          </a:p>
        </p:txBody>
      </p:sp>
      <p:sp>
        <p:nvSpPr>
          <p:cNvPr id="80" name="TextBox 79"/>
          <p:cNvSpPr txBox="1"/>
          <p:nvPr/>
        </p:nvSpPr>
        <p:spPr>
          <a:xfrm rot="20027196">
            <a:off x="2087445" y="2062375"/>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2A5F7E"/>
                </a:solidFill>
                <a:latin typeface="Calibri"/>
              </a:rPr>
              <a:t>Ö</a:t>
            </a:r>
          </a:p>
        </p:txBody>
      </p:sp>
      <p:sp>
        <p:nvSpPr>
          <p:cNvPr id="81" name="TextBox 80"/>
          <p:cNvSpPr txBox="1"/>
          <p:nvPr/>
        </p:nvSpPr>
        <p:spPr>
          <a:xfrm rot="20243030">
            <a:off x="2183548" y="201875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2A5F7F"/>
                </a:solidFill>
                <a:latin typeface="Calibri"/>
              </a:rPr>
              <a:t>n</a:t>
            </a:r>
          </a:p>
        </p:txBody>
      </p:sp>
      <p:sp>
        <p:nvSpPr>
          <p:cNvPr id="82" name="TextBox 81"/>
          <p:cNvSpPr txBox="1"/>
          <p:nvPr/>
        </p:nvSpPr>
        <p:spPr>
          <a:xfrm rot="20380237">
            <a:off x="2245990" y="199418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2A5F7E"/>
                </a:solidFill>
                <a:latin typeface="Calibri"/>
              </a:rPr>
              <a:t>l</a:t>
            </a:r>
          </a:p>
        </p:txBody>
      </p:sp>
      <p:sp>
        <p:nvSpPr>
          <p:cNvPr id="83" name="TextBox 82"/>
          <p:cNvSpPr txBox="1"/>
          <p:nvPr/>
        </p:nvSpPr>
        <p:spPr>
          <a:xfrm rot="20512361">
            <a:off x="2307000" y="1972909"/>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2A5F7F"/>
                </a:solidFill>
                <a:latin typeface="Calibri"/>
              </a:rPr>
              <a:t>e</a:t>
            </a:r>
          </a:p>
        </p:txBody>
      </p:sp>
      <p:sp>
        <p:nvSpPr>
          <p:cNvPr id="84" name="TextBox 83"/>
          <p:cNvSpPr txBox="1"/>
          <p:nvPr/>
        </p:nvSpPr>
        <p:spPr>
          <a:xfrm rot="20747958">
            <a:off x="2417648" y="194083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2A5F7E"/>
                </a:solidFill>
                <a:latin typeface="Calibri"/>
              </a:rPr>
              <a:t>m</a:t>
            </a:r>
          </a:p>
        </p:txBody>
      </p:sp>
      <p:sp>
        <p:nvSpPr>
          <p:cNvPr id="85" name="TextBox 84"/>
          <p:cNvSpPr txBox="1"/>
          <p:nvPr/>
        </p:nvSpPr>
        <p:spPr>
          <a:xfrm rot="1747136">
            <a:off x="3648269" y="2101959"/>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T</a:t>
            </a:r>
          </a:p>
        </p:txBody>
      </p:sp>
      <p:sp>
        <p:nvSpPr>
          <p:cNvPr id="86" name="TextBox 85"/>
          <p:cNvSpPr txBox="1"/>
          <p:nvPr/>
        </p:nvSpPr>
        <p:spPr>
          <a:xfrm rot="1922762">
            <a:off x="3722207" y="2145655"/>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a</a:t>
            </a:r>
          </a:p>
        </p:txBody>
      </p:sp>
      <p:sp>
        <p:nvSpPr>
          <p:cNvPr id="87" name="TextBox 86"/>
          <p:cNvSpPr txBox="1"/>
          <p:nvPr/>
        </p:nvSpPr>
        <p:spPr>
          <a:xfrm rot="2105317">
            <a:off x="3796592" y="2195015"/>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h</a:t>
            </a:r>
          </a:p>
        </p:txBody>
      </p:sp>
      <p:sp>
        <p:nvSpPr>
          <p:cNvPr id="88" name="TextBox 87"/>
          <p:cNvSpPr txBox="1"/>
          <p:nvPr/>
        </p:nvSpPr>
        <p:spPr>
          <a:xfrm rot="2345997">
            <a:off x="3890463" y="2265995"/>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m</a:t>
            </a:r>
          </a:p>
        </p:txBody>
      </p:sp>
      <p:sp>
        <p:nvSpPr>
          <p:cNvPr id="89" name="TextBox 88"/>
          <p:cNvSpPr txBox="1"/>
          <p:nvPr/>
        </p:nvSpPr>
        <p:spPr>
          <a:xfrm rot="2532896">
            <a:off x="3959798" y="2325543"/>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i</a:t>
            </a:r>
          </a:p>
        </p:txBody>
      </p:sp>
      <p:sp>
        <p:nvSpPr>
          <p:cNvPr id="90" name="TextBox 89"/>
          <p:cNvSpPr txBox="1"/>
          <p:nvPr/>
        </p:nvSpPr>
        <p:spPr>
          <a:xfrm rot="2670103">
            <a:off x="4008584" y="237161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n</a:t>
            </a:r>
          </a:p>
        </p:txBody>
      </p:sp>
      <p:sp>
        <p:nvSpPr>
          <p:cNvPr id="91" name="TextBox 90"/>
          <p:cNvSpPr txBox="1"/>
          <p:nvPr/>
        </p:nvSpPr>
        <p:spPr>
          <a:xfrm rot="2929865">
            <a:off x="4095746" y="246399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v</a:t>
            </a:r>
          </a:p>
        </p:txBody>
      </p:sp>
      <p:sp>
        <p:nvSpPr>
          <p:cNvPr id="92" name="TextBox 91"/>
          <p:cNvSpPr txBox="1"/>
          <p:nvPr/>
        </p:nvSpPr>
        <p:spPr>
          <a:xfrm rot="3102367">
            <a:off x="4149666" y="252887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e</a:t>
            </a:r>
          </a:p>
        </p:txBody>
      </p:sp>
      <p:sp>
        <p:nvSpPr>
          <p:cNvPr id="93" name="TextBox 92"/>
          <p:cNvSpPr txBox="1"/>
          <p:nvPr/>
        </p:nvSpPr>
        <p:spPr>
          <a:xfrm rot="3365366">
            <a:off x="4225437" y="2632770"/>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e</a:t>
            </a:r>
          </a:p>
        </p:txBody>
      </p:sp>
      <p:sp>
        <p:nvSpPr>
          <p:cNvPr id="94" name="TextBox 93"/>
          <p:cNvSpPr txBox="1"/>
          <p:nvPr/>
        </p:nvSpPr>
        <p:spPr>
          <a:xfrm rot="3519128">
            <a:off x="4265982" y="2696097"/>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r</a:t>
            </a:r>
          </a:p>
        </p:txBody>
      </p:sp>
      <p:sp>
        <p:nvSpPr>
          <p:cNvPr id="95" name="TextBox 94"/>
          <p:cNvSpPr txBox="1"/>
          <p:nvPr/>
        </p:nvSpPr>
        <p:spPr>
          <a:xfrm rot="3665081">
            <a:off x="4301812" y="2757829"/>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k</a:t>
            </a:r>
          </a:p>
        </p:txBody>
      </p:sp>
      <p:sp>
        <p:nvSpPr>
          <p:cNvPr id="96" name="TextBox 95"/>
          <p:cNvSpPr txBox="1"/>
          <p:nvPr/>
        </p:nvSpPr>
        <p:spPr>
          <a:xfrm rot="3838094">
            <a:off x="4340845" y="2832894"/>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e</a:t>
            </a:r>
          </a:p>
        </p:txBody>
      </p:sp>
      <p:sp>
        <p:nvSpPr>
          <p:cNvPr id="97" name="TextBox 96"/>
          <p:cNvSpPr txBox="1"/>
          <p:nvPr/>
        </p:nvSpPr>
        <p:spPr>
          <a:xfrm rot="4024000">
            <a:off x="4378519" y="2915630"/>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n</a:t>
            </a:r>
          </a:p>
        </p:txBody>
      </p:sp>
      <p:sp>
        <p:nvSpPr>
          <p:cNvPr id="98" name="TextBox 97"/>
          <p:cNvSpPr txBox="1"/>
          <p:nvPr/>
        </p:nvSpPr>
        <p:spPr>
          <a:xfrm rot="4297164">
            <a:off x="4425636" y="304060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u</a:t>
            </a:r>
          </a:p>
        </p:txBody>
      </p:sp>
      <p:sp>
        <p:nvSpPr>
          <p:cNvPr id="99" name="TextBox 98"/>
          <p:cNvSpPr txBox="1"/>
          <p:nvPr/>
        </p:nvSpPr>
        <p:spPr>
          <a:xfrm rot="4474920">
            <a:off x="4450905" y="312377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y</a:t>
            </a:r>
          </a:p>
        </p:txBody>
      </p:sp>
      <p:sp>
        <p:nvSpPr>
          <p:cNvPr id="100" name="TextBox 99"/>
          <p:cNvSpPr txBox="1"/>
          <p:nvPr/>
        </p:nvSpPr>
        <p:spPr>
          <a:xfrm rot="4644242">
            <a:off x="4470946" y="320411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a</a:t>
            </a:r>
          </a:p>
        </p:txBody>
      </p:sp>
      <p:sp>
        <p:nvSpPr>
          <p:cNvPr id="101" name="TextBox 100"/>
          <p:cNvSpPr txBox="1"/>
          <p:nvPr/>
        </p:nvSpPr>
        <p:spPr>
          <a:xfrm rot="4794653">
            <a:off x="4485413" y="327623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1"/>
                </a:solidFill>
                <a:latin typeface="Calibri"/>
              </a:rPr>
              <a:t>r</a:t>
            </a:r>
          </a:p>
        </p:txBody>
      </p:sp>
      <p:sp>
        <p:nvSpPr>
          <p:cNvPr id="102" name="TextBox 101"/>
          <p:cNvSpPr txBox="1"/>
          <p:nvPr/>
        </p:nvSpPr>
        <p:spPr>
          <a:xfrm rot="4899716">
            <a:off x="4493640" y="332695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B05E10"/>
                </a:solidFill>
                <a:latin typeface="Calibri"/>
              </a:rPr>
              <a:t>ı</a:t>
            </a:r>
          </a:p>
        </p:txBody>
      </p:sp>
      <p:sp>
        <p:nvSpPr>
          <p:cNvPr id="103" name="TextBox 102"/>
          <p:cNvSpPr txBox="1"/>
          <p:nvPr/>
        </p:nvSpPr>
        <p:spPr>
          <a:xfrm rot="20732821">
            <a:off x="3249734" y="5198867"/>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F"/>
                </a:solidFill>
                <a:latin typeface="Calibri"/>
              </a:rPr>
              <a:t>E</a:t>
            </a:r>
          </a:p>
        </p:txBody>
      </p:sp>
      <p:sp>
        <p:nvSpPr>
          <p:cNvPr id="104" name="TextBox 103"/>
          <p:cNvSpPr txBox="1"/>
          <p:nvPr/>
        </p:nvSpPr>
        <p:spPr>
          <a:xfrm rot="20583206">
            <a:off x="3320172" y="517906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E"/>
                </a:solidFill>
                <a:latin typeface="Calibri"/>
              </a:rPr>
              <a:t>t</a:t>
            </a:r>
          </a:p>
        </p:txBody>
      </p:sp>
      <p:sp>
        <p:nvSpPr>
          <p:cNvPr id="105" name="TextBox 104"/>
          <p:cNvSpPr txBox="1"/>
          <p:nvPr/>
        </p:nvSpPr>
        <p:spPr>
          <a:xfrm rot="20439723">
            <a:off x="3386852" y="5157220"/>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F"/>
                </a:solidFill>
                <a:latin typeface="Calibri"/>
              </a:rPr>
              <a:t>k</a:t>
            </a:r>
          </a:p>
        </p:txBody>
      </p:sp>
      <p:sp>
        <p:nvSpPr>
          <p:cNvPr id="106" name="TextBox 105"/>
          <p:cNvSpPr txBox="1"/>
          <p:nvPr/>
        </p:nvSpPr>
        <p:spPr>
          <a:xfrm rot="20315408">
            <a:off x="3443844" y="5136054"/>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E"/>
                </a:solidFill>
                <a:latin typeface="Calibri"/>
              </a:rPr>
              <a:t>i</a:t>
            </a:r>
          </a:p>
        </p:txBody>
      </p:sp>
      <p:sp>
        <p:nvSpPr>
          <p:cNvPr id="107" name="TextBox 106"/>
          <p:cNvSpPr txBox="1"/>
          <p:nvPr/>
        </p:nvSpPr>
        <p:spPr>
          <a:xfrm rot="20104458">
            <a:off x="3538679" y="5095470"/>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E"/>
                </a:solidFill>
                <a:latin typeface="Calibri"/>
              </a:rPr>
              <a:t>a</a:t>
            </a:r>
          </a:p>
        </p:txBody>
      </p:sp>
      <p:sp>
        <p:nvSpPr>
          <p:cNvPr id="108" name="TextBox 107"/>
          <p:cNvSpPr txBox="1"/>
          <p:nvPr/>
        </p:nvSpPr>
        <p:spPr>
          <a:xfrm rot="19921903">
            <a:off x="3618608" y="505571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F"/>
                </a:solidFill>
                <a:latin typeface="Calibri"/>
              </a:rPr>
              <a:t>n</a:t>
            </a:r>
          </a:p>
        </p:txBody>
      </p:sp>
      <p:sp>
        <p:nvSpPr>
          <p:cNvPr id="109" name="TextBox 108"/>
          <p:cNvSpPr txBox="1"/>
          <p:nvPr/>
        </p:nvSpPr>
        <p:spPr>
          <a:xfrm rot="19739349">
            <a:off x="3696315" y="501176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E"/>
                </a:solidFill>
                <a:latin typeface="Calibri"/>
              </a:rPr>
              <a:t>a</a:t>
            </a:r>
          </a:p>
        </p:txBody>
      </p:sp>
      <p:sp>
        <p:nvSpPr>
          <p:cNvPr id="110" name="TextBox 109"/>
          <p:cNvSpPr txBox="1"/>
          <p:nvPr/>
        </p:nvSpPr>
        <p:spPr>
          <a:xfrm rot="19610575">
            <a:off x="3749672" y="497831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F"/>
                </a:solidFill>
                <a:latin typeface="Calibri"/>
              </a:rPr>
              <a:t>l</a:t>
            </a:r>
          </a:p>
        </p:txBody>
      </p:sp>
      <p:sp>
        <p:nvSpPr>
          <p:cNvPr id="111" name="TextBox 110"/>
          <p:cNvSpPr txBox="1"/>
          <p:nvPr/>
        </p:nvSpPr>
        <p:spPr>
          <a:xfrm rot="19527149">
            <a:off x="3783556" y="495558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E"/>
                </a:solidFill>
                <a:latin typeface="Calibri"/>
              </a:rPr>
              <a:t>i</a:t>
            </a:r>
          </a:p>
        </p:txBody>
      </p:sp>
      <p:sp>
        <p:nvSpPr>
          <p:cNvPr id="112" name="TextBox 111"/>
          <p:cNvSpPr txBox="1"/>
          <p:nvPr/>
        </p:nvSpPr>
        <p:spPr>
          <a:xfrm rot="19413652">
            <a:off x="3828748" y="492336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F"/>
                </a:solidFill>
                <a:latin typeface="Calibri"/>
              </a:rPr>
              <a:t>z</a:t>
            </a:r>
          </a:p>
        </p:txBody>
      </p:sp>
      <p:sp>
        <p:nvSpPr>
          <p:cNvPr id="113" name="TextBox 112"/>
          <p:cNvSpPr txBox="1"/>
          <p:nvPr/>
        </p:nvSpPr>
        <p:spPr>
          <a:xfrm rot="19300156">
            <a:off x="3872851" y="4889659"/>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A6342E"/>
                </a:solidFill>
                <a:latin typeface="Calibri"/>
              </a:rPr>
              <a:t>i</a:t>
            </a:r>
          </a:p>
        </p:txBody>
      </p:sp>
      <p:sp>
        <p:nvSpPr>
          <p:cNvPr id="114" name="TextBox 113"/>
          <p:cNvSpPr txBox="1"/>
          <p:nvPr/>
        </p:nvSpPr>
        <p:spPr>
          <a:xfrm rot="4633707">
            <a:off x="1190394" y="394244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Y</a:t>
            </a:r>
          </a:p>
        </p:txBody>
      </p:sp>
      <p:sp>
        <p:nvSpPr>
          <p:cNvPr id="115" name="TextBox 114"/>
          <p:cNvSpPr txBox="1"/>
          <p:nvPr/>
        </p:nvSpPr>
        <p:spPr>
          <a:xfrm rot="4454730">
            <a:off x="1211957" y="4027270"/>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e</a:t>
            </a:r>
          </a:p>
        </p:txBody>
      </p:sp>
      <p:sp>
        <p:nvSpPr>
          <p:cNvPr id="116" name="TextBox 115"/>
          <p:cNvSpPr txBox="1"/>
          <p:nvPr/>
        </p:nvSpPr>
        <p:spPr>
          <a:xfrm rot="4268825">
            <a:off x="1238997" y="411406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n</a:t>
            </a:r>
          </a:p>
        </p:txBody>
      </p:sp>
      <p:sp>
        <p:nvSpPr>
          <p:cNvPr id="117" name="TextBox 116"/>
          <p:cNvSpPr txBox="1"/>
          <p:nvPr/>
        </p:nvSpPr>
        <p:spPr>
          <a:xfrm rot="4131618">
            <a:off x="1261943" y="417712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i</a:t>
            </a:r>
          </a:p>
        </p:txBody>
      </p:sp>
      <p:sp>
        <p:nvSpPr>
          <p:cNvPr id="118" name="TextBox 117"/>
          <p:cNvSpPr txBox="1"/>
          <p:nvPr/>
        </p:nvSpPr>
        <p:spPr>
          <a:xfrm rot="3994411">
            <a:off x="1287386" y="4239209"/>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d</a:t>
            </a:r>
          </a:p>
        </p:txBody>
      </p:sp>
      <p:sp>
        <p:nvSpPr>
          <p:cNvPr id="119" name="TextBox 118"/>
          <p:cNvSpPr txBox="1"/>
          <p:nvPr/>
        </p:nvSpPr>
        <p:spPr>
          <a:xfrm rot="3808505">
            <a:off x="1325771" y="432161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e</a:t>
            </a:r>
          </a:p>
        </p:txBody>
      </p:sp>
      <p:sp>
        <p:nvSpPr>
          <p:cNvPr id="120" name="TextBox 119"/>
          <p:cNvSpPr txBox="1"/>
          <p:nvPr/>
        </p:nvSpPr>
        <p:spPr>
          <a:xfrm rot="3622600">
            <a:off x="1368555" y="4401832"/>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n</a:t>
            </a:r>
          </a:p>
        </p:txBody>
      </p:sp>
      <p:sp>
        <p:nvSpPr>
          <p:cNvPr id="121" name="TextBox 120"/>
          <p:cNvSpPr txBox="1"/>
          <p:nvPr/>
        </p:nvSpPr>
        <p:spPr>
          <a:xfrm rot="3362668">
            <a:off x="1435508" y="4509862"/>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y</a:t>
            </a:r>
          </a:p>
        </p:txBody>
      </p:sp>
      <p:sp>
        <p:nvSpPr>
          <p:cNvPr id="122" name="TextBox 121"/>
          <p:cNvSpPr txBox="1"/>
          <p:nvPr/>
        </p:nvSpPr>
        <p:spPr>
          <a:xfrm rot="3193346">
            <a:off x="1483435" y="4577384"/>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a</a:t>
            </a:r>
          </a:p>
        </p:txBody>
      </p:sp>
      <p:sp>
        <p:nvSpPr>
          <p:cNvPr id="123" name="TextBox 122"/>
          <p:cNvSpPr txBox="1"/>
          <p:nvPr/>
        </p:nvSpPr>
        <p:spPr>
          <a:xfrm rot="3010791">
            <a:off x="1538762" y="4647444"/>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p</a:t>
            </a:r>
          </a:p>
        </p:txBody>
      </p:sp>
      <p:sp>
        <p:nvSpPr>
          <p:cNvPr id="124" name="TextBox 123"/>
          <p:cNvSpPr txBox="1"/>
          <p:nvPr/>
        </p:nvSpPr>
        <p:spPr>
          <a:xfrm rot="2873584">
            <a:off x="1582752" y="4698113"/>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ı</a:t>
            </a:r>
          </a:p>
        </p:txBody>
      </p:sp>
      <p:sp>
        <p:nvSpPr>
          <p:cNvPr id="125" name="TextBox 124"/>
          <p:cNvSpPr txBox="1"/>
          <p:nvPr/>
        </p:nvSpPr>
        <p:spPr>
          <a:xfrm rot="2790158">
            <a:off x="1610474" y="4728048"/>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l</a:t>
            </a:r>
          </a:p>
        </p:txBody>
      </p:sp>
      <p:sp>
        <p:nvSpPr>
          <p:cNvPr id="126" name="TextBox 125"/>
          <p:cNvSpPr txBox="1"/>
          <p:nvPr/>
        </p:nvSpPr>
        <p:spPr>
          <a:xfrm rot="2661385">
            <a:off x="1654670" y="4772911"/>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a</a:t>
            </a:r>
          </a:p>
        </p:txBody>
      </p:sp>
      <p:sp>
        <p:nvSpPr>
          <p:cNvPr id="127" name="TextBox 126"/>
          <p:cNvSpPr txBox="1"/>
          <p:nvPr/>
        </p:nvSpPr>
        <p:spPr>
          <a:xfrm rot="2478830">
            <a:off x="1720134" y="4833606"/>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n</a:t>
            </a:r>
          </a:p>
        </p:txBody>
      </p:sp>
      <p:sp>
        <p:nvSpPr>
          <p:cNvPr id="128" name="TextBox 127"/>
          <p:cNvSpPr txBox="1"/>
          <p:nvPr/>
        </p:nvSpPr>
        <p:spPr>
          <a:xfrm rot="2287842">
            <a:off x="1791969" y="4893292"/>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d</a:t>
            </a:r>
          </a:p>
        </p:txBody>
      </p:sp>
      <p:sp>
        <p:nvSpPr>
          <p:cNvPr id="129" name="TextBox 128"/>
          <p:cNvSpPr txBox="1"/>
          <p:nvPr/>
        </p:nvSpPr>
        <p:spPr>
          <a:xfrm rot="2150635">
            <a:off x="1845566" y="4933662"/>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ı</a:t>
            </a:r>
          </a:p>
        </p:txBody>
      </p:sp>
      <p:sp>
        <p:nvSpPr>
          <p:cNvPr id="130" name="TextBox 129"/>
          <p:cNvSpPr txBox="1"/>
          <p:nvPr/>
        </p:nvSpPr>
        <p:spPr>
          <a:xfrm rot="2045572">
            <a:off x="1887672" y="4963110"/>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r</a:t>
            </a:r>
          </a:p>
        </p:txBody>
      </p:sp>
      <p:sp>
        <p:nvSpPr>
          <p:cNvPr id="131" name="TextBox 130"/>
          <p:cNvSpPr txBox="1"/>
          <p:nvPr/>
        </p:nvSpPr>
        <p:spPr>
          <a:xfrm rot="1837035">
            <a:off x="1973814" y="5017683"/>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A"/>
                </a:solidFill>
                <a:latin typeface="Calibri"/>
              </a:rPr>
              <a:t>m</a:t>
            </a:r>
          </a:p>
        </p:txBody>
      </p:sp>
      <p:sp>
        <p:nvSpPr>
          <p:cNvPr id="132" name="TextBox 131"/>
          <p:cNvSpPr txBox="1"/>
          <p:nvPr/>
        </p:nvSpPr>
        <p:spPr>
          <a:xfrm rot="1604789">
            <a:off x="2073443" y="5072187"/>
            <a:ext cx="319966" cy="319966"/>
          </a:xfrm>
          <a:prstGeom prst="rect">
            <a:avLst/>
          </a:prstGeom>
          <a:noFill/>
        </p:spPr>
        <p:txBody>
          <a:bodyPr wrap="square" anchor="ctr" lIns="0" rIns="0" tIns="0" bIns="0">
            <a:noAutofit/>
          </a:bodyPr>
          <a:lstStyle/>
          <a:p>
            <a:pPr algn="ctr">
              <a:spcBef>
                <a:spcPts val="0"/>
              </a:spcBef>
              <a:spcAft>
                <a:spcPts val="0"/>
              </a:spcAft>
            </a:pPr>
            <a:r>
              <a:rPr lang="tr-TR" sz="1399" b="0" i="0">
                <a:solidFill>
                  <a:srgbClr val="3B7D2B"/>
                </a:solidFill>
                <a:latin typeface="Calibri"/>
              </a:rPr>
              <a:t>a</a:t>
            </a:r>
          </a:p>
        </p:txBody>
      </p:sp>
      <p:sp>
        <p:nvSpPr>
          <p:cNvPr id="133" name="TextBox 132"/>
          <p:cNvSpPr txBox="1"/>
          <p:nvPr/>
        </p:nvSpPr>
        <p:spPr>
          <a:xfrm rot="1065532">
            <a:off x="2482390" y="4788351"/>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R</a:t>
            </a:r>
          </a:p>
        </p:txBody>
      </p:sp>
      <p:sp>
        <p:nvSpPr>
          <p:cNvPr id="134" name="TextBox 133"/>
          <p:cNvSpPr txBox="1"/>
          <p:nvPr/>
        </p:nvSpPr>
        <p:spPr>
          <a:xfrm rot="861237">
            <a:off x="2553474" y="4808810"/>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e</a:t>
            </a:r>
          </a:p>
        </p:txBody>
      </p:sp>
      <p:sp>
        <p:nvSpPr>
          <p:cNvPr id="135" name="TextBox 134"/>
          <p:cNvSpPr txBox="1"/>
          <p:nvPr/>
        </p:nvSpPr>
        <p:spPr>
          <a:xfrm rot="660377">
            <a:off x="2624427" y="4824774"/>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h</a:t>
            </a:r>
          </a:p>
        </p:txBody>
      </p:sp>
      <p:sp>
        <p:nvSpPr>
          <p:cNvPr id="136" name="TextBox 135"/>
          <p:cNvSpPr txBox="1"/>
          <p:nvPr/>
        </p:nvSpPr>
        <p:spPr>
          <a:xfrm rot="463139">
            <a:off x="2694892" y="4836393"/>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a</a:t>
            </a:r>
          </a:p>
        </p:txBody>
      </p:sp>
      <p:sp>
        <p:nvSpPr>
          <p:cNvPr id="137" name="TextBox 136"/>
          <p:cNvSpPr txBox="1"/>
          <p:nvPr/>
        </p:nvSpPr>
        <p:spPr>
          <a:xfrm rot="265900">
            <a:off x="2765907" y="4843951"/>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b</a:t>
            </a:r>
          </a:p>
        </p:txBody>
      </p:sp>
      <p:sp>
        <p:nvSpPr>
          <p:cNvPr id="138" name="TextBox 137"/>
          <p:cNvSpPr txBox="1"/>
          <p:nvPr/>
        </p:nvSpPr>
        <p:spPr>
          <a:xfrm rot="117656">
            <a:off x="2819503" y="4846944"/>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i</a:t>
            </a:r>
          </a:p>
        </p:txBody>
      </p:sp>
      <p:sp>
        <p:nvSpPr>
          <p:cNvPr id="139" name="TextBox 138"/>
          <p:cNvSpPr txBox="1"/>
          <p:nvPr/>
        </p:nvSpPr>
        <p:spPr>
          <a:xfrm rot="27520">
            <a:off x="2852135" y="4847633"/>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l</a:t>
            </a:r>
          </a:p>
        </p:txBody>
      </p:sp>
      <p:sp>
        <p:nvSpPr>
          <p:cNvPr id="140" name="TextBox 139"/>
          <p:cNvSpPr txBox="1"/>
          <p:nvPr/>
        </p:nvSpPr>
        <p:spPr>
          <a:xfrm rot="21537383">
            <a:off x="2884775" y="4847467"/>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i</a:t>
            </a:r>
          </a:p>
        </p:txBody>
      </p:sp>
      <p:sp>
        <p:nvSpPr>
          <p:cNvPr id="141" name="TextBox 140"/>
          <p:cNvSpPr txBox="1"/>
          <p:nvPr/>
        </p:nvSpPr>
        <p:spPr>
          <a:xfrm rot="21426538">
            <a:off x="2924890" y="4846089"/>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t</a:t>
            </a:r>
          </a:p>
        </p:txBody>
      </p:sp>
      <p:sp>
        <p:nvSpPr>
          <p:cNvPr id="142" name="TextBox 141"/>
          <p:cNvSpPr txBox="1"/>
          <p:nvPr/>
        </p:nvSpPr>
        <p:spPr>
          <a:xfrm rot="21266697">
            <a:off x="2982611" y="4841827"/>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a</a:t>
            </a:r>
          </a:p>
        </p:txBody>
      </p:sp>
      <p:sp>
        <p:nvSpPr>
          <p:cNvPr id="143" name="TextBox 142"/>
          <p:cNvSpPr txBox="1"/>
          <p:nvPr/>
        </p:nvSpPr>
        <p:spPr>
          <a:xfrm rot="21095843">
            <a:off x="3044017" y="4834310"/>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s</a:t>
            </a:r>
          </a:p>
        </p:txBody>
      </p:sp>
      <p:sp>
        <p:nvSpPr>
          <p:cNvPr id="144" name="TextBox 143"/>
          <p:cNvSpPr txBox="1"/>
          <p:nvPr/>
        </p:nvSpPr>
        <p:spPr>
          <a:xfrm rot="20930173">
            <a:off x="3103133" y="4824117"/>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y</a:t>
            </a:r>
          </a:p>
        </p:txBody>
      </p:sp>
      <p:sp>
        <p:nvSpPr>
          <p:cNvPr id="145" name="TextBox 144"/>
          <p:cNvSpPr txBox="1"/>
          <p:nvPr/>
        </p:nvSpPr>
        <p:spPr>
          <a:xfrm rot="20737751">
            <a:off x="3171083" y="4808720"/>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F"/>
                </a:solidFill>
                <a:latin typeface="Calibri"/>
              </a:rPr>
              <a:t>o</a:t>
            </a:r>
          </a:p>
        </p:txBody>
      </p:sp>
      <p:sp>
        <p:nvSpPr>
          <p:cNvPr id="146" name="TextBox 145"/>
          <p:cNvSpPr txBox="1"/>
          <p:nvPr/>
        </p:nvSpPr>
        <p:spPr>
          <a:xfrm rot="20531032">
            <a:off x="3242997" y="4787971"/>
            <a:ext cx="255973" cy="255973"/>
          </a:xfrm>
          <a:prstGeom prst="rect">
            <a:avLst/>
          </a:prstGeom>
          <a:noFill/>
        </p:spPr>
        <p:txBody>
          <a:bodyPr wrap="square" anchor="ctr" lIns="0" rIns="0" tIns="0" bIns="0">
            <a:noAutofit/>
          </a:bodyPr>
          <a:lstStyle/>
          <a:p>
            <a:pPr algn="ctr">
              <a:spcBef>
                <a:spcPts val="0"/>
              </a:spcBef>
              <a:spcAft>
                <a:spcPts val="0"/>
              </a:spcAft>
            </a:pPr>
            <a:r>
              <a:rPr lang="tr-TR" sz="1119" b="0" i="0">
                <a:solidFill>
                  <a:srgbClr val="FFFFFE"/>
                </a:solidFill>
                <a:latin typeface="Calibri"/>
              </a:rPr>
              <a:t>n</a:t>
            </a:r>
          </a:p>
        </p:txBody>
      </p:sp>
      <p:sp>
        <p:nvSpPr>
          <p:cNvPr id="147" name="Rounded Rectangle 146"/>
          <p:cNvSpPr/>
          <p:nvPr/>
        </p:nvSpPr>
        <p:spPr>
          <a:xfrm>
            <a:off x="1044793" y="1291681"/>
            <a:ext cx="1683644" cy="384048"/>
          </a:xfrm>
          <a:prstGeom prst="roundRect">
            <a:avLst>
              <a:gd name="adj" fmla="val 50000"/>
            </a:avLst>
          </a:prstGeom>
          <a:solidFill>
            <a:srgbClr val="1F6E9E"/>
          </a:solidFill>
          <a:ln>
            <a:noFill/>
          </a:ln>
          <a:effectLst/>
        </p:spPr>
        <p:txBody>
          <a:bodyPr rtlCol="0" anchor="ctr" wrap="square" lIns="54864" rIns="54864" tIns="0" bIns="0">
            <a:noAutofit/>
          </a:bodyPr>
          <a:lstStyle/>
          <a:p>
            <a:pPr algn="ctr">
              <a:spcBef>
                <a:spcPts val="0"/>
              </a:spcBef>
              <a:spcAft>
                <a:spcPts val="0"/>
              </a:spcAft>
            </a:pPr>
            <a:r>
              <a:rPr lang="tr-TR" sz="1600" b="1" i="0">
                <a:solidFill>
                  <a:srgbClr val="FFFFFF"/>
                </a:solidFill>
                <a:latin typeface="Calibri"/>
              </a:rPr>
              <a:t>RİSK YÖNETİMİ</a:t>
            </a:r>
          </a:p>
        </p:txBody>
      </p:sp>
      <p:sp>
        <p:nvSpPr>
          <p:cNvPr id="148" name="Rounded Rectangle 147"/>
          <p:cNvSpPr/>
          <p:nvPr/>
        </p:nvSpPr>
        <p:spPr>
          <a:xfrm>
            <a:off x="1044793" y="5785774"/>
            <a:ext cx="1684756" cy="384048"/>
          </a:xfrm>
          <a:prstGeom prst="roundRect">
            <a:avLst>
              <a:gd name="adj" fmla="val 50000"/>
            </a:avLst>
          </a:prstGeom>
          <a:solidFill>
            <a:srgbClr val="A8322C"/>
          </a:solidFill>
          <a:ln>
            <a:noFill/>
          </a:ln>
          <a:effectLst/>
        </p:spPr>
        <p:txBody>
          <a:bodyPr rtlCol="0" anchor="ctr" wrap="square" lIns="54864" rIns="54864" tIns="0" bIns="0">
            <a:noAutofit/>
          </a:bodyPr>
          <a:lstStyle/>
          <a:p>
            <a:pPr algn="ctr">
              <a:spcBef>
                <a:spcPts val="0"/>
              </a:spcBef>
              <a:spcAft>
                <a:spcPts val="0"/>
              </a:spcAft>
            </a:pPr>
            <a:r>
              <a:rPr lang="tr-TR" sz="1600" b="1" i="0">
                <a:solidFill>
                  <a:srgbClr val="FFFFFF"/>
                </a:solidFill>
                <a:latin typeface="Calibri"/>
              </a:rPr>
              <a:t>KRİZ YÖNETİMİ</a:t>
            </a:r>
          </a:p>
        </p:txBody>
      </p:sp>
      <p:sp>
        <p:nvSpPr>
          <p:cNvPr id="149" name="Oval 148"/>
          <p:cNvSpPr/>
          <p:nvPr/>
        </p:nvSpPr>
        <p:spPr>
          <a:xfrm>
            <a:off x="5696346" y="1243584"/>
            <a:ext cx="384048" cy="384048"/>
          </a:xfrm>
          <a:prstGeom prst="ellipse">
            <a:avLst/>
          </a:prstGeom>
          <a:solidFill>
            <a:srgbClr val="1F86B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150" name="TextBox 149"/>
          <p:cNvSpPr txBox="1"/>
          <p:nvPr/>
        </p:nvSpPr>
        <p:spPr>
          <a:xfrm>
            <a:off x="6199266" y="1216152"/>
            <a:ext cx="5443788" cy="43891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1F86BF"/>
                </a:solidFill>
                <a:latin typeface="Calibri"/>
              </a:rPr>
              <a:t>Risk ve zarar azaltma</a:t>
            </a:r>
          </a:p>
        </p:txBody>
      </p:sp>
      <p:sp>
        <p:nvSpPr>
          <p:cNvPr id="151" name="Oval 150"/>
          <p:cNvSpPr/>
          <p:nvPr/>
        </p:nvSpPr>
        <p:spPr>
          <a:xfrm>
            <a:off x="5696346" y="1700784"/>
            <a:ext cx="384048" cy="384048"/>
          </a:xfrm>
          <a:prstGeom prst="ellipse">
            <a:avLst/>
          </a:prstGeom>
          <a:solidFill>
            <a:srgbClr val="D9731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52" name="TextBox 151"/>
          <p:cNvSpPr txBox="1"/>
          <p:nvPr/>
        </p:nvSpPr>
        <p:spPr>
          <a:xfrm>
            <a:off x="6199266" y="1673352"/>
            <a:ext cx="5443788" cy="43891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D97316"/>
                </a:solidFill>
                <a:latin typeface="Calibri"/>
              </a:rPr>
              <a:t>Hazırlıklı olma</a:t>
            </a:r>
          </a:p>
        </p:txBody>
      </p:sp>
      <p:sp>
        <p:nvSpPr>
          <p:cNvPr id="153" name="Oval 152"/>
          <p:cNvSpPr/>
          <p:nvPr/>
        </p:nvSpPr>
        <p:spPr>
          <a:xfrm>
            <a:off x="5696346" y="2157984"/>
            <a:ext cx="384048" cy="384048"/>
          </a:xfrm>
          <a:prstGeom prst="ellipse">
            <a:avLst/>
          </a:prstGeom>
          <a:solidFill>
            <a:srgbClr val="CC3333"/>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54" name="TextBox 153"/>
          <p:cNvSpPr txBox="1"/>
          <p:nvPr/>
        </p:nvSpPr>
        <p:spPr>
          <a:xfrm>
            <a:off x="6199266" y="2130552"/>
            <a:ext cx="5443788" cy="43891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CC3333"/>
                </a:solidFill>
                <a:latin typeface="Calibri"/>
              </a:rPr>
              <a:t>Müdahale</a:t>
            </a:r>
          </a:p>
        </p:txBody>
      </p:sp>
      <p:sp>
        <p:nvSpPr>
          <p:cNvPr id="155" name="Oval 154"/>
          <p:cNvSpPr/>
          <p:nvPr/>
        </p:nvSpPr>
        <p:spPr>
          <a:xfrm>
            <a:off x="5696346" y="2615184"/>
            <a:ext cx="384048" cy="384048"/>
          </a:xfrm>
          <a:prstGeom prst="ellipse">
            <a:avLst/>
          </a:prstGeom>
          <a:solidFill>
            <a:srgbClr val="55992E"/>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156" name="TextBox 155"/>
          <p:cNvSpPr txBox="1"/>
          <p:nvPr/>
        </p:nvSpPr>
        <p:spPr>
          <a:xfrm>
            <a:off x="6199266" y="2587752"/>
            <a:ext cx="5443788" cy="43891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55992E"/>
                </a:solidFill>
                <a:latin typeface="Calibri"/>
              </a:rPr>
              <a:t>İyileştirme</a:t>
            </a:r>
          </a:p>
        </p:txBody>
      </p:sp>
      <p:sp>
        <p:nvSpPr>
          <p:cNvPr id="157" name="Rounded Rectangle 156"/>
          <p:cNvSpPr/>
          <p:nvPr/>
        </p:nvSpPr>
        <p:spPr>
          <a:xfrm>
            <a:off x="5696346" y="3099816"/>
            <a:ext cx="5992428" cy="384048"/>
          </a:xfrm>
          <a:prstGeom prst="roundRect">
            <a:avLst>
              <a:gd name="adj" fmla="val 30000"/>
            </a:avLst>
          </a:prstGeom>
          <a:solidFill>
            <a:srgbClr val="1F6E9E"/>
          </a:solidFill>
          <a:ln>
            <a:noFill/>
          </a:ln>
          <a:effectLst/>
        </p:spPr>
        <p:txBody>
          <a:bodyPr rtlCol="0" anchor="ctr" wrap="square" lIns="137160" rIns="137160" tIns="0" bIns="0">
            <a:noAutofit/>
          </a:bodyPr>
          <a:lstStyle/>
          <a:p>
            <a:pPr algn="l">
              <a:spcBef>
                <a:spcPts val="0"/>
              </a:spcBef>
              <a:spcAft>
                <a:spcPts val="0"/>
              </a:spcAft>
            </a:pPr>
            <a:r>
              <a:rPr lang="tr-TR" sz="1700" b="1" i="0">
                <a:solidFill>
                  <a:srgbClr val="FFFFFF"/>
                </a:solidFill>
                <a:latin typeface="Calibri"/>
              </a:rPr>
              <a:t>Üst bant: RİSK YÖNETİMİ</a:t>
            </a:r>
          </a:p>
        </p:txBody>
      </p:sp>
      <p:sp>
        <p:nvSpPr>
          <p:cNvPr id="158" name="Rounded Rectangle 157"/>
          <p:cNvSpPr/>
          <p:nvPr/>
        </p:nvSpPr>
        <p:spPr>
          <a:xfrm>
            <a:off x="5696346" y="3538728"/>
            <a:ext cx="5992428" cy="384048"/>
          </a:xfrm>
          <a:prstGeom prst="roundRect">
            <a:avLst>
              <a:gd name="adj" fmla="val 30000"/>
            </a:avLst>
          </a:prstGeom>
          <a:solidFill>
            <a:srgbClr val="A8322C"/>
          </a:solidFill>
          <a:ln>
            <a:noFill/>
          </a:ln>
          <a:effectLst/>
        </p:spPr>
        <p:txBody>
          <a:bodyPr rtlCol="0" anchor="ctr" wrap="square" lIns="137160" rIns="137160" tIns="0" bIns="0">
            <a:noAutofit/>
          </a:bodyPr>
          <a:lstStyle/>
          <a:p>
            <a:pPr algn="l">
              <a:spcBef>
                <a:spcPts val="0"/>
              </a:spcBef>
              <a:spcAft>
                <a:spcPts val="0"/>
              </a:spcAft>
            </a:pPr>
            <a:r>
              <a:rPr lang="tr-TR" sz="1700" b="1" i="0">
                <a:solidFill>
                  <a:srgbClr val="FFFFFF"/>
                </a:solidFill>
                <a:latin typeface="Calibri"/>
              </a:rPr>
              <a:t>Alt bant: KRİZ YÖNETİMİ</a:t>
            </a:r>
          </a:p>
        </p:txBody>
      </p:sp>
      <p:sp>
        <p:nvSpPr>
          <p:cNvPr id="159" name="Oval 158"/>
          <p:cNvSpPr/>
          <p:nvPr/>
        </p:nvSpPr>
        <p:spPr>
          <a:xfrm>
            <a:off x="5705490" y="4041648"/>
            <a:ext cx="347472" cy="347472"/>
          </a:xfrm>
          <a:prstGeom prst="ellipse">
            <a:avLst/>
          </a:prstGeom>
          <a:solidFill>
            <a:srgbClr val="FFFFFF"/>
          </a:solidFill>
          <a:ln w="25400">
            <a:solidFill>
              <a:srgbClr val="2A5F7E"/>
            </a:solidFill>
          </a:ln>
          <a:effectLst/>
        </p:spPr>
        <p:txBody>
          <a:bodyPr rtlCol="0" anchor="ctr" wrap="none" lIns="0" rIns="0" tIns="0" bIns="0">
            <a:noAutofit/>
          </a:bodyPr>
          <a:lstStyle/>
          <a:p>
            <a:pPr algn="ctr">
              <a:spcBef>
                <a:spcPts val="0"/>
              </a:spcBef>
              <a:spcAft>
                <a:spcPts val="0"/>
              </a:spcAft>
            </a:pPr>
            <a:r>
              <a:rPr lang="tr-TR" sz="1504" b="1" i="0">
                <a:solidFill>
                  <a:srgbClr val="2A5F7E"/>
                </a:solidFill>
                <a:latin typeface="Calibri"/>
              </a:rPr>
              <a:t>a</a:t>
            </a:r>
          </a:p>
        </p:txBody>
      </p:sp>
      <p:sp>
        <p:nvSpPr>
          <p:cNvPr id="160" name="TextBox 159"/>
          <p:cNvSpPr txBox="1"/>
          <p:nvPr/>
        </p:nvSpPr>
        <p:spPr>
          <a:xfrm>
            <a:off x="6171834" y="4032504"/>
            <a:ext cx="5480364" cy="36576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Önlem</a:t>
            </a:r>
          </a:p>
        </p:txBody>
      </p:sp>
      <p:sp>
        <p:nvSpPr>
          <p:cNvPr id="161" name="Oval 160"/>
          <p:cNvSpPr/>
          <p:nvPr/>
        </p:nvSpPr>
        <p:spPr>
          <a:xfrm>
            <a:off x="5705490" y="4434840"/>
            <a:ext cx="347472" cy="347472"/>
          </a:xfrm>
          <a:prstGeom prst="ellipse">
            <a:avLst/>
          </a:prstGeom>
          <a:solidFill>
            <a:srgbClr val="FFFFFF"/>
          </a:solidFill>
          <a:ln w="25400">
            <a:solidFill>
              <a:srgbClr val="B05E10"/>
            </a:solidFill>
          </a:ln>
          <a:effectLst/>
        </p:spPr>
        <p:txBody>
          <a:bodyPr rtlCol="0" anchor="ctr" wrap="none" lIns="0" rIns="0" tIns="0" bIns="0">
            <a:noAutofit/>
          </a:bodyPr>
          <a:lstStyle/>
          <a:p>
            <a:pPr algn="ctr">
              <a:spcBef>
                <a:spcPts val="0"/>
              </a:spcBef>
              <a:spcAft>
                <a:spcPts val="0"/>
              </a:spcAft>
            </a:pPr>
            <a:r>
              <a:rPr lang="tr-TR" sz="1504" b="1" i="0">
                <a:solidFill>
                  <a:srgbClr val="B05E10"/>
                </a:solidFill>
                <a:latin typeface="Calibri"/>
              </a:rPr>
              <a:t>b</a:t>
            </a:r>
          </a:p>
        </p:txBody>
      </p:sp>
      <p:sp>
        <p:nvSpPr>
          <p:cNvPr id="162" name="TextBox 161"/>
          <p:cNvSpPr txBox="1"/>
          <p:nvPr/>
        </p:nvSpPr>
        <p:spPr>
          <a:xfrm>
            <a:off x="6171834" y="4425696"/>
            <a:ext cx="5480364" cy="36576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Tahmin ve erken uyarı</a:t>
            </a:r>
          </a:p>
        </p:txBody>
      </p:sp>
      <p:sp>
        <p:nvSpPr>
          <p:cNvPr id="163" name="Oval 162"/>
          <p:cNvSpPr/>
          <p:nvPr/>
        </p:nvSpPr>
        <p:spPr>
          <a:xfrm>
            <a:off x="5705490" y="4828032"/>
            <a:ext cx="347472" cy="347472"/>
          </a:xfrm>
          <a:prstGeom prst="ellipse">
            <a:avLst/>
          </a:prstGeom>
          <a:solidFill>
            <a:srgbClr val="FFFFFF"/>
          </a:solidFill>
          <a:ln w="25400">
            <a:solidFill>
              <a:srgbClr val="A6342F"/>
            </a:solidFill>
          </a:ln>
          <a:effectLst/>
        </p:spPr>
        <p:txBody>
          <a:bodyPr rtlCol="0" anchor="ctr" wrap="none" lIns="0" rIns="0" tIns="0" bIns="0">
            <a:noAutofit/>
          </a:bodyPr>
          <a:lstStyle/>
          <a:p>
            <a:pPr algn="ctr">
              <a:spcBef>
                <a:spcPts val="0"/>
              </a:spcBef>
              <a:spcAft>
                <a:spcPts val="0"/>
              </a:spcAft>
            </a:pPr>
            <a:r>
              <a:rPr lang="tr-TR" sz="1504" b="1" i="0">
                <a:solidFill>
                  <a:srgbClr val="A6342F"/>
                </a:solidFill>
                <a:latin typeface="Calibri"/>
              </a:rPr>
              <a:t>c</a:t>
            </a:r>
          </a:p>
        </p:txBody>
      </p:sp>
      <p:sp>
        <p:nvSpPr>
          <p:cNvPr id="164" name="TextBox 163"/>
          <p:cNvSpPr txBox="1"/>
          <p:nvPr/>
        </p:nvSpPr>
        <p:spPr>
          <a:xfrm>
            <a:off x="6171834" y="4818888"/>
            <a:ext cx="5480364" cy="36576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Etki analizi</a:t>
            </a:r>
          </a:p>
        </p:txBody>
      </p:sp>
      <p:sp>
        <p:nvSpPr>
          <p:cNvPr id="165" name="Oval 164"/>
          <p:cNvSpPr/>
          <p:nvPr/>
        </p:nvSpPr>
        <p:spPr>
          <a:xfrm>
            <a:off x="5705490" y="5221224"/>
            <a:ext cx="347472" cy="347472"/>
          </a:xfrm>
          <a:prstGeom prst="ellipse">
            <a:avLst/>
          </a:prstGeom>
          <a:solidFill>
            <a:srgbClr val="FFFFFF"/>
          </a:solidFill>
          <a:ln w="25400">
            <a:solidFill>
              <a:srgbClr val="4F4F4F"/>
            </a:solidFill>
          </a:ln>
          <a:effectLst/>
        </p:spPr>
        <p:txBody>
          <a:bodyPr rtlCol="0" anchor="ctr" wrap="none" lIns="0" rIns="0" tIns="0" bIns="0">
            <a:noAutofit/>
          </a:bodyPr>
          <a:lstStyle/>
          <a:p>
            <a:pPr algn="ctr">
              <a:spcBef>
                <a:spcPts val="0"/>
              </a:spcBef>
              <a:spcAft>
                <a:spcPts val="0"/>
              </a:spcAft>
            </a:pPr>
            <a:r>
              <a:rPr lang="tr-TR" sz="1504" b="1" i="0">
                <a:solidFill>
                  <a:srgbClr val="4F4F4F"/>
                </a:solidFill>
                <a:latin typeface="Calibri"/>
              </a:rPr>
              <a:t>ç</a:t>
            </a:r>
          </a:p>
        </p:txBody>
      </p:sp>
      <p:sp>
        <p:nvSpPr>
          <p:cNvPr id="166" name="TextBox 165"/>
          <p:cNvSpPr txBox="1"/>
          <p:nvPr/>
        </p:nvSpPr>
        <p:spPr>
          <a:xfrm>
            <a:off x="6171834" y="5212080"/>
            <a:ext cx="5480364" cy="36576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Rehabilitasyon</a:t>
            </a:r>
          </a:p>
        </p:txBody>
      </p:sp>
      <p:sp>
        <p:nvSpPr>
          <p:cNvPr id="167" name="Oval 166"/>
          <p:cNvSpPr/>
          <p:nvPr/>
        </p:nvSpPr>
        <p:spPr>
          <a:xfrm>
            <a:off x="5705490" y="5614416"/>
            <a:ext cx="347472" cy="347472"/>
          </a:xfrm>
          <a:prstGeom prst="ellipse">
            <a:avLst/>
          </a:prstGeom>
          <a:solidFill>
            <a:srgbClr val="FFFFFF"/>
          </a:solidFill>
          <a:ln w="25400">
            <a:solidFill>
              <a:srgbClr val="3B7D2A"/>
            </a:solidFill>
          </a:ln>
          <a:effectLst/>
        </p:spPr>
        <p:txBody>
          <a:bodyPr rtlCol="0" anchor="ctr" wrap="none" lIns="0" rIns="0" tIns="0" bIns="0">
            <a:noAutofit/>
          </a:bodyPr>
          <a:lstStyle/>
          <a:p>
            <a:pPr algn="ctr">
              <a:spcBef>
                <a:spcPts val="0"/>
              </a:spcBef>
              <a:spcAft>
                <a:spcPts val="0"/>
              </a:spcAft>
            </a:pPr>
            <a:r>
              <a:rPr lang="tr-TR" sz="1504" b="1" i="0">
                <a:solidFill>
                  <a:srgbClr val="3B7D2A"/>
                </a:solidFill>
                <a:latin typeface="Calibri"/>
              </a:rPr>
              <a:t>d</a:t>
            </a:r>
          </a:p>
        </p:txBody>
      </p:sp>
      <p:sp>
        <p:nvSpPr>
          <p:cNvPr id="168" name="TextBox 167"/>
          <p:cNvSpPr txBox="1"/>
          <p:nvPr/>
        </p:nvSpPr>
        <p:spPr>
          <a:xfrm>
            <a:off x="6171834" y="5605272"/>
            <a:ext cx="5480364" cy="36576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Yeniden yapılandırma</a:t>
            </a:r>
          </a:p>
        </p:txBody>
      </p:sp>
      <p:sp>
        <p:nvSpPr>
          <p:cNvPr id="169" name="TextBox 16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0" name="Rounded Rectangle 16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171" name="TextBox 17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127 / 250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Risk yönetimi ve kriz yönetimi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ŞEMAYI OKU</a:t>
            </a:r>
          </a:p>
        </p:txBody>
      </p:sp>
      <p:sp>
        <p:nvSpPr>
          <p:cNvPr id="6" name="Rounded Rectangle 5"/>
          <p:cNvSpPr/>
          <p:nvPr/>
        </p:nvSpPr>
        <p:spPr>
          <a:xfrm>
            <a:off x="953262" y="1666494"/>
            <a:ext cx="3504438" cy="2064258"/>
          </a:xfrm>
          <a:prstGeom prst="roundRect">
            <a:avLst>
              <a:gd name="adj" fmla="val 6000"/>
            </a:avLst>
          </a:prstGeom>
          <a:solidFill>
            <a:srgbClr val="E4EFF8"/>
          </a:solidFill>
          <a:ln>
            <a:noFill/>
          </a:ln>
          <a:effectLst/>
        </p:spPr>
        <p:txBody>
          <a:bodyPr rtlCol="0" anchor="ctr"/>
          <a:lstStyle/>
          <a:p/>
        </p:txBody>
      </p:sp>
      <p:sp>
        <p:nvSpPr>
          <p:cNvPr id="7" name="Rounded Rectangle 6"/>
          <p:cNvSpPr/>
          <p:nvPr/>
        </p:nvSpPr>
        <p:spPr>
          <a:xfrm>
            <a:off x="953262" y="3730752"/>
            <a:ext cx="3504438" cy="2064258"/>
          </a:xfrm>
          <a:prstGeom prst="roundRect">
            <a:avLst>
              <a:gd name="adj" fmla="val 6000"/>
            </a:avLst>
          </a:prstGeom>
          <a:solidFill>
            <a:srgbClr val="FAE6E4"/>
          </a:solidFill>
          <a:ln>
            <a:noFill/>
          </a:ln>
          <a:effectLst/>
        </p:spPr>
        <p:txBody>
          <a:bodyPr rtlCol="0" anchor="ctr"/>
          <a:lstStyle/>
          <a:p/>
        </p:txBody>
      </p:sp>
      <p:cxnSp>
        <p:nvCxnSpPr>
          <p:cNvPr id="8" name="Connector 7"/>
          <p:cNvCxnSpPr/>
          <p:nvPr/>
        </p:nvCxnSpPr>
        <p:spPr>
          <a:xfrm>
            <a:off x="1090422" y="3730752"/>
            <a:ext cx="3230118" cy="0"/>
          </a:xfrm>
          <a:prstGeom prst="line">
            <a:avLst/>
          </a:prstGeom>
          <a:ln w="25400">
            <a:solidFill>
              <a:srgbClr val="FFFFFF"/>
            </a:solidFill>
          </a:ln>
        </p:spPr>
      </p:cxnSp>
      <p:sp>
        <p:nvSpPr>
          <p:cNvPr id="9" name="Freeform 8"/>
          <p:cNvSpPr/>
          <p:nvPr/>
        </p:nvSpPr>
        <p:spPr>
          <a:xfrm>
            <a:off x="1417320" y="2587752"/>
            <a:ext cx="1143000" cy="1143000"/>
          </a:xfrm>
          <a:custGeom>
            <a:avLst/>
            <a:gdLst/>
            <a:ahLst/>
            <a:cxnLst/>
            <a:rect l="l" t="t" r="r" b="b"/>
            <a:pathLst>
              <a:path w="1143000" h="1143000">
                <a:moveTo>
                  <a:pt x="1143000" y="0"/>
                </a:moveTo>
                <a:lnTo>
                  <a:pt x="1103109" y="696"/>
                </a:lnTo>
                <a:lnTo>
                  <a:pt x="1063268" y="2784"/>
                </a:lnTo>
                <a:lnTo>
                  <a:pt x="1023523" y="6261"/>
                </a:lnTo>
                <a:lnTo>
                  <a:pt x="983925" y="11123"/>
                </a:lnTo>
                <a:lnTo>
                  <a:pt x="944520" y="17364"/>
                </a:lnTo>
                <a:lnTo>
                  <a:pt x="905356" y="24977"/>
                </a:lnTo>
                <a:lnTo>
                  <a:pt x="866483" y="33951"/>
                </a:lnTo>
                <a:lnTo>
                  <a:pt x="827946" y="44277"/>
                </a:lnTo>
                <a:lnTo>
                  <a:pt x="789793" y="55942"/>
                </a:lnTo>
                <a:lnTo>
                  <a:pt x="752070" y="68931"/>
                </a:lnTo>
                <a:lnTo>
                  <a:pt x="714824" y="83228"/>
                </a:lnTo>
                <a:lnTo>
                  <a:pt x="678100" y="98817"/>
                </a:lnTo>
                <a:lnTo>
                  <a:pt x="641941" y="115678"/>
                </a:lnTo>
                <a:lnTo>
                  <a:pt x="606394" y="133790"/>
                </a:lnTo>
                <a:lnTo>
                  <a:pt x="571500" y="153132"/>
                </a:lnTo>
                <a:lnTo>
                  <a:pt x="537302" y="173681"/>
                </a:lnTo>
                <a:lnTo>
                  <a:pt x="503842" y="195410"/>
                </a:lnTo>
                <a:lnTo>
                  <a:pt x="471161" y="218293"/>
                </a:lnTo>
                <a:lnTo>
                  <a:pt x="439298" y="242303"/>
                </a:lnTo>
                <a:lnTo>
                  <a:pt x="408293" y="267411"/>
                </a:lnTo>
                <a:lnTo>
                  <a:pt x="378183" y="293585"/>
                </a:lnTo>
                <a:lnTo>
                  <a:pt x="349005" y="320794"/>
                </a:lnTo>
                <a:lnTo>
                  <a:pt x="320794" y="349005"/>
                </a:lnTo>
                <a:lnTo>
                  <a:pt x="293585" y="378183"/>
                </a:lnTo>
                <a:lnTo>
                  <a:pt x="267411" y="408293"/>
                </a:lnTo>
                <a:lnTo>
                  <a:pt x="242303" y="439298"/>
                </a:lnTo>
                <a:lnTo>
                  <a:pt x="218293" y="471161"/>
                </a:lnTo>
                <a:lnTo>
                  <a:pt x="195410" y="503842"/>
                </a:lnTo>
                <a:lnTo>
                  <a:pt x="173681" y="537302"/>
                </a:lnTo>
                <a:lnTo>
                  <a:pt x="153132" y="571500"/>
                </a:lnTo>
                <a:lnTo>
                  <a:pt x="133790" y="606394"/>
                </a:lnTo>
                <a:lnTo>
                  <a:pt x="115678" y="641941"/>
                </a:lnTo>
                <a:lnTo>
                  <a:pt x="98817" y="678100"/>
                </a:lnTo>
                <a:lnTo>
                  <a:pt x="83228" y="714824"/>
                </a:lnTo>
                <a:lnTo>
                  <a:pt x="68931" y="752070"/>
                </a:lnTo>
                <a:lnTo>
                  <a:pt x="55942" y="789793"/>
                </a:lnTo>
                <a:lnTo>
                  <a:pt x="44277" y="827946"/>
                </a:lnTo>
                <a:lnTo>
                  <a:pt x="33951" y="866483"/>
                </a:lnTo>
                <a:lnTo>
                  <a:pt x="24977" y="905356"/>
                </a:lnTo>
                <a:lnTo>
                  <a:pt x="17364" y="944520"/>
                </a:lnTo>
                <a:lnTo>
                  <a:pt x="11123" y="983925"/>
                </a:lnTo>
                <a:lnTo>
                  <a:pt x="6261" y="1023523"/>
                </a:lnTo>
                <a:lnTo>
                  <a:pt x="2784" y="1063268"/>
                </a:lnTo>
                <a:lnTo>
                  <a:pt x="696" y="1103109"/>
                </a:lnTo>
                <a:lnTo>
                  <a:pt x="0" y="1143000"/>
                </a:lnTo>
                <a:lnTo>
                  <a:pt x="480060" y="1143000"/>
                </a:lnTo>
                <a:lnTo>
                  <a:pt x="480463" y="1119863"/>
                </a:lnTo>
                <a:lnTo>
                  <a:pt x="481674" y="1096755"/>
                </a:lnTo>
                <a:lnTo>
                  <a:pt x="483691" y="1073703"/>
                </a:lnTo>
                <a:lnTo>
                  <a:pt x="486511" y="1050736"/>
                </a:lnTo>
                <a:lnTo>
                  <a:pt x="490131" y="1027881"/>
                </a:lnTo>
                <a:lnTo>
                  <a:pt x="494546" y="1005167"/>
                </a:lnTo>
                <a:lnTo>
                  <a:pt x="499752" y="982620"/>
                </a:lnTo>
                <a:lnTo>
                  <a:pt x="505741" y="960268"/>
                </a:lnTo>
                <a:lnTo>
                  <a:pt x="512506" y="938140"/>
                </a:lnTo>
                <a:lnTo>
                  <a:pt x="520040" y="916261"/>
                </a:lnTo>
                <a:lnTo>
                  <a:pt x="528332" y="894658"/>
                </a:lnTo>
                <a:lnTo>
                  <a:pt x="537374" y="873358"/>
                </a:lnTo>
                <a:lnTo>
                  <a:pt x="547153" y="852386"/>
                </a:lnTo>
                <a:lnTo>
                  <a:pt x="557658" y="831768"/>
                </a:lnTo>
                <a:lnTo>
                  <a:pt x="568877" y="811530"/>
                </a:lnTo>
                <a:lnTo>
                  <a:pt x="580794" y="791695"/>
                </a:lnTo>
                <a:lnTo>
                  <a:pt x="593397" y="772288"/>
                </a:lnTo>
                <a:lnTo>
                  <a:pt x="606670" y="753333"/>
                </a:lnTo>
                <a:lnTo>
                  <a:pt x="620596" y="734853"/>
                </a:lnTo>
                <a:lnTo>
                  <a:pt x="635158" y="716870"/>
                </a:lnTo>
                <a:lnTo>
                  <a:pt x="650339" y="699406"/>
                </a:lnTo>
                <a:lnTo>
                  <a:pt x="666120" y="682483"/>
                </a:lnTo>
                <a:lnTo>
                  <a:pt x="682483" y="666120"/>
                </a:lnTo>
                <a:lnTo>
                  <a:pt x="699406" y="650339"/>
                </a:lnTo>
                <a:lnTo>
                  <a:pt x="716870" y="635158"/>
                </a:lnTo>
                <a:lnTo>
                  <a:pt x="734853" y="620596"/>
                </a:lnTo>
                <a:lnTo>
                  <a:pt x="753333" y="606670"/>
                </a:lnTo>
                <a:lnTo>
                  <a:pt x="772288" y="593397"/>
                </a:lnTo>
                <a:lnTo>
                  <a:pt x="791695" y="580794"/>
                </a:lnTo>
                <a:lnTo>
                  <a:pt x="811530" y="568877"/>
                </a:lnTo>
                <a:lnTo>
                  <a:pt x="831768" y="557658"/>
                </a:lnTo>
                <a:lnTo>
                  <a:pt x="852386" y="547153"/>
                </a:lnTo>
                <a:lnTo>
                  <a:pt x="873358" y="537374"/>
                </a:lnTo>
                <a:lnTo>
                  <a:pt x="894658" y="528332"/>
                </a:lnTo>
                <a:lnTo>
                  <a:pt x="916261" y="520040"/>
                </a:lnTo>
                <a:lnTo>
                  <a:pt x="938140" y="512506"/>
                </a:lnTo>
                <a:lnTo>
                  <a:pt x="960268" y="505741"/>
                </a:lnTo>
                <a:lnTo>
                  <a:pt x="982620" y="499752"/>
                </a:lnTo>
                <a:lnTo>
                  <a:pt x="1005167" y="494546"/>
                </a:lnTo>
                <a:lnTo>
                  <a:pt x="1027881" y="490131"/>
                </a:lnTo>
                <a:lnTo>
                  <a:pt x="1050736" y="486511"/>
                </a:lnTo>
                <a:lnTo>
                  <a:pt x="1073703" y="483691"/>
                </a:lnTo>
                <a:lnTo>
                  <a:pt x="1096755" y="481674"/>
                </a:lnTo>
                <a:lnTo>
                  <a:pt x="1119863" y="480463"/>
                </a:lnTo>
                <a:lnTo>
                  <a:pt x="1143000" y="480060"/>
                </a:lnTo>
                <a:close/>
              </a:path>
            </a:pathLst>
          </a:custGeom>
          <a:solidFill>
            <a:srgbClr val="1F86BF"/>
          </a:solidFill>
          <a:ln>
            <a:noFill/>
          </a:ln>
        </p:spPr>
        <p:txBody>
          <a:bodyPr rtlCol="0" anchor="ctr"/>
          <a:lstStyle/>
          <a:p>
            <a:pPr algn="ctr"/>
          </a:p>
        </p:txBody>
      </p:sp>
      <p:sp>
        <p:nvSpPr>
          <p:cNvPr id="10" name="Freeform 9"/>
          <p:cNvSpPr/>
          <p:nvPr/>
        </p:nvSpPr>
        <p:spPr>
          <a:xfrm>
            <a:off x="2560320" y="2587752"/>
            <a:ext cx="1143000" cy="1143000"/>
          </a:xfrm>
          <a:custGeom>
            <a:avLst/>
            <a:gdLst/>
            <a:ahLst/>
            <a:cxnLst/>
            <a:rect l="l" t="t" r="r" b="b"/>
            <a:pathLst>
              <a:path w="1143000" h="1143000">
                <a:moveTo>
                  <a:pt x="1143000" y="1143000"/>
                </a:moveTo>
                <a:lnTo>
                  <a:pt x="1142303" y="1103109"/>
                </a:lnTo>
                <a:lnTo>
                  <a:pt x="1140215" y="1063268"/>
                </a:lnTo>
                <a:lnTo>
                  <a:pt x="1136738" y="1023523"/>
                </a:lnTo>
                <a:lnTo>
                  <a:pt x="1131876" y="983925"/>
                </a:lnTo>
                <a:lnTo>
                  <a:pt x="1125635" y="944520"/>
                </a:lnTo>
                <a:lnTo>
                  <a:pt x="1118022" y="905356"/>
                </a:lnTo>
                <a:lnTo>
                  <a:pt x="1109048" y="866483"/>
                </a:lnTo>
                <a:lnTo>
                  <a:pt x="1098722" y="827946"/>
                </a:lnTo>
                <a:lnTo>
                  <a:pt x="1087057" y="789793"/>
                </a:lnTo>
                <a:lnTo>
                  <a:pt x="1074068" y="752070"/>
                </a:lnTo>
                <a:lnTo>
                  <a:pt x="1059771" y="714824"/>
                </a:lnTo>
                <a:lnTo>
                  <a:pt x="1044182" y="678100"/>
                </a:lnTo>
                <a:lnTo>
                  <a:pt x="1027321" y="641941"/>
                </a:lnTo>
                <a:lnTo>
                  <a:pt x="1009209" y="606394"/>
                </a:lnTo>
                <a:lnTo>
                  <a:pt x="989867" y="571500"/>
                </a:lnTo>
                <a:lnTo>
                  <a:pt x="969318" y="537302"/>
                </a:lnTo>
                <a:lnTo>
                  <a:pt x="947589" y="503842"/>
                </a:lnTo>
                <a:lnTo>
                  <a:pt x="924706" y="471161"/>
                </a:lnTo>
                <a:lnTo>
                  <a:pt x="900696" y="439298"/>
                </a:lnTo>
                <a:lnTo>
                  <a:pt x="875588" y="408293"/>
                </a:lnTo>
                <a:lnTo>
                  <a:pt x="849414" y="378183"/>
                </a:lnTo>
                <a:lnTo>
                  <a:pt x="822205" y="349005"/>
                </a:lnTo>
                <a:lnTo>
                  <a:pt x="793994" y="320794"/>
                </a:lnTo>
                <a:lnTo>
                  <a:pt x="764816" y="293585"/>
                </a:lnTo>
                <a:lnTo>
                  <a:pt x="734706" y="267411"/>
                </a:lnTo>
                <a:lnTo>
                  <a:pt x="703701" y="242303"/>
                </a:lnTo>
                <a:lnTo>
                  <a:pt x="671838" y="218293"/>
                </a:lnTo>
                <a:lnTo>
                  <a:pt x="639157" y="195410"/>
                </a:lnTo>
                <a:lnTo>
                  <a:pt x="605697" y="173681"/>
                </a:lnTo>
                <a:lnTo>
                  <a:pt x="571500" y="153132"/>
                </a:lnTo>
                <a:lnTo>
                  <a:pt x="536605" y="133790"/>
                </a:lnTo>
                <a:lnTo>
                  <a:pt x="501058" y="115678"/>
                </a:lnTo>
                <a:lnTo>
                  <a:pt x="464899" y="98817"/>
                </a:lnTo>
                <a:lnTo>
                  <a:pt x="428175" y="83228"/>
                </a:lnTo>
                <a:lnTo>
                  <a:pt x="390929" y="68931"/>
                </a:lnTo>
                <a:lnTo>
                  <a:pt x="353206" y="55942"/>
                </a:lnTo>
                <a:lnTo>
                  <a:pt x="315053" y="44277"/>
                </a:lnTo>
                <a:lnTo>
                  <a:pt x="276516" y="33951"/>
                </a:lnTo>
                <a:lnTo>
                  <a:pt x="237643" y="24977"/>
                </a:lnTo>
                <a:lnTo>
                  <a:pt x="198479" y="17364"/>
                </a:lnTo>
                <a:lnTo>
                  <a:pt x="159074" y="11123"/>
                </a:lnTo>
                <a:lnTo>
                  <a:pt x="119476" y="6261"/>
                </a:lnTo>
                <a:lnTo>
                  <a:pt x="79731" y="2784"/>
                </a:lnTo>
                <a:lnTo>
                  <a:pt x="39890" y="696"/>
                </a:lnTo>
                <a:lnTo>
                  <a:pt x="0" y="0"/>
                </a:lnTo>
                <a:lnTo>
                  <a:pt x="0" y="480060"/>
                </a:lnTo>
                <a:lnTo>
                  <a:pt x="23136" y="480463"/>
                </a:lnTo>
                <a:lnTo>
                  <a:pt x="46244" y="481674"/>
                </a:lnTo>
                <a:lnTo>
                  <a:pt x="69296" y="483691"/>
                </a:lnTo>
                <a:lnTo>
                  <a:pt x="92263" y="486511"/>
                </a:lnTo>
                <a:lnTo>
                  <a:pt x="115118" y="490131"/>
                </a:lnTo>
                <a:lnTo>
                  <a:pt x="137832" y="494546"/>
                </a:lnTo>
                <a:lnTo>
                  <a:pt x="160379" y="499752"/>
                </a:lnTo>
                <a:lnTo>
                  <a:pt x="182731" y="505741"/>
                </a:lnTo>
                <a:lnTo>
                  <a:pt x="204859" y="512506"/>
                </a:lnTo>
                <a:lnTo>
                  <a:pt x="226738" y="520040"/>
                </a:lnTo>
                <a:lnTo>
                  <a:pt x="248341" y="528332"/>
                </a:lnTo>
                <a:lnTo>
                  <a:pt x="269641" y="537374"/>
                </a:lnTo>
                <a:lnTo>
                  <a:pt x="290613" y="547153"/>
                </a:lnTo>
                <a:lnTo>
                  <a:pt x="311231" y="557658"/>
                </a:lnTo>
                <a:lnTo>
                  <a:pt x="331470" y="568877"/>
                </a:lnTo>
                <a:lnTo>
                  <a:pt x="351304" y="580794"/>
                </a:lnTo>
                <a:lnTo>
                  <a:pt x="370711" y="593397"/>
                </a:lnTo>
                <a:lnTo>
                  <a:pt x="389666" y="606670"/>
                </a:lnTo>
                <a:lnTo>
                  <a:pt x="408146" y="620596"/>
                </a:lnTo>
                <a:lnTo>
                  <a:pt x="426129" y="635158"/>
                </a:lnTo>
                <a:lnTo>
                  <a:pt x="443593" y="650339"/>
                </a:lnTo>
                <a:lnTo>
                  <a:pt x="460516" y="666120"/>
                </a:lnTo>
                <a:lnTo>
                  <a:pt x="476879" y="682483"/>
                </a:lnTo>
                <a:lnTo>
                  <a:pt x="492660" y="699406"/>
                </a:lnTo>
                <a:lnTo>
                  <a:pt x="507841" y="716870"/>
                </a:lnTo>
                <a:lnTo>
                  <a:pt x="522403" y="734853"/>
                </a:lnTo>
                <a:lnTo>
                  <a:pt x="536329" y="753333"/>
                </a:lnTo>
                <a:lnTo>
                  <a:pt x="549602" y="772288"/>
                </a:lnTo>
                <a:lnTo>
                  <a:pt x="562205" y="791695"/>
                </a:lnTo>
                <a:lnTo>
                  <a:pt x="574122" y="811530"/>
                </a:lnTo>
                <a:lnTo>
                  <a:pt x="585341" y="831768"/>
                </a:lnTo>
                <a:lnTo>
                  <a:pt x="595846" y="852386"/>
                </a:lnTo>
                <a:lnTo>
                  <a:pt x="605625" y="873358"/>
                </a:lnTo>
                <a:lnTo>
                  <a:pt x="614667" y="894658"/>
                </a:lnTo>
                <a:lnTo>
                  <a:pt x="622959" y="916261"/>
                </a:lnTo>
                <a:lnTo>
                  <a:pt x="630493" y="938140"/>
                </a:lnTo>
                <a:lnTo>
                  <a:pt x="637258" y="960268"/>
                </a:lnTo>
                <a:lnTo>
                  <a:pt x="643247" y="982620"/>
                </a:lnTo>
                <a:lnTo>
                  <a:pt x="648453" y="1005167"/>
                </a:lnTo>
                <a:lnTo>
                  <a:pt x="652868" y="1027881"/>
                </a:lnTo>
                <a:lnTo>
                  <a:pt x="656488" y="1050736"/>
                </a:lnTo>
                <a:lnTo>
                  <a:pt x="659308" y="1073703"/>
                </a:lnTo>
                <a:lnTo>
                  <a:pt x="661325" y="1096755"/>
                </a:lnTo>
                <a:lnTo>
                  <a:pt x="662536" y="1119863"/>
                </a:lnTo>
                <a:lnTo>
                  <a:pt x="662940" y="1143000"/>
                </a:lnTo>
                <a:close/>
              </a:path>
            </a:pathLst>
          </a:custGeom>
          <a:solidFill>
            <a:srgbClr val="D97316"/>
          </a:solidFill>
          <a:ln>
            <a:noFill/>
          </a:ln>
        </p:spPr>
        <p:txBody>
          <a:bodyPr rtlCol="0" anchor="ctr"/>
          <a:lstStyle/>
          <a:p>
            <a:pPr algn="ctr"/>
          </a:p>
        </p:txBody>
      </p:sp>
      <p:sp>
        <p:nvSpPr>
          <p:cNvPr id="11" name="Freeform 10"/>
          <p:cNvSpPr/>
          <p:nvPr/>
        </p:nvSpPr>
        <p:spPr>
          <a:xfrm>
            <a:off x="2560320" y="3730752"/>
            <a:ext cx="1143000" cy="1143000"/>
          </a:xfrm>
          <a:custGeom>
            <a:avLst/>
            <a:gdLst/>
            <a:ahLst/>
            <a:cxnLst/>
            <a:rect l="l" t="t" r="r" b="b"/>
            <a:pathLst>
              <a:path w="1143000" h="1143000">
                <a:moveTo>
                  <a:pt x="0" y="1143000"/>
                </a:moveTo>
                <a:lnTo>
                  <a:pt x="39890" y="1142303"/>
                </a:lnTo>
                <a:lnTo>
                  <a:pt x="79731" y="1140215"/>
                </a:lnTo>
                <a:lnTo>
                  <a:pt x="119476" y="1136738"/>
                </a:lnTo>
                <a:lnTo>
                  <a:pt x="159074" y="1131876"/>
                </a:lnTo>
                <a:lnTo>
                  <a:pt x="198479" y="1125635"/>
                </a:lnTo>
                <a:lnTo>
                  <a:pt x="237643" y="1118022"/>
                </a:lnTo>
                <a:lnTo>
                  <a:pt x="276516" y="1109048"/>
                </a:lnTo>
                <a:lnTo>
                  <a:pt x="315053" y="1098722"/>
                </a:lnTo>
                <a:lnTo>
                  <a:pt x="353206" y="1087057"/>
                </a:lnTo>
                <a:lnTo>
                  <a:pt x="390929" y="1074068"/>
                </a:lnTo>
                <a:lnTo>
                  <a:pt x="428175" y="1059771"/>
                </a:lnTo>
                <a:lnTo>
                  <a:pt x="464899" y="1044182"/>
                </a:lnTo>
                <a:lnTo>
                  <a:pt x="501058" y="1027321"/>
                </a:lnTo>
                <a:lnTo>
                  <a:pt x="536605" y="1009209"/>
                </a:lnTo>
                <a:lnTo>
                  <a:pt x="571500" y="989867"/>
                </a:lnTo>
                <a:lnTo>
                  <a:pt x="605697" y="969318"/>
                </a:lnTo>
                <a:lnTo>
                  <a:pt x="639157" y="947589"/>
                </a:lnTo>
                <a:lnTo>
                  <a:pt x="671838" y="924706"/>
                </a:lnTo>
                <a:lnTo>
                  <a:pt x="703701" y="900696"/>
                </a:lnTo>
                <a:lnTo>
                  <a:pt x="734706" y="875588"/>
                </a:lnTo>
                <a:lnTo>
                  <a:pt x="764816" y="849414"/>
                </a:lnTo>
                <a:lnTo>
                  <a:pt x="793994" y="822205"/>
                </a:lnTo>
                <a:lnTo>
                  <a:pt x="822205" y="793994"/>
                </a:lnTo>
                <a:lnTo>
                  <a:pt x="849414" y="764816"/>
                </a:lnTo>
                <a:lnTo>
                  <a:pt x="875588" y="734706"/>
                </a:lnTo>
                <a:lnTo>
                  <a:pt x="900696" y="703701"/>
                </a:lnTo>
                <a:lnTo>
                  <a:pt x="924706" y="671838"/>
                </a:lnTo>
                <a:lnTo>
                  <a:pt x="947589" y="639157"/>
                </a:lnTo>
                <a:lnTo>
                  <a:pt x="969318" y="605697"/>
                </a:lnTo>
                <a:lnTo>
                  <a:pt x="989867" y="571500"/>
                </a:lnTo>
                <a:lnTo>
                  <a:pt x="1009209" y="536605"/>
                </a:lnTo>
                <a:lnTo>
                  <a:pt x="1027321" y="501058"/>
                </a:lnTo>
                <a:lnTo>
                  <a:pt x="1044182" y="464899"/>
                </a:lnTo>
                <a:lnTo>
                  <a:pt x="1059771" y="428175"/>
                </a:lnTo>
                <a:lnTo>
                  <a:pt x="1074068" y="390929"/>
                </a:lnTo>
                <a:lnTo>
                  <a:pt x="1087057" y="353206"/>
                </a:lnTo>
                <a:lnTo>
                  <a:pt x="1098722" y="315053"/>
                </a:lnTo>
                <a:lnTo>
                  <a:pt x="1109048" y="276516"/>
                </a:lnTo>
                <a:lnTo>
                  <a:pt x="1118022" y="237643"/>
                </a:lnTo>
                <a:lnTo>
                  <a:pt x="1125635" y="198479"/>
                </a:lnTo>
                <a:lnTo>
                  <a:pt x="1131876" y="159074"/>
                </a:lnTo>
                <a:lnTo>
                  <a:pt x="1136738" y="119476"/>
                </a:lnTo>
                <a:lnTo>
                  <a:pt x="1140215" y="79731"/>
                </a:lnTo>
                <a:lnTo>
                  <a:pt x="1142303" y="39890"/>
                </a:lnTo>
                <a:lnTo>
                  <a:pt x="1143000" y="0"/>
                </a:lnTo>
                <a:lnTo>
                  <a:pt x="662940" y="0"/>
                </a:lnTo>
                <a:lnTo>
                  <a:pt x="662536" y="23136"/>
                </a:lnTo>
                <a:lnTo>
                  <a:pt x="661325" y="46244"/>
                </a:lnTo>
                <a:lnTo>
                  <a:pt x="659308" y="69296"/>
                </a:lnTo>
                <a:lnTo>
                  <a:pt x="656488" y="92263"/>
                </a:lnTo>
                <a:lnTo>
                  <a:pt x="652868" y="115118"/>
                </a:lnTo>
                <a:lnTo>
                  <a:pt x="648453" y="137832"/>
                </a:lnTo>
                <a:lnTo>
                  <a:pt x="643247" y="160379"/>
                </a:lnTo>
                <a:lnTo>
                  <a:pt x="637258" y="182731"/>
                </a:lnTo>
                <a:lnTo>
                  <a:pt x="630493" y="204859"/>
                </a:lnTo>
                <a:lnTo>
                  <a:pt x="622959" y="226738"/>
                </a:lnTo>
                <a:lnTo>
                  <a:pt x="614667" y="248341"/>
                </a:lnTo>
                <a:lnTo>
                  <a:pt x="605625" y="269641"/>
                </a:lnTo>
                <a:lnTo>
                  <a:pt x="595846" y="290613"/>
                </a:lnTo>
                <a:lnTo>
                  <a:pt x="585341" y="311231"/>
                </a:lnTo>
                <a:lnTo>
                  <a:pt x="574122" y="331470"/>
                </a:lnTo>
                <a:lnTo>
                  <a:pt x="562205" y="351304"/>
                </a:lnTo>
                <a:lnTo>
                  <a:pt x="549602" y="370711"/>
                </a:lnTo>
                <a:lnTo>
                  <a:pt x="536329" y="389666"/>
                </a:lnTo>
                <a:lnTo>
                  <a:pt x="522403" y="408146"/>
                </a:lnTo>
                <a:lnTo>
                  <a:pt x="507841" y="426129"/>
                </a:lnTo>
                <a:lnTo>
                  <a:pt x="492660" y="443593"/>
                </a:lnTo>
                <a:lnTo>
                  <a:pt x="476879" y="460516"/>
                </a:lnTo>
                <a:lnTo>
                  <a:pt x="460516" y="476879"/>
                </a:lnTo>
                <a:lnTo>
                  <a:pt x="443593" y="492660"/>
                </a:lnTo>
                <a:lnTo>
                  <a:pt x="426129" y="507841"/>
                </a:lnTo>
                <a:lnTo>
                  <a:pt x="408146" y="522403"/>
                </a:lnTo>
                <a:lnTo>
                  <a:pt x="389666" y="536329"/>
                </a:lnTo>
                <a:lnTo>
                  <a:pt x="370711" y="549602"/>
                </a:lnTo>
                <a:lnTo>
                  <a:pt x="351304" y="562205"/>
                </a:lnTo>
                <a:lnTo>
                  <a:pt x="331470" y="574122"/>
                </a:lnTo>
                <a:lnTo>
                  <a:pt x="311231" y="585341"/>
                </a:lnTo>
                <a:lnTo>
                  <a:pt x="290613" y="595846"/>
                </a:lnTo>
                <a:lnTo>
                  <a:pt x="269641" y="605625"/>
                </a:lnTo>
                <a:lnTo>
                  <a:pt x="248341" y="614667"/>
                </a:lnTo>
                <a:lnTo>
                  <a:pt x="226738" y="622959"/>
                </a:lnTo>
                <a:lnTo>
                  <a:pt x="204859" y="630493"/>
                </a:lnTo>
                <a:lnTo>
                  <a:pt x="182731" y="637258"/>
                </a:lnTo>
                <a:lnTo>
                  <a:pt x="160379" y="643247"/>
                </a:lnTo>
                <a:lnTo>
                  <a:pt x="137832" y="648453"/>
                </a:lnTo>
                <a:lnTo>
                  <a:pt x="115118" y="652868"/>
                </a:lnTo>
                <a:lnTo>
                  <a:pt x="92263" y="656488"/>
                </a:lnTo>
                <a:lnTo>
                  <a:pt x="69296" y="659308"/>
                </a:lnTo>
                <a:lnTo>
                  <a:pt x="46244" y="661325"/>
                </a:lnTo>
                <a:lnTo>
                  <a:pt x="23136" y="662536"/>
                </a:lnTo>
                <a:lnTo>
                  <a:pt x="0" y="662940"/>
                </a:lnTo>
                <a:close/>
              </a:path>
            </a:pathLst>
          </a:custGeom>
          <a:solidFill>
            <a:srgbClr val="CC3333"/>
          </a:solidFill>
          <a:ln>
            <a:noFill/>
          </a:ln>
        </p:spPr>
        <p:txBody>
          <a:bodyPr rtlCol="0" anchor="ctr"/>
          <a:lstStyle/>
          <a:p>
            <a:pPr algn="ctr"/>
          </a:p>
        </p:txBody>
      </p:sp>
      <p:sp>
        <p:nvSpPr>
          <p:cNvPr id="12" name="Freeform 11"/>
          <p:cNvSpPr/>
          <p:nvPr/>
        </p:nvSpPr>
        <p:spPr>
          <a:xfrm>
            <a:off x="1417320" y="3730752"/>
            <a:ext cx="1143000" cy="1143000"/>
          </a:xfrm>
          <a:custGeom>
            <a:avLst/>
            <a:gdLst/>
            <a:ahLst/>
            <a:cxnLst/>
            <a:rect l="l" t="t" r="r" b="b"/>
            <a:pathLst>
              <a:path w="1143000" h="1143000">
                <a:moveTo>
                  <a:pt x="0" y="0"/>
                </a:moveTo>
                <a:lnTo>
                  <a:pt x="696" y="39890"/>
                </a:lnTo>
                <a:lnTo>
                  <a:pt x="2784" y="79731"/>
                </a:lnTo>
                <a:lnTo>
                  <a:pt x="6261" y="119476"/>
                </a:lnTo>
                <a:lnTo>
                  <a:pt x="11123" y="159074"/>
                </a:lnTo>
                <a:lnTo>
                  <a:pt x="17364" y="198479"/>
                </a:lnTo>
                <a:lnTo>
                  <a:pt x="24977" y="237643"/>
                </a:lnTo>
                <a:lnTo>
                  <a:pt x="33951" y="276516"/>
                </a:lnTo>
                <a:lnTo>
                  <a:pt x="44277" y="315053"/>
                </a:lnTo>
                <a:lnTo>
                  <a:pt x="55942" y="353206"/>
                </a:lnTo>
                <a:lnTo>
                  <a:pt x="68931" y="390929"/>
                </a:lnTo>
                <a:lnTo>
                  <a:pt x="83228" y="428175"/>
                </a:lnTo>
                <a:lnTo>
                  <a:pt x="98817" y="464899"/>
                </a:lnTo>
                <a:lnTo>
                  <a:pt x="115678" y="501058"/>
                </a:lnTo>
                <a:lnTo>
                  <a:pt x="133790" y="536605"/>
                </a:lnTo>
                <a:lnTo>
                  <a:pt x="153132" y="571500"/>
                </a:lnTo>
                <a:lnTo>
                  <a:pt x="173681" y="605697"/>
                </a:lnTo>
                <a:lnTo>
                  <a:pt x="195410" y="639157"/>
                </a:lnTo>
                <a:lnTo>
                  <a:pt x="218293" y="671838"/>
                </a:lnTo>
                <a:lnTo>
                  <a:pt x="242303" y="703701"/>
                </a:lnTo>
                <a:lnTo>
                  <a:pt x="267411" y="734706"/>
                </a:lnTo>
                <a:lnTo>
                  <a:pt x="293585" y="764816"/>
                </a:lnTo>
                <a:lnTo>
                  <a:pt x="320794" y="793994"/>
                </a:lnTo>
                <a:lnTo>
                  <a:pt x="349005" y="822205"/>
                </a:lnTo>
                <a:lnTo>
                  <a:pt x="378183" y="849414"/>
                </a:lnTo>
                <a:lnTo>
                  <a:pt x="408293" y="875588"/>
                </a:lnTo>
                <a:lnTo>
                  <a:pt x="439298" y="900696"/>
                </a:lnTo>
                <a:lnTo>
                  <a:pt x="471161" y="924706"/>
                </a:lnTo>
                <a:lnTo>
                  <a:pt x="503842" y="947589"/>
                </a:lnTo>
                <a:lnTo>
                  <a:pt x="537302" y="969318"/>
                </a:lnTo>
                <a:lnTo>
                  <a:pt x="571500" y="989867"/>
                </a:lnTo>
                <a:lnTo>
                  <a:pt x="606394" y="1009209"/>
                </a:lnTo>
                <a:lnTo>
                  <a:pt x="641941" y="1027321"/>
                </a:lnTo>
                <a:lnTo>
                  <a:pt x="678100" y="1044182"/>
                </a:lnTo>
                <a:lnTo>
                  <a:pt x="714824" y="1059771"/>
                </a:lnTo>
                <a:lnTo>
                  <a:pt x="752070" y="1074068"/>
                </a:lnTo>
                <a:lnTo>
                  <a:pt x="789793" y="1087057"/>
                </a:lnTo>
                <a:lnTo>
                  <a:pt x="827946" y="1098722"/>
                </a:lnTo>
                <a:lnTo>
                  <a:pt x="866483" y="1109048"/>
                </a:lnTo>
                <a:lnTo>
                  <a:pt x="905356" y="1118022"/>
                </a:lnTo>
                <a:lnTo>
                  <a:pt x="944520" y="1125635"/>
                </a:lnTo>
                <a:lnTo>
                  <a:pt x="983925" y="1131876"/>
                </a:lnTo>
                <a:lnTo>
                  <a:pt x="1023523" y="1136738"/>
                </a:lnTo>
                <a:lnTo>
                  <a:pt x="1063268" y="1140215"/>
                </a:lnTo>
                <a:lnTo>
                  <a:pt x="1103109" y="1142303"/>
                </a:lnTo>
                <a:lnTo>
                  <a:pt x="1143000" y="1143000"/>
                </a:lnTo>
                <a:lnTo>
                  <a:pt x="1143000" y="662940"/>
                </a:lnTo>
                <a:lnTo>
                  <a:pt x="1119863" y="662536"/>
                </a:lnTo>
                <a:lnTo>
                  <a:pt x="1096755" y="661325"/>
                </a:lnTo>
                <a:lnTo>
                  <a:pt x="1073703" y="659308"/>
                </a:lnTo>
                <a:lnTo>
                  <a:pt x="1050736" y="656488"/>
                </a:lnTo>
                <a:lnTo>
                  <a:pt x="1027881" y="652868"/>
                </a:lnTo>
                <a:lnTo>
                  <a:pt x="1005167" y="648453"/>
                </a:lnTo>
                <a:lnTo>
                  <a:pt x="982620" y="643247"/>
                </a:lnTo>
                <a:lnTo>
                  <a:pt x="960268" y="637258"/>
                </a:lnTo>
                <a:lnTo>
                  <a:pt x="938140" y="630493"/>
                </a:lnTo>
                <a:lnTo>
                  <a:pt x="916261" y="622959"/>
                </a:lnTo>
                <a:lnTo>
                  <a:pt x="894658" y="614667"/>
                </a:lnTo>
                <a:lnTo>
                  <a:pt x="873358" y="605625"/>
                </a:lnTo>
                <a:lnTo>
                  <a:pt x="852386" y="595846"/>
                </a:lnTo>
                <a:lnTo>
                  <a:pt x="831768" y="585341"/>
                </a:lnTo>
                <a:lnTo>
                  <a:pt x="811530" y="574122"/>
                </a:lnTo>
                <a:lnTo>
                  <a:pt x="791695" y="562205"/>
                </a:lnTo>
                <a:lnTo>
                  <a:pt x="772288" y="549602"/>
                </a:lnTo>
                <a:lnTo>
                  <a:pt x="753333" y="536329"/>
                </a:lnTo>
                <a:lnTo>
                  <a:pt x="734853" y="522403"/>
                </a:lnTo>
                <a:lnTo>
                  <a:pt x="716870" y="507841"/>
                </a:lnTo>
                <a:lnTo>
                  <a:pt x="699406" y="492660"/>
                </a:lnTo>
                <a:lnTo>
                  <a:pt x="682483" y="476879"/>
                </a:lnTo>
                <a:lnTo>
                  <a:pt x="666120" y="460516"/>
                </a:lnTo>
                <a:lnTo>
                  <a:pt x="650339" y="443593"/>
                </a:lnTo>
                <a:lnTo>
                  <a:pt x="635158" y="426129"/>
                </a:lnTo>
                <a:lnTo>
                  <a:pt x="620596" y="408146"/>
                </a:lnTo>
                <a:lnTo>
                  <a:pt x="606670" y="389666"/>
                </a:lnTo>
                <a:lnTo>
                  <a:pt x="593397" y="370711"/>
                </a:lnTo>
                <a:lnTo>
                  <a:pt x="580794" y="351304"/>
                </a:lnTo>
                <a:lnTo>
                  <a:pt x="568877" y="331470"/>
                </a:lnTo>
                <a:lnTo>
                  <a:pt x="557658" y="311231"/>
                </a:lnTo>
                <a:lnTo>
                  <a:pt x="547153" y="290613"/>
                </a:lnTo>
                <a:lnTo>
                  <a:pt x="537374" y="269641"/>
                </a:lnTo>
                <a:lnTo>
                  <a:pt x="528332" y="248341"/>
                </a:lnTo>
                <a:lnTo>
                  <a:pt x="520040" y="226738"/>
                </a:lnTo>
                <a:lnTo>
                  <a:pt x="512506" y="204859"/>
                </a:lnTo>
                <a:lnTo>
                  <a:pt x="505741" y="182731"/>
                </a:lnTo>
                <a:lnTo>
                  <a:pt x="499752" y="160379"/>
                </a:lnTo>
                <a:lnTo>
                  <a:pt x="494546" y="137832"/>
                </a:lnTo>
                <a:lnTo>
                  <a:pt x="490131" y="115118"/>
                </a:lnTo>
                <a:lnTo>
                  <a:pt x="486511" y="92263"/>
                </a:lnTo>
                <a:lnTo>
                  <a:pt x="483691" y="69296"/>
                </a:lnTo>
                <a:lnTo>
                  <a:pt x="481674" y="46244"/>
                </a:lnTo>
                <a:lnTo>
                  <a:pt x="480463" y="23136"/>
                </a:lnTo>
                <a:lnTo>
                  <a:pt x="480060" y="0"/>
                </a:lnTo>
                <a:close/>
              </a:path>
            </a:pathLst>
          </a:custGeom>
          <a:solidFill>
            <a:srgbClr val="55992E"/>
          </a:solidFill>
          <a:ln>
            <a:noFill/>
          </a:ln>
        </p:spPr>
        <p:txBody>
          <a:bodyPr rtlCol="0" anchor="ctr"/>
          <a:lstStyle/>
          <a:p>
            <a:pPr algn="ctr"/>
          </a:p>
        </p:txBody>
      </p:sp>
      <p:cxnSp>
        <p:nvCxnSpPr>
          <p:cNvPr id="13" name="Connector 12"/>
          <p:cNvCxnSpPr/>
          <p:nvPr/>
        </p:nvCxnSpPr>
        <p:spPr>
          <a:xfrm flipH="1">
            <a:off x="1417320" y="3730752"/>
            <a:ext cx="480060" cy="0"/>
          </a:xfrm>
          <a:prstGeom prst="line">
            <a:avLst/>
          </a:prstGeom>
          <a:ln w="25400">
            <a:solidFill>
              <a:srgbClr val="FFFFFF"/>
            </a:solidFill>
          </a:ln>
        </p:spPr>
      </p:cxnSp>
      <p:cxnSp>
        <p:nvCxnSpPr>
          <p:cNvPr id="14" name="Connector 13"/>
          <p:cNvCxnSpPr/>
          <p:nvPr/>
        </p:nvCxnSpPr>
        <p:spPr>
          <a:xfrm flipV="1">
            <a:off x="2560320" y="2587752"/>
            <a:ext cx="0" cy="480060"/>
          </a:xfrm>
          <a:prstGeom prst="line">
            <a:avLst/>
          </a:prstGeom>
          <a:ln w="25400">
            <a:solidFill>
              <a:srgbClr val="FFFFFF"/>
            </a:solidFill>
          </a:ln>
        </p:spPr>
      </p:cxnSp>
      <p:cxnSp>
        <p:nvCxnSpPr>
          <p:cNvPr id="15" name="Connector 14"/>
          <p:cNvCxnSpPr/>
          <p:nvPr/>
        </p:nvCxnSpPr>
        <p:spPr>
          <a:xfrm>
            <a:off x="3223260" y="3730752"/>
            <a:ext cx="480060" cy="0"/>
          </a:xfrm>
          <a:prstGeom prst="line">
            <a:avLst/>
          </a:prstGeom>
          <a:ln w="25400">
            <a:solidFill>
              <a:srgbClr val="FFFFFF"/>
            </a:solidFill>
          </a:ln>
        </p:spPr>
      </p:cxnSp>
      <p:cxnSp>
        <p:nvCxnSpPr>
          <p:cNvPr id="16" name="Connector 15"/>
          <p:cNvCxnSpPr/>
          <p:nvPr/>
        </p:nvCxnSpPr>
        <p:spPr>
          <a:xfrm>
            <a:off x="2560320" y="4393692"/>
            <a:ext cx="0" cy="480060"/>
          </a:xfrm>
          <a:prstGeom prst="line">
            <a:avLst/>
          </a:prstGeom>
          <a:ln w="25400">
            <a:solidFill>
              <a:srgbClr val="FFFFFF"/>
            </a:solidFill>
          </a:ln>
        </p:spPr>
      </p:cxnSp>
      <p:sp>
        <p:nvSpPr>
          <p:cNvPr id="17" name="Oval 16"/>
          <p:cNvSpPr/>
          <p:nvPr/>
        </p:nvSpPr>
        <p:spPr>
          <a:xfrm>
            <a:off x="1988820" y="3159252"/>
            <a:ext cx="1143000" cy="1143000"/>
          </a:xfrm>
          <a:prstGeom prst="ellipse">
            <a:avLst/>
          </a:prstGeom>
          <a:solidFill>
            <a:srgbClr val="FFFFFF"/>
          </a:solidFill>
          <a:ln w="19050">
            <a:solidFill>
              <a:srgbClr val="D9D9D9"/>
            </a:solidFill>
          </a:ln>
          <a:effectLst/>
        </p:spPr>
        <p:txBody>
          <a:bodyPr rtlCol="0" anchor="ctr"/>
          <a:lstStyle/>
          <a:p/>
        </p:txBody>
      </p:sp>
      <p:sp>
        <p:nvSpPr>
          <p:cNvPr id="18" name="Freeform 17"/>
          <p:cNvSpPr/>
          <p:nvPr/>
        </p:nvSpPr>
        <p:spPr>
          <a:xfrm>
            <a:off x="1108710" y="2310745"/>
            <a:ext cx="1150359" cy="1420007"/>
          </a:xfrm>
          <a:custGeom>
            <a:avLst/>
            <a:gdLst/>
            <a:ahLst/>
            <a:cxnLst/>
            <a:rect l="l" t="t" r="r" b="b"/>
            <a:pathLst>
              <a:path w="1150359" h="1420007">
                <a:moveTo>
                  <a:pt x="308610" y="1420007"/>
                </a:moveTo>
                <a:lnTo>
                  <a:pt x="0" y="1420007"/>
                </a:lnTo>
                <a:lnTo>
                  <a:pt x="841" y="1370598"/>
                </a:lnTo>
                <a:lnTo>
                  <a:pt x="3363" y="1321246"/>
                </a:lnTo>
                <a:lnTo>
                  <a:pt x="7564" y="1272010"/>
                </a:lnTo>
                <a:lnTo>
                  <a:pt x="13438" y="1222944"/>
                </a:lnTo>
                <a:lnTo>
                  <a:pt x="20978" y="1174107"/>
                </a:lnTo>
                <a:lnTo>
                  <a:pt x="30177" y="1125555"/>
                </a:lnTo>
                <a:lnTo>
                  <a:pt x="41023" y="1077344"/>
                </a:lnTo>
                <a:lnTo>
                  <a:pt x="53504" y="1029530"/>
                </a:lnTo>
                <a:lnTo>
                  <a:pt x="67604" y="982169"/>
                </a:lnTo>
                <a:lnTo>
                  <a:pt x="83309" y="935315"/>
                </a:lnTo>
                <a:lnTo>
                  <a:pt x="100599" y="889023"/>
                </a:lnTo>
                <a:lnTo>
                  <a:pt x="119455" y="843346"/>
                </a:lnTo>
                <a:lnTo>
                  <a:pt x="139855" y="798338"/>
                </a:lnTo>
                <a:lnTo>
                  <a:pt x="161775" y="754050"/>
                </a:lnTo>
                <a:lnTo>
                  <a:pt x="185190" y="710533"/>
                </a:lnTo>
                <a:lnTo>
                  <a:pt x="210072" y="667839"/>
                </a:lnTo>
                <a:lnTo>
                  <a:pt x="236393" y="626016"/>
                </a:lnTo>
                <a:lnTo>
                  <a:pt x="264122" y="585114"/>
                </a:lnTo>
                <a:lnTo>
                  <a:pt x="293228" y="545179"/>
                </a:lnTo>
                <a:lnTo>
                  <a:pt x="323675" y="506258"/>
                </a:lnTo>
                <a:lnTo>
                  <a:pt x="355430" y="468396"/>
                </a:lnTo>
                <a:lnTo>
                  <a:pt x="388456" y="431636"/>
                </a:lnTo>
                <a:lnTo>
                  <a:pt x="422713" y="396022"/>
                </a:lnTo>
                <a:lnTo>
                  <a:pt x="458163" y="361595"/>
                </a:lnTo>
                <a:lnTo>
                  <a:pt x="494764" y="328394"/>
                </a:lnTo>
                <a:lnTo>
                  <a:pt x="532473" y="296458"/>
                </a:lnTo>
                <a:lnTo>
                  <a:pt x="571248" y="265825"/>
                </a:lnTo>
                <a:lnTo>
                  <a:pt x="611043" y="236529"/>
                </a:lnTo>
                <a:lnTo>
                  <a:pt x="651813" y="208604"/>
                </a:lnTo>
                <a:lnTo>
                  <a:pt x="693509" y="182083"/>
                </a:lnTo>
                <a:lnTo>
                  <a:pt x="736083" y="156997"/>
                </a:lnTo>
                <a:lnTo>
                  <a:pt x="779487" y="133374"/>
                </a:lnTo>
                <a:lnTo>
                  <a:pt x="823670" y="111242"/>
                </a:lnTo>
                <a:lnTo>
                  <a:pt x="868580" y="90627"/>
                </a:lnTo>
                <a:lnTo>
                  <a:pt x="914166" y="71553"/>
                </a:lnTo>
                <a:lnTo>
                  <a:pt x="960375" y="54041"/>
                </a:lnTo>
                <a:lnTo>
                  <a:pt x="1007153" y="38113"/>
                </a:lnTo>
                <a:lnTo>
                  <a:pt x="1054447" y="23785"/>
                </a:lnTo>
                <a:lnTo>
                  <a:pt x="1102200" y="11076"/>
                </a:lnTo>
                <a:lnTo>
                  <a:pt x="1150359" y="0"/>
                </a:lnTo>
              </a:path>
            </a:pathLst>
          </a:custGeom>
          <a:noFill/>
          <a:ln w="28575">
            <a:solidFill>
              <a:srgbClr val="1F86BF"/>
            </a:solidFill>
          </a:ln>
        </p:spPr>
        <p:txBody>
          <a:bodyPr rtlCol="0" anchor="ctr"/>
          <a:lstStyle/>
          <a:p>
            <a:pPr algn="ctr"/>
          </a:p>
        </p:txBody>
      </p:sp>
      <p:sp>
        <p:nvSpPr>
          <p:cNvPr id="19" name="Freeform 18"/>
          <p:cNvSpPr/>
          <p:nvPr/>
        </p:nvSpPr>
        <p:spPr>
          <a:xfrm>
            <a:off x="2245406" y="2246341"/>
            <a:ext cx="147836" cy="128807"/>
          </a:xfrm>
          <a:custGeom>
            <a:avLst/>
            <a:gdLst/>
            <a:ahLst/>
            <a:cxnLst/>
            <a:rect l="l" t="t" r="r" b="b"/>
            <a:pathLst>
              <a:path w="147836" h="128807">
                <a:moveTo>
                  <a:pt x="147836" y="35939"/>
                </a:moveTo>
                <a:lnTo>
                  <a:pt x="27326" y="128807"/>
                </a:lnTo>
                <a:lnTo>
                  <a:pt x="0" y="0"/>
                </a:lnTo>
                <a:close/>
              </a:path>
            </a:pathLst>
          </a:custGeom>
          <a:solidFill>
            <a:srgbClr val="1F86BF"/>
          </a:solidFill>
          <a:ln>
            <a:noFill/>
          </a:ln>
        </p:spPr>
        <p:txBody>
          <a:bodyPr rtlCol="0" anchor="ctr"/>
          <a:lstStyle/>
          <a:p>
            <a:pPr algn="ctr"/>
          </a:p>
        </p:txBody>
      </p:sp>
      <p:sp>
        <p:nvSpPr>
          <p:cNvPr id="20" name="Freeform 19"/>
          <p:cNvSpPr/>
          <p:nvPr/>
        </p:nvSpPr>
        <p:spPr>
          <a:xfrm>
            <a:off x="2560320" y="2279142"/>
            <a:ext cx="1420006" cy="1150359"/>
          </a:xfrm>
          <a:custGeom>
            <a:avLst/>
            <a:gdLst/>
            <a:ahLst/>
            <a:cxnLst/>
            <a:rect l="l" t="t" r="r" b="b"/>
            <a:pathLst>
              <a:path w="1420006" h="1150359">
                <a:moveTo>
                  <a:pt x="0" y="308610"/>
                </a:moveTo>
                <a:lnTo>
                  <a:pt x="0" y="0"/>
                </a:lnTo>
                <a:lnTo>
                  <a:pt x="49408" y="841"/>
                </a:lnTo>
                <a:lnTo>
                  <a:pt x="98760" y="3363"/>
                </a:lnTo>
                <a:lnTo>
                  <a:pt x="147996" y="7564"/>
                </a:lnTo>
                <a:lnTo>
                  <a:pt x="197062" y="13438"/>
                </a:lnTo>
                <a:lnTo>
                  <a:pt x="245899" y="20978"/>
                </a:lnTo>
                <a:lnTo>
                  <a:pt x="294451" y="30177"/>
                </a:lnTo>
                <a:lnTo>
                  <a:pt x="342662" y="41023"/>
                </a:lnTo>
                <a:lnTo>
                  <a:pt x="390476" y="53504"/>
                </a:lnTo>
                <a:lnTo>
                  <a:pt x="437837" y="67604"/>
                </a:lnTo>
                <a:lnTo>
                  <a:pt x="484691" y="83309"/>
                </a:lnTo>
                <a:lnTo>
                  <a:pt x="530983" y="100599"/>
                </a:lnTo>
                <a:lnTo>
                  <a:pt x="576660" y="119455"/>
                </a:lnTo>
                <a:lnTo>
                  <a:pt x="621668" y="139855"/>
                </a:lnTo>
                <a:lnTo>
                  <a:pt x="665956" y="161775"/>
                </a:lnTo>
                <a:lnTo>
                  <a:pt x="709473" y="185190"/>
                </a:lnTo>
                <a:lnTo>
                  <a:pt x="752167" y="210072"/>
                </a:lnTo>
                <a:lnTo>
                  <a:pt x="793990" y="236393"/>
                </a:lnTo>
                <a:lnTo>
                  <a:pt x="834892" y="264122"/>
                </a:lnTo>
                <a:lnTo>
                  <a:pt x="874827" y="293228"/>
                </a:lnTo>
                <a:lnTo>
                  <a:pt x="913748" y="323675"/>
                </a:lnTo>
                <a:lnTo>
                  <a:pt x="951610" y="355430"/>
                </a:lnTo>
                <a:lnTo>
                  <a:pt x="988370" y="388456"/>
                </a:lnTo>
                <a:lnTo>
                  <a:pt x="1023984" y="422713"/>
                </a:lnTo>
                <a:lnTo>
                  <a:pt x="1058411" y="458163"/>
                </a:lnTo>
                <a:lnTo>
                  <a:pt x="1091612" y="494764"/>
                </a:lnTo>
                <a:lnTo>
                  <a:pt x="1123548" y="532473"/>
                </a:lnTo>
                <a:lnTo>
                  <a:pt x="1154181" y="571248"/>
                </a:lnTo>
                <a:lnTo>
                  <a:pt x="1183477" y="611043"/>
                </a:lnTo>
                <a:lnTo>
                  <a:pt x="1211402" y="651813"/>
                </a:lnTo>
                <a:lnTo>
                  <a:pt x="1237923" y="693509"/>
                </a:lnTo>
                <a:lnTo>
                  <a:pt x="1263009" y="736083"/>
                </a:lnTo>
                <a:lnTo>
                  <a:pt x="1286632" y="779487"/>
                </a:lnTo>
                <a:lnTo>
                  <a:pt x="1308764" y="823670"/>
                </a:lnTo>
                <a:lnTo>
                  <a:pt x="1329379" y="868580"/>
                </a:lnTo>
                <a:lnTo>
                  <a:pt x="1348453" y="914166"/>
                </a:lnTo>
                <a:lnTo>
                  <a:pt x="1365965" y="960375"/>
                </a:lnTo>
                <a:lnTo>
                  <a:pt x="1381893" y="1007153"/>
                </a:lnTo>
                <a:lnTo>
                  <a:pt x="1396221" y="1054447"/>
                </a:lnTo>
                <a:lnTo>
                  <a:pt x="1408930" y="1102200"/>
                </a:lnTo>
                <a:lnTo>
                  <a:pt x="1420006" y="1150359"/>
                </a:lnTo>
              </a:path>
            </a:pathLst>
          </a:custGeom>
          <a:noFill/>
          <a:ln w="28575">
            <a:solidFill>
              <a:srgbClr val="D97316"/>
            </a:solidFill>
          </a:ln>
        </p:spPr>
        <p:txBody>
          <a:bodyPr rtlCol="0" anchor="ctr"/>
          <a:lstStyle/>
          <a:p>
            <a:pPr algn="ctr"/>
          </a:p>
        </p:txBody>
      </p:sp>
      <p:sp>
        <p:nvSpPr>
          <p:cNvPr id="21" name="Freeform 20"/>
          <p:cNvSpPr/>
          <p:nvPr/>
        </p:nvSpPr>
        <p:spPr>
          <a:xfrm>
            <a:off x="3915923" y="3415838"/>
            <a:ext cx="128807" cy="147836"/>
          </a:xfrm>
          <a:custGeom>
            <a:avLst/>
            <a:gdLst/>
            <a:ahLst/>
            <a:cxnLst/>
            <a:rect l="l" t="t" r="r" b="b"/>
            <a:pathLst>
              <a:path w="128807" h="147836">
                <a:moveTo>
                  <a:pt x="92868" y="147836"/>
                </a:moveTo>
                <a:lnTo>
                  <a:pt x="0" y="27326"/>
                </a:lnTo>
                <a:lnTo>
                  <a:pt x="128807" y="0"/>
                </a:lnTo>
                <a:close/>
              </a:path>
            </a:pathLst>
          </a:custGeom>
          <a:solidFill>
            <a:srgbClr val="D97316"/>
          </a:solidFill>
          <a:ln>
            <a:noFill/>
          </a:ln>
        </p:spPr>
        <p:txBody>
          <a:bodyPr rtlCol="0" anchor="ctr"/>
          <a:lstStyle/>
          <a:p>
            <a:pPr algn="ctr"/>
          </a:p>
        </p:txBody>
      </p:sp>
      <p:sp>
        <p:nvSpPr>
          <p:cNvPr id="22" name="Freeform 21"/>
          <p:cNvSpPr/>
          <p:nvPr/>
        </p:nvSpPr>
        <p:spPr>
          <a:xfrm>
            <a:off x="2861570" y="3730752"/>
            <a:ext cx="1150360" cy="1420006"/>
          </a:xfrm>
          <a:custGeom>
            <a:avLst/>
            <a:gdLst/>
            <a:ahLst/>
            <a:cxnLst/>
            <a:rect l="l" t="t" r="r" b="b"/>
            <a:pathLst>
              <a:path w="1150360" h="1420006">
                <a:moveTo>
                  <a:pt x="841750" y="0"/>
                </a:moveTo>
                <a:lnTo>
                  <a:pt x="1150360" y="0"/>
                </a:lnTo>
                <a:lnTo>
                  <a:pt x="1149518" y="49408"/>
                </a:lnTo>
                <a:lnTo>
                  <a:pt x="1146996" y="98760"/>
                </a:lnTo>
                <a:lnTo>
                  <a:pt x="1142795" y="147996"/>
                </a:lnTo>
                <a:lnTo>
                  <a:pt x="1136921" y="197062"/>
                </a:lnTo>
                <a:lnTo>
                  <a:pt x="1129381" y="245899"/>
                </a:lnTo>
                <a:lnTo>
                  <a:pt x="1120182" y="294451"/>
                </a:lnTo>
                <a:lnTo>
                  <a:pt x="1109336" y="342662"/>
                </a:lnTo>
                <a:lnTo>
                  <a:pt x="1096855" y="390476"/>
                </a:lnTo>
                <a:lnTo>
                  <a:pt x="1082755" y="437837"/>
                </a:lnTo>
                <a:lnTo>
                  <a:pt x="1067050" y="484691"/>
                </a:lnTo>
                <a:lnTo>
                  <a:pt x="1049760" y="530983"/>
                </a:lnTo>
                <a:lnTo>
                  <a:pt x="1030904" y="576660"/>
                </a:lnTo>
                <a:lnTo>
                  <a:pt x="1010504" y="621668"/>
                </a:lnTo>
                <a:lnTo>
                  <a:pt x="988584" y="665956"/>
                </a:lnTo>
                <a:lnTo>
                  <a:pt x="965169" y="709473"/>
                </a:lnTo>
                <a:lnTo>
                  <a:pt x="940287" y="752167"/>
                </a:lnTo>
                <a:lnTo>
                  <a:pt x="913966" y="793990"/>
                </a:lnTo>
                <a:lnTo>
                  <a:pt x="886237" y="834892"/>
                </a:lnTo>
                <a:lnTo>
                  <a:pt x="857131" y="874827"/>
                </a:lnTo>
                <a:lnTo>
                  <a:pt x="826684" y="913748"/>
                </a:lnTo>
                <a:lnTo>
                  <a:pt x="794929" y="951610"/>
                </a:lnTo>
                <a:lnTo>
                  <a:pt x="761903" y="988370"/>
                </a:lnTo>
                <a:lnTo>
                  <a:pt x="727646" y="1023984"/>
                </a:lnTo>
                <a:lnTo>
                  <a:pt x="692196" y="1058411"/>
                </a:lnTo>
                <a:lnTo>
                  <a:pt x="655595" y="1091612"/>
                </a:lnTo>
                <a:lnTo>
                  <a:pt x="617886" y="1123548"/>
                </a:lnTo>
                <a:lnTo>
                  <a:pt x="579111" y="1154181"/>
                </a:lnTo>
                <a:lnTo>
                  <a:pt x="539316" y="1183477"/>
                </a:lnTo>
                <a:lnTo>
                  <a:pt x="498546" y="1211402"/>
                </a:lnTo>
                <a:lnTo>
                  <a:pt x="456850" y="1237923"/>
                </a:lnTo>
                <a:lnTo>
                  <a:pt x="414276" y="1263009"/>
                </a:lnTo>
                <a:lnTo>
                  <a:pt x="370872" y="1286632"/>
                </a:lnTo>
                <a:lnTo>
                  <a:pt x="326689" y="1308764"/>
                </a:lnTo>
                <a:lnTo>
                  <a:pt x="281779" y="1329379"/>
                </a:lnTo>
                <a:lnTo>
                  <a:pt x="236193" y="1348453"/>
                </a:lnTo>
                <a:lnTo>
                  <a:pt x="189984" y="1365965"/>
                </a:lnTo>
                <a:lnTo>
                  <a:pt x="143206" y="1381893"/>
                </a:lnTo>
                <a:lnTo>
                  <a:pt x="95912" y="1396221"/>
                </a:lnTo>
                <a:lnTo>
                  <a:pt x="48159" y="1408930"/>
                </a:lnTo>
                <a:lnTo>
                  <a:pt x="0" y="1420006"/>
                </a:lnTo>
              </a:path>
            </a:pathLst>
          </a:custGeom>
          <a:noFill/>
          <a:ln w="28575">
            <a:solidFill>
              <a:srgbClr val="CC3333"/>
            </a:solidFill>
          </a:ln>
        </p:spPr>
        <p:txBody>
          <a:bodyPr rtlCol="0" anchor="ctr"/>
          <a:lstStyle/>
          <a:p>
            <a:pPr algn="ctr"/>
          </a:p>
        </p:txBody>
      </p:sp>
      <p:sp>
        <p:nvSpPr>
          <p:cNvPr id="23" name="Freeform 22"/>
          <p:cNvSpPr/>
          <p:nvPr/>
        </p:nvSpPr>
        <p:spPr>
          <a:xfrm>
            <a:off x="2727397" y="5086355"/>
            <a:ext cx="147836" cy="128807"/>
          </a:xfrm>
          <a:custGeom>
            <a:avLst/>
            <a:gdLst/>
            <a:ahLst/>
            <a:cxnLst/>
            <a:rect l="l" t="t" r="r" b="b"/>
            <a:pathLst>
              <a:path w="147836" h="128807">
                <a:moveTo>
                  <a:pt x="0" y="92868"/>
                </a:moveTo>
                <a:lnTo>
                  <a:pt x="120510" y="0"/>
                </a:lnTo>
                <a:lnTo>
                  <a:pt x="147836" y="128807"/>
                </a:lnTo>
                <a:close/>
              </a:path>
            </a:pathLst>
          </a:custGeom>
          <a:solidFill>
            <a:srgbClr val="CC3333"/>
          </a:solidFill>
          <a:ln>
            <a:noFill/>
          </a:ln>
        </p:spPr>
        <p:txBody>
          <a:bodyPr rtlCol="0" anchor="ctr"/>
          <a:lstStyle/>
          <a:p>
            <a:pPr algn="ctr"/>
          </a:p>
        </p:txBody>
      </p:sp>
      <p:sp>
        <p:nvSpPr>
          <p:cNvPr id="24" name="Freeform 23"/>
          <p:cNvSpPr/>
          <p:nvPr/>
        </p:nvSpPr>
        <p:spPr>
          <a:xfrm>
            <a:off x="1140313" y="4032002"/>
            <a:ext cx="1420007" cy="1150360"/>
          </a:xfrm>
          <a:custGeom>
            <a:avLst/>
            <a:gdLst/>
            <a:ahLst/>
            <a:cxnLst/>
            <a:rect l="l" t="t" r="r" b="b"/>
            <a:pathLst>
              <a:path w="1420007" h="1150360">
                <a:moveTo>
                  <a:pt x="1420007" y="841750"/>
                </a:moveTo>
                <a:lnTo>
                  <a:pt x="1420007" y="1150360"/>
                </a:lnTo>
                <a:lnTo>
                  <a:pt x="1370598" y="1149518"/>
                </a:lnTo>
                <a:lnTo>
                  <a:pt x="1321246" y="1146996"/>
                </a:lnTo>
                <a:lnTo>
                  <a:pt x="1272010" y="1142795"/>
                </a:lnTo>
                <a:lnTo>
                  <a:pt x="1222944" y="1136921"/>
                </a:lnTo>
                <a:lnTo>
                  <a:pt x="1174107" y="1129381"/>
                </a:lnTo>
                <a:lnTo>
                  <a:pt x="1125555" y="1120182"/>
                </a:lnTo>
                <a:lnTo>
                  <a:pt x="1077344" y="1109336"/>
                </a:lnTo>
                <a:lnTo>
                  <a:pt x="1029530" y="1096855"/>
                </a:lnTo>
                <a:lnTo>
                  <a:pt x="982169" y="1082755"/>
                </a:lnTo>
                <a:lnTo>
                  <a:pt x="935315" y="1067050"/>
                </a:lnTo>
                <a:lnTo>
                  <a:pt x="889023" y="1049760"/>
                </a:lnTo>
                <a:lnTo>
                  <a:pt x="843346" y="1030904"/>
                </a:lnTo>
                <a:lnTo>
                  <a:pt x="798338" y="1010504"/>
                </a:lnTo>
                <a:lnTo>
                  <a:pt x="754050" y="988584"/>
                </a:lnTo>
                <a:lnTo>
                  <a:pt x="710533" y="965169"/>
                </a:lnTo>
                <a:lnTo>
                  <a:pt x="667839" y="940287"/>
                </a:lnTo>
                <a:lnTo>
                  <a:pt x="626016" y="913966"/>
                </a:lnTo>
                <a:lnTo>
                  <a:pt x="585114" y="886237"/>
                </a:lnTo>
                <a:lnTo>
                  <a:pt x="545179" y="857131"/>
                </a:lnTo>
                <a:lnTo>
                  <a:pt x="506258" y="826684"/>
                </a:lnTo>
                <a:lnTo>
                  <a:pt x="468396" y="794929"/>
                </a:lnTo>
                <a:lnTo>
                  <a:pt x="431636" y="761903"/>
                </a:lnTo>
                <a:lnTo>
                  <a:pt x="396022" y="727646"/>
                </a:lnTo>
                <a:lnTo>
                  <a:pt x="361595" y="692196"/>
                </a:lnTo>
                <a:lnTo>
                  <a:pt x="328394" y="655595"/>
                </a:lnTo>
                <a:lnTo>
                  <a:pt x="296458" y="617886"/>
                </a:lnTo>
                <a:lnTo>
                  <a:pt x="265825" y="579111"/>
                </a:lnTo>
                <a:lnTo>
                  <a:pt x="236529" y="539316"/>
                </a:lnTo>
                <a:lnTo>
                  <a:pt x="208604" y="498546"/>
                </a:lnTo>
                <a:lnTo>
                  <a:pt x="182083" y="456850"/>
                </a:lnTo>
                <a:lnTo>
                  <a:pt x="156997" y="414276"/>
                </a:lnTo>
                <a:lnTo>
                  <a:pt x="133374" y="370872"/>
                </a:lnTo>
                <a:lnTo>
                  <a:pt x="111242" y="326689"/>
                </a:lnTo>
                <a:lnTo>
                  <a:pt x="90627" y="281779"/>
                </a:lnTo>
                <a:lnTo>
                  <a:pt x="71553" y="236193"/>
                </a:lnTo>
                <a:lnTo>
                  <a:pt x="54041" y="189984"/>
                </a:lnTo>
                <a:lnTo>
                  <a:pt x="38113" y="143206"/>
                </a:lnTo>
                <a:lnTo>
                  <a:pt x="23785" y="95912"/>
                </a:lnTo>
                <a:lnTo>
                  <a:pt x="11076" y="48159"/>
                </a:lnTo>
                <a:lnTo>
                  <a:pt x="0" y="0"/>
                </a:lnTo>
              </a:path>
            </a:pathLst>
          </a:custGeom>
          <a:noFill/>
          <a:ln w="28575">
            <a:solidFill>
              <a:srgbClr val="55992E"/>
            </a:solidFill>
          </a:ln>
        </p:spPr>
        <p:txBody>
          <a:bodyPr rtlCol="0" anchor="ctr"/>
          <a:lstStyle/>
          <a:p>
            <a:pPr algn="ctr"/>
          </a:p>
        </p:txBody>
      </p:sp>
      <p:sp>
        <p:nvSpPr>
          <p:cNvPr id="25" name="Freeform 24"/>
          <p:cNvSpPr/>
          <p:nvPr/>
        </p:nvSpPr>
        <p:spPr>
          <a:xfrm>
            <a:off x="1075909" y="3897829"/>
            <a:ext cx="128807" cy="147836"/>
          </a:xfrm>
          <a:custGeom>
            <a:avLst/>
            <a:gdLst/>
            <a:ahLst/>
            <a:cxnLst/>
            <a:rect l="l" t="t" r="r" b="b"/>
            <a:pathLst>
              <a:path w="128807" h="147836">
                <a:moveTo>
                  <a:pt x="35939" y="0"/>
                </a:moveTo>
                <a:lnTo>
                  <a:pt x="128807" y="120510"/>
                </a:lnTo>
                <a:lnTo>
                  <a:pt x="0" y="147836"/>
                </a:lnTo>
                <a:close/>
              </a:path>
            </a:pathLst>
          </a:custGeom>
          <a:solidFill>
            <a:srgbClr val="55992E"/>
          </a:solidFill>
          <a:ln>
            <a:noFill/>
          </a:ln>
        </p:spPr>
        <p:txBody>
          <a:bodyPr rtlCol="0" anchor="ctr"/>
          <a:lstStyle/>
          <a:p>
            <a:pPr algn="ctr"/>
          </a:p>
        </p:txBody>
      </p:sp>
      <p:sp>
        <p:nvSpPr>
          <p:cNvPr id="26" name="Rounded Rectangle 25"/>
          <p:cNvSpPr/>
          <p:nvPr/>
        </p:nvSpPr>
        <p:spPr>
          <a:xfrm>
            <a:off x="4091940" y="3239262"/>
            <a:ext cx="274320" cy="982980"/>
          </a:xfrm>
          <a:prstGeom prst="roundRect">
            <a:avLst>
              <a:gd name="adj" fmla="val 12000"/>
            </a:avLst>
          </a:prstGeom>
          <a:solidFill>
            <a:srgbClr val="D33327"/>
          </a:solidFill>
          <a:ln w="19050">
            <a:solidFill>
              <a:srgbClr val="FFFFFF"/>
            </a:solidFill>
          </a:ln>
          <a:effectLst/>
        </p:spPr>
        <p:txBody>
          <a:bodyPr rtlCol="0" anchor="ctr"/>
          <a:lstStyle/>
          <a:p/>
        </p:txBody>
      </p:sp>
      <p:sp>
        <p:nvSpPr>
          <p:cNvPr id="27" name="TextBox 26"/>
          <p:cNvSpPr txBox="1"/>
          <p:nvPr/>
        </p:nvSpPr>
        <p:spPr>
          <a:xfrm rot="5400000">
            <a:off x="4031840" y="3533492"/>
            <a:ext cx="394519" cy="394519"/>
          </a:xfrm>
          <a:prstGeom prst="rect">
            <a:avLst/>
          </a:prstGeom>
          <a:noFill/>
        </p:spPr>
        <p:txBody>
          <a:bodyPr wrap="square" anchor="ctr" lIns="0" rIns="0" tIns="0" bIns="0">
            <a:noAutofit/>
          </a:bodyPr>
          <a:lstStyle/>
          <a:p>
            <a:pPr algn="ctr">
              <a:spcBef>
                <a:spcPts val="0"/>
              </a:spcBef>
              <a:spcAft>
                <a:spcPts val="0"/>
              </a:spcAft>
            </a:pPr>
            <a:r>
              <a:rPr lang="tr-TR" sz="1188" b="1" i="0">
                <a:solidFill>
                  <a:srgbClr val="FFFFFF"/>
                </a:solidFill>
                <a:latin typeface="Calibri"/>
              </a:rPr>
              <a:t>AFET</a:t>
            </a:r>
          </a:p>
        </p:txBody>
      </p:sp>
      <p:sp>
        <p:nvSpPr>
          <p:cNvPr id="28" name="TextBox 27"/>
          <p:cNvSpPr txBox="1"/>
          <p:nvPr/>
        </p:nvSpPr>
        <p:spPr>
          <a:xfrm>
            <a:off x="2068830" y="3387852"/>
            <a:ext cx="982980" cy="685800"/>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9" name="Oval 28"/>
          <p:cNvSpPr/>
          <p:nvPr/>
        </p:nvSpPr>
        <p:spPr>
          <a:xfrm>
            <a:off x="1773005" y="2943437"/>
            <a:ext cx="297637" cy="297637"/>
          </a:xfrm>
          <a:prstGeom prst="ellipse">
            <a:avLst/>
          </a:prstGeom>
          <a:solidFill>
            <a:srgbClr val="FFFFFF"/>
          </a:solidFill>
          <a:ln w="25400">
            <a:solidFill>
              <a:srgbClr val="1F86BF"/>
            </a:solidFill>
          </a:ln>
          <a:effectLst/>
        </p:spPr>
        <p:txBody>
          <a:bodyPr rtlCol="0" anchor="ctr" wrap="none" lIns="0" rIns="0" tIns="0" bIns="0">
            <a:noAutofit/>
          </a:bodyPr>
          <a:lstStyle/>
          <a:p>
            <a:pPr algn="ctr">
              <a:spcBef>
                <a:spcPts val="0"/>
              </a:spcBef>
              <a:spcAft>
                <a:spcPts val="0"/>
              </a:spcAft>
            </a:pPr>
            <a:r>
              <a:rPr lang="tr-TR" sz="1288" b="1" i="0">
                <a:solidFill>
                  <a:srgbClr val="1F86BF"/>
                </a:solidFill>
                <a:latin typeface="Calibri"/>
              </a:rPr>
              <a:t>1</a:t>
            </a:r>
          </a:p>
        </p:txBody>
      </p:sp>
      <p:sp>
        <p:nvSpPr>
          <p:cNvPr id="30" name="Oval 29"/>
          <p:cNvSpPr/>
          <p:nvPr/>
        </p:nvSpPr>
        <p:spPr>
          <a:xfrm>
            <a:off x="3049997" y="2943437"/>
            <a:ext cx="297637" cy="297637"/>
          </a:xfrm>
          <a:prstGeom prst="ellipse">
            <a:avLst/>
          </a:prstGeom>
          <a:solidFill>
            <a:srgbClr val="FFFFFF"/>
          </a:solidFill>
          <a:ln w="25400">
            <a:solidFill>
              <a:srgbClr val="D97316"/>
            </a:solidFill>
          </a:ln>
          <a:effectLst/>
        </p:spPr>
        <p:txBody>
          <a:bodyPr rtlCol="0" anchor="ctr" wrap="none" lIns="0" rIns="0" tIns="0" bIns="0">
            <a:noAutofit/>
          </a:bodyPr>
          <a:lstStyle/>
          <a:p>
            <a:pPr algn="ctr">
              <a:spcBef>
                <a:spcPts val="0"/>
              </a:spcBef>
              <a:spcAft>
                <a:spcPts val="0"/>
              </a:spcAft>
            </a:pPr>
            <a:r>
              <a:rPr lang="tr-TR" sz="1288" b="1" i="0">
                <a:solidFill>
                  <a:srgbClr val="D97316"/>
                </a:solidFill>
                <a:latin typeface="Calibri"/>
              </a:rPr>
              <a:t>2</a:t>
            </a:r>
          </a:p>
        </p:txBody>
      </p:sp>
      <p:sp>
        <p:nvSpPr>
          <p:cNvPr id="31" name="Oval 30"/>
          <p:cNvSpPr/>
          <p:nvPr/>
        </p:nvSpPr>
        <p:spPr>
          <a:xfrm>
            <a:off x="3049997" y="4220429"/>
            <a:ext cx="297637" cy="297637"/>
          </a:xfrm>
          <a:prstGeom prst="ellipse">
            <a:avLst/>
          </a:prstGeom>
          <a:solidFill>
            <a:srgbClr val="FFFFFF"/>
          </a:solidFill>
          <a:ln w="25400">
            <a:solidFill>
              <a:srgbClr val="CC3333"/>
            </a:solidFill>
          </a:ln>
          <a:effectLst/>
        </p:spPr>
        <p:txBody>
          <a:bodyPr rtlCol="0" anchor="ctr" wrap="none" lIns="0" rIns="0" tIns="0" bIns="0">
            <a:noAutofit/>
          </a:bodyPr>
          <a:lstStyle/>
          <a:p>
            <a:pPr algn="ctr">
              <a:spcBef>
                <a:spcPts val="0"/>
              </a:spcBef>
              <a:spcAft>
                <a:spcPts val="0"/>
              </a:spcAft>
            </a:pPr>
            <a:r>
              <a:rPr lang="tr-TR" sz="1288" b="1" i="0">
                <a:solidFill>
                  <a:srgbClr val="CC3333"/>
                </a:solidFill>
                <a:latin typeface="Calibri"/>
              </a:rPr>
              <a:t>3</a:t>
            </a:r>
          </a:p>
        </p:txBody>
      </p:sp>
      <p:sp>
        <p:nvSpPr>
          <p:cNvPr id="32" name="Oval 31"/>
          <p:cNvSpPr/>
          <p:nvPr/>
        </p:nvSpPr>
        <p:spPr>
          <a:xfrm>
            <a:off x="1773005" y="4220429"/>
            <a:ext cx="297637" cy="297637"/>
          </a:xfrm>
          <a:prstGeom prst="ellipse">
            <a:avLst/>
          </a:prstGeom>
          <a:solidFill>
            <a:srgbClr val="FFFFFF"/>
          </a:solidFill>
          <a:ln w="25400">
            <a:solidFill>
              <a:srgbClr val="55992E"/>
            </a:solidFill>
          </a:ln>
          <a:effectLst/>
        </p:spPr>
        <p:txBody>
          <a:bodyPr rtlCol="0" anchor="ctr" wrap="none" lIns="0" rIns="0" tIns="0" bIns="0">
            <a:noAutofit/>
          </a:bodyPr>
          <a:lstStyle/>
          <a:p>
            <a:pPr algn="ctr">
              <a:spcBef>
                <a:spcPts val="0"/>
              </a:spcBef>
              <a:spcAft>
                <a:spcPts val="0"/>
              </a:spcAft>
            </a:pPr>
            <a:r>
              <a:rPr lang="tr-TR" sz="1288" b="1" i="0">
                <a:solidFill>
                  <a:srgbClr val="55992E"/>
                </a:solidFill>
                <a:latin typeface="Calibri"/>
              </a:rPr>
              <a:t>4</a:t>
            </a:r>
          </a:p>
        </p:txBody>
      </p:sp>
      <p:sp>
        <p:nvSpPr>
          <p:cNvPr id="33" name="Rounded Rectangle 32"/>
          <p:cNvSpPr/>
          <p:nvPr/>
        </p:nvSpPr>
        <p:spPr>
          <a:xfrm>
            <a:off x="1044702" y="1721358"/>
            <a:ext cx="1601467" cy="384048"/>
          </a:xfrm>
          <a:prstGeom prst="roundRect">
            <a:avLst>
              <a:gd name="adj" fmla="val 50000"/>
            </a:avLst>
          </a:prstGeom>
          <a:solidFill>
            <a:srgbClr val="1F6E9E"/>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RİSK YÖNETİMİ</a:t>
            </a:r>
          </a:p>
        </p:txBody>
      </p:sp>
      <p:sp>
        <p:nvSpPr>
          <p:cNvPr id="34" name="Rounded Rectangle 33"/>
          <p:cNvSpPr/>
          <p:nvPr/>
        </p:nvSpPr>
        <p:spPr>
          <a:xfrm>
            <a:off x="1044702" y="5356098"/>
            <a:ext cx="1602509" cy="384048"/>
          </a:xfrm>
          <a:prstGeom prst="roundRect">
            <a:avLst>
              <a:gd name="adj" fmla="val 50000"/>
            </a:avLst>
          </a:prstGeom>
          <a:solidFill>
            <a:srgbClr val="A8322C"/>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KRİZ YÖNETİMİ</a:t>
            </a:r>
          </a:p>
        </p:txBody>
      </p:sp>
      <p:sp>
        <p:nvSpPr>
          <p:cNvPr id="35" name="Rounded Rectangle 34"/>
          <p:cNvSpPr/>
          <p:nvPr/>
        </p:nvSpPr>
        <p:spPr>
          <a:xfrm>
            <a:off x="4732020" y="1216152"/>
            <a:ext cx="6956755" cy="457200"/>
          </a:xfrm>
          <a:prstGeom prst="roundRect">
            <a:avLst>
              <a:gd name="adj" fmla="val 20000"/>
            </a:avLst>
          </a:prstGeom>
          <a:solidFill>
            <a:srgbClr val="1F6E9E"/>
          </a:solidFill>
          <a:ln>
            <a:noFill/>
          </a:ln>
          <a:effectLst/>
        </p:spPr>
        <p:txBody>
          <a:bodyPr rtlCol="0" anchor="ctr" wrap="square" lIns="182880" rIns="182880" tIns="73152" bIns="73152">
            <a:noAutofit/>
          </a:bodyPr>
          <a:lstStyle/>
          <a:p>
            <a:pPr algn="l">
              <a:spcBef>
                <a:spcPts val="0"/>
              </a:spcBef>
              <a:spcAft>
                <a:spcPts val="0"/>
              </a:spcAft>
            </a:pPr>
            <a:r>
              <a:rPr lang="tr-TR" sz="1650" b="1" i="0">
                <a:solidFill>
                  <a:srgbClr val="FFFFFF"/>
                </a:solidFill>
                <a:latin typeface="Calibri"/>
              </a:rPr>
              <a:t>RİSK YÖNETİMİ · afet öncesi · 1 ve 2</a:t>
            </a:r>
          </a:p>
        </p:txBody>
      </p:sp>
      <p:sp>
        <p:nvSpPr>
          <p:cNvPr id="36" name="Rounded Rectangle 35"/>
          <p:cNvSpPr/>
          <p:nvPr/>
        </p:nvSpPr>
        <p:spPr>
          <a:xfrm>
            <a:off x="4732020" y="1764792"/>
            <a:ext cx="6956755" cy="1920240"/>
          </a:xfrm>
          <a:prstGeom prst="roundRect">
            <a:avLst>
              <a:gd name="adj" fmla="val 8000"/>
            </a:avLst>
          </a:prstGeom>
          <a:solidFill>
            <a:srgbClr val="F0F0F0"/>
          </a:solidFill>
          <a:ln>
            <a:noFill/>
          </a:ln>
          <a:effectLst/>
        </p:spPr>
        <p:txBody>
          <a:bodyPr rtlCol="0" anchor="ctr"/>
          <a:lstStyle/>
          <a:p/>
        </p:txBody>
      </p:sp>
      <p:sp>
        <p:nvSpPr>
          <p:cNvPr id="37" name="Rectangle 36"/>
          <p:cNvSpPr/>
          <p:nvPr/>
        </p:nvSpPr>
        <p:spPr>
          <a:xfrm>
            <a:off x="4732020" y="1764792"/>
            <a:ext cx="118872" cy="1920240"/>
          </a:xfrm>
          <a:prstGeom prst="rect">
            <a:avLst/>
          </a:prstGeom>
          <a:solidFill>
            <a:srgbClr val="1F6E9E"/>
          </a:solidFill>
          <a:ln>
            <a:noFill/>
          </a:ln>
          <a:effectLst/>
        </p:spPr>
        <p:txBody>
          <a:bodyPr rtlCol="0" anchor="ctr"/>
          <a:lstStyle/>
          <a:p/>
        </p:txBody>
      </p:sp>
      <p:sp>
        <p:nvSpPr>
          <p:cNvPr id="38" name="TextBox 37"/>
          <p:cNvSpPr txBox="1"/>
          <p:nvPr/>
        </p:nvSpPr>
        <p:spPr>
          <a:xfrm>
            <a:off x="5006340" y="1764792"/>
            <a:ext cx="6545275" cy="19202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Bu aşamada afet öncesinde yürütülecek risk ve zarar azaltma ile afete hazırlık çalışmaları kapsamında olası bir afetten etkilenmenin önüne geçilebilmesi amaçlanmaktadır.</a:t>
            </a:r>
          </a:p>
        </p:txBody>
      </p:sp>
      <p:sp>
        <p:nvSpPr>
          <p:cNvPr id="39" name="Rounded Rectangle 38"/>
          <p:cNvSpPr/>
          <p:nvPr/>
        </p:nvSpPr>
        <p:spPr>
          <a:xfrm>
            <a:off x="4732020" y="3776472"/>
            <a:ext cx="6956755" cy="457200"/>
          </a:xfrm>
          <a:prstGeom prst="roundRect">
            <a:avLst>
              <a:gd name="adj" fmla="val 20000"/>
            </a:avLst>
          </a:prstGeom>
          <a:solidFill>
            <a:srgbClr val="A8322C"/>
          </a:solidFill>
          <a:ln>
            <a:noFill/>
          </a:ln>
          <a:effectLst/>
        </p:spPr>
        <p:txBody>
          <a:bodyPr rtlCol="0" anchor="ctr" wrap="square" lIns="182880" rIns="182880" tIns="73152" bIns="73152">
            <a:noAutofit/>
          </a:bodyPr>
          <a:lstStyle/>
          <a:p>
            <a:pPr algn="l">
              <a:spcBef>
                <a:spcPts val="0"/>
              </a:spcBef>
              <a:spcAft>
                <a:spcPts val="0"/>
              </a:spcAft>
            </a:pPr>
            <a:r>
              <a:rPr lang="tr-TR" sz="1650" b="1" i="0">
                <a:solidFill>
                  <a:srgbClr val="FFFFFF"/>
                </a:solidFill>
                <a:latin typeface="Calibri"/>
              </a:rPr>
              <a:t>KRİZ YÖNETİMİ · afet esnası ve sonrası · 3 ve 4</a:t>
            </a:r>
          </a:p>
        </p:txBody>
      </p:sp>
      <p:sp>
        <p:nvSpPr>
          <p:cNvPr id="40" name="Rounded Rectangle 39"/>
          <p:cNvSpPr/>
          <p:nvPr/>
        </p:nvSpPr>
        <p:spPr>
          <a:xfrm>
            <a:off x="4732020" y="4325112"/>
            <a:ext cx="6956755" cy="1920240"/>
          </a:xfrm>
          <a:prstGeom prst="roundRect">
            <a:avLst>
              <a:gd name="adj" fmla="val 8000"/>
            </a:avLst>
          </a:prstGeom>
          <a:solidFill>
            <a:srgbClr val="F0F0F0"/>
          </a:solidFill>
          <a:ln>
            <a:noFill/>
          </a:ln>
          <a:effectLst/>
        </p:spPr>
        <p:txBody>
          <a:bodyPr rtlCol="0" anchor="ctr"/>
          <a:lstStyle/>
          <a:p/>
        </p:txBody>
      </p:sp>
      <p:sp>
        <p:nvSpPr>
          <p:cNvPr id="41" name="Rectangle 40"/>
          <p:cNvSpPr/>
          <p:nvPr/>
        </p:nvSpPr>
        <p:spPr>
          <a:xfrm>
            <a:off x="4732020" y="4325112"/>
            <a:ext cx="118872" cy="1920240"/>
          </a:xfrm>
          <a:prstGeom prst="rect">
            <a:avLst/>
          </a:prstGeom>
          <a:solidFill>
            <a:srgbClr val="A8322C"/>
          </a:solidFill>
          <a:ln>
            <a:noFill/>
          </a:ln>
          <a:effectLst/>
        </p:spPr>
        <p:txBody>
          <a:bodyPr rtlCol="0" anchor="ctr"/>
          <a:lstStyle/>
          <a:p/>
        </p:txBody>
      </p:sp>
      <p:sp>
        <p:nvSpPr>
          <p:cNvPr id="42" name="TextBox 41"/>
          <p:cNvSpPr txBox="1"/>
          <p:nvPr/>
        </p:nvSpPr>
        <p:spPr>
          <a:xfrm>
            <a:off x="5006340" y="4325112"/>
            <a:ext cx="6545275" cy="19202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Bu aşamada afet esnası ve sonrasında yürütülecek faaliyetlerin bütüncül afet yönetim planına göre mevcut kaynak ve imkânlar dâhilinde en hızlı ve etkili şekilde gerçekleştirilmesi amaçlanmaktadır.</a:t>
            </a:r>
          </a:p>
        </p:txBody>
      </p:sp>
      <p:sp>
        <p:nvSpPr>
          <p:cNvPr id="43" name="TextBox 4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4" name="Rounded Rectangle 4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45" name="TextBox 4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128 / 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Defterine tablo: dört aşamanın amacı ve uygulamaları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DEFTER</a:t>
            </a:r>
          </a:p>
        </p:txBody>
      </p:sp>
      <p:sp>
        <p:nvSpPr>
          <p:cNvPr id="6" name="Rounded Rectangle 5"/>
          <p:cNvSpPr/>
          <p:nvPr/>
        </p:nvSpPr>
        <p:spPr>
          <a:xfrm>
            <a:off x="502920" y="1216152"/>
            <a:ext cx="2514600" cy="457200"/>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Aşama</a:t>
            </a:r>
          </a:p>
        </p:txBody>
      </p:sp>
      <p:sp>
        <p:nvSpPr>
          <p:cNvPr id="7" name="Rounded Rectangle 6"/>
          <p:cNvSpPr/>
          <p:nvPr/>
        </p:nvSpPr>
        <p:spPr>
          <a:xfrm>
            <a:off x="3127248" y="1216152"/>
            <a:ext cx="3380719" cy="457200"/>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Amacı ne?</a:t>
            </a:r>
          </a:p>
        </p:txBody>
      </p:sp>
      <p:sp>
        <p:nvSpPr>
          <p:cNvPr id="8" name="Rounded Rectangle 7"/>
          <p:cNvSpPr/>
          <p:nvPr/>
        </p:nvSpPr>
        <p:spPr>
          <a:xfrm>
            <a:off x="6617695" y="1216152"/>
            <a:ext cx="5071080" cy="457200"/>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Kitaptan uygulamalar</a:t>
            </a:r>
          </a:p>
        </p:txBody>
      </p:sp>
      <p:sp>
        <p:nvSpPr>
          <p:cNvPr id="9" name="Rounded Rectangle 8"/>
          <p:cNvSpPr/>
          <p:nvPr/>
        </p:nvSpPr>
        <p:spPr>
          <a:xfrm>
            <a:off x="502920" y="1764792"/>
            <a:ext cx="2514600" cy="1049274"/>
          </a:xfrm>
          <a:prstGeom prst="roundRect">
            <a:avLst>
              <a:gd name="adj" fmla="val 10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1 · Risk ve zarar azaltma</a:t>
            </a:r>
          </a:p>
        </p:txBody>
      </p:sp>
      <p:sp>
        <p:nvSpPr>
          <p:cNvPr id="10" name="Rounded Rectangle 9"/>
          <p:cNvSpPr/>
          <p:nvPr/>
        </p:nvSpPr>
        <p:spPr>
          <a:xfrm>
            <a:off x="3127248" y="1764792"/>
            <a:ext cx="3380719"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1" name="Connector 10"/>
          <p:cNvCxnSpPr/>
          <p:nvPr/>
        </p:nvCxnSpPr>
        <p:spPr>
          <a:xfrm>
            <a:off x="3310128" y="2027110"/>
            <a:ext cx="3014959" cy="0"/>
          </a:xfrm>
          <a:prstGeom prst="line">
            <a:avLst/>
          </a:prstGeom>
          <a:ln w="12700">
            <a:solidFill>
              <a:srgbClr val="D9D9D9"/>
            </a:solidFill>
            <a:prstDash val="dash"/>
          </a:ln>
        </p:spPr>
      </p:cxnSp>
      <p:cxnSp>
        <p:nvCxnSpPr>
          <p:cNvPr id="12" name="Connector 11"/>
          <p:cNvCxnSpPr/>
          <p:nvPr/>
        </p:nvCxnSpPr>
        <p:spPr>
          <a:xfrm>
            <a:off x="3310128" y="2289429"/>
            <a:ext cx="3014959" cy="0"/>
          </a:xfrm>
          <a:prstGeom prst="line">
            <a:avLst/>
          </a:prstGeom>
          <a:ln w="12700">
            <a:solidFill>
              <a:srgbClr val="D9D9D9"/>
            </a:solidFill>
            <a:prstDash val="dash"/>
          </a:ln>
        </p:spPr>
      </p:cxnSp>
      <p:cxnSp>
        <p:nvCxnSpPr>
          <p:cNvPr id="13" name="Connector 12"/>
          <p:cNvCxnSpPr/>
          <p:nvPr/>
        </p:nvCxnSpPr>
        <p:spPr>
          <a:xfrm>
            <a:off x="3310128" y="2551747"/>
            <a:ext cx="3014959" cy="0"/>
          </a:xfrm>
          <a:prstGeom prst="line">
            <a:avLst/>
          </a:prstGeom>
          <a:ln w="12700">
            <a:solidFill>
              <a:srgbClr val="D9D9D9"/>
            </a:solidFill>
            <a:prstDash val="dash"/>
          </a:ln>
        </p:spPr>
      </p:cxnSp>
      <p:sp>
        <p:nvSpPr>
          <p:cNvPr id="14" name="Rounded Rectangle 13"/>
          <p:cNvSpPr/>
          <p:nvPr/>
        </p:nvSpPr>
        <p:spPr>
          <a:xfrm>
            <a:off x="6617695" y="1764792"/>
            <a:ext cx="5071080"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6800575" y="2027110"/>
            <a:ext cx="4705320" cy="0"/>
          </a:xfrm>
          <a:prstGeom prst="line">
            <a:avLst/>
          </a:prstGeom>
          <a:ln w="12700">
            <a:solidFill>
              <a:srgbClr val="D9D9D9"/>
            </a:solidFill>
            <a:prstDash val="dash"/>
          </a:ln>
        </p:spPr>
      </p:cxnSp>
      <p:cxnSp>
        <p:nvCxnSpPr>
          <p:cNvPr id="16" name="Connector 15"/>
          <p:cNvCxnSpPr/>
          <p:nvPr/>
        </p:nvCxnSpPr>
        <p:spPr>
          <a:xfrm>
            <a:off x="6800575" y="2289429"/>
            <a:ext cx="4705320" cy="0"/>
          </a:xfrm>
          <a:prstGeom prst="line">
            <a:avLst/>
          </a:prstGeom>
          <a:ln w="12700">
            <a:solidFill>
              <a:srgbClr val="D9D9D9"/>
            </a:solidFill>
            <a:prstDash val="dash"/>
          </a:ln>
        </p:spPr>
      </p:cxnSp>
      <p:cxnSp>
        <p:nvCxnSpPr>
          <p:cNvPr id="17" name="Connector 16"/>
          <p:cNvCxnSpPr/>
          <p:nvPr/>
        </p:nvCxnSpPr>
        <p:spPr>
          <a:xfrm>
            <a:off x="6800575" y="2551747"/>
            <a:ext cx="4705320" cy="0"/>
          </a:xfrm>
          <a:prstGeom prst="line">
            <a:avLst/>
          </a:prstGeom>
          <a:ln w="12700">
            <a:solidFill>
              <a:srgbClr val="D9D9D9"/>
            </a:solidFill>
            <a:prstDash val="dash"/>
          </a:ln>
        </p:spPr>
      </p:cxnSp>
      <p:sp>
        <p:nvSpPr>
          <p:cNvPr id="18" name="Rounded Rectangle 17"/>
          <p:cNvSpPr/>
          <p:nvPr/>
        </p:nvSpPr>
        <p:spPr>
          <a:xfrm>
            <a:off x="502920" y="2923794"/>
            <a:ext cx="2514600" cy="1049274"/>
          </a:xfrm>
          <a:prstGeom prst="roundRect">
            <a:avLst>
              <a:gd name="adj" fmla="val 10000"/>
            </a:avLst>
          </a:prstGeom>
          <a:solidFill>
            <a:srgbClr val="D9731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2 · Hazırlıklı olma</a:t>
            </a:r>
          </a:p>
        </p:txBody>
      </p:sp>
      <p:sp>
        <p:nvSpPr>
          <p:cNvPr id="19" name="Rounded Rectangle 18"/>
          <p:cNvSpPr/>
          <p:nvPr/>
        </p:nvSpPr>
        <p:spPr>
          <a:xfrm>
            <a:off x="3127248" y="2923794"/>
            <a:ext cx="3380719"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3310128" y="3186112"/>
            <a:ext cx="3014959" cy="0"/>
          </a:xfrm>
          <a:prstGeom prst="line">
            <a:avLst/>
          </a:prstGeom>
          <a:ln w="12700">
            <a:solidFill>
              <a:srgbClr val="D9D9D9"/>
            </a:solidFill>
            <a:prstDash val="dash"/>
          </a:ln>
        </p:spPr>
      </p:cxnSp>
      <p:cxnSp>
        <p:nvCxnSpPr>
          <p:cNvPr id="21" name="Connector 20"/>
          <p:cNvCxnSpPr/>
          <p:nvPr/>
        </p:nvCxnSpPr>
        <p:spPr>
          <a:xfrm>
            <a:off x="3310128" y="3448431"/>
            <a:ext cx="3014959" cy="0"/>
          </a:xfrm>
          <a:prstGeom prst="line">
            <a:avLst/>
          </a:prstGeom>
          <a:ln w="12700">
            <a:solidFill>
              <a:srgbClr val="D9D9D9"/>
            </a:solidFill>
            <a:prstDash val="dash"/>
          </a:ln>
        </p:spPr>
      </p:cxnSp>
      <p:cxnSp>
        <p:nvCxnSpPr>
          <p:cNvPr id="22" name="Connector 21"/>
          <p:cNvCxnSpPr/>
          <p:nvPr/>
        </p:nvCxnSpPr>
        <p:spPr>
          <a:xfrm>
            <a:off x="3310128" y="3710749"/>
            <a:ext cx="3014959" cy="0"/>
          </a:xfrm>
          <a:prstGeom prst="line">
            <a:avLst/>
          </a:prstGeom>
          <a:ln w="12700">
            <a:solidFill>
              <a:srgbClr val="D9D9D9"/>
            </a:solidFill>
            <a:prstDash val="dash"/>
          </a:ln>
        </p:spPr>
      </p:cxnSp>
      <p:sp>
        <p:nvSpPr>
          <p:cNvPr id="23" name="Rounded Rectangle 22"/>
          <p:cNvSpPr/>
          <p:nvPr/>
        </p:nvSpPr>
        <p:spPr>
          <a:xfrm>
            <a:off x="6617695" y="2923794"/>
            <a:ext cx="5071080"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4" name="Connector 23"/>
          <p:cNvCxnSpPr/>
          <p:nvPr/>
        </p:nvCxnSpPr>
        <p:spPr>
          <a:xfrm>
            <a:off x="6800575" y="3186112"/>
            <a:ext cx="4705320" cy="0"/>
          </a:xfrm>
          <a:prstGeom prst="line">
            <a:avLst/>
          </a:prstGeom>
          <a:ln w="12700">
            <a:solidFill>
              <a:srgbClr val="D9D9D9"/>
            </a:solidFill>
            <a:prstDash val="dash"/>
          </a:ln>
        </p:spPr>
      </p:cxnSp>
      <p:cxnSp>
        <p:nvCxnSpPr>
          <p:cNvPr id="25" name="Connector 24"/>
          <p:cNvCxnSpPr/>
          <p:nvPr/>
        </p:nvCxnSpPr>
        <p:spPr>
          <a:xfrm>
            <a:off x="6800575" y="3448431"/>
            <a:ext cx="4705320" cy="0"/>
          </a:xfrm>
          <a:prstGeom prst="line">
            <a:avLst/>
          </a:prstGeom>
          <a:ln w="12700">
            <a:solidFill>
              <a:srgbClr val="D9D9D9"/>
            </a:solidFill>
            <a:prstDash val="dash"/>
          </a:ln>
        </p:spPr>
      </p:cxnSp>
      <p:cxnSp>
        <p:nvCxnSpPr>
          <p:cNvPr id="26" name="Connector 25"/>
          <p:cNvCxnSpPr/>
          <p:nvPr/>
        </p:nvCxnSpPr>
        <p:spPr>
          <a:xfrm>
            <a:off x="6800575" y="3710749"/>
            <a:ext cx="4705320" cy="0"/>
          </a:xfrm>
          <a:prstGeom prst="line">
            <a:avLst/>
          </a:prstGeom>
          <a:ln w="12700">
            <a:solidFill>
              <a:srgbClr val="D9D9D9"/>
            </a:solidFill>
            <a:prstDash val="dash"/>
          </a:ln>
        </p:spPr>
      </p:cxnSp>
      <p:sp>
        <p:nvSpPr>
          <p:cNvPr id="27" name="Rounded Rectangle 26"/>
          <p:cNvSpPr/>
          <p:nvPr/>
        </p:nvSpPr>
        <p:spPr>
          <a:xfrm>
            <a:off x="502920" y="4082796"/>
            <a:ext cx="2514600" cy="1049274"/>
          </a:xfrm>
          <a:prstGeom prst="roundRect">
            <a:avLst>
              <a:gd name="adj" fmla="val 1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3 · Müdahale</a:t>
            </a:r>
          </a:p>
        </p:txBody>
      </p:sp>
      <p:sp>
        <p:nvSpPr>
          <p:cNvPr id="28" name="Rounded Rectangle 27"/>
          <p:cNvSpPr/>
          <p:nvPr/>
        </p:nvSpPr>
        <p:spPr>
          <a:xfrm>
            <a:off x="3127248" y="4082796"/>
            <a:ext cx="3380719"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9" name="Connector 28"/>
          <p:cNvCxnSpPr/>
          <p:nvPr/>
        </p:nvCxnSpPr>
        <p:spPr>
          <a:xfrm>
            <a:off x="3310128" y="4345114"/>
            <a:ext cx="3014959" cy="0"/>
          </a:xfrm>
          <a:prstGeom prst="line">
            <a:avLst/>
          </a:prstGeom>
          <a:ln w="12700">
            <a:solidFill>
              <a:srgbClr val="D9D9D9"/>
            </a:solidFill>
            <a:prstDash val="dash"/>
          </a:ln>
        </p:spPr>
      </p:cxnSp>
      <p:cxnSp>
        <p:nvCxnSpPr>
          <p:cNvPr id="30" name="Connector 29"/>
          <p:cNvCxnSpPr/>
          <p:nvPr/>
        </p:nvCxnSpPr>
        <p:spPr>
          <a:xfrm>
            <a:off x="3310128" y="4607433"/>
            <a:ext cx="3014959" cy="0"/>
          </a:xfrm>
          <a:prstGeom prst="line">
            <a:avLst/>
          </a:prstGeom>
          <a:ln w="12700">
            <a:solidFill>
              <a:srgbClr val="D9D9D9"/>
            </a:solidFill>
            <a:prstDash val="dash"/>
          </a:ln>
        </p:spPr>
      </p:cxnSp>
      <p:cxnSp>
        <p:nvCxnSpPr>
          <p:cNvPr id="31" name="Connector 30"/>
          <p:cNvCxnSpPr/>
          <p:nvPr/>
        </p:nvCxnSpPr>
        <p:spPr>
          <a:xfrm>
            <a:off x="3310128" y="4869751"/>
            <a:ext cx="3014959" cy="0"/>
          </a:xfrm>
          <a:prstGeom prst="line">
            <a:avLst/>
          </a:prstGeom>
          <a:ln w="12700">
            <a:solidFill>
              <a:srgbClr val="D9D9D9"/>
            </a:solidFill>
            <a:prstDash val="dash"/>
          </a:ln>
        </p:spPr>
      </p:cxnSp>
      <p:sp>
        <p:nvSpPr>
          <p:cNvPr id="32" name="Rounded Rectangle 31"/>
          <p:cNvSpPr/>
          <p:nvPr/>
        </p:nvSpPr>
        <p:spPr>
          <a:xfrm>
            <a:off x="6617695" y="4082796"/>
            <a:ext cx="5071080"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3" name="Connector 32"/>
          <p:cNvCxnSpPr/>
          <p:nvPr/>
        </p:nvCxnSpPr>
        <p:spPr>
          <a:xfrm>
            <a:off x="6800575" y="4345114"/>
            <a:ext cx="4705320" cy="0"/>
          </a:xfrm>
          <a:prstGeom prst="line">
            <a:avLst/>
          </a:prstGeom>
          <a:ln w="12700">
            <a:solidFill>
              <a:srgbClr val="D9D9D9"/>
            </a:solidFill>
            <a:prstDash val="dash"/>
          </a:ln>
        </p:spPr>
      </p:cxnSp>
      <p:cxnSp>
        <p:nvCxnSpPr>
          <p:cNvPr id="34" name="Connector 33"/>
          <p:cNvCxnSpPr/>
          <p:nvPr/>
        </p:nvCxnSpPr>
        <p:spPr>
          <a:xfrm>
            <a:off x="6800575" y="4607433"/>
            <a:ext cx="4705320" cy="0"/>
          </a:xfrm>
          <a:prstGeom prst="line">
            <a:avLst/>
          </a:prstGeom>
          <a:ln w="12700">
            <a:solidFill>
              <a:srgbClr val="D9D9D9"/>
            </a:solidFill>
            <a:prstDash val="dash"/>
          </a:ln>
        </p:spPr>
      </p:cxnSp>
      <p:cxnSp>
        <p:nvCxnSpPr>
          <p:cNvPr id="35" name="Connector 34"/>
          <p:cNvCxnSpPr/>
          <p:nvPr/>
        </p:nvCxnSpPr>
        <p:spPr>
          <a:xfrm>
            <a:off x="6800575" y="4869751"/>
            <a:ext cx="4705320" cy="0"/>
          </a:xfrm>
          <a:prstGeom prst="line">
            <a:avLst/>
          </a:prstGeom>
          <a:ln w="12700">
            <a:solidFill>
              <a:srgbClr val="D9D9D9"/>
            </a:solidFill>
            <a:prstDash val="dash"/>
          </a:ln>
        </p:spPr>
      </p:cxnSp>
      <p:sp>
        <p:nvSpPr>
          <p:cNvPr id="36" name="Rounded Rectangle 35"/>
          <p:cNvSpPr/>
          <p:nvPr/>
        </p:nvSpPr>
        <p:spPr>
          <a:xfrm>
            <a:off x="502920" y="5241798"/>
            <a:ext cx="2514600" cy="1049274"/>
          </a:xfrm>
          <a:prstGeom prst="roundRect">
            <a:avLst>
              <a:gd name="adj" fmla="val 1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4 · İyileştirme</a:t>
            </a:r>
          </a:p>
        </p:txBody>
      </p:sp>
      <p:sp>
        <p:nvSpPr>
          <p:cNvPr id="37" name="Rounded Rectangle 36"/>
          <p:cNvSpPr/>
          <p:nvPr/>
        </p:nvSpPr>
        <p:spPr>
          <a:xfrm>
            <a:off x="3127248" y="5241798"/>
            <a:ext cx="3380719"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8" name="Connector 37"/>
          <p:cNvCxnSpPr/>
          <p:nvPr/>
        </p:nvCxnSpPr>
        <p:spPr>
          <a:xfrm>
            <a:off x="3310128" y="5504116"/>
            <a:ext cx="3014959" cy="0"/>
          </a:xfrm>
          <a:prstGeom prst="line">
            <a:avLst/>
          </a:prstGeom>
          <a:ln w="12700">
            <a:solidFill>
              <a:srgbClr val="D9D9D9"/>
            </a:solidFill>
            <a:prstDash val="dash"/>
          </a:ln>
        </p:spPr>
      </p:cxnSp>
      <p:cxnSp>
        <p:nvCxnSpPr>
          <p:cNvPr id="39" name="Connector 38"/>
          <p:cNvCxnSpPr/>
          <p:nvPr/>
        </p:nvCxnSpPr>
        <p:spPr>
          <a:xfrm>
            <a:off x="3310128" y="5766435"/>
            <a:ext cx="3014959" cy="0"/>
          </a:xfrm>
          <a:prstGeom prst="line">
            <a:avLst/>
          </a:prstGeom>
          <a:ln w="12700">
            <a:solidFill>
              <a:srgbClr val="D9D9D9"/>
            </a:solidFill>
            <a:prstDash val="dash"/>
          </a:ln>
        </p:spPr>
      </p:cxnSp>
      <p:cxnSp>
        <p:nvCxnSpPr>
          <p:cNvPr id="40" name="Connector 39"/>
          <p:cNvCxnSpPr/>
          <p:nvPr/>
        </p:nvCxnSpPr>
        <p:spPr>
          <a:xfrm>
            <a:off x="3310128" y="6028753"/>
            <a:ext cx="3014959" cy="0"/>
          </a:xfrm>
          <a:prstGeom prst="line">
            <a:avLst/>
          </a:prstGeom>
          <a:ln w="12700">
            <a:solidFill>
              <a:srgbClr val="D9D9D9"/>
            </a:solidFill>
            <a:prstDash val="dash"/>
          </a:ln>
        </p:spPr>
      </p:cxnSp>
      <p:sp>
        <p:nvSpPr>
          <p:cNvPr id="41" name="Rounded Rectangle 40"/>
          <p:cNvSpPr/>
          <p:nvPr/>
        </p:nvSpPr>
        <p:spPr>
          <a:xfrm>
            <a:off x="6617695" y="5241798"/>
            <a:ext cx="5071080" cy="104927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42" name="Connector 41"/>
          <p:cNvCxnSpPr/>
          <p:nvPr/>
        </p:nvCxnSpPr>
        <p:spPr>
          <a:xfrm>
            <a:off x="6800575" y="5504116"/>
            <a:ext cx="4705320" cy="0"/>
          </a:xfrm>
          <a:prstGeom prst="line">
            <a:avLst/>
          </a:prstGeom>
          <a:ln w="12700">
            <a:solidFill>
              <a:srgbClr val="D9D9D9"/>
            </a:solidFill>
            <a:prstDash val="dash"/>
          </a:ln>
        </p:spPr>
      </p:cxnSp>
      <p:cxnSp>
        <p:nvCxnSpPr>
          <p:cNvPr id="43" name="Connector 42"/>
          <p:cNvCxnSpPr/>
          <p:nvPr/>
        </p:nvCxnSpPr>
        <p:spPr>
          <a:xfrm>
            <a:off x="6800575" y="5766435"/>
            <a:ext cx="4705320" cy="0"/>
          </a:xfrm>
          <a:prstGeom prst="line">
            <a:avLst/>
          </a:prstGeom>
          <a:ln w="12700">
            <a:solidFill>
              <a:srgbClr val="D9D9D9"/>
            </a:solidFill>
            <a:prstDash val="dash"/>
          </a:ln>
        </p:spPr>
      </p:cxnSp>
      <p:cxnSp>
        <p:nvCxnSpPr>
          <p:cNvPr id="44" name="Connector 43"/>
          <p:cNvCxnSpPr/>
          <p:nvPr/>
        </p:nvCxnSpPr>
        <p:spPr>
          <a:xfrm>
            <a:off x="6800575" y="6028753"/>
            <a:ext cx="4705320" cy="0"/>
          </a:xfrm>
          <a:prstGeom prst="line">
            <a:avLst/>
          </a:prstGeom>
          <a:ln w="12700">
            <a:solidFill>
              <a:srgbClr val="D9D9D9"/>
            </a:solidFill>
            <a:prstDash val="dash"/>
          </a:ln>
        </p:spPr>
      </p:cxnSp>
      <p:sp>
        <p:nvSpPr>
          <p:cNvPr id="45" name="TextBox 4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6" name="Rounded Rectangle 4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47" name="TextBox 4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129 / 250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aşama: Risk ve zarar azaltma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AŞAMA</a:t>
            </a:r>
          </a:p>
        </p:txBody>
      </p:sp>
      <p:sp>
        <p:nvSpPr>
          <p:cNvPr id="6" name="Freeform 5"/>
          <p:cNvSpPr/>
          <p:nvPr/>
        </p:nvSpPr>
        <p:spPr>
          <a:xfrm>
            <a:off x="1097280" y="1783080"/>
            <a:ext cx="868680" cy="868680"/>
          </a:xfrm>
          <a:custGeom>
            <a:avLst/>
            <a:gdLst/>
            <a:ahLst/>
            <a:cxnLst/>
            <a:rect l="l" t="t" r="r" b="b"/>
            <a:pathLst>
              <a:path w="868680" h="868680">
                <a:moveTo>
                  <a:pt x="868680" y="0"/>
                </a:moveTo>
                <a:lnTo>
                  <a:pt x="838363" y="529"/>
                </a:lnTo>
                <a:lnTo>
                  <a:pt x="808083" y="2116"/>
                </a:lnTo>
                <a:lnTo>
                  <a:pt x="777878" y="4758"/>
                </a:lnTo>
                <a:lnTo>
                  <a:pt x="747783" y="8453"/>
                </a:lnTo>
                <a:lnTo>
                  <a:pt x="717835" y="13197"/>
                </a:lnTo>
                <a:lnTo>
                  <a:pt x="688071" y="18982"/>
                </a:lnTo>
                <a:lnTo>
                  <a:pt x="658527" y="25803"/>
                </a:lnTo>
                <a:lnTo>
                  <a:pt x="629239" y="33651"/>
                </a:lnTo>
                <a:lnTo>
                  <a:pt x="600243" y="42516"/>
                </a:lnTo>
                <a:lnTo>
                  <a:pt x="571573" y="52387"/>
                </a:lnTo>
                <a:lnTo>
                  <a:pt x="543266" y="63253"/>
                </a:lnTo>
                <a:lnTo>
                  <a:pt x="515356" y="75101"/>
                </a:lnTo>
                <a:lnTo>
                  <a:pt x="487875" y="87915"/>
                </a:lnTo>
                <a:lnTo>
                  <a:pt x="460859" y="101681"/>
                </a:lnTo>
                <a:lnTo>
                  <a:pt x="434340" y="116381"/>
                </a:lnTo>
                <a:lnTo>
                  <a:pt x="408349" y="131997"/>
                </a:lnTo>
                <a:lnTo>
                  <a:pt x="382920" y="148511"/>
                </a:lnTo>
                <a:lnTo>
                  <a:pt x="358082" y="165903"/>
                </a:lnTo>
                <a:lnTo>
                  <a:pt x="333867" y="184150"/>
                </a:lnTo>
                <a:lnTo>
                  <a:pt x="310303" y="203232"/>
                </a:lnTo>
                <a:lnTo>
                  <a:pt x="287419" y="223124"/>
                </a:lnTo>
                <a:lnTo>
                  <a:pt x="265244" y="243803"/>
                </a:lnTo>
                <a:lnTo>
                  <a:pt x="243803" y="265244"/>
                </a:lnTo>
                <a:lnTo>
                  <a:pt x="223124" y="287419"/>
                </a:lnTo>
                <a:lnTo>
                  <a:pt x="203232" y="310303"/>
                </a:lnTo>
                <a:lnTo>
                  <a:pt x="184150" y="333867"/>
                </a:lnTo>
                <a:lnTo>
                  <a:pt x="165903" y="358082"/>
                </a:lnTo>
                <a:lnTo>
                  <a:pt x="148511" y="382920"/>
                </a:lnTo>
                <a:lnTo>
                  <a:pt x="131997" y="408349"/>
                </a:lnTo>
                <a:lnTo>
                  <a:pt x="116381" y="434340"/>
                </a:lnTo>
                <a:lnTo>
                  <a:pt x="101681" y="460859"/>
                </a:lnTo>
                <a:lnTo>
                  <a:pt x="87915" y="487875"/>
                </a:lnTo>
                <a:lnTo>
                  <a:pt x="75101" y="515356"/>
                </a:lnTo>
                <a:lnTo>
                  <a:pt x="63253" y="543266"/>
                </a:lnTo>
                <a:lnTo>
                  <a:pt x="52387" y="571573"/>
                </a:lnTo>
                <a:lnTo>
                  <a:pt x="42516" y="600243"/>
                </a:lnTo>
                <a:lnTo>
                  <a:pt x="33651" y="629239"/>
                </a:lnTo>
                <a:lnTo>
                  <a:pt x="25803" y="658527"/>
                </a:lnTo>
                <a:lnTo>
                  <a:pt x="18982" y="688071"/>
                </a:lnTo>
                <a:lnTo>
                  <a:pt x="13197" y="717835"/>
                </a:lnTo>
                <a:lnTo>
                  <a:pt x="8453" y="747783"/>
                </a:lnTo>
                <a:lnTo>
                  <a:pt x="4758" y="777878"/>
                </a:lnTo>
                <a:lnTo>
                  <a:pt x="2116" y="808083"/>
                </a:lnTo>
                <a:lnTo>
                  <a:pt x="529" y="838363"/>
                </a:lnTo>
                <a:lnTo>
                  <a:pt x="0" y="868680"/>
                </a:lnTo>
                <a:lnTo>
                  <a:pt x="364845" y="868680"/>
                </a:lnTo>
                <a:lnTo>
                  <a:pt x="365152" y="851096"/>
                </a:lnTo>
                <a:lnTo>
                  <a:pt x="366072" y="833534"/>
                </a:lnTo>
                <a:lnTo>
                  <a:pt x="367605" y="816014"/>
                </a:lnTo>
                <a:lnTo>
                  <a:pt x="369748" y="798559"/>
                </a:lnTo>
                <a:lnTo>
                  <a:pt x="372499" y="781190"/>
                </a:lnTo>
                <a:lnTo>
                  <a:pt x="375855" y="763926"/>
                </a:lnTo>
                <a:lnTo>
                  <a:pt x="379811" y="746791"/>
                </a:lnTo>
                <a:lnTo>
                  <a:pt x="384363" y="729804"/>
                </a:lnTo>
                <a:lnTo>
                  <a:pt x="389505" y="712986"/>
                </a:lnTo>
                <a:lnTo>
                  <a:pt x="395230" y="696358"/>
                </a:lnTo>
                <a:lnTo>
                  <a:pt x="401532" y="679940"/>
                </a:lnTo>
                <a:lnTo>
                  <a:pt x="408404" y="663752"/>
                </a:lnTo>
                <a:lnTo>
                  <a:pt x="415836" y="647813"/>
                </a:lnTo>
                <a:lnTo>
                  <a:pt x="423820" y="632144"/>
                </a:lnTo>
                <a:lnTo>
                  <a:pt x="432346" y="616762"/>
                </a:lnTo>
                <a:lnTo>
                  <a:pt x="441404" y="601688"/>
                </a:lnTo>
                <a:lnTo>
                  <a:pt x="450982" y="586939"/>
                </a:lnTo>
                <a:lnTo>
                  <a:pt x="461069" y="572533"/>
                </a:lnTo>
                <a:lnTo>
                  <a:pt x="471653" y="558488"/>
                </a:lnTo>
                <a:lnTo>
                  <a:pt x="482720" y="544821"/>
                </a:lnTo>
                <a:lnTo>
                  <a:pt x="494258" y="531548"/>
                </a:lnTo>
                <a:lnTo>
                  <a:pt x="506251" y="518687"/>
                </a:lnTo>
                <a:lnTo>
                  <a:pt x="518687" y="506251"/>
                </a:lnTo>
                <a:lnTo>
                  <a:pt x="531548" y="494258"/>
                </a:lnTo>
                <a:lnTo>
                  <a:pt x="544821" y="482720"/>
                </a:lnTo>
                <a:lnTo>
                  <a:pt x="558488" y="471653"/>
                </a:lnTo>
                <a:lnTo>
                  <a:pt x="572533" y="461069"/>
                </a:lnTo>
                <a:lnTo>
                  <a:pt x="586939" y="450982"/>
                </a:lnTo>
                <a:lnTo>
                  <a:pt x="601688" y="441404"/>
                </a:lnTo>
                <a:lnTo>
                  <a:pt x="616762" y="432346"/>
                </a:lnTo>
                <a:lnTo>
                  <a:pt x="632144" y="423820"/>
                </a:lnTo>
                <a:lnTo>
                  <a:pt x="647813" y="415836"/>
                </a:lnTo>
                <a:lnTo>
                  <a:pt x="663752" y="408404"/>
                </a:lnTo>
                <a:lnTo>
                  <a:pt x="679940" y="401532"/>
                </a:lnTo>
                <a:lnTo>
                  <a:pt x="696358" y="395230"/>
                </a:lnTo>
                <a:lnTo>
                  <a:pt x="712986" y="389505"/>
                </a:lnTo>
                <a:lnTo>
                  <a:pt x="729804" y="384363"/>
                </a:lnTo>
                <a:lnTo>
                  <a:pt x="746791" y="379811"/>
                </a:lnTo>
                <a:lnTo>
                  <a:pt x="763926" y="375855"/>
                </a:lnTo>
                <a:lnTo>
                  <a:pt x="781190" y="372499"/>
                </a:lnTo>
                <a:lnTo>
                  <a:pt x="798559" y="369748"/>
                </a:lnTo>
                <a:lnTo>
                  <a:pt x="816014" y="367605"/>
                </a:lnTo>
                <a:lnTo>
                  <a:pt x="833534" y="366072"/>
                </a:lnTo>
                <a:lnTo>
                  <a:pt x="851096" y="365152"/>
                </a:lnTo>
                <a:lnTo>
                  <a:pt x="868680" y="364845"/>
                </a:lnTo>
                <a:close/>
              </a:path>
            </a:pathLst>
          </a:custGeom>
          <a:solidFill>
            <a:srgbClr val="1F86BF"/>
          </a:solidFill>
          <a:ln>
            <a:noFill/>
          </a:ln>
        </p:spPr>
        <p:txBody>
          <a:bodyPr rtlCol="0" anchor="ctr"/>
          <a:lstStyle/>
          <a:p>
            <a:pPr algn="ctr"/>
          </a:p>
        </p:txBody>
      </p:sp>
      <p:sp>
        <p:nvSpPr>
          <p:cNvPr id="7" name="Freeform 6"/>
          <p:cNvSpPr/>
          <p:nvPr/>
        </p:nvSpPr>
        <p:spPr>
          <a:xfrm>
            <a:off x="1965960" y="1783080"/>
            <a:ext cx="868680" cy="868680"/>
          </a:xfrm>
          <a:custGeom>
            <a:avLst/>
            <a:gdLst/>
            <a:ahLst/>
            <a:cxnLst/>
            <a:rect l="l" t="t" r="r" b="b"/>
            <a:pathLst>
              <a:path w="868680" h="868680">
                <a:moveTo>
                  <a:pt x="868680" y="868680"/>
                </a:moveTo>
                <a:lnTo>
                  <a:pt x="868150" y="838363"/>
                </a:lnTo>
                <a:lnTo>
                  <a:pt x="866563" y="808083"/>
                </a:lnTo>
                <a:lnTo>
                  <a:pt x="863921" y="777878"/>
                </a:lnTo>
                <a:lnTo>
                  <a:pt x="860226" y="747783"/>
                </a:lnTo>
                <a:lnTo>
                  <a:pt x="855482" y="717835"/>
                </a:lnTo>
                <a:lnTo>
                  <a:pt x="849697" y="688071"/>
                </a:lnTo>
                <a:lnTo>
                  <a:pt x="842876" y="658527"/>
                </a:lnTo>
                <a:lnTo>
                  <a:pt x="835028" y="629239"/>
                </a:lnTo>
                <a:lnTo>
                  <a:pt x="826163" y="600243"/>
                </a:lnTo>
                <a:lnTo>
                  <a:pt x="816292" y="571573"/>
                </a:lnTo>
                <a:lnTo>
                  <a:pt x="805426" y="543266"/>
                </a:lnTo>
                <a:lnTo>
                  <a:pt x="793578" y="515356"/>
                </a:lnTo>
                <a:lnTo>
                  <a:pt x="780764" y="487875"/>
                </a:lnTo>
                <a:lnTo>
                  <a:pt x="766998" y="460859"/>
                </a:lnTo>
                <a:lnTo>
                  <a:pt x="752298" y="434340"/>
                </a:lnTo>
                <a:lnTo>
                  <a:pt x="736682" y="408349"/>
                </a:lnTo>
                <a:lnTo>
                  <a:pt x="720168" y="382920"/>
                </a:lnTo>
                <a:lnTo>
                  <a:pt x="702776" y="358082"/>
                </a:lnTo>
                <a:lnTo>
                  <a:pt x="684529" y="333867"/>
                </a:lnTo>
                <a:lnTo>
                  <a:pt x="665447" y="310303"/>
                </a:lnTo>
                <a:lnTo>
                  <a:pt x="645555" y="287419"/>
                </a:lnTo>
                <a:lnTo>
                  <a:pt x="624876" y="265244"/>
                </a:lnTo>
                <a:lnTo>
                  <a:pt x="603435" y="243803"/>
                </a:lnTo>
                <a:lnTo>
                  <a:pt x="581260" y="223124"/>
                </a:lnTo>
                <a:lnTo>
                  <a:pt x="558376" y="203232"/>
                </a:lnTo>
                <a:lnTo>
                  <a:pt x="534812" y="184150"/>
                </a:lnTo>
                <a:lnTo>
                  <a:pt x="510597" y="165903"/>
                </a:lnTo>
                <a:lnTo>
                  <a:pt x="485759" y="148511"/>
                </a:lnTo>
                <a:lnTo>
                  <a:pt x="460330" y="131997"/>
                </a:lnTo>
                <a:lnTo>
                  <a:pt x="434340" y="116381"/>
                </a:lnTo>
                <a:lnTo>
                  <a:pt x="407820" y="101681"/>
                </a:lnTo>
                <a:lnTo>
                  <a:pt x="380804" y="87915"/>
                </a:lnTo>
                <a:lnTo>
                  <a:pt x="353323" y="75101"/>
                </a:lnTo>
                <a:lnTo>
                  <a:pt x="325413" y="63253"/>
                </a:lnTo>
                <a:lnTo>
                  <a:pt x="297106" y="52387"/>
                </a:lnTo>
                <a:lnTo>
                  <a:pt x="268436" y="42516"/>
                </a:lnTo>
                <a:lnTo>
                  <a:pt x="239440" y="33651"/>
                </a:lnTo>
                <a:lnTo>
                  <a:pt x="210152" y="25803"/>
                </a:lnTo>
                <a:lnTo>
                  <a:pt x="180608" y="18982"/>
                </a:lnTo>
                <a:lnTo>
                  <a:pt x="150844" y="13197"/>
                </a:lnTo>
                <a:lnTo>
                  <a:pt x="120896" y="8453"/>
                </a:lnTo>
                <a:lnTo>
                  <a:pt x="90801" y="4758"/>
                </a:lnTo>
                <a:lnTo>
                  <a:pt x="60596" y="2116"/>
                </a:lnTo>
                <a:lnTo>
                  <a:pt x="30316" y="529"/>
                </a:lnTo>
                <a:lnTo>
                  <a:pt x="0" y="0"/>
                </a:lnTo>
                <a:lnTo>
                  <a:pt x="0" y="364845"/>
                </a:lnTo>
                <a:lnTo>
                  <a:pt x="17583" y="365152"/>
                </a:lnTo>
                <a:lnTo>
                  <a:pt x="35145" y="366072"/>
                </a:lnTo>
                <a:lnTo>
                  <a:pt x="52665" y="367605"/>
                </a:lnTo>
                <a:lnTo>
                  <a:pt x="70120" y="369748"/>
                </a:lnTo>
                <a:lnTo>
                  <a:pt x="87489" y="372499"/>
                </a:lnTo>
                <a:lnTo>
                  <a:pt x="104753" y="375855"/>
                </a:lnTo>
                <a:lnTo>
                  <a:pt x="121888" y="379811"/>
                </a:lnTo>
                <a:lnTo>
                  <a:pt x="138875" y="384363"/>
                </a:lnTo>
                <a:lnTo>
                  <a:pt x="155693" y="389505"/>
                </a:lnTo>
                <a:lnTo>
                  <a:pt x="172321" y="395230"/>
                </a:lnTo>
                <a:lnTo>
                  <a:pt x="188739" y="401532"/>
                </a:lnTo>
                <a:lnTo>
                  <a:pt x="204927" y="408404"/>
                </a:lnTo>
                <a:lnTo>
                  <a:pt x="220866" y="415836"/>
                </a:lnTo>
                <a:lnTo>
                  <a:pt x="236535" y="423820"/>
                </a:lnTo>
                <a:lnTo>
                  <a:pt x="251917" y="432346"/>
                </a:lnTo>
                <a:lnTo>
                  <a:pt x="266991" y="441404"/>
                </a:lnTo>
                <a:lnTo>
                  <a:pt x="281740" y="450982"/>
                </a:lnTo>
                <a:lnTo>
                  <a:pt x="296146" y="461069"/>
                </a:lnTo>
                <a:lnTo>
                  <a:pt x="310191" y="471653"/>
                </a:lnTo>
                <a:lnTo>
                  <a:pt x="323858" y="482720"/>
                </a:lnTo>
                <a:lnTo>
                  <a:pt x="337131" y="494258"/>
                </a:lnTo>
                <a:lnTo>
                  <a:pt x="349992" y="506251"/>
                </a:lnTo>
                <a:lnTo>
                  <a:pt x="362428" y="518687"/>
                </a:lnTo>
                <a:lnTo>
                  <a:pt x="374421" y="531548"/>
                </a:lnTo>
                <a:lnTo>
                  <a:pt x="385959" y="544821"/>
                </a:lnTo>
                <a:lnTo>
                  <a:pt x="397026" y="558488"/>
                </a:lnTo>
                <a:lnTo>
                  <a:pt x="407610" y="572533"/>
                </a:lnTo>
                <a:lnTo>
                  <a:pt x="417697" y="586939"/>
                </a:lnTo>
                <a:lnTo>
                  <a:pt x="427275" y="601688"/>
                </a:lnTo>
                <a:lnTo>
                  <a:pt x="436333" y="616762"/>
                </a:lnTo>
                <a:lnTo>
                  <a:pt x="444859" y="632144"/>
                </a:lnTo>
                <a:lnTo>
                  <a:pt x="452843" y="647813"/>
                </a:lnTo>
                <a:lnTo>
                  <a:pt x="460275" y="663752"/>
                </a:lnTo>
                <a:lnTo>
                  <a:pt x="467147" y="679940"/>
                </a:lnTo>
                <a:lnTo>
                  <a:pt x="473449" y="696358"/>
                </a:lnTo>
                <a:lnTo>
                  <a:pt x="479174" y="712986"/>
                </a:lnTo>
                <a:lnTo>
                  <a:pt x="484316" y="729804"/>
                </a:lnTo>
                <a:lnTo>
                  <a:pt x="488868" y="746791"/>
                </a:lnTo>
                <a:lnTo>
                  <a:pt x="492824" y="763926"/>
                </a:lnTo>
                <a:lnTo>
                  <a:pt x="496180" y="781190"/>
                </a:lnTo>
                <a:lnTo>
                  <a:pt x="498931" y="798559"/>
                </a:lnTo>
                <a:lnTo>
                  <a:pt x="501074" y="816014"/>
                </a:lnTo>
                <a:lnTo>
                  <a:pt x="502607" y="833534"/>
                </a:lnTo>
                <a:lnTo>
                  <a:pt x="503527" y="851096"/>
                </a:lnTo>
                <a:lnTo>
                  <a:pt x="503834" y="868680"/>
                </a:lnTo>
                <a:close/>
              </a:path>
            </a:pathLst>
          </a:custGeom>
          <a:solidFill>
            <a:srgbClr val="D6D6D6"/>
          </a:solidFill>
          <a:ln>
            <a:noFill/>
          </a:ln>
        </p:spPr>
        <p:txBody>
          <a:bodyPr rtlCol="0" anchor="ctr"/>
          <a:lstStyle/>
          <a:p>
            <a:pPr algn="ctr"/>
          </a:p>
        </p:txBody>
      </p:sp>
      <p:sp>
        <p:nvSpPr>
          <p:cNvPr id="8" name="Freeform 7"/>
          <p:cNvSpPr/>
          <p:nvPr/>
        </p:nvSpPr>
        <p:spPr>
          <a:xfrm>
            <a:off x="1965960" y="2651760"/>
            <a:ext cx="868680" cy="868680"/>
          </a:xfrm>
          <a:custGeom>
            <a:avLst/>
            <a:gdLst/>
            <a:ahLst/>
            <a:cxnLst/>
            <a:rect l="l" t="t" r="r" b="b"/>
            <a:pathLst>
              <a:path w="868680" h="868680">
                <a:moveTo>
                  <a:pt x="0" y="868680"/>
                </a:moveTo>
                <a:lnTo>
                  <a:pt x="30316" y="868150"/>
                </a:lnTo>
                <a:lnTo>
                  <a:pt x="60596" y="866563"/>
                </a:lnTo>
                <a:lnTo>
                  <a:pt x="90801" y="863921"/>
                </a:lnTo>
                <a:lnTo>
                  <a:pt x="120896" y="860226"/>
                </a:lnTo>
                <a:lnTo>
                  <a:pt x="150844" y="855482"/>
                </a:lnTo>
                <a:lnTo>
                  <a:pt x="180608" y="849697"/>
                </a:lnTo>
                <a:lnTo>
                  <a:pt x="210152" y="842876"/>
                </a:lnTo>
                <a:lnTo>
                  <a:pt x="239440" y="835028"/>
                </a:lnTo>
                <a:lnTo>
                  <a:pt x="268436" y="826163"/>
                </a:lnTo>
                <a:lnTo>
                  <a:pt x="297106" y="816292"/>
                </a:lnTo>
                <a:lnTo>
                  <a:pt x="325413" y="805426"/>
                </a:lnTo>
                <a:lnTo>
                  <a:pt x="353323" y="793578"/>
                </a:lnTo>
                <a:lnTo>
                  <a:pt x="380804" y="780764"/>
                </a:lnTo>
                <a:lnTo>
                  <a:pt x="407820" y="766998"/>
                </a:lnTo>
                <a:lnTo>
                  <a:pt x="434340" y="752298"/>
                </a:lnTo>
                <a:lnTo>
                  <a:pt x="460330" y="736682"/>
                </a:lnTo>
                <a:lnTo>
                  <a:pt x="485759" y="720168"/>
                </a:lnTo>
                <a:lnTo>
                  <a:pt x="510597" y="702776"/>
                </a:lnTo>
                <a:lnTo>
                  <a:pt x="534812" y="684529"/>
                </a:lnTo>
                <a:lnTo>
                  <a:pt x="558376" y="665447"/>
                </a:lnTo>
                <a:lnTo>
                  <a:pt x="581260" y="645555"/>
                </a:lnTo>
                <a:lnTo>
                  <a:pt x="603435" y="624876"/>
                </a:lnTo>
                <a:lnTo>
                  <a:pt x="624876" y="603435"/>
                </a:lnTo>
                <a:lnTo>
                  <a:pt x="645555" y="581260"/>
                </a:lnTo>
                <a:lnTo>
                  <a:pt x="665447" y="558376"/>
                </a:lnTo>
                <a:lnTo>
                  <a:pt x="684529" y="534812"/>
                </a:lnTo>
                <a:lnTo>
                  <a:pt x="702776" y="510597"/>
                </a:lnTo>
                <a:lnTo>
                  <a:pt x="720168" y="485759"/>
                </a:lnTo>
                <a:lnTo>
                  <a:pt x="736682" y="460330"/>
                </a:lnTo>
                <a:lnTo>
                  <a:pt x="752298" y="434340"/>
                </a:lnTo>
                <a:lnTo>
                  <a:pt x="766998" y="407820"/>
                </a:lnTo>
                <a:lnTo>
                  <a:pt x="780764" y="380804"/>
                </a:lnTo>
                <a:lnTo>
                  <a:pt x="793578" y="353323"/>
                </a:lnTo>
                <a:lnTo>
                  <a:pt x="805426" y="325413"/>
                </a:lnTo>
                <a:lnTo>
                  <a:pt x="816292" y="297106"/>
                </a:lnTo>
                <a:lnTo>
                  <a:pt x="826163" y="268436"/>
                </a:lnTo>
                <a:lnTo>
                  <a:pt x="835028" y="239440"/>
                </a:lnTo>
                <a:lnTo>
                  <a:pt x="842876" y="210152"/>
                </a:lnTo>
                <a:lnTo>
                  <a:pt x="849697" y="180608"/>
                </a:lnTo>
                <a:lnTo>
                  <a:pt x="855482" y="150844"/>
                </a:lnTo>
                <a:lnTo>
                  <a:pt x="860226" y="120896"/>
                </a:lnTo>
                <a:lnTo>
                  <a:pt x="863921" y="90801"/>
                </a:lnTo>
                <a:lnTo>
                  <a:pt x="866563" y="60596"/>
                </a:lnTo>
                <a:lnTo>
                  <a:pt x="868150" y="30316"/>
                </a:lnTo>
                <a:lnTo>
                  <a:pt x="868680" y="0"/>
                </a:lnTo>
                <a:lnTo>
                  <a:pt x="503834" y="0"/>
                </a:lnTo>
                <a:lnTo>
                  <a:pt x="503527" y="17583"/>
                </a:lnTo>
                <a:lnTo>
                  <a:pt x="502607" y="35145"/>
                </a:lnTo>
                <a:lnTo>
                  <a:pt x="501074" y="52665"/>
                </a:lnTo>
                <a:lnTo>
                  <a:pt x="498931" y="70120"/>
                </a:lnTo>
                <a:lnTo>
                  <a:pt x="496180" y="87489"/>
                </a:lnTo>
                <a:lnTo>
                  <a:pt x="492824" y="104753"/>
                </a:lnTo>
                <a:lnTo>
                  <a:pt x="488868" y="121888"/>
                </a:lnTo>
                <a:lnTo>
                  <a:pt x="484316" y="138875"/>
                </a:lnTo>
                <a:lnTo>
                  <a:pt x="479174" y="155693"/>
                </a:lnTo>
                <a:lnTo>
                  <a:pt x="473449" y="172321"/>
                </a:lnTo>
                <a:lnTo>
                  <a:pt x="467147" y="188739"/>
                </a:lnTo>
                <a:lnTo>
                  <a:pt x="460275" y="204927"/>
                </a:lnTo>
                <a:lnTo>
                  <a:pt x="452843" y="220866"/>
                </a:lnTo>
                <a:lnTo>
                  <a:pt x="444859" y="236535"/>
                </a:lnTo>
                <a:lnTo>
                  <a:pt x="436333" y="251917"/>
                </a:lnTo>
                <a:lnTo>
                  <a:pt x="427275" y="266991"/>
                </a:lnTo>
                <a:lnTo>
                  <a:pt x="417697" y="281740"/>
                </a:lnTo>
                <a:lnTo>
                  <a:pt x="407610" y="296146"/>
                </a:lnTo>
                <a:lnTo>
                  <a:pt x="397026" y="310191"/>
                </a:lnTo>
                <a:lnTo>
                  <a:pt x="385959" y="323858"/>
                </a:lnTo>
                <a:lnTo>
                  <a:pt x="374421" y="337131"/>
                </a:lnTo>
                <a:lnTo>
                  <a:pt x="362428" y="349992"/>
                </a:lnTo>
                <a:lnTo>
                  <a:pt x="349992" y="362428"/>
                </a:lnTo>
                <a:lnTo>
                  <a:pt x="337131" y="374421"/>
                </a:lnTo>
                <a:lnTo>
                  <a:pt x="323858" y="385959"/>
                </a:lnTo>
                <a:lnTo>
                  <a:pt x="310191" y="397026"/>
                </a:lnTo>
                <a:lnTo>
                  <a:pt x="296146" y="407610"/>
                </a:lnTo>
                <a:lnTo>
                  <a:pt x="281740" y="417697"/>
                </a:lnTo>
                <a:lnTo>
                  <a:pt x="266991" y="427275"/>
                </a:lnTo>
                <a:lnTo>
                  <a:pt x="251917" y="436333"/>
                </a:lnTo>
                <a:lnTo>
                  <a:pt x="236535" y="444859"/>
                </a:lnTo>
                <a:lnTo>
                  <a:pt x="220866" y="452843"/>
                </a:lnTo>
                <a:lnTo>
                  <a:pt x="204927" y="460275"/>
                </a:lnTo>
                <a:lnTo>
                  <a:pt x="188739" y="467147"/>
                </a:lnTo>
                <a:lnTo>
                  <a:pt x="172321" y="473449"/>
                </a:lnTo>
                <a:lnTo>
                  <a:pt x="155693" y="479174"/>
                </a:lnTo>
                <a:lnTo>
                  <a:pt x="138875" y="484316"/>
                </a:lnTo>
                <a:lnTo>
                  <a:pt x="121888" y="488868"/>
                </a:lnTo>
                <a:lnTo>
                  <a:pt x="104753" y="492824"/>
                </a:lnTo>
                <a:lnTo>
                  <a:pt x="87489" y="496180"/>
                </a:lnTo>
                <a:lnTo>
                  <a:pt x="70120" y="498931"/>
                </a:lnTo>
                <a:lnTo>
                  <a:pt x="52665" y="501074"/>
                </a:lnTo>
                <a:lnTo>
                  <a:pt x="35145" y="502607"/>
                </a:lnTo>
                <a:lnTo>
                  <a:pt x="17583" y="503527"/>
                </a:lnTo>
                <a:lnTo>
                  <a:pt x="0" y="503834"/>
                </a:lnTo>
                <a:close/>
              </a:path>
            </a:pathLst>
          </a:custGeom>
          <a:solidFill>
            <a:srgbClr val="D6D6D6"/>
          </a:solidFill>
          <a:ln>
            <a:noFill/>
          </a:ln>
        </p:spPr>
        <p:txBody>
          <a:bodyPr rtlCol="0" anchor="ctr"/>
          <a:lstStyle/>
          <a:p>
            <a:pPr algn="ctr"/>
          </a:p>
        </p:txBody>
      </p:sp>
      <p:sp>
        <p:nvSpPr>
          <p:cNvPr id="9" name="Freeform 8"/>
          <p:cNvSpPr/>
          <p:nvPr/>
        </p:nvSpPr>
        <p:spPr>
          <a:xfrm>
            <a:off x="1097280" y="2651760"/>
            <a:ext cx="868680" cy="868680"/>
          </a:xfrm>
          <a:custGeom>
            <a:avLst/>
            <a:gdLst/>
            <a:ahLst/>
            <a:cxnLst/>
            <a:rect l="l" t="t" r="r" b="b"/>
            <a:pathLst>
              <a:path w="868680" h="868680">
                <a:moveTo>
                  <a:pt x="0" y="0"/>
                </a:moveTo>
                <a:lnTo>
                  <a:pt x="529" y="30316"/>
                </a:lnTo>
                <a:lnTo>
                  <a:pt x="2116" y="60596"/>
                </a:lnTo>
                <a:lnTo>
                  <a:pt x="4758" y="90801"/>
                </a:lnTo>
                <a:lnTo>
                  <a:pt x="8453" y="120896"/>
                </a:lnTo>
                <a:lnTo>
                  <a:pt x="13197" y="150844"/>
                </a:lnTo>
                <a:lnTo>
                  <a:pt x="18982" y="180608"/>
                </a:lnTo>
                <a:lnTo>
                  <a:pt x="25803" y="210152"/>
                </a:lnTo>
                <a:lnTo>
                  <a:pt x="33651" y="239440"/>
                </a:lnTo>
                <a:lnTo>
                  <a:pt x="42516" y="268436"/>
                </a:lnTo>
                <a:lnTo>
                  <a:pt x="52387" y="297106"/>
                </a:lnTo>
                <a:lnTo>
                  <a:pt x="63253" y="325413"/>
                </a:lnTo>
                <a:lnTo>
                  <a:pt x="75101" y="353323"/>
                </a:lnTo>
                <a:lnTo>
                  <a:pt x="87915" y="380804"/>
                </a:lnTo>
                <a:lnTo>
                  <a:pt x="101681" y="407820"/>
                </a:lnTo>
                <a:lnTo>
                  <a:pt x="116381" y="434340"/>
                </a:lnTo>
                <a:lnTo>
                  <a:pt x="131997" y="460330"/>
                </a:lnTo>
                <a:lnTo>
                  <a:pt x="148511" y="485759"/>
                </a:lnTo>
                <a:lnTo>
                  <a:pt x="165903" y="510597"/>
                </a:lnTo>
                <a:lnTo>
                  <a:pt x="184150" y="534812"/>
                </a:lnTo>
                <a:lnTo>
                  <a:pt x="203232" y="558376"/>
                </a:lnTo>
                <a:lnTo>
                  <a:pt x="223124" y="581260"/>
                </a:lnTo>
                <a:lnTo>
                  <a:pt x="243803" y="603435"/>
                </a:lnTo>
                <a:lnTo>
                  <a:pt x="265244" y="624876"/>
                </a:lnTo>
                <a:lnTo>
                  <a:pt x="287419" y="645555"/>
                </a:lnTo>
                <a:lnTo>
                  <a:pt x="310303" y="665447"/>
                </a:lnTo>
                <a:lnTo>
                  <a:pt x="333867" y="684529"/>
                </a:lnTo>
                <a:lnTo>
                  <a:pt x="358082" y="702776"/>
                </a:lnTo>
                <a:lnTo>
                  <a:pt x="382920" y="720168"/>
                </a:lnTo>
                <a:lnTo>
                  <a:pt x="408349" y="736682"/>
                </a:lnTo>
                <a:lnTo>
                  <a:pt x="434340" y="752298"/>
                </a:lnTo>
                <a:lnTo>
                  <a:pt x="460859" y="766998"/>
                </a:lnTo>
                <a:lnTo>
                  <a:pt x="487875" y="780764"/>
                </a:lnTo>
                <a:lnTo>
                  <a:pt x="515356" y="793578"/>
                </a:lnTo>
                <a:lnTo>
                  <a:pt x="543266" y="805426"/>
                </a:lnTo>
                <a:lnTo>
                  <a:pt x="571573" y="816292"/>
                </a:lnTo>
                <a:lnTo>
                  <a:pt x="600243" y="826163"/>
                </a:lnTo>
                <a:lnTo>
                  <a:pt x="629239" y="835028"/>
                </a:lnTo>
                <a:lnTo>
                  <a:pt x="658527" y="842876"/>
                </a:lnTo>
                <a:lnTo>
                  <a:pt x="688071" y="849697"/>
                </a:lnTo>
                <a:lnTo>
                  <a:pt x="717835" y="855482"/>
                </a:lnTo>
                <a:lnTo>
                  <a:pt x="747783" y="860226"/>
                </a:lnTo>
                <a:lnTo>
                  <a:pt x="777878" y="863921"/>
                </a:lnTo>
                <a:lnTo>
                  <a:pt x="808083" y="866563"/>
                </a:lnTo>
                <a:lnTo>
                  <a:pt x="838363" y="868150"/>
                </a:lnTo>
                <a:lnTo>
                  <a:pt x="868680" y="868680"/>
                </a:lnTo>
                <a:lnTo>
                  <a:pt x="868680" y="503834"/>
                </a:lnTo>
                <a:lnTo>
                  <a:pt x="851096" y="503527"/>
                </a:lnTo>
                <a:lnTo>
                  <a:pt x="833534" y="502607"/>
                </a:lnTo>
                <a:lnTo>
                  <a:pt x="816014" y="501074"/>
                </a:lnTo>
                <a:lnTo>
                  <a:pt x="798559" y="498931"/>
                </a:lnTo>
                <a:lnTo>
                  <a:pt x="781190" y="496180"/>
                </a:lnTo>
                <a:lnTo>
                  <a:pt x="763926" y="492824"/>
                </a:lnTo>
                <a:lnTo>
                  <a:pt x="746791" y="488868"/>
                </a:lnTo>
                <a:lnTo>
                  <a:pt x="729804" y="484316"/>
                </a:lnTo>
                <a:lnTo>
                  <a:pt x="712986" y="479174"/>
                </a:lnTo>
                <a:lnTo>
                  <a:pt x="696358" y="473449"/>
                </a:lnTo>
                <a:lnTo>
                  <a:pt x="679940" y="467147"/>
                </a:lnTo>
                <a:lnTo>
                  <a:pt x="663752" y="460275"/>
                </a:lnTo>
                <a:lnTo>
                  <a:pt x="647813" y="452843"/>
                </a:lnTo>
                <a:lnTo>
                  <a:pt x="632144" y="444859"/>
                </a:lnTo>
                <a:lnTo>
                  <a:pt x="616762" y="436333"/>
                </a:lnTo>
                <a:lnTo>
                  <a:pt x="601688" y="427275"/>
                </a:lnTo>
                <a:lnTo>
                  <a:pt x="586939" y="417697"/>
                </a:lnTo>
                <a:lnTo>
                  <a:pt x="572533" y="407610"/>
                </a:lnTo>
                <a:lnTo>
                  <a:pt x="558488" y="397026"/>
                </a:lnTo>
                <a:lnTo>
                  <a:pt x="544821" y="385959"/>
                </a:lnTo>
                <a:lnTo>
                  <a:pt x="531548" y="374421"/>
                </a:lnTo>
                <a:lnTo>
                  <a:pt x="518687" y="362428"/>
                </a:lnTo>
                <a:lnTo>
                  <a:pt x="506251" y="349992"/>
                </a:lnTo>
                <a:lnTo>
                  <a:pt x="494258" y="337131"/>
                </a:lnTo>
                <a:lnTo>
                  <a:pt x="482720" y="323858"/>
                </a:lnTo>
                <a:lnTo>
                  <a:pt x="471653" y="310191"/>
                </a:lnTo>
                <a:lnTo>
                  <a:pt x="461069" y="296146"/>
                </a:lnTo>
                <a:lnTo>
                  <a:pt x="450982" y="281740"/>
                </a:lnTo>
                <a:lnTo>
                  <a:pt x="441404" y="266991"/>
                </a:lnTo>
                <a:lnTo>
                  <a:pt x="432346" y="251917"/>
                </a:lnTo>
                <a:lnTo>
                  <a:pt x="423820" y="236535"/>
                </a:lnTo>
                <a:lnTo>
                  <a:pt x="415836" y="220866"/>
                </a:lnTo>
                <a:lnTo>
                  <a:pt x="408404" y="204927"/>
                </a:lnTo>
                <a:lnTo>
                  <a:pt x="401532" y="188739"/>
                </a:lnTo>
                <a:lnTo>
                  <a:pt x="395230" y="172321"/>
                </a:lnTo>
                <a:lnTo>
                  <a:pt x="389505" y="155693"/>
                </a:lnTo>
                <a:lnTo>
                  <a:pt x="384363" y="138875"/>
                </a:lnTo>
                <a:lnTo>
                  <a:pt x="379811" y="121888"/>
                </a:lnTo>
                <a:lnTo>
                  <a:pt x="375855" y="104753"/>
                </a:lnTo>
                <a:lnTo>
                  <a:pt x="372499" y="87489"/>
                </a:lnTo>
                <a:lnTo>
                  <a:pt x="369748" y="70120"/>
                </a:lnTo>
                <a:lnTo>
                  <a:pt x="367605" y="52665"/>
                </a:lnTo>
                <a:lnTo>
                  <a:pt x="366072" y="35145"/>
                </a:lnTo>
                <a:lnTo>
                  <a:pt x="365152" y="17583"/>
                </a:lnTo>
                <a:lnTo>
                  <a:pt x="364845" y="0"/>
                </a:lnTo>
                <a:close/>
              </a:path>
            </a:pathLst>
          </a:custGeom>
          <a:solidFill>
            <a:srgbClr val="D6D6D6"/>
          </a:solidFill>
          <a:ln>
            <a:noFill/>
          </a:ln>
        </p:spPr>
        <p:txBody>
          <a:bodyPr rtlCol="0" anchor="ctr"/>
          <a:lstStyle/>
          <a:p>
            <a:pPr algn="ctr"/>
          </a:p>
        </p:txBody>
      </p:sp>
      <p:cxnSp>
        <p:nvCxnSpPr>
          <p:cNvPr id="10" name="Connector 9"/>
          <p:cNvCxnSpPr/>
          <p:nvPr/>
        </p:nvCxnSpPr>
        <p:spPr>
          <a:xfrm flipH="1">
            <a:off x="1097280" y="2651760"/>
            <a:ext cx="364845" cy="0"/>
          </a:xfrm>
          <a:prstGeom prst="line">
            <a:avLst/>
          </a:prstGeom>
          <a:ln w="25400">
            <a:solidFill>
              <a:srgbClr val="FFFFFF"/>
            </a:solidFill>
          </a:ln>
        </p:spPr>
      </p:cxnSp>
      <p:cxnSp>
        <p:nvCxnSpPr>
          <p:cNvPr id="11" name="Connector 10"/>
          <p:cNvCxnSpPr/>
          <p:nvPr/>
        </p:nvCxnSpPr>
        <p:spPr>
          <a:xfrm flipV="1">
            <a:off x="1965960" y="1783080"/>
            <a:ext cx="0" cy="364845"/>
          </a:xfrm>
          <a:prstGeom prst="line">
            <a:avLst/>
          </a:prstGeom>
          <a:ln w="25400">
            <a:solidFill>
              <a:srgbClr val="FFFFFF"/>
            </a:solidFill>
          </a:ln>
        </p:spPr>
      </p:cxnSp>
      <p:cxnSp>
        <p:nvCxnSpPr>
          <p:cNvPr id="12" name="Connector 11"/>
          <p:cNvCxnSpPr/>
          <p:nvPr/>
        </p:nvCxnSpPr>
        <p:spPr>
          <a:xfrm>
            <a:off x="2469794" y="2651760"/>
            <a:ext cx="364846" cy="0"/>
          </a:xfrm>
          <a:prstGeom prst="line">
            <a:avLst/>
          </a:prstGeom>
          <a:ln w="25400">
            <a:solidFill>
              <a:srgbClr val="FFFFFF"/>
            </a:solidFill>
          </a:ln>
        </p:spPr>
      </p:cxnSp>
      <p:cxnSp>
        <p:nvCxnSpPr>
          <p:cNvPr id="13" name="Connector 12"/>
          <p:cNvCxnSpPr/>
          <p:nvPr/>
        </p:nvCxnSpPr>
        <p:spPr>
          <a:xfrm>
            <a:off x="1965960" y="3155594"/>
            <a:ext cx="0" cy="364846"/>
          </a:xfrm>
          <a:prstGeom prst="line">
            <a:avLst/>
          </a:prstGeom>
          <a:ln w="25400">
            <a:solidFill>
              <a:srgbClr val="FFFFFF"/>
            </a:solidFill>
          </a:ln>
        </p:spPr>
      </p:cxnSp>
      <p:sp>
        <p:nvSpPr>
          <p:cNvPr id="14" name="Oval 13"/>
          <p:cNvSpPr/>
          <p:nvPr/>
        </p:nvSpPr>
        <p:spPr>
          <a:xfrm>
            <a:off x="1531620" y="2217420"/>
            <a:ext cx="868680" cy="868680"/>
          </a:xfrm>
          <a:prstGeom prst="ellipse">
            <a:avLst/>
          </a:prstGeom>
          <a:solidFill>
            <a:srgbClr val="FFFFFF"/>
          </a:solidFill>
          <a:ln w="19050">
            <a:solidFill>
              <a:srgbClr val="D9D9D9"/>
            </a:solidFill>
          </a:ln>
          <a:effectLst/>
        </p:spPr>
        <p:txBody>
          <a:bodyPr rtlCol="0" anchor="ctr"/>
          <a:lstStyle/>
          <a:p/>
        </p:txBody>
      </p:sp>
      <p:sp>
        <p:nvSpPr>
          <p:cNvPr id="15" name="Freeform 14"/>
          <p:cNvSpPr/>
          <p:nvPr/>
        </p:nvSpPr>
        <p:spPr>
          <a:xfrm>
            <a:off x="862736" y="1576457"/>
            <a:ext cx="856593" cy="1075303"/>
          </a:xfrm>
          <a:custGeom>
            <a:avLst/>
            <a:gdLst/>
            <a:ahLst/>
            <a:cxnLst/>
            <a:rect l="l" t="t" r="r" b="b"/>
            <a:pathLst>
              <a:path w="856593" h="1075303">
                <a:moveTo>
                  <a:pt x="234544" y="1075303"/>
                </a:moveTo>
                <a:lnTo>
                  <a:pt x="0" y="1075303"/>
                </a:lnTo>
                <a:lnTo>
                  <a:pt x="624" y="1038204"/>
                </a:lnTo>
                <a:lnTo>
                  <a:pt x="2495" y="1001148"/>
                </a:lnTo>
                <a:lnTo>
                  <a:pt x="5611" y="964176"/>
                </a:lnTo>
                <a:lnTo>
                  <a:pt x="9969" y="927329"/>
                </a:lnTo>
                <a:lnTo>
                  <a:pt x="15563" y="890650"/>
                </a:lnTo>
                <a:lnTo>
                  <a:pt x="22387" y="854179"/>
                </a:lnTo>
                <a:lnTo>
                  <a:pt x="30434" y="817959"/>
                </a:lnTo>
                <a:lnTo>
                  <a:pt x="39695" y="782030"/>
                </a:lnTo>
                <a:lnTo>
                  <a:pt x="50158" y="746432"/>
                </a:lnTo>
                <a:lnTo>
                  <a:pt x="61813" y="711207"/>
                </a:lnTo>
                <a:lnTo>
                  <a:pt x="74645" y="676393"/>
                </a:lnTo>
                <a:lnTo>
                  <a:pt x="88641" y="642031"/>
                </a:lnTo>
                <a:lnTo>
                  <a:pt x="103784" y="608158"/>
                </a:lnTo>
                <a:lnTo>
                  <a:pt x="120058" y="574814"/>
                </a:lnTo>
                <a:lnTo>
                  <a:pt x="137444" y="542036"/>
                </a:lnTo>
                <a:lnTo>
                  <a:pt x="155923" y="509861"/>
                </a:lnTo>
                <a:lnTo>
                  <a:pt x="175473" y="478326"/>
                </a:lnTo>
                <a:lnTo>
                  <a:pt x="196072" y="447466"/>
                </a:lnTo>
                <a:lnTo>
                  <a:pt x="217697" y="417317"/>
                </a:lnTo>
                <a:lnTo>
                  <a:pt x="240324" y="387911"/>
                </a:lnTo>
                <a:lnTo>
                  <a:pt x="263927" y="359283"/>
                </a:lnTo>
                <a:lnTo>
                  <a:pt x="288480" y="331465"/>
                </a:lnTo>
                <a:lnTo>
                  <a:pt x="313953" y="304488"/>
                </a:lnTo>
                <a:lnTo>
                  <a:pt x="340320" y="278383"/>
                </a:lnTo>
                <a:lnTo>
                  <a:pt x="367550" y="253180"/>
                </a:lnTo>
                <a:lnTo>
                  <a:pt x="395611" y="228906"/>
                </a:lnTo>
                <a:lnTo>
                  <a:pt x="424473" y="205590"/>
                </a:lnTo>
                <a:lnTo>
                  <a:pt x="454103" y="183257"/>
                </a:lnTo>
                <a:lnTo>
                  <a:pt x="484467" y="161934"/>
                </a:lnTo>
                <a:lnTo>
                  <a:pt x="515531" y="141643"/>
                </a:lnTo>
                <a:lnTo>
                  <a:pt x="547259" y="122409"/>
                </a:lnTo>
                <a:lnTo>
                  <a:pt x="579617" y="104252"/>
                </a:lnTo>
                <a:lnTo>
                  <a:pt x="612567" y="87194"/>
                </a:lnTo>
                <a:lnTo>
                  <a:pt x="646071" y="71254"/>
                </a:lnTo>
                <a:lnTo>
                  <a:pt x="680093" y="56449"/>
                </a:lnTo>
                <a:lnTo>
                  <a:pt x="714594" y="42796"/>
                </a:lnTo>
                <a:lnTo>
                  <a:pt x="749533" y="30312"/>
                </a:lnTo>
                <a:lnTo>
                  <a:pt x="784874" y="19009"/>
                </a:lnTo>
                <a:lnTo>
                  <a:pt x="820574" y="8901"/>
                </a:lnTo>
                <a:lnTo>
                  <a:pt x="856593" y="0"/>
                </a:lnTo>
              </a:path>
            </a:pathLst>
          </a:custGeom>
          <a:noFill/>
          <a:ln w="28575">
            <a:solidFill>
              <a:srgbClr val="1F86BF"/>
            </a:solidFill>
          </a:ln>
        </p:spPr>
        <p:txBody>
          <a:bodyPr rtlCol="0" anchor="ctr"/>
          <a:lstStyle/>
          <a:p>
            <a:pPr algn="ctr"/>
          </a:p>
        </p:txBody>
      </p:sp>
      <p:sp>
        <p:nvSpPr>
          <p:cNvPr id="16" name="Freeform 15"/>
          <p:cNvSpPr/>
          <p:nvPr/>
        </p:nvSpPr>
        <p:spPr>
          <a:xfrm>
            <a:off x="1704611" y="1512286"/>
            <a:ext cx="148407" cy="128341"/>
          </a:xfrm>
          <a:custGeom>
            <a:avLst/>
            <a:gdLst/>
            <a:ahLst/>
            <a:cxnLst/>
            <a:rect l="l" t="t" r="r" b="b"/>
            <a:pathLst>
              <a:path w="148407" h="128341">
                <a:moveTo>
                  <a:pt x="148407" y="33508"/>
                </a:moveTo>
                <a:lnTo>
                  <a:pt x="29437" y="128341"/>
                </a:lnTo>
                <a:lnTo>
                  <a:pt x="0" y="0"/>
                </a:lnTo>
                <a:close/>
              </a:path>
            </a:pathLst>
          </a:custGeom>
          <a:solidFill>
            <a:srgbClr val="1F86BF"/>
          </a:solidFill>
          <a:ln>
            <a:noFill/>
          </a:ln>
        </p:spPr>
        <p:txBody>
          <a:bodyPr rtlCol="0" anchor="ctr"/>
          <a:lstStyle/>
          <a:p>
            <a:pPr algn="ctr"/>
          </a:p>
        </p:txBody>
      </p:sp>
      <p:sp>
        <p:nvSpPr>
          <p:cNvPr id="17" name="Freeform 16"/>
          <p:cNvSpPr/>
          <p:nvPr/>
        </p:nvSpPr>
        <p:spPr>
          <a:xfrm>
            <a:off x="1965960" y="1548536"/>
            <a:ext cx="1075302" cy="856593"/>
          </a:xfrm>
          <a:custGeom>
            <a:avLst/>
            <a:gdLst/>
            <a:ahLst/>
            <a:cxnLst/>
            <a:rect l="l" t="t" r="r" b="b"/>
            <a:pathLst>
              <a:path w="1075302" h="856593">
                <a:moveTo>
                  <a:pt x="0" y="234544"/>
                </a:moveTo>
                <a:lnTo>
                  <a:pt x="0" y="0"/>
                </a:lnTo>
                <a:lnTo>
                  <a:pt x="37098" y="624"/>
                </a:lnTo>
                <a:lnTo>
                  <a:pt x="74154" y="2495"/>
                </a:lnTo>
                <a:lnTo>
                  <a:pt x="111126" y="5611"/>
                </a:lnTo>
                <a:lnTo>
                  <a:pt x="147973" y="9969"/>
                </a:lnTo>
                <a:lnTo>
                  <a:pt x="184652" y="15563"/>
                </a:lnTo>
                <a:lnTo>
                  <a:pt x="221123" y="22387"/>
                </a:lnTo>
                <a:lnTo>
                  <a:pt x="257343" y="30434"/>
                </a:lnTo>
                <a:lnTo>
                  <a:pt x="293272" y="39695"/>
                </a:lnTo>
                <a:lnTo>
                  <a:pt x="328870" y="50158"/>
                </a:lnTo>
                <a:lnTo>
                  <a:pt x="364095" y="61813"/>
                </a:lnTo>
                <a:lnTo>
                  <a:pt x="398909" y="74645"/>
                </a:lnTo>
                <a:lnTo>
                  <a:pt x="433271" y="88641"/>
                </a:lnTo>
                <a:lnTo>
                  <a:pt x="467144" y="103784"/>
                </a:lnTo>
                <a:lnTo>
                  <a:pt x="500488" y="120058"/>
                </a:lnTo>
                <a:lnTo>
                  <a:pt x="533266" y="137444"/>
                </a:lnTo>
                <a:lnTo>
                  <a:pt x="565441" y="155923"/>
                </a:lnTo>
                <a:lnTo>
                  <a:pt x="596976" y="175473"/>
                </a:lnTo>
                <a:lnTo>
                  <a:pt x="627836" y="196072"/>
                </a:lnTo>
                <a:lnTo>
                  <a:pt x="657985" y="217697"/>
                </a:lnTo>
                <a:lnTo>
                  <a:pt x="687391" y="240324"/>
                </a:lnTo>
                <a:lnTo>
                  <a:pt x="716019" y="263927"/>
                </a:lnTo>
                <a:lnTo>
                  <a:pt x="743837" y="288480"/>
                </a:lnTo>
                <a:lnTo>
                  <a:pt x="770814" y="313953"/>
                </a:lnTo>
                <a:lnTo>
                  <a:pt x="796919" y="340320"/>
                </a:lnTo>
                <a:lnTo>
                  <a:pt x="822122" y="367550"/>
                </a:lnTo>
                <a:lnTo>
                  <a:pt x="846396" y="395611"/>
                </a:lnTo>
                <a:lnTo>
                  <a:pt x="869712" y="424473"/>
                </a:lnTo>
                <a:lnTo>
                  <a:pt x="892045" y="454103"/>
                </a:lnTo>
                <a:lnTo>
                  <a:pt x="913368" y="484467"/>
                </a:lnTo>
                <a:lnTo>
                  <a:pt x="933659" y="515531"/>
                </a:lnTo>
                <a:lnTo>
                  <a:pt x="952893" y="547259"/>
                </a:lnTo>
                <a:lnTo>
                  <a:pt x="971050" y="579617"/>
                </a:lnTo>
                <a:lnTo>
                  <a:pt x="988108" y="612567"/>
                </a:lnTo>
                <a:lnTo>
                  <a:pt x="1004048" y="646071"/>
                </a:lnTo>
                <a:lnTo>
                  <a:pt x="1018853" y="680093"/>
                </a:lnTo>
                <a:lnTo>
                  <a:pt x="1032506" y="714594"/>
                </a:lnTo>
                <a:lnTo>
                  <a:pt x="1044990" y="749533"/>
                </a:lnTo>
                <a:lnTo>
                  <a:pt x="1056293" y="784874"/>
                </a:lnTo>
                <a:lnTo>
                  <a:pt x="1066401" y="820574"/>
                </a:lnTo>
                <a:lnTo>
                  <a:pt x="1075302" y="856593"/>
                </a:lnTo>
              </a:path>
            </a:pathLst>
          </a:custGeom>
          <a:noFill/>
          <a:ln w="28575">
            <a:solidFill>
              <a:srgbClr val="D6D6D6"/>
            </a:solidFill>
          </a:ln>
        </p:spPr>
        <p:txBody>
          <a:bodyPr rtlCol="0" anchor="ctr"/>
          <a:lstStyle/>
          <a:p>
            <a:pPr algn="ctr"/>
          </a:p>
        </p:txBody>
      </p:sp>
      <p:sp>
        <p:nvSpPr>
          <p:cNvPr id="18" name="Freeform 17"/>
          <p:cNvSpPr/>
          <p:nvPr/>
        </p:nvSpPr>
        <p:spPr>
          <a:xfrm>
            <a:off x="2977092" y="2390411"/>
            <a:ext cx="128341" cy="148407"/>
          </a:xfrm>
          <a:custGeom>
            <a:avLst/>
            <a:gdLst/>
            <a:ahLst/>
            <a:cxnLst/>
            <a:rect l="l" t="t" r="r" b="b"/>
            <a:pathLst>
              <a:path w="128341" h="148407">
                <a:moveTo>
                  <a:pt x="94833" y="148407"/>
                </a:moveTo>
                <a:lnTo>
                  <a:pt x="0" y="29437"/>
                </a:lnTo>
                <a:lnTo>
                  <a:pt x="128341" y="0"/>
                </a:lnTo>
                <a:close/>
              </a:path>
            </a:pathLst>
          </a:custGeom>
          <a:solidFill>
            <a:srgbClr val="D6D6D6"/>
          </a:solidFill>
          <a:ln>
            <a:noFill/>
          </a:ln>
        </p:spPr>
        <p:txBody>
          <a:bodyPr rtlCol="0" anchor="ctr"/>
          <a:lstStyle/>
          <a:p>
            <a:pPr algn="ctr"/>
          </a:p>
        </p:txBody>
      </p:sp>
      <p:sp>
        <p:nvSpPr>
          <p:cNvPr id="19" name="Freeform 18"/>
          <p:cNvSpPr/>
          <p:nvPr/>
        </p:nvSpPr>
        <p:spPr>
          <a:xfrm>
            <a:off x="2212590" y="2651760"/>
            <a:ext cx="856593" cy="1075302"/>
          </a:xfrm>
          <a:custGeom>
            <a:avLst/>
            <a:gdLst/>
            <a:ahLst/>
            <a:cxnLst/>
            <a:rect l="l" t="t" r="r" b="b"/>
            <a:pathLst>
              <a:path w="856593" h="1075302">
                <a:moveTo>
                  <a:pt x="622050" y="0"/>
                </a:moveTo>
                <a:lnTo>
                  <a:pt x="856593" y="0"/>
                </a:lnTo>
                <a:lnTo>
                  <a:pt x="855969" y="37098"/>
                </a:lnTo>
                <a:lnTo>
                  <a:pt x="854098" y="74154"/>
                </a:lnTo>
                <a:lnTo>
                  <a:pt x="850982" y="111126"/>
                </a:lnTo>
                <a:lnTo>
                  <a:pt x="846624" y="147973"/>
                </a:lnTo>
                <a:lnTo>
                  <a:pt x="841030" y="184652"/>
                </a:lnTo>
                <a:lnTo>
                  <a:pt x="834206" y="221123"/>
                </a:lnTo>
                <a:lnTo>
                  <a:pt x="826159" y="257343"/>
                </a:lnTo>
                <a:lnTo>
                  <a:pt x="816898" y="293272"/>
                </a:lnTo>
                <a:lnTo>
                  <a:pt x="806435" y="328870"/>
                </a:lnTo>
                <a:lnTo>
                  <a:pt x="794780" y="364095"/>
                </a:lnTo>
                <a:lnTo>
                  <a:pt x="781948" y="398909"/>
                </a:lnTo>
                <a:lnTo>
                  <a:pt x="767952" y="433271"/>
                </a:lnTo>
                <a:lnTo>
                  <a:pt x="752809" y="467144"/>
                </a:lnTo>
                <a:lnTo>
                  <a:pt x="736535" y="500488"/>
                </a:lnTo>
                <a:lnTo>
                  <a:pt x="719149" y="533266"/>
                </a:lnTo>
                <a:lnTo>
                  <a:pt x="700670" y="565441"/>
                </a:lnTo>
                <a:lnTo>
                  <a:pt x="681120" y="596976"/>
                </a:lnTo>
                <a:lnTo>
                  <a:pt x="660521" y="627836"/>
                </a:lnTo>
                <a:lnTo>
                  <a:pt x="638896" y="657985"/>
                </a:lnTo>
                <a:lnTo>
                  <a:pt x="616269" y="687391"/>
                </a:lnTo>
                <a:lnTo>
                  <a:pt x="592666" y="716019"/>
                </a:lnTo>
                <a:lnTo>
                  <a:pt x="568113" y="743837"/>
                </a:lnTo>
                <a:lnTo>
                  <a:pt x="542640" y="770814"/>
                </a:lnTo>
                <a:lnTo>
                  <a:pt x="516273" y="796919"/>
                </a:lnTo>
                <a:lnTo>
                  <a:pt x="489043" y="822122"/>
                </a:lnTo>
                <a:lnTo>
                  <a:pt x="460982" y="846396"/>
                </a:lnTo>
                <a:lnTo>
                  <a:pt x="432120" y="869712"/>
                </a:lnTo>
                <a:lnTo>
                  <a:pt x="402490" y="892045"/>
                </a:lnTo>
                <a:lnTo>
                  <a:pt x="372126" y="913368"/>
                </a:lnTo>
                <a:lnTo>
                  <a:pt x="341062" y="933659"/>
                </a:lnTo>
                <a:lnTo>
                  <a:pt x="309334" y="952893"/>
                </a:lnTo>
                <a:lnTo>
                  <a:pt x="276976" y="971050"/>
                </a:lnTo>
                <a:lnTo>
                  <a:pt x="244026" y="988108"/>
                </a:lnTo>
                <a:lnTo>
                  <a:pt x="210522" y="1004048"/>
                </a:lnTo>
                <a:lnTo>
                  <a:pt x="176500" y="1018853"/>
                </a:lnTo>
                <a:lnTo>
                  <a:pt x="141999" y="1032506"/>
                </a:lnTo>
                <a:lnTo>
                  <a:pt x="107060" y="1044990"/>
                </a:lnTo>
                <a:lnTo>
                  <a:pt x="71719" y="1056293"/>
                </a:lnTo>
                <a:lnTo>
                  <a:pt x="36019" y="1066401"/>
                </a:lnTo>
                <a:lnTo>
                  <a:pt x="0" y="1075302"/>
                </a:lnTo>
              </a:path>
            </a:pathLst>
          </a:custGeom>
          <a:noFill/>
          <a:ln w="28575">
            <a:solidFill>
              <a:srgbClr val="D6D6D6"/>
            </a:solidFill>
          </a:ln>
        </p:spPr>
        <p:txBody>
          <a:bodyPr rtlCol="0" anchor="ctr"/>
          <a:lstStyle/>
          <a:p>
            <a:pPr algn="ctr"/>
          </a:p>
        </p:txBody>
      </p:sp>
      <p:sp>
        <p:nvSpPr>
          <p:cNvPr id="20" name="Freeform 19"/>
          <p:cNvSpPr/>
          <p:nvPr/>
        </p:nvSpPr>
        <p:spPr>
          <a:xfrm>
            <a:off x="2078901" y="3662892"/>
            <a:ext cx="148407" cy="128341"/>
          </a:xfrm>
          <a:custGeom>
            <a:avLst/>
            <a:gdLst/>
            <a:ahLst/>
            <a:cxnLst/>
            <a:rect l="l" t="t" r="r" b="b"/>
            <a:pathLst>
              <a:path w="148407" h="128341">
                <a:moveTo>
                  <a:pt x="0" y="94833"/>
                </a:moveTo>
                <a:lnTo>
                  <a:pt x="118970" y="0"/>
                </a:lnTo>
                <a:lnTo>
                  <a:pt x="148407" y="128341"/>
                </a:lnTo>
                <a:close/>
              </a:path>
            </a:pathLst>
          </a:custGeom>
          <a:solidFill>
            <a:srgbClr val="D6D6D6"/>
          </a:solidFill>
          <a:ln>
            <a:noFill/>
          </a:ln>
        </p:spPr>
        <p:txBody>
          <a:bodyPr rtlCol="0" anchor="ctr"/>
          <a:lstStyle/>
          <a:p>
            <a:pPr algn="ctr"/>
          </a:p>
        </p:txBody>
      </p:sp>
      <p:sp>
        <p:nvSpPr>
          <p:cNvPr id="21" name="Freeform 20"/>
          <p:cNvSpPr/>
          <p:nvPr/>
        </p:nvSpPr>
        <p:spPr>
          <a:xfrm>
            <a:off x="890657" y="2898390"/>
            <a:ext cx="1075303" cy="856593"/>
          </a:xfrm>
          <a:custGeom>
            <a:avLst/>
            <a:gdLst/>
            <a:ahLst/>
            <a:cxnLst/>
            <a:rect l="l" t="t" r="r" b="b"/>
            <a:pathLst>
              <a:path w="1075303" h="856593">
                <a:moveTo>
                  <a:pt x="1075303" y="622050"/>
                </a:moveTo>
                <a:lnTo>
                  <a:pt x="1075303" y="856593"/>
                </a:lnTo>
                <a:lnTo>
                  <a:pt x="1038204" y="855969"/>
                </a:lnTo>
                <a:lnTo>
                  <a:pt x="1001148" y="854098"/>
                </a:lnTo>
                <a:lnTo>
                  <a:pt x="964176" y="850982"/>
                </a:lnTo>
                <a:lnTo>
                  <a:pt x="927329" y="846624"/>
                </a:lnTo>
                <a:lnTo>
                  <a:pt x="890650" y="841030"/>
                </a:lnTo>
                <a:lnTo>
                  <a:pt x="854179" y="834206"/>
                </a:lnTo>
                <a:lnTo>
                  <a:pt x="817959" y="826159"/>
                </a:lnTo>
                <a:lnTo>
                  <a:pt x="782030" y="816898"/>
                </a:lnTo>
                <a:lnTo>
                  <a:pt x="746432" y="806435"/>
                </a:lnTo>
                <a:lnTo>
                  <a:pt x="711207" y="794780"/>
                </a:lnTo>
                <a:lnTo>
                  <a:pt x="676393" y="781948"/>
                </a:lnTo>
                <a:lnTo>
                  <a:pt x="642031" y="767952"/>
                </a:lnTo>
                <a:lnTo>
                  <a:pt x="608158" y="752809"/>
                </a:lnTo>
                <a:lnTo>
                  <a:pt x="574814" y="736535"/>
                </a:lnTo>
                <a:lnTo>
                  <a:pt x="542036" y="719149"/>
                </a:lnTo>
                <a:lnTo>
                  <a:pt x="509861" y="700670"/>
                </a:lnTo>
                <a:lnTo>
                  <a:pt x="478326" y="681120"/>
                </a:lnTo>
                <a:lnTo>
                  <a:pt x="447466" y="660521"/>
                </a:lnTo>
                <a:lnTo>
                  <a:pt x="417317" y="638896"/>
                </a:lnTo>
                <a:lnTo>
                  <a:pt x="387911" y="616269"/>
                </a:lnTo>
                <a:lnTo>
                  <a:pt x="359283" y="592666"/>
                </a:lnTo>
                <a:lnTo>
                  <a:pt x="331465" y="568113"/>
                </a:lnTo>
                <a:lnTo>
                  <a:pt x="304488" y="542640"/>
                </a:lnTo>
                <a:lnTo>
                  <a:pt x="278383" y="516273"/>
                </a:lnTo>
                <a:lnTo>
                  <a:pt x="253180" y="489043"/>
                </a:lnTo>
                <a:lnTo>
                  <a:pt x="228906" y="460982"/>
                </a:lnTo>
                <a:lnTo>
                  <a:pt x="205590" y="432120"/>
                </a:lnTo>
                <a:lnTo>
                  <a:pt x="183257" y="402490"/>
                </a:lnTo>
                <a:lnTo>
                  <a:pt x="161934" y="372126"/>
                </a:lnTo>
                <a:lnTo>
                  <a:pt x="141643" y="341062"/>
                </a:lnTo>
                <a:lnTo>
                  <a:pt x="122409" y="309334"/>
                </a:lnTo>
                <a:lnTo>
                  <a:pt x="104252" y="276976"/>
                </a:lnTo>
                <a:lnTo>
                  <a:pt x="87194" y="244026"/>
                </a:lnTo>
                <a:lnTo>
                  <a:pt x="71254" y="210522"/>
                </a:lnTo>
                <a:lnTo>
                  <a:pt x="56449" y="176500"/>
                </a:lnTo>
                <a:lnTo>
                  <a:pt x="42796" y="141999"/>
                </a:lnTo>
                <a:lnTo>
                  <a:pt x="30312" y="107060"/>
                </a:lnTo>
                <a:lnTo>
                  <a:pt x="19009" y="71719"/>
                </a:lnTo>
                <a:lnTo>
                  <a:pt x="8901" y="36019"/>
                </a:lnTo>
                <a:lnTo>
                  <a:pt x="0" y="0"/>
                </a:lnTo>
              </a:path>
            </a:pathLst>
          </a:custGeom>
          <a:noFill/>
          <a:ln w="28575">
            <a:solidFill>
              <a:srgbClr val="D6D6D6"/>
            </a:solidFill>
          </a:ln>
        </p:spPr>
        <p:txBody>
          <a:bodyPr rtlCol="0" anchor="ctr"/>
          <a:lstStyle/>
          <a:p>
            <a:pPr algn="ctr"/>
          </a:p>
        </p:txBody>
      </p:sp>
      <p:sp>
        <p:nvSpPr>
          <p:cNvPr id="22" name="Freeform 21"/>
          <p:cNvSpPr/>
          <p:nvPr/>
        </p:nvSpPr>
        <p:spPr>
          <a:xfrm>
            <a:off x="826486" y="2764701"/>
            <a:ext cx="128341" cy="148407"/>
          </a:xfrm>
          <a:custGeom>
            <a:avLst/>
            <a:gdLst/>
            <a:ahLst/>
            <a:cxnLst/>
            <a:rect l="l" t="t" r="r" b="b"/>
            <a:pathLst>
              <a:path w="128341" h="148407">
                <a:moveTo>
                  <a:pt x="33508" y="0"/>
                </a:moveTo>
                <a:lnTo>
                  <a:pt x="128341" y="118970"/>
                </a:lnTo>
                <a:lnTo>
                  <a:pt x="0" y="148407"/>
                </a:lnTo>
                <a:close/>
              </a:path>
            </a:pathLst>
          </a:custGeom>
          <a:solidFill>
            <a:srgbClr val="D6D6D6"/>
          </a:solidFill>
          <a:ln>
            <a:noFill/>
          </a:ln>
        </p:spPr>
        <p:txBody>
          <a:bodyPr rtlCol="0" anchor="ctr"/>
          <a:lstStyle/>
          <a:p>
            <a:pPr algn="ctr"/>
          </a:p>
        </p:txBody>
      </p:sp>
      <p:sp>
        <p:nvSpPr>
          <p:cNvPr id="23" name="Rounded Rectangle 22"/>
          <p:cNvSpPr/>
          <p:nvPr/>
        </p:nvSpPr>
        <p:spPr>
          <a:xfrm>
            <a:off x="3129991" y="2278227"/>
            <a:ext cx="208483" cy="747064"/>
          </a:xfrm>
          <a:prstGeom prst="roundRect">
            <a:avLst>
              <a:gd name="adj" fmla="val 12000"/>
            </a:avLst>
          </a:prstGeom>
          <a:solidFill>
            <a:srgbClr val="D33327"/>
          </a:solidFill>
          <a:ln w="19050">
            <a:solidFill>
              <a:srgbClr val="FFFFFF"/>
            </a:solidFill>
          </a:ln>
          <a:effectLst/>
        </p:spPr>
        <p:txBody>
          <a:bodyPr rtlCol="0" anchor="ctr"/>
          <a:lstStyle/>
          <a:p/>
        </p:txBody>
      </p:sp>
      <p:sp>
        <p:nvSpPr>
          <p:cNvPr id="24" name="TextBox 23"/>
          <p:cNvSpPr txBox="1"/>
          <p:nvPr/>
        </p:nvSpPr>
        <p:spPr>
          <a:xfrm rot="5400000">
            <a:off x="3049703" y="2467230"/>
            <a:ext cx="369059" cy="369059"/>
          </a:xfrm>
          <a:prstGeom prst="rect">
            <a:avLst/>
          </a:prstGeom>
          <a:noFill/>
        </p:spPr>
        <p:txBody>
          <a:bodyPr wrap="square" anchor="ctr" lIns="0" rIns="0" tIns="0" bIns="0">
            <a:noAutofit/>
          </a:bodyPr>
          <a:lstStyle/>
          <a:p>
            <a:pPr algn="ctr">
              <a:spcBef>
                <a:spcPts val="0"/>
              </a:spcBef>
              <a:spcAft>
                <a:spcPts val="0"/>
              </a:spcAft>
            </a:pPr>
            <a:r>
              <a:rPr lang="tr-TR" sz="1100" b="1" i="0">
                <a:solidFill>
                  <a:srgbClr val="FFFFFF"/>
                </a:solidFill>
                <a:latin typeface="Calibri"/>
              </a:rPr>
              <a:t>AFET</a:t>
            </a:r>
          </a:p>
        </p:txBody>
      </p:sp>
      <p:sp>
        <p:nvSpPr>
          <p:cNvPr id="25" name="TextBox 24"/>
          <p:cNvSpPr txBox="1"/>
          <p:nvPr/>
        </p:nvSpPr>
        <p:spPr>
          <a:xfrm>
            <a:off x="1592427" y="2391156"/>
            <a:ext cx="747064" cy="521208"/>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6" name="Oval 25"/>
          <p:cNvSpPr/>
          <p:nvPr/>
        </p:nvSpPr>
        <p:spPr>
          <a:xfrm>
            <a:off x="1361830" y="2047630"/>
            <a:ext cx="237744" cy="237744"/>
          </a:xfrm>
          <a:prstGeom prst="ellipse">
            <a:avLst/>
          </a:prstGeom>
          <a:solidFill>
            <a:srgbClr val="FFFFFF"/>
          </a:solidFill>
          <a:ln w="25400">
            <a:solidFill>
              <a:srgbClr val="1F86BF"/>
            </a:solidFill>
          </a:ln>
          <a:effectLst/>
        </p:spPr>
        <p:txBody>
          <a:bodyPr rtlCol="0" anchor="ctr" wrap="none" lIns="0" rIns="0" tIns="0" bIns="0">
            <a:noAutofit/>
          </a:bodyPr>
          <a:lstStyle/>
          <a:p>
            <a:pPr algn="ctr">
              <a:spcBef>
                <a:spcPts val="0"/>
              </a:spcBef>
              <a:spcAft>
                <a:spcPts val="0"/>
              </a:spcAft>
            </a:pPr>
            <a:r>
              <a:rPr lang="tr-TR" sz="1029" b="1" i="0">
                <a:solidFill>
                  <a:srgbClr val="1F86BF"/>
                </a:solidFill>
                <a:latin typeface="Calibri"/>
              </a:rPr>
              <a:t>1</a:t>
            </a:r>
          </a:p>
        </p:txBody>
      </p:sp>
      <p:sp>
        <p:nvSpPr>
          <p:cNvPr id="27" name="Oval 26"/>
          <p:cNvSpPr/>
          <p:nvPr/>
        </p:nvSpPr>
        <p:spPr>
          <a:xfrm>
            <a:off x="2332345" y="2047630"/>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2</a:t>
            </a:r>
          </a:p>
        </p:txBody>
      </p:sp>
      <p:sp>
        <p:nvSpPr>
          <p:cNvPr id="28" name="Oval 27"/>
          <p:cNvSpPr/>
          <p:nvPr/>
        </p:nvSpPr>
        <p:spPr>
          <a:xfrm>
            <a:off x="2332345" y="3018145"/>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3</a:t>
            </a:r>
          </a:p>
        </p:txBody>
      </p:sp>
      <p:sp>
        <p:nvSpPr>
          <p:cNvPr id="29" name="Oval 28"/>
          <p:cNvSpPr/>
          <p:nvPr/>
        </p:nvSpPr>
        <p:spPr>
          <a:xfrm>
            <a:off x="1361830" y="3018145"/>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4</a:t>
            </a:r>
          </a:p>
        </p:txBody>
      </p:sp>
      <p:sp>
        <p:nvSpPr>
          <p:cNvPr id="30" name="Rounded Rectangle 29"/>
          <p:cNvSpPr/>
          <p:nvPr/>
        </p:nvSpPr>
        <p:spPr>
          <a:xfrm>
            <a:off x="502920" y="4023360"/>
            <a:ext cx="3063240" cy="438912"/>
          </a:xfrm>
          <a:prstGeom prst="roundRect">
            <a:avLst>
              <a:gd name="adj" fmla="val 50000"/>
            </a:avLst>
          </a:prstGeom>
          <a:solidFill>
            <a:srgbClr val="FFFFFF"/>
          </a:solidFill>
          <a:ln w="19050">
            <a:solidFill>
              <a:srgbClr val="2A5F7E"/>
            </a:solidFill>
          </a:ln>
          <a:effectLst/>
        </p:spPr>
        <p:txBody>
          <a:bodyPr rtlCol="0" anchor="ctr" wrap="square" lIns="128016" rIns="128016" tIns="0" bIns="0">
            <a:noAutofit/>
          </a:bodyPr>
          <a:lstStyle/>
          <a:p>
            <a:pPr algn="ctr">
              <a:spcBef>
                <a:spcPts val="0"/>
              </a:spcBef>
              <a:spcAft>
                <a:spcPts val="0"/>
              </a:spcAft>
            </a:pPr>
            <a:r>
              <a:rPr lang="tr-TR" sz="1800" b="1" i="0">
                <a:solidFill>
                  <a:srgbClr val="2A5F7E"/>
                </a:solidFill>
                <a:latin typeface="Calibri"/>
              </a:rPr>
              <a:t>ok: Önlem</a:t>
            </a:r>
          </a:p>
        </p:txBody>
      </p:sp>
      <p:sp>
        <p:nvSpPr>
          <p:cNvPr id="31" name="Rounded Rectangle 30"/>
          <p:cNvSpPr/>
          <p:nvPr/>
        </p:nvSpPr>
        <p:spPr>
          <a:xfrm>
            <a:off x="502920" y="4572000"/>
            <a:ext cx="3063240" cy="438912"/>
          </a:xfrm>
          <a:prstGeom prst="roundRect">
            <a:avLst>
              <a:gd name="adj" fmla="val 50000"/>
            </a:avLst>
          </a:prstGeom>
          <a:solidFill>
            <a:srgbClr val="1F6E9E"/>
          </a:solidFill>
          <a:ln>
            <a:noFill/>
          </a:ln>
          <a:effectLst/>
        </p:spPr>
        <p:txBody>
          <a:bodyPr rtlCol="0" anchor="ctr" wrap="square" lIns="128016" rIns="128016" tIns="0" bIns="0">
            <a:noAutofit/>
          </a:bodyPr>
          <a:lstStyle/>
          <a:p>
            <a:pPr algn="ctr">
              <a:spcBef>
                <a:spcPts val="0"/>
              </a:spcBef>
              <a:spcAft>
                <a:spcPts val="0"/>
              </a:spcAft>
            </a:pPr>
            <a:r>
              <a:rPr lang="tr-TR" sz="1500" b="1" i="0">
                <a:solidFill>
                  <a:srgbClr val="FFFFFF"/>
                </a:solidFill>
                <a:latin typeface="Calibri"/>
              </a:rPr>
              <a:t>RİSK YÖNETİMİ · afet öncesi</a:t>
            </a:r>
          </a:p>
        </p:txBody>
      </p:sp>
      <p:sp>
        <p:nvSpPr>
          <p:cNvPr id="32" name="Rounded Rectangle 31"/>
          <p:cNvSpPr/>
          <p:nvPr/>
        </p:nvSpPr>
        <p:spPr>
          <a:xfrm>
            <a:off x="502920" y="5166360"/>
            <a:ext cx="3063240" cy="1124712"/>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00"/>
              </a:spcAft>
            </a:pPr>
            <a:r>
              <a:rPr lang="tr-TR" sz="1900" b="1" i="0">
                <a:solidFill>
                  <a:srgbClr val="1F86BF"/>
                </a:solidFill>
                <a:latin typeface="Calibri"/>
              </a:rPr>
              <a:t>Deftere</a:t>
            </a:r>
          </a:p>
          <a:p>
            <a:pPr algn="l">
              <a:spcBef>
                <a:spcPts val="0"/>
              </a:spcBef>
              <a:spcAft>
                <a:spcPts val="0"/>
              </a:spcAft>
            </a:pPr>
            <a:r>
              <a:rPr lang="tr-TR" sz="1700" b="0" i="0">
                <a:solidFill>
                  <a:srgbClr val="262626"/>
                </a:solidFill>
                <a:latin typeface="Calibri"/>
              </a:rPr>
              <a:t>amacı · uygulamaları</a:t>
            </a:r>
          </a:p>
        </p:txBody>
      </p:sp>
      <p:sp>
        <p:nvSpPr>
          <p:cNvPr id="33" name="Rounded Rectangle 32"/>
          <p:cNvSpPr/>
          <p:nvPr/>
        </p:nvSpPr>
        <p:spPr>
          <a:xfrm>
            <a:off x="3840480" y="1216152"/>
            <a:ext cx="7848295" cy="502920"/>
          </a:xfrm>
          <a:prstGeom prst="roundRect">
            <a:avLst>
              <a:gd name="adj" fmla="val 15000"/>
            </a:avLst>
          </a:prstGeom>
          <a:solidFill>
            <a:srgbClr val="1F86BF"/>
          </a:solidFill>
          <a:ln>
            <a:noFill/>
          </a:ln>
          <a:effectLst/>
        </p:spPr>
        <p:txBody>
          <a:bodyPr rtlCol="0" anchor="ctr" wrap="square" lIns="182880" rIns="182880" tIns="0" bIns="0">
            <a:noAutofit/>
          </a:bodyPr>
          <a:lstStyle/>
          <a:p>
            <a:pPr algn="l">
              <a:spcBef>
                <a:spcPts val="0"/>
              </a:spcBef>
              <a:spcAft>
                <a:spcPts val="0"/>
              </a:spcAft>
            </a:pPr>
            <a:r>
              <a:rPr lang="tr-TR" sz="2100" b="1" i="0">
                <a:solidFill>
                  <a:srgbClr val="FFFFFF"/>
                </a:solidFill>
                <a:latin typeface="Calibri"/>
              </a:rPr>
              <a:t>RİSK VE ZARAR AZALTMA</a:t>
            </a:r>
          </a:p>
        </p:txBody>
      </p:sp>
      <p:sp>
        <p:nvSpPr>
          <p:cNvPr id="34" name="Rounded Rectangle 33"/>
          <p:cNvSpPr/>
          <p:nvPr/>
        </p:nvSpPr>
        <p:spPr>
          <a:xfrm>
            <a:off x="3840480" y="1828800"/>
            <a:ext cx="7848295" cy="1404399"/>
          </a:xfrm>
          <a:prstGeom prst="roundRect">
            <a:avLst>
              <a:gd name="adj" fmla="val 8000"/>
            </a:avLst>
          </a:prstGeom>
          <a:solidFill>
            <a:srgbClr val="F0F0F0"/>
          </a:solidFill>
          <a:ln>
            <a:noFill/>
          </a:ln>
          <a:effectLst/>
        </p:spPr>
        <p:txBody>
          <a:bodyPr rtlCol="0" anchor="ctr"/>
          <a:lstStyle/>
          <a:p/>
        </p:txBody>
      </p:sp>
      <p:sp>
        <p:nvSpPr>
          <p:cNvPr id="35" name="Rectangle 34"/>
          <p:cNvSpPr/>
          <p:nvPr/>
        </p:nvSpPr>
        <p:spPr>
          <a:xfrm>
            <a:off x="3840480" y="1828800"/>
            <a:ext cx="118872" cy="1404399"/>
          </a:xfrm>
          <a:prstGeom prst="rect">
            <a:avLst/>
          </a:prstGeom>
          <a:solidFill>
            <a:srgbClr val="1F86BF"/>
          </a:solidFill>
          <a:ln>
            <a:noFill/>
          </a:ln>
          <a:effectLst/>
        </p:spPr>
        <p:txBody>
          <a:bodyPr rtlCol="0" anchor="ctr"/>
          <a:lstStyle/>
          <a:p/>
        </p:txBody>
      </p:sp>
      <p:sp>
        <p:nvSpPr>
          <p:cNvPr id="36" name="TextBox 35"/>
          <p:cNvSpPr txBox="1"/>
          <p:nvPr/>
        </p:nvSpPr>
        <p:spPr>
          <a:xfrm>
            <a:off x="4114800" y="1828800"/>
            <a:ext cx="7436815" cy="140439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Afetlerin etkisini azaltmak veya yok etmek için atılan adımlardan oluşur.</a:t>
            </a:r>
          </a:p>
        </p:txBody>
      </p:sp>
      <p:sp>
        <p:nvSpPr>
          <p:cNvPr id="37" name="Rounded Rectangle 36"/>
          <p:cNvSpPr/>
          <p:nvPr/>
        </p:nvSpPr>
        <p:spPr>
          <a:xfrm>
            <a:off x="3840480" y="3370359"/>
            <a:ext cx="7848295" cy="2902424"/>
          </a:xfrm>
          <a:prstGeom prst="roundRect">
            <a:avLst>
              <a:gd name="adj" fmla="val 8000"/>
            </a:avLst>
          </a:prstGeom>
          <a:solidFill>
            <a:srgbClr val="F0F0F0"/>
          </a:solidFill>
          <a:ln>
            <a:noFill/>
          </a:ln>
          <a:effectLst/>
        </p:spPr>
        <p:txBody>
          <a:bodyPr rtlCol="0" anchor="ctr"/>
          <a:lstStyle/>
          <a:p/>
        </p:txBody>
      </p:sp>
      <p:sp>
        <p:nvSpPr>
          <p:cNvPr id="38" name="Rectangle 37"/>
          <p:cNvSpPr/>
          <p:nvPr/>
        </p:nvSpPr>
        <p:spPr>
          <a:xfrm>
            <a:off x="3840480" y="3370359"/>
            <a:ext cx="118872" cy="2902424"/>
          </a:xfrm>
          <a:prstGeom prst="rect">
            <a:avLst/>
          </a:prstGeom>
          <a:solidFill>
            <a:srgbClr val="1F86BF"/>
          </a:solidFill>
          <a:ln>
            <a:noFill/>
          </a:ln>
          <a:effectLst/>
        </p:spPr>
        <p:txBody>
          <a:bodyPr rtlCol="0" anchor="ctr"/>
          <a:lstStyle/>
          <a:p/>
        </p:txBody>
      </p:sp>
      <p:sp>
        <p:nvSpPr>
          <p:cNvPr id="39" name="TextBox 38"/>
          <p:cNvSpPr txBox="1"/>
          <p:nvPr/>
        </p:nvSpPr>
        <p:spPr>
          <a:xfrm>
            <a:off x="4114800" y="3370359"/>
            <a:ext cx="7436815" cy="290242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Bu adımlar; afet oluşma riskinin yerel, bölgesel ve ülkesel bazda yeniden belirlenerek </a:t>
            </a:r>
            <a:r>
              <a:rPr lang="tr-TR" sz="2200" b="1" i="0">
                <a:solidFill>
                  <a:srgbClr val="262626"/>
                </a:solidFill>
                <a:latin typeface="Calibri"/>
              </a:rPr>
              <a:t>tehlike haritalarının hazırlanması</a:t>
            </a:r>
            <a:r>
              <a:rPr lang="tr-TR" sz="2200" b="0" i="0">
                <a:solidFill>
                  <a:srgbClr val="262626"/>
                </a:solidFill>
                <a:latin typeface="Calibri"/>
              </a:rPr>
              <a:t>, afet için uygulanacak </a:t>
            </a:r>
            <a:r>
              <a:rPr lang="tr-TR" sz="2200" b="1" i="0">
                <a:solidFill>
                  <a:srgbClr val="262626"/>
                </a:solidFill>
                <a:latin typeface="Calibri"/>
              </a:rPr>
              <a:t>yasal düzenlemelerin oluşturulması</a:t>
            </a:r>
            <a:r>
              <a:rPr lang="tr-TR" sz="2200" b="0" i="0">
                <a:solidFill>
                  <a:srgbClr val="262626"/>
                </a:solidFill>
                <a:latin typeface="Calibri"/>
              </a:rPr>
              <a:t>, </a:t>
            </a:r>
            <a:r>
              <a:rPr lang="tr-TR" sz="2200" b="1" i="0">
                <a:solidFill>
                  <a:srgbClr val="262626"/>
                </a:solidFill>
                <a:latin typeface="Calibri"/>
              </a:rPr>
              <a:t>yapılanma ve afetlere ilişkin yönetmeliklerin yeniden düzenlenmesini</a:t>
            </a:r>
            <a:r>
              <a:rPr lang="tr-TR" sz="2200" b="0" i="0">
                <a:solidFill>
                  <a:srgbClr val="262626"/>
                </a:solidFill>
                <a:latin typeface="Calibri"/>
              </a:rPr>
              <a:t> kapsar.</a:t>
            </a:r>
          </a:p>
        </p:txBody>
      </p: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130 / 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aşama: Hazırlıklı olma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AŞAMA</a:t>
            </a:r>
          </a:p>
        </p:txBody>
      </p:sp>
      <p:sp>
        <p:nvSpPr>
          <p:cNvPr id="6" name="Freeform 5"/>
          <p:cNvSpPr/>
          <p:nvPr/>
        </p:nvSpPr>
        <p:spPr>
          <a:xfrm>
            <a:off x="1097280" y="1783080"/>
            <a:ext cx="868680" cy="868680"/>
          </a:xfrm>
          <a:custGeom>
            <a:avLst/>
            <a:gdLst/>
            <a:ahLst/>
            <a:cxnLst/>
            <a:rect l="l" t="t" r="r" b="b"/>
            <a:pathLst>
              <a:path w="868680" h="868680">
                <a:moveTo>
                  <a:pt x="868680" y="0"/>
                </a:moveTo>
                <a:lnTo>
                  <a:pt x="838363" y="529"/>
                </a:lnTo>
                <a:lnTo>
                  <a:pt x="808083" y="2116"/>
                </a:lnTo>
                <a:lnTo>
                  <a:pt x="777878" y="4758"/>
                </a:lnTo>
                <a:lnTo>
                  <a:pt x="747783" y="8453"/>
                </a:lnTo>
                <a:lnTo>
                  <a:pt x="717835" y="13197"/>
                </a:lnTo>
                <a:lnTo>
                  <a:pt x="688071" y="18982"/>
                </a:lnTo>
                <a:lnTo>
                  <a:pt x="658527" y="25803"/>
                </a:lnTo>
                <a:lnTo>
                  <a:pt x="629239" y="33651"/>
                </a:lnTo>
                <a:lnTo>
                  <a:pt x="600243" y="42516"/>
                </a:lnTo>
                <a:lnTo>
                  <a:pt x="571573" y="52387"/>
                </a:lnTo>
                <a:lnTo>
                  <a:pt x="543266" y="63253"/>
                </a:lnTo>
                <a:lnTo>
                  <a:pt x="515356" y="75101"/>
                </a:lnTo>
                <a:lnTo>
                  <a:pt x="487875" y="87915"/>
                </a:lnTo>
                <a:lnTo>
                  <a:pt x="460859" y="101681"/>
                </a:lnTo>
                <a:lnTo>
                  <a:pt x="434340" y="116381"/>
                </a:lnTo>
                <a:lnTo>
                  <a:pt x="408349" y="131997"/>
                </a:lnTo>
                <a:lnTo>
                  <a:pt x="382920" y="148511"/>
                </a:lnTo>
                <a:lnTo>
                  <a:pt x="358082" y="165903"/>
                </a:lnTo>
                <a:lnTo>
                  <a:pt x="333867" y="184150"/>
                </a:lnTo>
                <a:lnTo>
                  <a:pt x="310303" y="203232"/>
                </a:lnTo>
                <a:lnTo>
                  <a:pt x="287419" y="223124"/>
                </a:lnTo>
                <a:lnTo>
                  <a:pt x="265244" y="243803"/>
                </a:lnTo>
                <a:lnTo>
                  <a:pt x="243803" y="265244"/>
                </a:lnTo>
                <a:lnTo>
                  <a:pt x="223124" y="287419"/>
                </a:lnTo>
                <a:lnTo>
                  <a:pt x="203232" y="310303"/>
                </a:lnTo>
                <a:lnTo>
                  <a:pt x="184150" y="333867"/>
                </a:lnTo>
                <a:lnTo>
                  <a:pt x="165903" y="358082"/>
                </a:lnTo>
                <a:lnTo>
                  <a:pt x="148511" y="382920"/>
                </a:lnTo>
                <a:lnTo>
                  <a:pt x="131997" y="408349"/>
                </a:lnTo>
                <a:lnTo>
                  <a:pt x="116381" y="434340"/>
                </a:lnTo>
                <a:lnTo>
                  <a:pt x="101681" y="460859"/>
                </a:lnTo>
                <a:lnTo>
                  <a:pt x="87915" y="487875"/>
                </a:lnTo>
                <a:lnTo>
                  <a:pt x="75101" y="515356"/>
                </a:lnTo>
                <a:lnTo>
                  <a:pt x="63253" y="543266"/>
                </a:lnTo>
                <a:lnTo>
                  <a:pt x="52387" y="571573"/>
                </a:lnTo>
                <a:lnTo>
                  <a:pt x="42516" y="600243"/>
                </a:lnTo>
                <a:lnTo>
                  <a:pt x="33651" y="629239"/>
                </a:lnTo>
                <a:lnTo>
                  <a:pt x="25803" y="658527"/>
                </a:lnTo>
                <a:lnTo>
                  <a:pt x="18982" y="688071"/>
                </a:lnTo>
                <a:lnTo>
                  <a:pt x="13197" y="717835"/>
                </a:lnTo>
                <a:lnTo>
                  <a:pt x="8453" y="747783"/>
                </a:lnTo>
                <a:lnTo>
                  <a:pt x="4758" y="777878"/>
                </a:lnTo>
                <a:lnTo>
                  <a:pt x="2116" y="808083"/>
                </a:lnTo>
                <a:lnTo>
                  <a:pt x="529" y="838363"/>
                </a:lnTo>
                <a:lnTo>
                  <a:pt x="0" y="868680"/>
                </a:lnTo>
                <a:lnTo>
                  <a:pt x="364845" y="868680"/>
                </a:lnTo>
                <a:lnTo>
                  <a:pt x="365152" y="851096"/>
                </a:lnTo>
                <a:lnTo>
                  <a:pt x="366072" y="833534"/>
                </a:lnTo>
                <a:lnTo>
                  <a:pt x="367605" y="816014"/>
                </a:lnTo>
                <a:lnTo>
                  <a:pt x="369748" y="798559"/>
                </a:lnTo>
                <a:lnTo>
                  <a:pt x="372499" y="781190"/>
                </a:lnTo>
                <a:lnTo>
                  <a:pt x="375855" y="763926"/>
                </a:lnTo>
                <a:lnTo>
                  <a:pt x="379811" y="746791"/>
                </a:lnTo>
                <a:lnTo>
                  <a:pt x="384363" y="729804"/>
                </a:lnTo>
                <a:lnTo>
                  <a:pt x="389505" y="712986"/>
                </a:lnTo>
                <a:lnTo>
                  <a:pt x="395230" y="696358"/>
                </a:lnTo>
                <a:lnTo>
                  <a:pt x="401532" y="679940"/>
                </a:lnTo>
                <a:lnTo>
                  <a:pt x="408404" y="663752"/>
                </a:lnTo>
                <a:lnTo>
                  <a:pt x="415836" y="647813"/>
                </a:lnTo>
                <a:lnTo>
                  <a:pt x="423820" y="632144"/>
                </a:lnTo>
                <a:lnTo>
                  <a:pt x="432346" y="616762"/>
                </a:lnTo>
                <a:lnTo>
                  <a:pt x="441404" y="601688"/>
                </a:lnTo>
                <a:lnTo>
                  <a:pt x="450982" y="586939"/>
                </a:lnTo>
                <a:lnTo>
                  <a:pt x="461069" y="572533"/>
                </a:lnTo>
                <a:lnTo>
                  <a:pt x="471653" y="558488"/>
                </a:lnTo>
                <a:lnTo>
                  <a:pt x="482720" y="544821"/>
                </a:lnTo>
                <a:lnTo>
                  <a:pt x="494258" y="531548"/>
                </a:lnTo>
                <a:lnTo>
                  <a:pt x="506251" y="518687"/>
                </a:lnTo>
                <a:lnTo>
                  <a:pt x="518687" y="506251"/>
                </a:lnTo>
                <a:lnTo>
                  <a:pt x="531548" y="494258"/>
                </a:lnTo>
                <a:lnTo>
                  <a:pt x="544821" y="482720"/>
                </a:lnTo>
                <a:lnTo>
                  <a:pt x="558488" y="471653"/>
                </a:lnTo>
                <a:lnTo>
                  <a:pt x="572533" y="461069"/>
                </a:lnTo>
                <a:lnTo>
                  <a:pt x="586939" y="450982"/>
                </a:lnTo>
                <a:lnTo>
                  <a:pt x="601688" y="441404"/>
                </a:lnTo>
                <a:lnTo>
                  <a:pt x="616762" y="432346"/>
                </a:lnTo>
                <a:lnTo>
                  <a:pt x="632144" y="423820"/>
                </a:lnTo>
                <a:lnTo>
                  <a:pt x="647813" y="415836"/>
                </a:lnTo>
                <a:lnTo>
                  <a:pt x="663752" y="408404"/>
                </a:lnTo>
                <a:lnTo>
                  <a:pt x="679940" y="401532"/>
                </a:lnTo>
                <a:lnTo>
                  <a:pt x="696358" y="395230"/>
                </a:lnTo>
                <a:lnTo>
                  <a:pt x="712986" y="389505"/>
                </a:lnTo>
                <a:lnTo>
                  <a:pt x="729804" y="384363"/>
                </a:lnTo>
                <a:lnTo>
                  <a:pt x="746791" y="379811"/>
                </a:lnTo>
                <a:lnTo>
                  <a:pt x="763926" y="375855"/>
                </a:lnTo>
                <a:lnTo>
                  <a:pt x="781190" y="372499"/>
                </a:lnTo>
                <a:lnTo>
                  <a:pt x="798559" y="369748"/>
                </a:lnTo>
                <a:lnTo>
                  <a:pt x="816014" y="367605"/>
                </a:lnTo>
                <a:lnTo>
                  <a:pt x="833534" y="366072"/>
                </a:lnTo>
                <a:lnTo>
                  <a:pt x="851096" y="365152"/>
                </a:lnTo>
                <a:lnTo>
                  <a:pt x="868680" y="364845"/>
                </a:lnTo>
                <a:close/>
              </a:path>
            </a:pathLst>
          </a:custGeom>
          <a:solidFill>
            <a:srgbClr val="D6D6D6"/>
          </a:solidFill>
          <a:ln>
            <a:noFill/>
          </a:ln>
        </p:spPr>
        <p:txBody>
          <a:bodyPr rtlCol="0" anchor="ctr"/>
          <a:lstStyle/>
          <a:p>
            <a:pPr algn="ctr"/>
          </a:p>
        </p:txBody>
      </p:sp>
      <p:sp>
        <p:nvSpPr>
          <p:cNvPr id="7" name="Freeform 6"/>
          <p:cNvSpPr/>
          <p:nvPr/>
        </p:nvSpPr>
        <p:spPr>
          <a:xfrm>
            <a:off x="1965960" y="1783080"/>
            <a:ext cx="868680" cy="868680"/>
          </a:xfrm>
          <a:custGeom>
            <a:avLst/>
            <a:gdLst/>
            <a:ahLst/>
            <a:cxnLst/>
            <a:rect l="l" t="t" r="r" b="b"/>
            <a:pathLst>
              <a:path w="868680" h="868680">
                <a:moveTo>
                  <a:pt x="868680" y="868680"/>
                </a:moveTo>
                <a:lnTo>
                  <a:pt x="868150" y="838363"/>
                </a:lnTo>
                <a:lnTo>
                  <a:pt x="866563" y="808083"/>
                </a:lnTo>
                <a:lnTo>
                  <a:pt x="863921" y="777878"/>
                </a:lnTo>
                <a:lnTo>
                  <a:pt x="860226" y="747783"/>
                </a:lnTo>
                <a:lnTo>
                  <a:pt x="855482" y="717835"/>
                </a:lnTo>
                <a:lnTo>
                  <a:pt x="849697" y="688071"/>
                </a:lnTo>
                <a:lnTo>
                  <a:pt x="842876" y="658527"/>
                </a:lnTo>
                <a:lnTo>
                  <a:pt x="835028" y="629239"/>
                </a:lnTo>
                <a:lnTo>
                  <a:pt x="826163" y="600243"/>
                </a:lnTo>
                <a:lnTo>
                  <a:pt x="816292" y="571573"/>
                </a:lnTo>
                <a:lnTo>
                  <a:pt x="805426" y="543266"/>
                </a:lnTo>
                <a:lnTo>
                  <a:pt x="793578" y="515356"/>
                </a:lnTo>
                <a:lnTo>
                  <a:pt x="780764" y="487875"/>
                </a:lnTo>
                <a:lnTo>
                  <a:pt x="766998" y="460859"/>
                </a:lnTo>
                <a:lnTo>
                  <a:pt x="752298" y="434340"/>
                </a:lnTo>
                <a:lnTo>
                  <a:pt x="736682" y="408349"/>
                </a:lnTo>
                <a:lnTo>
                  <a:pt x="720168" y="382920"/>
                </a:lnTo>
                <a:lnTo>
                  <a:pt x="702776" y="358082"/>
                </a:lnTo>
                <a:lnTo>
                  <a:pt x="684529" y="333867"/>
                </a:lnTo>
                <a:lnTo>
                  <a:pt x="665447" y="310303"/>
                </a:lnTo>
                <a:lnTo>
                  <a:pt x="645555" y="287419"/>
                </a:lnTo>
                <a:lnTo>
                  <a:pt x="624876" y="265244"/>
                </a:lnTo>
                <a:lnTo>
                  <a:pt x="603435" y="243803"/>
                </a:lnTo>
                <a:lnTo>
                  <a:pt x="581260" y="223124"/>
                </a:lnTo>
                <a:lnTo>
                  <a:pt x="558376" y="203232"/>
                </a:lnTo>
                <a:lnTo>
                  <a:pt x="534812" y="184150"/>
                </a:lnTo>
                <a:lnTo>
                  <a:pt x="510597" y="165903"/>
                </a:lnTo>
                <a:lnTo>
                  <a:pt x="485759" y="148511"/>
                </a:lnTo>
                <a:lnTo>
                  <a:pt x="460330" y="131997"/>
                </a:lnTo>
                <a:lnTo>
                  <a:pt x="434340" y="116381"/>
                </a:lnTo>
                <a:lnTo>
                  <a:pt x="407820" y="101681"/>
                </a:lnTo>
                <a:lnTo>
                  <a:pt x="380804" y="87915"/>
                </a:lnTo>
                <a:lnTo>
                  <a:pt x="353323" y="75101"/>
                </a:lnTo>
                <a:lnTo>
                  <a:pt x="325413" y="63253"/>
                </a:lnTo>
                <a:lnTo>
                  <a:pt x="297106" y="52387"/>
                </a:lnTo>
                <a:lnTo>
                  <a:pt x="268436" y="42516"/>
                </a:lnTo>
                <a:lnTo>
                  <a:pt x="239440" y="33651"/>
                </a:lnTo>
                <a:lnTo>
                  <a:pt x="210152" y="25803"/>
                </a:lnTo>
                <a:lnTo>
                  <a:pt x="180608" y="18982"/>
                </a:lnTo>
                <a:lnTo>
                  <a:pt x="150844" y="13197"/>
                </a:lnTo>
                <a:lnTo>
                  <a:pt x="120896" y="8453"/>
                </a:lnTo>
                <a:lnTo>
                  <a:pt x="90801" y="4758"/>
                </a:lnTo>
                <a:lnTo>
                  <a:pt x="60596" y="2116"/>
                </a:lnTo>
                <a:lnTo>
                  <a:pt x="30316" y="529"/>
                </a:lnTo>
                <a:lnTo>
                  <a:pt x="0" y="0"/>
                </a:lnTo>
                <a:lnTo>
                  <a:pt x="0" y="364845"/>
                </a:lnTo>
                <a:lnTo>
                  <a:pt x="17583" y="365152"/>
                </a:lnTo>
                <a:lnTo>
                  <a:pt x="35145" y="366072"/>
                </a:lnTo>
                <a:lnTo>
                  <a:pt x="52665" y="367605"/>
                </a:lnTo>
                <a:lnTo>
                  <a:pt x="70120" y="369748"/>
                </a:lnTo>
                <a:lnTo>
                  <a:pt x="87489" y="372499"/>
                </a:lnTo>
                <a:lnTo>
                  <a:pt x="104753" y="375855"/>
                </a:lnTo>
                <a:lnTo>
                  <a:pt x="121888" y="379811"/>
                </a:lnTo>
                <a:lnTo>
                  <a:pt x="138875" y="384363"/>
                </a:lnTo>
                <a:lnTo>
                  <a:pt x="155693" y="389505"/>
                </a:lnTo>
                <a:lnTo>
                  <a:pt x="172321" y="395230"/>
                </a:lnTo>
                <a:lnTo>
                  <a:pt x="188739" y="401532"/>
                </a:lnTo>
                <a:lnTo>
                  <a:pt x="204927" y="408404"/>
                </a:lnTo>
                <a:lnTo>
                  <a:pt x="220866" y="415836"/>
                </a:lnTo>
                <a:lnTo>
                  <a:pt x="236535" y="423820"/>
                </a:lnTo>
                <a:lnTo>
                  <a:pt x="251917" y="432346"/>
                </a:lnTo>
                <a:lnTo>
                  <a:pt x="266991" y="441404"/>
                </a:lnTo>
                <a:lnTo>
                  <a:pt x="281740" y="450982"/>
                </a:lnTo>
                <a:lnTo>
                  <a:pt x="296146" y="461069"/>
                </a:lnTo>
                <a:lnTo>
                  <a:pt x="310191" y="471653"/>
                </a:lnTo>
                <a:lnTo>
                  <a:pt x="323858" y="482720"/>
                </a:lnTo>
                <a:lnTo>
                  <a:pt x="337131" y="494258"/>
                </a:lnTo>
                <a:lnTo>
                  <a:pt x="349992" y="506251"/>
                </a:lnTo>
                <a:lnTo>
                  <a:pt x="362428" y="518687"/>
                </a:lnTo>
                <a:lnTo>
                  <a:pt x="374421" y="531548"/>
                </a:lnTo>
                <a:lnTo>
                  <a:pt x="385959" y="544821"/>
                </a:lnTo>
                <a:lnTo>
                  <a:pt x="397026" y="558488"/>
                </a:lnTo>
                <a:lnTo>
                  <a:pt x="407610" y="572533"/>
                </a:lnTo>
                <a:lnTo>
                  <a:pt x="417697" y="586939"/>
                </a:lnTo>
                <a:lnTo>
                  <a:pt x="427275" y="601688"/>
                </a:lnTo>
                <a:lnTo>
                  <a:pt x="436333" y="616762"/>
                </a:lnTo>
                <a:lnTo>
                  <a:pt x="444859" y="632144"/>
                </a:lnTo>
                <a:lnTo>
                  <a:pt x="452843" y="647813"/>
                </a:lnTo>
                <a:lnTo>
                  <a:pt x="460275" y="663752"/>
                </a:lnTo>
                <a:lnTo>
                  <a:pt x="467147" y="679940"/>
                </a:lnTo>
                <a:lnTo>
                  <a:pt x="473449" y="696358"/>
                </a:lnTo>
                <a:lnTo>
                  <a:pt x="479174" y="712986"/>
                </a:lnTo>
                <a:lnTo>
                  <a:pt x="484316" y="729804"/>
                </a:lnTo>
                <a:lnTo>
                  <a:pt x="488868" y="746791"/>
                </a:lnTo>
                <a:lnTo>
                  <a:pt x="492824" y="763926"/>
                </a:lnTo>
                <a:lnTo>
                  <a:pt x="496180" y="781190"/>
                </a:lnTo>
                <a:lnTo>
                  <a:pt x="498931" y="798559"/>
                </a:lnTo>
                <a:lnTo>
                  <a:pt x="501074" y="816014"/>
                </a:lnTo>
                <a:lnTo>
                  <a:pt x="502607" y="833534"/>
                </a:lnTo>
                <a:lnTo>
                  <a:pt x="503527" y="851096"/>
                </a:lnTo>
                <a:lnTo>
                  <a:pt x="503834" y="868680"/>
                </a:lnTo>
                <a:close/>
              </a:path>
            </a:pathLst>
          </a:custGeom>
          <a:solidFill>
            <a:srgbClr val="D97316"/>
          </a:solidFill>
          <a:ln>
            <a:noFill/>
          </a:ln>
        </p:spPr>
        <p:txBody>
          <a:bodyPr rtlCol="0" anchor="ctr"/>
          <a:lstStyle/>
          <a:p>
            <a:pPr algn="ctr"/>
          </a:p>
        </p:txBody>
      </p:sp>
      <p:sp>
        <p:nvSpPr>
          <p:cNvPr id="8" name="Freeform 7"/>
          <p:cNvSpPr/>
          <p:nvPr/>
        </p:nvSpPr>
        <p:spPr>
          <a:xfrm>
            <a:off x="1965960" y="2651760"/>
            <a:ext cx="868680" cy="868680"/>
          </a:xfrm>
          <a:custGeom>
            <a:avLst/>
            <a:gdLst/>
            <a:ahLst/>
            <a:cxnLst/>
            <a:rect l="l" t="t" r="r" b="b"/>
            <a:pathLst>
              <a:path w="868680" h="868680">
                <a:moveTo>
                  <a:pt x="0" y="868680"/>
                </a:moveTo>
                <a:lnTo>
                  <a:pt x="30316" y="868150"/>
                </a:lnTo>
                <a:lnTo>
                  <a:pt x="60596" y="866563"/>
                </a:lnTo>
                <a:lnTo>
                  <a:pt x="90801" y="863921"/>
                </a:lnTo>
                <a:lnTo>
                  <a:pt x="120896" y="860226"/>
                </a:lnTo>
                <a:lnTo>
                  <a:pt x="150844" y="855482"/>
                </a:lnTo>
                <a:lnTo>
                  <a:pt x="180608" y="849697"/>
                </a:lnTo>
                <a:lnTo>
                  <a:pt x="210152" y="842876"/>
                </a:lnTo>
                <a:lnTo>
                  <a:pt x="239440" y="835028"/>
                </a:lnTo>
                <a:lnTo>
                  <a:pt x="268436" y="826163"/>
                </a:lnTo>
                <a:lnTo>
                  <a:pt x="297106" y="816292"/>
                </a:lnTo>
                <a:lnTo>
                  <a:pt x="325413" y="805426"/>
                </a:lnTo>
                <a:lnTo>
                  <a:pt x="353323" y="793578"/>
                </a:lnTo>
                <a:lnTo>
                  <a:pt x="380804" y="780764"/>
                </a:lnTo>
                <a:lnTo>
                  <a:pt x="407820" y="766998"/>
                </a:lnTo>
                <a:lnTo>
                  <a:pt x="434340" y="752298"/>
                </a:lnTo>
                <a:lnTo>
                  <a:pt x="460330" y="736682"/>
                </a:lnTo>
                <a:lnTo>
                  <a:pt x="485759" y="720168"/>
                </a:lnTo>
                <a:lnTo>
                  <a:pt x="510597" y="702776"/>
                </a:lnTo>
                <a:lnTo>
                  <a:pt x="534812" y="684529"/>
                </a:lnTo>
                <a:lnTo>
                  <a:pt x="558376" y="665447"/>
                </a:lnTo>
                <a:lnTo>
                  <a:pt x="581260" y="645555"/>
                </a:lnTo>
                <a:lnTo>
                  <a:pt x="603435" y="624876"/>
                </a:lnTo>
                <a:lnTo>
                  <a:pt x="624876" y="603435"/>
                </a:lnTo>
                <a:lnTo>
                  <a:pt x="645555" y="581260"/>
                </a:lnTo>
                <a:lnTo>
                  <a:pt x="665447" y="558376"/>
                </a:lnTo>
                <a:lnTo>
                  <a:pt x="684529" y="534812"/>
                </a:lnTo>
                <a:lnTo>
                  <a:pt x="702776" y="510597"/>
                </a:lnTo>
                <a:lnTo>
                  <a:pt x="720168" y="485759"/>
                </a:lnTo>
                <a:lnTo>
                  <a:pt x="736682" y="460330"/>
                </a:lnTo>
                <a:lnTo>
                  <a:pt x="752298" y="434340"/>
                </a:lnTo>
                <a:lnTo>
                  <a:pt x="766998" y="407820"/>
                </a:lnTo>
                <a:lnTo>
                  <a:pt x="780764" y="380804"/>
                </a:lnTo>
                <a:lnTo>
                  <a:pt x="793578" y="353323"/>
                </a:lnTo>
                <a:lnTo>
                  <a:pt x="805426" y="325413"/>
                </a:lnTo>
                <a:lnTo>
                  <a:pt x="816292" y="297106"/>
                </a:lnTo>
                <a:lnTo>
                  <a:pt x="826163" y="268436"/>
                </a:lnTo>
                <a:lnTo>
                  <a:pt x="835028" y="239440"/>
                </a:lnTo>
                <a:lnTo>
                  <a:pt x="842876" y="210152"/>
                </a:lnTo>
                <a:lnTo>
                  <a:pt x="849697" y="180608"/>
                </a:lnTo>
                <a:lnTo>
                  <a:pt x="855482" y="150844"/>
                </a:lnTo>
                <a:lnTo>
                  <a:pt x="860226" y="120896"/>
                </a:lnTo>
                <a:lnTo>
                  <a:pt x="863921" y="90801"/>
                </a:lnTo>
                <a:lnTo>
                  <a:pt x="866563" y="60596"/>
                </a:lnTo>
                <a:lnTo>
                  <a:pt x="868150" y="30316"/>
                </a:lnTo>
                <a:lnTo>
                  <a:pt x="868680" y="0"/>
                </a:lnTo>
                <a:lnTo>
                  <a:pt x="503834" y="0"/>
                </a:lnTo>
                <a:lnTo>
                  <a:pt x="503527" y="17583"/>
                </a:lnTo>
                <a:lnTo>
                  <a:pt x="502607" y="35145"/>
                </a:lnTo>
                <a:lnTo>
                  <a:pt x="501074" y="52665"/>
                </a:lnTo>
                <a:lnTo>
                  <a:pt x="498931" y="70120"/>
                </a:lnTo>
                <a:lnTo>
                  <a:pt x="496180" y="87489"/>
                </a:lnTo>
                <a:lnTo>
                  <a:pt x="492824" y="104753"/>
                </a:lnTo>
                <a:lnTo>
                  <a:pt x="488868" y="121888"/>
                </a:lnTo>
                <a:lnTo>
                  <a:pt x="484316" y="138875"/>
                </a:lnTo>
                <a:lnTo>
                  <a:pt x="479174" y="155693"/>
                </a:lnTo>
                <a:lnTo>
                  <a:pt x="473449" y="172321"/>
                </a:lnTo>
                <a:lnTo>
                  <a:pt x="467147" y="188739"/>
                </a:lnTo>
                <a:lnTo>
                  <a:pt x="460275" y="204927"/>
                </a:lnTo>
                <a:lnTo>
                  <a:pt x="452843" y="220866"/>
                </a:lnTo>
                <a:lnTo>
                  <a:pt x="444859" y="236535"/>
                </a:lnTo>
                <a:lnTo>
                  <a:pt x="436333" y="251917"/>
                </a:lnTo>
                <a:lnTo>
                  <a:pt x="427275" y="266991"/>
                </a:lnTo>
                <a:lnTo>
                  <a:pt x="417697" y="281740"/>
                </a:lnTo>
                <a:lnTo>
                  <a:pt x="407610" y="296146"/>
                </a:lnTo>
                <a:lnTo>
                  <a:pt x="397026" y="310191"/>
                </a:lnTo>
                <a:lnTo>
                  <a:pt x="385959" y="323858"/>
                </a:lnTo>
                <a:lnTo>
                  <a:pt x="374421" y="337131"/>
                </a:lnTo>
                <a:lnTo>
                  <a:pt x="362428" y="349992"/>
                </a:lnTo>
                <a:lnTo>
                  <a:pt x="349992" y="362428"/>
                </a:lnTo>
                <a:lnTo>
                  <a:pt x="337131" y="374421"/>
                </a:lnTo>
                <a:lnTo>
                  <a:pt x="323858" y="385959"/>
                </a:lnTo>
                <a:lnTo>
                  <a:pt x="310191" y="397026"/>
                </a:lnTo>
                <a:lnTo>
                  <a:pt x="296146" y="407610"/>
                </a:lnTo>
                <a:lnTo>
                  <a:pt x="281740" y="417697"/>
                </a:lnTo>
                <a:lnTo>
                  <a:pt x="266991" y="427275"/>
                </a:lnTo>
                <a:lnTo>
                  <a:pt x="251917" y="436333"/>
                </a:lnTo>
                <a:lnTo>
                  <a:pt x="236535" y="444859"/>
                </a:lnTo>
                <a:lnTo>
                  <a:pt x="220866" y="452843"/>
                </a:lnTo>
                <a:lnTo>
                  <a:pt x="204927" y="460275"/>
                </a:lnTo>
                <a:lnTo>
                  <a:pt x="188739" y="467147"/>
                </a:lnTo>
                <a:lnTo>
                  <a:pt x="172321" y="473449"/>
                </a:lnTo>
                <a:lnTo>
                  <a:pt x="155693" y="479174"/>
                </a:lnTo>
                <a:lnTo>
                  <a:pt x="138875" y="484316"/>
                </a:lnTo>
                <a:lnTo>
                  <a:pt x="121888" y="488868"/>
                </a:lnTo>
                <a:lnTo>
                  <a:pt x="104753" y="492824"/>
                </a:lnTo>
                <a:lnTo>
                  <a:pt x="87489" y="496180"/>
                </a:lnTo>
                <a:lnTo>
                  <a:pt x="70120" y="498931"/>
                </a:lnTo>
                <a:lnTo>
                  <a:pt x="52665" y="501074"/>
                </a:lnTo>
                <a:lnTo>
                  <a:pt x="35145" y="502607"/>
                </a:lnTo>
                <a:lnTo>
                  <a:pt x="17583" y="503527"/>
                </a:lnTo>
                <a:lnTo>
                  <a:pt x="0" y="503834"/>
                </a:lnTo>
                <a:close/>
              </a:path>
            </a:pathLst>
          </a:custGeom>
          <a:solidFill>
            <a:srgbClr val="D6D6D6"/>
          </a:solidFill>
          <a:ln>
            <a:noFill/>
          </a:ln>
        </p:spPr>
        <p:txBody>
          <a:bodyPr rtlCol="0" anchor="ctr"/>
          <a:lstStyle/>
          <a:p>
            <a:pPr algn="ctr"/>
          </a:p>
        </p:txBody>
      </p:sp>
      <p:sp>
        <p:nvSpPr>
          <p:cNvPr id="9" name="Freeform 8"/>
          <p:cNvSpPr/>
          <p:nvPr/>
        </p:nvSpPr>
        <p:spPr>
          <a:xfrm>
            <a:off x="1097280" y="2651760"/>
            <a:ext cx="868680" cy="868680"/>
          </a:xfrm>
          <a:custGeom>
            <a:avLst/>
            <a:gdLst/>
            <a:ahLst/>
            <a:cxnLst/>
            <a:rect l="l" t="t" r="r" b="b"/>
            <a:pathLst>
              <a:path w="868680" h="868680">
                <a:moveTo>
                  <a:pt x="0" y="0"/>
                </a:moveTo>
                <a:lnTo>
                  <a:pt x="529" y="30316"/>
                </a:lnTo>
                <a:lnTo>
                  <a:pt x="2116" y="60596"/>
                </a:lnTo>
                <a:lnTo>
                  <a:pt x="4758" y="90801"/>
                </a:lnTo>
                <a:lnTo>
                  <a:pt x="8453" y="120896"/>
                </a:lnTo>
                <a:lnTo>
                  <a:pt x="13197" y="150844"/>
                </a:lnTo>
                <a:lnTo>
                  <a:pt x="18982" y="180608"/>
                </a:lnTo>
                <a:lnTo>
                  <a:pt x="25803" y="210152"/>
                </a:lnTo>
                <a:lnTo>
                  <a:pt x="33651" y="239440"/>
                </a:lnTo>
                <a:lnTo>
                  <a:pt x="42516" y="268436"/>
                </a:lnTo>
                <a:lnTo>
                  <a:pt x="52387" y="297106"/>
                </a:lnTo>
                <a:lnTo>
                  <a:pt x="63253" y="325413"/>
                </a:lnTo>
                <a:lnTo>
                  <a:pt x="75101" y="353323"/>
                </a:lnTo>
                <a:lnTo>
                  <a:pt x="87915" y="380804"/>
                </a:lnTo>
                <a:lnTo>
                  <a:pt x="101681" y="407820"/>
                </a:lnTo>
                <a:lnTo>
                  <a:pt x="116381" y="434340"/>
                </a:lnTo>
                <a:lnTo>
                  <a:pt x="131997" y="460330"/>
                </a:lnTo>
                <a:lnTo>
                  <a:pt x="148511" y="485759"/>
                </a:lnTo>
                <a:lnTo>
                  <a:pt x="165903" y="510597"/>
                </a:lnTo>
                <a:lnTo>
                  <a:pt x="184150" y="534812"/>
                </a:lnTo>
                <a:lnTo>
                  <a:pt x="203232" y="558376"/>
                </a:lnTo>
                <a:lnTo>
                  <a:pt x="223124" y="581260"/>
                </a:lnTo>
                <a:lnTo>
                  <a:pt x="243803" y="603435"/>
                </a:lnTo>
                <a:lnTo>
                  <a:pt x="265244" y="624876"/>
                </a:lnTo>
                <a:lnTo>
                  <a:pt x="287419" y="645555"/>
                </a:lnTo>
                <a:lnTo>
                  <a:pt x="310303" y="665447"/>
                </a:lnTo>
                <a:lnTo>
                  <a:pt x="333867" y="684529"/>
                </a:lnTo>
                <a:lnTo>
                  <a:pt x="358082" y="702776"/>
                </a:lnTo>
                <a:lnTo>
                  <a:pt x="382920" y="720168"/>
                </a:lnTo>
                <a:lnTo>
                  <a:pt x="408349" y="736682"/>
                </a:lnTo>
                <a:lnTo>
                  <a:pt x="434340" y="752298"/>
                </a:lnTo>
                <a:lnTo>
                  <a:pt x="460859" y="766998"/>
                </a:lnTo>
                <a:lnTo>
                  <a:pt x="487875" y="780764"/>
                </a:lnTo>
                <a:lnTo>
                  <a:pt x="515356" y="793578"/>
                </a:lnTo>
                <a:lnTo>
                  <a:pt x="543266" y="805426"/>
                </a:lnTo>
                <a:lnTo>
                  <a:pt x="571573" y="816292"/>
                </a:lnTo>
                <a:lnTo>
                  <a:pt x="600243" y="826163"/>
                </a:lnTo>
                <a:lnTo>
                  <a:pt x="629239" y="835028"/>
                </a:lnTo>
                <a:lnTo>
                  <a:pt x="658527" y="842876"/>
                </a:lnTo>
                <a:lnTo>
                  <a:pt x="688071" y="849697"/>
                </a:lnTo>
                <a:lnTo>
                  <a:pt x="717835" y="855482"/>
                </a:lnTo>
                <a:lnTo>
                  <a:pt x="747783" y="860226"/>
                </a:lnTo>
                <a:lnTo>
                  <a:pt x="777878" y="863921"/>
                </a:lnTo>
                <a:lnTo>
                  <a:pt x="808083" y="866563"/>
                </a:lnTo>
                <a:lnTo>
                  <a:pt x="838363" y="868150"/>
                </a:lnTo>
                <a:lnTo>
                  <a:pt x="868680" y="868680"/>
                </a:lnTo>
                <a:lnTo>
                  <a:pt x="868680" y="503834"/>
                </a:lnTo>
                <a:lnTo>
                  <a:pt x="851096" y="503527"/>
                </a:lnTo>
                <a:lnTo>
                  <a:pt x="833534" y="502607"/>
                </a:lnTo>
                <a:lnTo>
                  <a:pt x="816014" y="501074"/>
                </a:lnTo>
                <a:lnTo>
                  <a:pt x="798559" y="498931"/>
                </a:lnTo>
                <a:lnTo>
                  <a:pt x="781190" y="496180"/>
                </a:lnTo>
                <a:lnTo>
                  <a:pt x="763926" y="492824"/>
                </a:lnTo>
                <a:lnTo>
                  <a:pt x="746791" y="488868"/>
                </a:lnTo>
                <a:lnTo>
                  <a:pt x="729804" y="484316"/>
                </a:lnTo>
                <a:lnTo>
                  <a:pt x="712986" y="479174"/>
                </a:lnTo>
                <a:lnTo>
                  <a:pt x="696358" y="473449"/>
                </a:lnTo>
                <a:lnTo>
                  <a:pt x="679940" y="467147"/>
                </a:lnTo>
                <a:lnTo>
                  <a:pt x="663752" y="460275"/>
                </a:lnTo>
                <a:lnTo>
                  <a:pt x="647813" y="452843"/>
                </a:lnTo>
                <a:lnTo>
                  <a:pt x="632144" y="444859"/>
                </a:lnTo>
                <a:lnTo>
                  <a:pt x="616762" y="436333"/>
                </a:lnTo>
                <a:lnTo>
                  <a:pt x="601688" y="427275"/>
                </a:lnTo>
                <a:lnTo>
                  <a:pt x="586939" y="417697"/>
                </a:lnTo>
                <a:lnTo>
                  <a:pt x="572533" y="407610"/>
                </a:lnTo>
                <a:lnTo>
                  <a:pt x="558488" y="397026"/>
                </a:lnTo>
                <a:lnTo>
                  <a:pt x="544821" y="385959"/>
                </a:lnTo>
                <a:lnTo>
                  <a:pt x="531548" y="374421"/>
                </a:lnTo>
                <a:lnTo>
                  <a:pt x="518687" y="362428"/>
                </a:lnTo>
                <a:lnTo>
                  <a:pt x="506251" y="349992"/>
                </a:lnTo>
                <a:lnTo>
                  <a:pt x="494258" y="337131"/>
                </a:lnTo>
                <a:lnTo>
                  <a:pt x="482720" y="323858"/>
                </a:lnTo>
                <a:lnTo>
                  <a:pt x="471653" y="310191"/>
                </a:lnTo>
                <a:lnTo>
                  <a:pt x="461069" y="296146"/>
                </a:lnTo>
                <a:lnTo>
                  <a:pt x="450982" y="281740"/>
                </a:lnTo>
                <a:lnTo>
                  <a:pt x="441404" y="266991"/>
                </a:lnTo>
                <a:lnTo>
                  <a:pt x="432346" y="251917"/>
                </a:lnTo>
                <a:lnTo>
                  <a:pt x="423820" y="236535"/>
                </a:lnTo>
                <a:lnTo>
                  <a:pt x="415836" y="220866"/>
                </a:lnTo>
                <a:lnTo>
                  <a:pt x="408404" y="204927"/>
                </a:lnTo>
                <a:lnTo>
                  <a:pt x="401532" y="188739"/>
                </a:lnTo>
                <a:lnTo>
                  <a:pt x="395230" y="172321"/>
                </a:lnTo>
                <a:lnTo>
                  <a:pt x="389505" y="155693"/>
                </a:lnTo>
                <a:lnTo>
                  <a:pt x="384363" y="138875"/>
                </a:lnTo>
                <a:lnTo>
                  <a:pt x="379811" y="121888"/>
                </a:lnTo>
                <a:lnTo>
                  <a:pt x="375855" y="104753"/>
                </a:lnTo>
                <a:lnTo>
                  <a:pt x="372499" y="87489"/>
                </a:lnTo>
                <a:lnTo>
                  <a:pt x="369748" y="70120"/>
                </a:lnTo>
                <a:lnTo>
                  <a:pt x="367605" y="52665"/>
                </a:lnTo>
                <a:lnTo>
                  <a:pt x="366072" y="35145"/>
                </a:lnTo>
                <a:lnTo>
                  <a:pt x="365152" y="17583"/>
                </a:lnTo>
                <a:lnTo>
                  <a:pt x="364845" y="0"/>
                </a:lnTo>
                <a:close/>
              </a:path>
            </a:pathLst>
          </a:custGeom>
          <a:solidFill>
            <a:srgbClr val="D6D6D6"/>
          </a:solidFill>
          <a:ln>
            <a:noFill/>
          </a:ln>
        </p:spPr>
        <p:txBody>
          <a:bodyPr rtlCol="0" anchor="ctr"/>
          <a:lstStyle/>
          <a:p>
            <a:pPr algn="ctr"/>
          </a:p>
        </p:txBody>
      </p:sp>
      <p:cxnSp>
        <p:nvCxnSpPr>
          <p:cNvPr id="10" name="Connector 9"/>
          <p:cNvCxnSpPr/>
          <p:nvPr/>
        </p:nvCxnSpPr>
        <p:spPr>
          <a:xfrm flipH="1">
            <a:off x="1097280" y="2651760"/>
            <a:ext cx="364845" cy="0"/>
          </a:xfrm>
          <a:prstGeom prst="line">
            <a:avLst/>
          </a:prstGeom>
          <a:ln w="25400">
            <a:solidFill>
              <a:srgbClr val="FFFFFF"/>
            </a:solidFill>
          </a:ln>
        </p:spPr>
      </p:cxnSp>
      <p:cxnSp>
        <p:nvCxnSpPr>
          <p:cNvPr id="11" name="Connector 10"/>
          <p:cNvCxnSpPr/>
          <p:nvPr/>
        </p:nvCxnSpPr>
        <p:spPr>
          <a:xfrm flipV="1">
            <a:off x="1965960" y="1783080"/>
            <a:ext cx="0" cy="364845"/>
          </a:xfrm>
          <a:prstGeom prst="line">
            <a:avLst/>
          </a:prstGeom>
          <a:ln w="25400">
            <a:solidFill>
              <a:srgbClr val="FFFFFF"/>
            </a:solidFill>
          </a:ln>
        </p:spPr>
      </p:cxnSp>
      <p:cxnSp>
        <p:nvCxnSpPr>
          <p:cNvPr id="12" name="Connector 11"/>
          <p:cNvCxnSpPr/>
          <p:nvPr/>
        </p:nvCxnSpPr>
        <p:spPr>
          <a:xfrm>
            <a:off x="2469794" y="2651760"/>
            <a:ext cx="364846" cy="0"/>
          </a:xfrm>
          <a:prstGeom prst="line">
            <a:avLst/>
          </a:prstGeom>
          <a:ln w="25400">
            <a:solidFill>
              <a:srgbClr val="FFFFFF"/>
            </a:solidFill>
          </a:ln>
        </p:spPr>
      </p:cxnSp>
      <p:cxnSp>
        <p:nvCxnSpPr>
          <p:cNvPr id="13" name="Connector 12"/>
          <p:cNvCxnSpPr/>
          <p:nvPr/>
        </p:nvCxnSpPr>
        <p:spPr>
          <a:xfrm>
            <a:off x="1965960" y="3155594"/>
            <a:ext cx="0" cy="364846"/>
          </a:xfrm>
          <a:prstGeom prst="line">
            <a:avLst/>
          </a:prstGeom>
          <a:ln w="25400">
            <a:solidFill>
              <a:srgbClr val="FFFFFF"/>
            </a:solidFill>
          </a:ln>
        </p:spPr>
      </p:cxnSp>
      <p:sp>
        <p:nvSpPr>
          <p:cNvPr id="14" name="Oval 13"/>
          <p:cNvSpPr/>
          <p:nvPr/>
        </p:nvSpPr>
        <p:spPr>
          <a:xfrm>
            <a:off x="1531620" y="2217420"/>
            <a:ext cx="868680" cy="868680"/>
          </a:xfrm>
          <a:prstGeom prst="ellipse">
            <a:avLst/>
          </a:prstGeom>
          <a:solidFill>
            <a:srgbClr val="FFFFFF"/>
          </a:solidFill>
          <a:ln w="19050">
            <a:solidFill>
              <a:srgbClr val="D9D9D9"/>
            </a:solidFill>
          </a:ln>
          <a:effectLst/>
        </p:spPr>
        <p:txBody>
          <a:bodyPr rtlCol="0" anchor="ctr"/>
          <a:lstStyle/>
          <a:p/>
        </p:txBody>
      </p:sp>
      <p:sp>
        <p:nvSpPr>
          <p:cNvPr id="15" name="Freeform 14"/>
          <p:cNvSpPr/>
          <p:nvPr/>
        </p:nvSpPr>
        <p:spPr>
          <a:xfrm>
            <a:off x="862736" y="1576457"/>
            <a:ext cx="856593" cy="1075303"/>
          </a:xfrm>
          <a:custGeom>
            <a:avLst/>
            <a:gdLst/>
            <a:ahLst/>
            <a:cxnLst/>
            <a:rect l="l" t="t" r="r" b="b"/>
            <a:pathLst>
              <a:path w="856593" h="1075303">
                <a:moveTo>
                  <a:pt x="234544" y="1075303"/>
                </a:moveTo>
                <a:lnTo>
                  <a:pt x="0" y="1075303"/>
                </a:lnTo>
                <a:lnTo>
                  <a:pt x="624" y="1038204"/>
                </a:lnTo>
                <a:lnTo>
                  <a:pt x="2495" y="1001148"/>
                </a:lnTo>
                <a:lnTo>
                  <a:pt x="5611" y="964176"/>
                </a:lnTo>
                <a:lnTo>
                  <a:pt x="9969" y="927329"/>
                </a:lnTo>
                <a:lnTo>
                  <a:pt x="15563" y="890650"/>
                </a:lnTo>
                <a:lnTo>
                  <a:pt x="22387" y="854179"/>
                </a:lnTo>
                <a:lnTo>
                  <a:pt x="30434" y="817959"/>
                </a:lnTo>
                <a:lnTo>
                  <a:pt x="39695" y="782030"/>
                </a:lnTo>
                <a:lnTo>
                  <a:pt x="50158" y="746432"/>
                </a:lnTo>
                <a:lnTo>
                  <a:pt x="61813" y="711207"/>
                </a:lnTo>
                <a:lnTo>
                  <a:pt x="74645" y="676393"/>
                </a:lnTo>
                <a:lnTo>
                  <a:pt x="88641" y="642031"/>
                </a:lnTo>
                <a:lnTo>
                  <a:pt x="103784" y="608158"/>
                </a:lnTo>
                <a:lnTo>
                  <a:pt x="120058" y="574814"/>
                </a:lnTo>
                <a:lnTo>
                  <a:pt x="137444" y="542036"/>
                </a:lnTo>
                <a:lnTo>
                  <a:pt x="155923" y="509861"/>
                </a:lnTo>
                <a:lnTo>
                  <a:pt x="175473" y="478326"/>
                </a:lnTo>
                <a:lnTo>
                  <a:pt x="196072" y="447466"/>
                </a:lnTo>
                <a:lnTo>
                  <a:pt x="217697" y="417317"/>
                </a:lnTo>
                <a:lnTo>
                  <a:pt x="240324" y="387911"/>
                </a:lnTo>
                <a:lnTo>
                  <a:pt x="263927" y="359283"/>
                </a:lnTo>
                <a:lnTo>
                  <a:pt x="288480" y="331465"/>
                </a:lnTo>
                <a:lnTo>
                  <a:pt x="313953" y="304488"/>
                </a:lnTo>
                <a:lnTo>
                  <a:pt x="340320" y="278383"/>
                </a:lnTo>
                <a:lnTo>
                  <a:pt x="367550" y="253180"/>
                </a:lnTo>
                <a:lnTo>
                  <a:pt x="395611" y="228906"/>
                </a:lnTo>
                <a:lnTo>
                  <a:pt x="424473" y="205590"/>
                </a:lnTo>
                <a:lnTo>
                  <a:pt x="454103" y="183257"/>
                </a:lnTo>
                <a:lnTo>
                  <a:pt x="484467" y="161934"/>
                </a:lnTo>
                <a:lnTo>
                  <a:pt x="515531" y="141643"/>
                </a:lnTo>
                <a:lnTo>
                  <a:pt x="547259" y="122409"/>
                </a:lnTo>
                <a:lnTo>
                  <a:pt x="579617" y="104252"/>
                </a:lnTo>
                <a:lnTo>
                  <a:pt x="612567" y="87194"/>
                </a:lnTo>
                <a:lnTo>
                  <a:pt x="646071" y="71254"/>
                </a:lnTo>
                <a:lnTo>
                  <a:pt x="680093" y="56449"/>
                </a:lnTo>
                <a:lnTo>
                  <a:pt x="714594" y="42796"/>
                </a:lnTo>
                <a:lnTo>
                  <a:pt x="749533" y="30312"/>
                </a:lnTo>
                <a:lnTo>
                  <a:pt x="784874" y="19009"/>
                </a:lnTo>
                <a:lnTo>
                  <a:pt x="820574" y="8901"/>
                </a:lnTo>
                <a:lnTo>
                  <a:pt x="856593" y="0"/>
                </a:lnTo>
              </a:path>
            </a:pathLst>
          </a:custGeom>
          <a:noFill/>
          <a:ln w="28575">
            <a:solidFill>
              <a:srgbClr val="D6D6D6"/>
            </a:solidFill>
          </a:ln>
        </p:spPr>
        <p:txBody>
          <a:bodyPr rtlCol="0" anchor="ctr"/>
          <a:lstStyle/>
          <a:p>
            <a:pPr algn="ctr"/>
          </a:p>
        </p:txBody>
      </p:sp>
      <p:sp>
        <p:nvSpPr>
          <p:cNvPr id="16" name="Freeform 15"/>
          <p:cNvSpPr/>
          <p:nvPr/>
        </p:nvSpPr>
        <p:spPr>
          <a:xfrm>
            <a:off x="1704611" y="1512286"/>
            <a:ext cx="148407" cy="128341"/>
          </a:xfrm>
          <a:custGeom>
            <a:avLst/>
            <a:gdLst/>
            <a:ahLst/>
            <a:cxnLst/>
            <a:rect l="l" t="t" r="r" b="b"/>
            <a:pathLst>
              <a:path w="148407" h="128341">
                <a:moveTo>
                  <a:pt x="148407" y="33508"/>
                </a:moveTo>
                <a:lnTo>
                  <a:pt x="29437" y="128341"/>
                </a:lnTo>
                <a:lnTo>
                  <a:pt x="0" y="0"/>
                </a:lnTo>
                <a:close/>
              </a:path>
            </a:pathLst>
          </a:custGeom>
          <a:solidFill>
            <a:srgbClr val="D6D6D6"/>
          </a:solidFill>
          <a:ln>
            <a:noFill/>
          </a:ln>
        </p:spPr>
        <p:txBody>
          <a:bodyPr rtlCol="0" anchor="ctr"/>
          <a:lstStyle/>
          <a:p>
            <a:pPr algn="ctr"/>
          </a:p>
        </p:txBody>
      </p:sp>
      <p:sp>
        <p:nvSpPr>
          <p:cNvPr id="17" name="Freeform 16"/>
          <p:cNvSpPr/>
          <p:nvPr/>
        </p:nvSpPr>
        <p:spPr>
          <a:xfrm>
            <a:off x="1965960" y="1548536"/>
            <a:ext cx="1075302" cy="856593"/>
          </a:xfrm>
          <a:custGeom>
            <a:avLst/>
            <a:gdLst/>
            <a:ahLst/>
            <a:cxnLst/>
            <a:rect l="l" t="t" r="r" b="b"/>
            <a:pathLst>
              <a:path w="1075302" h="856593">
                <a:moveTo>
                  <a:pt x="0" y="234544"/>
                </a:moveTo>
                <a:lnTo>
                  <a:pt x="0" y="0"/>
                </a:lnTo>
                <a:lnTo>
                  <a:pt x="37098" y="624"/>
                </a:lnTo>
                <a:lnTo>
                  <a:pt x="74154" y="2495"/>
                </a:lnTo>
                <a:lnTo>
                  <a:pt x="111126" y="5611"/>
                </a:lnTo>
                <a:lnTo>
                  <a:pt x="147973" y="9969"/>
                </a:lnTo>
                <a:lnTo>
                  <a:pt x="184652" y="15563"/>
                </a:lnTo>
                <a:lnTo>
                  <a:pt x="221123" y="22387"/>
                </a:lnTo>
                <a:lnTo>
                  <a:pt x="257343" y="30434"/>
                </a:lnTo>
                <a:lnTo>
                  <a:pt x="293272" y="39695"/>
                </a:lnTo>
                <a:lnTo>
                  <a:pt x="328870" y="50158"/>
                </a:lnTo>
                <a:lnTo>
                  <a:pt x="364095" y="61813"/>
                </a:lnTo>
                <a:lnTo>
                  <a:pt x="398909" y="74645"/>
                </a:lnTo>
                <a:lnTo>
                  <a:pt x="433271" y="88641"/>
                </a:lnTo>
                <a:lnTo>
                  <a:pt x="467144" y="103784"/>
                </a:lnTo>
                <a:lnTo>
                  <a:pt x="500488" y="120058"/>
                </a:lnTo>
                <a:lnTo>
                  <a:pt x="533266" y="137444"/>
                </a:lnTo>
                <a:lnTo>
                  <a:pt x="565441" y="155923"/>
                </a:lnTo>
                <a:lnTo>
                  <a:pt x="596976" y="175473"/>
                </a:lnTo>
                <a:lnTo>
                  <a:pt x="627836" y="196072"/>
                </a:lnTo>
                <a:lnTo>
                  <a:pt x="657985" y="217697"/>
                </a:lnTo>
                <a:lnTo>
                  <a:pt x="687391" y="240324"/>
                </a:lnTo>
                <a:lnTo>
                  <a:pt x="716019" y="263927"/>
                </a:lnTo>
                <a:lnTo>
                  <a:pt x="743837" y="288480"/>
                </a:lnTo>
                <a:lnTo>
                  <a:pt x="770814" y="313953"/>
                </a:lnTo>
                <a:lnTo>
                  <a:pt x="796919" y="340320"/>
                </a:lnTo>
                <a:lnTo>
                  <a:pt x="822122" y="367550"/>
                </a:lnTo>
                <a:lnTo>
                  <a:pt x="846396" y="395611"/>
                </a:lnTo>
                <a:lnTo>
                  <a:pt x="869712" y="424473"/>
                </a:lnTo>
                <a:lnTo>
                  <a:pt x="892045" y="454103"/>
                </a:lnTo>
                <a:lnTo>
                  <a:pt x="913368" y="484467"/>
                </a:lnTo>
                <a:lnTo>
                  <a:pt x="933659" y="515531"/>
                </a:lnTo>
                <a:lnTo>
                  <a:pt x="952893" y="547259"/>
                </a:lnTo>
                <a:lnTo>
                  <a:pt x="971050" y="579617"/>
                </a:lnTo>
                <a:lnTo>
                  <a:pt x="988108" y="612567"/>
                </a:lnTo>
                <a:lnTo>
                  <a:pt x="1004048" y="646071"/>
                </a:lnTo>
                <a:lnTo>
                  <a:pt x="1018853" y="680093"/>
                </a:lnTo>
                <a:lnTo>
                  <a:pt x="1032506" y="714594"/>
                </a:lnTo>
                <a:lnTo>
                  <a:pt x="1044990" y="749533"/>
                </a:lnTo>
                <a:lnTo>
                  <a:pt x="1056293" y="784874"/>
                </a:lnTo>
                <a:lnTo>
                  <a:pt x="1066401" y="820574"/>
                </a:lnTo>
                <a:lnTo>
                  <a:pt x="1075302" y="856593"/>
                </a:lnTo>
              </a:path>
            </a:pathLst>
          </a:custGeom>
          <a:noFill/>
          <a:ln w="28575">
            <a:solidFill>
              <a:srgbClr val="D97316"/>
            </a:solidFill>
          </a:ln>
        </p:spPr>
        <p:txBody>
          <a:bodyPr rtlCol="0" anchor="ctr"/>
          <a:lstStyle/>
          <a:p>
            <a:pPr algn="ctr"/>
          </a:p>
        </p:txBody>
      </p:sp>
      <p:sp>
        <p:nvSpPr>
          <p:cNvPr id="18" name="Freeform 17"/>
          <p:cNvSpPr/>
          <p:nvPr/>
        </p:nvSpPr>
        <p:spPr>
          <a:xfrm>
            <a:off x="2977092" y="2390411"/>
            <a:ext cx="128341" cy="148407"/>
          </a:xfrm>
          <a:custGeom>
            <a:avLst/>
            <a:gdLst/>
            <a:ahLst/>
            <a:cxnLst/>
            <a:rect l="l" t="t" r="r" b="b"/>
            <a:pathLst>
              <a:path w="128341" h="148407">
                <a:moveTo>
                  <a:pt x="94833" y="148407"/>
                </a:moveTo>
                <a:lnTo>
                  <a:pt x="0" y="29437"/>
                </a:lnTo>
                <a:lnTo>
                  <a:pt x="128341" y="0"/>
                </a:lnTo>
                <a:close/>
              </a:path>
            </a:pathLst>
          </a:custGeom>
          <a:solidFill>
            <a:srgbClr val="D97316"/>
          </a:solidFill>
          <a:ln>
            <a:noFill/>
          </a:ln>
        </p:spPr>
        <p:txBody>
          <a:bodyPr rtlCol="0" anchor="ctr"/>
          <a:lstStyle/>
          <a:p>
            <a:pPr algn="ctr"/>
          </a:p>
        </p:txBody>
      </p:sp>
      <p:sp>
        <p:nvSpPr>
          <p:cNvPr id="19" name="Freeform 18"/>
          <p:cNvSpPr/>
          <p:nvPr/>
        </p:nvSpPr>
        <p:spPr>
          <a:xfrm>
            <a:off x="2212590" y="2651760"/>
            <a:ext cx="856593" cy="1075302"/>
          </a:xfrm>
          <a:custGeom>
            <a:avLst/>
            <a:gdLst/>
            <a:ahLst/>
            <a:cxnLst/>
            <a:rect l="l" t="t" r="r" b="b"/>
            <a:pathLst>
              <a:path w="856593" h="1075302">
                <a:moveTo>
                  <a:pt x="622050" y="0"/>
                </a:moveTo>
                <a:lnTo>
                  <a:pt x="856593" y="0"/>
                </a:lnTo>
                <a:lnTo>
                  <a:pt x="855969" y="37098"/>
                </a:lnTo>
                <a:lnTo>
                  <a:pt x="854098" y="74154"/>
                </a:lnTo>
                <a:lnTo>
                  <a:pt x="850982" y="111126"/>
                </a:lnTo>
                <a:lnTo>
                  <a:pt x="846624" y="147973"/>
                </a:lnTo>
                <a:lnTo>
                  <a:pt x="841030" y="184652"/>
                </a:lnTo>
                <a:lnTo>
                  <a:pt x="834206" y="221123"/>
                </a:lnTo>
                <a:lnTo>
                  <a:pt x="826159" y="257343"/>
                </a:lnTo>
                <a:lnTo>
                  <a:pt x="816898" y="293272"/>
                </a:lnTo>
                <a:lnTo>
                  <a:pt x="806435" y="328870"/>
                </a:lnTo>
                <a:lnTo>
                  <a:pt x="794780" y="364095"/>
                </a:lnTo>
                <a:lnTo>
                  <a:pt x="781948" y="398909"/>
                </a:lnTo>
                <a:lnTo>
                  <a:pt x="767952" y="433271"/>
                </a:lnTo>
                <a:lnTo>
                  <a:pt x="752809" y="467144"/>
                </a:lnTo>
                <a:lnTo>
                  <a:pt x="736535" y="500488"/>
                </a:lnTo>
                <a:lnTo>
                  <a:pt x="719149" y="533266"/>
                </a:lnTo>
                <a:lnTo>
                  <a:pt x="700670" y="565441"/>
                </a:lnTo>
                <a:lnTo>
                  <a:pt x="681120" y="596976"/>
                </a:lnTo>
                <a:lnTo>
                  <a:pt x="660521" y="627836"/>
                </a:lnTo>
                <a:lnTo>
                  <a:pt x="638896" y="657985"/>
                </a:lnTo>
                <a:lnTo>
                  <a:pt x="616269" y="687391"/>
                </a:lnTo>
                <a:lnTo>
                  <a:pt x="592666" y="716019"/>
                </a:lnTo>
                <a:lnTo>
                  <a:pt x="568113" y="743837"/>
                </a:lnTo>
                <a:lnTo>
                  <a:pt x="542640" y="770814"/>
                </a:lnTo>
                <a:lnTo>
                  <a:pt x="516273" y="796919"/>
                </a:lnTo>
                <a:lnTo>
                  <a:pt x="489043" y="822122"/>
                </a:lnTo>
                <a:lnTo>
                  <a:pt x="460982" y="846396"/>
                </a:lnTo>
                <a:lnTo>
                  <a:pt x="432120" y="869712"/>
                </a:lnTo>
                <a:lnTo>
                  <a:pt x="402490" y="892045"/>
                </a:lnTo>
                <a:lnTo>
                  <a:pt x="372126" y="913368"/>
                </a:lnTo>
                <a:lnTo>
                  <a:pt x="341062" y="933659"/>
                </a:lnTo>
                <a:lnTo>
                  <a:pt x="309334" y="952893"/>
                </a:lnTo>
                <a:lnTo>
                  <a:pt x="276976" y="971050"/>
                </a:lnTo>
                <a:lnTo>
                  <a:pt x="244026" y="988108"/>
                </a:lnTo>
                <a:lnTo>
                  <a:pt x="210522" y="1004048"/>
                </a:lnTo>
                <a:lnTo>
                  <a:pt x="176500" y="1018853"/>
                </a:lnTo>
                <a:lnTo>
                  <a:pt x="141999" y="1032506"/>
                </a:lnTo>
                <a:lnTo>
                  <a:pt x="107060" y="1044990"/>
                </a:lnTo>
                <a:lnTo>
                  <a:pt x="71719" y="1056293"/>
                </a:lnTo>
                <a:lnTo>
                  <a:pt x="36019" y="1066401"/>
                </a:lnTo>
                <a:lnTo>
                  <a:pt x="0" y="1075302"/>
                </a:lnTo>
              </a:path>
            </a:pathLst>
          </a:custGeom>
          <a:noFill/>
          <a:ln w="28575">
            <a:solidFill>
              <a:srgbClr val="D6D6D6"/>
            </a:solidFill>
          </a:ln>
        </p:spPr>
        <p:txBody>
          <a:bodyPr rtlCol="0" anchor="ctr"/>
          <a:lstStyle/>
          <a:p>
            <a:pPr algn="ctr"/>
          </a:p>
        </p:txBody>
      </p:sp>
      <p:sp>
        <p:nvSpPr>
          <p:cNvPr id="20" name="Freeform 19"/>
          <p:cNvSpPr/>
          <p:nvPr/>
        </p:nvSpPr>
        <p:spPr>
          <a:xfrm>
            <a:off x="2078901" y="3662892"/>
            <a:ext cx="148407" cy="128341"/>
          </a:xfrm>
          <a:custGeom>
            <a:avLst/>
            <a:gdLst/>
            <a:ahLst/>
            <a:cxnLst/>
            <a:rect l="l" t="t" r="r" b="b"/>
            <a:pathLst>
              <a:path w="148407" h="128341">
                <a:moveTo>
                  <a:pt x="0" y="94833"/>
                </a:moveTo>
                <a:lnTo>
                  <a:pt x="118970" y="0"/>
                </a:lnTo>
                <a:lnTo>
                  <a:pt x="148407" y="128341"/>
                </a:lnTo>
                <a:close/>
              </a:path>
            </a:pathLst>
          </a:custGeom>
          <a:solidFill>
            <a:srgbClr val="D6D6D6"/>
          </a:solidFill>
          <a:ln>
            <a:noFill/>
          </a:ln>
        </p:spPr>
        <p:txBody>
          <a:bodyPr rtlCol="0" anchor="ctr"/>
          <a:lstStyle/>
          <a:p>
            <a:pPr algn="ctr"/>
          </a:p>
        </p:txBody>
      </p:sp>
      <p:sp>
        <p:nvSpPr>
          <p:cNvPr id="21" name="Freeform 20"/>
          <p:cNvSpPr/>
          <p:nvPr/>
        </p:nvSpPr>
        <p:spPr>
          <a:xfrm>
            <a:off x="890657" y="2898390"/>
            <a:ext cx="1075303" cy="856593"/>
          </a:xfrm>
          <a:custGeom>
            <a:avLst/>
            <a:gdLst/>
            <a:ahLst/>
            <a:cxnLst/>
            <a:rect l="l" t="t" r="r" b="b"/>
            <a:pathLst>
              <a:path w="1075303" h="856593">
                <a:moveTo>
                  <a:pt x="1075303" y="622050"/>
                </a:moveTo>
                <a:lnTo>
                  <a:pt x="1075303" y="856593"/>
                </a:lnTo>
                <a:lnTo>
                  <a:pt x="1038204" y="855969"/>
                </a:lnTo>
                <a:lnTo>
                  <a:pt x="1001148" y="854098"/>
                </a:lnTo>
                <a:lnTo>
                  <a:pt x="964176" y="850982"/>
                </a:lnTo>
                <a:lnTo>
                  <a:pt x="927329" y="846624"/>
                </a:lnTo>
                <a:lnTo>
                  <a:pt x="890650" y="841030"/>
                </a:lnTo>
                <a:lnTo>
                  <a:pt x="854179" y="834206"/>
                </a:lnTo>
                <a:lnTo>
                  <a:pt x="817959" y="826159"/>
                </a:lnTo>
                <a:lnTo>
                  <a:pt x="782030" y="816898"/>
                </a:lnTo>
                <a:lnTo>
                  <a:pt x="746432" y="806435"/>
                </a:lnTo>
                <a:lnTo>
                  <a:pt x="711207" y="794780"/>
                </a:lnTo>
                <a:lnTo>
                  <a:pt x="676393" y="781948"/>
                </a:lnTo>
                <a:lnTo>
                  <a:pt x="642031" y="767952"/>
                </a:lnTo>
                <a:lnTo>
                  <a:pt x="608158" y="752809"/>
                </a:lnTo>
                <a:lnTo>
                  <a:pt x="574814" y="736535"/>
                </a:lnTo>
                <a:lnTo>
                  <a:pt x="542036" y="719149"/>
                </a:lnTo>
                <a:lnTo>
                  <a:pt x="509861" y="700670"/>
                </a:lnTo>
                <a:lnTo>
                  <a:pt x="478326" y="681120"/>
                </a:lnTo>
                <a:lnTo>
                  <a:pt x="447466" y="660521"/>
                </a:lnTo>
                <a:lnTo>
                  <a:pt x="417317" y="638896"/>
                </a:lnTo>
                <a:lnTo>
                  <a:pt x="387911" y="616269"/>
                </a:lnTo>
                <a:lnTo>
                  <a:pt x="359283" y="592666"/>
                </a:lnTo>
                <a:lnTo>
                  <a:pt x="331465" y="568113"/>
                </a:lnTo>
                <a:lnTo>
                  <a:pt x="304488" y="542640"/>
                </a:lnTo>
                <a:lnTo>
                  <a:pt x="278383" y="516273"/>
                </a:lnTo>
                <a:lnTo>
                  <a:pt x="253180" y="489043"/>
                </a:lnTo>
                <a:lnTo>
                  <a:pt x="228906" y="460982"/>
                </a:lnTo>
                <a:lnTo>
                  <a:pt x="205590" y="432120"/>
                </a:lnTo>
                <a:lnTo>
                  <a:pt x="183257" y="402490"/>
                </a:lnTo>
                <a:lnTo>
                  <a:pt x="161934" y="372126"/>
                </a:lnTo>
                <a:lnTo>
                  <a:pt x="141643" y="341062"/>
                </a:lnTo>
                <a:lnTo>
                  <a:pt x="122409" y="309334"/>
                </a:lnTo>
                <a:lnTo>
                  <a:pt x="104252" y="276976"/>
                </a:lnTo>
                <a:lnTo>
                  <a:pt x="87194" y="244026"/>
                </a:lnTo>
                <a:lnTo>
                  <a:pt x="71254" y="210522"/>
                </a:lnTo>
                <a:lnTo>
                  <a:pt x="56449" y="176500"/>
                </a:lnTo>
                <a:lnTo>
                  <a:pt x="42796" y="141999"/>
                </a:lnTo>
                <a:lnTo>
                  <a:pt x="30312" y="107060"/>
                </a:lnTo>
                <a:lnTo>
                  <a:pt x="19009" y="71719"/>
                </a:lnTo>
                <a:lnTo>
                  <a:pt x="8901" y="36019"/>
                </a:lnTo>
                <a:lnTo>
                  <a:pt x="0" y="0"/>
                </a:lnTo>
              </a:path>
            </a:pathLst>
          </a:custGeom>
          <a:noFill/>
          <a:ln w="28575">
            <a:solidFill>
              <a:srgbClr val="D6D6D6"/>
            </a:solidFill>
          </a:ln>
        </p:spPr>
        <p:txBody>
          <a:bodyPr rtlCol="0" anchor="ctr"/>
          <a:lstStyle/>
          <a:p>
            <a:pPr algn="ctr"/>
          </a:p>
        </p:txBody>
      </p:sp>
      <p:sp>
        <p:nvSpPr>
          <p:cNvPr id="22" name="Freeform 21"/>
          <p:cNvSpPr/>
          <p:nvPr/>
        </p:nvSpPr>
        <p:spPr>
          <a:xfrm>
            <a:off x="826486" y="2764701"/>
            <a:ext cx="128341" cy="148407"/>
          </a:xfrm>
          <a:custGeom>
            <a:avLst/>
            <a:gdLst/>
            <a:ahLst/>
            <a:cxnLst/>
            <a:rect l="l" t="t" r="r" b="b"/>
            <a:pathLst>
              <a:path w="128341" h="148407">
                <a:moveTo>
                  <a:pt x="33508" y="0"/>
                </a:moveTo>
                <a:lnTo>
                  <a:pt x="128341" y="118970"/>
                </a:lnTo>
                <a:lnTo>
                  <a:pt x="0" y="148407"/>
                </a:lnTo>
                <a:close/>
              </a:path>
            </a:pathLst>
          </a:custGeom>
          <a:solidFill>
            <a:srgbClr val="D6D6D6"/>
          </a:solidFill>
          <a:ln>
            <a:noFill/>
          </a:ln>
        </p:spPr>
        <p:txBody>
          <a:bodyPr rtlCol="0" anchor="ctr"/>
          <a:lstStyle/>
          <a:p>
            <a:pPr algn="ctr"/>
          </a:p>
        </p:txBody>
      </p:sp>
      <p:sp>
        <p:nvSpPr>
          <p:cNvPr id="23" name="Rounded Rectangle 22"/>
          <p:cNvSpPr/>
          <p:nvPr/>
        </p:nvSpPr>
        <p:spPr>
          <a:xfrm>
            <a:off x="3129991" y="2278227"/>
            <a:ext cx="208483" cy="747064"/>
          </a:xfrm>
          <a:prstGeom prst="roundRect">
            <a:avLst>
              <a:gd name="adj" fmla="val 12000"/>
            </a:avLst>
          </a:prstGeom>
          <a:solidFill>
            <a:srgbClr val="D33327"/>
          </a:solidFill>
          <a:ln w="19050">
            <a:solidFill>
              <a:srgbClr val="FFFFFF"/>
            </a:solidFill>
          </a:ln>
          <a:effectLst/>
        </p:spPr>
        <p:txBody>
          <a:bodyPr rtlCol="0" anchor="ctr"/>
          <a:lstStyle/>
          <a:p/>
        </p:txBody>
      </p:sp>
      <p:sp>
        <p:nvSpPr>
          <p:cNvPr id="24" name="TextBox 23"/>
          <p:cNvSpPr txBox="1"/>
          <p:nvPr/>
        </p:nvSpPr>
        <p:spPr>
          <a:xfrm rot="5400000">
            <a:off x="3049703" y="2467230"/>
            <a:ext cx="369059" cy="369059"/>
          </a:xfrm>
          <a:prstGeom prst="rect">
            <a:avLst/>
          </a:prstGeom>
          <a:noFill/>
        </p:spPr>
        <p:txBody>
          <a:bodyPr wrap="square" anchor="ctr" lIns="0" rIns="0" tIns="0" bIns="0">
            <a:noAutofit/>
          </a:bodyPr>
          <a:lstStyle/>
          <a:p>
            <a:pPr algn="ctr">
              <a:spcBef>
                <a:spcPts val="0"/>
              </a:spcBef>
              <a:spcAft>
                <a:spcPts val="0"/>
              </a:spcAft>
            </a:pPr>
            <a:r>
              <a:rPr lang="tr-TR" sz="1100" b="1" i="0">
                <a:solidFill>
                  <a:srgbClr val="FFFFFF"/>
                </a:solidFill>
                <a:latin typeface="Calibri"/>
              </a:rPr>
              <a:t>AFET</a:t>
            </a:r>
          </a:p>
        </p:txBody>
      </p:sp>
      <p:sp>
        <p:nvSpPr>
          <p:cNvPr id="25" name="TextBox 24"/>
          <p:cNvSpPr txBox="1"/>
          <p:nvPr/>
        </p:nvSpPr>
        <p:spPr>
          <a:xfrm>
            <a:off x="1592427" y="2391156"/>
            <a:ext cx="747064" cy="521208"/>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6" name="Oval 25"/>
          <p:cNvSpPr/>
          <p:nvPr/>
        </p:nvSpPr>
        <p:spPr>
          <a:xfrm>
            <a:off x="1361830" y="2047630"/>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1</a:t>
            </a:r>
          </a:p>
        </p:txBody>
      </p:sp>
      <p:sp>
        <p:nvSpPr>
          <p:cNvPr id="27" name="Oval 26"/>
          <p:cNvSpPr/>
          <p:nvPr/>
        </p:nvSpPr>
        <p:spPr>
          <a:xfrm>
            <a:off x="2332345" y="2047630"/>
            <a:ext cx="237744" cy="237744"/>
          </a:xfrm>
          <a:prstGeom prst="ellipse">
            <a:avLst/>
          </a:prstGeom>
          <a:solidFill>
            <a:srgbClr val="FFFFFF"/>
          </a:solidFill>
          <a:ln w="25400">
            <a:solidFill>
              <a:srgbClr val="D97316"/>
            </a:solidFill>
          </a:ln>
          <a:effectLst/>
        </p:spPr>
        <p:txBody>
          <a:bodyPr rtlCol="0" anchor="ctr" wrap="none" lIns="0" rIns="0" tIns="0" bIns="0">
            <a:noAutofit/>
          </a:bodyPr>
          <a:lstStyle/>
          <a:p>
            <a:pPr algn="ctr">
              <a:spcBef>
                <a:spcPts val="0"/>
              </a:spcBef>
              <a:spcAft>
                <a:spcPts val="0"/>
              </a:spcAft>
            </a:pPr>
            <a:r>
              <a:rPr lang="tr-TR" sz="1029" b="1" i="0">
                <a:solidFill>
                  <a:srgbClr val="D97316"/>
                </a:solidFill>
                <a:latin typeface="Calibri"/>
              </a:rPr>
              <a:t>2</a:t>
            </a:r>
          </a:p>
        </p:txBody>
      </p:sp>
      <p:sp>
        <p:nvSpPr>
          <p:cNvPr id="28" name="Oval 27"/>
          <p:cNvSpPr/>
          <p:nvPr/>
        </p:nvSpPr>
        <p:spPr>
          <a:xfrm>
            <a:off x="2332345" y="3018145"/>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3</a:t>
            </a:r>
          </a:p>
        </p:txBody>
      </p:sp>
      <p:sp>
        <p:nvSpPr>
          <p:cNvPr id="29" name="Oval 28"/>
          <p:cNvSpPr/>
          <p:nvPr/>
        </p:nvSpPr>
        <p:spPr>
          <a:xfrm>
            <a:off x="1361830" y="3018145"/>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4</a:t>
            </a:r>
          </a:p>
        </p:txBody>
      </p:sp>
      <p:sp>
        <p:nvSpPr>
          <p:cNvPr id="30" name="Rounded Rectangle 29"/>
          <p:cNvSpPr/>
          <p:nvPr/>
        </p:nvSpPr>
        <p:spPr>
          <a:xfrm>
            <a:off x="502920" y="4023360"/>
            <a:ext cx="3063240" cy="438912"/>
          </a:xfrm>
          <a:prstGeom prst="roundRect">
            <a:avLst>
              <a:gd name="adj" fmla="val 50000"/>
            </a:avLst>
          </a:prstGeom>
          <a:solidFill>
            <a:srgbClr val="FFFFFF"/>
          </a:solidFill>
          <a:ln w="19050">
            <a:solidFill>
              <a:srgbClr val="B05E10"/>
            </a:solidFill>
          </a:ln>
          <a:effectLst/>
        </p:spPr>
        <p:txBody>
          <a:bodyPr rtlCol="0" anchor="ctr" wrap="square" lIns="128016" rIns="128016" tIns="0" bIns="0">
            <a:noAutofit/>
          </a:bodyPr>
          <a:lstStyle/>
          <a:p>
            <a:pPr algn="ctr">
              <a:spcBef>
                <a:spcPts val="0"/>
              </a:spcBef>
              <a:spcAft>
                <a:spcPts val="0"/>
              </a:spcAft>
            </a:pPr>
            <a:r>
              <a:rPr lang="tr-TR" sz="1800" b="1" i="0">
                <a:solidFill>
                  <a:srgbClr val="B05E10"/>
                </a:solidFill>
                <a:latin typeface="Calibri"/>
              </a:rPr>
              <a:t>ok: Tahmin ve erken uyarı</a:t>
            </a:r>
          </a:p>
        </p:txBody>
      </p:sp>
      <p:sp>
        <p:nvSpPr>
          <p:cNvPr id="31" name="Rounded Rectangle 30"/>
          <p:cNvSpPr/>
          <p:nvPr/>
        </p:nvSpPr>
        <p:spPr>
          <a:xfrm>
            <a:off x="502920" y="4572000"/>
            <a:ext cx="3063240" cy="438912"/>
          </a:xfrm>
          <a:prstGeom prst="roundRect">
            <a:avLst>
              <a:gd name="adj" fmla="val 50000"/>
            </a:avLst>
          </a:prstGeom>
          <a:solidFill>
            <a:srgbClr val="1F6E9E"/>
          </a:solidFill>
          <a:ln>
            <a:noFill/>
          </a:ln>
          <a:effectLst/>
        </p:spPr>
        <p:txBody>
          <a:bodyPr rtlCol="0" anchor="ctr" wrap="square" lIns="128016" rIns="128016" tIns="0" bIns="0">
            <a:noAutofit/>
          </a:bodyPr>
          <a:lstStyle/>
          <a:p>
            <a:pPr algn="ctr">
              <a:spcBef>
                <a:spcPts val="0"/>
              </a:spcBef>
              <a:spcAft>
                <a:spcPts val="0"/>
              </a:spcAft>
            </a:pPr>
            <a:r>
              <a:rPr lang="tr-TR" sz="1500" b="1" i="0">
                <a:solidFill>
                  <a:srgbClr val="FFFFFF"/>
                </a:solidFill>
                <a:latin typeface="Calibri"/>
              </a:rPr>
              <a:t>RİSK YÖNETİMİ · afet öncesi</a:t>
            </a:r>
          </a:p>
        </p:txBody>
      </p:sp>
      <p:sp>
        <p:nvSpPr>
          <p:cNvPr id="32" name="Rounded Rectangle 31"/>
          <p:cNvSpPr/>
          <p:nvPr/>
        </p:nvSpPr>
        <p:spPr>
          <a:xfrm>
            <a:off x="502920" y="5166360"/>
            <a:ext cx="3063240" cy="1124712"/>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200"/>
              </a:spcAft>
            </a:pPr>
            <a:r>
              <a:rPr lang="tr-TR" sz="1900" b="1" i="0">
                <a:solidFill>
                  <a:srgbClr val="D97316"/>
                </a:solidFill>
                <a:latin typeface="Calibri"/>
              </a:rPr>
              <a:t>Okulumuzda</a:t>
            </a:r>
          </a:p>
          <a:p>
            <a:pPr algn="l">
              <a:spcBef>
                <a:spcPts val="0"/>
              </a:spcBef>
              <a:spcAft>
                <a:spcPts val="0"/>
              </a:spcAft>
            </a:pPr>
            <a:r>
              <a:rPr lang="tr-TR" sz="1700" b="0" i="0">
                <a:solidFill>
                  <a:srgbClr val="262626"/>
                </a:solidFill>
                <a:latin typeface="Calibri"/>
              </a:rPr>
              <a:t>tahliye planı ve toplanma alanı</a:t>
            </a:r>
          </a:p>
        </p:txBody>
      </p:sp>
      <p:sp>
        <p:nvSpPr>
          <p:cNvPr id="33" name="Rounded Rectangle 32"/>
          <p:cNvSpPr/>
          <p:nvPr/>
        </p:nvSpPr>
        <p:spPr>
          <a:xfrm>
            <a:off x="3840480" y="1216152"/>
            <a:ext cx="7848295" cy="502920"/>
          </a:xfrm>
          <a:prstGeom prst="roundRect">
            <a:avLst>
              <a:gd name="adj" fmla="val 15000"/>
            </a:avLst>
          </a:prstGeom>
          <a:solidFill>
            <a:srgbClr val="D97316"/>
          </a:solidFill>
          <a:ln>
            <a:noFill/>
          </a:ln>
          <a:effectLst/>
        </p:spPr>
        <p:txBody>
          <a:bodyPr rtlCol="0" anchor="ctr" wrap="square" lIns="182880" rIns="182880" tIns="0" bIns="0">
            <a:noAutofit/>
          </a:bodyPr>
          <a:lstStyle/>
          <a:p>
            <a:pPr algn="l">
              <a:spcBef>
                <a:spcPts val="0"/>
              </a:spcBef>
              <a:spcAft>
                <a:spcPts val="0"/>
              </a:spcAft>
            </a:pPr>
            <a:r>
              <a:rPr lang="tr-TR" sz="2100" b="1" i="0">
                <a:solidFill>
                  <a:srgbClr val="FFFFFF"/>
                </a:solidFill>
                <a:latin typeface="Calibri"/>
              </a:rPr>
              <a:t>HAZIRLIKLI OLMA</a:t>
            </a:r>
          </a:p>
        </p:txBody>
      </p:sp>
      <p:sp>
        <p:nvSpPr>
          <p:cNvPr id="34" name="Rounded Rectangle 33"/>
          <p:cNvSpPr/>
          <p:nvPr/>
        </p:nvSpPr>
        <p:spPr>
          <a:xfrm>
            <a:off x="3840480" y="1828800"/>
            <a:ext cx="7848295" cy="3230118"/>
          </a:xfrm>
          <a:prstGeom prst="roundRect">
            <a:avLst>
              <a:gd name="adj" fmla="val 8000"/>
            </a:avLst>
          </a:prstGeom>
          <a:solidFill>
            <a:srgbClr val="F0F0F0"/>
          </a:solidFill>
          <a:ln>
            <a:noFill/>
          </a:ln>
          <a:effectLst/>
        </p:spPr>
        <p:txBody>
          <a:bodyPr rtlCol="0" anchor="ctr"/>
          <a:lstStyle/>
          <a:p/>
        </p:txBody>
      </p:sp>
      <p:sp>
        <p:nvSpPr>
          <p:cNvPr id="35" name="Rectangle 34"/>
          <p:cNvSpPr/>
          <p:nvPr/>
        </p:nvSpPr>
        <p:spPr>
          <a:xfrm>
            <a:off x="3840480" y="1828800"/>
            <a:ext cx="118872" cy="3230118"/>
          </a:xfrm>
          <a:prstGeom prst="rect">
            <a:avLst/>
          </a:prstGeom>
          <a:solidFill>
            <a:srgbClr val="D97316"/>
          </a:solidFill>
          <a:ln>
            <a:noFill/>
          </a:ln>
          <a:effectLst/>
        </p:spPr>
        <p:txBody>
          <a:bodyPr rtlCol="0" anchor="ctr"/>
          <a:lstStyle/>
          <a:p/>
        </p:txBody>
      </p:sp>
      <p:sp>
        <p:nvSpPr>
          <p:cNvPr id="36" name="TextBox 35"/>
          <p:cNvSpPr txBox="1"/>
          <p:nvPr/>
        </p:nvSpPr>
        <p:spPr>
          <a:xfrm>
            <a:off x="4114800" y="1828800"/>
            <a:ext cx="7436815" cy="3230118"/>
          </a:xfrm>
          <a:prstGeom prst="rect">
            <a:avLst/>
          </a:prstGeom>
          <a:noFill/>
        </p:spPr>
        <p:txBody>
          <a:bodyPr wrap="square" anchor="ctr" lIns="73152" rIns="73152" tIns="36576" bIns="36576">
            <a:noAutofit/>
          </a:bodyPr>
          <a:lstStyle/>
          <a:p>
            <a:pPr algn="l">
              <a:spcBef>
                <a:spcPts val="0"/>
              </a:spcBef>
              <a:spcAft>
                <a:spcPts val="0"/>
              </a:spcAft>
            </a:pPr>
            <a:r>
              <a:rPr lang="tr-TR" sz="2150" b="0" i="0">
                <a:solidFill>
                  <a:srgbClr val="262626"/>
                </a:solidFill>
                <a:latin typeface="Calibri"/>
              </a:rPr>
              <a:t>Herhangi bir afet yaşanmadan önce risk analizi ve zarar azaltma evresinde elde edilen verilerden hareketle afetin olası sonuçlarına yönelik </a:t>
            </a:r>
            <a:r>
              <a:rPr lang="tr-TR" sz="2150" b="1" i="0">
                <a:solidFill>
                  <a:srgbClr val="262626"/>
                </a:solidFill>
                <a:latin typeface="Calibri"/>
              </a:rPr>
              <a:t>ihtiyaçların belirlenmesi</a:t>
            </a:r>
            <a:r>
              <a:rPr lang="tr-TR" sz="2150" b="0" i="0">
                <a:solidFill>
                  <a:srgbClr val="262626"/>
                </a:solidFill>
                <a:latin typeface="Calibri"/>
              </a:rPr>
              <a:t>, </a:t>
            </a:r>
            <a:r>
              <a:rPr lang="tr-TR" sz="2150" b="1" i="0">
                <a:solidFill>
                  <a:srgbClr val="262626"/>
                </a:solidFill>
                <a:latin typeface="Calibri"/>
              </a:rPr>
              <a:t>tahliye sürecinin şekillendirilmesi</a:t>
            </a:r>
            <a:r>
              <a:rPr lang="tr-TR" sz="2150" b="0" i="0">
                <a:solidFill>
                  <a:srgbClr val="262626"/>
                </a:solidFill>
                <a:latin typeface="Calibri"/>
              </a:rPr>
              <a:t>, </a:t>
            </a:r>
            <a:r>
              <a:rPr lang="tr-TR" sz="2150" b="1" i="0">
                <a:solidFill>
                  <a:srgbClr val="262626"/>
                </a:solidFill>
                <a:latin typeface="Calibri"/>
              </a:rPr>
              <a:t>toplanma merkezinin belirlenmesi</a:t>
            </a:r>
            <a:r>
              <a:rPr lang="tr-TR" sz="2150" b="0" i="0">
                <a:solidFill>
                  <a:srgbClr val="262626"/>
                </a:solidFill>
                <a:latin typeface="Calibri"/>
              </a:rPr>
              <a:t>, </a:t>
            </a:r>
            <a:r>
              <a:rPr lang="tr-TR" sz="2150" b="1" i="0">
                <a:solidFill>
                  <a:srgbClr val="262626"/>
                </a:solidFill>
                <a:latin typeface="Calibri"/>
              </a:rPr>
              <a:t>acil eylem planının hazırlanması</a:t>
            </a:r>
            <a:r>
              <a:rPr lang="tr-TR" sz="2150" b="0" i="0">
                <a:solidFill>
                  <a:srgbClr val="262626"/>
                </a:solidFill>
                <a:latin typeface="Calibri"/>
              </a:rPr>
              <a:t> ve afete müdahalede ihtiyaç duyulabilecek malzemelerin yer alacağı </a:t>
            </a:r>
            <a:r>
              <a:rPr lang="tr-TR" sz="2150" b="1" i="0">
                <a:solidFill>
                  <a:srgbClr val="262626"/>
                </a:solidFill>
                <a:latin typeface="Calibri"/>
              </a:rPr>
              <a:t>bölge teçhizat merkezlerinin kurulmasını</a:t>
            </a:r>
            <a:r>
              <a:rPr lang="tr-TR" sz="2150" b="0" i="0">
                <a:solidFill>
                  <a:srgbClr val="262626"/>
                </a:solidFill>
                <a:latin typeface="Calibri"/>
              </a:rPr>
              <a:t> kapsamaktadır.</a:t>
            </a:r>
          </a:p>
        </p:txBody>
      </p:sp>
      <p:sp>
        <p:nvSpPr>
          <p:cNvPr id="37" name="Rounded Rectangle 36"/>
          <p:cNvSpPr/>
          <p:nvPr/>
        </p:nvSpPr>
        <p:spPr>
          <a:xfrm>
            <a:off x="3840480" y="5196078"/>
            <a:ext cx="7848295" cy="1076706"/>
          </a:xfrm>
          <a:prstGeom prst="roundRect">
            <a:avLst>
              <a:gd name="adj" fmla="val 8000"/>
            </a:avLst>
          </a:prstGeom>
          <a:solidFill>
            <a:srgbClr val="F0F0F0"/>
          </a:solidFill>
          <a:ln>
            <a:noFill/>
          </a:ln>
          <a:effectLst/>
        </p:spPr>
        <p:txBody>
          <a:bodyPr rtlCol="0" anchor="ctr"/>
          <a:lstStyle/>
          <a:p/>
        </p:txBody>
      </p:sp>
      <p:sp>
        <p:nvSpPr>
          <p:cNvPr id="38" name="Rectangle 37"/>
          <p:cNvSpPr/>
          <p:nvPr/>
        </p:nvSpPr>
        <p:spPr>
          <a:xfrm>
            <a:off x="3840480" y="5196078"/>
            <a:ext cx="118872" cy="1076706"/>
          </a:xfrm>
          <a:prstGeom prst="rect">
            <a:avLst/>
          </a:prstGeom>
          <a:solidFill>
            <a:srgbClr val="D97316"/>
          </a:solidFill>
          <a:ln>
            <a:noFill/>
          </a:ln>
          <a:effectLst/>
        </p:spPr>
        <p:txBody>
          <a:bodyPr rtlCol="0" anchor="ctr"/>
          <a:lstStyle/>
          <a:p/>
        </p:txBody>
      </p:sp>
      <p:sp>
        <p:nvSpPr>
          <p:cNvPr id="39" name="TextBox 38"/>
          <p:cNvSpPr txBox="1"/>
          <p:nvPr/>
        </p:nvSpPr>
        <p:spPr>
          <a:xfrm>
            <a:off x="4114800" y="5196078"/>
            <a:ext cx="7436815" cy="1076706"/>
          </a:xfrm>
          <a:prstGeom prst="rect">
            <a:avLst/>
          </a:prstGeom>
          <a:noFill/>
        </p:spPr>
        <p:txBody>
          <a:bodyPr wrap="square" anchor="ctr" lIns="73152" rIns="73152" tIns="36576" bIns="36576">
            <a:noAutofit/>
          </a:bodyPr>
          <a:lstStyle/>
          <a:p>
            <a:pPr algn="l">
              <a:spcBef>
                <a:spcPts val="0"/>
              </a:spcBef>
              <a:spcAft>
                <a:spcPts val="0"/>
              </a:spcAft>
            </a:pPr>
            <a:r>
              <a:rPr lang="tr-TR" sz="2150" b="0" i="0">
                <a:solidFill>
                  <a:srgbClr val="262626"/>
                </a:solidFill>
                <a:latin typeface="Calibri"/>
              </a:rPr>
              <a:t>Ayrıca </a:t>
            </a:r>
            <a:r>
              <a:rPr lang="tr-TR" sz="2150" b="1" i="0">
                <a:solidFill>
                  <a:srgbClr val="262626"/>
                </a:solidFill>
                <a:latin typeface="Calibri"/>
              </a:rPr>
              <a:t>erken uyarı sistemlerinin kurulması, kontrol edilmesi, işletilmesi ve güncellenmesi</a:t>
            </a:r>
            <a:r>
              <a:rPr lang="tr-TR" sz="2150" b="0" i="0">
                <a:solidFill>
                  <a:srgbClr val="262626"/>
                </a:solidFill>
                <a:latin typeface="Calibri"/>
              </a:rPr>
              <a:t> bu aşamada yapılması gerekenler arasındadır.</a:t>
            </a:r>
          </a:p>
        </p:txBody>
      </p: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131 / 250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aşama: Müdahale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AŞAMA</a:t>
            </a:r>
          </a:p>
        </p:txBody>
      </p:sp>
      <p:sp>
        <p:nvSpPr>
          <p:cNvPr id="6" name="Freeform 5"/>
          <p:cNvSpPr/>
          <p:nvPr/>
        </p:nvSpPr>
        <p:spPr>
          <a:xfrm>
            <a:off x="1097280" y="1783080"/>
            <a:ext cx="868680" cy="868680"/>
          </a:xfrm>
          <a:custGeom>
            <a:avLst/>
            <a:gdLst/>
            <a:ahLst/>
            <a:cxnLst/>
            <a:rect l="l" t="t" r="r" b="b"/>
            <a:pathLst>
              <a:path w="868680" h="868680">
                <a:moveTo>
                  <a:pt x="868680" y="0"/>
                </a:moveTo>
                <a:lnTo>
                  <a:pt x="838363" y="529"/>
                </a:lnTo>
                <a:lnTo>
                  <a:pt x="808083" y="2116"/>
                </a:lnTo>
                <a:lnTo>
                  <a:pt x="777878" y="4758"/>
                </a:lnTo>
                <a:lnTo>
                  <a:pt x="747783" y="8453"/>
                </a:lnTo>
                <a:lnTo>
                  <a:pt x="717835" y="13197"/>
                </a:lnTo>
                <a:lnTo>
                  <a:pt x="688071" y="18982"/>
                </a:lnTo>
                <a:lnTo>
                  <a:pt x="658527" y="25803"/>
                </a:lnTo>
                <a:lnTo>
                  <a:pt x="629239" y="33651"/>
                </a:lnTo>
                <a:lnTo>
                  <a:pt x="600243" y="42516"/>
                </a:lnTo>
                <a:lnTo>
                  <a:pt x="571573" y="52387"/>
                </a:lnTo>
                <a:lnTo>
                  <a:pt x="543266" y="63253"/>
                </a:lnTo>
                <a:lnTo>
                  <a:pt x="515356" y="75101"/>
                </a:lnTo>
                <a:lnTo>
                  <a:pt x="487875" y="87915"/>
                </a:lnTo>
                <a:lnTo>
                  <a:pt x="460859" y="101681"/>
                </a:lnTo>
                <a:lnTo>
                  <a:pt x="434340" y="116381"/>
                </a:lnTo>
                <a:lnTo>
                  <a:pt x="408349" y="131997"/>
                </a:lnTo>
                <a:lnTo>
                  <a:pt x="382920" y="148511"/>
                </a:lnTo>
                <a:lnTo>
                  <a:pt x="358082" y="165903"/>
                </a:lnTo>
                <a:lnTo>
                  <a:pt x="333867" y="184150"/>
                </a:lnTo>
                <a:lnTo>
                  <a:pt x="310303" y="203232"/>
                </a:lnTo>
                <a:lnTo>
                  <a:pt x="287419" y="223124"/>
                </a:lnTo>
                <a:lnTo>
                  <a:pt x="265244" y="243803"/>
                </a:lnTo>
                <a:lnTo>
                  <a:pt x="243803" y="265244"/>
                </a:lnTo>
                <a:lnTo>
                  <a:pt x="223124" y="287419"/>
                </a:lnTo>
                <a:lnTo>
                  <a:pt x="203232" y="310303"/>
                </a:lnTo>
                <a:lnTo>
                  <a:pt x="184150" y="333867"/>
                </a:lnTo>
                <a:lnTo>
                  <a:pt x="165903" y="358082"/>
                </a:lnTo>
                <a:lnTo>
                  <a:pt x="148511" y="382920"/>
                </a:lnTo>
                <a:lnTo>
                  <a:pt x="131997" y="408349"/>
                </a:lnTo>
                <a:lnTo>
                  <a:pt x="116381" y="434340"/>
                </a:lnTo>
                <a:lnTo>
                  <a:pt x="101681" y="460859"/>
                </a:lnTo>
                <a:lnTo>
                  <a:pt x="87915" y="487875"/>
                </a:lnTo>
                <a:lnTo>
                  <a:pt x="75101" y="515356"/>
                </a:lnTo>
                <a:lnTo>
                  <a:pt x="63253" y="543266"/>
                </a:lnTo>
                <a:lnTo>
                  <a:pt x="52387" y="571573"/>
                </a:lnTo>
                <a:lnTo>
                  <a:pt x="42516" y="600243"/>
                </a:lnTo>
                <a:lnTo>
                  <a:pt x="33651" y="629239"/>
                </a:lnTo>
                <a:lnTo>
                  <a:pt x="25803" y="658527"/>
                </a:lnTo>
                <a:lnTo>
                  <a:pt x="18982" y="688071"/>
                </a:lnTo>
                <a:lnTo>
                  <a:pt x="13197" y="717835"/>
                </a:lnTo>
                <a:lnTo>
                  <a:pt x="8453" y="747783"/>
                </a:lnTo>
                <a:lnTo>
                  <a:pt x="4758" y="777878"/>
                </a:lnTo>
                <a:lnTo>
                  <a:pt x="2116" y="808083"/>
                </a:lnTo>
                <a:lnTo>
                  <a:pt x="529" y="838363"/>
                </a:lnTo>
                <a:lnTo>
                  <a:pt x="0" y="868680"/>
                </a:lnTo>
                <a:lnTo>
                  <a:pt x="364845" y="868680"/>
                </a:lnTo>
                <a:lnTo>
                  <a:pt x="365152" y="851096"/>
                </a:lnTo>
                <a:lnTo>
                  <a:pt x="366072" y="833534"/>
                </a:lnTo>
                <a:lnTo>
                  <a:pt x="367605" y="816014"/>
                </a:lnTo>
                <a:lnTo>
                  <a:pt x="369748" y="798559"/>
                </a:lnTo>
                <a:lnTo>
                  <a:pt x="372499" y="781190"/>
                </a:lnTo>
                <a:lnTo>
                  <a:pt x="375855" y="763926"/>
                </a:lnTo>
                <a:lnTo>
                  <a:pt x="379811" y="746791"/>
                </a:lnTo>
                <a:lnTo>
                  <a:pt x="384363" y="729804"/>
                </a:lnTo>
                <a:lnTo>
                  <a:pt x="389505" y="712986"/>
                </a:lnTo>
                <a:lnTo>
                  <a:pt x="395230" y="696358"/>
                </a:lnTo>
                <a:lnTo>
                  <a:pt x="401532" y="679940"/>
                </a:lnTo>
                <a:lnTo>
                  <a:pt x="408404" y="663752"/>
                </a:lnTo>
                <a:lnTo>
                  <a:pt x="415836" y="647813"/>
                </a:lnTo>
                <a:lnTo>
                  <a:pt x="423820" y="632144"/>
                </a:lnTo>
                <a:lnTo>
                  <a:pt x="432346" y="616762"/>
                </a:lnTo>
                <a:lnTo>
                  <a:pt x="441404" y="601688"/>
                </a:lnTo>
                <a:lnTo>
                  <a:pt x="450982" y="586939"/>
                </a:lnTo>
                <a:lnTo>
                  <a:pt x="461069" y="572533"/>
                </a:lnTo>
                <a:lnTo>
                  <a:pt x="471653" y="558488"/>
                </a:lnTo>
                <a:lnTo>
                  <a:pt x="482720" y="544821"/>
                </a:lnTo>
                <a:lnTo>
                  <a:pt x="494258" y="531548"/>
                </a:lnTo>
                <a:lnTo>
                  <a:pt x="506251" y="518687"/>
                </a:lnTo>
                <a:lnTo>
                  <a:pt x="518687" y="506251"/>
                </a:lnTo>
                <a:lnTo>
                  <a:pt x="531548" y="494258"/>
                </a:lnTo>
                <a:lnTo>
                  <a:pt x="544821" y="482720"/>
                </a:lnTo>
                <a:lnTo>
                  <a:pt x="558488" y="471653"/>
                </a:lnTo>
                <a:lnTo>
                  <a:pt x="572533" y="461069"/>
                </a:lnTo>
                <a:lnTo>
                  <a:pt x="586939" y="450982"/>
                </a:lnTo>
                <a:lnTo>
                  <a:pt x="601688" y="441404"/>
                </a:lnTo>
                <a:lnTo>
                  <a:pt x="616762" y="432346"/>
                </a:lnTo>
                <a:lnTo>
                  <a:pt x="632144" y="423820"/>
                </a:lnTo>
                <a:lnTo>
                  <a:pt x="647813" y="415836"/>
                </a:lnTo>
                <a:lnTo>
                  <a:pt x="663752" y="408404"/>
                </a:lnTo>
                <a:lnTo>
                  <a:pt x="679940" y="401532"/>
                </a:lnTo>
                <a:lnTo>
                  <a:pt x="696358" y="395230"/>
                </a:lnTo>
                <a:lnTo>
                  <a:pt x="712986" y="389505"/>
                </a:lnTo>
                <a:lnTo>
                  <a:pt x="729804" y="384363"/>
                </a:lnTo>
                <a:lnTo>
                  <a:pt x="746791" y="379811"/>
                </a:lnTo>
                <a:lnTo>
                  <a:pt x="763926" y="375855"/>
                </a:lnTo>
                <a:lnTo>
                  <a:pt x="781190" y="372499"/>
                </a:lnTo>
                <a:lnTo>
                  <a:pt x="798559" y="369748"/>
                </a:lnTo>
                <a:lnTo>
                  <a:pt x="816014" y="367605"/>
                </a:lnTo>
                <a:lnTo>
                  <a:pt x="833534" y="366072"/>
                </a:lnTo>
                <a:lnTo>
                  <a:pt x="851096" y="365152"/>
                </a:lnTo>
                <a:lnTo>
                  <a:pt x="868680" y="364845"/>
                </a:lnTo>
                <a:close/>
              </a:path>
            </a:pathLst>
          </a:custGeom>
          <a:solidFill>
            <a:srgbClr val="D6D6D6"/>
          </a:solidFill>
          <a:ln>
            <a:noFill/>
          </a:ln>
        </p:spPr>
        <p:txBody>
          <a:bodyPr rtlCol="0" anchor="ctr"/>
          <a:lstStyle/>
          <a:p>
            <a:pPr algn="ctr"/>
          </a:p>
        </p:txBody>
      </p:sp>
      <p:sp>
        <p:nvSpPr>
          <p:cNvPr id="7" name="Freeform 6"/>
          <p:cNvSpPr/>
          <p:nvPr/>
        </p:nvSpPr>
        <p:spPr>
          <a:xfrm>
            <a:off x="1965960" y="1783080"/>
            <a:ext cx="868680" cy="868680"/>
          </a:xfrm>
          <a:custGeom>
            <a:avLst/>
            <a:gdLst/>
            <a:ahLst/>
            <a:cxnLst/>
            <a:rect l="l" t="t" r="r" b="b"/>
            <a:pathLst>
              <a:path w="868680" h="868680">
                <a:moveTo>
                  <a:pt x="868680" y="868680"/>
                </a:moveTo>
                <a:lnTo>
                  <a:pt x="868150" y="838363"/>
                </a:lnTo>
                <a:lnTo>
                  <a:pt x="866563" y="808083"/>
                </a:lnTo>
                <a:lnTo>
                  <a:pt x="863921" y="777878"/>
                </a:lnTo>
                <a:lnTo>
                  <a:pt x="860226" y="747783"/>
                </a:lnTo>
                <a:lnTo>
                  <a:pt x="855482" y="717835"/>
                </a:lnTo>
                <a:lnTo>
                  <a:pt x="849697" y="688071"/>
                </a:lnTo>
                <a:lnTo>
                  <a:pt x="842876" y="658527"/>
                </a:lnTo>
                <a:lnTo>
                  <a:pt x="835028" y="629239"/>
                </a:lnTo>
                <a:lnTo>
                  <a:pt x="826163" y="600243"/>
                </a:lnTo>
                <a:lnTo>
                  <a:pt x="816292" y="571573"/>
                </a:lnTo>
                <a:lnTo>
                  <a:pt x="805426" y="543266"/>
                </a:lnTo>
                <a:lnTo>
                  <a:pt x="793578" y="515356"/>
                </a:lnTo>
                <a:lnTo>
                  <a:pt x="780764" y="487875"/>
                </a:lnTo>
                <a:lnTo>
                  <a:pt x="766998" y="460859"/>
                </a:lnTo>
                <a:lnTo>
                  <a:pt x="752298" y="434340"/>
                </a:lnTo>
                <a:lnTo>
                  <a:pt x="736682" y="408349"/>
                </a:lnTo>
                <a:lnTo>
                  <a:pt x="720168" y="382920"/>
                </a:lnTo>
                <a:lnTo>
                  <a:pt x="702776" y="358082"/>
                </a:lnTo>
                <a:lnTo>
                  <a:pt x="684529" y="333867"/>
                </a:lnTo>
                <a:lnTo>
                  <a:pt x="665447" y="310303"/>
                </a:lnTo>
                <a:lnTo>
                  <a:pt x="645555" y="287419"/>
                </a:lnTo>
                <a:lnTo>
                  <a:pt x="624876" y="265244"/>
                </a:lnTo>
                <a:lnTo>
                  <a:pt x="603435" y="243803"/>
                </a:lnTo>
                <a:lnTo>
                  <a:pt x="581260" y="223124"/>
                </a:lnTo>
                <a:lnTo>
                  <a:pt x="558376" y="203232"/>
                </a:lnTo>
                <a:lnTo>
                  <a:pt x="534812" y="184150"/>
                </a:lnTo>
                <a:lnTo>
                  <a:pt x="510597" y="165903"/>
                </a:lnTo>
                <a:lnTo>
                  <a:pt x="485759" y="148511"/>
                </a:lnTo>
                <a:lnTo>
                  <a:pt x="460330" y="131997"/>
                </a:lnTo>
                <a:lnTo>
                  <a:pt x="434340" y="116381"/>
                </a:lnTo>
                <a:lnTo>
                  <a:pt x="407820" y="101681"/>
                </a:lnTo>
                <a:lnTo>
                  <a:pt x="380804" y="87915"/>
                </a:lnTo>
                <a:lnTo>
                  <a:pt x="353323" y="75101"/>
                </a:lnTo>
                <a:lnTo>
                  <a:pt x="325413" y="63253"/>
                </a:lnTo>
                <a:lnTo>
                  <a:pt x="297106" y="52387"/>
                </a:lnTo>
                <a:lnTo>
                  <a:pt x="268436" y="42516"/>
                </a:lnTo>
                <a:lnTo>
                  <a:pt x="239440" y="33651"/>
                </a:lnTo>
                <a:lnTo>
                  <a:pt x="210152" y="25803"/>
                </a:lnTo>
                <a:lnTo>
                  <a:pt x="180608" y="18982"/>
                </a:lnTo>
                <a:lnTo>
                  <a:pt x="150844" y="13197"/>
                </a:lnTo>
                <a:lnTo>
                  <a:pt x="120896" y="8453"/>
                </a:lnTo>
                <a:lnTo>
                  <a:pt x="90801" y="4758"/>
                </a:lnTo>
                <a:lnTo>
                  <a:pt x="60596" y="2116"/>
                </a:lnTo>
                <a:lnTo>
                  <a:pt x="30316" y="529"/>
                </a:lnTo>
                <a:lnTo>
                  <a:pt x="0" y="0"/>
                </a:lnTo>
                <a:lnTo>
                  <a:pt x="0" y="364845"/>
                </a:lnTo>
                <a:lnTo>
                  <a:pt x="17583" y="365152"/>
                </a:lnTo>
                <a:lnTo>
                  <a:pt x="35145" y="366072"/>
                </a:lnTo>
                <a:lnTo>
                  <a:pt x="52665" y="367605"/>
                </a:lnTo>
                <a:lnTo>
                  <a:pt x="70120" y="369748"/>
                </a:lnTo>
                <a:lnTo>
                  <a:pt x="87489" y="372499"/>
                </a:lnTo>
                <a:lnTo>
                  <a:pt x="104753" y="375855"/>
                </a:lnTo>
                <a:lnTo>
                  <a:pt x="121888" y="379811"/>
                </a:lnTo>
                <a:lnTo>
                  <a:pt x="138875" y="384363"/>
                </a:lnTo>
                <a:lnTo>
                  <a:pt x="155693" y="389505"/>
                </a:lnTo>
                <a:lnTo>
                  <a:pt x="172321" y="395230"/>
                </a:lnTo>
                <a:lnTo>
                  <a:pt x="188739" y="401532"/>
                </a:lnTo>
                <a:lnTo>
                  <a:pt x="204927" y="408404"/>
                </a:lnTo>
                <a:lnTo>
                  <a:pt x="220866" y="415836"/>
                </a:lnTo>
                <a:lnTo>
                  <a:pt x="236535" y="423820"/>
                </a:lnTo>
                <a:lnTo>
                  <a:pt x="251917" y="432346"/>
                </a:lnTo>
                <a:lnTo>
                  <a:pt x="266991" y="441404"/>
                </a:lnTo>
                <a:lnTo>
                  <a:pt x="281740" y="450982"/>
                </a:lnTo>
                <a:lnTo>
                  <a:pt x="296146" y="461069"/>
                </a:lnTo>
                <a:lnTo>
                  <a:pt x="310191" y="471653"/>
                </a:lnTo>
                <a:lnTo>
                  <a:pt x="323858" y="482720"/>
                </a:lnTo>
                <a:lnTo>
                  <a:pt x="337131" y="494258"/>
                </a:lnTo>
                <a:lnTo>
                  <a:pt x="349992" y="506251"/>
                </a:lnTo>
                <a:lnTo>
                  <a:pt x="362428" y="518687"/>
                </a:lnTo>
                <a:lnTo>
                  <a:pt x="374421" y="531548"/>
                </a:lnTo>
                <a:lnTo>
                  <a:pt x="385959" y="544821"/>
                </a:lnTo>
                <a:lnTo>
                  <a:pt x="397026" y="558488"/>
                </a:lnTo>
                <a:lnTo>
                  <a:pt x="407610" y="572533"/>
                </a:lnTo>
                <a:lnTo>
                  <a:pt x="417697" y="586939"/>
                </a:lnTo>
                <a:lnTo>
                  <a:pt x="427275" y="601688"/>
                </a:lnTo>
                <a:lnTo>
                  <a:pt x="436333" y="616762"/>
                </a:lnTo>
                <a:lnTo>
                  <a:pt x="444859" y="632144"/>
                </a:lnTo>
                <a:lnTo>
                  <a:pt x="452843" y="647813"/>
                </a:lnTo>
                <a:lnTo>
                  <a:pt x="460275" y="663752"/>
                </a:lnTo>
                <a:lnTo>
                  <a:pt x="467147" y="679940"/>
                </a:lnTo>
                <a:lnTo>
                  <a:pt x="473449" y="696358"/>
                </a:lnTo>
                <a:lnTo>
                  <a:pt x="479174" y="712986"/>
                </a:lnTo>
                <a:lnTo>
                  <a:pt x="484316" y="729804"/>
                </a:lnTo>
                <a:lnTo>
                  <a:pt x="488868" y="746791"/>
                </a:lnTo>
                <a:lnTo>
                  <a:pt x="492824" y="763926"/>
                </a:lnTo>
                <a:lnTo>
                  <a:pt x="496180" y="781190"/>
                </a:lnTo>
                <a:lnTo>
                  <a:pt x="498931" y="798559"/>
                </a:lnTo>
                <a:lnTo>
                  <a:pt x="501074" y="816014"/>
                </a:lnTo>
                <a:lnTo>
                  <a:pt x="502607" y="833534"/>
                </a:lnTo>
                <a:lnTo>
                  <a:pt x="503527" y="851096"/>
                </a:lnTo>
                <a:lnTo>
                  <a:pt x="503834" y="868680"/>
                </a:lnTo>
                <a:close/>
              </a:path>
            </a:pathLst>
          </a:custGeom>
          <a:solidFill>
            <a:srgbClr val="D6D6D6"/>
          </a:solidFill>
          <a:ln>
            <a:noFill/>
          </a:ln>
        </p:spPr>
        <p:txBody>
          <a:bodyPr rtlCol="0" anchor="ctr"/>
          <a:lstStyle/>
          <a:p>
            <a:pPr algn="ctr"/>
          </a:p>
        </p:txBody>
      </p:sp>
      <p:sp>
        <p:nvSpPr>
          <p:cNvPr id="8" name="Freeform 7"/>
          <p:cNvSpPr/>
          <p:nvPr/>
        </p:nvSpPr>
        <p:spPr>
          <a:xfrm>
            <a:off x="1965960" y="2651760"/>
            <a:ext cx="868680" cy="868680"/>
          </a:xfrm>
          <a:custGeom>
            <a:avLst/>
            <a:gdLst/>
            <a:ahLst/>
            <a:cxnLst/>
            <a:rect l="l" t="t" r="r" b="b"/>
            <a:pathLst>
              <a:path w="868680" h="868680">
                <a:moveTo>
                  <a:pt x="0" y="868680"/>
                </a:moveTo>
                <a:lnTo>
                  <a:pt x="30316" y="868150"/>
                </a:lnTo>
                <a:lnTo>
                  <a:pt x="60596" y="866563"/>
                </a:lnTo>
                <a:lnTo>
                  <a:pt x="90801" y="863921"/>
                </a:lnTo>
                <a:lnTo>
                  <a:pt x="120896" y="860226"/>
                </a:lnTo>
                <a:lnTo>
                  <a:pt x="150844" y="855482"/>
                </a:lnTo>
                <a:lnTo>
                  <a:pt x="180608" y="849697"/>
                </a:lnTo>
                <a:lnTo>
                  <a:pt x="210152" y="842876"/>
                </a:lnTo>
                <a:lnTo>
                  <a:pt x="239440" y="835028"/>
                </a:lnTo>
                <a:lnTo>
                  <a:pt x="268436" y="826163"/>
                </a:lnTo>
                <a:lnTo>
                  <a:pt x="297106" y="816292"/>
                </a:lnTo>
                <a:lnTo>
                  <a:pt x="325413" y="805426"/>
                </a:lnTo>
                <a:lnTo>
                  <a:pt x="353323" y="793578"/>
                </a:lnTo>
                <a:lnTo>
                  <a:pt x="380804" y="780764"/>
                </a:lnTo>
                <a:lnTo>
                  <a:pt x="407820" y="766998"/>
                </a:lnTo>
                <a:lnTo>
                  <a:pt x="434340" y="752298"/>
                </a:lnTo>
                <a:lnTo>
                  <a:pt x="460330" y="736682"/>
                </a:lnTo>
                <a:lnTo>
                  <a:pt x="485759" y="720168"/>
                </a:lnTo>
                <a:lnTo>
                  <a:pt x="510597" y="702776"/>
                </a:lnTo>
                <a:lnTo>
                  <a:pt x="534812" y="684529"/>
                </a:lnTo>
                <a:lnTo>
                  <a:pt x="558376" y="665447"/>
                </a:lnTo>
                <a:lnTo>
                  <a:pt x="581260" y="645555"/>
                </a:lnTo>
                <a:lnTo>
                  <a:pt x="603435" y="624876"/>
                </a:lnTo>
                <a:lnTo>
                  <a:pt x="624876" y="603435"/>
                </a:lnTo>
                <a:lnTo>
                  <a:pt x="645555" y="581260"/>
                </a:lnTo>
                <a:lnTo>
                  <a:pt x="665447" y="558376"/>
                </a:lnTo>
                <a:lnTo>
                  <a:pt x="684529" y="534812"/>
                </a:lnTo>
                <a:lnTo>
                  <a:pt x="702776" y="510597"/>
                </a:lnTo>
                <a:lnTo>
                  <a:pt x="720168" y="485759"/>
                </a:lnTo>
                <a:lnTo>
                  <a:pt x="736682" y="460330"/>
                </a:lnTo>
                <a:lnTo>
                  <a:pt x="752298" y="434340"/>
                </a:lnTo>
                <a:lnTo>
                  <a:pt x="766998" y="407820"/>
                </a:lnTo>
                <a:lnTo>
                  <a:pt x="780764" y="380804"/>
                </a:lnTo>
                <a:lnTo>
                  <a:pt x="793578" y="353323"/>
                </a:lnTo>
                <a:lnTo>
                  <a:pt x="805426" y="325413"/>
                </a:lnTo>
                <a:lnTo>
                  <a:pt x="816292" y="297106"/>
                </a:lnTo>
                <a:lnTo>
                  <a:pt x="826163" y="268436"/>
                </a:lnTo>
                <a:lnTo>
                  <a:pt x="835028" y="239440"/>
                </a:lnTo>
                <a:lnTo>
                  <a:pt x="842876" y="210152"/>
                </a:lnTo>
                <a:lnTo>
                  <a:pt x="849697" y="180608"/>
                </a:lnTo>
                <a:lnTo>
                  <a:pt x="855482" y="150844"/>
                </a:lnTo>
                <a:lnTo>
                  <a:pt x="860226" y="120896"/>
                </a:lnTo>
                <a:lnTo>
                  <a:pt x="863921" y="90801"/>
                </a:lnTo>
                <a:lnTo>
                  <a:pt x="866563" y="60596"/>
                </a:lnTo>
                <a:lnTo>
                  <a:pt x="868150" y="30316"/>
                </a:lnTo>
                <a:lnTo>
                  <a:pt x="868680" y="0"/>
                </a:lnTo>
                <a:lnTo>
                  <a:pt x="503834" y="0"/>
                </a:lnTo>
                <a:lnTo>
                  <a:pt x="503527" y="17583"/>
                </a:lnTo>
                <a:lnTo>
                  <a:pt x="502607" y="35145"/>
                </a:lnTo>
                <a:lnTo>
                  <a:pt x="501074" y="52665"/>
                </a:lnTo>
                <a:lnTo>
                  <a:pt x="498931" y="70120"/>
                </a:lnTo>
                <a:lnTo>
                  <a:pt x="496180" y="87489"/>
                </a:lnTo>
                <a:lnTo>
                  <a:pt x="492824" y="104753"/>
                </a:lnTo>
                <a:lnTo>
                  <a:pt x="488868" y="121888"/>
                </a:lnTo>
                <a:lnTo>
                  <a:pt x="484316" y="138875"/>
                </a:lnTo>
                <a:lnTo>
                  <a:pt x="479174" y="155693"/>
                </a:lnTo>
                <a:lnTo>
                  <a:pt x="473449" y="172321"/>
                </a:lnTo>
                <a:lnTo>
                  <a:pt x="467147" y="188739"/>
                </a:lnTo>
                <a:lnTo>
                  <a:pt x="460275" y="204927"/>
                </a:lnTo>
                <a:lnTo>
                  <a:pt x="452843" y="220866"/>
                </a:lnTo>
                <a:lnTo>
                  <a:pt x="444859" y="236535"/>
                </a:lnTo>
                <a:lnTo>
                  <a:pt x="436333" y="251917"/>
                </a:lnTo>
                <a:lnTo>
                  <a:pt x="427275" y="266991"/>
                </a:lnTo>
                <a:lnTo>
                  <a:pt x="417697" y="281740"/>
                </a:lnTo>
                <a:lnTo>
                  <a:pt x="407610" y="296146"/>
                </a:lnTo>
                <a:lnTo>
                  <a:pt x="397026" y="310191"/>
                </a:lnTo>
                <a:lnTo>
                  <a:pt x="385959" y="323858"/>
                </a:lnTo>
                <a:lnTo>
                  <a:pt x="374421" y="337131"/>
                </a:lnTo>
                <a:lnTo>
                  <a:pt x="362428" y="349992"/>
                </a:lnTo>
                <a:lnTo>
                  <a:pt x="349992" y="362428"/>
                </a:lnTo>
                <a:lnTo>
                  <a:pt x="337131" y="374421"/>
                </a:lnTo>
                <a:lnTo>
                  <a:pt x="323858" y="385959"/>
                </a:lnTo>
                <a:lnTo>
                  <a:pt x="310191" y="397026"/>
                </a:lnTo>
                <a:lnTo>
                  <a:pt x="296146" y="407610"/>
                </a:lnTo>
                <a:lnTo>
                  <a:pt x="281740" y="417697"/>
                </a:lnTo>
                <a:lnTo>
                  <a:pt x="266991" y="427275"/>
                </a:lnTo>
                <a:lnTo>
                  <a:pt x="251917" y="436333"/>
                </a:lnTo>
                <a:lnTo>
                  <a:pt x="236535" y="444859"/>
                </a:lnTo>
                <a:lnTo>
                  <a:pt x="220866" y="452843"/>
                </a:lnTo>
                <a:lnTo>
                  <a:pt x="204927" y="460275"/>
                </a:lnTo>
                <a:lnTo>
                  <a:pt x="188739" y="467147"/>
                </a:lnTo>
                <a:lnTo>
                  <a:pt x="172321" y="473449"/>
                </a:lnTo>
                <a:lnTo>
                  <a:pt x="155693" y="479174"/>
                </a:lnTo>
                <a:lnTo>
                  <a:pt x="138875" y="484316"/>
                </a:lnTo>
                <a:lnTo>
                  <a:pt x="121888" y="488868"/>
                </a:lnTo>
                <a:lnTo>
                  <a:pt x="104753" y="492824"/>
                </a:lnTo>
                <a:lnTo>
                  <a:pt x="87489" y="496180"/>
                </a:lnTo>
                <a:lnTo>
                  <a:pt x="70120" y="498931"/>
                </a:lnTo>
                <a:lnTo>
                  <a:pt x="52665" y="501074"/>
                </a:lnTo>
                <a:lnTo>
                  <a:pt x="35145" y="502607"/>
                </a:lnTo>
                <a:lnTo>
                  <a:pt x="17583" y="503527"/>
                </a:lnTo>
                <a:lnTo>
                  <a:pt x="0" y="503834"/>
                </a:lnTo>
                <a:close/>
              </a:path>
            </a:pathLst>
          </a:custGeom>
          <a:solidFill>
            <a:srgbClr val="CC3333"/>
          </a:solidFill>
          <a:ln>
            <a:noFill/>
          </a:ln>
        </p:spPr>
        <p:txBody>
          <a:bodyPr rtlCol="0" anchor="ctr"/>
          <a:lstStyle/>
          <a:p>
            <a:pPr algn="ctr"/>
          </a:p>
        </p:txBody>
      </p:sp>
      <p:sp>
        <p:nvSpPr>
          <p:cNvPr id="9" name="Freeform 8"/>
          <p:cNvSpPr/>
          <p:nvPr/>
        </p:nvSpPr>
        <p:spPr>
          <a:xfrm>
            <a:off x="1097280" y="2651760"/>
            <a:ext cx="868680" cy="868680"/>
          </a:xfrm>
          <a:custGeom>
            <a:avLst/>
            <a:gdLst/>
            <a:ahLst/>
            <a:cxnLst/>
            <a:rect l="l" t="t" r="r" b="b"/>
            <a:pathLst>
              <a:path w="868680" h="868680">
                <a:moveTo>
                  <a:pt x="0" y="0"/>
                </a:moveTo>
                <a:lnTo>
                  <a:pt x="529" y="30316"/>
                </a:lnTo>
                <a:lnTo>
                  <a:pt x="2116" y="60596"/>
                </a:lnTo>
                <a:lnTo>
                  <a:pt x="4758" y="90801"/>
                </a:lnTo>
                <a:lnTo>
                  <a:pt x="8453" y="120896"/>
                </a:lnTo>
                <a:lnTo>
                  <a:pt x="13197" y="150844"/>
                </a:lnTo>
                <a:lnTo>
                  <a:pt x="18982" y="180608"/>
                </a:lnTo>
                <a:lnTo>
                  <a:pt x="25803" y="210152"/>
                </a:lnTo>
                <a:lnTo>
                  <a:pt x="33651" y="239440"/>
                </a:lnTo>
                <a:lnTo>
                  <a:pt x="42516" y="268436"/>
                </a:lnTo>
                <a:lnTo>
                  <a:pt x="52387" y="297106"/>
                </a:lnTo>
                <a:lnTo>
                  <a:pt x="63253" y="325413"/>
                </a:lnTo>
                <a:lnTo>
                  <a:pt x="75101" y="353323"/>
                </a:lnTo>
                <a:lnTo>
                  <a:pt x="87915" y="380804"/>
                </a:lnTo>
                <a:lnTo>
                  <a:pt x="101681" y="407820"/>
                </a:lnTo>
                <a:lnTo>
                  <a:pt x="116381" y="434340"/>
                </a:lnTo>
                <a:lnTo>
                  <a:pt x="131997" y="460330"/>
                </a:lnTo>
                <a:lnTo>
                  <a:pt x="148511" y="485759"/>
                </a:lnTo>
                <a:lnTo>
                  <a:pt x="165903" y="510597"/>
                </a:lnTo>
                <a:lnTo>
                  <a:pt x="184150" y="534812"/>
                </a:lnTo>
                <a:lnTo>
                  <a:pt x="203232" y="558376"/>
                </a:lnTo>
                <a:lnTo>
                  <a:pt x="223124" y="581260"/>
                </a:lnTo>
                <a:lnTo>
                  <a:pt x="243803" y="603435"/>
                </a:lnTo>
                <a:lnTo>
                  <a:pt x="265244" y="624876"/>
                </a:lnTo>
                <a:lnTo>
                  <a:pt x="287419" y="645555"/>
                </a:lnTo>
                <a:lnTo>
                  <a:pt x="310303" y="665447"/>
                </a:lnTo>
                <a:lnTo>
                  <a:pt x="333867" y="684529"/>
                </a:lnTo>
                <a:lnTo>
                  <a:pt x="358082" y="702776"/>
                </a:lnTo>
                <a:lnTo>
                  <a:pt x="382920" y="720168"/>
                </a:lnTo>
                <a:lnTo>
                  <a:pt x="408349" y="736682"/>
                </a:lnTo>
                <a:lnTo>
                  <a:pt x="434340" y="752298"/>
                </a:lnTo>
                <a:lnTo>
                  <a:pt x="460859" y="766998"/>
                </a:lnTo>
                <a:lnTo>
                  <a:pt x="487875" y="780764"/>
                </a:lnTo>
                <a:lnTo>
                  <a:pt x="515356" y="793578"/>
                </a:lnTo>
                <a:lnTo>
                  <a:pt x="543266" y="805426"/>
                </a:lnTo>
                <a:lnTo>
                  <a:pt x="571573" y="816292"/>
                </a:lnTo>
                <a:lnTo>
                  <a:pt x="600243" y="826163"/>
                </a:lnTo>
                <a:lnTo>
                  <a:pt x="629239" y="835028"/>
                </a:lnTo>
                <a:lnTo>
                  <a:pt x="658527" y="842876"/>
                </a:lnTo>
                <a:lnTo>
                  <a:pt x="688071" y="849697"/>
                </a:lnTo>
                <a:lnTo>
                  <a:pt x="717835" y="855482"/>
                </a:lnTo>
                <a:lnTo>
                  <a:pt x="747783" y="860226"/>
                </a:lnTo>
                <a:lnTo>
                  <a:pt x="777878" y="863921"/>
                </a:lnTo>
                <a:lnTo>
                  <a:pt x="808083" y="866563"/>
                </a:lnTo>
                <a:lnTo>
                  <a:pt x="838363" y="868150"/>
                </a:lnTo>
                <a:lnTo>
                  <a:pt x="868680" y="868680"/>
                </a:lnTo>
                <a:lnTo>
                  <a:pt x="868680" y="503834"/>
                </a:lnTo>
                <a:lnTo>
                  <a:pt x="851096" y="503527"/>
                </a:lnTo>
                <a:lnTo>
                  <a:pt x="833534" y="502607"/>
                </a:lnTo>
                <a:lnTo>
                  <a:pt x="816014" y="501074"/>
                </a:lnTo>
                <a:lnTo>
                  <a:pt x="798559" y="498931"/>
                </a:lnTo>
                <a:lnTo>
                  <a:pt x="781190" y="496180"/>
                </a:lnTo>
                <a:lnTo>
                  <a:pt x="763926" y="492824"/>
                </a:lnTo>
                <a:lnTo>
                  <a:pt x="746791" y="488868"/>
                </a:lnTo>
                <a:lnTo>
                  <a:pt x="729804" y="484316"/>
                </a:lnTo>
                <a:lnTo>
                  <a:pt x="712986" y="479174"/>
                </a:lnTo>
                <a:lnTo>
                  <a:pt x="696358" y="473449"/>
                </a:lnTo>
                <a:lnTo>
                  <a:pt x="679940" y="467147"/>
                </a:lnTo>
                <a:lnTo>
                  <a:pt x="663752" y="460275"/>
                </a:lnTo>
                <a:lnTo>
                  <a:pt x="647813" y="452843"/>
                </a:lnTo>
                <a:lnTo>
                  <a:pt x="632144" y="444859"/>
                </a:lnTo>
                <a:lnTo>
                  <a:pt x="616762" y="436333"/>
                </a:lnTo>
                <a:lnTo>
                  <a:pt x="601688" y="427275"/>
                </a:lnTo>
                <a:lnTo>
                  <a:pt x="586939" y="417697"/>
                </a:lnTo>
                <a:lnTo>
                  <a:pt x="572533" y="407610"/>
                </a:lnTo>
                <a:lnTo>
                  <a:pt x="558488" y="397026"/>
                </a:lnTo>
                <a:lnTo>
                  <a:pt x="544821" y="385959"/>
                </a:lnTo>
                <a:lnTo>
                  <a:pt x="531548" y="374421"/>
                </a:lnTo>
                <a:lnTo>
                  <a:pt x="518687" y="362428"/>
                </a:lnTo>
                <a:lnTo>
                  <a:pt x="506251" y="349992"/>
                </a:lnTo>
                <a:lnTo>
                  <a:pt x="494258" y="337131"/>
                </a:lnTo>
                <a:lnTo>
                  <a:pt x="482720" y="323858"/>
                </a:lnTo>
                <a:lnTo>
                  <a:pt x="471653" y="310191"/>
                </a:lnTo>
                <a:lnTo>
                  <a:pt x="461069" y="296146"/>
                </a:lnTo>
                <a:lnTo>
                  <a:pt x="450982" y="281740"/>
                </a:lnTo>
                <a:lnTo>
                  <a:pt x="441404" y="266991"/>
                </a:lnTo>
                <a:lnTo>
                  <a:pt x="432346" y="251917"/>
                </a:lnTo>
                <a:lnTo>
                  <a:pt x="423820" y="236535"/>
                </a:lnTo>
                <a:lnTo>
                  <a:pt x="415836" y="220866"/>
                </a:lnTo>
                <a:lnTo>
                  <a:pt x="408404" y="204927"/>
                </a:lnTo>
                <a:lnTo>
                  <a:pt x="401532" y="188739"/>
                </a:lnTo>
                <a:lnTo>
                  <a:pt x="395230" y="172321"/>
                </a:lnTo>
                <a:lnTo>
                  <a:pt x="389505" y="155693"/>
                </a:lnTo>
                <a:lnTo>
                  <a:pt x="384363" y="138875"/>
                </a:lnTo>
                <a:lnTo>
                  <a:pt x="379811" y="121888"/>
                </a:lnTo>
                <a:lnTo>
                  <a:pt x="375855" y="104753"/>
                </a:lnTo>
                <a:lnTo>
                  <a:pt x="372499" y="87489"/>
                </a:lnTo>
                <a:lnTo>
                  <a:pt x="369748" y="70120"/>
                </a:lnTo>
                <a:lnTo>
                  <a:pt x="367605" y="52665"/>
                </a:lnTo>
                <a:lnTo>
                  <a:pt x="366072" y="35145"/>
                </a:lnTo>
                <a:lnTo>
                  <a:pt x="365152" y="17583"/>
                </a:lnTo>
                <a:lnTo>
                  <a:pt x="364845" y="0"/>
                </a:lnTo>
                <a:close/>
              </a:path>
            </a:pathLst>
          </a:custGeom>
          <a:solidFill>
            <a:srgbClr val="D6D6D6"/>
          </a:solidFill>
          <a:ln>
            <a:noFill/>
          </a:ln>
        </p:spPr>
        <p:txBody>
          <a:bodyPr rtlCol="0" anchor="ctr"/>
          <a:lstStyle/>
          <a:p>
            <a:pPr algn="ctr"/>
          </a:p>
        </p:txBody>
      </p:sp>
      <p:cxnSp>
        <p:nvCxnSpPr>
          <p:cNvPr id="10" name="Connector 9"/>
          <p:cNvCxnSpPr/>
          <p:nvPr/>
        </p:nvCxnSpPr>
        <p:spPr>
          <a:xfrm flipH="1">
            <a:off x="1097280" y="2651760"/>
            <a:ext cx="364845" cy="0"/>
          </a:xfrm>
          <a:prstGeom prst="line">
            <a:avLst/>
          </a:prstGeom>
          <a:ln w="25400">
            <a:solidFill>
              <a:srgbClr val="FFFFFF"/>
            </a:solidFill>
          </a:ln>
        </p:spPr>
      </p:cxnSp>
      <p:cxnSp>
        <p:nvCxnSpPr>
          <p:cNvPr id="11" name="Connector 10"/>
          <p:cNvCxnSpPr/>
          <p:nvPr/>
        </p:nvCxnSpPr>
        <p:spPr>
          <a:xfrm flipV="1">
            <a:off x="1965960" y="1783080"/>
            <a:ext cx="0" cy="364845"/>
          </a:xfrm>
          <a:prstGeom prst="line">
            <a:avLst/>
          </a:prstGeom>
          <a:ln w="25400">
            <a:solidFill>
              <a:srgbClr val="FFFFFF"/>
            </a:solidFill>
          </a:ln>
        </p:spPr>
      </p:cxnSp>
      <p:cxnSp>
        <p:nvCxnSpPr>
          <p:cNvPr id="12" name="Connector 11"/>
          <p:cNvCxnSpPr/>
          <p:nvPr/>
        </p:nvCxnSpPr>
        <p:spPr>
          <a:xfrm>
            <a:off x="2469794" y="2651760"/>
            <a:ext cx="364846" cy="0"/>
          </a:xfrm>
          <a:prstGeom prst="line">
            <a:avLst/>
          </a:prstGeom>
          <a:ln w="25400">
            <a:solidFill>
              <a:srgbClr val="FFFFFF"/>
            </a:solidFill>
          </a:ln>
        </p:spPr>
      </p:cxnSp>
      <p:cxnSp>
        <p:nvCxnSpPr>
          <p:cNvPr id="13" name="Connector 12"/>
          <p:cNvCxnSpPr/>
          <p:nvPr/>
        </p:nvCxnSpPr>
        <p:spPr>
          <a:xfrm>
            <a:off x="1965960" y="3155594"/>
            <a:ext cx="0" cy="364846"/>
          </a:xfrm>
          <a:prstGeom prst="line">
            <a:avLst/>
          </a:prstGeom>
          <a:ln w="25400">
            <a:solidFill>
              <a:srgbClr val="FFFFFF"/>
            </a:solidFill>
          </a:ln>
        </p:spPr>
      </p:cxnSp>
      <p:sp>
        <p:nvSpPr>
          <p:cNvPr id="14" name="Oval 13"/>
          <p:cNvSpPr/>
          <p:nvPr/>
        </p:nvSpPr>
        <p:spPr>
          <a:xfrm>
            <a:off x="1531620" y="2217420"/>
            <a:ext cx="868680" cy="868680"/>
          </a:xfrm>
          <a:prstGeom prst="ellipse">
            <a:avLst/>
          </a:prstGeom>
          <a:solidFill>
            <a:srgbClr val="FFFFFF"/>
          </a:solidFill>
          <a:ln w="19050">
            <a:solidFill>
              <a:srgbClr val="D9D9D9"/>
            </a:solidFill>
          </a:ln>
          <a:effectLst/>
        </p:spPr>
        <p:txBody>
          <a:bodyPr rtlCol="0" anchor="ctr"/>
          <a:lstStyle/>
          <a:p/>
        </p:txBody>
      </p:sp>
      <p:sp>
        <p:nvSpPr>
          <p:cNvPr id="15" name="Freeform 14"/>
          <p:cNvSpPr/>
          <p:nvPr/>
        </p:nvSpPr>
        <p:spPr>
          <a:xfrm>
            <a:off x="862736" y="1576457"/>
            <a:ext cx="856593" cy="1075303"/>
          </a:xfrm>
          <a:custGeom>
            <a:avLst/>
            <a:gdLst/>
            <a:ahLst/>
            <a:cxnLst/>
            <a:rect l="l" t="t" r="r" b="b"/>
            <a:pathLst>
              <a:path w="856593" h="1075303">
                <a:moveTo>
                  <a:pt x="234544" y="1075303"/>
                </a:moveTo>
                <a:lnTo>
                  <a:pt x="0" y="1075303"/>
                </a:lnTo>
                <a:lnTo>
                  <a:pt x="624" y="1038204"/>
                </a:lnTo>
                <a:lnTo>
                  <a:pt x="2495" y="1001148"/>
                </a:lnTo>
                <a:lnTo>
                  <a:pt x="5611" y="964176"/>
                </a:lnTo>
                <a:lnTo>
                  <a:pt x="9969" y="927329"/>
                </a:lnTo>
                <a:lnTo>
                  <a:pt x="15563" y="890650"/>
                </a:lnTo>
                <a:lnTo>
                  <a:pt x="22387" y="854179"/>
                </a:lnTo>
                <a:lnTo>
                  <a:pt x="30434" y="817959"/>
                </a:lnTo>
                <a:lnTo>
                  <a:pt x="39695" y="782030"/>
                </a:lnTo>
                <a:lnTo>
                  <a:pt x="50158" y="746432"/>
                </a:lnTo>
                <a:lnTo>
                  <a:pt x="61813" y="711207"/>
                </a:lnTo>
                <a:lnTo>
                  <a:pt x="74645" y="676393"/>
                </a:lnTo>
                <a:lnTo>
                  <a:pt x="88641" y="642031"/>
                </a:lnTo>
                <a:lnTo>
                  <a:pt x="103784" y="608158"/>
                </a:lnTo>
                <a:lnTo>
                  <a:pt x="120058" y="574814"/>
                </a:lnTo>
                <a:lnTo>
                  <a:pt x="137444" y="542036"/>
                </a:lnTo>
                <a:lnTo>
                  <a:pt x="155923" y="509861"/>
                </a:lnTo>
                <a:lnTo>
                  <a:pt x="175473" y="478326"/>
                </a:lnTo>
                <a:lnTo>
                  <a:pt x="196072" y="447466"/>
                </a:lnTo>
                <a:lnTo>
                  <a:pt x="217697" y="417317"/>
                </a:lnTo>
                <a:lnTo>
                  <a:pt x="240324" y="387911"/>
                </a:lnTo>
                <a:lnTo>
                  <a:pt x="263927" y="359283"/>
                </a:lnTo>
                <a:lnTo>
                  <a:pt x="288480" y="331465"/>
                </a:lnTo>
                <a:lnTo>
                  <a:pt x="313953" y="304488"/>
                </a:lnTo>
                <a:lnTo>
                  <a:pt x="340320" y="278383"/>
                </a:lnTo>
                <a:lnTo>
                  <a:pt x="367550" y="253180"/>
                </a:lnTo>
                <a:lnTo>
                  <a:pt x="395611" y="228906"/>
                </a:lnTo>
                <a:lnTo>
                  <a:pt x="424473" y="205590"/>
                </a:lnTo>
                <a:lnTo>
                  <a:pt x="454103" y="183257"/>
                </a:lnTo>
                <a:lnTo>
                  <a:pt x="484467" y="161934"/>
                </a:lnTo>
                <a:lnTo>
                  <a:pt x="515531" y="141643"/>
                </a:lnTo>
                <a:lnTo>
                  <a:pt x="547259" y="122409"/>
                </a:lnTo>
                <a:lnTo>
                  <a:pt x="579617" y="104252"/>
                </a:lnTo>
                <a:lnTo>
                  <a:pt x="612567" y="87194"/>
                </a:lnTo>
                <a:lnTo>
                  <a:pt x="646071" y="71254"/>
                </a:lnTo>
                <a:lnTo>
                  <a:pt x="680093" y="56449"/>
                </a:lnTo>
                <a:lnTo>
                  <a:pt x="714594" y="42796"/>
                </a:lnTo>
                <a:lnTo>
                  <a:pt x="749533" y="30312"/>
                </a:lnTo>
                <a:lnTo>
                  <a:pt x="784874" y="19009"/>
                </a:lnTo>
                <a:lnTo>
                  <a:pt x="820574" y="8901"/>
                </a:lnTo>
                <a:lnTo>
                  <a:pt x="856593" y="0"/>
                </a:lnTo>
              </a:path>
            </a:pathLst>
          </a:custGeom>
          <a:noFill/>
          <a:ln w="28575">
            <a:solidFill>
              <a:srgbClr val="D6D6D6"/>
            </a:solidFill>
          </a:ln>
        </p:spPr>
        <p:txBody>
          <a:bodyPr rtlCol="0" anchor="ctr"/>
          <a:lstStyle/>
          <a:p>
            <a:pPr algn="ctr"/>
          </a:p>
        </p:txBody>
      </p:sp>
      <p:sp>
        <p:nvSpPr>
          <p:cNvPr id="16" name="Freeform 15"/>
          <p:cNvSpPr/>
          <p:nvPr/>
        </p:nvSpPr>
        <p:spPr>
          <a:xfrm>
            <a:off x="1704611" y="1512286"/>
            <a:ext cx="148407" cy="128341"/>
          </a:xfrm>
          <a:custGeom>
            <a:avLst/>
            <a:gdLst/>
            <a:ahLst/>
            <a:cxnLst/>
            <a:rect l="l" t="t" r="r" b="b"/>
            <a:pathLst>
              <a:path w="148407" h="128341">
                <a:moveTo>
                  <a:pt x="148407" y="33508"/>
                </a:moveTo>
                <a:lnTo>
                  <a:pt x="29437" y="128341"/>
                </a:lnTo>
                <a:lnTo>
                  <a:pt x="0" y="0"/>
                </a:lnTo>
                <a:close/>
              </a:path>
            </a:pathLst>
          </a:custGeom>
          <a:solidFill>
            <a:srgbClr val="D6D6D6"/>
          </a:solidFill>
          <a:ln>
            <a:noFill/>
          </a:ln>
        </p:spPr>
        <p:txBody>
          <a:bodyPr rtlCol="0" anchor="ctr"/>
          <a:lstStyle/>
          <a:p>
            <a:pPr algn="ctr"/>
          </a:p>
        </p:txBody>
      </p:sp>
      <p:sp>
        <p:nvSpPr>
          <p:cNvPr id="17" name="Freeform 16"/>
          <p:cNvSpPr/>
          <p:nvPr/>
        </p:nvSpPr>
        <p:spPr>
          <a:xfrm>
            <a:off x="1965960" y="1548536"/>
            <a:ext cx="1075302" cy="856593"/>
          </a:xfrm>
          <a:custGeom>
            <a:avLst/>
            <a:gdLst/>
            <a:ahLst/>
            <a:cxnLst/>
            <a:rect l="l" t="t" r="r" b="b"/>
            <a:pathLst>
              <a:path w="1075302" h="856593">
                <a:moveTo>
                  <a:pt x="0" y="234544"/>
                </a:moveTo>
                <a:lnTo>
                  <a:pt x="0" y="0"/>
                </a:lnTo>
                <a:lnTo>
                  <a:pt x="37098" y="624"/>
                </a:lnTo>
                <a:lnTo>
                  <a:pt x="74154" y="2495"/>
                </a:lnTo>
                <a:lnTo>
                  <a:pt x="111126" y="5611"/>
                </a:lnTo>
                <a:lnTo>
                  <a:pt x="147973" y="9969"/>
                </a:lnTo>
                <a:lnTo>
                  <a:pt x="184652" y="15563"/>
                </a:lnTo>
                <a:lnTo>
                  <a:pt x="221123" y="22387"/>
                </a:lnTo>
                <a:lnTo>
                  <a:pt x="257343" y="30434"/>
                </a:lnTo>
                <a:lnTo>
                  <a:pt x="293272" y="39695"/>
                </a:lnTo>
                <a:lnTo>
                  <a:pt x="328870" y="50158"/>
                </a:lnTo>
                <a:lnTo>
                  <a:pt x="364095" y="61813"/>
                </a:lnTo>
                <a:lnTo>
                  <a:pt x="398909" y="74645"/>
                </a:lnTo>
                <a:lnTo>
                  <a:pt x="433271" y="88641"/>
                </a:lnTo>
                <a:lnTo>
                  <a:pt x="467144" y="103784"/>
                </a:lnTo>
                <a:lnTo>
                  <a:pt x="500488" y="120058"/>
                </a:lnTo>
                <a:lnTo>
                  <a:pt x="533266" y="137444"/>
                </a:lnTo>
                <a:lnTo>
                  <a:pt x="565441" y="155923"/>
                </a:lnTo>
                <a:lnTo>
                  <a:pt x="596976" y="175473"/>
                </a:lnTo>
                <a:lnTo>
                  <a:pt x="627836" y="196072"/>
                </a:lnTo>
                <a:lnTo>
                  <a:pt x="657985" y="217697"/>
                </a:lnTo>
                <a:lnTo>
                  <a:pt x="687391" y="240324"/>
                </a:lnTo>
                <a:lnTo>
                  <a:pt x="716019" y="263927"/>
                </a:lnTo>
                <a:lnTo>
                  <a:pt x="743837" y="288480"/>
                </a:lnTo>
                <a:lnTo>
                  <a:pt x="770814" y="313953"/>
                </a:lnTo>
                <a:lnTo>
                  <a:pt x="796919" y="340320"/>
                </a:lnTo>
                <a:lnTo>
                  <a:pt x="822122" y="367550"/>
                </a:lnTo>
                <a:lnTo>
                  <a:pt x="846396" y="395611"/>
                </a:lnTo>
                <a:lnTo>
                  <a:pt x="869712" y="424473"/>
                </a:lnTo>
                <a:lnTo>
                  <a:pt x="892045" y="454103"/>
                </a:lnTo>
                <a:lnTo>
                  <a:pt x="913368" y="484467"/>
                </a:lnTo>
                <a:lnTo>
                  <a:pt x="933659" y="515531"/>
                </a:lnTo>
                <a:lnTo>
                  <a:pt x="952893" y="547259"/>
                </a:lnTo>
                <a:lnTo>
                  <a:pt x="971050" y="579617"/>
                </a:lnTo>
                <a:lnTo>
                  <a:pt x="988108" y="612567"/>
                </a:lnTo>
                <a:lnTo>
                  <a:pt x="1004048" y="646071"/>
                </a:lnTo>
                <a:lnTo>
                  <a:pt x="1018853" y="680093"/>
                </a:lnTo>
                <a:lnTo>
                  <a:pt x="1032506" y="714594"/>
                </a:lnTo>
                <a:lnTo>
                  <a:pt x="1044990" y="749533"/>
                </a:lnTo>
                <a:lnTo>
                  <a:pt x="1056293" y="784874"/>
                </a:lnTo>
                <a:lnTo>
                  <a:pt x="1066401" y="820574"/>
                </a:lnTo>
                <a:lnTo>
                  <a:pt x="1075302" y="856593"/>
                </a:lnTo>
              </a:path>
            </a:pathLst>
          </a:custGeom>
          <a:noFill/>
          <a:ln w="28575">
            <a:solidFill>
              <a:srgbClr val="D6D6D6"/>
            </a:solidFill>
          </a:ln>
        </p:spPr>
        <p:txBody>
          <a:bodyPr rtlCol="0" anchor="ctr"/>
          <a:lstStyle/>
          <a:p>
            <a:pPr algn="ctr"/>
          </a:p>
        </p:txBody>
      </p:sp>
      <p:sp>
        <p:nvSpPr>
          <p:cNvPr id="18" name="Freeform 17"/>
          <p:cNvSpPr/>
          <p:nvPr/>
        </p:nvSpPr>
        <p:spPr>
          <a:xfrm>
            <a:off x="2977092" y="2390411"/>
            <a:ext cx="128341" cy="148407"/>
          </a:xfrm>
          <a:custGeom>
            <a:avLst/>
            <a:gdLst/>
            <a:ahLst/>
            <a:cxnLst/>
            <a:rect l="l" t="t" r="r" b="b"/>
            <a:pathLst>
              <a:path w="128341" h="148407">
                <a:moveTo>
                  <a:pt x="94833" y="148407"/>
                </a:moveTo>
                <a:lnTo>
                  <a:pt x="0" y="29437"/>
                </a:lnTo>
                <a:lnTo>
                  <a:pt x="128341" y="0"/>
                </a:lnTo>
                <a:close/>
              </a:path>
            </a:pathLst>
          </a:custGeom>
          <a:solidFill>
            <a:srgbClr val="D6D6D6"/>
          </a:solidFill>
          <a:ln>
            <a:noFill/>
          </a:ln>
        </p:spPr>
        <p:txBody>
          <a:bodyPr rtlCol="0" anchor="ctr"/>
          <a:lstStyle/>
          <a:p>
            <a:pPr algn="ctr"/>
          </a:p>
        </p:txBody>
      </p:sp>
      <p:sp>
        <p:nvSpPr>
          <p:cNvPr id="19" name="Freeform 18"/>
          <p:cNvSpPr/>
          <p:nvPr/>
        </p:nvSpPr>
        <p:spPr>
          <a:xfrm>
            <a:off x="2212590" y="2651760"/>
            <a:ext cx="856593" cy="1075302"/>
          </a:xfrm>
          <a:custGeom>
            <a:avLst/>
            <a:gdLst/>
            <a:ahLst/>
            <a:cxnLst/>
            <a:rect l="l" t="t" r="r" b="b"/>
            <a:pathLst>
              <a:path w="856593" h="1075302">
                <a:moveTo>
                  <a:pt x="622050" y="0"/>
                </a:moveTo>
                <a:lnTo>
                  <a:pt x="856593" y="0"/>
                </a:lnTo>
                <a:lnTo>
                  <a:pt x="855969" y="37098"/>
                </a:lnTo>
                <a:lnTo>
                  <a:pt x="854098" y="74154"/>
                </a:lnTo>
                <a:lnTo>
                  <a:pt x="850982" y="111126"/>
                </a:lnTo>
                <a:lnTo>
                  <a:pt x="846624" y="147973"/>
                </a:lnTo>
                <a:lnTo>
                  <a:pt x="841030" y="184652"/>
                </a:lnTo>
                <a:lnTo>
                  <a:pt x="834206" y="221123"/>
                </a:lnTo>
                <a:lnTo>
                  <a:pt x="826159" y="257343"/>
                </a:lnTo>
                <a:lnTo>
                  <a:pt x="816898" y="293272"/>
                </a:lnTo>
                <a:lnTo>
                  <a:pt x="806435" y="328870"/>
                </a:lnTo>
                <a:lnTo>
                  <a:pt x="794780" y="364095"/>
                </a:lnTo>
                <a:lnTo>
                  <a:pt x="781948" y="398909"/>
                </a:lnTo>
                <a:lnTo>
                  <a:pt x="767952" y="433271"/>
                </a:lnTo>
                <a:lnTo>
                  <a:pt x="752809" y="467144"/>
                </a:lnTo>
                <a:lnTo>
                  <a:pt x="736535" y="500488"/>
                </a:lnTo>
                <a:lnTo>
                  <a:pt x="719149" y="533266"/>
                </a:lnTo>
                <a:lnTo>
                  <a:pt x="700670" y="565441"/>
                </a:lnTo>
                <a:lnTo>
                  <a:pt x="681120" y="596976"/>
                </a:lnTo>
                <a:lnTo>
                  <a:pt x="660521" y="627836"/>
                </a:lnTo>
                <a:lnTo>
                  <a:pt x="638896" y="657985"/>
                </a:lnTo>
                <a:lnTo>
                  <a:pt x="616269" y="687391"/>
                </a:lnTo>
                <a:lnTo>
                  <a:pt x="592666" y="716019"/>
                </a:lnTo>
                <a:lnTo>
                  <a:pt x="568113" y="743837"/>
                </a:lnTo>
                <a:lnTo>
                  <a:pt x="542640" y="770814"/>
                </a:lnTo>
                <a:lnTo>
                  <a:pt x="516273" y="796919"/>
                </a:lnTo>
                <a:lnTo>
                  <a:pt x="489043" y="822122"/>
                </a:lnTo>
                <a:lnTo>
                  <a:pt x="460982" y="846396"/>
                </a:lnTo>
                <a:lnTo>
                  <a:pt x="432120" y="869712"/>
                </a:lnTo>
                <a:lnTo>
                  <a:pt x="402490" y="892045"/>
                </a:lnTo>
                <a:lnTo>
                  <a:pt x="372126" y="913368"/>
                </a:lnTo>
                <a:lnTo>
                  <a:pt x="341062" y="933659"/>
                </a:lnTo>
                <a:lnTo>
                  <a:pt x="309334" y="952893"/>
                </a:lnTo>
                <a:lnTo>
                  <a:pt x="276976" y="971050"/>
                </a:lnTo>
                <a:lnTo>
                  <a:pt x="244026" y="988108"/>
                </a:lnTo>
                <a:lnTo>
                  <a:pt x="210522" y="1004048"/>
                </a:lnTo>
                <a:lnTo>
                  <a:pt x="176500" y="1018853"/>
                </a:lnTo>
                <a:lnTo>
                  <a:pt x="141999" y="1032506"/>
                </a:lnTo>
                <a:lnTo>
                  <a:pt x="107060" y="1044990"/>
                </a:lnTo>
                <a:lnTo>
                  <a:pt x="71719" y="1056293"/>
                </a:lnTo>
                <a:lnTo>
                  <a:pt x="36019" y="1066401"/>
                </a:lnTo>
                <a:lnTo>
                  <a:pt x="0" y="1075302"/>
                </a:lnTo>
              </a:path>
            </a:pathLst>
          </a:custGeom>
          <a:noFill/>
          <a:ln w="28575">
            <a:solidFill>
              <a:srgbClr val="CC3333"/>
            </a:solidFill>
          </a:ln>
        </p:spPr>
        <p:txBody>
          <a:bodyPr rtlCol="0" anchor="ctr"/>
          <a:lstStyle/>
          <a:p>
            <a:pPr algn="ctr"/>
          </a:p>
        </p:txBody>
      </p:sp>
      <p:sp>
        <p:nvSpPr>
          <p:cNvPr id="20" name="Freeform 19"/>
          <p:cNvSpPr/>
          <p:nvPr/>
        </p:nvSpPr>
        <p:spPr>
          <a:xfrm>
            <a:off x="2078901" y="3662892"/>
            <a:ext cx="148407" cy="128341"/>
          </a:xfrm>
          <a:custGeom>
            <a:avLst/>
            <a:gdLst/>
            <a:ahLst/>
            <a:cxnLst/>
            <a:rect l="l" t="t" r="r" b="b"/>
            <a:pathLst>
              <a:path w="148407" h="128341">
                <a:moveTo>
                  <a:pt x="0" y="94833"/>
                </a:moveTo>
                <a:lnTo>
                  <a:pt x="118970" y="0"/>
                </a:lnTo>
                <a:lnTo>
                  <a:pt x="148407" y="128341"/>
                </a:lnTo>
                <a:close/>
              </a:path>
            </a:pathLst>
          </a:custGeom>
          <a:solidFill>
            <a:srgbClr val="CC3333"/>
          </a:solidFill>
          <a:ln>
            <a:noFill/>
          </a:ln>
        </p:spPr>
        <p:txBody>
          <a:bodyPr rtlCol="0" anchor="ctr"/>
          <a:lstStyle/>
          <a:p>
            <a:pPr algn="ctr"/>
          </a:p>
        </p:txBody>
      </p:sp>
      <p:sp>
        <p:nvSpPr>
          <p:cNvPr id="21" name="Freeform 20"/>
          <p:cNvSpPr/>
          <p:nvPr/>
        </p:nvSpPr>
        <p:spPr>
          <a:xfrm>
            <a:off x="890657" y="2898390"/>
            <a:ext cx="1075303" cy="856593"/>
          </a:xfrm>
          <a:custGeom>
            <a:avLst/>
            <a:gdLst/>
            <a:ahLst/>
            <a:cxnLst/>
            <a:rect l="l" t="t" r="r" b="b"/>
            <a:pathLst>
              <a:path w="1075303" h="856593">
                <a:moveTo>
                  <a:pt x="1075303" y="622050"/>
                </a:moveTo>
                <a:lnTo>
                  <a:pt x="1075303" y="856593"/>
                </a:lnTo>
                <a:lnTo>
                  <a:pt x="1038204" y="855969"/>
                </a:lnTo>
                <a:lnTo>
                  <a:pt x="1001148" y="854098"/>
                </a:lnTo>
                <a:lnTo>
                  <a:pt x="964176" y="850982"/>
                </a:lnTo>
                <a:lnTo>
                  <a:pt x="927329" y="846624"/>
                </a:lnTo>
                <a:lnTo>
                  <a:pt x="890650" y="841030"/>
                </a:lnTo>
                <a:lnTo>
                  <a:pt x="854179" y="834206"/>
                </a:lnTo>
                <a:lnTo>
                  <a:pt x="817959" y="826159"/>
                </a:lnTo>
                <a:lnTo>
                  <a:pt x="782030" y="816898"/>
                </a:lnTo>
                <a:lnTo>
                  <a:pt x="746432" y="806435"/>
                </a:lnTo>
                <a:lnTo>
                  <a:pt x="711207" y="794780"/>
                </a:lnTo>
                <a:lnTo>
                  <a:pt x="676393" y="781948"/>
                </a:lnTo>
                <a:lnTo>
                  <a:pt x="642031" y="767952"/>
                </a:lnTo>
                <a:lnTo>
                  <a:pt x="608158" y="752809"/>
                </a:lnTo>
                <a:lnTo>
                  <a:pt x="574814" y="736535"/>
                </a:lnTo>
                <a:lnTo>
                  <a:pt x="542036" y="719149"/>
                </a:lnTo>
                <a:lnTo>
                  <a:pt x="509861" y="700670"/>
                </a:lnTo>
                <a:lnTo>
                  <a:pt x="478326" y="681120"/>
                </a:lnTo>
                <a:lnTo>
                  <a:pt x="447466" y="660521"/>
                </a:lnTo>
                <a:lnTo>
                  <a:pt x="417317" y="638896"/>
                </a:lnTo>
                <a:lnTo>
                  <a:pt x="387911" y="616269"/>
                </a:lnTo>
                <a:lnTo>
                  <a:pt x="359283" y="592666"/>
                </a:lnTo>
                <a:lnTo>
                  <a:pt x="331465" y="568113"/>
                </a:lnTo>
                <a:lnTo>
                  <a:pt x="304488" y="542640"/>
                </a:lnTo>
                <a:lnTo>
                  <a:pt x="278383" y="516273"/>
                </a:lnTo>
                <a:lnTo>
                  <a:pt x="253180" y="489043"/>
                </a:lnTo>
                <a:lnTo>
                  <a:pt x="228906" y="460982"/>
                </a:lnTo>
                <a:lnTo>
                  <a:pt x="205590" y="432120"/>
                </a:lnTo>
                <a:lnTo>
                  <a:pt x="183257" y="402490"/>
                </a:lnTo>
                <a:lnTo>
                  <a:pt x="161934" y="372126"/>
                </a:lnTo>
                <a:lnTo>
                  <a:pt x="141643" y="341062"/>
                </a:lnTo>
                <a:lnTo>
                  <a:pt x="122409" y="309334"/>
                </a:lnTo>
                <a:lnTo>
                  <a:pt x="104252" y="276976"/>
                </a:lnTo>
                <a:lnTo>
                  <a:pt x="87194" y="244026"/>
                </a:lnTo>
                <a:lnTo>
                  <a:pt x="71254" y="210522"/>
                </a:lnTo>
                <a:lnTo>
                  <a:pt x="56449" y="176500"/>
                </a:lnTo>
                <a:lnTo>
                  <a:pt x="42796" y="141999"/>
                </a:lnTo>
                <a:lnTo>
                  <a:pt x="30312" y="107060"/>
                </a:lnTo>
                <a:lnTo>
                  <a:pt x="19009" y="71719"/>
                </a:lnTo>
                <a:lnTo>
                  <a:pt x="8901" y="36019"/>
                </a:lnTo>
                <a:lnTo>
                  <a:pt x="0" y="0"/>
                </a:lnTo>
              </a:path>
            </a:pathLst>
          </a:custGeom>
          <a:noFill/>
          <a:ln w="28575">
            <a:solidFill>
              <a:srgbClr val="D6D6D6"/>
            </a:solidFill>
          </a:ln>
        </p:spPr>
        <p:txBody>
          <a:bodyPr rtlCol="0" anchor="ctr"/>
          <a:lstStyle/>
          <a:p>
            <a:pPr algn="ctr"/>
          </a:p>
        </p:txBody>
      </p:sp>
      <p:sp>
        <p:nvSpPr>
          <p:cNvPr id="22" name="Freeform 21"/>
          <p:cNvSpPr/>
          <p:nvPr/>
        </p:nvSpPr>
        <p:spPr>
          <a:xfrm>
            <a:off x="826486" y="2764701"/>
            <a:ext cx="128341" cy="148407"/>
          </a:xfrm>
          <a:custGeom>
            <a:avLst/>
            <a:gdLst/>
            <a:ahLst/>
            <a:cxnLst/>
            <a:rect l="l" t="t" r="r" b="b"/>
            <a:pathLst>
              <a:path w="128341" h="148407">
                <a:moveTo>
                  <a:pt x="33508" y="0"/>
                </a:moveTo>
                <a:lnTo>
                  <a:pt x="128341" y="118970"/>
                </a:lnTo>
                <a:lnTo>
                  <a:pt x="0" y="148407"/>
                </a:lnTo>
                <a:close/>
              </a:path>
            </a:pathLst>
          </a:custGeom>
          <a:solidFill>
            <a:srgbClr val="D6D6D6"/>
          </a:solidFill>
          <a:ln>
            <a:noFill/>
          </a:ln>
        </p:spPr>
        <p:txBody>
          <a:bodyPr rtlCol="0" anchor="ctr"/>
          <a:lstStyle/>
          <a:p>
            <a:pPr algn="ctr"/>
          </a:p>
        </p:txBody>
      </p:sp>
      <p:sp>
        <p:nvSpPr>
          <p:cNvPr id="23" name="Rounded Rectangle 22"/>
          <p:cNvSpPr/>
          <p:nvPr/>
        </p:nvSpPr>
        <p:spPr>
          <a:xfrm>
            <a:off x="3129991" y="2278227"/>
            <a:ext cx="208483" cy="747064"/>
          </a:xfrm>
          <a:prstGeom prst="roundRect">
            <a:avLst>
              <a:gd name="adj" fmla="val 12000"/>
            </a:avLst>
          </a:prstGeom>
          <a:solidFill>
            <a:srgbClr val="D33327"/>
          </a:solidFill>
          <a:ln w="19050">
            <a:solidFill>
              <a:srgbClr val="FFFFFF"/>
            </a:solidFill>
          </a:ln>
          <a:effectLst/>
        </p:spPr>
        <p:txBody>
          <a:bodyPr rtlCol="0" anchor="ctr"/>
          <a:lstStyle/>
          <a:p/>
        </p:txBody>
      </p:sp>
      <p:sp>
        <p:nvSpPr>
          <p:cNvPr id="24" name="TextBox 23"/>
          <p:cNvSpPr txBox="1"/>
          <p:nvPr/>
        </p:nvSpPr>
        <p:spPr>
          <a:xfrm rot="5400000">
            <a:off x="3049703" y="2467230"/>
            <a:ext cx="369059" cy="369059"/>
          </a:xfrm>
          <a:prstGeom prst="rect">
            <a:avLst/>
          </a:prstGeom>
          <a:noFill/>
        </p:spPr>
        <p:txBody>
          <a:bodyPr wrap="square" anchor="ctr" lIns="0" rIns="0" tIns="0" bIns="0">
            <a:noAutofit/>
          </a:bodyPr>
          <a:lstStyle/>
          <a:p>
            <a:pPr algn="ctr">
              <a:spcBef>
                <a:spcPts val="0"/>
              </a:spcBef>
              <a:spcAft>
                <a:spcPts val="0"/>
              </a:spcAft>
            </a:pPr>
            <a:r>
              <a:rPr lang="tr-TR" sz="1100" b="1" i="0">
                <a:solidFill>
                  <a:srgbClr val="FFFFFF"/>
                </a:solidFill>
                <a:latin typeface="Calibri"/>
              </a:rPr>
              <a:t>AFET</a:t>
            </a:r>
          </a:p>
        </p:txBody>
      </p:sp>
      <p:sp>
        <p:nvSpPr>
          <p:cNvPr id="25" name="TextBox 24"/>
          <p:cNvSpPr txBox="1"/>
          <p:nvPr/>
        </p:nvSpPr>
        <p:spPr>
          <a:xfrm>
            <a:off x="1592427" y="2391156"/>
            <a:ext cx="747064" cy="521208"/>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6" name="Oval 25"/>
          <p:cNvSpPr/>
          <p:nvPr/>
        </p:nvSpPr>
        <p:spPr>
          <a:xfrm>
            <a:off x="1361830" y="2047630"/>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1</a:t>
            </a:r>
          </a:p>
        </p:txBody>
      </p:sp>
      <p:sp>
        <p:nvSpPr>
          <p:cNvPr id="27" name="Oval 26"/>
          <p:cNvSpPr/>
          <p:nvPr/>
        </p:nvSpPr>
        <p:spPr>
          <a:xfrm>
            <a:off x="2332345" y="2047630"/>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2</a:t>
            </a:r>
          </a:p>
        </p:txBody>
      </p:sp>
      <p:sp>
        <p:nvSpPr>
          <p:cNvPr id="28" name="Oval 27"/>
          <p:cNvSpPr/>
          <p:nvPr/>
        </p:nvSpPr>
        <p:spPr>
          <a:xfrm>
            <a:off x="2332345" y="3018145"/>
            <a:ext cx="237744" cy="237744"/>
          </a:xfrm>
          <a:prstGeom prst="ellipse">
            <a:avLst/>
          </a:prstGeom>
          <a:solidFill>
            <a:srgbClr val="FFFFFF"/>
          </a:solidFill>
          <a:ln w="25400">
            <a:solidFill>
              <a:srgbClr val="CC3333"/>
            </a:solidFill>
          </a:ln>
          <a:effectLst/>
        </p:spPr>
        <p:txBody>
          <a:bodyPr rtlCol="0" anchor="ctr" wrap="none" lIns="0" rIns="0" tIns="0" bIns="0">
            <a:noAutofit/>
          </a:bodyPr>
          <a:lstStyle/>
          <a:p>
            <a:pPr algn="ctr">
              <a:spcBef>
                <a:spcPts val="0"/>
              </a:spcBef>
              <a:spcAft>
                <a:spcPts val="0"/>
              </a:spcAft>
            </a:pPr>
            <a:r>
              <a:rPr lang="tr-TR" sz="1029" b="1" i="0">
                <a:solidFill>
                  <a:srgbClr val="CC3333"/>
                </a:solidFill>
                <a:latin typeface="Calibri"/>
              </a:rPr>
              <a:t>3</a:t>
            </a:r>
          </a:p>
        </p:txBody>
      </p:sp>
      <p:sp>
        <p:nvSpPr>
          <p:cNvPr id="29" name="Oval 28"/>
          <p:cNvSpPr/>
          <p:nvPr/>
        </p:nvSpPr>
        <p:spPr>
          <a:xfrm>
            <a:off x="1361830" y="3018145"/>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4</a:t>
            </a:r>
          </a:p>
        </p:txBody>
      </p:sp>
      <p:sp>
        <p:nvSpPr>
          <p:cNvPr id="30" name="Rounded Rectangle 29"/>
          <p:cNvSpPr/>
          <p:nvPr/>
        </p:nvSpPr>
        <p:spPr>
          <a:xfrm>
            <a:off x="502920" y="4023360"/>
            <a:ext cx="3063240" cy="438912"/>
          </a:xfrm>
          <a:prstGeom prst="roundRect">
            <a:avLst>
              <a:gd name="adj" fmla="val 50000"/>
            </a:avLst>
          </a:prstGeom>
          <a:solidFill>
            <a:srgbClr val="FFFFFF"/>
          </a:solidFill>
          <a:ln w="19050">
            <a:solidFill>
              <a:srgbClr val="A6342F"/>
            </a:solidFill>
          </a:ln>
          <a:effectLst/>
        </p:spPr>
        <p:txBody>
          <a:bodyPr rtlCol="0" anchor="ctr" wrap="square" lIns="128016" rIns="128016" tIns="0" bIns="0">
            <a:noAutofit/>
          </a:bodyPr>
          <a:lstStyle/>
          <a:p>
            <a:pPr algn="ctr">
              <a:spcBef>
                <a:spcPts val="0"/>
              </a:spcBef>
              <a:spcAft>
                <a:spcPts val="0"/>
              </a:spcAft>
            </a:pPr>
            <a:r>
              <a:rPr lang="tr-TR" sz="1800" b="1" i="0">
                <a:solidFill>
                  <a:srgbClr val="A6342F"/>
                </a:solidFill>
                <a:latin typeface="Calibri"/>
              </a:rPr>
              <a:t>ok: Etki analizi</a:t>
            </a:r>
          </a:p>
        </p:txBody>
      </p:sp>
      <p:sp>
        <p:nvSpPr>
          <p:cNvPr id="31" name="Rounded Rectangle 30"/>
          <p:cNvSpPr/>
          <p:nvPr/>
        </p:nvSpPr>
        <p:spPr>
          <a:xfrm>
            <a:off x="502920" y="4572000"/>
            <a:ext cx="3063240" cy="438912"/>
          </a:xfrm>
          <a:prstGeom prst="roundRect">
            <a:avLst>
              <a:gd name="adj" fmla="val 50000"/>
            </a:avLst>
          </a:prstGeom>
          <a:solidFill>
            <a:srgbClr val="A8322C"/>
          </a:solidFill>
          <a:ln>
            <a:noFill/>
          </a:ln>
          <a:effectLst/>
        </p:spPr>
        <p:txBody>
          <a:bodyPr rtlCol="0" anchor="ctr" wrap="square" lIns="128016" rIns="128016" tIns="0" bIns="0">
            <a:noAutofit/>
          </a:bodyPr>
          <a:lstStyle/>
          <a:p>
            <a:pPr algn="ctr">
              <a:spcBef>
                <a:spcPts val="0"/>
              </a:spcBef>
              <a:spcAft>
                <a:spcPts val="0"/>
              </a:spcAft>
            </a:pPr>
            <a:r>
              <a:rPr lang="tr-TR" sz="1250" b="1" i="0">
                <a:solidFill>
                  <a:srgbClr val="FFFFFF"/>
                </a:solidFill>
                <a:latin typeface="Calibri"/>
              </a:rPr>
              <a:t>KRİZ YÖNETİMİ · afet esnası ve sonrası</a:t>
            </a:r>
          </a:p>
        </p:txBody>
      </p:sp>
      <p:sp>
        <p:nvSpPr>
          <p:cNvPr id="32" name="Rounded Rectangle 31"/>
          <p:cNvSpPr/>
          <p:nvPr/>
        </p:nvSpPr>
        <p:spPr>
          <a:xfrm>
            <a:off x="502920" y="5166360"/>
            <a:ext cx="3063240" cy="1124712"/>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00"/>
              </a:spcAft>
            </a:pPr>
            <a:r>
              <a:rPr lang="tr-TR" sz="1900" b="1" i="0">
                <a:solidFill>
                  <a:srgbClr val="CC3333"/>
                </a:solidFill>
                <a:latin typeface="Calibri"/>
              </a:rPr>
              <a:t>Deftere</a:t>
            </a:r>
          </a:p>
          <a:p>
            <a:pPr algn="l">
              <a:spcBef>
                <a:spcPts val="0"/>
              </a:spcBef>
              <a:spcAft>
                <a:spcPts val="0"/>
              </a:spcAft>
            </a:pPr>
            <a:r>
              <a:rPr lang="tr-TR" sz="1700" b="0" i="0">
                <a:solidFill>
                  <a:srgbClr val="262626"/>
                </a:solidFill>
                <a:latin typeface="Calibri"/>
              </a:rPr>
              <a:t>amacı · uygulamaları</a:t>
            </a:r>
          </a:p>
        </p:txBody>
      </p:sp>
      <p:sp>
        <p:nvSpPr>
          <p:cNvPr id="33" name="Rounded Rectangle 32"/>
          <p:cNvSpPr/>
          <p:nvPr/>
        </p:nvSpPr>
        <p:spPr>
          <a:xfrm>
            <a:off x="3840480" y="1216152"/>
            <a:ext cx="7848295" cy="502920"/>
          </a:xfrm>
          <a:prstGeom prst="roundRect">
            <a:avLst>
              <a:gd name="adj" fmla="val 15000"/>
            </a:avLst>
          </a:prstGeom>
          <a:solidFill>
            <a:srgbClr val="CC3333"/>
          </a:solidFill>
          <a:ln>
            <a:noFill/>
          </a:ln>
          <a:effectLst/>
        </p:spPr>
        <p:txBody>
          <a:bodyPr rtlCol="0" anchor="ctr" wrap="square" lIns="182880" rIns="182880" tIns="0" bIns="0">
            <a:noAutofit/>
          </a:bodyPr>
          <a:lstStyle/>
          <a:p>
            <a:pPr algn="l">
              <a:spcBef>
                <a:spcPts val="0"/>
              </a:spcBef>
              <a:spcAft>
                <a:spcPts val="0"/>
              </a:spcAft>
            </a:pPr>
            <a:r>
              <a:rPr lang="tr-TR" sz="2100" b="1" i="0">
                <a:solidFill>
                  <a:srgbClr val="FFFFFF"/>
                </a:solidFill>
                <a:latin typeface="Calibri"/>
              </a:rPr>
              <a:t>MÜDAHALE</a:t>
            </a:r>
          </a:p>
        </p:txBody>
      </p:sp>
      <p:sp>
        <p:nvSpPr>
          <p:cNvPr id="34" name="Rounded Rectangle 33"/>
          <p:cNvSpPr/>
          <p:nvPr/>
        </p:nvSpPr>
        <p:spPr>
          <a:xfrm>
            <a:off x="3840480" y="1828800"/>
            <a:ext cx="7848295" cy="2153412"/>
          </a:xfrm>
          <a:prstGeom prst="roundRect">
            <a:avLst>
              <a:gd name="adj" fmla="val 8000"/>
            </a:avLst>
          </a:prstGeom>
          <a:solidFill>
            <a:srgbClr val="F0F0F0"/>
          </a:solidFill>
          <a:ln>
            <a:noFill/>
          </a:ln>
          <a:effectLst/>
        </p:spPr>
        <p:txBody>
          <a:bodyPr rtlCol="0" anchor="ctr"/>
          <a:lstStyle/>
          <a:p/>
        </p:txBody>
      </p:sp>
      <p:sp>
        <p:nvSpPr>
          <p:cNvPr id="35" name="Rectangle 34"/>
          <p:cNvSpPr/>
          <p:nvPr/>
        </p:nvSpPr>
        <p:spPr>
          <a:xfrm>
            <a:off x="3840480" y="1828800"/>
            <a:ext cx="118872" cy="2153412"/>
          </a:xfrm>
          <a:prstGeom prst="rect">
            <a:avLst/>
          </a:prstGeom>
          <a:solidFill>
            <a:srgbClr val="CC3333"/>
          </a:solidFill>
          <a:ln>
            <a:noFill/>
          </a:ln>
          <a:effectLst/>
        </p:spPr>
        <p:txBody>
          <a:bodyPr rtlCol="0" anchor="ctr"/>
          <a:lstStyle/>
          <a:p/>
        </p:txBody>
      </p:sp>
      <p:sp>
        <p:nvSpPr>
          <p:cNvPr id="36" name="TextBox 35"/>
          <p:cNvSpPr txBox="1"/>
          <p:nvPr/>
        </p:nvSpPr>
        <p:spPr>
          <a:xfrm>
            <a:off x="4114800" y="1828800"/>
            <a:ext cx="7436815" cy="21534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Bu aşamanın amacı olaya en kısa sürede müdahale edilmesi, </a:t>
            </a:r>
            <a:r>
              <a:rPr lang="tr-TR" sz="2200" b="1" i="0">
                <a:solidFill>
                  <a:srgbClr val="262626"/>
                </a:solidFill>
                <a:latin typeface="Calibri"/>
              </a:rPr>
              <a:t>arama kurtarma</a:t>
            </a:r>
            <a:r>
              <a:rPr lang="tr-TR" sz="2200" b="0" i="0">
                <a:solidFill>
                  <a:srgbClr val="262626"/>
                </a:solidFill>
                <a:latin typeface="Calibri"/>
              </a:rPr>
              <a:t> faaliyetlerinin gerçekleştirilmesi; </a:t>
            </a:r>
            <a:r>
              <a:rPr lang="tr-TR" sz="2200" b="1" i="0">
                <a:solidFill>
                  <a:srgbClr val="262626"/>
                </a:solidFill>
                <a:latin typeface="Calibri"/>
              </a:rPr>
              <a:t>gıda, barınma, ilaç, güvenlik</a:t>
            </a:r>
            <a:r>
              <a:rPr lang="tr-TR" sz="2200" b="0" i="0">
                <a:solidFill>
                  <a:srgbClr val="262626"/>
                </a:solidFill>
                <a:latin typeface="Calibri"/>
              </a:rPr>
              <a:t> gibi zaruri ihtiyaçların karşılanmasını sağlamaktır.</a:t>
            </a:r>
          </a:p>
        </p:txBody>
      </p:sp>
      <p:sp>
        <p:nvSpPr>
          <p:cNvPr id="37" name="Rounded Rectangle 36"/>
          <p:cNvSpPr/>
          <p:nvPr/>
        </p:nvSpPr>
        <p:spPr>
          <a:xfrm>
            <a:off x="3840480" y="4119372"/>
            <a:ext cx="7848295" cy="2153412"/>
          </a:xfrm>
          <a:prstGeom prst="roundRect">
            <a:avLst>
              <a:gd name="adj" fmla="val 8000"/>
            </a:avLst>
          </a:prstGeom>
          <a:solidFill>
            <a:srgbClr val="F0F0F0"/>
          </a:solidFill>
          <a:ln>
            <a:noFill/>
          </a:ln>
          <a:effectLst/>
        </p:spPr>
        <p:txBody>
          <a:bodyPr rtlCol="0" anchor="ctr"/>
          <a:lstStyle/>
          <a:p/>
        </p:txBody>
      </p:sp>
      <p:sp>
        <p:nvSpPr>
          <p:cNvPr id="38" name="Rectangle 37"/>
          <p:cNvSpPr/>
          <p:nvPr/>
        </p:nvSpPr>
        <p:spPr>
          <a:xfrm>
            <a:off x="3840480" y="4119372"/>
            <a:ext cx="118872" cy="2153412"/>
          </a:xfrm>
          <a:prstGeom prst="rect">
            <a:avLst/>
          </a:prstGeom>
          <a:solidFill>
            <a:srgbClr val="CC3333"/>
          </a:solidFill>
          <a:ln>
            <a:noFill/>
          </a:ln>
          <a:effectLst/>
        </p:spPr>
        <p:txBody>
          <a:bodyPr rtlCol="0" anchor="ctr"/>
          <a:lstStyle/>
          <a:p/>
        </p:txBody>
      </p:sp>
      <p:sp>
        <p:nvSpPr>
          <p:cNvPr id="39" name="TextBox 38"/>
          <p:cNvSpPr txBox="1"/>
          <p:nvPr/>
        </p:nvSpPr>
        <p:spPr>
          <a:xfrm>
            <a:off x="4114800" y="4119372"/>
            <a:ext cx="7436815" cy="21534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Bu aşama; </a:t>
            </a:r>
            <a:r>
              <a:rPr lang="tr-TR" sz="2200" b="1" i="0">
                <a:solidFill>
                  <a:srgbClr val="262626"/>
                </a:solidFill>
                <a:latin typeface="Calibri"/>
              </a:rPr>
              <a:t>hasar tespitinin yapılması</a:t>
            </a:r>
            <a:r>
              <a:rPr lang="tr-TR" sz="2200" b="0" i="0">
                <a:solidFill>
                  <a:srgbClr val="262626"/>
                </a:solidFill>
                <a:latin typeface="Calibri"/>
              </a:rPr>
              <a:t> ve </a:t>
            </a:r>
            <a:r>
              <a:rPr lang="tr-TR" sz="2200" b="1" i="0">
                <a:solidFill>
                  <a:srgbClr val="262626"/>
                </a:solidFill>
                <a:latin typeface="Calibri"/>
              </a:rPr>
              <a:t>enkazların kaldırılmasıyla</a:t>
            </a:r>
            <a:r>
              <a:rPr lang="tr-TR" sz="2200" b="0" i="0">
                <a:solidFill>
                  <a:srgbClr val="262626"/>
                </a:solidFill>
                <a:latin typeface="Calibri"/>
              </a:rPr>
              <a:t> afet sonrasında oluşabilecek yangın, patlama, salgın hastalıklar, çevreye yönelik tehditler gibi olumsuzluklara karşı önlem almayı da kapsamaktadır.</a:t>
            </a:r>
          </a:p>
        </p:txBody>
      </p: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132 / 250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aşama: İyileştirme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4. AŞAMA</a:t>
            </a:r>
          </a:p>
        </p:txBody>
      </p:sp>
      <p:sp>
        <p:nvSpPr>
          <p:cNvPr id="6" name="Freeform 5"/>
          <p:cNvSpPr/>
          <p:nvPr/>
        </p:nvSpPr>
        <p:spPr>
          <a:xfrm>
            <a:off x="1097280" y="1783080"/>
            <a:ext cx="868680" cy="868680"/>
          </a:xfrm>
          <a:custGeom>
            <a:avLst/>
            <a:gdLst/>
            <a:ahLst/>
            <a:cxnLst/>
            <a:rect l="l" t="t" r="r" b="b"/>
            <a:pathLst>
              <a:path w="868680" h="868680">
                <a:moveTo>
                  <a:pt x="868680" y="0"/>
                </a:moveTo>
                <a:lnTo>
                  <a:pt x="838363" y="529"/>
                </a:lnTo>
                <a:lnTo>
                  <a:pt x="808083" y="2116"/>
                </a:lnTo>
                <a:lnTo>
                  <a:pt x="777878" y="4758"/>
                </a:lnTo>
                <a:lnTo>
                  <a:pt x="747783" y="8453"/>
                </a:lnTo>
                <a:lnTo>
                  <a:pt x="717835" y="13197"/>
                </a:lnTo>
                <a:lnTo>
                  <a:pt x="688071" y="18982"/>
                </a:lnTo>
                <a:lnTo>
                  <a:pt x="658527" y="25803"/>
                </a:lnTo>
                <a:lnTo>
                  <a:pt x="629239" y="33651"/>
                </a:lnTo>
                <a:lnTo>
                  <a:pt x="600243" y="42516"/>
                </a:lnTo>
                <a:lnTo>
                  <a:pt x="571573" y="52387"/>
                </a:lnTo>
                <a:lnTo>
                  <a:pt x="543266" y="63253"/>
                </a:lnTo>
                <a:lnTo>
                  <a:pt x="515356" y="75101"/>
                </a:lnTo>
                <a:lnTo>
                  <a:pt x="487875" y="87915"/>
                </a:lnTo>
                <a:lnTo>
                  <a:pt x="460859" y="101681"/>
                </a:lnTo>
                <a:lnTo>
                  <a:pt x="434340" y="116381"/>
                </a:lnTo>
                <a:lnTo>
                  <a:pt x="408349" y="131997"/>
                </a:lnTo>
                <a:lnTo>
                  <a:pt x="382920" y="148511"/>
                </a:lnTo>
                <a:lnTo>
                  <a:pt x="358082" y="165903"/>
                </a:lnTo>
                <a:lnTo>
                  <a:pt x="333867" y="184150"/>
                </a:lnTo>
                <a:lnTo>
                  <a:pt x="310303" y="203232"/>
                </a:lnTo>
                <a:lnTo>
                  <a:pt x="287419" y="223124"/>
                </a:lnTo>
                <a:lnTo>
                  <a:pt x="265244" y="243803"/>
                </a:lnTo>
                <a:lnTo>
                  <a:pt x="243803" y="265244"/>
                </a:lnTo>
                <a:lnTo>
                  <a:pt x="223124" y="287419"/>
                </a:lnTo>
                <a:lnTo>
                  <a:pt x="203232" y="310303"/>
                </a:lnTo>
                <a:lnTo>
                  <a:pt x="184150" y="333867"/>
                </a:lnTo>
                <a:lnTo>
                  <a:pt x="165903" y="358082"/>
                </a:lnTo>
                <a:lnTo>
                  <a:pt x="148511" y="382920"/>
                </a:lnTo>
                <a:lnTo>
                  <a:pt x="131997" y="408349"/>
                </a:lnTo>
                <a:lnTo>
                  <a:pt x="116381" y="434340"/>
                </a:lnTo>
                <a:lnTo>
                  <a:pt x="101681" y="460859"/>
                </a:lnTo>
                <a:lnTo>
                  <a:pt x="87915" y="487875"/>
                </a:lnTo>
                <a:lnTo>
                  <a:pt x="75101" y="515356"/>
                </a:lnTo>
                <a:lnTo>
                  <a:pt x="63253" y="543266"/>
                </a:lnTo>
                <a:lnTo>
                  <a:pt x="52387" y="571573"/>
                </a:lnTo>
                <a:lnTo>
                  <a:pt x="42516" y="600243"/>
                </a:lnTo>
                <a:lnTo>
                  <a:pt x="33651" y="629239"/>
                </a:lnTo>
                <a:lnTo>
                  <a:pt x="25803" y="658527"/>
                </a:lnTo>
                <a:lnTo>
                  <a:pt x="18982" y="688071"/>
                </a:lnTo>
                <a:lnTo>
                  <a:pt x="13197" y="717835"/>
                </a:lnTo>
                <a:lnTo>
                  <a:pt x="8453" y="747783"/>
                </a:lnTo>
                <a:lnTo>
                  <a:pt x="4758" y="777878"/>
                </a:lnTo>
                <a:lnTo>
                  <a:pt x="2116" y="808083"/>
                </a:lnTo>
                <a:lnTo>
                  <a:pt x="529" y="838363"/>
                </a:lnTo>
                <a:lnTo>
                  <a:pt x="0" y="868680"/>
                </a:lnTo>
                <a:lnTo>
                  <a:pt x="364845" y="868680"/>
                </a:lnTo>
                <a:lnTo>
                  <a:pt x="365152" y="851096"/>
                </a:lnTo>
                <a:lnTo>
                  <a:pt x="366072" y="833534"/>
                </a:lnTo>
                <a:lnTo>
                  <a:pt x="367605" y="816014"/>
                </a:lnTo>
                <a:lnTo>
                  <a:pt x="369748" y="798559"/>
                </a:lnTo>
                <a:lnTo>
                  <a:pt x="372499" y="781190"/>
                </a:lnTo>
                <a:lnTo>
                  <a:pt x="375855" y="763926"/>
                </a:lnTo>
                <a:lnTo>
                  <a:pt x="379811" y="746791"/>
                </a:lnTo>
                <a:lnTo>
                  <a:pt x="384363" y="729804"/>
                </a:lnTo>
                <a:lnTo>
                  <a:pt x="389505" y="712986"/>
                </a:lnTo>
                <a:lnTo>
                  <a:pt x="395230" y="696358"/>
                </a:lnTo>
                <a:lnTo>
                  <a:pt x="401532" y="679940"/>
                </a:lnTo>
                <a:lnTo>
                  <a:pt x="408404" y="663752"/>
                </a:lnTo>
                <a:lnTo>
                  <a:pt x="415836" y="647813"/>
                </a:lnTo>
                <a:lnTo>
                  <a:pt x="423820" y="632144"/>
                </a:lnTo>
                <a:lnTo>
                  <a:pt x="432346" y="616762"/>
                </a:lnTo>
                <a:lnTo>
                  <a:pt x="441404" y="601688"/>
                </a:lnTo>
                <a:lnTo>
                  <a:pt x="450982" y="586939"/>
                </a:lnTo>
                <a:lnTo>
                  <a:pt x="461069" y="572533"/>
                </a:lnTo>
                <a:lnTo>
                  <a:pt x="471653" y="558488"/>
                </a:lnTo>
                <a:lnTo>
                  <a:pt x="482720" y="544821"/>
                </a:lnTo>
                <a:lnTo>
                  <a:pt x="494258" y="531548"/>
                </a:lnTo>
                <a:lnTo>
                  <a:pt x="506251" y="518687"/>
                </a:lnTo>
                <a:lnTo>
                  <a:pt x="518687" y="506251"/>
                </a:lnTo>
                <a:lnTo>
                  <a:pt x="531548" y="494258"/>
                </a:lnTo>
                <a:lnTo>
                  <a:pt x="544821" y="482720"/>
                </a:lnTo>
                <a:lnTo>
                  <a:pt x="558488" y="471653"/>
                </a:lnTo>
                <a:lnTo>
                  <a:pt x="572533" y="461069"/>
                </a:lnTo>
                <a:lnTo>
                  <a:pt x="586939" y="450982"/>
                </a:lnTo>
                <a:lnTo>
                  <a:pt x="601688" y="441404"/>
                </a:lnTo>
                <a:lnTo>
                  <a:pt x="616762" y="432346"/>
                </a:lnTo>
                <a:lnTo>
                  <a:pt x="632144" y="423820"/>
                </a:lnTo>
                <a:lnTo>
                  <a:pt x="647813" y="415836"/>
                </a:lnTo>
                <a:lnTo>
                  <a:pt x="663752" y="408404"/>
                </a:lnTo>
                <a:lnTo>
                  <a:pt x="679940" y="401532"/>
                </a:lnTo>
                <a:lnTo>
                  <a:pt x="696358" y="395230"/>
                </a:lnTo>
                <a:lnTo>
                  <a:pt x="712986" y="389505"/>
                </a:lnTo>
                <a:lnTo>
                  <a:pt x="729804" y="384363"/>
                </a:lnTo>
                <a:lnTo>
                  <a:pt x="746791" y="379811"/>
                </a:lnTo>
                <a:lnTo>
                  <a:pt x="763926" y="375855"/>
                </a:lnTo>
                <a:lnTo>
                  <a:pt x="781190" y="372499"/>
                </a:lnTo>
                <a:lnTo>
                  <a:pt x="798559" y="369748"/>
                </a:lnTo>
                <a:lnTo>
                  <a:pt x="816014" y="367605"/>
                </a:lnTo>
                <a:lnTo>
                  <a:pt x="833534" y="366072"/>
                </a:lnTo>
                <a:lnTo>
                  <a:pt x="851096" y="365152"/>
                </a:lnTo>
                <a:lnTo>
                  <a:pt x="868680" y="364845"/>
                </a:lnTo>
                <a:close/>
              </a:path>
            </a:pathLst>
          </a:custGeom>
          <a:solidFill>
            <a:srgbClr val="D6D6D6"/>
          </a:solidFill>
          <a:ln>
            <a:noFill/>
          </a:ln>
        </p:spPr>
        <p:txBody>
          <a:bodyPr rtlCol="0" anchor="ctr"/>
          <a:lstStyle/>
          <a:p>
            <a:pPr algn="ctr"/>
          </a:p>
        </p:txBody>
      </p:sp>
      <p:sp>
        <p:nvSpPr>
          <p:cNvPr id="7" name="Freeform 6"/>
          <p:cNvSpPr/>
          <p:nvPr/>
        </p:nvSpPr>
        <p:spPr>
          <a:xfrm>
            <a:off x="1965960" y="1783080"/>
            <a:ext cx="868680" cy="868680"/>
          </a:xfrm>
          <a:custGeom>
            <a:avLst/>
            <a:gdLst/>
            <a:ahLst/>
            <a:cxnLst/>
            <a:rect l="l" t="t" r="r" b="b"/>
            <a:pathLst>
              <a:path w="868680" h="868680">
                <a:moveTo>
                  <a:pt x="868680" y="868680"/>
                </a:moveTo>
                <a:lnTo>
                  <a:pt x="868150" y="838363"/>
                </a:lnTo>
                <a:lnTo>
                  <a:pt x="866563" y="808083"/>
                </a:lnTo>
                <a:lnTo>
                  <a:pt x="863921" y="777878"/>
                </a:lnTo>
                <a:lnTo>
                  <a:pt x="860226" y="747783"/>
                </a:lnTo>
                <a:lnTo>
                  <a:pt x="855482" y="717835"/>
                </a:lnTo>
                <a:lnTo>
                  <a:pt x="849697" y="688071"/>
                </a:lnTo>
                <a:lnTo>
                  <a:pt x="842876" y="658527"/>
                </a:lnTo>
                <a:lnTo>
                  <a:pt x="835028" y="629239"/>
                </a:lnTo>
                <a:lnTo>
                  <a:pt x="826163" y="600243"/>
                </a:lnTo>
                <a:lnTo>
                  <a:pt x="816292" y="571573"/>
                </a:lnTo>
                <a:lnTo>
                  <a:pt x="805426" y="543266"/>
                </a:lnTo>
                <a:lnTo>
                  <a:pt x="793578" y="515356"/>
                </a:lnTo>
                <a:lnTo>
                  <a:pt x="780764" y="487875"/>
                </a:lnTo>
                <a:lnTo>
                  <a:pt x="766998" y="460859"/>
                </a:lnTo>
                <a:lnTo>
                  <a:pt x="752298" y="434340"/>
                </a:lnTo>
                <a:lnTo>
                  <a:pt x="736682" y="408349"/>
                </a:lnTo>
                <a:lnTo>
                  <a:pt x="720168" y="382920"/>
                </a:lnTo>
                <a:lnTo>
                  <a:pt x="702776" y="358082"/>
                </a:lnTo>
                <a:lnTo>
                  <a:pt x="684529" y="333867"/>
                </a:lnTo>
                <a:lnTo>
                  <a:pt x="665447" y="310303"/>
                </a:lnTo>
                <a:lnTo>
                  <a:pt x="645555" y="287419"/>
                </a:lnTo>
                <a:lnTo>
                  <a:pt x="624876" y="265244"/>
                </a:lnTo>
                <a:lnTo>
                  <a:pt x="603435" y="243803"/>
                </a:lnTo>
                <a:lnTo>
                  <a:pt x="581260" y="223124"/>
                </a:lnTo>
                <a:lnTo>
                  <a:pt x="558376" y="203232"/>
                </a:lnTo>
                <a:lnTo>
                  <a:pt x="534812" y="184150"/>
                </a:lnTo>
                <a:lnTo>
                  <a:pt x="510597" y="165903"/>
                </a:lnTo>
                <a:lnTo>
                  <a:pt x="485759" y="148511"/>
                </a:lnTo>
                <a:lnTo>
                  <a:pt x="460330" y="131997"/>
                </a:lnTo>
                <a:lnTo>
                  <a:pt x="434340" y="116381"/>
                </a:lnTo>
                <a:lnTo>
                  <a:pt x="407820" y="101681"/>
                </a:lnTo>
                <a:lnTo>
                  <a:pt x="380804" y="87915"/>
                </a:lnTo>
                <a:lnTo>
                  <a:pt x="353323" y="75101"/>
                </a:lnTo>
                <a:lnTo>
                  <a:pt x="325413" y="63253"/>
                </a:lnTo>
                <a:lnTo>
                  <a:pt x="297106" y="52387"/>
                </a:lnTo>
                <a:lnTo>
                  <a:pt x="268436" y="42516"/>
                </a:lnTo>
                <a:lnTo>
                  <a:pt x="239440" y="33651"/>
                </a:lnTo>
                <a:lnTo>
                  <a:pt x="210152" y="25803"/>
                </a:lnTo>
                <a:lnTo>
                  <a:pt x="180608" y="18982"/>
                </a:lnTo>
                <a:lnTo>
                  <a:pt x="150844" y="13197"/>
                </a:lnTo>
                <a:lnTo>
                  <a:pt x="120896" y="8453"/>
                </a:lnTo>
                <a:lnTo>
                  <a:pt x="90801" y="4758"/>
                </a:lnTo>
                <a:lnTo>
                  <a:pt x="60596" y="2116"/>
                </a:lnTo>
                <a:lnTo>
                  <a:pt x="30316" y="529"/>
                </a:lnTo>
                <a:lnTo>
                  <a:pt x="0" y="0"/>
                </a:lnTo>
                <a:lnTo>
                  <a:pt x="0" y="364845"/>
                </a:lnTo>
                <a:lnTo>
                  <a:pt x="17583" y="365152"/>
                </a:lnTo>
                <a:lnTo>
                  <a:pt x="35145" y="366072"/>
                </a:lnTo>
                <a:lnTo>
                  <a:pt x="52665" y="367605"/>
                </a:lnTo>
                <a:lnTo>
                  <a:pt x="70120" y="369748"/>
                </a:lnTo>
                <a:lnTo>
                  <a:pt x="87489" y="372499"/>
                </a:lnTo>
                <a:lnTo>
                  <a:pt x="104753" y="375855"/>
                </a:lnTo>
                <a:lnTo>
                  <a:pt x="121888" y="379811"/>
                </a:lnTo>
                <a:lnTo>
                  <a:pt x="138875" y="384363"/>
                </a:lnTo>
                <a:lnTo>
                  <a:pt x="155693" y="389505"/>
                </a:lnTo>
                <a:lnTo>
                  <a:pt x="172321" y="395230"/>
                </a:lnTo>
                <a:lnTo>
                  <a:pt x="188739" y="401532"/>
                </a:lnTo>
                <a:lnTo>
                  <a:pt x="204927" y="408404"/>
                </a:lnTo>
                <a:lnTo>
                  <a:pt x="220866" y="415836"/>
                </a:lnTo>
                <a:lnTo>
                  <a:pt x="236535" y="423820"/>
                </a:lnTo>
                <a:lnTo>
                  <a:pt x="251917" y="432346"/>
                </a:lnTo>
                <a:lnTo>
                  <a:pt x="266991" y="441404"/>
                </a:lnTo>
                <a:lnTo>
                  <a:pt x="281740" y="450982"/>
                </a:lnTo>
                <a:lnTo>
                  <a:pt x="296146" y="461069"/>
                </a:lnTo>
                <a:lnTo>
                  <a:pt x="310191" y="471653"/>
                </a:lnTo>
                <a:lnTo>
                  <a:pt x="323858" y="482720"/>
                </a:lnTo>
                <a:lnTo>
                  <a:pt x="337131" y="494258"/>
                </a:lnTo>
                <a:lnTo>
                  <a:pt x="349992" y="506251"/>
                </a:lnTo>
                <a:lnTo>
                  <a:pt x="362428" y="518687"/>
                </a:lnTo>
                <a:lnTo>
                  <a:pt x="374421" y="531548"/>
                </a:lnTo>
                <a:lnTo>
                  <a:pt x="385959" y="544821"/>
                </a:lnTo>
                <a:lnTo>
                  <a:pt x="397026" y="558488"/>
                </a:lnTo>
                <a:lnTo>
                  <a:pt x="407610" y="572533"/>
                </a:lnTo>
                <a:lnTo>
                  <a:pt x="417697" y="586939"/>
                </a:lnTo>
                <a:lnTo>
                  <a:pt x="427275" y="601688"/>
                </a:lnTo>
                <a:lnTo>
                  <a:pt x="436333" y="616762"/>
                </a:lnTo>
                <a:lnTo>
                  <a:pt x="444859" y="632144"/>
                </a:lnTo>
                <a:lnTo>
                  <a:pt x="452843" y="647813"/>
                </a:lnTo>
                <a:lnTo>
                  <a:pt x="460275" y="663752"/>
                </a:lnTo>
                <a:lnTo>
                  <a:pt x="467147" y="679940"/>
                </a:lnTo>
                <a:lnTo>
                  <a:pt x="473449" y="696358"/>
                </a:lnTo>
                <a:lnTo>
                  <a:pt x="479174" y="712986"/>
                </a:lnTo>
                <a:lnTo>
                  <a:pt x="484316" y="729804"/>
                </a:lnTo>
                <a:lnTo>
                  <a:pt x="488868" y="746791"/>
                </a:lnTo>
                <a:lnTo>
                  <a:pt x="492824" y="763926"/>
                </a:lnTo>
                <a:lnTo>
                  <a:pt x="496180" y="781190"/>
                </a:lnTo>
                <a:lnTo>
                  <a:pt x="498931" y="798559"/>
                </a:lnTo>
                <a:lnTo>
                  <a:pt x="501074" y="816014"/>
                </a:lnTo>
                <a:lnTo>
                  <a:pt x="502607" y="833534"/>
                </a:lnTo>
                <a:lnTo>
                  <a:pt x="503527" y="851096"/>
                </a:lnTo>
                <a:lnTo>
                  <a:pt x="503834" y="868680"/>
                </a:lnTo>
                <a:close/>
              </a:path>
            </a:pathLst>
          </a:custGeom>
          <a:solidFill>
            <a:srgbClr val="D6D6D6"/>
          </a:solidFill>
          <a:ln>
            <a:noFill/>
          </a:ln>
        </p:spPr>
        <p:txBody>
          <a:bodyPr rtlCol="0" anchor="ctr"/>
          <a:lstStyle/>
          <a:p>
            <a:pPr algn="ctr"/>
          </a:p>
        </p:txBody>
      </p:sp>
      <p:sp>
        <p:nvSpPr>
          <p:cNvPr id="8" name="Freeform 7"/>
          <p:cNvSpPr/>
          <p:nvPr/>
        </p:nvSpPr>
        <p:spPr>
          <a:xfrm>
            <a:off x="1965960" y="2651760"/>
            <a:ext cx="868680" cy="868680"/>
          </a:xfrm>
          <a:custGeom>
            <a:avLst/>
            <a:gdLst/>
            <a:ahLst/>
            <a:cxnLst/>
            <a:rect l="l" t="t" r="r" b="b"/>
            <a:pathLst>
              <a:path w="868680" h="868680">
                <a:moveTo>
                  <a:pt x="0" y="868680"/>
                </a:moveTo>
                <a:lnTo>
                  <a:pt x="30316" y="868150"/>
                </a:lnTo>
                <a:lnTo>
                  <a:pt x="60596" y="866563"/>
                </a:lnTo>
                <a:lnTo>
                  <a:pt x="90801" y="863921"/>
                </a:lnTo>
                <a:lnTo>
                  <a:pt x="120896" y="860226"/>
                </a:lnTo>
                <a:lnTo>
                  <a:pt x="150844" y="855482"/>
                </a:lnTo>
                <a:lnTo>
                  <a:pt x="180608" y="849697"/>
                </a:lnTo>
                <a:lnTo>
                  <a:pt x="210152" y="842876"/>
                </a:lnTo>
                <a:lnTo>
                  <a:pt x="239440" y="835028"/>
                </a:lnTo>
                <a:lnTo>
                  <a:pt x="268436" y="826163"/>
                </a:lnTo>
                <a:lnTo>
                  <a:pt x="297106" y="816292"/>
                </a:lnTo>
                <a:lnTo>
                  <a:pt x="325413" y="805426"/>
                </a:lnTo>
                <a:lnTo>
                  <a:pt x="353323" y="793578"/>
                </a:lnTo>
                <a:lnTo>
                  <a:pt x="380804" y="780764"/>
                </a:lnTo>
                <a:lnTo>
                  <a:pt x="407820" y="766998"/>
                </a:lnTo>
                <a:lnTo>
                  <a:pt x="434340" y="752298"/>
                </a:lnTo>
                <a:lnTo>
                  <a:pt x="460330" y="736682"/>
                </a:lnTo>
                <a:lnTo>
                  <a:pt x="485759" y="720168"/>
                </a:lnTo>
                <a:lnTo>
                  <a:pt x="510597" y="702776"/>
                </a:lnTo>
                <a:lnTo>
                  <a:pt x="534812" y="684529"/>
                </a:lnTo>
                <a:lnTo>
                  <a:pt x="558376" y="665447"/>
                </a:lnTo>
                <a:lnTo>
                  <a:pt x="581260" y="645555"/>
                </a:lnTo>
                <a:lnTo>
                  <a:pt x="603435" y="624876"/>
                </a:lnTo>
                <a:lnTo>
                  <a:pt x="624876" y="603435"/>
                </a:lnTo>
                <a:lnTo>
                  <a:pt x="645555" y="581260"/>
                </a:lnTo>
                <a:lnTo>
                  <a:pt x="665447" y="558376"/>
                </a:lnTo>
                <a:lnTo>
                  <a:pt x="684529" y="534812"/>
                </a:lnTo>
                <a:lnTo>
                  <a:pt x="702776" y="510597"/>
                </a:lnTo>
                <a:lnTo>
                  <a:pt x="720168" y="485759"/>
                </a:lnTo>
                <a:lnTo>
                  <a:pt x="736682" y="460330"/>
                </a:lnTo>
                <a:lnTo>
                  <a:pt x="752298" y="434340"/>
                </a:lnTo>
                <a:lnTo>
                  <a:pt x="766998" y="407820"/>
                </a:lnTo>
                <a:lnTo>
                  <a:pt x="780764" y="380804"/>
                </a:lnTo>
                <a:lnTo>
                  <a:pt x="793578" y="353323"/>
                </a:lnTo>
                <a:lnTo>
                  <a:pt x="805426" y="325413"/>
                </a:lnTo>
                <a:lnTo>
                  <a:pt x="816292" y="297106"/>
                </a:lnTo>
                <a:lnTo>
                  <a:pt x="826163" y="268436"/>
                </a:lnTo>
                <a:lnTo>
                  <a:pt x="835028" y="239440"/>
                </a:lnTo>
                <a:lnTo>
                  <a:pt x="842876" y="210152"/>
                </a:lnTo>
                <a:lnTo>
                  <a:pt x="849697" y="180608"/>
                </a:lnTo>
                <a:lnTo>
                  <a:pt x="855482" y="150844"/>
                </a:lnTo>
                <a:lnTo>
                  <a:pt x="860226" y="120896"/>
                </a:lnTo>
                <a:lnTo>
                  <a:pt x="863921" y="90801"/>
                </a:lnTo>
                <a:lnTo>
                  <a:pt x="866563" y="60596"/>
                </a:lnTo>
                <a:lnTo>
                  <a:pt x="868150" y="30316"/>
                </a:lnTo>
                <a:lnTo>
                  <a:pt x="868680" y="0"/>
                </a:lnTo>
                <a:lnTo>
                  <a:pt x="503834" y="0"/>
                </a:lnTo>
                <a:lnTo>
                  <a:pt x="503527" y="17583"/>
                </a:lnTo>
                <a:lnTo>
                  <a:pt x="502607" y="35145"/>
                </a:lnTo>
                <a:lnTo>
                  <a:pt x="501074" y="52665"/>
                </a:lnTo>
                <a:lnTo>
                  <a:pt x="498931" y="70120"/>
                </a:lnTo>
                <a:lnTo>
                  <a:pt x="496180" y="87489"/>
                </a:lnTo>
                <a:lnTo>
                  <a:pt x="492824" y="104753"/>
                </a:lnTo>
                <a:lnTo>
                  <a:pt x="488868" y="121888"/>
                </a:lnTo>
                <a:lnTo>
                  <a:pt x="484316" y="138875"/>
                </a:lnTo>
                <a:lnTo>
                  <a:pt x="479174" y="155693"/>
                </a:lnTo>
                <a:lnTo>
                  <a:pt x="473449" y="172321"/>
                </a:lnTo>
                <a:lnTo>
                  <a:pt x="467147" y="188739"/>
                </a:lnTo>
                <a:lnTo>
                  <a:pt x="460275" y="204927"/>
                </a:lnTo>
                <a:lnTo>
                  <a:pt x="452843" y="220866"/>
                </a:lnTo>
                <a:lnTo>
                  <a:pt x="444859" y="236535"/>
                </a:lnTo>
                <a:lnTo>
                  <a:pt x="436333" y="251917"/>
                </a:lnTo>
                <a:lnTo>
                  <a:pt x="427275" y="266991"/>
                </a:lnTo>
                <a:lnTo>
                  <a:pt x="417697" y="281740"/>
                </a:lnTo>
                <a:lnTo>
                  <a:pt x="407610" y="296146"/>
                </a:lnTo>
                <a:lnTo>
                  <a:pt x="397026" y="310191"/>
                </a:lnTo>
                <a:lnTo>
                  <a:pt x="385959" y="323858"/>
                </a:lnTo>
                <a:lnTo>
                  <a:pt x="374421" y="337131"/>
                </a:lnTo>
                <a:lnTo>
                  <a:pt x="362428" y="349992"/>
                </a:lnTo>
                <a:lnTo>
                  <a:pt x="349992" y="362428"/>
                </a:lnTo>
                <a:lnTo>
                  <a:pt x="337131" y="374421"/>
                </a:lnTo>
                <a:lnTo>
                  <a:pt x="323858" y="385959"/>
                </a:lnTo>
                <a:lnTo>
                  <a:pt x="310191" y="397026"/>
                </a:lnTo>
                <a:lnTo>
                  <a:pt x="296146" y="407610"/>
                </a:lnTo>
                <a:lnTo>
                  <a:pt x="281740" y="417697"/>
                </a:lnTo>
                <a:lnTo>
                  <a:pt x="266991" y="427275"/>
                </a:lnTo>
                <a:lnTo>
                  <a:pt x="251917" y="436333"/>
                </a:lnTo>
                <a:lnTo>
                  <a:pt x="236535" y="444859"/>
                </a:lnTo>
                <a:lnTo>
                  <a:pt x="220866" y="452843"/>
                </a:lnTo>
                <a:lnTo>
                  <a:pt x="204927" y="460275"/>
                </a:lnTo>
                <a:lnTo>
                  <a:pt x="188739" y="467147"/>
                </a:lnTo>
                <a:lnTo>
                  <a:pt x="172321" y="473449"/>
                </a:lnTo>
                <a:lnTo>
                  <a:pt x="155693" y="479174"/>
                </a:lnTo>
                <a:lnTo>
                  <a:pt x="138875" y="484316"/>
                </a:lnTo>
                <a:lnTo>
                  <a:pt x="121888" y="488868"/>
                </a:lnTo>
                <a:lnTo>
                  <a:pt x="104753" y="492824"/>
                </a:lnTo>
                <a:lnTo>
                  <a:pt x="87489" y="496180"/>
                </a:lnTo>
                <a:lnTo>
                  <a:pt x="70120" y="498931"/>
                </a:lnTo>
                <a:lnTo>
                  <a:pt x="52665" y="501074"/>
                </a:lnTo>
                <a:lnTo>
                  <a:pt x="35145" y="502607"/>
                </a:lnTo>
                <a:lnTo>
                  <a:pt x="17583" y="503527"/>
                </a:lnTo>
                <a:lnTo>
                  <a:pt x="0" y="503834"/>
                </a:lnTo>
                <a:close/>
              </a:path>
            </a:pathLst>
          </a:custGeom>
          <a:solidFill>
            <a:srgbClr val="D6D6D6"/>
          </a:solidFill>
          <a:ln>
            <a:noFill/>
          </a:ln>
        </p:spPr>
        <p:txBody>
          <a:bodyPr rtlCol="0" anchor="ctr"/>
          <a:lstStyle/>
          <a:p>
            <a:pPr algn="ctr"/>
          </a:p>
        </p:txBody>
      </p:sp>
      <p:sp>
        <p:nvSpPr>
          <p:cNvPr id="9" name="Freeform 8"/>
          <p:cNvSpPr/>
          <p:nvPr/>
        </p:nvSpPr>
        <p:spPr>
          <a:xfrm>
            <a:off x="1097280" y="2651760"/>
            <a:ext cx="868680" cy="868680"/>
          </a:xfrm>
          <a:custGeom>
            <a:avLst/>
            <a:gdLst/>
            <a:ahLst/>
            <a:cxnLst/>
            <a:rect l="l" t="t" r="r" b="b"/>
            <a:pathLst>
              <a:path w="868680" h="868680">
                <a:moveTo>
                  <a:pt x="0" y="0"/>
                </a:moveTo>
                <a:lnTo>
                  <a:pt x="529" y="30316"/>
                </a:lnTo>
                <a:lnTo>
                  <a:pt x="2116" y="60596"/>
                </a:lnTo>
                <a:lnTo>
                  <a:pt x="4758" y="90801"/>
                </a:lnTo>
                <a:lnTo>
                  <a:pt x="8453" y="120896"/>
                </a:lnTo>
                <a:lnTo>
                  <a:pt x="13197" y="150844"/>
                </a:lnTo>
                <a:lnTo>
                  <a:pt x="18982" y="180608"/>
                </a:lnTo>
                <a:lnTo>
                  <a:pt x="25803" y="210152"/>
                </a:lnTo>
                <a:lnTo>
                  <a:pt x="33651" y="239440"/>
                </a:lnTo>
                <a:lnTo>
                  <a:pt x="42516" y="268436"/>
                </a:lnTo>
                <a:lnTo>
                  <a:pt x="52387" y="297106"/>
                </a:lnTo>
                <a:lnTo>
                  <a:pt x="63253" y="325413"/>
                </a:lnTo>
                <a:lnTo>
                  <a:pt x="75101" y="353323"/>
                </a:lnTo>
                <a:lnTo>
                  <a:pt x="87915" y="380804"/>
                </a:lnTo>
                <a:lnTo>
                  <a:pt x="101681" y="407820"/>
                </a:lnTo>
                <a:lnTo>
                  <a:pt x="116381" y="434340"/>
                </a:lnTo>
                <a:lnTo>
                  <a:pt x="131997" y="460330"/>
                </a:lnTo>
                <a:lnTo>
                  <a:pt x="148511" y="485759"/>
                </a:lnTo>
                <a:lnTo>
                  <a:pt x="165903" y="510597"/>
                </a:lnTo>
                <a:lnTo>
                  <a:pt x="184150" y="534812"/>
                </a:lnTo>
                <a:lnTo>
                  <a:pt x="203232" y="558376"/>
                </a:lnTo>
                <a:lnTo>
                  <a:pt x="223124" y="581260"/>
                </a:lnTo>
                <a:lnTo>
                  <a:pt x="243803" y="603435"/>
                </a:lnTo>
                <a:lnTo>
                  <a:pt x="265244" y="624876"/>
                </a:lnTo>
                <a:lnTo>
                  <a:pt x="287419" y="645555"/>
                </a:lnTo>
                <a:lnTo>
                  <a:pt x="310303" y="665447"/>
                </a:lnTo>
                <a:lnTo>
                  <a:pt x="333867" y="684529"/>
                </a:lnTo>
                <a:lnTo>
                  <a:pt x="358082" y="702776"/>
                </a:lnTo>
                <a:lnTo>
                  <a:pt x="382920" y="720168"/>
                </a:lnTo>
                <a:lnTo>
                  <a:pt x="408349" y="736682"/>
                </a:lnTo>
                <a:lnTo>
                  <a:pt x="434340" y="752298"/>
                </a:lnTo>
                <a:lnTo>
                  <a:pt x="460859" y="766998"/>
                </a:lnTo>
                <a:lnTo>
                  <a:pt x="487875" y="780764"/>
                </a:lnTo>
                <a:lnTo>
                  <a:pt x="515356" y="793578"/>
                </a:lnTo>
                <a:lnTo>
                  <a:pt x="543266" y="805426"/>
                </a:lnTo>
                <a:lnTo>
                  <a:pt x="571573" y="816292"/>
                </a:lnTo>
                <a:lnTo>
                  <a:pt x="600243" y="826163"/>
                </a:lnTo>
                <a:lnTo>
                  <a:pt x="629239" y="835028"/>
                </a:lnTo>
                <a:lnTo>
                  <a:pt x="658527" y="842876"/>
                </a:lnTo>
                <a:lnTo>
                  <a:pt x="688071" y="849697"/>
                </a:lnTo>
                <a:lnTo>
                  <a:pt x="717835" y="855482"/>
                </a:lnTo>
                <a:lnTo>
                  <a:pt x="747783" y="860226"/>
                </a:lnTo>
                <a:lnTo>
                  <a:pt x="777878" y="863921"/>
                </a:lnTo>
                <a:lnTo>
                  <a:pt x="808083" y="866563"/>
                </a:lnTo>
                <a:lnTo>
                  <a:pt x="838363" y="868150"/>
                </a:lnTo>
                <a:lnTo>
                  <a:pt x="868680" y="868680"/>
                </a:lnTo>
                <a:lnTo>
                  <a:pt x="868680" y="503834"/>
                </a:lnTo>
                <a:lnTo>
                  <a:pt x="851096" y="503527"/>
                </a:lnTo>
                <a:lnTo>
                  <a:pt x="833534" y="502607"/>
                </a:lnTo>
                <a:lnTo>
                  <a:pt x="816014" y="501074"/>
                </a:lnTo>
                <a:lnTo>
                  <a:pt x="798559" y="498931"/>
                </a:lnTo>
                <a:lnTo>
                  <a:pt x="781190" y="496180"/>
                </a:lnTo>
                <a:lnTo>
                  <a:pt x="763926" y="492824"/>
                </a:lnTo>
                <a:lnTo>
                  <a:pt x="746791" y="488868"/>
                </a:lnTo>
                <a:lnTo>
                  <a:pt x="729804" y="484316"/>
                </a:lnTo>
                <a:lnTo>
                  <a:pt x="712986" y="479174"/>
                </a:lnTo>
                <a:lnTo>
                  <a:pt x="696358" y="473449"/>
                </a:lnTo>
                <a:lnTo>
                  <a:pt x="679940" y="467147"/>
                </a:lnTo>
                <a:lnTo>
                  <a:pt x="663752" y="460275"/>
                </a:lnTo>
                <a:lnTo>
                  <a:pt x="647813" y="452843"/>
                </a:lnTo>
                <a:lnTo>
                  <a:pt x="632144" y="444859"/>
                </a:lnTo>
                <a:lnTo>
                  <a:pt x="616762" y="436333"/>
                </a:lnTo>
                <a:lnTo>
                  <a:pt x="601688" y="427275"/>
                </a:lnTo>
                <a:lnTo>
                  <a:pt x="586939" y="417697"/>
                </a:lnTo>
                <a:lnTo>
                  <a:pt x="572533" y="407610"/>
                </a:lnTo>
                <a:lnTo>
                  <a:pt x="558488" y="397026"/>
                </a:lnTo>
                <a:lnTo>
                  <a:pt x="544821" y="385959"/>
                </a:lnTo>
                <a:lnTo>
                  <a:pt x="531548" y="374421"/>
                </a:lnTo>
                <a:lnTo>
                  <a:pt x="518687" y="362428"/>
                </a:lnTo>
                <a:lnTo>
                  <a:pt x="506251" y="349992"/>
                </a:lnTo>
                <a:lnTo>
                  <a:pt x="494258" y="337131"/>
                </a:lnTo>
                <a:lnTo>
                  <a:pt x="482720" y="323858"/>
                </a:lnTo>
                <a:lnTo>
                  <a:pt x="471653" y="310191"/>
                </a:lnTo>
                <a:lnTo>
                  <a:pt x="461069" y="296146"/>
                </a:lnTo>
                <a:lnTo>
                  <a:pt x="450982" y="281740"/>
                </a:lnTo>
                <a:lnTo>
                  <a:pt x="441404" y="266991"/>
                </a:lnTo>
                <a:lnTo>
                  <a:pt x="432346" y="251917"/>
                </a:lnTo>
                <a:lnTo>
                  <a:pt x="423820" y="236535"/>
                </a:lnTo>
                <a:lnTo>
                  <a:pt x="415836" y="220866"/>
                </a:lnTo>
                <a:lnTo>
                  <a:pt x="408404" y="204927"/>
                </a:lnTo>
                <a:lnTo>
                  <a:pt x="401532" y="188739"/>
                </a:lnTo>
                <a:lnTo>
                  <a:pt x="395230" y="172321"/>
                </a:lnTo>
                <a:lnTo>
                  <a:pt x="389505" y="155693"/>
                </a:lnTo>
                <a:lnTo>
                  <a:pt x="384363" y="138875"/>
                </a:lnTo>
                <a:lnTo>
                  <a:pt x="379811" y="121888"/>
                </a:lnTo>
                <a:lnTo>
                  <a:pt x="375855" y="104753"/>
                </a:lnTo>
                <a:lnTo>
                  <a:pt x="372499" y="87489"/>
                </a:lnTo>
                <a:lnTo>
                  <a:pt x="369748" y="70120"/>
                </a:lnTo>
                <a:lnTo>
                  <a:pt x="367605" y="52665"/>
                </a:lnTo>
                <a:lnTo>
                  <a:pt x="366072" y="35145"/>
                </a:lnTo>
                <a:lnTo>
                  <a:pt x="365152" y="17583"/>
                </a:lnTo>
                <a:lnTo>
                  <a:pt x="364845" y="0"/>
                </a:lnTo>
                <a:close/>
              </a:path>
            </a:pathLst>
          </a:custGeom>
          <a:solidFill>
            <a:srgbClr val="55992E"/>
          </a:solidFill>
          <a:ln>
            <a:noFill/>
          </a:ln>
        </p:spPr>
        <p:txBody>
          <a:bodyPr rtlCol="0" anchor="ctr"/>
          <a:lstStyle/>
          <a:p>
            <a:pPr algn="ctr"/>
          </a:p>
        </p:txBody>
      </p:sp>
      <p:cxnSp>
        <p:nvCxnSpPr>
          <p:cNvPr id="10" name="Connector 9"/>
          <p:cNvCxnSpPr/>
          <p:nvPr/>
        </p:nvCxnSpPr>
        <p:spPr>
          <a:xfrm flipH="1">
            <a:off x="1097280" y="2651760"/>
            <a:ext cx="364845" cy="0"/>
          </a:xfrm>
          <a:prstGeom prst="line">
            <a:avLst/>
          </a:prstGeom>
          <a:ln w="25400">
            <a:solidFill>
              <a:srgbClr val="FFFFFF"/>
            </a:solidFill>
          </a:ln>
        </p:spPr>
      </p:cxnSp>
      <p:cxnSp>
        <p:nvCxnSpPr>
          <p:cNvPr id="11" name="Connector 10"/>
          <p:cNvCxnSpPr/>
          <p:nvPr/>
        </p:nvCxnSpPr>
        <p:spPr>
          <a:xfrm flipV="1">
            <a:off x="1965960" y="1783080"/>
            <a:ext cx="0" cy="364845"/>
          </a:xfrm>
          <a:prstGeom prst="line">
            <a:avLst/>
          </a:prstGeom>
          <a:ln w="25400">
            <a:solidFill>
              <a:srgbClr val="FFFFFF"/>
            </a:solidFill>
          </a:ln>
        </p:spPr>
      </p:cxnSp>
      <p:cxnSp>
        <p:nvCxnSpPr>
          <p:cNvPr id="12" name="Connector 11"/>
          <p:cNvCxnSpPr/>
          <p:nvPr/>
        </p:nvCxnSpPr>
        <p:spPr>
          <a:xfrm>
            <a:off x="2469794" y="2651760"/>
            <a:ext cx="364846" cy="0"/>
          </a:xfrm>
          <a:prstGeom prst="line">
            <a:avLst/>
          </a:prstGeom>
          <a:ln w="25400">
            <a:solidFill>
              <a:srgbClr val="FFFFFF"/>
            </a:solidFill>
          </a:ln>
        </p:spPr>
      </p:cxnSp>
      <p:cxnSp>
        <p:nvCxnSpPr>
          <p:cNvPr id="13" name="Connector 12"/>
          <p:cNvCxnSpPr/>
          <p:nvPr/>
        </p:nvCxnSpPr>
        <p:spPr>
          <a:xfrm>
            <a:off x="1965960" y="3155594"/>
            <a:ext cx="0" cy="364846"/>
          </a:xfrm>
          <a:prstGeom prst="line">
            <a:avLst/>
          </a:prstGeom>
          <a:ln w="25400">
            <a:solidFill>
              <a:srgbClr val="FFFFFF"/>
            </a:solidFill>
          </a:ln>
        </p:spPr>
      </p:cxnSp>
      <p:sp>
        <p:nvSpPr>
          <p:cNvPr id="14" name="Oval 13"/>
          <p:cNvSpPr/>
          <p:nvPr/>
        </p:nvSpPr>
        <p:spPr>
          <a:xfrm>
            <a:off x="1531620" y="2217420"/>
            <a:ext cx="868680" cy="868680"/>
          </a:xfrm>
          <a:prstGeom prst="ellipse">
            <a:avLst/>
          </a:prstGeom>
          <a:solidFill>
            <a:srgbClr val="FFFFFF"/>
          </a:solidFill>
          <a:ln w="19050">
            <a:solidFill>
              <a:srgbClr val="D9D9D9"/>
            </a:solidFill>
          </a:ln>
          <a:effectLst/>
        </p:spPr>
        <p:txBody>
          <a:bodyPr rtlCol="0" anchor="ctr"/>
          <a:lstStyle/>
          <a:p/>
        </p:txBody>
      </p:sp>
      <p:sp>
        <p:nvSpPr>
          <p:cNvPr id="15" name="Freeform 14"/>
          <p:cNvSpPr/>
          <p:nvPr/>
        </p:nvSpPr>
        <p:spPr>
          <a:xfrm>
            <a:off x="862736" y="1576457"/>
            <a:ext cx="856593" cy="1075303"/>
          </a:xfrm>
          <a:custGeom>
            <a:avLst/>
            <a:gdLst/>
            <a:ahLst/>
            <a:cxnLst/>
            <a:rect l="l" t="t" r="r" b="b"/>
            <a:pathLst>
              <a:path w="856593" h="1075303">
                <a:moveTo>
                  <a:pt x="234544" y="1075303"/>
                </a:moveTo>
                <a:lnTo>
                  <a:pt x="0" y="1075303"/>
                </a:lnTo>
                <a:lnTo>
                  <a:pt x="624" y="1038204"/>
                </a:lnTo>
                <a:lnTo>
                  <a:pt x="2495" y="1001148"/>
                </a:lnTo>
                <a:lnTo>
                  <a:pt x="5611" y="964176"/>
                </a:lnTo>
                <a:lnTo>
                  <a:pt x="9969" y="927329"/>
                </a:lnTo>
                <a:lnTo>
                  <a:pt x="15563" y="890650"/>
                </a:lnTo>
                <a:lnTo>
                  <a:pt x="22387" y="854179"/>
                </a:lnTo>
                <a:lnTo>
                  <a:pt x="30434" y="817959"/>
                </a:lnTo>
                <a:lnTo>
                  <a:pt x="39695" y="782030"/>
                </a:lnTo>
                <a:lnTo>
                  <a:pt x="50158" y="746432"/>
                </a:lnTo>
                <a:lnTo>
                  <a:pt x="61813" y="711207"/>
                </a:lnTo>
                <a:lnTo>
                  <a:pt x="74645" y="676393"/>
                </a:lnTo>
                <a:lnTo>
                  <a:pt x="88641" y="642031"/>
                </a:lnTo>
                <a:lnTo>
                  <a:pt x="103784" y="608158"/>
                </a:lnTo>
                <a:lnTo>
                  <a:pt x="120058" y="574814"/>
                </a:lnTo>
                <a:lnTo>
                  <a:pt x="137444" y="542036"/>
                </a:lnTo>
                <a:lnTo>
                  <a:pt x="155923" y="509861"/>
                </a:lnTo>
                <a:lnTo>
                  <a:pt x="175473" y="478326"/>
                </a:lnTo>
                <a:lnTo>
                  <a:pt x="196072" y="447466"/>
                </a:lnTo>
                <a:lnTo>
                  <a:pt x="217697" y="417317"/>
                </a:lnTo>
                <a:lnTo>
                  <a:pt x="240324" y="387911"/>
                </a:lnTo>
                <a:lnTo>
                  <a:pt x="263927" y="359283"/>
                </a:lnTo>
                <a:lnTo>
                  <a:pt x="288480" y="331465"/>
                </a:lnTo>
                <a:lnTo>
                  <a:pt x="313953" y="304488"/>
                </a:lnTo>
                <a:lnTo>
                  <a:pt x="340320" y="278383"/>
                </a:lnTo>
                <a:lnTo>
                  <a:pt x="367550" y="253180"/>
                </a:lnTo>
                <a:lnTo>
                  <a:pt x="395611" y="228906"/>
                </a:lnTo>
                <a:lnTo>
                  <a:pt x="424473" y="205590"/>
                </a:lnTo>
                <a:lnTo>
                  <a:pt x="454103" y="183257"/>
                </a:lnTo>
                <a:lnTo>
                  <a:pt x="484467" y="161934"/>
                </a:lnTo>
                <a:lnTo>
                  <a:pt x="515531" y="141643"/>
                </a:lnTo>
                <a:lnTo>
                  <a:pt x="547259" y="122409"/>
                </a:lnTo>
                <a:lnTo>
                  <a:pt x="579617" y="104252"/>
                </a:lnTo>
                <a:lnTo>
                  <a:pt x="612567" y="87194"/>
                </a:lnTo>
                <a:lnTo>
                  <a:pt x="646071" y="71254"/>
                </a:lnTo>
                <a:lnTo>
                  <a:pt x="680093" y="56449"/>
                </a:lnTo>
                <a:lnTo>
                  <a:pt x="714594" y="42796"/>
                </a:lnTo>
                <a:lnTo>
                  <a:pt x="749533" y="30312"/>
                </a:lnTo>
                <a:lnTo>
                  <a:pt x="784874" y="19009"/>
                </a:lnTo>
                <a:lnTo>
                  <a:pt x="820574" y="8901"/>
                </a:lnTo>
                <a:lnTo>
                  <a:pt x="856593" y="0"/>
                </a:lnTo>
              </a:path>
            </a:pathLst>
          </a:custGeom>
          <a:noFill/>
          <a:ln w="28575">
            <a:solidFill>
              <a:srgbClr val="D6D6D6"/>
            </a:solidFill>
          </a:ln>
        </p:spPr>
        <p:txBody>
          <a:bodyPr rtlCol="0" anchor="ctr"/>
          <a:lstStyle/>
          <a:p>
            <a:pPr algn="ctr"/>
          </a:p>
        </p:txBody>
      </p:sp>
      <p:sp>
        <p:nvSpPr>
          <p:cNvPr id="16" name="Freeform 15"/>
          <p:cNvSpPr/>
          <p:nvPr/>
        </p:nvSpPr>
        <p:spPr>
          <a:xfrm>
            <a:off x="1704611" y="1512286"/>
            <a:ext cx="148407" cy="128341"/>
          </a:xfrm>
          <a:custGeom>
            <a:avLst/>
            <a:gdLst/>
            <a:ahLst/>
            <a:cxnLst/>
            <a:rect l="l" t="t" r="r" b="b"/>
            <a:pathLst>
              <a:path w="148407" h="128341">
                <a:moveTo>
                  <a:pt x="148407" y="33508"/>
                </a:moveTo>
                <a:lnTo>
                  <a:pt x="29437" y="128341"/>
                </a:lnTo>
                <a:lnTo>
                  <a:pt x="0" y="0"/>
                </a:lnTo>
                <a:close/>
              </a:path>
            </a:pathLst>
          </a:custGeom>
          <a:solidFill>
            <a:srgbClr val="D6D6D6"/>
          </a:solidFill>
          <a:ln>
            <a:noFill/>
          </a:ln>
        </p:spPr>
        <p:txBody>
          <a:bodyPr rtlCol="0" anchor="ctr"/>
          <a:lstStyle/>
          <a:p>
            <a:pPr algn="ctr"/>
          </a:p>
        </p:txBody>
      </p:sp>
      <p:sp>
        <p:nvSpPr>
          <p:cNvPr id="17" name="Freeform 16"/>
          <p:cNvSpPr/>
          <p:nvPr/>
        </p:nvSpPr>
        <p:spPr>
          <a:xfrm>
            <a:off x="1965960" y="1548536"/>
            <a:ext cx="1075302" cy="856593"/>
          </a:xfrm>
          <a:custGeom>
            <a:avLst/>
            <a:gdLst/>
            <a:ahLst/>
            <a:cxnLst/>
            <a:rect l="l" t="t" r="r" b="b"/>
            <a:pathLst>
              <a:path w="1075302" h="856593">
                <a:moveTo>
                  <a:pt x="0" y="234544"/>
                </a:moveTo>
                <a:lnTo>
                  <a:pt x="0" y="0"/>
                </a:lnTo>
                <a:lnTo>
                  <a:pt x="37098" y="624"/>
                </a:lnTo>
                <a:lnTo>
                  <a:pt x="74154" y="2495"/>
                </a:lnTo>
                <a:lnTo>
                  <a:pt x="111126" y="5611"/>
                </a:lnTo>
                <a:lnTo>
                  <a:pt x="147973" y="9969"/>
                </a:lnTo>
                <a:lnTo>
                  <a:pt x="184652" y="15563"/>
                </a:lnTo>
                <a:lnTo>
                  <a:pt x="221123" y="22387"/>
                </a:lnTo>
                <a:lnTo>
                  <a:pt x="257343" y="30434"/>
                </a:lnTo>
                <a:lnTo>
                  <a:pt x="293272" y="39695"/>
                </a:lnTo>
                <a:lnTo>
                  <a:pt x="328870" y="50158"/>
                </a:lnTo>
                <a:lnTo>
                  <a:pt x="364095" y="61813"/>
                </a:lnTo>
                <a:lnTo>
                  <a:pt x="398909" y="74645"/>
                </a:lnTo>
                <a:lnTo>
                  <a:pt x="433271" y="88641"/>
                </a:lnTo>
                <a:lnTo>
                  <a:pt x="467144" y="103784"/>
                </a:lnTo>
                <a:lnTo>
                  <a:pt x="500488" y="120058"/>
                </a:lnTo>
                <a:lnTo>
                  <a:pt x="533266" y="137444"/>
                </a:lnTo>
                <a:lnTo>
                  <a:pt x="565441" y="155923"/>
                </a:lnTo>
                <a:lnTo>
                  <a:pt x="596976" y="175473"/>
                </a:lnTo>
                <a:lnTo>
                  <a:pt x="627836" y="196072"/>
                </a:lnTo>
                <a:lnTo>
                  <a:pt x="657985" y="217697"/>
                </a:lnTo>
                <a:lnTo>
                  <a:pt x="687391" y="240324"/>
                </a:lnTo>
                <a:lnTo>
                  <a:pt x="716019" y="263927"/>
                </a:lnTo>
                <a:lnTo>
                  <a:pt x="743837" y="288480"/>
                </a:lnTo>
                <a:lnTo>
                  <a:pt x="770814" y="313953"/>
                </a:lnTo>
                <a:lnTo>
                  <a:pt x="796919" y="340320"/>
                </a:lnTo>
                <a:lnTo>
                  <a:pt x="822122" y="367550"/>
                </a:lnTo>
                <a:lnTo>
                  <a:pt x="846396" y="395611"/>
                </a:lnTo>
                <a:lnTo>
                  <a:pt x="869712" y="424473"/>
                </a:lnTo>
                <a:lnTo>
                  <a:pt x="892045" y="454103"/>
                </a:lnTo>
                <a:lnTo>
                  <a:pt x="913368" y="484467"/>
                </a:lnTo>
                <a:lnTo>
                  <a:pt x="933659" y="515531"/>
                </a:lnTo>
                <a:lnTo>
                  <a:pt x="952893" y="547259"/>
                </a:lnTo>
                <a:lnTo>
                  <a:pt x="971050" y="579617"/>
                </a:lnTo>
                <a:lnTo>
                  <a:pt x="988108" y="612567"/>
                </a:lnTo>
                <a:lnTo>
                  <a:pt x="1004048" y="646071"/>
                </a:lnTo>
                <a:lnTo>
                  <a:pt x="1018853" y="680093"/>
                </a:lnTo>
                <a:lnTo>
                  <a:pt x="1032506" y="714594"/>
                </a:lnTo>
                <a:lnTo>
                  <a:pt x="1044990" y="749533"/>
                </a:lnTo>
                <a:lnTo>
                  <a:pt x="1056293" y="784874"/>
                </a:lnTo>
                <a:lnTo>
                  <a:pt x="1066401" y="820574"/>
                </a:lnTo>
                <a:lnTo>
                  <a:pt x="1075302" y="856593"/>
                </a:lnTo>
              </a:path>
            </a:pathLst>
          </a:custGeom>
          <a:noFill/>
          <a:ln w="28575">
            <a:solidFill>
              <a:srgbClr val="D6D6D6"/>
            </a:solidFill>
          </a:ln>
        </p:spPr>
        <p:txBody>
          <a:bodyPr rtlCol="0" anchor="ctr"/>
          <a:lstStyle/>
          <a:p>
            <a:pPr algn="ctr"/>
          </a:p>
        </p:txBody>
      </p:sp>
      <p:sp>
        <p:nvSpPr>
          <p:cNvPr id="18" name="Freeform 17"/>
          <p:cNvSpPr/>
          <p:nvPr/>
        </p:nvSpPr>
        <p:spPr>
          <a:xfrm>
            <a:off x="2977092" y="2390411"/>
            <a:ext cx="128341" cy="148407"/>
          </a:xfrm>
          <a:custGeom>
            <a:avLst/>
            <a:gdLst/>
            <a:ahLst/>
            <a:cxnLst/>
            <a:rect l="l" t="t" r="r" b="b"/>
            <a:pathLst>
              <a:path w="128341" h="148407">
                <a:moveTo>
                  <a:pt x="94833" y="148407"/>
                </a:moveTo>
                <a:lnTo>
                  <a:pt x="0" y="29437"/>
                </a:lnTo>
                <a:lnTo>
                  <a:pt x="128341" y="0"/>
                </a:lnTo>
                <a:close/>
              </a:path>
            </a:pathLst>
          </a:custGeom>
          <a:solidFill>
            <a:srgbClr val="D6D6D6"/>
          </a:solidFill>
          <a:ln>
            <a:noFill/>
          </a:ln>
        </p:spPr>
        <p:txBody>
          <a:bodyPr rtlCol="0" anchor="ctr"/>
          <a:lstStyle/>
          <a:p>
            <a:pPr algn="ctr"/>
          </a:p>
        </p:txBody>
      </p:sp>
      <p:sp>
        <p:nvSpPr>
          <p:cNvPr id="19" name="Freeform 18"/>
          <p:cNvSpPr/>
          <p:nvPr/>
        </p:nvSpPr>
        <p:spPr>
          <a:xfrm>
            <a:off x="2212590" y="2651760"/>
            <a:ext cx="856593" cy="1075302"/>
          </a:xfrm>
          <a:custGeom>
            <a:avLst/>
            <a:gdLst/>
            <a:ahLst/>
            <a:cxnLst/>
            <a:rect l="l" t="t" r="r" b="b"/>
            <a:pathLst>
              <a:path w="856593" h="1075302">
                <a:moveTo>
                  <a:pt x="622050" y="0"/>
                </a:moveTo>
                <a:lnTo>
                  <a:pt x="856593" y="0"/>
                </a:lnTo>
                <a:lnTo>
                  <a:pt x="855969" y="37098"/>
                </a:lnTo>
                <a:lnTo>
                  <a:pt x="854098" y="74154"/>
                </a:lnTo>
                <a:lnTo>
                  <a:pt x="850982" y="111126"/>
                </a:lnTo>
                <a:lnTo>
                  <a:pt x="846624" y="147973"/>
                </a:lnTo>
                <a:lnTo>
                  <a:pt x="841030" y="184652"/>
                </a:lnTo>
                <a:lnTo>
                  <a:pt x="834206" y="221123"/>
                </a:lnTo>
                <a:lnTo>
                  <a:pt x="826159" y="257343"/>
                </a:lnTo>
                <a:lnTo>
                  <a:pt x="816898" y="293272"/>
                </a:lnTo>
                <a:lnTo>
                  <a:pt x="806435" y="328870"/>
                </a:lnTo>
                <a:lnTo>
                  <a:pt x="794780" y="364095"/>
                </a:lnTo>
                <a:lnTo>
                  <a:pt x="781948" y="398909"/>
                </a:lnTo>
                <a:lnTo>
                  <a:pt x="767952" y="433271"/>
                </a:lnTo>
                <a:lnTo>
                  <a:pt x="752809" y="467144"/>
                </a:lnTo>
                <a:lnTo>
                  <a:pt x="736535" y="500488"/>
                </a:lnTo>
                <a:lnTo>
                  <a:pt x="719149" y="533266"/>
                </a:lnTo>
                <a:lnTo>
                  <a:pt x="700670" y="565441"/>
                </a:lnTo>
                <a:lnTo>
                  <a:pt x="681120" y="596976"/>
                </a:lnTo>
                <a:lnTo>
                  <a:pt x="660521" y="627836"/>
                </a:lnTo>
                <a:lnTo>
                  <a:pt x="638896" y="657985"/>
                </a:lnTo>
                <a:lnTo>
                  <a:pt x="616269" y="687391"/>
                </a:lnTo>
                <a:lnTo>
                  <a:pt x="592666" y="716019"/>
                </a:lnTo>
                <a:lnTo>
                  <a:pt x="568113" y="743837"/>
                </a:lnTo>
                <a:lnTo>
                  <a:pt x="542640" y="770814"/>
                </a:lnTo>
                <a:lnTo>
                  <a:pt x="516273" y="796919"/>
                </a:lnTo>
                <a:lnTo>
                  <a:pt x="489043" y="822122"/>
                </a:lnTo>
                <a:lnTo>
                  <a:pt x="460982" y="846396"/>
                </a:lnTo>
                <a:lnTo>
                  <a:pt x="432120" y="869712"/>
                </a:lnTo>
                <a:lnTo>
                  <a:pt x="402490" y="892045"/>
                </a:lnTo>
                <a:lnTo>
                  <a:pt x="372126" y="913368"/>
                </a:lnTo>
                <a:lnTo>
                  <a:pt x="341062" y="933659"/>
                </a:lnTo>
                <a:lnTo>
                  <a:pt x="309334" y="952893"/>
                </a:lnTo>
                <a:lnTo>
                  <a:pt x="276976" y="971050"/>
                </a:lnTo>
                <a:lnTo>
                  <a:pt x="244026" y="988108"/>
                </a:lnTo>
                <a:lnTo>
                  <a:pt x="210522" y="1004048"/>
                </a:lnTo>
                <a:lnTo>
                  <a:pt x="176500" y="1018853"/>
                </a:lnTo>
                <a:lnTo>
                  <a:pt x="141999" y="1032506"/>
                </a:lnTo>
                <a:lnTo>
                  <a:pt x="107060" y="1044990"/>
                </a:lnTo>
                <a:lnTo>
                  <a:pt x="71719" y="1056293"/>
                </a:lnTo>
                <a:lnTo>
                  <a:pt x="36019" y="1066401"/>
                </a:lnTo>
                <a:lnTo>
                  <a:pt x="0" y="1075302"/>
                </a:lnTo>
              </a:path>
            </a:pathLst>
          </a:custGeom>
          <a:noFill/>
          <a:ln w="28575">
            <a:solidFill>
              <a:srgbClr val="D6D6D6"/>
            </a:solidFill>
          </a:ln>
        </p:spPr>
        <p:txBody>
          <a:bodyPr rtlCol="0" anchor="ctr"/>
          <a:lstStyle/>
          <a:p>
            <a:pPr algn="ctr"/>
          </a:p>
        </p:txBody>
      </p:sp>
      <p:sp>
        <p:nvSpPr>
          <p:cNvPr id="20" name="Freeform 19"/>
          <p:cNvSpPr/>
          <p:nvPr/>
        </p:nvSpPr>
        <p:spPr>
          <a:xfrm>
            <a:off x="2078901" y="3662892"/>
            <a:ext cx="148407" cy="128341"/>
          </a:xfrm>
          <a:custGeom>
            <a:avLst/>
            <a:gdLst/>
            <a:ahLst/>
            <a:cxnLst/>
            <a:rect l="l" t="t" r="r" b="b"/>
            <a:pathLst>
              <a:path w="148407" h="128341">
                <a:moveTo>
                  <a:pt x="0" y="94833"/>
                </a:moveTo>
                <a:lnTo>
                  <a:pt x="118970" y="0"/>
                </a:lnTo>
                <a:lnTo>
                  <a:pt x="148407" y="128341"/>
                </a:lnTo>
                <a:close/>
              </a:path>
            </a:pathLst>
          </a:custGeom>
          <a:solidFill>
            <a:srgbClr val="D6D6D6"/>
          </a:solidFill>
          <a:ln>
            <a:noFill/>
          </a:ln>
        </p:spPr>
        <p:txBody>
          <a:bodyPr rtlCol="0" anchor="ctr"/>
          <a:lstStyle/>
          <a:p>
            <a:pPr algn="ctr"/>
          </a:p>
        </p:txBody>
      </p:sp>
      <p:sp>
        <p:nvSpPr>
          <p:cNvPr id="21" name="Freeform 20"/>
          <p:cNvSpPr/>
          <p:nvPr/>
        </p:nvSpPr>
        <p:spPr>
          <a:xfrm>
            <a:off x="890657" y="2898390"/>
            <a:ext cx="1075303" cy="856593"/>
          </a:xfrm>
          <a:custGeom>
            <a:avLst/>
            <a:gdLst/>
            <a:ahLst/>
            <a:cxnLst/>
            <a:rect l="l" t="t" r="r" b="b"/>
            <a:pathLst>
              <a:path w="1075303" h="856593">
                <a:moveTo>
                  <a:pt x="1075303" y="622050"/>
                </a:moveTo>
                <a:lnTo>
                  <a:pt x="1075303" y="856593"/>
                </a:lnTo>
                <a:lnTo>
                  <a:pt x="1038204" y="855969"/>
                </a:lnTo>
                <a:lnTo>
                  <a:pt x="1001148" y="854098"/>
                </a:lnTo>
                <a:lnTo>
                  <a:pt x="964176" y="850982"/>
                </a:lnTo>
                <a:lnTo>
                  <a:pt x="927329" y="846624"/>
                </a:lnTo>
                <a:lnTo>
                  <a:pt x="890650" y="841030"/>
                </a:lnTo>
                <a:lnTo>
                  <a:pt x="854179" y="834206"/>
                </a:lnTo>
                <a:lnTo>
                  <a:pt x="817959" y="826159"/>
                </a:lnTo>
                <a:lnTo>
                  <a:pt x="782030" y="816898"/>
                </a:lnTo>
                <a:lnTo>
                  <a:pt x="746432" y="806435"/>
                </a:lnTo>
                <a:lnTo>
                  <a:pt x="711207" y="794780"/>
                </a:lnTo>
                <a:lnTo>
                  <a:pt x="676393" y="781948"/>
                </a:lnTo>
                <a:lnTo>
                  <a:pt x="642031" y="767952"/>
                </a:lnTo>
                <a:lnTo>
                  <a:pt x="608158" y="752809"/>
                </a:lnTo>
                <a:lnTo>
                  <a:pt x="574814" y="736535"/>
                </a:lnTo>
                <a:lnTo>
                  <a:pt x="542036" y="719149"/>
                </a:lnTo>
                <a:lnTo>
                  <a:pt x="509861" y="700670"/>
                </a:lnTo>
                <a:lnTo>
                  <a:pt x="478326" y="681120"/>
                </a:lnTo>
                <a:lnTo>
                  <a:pt x="447466" y="660521"/>
                </a:lnTo>
                <a:lnTo>
                  <a:pt x="417317" y="638896"/>
                </a:lnTo>
                <a:lnTo>
                  <a:pt x="387911" y="616269"/>
                </a:lnTo>
                <a:lnTo>
                  <a:pt x="359283" y="592666"/>
                </a:lnTo>
                <a:lnTo>
                  <a:pt x="331465" y="568113"/>
                </a:lnTo>
                <a:lnTo>
                  <a:pt x="304488" y="542640"/>
                </a:lnTo>
                <a:lnTo>
                  <a:pt x="278383" y="516273"/>
                </a:lnTo>
                <a:lnTo>
                  <a:pt x="253180" y="489043"/>
                </a:lnTo>
                <a:lnTo>
                  <a:pt x="228906" y="460982"/>
                </a:lnTo>
                <a:lnTo>
                  <a:pt x="205590" y="432120"/>
                </a:lnTo>
                <a:lnTo>
                  <a:pt x="183257" y="402490"/>
                </a:lnTo>
                <a:lnTo>
                  <a:pt x="161934" y="372126"/>
                </a:lnTo>
                <a:lnTo>
                  <a:pt x="141643" y="341062"/>
                </a:lnTo>
                <a:lnTo>
                  <a:pt x="122409" y="309334"/>
                </a:lnTo>
                <a:lnTo>
                  <a:pt x="104252" y="276976"/>
                </a:lnTo>
                <a:lnTo>
                  <a:pt x="87194" y="244026"/>
                </a:lnTo>
                <a:lnTo>
                  <a:pt x="71254" y="210522"/>
                </a:lnTo>
                <a:lnTo>
                  <a:pt x="56449" y="176500"/>
                </a:lnTo>
                <a:lnTo>
                  <a:pt x="42796" y="141999"/>
                </a:lnTo>
                <a:lnTo>
                  <a:pt x="30312" y="107060"/>
                </a:lnTo>
                <a:lnTo>
                  <a:pt x="19009" y="71719"/>
                </a:lnTo>
                <a:lnTo>
                  <a:pt x="8901" y="36019"/>
                </a:lnTo>
                <a:lnTo>
                  <a:pt x="0" y="0"/>
                </a:lnTo>
              </a:path>
            </a:pathLst>
          </a:custGeom>
          <a:noFill/>
          <a:ln w="28575">
            <a:solidFill>
              <a:srgbClr val="55992E"/>
            </a:solidFill>
          </a:ln>
        </p:spPr>
        <p:txBody>
          <a:bodyPr rtlCol="0" anchor="ctr"/>
          <a:lstStyle/>
          <a:p>
            <a:pPr algn="ctr"/>
          </a:p>
        </p:txBody>
      </p:sp>
      <p:sp>
        <p:nvSpPr>
          <p:cNvPr id="22" name="Freeform 21"/>
          <p:cNvSpPr/>
          <p:nvPr/>
        </p:nvSpPr>
        <p:spPr>
          <a:xfrm>
            <a:off x="826486" y="2764701"/>
            <a:ext cx="128341" cy="148407"/>
          </a:xfrm>
          <a:custGeom>
            <a:avLst/>
            <a:gdLst/>
            <a:ahLst/>
            <a:cxnLst/>
            <a:rect l="l" t="t" r="r" b="b"/>
            <a:pathLst>
              <a:path w="128341" h="148407">
                <a:moveTo>
                  <a:pt x="33508" y="0"/>
                </a:moveTo>
                <a:lnTo>
                  <a:pt x="128341" y="118970"/>
                </a:lnTo>
                <a:lnTo>
                  <a:pt x="0" y="148407"/>
                </a:lnTo>
                <a:close/>
              </a:path>
            </a:pathLst>
          </a:custGeom>
          <a:solidFill>
            <a:srgbClr val="55992E"/>
          </a:solidFill>
          <a:ln>
            <a:noFill/>
          </a:ln>
        </p:spPr>
        <p:txBody>
          <a:bodyPr rtlCol="0" anchor="ctr"/>
          <a:lstStyle/>
          <a:p>
            <a:pPr algn="ctr"/>
          </a:p>
        </p:txBody>
      </p:sp>
      <p:sp>
        <p:nvSpPr>
          <p:cNvPr id="23" name="Rounded Rectangle 22"/>
          <p:cNvSpPr/>
          <p:nvPr/>
        </p:nvSpPr>
        <p:spPr>
          <a:xfrm>
            <a:off x="3129991" y="2278227"/>
            <a:ext cx="208483" cy="747064"/>
          </a:xfrm>
          <a:prstGeom prst="roundRect">
            <a:avLst>
              <a:gd name="adj" fmla="val 12000"/>
            </a:avLst>
          </a:prstGeom>
          <a:solidFill>
            <a:srgbClr val="D33327"/>
          </a:solidFill>
          <a:ln w="19050">
            <a:solidFill>
              <a:srgbClr val="FFFFFF"/>
            </a:solidFill>
          </a:ln>
          <a:effectLst/>
        </p:spPr>
        <p:txBody>
          <a:bodyPr rtlCol="0" anchor="ctr"/>
          <a:lstStyle/>
          <a:p/>
        </p:txBody>
      </p:sp>
      <p:sp>
        <p:nvSpPr>
          <p:cNvPr id="24" name="TextBox 23"/>
          <p:cNvSpPr txBox="1"/>
          <p:nvPr/>
        </p:nvSpPr>
        <p:spPr>
          <a:xfrm rot="5400000">
            <a:off x="3049703" y="2467230"/>
            <a:ext cx="369059" cy="369059"/>
          </a:xfrm>
          <a:prstGeom prst="rect">
            <a:avLst/>
          </a:prstGeom>
          <a:noFill/>
        </p:spPr>
        <p:txBody>
          <a:bodyPr wrap="square" anchor="ctr" lIns="0" rIns="0" tIns="0" bIns="0">
            <a:noAutofit/>
          </a:bodyPr>
          <a:lstStyle/>
          <a:p>
            <a:pPr algn="ctr">
              <a:spcBef>
                <a:spcPts val="0"/>
              </a:spcBef>
              <a:spcAft>
                <a:spcPts val="0"/>
              </a:spcAft>
            </a:pPr>
            <a:r>
              <a:rPr lang="tr-TR" sz="1100" b="1" i="0">
                <a:solidFill>
                  <a:srgbClr val="FFFFFF"/>
                </a:solidFill>
                <a:latin typeface="Calibri"/>
              </a:rPr>
              <a:t>AFET</a:t>
            </a:r>
          </a:p>
        </p:txBody>
      </p:sp>
      <p:sp>
        <p:nvSpPr>
          <p:cNvPr id="25" name="TextBox 24"/>
          <p:cNvSpPr txBox="1"/>
          <p:nvPr/>
        </p:nvSpPr>
        <p:spPr>
          <a:xfrm>
            <a:off x="1592427" y="2391156"/>
            <a:ext cx="747064" cy="521208"/>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6" name="Oval 25"/>
          <p:cNvSpPr/>
          <p:nvPr/>
        </p:nvSpPr>
        <p:spPr>
          <a:xfrm>
            <a:off x="1361830" y="2047630"/>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1</a:t>
            </a:r>
          </a:p>
        </p:txBody>
      </p:sp>
      <p:sp>
        <p:nvSpPr>
          <p:cNvPr id="27" name="Oval 26"/>
          <p:cNvSpPr/>
          <p:nvPr/>
        </p:nvSpPr>
        <p:spPr>
          <a:xfrm>
            <a:off x="2332345" y="2047630"/>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2</a:t>
            </a:r>
          </a:p>
        </p:txBody>
      </p:sp>
      <p:sp>
        <p:nvSpPr>
          <p:cNvPr id="28" name="Oval 27"/>
          <p:cNvSpPr/>
          <p:nvPr/>
        </p:nvSpPr>
        <p:spPr>
          <a:xfrm>
            <a:off x="2332345" y="3018145"/>
            <a:ext cx="237744" cy="237744"/>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29" b="1" i="0">
                <a:solidFill>
                  <a:srgbClr val="767676"/>
                </a:solidFill>
                <a:latin typeface="Calibri"/>
              </a:rPr>
              <a:t>3</a:t>
            </a:r>
          </a:p>
        </p:txBody>
      </p:sp>
      <p:sp>
        <p:nvSpPr>
          <p:cNvPr id="29" name="Oval 28"/>
          <p:cNvSpPr/>
          <p:nvPr/>
        </p:nvSpPr>
        <p:spPr>
          <a:xfrm>
            <a:off x="1361830" y="3018145"/>
            <a:ext cx="237744" cy="237744"/>
          </a:xfrm>
          <a:prstGeom prst="ellipse">
            <a:avLst/>
          </a:prstGeom>
          <a:solidFill>
            <a:srgbClr val="FFFFFF"/>
          </a:solidFill>
          <a:ln w="25400">
            <a:solidFill>
              <a:srgbClr val="55992E"/>
            </a:solidFill>
          </a:ln>
          <a:effectLst/>
        </p:spPr>
        <p:txBody>
          <a:bodyPr rtlCol="0" anchor="ctr" wrap="none" lIns="0" rIns="0" tIns="0" bIns="0">
            <a:noAutofit/>
          </a:bodyPr>
          <a:lstStyle/>
          <a:p>
            <a:pPr algn="ctr">
              <a:spcBef>
                <a:spcPts val="0"/>
              </a:spcBef>
              <a:spcAft>
                <a:spcPts val="0"/>
              </a:spcAft>
            </a:pPr>
            <a:r>
              <a:rPr lang="tr-TR" sz="1029" b="1" i="0">
                <a:solidFill>
                  <a:srgbClr val="55992E"/>
                </a:solidFill>
                <a:latin typeface="Calibri"/>
              </a:rPr>
              <a:t>4</a:t>
            </a:r>
          </a:p>
        </p:txBody>
      </p:sp>
      <p:sp>
        <p:nvSpPr>
          <p:cNvPr id="30" name="Rounded Rectangle 29"/>
          <p:cNvSpPr/>
          <p:nvPr/>
        </p:nvSpPr>
        <p:spPr>
          <a:xfrm>
            <a:off x="502920" y="4023360"/>
            <a:ext cx="3063240" cy="438912"/>
          </a:xfrm>
          <a:prstGeom prst="roundRect">
            <a:avLst>
              <a:gd name="adj" fmla="val 50000"/>
            </a:avLst>
          </a:prstGeom>
          <a:solidFill>
            <a:srgbClr val="FFFFFF"/>
          </a:solidFill>
          <a:ln w="19050">
            <a:solidFill>
              <a:srgbClr val="3B7D2A"/>
            </a:solidFill>
          </a:ln>
          <a:effectLst/>
        </p:spPr>
        <p:txBody>
          <a:bodyPr rtlCol="0" anchor="ctr" wrap="square" lIns="128016" rIns="128016" tIns="0" bIns="0">
            <a:noAutofit/>
          </a:bodyPr>
          <a:lstStyle/>
          <a:p>
            <a:pPr algn="ctr">
              <a:spcBef>
                <a:spcPts val="0"/>
              </a:spcBef>
              <a:spcAft>
                <a:spcPts val="0"/>
              </a:spcAft>
            </a:pPr>
            <a:r>
              <a:rPr lang="tr-TR" sz="1800" b="1" i="0">
                <a:solidFill>
                  <a:srgbClr val="3B7D2A"/>
                </a:solidFill>
                <a:latin typeface="Calibri"/>
              </a:rPr>
              <a:t>ok: Yeniden yapılandırma</a:t>
            </a:r>
          </a:p>
        </p:txBody>
      </p:sp>
      <p:sp>
        <p:nvSpPr>
          <p:cNvPr id="31" name="Rounded Rectangle 30"/>
          <p:cNvSpPr/>
          <p:nvPr/>
        </p:nvSpPr>
        <p:spPr>
          <a:xfrm>
            <a:off x="502920" y="4572000"/>
            <a:ext cx="3063240" cy="438912"/>
          </a:xfrm>
          <a:prstGeom prst="roundRect">
            <a:avLst>
              <a:gd name="adj" fmla="val 50000"/>
            </a:avLst>
          </a:prstGeom>
          <a:solidFill>
            <a:srgbClr val="A8322C"/>
          </a:solidFill>
          <a:ln>
            <a:noFill/>
          </a:ln>
          <a:effectLst/>
        </p:spPr>
        <p:txBody>
          <a:bodyPr rtlCol="0" anchor="ctr" wrap="square" lIns="128016" rIns="128016" tIns="0" bIns="0">
            <a:noAutofit/>
          </a:bodyPr>
          <a:lstStyle/>
          <a:p>
            <a:pPr algn="ctr">
              <a:spcBef>
                <a:spcPts val="0"/>
              </a:spcBef>
              <a:spcAft>
                <a:spcPts val="0"/>
              </a:spcAft>
            </a:pPr>
            <a:r>
              <a:rPr lang="tr-TR" sz="1250" b="1" i="0">
                <a:solidFill>
                  <a:srgbClr val="FFFFFF"/>
                </a:solidFill>
                <a:latin typeface="Calibri"/>
              </a:rPr>
              <a:t>KRİZ YÖNETİMİ · afet esnası ve sonrası</a:t>
            </a:r>
          </a:p>
        </p:txBody>
      </p:sp>
      <p:sp>
        <p:nvSpPr>
          <p:cNvPr id="32" name="Rounded Rectangle 31"/>
          <p:cNvSpPr/>
          <p:nvPr/>
        </p:nvSpPr>
        <p:spPr>
          <a:xfrm>
            <a:off x="502920" y="5166360"/>
            <a:ext cx="3063240" cy="1124712"/>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00"/>
              </a:spcAft>
            </a:pPr>
            <a:r>
              <a:rPr lang="tr-TR" sz="1900" b="1" i="0">
                <a:solidFill>
                  <a:srgbClr val="55992E"/>
                </a:solidFill>
                <a:latin typeface="Calibri"/>
              </a:rPr>
              <a:t>Deftere</a:t>
            </a:r>
          </a:p>
          <a:p>
            <a:pPr algn="l">
              <a:spcBef>
                <a:spcPts val="0"/>
              </a:spcBef>
              <a:spcAft>
                <a:spcPts val="0"/>
              </a:spcAft>
            </a:pPr>
            <a:r>
              <a:rPr lang="tr-TR" sz="1700" b="0" i="0">
                <a:solidFill>
                  <a:srgbClr val="262626"/>
                </a:solidFill>
                <a:latin typeface="Calibri"/>
              </a:rPr>
              <a:t>amacı · uygulamaları</a:t>
            </a:r>
          </a:p>
        </p:txBody>
      </p:sp>
      <p:sp>
        <p:nvSpPr>
          <p:cNvPr id="33" name="Rounded Rectangle 32"/>
          <p:cNvSpPr/>
          <p:nvPr/>
        </p:nvSpPr>
        <p:spPr>
          <a:xfrm>
            <a:off x="3840480" y="1216152"/>
            <a:ext cx="7848295" cy="502920"/>
          </a:xfrm>
          <a:prstGeom prst="roundRect">
            <a:avLst>
              <a:gd name="adj" fmla="val 15000"/>
            </a:avLst>
          </a:prstGeom>
          <a:solidFill>
            <a:srgbClr val="55992E"/>
          </a:solidFill>
          <a:ln>
            <a:noFill/>
          </a:ln>
          <a:effectLst/>
        </p:spPr>
        <p:txBody>
          <a:bodyPr rtlCol="0" anchor="ctr" wrap="square" lIns="182880" rIns="182880" tIns="0" bIns="0">
            <a:noAutofit/>
          </a:bodyPr>
          <a:lstStyle/>
          <a:p>
            <a:pPr algn="l">
              <a:spcBef>
                <a:spcPts val="0"/>
              </a:spcBef>
              <a:spcAft>
                <a:spcPts val="0"/>
              </a:spcAft>
            </a:pPr>
            <a:r>
              <a:rPr lang="tr-TR" sz="2100" b="1" i="0">
                <a:solidFill>
                  <a:srgbClr val="FFFFFF"/>
                </a:solidFill>
                <a:latin typeface="Calibri"/>
              </a:rPr>
              <a:t>İYİLEŞTİRME</a:t>
            </a:r>
          </a:p>
        </p:txBody>
      </p:sp>
      <p:sp>
        <p:nvSpPr>
          <p:cNvPr id="34" name="Rounded Rectangle 33"/>
          <p:cNvSpPr/>
          <p:nvPr/>
        </p:nvSpPr>
        <p:spPr>
          <a:xfrm>
            <a:off x="3840480" y="1828800"/>
            <a:ext cx="7848295" cy="2563585"/>
          </a:xfrm>
          <a:prstGeom prst="roundRect">
            <a:avLst>
              <a:gd name="adj" fmla="val 8000"/>
            </a:avLst>
          </a:prstGeom>
          <a:solidFill>
            <a:srgbClr val="F0F0F0"/>
          </a:solidFill>
          <a:ln>
            <a:noFill/>
          </a:ln>
          <a:effectLst/>
        </p:spPr>
        <p:txBody>
          <a:bodyPr rtlCol="0" anchor="ctr"/>
          <a:lstStyle/>
          <a:p/>
        </p:txBody>
      </p:sp>
      <p:sp>
        <p:nvSpPr>
          <p:cNvPr id="35" name="Rectangle 34"/>
          <p:cNvSpPr/>
          <p:nvPr/>
        </p:nvSpPr>
        <p:spPr>
          <a:xfrm>
            <a:off x="3840480" y="1828800"/>
            <a:ext cx="118872" cy="2563585"/>
          </a:xfrm>
          <a:prstGeom prst="rect">
            <a:avLst/>
          </a:prstGeom>
          <a:solidFill>
            <a:srgbClr val="55992E"/>
          </a:solidFill>
          <a:ln>
            <a:noFill/>
          </a:ln>
          <a:effectLst/>
        </p:spPr>
        <p:txBody>
          <a:bodyPr rtlCol="0" anchor="ctr"/>
          <a:lstStyle/>
          <a:p/>
        </p:txBody>
      </p:sp>
      <p:sp>
        <p:nvSpPr>
          <p:cNvPr id="36" name="TextBox 35"/>
          <p:cNvSpPr txBox="1"/>
          <p:nvPr/>
        </p:nvSpPr>
        <p:spPr>
          <a:xfrm>
            <a:off x="4114800" y="1828800"/>
            <a:ext cx="7436815" cy="2563585"/>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Bu aşamanın amacı; afete maruz kalan bölgelerde </a:t>
            </a:r>
            <a:r>
              <a:rPr lang="tr-TR" sz="2200" b="1" i="0">
                <a:solidFill>
                  <a:srgbClr val="262626"/>
                </a:solidFill>
                <a:latin typeface="Calibri"/>
              </a:rPr>
              <a:t>temel ihtiyaçlar, haberleşme, ulaşım, elektrik, kanalizasyon, eğitim, kalıcı konut, ekonomik ve sosyal hayat</a:t>
            </a:r>
            <a:r>
              <a:rPr lang="tr-TR" sz="2200" b="0" i="0">
                <a:solidFill>
                  <a:srgbClr val="262626"/>
                </a:solidFill>
                <a:latin typeface="Calibri"/>
              </a:rPr>
              <a:t> gibi hususların normale dönmesi için gerekli çalışmaların yapılmasıdır.</a:t>
            </a:r>
          </a:p>
        </p:txBody>
      </p:sp>
      <p:sp>
        <p:nvSpPr>
          <p:cNvPr id="37" name="Rounded Rectangle 36"/>
          <p:cNvSpPr/>
          <p:nvPr/>
        </p:nvSpPr>
        <p:spPr>
          <a:xfrm>
            <a:off x="3840480" y="4529545"/>
            <a:ext cx="7848295" cy="1743238"/>
          </a:xfrm>
          <a:prstGeom prst="roundRect">
            <a:avLst>
              <a:gd name="adj" fmla="val 8000"/>
            </a:avLst>
          </a:prstGeom>
          <a:solidFill>
            <a:srgbClr val="F0F0F0"/>
          </a:solidFill>
          <a:ln>
            <a:noFill/>
          </a:ln>
          <a:effectLst/>
        </p:spPr>
        <p:txBody>
          <a:bodyPr rtlCol="0" anchor="ctr"/>
          <a:lstStyle/>
          <a:p/>
        </p:txBody>
      </p:sp>
      <p:sp>
        <p:nvSpPr>
          <p:cNvPr id="38" name="Rectangle 37"/>
          <p:cNvSpPr/>
          <p:nvPr/>
        </p:nvSpPr>
        <p:spPr>
          <a:xfrm>
            <a:off x="3840480" y="4529545"/>
            <a:ext cx="118872" cy="1743238"/>
          </a:xfrm>
          <a:prstGeom prst="rect">
            <a:avLst/>
          </a:prstGeom>
          <a:solidFill>
            <a:srgbClr val="55992E"/>
          </a:solidFill>
          <a:ln>
            <a:noFill/>
          </a:ln>
          <a:effectLst/>
        </p:spPr>
        <p:txBody>
          <a:bodyPr rtlCol="0" anchor="ctr"/>
          <a:lstStyle/>
          <a:p/>
        </p:txBody>
      </p:sp>
      <p:sp>
        <p:nvSpPr>
          <p:cNvPr id="39" name="TextBox 38"/>
          <p:cNvSpPr txBox="1"/>
          <p:nvPr/>
        </p:nvSpPr>
        <p:spPr>
          <a:xfrm>
            <a:off x="4114800" y="4529545"/>
            <a:ext cx="7436815" cy="174323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Sosyal ve ekonomik hayatın normale dönmesiyle yeniden yapılanma faaliyeti, </a:t>
            </a:r>
            <a:r>
              <a:rPr lang="tr-TR" sz="2200" b="1" i="0">
                <a:solidFill>
                  <a:srgbClr val="262626"/>
                </a:solidFill>
                <a:latin typeface="Calibri"/>
              </a:rPr>
              <a:t>kriz yönetiminin en uzun süren evresidir.</a:t>
            </a:r>
          </a:p>
        </p:txBody>
      </p: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133 / 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FFFFFF"/>
                </a:solidFill>
                <a:latin typeface="Calibri"/>
              </a:rPr>
              <a:t>Defterine tablo: dört aşamanın amacı ve uygulamaları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2514600" cy="457200"/>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Aşama</a:t>
            </a:r>
          </a:p>
        </p:txBody>
      </p:sp>
      <p:sp>
        <p:nvSpPr>
          <p:cNvPr id="7" name="Rounded Rectangle 6"/>
          <p:cNvSpPr/>
          <p:nvPr/>
        </p:nvSpPr>
        <p:spPr>
          <a:xfrm>
            <a:off x="3127248" y="1216152"/>
            <a:ext cx="3380719" cy="457200"/>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Amacı ne?</a:t>
            </a:r>
          </a:p>
        </p:txBody>
      </p:sp>
      <p:sp>
        <p:nvSpPr>
          <p:cNvPr id="8" name="Rounded Rectangle 7"/>
          <p:cNvSpPr/>
          <p:nvPr/>
        </p:nvSpPr>
        <p:spPr>
          <a:xfrm>
            <a:off x="6617695" y="1216152"/>
            <a:ext cx="5071080" cy="457200"/>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Kitaptan uygulamalar</a:t>
            </a:r>
          </a:p>
        </p:txBody>
      </p:sp>
      <p:sp>
        <p:nvSpPr>
          <p:cNvPr id="9" name="Rounded Rectangle 8"/>
          <p:cNvSpPr/>
          <p:nvPr/>
        </p:nvSpPr>
        <p:spPr>
          <a:xfrm>
            <a:off x="502920" y="1764792"/>
            <a:ext cx="2514600" cy="1049274"/>
          </a:xfrm>
          <a:prstGeom prst="roundRect">
            <a:avLst>
              <a:gd name="adj" fmla="val 10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1 · Risk ve zarar azaltma</a:t>
            </a:r>
          </a:p>
        </p:txBody>
      </p:sp>
      <p:sp>
        <p:nvSpPr>
          <p:cNvPr id="10" name="Rounded Rectangle 9"/>
          <p:cNvSpPr/>
          <p:nvPr/>
        </p:nvSpPr>
        <p:spPr>
          <a:xfrm>
            <a:off x="3127248" y="1764792"/>
            <a:ext cx="3380719"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Afetlerin etkisini azaltmak ya da yok etmek</a:t>
            </a:r>
          </a:p>
        </p:txBody>
      </p:sp>
      <p:sp>
        <p:nvSpPr>
          <p:cNvPr id="11" name="Rounded Rectangle 10"/>
          <p:cNvSpPr/>
          <p:nvPr/>
        </p:nvSpPr>
        <p:spPr>
          <a:xfrm>
            <a:off x="6617695" y="1764792"/>
            <a:ext cx="5071080"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Tehlike haritaları; yasal düzenlemeler; yapılanma ve afet yönetmelikleri</a:t>
            </a:r>
          </a:p>
        </p:txBody>
      </p:sp>
      <p:sp>
        <p:nvSpPr>
          <p:cNvPr id="12" name="Rounded Rectangle 11"/>
          <p:cNvSpPr/>
          <p:nvPr/>
        </p:nvSpPr>
        <p:spPr>
          <a:xfrm>
            <a:off x="502920" y="2923794"/>
            <a:ext cx="2514600" cy="1049274"/>
          </a:xfrm>
          <a:prstGeom prst="roundRect">
            <a:avLst>
              <a:gd name="adj" fmla="val 10000"/>
            </a:avLst>
          </a:prstGeom>
          <a:solidFill>
            <a:srgbClr val="D9731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2 · Hazırlıklı olma</a:t>
            </a:r>
          </a:p>
        </p:txBody>
      </p:sp>
      <p:sp>
        <p:nvSpPr>
          <p:cNvPr id="13" name="Rounded Rectangle 12"/>
          <p:cNvSpPr/>
          <p:nvPr/>
        </p:nvSpPr>
        <p:spPr>
          <a:xfrm>
            <a:off x="3127248" y="2923794"/>
            <a:ext cx="3380719"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Afet olmadan önce olası sonuçlarına hazırlanmak</a:t>
            </a:r>
          </a:p>
        </p:txBody>
      </p:sp>
      <p:sp>
        <p:nvSpPr>
          <p:cNvPr id="14" name="Rounded Rectangle 13"/>
          <p:cNvSpPr/>
          <p:nvPr/>
        </p:nvSpPr>
        <p:spPr>
          <a:xfrm>
            <a:off x="6617695" y="2923794"/>
            <a:ext cx="5071080"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İhtiyaç belirleme, tahliye, toplanma merkezi, acil eylem planı, teçhizat merkezleri, erken uyarı</a:t>
            </a:r>
          </a:p>
        </p:txBody>
      </p:sp>
      <p:sp>
        <p:nvSpPr>
          <p:cNvPr id="15" name="Rounded Rectangle 14"/>
          <p:cNvSpPr/>
          <p:nvPr/>
        </p:nvSpPr>
        <p:spPr>
          <a:xfrm>
            <a:off x="502920" y="4082796"/>
            <a:ext cx="2514600" cy="1049274"/>
          </a:xfrm>
          <a:prstGeom prst="roundRect">
            <a:avLst>
              <a:gd name="adj" fmla="val 1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3 · Müdahale</a:t>
            </a:r>
          </a:p>
        </p:txBody>
      </p:sp>
      <p:sp>
        <p:nvSpPr>
          <p:cNvPr id="16" name="Rounded Rectangle 15"/>
          <p:cNvSpPr/>
          <p:nvPr/>
        </p:nvSpPr>
        <p:spPr>
          <a:xfrm>
            <a:off x="3127248" y="4082796"/>
            <a:ext cx="3380719"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Olaya en kısa sürede müdahale, zaruri ihtiyaçları karşılamak</a:t>
            </a:r>
          </a:p>
        </p:txBody>
      </p:sp>
      <p:sp>
        <p:nvSpPr>
          <p:cNvPr id="17" name="Rounded Rectangle 16"/>
          <p:cNvSpPr/>
          <p:nvPr/>
        </p:nvSpPr>
        <p:spPr>
          <a:xfrm>
            <a:off x="6617695" y="4082796"/>
            <a:ext cx="5071080"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Arama kurtarma; gıda, barınma, ilaç, güvenlik; hasar tespiti, enkaz; yangın, salgına karşı önlem</a:t>
            </a:r>
          </a:p>
        </p:txBody>
      </p:sp>
      <p:sp>
        <p:nvSpPr>
          <p:cNvPr id="18" name="Rounded Rectangle 17"/>
          <p:cNvSpPr/>
          <p:nvPr/>
        </p:nvSpPr>
        <p:spPr>
          <a:xfrm>
            <a:off x="502920" y="5241798"/>
            <a:ext cx="2514600" cy="1049274"/>
          </a:xfrm>
          <a:prstGeom prst="roundRect">
            <a:avLst>
              <a:gd name="adj" fmla="val 1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4 · İyileştirme</a:t>
            </a:r>
          </a:p>
        </p:txBody>
      </p:sp>
      <p:sp>
        <p:nvSpPr>
          <p:cNvPr id="19" name="Rounded Rectangle 18"/>
          <p:cNvSpPr/>
          <p:nvPr/>
        </p:nvSpPr>
        <p:spPr>
          <a:xfrm>
            <a:off x="3127248" y="5241798"/>
            <a:ext cx="3380719"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Hayatın normale dönmesi (kriz yönetiminin en uzun evresi)</a:t>
            </a:r>
          </a:p>
        </p:txBody>
      </p:sp>
      <p:sp>
        <p:nvSpPr>
          <p:cNvPr id="20" name="Rounded Rectangle 19"/>
          <p:cNvSpPr/>
          <p:nvPr/>
        </p:nvSpPr>
        <p:spPr>
          <a:xfrm>
            <a:off x="6617695" y="5241798"/>
            <a:ext cx="5071080" cy="1049274"/>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800" b="0" i="0">
                <a:solidFill>
                  <a:srgbClr val="262626"/>
                </a:solidFill>
                <a:latin typeface="Calibri"/>
              </a:rPr>
              <a:t>Temel ihtiyaçlar, haberleşme, ulaşım, elektrik, kanalizasyon, eğitim, kalıcı konut; ekonomik ve sosyal hayat</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134 / 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Risk yönetimi mi, kriz yönetimi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MİNİ KÂĞIT · R / K</a:t>
            </a:r>
          </a:p>
        </p:txBody>
      </p:sp>
      <p:sp>
        <p:nvSpPr>
          <p:cNvPr id="6" name="Rounded Rectangle 5"/>
          <p:cNvSpPr/>
          <p:nvPr/>
        </p:nvSpPr>
        <p:spPr>
          <a:xfrm>
            <a:off x="502920" y="1307592"/>
            <a:ext cx="5852160" cy="1234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0"/>
              </a:spcAft>
            </a:pPr>
            <a:r>
              <a:rPr lang="tr-TR" sz="2800" b="1" i="0">
                <a:solidFill>
                  <a:srgbClr val="262626"/>
                </a:solidFill>
                <a:latin typeface="Calibri"/>
              </a:rPr>
              <a:t>Tahliye planı hazırlamak</a:t>
            </a:r>
          </a:p>
        </p:txBody>
      </p:sp>
      <p:sp>
        <p:nvSpPr>
          <p:cNvPr id="7" name="Rounded Rectangle 6"/>
          <p:cNvSpPr/>
          <p:nvPr/>
        </p:nvSpPr>
        <p:spPr>
          <a:xfrm>
            <a:off x="6629400" y="141732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R</a:t>
            </a:r>
          </a:p>
        </p:txBody>
      </p:sp>
      <p:sp>
        <p:nvSpPr>
          <p:cNvPr id="8" name="Rounded Rectangle 7"/>
          <p:cNvSpPr/>
          <p:nvPr/>
        </p:nvSpPr>
        <p:spPr>
          <a:xfrm>
            <a:off x="7955280" y="141732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K</a:t>
            </a:r>
          </a:p>
        </p:txBody>
      </p:sp>
      <p:sp>
        <p:nvSpPr>
          <p:cNvPr id="9" name="Rounded Rectangle 8"/>
          <p:cNvSpPr/>
          <p:nvPr/>
        </p:nvSpPr>
        <p:spPr>
          <a:xfrm>
            <a:off x="502920" y="2770632"/>
            <a:ext cx="5852160" cy="1234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0"/>
              </a:spcAft>
            </a:pPr>
            <a:r>
              <a:rPr lang="tr-TR" sz="2800" b="1" i="0">
                <a:solidFill>
                  <a:srgbClr val="262626"/>
                </a:solidFill>
                <a:latin typeface="Calibri"/>
              </a:rPr>
              <a:t>Enkaz kaldırmak</a:t>
            </a:r>
          </a:p>
        </p:txBody>
      </p:sp>
      <p:sp>
        <p:nvSpPr>
          <p:cNvPr id="10" name="Rounded Rectangle 9"/>
          <p:cNvSpPr/>
          <p:nvPr/>
        </p:nvSpPr>
        <p:spPr>
          <a:xfrm>
            <a:off x="6629400" y="288036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R</a:t>
            </a:r>
          </a:p>
        </p:txBody>
      </p:sp>
      <p:sp>
        <p:nvSpPr>
          <p:cNvPr id="11" name="Rounded Rectangle 10"/>
          <p:cNvSpPr/>
          <p:nvPr/>
        </p:nvSpPr>
        <p:spPr>
          <a:xfrm>
            <a:off x="7955280" y="288036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K</a:t>
            </a:r>
          </a:p>
        </p:txBody>
      </p:sp>
      <p:sp>
        <p:nvSpPr>
          <p:cNvPr id="12" name="Rounded Rectangle 11"/>
          <p:cNvSpPr/>
          <p:nvPr/>
        </p:nvSpPr>
        <p:spPr>
          <a:xfrm>
            <a:off x="502920" y="4233672"/>
            <a:ext cx="5852160" cy="1234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0"/>
              </a:spcAft>
            </a:pPr>
            <a:r>
              <a:rPr lang="tr-TR" sz="2800" b="1" i="0">
                <a:solidFill>
                  <a:srgbClr val="262626"/>
                </a:solidFill>
                <a:latin typeface="Calibri"/>
              </a:rPr>
              <a:t>Kalıcı konut yapmak</a:t>
            </a:r>
          </a:p>
        </p:txBody>
      </p:sp>
      <p:sp>
        <p:nvSpPr>
          <p:cNvPr id="13" name="Rounded Rectangle 12"/>
          <p:cNvSpPr/>
          <p:nvPr/>
        </p:nvSpPr>
        <p:spPr>
          <a:xfrm>
            <a:off x="6629400" y="434340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R</a:t>
            </a:r>
          </a:p>
        </p:txBody>
      </p:sp>
      <p:sp>
        <p:nvSpPr>
          <p:cNvPr id="14" name="Rounded Rectangle 13"/>
          <p:cNvSpPr/>
          <p:nvPr/>
        </p:nvSpPr>
        <p:spPr>
          <a:xfrm>
            <a:off x="7955280" y="434340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K</a:t>
            </a:r>
          </a:p>
        </p:txBody>
      </p:sp>
      <p:sp>
        <p:nvSpPr>
          <p:cNvPr id="15" name="TextBox 14"/>
          <p:cNvSpPr txBox="1"/>
          <p:nvPr/>
        </p:nvSpPr>
        <p:spPr>
          <a:xfrm>
            <a:off x="502920" y="5833872"/>
            <a:ext cx="11185855" cy="411480"/>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R = risk yönetimi (afet öncesi)   ·   K = kriz yönetimi (afet esnası ve sonrası)</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135 / 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Risk yönetimi mi, kriz yönetimi mi?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307592"/>
            <a:ext cx="5852160" cy="1234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0"/>
              </a:spcAft>
            </a:pPr>
            <a:r>
              <a:rPr lang="tr-TR" sz="2800" b="1" i="0">
                <a:solidFill>
                  <a:srgbClr val="262626"/>
                </a:solidFill>
                <a:latin typeface="Calibri"/>
              </a:rPr>
              <a:t>Tahliye planı hazırlamak</a:t>
            </a:r>
          </a:p>
        </p:txBody>
      </p:sp>
      <p:sp>
        <p:nvSpPr>
          <p:cNvPr id="7" name="Rounded Rectangle 6"/>
          <p:cNvSpPr/>
          <p:nvPr/>
        </p:nvSpPr>
        <p:spPr>
          <a:xfrm>
            <a:off x="6629400" y="1417320"/>
            <a:ext cx="1097280" cy="1014984"/>
          </a:xfrm>
          <a:prstGeom prst="roundRect">
            <a:avLst>
              <a:gd name="adj" fmla="val 8000"/>
            </a:avLst>
          </a:prstGeom>
          <a:solidFill>
            <a:srgbClr val="1F6E9E"/>
          </a:solidFill>
          <a:ln>
            <a:noFill/>
          </a:ln>
          <a:effectLst/>
        </p:spPr>
        <p:txBody>
          <a:bodyPr rtlCol="0" anchor="ctr" wrap="square" lIns="128016" rIns="128016" tIns="73152" bIns="73152">
            <a:noAutofit/>
          </a:bodyPr>
          <a:lstStyle/>
          <a:p>
            <a:pPr algn="ctr">
              <a:spcBef>
                <a:spcPts val="0"/>
              </a:spcBef>
              <a:spcAft>
                <a:spcPts val="0"/>
              </a:spcAft>
            </a:pPr>
            <a:r>
              <a:rPr lang="tr-TR" sz="3400" b="1" i="0">
                <a:solidFill>
                  <a:srgbClr val="FFFFFF"/>
                </a:solidFill>
                <a:latin typeface="Calibri"/>
              </a:rPr>
              <a:t>R</a:t>
            </a:r>
          </a:p>
        </p:txBody>
      </p:sp>
      <p:sp>
        <p:nvSpPr>
          <p:cNvPr id="8" name="Rounded Rectangle 7"/>
          <p:cNvSpPr/>
          <p:nvPr/>
        </p:nvSpPr>
        <p:spPr>
          <a:xfrm>
            <a:off x="7955280" y="141732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K</a:t>
            </a:r>
          </a:p>
        </p:txBody>
      </p:sp>
      <p:sp>
        <p:nvSpPr>
          <p:cNvPr id="9" name="Rounded Rectangle 8"/>
          <p:cNvSpPr/>
          <p:nvPr/>
        </p:nvSpPr>
        <p:spPr>
          <a:xfrm>
            <a:off x="9418320" y="1536192"/>
            <a:ext cx="2270455" cy="777240"/>
          </a:xfrm>
          <a:prstGeom prst="roundRect">
            <a:avLst>
              <a:gd name="adj" fmla="val 30000"/>
            </a:avLst>
          </a:prstGeom>
          <a:solidFill>
            <a:srgbClr val="D9731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Hazırlıklı olma</a:t>
            </a:r>
          </a:p>
        </p:txBody>
      </p:sp>
      <p:sp>
        <p:nvSpPr>
          <p:cNvPr id="10" name="Rounded Rectangle 9"/>
          <p:cNvSpPr/>
          <p:nvPr/>
        </p:nvSpPr>
        <p:spPr>
          <a:xfrm>
            <a:off x="502920" y="2770632"/>
            <a:ext cx="5852160" cy="1234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0"/>
              </a:spcAft>
            </a:pPr>
            <a:r>
              <a:rPr lang="tr-TR" sz="2800" b="1" i="0">
                <a:solidFill>
                  <a:srgbClr val="262626"/>
                </a:solidFill>
                <a:latin typeface="Calibri"/>
              </a:rPr>
              <a:t>Enkaz kaldırmak</a:t>
            </a:r>
          </a:p>
        </p:txBody>
      </p:sp>
      <p:sp>
        <p:nvSpPr>
          <p:cNvPr id="11" name="Rounded Rectangle 10"/>
          <p:cNvSpPr/>
          <p:nvPr/>
        </p:nvSpPr>
        <p:spPr>
          <a:xfrm>
            <a:off x="6629400" y="288036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R</a:t>
            </a:r>
          </a:p>
        </p:txBody>
      </p:sp>
      <p:sp>
        <p:nvSpPr>
          <p:cNvPr id="12" name="Rounded Rectangle 11"/>
          <p:cNvSpPr/>
          <p:nvPr/>
        </p:nvSpPr>
        <p:spPr>
          <a:xfrm>
            <a:off x="7955280" y="2880360"/>
            <a:ext cx="1097280" cy="1014984"/>
          </a:xfrm>
          <a:prstGeom prst="roundRect">
            <a:avLst>
              <a:gd name="adj" fmla="val 8000"/>
            </a:avLst>
          </a:prstGeom>
          <a:solidFill>
            <a:srgbClr val="A8322C"/>
          </a:solidFill>
          <a:ln>
            <a:noFill/>
          </a:ln>
          <a:effectLst/>
        </p:spPr>
        <p:txBody>
          <a:bodyPr rtlCol="0" anchor="ctr" wrap="square" lIns="128016" rIns="128016" tIns="73152" bIns="73152">
            <a:noAutofit/>
          </a:bodyPr>
          <a:lstStyle/>
          <a:p>
            <a:pPr algn="ctr">
              <a:spcBef>
                <a:spcPts val="0"/>
              </a:spcBef>
              <a:spcAft>
                <a:spcPts val="0"/>
              </a:spcAft>
            </a:pPr>
            <a:r>
              <a:rPr lang="tr-TR" sz="3400" b="1" i="0">
                <a:solidFill>
                  <a:srgbClr val="FFFFFF"/>
                </a:solidFill>
                <a:latin typeface="Calibri"/>
              </a:rPr>
              <a:t>K</a:t>
            </a:r>
          </a:p>
        </p:txBody>
      </p:sp>
      <p:sp>
        <p:nvSpPr>
          <p:cNvPr id="13" name="Rounded Rectangle 12"/>
          <p:cNvSpPr/>
          <p:nvPr/>
        </p:nvSpPr>
        <p:spPr>
          <a:xfrm>
            <a:off x="9418320" y="2999232"/>
            <a:ext cx="2270455" cy="777240"/>
          </a:xfrm>
          <a:prstGeom prst="roundRect">
            <a:avLst>
              <a:gd name="adj" fmla="val 3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Müdahale</a:t>
            </a:r>
          </a:p>
        </p:txBody>
      </p:sp>
      <p:sp>
        <p:nvSpPr>
          <p:cNvPr id="14" name="Rounded Rectangle 13"/>
          <p:cNvSpPr/>
          <p:nvPr/>
        </p:nvSpPr>
        <p:spPr>
          <a:xfrm>
            <a:off x="502920" y="4233672"/>
            <a:ext cx="5852160" cy="1234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0"/>
              </a:spcAft>
            </a:pPr>
            <a:r>
              <a:rPr lang="tr-TR" sz="2800" b="1" i="0">
                <a:solidFill>
                  <a:srgbClr val="262626"/>
                </a:solidFill>
                <a:latin typeface="Calibri"/>
              </a:rPr>
              <a:t>Kalıcı konut yapmak</a:t>
            </a:r>
          </a:p>
        </p:txBody>
      </p:sp>
      <p:sp>
        <p:nvSpPr>
          <p:cNvPr id="15" name="Rounded Rectangle 14"/>
          <p:cNvSpPr/>
          <p:nvPr/>
        </p:nvSpPr>
        <p:spPr>
          <a:xfrm>
            <a:off x="6629400" y="4343400"/>
            <a:ext cx="1097280" cy="1014984"/>
          </a:xfrm>
          <a:prstGeom prst="roundRect">
            <a:avLst>
              <a:gd name="adj" fmla="val 8000"/>
            </a:avLst>
          </a:prstGeom>
          <a:solidFill>
            <a:srgbClr val="FFFFFF"/>
          </a:solidFill>
          <a:ln w="19050">
            <a:solidFill>
              <a:srgbClr val="D9D9D9"/>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767676"/>
                </a:solidFill>
                <a:latin typeface="Calibri"/>
              </a:rPr>
              <a:t>R</a:t>
            </a:r>
          </a:p>
        </p:txBody>
      </p:sp>
      <p:sp>
        <p:nvSpPr>
          <p:cNvPr id="16" name="Rounded Rectangle 15"/>
          <p:cNvSpPr/>
          <p:nvPr/>
        </p:nvSpPr>
        <p:spPr>
          <a:xfrm>
            <a:off x="7955280" y="4343400"/>
            <a:ext cx="1097280" cy="1014984"/>
          </a:xfrm>
          <a:prstGeom prst="roundRect">
            <a:avLst>
              <a:gd name="adj" fmla="val 8000"/>
            </a:avLst>
          </a:prstGeom>
          <a:solidFill>
            <a:srgbClr val="A8322C"/>
          </a:solidFill>
          <a:ln>
            <a:noFill/>
          </a:ln>
          <a:effectLst/>
        </p:spPr>
        <p:txBody>
          <a:bodyPr rtlCol="0" anchor="ctr" wrap="square" lIns="128016" rIns="128016" tIns="73152" bIns="73152">
            <a:noAutofit/>
          </a:bodyPr>
          <a:lstStyle/>
          <a:p>
            <a:pPr algn="ctr">
              <a:spcBef>
                <a:spcPts val="0"/>
              </a:spcBef>
              <a:spcAft>
                <a:spcPts val="0"/>
              </a:spcAft>
            </a:pPr>
            <a:r>
              <a:rPr lang="tr-TR" sz="3400" b="1" i="0">
                <a:solidFill>
                  <a:srgbClr val="FFFFFF"/>
                </a:solidFill>
                <a:latin typeface="Calibri"/>
              </a:rPr>
              <a:t>K</a:t>
            </a:r>
          </a:p>
        </p:txBody>
      </p:sp>
      <p:sp>
        <p:nvSpPr>
          <p:cNvPr id="17" name="Rounded Rectangle 16"/>
          <p:cNvSpPr/>
          <p:nvPr/>
        </p:nvSpPr>
        <p:spPr>
          <a:xfrm>
            <a:off x="9418320" y="4462272"/>
            <a:ext cx="2270455" cy="777240"/>
          </a:xfrm>
          <a:prstGeom prst="roundRect">
            <a:avLst>
              <a:gd name="adj" fmla="val 3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İyileştirme</a:t>
            </a:r>
          </a:p>
        </p:txBody>
      </p:sp>
      <p:sp>
        <p:nvSpPr>
          <p:cNvPr id="18" name="TextBox 17"/>
          <p:cNvSpPr txBox="1"/>
          <p:nvPr/>
        </p:nvSpPr>
        <p:spPr>
          <a:xfrm>
            <a:off x="502920" y="5833872"/>
            <a:ext cx="11185855" cy="411480"/>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R = risk yönetimi (afet öncesi)   ·   K = kriz yönetimi (afet esnası ve sonrası)</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136 / 250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Döngü neden döngü?</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İLİŞKİ</a:t>
            </a:r>
          </a:p>
        </p:txBody>
      </p:sp>
      <p:sp>
        <p:nvSpPr>
          <p:cNvPr id="6" name="Freeform 5"/>
          <p:cNvSpPr/>
          <p:nvPr/>
        </p:nvSpPr>
        <p:spPr>
          <a:xfrm>
            <a:off x="1124712" y="1856231"/>
            <a:ext cx="1188720" cy="1188720"/>
          </a:xfrm>
          <a:custGeom>
            <a:avLst/>
            <a:gdLst/>
            <a:ahLst/>
            <a:cxnLst/>
            <a:rect l="l" t="t" r="r" b="b"/>
            <a:pathLst>
              <a:path w="1188720" h="1188720">
                <a:moveTo>
                  <a:pt x="1188720" y="0"/>
                </a:moveTo>
                <a:lnTo>
                  <a:pt x="1147234" y="724"/>
                </a:lnTo>
                <a:lnTo>
                  <a:pt x="1105799" y="2895"/>
                </a:lnTo>
                <a:lnTo>
                  <a:pt x="1064464" y="6511"/>
                </a:lnTo>
                <a:lnTo>
                  <a:pt x="1023282" y="11568"/>
                </a:lnTo>
                <a:lnTo>
                  <a:pt x="982300" y="18059"/>
                </a:lnTo>
                <a:lnTo>
                  <a:pt x="941571" y="25976"/>
                </a:lnTo>
                <a:lnTo>
                  <a:pt x="901142" y="35310"/>
                </a:lnTo>
                <a:lnTo>
                  <a:pt x="861064" y="46048"/>
                </a:lnTo>
                <a:lnTo>
                  <a:pt x="821385" y="58180"/>
                </a:lnTo>
                <a:lnTo>
                  <a:pt x="782153" y="71688"/>
                </a:lnTo>
                <a:lnTo>
                  <a:pt x="743417" y="86558"/>
                </a:lnTo>
                <a:lnTo>
                  <a:pt x="705224" y="102770"/>
                </a:lnTo>
                <a:lnTo>
                  <a:pt x="667619" y="120305"/>
                </a:lnTo>
                <a:lnTo>
                  <a:pt x="630649" y="139142"/>
                </a:lnTo>
                <a:lnTo>
                  <a:pt x="594360" y="159258"/>
                </a:lnTo>
                <a:lnTo>
                  <a:pt x="558794" y="180628"/>
                </a:lnTo>
                <a:lnTo>
                  <a:pt x="523996" y="203226"/>
                </a:lnTo>
                <a:lnTo>
                  <a:pt x="490007" y="227025"/>
                </a:lnTo>
                <a:lnTo>
                  <a:pt x="456870" y="251995"/>
                </a:lnTo>
                <a:lnTo>
                  <a:pt x="424625" y="278107"/>
                </a:lnTo>
                <a:lnTo>
                  <a:pt x="393311" y="305328"/>
                </a:lnTo>
                <a:lnTo>
                  <a:pt x="362965" y="333626"/>
                </a:lnTo>
                <a:lnTo>
                  <a:pt x="333626" y="362965"/>
                </a:lnTo>
                <a:lnTo>
                  <a:pt x="305328" y="393311"/>
                </a:lnTo>
                <a:lnTo>
                  <a:pt x="278107" y="424625"/>
                </a:lnTo>
                <a:lnTo>
                  <a:pt x="251995" y="456870"/>
                </a:lnTo>
                <a:lnTo>
                  <a:pt x="227025" y="490007"/>
                </a:lnTo>
                <a:lnTo>
                  <a:pt x="203226" y="523996"/>
                </a:lnTo>
                <a:lnTo>
                  <a:pt x="180628" y="558794"/>
                </a:lnTo>
                <a:lnTo>
                  <a:pt x="159258" y="594360"/>
                </a:lnTo>
                <a:lnTo>
                  <a:pt x="139142" y="630649"/>
                </a:lnTo>
                <a:lnTo>
                  <a:pt x="120305" y="667619"/>
                </a:lnTo>
                <a:lnTo>
                  <a:pt x="102770" y="705224"/>
                </a:lnTo>
                <a:lnTo>
                  <a:pt x="86558" y="743417"/>
                </a:lnTo>
                <a:lnTo>
                  <a:pt x="71688" y="782153"/>
                </a:lnTo>
                <a:lnTo>
                  <a:pt x="58180" y="821385"/>
                </a:lnTo>
                <a:lnTo>
                  <a:pt x="46048" y="861064"/>
                </a:lnTo>
                <a:lnTo>
                  <a:pt x="35310" y="901142"/>
                </a:lnTo>
                <a:lnTo>
                  <a:pt x="25976" y="941571"/>
                </a:lnTo>
                <a:lnTo>
                  <a:pt x="18059" y="982300"/>
                </a:lnTo>
                <a:lnTo>
                  <a:pt x="11568" y="1023282"/>
                </a:lnTo>
                <a:lnTo>
                  <a:pt x="6511" y="1064464"/>
                </a:lnTo>
                <a:lnTo>
                  <a:pt x="2895" y="1105799"/>
                </a:lnTo>
                <a:lnTo>
                  <a:pt x="724" y="1147234"/>
                </a:lnTo>
                <a:lnTo>
                  <a:pt x="0" y="1188720"/>
                </a:lnTo>
                <a:lnTo>
                  <a:pt x="499262" y="1188720"/>
                </a:lnTo>
                <a:lnTo>
                  <a:pt x="499682" y="1164658"/>
                </a:lnTo>
                <a:lnTo>
                  <a:pt x="500941" y="1140625"/>
                </a:lnTo>
                <a:lnTo>
                  <a:pt x="503039" y="1116652"/>
                </a:lnTo>
                <a:lnTo>
                  <a:pt x="505972" y="1092766"/>
                </a:lnTo>
                <a:lnTo>
                  <a:pt x="509736" y="1068996"/>
                </a:lnTo>
                <a:lnTo>
                  <a:pt x="514328" y="1045373"/>
                </a:lnTo>
                <a:lnTo>
                  <a:pt x="519742" y="1021925"/>
                </a:lnTo>
                <a:lnTo>
                  <a:pt x="525970" y="998679"/>
                </a:lnTo>
                <a:lnTo>
                  <a:pt x="533006" y="975665"/>
                </a:lnTo>
                <a:lnTo>
                  <a:pt x="540841" y="952911"/>
                </a:lnTo>
                <a:lnTo>
                  <a:pt x="549466" y="930444"/>
                </a:lnTo>
                <a:lnTo>
                  <a:pt x="558869" y="908292"/>
                </a:lnTo>
                <a:lnTo>
                  <a:pt x="569039" y="886481"/>
                </a:lnTo>
                <a:lnTo>
                  <a:pt x="579965" y="865039"/>
                </a:lnTo>
                <a:lnTo>
                  <a:pt x="591632" y="843991"/>
                </a:lnTo>
                <a:lnTo>
                  <a:pt x="604026" y="823363"/>
                </a:lnTo>
                <a:lnTo>
                  <a:pt x="617133" y="803180"/>
                </a:lnTo>
                <a:lnTo>
                  <a:pt x="630937" y="783466"/>
                </a:lnTo>
                <a:lnTo>
                  <a:pt x="645419" y="764247"/>
                </a:lnTo>
                <a:lnTo>
                  <a:pt x="660564" y="745545"/>
                </a:lnTo>
                <a:lnTo>
                  <a:pt x="676353" y="727382"/>
                </a:lnTo>
                <a:lnTo>
                  <a:pt x="692765" y="709782"/>
                </a:lnTo>
                <a:lnTo>
                  <a:pt x="709782" y="692765"/>
                </a:lnTo>
                <a:lnTo>
                  <a:pt x="727382" y="676353"/>
                </a:lnTo>
                <a:lnTo>
                  <a:pt x="745545" y="660564"/>
                </a:lnTo>
                <a:lnTo>
                  <a:pt x="764247" y="645419"/>
                </a:lnTo>
                <a:lnTo>
                  <a:pt x="783466" y="630937"/>
                </a:lnTo>
                <a:lnTo>
                  <a:pt x="803180" y="617133"/>
                </a:lnTo>
                <a:lnTo>
                  <a:pt x="823363" y="604026"/>
                </a:lnTo>
                <a:lnTo>
                  <a:pt x="843991" y="591632"/>
                </a:lnTo>
                <a:lnTo>
                  <a:pt x="865039" y="579965"/>
                </a:lnTo>
                <a:lnTo>
                  <a:pt x="886481" y="569039"/>
                </a:lnTo>
                <a:lnTo>
                  <a:pt x="908292" y="558869"/>
                </a:lnTo>
                <a:lnTo>
                  <a:pt x="930444" y="549466"/>
                </a:lnTo>
                <a:lnTo>
                  <a:pt x="952911" y="540841"/>
                </a:lnTo>
                <a:lnTo>
                  <a:pt x="975665" y="533006"/>
                </a:lnTo>
                <a:lnTo>
                  <a:pt x="998679" y="525970"/>
                </a:lnTo>
                <a:lnTo>
                  <a:pt x="1021925" y="519742"/>
                </a:lnTo>
                <a:lnTo>
                  <a:pt x="1045373" y="514328"/>
                </a:lnTo>
                <a:lnTo>
                  <a:pt x="1068996" y="509736"/>
                </a:lnTo>
                <a:lnTo>
                  <a:pt x="1092766" y="505972"/>
                </a:lnTo>
                <a:lnTo>
                  <a:pt x="1116652" y="503039"/>
                </a:lnTo>
                <a:lnTo>
                  <a:pt x="1140625" y="500941"/>
                </a:lnTo>
                <a:lnTo>
                  <a:pt x="1164658" y="499682"/>
                </a:lnTo>
                <a:lnTo>
                  <a:pt x="1188720" y="499262"/>
                </a:lnTo>
                <a:close/>
              </a:path>
            </a:pathLst>
          </a:custGeom>
          <a:solidFill>
            <a:srgbClr val="1F86BF"/>
          </a:solidFill>
          <a:ln>
            <a:noFill/>
          </a:ln>
        </p:spPr>
        <p:txBody>
          <a:bodyPr rtlCol="0" anchor="ctr"/>
          <a:lstStyle/>
          <a:p>
            <a:pPr algn="ctr"/>
          </a:p>
        </p:txBody>
      </p:sp>
      <p:sp>
        <p:nvSpPr>
          <p:cNvPr id="7" name="Freeform 6"/>
          <p:cNvSpPr/>
          <p:nvPr/>
        </p:nvSpPr>
        <p:spPr>
          <a:xfrm>
            <a:off x="2313432" y="1856231"/>
            <a:ext cx="1188720" cy="1188720"/>
          </a:xfrm>
          <a:custGeom>
            <a:avLst/>
            <a:gdLst/>
            <a:ahLst/>
            <a:cxnLst/>
            <a:rect l="l" t="t" r="r" b="b"/>
            <a:pathLst>
              <a:path w="1188720" h="1188720">
                <a:moveTo>
                  <a:pt x="1188720" y="1188720"/>
                </a:moveTo>
                <a:lnTo>
                  <a:pt x="1187995" y="1147234"/>
                </a:lnTo>
                <a:lnTo>
                  <a:pt x="1185824" y="1105799"/>
                </a:lnTo>
                <a:lnTo>
                  <a:pt x="1182208" y="1064464"/>
                </a:lnTo>
                <a:lnTo>
                  <a:pt x="1177151" y="1023282"/>
                </a:lnTo>
                <a:lnTo>
                  <a:pt x="1170660" y="982300"/>
                </a:lnTo>
                <a:lnTo>
                  <a:pt x="1162743" y="941571"/>
                </a:lnTo>
                <a:lnTo>
                  <a:pt x="1153409" y="901142"/>
                </a:lnTo>
                <a:lnTo>
                  <a:pt x="1142671" y="861064"/>
                </a:lnTo>
                <a:lnTo>
                  <a:pt x="1130539" y="821385"/>
                </a:lnTo>
                <a:lnTo>
                  <a:pt x="1117031" y="782153"/>
                </a:lnTo>
                <a:lnTo>
                  <a:pt x="1102161" y="743417"/>
                </a:lnTo>
                <a:lnTo>
                  <a:pt x="1085949" y="705224"/>
                </a:lnTo>
                <a:lnTo>
                  <a:pt x="1068414" y="667619"/>
                </a:lnTo>
                <a:lnTo>
                  <a:pt x="1049577" y="630649"/>
                </a:lnTo>
                <a:lnTo>
                  <a:pt x="1029461" y="594360"/>
                </a:lnTo>
                <a:lnTo>
                  <a:pt x="1008091" y="558794"/>
                </a:lnTo>
                <a:lnTo>
                  <a:pt x="985493" y="523996"/>
                </a:lnTo>
                <a:lnTo>
                  <a:pt x="961694" y="490007"/>
                </a:lnTo>
                <a:lnTo>
                  <a:pt x="936724" y="456870"/>
                </a:lnTo>
                <a:lnTo>
                  <a:pt x="910612" y="424625"/>
                </a:lnTo>
                <a:lnTo>
                  <a:pt x="883391" y="393311"/>
                </a:lnTo>
                <a:lnTo>
                  <a:pt x="855093" y="362965"/>
                </a:lnTo>
                <a:lnTo>
                  <a:pt x="825754" y="333626"/>
                </a:lnTo>
                <a:lnTo>
                  <a:pt x="795408" y="305328"/>
                </a:lnTo>
                <a:lnTo>
                  <a:pt x="764094" y="278107"/>
                </a:lnTo>
                <a:lnTo>
                  <a:pt x="731849" y="251995"/>
                </a:lnTo>
                <a:lnTo>
                  <a:pt x="698712" y="227025"/>
                </a:lnTo>
                <a:lnTo>
                  <a:pt x="664723" y="203226"/>
                </a:lnTo>
                <a:lnTo>
                  <a:pt x="629925" y="180628"/>
                </a:lnTo>
                <a:lnTo>
                  <a:pt x="594360" y="159258"/>
                </a:lnTo>
                <a:lnTo>
                  <a:pt x="558070" y="139142"/>
                </a:lnTo>
                <a:lnTo>
                  <a:pt x="521100" y="120305"/>
                </a:lnTo>
                <a:lnTo>
                  <a:pt x="483495" y="102770"/>
                </a:lnTo>
                <a:lnTo>
                  <a:pt x="445302" y="86558"/>
                </a:lnTo>
                <a:lnTo>
                  <a:pt x="406566" y="71688"/>
                </a:lnTo>
                <a:lnTo>
                  <a:pt x="367334" y="58180"/>
                </a:lnTo>
                <a:lnTo>
                  <a:pt x="327655" y="46048"/>
                </a:lnTo>
                <a:lnTo>
                  <a:pt x="287577" y="35310"/>
                </a:lnTo>
                <a:lnTo>
                  <a:pt x="247148" y="25976"/>
                </a:lnTo>
                <a:lnTo>
                  <a:pt x="206419" y="18059"/>
                </a:lnTo>
                <a:lnTo>
                  <a:pt x="165437" y="11568"/>
                </a:lnTo>
                <a:lnTo>
                  <a:pt x="124255" y="6511"/>
                </a:lnTo>
                <a:lnTo>
                  <a:pt x="82920" y="2895"/>
                </a:lnTo>
                <a:lnTo>
                  <a:pt x="41485" y="724"/>
                </a:lnTo>
                <a:lnTo>
                  <a:pt x="0" y="0"/>
                </a:lnTo>
                <a:lnTo>
                  <a:pt x="0" y="499262"/>
                </a:lnTo>
                <a:lnTo>
                  <a:pt x="24061" y="499682"/>
                </a:lnTo>
                <a:lnTo>
                  <a:pt x="48094" y="500941"/>
                </a:lnTo>
                <a:lnTo>
                  <a:pt x="72067" y="503039"/>
                </a:lnTo>
                <a:lnTo>
                  <a:pt x="95953" y="505972"/>
                </a:lnTo>
                <a:lnTo>
                  <a:pt x="119723" y="509736"/>
                </a:lnTo>
                <a:lnTo>
                  <a:pt x="143346" y="514328"/>
                </a:lnTo>
                <a:lnTo>
                  <a:pt x="166794" y="519742"/>
                </a:lnTo>
                <a:lnTo>
                  <a:pt x="190040" y="525970"/>
                </a:lnTo>
                <a:lnTo>
                  <a:pt x="213054" y="533006"/>
                </a:lnTo>
                <a:lnTo>
                  <a:pt x="235808" y="540841"/>
                </a:lnTo>
                <a:lnTo>
                  <a:pt x="258275" y="549466"/>
                </a:lnTo>
                <a:lnTo>
                  <a:pt x="280427" y="558869"/>
                </a:lnTo>
                <a:lnTo>
                  <a:pt x="302238" y="569039"/>
                </a:lnTo>
                <a:lnTo>
                  <a:pt x="323680" y="579965"/>
                </a:lnTo>
                <a:lnTo>
                  <a:pt x="344728" y="591632"/>
                </a:lnTo>
                <a:lnTo>
                  <a:pt x="365356" y="604026"/>
                </a:lnTo>
                <a:lnTo>
                  <a:pt x="385539" y="617133"/>
                </a:lnTo>
                <a:lnTo>
                  <a:pt x="405253" y="630937"/>
                </a:lnTo>
                <a:lnTo>
                  <a:pt x="424472" y="645419"/>
                </a:lnTo>
                <a:lnTo>
                  <a:pt x="443174" y="660564"/>
                </a:lnTo>
                <a:lnTo>
                  <a:pt x="461337" y="676353"/>
                </a:lnTo>
                <a:lnTo>
                  <a:pt x="478937" y="692765"/>
                </a:lnTo>
                <a:lnTo>
                  <a:pt x="495954" y="709782"/>
                </a:lnTo>
                <a:lnTo>
                  <a:pt x="512366" y="727382"/>
                </a:lnTo>
                <a:lnTo>
                  <a:pt x="528155" y="745545"/>
                </a:lnTo>
                <a:lnTo>
                  <a:pt x="543300" y="764247"/>
                </a:lnTo>
                <a:lnTo>
                  <a:pt x="557782" y="783466"/>
                </a:lnTo>
                <a:lnTo>
                  <a:pt x="571586" y="803180"/>
                </a:lnTo>
                <a:lnTo>
                  <a:pt x="584693" y="823363"/>
                </a:lnTo>
                <a:lnTo>
                  <a:pt x="597087" y="843991"/>
                </a:lnTo>
                <a:lnTo>
                  <a:pt x="608754" y="865039"/>
                </a:lnTo>
                <a:lnTo>
                  <a:pt x="619680" y="886481"/>
                </a:lnTo>
                <a:lnTo>
                  <a:pt x="629850" y="908292"/>
                </a:lnTo>
                <a:lnTo>
                  <a:pt x="639253" y="930444"/>
                </a:lnTo>
                <a:lnTo>
                  <a:pt x="647878" y="952911"/>
                </a:lnTo>
                <a:lnTo>
                  <a:pt x="655713" y="975665"/>
                </a:lnTo>
                <a:lnTo>
                  <a:pt x="662749" y="998679"/>
                </a:lnTo>
                <a:lnTo>
                  <a:pt x="668977" y="1021925"/>
                </a:lnTo>
                <a:lnTo>
                  <a:pt x="674391" y="1045373"/>
                </a:lnTo>
                <a:lnTo>
                  <a:pt x="678983" y="1068996"/>
                </a:lnTo>
                <a:lnTo>
                  <a:pt x="682747" y="1092766"/>
                </a:lnTo>
                <a:lnTo>
                  <a:pt x="685680" y="1116652"/>
                </a:lnTo>
                <a:lnTo>
                  <a:pt x="687778" y="1140625"/>
                </a:lnTo>
                <a:lnTo>
                  <a:pt x="689037" y="1164658"/>
                </a:lnTo>
                <a:lnTo>
                  <a:pt x="689457" y="1188720"/>
                </a:lnTo>
                <a:close/>
              </a:path>
            </a:pathLst>
          </a:custGeom>
          <a:solidFill>
            <a:srgbClr val="D97316"/>
          </a:solidFill>
          <a:ln>
            <a:noFill/>
          </a:ln>
        </p:spPr>
        <p:txBody>
          <a:bodyPr rtlCol="0" anchor="ctr"/>
          <a:lstStyle/>
          <a:p>
            <a:pPr algn="ctr"/>
          </a:p>
        </p:txBody>
      </p:sp>
      <p:sp>
        <p:nvSpPr>
          <p:cNvPr id="8" name="Freeform 7"/>
          <p:cNvSpPr/>
          <p:nvPr/>
        </p:nvSpPr>
        <p:spPr>
          <a:xfrm>
            <a:off x="2313432" y="3044951"/>
            <a:ext cx="1188720" cy="1188720"/>
          </a:xfrm>
          <a:custGeom>
            <a:avLst/>
            <a:gdLst/>
            <a:ahLst/>
            <a:cxnLst/>
            <a:rect l="l" t="t" r="r" b="b"/>
            <a:pathLst>
              <a:path w="1188720" h="1188720">
                <a:moveTo>
                  <a:pt x="0" y="1188720"/>
                </a:moveTo>
                <a:lnTo>
                  <a:pt x="41485" y="1187995"/>
                </a:lnTo>
                <a:lnTo>
                  <a:pt x="82920" y="1185824"/>
                </a:lnTo>
                <a:lnTo>
                  <a:pt x="124255" y="1182208"/>
                </a:lnTo>
                <a:lnTo>
                  <a:pt x="165437" y="1177151"/>
                </a:lnTo>
                <a:lnTo>
                  <a:pt x="206419" y="1170660"/>
                </a:lnTo>
                <a:lnTo>
                  <a:pt x="247148" y="1162743"/>
                </a:lnTo>
                <a:lnTo>
                  <a:pt x="287577" y="1153409"/>
                </a:lnTo>
                <a:lnTo>
                  <a:pt x="327655" y="1142671"/>
                </a:lnTo>
                <a:lnTo>
                  <a:pt x="367334" y="1130539"/>
                </a:lnTo>
                <a:lnTo>
                  <a:pt x="406566" y="1117031"/>
                </a:lnTo>
                <a:lnTo>
                  <a:pt x="445302" y="1102161"/>
                </a:lnTo>
                <a:lnTo>
                  <a:pt x="483495" y="1085949"/>
                </a:lnTo>
                <a:lnTo>
                  <a:pt x="521100" y="1068414"/>
                </a:lnTo>
                <a:lnTo>
                  <a:pt x="558070" y="1049577"/>
                </a:lnTo>
                <a:lnTo>
                  <a:pt x="594360" y="1029461"/>
                </a:lnTo>
                <a:lnTo>
                  <a:pt x="629925" y="1008091"/>
                </a:lnTo>
                <a:lnTo>
                  <a:pt x="664723" y="985493"/>
                </a:lnTo>
                <a:lnTo>
                  <a:pt x="698712" y="961694"/>
                </a:lnTo>
                <a:lnTo>
                  <a:pt x="731849" y="936724"/>
                </a:lnTo>
                <a:lnTo>
                  <a:pt x="764094" y="910612"/>
                </a:lnTo>
                <a:lnTo>
                  <a:pt x="795408" y="883391"/>
                </a:lnTo>
                <a:lnTo>
                  <a:pt x="825754" y="855093"/>
                </a:lnTo>
                <a:lnTo>
                  <a:pt x="855093" y="825754"/>
                </a:lnTo>
                <a:lnTo>
                  <a:pt x="883391" y="795408"/>
                </a:lnTo>
                <a:lnTo>
                  <a:pt x="910612" y="764094"/>
                </a:lnTo>
                <a:lnTo>
                  <a:pt x="936724" y="731849"/>
                </a:lnTo>
                <a:lnTo>
                  <a:pt x="961694" y="698712"/>
                </a:lnTo>
                <a:lnTo>
                  <a:pt x="985493" y="664723"/>
                </a:lnTo>
                <a:lnTo>
                  <a:pt x="1008091" y="629925"/>
                </a:lnTo>
                <a:lnTo>
                  <a:pt x="1029461" y="594360"/>
                </a:lnTo>
                <a:lnTo>
                  <a:pt x="1049577" y="558070"/>
                </a:lnTo>
                <a:lnTo>
                  <a:pt x="1068414" y="521100"/>
                </a:lnTo>
                <a:lnTo>
                  <a:pt x="1085949" y="483495"/>
                </a:lnTo>
                <a:lnTo>
                  <a:pt x="1102161" y="445302"/>
                </a:lnTo>
                <a:lnTo>
                  <a:pt x="1117031" y="406566"/>
                </a:lnTo>
                <a:lnTo>
                  <a:pt x="1130539" y="367334"/>
                </a:lnTo>
                <a:lnTo>
                  <a:pt x="1142671" y="327655"/>
                </a:lnTo>
                <a:lnTo>
                  <a:pt x="1153409" y="287577"/>
                </a:lnTo>
                <a:lnTo>
                  <a:pt x="1162743" y="247148"/>
                </a:lnTo>
                <a:lnTo>
                  <a:pt x="1170660" y="206419"/>
                </a:lnTo>
                <a:lnTo>
                  <a:pt x="1177151" y="165437"/>
                </a:lnTo>
                <a:lnTo>
                  <a:pt x="1182208" y="124255"/>
                </a:lnTo>
                <a:lnTo>
                  <a:pt x="1185824" y="82920"/>
                </a:lnTo>
                <a:lnTo>
                  <a:pt x="1187995" y="41485"/>
                </a:lnTo>
                <a:lnTo>
                  <a:pt x="1188720" y="0"/>
                </a:lnTo>
                <a:lnTo>
                  <a:pt x="689457" y="0"/>
                </a:lnTo>
                <a:lnTo>
                  <a:pt x="689037" y="24061"/>
                </a:lnTo>
                <a:lnTo>
                  <a:pt x="687778" y="48094"/>
                </a:lnTo>
                <a:lnTo>
                  <a:pt x="685680" y="72067"/>
                </a:lnTo>
                <a:lnTo>
                  <a:pt x="682747" y="95953"/>
                </a:lnTo>
                <a:lnTo>
                  <a:pt x="678983" y="119723"/>
                </a:lnTo>
                <a:lnTo>
                  <a:pt x="674391" y="143346"/>
                </a:lnTo>
                <a:lnTo>
                  <a:pt x="668977" y="166794"/>
                </a:lnTo>
                <a:lnTo>
                  <a:pt x="662749" y="190040"/>
                </a:lnTo>
                <a:lnTo>
                  <a:pt x="655713" y="213054"/>
                </a:lnTo>
                <a:lnTo>
                  <a:pt x="647878" y="235808"/>
                </a:lnTo>
                <a:lnTo>
                  <a:pt x="639253" y="258275"/>
                </a:lnTo>
                <a:lnTo>
                  <a:pt x="629850" y="280427"/>
                </a:lnTo>
                <a:lnTo>
                  <a:pt x="619680" y="302238"/>
                </a:lnTo>
                <a:lnTo>
                  <a:pt x="608754" y="323680"/>
                </a:lnTo>
                <a:lnTo>
                  <a:pt x="597087" y="344728"/>
                </a:lnTo>
                <a:lnTo>
                  <a:pt x="584693" y="365356"/>
                </a:lnTo>
                <a:lnTo>
                  <a:pt x="571586" y="385539"/>
                </a:lnTo>
                <a:lnTo>
                  <a:pt x="557782" y="405253"/>
                </a:lnTo>
                <a:lnTo>
                  <a:pt x="543300" y="424472"/>
                </a:lnTo>
                <a:lnTo>
                  <a:pt x="528155" y="443174"/>
                </a:lnTo>
                <a:lnTo>
                  <a:pt x="512366" y="461337"/>
                </a:lnTo>
                <a:lnTo>
                  <a:pt x="495954" y="478937"/>
                </a:lnTo>
                <a:lnTo>
                  <a:pt x="478937" y="495954"/>
                </a:lnTo>
                <a:lnTo>
                  <a:pt x="461337" y="512366"/>
                </a:lnTo>
                <a:lnTo>
                  <a:pt x="443174" y="528155"/>
                </a:lnTo>
                <a:lnTo>
                  <a:pt x="424472" y="543300"/>
                </a:lnTo>
                <a:lnTo>
                  <a:pt x="405253" y="557782"/>
                </a:lnTo>
                <a:lnTo>
                  <a:pt x="385539" y="571586"/>
                </a:lnTo>
                <a:lnTo>
                  <a:pt x="365356" y="584693"/>
                </a:lnTo>
                <a:lnTo>
                  <a:pt x="344728" y="597087"/>
                </a:lnTo>
                <a:lnTo>
                  <a:pt x="323680" y="608754"/>
                </a:lnTo>
                <a:lnTo>
                  <a:pt x="302238" y="619680"/>
                </a:lnTo>
                <a:lnTo>
                  <a:pt x="280427" y="629850"/>
                </a:lnTo>
                <a:lnTo>
                  <a:pt x="258275" y="639253"/>
                </a:lnTo>
                <a:lnTo>
                  <a:pt x="235808" y="647878"/>
                </a:lnTo>
                <a:lnTo>
                  <a:pt x="213054" y="655713"/>
                </a:lnTo>
                <a:lnTo>
                  <a:pt x="190040" y="662749"/>
                </a:lnTo>
                <a:lnTo>
                  <a:pt x="166794" y="668977"/>
                </a:lnTo>
                <a:lnTo>
                  <a:pt x="143346" y="674391"/>
                </a:lnTo>
                <a:lnTo>
                  <a:pt x="119723" y="678983"/>
                </a:lnTo>
                <a:lnTo>
                  <a:pt x="95953" y="682747"/>
                </a:lnTo>
                <a:lnTo>
                  <a:pt x="72067" y="685680"/>
                </a:lnTo>
                <a:lnTo>
                  <a:pt x="48094" y="687778"/>
                </a:lnTo>
                <a:lnTo>
                  <a:pt x="24061" y="689037"/>
                </a:lnTo>
                <a:lnTo>
                  <a:pt x="0" y="689457"/>
                </a:lnTo>
                <a:close/>
              </a:path>
            </a:pathLst>
          </a:custGeom>
          <a:solidFill>
            <a:srgbClr val="CC3333"/>
          </a:solidFill>
          <a:ln>
            <a:noFill/>
          </a:ln>
        </p:spPr>
        <p:txBody>
          <a:bodyPr rtlCol="0" anchor="ctr"/>
          <a:lstStyle/>
          <a:p>
            <a:pPr algn="ctr"/>
          </a:p>
        </p:txBody>
      </p:sp>
      <p:sp>
        <p:nvSpPr>
          <p:cNvPr id="9" name="Freeform 8"/>
          <p:cNvSpPr/>
          <p:nvPr/>
        </p:nvSpPr>
        <p:spPr>
          <a:xfrm>
            <a:off x="1124712" y="3044951"/>
            <a:ext cx="1188720" cy="1188720"/>
          </a:xfrm>
          <a:custGeom>
            <a:avLst/>
            <a:gdLst/>
            <a:ahLst/>
            <a:cxnLst/>
            <a:rect l="l" t="t" r="r" b="b"/>
            <a:pathLst>
              <a:path w="1188720" h="1188720">
                <a:moveTo>
                  <a:pt x="0" y="0"/>
                </a:moveTo>
                <a:lnTo>
                  <a:pt x="724" y="41485"/>
                </a:lnTo>
                <a:lnTo>
                  <a:pt x="2895" y="82920"/>
                </a:lnTo>
                <a:lnTo>
                  <a:pt x="6511" y="124255"/>
                </a:lnTo>
                <a:lnTo>
                  <a:pt x="11568" y="165437"/>
                </a:lnTo>
                <a:lnTo>
                  <a:pt x="18059" y="206419"/>
                </a:lnTo>
                <a:lnTo>
                  <a:pt x="25976" y="247148"/>
                </a:lnTo>
                <a:lnTo>
                  <a:pt x="35310" y="287577"/>
                </a:lnTo>
                <a:lnTo>
                  <a:pt x="46048" y="327655"/>
                </a:lnTo>
                <a:lnTo>
                  <a:pt x="58180" y="367334"/>
                </a:lnTo>
                <a:lnTo>
                  <a:pt x="71688" y="406566"/>
                </a:lnTo>
                <a:lnTo>
                  <a:pt x="86558" y="445302"/>
                </a:lnTo>
                <a:lnTo>
                  <a:pt x="102770" y="483495"/>
                </a:lnTo>
                <a:lnTo>
                  <a:pt x="120305" y="521100"/>
                </a:lnTo>
                <a:lnTo>
                  <a:pt x="139142" y="558070"/>
                </a:lnTo>
                <a:lnTo>
                  <a:pt x="159258" y="594360"/>
                </a:lnTo>
                <a:lnTo>
                  <a:pt x="180628" y="629925"/>
                </a:lnTo>
                <a:lnTo>
                  <a:pt x="203226" y="664723"/>
                </a:lnTo>
                <a:lnTo>
                  <a:pt x="227025" y="698712"/>
                </a:lnTo>
                <a:lnTo>
                  <a:pt x="251995" y="731849"/>
                </a:lnTo>
                <a:lnTo>
                  <a:pt x="278107" y="764094"/>
                </a:lnTo>
                <a:lnTo>
                  <a:pt x="305328" y="795408"/>
                </a:lnTo>
                <a:lnTo>
                  <a:pt x="333626" y="825754"/>
                </a:lnTo>
                <a:lnTo>
                  <a:pt x="362965" y="855093"/>
                </a:lnTo>
                <a:lnTo>
                  <a:pt x="393311" y="883391"/>
                </a:lnTo>
                <a:lnTo>
                  <a:pt x="424625" y="910612"/>
                </a:lnTo>
                <a:lnTo>
                  <a:pt x="456870" y="936724"/>
                </a:lnTo>
                <a:lnTo>
                  <a:pt x="490007" y="961694"/>
                </a:lnTo>
                <a:lnTo>
                  <a:pt x="523996" y="985493"/>
                </a:lnTo>
                <a:lnTo>
                  <a:pt x="558794" y="1008091"/>
                </a:lnTo>
                <a:lnTo>
                  <a:pt x="594360" y="1029461"/>
                </a:lnTo>
                <a:lnTo>
                  <a:pt x="630649" y="1049577"/>
                </a:lnTo>
                <a:lnTo>
                  <a:pt x="667619" y="1068414"/>
                </a:lnTo>
                <a:lnTo>
                  <a:pt x="705224" y="1085949"/>
                </a:lnTo>
                <a:lnTo>
                  <a:pt x="743417" y="1102161"/>
                </a:lnTo>
                <a:lnTo>
                  <a:pt x="782153" y="1117031"/>
                </a:lnTo>
                <a:lnTo>
                  <a:pt x="821385" y="1130539"/>
                </a:lnTo>
                <a:lnTo>
                  <a:pt x="861064" y="1142671"/>
                </a:lnTo>
                <a:lnTo>
                  <a:pt x="901142" y="1153409"/>
                </a:lnTo>
                <a:lnTo>
                  <a:pt x="941571" y="1162743"/>
                </a:lnTo>
                <a:lnTo>
                  <a:pt x="982300" y="1170660"/>
                </a:lnTo>
                <a:lnTo>
                  <a:pt x="1023282" y="1177151"/>
                </a:lnTo>
                <a:lnTo>
                  <a:pt x="1064464" y="1182208"/>
                </a:lnTo>
                <a:lnTo>
                  <a:pt x="1105799" y="1185824"/>
                </a:lnTo>
                <a:lnTo>
                  <a:pt x="1147234" y="1187995"/>
                </a:lnTo>
                <a:lnTo>
                  <a:pt x="1188720" y="1188720"/>
                </a:lnTo>
                <a:lnTo>
                  <a:pt x="1188720" y="689457"/>
                </a:lnTo>
                <a:lnTo>
                  <a:pt x="1164658" y="689037"/>
                </a:lnTo>
                <a:lnTo>
                  <a:pt x="1140625" y="687778"/>
                </a:lnTo>
                <a:lnTo>
                  <a:pt x="1116652" y="685680"/>
                </a:lnTo>
                <a:lnTo>
                  <a:pt x="1092766" y="682747"/>
                </a:lnTo>
                <a:lnTo>
                  <a:pt x="1068996" y="678983"/>
                </a:lnTo>
                <a:lnTo>
                  <a:pt x="1045373" y="674391"/>
                </a:lnTo>
                <a:lnTo>
                  <a:pt x="1021925" y="668977"/>
                </a:lnTo>
                <a:lnTo>
                  <a:pt x="998679" y="662749"/>
                </a:lnTo>
                <a:lnTo>
                  <a:pt x="975665" y="655713"/>
                </a:lnTo>
                <a:lnTo>
                  <a:pt x="952911" y="647878"/>
                </a:lnTo>
                <a:lnTo>
                  <a:pt x="930444" y="639253"/>
                </a:lnTo>
                <a:lnTo>
                  <a:pt x="908292" y="629850"/>
                </a:lnTo>
                <a:lnTo>
                  <a:pt x="886481" y="619680"/>
                </a:lnTo>
                <a:lnTo>
                  <a:pt x="865039" y="608754"/>
                </a:lnTo>
                <a:lnTo>
                  <a:pt x="843991" y="597087"/>
                </a:lnTo>
                <a:lnTo>
                  <a:pt x="823363" y="584693"/>
                </a:lnTo>
                <a:lnTo>
                  <a:pt x="803180" y="571586"/>
                </a:lnTo>
                <a:lnTo>
                  <a:pt x="783466" y="557782"/>
                </a:lnTo>
                <a:lnTo>
                  <a:pt x="764247" y="543300"/>
                </a:lnTo>
                <a:lnTo>
                  <a:pt x="745545" y="528155"/>
                </a:lnTo>
                <a:lnTo>
                  <a:pt x="727382" y="512366"/>
                </a:lnTo>
                <a:lnTo>
                  <a:pt x="709782" y="495954"/>
                </a:lnTo>
                <a:lnTo>
                  <a:pt x="692765" y="478937"/>
                </a:lnTo>
                <a:lnTo>
                  <a:pt x="676353" y="461337"/>
                </a:lnTo>
                <a:lnTo>
                  <a:pt x="660564" y="443174"/>
                </a:lnTo>
                <a:lnTo>
                  <a:pt x="645419" y="424472"/>
                </a:lnTo>
                <a:lnTo>
                  <a:pt x="630937" y="405253"/>
                </a:lnTo>
                <a:lnTo>
                  <a:pt x="617133" y="385539"/>
                </a:lnTo>
                <a:lnTo>
                  <a:pt x="604026" y="365356"/>
                </a:lnTo>
                <a:lnTo>
                  <a:pt x="591632" y="344728"/>
                </a:lnTo>
                <a:lnTo>
                  <a:pt x="579965" y="323680"/>
                </a:lnTo>
                <a:lnTo>
                  <a:pt x="569039" y="302238"/>
                </a:lnTo>
                <a:lnTo>
                  <a:pt x="558869" y="280427"/>
                </a:lnTo>
                <a:lnTo>
                  <a:pt x="549466" y="258275"/>
                </a:lnTo>
                <a:lnTo>
                  <a:pt x="540841" y="235808"/>
                </a:lnTo>
                <a:lnTo>
                  <a:pt x="533006" y="213054"/>
                </a:lnTo>
                <a:lnTo>
                  <a:pt x="525970" y="190040"/>
                </a:lnTo>
                <a:lnTo>
                  <a:pt x="519742" y="166794"/>
                </a:lnTo>
                <a:lnTo>
                  <a:pt x="514328" y="143346"/>
                </a:lnTo>
                <a:lnTo>
                  <a:pt x="509736" y="119723"/>
                </a:lnTo>
                <a:lnTo>
                  <a:pt x="505972" y="95953"/>
                </a:lnTo>
                <a:lnTo>
                  <a:pt x="503039" y="72067"/>
                </a:lnTo>
                <a:lnTo>
                  <a:pt x="500941" y="48094"/>
                </a:lnTo>
                <a:lnTo>
                  <a:pt x="499682" y="24061"/>
                </a:lnTo>
                <a:lnTo>
                  <a:pt x="499262" y="0"/>
                </a:lnTo>
                <a:close/>
              </a:path>
            </a:pathLst>
          </a:custGeom>
          <a:solidFill>
            <a:srgbClr val="55992E"/>
          </a:solidFill>
          <a:ln>
            <a:noFill/>
          </a:ln>
        </p:spPr>
        <p:txBody>
          <a:bodyPr rtlCol="0" anchor="ctr"/>
          <a:lstStyle/>
          <a:p>
            <a:pPr algn="ctr"/>
          </a:p>
        </p:txBody>
      </p:sp>
      <p:cxnSp>
        <p:nvCxnSpPr>
          <p:cNvPr id="10" name="Connector 9"/>
          <p:cNvCxnSpPr/>
          <p:nvPr/>
        </p:nvCxnSpPr>
        <p:spPr>
          <a:xfrm flipH="1">
            <a:off x="1124712" y="3044951"/>
            <a:ext cx="499262" cy="0"/>
          </a:xfrm>
          <a:prstGeom prst="line">
            <a:avLst/>
          </a:prstGeom>
          <a:ln w="25400">
            <a:solidFill>
              <a:srgbClr val="FFFFFF"/>
            </a:solidFill>
          </a:ln>
        </p:spPr>
      </p:cxnSp>
      <p:cxnSp>
        <p:nvCxnSpPr>
          <p:cNvPr id="11" name="Connector 10"/>
          <p:cNvCxnSpPr/>
          <p:nvPr/>
        </p:nvCxnSpPr>
        <p:spPr>
          <a:xfrm flipV="1">
            <a:off x="2313432" y="1856231"/>
            <a:ext cx="0" cy="499262"/>
          </a:xfrm>
          <a:prstGeom prst="line">
            <a:avLst/>
          </a:prstGeom>
          <a:ln w="25400">
            <a:solidFill>
              <a:srgbClr val="FFFFFF"/>
            </a:solidFill>
          </a:ln>
        </p:spPr>
      </p:cxnSp>
      <p:cxnSp>
        <p:nvCxnSpPr>
          <p:cNvPr id="12" name="Connector 11"/>
          <p:cNvCxnSpPr/>
          <p:nvPr/>
        </p:nvCxnSpPr>
        <p:spPr>
          <a:xfrm>
            <a:off x="3002889" y="3044951"/>
            <a:ext cx="499263" cy="0"/>
          </a:xfrm>
          <a:prstGeom prst="line">
            <a:avLst/>
          </a:prstGeom>
          <a:ln w="25400">
            <a:solidFill>
              <a:srgbClr val="FFFFFF"/>
            </a:solidFill>
          </a:ln>
        </p:spPr>
      </p:cxnSp>
      <p:cxnSp>
        <p:nvCxnSpPr>
          <p:cNvPr id="13" name="Connector 12"/>
          <p:cNvCxnSpPr/>
          <p:nvPr/>
        </p:nvCxnSpPr>
        <p:spPr>
          <a:xfrm>
            <a:off x="2313432" y="3734408"/>
            <a:ext cx="0" cy="499263"/>
          </a:xfrm>
          <a:prstGeom prst="line">
            <a:avLst/>
          </a:prstGeom>
          <a:ln w="25400">
            <a:solidFill>
              <a:srgbClr val="FFFFFF"/>
            </a:solidFill>
          </a:ln>
        </p:spPr>
      </p:cxnSp>
      <p:sp>
        <p:nvSpPr>
          <p:cNvPr id="14" name="Oval 13"/>
          <p:cNvSpPr/>
          <p:nvPr/>
        </p:nvSpPr>
        <p:spPr>
          <a:xfrm>
            <a:off x="1719072" y="2450591"/>
            <a:ext cx="1188720" cy="1188720"/>
          </a:xfrm>
          <a:prstGeom prst="ellipse">
            <a:avLst/>
          </a:prstGeom>
          <a:solidFill>
            <a:srgbClr val="FFFFFF"/>
          </a:solidFill>
          <a:ln w="19050">
            <a:solidFill>
              <a:srgbClr val="D9D9D9"/>
            </a:solidFill>
          </a:ln>
          <a:effectLst/>
        </p:spPr>
        <p:txBody>
          <a:bodyPr rtlCol="0" anchor="ctr"/>
          <a:lstStyle/>
          <a:p/>
        </p:txBody>
      </p:sp>
      <p:sp>
        <p:nvSpPr>
          <p:cNvPr id="15" name="Freeform 14"/>
          <p:cNvSpPr/>
          <p:nvPr/>
        </p:nvSpPr>
        <p:spPr>
          <a:xfrm>
            <a:off x="803757" y="1567520"/>
            <a:ext cx="1199326" cy="1477431"/>
          </a:xfrm>
          <a:custGeom>
            <a:avLst/>
            <a:gdLst/>
            <a:ahLst/>
            <a:cxnLst/>
            <a:rect l="l" t="t" r="r" b="b"/>
            <a:pathLst>
              <a:path w="1199326" h="1477431">
                <a:moveTo>
                  <a:pt x="320955" y="1477431"/>
                </a:moveTo>
                <a:lnTo>
                  <a:pt x="0" y="1477431"/>
                </a:lnTo>
                <a:lnTo>
                  <a:pt x="877" y="1425970"/>
                </a:lnTo>
                <a:lnTo>
                  <a:pt x="3508" y="1374570"/>
                </a:lnTo>
                <a:lnTo>
                  <a:pt x="7890" y="1323289"/>
                </a:lnTo>
                <a:lnTo>
                  <a:pt x="14017" y="1272187"/>
                </a:lnTo>
                <a:lnTo>
                  <a:pt x="21882" y="1221323"/>
                </a:lnTo>
                <a:lnTo>
                  <a:pt x="31477" y="1170758"/>
                </a:lnTo>
                <a:lnTo>
                  <a:pt x="42789" y="1120549"/>
                </a:lnTo>
                <a:lnTo>
                  <a:pt x="55807" y="1070754"/>
                </a:lnTo>
                <a:lnTo>
                  <a:pt x="70514" y="1021432"/>
                </a:lnTo>
                <a:lnTo>
                  <a:pt x="86894" y="972641"/>
                </a:lnTo>
                <a:lnTo>
                  <a:pt x="104928" y="924436"/>
                </a:lnTo>
                <a:lnTo>
                  <a:pt x="124594" y="876873"/>
                </a:lnTo>
                <a:lnTo>
                  <a:pt x="145870" y="830009"/>
                </a:lnTo>
                <a:lnTo>
                  <a:pt x="168732" y="783897"/>
                </a:lnTo>
                <a:lnTo>
                  <a:pt x="193151" y="738591"/>
                </a:lnTo>
                <a:lnTo>
                  <a:pt x="219101" y="694144"/>
                </a:lnTo>
                <a:lnTo>
                  <a:pt x="246551" y="650607"/>
                </a:lnTo>
                <a:lnTo>
                  <a:pt x="275469" y="608032"/>
                </a:lnTo>
                <a:lnTo>
                  <a:pt x="305822" y="566467"/>
                </a:lnTo>
                <a:lnTo>
                  <a:pt x="337573" y="525960"/>
                </a:lnTo>
                <a:lnTo>
                  <a:pt x="370687" y="486560"/>
                </a:lnTo>
                <a:lnTo>
                  <a:pt x="405125" y="448311"/>
                </a:lnTo>
                <a:lnTo>
                  <a:pt x="440847" y="411258"/>
                </a:lnTo>
                <a:lnTo>
                  <a:pt x="477811" y="375444"/>
                </a:lnTo>
                <a:lnTo>
                  <a:pt x="515974" y="340911"/>
                </a:lnTo>
                <a:lnTo>
                  <a:pt x="555292" y="307700"/>
                </a:lnTo>
                <a:lnTo>
                  <a:pt x="595719" y="275847"/>
                </a:lnTo>
                <a:lnTo>
                  <a:pt x="637209" y="245391"/>
                </a:lnTo>
                <a:lnTo>
                  <a:pt x="679712" y="216368"/>
                </a:lnTo>
                <a:lnTo>
                  <a:pt x="723181" y="188810"/>
                </a:lnTo>
                <a:lnTo>
                  <a:pt x="767563" y="162749"/>
                </a:lnTo>
                <a:lnTo>
                  <a:pt x="812808" y="138217"/>
                </a:lnTo>
                <a:lnTo>
                  <a:pt x="858863" y="115241"/>
                </a:lnTo>
                <a:lnTo>
                  <a:pt x="905674" y="93848"/>
                </a:lnTo>
                <a:lnTo>
                  <a:pt x="953187" y="74064"/>
                </a:lnTo>
                <a:lnTo>
                  <a:pt x="1001347" y="55910"/>
                </a:lnTo>
                <a:lnTo>
                  <a:pt x="1050098" y="39409"/>
                </a:lnTo>
                <a:lnTo>
                  <a:pt x="1099383" y="24579"/>
                </a:lnTo>
                <a:lnTo>
                  <a:pt x="1149145" y="11438"/>
                </a:lnTo>
                <a:lnTo>
                  <a:pt x="1199326" y="0"/>
                </a:lnTo>
              </a:path>
            </a:pathLst>
          </a:custGeom>
          <a:noFill/>
          <a:ln w="28575">
            <a:solidFill>
              <a:srgbClr val="1F86BF"/>
            </a:solidFill>
          </a:ln>
        </p:spPr>
        <p:txBody>
          <a:bodyPr rtlCol="0" anchor="ctr"/>
          <a:lstStyle/>
          <a:p>
            <a:pPr algn="ctr"/>
          </a:p>
        </p:txBody>
      </p:sp>
      <p:sp>
        <p:nvSpPr>
          <p:cNvPr id="16" name="Freeform 15"/>
          <p:cNvSpPr/>
          <p:nvPr/>
        </p:nvSpPr>
        <p:spPr>
          <a:xfrm>
            <a:off x="1989549" y="1503089"/>
            <a:ext cx="147764" cy="128862"/>
          </a:xfrm>
          <a:custGeom>
            <a:avLst/>
            <a:gdLst/>
            <a:ahLst/>
            <a:cxnLst/>
            <a:rect l="l" t="t" r="r" b="b"/>
            <a:pathLst>
              <a:path w="147764" h="128862">
                <a:moveTo>
                  <a:pt x="147764" y="36235"/>
                </a:moveTo>
                <a:lnTo>
                  <a:pt x="27068" y="128862"/>
                </a:lnTo>
                <a:lnTo>
                  <a:pt x="0" y="0"/>
                </a:lnTo>
                <a:close/>
              </a:path>
            </a:pathLst>
          </a:custGeom>
          <a:solidFill>
            <a:srgbClr val="1F86BF"/>
          </a:solidFill>
          <a:ln>
            <a:noFill/>
          </a:ln>
        </p:spPr>
        <p:txBody>
          <a:bodyPr rtlCol="0" anchor="ctr"/>
          <a:lstStyle/>
          <a:p>
            <a:pPr algn="ctr"/>
          </a:p>
        </p:txBody>
      </p:sp>
      <p:sp>
        <p:nvSpPr>
          <p:cNvPr id="17" name="Freeform 16"/>
          <p:cNvSpPr/>
          <p:nvPr/>
        </p:nvSpPr>
        <p:spPr>
          <a:xfrm>
            <a:off x="2313432" y="1535276"/>
            <a:ext cx="1477430" cy="1199326"/>
          </a:xfrm>
          <a:custGeom>
            <a:avLst/>
            <a:gdLst/>
            <a:ahLst/>
            <a:cxnLst/>
            <a:rect l="l" t="t" r="r" b="b"/>
            <a:pathLst>
              <a:path w="1477430" h="1199326">
                <a:moveTo>
                  <a:pt x="0" y="320955"/>
                </a:moveTo>
                <a:lnTo>
                  <a:pt x="0" y="0"/>
                </a:lnTo>
                <a:lnTo>
                  <a:pt x="51460" y="877"/>
                </a:lnTo>
                <a:lnTo>
                  <a:pt x="102860" y="3508"/>
                </a:lnTo>
                <a:lnTo>
                  <a:pt x="154141" y="7890"/>
                </a:lnTo>
                <a:lnTo>
                  <a:pt x="205243" y="14017"/>
                </a:lnTo>
                <a:lnTo>
                  <a:pt x="256107" y="21882"/>
                </a:lnTo>
                <a:lnTo>
                  <a:pt x="306672" y="31477"/>
                </a:lnTo>
                <a:lnTo>
                  <a:pt x="356881" y="42789"/>
                </a:lnTo>
                <a:lnTo>
                  <a:pt x="406676" y="55807"/>
                </a:lnTo>
                <a:lnTo>
                  <a:pt x="455998" y="70514"/>
                </a:lnTo>
                <a:lnTo>
                  <a:pt x="504789" y="86894"/>
                </a:lnTo>
                <a:lnTo>
                  <a:pt x="552994" y="104928"/>
                </a:lnTo>
                <a:lnTo>
                  <a:pt x="600557" y="124594"/>
                </a:lnTo>
                <a:lnTo>
                  <a:pt x="647421" y="145870"/>
                </a:lnTo>
                <a:lnTo>
                  <a:pt x="693533" y="168732"/>
                </a:lnTo>
                <a:lnTo>
                  <a:pt x="738839" y="193151"/>
                </a:lnTo>
                <a:lnTo>
                  <a:pt x="783286" y="219101"/>
                </a:lnTo>
                <a:lnTo>
                  <a:pt x="826823" y="246551"/>
                </a:lnTo>
                <a:lnTo>
                  <a:pt x="869398" y="275469"/>
                </a:lnTo>
                <a:lnTo>
                  <a:pt x="910963" y="305822"/>
                </a:lnTo>
                <a:lnTo>
                  <a:pt x="951470" y="337573"/>
                </a:lnTo>
                <a:lnTo>
                  <a:pt x="990870" y="370687"/>
                </a:lnTo>
                <a:lnTo>
                  <a:pt x="1029119" y="405125"/>
                </a:lnTo>
                <a:lnTo>
                  <a:pt x="1066172" y="440847"/>
                </a:lnTo>
                <a:lnTo>
                  <a:pt x="1101986" y="477811"/>
                </a:lnTo>
                <a:lnTo>
                  <a:pt x="1136519" y="515974"/>
                </a:lnTo>
                <a:lnTo>
                  <a:pt x="1169730" y="555292"/>
                </a:lnTo>
                <a:lnTo>
                  <a:pt x="1201583" y="595719"/>
                </a:lnTo>
                <a:lnTo>
                  <a:pt x="1232039" y="637209"/>
                </a:lnTo>
                <a:lnTo>
                  <a:pt x="1261062" y="679712"/>
                </a:lnTo>
                <a:lnTo>
                  <a:pt x="1288620" y="723181"/>
                </a:lnTo>
                <a:lnTo>
                  <a:pt x="1314681" y="767563"/>
                </a:lnTo>
                <a:lnTo>
                  <a:pt x="1339213" y="812808"/>
                </a:lnTo>
                <a:lnTo>
                  <a:pt x="1362189" y="858863"/>
                </a:lnTo>
                <a:lnTo>
                  <a:pt x="1383582" y="905674"/>
                </a:lnTo>
                <a:lnTo>
                  <a:pt x="1403366" y="953187"/>
                </a:lnTo>
                <a:lnTo>
                  <a:pt x="1421520" y="1001347"/>
                </a:lnTo>
                <a:lnTo>
                  <a:pt x="1438021" y="1050098"/>
                </a:lnTo>
                <a:lnTo>
                  <a:pt x="1452851" y="1099383"/>
                </a:lnTo>
                <a:lnTo>
                  <a:pt x="1465992" y="1149145"/>
                </a:lnTo>
                <a:lnTo>
                  <a:pt x="1477430" y="1199326"/>
                </a:lnTo>
              </a:path>
            </a:pathLst>
          </a:custGeom>
          <a:noFill/>
          <a:ln w="28575">
            <a:solidFill>
              <a:srgbClr val="D97316"/>
            </a:solidFill>
          </a:ln>
        </p:spPr>
        <p:txBody>
          <a:bodyPr rtlCol="0" anchor="ctr"/>
          <a:lstStyle/>
          <a:p>
            <a:pPr algn="ctr"/>
          </a:p>
        </p:txBody>
      </p:sp>
      <p:sp>
        <p:nvSpPr>
          <p:cNvPr id="18" name="Freeform 17"/>
          <p:cNvSpPr/>
          <p:nvPr/>
        </p:nvSpPr>
        <p:spPr>
          <a:xfrm>
            <a:off x="3726431" y="2721068"/>
            <a:ext cx="128862" cy="147764"/>
          </a:xfrm>
          <a:custGeom>
            <a:avLst/>
            <a:gdLst/>
            <a:ahLst/>
            <a:cxnLst/>
            <a:rect l="l" t="t" r="r" b="b"/>
            <a:pathLst>
              <a:path w="128862" h="147764">
                <a:moveTo>
                  <a:pt x="92627" y="147764"/>
                </a:moveTo>
                <a:lnTo>
                  <a:pt x="0" y="27068"/>
                </a:lnTo>
                <a:lnTo>
                  <a:pt x="128862" y="0"/>
                </a:lnTo>
                <a:close/>
              </a:path>
            </a:pathLst>
          </a:custGeom>
          <a:solidFill>
            <a:srgbClr val="D97316"/>
          </a:solidFill>
          <a:ln>
            <a:noFill/>
          </a:ln>
        </p:spPr>
        <p:txBody>
          <a:bodyPr rtlCol="0" anchor="ctr"/>
          <a:lstStyle/>
          <a:p>
            <a:pPr algn="ctr"/>
          </a:p>
        </p:txBody>
      </p:sp>
      <p:sp>
        <p:nvSpPr>
          <p:cNvPr id="19" name="Freeform 18"/>
          <p:cNvSpPr/>
          <p:nvPr/>
        </p:nvSpPr>
        <p:spPr>
          <a:xfrm>
            <a:off x="2623780" y="3044951"/>
            <a:ext cx="1199326" cy="1477430"/>
          </a:xfrm>
          <a:custGeom>
            <a:avLst/>
            <a:gdLst/>
            <a:ahLst/>
            <a:cxnLst/>
            <a:rect l="l" t="t" r="r" b="b"/>
            <a:pathLst>
              <a:path w="1199326" h="1477430">
                <a:moveTo>
                  <a:pt x="878372" y="0"/>
                </a:moveTo>
                <a:lnTo>
                  <a:pt x="1199326" y="0"/>
                </a:lnTo>
                <a:lnTo>
                  <a:pt x="1198449" y="51460"/>
                </a:lnTo>
                <a:lnTo>
                  <a:pt x="1195818" y="102860"/>
                </a:lnTo>
                <a:lnTo>
                  <a:pt x="1191436" y="154141"/>
                </a:lnTo>
                <a:lnTo>
                  <a:pt x="1185309" y="205243"/>
                </a:lnTo>
                <a:lnTo>
                  <a:pt x="1177444" y="256107"/>
                </a:lnTo>
                <a:lnTo>
                  <a:pt x="1167849" y="306672"/>
                </a:lnTo>
                <a:lnTo>
                  <a:pt x="1156537" y="356881"/>
                </a:lnTo>
                <a:lnTo>
                  <a:pt x="1143519" y="406676"/>
                </a:lnTo>
                <a:lnTo>
                  <a:pt x="1128812" y="455998"/>
                </a:lnTo>
                <a:lnTo>
                  <a:pt x="1112432" y="504789"/>
                </a:lnTo>
                <a:lnTo>
                  <a:pt x="1094398" y="552994"/>
                </a:lnTo>
                <a:lnTo>
                  <a:pt x="1074732" y="600557"/>
                </a:lnTo>
                <a:lnTo>
                  <a:pt x="1053456" y="647421"/>
                </a:lnTo>
                <a:lnTo>
                  <a:pt x="1030594" y="693533"/>
                </a:lnTo>
                <a:lnTo>
                  <a:pt x="1006175" y="738839"/>
                </a:lnTo>
                <a:lnTo>
                  <a:pt x="980225" y="783286"/>
                </a:lnTo>
                <a:lnTo>
                  <a:pt x="952775" y="826823"/>
                </a:lnTo>
                <a:lnTo>
                  <a:pt x="923857" y="869398"/>
                </a:lnTo>
                <a:lnTo>
                  <a:pt x="893504" y="910963"/>
                </a:lnTo>
                <a:lnTo>
                  <a:pt x="861753" y="951470"/>
                </a:lnTo>
                <a:lnTo>
                  <a:pt x="828639" y="990870"/>
                </a:lnTo>
                <a:lnTo>
                  <a:pt x="794201" y="1029119"/>
                </a:lnTo>
                <a:lnTo>
                  <a:pt x="758479" y="1066172"/>
                </a:lnTo>
                <a:lnTo>
                  <a:pt x="721515" y="1101986"/>
                </a:lnTo>
                <a:lnTo>
                  <a:pt x="683352" y="1136519"/>
                </a:lnTo>
                <a:lnTo>
                  <a:pt x="644034" y="1169730"/>
                </a:lnTo>
                <a:lnTo>
                  <a:pt x="603607" y="1201583"/>
                </a:lnTo>
                <a:lnTo>
                  <a:pt x="562117" y="1232039"/>
                </a:lnTo>
                <a:lnTo>
                  <a:pt x="519614" y="1261062"/>
                </a:lnTo>
                <a:lnTo>
                  <a:pt x="476145" y="1288620"/>
                </a:lnTo>
                <a:lnTo>
                  <a:pt x="431763" y="1314681"/>
                </a:lnTo>
                <a:lnTo>
                  <a:pt x="386518" y="1339213"/>
                </a:lnTo>
                <a:lnTo>
                  <a:pt x="340463" y="1362189"/>
                </a:lnTo>
                <a:lnTo>
                  <a:pt x="293652" y="1383582"/>
                </a:lnTo>
                <a:lnTo>
                  <a:pt x="246139" y="1403366"/>
                </a:lnTo>
                <a:lnTo>
                  <a:pt x="197979" y="1421520"/>
                </a:lnTo>
                <a:lnTo>
                  <a:pt x="149228" y="1438021"/>
                </a:lnTo>
                <a:lnTo>
                  <a:pt x="99943" y="1452851"/>
                </a:lnTo>
                <a:lnTo>
                  <a:pt x="50181" y="1465992"/>
                </a:lnTo>
                <a:lnTo>
                  <a:pt x="0" y="1477430"/>
                </a:lnTo>
              </a:path>
            </a:pathLst>
          </a:custGeom>
          <a:noFill/>
          <a:ln w="28575">
            <a:solidFill>
              <a:srgbClr val="CC3333"/>
            </a:solidFill>
          </a:ln>
        </p:spPr>
        <p:txBody>
          <a:bodyPr rtlCol="0" anchor="ctr"/>
          <a:lstStyle/>
          <a:p>
            <a:pPr algn="ctr"/>
          </a:p>
        </p:txBody>
      </p:sp>
      <p:sp>
        <p:nvSpPr>
          <p:cNvPr id="20" name="Freeform 19"/>
          <p:cNvSpPr/>
          <p:nvPr/>
        </p:nvSpPr>
        <p:spPr>
          <a:xfrm>
            <a:off x="2489550" y="4457950"/>
            <a:ext cx="147764" cy="128862"/>
          </a:xfrm>
          <a:custGeom>
            <a:avLst/>
            <a:gdLst/>
            <a:ahLst/>
            <a:cxnLst/>
            <a:rect l="l" t="t" r="r" b="b"/>
            <a:pathLst>
              <a:path w="147764" h="128862">
                <a:moveTo>
                  <a:pt x="0" y="92627"/>
                </a:moveTo>
                <a:lnTo>
                  <a:pt x="120696" y="0"/>
                </a:lnTo>
                <a:lnTo>
                  <a:pt x="147764" y="128862"/>
                </a:lnTo>
                <a:close/>
              </a:path>
            </a:pathLst>
          </a:custGeom>
          <a:solidFill>
            <a:srgbClr val="CC3333"/>
          </a:solidFill>
          <a:ln>
            <a:noFill/>
          </a:ln>
        </p:spPr>
        <p:txBody>
          <a:bodyPr rtlCol="0" anchor="ctr"/>
          <a:lstStyle/>
          <a:p>
            <a:pPr algn="ctr"/>
          </a:p>
        </p:txBody>
      </p:sp>
      <p:sp>
        <p:nvSpPr>
          <p:cNvPr id="21" name="Freeform 20"/>
          <p:cNvSpPr/>
          <p:nvPr/>
        </p:nvSpPr>
        <p:spPr>
          <a:xfrm>
            <a:off x="836001" y="3355299"/>
            <a:ext cx="1477431" cy="1199326"/>
          </a:xfrm>
          <a:custGeom>
            <a:avLst/>
            <a:gdLst/>
            <a:ahLst/>
            <a:cxnLst/>
            <a:rect l="l" t="t" r="r" b="b"/>
            <a:pathLst>
              <a:path w="1477431" h="1199326">
                <a:moveTo>
                  <a:pt x="1477431" y="878372"/>
                </a:moveTo>
                <a:lnTo>
                  <a:pt x="1477431" y="1199326"/>
                </a:lnTo>
                <a:lnTo>
                  <a:pt x="1425970" y="1198449"/>
                </a:lnTo>
                <a:lnTo>
                  <a:pt x="1374570" y="1195818"/>
                </a:lnTo>
                <a:lnTo>
                  <a:pt x="1323289" y="1191436"/>
                </a:lnTo>
                <a:lnTo>
                  <a:pt x="1272187" y="1185309"/>
                </a:lnTo>
                <a:lnTo>
                  <a:pt x="1221323" y="1177444"/>
                </a:lnTo>
                <a:lnTo>
                  <a:pt x="1170758" y="1167849"/>
                </a:lnTo>
                <a:lnTo>
                  <a:pt x="1120549" y="1156537"/>
                </a:lnTo>
                <a:lnTo>
                  <a:pt x="1070754" y="1143519"/>
                </a:lnTo>
                <a:lnTo>
                  <a:pt x="1021432" y="1128812"/>
                </a:lnTo>
                <a:lnTo>
                  <a:pt x="972641" y="1112432"/>
                </a:lnTo>
                <a:lnTo>
                  <a:pt x="924436" y="1094398"/>
                </a:lnTo>
                <a:lnTo>
                  <a:pt x="876873" y="1074732"/>
                </a:lnTo>
                <a:lnTo>
                  <a:pt x="830009" y="1053456"/>
                </a:lnTo>
                <a:lnTo>
                  <a:pt x="783897" y="1030594"/>
                </a:lnTo>
                <a:lnTo>
                  <a:pt x="738591" y="1006175"/>
                </a:lnTo>
                <a:lnTo>
                  <a:pt x="694144" y="980225"/>
                </a:lnTo>
                <a:lnTo>
                  <a:pt x="650607" y="952775"/>
                </a:lnTo>
                <a:lnTo>
                  <a:pt x="608032" y="923857"/>
                </a:lnTo>
                <a:lnTo>
                  <a:pt x="566467" y="893504"/>
                </a:lnTo>
                <a:lnTo>
                  <a:pt x="525960" y="861753"/>
                </a:lnTo>
                <a:lnTo>
                  <a:pt x="486560" y="828639"/>
                </a:lnTo>
                <a:lnTo>
                  <a:pt x="448311" y="794201"/>
                </a:lnTo>
                <a:lnTo>
                  <a:pt x="411258" y="758479"/>
                </a:lnTo>
                <a:lnTo>
                  <a:pt x="375444" y="721515"/>
                </a:lnTo>
                <a:lnTo>
                  <a:pt x="340911" y="683352"/>
                </a:lnTo>
                <a:lnTo>
                  <a:pt x="307700" y="644034"/>
                </a:lnTo>
                <a:lnTo>
                  <a:pt x="275847" y="603607"/>
                </a:lnTo>
                <a:lnTo>
                  <a:pt x="245391" y="562117"/>
                </a:lnTo>
                <a:lnTo>
                  <a:pt x="216368" y="519614"/>
                </a:lnTo>
                <a:lnTo>
                  <a:pt x="188810" y="476145"/>
                </a:lnTo>
                <a:lnTo>
                  <a:pt x="162749" y="431763"/>
                </a:lnTo>
                <a:lnTo>
                  <a:pt x="138217" y="386518"/>
                </a:lnTo>
                <a:lnTo>
                  <a:pt x="115241" y="340463"/>
                </a:lnTo>
                <a:lnTo>
                  <a:pt x="93848" y="293652"/>
                </a:lnTo>
                <a:lnTo>
                  <a:pt x="74064" y="246139"/>
                </a:lnTo>
                <a:lnTo>
                  <a:pt x="55910" y="197979"/>
                </a:lnTo>
                <a:lnTo>
                  <a:pt x="39409" y="149228"/>
                </a:lnTo>
                <a:lnTo>
                  <a:pt x="24579" y="99943"/>
                </a:lnTo>
                <a:lnTo>
                  <a:pt x="11438" y="50181"/>
                </a:lnTo>
                <a:lnTo>
                  <a:pt x="0" y="0"/>
                </a:lnTo>
              </a:path>
            </a:pathLst>
          </a:custGeom>
          <a:noFill/>
          <a:ln w="28575">
            <a:solidFill>
              <a:srgbClr val="55992E"/>
            </a:solidFill>
          </a:ln>
        </p:spPr>
        <p:txBody>
          <a:bodyPr rtlCol="0" anchor="ctr"/>
          <a:lstStyle/>
          <a:p>
            <a:pPr algn="ctr"/>
          </a:p>
        </p:txBody>
      </p:sp>
      <p:sp>
        <p:nvSpPr>
          <p:cNvPr id="22" name="Freeform 21"/>
          <p:cNvSpPr/>
          <p:nvPr/>
        </p:nvSpPr>
        <p:spPr>
          <a:xfrm>
            <a:off x="771570" y="3221069"/>
            <a:ext cx="128862" cy="147764"/>
          </a:xfrm>
          <a:custGeom>
            <a:avLst/>
            <a:gdLst/>
            <a:ahLst/>
            <a:cxnLst/>
            <a:rect l="l" t="t" r="r" b="b"/>
            <a:pathLst>
              <a:path w="128862" h="147764">
                <a:moveTo>
                  <a:pt x="36235" y="0"/>
                </a:moveTo>
                <a:lnTo>
                  <a:pt x="128862" y="120696"/>
                </a:lnTo>
                <a:lnTo>
                  <a:pt x="0" y="147764"/>
                </a:lnTo>
                <a:close/>
              </a:path>
            </a:pathLst>
          </a:custGeom>
          <a:solidFill>
            <a:srgbClr val="55992E"/>
          </a:solidFill>
          <a:ln>
            <a:noFill/>
          </a:ln>
        </p:spPr>
        <p:txBody>
          <a:bodyPr rtlCol="0" anchor="ctr"/>
          <a:lstStyle/>
          <a:p>
            <a:pPr algn="ctr"/>
          </a:p>
        </p:txBody>
      </p:sp>
      <p:sp>
        <p:nvSpPr>
          <p:cNvPr id="23" name="Rounded Rectangle 22"/>
          <p:cNvSpPr/>
          <p:nvPr/>
        </p:nvSpPr>
        <p:spPr>
          <a:xfrm>
            <a:off x="3906316" y="2533801"/>
            <a:ext cx="285292" cy="1022299"/>
          </a:xfrm>
          <a:prstGeom prst="roundRect">
            <a:avLst>
              <a:gd name="adj" fmla="val 12000"/>
            </a:avLst>
          </a:prstGeom>
          <a:solidFill>
            <a:srgbClr val="D33327"/>
          </a:solidFill>
          <a:ln w="19050">
            <a:solidFill>
              <a:srgbClr val="FFFFFF"/>
            </a:solidFill>
          </a:ln>
          <a:effectLst/>
        </p:spPr>
        <p:txBody>
          <a:bodyPr rtlCol="0" anchor="ctr"/>
          <a:lstStyle/>
          <a:p/>
        </p:txBody>
      </p:sp>
      <p:sp>
        <p:nvSpPr>
          <p:cNvPr id="24" name="TextBox 23"/>
          <p:cNvSpPr txBox="1"/>
          <p:nvPr/>
        </p:nvSpPr>
        <p:spPr>
          <a:xfrm rot="5400000">
            <a:off x="3844829" y="2840817"/>
            <a:ext cx="408268" cy="408268"/>
          </a:xfrm>
          <a:prstGeom prst="rect">
            <a:avLst/>
          </a:prstGeom>
          <a:noFill/>
        </p:spPr>
        <p:txBody>
          <a:bodyPr wrap="square" anchor="ctr" lIns="0" rIns="0" tIns="0" bIns="0">
            <a:noAutofit/>
          </a:bodyPr>
          <a:lstStyle/>
          <a:p>
            <a:pPr algn="ctr">
              <a:spcBef>
                <a:spcPts val="0"/>
              </a:spcBef>
              <a:spcAft>
                <a:spcPts val="0"/>
              </a:spcAft>
            </a:pPr>
            <a:r>
              <a:rPr lang="tr-TR" sz="1235" b="1" i="0">
                <a:solidFill>
                  <a:srgbClr val="FFFFFF"/>
                </a:solidFill>
                <a:latin typeface="Calibri"/>
              </a:rPr>
              <a:t>AFET</a:t>
            </a:r>
          </a:p>
        </p:txBody>
      </p:sp>
      <p:sp>
        <p:nvSpPr>
          <p:cNvPr id="25" name="TextBox 24"/>
          <p:cNvSpPr txBox="1"/>
          <p:nvPr/>
        </p:nvSpPr>
        <p:spPr>
          <a:xfrm>
            <a:off x="1802282" y="2688335"/>
            <a:ext cx="1022299" cy="713232"/>
          </a:xfrm>
          <a:prstGeom prst="rect">
            <a:avLst/>
          </a:prstGeom>
          <a:noFill/>
        </p:spPr>
        <p:txBody>
          <a:bodyPr wrap="square" anchor="ctr" lIns="0" rIns="0" tIns="0" bIns="0">
            <a:noAutofit/>
          </a:bodyPr>
          <a:lstStyle/>
          <a:p>
            <a:pPr algn="ctr">
              <a:spcBef>
                <a:spcPts val="0"/>
              </a:spcBef>
              <a:spcAft>
                <a:spcPts val="0"/>
              </a:spcAft>
            </a:pPr>
            <a:r>
              <a:rPr lang="tr-TR" sz="936" b="1" i="0">
                <a:solidFill>
                  <a:srgbClr val="262626"/>
                </a:solidFill>
                <a:latin typeface="Calibri"/>
              </a:rPr>
              <a:t>AFET</a:t>
            </a:r>
          </a:p>
          <a:p>
            <a:pPr algn="ctr">
              <a:spcBef>
                <a:spcPts val="0"/>
              </a:spcBef>
              <a:spcAft>
                <a:spcPts val="0"/>
              </a:spcAft>
            </a:pPr>
            <a:r>
              <a:rPr lang="tr-TR" sz="936" b="1" i="0">
                <a:solidFill>
                  <a:srgbClr val="262626"/>
                </a:solidFill>
                <a:latin typeface="Calibri"/>
              </a:rPr>
              <a:t>YÖNETİMİ</a:t>
            </a:r>
          </a:p>
        </p:txBody>
      </p:sp>
      <p:sp>
        <p:nvSpPr>
          <p:cNvPr id="26" name="Oval 25"/>
          <p:cNvSpPr/>
          <p:nvPr/>
        </p:nvSpPr>
        <p:spPr>
          <a:xfrm>
            <a:off x="1494624" y="2226143"/>
            <a:ext cx="309542" cy="309542"/>
          </a:xfrm>
          <a:prstGeom prst="ellipse">
            <a:avLst/>
          </a:prstGeom>
          <a:solidFill>
            <a:srgbClr val="FFFFFF"/>
          </a:solidFill>
          <a:ln w="25400">
            <a:solidFill>
              <a:srgbClr val="1F86BF"/>
            </a:solidFill>
          </a:ln>
          <a:effectLst/>
        </p:spPr>
        <p:txBody>
          <a:bodyPr rtlCol="0" anchor="ctr" wrap="none" lIns="0" rIns="0" tIns="0" bIns="0">
            <a:noAutofit/>
          </a:bodyPr>
          <a:lstStyle/>
          <a:p>
            <a:pPr algn="ctr">
              <a:spcBef>
                <a:spcPts val="0"/>
              </a:spcBef>
              <a:spcAft>
                <a:spcPts val="0"/>
              </a:spcAft>
            </a:pPr>
            <a:r>
              <a:rPr lang="tr-TR" sz="1340" b="1" i="0">
                <a:solidFill>
                  <a:srgbClr val="1F86BF"/>
                </a:solidFill>
                <a:latin typeface="Calibri"/>
              </a:rPr>
              <a:t>1</a:t>
            </a:r>
          </a:p>
        </p:txBody>
      </p:sp>
      <p:sp>
        <p:nvSpPr>
          <p:cNvPr id="27" name="Oval 26"/>
          <p:cNvSpPr/>
          <p:nvPr/>
        </p:nvSpPr>
        <p:spPr>
          <a:xfrm>
            <a:off x="2822697" y="2226143"/>
            <a:ext cx="309542" cy="309542"/>
          </a:xfrm>
          <a:prstGeom prst="ellipse">
            <a:avLst/>
          </a:prstGeom>
          <a:solidFill>
            <a:srgbClr val="FFFFFF"/>
          </a:solidFill>
          <a:ln w="25400">
            <a:solidFill>
              <a:srgbClr val="D97316"/>
            </a:solidFill>
          </a:ln>
          <a:effectLst/>
        </p:spPr>
        <p:txBody>
          <a:bodyPr rtlCol="0" anchor="ctr" wrap="none" lIns="0" rIns="0" tIns="0" bIns="0">
            <a:noAutofit/>
          </a:bodyPr>
          <a:lstStyle/>
          <a:p>
            <a:pPr algn="ctr">
              <a:spcBef>
                <a:spcPts val="0"/>
              </a:spcBef>
              <a:spcAft>
                <a:spcPts val="0"/>
              </a:spcAft>
            </a:pPr>
            <a:r>
              <a:rPr lang="tr-TR" sz="1340" b="1" i="0">
                <a:solidFill>
                  <a:srgbClr val="D97316"/>
                </a:solidFill>
                <a:latin typeface="Calibri"/>
              </a:rPr>
              <a:t>2</a:t>
            </a:r>
          </a:p>
        </p:txBody>
      </p:sp>
      <p:sp>
        <p:nvSpPr>
          <p:cNvPr id="28" name="Oval 27"/>
          <p:cNvSpPr/>
          <p:nvPr/>
        </p:nvSpPr>
        <p:spPr>
          <a:xfrm>
            <a:off x="2822697" y="3554216"/>
            <a:ext cx="309542" cy="309542"/>
          </a:xfrm>
          <a:prstGeom prst="ellipse">
            <a:avLst/>
          </a:prstGeom>
          <a:solidFill>
            <a:srgbClr val="FFFFFF"/>
          </a:solidFill>
          <a:ln w="25400">
            <a:solidFill>
              <a:srgbClr val="CC3333"/>
            </a:solidFill>
          </a:ln>
          <a:effectLst/>
        </p:spPr>
        <p:txBody>
          <a:bodyPr rtlCol="0" anchor="ctr" wrap="none" lIns="0" rIns="0" tIns="0" bIns="0">
            <a:noAutofit/>
          </a:bodyPr>
          <a:lstStyle/>
          <a:p>
            <a:pPr algn="ctr">
              <a:spcBef>
                <a:spcPts val="0"/>
              </a:spcBef>
              <a:spcAft>
                <a:spcPts val="0"/>
              </a:spcAft>
            </a:pPr>
            <a:r>
              <a:rPr lang="tr-TR" sz="1340" b="1" i="0">
                <a:solidFill>
                  <a:srgbClr val="CC3333"/>
                </a:solidFill>
                <a:latin typeface="Calibri"/>
              </a:rPr>
              <a:t>3</a:t>
            </a:r>
          </a:p>
        </p:txBody>
      </p:sp>
      <p:sp>
        <p:nvSpPr>
          <p:cNvPr id="29" name="Oval 28"/>
          <p:cNvSpPr/>
          <p:nvPr/>
        </p:nvSpPr>
        <p:spPr>
          <a:xfrm>
            <a:off x="1494624" y="3554216"/>
            <a:ext cx="309542" cy="309542"/>
          </a:xfrm>
          <a:prstGeom prst="ellipse">
            <a:avLst/>
          </a:prstGeom>
          <a:solidFill>
            <a:srgbClr val="FFFFFF"/>
          </a:solidFill>
          <a:ln w="25400">
            <a:solidFill>
              <a:srgbClr val="55992E"/>
            </a:solidFill>
          </a:ln>
          <a:effectLst/>
        </p:spPr>
        <p:txBody>
          <a:bodyPr rtlCol="0" anchor="ctr" wrap="none" lIns="0" rIns="0" tIns="0" bIns="0">
            <a:noAutofit/>
          </a:bodyPr>
          <a:lstStyle/>
          <a:p>
            <a:pPr algn="ctr">
              <a:spcBef>
                <a:spcPts val="0"/>
              </a:spcBef>
              <a:spcAft>
                <a:spcPts val="0"/>
              </a:spcAft>
            </a:pPr>
            <a:r>
              <a:rPr lang="tr-TR" sz="1340" b="1" i="0">
                <a:solidFill>
                  <a:srgbClr val="55992E"/>
                </a:solidFill>
                <a:latin typeface="Calibri"/>
              </a:rPr>
              <a:t>4</a:t>
            </a:r>
          </a:p>
        </p:txBody>
      </p:sp>
      <p:sp>
        <p:nvSpPr>
          <p:cNvPr id="30" name="Oval 29"/>
          <p:cNvSpPr/>
          <p:nvPr/>
        </p:nvSpPr>
        <p:spPr>
          <a:xfrm>
            <a:off x="630021" y="2871215"/>
            <a:ext cx="347472" cy="347472"/>
          </a:xfrm>
          <a:prstGeom prst="ellipse">
            <a:avLst/>
          </a:prstGeom>
          <a:noFill/>
          <a:ln w="44450">
            <a:solidFill>
              <a:srgbClr val="FCC021"/>
            </a:solidFill>
          </a:ln>
          <a:effectLst/>
        </p:spPr>
        <p:txBody>
          <a:bodyPr rtlCol="0" anchor="ctr"/>
          <a:lstStyle/>
          <a:p/>
        </p:txBody>
      </p:sp>
      <p:cxnSp>
        <p:nvCxnSpPr>
          <p:cNvPr id="31" name="Connector 30"/>
          <p:cNvCxnSpPr/>
          <p:nvPr/>
        </p:nvCxnSpPr>
        <p:spPr>
          <a:xfrm>
            <a:off x="803757" y="3218687"/>
            <a:ext cx="0" cy="1929384"/>
          </a:xfrm>
          <a:prstGeom prst="line">
            <a:avLst/>
          </a:prstGeom>
          <a:ln w="25400">
            <a:solidFill>
              <a:srgbClr val="FCC021"/>
            </a:solidFill>
          </a:ln>
        </p:spPr>
      </p:cxnSp>
      <p:sp>
        <p:nvSpPr>
          <p:cNvPr id="32" name="Rounded Rectangle 31"/>
          <p:cNvSpPr/>
          <p:nvPr/>
        </p:nvSpPr>
        <p:spPr>
          <a:xfrm>
            <a:off x="502920" y="5148071"/>
            <a:ext cx="3520440" cy="10972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1E7B6E"/>
                </a:solidFill>
                <a:latin typeface="Calibri"/>
              </a:rPr>
              <a:t>başa dönüş:</a:t>
            </a:r>
          </a:p>
          <a:p>
            <a:pPr algn="l">
              <a:spcBef>
                <a:spcPts val="0"/>
              </a:spcBef>
              <a:spcAft>
                <a:spcPts val="0"/>
              </a:spcAft>
            </a:pPr>
            <a:r>
              <a:rPr lang="tr-TR" sz="2100" b="0" i="0">
                <a:solidFill>
                  <a:srgbClr val="262626"/>
                </a:solidFill>
                <a:latin typeface="Calibri"/>
              </a:rPr>
              <a:t>tecrübe ve bilgilerle</a:t>
            </a:r>
          </a:p>
        </p:txBody>
      </p:sp>
      <p:sp>
        <p:nvSpPr>
          <p:cNvPr id="33" name="Rounded Rectangle 32"/>
          <p:cNvSpPr/>
          <p:nvPr/>
        </p:nvSpPr>
        <p:spPr>
          <a:xfrm>
            <a:off x="4297680" y="1216152"/>
            <a:ext cx="7391095" cy="1616556"/>
          </a:xfrm>
          <a:prstGeom prst="roundRect">
            <a:avLst>
              <a:gd name="adj" fmla="val 8000"/>
            </a:avLst>
          </a:prstGeom>
          <a:solidFill>
            <a:srgbClr val="F0F0F0"/>
          </a:solidFill>
          <a:ln>
            <a:noFill/>
          </a:ln>
          <a:effectLst/>
        </p:spPr>
        <p:txBody>
          <a:bodyPr rtlCol="0" anchor="ctr"/>
          <a:lstStyle/>
          <a:p/>
        </p:txBody>
      </p:sp>
      <p:sp>
        <p:nvSpPr>
          <p:cNvPr id="34" name="Rectangle 33"/>
          <p:cNvSpPr/>
          <p:nvPr/>
        </p:nvSpPr>
        <p:spPr>
          <a:xfrm>
            <a:off x="4297680" y="1216152"/>
            <a:ext cx="118872" cy="1616556"/>
          </a:xfrm>
          <a:prstGeom prst="rect">
            <a:avLst/>
          </a:prstGeom>
          <a:solidFill>
            <a:srgbClr val="1E7B6E"/>
          </a:solidFill>
          <a:ln>
            <a:noFill/>
          </a:ln>
          <a:effectLst/>
        </p:spPr>
        <p:txBody>
          <a:bodyPr rtlCol="0" anchor="ctr"/>
          <a:lstStyle/>
          <a:p/>
        </p:txBody>
      </p:sp>
      <p:sp>
        <p:nvSpPr>
          <p:cNvPr id="35" name="TextBox 34"/>
          <p:cNvSpPr txBox="1"/>
          <p:nvPr/>
        </p:nvSpPr>
        <p:spPr>
          <a:xfrm>
            <a:off x="4572000" y="1216152"/>
            <a:ext cx="6979615" cy="161655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Aşamalar, her zaman birbirini takip etmek zorunda olmayıp genellikle iç içedir. Bu nedenle risk yönetimi, her aşamada ortaya çıkabilecek yeni riskleri de dikkate almalıdır.</a:t>
            </a:r>
          </a:p>
        </p:txBody>
      </p:sp>
      <p:sp>
        <p:nvSpPr>
          <p:cNvPr id="36" name="Rounded Rectangle 35"/>
          <p:cNvSpPr/>
          <p:nvPr/>
        </p:nvSpPr>
        <p:spPr>
          <a:xfrm>
            <a:off x="4297680" y="2969868"/>
            <a:ext cx="7391095" cy="1818625"/>
          </a:xfrm>
          <a:prstGeom prst="roundRect">
            <a:avLst>
              <a:gd name="adj" fmla="val 8000"/>
            </a:avLst>
          </a:prstGeom>
          <a:solidFill>
            <a:srgbClr val="F0F0F0"/>
          </a:solidFill>
          <a:ln>
            <a:noFill/>
          </a:ln>
          <a:effectLst/>
        </p:spPr>
        <p:txBody>
          <a:bodyPr rtlCol="0" anchor="ctr"/>
          <a:lstStyle/>
          <a:p/>
        </p:txBody>
      </p:sp>
      <p:sp>
        <p:nvSpPr>
          <p:cNvPr id="37" name="Rectangle 36"/>
          <p:cNvSpPr/>
          <p:nvPr/>
        </p:nvSpPr>
        <p:spPr>
          <a:xfrm>
            <a:off x="4297680" y="2969868"/>
            <a:ext cx="118872" cy="1818625"/>
          </a:xfrm>
          <a:prstGeom prst="rect">
            <a:avLst/>
          </a:prstGeom>
          <a:solidFill>
            <a:srgbClr val="1E7B6E"/>
          </a:solidFill>
          <a:ln>
            <a:noFill/>
          </a:ln>
          <a:effectLst/>
        </p:spPr>
        <p:txBody>
          <a:bodyPr rtlCol="0" anchor="ctr"/>
          <a:lstStyle/>
          <a:p/>
        </p:txBody>
      </p:sp>
      <p:sp>
        <p:nvSpPr>
          <p:cNvPr id="38" name="TextBox 37"/>
          <p:cNvSpPr txBox="1"/>
          <p:nvPr/>
        </p:nvSpPr>
        <p:spPr>
          <a:xfrm>
            <a:off x="4572000" y="2969868"/>
            <a:ext cx="6979615" cy="1818625"/>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 esnasında yapılan müdahaleler ve sonrasındaki iyileştirme çalışmalarının ardından elde edilen </a:t>
            </a:r>
            <a:r>
              <a:rPr lang="tr-TR" sz="2200" b="1" i="0">
                <a:solidFill>
                  <a:srgbClr val="262626"/>
                </a:solidFill>
                <a:latin typeface="Calibri"/>
              </a:rPr>
              <a:t>tecrübe ve bilgiler</a:t>
            </a:r>
            <a:r>
              <a:rPr lang="tr-TR" sz="2200" b="0" i="0">
                <a:solidFill>
                  <a:srgbClr val="262626"/>
                </a:solidFill>
                <a:latin typeface="Calibri"/>
              </a:rPr>
              <a:t> bağlamında </a:t>
            </a:r>
            <a:r>
              <a:rPr lang="tr-TR" sz="2200" b="1" i="0">
                <a:solidFill>
                  <a:srgbClr val="262626"/>
                </a:solidFill>
                <a:latin typeface="Calibri"/>
              </a:rPr>
              <a:t>başa dönülerek</a:t>
            </a:r>
            <a:r>
              <a:rPr lang="tr-TR" sz="2200" b="0" i="0">
                <a:solidFill>
                  <a:srgbClr val="262626"/>
                </a:solidFill>
                <a:latin typeface="Calibri"/>
              </a:rPr>
              <a:t> afet öncesi risk ve zarar azaltma ile hazırlıklı olma evrelerine geçilmelidir.</a:t>
            </a:r>
          </a:p>
        </p:txBody>
      </p:sp>
      <p:sp>
        <p:nvSpPr>
          <p:cNvPr id="39" name="Rounded Rectangle 38"/>
          <p:cNvSpPr/>
          <p:nvPr/>
        </p:nvSpPr>
        <p:spPr>
          <a:xfrm>
            <a:off x="4297680" y="4925653"/>
            <a:ext cx="7391095" cy="1347130"/>
          </a:xfrm>
          <a:prstGeom prst="roundRect">
            <a:avLst>
              <a:gd name="adj" fmla="val 8000"/>
            </a:avLst>
          </a:prstGeom>
          <a:solidFill>
            <a:srgbClr val="F0F0F0"/>
          </a:solidFill>
          <a:ln>
            <a:noFill/>
          </a:ln>
          <a:effectLst/>
        </p:spPr>
        <p:txBody>
          <a:bodyPr rtlCol="0" anchor="ctr"/>
          <a:lstStyle/>
          <a:p/>
        </p:txBody>
      </p:sp>
      <p:sp>
        <p:nvSpPr>
          <p:cNvPr id="40" name="Rectangle 39"/>
          <p:cNvSpPr/>
          <p:nvPr/>
        </p:nvSpPr>
        <p:spPr>
          <a:xfrm>
            <a:off x="4297680" y="4925653"/>
            <a:ext cx="118872" cy="1347130"/>
          </a:xfrm>
          <a:prstGeom prst="rect">
            <a:avLst/>
          </a:prstGeom>
          <a:solidFill>
            <a:srgbClr val="1E7B6E"/>
          </a:solidFill>
          <a:ln>
            <a:noFill/>
          </a:ln>
          <a:effectLst/>
        </p:spPr>
        <p:txBody>
          <a:bodyPr rtlCol="0" anchor="ctr"/>
          <a:lstStyle/>
          <a:p/>
        </p:txBody>
      </p:sp>
      <p:sp>
        <p:nvSpPr>
          <p:cNvPr id="41" name="TextBox 40"/>
          <p:cNvSpPr txBox="1"/>
          <p:nvPr/>
        </p:nvSpPr>
        <p:spPr>
          <a:xfrm>
            <a:off x="4572000" y="4925653"/>
            <a:ext cx="6979615" cy="134713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İyileştirme aşamasında yürütülen faaliyetlerde ise oluşması muhtemel tehlike ve risklerin önlenmesi veya etkilerinin en aza indirilmesi amaçlanmalıdır.</a:t>
            </a:r>
          </a:p>
        </p:txBody>
      </p:sp>
      <p:sp>
        <p:nvSpPr>
          <p:cNvPr id="42" name="TextBox 4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3" name="Rounded Rectangle 4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44" name="TextBox 4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137 / 250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Baştaki üç sütun döngünün neresinde?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EŞLE</a:t>
            </a:r>
          </a:p>
        </p:txBody>
      </p:sp>
      <p:sp>
        <p:nvSpPr>
          <p:cNvPr id="6" name="Rounded Rectangle 5"/>
          <p:cNvSpPr/>
          <p:nvPr/>
        </p:nvSpPr>
        <p:spPr>
          <a:xfrm>
            <a:off x="502920" y="1216152"/>
            <a:ext cx="3594506" cy="566928"/>
          </a:xfrm>
          <a:prstGeom prst="roundRect">
            <a:avLst>
              <a:gd name="adj" fmla="val 15000"/>
            </a:avLst>
          </a:prstGeom>
          <a:solidFill>
            <a:srgbClr val="1F86BF"/>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Afet öncesi</a:t>
            </a:r>
          </a:p>
        </p:txBody>
      </p:sp>
      <p:sp>
        <p:nvSpPr>
          <p:cNvPr id="7" name="Rounded Rectangle 6"/>
          <p:cNvSpPr/>
          <p:nvPr/>
        </p:nvSpPr>
        <p:spPr>
          <a:xfrm>
            <a:off x="502920" y="1901952"/>
            <a:ext cx="3594506" cy="14630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800" b="0" i="0">
                <a:solidFill>
                  <a:srgbClr val="767676"/>
                </a:solidFill>
                <a:latin typeface="Calibri"/>
              </a:rPr>
              <a:t>Baştaki işlerimiz (tahtada)</a:t>
            </a:r>
          </a:p>
        </p:txBody>
      </p:sp>
      <p:sp>
        <p:nvSpPr>
          <p:cNvPr id="8" name="TextBox 7"/>
          <p:cNvSpPr txBox="1"/>
          <p:nvPr/>
        </p:nvSpPr>
        <p:spPr>
          <a:xfrm>
            <a:off x="502920" y="3502152"/>
            <a:ext cx="3594506" cy="54864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1F86BF"/>
                </a:solidFill>
                <a:latin typeface="Calibri"/>
              </a:rPr>
              <a:t>↓  hangi aşama?</a:t>
            </a:r>
          </a:p>
        </p:txBody>
      </p:sp>
      <p:sp>
        <p:nvSpPr>
          <p:cNvPr id="9" name="Rounded Rectangle 8"/>
          <p:cNvSpPr/>
          <p:nvPr/>
        </p:nvSpPr>
        <p:spPr>
          <a:xfrm>
            <a:off x="502920" y="4142232"/>
            <a:ext cx="3594506" cy="21488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0" name="Connector 9"/>
          <p:cNvCxnSpPr/>
          <p:nvPr/>
        </p:nvCxnSpPr>
        <p:spPr>
          <a:xfrm>
            <a:off x="685800" y="4572000"/>
            <a:ext cx="3228746" cy="0"/>
          </a:xfrm>
          <a:prstGeom prst="line">
            <a:avLst/>
          </a:prstGeom>
          <a:ln w="12700">
            <a:solidFill>
              <a:srgbClr val="D9D9D9"/>
            </a:solidFill>
            <a:prstDash val="dash"/>
          </a:ln>
        </p:spPr>
      </p:cxnSp>
      <p:cxnSp>
        <p:nvCxnSpPr>
          <p:cNvPr id="11" name="Connector 10"/>
          <p:cNvCxnSpPr/>
          <p:nvPr/>
        </p:nvCxnSpPr>
        <p:spPr>
          <a:xfrm>
            <a:off x="685800" y="5001768"/>
            <a:ext cx="3228746" cy="0"/>
          </a:xfrm>
          <a:prstGeom prst="line">
            <a:avLst/>
          </a:prstGeom>
          <a:ln w="12700">
            <a:solidFill>
              <a:srgbClr val="D9D9D9"/>
            </a:solidFill>
            <a:prstDash val="dash"/>
          </a:ln>
        </p:spPr>
      </p:cxnSp>
      <p:cxnSp>
        <p:nvCxnSpPr>
          <p:cNvPr id="12" name="Connector 11"/>
          <p:cNvCxnSpPr/>
          <p:nvPr/>
        </p:nvCxnSpPr>
        <p:spPr>
          <a:xfrm>
            <a:off x="685800" y="5431536"/>
            <a:ext cx="3228746" cy="0"/>
          </a:xfrm>
          <a:prstGeom prst="line">
            <a:avLst/>
          </a:prstGeom>
          <a:ln w="12700">
            <a:solidFill>
              <a:srgbClr val="D9D9D9"/>
            </a:solidFill>
            <a:prstDash val="dash"/>
          </a:ln>
        </p:spPr>
      </p:cxnSp>
      <p:cxnSp>
        <p:nvCxnSpPr>
          <p:cNvPr id="13" name="Connector 12"/>
          <p:cNvCxnSpPr/>
          <p:nvPr/>
        </p:nvCxnSpPr>
        <p:spPr>
          <a:xfrm>
            <a:off x="685800" y="5861304"/>
            <a:ext cx="3228746" cy="0"/>
          </a:xfrm>
          <a:prstGeom prst="line">
            <a:avLst/>
          </a:prstGeom>
          <a:ln w="12700">
            <a:solidFill>
              <a:srgbClr val="D9D9D9"/>
            </a:solidFill>
            <a:prstDash val="dash"/>
          </a:ln>
        </p:spPr>
      </p:cxnSp>
      <p:sp>
        <p:nvSpPr>
          <p:cNvPr id="14" name="Rounded Rectangle 13"/>
          <p:cNvSpPr/>
          <p:nvPr/>
        </p:nvSpPr>
        <p:spPr>
          <a:xfrm>
            <a:off x="4298594" y="1216152"/>
            <a:ext cx="3594506" cy="566928"/>
          </a:xfrm>
          <a:prstGeom prst="roundRect">
            <a:avLst>
              <a:gd name="adj" fmla="val 15000"/>
            </a:avLst>
          </a:prstGeom>
          <a:solidFill>
            <a:srgbClr val="CC3333"/>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Afet esnası</a:t>
            </a:r>
          </a:p>
        </p:txBody>
      </p:sp>
      <p:sp>
        <p:nvSpPr>
          <p:cNvPr id="15" name="Rounded Rectangle 14"/>
          <p:cNvSpPr/>
          <p:nvPr/>
        </p:nvSpPr>
        <p:spPr>
          <a:xfrm>
            <a:off x="4298594" y="1901952"/>
            <a:ext cx="3594506" cy="14630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800" b="0" i="0">
                <a:solidFill>
                  <a:srgbClr val="767676"/>
                </a:solidFill>
                <a:latin typeface="Calibri"/>
              </a:rPr>
              <a:t>Baştaki işlerimiz (tahtada)</a:t>
            </a:r>
          </a:p>
        </p:txBody>
      </p:sp>
      <p:sp>
        <p:nvSpPr>
          <p:cNvPr id="16" name="TextBox 15"/>
          <p:cNvSpPr txBox="1"/>
          <p:nvPr/>
        </p:nvSpPr>
        <p:spPr>
          <a:xfrm>
            <a:off x="4298594" y="3502152"/>
            <a:ext cx="3594506" cy="54864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CC3333"/>
                </a:solidFill>
                <a:latin typeface="Calibri"/>
              </a:rPr>
              <a:t>↓  hangi aşama?</a:t>
            </a:r>
          </a:p>
        </p:txBody>
      </p:sp>
      <p:sp>
        <p:nvSpPr>
          <p:cNvPr id="17" name="Rounded Rectangle 16"/>
          <p:cNvSpPr/>
          <p:nvPr/>
        </p:nvSpPr>
        <p:spPr>
          <a:xfrm>
            <a:off x="4298594" y="4142232"/>
            <a:ext cx="3594506" cy="21488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8" name="Connector 17"/>
          <p:cNvCxnSpPr/>
          <p:nvPr/>
        </p:nvCxnSpPr>
        <p:spPr>
          <a:xfrm>
            <a:off x="4481474" y="4572000"/>
            <a:ext cx="3228746" cy="0"/>
          </a:xfrm>
          <a:prstGeom prst="line">
            <a:avLst/>
          </a:prstGeom>
          <a:ln w="12700">
            <a:solidFill>
              <a:srgbClr val="D9D9D9"/>
            </a:solidFill>
            <a:prstDash val="dash"/>
          </a:ln>
        </p:spPr>
      </p:cxnSp>
      <p:cxnSp>
        <p:nvCxnSpPr>
          <p:cNvPr id="19" name="Connector 18"/>
          <p:cNvCxnSpPr/>
          <p:nvPr/>
        </p:nvCxnSpPr>
        <p:spPr>
          <a:xfrm>
            <a:off x="4481474" y="5001768"/>
            <a:ext cx="3228746" cy="0"/>
          </a:xfrm>
          <a:prstGeom prst="line">
            <a:avLst/>
          </a:prstGeom>
          <a:ln w="12700">
            <a:solidFill>
              <a:srgbClr val="D9D9D9"/>
            </a:solidFill>
            <a:prstDash val="dash"/>
          </a:ln>
        </p:spPr>
      </p:cxnSp>
      <p:cxnSp>
        <p:nvCxnSpPr>
          <p:cNvPr id="20" name="Connector 19"/>
          <p:cNvCxnSpPr/>
          <p:nvPr/>
        </p:nvCxnSpPr>
        <p:spPr>
          <a:xfrm>
            <a:off x="4481474" y="5431536"/>
            <a:ext cx="3228746" cy="0"/>
          </a:xfrm>
          <a:prstGeom prst="line">
            <a:avLst/>
          </a:prstGeom>
          <a:ln w="12700">
            <a:solidFill>
              <a:srgbClr val="D9D9D9"/>
            </a:solidFill>
            <a:prstDash val="dash"/>
          </a:ln>
        </p:spPr>
      </p:cxnSp>
      <p:cxnSp>
        <p:nvCxnSpPr>
          <p:cNvPr id="21" name="Connector 20"/>
          <p:cNvCxnSpPr/>
          <p:nvPr/>
        </p:nvCxnSpPr>
        <p:spPr>
          <a:xfrm>
            <a:off x="4481474" y="5861304"/>
            <a:ext cx="3228746" cy="0"/>
          </a:xfrm>
          <a:prstGeom prst="line">
            <a:avLst/>
          </a:prstGeom>
          <a:ln w="12700">
            <a:solidFill>
              <a:srgbClr val="D9D9D9"/>
            </a:solidFill>
            <a:prstDash val="dash"/>
          </a:ln>
        </p:spPr>
      </p:cxnSp>
      <p:sp>
        <p:nvSpPr>
          <p:cNvPr id="22" name="Rounded Rectangle 21"/>
          <p:cNvSpPr/>
          <p:nvPr/>
        </p:nvSpPr>
        <p:spPr>
          <a:xfrm>
            <a:off x="8094268" y="1216152"/>
            <a:ext cx="3594506" cy="566928"/>
          </a:xfrm>
          <a:prstGeom prst="roundRect">
            <a:avLst>
              <a:gd name="adj" fmla="val 15000"/>
            </a:avLst>
          </a:prstGeom>
          <a:solidFill>
            <a:srgbClr val="55992E"/>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Afet sonrası</a:t>
            </a:r>
          </a:p>
        </p:txBody>
      </p:sp>
      <p:sp>
        <p:nvSpPr>
          <p:cNvPr id="23" name="Rounded Rectangle 22"/>
          <p:cNvSpPr/>
          <p:nvPr/>
        </p:nvSpPr>
        <p:spPr>
          <a:xfrm>
            <a:off x="8094268" y="1901952"/>
            <a:ext cx="3594506" cy="14630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800" b="0" i="0">
                <a:solidFill>
                  <a:srgbClr val="767676"/>
                </a:solidFill>
                <a:latin typeface="Calibri"/>
              </a:rPr>
              <a:t>Baştaki işlerimiz (tahtada)</a:t>
            </a:r>
          </a:p>
        </p:txBody>
      </p:sp>
      <p:sp>
        <p:nvSpPr>
          <p:cNvPr id="24" name="TextBox 23"/>
          <p:cNvSpPr txBox="1"/>
          <p:nvPr/>
        </p:nvSpPr>
        <p:spPr>
          <a:xfrm>
            <a:off x="8094268" y="3502152"/>
            <a:ext cx="3594506" cy="54864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55992E"/>
                </a:solidFill>
                <a:latin typeface="Calibri"/>
              </a:rPr>
              <a:t>↓  hangi aşama?</a:t>
            </a:r>
          </a:p>
        </p:txBody>
      </p:sp>
      <p:sp>
        <p:nvSpPr>
          <p:cNvPr id="25" name="Rounded Rectangle 24"/>
          <p:cNvSpPr/>
          <p:nvPr/>
        </p:nvSpPr>
        <p:spPr>
          <a:xfrm>
            <a:off x="8094268" y="4142232"/>
            <a:ext cx="3594506" cy="21488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6" name="Connector 25"/>
          <p:cNvCxnSpPr/>
          <p:nvPr/>
        </p:nvCxnSpPr>
        <p:spPr>
          <a:xfrm>
            <a:off x="8277148" y="4572000"/>
            <a:ext cx="3228746" cy="0"/>
          </a:xfrm>
          <a:prstGeom prst="line">
            <a:avLst/>
          </a:prstGeom>
          <a:ln w="12700">
            <a:solidFill>
              <a:srgbClr val="D9D9D9"/>
            </a:solidFill>
            <a:prstDash val="dash"/>
          </a:ln>
        </p:spPr>
      </p:cxnSp>
      <p:cxnSp>
        <p:nvCxnSpPr>
          <p:cNvPr id="27" name="Connector 26"/>
          <p:cNvCxnSpPr/>
          <p:nvPr/>
        </p:nvCxnSpPr>
        <p:spPr>
          <a:xfrm>
            <a:off x="8277148" y="5001768"/>
            <a:ext cx="3228746" cy="0"/>
          </a:xfrm>
          <a:prstGeom prst="line">
            <a:avLst/>
          </a:prstGeom>
          <a:ln w="12700">
            <a:solidFill>
              <a:srgbClr val="D9D9D9"/>
            </a:solidFill>
            <a:prstDash val="dash"/>
          </a:ln>
        </p:spPr>
      </p:cxnSp>
      <p:cxnSp>
        <p:nvCxnSpPr>
          <p:cNvPr id="28" name="Connector 27"/>
          <p:cNvCxnSpPr/>
          <p:nvPr/>
        </p:nvCxnSpPr>
        <p:spPr>
          <a:xfrm>
            <a:off x="8277148" y="5431536"/>
            <a:ext cx="3228746" cy="0"/>
          </a:xfrm>
          <a:prstGeom prst="line">
            <a:avLst/>
          </a:prstGeom>
          <a:ln w="12700">
            <a:solidFill>
              <a:srgbClr val="D9D9D9"/>
            </a:solidFill>
            <a:prstDash val="dash"/>
          </a:ln>
        </p:spPr>
      </p:cxnSp>
      <p:cxnSp>
        <p:nvCxnSpPr>
          <p:cNvPr id="29" name="Connector 28"/>
          <p:cNvCxnSpPr/>
          <p:nvPr/>
        </p:nvCxnSpPr>
        <p:spPr>
          <a:xfrm>
            <a:off x="8277148" y="5861304"/>
            <a:ext cx="3228746" cy="0"/>
          </a:xfrm>
          <a:prstGeom prst="line">
            <a:avLst/>
          </a:prstGeom>
          <a:ln w="12700">
            <a:solidFill>
              <a:srgbClr val="D9D9D9"/>
            </a:solidFill>
            <a:prstDash val="dash"/>
          </a:ln>
        </p:spPr>
      </p:cxn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138 / 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950" b="1" i="0">
                <a:solidFill>
                  <a:srgbClr val="FFFFFF"/>
                </a:solidFill>
                <a:latin typeface="Calibri"/>
              </a:rPr>
              <a:t>Baştaki üç sütun döngünün neresinde?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594506" cy="566928"/>
          </a:xfrm>
          <a:prstGeom prst="roundRect">
            <a:avLst>
              <a:gd name="adj" fmla="val 15000"/>
            </a:avLst>
          </a:prstGeom>
          <a:solidFill>
            <a:srgbClr val="1F86BF"/>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Afet öncesi</a:t>
            </a:r>
          </a:p>
        </p:txBody>
      </p:sp>
      <p:sp>
        <p:nvSpPr>
          <p:cNvPr id="7" name="Rounded Rectangle 6"/>
          <p:cNvSpPr/>
          <p:nvPr/>
        </p:nvSpPr>
        <p:spPr>
          <a:xfrm>
            <a:off x="502920" y="1901952"/>
            <a:ext cx="3594506" cy="2139696"/>
          </a:xfrm>
          <a:prstGeom prst="roundRect">
            <a:avLst>
              <a:gd name="adj" fmla="val 8000"/>
            </a:avLst>
          </a:prstGeom>
          <a:solidFill>
            <a:srgbClr val="FFFFFF"/>
          </a:solidFill>
          <a:ln w="25400">
            <a:solidFill>
              <a:srgbClr val="1F86BF"/>
            </a:solidFill>
          </a:ln>
          <a:effectLst/>
        </p:spPr>
        <p:txBody>
          <a:bodyPr rtlCol="0" anchor="ctr"/>
          <a:lstStyle/>
          <a:p/>
        </p:txBody>
      </p:sp>
      <p:sp>
        <p:nvSpPr>
          <p:cNvPr id="8" name="Rounded Rectangle 7"/>
          <p:cNvSpPr/>
          <p:nvPr/>
        </p:nvSpPr>
        <p:spPr>
          <a:xfrm>
            <a:off x="612648" y="2011680"/>
            <a:ext cx="3375050" cy="457200"/>
          </a:xfrm>
          <a:prstGeom prst="roundRect">
            <a:avLst>
              <a:gd name="adj" fmla="val 30000"/>
            </a:avLst>
          </a:prstGeom>
          <a:solidFill>
            <a:srgbClr val="1F86B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1 · Risk ve zarar azaltma</a:t>
            </a:r>
          </a:p>
        </p:txBody>
      </p:sp>
      <p:sp>
        <p:nvSpPr>
          <p:cNvPr id="9" name="TextBox 8"/>
          <p:cNvSpPr txBox="1"/>
          <p:nvPr/>
        </p:nvSpPr>
        <p:spPr>
          <a:xfrm>
            <a:off x="640080" y="2542032"/>
            <a:ext cx="3320186" cy="1408176"/>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sağlam bina, denetim</a:t>
            </a:r>
          </a:p>
        </p:txBody>
      </p:sp>
      <p:sp>
        <p:nvSpPr>
          <p:cNvPr id="10" name="Rounded Rectangle 9"/>
          <p:cNvSpPr/>
          <p:nvPr/>
        </p:nvSpPr>
        <p:spPr>
          <a:xfrm>
            <a:off x="502920" y="4151376"/>
            <a:ext cx="3594506" cy="2139696"/>
          </a:xfrm>
          <a:prstGeom prst="roundRect">
            <a:avLst>
              <a:gd name="adj" fmla="val 8000"/>
            </a:avLst>
          </a:prstGeom>
          <a:solidFill>
            <a:srgbClr val="FFFFFF"/>
          </a:solidFill>
          <a:ln w="25400">
            <a:solidFill>
              <a:srgbClr val="D97316"/>
            </a:solidFill>
          </a:ln>
          <a:effectLst/>
        </p:spPr>
        <p:txBody>
          <a:bodyPr rtlCol="0" anchor="ctr"/>
          <a:lstStyle/>
          <a:p/>
        </p:txBody>
      </p:sp>
      <p:sp>
        <p:nvSpPr>
          <p:cNvPr id="11" name="Rounded Rectangle 10"/>
          <p:cNvSpPr/>
          <p:nvPr/>
        </p:nvSpPr>
        <p:spPr>
          <a:xfrm>
            <a:off x="612648" y="4261104"/>
            <a:ext cx="3375050" cy="457200"/>
          </a:xfrm>
          <a:prstGeom prst="roundRect">
            <a:avLst>
              <a:gd name="adj" fmla="val 30000"/>
            </a:avLst>
          </a:prstGeom>
          <a:solidFill>
            <a:srgbClr val="D97316"/>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2 · Hazırlıklı olma</a:t>
            </a:r>
          </a:p>
        </p:txBody>
      </p:sp>
      <p:sp>
        <p:nvSpPr>
          <p:cNvPr id="12" name="TextBox 11"/>
          <p:cNvSpPr txBox="1"/>
          <p:nvPr/>
        </p:nvSpPr>
        <p:spPr>
          <a:xfrm>
            <a:off x="640080" y="4791456"/>
            <a:ext cx="3320186" cy="1408176"/>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aile afet planı, çanta, tatbikat, erken uyarı</a:t>
            </a:r>
          </a:p>
        </p:txBody>
      </p:sp>
      <p:sp>
        <p:nvSpPr>
          <p:cNvPr id="13" name="Rounded Rectangle 12"/>
          <p:cNvSpPr/>
          <p:nvPr/>
        </p:nvSpPr>
        <p:spPr>
          <a:xfrm>
            <a:off x="4298594" y="1216152"/>
            <a:ext cx="3594506" cy="566928"/>
          </a:xfrm>
          <a:prstGeom prst="roundRect">
            <a:avLst>
              <a:gd name="adj" fmla="val 15000"/>
            </a:avLst>
          </a:prstGeom>
          <a:solidFill>
            <a:srgbClr val="CC3333"/>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Afet esnası</a:t>
            </a:r>
          </a:p>
        </p:txBody>
      </p:sp>
      <p:sp>
        <p:nvSpPr>
          <p:cNvPr id="14" name="Rounded Rectangle 13"/>
          <p:cNvSpPr/>
          <p:nvPr/>
        </p:nvSpPr>
        <p:spPr>
          <a:xfrm>
            <a:off x="4298594" y="1901952"/>
            <a:ext cx="3594506" cy="4389120"/>
          </a:xfrm>
          <a:prstGeom prst="roundRect">
            <a:avLst>
              <a:gd name="adj" fmla="val 8000"/>
            </a:avLst>
          </a:prstGeom>
          <a:solidFill>
            <a:srgbClr val="FFFFFF"/>
          </a:solidFill>
          <a:ln w="25400">
            <a:solidFill>
              <a:srgbClr val="CC3333"/>
            </a:solidFill>
          </a:ln>
          <a:effectLst/>
        </p:spPr>
        <p:txBody>
          <a:bodyPr rtlCol="0" anchor="ctr"/>
          <a:lstStyle/>
          <a:p/>
        </p:txBody>
      </p:sp>
      <p:sp>
        <p:nvSpPr>
          <p:cNvPr id="15" name="Rounded Rectangle 14"/>
          <p:cNvSpPr/>
          <p:nvPr/>
        </p:nvSpPr>
        <p:spPr>
          <a:xfrm>
            <a:off x="4408322" y="2011680"/>
            <a:ext cx="3375050" cy="457200"/>
          </a:xfrm>
          <a:prstGeom prst="roundRect">
            <a:avLst>
              <a:gd name="adj" fmla="val 30000"/>
            </a:avLst>
          </a:prstGeom>
          <a:solidFill>
            <a:srgbClr val="CC3333"/>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3 · Müdahale</a:t>
            </a:r>
          </a:p>
        </p:txBody>
      </p:sp>
      <p:sp>
        <p:nvSpPr>
          <p:cNvPr id="16" name="TextBox 15"/>
          <p:cNvSpPr txBox="1"/>
          <p:nvPr/>
        </p:nvSpPr>
        <p:spPr>
          <a:xfrm>
            <a:off x="4435754" y="2542032"/>
            <a:ext cx="3320186" cy="3657600"/>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güvenli yere geçmek, arama kurtarma, ilk yardım, güvenilir bilgi</a:t>
            </a:r>
          </a:p>
        </p:txBody>
      </p:sp>
      <p:sp>
        <p:nvSpPr>
          <p:cNvPr id="17" name="Rounded Rectangle 16"/>
          <p:cNvSpPr/>
          <p:nvPr/>
        </p:nvSpPr>
        <p:spPr>
          <a:xfrm>
            <a:off x="8094268" y="1216152"/>
            <a:ext cx="3594506" cy="566928"/>
          </a:xfrm>
          <a:prstGeom prst="roundRect">
            <a:avLst>
              <a:gd name="adj" fmla="val 15000"/>
            </a:avLst>
          </a:prstGeom>
          <a:solidFill>
            <a:srgbClr val="55992E"/>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Afet sonrası</a:t>
            </a:r>
          </a:p>
        </p:txBody>
      </p:sp>
      <p:sp>
        <p:nvSpPr>
          <p:cNvPr id="18" name="Rounded Rectangle 17"/>
          <p:cNvSpPr/>
          <p:nvPr/>
        </p:nvSpPr>
        <p:spPr>
          <a:xfrm>
            <a:off x="8094268" y="1901952"/>
            <a:ext cx="3594506" cy="2139696"/>
          </a:xfrm>
          <a:prstGeom prst="roundRect">
            <a:avLst>
              <a:gd name="adj" fmla="val 8000"/>
            </a:avLst>
          </a:prstGeom>
          <a:solidFill>
            <a:srgbClr val="FFFFFF"/>
          </a:solidFill>
          <a:ln w="25400">
            <a:solidFill>
              <a:srgbClr val="CC3333"/>
            </a:solidFill>
          </a:ln>
          <a:effectLst/>
        </p:spPr>
        <p:txBody>
          <a:bodyPr rtlCol="0" anchor="ctr"/>
          <a:lstStyle/>
          <a:p/>
        </p:txBody>
      </p:sp>
      <p:sp>
        <p:nvSpPr>
          <p:cNvPr id="19" name="Rounded Rectangle 18"/>
          <p:cNvSpPr/>
          <p:nvPr/>
        </p:nvSpPr>
        <p:spPr>
          <a:xfrm>
            <a:off x="8203996" y="2011680"/>
            <a:ext cx="3375050" cy="457200"/>
          </a:xfrm>
          <a:prstGeom prst="roundRect">
            <a:avLst>
              <a:gd name="adj" fmla="val 30000"/>
            </a:avLst>
          </a:prstGeom>
          <a:solidFill>
            <a:srgbClr val="CC3333"/>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3 · Müdahale</a:t>
            </a:r>
          </a:p>
        </p:txBody>
      </p:sp>
      <p:sp>
        <p:nvSpPr>
          <p:cNvPr id="20" name="TextBox 19"/>
          <p:cNvSpPr txBox="1"/>
          <p:nvPr/>
        </p:nvSpPr>
        <p:spPr>
          <a:xfrm>
            <a:off x="8231428" y="2542032"/>
            <a:ext cx="3320186" cy="1408176"/>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barınma, yiyecek, ilaç; hasar tespiti, enkaz</a:t>
            </a:r>
          </a:p>
        </p:txBody>
      </p:sp>
      <p:sp>
        <p:nvSpPr>
          <p:cNvPr id="21" name="Rounded Rectangle 20"/>
          <p:cNvSpPr/>
          <p:nvPr/>
        </p:nvSpPr>
        <p:spPr>
          <a:xfrm>
            <a:off x="8094268" y="4151376"/>
            <a:ext cx="3594506" cy="2139696"/>
          </a:xfrm>
          <a:prstGeom prst="roundRect">
            <a:avLst>
              <a:gd name="adj" fmla="val 8000"/>
            </a:avLst>
          </a:prstGeom>
          <a:solidFill>
            <a:srgbClr val="FFFFFF"/>
          </a:solidFill>
          <a:ln w="25400">
            <a:solidFill>
              <a:srgbClr val="55992E"/>
            </a:solidFill>
          </a:ln>
          <a:effectLst/>
        </p:spPr>
        <p:txBody>
          <a:bodyPr rtlCol="0" anchor="ctr"/>
          <a:lstStyle/>
          <a:p/>
        </p:txBody>
      </p:sp>
      <p:sp>
        <p:nvSpPr>
          <p:cNvPr id="22" name="Rounded Rectangle 21"/>
          <p:cNvSpPr/>
          <p:nvPr/>
        </p:nvSpPr>
        <p:spPr>
          <a:xfrm>
            <a:off x="8203996" y="4261104"/>
            <a:ext cx="3375050" cy="457200"/>
          </a:xfrm>
          <a:prstGeom prst="roundRect">
            <a:avLst>
              <a:gd name="adj" fmla="val 30000"/>
            </a:avLst>
          </a:prstGeom>
          <a:solidFill>
            <a:srgbClr val="55992E"/>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4 · İyileştirme</a:t>
            </a:r>
          </a:p>
        </p:txBody>
      </p:sp>
      <p:sp>
        <p:nvSpPr>
          <p:cNvPr id="23" name="TextBox 22"/>
          <p:cNvSpPr txBox="1"/>
          <p:nvPr/>
        </p:nvSpPr>
        <p:spPr>
          <a:xfrm>
            <a:off x="8231428" y="4791456"/>
            <a:ext cx="3320186" cy="1408176"/>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psikolojik destek; okulları, evleri yeniden yapmak</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139 / 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9</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bütüncül afet yönetiminin aşamaları için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Her zaman sırayla birbirini takip eder.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Genellikle iç içedir.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afet sonrasında uygulanır.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Birbirinden bağımsızdır.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tek bir afet türü için uygulanır.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140 / 250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9</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bütüncül afet yönetiminin aşamaları için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Her zaman sırayla birbirini takip eder.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Genellikle iç içedir.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afet sonrasında uygulanır.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Birbirinden bağımsızdır.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tek bir afet türü için uygulanır.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Aşamalar, her zaman birbirini takip etmek zorunda olmayıp genellikle iç içedir.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141 / 250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10</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İyileştirme çalışmalarından elde edilen tecrübe ve bilgilerle hangi evrelere geçilmelidir?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Müdahale ile iyileştirme</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Risk ve zarar azaltma ile hazırlıklı olma</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Hazırlıklı olma ile müdahale</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müdahale</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iyileştirme</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142 / 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10</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İyileştirme çalışmalarından elde edilen tecrübe ve bilgilerle hangi evrelere geçilmelidir?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Müdahale ile iyileştirme</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Risk ve zarar azaltma ile hazırlıklı olma</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Hazırlıklı olma ile müdahale</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müdahale</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iyileştirme</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Kitap: tecrübe ve bilgiler bağlamında başa dönülerek afet öncesi risk ve zarar azaltma ile hazırlıklı olma evrelerine geçilmelidir (s. 203).</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143 / 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görevlerimiz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1E7B6E"/>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1E7B6E"/>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1E7B6E"/>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1E7B6E"/>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1E7B6E"/>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1E7B6E"/>
                </a:solidFill>
                <a:latin typeface="Calibri"/>
              </a:rPr>
              <a:t>12 ifade kartıyla bütüncül afet yönetimi şemasını kuruyoruz (s. 208)</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144 / 250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Bütüncül Afet Yönetimi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s. 208</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Bütüncül afet yönetimine ait coğrafi temsil oluşturabilme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Tablo, Grafik, Şekil ve/veya Diyagram Okuma ve Yorumlama; İletişim, Görsel Okuryazarlık</a:t>
            </a:r>
          </a:p>
        </p:txBody>
      </p:sp>
      <p:sp>
        <p:nvSpPr>
          <p:cNvPr id="11" name="Rounded Rectangle 10"/>
          <p:cNvSpPr/>
          <p:nvPr/>
        </p:nvSpPr>
        <p:spPr>
          <a:xfrm>
            <a:off x="502920" y="2286000"/>
            <a:ext cx="11185855" cy="566928"/>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2000" b="1" i="0">
                <a:solidFill>
                  <a:srgbClr val="262626"/>
                </a:solidFill>
                <a:latin typeface="Calibri"/>
              </a:rPr>
              <a:t>Yönerge:</a:t>
            </a:r>
            <a:r>
              <a:rPr lang="tr-TR" sz="2000" b="0" i="0">
                <a:solidFill>
                  <a:srgbClr val="262626"/>
                </a:solidFill>
                <a:latin typeface="Calibri"/>
              </a:rPr>
              <a:t> Aşağıda verilen ifadeleri kullanarak bütüncül afet yönetimi şemasını oluşturunuz.</a:t>
            </a:r>
          </a:p>
        </p:txBody>
      </p:sp>
      <p:sp>
        <p:nvSpPr>
          <p:cNvPr id="12" name="Rounded Rectangle 11"/>
          <p:cNvSpPr/>
          <p:nvPr/>
        </p:nvSpPr>
        <p:spPr>
          <a:xfrm>
            <a:off x="502920" y="2999232"/>
            <a:ext cx="11185855" cy="1011936"/>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2999232"/>
            <a:ext cx="1600200" cy="1011936"/>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ADIM</a:t>
            </a:r>
          </a:p>
        </p:txBody>
      </p:sp>
      <p:sp>
        <p:nvSpPr>
          <p:cNvPr id="14" name="TextBox 13"/>
          <p:cNvSpPr txBox="1"/>
          <p:nvPr/>
        </p:nvSpPr>
        <p:spPr>
          <a:xfrm>
            <a:off x="2240280" y="2999232"/>
            <a:ext cx="8122615" cy="101193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Aşağıdaki şekil üzerine ve rakamlarla belirtilen noktalı yerlere bütüncül afet yönetiminin aşamalarını yazınız.</a:t>
            </a:r>
          </a:p>
        </p:txBody>
      </p:sp>
      <p:sp>
        <p:nvSpPr>
          <p:cNvPr id="15" name="Rounded Rectangle 14"/>
          <p:cNvSpPr/>
          <p:nvPr/>
        </p:nvSpPr>
        <p:spPr>
          <a:xfrm>
            <a:off x="10545775" y="323088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2 dk</a:t>
            </a:r>
          </a:p>
        </p:txBody>
      </p:sp>
      <p:sp>
        <p:nvSpPr>
          <p:cNvPr id="16" name="Rounded Rectangle 15"/>
          <p:cNvSpPr/>
          <p:nvPr/>
        </p:nvSpPr>
        <p:spPr>
          <a:xfrm>
            <a:off x="502920" y="4139184"/>
            <a:ext cx="11185855" cy="1011936"/>
          </a:xfrm>
          <a:prstGeom prst="roundRect">
            <a:avLst>
              <a:gd name="adj" fmla="val 8000"/>
            </a:avLst>
          </a:prstGeom>
          <a:solidFill>
            <a:srgbClr val="F0F0F0"/>
          </a:solidFill>
          <a:ln>
            <a:noFill/>
          </a:ln>
          <a:effectLst/>
        </p:spPr>
        <p:txBody>
          <a:bodyPr rtlCol="0" anchor="ctr"/>
          <a:lstStyle/>
          <a:p/>
        </p:txBody>
      </p:sp>
      <p:sp>
        <p:nvSpPr>
          <p:cNvPr id="17" name="Rounded Rectangle 16"/>
          <p:cNvSpPr/>
          <p:nvPr/>
        </p:nvSpPr>
        <p:spPr>
          <a:xfrm>
            <a:off x="502920" y="4139184"/>
            <a:ext cx="1600200" cy="1011936"/>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ADIM</a:t>
            </a:r>
          </a:p>
        </p:txBody>
      </p:sp>
      <p:sp>
        <p:nvSpPr>
          <p:cNvPr id="18" name="TextBox 17"/>
          <p:cNvSpPr txBox="1"/>
          <p:nvPr/>
        </p:nvSpPr>
        <p:spPr>
          <a:xfrm>
            <a:off x="2240280" y="4139184"/>
            <a:ext cx="8122615" cy="101193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Yazdığınız aşamaların altına yukarıdaki ifadelerden uygun olanları ekleyiniz.</a:t>
            </a:r>
          </a:p>
        </p:txBody>
      </p:sp>
      <p:sp>
        <p:nvSpPr>
          <p:cNvPr id="19" name="Rounded Rectangle 18"/>
          <p:cNvSpPr/>
          <p:nvPr/>
        </p:nvSpPr>
        <p:spPr>
          <a:xfrm>
            <a:off x="10545775" y="4370832"/>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8 dk</a:t>
            </a:r>
          </a:p>
        </p:txBody>
      </p:sp>
      <p:sp>
        <p:nvSpPr>
          <p:cNvPr id="20" name="Rounded Rectangle 19"/>
          <p:cNvSpPr/>
          <p:nvPr/>
        </p:nvSpPr>
        <p:spPr>
          <a:xfrm>
            <a:off x="502920" y="5279136"/>
            <a:ext cx="11185855" cy="1011936"/>
          </a:xfrm>
          <a:prstGeom prst="roundRect">
            <a:avLst>
              <a:gd name="adj" fmla="val 8000"/>
            </a:avLst>
          </a:prstGeom>
          <a:solidFill>
            <a:srgbClr val="F0F0F0"/>
          </a:solidFill>
          <a:ln>
            <a:noFill/>
          </a:ln>
          <a:effectLst/>
        </p:spPr>
        <p:txBody>
          <a:bodyPr rtlCol="0" anchor="ctr"/>
          <a:lstStyle/>
          <a:p/>
        </p:txBody>
      </p:sp>
      <p:sp>
        <p:nvSpPr>
          <p:cNvPr id="21" name="Rounded Rectangle 20"/>
          <p:cNvSpPr/>
          <p:nvPr/>
        </p:nvSpPr>
        <p:spPr>
          <a:xfrm>
            <a:off x="502920" y="5279136"/>
            <a:ext cx="1600200" cy="1011936"/>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SORU</a:t>
            </a:r>
          </a:p>
        </p:txBody>
      </p:sp>
      <p:sp>
        <p:nvSpPr>
          <p:cNvPr id="22" name="TextBox 21"/>
          <p:cNvSpPr txBox="1"/>
          <p:nvPr/>
        </p:nvSpPr>
        <p:spPr>
          <a:xfrm>
            <a:off x="2240280" y="5279136"/>
            <a:ext cx="8122615" cy="101193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Bütüncül afet yönetiminin aşamaları arasında nasıl bir ilişki vardır? Düşüncelerinizi arkadaşlarınızla paylaşınız.</a:t>
            </a:r>
          </a:p>
        </p:txBody>
      </p:sp>
      <p:sp>
        <p:nvSpPr>
          <p:cNvPr id="23" name="Rounded Rectangle 22"/>
          <p:cNvSpPr/>
          <p:nvPr/>
        </p:nvSpPr>
        <p:spPr>
          <a:xfrm>
            <a:off x="10545775" y="551078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sözcü</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208</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145 / 250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aşamaların adları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ADIM · 2 dk</a:t>
            </a:r>
          </a:p>
        </p:txBody>
      </p:sp>
      <p:pic>
        <p:nvPicPr>
          <p:cNvPr id="6" name="Picture 5" descr="h32_s208_sema.jpg"/>
          <p:cNvPicPr>
            <a:picLocks noChangeAspect="1"/>
          </p:cNvPicPr>
          <p:nvPr/>
        </p:nvPicPr>
        <p:blipFill>
          <a:blip r:embed="rId3"/>
          <a:stretch>
            <a:fillRect/>
          </a:stretch>
        </p:blipFill>
        <p:spPr>
          <a:xfrm>
            <a:off x="502920" y="1216152"/>
            <a:ext cx="7315200" cy="4654344"/>
          </a:xfrm>
          <a:prstGeom prst="rect">
            <a:avLst/>
          </a:prstGeom>
          <a:ln w="9525">
            <a:solidFill>
              <a:srgbClr val="D9D9D9"/>
            </a:solidFill>
          </a:ln>
        </p:spPr>
      </p:pic>
      <p:sp>
        <p:nvSpPr>
          <p:cNvPr id="7" name="TextBox 6"/>
          <p:cNvSpPr txBox="1"/>
          <p:nvPr/>
        </p:nvSpPr>
        <p:spPr>
          <a:xfrm>
            <a:off x="502920" y="5888784"/>
            <a:ext cx="73152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Görsel: Ders kitabı s. 208 (etkinlik şeması)</a:t>
            </a:r>
          </a:p>
        </p:txBody>
      </p:sp>
      <p:sp>
        <p:nvSpPr>
          <p:cNvPr id="8" name="Rounded Rectangle 7"/>
          <p:cNvSpPr/>
          <p:nvPr/>
        </p:nvSpPr>
        <p:spPr>
          <a:xfrm>
            <a:off x="8046720" y="1216152"/>
            <a:ext cx="3642055" cy="23774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400"/>
              </a:spcAft>
            </a:pPr>
            <a:r>
              <a:rPr lang="tr-TR" sz="2000" b="1" i="0">
                <a:solidFill>
                  <a:srgbClr val="1E7B6E"/>
                </a:solidFill>
                <a:latin typeface="Calibri"/>
              </a:rPr>
              <a:t>1. adım</a:t>
            </a:r>
          </a:p>
          <a:p>
            <a:pPr algn="l">
              <a:spcBef>
                <a:spcPts val="0"/>
              </a:spcBef>
              <a:spcAft>
                <a:spcPts val="0"/>
              </a:spcAft>
            </a:pPr>
            <a:r>
              <a:rPr lang="tr-TR" sz="2000" b="0" i="0">
                <a:solidFill>
                  <a:srgbClr val="262626"/>
                </a:solidFill>
                <a:latin typeface="Calibri"/>
              </a:rPr>
              <a:t>Aşağıdaki şekil üzerine ve rakamlarla belirtilen noktalı yerlere bütüncül afet yönetiminin aşamalarını yazınız.</a:t>
            </a:r>
          </a:p>
        </p:txBody>
      </p:sp>
      <p:sp>
        <p:nvSpPr>
          <p:cNvPr id="9" name="Rounded Rectangle 8"/>
          <p:cNvSpPr/>
          <p:nvPr/>
        </p:nvSpPr>
        <p:spPr>
          <a:xfrm>
            <a:off x="8046720" y="3730752"/>
            <a:ext cx="3642055" cy="1600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400"/>
              </a:spcAft>
            </a:pPr>
            <a:r>
              <a:rPr lang="tr-TR" sz="1900" b="1" i="0">
                <a:solidFill>
                  <a:srgbClr val="1E7B6E"/>
                </a:solidFill>
                <a:latin typeface="Calibri"/>
              </a:rPr>
              <a:t>İpucu</a:t>
            </a:r>
          </a:p>
          <a:p>
            <a:pPr algn="l">
              <a:spcBef>
                <a:spcPts val="0"/>
              </a:spcBef>
              <a:spcAft>
                <a:spcPts val="0"/>
              </a:spcAft>
            </a:pPr>
            <a:r>
              <a:rPr lang="tr-TR" sz="1900" b="0" i="0">
                <a:solidFill>
                  <a:srgbClr val="262626"/>
                </a:solidFill>
                <a:latin typeface="Calibri"/>
              </a:rPr>
              <a:t>AFET'in yerine bak: ondan önceki iki yer afet öncesidir.</a:t>
            </a:r>
          </a:p>
        </p:txBody>
      </p:sp>
      <p:sp>
        <p:nvSpPr>
          <p:cNvPr id="10" name="Rounded Rectangle 9"/>
          <p:cNvSpPr/>
          <p:nvPr/>
        </p:nvSpPr>
        <p:spPr>
          <a:xfrm>
            <a:off x="8046720" y="5468112"/>
            <a:ext cx="3642055" cy="777240"/>
          </a:xfrm>
          <a:prstGeom prst="roundRect">
            <a:avLst>
              <a:gd name="adj" fmla="val 8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700" b="0" i="0">
                <a:solidFill>
                  <a:srgbClr val="262626"/>
                </a:solidFill>
                <a:latin typeface="Calibri"/>
              </a:rPr>
              <a:t>Renk değil, sıra önemli: oklar saat yönünde.</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208</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146 / 250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2_s208_halka.jpg"/>
          <p:cNvPicPr>
            <a:picLocks noChangeAspect="1"/>
          </p:cNvPicPr>
          <p:nvPr/>
        </p:nvPicPr>
        <p:blipFill>
          <a:blip r:embed="rId3"/>
          <a:stretch>
            <a:fillRect/>
          </a:stretch>
        </p:blipFill>
        <p:spPr>
          <a:xfrm>
            <a:off x="4752790" y="2382012"/>
            <a:ext cx="2686114" cy="2697480"/>
          </a:xfrm>
          <a:prstGeom prst="rect">
            <a:avLst/>
          </a:prstGeom>
        </p:spPr>
      </p:pic>
      <p:sp>
        <p:nvSpPr>
          <p:cNvPr id="7" name="Rounded Rectangle 6"/>
          <p:cNvSpPr/>
          <p:nvPr/>
        </p:nvSpPr>
        <p:spPr>
          <a:xfrm>
            <a:off x="502920" y="1197864"/>
            <a:ext cx="4224528" cy="2432304"/>
          </a:xfrm>
          <a:prstGeom prst="roundRect">
            <a:avLst>
              <a:gd name="adj" fmla="val 6000"/>
            </a:avLst>
          </a:prstGeom>
          <a:solidFill>
            <a:srgbClr val="FFFFFF"/>
          </a:solidFill>
          <a:ln w="15875">
            <a:solidFill>
              <a:srgbClr val="F5823F"/>
            </a:solidFill>
            <a:prstDash val="dash"/>
          </a:ln>
          <a:effectLst/>
        </p:spPr>
        <p:txBody>
          <a:bodyPr rtlCol="0" anchor="ctr"/>
          <a:lstStyle/>
          <a:p/>
        </p:txBody>
      </p:sp>
      <p:sp>
        <p:nvSpPr>
          <p:cNvPr id="8" name="Rounded Rectangle 7"/>
          <p:cNvSpPr/>
          <p:nvPr/>
        </p:nvSpPr>
        <p:spPr>
          <a:xfrm>
            <a:off x="502920" y="1197864"/>
            <a:ext cx="4224528" cy="475488"/>
          </a:xfrm>
          <a:prstGeom prst="roundRect">
            <a:avLst>
              <a:gd name="adj" fmla="val 30000"/>
            </a:avLst>
          </a:prstGeom>
          <a:solidFill>
            <a:srgbClr val="F5823F"/>
          </a:solidFill>
          <a:ln>
            <a:noFill/>
          </a:ln>
          <a:effectLst/>
        </p:spPr>
        <p:txBody>
          <a:bodyPr rtlCol="0" anchor="ctr"/>
          <a:lstStyle/>
          <a:p/>
        </p:txBody>
      </p:sp>
      <p:sp>
        <p:nvSpPr>
          <p:cNvPr id="9" name="Rectangle 8"/>
          <p:cNvSpPr/>
          <p:nvPr/>
        </p:nvSpPr>
        <p:spPr>
          <a:xfrm>
            <a:off x="502920" y="1435608"/>
            <a:ext cx="4224528" cy="237744"/>
          </a:xfrm>
          <a:prstGeom prst="rect">
            <a:avLst/>
          </a:prstGeom>
          <a:solidFill>
            <a:srgbClr val="F5823F"/>
          </a:solidFill>
          <a:ln>
            <a:noFill/>
          </a:ln>
          <a:effectLst/>
        </p:spPr>
        <p:txBody>
          <a:bodyPr rtlCol="0" anchor="ctr"/>
          <a:lstStyle/>
          <a:p/>
        </p:txBody>
      </p:sp>
      <p:sp>
        <p:nvSpPr>
          <p:cNvPr id="10" name="TextBox 9"/>
          <p:cNvSpPr txBox="1"/>
          <p:nvPr/>
        </p:nvSpPr>
        <p:spPr>
          <a:xfrm>
            <a:off x="640080" y="119786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1. Risk ve zarar azaltma</a:t>
            </a:r>
          </a:p>
        </p:txBody>
      </p:sp>
      <p:cxnSp>
        <p:nvCxnSpPr>
          <p:cNvPr id="11" name="Connector 10"/>
          <p:cNvCxnSpPr/>
          <p:nvPr/>
        </p:nvCxnSpPr>
        <p:spPr>
          <a:xfrm>
            <a:off x="731520" y="2036064"/>
            <a:ext cx="3767328" cy="0"/>
          </a:xfrm>
          <a:prstGeom prst="line">
            <a:avLst/>
          </a:prstGeom>
          <a:ln w="12700">
            <a:solidFill>
              <a:srgbClr val="F5823F"/>
            </a:solidFill>
            <a:prstDash val="dash"/>
          </a:ln>
        </p:spPr>
      </p:cxnSp>
      <p:cxnSp>
        <p:nvCxnSpPr>
          <p:cNvPr id="12" name="Connector 11"/>
          <p:cNvCxnSpPr/>
          <p:nvPr/>
        </p:nvCxnSpPr>
        <p:spPr>
          <a:xfrm>
            <a:off x="731520" y="2343912"/>
            <a:ext cx="3767328" cy="0"/>
          </a:xfrm>
          <a:prstGeom prst="line">
            <a:avLst/>
          </a:prstGeom>
          <a:ln w="12700">
            <a:solidFill>
              <a:srgbClr val="F5823F"/>
            </a:solidFill>
            <a:prstDash val="dash"/>
          </a:ln>
        </p:spPr>
      </p:cxnSp>
      <p:cxnSp>
        <p:nvCxnSpPr>
          <p:cNvPr id="13" name="Connector 12"/>
          <p:cNvCxnSpPr/>
          <p:nvPr/>
        </p:nvCxnSpPr>
        <p:spPr>
          <a:xfrm>
            <a:off x="731520" y="2651760"/>
            <a:ext cx="3767328" cy="0"/>
          </a:xfrm>
          <a:prstGeom prst="line">
            <a:avLst/>
          </a:prstGeom>
          <a:ln w="12700">
            <a:solidFill>
              <a:srgbClr val="F5823F"/>
            </a:solidFill>
            <a:prstDash val="dash"/>
          </a:ln>
        </p:spPr>
      </p:cxnSp>
      <p:cxnSp>
        <p:nvCxnSpPr>
          <p:cNvPr id="14" name="Connector 13"/>
          <p:cNvCxnSpPr/>
          <p:nvPr/>
        </p:nvCxnSpPr>
        <p:spPr>
          <a:xfrm>
            <a:off x="731520" y="2959608"/>
            <a:ext cx="3767328" cy="0"/>
          </a:xfrm>
          <a:prstGeom prst="line">
            <a:avLst/>
          </a:prstGeom>
          <a:ln w="12700">
            <a:solidFill>
              <a:srgbClr val="F5823F"/>
            </a:solidFill>
            <a:prstDash val="dash"/>
          </a:ln>
        </p:spPr>
      </p:cxnSp>
      <p:cxnSp>
        <p:nvCxnSpPr>
          <p:cNvPr id="15" name="Connector 14"/>
          <p:cNvCxnSpPr/>
          <p:nvPr/>
        </p:nvCxnSpPr>
        <p:spPr>
          <a:xfrm>
            <a:off x="731520" y="3267456"/>
            <a:ext cx="3767328" cy="0"/>
          </a:xfrm>
          <a:prstGeom prst="line">
            <a:avLst/>
          </a:prstGeom>
          <a:ln w="12700">
            <a:solidFill>
              <a:srgbClr val="F5823F"/>
            </a:solidFill>
            <a:prstDash val="dash"/>
          </a:ln>
        </p:spPr>
      </p:cxnSp>
      <p:pic>
        <p:nvPicPr>
          <p:cNvPr id="16" name="Picture 15" descr="h32_s208_ikon1.jpg"/>
          <p:cNvPicPr>
            <a:picLocks noChangeAspect="1"/>
          </p:cNvPicPr>
          <p:nvPr/>
        </p:nvPicPr>
        <p:blipFill>
          <a:blip r:embed="rId4"/>
          <a:stretch>
            <a:fillRect/>
          </a:stretch>
        </p:blipFill>
        <p:spPr>
          <a:xfrm>
            <a:off x="4819683" y="1216152"/>
            <a:ext cx="400745" cy="438912"/>
          </a:xfrm>
          <a:prstGeom prst="rect">
            <a:avLst/>
          </a:prstGeom>
        </p:spPr>
      </p:pic>
      <p:sp>
        <p:nvSpPr>
          <p:cNvPr id="17" name="Rounded Rectangle 16"/>
          <p:cNvSpPr/>
          <p:nvPr/>
        </p:nvSpPr>
        <p:spPr>
          <a:xfrm>
            <a:off x="7464247" y="1197864"/>
            <a:ext cx="4224528" cy="2432304"/>
          </a:xfrm>
          <a:prstGeom prst="roundRect">
            <a:avLst>
              <a:gd name="adj" fmla="val 6000"/>
            </a:avLst>
          </a:prstGeom>
          <a:solidFill>
            <a:srgbClr val="FFFFFF"/>
          </a:solidFill>
          <a:ln w="15875">
            <a:solidFill>
              <a:srgbClr val="4A87C6"/>
            </a:solidFill>
            <a:prstDash val="dash"/>
          </a:ln>
          <a:effectLst/>
        </p:spPr>
        <p:txBody>
          <a:bodyPr rtlCol="0" anchor="ctr"/>
          <a:lstStyle/>
          <a:p/>
        </p:txBody>
      </p:sp>
      <p:sp>
        <p:nvSpPr>
          <p:cNvPr id="18" name="Rounded Rectangle 17"/>
          <p:cNvSpPr/>
          <p:nvPr/>
        </p:nvSpPr>
        <p:spPr>
          <a:xfrm>
            <a:off x="7464247" y="1197864"/>
            <a:ext cx="4224528" cy="475488"/>
          </a:xfrm>
          <a:prstGeom prst="roundRect">
            <a:avLst>
              <a:gd name="adj" fmla="val 30000"/>
            </a:avLst>
          </a:prstGeom>
          <a:solidFill>
            <a:srgbClr val="4A87C6"/>
          </a:solidFill>
          <a:ln>
            <a:noFill/>
          </a:ln>
          <a:effectLst/>
        </p:spPr>
        <p:txBody>
          <a:bodyPr rtlCol="0" anchor="ctr"/>
          <a:lstStyle/>
          <a:p/>
        </p:txBody>
      </p:sp>
      <p:sp>
        <p:nvSpPr>
          <p:cNvPr id="19" name="Rectangle 18"/>
          <p:cNvSpPr/>
          <p:nvPr/>
        </p:nvSpPr>
        <p:spPr>
          <a:xfrm>
            <a:off x="7464247" y="1435608"/>
            <a:ext cx="4224528" cy="237744"/>
          </a:xfrm>
          <a:prstGeom prst="rect">
            <a:avLst/>
          </a:prstGeom>
          <a:solidFill>
            <a:srgbClr val="4A87C6"/>
          </a:solidFill>
          <a:ln>
            <a:noFill/>
          </a:ln>
          <a:effectLst/>
        </p:spPr>
        <p:txBody>
          <a:bodyPr rtlCol="0" anchor="ctr"/>
          <a:lstStyle/>
          <a:p/>
        </p:txBody>
      </p:sp>
      <p:sp>
        <p:nvSpPr>
          <p:cNvPr id="20" name="TextBox 19"/>
          <p:cNvSpPr txBox="1"/>
          <p:nvPr/>
        </p:nvSpPr>
        <p:spPr>
          <a:xfrm>
            <a:off x="7601407" y="119786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2. Hazırlıklı olma</a:t>
            </a:r>
          </a:p>
        </p:txBody>
      </p:sp>
      <p:cxnSp>
        <p:nvCxnSpPr>
          <p:cNvPr id="21" name="Connector 20"/>
          <p:cNvCxnSpPr/>
          <p:nvPr/>
        </p:nvCxnSpPr>
        <p:spPr>
          <a:xfrm>
            <a:off x="7692847" y="2036064"/>
            <a:ext cx="3767328" cy="0"/>
          </a:xfrm>
          <a:prstGeom prst="line">
            <a:avLst/>
          </a:prstGeom>
          <a:ln w="12700">
            <a:solidFill>
              <a:srgbClr val="4A87C6"/>
            </a:solidFill>
            <a:prstDash val="dash"/>
          </a:ln>
        </p:spPr>
      </p:cxnSp>
      <p:cxnSp>
        <p:nvCxnSpPr>
          <p:cNvPr id="22" name="Connector 21"/>
          <p:cNvCxnSpPr/>
          <p:nvPr/>
        </p:nvCxnSpPr>
        <p:spPr>
          <a:xfrm>
            <a:off x="7692847" y="2343912"/>
            <a:ext cx="3767328" cy="0"/>
          </a:xfrm>
          <a:prstGeom prst="line">
            <a:avLst/>
          </a:prstGeom>
          <a:ln w="12700">
            <a:solidFill>
              <a:srgbClr val="4A87C6"/>
            </a:solidFill>
            <a:prstDash val="dash"/>
          </a:ln>
        </p:spPr>
      </p:cxnSp>
      <p:cxnSp>
        <p:nvCxnSpPr>
          <p:cNvPr id="23" name="Connector 22"/>
          <p:cNvCxnSpPr/>
          <p:nvPr/>
        </p:nvCxnSpPr>
        <p:spPr>
          <a:xfrm>
            <a:off x="7692847" y="2651760"/>
            <a:ext cx="3767328" cy="0"/>
          </a:xfrm>
          <a:prstGeom prst="line">
            <a:avLst/>
          </a:prstGeom>
          <a:ln w="12700">
            <a:solidFill>
              <a:srgbClr val="4A87C6"/>
            </a:solidFill>
            <a:prstDash val="dash"/>
          </a:ln>
        </p:spPr>
      </p:cxnSp>
      <p:cxnSp>
        <p:nvCxnSpPr>
          <p:cNvPr id="24" name="Connector 23"/>
          <p:cNvCxnSpPr/>
          <p:nvPr/>
        </p:nvCxnSpPr>
        <p:spPr>
          <a:xfrm>
            <a:off x="7692847" y="2959608"/>
            <a:ext cx="3767328" cy="0"/>
          </a:xfrm>
          <a:prstGeom prst="line">
            <a:avLst/>
          </a:prstGeom>
          <a:ln w="12700">
            <a:solidFill>
              <a:srgbClr val="4A87C6"/>
            </a:solidFill>
            <a:prstDash val="dash"/>
          </a:ln>
        </p:spPr>
      </p:cxnSp>
      <p:cxnSp>
        <p:nvCxnSpPr>
          <p:cNvPr id="25" name="Connector 24"/>
          <p:cNvCxnSpPr/>
          <p:nvPr/>
        </p:nvCxnSpPr>
        <p:spPr>
          <a:xfrm>
            <a:off x="7692847" y="3267456"/>
            <a:ext cx="3767328" cy="0"/>
          </a:xfrm>
          <a:prstGeom prst="line">
            <a:avLst/>
          </a:prstGeom>
          <a:ln w="12700">
            <a:solidFill>
              <a:srgbClr val="4A87C6"/>
            </a:solidFill>
            <a:prstDash val="dash"/>
          </a:ln>
        </p:spPr>
      </p:cxnSp>
      <p:pic>
        <p:nvPicPr>
          <p:cNvPr id="26" name="Picture 25" descr="h32_s208_ikon2.jpg"/>
          <p:cNvPicPr>
            <a:picLocks noChangeAspect="1"/>
          </p:cNvPicPr>
          <p:nvPr/>
        </p:nvPicPr>
        <p:blipFill>
          <a:blip r:embed="rId5"/>
          <a:stretch>
            <a:fillRect/>
          </a:stretch>
        </p:blipFill>
        <p:spPr>
          <a:xfrm>
            <a:off x="6952183" y="1221028"/>
            <a:ext cx="438912" cy="429158"/>
          </a:xfrm>
          <a:prstGeom prst="rect">
            <a:avLst/>
          </a:prstGeom>
        </p:spPr>
      </p:pic>
      <p:sp>
        <p:nvSpPr>
          <p:cNvPr id="27" name="Rounded Rectangle 26"/>
          <p:cNvSpPr/>
          <p:nvPr/>
        </p:nvSpPr>
        <p:spPr>
          <a:xfrm>
            <a:off x="7464247" y="3849624"/>
            <a:ext cx="4224528" cy="2432304"/>
          </a:xfrm>
          <a:prstGeom prst="roundRect">
            <a:avLst>
              <a:gd name="adj" fmla="val 6000"/>
            </a:avLst>
          </a:prstGeom>
          <a:solidFill>
            <a:srgbClr val="FFFFFF"/>
          </a:solidFill>
          <a:ln w="15875">
            <a:solidFill>
              <a:srgbClr val="4CA845"/>
            </a:solidFill>
            <a:prstDash val="dash"/>
          </a:ln>
          <a:effectLst/>
        </p:spPr>
        <p:txBody>
          <a:bodyPr rtlCol="0" anchor="ctr"/>
          <a:lstStyle/>
          <a:p/>
        </p:txBody>
      </p:sp>
      <p:sp>
        <p:nvSpPr>
          <p:cNvPr id="28" name="Rounded Rectangle 27"/>
          <p:cNvSpPr/>
          <p:nvPr/>
        </p:nvSpPr>
        <p:spPr>
          <a:xfrm>
            <a:off x="7464247" y="3849624"/>
            <a:ext cx="4224528" cy="475488"/>
          </a:xfrm>
          <a:prstGeom prst="roundRect">
            <a:avLst>
              <a:gd name="adj" fmla="val 30000"/>
            </a:avLst>
          </a:prstGeom>
          <a:solidFill>
            <a:srgbClr val="4CA845"/>
          </a:solidFill>
          <a:ln>
            <a:noFill/>
          </a:ln>
          <a:effectLst/>
        </p:spPr>
        <p:txBody>
          <a:bodyPr rtlCol="0" anchor="ctr"/>
          <a:lstStyle/>
          <a:p/>
        </p:txBody>
      </p:sp>
      <p:sp>
        <p:nvSpPr>
          <p:cNvPr id="29" name="Rectangle 28"/>
          <p:cNvSpPr/>
          <p:nvPr/>
        </p:nvSpPr>
        <p:spPr>
          <a:xfrm>
            <a:off x="7464247" y="4087368"/>
            <a:ext cx="4224528" cy="237744"/>
          </a:xfrm>
          <a:prstGeom prst="rect">
            <a:avLst/>
          </a:prstGeom>
          <a:solidFill>
            <a:srgbClr val="4CA845"/>
          </a:solidFill>
          <a:ln>
            <a:noFill/>
          </a:ln>
          <a:effectLst/>
        </p:spPr>
        <p:txBody>
          <a:bodyPr rtlCol="0" anchor="ctr"/>
          <a:lstStyle/>
          <a:p/>
        </p:txBody>
      </p:sp>
      <p:sp>
        <p:nvSpPr>
          <p:cNvPr id="30" name="TextBox 29"/>
          <p:cNvSpPr txBox="1"/>
          <p:nvPr/>
        </p:nvSpPr>
        <p:spPr>
          <a:xfrm>
            <a:off x="7601407" y="384962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3. Müdahale</a:t>
            </a:r>
          </a:p>
        </p:txBody>
      </p:sp>
      <p:cxnSp>
        <p:nvCxnSpPr>
          <p:cNvPr id="31" name="Connector 30"/>
          <p:cNvCxnSpPr/>
          <p:nvPr/>
        </p:nvCxnSpPr>
        <p:spPr>
          <a:xfrm>
            <a:off x="7692847" y="4687824"/>
            <a:ext cx="3767328" cy="0"/>
          </a:xfrm>
          <a:prstGeom prst="line">
            <a:avLst/>
          </a:prstGeom>
          <a:ln w="12700">
            <a:solidFill>
              <a:srgbClr val="4CA845"/>
            </a:solidFill>
            <a:prstDash val="dash"/>
          </a:ln>
        </p:spPr>
      </p:cxnSp>
      <p:cxnSp>
        <p:nvCxnSpPr>
          <p:cNvPr id="32" name="Connector 31"/>
          <p:cNvCxnSpPr/>
          <p:nvPr/>
        </p:nvCxnSpPr>
        <p:spPr>
          <a:xfrm>
            <a:off x="7692847" y="4995672"/>
            <a:ext cx="3767328" cy="0"/>
          </a:xfrm>
          <a:prstGeom prst="line">
            <a:avLst/>
          </a:prstGeom>
          <a:ln w="12700">
            <a:solidFill>
              <a:srgbClr val="4CA845"/>
            </a:solidFill>
            <a:prstDash val="dash"/>
          </a:ln>
        </p:spPr>
      </p:cxnSp>
      <p:cxnSp>
        <p:nvCxnSpPr>
          <p:cNvPr id="33" name="Connector 32"/>
          <p:cNvCxnSpPr/>
          <p:nvPr/>
        </p:nvCxnSpPr>
        <p:spPr>
          <a:xfrm>
            <a:off x="7692847" y="5303520"/>
            <a:ext cx="3767328" cy="0"/>
          </a:xfrm>
          <a:prstGeom prst="line">
            <a:avLst/>
          </a:prstGeom>
          <a:ln w="12700">
            <a:solidFill>
              <a:srgbClr val="4CA845"/>
            </a:solidFill>
            <a:prstDash val="dash"/>
          </a:ln>
        </p:spPr>
      </p:cxnSp>
      <p:cxnSp>
        <p:nvCxnSpPr>
          <p:cNvPr id="34" name="Connector 33"/>
          <p:cNvCxnSpPr/>
          <p:nvPr/>
        </p:nvCxnSpPr>
        <p:spPr>
          <a:xfrm>
            <a:off x="7692847" y="5611368"/>
            <a:ext cx="3767328" cy="0"/>
          </a:xfrm>
          <a:prstGeom prst="line">
            <a:avLst/>
          </a:prstGeom>
          <a:ln w="12700">
            <a:solidFill>
              <a:srgbClr val="4CA845"/>
            </a:solidFill>
            <a:prstDash val="dash"/>
          </a:ln>
        </p:spPr>
      </p:cxnSp>
      <p:cxnSp>
        <p:nvCxnSpPr>
          <p:cNvPr id="35" name="Connector 34"/>
          <p:cNvCxnSpPr/>
          <p:nvPr/>
        </p:nvCxnSpPr>
        <p:spPr>
          <a:xfrm>
            <a:off x="7692847" y="5919216"/>
            <a:ext cx="3767328" cy="0"/>
          </a:xfrm>
          <a:prstGeom prst="line">
            <a:avLst/>
          </a:prstGeom>
          <a:ln w="12700">
            <a:solidFill>
              <a:srgbClr val="4CA845"/>
            </a:solidFill>
            <a:prstDash val="dash"/>
          </a:ln>
        </p:spPr>
      </p:cxnSp>
      <p:pic>
        <p:nvPicPr>
          <p:cNvPr id="36" name="Picture 35" descr="h32_s208_ikon3.jpg"/>
          <p:cNvPicPr>
            <a:picLocks noChangeAspect="1"/>
          </p:cNvPicPr>
          <p:nvPr/>
        </p:nvPicPr>
        <p:blipFill>
          <a:blip r:embed="rId6"/>
          <a:stretch>
            <a:fillRect/>
          </a:stretch>
        </p:blipFill>
        <p:spPr>
          <a:xfrm>
            <a:off x="6952183" y="5812371"/>
            <a:ext cx="438912" cy="427049"/>
          </a:xfrm>
          <a:prstGeom prst="rect">
            <a:avLst/>
          </a:prstGeom>
        </p:spPr>
      </p:pic>
      <p:sp>
        <p:nvSpPr>
          <p:cNvPr id="37" name="Rounded Rectangle 36"/>
          <p:cNvSpPr/>
          <p:nvPr/>
        </p:nvSpPr>
        <p:spPr>
          <a:xfrm>
            <a:off x="502920" y="3849624"/>
            <a:ext cx="4224528" cy="2432304"/>
          </a:xfrm>
          <a:prstGeom prst="roundRect">
            <a:avLst>
              <a:gd name="adj" fmla="val 6000"/>
            </a:avLst>
          </a:prstGeom>
          <a:solidFill>
            <a:srgbClr val="FFFFFF"/>
          </a:solidFill>
          <a:ln w="15875">
            <a:solidFill>
              <a:srgbClr val="65449A"/>
            </a:solidFill>
            <a:prstDash val="dash"/>
          </a:ln>
          <a:effectLst/>
        </p:spPr>
        <p:txBody>
          <a:bodyPr rtlCol="0" anchor="ctr"/>
          <a:lstStyle/>
          <a:p/>
        </p:txBody>
      </p:sp>
      <p:sp>
        <p:nvSpPr>
          <p:cNvPr id="38" name="Rounded Rectangle 37"/>
          <p:cNvSpPr/>
          <p:nvPr/>
        </p:nvSpPr>
        <p:spPr>
          <a:xfrm>
            <a:off x="502920" y="3849624"/>
            <a:ext cx="4224528" cy="475488"/>
          </a:xfrm>
          <a:prstGeom prst="roundRect">
            <a:avLst>
              <a:gd name="adj" fmla="val 30000"/>
            </a:avLst>
          </a:prstGeom>
          <a:solidFill>
            <a:srgbClr val="65449A"/>
          </a:solidFill>
          <a:ln>
            <a:noFill/>
          </a:ln>
          <a:effectLst/>
        </p:spPr>
        <p:txBody>
          <a:bodyPr rtlCol="0" anchor="ctr"/>
          <a:lstStyle/>
          <a:p/>
        </p:txBody>
      </p:sp>
      <p:sp>
        <p:nvSpPr>
          <p:cNvPr id="39" name="Rectangle 38"/>
          <p:cNvSpPr/>
          <p:nvPr/>
        </p:nvSpPr>
        <p:spPr>
          <a:xfrm>
            <a:off x="502920" y="4087368"/>
            <a:ext cx="4224528" cy="237744"/>
          </a:xfrm>
          <a:prstGeom prst="rect">
            <a:avLst/>
          </a:prstGeom>
          <a:solidFill>
            <a:srgbClr val="65449A"/>
          </a:solidFill>
          <a:ln>
            <a:noFill/>
          </a:ln>
          <a:effectLst/>
        </p:spPr>
        <p:txBody>
          <a:bodyPr rtlCol="0" anchor="ctr"/>
          <a:lstStyle/>
          <a:p/>
        </p:txBody>
      </p:sp>
      <p:sp>
        <p:nvSpPr>
          <p:cNvPr id="40" name="TextBox 39"/>
          <p:cNvSpPr txBox="1"/>
          <p:nvPr/>
        </p:nvSpPr>
        <p:spPr>
          <a:xfrm>
            <a:off x="640080" y="384962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4. İyileştirme</a:t>
            </a:r>
          </a:p>
        </p:txBody>
      </p:sp>
      <p:cxnSp>
        <p:nvCxnSpPr>
          <p:cNvPr id="41" name="Connector 40"/>
          <p:cNvCxnSpPr/>
          <p:nvPr/>
        </p:nvCxnSpPr>
        <p:spPr>
          <a:xfrm>
            <a:off x="731520" y="4687824"/>
            <a:ext cx="3767328" cy="0"/>
          </a:xfrm>
          <a:prstGeom prst="line">
            <a:avLst/>
          </a:prstGeom>
          <a:ln w="12700">
            <a:solidFill>
              <a:srgbClr val="65449A"/>
            </a:solidFill>
            <a:prstDash val="dash"/>
          </a:ln>
        </p:spPr>
      </p:cxnSp>
      <p:cxnSp>
        <p:nvCxnSpPr>
          <p:cNvPr id="42" name="Connector 41"/>
          <p:cNvCxnSpPr/>
          <p:nvPr/>
        </p:nvCxnSpPr>
        <p:spPr>
          <a:xfrm>
            <a:off x="731520" y="4995672"/>
            <a:ext cx="3767328" cy="0"/>
          </a:xfrm>
          <a:prstGeom prst="line">
            <a:avLst/>
          </a:prstGeom>
          <a:ln w="12700">
            <a:solidFill>
              <a:srgbClr val="65449A"/>
            </a:solidFill>
            <a:prstDash val="dash"/>
          </a:ln>
        </p:spPr>
      </p:cxnSp>
      <p:cxnSp>
        <p:nvCxnSpPr>
          <p:cNvPr id="43" name="Connector 42"/>
          <p:cNvCxnSpPr/>
          <p:nvPr/>
        </p:nvCxnSpPr>
        <p:spPr>
          <a:xfrm>
            <a:off x="731520" y="5303520"/>
            <a:ext cx="3767328" cy="0"/>
          </a:xfrm>
          <a:prstGeom prst="line">
            <a:avLst/>
          </a:prstGeom>
          <a:ln w="12700">
            <a:solidFill>
              <a:srgbClr val="65449A"/>
            </a:solidFill>
            <a:prstDash val="dash"/>
          </a:ln>
        </p:spPr>
      </p:cxnSp>
      <p:cxnSp>
        <p:nvCxnSpPr>
          <p:cNvPr id="44" name="Connector 43"/>
          <p:cNvCxnSpPr/>
          <p:nvPr/>
        </p:nvCxnSpPr>
        <p:spPr>
          <a:xfrm>
            <a:off x="731520" y="5611368"/>
            <a:ext cx="3767328" cy="0"/>
          </a:xfrm>
          <a:prstGeom prst="line">
            <a:avLst/>
          </a:prstGeom>
          <a:ln w="12700">
            <a:solidFill>
              <a:srgbClr val="65449A"/>
            </a:solidFill>
            <a:prstDash val="dash"/>
          </a:ln>
        </p:spPr>
      </p:cxnSp>
      <p:cxnSp>
        <p:nvCxnSpPr>
          <p:cNvPr id="45" name="Connector 44"/>
          <p:cNvCxnSpPr/>
          <p:nvPr/>
        </p:nvCxnSpPr>
        <p:spPr>
          <a:xfrm>
            <a:off x="731520" y="5919216"/>
            <a:ext cx="3767328" cy="0"/>
          </a:xfrm>
          <a:prstGeom prst="line">
            <a:avLst/>
          </a:prstGeom>
          <a:ln w="12700">
            <a:solidFill>
              <a:srgbClr val="65449A"/>
            </a:solidFill>
            <a:prstDash val="dash"/>
          </a:ln>
        </p:spPr>
      </p:cxnSp>
      <p:pic>
        <p:nvPicPr>
          <p:cNvPr id="46" name="Picture 45" descr="h32_s208_ikon4.jpg"/>
          <p:cNvPicPr>
            <a:picLocks noChangeAspect="1"/>
          </p:cNvPicPr>
          <p:nvPr/>
        </p:nvPicPr>
        <p:blipFill>
          <a:blip r:embed="rId7"/>
          <a:stretch>
            <a:fillRect/>
          </a:stretch>
        </p:blipFill>
        <p:spPr>
          <a:xfrm>
            <a:off x="4800600" y="5806440"/>
            <a:ext cx="438912" cy="438912"/>
          </a:xfrm>
          <a:prstGeom prst="rect">
            <a:avLst/>
          </a:prstGeom>
        </p:spPr>
      </p:pic>
      <p:sp>
        <p:nvSpPr>
          <p:cNvPr id="47" name="TextBox 4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8" name="Rounded Rectangle 4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208</a:t>
            </a:r>
          </a:p>
        </p:txBody>
      </p:sp>
      <p:sp>
        <p:nvSpPr>
          <p:cNvPr id="49" name="TextBox 4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147 / 250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kartları aşamalara yerleştir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ADIM · 8 dk</a:t>
            </a:r>
          </a:p>
        </p:txBody>
      </p:sp>
      <p:sp>
        <p:nvSpPr>
          <p:cNvPr id="6" name="Rounded Rectangle 5"/>
          <p:cNvSpPr/>
          <p:nvPr/>
        </p:nvSpPr>
        <p:spPr>
          <a:xfrm>
            <a:off x="502920" y="1197864"/>
            <a:ext cx="11185855" cy="530352"/>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2000" b="1" i="0">
                <a:solidFill>
                  <a:srgbClr val="262626"/>
                </a:solidFill>
                <a:latin typeface="Calibri"/>
              </a:rPr>
              <a:t>2. adım:</a:t>
            </a:r>
            <a:r>
              <a:rPr lang="tr-TR" sz="2000" b="0" i="0">
                <a:solidFill>
                  <a:srgbClr val="262626"/>
                </a:solidFill>
                <a:latin typeface="Calibri"/>
              </a:rPr>
              <a:t> Yazdığınız aşamaların altına yukarıdaki ifadelerden uygun olanları ekleyiniz.</a:t>
            </a:r>
          </a:p>
        </p:txBody>
      </p:sp>
      <p:sp>
        <p:nvSpPr>
          <p:cNvPr id="7" name="Rounded Rectangle 6"/>
          <p:cNvSpPr/>
          <p:nvPr/>
        </p:nvSpPr>
        <p:spPr>
          <a:xfrm>
            <a:off x="502920" y="1856232"/>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Sel konusundaki uyarıların iletişim araçlarından mutlaka takip edilmesi</a:t>
            </a:r>
          </a:p>
        </p:txBody>
      </p:sp>
      <p:sp>
        <p:nvSpPr>
          <p:cNvPr id="8" name="Oval 7"/>
          <p:cNvSpPr/>
          <p:nvPr/>
        </p:nvSpPr>
        <p:spPr>
          <a:xfrm>
            <a:off x="3707282" y="2170557"/>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9" name="Rounded Rectangle 8"/>
          <p:cNvSpPr/>
          <p:nvPr/>
        </p:nvSpPr>
        <p:spPr>
          <a:xfrm>
            <a:off x="4292498" y="1856232"/>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Aile afet planı hazırlanırken sel ve taşkın riskinin göz önünde bulundurulması</a:t>
            </a:r>
          </a:p>
        </p:txBody>
      </p:sp>
      <p:sp>
        <p:nvSpPr>
          <p:cNvPr id="10" name="Oval 9"/>
          <p:cNvSpPr/>
          <p:nvPr/>
        </p:nvSpPr>
        <p:spPr>
          <a:xfrm>
            <a:off x="7496860" y="2170557"/>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11" name="Rounded Rectangle 10"/>
          <p:cNvSpPr/>
          <p:nvPr/>
        </p:nvSpPr>
        <p:spPr>
          <a:xfrm>
            <a:off x="8082076" y="1856232"/>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Sel ve taşkına karşı güvenli yerleşim alanları oluşturulması</a:t>
            </a:r>
          </a:p>
        </p:txBody>
      </p:sp>
      <p:sp>
        <p:nvSpPr>
          <p:cNvPr id="12" name="Oval 11"/>
          <p:cNvSpPr/>
          <p:nvPr/>
        </p:nvSpPr>
        <p:spPr>
          <a:xfrm>
            <a:off x="11286438" y="2170557"/>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13" name="Rounded Rectangle 12"/>
          <p:cNvSpPr/>
          <p:nvPr/>
        </p:nvSpPr>
        <p:spPr>
          <a:xfrm>
            <a:off x="502920" y="2996946"/>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Sel yataklarına yerleşilmemesi</a:t>
            </a:r>
          </a:p>
        </p:txBody>
      </p:sp>
      <p:sp>
        <p:nvSpPr>
          <p:cNvPr id="14" name="Oval 13"/>
          <p:cNvSpPr/>
          <p:nvPr/>
        </p:nvSpPr>
        <p:spPr>
          <a:xfrm>
            <a:off x="3707282" y="3311271"/>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15" name="Rounded Rectangle 14"/>
          <p:cNvSpPr/>
          <p:nvPr/>
        </p:nvSpPr>
        <p:spPr>
          <a:xfrm>
            <a:off x="4292498" y="2996946"/>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Sosyal ve psikolojik destek hizmetlerinin sağlanması</a:t>
            </a:r>
          </a:p>
        </p:txBody>
      </p:sp>
      <p:sp>
        <p:nvSpPr>
          <p:cNvPr id="16" name="Oval 15"/>
          <p:cNvSpPr/>
          <p:nvPr/>
        </p:nvSpPr>
        <p:spPr>
          <a:xfrm>
            <a:off x="7496860" y="3311271"/>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17" name="Rounded Rectangle 16"/>
          <p:cNvSpPr/>
          <p:nvPr/>
        </p:nvSpPr>
        <p:spPr>
          <a:xfrm>
            <a:off x="8082076" y="2996946"/>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Ekonomik canlılığın yeniden sağlanması</a:t>
            </a:r>
          </a:p>
        </p:txBody>
      </p:sp>
      <p:sp>
        <p:nvSpPr>
          <p:cNvPr id="18" name="Oval 17"/>
          <p:cNvSpPr/>
          <p:nvPr/>
        </p:nvSpPr>
        <p:spPr>
          <a:xfrm>
            <a:off x="11286438" y="3311271"/>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19" name="Rounded Rectangle 18"/>
          <p:cNvSpPr/>
          <p:nvPr/>
        </p:nvSpPr>
        <p:spPr>
          <a:xfrm>
            <a:off x="502920" y="4137660"/>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Elektrik telleriyle temas edebilecek su birikintilerinden uzak durulması</a:t>
            </a:r>
          </a:p>
        </p:txBody>
      </p:sp>
      <p:sp>
        <p:nvSpPr>
          <p:cNvPr id="20" name="Oval 19"/>
          <p:cNvSpPr/>
          <p:nvPr/>
        </p:nvSpPr>
        <p:spPr>
          <a:xfrm>
            <a:off x="3707282" y="4451985"/>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21" name="Rounded Rectangle 20"/>
          <p:cNvSpPr/>
          <p:nvPr/>
        </p:nvSpPr>
        <p:spPr>
          <a:xfrm>
            <a:off x="4292498" y="4137660"/>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Bağışlar ve gönüllülerin yönetimi</a:t>
            </a:r>
          </a:p>
        </p:txBody>
      </p:sp>
      <p:sp>
        <p:nvSpPr>
          <p:cNvPr id="22" name="Oval 21"/>
          <p:cNvSpPr/>
          <p:nvPr/>
        </p:nvSpPr>
        <p:spPr>
          <a:xfrm>
            <a:off x="7496860" y="4451985"/>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23" name="Rounded Rectangle 22"/>
          <p:cNvSpPr/>
          <p:nvPr/>
        </p:nvSpPr>
        <p:spPr>
          <a:xfrm>
            <a:off x="8082076" y="4137660"/>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Halkın sel ve taşkın konusunda eğitilmesi</a:t>
            </a:r>
          </a:p>
        </p:txBody>
      </p:sp>
      <p:sp>
        <p:nvSpPr>
          <p:cNvPr id="24" name="Oval 23"/>
          <p:cNvSpPr/>
          <p:nvPr/>
        </p:nvSpPr>
        <p:spPr>
          <a:xfrm>
            <a:off x="11286438" y="4451985"/>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25" name="Rounded Rectangle 24"/>
          <p:cNvSpPr/>
          <p:nvPr/>
        </p:nvSpPr>
        <p:spPr>
          <a:xfrm>
            <a:off x="502920" y="5278374"/>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Normal hayat koşullarının kurulması</a:t>
            </a:r>
          </a:p>
        </p:txBody>
      </p:sp>
      <p:sp>
        <p:nvSpPr>
          <p:cNvPr id="26" name="Oval 25"/>
          <p:cNvSpPr/>
          <p:nvPr/>
        </p:nvSpPr>
        <p:spPr>
          <a:xfrm>
            <a:off x="3707282" y="5592699"/>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27" name="Rounded Rectangle 26"/>
          <p:cNvSpPr/>
          <p:nvPr/>
        </p:nvSpPr>
        <p:spPr>
          <a:xfrm>
            <a:off x="4292498" y="5278374"/>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Acil yiyecek, barınak ve tıbbi malzemenin sağlanması</a:t>
            </a:r>
          </a:p>
        </p:txBody>
      </p:sp>
      <p:sp>
        <p:nvSpPr>
          <p:cNvPr id="28" name="Oval 27"/>
          <p:cNvSpPr/>
          <p:nvPr/>
        </p:nvSpPr>
        <p:spPr>
          <a:xfrm>
            <a:off x="7496860" y="5592699"/>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29" name="Rounded Rectangle 28"/>
          <p:cNvSpPr/>
          <p:nvPr/>
        </p:nvSpPr>
        <p:spPr>
          <a:xfrm>
            <a:off x="8082076" y="5278374"/>
            <a:ext cx="3131210" cy="1012698"/>
          </a:xfrm>
          <a:prstGeom prst="roundRect">
            <a:avLst>
              <a:gd name="adj" fmla="val 8000"/>
            </a:avLst>
          </a:prstGeom>
          <a:solidFill>
            <a:srgbClr val="F6D9C4"/>
          </a:solidFill>
          <a:ln>
            <a:no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Sel ve taşkın risk haritası hazırlanması ve yasal düzenlemelerin yapılması</a:t>
            </a:r>
          </a:p>
        </p:txBody>
      </p:sp>
      <p:sp>
        <p:nvSpPr>
          <p:cNvPr id="30" name="Oval 29"/>
          <p:cNvSpPr/>
          <p:nvPr/>
        </p:nvSpPr>
        <p:spPr>
          <a:xfrm>
            <a:off x="11286438" y="5592699"/>
            <a:ext cx="384048" cy="384048"/>
          </a:xfrm>
          <a:prstGeom prst="ellipse">
            <a:avLst/>
          </a:prstGeom>
          <a:solidFill>
            <a:srgbClr val="FFFFFF"/>
          </a:solidFill>
          <a:ln w="25400">
            <a:solidFill>
              <a:srgbClr val="D9D9D9"/>
            </a:solidFill>
          </a:ln>
          <a:effectLst/>
        </p:spPr>
        <p:txBody>
          <a:bodyPr rtlCol="0" anchor="ctr" wrap="none" lIns="0" rIns="0" tIns="0" bIns="0">
            <a:noAutofit/>
          </a:bodyPr>
          <a:lstStyle/>
          <a:p>
            <a:pPr algn="ctr">
              <a:spcBef>
                <a:spcPts val="0"/>
              </a:spcBef>
              <a:spcAft>
                <a:spcPts val="0"/>
              </a:spcAft>
            </a:pPr>
            <a:r>
              <a:rPr lang="tr-TR" sz="1700" b="1" i="0">
                <a:solidFill>
                  <a:srgbClr val="767676"/>
                </a:solidFill>
                <a:latin typeface="Calibri"/>
              </a:rPr>
              <a:t>?</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208</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148 / 250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2_s208_halka.jpg"/>
          <p:cNvPicPr>
            <a:picLocks noChangeAspect="1"/>
          </p:cNvPicPr>
          <p:nvPr/>
        </p:nvPicPr>
        <p:blipFill>
          <a:blip r:embed="rId3"/>
          <a:stretch>
            <a:fillRect/>
          </a:stretch>
        </p:blipFill>
        <p:spPr>
          <a:xfrm>
            <a:off x="4752790" y="2382012"/>
            <a:ext cx="2686114" cy="2697480"/>
          </a:xfrm>
          <a:prstGeom prst="rect">
            <a:avLst/>
          </a:prstGeom>
        </p:spPr>
      </p:pic>
      <p:sp>
        <p:nvSpPr>
          <p:cNvPr id="7" name="Rounded Rectangle 6"/>
          <p:cNvSpPr/>
          <p:nvPr/>
        </p:nvSpPr>
        <p:spPr>
          <a:xfrm>
            <a:off x="502920" y="1197864"/>
            <a:ext cx="4224528" cy="2432304"/>
          </a:xfrm>
          <a:prstGeom prst="roundRect">
            <a:avLst>
              <a:gd name="adj" fmla="val 6000"/>
            </a:avLst>
          </a:prstGeom>
          <a:solidFill>
            <a:srgbClr val="FFFFFF"/>
          </a:solidFill>
          <a:ln w="15875">
            <a:solidFill>
              <a:srgbClr val="F5823F"/>
            </a:solidFill>
            <a:prstDash val="dash"/>
          </a:ln>
          <a:effectLst/>
        </p:spPr>
        <p:txBody>
          <a:bodyPr rtlCol="0" anchor="ctr"/>
          <a:lstStyle/>
          <a:p/>
        </p:txBody>
      </p:sp>
      <p:sp>
        <p:nvSpPr>
          <p:cNvPr id="8" name="Rounded Rectangle 7"/>
          <p:cNvSpPr/>
          <p:nvPr/>
        </p:nvSpPr>
        <p:spPr>
          <a:xfrm>
            <a:off x="502920" y="1197864"/>
            <a:ext cx="4224528" cy="475488"/>
          </a:xfrm>
          <a:prstGeom prst="roundRect">
            <a:avLst>
              <a:gd name="adj" fmla="val 30000"/>
            </a:avLst>
          </a:prstGeom>
          <a:solidFill>
            <a:srgbClr val="F5823F"/>
          </a:solidFill>
          <a:ln>
            <a:noFill/>
          </a:ln>
          <a:effectLst/>
        </p:spPr>
        <p:txBody>
          <a:bodyPr rtlCol="0" anchor="ctr"/>
          <a:lstStyle/>
          <a:p/>
        </p:txBody>
      </p:sp>
      <p:sp>
        <p:nvSpPr>
          <p:cNvPr id="9" name="Rectangle 8"/>
          <p:cNvSpPr/>
          <p:nvPr/>
        </p:nvSpPr>
        <p:spPr>
          <a:xfrm>
            <a:off x="502920" y="1435608"/>
            <a:ext cx="4224528" cy="237744"/>
          </a:xfrm>
          <a:prstGeom prst="rect">
            <a:avLst/>
          </a:prstGeom>
          <a:solidFill>
            <a:srgbClr val="F5823F"/>
          </a:solidFill>
          <a:ln>
            <a:noFill/>
          </a:ln>
          <a:effectLst/>
        </p:spPr>
        <p:txBody>
          <a:bodyPr rtlCol="0" anchor="ctr"/>
          <a:lstStyle/>
          <a:p/>
        </p:txBody>
      </p:sp>
      <p:sp>
        <p:nvSpPr>
          <p:cNvPr id="10" name="TextBox 9"/>
          <p:cNvSpPr txBox="1"/>
          <p:nvPr/>
        </p:nvSpPr>
        <p:spPr>
          <a:xfrm>
            <a:off x="640080" y="119786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1. Risk ve zarar azaltma</a:t>
            </a:r>
          </a:p>
        </p:txBody>
      </p:sp>
      <p:sp>
        <p:nvSpPr>
          <p:cNvPr id="11" name="TextBox 10"/>
          <p:cNvSpPr txBox="1"/>
          <p:nvPr/>
        </p:nvSpPr>
        <p:spPr>
          <a:xfrm>
            <a:off x="612648" y="1728216"/>
            <a:ext cx="4005072" cy="1847088"/>
          </a:xfrm>
          <a:prstGeom prst="rect">
            <a:avLst/>
          </a:prstGeom>
          <a:noFill/>
        </p:spPr>
        <p:txBody>
          <a:bodyPr wrap="square" anchor="ctr" lIns="73152" rIns="73152" tIns="36576" bIns="36576">
            <a:noAutofit/>
          </a:bodyPr>
          <a:lstStyle/>
          <a:p>
            <a:pPr algn="l" marL="223758" indent="-223758">
              <a:spcBef>
                <a:spcPts val="0"/>
              </a:spcBef>
              <a:spcAft>
                <a:spcPts val="473"/>
              </a:spcAft>
            </a:pPr>
            <a:r>
              <a:rPr lang="tr-TR" sz="1800" b="1" i="0">
                <a:solidFill>
                  <a:srgbClr val="F5823F"/>
                </a:solidFill>
                <a:latin typeface="Calibri"/>
              </a:rPr>
              <a:t>•  </a:t>
            </a:r>
            <a:r>
              <a:rPr lang="tr-TR" sz="1800" b="0" i="0">
                <a:solidFill>
                  <a:srgbClr val="262626"/>
                </a:solidFill>
                <a:latin typeface="Calibri"/>
              </a:rPr>
              <a:t>Sel ve taşkına karşı güvenli yerleşim alanları oluşturulması</a:t>
            </a:r>
          </a:p>
          <a:p>
            <a:pPr algn="l" marL="223758" indent="-223758">
              <a:spcBef>
                <a:spcPts val="0"/>
              </a:spcBef>
              <a:spcAft>
                <a:spcPts val="473"/>
              </a:spcAft>
            </a:pPr>
            <a:r>
              <a:rPr lang="tr-TR" sz="1800" b="1" i="0">
                <a:solidFill>
                  <a:srgbClr val="F5823F"/>
                </a:solidFill>
                <a:latin typeface="Calibri"/>
              </a:rPr>
              <a:t>•  </a:t>
            </a:r>
            <a:r>
              <a:rPr lang="tr-TR" sz="1800" b="0" i="0">
                <a:solidFill>
                  <a:srgbClr val="262626"/>
                </a:solidFill>
                <a:latin typeface="Calibri"/>
              </a:rPr>
              <a:t>Sel yataklarına yerleşilmemesi</a:t>
            </a:r>
          </a:p>
          <a:p>
            <a:pPr algn="l" marL="223758" indent="-223758">
              <a:spcBef>
                <a:spcPts val="0"/>
              </a:spcBef>
              <a:spcAft>
                <a:spcPts val="0"/>
              </a:spcAft>
            </a:pPr>
            <a:r>
              <a:rPr lang="tr-TR" sz="1800" b="1" i="0">
                <a:solidFill>
                  <a:srgbClr val="F5823F"/>
                </a:solidFill>
                <a:latin typeface="Calibri"/>
              </a:rPr>
              <a:t>•  </a:t>
            </a:r>
            <a:r>
              <a:rPr lang="tr-TR" sz="1800" b="0" i="0">
                <a:solidFill>
                  <a:srgbClr val="262626"/>
                </a:solidFill>
                <a:latin typeface="Calibri"/>
              </a:rPr>
              <a:t>Sel ve taşkın risk haritası hazırlanması ve yasal düzenlemelerin yapılması</a:t>
            </a:r>
          </a:p>
        </p:txBody>
      </p:sp>
      <p:pic>
        <p:nvPicPr>
          <p:cNvPr id="12" name="Picture 11" descr="h32_s208_ikon1.jpg"/>
          <p:cNvPicPr>
            <a:picLocks noChangeAspect="1"/>
          </p:cNvPicPr>
          <p:nvPr/>
        </p:nvPicPr>
        <p:blipFill>
          <a:blip r:embed="rId4"/>
          <a:stretch>
            <a:fillRect/>
          </a:stretch>
        </p:blipFill>
        <p:spPr>
          <a:xfrm>
            <a:off x="4819683" y="1216152"/>
            <a:ext cx="400745" cy="438912"/>
          </a:xfrm>
          <a:prstGeom prst="rect">
            <a:avLst/>
          </a:prstGeom>
        </p:spPr>
      </p:pic>
      <p:sp>
        <p:nvSpPr>
          <p:cNvPr id="13" name="Rounded Rectangle 12"/>
          <p:cNvSpPr/>
          <p:nvPr/>
        </p:nvSpPr>
        <p:spPr>
          <a:xfrm>
            <a:off x="7464247" y="1197864"/>
            <a:ext cx="4224528" cy="2432304"/>
          </a:xfrm>
          <a:prstGeom prst="roundRect">
            <a:avLst>
              <a:gd name="adj" fmla="val 6000"/>
            </a:avLst>
          </a:prstGeom>
          <a:solidFill>
            <a:srgbClr val="FFFFFF"/>
          </a:solidFill>
          <a:ln w="15875">
            <a:solidFill>
              <a:srgbClr val="4A87C6"/>
            </a:solidFill>
            <a:prstDash val="dash"/>
          </a:ln>
          <a:effectLst/>
        </p:spPr>
        <p:txBody>
          <a:bodyPr rtlCol="0" anchor="ctr"/>
          <a:lstStyle/>
          <a:p/>
        </p:txBody>
      </p:sp>
      <p:sp>
        <p:nvSpPr>
          <p:cNvPr id="14" name="Rounded Rectangle 13"/>
          <p:cNvSpPr/>
          <p:nvPr/>
        </p:nvSpPr>
        <p:spPr>
          <a:xfrm>
            <a:off x="7464247" y="1197864"/>
            <a:ext cx="4224528" cy="475488"/>
          </a:xfrm>
          <a:prstGeom prst="roundRect">
            <a:avLst>
              <a:gd name="adj" fmla="val 30000"/>
            </a:avLst>
          </a:prstGeom>
          <a:solidFill>
            <a:srgbClr val="4A87C6"/>
          </a:solidFill>
          <a:ln>
            <a:noFill/>
          </a:ln>
          <a:effectLst/>
        </p:spPr>
        <p:txBody>
          <a:bodyPr rtlCol="0" anchor="ctr"/>
          <a:lstStyle/>
          <a:p/>
        </p:txBody>
      </p:sp>
      <p:sp>
        <p:nvSpPr>
          <p:cNvPr id="15" name="Rectangle 14"/>
          <p:cNvSpPr/>
          <p:nvPr/>
        </p:nvSpPr>
        <p:spPr>
          <a:xfrm>
            <a:off x="7464247" y="1435608"/>
            <a:ext cx="4224528" cy="237744"/>
          </a:xfrm>
          <a:prstGeom prst="rect">
            <a:avLst/>
          </a:prstGeom>
          <a:solidFill>
            <a:srgbClr val="4A87C6"/>
          </a:solidFill>
          <a:ln>
            <a:noFill/>
          </a:ln>
          <a:effectLst/>
        </p:spPr>
        <p:txBody>
          <a:bodyPr rtlCol="0" anchor="ctr"/>
          <a:lstStyle/>
          <a:p/>
        </p:txBody>
      </p:sp>
      <p:sp>
        <p:nvSpPr>
          <p:cNvPr id="16" name="TextBox 15"/>
          <p:cNvSpPr txBox="1"/>
          <p:nvPr/>
        </p:nvSpPr>
        <p:spPr>
          <a:xfrm>
            <a:off x="7601407" y="119786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2. Hazırlıklı olma</a:t>
            </a:r>
          </a:p>
        </p:txBody>
      </p:sp>
      <p:sp>
        <p:nvSpPr>
          <p:cNvPr id="17" name="TextBox 16"/>
          <p:cNvSpPr txBox="1"/>
          <p:nvPr/>
        </p:nvSpPr>
        <p:spPr>
          <a:xfrm>
            <a:off x="7573975" y="1728216"/>
            <a:ext cx="4005072" cy="1847088"/>
          </a:xfrm>
          <a:prstGeom prst="rect">
            <a:avLst/>
          </a:prstGeom>
          <a:noFill/>
        </p:spPr>
        <p:txBody>
          <a:bodyPr wrap="square" anchor="ctr" lIns="73152" rIns="73152" tIns="36576" bIns="36576">
            <a:noAutofit/>
          </a:bodyPr>
          <a:lstStyle/>
          <a:p>
            <a:pPr algn="l" marL="211327" indent="-211327">
              <a:spcBef>
                <a:spcPts val="0"/>
              </a:spcBef>
              <a:spcAft>
                <a:spcPts val="447"/>
              </a:spcAft>
            </a:pPr>
            <a:r>
              <a:rPr lang="tr-TR" sz="1700" b="1" i="0">
                <a:solidFill>
                  <a:srgbClr val="4A87C6"/>
                </a:solidFill>
                <a:latin typeface="Calibri"/>
              </a:rPr>
              <a:t>•  </a:t>
            </a:r>
            <a:r>
              <a:rPr lang="tr-TR" sz="1700" b="0" i="0">
                <a:solidFill>
                  <a:srgbClr val="262626"/>
                </a:solidFill>
                <a:latin typeface="Calibri"/>
              </a:rPr>
              <a:t>Aile afet planı hazırlanırken sel ve taşkın riskinin göz önünde bulundurulması</a:t>
            </a:r>
          </a:p>
          <a:p>
            <a:pPr algn="l" marL="211327" indent="-211327">
              <a:spcBef>
                <a:spcPts val="0"/>
              </a:spcBef>
              <a:spcAft>
                <a:spcPts val="447"/>
              </a:spcAft>
            </a:pPr>
            <a:r>
              <a:rPr lang="tr-TR" sz="1700" b="1" i="0">
                <a:solidFill>
                  <a:srgbClr val="4A87C6"/>
                </a:solidFill>
                <a:latin typeface="Calibri"/>
              </a:rPr>
              <a:t>•  </a:t>
            </a:r>
            <a:r>
              <a:rPr lang="tr-TR" sz="1700" b="0" i="0">
                <a:solidFill>
                  <a:srgbClr val="262626"/>
                </a:solidFill>
                <a:latin typeface="Calibri"/>
              </a:rPr>
              <a:t>Halkın sel ve taşkın konusunda eğitilmesi</a:t>
            </a:r>
          </a:p>
          <a:p>
            <a:pPr algn="l" marL="211327" indent="-211327">
              <a:spcBef>
                <a:spcPts val="0"/>
              </a:spcBef>
              <a:spcAft>
                <a:spcPts val="0"/>
              </a:spcAft>
            </a:pPr>
            <a:r>
              <a:rPr lang="tr-TR" sz="1700" b="1" i="0">
                <a:solidFill>
                  <a:srgbClr val="4A87C6"/>
                </a:solidFill>
                <a:latin typeface="Calibri"/>
              </a:rPr>
              <a:t>•  </a:t>
            </a:r>
            <a:r>
              <a:rPr lang="tr-TR" sz="1700" b="0" i="0">
                <a:solidFill>
                  <a:srgbClr val="262626"/>
                </a:solidFill>
                <a:latin typeface="Calibri"/>
              </a:rPr>
              <a:t>Sel konusundaki uyarıların iletişim araçlarından mutlaka takip edilmesi</a:t>
            </a:r>
          </a:p>
        </p:txBody>
      </p:sp>
      <p:pic>
        <p:nvPicPr>
          <p:cNvPr id="18" name="Picture 17" descr="h32_s208_ikon2.jpg"/>
          <p:cNvPicPr>
            <a:picLocks noChangeAspect="1"/>
          </p:cNvPicPr>
          <p:nvPr/>
        </p:nvPicPr>
        <p:blipFill>
          <a:blip r:embed="rId5"/>
          <a:stretch>
            <a:fillRect/>
          </a:stretch>
        </p:blipFill>
        <p:spPr>
          <a:xfrm>
            <a:off x="6952183" y="1221028"/>
            <a:ext cx="438912" cy="429158"/>
          </a:xfrm>
          <a:prstGeom prst="rect">
            <a:avLst/>
          </a:prstGeom>
        </p:spPr>
      </p:pic>
      <p:sp>
        <p:nvSpPr>
          <p:cNvPr id="19" name="Rounded Rectangle 18"/>
          <p:cNvSpPr/>
          <p:nvPr/>
        </p:nvSpPr>
        <p:spPr>
          <a:xfrm>
            <a:off x="7464247" y="3849624"/>
            <a:ext cx="4224528" cy="2432304"/>
          </a:xfrm>
          <a:prstGeom prst="roundRect">
            <a:avLst>
              <a:gd name="adj" fmla="val 6000"/>
            </a:avLst>
          </a:prstGeom>
          <a:solidFill>
            <a:srgbClr val="FFFFFF"/>
          </a:solidFill>
          <a:ln w="15875">
            <a:solidFill>
              <a:srgbClr val="4CA845"/>
            </a:solidFill>
            <a:prstDash val="dash"/>
          </a:ln>
          <a:effectLst/>
        </p:spPr>
        <p:txBody>
          <a:bodyPr rtlCol="0" anchor="ctr"/>
          <a:lstStyle/>
          <a:p/>
        </p:txBody>
      </p:sp>
      <p:sp>
        <p:nvSpPr>
          <p:cNvPr id="20" name="Rounded Rectangle 19"/>
          <p:cNvSpPr/>
          <p:nvPr/>
        </p:nvSpPr>
        <p:spPr>
          <a:xfrm>
            <a:off x="7464247" y="3849624"/>
            <a:ext cx="4224528" cy="475488"/>
          </a:xfrm>
          <a:prstGeom prst="roundRect">
            <a:avLst>
              <a:gd name="adj" fmla="val 30000"/>
            </a:avLst>
          </a:prstGeom>
          <a:solidFill>
            <a:srgbClr val="4CA845"/>
          </a:solidFill>
          <a:ln>
            <a:noFill/>
          </a:ln>
          <a:effectLst/>
        </p:spPr>
        <p:txBody>
          <a:bodyPr rtlCol="0" anchor="ctr"/>
          <a:lstStyle/>
          <a:p/>
        </p:txBody>
      </p:sp>
      <p:sp>
        <p:nvSpPr>
          <p:cNvPr id="21" name="Rectangle 20"/>
          <p:cNvSpPr/>
          <p:nvPr/>
        </p:nvSpPr>
        <p:spPr>
          <a:xfrm>
            <a:off x="7464247" y="4087368"/>
            <a:ext cx="4224528" cy="237744"/>
          </a:xfrm>
          <a:prstGeom prst="rect">
            <a:avLst/>
          </a:prstGeom>
          <a:solidFill>
            <a:srgbClr val="4CA845"/>
          </a:solidFill>
          <a:ln>
            <a:noFill/>
          </a:ln>
          <a:effectLst/>
        </p:spPr>
        <p:txBody>
          <a:bodyPr rtlCol="0" anchor="ctr"/>
          <a:lstStyle/>
          <a:p/>
        </p:txBody>
      </p:sp>
      <p:sp>
        <p:nvSpPr>
          <p:cNvPr id="22" name="TextBox 21"/>
          <p:cNvSpPr txBox="1"/>
          <p:nvPr/>
        </p:nvSpPr>
        <p:spPr>
          <a:xfrm>
            <a:off x="7601407" y="384962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3. Müdahale</a:t>
            </a:r>
          </a:p>
        </p:txBody>
      </p:sp>
      <p:sp>
        <p:nvSpPr>
          <p:cNvPr id="23" name="TextBox 22"/>
          <p:cNvSpPr txBox="1"/>
          <p:nvPr/>
        </p:nvSpPr>
        <p:spPr>
          <a:xfrm>
            <a:off x="7573975" y="4379976"/>
            <a:ext cx="4005072" cy="1847088"/>
          </a:xfrm>
          <a:prstGeom prst="rect">
            <a:avLst/>
          </a:prstGeom>
          <a:noFill/>
        </p:spPr>
        <p:txBody>
          <a:bodyPr wrap="square" anchor="ctr" lIns="73152" rIns="73152" tIns="36576" bIns="36576">
            <a:noAutofit/>
          </a:bodyPr>
          <a:lstStyle/>
          <a:p>
            <a:pPr algn="l" marL="236189" indent="-236189">
              <a:spcBef>
                <a:spcPts val="0"/>
              </a:spcBef>
              <a:spcAft>
                <a:spcPts val="500"/>
              </a:spcAft>
            </a:pPr>
            <a:r>
              <a:rPr lang="tr-TR" sz="1900" b="1" i="0">
                <a:solidFill>
                  <a:srgbClr val="4CA845"/>
                </a:solidFill>
                <a:latin typeface="Calibri"/>
              </a:rPr>
              <a:t>•  </a:t>
            </a:r>
            <a:r>
              <a:rPr lang="tr-TR" sz="1900" b="0" i="0">
                <a:solidFill>
                  <a:srgbClr val="262626"/>
                </a:solidFill>
                <a:latin typeface="Calibri"/>
              </a:rPr>
              <a:t>Acil yiyecek, barınak ve tıbbi malzemenin sağlanması</a:t>
            </a:r>
          </a:p>
          <a:p>
            <a:pPr algn="l" marL="236189" indent="-236189">
              <a:spcBef>
                <a:spcPts val="0"/>
              </a:spcBef>
              <a:spcAft>
                <a:spcPts val="500"/>
              </a:spcAft>
            </a:pPr>
            <a:r>
              <a:rPr lang="tr-TR" sz="1900" b="1" i="0">
                <a:solidFill>
                  <a:srgbClr val="4CA845"/>
                </a:solidFill>
                <a:latin typeface="Calibri"/>
              </a:rPr>
              <a:t>•  </a:t>
            </a:r>
            <a:r>
              <a:rPr lang="tr-TR" sz="1900" b="0" i="0">
                <a:solidFill>
                  <a:srgbClr val="262626"/>
                </a:solidFill>
                <a:latin typeface="Calibri"/>
              </a:rPr>
              <a:t>Bağışlar ve gönüllülerin yönetimi</a:t>
            </a:r>
          </a:p>
          <a:p>
            <a:pPr algn="l" marL="236189" indent="-236189">
              <a:spcBef>
                <a:spcPts val="0"/>
              </a:spcBef>
              <a:spcAft>
                <a:spcPts val="0"/>
              </a:spcAft>
            </a:pPr>
            <a:r>
              <a:rPr lang="tr-TR" sz="1900" b="1" i="0">
                <a:solidFill>
                  <a:srgbClr val="4CA845"/>
                </a:solidFill>
                <a:latin typeface="Calibri"/>
              </a:rPr>
              <a:t>•  </a:t>
            </a:r>
            <a:r>
              <a:rPr lang="tr-TR" sz="1900" b="0" i="0">
                <a:solidFill>
                  <a:srgbClr val="262626"/>
                </a:solidFill>
                <a:latin typeface="Calibri"/>
              </a:rPr>
              <a:t>Elektrik telleriyle temas edebilecek su birikintilerinden uzak durulması</a:t>
            </a:r>
          </a:p>
        </p:txBody>
      </p:sp>
      <p:pic>
        <p:nvPicPr>
          <p:cNvPr id="24" name="Picture 23" descr="h32_s208_ikon3.jpg"/>
          <p:cNvPicPr>
            <a:picLocks noChangeAspect="1"/>
          </p:cNvPicPr>
          <p:nvPr/>
        </p:nvPicPr>
        <p:blipFill>
          <a:blip r:embed="rId6"/>
          <a:stretch>
            <a:fillRect/>
          </a:stretch>
        </p:blipFill>
        <p:spPr>
          <a:xfrm>
            <a:off x="6952183" y="5812371"/>
            <a:ext cx="438912" cy="427049"/>
          </a:xfrm>
          <a:prstGeom prst="rect">
            <a:avLst/>
          </a:prstGeom>
        </p:spPr>
      </p:pic>
      <p:sp>
        <p:nvSpPr>
          <p:cNvPr id="25" name="Rounded Rectangle 24"/>
          <p:cNvSpPr/>
          <p:nvPr/>
        </p:nvSpPr>
        <p:spPr>
          <a:xfrm>
            <a:off x="502920" y="3849624"/>
            <a:ext cx="4224528" cy="2432304"/>
          </a:xfrm>
          <a:prstGeom prst="roundRect">
            <a:avLst>
              <a:gd name="adj" fmla="val 6000"/>
            </a:avLst>
          </a:prstGeom>
          <a:solidFill>
            <a:srgbClr val="FFFFFF"/>
          </a:solidFill>
          <a:ln w="15875">
            <a:solidFill>
              <a:srgbClr val="65449A"/>
            </a:solidFill>
            <a:prstDash val="dash"/>
          </a:ln>
          <a:effectLst/>
        </p:spPr>
        <p:txBody>
          <a:bodyPr rtlCol="0" anchor="ctr"/>
          <a:lstStyle/>
          <a:p/>
        </p:txBody>
      </p:sp>
      <p:sp>
        <p:nvSpPr>
          <p:cNvPr id="26" name="Rounded Rectangle 25"/>
          <p:cNvSpPr/>
          <p:nvPr/>
        </p:nvSpPr>
        <p:spPr>
          <a:xfrm>
            <a:off x="502920" y="3849624"/>
            <a:ext cx="4224528" cy="475488"/>
          </a:xfrm>
          <a:prstGeom prst="roundRect">
            <a:avLst>
              <a:gd name="adj" fmla="val 30000"/>
            </a:avLst>
          </a:prstGeom>
          <a:solidFill>
            <a:srgbClr val="65449A"/>
          </a:solidFill>
          <a:ln>
            <a:noFill/>
          </a:ln>
          <a:effectLst/>
        </p:spPr>
        <p:txBody>
          <a:bodyPr rtlCol="0" anchor="ctr"/>
          <a:lstStyle/>
          <a:p/>
        </p:txBody>
      </p:sp>
      <p:sp>
        <p:nvSpPr>
          <p:cNvPr id="27" name="Rectangle 26"/>
          <p:cNvSpPr/>
          <p:nvPr/>
        </p:nvSpPr>
        <p:spPr>
          <a:xfrm>
            <a:off x="502920" y="4087368"/>
            <a:ext cx="4224528" cy="237744"/>
          </a:xfrm>
          <a:prstGeom prst="rect">
            <a:avLst/>
          </a:prstGeom>
          <a:solidFill>
            <a:srgbClr val="65449A"/>
          </a:solidFill>
          <a:ln>
            <a:noFill/>
          </a:ln>
          <a:effectLst/>
        </p:spPr>
        <p:txBody>
          <a:bodyPr rtlCol="0" anchor="ctr"/>
          <a:lstStyle/>
          <a:p/>
        </p:txBody>
      </p:sp>
      <p:sp>
        <p:nvSpPr>
          <p:cNvPr id="28" name="TextBox 27"/>
          <p:cNvSpPr txBox="1"/>
          <p:nvPr/>
        </p:nvSpPr>
        <p:spPr>
          <a:xfrm>
            <a:off x="640080" y="3849624"/>
            <a:ext cx="3950208" cy="4754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4. İyileştirme</a:t>
            </a:r>
          </a:p>
        </p:txBody>
      </p:sp>
      <p:sp>
        <p:nvSpPr>
          <p:cNvPr id="29" name="TextBox 28"/>
          <p:cNvSpPr txBox="1"/>
          <p:nvPr/>
        </p:nvSpPr>
        <p:spPr>
          <a:xfrm>
            <a:off x="612648" y="4379976"/>
            <a:ext cx="4005072" cy="1847088"/>
          </a:xfrm>
          <a:prstGeom prst="rect">
            <a:avLst/>
          </a:prstGeom>
          <a:noFill/>
        </p:spPr>
        <p:txBody>
          <a:bodyPr wrap="square" anchor="ctr" lIns="73152" rIns="73152" tIns="36576" bIns="36576">
            <a:noAutofit/>
          </a:bodyPr>
          <a:lstStyle/>
          <a:p>
            <a:pPr algn="l" marL="236189" indent="-236189">
              <a:spcBef>
                <a:spcPts val="0"/>
              </a:spcBef>
              <a:spcAft>
                <a:spcPts val="500"/>
              </a:spcAft>
            </a:pPr>
            <a:r>
              <a:rPr lang="tr-TR" sz="1900" b="1" i="0">
                <a:solidFill>
                  <a:srgbClr val="65449A"/>
                </a:solidFill>
                <a:latin typeface="Calibri"/>
              </a:rPr>
              <a:t>•  </a:t>
            </a:r>
            <a:r>
              <a:rPr lang="tr-TR" sz="1900" b="0" i="0">
                <a:solidFill>
                  <a:srgbClr val="262626"/>
                </a:solidFill>
                <a:latin typeface="Calibri"/>
              </a:rPr>
              <a:t>Sosyal ve psikolojik destek hizmetlerinin sağlanması</a:t>
            </a:r>
          </a:p>
          <a:p>
            <a:pPr algn="l" marL="236189" indent="-236189">
              <a:spcBef>
                <a:spcPts val="0"/>
              </a:spcBef>
              <a:spcAft>
                <a:spcPts val="500"/>
              </a:spcAft>
            </a:pPr>
            <a:r>
              <a:rPr lang="tr-TR" sz="1900" b="1" i="0">
                <a:solidFill>
                  <a:srgbClr val="65449A"/>
                </a:solidFill>
                <a:latin typeface="Calibri"/>
              </a:rPr>
              <a:t>•  </a:t>
            </a:r>
            <a:r>
              <a:rPr lang="tr-TR" sz="1900" b="0" i="0">
                <a:solidFill>
                  <a:srgbClr val="262626"/>
                </a:solidFill>
                <a:latin typeface="Calibri"/>
              </a:rPr>
              <a:t>Ekonomik canlılığın yeniden sağlanması</a:t>
            </a:r>
          </a:p>
          <a:p>
            <a:pPr algn="l" marL="236189" indent="-236189">
              <a:spcBef>
                <a:spcPts val="0"/>
              </a:spcBef>
              <a:spcAft>
                <a:spcPts val="0"/>
              </a:spcAft>
            </a:pPr>
            <a:r>
              <a:rPr lang="tr-TR" sz="1900" b="1" i="0">
                <a:solidFill>
                  <a:srgbClr val="65449A"/>
                </a:solidFill>
                <a:latin typeface="Calibri"/>
              </a:rPr>
              <a:t>•  </a:t>
            </a:r>
            <a:r>
              <a:rPr lang="tr-TR" sz="1900" b="0" i="0">
                <a:solidFill>
                  <a:srgbClr val="262626"/>
                </a:solidFill>
                <a:latin typeface="Calibri"/>
              </a:rPr>
              <a:t>Normal hayat koşullarının kurulması</a:t>
            </a:r>
          </a:p>
        </p:txBody>
      </p:sp>
      <p:pic>
        <p:nvPicPr>
          <p:cNvPr id="30" name="Picture 29" descr="h32_s208_ikon4.jpg"/>
          <p:cNvPicPr>
            <a:picLocks noChangeAspect="1"/>
          </p:cNvPicPr>
          <p:nvPr/>
        </p:nvPicPr>
        <p:blipFill>
          <a:blip r:embed="rId7"/>
          <a:stretch>
            <a:fillRect/>
          </a:stretch>
        </p:blipFill>
        <p:spPr>
          <a:xfrm>
            <a:off x="4800600" y="5806440"/>
            <a:ext cx="438912" cy="438912"/>
          </a:xfrm>
          <a:prstGeom prst="rect">
            <a:avLst/>
          </a:prstGeom>
        </p:spPr>
      </p:pic>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208</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149 / 250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Tartışmalı kartlar: başka aşamaya da girer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TARTIŞ</a:t>
            </a:r>
          </a:p>
        </p:txBody>
      </p:sp>
      <p:sp>
        <p:nvSpPr>
          <p:cNvPr id="6" name="Rounded Rectangle 5"/>
          <p:cNvSpPr/>
          <p:nvPr/>
        </p:nvSpPr>
        <p:spPr>
          <a:xfrm>
            <a:off x="502920" y="1243584"/>
            <a:ext cx="4206240" cy="2423160"/>
          </a:xfrm>
          <a:prstGeom prst="roundRect">
            <a:avLst>
              <a:gd name="adj" fmla="val 8000"/>
            </a:avLst>
          </a:prstGeom>
          <a:solidFill>
            <a:srgbClr val="F6D9C4"/>
          </a:solidFill>
          <a:ln>
            <a:noFill/>
          </a:ln>
          <a:effectLst/>
        </p:spPr>
        <p:txBody>
          <a:bodyPr rtlCol="0" anchor="ctr" wrap="square" lIns="228600" rIns="228600" tIns="73152" bIns="73152">
            <a:noAutofit/>
          </a:bodyPr>
          <a:lstStyle/>
          <a:p>
            <a:pPr algn="l">
              <a:spcBef>
                <a:spcPts val="0"/>
              </a:spcBef>
              <a:spcAft>
                <a:spcPts val="0"/>
              </a:spcAft>
            </a:pPr>
            <a:r>
              <a:rPr lang="tr-TR" sz="2400" b="1" i="0">
                <a:solidFill>
                  <a:srgbClr val="262626"/>
                </a:solidFill>
                <a:latin typeface="Calibri"/>
              </a:rPr>
              <a:t>Halkın sel ve taşkın konusunda eğitilmesi</a:t>
            </a:r>
          </a:p>
        </p:txBody>
      </p:sp>
      <p:sp>
        <p:nvSpPr>
          <p:cNvPr id="7" name="Rounded Rectangle 6"/>
          <p:cNvSpPr/>
          <p:nvPr/>
        </p:nvSpPr>
        <p:spPr>
          <a:xfrm>
            <a:off x="4937760" y="1243584"/>
            <a:ext cx="6751015" cy="548640"/>
          </a:xfrm>
          <a:prstGeom prst="roundRect">
            <a:avLst>
              <a:gd name="adj" fmla="val 8000"/>
            </a:avLst>
          </a:prstGeom>
          <a:solidFill>
            <a:srgbClr val="FFF3D1"/>
          </a:solidFill>
          <a:ln>
            <a:noFill/>
          </a:ln>
          <a:effectLst/>
        </p:spPr>
        <p:txBody>
          <a:bodyPr rtlCol="0" anchor="ctr" wrap="square" lIns="128016" rIns="128016" tIns="0" bIns="0">
            <a:noAutofit/>
          </a:bodyPr>
          <a:lstStyle/>
          <a:p>
            <a:pPr algn="l">
              <a:spcBef>
                <a:spcPts val="0"/>
              </a:spcBef>
              <a:spcAft>
                <a:spcPts val="0"/>
              </a:spcAft>
            </a:pPr>
            <a:r>
              <a:rPr lang="tr-TR" sz="1900" b="1" i="0">
                <a:solidFill>
                  <a:srgbClr val="262626"/>
                </a:solidFill>
                <a:latin typeface="Calibri"/>
              </a:rPr>
              <a:t>Hangi aşamaya koydunuz? Başka aşamaya da girer mi? Neden?</a:t>
            </a:r>
          </a:p>
        </p:txBody>
      </p:sp>
      <p:sp>
        <p:nvSpPr>
          <p:cNvPr id="8" name="Rounded Rectangle 7"/>
          <p:cNvSpPr/>
          <p:nvPr/>
        </p:nvSpPr>
        <p:spPr>
          <a:xfrm>
            <a:off x="4937760" y="1901952"/>
            <a:ext cx="6751015" cy="176479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9" name="Connector 8"/>
          <p:cNvCxnSpPr/>
          <p:nvPr/>
        </p:nvCxnSpPr>
        <p:spPr>
          <a:xfrm>
            <a:off x="5120640" y="2254910"/>
            <a:ext cx="6385255" cy="0"/>
          </a:xfrm>
          <a:prstGeom prst="line">
            <a:avLst/>
          </a:prstGeom>
          <a:ln w="12700">
            <a:solidFill>
              <a:srgbClr val="D9D9D9"/>
            </a:solidFill>
            <a:prstDash val="dash"/>
          </a:ln>
        </p:spPr>
      </p:cxnSp>
      <p:cxnSp>
        <p:nvCxnSpPr>
          <p:cNvPr id="10" name="Connector 9"/>
          <p:cNvCxnSpPr/>
          <p:nvPr/>
        </p:nvCxnSpPr>
        <p:spPr>
          <a:xfrm>
            <a:off x="5120640" y="2607868"/>
            <a:ext cx="6385255" cy="0"/>
          </a:xfrm>
          <a:prstGeom prst="line">
            <a:avLst/>
          </a:prstGeom>
          <a:ln w="12700">
            <a:solidFill>
              <a:srgbClr val="D9D9D9"/>
            </a:solidFill>
            <a:prstDash val="dash"/>
          </a:ln>
        </p:spPr>
      </p:cxnSp>
      <p:cxnSp>
        <p:nvCxnSpPr>
          <p:cNvPr id="11" name="Connector 10"/>
          <p:cNvCxnSpPr/>
          <p:nvPr/>
        </p:nvCxnSpPr>
        <p:spPr>
          <a:xfrm>
            <a:off x="5120640" y="2960827"/>
            <a:ext cx="6385255" cy="0"/>
          </a:xfrm>
          <a:prstGeom prst="line">
            <a:avLst/>
          </a:prstGeom>
          <a:ln w="12700">
            <a:solidFill>
              <a:srgbClr val="D9D9D9"/>
            </a:solidFill>
            <a:prstDash val="dash"/>
          </a:ln>
        </p:spPr>
      </p:cxnSp>
      <p:cxnSp>
        <p:nvCxnSpPr>
          <p:cNvPr id="12" name="Connector 11"/>
          <p:cNvCxnSpPr/>
          <p:nvPr/>
        </p:nvCxnSpPr>
        <p:spPr>
          <a:xfrm>
            <a:off x="5120640" y="3313785"/>
            <a:ext cx="6385255" cy="0"/>
          </a:xfrm>
          <a:prstGeom prst="line">
            <a:avLst/>
          </a:prstGeom>
          <a:ln w="12700">
            <a:solidFill>
              <a:srgbClr val="D9D9D9"/>
            </a:solidFill>
            <a:prstDash val="dash"/>
          </a:ln>
        </p:spPr>
      </p:cxnSp>
      <p:sp>
        <p:nvSpPr>
          <p:cNvPr id="13" name="Rounded Rectangle 12"/>
          <p:cNvSpPr/>
          <p:nvPr/>
        </p:nvSpPr>
        <p:spPr>
          <a:xfrm>
            <a:off x="502920" y="3803904"/>
            <a:ext cx="4206240" cy="2423160"/>
          </a:xfrm>
          <a:prstGeom prst="roundRect">
            <a:avLst>
              <a:gd name="adj" fmla="val 8000"/>
            </a:avLst>
          </a:prstGeom>
          <a:solidFill>
            <a:srgbClr val="F6D9C4"/>
          </a:solidFill>
          <a:ln>
            <a:noFill/>
          </a:ln>
          <a:effectLst/>
        </p:spPr>
        <p:txBody>
          <a:bodyPr rtlCol="0" anchor="ctr" wrap="square" lIns="228600" rIns="228600" tIns="73152" bIns="73152">
            <a:noAutofit/>
          </a:bodyPr>
          <a:lstStyle/>
          <a:p>
            <a:pPr algn="l">
              <a:spcBef>
                <a:spcPts val="0"/>
              </a:spcBef>
              <a:spcAft>
                <a:spcPts val="0"/>
              </a:spcAft>
            </a:pPr>
            <a:r>
              <a:rPr lang="tr-TR" sz="2400" b="1" i="0">
                <a:solidFill>
                  <a:srgbClr val="262626"/>
                </a:solidFill>
                <a:latin typeface="Calibri"/>
              </a:rPr>
              <a:t>Sel konusundaki uyarıların iletişim araçlarından mutlaka takip edilmesi</a:t>
            </a:r>
          </a:p>
        </p:txBody>
      </p:sp>
      <p:sp>
        <p:nvSpPr>
          <p:cNvPr id="14" name="Rounded Rectangle 13"/>
          <p:cNvSpPr/>
          <p:nvPr/>
        </p:nvSpPr>
        <p:spPr>
          <a:xfrm>
            <a:off x="4937760" y="3803904"/>
            <a:ext cx="6751015" cy="548640"/>
          </a:xfrm>
          <a:prstGeom prst="roundRect">
            <a:avLst>
              <a:gd name="adj" fmla="val 8000"/>
            </a:avLst>
          </a:prstGeom>
          <a:solidFill>
            <a:srgbClr val="FFF3D1"/>
          </a:solidFill>
          <a:ln>
            <a:noFill/>
          </a:ln>
          <a:effectLst/>
        </p:spPr>
        <p:txBody>
          <a:bodyPr rtlCol="0" anchor="ctr" wrap="square" lIns="128016" rIns="128016" tIns="0" bIns="0">
            <a:noAutofit/>
          </a:bodyPr>
          <a:lstStyle/>
          <a:p>
            <a:pPr algn="l">
              <a:spcBef>
                <a:spcPts val="0"/>
              </a:spcBef>
              <a:spcAft>
                <a:spcPts val="0"/>
              </a:spcAft>
            </a:pPr>
            <a:r>
              <a:rPr lang="tr-TR" sz="1900" b="1" i="0">
                <a:solidFill>
                  <a:srgbClr val="262626"/>
                </a:solidFill>
                <a:latin typeface="Calibri"/>
              </a:rPr>
              <a:t>Hangi aşamaya koydunuz? Başka aşamaya da girer mi? Neden?</a:t>
            </a:r>
          </a:p>
        </p:txBody>
      </p:sp>
      <p:sp>
        <p:nvSpPr>
          <p:cNvPr id="15" name="Rounded Rectangle 14"/>
          <p:cNvSpPr/>
          <p:nvPr/>
        </p:nvSpPr>
        <p:spPr>
          <a:xfrm>
            <a:off x="4937760" y="4462272"/>
            <a:ext cx="6751015" cy="176479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6" name="Connector 15"/>
          <p:cNvCxnSpPr/>
          <p:nvPr/>
        </p:nvCxnSpPr>
        <p:spPr>
          <a:xfrm>
            <a:off x="5120640" y="4815230"/>
            <a:ext cx="6385255" cy="0"/>
          </a:xfrm>
          <a:prstGeom prst="line">
            <a:avLst/>
          </a:prstGeom>
          <a:ln w="12700">
            <a:solidFill>
              <a:srgbClr val="D9D9D9"/>
            </a:solidFill>
            <a:prstDash val="dash"/>
          </a:ln>
        </p:spPr>
      </p:cxnSp>
      <p:cxnSp>
        <p:nvCxnSpPr>
          <p:cNvPr id="17" name="Connector 16"/>
          <p:cNvCxnSpPr/>
          <p:nvPr/>
        </p:nvCxnSpPr>
        <p:spPr>
          <a:xfrm>
            <a:off x="5120640" y="5168188"/>
            <a:ext cx="6385255" cy="0"/>
          </a:xfrm>
          <a:prstGeom prst="line">
            <a:avLst/>
          </a:prstGeom>
          <a:ln w="12700">
            <a:solidFill>
              <a:srgbClr val="D9D9D9"/>
            </a:solidFill>
            <a:prstDash val="dash"/>
          </a:ln>
        </p:spPr>
      </p:cxnSp>
      <p:cxnSp>
        <p:nvCxnSpPr>
          <p:cNvPr id="18" name="Connector 17"/>
          <p:cNvCxnSpPr/>
          <p:nvPr/>
        </p:nvCxnSpPr>
        <p:spPr>
          <a:xfrm>
            <a:off x="5120640" y="5521147"/>
            <a:ext cx="6385255" cy="0"/>
          </a:xfrm>
          <a:prstGeom prst="line">
            <a:avLst/>
          </a:prstGeom>
          <a:ln w="12700">
            <a:solidFill>
              <a:srgbClr val="D9D9D9"/>
            </a:solidFill>
            <a:prstDash val="dash"/>
          </a:ln>
        </p:spPr>
      </p:cxnSp>
      <p:cxnSp>
        <p:nvCxnSpPr>
          <p:cNvPr id="19" name="Connector 18"/>
          <p:cNvCxnSpPr/>
          <p:nvPr/>
        </p:nvCxnSpPr>
        <p:spPr>
          <a:xfrm>
            <a:off x="5120640" y="5874105"/>
            <a:ext cx="6385255" cy="0"/>
          </a:xfrm>
          <a:prstGeom prst="line">
            <a:avLst/>
          </a:prstGeom>
          <a:ln w="12700">
            <a:solidFill>
              <a:srgbClr val="D9D9D9"/>
            </a:solidFill>
            <a:prstDash val="dash"/>
          </a:ln>
        </p:spPr>
      </p:cxn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208</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150 / 250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Tartışmalı kartlar: başka aşamaya da girer mi?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43584"/>
            <a:ext cx="4206240" cy="2423160"/>
          </a:xfrm>
          <a:prstGeom prst="roundRect">
            <a:avLst>
              <a:gd name="adj" fmla="val 8000"/>
            </a:avLst>
          </a:prstGeom>
          <a:solidFill>
            <a:srgbClr val="F6D9C4"/>
          </a:solidFill>
          <a:ln>
            <a:noFill/>
          </a:ln>
          <a:effectLst/>
        </p:spPr>
        <p:txBody>
          <a:bodyPr rtlCol="0" anchor="ctr" wrap="square" lIns="228600" rIns="228600" tIns="73152" bIns="73152">
            <a:noAutofit/>
          </a:bodyPr>
          <a:lstStyle/>
          <a:p>
            <a:pPr algn="l">
              <a:spcBef>
                <a:spcPts val="0"/>
              </a:spcBef>
              <a:spcAft>
                <a:spcPts val="0"/>
              </a:spcAft>
            </a:pPr>
            <a:r>
              <a:rPr lang="tr-TR" sz="2400" b="1" i="0">
                <a:solidFill>
                  <a:srgbClr val="262626"/>
                </a:solidFill>
                <a:latin typeface="Calibri"/>
              </a:rPr>
              <a:t>Halkın sel ve taşkın konusunda eğitilmesi</a:t>
            </a:r>
          </a:p>
        </p:txBody>
      </p:sp>
      <p:sp>
        <p:nvSpPr>
          <p:cNvPr id="7" name="Rounded Rectangle 6"/>
          <p:cNvSpPr/>
          <p:nvPr/>
        </p:nvSpPr>
        <p:spPr>
          <a:xfrm>
            <a:off x="4937760" y="1243584"/>
            <a:ext cx="3284067" cy="2423160"/>
          </a:xfrm>
          <a:prstGeom prst="roundRect">
            <a:avLst>
              <a:gd name="adj" fmla="val 6000"/>
            </a:avLst>
          </a:prstGeom>
          <a:solidFill>
            <a:srgbClr val="E3F1E4"/>
          </a:solidFill>
          <a:ln w="25400">
            <a:solidFill>
              <a:srgbClr val="D97316"/>
            </a:solidFill>
          </a:ln>
          <a:effectLst/>
        </p:spPr>
        <p:txBody>
          <a:bodyPr rtlCol="0" anchor="ctr"/>
          <a:lstStyle/>
          <a:p/>
        </p:txBody>
      </p:sp>
      <p:sp>
        <p:nvSpPr>
          <p:cNvPr id="8" name="Rounded Rectangle 7"/>
          <p:cNvSpPr/>
          <p:nvPr/>
        </p:nvSpPr>
        <p:spPr>
          <a:xfrm>
            <a:off x="5047488" y="1353312"/>
            <a:ext cx="3064611" cy="438912"/>
          </a:xfrm>
          <a:prstGeom prst="roundRect">
            <a:avLst>
              <a:gd name="adj" fmla="val 30000"/>
            </a:avLst>
          </a:prstGeom>
          <a:solidFill>
            <a:srgbClr val="D97316"/>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2 · Hazırlıklı olma</a:t>
            </a:r>
          </a:p>
        </p:txBody>
      </p:sp>
      <p:sp>
        <p:nvSpPr>
          <p:cNvPr id="9" name="TextBox 8"/>
          <p:cNvSpPr txBox="1"/>
          <p:nvPr/>
        </p:nvSpPr>
        <p:spPr>
          <a:xfrm>
            <a:off x="5074920" y="1847088"/>
            <a:ext cx="3009747" cy="1737360"/>
          </a:xfrm>
          <a:prstGeom prst="rect">
            <a:avLst/>
          </a:prstGeom>
          <a:noFill/>
        </p:spPr>
        <p:txBody>
          <a:bodyPr wrap="square" anchor="ctr" lIns="73152" rIns="73152" tIns="36576" bIns="36576">
            <a:noAutofit/>
          </a:bodyPr>
          <a:lstStyle/>
          <a:p>
            <a:pPr algn="l">
              <a:spcBef>
                <a:spcPts val="0"/>
              </a:spcBef>
              <a:spcAft>
                <a:spcPts val="300"/>
              </a:spcAft>
            </a:pPr>
            <a:r>
              <a:rPr lang="tr-TR" sz="1500" b="1" i="0">
                <a:solidFill>
                  <a:srgbClr val="2E7D32"/>
                </a:solidFill>
                <a:latin typeface="Calibri"/>
              </a:rPr>
              <a:t>örnek yerleşim</a:t>
            </a:r>
          </a:p>
          <a:p>
            <a:pPr algn="l">
              <a:spcBef>
                <a:spcPts val="0"/>
              </a:spcBef>
              <a:spcAft>
                <a:spcPts val="0"/>
              </a:spcAft>
            </a:pPr>
            <a:r>
              <a:rPr lang="tr-TR" sz="1800" b="0" i="0">
                <a:solidFill>
                  <a:srgbClr val="262626"/>
                </a:solidFill>
                <a:latin typeface="Calibri"/>
              </a:rPr>
              <a:t>Afetten önce, olası sonuçlara hazırlık (s. 202 hazırlıklı olma).</a:t>
            </a:r>
          </a:p>
        </p:txBody>
      </p:sp>
      <p:sp>
        <p:nvSpPr>
          <p:cNvPr id="10" name="Rounded Rectangle 9"/>
          <p:cNvSpPr/>
          <p:nvPr/>
        </p:nvSpPr>
        <p:spPr>
          <a:xfrm>
            <a:off x="8404707" y="1243584"/>
            <a:ext cx="3284067" cy="2423160"/>
          </a:xfrm>
          <a:prstGeom prst="roundRect">
            <a:avLst>
              <a:gd name="adj" fmla="val 6000"/>
            </a:avLst>
          </a:prstGeom>
          <a:solidFill>
            <a:srgbClr val="FFFFFF"/>
          </a:solidFill>
          <a:ln w="25400">
            <a:solidFill>
              <a:srgbClr val="1F86BF"/>
            </a:solidFill>
          </a:ln>
          <a:effectLst/>
        </p:spPr>
        <p:txBody>
          <a:bodyPr rtlCol="0" anchor="ctr"/>
          <a:lstStyle/>
          <a:p/>
        </p:txBody>
      </p:sp>
      <p:sp>
        <p:nvSpPr>
          <p:cNvPr id="11" name="Rounded Rectangle 10"/>
          <p:cNvSpPr/>
          <p:nvPr/>
        </p:nvSpPr>
        <p:spPr>
          <a:xfrm>
            <a:off x="8514435" y="1353312"/>
            <a:ext cx="3064611" cy="438912"/>
          </a:xfrm>
          <a:prstGeom prst="roundRect">
            <a:avLst>
              <a:gd name="adj" fmla="val 30000"/>
            </a:avLst>
          </a:prstGeom>
          <a:solidFill>
            <a:srgbClr val="1F86B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1 · Risk ve zarar azaltma</a:t>
            </a:r>
          </a:p>
        </p:txBody>
      </p:sp>
      <p:sp>
        <p:nvSpPr>
          <p:cNvPr id="12" name="TextBox 11"/>
          <p:cNvSpPr txBox="1"/>
          <p:nvPr/>
        </p:nvSpPr>
        <p:spPr>
          <a:xfrm>
            <a:off x="8541867" y="1847088"/>
            <a:ext cx="3009747" cy="1737360"/>
          </a:xfrm>
          <a:prstGeom prst="rect">
            <a:avLst/>
          </a:prstGeom>
          <a:noFill/>
        </p:spPr>
        <p:txBody>
          <a:bodyPr wrap="square" anchor="ctr" lIns="73152" rIns="73152" tIns="36576" bIns="36576">
            <a:noAutofit/>
          </a:bodyPr>
          <a:lstStyle/>
          <a:p>
            <a:pPr algn="l">
              <a:spcBef>
                <a:spcPts val="0"/>
              </a:spcBef>
              <a:spcAft>
                <a:spcPts val="300"/>
              </a:spcAft>
            </a:pPr>
            <a:r>
              <a:rPr lang="tr-TR" sz="1500" b="1" i="0">
                <a:solidFill>
                  <a:srgbClr val="767676"/>
                </a:solidFill>
                <a:latin typeface="Calibri"/>
              </a:rPr>
              <a:t>gerekçeyle bu da kabul</a:t>
            </a:r>
          </a:p>
          <a:p>
            <a:pPr algn="l">
              <a:spcBef>
                <a:spcPts val="0"/>
              </a:spcBef>
              <a:spcAft>
                <a:spcPts val="0"/>
              </a:spcAft>
            </a:pPr>
            <a:r>
              <a:rPr lang="tr-TR" sz="1800" b="0" i="0">
                <a:solidFill>
                  <a:srgbClr val="262626"/>
                </a:solidFill>
                <a:latin typeface="Calibri"/>
              </a:rPr>
              <a:t>Eğitilen halk riskli yere yerleşmez, zarar görme riski azalır (s. 212: toplumun kapasitesi).</a:t>
            </a:r>
          </a:p>
        </p:txBody>
      </p:sp>
      <p:sp>
        <p:nvSpPr>
          <p:cNvPr id="13" name="Rounded Rectangle 12"/>
          <p:cNvSpPr/>
          <p:nvPr/>
        </p:nvSpPr>
        <p:spPr>
          <a:xfrm>
            <a:off x="502920" y="3803904"/>
            <a:ext cx="4206240" cy="2423160"/>
          </a:xfrm>
          <a:prstGeom prst="roundRect">
            <a:avLst>
              <a:gd name="adj" fmla="val 8000"/>
            </a:avLst>
          </a:prstGeom>
          <a:solidFill>
            <a:srgbClr val="F6D9C4"/>
          </a:solidFill>
          <a:ln>
            <a:noFill/>
          </a:ln>
          <a:effectLst/>
        </p:spPr>
        <p:txBody>
          <a:bodyPr rtlCol="0" anchor="ctr" wrap="square" lIns="228600" rIns="228600" tIns="73152" bIns="73152">
            <a:noAutofit/>
          </a:bodyPr>
          <a:lstStyle/>
          <a:p>
            <a:pPr algn="l">
              <a:spcBef>
                <a:spcPts val="0"/>
              </a:spcBef>
              <a:spcAft>
                <a:spcPts val="0"/>
              </a:spcAft>
            </a:pPr>
            <a:r>
              <a:rPr lang="tr-TR" sz="2400" b="1" i="0">
                <a:solidFill>
                  <a:srgbClr val="262626"/>
                </a:solidFill>
                <a:latin typeface="Calibri"/>
              </a:rPr>
              <a:t>Sel konusundaki uyarıların iletişim araçlarından mutlaka takip edilmesi</a:t>
            </a:r>
          </a:p>
        </p:txBody>
      </p:sp>
      <p:sp>
        <p:nvSpPr>
          <p:cNvPr id="14" name="Rounded Rectangle 13"/>
          <p:cNvSpPr/>
          <p:nvPr/>
        </p:nvSpPr>
        <p:spPr>
          <a:xfrm>
            <a:off x="4937760" y="3803904"/>
            <a:ext cx="3284067" cy="2423160"/>
          </a:xfrm>
          <a:prstGeom prst="roundRect">
            <a:avLst>
              <a:gd name="adj" fmla="val 6000"/>
            </a:avLst>
          </a:prstGeom>
          <a:solidFill>
            <a:srgbClr val="E3F1E4"/>
          </a:solidFill>
          <a:ln w="25400">
            <a:solidFill>
              <a:srgbClr val="D97316"/>
            </a:solidFill>
          </a:ln>
          <a:effectLst/>
        </p:spPr>
        <p:txBody>
          <a:bodyPr rtlCol="0" anchor="ctr"/>
          <a:lstStyle/>
          <a:p/>
        </p:txBody>
      </p:sp>
      <p:sp>
        <p:nvSpPr>
          <p:cNvPr id="15" name="Rounded Rectangle 14"/>
          <p:cNvSpPr/>
          <p:nvPr/>
        </p:nvSpPr>
        <p:spPr>
          <a:xfrm>
            <a:off x="5047488" y="3913632"/>
            <a:ext cx="3064611" cy="438912"/>
          </a:xfrm>
          <a:prstGeom prst="roundRect">
            <a:avLst>
              <a:gd name="adj" fmla="val 30000"/>
            </a:avLst>
          </a:prstGeom>
          <a:solidFill>
            <a:srgbClr val="D97316"/>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2 · Hazırlıklı olma</a:t>
            </a:r>
          </a:p>
        </p:txBody>
      </p:sp>
      <p:sp>
        <p:nvSpPr>
          <p:cNvPr id="16" name="TextBox 15"/>
          <p:cNvSpPr txBox="1"/>
          <p:nvPr/>
        </p:nvSpPr>
        <p:spPr>
          <a:xfrm>
            <a:off x="5074920" y="4407408"/>
            <a:ext cx="3009747" cy="1737360"/>
          </a:xfrm>
          <a:prstGeom prst="rect">
            <a:avLst/>
          </a:prstGeom>
          <a:noFill/>
        </p:spPr>
        <p:txBody>
          <a:bodyPr wrap="square" anchor="ctr" lIns="73152" rIns="73152" tIns="36576" bIns="36576">
            <a:noAutofit/>
          </a:bodyPr>
          <a:lstStyle/>
          <a:p>
            <a:pPr algn="l">
              <a:spcBef>
                <a:spcPts val="0"/>
              </a:spcBef>
              <a:spcAft>
                <a:spcPts val="300"/>
              </a:spcAft>
            </a:pPr>
            <a:r>
              <a:rPr lang="tr-TR" sz="1500" b="1" i="0">
                <a:solidFill>
                  <a:srgbClr val="2E7D32"/>
                </a:solidFill>
                <a:latin typeface="Calibri"/>
              </a:rPr>
              <a:t>örnek yerleşim</a:t>
            </a:r>
          </a:p>
          <a:p>
            <a:pPr algn="l">
              <a:spcBef>
                <a:spcPts val="0"/>
              </a:spcBef>
              <a:spcAft>
                <a:spcPts val="0"/>
              </a:spcAft>
            </a:pPr>
            <a:r>
              <a:rPr lang="tr-TR" sz="1800" b="0" i="0">
                <a:solidFill>
                  <a:srgbClr val="262626"/>
                </a:solidFill>
                <a:latin typeface="Calibri"/>
              </a:rPr>
              <a:t>Erken uyarı sistemleri bu aşamadadır (s. 202).</a:t>
            </a:r>
          </a:p>
        </p:txBody>
      </p:sp>
      <p:sp>
        <p:nvSpPr>
          <p:cNvPr id="17" name="Rounded Rectangle 16"/>
          <p:cNvSpPr/>
          <p:nvPr/>
        </p:nvSpPr>
        <p:spPr>
          <a:xfrm>
            <a:off x="8404707" y="3803904"/>
            <a:ext cx="3284067" cy="2423160"/>
          </a:xfrm>
          <a:prstGeom prst="roundRect">
            <a:avLst>
              <a:gd name="adj" fmla="val 6000"/>
            </a:avLst>
          </a:prstGeom>
          <a:solidFill>
            <a:srgbClr val="FFFFFF"/>
          </a:solidFill>
          <a:ln w="25400">
            <a:solidFill>
              <a:srgbClr val="CC3333"/>
            </a:solidFill>
          </a:ln>
          <a:effectLst/>
        </p:spPr>
        <p:txBody>
          <a:bodyPr rtlCol="0" anchor="ctr"/>
          <a:lstStyle/>
          <a:p/>
        </p:txBody>
      </p:sp>
      <p:sp>
        <p:nvSpPr>
          <p:cNvPr id="18" name="Rounded Rectangle 17"/>
          <p:cNvSpPr/>
          <p:nvPr/>
        </p:nvSpPr>
        <p:spPr>
          <a:xfrm>
            <a:off x="8514435" y="3913632"/>
            <a:ext cx="3064611" cy="438912"/>
          </a:xfrm>
          <a:prstGeom prst="roundRect">
            <a:avLst>
              <a:gd name="adj" fmla="val 30000"/>
            </a:avLst>
          </a:prstGeom>
          <a:solidFill>
            <a:srgbClr val="CC3333"/>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3 · Müdahale</a:t>
            </a:r>
          </a:p>
        </p:txBody>
      </p:sp>
      <p:sp>
        <p:nvSpPr>
          <p:cNvPr id="19" name="TextBox 18"/>
          <p:cNvSpPr txBox="1"/>
          <p:nvPr/>
        </p:nvSpPr>
        <p:spPr>
          <a:xfrm>
            <a:off x="8541867" y="4407408"/>
            <a:ext cx="3009747" cy="1737360"/>
          </a:xfrm>
          <a:prstGeom prst="rect">
            <a:avLst/>
          </a:prstGeom>
          <a:noFill/>
        </p:spPr>
        <p:txBody>
          <a:bodyPr wrap="square" anchor="ctr" lIns="73152" rIns="73152" tIns="36576" bIns="36576">
            <a:noAutofit/>
          </a:bodyPr>
          <a:lstStyle/>
          <a:p>
            <a:pPr algn="l">
              <a:spcBef>
                <a:spcPts val="0"/>
              </a:spcBef>
              <a:spcAft>
                <a:spcPts val="300"/>
              </a:spcAft>
            </a:pPr>
            <a:r>
              <a:rPr lang="tr-TR" sz="1500" b="1" i="0">
                <a:solidFill>
                  <a:srgbClr val="767676"/>
                </a:solidFill>
                <a:latin typeface="Calibri"/>
              </a:rPr>
              <a:t>gerekçeyle bu da kabul</a:t>
            </a:r>
          </a:p>
          <a:p>
            <a:pPr algn="l">
              <a:spcBef>
                <a:spcPts val="0"/>
              </a:spcBef>
              <a:spcAft>
                <a:spcPts val="0"/>
              </a:spcAft>
            </a:pPr>
            <a:r>
              <a:rPr lang="tr-TR" sz="1800" b="0" i="0">
                <a:solidFill>
                  <a:srgbClr val="262626"/>
                </a:solidFill>
                <a:latin typeface="Calibri"/>
              </a:rPr>
              <a:t>Sel sırasında uyarıyı izleyip tahliyeye uymak afet esnasında yapılır.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208</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151 / 250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aşamalar arasında nasıl bir ilişki var?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SORU · SÖZCÜ</a:t>
            </a:r>
          </a:p>
        </p:txBody>
      </p:sp>
      <p:sp>
        <p:nvSpPr>
          <p:cNvPr id="6" name="Rounded Rectangle 5"/>
          <p:cNvSpPr/>
          <p:nvPr/>
        </p:nvSpPr>
        <p:spPr>
          <a:xfrm>
            <a:off x="502920" y="1216152"/>
            <a:ext cx="11185855" cy="105156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0"/>
              </a:spcAft>
            </a:pPr>
            <a:r>
              <a:rPr lang="tr-TR" sz="2400" b="1" i="0">
                <a:solidFill>
                  <a:srgbClr val="262626"/>
                </a:solidFill>
                <a:latin typeface="Calibri"/>
              </a:rPr>
              <a:t>Bütüncül afet yönetiminin aşamaları arasında nasıl bir ilişki vardır? Düşüncelerinizi arkadaşlarınızla paylaşınız.</a:t>
            </a:r>
          </a:p>
        </p:txBody>
      </p:sp>
      <p:sp>
        <p:nvSpPr>
          <p:cNvPr id="7" name="Freeform 6"/>
          <p:cNvSpPr/>
          <p:nvPr/>
        </p:nvSpPr>
        <p:spPr>
          <a:xfrm>
            <a:off x="1188720" y="3456432"/>
            <a:ext cx="914400" cy="914400"/>
          </a:xfrm>
          <a:custGeom>
            <a:avLst/>
            <a:gdLst/>
            <a:ahLst/>
            <a:cxnLst/>
            <a:rect l="l" t="t" r="r" b="b"/>
            <a:pathLst>
              <a:path w="914400" h="914400">
                <a:moveTo>
                  <a:pt x="914400" y="0"/>
                </a:moveTo>
                <a:lnTo>
                  <a:pt x="882487" y="557"/>
                </a:lnTo>
                <a:lnTo>
                  <a:pt x="850614" y="2227"/>
                </a:lnTo>
                <a:lnTo>
                  <a:pt x="818819" y="5009"/>
                </a:lnTo>
                <a:lnTo>
                  <a:pt x="787140" y="8898"/>
                </a:lnTo>
                <a:lnTo>
                  <a:pt x="755616" y="13891"/>
                </a:lnTo>
                <a:lnTo>
                  <a:pt x="724285" y="19981"/>
                </a:lnTo>
                <a:lnTo>
                  <a:pt x="693186" y="27161"/>
                </a:lnTo>
                <a:lnTo>
                  <a:pt x="662357" y="35422"/>
                </a:lnTo>
                <a:lnTo>
                  <a:pt x="631834" y="44753"/>
                </a:lnTo>
                <a:lnTo>
                  <a:pt x="601656" y="55145"/>
                </a:lnTo>
                <a:lnTo>
                  <a:pt x="571859" y="66583"/>
                </a:lnTo>
                <a:lnTo>
                  <a:pt x="542480" y="79054"/>
                </a:lnTo>
                <a:lnTo>
                  <a:pt x="513553" y="92542"/>
                </a:lnTo>
                <a:lnTo>
                  <a:pt x="485115" y="107032"/>
                </a:lnTo>
                <a:lnTo>
                  <a:pt x="457200" y="122506"/>
                </a:lnTo>
                <a:lnTo>
                  <a:pt x="429841" y="138944"/>
                </a:lnTo>
                <a:lnTo>
                  <a:pt x="403074" y="156328"/>
                </a:lnTo>
                <a:lnTo>
                  <a:pt x="376929" y="174634"/>
                </a:lnTo>
                <a:lnTo>
                  <a:pt x="351439" y="193842"/>
                </a:lnTo>
                <a:lnTo>
                  <a:pt x="326635" y="213928"/>
                </a:lnTo>
                <a:lnTo>
                  <a:pt x="302546" y="234868"/>
                </a:lnTo>
                <a:lnTo>
                  <a:pt x="279204" y="256635"/>
                </a:lnTo>
                <a:lnTo>
                  <a:pt x="256635" y="279204"/>
                </a:lnTo>
                <a:lnTo>
                  <a:pt x="234868" y="302546"/>
                </a:lnTo>
                <a:lnTo>
                  <a:pt x="213928" y="326635"/>
                </a:lnTo>
                <a:lnTo>
                  <a:pt x="193842" y="351439"/>
                </a:lnTo>
                <a:lnTo>
                  <a:pt x="174634" y="376929"/>
                </a:lnTo>
                <a:lnTo>
                  <a:pt x="156328" y="403074"/>
                </a:lnTo>
                <a:lnTo>
                  <a:pt x="138944" y="429841"/>
                </a:lnTo>
                <a:lnTo>
                  <a:pt x="122506" y="457200"/>
                </a:lnTo>
                <a:lnTo>
                  <a:pt x="107032" y="485115"/>
                </a:lnTo>
                <a:lnTo>
                  <a:pt x="92542" y="513553"/>
                </a:lnTo>
                <a:lnTo>
                  <a:pt x="79054" y="542480"/>
                </a:lnTo>
                <a:lnTo>
                  <a:pt x="66583" y="571859"/>
                </a:lnTo>
                <a:lnTo>
                  <a:pt x="55145" y="601656"/>
                </a:lnTo>
                <a:lnTo>
                  <a:pt x="44753" y="631834"/>
                </a:lnTo>
                <a:lnTo>
                  <a:pt x="35422" y="662357"/>
                </a:lnTo>
                <a:lnTo>
                  <a:pt x="27161" y="693186"/>
                </a:lnTo>
                <a:lnTo>
                  <a:pt x="19981" y="724285"/>
                </a:lnTo>
                <a:lnTo>
                  <a:pt x="13891" y="755616"/>
                </a:lnTo>
                <a:lnTo>
                  <a:pt x="8898" y="787140"/>
                </a:lnTo>
                <a:lnTo>
                  <a:pt x="5009" y="818819"/>
                </a:lnTo>
                <a:lnTo>
                  <a:pt x="2227" y="850614"/>
                </a:lnTo>
                <a:lnTo>
                  <a:pt x="557" y="882487"/>
                </a:lnTo>
                <a:lnTo>
                  <a:pt x="0" y="914400"/>
                </a:lnTo>
                <a:lnTo>
                  <a:pt x="384048" y="914400"/>
                </a:lnTo>
                <a:lnTo>
                  <a:pt x="384371" y="895890"/>
                </a:lnTo>
                <a:lnTo>
                  <a:pt x="385339" y="877404"/>
                </a:lnTo>
                <a:lnTo>
                  <a:pt x="386953" y="858963"/>
                </a:lnTo>
                <a:lnTo>
                  <a:pt x="389209" y="840589"/>
                </a:lnTo>
                <a:lnTo>
                  <a:pt x="392105" y="822305"/>
                </a:lnTo>
                <a:lnTo>
                  <a:pt x="395637" y="804133"/>
                </a:lnTo>
                <a:lnTo>
                  <a:pt x="399801" y="786096"/>
                </a:lnTo>
                <a:lnTo>
                  <a:pt x="404592" y="768215"/>
                </a:lnTo>
                <a:lnTo>
                  <a:pt x="410005" y="750512"/>
                </a:lnTo>
                <a:lnTo>
                  <a:pt x="416032" y="733008"/>
                </a:lnTo>
                <a:lnTo>
                  <a:pt x="422666" y="715726"/>
                </a:lnTo>
                <a:lnTo>
                  <a:pt x="429899" y="698686"/>
                </a:lnTo>
                <a:lnTo>
                  <a:pt x="437722" y="681908"/>
                </a:lnTo>
                <a:lnTo>
                  <a:pt x="446126" y="665414"/>
                </a:lnTo>
                <a:lnTo>
                  <a:pt x="455101" y="649224"/>
                </a:lnTo>
                <a:lnTo>
                  <a:pt x="464635" y="633356"/>
                </a:lnTo>
                <a:lnTo>
                  <a:pt x="474718" y="617830"/>
                </a:lnTo>
                <a:lnTo>
                  <a:pt x="485336" y="602666"/>
                </a:lnTo>
                <a:lnTo>
                  <a:pt x="496476" y="587882"/>
                </a:lnTo>
                <a:lnTo>
                  <a:pt x="508126" y="573496"/>
                </a:lnTo>
                <a:lnTo>
                  <a:pt x="520271" y="559525"/>
                </a:lnTo>
                <a:lnTo>
                  <a:pt x="532896" y="545986"/>
                </a:lnTo>
                <a:lnTo>
                  <a:pt x="545986" y="532896"/>
                </a:lnTo>
                <a:lnTo>
                  <a:pt x="559525" y="520271"/>
                </a:lnTo>
                <a:lnTo>
                  <a:pt x="573496" y="508126"/>
                </a:lnTo>
                <a:lnTo>
                  <a:pt x="587882" y="496476"/>
                </a:lnTo>
                <a:lnTo>
                  <a:pt x="602666" y="485336"/>
                </a:lnTo>
                <a:lnTo>
                  <a:pt x="617830" y="474718"/>
                </a:lnTo>
                <a:lnTo>
                  <a:pt x="633356" y="464635"/>
                </a:lnTo>
                <a:lnTo>
                  <a:pt x="649224" y="455101"/>
                </a:lnTo>
                <a:lnTo>
                  <a:pt x="665414" y="446126"/>
                </a:lnTo>
                <a:lnTo>
                  <a:pt x="681908" y="437722"/>
                </a:lnTo>
                <a:lnTo>
                  <a:pt x="698686" y="429899"/>
                </a:lnTo>
                <a:lnTo>
                  <a:pt x="715726" y="422666"/>
                </a:lnTo>
                <a:lnTo>
                  <a:pt x="733008" y="416032"/>
                </a:lnTo>
                <a:lnTo>
                  <a:pt x="750512" y="410005"/>
                </a:lnTo>
                <a:lnTo>
                  <a:pt x="768215" y="404592"/>
                </a:lnTo>
                <a:lnTo>
                  <a:pt x="786096" y="399801"/>
                </a:lnTo>
                <a:lnTo>
                  <a:pt x="804133" y="395637"/>
                </a:lnTo>
                <a:lnTo>
                  <a:pt x="822305" y="392105"/>
                </a:lnTo>
                <a:lnTo>
                  <a:pt x="840589" y="389209"/>
                </a:lnTo>
                <a:lnTo>
                  <a:pt x="858963" y="386953"/>
                </a:lnTo>
                <a:lnTo>
                  <a:pt x="877404" y="385339"/>
                </a:lnTo>
                <a:lnTo>
                  <a:pt x="895890" y="384371"/>
                </a:lnTo>
                <a:lnTo>
                  <a:pt x="914400" y="384048"/>
                </a:lnTo>
                <a:close/>
              </a:path>
            </a:pathLst>
          </a:custGeom>
          <a:solidFill>
            <a:srgbClr val="1F86BF"/>
          </a:solidFill>
          <a:ln>
            <a:noFill/>
          </a:ln>
        </p:spPr>
        <p:txBody>
          <a:bodyPr rtlCol="0" anchor="ctr"/>
          <a:lstStyle/>
          <a:p>
            <a:pPr algn="ctr"/>
          </a:p>
        </p:txBody>
      </p:sp>
      <p:sp>
        <p:nvSpPr>
          <p:cNvPr id="8" name="Freeform 7"/>
          <p:cNvSpPr/>
          <p:nvPr/>
        </p:nvSpPr>
        <p:spPr>
          <a:xfrm>
            <a:off x="2103120" y="3456432"/>
            <a:ext cx="914400" cy="914400"/>
          </a:xfrm>
          <a:custGeom>
            <a:avLst/>
            <a:gdLst/>
            <a:ahLst/>
            <a:cxnLst/>
            <a:rect l="l" t="t" r="r" b="b"/>
            <a:pathLst>
              <a:path w="914400" h="914400">
                <a:moveTo>
                  <a:pt x="914400" y="914400"/>
                </a:moveTo>
                <a:lnTo>
                  <a:pt x="913842" y="882487"/>
                </a:lnTo>
                <a:lnTo>
                  <a:pt x="912172" y="850614"/>
                </a:lnTo>
                <a:lnTo>
                  <a:pt x="909390" y="818819"/>
                </a:lnTo>
                <a:lnTo>
                  <a:pt x="905501" y="787140"/>
                </a:lnTo>
                <a:lnTo>
                  <a:pt x="900508" y="755616"/>
                </a:lnTo>
                <a:lnTo>
                  <a:pt x="894418" y="724285"/>
                </a:lnTo>
                <a:lnTo>
                  <a:pt x="887238" y="693186"/>
                </a:lnTo>
                <a:lnTo>
                  <a:pt x="878977" y="662357"/>
                </a:lnTo>
                <a:lnTo>
                  <a:pt x="869646" y="631834"/>
                </a:lnTo>
                <a:lnTo>
                  <a:pt x="859254" y="601656"/>
                </a:lnTo>
                <a:lnTo>
                  <a:pt x="847816" y="571859"/>
                </a:lnTo>
                <a:lnTo>
                  <a:pt x="835345" y="542480"/>
                </a:lnTo>
                <a:lnTo>
                  <a:pt x="821857" y="513553"/>
                </a:lnTo>
                <a:lnTo>
                  <a:pt x="807367" y="485115"/>
                </a:lnTo>
                <a:lnTo>
                  <a:pt x="791893" y="457200"/>
                </a:lnTo>
                <a:lnTo>
                  <a:pt x="775455" y="429841"/>
                </a:lnTo>
                <a:lnTo>
                  <a:pt x="758071" y="403074"/>
                </a:lnTo>
                <a:lnTo>
                  <a:pt x="739765" y="376929"/>
                </a:lnTo>
                <a:lnTo>
                  <a:pt x="720557" y="351439"/>
                </a:lnTo>
                <a:lnTo>
                  <a:pt x="700471" y="326635"/>
                </a:lnTo>
                <a:lnTo>
                  <a:pt x="679531" y="302546"/>
                </a:lnTo>
                <a:lnTo>
                  <a:pt x="657764" y="279204"/>
                </a:lnTo>
                <a:lnTo>
                  <a:pt x="635195" y="256635"/>
                </a:lnTo>
                <a:lnTo>
                  <a:pt x="611853" y="234868"/>
                </a:lnTo>
                <a:lnTo>
                  <a:pt x="587764" y="213928"/>
                </a:lnTo>
                <a:lnTo>
                  <a:pt x="562960" y="193842"/>
                </a:lnTo>
                <a:lnTo>
                  <a:pt x="537470" y="174634"/>
                </a:lnTo>
                <a:lnTo>
                  <a:pt x="511325" y="156328"/>
                </a:lnTo>
                <a:lnTo>
                  <a:pt x="484558" y="138944"/>
                </a:lnTo>
                <a:lnTo>
                  <a:pt x="457200" y="122506"/>
                </a:lnTo>
                <a:lnTo>
                  <a:pt x="429284" y="107032"/>
                </a:lnTo>
                <a:lnTo>
                  <a:pt x="400846" y="92542"/>
                </a:lnTo>
                <a:lnTo>
                  <a:pt x="371919" y="79054"/>
                </a:lnTo>
                <a:lnTo>
                  <a:pt x="342540" y="66583"/>
                </a:lnTo>
                <a:lnTo>
                  <a:pt x="312743" y="55145"/>
                </a:lnTo>
                <a:lnTo>
                  <a:pt x="282565" y="44753"/>
                </a:lnTo>
                <a:lnTo>
                  <a:pt x="252042" y="35422"/>
                </a:lnTo>
                <a:lnTo>
                  <a:pt x="221213" y="27161"/>
                </a:lnTo>
                <a:lnTo>
                  <a:pt x="190114" y="19981"/>
                </a:lnTo>
                <a:lnTo>
                  <a:pt x="158783" y="13891"/>
                </a:lnTo>
                <a:lnTo>
                  <a:pt x="127259" y="8898"/>
                </a:lnTo>
                <a:lnTo>
                  <a:pt x="95580" y="5009"/>
                </a:lnTo>
                <a:lnTo>
                  <a:pt x="63785" y="2227"/>
                </a:lnTo>
                <a:lnTo>
                  <a:pt x="31912" y="557"/>
                </a:lnTo>
                <a:lnTo>
                  <a:pt x="0" y="0"/>
                </a:lnTo>
                <a:lnTo>
                  <a:pt x="0" y="384048"/>
                </a:lnTo>
                <a:lnTo>
                  <a:pt x="18509" y="384371"/>
                </a:lnTo>
                <a:lnTo>
                  <a:pt x="36995" y="385339"/>
                </a:lnTo>
                <a:lnTo>
                  <a:pt x="55436" y="386953"/>
                </a:lnTo>
                <a:lnTo>
                  <a:pt x="73810" y="389209"/>
                </a:lnTo>
                <a:lnTo>
                  <a:pt x="92094" y="392105"/>
                </a:lnTo>
                <a:lnTo>
                  <a:pt x="110266" y="395637"/>
                </a:lnTo>
                <a:lnTo>
                  <a:pt x="128303" y="399801"/>
                </a:lnTo>
                <a:lnTo>
                  <a:pt x="146184" y="404592"/>
                </a:lnTo>
                <a:lnTo>
                  <a:pt x="163887" y="410005"/>
                </a:lnTo>
                <a:lnTo>
                  <a:pt x="181391" y="416032"/>
                </a:lnTo>
                <a:lnTo>
                  <a:pt x="198673" y="422666"/>
                </a:lnTo>
                <a:lnTo>
                  <a:pt x="215713" y="429899"/>
                </a:lnTo>
                <a:lnTo>
                  <a:pt x="232491" y="437722"/>
                </a:lnTo>
                <a:lnTo>
                  <a:pt x="248985" y="446126"/>
                </a:lnTo>
                <a:lnTo>
                  <a:pt x="265176" y="455101"/>
                </a:lnTo>
                <a:lnTo>
                  <a:pt x="281043" y="464635"/>
                </a:lnTo>
                <a:lnTo>
                  <a:pt x="296569" y="474718"/>
                </a:lnTo>
                <a:lnTo>
                  <a:pt x="311733" y="485336"/>
                </a:lnTo>
                <a:lnTo>
                  <a:pt x="326517" y="496476"/>
                </a:lnTo>
                <a:lnTo>
                  <a:pt x="340903" y="508126"/>
                </a:lnTo>
                <a:lnTo>
                  <a:pt x="354874" y="520271"/>
                </a:lnTo>
                <a:lnTo>
                  <a:pt x="368413" y="532896"/>
                </a:lnTo>
                <a:lnTo>
                  <a:pt x="381503" y="545986"/>
                </a:lnTo>
                <a:lnTo>
                  <a:pt x="394128" y="559525"/>
                </a:lnTo>
                <a:lnTo>
                  <a:pt x="406273" y="573496"/>
                </a:lnTo>
                <a:lnTo>
                  <a:pt x="417923" y="587882"/>
                </a:lnTo>
                <a:lnTo>
                  <a:pt x="429063" y="602666"/>
                </a:lnTo>
                <a:lnTo>
                  <a:pt x="439681" y="617830"/>
                </a:lnTo>
                <a:lnTo>
                  <a:pt x="449764" y="633356"/>
                </a:lnTo>
                <a:lnTo>
                  <a:pt x="459298" y="649224"/>
                </a:lnTo>
                <a:lnTo>
                  <a:pt x="468273" y="665414"/>
                </a:lnTo>
                <a:lnTo>
                  <a:pt x="476677" y="681908"/>
                </a:lnTo>
                <a:lnTo>
                  <a:pt x="484500" y="698686"/>
                </a:lnTo>
                <a:lnTo>
                  <a:pt x="491733" y="715726"/>
                </a:lnTo>
                <a:lnTo>
                  <a:pt x="498367" y="733008"/>
                </a:lnTo>
                <a:lnTo>
                  <a:pt x="504394" y="750512"/>
                </a:lnTo>
                <a:lnTo>
                  <a:pt x="509807" y="768215"/>
                </a:lnTo>
                <a:lnTo>
                  <a:pt x="514598" y="786096"/>
                </a:lnTo>
                <a:lnTo>
                  <a:pt x="518762" y="804133"/>
                </a:lnTo>
                <a:lnTo>
                  <a:pt x="522294" y="822305"/>
                </a:lnTo>
                <a:lnTo>
                  <a:pt x="525190" y="840589"/>
                </a:lnTo>
                <a:lnTo>
                  <a:pt x="527446" y="858963"/>
                </a:lnTo>
                <a:lnTo>
                  <a:pt x="529060" y="877404"/>
                </a:lnTo>
                <a:lnTo>
                  <a:pt x="530028" y="895890"/>
                </a:lnTo>
                <a:lnTo>
                  <a:pt x="530352" y="914400"/>
                </a:lnTo>
                <a:close/>
              </a:path>
            </a:pathLst>
          </a:custGeom>
          <a:solidFill>
            <a:srgbClr val="D97316"/>
          </a:solidFill>
          <a:ln>
            <a:noFill/>
          </a:ln>
        </p:spPr>
        <p:txBody>
          <a:bodyPr rtlCol="0" anchor="ctr"/>
          <a:lstStyle/>
          <a:p>
            <a:pPr algn="ctr"/>
          </a:p>
        </p:txBody>
      </p:sp>
      <p:sp>
        <p:nvSpPr>
          <p:cNvPr id="9" name="Freeform 8"/>
          <p:cNvSpPr/>
          <p:nvPr/>
        </p:nvSpPr>
        <p:spPr>
          <a:xfrm>
            <a:off x="2103120" y="4370832"/>
            <a:ext cx="914400" cy="914400"/>
          </a:xfrm>
          <a:custGeom>
            <a:avLst/>
            <a:gdLst/>
            <a:ahLst/>
            <a:cxnLst/>
            <a:rect l="l" t="t" r="r" b="b"/>
            <a:pathLst>
              <a:path w="914400" h="914400">
                <a:moveTo>
                  <a:pt x="0" y="914400"/>
                </a:moveTo>
                <a:lnTo>
                  <a:pt x="31912" y="913842"/>
                </a:lnTo>
                <a:lnTo>
                  <a:pt x="63785" y="912172"/>
                </a:lnTo>
                <a:lnTo>
                  <a:pt x="95580" y="909390"/>
                </a:lnTo>
                <a:lnTo>
                  <a:pt x="127259" y="905501"/>
                </a:lnTo>
                <a:lnTo>
                  <a:pt x="158783" y="900508"/>
                </a:lnTo>
                <a:lnTo>
                  <a:pt x="190114" y="894418"/>
                </a:lnTo>
                <a:lnTo>
                  <a:pt x="221213" y="887238"/>
                </a:lnTo>
                <a:lnTo>
                  <a:pt x="252042" y="878977"/>
                </a:lnTo>
                <a:lnTo>
                  <a:pt x="282565" y="869646"/>
                </a:lnTo>
                <a:lnTo>
                  <a:pt x="312743" y="859254"/>
                </a:lnTo>
                <a:lnTo>
                  <a:pt x="342540" y="847816"/>
                </a:lnTo>
                <a:lnTo>
                  <a:pt x="371919" y="835345"/>
                </a:lnTo>
                <a:lnTo>
                  <a:pt x="400846" y="821857"/>
                </a:lnTo>
                <a:lnTo>
                  <a:pt x="429284" y="807367"/>
                </a:lnTo>
                <a:lnTo>
                  <a:pt x="457200" y="791893"/>
                </a:lnTo>
                <a:lnTo>
                  <a:pt x="484558" y="775455"/>
                </a:lnTo>
                <a:lnTo>
                  <a:pt x="511325" y="758071"/>
                </a:lnTo>
                <a:lnTo>
                  <a:pt x="537470" y="739765"/>
                </a:lnTo>
                <a:lnTo>
                  <a:pt x="562960" y="720557"/>
                </a:lnTo>
                <a:lnTo>
                  <a:pt x="587764" y="700471"/>
                </a:lnTo>
                <a:lnTo>
                  <a:pt x="611853" y="679531"/>
                </a:lnTo>
                <a:lnTo>
                  <a:pt x="635195" y="657764"/>
                </a:lnTo>
                <a:lnTo>
                  <a:pt x="657764" y="635195"/>
                </a:lnTo>
                <a:lnTo>
                  <a:pt x="679531" y="611853"/>
                </a:lnTo>
                <a:lnTo>
                  <a:pt x="700471" y="587764"/>
                </a:lnTo>
                <a:lnTo>
                  <a:pt x="720557" y="562960"/>
                </a:lnTo>
                <a:lnTo>
                  <a:pt x="739765" y="537470"/>
                </a:lnTo>
                <a:lnTo>
                  <a:pt x="758071" y="511325"/>
                </a:lnTo>
                <a:lnTo>
                  <a:pt x="775455" y="484558"/>
                </a:lnTo>
                <a:lnTo>
                  <a:pt x="791893" y="457200"/>
                </a:lnTo>
                <a:lnTo>
                  <a:pt x="807367" y="429284"/>
                </a:lnTo>
                <a:lnTo>
                  <a:pt x="821857" y="400846"/>
                </a:lnTo>
                <a:lnTo>
                  <a:pt x="835345" y="371919"/>
                </a:lnTo>
                <a:lnTo>
                  <a:pt x="847816" y="342540"/>
                </a:lnTo>
                <a:lnTo>
                  <a:pt x="859254" y="312743"/>
                </a:lnTo>
                <a:lnTo>
                  <a:pt x="869646" y="282565"/>
                </a:lnTo>
                <a:lnTo>
                  <a:pt x="878977" y="252042"/>
                </a:lnTo>
                <a:lnTo>
                  <a:pt x="887238" y="221213"/>
                </a:lnTo>
                <a:lnTo>
                  <a:pt x="894418" y="190114"/>
                </a:lnTo>
                <a:lnTo>
                  <a:pt x="900508" y="158783"/>
                </a:lnTo>
                <a:lnTo>
                  <a:pt x="905501" y="127259"/>
                </a:lnTo>
                <a:lnTo>
                  <a:pt x="909390" y="95580"/>
                </a:lnTo>
                <a:lnTo>
                  <a:pt x="912172" y="63785"/>
                </a:lnTo>
                <a:lnTo>
                  <a:pt x="913842" y="31912"/>
                </a:lnTo>
                <a:lnTo>
                  <a:pt x="914400" y="0"/>
                </a:lnTo>
                <a:lnTo>
                  <a:pt x="530352" y="0"/>
                </a:lnTo>
                <a:lnTo>
                  <a:pt x="530028" y="18509"/>
                </a:lnTo>
                <a:lnTo>
                  <a:pt x="529060" y="36995"/>
                </a:lnTo>
                <a:lnTo>
                  <a:pt x="527446" y="55436"/>
                </a:lnTo>
                <a:lnTo>
                  <a:pt x="525190" y="73810"/>
                </a:lnTo>
                <a:lnTo>
                  <a:pt x="522294" y="92094"/>
                </a:lnTo>
                <a:lnTo>
                  <a:pt x="518762" y="110266"/>
                </a:lnTo>
                <a:lnTo>
                  <a:pt x="514598" y="128303"/>
                </a:lnTo>
                <a:lnTo>
                  <a:pt x="509807" y="146184"/>
                </a:lnTo>
                <a:lnTo>
                  <a:pt x="504394" y="163887"/>
                </a:lnTo>
                <a:lnTo>
                  <a:pt x="498367" y="181391"/>
                </a:lnTo>
                <a:lnTo>
                  <a:pt x="491733" y="198673"/>
                </a:lnTo>
                <a:lnTo>
                  <a:pt x="484500" y="215713"/>
                </a:lnTo>
                <a:lnTo>
                  <a:pt x="476677" y="232491"/>
                </a:lnTo>
                <a:lnTo>
                  <a:pt x="468273" y="248985"/>
                </a:lnTo>
                <a:lnTo>
                  <a:pt x="459298" y="265176"/>
                </a:lnTo>
                <a:lnTo>
                  <a:pt x="449764" y="281043"/>
                </a:lnTo>
                <a:lnTo>
                  <a:pt x="439681" y="296569"/>
                </a:lnTo>
                <a:lnTo>
                  <a:pt x="429063" y="311733"/>
                </a:lnTo>
                <a:lnTo>
                  <a:pt x="417923" y="326517"/>
                </a:lnTo>
                <a:lnTo>
                  <a:pt x="406273" y="340903"/>
                </a:lnTo>
                <a:lnTo>
                  <a:pt x="394128" y="354874"/>
                </a:lnTo>
                <a:lnTo>
                  <a:pt x="381503" y="368413"/>
                </a:lnTo>
                <a:lnTo>
                  <a:pt x="368413" y="381503"/>
                </a:lnTo>
                <a:lnTo>
                  <a:pt x="354874" y="394128"/>
                </a:lnTo>
                <a:lnTo>
                  <a:pt x="340903" y="406273"/>
                </a:lnTo>
                <a:lnTo>
                  <a:pt x="326517" y="417923"/>
                </a:lnTo>
                <a:lnTo>
                  <a:pt x="311733" y="429063"/>
                </a:lnTo>
                <a:lnTo>
                  <a:pt x="296569" y="439681"/>
                </a:lnTo>
                <a:lnTo>
                  <a:pt x="281043" y="449764"/>
                </a:lnTo>
                <a:lnTo>
                  <a:pt x="265176" y="459298"/>
                </a:lnTo>
                <a:lnTo>
                  <a:pt x="248985" y="468273"/>
                </a:lnTo>
                <a:lnTo>
                  <a:pt x="232491" y="476677"/>
                </a:lnTo>
                <a:lnTo>
                  <a:pt x="215713" y="484500"/>
                </a:lnTo>
                <a:lnTo>
                  <a:pt x="198673" y="491733"/>
                </a:lnTo>
                <a:lnTo>
                  <a:pt x="181391" y="498367"/>
                </a:lnTo>
                <a:lnTo>
                  <a:pt x="163887" y="504394"/>
                </a:lnTo>
                <a:lnTo>
                  <a:pt x="146184" y="509807"/>
                </a:lnTo>
                <a:lnTo>
                  <a:pt x="128303" y="514598"/>
                </a:lnTo>
                <a:lnTo>
                  <a:pt x="110266" y="518762"/>
                </a:lnTo>
                <a:lnTo>
                  <a:pt x="92094" y="522294"/>
                </a:lnTo>
                <a:lnTo>
                  <a:pt x="73810" y="525190"/>
                </a:lnTo>
                <a:lnTo>
                  <a:pt x="55436" y="527446"/>
                </a:lnTo>
                <a:lnTo>
                  <a:pt x="36995" y="529060"/>
                </a:lnTo>
                <a:lnTo>
                  <a:pt x="18509" y="530028"/>
                </a:lnTo>
                <a:lnTo>
                  <a:pt x="0" y="530352"/>
                </a:lnTo>
                <a:close/>
              </a:path>
            </a:pathLst>
          </a:custGeom>
          <a:solidFill>
            <a:srgbClr val="CC3333"/>
          </a:solidFill>
          <a:ln>
            <a:noFill/>
          </a:ln>
        </p:spPr>
        <p:txBody>
          <a:bodyPr rtlCol="0" anchor="ctr"/>
          <a:lstStyle/>
          <a:p>
            <a:pPr algn="ctr"/>
          </a:p>
        </p:txBody>
      </p:sp>
      <p:sp>
        <p:nvSpPr>
          <p:cNvPr id="10" name="Freeform 9"/>
          <p:cNvSpPr/>
          <p:nvPr/>
        </p:nvSpPr>
        <p:spPr>
          <a:xfrm>
            <a:off x="1188720" y="4370832"/>
            <a:ext cx="914400" cy="914400"/>
          </a:xfrm>
          <a:custGeom>
            <a:avLst/>
            <a:gdLst/>
            <a:ahLst/>
            <a:cxnLst/>
            <a:rect l="l" t="t" r="r" b="b"/>
            <a:pathLst>
              <a:path w="914400" h="914400">
                <a:moveTo>
                  <a:pt x="0" y="0"/>
                </a:moveTo>
                <a:lnTo>
                  <a:pt x="557" y="31912"/>
                </a:lnTo>
                <a:lnTo>
                  <a:pt x="2227" y="63785"/>
                </a:lnTo>
                <a:lnTo>
                  <a:pt x="5009" y="95580"/>
                </a:lnTo>
                <a:lnTo>
                  <a:pt x="8898" y="127259"/>
                </a:lnTo>
                <a:lnTo>
                  <a:pt x="13891" y="158783"/>
                </a:lnTo>
                <a:lnTo>
                  <a:pt x="19981" y="190114"/>
                </a:lnTo>
                <a:lnTo>
                  <a:pt x="27161" y="221213"/>
                </a:lnTo>
                <a:lnTo>
                  <a:pt x="35422" y="252042"/>
                </a:lnTo>
                <a:lnTo>
                  <a:pt x="44753" y="282565"/>
                </a:lnTo>
                <a:lnTo>
                  <a:pt x="55145" y="312743"/>
                </a:lnTo>
                <a:lnTo>
                  <a:pt x="66583" y="342540"/>
                </a:lnTo>
                <a:lnTo>
                  <a:pt x="79054" y="371919"/>
                </a:lnTo>
                <a:lnTo>
                  <a:pt x="92542" y="400846"/>
                </a:lnTo>
                <a:lnTo>
                  <a:pt x="107032" y="429284"/>
                </a:lnTo>
                <a:lnTo>
                  <a:pt x="122506" y="457200"/>
                </a:lnTo>
                <a:lnTo>
                  <a:pt x="138944" y="484558"/>
                </a:lnTo>
                <a:lnTo>
                  <a:pt x="156328" y="511325"/>
                </a:lnTo>
                <a:lnTo>
                  <a:pt x="174634" y="537470"/>
                </a:lnTo>
                <a:lnTo>
                  <a:pt x="193842" y="562960"/>
                </a:lnTo>
                <a:lnTo>
                  <a:pt x="213928" y="587764"/>
                </a:lnTo>
                <a:lnTo>
                  <a:pt x="234868" y="611853"/>
                </a:lnTo>
                <a:lnTo>
                  <a:pt x="256635" y="635195"/>
                </a:lnTo>
                <a:lnTo>
                  <a:pt x="279204" y="657764"/>
                </a:lnTo>
                <a:lnTo>
                  <a:pt x="302546" y="679531"/>
                </a:lnTo>
                <a:lnTo>
                  <a:pt x="326635" y="700471"/>
                </a:lnTo>
                <a:lnTo>
                  <a:pt x="351439" y="720557"/>
                </a:lnTo>
                <a:lnTo>
                  <a:pt x="376929" y="739765"/>
                </a:lnTo>
                <a:lnTo>
                  <a:pt x="403074" y="758071"/>
                </a:lnTo>
                <a:lnTo>
                  <a:pt x="429841" y="775455"/>
                </a:lnTo>
                <a:lnTo>
                  <a:pt x="457200" y="791893"/>
                </a:lnTo>
                <a:lnTo>
                  <a:pt x="485115" y="807367"/>
                </a:lnTo>
                <a:lnTo>
                  <a:pt x="513553" y="821857"/>
                </a:lnTo>
                <a:lnTo>
                  <a:pt x="542480" y="835345"/>
                </a:lnTo>
                <a:lnTo>
                  <a:pt x="571859" y="847816"/>
                </a:lnTo>
                <a:lnTo>
                  <a:pt x="601656" y="859254"/>
                </a:lnTo>
                <a:lnTo>
                  <a:pt x="631834" y="869646"/>
                </a:lnTo>
                <a:lnTo>
                  <a:pt x="662357" y="878977"/>
                </a:lnTo>
                <a:lnTo>
                  <a:pt x="693186" y="887238"/>
                </a:lnTo>
                <a:lnTo>
                  <a:pt x="724285" y="894418"/>
                </a:lnTo>
                <a:lnTo>
                  <a:pt x="755616" y="900508"/>
                </a:lnTo>
                <a:lnTo>
                  <a:pt x="787140" y="905501"/>
                </a:lnTo>
                <a:lnTo>
                  <a:pt x="818819" y="909390"/>
                </a:lnTo>
                <a:lnTo>
                  <a:pt x="850614" y="912172"/>
                </a:lnTo>
                <a:lnTo>
                  <a:pt x="882487" y="913842"/>
                </a:lnTo>
                <a:lnTo>
                  <a:pt x="914400" y="914400"/>
                </a:lnTo>
                <a:lnTo>
                  <a:pt x="914400" y="530352"/>
                </a:lnTo>
                <a:lnTo>
                  <a:pt x="895890" y="530028"/>
                </a:lnTo>
                <a:lnTo>
                  <a:pt x="877404" y="529060"/>
                </a:lnTo>
                <a:lnTo>
                  <a:pt x="858963" y="527446"/>
                </a:lnTo>
                <a:lnTo>
                  <a:pt x="840589" y="525190"/>
                </a:lnTo>
                <a:lnTo>
                  <a:pt x="822305" y="522294"/>
                </a:lnTo>
                <a:lnTo>
                  <a:pt x="804133" y="518762"/>
                </a:lnTo>
                <a:lnTo>
                  <a:pt x="786096" y="514598"/>
                </a:lnTo>
                <a:lnTo>
                  <a:pt x="768215" y="509807"/>
                </a:lnTo>
                <a:lnTo>
                  <a:pt x="750512" y="504394"/>
                </a:lnTo>
                <a:lnTo>
                  <a:pt x="733008" y="498367"/>
                </a:lnTo>
                <a:lnTo>
                  <a:pt x="715726" y="491733"/>
                </a:lnTo>
                <a:lnTo>
                  <a:pt x="698686" y="484500"/>
                </a:lnTo>
                <a:lnTo>
                  <a:pt x="681908" y="476677"/>
                </a:lnTo>
                <a:lnTo>
                  <a:pt x="665414" y="468273"/>
                </a:lnTo>
                <a:lnTo>
                  <a:pt x="649224" y="459298"/>
                </a:lnTo>
                <a:lnTo>
                  <a:pt x="633356" y="449764"/>
                </a:lnTo>
                <a:lnTo>
                  <a:pt x="617830" y="439681"/>
                </a:lnTo>
                <a:lnTo>
                  <a:pt x="602666" y="429063"/>
                </a:lnTo>
                <a:lnTo>
                  <a:pt x="587882" y="417923"/>
                </a:lnTo>
                <a:lnTo>
                  <a:pt x="573496" y="406273"/>
                </a:lnTo>
                <a:lnTo>
                  <a:pt x="559525" y="394128"/>
                </a:lnTo>
                <a:lnTo>
                  <a:pt x="545986" y="381503"/>
                </a:lnTo>
                <a:lnTo>
                  <a:pt x="532896" y="368413"/>
                </a:lnTo>
                <a:lnTo>
                  <a:pt x="520271" y="354874"/>
                </a:lnTo>
                <a:lnTo>
                  <a:pt x="508126" y="340903"/>
                </a:lnTo>
                <a:lnTo>
                  <a:pt x="496476" y="326517"/>
                </a:lnTo>
                <a:lnTo>
                  <a:pt x="485336" y="311733"/>
                </a:lnTo>
                <a:lnTo>
                  <a:pt x="474718" y="296569"/>
                </a:lnTo>
                <a:lnTo>
                  <a:pt x="464635" y="281043"/>
                </a:lnTo>
                <a:lnTo>
                  <a:pt x="455101" y="265176"/>
                </a:lnTo>
                <a:lnTo>
                  <a:pt x="446126" y="248985"/>
                </a:lnTo>
                <a:lnTo>
                  <a:pt x="437722" y="232491"/>
                </a:lnTo>
                <a:lnTo>
                  <a:pt x="429899" y="215713"/>
                </a:lnTo>
                <a:lnTo>
                  <a:pt x="422666" y="198673"/>
                </a:lnTo>
                <a:lnTo>
                  <a:pt x="416032" y="181391"/>
                </a:lnTo>
                <a:lnTo>
                  <a:pt x="410005" y="163887"/>
                </a:lnTo>
                <a:lnTo>
                  <a:pt x="404592" y="146184"/>
                </a:lnTo>
                <a:lnTo>
                  <a:pt x="399801" y="128303"/>
                </a:lnTo>
                <a:lnTo>
                  <a:pt x="395637" y="110266"/>
                </a:lnTo>
                <a:lnTo>
                  <a:pt x="392105" y="92094"/>
                </a:lnTo>
                <a:lnTo>
                  <a:pt x="389209" y="73810"/>
                </a:lnTo>
                <a:lnTo>
                  <a:pt x="386953" y="55436"/>
                </a:lnTo>
                <a:lnTo>
                  <a:pt x="385339" y="36995"/>
                </a:lnTo>
                <a:lnTo>
                  <a:pt x="384371" y="18509"/>
                </a:lnTo>
                <a:lnTo>
                  <a:pt x="384048" y="0"/>
                </a:lnTo>
                <a:close/>
              </a:path>
            </a:pathLst>
          </a:custGeom>
          <a:solidFill>
            <a:srgbClr val="55992E"/>
          </a:solidFill>
          <a:ln>
            <a:noFill/>
          </a:ln>
        </p:spPr>
        <p:txBody>
          <a:bodyPr rtlCol="0" anchor="ctr"/>
          <a:lstStyle/>
          <a:p>
            <a:pPr algn="ctr"/>
          </a:p>
        </p:txBody>
      </p:sp>
      <p:cxnSp>
        <p:nvCxnSpPr>
          <p:cNvPr id="11" name="Connector 10"/>
          <p:cNvCxnSpPr/>
          <p:nvPr/>
        </p:nvCxnSpPr>
        <p:spPr>
          <a:xfrm flipH="1">
            <a:off x="1188720" y="4370832"/>
            <a:ext cx="384048" cy="0"/>
          </a:xfrm>
          <a:prstGeom prst="line">
            <a:avLst/>
          </a:prstGeom>
          <a:ln w="25400">
            <a:solidFill>
              <a:srgbClr val="FFFFFF"/>
            </a:solidFill>
          </a:ln>
        </p:spPr>
      </p:cxnSp>
      <p:cxnSp>
        <p:nvCxnSpPr>
          <p:cNvPr id="12" name="Connector 11"/>
          <p:cNvCxnSpPr/>
          <p:nvPr/>
        </p:nvCxnSpPr>
        <p:spPr>
          <a:xfrm flipV="1">
            <a:off x="2103120" y="3456432"/>
            <a:ext cx="0" cy="384048"/>
          </a:xfrm>
          <a:prstGeom prst="line">
            <a:avLst/>
          </a:prstGeom>
          <a:ln w="25400">
            <a:solidFill>
              <a:srgbClr val="FFFFFF"/>
            </a:solidFill>
          </a:ln>
        </p:spPr>
      </p:cxnSp>
      <p:cxnSp>
        <p:nvCxnSpPr>
          <p:cNvPr id="13" name="Connector 12"/>
          <p:cNvCxnSpPr/>
          <p:nvPr/>
        </p:nvCxnSpPr>
        <p:spPr>
          <a:xfrm>
            <a:off x="2633472" y="4370832"/>
            <a:ext cx="384048" cy="0"/>
          </a:xfrm>
          <a:prstGeom prst="line">
            <a:avLst/>
          </a:prstGeom>
          <a:ln w="25400">
            <a:solidFill>
              <a:srgbClr val="FFFFFF"/>
            </a:solidFill>
          </a:ln>
        </p:spPr>
      </p:cxnSp>
      <p:cxnSp>
        <p:nvCxnSpPr>
          <p:cNvPr id="14" name="Connector 13"/>
          <p:cNvCxnSpPr/>
          <p:nvPr/>
        </p:nvCxnSpPr>
        <p:spPr>
          <a:xfrm>
            <a:off x="2103120" y="4901184"/>
            <a:ext cx="0" cy="384048"/>
          </a:xfrm>
          <a:prstGeom prst="line">
            <a:avLst/>
          </a:prstGeom>
          <a:ln w="25400">
            <a:solidFill>
              <a:srgbClr val="FFFFFF"/>
            </a:solidFill>
          </a:ln>
        </p:spPr>
      </p:cxnSp>
      <p:sp>
        <p:nvSpPr>
          <p:cNvPr id="15" name="Oval 14"/>
          <p:cNvSpPr/>
          <p:nvPr/>
        </p:nvSpPr>
        <p:spPr>
          <a:xfrm>
            <a:off x="1645920" y="3913632"/>
            <a:ext cx="914400" cy="914400"/>
          </a:xfrm>
          <a:prstGeom prst="ellipse">
            <a:avLst/>
          </a:prstGeom>
          <a:solidFill>
            <a:srgbClr val="FFFFFF"/>
          </a:solidFill>
          <a:ln w="19050">
            <a:solidFill>
              <a:srgbClr val="D9D9D9"/>
            </a:solidFill>
          </a:ln>
          <a:effectLst/>
        </p:spPr>
        <p:txBody>
          <a:bodyPr rtlCol="0" anchor="ctr"/>
          <a:lstStyle/>
          <a:p/>
        </p:txBody>
      </p:sp>
      <p:sp>
        <p:nvSpPr>
          <p:cNvPr id="16" name="Freeform 15"/>
          <p:cNvSpPr/>
          <p:nvPr/>
        </p:nvSpPr>
        <p:spPr>
          <a:xfrm>
            <a:off x="941832" y="3238053"/>
            <a:ext cx="905548" cy="1132779"/>
          </a:xfrm>
          <a:custGeom>
            <a:avLst/>
            <a:gdLst/>
            <a:ahLst/>
            <a:cxnLst/>
            <a:rect l="l" t="t" r="r" b="b"/>
            <a:pathLst>
              <a:path w="905548" h="1132779">
                <a:moveTo>
                  <a:pt x="246888" y="1132779"/>
                </a:moveTo>
                <a:lnTo>
                  <a:pt x="0" y="1132779"/>
                </a:lnTo>
                <a:lnTo>
                  <a:pt x="660" y="1093629"/>
                </a:lnTo>
                <a:lnTo>
                  <a:pt x="2639" y="1054523"/>
                </a:lnTo>
                <a:lnTo>
                  <a:pt x="5936" y="1015507"/>
                </a:lnTo>
                <a:lnTo>
                  <a:pt x="10546" y="976624"/>
                </a:lnTo>
                <a:lnTo>
                  <a:pt x="16465" y="937918"/>
                </a:lnTo>
                <a:lnTo>
                  <a:pt x="23685" y="899434"/>
                </a:lnTo>
                <a:lnTo>
                  <a:pt x="32198" y="861215"/>
                </a:lnTo>
                <a:lnTo>
                  <a:pt x="41995" y="823305"/>
                </a:lnTo>
                <a:lnTo>
                  <a:pt x="53064" y="785747"/>
                </a:lnTo>
                <a:lnTo>
                  <a:pt x="65394" y="748583"/>
                </a:lnTo>
                <a:lnTo>
                  <a:pt x="78969" y="711856"/>
                </a:lnTo>
                <a:lnTo>
                  <a:pt x="93774" y="675608"/>
                </a:lnTo>
                <a:lnTo>
                  <a:pt x="109793" y="639879"/>
                </a:lnTo>
                <a:lnTo>
                  <a:pt x="127008" y="604711"/>
                </a:lnTo>
                <a:lnTo>
                  <a:pt x="145398" y="570143"/>
                </a:lnTo>
                <a:lnTo>
                  <a:pt x="164944" y="536214"/>
                </a:lnTo>
                <a:lnTo>
                  <a:pt x="185622" y="502964"/>
                </a:lnTo>
                <a:lnTo>
                  <a:pt x="207409" y="470430"/>
                </a:lnTo>
                <a:lnTo>
                  <a:pt x="230281" y="438649"/>
                </a:lnTo>
                <a:lnTo>
                  <a:pt x="254211" y="407657"/>
                </a:lnTo>
                <a:lnTo>
                  <a:pt x="279172" y="377489"/>
                </a:lnTo>
                <a:lnTo>
                  <a:pt x="305136" y="348180"/>
                </a:lnTo>
                <a:lnTo>
                  <a:pt x="332074" y="319763"/>
                </a:lnTo>
                <a:lnTo>
                  <a:pt x="359954" y="292270"/>
                </a:lnTo>
                <a:lnTo>
                  <a:pt x="388745" y="265733"/>
                </a:lnTo>
                <a:lnTo>
                  <a:pt x="418414" y="240182"/>
                </a:lnTo>
                <a:lnTo>
                  <a:pt x="448928" y="215645"/>
                </a:lnTo>
                <a:lnTo>
                  <a:pt x="480252" y="192151"/>
                </a:lnTo>
                <a:lnTo>
                  <a:pt x="512350" y="169726"/>
                </a:lnTo>
                <a:lnTo>
                  <a:pt x="545186" y="148396"/>
                </a:lnTo>
                <a:lnTo>
                  <a:pt x="578722" y="128185"/>
                </a:lnTo>
                <a:lnTo>
                  <a:pt x="612921" y="109117"/>
                </a:lnTo>
                <a:lnTo>
                  <a:pt x="647742" y="91212"/>
                </a:lnTo>
                <a:lnTo>
                  <a:pt x="683148" y="74491"/>
                </a:lnTo>
                <a:lnTo>
                  <a:pt x="719098" y="58973"/>
                </a:lnTo>
                <a:lnTo>
                  <a:pt x="755550" y="44676"/>
                </a:lnTo>
                <a:lnTo>
                  <a:pt x="792463" y="31616"/>
                </a:lnTo>
                <a:lnTo>
                  <a:pt x="829795" y="19808"/>
                </a:lnTo>
                <a:lnTo>
                  <a:pt x="867505" y="9265"/>
                </a:lnTo>
                <a:lnTo>
                  <a:pt x="905548" y="0"/>
                </a:lnTo>
              </a:path>
            </a:pathLst>
          </a:custGeom>
          <a:noFill/>
          <a:ln w="28575">
            <a:solidFill>
              <a:srgbClr val="1F86BF"/>
            </a:solidFill>
          </a:ln>
        </p:spPr>
        <p:txBody>
          <a:bodyPr rtlCol="0" anchor="ctr"/>
          <a:lstStyle/>
          <a:p>
            <a:pPr algn="ctr"/>
          </a:p>
        </p:txBody>
      </p:sp>
      <p:sp>
        <p:nvSpPr>
          <p:cNvPr id="17" name="Freeform 16"/>
          <p:cNvSpPr/>
          <p:nvPr/>
        </p:nvSpPr>
        <p:spPr>
          <a:xfrm>
            <a:off x="1832882" y="3173832"/>
            <a:ext cx="148291" cy="128441"/>
          </a:xfrm>
          <a:custGeom>
            <a:avLst/>
            <a:gdLst/>
            <a:ahLst/>
            <a:cxnLst/>
            <a:rect l="l" t="t" r="r" b="b"/>
            <a:pathLst>
              <a:path w="148291" h="128441">
                <a:moveTo>
                  <a:pt x="148291" y="34016"/>
                </a:moveTo>
                <a:lnTo>
                  <a:pt x="28997" y="128441"/>
                </a:lnTo>
                <a:lnTo>
                  <a:pt x="0" y="0"/>
                </a:lnTo>
                <a:close/>
              </a:path>
            </a:pathLst>
          </a:custGeom>
          <a:solidFill>
            <a:srgbClr val="1F86BF"/>
          </a:solidFill>
          <a:ln>
            <a:noFill/>
          </a:ln>
        </p:spPr>
        <p:txBody>
          <a:bodyPr rtlCol="0" anchor="ctr"/>
          <a:lstStyle/>
          <a:p>
            <a:pPr algn="ctr"/>
          </a:p>
        </p:txBody>
      </p:sp>
      <p:sp>
        <p:nvSpPr>
          <p:cNvPr id="18" name="Freeform 17"/>
          <p:cNvSpPr/>
          <p:nvPr/>
        </p:nvSpPr>
        <p:spPr>
          <a:xfrm>
            <a:off x="2103120" y="3209544"/>
            <a:ext cx="1132778" cy="905548"/>
          </a:xfrm>
          <a:custGeom>
            <a:avLst/>
            <a:gdLst/>
            <a:ahLst/>
            <a:cxnLst/>
            <a:rect l="l" t="t" r="r" b="b"/>
            <a:pathLst>
              <a:path w="1132778" h="905548">
                <a:moveTo>
                  <a:pt x="0" y="246888"/>
                </a:moveTo>
                <a:lnTo>
                  <a:pt x="0" y="0"/>
                </a:lnTo>
                <a:lnTo>
                  <a:pt x="39149" y="660"/>
                </a:lnTo>
                <a:lnTo>
                  <a:pt x="78255" y="2639"/>
                </a:lnTo>
                <a:lnTo>
                  <a:pt x="117271" y="5936"/>
                </a:lnTo>
                <a:lnTo>
                  <a:pt x="156154" y="10546"/>
                </a:lnTo>
                <a:lnTo>
                  <a:pt x="194860" y="16465"/>
                </a:lnTo>
                <a:lnTo>
                  <a:pt x="233344" y="23685"/>
                </a:lnTo>
                <a:lnTo>
                  <a:pt x="271563" y="32198"/>
                </a:lnTo>
                <a:lnTo>
                  <a:pt x="309473" y="41995"/>
                </a:lnTo>
                <a:lnTo>
                  <a:pt x="347031" y="53064"/>
                </a:lnTo>
                <a:lnTo>
                  <a:pt x="384195" y="65394"/>
                </a:lnTo>
                <a:lnTo>
                  <a:pt x="420922" y="78969"/>
                </a:lnTo>
                <a:lnTo>
                  <a:pt x="457170" y="93774"/>
                </a:lnTo>
                <a:lnTo>
                  <a:pt x="492899" y="109793"/>
                </a:lnTo>
                <a:lnTo>
                  <a:pt x="528067" y="127008"/>
                </a:lnTo>
                <a:lnTo>
                  <a:pt x="562635" y="145398"/>
                </a:lnTo>
                <a:lnTo>
                  <a:pt x="596564" y="164944"/>
                </a:lnTo>
                <a:lnTo>
                  <a:pt x="629814" y="185622"/>
                </a:lnTo>
                <a:lnTo>
                  <a:pt x="662348" y="207409"/>
                </a:lnTo>
                <a:lnTo>
                  <a:pt x="694129" y="230281"/>
                </a:lnTo>
                <a:lnTo>
                  <a:pt x="725121" y="254211"/>
                </a:lnTo>
                <a:lnTo>
                  <a:pt x="755289" y="279172"/>
                </a:lnTo>
                <a:lnTo>
                  <a:pt x="784598" y="305136"/>
                </a:lnTo>
                <a:lnTo>
                  <a:pt x="813015" y="332074"/>
                </a:lnTo>
                <a:lnTo>
                  <a:pt x="840508" y="359954"/>
                </a:lnTo>
                <a:lnTo>
                  <a:pt x="867045" y="388745"/>
                </a:lnTo>
                <a:lnTo>
                  <a:pt x="892596" y="418414"/>
                </a:lnTo>
                <a:lnTo>
                  <a:pt x="917133" y="448928"/>
                </a:lnTo>
                <a:lnTo>
                  <a:pt x="940627" y="480252"/>
                </a:lnTo>
                <a:lnTo>
                  <a:pt x="963052" y="512350"/>
                </a:lnTo>
                <a:lnTo>
                  <a:pt x="984382" y="545186"/>
                </a:lnTo>
                <a:lnTo>
                  <a:pt x="1004593" y="578722"/>
                </a:lnTo>
                <a:lnTo>
                  <a:pt x="1023661" y="612921"/>
                </a:lnTo>
                <a:lnTo>
                  <a:pt x="1041566" y="647742"/>
                </a:lnTo>
                <a:lnTo>
                  <a:pt x="1058287" y="683148"/>
                </a:lnTo>
                <a:lnTo>
                  <a:pt x="1073805" y="719098"/>
                </a:lnTo>
                <a:lnTo>
                  <a:pt x="1088102" y="755550"/>
                </a:lnTo>
                <a:lnTo>
                  <a:pt x="1101162" y="792463"/>
                </a:lnTo>
                <a:lnTo>
                  <a:pt x="1112970" y="829795"/>
                </a:lnTo>
                <a:lnTo>
                  <a:pt x="1123513" y="867505"/>
                </a:lnTo>
                <a:lnTo>
                  <a:pt x="1132778" y="905548"/>
                </a:lnTo>
              </a:path>
            </a:pathLst>
          </a:custGeom>
          <a:noFill/>
          <a:ln w="28575">
            <a:solidFill>
              <a:srgbClr val="D97316"/>
            </a:solidFill>
          </a:ln>
        </p:spPr>
        <p:txBody>
          <a:bodyPr rtlCol="0" anchor="ctr"/>
          <a:lstStyle/>
          <a:p>
            <a:pPr algn="ctr"/>
          </a:p>
        </p:txBody>
      </p:sp>
      <p:sp>
        <p:nvSpPr>
          <p:cNvPr id="19" name="Freeform 18"/>
          <p:cNvSpPr/>
          <p:nvPr/>
        </p:nvSpPr>
        <p:spPr>
          <a:xfrm>
            <a:off x="3171678" y="4100594"/>
            <a:ext cx="128441" cy="148291"/>
          </a:xfrm>
          <a:custGeom>
            <a:avLst/>
            <a:gdLst/>
            <a:ahLst/>
            <a:cxnLst/>
            <a:rect l="l" t="t" r="r" b="b"/>
            <a:pathLst>
              <a:path w="128441" h="148291">
                <a:moveTo>
                  <a:pt x="94425" y="148291"/>
                </a:moveTo>
                <a:lnTo>
                  <a:pt x="0" y="28997"/>
                </a:lnTo>
                <a:lnTo>
                  <a:pt x="128441" y="0"/>
                </a:lnTo>
                <a:close/>
              </a:path>
            </a:pathLst>
          </a:custGeom>
          <a:solidFill>
            <a:srgbClr val="D97316"/>
          </a:solidFill>
          <a:ln>
            <a:noFill/>
          </a:ln>
        </p:spPr>
        <p:txBody>
          <a:bodyPr rtlCol="0" anchor="ctr"/>
          <a:lstStyle/>
          <a:p>
            <a:pPr algn="ctr"/>
          </a:p>
        </p:txBody>
      </p:sp>
      <p:sp>
        <p:nvSpPr>
          <p:cNvPr id="20" name="Freeform 19"/>
          <p:cNvSpPr/>
          <p:nvPr/>
        </p:nvSpPr>
        <p:spPr>
          <a:xfrm>
            <a:off x="2358859" y="4370832"/>
            <a:ext cx="905549" cy="1132778"/>
          </a:xfrm>
          <a:custGeom>
            <a:avLst/>
            <a:gdLst/>
            <a:ahLst/>
            <a:cxnLst/>
            <a:rect l="l" t="t" r="r" b="b"/>
            <a:pathLst>
              <a:path w="905549" h="1132778">
                <a:moveTo>
                  <a:pt x="658661" y="0"/>
                </a:moveTo>
                <a:lnTo>
                  <a:pt x="905549" y="0"/>
                </a:lnTo>
                <a:lnTo>
                  <a:pt x="904888" y="39149"/>
                </a:lnTo>
                <a:lnTo>
                  <a:pt x="902909" y="78255"/>
                </a:lnTo>
                <a:lnTo>
                  <a:pt x="899612" y="117271"/>
                </a:lnTo>
                <a:lnTo>
                  <a:pt x="895002" y="156154"/>
                </a:lnTo>
                <a:lnTo>
                  <a:pt x="889083" y="194860"/>
                </a:lnTo>
                <a:lnTo>
                  <a:pt x="881863" y="233344"/>
                </a:lnTo>
                <a:lnTo>
                  <a:pt x="873350" y="271563"/>
                </a:lnTo>
                <a:lnTo>
                  <a:pt x="863553" y="309473"/>
                </a:lnTo>
                <a:lnTo>
                  <a:pt x="852484" y="347031"/>
                </a:lnTo>
                <a:lnTo>
                  <a:pt x="840154" y="384195"/>
                </a:lnTo>
                <a:lnTo>
                  <a:pt x="826579" y="420922"/>
                </a:lnTo>
                <a:lnTo>
                  <a:pt x="811774" y="457170"/>
                </a:lnTo>
                <a:lnTo>
                  <a:pt x="795755" y="492899"/>
                </a:lnTo>
                <a:lnTo>
                  <a:pt x="778540" y="528067"/>
                </a:lnTo>
                <a:lnTo>
                  <a:pt x="760150" y="562635"/>
                </a:lnTo>
                <a:lnTo>
                  <a:pt x="740604" y="596564"/>
                </a:lnTo>
                <a:lnTo>
                  <a:pt x="719926" y="629814"/>
                </a:lnTo>
                <a:lnTo>
                  <a:pt x="698139" y="662348"/>
                </a:lnTo>
                <a:lnTo>
                  <a:pt x="675267" y="694129"/>
                </a:lnTo>
                <a:lnTo>
                  <a:pt x="651337" y="725121"/>
                </a:lnTo>
                <a:lnTo>
                  <a:pt x="626376" y="755289"/>
                </a:lnTo>
                <a:lnTo>
                  <a:pt x="600412" y="784598"/>
                </a:lnTo>
                <a:lnTo>
                  <a:pt x="573474" y="813015"/>
                </a:lnTo>
                <a:lnTo>
                  <a:pt x="545594" y="840508"/>
                </a:lnTo>
                <a:lnTo>
                  <a:pt x="516803" y="867045"/>
                </a:lnTo>
                <a:lnTo>
                  <a:pt x="487134" y="892596"/>
                </a:lnTo>
                <a:lnTo>
                  <a:pt x="456620" y="917133"/>
                </a:lnTo>
                <a:lnTo>
                  <a:pt x="425296" y="940627"/>
                </a:lnTo>
                <a:lnTo>
                  <a:pt x="393198" y="963052"/>
                </a:lnTo>
                <a:lnTo>
                  <a:pt x="360362" y="984382"/>
                </a:lnTo>
                <a:lnTo>
                  <a:pt x="326826" y="1004593"/>
                </a:lnTo>
                <a:lnTo>
                  <a:pt x="292627" y="1023661"/>
                </a:lnTo>
                <a:lnTo>
                  <a:pt x="257806" y="1041566"/>
                </a:lnTo>
                <a:lnTo>
                  <a:pt x="222400" y="1058287"/>
                </a:lnTo>
                <a:lnTo>
                  <a:pt x="186450" y="1073805"/>
                </a:lnTo>
                <a:lnTo>
                  <a:pt x="149998" y="1088102"/>
                </a:lnTo>
                <a:lnTo>
                  <a:pt x="113085" y="1101162"/>
                </a:lnTo>
                <a:lnTo>
                  <a:pt x="75753" y="1112970"/>
                </a:lnTo>
                <a:lnTo>
                  <a:pt x="38043" y="1123513"/>
                </a:lnTo>
                <a:lnTo>
                  <a:pt x="0" y="1132778"/>
                </a:lnTo>
              </a:path>
            </a:pathLst>
          </a:custGeom>
          <a:noFill/>
          <a:ln w="28575">
            <a:solidFill>
              <a:srgbClr val="CC3333"/>
            </a:solidFill>
          </a:ln>
        </p:spPr>
        <p:txBody>
          <a:bodyPr rtlCol="0" anchor="ctr"/>
          <a:lstStyle/>
          <a:p>
            <a:pPr algn="ctr"/>
          </a:p>
        </p:txBody>
      </p:sp>
      <p:sp>
        <p:nvSpPr>
          <p:cNvPr id="21" name="Freeform 20"/>
          <p:cNvSpPr/>
          <p:nvPr/>
        </p:nvSpPr>
        <p:spPr>
          <a:xfrm>
            <a:off x="2225066" y="5439390"/>
            <a:ext cx="148291" cy="128441"/>
          </a:xfrm>
          <a:custGeom>
            <a:avLst/>
            <a:gdLst/>
            <a:ahLst/>
            <a:cxnLst/>
            <a:rect l="l" t="t" r="r" b="b"/>
            <a:pathLst>
              <a:path w="148291" h="128441">
                <a:moveTo>
                  <a:pt x="0" y="94425"/>
                </a:moveTo>
                <a:lnTo>
                  <a:pt x="119294" y="0"/>
                </a:lnTo>
                <a:lnTo>
                  <a:pt x="148291" y="128441"/>
                </a:lnTo>
                <a:close/>
              </a:path>
            </a:pathLst>
          </a:custGeom>
          <a:solidFill>
            <a:srgbClr val="CC3333"/>
          </a:solidFill>
          <a:ln>
            <a:noFill/>
          </a:ln>
        </p:spPr>
        <p:txBody>
          <a:bodyPr rtlCol="0" anchor="ctr"/>
          <a:lstStyle/>
          <a:p>
            <a:pPr algn="ctr"/>
          </a:p>
        </p:txBody>
      </p:sp>
      <p:sp>
        <p:nvSpPr>
          <p:cNvPr id="22" name="Freeform 21"/>
          <p:cNvSpPr/>
          <p:nvPr/>
        </p:nvSpPr>
        <p:spPr>
          <a:xfrm>
            <a:off x="970341" y="4626571"/>
            <a:ext cx="1132779" cy="905549"/>
          </a:xfrm>
          <a:custGeom>
            <a:avLst/>
            <a:gdLst/>
            <a:ahLst/>
            <a:cxnLst/>
            <a:rect l="l" t="t" r="r" b="b"/>
            <a:pathLst>
              <a:path w="1132779" h="905549">
                <a:moveTo>
                  <a:pt x="1132779" y="658661"/>
                </a:moveTo>
                <a:lnTo>
                  <a:pt x="1132779" y="905549"/>
                </a:lnTo>
                <a:lnTo>
                  <a:pt x="1093629" y="904888"/>
                </a:lnTo>
                <a:lnTo>
                  <a:pt x="1054523" y="902909"/>
                </a:lnTo>
                <a:lnTo>
                  <a:pt x="1015507" y="899612"/>
                </a:lnTo>
                <a:lnTo>
                  <a:pt x="976624" y="895002"/>
                </a:lnTo>
                <a:lnTo>
                  <a:pt x="937918" y="889083"/>
                </a:lnTo>
                <a:lnTo>
                  <a:pt x="899434" y="881863"/>
                </a:lnTo>
                <a:lnTo>
                  <a:pt x="861215" y="873350"/>
                </a:lnTo>
                <a:lnTo>
                  <a:pt x="823305" y="863553"/>
                </a:lnTo>
                <a:lnTo>
                  <a:pt x="785747" y="852484"/>
                </a:lnTo>
                <a:lnTo>
                  <a:pt x="748583" y="840154"/>
                </a:lnTo>
                <a:lnTo>
                  <a:pt x="711856" y="826579"/>
                </a:lnTo>
                <a:lnTo>
                  <a:pt x="675608" y="811774"/>
                </a:lnTo>
                <a:lnTo>
                  <a:pt x="639879" y="795755"/>
                </a:lnTo>
                <a:lnTo>
                  <a:pt x="604711" y="778540"/>
                </a:lnTo>
                <a:lnTo>
                  <a:pt x="570143" y="760150"/>
                </a:lnTo>
                <a:lnTo>
                  <a:pt x="536214" y="740604"/>
                </a:lnTo>
                <a:lnTo>
                  <a:pt x="502964" y="719926"/>
                </a:lnTo>
                <a:lnTo>
                  <a:pt x="470430" y="698139"/>
                </a:lnTo>
                <a:lnTo>
                  <a:pt x="438649" y="675267"/>
                </a:lnTo>
                <a:lnTo>
                  <a:pt x="407657" y="651337"/>
                </a:lnTo>
                <a:lnTo>
                  <a:pt x="377489" y="626376"/>
                </a:lnTo>
                <a:lnTo>
                  <a:pt x="348180" y="600412"/>
                </a:lnTo>
                <a:lnTo>
                  <a:pt x="319763" y="573474"/>
                </a:lnTo>
                <a:lnTo>
                  <a:pt x="292270" y="545594"/>
                </a:lnTo>
                <a:lnTo>
                  <a:pt x="265733" y="516803"/>
                </a:lnTo>
                <a:lnTo>
                  <a:pt x="240182" y="487134"/>
                </a:lnTo>
                <a:lnTo>
                  <a:pt x="215645" y="456620"/>
                </a:lnTo>
                <a:lnTo>
                  <a:pt x="192151" y="425296"/>
                </a:lnTo>
                <a:lnTo>
                  <a:pt x="169726" y="393198"/>
                </a:lnTo>
                <a:lnTo>
                  <a:pt x="148396" y="360362"/>
                </a:lnTo>
                <a:lnTo>
                  <a:pt x="128185" y="326826"/>
                </a:lnTo>
                <a:lnTo>
                  <a:pt x="109117" y="292627"/>
                </a:lnTo>
                <a:lnTo>
                  <a:pt x="91212" y="257806"/>
                </a:lnTo>
                <a:lnTo>
                  <a:pt x="74491" y="222400"/>
                </a:lnTo>
                <a:lnTo>
                  <a:pt x="58973" y="186450"/>
                </a:lnTo>
                <a:lnTo>
                  <a:pt x="44676" y="149998"/>
                </a:lnTo>
                <a:lnTo>
                  <a:pt x="31616" y="113085"/>
                </a:lnTo>
                <a:lnTo>
                  <a:pt x="19808" y="75753"/>
                </a:lnTo>
                <a:lnTo>
                  <a:pt x="9265" y="38043"/>
                </a:lnTo>
                <a:lnTo>
                  <a:pt x="0" y="0"/>
                </a:lnTo>
              </a:path>
            </a:pathLst>
          </a:custGeom>
          <a:noFill/>
          <a:ln w="28575">
            <a:solidFill>
              <a:srgbClr val="55992E"/>
            </a:solidFill>
          </a:ln>
        </p:spPr>
        <p:txBody>
          <a:bodyPr rtlCol="0" anchor="ctr"/>
          <a:lstStyle/>
          <a:p>
            <a:pPr algn="ctr"/>
          </a:p>
        </p:txBody>
      </p:sp>
      <p:sp>
        <p:nvSpPr>
          <p:cNvPr id="23" name="Freeform 22"/>
          <p:cNvSpPr/>
          <p:nvPr/>
        </p:nvSpPr>
        <p:spPr>
          <a:xfrm>
            <a:off x="906120" y="4492778"/>
            <a:ext cx="128441" cy="148291"/>
          </a:xfrm>
          <a:custGeom>
            <a:avLst/>
            <a:gdLst/>
            <a:ahLst/>
            <a:cxnLst/>
            <a:rect l="l" t="t" r="r" b="b"/>
            <a:pathLst>
              <a:path w="128441" h="148291">
                <a:moveTo>
                  <a:pt x="34016" y="0"/>
                </a:moveTo>
                <a:lnTo>
                  <a:pt x="128441" y="119294"/>
                </a:lnTo>
                <a:lnTo>
                  <a:pt x="0" y="148291"/>
                </a:lnTo>
                <a:close/>
              </a:path>
            </a:pathLst>
          </a:custGeom>
          <a:solidFill>
            <a:srgbClr val="55992E"/>
          </a:solidFill>
          <a:ln>
            <a:noFill/>
          </a:ln>
        </p:spPr>
        <p:txBody>
          <a:bodyPr rtlCol="0" anchor="ctr"/>
          <a:lstStyle/>
          <a:p>
            <a:pPr algn="ctr"/>
          </a:p>
        </p:txBody>
      </p:sp>
      <p:sp>
        <p:nvSpPr>
          <p:cNvPr id="24" name="Rounded Rectangle 23"/>
          <p:cNvSpPr/>
          <p:nvPr/>
        </p:nvSpPr>
        <p:spPr>
          <a:xfrm>
            <a:off x="3328416" y="3977640"/>
            <a:ext cx="219456" cy="786384"/>
          </a:xfrm>
          <a:prstGeom prst="roundRect">
            <a:avLst>
              <a:gd name="adj" fmla="val 12000"/>
            </a:avLst>
          </a:prstGeom>
          <a:solidFill>
            <a:srgbClr val="D33327"/>
          </a:solidFill>
          <a:ln w="19050">
            <a:solidFill>
              <a:srgbClr val="FFFFFF"/>
            </a:solidFill>
          </a:ln>
          <a:effectLst/>
        </p:spPr>
        <p:txBody>
          <a:bodyPr rtlCol="0" anchor="ctr"/>
          <a:lstStyle/>
          <a:p/>
        </p:txBody>
      </p:sp>
      <p:sp>
        <p:nvSpPr>
          <p:cNvPr id="25" name="TextBox 24"/>
          <p:cNvSpPr txBox="1"/>
          <p:nvPr/>
        </p:nvSpPr>
        <p:spPr>
          <a:xfrm rot="5400000">
            <a:off x="3253614" y="4186302"/>
            <a:ext cx="369059" cy="369059"/>
          </a:xfrm>
          <a:prstGeom prst="rect">
            <a:avLst/>
          </a:prstGeom>
          <a:noFill/>
        </p:spPr>
        <p:txBody>
          <a:bodyPr wrap="square" anchor="ctr" lIns="0" rIns="0" tIns="0" bIns="0">
            <a:noAutofit/>
          </a:bodyPr>
          <a:lstStyle/>
          <a:p>
            <a:pPr algn="ctr">
              <a:spcBef>
                <a:spcPts val="0"/>
              </a:spcBef>
              <a:spcAft>
                <a:spcPts val="0"/>
              </a:spcAft>
            </a:pPr>
            <a:r>
              <a:rPr lang="tr-TR" sz="1100" b="1" i="0">
                <a:solidFill>
                  <a:srgbClr val="FFFFFF"/>
                </a:solidFill>
                <a:latin typeface="Calibri"/>
              </a:rPr>
              <a:t>AFET</a:t>
            </a:r>
          </a:p>
        </p:txBody>
      </p:sp>
      <p:sp>
        <p:nvSpPr>
          <p:cNvPr id="26" name="TextBox 25"/>
          <p:cNvSpPr txBox="1"/>
          <p:nvPr/>
        </p:nvSpPr>
        <p:spPr>
          <a:xfrm>
            <a:off x="1709928" y="4096512"/>
            <a:ext cx="786384" cy="548640"/>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7" name="Oval 26"/>
          <p:cNvSpPr/>
          <p:nvPr/>
        </p:nvSpPr>
        <p:spPr>
          <a:xfrm>
            <a:off x="1473268" y="3740980"/>
            <a:ext cx="238109" cy="238109"/>
          </a:xfrm>
          <a:prstGeom prst="ellipse">
            <a:avLst/>
          </a:prstGeom>
          <a:solidFill>
            <a:srgbClr val="FFFFFF"/>
          </a:solidFill>
          <a:ln w="25400">
            <a:solidFill>
              <a:srgbClr val="1F86BF"/>
            </a:solidFill>
          </a:ln>
          <a:effectLst/>
        </p:spPr>
        <p:txBody>
          <a:bodyPr rtlCol="0" anchor="ctr" wrap="none" lIns="0" rIns="0" tIns="0" bIns="0">
            <a:noAutofit/>
          </a:bodyPr>
          <a:lstStyle/>
          <a:p>
            <a:pPr algn="ctr">
              <a:spcBef>
                <a:spcPts val="0"/>
              </a:spcBef>
              <a:spcAft>
                <a:spcPts val="0"/>
              </a:spcAft>
            </a:pPr>
            <a:r>
              <a:rPr lang="tr-TR" sz="1031" b="1" i="0">
                <a:solidFill>
                  <a:srgbClr val="1F86BF"/>
                </a:solidFill>
                <a:latin typeface="Calibri"/>
              </a:rPr>
              <a:t>1</a:t>
            </a:r>
          </a:p>
        </p:txBody>
      </p:sp>
      <p:sp>
        <p:nvSpPr>
          <p:cNvPr id="28" name="Oval 27"/>
          <p:cNvSpPr/>
          <p:nvPr/>
        </p:nvSpPr>
        <p:spPr>
          <a:xfrm>
            <a:off x="2494862" y="3740980"/>
            <a:ext cx="238109" cy="238109"/>
          </a:xfrm>
          <a:prstGeom prst="ellipse">
            <a:avLst/>
          </a:prstGeom>
          <a:solidFill>
            <a:srgbClr val="FFFFFF"/>
          </a:solidFill>
          <a:ln w="25400">
            <a:solidFill>
              <a:srgbClr val="D97316"/>
            </a:solidFill>
          </a:ln>
          <a:effectLst/>
        </p:spPr>
        <p:txBody>
          <a:bodyPr rtlCol="0" anchor="ctr" wrap="none" lIns="0" rIns="0" tIns="0" bIns="0">
            <a:noAutofit/>
          </a:bodyPr>
          <a:lstStyle/>
          <a:p>
            <a:pPr algn="ctr">
              <a:spcBef>
                <a:spcPts val="0"/>
              </a:spcBef>
              <a:spcAft>
                <a:spcPts val="0"/>
              </a:spcAft>
            </a:pPr>
            <a:r>
              <a:rPr lang="tr-TR" sz="1031" b="1" i="0">
                <a:solidFill>
                  <a:srgbClr val="D97316"/>
                </a:solidFill>
                <a:latin typeface="Calibri"/>
              </a:rPr>
              <a:t>2</a:t>
            </a:r>
          </a:p>
        </p:txBody>
      </p:sp>
      <p:sp>
        <p:nvSpPr>
          <p:cNvPr id="29" name="Oval 28"/>
          <p:cNvSpPr/>
          <p:nvPr/>
        </p:nvSpPr>
        <p:spPr>
          <a:xfrm>
            <a:off x="2494862" y="4762574"/>
            <a:ext cx="238109" cy="238109"/>
          </a:xfrm>
          <a:prstGeom prst="ellipse">
            <a:avLst/>
          </a:prstGeom>
          <a:solidFill>
            <a:srgbClr val="FFFFFF"/>
          </a:solidFill>
          <a:ln w="25400">
            <a:solidFill>
              <a:srgbClr val="CC3333"/>
            </a:solidFill>
          </a:ln>
          <a:effectLst/>
        </p:spPr>
        <p:txBody>
          <a:bodyPr rtlCol="0" anchor="ctr" wrap="none" lIns="0" rIns="0" tIns="0" bIns="0">
            <a:noAutofit/>
          </a:bodyPr>
          <a:lstStyle/>
          <a:p>
            <a:pPr algn="ctr">
              <a:spcBef>
                <a:spcPts val="0"/>
              </a:spcBef>
              <a:spcAft>
                <a:spcPts val="0"/>
              </a:spcAft>
            </a:pPr>
            <a:r>
              <a:rPr lang="tr-TR" sz="1031" b="1" i="0">
                <a:solidFill>
                  <a:srgbClr val="CC3333"/>
                </a:solidFill>
                <a:latin typeface="Calibri"/>
              </a:rPr>
              <a:t>3</a:t>
            </a:r>
          </a:p>
        </p:txBody>
      </p:sp>
      <p:sp>
        <p:nvSpPr>
          <p:cNvPr id="30" name="Oval 29"/>
          <p:cNvSpPr/>
          <p:nvPr/>
        </p:nvSpPr>
        <p:spPr>
          <a:xfrm>
            <a:off x="1473268" y="4762574"/>
            <a:ext cx="238109" cy="238109"/>
          </a:xfrm>
          <a:prstGeom prst="ellipse">
            <a:avLst/>
          </a:prstGeom>
          <a:solidFill>
            <a:srgbClr val="FFFFFF"/>
          </a:solidFill>
          <a:ln w="25400">
            <a:solidFill>
              <a:srgbClr val="55992E"/>
            </a:solidFill>
          </a:ln>
          <a:effectLst/>
        </p:spPr>
        <p:txBody>
          <a:bodyPr rtlCol="0" anchor="ctr" wrap="none" lIns="0" rIns="0" tIns="0" bIns="0">
            <a:noAutofit/>
          </a:bodyPr>
          <a:lstStyle/>
          <a:p>
            <a:pPr algn="ctr">
              <a:spcBef>
                <a:spcPts val="0"/>
              </a:spcBef>
              <a:spcAft>
                <a:spcPts val="0"/>
              </a:spcAft>
            </a:pPr>
            <a:r>
              <a:rPr lang="tr-TR" sz="1031" b="1" i="0">
                <a:solidFill>
                  <a:srgbClr val="55992E"/>
                </a:solidFill>
                <a:latin typeface="Calibri"/>
              </a:rPr>
              <a:t>4</a:t>
            </a:r>
          </a:p>
        </p:txBody>
      </p:sp>
      <p:sp>
        <p:nvSpPr>
          <p:cNvPr id="31" name="TextBox 30"/>
          <p:cNvSpPr txBox="1"/>
          <p:nvPr/>
        </p:nvSpPr>
        <p:spPr>
          <a:xfrm>
            <a:off x="4023360" y="2450592"/>
            <a:ext cx="7665415"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262626"/>
                </a:solidFill>
                <a:latin typeface="Calibri"/>
              </a:rPr>
              <a:t>Grubumuzun ilişki cümlesi:</a:t>
            </a:r>
          </a:p>
        </p:txBody>
      </p:sp>
      <p:sp>
        <p:nvSpPr>
          <p:cNvPr id="32" name="Rounded Rectangle 31"/>
          <p:cNvSpPr/>
          <p:nvPr/>
        </p:nvSpPr>
        <p:spPr>
          <a:xfrm>
            <a:off x="4023360" y="2953512"/>
            <a:ext cx="7665415" cy="32918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3" name="Connector 32"/>
          <p:cNvCxnSpPr/>
          <p:nvPr/>
        </p:nvCxnSpPr>
        <p:spPr>
          <a:xfrm>
            <a:off x="4206240" y="3423774"/>
            <a:ext cx="7299655" cy="0"/>
          </a:xfrm>
          <a:prstGeom prst="line">
            <a:avLst/>
          </a:prstGeom>
          <a:ln w="12700">
            <a:solidFill>
              <a:srgbClr val="D9D9D9"/>
            </a:solidFill>
            <a:prstDash val="dash"/>
          </a:ln>
        </p:spPr>
      </p:cxnSp>
      <p:cxnSp>
        <p:nvCxnSpPr>
          <p:cNvPr id="34" name="Connector 33"/>
          <p:cNvCxnSpPr/>
          <p:nvPr/>
        </p:nvCxnSpPr>
        <p:spPr>
          <a:xfrm>
            <a:off x="4206240" y="3894037"/>
            <a:ext cx="7299655" cy="0"/>
          </a:xfrm>
          <a:prstGeom prst="line">
            <a:avLst/>
          </a:prstGeom>
          <a:ln w="12700">
            <a:solidFill>
              <a:srgbClr val="D9D9D9"/>
            </a:solidFill>
            <a:prstDash val="dash"/>
          </a:ln>
        </p:spPr>
      </p:cxnSp>
      <p:cxnSp>
        <p:nvCxnSpPr>
          <p:cNvPr id="35" name="Connector 34"/>
          <p:cNvCxnSpPr/>
          <p:nvPr/>
        </p:nvCxnSpPr>
        <p:spPr>
          <a:xfrm>
            <a:off x="4206240" y="4364300"/>
            <a:ext cx="7299655" cy="0"/>
          </a:xfrm>
          <a:prstGeom prst="line">
            <a:avLst/>
          </a:prstGeom>
          <a:ln w="12700">
            <a:solidFill>
              <a:srgbClr val="D9D9D9"/>
            </a:solidFill>
            <a:prstDash val="dash"/>
          </a:ln>
        </p:spPr>
      </p:cxnSp>
      <p:cxnSp>
        <p:nvCxnSpPr>
          <p:cNvPr id="36" name="Connector 35"/>
          <p:cNvCxnSpPr/>
          <p:nvPr/>
        </p:nvCxnSpPr>
        <p:spPr>
          <a:xfrm>
            <a:off x="4206240" y="4834563"/>
            <a:ext cx="7299655" cy="0"/>
          </a:xfrm>
          <a:prstGeom prst="line">
            <a:avLst/>
          </a:prstGeom>
          <a:ln w="12700">
            <a:solidFill>
              <a:srgbClr val="D9D9D9"/>
            </a:solidFill>
            <a:prstDash val="dash"/>
          </a:ln>
        </p:spPr>
      </p:cxnSp>
      <p:cxnSp>
        <p:nvCxnSpPr>
          <p:cNvPr id="37" name="Connector 36"/>
          <p:cNvCxnSpPr/>
          <p:nvPr/>
        </p:nvCxnSpPr>
        <p:spPr>
          <a:xfrm>
            <a:off x="4206240" y="5304826"/>
            <a:ext cx="7299655" cy="0"/>
          </a:xfrm>
          <a:prstGeom prst="line">
            <a:avLst/>
          </a:prstGeom>
          <a:ln w="12700">
            <a:solidFill>
              <a:srgbClr val="D9D9D9"/>
            </a:solidFill>
            <a:prstDash val="dash"/>
          </a:ln>
        </p:spPr>
      </p:cxnSp>
      <p:cxnSp>
        <p:nvCxnSpPr>
          <p:cNvPr id="38" name="Connector 37"/>
          <p:cNvCxnSpPr/>
          <p:nvPr/>
        </p:nvCxnSpPr>
        <p:spPr>
          <a:xfrm>
            <a:off x="4206240" y="5775089"/>
            <a:ext cx="7299655" cy="0"/>
          </a:xfrm>
          <a:prstGeom prst="line">
            <a:avLst/>
          </a:prstGeom>
          <a:ln w="12700">
            <a:solidFill>
              <a:srgbClr val="D9D9D9"/>
            </a:solidFill>
            <a:prstDash val="dash"/>
          </a:ln>
        </p:spPr>
      </p:cxnSp>
      <p:sp>
        <p:nvSpPr>
          <p:cNvPr id="39" name="TextBox 3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0" name="Rounded Rectangle 3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208</a:t>
            </a:r>
          </a:p>
        </p:txBody>
      </p:sp>
      <p:sp>
        <p:nvSpPr>
          <p:cNvPr id="41" name="TextBox 4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152 / 250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50" b="1" i="0">
                <a:solidFill>
                  <a:srgbClr val="FFFFFF"/>
                </a:solidFill>
                <a:latin typeface="Calibri"/>
              </a:rPr>
              <a:t>3. soru: aşamalar arasında nasıl bir ilişki var?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Bütüncül afet yönetimi döngüsü, her aşamada yapılan faaliyetlerden bir sonraki aşamada yapılması gereken faaliyetlerin de etkileneceğini ifade etmektedir.</a:t>
            </a:r>
          </a:p>
        </p:txBody>
      </p:sp>
      <p:sp>
        <p:nvSpPr>
          <p:cNvPr id="9" name="Oval 8"/>
          <p:cNvSpPr/>
          <p:nvPr/>
        </p:nvSpPr>
        <p:spPr>
          <a:xfrm>
            <a:off x="502920" y="2817876"/>
            <a:ext cx="548640" cy="54864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10" name="Rounded Rectangle 9"/>
          <p:cNvSpPr/>
          <p:nvPr/>
        </p:nvSpPr>
        <p:spPr>
          <a:xfrm>
            <a:off x="1234440" y="2496312"/>
            <a:ext cx="10454335" cy="1191768"/>
          </a:xfrm>
          <a:prstGeom prst="roundRect">
            <a:avLst>
              <a:gd name="adj" fmla="val 8000"/>
            </a:avLst>
          </a:prstGeom>
          <a:solidFill>
            <a:srgbClr val="E3F1E4"/>
          </a:solidFill>
          <a:ln w="12700">
            <a:solidFill>
              <a:srgbClr val="2E7D32"/>
            </a:solidFill>
          </a:ln>
          <a:effectLst/>
        </p:spPr>
        <p:txBody>
          <a:bodyPr rtlCol="0" anchor="ctr" wrap="square" lIns="228600" rIns="228600" tIns="73152" bIns="73152">
            <a:noAutofit/>
          </a:bodyPr>
          <a:lstStyle/>
          <a:p>
            <a:pPr algn="l">
              <a:spcBef>
                <a:spcPts val="0"/>
              </a:spcBef>
              <a:spcAft>
                <a:spcPts val="0"/>
              </a:spcAft>
            </a:pPr>
            <a:r>
              <a:rPr lang="tr-TR" sz="2300" b="0" i="0">
                <a:solidFill>
                  <a:srgbClr val="262626"/>
                </a:solidFill>
                <a:latin typeface="Calibri"/>
              </a:rPr>
              <a:t>Aşamalar bir döngüdür: her aşamada yapılanlar bir sonrakini etkiler.</a:t>
            </a:r>
          </a:p>
        </p:txBody>
      </p:sp>
      <p:sp>
        <p:nvSpPr>
          <p:cNvPr id="11" name="Oval 10"/>
          <p:cNvSpPr/>
          <p:nvPr/>
        </p:nvSpPr>
        <p:spPr>
          <a:xfrm>
            <a:off x="502920" y="4119372"/>
            <a:ext cx="548640" cy="54864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12" name="Rounded Rectangle 11"/>
          <p:cNvSpPr/>
          <p:nvPr/>
        </p:nvSpPr>
        <p:spPr>
          <a:xfrm>
            <a:off x="1234440" y="3797808"/>
            <a:ext cx="10454335" cy="1191768"/>
          </a:xfrm>
          <a:prstGeom prst="roundRect">
            <a:avLst>
              <a:gd name="adj" fmla="val 8000"/>
            </a:avLst>
          </a:prstGeom>
          <a:solidFill>
            <a:srgbClr val="E3F1E4"/>
          </a:solidFill>
          <a:ln w="12700">
            <a:solidFill>
              <a:srgbClr val="2E7D32"/>
            </a:solidFill>
          </a:ln>
          <a:effectLst/>
        </p:spPr>
        <p:txBody>
          <a:bodyPr rtlCol="0" anchor="ctr" wrap="square" lIns="228600" rIns="228600" tIns="73152" bIns="73152">
            <a:noAutofit/>
          </a:bodyPr>
          <a:lstStyle/>
          <a:p>
            <a:pPr algn="l">
              <a:spcBef>
                <a:spcPts val="0"/>
              </a:spcBef>
              <a:spcAft>
                <a:spcPts val="0"/>
              </a:spcAft>
            </a:pPr>
            <a:r>
              <a:rPr lang="tr-TR" sz="2300" b="0" i="0">
                <a:solidFill>
                  <a:srgbClr val="262626"/>
                </a:solidFill>
                <a:latin typeface="Calibri"/>
              </a:rPr>
              <a:t>Risk ve zarar azaltma ne kadar iyi yapılırsa afetin zararı ve sonraki aşamaların yükü o kadar azalır.</a:t>
            </a:r>
          </a:p>
        </p:txBody>
      </p:sp>
      <p:sp>
        <p:nvSpPr>
          <p:cNvPr id="13" name="Oval 12"/>
          <p:cNvSpPr/>
          <p:nvPr/>
        </p:nvSpPr>
        <p:spPr>
          <a:xfrm>
            <a:off x="502920" y="5420868"/>
            <a:ext cx="548640" cy="54864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14" name="Rounded Rectangle 13"/>
          <p:cNvSpPr/>
          <p:nvPr/>
        </p:nvSpPr>
        <p:spPr>
          <a:xfrm>
            <a:off x="1234440" y="5099304"/>
            <a:ext cx="10454335" cy="1191768"/>
          </a:xfrm>
          <a:prstGeom prst="roundRect">
            <a:avLst>
              <a:gd name="adj" fmla="val 8000"/>
            </a:avLst>
          </a:prstGeom>
          <a:solidFill>
            <a:srgbClr val="E3F1E4"/>
          </a:solidFill>
          <a:ln w="12700">
            <a:solidFill>
              <a:srgbClr val="2E7D32"/>
            </a:solidFill>
          </a:ln>
          <a:effectLst/>
        </p:spPr>
        <p:txBody>
          <a:bodyPr rtlCol="0" anchor="ctr" wrap="square" lIns="228600" rIns="228600" tIns="73152" bIns="73152">
            <a:noAutofit/>
          </a:bodyPr>
          <a:lstStyle/>
          <a:p>
            <a:pPr algn="l">
              <a:spcBef>
                <a:spcPts val="0"/>
              </a:spcBef>
              <a:spcAft>
                <a:spcPts val="0"/>
              </a:spcAft>
            </a:pPr>
            <a:r>
              <a:rPr lang="tr-TR" sz="2300" b="0" i="0">
                <a:solidFill>
                  <a:srgbClr val="262626"/>
                </a:solidFill>
                <a:latin typeface="Calibri"/>
              </a:rPr>
              <a:t>Müdahale ve iyileştirmeden öğrenilenlerle başa dönülür; iyileştirmede yeni riskler önlenir.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 212</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153 / 250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Klasik yaklaşım, yeni yaklaşım (1/2)</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iki satır seç</a:t>
            </a:r>
          </a:p>
        </p:txBody>
      </p:sp>
      <p:sp>
        <p:nvSpPr>
          <p:cNvPr id="6" name="TextBox 5"/>
          <p:cNvSpPr txBox="1"/>
          <p:nvPr/>
        </p:nvSpPr>
        <p:spPr>
          <a:xfrm>
            <a:off x="502920" y="1170432"/>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Tablo: Klasik ve Bütüncül Afet Yönetiminin Getirdiği Yeni Yaklaşımın Özellikleri</a:t>
            </a:r>
          </a:p>
        </p:txBody>
      </p:sp>
      <p:sp>
        <p:nvSpPr>
          <p:cNvPr id="7" name="Rounded Rectangle 6"/>
          <p:cNvSpPr/>
          <p:nvPr/>
        </p:nvSpPr>
        <p:spPr>
          <a:xfrm>
            <a:off x="914400" y="1609344"/>
            <a:ext cx="5341467" cy="438912"/>
          </a:xfrm>
          <a:prstGeom prst="roundRect">
            <a:avLst>
              <a:gd name="adj" fmla="val 15000"/>
            </a:avLst>
          </a:prstGeom>
          <a:solidFill>
            <a:srgbClr val="4F4F4F"/>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Klasik yaklaşım</a:t>
            </a:r>
          </a:p>
        </p:txBody>
      </p:sp>
      <p:sp>
        <p:nvSpPr>
          <p:cNvPr id="8" name="Rounded Rectangle 7"/>
          <p:cNvSpPr/>
          <p:nvPr/>
        </p:nvSpPr>
        <p:spPr>
          <a:xfrm>
            <a:off x="6347307" y="1609344"/>
            <a:ext cx="5341467" cy="438912"/>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Yeni yaklaşım</a:t>
            </a:r>
          </a:p>
        </p:txBody>
      </p:sp>
      <p:sp>
        <p:nvSpPr>
          <p:cNvPr id="9" name="Oval 8"/>
          <p:cNvSpPr/>
          <p:nvPr/>
        </p:nvSpPr>
        <p:spPr>
          <a:xfrm>
            <a:off x="502920" y="244144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0" name="Rounded Rectangle 9"/>
          <p:cNvSpPr/>
          <p:nvPr/>
        </p:nvSpPr>
        <p:spPr>
          <a:xfrm>
            <a:off x="914400" y="2121408"/>
            <a:ext cx="5341467" cy="987552"/>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Afet ve acil durumlar, toplum hayatında nadir rastlanan olaylar olarak görülür.</a:t>
            </a:r>
          </a:p>
        </p:txBody>
      </p:sp>
      <p:sp>
        <p:nvSpPr>
          <p:cNvPr id="11" name="Rounded Rectangle 10"/>
          <p:cNvSpPr/>
          <p:nvPr/>
        </p:nvSpPr>
        <p:spPr>
          <a:xfrm>
            <a:off x="6347307" y="2121408"/>
            <a:ext cx="5341467" cy="987552"/>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Afet ve acil durumlar; gündelik hayatın, sürdürülebilir kalkınmanın bir parçası ve fırsat penceresi olarak görülür.</a:t>
            </a:r>
          </a:p>
        </p:txBody>
      </p:sp>
      <p:sp>
        <p:nvSpPr>
          <p:cNvPr id="12" name="Oval 11"/>
          <p:cNvSpPr/>
          <p:nvPr/>
        </p:nvSpPr>
        <p:spPr>
          <a:xfrm>
            <a:off x="502920" y="3372880"/>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3" name="Rounded Rectangle 12"/>
          <p:cNvSpPr/>
          <p:nvPr/>
        </p:nvSpPr>
        <p:spPr>
          <a:xfrm>
            <a:off x="914400" y="3182112"/>
            <a:ext cx="5341467" cy="729008"/>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750" b="0" i="0">
                <a:solidFill>
                  <a:srgbClr val="262626"/>
                </a:solidFill>
                <a:latin typeface="Calibri"/>
              </a:rPr>
              <a:t>Afetler, normal zamanlarda toplumu ilgilendirmez ve dikkate alınmaz.</a:t>
            </a:r>
          </a:p>
        </p:txBody>
      </p:sp>
      <p:sp>
        <p:nvSpPr>
          <p:cNvPr id="14" name="Rounded Rectangle 13"/>
          <p:cNvSpPr/>
          <p:nvPr/>
        </p:nvSpPr>
        <p:spPr>
          <a:xfrm>
            <a:off x="6347307" y="3182112"/>
            <a:ext cx="5341467" cy="729008"/>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50" b="0" i="0">
                <a:solidFill>
                  <a:srgbClr val="262626"/>
                </a:solidFill>
                <a:latin typeface="Calibri"/>
              </a:rPr>
              <a:t>Toplum, afet öncesinde de afet ve acil durumları analiz edip dikkate alır.</a:t>
            </a:r>
          </a:p>
        </p:txBody>
      </p:sp>
      <p:sp>
        <p:nvSpPr>
          <p:cNvPr id="15" name="Oval 14"/>
          <p:cNvSpPr/>
          <p:nvPr/>
        </p:nvSpPr>
        <p:spPr>
          <a:xfrm>
            <a:off x="502920" y="4304312"/>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6" name="Rounded Rectangle 15"/>
          <p:cNvSpPr/>
          <p:nvPr/>
        </p:nvSpPr>
        <p:spPr>
          <a:xfrm>
            <a:off x="914400" y="3984272"/>
            <a:ext cx="5341467" cy="987552"/>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Teknik ve yasal emirler şeklinde çözümler vardır.</a:t>
            </a:r>
          </a:p>
        </p:txBody>
      </p:sp>
      <p:sp>
        <p:nvSpPr>
          <p:cNvPr id="17" name="Rounded Rectangle 16"/>
          <p:cNvSpPr/>
          <p:nvPr/>
        </p:nvSpPr>
        <p:spPr>
          <a:xfrm>
            <a:off x="6347307" y="3984272"/>
            <a:ext cx="5341467" cy="987552"/>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Temel hedef, toplumun kapasitesini geliştirecek ve afetlere karşı zarar görme riskini azaltacak şekilde toplum tabanlı çözümler geliştirmektir.</a:t>
            </a:r>
          </a:p>
        </p:txBody>
      </p:sp>
      <p:sp>
        <p:nvSpPr>
          <p:cNvPr id="18" name="Oval 17"/>
          <p:cNvSpPr/>
          <p:nvPr/>
        </p:nvSpPr>
        <p:spPr>
          <a:xfrm>
            <a:off x="502920" y="5494287"/>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19" name="Rounded Rectangle 18"/>
          <p:cNvSpPr/>
          <p:nvPr/>
        </p:nvSpPr>
        <p:spPr>
          <a:xfrm>
            <a:off x="914400" y="5044976"/>
            <a:ext cx="5341467" cy="1246095"/>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750" b="0" i="0">
                <a:solidFill>
                  <a:srgbClr val="262626"/>
                </a:solidFill>
                <a:latin typeface="Calibri"/>
              </a:rPr>
              <a:t>Merkezî kamu kurumları bu konuda tek söz sahibidir. Toplumun katılımı istenmez. İnsanlar afetlerde genellikle sadece “afetzede” olarak yer alır.</a:t>
            </a:r>
          </a:p>
        </p:txBody>
      </p:sp>
      <p:sp>
        <p:nvSpPr>
          <p:cNvPr id="20" name="Rounded Rectangle 19"/>
          <p:cNvSpPr/>
          <p:nvPr/>
        </p:nvSpPr>
        <p:spPr>
          <a:xfrm>
            <a:off x="6347307" y="5044976"/>
            <a:ext cx="5341467" cy="1246095"/>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İnsanlar afetlere hazırlıkta önemli bir paydaş olarak görülür ve onların da sürece katılımları esastır. Yerel kurumlar güçlendirilir, uzman ve uygulayıcıların ortak aklıyla iş yapılır.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154 / 250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Klasik yaklaşım, yeni yaklaşım (2/2)</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iki satır seç</a:t>
            </a:r>
          </a:p>
        </p:txBody>
      </p:sp>
      <p:sp>
        <p:nvSpPr>
          <p:cNvPr id="6" name="Rounded Rectangle 5"/>
          <p:cNvSpPr/>
          <p:nvPr/>
        </p:nvSpPr>
        <p:spPr>
          <a:xfrm>
            <a:off x="914400" y="1216152"/>
            <a:ext cx="5341467" cy="438912"/>
          </a:xfrm>
          <a:prstGeom prst="roundRect">
            <a:avLst>
              <a:gd name="adj" fmla="val 15000"/>
            </a:avLst>
          </a:prstGeom>
          <a:solidFill>
            <a:srgbClr val="4F4F4F"/>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Klasik yaklaşım</a:t>
            </a:r>
          </a:p>
        </p:txBody>
      </p:sp>
      <p:sp>
        <p:nvSpPr>
          <p:cNvPr id="7" name="Rounded Rectangle 6"/>
          <p:cNvSpPr/>
          <p:nvPr/>
        </p:nvSpPr>
        <p:spPr>
          <a:xfrm>
            <a:off x="6347307" y="1216152"/>
            <a:ext cx="5341467" cy="438912"/>
          </a:xfrm>
          <a:prstGeom prst="roundRect">
            <a:avLst>
              <a:gd name="adj" fmla="val 15000"/>
            </a:avLst>
          </a:prstGeom>
          <a:solidFill>
            <a:srgbClr val="1E7B6E"/>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Yeni yaklaşım</a:t>
            </a:r>
          </a:p>
        </p:txBody>
      </p:sp>
      <p:sp>
        <p:nvSpPr>
          <p:cNvPr id="8" name="Oval 7"/>
          <p:cNvSpPr/>
          <p:nvPr/>
        </p:nvSpPr>
        <p:spPr>
          <a:xfrm>
            <a:off x="502920" y="2337054"/>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9" name="Rounded Rectangle 8"/>
          <p:cNvSpPr/>
          <p:nvPr/>
        </p:nvSpPr>
        <p:spPr>
          <a:xfrm>
            <a:off x="914400" y="1728216"/>
            <a:ext cx="5341467" cy="1565148"/>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Uygulamacı kurumlar topluma nadiren hesap verir ve öz eleştiride bulunur.</a:t>
            </a:r>
          </a:p>
        </p:txBody>
      </p:sp>
      <p:sp>
        <p:nvSpPr>
          <p:cNvPr id="10" name="Rounded Rectangle 9"/>
          <p:cNvSpPr/>
          <p:nvPr/>
        </p:nvSpPr>
        <p:spPr>
          <a:xfrm>
            <a:off x="6347307" y="1728216"/>
            <a:ext cx="5341467" cy="1565148"/>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Kamuya hesap vermek, şeffaflık ve başarı değerlendirmesiyle politikalar geliştirmek, ilgili kurum ve kuruluşların öncelikleri arasındadır.</a:t>
            </a:r>
          </a:p>
        </p:txBody>
      </p:sp>
      <p:sp>
        <p:nvSpPr>
          <p:cNvPr id="11" name="Oval 10"/>
          <p:cNvSpPr/>
          <p:nvPr/>
        </p:nvSpPr>
        <p:spPr>
          <a:xfrm>
            <a:off x="502920" y="3975354"/>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6</a:t>
            </a:r>
          </a:p>
        </p:txBody>
      </p:sp>
      <p:sp>
        <p:nvSpPr>
          <p:cNvPr id="12" name="Rounded Rectangle 11"/>
          <p:cNvSpPr/>
          <p:nvPr/>
        </p:nvSpPr>
        <p:spPr>
          <a:xfrm>
            <a:off x="914400" y="3366516"/>
            <a:ext cx="5341467" cy="1565148"/>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Afetle ilgili çalışmalar daha çok afet sonrası yapılır.</a:t>
            </a:r>
          </a:p>
        </p:txBody>
      </p:sp>
      <p:sp>
        <p:nvSpPr>
          <p:cNvPr id="13" name="Rounded Rectangle 12"/>
          <p:cNvSpPr/>
          <p:nvPr/>
        </p:nvSpPr>
        <p:spPr>
          <a:xfrm>
            <a:off x="6347307" y="3366516"/>
            <a:ext cx="5341467" cy="1565148"/>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Afetle ilgili çalışmalar, toplumu afetlere hazırlamak ve afetlerin etkilerini azaltmaya yönelik olarak daha çok afet öncesi yapılır.</a:t>
            </a:r>
          </a:p>
        </p:txBody>
      </p:sp>
      <p:sp>
        <p:nvSpPr>
          <p:cNvPr id="14" name="Oval 13"/>
          <p:cNvSpPr/>
          <p:nvPr/>
        </p:nvSpPr>
        <p:spPr>
          <a:xfrm>
            <a:off x="502920" y="547420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7</a:t>
            </a:r>
          </a:p>
        </p:txBody>
      </p:sp>
      <p:sp>
        <p:nvSpPr>
          <p:cNvPr id="15" name="Rounded Rectangle 14"/>
          <p:cNvSpPr/>
          <p:nvPr/>
        </p:nvSpPr>
        <p:spPr>
          <a:xfrm>
            <a:off x="914400" y="5004816"/>
            <a:ext cx="5341467" cy="1286256"/>
          </a:xfrm>
          <a:prstGeom prst="roundRect">
            <a:avLst>
              <a:gd name="adj" fmla="val 6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Afet sonrası amaç, toplumu afet öncesi duruma döndürmektir.</a:t>
            </a:r>
          </a:p>
        </p:txBody>
      </p:sp>
      <p:sp>
        <p:nvSpPr>
          <p:cNvPr id="16" name="Rounded Rectangle 15"/>
          <p:cNvSpPr/>
          <p:nvPr/>
        </p:nvSpPr>
        <p:spPr>
          <a:xfrm>
            <a:off x="6347307" y="5004816"/>
            <a:ext cx="5341467" cy="1286256"/>
          </a:xfrm>
          <a:prstGeom prst="roundRect">
            <a:avLst>
              <a:gd name="adj" fmla="val 6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Afet ve acil durumlar, toplumsal dönüşüm için önemli bir fırsat olarak görülür.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155 / 250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Yeni yaklaşım hangi aşamayı güçlendirir?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Oval 5"/>
          <p:cNvSpPr/>
          <p:nvPr/>
        </p:nvSpPr>
        <p:spPr>
          <a:xfrm>
            <a:off x="502920" y="1351352"/>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7" name="Rounded Rectangle 6"/>
          <p:cNvSpPr/>
          <p:nvPr/>
        </p:nvSpPr>
        <p:spPr>
          <a:xfrm>
            <a:off x="960120" y="1197864"/>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gündelik hayatın parçası, fırsat penceresi</a:t>
            </a:r>
          </a:p>
          <a:p>
            <a:pPr algn="l">
              <a:spcBef>
                <a:spcPts val="0"/>
              </a:spcBef>
              <a:spcAft>
                <a:spcPts val="0"/>
              </a:spcAft>
            </a:pPr>
            <a:r>
              <a:rPr lang="tr-TR" sz="1500" b="0" i="1">
                <a:solidFill>
                  <a:srgbClr val="767676"/>
                </a:solidFill>
                <a:latin typeface="Calibri"/>
              </a:rPr>
              <a:t>risk baştan planlanır; yeniden yapılanma daha güvenli olur</a:t>
            </a:r>
          </a:p>
        </p:txBody>
      </p:sp>
      <p:sp>
        <p:nvSpPr>
          <p:cNvPr id="8" name="Rounded Rectangle 7"/>
          <p:cNvSpPr/>
          <p:nvPr/>
        </p:nvSpPr>
        <p:spPr>
          <a:xfrm>
            <a:off x="7040880" y="1342208"/>
            <a:ext cx="2069102" cy="384048"/>
          </a:xfrm>
          <a:prstGeom prst="roundRect">
            <a:avLst>
              <a:gd name="adj" fmla="val 50000"/>
            </a:avLst>
          </a:prstGeom>
          <a:solidFill>
            <a:srgbClr val="1F86BF"/>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Risk ve zarar azaltma</a:t>
            </a:r>
          </a:p>
        </p:txBody>
      </p:sp>
      <p:sp>
        <p:nvSpPr>
          <p:cNvPr id="9" name="Rounded Rectangle 8"/>
          <p:cNvSpPr/>
          <p:nvPr/>
        </p:nvSpPr>
        <p:spPr>
          <a:xfrm>
            <a:off x="9201422" y="1342208"/>
            <a:ext cx="1228291" cy="384048"/>
          </a:xfrm>
          <a:prstGeom prst="roundRect">
            <a:avLst>
              <a:gd name="adj" fmla="val 50000"/>
            </a:avLst>
          </a:prstGeom>
          <a:solidFill>
            <a:srgbClr val="55992E"/>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İyileştirme</a:t>
            </a:r>
          </a:p>
        </p:txBody>
      </p:sp>
      <p:sp>
        <p:nvSpPr>
          <p:cNvPr id="10" name="Oval 9"/>
          <p:cNvSpPr/>
          <p:nvPr/>
        </p:nvSpPr>
        <p:spPr>
          <a:xfrm>
            <a:off x="502920" y="2088097"/>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1" name="Rounded Rectangle 10"/>
          <p:cNvSpPr/>
          <p:nvPr/>
        </p:nvSpPr>
        <p:spPr>
          <a:xfrm>
            <a:off x="960120" y="1934609"/>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afet öncesinde de analiz</a:t>
            </a:r>
          </a:p>
          <a:p>
            <a:pPr algn="l">
              <a:spcBef>
                <a:spcPts val="0"/>
              </a:spcBef>
              <a:spcAft>
                <a:spcPts val="0"/>
              </a:spcAft>
            </a:pPr>
            <a:r>
              <a:rPr lang="tr-TR" sz="1500" b="0" i="1">
                <a:solidFill>
                  <a:srgbClr val="767676"/>
                </a:solidFill>
                <a:latin typeface="Calibri"/>
              </a:rPr>
              <a:t>riskin belirlenmesi, ihtiyaçların önceden belirlenmesi</a:t>
            </a:r>
          </a:p>
        </p:txBody>
      </p:sp>
      <p:sp>
        <p:nvSpPr>
          <p:cNvPr id="12" name="Rounded Rectangle 11"/>
          <p:cNvSpPr/>
          <p:nvPr/>
        </p:nvSpPr>
        <p:spPr>
          <a:xfrm>
            <a:off x="7040880" y="2078953"/>
            <a:ext cx="2069102" cy="384048"/>
          </a:xfrm>
          <a:prstGeom prst="roundRect">
            <a:avLst>
              <a:gd name="adj" fmla="val 50000"/>
            </a:avLst>
          </a:prstGeom>
          <a:solidFill>
            <a:srgbClr val="1F86BF"/>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Risk ve zarar azaltma</a:t>
            </a:r>
          </a:p>
        </p:txBody>
      </p:sp>
      <p:sp>
        <p:nvSpPr>
          <p:cNvPr id="13" name="Rounded Rectangle 12"/>
          <p:cNvSpPr/>
          <p:nvPr/>
        </p:nvSpPr>
        <p:spPr>
          <a:xfrm>
            <a:off x="9201422" y="2078953"/>
            <a:ext cx="1526875" cy="384048"/>
          </a:xfrm>
          <a:prstGeom prst="roundRect">
            <a:avLst>
              <a:gd name="adj" fmla="val 50000"/>
            </a:avLst>
          </a:prstGeom>
          <a:solidFill>
            <a:srgbClr val="D97316"/>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Hazırlıklı olma</a:t>
            </a:r>
          </a:p>
        </p:txBody>
      </p:sp>
      <p:sp>
        <p:nvSpPr>
          <p:cNvPr id="14" name="Oval 13"/>
          <p:cNvSpPr/>
          <p:nvPr/>
        </p:nvSpPr>
        <p:spPr>
          <a:xfrm>
            <a:off x="502920" y="2824842"/>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5" name="Rounded Rectangle 14"/>
          <p:cNvSpPr/>
          <p:nvPr/>
        </p:nvSpPr>
        <p:spPr>
          <a:xfrm>
            <a:off x="960120" y="2671354"/>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toplum tabanlı çözüm, zarar görme riskini azaltma</a:t>
            </a:r>
          </a:p>
          <a:p>
            <a:pPr algn="l">
              <a:spcBef>
                <a:spcPts val="0"/>
              </a:spcBef>
              <a:spcAft>
                <a:spcPts val="0"/>
              </a:spcAft>
            </a:pPr>
            <a:r>
              <a:rPr lang="tr-TR" sz="1500" b="0" i="1">
                <a:solidFill>
                  <a:srgbClr val="767676"/>
                </a:solidFill>
                <a:latin typeface="Calibri"/>
              </a:rPr>
              <a:t>riski azaltır; toplumun kapasitesi (eğitim) artar</a:t>
            </a:r>
          </a:p>
        </p:txBody>
      </p:sp>
      <p:sp>
        <p:nvSpPr>
          <p:cNvPr id="16" name="Rounded Rectangle 15"/>
          <p:cNvSpPr/>
          <p:nvPr/>
        </p:nvSpPr>
        <p:spPr>
          <a:xfrm>
            <a:off x="7040880" y="2815698"/>
            <a:ext cx="2069102" cy="384048"/>
          </a:xfrm>
          <a:prstGeom prst="roundRect">
            <a:avLst>
              <a:gd name="adj" fmla="val 50000"/>
            </a:avLst>
          </a:prstGeom>
          <a:solidFill>
            <a:srgbClr val="1F86BF"/>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Risk ve zarar azaltma</a:t>
            </a:r>
          </a:p>
        </p:txBody>
      </p:sp>
      <p:sp>
        <p:nvSpPr>
          <p:cNvPr id="17" name="Rounded Rectangle 16"/>
          <p:cNvSpPr/>
          <p:nvPr/>
        </p:nvSpPr>
        <p:spPr>
          <a:xfrm>
            <a:off x="9201422" y="2815698"/>
            <a:ext cx="1526875" cy="384048"/>
          </a:xfrm>
          <a:prstGeom prst="roundRect">
            <a:avLst>
              <a:gd name="adj" fmla="val 50000"/>
            </a:avLst>
          </a:prstGeom>
          <a:solidFill>
            <a:srgbClr val="D97316"/>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Hazırlıklı olma</a:t>
            </a:r>
          </a:p>
        </p:txBody>
      </p:sp>
      <p:sp>
        <p:nvSpPr>
          <p:cNvPr id="18" name="Oval 17"/>
          <p:cNvSpPr/>
          <p:nvPr/>
        </p:nvSpPr>
        <p:spPr>
          <a:xfrm>
            <a:off x="502920" y="3561587"/>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19" name="Rounded Rectangle 18"/>
          <p:cNvSpPr/>
          <p:nvPr/>
        </p:nvSpPr>
        <p:spPr>
          <a:xfrm>
            <a:off x="960120" y="3408099"/>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insanlar hazırlıkta paydaş, yerel kurumlar güçlü</a:t>
            </a:r>
          </a:p>
          <a:p>
            <a:pPr algn="l">
              <a:spcBef>
                <a:spcPts val="0"/>
              </a:spcBef>
              <a:spcAft>
                <a:spcPts val="0"/>
              </a:spcAft>
            </a:pPr>
            <a:r>
              <a:rPr lang="tr-TR" sz="1500" b="0" i="1">
                <a:solidFill>
                  <a:srgbClr val="767676"/>
                </a:solidFill>
                <a:latin typeface="Calibri"/>
              </a:rPr>
              <a:t>aile afet planı, gönüllülük, tatbikat</a:t>
            </a:r>
          </a:p>
        </p:txBody>
      </p:sp>
      <p:sp>
        <p:nvSpPr>
          <p:cNvPr id="20" name="Rounded Rectangle 19"/>
          <p:cNvSpPr/>
          <p:nvPr/>
        </p:nvSpPr>
        <p:spPr>
          <a:xfrm>
            <a:off x="7040880" y="3552443"/>
            <a:ext cx="1526875" cy="384048"/>
          </a:xfrm>
          <a:prstGeom prst="roundRect">
            <a:avLst>
              <a:gd name="adj" fmla="val 50000"/>
            </a:avLst>
          </a:prstGeom>
          <a:solidFill>
            <a:srgbClr val="D97316"/>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Hazırlıklı olma</a:t>
            </a:r>
          </a:p>
        </p:txBody>
      </p:sp>
      <p:sp>
        <p:nvSpPr>
          <p:cNvPr id="21" name="Oval 20"/>
          <p:cNvSpPr/>
          <p:nvPr/>
        </p:nvSpPr>
        <p:spPr>
          <a:xfrm>
            <a:off x="502920" y="4298332"/>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22" name="Rounded Rectangle 21"/>
          <p:cNvSpPr/>
          <p:nvPr/>
        </p:nvSpPr>
        <p:spPr>
          <a:xfrm>
            <a:off x="960120" y="4144844"/>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hesap verme, şeffaflık, başarı değerlendirmesi</a:t>
            </a:r>
          </a:p>
          <a:p>
            <a:pPr algn="l">
              <a:spcBef>
                <a:spcPts val="0"/>
              </a:spcBef>
              <a:spcAft>
                <a:spcPts val="0"/>
              </a:spcAft>
            </a:pPr>
            <a:r>
              <a:rPr lang="tr-TR" sz="1500" b="0" i="1">
                <a:solidFill>
                  <a:srgbClr val="767676"/>
                </a:solidFill>
                <a:latin typeface="Calibri"/>
              </a:rPr>
              <a:t>değerlendirme tecrübeyle başa dönüşü sağlar</a:t>
            </a:r>
          </a:p>
        </p:txBody>
      </p:sp>
      <p:sp>
        <p:nvSpPr>
          <p:cNvPr id="23" name="Rounded Rectangle 22"/>
          <p:cNvSpPr/>
          <p:nvPr/>
        </p:nvSpPr>
        <p:spPr>
          <a:xfrm>
            <a:off x="7040880" y="4289188"/>
            <a:ext cx="1228291" cy="384048"/>
          </a:xfrm>
          <a:prstGeom prst="roundRect">
            <a:avLst>
              <a:gd name="adj" fmla="val 50000"/>
            </a:avLst>
          </a:prstGeom>
          <a:solidFill>
            <a:srgbClr val="55992E"/>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İyileştirme</a:t>
            </a:r>
          </a:p>
        </p:txBody>
      </p:sp>
      <p:sp>
        <p:nvSpPr>
          <p:cNvPr id="24" name="Rounded Rectangle 23"/>
          <p:cNvSpPr/>
          <p:nvPr/>
        </p:nvSpPr>
        <p:spPr>
          <a:xfrm>
            <a:off x="8360611" y="4289188"/>
            <a:ext cx="2069102" cy="384048"/>
          </a:xfrm>
          <a:prstGeom prst="roundRect">
            <a:avLst>
              <a:gd name="adj" fmla="val 50000"/>
            </a:avLst>
          </a:prstGeom>
          <a:solidFill>
            <a:srgbClr val="1F86BF"/>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Risk ve zarar azaltma</a:t>
            </a:r>
          </a:p>
        </p:txBody>
      </p:sp>
      <p:sp>
        <p:nvSpPr>
          <p:cNvPr id="25" name="Oval 24"/>
          <p:cNvSpPr/>
          <p:nvPr/>
        </p:nvSpPr>
        <p:spPr>
          <a:xfrm>
            <a:off x="502920" y="5035077"/>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6</a:t>
            </a:r>
          </a:p>
        </p:txBody>
      </p:sp>
      <p:sp>
        <p:nvSpPr>
          <p:cNvPr id="26" name="Rounded Rectangle 25"/>
          <p:cNvSpPr/>
          <p:nvPr/>
        </p:nvSpPr>
        <p:spPr>
          <a:xfrm>
            <a:off x="960120" y="4881589"/>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çalışmalar daha çok afet öncesi</a:t>
            </a:r>
          </a:p>
          <a:p>
            <a:pPr algn="l">
              <a:spcBef>
                <a:spcPts val="0"/>
              </a:spcBef>
              <a:spcAft>
                <a:spcPts val="0"/>
              </a:spcAft>
            </a:pPr>
            <a:r>
              <a:rPr lang="tr-TR" sz="1500" b="0" i="1">
                <a:solidFill>
                  <a:srgbClr val="767676"/>
                </a:solidFill>
                <a:latin typeface="Calibri"/>
              </a:rPr>
              <a:t>risk yönetimi güçlenir</a:t>
            </a:r>
          </a:p>
        </p:txBody>
      </p:sp>
      <p:sp>
        <p:nvSpPr>
          <p:cNvPr id="27" name="Rounded Rectangle 26"/>
          <p:cNvSpPr/>
          <p:nvPr/>
        </p:nvSpPr>
        <p:spPr>
          <a:xfrm>
            <a:off x="7040880" y="5025933"/>
            <a:ext cx="2069102" cy="384048"/>
          </a:xfrm>
          <a:prstGeom prst="roundRect">
            <a:avLst>
              <a:gd name="adj" fmla="val 50000"/>
            </a:avLst>
          </a:prstGeom>
          <a:solidFill>
            <a:srgbClr val="1F86BF"/>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Risk ve zarar azaltma</a:t>
            </a:r>
          </a:p>
        </p:txBody>
      </p:sp>
      <p:sp>
        <p:nvSpPr>
          <p:cNvPr id="28" name="Rounded Rectangle 27"/>
          <p:cNvSpPr/>
          <p:nvPr/>
        </p:nvSpPr>
        <p:spPr>
          <a:xfrm>
            <a:off x="9201422" y="5025933"/>
            <a:ext cx="1526875" cy="384048"/>
          </a:xfrm>
          <a:prstGeom prst="roundRect">
            <a:avLst>
              <a:gd name="adj" fmla="val 50000"/>
            </a:avLst>
          </a:prstGeom>
          <a:solidFill>
            <a:srgbClr val="D97316"/>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Hazırlıklı olma</a:t>
            </a:r>
          </a:p>
        </p:txBody>
      </p:sp>
      <p:sp>
        <p:nvSpPr>
          <p:cNvPr id="29" name="Oval 28"/>
          <p:cNvSpPr/>
          <p:nvPr/>
        </p:nvSpPr>
        <p:spPr>
          <a:xfrm>
            <a:off x="502920" y="5771822"/>
            <a:ext cx="365760" cy="36576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7</a:t>
            </a:r>
          </a:p>
        </p:txBody>
      </p:sp>
      <p:sp>
        <p:nvSpPr>
          <p:cNvPr id="30" name="Rounded Rectangle 29"/>
          <p:cNvSpPr/>
          <p:nvPr/>
        </p:nvSpPr>
        <p:spPr>
          <a:xfrm>
            <a:off x="960120" y="5618334"/>
            <a:ext cx="5897880" cy="672737"/>
          </a:xfrm>
          <a:prstGeom prst="roundRect">
            <a:avLst>
              <a:gd name="adj" fmla="val 8000"/>
            </a:avLst>
          </a:prstGeom>
          <a:solidFill>
            <a:srgbClr val="F0F0F0"/>
          </a:solidFill>
          <a:ln>
            <a:noFill/>
          </a:ln>
          <a:effectLst/>
        </p:spPr>
        <p:txBody>
          <a:bodyPr rtlCol="0" anchor="ctr" wrap="square" lIns="137160" rIns="137160" tIns="18288" bIns="18288">
            <a:noAutofit/>
          </a:bodyPr>
          <a:lstStyle/>
          <a:p>
            <a:pPr algn="l">
              <a:spcBef>
                <a:spcPts val="0"/>
              </a:spcBef>
              <a:spcAft>
                <a:spcPts val="100"/>
              </a:spcAft>
            </a:pPr>
            <a:r>
              <a:rPr lang="tr-TR" sz="1700" b="1" i="0">
                <a:solidFill>
                  <a:srgbClr val="262626"/>
                </a:solidFill>
                <a:latin typeface="Calibri"/>
              </a:rPr>
              <a:t>afet, toplumsal dönüşüm fırsatı</a:t>
            </a:r>
          </a:p>
          <a:p>
            <a:pPr algn="l">
              <a:spcBef>
                <a:spcPts val="0"/>
              </a:spcBef>
              <a:spcAft>
                <a:spcPts val="0"/>
              </a:spcAft>
            </a:pPr>
            <a:r>
              <a:rPr lang="tr-TR" sz="1500" b="0" i="1">
                <a:solidFill>
                  <a:srgbClr val="767676"/>
                </a:solidFill>
                <a:latin typeface="Calibri"/>
              </a:rPr>
              <a:t>yeni tehlike ve riskler önlenerek yeniden yapılanma</a:t>
            </a:r>
          </a:p>
        </p:txBody>
      </p:sp>
      <p:sp>
        <p:nvSpPr>
          <p:cNvPr id="31" name="Rounded Rectangle 30"/>
          <p:cNvSpPr/>
          <p:nvPr/>
        </p:nvSpPr>
        <p:spPr>
          <a:xfrm>
            <a:off x="7040880" y="5762678"/>
            <a:ext cx="1228291" cy="384048"/>
          </a:xfrm>
          <a:prstGeom prst="roundRect">
            <a:avLst>
              <a:gd name="adj" fmla="val 50000"/>
            </a:avLst>
          </a:prstGeom>
          <a:solidFill>
            <a:srgbClr val="55992E"/>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İyileştirme</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212</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156 / 250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İlk ve en önemli aşama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KİTAP · s. 212</a:t>
            </a:r>
          </a:p>
        </p:txBody>
      </p:sp>
      <p:sp>
        <p:nvSpPr>
          <p:cNvPr id="6" name="Freeform 5"/>
          <p:cNvSpPr/>
          <p:nvPr/>
        </p:nvSpPr>
        <p:spPr>
          <a:xfrm>
            <a:off x="1143000" y="2039112"/>
            <a:ext cx="960120" cy="960120"/>
          </a:xfrm>
          <a:custGeom>
            <a:avLst/>
            <a:gdLst/>
            <a:ahLst/>
            <a:cxnLst/>
            <a:rect l="l" t="t" r="r" b="b"/>
            <a:pathLst>
              <a:path w="960120" h="960120">
                <a:moveTo>
                  <a:pt x="960120" y="0"/>
                </a:moveTo>
                <a:lnTo>
                  <a:pt x="926612" y="584"/>
                </a:lnTo>
                <a:lnTo>
                  <a:pt x="893145" y="2338"/>
                </a:lnTo>
                <a:lnTo>
                  <a:pt x="859760" y="5259"/>
                </a:lnTo>
                <a:lnTo>
                  <a:pt x="826497" y="9343"/>
                </a:lnTo>
                <a:lnTo>
                  <a:pt x="793396" y="14586"/>
                </a:lnTo>
                <a:lnTo>
                  <a:pt x="760499" y="20980"/>
                </a:lnTo>
                <a:lnTo>
                  <a:pt x="727845" y="28519"/>
                </a:lnTo>
                <a:lnTo>
                  <a:pt x="695475" y="37193"/>
                </a:lnTo>
                <a:lnTo>
                  <a:pt x="663426" y="46991"/>
                </a:lnTo>
                <a:lnTo>
                  <a:pt x="631739" y="57902"/>
                </a:lnTo>
                <a:lnTo>
                  <a:pt x="600452" y="69912"/>
                </a:lnTo>
                <a:lnTo>
                  <a:pt x="569604" y="83006"/>
                </a:lnTo>
                <a:lnTo>
                  <a:pt x="539231" y="97169"/>
                </a:lnTo>
                <a:lnTo>
                  <a:pt x="509370" y="112384"/>
                </a:lnTo>
                <a:lnTo>
                  <a:pt x="480060" y="128631"/>
                </a:lnTo>
                <a:lnTo>
                  <a:pt x="451333" y="145892"/>
                </a:lnTo>
                <a:lnTo>
                  <a:pt x="423227" y="164144"/>
                </a:lnTo>
                <a:lnTo>
                  <a:pt x="395775" y="183366"/>
                </a:lnTo>
                <a:lnTo>
                  <a:pt x="369011" y="203535"/>
                </a:lnTo>
                <a:lnTo>
                  <a:pt x="342966" y="224625"/>
                </a:lnTo>
                <a:lnTo>
                  <a:pt x="317674" y="246611"/>
                </a:lnTo>
                <a:lnTo>
                  <a:pt x="293164" y="269467"/>
                </a:lnTo>
                <a:lnTo>
                  <a:pt x="269467" y="293164"/>
                </a:lnTo>
                <a:lnTo>
                  <a:pt x="246611" y="317674"/>
                </a:lnTo>
                <a:lnTo>
                  <a:pt x="224625" y="342966"/>
                </a:lnTo>
                <a:lnTo>
                  <a:pt x="203535" y="369011"/>
                </a:lnTo>
                <a:lnTo>
                  <a:pt x="183366" y="395775"/>
                </a:lnTo>
                <a:lnTo>
                  <a:pt x="164144" y="423227"/>
                </a:lnTo>
                <a:lnTo>
                  <a:pt x="145892" y="451333"/>
                </a:lnTo>
                <a:lnTo>
                  <a:pt x="128631" y="480060"/>
                </a:lnTo>
                <a:lnTo>
                  <a:pt x="112384" y="509370"/>
                </a:lnTo>
                <a:lnTo>
                  <a:pt x="97169" y="539231"/>
                </a:lnTo>
                <a:lnTo>
                  <a:pt x="83006" y="569604"/>
                </a:lnTo>
                <a:lnTo>
                  <a:pt x="69912" y="600452"/>
                </a:lnTo>
                <a:lnTo>
                  <a:pt x="57902" y="631739"/>
                </a:lnTo>
                <a:lnTo>
                  <a:pt x="46991" y="663426"/>
                </a:lnTo>
                <a:lnTo>
                  <a:pt x="37193" y="695475"/>
                </a:lnTo>
                <a:lnTo>
                  <a:pt x="28519" y="727845"/>
                </a:lnTo>
                <a:lnTo>
                  <a:pt x="20980" y="760499"/>
                </a:lnTo>
                <a:lnTo>
                  <a:pt x="14586" y="793396"/>
                </a:lnTo>
                <a:lnTo>
                  <a:pt x="9343" y="826497"/>
                </a:lnTo>
                <a:lnTo>
                  <a:pt x="5259" y="859760"/>
                </a:lnTo>
                <a:lnTo>
                  <a:pt x="2338" y="893145"/>
                </a:lnTo>
                <a:lnTo>
                  <a:pt x="584" y="926612"/>
                </a:lnTo>
                <a:lnTo>
                  <a:pt x="0" y="960120"/>
                </a:lnTo>
                <a:lnTo>
                  <a:pt x="403250" y="960120"/>
                </a:lnTo>
                <a:lnTo>
                  <a:pt x="403589" y="940685"/>
                </a:lnTo>
                <a:lnTo>
                  <a:pt x="404606" y="921274"/>
                </a:lnTo>
                <a:lnTo>
                  <a:pt x="406300" y="901911"/>
                </a:lnTo>
                <a:lnTo>
                  <a:pt x="408669" y="882618"/>
                </a:lnTo>
                <a:lnTo>
                  <a:pt x="411710" y="863420"/>
                </a:lnTo>
                <a:lnTo>
                  <a:pt x="415419" y="844340"/>
                </a:lnTo>
                <a:lnTo>
                  <a:pt x="419791" y="825401"/>
                </a:lnTo>
                <a:lnTo>
                  <a:pt x="424822" y="806625"/>
                </a:lnTo>
                <a:lnTo>
                  <a:pt x="430505" y="788037"/>
                </a:lnTo>
                <a:lnTo>
                  <a:pt x="436833" y="769659"/>
                </a:lnTo>
                <a:lnTo>
                  <a:pt x="443799" y="751512"/>
                </a:lnTo>
                <a:lnTo>
                  <a:pt x="451394" y="733620"/>
                </a:lnTo>
                <a:lnTo>
                  <a:pt x="459608" y="716004"/>
                </a:lnTo>
                <a:lnTo>
                  <a:pt x="468433" y="698685"/>
                </a:lnTo>
                <a:lnTo>
                  <a:pt x="477856" y="681685"/>
                </a:lnTo>
                <a:lnTo>
                  <a:pt x="487867" y="665024"/>
                </a:lnTo>
                <a:lnTo>
                  <a:pt x="498454" y="648722"/>
                </a:lnTo>
                <a:lnTo>
                  <a:pt x="509603" y="632800"/>
                </a:lnTo>
                <a:lnTo>
                  <a:pt x="521300" y="617276"/>
                </a:lnTo>
                <a:lnTo>
                  <a:pt x="533533" y="602171"/>
                </a:lnTo>
                <a:lnTo>
                  <a:pt x="546285" y="587501"/>
                </a:lnTo>
                <a:lnTo>
                  <a:pt x="559541" y="573285"/>
                </a:lnTo>
                <a:lnTo>
                  <a:pt x="573285" y="559541"/>
                </a:lnTo>
                <a:lnTo>
                  <a:pt x="587501" y="546285"/>
                </a:lnTo>
                <a:lnTo>
                  <a:pt x="602171" y="533533"/>
                </a:lnTo>
                <a:lnTo>
                  <a:pt x="617276" y="521300"/>
                </a:lnTo>
                <a:lnTo>
                  <a:pt x="632800" y="509603"/>
                </a:lnTo>
                <a:lnTo>
                  <a:pt x="648722" y="498454"/>
                </a:lnTo>
                <a:lnTo>
                  <a:pt x="665024" y="487867"/>
                </a:lnTo>
                <a:lnTo>
                  <a:pt x="681685" y="477856"/>
                </a:lnTo>
                <a:lnTo>
                  <a:pt x="698685" y="468433"/>
                </a:lnTo>
                <a:lnTo>
                  <a:pt x="716004" y="459608"/>
                </a:lnTo>
                <a:lnTo>
                  <a:pt x="733620" y="451394"/>
                </a:lnTo>
                <a:lnTo>
                  <a:pt x="751512" y="443799"/>
                </a:lnTo>
                <a:lnTo>
                  <a:pt x="769659" y="436833"/>
                </a:lnTo>
                <a:lnTo>
                  <a:pt x="788037" y="430505"/>
                </a:lnTo>
                <a:lnTo>
                  <a:pt x="806625" y="424822"/>
                </a:lnTo>
                <a:lnTo>
                  <a:pt x="825401" y="419791"/>
                </a:lnTo>
                <a:lnTo>
                  <a:pt x="844340" y="415419"/>
                </a:lnTo>
                <a:lnTo>
                  <a:pt x="863420" y="411710"/>
                </a:lnTo>
                <a:lnTo>
                  <a:pt x="882618" y="408669"/>
                </a:lnTo>
                <a:lnTo>
                  <a:pt x="901911" y="406300"/>
                </a:lnTo>
                <a:lnTo>
                  <a:pt x="921274" y="404606"/>
                </a:lnTo>
                <a:lnTo>
                  <a:pt x="940685" y="403589"/>
                </a:lnTo>
                <a:lnTo>
                  <a:pt x="960120" y="403250"/>
                </a:lnTo>
                <a:close/>
              </a:path>
            </a:pathLst>
          </a:custGeom>
          <a:solidFill>
            <a:srgbClr val="1F86BF"/>
          </a:solidFill>
          <a:ln>
            <a:noFill/>
          </a:ln>
        </p:spPr>
        <p:txBody>
          <a:bodyPr rtlCol="0" anchor="ctr"/>
          <a:lstStyle/>
          <a:p>
            <a:pPr algn="ctr"/>
          </a:p>
        </p:txBody>
      </p:sp>
      <p:sp>
        <p:nvSpPr>
          <p:cNvPr id="7" name="Freeform 6"/>
          <p:cNvSpPr/>
          <p:nvPr/>
        </p:nvSpPr>
        <p:spPr>
          <a:xfrm>
            <a:off x="2103120" y="2039112"/>
            <a:ext cx="960120" cy="960120"/>
          </a:xfrm>
          <a:custGeom>
            <a:avLst/>
            <a:gdLst/>
            <a:ahLst/>
            <a:cxnLst/>
            <a:rect l="l" t="t" r="r" b="b"/>
            <a:pathLst>
              <a:path w="960120" h="960120">
                <a:moveTo>
                  <a:pt x="960120" y="960120"/>
                </a:moveTo>
                <a:lnTo>
                  <a:pt x="959535" y="926612"/>
                </a:lnTo>
                <a:lnTo>
                  <a:pt x="957781" y="893145"/>
                </a:lnTo>
                <a:lnTo>
                  <a:pt x="954860" y="859760"/>
                </a:lnTo>
                <a:lnTo>
                  <a:pt x="950776" y="826497"/>
                </a:lnTo>
                <a:lnTo>
                  <a:pt x="945533" y="793396"/>
                </a:lnTo>
                <a:lnTo>
                  <a:pt x="939139" y="760499"/>
                </a:lnTo>
                <a:lnTo>
                  <a:pt x="931600" y="727845"/>
                </a:lnTo>
                <a:lnTo>
                  <a:pt x="922926" y="695475"/>
                </a:lnTo>
                <a:lnTo>
                  <a:pt x="913128" y="663426"/>
                </a:lnTo>
                <a:lnTo>
                  <a:pt x="902217" y="631739"/>
                </a:lnTo>
                <a:lnTo>
                  <a:pt x="890207" y="600452"/>
                </a:lnTo>
                <a:lnTo>
                  <a:pt x="877113" y="569604"/>
                </a:lnTo>
                <a:lnTo>
                  <a:pt x="862950" y="539231"/>
                </a:lnTo>
                <a:lnTo>
                  <a:pt x="847735" y="509370"/>
                </a:lnTo>
                <a:lnTo>
                  <a:pt x="831488" y="480060"/>
                </a:lnTo>
                <a:lnTo>
                  <a:pt x="814227" y="451333"/>
                </a:lnTo>
                <a:lnTo>
                  <a:pt x="795975" y="423227"/>
                </a:lnTo>
                <a:lnTo>
                  <a:pt x="776753" y="395775"/>
                </a:lnTo>
                <a:lnTo>
                  <a:pt x="756584" y="369011"/>
                </a:lnTo>
                <a:lnTo>
                  <a:pt x="735494" y="342966"/>
                </a:lnTo>
                <a:lnTo>
                  <a:pt x="713508" y="317674"/>
                </a:lnTo>
                <a:lnTo>
                  <a:pt x="690652" y="293164"/>
                </a:lnTo>
                <a:lnTo>
                  <a:pt x="666955" y="269467"/>
                </a:lnTo>
                <a:lnTo>
                  <a:pt x="642445" y="246611"/>
                </a:lnTo>
                <a:lnTo>
                  <a:pt x="617153" y="224625"/>
                </a:lnTo>
                <a:lnTo>
                  <a:pt x="591108" y="203535"/>
                </a:lnTo>
                <a:lnTo>
                  <a:pt x="564344" y="183366"/>
                </a:lnTo>
                <a:lnTo>
                  <a:pt x="536892" y="164144"/>
                </a:lnTo>
                <a:lnTo>
                  <a:pt x="508786" y="145892"/>
                </a:lnTo>
                <a:lnTo>
                  <a:pt x="480060" y="128631"/>
                </a:lnTo>
                <a:lnTo>
                  <a:pt x="450749" y="112384"/>
                </a:lnTo>
                <a:lnTo>
                  <a:pt x="420888" y="97169"/>
                </a:lnTo>
                <a:lnTo>
                  <a:pt x="390515" y="83006"/>
                </a:lnTo>
                <a:lnTo>
                  <a:pt x="359667" y="69912"/>
                </a:lnTo>
                <a:lnTo>
                  <a:pt x="328380" y="57902"/>
                </a:lnTo>
                <a:lnTo>
                  <a:pt x="296693" y="46991"/>
                </a:lnTo>
                <a:lnTo>
                  <a:pt x="264644" y="37193"/>
                </a:lnTo>
                <a:lnTo>
                  <a:pt x="232274" y="28519"/>
                </a:lnTo>
                <a:lnTo>
                  <a:pt x="199620" y="20980"/>
                </a:lnTo>
                <a:lnTo>
                  <a:pt x="166723" y="14586"/>
                </a:lnTo>
                <a:lnTo>
                  <a:pt x="133622" y="9343"/>
                </a:lnTo>
                <a:lnTo>
                  <a:pt x="100359" y="5259"/>
                </a:lnTo>
                <a:lnTo>
                  <a:pt x="66974" y="2338"/>
                </a:lnTo>
                <a:lnTo>
                  <a:pt x="33507" y="584"/>
                </a:lnTo>
                <a:lnTo>
                  <a:pt x="0" y="0"/>
                </a:lnTo>
                <a:lnTo>
                  <a:pt x="0" y="403250"/>
                </a:lnTo>
                <a:lnTo>
                  <a:pt x="19434" y="403589"/>
                </a:lnTo>
                <a:lnTo>
                  <a:pt x="38845" y="404606"/>
                </a:lnTo>
                <a:lnTo>
                  <a:pt x="58208" y="406300"/>
                </a:lnTo>
                <a:lnTo>
                  <a:pt x="77501" y="408669"/>
                </a:lnTo>
                <a:lnTo>
                  <a:pt x="96699" y="411710"/>
                </a:lnTo>
                <a:lnTo>
                  <a:pt x="115779" y="415419"/>
                </a:lnTo>
                <a:lnTo>
                  <a:pt x="134718" y="419791"/>
                </a:lnTo>
                <a:lnTo>
                  <a:pt x="153494" y="424822"/>
                </a:lnTo>
                <a:lnTo>
                  <a:pt x="172082" y="430505"/>
                </a:lnTo>
                <a:lnTo>
                  <a:pt x="190460" y="436833"/>
                </a:lnTo>
                <a:lnTo>
                  <a:pt x="208607" y="443799"/>
                </a:lnTo>
                <a:lnTo>
                  <a:pt x="226499" y="451394"/>
                </a:lnTo>
                <a:lnTo>
                  <a:pt x="244115" y="459608"/>
                </a:lnTo>
                <a:lnTo>
                  <a:pt x="261434" y="468433"/>
                </a:lnTo>
                <a:lnTo>
                  <a:pt x="278434" y="477856"/>
                </a:lnTo>
                <a:lnTo>
                  <a:pt x="295095" y="487867"/>
                </a:lnTo>
                <a:lnTo>
                  <a:pt x="311397" y="498454"/>
                </a:lnTo>
                <a:lnTo>
                  <a:pt x="327319" y="509603"/>
                </a:lnTo>
                <a:lnTo>
                  <a:pt x="342843" y="521300"/>
                </a:lnTo>
                <a:lnTo>
                  <a:pt x="357948" y="533533"/>
                </a:lnTo>
                <a:lnTo>
                  <a:pt x="372618" y="546285"/>
                </a:lnTo>
                <a:lnTo>
                  <a:pt x="386834" y="559541"/>
                </a:lnTo>
                <a:lnTo>
                  <a:pt x="400578" y="573285"/>
                </a:lnTo>
                <a:lnTo>
                  <a:pt x="413834" y="587501"/>
                </a:lnTo>
                <a:lnTo>
                  <a:pt x="426586" y="602171"/>
                </a:lnTo>
                <a:lnTo>
                  <a:pt x="438819" y="617276"/>
                </a:lnTo>
                <a:lnTo>
                  <a:pt x="450516" y="632800"/>
                </a:lnTo>
                <a:lnTo>
                  <a:pt x="461665" y="648722"/>
                </a:lnTo>
                <a:lnTo>
                  <a:pt x="472252" y="665024"/>
                </a:lnTo>
                <a:lnTo>
                  <a:pt x="482263" y="681685"/>
                </a:lnTo>
                <a:lnTo>
                  <a:pt x="491686" y="698685"/>
                </a:lnTo>
                <a:lnTo>
                  <a:pt x="500511" y="716004"/>
                </a:lnTo>
                <a:lnTo>
                  <a:pt x="508725" y="733620"/>
                </a:lnTo>
                <a:lnTo>
                  <a:pt x="516320" y="751512"/>
                </a:lnTo>
                <a:lnTo>
                  <a:pt x="523286" y="769659"/>
                </a:lnTo>
                <a:lnTo>
                  <a:pt x="529614" y="788037"/>
                </a:lnTo>
                <a:lnTo>
                  <a:pt x="535297" y="806625"/>
                </a:lnTo>
                <a:lnTo>
                  <a:pt x="540328" y="825401"/>
                </a:lnTo>
                <a:lnTo>
                  <a:pt x="544700" y="844340"/>
                </a:lnTo>
                <a:lnTo>
                  <a:pt x="548409" y="863420"/>
                </a:lnTo>
                <a:lnTo>
                  <a:pt x="551450" y="882618"/>
                </a:lnTo>
                <a:lnTo>
                  <a:pt x="553819" y="901911"/>
                </a:lnTo>
                <a:lnTo>
                  <a:pt x="555513" y="921274"/>
                </a:lnTo>
                <a:lnTo>
                  <a:pt x="556530" y="940685"/>
                </a:lnTo>
                <a:lnTo>
                  <a:pt x="556869" y="960120"/>
                </a:lnTo>
                <a:close/>
              </a:path>
            </a:pathLst>
          </a:custGeom>
          <a:solidFill>
            <a:srgbClr val="D6D6D6"/>
          </a:solidFill>
          <a:ln>
            <a:noFill/>
          </a:ln>
        </p:spPr>
        <p:txBody>
          <a:bodyPr rtlCol="0" anchor="ctr"/>
          <a:lstStyle/>
          <a:p>
            <a:pPr algn="ctr"/>
          </a:p>
        </p:txBody>
      </p:sp>
      <p:sp>
        <p:nvSpPr>
          <p:cNvPr id="8" name="Freeform 7"/>
          <p:cNvSpPr/>
          <p:nvPr/>
        </p:nvSpPr>
        <p:spPr>
          <a:xfrm>
            <a:off x="2103120" y="2999232"/>
            <a:ext cx="960120" cy="960120"/>
          </a:xfrm>
          <a:custGeom>
            <a:avLst/>
            <a:gdLst/>
            <a:ahLst/>
            <a:cxnLst/>
            <a:rect l="l" t="t" r="r" b="b"/>
            <a:pathLst>
              <a:path w="960120" h="960120">
                <a:moveTo>
                  <a:pt x="0" y="960120"/>
                </a:moveTo>
                <a:lnTo>
                  <a:pt x="33507" y="959535"/>
                </a:lnTo>
                <a:lnTo>
                  <a:pt x="66974" y="957781"/>
                </a:lnTo>
                <a:lnTo>
                  <a:pt x="100359" y="954860"/>
                </a:lnTo>
                <a:lnTo>
                  <a:pt x="133622" y="950776"/>
                </a:lnTo>
                <a:lnTo>
                  <a:pt x="166723" y="945533"/>
                </a:lnTo>
                <a:lnTo>
                  <a:pt x="199620" y="939139"/>
                </a:lnTo>
                <a:lnTo>
                  <a:pt x="232274" y="931600"/>
                </a:lnTo>
                <a:lnTo>
                  <a:pt x="264644" y="922926"/>
                </a:lnTo>
                <a:lnTo>
                  <a:pt x="296693" y="913128"/>
                </a:lnTo>
                <a:lnTo>
                  <a:pt x="328380" y="902217"/>
                </a:lnTo>
                <a:lnTo>
                  <a:pt x="359667" y="890207"/>
                </a:lnTo>
                <a:lnTo>
                  <a:pt x="390515" y="877113"/>
                </a:lnTo>
                <a:lnTo>
                  <a:pt x="420888" y="862950"/>
                </a:lnTo>
                <a:lnTo>
                  <a:pt x="450749" y="847735"/>
                </a:lnTo>
                <a:lnTo>
                  <a:pt x="480060" y="831488"/>
                </a:lnTo>
                <a:lnTo>
                  <a:pt x="508786" y="814227"/>
                </a:lnTo>
                <a:lnTo>
                  <a:pt x="536892" y="795975"/>
                </a:lnTo>
                <a:lnTo>
                  <a:pt x="564344" y="776753"/>
                </a:lnTo>
                <a:lnTo>
                  <a:pt x="591108" y="756584"/>
                </a:lnTo>
                <a:lnTo>
                  <a:pt x="617153" y="735494"/>
                </a:lnTo>
                <a:lnTo>
                  <a:pt x="642445" y="713508"/>
                </a:lnTo>
                <a:lnTo>
                  <a:pt x="666955" y="690652"/>
                </a:lnTo>
                <a:lnTo>
                  <a:pt x="690652" y="666955"/>
                </a:lnTo>
                <a:lnTo>
                  <a:pt x="713508" y="642445"/>
                </a:lnTo>
                <a:lnTo>
                  <a:pt x="735494" y="617153"/>
                </a:lnTo>
                <a:lnTo>
                  <a:pt x="756584" y="591108"/>
                </a:lnTo>
                <a:lnTo>
                  <a:pt x="776753" y="564344"/>
                </a:lnTo>
                <a:lnTo>
                  <a:pt x="795975" y="536892"/>
                </a:lnTo>
                <a:lnTo>
                  <a:pt x="814227" y="508786"/>
                </a:lnTo>
                <a:lnTo>
                  <a:pt x="831488" y="480060"/>
                </a:lnTo>
                <a:lnTo>
                  <a:pt x="847735" y="450749"/>
                </a:lnTo>
                <a:lnTo>
                  <a:pt x="862950" y="420888"/>
                </a:lnTo>
                <a:lnTo>
                  <a:pt x="877113" y="390515"/>
                </a:lnTo>
                <a:lnTo>
                  <a:pt x="890207" y="359667"/>
                </a:lnTo>
                <a:lnTo>
                  <a:pt x="902217" y="328380"/>
                </a:lnTo>
                <a:lnTo>
                  <a:pt x="913128" y="296693"/>
                </a:lnTo>
                <a:lnTo>
                  <a:pt x="922926" y="264644"/>
                </a:lnTo>
                <a:lnTo>
                  <a:pt x="931600" y="232274"/>
                </a:lnTo>
                <a:lnTo>
                  <a:pt x="939139" y="199620"/>
                </a:lnTo>
                <a:lnTo>
                  <a:pt x="945533" y="166723"/>
                </a:lnTo>
                <a:lnTo>
                  <a:pt x="950776" y="133622"/>
                </a:lnTo>
                <a:lnTo>
                  <a:pt x="954860" y="100359"/>
                </a:lnTo>
                <a:lnTo>
                  <a:pt x="957781" y="66974"/>
                </a:lnTo>
                <a:lnTo>
                  <a:pt x="959535" y="33507"/>
                </a:lnTo>
                <a:lnTo>
                  <a:pt x="960120" y="0"/>
                </a:lnTo>
                <a:lnTo>
                  <a:pt x="556869" y="0"/>
                </a:lnTo>
                <a:lnTo>
                  <a:pt x="556530" y="19434"/>
                </a:lnTo>
                <a:lnTo>
                  <a:pt x="555513" y="38845"/>
                </a:lnTo>
                <a:lnTo>
                  <a:pt x="553819" y="58208"/>
                </a:lnTo>
                <a:lnTo>
                  <a:pt x="551450" y="77501"/>
                </a:lnTo>
                <a:lnTo>
                  <a:pt x="548409" y="96699"/>
                </a:lnTo>
                <a:lnTo>
                  <a:pt x="544700" y="115779"/>
                </a:lnTo>
                <a:lnTo>
                  <a:pt x="540328" y="134718"/>
                </a:lnTo>
                <a:lnTo>
                  <a:pt x="535297" y="153494"/>
                </a:lnTo>
                <a:lnTo>
                  <a:pt x="529614" y="172082"/>
                </a:lnTo>
                <a:lnTo>
                  <a:pt x="523286" y="190460"/>
                </a:lnTo>
                <a:lnTo>
                  <a:pt x="516320" y="208607"/>
                </a:lnTo>
                <a:lnTo>
                  <a:pt x="508725" y="226499"/>
                </a:lnTo>
                <a:lnTo>
                  <a:pt x="500511" y="244115"/>
                </a:lnTo>
                <a:lnTo>
                  <a:pt x="491686" y="261434"/>
                </a:lnTo>
                <a:lnTo>
                  <a:pt x="482263" y="278434"/>
                </a:lnTo>
                <a:lnTo>
                  <a:pt x="472252" y="295095"/>
                </a:lnTo>
                <a:lnTo>
                  <a:pt x="461665" y="311397"/>
                </a:lnTo>
                <a:lnTo>
                  <a:pt x="450516" y="327319"/>
                </a:lnTo>
                <a:lnTo>
                  <a:pt x="438819" y="342843"/>
                </a:lnTo>
                <a:lnTo>
                  <a:pt x="426586" y="357948"/>
                </a:lnTo>
                <a:lnTo>
                  <a:pt x="413834" y="372618"/>
                </a:lnTo>
                <a:lnTo>
                  <a:pt x="400578" y="386834"/>
                </a:lnTo>
                <a:lnTo>
                  <a:pt x="386834" y="400578"/>
                </a:lnTo>
                <a:lnTo>
                  <a:pt x="372618" y="413834"/>
                </a:lnTo>
                <a:lnTo>
                  <a:pt x="357948" y="426586"/>
                </a:lnTo>
                <a:lnTo>
                  <a:pt x="342843" y="438819"/>
                </a:lnTo>
                <a:lnTo>
                  <a:pt x="327319" y="450516"/>
                </a:lnTo>
                <a:lnTo>
                  <a:pt x="311397" y="461665"/>
                </a:lnTo>
                <a:lnTo>
                  <a:pt x="295095" y="472252"/>
                </a:lnTo>
                <a:lnTo>
                  <a:pt x="278434" y="482263"/>
                </a:lnTo>
                <a:lnTo>
                  <a:pt x="261434" y="491686"/>
                </a:lnTo>
                <a:lnTo>
                  <a:pt x="244115" y="500511"/>
                </a:lnTo>
                <a:lnTo>
                  <a:pt x="226499" y="508725"/>
                </a:lnTo>
                <a:lnTo>
                  <a:pt x="208607" y="516320"/>
                </a:lnTo>
                <a:lnTo>
                  <a:pt x="190460" y="523286"/>
                </a:lnTo>
                <a:lnTo>
                  <a:pt x="172082" y="529614"/>
                </a:lnTo>
                <a:lnTo>
                  <a:pt x="153494" y="535297"/>
                </a:lnTo>
                <a:lnTo>
                  <a:pt x="134718" y="540328"/>
                </a:lnTo>
                <a:lnTo>
                  <a:pt x="115779" y="544700"/>
                </a:lnTo>
                <a:lnTo>
                  <a:pt x="96699" y="548409"/>
                </a:lnTo>
                <a:lnTo>
                  <a:pt x="77501" y="551450"/>
                </a:lnTo>
                <a:lnTo>
                  <a:pt x="58208" y="553819"/>
                </a:lnTo>
                <a:lnTo>
                  <a:pt x="38845" y="555513"/>
                </a:lnTo>
                <a:lnTo>
                  <a:pt x="19434" y="556530"/>
                </a:lnTo>
                <a:lnTo>
                  <a:pt x="0" y="556869"/>
                </a:lnTo>
                <a:close/>
              </a:path>
            </a:pathLst>
          </a:custGeom>
          <a:solidFill>
            <a:srgbClr val="D6D6D6"/>
          </a:solidFill>
          <a:ln>
            <a:noFill/>
          </a:ln>
        </p:spPr>
        <p:txBody>
          <a:bodyPr rtlCol="0" anchor="ctr"/>
          <a:lstStyle/>
          <a:p>
            <a:pPr algn="ctr"/>
          </a:p>
        </p:txBody>
      </p:sp>
      <p:sp>
        <p:nvSpPr>
          <p:cNvPr id="9" name="Freeform 8"/>
          <p:cNvSpPr/>
          <p:nvPr/>
        </p:nvSpPr>
        <p:spPr>
          <a:xfrm>
            <a:off x="1143000" y="2999232"/>
            <a:ext cx="960120" cy="960120"/>
          </a:xfrm>
          <a:custGeom>
            <a:avLst/>
            <a:gdLst/>
            <a:ahLst/>
            <a:cxnLst/>
            <a:rect l="l" t="t" r="r" b="b"/>
            <a:pathLst>
              <a:path w="960120" h="960120">
                <a:moveTo>
                  <a:pt x="0" y="0"/>
                </a:moveTo>
                <a:lnTo>
                  <a:pt x="584" y="33507"/>
                </a:lnTo>
                <a:lnTo>
                  <a:pt x="2338" y="66974"/>
                </a:lnTo>
                <a:lnTo>
                  <a:pt x="5259" y="100359"/>
                </a:lnTo>
                <a:lnTo>
                  <a:pt x="9343" y="133622"/>
                </a:lnTo>
                <a:lnTo>
                  <a:pt x="14586" y="166723"/>
                </a:lnTo>
                <a:lnTo>
                  <a:pt x="20980" y="199620"/>
                </a:lnTo>
                <a:lnTo>
                  <a:pt x="28519" y="232274"/>
                </a:lnTo>
                <a:lnTo>
                  <a:pt x="37193" y="264644"/>
                </a:lnTo>
                <a:lnTo>
                  <a:pt x="46991" y="296693"/>
                </a:lnTo>
                <a:lnTo>
                  <a:pt x="57902" y="328380"/>
                </a:lnTo>
                <a:lnTo>
                  <a:pt x="69912" y="359667"/>
                </a:lnTo>
                <a:lnTo>
                  <a:pt x="83006" y="390515"/>
                </a:lnTo>
                <a:lnTo>
                  <a:pt x="97169" y="420888"/>
                </a:lnTo>
                <a:lnTo>
                  <a:pt x="112384" y="450749"/>
                </a:lnTo>
                <a:lnTo>
                  <a:pt x="128631" y="480060"/>
                </a:lnTo>
                <a:lnTo>
                  <a:pt x="145892" y="508786"/>
                </a:lnTo>
                <a:lnTo>
                  <a:pt x="164144" y="536892"/>
                </a:lnTo>
                <a:lnTo>
                  <a:pt x="183366" y="564344"/>
                </a:lnTo>
                <a:lnTo>
                  <a:pt x="203535" y="591108"/>
                </a:lnTo>
                <a:lnTo>
                  <a:pt x="224625" y="617153"/>
                </a:lnTo>
                <a:lnTo>
                  <a:pt x="246611" y="642445"/>
                </a:lnTo>
                <a:lnTo>
                  <a:pt x="269467" y="666955"/>
                </a:lnTo>
                <a:lnTo>
                  <a:pt x="293164" y="690652"/>
                </a:lnTo>
                <a:lnTo>
                  <a:pt x="317674" y="713508"/>
                </a:lnTo>
                <a:lnTo>
                  <a:pt x="342966" y="735494"/>
                </a:lnTo>
                <a:lnTo>
                  <a:pt x="369011" y="756584"/>
                </a:lnTo>
                <a:lnTo>
                  <a:pt x="395775" y="776753"/>
                </a:lnTo>
                <a:lnTo>
                  <a:pt x="423227" y="795975"/>
                </a:lnTo>
                <a:lnTo>
                  <a:pt x="451333" y="814227"/>
                </a:lnTo>
                <a:lnTo>
                  <a:pt x="480060" y="831488"/>
                </a:lnTo>
                <a:lnTo>
                  <a:pt x="509370" y="847735"/>
                </a:lnTo>
                <a:lnTo>
                  <a:pt x="539231" y="862950"/>
                </a:lnTo>
                <a:lnTo>
                  <a:pt x="569604" y="877113"/>
                </a:lnTo>
                <a:lnTo>
                  <a:pt x="600452" y="890207"/>
                </a:lnTo>
                <a:lnTo>
                  <a:pt x="631739" y="902217"/>
                </a:lnTo>
                <a:lnTo>
                  <a:pt x="663426" y="913128"/>
                </a:lnTo>
                <a:lnTo>
                  <a:pt x="695475" y="922926"/>
                </a:lnTo>
                <a:lnTo>
                  <a:pt x="727845" y="931600"/>
                </a:lnTo>
                <a:lnTo>
                  <a:pt x="760499" y="939139"/>
                </a:lnTo>
                <a:lnTo>
                  <a:pt x="793396" y="945533"/>
                </a:lnTo>
                <a:lnTo>
                  <a:pt x="826497" y="950776"/>
                </a:lnTo>
                <a:lnTo>
                  <a:pt x="859760" y="954860"/>
                </a:lnTo>
                <a:lnTo>
                  <a:pt x="893145" y="957781"/>
                </a:lnTo>
                <a:lnTo>
                  <a:pt x="926612" y="959535"/>
                </a:lnTo>
                <a:lnTo>
                  <a:pt x="960120" y="960120"/>
                </a:lnTo>
                <a:lnTo>
                  <a:pt x="960120" y="556869"/>
                </a:lnTo>
                <a:lnTo>
                  <a:pt x="940685" y="556530"/>
                </a:lnTo>
                <a:lnTo>
                  <a:pt x="921274" y="555513"/>
                </a:lnTo>
                <a:lnTo>
                  <a:pt x="901911" y="553819"/>
                </a:lnTo>
                <a:lnTo>
                  <a:pt x="882618" y="551450"/>
                </a:lnTo>
                <a:lnTo>
                  <a:pt x="863420" y="548409"/>
                </a:lnTo>
                <a:lnTo>
                  <a:pt x="844340" y="544700"/>
                </a:lnTo>
                <a:lnTo>
                  <a:pt x="825401" y="540328"/>
                </a:lnTo>
                <a:lnTo>
                  <a:pt x="806625" y="535297"/>
                </a:lnTo>
                <a:lnTo>
                  <a:pt x="788037" y="529614"/>
                </a:lnTo>
                <a:lnTo>
                  <a:pt x="769659" y="523286"/>
                </a:lnTo>
                <a:lnTo>
                  <a:pt x="751512" y="516320"/>
                </a:lnTo>
                <a:lnTo>
                  <a:pt x="733620" y="508725"/>
                </a:lnTo>
                <a:lnTo>
                  <a:pt x="716004" y="500511"/>
                </a:lnTo>
                <a:lnTo>
                  <a:pt x="698685" y="491686"/>
                </a:lnTo>
                <a:lnTo>
                  <a:pt x="681685" y="482263"/>
                </a:lnTo>
                <a:lnTo>
                  <a:pt x="665024" y="472252"/>
                </a:lnTo>
                <a:lnTo>
                  <a:pt x="648722" y="461665"/>
                </a:lnTo>
                <a:lnTo>
                  <a:pt x="632800" y="450516"/>
                </a:lnTo>
                <a:lnTo>
                  <a:pt x="617276" y="438819"/>
                </a:lnTo>
                <a:lnTo>
                  <a:pt x="602171" y="426586"/>
                </a:lnTo>
                <a:lnTo>
                  <a:pt x="587501" y="413834"/>
                </a:lnTo>
                <a:lnTo>
                  <a:pt x="573285" y="400578"/>
                </a:lnTo>
                <a:lnTo>
                  <a:pt x="559541" y="386834"/>
                </a:lnTo>
                <a:lnTo>
                  <a:pt x="546285" y="372618"/>
                </a:lnTo>
                <a:lnTo>
                  <a:pt x="533533" y="357948"/>
                </a:lnTo>
                <a:lnTo>
                  <a:pt x="521300" y="342843"/>
                </a:lnTo>
                <a:lnTo>
                  <a:pt x="509603" y="327319"/>
                </a:lnTo>
                <a:lnTo>
                  <a:pt x="498454" y="311397"/>
                </a:lnTo>
                <a:lnTo>
                  <a:pt x="487867" y="295095"/>
                </a:lnTo>
                <a:lnTo>
                  <a:pt x="477856" y="278434"/>
                </a:lnTo>
                <a:lnTo>
                  <a:pt x="468433" y="261434"/>
                </a:lnTo>
                <a:lnTo>
                  <a:pt x="459608" y="244115"/>
                </a:lnTo>
                <a:lnTo>
                  <a:pt x="451394" y="226499"/>
                </a:lnTo>
                <a:lnTo>
                  <a:pt x="443799" y="208607"/>
                </a:lnTo>
                <a:lnTo>
                  <a:pt x="436833" y="190460"/>
                </a:lnTo>
                <a:lnTo>
                  <a:pt x="430505" y="172082"/>
                </a:lnTo>
                <a:lnTo>
                  <a:pt x="424822" y="153494"/>
                </a:lnTo>
                <a:lnTo>
                  <a:pt x="419791" y="134718"/>
                </a:lnTo>
                <a:lnTo>
                  <a:pt x="415419" y="115779"/>
                </a:lnTo>
                <a:lnTo>
                  <a:pt x="411710" y="96699"/>
                </a:lnTo>
                <a:lnTo>
                  <a:pt x="408669" y="77501"/>
                </a:lnTo>
                <a:lnTo>
                  <a:pt x="406300" y="58208"/>
                </a:lnTo>
                <a:lnTo>
                  <a:pt x="404606" y="38845"/>
                </a:lnTo>
                <a:lnTo>
                  <a:pt x="403589" y="19434"/>
                </a:lnTo>
                <a:lnTo>
                  <a:pt x="403250" y="0"/>
                </a:lnTo>
                <a:close/>
              </a:path>
            </a:pathLst>
          </a:custGeom>
          <a:solidFill>
            <a:srgbClr val="D6D6D6"/>
          </a:solidFill>
          <a:ln>
            <a:noFill/>
          </a:ln>
        </p:spPr>
        <p:txBody>
          <a:bodyPr rtlCol="0" anchor="ctr"/>
          <a:lstStyle/>
          <a:p>
            <a:pPr algn="ctr"/>
          </a:p>
        </p:txBody>
      </p:sp>
      <p:cxnSp>
        <p:nvCxnSpPr>
          <p:cNvPr id="10" name="Connector 9"/>
          <p:cNvCxnSpPr/>
          <p:nvPr/>
        </p:nvCxnSpPr>
        <p:spPr>
          <a:xfrm flipH="1">
            <a:off x="1143000" y="2999232"/>
            <a:ext cx="403250" cy="0"/>
          </a:xfrm>
          <a:prstGeom prst="line">
            <a:avLst/>
          </a:prstGeom>
          <a:ln w="25400">
            <a:solidFill>
              <a:srgbClr val="FFFFFF"/>
            </a:solidFill>
          </a:ln>
        </p:spPr>
      </p:cxnSp>
      <p:cxnSp>
        <p:nvCxnSpPr>
          <p:cNvPr id="11" name="Connector 10"/>
          <p:cNvCxnSpPr/>
          <p:nvPr/>
        </p:nvCxnSpPr>
        <p:spPr>
          <a:xfrm flipV="1">
            <a:off x="2103120" y="2039112"/>
            <a:ext cx="0" cy="403250"/>
          </a:xfrm>
          <a:prstGeom prst="line">
            <a:avLst/>
          </a:prstGeom>
          <a:ln w="25400">
            <a:solidFill>
              <a:srgbClr val="FFFFFF"/>
            </a:solidFill>
          </a:ln>
        </p:spPr>
      </p:cxnSp>
      <p:cxnSp>
        <p:nvCxnSpPr>
          <p:cNvPr id="12" name="Connector 11"/>
          <p:cNvCxnSpPr/>
          <p:nvPr/>
        </p:nvCxnSpPr>
        <p:spPr>
          <a:xfrm>
            <a:off x="2659989" y="2999232"/>
            <a:ext cx="403251" cy="0"/>
          </a:xfrm>
          <a:prstGeom prst="line">
            <a:avLst/>
          </a:prstGeom>
          <a:ln w="25400">
            <a:solidFill>
              <a:srgbClr val="FFFFFF"/>
            </a:solidFill>
          </a:ln>
        </p:spPr>
      </p:cxnSp>
      <p:cxnSp>
        <p:nvCxnSpPr>
          <p:cNvPr id="13" name="Connector 12"/>
          <p:cNvCxnSpPr/>
          <p:nvPr/>
        </p:nvCxnSpPr>
        <p:spPr>
          <a:xfrm>
            <a:off x="2103120" y="3556101"/>
            <a:ext cx="0" cy="403251"/>
          </a:xfrm>
          <a:prstGeom prst="line">
            <a:avLst/>
          </a:prstGeom>
          <a:ln w="25400">
            <a:solidFill>
              <a:srgbClr val="FFFFFF"/>
            </a:solidFill>
          </a:ln>
        </p:spPr>
      </p:cxnSp>
      <p:sp>
        <p:nvSpPr>
          <p:cNvPr id="14" name="Oval 13"/>
          <p:cNvSpPr/>
          <p:nvPr/>
        </p:nvSpPr>
        <p:spPr>
          <a:xfrm>
            <a:off x="1623060" y="2519172"/>
            <a:ext cx="960120" cy="960120"/>
          </a:xfrm>
          <a:prstGeom prst="ellipse">
            <a:avLst/>
          </a:prstGeom>
          <a:solidFill>
            <a:srgbClr val="FFFFFF"/>
          </a:solidFill>
          <a:ln w="19050">
            <a:solidFill>
              <a:srgbClr val="D9D9D9"/>
            </a:solidFill>
          </a:ln>
          <a:effectLst/>
        </p:spPr>
        <p:txBody>
          <a:bodyPr rtlCol="0" anchor="ctr"/>
          <a:lstStyle/>
          <a:p/>
        </p:txBody>
      </p:sp>
      <p:sp>
        <p:nvSpPr>
          <p:cNvPr id="15" name="Freeform 14"/>
          <p:cNvSpPr/>
          <p:nvPr/>
        </p:nvSpPr>
        <p:spPr>
          <a:xfrm>
            <a:off x="883767" y="1808989"/>
            <a:ext cx="954507" cy="1190243"/>
          </a:xfrm>
          <a:custGeom>
            <a:avLst/>
            <a:gdLst/>
            <a:ahLst/>
            <a:cxnLst/>
            <a:rect l="l" t="t" r="r" b="b"/>
            <a:pathLst>
              <a:path w="954507" h="1190243">
                <a:moveTo>
                  <a:pt x="259233" y="1190243"/>
                </a:moveTo>
                <a:lnTo>
                  <a:pt x="0" y="1190243"/>
                </a:lnTo>
                <a:lnTo>
                  <a:pt x="696" y="1149041"/>
                </a:lnTo>
                <a:lnTo>
                  <a:pt x="2784" y="1107886"/>
                </a:lnTo>
                <a:lnTo>
                  <a:pt x="6262" y="1066826"/>
                </a:lnTo>
                <a:lnTo>
                  <a:pt x="11125" y="1025906"/>
                </a:lnTo>
                <a:lnTo>
                  <a:pt x="17368" y="985174"/>
                </a:lnTo>
                <a:lnTo>
                  <a:pt x="24983" y="944676"/>
                </a:lnTo>
                <a:lnTo>
                  <a:pt x="33963" y="904459"/>
                </a:lnTo>
                <a:lnTo>
                  <a:pt x="44297" y="864568"/>
                </a:lnTo>
                <a:lnTo>
                  <a:pt x="55972" y="825049"/>
                </a:lnTo>
                <a:lnTo>
                  <a:pt x="68976" y="785947"/>
                </a:lnTo>
                <a:lnTo>
                  <a:pt x="83294" y="747307"/>
                </a:lnTo>
                <a:lnTo>
                  <a:pt x="98910" y="709173"/>
                </a:lnTo>
                <a:lnTo>
                  <a:pt x="115805" y="671588"/>
                </a:lnTo>
                <a:lnTo>
                  <a:pt x="133960" y="634596"/>
                </a:lnTo>
                <a:lnTo>
                  <a:pt x="153355" y="598238"/>
                </a:lnTo>
                <a:lnTo>
                  <a:pt x="173967" y="562556"/>
                </a:lnTo>
                <a:lnTo>
                  <a:pt x="195774" y="527591"/>
                </a:lnTo>
                <a:lnTo>
                  <a:pt x="218749" y="493383"/>
                </a:lnTo>
                <a:lnTo>
                  <a:pt x="242867" y="459971"/>
                </a:lnTo>
                <a:lnTo>
                  <a:pt x="268101" y="427392"/>
                </a:lnTo>
                <a:lnTo>
                  <a:pt x="294420" y="395685"/>
                </a:lnTo>
                <a:lnTo>
                  <a:pt x="321796" y="364886"/>
                </a:lnTo>
                <a:lnTo>
                  <a:pt x="350198" y="335029"/>
                </a:lnTo>
                <a:lnTo>
                  <a:pt x="379591" y="306149"/>
                </a:lnTo>
                <a:lnTo>
                  <a:pt x="409944" y="278278"/>
                </a:lnTo>
                <a:lnTo>
                  <a:pt x="441222" y="251449"/>
                </a:lnTo>
                <a:lnTo>
                  <a:pt x="473388" y="225693"/>
                </a:lnTo>
                <a:lnTo>
                  <a:pt x="506406" y="201037"/>
                </a:lnTo>
                <a:lnTo>
                  <a:pt x="540238" y="177512"/>
                </a:lnTo>
                <a:lnTo>
                  <a:pt x="574845" y="155143"/>
                </a:lnTo>
                <a:lnTo>
                  <a:pt x="610189" y="133956"/>
                </a:lnTo>
                <a:lnTo>
                  <a:pt x="646229" y="113976"/>
                </a:lnTo>
                <a:lnTo>
                  <a:pt x="682923" y="95225"/>
                </a:lnTo>
                <a:lnTo>
                  <a:pt x="720230" y="77724"/>
                </a:lnTo>
                <a:lnTo>
                  <a:pt x="758107" y="61494"/>
                </a:lnTo>
                <a:lnTo>
                  <a:pt x="796510" y="46553"/>
                </a:lnTo>
                <a:lnTo>
                  <a:pt x="835397" y="32919"/>
                </a:lnTo>
                <a:lnTo>
                  <a:pt x="874722" y="20606"/>
                </a:lnTo>
                <a:lnTo>
                  <a:pt x="914440" y="9629"/>
                </a:lnTo>
                <a:lnTo>
                  <a:pt x="954507" y="0"/>
                </a:lnTo>
              </a:path>
            </a:pathLst>
          </a:custGeom>
          <a:noFill/>
          <a:ln w="28575">
            <a:solidFill>
              <a:srgbClr val="1F86BF"/>
            </a:solidFill>
          </a:ln>
        </p:spPr>
        <p:txBody>
          <a:bodyPr rtlCol="0" anchor="ctr"/>
          <a:lstStyle/>
          <a:p>
            <a:pPr algn="ctr"/>
          </a:p>
        </p:txBody>
      </p:sp>
      <p:sp>
        <p:nvSpPr>
          <p:cNvPr id="16" name="Freeform 15"/>
          <p:cNvSpPr/>
          <p:nvPr/>
        </p:nvSpPr>
        <p:spPr>
          <a:xfrm>
            <a:off x="1823974" y="1744724"/>
            <a:ext cx="148186" cy="128530"/>
          </a:xfrm>
          <a:custGeom>
            <a:avLst/>
            <a:gdLst/>
            <a:ahLst/>
            <a:cxnLst/>
            <a:rect l="l" t="t" r="r" b="b"/>
            <a:pathLst>
              <a:path w="148186" h="128530">
                <a:moveTo>
                  <a:pt x="148186" y="34474"/>
                </a:moveTo>
                <a:lnTo>
                  <a:pt x="28600" y="128530"/>
                </a:lnTo>
                <a:lnTo>
                  <a:pt x="0" y="0"/>
                </a:lnTo>
                <a:close/>
              </a:path>
            </a:pathLst>
          </a:custGeom>
          <a:solidFill>
            <a:srgbClr val="1F86BF"/>
          </a:solidFill>
          <a:ln>
            <a:noFill/>
          </a:ln>
        </p:spPr>
        <p:txBody>
          <a:bodyPr rtlCol="0" anchor="ctr"/>
          <a:lstStyle/>
          <a:p>
            <a:pPr algn="ctr"/>
          </a:p>
        </p:txBody>
      </p:sp>
      <p:sp>
        <p:nvSpPr>
          <p:cNvPr id="17" name="Freeform 16"/>
          <p:cNvSpPr/>
          <p:nvPr/>
        </p:nvSpPr>
        <p:spPr>
          <a:xfrm>
            <a:off x="2103120" y="1779879"/>
            <a:ext cx="1190242" cy="954507"/>
          </a:xfrm>
          <a:custGeom>
            <a:avLst/>
            <a:gdLst/>
            <a:ahLst/>
            <a:cxnLst/>
            <a:rect l="l" t="t" r="r" b="b"/>
            <a:pathLst>
              <a:path w="1190242" h="954507">
                <a:moveTo>
                  <a:pt x="0" y="259233"/>
                </a:moveTo>
                <a:lnTo>
                  <a:pt x="0" y="0"/>
                </a:lnTo>
                <a:lnTo>
                  <a:pt x="41201" y="696"/>
                </a:lnTo>
                <a:lnTo>
                  <a:pt x="82356" y="2784"/>
                </a:lnTo>
                <a:lnTo>
                  <a:pt x="123416" y="6262"/>
                </a:lnTo>
                <a:lnTo>
                  <a:pt x="164336" y="11125"/>
                </a:lnTo>
                <a:lnTo>
                  <a:pt x="205068" y="17368"/>
                </a:lnTo>
                <a:lnTo>
                  <a:pt x="245566" y="24983"/>
                </a:lnTo>
                <a:lnTo>
                  <a:pt x="285783" y="33963"/>
                </a:lnTo>
                <a:lnTo>
                  <a:pt x="325674" y="44297"/>
                </a:lnTo>
                <a:lnTo>
                  <a:pt x="365193" y="55972"/>
                </a:lnTo>
                <a:lnTo>
                  <a:pt x="404295" y="68976"/>
                </a:lnTo>
                <a:lnTo>
                  <a:pt x="442935" y="83294"/>
                </a:lnTo>
                <a:lnTo>
                  <a:pt x="481069" y="98910"/>
                </a:lnTo>
                <a:lnTo>
                  <a:pt x="518654" y="115805"/>
                </a:lnTo>
                <a:lnTo>
                  <a:pt x="555646" y="133960"/>
                </a:lnTo>
                <a:lnTo>
                  <a:pt x="592004" y="153355"/>
                </a:lnTo>
                <a:lnTo>
                  <a:pt x="627686" y="173967"/>
                </a:lnTo>
                <a:lnTo>
                  <a:pt x="662651" y="195774"/>
                </a:lnTo>
                <a:lnTo>
                  <a:pt x="696859" y="218749"/>
                </a:lnTo>
                <a:lnTo>
                  <a:pt x="730271" y="242867"/>
                </a:lnTo>
                <a:lnTo>
                  <a:pt x="762850" y="268101"/>
                </a:lnTo>
                <a:lnTo>
                  <a:pt x="794557" y="294420"/>
                </a:lnTo>
                <a:lnTo>
                  <a:pt x="825356" y="321796"/>
                </a:lnTo>
                <a:lnTo>
                  <a:pt x="855213" y="350198"/>
                </a:lnTo>
                <a:lnTo>
                  <a:pt x="884093" y="379591"/>
                </a:lnTo>
                <a:lnTo>
                  <a:pt x="911964" y="409944"/>
                </a:lnTo>
                <a:lnTo>
                  <a:pt x="938793" y="441222"/>
                </a:lnTo>
                <a:lnTo>
                  <a:pt x="964549" y="473388"/>
                </a:lnTo>
                <a:lnTo>
                  <a:pt x="989205" y="506406"/>
                </a:lnTo>
                <a:lnTo>
                  <a:pt x="1012730" y="540238"/>
                </a:lnTo>
                <a:lnTo>
                  <a:pt x="1035099" y="574845"/>
                </a:lnTo>
                <a:lnTo>
                  <a:pt x="1056286" y="610189"/>
                </a:lnTo>
                <a:lnTo>
                  <a:pt x="1076266" y="646229"/>
                </a:lnTo>
                <a:lnTo>
                  <a:pt x="1095017" y="682923"/>
                </a:lnTo>
                <a:lnTo>
                  <a:pt x="1112518" y="720230"/>
                </a:lnTo>
                <a:lnTo>
                  <a:pt x="1128748" y="758107"/>
                </a:lnTo>
                <a:lnTo>
                  <a:pt x="1143689" y="796510"/>
                </a:lnTo>
                <a:lnTo>
                  <a:pt x="1157323" y="835397"/>
                </a:lnTo>
                <a:lnTo>
                  <a:pt x="1169636" y="874722"/>
                </a:lnTo>
                <a:lnTo>
                  <a:pt x="1180613" y="914440"/>
                </a:lnTo>
                <a:lnTo>
                  <a:pt x="1190242" y="954507"/>
                </a:lnTo>
              </a:path>
            </a:pathLst>
          </a:custGeom>
          <a:noFill/>
          <a:ln w="28575">
            <a:solidFill>
              <a:srgbClr val="D6D6D6"/>
            </a:solidFill>
          </a:ln>
        </p:spPr>
        <p:txBody>
          <a:bodyPr rtlCol="0" anchor="ctr"/>
          <a:lstStyle/>
          <a:p>
            <a:pPr algn="ctr"/>
          </a:p>
        </p:txBody>
      </p:sp>
      <p:sp>
        <p:nvSpPr>
          <p:cNvPr id="18" name="Freeform 17"/>
          <p:cNvSpPr/>
          <p:nvPr/>
        </p:nvSpPr>
        <p:spPr>
          <a:xfrm>
            <a:off x="3229097" y="2720086"/>
            <a:ext cx="128530" cy="148186"/>
          </a:xfrm>
          <a:custGeom>
            <a:avLst/>
            <a:gdLst/>
            <a:ahLst/>
            <a:cxnLst/>
            <a:rect l="l" t="t" r="r" b="b"/>
            <a:pathLst>
              <a:path w="128530" h="148186">
                <a:moveTo>
                  <a:pt x="94056" y="148186"/>
                </a:moveTo>
                <a:lnTo>
                  <a:pt x="0" y="28600"/>
                </a:lnTo>
                <a:lnTo>
                  <a:pt x="128530" y="0"/>
                </a:lnTo>
                <a:close/>
              </a:path>
            </a:pathLst>
          </a:custGeom>
          <a:solidFill>
            <a:srgbClr val="D6D6D6"/>
          </a:solidFill>
          <a:ln>
            <a:noFill/>
          </a:ln>
        </p:spPr>
        <p:txBody>
          <a:bodyPr rtlCol="0" anchor="ctr"/>
          <a:lstStyle/>
          <a:p>
            <a:pPr algn="ctr"/>
          </a:p>
        </p:txBody>
      </p:sp>
      <p:sp>
        <p:nvSpPr>
          <p:cNvPr id="19" name="Freeform 18"/>
          <p:cNvSpPr/>
          <p:nvPr/>
        </p:nvSpPr>
        <p:spPr>
          <a:xfrm>
            <a:off x="2367965" y="2999232"/>
            <a:ext cx="954507" cy="1190242"/>
          </a:xfrm>
          <a:custGeom>
            <a:avLst/>
            <a:gdLst/>
            <a:ahLst/>
            <a:cxnLst/>
            <a:rect l="l" t="t" r="r" b="b"/>
            <a:pathLst>
              <a:path w="954507" h="1190242">
                <a:moveTo>
                  <a:pt x="695275" y="0"/>
                </a:moveTo>
                <a:lnTo>
                  <a:pt x="954507" y="0"/>
                </a:lnTo>
                <a:lnTo>
                  <a:pt x="953811" y="41201"/>
                </a:lnTo>
                <a:lnTo>
                  <a:pt x="951723" y="82356"/>
                </a:lnTo>
                <a:lnTo>
                  <a:pt x="948245" y="123416"/>
                </a:lnTo>
                <a:lnTo>
                  <a:pt x="943382" y="164336"/>
                </a:lnTo>
                <a:lnTo>
                  <a:pt x="937139" y="205068"/>
                </a:lnTo>
                <a:lnTo>
                  <a:pt x="929524" y="245566"/>
                </a:lnTo>
                <a:lnTo>
                  <a:pt x="920544" y="285783"/>
                </a:lnTo>
                <a:lnTo>
                  <a:pt x="910210" y="325674"/>
                </a:lnTo>
                <a:lnTo>
                  <a:pt x="898535" y="365193"/>
                </a:lnTo>
                <a:lnTo>
                  <a:pt x="885531" y="404295"/>
                </a:lnTo>
                <a:lnTo>
                  <a:pt x="871213" y="442935"/>
                </a:lnTo>
                <a:lnTo>
                  <a:pt x="855597" y="481069"/>
                </a:lnTo>
                <a:lnTo>
                  <a:pt x="838702" y="518654"/>
                </a:lnTo>
                <a:lnTo>
                  <a:pt x="820547" y="555646"/>
                </a:lnTo>
                <a:lnTo>
                  <a:pt x="801152" y="592004"/>
                </a:lnTo>
                <a:lnTo>
                  <a:pt x="780540" y="627686"/>
                </a:lnTo>
                <a:lnTo>
                  <a:pt x="758733" y="662651"/>
                </a:lnTo>
                <a:lnTo>
                  <a:pt x="735758" y="696859"/>
                </a:lnTo>
                <a:lnTo>
                  <a:pt x="711640" y="730271"/>
                </a:lnTo>
                <a:lnTo>
                  <a:pt x="686406" y="762850"/>
                </a:lnTo>
                <a:lnTo>
                  <a:pt x="660087" y="794557"/>
                </a:lnTo>
                <a:lnTo>
                  <a:pt x="632711" y="825356"/>
                </a:lnTo>
                <a:lnTo>
                  <a:pt x="604309" y="855213"/>
                </a:lnTo>
                <a:lnTo>
                  <a:pt x="574916" y="884093"/>
                </a:lnTo>
                <a:lnTo>
                  <a:pt x="544563" y="911964"/>
                </a:lnTo>
                <a:lnTo>
                  <a:pt x="513285" y="938793"/>
                </a:lnTo>
                <a:lnTo>
                  <a:pt x="481119" y="964549"/>
                </a:lnTo>
                <a:lnTo>
                  <a:pt x="448101" y="989205"/>
                </a:lnTo>
                <a:lnTo>
                  <a:pt x="414269" y="1012730"/>
                </a:lnTo>
                <a:lnTo>
                  <a:pt x="379662" y="1035099"/>
                </a:lnTo>
                <a:lnTo>
                  <a:pt x="344318" y="1056286"/>
                </a:lnTo>
                <a:lnTo>
                  <a:pt x="308278" y="1076266"/>
                </a:lnTo>
                <a:lnTo>
                  <a:pt x="271584" y="1095017"/>
                </a:lnTo>
                <a:lnTo>
                  <a:pt x="234277" y="1112518"/>
                </a:lnTo>
                <a:lnTo>
                  <a:pt x="196400" y="1128748"/>
                </a:lnTo>
                <a:lnTo>
                  <a:pt x="157997" y="1143689"/>
                </a:lnTo>
                <a:lnTo>
                  <a:pt x="119110" y="1157323"/>
                </a:lnTo>
                <a:lnTo>
                  <a:pt x="79785" y="1169636"/>
                </a:lnTo>
                <a:lnTo>
                  <a:pt x="40067" y="1180613"/>
                </a:lnTo>
                <a:lnTo>
                  <a:pt x="0" y="1190242"/>
                </a:lnTo>
              </a:path>
            </a:pathLst>
          </a:custGeom>
          <a:noFill/>
          <a:ln w="28575">
            <a:solidFill>
              <a:srgbClr val="D6D6D6"/>
            </a:solidFill>
          </a:ln>
        </p:spPr>
        <p:txBody>
          <a:bodyPr rtlCol="0" anchor="ctr"/>
          <a:lstStyle/>
          <a:p>
            <a:pPr algn="ctr"/>
          </a:p>
        </p:txBody>
      </p:sp>
      <p:sp>
        <p:nvSpPr>
          <p:cNvPr id="20" name="Freeform 19"/>
          <p:cNvSpPr/>
          <p:nvPr/>
        </p:nvSpPr>
        <p:spPr>
          <a:xfrm>
            <a:off x="2234079" y="4125209"/>
            <a:ext cx="148186" cy="128530"/>
          </a:xfrm>
          <a:custGeom>
            <a:avLst/>
            <a:gdLst/>
            <a:ahLst/>
            <a:cxnLst/>
            <a:rect l="l" t="t" r="r" b="b"/>
            <a:pathLst>
              <a:path w="148186" h="128530">
                <a:moveTo>
                  <a:pt x="0" y="94056"/>
                </a:moveTo>
                <a:lnTo>
                  <a:pt x="119586" y="0"/>
                </a:lnTo>
                <a:lnTo>
                  <a:pt x="148186" y="128530"/>
                </a:lnTo>
                <a:close/>
              </a:path>
            </a:pathLst>
          </a:custGeom>
          <a:solidFill>
            <a:srgbClr val="D6D6D6"/>
          </a:solidFill>
          <a:ln>
            <a:noFill/>
          </a:ln>
        </p:spPr>
        <p:txBody>
          <a:bodyPr rtlCol="0" anchor="ctr"/>
          <a:lstStyle/>
          <a:p>
            <a:pPr algn="ctr"/>
          </a:p>
        </p:txBody>
      </p:sp>
      <p:sp>
        <p:nvSpPr>
          <p:cNvPr id="21" name="Freeform 20"/>
          <p:cNvSpPr/>
          <p:nvPr/>
        </p:nvSpPr>
        <p:spPr>
          <a:xfrm>
            <a:off x="912877" y="3264077"/>
            <a:ext cx="1190243" cy="954507"/>
          </a:xfrm>
          <a:custGeom>
            <a:avLst/>
            <a:gdLst/>
            <a:ahLst/>
            <a:cxnLst/>
            <a:rect l="l" t="t" r="r" b="b"/>
            <a:pathLst>
              <a:path w="1190243" h="954507">
                <a:moveTo>
                  <a:pt x="1190243" y="695275"/>
                </a:moveTo>
                <a:lnTo>
                  <a:pt x="1190243" y="954507"/>
                </a:lnTo>
                <a:lnTo>
                  <a:pt x="1149041" y="953811"/>
                </a:lnTo>
                <a:lnTo>
                  <a:pt x="1107886" y="951723"/>
                </a:lnTo>
                <a:lnTo>
                  <a:pt x="1066826" y="948245"/>
                </a:lnTo>
                <a:lnTo>
                  <a:pt x="1025906" y="943382"/>
                </a:lnTo>
                <a:lnTo>
                  <a:pt x="985174" y="937139"/>
                </a:lnTo>
                <a:lnTo>
                  <a:pt x="944676" y="929524"/>
                </a:lnTo>
                <a:lnTo>
                  <a:pt x="904459" y="920544"/>
                </a:lnTo>
                <a:lnTo>
                  <a:pt x="864568" y="910210"/>
                </a:lnTo>
                <a:lnTo>
                  <a:pt x="825049" y="898535"/>
                </a:lnTo>
                <a:lnTo>
                  <a:pt x="785947" y="885531"/>
                </a:lnTo>
                <a:lnTo>
                  <a:pt x="747307" y="871213"/>
                </a:lnTo>
                <a:lnTo>
                  <a:pt x="709173" y="855597"/>
                </a:lnTo>
                <a:lnTo>
                  <a:pt x="671588" y="838702"/>
                </a:lnTo>
                <a:lnTo>
                  <a:pt x="634596" y="820547"/>
                </a:lnTo>
                <a:lnTo>
                  <a:pt x="598238" y="801152"/>
                </a:lnTo>
                <a:lnTo>
                  <a:pt x="562556" y="780540"/>
                </a:lnTo>
                <a:lnTo>
                  <a:pt x="527591" y="758733"/>
                </a:lnTo>
                <a:lnTo>
                  <a:pt x="493383" y="735758"/>
                </a:lnTo>
                <a:lnTo>
                  <a:pt x="459971" y="711640"/>
                </a:lnTo>
                <a:lnTo>
                  <a:pt x="427392" y="686406"/>
                </a:lnTo>
                <a:lnTo>
                  <a:pt x="395685" y="660087"/>
                </a:lnTo>
                <a:lnTo>
                  <a:pt x="364886" y="632711"/>
                </a:lnTo>
                <a:lnTo>
                  <a:pt x="335029" y="604309"/>
                </a:lnTo>
                <a:lnTo>
                  <a:pt x="306149" y="574916"/>
                </a:lnTo>
                <a:lnTo>
                  <a:pt x="278278" y="544563"/>
                </a:lnTo>
                <a:lnTo>
                  <a:pt x="251449" y="513285"/>
                </a:lnTo>
                <a:lnTo>
                  <a:pt x="225693" y="481119"/>
                </a:lnTo>
                <a:lnTo>
                  <a:pt x="201037" y="448101"/>
                </a:lnTo>
                <a:lnTo>
                  <a:pt x="177512" y="414269"/>
                </a:lnTo>
                <a:lnTo>
                  <a:pt x="155143" y="379662"/>
                </a:lnTo>
                <a:lnTo>
                  <a:pt x="133956" y="344318"/>
                </a:lnTo>
                <a:lnTo>
                  <a:pt x="113976" y="308278"/>
                </a:lnTo>
                <a:lnTo>
                  <a:pt x="95225" y="271584"/>
                </a:lnTo>
                <a:lnTo>
                  <a:pt x="77724" y="234277"/>
                </a:lnTo>
                <a:lnTo>
                  <a:pt x="61494" y="196400"/>
                </a:lnTo>
                <a:lnTo>
                  <a:pt x="46553" y="157997"/>
                </a:lnTo>
                <a:lnTo>
                  <a:pt x="32919" y="119110"/>
                </a:lnTo>
                <a:lnTo>
                  <a:pt x="20606" y="79785"/>
                </a:lnTo>
                <a:lnTo>
                  <a:pt x="9629" y="40067"/>
                </a:lnTo>
                <a:lnTo>
                  <a:pt x="0" y="0"/>
                </a:lnTo>
              </a:path>
            </a:pathLst>
          </a:custGeom>
          <a:noFill/>
          <a:ln w="28575">
            <a:solidFill>
              <a:srgbClr val="D6D6D6"/>
            </a:solidFill>
          </a:ln>
        </p:spPr>
        <p:txBody>
          <a:bodyPr rtlCol="0" anchor="ctr"/>
          <a:lstStyle/>
          <a:p>
            <a:pPr algn="ctr"/>
          </a:p>
        </p:txBody>
      </p:sp>
      <p:sp>
        <p:nvSpPr>
          <p:cNvPr id="22" name="Freeform 21"/>
          <p:cNvSpPr/>
          <p:nvPr/>
        </p:nvSpPr>
        <p:spPr>
          <a:xfrm>
            <a:off x="848612" y="3130191"/>
            <a:ext cx="128530" cy="148186"/>
          </a:xfrm>
          <a:custGeom>
            <a:avLst/>
            <a:gdLst/>
            <a:ahLst/>
            <a:cxnLst/>
            <a:rect l="l" t="t" r="r" b="b"/>
            <a:pathLst>
              <a:path w="128530" h="148186">
                <a:moveTo>
                  <a:pt x="34474" y="0"/>
                </a:moveTo>
                <a:lnTo>
                  <a:pt x="128530" y="119586"/>
                </a:lnTo>
                <a:lnTo>
                  <a:pt x="0" y="148186"/>
                </a:lnTo>
                <a:close/>
              </a:path>
            </a:pathLst>
          </a:custGeom>
          <a:solidFill>
            <a:srgbClr val="D6D6D6"/>
          </a:solidFill>
          <a:ln>
            <a:noFill/>
          </a:ln>
        </p:spPr>
        <p:txBody>
          <a:bodyPr rtlCol="0" anchor="ctr"/>
          <a:lstStyle/>
          <a:p>
            <a:pPr algn="ctr"/>
          </a:p>
        </p:txBody>
      </p:sp>
      <p:sp>
        <p:nvSpPr>
          <p:cNvPr id="23" name="Rounded Rectangle 22"/>
          <p:cNvSpPr/>
          <p:nvPr/>
        </p:nvSpPr>
        <p:spPr>
          <a:xfrm>
            <a:off x="3389680" y="2586380"/>
            <a:ext cx="230428" cy="825703"/>
          </a:xfrm>
          <a:prstGeom prst="roundRect">
            <a:avLst>
              <a:gd name="adj" fmla="val 12000"/>
            </a:avLst>
          </a:prstGeom>
          <a:solidFill>
            <a:srgbClr val="D33327"/>
          </a:solidFill>
          <a:ln w="19050">
            <a:solidFill>
              <a:srgbClr val="FFFFFF"/>
            </a:solidFill>
          </a:ln>
          <a:effectLst/>
        </p:spPr>
        <p:txBody>
          <a:bodyPr rtlCol="0" anchor="ctr"/>
          <a:lstStyle/>
          <a:p/>
        </p:txBody>
      </p:sp>
      <p:sp>
        <p:nvSpPr>
          <p:cNvPr id="24" name="TextBox 23"/>
          <p:cNvSpPr txBox="1"/>
          <p:nvPr/>
        </p:nvSpPr>
        <p:spPr>
          <a:xfrm rot="5400000">
            <a:off x="3320365" y="2814702"/>
            <a:ext cx="369059" cy="369059"/>
          </a:xfrm>
          <a:prstGeom prst="rect">
            <a:avLst/>
          </a:prstGeom>
          <a:noFill/>
        </p:spPr>
        <p:txBody>
          <a:bodyPr wrap="square" anchor="ctr" lIns="0" rIns="0" tIns="0" bIns="0">
            <a:noAutofit/>
          </a:bodyPr>
          <a:lstStyle/>
          <a:p>
            <a:pPr algn="ctr">
              <a:spcBef>
                <a:spcPts val="0"/>
              </a:spcBef>
              <a:spcAft>
                <a:spcPts val="0"/>
              </a:spcAft>
            </a:pPr>
            <a:r>
              <a:rPr lang="tr-TR" sz="1100" b="1" i="0">
                <a:solidFill>
                  <a:srgbClr val="FFFFFF"/>
                </a:solidFill>
                <a:latin typeface="Calibri"/>
              </a:rPr>
              <a:t>AFET</a:t>
            </a:r>
          </a:p>
        </p:txBody>
      </p:sp>
      <p:sp>
        <p:nvSpPr>
          <p:cNvPr id="25" name="TextBox 24"/>
          <p:cNvSpPr txBox="1"/>
          <p:nvPr/>
        </p:nvSpPr>
        <p:spPr>
          <a:xfrm>
            <a:off x="1690268" y="2711196"/>
            <a:ext cx="825703" cy="576072"/>
          </a:xfrm>
          <a:prstGeom prst="rect">
            <a:avLst/>
          </a:prstGeom>
          <a:noFill/>
        </p:spPr>
        <p:txBody>
          <a:bodyPr wrap="square" anchor="ctr" lIns="0" rIns="0" tIns="0" bIns="0">
            <a:noAutofit/>
          </a:bodyPr>
          <a:lstStyle/>
          <a:p>
            <a:pPr algn="ctr">
              <a:spcBef>
                <a:spcPts val="0"/>
              </a:spcBef>
              <a:spcAft>
                <a:spcPts val="0"/>
              </a:spcAft>
            </a:pPr>
            <a:r>
              <a:rPr lang="tr-TR" sz="900" b="1" i="0">
                <a:solidFill>
                  <a:srgbClr val="262626"/>
                </a:solidFill>
                <a:latin typeface="Calibri"/>
              </a:rPr>
              <a:t>AFET</a:t>
            </a:r>
          </a:p>
          <a:p>
            <a:pPr algn="ctr">
              <a:spcBef>
                <a:spcPts val="0"/>
              </a:spcBef>
              <a:spcAft>
                <a:spcPts val="0"/>
              </a:spcAft>
            </a:pPr>
            <a:r>
              <a:rPr lang="tr-TR" sz="900" b="1" i="0">
                <a:solidFill>
                  <a:srgbClr val="262626"/>
                </a:solidFill>
                <a:latin typeface="Calibri"/>
              </a:rPr>
              <a:t>YÖNETİMİ</a:t>
            </a:r>
          </a:p>
        </p:txBody>
      </p:sp>
      <p:sp>
        <p:nvSpPr>
          <p:cNvPr id="26" name="Oval 25"/>
          <p:cNvSpPr/>
          <p:nvPr/>
        </p:nvSpPr>
        <p:spPr>
          <a:xfrm>
            <a:off x="1441775" y="2337887"/>
            <a:ext cx="250015" cy="250015"/>
          </a:xfrm>
          <a:prstGeom prst="ellipse">
            <a:avLst/>
          </a:prstGeom>
          <a:solidFill>
            <a:srgbClr val="FFFFFF"/>
          </a:solidFill>
          <a:ln w="25400">
            <a:solidFill>
              <a:srgbClr val="1F86BF"/>
            </a:solidFill>
          </a:ln>
          <a:effectLst/>
        </p:spPr>
        <p:txBody>
          <a:bodyPr rtlCol="0" anchor="ctr" wrap="none" lIns="0" rIns="0" tIns="0" bIns="0">
            <a:noAutofit/>
          </a:bodyPr>
          <a:lstStyle/>
          <a:p>
            <a:pPr algn="ctr">
              <a:spcBef>
                <a:spcPts val="0"/>
              </a:spcBef>
              <a:spcAft>
                <a:spcPts val="0"/>
              </a:spcAft>
            </a:pPr>
            <a:r>
              <a:rPr lang="tr-TR" sz="1082" b="1" i="0">
                <a:solidFill>
                  <a:srgbClr val="1F86BF"/>
                </a:solidFill>
                <a:latin typeface="Calibri"/>
              </a:rPr>
              <a:t>1</a:t>
            </a:r>
          </a:p>
        </p:txBody>
      </p:sp>
      <p:sp>
        <p:nvSpPr>
          <p:cNvPr id="27" name="Oval 26"/>
          <p:cNvSpPr/>
          <p:nvPr/>
        </p:nvSpPr>
        <p:spPr>
          <a:xfrm>
            <a:off x="2514449" y="2337887"/>
            <a:ext cx="250015" cy="250015"/>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82" b="1" i="0">
                <a:solidFill>
                  <a:srgbClr val="767676"/>
                </a:solidFill>
                <a:latin typeface="Calibri"/>
              </a:rPr>
              <a:t>2</a:t>
            </a:r>
          </a:p>
        </p:txBody>
      </p:sp>
      <p:sp>
        <p:nvSpPr>
          <p:cNvPr id="28" name="Oval 27"/>
          <p:cNvSpPr/>
          <p:nvPr/>
        </p:nvSpPr>
        <p:spPr>
          <a:xfrm>
            <a:off x="2514449" y="3410561"/>
            <a:ext cx="250015" cy="250015"/>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82" b="1" i="0">
                <a:solidFill>
                  <a:srgbClr val="767676"/>
                </a:solidFill>
                <a:latin typeface="Calibri"/>
              </a:rPr>
              <a:t>3</a:t>
            </a:r>
          </a:p>
        </p:txBody>
      </p:sp>
      <p:sp>
        <p:nvSpPr>
          <p:cNvPr id="29" name="Oval 28"/>
          <p:cNvSpPr/>
          <p:nvPr/>
        </p:nvSpPr>
        <p:spPr>
          <a:xfrm>
            <a:off x="1441775" y="3410561"/>
            <a:ext cx="250015" cy="250015"/>
          </a:xfrm>
          <a:prstGeom prst="ellipse">
            <a:avLst/>
          </a:prstGeom>
          <a:solidFill>
            <a:srgbClr val="FFFFFF"/>
          </a:solidFill>
          <a:ln w="25400">
            <a:solidFill>
              <a:srgbClr val="767676"/>
            </a:solidFill>
          </a:ln>
          <a:effectLst/>
        </p:spPr>
        <p:txBody>
          <a:bodyPr rtlCol="0" anchor="ctr" wrap="none" lIns="0" rIns="0" tIns="0" bIns="0">
            <a:noAutofit/>
          </a:bodyPr>
          <a:lstStyle/>
          <a:p>
            <a:pPr algn="ctr">
              <a:spcBef>
                <a:spcPts val="0"/>
              </a:spcBef>
              <a:spcAft>
                <a:spcPts val="0"/>
              </a:spcAft>
            </a:pPr>
            <a:r>
              <a:rPr lang="tr-TR" sz="1082" b="1" i="0">
                <a:solidFill>
                  <a:srgbClr val="767676"/>
                </a:solidFill>
                <a:latin typeface="Calibri"/>
              </a:rPr>
              <a:t>4</a:t>
            </a:r>
          </a:p>
        </p:txBody>
      </p:sp>
      <p:sp>
        <p:nvSpPr>
          <p:cNvPr id="30" name="Rounded Rectangle 29"/>
          <p:cNvSpPr/>
          <p:nvPr/>
        </p:nvSpPr>
        <p:spPr>
          <a:xfrm>
            <a:off x="502920" y="4599432"/>
            <a:ext cx="3246120" cy="566928"/>
          </a:xfrm>
          <a:prstGeom prst="roundRect">
            <a:avLst>
              <a:gd name="adj" fmla="val 30000"/>
            </a:avLst>
          </a:prstGeom>
          <a:solidFill>
            <a:srgbClr val="1F86BF"/>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1 · risk ve zarar azaltma</a:t>
            </a:r>
          </a:p>
        </p:txBody>
      </p:sp>
      <p:sp>
        <p:nvSpPr>
          <p:cNvPr id="31" name="Rounded Rectangle 30"/>
          <p:cNvSpPr/>
          <p:nvPr/>
        </p:nvSpPr>
        <p:spPr>
          <a:xfrm>
            <a:off x="4069080" y="1216152"/>
            <a:ext cx="7619695" cy="2911524"/>
          </a:xfrm>
          <a:prstGeom prst="roundRect">
            <a:avLst>
              <a:gd name="adj" fmla="val 8000"/>
            </a:avLst>
          </a:prstGeom>
          <a:solidFill>
            <a:srgbClr val="F0F0F0"/>
          </a:solidFill>
          <a:ln>
            <a:noFill/>
          </a:ln>
          <a:effectLst/>
        </p:spPr>
        <p:txBody>
          <a:bodyPr rtlCol="0" anchor="ctr"/>
          <a:lstStyle/>
          <a:p/>
        </p:txBody>
      </p:sp>
      <p:sp>
        <p:nvSpPr>
          <p:cNvPr id="32" name="Rectangle 31"/>
          <p:cNvSpPr/>
          <p:nvPr/>
        </p:nvSpPr>
        <p:spPr>
          <a:xfrm>
            <a:off x="4069080" y="1216152"/>
            <a:ext cx="118872" cy="2911524"/>
          </a:xfrm>
          <a:prstGeom prst="rect">
            <a:avLst/>
          </a:prstGeom>
          <a:solidFill>
            <a:srgbClr val="1E7B6E"/>
          </a:solidFill>
          <a:ln>
            <a:noFill/>
          </a:ln>
          <a:effectLst/>
        </p:spPr>
        <p:txBody>
          <a:bodyPr rtlCol="0" anchor="ctr"/>
          <a:lstStyle/>
          <a:p/>
        </p:txBody>
      </p:sp>
      <p:sp>
        <p:nvSpPr>
          <p:cNvPr id="33" name="TextBox 32"/>
          <p:cNvSpPr txBox="1"/>
          <p:nvPr/>
        </p:nvSpPr>
        <p:spPr>
          <a:xfrm>
            <a:off x="4343400" y="1216152"/>
            <a:ext cx="7208215" cy="2911524"/>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Afetlerin verebileceği zararların en aza indirilmesi için afet öncesi yapılması gereken çalışmalara daha çok önem verilmelidir. Bu nedenle bütüncül afet yönetiminin </a:t>
            </a:r>
            <a:r>
              <a:rPr lang="tr-TR" sz="2400" b="1" i="0">
                <a:solidFill>
                  <a:srgbClr val="262626"/>
                </a:solidFill>
                <a:latin typeface="Calibri"/>
              </a:rPr>
              <a:t>ilk ve en önemli aşaması, afet risklerini azaltma evresidir.</a:t>
            </a:r>
          </a:p>
        </p:txBody>
      </p:sp>
      <p:sp>
        <p:nvSpPr>
          <p:cNvPr id="34" name="Rounded Rectangle 33"/>
          <p:cNvSpPr/>
          <p:nvPr/>
        </p:nvSpPr>
        <p:spPr>
          <a:xfrm>
            <a:off x="4069080" y="4264836"/>
            <a:ext cx="7619695" cy="2007947"/>
          </a:xfrm>
          <a:prstGeom prst="roundRect">
            <a:avLst>
              <a:gd name="adj" fmla="val 8000"/>
            </a:avLst>
          </a:prstGeom>
          <a:solidFill>
            <a:srgbClr val="F0F0F0"/>
          </a:solidFill>
          <a:ln>
            <a:noFill/>
          </a:ln>
          <a:effectLst/>
        </p:spPr>
        <p:txBody>
          <a:bodyPr rtlCol="0" anchor="ctr"/>
          <a:lstStyle/>
          <a:p/>
        </p:txBody>
      </p:sp>
      <p:sp>
        <p:nvSpPr>
          <p:cNvPr id="35" name="Rectangle 34"/>
          <p:cNvSpPr/>
          <p:nvPr/>
        </p:nvSpPr>
        <p:spPr>
          <a:xfrm>
            <a:off x="4069080" y="4264836"/>
            <a:ext cx="118872" cy="2007947"/>
          </a:xfrm>
          <a:prstGeom prst="rect">
            <a:avLst/>
          </a:prstGeom>
          <a:solidFill>
            <a:srgbClr val="1E7B6E"/>
          </a:solidFill>
          <a:ln>
            <a:noFill/>
          </a:ln>
          <a:effectLst/>
        </p:spPr>
        <p:txBody>
          <a:bodyPr rtlCol="0" anchor="ctr"/>
          <a:lstStyle/>
          <a:p/>
        </p:txBody>
      </p:sp>
      <p:sp>
        <p:nvSpPr>
          <p:cNvPr id="36" name="TextBox 35"/>
          <p:cNvSpPr txBox="1"/>
          <p:nvPr/>
        </p:nvSpPr>
        <p:spPr>
          <a:xfrm>
            <a:off x="4343400" y="4264836"/>
            <a:ext cx="7208215" cy="2007947"/>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Afetler konusunda duyarlı olunması amacıyla toplumda afet kültürünün ve afet yönetim sisteminin tüm evreleriyle oluşturulmasına yönelik çalışmalara önem verilmelidir.</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157 / 250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Hangisi bütüncül afet yönetiminin getirdiği yeni yaklaşımın bir özelliğidir?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Afetler, normal zamanlarda dikkate alınmaz.</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Çalışmalar daha çok afet sonrası yapılır.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İnsanlar hazırlıkta önemli bir paydaştır.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Merkezî kamu kurumları tek söz sahibidir.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Amaç, toplumu afet öncesi duruma döndürmektir.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158 / 250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Hangisi bütüncül afet yönetiminin getirdiği yeni yaklaşımın bir özelliğidir?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Afetler, normal zamanlarda dikkate alınmaz.</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Çalışmalar daha çok afet sonrası yapılır.</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İnsanlar hazırlıkta önemli bir paydaştır.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Merkezî kamu kurumları tek söz sahibidir.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Amaç, toplumu afet öncesi duruma döndürmektir.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İnsanlar afetlere hazırlıkta önemli bir paydaş olarak görülür ve onların da sürece katılımları esastır. Diğer seçenekler klasik yaklaşımdır.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159 / 250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Gelecek haftaya hazırlık: öncesi · esnası · sonrası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5 dk</a:t>
            </a:r>
          </a:p>
        </p:txBody>
      </p:sp>
      <p:sp>
        <p:nvSpPr>
          <p:cNvPr id="6" name="TextBox 5"/>
          <p:cNvSpPr txBox="1"/>
          <p:nvPr/>
        </p:nvSpPr>
        <p:spPr>
          <a:xfrm>
            <a:off x="502920" y="1216152"/>
            <a:ext cx="11185855" cy="54864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Her başlığa bugünkü döngüden 3'er madde yazın; liste grup defterinde kalsın.</a:t>
            </a:r>
          </a:p>
        </p:txBody>
      </p:sp>
      <p:sp>
        <p:nvSpPr>
          <p:cNvPr id="7" name="Rounded Rectangle 6"/>
          <p:cNvSpPr/>
          <p:nvPr/>
        </p:nvSpPr>
        <p:spPr>
          <a:xfrm>
            <a:off x="502920" y="1856232"/>
            <a:ext cx="3606698" cy="443484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1856232"/>
            <a:ext cx="3606698" cy="685800"/>
          </a:xfrm>
          <a:prstGeom prst="roundRect">
            <a:avLst>
              <a:gd name="adj" fmla="val 25000"/>
            </a:avLst>
          </a:prstGeom>
          <a:solidFill>
            <a:srgbClr val="1F86BF"/>
          </a:solidFill>
          <a:ln>
            <a:noFill/>
          </a:ln>
          <a:effectLst/>
        </p:spPr>
        <p:txBody>
          <a:bodyPr rtlCol="0" anchor="ctr"/>
          <a:lstStyle/>
          <a:p/>
        </p:txBody>
      </p:sp>
      <p:sp>
        <p:nvSpPr>
          <p:cNvPr id="9" name="Rectangle 8"/>
          <p:cNvSpPr/>
          <p:nvPr/>
        </p:nvSpPr>
        <p:spPr>
          <a:xfrm>
            <a:off x="502920" y="2199132"/>
            <a:ext cx="3606698" cy="342900"/>
          </a:xfrm>
          <a:prstGeom prst="rect">
            <a:avLst/>
          </a:prstGeom>
          <a:solidFill>
            <a:srgbClr val="1F86BF"/>
          </a:solidFill>
          <a:ln>
            <a:noFill/>
          </a:ln>
          <a:effectLst/>
        </p:spPr>
        <p:txBody>
          <a:bodyPr rtlCol="0" anchor="ctr"/>
          <a:lstStyle/>
          <a:p/>
        </p:txBody>
      </p:sp>
      <p:sp>
        <p:nvSpPr>
          <p:cNvPr id="10" name="TextBox 9"/>
          <p:cNvSpPr txBox="1"/>
          <p:nvPr/>
        </p:nvSpPr>
        <p:spPr>
          <a:xfrm>
            <a:off x="594360" y="185623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öncesi</a:t>
            </a:r>
          </a:p>
        </p:txBody>
      </p:sp>
      <p:sp>
        <p:nvSpPr>
          <p:cNvPr id="11" name="Rounded Rectangle 10"/>
          <p:cNvSpPr/>
          <p:nvPr/>
        </p:nvSpPr>
        <p:spPr>
          <a:xfrm>
            <a:off x="502920" y="1856232"/>
            <a:ext cx="3606698" cy="443484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479292"/>
            <a:ext cx="3240938" cy="0"/>
          </a:xfrm>
          <a:prstGeom prst="line">
            <a:avLst/>
          </a:prstGeom>
          <a:ln w="12700">
            <a:solidFill>
              <a:srgbClr val="D9D9D9"/>
            </a:solidFill>
            <a:prstDash val="dash"/>
          </a:ln>
        </p:spPr>
      </p:cxnSp>
      <p:cxnSp>
        <p:nvCxnSpPr>
          <p:cNvPr id="13" name="Connector 12"/>
          <p:cNvCxnSpPr/>
          <p:nvPr/>
        </p:nvCxnSpPr>
        <p:spPr>
          <a:xfrm>
            <a:off x="685800" y="4416552"/>
            <a:ext cx="3240938" cy="0"/>
          </a:xfrm>
          <a:prstGeom prst="line">
            <a:avLst/>
          </a:prstGeom>
          <a:ln w="12700">
            <a:solidFill>
              <a:srgbClr val="D9D9D9"/>
            </a:solidFill>
            <a:prstDash val="dash"/>
          </a:ln>
        </p:spPr>
      </p:cxnSp>
      <p:cxnSp>
        <p:nvCxnSpPr>
          <p:cNvPr id="14" name="Connector 13"/>
          <p:cNvCxnSpPr/>
          <p:nvPr/>
        </p:nvCxnSpPr>
        <p:spPr>
          <a:xfrm>
            <a:off x="685800" y="5353812"/>
            <a:ext cx="3240938" cy="0"/>
          </a:xfrm>
          <a:prstGeom prst="line">
            <a:avLst/>
          </a:prstGeom>
          <a:ln w="12700">
            <a:solidFill>
              <a:srgbClr val="D9D9D9"/>
            </a:solidFill>
            <a:prstDash val="dash"/>
          </a:ln>
        </p:spPr>
      </p:cxnSp>
      <p:sp>
        <p:nvSpPr>
          <p:cNvPr id="15" name="Rounded Rectangle 14"/>
          <p:cNvSpPr/>
          <p:nvPr/>
        </p:nvSpPr>
        <p:spPr>
          <a:xfrm>
            <a:off x="4292498" y="1856232"/>
            <a:ext cx="3606698" cy="4434840"/>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4292498" y="1856232"/>
            <a:ext cx="3606698" cy="685800"/>
          </a:xfrm>
          <a:prstGeom prst="roundRect">
            <a:avLst>
              <a:gd name="adj" fmla="val 25000"/>
            </a:avLst>
          </a:prstGeom>
          <a:solidFill>
            <a:srgbClr val="CC3333"/>
          </a:solidFill>
          <a:ln>
            <a:noFill/>
          </a:ln>
          <a:effectLst/>
        </p:spPr>
        <p:txBody>
          <a:bodyPr rtlCol="0" anchor="ctr"/>
          <a:lstStyle/>
          <a:p/>
        </p:txBody>
      </p:sp>
      <p:sp>
        <p:nvSpPr>
          <p:cNvPr id="17" name="Rectangle 16"/>
          <p:cNvSpPr/>
          <p:nvPr/>
        </p:nvSpPr>
        <p:spPr>
          <a:xfrm>
            <a:off x="4292498" y="2199132"/>
            <a:ext cx="3606698" cy="342900"/>
          </a:xfrm>
          <a:prstGeom prst="rect">
            <a:avLst/>
          </a:prstGeom>
          <a:solidFill>
            <a:srgbClr val="CC3333"/>
          </a:solidFill>
          <a:ln>
            <a:noFill/>
          </a:ln>
          <a:effectLst/>
        </p:spPr>
        <p:txBody>
          <a:bodyPr rtlCol="0" anchor="ctr"/>
          <a:lstStyle/>
          <a:p/>
        </p:txBody>
      </p:sp>
      <p:sp>
        <p:nvSpPr>
          <p:cNvPr id="18" name="TextBox 17"/>
          <p:cNvSpPr txBox="1"/>
          <p:nvPr/>
        </p:nvSpPr>
        <p:spPr>
          <a:xfrm>
            <a:off x="4383938" y="185623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esnası</a:t>
            </a:r>
          </a:p>
        </p:txBody>
      </p:sp>
      <p:sp>
        <p:nvSpPr>
          <p:cNvPr id="19" name="Rounded Rectangle 18"/>
          <p:cNvSpPr/>
          <p:nvPr/>
        </p:nvSpPr>
        <p:spPr>
          <a:xfrm>
            <a:off x="4292498" y="1856232"/>
            <a:ext cx="3606698" cy="4434840"/>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4475378" y="3479292"/>
            <a:ext cx="3240938" cy="0"/>
          </a:xfrm>
          <a:prstGeom prst="line">
            <a:avLst/>
          </a:prstGeom>
          <a:ln w="12700">
            <a:solidFill>
              <a:srgbClr val="D9D9D9"/>
            </a:solidFill>
            <a:prstDash val="dash"/>
          </a:ln>
        </p:spPr>
      </p:cxnSp>
      <p:cxnSp>
        <p:nvCxnSpPr>
          <p:cNvPr id="21" name="Connector 20"/>
          <p:cNvCxnSpPr/>
          <p:nvPr/>
        </p:nvCxnSpPr>
        <p:spPr>
          <a:xfrm>
            <a:off x="4475378" y="4416552"/>
            <a:ext cx="3240938" cy="0"/>
          </a:xfrm>
          <a:prstGeom prst="line">
            <a:avLst/>
          </a:prstGeom>
          <a:ln w="12700">
            <a:solidFill>
              <a:srgbClr val="D9D9D9"/>
            </a:solidFill>
            <a:prstDash val="dash"/>
          </a:ln>
        </p:spPr>
      </p:cxnSp>
      <p:cxnSp>
        <p:nvCxnSpPr>
          <p:cNvPr id="22" name="Connector 21"/>
          <p:cNvCxnSpPr/>
          <p:nvPr/>
        </p:nvCxnSpPr>
        <p:spPr>
          <a:xfrm>
            <a:off x="4475378" y="5353812"/>
            <a:ext cx="3240938" cy="0"/>
          </a:xfrm>
          <a:prstGeom prst="line">
            <a:avLst/>
          </a:prstGeom>
          <a:ln w="12700">
            <a:solidFill>
              <a:srgbClr val="D9D9D9"/>
            </a:solidFill>
            <a:prstDash val="dash"/>
          </a:ln>
        </p:spPr>
      </p:cxnSp>
      <p:sp>
        <p:nvSpPr>
          <p:cNvPr id="23" name="Rounded Rectangle 22"/>
          <p:cNvSpPr/>
          <p:nvPr/>
        </p:nvSpPr>
        <p:spPr>
          <a:xfrm>
            <a:off x="8082076" y="1856232"/>
            <a:ext cx="3606698" cy="4434840"/>
          </a:xfrm>
          <a:prstGeom prst="roundRect">
            <a:avLst>
              <a:gd name="adj" fmla="val 5000"/>
            </a:avLst>
          </a:prstGeom>
          <a:solidFill>
            <a:srgbClr val="FFFFFF"/>
          </a:solidFill>
          <a:ln>
            <a:noFill/>
          </a:ln>
          <a:effectLst/>
        </p:spPr>
        <p:txBody>
          <a:bodyPr rtlCol="0" anchor="ctr"/>
          <a:lstStyle/>
          <a:p/>
        </p:txBody>
      </p:sp>
      <p:sp>
        <p:nvSpPr>
          <p:cNvPr id="24" name="Rounded Rectangle 23"/>
          <p:cNvSpPr/>
          <p:nvPr/>
        </p:nvSpPr>
        <p:spPr>
          <a:xfrm>
            <a:off x="8082076" y="1856232"/>
            <a:ext cx="3606698" cy="685800"/>
          </a:xfrm>
          <a:prstGeom prst="roundRect">
            <a:avLst>
              <a:gd name="adj" fmla="val 25000"/>
            </a:avLst>
          </a:prstGeom>
          <a:solidFill>
            <a:srgbClr val="55992E"/>
          </a:solidFill>
          <a:ln>
            <a:noFill/>
          </a:ln>
          <a:effectLst/>
        </p:spPr>
        <p:txBody>
          <a:bodyPr rtlCol="0" anchor="ctr"/>
          <a:lstStyle/>
          <a:p/>
        </p:txBody>
      </p:sp>
      <p:sp>
        <p:nvSpPr>
          <p:cNvPr id="25" name="Rectangle 24"/>
          <p:cNvSpPr/>
          <p:nvPr/>
        </p:nvSpPr>
        <p:spPr>
          <a:xfrm>
            <a:off x="8082076" y="2199132"/>
            <a:ext cx="3606698" cy="342900"/>
          </a:xfrm>
          <a:prstGeom prst="rect">
            <a:avLst/>
          </a:prstGeom>
          <a:solidFill>
            <a:srgbClr val="55992E"/>
          </a:solidFill>
          <a:ln>
            <a:noFill/>
          </a:ln>
          <a:effectLst/>
        </p:spPr>
        <p:txBody>
          <a:bodyPr rtlCol="0" anchor="ctr"/>
          <a:lstStyle/>
          <a:p/>
        </p:txBody>
      </p:sp>
      <p:sp>
        <p:nvSpPr>
          <p:cNvPr id="26" name="TextBox 25"/>
          <p:cNvSpPr txBox="1"/>
          <p:nvPr/>
        </p:nvSpPr>
        <p:spPr>
          <a:xfrm>
            <a:off x="8173516" y="185623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sonrası</a:t>
            </a:r>
          </a:p>
        </p:txBody>
      </p:sp>
      <p:sp>
        <p:nvSpPr>
          <p:cNvPr id="27" name="Rounded Rectangle 26"/>
          <p:cNvSpPr/>
          <p:nvPr/>
        </p:nvSpPr>
        <p:spPr>
          <a:xfrm>
            <a:off x="8082076" y="1856232"/>
            <a:ext cx="3606698" cy="4434840"/>
          </a:xfrm>
          <a:prstGeom prst="roundRect">
            <a:avLst>
              <a:gd name="adj" fmla="val 5000"/>
            </a:avLst>
          </a:prstGeom>
          <a:noFill/>
          <a:ln w="12700">
            <a:solidFill>
              <a:srgbClr val="D9D9D9"/>
            </a:solidFill>
          </a:ln>
          <a:effectLst/>
        </p:spPr>
        <p:txBody>
          <a:bodyPr rtlCol="0" anchor="ctr"/>
          <a:lstStyle/>
          <a:p/>
        </p:txBody>
      </p:sp>
      <p:cxnSp>
        <p:nvCxnSpPr>
          <p:cNvPr id="28" name="Connector 27"/>
          <p:cNvCxnSpPr/>
          <p:nvPr/>
        </p:nvCxnSpPr>
        <p:spPr>
          <a:xfrm>
            <a:off x="8264956" y="3479292"/>
            <a:ext cx="3240938" cy="0"/>
          </a:xfrm>
          <a:prstGeom prst="line">
            <a:avLst/>
          </a:prstGeom>
          <a:ln w="12700">
            <a:solidFill>
              <a:srgbClr val="D9D9D9"/>
            </a:solidFill>
            <a:prstDash val="dash"/>
          </a:ln>
        </p:spPr>
      </p:cxnSp>
      <p:cxnSp>
        <p:nvCxnSpPr>
          <p:cNvPr id="29" name="Connector 28"/>
          <p:cNvCxnSpPr/>
          <p:nvPr/>
        </p:nvCxnSpPr>
        <p:spPr>
          <a:xfrm>
            <a:off x="8264956" y="4416552"/>
            <a:ext cx="3240938" cy="0"/>
          </a:xfrm>
          <a:prstGeom prst="line">
            <a:avLst/>
          </a:prstGeom>
          <a:ln w="12700">
            <a:solidFill>
              <a:srgbClr val="D9D9D9"/>
            </a:solidFill>
            <a:prstDash val="dash"/>
          </a:ln>
        </p:spPr>
      </p:cxnSp>
      <p:cxnSp>
        <p:nvCxnSpPr>
          <p:cNvPr id="30" name="Connector 29"/>
          <p:cNvCxnSpPr/>
          <p:nvPr/>
        </p:nvCxnSpPr>
        <p:spPr>
          <a:xfrm>
            <a:off x="8264956" y="5353812"/>
            <a:ext cx="3240938" cy="0"/>
          </a:xfrm>
          <a:prstGeom prst="line">
            <a:avLst/>
          </a:prstGeom>
          <a:ln w="12700">
            <a:solidFill>
              <a:srgbClr val="D9D9D9"/>
            </a:solidFill>
            <a:prstDash val="dash"/>
          </a:ln>
        </p:spPr>
      </p:cxn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204</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160 / 250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500" b="1" i="0">
                <a:solidFill>
                  <a:srgbClr val="FFFFFF"/>
                </a:solidFill>
                <a:latin typeface="Calibri"/>
              </a:rPr>
              <a:t>Gelecek haftaya hazırlık: öncesi · esnası · sonrası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606698" cy="50749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606698" cy="530352"/>
          </a:xfrm>
          <a:prstGeom prst="roundRect">
            <a:avLst>
              <a:gd name="adj" fmla="val 25000"/>
            </a:avLst>
          </a:prstGeom>
          <a:solidFill>
            <a:srgbClr val="1F86BF"/>
          </a:solidFill>
          <a:ln>
            <a:noFill/>
          </a:ln>
          <a:effectLst/>
        </p:spPr>
        <p:txBody>
          <a:bodyPr rtlCol="0" anchor="ctr"/>
          <a:lstStyle/>
          <a:p/>
        </p:txBody>
      </p:sp>
      <p:sp>
        <p:nvSpPr>
          <p:cNvPr id="8" name="Rectangle 7"/>
          <p:cNvSpPr/>
          <p:nvPr/>
        </p:nvSpPr>
        <p:spPr>
          <a:xfrm>
            <a:off x="502920" y="1481328"/>
            <a:ext cx="3606698" cy="265176"/>
          </a:xfrm>
          <a:prstGeom prst="rect">
            <a:avLst/>
          </a:prstGeom>
          <a:solidFill>
            <a:srgbClr val="1F86BF"/>
          </a:solidFill>
          <a:ln>
            <a:noFill/>
          </a:ln>
          <a:effectLst/>
        </p:spPr>
        <p:txBody>
          <a:bodyPr rtlCol="0" anchor="ctr"/>
          <a:lstStyle/>
          <a:p/>
        </p:txBody>
      </p:sp>
      <p:sp>
        <p:nvSpPr>
          <p:cNvPr id="9" name="TextBox 8"/>
          <p:cNvSpPr txBox="1"/>
          <p:nvPr/>
        </p:nvSpPr>
        <p:spPr>
          <a:xfrm>
            <a:off x="594360" y="121615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Afet öncesi</a:t>
            </a:r>
          </a:p>
        </p:txBody>
      </p:sp>
      <p:sp>
        <p:nvSpPr>
          <p:cNvPr id="10" name="TextBox 9"/>
          <p:cNvSpPr txBox="1"/>
          <p:nvPr/>
        </p:nvSpPr>
        <p:spPr>
          <a:xfrm>
            <a:off x="612648" y="1819656"/>
            <a:ext cx="3387242" cy="4398264"/>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1F86BF"/>
                </a:solidFill>
                <a:latin typeface="Calibri"/>
              </a:rPr>
              <a:t>•  </a:t>
            </a:r>
            <a:r>
              <a:rPr lang="tr-TR" sz="2000" b="0" i="0">
                <a:solidFill>
                  <a:srgbClr val="262626"/>
                </a:solidFill>
                <a:latin typeface="Calibri"/>
              </a:rPr>
              <a:t>Tehlike haritası, yapılanma yönetmelikleri (1)</a:t>
            </a:r>
          </a:p>
          <a:p>
            <a:pPr algn="l" marL="248620" indent="-248620">
              <a:spcBef>
                <a:spcPts val="0"/>
              </a:spcBef>
              <a:spcAft>
                <a:spcPts val="600"/>
              </a:spcAft>
            </a:pPr>
            <a:r>
              <a:rPr lang="tr-TR" sz="2000" b="1" i="0">
                <a:solidFill>
                  <a:srgbClr val="1F86BF"/>
                </a:solidFill>
                <a:latin typeface="Calibri"/>
              </a:rPr>
              <a:t>•  </a:t>
            </a:r>
            <a:r>
              <a:rPr lang="tr-TR" sz="2000" b="0" i="0">
                <a:solidFill>
                  <a:srgbClr val="262626"/>
                </a:solidFill>
                <a:latin typeface="Calibri"/>
              </a:rPr>
              <a:t>Tahliye planı, toplanma merkezi, acil eylem planı (2)</a:t>
            </a:r>
          </a:p>
          <a:p>
            <a:pPr algn="l" marL="248620" indent="-248620">
              <a:spcBef>
                <a:spcPts val="0"/>
              </a:spcBef>
              <a:spcAft>
                <a:spcPts val="0"/>
              </a:spcAft>
            </a:pPr>
            <a:r>
              <a:rPr lang="tr-TR" sz="2000" b="1" i="0">
                <a:solidFill>
                  <a:srgbClr val="1F86BF"/>
                </a:solidFill>
                <a:latin typeface="Calibri"/>
              </a:rPr>
              <a:t>•  </a:t>
            </a:r>
            <a:r>
              <a:rPr lang="tr-TR" sz="2000" b="0" i="0">
                <a:solidFill>
                  <a:srgbClr val="262626"/>
                </a:solidFill>
                <a:latin typeface="Calibri"/>
              </a:rPr>
              <a:t>Erken uyarı sistemi; aile afet planı (2)</a:t>
            </a:r>
          </a:p>
        </p:txBody>
      </p:sp>
      <p:sp>
        <p:nvSpPr>
          <p:cNvPr id="11" name="Rounded Rectangle 10"/>
          <p:cNvSpPr/>
          <p:nvPr/>
        </p:nvSpPr>
        <p:spPr>
          <a:xfrm>
            <a:off x="4292498" y="1216152"/>
            <a:ext cx="3606698" cy="50749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2498" y="1216152"/>
            <a:ext cx="3606698" cy="530352"/>
          </a:xfrm>
          <a:prstGeom prst="roundRect">
            <a:avLst>
              <a:gd name="adj" fmla="val 25000"/>
            </a:avLst>
          </a:prstGeom>
          <a:solidFill>
            <a:srgbClr val="CC3333"/>
          </a:solidFill>
          <a:ln>
            <a:noFill/>
          </a:ln>
          <a:effectLst/>
        </p:spPr>
        <p:txBody>
          <a:bodyPr rtlCol="0" anchor="ctr"/>
          <a:lstStyle/>
          <a:p/>
        </p:txBody>
      </p:sp>
      <p:sp>
        <p:nvSpPr>
          <p:cNvPr id="13" name="Rectangle 12"/>
          <p:cNvSpPr/>
          <p:nvPr/>
        </p:nvSpPr>
        <p:spPr>
          <a:xfrm>
            <a:off x="4292498" y="1481328"/>
            <a:ext cx="3606698" cy="265176"/>
          </a:xfrm>
          <a:prstGeom prst="rect">
            <a:avLst/>
          </a:prstGeom>
          <a:solidFill>
            <a:srgbClr val="CC3333"/>
          </a:solidFill>
          <a:ln>
            <a:noFill/>
          </a:ln>
          <a:effectLst/>
        </p:spPr>
        <p:txBody>
          <a:bodyPr rtlCol="0" anchor="ctr"/>
          <a:lstStyle/>
          <a:p/>
        </p:txBody>
      </p:sp>
      <p:sp>
        <p:nvSpPr>
          <p:cNvPr id="14" name="TextBox 13"/>
          <p:cNvSpPr txBox="1"/>
          <p:nvPr/>
        </p:nvSpPr>
        <p:spPr>
          <a:xfrm>
            <a:off x="4383938" y="121615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Afet esnası</a:t>
            </a:r>
          </a:p>
        </p:txBody>
      </p:sp>
      <p:sp>
        <p:nvSpPr>
          <p:cNvPr id="15" name="TextBox 14"/>
          <p:cNvSpPr txBox="1"/>
          <p:nvPr/>
        </p:nvSpPr>
        <p:spPr>
          <a:xfrm>
            <a:off x="4402226" y="1819656"/>
            <a:ext cx="3387242" cy="4398264"/>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CC3333"/>
                </a:solidFill>
                <a:latin typeface="Calibri"/>
              </a:rPr>
              <a:t>•  </a:t>
            </a:r>
            <a:r>
              <a:rPr lang="tr-TR" sz="2000" b="0" i="0">
                <a:solidFill>
                  <a:srgbClr val="262626"/>
                </a:solidFill>
                <a:latin typeface="Calibri"/>
              </a:rPr>
              <a:t>En kısa sürede müdahale, arama kurtarma (3)</a:t>
            </a:r>
          </a:p>
          <a:p>
            <a:pPr algn="l" marL="248620" indent="-248620">
              <a:spcBef>
                <a:spcPts val="0"/>
              </a:spcBef>
              <a:spcAft>
                <a:spcPts val="600"/>
              </a:spcAft>
            </a:pPr>
            <a:r>
              <a:rPr lang="tr-TR" sz="2000" b="1" i="0">
                <a:solidFill>
                  <a:srgbClr val="CC3333"/>
                </a:solidFill>
                <a:latin typeface="Calibri"/>
              </a:rPr>
              <a:t>•  </a:t>
            </a:r>
            <a:r>
              <a:rPr lang="tr-TR" sz="2000" b="0" i="0">
                <a:solidFill>
                  <a:srgbClr val="262626"/>
                </a:solidFill>
                <a:latin typeface="Calibri"/>
              </a:rPr>
              <a:t>Gıda, barınma, ilaç, güvenlik (3)</a:t>
            </a:r>
          </a:p>
          <a:p>
            <a:pPr algn="l" marL="248620" indent="-248620">
              <a:spcBef>
                <a:spcPts val="0"/>
              </a:spcBef>
              <a:spcAft>
                <a:spcPts val="0"/>
              </a:spcAft>
            </a:pPr>
            <a:r>
              <a:rPr lang="tr-TR" sz="2000" b="1" i="0">
                <a:solidFill>
                  <a:srgbClr val="CC3333"/>
                </a:solidFill>
                <a:latin typeface="Calibri"/>
              </a:rPr>
              <a:t>•  </a:t>
            </a:r>
            <a:r>
              <a:rPr lang="tr-TR" sz="2000" b="0" i="0">
                <a:solidFill>
                  <a:srgbClr val="262626"/>
                </a:solidFill>
                <a:latin typeface="Calibri"/>
              </a:rPr>
              <a:t>Yangın, patlama, salgına karşı önlem (3)</a:t>
            </a:r>
          </a:p>
        </p:txBody>
      </p:sp>
      <p:sp>
        <p:nvSpPr>
          <p:cNvPr id="16" name="Rounded Rectangle 15"/>
          <p:cNvSpPr/>
          <p:nvPr/>
        </p:nvSpPr>
        <p:spPr>
          <a:xfrm>
            <a:off x="8082076" y="1216152"/>
            <a:ext cx="3606698" cy="507492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82076" y="1216152"/>
            <a:ext cx="3606698" cy="530352"/>
          </a:xfrm>
          <a:prstGeom prst="roundRect">
            <a:avLst>
              <a:gd name="adj" fmla="val 25000"/>
            </a:avLst>
          </a:prstGeom>
          <a:solidFill>
            <a:srgbClr val="55992E"/>
          </a:solidFill>
          <a:ln>
            <a:noFill/>
          </a:ln>
          <a:effectLst/>
        </p:spPr>
        <p:txBody>
          <a:bodyPr rtlCol="0" anchor="ctr"/>
          <a:lstStyle/>
          <a:p/>
        </p:txBody>
      </p:sp>
      <p:sp>
        <p:nvSpPr>
          <p:cNvPr id="18" name="Rectangle 17"/>
          <p:cNvSpPr/>
          <p:nvPr/>
        </p:nvSpPr>
        <p:spPr>
          <a:xfrm>
            <a:off x="8082076" y="1481328"/>
            <a:ext cx="3606698" cy="265176"/>
          </a:xfrm>
          <a:prstGeom prst="rect">
            <a:avLst/>
          </a:prstGeom>
          <a:solidFill>
            <a:srgbClr val="55992E"/>
          </a:solidFill>
          <a:ln>
            <a:noFill/>
          </a:ln>
          <a:effectLst/>
        </p:spPr>
        <p:txBody>
          <a:bodyPr rtlCol="0" anchor="ctr"/>
          <a:lstStyle/>
          <a:p/>
        </p:txBody>
      </p:sp>
      <p:sp>
        <p:nvSpPr>
          <p:cNvPr id="19" name="TextBox 18"/>
          <p:cNvSpPr txBox="1"/>
          <p:nvPr/>
        </p:nvSpPr>
        <p:spPr>
          <a:xfrm>
            <a:off x="8173516" y="121615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Afet sonrası</a:t>
            </a:r>
          </a:p>
        </p:txBody>
      </p:sp>
      <p:sp>
        <p:nvSpPr>
          <p:cNvPr id="20" name="TextBox 19"/>
          <p:cNvSpPr txBox="1"/>
          <p:nvPr/>
        </p:nvSpPr>
        <p:spPr>
          <a:xfrm>
            <a:off x="8191804" y="1819656"/>
            <a:ext cx="3387242" cy="4398264"/>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55992E"/>
                </a:solidFill>
                <a:latin typeface="Calibri"/>
              </a:rPr>
              <a:t>•  </a:t>
            </a:r>
            <a:r>
              <a:rPr lang="tr-TR" sz="2000" b="0" i="0">
                <a:solidFill>
                  <a:srgbClr val="262626"/>
                </a:solidFill>
                <a:latin typeface="Calibri"/>
              </a:rPr>
              <a:t>Haberleşme, ulaşım, elektrik, kanalizasyon (4)</a:t>
            </a:r>
          </a:p>
          <a:p>
            <a:pPr algn="l" marL="248620" indent="-248620">
              <a:spcBef>
                <a:spcPts val="0"/>
              </a:spcBef>
              <a:spcAft>
                <a:spcPts val="600"/>
              </a:spcAft>
            </a:pPr>
            <a:r>
              <a:rPr lang="tr-TR" sz="2000" b="1" i="0">
                <a:solidFill>
                  <a:srgbClr val="55992E"/>
                </a:solidFill>
                <a:latin typeface="Calibri"/>
              </a:rPr>
              <a:t>•  </a:t>
            </a:r>
            <a:r>
              <a:rPr lang="tr-TR" sz="2000" b="0" i="0">
                <a:solidFill>
                  <a:srgbClr val="262626"/>
                </a:solidFill>
                <a:latin typeface="Calibri"/>
              </a:rPr>
              <a:t>Eğitimin sürmesi, kalıcı konut (4)</a:t>
            </a:r>
          </a:p>
          <a:p>
            <a:pPr algn="l" marL="248620" indent="-248620">
              <a:spcBef>
                <a:spcPts val="0"/>
              </a:spcBef>
              <a:spcAft>
                <a:spcPts val="0"/>
              </a:spcAft>
            </a:pPr>
            <a:r>
              <a:rPr lang="tr-TR" sz="2000" b="1" i="0">
                <a:solidFill>
                  <a:srgbClr val="55992E"/>
                </a:solidFill>
                <a:latin typeface="Calibri"/>
              </a:rPr>
              <a:t>•  </a:t>
            </a:r>
            <a:r>
              <a:rPr lang="tr-TR" sz="2000" b="0" i="0">
                <a:solidFill>
                  <a:srgbClr val="262626"/>
                </a:solidFill>
                <a:latin typeface="Calibri"/>
              </a:rPr>
              <a:t>Ekonomik ve sosyal hayatın normale dönmesi (4)</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204</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161 / 250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Gelecek hafta: istasyon çalışması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33. HAFTA</a:t>
            </a:r>
          </a:p>
        </p:txBody>
      </p:sp>
      <p:sp>
        <p:nvSpPr>
          <p:cNvPr id="6" name="Rounded Rectangle 5"/>
          <p:cNvSpPr/>
          <p:nvPr/>
        </p:nvSpPr>
        <p:spPr>
          <a:xfrm>
            <a:off x="502920" y="1216152"/>
            <a:ext cx="5492343" cy="2414016"/>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92343" cy="530352"/>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481328"/>
            <a:ext cx="5492343" cy="265176"/>
          </a:xfrm>
          <a:prstGeom prst="rect">
            <a:avLst/>
          </a:prstGeom>
          <a:solidFill>
            <a:srgbClr val="1E7B6E"/>
          </a:solidFill>
          <a:ln>
            <a:noFill/>
          </a:ln>
          <a:effectLst/>
        </p:spPr>
        <p:txBody>
          <a:bodyPr rtlCol="0" anchor="ctr"/>
          <a:lstStyle/>
          <a:p/>
        </p:txBody>
      </p:sp>
      <p:sp>
        <p:nvSpPr>
          <p:cNvPr id="9" name="TextBox 8"/>
          <p:cNvSpPr txBox="1"/>
          <p:nvPr/>
        </p:nvSpPr>
        <p:spPr>
          <a:xfrm>
            <a:off x="594360" y="12161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6 grup · 6 istasyon</a:t>
            </a:r>
          </a:p>
        </p:txBody>
      </p:sp>
      <p:sp>
        <p:nvSpPr>
          <p:cNvPr id="10" name="TextBox 9"/>
          <p:cNvSpPr txBox="1"/>
          <p:nvPr/>
        </p:nvSpPr>
        <p:spPr>
          <a:xfrm>
            <a:off x="612648" y="1819656"/>
            <a:ext cx="5272887" cy="173736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Afet öncesi, esnası, sonrası: her biri iki istasyon</a:t>
            </a:r>
          </a:p>
        </p:txBody>
      </p:sp>
      <p:sp>
        <p:nvSpPr>
          <p:cNvPr id="11" name="Rounded Rectangle 10"/>
          <p:cNvSpPr/>
          <p:nvPr/>
        </p:nvSpPr>
        <p:spPr>
          <a:xfrm>
            <a:off x="6196431" y="1216152"/>
            <a:ext cx="5492343" cy="2414016"/>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96431" y="1216152"/>
            <a:ext cx="5492343"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196431" y="1481328"/>
            <a:ext cx="5492343" cy="265176"/>
          </a:xfrm>
          <a:prstGeom prst="rect">
            <a:avLst/>
          </a:prstGeom>
          <a:solidFill>
            <a:srgbClr val="4F4F4F"/>
          </a:solidFill>
          <a:ln>
            <a:noFill/>
          </a:ln>
          <a:effectLst/>
        </p:spPr>
        <p:txBody>
          <a:bodyPr rtlCol="0" anchor="ctr"/>
          <a:lstStyle/>
          <a:p/>
        </p:txBody>
      </p:sp>
      <p:sp>
        <p:nvSpPr>
          <p:cNvPr id="14" name="TextBox 13"/>
          <p:cNvSpPr txBox="1"/>
          <p:nvPr/>
        </p:nvSpPr>
        <p:spPr>
          <a:xfrm>
            <a:off x="6287871" y="12161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Her 5 dakikada</a:t>
            </a:r>
          </a:p>
        </p:txBody>
      </p:sp>
      <p:sp>
        <p:nvSpPr>
          <p:cNvPr id="15" name="TextBox 14"/>
          <p:cNvSpPr txBox="1"/>
          <p:nvPr/>
        </p:nvSpPr>
        <p:spPr>
          <a:xfrm>
            <a:off x="6306159" y="1819656"/>
            <a:ext cx="5272887" cy="173736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istasyon değişir; başlanmış afişe devam edilir</a:t>
            </a:r>
          </a:p>
        </p:txBody>
      </p:sp>
      <p:sp>
        <p:nvSpPr>
          <p:cNvPr id="16" name="Rounded Rectangle 15"/>
          <p:cNvSpPr/>
          <p:nvPr/>
        </p:nvSpPr>
        <p:spPr>
          <a:xfrm>
            <a:off x="502920" y="3831336"/>
            <a:ext cx="5492343" cy="2414016"/>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2920" y="3831336"/>
            <a:ext cx="5492343" cy="530352"/>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502920" y="4096512"/>
            <a:ext cx="5492343" cy="265176"/>
          </a:xfrm>
          <a:prstGeom prst="rect">
            <a:avLst/>
          </a:prstGeom>
          <a:solidFill>
            <a:srgbClr val="4F4F4F"/>
          </a:solidFill>
          <a:ln>
            <a:noFill/>
          </a:ln>
          <a:effectLst/>
        </p:spPr>
        <p:txBody>
          <a:bodyPr rtlCol="0" anchor="ctr"/>
          <a:lstStyle/>
          <a:p/>
        </p:txBody>
      </p:sp>
      <p:sp>
        <p:nvSpPr>
          <p:cNvPr id="19" name="TextBox 18"/>
          <p:cNvSpPr txBox="1"/>
          <p:nvPr/>
        </p:nvSpPr>
        <p:spPr>
          <a:xfrm>
            <a:off x="594360" y="3831336"/>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Malzeme okuldan</a:t>
            </a:r>
          </a:p>
        </p:txBody>
      </p:sp>
      <p:sp>
        <p:nvSpPr>
          <p:cNvPr id="20" name="TextBox 19"/>
          <p:cNvSpPr txBox="1"/>
          <p:nvPr/>
        </p:nvSpPr>
        <p:spPr>
          <a:xfrm>
            <a:off x="612648" y="4434840"/>
            <a:ext cx="5272887" cy="173736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afiş kâğıdı ve kalemler sınıfta hazır</a:t>
            </a:r>
          </a:p>
        </p:txBody>
      </p:sp>
      <p:sp>
        <p:nvSpPr>
          <p:cNvPr id="21" name="Rounded Rectangle 20"/>
          <p:cNvSpPr/>
          <p:nvPr/>
        </p:nvSpPr>
        <p:spPr>
          <a:xfrm>
            <a:off x="6196431" y="3831336"/>
            <a:ext cx="5492343" cy="2414016"/>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6196431" y="3831336"/>
            <a:ext cx="5492343" cy="530352"/>
          </a:xfrm>
          <a:prstGeom prst="roundRect">
            <a:avLst>
              <a:gd name="adj" fmla="val 25000"/>
            </a:avLst>
          </a:prstGeom>
          <a:solidFill>
            <a:srgbClr val="1E7B6E"/>
          </a:solidFill>
          <a:ln>
            <a:noFill/>
          </a:ln>
          <a:effectLst/>
        </p:spPr>
        <p:txBody>
          <a:bodyPr rtlCol="0" anchor="ctr"/>
          <a:lstStyle/>
          <a:p/>
        </p:txBody>
      </p:sp>
      <p:sp>
        <p:nvSpPr>
          <p:cNvPr id="23" name="Rectangle 22"/>
          <p:cNvSpPr/>
          <p:nvPr/>
        </p:nvSpPr>
        <p:spPr>
          <a:xfrm>
            <a:off x="6196431" y="4096512"/>
            <a:ext cx="5492343" cy="265176"/>
          </a:xfrm>
          <a:prstGeom prst="rect">
            <a:avLst/>
          </a:prstGeom>
          <a:solidFill>
            <a:srgbClr val="1E7B6E"/>
          </a:solidFill>
          <a:ln>
            <a:noFill/>
          </a:ln>
          <a:effectLst/>
        </p:spPr>
        <p:txBody>
          <a:bodyPr rtlCol="0" anchor="ctr"/>
          <a:lstStyle/>
          <a:p/>
        </p:txBody>
      </p:sp>
      <p:sp>
        <p:nvSpPr>
          <p:cNvPr id="24" name="TextBox 23"/>
          <p:cNvSpPr txBox="1"/>
          <p:nvPr/>
        </p:nvSpPr>
        <p:spPr>
          <a:xfrm>
            <a:off x="6287871" y="3831336"/>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Sonra</a:t>
            </a:r>
          </a:p>
        </p:txBody>
      </p:sp>
      <p:sp>
        <p:nvSpPr>
          <p:cNvPr id="25" name="TextBox 24"/>
          <p:cNvSpPr txBox="1"/>
          <p:nvPr/>
        </p:nvSpPr>
        <p:spPr>
          <a:xfrm>
            <a:off x="6306159" y="4434840"/>
            <a:ext cx="5272887" cy="173736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deprem senaryosu performans görevi (s. 209)</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162 / 250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Hangisi hazırlıklı olma aşamasında yapılması gerekenler arasındadır?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Enkazların kaldırılması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Kalıcı konut yapılması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Erken uyarı sistemlerinin kurulması ve güncellenmesi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Arama kurtarma faaliyetleri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Ekonomik canlılığın yeniden sağlanması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163 / 250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Hangisi hazırlıklı olma aşamasında yapılması gerekenler arasındadır?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Enkazların kaldırılması</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Kalıcı konut yapılması</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Erken uyarı sistemlerinin kurulması ve güncellenmesi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Arama kurtarma faaliyetleri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Ekonomik canlılığın yeniden sağlanması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Kitap: erken uyarı sistemlerinin kurulması, kontrol edilmesi, işletilmesi ve güncellenmesi bu aşamada yapılması gerekenler arasındadır (s. 202). A ve D müdahalenin, B ve E iyileştirmenin işidir.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164 / 250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32.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Bütüncül afet yönetiminin dört aşamasını döngü sırasıyla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Risk yönetimi ile kriz yönetimi hangi aşamaları kapsar?</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'Toplanma merkezinin belirlenmesi' hangi aşamanın işidir; iyileştirme aşamasına bir örnek yazınız.</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165 / 250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Aile afet planı kontrol listesi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KONTROL LİSTESİ</a:t>
            </a:r>
          </a:p>
        </p:txBody>
      </p:sp>
      <p:sp>
        <p:nvSpPr>
          <p:cNvPr id="6" name="Rectangle 5"/>
          <p:cNvSpPr/>
          <p:nvPr/>
        </p:nvSpPr>
        <p:spPr>
          <a:xfrm>
            <a:off x="594360" y="1371600"/>
            <a:ext cx="457200" cy="457200"/>
          </a:xfrm>
          <a:prstGeom prst="rect">
            <a:avLst/>
          </a:prstGeom>
          <a:solidFill>
            <a:srgbClr val="FFFFFF"/>
          </a:solidFill>
          <a:ln w="25400">
            <a:solidFill>
              <a:srgbClr val="4F4F4F"/>
            </a:solidFill>
          </a:ln>
          <a:effectLst/>
        </p:spPr>
        <p:txBody>
          <a:bodyPr rtlCol="0" anchor="ctr"/>
          <a:lstStyle/>
          <a:p/>
        </p:txBody>
      </p:sp>
      <p:sp>
        <p:nvSpPr>
          <p:cNvPr id="7" name="TextBox 6"/>
          <p:cNvSpPr txBox="1"/>
          <p:nvPr/>
        </p:nvSpPr>
        <p:spPr>
          <a:xfrm>
            <a:off x="1280160" y="1261872"/>
            <a:ext cx="10362895" cy="67665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Aile afet planı ailece konuşuldu</a:t>
            </a:r>
          </a:p>
        </p:txBody>
      </p:sp>
      <p:sp>
        <p:nvSpPr>
          <p:cNvPr id="8" name="Rectangle 7"/>
          <p:cNvSpPr/>
          <p:nvPr/>
        </p:nvSpPr>
        <p:spPr>
          <a:xfrm>
            <a:off x="594360" y="2176272"/>
            <a:ext cx="457200" cy="457200"/>
          </a:xfrm>
          <a:prstGeom prst="rect">
            <a:avLst/>
          </a:prstGeom>
          <a:solidFill>
            <a:srgbClr val="FFFFFF"/>
          </a:solidFill>
          <a:ln w="25400">
            <a:solidFill>
              <a:srgbClr val="4F4F4F"/>
            </a:solidFill>
          </a:ln>
          <a:effectLst/>
        </p:spPr>
        <p:txBody>
          <a:bodyPr rtlCol="0" anchor="ctr"/>
          <a:lstStyle/>
          <a:p/>
        </p:txBody>
      </p:sp>
      <p:sp>
        <p:nvSpPr>
          <p:cNvPr id="9" name="TextBox 8"/>
          <p:cNvSpPr txBox="1"/>
          <p:nvPr/>
        </p:nvSpPr>
        <p:spPr>
          <a:xfrm>
            <a:off x="1280160" y="2066544"/>
            <a:ext cx="10362895" cy="67665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Ev içinde güvenli yer ve toplanma yeri belirlendi</a:t>
            </a:r>
          </a:p>
        </p:txBody>
      </p:sp>
      <p:sp>
        <p:nvSpPr>
          <p:cNvPr id="10" name="Rectangle 9"/>
          <p:cNvSpPr/>
          <p:nvPr/>
        </p:nvSpPr>
        <p:spPr>
          <a:xfrm>
            <a:off x="594360" y="2980944"/>
            <a:ext cx="457200" cy="457200"/>
          </a:xfrm>
          <a:prstGeom prst="rect">
            <a:avLst/>
          </a:prstGeom>
          <a:solidFill>
            <a:srgbClr val="FFFFFF"/>
          </a:solidFill>
          <a:ln w="25400">
            <a:solidFill>
              <a:srgbClr val="4F4F4F"/>
            </a:solidFill>
          </a:ln>
          <a:effectLst/>
        </p:spPr>
        <p:txBody>
          <a:bodyPr rtlCol="0" anchor="ctr"/>
          <a:lstStyle/>
          <a:p/>
        </p:txBody>
      </p:sp>
      <p:sp>
        <p:nvSpPr>
          <p:cNvPr id="11" name="TextBox 10"/>
          <p:cNvSpPr txBox="1"/>
          <p:nvPr/>
        </p:nvSpPr>
        <p:spPr>
          <a:xfrm>
            <a:off x="1280160" y="2871216"/>
            <a:ext cx="10362895" cy="67665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Afet ve acil durum çantası hazırlandı ya da gözden geçirildi</a:t>
            </a:r>
          </a:p>
        </p:txBody>
      </p:sp>
      <p:sp>
        <p:nvSpPr>
          <p:cNvPr id="12" name="Rectangle 11"/>
          <p:cNvSpPr/>
          <p:nvPr/>
        </p:nvSpPr>
        <p:spPr>
          <a:xfrm>
            <a:off x="594360" y="3785616"/>
            <a:ext cx="457200" cy="457200"/>
          </a:xfrm>
          <a:prstGeom prst="rect">
            <a:avLst/>
          </a:prstGeom>
          <a:solidFill>
            <a:srgbClr val="FFFFFF"/>
          </a:solidFill>
          <a:ln w="25400">
            <a:solidFill>
              <a:srgbClr val="4F4F4F"/>
            </a:solidFill>
          </a:ln>
          <a:effectLst/>
        </p:spPr>
        <p:txBody>
          <a:bodyPr rtlCol="0" anchor="ctr"/>
          <a:lstStyle/>
          <a:p/>
        </p:txBody>
      </p:sp>
      <p:sp>
        <p:nvSpPr>
          <p:cNvPr id="13" name="TextBox 12"/>
          <p:cNvSpPr txBox="1"/>
          <p:nvPr/>
        </p:nvSpPr>
        <p:spPr>
          <a:xfrm>
            <a:off x="1280160" y="3675888"/>
            <a:ext cx="10362895" cy="67665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Aile iletişim planı yapıldı</a:t>
            </a:r>
          </a:p>
        </p:txBody>
      </p:sp>
      <p:sp>
        <p:nvSpPr>
          <p:cNvPr id="14" name="Rounded Rectangle 13"/>
          <p:cNvSpPr/>
          <p:nvPr/>
        </p:nvSpPr>
        <p:spPr>
          <a:xfrm>
            <a:off x="502920" y="4965192"/>
            <a:ext cx="11185855" cy="128016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l">
              <a:spcBef>
                <a:spcPts val="0"/>
              </a:spcBef>
              <a:spcAft>
                <a:spcPts val="400"/>
              </a:spcAft>
            </a:pPr>
            <a:r>
              <a:rPr lang="tr-TR" sz="2400" b="1" i="0">
                <a:solidFill>
                  <a:srgbClr val="D3373A"/>
                </a:solidFill>
                <a:latin typeface="Calibri"/>
              </a:rPr>
              <a:t>Adres, telefon, kişi adı YAZILMAZ.</a:t>
            </a:r>
          </a:p>
          <a:p>
            <a:pPr algn="l">
              <a:spcBef>
                <a:spcPts val="0"/>
              </a:spcBef>
              <a:spcAft>
                <a:spcPts val="0"/>
              </a:spcAft>
            </a:pPr>
            <a:r>
              <a:rPr lang="tr-TR" sz="2400" b="0" i="0">
                <a:solidFill>
                  <a:srgbClr val="262626"/>
                </a:solidFill>
                <a:latin typeface="Calibri"/>
              </a:rPr>
              <a:t>Yalnız işaretli liste 33. haftada getirilir.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208</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166 / 250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32.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1E7B6E"/>
                </a:solidFill>
                <a:latin typeface="Calibri"/>
              </a:rPr>
              <a:t>•  </a:t>
            </a:r>
            <a:r>
              <a:rPr lang="tr-TR" sz="2600" b="0" i="0">
                <a:solidFill>
                  <a:srgbClr val="262626"/>
                </a:solidFill>
                <a:latin typeface="Calibri"/>
              </a:rPr>
              <a:t>Çalışma kâğıdı 11-12. maddeler (kitap s. 202-203, 208): döngü tablosu ve s. 208 ifadeleri.</a:t>
            </a:r>
          </a:p>
          <a:p>
            <a:pPr algn="l" marL="323206" indent="-323206">
              <a:spcBef>
                <a:spcPts val="0"/>
              </a:spcBef>
              <a:spcAft>
                <a:spcPts val="1200"/>
              </a:spcAft>
            </a:pPr>
            <a:r>
              <a:rPr lang="tr-TR" sz="2600" b="1" i="0">
                <a:solidFill>
                  <a:srgbClr val="1E7B6E"/>
                </a:solidFill>
                <a:latin typeface="Calibri"/>
              </a:rPr>
              <a:t>•  </a:t>
            </a:r>
            <a:r>
              <a:rPr lang="tr-TR" sz="2600" b="0" i="0">
                <a:solidFill>
                  <a:srgbClr val="262626"/>
                </a:solidFill>
                <a:latin typeface="Calibri"/>
              </a:rPr>
              <a:t>Aile afet planı kontrol listesi: ailece konuşun, yalnız kutuları işaretleyin.</a:t>
            </a:r>
          </a:p>
          <a:p>
            <a:pPr algn="l" marL="323206" indent="-323206">
              <a:spcBef>
                <a:spcPts val="0"/>
              </a:spcBef>
              <a:spcAft>
                <a:spcPts val="0"/>
              </a:spcAft>
            </a:pPr>
            <a:r>
              <a:rPr lang="tr-TR" sz="2600" b="1" i="0">
                <a:solidFill>
                  <a:srgbClr val="1E7B6E"/>
                </a:solidFill>
                <a:latin typeface="Calibri"/>
              </a:rPr>
              <a:t>•  </a:t>
            </a:r>
            <a:r>
              <a:rPr lang="tr-TR" sz="2600" b="0" i="0">
                <a:solidFill>
                  <a:srgbClr val="262626"/>
                </a:solidFill>
                <a:latin typeface="Calibri"/>
              </a:rPr>
              <a:t>Grup defterindeki üç başlıklı listeye göz atın; ek malzeme yok.</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208</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167 / 250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GNL-COG9-SN-U6 — 32. hafta · Bütüncül Afet Yönetimi I: Döngü ve Aşamalar (slayt 120-167)</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