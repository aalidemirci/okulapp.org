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3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37"/>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37" Type="http://schemas.openxmlformats.org/officeDocument/2006/relationships/slide" Target="slides/slide30.xml"/><Relationship Id="rId124" Type="http://schemas.openxmlformats.org/officeDocument/2006/relationships/slide" Target="slides/slide1.xml"/><Relationship Id="rId125" Type="http://schemas.openxmlformats.org/officeDocument/2006/relationships/slide" Target="slides/slide2.xml"/><Relationship Id="rId126" Type="http://schemas.openxmlformats.org/officeDocument/2006/relationships/slide" Target="slides/slide3.xml"/><Relationship Id="rId127" Type="http://schemas.openxmlformats.org/officeDocument/2006/relationships/slide" Target="slides/slide4.xml"/><Relationship Id="rId128" Type="http://schemas.openxmlformats.org/officeDocument/2006/relationships/slide" Target="slides/slide5.xml"/><Relationship Id="rId129" Type="http://schemas.openxmlformats.org/officeDocument/2006/relationships/slide" Target="slides/slide6.xml"/><Relationship Id="rId130" Type="http://schemas.openxmlformats.org/officeDocument/2006/relationships/slide" Target="slides/slide7.xml"/><Relationship Id="rId131" Type="http://schemas.openxmlformats.org/officeDocument/2006/relationships/slide" Target="slides/slide8.xml"/><Relationship Id="rId132" Type="http://schemas.openxmlformats.org/officeDocument/2006/relationships/slide" Target="slides/slide9.xml"/><Relationship Id="rId133" Type="http://schemas.openxmlformats.org/officeDocument/2006/relationships/slide" Target="slides/slide10.xml"/><Relationship Id="rId134" Type="http://schemas.openxmlformats.org/officeDocument/2006/relationships/slide" Target="slides/slide11.xml"/><Relationship Id="rId135" Type="http://schemas.openxmlformats.org/officeDocument/2006/relationships/slide" Target="slides/slide12.xml"/><Relationship Id="rId136" Type="http://schemas.openxmlformats.org/officeDocument/2006/relationships/slide" Target="slides/slide13.xml"/><Relationship Id="rId137" Type="http://schemas.openxmlformats.org/officeDocument/2006/relationships/slide" Target="slides/slide14.xml"/><Relationship Id="rId138" Type="http://schemas.openxmlformats.org/officeDocument/2006/relationships/slide" Target="slides/slide15.xml"/><Relationship Id="rId139" Type="http://schemas.openxmlformats.org/officeDocument/2006/relationships/slide" Target="slides/slide16.xml"/><Relationship Id="rId140" Type="http://schemas.openxmlformats.org/officeDocument/2006/relationships/slide" Target="slides/slide17.xml"/><Relationship Id="rId141" Type="http://schemas.openxmlformats.org/officeDocument/2006/relationships/slide" Target="slides/slide18.xml"/><Relationship Id="rId142" Type="http://schemas.openxmlformats.org/officeDocument/2006/relationships/slide" Target="slides/slide19.xml"/><Relationship Id="rId143" Type="http://schemas.openxmlformats.org/officeDocument/2006/relationships/slide" Target="slides/slide20.xml"/><Relationship Id="rId144" Type="http://schemas.openxmlformats.org/officeDocument/2006/relationships/slide" Target="slides/slide21.xml"/><Relationship Id="rId145" Type="http://schemas.openxmlformats.org/officeDocument/2006/relationships/slide" Target="slides/slide22.xml"/><Relationship Id="rId146" Type="http://schemas.openxmlformats.org/officeDocument/2006/relationships/slide" Target="slides/slide23.xml"/><Relationship Id="rId147" Type="http://schemas.openxmlformats.org/officeDocument/2006/relationships/slide" Target="slides/slide24.xml"/><Relationship Id="rId148" Type="http://schemas.openxmlformats.org/officeDocument/2006/relationships/slide" Target="slides/slide25.xml"/><Relationship Id="rId149" Type="http://schemas.openxmlformats.org/officeDocument/2006/relationships/slide" Target="slides/slide26.xml"/><Relationship Id="rId150" Type="http://schemas.openxmlformats.org/officeDocument/2006/relationships/slide" Target="slides/slide27.xml"/><Relationship Id="rId151" Type="http://schemas.openxmlformats.org/officeDocument/2006/relationships/slide" Target="slides/slide28.xml"/><Relationship Id="rId152"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okul temelli planlama haftası olduğunu ve esaslarını öğrencinin diliyle açmak.</a:t>
            </a:r>
          </a:p>
          <a:p/>
          <a:p>
            <a:r>
              <a:t>SÜRE: Hazırlık ve güvenlik brifingi 6 dk (bu aşamanın beş slaytı hızlı geçilir). 80 dakikalık akış (ders planı, 36. hafta): brifing 6 · yoklama ve çıkış 4 · dört durak 30 (40. dk) · dönüş 4 · rapor ve kroki 16 · paylaşım 8 · yıl sonu yansıtması 8 · kapanış 4.</a:t>
            </a:r>
          </a:p>
          <a:p/>
          <a:p>
            <a:r>
              <a:t>NASIL: 'Bu hafta not yok, sınav yok: bir yıl boyunca öğrendiklerimizle okulumuzun çevresini okuyacağız.' Ürünlerin zümre dosyasına gideceğini söyleyin. Okul sınırları içinde kalınacaksa (bahçe ve bina çevresi) üçüncü madde 'bugün okul bahçesindeyiz' diye okunur.</a:t>
            </a:r>
          </a:p>
          <a:p/>
          <a:p>
            <a:r>
              <a:t>KAYNAK: Zümre kararı (9. sınıfta okul temelli planlama süresi okul çevresinde gözlem ve okuma çalışmalarına; 18. ve 36. hafta) ve zümre tutanağındaki esaslar (not amaçlı sınav yok; ürünler zümre kararıyla dönemin performans çalışması kapsamında değerlendirilebilir; kanıtlar sınıf düzeyi sorumlusunca zümre dosyasında; okul dışına çıkılırsa zaman-yer-refakat onayı ve etkinlik bazlı veli izni); zümre kararı (görevli öğretmen ve gözetim planı). Ders planı 36. hafta.</a:t>
            </a:r>
          </a:p>
          <a:p/>
          <a:p>
            <a:r>
              <a:t>NOT: Evrak kodu slayta yazılmaz; izin belgeleri ve gözetim planı etkinlik onay dosyasındadır. Bu sunum yalnız okul içi ders kullanımı içindir.</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(20 sn).</a:t>
            </a:r>
          </a:p>
          <a:p/>
          <a:p>
            <a:r>
              <a:t>NASIL: Yürüyüşün sonunda dersin ilk yarısı biter (40. dk); ikinci ders saati sınıfta geçer.</a:t>
            </a:r>
          </a:p>
          <a:p/>
          <a:p>
            <a:r>
              <a:t>KAYNAK: Ders planı 36.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Gözlem yürüyüşünü 2. ünitede tanıdığımız saha çalışması adımlarına bağlamak.</a:t>
            </a:r>
          </a:p>
          <a:p/>
          <a:p>
            <a:r>
              <a:t>NASIL: Altı adımı soldan sağa okuyun; her kartın altındaki 'bugün' satırı o adımın bugünkü karşılığıdır. Kitaptaki saha çalışması topoğrafya haritası ve fotoğraf da kullanır; biz fotoğraf çekmiyoruz (telefon yok, kişisel veri yok), gözlemi yazıyla ve krokiyle kaydediyoruz.</a:t>
            </a:r>
          </a:p>
          <a:p/>
          <a:p>
            <a:r>
              <a:t>KAYNAK: Ders kitabı 2. ünite s. 56 'SAHA ÇALIŞMASI' (adım adları ve maddeler birebir; 7. ünitenin kilidine girmez, bu modülün 2. ünite kilidi arar).</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Gözlem formunu ve rolleri tanıtmak.</a:t>
            </a:r>
          </a:p>
          <a:p/>
          <a:p>
            <a:r>
              <a:t>NASIL: Form herkese dağıtılır (34 + 4 yedek); her öğrenci kendi formunu doldurur, gözlem yazıcısı grubun ortak notunu tutar. Formun satırları beş gözlem başlığı ve işlevsel bölge ipuçlarıdır; sütunları dört duraktır. Son satırdaki güvenlik onay kutusu şimdi işaretlenir. 4 kişilik grupta ayrıntı gözlemcisi yoktur; 5 kişilik grupta beşinci üye ayrıntı gözlemcisidir (renk, ses, koku gibi ayrıntıları not eder).</a:t>
            </a:r>
          </a:p>
          <a:p/>
          <a:p>
            <a:r>
              <a:t>KAYNAK: Ders planı 36. hafta materyal listesi (yapılandırılmış gözlem formu; grup rol kartı) ve 1. aşama.</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Yürüyüşün güvenlik kurallarını öğrencilere tekrar ettirmek ve onaylatmak.</a:t>
            </a:r>
          </a:p>
          <a:p/>
          <a:p>
            <a:r>
              <a:t>NASIL: Kuralları öğrencilere sırayla okutun; görevli öğretmenlerin yerini (sıra başı ve sıra sonu) gösterin. Acil durumda toplanma noktası okul bahçesidir. Kişi, ev, araç plakası kaydedilmez; fotoğraf ve ses kaydı alınmaz. Okul dışına çıkılmıyorsa 2. ve 3. kurallar 'bahçe yolunun kenarı' diye uyarlanır.</a:t>
            </a:r>
          </a:p>
          <a:p/>
          <a:p>
            <a:r>
              <a:t>KAYNAK: Ders planı 36. hafta 1. aşama ve sınıf yönetimi notu; zümre kararı (görevli öğretmen ve gözetim planı); 2026-2027 Genelgesi bent 37 (öğrencinin telefonu derste kullanılmaz).</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Yoklama, sıraya giriş ve malzeme kontrolüyle güvenli çıkış.</a:t>
            </a:r>
          </a:p>
          <a:p/>
          <a:p>
            <a:r>
              <a:t>SÜRE: Yoklama, sıraya giriş ve çıkış 4 dk.</a:t>
            </a:r>
          </a:p>
          <a:p/>
          <a:p>
            <a:r>
              <a:t>NASIL: 1. yoklamayı alın; gruplar 1'den 8'e sıralanır; zaman-güvenlik sorumluları 'grubumuz tam' der. Görevli öğretmen sıra sonuna geçer. Yoklama üç kez alınır: çıkışta, en uzak durakta, dönüşte. İzni olmayan öğrenci okul içi gözlem görevine (bahçe/pencere) alınır.</a:t>
            </a:r>
          </a:p>
          <a:p/>
          <a:p>
            <a:r>
              <a:t>KAYNAK: Ders planı 36. hafta 2. aşama, ön hazırlık ve sınıf yönetimi notu; zümre kararı.</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Dört durağı ve süreleri göstermek; yürüyüşte projeksiyon olmadığı için durak kartlarının nasıl kullanılacağını açıklamak.</a:t>
            </a:r>
          </a:p>
          <a:p/>
          <a:p>
            <a:r>
              <a:t>SÜRE: Gözlem yürüyüşü 30 dk: durak 1 (6 dk) · durak 2 (6 dk) · durak 3 (7 dk) · durak 4 (5 dk) · duraklar arası yürüyüş toplam 6 dk. Bu aşamanın sonunda dersin ilk yarısı biter (40. dk).</a:t>
            </a:r>
          </a:p>
          <a:p/>
          <a:p>
            <a:r>
              <a:t>NASIL: Şema GERÇEK güzergâh değildir: gerçek güzergâh bir hafta önce yürünerek belirlenir ve brifingde tahtaya çizilir (okulun adresi ve sokak adları slayta yazılmaz; kavşak ve karşıdan karşıya geçiş en aza indirilir). Bu slayt çıkıştan hemen önce gösterilir. Durak kartları (sonraki slaytlar) yürüyüşte yansıtılamaz: soruları gözlem formunda da vardır, öğretmen her durakta 1 dakika yönlendirici soru sorar, kalan sürede gruplar yazar. Her durak kartının ardındaki ÖRNEK CEVAP slaytı dönüşte (rapor aşamasının başında) açılır.</a:t>
            </a:r>
          </a:p>
          <a:p/>
          <a:p>
            <a:r>
              <a:t>KAYNAK: Ders planı 36. hafta 3. aşama ve ön hazırlık (durak planı).</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Yağışlı ya da aşırı sıcak havada yürüyüşün yerine geçecek düzeni göstermek.</a:t>
            </a:r>
          </a:p>
          <a:p/>
          <a:p>
            <a:r>
              <a:t>NASIL: Hava tahmini bir gün önce kontrol edilir. B planında yalnız bu aşama değişir: etkileşimli tahtada okul çevresinin haritası ya da uydu görüntüsü üzerinde dört sanal durak (öğretmen bilgisayarı; öğrenci telefonu kullanılmaz), pencereden hava durumu ve eğim gözlemi, okul bahçesinde 10 dakikalık kısa gözlem (okul sınırları içinde). Gözlem formu ve kalan akış aynıdır. Okul sınırları içinde kalındığı için izin belgesi gerekmez; gözetim planı yine uygulanır.</a:t>
            </a:r>
          </a:p>
          <a:p/>
          <a:p>
            <a:r>
              <a:t>KAYNAK: Ders planı 36. hafta notlar (yağışlı ya da aşırı sıcak hava alternatifi) ve zümre kararı uygulama esasları.</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durağın gözlem görevleri (durak kartı; gözlem formunda da yazılıdır).</a:t>
            </a:r>
          </a:p>
          <a:p/>
          <a:p>
            <a:r>
              <a:t>SÜRE: Durak 1: 6 dk (1 dk yönlendirici soru, kalanı yazma).</a:t>
            </a:r>
          </a:p>
          <a:p/>
          <a:p>
            <a:r>
              <a:t>NASIL: Kuzeyi öğretmen gösterir: kuzey önceden pusulayla ya da okul çevresinin haritasıyla belirlenmiştir (öğrenci telefonu pusula olarak kullanılmaz). Yön-kroki sorumlusu okulu ve girişi krokiye taslak olarak işler. Yağmur suyunun aktığı yeri ızgara, oluk ya da su izinden bulmalarını isteyin.</a:t>
            </a:r>
          </a:p>
          <a:p/>
          <a:p>
            <a:r>
              <a:t>SÖYLENEBİLİR: Yağmur suyu nereye akıyorsa orası alçaktır; suyun toplandığı yer bir risk de olabilir.</a:t>
            </a:r>
          </a:p>
          <a:p/>
          <a:p>
            <a:r>
              <a:t>BEKLENEN CEVAP: Eğimin yönü ve suyun toplandığı yer; binaların yaklaşık kat sayısı ve en yüksek yapı; kuzey ve girişin baktığı yön (gözleme göre; tek doğru yoktur).</a:t>
            </a:r>
          </a:p>
          <a:p/>
          <a:p>
            <a:r>
              <a:t>KAYNAK: Ders planı 36. hafta ön hazırlık (durak 1: arazi eğimi — yağmur suyu nereye akar?, binaların yüksekliği, yön belirleme) ve 3. aşama; yön oku ve kroki: kitap 2. ünite.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durağın gözlem kaydına ölçütlü örnek göstermek.</a:t>
            </a:r>
          </a:p>
          <a:p/>
          <a:p>
            <a:r>
              <a:t>NASIL: Dönüşte, rapor aşamasının başında açın. Satırlar BİÇİM ÖRNEĞİDİR, okulumuzun gerçek durumu değildir: öğrenciler kendi kayıtlarını bu ölçütle karşılaştırır. Yön satırındaki boşluğu birlikte doldurun (gözlenen yön). Sayı yalnız ölçüldüyse yazılır; 'yaklaşık' kat sayısı tahmin olarak belirtilir.</a:t>
            </a:r>
          </a:p>
          <a:p/>
          <a:p>
            <a:r>
              <a:t>BEKLENEN CEVAP: Ölçüt: ne gördüm + nerede (durak) + hangi kavram. Eğim → yüzey akışı ve suyun toplandığı yer (risk); yapılaşma → yerleşme dokusu; yön → kroki ve yön oku.</a:t>
            </a:r>
          </a:p>
          <a:p/>
          <a:p>
            <a:r>
              <a:t>KAYNAK: Ders planı 36. hafta ölçme (gözlem formunun doluluğu ve gözlem-kavram eşleşmesi). Bilimsel: yüzey akışı eğim yönünde olur (kitapta bu durak için metin yok).</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durağın gözlem görevleri (durak kartı; gözlem formunda da yazılıdır).</a:t>
            </a:r>
          </a:p>
          <a:p/>
          <a:p>
            <a:r>
              <a:t>SÜRE: Durak 2: 6 dk.</a:t>
            </a:r>
          </a:p>
          <a:p/>
          <a:p>
            <a:r>
              <a:t>NASIL: Gruplar yarım daire durur; öğretmen sırtı yola dönük konuşmaz. Araç yoğunluğu sayılmaz, 'az / orta / çok' diye nitelenir; plaka, kişi ve dükkân adı yazılmaz (yalnız türü: market, fırın, kırtasiye).</a:t>
            </a:r>
          </a:p>
          <a:p/>
          <a:p>
            <a:r>
              <a:t>BEKLENEN CEVAP: Yolun genişliği ve kaldırım durumu; durak ve araç yoğunluğu (az/orta/çok); bitişik ya da ayrık yapı düzeni; dükkân türleri; ağaç, park, bahçe, boş arsa.</a:t>
            </a:r>
          </a:p>
          <a:p/>
          <a:p>
            <a:r>
              <a:t>KAYNAK: Ders planı 36. hafta ön hazırlık (durak 2: yol genişliği, kaldırım, durak, araç yoğunluğu, bitişik/ayrık yapı düzeni, kat sayısı, yeşil alan) ve 3. aşama.</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durağın gözlem kaydına ölçütlü örnek göstermek.</a:t>
            </a:r>
          </a:p>
          <a:p/>
          <a:p>
            <a:r>
              <a:t>NASIL: Satırlar BİÇİM ÖRNEĞİDİR (okulumuzun gerçek sokağı değildir). Öğrencilere kendi kayıtlarında 'nerede' ve 'kavram' sütununun dolu olup olmadığını kontrol ettirin.</a:t>
            </a:r>
          </a:p>
          <a:p/>
          <a:p>
            <a:r>
              <a:t>BEKLENEN CEVAP: Ölçüt: yolun özelliği + durak/araç yoğunluğu (nitel); yapı düzeni + ekonomik faaliyet türü; yeşil alan ve arazi kullanımı. Kavram bağı: ulaşım ve odak noktaları → işlevsel bölge (7. ünite); dükkânlar → ekonomik faaliyet (5. ünite); yapı yoğunluğu → nüfusun dağılışı (4. ünite).</a:t>
            </a:r>
          </a:p>
          <a:p/>
          <a:p>
            <a:r>
              <a:t>KAYNAK: Ders planı 36. hafta ölçme; ünite adları kitap içindekiler s. 7-8.</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durağın gözlem görevleri; hava gözlemini 3. ünitenin ölçütleriyle yapmak.</a:t>
            </a:r>
          </a:p>
          <a:p/>
          <a:p>
            <a:r>
              <a:t>SÜRE: Durak 3: 7 dk.</a:t>
            </a:r>
          </a:p>
          <a:p/>
          <a:p>
            <a:r>
              <a:t>NASIL: Çevrenin en iyi görüldüğü açık ya da yüksek noktadır. Bulutluluk: gökyüzünü gözünüzde sekiz eşit parçaya bölün, bulutlu parçaları sayın (3. ünitedeki asetat yöntemi; sonraki slayttaki ölçütler). Rüzgâr, estiği yönün adıyla anılır (kuzeyden esen rüzgâr). Termometre yoksa 'sıcaklık hissi' yazılır, derece yazılmaz.</a:t>
            </a:r>
          </a:p>
          <a:p/>
          <a:p>
            <a:r>
              <a:t>BEKLENEN CEVAP: Yüksek ve alçak yerlerin yönü; yapılaşmanın yoğunlaştığı yön; yeşil alan payı (az / yarı yarıya / çok); bulut durumu ölçütle; rüzgârın estiği yön ve etkisi; sıcaklık hissi.</a:t>
            </a:r>
          </a:p>
          <a:p/>
          <a:p>
            <a:r>
              <a:t>KAYNAK: Ders planı 36. hafta ön hazırlık (durak 3: yüksek ve alçak yerler, yeşil alan payı, yapılaşmanın yoğunlaştığı yön, bulutluluk, rüzgâr yönü, sıcaklık hissi); kitap 3. ünite s. 81 'Hava Olaylarını Gözlemleyerek Tahmin Edebilme' uygulaması (bulutluluk ve rüzgâr tabloları).</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Bulutluluk ve rüzgâr gözlemini 3. ünitenin ölçütleriyle yapmak (cihaz ve telefon olmadan).</a:t>
            </a:r>
          </a:p>
          <a:p/>
          <a:p>
            <a:r>
              <a:t>NASIL: İki tablo 3. ünite s. 81'deki uygulamadandır. Bulutluluk: gökyüzünü sekiz eşit parçaya bölüp bulutlu parçaları sayarız. Rüzgâr: açık alanda gördüğümüz etkiden hızı tahmin ederiz. Rüzgârın yönünü öğretmenin gösterdiği kuzeye göre buluruz.</a:t>
            </a:r>
          </a:p>
          <a:p/>
          <a:p>
            <a:r>
              <a:t>BEKLENEN CEVAP: Örnek: 3 bulutlu parça → parçalı bulutlu; saçlar dağılıyorsa yaklaşık 4 m/sn.</a:t>
            </a:r>
          </a:p>
          <a:p/>
          <a:p>
            <a:r>
              <a:t>KAYNAK: Kitap 3. ünite s. 81 'Hava Olaylarını Gözlemleyerek Tahmin Edebilme' (tablo değerleri birebir; bu modülün 3. ünite kilidi arar).</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durağın gözlem kaydına ölçütlü örnek göstermek.</a:t>
            </a:r>
          </a:p>
          <a:p/>
          <a:p>
            <a:r>
              <a:t>NASIL: Satırlar BİÇİM ÖRNEĞİDİR. Hava satırındaki iki ifade 3. ünite s. 81 tablolarının ölçütleridir: 3 bulutlu parça → 'Parçalı bulutlu'; 'Saçlar dağılır.' → yaklaşık 4 m/sn. Zenginleştirme: aynı yapı yoğunluğundaki sokaklar krokide şekilsel bir bölge olarak çizilebilir (kriter: yapı yoğunluğu; bölge içinde her yer aynı özellikte).</a:t>
            </a:r>
          </a:p>
          <a:p/>
          <a:p>
            <a:r>
              <a:t>BEKLENEN CEVAP: Ölçüt: yön bildiren genel görünüm cümlesi; yeşil alan payı nitel; hava durumu ölçütle (bulutlu kare sayısı → bulut durumu; rüzgârın etkisi → hız aralığı).</a:t>
            </a:r>
          </a:p>
          <a:p/>
          <a:p>
            <a:r>
              <a:t>KAYNAK: Kitap 3. ünite s. 81 (bulutluluk ve 'Rüzgârın Açık Alandaki İnsanlara Etkisi' tabloları); 7. ünite s. 219 şekilsel bölge (türdeşlik).</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4. durağın görevi: işlevsel bölge ipuçlarını gözlemek ve 'okulumuzun etki alanı' varsayımını kurmak.</a:t>
            </a:r>
          </a:p>
          <a:p/>
          <a:p>
            <a:r>
              <a:t>SÜRE: Durak 4: 5 dk.</a:t>
            </a:r>
          </a:p>
          <a:p/>
          <a:p>
            <a:r>
              <a:t>NASIL: Dönüş noktası bir odak noktasıdır (durak, çarşı). Öğrenciler insan hareketinin yönünü ve odak noktalarını (durak, market, çarşı) not eder. Alttaki kitap cümlesini okutun: okul da bir çekirdektir. Varsayım bir tahmindir; rapor aşamasında krokide kesik çizgiyle gösterilir.</a:t>
            </a:r>
          </a:p>
          <a:p/>
          <a:p>
            <a:r>
              <a:t>SÖYLENEBİLİR: Okulumuz her gün öğrencileri ve öğretmenleri kendine çeken bir merkezdir; çevresiyle arasında bir hareket vardır.</a:t>
            </a:r>
          </a:p>
          <a:p/>
          <a:p>
            <a:r>
              <a:t>BEKLENEN CEVAP: İnsanların okula ve durağa doğru hareketi; odak noktaları (durak, market, çarşı); 'okulumuzun etki alanı öğrencilerin her gün okula geldiği yerlere kadar uzanır' türünden bir varsayım.</a:t>
            </a:r>
          </a:p>
          <a:p/>
          <a:p>
            <a:r>
              <a:t>KAYNAK: Kitap s. 219 (işlevsel bölge; birebir); ders planı 36. hafta ön hazırlık (durak 4) ve 3. aşama.</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'Okulumuzun etki alanı' varsayımının ölçütlü örneğini kitabın işlevsel bölge cümleleriyle göstermek.</a:t>
            </a:r>
          </a:p>
          <a:p/>
          <a:p>
            <a:r>
              <a:t>NASIL: Şema bir örnek düzendir: çekirdek okul, çevre öğrencilerin ve öğretmenlerin her gün geldiği alan; oklar hareket. Etkileşim uzaklaştıkça azalır; sınır kesin değildir (kesik çizgi). Durak ya da çarşı da kendi işlevsel bölgesinin odak noktasıdır.</a:t>
            </a:r>
          </a:p>
          <a:p/>
          <a:p>
            <a:r>
              <a:t>BEKLENEN CEVAP: Ölçüt: çekirdek (okul) + çevre (her gün gelinen alan) + hareket (giriş-çıkış saatlerinde yaya ve araç akışı) + etkinin uzaklaştıkça azalması + sınırın kesin olmaması. Örnek: 'Okulumuz bir işlevsel bölgenin çekirdeğidir; öğrenciler ve öğretmenler çevredeki mahallelerden her gün okula gelir. Okuldan uzaklaştıkça okula gelen kişi azalır; bu bölgenin kesin bir sınırı yoktur.'</a:t>
            </a:r>
          </a:p>
          <a:p/>
          <a:p>
            <a:r>
              <a:t>KAYNAK: Kitap s. 219 (üç cümle birebir: odak noktası, etkileşimin azalması, kesin sınır yokluğu).</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Dönüşte yoklama, sakinleşme ve rapor düzenine geçiş.</a:t>
            </a:r>
          </a:p>
          <a:p/>
          <a:p>
            <a:r>
              <a:t>SÜRE: Sınıfa dönüş, yoklama ve düzen 4 dk (dersin 2. saati başlar).</a:t>
            </a:r>
          </a:p>
          <a:p/>
          <a:p>
            <a:r>
              <a:t>NASIL: 3. yoklamayı alın; su molası. Sıralar adaya çevrilir, gözlem formları masaya çıkar, malzeme sorumlusu A3 kâğıdı ve renkli kalemleri alır. Bu arada formlarını sağdaki üç soruyla kontrol ettirin; eksik başlığı grubun öbür formlarından tamamlarlar. Durak kartlarının örnek cevap slaytları (123-133) bu aşamanın sonunda ya da raporun başında açılabilir.</a:t>
            </a:r>
          </a:p>
          <a:p/>
          <a:p>
            <a:r>
              <a:t>KAYNAK: Ders planı 36. hafta 4. aşama ve sınıf yönetimi notu.</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ünitenin kroki, yön oku ve lejant tanımlarını hatırlatıp krokinin kurallarını koymak.</a:t>
            </a:r>
          </a:p>
          <a:p/>
          <a:p>
            <a:r>
              <a:t>SÜRE: Gözlem raporu ve kroki 16 dk (bu iki slayt 2 dk; kalan süre grup çalışması).</a:t>
            </a:r>
          </a:p>
          <a:p/>
          <a:p>
            <a:r>
              <a:t>NASIL: Üstteki tanımı okutun: krokinin ölçeği yoktur, bu yüzden 'kaç metre?' sorusunu krokiden cevaplayamayız. Sağdaki altı kural krokinin kontrol listesidir. Zenginleştirme: adım sayısıyla mesafe tahmini krokinin yanına not olarak yazılabilir (ölçek değildir).</a:t>
            </a:r>
          </a:p>
          <a:p/>
          <a:p>
            <a:r>
              <a:t>SÖYLENEBİLİR: Krokiyi yukarıdan bakıyormuş gibi, kuş bakışı çizin.</a:t>
            </a:r>
          </a:p>
          <a:p/>
          <a:p>
            <a:r>
              <a:t>KAYNAK: Kitap 2. ünite s. 35 (kroki tanımı) ve s. 36 (yön oku, harita işaretleri — lejant), birebir; bu modülün 2. ünite kilidi arar. Ders planı 36. hafta 5. aşama (A3'ün sol yarısı kroki: okul merkezde, kuzey oku, lejant, dört durak, yol/yeşil alan/yapı sembolleri).</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ürününün düzenini vermek: sol yarı kroki, sağ yarı rapor.</a:t>
            </a:r>
          </a:p>
          <a:p/>
          <a:p>
            <a:r>
              <a:t>NASIL: Yön-kroki sorumlusu krokiyi çizer, gözlem yazıcısı raporu yazar, sözcü çıkarım cümlelerini hazırlar, zaman-güvenlik sorumlusu süreyi izler (2 dk kala uyarır). Rapor başlıkları gözlem formuyla aynıdır; son iki başlık çıkarımdır. Alttaki kavram köprüsü tahtaya da yazılır. Dolaşırken bireysel formların doluluğunu kontrol edin.</a:t>
            </a:r>
          </a:p>
          <a:p/>
          <a:p>
            <a:r>
              <a:t>KAYNAK: Ders planı 36. hafta 5. aşama (A3 düzeni, rapor başlıkları, yılın kavram köprüsü).</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Krokinin ölçütlü örneğini göstermek (galeri öncesi öz kontrol).</a:t>
            </a:r>
          </a:p>
          <a:p/>
          <a:p>
            <a:r>
              <a:t>NASIL: Soldaki çizim bir ÖRNEK DÜZENDİR, okulumuzun gerçek çevresi değildir. Gruplar kendi krokilerini sağdaki ölçütlerle karşılaştırır. Ölçek çubuğu olmaması hata değildir: kroki ölçeksizdir; uzunluk ve alan hesaplanmaz (2. ünite).</a:t>
            </a:r>
          </a:p>
          <a:p/>
          <a:p>
            <a:r>
              <a:t>BEKLENEN CEVAP: Tam bir kroki: başlık; okul ortada; kuzey oku; lejant (yapı, yol, yeşil alan, durak); dört durak numaralı ve güzergâh çizili; işlevsel bölge varsayımı kesik çizgiyle; ölçek yok.</a:t>
            </a:r>
          </a:p>
          <a:p/>
          <a:p>
            <a:r>
              <a:t>KAYNAK: Kitap 2. ünite s. 35-36 (kroki, yön oku, lejant); ders planı 36. hafta ölçme (kontrol listesi: kuzey oku, lejant, dört durak, beş başlık, işlevsel bölge çıkarımı, risk-öneri).</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Raporun iki çıkarım başlığına (işlevsel bölge; risk ve öneri) ölçütlü örnek göstermek.</a:t>
            </a:r>
          </a:p>
          <a:p/>
          <a:p>
            <a:r>
              <a:t>NASIL: Beş gözlem başlığının örnekleri durak kartlarının ardındaki örnek cevaplardadır (123-133). Burada iki çıkarım başlığı vardır. Örnek cümleler BİÇİM ÖRNEĞİDİR; risk ve öneri okulun kendi gözleminden yazılır. Öneri gerçekçi ve okul içinde yapılabilir olmalıdır (okul yönetimine iletilir). Alttaki kitap cümlesi zenginleştirmedir: çevremiz değişirse bölge sınırları da değişir (35. hafta).</a:t>
            </a:r>
          </a:p>
          <a:p/>
          <a:p>
            <a:r>
              <a:t>BEKLENEN CEVAP: İşlevsel bölge: çekirdek + çevre + hareket + etkinin uzaklaştıkça azalması. Risk ve öneri: gözlenen bir risk + nerede + önerilen tedbir + kime iletileceği.</a:t>
            </a:r>
          </a:p>
          <a:p/>
          <a:p>
            <a:r>
              <a:t>KAYNAK: Kitap s. 219 (işlevsel bölge) ve s. 223 (sınır değişimi, birebir); ders planı 36. hafta 5. aşama (rapor başlıkları) ve ölçme.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ürünlerini paylaşmak; okul çevresi için ortak üç coğrafi cümleye ulaşmak.</a:t>
            </a:r>
          </a:p>
          <a:p/>
          <a:p>
            <a:r>
              <a:t>SÜRE: Paylaşım 8 dk: dört sözcü 1'er dk · galeri 3 dk · üç cümle 1 dk.</a:t>
            </a:r>
          </a:p>
          <a:p/>
          <a:p>
            <a:r>
              <a:t>NASIL: İsim kartıyla dört grubun sözcüsü 1'er dakika konuşur: 'en dikkat çekici gözlemimiz ve okulun etki alanı'. Öbür dört grup krokisini panoya asar; galeri tek yönlüdür, herkes bir yapışkan nota soru ya da övgü yazar. Sonra 'okul çevremiz için üç coğrafi cümle' tahtaya yazılır. 35. haftada zenginleştirme araştırması (işlevi değişen bölgeler, kalkınma proje bölgeleri) alan öğrencinin ürünü galeriye eklenir; isterse sözcülerden sonra en çok 1 dakikada özetler (aşama 8 dakikayı aşmaz).</a:t>
            </a:r>
          </a:p>
          <a:p/>
          <a:p>
            <a:r>
              <a:t>KAYNAK: Ders planı 36. hafta 6. aşama.</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Okul çevresi için üç coğrafi cümlenin ölçütlü örneğini göstermek.</a:t>
            </a:r>
          </a:p>
          <a:p/>
          <a:p>
            <a:r>
              <a:t>NASIL: Sınıfın ortak cümleleri tahtaya yazıldıktan sonra açın; cümleler BİÇİM ÖRNEĞİDİR. Her cümle bir gözleme dayanmalı ve bir kavram taşımalıdır.</a:t>
            </a:r>
          </a:p>
          <a:p/>
          <a:p>
            <a:r>
              <a:t>BEKLENEN CEVAP: 1) Doğal: eğim, yüzey akışı, hava durumu ya da yeşil alanla ilgili bir gözlem cümlesi. 2) Beşerî: yapılaşma, yerleşme dokusu, ulaşım ya da ekonomik faaliyetle ilgili bir cümle. 3) İlişki: okulun bir işlevsel bölgenin çekirdeği olduğu, çevreyle hareketle bağlandığı.</a:t>
            </a:r>
          </a:p>
          <a:p/>
          <a:p>
            <a:r>
              <a:t>KAYNAK: Ders planı 36. hafta 6. aşama; kitap s. 219 (işlevsel bölge).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Yılı bir dakikada özetlemek; yansıtma kartına geçiş.</a:t>
            </a:r>
          </a:p>
          <a:p/>
          <a:p>
            <a:r>
              <a:t>SÜRE: Yıl sonu yansıtması 8 dk: özet 1 dk · yazma 5 dk · isteyen 3-4 öğrenci okur 2 dk.</a:t>
            </a:r>
          </a:p>
          <a:p/>
          <a:p>
            <a:r>
              <a:t>NASIL: Yedi kartı hızlıca okuyun; her ünitenin bugün yürüyüşte nerede karşımıza çıktığını sorun (kroki → 2, hava → 3, yapılaşma → 4, dükkânlar → 5, risk → 6, işlevsel bölge → 7). Ünite adları ve başlıklar kitabın içindekiler sayfasındaki gibidir.</a:t>
            </a:r>
          </a:p>
          <a:p/>
          <a:p>
            <a:r>
              <a:t>KAYNAK: Ders kitabı içindekiler s. 7-8 (ünite adları ve başlıklar birebir; bu modülün içindekiler kilidi kitap PDF'inde arar).</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Yılı öz yansıtmayla kapatmak (SDB1.3).</a:t>
            </a:r>
          </a:p>
          <a:p/>
          <a:p>
            <a:r>
              <a:t>NASIL: Yansıtma kartı herkese dağıtılır; 5 dakika bireysel yazma. Doğru-yanlış yoktur; somut bir kavram ya da etkinlik ve nedeni istenir. Sonra isteyen 3-4 öğrenci okur. Kartlar kapanışta toplanır (yıl sonu zümre toplantısı dönütü).</a:t>
            </a:r>
          </a:p>
          <a:p/>
          <a:p>
            <a:r>
              <a:t>KAYNAK: Ders planı 36. hafta 7. aşama (üç yansıtma sorusu) ve ölçme (yansıtma kartı).</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Kanıta dayalı bir yansıtmanın örneğini göstermek.</a:t>
            </a:r>
          </a:p>
          <a:p/>
          <a:p>
            <a:r>
              <a:t>NASIL: İsteyenler okuduktan sonra açın. Örnekler BİÇİM ÖRNEĞİDİR; öğrencinin kendi deneyimi esastır. Ölçüt: bir kavram ya da etkinlik + neden (somut bir an ya da ürün) + uygulanabilir bir hedef.</a:t>
            </a:r>
          </a:p>
          <a:p/>
          <a:p>
            <a:r>
              <a:t>BEKLENEN CEVAP: 1) Kavram/etkinlik + neden: 'Tehlike, risk ve afet ayrımı; aile afet planımızı hazırlarken kullandım.' 2) Günlük hayat: 'Dışarı çıkmadan önce bulutluluğa ve rüzgâra bakıp hava durumunu tahmin ediyorum.' 3) Beceri + nasıl: 'Haritadan çıkarım yapmayı geliştirmek istiyorum; her hafta atlastan bir haritayı inceleyeceğim.'</a:t>
            </a:r>
          </a:p>
          <a:p/>
          <a:p>
            <a:r>
              <a:t>KAYNAK: Ders planı 36. hafta 7. aşama; örnekler yılın ünitelerinden (6. ünite tehlike, risk ve afet; 3. ünite hava olayları; 2. ünite harita) — bilimsel, öğrenciye göre değişir.</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kazanımını üç kısa soruyla görmek (not amaçlı değildir).</a:t>
            </a:r>
          </a:p>
          <a:p/>
          <a:p>
            <a:r>
              <a:t>SÜRE: Kapanış 4 dk: çıkış kartı 2 dk · teslim ve duyurular 2 dk.</a:t>
            </a:r>
          </a:p>
          <a:p/>
          <a:p>
            <a:r>
              <a:t>NASIL: Sorular yansıtma kartının arka yüzüne kısaca yazılır; kart kapanışta toplanır.</a:t>
            </a:r>
          </a:p>
          <a:p/>
          <a:p>
            <a:r>
              <a:t>BEKLENEN CEVAP: 1) Doğal: eğim, hava durumu, yeşil alan gibi; beşerî: yapılaşma, yol, durak, dükkân gibi bir unsur. 2) Okulun çekirdek (merkez) olduğu, öğrenci ve öğretmen hareketinin bağladığı çevre; etki uzaklaştıkça azalır (s. 219). 3) Kroki, yön, eğim, hava durumu, yerleşme dokusu, risk, bölge gibi bir kavram ve nerede kullanıldığı (doğru-yanlış aranmaz).</a:t>
            </a:r>
          </a:p>
          <a:p/>
          <a:p>
            <a:r>
              <a:t>KAYNAK: Ders planı 36. hafta ölçme (çıkış kartı) ve 8. aşama.</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Ürünleri zümre dosyasına toplamak; ders yılının kapanış duyuruları.</a:t>
            </a:r>
          </a:p>
          <a:p/>
          <a:p>
            <a:r>
              <a:t>NASIL: Malzeme sorumluları gözlem formlarını, A3 kroki-raporları ve yansıtma kartlarını toplar; kanıtlar sınıf düzeyi sorumlusuna teslim edilir, yıl sonu zümre toplantısında değerlendirilir. Ev çalışması yoktur. 37. hafta (21-25 Haziran 2027) sosyal etkinlik haftasıdır; 25 Haziran ders yılının son günüdür. Yaz önerisi gönüllüdür ve veliye mali yük getirmez. Teşekkür ederek kapatın.</a:t>
            </a:r>
          </a:p>
          <a:p/>
          <a:p>
            <a:r>
              <a:t>KAYNAK: Ders planı 36. hafta 8. aşama, ev çalışması ve notlar; zümre madde 6 esasları (kanıtlar zümre dosyasında).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A4C93"/>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36.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36</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150" b="1" i="0">
                <a:solidFill>
                  <a:srgbClr val="FFFFFF"/>
                </a:solidFill>
                <a:latin typeface="Calibri"/>
              </a:rPr>
              <a:t>Okul Temelli Planlama: Okulumuzun Çevresini Okuyoruz</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14-18 Haziran 2027 · 2 ders saati · ders yılının son ders haftası</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OKUL TEMELLİ PLANLAMA · ZÜMRE KARARI</a:t>
            </a:r>
          </a:p>
        </p:txBody>
      </p:sp>
      <p:sp>
        <p:nvSpPr>
          <p:cNvPr id="10" name="TextBox 9"/>
          <p:cNvSpPr txBox="1"/>
          <p:nvPr/>
        </p:nvSpPr>
        <p:spPr>
          <a:xfrm>
            <a:off x="3063240" y="2532888"/>
            <a:ext cx="8412480" cy="868680"/>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Okul çevresinde gözlem yürüyüşü, gözlem raporu ve kroki · yıl sonu yansıtması</a:t>
            </a:r>
          </a:p>
        </p:txBody>
      </p:sp>
      <p:sp>
        <p:nvSpPr>
          <p:cNvPr id="11" name="TextBox 10"/>
          <p:cNvSpPr txBox="1"/>
          <p:nvPr/>
        </p:nvSpPr>
        <p:spPr>
          <a:xfrm>
            <a:off x="3063240" y="344728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Uygulama esasları</a:t>
            </a:r>
          </a:p>
        </p:txBody>
      </p:sp>
      <p:sp>
        <p:nvSpPr>
          <p:cNvPr id="12" name="TextBox 11"/>
          <p:cNvSpPr txBox="1"/>
          <p:nvPr/>
        </p:nvSpPr>
        <p:spPr>
          <a:xfrm>
            <a:off x="3063240" y="3813048"/>
            <a:ext cx="8412480" cy="2112264"/>
          </a:xfrm>
          <a:prstGeom prst="rect">
            <a:avLst/>
          </a:prstGeom>
          <a:noFill/>
        </p:spPr>
        <p:txBody>
          <a:bodyPr wrap="square" anchor="t" lIns="73152" rIns="73152" tIns="36576" bIns="36576">
            <a:noAutofit/>
          </a:bodyPr>
          <a:lstStyle/>
          <a:p>
            <a:pPr algn="l" marL="248620" indent="-248620">
              <a:spcBef>
                <a:spcPts val="0"/>
              </a:spcBef>
              <a:spcAft>
                <a:spcPts val="500"/>
              </a:spcAft>
            </a:pPr>
            <a:r>
              <a:rPr lang="tr-TR" sz="2000" b="1" i="0">
                <a:solidFill>
                  <a:srgbClr val="FCC021"/>
                </a:solidFill>
                <a:latin typeface="Calibri"/>
              </a:rPr>
              <a:t>•  </a:t>
            </a:r>
            <a:r>
              <a:rPr lang="tr-TR" sz="2000" b="0" i="0">
                <a:solidFill>
                  <a:srgbClr val="FFFFFF"/>
                </a:solidFill>
                <a:latin typeface="Calibri"/>
              </a:rPr>
              <a:t>Not amaçlı sınav yapılmaz.</a:t>
            </a:r>
          </a:p>
          <a:p>
            <a:pPr algn="l" marL="248620" indent="-248620">
              <a:spcBef>
                <a:spcPts val="0"/>
              </a:spcBef>
              <a:spcAft>
                <a:spcPts val="500"/>
              </a:spcAft>
            </a:pPr>
            <a:r>
              <a:rPr lang="tr-TR" sz="2000" b="1" i="0">
                <a:solidFill>
                  <a:srgbClr val="FCC021"/>
                </a:solidFill>
                <a:latin typeface="Calibri"/>
              </a:rPr>
              <a:t>•  </a:t>
            </a:r>
            <a:r>
              <a:rPr lang="tr-TR" sz="2000" b="0" i="0">
                <a:solidFill>
                  <a:srgbClr val="FFFFFF"/>
                </a:solidFill>
                <a:latin typeface="Calibri"/>
              </a:rPr>
              <a:t>Gözlem formu, kroki ve rapor zümre dosyasına girer; 2. dönem performans çalışmasında değerlendirilebilir.</a:t>
            </a:r>
          </a:p>
          <a:p>
            <a:pPr algn="l" marL="248620" indent="-248620">
              <a:spcBef>
                <a:spcPts val="0"/>
              </a:spcBef>
              <a:spcAft>
                <a:spcPts val="500"/>
              </a:spcAft>
            </a:pPr>
            <a:r>
              <a:rPr lang="tr-TR" sz="2000" b="1" i="0">
                <a:solidFill>
                  <a:srgbClr val="FCC021"/>
                </a:solidFill>
                <a:latin typeface="Calibri"/>
              </a:rPr>
              <a:t>•  </a:t>
            </a:r>
            <a:r>
              <a:rPr lang="tr-TR" sz="2000" b="0" i="0">
                <a:solidFill>
                  <a:srgbClr val="FFFFFF"/>
                </a:solidFill>
                <a:latin typeface="Calibri"/>
              </a:rPr>
              <a:t>Okul dışına çıkılırsa izinler alınmıştır; görevli öğretmenler eşlik eder.</a:t>
            </a:r>
          </a:p>
          <a:p>
            <a:pPr algn="l" marL="248620" indent="-248620">
              <a:spcBef>
                <a:spcPts val="0"/>
              </a:spcBef>
              <a:spcAft>
                <a:spcPts val="0"/>
              </a:spcAft>
            </a:pPr>
            <a:r>
              <a:rPr lang="tr-TR" sz="2000" b="1" i="0">
                <a:solidFill>
                  <a:srgbClr val="FCC021"/>
                </a:solidFill>
                <a:latin typeface="Calibri"/>
              </a:rPr>
              <a:t>•  </a:t>
            </a:r>
            <a:r>
              <a:rPr lang="tr-TR" sz="2000" b="0" i="0">
                <a:solidFill>
                  <a:srgbClr val="FFFFFF"/>
                </a:solidFill>
                <a:latin typeface="Calibri"/>
              </a:rPr>
              <a:t>Telefon yok; kişi, ev ve araç plakası kaydedilmez.</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7. Ünite: Bölgeler, Ülkeler ve Küresel Bağlantılar</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117 / 187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36. HAFTA</a:t>
            </a:r>
          </a:p>
        </p:txBody>
      </p:sp>
      <p:cxnSp>
        <p:nvCxnSpPr>
          <p:cNvPr id="6" name="Connector 5"/>
          <p:cNvCxnSpPr/>
          <p:nvPr/>
        </p:nvCxnSpPr>
        <p:spPr>
          <a:xfrm>
            <a:off x="1541038" y="2212848"/>
            <a:ext cx="9109616" cy="0"/>
          </a:xfrm>
          <a:prstGeom prst="line">
            <a:avLst/>
          </a:prstGeom>
          <a:ln w="50800">
            <a:solidFill>
              <a:srgbClr val="D9D9D9"/>
            </a:solidFill>
          </a:ln>
        </p:spPr>
      </p:cxnSp>
      <p:sp>
        <p:nvSpPr>
          <p:cNvPr id="7" name="Oval 6"/>
          <p:cNvSpPr/>
          <p:nvPr/>
        </p:nvSpPr>
        <p:spPr>
          <a:xfrm>
            <a:off x="1156990" y="1828800"/>
            <a:ext cx="768096" cy="768096"/>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Hazırlan</a:t>
            </a:r>
          </a:p>
        </p:txBody>
      </p:sp>
      <p:sp>
        <p:nvSpPr>
          <p:cNvPr id="9" name="TextBox 8"/>
          <p:cNvSpPr txBox="1"/>
          <p:nvPr/>
        </p:nvSpPr>
        <p:spPr>
          <a:xfrm>
            <a:off x="502920"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Gözlem formu, roller, güvenlik</a:t>
            </a:r>
          </a:p>
        </p:txBody>
      </p:sp>
      <p:sp>
        <p:nvSpPr>
          <p:cNvPr id="10" name="Oval 9"/>
          <p:cNvSpPr/>
          <p:nvPr/>
        </p:nvSpPr>
        <p:spPr>
          <a:xfrm>
            <a:off x="3434394"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780324"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Gözle</a:t>
            </a:r>
          </a:p>
        </p:txBody>
      </p:sp>
      <p:sp>
        <p:nvSpPr>
          <p:cNvPr id="12" name="TextBox 11"/>
          <p:cNvSpPr txBox="1"/>
          <p:nvPr/>
        </p:nvSpPr>
        <p:spPr>
          <a:xfrm>
            <a:off x="2780324"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Dört durak · 30 dakika</a:t>
            </a:r>
          </a:p>
        </p:txBody>
      </p:sp>
      <p:sp>
        <p:nvSpPr>
          <p:cNvPr id="13" name="Oval 12"/>
          <p:cNvSpPr/>
          <p:nvPr/>
        </p:nvSpPr>
        <p:spPr>
          <a:xfrm>
            <a:off x="5711798" y="1828800"/>
            <a:ext cx="768096" cy="768096"/>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5057728"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Krokile ve raporla</a:t>
            </a:r>
          </a:p>
        </p:txBody>
      </p:sp>
      <p:sp>
        <p:nvSpPr>
          <p:cNvPr id="15" name="TextBox 14"/>
          <p:cNvSpPr txBox="1"/>
          <p:nvPr/>
        </p:nvSpPr>
        <p:spPr>
          <a:xfrm>
            <a:off x="5057728"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A3 kâğıdında, grupça</a:t>
            </a:r>
          </a:p>
        </p:txBody>
      </p:sp>
      <p:sp>
        <p:nvSpPr>
          <p:cNvPr id="16" name="Oval 15"/>
          <p:cNvSpPr/>
          <p:nvPr/>
        </p:nvSpPr>
        <p:spPr>
          <a:xfrm>
            <a:off x="7989202"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7335132"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Paylaş</a:t>
            </a:r>
          </a:p>
        </p:txBody>
      </p:sp>
      <p:sp>
        <p:nvSpPr>
          <p:cNvPr id="18" name="TextBox 17"/>
          <p:cNvSpPr txBox="1"/>
          <p:nvPr/>
        </p:nvSpPr>
        <p:spPr>
          <a:xfrm>
            <a:off x="7335132"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Krokiler panoda</a:t>
            </a:r>
          </a:p>
        </p:txBody>
      </p:sp>
      <p:sp>
        <p:nvSpPr>
          <p:cNvPr id="19" name="Oval 18"/>
          <p:cNvSpPr/>
          <p:nvPr/>
        </p:nvSpPr>
        <p:spPr>
          <a:xfrm>
            <a:off x="10266606" y="1828800"/>
            <a:ext cx="768096" cy="768096"/>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9612536"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Yansıt</a:t>
            </a:r>
          </a:p>
        </p:txBody>
      </p:sp>
      <p:sp>
        <p:nvSpPr>
          <p:cNvPr id="21" name="TextBox 20"/>
          <p:cNvSpPr txBox="1"/>
          <p:nvPr/>
        </p:nvSpPr>
        <p:spPr>
          <a:xfrm>
            <a:off x="9612536"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Bu yıl coğrafyada ne öğrendim?</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118 / 187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bir saha çalışması yapıyoruz</a:t>
            </a:r>
          </a:p>
        </p:txBody>
      </p:sp>
      <p:sp>
        <p:nvSpPr>
          <p:cNvPr id="5" name="Rounded Rectangle 4"/>
          <p:cNvSpPr/>
          <p:nvPr/>
        </p:nvSpPr>
        <p:spPr>
          <a:xfrm>
            <a:off x="9555480" y="201168"/>
            <a:ext cx="2221992" cy="475488"/>
          </a:xfrm>
          <a:prstGeom prst="roundRect">
            <a:avLst>
              <a:gd name="adj" fmla="val 50000"/>
            </a:avLst>
          </a:prstGeom>
          <a:solidFill>
            <a:srgbClr val="6A4C93"/>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SAHA ÇALIŞMASI</a:t>
            </a:r>
          </a:p>
        </p:txBody>
      </p:sp>
      <p:sp>
        <p:nvSpPr>
          <p:cNvPr id="6" name="Rounded Rectangle 5"/>
          <p:cNvSpPr/>
          <p:nvPr/>
        </p:nvSpPr>
        <p:spPr>
          <a:xfrm>
            <a:off x="502920" y="1216152"/>
            <a:ext cx="3606698" cy="1719072"/>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3606698" cy="530352"/>
          </a:xfrm>
          <a:prstGeom prst="roundRect">
            <a:avLst>
              <a:gd name="adj" fmla="val 25000"/>
            </a:avLst>
          </a:prstGeom>
          <a:solidFill>
            <a:srgbClr val="6A4C93"/>
          </a:solidFill>
          <a:ln>
            <a:noFill/>
          </a:ln>
          <a:effectLst/>
        </p:spPr>
        <p:txBody>
          <a:bodyPr rtlCol="0" anchor="ctr"/>
          <a:lstStyle/>
          <a:p/>
        </p:txBody>
      </p:sp>
      <p:sp>
        <p:nvSpPr>
          <p:cNvPr id="8" name="Rectangle 7"/>
          <p:cNvSpPr/>
          <p:nvPr/>
        </p:nvSpPr>
        <p:spPr>
          <a:xfrm>
            <a:off x="502920" y="1481328"/>
            <a:ext cx="3606698" cy="265176"/>
          </a:xfrm>
          <a:prstGeom prst="rect">
            <a:avLst/>
          </a:prstGeom>
          <a:solidFill>
            <a:srgbClr val="6A4C93"/>
          </a:solidFill>
          <a:ln>
            <a:noFill/>
          </a:ln>
          <a:effectLst/>
        </p:spPr>
        <p:txBody>
          <a:bodyPr rtlCol="0" anchor="ctr"/>
          <a:lstStyle/>
          <a:p/>
        </p:txBody>
      </p:sp>
      <p:sp>
        <p:nvSpPr>
          <p:cNvPr id="9" name="TextBox 8"/>
          <p:cNvSpPr txBox="1"/>
          <p:nvPr/>
        </p:nvSpPr>
        <p:spPr>
          <a:xfrm>
            <a:off x="594360" y="121615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1. Ön Hazırlık ve Planlama</a:t>
            </a:r>
          </a:p>
        </p:txBody>
      </p:sp>
      <p:sp>
        <p:nvSpPr>
          <p:cNvPr id="10" name="TextBox 9"/>
          <p:cNvSpPr txBox="1"/>
          <p:nvPr/>
        </p:nvSpPr>
        <p:spPr>
          <a:xfrm>
            <a:off x="612648" y="1819656"/>
            <a:ext cx="3387242" cy="1042416"/>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Risklerin analiz edilerek güvenlik önlemlerinin alınması</a:t>
            </a:r>
          </a:p>
        </p:txBody>
      </p:sp>
      <p:sp>
        <p:nvSpPr>
          <p:cNvPr id="11" name="Rounded Rectangle 10"/>
          <p:cNvSpPr/>
          <p:nvPr/>
        </p:nvSpPr>
        <p:spPr>
          <a:xfrm>
            <a:off x="502920" y="2980945"/>
            <a:ext cx="3606698" cy="521207"/>
          </a:xfrm>
          <a:prstGeom prst="roundRect">
            <a:avLst>
              <a:gd name="adj" fmla="val 8000"/>
            </a:avLst>
          </a:prstGeom>
          <a:solidFill>
            <a:srgbClr val="FFF3D1"/>
          </a:solidFill>
          <a:ln>
            <a:noFill/>
          </a:ln>
          <a:effectLst/>
        </p:spPr>
        <p:txBody>
          <a:bodyPr rtlCol="0" anchor="ctr" wrap="square" lIns="73152" rIns="73152" tIns="73152" bIns="73152">
            <a:noAutofit/>
          </a:bodyPr>
          <a:lstStyle/>
          <a:p>
            <a:pPr algn="ctr">
              <a:spcBef>
                <a:spcPts val="0"/>
              </a:spcBef>
              <a:spcAft>
                <a:spcPts val="0"/>
              </a:spcAft>
            </a:pPr>
            <a:r>
              <a:rPr lang="tr-TR" sz="1700" b="1" i="0">
                <a:solidFill>
                  <a:srgbClr val="262626"/>
                </a:solidFill>
                <a:latin typeface="Calibri"/>
              </a:rPr>
              <a:t>Bugün: Güzergâh, kurallar, form</a:t>
            </a:r>
          </a:p>
        </p:txBody>
      </p:sp>
      <p:sp>
        <p:nvSpPr>
          <p:cNvPr id="12" name="Rounded Rectangle 11"/>
          <p:cNvSpPr/>
          <p:nvPr/>
        </p:nvSpPr>
        <p:spPr>
          <a:xfrm>
            <a:off x="4292498" y="1216152"/>
            <a:ext cx="3606698" cy="1719072"/>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292498" y="1216152"/>
            <a:ext cx="3606698" cy="530352"/>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4292498" y="1481328"/>
            <a:ext cx="3606698" cy="265176"/>
          </a:xfrm>
          <a:prstGeom prst="rect">
            <a:avLst/>
          </a:prstGeom>
          <a:solidFill>
            <a:srgbClr val="4F4F4F"/>
          </a:solidFill>
          <a:ln>
            <a:noFill/>
          </a:ln>
          <a:effectLst/>
        </p:spPr>
        <p:txBody>
          <a:bodyPr rtlCol="0" anchor="ctr"/>
          <a:lstStyle/>
          <a:p/>
        </p:txBody>
      </p:sp>
      <p:sp>
        <p:nvSpPr>
          <p:cNvPr id="15" name="TextBox 14"/>
          <p:cNvSpPr txBox="1"/>
          <p:nvPr/>
        </p:nvSpPr>
        <p:spPr>
          <a:xfrm>
            <a:off x="4383938" y="121615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2. Sahada Çalışma</a:t>
            </a:r>
          </a:p>
        </p:txBody>
      </p:sp>
      <p:sp>
        <p:nvSpPr>
          <p:cNvPr id="16" name="TextBox 15"/>
          <p:cNvSpPr txBox="1"/>
          <p:nvPr/>
        </p:nvSpPr>
        <p:spPr>
          <a:xfrm>
            <a:off x="4402226" y="1819656"/>
            <a:ext cx="3387242" cy="1042416"/>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Gözlem veya ölçme sonuçlarının kaydedilmesi</a:t>
            </a:r>
          </a:p>
        </p:txBody>
      </p:sp>
      <p:sp>
        <p:nvSpPr>
          <p:cNvPr id="17" name="Rounded Rectangle 16"/>
          <p:cNvSpPr/>
          <p:nvPr/>
        </p:nvSpPr>
        <p:spPr>
          <a:xfrm>
            <a:off x="4292498" y="2980945"/>
            <a:ext cx="3606698" cy="521207"/>
          </a:xfrm>
          <a:prstGeom prst="roundRect">
            <a:avLst>
              <a:gd name="adj" fmla="val 8000"/>
            </a:avLst>
          </a:prstGeom>
          <a:solidFill>
            <a:srgbClr val="FFF3D1"/>
          </a:solidFill>
          <a:ln>
            <a:noFill/>
          </a:ln>
          <a:effectLst/>
        </p:spPr>
        <p:txBody>
          <a:bodyPr rtlCol="0" anchor="ctr" wrap="square" lIns="73152" rIns="73152" tIns="73152" bIns="73152">
            <a:noAutofit/>
          </a:bodyPr>
          <a:lstStyle/>
          <a:p>
            <a:pPr algn="ctr">
              <a:spcBef>
                <a:spcPts val="0"/>
              </a:spcBef>
              <a:spcAft>
                <a:spcPts val="0"/>
              </a:spcAft>
            </a:pPr>
            <a:r>
              <a:rPr lang="tr-TR" sz="1700" b="1" i="0">
                <a:solidFill>
                  <a:srgbClr val="262626"/>
                </a:solidFill>
                <a:latin typeface="Calibri"/>
              </a:rPr>
              <a:t>Bugün: Dört durakta gözlem formu</a:t>
            </a:r>
          </a:p>
        </p:txBody>
      </p:sp>
      <p:sp>
        <p:nvSpPr>
          <p:cNvPr id="18" name="Rounded Rectangle 17"/>
          <p:cNvSpPr/>
          <p:nvPr/>
        </p:nvSpPr>
        <p:spPr>
          <a:xfrm>
            <a:off x="8082076" y="1216152"/>
            <a:ext cx="3606698" cy="1719072"/>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82076" y="1216152"/>
            <a:ext cx="3606698" cy="530352"/>
          </a:xfrm>
          <a:prstGeom prst="roundRect">
            <a:avLst>
              <a:gd name="adj" fmla="val 25000"/>
            </a:avLst>
          </a:prstGeom>
          <a:solidFill>
            <a:srgbClr val="6A4C93"/>
          </a:solidFill>
          <a:ln>
            <a:noFill/>
          </a:ln>
          <a:effectLst/>
        </p:spPr>
        <p:txBody>
          <a:bodyPr rtlCol="0" anchor="ctr"/>
          <a:lstStyle/>
          <a:p/>
        </p:txBody>
      </p:sp>
      <p:sp>
        <p:nvSpPr>
          <p:cNvPr id="20" name="Rectangle 19"/>
          <p:cNvSpPr/>
          <p:nvPr/>
        </p:nvSpPr>
        <p:spPr>
          <a:xfrm>
            <a:off x="8082076" y="1481328"/>
            <a:ext cx="3606698" cy="265176"/>
          </a:xfrm>
          <a:prstGeom prst="rect">
            <a:avLst/>
          </a:prstGeom>
          <a:solidFill>
            <a:srgbClr val="6A4C93"/>
          </a:solidFill>
          <a:ln>
            <a:noFill/>
          </a:ln>
          <a:effectLst/>
        </p:spPr>
        <p:txBody>
          <a:bodyPr rtlCol="0" anchor="ctr"/>
          <a:lstStyle/>
          <a:p/>
        </p:txBody>
      </p:sp>
      <p:sp>
        <p:nvSpPr>
          <p:cNvPr id="21" name="TextBox 20"/>
          <p:cNvSpPr txBox="1"/>
          <p:nvPr/>
        </p:nvSpPr>
        <p:spPr>
          <a:xfrm>
            <a:off x="8173516" y="121615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3. Toplanan Bilgileri Düzenleme</a:t>
            </a:r>
          </a:p>
        </p:txBody>
      </p:sp>
      <p:sp>
        <p:nvSpPr>
          <p:cNvPr id="22" name="TextBox 21"/>
          <p:cNvSpPr txBox="1"/>
          <p:nvPr/>
        </p:nvSpPr>
        <p:spPr>
          <a:xfrm>
            <a:off x="8191804" y="1819656"/>
            <a:ext cx="3387242" cy="1042416"/>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Verilerin sınıflandırılması</a:t>
            </a:r>
          </a:p>
        </p:txBody>
      </p:sp>
      <p:sp>
        <p:nvSpPr>
          <p:cNvPr id="23" name="Rounded Rectangle 22"/>
          <p:cNvSpPr/>
          <p:nvPr/>
        </p:nvSpPr>
        <p:spPr>
          <a:xfrm>
            <a:off x="8082076" y="2980945"/>
            <a:ext cx="3606698" cy="521207"/>
          </a:xfrm>
          <a:prstGeom prst="roundRect">
            <a:avLst>
              <a:gd name="adj" fmla="val 8000"/>
            </a:avLst>
          </a:prstGeom>
          <a:solidFill>
            <a:srgbClr val="FFF3D1"/>
          </a:solidFill>
          <a:ln>
            <a:noFill/>
          </a:ln>
          <a:effectLst/>
        </p:spPr>
        <p:txBody>
          <a:bodyPr rtlCol="0" anchor="ctr" wrap="square" lIns="73152" rIns="73152" tIns="73152" bIns="73152">
            <a:noAutofit/>
          </a:bodyPr>
          <a:lstStyle/>
          <a:p>
            <a:pPr algn="ctr">
              <a:spcBef>
                <a:spcPts val="0"/>
              </a:spcBef>
              <a:spcAft>
                <a:spcPts val="0"/>
              </a:spcAft>
            </a:pPr>
            <a:r>
              <a:rPr lang="tr-TR" sz="1700" b="1" i="0">
                <a:solidFill>
                  <a:srgbClr val="262626"/>
                </a:solidFill>
                <a:latin typeface="Calibri"/>
              </a:rPr>
              <a:t>Bugün: Beş başlıkta topla</a:t>
            </a:r>
          </a:p>
        </p:txBody>
      </p:sp>
      <p:sp>
        <p:nvSpPr>
          <p:cNvPr id="24" name="Rounded Rectangle 23"/>
          <p:cNvSpPr/>
          <p:nvPr/>
        </p:nvSpPr>
        <p:spPr>
          <a:xfrm>
            <a:off x="502920" y="3685032"/>
            <a:ext cx="3606698" cy="1719072"/>
          </a:xfrm>
          <a:prstGeom prst="roundRect">
            <a:avLst>
              <a:gd name="adj" fmla="val 5000"/>
            </a:avLst>
          </a:prstGeom>
          <a:solidFill>
            <a:srgbClr val="F0F0F0"/>
          </a:solidFill>
          <a:ln>
            <a:noFill/>
          </a:ln>
          <a:effectLst/>
        </p:spPr>
        <p:txBody>
          <a:bodyPr rtlCol="0" anchor="ctr"/>
          <a:lstStyle/>
          <a:p/>
        </p:txBody>
      </p:sp>
      <p:sp>
        <p:nvSpPr>
          <p:cNvPr id="25" name="Rounded Rectangle 24"/>
          <p:cNvSpPr/>
          <p:nvPr/>
        </p:nvSpPr>
        <p:spPr>
          <a:xfrm>
            <a:off x="502920" y="3685032"/>
            <a:ext cx="3606698" cy="530352"/>
          </a:xfrm>
          <a:prstGeom prst="roundRect">
            <a:avLst>
              <a:gd name="adj" fmla="val 25000"/>
            </a:avLst>
          </a:prstGeom>
          <a:solidFill>
            <a:srgbClr val="4F4F4F"/>
          </a:solidFill>
          <a:ln>
            <a:noFill/>
          </a:ln>
          <a:effectLst/>
        </p:spPr>
        <p:txBody>
          <a:bodyPr rtlCol="0" anchor="ctr"/>
          <a:lstStyle/>
          <a:p/>
        </p:txBody>
      </p:sp>
      <p:sp>
        <p:nvSpPr>
          <p:cNvPr id="26" name="Rectangle 25"/>
          <p:cNvSpPr/>
          <p:nvPr/>
        </p:nvSpPr>
        <p:spPr>
          <a:xfrm>
            <a:off x="502920" y="3950208"/>
            <a:ext cx="3606698" cy="265176"/>
          </a:xfrm>
          <a:prstGeom prst="rect">
            <a:avLst/>
          </a:prstGeom>
          <a:solidFill>
            <a:srgbClr val="4F4F4F"/>
          </a:solidFill>
          <a:ln>
            <a:noFill/>
          </a:ln>
          <a:effectLst/>
        </p:spPr>
        <p:txBody>
          <a:bodyPr rtlCol="0" anchor="ctr"/>
          <a:lstStyle/>
          <a:p/>
        </p:txBody>
      </p:sp>
      <p:sp>
        <p:nvSpPr>
          <p:cNvPr id="27" name="TextBox 26"/>
          <p:cNvSpPr txBox="1"/>
          <p:nvPr/>
        </p:nvSpPr>
        <p:spPr>
          <a:xfrm>
            <a:off x="594360" y="368503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4. Bilgileri Çözümleme</a:t>
            </a:r>
          </a:p>
        </p:txBody>
      </p:sp>
      <p:sp>
        <p:nvSpPr>
          <p:cNvPr id="28" name="TextBox 27"/>
          <p:cNvSpPr txBox="1"/>
          <p:nvPr/>
        </p:nvSpPr>
        <p:spPr>
          <a:xfrm>
            <a:off x="612648" y="4288536"/>
            <a:ext cx="3387242" cy="1042416"/>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Arazide üretilen haritaların ve elde edilen görsellerin çözümlenmesi</a:t>
            </a:r>
          </a:p>
        </p:txBody>
      </p:sp>
      <p:sp>
        <p:nvSpPr>
          <p:cNvPr id="29" name="Rounded Rectangle 28"/>
          <p:cNvSpPr/>
          <p:nvPr/>
        </p:nvSpPr>
        <p:spPr>
          <a:xfrm>
            <a:off x="502920" y="5449825"/>
            <a:ext cx="3606698" cy="521207"/>
          </a:xfrm>
          <a:prstGeom prst="roundRect">
            <a:avLst>
              <a:gd name="adj" fmla="val 8000"/>
            </a:avLst>
          </a:prstGeom>
          <a:solidFill>
            <a:srgbClr val="FFF3D1"/>
          </a:solidFill>
          <a:ln>
            <a:noFill/>
          </a:ln>
          <a:effectLst/>
        </p:spPr>
        <p:txBody>
          <a:bodyPr rtlCol="0" anchor="ctr" wrap="square" lIns="73152" rIns="73152" tIns="73152" bIns="73152">
            <a:noAutofit/>
          </a:bodyPr>
          <a:lstStyle/>
          <a:p>
            <a:pPr algn="ctr">
              <a:spcBef>
                <a:spcPts val="0"/>
              </a:spcBef>
              <a:spcAft>
                <a:spcPts val="0"/>
              </a:spcAft>
            </a:pPr>
            <a:r>
              <a:rPr lang="tr-TR" sz="1700" b="1" i="0">
                <a:solidFill>
                  <a:srgbClr val="262626"/>
                </a:solidFill>
                <a:latin typeface="Calibri"/>
              </a:rPr>
              <a:t>Bugün: Krokiyi kavramlarla oku</a:t>
            </a:r>
          </a:p>
        </p:txBody>
      </p:sp>
      <p:sp>
        <p:nvSpPr>
          <p:cNvPr id="30" name="Rounded Rectangle 29"/>
          <p:cNvSpPr/>
          <p:nvPr/>
        </p:nvSpPr>
        <p:spPr>
          <a:xfrm>
            <a:off x="4292498" y="3685032"/>
            <a:ext cx="3606698" cy="1719072"/>
          </a:xfrm>
          <a:prstGeom prst="roundRect">
            <a:avLst>
              <a:gd name="adj" fmla="val 5000"/>
            </a:avLst>
          </a:prstGeom>
          <a:solidFill>
            <a:srgbClr val="F0F0F0"/>
          </a:solidFill>
          <a:ln>
            <a:noFill/>
          </a:ln>
          <a:effectLst/>
        </p:spPr>
        <p:txBody>
          <a:bodyPr rtlCol="0" anchor="ctr"/>
          <a:lstStyle/>
          <a:p/>
        </p:txBody>
      </p:sp>
      <p:sp>
        <p:nvSpPr>
          <p:cNvPr id="31" name="Rounded Rectangle 30"/>
          <p:cNvSpPr/>
          <p:nvPr/>
        </p:nvSpPr>
        <p:spPr>
          <a:xfrm>
            <a:off x="4292498" y="3685032"/>
            <a:ext cx="3606698" cy="530352"/>
          </a:xfrm>
          <a:prstGeom prst="roundRect">
            <a:avLst>
              <a:gd name="adj" fmla="val 25000"/>
            </a:avLst>
          </a:prstGeom>
          <a:solidFill>
            <a:srgbClr val="6A4C93"/>
          </a:solidFill>
          <a:ln>
            <a:noFill/>
          </a:ln>
          <a:effectLst/>
        </p:spPr>
        <p:txBody>
          <a:bodyPr rtlCol="0" anchor="ctr"/>
          <a:lstStyle/>
          <a:p/>
        </p:txBody>
      </p:sp>
      <p:sp>
        <p:nvSpPr>
          <p:cNvPr id="32" name="Rectangle 31"/>
          <p:cNvSpPr/>
          <p:nvPr/>
        </p:nvSpPr>
        <p:spPr>
          <a:xfrm>
            <a:off x="4292498" y="3950208"/>
            <a:ext cx="3606698" cy="265176"/>
          </a:xfrm>
          <a:prstGeom prst="rect">
            <a:avLst/>
          </a:prstGeom>
          <a:solidFill>
            <a:srgbClr val="6A4C93"/>
          </a:solidFill>
          <a:ln>
            <a:noFill/>
          </a:ln>
          <a:effectLst/>
        </p:spPr>
        <p:txBody>
          <a:bodyPr rtlCol="0" anchor="ctr"/>
          <a:lstStyle/>
          <a:p/>
        </p:txBody>
      </p:sp>
      <p:sp>
        <p:nvSpPr>
          <p:cNvPr id="33" name="TextBox 32"/>
          <p:cNvSpPr txBox="1"/>
          <p:nvPr/>
        </p:nvSpPr>
        <p:spPr>
          <a:xfrm>
            <a:off x="4383938" y="368503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5. Tahminde Bulunma</a:t>
            </a:r>
          </a:p>
        </p:txBody>
      </p:sp>
      <p:sp>
        <p:nvSpPr>
          <p:cNvPr id="34" name="TextBox 33"/>
          <p:cNvSpPr txBox="1"/>
          <p:nvPr/>
        </p:nvSpPr>
        <p:spPr>
          <a:xfrm>
            <a:off x="4402226" y="4288536"/>
            <a:ext cx="3387242" cy="1042416"/>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Çizilen haritadan çıkarım yapılması</a:t>
            </a:r>
          </a:p>
        </p:txBody>
      </p:sp>
      <p:sp>
        <p:nvSpPr>
          <p:cNvPr id="35" name="Rounded Rectangle 34"/>
          <p:cNvSpPr/>
          <p:nvPr/>
        </p:nvSpPr>
        <p:spPr>
          <a:xfrm>
            <a:off x="4292498" y="5449825"/>
            <a:ext cx="3606698" cy="521207"/>
          </a:xfrm>
          <a:prstGeom prst="roundRect">
            <a:avLst>
              <a:gd name="adj" fmla="val 8000"/>
            </a:avLst>
          </a:prstGeom>
          <a:solidFill>
            <a:srgbClr val="FFF3D1"/>
          </a:solidFill>
          <a:ln>
            <a:noFill/>
          </a:ln>
          <a:effectLst/>
        </p:spPr>
        <p:txBody>
          <a:bodyPr rtlCol="0" anchor="ctr" wrap="square" lIns="73152" rIns="73152" tIns="73152" bIns="73152">
            <a:noAutofit/>
          </a:bodyPr>
          <a:lstStyle/>
          <a:p>
            <a:pPr algn="ctr">
              <a:spcBef>
                <a:spcPts val="0"/>
              </a:spcBef>
              <a:spcAft>
                <a:spcPts val="0"/>
              </a:spcAft>
            </a:pPr>
            <a:r>
              <a:rPr lang="tr-TR" sz="1700" b="1" i="0">
                <a:solidFill>
                  <a:srgbClr val="262626"/>
                </a:solidFill>
                <a:latin typeface="Calibri"/>
              </a:rPr>
              <a:t>Bugün: Okulumuzun etki alanı</a:t>
            </a:r>
          </a:p>
        </p:txBody>
      </p:sp>
      <p:sp>
        <p:nvSpPr>
          <p:cNvPr id="36" name="Rounded Rectangle 35"/>
          <p:cNvSpPr/>
          <p:nvPr/>
        </p:nvSpPr>
        <p:spPr>
          <a:xfrm>
            <a:off x="8082076" y="3685032"/>
            <a:ext cx="3606698" cy="1719072"/>
          </a:xfrm>
          <a:prstGeom prst="roundRect">
            <a:avLst>
              <a:gd name="adj" fmla="val 5000"/>
            </a:avLst>
          </a:prstGeom>
          <a:solidFill>
            <a:srgbClr val="F0F0F0"/>
          </a:solidFill>
          <a:ln>
            <a:noFill/>
          </a:ln>
          <a:effectLst/>
        </p:spPr>
        <p:txBody>
          <a:bodyPr rtlCol="0" anchor="ctr"/>
          <a:lstStyle/>
          <a:p/>
        </p:txBody>
      </p:sp>
      <p:sp>
        <p:nvSpPr>
          <p:cNvPr id="37" name="Rounded Rectangle 36"/>
          <p:cNvSpPr/>
          <p:nvPr/>
        </p:nvSpPr>
        <p:spPr>
          <a:xfrm>
            <a:off x="8082076" y="3685032"/>
            <a:ext cx="3606698" cy="530352"/>
          </a:xfrm>
          <a:prstGeom prst="roundRect">
            <a:avLst>
              <a:gd name="adj" fmla="val 25000"/>
            </a:avLst>
          </a:prstGeom>
          <a:solidFill>
            <a:srgbClr val="4F4F4F"/>
          </a:solidFill>
          <a:ln>
            <a:noFill/>
          </a:ln>
          <a:effectLst/>
        </p:spPr>
        <p:txBody>
          <a:bodyPr rtlCol="0" anchor="ctr"/>
          <a:lstStyle/>
          <a:p/>
        </p:txBody>
      </p:sp>
      <p:sp>
        <p:nvSpPr>
          <p:cNvPr id="38" name="Rectangle 37"/>
          <p:cNvSpPr/>
          <p:nvPr/>
        </p:nvSpPr>
        <p:spPr>
          <a:xfrm>
            <a:off x="8082076" y="3950208"/>
            <a:ext cx="3606698" cy="265176"/>
          </a:xfrm>
          <a:prstGeom prst="rect">
            <a:avLst/>
          </a:prstGeom>
          <a:solidFill>
            <a:srgbClr val="4F4F4F"/>
          </a:solidFill>
          <a:ln>
            <a:noFill/>
          </a:ln>
          <a:effectLst/>
        </p:spPr>
        <p:txBody>
          <a:bodyPr rtlCol="0" anchor="ctr"/>
          <a:lstStyle/>
          <a:p/>
        </p:txBody>
      </p:sp>
      <p:sp>
        <p:nvSpPr>
          <p:cNvPr id="39" name="TextBox 38"/>
          <p:cNvSpPr txBox="1"/>
          <p:nvPr/>
        </p:nvSpPr>
        <p:spPr>
          <a:xfrm>
            <a:off x="8173516" y="368503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6. Raporlama</a:t>
            </a:r>
          </a:p>
        </p:txBody>
      </p:sp>
      <p:sp>
        <p:nvSpPr>
          <p:cNvPr id="40" name="TextBox 39"/>
          <p:cNvSpPr txBox="1"/>
          <p:nvPr/>
        </p:nvSpPr>
        <p:spPr>
          <a:xfrm>
            <a:off x="8191804" y="4288536"/>
            <a:ext cx="3387242" cy="1042416"/>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Arazi çalışmasının sonuçlarının sunulması</a:t>
            </a:r>
          </a:p>
        </p:txBody>
      </p:sp>
      <p:sp>
        <p:nvSpPr>
          <p:cNvPr id="41" name="Rounded Rectangle 40"/>
          <p:cNvSpPr/>
          <p:nvPr/>
        </p:nvSpPr>
        <p:spPr>
          <a:xfrm>
            <a:off x="8082076" y="5449825"/>
            <a:ext cx="3606698" cy="521207"/>
          </a:xfrm>
          <a:prstGeom prst="roundRect">
            <a:avLst>
              <a:gd name="adj" fmla="val 8000"/>
            </a:avLst>
          </a:prstGeom>
          <a:solidFill>
            <a:srgbClr val="FFF3D1"/>
          </a:solidFill>
          <a:ln>
            <a:noFill/>
          </a:ln>
          <a:effectLst/>
        </p:spPr>
        <p:txBody>
          <a:bodyPr rtlCol="0" anchor="ctr" wrap="square" lIns="73152" rIns="73152" tIns="73152" bIns="73152">
            <a:noAutofit/>
          </a:bodyPr>
          <a:lstStyle/>
          <a:p>
            <a:pPr algn="ctr">
              <a:spcBef>
                <a:spcPts val="0"/>
              </a:spcBef>
              <a:spcAft>
                <a:spcPts val="0"/>
              </a:spcAft>
            </a:pPr>
            <a:r>
              <a:rPr lang="tr-TR" sz="1700" b="1" i="0">
                <a:solidFill>
                  <a:srgbClr val="262626"/>
                </a:solidFill>
                <a:latin typeface="Calibri"/>
              </a:rPr>
              <a:t>Bugün: Rapor ve paylaşım</a:t>
            </a:r>
          </a:p>
        </p:txBody>
      </p:sp>
      <p:sp>
        <p:nvSpPr>
          <p:cNvPr id="42" name="TextBox 41"/>
          <p:cNvSpPr txBox="1"/>
          <p:nvPr/>
        </p:nvSpPr>
        <p:spPr>
          <a:xfrm>
            <a:off x="502920" y="6016752"/>
            <a:ext cx="111858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Kaynak: Ders kitabı 2. ünite, s. 56 (Saha Çalışması)</a:t>
            </a:r>
          </a:p>
        </p:txBody>
      </p:sp>
      <p:sp>
        <p:nvSpPr>
          <p:cNvPr id="43" name="TextBox 4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44" name="TextBox 4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119 / 187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Gözlem formumuz ve grup rollerimiz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ectangle 5"/>
          <p:cNvSpPr/>
          <p:nvPr/>
        </p:nvSpPr>
        <p:spPr>
          <a:xfrm>
            <a:off x="502920" y="1261872"/>
            <a:ext cx="2651760" cy="457200"/>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700" b="1" i="0">
                <a:solidFill>
                  <a:srgbClr val="FFFFFF"/>
                </a:solidFill>
                <a:latin typeface="Calibri"/>
              </a:rPr>
              <a:t>Gözlem başlığı</a:t>
            </a:r>
          </a:p>
        </p:txBody>
      </p:sp>
      <p:sp>
        <p:nvSpPr>
          <p:cNvPr id="7" name="Rectangle 6"/>
          <p:cNvSpPr/>
          <p:nvPr/>
        </p:nvSpPr>
        <p:spPr>
          <a:xfrm>
            <a:off x="3154680" y="1261872"/>
            <a:ext cx="960120" cy="457200"/>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700" b="1" i="0">
                <a:solidFill>
                  <a:srgbClr val="FFFFFF"/>
                </a:solidFill>
                <a:latin typeface="Calibri"/>
              </a:rPr>
              <a:t>D1</a:t>
            </a:r>
          </a:p>
        </p:txBody>
      </p:sp>
      <p:sp>
        <p:nvSpPr>
          <p:cNvPr id="8" name="Rectangle 7"/>
          <p:cNvSpPr/>
          <p:nvPr/>
        </p:nvSpPr>
        <p:spPr>
          <a:xfrm>
            <a:off x="4114800" y="1261872"/>
            <a:ext cx="960120" cy="457200"/>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700" b="1" i="0">
                <a:solidFill>
                  <a:srgbClr val="FFFFFF"/>
                </a:solidFill>
                <a:latin typeface="Calibri"/>
              </a:rPr>
              <a:t>D2</a:t>
            </a:r>
          </a:p>
        </p:txBody>
      </p:sp>
      <p:sp>
        <p:nvSpPr>
          <p:cNvPr id="9" name="Rectangle 8"/>
          <p:cNvSpPr/>
          <p:nvPr/>
        </p:nvSpPr>
        <p:spPr>
          <a:xfrm>
            <a:off x="5074920" y="1261872"/>
            <a:ext cx="960120" cy="457200"/>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700" b="1" i="0">
                <a:solidFill>
                  <a:srgbClr val="FFFFFF"/>
                </a:solidFill>
                <a:latin typeface="Calibri"/>
              </a:rPr>
              <a:t>D3</a:t>
            </a:r>
          </a:p>
        </p:txBody>
      </p:sp>
      <p:sp>
        <p:nvSpPr>
          <p:cNvPr id="10" name="Rectangle 9"/>
          <p:cNvSpPr/>
          <p:nvPr/>
        </p:nvSpPr>
        <p:spPr>
          <a:xfrm>
            <a:off x="6035040" y="1261872"/>
            <a:ext cx="960120" cy="457200"/>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700" b="1" i="0">
                <a:solidFill>
                  <a:srgbClr val="FFFFFF"/>
                </a:solidFill>
                <a:latin typeface="Calibri"/>
              </a:rPr>
              <a:t>D4</a:t>
            </a:r>
          </a:p>
        </p:txBody>
      </p:sp>
      <p:sp>
        <p:nvSpPr>
          <p:cNvPr id="11" name="Rectangle 10"/>
          <p:cNvSpPr/>
          <p:nvPr/>
        </p:nvSpPr>
        <p:spPr>
          <a:xfrm>
            <a:off x="502920" y="1719072"/>
            <a:ext cx="2651760" cy="548640"/>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700" b="1" i="0">
                <a:solidFill>
                  <a:srgbClr val="3E7D3A"/>
                </a:solidFill>
                <a:latin typeface="Calibri"/>
              </a:rPr>
              <a:t>Arazi eğimi</a:t>
            </a:r>
          </a:p>
        </p:txBody>
      </p:sp>
      <p:sp>
        <p:nvSpPr>
          <p:cNvPr id="12" name="Rectangle 11"/>
          <p:cNvSpPr/>
          <p:nvPr/>
        </p:nvSpPr>
        <p:spPr>
          <a:xfrm>
            <a:off x="3154680" y="1719072"/>
            <a:ext cx="960120" cy="548640"/>
          </a:xfrm>
          <a:prstGeom prst="rect">
            <a:avLst/>
          </a:prstGeom>
          <a:solidFill>
            <a:srgbClr val="FFFFFF"/>
          </a:solidFill>
          <a:ln w="9525">
            <a:solidFill>
              <a:srgbClr val="D9D9D9"/>
            </a:solidFill>
          </a:ln>
          <a:effectLst/>
        </p:spPr>
        <p:txBody>
          <a:bodyPr rtlCol="0" anchor="ctr"/>
          <a:lstStyle/>
          <a:p/>
        </p:txBody>
      </p:sp>
      <p:sp>
        <p:nvSpPr>
          <p:cNvPr id="13" name="Rectangle 12"/>
          <p:cNvSpPr/>
          <p:nvPr/>
        </p:nvSpPr>
        <p:spPr>
          <a:xfrm>
            <a:off x="4114800" y="1719072"/>
            <a:ext cx="960120" cy="548640"/>
          </a:xfrm>
          <a:prstGeom prst="rect">
            <a:avLst/>
          </a:prstGeom>
          <a:solidFill>
            <a:srgbClr val="FFFFFF"/>
          </a:solidFill>
          <a:ln w="9525">
            <a:solidFill>
              <a:srgbClr val="D9D9D9"/>
            </a:solidFill>
          </a:ln>
          <a:effectLst/>
        </p:spPr>
        <p:txBody>
          <a:bodyPr rtlCol="0" anchor="ctr"/>
          <a:lstStyle/>
          <a:p/>
        </p:txBody>
      </p:sp>
      <p:sp>
        <p:nvSpPr>
          <p:cNvPr id="14" name="Rectangle 13"/>
          <p:cNvSpPr/>
          <p:nvPr/>
        </p:nvSpPr>
        <p:spPr>
          <a:xfrm>
            <a:off x="5074920" y="1719072"/>
            <a:ext cx="960120" cy="548640"/>
          </a:xfrm>
          <a:prstGeom prst="rect">
            <a:avLst/>
          </a:prstGeom>
          <a:solidFill>
            <a:srgbClr val="FFFFFF"/>
          </a:solidFill>
          <a:ln w="9525">
            <a:solidFill>
              <a:srgbClr val="D9D9D9"/>
            </a:solidFill>
          </a:ln>
          <a:effectLst/>
        </p:spPr>
        <p:txBody>
          <a:bodyPr rtlCol="0" anchor="ctr"/>
          <a:lstStyle/>
          <a:p/>
        </p:txBody>
      </p:sp>
      <p:sp>
        <p:nvSpPr>
          <p:cNvPr id="15" name="Rectangle 14"/>
          <p:cNvSpPr/>
          <p:nvPr/>
        </p:nvSpPr>
        <p:spPr>
          <a:xfrm>
            <a:off x="6035040" y="1719072"/>
            <a:ext cx="960120" cy="548640"/>
          </a:xfrm>
          <a:prstGeom prst="rect">
            <a:avLst/>
          </a:prstGeom>
          <a:solidFill>
            <a:srgbClr val="FFFFFF"/>
          </a:solidFill>
          <a:ln w="9525">
            <a:solidFill>
              <a:srgbClr val="D9D9D9"/>
            </a:solidFill>
          </a:ln>
          <a:effectLst/>
        </p:spPr>
        <p:txBody>
          <a:bodyPr rtlCol="0" anchor="ctr"/>
          <a:lstStyle/>
          <a:p/>
        </p:txBody>
      </p:sp>
      <p:sp>
        <p:nvSpPr>
          <p:cNvPr id="16" name="Rectangle 15"/>
          <p:cNvSpPr/>
          <p:nvPr/>
        </p:nvSpPr>
        <p:spPr>
          <a:xfrm>
            <a:off x="502920" y="2267712"/>
            <a:ext cx="2651760" cy="548640"/>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550" b="1" i="0">
                <a:solidFill>
                  <a:srgbClr val="B05A1E"/>
                </a:solidFill>
                <a:latin typeface="Calibri"/>
              </a:rPr>
              <a:t>Yapılaşma ve yerleşme dokusu</a:t>
            </a:r>
          </a:p>
        </p:txBody>
      </p:sp>
      <p:sp>
        <p:nvSpPr>
          <p:cNvPr id="17" name="Rectangle 16"/>
          <p:cNvSpPr/>
          <p:nvPr/>
        </p:nvSpPr>
        <p:spPr>
          <a:xfrm>
            <a:off x="3154680" y="2267712"/>
            <a:ext cx="960120" cy="548640"/>
          </a:xfrm>
          <a:prstGeom prst="rect">
            <a:avLst/>
          </a:prstGeom>
          <a:solidFill>
            <a:srgbClr val="FFFFFF"/>
          </a:solidFill>
          <a:ln w="9525">
            <a:solidFill>
              <a:srgbClr val="D9D9D9"/>
            </a:solidFill>
          </a:ln>
          <a:effectLst/>
        </p:spPr>
        <p:txBody>
          <a:bodyPr rtlCol="0" anchor="ctr"/>
          <a:lstStyle/>
          <a:p/>
        </p:txBody>
      </p:sp>
      <p:sp>
        <p:nvSpPr>
          <p:cNvPr id="18" name="Rectangle 17"/>
          <p:cNvSpPr/>
          <p:nvPr/>
        </p:nvSpPr>
        <p:spPr>
          <a:xfrm>
            <a:off x="4114800" y="2267712"/>
            <a:ext cx="960120" cy="548640"/>
          </a:xfrm>
          <a:prstGeom prst="rect">
            <a:avLst/>
          </a:prstGeom>
          <a:solidFill>
            <a:srgbClr val="FFFFFF"/>
          </a:solidFill>
          <a:ln w="9525">
            <a:solidFill>
              <a:srgbClr val="D9D9D9"/>
            </a:solidFill>
          </a:ln>
          <a:effectLst/>
        </p:spPr>
        <p:txBody>
          <a:bodyPr rtlCol="0" anchor="ctr"/>
          <a:lstStyle/>
          <a:p/>
        </p:txBody>
      </p:sp>
      <p:sp>
        <p:nvSpPr>
          <p:cNvPr id="19" name="Rectangle 18"/>
          <p:cNvSpPr/>
          <p:nvPr/>
        </p:nvSpPr>
        <p:spPr>
          <a:xfrm>
            <a:off x="5074920" y="2267712"/>
            <a:ext cx="960120" cy="548640"/>
          </a:xfrm>
          <a:prstGeom prst="rect">
            <a:avLst/>
          </a:prstGeom>
          <a:solidFill>
            <a:srgbClr val="FFFFFF"/>
          </a:solidFill>
          <a:ln w="9525">
            <a:solidFill>
              <a:srgbClr val="D9D9D9"/>
            </a:solidFill>
          </a:ln>
          <a:effectLst/>
        </p:spPr>
        <p:txBody>
          <a:bodyPr rtlCol="0" anchor="ctr"/>
          <a:lstStyle/>
          <a:p/>
        </p:txBody>
      </p:sp>
      <p:sp>
        <p:nvSpPr>
          <p:cNvPr id="20" name="Rectangle 19"/>
          <p:cNvSpPr/>
          <p:nvPr/>
        </p:nvSpPr>
        <p:spPr>
          <a:xfrm>
            <a:off x="6035040" y="2267712"/>
            <a:ext cx="960120" cy="548640"/>
          </a:xfrm>
          <a:prstGeom prst="rect">
            <a:avLst/>
          </a:prstGeom>
          <a:solidFill>
            <a:srgbClr val="FFFFFF"/>
          </a:solidFill>
          <a:ln w="9525">
            <a:solidFill>
              <a:srgbClr val="D9D9D9"/>
            </a:solidFill>
          </a:ln>
          <a:effectLst/>
        </p:spPr>
        <p:txBody>
          <a:bodyPr rtlCol="0" anchor="ctr"/>
          <a:lstStyle/>
          <a:p/>
        </p:txBody>
      </p:sp>
      <p:sp>
        <p:nvSpPr>
          <p:cNvPr id="21" name="Rectangle 20"/>
          <p:cNvSpPr/>
          <p:nvPr/>
        </p:nvSpPr>
        <p:spPr>
          <a:xfrm>
            <a:off x="502920" y="2816352"/>
            <a:ext cx="2651760" cy="548640"/>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50" b="1" i="0">
                <a:solidFill>
                  <a:srgbClr val="3E7D3A"/>
                </a:solidFill>
                <a:latin typeface="Calibri"/>
              </a:rPr>
              <a:t>Yeşil alan ve arazi kullanımı</a:t>
            </a:r>
          </a:p>
        </p:txBody>
      </p:sp>
      <p:sp>
        <p:nvSpPr>
          <p:cNvPr id="22" name="Rectangle 21"/>
          <p:cNvSpPr/>
          <p:nvPr/>
        </p:nvSpPr>
        <p:spPr>
          <a:xfrm>
            <a:off x="3154680" y="2816352"/>
            <a:ext cx="960120" cy="548640"/>
          </a:xfrm>
          <a:prstGeom prst="rect">
            <a:avLst/>
          </a:prstGeom>
          <a:solidFill>
            <a:srgbClr val="FFFFFF"/>
          </a:solidFill>
          <a:ln w="9525">
            <a:solidFill>
              <a:srgbClr val="D9D9D9"/>
            </a:solidFill>
          </a:ln>
          <a:effectLst/>
        </p:spPr>
        <p:txBody>
          <a:bodyPr rtlCol="0" anchor="ctr"/>
          <a:lstStyle/>
          <a:p/>
        </p:txBody>
      </p:sp>
      <p:sp>
        <p:nvSpPr>
          <p:cNvPr id="23" name="Rectangle 22"/>
          <p:cNvSpPr/>
          <p:nvPr/>
        </p:nvSpPr>
        <p:spPr>
          <a:xfrm>
            <a:off x="4114800" y="2816352"/>
            <a:ext cx="960120" cy="548640"/>
          </a:xfrm>
          <a:prstGeom prst="rect">
            <a:avLst/>
          </a:prstGeom>
          <a:solidFill>
            <a:srgbClr val="FFFFFF"/>
          </a:solidFill>
          <a:ln w="9525">
            <a:solidFill>
              <a:srgbClr val="D9D9D9"/>
            </a:solidFill>
          </a:ln>
          <a:effectLst/>
        </p:spPr>
        <p:txBody>
          <a:bodyPr rtlCol="0" anchor="ctr"/>
          <a:lstStyle/>
          <a:p/>
        </p:txBody>
      </p:sp>
      <p:sp>
        <p:nvSpPr>
          <p:cNvPr id="24" name="Rectangle 23"/>
          <p:cNvSpPr/>
          <p:nvPr/>
        </p:nvSpPr>
        <p:spPr>
          <a:xfrm>
            <a:off x="5074920" y="2816352"/>
            <a:ext cx="960120" cy="548640"/>
          </a:xfrm>
          <a:prstGeom prst="rect">
            <a:avLst/>
          </a:prstGeom>
          <a:solidFill>
            <a:srgbClr val="FFFFFF"/>
          </a:solidFill>
          <a:ln w="9525">
            <a:solidFill>
              <a:srgbClr val="D9D9D9"/>
            </a:solidFill>
          </a:ln>
          <a:effectLst/>
        </p:spPr>
        <p:txBody>
          <a:bodyPr rtlCol="0" anchor="ctr"/>
          <a:lstStyle/>
          <a:p/>
        </p:txBody>
      </p:sp>
      <p:sp>
        <p:nvSpPr>
          <p:cNvPr id="25" name="Rectangle 24"/>
          <p:cNvSpPr/>
          <p:nvPr/>
        </p:nvSpPr>
        <p:spPr>
          <a:xfrm>
            <a:off x="6035040" y="2816352"/>
            <a:ext cx="960120" cy="548640"/>
          </a:xfrm>
          <a:prstGeom prst="rect">
            <a:avLst/>
          </a:prstGeom>
          <a:solidFill>
            <a:srgbClr val="FFFFFF"/>
          </a:solidFill>
          <a:ln w="9525">
            <a:solidFill>
              <a:srgbClr val="D9D9D9"/>
            </a:solidFill>
          </a:ln>
          <a:effectLst/>
        </p:spPr>
        <p:txBody>
          <a:bodyPr rtlCol="0" anchor="ctr"/>
          <a:lstStyle/>
          <a:p/>
        </p:txBody>
      </p:sp>
      <p:sp>
        <p:nvSpPr>
          <p:cNvPr id="26" name="Rectangle 25"/>
          <p:cNvSpPr/>
          <p:nvPr/>
        </p:nvSpPr>
        <p:spPr>
          <a:xfrm>
            <a:off x="502920" y="3364992"/>
            <a:ext cx="2651760" cy="548640"/>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700" b="1" i="0">
                <a:solidFill>
                  <a:srgbClr val="B05A1E"/>
                </a:solidFill>
                <a:latin typeface="Calibri"/>
              </a:rPr>
              <a:t>Ulaşım</a:t>
            </a:r>
          </a:p>
        </p:txBody>
      </p:sp>
      <p:sp>
        <p:nvSpPr>
          <p:cNvPr id="27" name="Rectangle 26"/>
          <p:cNvSpPr/>
          <p:nvPr/>
        </p:nvSpPr>
        <p:spPr>
          <a:xfrm>
            <a:off x="3154680" y="3364992"/>
            <a:ext cx="960120" cy="548640"/>
          </a:xfrm>
          <a:prstGeom prst="rect">
            <a:avLst/>
          </a:prstGeom>
          <a:solidFill>
            <a:srgbClr val="FFFFFF"/>
          </a:solidFill>
          <a:ln w="9525">
            <a:solidFill>
              <a:srgbClr val="D9D9D9"/>
            </a:solidFill>
          </a:ln>
          <a:effectLst/>
        </p:spPr>
        <p:txBody>
          <a:bodyPr rtlCol="0" anchor="ctr"/>
          <a:lstStyle/>
          <a:p/>
        </p:txBody>
      </p:sp>
      <p:sp>
        <p:nvSpPr>
          <p:cNvPr id="28" name="Rectangle 27"/>
          <p:cNvSpPr/>
          <p:nvPr/>
        </p:nvSpPr>
        <p:spPr>
          <a:xfrm>
            <a:off x="4114800" y="3364992"/>
            <a:ext cx="960120" cy="548640"/>
          </a:xfrm>
          <a:prstGeom prst="rect">
            <a:avLst/>
          </a:prstGeom>
          <a:solidFill>
            <a:srgbClr val="FFFFFF"/>
          </a:solidFill>
          <a:ln w="9525">
            <a:solidFill>
              <a:srgbClr val="D9D9D9"/>
            </a:solidFill>
          </a:ln>
          <a:effectLst/>
        </p:spPr>
        <p:txBody>
          <a:bodyPr rtlCol="0" anchor="ctr"/>
          <a:lstStyle/>
          <a:p/>
        </p:txBody>
      </p:sp>
      <p:sp>
        <p:nvSpPr>
          <p:cNvPr id="29" name="Rectangle 28"/>
          <p:cNvSpPr/>
          <p:nvPr/>
        </p:nvSpPr>
        <p:spPr>
          <a:xfrm>
            <a:off x="5074920" y="3364992"/>
            <a:ext cx="960120" cy="548640"/>
          </a:xfrm>
          <a:prstGeom prst="rect">
            <a:avLst/>
          </a:prstGeom>
          <a:solidFill>
            <a:srgbClr val="FFFFFF"/>
          </a:solidFill>
          <a:ln w="9525">
            <a:solidFill>
              <a:srgbClr val="D9D9D9"/>
            </a:solidFill>
          </a:ln>
          <a:effectLst/>
        </p:spPr>
        <p:txBody>
          <a:bodyPr rtlCol="0" anchor="ctr"/>
          <a:lstStyle/>
          <a:p/>
        </p:txBody>
      </p:sp>
      <p:sp>
        <p:nvSpPr>
          <p:cNvPr id="30" name="Rectangle 29"/>
          <p:cNvSpPr/>
          <p:nvPr/>
        </p:nvSpPr>
        <p:spPr>
          <a:xfrm>
            <a:off x="6035040" y="3364992"/>
            <a:ext cx="960120" cy="548640"/>
          </a:xfrm>
          <a:prstGeom prst="rect">
            <a:avLst/>
          </a:prstGeom>
          <a:solidFill>
            <a:srgbClr val="FFFFFF"/>
          </a:solidFill>
          <a:ln w="9525">
            <a:solidFill>
              <a:srgbClr val="D9D9D9"/>
            </a:solidFill>
          </a:ln>
          <a:effectLst/>
        </p:spPr>
        <p:txBody>
          <a:bodyPr rtlCol="0" anchor="ctr"/>
          <a:lstStyle/>
          <a:p/>
        </p:txBody>
      </p:sp>
      <p:sp>
        <p:nvSpPr>
          <p:cNvPr id="31" name="Rectangle 30"/>
          <p:cNvSpPr/>
          <p:nvPr/>
        </p:nvSpPr>
        <p:spPr>
          <a:xfrm>
            <a:off x="502920" y="3913632"/>
            <a:ext cx="2651760" cy="548640"/>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700" b="1" i="0">
                <a:solidFill>
                  <a:srgbClr val="3E7D3A"/>
                </a:solidFill>
                <a:latin typeface="Calibri"/>
              </a:rPr>
              <a:t>Hava durumu</a:t>
            </a:r>
          </a:p>
        </p:txBody>
      </p:sp>
      <p:sp>
        <p:nvSpPr>
          <p:cNvPr id="32" name="Rectangle 31"/>
          <p:cNvSpPr/>
          <p:nvPr/>
        </p:nvSpPr>
        <p:spPr>
          <a:xfrm>
            <a:off x="3154680" y="3913632"/>
            <a:ext cx="960120" cy="548640"/>
          </a:xfrm>
          <a:prstGeom prst="rect">
            <a:avLst/>
          </a:prstGeom>
          <a:solidFill>
            <a:srgbClr val="FFFFFF"/>
          </a:solidFill>
          <a:ln w="9525">
            <a:solidFill>
              <a:srgbClr val="D9D9D9"/>
            </a:solidFill>
          </a:ln>
          <a:effectLst/>
        </p:spPr>
        <p:txBody>
          <a:bodyPr rtlCol="0" anchor="ctr"/>
          <a:lstStyle/>
          <a:p/>
        </p:txBody>
      </p:sp>
      <p:sp>
        <p:nvSpPr>
          <p:cNvPr id="33" name="Rectangle 32"/>
          <p:cNvSpPr/>
          <p:nvPr/>
        </p:nvSpPr>
        <p:spPr>
          <a:xfrm>
            <a:off x="4114800" y="3913632"/>
            <a:ext cx="960120" cy="548640"/>
          </a:xfrm>
          <a:prstGeom prst="rect">
            <a:avLst/>
          </a:prstGeom>
          <a:solidFill>
            <a:srgbClr val="FFFFFF"/>
          </a:solidFill>
          <a:ln w="9525">
            <a:solidFill>
              <a:srgbClr val="D9D9D9"/>
            </a:solidFill>
          </a:ln>
          <a:effectLst/>
        </p:spPr>
        <p:txBody>
          <a:bodyPr rtlCol="0" anchor="ctr"/>
          <a:lstStyle/>
          <a:p/>
        </p:txBody>
      </p:sp>
      <p:sp>
        <p:nvSpPr>
          <p:cNvPr id="34" name="Rectangle 33"/>
          <p:cNvSpPr/>
          <p:nvPr/>
        </p:nvSpPr>
        <p:spPr>
          <a:xfrm>
            <a:off x="5074920" y="3913632"/>
            <a:ext cx="960120" cy="548640"/>
          </a:xfrm>
          <a:prstGeom prst="rect">
            <a:avLst/>
          </a:prstGeom>
          <a:solidFill>
            <a:srgbClr val="FFFFFF"/>
          </a:solidFill>
          <a:ln w="9525">
            <a:solidFill>
              <a:srgbClr val="D9D9D9"/>
            </a:solidFill>
          </a:ln>
          <a:effectLst/>
        </p:spPr>
        <p:txBody>
          <a:bodyPr rtlCol="0" anchor="ctr"/>
          <a:lstStyle/>
          <a:p/>
        </p:txBody>
      </p:sp>
      <p:sp>
        <p:nvSpPr>
          <p:cNvPr id="35" name="Rectangle 34"/>
          <p:cNvSpPr/>
          <p:nvPr/>
        </p:nvSpPr>
        <p:spPr>
          <a:xfrm>
            <a:off x="6035040" y="3913632"/>
            <a:ext cx="960120" cy="548640"/>
          </a:xfrm>
          <a:prstGeom prst="rect">
            <a:avLst/>
          </a:prstGeom>
          <a:solidFill>
            <a:srgbClr val="FFFFFF"/>
          </a:solidFill>
          <a:ln w="9525">
            <a:solidFill>
              <a:srgbClr val="D9D9D9"/>
            </a:solidFill>
          </a:ln>
          <a:effectLst/>
        </p:spPr>
        <p:txBody>
          <a:bodyPr rtlCol="0" anchor="ctr"/>
          <a:lstStyle/>
          <a:p/>
        </p:txBody>
      </p:sp>
      <p:sp>
        <p:nvSpPr>
          <p:cNvPr id="36" name="Rectangle 35"/>
          <p:cNvSpPr/>
          <p:nvPr/>
        </p:nvSpPr>
        <p:spPr>
          <a:xfrm>
            <a:off x="502920" y="4462272"/>
            <a:ext cx="2651760" cy="548640"/>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700" b="1" i="0">
                <a:solidFill>
                  <a:srgbClr val="1F6EA8"/>
                </a:solidFill>
                <a:latin typeface="Calibri"/>
              </a:rPr>
              <a:t>İşlevsel bölge ipuçları</a:t>
            </a:r>
          </a:p>
        </p:txBody>
      </p:sp>
      <p:sp>
        <p:nvSpPr>
          <p:cNvPr id="37" name="Rectangle 36"/>
          <p:cNvSpPr/>
          <p:nvPr/>
        </p:nvSpPr>
        <p:spPr>
          <a:xfrm>
            <a:off x="3154680" y="4462272"/>
            <a:ext cx="960120" cy="548640"/>
          </a:xfrm>
          <a:prstGeom prst="rect">
            <a:avLst/>
          </a:prstGeom>
          <a:solidFill>
            <a:srgbClr val="FFFFFF"/>
          </a:solidFill>
          <a:ln w="9525">
            <a:solidFill>
              <a:srgbClr val="D9D9D9"/>
            </a:solidFill>
          </a:ln>
          <a:effectLst/>
        </p:spPr>
        <p:txBody>
          <a:bodyPr rtlCol="0" anchor="ctr"/>
          <a:lstStyle/>
          <a:p/>
        </p:txBody>
      </p:sp>
      <p:sp>
        <p:nvSpPr>
          <p:cNvPr id="38" name="Rectangle 37"/>
          <p:cNvSpPr/>
          <p:nvPr/>
        </p:nvSpPr>
        <p:spPr>
          <a:xfrm>
            <a:off x="4114800" y="4462272"/>
            <a:ext cx="960120" cy="548640"/>
          </a:xfrm>
          <a:prstGeom prst="rect">
            <a:avLst/>
          </a:prstGeom>
          <a:solidFill>
            <a:srgbClr val="FFFFFF"/>
          </a:solidFill>
          <a:ln w="9525">
            <a:solidFill>
              <a:srgbClr val="D9D9D9"/>
            </a:solidFill>
          </a:ln>
          <a:effectLst/>
        </p:spPr>
        <p:txBody>
          <a:bodyPr rtlCol="0" anchor="ctr"/>
          <a:lstStyle/>
          <a:p/>
        </p:txBody>
      </p:sp>
      <p:sp>
        <p:nvSpPr>
          <p:cNvPr id="39" name="Rectangle 38"/>
          <p:cNvSpPr/>
          <p:nvPr/>
        </p:nvSpPr>
        <p:spPr>
          <a:xfrm>
            <a:off x="5074920" y="4462272"/>
            <a:ext cx="960120" cy="548640"/>
          </a:xfrm>
          <a:prstGeom prst="rect">
            <a:avLst/>
          </a:prstGeom>
          <a:solidFill>
            <a:srgbClr val="FFFFFF"/>
          </a:solidFill>
          <a:ln w="9525">
            <a:solidFill>
              <a:srgbClr val="D9D9D9"/>
            </a:solidFill>
          </a:ln>
          <a:effectLst/>
        </p:spPr>
        <p:txBody>
          <a:bodyPr rtlCol="0" anchor="ctr"/>
          <a:lstStyle/>
          <a:p/>
        </p:txBody>
      </p:sp>
      <p:sp>
        <p:nvSpPr>
          <p:cNvPr id="40" name="Rectangle 39"/>
          <p:cNvSpPr/>
          <p:nvPr/>
        </p:nvSpPr>
        <p:spPr>
          <a:xfrm>
            <a:off x="6035040" y="4462272"/>
            <a:ext cx="960120" cy="548640"/>
          </a:xfrm>
          <a:prstGeom prst="rect">
            <a:avLst/>
          </a:prstGeom>
          <a:solidFill>
            <a:srgbClr val="FFFFFF"/>
          </a:solidFill>
          <a:ln w="9525">
            <a:solidFill>
              <a:srgbClr val="D9D9D9"/>
            </a:solidFill>
          </a:ln>
          <a:effectLst/>
        </p:spPr>
        <p:txBody>
          <a:bodyPr rtlCol="0" anchor="ctr"/>
          <a:lstStyle/>
          <a:p/>
        </p:txBody>
      </p:sp>
      <p:sp>
        <p:nvSpPr>
          <p:cNvPr id="41" name="Rectangle 40"/>
          <p:cNvSpPr/>
          <p:nvPr/>
        </p:nvSpPr>
        <p:spPr>
          <a:xfrm>
            <a:off x="502920" y="5102352"/>
            <a:ext cx="6492240" cy="566928"/>
          </a:xfrm>
          <a:prstGeom prst="rect">
            <a:avLst/>
          </a:prstGeom>
          <a:solidFill>
            <a:srgbClr val="F9E1E1"/>
          </a:solidFill>
          <a:ln>
            <a:noFill/>
          </a:ln>
          <a:effectLst/>
        </p:spPr>
        <p:txBody>
          <a:bodyPr rtlCol="0" anchor="ctr" wrap="square" lIns="137160" rIns="137160" tIns="73152" bIns="73152">
            <a:noAutofit/>
          </a:bodyPr>
          <a:lstStyle/>
          <a:p>
            <a:pPr algn="l">
              <a:spcBef>
                <a:spcPts val="0"/>
              </a:spcBef>
              <a:spcAft>
                <a:spcPts val="0"/>
              </a:spcAft>
            </a:pPr>
            <a:r>
              <a:rPr lang="tr-TR" sz="1800" b="1" i="0">
                <a:solidFill>
                  <a:srgbClr val="262626"/>
                </a:solidFill>
                <a:latin typeface="Calibri"/>
              </a:rPr>
              <a:t>☐  Güvenlik kurallarını okudum, uyacağım.</a:t>
            </a:r>
          </a:p>
        </p:txBody>
      </p:sp>
      <p:sp>
        <p:nvSpPr>
          <p:cNvPr id="42" name="TextBox 41"/>
          <p:cNvSpPr txBox="1"/>
          <p:nvPr/>
        </p:nvSpPr>
        <p:spPr>
          <a:xfrm>
            <a:off x="502920" y="5742432"/>
            <a:ext cx="6492240" cy="548640"/>
          </a:xfrm>
          <a:prstGeom prst="rect">
            <a:avLst/>
          </a:prstGeom>
          <a:noFill/>
        </p:spPr>
        <p:txBody>
          <a:bodyPr wrap="square" anchor="t" lIns="73152" rIns="73152" tIns="36576" bIns="36576">
            <a:noAutofit/>
          </a:bodyPr>
          <a:lstStyle/>
          <a:p>
            <a:pPr algn="l">
              <a:spcBef>
                <a:spcPts val="0"/>
              </a:spcBef>
              <a:spcAft>
                <a:spcPts val="0"/>
              </a:spcAft>
            </a:pPr>
            <a:r>
              <a:rPr lang="tr-TR" sz="1500" b="0" i="0">
                <a:solidFill>
                  <a:srgbClr val="767676"/>
                </a:solidFill>
                <a:latin typeface="Calibri"/>
              </a:rPr>
              <a:t>D1-D4: duraklar · her durakta en az bir başlık</a:t>
            </a:r>
          </a:p>
        </p:txBody>
      </p:sp>
      <p:sp>
        <p:nvSpPr>
          <p:cNvPr id="43" name="Rounded Rectangle 42"/>
          <p:cNvSpPr/>
          <p:nvPr/>
        </p:nvSpPr>
        <p:spPr>
          <a:xfrm>
            <a:off x="7315200" y="1261872"/>
            <a:ext cx="4373575" cy="918057"/>
          </a:xfrm>
          <a:prstGeom prst="roundRect">
            <a:avLst>
              <a:gd name="adj" fmla="val 10000"/>
            </a:avLst>
          </a:prstGeom>
          <a:solidFill>
            <a:srgbClr val="F0F0F0"/>
          </a:solidFill>
          <a:ln>
            <a:noFill/>
          </a:ln>
          <a:effectLst/>
        </p:spPr>
        <p:txBody>
          <a:bodyPr rtlCol="0" anchor="ctr"/>
          <a:lstStyle/>
          <a:p/>
        </p:txBody>
      </p:sp>
      <p:sp>
        <p:nvSpPr>
          <p:cNvPr id="44" name="Rectangle 43"/>
          <p:cNvSpPr/>
          <p:nvPr/>
        </p:nvSpPr>
        <p:spPr>
          <a:xfrm>
            <a:off x="7315200" y="1261872"/>
            <a:ext cx="109728" cy="918057"/>
          </a:xfrm>
          <a:prstGeom prst="rect">
            <a:avLst/>
          </a:prstGeom>
          <a:solidFill>
            <a:srgbClr val="6A4C93"/>
          </a:solidFill>
          <a:ln>
            <a:noFill/>
          </a:ln>
          <a:effectLst/>
        </p:spPr>
        <p:txBody>
          <a:bodyPr rtlCol="0" anchor="ctr"/>
          <a:lstStyle/>
          <a:p/>
        </p:txBody>
      </p:sp>
      <p:sp>
        <p:nvSpPr>
          <p:cNvPr id="45" name="TextBox 44"/>
          <p:cNvSpPr txBox="1"/>
          <p:nvPr/>
        </p:nvSpPr>
        <p:spPr>
          <a:xfrm>
            <a:off x="7543800" y="1261872"/>
            <a:ext cx="4099255" cy="918057"/>
          </a:xfrm>
          <a:prstGeom prst="rect">
            <a:avLst/>
          </a:prstGeom>
          <a:noFill/>
        </p:spPr>
        <p:txBody>
          <a:bodyPr wrap="square" anchor="ctr" lIns="73152" rIns="73152" tIns="36576" bIns="36576">
            <a:noAutofit/>
          </a:bodyPr>
          <a:lstStyle/>
          <a:p>
            <a:pPr algn="l">
              <a:spcBef>
                <a:spcPts val="0"/>
              </a:spcBef>
              <a:spcAft>
                <a:spcPts val="100"/>
              </a:spcAft>
            </a:pPr>
            <a:r>
              <a:rPr lang="tr-TR" sz="1600" b="1" i="0">
                <a:solidFill>
                  <a:srgbClr val="6A4C93"/>
                </a:solidFill>
                <a:latin typeface="Calibri"/>
              </a:rPr>
              <a:t>YÖN-KROKİ SORUMLUSU</a:t>
            </a:r>
          </a:p>
          <a:p>
            <a:pPr algn="l">
              <a:spcBef>
                <a:spcPts val="0"/>
              </a:spcBef>
              <a:spcAft>
                <a:spcPts val="0"/>
              </a:spcAft>
            </a:pPr>
            <a:r>
              <a:rPr lang="tr-TR" sz="1700" b="0" i="0">
                <a:solidFill>
                  <a:srgbClr val="262626"/>
                </a:solidFill>
                <a:latin typeface="Calibri"/>
              </a:rPr>
              <a:t>Kuzeyi ve durakları krokiye işler.</a:t>
            </a:r>
          </a:p>
        </p:txBody>
      </p:sp>
      <p:sp>
        <p:nvSpPr>
          <p:cNvPr id="46" name="Rounded Rectangle 45"/>
          <p:cNvSpPr/>
          <p:nvPr/>
        </p:nvSpPr>
        <p:spPr>
          <a:xfrm>
            <a:off x="7315200" y="2289657"/>
            <a:ext cx="4373575" cy="918057"/>
          </a:xfrm>
          <a:prstGeom prst="roundRect">
            <a:avLst>
              <a:gd name="adj" fmla="val 10000"/>
            </a:avLst>
          </a:prstGeom>
          <a:solidFill>
            <a:srgbClr val="F0F0F0"/>
          </a:solidFill>
          <a:ln>
            <a:noFill/>
          </a:ln>
          <a:effectLst/>
        </p:spPr>
        <p:txBody>
          <a:bodyPr rtlCol="0" anchor="ctr"/>
          <a:lstStyle/>
          <a:p/>
        </p:txBody>
      </p:sp>
      <p:sp>
        <p:nvSpPr>
          <p:cNvPr id="47" name="Rectangle 46"/>
          <p:cNvSpPr/>
          <p:nvPr/>
        </p:nvSpPr>
        <p:spPr>
          <a:xfrm>
            <a:off x="7315200" y="2289657"/>
            <a:ext cx="109728" cy="918057"/>
          </a:xfrm>
          <a:prstGeom prst="rect">
            <a:avLst/>
          </a:prstGeom>
          <a:solidFill>
            <a:srgbClr val="4F4F4F"/>
          </a:solidFill>
          <a:ln>
            <a:noFill/>
          </a:ln>
          <a:effectLst/>
        </p:spPr>
        <p:txBody>
          <a:bodyPr rtlCol="0" anchor="ctr"/>
          <a:lstStyle/>
          <a:p/>
        </p:txBody>
      </p:sp>
      <p:sp>
        <p:nvSpPr>
          <p:cNvPr id="48" name="TextBox 47"/>
          <p:cNvSpPr txBox="1"/>
          <p:nvPr/>
        </p:nvSpPr>
        <p:spPr>
          <a:xfrm>
            <a:off x="7543800" y="2289657"/>
            <a:ext cx="4099255" cy="918057"/>
          </a:xfrm>
          <a:prstGeom prst="rect">
            <a:avLst/>
          </a:prstGeom>
          <a:noFill/>
        </p:spPr>
        <p:txBody>
          <a:bodyPr wrap="square" anchor="ctr" lIns="73152" rIns="73152" tIns="36576" bIns="36576">
            <a:noAutofit/>
          </a:bodyPr>
          <a:lstStyle/>
          <a:p>
            <a:pPr algn="l">
              <a:spcBef>
                <a:spcPts val="0"/>
              </a:spcBef>
              <a:spcAft>
                <a:spcPts val="100"/>
              </a:spcAft>
            </a:pPr>
            <a:r>
              <a:rPr lang="tr-TR" sz="1600" b="1" i="0">
                <a:solidFill>
                  <a:srgbClr val="4F4F4F"/>
                </a:solidFill>
                <a:latin typeface="Calibri"/>
              </a:rPr>
              <a:t>GÖZLEM YAZICISI</a:t>
            </a:r>
          </a:p>
          <a:p>
            <a:pPr algn="l">
              <a:spcBef>
                <a:spcPts val="0"/>
              </a:spcBef>
              <a:spcAft>
                <a:spcPts val="0"/>
              </a:spcAft>
            </a:pPr>
            <a:r>
              <a:rPr lang="tr-TR" sz="1700" b="0" i="0">
                <a:solidFill>
                  <a:srgbClr val="262626"/>
                </a:solidFill>
                <a:latin typeface="Calibri"/>
              </a:rPr>
              <a:t>Grubun ortak gözlemini yazar.</a:t>
            </a:r>
          </a:p>
        </p:txBody>
      </p:sp>
      <p:sp>
        <p:nvSpPr>
          <p:cNvPr id="49" name="Rounded Rectangle 48"/>
          <p:cNvSpPr/>
          <p:nvPr/>
        </p:nvSpPr>
        <p:spPr>
          <a:xfrm>
            <a:off x="7315200" y="3317443"/>
            <a:ext cx="4373575" cy="918057"/>
          </a:xfrm>
          <a:prstGeom prst="roundRect">
            <a:avLst>
              <a:gd name="adj" fmla="val 10000"/>
            </a:avLst>
          </a:prstGeom>
          <a:solidFill>
            <a:srgbClr val="F0F0F0"/>
          </a:solidFill>
          <a:ln>
            <a:noFill/>
          </a:ln>
          <a:effectLst/>
        </p:spPr>
        <p:txBody>
          <a:bodyPr rtlCol="0" anchor="ctr"/>
          <a:lstStyle/>
          <a:p/>
        </p:txBody>
      </p:sp>
      <p:sp>
        <p:nvSpPr>
          <p:cNvPr id="50" name="Rectangle 49"/>
          <p:cNvSpPr/>
          <p:nvPr/>
        </p:nvSpPr>
        <p:spPr>
          <a:xfrm>
            <a:off x="7315200" y="3317443"/>
            <a:ext cx="109728" cy="918057"/>
          </a:xfrm>
          <a:prstGeom prst="rect">
            <a:avLst/>
          </a:prstGeom>
          <a:solidFill>
            <a:srgbClr val="6A4C93"/>
          </a:solidFill>
          <a:ln>
            <a:noFill/>
          </a:ln>
          <a:effectLst/>
        </p:spPr>
        <p:txBody>
          <a:bodyPr rtlCol="0" anchor="ctr"/>
          <a:lstStyle/>
          <a:p/>
        </p:txBody>
      </p:sp>
      <p:sp>
        <p:nvSpPr>
          <p:cNvPr id="51" name="TextBox 50"/>
          <p:cNvSpPr txBox="1"/>
          <p:nvPr/>
        </p:nvSpPr>
        <p:spPr>
          <a:xfrm>
            <a:off x="7543800" y="3317443"/>
            <a:ext cx="4099255" cy="918057"/>
          </a:xfrm>
          <a:prstGeom prst="rect">
            <a:avLst/>
          </a:prstGeom>
          <a:noFill/>
        </p:spPr>
        <p:txBody>
          <a:bodyPr wrap="square" anchor="ctr" lIns="73152" rIns="73152" tIns="36576" bIns="36576">
            <a:noAutofit/>
          </a:bodyPr>
          <a:lstStyle/>
          <a:p>
            <a:pPr algn="l">
              <a:spcBef>
                <a:spcPts val="0"/>
              </a:spcBef>
              <a:spcAft>
                <a:spcPts val="100"/>
              </a:spcAft>
            </a:pPr>
            <a:r>
              <a:rPr lang="tr-TR" sz="1600" b="1" i="0">
                <a:solidFill>
                  <a:srgbClr val="6A4C93"/>
                </a:solidFill>
                <a:latin typeface="Calibri"/>
              </a:rPr>
              <a:t>ZAMAN-GÜVENLİK SORUMLUSU</a:t>
            </a:r>
          </a:p>
          <a:p>
            <a:pPr algn="l">
              <a:spcBef>
                <a:spcPts val="0"/>
              </a:spcBef>
              <a:spcAft>
                <a:spcPts val="0"/>
              </a:spcAft>
            </a:pPr>
            <a:r>
              <a:rPr lang="tr-TR" sz="1700" b="0" i="0">
                <a:solidFill>
                  <a:srgbClr val="262626"/>
                </a:solidFill>
                <a:latin typeface="Calibri"/>
              </a:rPr>
              <a:t>Grubu bir arada tutar, “tamız” der.</a:t>
            </a:r>
          </a:p>
        </p:txBody>
      </p:sp>
      <p:sp>
        <p:nvSpPr>
          <p:cNvPr id="52" name="Rounded Rectangle 51"/>
          <p:cNvSpPr/>
          <p:nvPr/>
        </p:nvSpPr>
        <p:spPr>
          <a:xfrm>
            <a:off x="7315200" y="4345228"/>
            <a:ext cx="4373575" cy="918057"/>
          </a:xfrm>
          <a:prstGeom prst="roundRect">
            <a:avLst>
              <a:gd name="adj" fmla="val 10000"/>
            </a:avLst>
          </a:prstGeom>
          <a:solidFill>
            <a:srgbClr val="F0F0F0"/>
          </a:solidFill>
          <a:ln>
            <a:noFill/>
          </a:ln>
          <a:effectLst/>
        </p:spPr>
        <p:txBody>
          <a:bodyPr rtlCol="0" anchor="ctr"/>
          <a:lstStyle/>
          <a:p/>
        </p:txBody>
      </p:sp>
      <p:sp>
        <p:nvSpPr>
          <p:cNvPr id="53" name="Rectangle 52"/>
          <p:cNvSpPr/>
          <p:nvPr/>
        </p:nvSpPr>
        <p:spPr>
          <a:xfrm>
            <a:off x="7315200" y="4345228"/>
            <a:ext cx="109728" cy="918057"/>
          </a:xfrm>
          <a:prstGeom prst="rect">
            <a:avLst/>
          </a:prstGeom>
          <a:solidFill>
            <a:srgbClr val="4F4F4F"/>
          </a:solidFill>
          <a:ln>
            <a:noFill/>
          </a:ln>
          <a:effectLst/>
        </p:spPr>
        <p:txBody>
          <a:bodyPr rtlCol="0" anchor="ctr"/>
          <a:lstStyle/>
          <a:p/>
        </p:txBody>
      </p:sp>
      <p:sp>
        <p:nvSpPr>
          <p:cNvPr id="54" name="TextBox 53"/>
          <p:cNvSpPr txBox="1"/>
          <p:nvPr/>
        </p:nvSpPr>
        <p:spPr>
          <a:xfrm>
            <a:off x="7543800" y="4345228"/>
            <a:ext cx="4099255" cy="918057"/>
          </a:xfrm>
          <a:prstGeom prst="rect">
            <a:avLst/>
          </a:prstGeom>
          <a:noFill/>
        </p:spPr>
        <p:txBody>
          <a:bodyPr wrap="square" anchor="ctr" lIns="73152" rIns="73152" tIns="36576" bIns="36576">
            <a:noAutofit/>
          </a:bodyPr>
          <a:lstStyle/>
          <a:p>
            <a:pPr algn="l">
              <a:spcBef>
                <a:spcPts val="0"/>
              </a:spcBef>
              <a:spcAft>
                <a:spcPts val="100"/>
              </a:spcAft>
            </a:pPr>
            <a:r>
              <a:rPr lang="tr-TR" sz="1600" b="1" i="0">
                <a:solidFill>
                  <a:srgbClr val="4F4F4F"/>
                </a:solidFill>
                <a:latin typeface="Calibri"/>
              </a:rPr>
              <a:t>SÖZCÜ</a:t>
            </a:r>
          </a:p>
          <a:p>
            <a:pPr algn="l">
              <a:spcBef>
                <a:spcPts val="0"/>
              </a:spcBef>
              <a:spcAft>
                <a:spcPts val="0"/>
              </a:spcAft>
            </a:pPr>
            <a:r>
              <a:rPr lang="tr-TR" sz="1700" b="0" i="0">
                <a:solidFill>
                  <a:srgbClr val="262626"/>
                </a:solidFill>
                <a:latin typeface="Calibri"/>
              </a:rPr>
              <a:t>Soruları sorar, sonucu anlatır.</a:t>
            </a:r>
          </a:p>
        </p:txBody>
      </p:sp>
      <p:sp>
        <p:nvSpPr>
          <p:cNvPr id="55" name="Rounded Rectangle 54"/>
          <p:cNvSpPr/>
          <p:nvPr/>
        </p:nvSpPr>
        <p:spPr>
          <a:xfrm>
            <a:off x="7315200" y="5373014"/>
            <a:ext cx="4373575" cy="918057"/>
          </a:xfrm>
          <a:prstGeom prst="roundRect">
            <a:avLst>
              <a:gd name="adj" fmla="val 10000"/>
            </a:avLst>
          </a:prstGeom>
          <a:solidFill>
            <a:srgbClr val="F0F0F0"/>
          </a:solidFill>
          <a:ln>
            <a:noFill/>
          </a:ln>
          <a:effectLst/>
        </p:spPr>
        <p:txBody>
          <a:bodyPr rtlCol="0" anchor="ctr"/>
          <a:lstStyle/>
          <a:p/>
        </p:txBody>
      </p:sp>
      <p:sp>
        <p:nvSpPr>
          <p:cNvPr id="56" name="Rectangle 55"/>
          <p:cNvSpPr/>
          <p:nvPr/>
        </p:nvSpPr>
        <p:spPr>
          <a:xfrm>
            <a:off x="7315200" y="5373014"/>
            <a:ext cx="109728" cy="918057"/>
          </a:xfrm>
          <a:prstGeom prst="rect">
            <a:avLst/>
          </a:prstGeom>
          <a:solidFill>
            <a:srgbClr val="6A4C93"/>
          </a:solidFill>
          <a:ln>
            <a:noFill/>
          </a:ln>
          <a:effectLst/>
        </p:spPr>
        <p:txBody>
          <a:bodyPr rtlCol="0" anchor="ctr"/>
          <a:lstStyle/>
          <a:p/>
        </p:txBody>
      </p:sp>
      <p:sp>
        <p:nvSpPr>
          <p:cNvPr id="57" name="TextBox 56"/>
          <p:cNvSpPr txBox="1"/>
          <p:nvPr/>
        </p:nvSpPr>
        <p:spPr>
          <a:xfrm>
            <a:off x="7543800" y="5373014"/>
            <a:ext cx="4099255" cy="918057"/>
          </a:xfrm>
          <a:prstGeom prst="rect">
            <a:avLst/>
          </a:prstGeom>
          <a:noFill/>
        </p:spPr>
        <p:txBody>
          <a:bodyPr wrap="square" anchor="ctr" lIns="73152" rIns="73152" tIns="36576" bIns="36576">
            <a:noAutofit/>
          </a:bodyPr>
          <a:lstStyle/>
          <a:p>
            <a:pPr algn="l">
              <a:spcBef>
                <a:spcPts val="0"/>
              </a:spcBef>
              <a:spcAft>
                <a:spcPts val="100"/>
              </a:spcAft>
            </a:pPr>
            <a:r>
              <a:rPr lang="tr-TR" sz="1600" b="1" i="0">
                <a:solidFill>
                  <a:srgbClr val="6A4C93"/>
                </a:solidFill>
                <a:latin typeface="Calibri"/>
              </a:rPr>
              <a:t>AYRINTI GÖZLEMCİSİ</a:t>
            </a:r>
          </a:p>
          <a:p>
            <a:pPr algn="l">
              <a:spcBef>
                <a:spcPts val="0"/>
              </a:spcBef>
              <a:spcAft>
                <a:spcPts val="0"/>
              </a:spcAft>
            </a:pPr>
            <a:r>
              <a:rPr lang="tr-TR" sz="1700" b="0" i="0">
                <a:solidFill>
                  <a:srgbClr val="262626"/>
                </a:solidFill>
                <a:latin typeface="Calibri"/>
              </a:rPr>
              <a:t>5 kişilik grupta: renk, ses, ayrıntı.</a:t>
            </a:r>
          </a:p>
        </p:txBody>
      </p:sp>
      <p:sp>
        <p:nvSpPr>
          <p:cNvPr id="58" name="TextBox 5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59" name="TextBox 5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120 / 187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Güvenlik kurallarımız</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GÜVENLİK</a:t>
            </a:r>
          </a:p>
        </p:txBody>
      </p:sp>
      <p:sp>
        <p:nvSpPr>
          <p:cNvPr id="6" name="Rounded Rectangle 5"/>
          <p:cNvSpPr/>
          <p:nvPr/>
        </p:nvSpPr>
        <p:spPr>
          <a:xfrm>
            <a:off x="502920" y="1261872"/>
            <a:ext cx="5478627" cy="96012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40080" y="1421892"/>
            <a:ext cx="640080" cy="64008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1</a:t>
            </a:r>
          </a:p>
        </p:txBody>
      </p:sp>
      <p:sp>
        <p:nvSpPr>
          <p:cNvPr id="8" name="TextBox 7"/>
          <p:cNvSpPr txBox="1"/>
          <p:nvPr/>
        </p:nvSpPr>
        <p:spPr>
          <a:xfrm>
            <a:off x="1417320" y="1261872"/>
            <a:ext cx="4472787" cy="9601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Tek sıra, grubumla birlikte yürürüm.</a:t>
            </a:r>
          </a:p>
        </p:txBody>
      </p:sp>
      <p:sp>
        <p:nvSpPr>
          <p:cNvPr id="9" name="Rounded Rectangle 8"/>
          <p:cNvSpPr/>
          <p:nvPr/>
        </p:nvSpPr>
        <p:spPr>
          <a:xfrm>
            <a:off x="6210147" y="1261872"/>
            <a:ext cx="5478627" cy="960120"/>
          </a:xfrm>
          <a:prstGeom prst="roundRect">
            <a:avLst>
              <a:gd name="adj" fmla="val 12000"/>
            </a:avLst>
          </a:prstGeom>
          <a:solidFill>
            <a:srgbClr val="F0F0F0"/>
          </a:solidFill>
          <a:ln>
            <a:noFill/>
          </a:ln>
          <a:effectLst/>
        </p:spPr>
        <p:txBody>
          <a:bodyPr rtlCol="0" anchor="ctr"/>
          <a:lstStyle/>
          <a:p/>
        </p:txBody>
      </p:sp>
      <p:sp>
        <p:nvSpPr>
          <p:cNvPr id="10" name="Oval 9"/>
          <p:cNvSpPr/>
          <p:nvPr/>
        </p:nvSpPr>
        <p:spPr>
          <a:xfrm>
            <a:off x="6347307" y="1421892"/>
            <a:ext cx="640080" cy="64008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2</a:t>
            </a:r>
          </a:p>
        </p:txBody>
      </p:sp>
      <p:sp>
        <p:nvSpPr>
          <p:cNvPr id="11" name="TextBox 10"/>
          <p:cNvSpPr txBox="1"/>
          <p:nvPr/>
        </p:nvSpPr>
        <p:spPr>
          <a:xfrm>
            <a:off x="7124547" y="1261872"/>
            <a:ext cx="4472787" cy="9601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Kaldırımın iç tarafında kalırım.</a:t>
            </a:r>
          </a:p>
        </p:txBody>
      </p:sp>
      <p:sp>
        <p:nvSpPr>
          <p:cNvPr id="12" name="Rounded Rectangle 11"/>
          <p:cNvSpPr/>
          <p:nvPr/>
        </p:nvSpPr>
        <p:spPr>
          <a:xfrm>
            <a:off x="502920" y="2359152"/>
            <a:ext cx="5478627" cy="960120"/>
          </a:xfrm>
          <a:prstGeom prst="roundRect">
            <a:avLst>
              <a:gd name="adj" fmla="val 12000"/>
            </a:avLst>
          </a:prstGeom>
          <a:solidFill>
            <a:srgbClr val="F0F0F0"/>
          </a:solidFill>
          <a:ln>
            <a:noFill/>
          </a:ln>
          <a:effectLst/>
        </p:spPr>
        <p:txBody>
          <a:bodyPr rtlCol="0" anchor="ctr"/>
          <a:lstStyle/>
          <a:p/>
        </p:txBody>
      </p:sp>
      <p:sp>
        <p:nvSpPr>
          <p:cNvPr id="13" name="Oval 12"/>
          <p:cNvSpPr/>
          <p:nvPr/>
        </p:nvSpPr>
        <p:spPr>
          <a:xfrm>
            <a:off x="640080" y="2519172"/>
            <a:ext cx="640080" cy="64008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3</a:t>
            </a:r>
          </a:p>
        </p:txBody>
      </p:sp>
      <p:sp>
        <p:nvSpPr>
          <p:cNvPr id="14" name="TextBox 13"/>
          <p:cNvSpPr txBox="1"/>
          <p:nvPr/>
        </p:nvSpPr>
        <p:spPr>
          <a:xfrm>
            <a:off x="1417320" y="2359152"/>
            <a:ext cx="4472787" cy="9601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Karşıdan karşıya yalnız görevlinin işaretiyle, topluca geçerim.</a:t>
            </a:r>
          </a:p>
        </p:txBody>
      </p:sp>
      <p:sp>
        <p:nvSpPr>
          <p:cNvPr id="15" name="Rounded Rectangle 14"/>
          <p:cNvSpPr/>
          <p:nvPr/>
        </p:nvSpPr>
        <p:spPr>
          <a:xfrm>
            <a:off x="6210147" y="2359152"/>
            <a:ext cx="5478627" cy="960120"/>
          </a:xfrm>
          <a:prstGeom prst="roundRect">
            <a:avLst>
              <a:gd name="adj" fmla="val 12000"/>
            </a:avLst>
          </a:prstGeom>
          <a:solidFill>
            <a:srgbClr val="F0F0F0"/>
          </a:solidFill>
          <a:ln>
            <a:noFill/>
          </a:ln>
          <a:effectLst/>
        </p:spPr>
        <p:txBody>
          <a:bodyPr rtlCol="0" anchor="ctr"/>
          <a:lstStyle/>
          <a:p/>
        </p:txBody>
      </p:sp>
      <p:sp>
        <p:nvSpPr>
          <p:cNvPr id="16" name="Oval 15"/>
          <p:cNvSpPr/>
          <p:nvPr/>
        </p:nvSpPr>
        <p:spPr>
          <a:xfrm>
            <a:off x="6347307" y="2519172"/>
            <a:ext cx="640080" cy="64008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4</a:t>
            </a:r>
          </a:p>
        </p:txBody>
      </p:sp>
      <p:sp>
        <p:nvSpPr>
          <p:cNvPr id="17" name="TextBox 16"/>
          <p:cNvSpPr txBox="1"/>
          <p:nvPr/>
        </p:nvSpPr>
        <p:spPr>
          <a:xfrm>
            <a:off x="7124547" y="2359152"/>
            <a:ext cx="4472787" cy="9601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Koşmam; telefon kullanmam.</a:t>
            </a:r>
          </a:p>
        </p:txBody>
      </p:sp>
      <p:sp>
        <p:nvSpPr>
          <p:cNvPr id="18" name="Rounded Rectangle 17"/>
          <p:cNvSpPr/>
          <p:nvPr/>
        </p:nvSpPr>
        <p:spPr>
          <a:xfrm>
            <a:off x="502920" y="3456432"/>
            <a:ext cx="5478627" cy="960120"/>
          </a:xfrm>
          <a:prstGeom prst="roundRect">
            <a:avLst>
              <a:gd name="adj" fmla="val 12000"/>
            </a:avLst>
          </a:prstGeom>
          <a:solidFill>
            <a:srgbClr val="F0F0F0"/>
          </a:solidFill>
          <a:ln>
            <a:noFill/>
          </a:ln>
          <a:effectLst/>
        </p:spPr>
        <p:txBody>
          <a:bodyPr rtlCol="0" anchor="ctr"/>
          <a:lstStyle/>
          <a:p/>
        </p:txBody>
      </p:sp>
      <p:sp>
        <p:nvSpPr>
          <p:cNvPr id="19" name="Oval 18"/>
          <p:cNvSpPr/>
          <p:nvPr/>
        </p:nvSpPr>
        <p:spPr>
          <a:xfrm>
            <a:off x="640080" y="3616452"/>
            <a:ext cx="640080" cy="64008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5</a:t>
            </a:r>
          </a:p>
        </p:txBody>
      </p:sp>
      <p:sp>
        <p:nvSpPr>
          <p:cNvPr id="20" name="TextBox 19"/>
          <p:cNvSpPr txBox="1"/>
          <p:nvPr/>
        </p:nvSpPr>
        <p:spPr>
          <a:xfrm>
            <a:off x="1417320" y="3456432"/>
            <a:ext cx="4472787" cy="9601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Suyum ve şapkam yanımdadır.</a:t>
            </a:r>
          </a:p>
        </p:txBody>
      </p:sp>
      <p:sp>
        <p:nvSpPr>
          <p:cNvPr id="21" name="Rounded Rectangle 20"/>
          <p:cNvSpPr/>
          <p:nvPr/>
        </p:nvSpPr>
        <p:spPr>
          <a:xfrm>
            <a:off x="6210147" y="3456432"/>
            <a:ext cx="5478627" cy="960120"/>
          </a:xfrm>
          <a:prstGeom prst="roundRect">
            <a:avLst>
              <a:gd name="adj" fmla="val 12000"/>
            </a:avLst>
          </a:prstGeom>
          <a:solidFill>
            <a:srgbClr val="F0F0F0"/>
          </a:solidFill>
          <a:ln>
            <a:noFill/>
          </a:ln>
          <a:effectLst/>
        </p:spPr>
        <p:txBody>
          <a:bodyPr rtlCol="0" anchor="ctr"/>
          <a:lstStyle/>
          <a:p/>
        </p:txBody>
      </p:sp>
      <p:sp>
        <p:nvSpPr>
          <p:cNvPr id="22" name="Oval 21"/>
          <p:cNvSpPr/>
          <p:nvPr/>
        </p:nvSpPr>
        <p:spPr>
          <a:xfrm>
            <a:off x="6347307" y="3616452"/>
            <a:ext cx="640080" cy="64008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6</a:t>
            </a:r>
          </a:p>
        </p:txBody>
      </p:sp>
      <p:sp>
        <p:nvSpPr>
          <p:cNvPr id="23" name="TextBox 22"/>
          <p:cNvSpPr txBox="1"/>
          <p:nvPr/>
        </p:nvSpPr>
        <p:spPr>
          <a:xfrm>
            <a:off x="7124547" y="3456432"/>
            <a:ext cx="4472787" cy="9601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Acil durumda toplanma noktası: okul bahçesi.</a:t>
            </a:r>
          </a:p>
        </p:txBody>
      </p:sp>
      <p:sp>
        <p:nvSpPr>
          <p:cNvPr id="24" name="Rounded Rectangle 23"/>
          <p:cNvSpPr/>
          <p:nvPr/>
        </p:nvSpPr>
        <p:spPr>
          <a:xfrm>
            <a:off x="502920" y="4599432"/>
            <a:ext cx="11185855" cy="1691640"/>
          </a:xfrm>
          <a:prstGeom prst="roundRect">
            <a:avLst>
              <a:gd name="adj" fmla="val 8000"/>
            </a:avLst>
          </a:prstGeom>
          <a:solidFill>
            <a:srgbClr val="F9E1E1"/>
          </a:solidFill>
          <a:ln>
            <a:no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Kişi, ev ve araç plakası yazılmaz, çizilmez; fotoğraf çekilmez.</a:t>
            </a:r>
            <a:r>
              <a:rPr lang="tr-TR" sz="2000" b="0" i="0">
                <a:solidFill>
                  <a:srgbClr val="262626"/>
                </a:solidFill>
                <a:latin typeface="Calibri"/>
              </a:rPr>
              <a:t> Sıra başında ve sıra sonunda görevli öğretmen vardır.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121 / 187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Çıkıştan önce: yoklama ve kontrol</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ÇIKIŞ · 4 dk</a:t>
            </a:r>
          </a:p>
        </p:txBody>
      </p:sp>
      <p:sp>
        <p:nvSpPr>
          <p:cNvPr id="6" name="Rounded Rectangle 5"/>
          <p:cNvSpPr/>
          <p:nvPr/>
        </p:nvSpPr>
        <p:spPr>
          <a:xfrm>
            <a:off x="502920" y="1261872"/>
            <a:ext cx="3594506" cy="30175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6A4C93"/>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6A4C93"/>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1. YOKLAMA</a:t>
            </a:r>
          </a:p>
        </p:txBody>
      </p:sp>
      <p:sp>
        <p:nvSpPr>
          <p:cNvPr id="10" name="TextBox 9"/>
          <p:cNvSpPr txBox="1"/>
          <p:nvPr/>
        </p:nvSpPr>
        <p:spPr>
          <a:xfrm>
            <a:off x="612648" y="1865376"/>
            <a:ext cx="3375050" cy="234086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Öğretmen yoklamayı alır.</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Sorumlu: “Grubumuz tam.”</a:t>
            </a:r>
          </a:p>
        </p:txBody>
      </p:sp>
      <p:sp>
        <p:nvSpPr>
          <p:cNvPr id="11" name="Rounded Rectangle 10"/>
          <p:cNvSpPr/>
          <p:nvPr/>
        </p:nvSpPr>
        <p:spPr>
          <a:xfrm>
            <a:off x="4298594" y="1261872"/>
            <a:ext cx="3594506" cy="301752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SIRA 1 → 8</a:t>
            </a:r>
          </a:p>
        </p:txBody>
      </p:sp>
      <p:sp>
        <p:nvSpPr>
          <p:cNvPr id="15" name="TextBox 14"/>
          <p:cNvSpPr txBox="1"/>
          <p:nvPr/>
        </p:nvSpPr>
        <p:spPr>
          <a:xfrm>
            <a:off x="4408322" y="1865376"/>
            <a:ext cx="3375050" cy="234086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Gruplar sırayla dizilir.</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Sıra başı ve sonu görevli.</a:t>
            </a:r>
          </a:p>
        </p:txBody>
      </p:sp>
      <p:sp>
        <p:nvSpPr>
          <p:cNvPr id="16" name="Rounded Rectangle 15"/>
          <p:cNvSpPr/>
          <p:nvPr/>
        </p:nvSpPr>
        <p:spPr>
          <a:xfrm>
            <a:off x="8094268" y="1261872"/>
            <a:ext cx="3594506" cy="301752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6A4C93"/>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6A4C93"/>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ÇANTAMDA</a:t>
            </a:r>
          </a:p>
        </p:txBody>
      </p:sp>
      <p:sp>
        <p:nvSpPr>
          <p:cNvPr id="20" name="TextBox 19"/>
          <p:cNvSpPr txBox="1"/>
          <p:nvPr/>
        </p:nvSpPr>
        <p:spPr>
          <a:xfrm>
            <a:off x="8203996" y="1865376"/>
            <a:ext cx="3375050" cy="234086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Sert altlık</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Kurşun kalem</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Gözlem formu</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Su ve şapka</a:t>
            </a:r>
          </a:p>
        </p:txBody>
      </p:sp>
      <p:sp>
        <p:nvSpPr>
          <p:cNvPr id="21" name="TextBox 20"/>
          <p:cNvSpPr txBox="1"/>
          <p:nvPr/>
        </p:nvSpPr>
        <p:spPr>
          <a:xfrm>
            <a:off x="502920" y="4507992"/>
            <a:ext cx="1118585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767676"/>
                </a:solidFill>
                <a:latin typeface="Calibri"/>
              </a:rPr>
              <a:t>Yoklama üç kez:</a:t>
            </a:r>
          </a:p>
        </p:txBody>
      </p:sp>
      <p:sp>
        <p:nvSpPr>
          <p:cNvPr id="22" name="Rounded Rectangle 21"/>
          <p:cNvSpPr/>
          <p:nvPr/>
        </p:nvSpPr>
        <p:spPr>
          <a:xfrm>
            <a:off x="502920" y="5010912"/>
            <a:ext cx="3362858" cy="9601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1. yoklama · Çıkış</a:t>
            </a:r>
          </a:p>
        </p:txBody>
      </p:sp>
      <p:cxnSp>
        <p:nvCxnSpPr>
          <p:cNvPr id="23" name="Connector 22"/>
          <p:cNvCxnSpPr/>
          <p:nvPr/>
        </p:nvCxnSpPr>
        <p:spPr>
          <a:xfrm>
            <a:off x="3938930" y="5486400"/>
            <a:ext cx="402336" cy="0"/>
          </a:xfrm>
          <a:prstGeom prst="line">
            <a:avLst/>
          </a:prstGeom>
          <a:ln w="38100">
            <a:solidFill>
              <a:srgbClr val="4F4F4F"/>
            </a:solidFill>
            <a:tailEnd type="triangle" w="med" len="med"/>
          </a:ln>
        </p:spPr>
      </p:cxnSp>
      <p:sp>
        <p:nvSpPr>
          <p:cNvPr id="24" name="Rounded Rectangle 23"/>
          <p:cNvSpPr/>
          <p:nvPr/>
        </p:nvSpPr>
        <p:spPr>
          <a:xfrm>
            <a:off x="4414418" y="5010912"/>
            <a:ext cx="3362858" cy="9601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2. yoklama · En uzak durak</a:t>
            </a:r>
          </a:p>
        </p:txBody>
      </p:sp>
      <p:cxnSp>
        <p:nvCxnSpPr>
          <p:cNvPr id="25" name="Connector 24"/>
          <p:cNvCxnSpPr/>
          <p:nvPr/>
        </p:nvCxnSpPr>
        <p:spPr>
          <a:xfrm>
            <a:off x="7850428" y="5486400"/>
            <a:ext cx="402336" cy="0"/>
          </a:xfrm>
          <a:prstGeom prst="line">
            <a:avLst/>
          </a:prstGeom>
          <a:ln w="38100">
            <a:solidFill>
              <a:srgbClr val="4F4F4F"/>
            </a:solidFill>
            <a:tailEnd type="triangle" w="med" len="med"/>
          </a:ln>
        </p:spPr>
      </p:cxnSp>
      <p:sp>
        <p:nvSpPr>
          <p:cNvPr id="26" name="Rounded Rectangle 25"/>
          <p:cNvSpPr/>
          <p:nvPr/>
        </p:nvSpPr>
        <p:spPr>
          <a:xfrm>
            <a:off x="8325916" y="5010912"/>
            <a:ext cx="3362858" cy="96012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3. yoklama · Dönüş</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122 / 187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Güzergâhımız: dört durak</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30 dk</a:t>
            </a:r>
          </a:p>
        </p:txBody>
      </p:sp>
      <p:cxnSp>
        <p:nvCxnSpPr>
          <p:cNvPr id="6" name="Connector 5"/>
          <p:cNvCxnSpPr/>
          <p:nvPr/>
        </p:nvCxnSpPr>
        <p:spPr>
          <a:xfrm flipV="1">
            <a:off x="2788920" y="1810512"/>
            <a:ext cx="960120" cy="1097280"/>
          </a:xfrm>
          <a:prstGeom prst="line">
            <a:avLst/>
          </a:prstGeom>
          <a:ln w="63500">
            <a:solidFill>
              <a:srgbClr val="D9D9D9"/>
            </a:solidFill>
            <a:prstDash val="dash"/>
          </a:ln>
        </p:spPr>
      </p:cxnSp>
      <p:cxnSp>
        <p:nvCxnSpPr>
          <p:cNvPr id="7" name="Connector 6"/>
          <p:cNvCxnSpPr/>
          <p:nvPr/>
        </p:nvCxnSpPr>
        <p:spPr>
          <a:xfrm>
            <a:off x="3749040" y="1810512"/>
            <a:ext cx="3566160" cy="0"/>
          </a:xfrm>
          <a:prstGeom prst="line">
            <a:avLst/>
          </a:prstGeom>
          <a:ln w="63500">
            <a:solidFill>
              <a:srgbClr val="D9D9D9"/>
            </a:solidFill>
            <a:prstDash val="dash"/>
          </a:ln>
        </p:spPr>
      </p:cxnSp>
      <p:cxnSp>
        <p:nvCxnSpPr>
          <p:cNvPr id="8" name="Connector 7"/>
          <p:cNvCxnSpPr/>
          <p:nvPr/>
        </p:nvCxnSpPr>
        <p:spPr>
          <a:xfrm>
            <a:off x="7315200" y="1810512"/>
            <a:ext cx="2651760" cy="1691640"/>
          </a:xfrm>
          <a:prstGeom prst="line">
            <a:avLst/>
          </a:prstGeom>
          <a:ln w="63500">
            <a:solidFill>
              <a:srgbClr val="D9D9D9"/>
            </a:solidFill>
            <a:prstDash val="dash"/>
          </a:ln>
        </p:spPr>
      </p:cxnSp>
      <p:cxnSp>
        <p:nvCxnSpPr>
          <p:cNvPr id="9" name="Connector 8"/>
          <p:cNvCxnSpPr/>
          <p:nvPr/>
        </p:nvCxnSpPr>
        <p:spPr>
          <a:xfrm flipH="1">
            <a:off x="5669280" y="3502152"/>
            <a:ext cx="4297680" cy="1188720"/>
          </a:xfrm>
          <a:prstGeom prst="line">
            <a:avLst/>
          </a:prstGeom>
          <a:ln w="63500">
            <a:solidFill>
              <a:srgbClr val="D9D9D9"/>
            </a:solidFill>
            <a:prstDash val="dash"/>
          </a:ln>
        </p:spPr>
      </p:cxnSp>
      <p:cxnSp>
        <p:nvCxnSpPr>
          <p:cNvPr id="10" name="Connector 9"/>
          <p:cNvCxnSpPr/>
          <p:nvPr/>
        </p:nvCxnSpPr>
        <p:spPr>
          <a:xfrm flipH="1" flipV="1">
            <a:off x="2788920" y="3730752"/>
            <a:ext cx="2880360" cy="960120"/>
          </a:xfrm>
          <a:prstGeom prst="line">
            <a:avLst/>
          </a:prstGeom>
          <a:ln w="63500">
            <a:solidFill>
              <a:srgbClr val="D9D9D9"/>
            </a:solidFill>
            <a:prstDash val="dash"/>
          </a:ln>
        </p:spPr>
      </p:cxnSp>
      <p:sp>
        <p:nvSpPr>
          <p:cNvPr id="11" name="Rounded Rectangle 10"/>
          <p:cNvSpPr/>
          <p:nvPr/>
        </p:nvSpPr>
        <p:spPr>
          <a:xfrm>
            <a:off x="685800" y="2633472"/>
            <a:ext cx="2103120" cy="1371600"/>
          </a:xfrm>
          <a:prstGeom prst="roundRect">
            <a:avLst>
              <a:gd name="adj" fmla="val 8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3000" b="1" i="0">
                <a:solidFill>
                  <a:srgbClr val="FFFFFF"/>
                </a:solidFill>
                <a:latin typeface="Calibri"/>
              </a:rPr>
              <a:t>OKUL</a:t>
            </a:r>
          </a:p>
        </p:txBody>
      </p:sp>
      <p:sp>
        <p:nvSpPr>
          <p:cNvPr id="12" name="Rounded Rectangle 11"/>
          <p:cNvSpPr/>
          <p:nvPr/>
        </p:nvSpPr>
        <p:spPr>
          <a:xfrm>
            <a:off x="4270248" y="1399032"/>
            <a:ext cx="2651760" cy="1051560"/>
          </a:xfrm>
          <a:prstGeom prst="roundRect">
            <a:avLst>
              <a:gd name="adj" fmla="val 8000"/>
            </a:avLst>
          </a:prstGeom>
          <a:solidFill>
            <a:srgbClr val="F0F0F0"/>
          </a:solidFill>
          <a:ln>
            <a:noFill/>
          </a:ln>
          <a:effectLst/>
        </p:spPr>
        <p:txBody>
          <a:bodyPr rtlCol="0" anchor="ctr" wrap="square" tIns="73152" bIns="73152">
            <a:noAutofit/>
          </a:bodyPr>
          <a:lstStyle/>
          <a:p>
            <a:pPr algn="l">
              <a:spcBef>
                <a:spcPts val="0"/>
              </a:spcBef>
              <a:spcAft>
                <a:spcPts val="600"/>
              </a:spcAft>
            </a:pPr>
            <a:r>
              <a:rPr lang="tr-TR" sz="2000" b="1" i="0">
                <a:solidFill>
                  <a:srgbClr val="262626"/>
                </a:solidFill>
                <a:latin typeface="Calibri"/>
              </a:rPr>
              <a:t>Okul bahçesi ve giriş</a:t>
            </a:r>
          </a:p>
          <a:p>
            <a:pPr algn="l">
              <a:spcBef>
                <a:spcPts val="0"/>
              </a:spcBef>
              <a:spcAft>
                <a:spcPts val="0"/>
              </a:spcAft>
            </a:pPr>
            <a:r>
              <a:rPr lang="tr-TR" sz="1700" b="0" i="0">
                <a:solidFill>
                  <a:srgbClr val="767676"/>
                </a:solidFill>
                <a:latin typeface="Calibri"/>
              </a:rPr>
              <a:t>6 dk</a:t>
            </a:r>
          </a:p>
        </p:txBody>
      </p:sp>
      <p:sp>
        <p:nvSpPr>
          <p:cNvPr id="13" name="Oval 12"/>
          <p:cNvSpPr/>
          <p:nvPr/>
        </p:nvSpPr>
        <p:spPr>
          <a:xfrm>
            <a:off x="3337560" y="139903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200" b="1" i="0">
                <a:solidFill>
                  <a:srgbClr val="262626"/>
                </a:solidFill>
                <a:latin typeface="Calibri"/>
              </a:rPr>
              <a:t>1</a:t>
            </a:r>
          </a:p>
        </p:txBody>
      </p:sp>
      <p:sp>
        <p:nvSpPr>
          <p:cNvPr id="14" name="Rounded Rectangle 13"/>
          <p:cNvSpPr/>
          <p:nvPr/>
        </p:nvSpPr>
        <p:spPr>
          <a:xfrm>
            <a:off x="7836408" y="1399032"/>
            <a:ext cx="2743200" cy="1051560"/>
          </a:xfrm>
          <a:prstGeom prst="roundRect">
            <a:avLst>
              <a:gd name="adj" fmla="val 8000"/>
            </a:avLst>
          </a:prstGeom>
          <a:solidFill>
            <a:srgbClr val="F0F0F0"/>
          </a:solidFill>
          <a:ln>
            <a:noFill/>
          </a:ln>
          <a:effectLst/>
        </p:spPr>
        <p:txBody>
          <a:bodyPr rtlCol="0" anchor="ctr" wrap="square" tIns="73152" bIns="73152">
            <a:noAutofit/>
          </a:bodyPr>
          <a:lstStyle/>
          <a:p>
            <a:pPr algn="l">
              <a:spcBef>
                <a:spcPts val="0"/>
              </a:spcBef>
              <a:spcAft>
                <a:spcPts val="600"/>
              </a:spcAft>
            </a:pPr>
            <a:r>
              <a:rPr lang="tr-TR" sz="2000" b="1" i="0">
                <a:solidFill>
                  <a:srgbClr val="262626"/>
                </a:solidFill>
                <a:latin typeface="Calibri"/>
              </a:rPr>
              <a:t>Okulun sokağı</a:t>
            </a:r>
          </a:p>
          <a:p>
            <a:pPr algn="l">
              <a:spcBef>
                <a:spcPts val="0"/>
              </a:spcBef>
              <a:spcAft>
                <a:spcPts val="0"/>
              </a:spcAft>
            </a:pPr>
            <a:r>
              <a:rPr lang="tr-TR" sz="1700" b="0" i="0">
                <a:solidFill>
                  <a:srgbClr val="767676"/>
                </a:solidFill>
                <a:latin typeface="Calibri"/>
              </a:rPr>
              <a:t>6 dk</a:t>
            </a:r>
          </a:p>
        </p:txBody>
      </p:sp>
      <p:sp>
        <p:nvSpPr>
          <p:cNvPr id="15" name="Oval 14"/>
          <p:cNvSpPr/>
          <p:nvPr/>
        </p:nvSpPr>
        <p:spPr>
          <a:xfrm>
            <a:off x="6903720" y="139903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200" b="1" i="0">
                <a:solidFill>
                  <a:srgbClr val="262626"/>
                </a:solidFill>
                <a:latin typeface="Calibri"/>
              </a:rPr>
              <a:t>2</a:t>
            </a:r>
          </a:p>
        </p:txBody>
      </p:sp>
      <p:sp>
        <p:nvSpPr>
          <p:cNvPr id="16" name="Rounded Rectangle 15"/>
          <p:cNvSpPr/>
          <p:nvPr/>
        </p:nvSpPr>
        <p:spPr>
          <a:xfrm>
            <a:off x="8458200" y="3986784"/>
            <a:ext cx="2743200" cy="1051560"/>
          </a:xfrm>
          <a:prstGeom prst="roundRect">
            <a:avLst>
              <a:gd name="adj" fmla="val 8000"/>
            </a:avLst>
          </a:prstGeom>
          <a:solidFill>
            <a:srgbClr val="F0F0F0"/>
          </a:solidFill>
          <a:ln>
            <a:noFill/>
          </a:ln>
          <a:effectLst/>
        </p:spPr>
        <p:txBody>
          <a:bodyPr rtlCol="0" anchor="ctr" wrap="square" tIns="73152" bIns="73152">
            <a:noAutofit/>
          </a:bodyPr>
          <a:lstStyle/>
          <a:p>
            <a:pPr algn="l">
              <a:spcBef>
                <a:spcPts val="0"/>
              </a:spcBef>
              <a:spcAft>
                <a:spcPts val="525"/>
              </a:spcAft>
            </a:pPr>
            <a:r>
              <a:rPr lang="tr-TR" sz="1750" b="1" i="0">
                <a:solidFill>
                  <a:srgbClr val="262626"/>
                </a:solidFill>
                <a:latin typeface="Calibri"/>
              </a:rPr>
              <a:t>Çevrenin görüldüğü açık nokta</a:t>
            </a:r>
          </a:p>
          <a:p>
            <a:pPr algn="l">
              <a:spcBef>
                <a:spcPts val="0"/>
              </a:spcBef>
              <a:spcAft>
                <a:spcPts val="0"/>
              </a:spcAft>
            </a:pPr>
            <a:r>
              <a:rPr lang="tr-TR" sz="1487" b="0" i="0">
                <a:solidFill>
                  <a:srgbClr val="767676"/>
                </a:solidFill>
                <a:latin typeface="Calibri"/>
              </a:rPr>
              <a:t>7 dk</a:t>
            </a:r>
          </a:p>
        </p:txBody>
      </p:sp>
      <p:sp>
        <p:nvSpPr>
          <p:cNvPr id="17" name="Oval 16"/>
          <p:cNvSpPr/>
          <p:nvPr/>
        </p:nvSpPr>
        <p:spPr>
          <a:xfrm>
            <a:off x="9555480" y="309067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200" b="1" i="0">
                <a:solidFill>
                  <a:srgbClr val="262626"/>
                </a:solidFill>
                <a:latin typeface="Calibri"/>
              </a:rPr>
              <a:t>3</a:t>
            </a:r>
          </a:p>
        </p:txBody>
      </p:sp>
      <p:sp>
        <p:nvSpPr>
          <p:cNvPr id="18" name="Rounded Rectangle 17"/>
          <p:cNvSpPr/>
          <p:nvPr/>
        </p:nvSpPr>
        <p:spPr>
          <a:xfrm>
            <a:off x="6190488" y="4279392"/>
            <a:ext cx="2240280" cy="1051560"/>
          </a:xfrm>
          <a:prstGeom prst="roundRect">
            <a:avLst>
              <a:gd name="adj" fmla="val 8000"/>
            </a:avLst>
          </a:prstGeom>
          <a:solidFill>
            <a:srgbClr val="F0F0F0"/>
          </a:solidFill>
          <a:ln>
            <a:noFill/>
          </a:ln>
          <a:effectLst/>
        </p:spPr>
        <p:txBody>
          <a:bodyPr rtlCol="0" anchor="ctr" wrap="square" tIns="73152" bIns="73152">
            <a:noAutofit/>
          </a:bodyPr>
          <a:lstStyle/>
          <a:p>
            <a:pPr algn="l">
              <a:spcBef>
                <a:spcPts val="0"/>
              </a:spcBef>
              <a:spcAft>
                <a:spcPts val="525"/>
              </a:spcAft>
            </a:pPr>
            <a:r>
              <a:rPr lang="tr-TR" sz="1750" b="1" i="0">
                <a:solidFill>
                  <a:srgbClr val="262626"/>
                </a:solidFill>
                <a:latin typeface="Calibri"/>
              </a:rPr>
              <a:t>Dönüş noktası (durak ya da çarşı)</a:t>
            </a:r>
          </a:p>
          <a:p>
            <a:pPr algn="l">
              <a:spcBef>
                <a:spcPts val="0"/>
              </a:spcBef>
              <a:spcAft>
                <a:spcPts val="0"/>
              </a:spcAft>
            </a:pPr>
            <a:r>
              <a:rPr lang="tr-TR" sz="1487" b="0" i="0">
                <a:solidFill>
                  <a:srgbClr val="767676"/>
                </a:solidFill>
                <a:latin typeface="Calibri"/>
              </a:rPr>
              <a:t>5 dk</a:t>
            </a:r>
          </a:p>
        </p:txBody>
      </p:sp>
      <p:sp>
        <p:nvSpPr>
          <p:cNvPr id="19" name="Oval 18"/>
          <p:cNvSpPr/>
          <p:nvPr/>
        </p:nvSpPr>
        <p:spPr>
          <a:xfrm>
            <a:off x="5257800" y="4279392"/>
            <a:ext cx="822960" cy="82296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200" b="1" i="0">
                <a:solidFill>
                  <a:srgbClr val="262626"/>
                </a:solidFill>
                <a:latin typeface="Calibri"/>
              </a:rPr>
              <a:t>4</a:t>
            </a:r>
          </a:p>
        </p:txBody>
      </p:sp>
      <p:sp>
        <p:nvSpPr>
          <p:cNvPr id="20" name="Rounded Rectangle 19"/>
          <p:cNvSpPr/>
          <p:nvPr/>
        </p:nvSpPr>
        <p:spPr>
          <a:xfrm>
            <a:off x="502920" y="5605272"/>
            <a:ext cx="11185855" cy="68580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1" i="0">
                <a:solidFill>
                  <a:srgbClr val="262626"/>
                </a:solidFill>
                <a:latin typeface="Calibri"/>
              </a:rPr>
              <a:t>Şema örnektir.</a:t>
            </a:r>
            <a:r>
              <a:rPr lang="tr-TR" sz="1900" b="0" i="0">
                <a:solidFill>
                  <a:srgbClr val="262626"/>
                </a:solidFill>
                <a:latin typeface="Calibri"/>
              </a:rPr>
              <a:t> Gerçek güzergâhı öğretmenimiz tahtaya çizdi · 2. yoklama en uzak durakta</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123 / 187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Hava yağışlıysa: B planı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B PLANI</a:t>
            </a:r>
          </a:p>
        </p:txBody>
      </p:sp>
      <p:sp>
        <p:nvSpPr>
          <p:cNvPr id="6" name="Rounded Rectangle 5"/>
          <p:cNvSpPr/>
          <p:nvPr/>
        </p:nvSpPr>
        <p:spPr>
          <a:xfrm>
            <a:off x="502920" y="1261872"/>
            <a:ext cx="3594506" cy="32918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SANAL DURAKLAR</a:t>
            </a:r>
          </a:p>
        </p:txBody>
      </p:sp>
      <p:sp>
        <p:nvSpPr>
          <p:cNvPr id="10" name="TextBox 9"/>
          <p:cNvSpPr txBox="1"/>
          <p:nvPr/>
        </p:nvSpPr>
        <p:spPr>
          <a:xfrm>
            <a:off x="612648" y="1865376"/>
            <a:ext cx="3375050" cy="26151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Etkileşimli tahtada okul çevresinin haritası</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Dört durağı haritada buluruz</a:t>
            </a:r>
          </a:p>
        </p:txBody>
      </p:sp>
      <p:sp>
        <p:nvSpPr>
          <p:cNvPr id="11" name="Rounded Rectangle 10"/>
          <p:cNvSpPr/>
          <p:nvPr/>
        </p:nvSpPr>
        <p:spPr>
          <a:xfrm>
            <a:off x="4298594" y="1261872"/>
            <a:ext cx="3594506" cy="32918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6A4C93"/>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6A4C93"/>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PENCEREDEN</a:t>
            </a:r>
          </a:p>
        </p:txBody>
      </p:sp>
      <p:sp>
        <p:nvSpPr>
          <p:cNvPr id="15" name="TextBox 14"/>
          <p:cNvSpPr txBox="1"/>
          <p:nvPr/>
        </p:nvSpPr>
        <p:spPr>
          <a:xfrm>
            <a:off x="4408322" y="1865376"/>
            <a:ext cx="3375050" cy="26151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Hava durumu: bulut, rüzgâr</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Eğim ve yapılaşma</a:t>
            </a:r>
          </a:p>
        </p:txBody>
      </p:sp>
      <p:sp>
        <p:nvSpPr>
          <p:cNvPr id="16" name="Rounded Rectangle 15"/>
          <p:cNvSpPr/>
          <p:nvPr/>
        </p:nvSpPr>
        <p:spPr>
          <a:xfrm>
            <a:off x="8094268" y="1261872"/>
            <a:ext cx="3594506" cy="32918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3E7D3A"/>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3E7D3A"/>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BAHÇEDE 10 DAKİKA</a:t>
            </a:r>
          </a:p>
        </p:txBody>
      </p:sp>
      <p:sp>
        <p:nvSpPr>
          <p:cNvPr id="20" name="TextBox 19"/>
          <p:cNvSpPr txBox="1"/>
          <p:nvPr/>
        </p:nvSpPr>
        <p:spPr>
          <a:xfrm>
            <a:off x="8203996" y="1865376"/>
            <a:ext cx="3375050" cy="261518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Okul sınırları içinde kısa gözlem</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Aynı gözlem formu</a:t>
            </a:r>
          </a:p>
        </p:txBody>
      </p:sp>
      <p:sp>
        <p:nvSpPr>
          <p:cNvPr id="21" name="Rounded Rectangle 20"/>
          <p:cNvSpPr/>
          <p:nvPr/>
        </p:nvSpPr>
        <p:spPr>
          <a:xfrm>
            <a:off x="502920" y="4782312"/>
            <a:ext cx="11185855" cy="1508760"/>
          </a:xfrm>
          <a:prstGeom prst="roundRect">
            <a:avLst>
              <a:gd name="adj" fmla="val 8000"/>
            </a:avLst>
          </a:prstGeom>
          <a:solidFill>
            <a:srgbClr val="E3ECF5"/>
          </a:solidFill>
          <a:ln>
            <a:noFill/>
          </a:ln>
          <a:effectLst/>
        </p:spPr>
        <p:txBody>
          <a:bodyPr rtlCol="0" anchor="ctr" wrap="square" lIns="201168" rIns="201168" tIns="73152" bIns="73152">
            <a:noAutofit/>
          </a:bodyPr>
          <a:lstStyle/>
          <a:p>
            <a:pPr algn="ctr">
              <a:spcBef>
                <a:spcPts val="0"/>
              </a:spcBef>
              <a:spcAft>
                <a:spcPts val="0"/>
              </a:spcAft>
            </a:pPr>
            <a:r>
              <a:rPr lang="tr-TR" sz="2200" b="0" i="0">
                <a:solidFill>
                  <a:srgbClr val="262626"/>
                </a:solidFill>
                <a:latin typeface="Calibri"/>
              </a:rPr>
              <a:t>Gözlem formu, kroki, rapor ve paylaşım </a:t>
            </a:r>
            <a:r>
              <a:rPr lang="tr-TR" sz="2200" b="1" i="0">
                <a:solidFill>
                  <a:srgbClr val="262626"/>
                </a:solidFill>
                <a:latin typeface="Calibri"/>
              </a:rPr>
              <a:t>aynen</a:t>
            </a:r>
            <a:r>
              <a:rPr lang="tr-TR" sz="2200" b="0" i="0">
                <a:solidFill>
                  <a:srgbClr val="262626"/>
                </a:solidFill>
                <a:latin typeface="Calibri"/>
              </a:rPr>
              <a:t> devam eder.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124 / 187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1: Okul bahçesi ve giriş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DURAK 1 · 6 dk</a:t>
            </a:r>
          </a:p>
        </p:txBody>
      </p:sp>
      <p:sp>
        <p:nvSpPr>
          <p:cNvPr id="6" name="Oval 5"/>
          <p:cNvSpPr/>
          <p:nvPr/>
        </p:nvSpPr>
        <p:spPr>
          <a:xfrm>
            <a:off x="502920" y="1261872"/>
            <a:ext cx="685800" cy="68580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1</a:t>
            </a:r>
          </a:p>
        </p:txBody>
      </p:sp>
      <p:sp>
        <p:nvSpPr>
          <p:cNvPr id="7" name="TextBox 6"/>
          <p:cNvSpPr txBox="1"/>
          <p:nvPr/>
        </p:nvSpPr>
        <p:spPr>
          <a:xfrm>
            <a:off x="1371600" y="1261872"/>
            <a:ext cx="10317175" cy="68580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767676"/>
                </a:solidFill>
                <a:latin typeface="Calibri"/>
              </a:rPr>
              <a:t>Arazi eğimi, yapılaşma ve yön</a:t>
            </a:r>
          </a:p>
        </p:txBody>
      </p:sp>
      <p:sp>
        <p:nvSpPr>
          <p:cNvPr id="8" name="Rounded Rectangle 7"/>
          <p:cNvSpPr/>
          <p:nvPr/>
        </p:nvSpPr>
        <p:spPr>
          <a:xfrm>
            <a:off x="502920" y="2130552"/>
            <a:ext cx="3594506" cy="333756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130552"/>
            <a:ext cx="3594506" cy="530352"/>
          </a:xfrm>
          <a:prstGeom prst="roundRect">
            <a:avLst>
              <a:gd name="adj" fmla="val 25000"/>
            </a:avLst>
          </a:prstGeom>
          <a:solidFill>
            <a:srgbClr val="3E7D3A"/>
          </a:solidFill>
          <a:ln>
            <a:noFill/>
          </a:ln>
          <a:effectLst/>
        </p:spPr>
        <p:txBody>
          <a:bodyPr rtlCol="0" anchor="ctr"/>
          <a:lstStyle/>
          <a:p/>
        </p:txBody>
      </p:sp>
      <p:sp>
        <p:nvSpPr>
          <p:cNvPr id="10" name="Rectangle 9"/>
          <p:cNvSpPr/>
          <p:nvPr/>
        </p:nvSpPr>
        <p:spPr>
          <a:xfrm>
            <a:off x="502920" y="2395728"/>
            <a:ext cx="3594506" cy="265176"/>
          </a:xfrm>
          <a:prstGeom prst="rect">
            <a:avLst/>
          </a:prstGeom>
          <a:solidFill>
            <a:srgbClr val="3E7D3A"/>
          </a:solidFill>
          <a:ln>
            <a:noFill/>
          </a:ln>
          <a:effectLst/>
        </p:spPr>
        <p:txBody>
          <a:bodyPr rtlCol="0" anchor="ctr"/>
          <a:lstStyle/>
          <a:p/>
        </p:txBody>
      </p:sp>
      <p:sp>
        <p:nvSpPr>
          <p:cNvPr id="11" name="TextBox 10"/>
          <p:cNvSpPr txBox="1"/>
          <p:nvPr/>
        </p:nvSpPr>
        <p:spPr>
          <a:xfrm>
            <a:off x="594360"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Arazi eğimi</a:t>
            </a:r>
          </a:p>
        </p:txBody>
      </p:sp>
      <p:sp>
        <p:nvSpPr>
          <p:cNvPr id="12" name="TextBox 11"/>
          <p:cNvSpPr txBox="1"/>
          <p:nvPr/>
        </p:nvSpPr>
        <p:spPr>
          <a:xfrm>
            <a:off x="612648"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Bahçe hangi yöne doğru eğimli?</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Yağmur suyu nereye akar?</a:t>
            </a:r>
          </a:p>
        </p:txBody>
      </p:sp>
      <p:sp>
        <p:nvSpPr>
          <p:cNvPr id="13" name="Rounded Rectangle 12"/>
          <p:cNvSpPr/>
          <p:nvPr/>
        </p:nvSpPr>
        <p:spPr>
          <a:xfrm>
            <a:off x="4298594" y="2130552"/>
            <a:ext cx="3594506" cy="333756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298594" y="2130552"/>
            <a:ext cx="3594506" cy="530352"/>
          </a:xfrm>
          <a:prstGeom prst="roundRect">
            <a:avLst>
              <a:gd name="adj" fmla="val 25000"/>
            </a:avLst>
          </a:prstGeom>
          <a:solidFill>
            <a:srgbClr val="B05A1E"/>
          </a:solidFill>
          <a:ln>
            <a:noFill/>
          </a:ln>
          <a:effectLst/>
        </p:spPr>
        <p:txBody>
          <a:bodyPr rtlCol="0" anchor="ctr"/>
          <a:lstStyle/>
          <a:p/>
        </p:txBody>
      </p:sp>
      <p:sp>
        <p:nvSpPr>
          <p:cNvPr id="15" name="Rectangle 14"/>
          <p:cNvSpPr/>
          <p:nvPr/>
        </p:nvSpPr>
        <p:spPr>
          <a:xfrm>
            <a:off x="4298594" y="2395728"/>
            <a:ext cx="3594506" cy="265176"/>
          </a:xfrm>
          <a:prstGeom prst="rect">
            <a:avLst/>
          </a:prstGeom>
          <a:solidFill>
            <a:srgbClr val="B05A1E"/>
          </a:solidFill>
          <a:ln>
            <a:noFill/>
          </a:ln>
          <a:effectLst/>
        </p:spPr>
        <p:txBody>
          <a:bodyPr rtlCol="0" anchor="ctr"/>
          <a:lstStyle/>
          <a:p/>
        </p:txBody>
      </p:sp>
      <p:sp>
        <p:nvSpPr>
          <p:cNvPr id="16" name="TextBox 15"/>
          <p:cNvSpPr txBox="1"/>
          <p:nvPr/>
        </p:nvSpPr>
        <p:spPr>
          <a:xfrm>
            <a:off x="4390034"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Yapılaşma</a:t>
            </a:r>
          </a:p>
        </p:txBody>
      </p:sp>
      <p:sp>
        <p:nvSpPr>
          <p:cNvPr id="17" name="TextBox 16"/>
          <p:cNvSpPr txBox="1"/>
          <p:nvPr/>
        </p:nvSpPr>
        <p:spPr>
          <a:xfrm>
            <a:off x="4408322"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Çevredeki binalar kaç katlı?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En yüksek yapı hangisi?</a:t>
            </a:r>
          </a:p>
        </p:txBody>
      </p:sp>
      <p:sp>
        <p:nvSpPr>
          <p:cNvPr id="18" name="Rounded Rectangle 17"/>
          <p:cNvSpPr/>
          <p:nvPr/>
        </p:nvSpPr>
        <p:spPr>
          <a:xfrm>
            <a:off x="8094268" y="2130552"/>
            <a:ext cx="3594506" cy="333756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94268" y="2130552"/>
            <a:ext cx="3594506" cy="530352"/>
          </a:xfrm>
          <a:prstGeom prst="roundRect">
            <a:avLst>
              <a:gd name="adj" fmla="val 25000"/>
            </a:avLst>
          </a:prstGeom>
          <a:solidFill>
            <a:srgbClr val="6A4C93"/>
          </a:solidFill>
          <a:ln>
            <a:noFill/>
          </a:ln>
          <a:effectLst/>
        </p:spPr>
        <p:txBody>
          <a:bodyPr rtlCol="0" anchor="ctr"/>
          <a:lstStyle/>
          <a:p/>
        </p:txBody>
      </p:sp>
      <p:sp>
        <p:nvSpPr>
          <p:cNvPr id="20" name="Rectangle 19"/>
          <p:cNvSpPr/>
          <p:nvPr/>
        </p:nvSpPr>
        <p:spPr>
          <a:xfrm>
            <a:off x="8094268" y="2395728"/>
            <a:ext cx="3594506" cy="265176"/>
          </a:xfrm>
          <a:prstGeom prst="rect">
            <a:avLst/>
          </a:prstGeom>
          <a:solidFill>
            <a:srgbClr val="6A4C93"/>
          </a:solidFill>
          <a:ln>
            <a:noFill/>
          </a:ln>
          <a:effectLst/>
        </p:spPr>
        <p:txBody>
          <a:bodyPr rtlCol="0" anchor="ctr"/>
          <a:lstStyle/>
          <a:p/>
        </p:txBody>
      </p:sp>
      <p:sp>
        <p:nvSpPr>
          <p:cNvPr id="21" name="TextBox 20"/>
          <p:cNvSpPr txBox="1"/>
          <p:nvPr/>
        </p:nvSpPr>
        <p:spPr>
          <a:xfrm>
            <a:off x="8185708"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Yön</a:t>
            </a:r>
          </a:p>
        </p:txBody>
      </p:sp>
      <p:sp>
        <p:nvSpPr>
          <p:cNvPr id="22" name="TextBox 21"/>
          <p:cNvSpPr txBox="1"/>
          <p:nvPr/>
        </p:nvSpPr>
        <p:spPr>
          <a:xfrm>
            <a:off x="8203996"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Kuzey hangi yönde?</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Okulun girişi hangi yöne bakıyor?</a:t>
            </a:r>
          </a:p>
        </p:txBody>
      </p:sp>
      <p:sp>
        <p:nvSpPr>
          <p:cNvPr id="23" name="TextBox 22"/>
          <p:cNvSpPr txBox="1"/>
          <p:nvPr/>
        </p:nvSpPr>
        <p:spPr>
          <a:xfrm>
            <a:off x="502920" y="5788152"/>
            <a:ext cx="1874519" cy="45720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6A4C93"/>
                </a:solidFill>
                <a:latin typeface="Calibri"/>
              </a:rPr>
              <a:t>Yılın kavramları:</a:t>
            </a:r>
          </a:p>
        </p:txBody>
      </p:sp>
      <p:sp>
        <p:nvSpPr>
          <p:cNvPr id="24" name="Rounded Rectangle 23"/>
          <p:cNvSpPr/>
          <p:nvPr/>
        </p:nvSpPr>
        <p:spPr>
          <a:xfrm>
            <a:off x="2423160" y="5788152"/>
            <a:ext cx="2997098" cy="457200"/>
          </a:xfrm>
          <a:prstGeom prst="roundRect">
            <a:avLst>
              <a:gd name="adj" fmla="val 45000"/>
            </a:avLst>
          </a:prstGeom>
          <a:solidFill>
            <a:srgbClr val="FFFFFF"/>
          </a:solidFill>
          <a:ln w="22225">
            <a:solidFill>
              <a:srgbClr val="3E7D3A"/>
            </a:solidFill>
          </a:ln>
          <a:effectLst/>
        </p:spPr>
        <p:txBody>
          <a:bodyPr rtlCol="0" anchor="ctr" wrap="square" lIns="54864" rIns="54864" tIns="0" bIns="0">
            <a:noAutofit/>
          </a:bodyPr>
          <a:lstStyle/>
          <a:p>
            <a:pPr algn="ctr">
              <a:spcBef>
                <a:spcPts val="0"/>
              </a:spcBef>
              <a:spcAft>
                <a:spcPts val="0"/>
              </a:spcAft>
            </a:pPr>
            <a:r>
              <a:rPr lang="tr-TR" sz="1500" b="1" i="0">
                <a:solidFill>
                  <a:srgbClr val="3E7D3A"/>
                </a:solidFill>
                <a:latin typeface="Calibri"/>
              </a:rPr>
              <a:t>eğim · su akışı → risk (6)</a:t>
            </a:r>
          </a:p>
        </p:txBody>
      </p:sp>
      <p:sp>
        <p:nvSpPr>
          <p:cNvPr id="25" name="Rounded Rectangle 24"/>
          <p:cNvSpPr/>
          <p:nvPr/>
        </p:nvSpPr>
        <p:spPr>
          <a:xfrm>
            <a:off x="5557418" y="5788152"/>
            <a:ext cx="2997098" cy="457200"/>
          </a:xfrm>
          <a:prstGeom prst="roundRect">
            <a:avLst>
              <a:gd name="adj" fmla="val 45000"/>
            </a:avLst>
          </a:prstGeom>
          <a:solidFill>
            <a:srgbClr val="FFFFFF"/>
          </a:solidFill>
          <a:ln w="22225">
            <a:solidFill>
              <a:srgbClr val="6A4C93"/>
            </a:solidFill>
          </a:ln>
          <a:effectLst/>
        </p:spPr>
        <p:txBody>
          <a:bodyPr rtlCol="0" anchor="ctr" wrap="square" lIns="54864" rIns="54864" tIns="0" bIns="0">
            <a:noAutofit/>
          </a:bodyPr>
          <a:lstStyle/>
          <a:p>
            <a:pPr algn="ctr">
              <a:spcBef>
                <a:spcPts val="0"/>
              </a:spcBef>
              <a:spcAft>
                <a:spcPts val="0"/>
              </a:spcAft>
            </a:pPr>
            <a:r>
              <a:rPr lang="tr-TR" sz="1500" b="1" i="0">
                <a:solidFill>
                  <a:srgbClr val="6A4C93"/>
                </a:solidFill>
                <a:latin typeface="Calibri"/>
              </a:rPr>
              <a:t>yön · kroki (2)</a:t>
            </a:r>
          </a:p>
        </p:txBody>
      </p:sp>
      <p:sp>
        <p:nvSpPr>
          <p:cNvPr id="26" name="Rounded Rectangle 25"/>
          <p:cNvSpPr/>
          <p:nvPr/>
        </p:nvSpPr>
        <p:spPr>
          <a:xfrm>
            <a:off x="8691676" y="5788152"/>
            <a:ext cx="2997098" cy="457200"/>
          </a:xfrm>
          <a:prstGeom prst="roundRect">
            <a:avLst>
              <a:gd name="adj" fmla="val 45000"/>
            </a:avLst>
          </a:prstGeom>
          <a:solidFill>
            <a:srgbClr val="FFFFFF"/>
          </a:solidFill>
          <a:ln w="22225">
            <a:solidFill>
              <a:srgbClr val="B05A1E"/>
            </a:solidFill>
          </a:ln>
          <a:effectLst/>
        </p:spPr>
        <p:txBody>
          <a:bodyPr rtlCol="0" anchor="ctr" wrap="square" lIns="54864" rIns="54864" tIns="0" bIns="0">
            <a:noAutofit/>
          </a:bodyPr>
          <a:lstStyle/>
          <a:p>
            <a:pPr algn="ctr">
              <a:spcBef>
                <a:spcPts val="0"/>
              </a:spcBef>
              <a:spcAft>
                <a:spcPts val="0"/>
              </a:spcAft>
            </a:pPr>
            <a:r>
              <a:rPr lang="tr-TR" sz="1500" b="1" i="0">
                <a:solidFill>
                  <a:srgbClr val="B05A1E"/>
                </a:solidFill>
                <a:latin typeface="Calibri"/>
              </a:rPr>
              <a:t>kat sayısı → yerleşme (4)</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125 / 187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1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88720"/>
            <a:ext cx="11185855" cy="43891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767676"/>
                </a:solidFill>
                <a:latin typeface="Calibri"/>
              </a:rPr>
              <a:t>İyi bir gözlem kaydı = </a:t>
            </a:r>
            <a:r>
              <a:rPr lang="tr-TR" sz="1700" b="1" i="0">
                <a:solidFill>
                  <a:srgbClr val="767676"/>
                </a:solidFill>
                <a:latin typeface="Calibri"/>
              </a:rPr>
              <a:t>ne gördüm</a:t>
            </a:r>
            <a:r>
              <a:rPr lang="tr-TR" sz="1700" b="0" i="0">
                <a:solidFill>
                  <a:srgbClr val="767676"/>
                </a:solidFill>
                <a:latin typeface="Calibri"/>
              </a:rPr>
              <a:t> + </a:t>
            </a:r>
            <a:r>
              <a:rPr lang="tr-TR" sz="1700" b="1" i="0">
                <a:solidFill>
                  <a:srgbClr val="767676"/>
                </a:solidFill>
                <a:latin typeface="Calibri"/>
              </a:rPr>
              <a:t>nerede</a:t>
            </a:r>
            <a:r>
              <a:rPr lang="tr-TR" sz="1700" b="0" i="0">
                <a:solidFill>
                  <a:srgbClr val="767676"/>
                </a:solidFill>
                <a:latin typeface="Calibri"/>
              </a:rPr>
              <a:t> + </a:t>
            </a:r>
            <a:r>
              <a:rPr lang="tr-TR" sz="1700" b="1" i="0">
                <a:solidFill>
                  <a:srgbClr val="767676"/>
                </a:solidFill>
                <a:latin typeface="Calibri"/>
              </a:rPr>
              <a:t>hangi kavram</a:t>
            </a:r>
            <a:r>
              <a:rPr lang="tr-TR" sz="1700" b="0" i="0">
                <a:solidFill>
                  <a:srgbClr val="767676"/>
                </a:solidFill>
                <a:latin typeface="Calibri"/>
              </a:rPr>
              <a:t>  ·  satırlar biçim örneğidir, kendi gözlemin esastır</a:t>
            </a:r>
          </a:p>
        </p:txBody>
      </p:sp>
      <p:sp>
        <p:nvSpPr>
          <p:cNvPr id="7" name="Rectangle 6"/>
          <p:cNvSpPr/>
          <p:nvPr/>
        </p:nvSpPr>
        <p:spPr>
          <a:xfrm>
            <a:off x="502920" y="1673352"/>
            <a:ext cx="2103120"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Gözlem başlığı</a:t>
            </a:r>
          </a:p>
        </p:txBody>
      </p:sp>
      <p:sp>
        <p:nvSpPr>
          <p:cNvPr id="8" name="Rectangle 7"/>
          <p:cNvSpPr/>
          <p:nvPr/>
        </p:nvSpPr>
        <p:spPr>
          <a:xfrm>
            <a:off x="2606040" y="1673352"/>
            <a:ext cx="6035040"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Örnek kayıt</a:t>
            </a:r>
          </a:p>
        </p:txBody>
      </p:sp>
      <p:sp>
        <p:nvSpPr>
          <p:cNvPr id="9" name="Rectangle 8"/>
          <p:cNvSpPr/>
          <p:nvPr/>
        </p:nvSpPr>
        <p:spPr>
          <a:xfrm>
            <a:off x="8641080" y="1673352"/>
            <a:ext cx="3047695"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Kavram · ünite</a:t>
            </a:r>
          </a:p>
        </p:txBody>
      </p:sp>
      <p:sp>
        <p:nvSpPr>
          <p:cNvPr id="10" name="Rectangle 9"/>
          <p:cNvSpPr/>
          <p:nvPr/>
        </p:nvSpPr>
        <p:spPr>
          <a:xfrm>
            <a:off x="502920" y="2057400"/>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3E7D3A"/>
                </a:solidFill>
                <a:latin typeface="Calibri"/>
              </a:rPr>
              <a:t>Arazi eğimi</a:t>
            </a:r>
          </a:p>
        </p:txBody>
      </p:sp>
      <p:sp>
        <p:nvSpPr>
          <p:cNvPr id="11" name="Rectangle 10"/>
          <p:cNvSpPr/>
          <p:nvPr/>
        </p:nvSpPr>
        <p:spPr>
          <a:xfrm>
            <a:off x="2606040" y="2057400"/>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Bahçe girişe doğru hafifçe alçalıyor; yağmur suyu giriş önündeki ızgaraya akıyor. (Durak 1)</a:t>
            </a:r>
          </a:p>
        </p:txBody>
      </p:sp>
      <p:sp>
        <p:nvSpPr>
          <p:cNvPr id="12" name="Rectangle 11"/>
          <p:cNvSpPr/>
          <p:nvPr/>
        </p:nvSpPr>
        <p:spPr>
          <a:xfrm>
            <a:off x="8641080" y="2057400"/>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eğim, yüzey akışı → risk · 6. ünite</a:t>
            </a:r>
          </a:p>
        </p:txBody>
      </p:sp>
      <p:sp>
        <p:nvSpPr>
          <p:cNvPr id="13" name="Rectangle 12"/>
          <p:cNvSpPr/>
          <p:nvPr/>
        </p:nvSpPr>
        <p:spPr>
          <a:xfrm>
            <a:off x="502920" y="3179064"/>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B05A1E"/>
                </a:solidFill>
                <a:latin typeface="Calibri"/>
              </a:rPr>
              <a:t>Yapılaşma</a:t>
            </a:r>
          </a:p>
        </p:txBody>
      </p:sp>
      <p:sp>
        <p:nvSpPr>
          <p:cNvPr id="14" name="Rectangle 13"/>
          <p:cNvSpPr/>
          <p:nvPr/>
        </p:nvSpPr>
        <p:spPr>
          <a:xfrm>
            <a:off x="2606040" y="3179064"/>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Çevredeki yapıların çoğu çok katlı apartman; okul binası çevresindekilerden geniş tabanlı. (Durak 1)</a:t>
            </a:r>
          </a:p>
        </p:txBody>
      </p:sp>
      <p:sp>
        <p:nvSpPr>
          <p:cNvPr id="15" name="Rectangle 14"/>
          <p:cNvSpPr/>
          <p:nvPr/>
        </p:nvSpPr>
        <p:spPr>
          <a:xfrm>
            <a:off x="8641080" y="3179064"/>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yapılaşma → yerleşme · 4. ünite</a:t>
            </a:r>
          </a:p>
        </p:txBody>
      </p:sp>
      <p:sp>
        <p:nvSpPr>
          <p:cNvPr id="16" name="Rectangle 15"/>
          <p:cNvSpPr/>
          <p:nvPr/>
        </p:nvSpPr>
        <p:spPr>
          <a:xfrm>
            <a:off x="502920" y="4300728"/>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6A4C93"/>
                </a:solidFill>
                <a:latin typeface="Calibri"/>
              </a:rPr>
              <a:t>Yön</a:t>
            </a:r>
          </a:p>
        </p:txBody>
      </p:sp>
      <p:sp>
        <p:nvSpPr>
          <p:cNvPr id="17" name="Rectangle 16"/>
          <p:cNvSpPr/>
          <p:nvPr/>
        </p:nvSpPr>
        <p:spPr>
          <a:xfrm>
            <a:off x="2606040" y="4300728"/>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Okulun girişi ___ yönüne bakıyor; kuzeyi öğretmenimizin gösterdiği yönden bulduk. (Durak 1)</a:t>
            </a:r>
          </a:p>
        </p:txBody>
      </p:sp>
      <p:sp>
        <p:nvSpPr>
          <p:cNvPr id="18" name="Rectangle 17"/>
          <p:cNvSpPr/>
          <p:nvPr/>
        </p:nvSpPr>
        <p:spPr>
          <a:xfrm>
            <a:off x="8641080" y="4300728"/>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yön oku, kroki · 2. ünite</a:t>
            </a:r>
          </a:p>
        </p:txBody>
      </p:sp>
      <p:sp>
        <p:nvSpPr>
          <p:cNvPr id="19" name="Rounded Rectangle 18"/>
          <p:cNvSpPr/>
          <p:nvPr/>
        </p:nvSpPr>
        <p:spPr>
          <a:xfrm>
            <a:off x="502920" y="5513832"/>
            <a:ext cx="11185855" cy="777240"/>
          </a:xfrm>
          <a:prstGeom prst="roundRect">
            <a:avLst>
              <a:gd name="adj" fmla="val 6000"/>
            </a:avLst>
          </a:prstGeom>
          <a:solidFill>
            <a:srgbClr val="E3F1E4"/>
          </a:solidFill>
          <a:ln>
            <a:noFill/>
          </a:ln>
          <a:effectLst/>
        </p:spPr>
        <p:txBody>
          <a:bodyPr rtlCol="0" anchor="ctr"/>
          <a:lstStyle/>
          <a:p/>
        </p:txBody>
      </p:sp>
      <p:sp>
        <p:nvSpPr>
          <p:cNvPr id="20" name="Rectangle 19"/>
          <p:cNvSpPr/>
          <p:nvPr/>
        </p:nvSpPr>
        <p:spPr>
          <a:xfrm>
            <a:off x="502920" y="5513832"/>
            <a:ext cx="109728" cy="777240"/>
          </a:xfrm>
          <a:prstGeom prst="rect">
            <a:avLst/>
          </a:prstGeom>
          <a:solidFill>
            <a:srgbClr val="2E7D32"/>
          </a:solidFill>
          <a:ln>
            <a:noFill/>
          </a:ln>
          <a:effectLst/>
        </p:spPr>
        <p:txBody>
          <a:bodyPr rtlCol="0" anchor="ctr"/>
          <a:lstStyle/>
          <a:p/>
        </p:txBody>
      </p:sp>
      <p:sp>
        <p:nvSpPr>
          <p:cNvPr id="21" name="TextBox 20"/>
          <p:cNvSpPr txBox="1"/>
          <p:nvPr/>
        </p:nvSpPr>
        <p:spPr>
          <a:xfrm>
            <a:off x="731520" y="5568696"/>
            <a:ext cx="10865815" cy="667512"/>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2E7D32"/>
                </a:solidFill>
                <a:latin typeface="Calibri"/>
              </a:rPr>
              <a:t>Kontrol:</a:t>
            </a:r>
          </a:p>
          <a:p>
            <a:pPr algn="l">
              <a:spcBef>
                <a:spcPts val="0"/>
              </a:spcBef>
              <a:spcAft>
                <a:spcPts val="0"/>
              </a:spcAft>
            </a:pPr>
            <a:r>
              <a:rPr lang="tr-TR" sz="1700" b="0" i="0">
                <a:solidFill>
                  <a:srgbClr val="262626"/>
                </a:solidFill>
                <a:latin typeface="Calibri"/>
              </a:rPr>
              <a:t>Her satırda ne gördüğün + durak numarası + bir kavram var mı? Ölçüm yapmadıysan sayı yazma.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126 / 187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2: Okulun sokağı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DURAK 2 · 6 dk</a:t>
            </a:r>
          </a:p>
        </p:txBody>
      </p:sp>
      <p:sp>
        <p:nvSpPr>
          <p:cNvPr id="6" name="Oval 5"/>
          <p:cNvSpPr/>
          <p:nvPr/>
        </p:nvSpPr>
        <p:spPr>
          <a:xfrm>
            <a:off x="502920" y="1261872"/>
            <a:ext cx="685800" cy="68580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2</a:t>
            </a:r>
          </a:p>
        </p:txBody>
      </p:sp>
      <p:sp>
        <p:nvSpPr>
          <p:cNvPr id="7" name="TextBox 6"/>
          <p:cNvSpPr txBox="1"/>
          <p:nvPr/>
        </p:nvSpPr>
        <p:spPr>
          <a:xfrm>
            <a:off x="1371600" y="1261872"/>
            <a:ext cx="10317175" cy="68580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767676"/>
                </a:solidFill>
                <a:latin typeface="Calibri"/>
              </a:rPr>
              <a:t>Ulaşım, yerleşme dokusu ve yeşil alan</a:t>
            </a:r>
          </a:p>
        </p:txBody>
      </p:sp>
      <p:sp>
        <p:nvSpPr>
          <p:cNvPr id="8" name="Rounded Rectangle 7"/>
          <p:cNvSpPr/>
          <p:nvPr/>
        </p:nvSpPr>
        <p:spPr>
          <a:xfrm>
            <a:off x="502920" y="2130552"/>
            <a:ext cx="3594506" cy="333756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130552"/>
            <a:ext cx="3594506" cy="530352"/>
          </a:xfrm>
          <a:prstGeom prst="roundRect">
            <a:avLst>
              <a:gd name="adj" fmla="val 25000"/>
            </a:avLst>
          </a:prstGeom>
          <a:solidFill>
            <a:srgbClr val="B05A1E"/>
          </a:solidFill>
          <a:ln>
            <a:noFill/>
          </a:ln>
          <a:effectLst/>
        </p:spPr>
        <p:txBody>
          <a:bodyPr rtlCol="0" anchor="ctr"/>
          <a:lstStyle/>
          <a:p/>
        </p:txBody>
      </p:sp>
      <p:sp>
        <p:nvSpPr>
          <p:cNvPr id="10" name="Rectangle 9"/>
          <p:cNvSpPr/>
          <p:nvPr/>
        </p:nvSpPr>
        <p:spPr>
          <a:xfrm>
            <a:off x="502920" y="2395728"/>
            <a:ext cx="3594506" cy="265176"/>
          </a:xfrm>
          <a:prstGeom prst="rect">
            <a:avLst/>
          </a:prstGeom>
          <a:solidFill>
            <a:srgbClr val="B05A1E"/>
          </a:solidFill>
          <a:ln>
            <a:noFill/>
          </a:ln>
          <a:effectLst/>
        </p:spPr>
        <p:txBody>
          <a:bodyPr rtlCol="0" anchor="ctr"/>
          <a:lstStyle/>
          <a:p/>
        </p:txBody>
      </p:sp>
      <p:sp>
        <p:nvSpPr>
          <p:cNvPr id="11" name="TextBox 10"/>
          <p:cNvSpPr txBox="1"/>
          <p:nvPr/>
        </p:nvSpPr>
        <p:spPr>
          <a:xfrm>
            <a:off x="594360"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Ulaşım</a:t>
            </a:r>
          </a:p>
        </p:txBody>
      </p:sp>
      <p:sp>
        <p:nvSpPr>
          <p:cNvPr id="12" name="TextBox 11"/>
          <p:cNvSpPr txBox="1"/>
          <p:nvPr/>
        </p:nvSpPr>
        <p:spPr>
          <a:xfrm>
            <a:off x="612648"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Yol geniş mi, dar mı? Kaldırım var mı?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Durak var mı? Araç yoğunluğu nasıl?</a:t>
            </a:r>
          </a:p>
        </p:txBody>
      </p:sp>
      <p:sp>
        <p:nvSpPr>
          <p:cNvPr id="13" name="Rounded Rectangle 12"/>
          <p:cNvSpPr/>
          <p:nvPr/>
        </p:nvSpPr>
        <p:spPr>
          <a:xfrm>
            <a:off x="4298594" y="2130552"/>
            <a:ext cx="3594506" cy="333756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298594" y="2130552"/>
            <a:ext cx="3594506" cy="530352"/>
          </a:xfrm>
          <a:prstGeom prst="roundRect">
            <a:avLst>
              <a:gd name="adj" fmla="val 25000"/>
            </a:avLst>
          </a:prstGeom>
          <a:solidFill>
            <a:srgbClr val="B05A1E"/>
          </a:solidFill>
          <a:ln>
            <a:noFill/>
          </a:ln>
          <a:effectLst/>
        </p:spPr>
        <p:txBody>
          <a:bodyPr rtlCol="0" anchor="ctr"/>
          <a:lstStyle/>
          <a:p/>
        </p:txBody>
      </p:sp>
      <p:sp>
        <p:nvSpPr>
          <p:cNvPr id="15" name="Rectangle 14"/>
          <p:cNvSpPr/>
          <p:nvPr/>
        </p:nvSpPr>
        <p:spPr>
          <a:xfrm>
            <a:off x="4298594" y="2395728"/>
            <a:ext cx="3594506" cy="265176"/>
          </a:xfrm>
          <a:prstGeom prst="rect">
            <a:avLst/>
          </a:prstGeom>
          <a:solidFill>
            <a:srgbClr val="B05A1E"/>
          </a:solidFill>
          <a:ln>
            <a:noFill/>
          </a:ln>
          <a:effectLst/>
        </p:spPr>
        <p:txBody>
          <a:bodyPr rtlCol="0" anchor="ctr"/>
          <a:lstStyle/>
          <a:p/>
        </p:txBody>
      </p:sp>
      <p:sp>
        <p:nvSpPr>
          <p:cNvPr id="16" name="TextBox 15"/>
          <p:cNvSpPr txBox="1"/>
          <p:nvPr/>
        </p:nvSpPr>
        <p:spPr>
          <a:xfrm>
            <a:off x="4390034"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Yerleşme dokusu</a:t>
            </a:r>
          </a:p>
        </p:txBody>
      </p:sp>
      <p:sp>
        <p:nvSpPr>
          <p:cNvPr id="17" name="TextBox 16"/>
          <p:cNvSpPr txBox="1"/>
          <p:nvPr/>
        </p:nvSpPr>
        <p:spPr>
          <a:xfrm>
            <a:off x="4408322"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Binalar bitişik mi, ayrık mı?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Dükkân, market, atölye var mı?</a:t>
            </a:r>
          </a:p>
        </p:txBody>
      </p:sp>
      <p:sp>
        <p:nvSpPr>
          <p:cNvPr id="18" name="Rounded Rectangle 17"/>
          <p:cNvSpPr/>
          <p:nvPr/>
        </p:nvSpPr>
        <p:spPr>
          <a:xfrm>
            <a:off x="8094268" y="2130552"/>
            <a:ext cx="3594506" cy="333756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94268" y="2130552"/>
            <a:ext cx="3594506" cy="530352"/>
          </a:xfrm>
          <a:prstGeom prst="roundRect">
            <a:avLst>
              <a:gd name="adj" fmla="val 25000"/>
            </a:avLst>
          </a:prstGeom>
          <a:solidFill>
            <a:srgbClr val="3E7D3A"/>
          </a:solidFill>
          <a:ln>
            <a:noFill/>
          </a:ln>
          <a:effectLst/>
        </p:spPr>
        <p:txBody>
          <a:bodyPr rtlCol="0" anchor="ctr"/>
          <a:lstStyle/>
          <a:p/>
        </p:txBody>
      </p:sp>
      <p:sp>
        <p:nvSpPr>
          <p:cNvPr id="20" name="Rectangle 19"/>
          <p:cNvSpPr/>
          <p:nvPr/>
        </p:nvSpPr>
        <p:spPr>
          <a:xfrm>
            <a:off x="8094268" y="2395728"/>
            <a:ext cx="3594506" cy="265176"/>
          </a:xfrm>
          <a:prstGeom prst="rect">
            <a:avLst/>
          </a:prstGeom>
          <a:solidFill>
            <a:srgbClr val="3E7D3A"/>
          </a:solidFill>
          <a:ln>
            <a:noFill/>
          </a:ln>
          <a:effectLst/>
        </p:spPr>
        <p:txBody>
          <a:bodyPr rtlCol="0" anchor="ctr"/>
          <a:lstStyle/>
          <a:p/>
        </p:txBody>
      </p:sp>
      <p:sp>
        <p:nvSpPr>
          <p:cNvPr id="21" name="TextBox 20"/>
          <p:cNvSpPr txBox="1"/>
          <p:nvPr/>
        </p:nvSpPr>
        <p:spPr>
          <a:xfrm>
            <a:off x="8185708"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Yeşil alan</a:t>
            </a:r>
          </a:p>
        </p:txBody>
      </p:sp>
      <p:sp>
        <p:nvSpPr>
          <p:cNvPr id="22" name="TextBox 21"/>
          <p:cNvSpPr txBox="1"/>
          <p:nvPr/>
        </p:nvSpPr>
        <p:spPr>
          <a:xfrm>
            <a:off x="8203996"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Ağaç, park, bahçe var mı?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Boş arsa var mı?</a:t>
            </a:r>
          </a:p>
        </p:txBody>
      </p:sp>
      <p:sp>
        <p:nvSpPr>
          <p:cNvPr id="23" name="TextBox 22"/>
          <p:cNvSpPr txBox="1"/>
          <p:nvPr/>
        </p:nvSpPr>
        <p:spPr>
          <a:xfrm>
            <a:off x="502920" y="5788152"/>
            <a:ext cx="1874519" cy="45720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6A4C93"/>
                </a:solidFill>
                <a:latin typeface="Calibri"/>
              </a:rPr>
              <a:t>Yılın kavramları:</a:t>
            </a:r>
          </a:p>
        </p:txBody>
      </p:sp>
      <p:sp>
        <p:nvSpPr>
          <p:cNvPr id="24" name="Rounded Rectangle 23"/>
          <p:cNvSpPr/>
          <p:nvPr/>
        </p:nvSpPr>
        <p:spPr>
          <a:xfrm>
            <a:off x="2423160" y="5788152"/>
            <a:ext cx="2997098" cy="457200"/>
          </a:xfrm>
          <a:prstGeom prst="roundRect">
            <a:avLst>
              <a:gd name="adj" fmla="val 45000"/>
            </a:avLst>
          </a:prstGeom>
          <a:solidFill>
            <a:srgbClr val="FFFFFF"/>
          </a:solidFill>
          <a:ln w="22225">
            <a:solidFill>
              <a:srgbClr val="B05A1E"/>
            </a:solidFill>
          </a:ln>
          <a:effectLst/>
        </p:spPr>
        <p:txBody>
          <a:bodyPr rtlCol="0" anchor="ctr" wrap="square" lIns="54864" rIns="54864" tIns="0" bIns="0">
            <a:noAutofit/>
          </a:bodyPr>
          <a:lstStyle/>
          <a:p>
            <a:pPr algn="ctr">
              <a:spcBef>
                <a:spcPts val="0"/>
              </a:spcBef>
              <a:spcAft>
                <a:spcPts val="0"/>
              </a:spcAft>
            </a:pPr>
            <a:r>
              <a:rPr lang="tr-TR" sz="1500" b="1" i="0">
                <a:solidFill>
                  <a:srgbClr val="B05A1E"/>
                </a:solidFill>
                <a:latin typeface="Calibri"/>
              </a:rPr>
              <a:t>yapı yoğunluğu → nüfus (4)</a:t>
            </a:r>
          </a:p>
        </p:txBody>
      </p:sp>
      <p:sp>
        <p:nvSpPr>
          <p:cNvPr id="25" name="Rounded Rectangle 24"/>
          <p:cNvSpPr/>
          <p:nvPr/>
        </p:nvSpPr>
        <p:spPr>
          <a:xfrm>
            <a:off x="5557418" y="5788152"/>
            <a:ext cx="2997098" cy="457200"/>
          </a:xfrm>
          <a:prstGeom prst="roundRect">
            <a:avLst>
              <a:gd name="adj" fmla="val 45000"/>
            </a:avLst>
          </a:prstGeom>
          <a:solidFill>
            <a:srgbClr val="FFFFFF"/>
          </a:solidFill>
          <a:ln w="22225">
            <a:solidFill>
              <a:srgbClr val="B05A1E"/>
            </a:solidFill>
          </a:ln>
          <a:effectLst/>
        </p:spPr>
        <p:txBody>
          <a:bodyPr rtlCol="0" anchor="ctr" wrap="square" lIns="54864" rIns="54864" tIns="0" bIns="0">
            <a:noAutofit/>
          </a:bodyPr>
          <a:lstStyle/>
          <a:p>
            <a:pPr algn="ctr">
              <a:spcBef>
                <a:spcPts val="0"/>
              </a:spcBef>
              <a:spcAft>
                <a:spcPts val="0"/>
              </a:spcAft>
            </a:pPr>
            <a:r>
              <a:rPr lang="tr-TR" sz="1500" b="1" i="0">
                <a:solidFill>
                  <a:srgbClr val="B05A1E"/>
                </a:solidFill>
                <a:latin typeface="Calibri"/>
              </a:rPr>
              <a:t>dükkân → ekonomik faaliyet (5)</a:t>
            </a:r>
          </a:p>
        </p:txBody>
      </p:sp>
      <p:sp>
        <p:nvSpPr>
          <p:cNvPr id="26" name="Rounded Rectangle 25"/>
          <p:cNvSpPr/>
          <p:nvPr/>
        </p:nvSpPr>
        <p:spPr>
          <a:xfrm>
            <a:off x="8691676" y="5788152"/>
            <a:ext cx="2997098" cy="457200"/>
          </a:xfrm>
          <a:prstGeom prst="roundRect">
            <a:avLst>
              <a:gd name="adj" fmla="val 45000"/>
            </a:avLst>
          </a:prstGeom>
          <a:solidFill>
            <a:srgbClr val="FFFFFF"/>
          </a:solidFill>
          <a:ln w="22225">
            <a:solidFill>
              <a:srgbClr val="3E7D3A"/>
            </a:solidFill>
          </a:ln>
          <a:effectLst/>
        </p:spPr>
        <p:txBody>
          <a:bodyPr rtlCol="0" anchor="ctr" wrap="square" lIns="54864" rIns="54864" tIns="0" bIns="0">
            <a:noAutofit/>
          </a:bodyPr>
          <a:lstStyle/>
          <a:p>
            <a:pPr algn="ctr">
              <a:spcBef>
                <a:spcPts val="0"/>
              </a:spcBef>
              <a:spcAft>
                <a:spcPts val="0"/>
              </a:spcAft>
            </a:pPr>
            <a:r>
              <a:rPr lang="tr-TR" sz="1500" b="1" i="0">
                <a:solidFill>
                  <a:srgbClr val="3E7D3A"/>
                </a:solidFill>
                <a:latin typeface="Calibri"/>
              </a:rPr>
              <a:t>yeşil alan → arazi kullanımı</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127 / 187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2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88720"/>
            <a:ext cx="11185855" cy="43891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767676"/>
                </a:solidFill>
                <a:latin typeface="Calibri"/>
              </a:rPr>
              <a:t>İyi bir gözlem kaydı = </a:t>
            </a:r>
            <a:r>
              <a:rPr lang="tr-TR" sz="1700" b="1" i="0">
                <a:solidFill>
                  <a:srgbClr val="767676"/>
                </a:solidFill>
                <a:latin typeface="Calibri"/>
              </a:rPr>
              <a:t>ne gördüm</a:t>
            </a:r>
            <a:r>
              <a:rPr lang="tr-TR" sz="1700" b="0" i="0">
                <a:solidFill>
                  <a:srgbClr val="767676"/>
                </a:solidFill>
                <a:latin typeface="Calibri"/>
              </a:rPr>
              <a:t> + </a:t>
            </a:r>
            <a:r>
              <a:rPr lang="tr-TR" sz="1700" b="1" i="0">
                <a:solidFill>
                  <a:srgbClr val="767676"/>
                </a:solidFill>
                <a:latin typeface="Calibri"/>
              </a:rPr>
              <a:t>nerede</a:t>
            </a:r>
            <a:r>
              <a:rPr lang="tr-TR" sz="1700" b="0" i="0">
                <a:solidFill>
                  <a:srgbClr val="767676"/>
                </a:solidFill>
                <a:latin typeface="Calibri"/>
              </a:rPr>
              <a:t> + </a:t>
            </a:r>
            <a:r>
              <a:rPr lang="tr-TR" sz="1700" b="1" i="0">
                <a:solidFill>
                  <a:srgbClr val="767676"/>
                </a:solidFill>
                <a:latin typeface="Calibri"/>
              </a:rPr>
              <a:t>hangi kavram</a:t>
            </a:r>
            <a:r>
              <a:rPr lang="tr-TR" sz="1700" b="0" i="0">
                <a:solidFill>
                  <a:srgbClr val="767676"/>
                </a:solidFill>
                <a:latin typeface="Calibri"/>
              </a:rPr>
              <a:t>  ·  satırlar biçim örneğidir, kendi gözlemin esastır</a:t>
            </a:r>
          </a:p>
        </p:txBody>
      </p:sp>
      <p:sp>
        <p:nvSpPr>
          <p:cNvPr id="7" name="Rectangle 6"/>
          <p:cNvSpPr/>
          <p:nvPr/>
        </p:nvSpPr>
        <p:spPr>
          <a:xfrm>
            <a:off x="502920" y="1673352"/>
            <a:ext cx="2103120"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Gözlem başlığı</a:t>
            </a:r>
          </a:p>
        </p:txBody>
      </p:sp>
      <p:sp>
        <p:nvSpPr>
          <p:cNvPr id="8" name="Rectangle 7"/>
          <p:cNvSpPr/>
          <p:nvPr/>
        </p:nvSpPr>
        <p:spPr>
          <a:xfrm>
            <a:off x="2606040" y="1673352"/>
            <a:ext cx="6035040"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Örnek kayıt</a:t>
            </a:r>
          </a:p>
        </p:txBody>
      </p:sp>
      <p:sp>
        <p:nvSpPr>
          <p:cNvPr id="9" name="Rectangle 8"/>
          <p:cNvSpPr/>
          <p:nvPr/>
        </p:nvSpPr>
        <p:spPr>
          <a:xfrm>
            <a:off x="8641080" y="1673352"/>
            <a:ext cx="3047695"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Kavram · ünite</a:t>
            </a:r>
          </a:p>
        </p:txBody>
      </p:sp>
      <p:sp>
        <p:nvSpPr>
          <p:cNvPr id="10" name="Rectangle 9"/>
          <p:cNvSpPr/>
          <p:nvPr/>
        </p:nvSpPr>
        <p:spPr>
          <a:xfrm>
            <a:off x="502920" y="2057400"/>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B05A1E"/>
                </a:solidFill>
                <a:latin typeface="Calibri"/>
              </a:rPr>
              <a:t>Ulaşım</a:t>
            </a:r>
          </a:p>
        </p:txBody>
      </p:sp>
      <p:sp>
        <p:nvSpPr>
          <p:cNvPr id="11" name="Rectangle 10"/>
          <p:cNvSpPr/>
          <p:nvPr/>
        </p:nvSpPr>
        <p:spPr>
          <a:xfrm>
            <a:off x="2606040" y="2057400"/>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Yol iki şeritli, iki yanında kaldırım var; köşede bir otobüs durağı var, araç yoğunluğu orta. (Durak 2)</a:t>
            </a:r>
          </a:p>
        </p:txBody>
      </p:sp>
      <p:sp>
        <p:nvSpPr>
          <p:cNvPr id="12" name="Rectangle 11"/>
          <p:cNvSpPr/>
          <p:nvPr/>
        </p:nvSpPr>
        <p:spPr>
          <a:xfrm>
            <a:off x="8641080" y="2057400"/>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ulaşım → işlevsel bölge · 7. ünite</a:t>
            </a:r>
          </a:p>
        </p:txBody>
      </p:sp>
      <p:sp>
        <p:nvSpPr>
          <p:cNvPr id="13" name="Rectangle 12"/>
          <p:cNvSpPr/>
          <p:nvPr/>
        </p:nvSpPr>
        <p:spPr>
          <a:xfrm>
            <a:off x="502920" y="3179064"/>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B05A1E"/>
                </a:solidFill>
                <a:latin typeface="Calibri"/>
              </a:rPr>
              <a:t>Yerleşme dokusu</a:t>
            </a:r>
          </a:p>
        </p:txBody>
      </p:sp>
      <p:sp>
        <p:nvSpPr>
          <p:cNvPr id="14" name="Rectangle 13"/>
          <p:cNvSpPr/>
          <p:nvPr/>
        </p:nvSpPr>
        <p:spPr>
          <a:xfrm>
            <a:off x="2606040" y="3179064"/>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Binalar bitişik nizamda; zemin katlarında market, fırın ve kırtasiye var. (Durak 2)</a:t>
            </a:r>
          </a:p>
        </p:txBody>
      </p:sp>
      <p:sp>
        <p:nvSpPr>
          <p:cNvPr id="15" name="Rectangle 14"/>
          <p:cNvSpPr/>
          <p:nvPr/>
        </p:nvSpPr>
        <p:spPr>
          <a:xfrm>
            <a:off x="8641080" y="3179064"/>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yerleşme, ekonomik faaliyet · 4-5. ünite</a:t>
            </a:r>
          </a:p>
        </p:txBody>
      </p:sp>
      <p:sp>
        <p:nvSpPr>
          <p:cNvPr id="16" name="Rectangle 15"/>
          <p:cNvSpPr/>
          <p:nvPr/>
        </p:nvSpPr>
        <p:spPr>
          <a:xfrm>
            <a:off x="502920" y="4300728"/>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3E7D3A"/>
                </a:solidFill>
                <a:latin typeface="Calibri"/>
              </a:rPr>
              <a:t>Yeşil alan</a:t>
            </a:r>
          </a:p>
        </p:txBody>
      </p:sp>
      <p:sp>
        <p:nvSpPr>
          <p:cNvPr id="17" name="Rectangle 16"/>
          <p:cNvSpPr/>
          <p:nvPr/>
        </p:nvSpPr>
        <p:spPr>
          <a:xfrm>
            <a:off x="2606040" y="4300728"/>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Sokakta birkaç ağaç ve küçük bir park var; boş arsa görmedik. (Durak 2)</a:t>
            </a:r>
          </a:p>
        </p:txBody>
      </p:sp>
      <p:sp>
        <p:nvSpPr>
          <p:cNvPr id="18" name="Rectangle 17"/>
          <p:cNvSpPr/>
          <p:nvPr/>
        </p:nvSpPr>
        <p:spPr>
          <a:xfrm>
            <a:off x="8641080" y="4300728"/>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arazi kullanımı</a:t>
            </a:r>
          </a:p>
        </p:txBody>
      </p:sp>
      <p:sp>
        <p:nvSpPr>
          <p:cNvPr id="19" name="Rounded Rectangle 18"/>
          <p:cNvSpPr/>
          <p:nvPr/>
        </p:nvSpPr>
        <p:spPr>
          <a:xfrm>
            <a:off x="502920" y="5513832"/>
            <a:ext cx="11185855" cy="777240"/>
          </a:xfrm>
          <a:prstGeom prst="roundRect">
            <a:avLst>
              <a:gd name="adj" fmla="val 6000"/>
            </a:avLst>
          </a:prstGeom>
          <a:solidFill>
            <a:srgbClr val="E3F1E4"/>
          </a:solidFill>
          <a:ln>
            <a:noFill/>
          </a:ln>
          <a:effectLst/>
        </p:spPr>
        <p:txBody>
          <a:bodyPr rtlCol="0" anchor="ctr"/>
          <a:lstStyle/>
          <a:p/>
        </p:txBody>
      </p:sp>
      <p:sp>
        <p:nvSpPr>
          <p:cNvPr id="20" name="Rectangle 19"/>
          <p:cNvSpPr/>
          <p:nvPr/>
        </p:nvSpPr>
        <p:spPr>
          <a:xfrm>
            <a:off x="502920" y="5513832"/>
            <a:ext cx="109728" cy="777240"/>
          </a:xfrm>
          <a:prstGeom prst="rect">
            <a:avLst/>
          </a:prstGeom>
          <a:solidFill>
            <a:srgbClr val="2E7D32"/>
          </a:solidFill>
          <a:ln>
            <a:noFill/>
          </a:ln>
          <a:effectLst/>
        </p:spPr>
        <p:txBody>
          <a:bodyPr rtlCol="0" anchor="ctr"/>
          <a:lstStyle/>
          <a:p/>
        </p:txBody>
      </p:sp>
      <p:sp>
        <p:nvSpPr>
          <p:cNvPr id="21" name="TextBox 20"/>
          <p:cNvSpPr txBox="1"/>
          <p:nvPr/>
        </p:nvSpPr>
        <p:spPr>
          <a:xfrm>
            <a:off x="731520" y="5568696"/>
            <a:ext cx="10865815" cy="667512"/>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2E7D32"/>
                </a:solidFill>
                <a:latin typeface="Calibri"/>
              </a:rPr>
              <a:t>Kontrol:</a:t>
            </a:r>
          </a:p>
          <a:p>
            <a:pPr algn="l">
              <a:spcBef>
                <a:spcPts val="0"/>
              </a:spcBef>
              <a:spcAft>
                <a:spcPts val="0"/>
              </a:spcAft>
            </a:pPr>
            <a:r>
              <a:rPr lang="tr-TR" sz="1700" b="0" i="0">
                <a:solidFill>
                  <a:srgbClr val="262626"/>
                </a:solidFill>
                <a:latin typeface="Calibri"/>
              </a:rPr>
              <a:t>Nitel ifade (az / orta / çok) yeterli; dükkânın adını değil türünü yaz.</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128 / 187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3: Çevrenin görüldüğü açık nokta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DURAK 3 · 7 dk</a:t>
            </a:r>
          </a:p>
        </p:txBody>
      </p:sp>
      <p:sp>
        <p:nvSpPr>
          <p:cNvPr id="6" name="Oval 5"/>
          <p:cNvSpPr/>
          <p:nvPr/>
        </p:nvSpPr>
        <p:spPr>
          <a:xfrm>
            <a:off x="502920" y="1261872"/>
            <a:ext cx="685800" cy="68580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3</a:t>
            </a:r>
          </a:p>
        </p:txBody>
      </p:sp>
      <p:sp>
        <p:nvSpPr>
          <p:cNvPr id="7" name="TextBox 6"/>
          <p:cNvSpPr txBox="1"/>
          <p:nvPr/>
        </p:nvSpPr>
        <p:spPr>
          <a:xfrm>
            <a:off x="1371600" y="1261872"/>
            <a:ext cx="10317175" cy="68580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767676"/>
                </a:solidFill>
                <a:latin typeface="Calibri"/>
              </a:rPr>
              <a:t>Çevrenin genel görünümü ve hava durumu</a:t>
            </a:r>
          </a:p>
        </p:txBody>
      </p:sp>
      <p:sp>
        <p:nvSpPr>
          <p:cNvPr id="8" name="Rounded Rectangle 7"/>
          <p:cNvSpPr/>
          <p:nvPr/>
        </p:nvSpPr>
        <p:spPr>
          <a:xfrm>
            <a:off x="502920" y="2130552"/>
            <a:ext cx="3594506" cy="333756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130552"/>
            <a:ext cx="3594506" cy="530352"/>
          </a:xfrm>
          <a:prstGeom prst="roundRect">
            <a:avLst>
              <a:gd name="adj" fmla="val 25000"/>
            </a:avLst>
          </a:prstGeom>
          <a:solidFill>
            <a:srgbClr val="B05A1E"/>
          </a:solidFill>
          <a:ln>
            <a:noFill/>
          </a:ln>
          <a:effectLst/>
        </p:spPr>
        <p:txBody>
          <a:bodyPr rtlCol="0" anchor="ctr"/>
          <a:lstStyle/>
          <a:p/>
        </p:txBody>
      </p:sp>
      <p:sp>
        <p:nvSpPr>
          <p:cNvPr id="10" name="Rectangle 9"/>
          <p:cNvSpPr/>
          <p:nvPr/>
        </p:nvSpPr>
        <p:spPr>
          <a:xfrm>
            <a:off x="502920" y="2395728"/>
            <a:ext cx="3594506" cy="265176"/>
          </a:xfrm>
          <a:prstGeom prst="rect">
            <a:avLst/>
          </a:prstGeom>
          <a:solidFill>
            <a:srgbClr val="B05A1E"/>
          </a:solidFill>
          <a:ln>
            <a:noFill/>
          </a:ln>
          <a:effectLst/>
        </p:spPr>
        <p:txBody>
          <a:bodyPr rtlCol="0" anchor="ctr"/>
          <a:lstStyle/>
          <a:p/>
        </p:txBody>
      </p:sp>
      <p:sp>
        <p:nvSpPr>
          <p:cNvPr id="11" name="TextBox 10"/>
          <p:cNvSpPr txBox="1"/>
          <p:nvPr/>
        </p:nvSpPr>
        <p:spPr>
          <a:xfrm>
            <a:off x="594360"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Genel görünüm</a:t>
            </a:r>
          </a:p>
        </p:txBody>
      </p:sp>
      <p:sp>
        <p:nvSpPr>
          <p:cNvPr id="12" name="TextBox 11"/>
          <p:cNvSpPr txBox="1"/>
          <p:nvPr/>
        </p:nvSpPr>
        <p:spPr>
          <a:xfrm>
            <a:off x="612648"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Yüksek ve alçak yerler nerede?</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Yapılaşma hangi yönde yoğun?</a:t>
            </a:r>
          </a:p>
        </p:txBody>
      </p:sp>
      <p:sp>
        <p:nvSpPr>
          <p:cNvPr id="13" name="Rounded Rectangle 12"/>
          <p:cNvSpPr/>
          <p:nvPr/>
        </p:nvSpPr>
        <p:spPr>
          <a:xfrm>
            <a:off x="4298594" y="2130552"/>
            <a:ext cx="3594506" cy="333756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298594" y="2130552"/>
            <a:ext cx="3594506" cy="530352"/>
          </a:xfrm>
          <a:prstGeom prst="roundRect">
            <a:avLst>
              <a:gd name="adj" fmla="val 25000"/>
            </a:avLst>
          </a:prstGeom>
          <a:solidFill>
            <a:srgbClr val="3E7D3A"/>
          </a:solidFill>
          <a:ln>
            <a:noFill/>
          </a:ln>
          <a:effectLst/>
        </p:spPr>
        <p:txBody>
          <a:bodyPr rtlCol="0" anchor="ctr"/>
          <a:lstStyle/>
          <a:p/>
        </p:txBody>
      </p:sp>
      <p:sp>
        <p:nvSpPr>
          <p:cNvPr id="15" name="Rectangle 14"/>
          <p:cNvSpPr/>
          <p:nvPr/>
        </p:nvSpPr>
        <p:spPr>
          <a:xfrm>
            <a:off x="4298594" y="2395728"/>
            <a:ext cx="3594506" cy="265176"/>
          </a:xfrm>
          <a:prstGeom prst="rect">
            <a:avLst/>
          </a:prstGeom>
          <a:solidFill>
            <a:srgbClr val="3E7D3A"/>
          </a:solidFill>
          <a:ln>
            <a:noFill/>
          </a:ln>
          <a:effectLst/>
        </p:spPr>
        <p:txBody>
          <a:bodyPr rtlCol="0" anchor="ctr"/>
          <a:lstStyle/>
          <a:p/>
        </p:txBody>
      </p:sp>
      <p:sp>
        <p:nvSpPr>
          <p:cNvPr id="16" name="TextBox 15"/>
          <p:cNvSpPr txBox="1"/>
          <p:nvPr/>
        </p:nvSpPr>
        <p:spPr>
          <a:xfrm>
            <a:off x="4390034"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Yeşil alan payı</a:t>
            </a:r>
          </a:p>
        </p:txBody>
      </p:sp>
      <p:sp>
        <p:nvSpPr>
          <p:cNvPr id="17" name="TextBox 16"/>
          <p:cNvSpPr txBox="1"/>
          <p:nvPr/>
        </p:nvSpPr>
        <p:spPr>
          <a:xfrm>
            <a:off x="4408322"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Gördüğün alanın ne kadarı yeşil?</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Az mı, yarı yarıya mı, çok mu?</a:t>
            </a:r>
          </a:p>
        </p:txBody>
      </p:sp>
      <p:sp>
        <p:nvSpPr>
          <p:cNvPr id="18" name="Rounded Rectangle 17"/>
          <p:cNvSpPr/>
          <p:nvPr/>
        </p:nvSpPr>
        <p:spPr>
          <a:xfrm>
            <a:off x="8094268" y="2130552"/>
            <a:ext cx="3594506" cy="333756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94268" y="2130552"/>
            <a:ext cx="3594506" cy="530352"/>
          </a:xfrm>
          <a:prstGeom prst="roundRect">
            <a:avLst>
              <a:gd name="adj" fmla="val 25000"/>
            </a:avLst>
          </a:prstGeom>
          <a:solidFill>
            <a:srgbClr val="2C6696"/>
          </a:solidFill>
          <a:ln>
            <a:noFill/>
          </a:ln>
          <a:effectLst/>
        </p:spPr>
        <p:txBody>
          <a:bodyPr rtlCol="0" anchor="ctr"/>
          <a:lstStyle/>
          <a:p/>
        </p:txBody>
      </p:sp>
      <p:sp>
        <p:nvSpPr>
          <p:cNvPr id="20" name="Rectangle 19"/>
          <p:cNvSpPr/>
          <p:nvPr/>
        </p:nvSpPr>
        <p:spPr>
          <a:xfrm>
            <a:off x="8094268" y="2395728"/>
            <a:ext cx="3594506" cy="265176"/>
          </a:xfrm>
          <a:prstGeom prst="rect">
            <a:avLst/>
          </a:prstGeom>
          <a:solidFill>
            <a:srgbClr val="2C6696"/>
          </a:solidFill>
          <a:ln>
            <a:noFill/>
          </a:ln>
          <a:effectLst/>
        </p:spPr>
        <p:txBody>
          <a:bodyPr rtlCol="0" anchor="ctr"/>
          <a:lstStyle/>
          <a:p/>
        </p:txBody>
      </p:sp>
      <p:sp>
        <p:nvSpPr>
          <p:cNvPr id="21" name="TextBox 20"/>
          <p:cNvSpPr txBox="1"/>
          <p:nvPr/>
        </p:nvSpPr>
        <p:spPr>
          <a:xfrm>
            <a:off x="8185708"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Hava durumu</a:t>
            </a:r>
          </a:p>
        </p:txBody>
      </p:sp>
      <p:sp>
        <p:nvSpPr>
          <p:cNvPr id="22" name="TextBox 21"/>
          <p:cNvSpPr txBox="1"/>
          <p:nvPr/>
        </p:nvSpPr>
        <p:spPr>
          <a:xfrm>
            <a:off x="8203996" y="2734056"/>
            <a:ext cx="3375050" cy="2660904"/>
          </a:xfrm>
          <a:prstGeom prst="rect">
            <a:avLst/>
          </a:prstGeom>
          <a:noFill/>
        </p:spPr>
        <p:txBody>
          <a:bodyPr wrap="square" anchor="t" lIns="73152" rIns="73152" tIns="36576" bIns="36576">
            <a:noAutofit/>
          </a:bodyPr>
          <a:lstStyle/>
          <a:p>
            <a:pPr algn="l" marL="298344" indent="-298344">
              <a:spcBef>
                <a:spcPts val="0"/>
              </a:spcBef>
              <a:spcAft>
                <a:spcPts val="600"/>
              </a:spcAft>
            </a:pPr>
            <a:r>
              <a:rPr lang="tr-TR" sz="2400" b="1" i="0">
                <a:solidFill>
                  <a:srgbClr val="2C6696"/>
                </a:solidFill>
                <a:latin typeface="Calibri"/>
              </a:rPr>
              <a:t>•  </a:t>
            </a:r>
            <a:r>
              <a:rPr lang="tr-TR" sz="2400" b="0" i="0">
                <a:solidFill>
                  <a:srgbClr val="262626"/>
                </a:solidFill>
                <a:latin typeface="Calibri"/>
              </a:rPr>
              <a:t>Bulutluluk? Rüzgâr nereden esiyor?</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Sıcaklık hissi: serin, ılık, sıcak?</a:t>
            </a:r>
          </a:p>
        </p:txBody>
      </p:sp>
      <p:sp>
        <p:nvSpPr>
          <p:cNvPr id="23" name="TextBox 22"/>
          <p:cNvSpPr txBox="1"/>
          <p:nvPr/>
        </p:nvSpPr>
        <p:spPr>
          <a:xfrm>
            <a:off x="502920" y="5788152"/>
            <a:ext cx="1874519" cy="45720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6A4C93"/>
                </a:solidFill>
                <a:latin typeface="Calibri"/>
              </a:rPr>
              <a:t>Yılın kavramları:</a:t>
            </a:r>
          </a:p>
        </p:txBody>
      </p:sp>
      <p:sp>
        <p:nvSpPr>
          <p:cNvPr id="24" name="Rounded Rectangle 23"/>
          <p:cNvSpPr/>
          <p:nvPr/>
        </p:nvSpPr>
        <p:spPr>
          <a:xfrm>
            <a:off x="2423160" y="5788152"/>
            <a:ext cx="4564227" cy="457200"/>
          </a:xfrm>
          <a:prstGeom prst="roundRect">
            <a:avLst>
              <a:gd name="adj" fmla="val 45000"/>
            </a:avLst>
          </a:prstGeom>
          <a:solidFill>
            <a:srgbClr val="FFFFFF"/>
          </a:solidFill>
          <a:ln w="22225">
            <a:solidFill>
              <a:srgbClr val="2C6696"/>
            </a:solidFill>
          </a:ln>
          <a:effectLst/>
        </p:spPr>
        <p:txBody>
          <a:bodyPr rtlCol="0" anchor="ctr" wrap="square" lIns="54864" rIns="54864" tIns="0" bIns="0">
            <a:noAutofit/>
          </a:bodyPr>
          <a:lstStyle/>
          <a:p>
            <a:pPr algn="ctr">
              <a:spcBef>
                <a:spcPts val="0"/>
              </a:spcBef>
              <a:spcAft>
                <a:spcPts val="0"/>
              </a:spcAft>
            </a:pPr>
            <a:r>
              <a:rPr lang="tr-TR" sz="1500" b="1" i="0">
                <a:solidFill>
                  <a:srgbClr val="2C6696"/>
                </a:solidFill>
                <a:latin typeface="Calibri"/>
              </a:rPr>
              <a:t>hava durumu (3)</a:t>
            </a:r>
          </a:p>
        </p:txBody>
      </p:sp>
      <p:sp>
        <p:nvSpPr>
          <p:cNvPr id="25" name="Rounded Rectangle 24"/>
          <p:cNvSpPr/>
          <p:nvPr/>
        </p:nvSpPr>
        <p:spPr>
          <a:xfrm>
            <a:off x="7124547" y="5788152"/>
            <a:ext cx="4564227" cy="457200"/>
          </a:xfrm>
          <a:prstGeom prst="roundRect">
            <a:avLst>
              <a:gd name="adj" fmla="val 45000"/>
            </a:avLst>
          </a:prstGeom>
          <a:solidFill>
            <a:srgbClr val="FFFFFF"/>
          </a:solidFill>
          <a:ln w="22225">
            <a:solidFill>
              <a:srgbClr val="B05A1E"/>
            </a:solidFill>
          </a:ln>
          <a:effectLst/>
        </p:spPr>
        <p:txBody>
          <a:bodyPr rtlCol="0" anchor="ctr" wrap="square" lIns="54864" rIns="54864" tIns="0" bIns="0">
            <a:noAutofit/>
          </a:bodyPr>
          <a:lstStyle/>
          <a:p>
            <a:pPr algn="ctr">
              <a:spcBef>
                <a:spcPts val="0"/>
              </a:spcBef>
              <a:spcAft>
                <a:spcPts val="0"/>
              </a:spcAft>
            </a:pPr>
            <a:r>
              <a:rPr lang="tr-TR" sz="1500" b="1" i="0">
                <a:solidFill>
                  <a:srgbClr val="B05A1E"/>
                </a:solidFill>
                <a:latin typeface="Calibri"/>
              </a:rPr>
              <a:t>aynı özellikteki alan → şekilsel bölge (7)</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129 / 187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3: hava gözleminin ölçütleri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DURAK 3</a:t>
            </a:r>
          </a:p>
        </p:txBody>
      </p:sp>
      <p:sp>
        <p:nvSpPr>
          <p:cNvPr id="6" name="Rectangle 5"/>
          <p:cNvSpPr/>
          <p:nvPr/>
        </p:nvSpPr>
        <p:spPr>
          <a:xfrm>
            <a:off x="502920" y="1261872"/>
            <a:ext cx="1828800" cy="566928"/>
          </a:xfrm>
          <a:prstGeom prst="rect">
            <a:avLst/>
          </a:prstGeom>
          <a:solidFill>
            <a:srgbClr val="2C6696"/>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Bulutlu kare sayısı</a:t>
            </a:r>
          </a:p>
        </p:txBody>
      </p:sp>
      <p:sp>
        <p:nvSpPr>
          <p:cNvPr id="7" name="Rectangle 6"/>
          <p:cNvSpPr/>
          <p:nvPr/>
        </p:nvSpPr>
        <p:spPr>
          <a:xfrm>
            <a:off x="2331720" y="1261872"/>
            <a:ext cx="2377440" cy="566928"/>
          </a:xfrm>
          <a:prstGeom prst="rect">
            <a:avLst/>
          </a:prstGeom>
          <a:solidFill>
            <a:srgbClr val="2C6696"/>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Bulut durumu</a:t>
            </a:r>
          </a:p>
        </p:txBody>
      </p:sp>
      <p:sp>
        <p:nvSpPr>
          <p:cNvPr id="8" name="Rectangle 7"/>
          <p:cNvSpPr/>
          <p:nvPr/>
        </p:nvSpPr>
        <p:spPr>
          <a:xfrm>
            <a:off x="502920" y="1828800"/>
            <a:ext cx="1828800" cy="603504"/>
          </a:xfrm>
          <a:prstGeom prst="rect">
            <a:avLst/>
          </a:prstGeom>
          <a:solidFill>
            <a:srgbClr val="E3ECF5"/>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0</a:t>
            </a:r>
          </a:p>
        </p:txBody>
      </p:sp>
      <p:sp>
        <p:nvSpPr>
          <p:cNvPr id="9" name="Rectangle 8"/>
          <p:cNvSpPr/>
          <p:nvPr/>
        </p:nvSpPr>
        <p:spPr>
          <a:xfrm>
            <a:off x="2331720" y="1828800"/>
            <a:ext cx="2377440"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2000" b="0" i="0">
                <a:solidFill>
                  <a:srgbClr val="262626"/>
                </a:solidFill>
                <a:latin typeface="Calibri"/>
              </a:rPr>
              <a:t>Bulut yok</a:t>
            </a:r>
          </a:p>
        </p:txBody>
      </p:sp>
      <p:sp>
        <p:nvSpPr>
          <p:cNvPr id="10" name="Rectangle 9"/>
          <p:cNvSpPr/>
          <p:nvPr/>
        </p:nvSpPr>
        <p:spPr>
          <a:xfrm>
            <a:off x="502920" y="2432304"/>
            <a:ext cx="1828800" cy="603504"/>
          </a:xfrm>
          <a:prstGeom prst="rect">
            <a:avLst/>
          </a:prstGeom>
          <a:solidFill>
            <a:srgbClr val="E3ECF5"/>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1-2</a:t>
            </a:r>
          </a:p>
        </p:txBody>
      </p:sp>
      <p:sp>
        <p:nvSpPr>
          <p:cNvPr id="11" name="Rectangle 10"/>
          <p:cNvSpPr/>
          <p:nvPr/>
        </p:nvSpPr>
        <p:spPr>
          <a:xfrm>
            <a:off x="2331720" y="2432304"/>
            <a:ext cx="2377440"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2000" b="0" i="0">
                <a:solidFill>
                  <a:srgbClr val="262626"/>
                </a:solidFill>
                <a:latin typeface="Calibri"/>
              </a:rPr>
              <a:t>Az bulutlu</a:t>
            </a:r>
          </a:p>
        </p:txBody>
      </p:sp>
      <p:sp>
        <p:nvSpPr>
          <p:cNvPr id="12" name="Rectangle 11"/>
          <p:cNvSpPr/>
          <p:nvPr/>
        </p:nvSpPr>
        <p:spPr>
          <a:xfrm>
            <a:off x="502920" y="3035808"/>
            <a:ext cx="1828800" cy="603504"/>
          </a:xfrm>
          <a:prstGeom prst="rect">
            <a:avLst/>
          </a:prstGeom>
          <a:solidFill>
            <a:srgbClr val="E3ECF5"/>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3-4</a:t>
            </a:r>
          </a:p>
        </p:txBody>
      </p:sp>
      <p:sp>
        <p:nvSpPr>
          <p:cNvPr id="13" name="Rectangle 12"/>
          <p:cNvSpPr/>
          <p:nvPr/>
        </p:nvSpPr>
        <p:spPr>
          <a:xfrm>
            <a:off x="2331720" y="3035808"/>
            <a:ext cx="2377440"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2000" b="0" i="0">
                <a:solidFill>
                  <a:srgbClr val="262626"/>
                </a:solidFill>
                <a:latin typeface="Calibri"/>
              </a:rPr>
              <a:t>Parçalı bulutlu</a:t>
            </a:r>
          </a:p>
        </p:txBody>
      </p:sp>
      <p:sp>
        <p:nvSpPr>
          <p:cNvPr id="14" name="Rectangle 13"/>
          <p:cNvSpPr/>
          <p:nvPr/>
        </p:nvSpPr>
        <p:spPr>
          <a:xfrm>
            <a:off x="502920" y="3639312"/>
            <a:ext cx="1828800" cy="603504"/>
          </a:xfrm>
          <a:prstGeom prst="rect">
            <a:avLst/>
          </a:prstGeom>
          <a:solidFill>
            <a:srgbClr val="E3ECF5"/>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5-7</a:t>
            </a:r>
          </a:p>
        </p:txBody>
      </p:sp>
      <p:sp>
        <p:nvSpPr>
          <p:cNvPr id="15" name="Rectangle 14"/>
          <p:cNvSpPr/>
          <p:nvPr/>
        </p:nvSpPr>
        <p:spPr>
          <a:xfrm>
            <a:off x="2331720" y="3639312"/>
            <a:ext cx="2377440"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2000" b="0" i="0">
                <a:solidFill>
                  <a:srgbClr val="262626"/>
                </a:solidFill>
                <a:latin typeface="Calibri"/>
              </a:rPr>
              <a:t>Çok bulutlu</a:t>
            </a:r>
          </a:p>
        </p:txBody>
      </p:sp>
      <p:sp>
        <p:nvSpPr>
          <p:cNvPr id="16" name="Rectangle 15"/>
          <p:cNvSpPr/>
          <p:nvPr/>
        </p:nvSpPr>
        <p:spPr>
          <a:xfrm>
            <a:off x="502920" y="4242816"/>
            <a:ext cx="1828800" cy="603504"/>
          </a:xfrm>
          <a:prstGeom prst="rect">
            <a:avLst/>
          </a:prstGeom>
          <a:solidFill>
            <a:srgbClr val="E3ECF5"/>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8</a:t>
            </a:r>
          </a:p>
        </p:txBody>
      </p:sp>
      <p:sp>
        <p:nvSpPr>
          <p:cNvPr id="17" name="Rectangle 16"/>
          <p:cNvSpPr/>
          <p:nvPr/>
        </p:nvSpPr>
        <p:spPr>
          <a:xfrm>
            <a:off x="2331720" y="4242816"/>
            <a:ext cx="2377440"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2000" b="0" i="0">
                <a:solidFill>
                  <a:srgbClr val="262626"/>
                </a:solidFill>
                <a:latin typeface="Calibri"/>
              </a:rPr>
              <a:t>Kapalı</a:t>
            </a:r>
          </a:p>
        </p:txBody>
      </p:sp>
      <p:sp>
        <p:nvSpPr>
          <p:cNvPr id="18" name="Rectangle 17"/>
          <p:cNvSpPr/>
          <p:nvPr/>
        </p:nvSpPr>
        <p:spPr>
          <a:xfrm>
            <a:off x="5029200" y="1261872"/>
            <a:ext cx="1600200" cy="566928"/>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Rüzgâr hızı (m/sn.)</a:t>
            </a:r>
          </a:p>
        </p:txBody>
      </p:sp>
      <p:sp>
        <p:nvSpPr>
          <p:cNvPr id="19" name="Rectangle 18"/>
          <p:cNvSpPr/>
          <p:nvPr/>
        </p:nvSpPr>
        <p:spPr>
          <a:xfrm>
            <a:off x="6629400" y="1261872"/>
            <a:ext cx="5059375" cy="566928"/>
          </a:xfrm>
          <a:prstGeom prst="rect">
            <a:avLst/>
          </a:prstGeom>
          <a:solidFill>
            <a:srgbClr val="6A4C93"/>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Rüzgârın açık alandaki insanlara etkisi</a:t>
            </a:r>
          </a:p>
        </p:txBody>
      </p:sp>
      <p:sp>
        <p:nvSpPr>
          <p:cNvPr id="20" name="Rectangle 19"/>
          <p:cNvSpPr/>
          <p:nvPr/>
        </p:nvSpPr>
        <p:spPr>
          <a:xfrm>
            <a:off x="5029200" y="1828800"/>
            <a:ext cx="1600200" cy="603504"/>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4</a:t>
            </a:r>
          </a:p>
        </p:txBody>
      </p:sp>
      <p:sp>
        <p:nvSpPr>
          <p:cNvPr id="21" name="Rectangle 20"/>
          <p:cNvSpPr/>
          <p:nvPr/>
        </p:nvSpPr>
        <p:spPr>
          <a:xfrm>
            <a:off x="6629400" y="1828800"/>
            <a:ext cx="5059375"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Saçlar dağılır.</a:t>
            </a:r>
          </a:p>
        </p:txBody>
      </p:sp>
      <p:sp>
        <p:nvSpPr>
          <p:cNvPr id="22" name="Rectangle 21"/>
          <p:cNvSpPr/>
          <p:nvPr/>
        </p:nvSpPr>
        <p:spPr>
          <a:xfrm>
            <a:off x="5029200" y="2432304"/>
            <a:ext cx="1600200" cy="603504"/>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5</a:t>
            </a:r>
          </a:p>
        </p:txBody>
      </p:sp>
      <p:sp>
        <p:nvSpPr>
          <p:cNvPr id="23" name="Rectangle 22"/>
          <p:cNvSpPr/>
          <p:nvPr/>
        </p:nvSpPr>
        <p:spPr>
          <a:xfrm>
            <a:off x="6629400" y="2432304"/>
            <a:ext cx="5059375"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750" b="0" i="0">
                <a:solidFill>
                  <a:srgbClr val="262626"/>
                </a:solidFill>
                <a:latin typeface="Calibri"/>
              </a:rPr>
              <a:t>Giysiler uçuşmaya başlar, toprak parçacıkları hareket eder.</a:t>
            </a:r>
          </a:p>
        </p:txBody>
      </p:sp>
      <p:sp>
        <p:nvSpPr>
          <p:cNvPr id="24" name="Rectangle 23"/>
          <p:cNvSpPr/>
          <p:nvPr/>
        </p:nvSpPr>
        <p:spPr>
          <a:xfrm>
            <a:off x="5029200" y="3035808"/>
            <a:ext cx="1600200" cy="603504"/>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6-8</a:t>
            </a:r>
          </a:p>
        </p:txBody>
      </p:sp>
      <p:sp>
        <p:nvSpPr>
          <p:cNvPr id="25" name="Rectangle 24"/>
          <p:cNvSpPr/>
          <p:nvPr/>
        </p:nvSpPr>
        <p:spPr>
          <a:xfrm>
            <a:off x="6629400" y="3035808"/>
            <a:ext cx="5059375"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Toz ve kâğıt parçacıkları havalanır.</a:t>
            </a:r>
          </a:p>
        </p:txBody>
      </p:sp>
      <p:sp>
        <p:nvSpPr>
          <p:cNvPr id="26" name="Rectangle 25"/>
          <p:cNvSpPr/>
          <p:nvPr/>
        </p:nvSpPr>
        <p:spPr>
          <a:xfrm>
            <a:off x="5029200" y="3639312"/>
            <a:ext cx="1600200" cy="603504"/>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8-11</a:t>
            </a:r>
          </a:p>
        </p:txBody>
      </p:sp>
      <p:sp>
        <p:nvSpPr>
          <p:cNvPr id="27" name="Rectangle 26"/>
          <p:cNvSpPr/>
          <p:nvPr/>
        </p:nvSpPr>
        <p:spPr>
          <a:xfrm>
            <a:off x="6629400" y="3639312"/>
            <a:ext cx="5059375"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Rüzgârın kuvveti vücut üzerinde hissedilir.</a:t>
            </a:r>
          </a:p>
        </p:txBody>
      </p:sp>
      <p:sp>
        <p:nvSpPr>
          <p:cNvPr id="28" name="Rectangle 27"/>
          <p:cNvSpPr/>
          <p:nvPr/>
        </p:nvSpPr>
        <p:spPr>
          <a:xfrm>
            <a:off x="5029200" y="4242816"/>
            <a:ext cx="1600200" cy="603504"/>
          </a:xfrm>
          <a:prstGeom prst="rect">
            <a:avLst/>
          </a:prstGeom>
          <a:solidFill>
            <a:srgbClr val="F0F0F0"/>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2000" b="1" i="0">
                <a:solidFill>
                  <a:srgbClr val="262626"/>
                </a:solidFill>
                <a:latin typeface="Calibri"/>
              </a:rPr>
              <a:t>11-14</a:t>
            </a:r>
          </a:p>
        </p:txBody>
      </p:sp>
      <p:sp>
        <p:nvSpPr>
          <p:cNvPr id="29" name="Rectangle 28"/>
          <p:cNvSpPr/>
          <p:nvPr/>
        </p:nvSpPr>
        <p:spPr>
          <a:xfrm>
            <a:off x="6629400" y="4242816"/>
            <a:ext cx="5059375" cy="60350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Şemsiye kullanmak güç hâle gelir.</a:t>
            </a:r>
          </a:p>
        </p:txBody>
      </p:sp>
      <p:sp>
        <p:nvSpPr>
          <p:cNvPr id="30" name="Rounded Rectangle 29"/>
          <p:cNvSpPr/>
          <p:nvPr/>
        </p:nvSpPr>
        <p:spPr>
          <a:xfrm>
            <a:off x="502920" y="5029200"/>
            <a:ext cx="11185855" cy="941832"/>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1900" b="0" i="0">
                <a:solidFill>
                  <a:srgbClr val="262626"/>
                </a:solidFill>
                <a:latin typeface="Calibri"/>
              </a:rPr>
              <a:t>Gökyüzünü gözünde </a:t>
            </a:r>
            <a:r>
              <a:rPr lang="tr-TR" sz="1900" b="1" i="0">
                <a:solidFill>
                  <a:srgbClr val="262626"/>
                </a:solidFill>
                <a:latin typeface="Calibri"/>
              </a:rPr>
              <a:t>sekiz eşit parçaya</a:t>
            </a:r>
            <a:r>
              <a:rPr lang="tr-TR" sz="1900" b="0" i="0">
                <a:solidFill>
                  <a:srgbClr val="262626"/>
                </a:solidFill>
                <a:latin typeface="Calibri"/>
              </a:rPr>
              <a:t> böl, bulutlu parçaları say · rüzgârın etkisine bak · derece yazma</a:t>
            </a:r>
          </a:p>
        </p:txBody>
      </p:sp>
      <p:sp>
        <p:nvSpPr>
          <p:cNvPr id="31" name="TextBox 30"/>
          <p:cNvSpPr txBox="1"/>
          <p:nvPr/>
        </p:nvSpPr>
        <p:spPr>
          <a:xfrm>
            <a:off x="502920" y="6016752"/>
            <a:ext cx="11185855" cy="274320"/>
          </a:xfrm>
          <a:prstGeom prst="rect">
            <a:avLst/>
          </a:prstGeom>
          <a:noFill/>
        </p:spPr>
        <p:txBody>
          <a:bodyPr wrap="square" anchor="t" lIns="73152" rIns="73152" tIns="36576" bIns="36576">
            <a:noAutofit/>
          </a:bodyPr>
          <a:lstStyle/>
          <a:p>
            <a:pPr algn="r">
              <a:spcBef>
                <a:spcPts val="0"/>
              </a:spcBef>
              <a:spcAft>
                <a:spcPts val="0"/>
              </a:spcAft>
            </a:pPr>
            <a:r>
              <a:rPr lang="tr-TR" sz="1100" b="0" i="0">
                <a:solidFill>
                  <a:srgbClr val="767676"/>
                </a:solidFill>
                <a:latin typeface="Calibri"/>
              </a:rPr>
              <a:t>Kaynak: Ders kitabı 3. ünite, s. 81 (iki tablo; rüzgâr tablosunun ilk beş satırı)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130 / 187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3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88720"/>
            <a:ext cx="11185855" cy="438912"/>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767676"/>
                </a:solidFill>
                <a:latin typeface="Calibri"/>
              </a:rPr>
              <a:t>İyi bir gözlem kaydı = </a:t>
            </a:r>
            <a:r>
              <a:rPr lang="tr-TR" sz="1700" b="1" i="0">
                <a:solidFill>
                  <a:srgbClr val="767676"/>
                </a:solidFill>
                <a:latin typeface="Calibri"/>
              </a:rPr>
              <a:t>ne gördüm</a:t>
            </a:r>
            <a:r>
              <a:rPr lang="tr-TR" sz="1700" b="0" i="0">
                <a:solidFill>
                  <a:srgbClr val="767676"/>
                </a:solidFill>
                <a:latin typeface="Calibri"/>
              </a:rPr>
              <a:t> + </a:t>
            </a:r>
            <a:r>
              <a:rPr lang="tr-TR" sz="1700" b="1" i="0">
                <a:solidFill>
                  <a:srgbClr val="767676"/>
                </a:solidFill>
                <a:latin typeface="Calibri"/>
              </a:rPr>
              <a:t>nerede</a:t>
            </a:r>
            <a:r>
              <a:rPr lang="tr-TR" sz="1700" b="0" i="0">
                <a:solidFill>
                  <a:srgbClr val="767676"/>
                </a:solidFill>
                <a:latin typeface="Calibri"/>
              </a:rPr>
              <a:t> + </a:t>
            </a:r>
            <a:r>
              <a:rPr lang="tr-TR" sz="1700" b="1" i="0">
                <a:solidFill>
                  <a:srgbClr val="767676"/>
                </a:solidFill>
                <a:latin typeface="Calibri"/>
              </a:rPr>
              <a:t>hangi kavram</a:t>
            </a:r>
            <a:r>
              <a:rPr lang="tr-TR" sz="1700" b="0" i="0">
                <a:solidFill>
                  <a:srgbClr val="767676"/>
                </a:solidFill>
                <a:latin typeface="Calibri"/>
              </a:rPr>
              <a:t>  ·  satırlar biçim örneğidir, kendi gözlemin esastır</a:t>
            </a:r>
          </a:p>
        </p:txBody>
      </p:sp>
      <p:sp>
        <p:nvSpPr>
          <p:cNvPr id="7" name="Rectangle 6"/>
          <p:cNvSpPr/>
          <p:nvPr/>
        </p:nvSpPr>
        <p:spPr>
          <a:xfrm>
            <a:off x="502920" y="1673352"/>
            <a:ext cx="2103120"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Gözlem başlığı</a:t>
            </a:r>
          </a:p>
        </p:txBody>
      </p:sp>
      <p:sp>
        <p:nvSpPr>
          <p:cNvPr id="8" name="Rectangle 7"/>
          <p:cNvSpPr/>
          <p:nvPr/>
        </p:nvSpPr>
        <p:spPr>
          <a:xfrm>
            <a:off x="2606040" y="1673352"/>
            <a:ext cx="6035040"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Örnek kayıt</a:t>
            </a:r>
          </a:p>
        </p:txBody>
      </p:sp>
      <p:sp>
        <p:nvSpPr>
          <p:cNvPr id="9" name="Rectangle 8"/>
          <p:cNvSpPr/>
          <p:nvPr/>
        </p:nvSpPr>
        <p:spPr>
          <a:xfrm>
            <a:off x="8641080" y="1673352"/>
            <a:ext cx="3047695" cy="384048"/>
          </a:xfrm>
          <a:prstGeom prst="rect">
            <a:avLst/>
          </a:prstGeom>
          <a:solidFill>
            <a:srgbClr val="2E7D32"/>
          </a:solidFill>
          <a:ln w="9525">
            <a:solidFill>
              <a:srgbClr val="D9D9D9"/>
            </a:solidFill>
          </a:ln>
          <a:effectLst/>
        </p:spPr>
        <p:txBody>
          <a:bodyPr rtlCol="0" anchor="ctr" wrap="square" lIns="73152" rIns="73152" tIns="27432" bIns="27432">
            <a:noAutofit/>
          </a:bodyPr>
          <a:lstStyle/>
          <a:p>
            <a:pPr algn="ctr">
              <a:spcBef>
                <a:spcPts val="0"/>
              </a:spcBef>
              <a:spcAft>
                <a:spcPts val="0"/>
              </a:spcAft>
            </a:pPr>
            <a:r>
              <a:rPr lang="tr-TR" sz="1600" b="1" i="0">
                <a:solidFill>
                  <a:srgbClr val="FFFFFF"/>
                </a:solidFill>
                <a:latin typeface="Calibri"/>
              </a:rPr>
              <a:t>Kavram · ünite</a:t>
            </a:r>
          </a:p>
        </p:txBody>
      </p:sp>
      <p:sp>
        <p:nvSpPr>
          <p:cNvPr id="10" name="Rectangle 9"/>
          <p:cNvSpPr/>
          <p:nvPr/>
        </p:nvSpPr>
        <p:spPr>
          <a:xfrm>
            <a:off x="502920" y="2057400"/>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B05A1E"/>
                </a:solidFill>
                <a:latin typeface="Calibri"/>
              </a:rPr>
              <a:t>Genel görünüm</a:t>
            </a:r>
          </a:p>
        </p:txBody>
      </p:sp>
      <p:sp>
        <p:nvSpPr>
          <p:cNvPr id="11" name="Rectangle 10"/>
          <p:cNvSpPr/>
          <p:nvPr/>
        </p:nvSpPr>
        <p:spPr>
          <a:xfrm>
            <a:off x="2606040" y="2057400"/>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Arazi bir yönde yükseliyor; yapılaşma ana yol boyunca yoğunlaşıyor. (Durak 3)</a:t>
            </a:r>
          </a:p>
        </p:txBody>
      </p:sp>
      <p:sp>
        <p:nvSpPr>
          <p:cNvPr id="12" name="Rectangle 11"/>
          <p:cNvSpPr/>
          <p:nvPr/>
        </p:nvSpPr>
        <p:spPr>
          <a:xfrm>
            <a:off x="8641080" y="2057400"/>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yapı yoğunluğu → şekilsel bölge · 7. ünite</a:t>
            </a:r>
          </a:p>
        </p:txBody>
      </p:sp>
      <p:sp>
        <p:nvSpPr>
          <p:cNvPr id="13" name="Rectangle 12"/>
          <p:cNvSpPr/>
          <p:nvPr/>
        </p:nvSpPr>
        <p:spPr>
          <a:xfrm>
            <a:off x="502920" y="3179064"/>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3E7D3A"/>
                </a:solidFill>
                <a:latin typeface="Calibri"/>
              </a:rPr>
              <a:t>Yeşil alan payı</a:t>
            </a:r>
          </a:p>
        </p:txBody>
      </p:sp>
      <p:sp>
        <p:nvSpPr>
          <p:cNvPr id="14" name="Rectangle 13"/>
          <p:cNvSpPr/>
          <p:nvPr/>
        </p:nvSpPr>
        <p:spPr>
          <a:xfrm>
            <a:off x="2606040" y="3179064"/>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Gördüğümüz alanın küçük bir bölümü yeşil; ağaçlar park ve bahçelerde toplanmış. (Durak 3)</a:t>
            </a:r>
          </a:p>
        </p:txBody>
      </p:sp>
      <p:sp>
        <p:nvSpPr>
          <p:cNvPr id="15" name="Rectangle 14"/>
          <p:cNvSpPr/>
          <p:nvPr/>
        </p:nvSpPr>
        <p:spPr>
          <a:xfrm>
            <a:off x="8641080" y="3179064"/>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arazi kullanımı</a:t>
            </a:r>
          </a:p>
        </p:txBody>
      </p:sp>
      <p:sp>
        <p:nvSpPr>
          <p:cNvPr id="16" name="Rectangle 15"/>
          <p:cNvSpPr/>
          <p:nvPr/>
        </p:nvSpPr>
        <p:spPr>
          <a:xfrm>
            <a:off x="502920" y="4300728"/>
            <a:ext cx="2103120" cy="1121664"/>
          </a:xfrm>
          <a:prstGeom prst="rect">
            <a:avLst/>
          </a:prstGeom>
          <a:solidFill>
            <a:srgbClr val="E3F1E4"/>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1" i="0">
                <a:solidFill>
                  <a:srgbClr val="2C6696"/>
                </a:solidFill>
                <a:latin typeface="Calibri"/>
              </a:rPr>
              <a:t>Hava durumu</a:t>
            </a:r>
          </a:p>
        </p:txBody>
      </p:sp>
      <p:sp>
        <p:nvSpPr>
          <p:cNvPr id="17" name="Rectangle 16"/>
          <p:cNvSpPr/>
          <p:nvPr/>
        </p:nvSpPr>
        <p:spPr>
          <a:xfrm>
            <a:off x="2606040" y="4300728"/>
            <a:ext cx="6035040"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800" b="0" i="0">
                <a:solidFill>
                  <a:srgbClr val="262626"/>
                </a:solidFill>
                <a:latin typeface="Calibri"/>
              </a:rPr>
              <a:t>Gökyüzünün sekiz parçasından üçü bulutlu: parçalı bulutlu. Rüzgâr saçları dağıtıyor; sıcaklık hissi ılık. (Durak 3)</a:t>
            </a:r>
          </a:p>
        </p:txBody>
      </p:sp>
      <p:sp>
        <p:nvSpPr>
          <p:cNvPr id="18" name="Rectangle 17"/>
          <p:cNvSpPr/>
          <p:nvPr/>
        </p:nvSpPr>
        <p:spPr>
          <a:xfrm>
            <a:off x="8641080" y="4300728"/>
            <a:ext cx="3047695" cy="1121664"/>
          </a:xfrm>
          <a:prstGeom prst="rect">
            <a:avLst/>
          </a:prstGeom>
          <a:solidFill>
            <a:srgbClr val="FFFFFF"/>
          </a:solidFill>
          <a:ln w="9525">
            <a:solidFill>
              <a:srgbClr val="D9D9D9"/>
            </a:solidFill>
          </a:ln>
          <a:effectLst/>
        </p:spPr>
        <p:txBody>
          <a:bodyPr rtlCol="0" anchor="ctr" wrap="square" lIns="73152" rIns="73152" tIns="27432" bIns="27432">
            <a:noAutofit/>
          </a:bodyPr>
          <a:lstStyle/>
          <a:p>
            <a:pPr algn="l">
              <a:spcBef>
                <a:spcPts val="0"/>
              </a:spcBef>
              <a:spcAft>
                <a:spcPts val="0"/>
              </a:spcAft>
            </a:pPr>
            <a:r>
              <a:rPr lang="tr-TR" sz="1600" b="0" i="0">
                <a:solidFill>
                  <a:srgbClr val="2E7D32"/>
                </a:solidFill>
                <a:latin typeface="Calibri"/>
              </a:rPr>
              <a:t>hava durumu · 3. ünite</a:t>
            </a:r>
          </a:p>
        </p:txBody>
      </p:sp>
      <p:sp>
        <p:nvSpPr>
          <p:cNvPr id="19" name="Rounded Rectangle 18"/>
          <p:cNvSpPr/>
          <p:nvPr/>
        </p:nvSpPr>
        <p:spPr>
          <a:xfrm>
            <a:off x="502920" y="5513832"/>
            <a:ext cx="11185855" cy="777240"/>
          </a:xfrm>
          <a:prstGeom prst="roundRect">
            <a:avLst>
              <a:gd name="adj" fmla="val 6000"/>
            </a:avLst>
          </a:prstGeom>
          <a:solidFill>
            <a:srgbClr val="E3F1E4"/>
          </a:solidFill>
          <a:ln>
            <a:noFill/>
          </a:ln>
          <a:effectLst/>
        </p:spPr>
        <p:txBody>
          <a:bodyPr rtlCol="0" anchor="ctr"/>
          <a:lstStyle/>
          <a:p/>
        </p:txBody>
      </p:sp>
      <p:sp>
        <p:nvSpPr>
          <p:cNvPr id="20" name="Rectangle 19"/>
          <p:cNvSpPr/>
          <p:nvPr/>
        </p:nvSpPr>
        <p:spPr>
          <a:xfrm>
            <a:off x="502920" y="5513832"/>
            <a:ext cx="109728" cy="777240"/>
          </a:xfrm>
          <a:prstGeom prst="rect">
            <a:avLst/>
          </a:prstGeom>
          <a:solidFill>
            <a:srgbClr val="2E7D32"/>
          </a:solidFill>
          <a:ln>
            <a:noFill/>
          </a:ln>
          <a:effectLst/>
        </p:spPr>
        <p:txBody>
          <a:bodyPr rtlCol="0" anchor="ctr"/>
          <a:lstStyle/>
          <a:p/>
        </p:txBody>
      </p:sp>
      <p:sp>
        <p:nvSpPr>
          <p:cNvPr id="21" name="TextBox 20"/>
          <p:cNvSpPr txBox="1"/>
          <p:nvPr/>
        </p:nvSpPr>
        <p:spPr>
          <a:xfrm>
            <a:off x="731520" y="5568696"/>
            <a:ext cx="10865815" cy="667512"/>
          </a:xfrm>
          <a:prstGeom prst="rect">
            <a:avLst/>
          </a:prstGeom>
          <a:noFill/>
        </p:spPr>
        <p:txBody>
          <a:bodyPr wrap="square" anchor="ctr" lIns="73152" rIns="73152" tIns="36576" bIns="36576">
            <a:noAutofit/>
          </a:bodyPr>
          <a:lstStyle/>
          <a:p>
            <a:pPr algn="l">
              <a:spcBef>
                <a:spcPts val="0"/>
              </a:spcBef>
              <a:spcAft>
                <a:spcPts val="400"/>
              </a:spcAft>
            </a:pPr>
            <a:r>
              <a:rPr lang="tr-TR" sz="1700" b="1" i="0">
                <a:solidFill>
                  <a:srgbClr val="2E7D32"/>
                </a:solidFill>
                <a:latin typeface="Calibri"/>
              </a:rPr>
              <a:t>Kontrol:</a:t>
            </a:r>
          </a:p>
          <a:p>
            <a:pPr algn="l">
              <a:spcBef>
                <a:spcPts val="0"/>
              </a:spcBef>
              <a:spcAft>
                <a:spcPts val="0"/>
              </a:spcAft>
            </a:pPr>
            <a:r>
              <a:rPr lang="tr-TR" sz="1700" b="0" i="0">
                <a:solidFill>
                  <a:srgbClr val="262626"/>
                </a:solidFill>
                <a:latin typeface="Calibri"/>
              </a:rPr>
              <a:t>Bulut durumunu ölçütle, rüzgârı etkisiyle yaz; derece yazma (termometre yok).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131 / 187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4: Dönüş noktası (durak ya da çarşı)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DURAK 4 · 5 dk</a:t>
            </a:r>
          </a:p>
        </p:txBody>
      </p:sp>
      <p:sp>
        <p:nvSpPr>
          <p:cNvPr id="6" name="Oval 5"/>
          <p:cNvSpPr/>
          <p:nvPr/>
        </p:nvSpPr>
        <p:spPr>
          <a:xfrm>
            <a:off x="502920" y="1261872"/>
            <a:ext cx="685800" cy="68580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4</a:t>
            </a:r>
          </a:p>
        </p:txBody>
      </p:sp>
      <p:sp>
        <p:nvSpPr>
          <p:cNvPr id="7" name="TextBox 6"/>
          <p:cNvSpPr txBox="1"/>
          <p:nvPr/>
        </p:nvSpPr>
        <p:spPr>
          <a:xfrm>
            <a:off x="1371600" y="1261872"/>
            <a:ext cx="10317175" cy="68580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767676"/>
                </a:solidFill>
                <a:latin typeface="Calibri"/>
              </a:rPr>
              <a:t>İşlevsel bölge ipuçları</a:t>
            </a:r>
          </a:p>
        </p:txBody>
      </p:sp>
      <p:sp>
        <p:nvSpPr>
          <p:cNvPr id="8" name="Rounded Rectangle 7"/>
          <p:cNvSpPr/>
          <p:nvPr/>
        </p:nvSpPr>
        <p:spPr>
          <a:xfrm>
            <a:off x="502920" y="2130552"/>
            <a:ext cx="3594506" cy="214884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130552"/>
            <a:ext cx="3594506" cy="530352"/>
          </a:xfrm>
          <a:prstGeom prst="roundRect">
            <a:avLst>
              <a:gd name="adj" fmla="val 25000"/>
            </a:avLst>
          </a:prstGeom>
          <a:solidFill>
            <a:srgbClr val="1F6EA8"/>
          </a:solidFill>
          <a:ln>
            <a:noFill/>
          </a:ln>
          <a:effectLst/>
        </p:spPr>
        <p:txBody>
          <a:bodyPr rtlCol="0" anchor="ctr"/>
          <a:lstStyle/>
          <a:p/>
        </p:txBody>
      </p:sp>
      <p:sp>
        <p:nvSpPr>
          <p:cNvPr id="10" name="Rectangle 9"/>
          <p:cNvSpPr/>
          <p:nvPr/>
        </p:nvSpPr>
        <p:spPr>
          <a:xfrm>
            <a:off x="502920" y="2395728"/>
            <a:ext cx="3594506" cy="265176"/>
          </a:xfrm>
          <a:prstGeom prst="rect">
            <a:avLst/>
          </a:prstGeom>
          <a:solidFill>
            <a:srgbClr val="1F6EA8"/>
          </a:solidFill>
          <a:ln>
            <a:noFill/>
          </a:ln>
          <a:effectLst/>
        </p:spPr>
        <p:txBody>
          <a:bodyPr rtlCol="0" anchor="ctr"/>
          <a:lstStyle/>
          <a:p/>
        </p:txBody>
      </p:sp>
      <p:sp>
        <p:nvSpPr>
          <p:cNvPr id="11" name="TextBox 10"/>
          <p:cNvSpPr txBox="1"/>
          <p:nvPr/>
        </p:nvSpPr>
        <p:spPr>
          <a:xfrm>
            <a:off x="594360"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Hareket</a:t>
            </a:r>
          </a:p>
        </p:txBody>
      </p:sp>
      <p:sp>
        <p:nvSpPr>
          <p:cNvPr id="12" name="TextBox 11"/>
          <p:cNvSpPr txBox="1"/>
          <p:nvPr/>
        </p:nvSpPr>
        <p:spPr>
          <a:xfrm>
            <a:off x="612648" y="2734056"/>
            <a:ext cx="3375050" cy="14721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İnsanlar hangi yönden geliyor, nereye gidiyor?</a:t>
            </a:r>
          </a:p>
        </p:txBody>
      </p:sp>
      <p:sp>
        <p:nvSpPr>
          <p:cNvPr id="13" name="Rounded Rectangle 12"/>
          <p:cNvSpPr/>
          <p:nvPr/>
        </p:nvSpPr>
        <p:spPr>
          <a:xfrm>
            <a:off x="4298594" y="2130552"/>
            <a:ext cx="3594506" cy="214884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298594" y="2130552"/>
            <a:ext cx="3594506" cy="530352"/>
          </a:xfrm>
          <a:prstGeom prst="roundRect">
            <a:avLst>
              <a:gd name="adj" fmla="val 25000"/>
            </a:avLst>
          </a:prstGeom>
          <a:solidFill>
            <a:srgbClr val="1F6EA8"/>
          </a:solidFill>
          <a:ln>
            <a:noFill/>
          </a:ln>
          <a:effectLst/>
        </p:spPr>
        <p:txBody>
          <a:bodyPr rtlCol="0" anchor="ctr"/>
          <a:lstStyle/>
          <a:p/>
        </p:txBody>
      </p:sp>
      <p:sp>
        <p:nvSpPr>
          <p:cNvPr id="15" name="Rectangle 14"/>
          <p:cNvSpPr/>
          <p:nvPr/>
        </p:nvSpPr>
        <p:spPr>
          <a:xfrm>
            <a:off x="4298594" y="2395728"/>
            <a:ext cx="3594506" cy="265176"/>
          </a:xfrm>
          <a:prstGeom prst="rect">
            <a:avLst/>
          </a:prstGeom>
          <a:solidFill>
            <a:srgbClr val="1F6EA8"/>
          </a:solidFill>
          <a:ln>
            <a:noFill/>
          </a:ln>
          <a:effectLst/>
        </p:spPr>
        <p:txBody>
          <a:bodyPr rtlCol="0" anchor="ctr"/>
          <a:lstStyle/>
          <a:p/>
        </p:txBody>
      </p:sp>
      <p:sp>
        <p:nvSpPr>
          <p:cNvPr id="16" name="TextBox 15"/>
          <p:cNvSpPr txBox="1"/>
          <p:nvPr/>
        </p:nvSpPr>
        <p:spPr>
          <a:xfrm>
            <a:off x="4390034"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Odak noktaları</a:t>
            </a:r>
          </a:p>
        </p:txBody>
      </p:sp>
      <p:sp>
        <p:nvSpPr>
          <p:cNvPr id="17" name="TextBox 16"/>
          <p:cNvSpPr txBox="1"/>
          <p:nvPr/>
        </p:nvSpPr>
        <p:spPr>
          <a:xfrm>
            <a:off x="4408322" y="2734056"/>
            <a:ext cx="3375050" cy="14721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Durak, market, çarşı: insanlar nerede toplanıyor?</a:t>
            </a:r>
          </a:p>
        </p:txBody>
      </p:sp>
      <p:sp>
        <p:nvSpPr>
          <p:cNvPr id="18" name="Rounded Rectangle 17"/>
          <p:cNvSpPr/>
          <p:nvPr/>
        </p:nvSpPr>
        <p:spPr>
          <a:xfrm>
            <a:off x="8094268" y="2130552"/>
            <a:ext cx="3594506" cy="214884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94268" y="2130552"/>
            <a:ext cx="3594506" cy="530352"/>
          </a:xfrm>
          <a:prstGeom prst="roundRect">
            <a:avLst>
              <a:gd name="adj" fmla="val 25000"/>
            </a:avLst>
          </a:prstGeom>
          <a:solidFill>
            <a:srgbClr val="6A4C93"/>
          </a:solidFill>
          <a:ln>
            <a:noFill/>
          </a:ln>
          <a:effectLst/>
        </p:spPr>
        <p:txBody>
          <a:bodyPr rtlCol="0" anchor="ctr"/>
          <a:lstStyle/>
          <a:p/>
        </p:txBody>
      </p:sp>
      <p:sp>
        <p:nvSpPr>
          <p:cNvPr id="20" name="Rectangle 19"/>
          <p:cNvSpPr/>
          <p:nvPr/>
        </p:nvSpPr>
        <p:spPr>
          <a:xfrm>
            <a:off x="8094268" y="2395728"/>
            <a:ext cx="3594506" cy="265176"/>
          </a:xfrm>
          <a:prstGeom prst="rect">
            <a:avLst/>
          </a:prstGeom>
          <a:solidFill>
            <a:srgbClr val="6A4C93"/>
          </a:solidFill>
          <a:ln>
            <a:noFill/>
          </a:ln>
          <a:effectLst/>
        </p:spPr>
        <p:txBody>
          <a:bodyPr rtlCol="0" anchor="ctr"/>
          <a:lstStyle/>
          <a:p/>
        </p:txBody>
      </p:sp>
      <p:sp>
        <p:nvSpPr>
          <p:cNvPr id="21" name="TextBox 20"/>
          <p:cNvSpPr txBox="1"/>
          <p:nvPr/>
        </p:nvSpPr>
        <p:spPr>
          <a:xfrm>
            <a:off x="8185708" y="213055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Varsayım</a:t>
            </a:r>
          </a:p>
        </p:txBody>
      </p:sp>
      <p:sp>
        <p:nvSpPr>
          <p:cNvPr id="22" name="TextBox 21"/>
          <p:cNvSpPr txBox="1"/>
          <p:nvPr/>
        </p:nvSpPr>
        <p:spPr>
          <a:xfrm>
            <a:off x="8203996" y="2734056"/>
            <a:ext cx="3375050" cy="147218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Okulumuzun etki alanı nereye kadar uzanır?</a:t>
            </a:r>
          </a:p>
        </p:txBody>
      </p:sp>
      <p:sp>
        <p:nvSpPr>
          <p:cNvPr id="23" name="Rounded Rectangle 22"/>
          <p:cNvSpPr/>
          <p:nvPr/>
        </p:nvSpPr>
        <p:spPr>
          <a:xfrm>
            <a:off x="502920" y="4462272"/>
            <a:ext cx="11185855" cy="1828800"/>
          </a:xfrm>
          <a:prstGeom prst="roundRect">
            <a:avLst>
              <a:gd name="adj" fmla="val 8000"/>
            </a:avLst>
          </a:prstGeom>
          <a:solidFill>
            <a:srgbClr val="F0F0F0"/>
          </a:solidFill>
          <a:ln>
            <a:noFill/>
          </a:ln>
          <a:effectLst/>
        </p:spPr>
        <p:txBody>
          <a:bodyPr rtlCol="0" anchor="ctr"/>
          <a:lstStyle/>
          <a:p/>
        </p:txBody>
      </p:sp>
      <p:sp>
        <p:nvSpPr>
          <p:cNvPr id="24" name="Rectangle 23"/>
          <p:cNvSpPr/>
          <p:nvPr/>
        </p:nvSpPr>
        <p:spPr>
          <a:xfrm>
            <a:off x="502920" y="4462272"/>
            <a:ext cx="118872" cy="1828800"/>
          </a:xfrm>
          <a:prstGeom prst="rect">
            <a:avLst/>
          </a:prstGeom>
          <a:solidFill>
            <a:srgbClr val="1F6EA8"/>
          </a:solidFill>
          <a:ln>
            <a:noFill/>
          </a:ln>
          <a:effectLst/>
        </p:spPr>
        <p:txBody>
          <a:bodyPr rtlCol="0" anchor="ctr"/>
          <a:lstStyle/>
          <a:p/>
        </p:txBody>
      </p:sp>
      <p:sp>
        <p:nvSpPr>
          <p:cNvPr id="25" name="TextBox 24"/>
          <p:cNvSpPr txBox="1"/>
          <p:nvPr/>
        </p:nvSpPr>
        <p:spPr>
          <a:xfrm>
            <a:off x="777240" y="4462272"/>
            <a:ext cx="10774375" cy="18288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İşlevsel bölge:</a:t>
            </a:r>
            <a:r>
              <a:rPr lang="tr-TR" sz="2100" b="0" i="0">
                <a:solidFill>
                  <a:srgbClr val="262626"/>
                </a:solidFill>
                <a:latin typeface="Calibri"/>
              </a:rPr>
              <a:t> İşlevsel bölge, bir çekirdek (merkez) ve bunu çevreleyen bir alana sahiptir. Bu alan da çekirdeğe bağlıdır ve aralarında bir hareket vardır. (s. 219)</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132 / 187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Durak 4 — örnek cevap: okulumuzun işlevsel bölgesi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Oval 5"/>
          <p:cNvSpPr/>
          <p:nvPr/>
        </p:nvSpPr>
        <p:spPr>
          <a:xfrm>
            <a:off x="685800" y="1353312"/>
            <a:ext cx="4663440" cy="4663440"/>
          </a:xfrm>
          <a:prstGeom prst="ellipse">
            <a:avLst/>
          </a:prstGeom>
          <a:solidFill>
            <a:srgbClr val="E3ECF5"/>
          </a:solidFill>
          <a:ln>
            <a:noFill/>
          </a:ln>
          <a:effectLst/>
        </p:spPr>
        <p:txBody>
          <a:bodyPr rtlCol="0" anchor="ctr"/>
          <a:lstStyle/>
          <a:p/>
        </p:txBody>
      </p:sp>
      <p:sp>
        <p:nvSpPr>
          <p:cNvPr id="7" name="Oval 6"/>
          <p:cNvSpPr/>
          <p:nvPr/>
        </p:nvSpPr>
        <p:spPr>
          <a:xfrm>
            <a:off x="1463040" y="2130552"/>
            <a:ext cx="3108960" cy="3108960"/>
          </a:xfrm>
          <a:prstGeom prst="ellipse">
            <a:avLst/>
          </a:prstGeom>
          <a:solidFill>
            <a:srgbClr val="C5DBEE"/>
          </a:solidFill>
          <a:ln>
            <a:noFill/>
          </a:ln>
          <a:effectLst/>
        </p:spPr>
        <p:txBody>
          <a:bodyPr rtlCol="0" anchor="ctr"/>
          <a:lstStyle/>
          <a:p/>
        </p:txBody>
      </p:sp>
      <p:sp>
        <p:nvSpPr>
          <p:cNvPr id="8" name="Oval 7"/>
          <p:cNvSpPr/>
          <p:nvPr/>
        </p:nvSpPr>
        <p:spPr>
          <a:xfrm>
            <a:off x="2331720" y="2999232"/>
            <a:ext cx="1371600" cy="1371600"/>
          </a:xfrm>
          <a:prstGeom prst="ellipse">
            <a:avLst/>
          </a:prstGeom>
          <a:solidFill>
            <a:srgbClr val="1F6EA8"/>
          </a:solidFill>
          <a:ln>
            <a:noFill/>
          </a:ln>
          <a:effectLst/>
        </p:spPr>
        <p:txBody>
          <a:bodyPr rtlCol="0" anchor="ctr"/>
          <a:lstStyle/>
          <a:p/>
        </p:txBody>
      </p:sp>
      <p:sp>
        <p:nvSpPr>
          <p:cNvPr id="9" name="Oval 8"/>
          <p:cNvSpPr/>
          <p:nvPr/>
        </p:nvSpPr>
        <p:spPr>
          <a:xfrm>
            <a:off x="685800" y="1353312"/>
            <a:ext cx="4663440" cy="4663440"/>
          </a:xfrm>
          <a:prstGeom prst="ellipse">
            <a:avLst/>
          </a:prstGeom>
          <a:noFill/>
          <a:ln w="25400">
            <a:solidFill>
              <a:srgbClr val="1F6EA8"/>
            </a:solidFill>
            <a:prstDash val="dash"/>
          </a:ln>
          <a:effectLst/>
        </p:spPr>
        <p:txBody>
          <a:bodyPr rtlCol="0" anchor="ctr"/>
          <a:lstStyle/>
          <a:p/>
        </p:txBody>
      </p:sp>
      <p:sp>
        <p:nvSpPr>
          <p:cNvPr id="10" name="TextBox 9"/>
          <p:cNvSpPr txBox="1"/>
          <p:nvPr/>
        </p:nvSpPr>
        <p:spPr>
          <a:xfrm>
            <a:off x="2331720" y="3364992"/>
            <a:ext cx="1371600" cy="640080"/>
          </a:xfrm>
          <a:prstGeom prst="rect">
            <a:avLst/>
          </a:prstGeom>
          <a:noFill/>
        </p:spPr>
        <p:txBody>
          <a:bodyPr wrap="square" anchor="ctr" lIns="73152" rIns="73152" tIns="36576" bIns="36576">
            <a:noAutofit/>
          </a:bodyPr>
          <a:lstStyle/>
          <a:p>
            <a:pPr algn="ctr">
              <a:spcBef>
                <a:spcPts val="0"/>
              </a:spcBef>
              <a:spcAft>
                <a:spcPts val="0"/>
              </a:spcAft>
            </a:pPr>
            <a:r>
              <a:rPr lang="tr-TR" sz="2200" b="1" i="0">
                <a:solidFill>
                  <a:srgbClr val="FFFFFF"/>
                </a:solidFill>
                <a:latin typeface="Calibri"/>
              </a:rPr>
              <a:t>OKUL</a:t>
            </a:r>
          </a:p>
        </p:txBody>
      </p:sp>
      <p:sp>
        <p:nvSpPr>
          <p:cNvPr id="11" name="TextBox 10"/>
          <p:cNvSpPr txBox="1"/>
          <p:nvPr/>
        </p:nvSpPr>
        <p:spPr>
          <a:xfrm>
            <a:off x="1554480" y="2203704"/>
            <a:ext cx="2926080" cy="502920"/>
          </a:xfrm>
          <a:prstGeom prst="rect">
            <a:avLst/>
          </a:prstGeom>
          <a:noFill/>
        </p:spPr>
        <p:txBody>
          <a:bodyPr wrap="square" anchor="ctr" lIns="73152" rIns="73152" tIns="36576" bIns="36576">
            <a:noAutofit/>
          </a:bodyPr>
          <a:lstStyle/>
          <a:p>
            <a:pPr algn="ctr">
              <a:spcBef>
                <a:spcPts val="0"/>
              </a:spcBef>
              <a:spcAft>
                <a:spcPts val="0"/>
              </a:spcAft>
            </a:pPr>
            <a:r>
              <a:rPr lang="tr-TR" sz="1500" b="0" i="0">
                <a:solidFill>
                  <a:srgbClr val="262626"/>
                </a:solidFill>
                <a:latin typeface="Calibri"/>
              </a:rPr>
              <a:t>çevre: her gün gelinen alan</a:t>
            </a:r>
          </a:p>
        </p:txBody>
      </p:sp>
      <p:sp>
        <p:nvSpPr>
          <p:cNvPr id="12" name="TextBox 11"/>
          <p:cNvSpPr txBox="1"/>
          <p:nvPr/>
        </p:nvSpPr>
        <p:spPr>
          <a:xfrm>
            <a:off x="1554480" y="5440680"/>
            <a:ext cx="2926080" cy="457200"/>
          </a:xfrm>
          <a:prstGeom prst="rect">
            <a:avLst/>
          </a:prstGeom>
          <a:noFill/>
        </p:spPr>
        <p:txBody>
          <a:bodyPr wrap="square" anchor="ctr" lIns="73152" rIns="73152" tIns="36576" bIns="36576">
            <a:noAutofit/>
          </a:bodyPr>
          <a:lstStyle/>
          <a:p>
            <a:pPr algn="ctr">
              <a:spcBef>
                <a:spcPts val="0"/>
              </a:spcBef>
              <a:spcAft>
                <a:spcPts val="0"/>
              </a:spcAft>
            </a:pPr>
            <a:r>
              <a:rPr lang="tr-TR" sz="1400" b="1" i="0">
                <a:solidFill>
                  <a:srgbClr val="1F6EA8"/>
                </a:solidFill>
                <a:latin typeface="Calibri"/>
              </a:rPr>
              <a:t>sınır kesin değil</a:t>
            </a:r>
          </a:p>
        </p:txBody>
      </p:sp>
      <p:cxnSp>
        <p:nvCxnSpPr>
          <p:cNvPr id="13" name="Connector 12"/>
          <p:cNvCxnSpPr/>
          <p:nvPr/>
        </p:nvCxnSpPr>
        <p:spPr>
          <a:xfrm>
            <a:off x="1554480" y="3136392"/>
            <a:ext cx="731520" cy="274320"/>
          </a:xfrm>
          <a:prstGeom prst="line">
            <a:avLst/>
          </a:prstGeom>
          <a:ln w="31750">
            <a:solidFill>
              <a:srgbClr val="4F4F4F"/>
            </a:solidFill>
            <a:tailEnd type="triangle" w="med" len="med"/>
          </a:ln>
        </p:spPr>
      </p:cxnSp>
      <p:cxnSp>
        <p:nvCxnSpPr>
          <p:cNvPr id="14" name="Connector 13"/>
          <p:cNvCxnSpPr/>
          <p:nvPr/>
        </p:nvCxnSpPr>
        <p:spPr>
          <a:xfrm flipH="1">
            <a:off x="3749040" y="3136392"/>
            <a:ext cx="731520" cy="274320"/>
          </a:xfrm>
          <a:prstGeom prst="line">
            <a:avLst/>
          </a:prstGeom>
          <a:ln w="31750">
            <a:solidFill>
              <a:srgbClr val="4F4F4F"/>
            </a:solidFill>
            <a:tailEnd type="triangle" w="med" len="med"/>
          </a:ln>
        </p:spPr>
      </p:cxnSp>
      <p:cxnSp>
        <p:nvCxnSpPr>
          <p:cNvPr id="15" name="Connector 14"/>
          <p:cNvCxnSpPr/>
          <p:nvPr/>
        </p:nvCxnSpPr>
        <p:spPr>
          <a:xfrm flipV="1">
            <a:off x="1828800" y="4187952"/>
            <a:ext cx="594360" cy="502920"/>
          </a:xfrm>
          <a:prstGeom prst="line">
            <a:avLst/>
          </a:prstGeom>
          <a:ln w="31750">
            <a:solidFill>
              <a:srgbClr val="4F4F4F"/>
            </a:solidFill>
            <a:tailEnd type="triangle" w="med" len="med"/>
          </a:ln>
        </p:spPr>
      </p:cxnSp>
      <p:cxnSp>
        <p:nvCxnSpPr>
          <p:cNvPr id="16" name="Connector 15"/>
          <p:cNvCxnSpPr/>
          <p:nvPr/>
        </p:nvCxnSpPr>
        <p:spPr>
          <a:xfrm flipH="1" flipV="1">
            <a:off x="3611880" y="4187952"/>
            <a:ext cx="594360" cy="502920"/>
          </a:xfrm>
          <a:prstGeom prst="line">
            <a:avLst/>
          </a:prstGeom>
          <a:ln w="31750">
            <a:solidFill>
              <a:srgbClr val="4F4F4F"/>
            </a:solidFill>
            <a:tailEnd type="triangle" w="med" len="med"/>
          </a:ln>
        </p:spPr>
      </p:cxnSp>
      <p:sp>
        <p:nvSpPr>
          <p:cNvPr id="17" name="Rounded Rectangle 16"/>
          <p:cNvSpPr/>
          <p:nvPr/>
        </p:nvSpPr>
        <p:spPr>
          <a:xfrm>
            <a:off x="5760720" y="1216152"/>
            <a:ext cx="5928055" cy="1584960"/>
          </a:xfrm>
          <a:prstGeom prst="roundRect">
            <a:avLst>
              <a:gd name="adj" fmla="val 8000"/>
            </a:avLst>
          </a:prstGeom>
          <a:solidFill>
            <a:srgbClr val="F0F0F0"/>
          </a:solidFill>
          <a:ln>
            <a:noFill/>
          </a:ln>
          <a:effectLst/>
        </p:spPr>
        <p:txBody>
          <a:bodyPr rtlCol="0" anchor="ctr"/>
          <a:lstStyle/>
          <a:p/>
        </p:txBody>
      </p:sp>
      <p:sp>
        <p:nvSpPr>
          <p:cNvPr id="18" name="Rectangle 17"/>
          <p:cNvSpPr/>
          <p:nvPr/>
        </p:nvSpPr>
        <p:spPr>
          <a:xfrm>
            <a:off x="5760720" y="1216152"/>
            <a:ext cx="118872" cy="1584960"/>
          </a:xfrm>
          <a:prstGeom prst="rect">
            <a:avLst/>
          </a:prstGeom>
          <a:solidFill>
            <a:srgbClr val="1F6EA8"/>
          </a:solidFill>
          <a:ln>
            <a:noFill/>
          </a:ln>
          <a:effectLst/>
        </p:spPr>
        <p:txBody>
          <a:bodyPr rtlCol="0" anchor="ctr"/>
          <a:lstStyle/>
          <a:p/>
        </p:txBody>
      </p:sp>
      <p:sp>
        <p:nvSpPr>
          <p:cNvPr id="19" name="TextBox 18"/>
          <p:cNvSpPr txBox="1"/>
          <p:nvPr/>
        </p:nvSpPr>
        <p:spPr>
          <a:xfrm>
            <a:off x="6035040" y="1216152"/>
            <a:ext cx="5516575" cy="158496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Uzaklaştıkça:</a:t>
            </a:r>
            <a:r>
              <a:rPr lang="tr-TR" sz="1900" b="0" i="0">
                <a:solidFill>
                  <a:srgbClr val="262626"/>
                </a:solidFill>
                <a:latin typeface="Calibri"/>
              </a:rPr>
              <a:t> Etkileşimin yoğunluğu odak noktasından uzaklaştıkça azalır. (s. 219)</a:t>
            </a:r>
          </a:p>
        </p:txBody>
      </p:sp>
      <p:sp>
        <p:nvSpPr>
          <p:cNvPr id="20" name="Rounded Rectangle 19"/>
          <p:cNvSpPr/>
          <p:nvPr/>
        </p:nvSpPr>
        <p:spPr>
          <a:xfrm>
            <a:off x="5760720" y="2938272"/>
            <a:ext cx="5928055" cy="1584960"/>
          </a:xfrm>
          <a:prstGeom prst="roundRect">
            <a:avLst>
              <a:gd name="adj" fmla="val 8000"/>
            </a:avLst>
          </a:prstGeom>
          <a:solidFill>
            <a:srgbClr val="F0F0F0"/>
          </a:solidFill>
          <a:ln>
            <a:noFill/>
          </a:ln>
          <a:effectLst/>
        </p:spPr>
        <p:txBody>
          <a:bodyPr rtlCol="0" anchor="ctr"/>
          <a:lstStyle/>
          <a:p/>
        </p:txBody>
      </p:sp>
      <p:sp>
        <p:nvSpPr>
          <p:cNvPr id="21" name="Rectangle 20"/>
          <p:cNvSpPr/>
          <p:nvPr/>
        </p:nvSpPr>
        <p:spPr>
          <a:xfrm>
            <a:off x="5760720" y="2938272"/>
            <a:ext cx="118872" cy="1584960"/>
          </a:xfrm>
          <a:prstGeom prst="rect">
            <a:avLst/>
          </a:prstGeom>
          <a:solidFill>
            <a:srgbClr val="1F6EA8"/>
          </a:solidFill>
          <a:ln>
            <a:noFill/>
          </a:ln>
          <a:effectLst/>
        </p:spPr>
        <p:txBody>
          <a:bodyPr rtlCol="0" anchor="ctr"/>
          <a:lstStyle/>
          <a:p/>
        </p:txBody>
      </p:sp>
      <p:sp>
        <p:nvSpPr>
          <p:cNvPr id="22" name="TextBox 21"/>
          <p:cNvSpPr txBox="1"/>
          <p:nvPr/>
        </p:nvSpPr>
        <p:spPr>
          <a:xfrm>
            <a:off x="6035040" y="2938272"/>
            <a:ext cx="5516575" cy="158496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Sınır:</a:t>
            </a:r>
            <a:r>
              <a:rPr lang="tr-TR" sz="1900" b="0" i="0">
                <a:solidFill>
                  <a:srgbClr val="262626"/>
                </a:solidFill>
                <a:latin typeface="Calibri"/>
              </a:rPr>
              <a:t> Ancak tüm işlevsel bölgelerin sabit ve kesin sınırları yoktur. (s. 219)</a:t>
            </a:r>
          </a:p>
        </p:txBody>
      </p:sp>
      <p:sp>
        <p:nvSpPr>
          <p:cNvPr id="23" name="Rounded Rectangle 22"/>
          <p:cNvSpPr/>
          <p:nvPr/>
        </p:nvSpPr>
        <p:spPr>
          <a:xfrm>
            <a:off x="5760720" y="4660392"/>
            <a:ext cx="5928055" cy="1584960"/>
          </a:xfrm>
          <a:prstGeom prst="roundRect">
            <a:avLst>
              <a:gd name="adj" fmla="val 6000"/>
            </a:avLst>
          </a:prstGeom>
          <a:solidFill>
            <a:srgbClr val="E3F1E4"/>
          </a:solidFill>
          <a:ln>
            <a:noFill/>
          </a:ln>
          <a:effectLst/>
        </p:spPr>
        <p:txBody>
          <a:bodyPr rtlCol="0" anchor="ctr"/>
          <a:lstStyle/>
          <a:p/>
        </p:txBody>
      </p:sp>
      <p:sp>
        <p:nvSpPr>
          <p:cNvPr id="24" name="Rectangle 23"/>
          <p:cNvSpPr/>
          <p:nvPr/>
        </p:nvSpPr>
        <p:spPr>
          <a:xfrm>
            <a:off x="5760720" y="4660392"/>
            <a:ext cx="109728" cy="1584960"/>
          </a:xfrm>
          <a:prstGeom prst="rect">
            <a:avLst/>
          </a:prstGeom>
          <a:solidFill>
            <a:srgbClr val="2E7D32"/>
          </a:solidFill>
          <a:ln>
            <a:noFill/>
          </a:ln>
          <a:effectLst/>
        </p:spPr>
        <p:txBody>
          <a:bodyPr rtlCol="0" anchor="ctr"/>
          <a:lstStyle/>
          <a:p/>
        </p:txBody>
      </p:sp>
      <p:sp>
        <p:nvSpPr>
          <p:cNvPr id="25" name="TextBox 24"/>
          <p:cNvSpPr txBox="1"/>
          <p:nvPr/>
        </p:nvSpPr>
        <p:spPr>
          <a:xfrm>
            <a:off x="5989320" y="4715256"/>
            <a:ext cx="5608015" cy="147523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Bizim çıkarımımız</a:t>
            </a:r>
          </a:p>
          <a:p>
            <a:pPr algn="l">
              <a:spcBef>
                <a:spcPts val="0"/>
              </a:spcBef>
              <a:spcAft>
                <a:spcPts val="0"/>
              </a:spcAft>
            </a:pPr>
            <a:r>
              <a:rPr lang="tr-TR" sz="1900" b="0" i="0">
                <a:solidFill>
                  <a:srgbClr val="262626"/>
                </a:solidFill>
                <a:latin typeface="Calibri"/>
              </a:rPr>
              <a:t>Okulumuz bir çekirdektir; öğrenciler ve öğretmenler çevreden her gün okula gelir. Okuldan uzaklaştıkça bu bağ zayıflar.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133 / 187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Sınıfa döndük</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DÖNÜŞ · 4 dk</a:t>
            </a:r>
          </a:p>
        </p:txBody>
      </p:sp>
      <p:sp>
        <p:nvSpPr>
          <p:cNvPr id="6" name="Rounded Rectangle 5"/>
          <p:cNvSpPr/>
          <p:nvPr/>
        </p:nvSpPr>
        <p:spPr>
          <a:xfrm>
            <a:off x="502920" y="1261872"/>
            <a:ext cx="3594506" cy="20116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6A4C93"/>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6A4C93"/>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3. YOKLAMA</a:t>
            </a:r>
          </a:p>
        </p:txBody>
      </p:sp>
      <p:sp>
        <p:nvSpPr>
          <p:cNvPr id="10" name="TextBox 9"/>
          <p:cNvSpPr txBox="1"/>
          <p:nvPr/>
        </p:nvSpPr>
        <p:spPr>
          <a:xfrm>
            <a:off x="612648" y="1865376"/>
            <a:ext cx="3375050" cy="133502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Herkes sınıfta mı?</a:t>
            </a:r>
          </a:p>
        </p:txBody>
      </p:sp>
      <p:sp>
        <p:nvSpPr>
          <p:cNvPr id="11" name="Rounded Rectangle 10"/>
          <p:cNvSpPr/>
          <p:nvPr/>
        </p:nvSpPr>
        <p:spPr>
          <a:xfrm>
            <a:off x="4298594" y="1261872"/>
            <a:ext cx="3594506" cy="201168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2C6696"/>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SU MOLASI</a:t>
            </a:r>
          </a:p>
        </p:txBody>
      </p:sp>
      <p:sp>
        <p:nvSpPr>
          <p:cNvPr id="15" name="TextBox 14"/>
          <p:cNvSpPr txBox="1"/>
          <p:nvPr/>
        </p:nvSpPr>
        <p:spPr>
          <a:xfrm>
            <a:off x="4408322" y="1865376"/>
            <a:ext cx="3375050" cy="133502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Sakinleş, yerine otur.</a:t>
            </a:r>
          </a:p>
        </p:txBody>
      </p:sp>
      <p:sp>
        <p:nvSpPr>
          <p:cNvPr id="16" name="Rounded Rectangle 15"/>
          <p:cNvSpPr/>
          <p:nvPr/>
        </p:nvSpPr>
        <p:spPr>
          <a:xfrm>
            <a:off x="8094268" y="1261872"/>
            <a:ext cx="3594506" cy="201168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4F4F4F"/>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ADALAR</a:t>
            </a:r>
          </a:p>
        </p:txBody>
      </p:sp>
      <p:sp>
        <p:nvSpPr>
          <p:cNvPr id="20" name="TextBox 19"/>
          <p:cNvSpPr txBox="1"/>
          <p:nvPr/>
        </p:nvSpPr>
        <p:spPr>
          <a:xfrm>
            <a:off x="8203996" y="1865376"/>
            <a:ext cx="3375050" cy="1335024"/>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Sıralar gruplara; A3 ve renkli kalem.</a:t>
            </a:r>
          </a:p>
        </p:txBody>
      </p:sp>
      <p:sp>
        <p:nvSpPr>
          <p:cNvPr id="21" name="Rounded Rectangle 20"/>
          <p:cNvSpPr/>
          <p:nvPr/>
        </p:nvSpPr>
        <p:spPr>
          <a:xfrm>
            <a:off x="502920" y="3502152"/>
            <a:ext cx="11185855" cy="2788920"/>
          </a:xfrm>
          <a:prstGeom prst="roundRect">
            <a:avLst>
              <a:gd name="adj" fmla="val 8000"/>
            </a:avLst>
          </a:prstGeom>
          <a:solidFill>
            <a:srgbClr val="F0F0F0"/>
          </a:solidFill>
          <a:ln>
            <a:noFill/>
          </a:ln>
          <a:effectLst/>
        </p:spPr>
        <p:txBody>
          <a:bodyPr rtlCol="0" anchor="ctr" wrap="square" lIns="320040" rIns="320040" tIns="73152" bIns="73152">
            <a:noAutofit/>
          </a:bodyPr>
          <a:lstStyle/>
          <a:p>
            <a:pPr algn="l">
              <a:spcBef>
                <a:spcPts val="0"/>
              </a:spcBef>
              <a:spcAft>
                <a:spcPts val="800"/>
              </a:spcAft>
            </a:pPr>
            <a:r>
              <a:rPr lang="tr-TR" sz="2400" b="1" i="0">
                <a:solidFill>
                  <a:srgbClr val="6A4C93"/>
                </a:solidFill>
                <a:latin typeface="Calibri"/>
              </a:rPr>
              <a:t>Formunu kontrol et:</a:t>
            </a:r>
          </a:p>
          <a:p>
            <a:pPr algn="l" marL="298344" indent="-298344">
              <a:spcBef>
                <a:spcPts val="0"/>
              </a:spcBef>
              <a:spcAft>
                <a:spcPts val="800"/>
              </a:spcAft>
            </a:pPr>
            <a:r>
              <a:rPr lang="tr-TR" sz="2400" b="1" i="0">
                <a:solidFill>
                  <a:srgbClr val="6A4C93"/>
                </a:solidFill>
                <a:latin typeface="Calibri"/>
              </a:rPr>
              <a:t>•  </a:t>
            </a:r>
            <a:r>
              <a:rPr lang="tr-TR" sz="2400" b="0" i="0">
                <a:solidFill>
                  <a:srgbClr val="262626"/>
                </a:solidFill>
                <a:latin typeface="Calibri"/>
              </a:rPr>
              <a:t>Dört durağın hepsinde en az bir kayıt var mı?</a:t>
            </a:r>
          </a:p>
          <a:p>
            <a:pPr algn="l" marL="298344" indent="-298344">
              <a:spcBef>
                <a:spcPts val="0"/>
              </a:spcBef>
              <a:spcAft>
                <a:spcPts val="800"/>
              </a:spcAft>
            </a:pPr>
            <a:r>
              <a:rPr lang="tr-TR" sz="2400" b="1" i="0">
                <a:solidFill>
                  <a:srgbClr val="6A4C93"/>
                </a:solidFill>
                <a:latin typeface="Calibri"/>
              </a:rPr>
              <a:t>•  </a:t>
            </a:r>
            <a:r>
              <a:rPr lang="tr-TR" sz="2400" b="0" i="0">
                <a:solidFill>
                  <a:srgbClr val="262626"/>
                </a:solidFill>
                <a:latin typeface="Calibri"/>
              </a:rPr>
              <a:t>Beş gözlem başlığı dolu mu?</a:t>
            </a:r>
          </a:p>
          <a:p>
            <a:pPr algn="l" marL="298344" indent="-298344">
              <a:spcBef>
                <a:spcPts val="0"/>
              </a:spcBef>
              <a:spcAft>
                <a:spcPts val="0"/>
              </a:spcAft>
            </a:pPr>
            <a:r>
              <a:rPr lang="tr-TR" sz="2400" b="1" i="0">
                <a:solidFill>
                  <a:srgbClr val="6A4C93"/>
                </a:solidFill>
                <a:latin typeface="Calibri"/>
              </a:rPr>
              <a:t>•  </a:t>
            </a:r>
            <a:r>
              <a:rPr lang="tr-TR" sz="2400" b="0" i="0">
                <a:solidFill>
                  <a:srgbClr val="262626"/>
                </a:solidFill>
                <a:latin typeface="Calibri"/>
              </a:rPr>
              <a:t>Bir işlevsel bölge ipucu yazdın mı?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134 / 187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Krokimizi çizerken</a:t>
            </a:r>
          </a:p>
        </p:txBody>
      </p:sp>
      <p:sp>
        <p:nvSpPr>
          <p:cNvPr id="5" name="Rounded Rectangle 4"/>
          <p:cNvSpPr/>
          <p:nvPr/>
        </p:nvSpPr>
        <p:spPr>
          <a:xfrm>
            <a:off x="9555480" y="201168"/>
            <a:ext cx="2221992" cy="475488"/>
          </a:xfrm>
          <a:prstGeom prst="roundRect">
            <a:avLst>
              <a:gd name="adj" fmla="val 50000"/>
            </a:avLst>
          </a:prstGeom>
          <a:solidFill>
            <a:srgbClr val="6A4C93"/>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KROKİ</a:t>
            </a:r>
          </a:p>
        </p:txBody>
      </p:sp>
      <p:sp>
        <p:nvSpPr>
          <p:cNvPr id="6" name="Rounded Rectangle 5"/>
          <p:cNvSpPr/>
          <p:nvPr/>
        </p:nvSpPr>
        <p:spPr>
          <a:xfrm>
            <a:off x="502920" y="1216152"/>
            <a:ext cx="6035040" cy="221742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2217420"/>
          </a:xfrm>
          <a:prstGeom prst="rect">
            <a:avLst/>
          </a:prstGeom>
          <a:solidFill>
            <a:srgbClr val="6A4C93"/>
          </a:solidFill>
          <a:ln>
            <a:noFill/>
          </a:ln>
          <a:effectLst/>
        </p:spPr>
        <p:txBody>
          <a:bodyPr rtlCol="0" anchor="ctr"/>
          <a:lstStyle/>
          <a:p/>
        </p:txBody>
      </p:sp>
      <p:sp>
        <p:nvSpPr>
          <p:cNvPr id="8" name="TextBox 7"/>
          <p:cNvSpPr txBox="1"/>
          <p:nvPr/>
        </p:nvSpPr>
        <p:spPr>
          <a:xfrm>
            <a:off x="777240" y="1216152"/>
            <a:ext cx="5623560" cy="22174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Kroki:</a:t>
            </a:r>
            <a:r>
              <a:rPr lang="tr-TR" sz="2000" b="0" i="0">
                <a:solidFill>
                  <a:srgbClr val="262626"/>
                </a:solidFill>
                <a:latin typeface="Calibri"/>
              </a:rPr>
              <a:t> Ölçek kullanılmadan yapılan kabataslak çizimler kroki olarak adlandırılır. Ölçeği olmadığı için kroki üzerinde uzunluk ve alan hesaplaması yapılamaz.</a:t>
            </a:r>
          </a:p>
        </p:txBody>
      </p:sp>
      <p:sp>
        <p:nvSpPr>
          <p:cNvPr id="9" name="Rounded Rectangle 8"/>
          <p:cNvSpPr/>
          <p:nvPr/>
        </p:nvSpPr>
        <p:spPr>
          <a:xfrm>
            <a:off x="502920" y="3570732"/>
            <a:ext cx="6035040" cy="110871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3570732"/>
            <a:ext cx="118872" cy="1108710"/>
          </a:xfrm>
          <a:prstGeom prst="rect">
            <a:avLst/>
          </a:prstGeom>
          <a:solidFill>
            <a:srgbClr val="4F4F4F"/>
          </a:solidFill>
          <a:ln>
            <a:noFill/>
          </a:ln>
          <a:effectLst/>
        </p:spPr>
        <p:txBody>
          <a:bodyPr rtlCol="0" anchor="ctr"/>
          <a:lstStyle/>
          <a:p/>
        </p:txBody>
      </p:sp>
      <p:sp>
        <p:nvSpPr>
          <p:cNvPr id="11" name="TextBox 10"/>
          <p:cNvSpPr txBox="1"/>
          <p:nvPr/>
        </p:nvSpPr>
        <p:spPr>
          <a:xfrm>
            <a:off x="777240" y="3570732"/>
            <a:ext cx="5623560" cy="110871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Yön oku:</a:t>
            </a:r>
            <a:r>
              <a:rPr lang="tr-TR" sz="2000" b="0" i="0">
                <a:solidFill>
                  <a:srgbClr val="262626"/>
                </a:solidFill>
                <a:latin typeface="Calibri"/>
              </a:rPr>
              <a:t> Haritadaki coğrafi yönleri gösteren işarettir.</a:t>
            </a:r>
          </a:p>
        </p:txBody>
      </p:sp>
      <p:sp>
        <p:nvSpPr>
          <p:cNvPr id="12" name="Rounded Rectangle 11"/>
          <p:cNvSpPr/>
          <p:nvPr/>
        </p:nvSpPr>
        <p:spPr>
          <a:xfrm>
            <a:off x="502920" y="4816602"/>
            <a:ext cx="6035040" cy="110871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816602"/>
            <a:ext cx="118872" cy="1108710"/>
          </a:xfrm>
          <a:prstGeom prst="rect">
            <a:avLst/>
          </a:prstGeom>
          <a:solidFill>
            <a:srgbClr val="4F4F4F"/>
          </a:solidFill>
          <a:ln>
            <a:noFill/>
          </a:ln>
          <a:effectLst/>
        </p:spPr>
        <p:txBody>
          <a:bodyPr rtlCol="0" anchor="ctr"/>
          <a:lstStyle/>
          <a:p/>
        </p:txBody>
      </p:sp>
      <p:sp>
        <p:nvSpPr>
          <p:cNvPr id="14" name="TextBox 13"/>
          <p:cNvSpPr txBox="1"/>
          <p:nvPr/>
        </p:nvSpPr>
        <p:spPr>
          <a:xfrm>
            <a:off x="777240" y="4816602"/>
            <a:ext cx="5623560" cy="110871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Lejant:</a:t>
            </a:r>
            <a:r>
              <a:rPr lang="tr-TR" sz="2000" b="0" i="0">
                <a:solidFill>
                  <a:srgbClr val="262626"/>
                </a:solidFill>
                <a:latin typeface="Calibri"/>
              </a:rPr>
              <a:t> Haritada kullanılan renk ve sembollerin anlamlarını gösteren listedir.</a:t>
            </a:r>
          </a:p>
        </p:txBody>
      </p:sp>
      <p:sp>
        <p:nvSpPr>
          <p:cNvPr id="15" name="TextBox 14"/>
          <p:cNvSpPr txBox="1"/>
          <p:nvPr/>
        </p:nvSpPr>
        <p:spPr>
          <a:xfrm>
            <a:off x="502920" y="6016752"/>
            <a:ext cx="6035040" cy="274320"/>
          </a:xfrm>
          <a:prstGeom prst="rect">
            <a:avLst/>
          </a:prstGeom>
          <a:noFill/>
        </p:spPr>
        <p:txBody>
          <a:bodyPr wrap="square" anchor="t" lIns="73152" rIns="73152" tIns="36576" bIns="36576">
            <a:noAutofit/>
          </a:bodyPr>
          <a:lstStyle/>
          <a:p>
            <a:pPr algn="l">
              <a:spcBef>
                <a:spcPts val="0"/>
              </a:spcBef>
              <a:spcAft>
                <a:spcPts val="0"/>
              </a:spcAft>
            </a:pPr>
            <a:r>
              <a:rPr lang="tr-TR" sz="1100" b="0" i="0">
                <a:solidFill>
                  <a:srgbClr val="767676"/>
                </a:solidFill>
                <a:latin typeface="Calibri"/>
              </a:rPr>
              <a:t>Kaynak: Ders kitabı 2. ünite, s. 35-36</a:t>
            </a:r>
          </a:p>
        </p:txBody>
      </p:sp>
      <p:sp>
        <p:nvSpPr>
          <p:cNvPr id="16" name="Rounded Rectangle 15"/>
          <p:cNvSpPr/>
          <p:nvPr/>
        </p:nvSpPr>
        <p:spPr>
          <a:xfrm>
            <a:off x="6812280" y="1216152"/>
            <a:ext cx="4876495" cy="769620"/>
          </a:xfrm>
          <a:prstGeom prst="roundRect">
            <a:avLst>
              <a:gd name="adj" fmla="val 20000"/>
            </a:avLst>
          </a:prstGeom>
          <a:solidFill>
            <a:srgbClr val="F0F0F0"/>
          </a:solidFill>
          <a:ln>
            <a:noFill/>
          </a:ln>
          <a:effectLst/>
        </p:spPr>
        <p:txBody>
          <a:bodyPr rtlCol="0" anchor="ctr"/>
          <a:lstStyle/>
          <a:p/>
        </p:txBody>
      </p:sp>
      <p:sp>
        <p:nvSpPr>
          <p:cNvPr id="17" name="Oval 16"/>
          <p:cNvSpPr/>
          <p:nvPr/>
        </p:nvSpPr>
        <p:spPr>
          <a:xfrm>
            <a:off x="6903720" y="1349502"/>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1</a:t>
            </a:r>
          </a:p>
        </p:txBody>
      </p:sp>
      <p:sp>
        <p:nvSpPr>
          <p:cNvPr id="18" name="TextBox 17"/>
          <p:cNvSpPr txBox="1"/>
          <p:nvPr/>
        </p:nvSpPr>
        <p:spPr>
          <a:xfrm>
            <a:off x="7543800" y="1216152"/>
            <a:ext cx="4053535" cy="7696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Okul ortada</a:t>
            </a:r>
          </a:p>
        </p:txBody>
      </p:sp>
      <p:sp>
        <p:nvSpPr>
          <p:cNvPr id="19" name="Rounded Rectangle 18"/>
          <p:cNvSpPr/>
          <p:nvPr/>
        </p:nvSpPr>
        <p:spPr>
          <a:xfrm>
            <a:off x="6812280" y="2077212"/>
            <a:ext cx="4876495" cy="769620"/>
          </a:xfrm>
          <a:prstGeom prst="roundRect">
            <a:avLst>
              <a:gd name="adj" fmla="val 20000"/>
            </a:avLst>
          </a:prstGeom>
          <a:solidFill>
            <a:srgbClr val="F0F0F0"/>
          </a:solidFill>
          <a:ln>
            <a:noFill/>
          </a:ln>
          <a:effectLst/>
        </p:spPr>
        <p:txBody>
          <a:bodyPr rtlCol="0" anchor="ctr"/>
          <a:lstStyle/>
          <a:p/>
        </p:txBody>
      </p:sp>
      <p:sp>
        <p:nvSpPr>
          <p:cNvPr id="20" name="Oval 19"/>
          <p:cNvSpPr/>
          <p:nvPr/>
        </p:nvSpPr>
        <p:spPr>
          <a:xfrm>
            <a:off x="6903720" y="2210562"/>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2</a:t>
            </a:r>
          </a:p>
        </p:txBody>
      </p:sp>
      <p:sp>
        <p:nvSpPr>
          <p:cNvPr id="21" name="TextBox 20"/>
          <p:cNvSpPr txBox="1"/>
          <p:nvPr/>
        </p:nvSpPr>
        <p:spPr>
          <a:xfrm>
            <a:off x="7543800" y="2077212"/>
            <a:ext cx="4053535" cy="7696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Kuzey oku</a:t>
            </a:r>
          </a:p>
        </p:txBody>
      </p:sp>
      <p:sp>
        <p:nvSpPr>
          <p:cNvPr id="22" name="Rounded Rectangle 21"/>
          <p:cNvSpPr/>
          <p:nvPr/>
        </p:nvSpPr>
        <p:spPr>
          <a:xfrm>
            <a:off x="6812280" y="2938272"/>
            <a:ext cx="4876495" cy="769620"/>
          </a:xfrm>
          <a:prstGeom prst="roundRect">
            <a:avLst>
              <a:gd name="adj" fmla="val 20000"/>
            </a:avLst>
          </a:prstGeom>
          <a:solidFill>
            <a:srgbClr val="F0F0F0"/>
          </a:solidFill>
          <a:ln>
            <a:noFill/>
          </a:ln>
          <a:effectLst/>
        </p:spPr>
        <p:txBody>
          <a:bodyPr rtlCol="0" anchor="ctr"/>
          <a:lstStyle/>
          <a:p/>
        </p:txBody>
      </p:sp>
      <p:sp>
        <p:nvSpPr>
          <p:cNvPr id="23" name="Oval 22"/>
          <p:cNvSpPr/>
          <p:nvPr/>
        </p:nvSpPr>
        <p:spPr>
          <a:xfrm>
            <a:off x="6903720" y="3071622"/>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3</a:t>
            </a:r>
          </a:p>
        </p:txBody>
      </p:sp>
      <p:sp>
        <p:nvSpPr>
          <p:cNvPr id="24" name="TextBox 23"/>
          <p:cNvSpPr txBox="1"/>
          <p:nvPr/>
        </p:nvSpPr>
        <p:spPr>
          <a:xfrm>
            <a:off x="7543800" y="2938272"/>
            <a:ext cx="4053535" cy="7696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Lejant kutusu</a:t>
            </a:r>
          </a:p>
        </p:txBody>
      </p:sp>
      <p:sp>
        <p:nvSpPr>
          <p:cNvPr id="25" name="Rounded Rectangle 24"/>
          <p:cNvSpPr/>
          <p:nvPr/>
        </p:nvSpPr>
        <p:spPr>
          <a:xfrm>
            <a:off x="6812280" y="3799332"/>
            <a:ext cx="4876495" cy="769620"/>
          </a:xfrm>
          <a:prstGeom prst="roundRect">
            <a:avLst>
              <a:gd name="adj" fmla="val 20000"/>
            </a:avLst>
          </a:prstGeom>
          <a:solidFill>
            <a:srgbClr val="F0F0F0"/>
          </a:solidFill>
          <a:ln>
            <a:noFill/>
          </a:ln>
          <a:effectLst/>
        </p:spPr>
        <p:txBody>
          <a:bodyPr rtlCol="0" anchor="ctr"/>
          <a:lstStyle/>
          <a:p/>
        </p:txBody>
      </p:sp>
      <p:sp>
        <p:nvSpPr>
          <p:cNvPr id="26" name="Oval 25"/>
          <p:cNvSpPr/>
          <p:nvPr/>
        </p:nvSpPr>
        <p:spPr>
          <a:xfrm>
            <a:off x="6903720" y="3932682"/>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4</a:t>
            </a:r>
          </a:p>
        </p:txBody>
      </p:sp>
      <p:sp>
        <p:nvSpPr>
          <p:cNvPr id="27" name="TextBox 26"/>
          <p:cNvSpPr txBox="1"/>
          <p:nvPr/>
        </p:nvSpPr>
        <p:spPr>
          <a:xfrm>
            <a:off x="7543800" y="3799332"/>
            <a:ext cx="4053535" cy="7696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Dört durak, numaralı</a:t>
            </a:r>
          </a:p>
        </p:txBody>
      </p:sp>
      <p:sp>
        <p:nvSpPr>
          <p:cNvPr id="28" name="Rounded Rectangle 27"/>
          <p:cNvSpPr/>
          <p:nvPr/>
        </p:nvSpPr>
        <p:spPr>
          <a:xfrm>
            <a:off x="6812280" y="4660392"/>
            <a:ext cx="4876495" cy="769620"/>
          </a:xfrm>
          <a:prstGeom prst="roundRect">
            <a:avLst>
              <a:gd name="adj" fmla="val 20000"/>
            </a:avLst>
          </a:prstGeom>
          <a:solidFill>
            <a:srgbClr val="F0F0F0"/>
          </a:solidFill>
          <a:ln>
            <a:noFill/>
          </a:ln>
          <a:effectLst/>
        </p:spPr>
        <p:txBody>
          <a:bodyPr rtlCol="0" anchor="ctr"/>
          <a:lstStyle/>
          <a:p/>
        </p:txBody>
      </p:sp>
      <p:sp>
        <p:nvSpPr>
          <p:cNvPr id="29" name="Oval 28"/>
          <p:cNvSpPr/>
          <p:nvPr/>
        </p:nvSpPr>
        <p:spPr>
          <a:xfrm>
            <a:off x="6903720" y="4793742"/>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5</a:t>
            </a:r>
          </a:p>
        </p:txBody>
      </p:sp>
      <p:sp>
        <p:nvSpPr>
          <p:cNvPr id="30" name="TextBox 29"/>
          <p:cNvSpPr txBox="1"/>
          <p:nvPr/>
        </p:nvSpPr>
        <p:spPr>
          <a:xfrm>
            <a:off x="7543800" y="4660392"/>
            <a:ext cx="4053535" cy="7696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Yol · yapı · yeşil alan sembolleri</a:t>
            </a:r>
          </a:p>
        </p:txBody>
      </p:sp>
      <p:sp>
        <p:nvSpPr>
          <p:cNvPr id="31" name="Rounded Rectangle 30"/>
          <p:cNvSpPr/>
          <p:nvPr/>
        </p:nvSpPr>
        <p:spPr>
          <a:xfrm>
            <a:off x="6812280" y="5521452"/>
            <a:ext cx="4876495" cy="769620"/>
          </a:xfrm>
          <a:prstGeom prst="roundRect">
            <a:avLst>
              <a:gd name="adj" fmla="val 20000"/>
            </a:avLst>
          </a:prstGeom>
          <a:solidFill>
            <a:srgbClr val="F0F0F0"/>
          </a:solidFill>
          <a:ln>
            <a:noFill/>
          </a:ln>
          <a:effectLst/>
        </p:spPr>
        <p:txBody>
          <a:bodyPr rtlCol="0" anchor="ctr"/>
          <a:lstStyle/>
          <a:p/>
        </p:txBody>
      </p:sp>
      <p:sp>
        <p:nvSpPr>
          <p:cNvPr id="32" name="Oval 31"/>
          <p:cNvSpPr/>
          <p:nvPr/>
        </p:nvSpPr>
        <p:spPr>
          <a:xfrm>
            <a:off x="6903720" y="5654802"/>
            <a:ext cx="502920" cy="5029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6</a:t>
            </a:r>
          </a:p>
        </p:txBody>
      </p:sp>
      <p:sp>
        <p:nvSpPr>
          <p:cNvPr id="33" name="TextBox 32"/>
          <p:cNvSpPr txBox="1"/>
          <p:nvPr/>
        </p:nvSpPr>
        <p:spPr>
          <a:xfrm>
            <a:off x="7543800" y="5521452"/>
            <a:ext cx="4053535" cy="7696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Başlık: ne, nerede</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135 / 187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A3: kroki ve gözlem raporu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14 dk</a:t>
            </a:r>
          </a:p>
        </p:txBody>
      </p:sp>
      <p:sp>
        <p:nvSpPr>
          <p:cNvPr id="6" name="Rectangle 5"/>
          <p:cNvSpPr/>
          <p:nvPr/>
        </p:nvSpPr>
        <p:spPr>
          <a:xfrm>
            <a:off x="502920" y="1216152"/>
            <a:ext cx="11185855" cy="4434840"/>
          </a:xfrm>
          <a:prstGeom prst="rect">
            <a:avLst/>
          </a:prstGeom>
          <a:solidFill>
            <a:srgbClr val="FFFFFF"/>
          </a:solidFill>
          <a:ln w="19050">
            <a:solidFill>
              <a:srgbClr val="4F4F4F"/>
            </a:solidFill>
          </a:ln>
          <a:effectLst/>
        </p:spPr>
        <p:txBody>
          <a:bodyPr rtlCol="0" anchor="ctr"/>
          <a:lstStyle/>
          <a:p/>
        </p:txBody>
      </p:sp>
      <p:cxnSp>
        <p:nvCxnSpPr>
          <p:cNvPr id="7" name="Connector 6"/>
          <p:cNvCxnSpPr/>
          <p:nvPr/>
        </p:nvCxnSpPr>
        <p:spPr>
          <a:xfrm>
            <a:off x="6095847" y="1307592"/>
            <a:ext cx="0" cy="4251960"/>
          </a:xfrm>
          <a:prstGeom prst="line">
            <a:avLst/>
          </a:prstGeom>
          <a:ln w="19050">
            <a:solidFill>
              <a:srgbClr val="D9D9D9"/>
            </a:solidFill>
            <a:prstDash val="dash"/>
          </a:ln>
        </p:spPr>
      </p:cxnSp>
      <p:sp>
        <p:nvSpPr>
          <p:cNvPr id="8" name="TextBox 7"/>
          <p:cNvSpPr txBox="1"/>
          <p:nvPr/>
        </p:nvSpPr>
        <p:spPr>
          <a:xfrm>
            <a:off x="640080" y="1289304"/>
            <a:ext cx="5227167" cy="41148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6A4C93"/>
                </a:solidFill>
                <a:latin typeface="Calibri"/>
              </a:rPr>
              <a:t>SOL YARI · KROKİ</a:t>
            </a:r>
          </a:p>
        </p:txBody>
      </p:sp>
      <p:sp>
        <p:nvSpPr>
          <p:cNvPr id="9" name="Rectangle 8"/>
          <p:cNvSpPr/>
          <p:nvPr/>
        </p:nvSpPr>
        <p:spPr>
          <a:xfrm>
            <a:off x="685800" y="1764792"/>
            <a:ext cx="5135727" cy="3703320"/>
          </a:xfrm>
          <a:prstGeom prst="rect">
            <a:avLst/>
          </a:prstGeom>
          <a:solidFill>
            <a:srgbClr val="F0F0F0"/>
          </a:solidFill>
          <a:ln>
            <a:noFill/>
          </a:ln>
          <a:effectLst/>
        </p:spPr>
        <p:txBody>
          <a:bodyPr rtlCol="0" anchor="ctr"/>
          <a:lstStyle/>
          <a:p/>
        </p:txBody>
      </p:sp>
      <p:cxnSp>
        <p:nvCxnSpPr>
          <p:cNvPr id="10" name="Connector 9"/>
          <p:cNvCxnSpPr/>
          <p:nvPr/>
        </p:nvCxnSpPr>
        <p:spPr>
          <a:xfrm flipV="1">
            <a:off x="5410047" y="1993392"/>
            <a:ext cx="0" cy="640080"/>
          </a:xfrm>
          <a:prstGeom prst="line">
            <a:avLst/>
          </a:prstGeom>
          <a:ln w="38100">
            <a:solidFill>
              <a:srgbClr val="4F4F4F"/>
            </a:solidFill>
            <a:tailEnd type="triangle" w="med" len="med"/>
          </a:ln>
        </p:spPr>
      </p:cxnSp>
      <p:sp>
        <p:nvSpPr>
          <p:cNvPr id="11" name="TextBox 10"/>
          <p:cNvSpPr txBox="1"/>
          <p:nvPr/>
        </p:nvSpPr>
        <p:spPr>
          <a:xfrm>
            <a:off x="5181447" y="2633472"/>
            <a:ext cx="457200" cy="365760"/>
          </a:xfrm>
          <a:prstGeom prst="rect">
            <a:avLst/>
          </a:prstGeom>
          <a:noFill/>
        </p:spPr>
        <p:txBody>
          <a:bodyPr wrap="square" anchor="t" lIns="73152" rIns="73152" tIns="36576" bIns="36576">
            <a:noAutofit/>
          </a:bodyPr>
          <a:lstStyle/>
          <a:p>
            <a:pPr algn="ctr">
              <a:spcBef>
                <a:spcPts val="0"/>
              </a:spcBef>
              <a:spcAft>
                <a:spcPts val="0"/>
              </a:spcAft>
            </a:pPr>
            <a:r>
              <a:rPr lang="tr-TR" sz="1800" b="1" i="0">
                <a:solidFill>
                  <a:srgbClr val="262626"/>
                </a:solidFill>
                <a:latin typeface="Calibri"/>
              </a:rPr>
              <a:t>K</a:t>
            </a:r>
          </a:p>
        </p:txBody>
      </p:sp>
      <p:sp>
        <p:nvSpPr>
          <p:cNvPr id="12" name="Rectangle 11"/>
          <p:cNvSpPr/>
          <p:nvPr/>
        </p:nvSpPr>
        <p:spPr>
          <a:xfrm>
            <a:off x="822960" y="4325112"/>
            <a:ext cx="2377440" cy="1005840"/>
          </a:xfrm>
          <a:prstGeom prst="rect">
            <a:avLst/>
          </a:prstGeom>
          <a:solidFill>
            <a:srgbClr val="FFFFFF"/>
          </a:solidFill>
          <a:ln w="12700">
            <a:solidFill>
              <a:srgbClr val="4F4F4F"/>
            </a:solidFill>
          </a:ln>
          <a:effectLst/>
        </p:spPr>
        <p:txBody>
          <a:bodyPr rtlCol="0" anchor="ctr" wrap="square" lIns="73152" rIns="73152" tIns="73152" bIns="73152">
            <a:noAutofit/>
          </a:bodyPr>
          <a:lstStyle/>
          <a:p>
            <a:pPr algn="l">
              <a:spcBef>
                <a:spcPts val="0"/>
              </a:spcBef>
              <a:spcAft>
                <a:spcPts val="600"/>
              </a:spcAft>
            </a:pPr>
            <a:r>
              <a:rPr lang="tr-TR" sz="1600" b="1" i="0">
                <a:solidFill>
                  <a:srgbClr val="262626"/>
                </a:solidFill>
                <a:latin typeface="Calibri"/>
              </a:rPr>
              <a:t>Lejant</a:t>
            </a:r>
          </a:p>
          <a:p>
            <a:pPr algn="l">
              <a:spcBef>
                <a:spcPts val="0"/>
              </a:spcBef>
              <a:spcAft>
                <a:spcPts val="0"/>
              </a:spcAft>
            </a:pPr>
            <a:r>
              <a:rPr lang="tr-TR" sz="1500" b="0" i="0">
                <a:solidFill>
                  <a:srgbClr val="262626"/>
                </a:solidFill>
                <a:latin typeface="Calibri"/>
              </a:rPr>
              <a:t>▭ yapı  ═ yol  ● ağaç</a:t>
            </a:r>
          </a:p>
        </p:txBody>
      </p:sp>
      <p:sp>
        <p:nvSpPr>
          <p:cNvPr id="13" name="Rectangle 12"/>
          <p:cNvSpPr/>
          <p:nvPr/>
        </p:nvSpPr>
        <p:spPr>
          <a:xfrm>
            <a:off x="2613583" y="3159252"/>
            <a:ext cx="1280160" cy="640080"/>
          </a:xfrm>
          <a:prstGeom prst="rect">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FFFFFF"/>
                </a:solidFill>
                <a:latin typeface="Calibri"/>
              </a:rPr>
              <a:t>OKUL</a:t>
            </a:r>
          </a:p>
        </p:txBody>
      </p:sp>
      <p:sp>
        <p:nvSpPr>
          <p:cNvPr id="14" name="TextBox 13"/>
          <p:cNvSpPr txBox="1"/>
          <p:nvPr/>
        </p:nvSpPr>
        <p:spPr>
          <a:xfrm>
            <a:off x="6278727" y="1289304"/>
            <a:ext cx="5227167" cy="41148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6A4C93"/>
                </a:solidFill>
                <a:latin typeface="Calibri"/>
              </a:rPr>
              <a:t>SAĞ YARI · RAPOR</a:t>
            </a:r>
          </a:p>
        </p:txBody>
      </p:sp>
      <p:sp>
        <p:nvSpPr>
          <p:cNvPr id="15" name="TextBox 14"/>
          <p:cNvSpPr txBox="1"/>
          <p:nvPr/>
        </p:nvSpPr>
        <p:spPr>
          <a:xfrm>
            <a:off x="6278727" y="1764792"/>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3E7D3A"/>
                </a:solidFill>
                <a:latin typeface="Calibri"/>
              </a:rPr>
              <a:t>1. Arazi eğimi</a:t>
            </a:r>
          </a:p>
        </p:txBody>
      </p:sp>
      <p:cxnSp>
        <p:nvCxnSpPr>
          <p:cNvPr id="16" name="Connector 15"/>
          <p:cNvCxnSpPr/>
          <p:nvPr/>
        </p:nvCxnSpPr>
        <p:spPr>
          <a:xfrm>
            <a:off x="6278727" y="2306900"/>
            <a:ext cx="5272888" cy="0"/>
          </a:xfrm>
          <a:prstGeom prst="line">
            <a:avLst/>
          </a:prstGeom>
          <a:ln w="9525">
            <a:solidFill>
              <a:srgbClr val="D9D9D9"/>
            </a:solidFill>
            <a:prstDash val="dash"/>
          </a:ln>
        </p:spPr>
      </p:cxnSp>
      <p:sp>
        <p:nvSpPr>
          <p:cNvPr id="17" name="TextBox 16"/>
          <p:cNvSpPr txBox="1"/>
          <p:nvPr/>
        </p:nvSpPr>
        <p:spPr>
          <a:xfrm>
            <a:off x="6278727" y="2306900"/>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B05A1E"/>
                </a:solidFill>
                <a:latin typeface="Calibri"/>
              </a:rPr>
              <a:t>2. Yapılaşma ve yerleşme dokusu</a:t>
            </a:r>
          </a:p>
        </p:txBody>
      </p:sp>
      <p:cxnSp>
        <p:nvCxnSpPr>
          <p:cNvPr id="18" name="Connector 17"/>
          <p:cNvCxnSpPr/>
          <p:nvPr/>
        </p:nvCxnSpPr>
        <p:spPr>
          <a:xfrm>
            <a:off x="6278727" y="2849009"/>
            <a:ext cx="5272888" cy="0"/>
          </a:xfrm>
          <a:prstGeom prst="line">
            <a:avLst/>
          </a:prstGeom>
          <a:ln w="9525">
            <a:solidFill>
              <a:srgbClr val="D9D9D9"/>
            </a:solidFill>
            <a:prstDash val="dash"/>
          </a:ln>
        </p:spPr>
      </p:cxnSp>
      <p:sp>
        <p:nvSpPr>
          <p:cNvPr id="19" name="TextBox 18"/>
          <p:cNvSpPr txBox="1"/>
          <p:nvPr/>
        </p:nvSpPr>
        <p:spPr>
          <a:xfrm>
            <a:off x="6278727" y="2849009"/>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3E7D3A"/>
                </a:solidFill>
                <a:latin typeface="Calibri"/>
              </a:rPr>
              <a:t>3. Yeşil alan ve arazi kullanımı</a:t>
            </a:r>
          </a:p>
        </p:txBody>
      </p:sp>
      <p:cxnSp>
        <p:nvCxnSpPr>
          <p:cNvPr id="20" name="Connector 19"/>
          <p:cNvCxnSpPr/>
          <p:nvPr/>
        </p:nvCxnSpPr>
        <p:spPr>
          <a:xfrm>
            <a:off x="6278727" y="3391117"/>
            <a:ext cx="5272888" cy="0"/>
          </a:xfrm>
          <a:prstGeom prst="line">
            <a:avLst/>
          </a:prstGeom>
          <a:ln w="9525">
            <a:solidFill>
              <a:srgbClr val="D9D9D9"/>
            </a:solidFill>
            <a:prstDash val="dash"/>
          </a:ln>
        </p:spPr>
      </p:cxnSp>
      <p:sp>
        <p:nvSpPr>
          <p:cNvPr id="21" name="TextBox 20"/>
          <p:cNvSpPr txBox="1"/>
          <p:nvPr/>
        </p:nvSpPr>
        <p:spPr>
          <a:xfrm>
            <a:off x="6278727" y="3391117"/>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B05A1E"/>
                </a:solidFill>
                <a:latin typeface="Calibri"/>
              </a:rPr>
              <a:t>4. Ulaşım</a:t>
            </a:r>
          </a:p>
        </p:txBody>
      </p:sp>
      <p:cxnSp>
        <p:nvCxnSpPr>
          <p:cNvPr id="22" name="Connector 21"/>
          <p:cNvCxnSpPr/>
          <p:nvPr/>
        </p:nvCxnSpPr>
        <p:spPr>
          <a:xfrm>
            <a:off x="6278727" y="3933226"/>
            <a:ext cx="5272888" cy="0"/>
          </a:xfrm>
          <a:prstGeom prst="line">
            <a:avLst/>
          </a:prstGeom>
          <a:ln w="9525">
            <a:solidFill>
              <a:srgbClr val="D9D9D9"/>
            </a:solidFill>
            <a:prstDash val="dash"/>
          </a:ln>
        </p:spPr>
      </p:cxnSp>
      <p:sp>
        <p:nvSpPr>
          <p:cNvPr id="23" name="TextBox 22"/>
          <p:cNvSpPr txBox="1"/>
          <p:nvPr/>
        </p:nvSpPr>
        <p:spPr>
          <a:xfrm>
            <a:off x="6278727" y="3933226"/>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3E7D3A"/>
                </a:solidFill>
                <a:latin typeface="Calibri"/>
              </a:rPr>
              <a:t>5. Hava durumu</a:t>
            </a:r>
          </a:p>
        </p:txBody>
      </p:sp>
      <p:cxnSp>
        <p:nvCxnSpPr>
          <p:cNvPr id="24" name="Connector 23"/>
          <p:cNvCxnSpPr/>
          <p:nvPr/>
        </p:nvCxnSpPr>
        <p:spPr>
          <a:xfrm>
            <a:off x="6278727" y="4475334"/>
            <a:ext cx="5272888" cy="0"/>
          </a:xfrm>
          <a:prstGeom prst="line">
            <a:avLst/>
          </a:prstGeom>
          <a:ln w="9525">
            <a:solidFill>
              <a:srgbClr val="D9D9D9"/>
            </a:solidFill>
            <a:prstDash val="dash"/>
          </a:ln>
        </p:spPr>
      </p:cxnSp>
      <p:sp>
        <p:nvSpPr>
          <p:cNvPr id="25" name="TextBox 24"/>
          <p:cNvSpPr txBox="1"/>
          <p:nvPr/>
        </p:nvSpPr>
        <p:spPr>
          <a:xfrm>
            <a:off x="6278727" y="4475334"/>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1F6EA8"/>
                </a:solidFill>
                <a:latin typeface="Calibri"/>
              </a:rPr>
              <a:t>6. Okulumuzun işlevsel bölgesi</a:t>
            </a:r>
          </a:p>
        </p:txBody>
      </p:sp>
      <p:cxnSp>
        <p:nvCxnSpPr>
          <p:cNvPr id="26" name="Connector 25"/>
          <p:cNvCxnSpPr/>
          <p:nvPr/>
        </p:nvCxnSpPr>
        <p:spPr>
          <a:xfrm>
            <a:off x="6278727" y="5017443"/>
            <a:ext cx="5272888" cy="0"/>
          </a:xfrm>
          <a:prstGeom prst="line">
            <a:avLst/>
          </a:prstGeom>
          <a:ln w="9525">
            <a:solidFill>
              <a:srgbClr val="D9D9D9"/>
            </a:solidFill>
            <a:prstDash val="dash"/>
          </a:ln>
        </p:spPr>
      </p:cxnSp>
      <p:sp>
        <p:nvSpPr>
          <p:cNvPr id="27" name="TextBox 26"/>
          <p:cNvSpPr txBox="1"/>
          <p:nvPr/>
        </p:nvSpPr>
        <p:spPr>
          <a:xfrm>
            <a:off x="6278727" y="5017443"/>
            <a:ext cx="5227167" cy="542108"/>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D3373A"/>
                </a:solidFill>
                <a:latin typeface="Calibri"/>
              </a:rPr>
              <a:t>7. Gözlediğimiz bir risk ve önerimiz</a:t>
            </a:r>
          </a:p>
        </p:txBody>
      </p:sp>
      <p:cxnSp>
        <p:nvCxnSpPr>
          <p:cNvPr id="28" name="Connector 27"/>
          <p:cNvCxnSpPr/>
          <p:nvPr/>
        </p:nvCxnSpPr>
        <p:spPr>
          <a:xfrm>
            <a:off x="6278727" y="5559552"/>
            <a:ext cx="5272888" cy="0"/>
          </a:xfrm>
          <a:prstGeom prst="line">
            <a:avLst/>
          </a:prstGeom>
          <a:ln w="9525">
            <a:solidFill>
              <a:srgbClr val="D9D9D9"/>
            </a:solidFill>
            <a:prstDash val="dash"/>
          </a:ln>
        </p:spPr>
      </p:cxnSp>
      <p:sp>
        <p:nvSpPr>
          <p:cNvPr id="29" name="TextBox 28"/>
          <p:cNvSpPr txBox="1"/>
          <p:nvPr/>
        </p:nvSpPr>
        <p:spPr>
          <a:xfrm>
            <a:off x="502920" y="5788152"/>
            <a:ext cx="1874519" cy="45720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6A4C93"/>
                </a:solidFill>
                <a:latin typeface="Calibri"/>
              </a:rPr>
              <a:t>Kavram köprüsü:</a:t>
            </a:r>
          </a:p>
        </p:txBody>
      </p:sp>
      <p:sp>
        <p:nvSpPr>
          <p:cNvPr id="30" name="Rounded Rectangle 29"/>
          <p:cNvSpPr/>
          <p:nvPr/>
        </p:nvSpPr>
        <p:spPr>
          <a:xfrm>
            <a:off x="2423160" y="5788152"/>
            <a:ext cx="1429969" cy="457200"/>
          </a:xfrm>
          <a:prstGeom prst="roundRect">
            <a:avLst>
              <a:gd name="adj" fmla="val 45000"/>
            </a:avLst>
          </a:prstGeom>
          <a:solidFill>
            <a:srgbClr val="FFFFFF"/>
          </a:solidFill>
          <a:ln w="22225">
            <a:solidFill>
              <a:srgbClr val="6A4C93"/>
            </a:solidFill>
          </a:ln>
          <a:effectLst/>
        </p:spPr>
        <p:txBody>
          <a:bodyPr rtlCol="0" anchor="ctr" wrap="square" lIns="54864" rIns="54864" tIns="0" bIns="0">
            <a:noAutofit/>
          </a:bodyPr>
          <a:lstStyle/>
          <a:p>
            <a:pPr algn="ctr">
              <a:spcBef>
                <a:spcPts val="0"/>
              </a:spcBef>
              <a:spcAft>
                <a:spcPts val="0"/>
              </a:spcAft>
            </a:pPr>
            <a:r>
              <a:rPr lang="tr-TR" sz="1500" b="1" i="0">
                <a:solidFill>
                  <a:srgbClr val="6A4C93"/>
                </a:solidFill>
                <a:latin typeface="Calibri"/>
              </a:rPr>
              <a:t>2 · kroki, yön</a:t>
            </a:r>
          </a:p>
        </p:txBody>
      </p:sp>
      <p:sp>
        <p:nvSpPr>
          <p:cNvPr id="31" name="Rounded Rectangle 30"/>
          <p:cNvSpPr/>
          <p:nvPr/>
        </p:nvSpPr>
        <p:spPr>
          <a:xfrm>
            <a:off x="3990289" y="5788152"/>
            <a:ext cx="1429969" cy="457200"/>
          </a:xfrm>
          <a:prstGeom prst="roundRect">
            <a:avLst>
              <a:gd name="adj" fmla="val 45000"/>
            </a:avLst>
          </a:prstGeom>
          <a:solidFill>
            <a:srgbClr val="FFFFFF"/>
          </a:solidFill>
          <a:ln w="22225">
            <a:solidFill>
              <a:srgbClr val="2C6696"/>
            </a:solidFill>
          </a:ln>
          <a:effectLst/>
        </p:spPr>
        <p:txBody>
          <a:bodyPr rtlCol="0" anchor="ctr" wrap="square" lIns="54864" rIns="54864" tIns="0" bIns="0">
            <a:noAutofit/>
          </a:bodyPr>
          <a:lstStyle/>
          <a:p>
            <a:pPr algn="ctr">
              <a:spcBef>
                <a:spcPts val="0"/>
              </a:spcBef>
              <a:spcAft>
                <a:spcPts val="0"/>
              </a:spcAft>
            </a:pPr>
            <a:r>
              <a:rPr lang="tr-TR" sz="1350" b="1" i="0">
                <a:solidFill>
                  <a:srgbClr val="2C6696"/>
                </a:solidFill>
                <a:latin typeface="Calibri"/>
              </a:rPr>
              <a:t>3 · hava durumu</a:t>
            </a:r>
          </a:p>
        </p:txBody>
      </p:sp>
      <p:sp>
        <p:nvSpPr>
          <p:cNvPr id="32" name="Rounded Rectangle 31"/>
          <p:cNvSpPr/>
          <p:nvPr/>
        </p:nvSpPr>
        <p:spPr>
          <a:xfrm>
            <a:off x="5557418" y="5788152"/>
            <a:ext cx="1429969" cy="457200"/>
          </a:xfrm>
          <a:prstGeom prst="roundRect">
            <a:avLst>
              <a:gd name="adj" fmla="val 45000"/>
            </a:avLst>
          </a:prstGeom>
          <a:solidFill>
            <a:srgbClr val="FFFFFF"/>
          </a:solidFill>
          <a:ln w="22225">
            <a:solidFill>
              <a:srgbClr val="B05A1E"/>
            </a:solidFill>
          </a:ln>
          <a:effectLst/>
        </p:spPr>
        <p:txBody>
          <a:bodyPr rtlCol="0" anchor="ctr" wrap="square" lIns="54864" rIns="54864" tIns="0" bIns="0">
            <a:noAutofit/>
          </a:bodyPr>
          <a:lstStyle/>
          <a:p>
            <a:pPr algn="ctr">
              <a:spcBef>
                <a:spcPts val="0"/>
              </a:spcBef>
              <a:spcAft>
                <a:spcPts val="0"/>
              </a:spcAft>
            </a:pPr>
            <a:r>
              <a:rPr lang="tr-TR" sz="1500" b="1" i="0">
                <a:solidFill>
                  <a:srgbClr val="B05A1E"/>
                </a:solidFill>
                <a:latin typeface="Calibri"/>
              </a:rPr>
              <a:t>4 · yerleşme</a:t>
            </a:r>
          </a:p>
        </p:txBody>
      </p:sp>
      <p:sp>
        <p:nvSpPr>
          <p:cNvPr id="33" name="Rounded Rectangle 32"/>
          <p:cNvSpPr/>
          <p:nvPr/>
        </p:nvSpPr>
        <p:spPr>
          <a:xfrm>
            <a:off x="7124547" y="5788152"/>
            <a:ext cx="1429969" cy="457200"/>
          </a:xfrm>
          <a:prstGeom prst="roundRect">
            <a:avLst>
              <a:gd name="adj" fmla="val 45000"/>
            </a:avLst>
          </a:prstGeom>
          <a:solidFill>
            <a:srgbClr val="FFFFFF"/>
          </a:solidFill>
          <a:ln w="22225">
            <a:solidFill>
              <a:srgbClr val="B05A1E"/>
            </a:solidFill>
          </a:ln>
          <a:effectLst/>
        </p:spPr>
        <p:txBody>
          <a:bodyPr rtlCol="0" anchor="ctr" wrap="square" lIns="54864" rIns="54864" tIns="0" bIns="0">
            <a:noAutofit/>
          </a:bodyPr>
          <a:lstStyle/>
          <a:p>
            <a:pPr algn="ctr">
              <a:spcBef>
                <a:spcPts val="0"/>
              </a:spcBef>
              <a:spcAft>
                <a:spcPts val="0"/>
              </a:spcAft>
            </a:pPr>
            <a:r>
              <a:rPr lang="tr-TR" sz="1500" b="1" i="0">
                <a:solidFill>
                  <a:srgbClr val="B05A1E"/>
                </a:solidFill>
                <a:latin typeface="Calibri"/>
              </a:rPr>
              <a:t>5 · ekonomi</a:t>
            </a:r>
          </a:p>
        </p:txBody>
      </p:sp>
      <p:sp>
        <p:nvSpPr>
          <p:cNvPr id="34" name="Rounded Rectangle 33"/>
          <p:cNvSpPr/>
          <p:nvPr/>
        </p:nvSpPr>
        <p:spPr>
          <a:xfrm>
            <a:off x="8691676" y="5788152"/>
            <a:ext cx="1429969" cy="457200"/>
          </a:xfrm>
          <a:prstGeom prst="roundRect">
            <a:avLst>
              <a:gd name="adj" fmla="val 45000"/>
            </a:avLst>
          </a:prstGeom>
          <a:solidFill>
            <a:srgbClr val="FFFFFF"/>
          </a:solidFill>
          <a:ln w="22225">
            <a:solidFill>
              <a:srgbClr val="D3373A"/>
            </a:solidFill>
          </a:ln>
          <a:effectLst/>
        </p:spPr>
        <p:txBody>
          <a:bodyPr rtlCol="0" anchor="ctr" wrap="square" lIns="54864" rIns="54864" tIns="0" bIns="0">
            <a:noAutofit/>
          </a:bodyPr>
          <a:lstStyle/>
          <a:p>
            <a:pPr algn="ctr">
              <a:spcBef>
                <a:spcPts val="0"/>
              </a:spcBef>
              <a:spcAft>
                <a:spcPts val="0"/>
              </a:spcAft>
            </a:pPr>
            <a:r>
              <a:rPr lang="tr-TR" sz="1500" b="1" i="0">
                <a:solidFill>
                  <a:srgbClr val="D3373A"/>
                </a:solidFill>
                <a:latin typeface="Calibri"/>
              </a:rPr>
              <a:t>6 · risk</a:t>
            </a:r>
          </a:p>
        </p:txBody>
      </p:sp>
      <p:sp>
        <p:nvSpPr>
          <p:cNvPr id="35" name="Rounded Rectangle 34"/>
          <p:cNvSpPr/>
          <p:nvPr/>
        </p:nvSpPr>
        <p:spPr>
          <a:xfrm>
            <a:off x="10258805" y="5788152"/>
            <a:ext cx="1429969" cy="457200"/>
          </a:xfrm>
          <a:prstGeom prst="roundRect">
            <a:avLst>
              <a:gd name="adj" fmla="val 45000"/>
            </a:avLst>
          </a:prstGeom>
          <a:solidFill>
            <a:srgbClr val="FFFFFF"/>
          </a:solidFill>
          <a:ln w="22225">
            <a:solidFill>
              <a:srgbClr val="1F6EA8"/>
            </a:solidFill>
          </a:ln>
          <a:effectLst/>
        </p:spPr>
        <p:txBody>
          <a:bodyPr rtlCol="0" anchor="ctr" wrap="square" lIns="54864" rIns="54864" tIns="0" bIns="0">
            <a:noAutofit/>
          </a:bodyPr>
          <a:lstStyle/>
          <a:p>
            <a:pPr algn="ctr">
              <a:spcBef>
                <a:spcPts val="0"/>
              </a:spcBef>
              <a:spcAft>
                <a:spcPts val="0"/>
              </a:spcAft>
            </a:pPr>
            <a:r>
              <a:rPr lang="tr-TR" sz="1500" b="1" i="0">
                <a:solidFill>
                  <a:srgbClr val="1F6EA8"/>
                </a:solidFill>
                <a:latin typeface="Calibri"/>
              </a:rPr>
              <a:t>7 · bölge</a:t>
            </a:r>
          </a:p>
        </p:txBody>
      </p:sp>
      <p:sp>
        <p:nvSpPr>
          <p:cNvPr id="36" name="TextBox 3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37" name="TextBox 3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136 / 187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Kroki — örnek cevap: ölçütler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ectangle 5"/>
          <p:cNvSpPr/>
          <p:nvPr/>
        </p:nvSpPr>
        <p:spPr>
          <a:xfrm>
            <a:off x="502920" y="1216152"/>
            <a:ext cx="6035040" cy="5029200"/>
          </a:xfrm>
          <a:prstGeom prst="rect">
            <a:avLst/>
          </a:prstGeom>
          <a:solidFill>
            <a:srgbClr val="FFFFFF"/>
          </a:solidFill>
          <a:ln w="19050">
            <a:solidFill>
              <a:srgbClr val="4F4F4F"/>
            </a:solidFill>
          </a:ln>
          <a:effectLst/>
        </p:spPr>
        <p:txBody>
          <a:bodyPr rtlCol="0" anchor="ctr"/>
          <a:lstStyle/>
          <a:p/>
        </p:txBody>
      </p:sp>
      <p:sp>
        <p:nvSpPr>
          <p:cNvPr id="7" name="TextBox 6"/>
          <p:cNvSpPr txBox="1"/>
          <p:nvPr/>
        </p:nvSpPr>
        <p:spPr>
          <a:xfrm>
            <a:off x="640080" y="1261872"/>
            <a:ext cx="5120640" cy="41148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262626"/>
                </a:solidFill>
                <a:latin typeface="Calibri"/>
              </a:rPr>
              <a:t>Okulumuzun çevresi (örnek kroki)</a:t>
            </a:r>
          </a:p>
        </p:txBody>
      </p:sp>
      <p:sp>
        <p:nvSpPr>
          <p:cNvPr id="8" name="Rectangle 7"/>
          <p:cNvSpPr/>
          <p:nvPr/>
        </p:nvSpPr>
        <p:spPr>
          <a:xfrm>
            <a:off x="640080" y="3547872"/>
            <a:ext cx="5760720" cy="292608"/>
          </a:xfrm>
          <a:prstGeom prst="rect">
            <a:avLst/>
          </a:prstGeom>
          <a:solidFill>
            <a:srgbClr val="D9D9D9"/>
          </a:solidFill>
          <a:ln>
            <a:noFill/>
          </a:ln>
          <a:effectLst/>
        </p:spPr>
        <p:txBody>
          <a:bodyPr rtlCol="0" anchor="ctr"/>
          <a:lstStyle/>
          <a:p/>
        </p:txBody>
      </p:sp>
      <p:sp>
        <p:nvSpPr>
          <p:cNvPr id="9" name="Rectangle 8"/>
          <p:cNvSpPr/>
          <p:nvPr/>
        </p:nvSpPr>
        <p:spPr>
          <a:xfrm>
            <a:off x="3794760" y="1764792"/>
            <a:ext cx="274320" cy="4343400"/>
          </a:xfrm>
          <a:prstGeom prst="rect">
            <a:avLst/>
          </a:prstGeom>
          <a:solidFill>
            <a:srgbClr val="D9D9D9"/>
          </a:solidFill>
          <a:ln>
            <a:noFill/>
          </a:ln>
          <a:effectLst/>
        </p:spPr>
        <p:txBody>
          <a:bodyPr rtlCol="0" anchor="ctr"/>
          <a:lstStyle/>
          <a:p/>
        </p:txBody>
      </p:sp>
      <p:sp>
        <p:nvSpPr>
          <p:cNvPr id="10" name="Rectangle 9"/>
          <p:cNvSpPr/>
          <p:nvPr/>
        </p:nvSpPr>
        <p:spPr>
          <a:xfrm>
            <a:off x="1417320" y="1993392"/>
            <a:ext cx="2103120" cy="1371600"/>
          </a:xfrm>
          <a:prstGeom prst="rect">
            <a:avLst/>
          </a:prstGeom>
          <a:solidFill>
            <a:srgbClr val="CFE6C6"/>
          </a:solidFill>
          <a:ln>
            <a:noFill/>
          </a:ln>
          <a:effectLst/>
        </p:spPr>
        <p:txBody>
          <a:bodyPr rtlCol="0" anchor="ctr"/>
          <a:lstStyle/>
          <a:p/>
        </p:txBody>
      </p:sp>
      <p:sp>
        <p:nvSpPr>
          <p:cNvPr id="11" name="Rectangle 10"/>
          <p:cNvSpPr/>
          <p:nvPr/>
        </p:nvSpPr>
        <p:spPr>
          <a:xfrm>
            <a:off x="1691640" y="2221992"/>
            <a:ext cx="1188720" cy="731520"/>
          </a:xfrm>
          <a:prstGeom prst="rect">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1600" b="1" i="0">
                <a:solidFill>
                  <a:srgbClr val="FFFFFF"/>
                </a:solidFill>
                <a:latin typeface="Calibri"/>
              </a:rPr>
              <a:t>OKUL</a:t>
            </a:r>
          </a:p>
        </p:txBody>
      </p:sp>
      <p:sp>
        <p:nvSpPr>
          <p:cNvPr id="12" name="Rectangle 11"/>
          <p:cNvSpPr/>
          <p:nvPr/>
        </p:nvSpPr>
        <p:spPr>
          <a:xfrm>
            <a:off x="4297680" y="1901952"/>
            <a:ext cx="502920" cy="502920"/>
          </a:xfrm>
          <a:prstGeom prst="rect">
            <a:avLst/>
          </a:prstGeom>
          <a:solidFill>
            <a:srgbClr val="F3DFCF"/>
          </a:solidFill>
          <a:ln w="12700">
            <a:solidFill>
              <a:srgbClr val="B05A1E"/>
            </a:solidFill>
          </a:ln>
          <a:effectLst/>
        </p:spPr>
        <p:txBody>
          <a:bodyPr rtlCol="0" anchor="ctr"/>
          <a:lstStyle/>
          <a:p/>
        </p:txBody>
      </p:sp>
      <p:sp>
        <p:nvSpPr>
          <p:cNvPr id="13" name="Rectangle 12"/>
          <p:cNvSpPr/>
          <p:nvPr/>
        </p:nvSpPr>
        <p:spPr>
          <a:xfrm>
            <a:off x="4937760" y="1901952"/>
            <a:ext cx="502920" cy="502920"/>
          </a:xfrm>
          <a:prstGeom prst="rect">
            <a:avLst/>
          </a:prstGeom>
          <a:solidFill>
            <a:srgbClr val="F3DFCF"/>
          </a:solidFill>
          <a:ln w="12700">
            <a:solidFill>
              <a:srgbClr val="B05A1E"/>
            </a:solidFill>
          </a:ln>
          <a:effectLst/>
        </p:spPr>
        <p:txBody>
          <a:bodyPr rtlCol="0" anchor="ctr"/>
          <a:lstStyle/>
          <a:p/>
        </p:txBody>
      </p:sp>
      <p:sp>
        <p:nvSpPr>
          <p:cNvPr id="14" name="Rectangle 13"/>
          <p:cNvSpPr/>
          <p:nvPr/>
        </p:nvSpPr>
        <p:spPr>
          <a:xfrm>
            <a:off x="4297680" y="2679192"/>
            <a:ext cx="502920" cy="502920"/>
          </a:xfrm>
          <a:prstGeom prst="rect">
            <a:avLst/>
          </a:prstGeom>
          <a:solidFill>
            <a:srgbClr val="F3DFCF"/>
          </a:solidFill>
          <a:ln w="12700">
            <a:solidFill>
              <a:srgbClr val="B05A1E"/>
            </a:solidFill>
          </a:ln>
          <a:effectLst/>
        </p:spPr>
        <p:txBody>
          <a:bodyPr rtlCol="0" anchor="ctr"/>
          <a:lstStyle/>
          <a:p/>
        </p:txBody>
      </p:sp>
      <p:sp>
        <p:nvSpPr>
          <p:cNvPr id="15" name="Rectangle 14"/>
          <p:cNvSpPr/>
          <p:nvPr/>
        </p:nvSpPr>
        <p:spPr>
          <a:xfrm>
            <a:off x="4937760" y="2679192"/>
            <a:ext cx="502920" cy="502920"/>
          </a:xfrm>
          <a:prstGeom prst="rect">
            <a:avLst/>
          </a:prstGeom>
          <a:solidFill>
            <a:srgbClr val="F3DFCF"/>
          </a:solidFill>
          <a:ln w="12700">
            <a:solidFill>
              <a:srgbClr val="B05A1E"/>
            </a:solidFill>
          </a:ln>
          <a:effectLst/>
        </p:spPr>
        <p:txBody>
          <a:bodyPr rtlCol="0" anchor="ctr"/>
          <a:lstStyle/>
          <a:p/>
        </p:txBody>
      </p:sp>
      <p:sp>
        <p:nvSpPr>
          <p:cNvPr id="16" name="Rectangle 15"/>
          <p:cNvSpPr/>
          <p:nvPr/>
        </p:nvSpPr>
        <p:spPr>
          <a:xfrm>
            <a:off x="868680" y="4050792"/>
            <a:ext cx="502920" cy="502920"/>
          </a:xfrm>
          <a:prstGeom prst="rect">
            <a:avLst/>
          </a:prstGeom>
          <a:solidFill>
            <a:srgbClr val="F3DFCF"/>
          </a:solidFill>
          <a:ln w="12700">
            <a:solidFill>
              <a:srgbClr val="B05A1E"/>
            </a:solidFill>
          </a:ln>
          <a:effectLst/>
        </p:spPr>
        <p:txBody>
          <a:bodyPr rtlCol="0" anchor="ctr"/>
          <a:lstStyle/>
          <a:p/>
        </p:txBody>
      </p:sp>
      <p:sp>
        <p:nvSpPr>
          <p:cNvPr id="17" name="Rectangle 16"/>
          <p:cNvSpPr/>
          <p:nvPr/>
        </p:nvSpPr>
        <p:spPr>
          <a:xfrm>
            <a:off x="1508760" y="4050792"/>
            <a:ext cx="502920" cy="502920"/>
          </a:xfrm>
          <a:prstGeom prst="rect">
            <a:avLst/>
          </a:prstGeom>
          <a:solidFill>
            <a:srgbClr val="F3DFCF"/>
          </a:solidFill>
          <a:ln w="12700">
            <a:solidFill>
              <a:srgbClr val="B05A1E"/>
            </a:solidFill>
          </a:ln>
          <a:effectLst/>
        </p:spPr>
        <p:txBody>
          <a:bodyPr rtlCol="0" anchor="ctr"/>
          <a:lstStyle/>
          <a:p/>
        </p:txBody>
      </p:sp>
      <p:sp>
        <p:nvSpPr>
          <p:cNvPr id="18" name="Rectangle 17"/>
          <p:cNvSpPr/>
          <p:nvPr/>
        </p:nvSpPr>
        <p:spPr>
          <a:xfrm>
            <a:off x="2148840" y="4050792"/>
            <a:ext cx="502920" cy="502920"/>
          </a:xfrm>
          <a:prstGeom prst="rect">
            <a:avLst/>
          </a:prstGeom>
          <a:solidFill>
            <a:srgbClr val="F3DFCF"/>
          </a:solidFill>
          <a:ln w="12700">
            <a:solidFill>
              <a:srgbClr val="B05A1E"/>
            </a:solidFill>
          </a:ln>
          <a:effectLst/>
        </p:spPr>
        <p:txBody>
          <a:bodyPr rtlCol="0" anchor="ctr"/>
          <a:lstStyle/>
          <a:p/>
        </p:txBody>
      </p:sp>
      <p:sp>
        <p:nvSpPr>
          <p:cNvPr id="19" name="Rectangle 18"/>
          <p:cNvSpPr/>
          <p:nvPr/>
        </p:nvSpPr>
        <p:spPr>
          <a:xfrm>
            <a:off x="4297680" y="4050792"/>
            <a:ext cx="502920" cy="502920"/>
          </a:xfrm>
          <a:prstGeom prst="rect">
            <a:avLst/>
          </a:prstGeom>
          <a:solidFill>
            <a:srgbClr val="F3DFCF"/>
          </a:solidFill>
          <a:ln w="12700">
            <a:solidFill>
              <a:srgbClr val="B05A1E"/>
            </a:solidFill>
          </a:ln>
          <a:effectLst/>
        </p:spPr>
        <p:txBody>
          <a:bodyPr rtlCol="0" anchor="ctr"/>
          <a:lstStyle/>
          <a:p/>
        </p:txBody>
      </p:sp>
      <p:sp>
        <p:nvSpPr>
          <p:cNvPr id="20" name="Rectangle 19"/>
          <p:cNvSpPr/>
          <p:nvPr/>
        </p:nvSpPr>
        <p:spPr>
          <a:xfrm>
            <a:off x="4937760" y="4050792"/>
            <a:ext cx="502920" cy="502920"/>
          </a:xfrm>
          <a:prstGeom prst="rect">
            <a:avLst/>
          </a:prstGeom>
          <a:solidFill>
            <a:srgbClr val="F3DFCF"/>
          </a:solidFill>
          <a:ln w="12700">
            <a:solidFill>
              <a:srgbClr val="B05A1E"/>
            </a:solidFill>
          </a:ln>
          <a:effectLst/>
        </p:spPr>
        <p:txBody>
          <a:bodyPr rtlCol="0" anchor="ctr"/>
          <a:lstStyle/>
          <a:p/>
        </p:txBody>
      </p:sp>
      <p:sp>
        <p:nvSpPr>
          <p:cNvPr id="21" name="Rounded Rectangle 20"/>
          <p:cNvSpPr/>
          <p:nvPr/>
        </p:nvSpPr>
        <p:spPr>
          <a:xfrm>
            <a:off x="2697480" y="4050792"/>
            <a:ext cx="914400" cy="822960"/>
          </a:xfrm>
          <a:prstGeom prst="roundRect">
            <a:avLst>
              <a:gd name="adj" fmla="val 30000"/>
            </a:avLst>
          </a:prstGeom>
          <a:solidFill>
            <a:srgbClr val="CFE6C6"/>
          </a:solidFill>
          <a:ln>
            <a:noFill/>
          </a:ln>
          <a:effectLst/>
        </p:spPr>
        <p:txBody>
          <a:bodyPr rtlCol="0" anchor="ctr"/>
          <a:lstStyle/>
          <a:p/>
        </p:txBody>
      </p:sp>
      <p:sp>
        <p:nvSpPr>
          <p:cNvPr id="22" name="Oval 21"/>
          <p:cNvSpPr/>
          <p:nvPr/>
        </p:nvSpPr>
        <p:spPr>
          <a:xfrm>
            <a:off x="2880360" y="4233672"/>
            <a:ext cx="164592" cy="164592"/>
          </a:xfrm>
          <a:prstGeom prst="ellipse">
            <a:avLst/>
          </a:prstGeom>
          <a:solidFill>
            <a:srgbClr val="3E7D3A"/>
          </a:solidFill>
          <a:ln>
            <a:noFill/>
          </a:ln>
          <a:effectLst/>
        </p:spPr>
        <p:txBody>
          <a:bodyPr rtlCol="0" anchor="ctr"/>
          <a:lstStyle/>
          <a:p/>
        </p:txBody>
      </p:sp>
      <p:sp>
        <p:nvSpPr>
          <p:cNvPr id="23" name="Oval 22"/>
          <p:cNvSpPr/>
          <p:nvPr/>
        </p:nvSpPr>
        <p:spPr>
          <a:xfrm>
            <a:off x="3246120" y="4462272"/>
            <a:ext cx="164592" cy="164592"/>
          </a:xfrm>
          <a:prstGeom prst="ellipse">
            <a:avLst/>
          </a:prstGeom>
          <a:solidFill>
            <a:srgbClr val="3E7D3A"/>
          </a:solidFill>
          <a:ln>
            <a:noFill/>
          </a:ln>
          <a:effectLst/>
        </p:spPr>
        <p:txBody>
          <a:bodyPr rtlCol="0" anchor="ctr"/>
          <a:lstStyle/>
          <a:p/>
        </p:txBody>
      </p:sp>
      <p:sp>
        <p:nvSpPr>
          <p:cNvPr id="24" name="Oval 23"/>
          <p:cNvSpPr/>
          <p:nvPr/>
        </p:nvSpPr>
        <p:spPr>
          <a:xfrm>
            <a:off x="2971800" y="4645152"/>
            <a:ext cx="164592" cy="164592"/>
          </a:xfrm>
          <a:prstGeom prst="ellipse">
            <a:avLst/>
          </a:prstGeom>
          <a:solidFill>
            <a:srgbClr val="3E7D3A"/>
          </a:solidFill>
          <a:ln>
            <a:noFill/>
          </a:ln>
          <a:effectLst/>
        </p:spPr>
        <p:txBody>
          <a:bodyPr rtlCol="0" anchor="ctr"/>
          <a:lstStyle/>
          <a:p/>
        </p:txBody>
      </p:sp>
      <p:sp>
        <p:nvSpPr>
          <p:cNvPr id="25" name="Oval 24"/>
          <p:cNvSpPr/>
          <p:nvPr/>
        </p:nvSpPr>
        <p:spPr>
          <a:xfrm>
            <a:off x="822960" y="1719072"/>
            <a:ext cx="3931920" cy="3017520"/>
          </a:xfrm>
          <a:prstGeom prst="ellipse">
            <a:avLst/>
          </a:prstGeom>
          <a:noFill/>
          <a:ln w="25400">
            <a:solidFill>
              <a:srgbClr val="1F6EA8"/>
            </a:solidFill>
            <a:prstDash val="dash"/>
          </a:ln>
          <a:effectLst/>
        </p:spPr>
        <p:txBody>
          <a:bodyPr rtlCol="0" anchor="ctr"/>
          <a:lstStyle/>
          <a:p/>
        </p:txBody>
      </p:sp>
      <p:cxnSp>
        <p:nvCxnSpPr>
          <p:cNvPr id="26" name="Connector 25"/>
          <p:cNvCxnSpPr/>
          <p:nvPr/>
        </p:nvCxnSpPr>
        <p:spPr>
          <a:xfrm flipV="1">
            <a:off x="2423160" y="3044952"/>
            <a:ext cx="1508760" cy="384048"/>
          </a:xfrm>
          <a:prstGeom prst="line">
            <a:avLst/>
          </a:prstGeom>
          <a:ln w="31750">
            <a:solidFill>
              <a:srgbClr val="6A4C93"/>
            </a:solidFill>
            <a:prstDash val="dash"/>
          </a:ln>
        </p:spPr>
      </p:cxnSp>
      <p:cxnSp>
        <p:nvCxnSpPr>
          <p:cNvPr id="27" name="Connector 26"/>
          <p:cNvCxnSpPr/>
          <p:nvPr/>
        </p:nvCxnSpPr>
        <p:spPr>
          <a:xfrm>
            <a:off x="3931920" y="3044952"/>
            <a:ext cx="0" cy="1828800"/>
          </a:xfrm>
          <a:prstGeom prst="line">
            <a:avLst/>
          </a:prstGeom>
          <a:ln w="31750">
            <a:solidFill>
              <a:srgbClr val="6A4C93"/>
            </a:solidFill>
            <a:prstDash val="dash"/>
          </a:ln>
        </p:spPr>
      </p:cxnSp>
      <p:cxnSp>
        <p:nvCxnSpPr>
          <p:cNvPr id="28" name="Connector 27"/>
          <p:cNvCxnSpPr/>
          <p:nvPr/>
        </p:nvCxnSpPr>
        <p:spPr>
          <a:xfrm flipV="1">
            <a:off x="3931920" y="3429000"/>
            <a:ext cx="1691640" cy="1444752"/>
          </a:xfrm>
          <a:prstGeom prst="line">
            <a:avLst/>
          </a:prstGeom>
          <a:ln w="31750">
            <a:solidFill>
              <a:srgbClr val="6A4C93"/>
            </a:solidFill>
            <a:prstDash val="dash"/>
          </a:ln>
        </p:spPr>
      </p:cxnSp>
      <p:sp>
        <p:nvSpPr>
          <p:cNvPr id="29" name="Oval 28"/>
          <p:cNvSpPr/>
          <p:nvPr/>
        </p:nvSpPr>
        <p:spPr>
          <a:xfrm>
            <a:off x="2221992" y="3227832"/>
            <a:ext cx="402336" cy="402336"/>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500" b="1" i="0">
                <a:solidFill>
                  <a:srgbClr val="262626"/>
                </a:solidFill>
                <a:latin typeface="Calibri"/>
              </a:rPr>
              <a:t>1</a:t>
            </a:r>
          </a:p>
        </p:txBody>
      </p:sp>
      <p:sp>
        <p:nvSpPr>
          <p:cNvPr id="30" name="Oval 29"/>
          <p:cNvSpPr/>
          <p:nvPr/>
        </p:nvSpPr>
        <p:spPr>
          <a:xfrm>
            <a:off x="3730752" y="2843784"/>
            <a:ext cx="402336" cy="402336"/>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500" b="1" i="0">
                <a:solidFill>
                  <a:srgbClr val="262626"/>
                </a:solidFill>
                <a:latin typeface="Calibri"/>
              </a:rPr>
              <a:t>2</a:t>
            </a:r>
          </a:p>
        </p:txBody>
      </p:sp>
      <p:sp>
        <p:nvSpPr>
          <p:cNvPr id="31" name="Oval 30"/>
          <p:cNvSpPr/>
          <p:nvPr/>
        </p:nvSpPr>
        <p:spPr>
          <a:xfrm>
            <a:off x="3730752" y="4672584"/>
            <a:ext cx="402336" cy="402336"/>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500" b="1" i="0">
                <a:solidFill>
                  <a:srgbClr val="262626"/>
                </a:solidFill>
                <a:latin typeface="Calibri"/>
              </a:rPr>
              <a:t>3</a:t>
            </a:r>
          </a:p>
        </p:txBody>
      </p:sp>
      <p:sp>
        <p:nvSpPr>
          <p:cNvPr id="32" name="Oval 31"/>
          <p:cNvSpPr/>
          <p:nvPr/>
        </p:nvSpPr>
        <p:spPr>
          <a:xfrm>
            <a:off x="5422392" y="3227832"/>
            <a:ext cx="402336" cy="402336"/>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1500" b="1" i="0">
                <a:solidFill>
                  <a:srgbClr val="262626"/>
                </a:solidFill>
                <a:latin typeface="Calibri"/>
              </a:rPr>
              <a:t>4</a:t>
            </a:r>
          </a:p>
        </p:txBody>
      </p:sp>
      <p:cxnSp>
        <p:nvCxnSpPr>
          <p:cNvPr id="33" name="Connector 32"/>
          <p:cNvCxnSpPr/>
          <p:nvPr/>
        </p:nvCxnSpPr>
        <p:spPr>
          <a:xfrm flipV="1">
            <a:off x="6126480" y="1399032"/>
            <a:ext cx="0" cy="685800"/>
          </a:xfrm>
          <a:prstGeom prst="line">
            <a:avLst/>
          </a:prstGeom>
          <a:ln w="38100">
            <a:solidFill>
              <a:srgbClr val="4F4F4F"/>
            </a:solidFill>
            <a:tailEnd type="triangle" w="med" len="med"/>
          </a:ln>
        </p:spPr>
      </p:cxnSp>
      <p:sp>
        <p:nvSpPr>
          <p:cNvPr id="34" name="TextBox 33"/>
          <p:cNvSpPr txBox="1"/>
          <p:nvPr/>
        </p:nvSpPr>
        <p:spPr>
          <a:xfrm>
            <a:off x="5897880" y="2084832"/>
            <a:ext cx="457200" cy="347472"/>
          </a:xfrm>
          <a:prstGeom prst="rect">
            <a:avLst/>
          </a:prstGeom>
          <a:noFill/>
        </p:spPr>
        <p:txBody>
          <a:bodyPr wrap="square" anchor="t" lIns="73152" rIns="73152" tIns="36576" bIns="36576">
            <a:noAutofit/>
          </a:bodyPr>
          <a:lstStyle/>
          <a:p>
            <a:pPr algn="ctr">
              <a:spcBef>
                <a:spcPts val="0"/>
              </a:spcBef>
              <a:spcAft>
                <a:spcPts val="0"/>
              </a:spcAft>
            </a:pPr>
            <a:r>
              <a:rPr lang="tr-TR" sz="1600" b="1" i="0">
                <a:solidFill>
                  <a:srgbClr val="262626"/>
                </a:solidFill>
                <a:latin typeface="Calibri"/>
              </a:rPr>
              <a:t>K</a:t>
            </a:r>
          </a:p>
        </p:txBody>
      </p:sp>
      <p:sp>
        <p:nvSpPr>
          <p:cNvPr id="35" name="Rectangle 34"/>
          <p:cNvSpPr/>
          <p:nvPr/>
        </p:nvSpPr>
        <p:spPr>
          <a:xfrm>
            <a:off x="4617720" y="4462272"/>
            <a:ext cx="1828800" cy="1691640"/>
          </a:xfrm>
          <a:prstGeom prst="rect">
            <a:avLst/>
          </a:prstGeom>
          <a:solidFill>
            <a:srgbClr val="FFFFFF"/>
          </a:solidFill>
          <a:ln w="12700">
            <a:solidFill>
              <a:srgbClr val="4F4F4F"/>
            </a:solidFill>
          </a:ln>
          <a:effectLst/>
        </p:spPr>
        <p:txBody>
          <a:bodyPr rtlCol="0" anchor="ctr"/>
          <a:lstStyle/>
          <a:p/>
        </p:txBody>
      </p:sp>
      <p:sp>
        <p:nvSpPr>
          <p:cNvPr id="36" name="TextBox 35"/>
          <p:cNvSpPr txBox="1"/>
          <p:nvPr/>
        </p:nvSpPr>
        <p:spPr>
          <a:xfrm>
            <a:off x="4663440" y="4480560"/>
            <a:ext cx="1737360" cy="310896"/>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262626"/>
                </a:solidFill>
                <a:latin typeface="Calibri"/>
              </a:rPr>
              <a:t>Lejant</a:t>
            </a:r>
          </a:p>
        </p:txBody>
      </p:sp>
      <p:sp>
        <p:nvSpPr>
          <p:cNvPr id="37" name="Rectangle 36"/>
          <p:cNvSpPr/>
          <p:nvPr/>
        </p:nvSpPr>
        <p:spPr>
          <a:xfrm>
            <a:off x="4709160" y="4873752"/>
            <a:ext cx="292608" cy="201168"/>
          </a:xfrm>
          <a:prstGeom prst="rect">
            <a:avLst/>
          </a:prstGeom>
          <a:solidFill>
            <a:srgbClr val="F3DFCF"/>
          </a:solidFill>
          <a:ln w="12700">
            <a:solidFill>
              <a:srgbClr val="B05A1E"/>
            </a:solidFill>
          </a:ln>
          <a:effectLst/>
        </p:spPr>
        <p:txBody>
          <a:bodyPr rtlCol="0" anchor="ctr"/>
          <a:lstStyle/>
          <a:p/>
        </p:txBody>
      </p:sp>
      <p:sp>
        <p:nvSpPr>
          <p:cNvPr id="38" name="TextBox 37"/>
          <p:cNvSpPr txBox="1"/>
          <p:nvPr/>
        </p:nvSpPr>
        <p:spPr>
          <a:xfrm>
            <a:off x="5074920" y="4828032"/>
            <a:ext cx="1325880" cy="292608"/>
          </a:xfrm>
          <a:prstGeom prst="rect">
            <a:avLst/>
          </a:prstGeom>
          <a:noFill/>
        </p:spPr>
        <p:txBody>
          <a:bodyPr wrap="square" anchor="ctr" lIns="73152" rIns="73152" tIns="36576" bIns="36576">
            <a:noAutofit/>
          </a:bodyPr>
          <a:lstStyle/>
          <a:p>
            <a:pPr algn="l">
              <a:spcBef>
                <a:spcPts val="0"/>
              </a:spcBef>
              <a:spcAft>
                <a:spcPts val="0"/>
              </a:spcAft>
            </a:pPr>
            <a:r>
              <a:rPr lang="tr-TR" sz="1400" b="0" i="0">
                <a:solidFill>
                  <a:srgbClr val="262626"/>
                </a:solidFill>
                <a:latin typeface="Calibri"/>
              </a:rPr>
              <a:t>yapı</a:t>
            </a:r>
          </a:p>
        </p:txBody>
      </p:sp>
      <p:sp>
        <p:nvSpPr>
          <p:cNvPr id="39" name="Rectangle 38"/>
          <p:cNvSpPr/>
          <p:nvPr/>
        </p:nvSpPr>
        <p:spPr>
          <a:xfrm>
            <a:off x="4709160" y="5193792"/>
            <a:ext cx="292608" cy="201168"/>
          </a:xfrm>
          <a:prstGeom prst="rect">
            <a:avLst/>
          </a:prstGeom>
          <a:solidFill>
            <a:srgbClr val="D9D9D9"/>
          </a:solidFill>
          <a:ln>
            <a:noFill/>
          </a:ln>
          <a:effectLst/>
        </p:spPr>
        <p:txBody>
          <a:bodyPr rtlCol="0" anchor="ctr"/>
          <a:lstStyle/>
          <a:p/>
        </p:txBody>
      </p:sp>
      <p:sp>
        <p:nvSpPr>
          <p:cNvPr id="40" name="TextBox 39"/>
          <p:cNvSpPr txBox="1"/>
          <p:nvPr/>
        </p:nvSpPr>
        <p:spPr>
          <a:xfrm>
            <a:off x="5074920" y="5148072"/>
            <a:ext cx="1325880" cy="292608"/>
          </a:xfrm>
          <a:prstGeom prst="rect">
            <a:avLst/>
          </a:prstGeom>
          <a:noFill/>
        </p:spPr>
        <p:txBody>
          <a:bodyPr wrap="square" anchor="ctr" lIns="73152" rIns="73152" tIns="36576" bIns="36576">
            <a:noAutofit/>
          </a:bodyPr>
          <a:lstStyle/>
          <a:p>
            <a:pPr algn="l">
              <a:spcBef>
                <a:spcPts val="0"/>
              </a:spcBef>
              <a:spcAft>
                <a:spcPts val="0"/>
              </a:spcAft>
            </a:pPr>
            <a:r>
              <a:rPr lang="tr-TR" sz="1400" b="0" i="0">
                <a:solidFill>
                  <a:srgbClr val="262626"/>
                </a:solidFill>
                <a:latin typeface="Calibri"/>
              </a:rPr>
              <a:t>yol</a:t>
            </a:r>
          </a:p>
        </p:txBody>
      </p:sp>
      <p:sp>
        <p:nvSpPr>
          <p:cNvPr id="41" name="Rectangle 40"/>
          <p:cNvSpPr/>
          <p:nvPr/>
        </p:nvSpPr>
        <p:spPr>
          <a:xfrm>
            <a:off x="4709160" y="5513832"/>
            <a:ext cx="292608" cy="201168"/>
          </a:xfrm>
          <a:prstGeom prst="rect">
            <a:avLst/>
          </a:prstGeom>
          <a:solidFill>
            <a:srgbClr val="CFE6C6"/>
          </a:solidFill>
          <a:ln>
            <a:noFill/>
          </a:ln>
          <a:effectLst/>
        </p:spPr>
        <p:txBody>
          <a:bodyPr rtlCol="0" anchor="ctr"/>
          <a:lstStyle/>
          <a:p/>
        </p:txBody>
      </p:sp>
      <p:sp>
        <p:nvSpPr>
          <p:cNvPr id="42" name="TextBox 41"/>
          <p:cNvSpPr txBox="1"/>
          <p:nvPr/>
        </p:nvSpPr>
        <p:spPr>
          <a:xfrm>
            <a:off x="5074920" y="5468112"/>
            <a:ext cx="1325880" cy="292608"/>
          </a:xfrm>
          <a:prstGeom prst="rect">
            <a:avLst/>
          </a:prstGeom>
          <a:noFill/>
        </p:spPr>
        <p:txBody>
          <a:bodyPr wrap="square" anchor="ctr" lIns="73152" rIns="73152" tIns="36576" bIns="36576">
            <a:noAutofit/>
          </a:bodyPr>
          <a:lstStyle/>
          <a:p>
            <a:pPr algn="l">
              <a:spcBef>
                <a:spcPts val="0"/>
              </a:spcBef>
              <a:spcAft>
                <a:spcPts val="0"/>
              </a:spcAft>
            </a:pPr>
            <a:r>
              <a:rPr lang="tr-TR" sz="1400" b="0" i="0">
                <a:solidFill>
                  <a:srgbClr val="262626"/>
                </a:solidFill>
                <a:latin typeface="Calibri"/>
              </a:rPr>
              <a:t>yeşil alan</a:t>
            </a:r>
          </a:p>
        </p:txBody>
      </p:sp>
      <p:sp>
        <p:nvSpPr>
          <p:cNvPr id="43" name="Rectangle 42"/>
          <p:cNvSpPr/>
          <p:nvPr/>
        </p:nvSpPr>
        <p:spPr>
          <a:xfrm>
            <a:off x="4709160" y="5833872"/>
            <a:ext cx="292608" cy="201168"/>
          </a:xfrm>
          <a:prstGeom prst="rect">
            <a:avLst/>
          </a:prstGeom>
          <a:solidFill>
            <a:srgbClr val="FCC021"/>
          </a:solidFill>
          <a:ln>
            <a:noFill/>
          </a:ln>
          <a:effectLst/>
        </p:spPr>
        <p:txBody>
          <a:bodyPr rtlCol="0" anchor="ctr"/>
          <a:lstStyle/>
          <a:p/>
        </p:txBody>
      </p:sp>
      <p:sp>
        <p:nvSpPr>
          <p:cNvPr id="44" name="TextBox 43"/>
          <p:cNvSpPr txBox="1"/>
          <p:nvPr/>
        </p:nvSpPr>
        <p:spPr>
          <a:xfrm>
            <a:off x="5074920" y="5788152"/>
            <a:ext cx="1325880" cy="292608"/>
          </a:xfrm>
          <a:prstGeom prst="rect">
            <a:avLst/>
          </a:prstGeom>
          <a:noFill/>
        </p:spPr>
        <p:txBody>
          <a:bodyPr wrap="square" anchor="ctr" lIns="73152" rIns="73152" tIns="36576" bIns="36576">
            <a:noAutofit/>
          </a:bodyPr>
          <a:lstStyle/>
          <a:p>
            <a:pPr algn="l">
              <a:spcBef>
                <a:spcPts val="0"/>
              </a:spcBef>
              <a:spcAft>
                <a:spcPts val="0"/>
              </a:spcAft>
            </a:pPr>
            <a:r>
              <a:rPr lang="tr-TR" sz="1400" b="0" i="0">
                <a:solidFill>
                  <a:srgbClr val="262626"/>
                </a:solidFill>
                <a:latin typeface="Calibri"/>
              </a:rPr>
              <a:t>durak no</a:t>
            </a:r>
          </a:p>
        </p:txBody>
      </p:sp>
      <p:sp>
        <p:nvSpPr>
          <p:cNvPr id="45" name="Rounded Rectangle 44"/>
          <p:cNvSpPr/>
          <p:nvPr/>
        </p:nvSpPr>
        <p:spPr>
          <a:xfrm>
            <a:off x="6812280" y="1216152"/>
            <a:ext cx="4876495" cy="662286"/>
          </a:xfrm>
          <a:prstGeom prst="roundRect">
            <a:avLst>
              <a:gd name="adj" fmla="val 20000"/>
            </a:avLst>
          </a:prstGeom>
          <a:solidFill>
            <a:srgbClr val="E3F1E4"/>
          </a:solidFill>
          <a:ln>
            <a:noFill/>
          </a:ln>
          <a:effectLst/>
        </p:spPr>
        <p:txBody>
          <a:bodyPr rtlCol="0" anchor="ctr"/>
          <a:lstStyle/>
          <a:p/>
        </p:txBody>
      </p:sp>
      <p:sp>
        <p:nvSpPr>
          <p:cNvPr id="46" name="TextBox 45"/>
          <p:cNvSpPr txBox="1"/>
          <p:nvPr/>
        </p:nvSpPr>
        <p:spPr>
          <a:xfrm>
            <a:off x="6903720" y="1216152"/>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E7D32"/>
                </a:solidFill>
                <a:latin typeface="Calibri"/>
              </a:rPr>
              <a:t>✓</a:t>
            </a:r>
          </a:p>
        </p:txBody>
      </p:sp>
      <p:sp>
        <p:nvSpPr>
          <p:cNvPr id="47" name="TextBox 46"/>
          <p:cNvSpPr txBox="1"/>
          <p:nvPr/>
        </p:nvSpPr>
        <p:spPr>
          <a:xfrm>
            <a:off x="7360920" y="1216152"/>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Başlık: ne, nerede</a:t>
            </a:r>
          </a:p>
        </p:txBody>
      </p:sp>
      <p:sp>
        <p:nvSpPr>
          <p:cNvPr id="48" name="Rounded Rectangle 47"/>
          <p:cNvSpPr/>
          <p:nvPr/>
        </p:nvSpPr>
        <p:spPr>
          <a:xfrm>
            <a:off x="6812280" y="1951590"/>
            <a:ext cx="4876495" cy="662286"/>
          </a:xfrm>
          <a:prstGeom prst="roundRect">
            <a:avLst>
              <a:gd name="adj" fmla="val 20000"/>
            </a:avLst>
          </a:prstGeom>
          <a:solidFill>
            <a:srgbClr val="E3F1E4"/>
          </a:solidFill>
          <a:ln>
            <a:noFill/>
          </a:ln>
          <a:effectLst/>
        </p:spPr>
        <p:txBody>
          <a:bodyPr rtlCol="0" anchor="ctr"/>
          <a:lstStyle/>
          <a:p/>
        </p:txBody>
      </p:sp>
      <p:sp>
        <p:nvSpPr>
          <p:cNvPr id="49" name="TextBox 48"/>
          <p:cNvSpPr txBox="1"/>
          <p:nvPr/>
        </p:nvSpPr>
        <p:spPr>
          <a:xfrm>
            <a:off x="6903720" y="1951590"/>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E7D32"/>
                </a:solidFill>
                <a:latin typeface="Calibri"/>
              </a:rPr>
              <a:t>✓</a:t>
            </a:r>
          </a:p>
        </p:txBody>
      </p:sp>
      <p:sp>
        <p:nvSpPr>
          <p:cNvPr id="50" name="TextBox 49"/>
          <p:cNvSpPr txBox="1"/>
          <p:nvPr/>
        </p:nvSpPr>
        <p:spPr>
          <a:xfrm>
            <a:off x="7360920" y="1951590"/>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Okul ortada</a:t>
            </a:r>
          </a:p>
        </p:txBody>
      </p:sp>
      <p:sp>
        <p:nvSpPr>
          <p:cNvPr id="51" name="Rounded Rectangle 50"/>
          <p:cNvSpPr/>
          <p:nvPr/>
        </p:nvSpPr>
        <p:spPr>
          <a:xfrm>
            <a:off x="6812280" y="2687029"/>
            <a:ext cx="4876495" cy="662286"/>
          </a:xfrm>
          <a:prstGeom prst="roundRect">
            <a:avLst>
              <a:gd name="adj" fmla="val 20000"/>
            </a:avLst>
          </a:prstGeom>
          <a:solidFill>
            <a:srgbClr val="E3F1E4"/>
          </a:solidFill>
          <a:ln>
            <a:noFill/>
          </a:ln>
          <a:effectLst/>
        </p:spPr>
        <p:txBody>
          <a:bodyPr rtlCol="0" anchor="ctr"/>
          <a:lstStyle/>
          <a:p/>
        </p:txBody>
      </p:sp>
      <p:sp>
        <p:nvSpPr>
          <p:cNvPr id="52" name="TextBox 51"/>
          <p:cNvSpPr txBox="1"/>
          <p:nvPr/>
        </p:nvSpPr>
        <p:spPr>
          <a:xfrm>
            <a:off x="6903720" y="2687029"/>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E7D32"/>
                </a:solidFill>
                <a:latin typeface="Calibri"/>
              </a:rPr>
              <a:t>✓</a:t>
            </a:r>
          </a:p>
        </p:txBody>
      </p:sp>
      <p:sp>
        <p:nvSpPr>
          <p:cNvPr id="53" name="TextBox 52"/>
          <p:cNvSpPr txBox="1"/>
          <p:nvPr/>
        </p:nvSpPr>
        <p:spPr>
          <a:xfrm>
            <a:off x="7360920" y="2687029"/>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Kuzey oku</a:t>
            </a:r>
          </a:p>
        </p:txBody>
      </p:sp>
      <p:sp>
        <p:nvSpPr>
          <p:cNvPr id="54" name="Rounded Rectangle 53"/>
          <p:cNvSpPr/>
          <p:nvPr/>
        </p:nvSpPr>
        <p:spPr>
          <a:xfrm>
            <a:off x="6812280" y="3422468"/>
            <a:ext cx="4876495" cy="662286"/>
          </a:xfrm>
          <a:prstGeom prst="roundRect">
            <a:avLst>
              <a:gd name="adj" fmla="val 20000"/>
            </a:avLst>
          </a:prstGeom>
          <a:solidFill>
            <a:srgbClr val="E3F1E4"/>
          </a:solidFill>
          <a:ln>
            <a:noFill/>
          </a:ln>
          <a:effectLst/>
        </p:spPr>
        <p:txBody>
          <a:bodyPr rtlCol="0" anchor="ctr"/>
          <a:lstStyle/>
          <a:p/>
        </p:txBody>
      </p:sp>
      <p:sp>
        <p:nvSpPr>
          <p:cNvPr id="55" name="TextBox 54"/>
          <p:cNvSpPr txBox="1"/>
          <p:nvPr/>
        </p:nvSpPr>
        <p:spPr>
          <a:xfrm>
            <a:off x="6903720" y="3422468"/>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E7D32"/>
                </a:solidFill>
                <a:latin typeface="Calibri"/>
              </a:rPr>
              <a:t>✓</a:t>
            </a:r>
          </a:p>
        </p:txBody>
      </p:sp>
      <p:sp>
        <p:nvSpPr>
          <p:cNvPr id="56" name="TextBox 55"/>
          <p:cNvSpPr txBox="1"/>
          <p:nvPr/>
        </p:nvSpPr>
        <p:spPr>
          <a:xfrm>
            <a:off x="7360920" y="3422468"/>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Lejant: yapı, yol, yeşil alan, durak</a:t>
            </a:r>
          </a:p>
        </p:txBody>
      </p:sp>
      <p:sp>
        <p:nvSpPr>
          <p:cNvPr id="57" name="Rounded Rectangle 56"/>
          <p:cNvSpPr/>
          <p:nvPr/>
        </p:nvSpPr>
        <p:spPr>
          <a:xfrm>
            <a:off x="6812280" y="4157907"/>
            <a:ext cx="4876495" cy="662286"/>
          </a:xfrm>
          <a:prstGeom prst="roundRect">
            <a:avLst>
              <a:gd name="adj" fmla="val 20000"/>
            </a:avLst>
          </a:prstGeom>
          <a:solidFill>
            <a:srgbClr val="E3F1E4"/>
          </a:solidFill>
          <a:ln>
            <a:noFill/>
          </a:ln>
          <a:effectLst/>
        </p:spPr>
        <p:txBody>
          <a:bodyPr rtlCol="0" anchor="ctr"/>
          <a:lstStyle/>
          <a:p/>
        </p:txBody>
      </p:sp>
      <p:sp>
        <p:nvSpPr>
          <p:cNvPr id="58" name="TextBox 57"/>
          <p:cNvSpPr txBox="1"/>
          <p:nvPr/>
        </p:nvSpPr>
        <p:spPr>
          <a:xfrm>
            <a:off x="6903720" y="4157907"/>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E7D32"/>
                </a:solidFill>
                <a:latin typeface="Calibri"/>
              </a:rPr>
              <a:t>✓</a:t>
            </a:r>
          </a:p>
        </p:txBody>
      </p:sp>
      <p:sp>
        <p:nvSpPr>
          <p:cNvPr id="59" name="TextBox 58"/>
          <p:cNvSpPr txBox="1"/>
          <p:nvPr/>
        </p:nvSpPr>
        <p:spPr>
          <a:xfrm>
            <a:off x="7360920" y="4157907"/>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Dört durak numaralı, güzergâh çizili</a:t>
            </a:r>
          </a:p>
        </p:txBody>
      </p:sp>
      <p:sp>
        <p:nvSpPr>
          <p:cNvPr id="60" name="Rounded Rectangle 59"/>
          <p:cNvSpPr/>
          <p:nvPr/>
        </p:nvSpPr>
        <p:spPr>
          <a:xfrm>
            <a:off x="6812280" y="4893346"/>
            <a:ext cx="4876495" cy="662286"/>
          </a:xfrm>
          <a:prstGeom prst="roundRect">
            <a:avLst>
              <a:gd name="adj" fmla="val 20000"/>
            </a:avLst>
          </a:prstGeom>
          <a:solidFill>
            <a:srgbClr val="E3F1E4"/>
          </a:solidFill>
          <a:ln>
            <a:noFill/>
          </a:ln>
          <a:effectLst/>
        </p:spPr>
        <p:txBody>
          <a:bodyPr rtlCol="0" anchor="ctr"/>
          <a:lstStyle/>
          <a:p/>
        </p:txBody>
      </p:sp>
      <p:sp>
        <p:nvSpPr>
          <p:cNvPr id="61" name="TextBox 60"/>
          <p:cNvSpPr txBox="1"/>
          <p:nvPr/>
        </p:nvSpPr>
        <p:spPr>
          <a:xfrm>
            <a:off x="6903720" y="4893346"/>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E7D32"/>
                </a:solidFill>
                <a:latin typeface="Calibri"/>
              </a:rPr>
              <a:t>✓</a:t>
            </a:r>
          </a:p>
        </p:txBody>
      </p:sp>
      <p:sp>
        <p:nvSpPr>
          <p:cNvPr id="62" name="TextBox 61"/>
          <p:cNvSpPr txBox="1"/>
          <p:nvPr/>
        </p:nvSpPr>
        <p:spPr>
          <a:xfrm>
            <a:off x="7360920" y="4893346"/>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Etki alanı varsayımı: kesik çizgi</a:t>
            </a:r>
          </a:p>
        </p:txBody>
      </p:sp>
      <p:sp>
        <p:nvSpPr>
          <p:cNvPr id="63" name="Rounded Rectangle 62"/>
          <p:cNvSpPr/>
          <p:nvPr/>
        </p:nvSpPr>
        <p:spPr>
          <a:xfrm>
            <a:off x="6812280" y="5628785"/>
            <a:ext cx="4876495" cy="662286"/>
          </a:xfrm>
          <a:prstGeom prst="roundRect">
            <a:avLst>
              <a:gd name="adj" fmla="val 20000"/>
            </a:avLst>
          </a:prstGeom>
          <a:solidFill>
            <a:srgbClr val="F9E1E1"/>
          </a:solidFill>
          <a:ln>
            <a:noFill/>
          </a:ln>
          <a:effectLst/>
        </p:spPr>
        <p:txBody>
          <a:bodyPr rtlCol="0" anchor="ctr"/>
          <a:lstStyle/>
          <a:p/>
        </p:txBody>
      </p:sp>
      <p:sp>
        <p:nvSpPr>
          <p:cNvPr id="64" name="TextBox 63"/>
          <p:cNvSpPr txBox="1"/>
          <p:nvPr/>
        </p:nvSpPr>
        <p:spPr>
          <a:xfrm>
            <a:off x="6903720" y="5628785"/>
            <a:ext cx="457200" cy="662286"/>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D3373A"/>
                </a:solidFill>
                <a:latin typeface="Calibri"/>
              </a:rPr>
              <a:t>✗</a:t>
            </a:r>
          </a:p>
        </p:txBody>
      </p:sp>
      <p:sp>
        <p:nvSpPr>
          <p:cNvPr id="65" name="TextBox 64"/>
          <p:cNvSpPr txBox="1"/>
          <p:nvPr/>
        </p:nvSpPr>
        <p:spPr>
          <a:xfrm>
            <a:off x="7360920" y="5628785"/>
            <a:ext cx="4236415" cy="662286"/>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Ölçek yok → uzunluk ve alan hesaplanmaz</a:t>
            </a:r>
          </a:p>
        </p:txBody>
      </p:sp>
      <p:sp>
        <p:nvSpPr>
          <p:cNvPr id="66" name="TextBox 6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67" name="TextBox 6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137 / 187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Gözlem raporu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324612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24612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313639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6. Okulumuzun işlevsel bölgesi</a:t>
            </a:r>
          </a:p>
          <a:p>
            <a:pPr algn="l">
              <a:spcBef>
                <a:spcPts val="0"/>
              </a:spcBef>
              <a:spcAft>
                <a:spcPts val="0"/>
              </a:spcAft>
            </a:pPr>
            <a:r>
              <a:rPr lang="tr-TR" sz="1900" b="0" i="0">
                <a:solidFill>
                  <a:srgbClr val="262626"/>
                </a:solidFill>
                <a:latin typeface="Calibri"/>
              </a:rPr>
              <a:t>Okulumuz bir çekirdektir. Öğrenciler ve öğretmenler her gün çevredeki mahallelerden okula gelir; giriş ve çıkış saatlerinde durağa doğru yaya akışı artar. Okuldan uzaklaştıkça bu bağ zayıflar; bölgenin kesin bir sınırı yoktur.</a:t>
            </a:r>
          </a:p>
        </p:txBody>
      </p:sp>
      <p:sp>
        <p:nvSpPr>
          <p:cNvPr id="9" name="Rounded Rectangle 8"/>
          <p:cNvSpPr/>
          <p:nvPr/>
        </p:nvSpPr>
        <p:spPr>
          <a:xfrm>
            <a:off x="6210147" y="1216152"/>
            <a:ext cx="5478627" cy="324612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6210147" y="1216152"/>
            <a:ext cx="109728" cy="3246120"/>
          </a:xfrm>
          <a:prstGeom prst="rect">
            <a:avLst/>
          </a:prstGeom>
          <a:solidFill>
            <a:srgbClr val="2E7D32"/>
          </a:solidFill>
          <a:ln>
            <a:noFill/>
          </a:ln>
          <a:effectLst/>
        </p:spPr>
        <p:txBody>
          <a:bodyPr rtlCol="0" anchor="ctr"/>
          <a:lstStyle/>
          <a:p/>
        </p:txBody>
      </p:sp>
      <p:sp>
        <p:nvSpPr>
          <p:cNvPr id="11" name="TextBox 10"/>
          <p:cNvSpPr txBox="1"/>
          <p:nvPr/>
        </p:nvSpPr>
        <p:spPr>
          <a:xfrm>
            <a:off x="6438747" y="1271016"/>
            <a:ext cx="5158587" cy="313639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7. Gözlediğimiz bir risk ve önerimiz</a:t>
            </a:r>
          </a:p>
          <a:p>
            <a:pPr algn="l">
              <a:spcBef>
                <a:spcPts val="0"/>
              </a:spcBef>
              <a:spcAft>
                <a:spcPts val="500"/>
              </a:spcAft>
            </a:pPr>
            <a:r>
              <a:rPr lang="tr-TR" sz="1900" b="0" i="0">
                <a:solidFill>
                  <a:srgbClr val="262626"/>
                </a:solidFill>
                <a:latin typeface="Calibri"/>
              </a:rPr>
              <a:t>Risk: Durak 1'de yağmur suyu girişin önünde toplanıyor; yağışta kayma tehlikesi olabilir.</a:t>
            </a:r>
          </a:p>
          <a:p>
            <a:pPr algn="l">
              <a:spcBef>
                <a:spcPts val="0"/>
              </a:spcBef>
              <a:spcAft>
                <a:spcPts val="0"/>
              </a:spcAft>
            </a:pPr>
            <a:r>
              <a:rPr lang="tr-TR" sz="1900" b="0" i="0">
                <a:solidFill>
                  <a:srgbClr val="262626"/>
                </a:solidFill>
                <a:latin typeface="Calibri"/>
              </a:rPr>
              <a:t>Önerimiz: Izgaranın düzenli temizlenmesini okul yönetimine iletmek.</a:t>
            </a:r>
          </a:p>
        </p:txBody>
      </p:sp>
      <p:sp>
        <p:nvSpPr>
          <p:cNvPr id="12" name="Rounded Rectangle 11"/>
          <p:cNvSpPr/>
          <p:nvPr/>
        </p:nvSpPr>
        <p:spPr>
          <a:xfrm>
            <a:off x="502920" y="4645152"/>
            <a:ext cx="11185855" cy="1645920"/>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645152"/>
            <a:ext cx="118872" cy="1645920"/>
          </a:xfrm>
          <a:prstGeom prst="rect">
            <a:avLst/>
          </a:prstGeom>
          <a:solidFill>
            <a:srgbClr val="1F6EA8"/>
          </a:solidFill>
          <a:ln>
            <a:noFill/>
          </a:ln>
          <a:effectLst/>
        </p:spPr>
        <p:txBody>
          <a:bodyPr rtlCol="0" anchor="ctr"/>
          <a:lstStyle/>
          <a:p/>
        </p:txBody>
      </p:sp>
      <p:sp>
        <p:nvSpPr>
          <p:cNvPr id="14" name="TextBox 13"/>
          <p:cNvSpPr txBox="1"/>
          <p:nvPr/>
        </p:nvSpPr>
        <p:spPr>
          <a:xfrm>
            <a:off x="777240" y="4645152"/>
            <a:ext cx="10774375" cy="16459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Çevremiz değişirse:</a:t>
            </a:r>
            <a:r>
              <a:rPr lang="tr-TR" sz="2000" b="0" i="0">
                <a:solidFill>
                  <a:srgbClr val="262626"/>
                </a:solidFill>
                <a:latin typeface="Calibri"/>
              </a:rPr>
              <a:t> Bir bölge sınırını oluşturmada kullanılan kriterin özelliğinde yaşanacak değişim, o bölgenin sınırının da değişmesine neden olur. (s. 223)</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219, 223</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138 / 187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Paylaşım: krokiler panoda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PAYLAŞIM · 8 dk</a:t>
            </a:r>
          </a:p>
        </p:txBody>
      </p:sp>
      <p:sp>
        <p:nvSpPr>
          <p:cNvPr id="6" name="Rounded Rectangle 5"/>
          <p:cNvSpPr/>
          <p:nvPr/>
        </p:nvSpPr>
        <p:spPr>
          <a:xfrm>
            <a:off x="502920" y="1261872"/>
            <a:ext cx="359450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6A4C93"/>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6A4C93"/>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4 SÖZCÜ · 1'er dk</a:t>
            </a:r>
          </a:p>
        </p:txBody>
      </p:sp>
      <p:sp>
        <p:nvSpPr>
          <p:cNvPr id="10" name="TextBox 9"/>
          <p:cNvSpPr txBox="1"/>
          <p:nvPr/>
        </p:nvSpPr>
        <p:spPr>
          <a:xfrm>
            <a:off x="612648" y="1865376"/>
            <a:ext cx="3375050" cy="2432304"/>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En dikkat çekici gözlemimiz</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Okulumuzun etki alanı</a:t>
            </a:r>
          </a:p>
        </p:txBody>
      </p:sp>
      <p:sp>
        <p:nvSpPr>
          <p:cNvPr id="11" name="Rounded Rectangle 10"/>
          <p:cNvSpPr/>
          <p:nvPr/>
        </p:nvSpPr>
        <p:spPr>
          <a:xfrm>
            <a:off x="4298594" y="1261872"/>
            <a:ext cx="359450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GALERİ · 3 dk</a:t>
            </a:r>
          </a:p>
        </p:txBody>
      </p:sp>
      <p:sp>
        <p:nvSpPr>
          <p:cNvPr id="15" name="TextBox 14"/>
          <p:cNvSpPr txBox="1"/>
          <p:nvPr/>
        </p:nvSpPr>
        <p:spPr>
          <a:xfrm>
            <a:off x="4408322" y="1865376"/>
            <a:ext cx="3375050" cy="2432304"/>
          </a:xfrm>
          <a:prstGeom prst="rect">
            <a:avLst/>
          </a:prstGeom>
          <a:noFill/>
        </p:spPr>
        <p:txBody>
          <a:bodyPr wrap="square" anchor="t" lIns="73152" rIns="73152" tIns="36576" bIns="36576">
            <a:noAutofit/>
          </a:bodyPr>
          <a:lstStyle/>
          <a:p>
            <a:pPr algn="l" marL="261051" indent="-261051">
              <a:spcBef>
                <a:spcPts val="0"/>
              </a:spcBef>
              <a:spcAft>
                <a:spcPts val="600"/>
              </a:spcAft>
            </a:pPr>
            <a:r>
              <a:rPr lang="tr-TR" sz="2100" b="1" i="0">
                <a:solidFill>
                  <a:srgbClr val="2C6696"/>
                </a:solidFill>
                <a:latin typeface="Calibri"/>
              </a:rPr>
              <a:t>•  </a:t>
            </a:r>
            <a:r>
              <a:rPr lang="tr-TR" sz="2100" b="0" i="0">
                <a:solidFill>
                  <a:srgbClr val="262626"/>
                </a:solidFill>
                <a:latin typeface="Calibri"/>
              </a:rPr>
              <a:t>Dört kroki panoda</a:t>
            </a:r>
          </a:p>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Tek yön; yapışkan nota soru ya da övgü</a:t>
            </a:r>
          </a:p>
        </p:txBody>
      </p:sp>
      <p:sp>
        <p:nvSpPr>
          <p:cNvPr id="16" name="Rounded Rectangle 15"/>
          <p:cNvSpPr/>
          <p:nvPr/>
        </p:nvSpPr>
        <p:spPr>
          <a:xfrm>
            <a:off x="8094268" y="1261872"/>
            <a:ext cx="359450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1F6EA8"/>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1F6EA8"/>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ÜÇ CÜMLE · 1 dk</a:t>
            </a:r>
          </a:p>
        </p:txBody>
      </p:sp>
      <p:sp>
        <p:nvSpPr>
          <p:cNvPr id="20" name="TextBox 19"/>
          <p:cNvSpPr txBox="1"/>
          <p:nvPr/>
        </p:nvSpPr>
        <p:spPr>
          <a:xfrm>
            <a:off x="8203996" y="1865376"/>
            <a:ext cx="3375050" cy="2432304"/>
          </a:xfrm>
          <a:prstGeom prst="rect">
            <a:avLst/>
          </a:prstGeom>
          <a:noFill/>
        </p:spPr>
        <p:txBody>
          <a:bodyPr wrap="square" anchor="t" lIns="73152" rIns="73152" tIns="36576" bIns="36576">
            <a:noAutofit/>
          </a:bodyPr>
          <a:lstStyle/>
          <a:p>
            <a:pPr algn="l" marL="261051" indent="-261051">
              <a:spcBef>
                <a:spcPts val="0"/>
              </a:spcBef>
              <a:spcAft>
                <a:spcPts val="0"/>
              </a:spcAft>
            </a:pPr>
            <a:r>
              <a:rPr lang="tr-TR" sz="2100" b="1" i="0">
                <a:solidFill>
                  <a:srgbClr val="2C6696"/>
                </a:solidFill>
                <a:latin typeface="Calibri"/>
              </a:rPr>
              <a:t>•  </a:t>
            </a:r>
            <a:r>
              <a:rPr lang="tr-TR" sz="2100" b="0" i="0">
                <a:solidFill>
                  <a:srgbClr val="262626"/>
                </a:solidFill>
                <a:latin typeface="Calibri"/>
              </a:rPr>
              <a:t>Okul çevremiz için üç coğrafi cümle tahtaya</a:t>
            </a:r>
          </a:p>
        </p:txBody>
      </p:sp>
      <p:sp>
        <p:nvSpPr>
          <p:cNvPr id="21" name="Rounded Rectangle 20"/>
          <p:cNvSpPr/>
          <p:nvPr/>
        </p:nvSpPr>
        <p:spPr>
          <a:xfrm>
            <a:off x="502920" y="4599432"/>
            <a:ext cx="11185855" cy="1691640"/>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200" b="1" i="0">
                <a:solidFill>
                  <a:srgbClr val="262626"/>
                </a:solidFill>
                <a:latin typeface="Calibri"/>
              </a:rPr>
              <a:t>Üç coğrafi cümle:</a:t>
            </a:r>
            <a:r>
              <a:rPr lang="tr-TR" sz="2200" b="0" i="0">
                <a:solidFill>
                  <a:srgbClr val="262626"/>
                </a:solidFill>
                <a:latin typeface="Calibri"/>
              </a:rPr>
              <a:t> 1) bir doğal unsur · 2) bir beşerî unsur · 3) okulun çevresiyle ilişkisi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139 / 187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Üç coğrafi cümle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1566672"/>
          </a:xfrm>
          <a:prstGeom prst="roundRect">
            <a:avLst>
              <a:gd name="adj" fmla="val 10000"/>
            </a:avLst>
          </a:prstGeom>
          <a:solidFill>
            <a:srgbClr val="E3F1E4"/>
          </a:solidFill>
          <a:ln>
            <a:noFill/>
          </a:ln>
          <a:effectLst/>
        </p:spPr>
        <p:txBody>
          <a:bodyPr rtlCol="0" anchor="ctr"/>
          <a:lstStyle/>
          <a:p/>
        </p:txBody>
      </p:sp>
      <p:sp>
        <p:nvSpPr>
          <p:cNvPr id="7" name="Oval 6"/>
          <p:cNvSpPr/>
          <p:nvPr/>
        </p:nvSpPr>
        <p:spPr>
          <a:xfrm>
            <a:off x="685800" y="1656588"/>
            <a:ext cx="685800" cy="6858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1</a:t>
            </a:r>
          </a:p>
        </p:txBody>
      </p:sp>
      <p:sp>
        <p:nvSpPr>
          <p:cNvPr id="8" name="TextBox 7"/>
          <p:cNvSpPr txBox="1"/>
          <p:nvPr/>
        </p:nvSpPr>
        <p:spPr>
          <a:xfrm>
            <a:off x="1554480" y="1216152"/>
            <a:ext cx="2194560" cy="156667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3E7D3A"/>
                </a:solidFill>
                <a:latin typeface="Calibri"/>
              </a:rPr>
              <a:t>Doğal unsur</a:t>
            </a:r>
          </a:p>
        </p:txBody>
      </p:sp>
      <p:sp>
        <p:nvSpPr>
          <p:cNvPr id="9" name="TextBox 8"/>
          <p:cNvSpPr txBox="1"/>
          <p:nvPr/>
        </p:nvSpPr>
        <p:spPr>
          <a:xfrm>
            <a:off x="3794760" y="1216152"/>
            <a:ext cx="7756855" cy="156667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Okulumuzun bahçesi girişe doğru eğimli olduğu için yağmur suyu giriş önünde toplanır.</a:t>
            </a:r>
          </a:p>
        </p:txBody>
      </p:sp>
      <p:sp>
        <p:nvSpPr>
          <p:cNvPr id="10" name="Rounded Rectangle 9"/>
          <p:cNvSpPr/>
          <p:nvPr/>
        </p:nvSpPr>
        <p:spPr>
          <a:xfrm>
            <a:off x="502920" y="2947416"/>
            <a:ext cx="11185855" cy="1566672"/>
          </a:xfrm>
          <a:prstGeom prst="roundRect">
            <a:avLst>
              <a:gd name="adj" fmla="val 10000"/>
            </a:avLst>
          </a:prstGeom>
          <a:solidFill>
            <a:srgbClr val="E3F1E4"/>
          </a:solidFill>
          <a:ln>
            <a:noFill/>
          </a:ln>
          <a:effectLst/>
        </p:spPr>
        <p:txBody>
          <a:bodyPr rtlCol="0" anchor="ctr"/>
          <a:lstStyle/>
          <a:p/>
        </p:txBody>
      </p:sp>
      <p:sp>
        <p:nvSpPr>
          <p:cNvPr id="11" name="Oval 10"/>
          <p:cNvSpPr/>
          <p:nvPr/>
        </p:nvSpPr>
        <p:spPr>
          <a:xfrm>
            <a:off x="685800" y="3387852"/>
            <a:ext cx="685800" cy="6858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2</a:t>
            </a:r>
          </a:p>
        </p:txBody>
      </p:sp>
      <p:sp>
        <p:nvSpPr>
          <p:cNvPr id="12" name="TextBox 11"/>
          <p:cNvSpPr txBox="1"/>
          <p:nvPr/>
        </p:nvSpPr>
        <p:spPr>
          <a:xfrm>
            <a:off x="1554480" y="2947416"/>
            <a:ext cx="2194560" cy="156667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B05A1E"/>
                </a:solidFill>
                <a:latin typeface="Calibri"/>
              </a:rPr>
              <a:t>Beşerî unsur</a:t>
            </a:r>
          </a:p>
        </p:txBody>
      </p:sp>
      <p:sp>
        <p:nvSpPr>
          <p:cNvPr id="13" name="TextBox 12"/>
          <p:cNvSpPr txBox="1"/>
          <p:nvPr/>
        </p:nvSpPr>
        <p:spPr>
          <a:xfrm>
            <a:off x="3794760" y="2947416"/>
            <a:ext cx="7756855" cy="156667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Okulumuzun çevresinde çok katlı ve bitişik yapılar yoğundur; zemin katlarda dükkânlar vardır.</a:t>
            </a:r>
          </a:p>
        </p:txBody>
      </p:sp>
      <p:sp>
        <p:nvSpPr>
          <p:cNvPr id="14" name="Rounded Rectangle 13"/>
          <p:cNvSpPr/>
          <p:nvPr/>
        </p:nvSpPr>
        <p:spPr>
          <a:xfrm>
            <a:off x="502920" y="4678680"/>
            <a:ext cx="11185855" cy="1566672"/>
          </a:xfrm>
          <a:prstGeom prst="roundRect">
            <a:avLst>
              <a:gd name="adj" fmla="val 10000"/>
            </a:avLst>
          </a:prstGeom>
          <a:solidFill>
            <a:srgbClr val="E3F1E4"/>
          </a:solidFill>
          <a:ln>
            <a:noFill/>
          </a:ln>
          <a:effectLst/>
        </p:spPr>
        <p:txBody>
          <a:bodyPr rtlCol="0" anchor="ctr"/>
          <a:lstStyle/>
          <a:p/>
        </p:txBody>
      </p:sp>
      <p:sp>
        <p:nvSpPr>
          <p:cNvPr id="15" name="Oval 14"/>
          <p:cNvSpPr/>
          <p:nvPr/>
        </p:nvSpPr>
        <p:spPr>
          <a:xfrm>
            <a:off x="685800" y="5119116"/>
            <a:ext cx="685800" cy="6858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600" b="1" i="0">
                <a:solidFill>
                  <a:srgbClr val="FFFFFF"/>
                </a:solidFill>
                <a:latin typeface="Calibri"/>
              </a:rPr>
              <a:t>3</a:t>
            </a:r>
          </a:p>
        </p:txBody>
      </p:sp>
      <p:sp>
        <p:nvSpPr>
          <p:cNvPr id="16" name="TextBox 15"/>
          <p:cNvSpPr txBox="1"/>
          <p:nvPr/>
        </p:nvSpPr>
        <p:spPr>
          <a:xfrm>
            <a:off x="1554480" y="4678680"/>
            <a:ext cx="2194560" cy="156667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1F6EA8"/>
                </a:solidFill>
                <a:latin typeface="Calibri"/>
              </a:rPr>
              <a:t>Okul ve çevresi</a:t>
            </a:r>
          </a:p>
        </p:txBody>
      </p:sp>
      <p:sp>
        <p:nvSpPr>
          <p:cNvPr id="17" name="TextBox 16"/>
          <p:cNvSpPr txBox="1"/>
          <p:nvPr/>
        </p:nvSpPr>
        <p:spPr>
          <a:xfrm>
            <a:off x="3794760" y="4678680"/>
            <a:ext cx="7756855" cy="1566672"/>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Okulumuz bir işlevsel bölgenin çekirdeğidir; öğrenciler her gün çevreden okula gelir.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140 / 187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Bir yıl, yedi ünite</a:t>
            </a:r>
          </a:p>
        </p:txBody>
      </p:sp>
      <p:sp>
        <p:nvSpPr>
          <p:cNvPr id="5" name="Rounded Rectangle 4"/>
          <p:cNvSpPr/>
          <p:nvPr/>
        </p:nvSpPr>
        <p:spPr>
          <a:xfrm>
            <a:off x="9555480" y="201168"/>
            <a:ext cx="2221992" cy="475488"/>
          </a:xfrm>
          <a:prstGeom prst="roundRect">
            <a:avLst>
              <a:gd name="adj" fmla="val 50000"/>
            </a:avLst>
          </a:prstGeom>
          <a:solidFill>
            <a:srgbClr val="6A4C93"/>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YIL SONU</a:t>
            </a:r>
          </a:p>
        </p:txBody>
      </p:sp>
      <p:sp>
        <p:nvSpPr>
          <p:cNvPr id="6" name="Rounded Rectangle 5"/>
          <p:cNvSpPr/>
          <p:nvPr/>
        </p:nvSpPr>
        <p:spPr>
          <a:xfrm>
            <a:off x="502920" y="1216152"/>
            <a:ext cx="2673019" cy="24231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2673019" cy="822960"/>
          </a:xfrm>
          <a:prstGeom prst="roundRect">
            <a:avLst>
              <a:gd name="adj" fmla="val 25000"/>
            </a:avLst>
          </a:prstGeom>
          <a:solidFill>
            <a:srgbClr val="4F4F4F"/>
          </a:solidFill>
          <a:ln>
            <a:noFill/>
          </a:ln>
          <a:effectLst/>
        </p:spPr>
        <p:txBody>
          <a:bodyPr rtlCol="0" anchor="ctr"/>
          <a:lstStyle/>
          <a:p/>
        </p:txBody>
      </p:sp>
      <p:sp>
        <p:nvSpPr>
          <p:cNvPr id="8" name="Rectangle 7"/>
          <p:cNvSpPr/>
          <p:nvPr/>
        </p:nvSpPr>
        <p:spPr>
          <a:xfrm>
            <a:off x="502920" y="1627632"/>
            <a:ext cx="2673019" cy="411480"/>
          </a:xfrm>
          <a:prstGeom prst="rect">
            <a:avLst/>
          </a:prstGeom>
          <a:solidFill>
            <a:srgbClr val="4F4F4F"/>
          </a:solidFill>
          <a:ln>
            <a:noFill/>
          </a:ln>
          <a:effectLst/>
        </p:spPr>
        <p:txBody>
          <a:bodyPr rtlCol="0" anchor="ctr"/>
          <a:lstStyle/>
          <a:p/>
        </p:txBody>
      </p:sp>
      <p:sp>
        <p:nvSpPr>
          <p:cNvPr id="9" name="TextBox 8"/>
          <p:cNvSpPr txBox="1"/>
          <p:nvPr/>
        </p:nvSpPr>
        <p:spPr>
          <a:xfrm>
            <a:off x="594360" y="1216152"/>
            <a:ext cx="2490139"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1. Coğrafyanın Doğası</a:t>
            </a:r>
          </a:p>
        </p:txBody>
      </p:sp>
      <p:sp>
        <p:nvSpPr>
          <p:cNvPr id="10" name="TextBox 9"/>
          <p:cNvSpPr txBox="1"/>
          <p:nvPr/>
        </p:nvSpPr>
        <p:spPr>
          <a:xfrm>
            <a:off x="612648" y="2112264"/>
            <a:ext cx="2453563" cy="1453896"/>
          </a:xfrm>
          <a:prstGeom prst="rect">
            <a:avLst/>
          </a:prstGeom>
          <a:noFill/>
        </p:spPr>
        <p:txBody>
          <a:bodyPr wrap="square" anchor="ctr" lIns="73152" rIns="73152" tIns="36576" bIns="36576">
            <a:noAutofit/>
          </a:bodyPr>
          <a:lstStyle/>
          <a:p>
            <a:pPr algn="l" marL="236189" indent="-236189">
              <a:spcBef>
                <a:spcPts val="0"/>
              </a:spcBef>
              <a:spcAft>
                <a:spcPts val="569"/>
              </a:spcAft>
            </a:pPr>
            <a:r>
              <a:rPr lang="tr-TR" sz="1900" b="1" i="0">
                <a:solidFill>
                  <a:srgbClr val="4F4F4F"/>
                </a:solidFill>
                <a:latin typeface="Calibri"/>
              </a:rPr>
              <a:t>•  </a:t>
            </a:r>
            <a:r>
              <a:rPr lang="tr-TR" sz="1900" b="0" i="0">
                <a:solidFill>
                  <a:srgbClr val="262626"/>
                </a:solidFill>
                <a:latin typeface="Calibri"/>
              </a:rPr>
              <a:t>Coğrafya Biliminin Konusu ve Bölümleri</a:t>
            </a:r>
          </a:p>
          <a:p>
            <a:pPr algn="l" marL="236189" indent="-236189">
              <a:spcBef>
                <a:spcPts val="0"/>
              </a:spcBef>
              <a:spcAft>
                <a:spcPts val="0"/>
              </a:spcAft>
            </a:pPr>
            <a:r>
              <a:rPr lang="tr-TR" sz="1900" b="1" i="0">
                <a:solidFill>
                  <a:srgbClr val="4F4F4F"/>
                </a:solidFill>
                <a:latin typeface="Calibri"/>
              </a:rPr>
              <a:t>•  </a:t>
            </a:r>
            <a:r>
              <a:rPr lang="tr-TR" sz="1900" b="0" i="0">
                <a:solidFill>
                  <a:srgbClr val="262626"/>
                </a:solidFill>
                <a:latin typeface="Calibri"/>
              </a:rPr>
              <a:t>Coğrafya Biliminin Gelişimi</a:t>
            </a:r>
          </a:p>
        </p:txBody>
      </p:sp>
      <p:sp>
        <p:nvSpPr>
          <p:cNvPr id="11" name="Rounded Rectangle 10"/>
          <p:cNvSpPr/>
          <p:nvPr/>
        </p:nvSpPr>
        <p:spPr>
          <a:xfrm>
            <a:off x="3340531" y="1216152"/>
            <a:ext cx="2673019" cy="24231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3340531" y="1216152"/>
            <a:ext cx="2673019" cy="822960"/>
          </a:xfrm>
          <a:prstGeom prst="roundRect">
            <a:avLst>
              <a:gd name="adj" fmla="val 25000"/>
            </a:avLst>
          </a:prstGeom>
          <a:solidFill>
            <a:srgbClr val="6A4C93"/>
          </a:solidFill>
          <a:ln>
            <a:noFill/>
          </a:ln>
          <a:effectLst/>
        </p:spPr>
        <p:txBody>
          <a:bodyPr rtlCol="0" anchor="ctr"/>
          <a:lstStyle/>
          <a:p/>
        </p:txBody>
      </p:sp>
      <p:sp>
        <p:nvSpPr>
          <p:cNvPr id="13" name="Rectangle 12"/>
          <p:cNvSpPr/>
          <p:nvPr/>
        </p:nvSpPr>
        <p:spPr>
          <a:xfrm>
            <a:off x="3340531" y="1627632"/>
            <a:ext cx="2673019" cy="411480"/>
          </a:xfrm>
          <a:prstGeom prst="rect">
            <a:avLst/>
          </a:prstGeom>
          <a:solidFill>
            <a:srgbClr val="6A4C93"/>
          </a:solidFill>
          <a:ln>
            <a:noFill/>
          </a:ln>
          <a:effectLst/>
        </p:spPr>
        <p:txBody>
          <a:bodyPr rtlCol="0" anchor="ctr"/>
          <a:lstStyle/>
          <a:p/>
        </p:txBody>
      </p:sp>
      <p:sp>
        <p:nvSpPr>
          <p:cNvPr id="14" name="TextBox 13"/>
          <p:cNvSpPr txBox="1"/>
          <p:nvPr/>
        </p:nvSpPr>
        <p:spPr>
          <a:xfrm>
            <a:off x="3431971" y="1216152"/>
            <a:ext cx="2490139"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2. Mekânsal Bilgi Teknolojileri</a:t>
            </a:r>
          </a:p>
        </p:txBody>
      </p:sp>
      <p:sp>
        <p:nvSpPr>
          <p:cNvPr id="15" name="TextBox 14"/>
          <p:cNvSpPr txBox="1"/>
          <p:nvPr/>
        </p:nvSpPr>
        <p:spPr>
          <a:xfrm>
            <a:off x="3450259" y="2112264"/>
            <a:ext cx="2453563" cy="1453896"/>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6A4C93"/>
                </a:solidFill>
                <a:latin typeface="Calibri"/>
              </a:rPr>
              <a:t>•  </a:t>
            </a:r>
            <a:r>
              <a:rPr lang="tr-TR" sz="2000" b="0" i="0">
                <a:solidFill>
                  <a:srgbClr val="262626"/>
                </a:solidFill>
                <a:latin typeface="Calibri"/>
              </a:rPr>
              <a:t>Mekânın Sembolik Dili: Harita</a:t>
            </a:r>
          </a:p>
          <a:p>
            <a:pPr algn="l" marL="248620" indent="-248620">
              <a:spcBef>
                <a:spcPts val="0"/>
              </a:spcBef>
              <a:spcAft>
                <a:spcPts val="0"/>
              </a:spcAft>
            </a:pPr>
            <a:r>
              <a:rPr lang="tr-TR" sz="2000" b="1" i="0">
                <a:solidFill>
                  <a:srgbClr val="6A4C93"/>
                </a:solidFill>
                <a:latin typeface="Calibri"/>
              </a:rPr>
              <a:t>•  </a:t>
            </a:r>
            <a:r>
              <a:rPr lang="tr-TR" sz="2000" b="0" i="0">
                <a:solidFill>
                  <a:srgbClr val="262626"/>
                </a:solidFill>
                <a:latin typeface="Calibri"/>
              </a:rPr>
              <a:t>Türkiye'nin Coğrafi Konumu</a:t>
            </a:r>
          </a:p>
        </p:txBody>
      </p:sp>
      <p:sp>
        <p:nvSpPr>
          <p:cNvPr id="16" name="Rounded Rectangle 15"/>
          <p:cNvSpPr/>
          <p:nvPr/>
        </p:nvSpPr>
        <p:spPr>
          <a:xfrm>
            <a:off x="6178143" y="1216152"/>
            <a:ext cx="2673019" cy="24231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178143" y="1216152"/>
            <a:ext cx="2673019" cy="822960"/>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6178143" y="1627632"/>
            <a:ext cx="2673019" cy="411480"/>
          </a:xfrm>
          <a:prstGeom prst="rect">
            <a:avLst/>
          </a:prstGeom>
          <a:solidFill>
            <a:srgbClr val="2C6696"/>
          </a:solidFill>
          <a:ln>
            <a:noFill/>
          </a:ln>
          <a:effectLst/>
        </p:spPr>
        <p:txBody>
          <a:bodyPr rtlCol="0" anchor="ctr"/>
          <a:lstStyle/>
          <a:p/>
        </p:txBody>
      </p:sp>
      <p:sp>
        <p:nvSpPr>
          <p:cNvPr id="19" name="TextBox 18"/>
          <p:cNvSpPr txBox="1"/>
          <p:nvPr/>
        </p:nvSpPr>
        <p:spPr>
          <a:xfrm>
            <a:off x="6269583" y="1216152"/>
            <a:ext cx="2490139"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3. Doğal Sistemler ve Süreçler</a:t>
            </a:r>
          </a:p>
        </p:txBody>
      </p:sp>
      <p:sp>
        <p:nvSpPr>
          <p:cNvPr id="20" name="TextBox 19"/>
          <p:cNvSpPr txBox="1"/>
          <p:nvPr/>
        </p:nvSpPr>
        <p:spPr>
          <a:xfrm>
            <a:off x="6287871" y="2112264"/>
            <a:ext cx="2453563" cy="1453896"/>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Hava Olayları</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İklim Türleri</a:t>
            </a:r>
          </a:p>
        </p:txBody>
      </p:sp>
      <p:sp>
        <p:nvSpPr>
          <p:cNvPr id="21" name="Rounded Rectangle 20"/>
          <p:cNvSpPr/>
          <p:nvPr/>
        </p:nvSpPr>
        <p:spPr>
          <a:xfrm>
            <a:off x="9015755" y="1216152"/>
            <a:ext cx="2673019" cy="24231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9015755" y="1216152"/>
            <a:ext cx="2673019" cy="822960"/>
          </a:xfrm>
          <a:prstGeom prst="roundRect">
            <a:avLst>
              <a:gd name="adj" fmla="val 25000"/>
            </a:avLst>
          </a:prstGeom>
          <a:solidFill>
            <a:srgbClr val="B05A1E"/>
          </a:solidFill>
          <a:ln>
            <a:noFill/>
          </a:ln>
          <a:effectLst/>
        </p:spPr>
        <p:txBody>
          <a:bodyPr rtlCol="0" anchor="ctr"/>
          <a:lstStyle/>
          <a:p/>
        </p:txBody>
      </p:sp>
      <p:sp>
        <p:nvSpPr>
          <p:cNvPr id="23" name="Rectangle 22"/>
          <p:cNvSpPr/>
          <p:nvPr/>
        </p:nvSpPr>
        <p:spPr>
          <a:xfrm>
            <a:off x="9015755" y="1627632"/>
            <a:ext cx="2673019" cy="411480"/>
          </a:xfrm>
          <a:prstGeom prst="rect">
            <a:avLst/>
          </a:prstGeom>
          <a:solidFill>
            <a:srgbClr val="B05A1E"/>
          </a:solidFill>
          <a:ln>
            <a:noFill/>
          </a:ln>
          <a:effectLst/>
        </p:spPr>
        <p:txBody>
          <a:bodyPr rtlCol="0" anchor="ctr"/>
          <a:lstStyle/>
          <a:p/>
        </p:txBody>
      </p:sp>
      <p:sp>
        <p:nvSpPr>
          <p:cNvPr id="24" name="TextBox 23"/>
          <p:cNvSpPr txBox="1"/>
          <p:nvPr/>
        </p:nvSpPr>
        <p:spPr>
          <a:xfrm>
            <a:off x="9107195" y="1216152"/>
            <a:ext cx="2490139"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4. Beşerî Sistemler ve Süreçler</a:t>
            </a:r>
          </a:p>
        </p:txBody>
      </p:sp>
      <p:sp>
        <p:nvSpPr>
          <p:cNvPr id="25" name="TextBox 24"/>
          <p:cNvSpPr txBox="1"/>
          <p:nvPr/>
        </p:nvSpPr>
        <p:spPr>
          <a:xfrm>
            <a:off x="9125483" y="2112264"/>
            <a:ext cx="2453563" cy="1453896"/>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B05A1E"/>
                </a:solidFill>
                <a:latin typeface="Calibri"/>
              </a:rPr>
              <a:t>•  </a:t>
            </a:r>
            <a:r>
              <a:rPr lang="tr-TR" sz="2000" b="0" i="0">
                <a:solidFill>
                  <a:srgbClr val="262626"/>
                </a:solidFill>
                <a:latin typeface="Calibri"/>
              </a:rPr>
              <a:t>Nüfusun Dağılışı ve Hareketleri</a:t>
            </a:r>
          </a:p>
          <a:p>
            <a:pPr algn="l" marL="248620" indent="-248620">
              <a:spcBef>
                <a:spcPts val="0"/>
              </a:spcBef>
              <a:spcAft>
                <a:spcPts val="0"/>
              </a:spcAft>
            </a:pPr>
            <a:r>
              <a:rPr lang="tr-TR" sz="2000" b="1" i="0">
                <a:solidFill>
                  <a:srgbClr val="B05A1E"/>
                </a:solidFill>
                <a:latin typeface="Calibri"/>
              </a:rPr>
              <a:t>•  </a:t>
            </a:r>
            <a:r>
              <a:rPr lang="tr-TR" sz="2000" b="0" i="0">
                <a:solidFill>
                  <a:srgbClr val="262626"/>
                </a:solidFill>
                <a:latin typeface="Calibri"/>
              </a:rPr>
              <a:t>Nüfus Politikaları</a:t>
            </a:r>
          </a:p>
        </p:txBody>
      </p:sp>
      <p:sp>
        <p:nvSpPr>
          <p:cNvPr id="26" name="Rounded Rectangle 25"/>
          <p:cNvSpPr/>
          <p:nvPr/>
        </p:nvSpPr>
        <p:spPr>
          <a:xfrm>
            <a:off x="502920" y="3822192"/>
            <a:ext cx="3618890" cy="24231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502920" y="3822192"/>
            <a:ext cx="3618890" cy="822960"/>
          </a:xfrm>
          <a:prstGeom prst="roundRect">
            <a:avLst>
              <a:gd name="adj" fmla="val 25000"/>
            </a:avLst>
          </a:prstGeom>
          <a:solidFill>
            <a:srgbClr val="B05A1E"/>
          </a:solidFill>
          <a:ln>
            <a:noFill/>
          </a:ln>
          <a:effectLst/>
        </p:spPr>
        <p:txBody>
          <a:bodyPr rtlCol="0" anchor="ctr"/>
          <a:lstStyle/>
          <a:p/>
        </p:txBody>
      </p:sp>
      <p:sp>
        <p:nvSpPr>
          <p:cNvPr id="28" name="Rectangle 27"/>
          <p:cNvSpPr/>
          <p:nvPr/>
        </p:nvSpPr>
        <p:spPr>
          <a:xfrm>
            <a:off x="502920" y="4233672"/>
            <a:ext cx="3618890" cy="411480"/>
          </a:xfrm>
          <a:prstGeom prst="rect">
            <a:avLst/>
          </a:prstGeom>
          <a:solidFill>
            <a:srgbClr val="B05A1E"/>
          </a:solidFill>
          <a:ln>
            <a:noFill/>
          </a:ln>
          <a:effectLst/>
        </p:spPr>
        <p:txBody>
          <a:bodyPr rtlCol="0" anchor="ctr"/>
          <a:lstStyle/>
          <a:p/>
        </p:txBody>
      </p:sp>
      <p:sp>
        <p:nvSpPr>
          <p:cNvPr id="29" name="TextBox 28"/>
          <p:cNvSpPr txBox="1"/>
          <p:nvPr/>
        </p:nvSpPr>
        <p:spPr>
          <a:xfrm>
            <a:off x="594360" y="3822192"/>
            <a:ext cx="3436010"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5. Ekonomik Faaliyetler ve Etkileri</a:t>
            </a:r>
          </a:p>
        </p:txBody>
      </p:sp>
      <p:sp>
        <p:nvSpPr>
          <p:cNvPr id="30" name="TextBox 29"/>
          <p:cNvSpPr txBox="1"/>
          <p:nvPr/>
        </p:nvSpPr>
        <p:spPr>
          <a:xfrm>
            <a:off x="612648" y="4718304"/>
            <a:ext cx="3399434" cy="1453896"/>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B05A1E"/>
                </a:solidFill>
                <a:latin typeface="Calibri"/>
              </a:rPr>
              <a:t>•  </a:t>
            </a:r>
            <a:r>
              <a:rPr lang="tr-TR" sz="2000" b="0" i="0">
                <a:solidFill>
                  <a:srgbClr val="262626"/>
                </a:solidFill>
                <a:latin typeface="Calibri"/>
              </a:rPr>
              <a:t>Ekonomik Faaliyetleri Etkileyen Doğal Faktörler</a:t>
            </a:r>
          </a:p>
          <a:p>
            <a:pPr algn="l" marL="248620" indent="-248620">
              <a:spcBef>
                <a:spcPts val="0"/>
              </a:spcBef>
              <a:spcAft>
                <a:spcPts val="0"/>
              </a:spcAft>
            </a:pPr>
            <a:r>
              <a:rPr lang="tr-TR" sz="2000" b="1" i="0">
                <a:solidFill>
                  <a:srgbClr val="B05A1E"/>
                </a:solidFill>
                <a:latin typeface="Calibri"/>
              </a:rPr>
              <a:t>•  </a:t>
            </a:r>
            <a:r>
              <a:rPr lang="tr-TR" sz="2000" b="0" i="0">
                <a:solidFill>
                  <a:srgbClr val="262626"/>
                </a:solidFill>
                <a:latin typeface="Calibri"/>
              </a:rPr>
              <a:t>Ekonomik Faaliyetleri Etkileyen Beşerî Faktörler</a:t>
            </a:r>
          </a:p>
        </p:txBody>
      </p:sp>
      <p:sp>
        <p:nvSpPr>
          <p:cNvPr id="31" name="Rounded Rectangle 30"/>
          <p:cNvSpPr/>
          <p:nvPr/>
        </p:nvSpPr>
        <p:spPr>
          <a:xfrm>
            <a:off x="4286402" y="3822192"/>
            <a:ext cx="3618890" cy="2423160"/>
          </a:xfrm>
          <a:prstGeom prst="roundRect">
            <a:avLst>
              <a:gd name="adj" fmla="val 5000"/>
            </a:avLst>
          </a:prstGeom>
          <a:solidFill>
            <a:srgbClr val="F0F0F0"/>
          </a:solidFill>
          <a:ln>
            <a:noFill/>
          </a:ln>
          <a:effectLst/>
        </p:spPr>
        <p:txBody>
          <a:bodyPr rtlCol="0" anchor="ctr"/>
          <a:lstStyle/>
          <a:p/>
        </p:txBody>
      </p:sp>
      <p:sp>
        <p:nvSpPr>
          <p:cNvPr id="32" name="Rounded Rectangle 31"/>
          <p:cNvSpPr/>
          <p:nvPr/>
        </p:nvSpPr>
        <p:spPr>
          <a:xfrm>
            <a:off x="4286402" y="3822192"/>
            <a:ext cx="3618890" cy="822960"/>
          </a:xfrm>
          <a:prstGeom prst="roundRect">
            <a:avLst>
              <a:gd name="adj" fmla="val 25000"/>
            </a:avLst>
          </a:prstGeom>
          <a:solidFill>
            <a:srgbClr val="D3373A"/>
          </a:solidFill>
          <a:ln>
            <a:noFill/>
          </a:ln>
          <a:effectLst/>
        </p:spPr>
        <p:txBody>
          <a:bodyPr rtlCol="0" anchor="ctr"/>
          <a:lstStyle/>
          <a:p/>
        </p:txBody>
      </p:sp>
      <p:sp>
        <p:nvSpPr>
          <p:cNvPr id="33" name="Rectangle 32"/>
          <p:cNvSpPr/>
          <p:nvPr/>
        </p:nvSpPr>
        <p:spPr>
          <a:xfrm>
            <a:off x="4286402" y="4233672"/>
            <a:ext cx="3618890" cy="411480"/>
          </a:xfrm>
          <a:prstGeom prst="rect">
            <a:avLst/>
          </a:prstGeom>
          <a:solidFill>
            <a:srgbClr val="D3373A"/>
          </a:solidFill>
          <a:ln>
            <a:noFill/>
          </a:ln>
          <a:effectLst/>
        </p:spPr>
        <p:txBody>
          <a:bodyPr rtlCol="0" anchor="ctr"/>
          <a:lstStyle/>
          <a:p/>
        </p:txBody>
      </p:sp>
      <p:sp>
        <p:nvSpPr>
          <p:cNvPr id="34" name="TextBox 33"/>
          <p:cNvSpPr txBox="1"/>
          <p:nvPr/>
        </p:nvSpPr>
        <p:spPr>
          <a:xfrm>
            <a:off x="4377842" y="3822192"/>
            <a:ext cx="3436010"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6. Afetler ve Sürdürülebilir Çevre</a:t>
            </a:r>
          </a:p>
        </p:txBody>
      </p:sp>
      <p:sp>
        <p:nvSpPr>
          <p:cNvPr id="35" name="TextBox 34"/>
          <p:cNvSpPr txBox="1"/>
          <p:nvPr/>
        </p:nvSpPr>
        <p:spPr>
          <a:xfrm>
            <a:off x="4396130" y="4718304"/>
            <a:ext cx="3399434" cy="1453896"/>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D3373A"/>
                </a:solidFill>
                <a:latin typeface="Calibri"/>
              </a:rPr>
              <a:t>•  </a:t>
            </a:r>
            <a:r>
              <a:rPr lang="tr-TR" sz="2000" b="0" i="0">
                <a:solidFill>
                  <a:srgbClr val="262626"/>
                </a:solidFill>
                <a:latin typeface="Calibri"/>
              </a:rPr>
              <a:t>Tehlike, Risk ve Afet</a:t>
            </a:r>
          </a:p>
          <a:p>
            <a:pPr algn="l" marL="248620" indent="-248620">
              <a:spcBef>
                <a:spcPts val="0"/>
              </a:spcBef>
              <a:spcAft>
                <a:spcPts val="0"/>
              </a:spcAft>
            </a:pPr>
            <a:r>
              <a:rPr lang="tr-TR" sz="2000" b="1" i="0">
                <a:solidFill>
                  <a:srgbClr val="D3373A"/>
                </a:solidFill>
                <a:latin typeface="Calibri"/>
              </a:rPr>
              <a:t>•  </a:t>
            </a:r>
            <a:r>
              <a:rPr lang="tr-TR" sz="2000" b="0" i="0">
                <a:solidFill>
                  <a:srgbClr val="262626"/>
                </a:solidFill>
                <a:latin typeface="Calibri"/>
              </a:rPr>
              <a:t>Bütüncül Afet Yönetimi</a:t>
            </a:r>
          </a:p>
        </p:txBody>
      </p:sp>
      <p:sp>
        <p:nvSpPr>
          <p:cNvPr id="36" name="Rounded Rectangle 35"/>
          <p:cNvSpPr/>
          <p:nvPr/>
        </p:nvSpPr>
        <p:spPr>
          <a:xfrm>
            <a:off x="8069884" y="3822192"/>
            <a:ext cx="3618890" cy="2423160"/>
          </a:xfrm>
          <a:prstGeom prst="roundRect">
            <a:avLst>
              <a:gd name="adj" fmla="val 5000"/>
            </a:avLst>
          </a:prstGeom>
          <a:solidFill>
            <a:srgbClr val="F0F0F0"/>
          </a:solidFill>
          <a:ln>
            <a:noFill/>
          </a:ln>
          <a:effectLst/>
        </p:spPr>
        <p:txBody>
          <a:bodyPr rtlCol="0" anchor="ctr"/>
          <a:lstStyle/>
          <a:p/>
        </p:txBody>
      </p:sp>
      <p:sp>
        <p:nvSpPr>
          <p:cNvPr id="37" name="Rounded Rectangle 36"/>
          <p:cNvSpPr/>
          <p:nvPr/>
        </p:nvSpPr>
        <p:spPr>
          <a:xfrm>
            <a:off x="8069884" y="3822192"/>
            <a:ext cx="3618890" cy="822960"/>
          </a:xfrm>
          <a:prstGeom prst="roundRect">
            <a:avLst>
              <a:gd name="adj" fmla="val 25000"/>
            </a:avLst>
          </a:prstGeom>
          <a:solidFill>
            <a:srgbClr val="2A5D8F"/>
          </a:solidFill>
          <a:ln>
            <a:noFill/>
          </a:ln>
          <a:effectLst/>
        </p:spPr>
        <p:txBody>
          <a:bodyPr rtlCol="0" anchor="ctr"/>
          <a:lstStyle/>
          <a:p/>
        </p:txBody>
      </p:sp>
      <p:sp>
        <p:nvSpPr>
          <p:cNvPr id="38" name="Rectangle 37"/>
          <p:cNvSpPr/>
          <p:nvPr/>
        </p:nvSpPr>
        <p:spPr>
          <a:xfrm>
            <a:off x="8069884" y="4233672"/>
            <a:ext cx="3618890" cy="411480"/>
          </a:xfrm>
          <a:prstGeom prst="rect">
            <a:avLst/>
          </a:prstGeom>
          <a:solidFill>
            <a:srgbClr val="2A5D8F"/>
          </a:solidFill>
          <a:ln>
            <a:noFill/>
          </a:ln>
          <a:effectLst/>
        </p:spPr>
        <p:txBody>
          <a:bodyPr rtlCol="0" anchor="ctr"/>
          <a:lstStyle/>
          <a:p/>
        </p:txBody>
      </p:sp>
      <p:sp>
        <p:nvSpPr>
          <p:cNvPr id="39" name="TextBox 38"/>
          <p:cNvSpPr txBox="1"/>
          <p:nvPr/>
        </p:nvSpPr>
        <p:spPr>
          <a:xfrm>
            <a:off x="8161324" y="3822192"/>
            <a:ext cx="3436010" cy="822960"/>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7. Bölgeler, Ülkeler ve Küresel Bağlantılar</a:t>
            </a:r>
          </a:p>
        </p:txBody>
      </p:sp>
      <p:sp>
        <p:nvSpPr>
          <p:cNvPr id="40" name="TextBox 39"/>
          <p:cNvSpPr txBox="1"/>
          <p:nvPr/>
        </p:nvSpPr>
        <p:spPr>
          <a:xfrm>
            <a:off x="8179612" y="4718304"/>
            <a:ext cx="3399434" cy="1453896"/>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2A5D8F"/>
                </a:solidFill>
                <a:latin typeface="Calibri"/>
              </a:rPr>
              <a:t>•  </a:t>
            </a:r>
            <a:r>
              <a:rPr lang="tr-TR" sz="2000" b="0" i="0">
                <a:solidFill>
                  <a:srgbClr val="262626"/>
                </a:solidFill>
                <a:latin typeface="Calibri"/>
              </a:rPr>
              <a:t>Bölge Belirleme Kriterleri ve Bölge Türleri</a:t>
            </a:r>
          </a:p>
          <a:p>
            <a:pPr algn="l" marL="248620" indent="-248620">
              <a:spcBef>
                <a:spcPts val="0"/>
              </a:spcBef>
              <a:spcAft>
                <a:spcPts val="0"/>
              </a:spcAft>
            </a:pPr>
            <a:r>
              <a:rPr lang="tr-TR" sz="2000" b="1" i="0">
                <a:solidFill>
                  <a:srgbClr val="2A5D8F"/>
                </a:solidFill>
                <a:latin typeface="Calibri"/>
              </a:rPr>
              <a:t>•  </a:t>
            </a:r>
            <a:r>
              <a:rPr lang="tr-TR" sz="2000" b="0" i="0">
                <a:solidFill>
                  <a:srgbClr val="262626"/>
                </a:solidFill>
                <a:latin typeface="Calibri"/>
              </a:rPr>
              <a:t>Bölge Sınırlarında Değişim</a:t>
            </a:r>
          </a:p>
        </p:txBody>
      </p:sp>
      <p:sp>
        <p:nvSpPr>
          <p:cNvPr id="41" name="TextBox 4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42" name="TextBox 4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141 / 187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Yansıtma kartı: Bu yıl coğrafyada ne öğrendim?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YANSITMA · 5 dk</a:t>
            </a:r>
          </a:p>
        </p:txBody>
      </p:sp>
      <p:sp>
        <p:nvSpPr>
          <p:cNvPr id="6" name="Rounded Rectangle 5"/>
          <p:cNvSpPr/>
          <p:nvPr/>
        </p:nvSpPr>
        <p:spPr>
          <a:xfrm>
            <a:off x="502920" y="1216152"/>
            <a:ext cx="11185855" cy="1554480"/>
          </a:xfrm>
          <a:prstGeom prst="roundRect">
            <a:avLst>
              <a:gd name="adj" fmla="val 10000"/>
            </a:avLst>
          </a:prstGeom>
          <a:solidFill>
            <a:srgbClr val="F0F0F0"/>
          </a:solidFill>
          <a:ln>
            <a:noFill/>
          </a:ln>
          <a:effectLst/>
        </p:spPr>
        <p:txBody>
          <a:bodyPr rtlCol="0" anchor="ctr"/>
          <a:lstStyle/>
          <a:p/>
        </p:txBody>
      </p:sp>
      <p:sp>
        <p:nvSpPr>
          <p:cNvPr id="7" name="Oval 6"/>
          <p:cNvSpPr/>
          <p:nvPr/>
        </p:nvSpPr>
        <p:spPr>
          <a:xfrm>
            <a:off x="685800" y="1627632"/>
            <a:ext cx="731520" cy="7315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TextBox 7"/>
          <p:cNvSpPr txBox="1"/>
          <p:nvPr/>
        </p:nvSpPr>
        <p:spPr>
          <a:xfrm>
            <a:off x="1645920" y="1216152"/>
            <a:ext cx="9859975" cy="155448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En çok aklımda kalan kavram ya da etkinlik hangisi? Neden?</a:t>
            </a:r>
          </a:p>
        </p:txBody>
      </p:sp>
      <p:sp>
        <p:nvSpPr>
          <p:cNvPr id="9" name="Rounded Rectangle 8"/>
          <p:cNvSpPr/>
          <p:nvPr/>
        </p:nvSpPr>
        <p:spPr>
          <a:xfrm>
            <a:off x="502920" y="2953512"/>
            <a:ext cx="11185855" cy="1554480"/>
          </a:xfrm>
          <a:prstGeom prst="roundRect">
            <a:avLst>
              <a:gd name="adj" fmla="val 10000"/>
            </a:avLst>
          </a:prstGeom>
          <a:solidFill>
            <a:srgbClr val="F0F0F0"/>
          </a:solidFill>
          <a:ln>
            <a:noFill/>
          </a:ln>
          <a:effectLst/>
        </p:spPr>
        <p:txBody>
          <a:bodyPr rtlCol="0" anchor="ctr"/>
          <a:lstStyle/>
          <a:p/>
        </p:txBody>
      </p:sp>
      <p:sp>
        <p:nvSpPr>
          <p:cNvPr id="10" name="Oval 9"/>
          <p:cNvSpPr/>
          <p:nvPr/>
        </p:nvSpPr>
        <p:spPr>
          <a:xfrm>
            <a:off x="685800" y="3364992"/>
            <a:ext cx="731520" cy="7315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TextBox 10"/>
          <p:cNvSpPr txBox="1"/>
          <p:nvPr/>
        </p:nvSpPr>
        <p:spPr>
          <a:xfrm>
            <a:off x="1645920" y="2953512"/>
            <a:ext cx="9859975" cy="155448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Günlük hayatta kullandığım bir coğrafya bilgisi hangisi?</a:t>
            </a:r>
          </a:p>
        </p:txBody>
      </p:sp>
      <p:sp>
        <p:nvSpPr>
          <p:cNvPr id="12" name="Rounded Rectangle 11"/>
          <p:cNvSpPr/>
          <p:nvPr/>
        </p:nvSpPr>
        <p:spPr>
          <a:xfrm>
            <a:off x="502920" y="4690872"/>
            <a:ext cx="11185855" cy="1554480"/>
          </a:xfrm>
          <a:prstGeom prst="roundRect">
            <a:avLst>
              <a:gd name="adj" fmla="val 10000"/>
            </a:avLst>
          </a:prstGeom>
          <a:solidFill>
            <a:srgbClr val="F0F0F0"/>
          </a:solidFill>
          <a:ln>
            <a:noFill/>
          </a:ln>
          <a:effectLst/>
        </p:spPr>
        <p:txBody>
          <a:bodyPr rtlCol="0" anchor="ctr"/>
          <a:lstStyle/>
          <a:p/>
        </p:txBody>
      </p:sp>
      <p:sp>
        <p:nvSpPr>
          <p:cNvPr id="13" name="Oval 12"/>
          <p:cNvSpPr/>
          <p:nvPr/>
        </p:nvSpPr>
        <p:spPr>
          <a:xfrm>
            <a:off x="685800" y="5102352"/>
            <a:ext cx="731520" cy="7315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TextBox 13"/>
          <p:cNvSpPr txBox="1"/>
          <p:nvPr/>
        </p:nvSpPr>
        <p:spPr>
          <a:xfrm>
            <a:off x="1645920" y="4690872"/>
            <a:ext cx="9859975" cy="155448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Gelecek yıl coğrafyada geliştirmek istediğim bir beceri hangisi?</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142 / 187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Yansıtma — örnek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131064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131064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10865815" cy="120091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1 · Aklımda kalan</a:t>
            </a:r>
          </a:p>
          <a:p>
            <a:pPr algn="l">
              <a:spcBef>
                <a:spcPts val="0"/>
              </a:spcBef>
              <a:spcAft>
                <a:spcPts val="0"/>
              </a:spcAft>
            </a:pPr>
            <a:r>
              <a:rPr lang="tr-TR" sz="2100" b="0" i="0">
                <a:solidFill>
                  <a:srgbClr val="262626"/>
                </a:solidFill>
                <a:latin typeface="Calibri"/>
              </a:rPr>
              <a:t>“6. ünitedeki tehlike, risk ve afet ayrımı; aile afet planımızı hazırlarken kullandım.”</a:t>
            </a:r>
          </a:p>
        </p:txBody>
      </p:sp>
      <p:sp>
        <p:nvSpPr>
          <p:cNvPr id="9" name="Rounded Rectangle 8"/>
          <p:cNvSpPr/>
          <p:nvPr/>
        </p:nvSpPr>
        <p:spPr>
          <a:xfrm>
            <a:off x="502920" y="2663952"/>
            <a:ext cx="11185855" cy="1310640"/>
          </a:xfrm>
          <a:prstGeom prst="roundRect">
            <a:avLst>
              <a:gd name="adj" fmla="val 6000"/>
            </a:avLst>
          </a:prstGeom>
          <a:solidFill>
            <a:srgbClr val="E3F1E4"/>
          </a:solidFill>
          <a:ln>
            <a:noFill/>
          </a:ln>
          <a:effectLst/>
        </p:spPr>
        <p:txBody>
          <a:bodyPr rtlCol="0" anchor="ctr"/>
          <a:lstStyle/>
          <a:p/>
        </p:txBody>
      </p:sp>
      <p:sp>
        <p:nvSpPr>
          <p:cNvPr id="10" name="Rectangle 9"/>
          <p:cNvSpPr/>
          <p:nvPr/>
        </p:nvSpPr>
        <p:spPr>
          <a:xfrm>
            <a:off x="502920" y="2663952"/>
            <a:ext cx="109728" cy="1310640"/>
          </a:xfrm>
          <a:prstGeom prst="rect">
            <a:avLst/>
          </a:prstGeom>
          <a:solidFill>
            <a:srgbClr val="2E7D32"/>
          </a:solidFill>
          <a:ln>
            <a:noFill/>
          </a:ln>
          <a:effectLst/>
        </p:spPr>
        <p:txBody>
          <a:bodyPr rtlCol="0" anchor="ctr"/>
          <a:lstStyle/>
          <a:p/>
        </p:txBody>
      </p:sp>
      <p:sp>
        <p:nvSpPr>
          <p:cNvPr id="11" name="TextBox 10"/>
          <p:cNvSpPr txBox="1"/>
          <p:nvPr/>
        </p:nvSpPr>
        <p:spPr>
          <a:xfrm>
            <a:off x="731520" y="2718816"/>
            <a:ext cx="10865815" cy="120091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2 · Günlük hayatta</a:t>
            </a:r>
          </a:p>
          <a:p>
            <a:pPr algn="l">
              <a:spcBef>
                <a:spcPts val="0"/>
              </a:spcBef>
              <a:spcAft>
                <a:spcPts val="0"/>
              </a:spcAft>
            </a:pPr>
            <a:r>
              <a:rPr lang="tr-TR" sz="2100" b="0" i="0">
                <a:solidFill>
                  <a:srgbClr val="262626"/>
                </a:solidFill>
                <a:latin typeface="Calibri"/>
              </a:rPr>
              <a:t>“Dışarı çıkmadan önce bulutluluğa ve rüzgâra bakıp hava durumunu tahmin ediyorum.”</a:t>
            </a:r>
          </a:p>
        </p:txBody>
      </p:sp>
      <p:sp>
        <p:nvSpPr>
          <p:cNvPr id="12" name="Rounded Rectangle 11"/>
          <p:cNvSpPr/>
          <p:nvPr/>
        </p:nvSpPr>
        <p:spPr>
          <a:xfrm>
            <a:off x="502920" y="4111752"/>
            <a:ext cx="11185855" cy="1310640"/>
          </a:xfrm>
          <a:prstGeom prst="roundRect">
            <a:avLst>
              <a:gd name="adj" fmla="val 6000"/>
            </a:avLst>
          </a:prstGeom>
          <a:solidFill>
            <a:srgbClr val="E3F1E4"/>
          </a:solidFill>
          <a:ln>
            <a:noFill/>
          </a:ln>
          <a:effectLst/>
        </p:spPr>
        <p:txBody>
          <a:bodyPr rtlCol="0" anchor="ctr"/>
          <a:lstStyle/>
          <a:p/>
        </p:txBody>
      </p:sp>
      <p:sp>
        <p:nvSpPr>
          <p:cNvPr id="13" name="Rectangle 12"/>
          <p:cNvSpPr/>
          <p:nvPr/>
        </p:nvSpPr>
        <p:spPr>
          <a:xfrm>
            <a:off x="502920" y="4111752"/>
            <a:ext cx="109728" cy="1310640"/>
          </a:xfrm>
          <a:prstGeom prst="rect">
            <a:avLst/>
          </a:prstGeom>
          <a:solidFill>
            <a:srgbClr val="2E7D32"/>
          </a:solidFill>
          <a:ln>
            <a:noFill/>
          </a:ln>
          <a:effectLst/>
        </p:spPr>
        <p:txBody>
          <a:bodyPr rtlCol="0" anchor="ctr"/>
          <a:lstStyle/>
          <a:p/>
        </p:txBody>
      </p:sp>
      <p:sp>
        <p:nvSpPr>
          <p:cNvPr id="14" name="TextBox 13"/>
          <p:cNvSpPr txBox="1"/>
          <p:nvPr/>
        </p:nvSpPr>
        <p:spPr>
          <a:xfrm>
            <a:off x="731520" y="4166616"/>
            <a:ext cx="10865815" cy="1200912"/>
          </a:xfrm>
          <a:prstGeom prst="rect">
            <a:avLst/>
          </a:prstGeom>
          <a:noFill/>
        </p:spPr>
        <p:txBody>
          <a:bodyPr wrap="square" anchor="ctr" lIns="73152" rIns="73152" tIns="36576" bIns="36576">
            <a:noAutofit/>
          </a:bodyPr>
          <a:lstStyle/>
          <a:p>
            <a:pPr algn="l">
              <a:spcBef>
                <a:spcPts val="0"/>
              </a:spcBef>
              <a:spcAft>
                <a:spcPts val="400"/>
              </a:spcAft>
            </a:pPr>
            <a:r>
              <a:rPr lang="tr-TR" sz="2100" b="1" i="0">
                <a:solidFill>
                  <a:srgbClr val="2E7D32"/>
                </a:solidFill>
                <a:latin typeface="Calibri"/>
              </a:rPr>
              <a:t>3 · Gelecek yıl</a:t>
            </a:r>
          </a:p>
          <a:p>
            <a:pPr algn="l">
              <a:spcBef>
                <a:spcPts val="0"/>
              </a:spcBef>
              <a:spcAft>
                <a:spcPts val="0"/>
              </a:spcAft>
            </a:pPr>
            <a:r>
              <a:rPr lang="tr-TR" sz="2100" b="0" i="0">
                <a:solidFill>
                  <a:srgbClr val="262626"/>
                </a:solidFill>
                <a:latin typeface="Calibri"/>
              </a:rPr>
              <a:t>“Haritadan çıkarım yapmayı geliştirmek istiyorum; her hafta atlastan bir haritayı inceleyeceğim.”</a:t>
            </a:r>
          </a:p>
        </p:txBody>
      </p:sp>
      <p:sp>
        <p:nvSpPr>
          <p:cNvPr id="15" name="Rounded Rectangle 14"/>
          <p:cNvSpPr/>
          <p:nvPr/>
        </p:nvSpPr>
        <p:spPr>
          <a:xfrm>
            <a:off x="502920" y="5559552"/>
            <a:ext cx="11185855" cy="731520"/>
          </a:xfrm>
          <a:prstGeom prst="roundRect">
            <a:avLst>
              <a:gd name="adj" fmla="val 8000"/>
            </a:avLst>
          </a:prstGeom>
          <a:solidFill>
            <a:srgbClr val="F0F0F0"/>
          </a:solidFill>
          <a:ln>
            <a:noFill/>
          </a:ln>
          <a:effectLst/>
        </p:spPr>
        <p:txBody>
          <a:bodyPr rtlCol="0" anchor="ctr" wrap="square" lIns="201168" rIns="201168" tIns="73152" bIns="73152">
            <a:noAutofit/>
          </a:bodyPr>
          <a:lstStyle/>
          <a:p>
            <a:pPr algn="ctr">
              <a:spcBef>
                <a:spcPts val="0"/>
              </a:spcBef>
              <a:spcAft>
                <a:spcPts val="0"/>
              </a:spcAft>
            </a:pPr>
            <a:r>
              <a:rPr lang="tr-TR" sz="2000" b="1" i="0">
                <a:solidFill>
                  <a:srgbClr val="262626"/>
                </a:solidFill>
                <a:latin typeface="Calibri"/>
              </a:rPr>
              <a:t>Ölçüt:</a:t>
            </a:r>
            <a:r>
              <a:rPr lang="tr-TR" sz="2000" b="0" i="0">
                <a:solidFill>
                  <a:srgbClr val="262626"/>
                </a:solidFill>
                <a:latin typeface="Calibri"/>
              </a:rPr>
              <a:t> bir kavram ya da etkinlik + nedeni (somut bir an) + uygulanabilir bir hedef</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143 / 187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36.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Yansıtma kartının arka yüzüne kısaca yaz (2 dk):</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Okul çevresinde gözlediğin bir doğal, bir beşerî unsuru yaz.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“Okulumuzun işlevsel bölgesi” denince ne anlıyorsun? Bir cümle.</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Bu yıl öğrendiğin ve bugün yürüyüşte kullandığın bir kavram hangisiydi?</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144 / 187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Teslim ve iyi tatiller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36. HAFTA</a:t>
            </a:r>
          </a:p>
        </p:txBody>
      </p:sp>
      <p:sp>
        <p:nvSpPr>
          <p:cNvPr id="6" name="Rounded Rectangle 5"/>
          <p:cNvSpPr/>
          <p:nvPr/>
        </p:nvSpPr>
        <p:spPr>
          <a:xfrm>
            <a:off x="502920" y="1216152"/>
            <a:ext cx="5212080" cy="1188720"/>
          </a:xfrm>
          <a:prstGeom prst="roundRect">
            <a:avLst>
              <a:gd name="adj" fmla="val 12000"/>
            </a:avLst>
          </a:prstGeom>
          <a:solidFill>
            <a:srgbClr val="F0F0F0"/>
          </a:solidFill>
          <a:ln>
            <a:noFill/>
          </a:ln>
          <a:effectLst/>
        </p:spPr>
        <p:txBody>
          <a:bodyPr rtlCol="0" anchor="ctr"/>
          <a:lstStyle/>
          <a:p/>
        </p:txBody>
      </p:sp>
      <p:sp>
        <p:nvSpPr>
          <p:cNvPr id="7" name="Oval 6"/>
          <p:cNvSpPr/>
          <p:nvPr/>
        </p:nvSpPr>
        <p:spPr>
          <a:xfrm>
            <a:off x="685800" y="1444752"/>
            <a:ext cx="731520" cy="7315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TextBox 7"/>
          <p:cNvSpPr txBox="1"/>
          <p:nvPr/>
        </p:nvSpPr>
        <p:spPr>
          <a:xfrm>
            <a:off x="1600200" y="1216152"/>
            <a:ext cx="2377440" cy="118872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262626"/>
                </a:solidFill>
                <a:latin typeface="Calibri"/>
              </a:rPr>
              <a:t>Gözlem formu</a:t>
            </a:r>
          </a:p>
        </p:txBody>
      </p:sp>
      <p:sp>
        <p:nvSpPr>
          <p:cNvPr id="9" name="TextBox 8"/>
          <p:cNvSpPr txBox="1"/>
          <p:nvPr/>
        </p:nvSpPr>
        <p:spPr>
          <a:xfrm>
            <a:off x="3931920" y="1216152"/>
            <a:ext cx="1783080" cy="11887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herkesinki</a:t>
            </a:r>
          </a:p>
        </p:txBody>
      </p:sp>
      <p:sp>
        <p:nvSpPr>
          <p:cNvPr id="10" name="Rounded Rectangle 9"/>
          <p:cNvSpPr/>
          <p:nvPr/>
        </p:nvSpPr>
        <p:spPr>
          <a:xfrm>
            <a:off x="502920" y="2514600"/>
            <a:ext cx="5212080" cy="1188720"/>
          </a:xfrm>
          <a:prstGeom prst="roundRect">
            <a:avLst>
              <a:gd name="adj" fmla="val 12000"/>
            </a:avLst>
          </a:prstGeom>
          <a:solidFill>
            <a:srgbClr val="F0F0F0"/>
          </a:solidFill>
          <a:ln>
            <a:noFill/>
          </a:ln>
          <a:effectLst/>
        </p:spPr>
        <p:txBody>
          <a:bodyPr rtlCol="0" anchor="ctr"/>
          <a:lstStyle/>
          <a:p/>
        </p:txBody>
      </p:sp>
      <p:sp>
        <p:nvSpPr>
          <p:cNvPr id="11" name="Oval 10"/>
          <p:cNvSpPr/>
          <p:nvPr/>
        </p:nvSpPr>
        <p:spPr>
          <a:xfrm>
            <a:off x="685800" y="2743200"/>
            <a:ext cx="731520" cy="7315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2" name="TextBox 11"/>
          <p:cNvSpPr txBox="1"/>
          <p:nvPr/>
        </p:nvSpPr>
        <p:spPr>
          <a:xfrm>
            <a:off x="1600200" y="2514600"/>
            <a:ext cx="2377440" cy="118872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262626"/>
                </a:solidFill>
                <a:latin typeface="Calibri"/>
              </a:rPr>
              <a:t>Kroki ve rapor</a:t>
            </a:r>
          </a:p>
        </p:txBody>
      </p:sp>
      <p:sp>
        <p:nvSpPr>
          <p:cNvPr id="13" name="TextBox 12"/>
          <p:cNvSpPr txBox="1"/>
          <p:nvPr/>
        </p:nvSpPr>
        <p:spPr>
          <a:xfrm>
            <a:off x="3931920" y="2514600"/>
            <a:ext cx="1783080" cy="11887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A3 · grubun</a:t>
            </a:r>
          </a:p>
        </p:txBody>
      </p:sp>
      <p:sp>
        <p:nvSpPr>
          <p:cNvPr id="14" name="Rounded Rectangle 13"/>
          <p:cNvSpPr/>
          <p:nvPr/>
        </p:nvSpPr>
        <p:spPr>
          <a:xfrm>
            <a:off x="502920" y="3813048"/>
            <a:ext cx="5212080" cy="1188720"/>
          </a:xfrm>
          <a:prstGeom prst="roundRect">
            <a:avLst>
              <a:gd name="adj" fmla="val 12000"/>
            </a:avLst>
          </a:prstGeom>
          <a:solidFill>
            <a:srgbClr val="F0F0F0"/>
          </a:solidFill>
          <a:ln>
            <a:noFill/>
          </a:ln>
          <a:effectLst/>
        </p:spPr>
        <p:txBody>
          <a:bodyPr rtlCol="0" anchor="ctr"/>
          <a:lstStyle/>
          <a:p/>
        </p:txBody>
      </p:sp>
      <p:sp>
        <p:nvSpPr>
          <p:cNvPr id="15" name="Oval 14"/>
          <p:cNvSpPr/>
          <p:nvPr/>
        </p:nvSpPr>
        <p:spPr>
          <a:xfrm>
            <a:off x="685800" y="4041648"/>
            <a:ext cx="731520" cy="731520"/>
          </a:xfrm>
          <a:prstGeom prst="ellipse">
            <a:avLst/>
          </a:prstGeom>
          <a:solidFill>
            <a:srgbClr val="6A4C93"/>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6" name="TextBox 15"/>
          <p:cNvSpPr txBox="1"/>
          <p:nvPr/>
        </p:nvSpPr>
        <p:spPr>
          <a:xfrm>
            <a:off x="1600200" y="3813048"/>
            <a:ext cx="2377440" cy="118872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262626"/>
                </a:solidFill>
                <a:latin typeface="Calibri"/>
              </a:rPr>
              <a:t>Yansıtma kartı</a:t>
            </a:r>
          </a:p>
        </p:txBody>
      </p:sp>
      <p:sp>
        <p:nvSpPr>
          <p:cNvPr id="17" name="TextBox 16"/>
          <p:cNvSpPr txBox="1"/>
          <p:nvPr/>
        </p:nvSpPr>
        <p:spPr>
          <a:xfrm>
            <a:off x="3931920" y="3813048"/>
            <a:ext cx="1783080" cy="11887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767676"/>
                </a:solidFill>
                <a:latin typeface="Calibri"/>
              </a:rPr>
              <a:t>herkesinki</a:t>
            </a:r>
          </a:p>
        </p:txBody>
      </p:sp>
      <p:sp>
        <p:nvSpPr>
          <p:cNvPr id="18" name="Rounded Rectangle 17"/>
          <p:cNvSpPr/>
          <p:nvPr/>
        </p:nvSpPr>
        <p:spPr>
          <a:xfrm>
            <a:off x="502920" y="5148071"/>
            <a:ext cx="5212080" cy="1143001"/>
          </a:xfrm>
          <a:prstGeom prst="roundRect">
            <a:avLst>
              <a:gd name="adj" fmla="val 8000"/>
            </a:avLst>
          </a:prstGeom>
          <a:solidFill>
            <a:srgbClr val="FFF3D1"/>
          </a:solidFill>
          <a:ln>
            <a:noFill/>
          </a:ln>
          <a:effectLst/>
        </p:spPr>
        <p:txBody>
          <a:bodyPr rtlCol="0" anchor="ctr" wrap="square" lIns="201168" rIns="201168" tIns="73152" bIns="73152">
            <a:noAutofit/>
          </a:bodyPr>
          <a:lstStyle/>
          <a:p>
            <a:pPr algn="ctr">
              <a:spcBef>
                <a:spcPts val="0"/>
              </a:spcBef>
              <a:spcAft>
                <a:spcPts val="0"/>
              </a:spcAft>
            </a:pPr>
            <a:r>
              <a:rPr lang="tr-TR" sz="2100" b="1" i="0">
                <a:solidFill>
                  <a:srgbClr val="262626"/>
                </a:solidFill>
                <a:latin typeface="Calibri"/>
              </a:rPr>
              <a:t>Zümre dosyasına</a:t>
            </a:r>
            <a:r>
              <a:rPr lang="tr-TR" sz="2100" b="0" i="0">
                <a:solidFill>
                  <a:srgbClr val="262626"/>
                </a:solidFill>
                <a:latin typeface="Calibri"/>
              </a:rPr>
              <a:t> teslim edilir.</a:t>
            </a:r>
          </a:p>
        </p:txBody>
      </p:sp>
      <p:sp>
        <p:nvSpPr>
          <p:cNvPr id="19" name="Rounded Rectangle 18"/>
          <p:cNvSpPr/>
          <p:nvPr/>
        </p:nvSpPr>
        <p:spPr>
          <a:xfrm>
            <a:off x="5989320" y="1216152"/>
            <a:ext cx="5699455" cy="3291840"/>
          </a:xfrm>
          <a:prstGeom prst="roundRect">
            <a:avLst>
              <a:gd name="adj" fmla="val 8000"/>
            </a:avLst>
          </a:prstGeom>
          <a:solidFill>
            <a:srgbClr val="F0F0F0"/>
          </a:solidFill>
          <a:ln>
            <a:noFill/>
          </a:ln>
          <a:effectLst/>
        </p:spPr>
        <p:txBody>
          <a:bodyPr rtlCol="0" anchor="t" wrap="square" lIns="274320" rIns="274320" tIns="73152" bIns="73152">
            <a:noAutofit/>
          </a:bodyPr>
          <a:lstStyle/>
          <a:p>
            <a:pPr algn="l">
              <a:spcBef>
                <a:spcPts val="0"/>
              </a:spcBef>
              <a:spcAft>
                <a:spcPts val="780"/>
              </a:spcAft>
            </a:pPr>
            <a:r>
              <a:rPr lang="tr-TR" sz="2050" b="1" i="0">
                <a:solidFill>
                  <a:srgbClr val="6A4C93"/>
                </a:solidFill>
                <a:latin typeface="Calibri"/>
              </a:rPr>
              <a:t>Ders yılı sonu</a:t>
            </a:r>
          </a:p>
          <a:p>
            <a:pPr algn="l" marL="254836" indent="-254836">
              <a:spcBef>
                <a:spcPts val="0"/>
              </a:spcBef>
              <a:spcAft>
                <a:spcPts val="780"/>
              </a:spcAft>
            </a:pPr>
            <a:r>
              <a:rPr lang="tr-TR" sz="2050" b="1" i="0">
                <a:solidFill>
                  <a:srgbClr val="6A4C93"/>
                </a:solidFill>
                <a:latin typeface="Calibri"/>
              </a:rPr>
              <a:t>•  </a:t>
            </a:r>
            <a:r>
              <a:rPr lang="tr-TR" sz="2050" b="0" i="0">
                <a:solidFill>
                  <a:srgbClr val="262626"/>
                </a:solidFill>
                <a:latin typeface="Calibri"/>
              </a:rPr>
              <a:t>37. hafta (21-25 Haziran): sosyal etkinlik haftası</a:t>
            </a:r>
          </a:p>
          <a:p>
            <a:pPr algn="l" marL="254836" indent="-254836">
              <a:spcBef>
                <a:spcPts val="0"/>
              </a:spcBef>
              <a:spcAft>
                <a:spcPts val="780"/>
              </a:spcAft>
            </a:pPr>
            <a:r>
              <a:rPr lang="tr-TR" sz="2050" b="1" i="0">
                <a:solidFill>
                  <a:srgbClr val="6A4C93"/>
                </a:solidFill>
                <a:latin typeface="Calibri"/>
              </a:rPr>
              <a:t>•  </a:t>
            </a:r>
            <a:r>
              <a:rPr lang="tr-TR" sz="2050" b="0" i="0">
                <a:solidFill>
                  <a:srgbClr val="262626"/>
                </a:solidFill>
                <a:latin typeface="Calibri"/>
              </a:rPr>
              <a:t>25 Haziran: ders yılının son günü</a:t>
            </a:r>
          </a:p>
          <a:p>
            <a:pPr algn="l" marL="254836" indent="-254836">
              <a:spcBef>
                <a:spcPts val="0"/>
              </a:spcBef>
              <a:spcAft>
                <a:spcPts val="780"/>
              </a:spcAft>
            </a:pPr>
            <a:r>
              <a:rPr lang="tr-TR" sz="2050" b="1" i="0">
                <a:solidFill>
                  <a:srgbClr val="6A4C93"/>
                </a:solidFill>
                <a:latin typeface="Calibri"/>
              </a:rPr>
              <a:t>•  </a:t>
            </a:r>
            <a:r>
              <a:rPr lang="tr-TR" sz="2050" b="0" i="0">
                <a:solidFill>
                  <a:srgbClr val="262626"/>
                </a:solidFill>
                <a:latin typeface="Calibri"/>
              </a:rPr>
              <a:t>Ev çalışması yok. İstersen krokini temize çek, 37. haftada getir.</a:t>
            </a:r>
          </a:p>
          <a:p>
            <a:pPr algn="l" marL="254836" indent="-254836">
              <a:spcBef>
                <a:spcPts val="0"/>
              </a:spcBef>
              <a:spcAft>
                <a:spcPts val="0"/>
              </a:spcAft>
            </a:pPr>
            <a:r>
              <a:rPr lang="tr-TR" sz="2050" b="1" i="0">
                <a:solidFill>
                  <a:srgbClr val="6A4C93"/>
                </a:solidFill>
                <a:latin typeface="Calibri"/>
              </a:rPr>
              <a:t>•  </a:t>
            </a:r>
            <a:r>
              <a:rPr lang="tr-TR" sz="2050" b="0" i="0">
                <a:solidFill>
                  <a:srgbClr val="262626"/>
                </a:solidFill>
                <a:latin typeface="Calibri"/>
              </a:rPr>
              <a:t>Yaz için öneri: MEBİ ve EBA'da 9. sınıf tekrar etkinlikleri (gönüllü)</a:t>
            </a:r>
          </a:p>
        </p:txBody>
      </p:sp>
      <p:sp>
        <p:nvSpPr>
          <p:cNvPr id="20" name="Rounded Rectangle 19"/>
          <p:cNvSpPr/>
          <p:nvPr/>
        </p:nvSpPr>
        <p:spPr>
          <a:xfrm>
            <a:off x="5989320" y="4645152"/>
            <a:ext cx="5699455" cy="1645920"/>
          </a:xfrm>
          <a:prstGeom prst="roundRect">
            <a:avLst>
              <a:gd name="adj" fmla="val 8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4000" b="1" i="0">
                <a:solidFill>
                  <a:srgbClr val="FFFFFF"/>
                </a:solidFill>
                <a:latin typeface="Calibri"/>
              </a:rPr>
              <a:t>İyi tatiller!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145 / 187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Öğretim programı ve etkinlikler.</a:t>
            </a:r>
            <a:r>
              <a:rPr lang="tr-TR" sz="1700" b="0" i="0">
                <a:solidFill>
                  <a:srgbClr val="262626"/>
                </a:solidFill>
                <a:latin typeface="Calibri"/>
              </a:rPr>
              <a:t> Coğrafya dersi öğretim programı (2026 nüshası): Talim ve Terbiye Kurulunun 23.05.2024 tarihli ve 20 sayılı kararıyla kabul edilen, 13.05.2026 tarihli ve 53 sayılı kararıyla güncellenen program. Bazı görseller ve sorular ders kitabının karekod içeriklerinden (EBA: ölçme araçları, tema sonu soruları, harita ve bilgi görselleri) alınmıştır.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7. Ünite: Bölgeler, Ülkeler ve Küresel Bağlantılar</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GNL-COG9-SN-U7 — 36. hafta · Okul Temelli Planlama: Okulumuzun Çevresini Okuyoruz (slayt 117-145)</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