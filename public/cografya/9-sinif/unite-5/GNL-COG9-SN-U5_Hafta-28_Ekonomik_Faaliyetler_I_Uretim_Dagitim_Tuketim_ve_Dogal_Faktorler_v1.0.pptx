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tr-TR"/>
    </a:defPPr>
    <a:lvl1pPr marL="0" algn="l" defTabSz="457200" rtl="0" eaLnBrk="1" latinLnBrk="0" hangingPunct="1">
      <a:defRPr lang="tr-TR" sz="1800" kern="1200">
        <a:solidFill>
          <a:schemeClr val="tx1"/>
        </a:solidFill>
        <a:latin typeface="+mn-lt"/>
        <a:ea typeface="+mn-ea"/>
        <a:cs typeface="+mn-cs"/>
      </a:defRPr>
    </a:lvl1pPr>
    <a:lvl2pPr marL="457200" algn="l" defTabSz="457200" rtl="0" eaLnBrk="1" latinLnBrk="0" hangingPunct="1">
      <a:defRPr lang="tr-TR" sz="1800" kern="1200">
        <a:solidFill>
          <a:schemeClr val="tx1"/>
        </a:solidFill>
        <a:latin typeface="+mn-lt"/>
        <a:ea typeface="+mn-ea"/>
        <a:cs typeface="+mn-cs"/>
      </a:defRPr>
    </a:lvl2pPr>
    <a:lvl3pPr marL="914400" algn="l" defTabSz="457200" rtl="0" eaLnBrk="1" latinLnBrk="0" hangingPunct="1">
      <a:defRPr lang="tr-TR" sz="1800" kern="1200">
        <a:solidFill>
          <a:schemeClr val="tx1"/>
        </a:solidFill>
        <a:latin typeface="+mn-lt"/>
        <a:ea typeface="+mn-ea"/>
        <a:cs typeface="+mn-cs"/>
      </a:defRPr>
    </a:lvl3pPr>
    <a:lvl4pPr marL="1371600" algn="l" defTabSz="457200" rtl="0" eaLnBrk="1" latinLnBrk="0" hangingPunct="1">
      <a:defRPr lang="tr-TR" sz="1800" kern="1200">
        <a:solidFill>
          <a:schemeClr val="tx1"/>
        </a:solidFill>
        <a:latin typeface="+mn-lt"/>
        <a:ea typeface="+mn-ea"/>
        <a:cs typeface="+mn-cs"/>
      </a:defRPr>
    </a:lvl4pPr>
    <a:lvl5pPr marL="1828800" algn="l" defTabSz="457200" rtl="0" eaLnBrk="1" latinLnBrk="0" hangingPunct="1">
      <a:defRPr lang="tr-TR" sz="1800" kern="1200">
        <a:solidFill>
          <a:schemeClr val="tx1"/>
        </a:solidFill>
        <a:latin typeface="+mn-lt"/>
        <a:ea typeface="+mn-ea"/>
        <a:cs typeface="+mn-cs"/>
      </a:defRPr>
    </a:lvl5pPr>
    <a:lvl6pPr marL="2286000" algn="l" defTabSz="457200" rtl="0" eaLnBrk="1" latinLnBrk="0" hangingPunct="1">
      <a:defRPr lang="tr-TR" sz="1800" kern="1200">
        <a:solidFill>
          <a:schemeClr val="tx1"/>
        </a:solidFill>
        <a:latin typeface="+mn-lt"/>
        <a:ea typeface="+mn-ea"/>
        <a:cs typeface="+mn-cs"/>
      </a:defRPr>
    </a:lvl6pPr>
    <a:lvl7pPr marL="2743200" algn="l" defTabSz="457200" rtl="0" eaLnBrk="1" latinLnBrk="0" hangingPunct="1">
      <a:defRPr lang="tr-TR" sz="1800" kern="1200">
        <a:solidFill>
          <a:schemeClr val="tx1"/>
        </a:solidFill>
        <a:latin typeface="+mn-lt"/>
        <a:ea typeface="+mn-ea"/>
        <a:cs typeface="+mn-cs"/>
      </a:defRPr>
    </a:lvl7pPr>
    <a:lvl8pPr marL="3200400" algn="l" defTabSz="457200" rtl="0" eaLnBrk="1" latinLnBrk="0" hangingPunct="1">
      <a:defRPr lang="tr-TR" sz="1800" kern="1200">
        <a:solidFill>
          <a:schemeClr val="tx1"/>
        </a:solidFill>
        <a:latin typeface="+mn-lt"/>
        <a:ea typeface="+mn-ea"/>
        <a:cs typeface="+mn-cs"/>
      </a:defRPr>
    </a:lvl8pPr>
    <a:lvl9pPr marL="3657600" algn="l" defTabSz="457200" rtl="0" eaLnBrk="1" latinLnBrk="0" hangingPunct="1">
      <a:defRPr lang="tr-T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lang="tr-TR" sz="1200"/>
            </a:lvl1pPr>
          </a:lstStyle>
          <a:p>
            <a:endParaRPr lang="tr-T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lang="tr-TR" sz="1200"/>
            </a:lvl1pPr>
          </a:lstStyle>
          <a:p>
            <a:fld id="{0F89C1C7-3DCD-1040-A9CF-14679D8B5DDD}" type="datetimeFigureOut">
              <a:rPr lang="tr-TR" smtClean="0"/>
              <a:t>10/17/16</a:t>
            </a:fld>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lang="tr-TR" sz="1200"/>
            </a:lvl1pPr>
          </a:lstStyle>
          <a:p>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lang="tr-TR" sz="1200"/>
            </a:lvl1pPr>
          </a:lstStyle>
          <a:p>
            <a:fld id="{BB5E49A5-4136-284D-997B-48E1D791AD67}" type="slidenum">
              <a:rPr lang="tr-TR" smtClean="0"/>
              <a:t>‹#›</a:t>
            </a:fld>
            <a:endParaRPr lang="tr-TR"/>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lang="tr-TR" sz="1200" kern="1200">
        <a:solidFill>
          <a:schemeClr val="tx1"/>
        </a:solidFill>
        <a:latin typeface="+mn-lt"/>
        <a:ea typeface="+mn-ea"/>
        <a:cs typeface="+mn-cs"/>
      </a:defRPr>
    </a:lvl1pPr>
    <a:lvl2pPr marL="457200" algn="l" defTabSz="457200" rtl="0" eaLnBrk="1" latinLnBrk="0" hangingPunct="1">
      <a:defRPr lang="tr-TR" sz="1200" kern="1200">
        <a:solidFill>
          <a:schemeClr val="tx1"/>
        </a:solidFill>
        <a:latin typeface="+mn-lt"/>
        <a:ea typeface="+mn-ea"/>
        <a:cs typeface="+mn-cs"/>
      </a:defRPr>
    </a:lvl2pPr>
    <a:lvl3pPr marL="914400" algn="l" defTabSz="457200" rtl="0" eaLnBrk="1" latinLnBrk="0" hangingPunct="1">
      <a:defRPr lang="tr-TR" sz="1200" kern="1200">
        <a:solidFill>
          <a:schemeClr val="tx1"/>
        </a:solidFill>
        <a:latin typeface="+mn-lt"/>
        <a:ea typeface="+mn-ea"/>
        <a:cs typeface="+mn-cs"/>
      </a:defRPr>
    </a:lvl3pPr>
    <a:lvl4pPr marL="1371600" algn="l" defTabSz="457200" rtl="0" eaLnBrk="1" latinLnBrk="0" hangingPunct="1">
      <a:defRPr lang="tr-TR" sz="1200" kern="1200">
        <a:solidFill>
          <a:schemeClr val="tx1"/>
        </a:solidFill>
        <a:latin typeface="+mn-lt"/>
        <a:ea typeface="+mn-ea"/>
        <a:cs typeface="+mn-cs"/>
      </a:defRPr>
    </a:lvl4pPr>
    <a:lvl5pPr marL="1828800" algn="l" defTabSz="457200" rtl="0" eaLnBrk="1" latinLnBrk="0" hangingPunct="1">
      <a:defRPr lang="tr-TR" sz="1200" kern="1200">
        <a:solidFill>
          <a:schemeClr val="tx1"/>
        </a:solidFill>
        <a:latin typeface="+mn-lt"/>
        <a:ea typeface="+mn-ea"/>
        <a:cs typeface="+mn-cs"/>
      </a:defRPr>
    </a:lvl5pPr>
    <a:lvl6pPr marL="2286000" algn="l" defTabSz="457200" rtl="0" eaLnBrk="1" latinLnBrk="0" hangingPunct="1">
      <a:defRPr lang="tr-TR" sz="1200" kern="1200">
        <a:solidFill>
          <a:schemeClr val="tx1"/>
        </a:solidFill>
        <a:latin typeface="+mn-lt"/>
        <a:ea typeface="+mn-ea"/>
        <a:cs typeface="+mn-cs"/>
      </a:defRPr>
    </a:lvl6pPr>
    <a:lvl7pPr marL="2743200" algn="l" defTabSz="457200" rtl="0" eaLnBrk="1" latinLnBrk="0" hangingPunct="1">
      <a:defRPr lang="tr-TR" sz="1200" kern="1200">
        <a:solidFill>
          <a:schemeClr val="tx1"/>
        </a:solidFill>
        <a:latin typeface="+mn-lt"/>
        <a:ea typeface="+mn-ea"/>
        <a:cs typeface="+mn-cs"/>
      </a:defRPr>
    </a:lvl7pPr>
    <a:lvl8pPr marL="3200400" algn="l" defTabSz="457200" rtl="0" eaLnBrk="1" latinLnBrk="0" hangingPunct="1">
      <a:defRPr lang="tr-TR" sz="1200" kern="1200">
        <a:solidFill>
          <a:schemeClr val="tx1"/>
        </a:solidFill>
        <a:latin typeface="+mn-lt"/>
        <a:ea typeface="+mn-ea"/>
        <a:cs typeface="+mn-cs"/>
      </a:defRPr>
    </a:lvl8pPr>
    <a:lvl9pPr marL="3657600" algn="l" defTabSz="457200" rtl="0" eaLnBrk="1" latinLnBrk="0" hangingPunct="1">
      <a:defRPr lang="tr-T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Üniteyi tanıtmak; kapak fotoğrafıyla 'ekonomik faaliyet' ve 'yer seçimi' sorusunu açmak.</a:t>
            </a:r>
          </a:p>
          <a:p/>
          <a:p>
            <a:r>
              <a:t>SÜRE: Giriş aşamasının (28. hafta 1. aşama, 4 dk) ilk dakikası; aşamanın slaytları 1-7.</a:t>
            </a:r>
          </a:p>
          <a:p/>
          <a:p>
            <a:r>
              <a:t>NASIL: Fotoğrafı 15 saniye inceletin: 'Bu fotoğrafta hangi ekonomik faaliyetleri görüyorsunuz? Bu büyük binalar neden burada kurulmuş olabilir?' İki-üç kısa cevap alın; cevapları ünitenin sorusuna bağlayın: ekonomik faaliyetlerin yerini doğal ve beşerî faktörler belirler. Fotoğrafın çekildiği yer kitapta yazılmaz; yer adı söylemeyin.</a:t>
            </a:r>
          </a:p>
          <a:p/>
          <a:p>
            <a:r>
              <a:t>BEKLENEN CEVAP: Depolama, taşımacılık (tırlar), sanayi ve ticaret; geniş ve düz arazi, kara yolu bağlantısı ve kavşak, yerleşmelere yakınlık gibi nedenler (doğal: düz arazi · beşerî: ulaşım, pazar).</a:t>
            </a:r>
          </a:p>
          <a:p/>
          <a:p>
            <a:r>
              <a:t>KAYNAK: Ders kitabı s. 170-171 ünite açılış görseli.</a:t>
            </a:r>
          </a:p>
          <a:p/>
          <a:p>
            <a:r>
              <a:t>NOT: Bu sunum yalnız okul içi ders kullanımı içindir: harita, grafik ve fotoğraflar MEB ders kitabından ve EBA'dandır; dosya okul dışında paylaşılmaz, internete konmaz.</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Ünitenin tek öğrenme çıktısını ve iki alt başlığını haftalarıyla göstermek.</a:t>
            </a:r>
          </a:p>
          <a:p/>
          <a:p>
            <a:r>
              <a:t>NASIL: Üstteki çıktıyı okuyun; 'sorgulamak' fiilinin bu ünitenin işi olduğunu söyleyin: soru soracağız, bilgi toplayacağız, düzenleyeceğiz, çözümleyeceğiz, sonucu paylaşacağız (programın beş süreç bileşeni a-d). Alttaki iki kart kitabın iki alt başlığıdır: 28. hafta doğal, 29. hafta beşerî faktörler. Ünite iki haftadır (4 ders saati).</a:t>
            </a:r>
          </a:p>
          <a:p/>
          <a:p>
            <a:r>
              <a:t>KAYNAK: Program (2026): COĞ.9.5.1 ve süreç bileşenleri; kitap s. 170 'Bu ünitede … amaçlanmaktadır.'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Ünitede kullanılacak üç ölçme aracını öğrencinin diliyle duyurmak.</a:t>
            </a:r>
          </a:p>
          <a:p/>
          <a:p>
            <a:r>
              <a:t>NASIL: Üç kartı kısaca tanıtın; alttaki çipler ne zaman yapılacağını gösterir. KWL formu bu hafta dağıtılır (ilk iki sütun), 29. haftada 'Ne öğrendim?' sütunuyla tamamlanır; formlar öğretmende kalır. Performans görevi bir diyagramdır (s. 183): analitik dereceli puanlama anahtarı ve öz değerlendirme formu kitabın karekodundadır (EBA); çıktıları öğretmen getirir, öğrenci telefonu kullanılmaz. Malzemeyi (A4, yapıştırıcı, görsel kesitleri) okul sağlar. Ünite sonunda 6 soruluk ölçme bölümü vardır (s. 184-185).</a:t>
            </a:r>
          </a:p>
          <a:p/>
          <a:p>
            <a:r>
              <a:t>KAYNAK: Kitap s. 170: 'Ünitede sizden … beklenmektedir.' Program, Öğrenme Kanıtları (KWL, performans görevi, analitik dereceli puanlama anahtarı, öz değerlendirme formu).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Ünitenin on beş anahtar kavramını üç grupta göstermek.</a:t>
            </a:r>
          </a:p>
          <a:p/>
          <a:p>
            <a:r>
              <a:t>NASIL: Kavramları sesli okutun; 'Hangilerini 4. ünitede ya da ortaokulda duydunuz? Hangisini bugün açıklayabilirsiniz?' sorusuyla ön bilgiyi yoklayın (ön değerlendirmeye köprü). Gruplama sunum içindir; kavram listesi kitapla (ve programla) aynıdır. 'Gelir düzeyi' kitapta ayrı başlık olarak işlenmez; beşerî faktörlerle birlikte anılır.</a:t>
            </a:r>
          </a:p>
          <a:p/>
          <a:p>
            <a:r>
              <a:t>KAYNAK: Kitap s. 171 Anahtar Kavramlar (program listesiyle aynı).</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Haftanın öğrenme çıktısını ve üç süreç bileşenini (a soru sorma, b bilgi toplama, c düzenleme) tanıtmak.</a:t>
            </a:r>
          </a:p>
          <a:p/>
          <a:p>
            <a:r>
              <a:t>SÜRE: 80 dakikalık akış (ders planı, 28. hafta): giriş 4 · ön değerlendirme 7 · gece ışıkları (E) 5 · köprü kurma 6 · üç süreç 8 · KWL ve soru duvarı 10 (40. dk) · geçiş (E) 2 · doğal faktörler 13 · s. 176 uygulaması 12 · paylaşım (E) 6 · toparlama 7.</a:t>
            </a:r>
          </a:p>
          <a:p/>
          <a:p>
            <a:r>
              <a:t>NASIL: Çıktıyı öğrencinin diliyle söyleyin: 'Bu hafta ekonomik faaliyetlerin neden bazı yerlerde geliştiğini sorgulamaya başlıyoruz: önce merak ettiklerimizi soracağız (a), sonra kitaptan ve haritalardan bilgi toplayacağız (b), en sonunda topladıklarımızı bir tabloda düzenleyeceğiz (c).' Giriş aşamasının (4 dk) ilk dört slaytı ünite açılışıdır; bu ayraç, yol haritası ve gruplar slaytı aşamanın kalanıdır. KISA HAFTA: 23 Nisan cuma resmî tatildir; dersi cumaya düşen şubede bu haftanın çekirdeği 29. haftaya taşınır (birleşik akış 29. hafta ders planı notlarında). Diğer şubelerde zaman daralırsa yalnız esnek (E) aşamalar kısaltılır: gece ışıkları, geçiş, paylaşım.</a:t>
            </a:r>
          </a:p>
          <a:p/>
          <a:p>
            <a:r>
              <a:t>KAYNAK: Program (2026) COĞ.9.5.1 a-c; ders planı 28. hafta; kitap 5.1.1 (s. 172-176).</a:t>
            </a:r>
          </a:p>
          <a:p/>
          <a:p>
            <a:r>
              <a:t>NOT: Kitap 2026-2027 baskısı: s. 172, 174 ve 177 önceki baskıyla aynıdır; s. 173'te gece ışıkları haritasının künyesi kaldırılmıştır, s. 175'te 'keşif ve inceleme', s. 176'da kuzey oku 'K' olmuştur. Sunum yeni baskıya göredir.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Dersin yol haritasını göstermek (30 sn).</a:t>
            </a:r>
          </a:p>
          <a:p/>
          <a:p>
            <a:r>
              <a:t>NASIL: Her istasyonu bir cümleyle söyleyin; 4. istasyondan (KWL) sonra dersin ilk yarısı biter. Doğal faktörler ve harita uygulaması grup düzeninde yapılır.</a:t>
            </a:r>
          </a:p>
          <a:p/>
          <a:p>
            <a:r>
              <a:t>KAYNAK: Ders planı 28. hafta akışı.</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 başında yeniden karılan grupları tanıtmak; Turizm Haftası ile ünite konusu arasında bir cümlelik bağ kurmak.</a:t>
            </a:r>
          </a:p>
          <a:p/>
          <a:p>
            <a:r>
              <a:t>NASIL: Yeni grup listesini öğretmen bilgisayarından yansıtın; sunuma öğrenci adı yazılmaz. Gruplar 4. ünite gözlemleriyle heterojen karılır (6 × 4 + 2 × 5); roller bu hafta sizce atanır, sonraki haftalarda döner. Sağdaki kartı okuyun: 'Bu hafta Turizm Haftası; turizm de bir ekonomik faaliyettir, onu neyin geliştirdiğini de göreceğiz.' Görselin yerini söylemeyin (kitapta yer adı verilmemiştir).</a:t>
            </a:r>
          </a:p>
          <a:p/>
          <a:p>
            <a:r>
              <a:t>KAYNAK: Ders planı 28. hafta 1. aşama ve notlar; Turizm Haftası 15-22 Nisan (SEY EK-8, arac/belirli_gun_ve_haftalar.py). Görsel: kitap s. 172 (Başlarken).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Programın ön değerlendirme süreci (not amaçlı değil): s. 172 'Başlarken' 1. soru — altı görselin faaliyet adı ve süreci.</a:t>
            </a:r>
          </a:p>
          <a:p/>
          <a:p>
            <a:r>
              <a:t>SÜRE: Ön değerlendirme 7 dk: yaprak (1. ve 2. soru) 5 dk · toplama ve örnek cevaplar 2 dk.</a:t>
            </a:r>
          </a:p>
          <a:p/>
          <a:p>
            <a:r>
              <a:t>NASIL: Yaprağı dağıtın: 'Sınav değil; neyi bildiğinizi görmek için.' Görseller numaralıdır (kitapta numara yoktur, sıra sayfadaki okuma sırasıdır). Her görsel için faaliyetin adını ve üretim, dağıtım, tüketimden hangisine ait olduğunu yazarlar; 2. soruyla birlikte 5 dk. Bitiren yaprağı ters çevirir; sıra başları toplar. Görsellerdeki yerleri söylemeyin: kitap yer adı vermez.</a:t>
            </a:r>
          </a:p>
          <a:p/>
          <a:p>
            <a:r>
              <a:t>BEKLENEN CEVAP: 1) Sanayi → üretim · 2) Ulaşım → dağıtım · 3) Ticaret → tüketim · 4) Tarım → üretim · 5) Madencilik → üretim · 6) Turizm → üretim + tüketim</a:t>
            </a:r>
          </a:p>
          <a:p/>
          <a:p>
            <a:r>
              <a:t>KAYNAK: Kitap s. 172 BAŞLARKEN 1. soru (yönerge birebir) ve altı görseli. Süreç adları s. 174 tanımlarından; hizmetin üretimi ve tüketiminin aynı anda olması: bilimsel; kitapta yok (kitap s. 174: ürün çıktısı 'mal veya hizmet').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Altı görselin faaliyet adı ve süreci: örnek cevap (yapraklar toplandıktan sonra).</a:t>
            </a:r>
          </a:p>
          <a:p/>
          <a:p>
            <a:r>
              <a:t>NASIL: Yapraklar toplandıktan sonra açın; cevaplar değiştirilmez. Turizmde bir HİZMET üretilir ve üretildiği anda tüketilir: iki süreç birlikte. Gerekçeli farklı eşleme kabul edilir: pazar, ürünün tüketiciye ulaştırıldığı yer olarak 'dağıtım' da sayılabilir; köprüyü 'turizm' diye okuyan öğrenciye 'köprünün asıl işi nedir?' diye sorun. Tanımları 5. aşamada kitaptan kuracağız (19-24).</a:t>
            </a:r>
          </a:p>
          <a:p/>
          <a:p>
            <a:r>
              <a:t>BEKLENEN CEVAP: 1) Sanayi → üretim · 2) Ulaşım → dağıtım · 3) Ticaret → tüketim · 4) Tarım → üretim · 5) Madencilik → üretim · 6) Turizm → üretim + tüketim</a:t>
            </a:r>
          </a:p>
          <a:p/>
          <a:p>
            <a:r>
              <a:t>KAYNAK: Kitap s. 172 BAŞLARKEN 1. soru (yönerge birebir) ve altı görseli. Süreç adları s. 174 tanımlarından; hizmetin üretimi ve tüketiminin aynı anda olması: bilimsel; kitapta yok (kitap s. 174: ürün çıktısı 'mal veya hizmet').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 172 'Başlarken' 2. soru: programın ön değerlendirme süreci — yaşanılan yerdeki faaliyetler ve onları geliştiren faktörler.</a:t>
            </a:r>
          </a:p>
          <a:p/>
          <a:p>
            <a:r>
              <a:t>NASIL: Öğrenciler yaprağın B bölümüne iki faaliyet ve her biri için etkili olduğunu düşündükleri faktörleri yazar (1. soruyla birlikte 5 dk). Kişisel bilgi istenmez: ailenin işi, geliri sorulmaz; yaşanılan yerin genel faaliyetleri yazılır.</a:t>
            </a:r>
          </a:p>
          <a:p/>
          <a:p>
            <a:r>
              <a:t>BEKLENEN CEVAP: Ticaret — kalabalık nüfus (pazar), ulaşım kolaylığı · Sanayi — iş gücü, sermaye, kara yolu ve liman · Ulaşım ve depolama — coğrafi konum (Asya ile Avrupa arası), yol ağı · Turizm — Boğaz ve kıyılar, tarihî eserler.</a:t>
            </a:r>
          </a:p>
          <a:p/>
          <a:p>
            <a:r>
              <a:t>KAYNAK: Kitap s. 172 BAŞLARKEN 2. soru (birebir); program Ön Değerlendirme Süreci: Yaşanılan yerde ve/veya Türkiye'de yürütülen ekonomik faaliyetlere örnekler verilmesi ve bu faaliyetlerin yürütülmesinde etkili olan faktörleri tartışmaları istenebilir. Örnek cevap: bilimsel, genel gözlem; kitapta yok (sayısal veri içermez). Coğrafi konum için kitap s. 174: 'Büyük ticaret yollarının kavşak noktası … Türkiye gibi ülkeler'.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Yaşanılan yer sorusunun örnek cevabı; faktörlerin iki türü (doğal, beşerî) için ön hazırlık.</a:t>
            </a:r>
          </a:p>
          <a:p/>
          <a:p>
            <a:r>
              <a:t>NASIL: Örnek İstanbul içindir; her öğrencinin cevabı kendi gözlemine dayanır, gerekçeli her cevap kabul edilir. Renklere dikkat çekin: yeşil faktörler doğadan, mavi faktörler insandan gelir — iki grubun adını köprü sorusunda koyacağız (17-18). Sonuç, sınıf özeti olarak zümre dosyasına gider ve KWL 'Ne biliyorum?' sütunuyla karşılaştırılır.</a:t>
            </a:r>
          </a:p>
          <a:p/>
          <a:p>
            <a:r>
              <a:t>BEKLENEN CEVAP: Ticaret — kalabalık nüfus (pazar), ulaşım kolaylığı · Sanayi — iş gücü, sermaye, kara yolu ve liman · Ulaşım ve depolama — coğrafi konum (Asya ile Avrupa arası), yol ağı · Turizm — Boğaz ve kıyılar, tarihî eserler.</a:t>
            </a:r>
          </a:p>
          <a:p/>
          <a:p>
            <a:r>
              <a:t>KAYNAK: Kitap s. 172 BAŞLARKEN 2. soru (birebir); program Ön Değerlendirme Süreci: Yaşanılan yerde ve/veya Türkiye'de yürütülen ekonomik faaliyetlere örnekler verilmesi ve bu faaliyetlerin yürütülmesinde etkili olan faktörleri tartışmaları istenebilir. Örnek cevap: bilimsel, genel gözlem; kitapta yok (sayısal veri içermez). Coğrafi konum için kitap s. 174: 'Büyük ticaret yollarının kavşak noktası … Türkiye gibi ülkeler'.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Gece uydu görüntüleriyle ekonomik faaliyetlerin dağılışını okumak; 'faktör havuzu'nu başlatmak.</a:t>
            </a:r>
          </a:p>
          <a:p/>
          <a:p>
            <a:r>
              <a:t>SÜRE: Gece ışıkları 5 dk (esnek): metin 1 dk · 1. soru 2 dk · 2. soru 2 dk. Kısa haftada bu aşama atlanır, harita yalnız gösterilir.</a:t>
            </a:r>
          </a:p>
          <a:p/>
          <a:p>
            <a:r>
              <a:t>NASIL: Üç kartı üç öğrenciye okutun. 'Uydu geceleyin hangi ışıkları görür? Evlerin, sokakların, fabrikaların, limanların ışıklarını.' Sağdaki haritada kırmızı-turuncu yüksek, mavi düşük ışık yoğunluğudur. Haritanın künyesi kitabın bu baskısında yoktur; harita için tarih ve yazar söylemeyin.</a:t>
            </a:r>
          </a:p>
          <a:p/>
          <a:p>
            <a:r>
              <a:t>KAYNAK: Kitap s. 173 KONUYA BAŞLARKEN metni (birebir) ve haritası. Metindeki bilgiler (yaklaşık otuz yıl, son on yıl) yalnız kitaptandır; ek veri eklenmedi.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OGM Materyal 'gece ışıkları' çoklu seçimiyle paralel: haritadan ekonomik faaliyetlerin geliştiği ülkeleri seçmek (s. 173, 1. soru).</a:t>
            </a:r>
          </a:p>
          <a:p/>
          <a:p>
            <a:r>
              <a:t>NASIL: Numaralı halkalar ülkelerin haritadaki yerini gösterir (haritada sınır ve ad yoktur). Öğrenciler 1 dakikada 'ekonomik faaliyetleri gelişmiş' buldukları ülkelerin numarasını yazar; üç öğrenciden cevap alın, gerekçeyi sorun: 'Işık ülkenin ne kadarını kaplıyor?'</a:t>
            </a:r>
          </a:p>
          <a:p/>
          <a:p>
            <a:r>
              <a:t>BEKLENEN CEVAP: Geniş alanda aydınlık: ABD, Almanya, İngiltere, Çin (OGM'nin doğru kabul ettikleri). Kısmen: Brezilya (güneyi ve güneydoğusu orta tonda). Yüksek ışık yok: Mısır (orta-düşük), Somali (en düşük).</a:t>
            </a:r>
          </a:p>
          <a:p/>
          <a:p>
            <a:r>
              <a:t>KAYNAK: Kitap s. 173 1. soru (birebir) ve harita; OGM Materyal etkileşimli uygulama 162 (yedi ülke; doğru = ABD, Almanya, İngiltere, Çin). OGM kaydındaki 'Nil boyu aydınlık' gözlemi kitabın bu baskısındaki haritada doğrulanmadı (harita 600 dpi'de incelendi, renkler lejantla karşılaştırıldı: Nil boyu sarı-yeşil, orta-düşük; Brezilya'nın güneyi ve güneydoğusu sarı, orta). Mısır nüfusunun Nil boyunda toplanması: bilimsel; kitapta yok. Ülke halkaları haritanın izdüşümünden (Robinson) hesaplanan yaklaşık konumlardır.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OGM Materyal 'gece ışıkları' çoklu seçimiyle paralel: haritadan ekonomik faaliyetlerin geliştiği ülkeleri seçmek (s. 173, 1. soru).</a:t>
            </a:r>
          </a:p>
          <a:p/>
          <a:p>
            <a:r>
              <a:t>NASIL: Ölçüt: yüksek ışık yoğunluğunun (kırmızı-turuncu) kapladığı ALAN. ABD, Almanya, İngiltere ve Çin'de bu alanlar geniştir. Brezilya'da ışık yalnız güneyde ve güneydoğuda orta (sarı) tondadır; ülkenin büyük bölümü düşük tondadır. Mısır haritada orta-düşük tondadır (yüksek ışık görülmez; Nil boyu çevresindeki çölden yalnız biraz açıktır); en düşük ışık Somali'dedir. 'Karanlık ülke' demeyin: kitabın haritası kaba çözünürlüklüdür. Gerçekte Mısır'ın nüfusu ve ekonomik faaliyetleri büyük ölçüde Nil boyunda toplanmıştır.</a:t>
            </a:r>
          </a:p>
          <a:p/>
          <a:p>
            <a:r>
              <a:t>BEKLENEN CEVAP: Geniş alanda aydınlık: ABD, Almanya, İngiltere, Çin (OGM'nin doğru kabul ettikleri). Kısmen: Brezilya (güneyi ve güneydoğusu orta tonda). Yüksek ışık yok: Mısır (orta-düşük), Somali (en düşük).</a:t>
            </a:r>
          </a:p>
          <a:p/>
          <a:p>
            <a:r>
              <a:t>KAYNAK: Kitap s. 173 1. soru (birebir) ve harita; OGM Materyal etkileşimli uygulama 162 (yedi ülke; doğru = ABD, Almanya, İngiltere, Çin). OGM kaydındaki 'Nil boyu aydınlık' gözlemi kitabın bu baskısındaki haritada doğrulanmadı (harita 600 dpi'de incelendi, renkler lejantla karşılaştırıldı: Nil boyu sarı-yeşil, orta-düşük; Brezilya'nın güneyi ve güneydoğusu sarı, orta). Mısır nüfusunun Nil boyunda toplanması: bilimsel; kitapta yok. Ülke halkaları haritanın izdüşümünden (Robinson) hesaplanan yaklaşık konumlardır.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 173 2. soru: ışığın yoğun ve az olduğu yerlerden ekonomik gelişmişliği etkileyen coğrafi faktörlere genelleme yapmak; 'faktör havuzu'nu başlatmak.</a:t>
            </a:r>
          </a:p>
          <a:p/>
          <a:p>
            <a:r>
              <a:t>NASIL: Soruyu sorun; üç öğrenciden tahmin alın. Söylenen her faktörü tahtanın köşesindeki 'faktör havuzu'na yazın (köprü sorusunda ikiye ayıracağız).</a:t>
            </a:r>
          </a:p>
          <a:p/>
          <a:p>
            <a:r>
              <a:t>BEKLENEN CEVAP: Işığın yoğun olduğu yerler: ılıman orta kuşak (Batı Avrupa, ABD'nin doğusu, Doğu Çin, Türkiye'nin batısı), kıyılar, ovalar ve akarsu boyları — elverişli iklim, düz arazi, su. Işığın az olduğu yerler: çöller (Sahra, Avustralya'nın içi), çok soğuk alanlar (Sibirya), yüksek dağlar (Tibet), sık ormanlar (Amazon) — zor doğal koşullar. Doğal faktörlerin yanında beşerî faktörler de etkilidir.</a:t>
            </a:r>
          </a:p>
          <a:p/>
          <a:p>
            <a:r>
              <a:t>KAYNAK: Kitap s. 173 2. soru (birebir) ve harita (yoğun-az ışıklı alanlar haritanın renginden okundu; etiketlenen her noktanın rengi lejantla karşılaştırıldı). Faktörlerin adları kitap s. 174-175'ten; genelleme: bilimsel, 9. sınıf düzeyi. Etiketler haritanın izdüşümünden hesaplanan yaklaşık yerlerdir.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 173 2. soru: ışığın yoğun ve az olduğu yerlerden ekonomik gelişmişliği etkileyen coğrafi faktörlere genelleme yapmak; 'faktör havuzu'nu başlatmak.</a:t>
            </a:r>
          </a:p>
          <a:p/>
          <a:p>
            <a:r>
              <a:t>NASIL: Haritadaki etiketleri tek tek gösterin: aydınlık yerlerde iklim ılıman, arazi düz, su bol; ışığın az olduğu yerlerde çöl, çok soğuk, yüksek dağ ya da sık orman var. Dikkat: Afrika'da en düşük ton Sahra'nın güneyindeki kuşaktadır; doğal koşulların yanında nüfus ve sermaye gibi beşerî faktörler de etkilidir (29. hafta). Bu cevap s. 176 uygulamasının da ön hazırlığıdır.</a:t>
            </a:r>
          </a:p>
          <a:p/>
          <a:p>
            <a:r>
              <a:t>BEKLENEN CEVAP: Işığın yoğun olduğu yerler: ılıman orta kuşak (Batı Avrupa, ABD'nin doğusu, Doğu Çin, Türkiye'nin batısı), kıyılar, ovalar ve akarsu boyları — elverişli iklim, düz arazi, su. Işığın az olduğu yerler: çöller (Sahra, Avustralya'nın içi), çok soğuk alanlar (Sibirya), yüksek dağlar (Tibet), sık ormanlar (Amazon) — zor doğal koşullar. Doğal faktörlerin yanında beşerî faktörler de etkilidir.</a:t>
            </a:r>
          </a:p>
          <a:p/>
          <a:p>
            <a:r>
              <a:t>KAYNAK: Kitap s. 173 2. soru (birebir) ve harita (yoğun-az ışıklı alanlar haritanın renginden okundu; etiketlenen her noktanın rengi lejantla karşılaştırıldı). Faktörlerin adları kitap s. 174-175'ten; genelleme: bilimsel, 9. sınıf düzeyi. Etiketler haritanın izdüşümünden hesaplanan yaklaşık yerlerdir.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Programın köprü kurma sorusu (s. 173, 3. soru): günlük hayat ile ekonomik faaliyetleri etkileyen coğrafi faktörler arasında bağ kurmak (Girişimcilik: yer seçimi bir yatırım kararıdır).</a:t>
            </a:r>
          </a:p>
          <a:p/>
          <a:p>
            <a:r>
              <a:t>SÜRE: Köprü kurma 6 dk: düşün 1 dk · eşleş 2 dk · paylaş (isim kartıyla 5 ikili) 3 dk.</a:t>
            </a:r>
          </a:p>
          <a:p/>
          <a:p>
            <a:r>
              <a:t>NASIL: Ürünü öğrenci seçer (gıda, giyim, mobilya, otomobil…). 'Verilen harita' gece ışıkları haritasıdır: aydınlık yerler kalabalık nüfusu, ulaşımı ve enerji altyapısını da gösterir. Paylaşılan her faktörü tahtadaki havuza ekleyin ve iki sütuna ayırmaya başlayın: doğadan gelenler / insandan gelenler. Sütunların adını henüz koymayın.</a:t>
            </a:r>
          </a:p>
          <a:p/>
          <a:p>
            <a:r>
              <a:t>BEKLENEN CEVAP: Örnek cevap izleyen slaytta.</a:t>
            </a:r>
          </a:p>
          <a:p/>
          <a:p>
            <a:r>
              <a:t>KAYNAK: Kitap s. 173 3. soru (birebir). Program Köprü Kurma: “Belirlediğiniz bir ürünle ilgili üretim tesisi kuracak olsanız yer seçiminde hangi faktörleri dikkate alırdınız?” (Disiplinler arası: Girişimcilik.)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İki örnek ürünle yer seçimi faktörlerini göstermek; havuzu iki gruba ayırıp adlarını koymak.</a:t>
            </a:r>
          </a:p>
          <a:p/>
          <a:p>
            <a:r>
              <a:t>NASIL: Önce ikililerin cevaplarını havuzla karşılaştırın, sonra açın. Demir-çelik örneği kitaptandır (s. 175). Alttaki iki grubun adını şimdi koyun: doğadan gelenler DOĞAL faktörler, insandan gelenler BEŞERÎ faktörlerdir. 'Bu hafta doğal, gelecek hafta beşerî faktörleri işleyeceğiz.'</a:t>
            </a:r>
          </a:p>
          <a:p/>
          <a:p>
            <a:r>
              <a:t>BEKLENEN CEVAP: Demir-çelik fabrikası: taş kömürüne (enerji kaynağı) ve suya yakınlık, ham madde ve ürün taşımak için liman ve demir yolu, iş gücü. Süt ürünleri fabrikası: hayvancılık yapılan çayır-mera alanlarına yakınlık; ürün çabuk bozulduğundan şehirlere (pazar) ve iyi yollara yakınlık; su ve enerji. Doğal: enerji kaynağı, ham madde, su, düz arazi, iklim · Beşerî: ulaşım, pazar, iş gücü, sermaye, teknoloji, devlet desteği.</a:t>
            </a:r>
          </a:p>
          <a:p/>
          <a:p>
            <a:r>
              <a:t>KAYNAK: Kitap s. 175 (demir-çelik tesisleri taş kömürünün çıkarıldığı alanların yakınında; su kaynakları demir-çelik fabrikalarının kurulmasına zemin; bitki örtüsü hayvancılığı etkiler), s. 177 (beşerî faktörler). Süt ürünlerinin çabuk bozulması ve pazara yakınlık: bilimsel; kitapta yok. Haritadaki aydınlık alanlar: s. 173.</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OGM Materyal kavram-tanım eşleştirmesiyle paralel: ekonomik faaliyet ve üç sürecin tanımları (s. 174).</a:t>
            </a:r>
          </a:p>
          <a:p/>
          <a:p>
            <a:r>
              <a:t>SÜRE: Bu aşama 8 dk: eşleştirme 2 dk · süreç zinciri 2 dk · faktörler 2 dk · yoklama 2 dk.</a:t>
            </a:r>
          </a:p>
          <a:p/>
          <a:p>
            <a:r>
              <a:t>NASIL: Kitaplar kapalı. Öğrenciler mini kâğıda '1-…, 2-…, 3-…, 4-…' yazar (1 dk); iki öğrenciden cevap alın, sonra cevap slaytı.</a:t>
            </a:r>
          </a:p>
          <a:p/>
          <a:p>
            <a:r>
              <a:t>BEKLENEN CEVAP: 1-B (ekonomik faaliyet) · 2-D (üretim) · 3-A (dağıtım) · 4-C (tüketim).</a:t>
            </a:r>
          </a:p>
          <a:p/>
          <a:p>
            <a:r>
              <a:t>KAYNAK: Kitap s. 174 ilk paragraf (tanımlar birebir); OGM Materyal etkileşimli uygulama 159. OGM: tüketim tanımı 'hizmetleri kullanılmasıdır', 'yada', 'hale' yazımlarıyla verilir — sunumda kitabın tanımları birebir.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OGM Materyal kavram-tanım eşleştirmesiyle paralel: ekonomik faaliyet ve üç sürecin tanımları (s. 174).</a:t>
            </a:r>
          </a:p>
          <a:p/>
          <a:p>
            <a:r>
              <a:t>NASIL: Tanımları deftere yazdırın: kitabın ilk paragrafıdır (s. 174). Ön değerlendirmedeki görsellere dönün: tarla, fabrika ve maden ocağı üretim; köprü dağıtım; pazar tüketim.</a:t>
            </a:r>
          </a:p>
          <a:p/>
          <a:p>
            <a:r>
              <a:t>BEKLENEN CEVAP: 1-B (ekonomik faaliyet) · 2-D (üretim) · 3-A (dağıtım) · 4-C (tüketim).</a:t>
            </a:r>
          </a:p>
          <a:p/>
          <a:p>
            <a:r>
              <a:t>KAYNAK: Kitap s. 174 ilk paragraf (tanımlar birebir); OGM Materyal etkileşimli uygulama 159. OGM: tüketim tanımı 'hizmetleri kullanılmasıdır', 'yada', 'hale' yazımlarıyla verilir — sunumda kitabın tanımları birebir.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Ekonomik faaliyetin 'kaynak girdisi → üretim süreci → ürün çıktısı' yapısını ve üç süreci s. 172 görselleriyle bir zincir olarak göstermek.</a:t>
            </a:r>
          </a:p>
          <a:p/>
          <a:p>
            <a:r>
              <a:t>NASIL: Üstteki kitap cümlesini okutun. Zinciri soldan sağa anlatın: madenden çıkan ham madde (kaynak girdisi) fabrikada işlenir (üretim süreci), ortaya bir mal çıkar (ürün çıktısı), ürün taşınır (dağıtım) ve pazarda satın alınıp kullanılır (tüketim). Alttaki kart: ürün çıktısı bir hizmet de olabilir; balon turunda hizmet üretildiği anda tüketilir. Zincir bir örnektir: fotoğraflar aynı ürünün fotoğrafları değildir.</a:t>
            </a:r>
          </a:p>
          <a:p/>
          <a:p>
            <a:r>
              <a:t>KAYNAK: Kitap s. 174: 'Ekonomik faaliyet; kaynak girdisi, üretim süreci ve ürün çıktısı (mal veya hizmet) ile karakterize edilir.' Görseller s. 172. Zincir kurgusu ve hizmetin aynı anda tüketilmesi: bilimsel; kitapta yok.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Faktörlerin iki grubunu (doğal ve beşerî) ve dağılışın karmaşıklığını tanıtmak; haftanın işini (doğal faktörler) çerçevelemek.</a:t>
            </a:r>
          </a:p>
          <a:p/>
          <a:p>
            <a:r>
              <a:t>NASIL: Üstteki iki cümleyi okutun: 'çok değişkenli' = bir yerde birden çok faktör birlikte etkilidir; 'yerelden küresele' = bir fabrikanın yerinden ülkelerin ekonomisine kadar. Kartları gösterin: köprü havuzundaki iki sütun bunlardır. Alttaki cümle ünitenin anahtar fikridir: doğa bazen avantaj sağlar (verimli ova, liman), bazen sınır koyar (çöl, buzul, yüksek dağ).</a:t>
            </a:r>
          </a:p>
          <a:p/>
          <a:p>
            <a:r>
              <a:t>KAYNAK: Kitap s. 174 (ilk paragrafın son iki cümlesi; doğal faktörler giriş cümlesi) ve s. 177 (beşerî faktörler: nüfus, iş gücü, sermaye, teknoloji; s. 177-178 devlet politikaları ve ulaşım).</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bu bölümün temel sonucunu tek soruyla yoklamak.</a:t>
            </a:r>
          </a:p>
          <a:p/>
          <a:p>
            <a:r>
              <a:t>NASIL: Öğrenciler 20 saniye düşünür, parmakla (1-5 = A-E) cevap gösterir; dağılıma bakıp cevap slaytına geçin. Yanlış çoğunluktaysa eşleştirmenin cevap slaytına dönün.</a:t>
            </a:r>
          </a:p>
          <a:p/>
          <a:p>
            <a:r>
              <a:t>BEKLENEN CEVAP: C) Ürünlerin tırlarla pazara taşınması</a:t>
            </a:r>
          </a:p>
          <a:p/>
          <a:p>
            <a:r>
              <a:t>KAYNAK: Kitap s. 174.</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NASIL: Gerekçeyi bir öğrenciye okutun; yanlış seçeneklerden birinin neden yanlış olduğunu sorun.</a:t>
            </a:r>
          </a:p>
          <a:p/>
          <a:p>
            <a:r>
              <a:t>SÖYLENEBİLİR: Üretilen mal ve hizmetlerin bir yerden başka bir yere aktarılması dağıtım olarak adlandırılır. A, B ve D üretim, E tüketim sürecidir.</a:t>
            </a:r>
          </a:p>
          <a:p/>
          <a:p>
            <a:r>
              <a:t>BEKLENEN CEVAP: C) Ürünlerin tırlarla pazara taşınması</a:t>
            </a:r>
          </a:p>
          <a:p/>
          <a:p>
            <a:r>
              <a:t>KAYNAK: Kitap s. 174.</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Programın öğrenme kanıtı KWL: bildiklerini (K) ve merak ettiklerini (W) yazılı hâle getirmek (süreç bileşeni a, SDB1.1).</a:t>
            </a:r>
          </a:p>
          <a:p/>
          <a:p>
            <a:r>
              <a:t>SÜRE: KWL ve soru duvarı 10 dk: form 5 dk (bireysel) · ikili seçim 2 dk · soru duvarı 3 dk.</a:t>
            </a:r>
          </a:p>
          <a:p/>
          <a:p>
            <a:r>
              <a:t>NASIL: KWL formunu dağıtın (isimli; ders sonunda toplanır, 29. haftada geri verilir). Yalnız ilk iki sütun bu hafta doldurulur; 'Ne öğrendim?' sütunu 29. haftadadır. Yazdıklarının doğru ya da yanlış olması önemli değildir.</a:t>
            </a:r>
          </a:p>
          <a:p/>
          <a:p>
            <a:r>
              <a:t>BEKLENEN CEVAP: K: iklim ürünleri etkiler; fabrikalar ulaşımın kolay olduğu yerlere kurulur; doğal güzellikler turizmi geliştirir. W: Japonya'nın ham maddesi az olduğu hâlde sanayisi nasıl gelişti? Çöllerde tarım yapılabilir mi? Bir fabrikanın yeri neye göre seçilir?</a:t>
            </a:r>
          </a:p>
          <a:p/>
          <a:p>
            <a:r>
              <a:t>KAYNAK: Kitap s. 174 KWL yönergesi ve form başlıkları (birebir), s. 182 'Ne öğrendim?'; program Öğrenme Kanıtları (KWL) ve uygulamalar: Öğrencilerden doğal ve beşerî faktörlerin ekonomik faaliyetlere etkileriyle ilgili bildikleri ve merak ettikleri konuları yazılı hâle getirmeleri istenebilir. Örnek cümleler: bilimsel, öğrenci örneği; Japonya: kitap s. 178.</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KWL formu için bir örnek: bildik cümleler ve iyi merak soruları.</a:t>
            </a:r>
          </a:p>
          <a:p/>
          <a:p>
            <a:r>
              <a:t>NASIL: Örnek, formu dolduramayanlar için bir kalıptır; öğrencilerin kendi cümleleri esastır. W'deki ilk sorunun cevabını 29. haftada kitapta bulacağız (s. 178, Japonya örneği).</a:t>
            </a:r>
          </a:p>
          <a:p/>
          <a:p>
            <a:r>
              <a:t>BEKLENEN CEVAP: K: iklim ürünleri etkiler; fabrikalar ulaşımın kolay olduğu yerlere kurulur; doğal güzellikler turizmi geliştirir. W: Japonya'nın ham maddesi az olduğu hâlde sanayisi nasıl gelişti? Çöllerde tarım yapılabilir mi? Bir fabrikanın yeri neye göre seçilir?</a:t>
            </a:r>
          </a:p>
          <a:p/>
          <a:p>
            <a:r>
              <a:t>KAYNAK: Kitap s. 174 KWL yönergesi ve form başlıkları (birebir), s. 182 'Ne öğrendim?'; program Öğrenme Kanıtları (KWL) ve uygulamalar: Öğrencilerden doğal ve beşerî faktörlerin ekonomik faaliyetlere etkileriyle ilgili bildikleri ve merak ettikleri konuları yazılı hâle getirmeleri istenebilir. Örnek cümleler: bilimsel, öğrenci örneği; Japonya: kitap s. 178.</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İkililerin W sütunundan en iyi merak sorusunu seçip soru duvarına asması (süreç bileşeni a: merak ettiği soruları sorar).</a:t>
            </a:r>
          </a:p>
          <a:p/>
          <a:p>
            <a:r>
              <a:t>NASIL: İkililer 2 dakikada en iyi sorularını seçip yapışkan nota yazar; malzeme sorumluları notları soru duvarına tek yönlü yürüyerek asar (3 dk). Formlar ders sonunda toplanır.</a:t>
            </a:r>
          </a:p>
          <a:p/>
          <a:p>
            <a:r>
              <a:t>BEKLENEN CEVAP: Örnek sorular: Neden sanayi tesisleri çoğu zaman kıyılarda toplanır? · Buzullar erirse kutuplarda hangi ekonomik faaliyetler gelişebilir? · Ham maddesi az olan bir ülke nasıl gelişebilir? · Çölde ekonomik faaliyet yapılabilir mi? · Türkiye'nin konumu ticarete nasıl katkı sağlar? · Dağlık bir yerde insanlar nasıl gelir elde eder?</a:t>
            </a:r>
          </a:p>
          <a:p/>
          <a:p>
            <a:r>
              <a:t>KAYNAK: Ders planı 28. hafta 6. aşama (soru duvarı); program zenginleştirme: buzulların erimesi sonucu kutuplarda önemi artabilecek ekonomik faaliyetleri araştırma görevi verilebilir. Örnek sorular: bilimsel, öğrenci örneği.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İyi bir merak sorusu örnekleri; soru duvarı 29. haftada yeniden ele alınacak.</a:t>
            </a:r>
          </a:p>
          <a:p/>
          <a:p>
            <a:r>
              <a:t>NASIL: Örnek notları duvardakilerle karşılaştırın: 'Hangisi tek kelimeyle cevaplanır, hangisi araştırma ister?' İkinci not programın zenginleştirme önerisidir (buzulların erimesi). 29. haftada duvara dönüp hangi soruların cevabını bulduğumuzu tartışacağız (KB3.3).</a:t>
            </a:r>
          </a:p>
          <a:p/>
          <a:p>
            <a:r>
              <a:t>BEKLENEN CEVAP: Örnek sorular: Neden sanayi tesisleri çoğu zaman kıyılarda toplanır? · Buzullar erirse kutuplarda hangi ekonomik faaliyetler gelişebilir? · Ham maddesi az olan bir ülke nasıl gelişebilir? · Çölde ekonomik faaliyet yapılabilir mi? · Türkiye'nin konumu ticarete nasıl katkı sağlar? · Dağlık bir yerde insanlar nasıl gelir elde eder?</a:t>
            </a:r>
          </a:p>
          <a:p/>
          <a:p>
            <a:r>
              <a:t>KAYNAK: Ders planı 28. hafta 6. aşama (soru duvarı); program zenginleştirme: buzulların erimesi sonucu kutuplarda önemi artabilecek ekonomik faaliyetleri araştırma görevi verilebilir. Örnek sorular: bilimsel, öğrenci örneği.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Grup çalışmasına geçiş: rolleri ve kuralları hatırlatmak.</a:t>
            </a:r>
          </a:p>
          <a:p/>
          <a:p>
            <a:r>
              <a:t>SÜRE: Geçiş: 2 dk (esnek).</a:t>
            </a:r>
          </a:p>
          <a:p/>
          <a:p>
            <a:r>
              <a:t>NASIL: Ayağa kalkma molası; sıralar 4'lü adalara çevrilir, malzeme sorumluları grup setlerini alır. Roller her hafta döner; 4 kişilik grupta ilk dört rol, 5 kişilikte kontrolcü de vardır. Malzeme sorumluları bilgi kartını ve s. 176 tablo kopyasını, harita okuyucular atlası alır. Yeni gruplar ilk kez oturduğundan roller tahtada yazılıdır.</a:t>
            </a:r>
          </a:p>
          <a:p/>
          <a:p>
            <a:r>
              <a:t>KAYNAK: Ders planı (34 kişilik sınıf için grup düzeni: 6 × 4 + 2 × 5; sınıf mevcuduna göre uyarlanır).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Grupların uzman okumasını ve bilgi kartını tanıtmak (süreç bileşenleri b bilgi toplar, c düzenler).</a:t>
            </a:r>
          </a:p>
          <a:p/>
          <a:p>
            <a:r>
              <a:t>SÜRE: Bu aşama 13 dk: okuma ve bilgi kartı 5 dk · sözcüler ve slaytlar 8 dk (faktör başına yaklaşık 1 dk; yoklama 1 dk).</a:t>
            </a:r>
          </a:p>
          <a:p/>
          <a:p>
            <a:r>
              <a:t>NASIL: Her grup kendi paragrafını okur ve bilgi kartını doldurur (5 dk). Sonra sırayla faktör slaytlarını açın: o faktörün sözcüsü kartından bir cümle ekler, siz kitap cümlelerini gösterirsiniz. Diğer gruplar yedi faktörü deftere tek tablo hâlinde işler (örnek tablo aşamanın sonunda). 8. grup beş görseli okur. Dolaşımda 5 kişilik gruplarda kontrolcü kartın kaynağını (kitap sayfası) denetler.</a:t>
            </a:r>
          </a:p>
          <a:p/>
          <a:p>
            <a:r>
              <a:t>KAYNAK: Ders planı 28. hafta 8. aşama (yedi faktör, sekiz grup); kitap s. 174-175 (5.1.1). Program: grup çalışması içinde bilgi toplama ve düzenleme (E3.7, OB1).</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Coğrafi konumun ekonomik faaliyetlere etkisi ve kitabın kenar sorusu (D19 Vatanseverlik: Türkiye'nin konum avantajı).</a:t>
            </a:r>
          </a:p>
          <a:p/>
          <a:p>
            <a:r>
              <a:t>NASIL: 1. grubun sözcüsü kartından bir cümle söyler. Kartları okutun; kenar sorusunu sınıfa sorun, iki cevap alın.</a:t>
            </a:r>
          </a:p>
          <a:p/>
          <a:p>
            <a:r>
              <a:t>BEKLENEN CEVAP: Türkiye; petrol ve doğal gazın çıkarıldığı komşu bölgeler ile bu enerjiyi kullanan Avrupa ülkeleri arasında, Asya ile Avrupa'yı bağlayan bir köprü konumundadır. Bu nedenle enerji boru hatları ve tankerlerin geçtiği deniz yolları (Boğazlar) Türkiye'den geçer; Türkiye bir enerji koridoru olmuştur. Bu durum ülkeye gelir, iş imkânı ve stratejik önem kazandırır.</a:t>
            </a:r>
          </a:p>
          <a:p/>
          <a:p>
            <a:r>
              <a:t>KAYNAK: Kitap s. 174 coğrafi konum paragrafı ve kenar sorusu (birebir). Örnek cevap: bilimsel; kitapta yok (ayrıntı ve sayı verilmez).</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Coğrafi konumun ekonomik faaliyetlere etkisi ve kitabın kenar sorusu (D19 Vatanseverlik: Türkiye'nin konum avantajı).</a:t>
            </a:r>
          </a:p>
          <a:p/>
          <a:p>
            <a:r>
              <a:t>NASIL: Örnek cevabı okutun. Belirli bir boru hattı ya da proje adı vermeyin: kitapta yoktur. Vurgu: konum, Türkiye'ye ticarette ve enerji taşımacılığında avantaj sağlar (s. 174).</a:t>
            </a:r>
          </a:p>
          <a:p/>
          <a:p>
            <a:r>
              <a:t>BEKLENEN CEVAP: Türkiye; petrol ve doğal gazın çıkarıldığı komşu bölgeler ile bu enerjiyi kullanan Avrupa ülkeleri arasında, Asya ile Avrupa'yı bağlayan bir köprü konumundadır. Bu nedenle enerji boru hatları ve tankerlerin geçtiği deniz yolları (Boğazlar) Türkiye'den geçer; Türkiye bir enerji koridoru olmuştur. Bu durum ülkeye gelir, iş imkânı ve stratejik önem kazandırır.</a:t>
            </a:r>
          </a:p>
          <a:p/>
          <a:p>
            <a:r>
              <a:t>KAYNAK: Kitap s. 174 coğrafi konum paragrafı ve kenar sorusu (birebir). Örnek cevap: bilimsel; kitapta yok (ayrıntı ve sayı verilmez).</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İklimin tarım, turizm, enerji ve sanayi üzerindeki doğrudan ve dolaylı etkisini Görsel 5.1 ile göstermek.</a:t>
            </a:r>
          </a:p>
          <a:p/>
          <a:p>
            <a:r>
              <a:t>NASIL: 2. grubun sözcüsü kartından bir cümle söyler. Görsel 5.1'i okutun: 'Ananas ile buğdayı ayıran ne? Sıcaklık ve yağış.' 'Doğrudan' ve 'dolaylı' etkiyi ayırın: tarım ürünü ve turizm iklime doğrudan bağlıdır; bazı sanayi kollarının yeri ise dolaylı (ör. ham maddesi iklime bağlı tarım ürünü olan sanayiler).</a:t>
            </a:r>
          </a:p>
          <a:p/>
          <a:p>
            <a:r>
              <a:t>BEKLENEN CEVAP: İklim; tarım ürünlerini ve turizmi doğrudan, bazı sanayi kollarının yerini dolaylı etkiler; güneş, rüzgâr ve suyla çalışan santrallerin verimliliği de iklime bağlıdır.</a:t>
            </a:r>
          </a:p>
          <a:p/>
          <a:p>
            <a:r>
              <a:t>KAYNAK: Kitap s. 174 iklim paragrafı ve Görsel 5.1 (birebir). Dolaylı etkinin örneği: bilimsel; kitapta yok.</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Topoğrafyanın (yükselti, eğim, bakı) tarım arazisi, ulaşım güzergâhı, liman ve turizm üzerindeki etkisi; kenar sorusu: dağlık alanlardaki ekonomik faaliyetler.</a:t>
            </a:r>
          </a:p>
          <a:p/>
          <a:p>
            <a:r>
              <a:t>NASIL: 3. grubun sözcüsü kartından bir cümle söyler. Görsel 5.2: kıyıda düz ve elverişli arazi liman ve sanayiye; Görsel 5.3: ilgi çekici yeryüzü şekli turizme imkân verir. Kenar sorusunu sınıfa sorun, üç cevap alın.</a:t>
            </a:r>
          </a:p>
          <a:p/>
          <a:p>
            <a:r>
              <a:t>BEKLENEN CEVAP: Dağlık alanlarda: yaylalarda mera hayvancılığı ve arıcılık; ormancılık; madencilik; hızlı akan akarsularda hidroelektrik enerji üretimi; kış ve doğa turizmi (kayak, dağcılık, yayla turizmi); eğimli yamaçlarda taraçalarla tarım, engebeli arazide çay tarımı (s. 184).</a:t>
            </a:r>
          </a:p>
          <a:p/>
          <a:p>
            <a:r>
              <a:t>KAYNAK: Kitap s. 175 topoğrafya paragrafı, Görsel 5.2-5.3 ve kenar sorusu (birebir); çay: s. 184 ('engebeli arazilere sahip alanlarda yapılan çay tarımı'). Örnek cevabın diğer maddeleri: bilimsel; kitapta yok.</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Topoğrafyanın (yükselti, eğim, bakı) tarım arazisi, ulaşım güzergâhı, liman ve turizm üzerindeki etkisi; kenar sorusu: dağlık alanlardaki ekonomik faaliyetler.</a:t>
            </a:r>
          </a:p>
          <a:p/>
          <a:p>
            <a:r>
              <a:t>NASIL: Örnek cevapları okutun; Türkiye'den örnek isteyin (yayla turizmi, kış turizmi, yamaçlarda çay). Dağın hem avantaj (turizm, hidroelektrik, mera) hem sınır (tarım arazisi dar, ulaşım zor) olduğunu vurgulayın — s. 174'teki anahtar cümle.</a:t>
            </a:r>
          </a:p>
          <a:p/>
          <a:p>
            <a:r>
              <a:t>BEKLENEN CEVAP: Dağlık alanlarda: yaylalarda mera hayvancılığı ve arıcılık; ormancılık; madencilik; hızlı akan akarsularda hidroelektrik enerji üretimi; kış ve doğa turizmi (kayak, dağcılık, yayla turizmi); eğimli yamaçlarda taraçalarla tarım, engebeli arazide çay tarımı (s. 184).</a:t>
            </a:r>
          </a:p>
          <a:p/>
          <a:p>
            <a:r>
              <a:t>KAYNAK: Kitap s. 175 topoğrafya paragrafı, Görsel 5.2-5.3 ve kenar sorusu (birebir); çay: s. 184 ('engebeli arazilere sahip alanlarda yapılan çay tarımı'). Örnek cevabın diğer maddeleri: bilimsel; kitapta yok.</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Su kaynaklarının 'olmazsa olmaz' olduğu ve 'zemin hazırladığı' ekonomik faaliyetleri ayırmak.</a:t>
            </a:r>
          </a:p>
          <a:p/>
          <a:p>
            <a:r>
              <a:t>NASIL: 4. grubun sözcüsü kartından bir cümle söyler. İki kartı karşılaştırın: balıkçılık ve hidroelektrik su olmadan hiç olmaz; sulama, deniz ulaşımı ve turizmi, nükleer santral ve demir-çelik fabrikası ise suya bağlı olarak gelişir. 'Nükleer santral ve demir-çelik fabrikası neden suya yakın kurulur?' — soğutma ve üretimde çok su kullanılır.</a:t>
            </a:r>
          </a:p>
          <a:p/>
          <a:p>
            <a:r>
              <a:t>BEKLENEN CEVAP: Olmazsa olmaz: balıkçılık, hidroelektrik enerji üretimi. Zemin hazırlar: tarımsal sulama, deniz ulaşımı ve turizmi, nükleer santral ve demir-çelik fabrikası gibi sanayi tesisleri. (Neden suya yakın: soğutma ve üretimde çok su kullanılır.)</a:t>
            </a:r>
          </a:p>
          <a:p/>
          <a:p>
            <a:r>
              <a:t>KAYNAK: Kitap s. 175 su kaynakları paragrafı (birebir). Soğutma suyu: bilimsel; kitapta yok.</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Toprağın tarımın temeli ve bazı sanayi ürünlerinin ham maddesi olduğunu göstermek.</a:t>
            </a:r>
          </a:p>
          <a:p/>
          <a:p>
            <a:r>
              <a:t>NASIL: 5. grubun sözcüsü kartından bir cümle söyler. 'Olumlu veya olumsuz' ifadesine dikkat: verimli toprak üretimi artırır, çok ince, taşlı ya da yıkanmış toprak sınırlar. Görsel 5.4: kil topraktan seramik.</a:t>
            </a:r>
          </a:p>
          <a:p/>
          <a:p>
            <a:r>
              <a:t>BEKLENEN CEVAP: Toprak tarımın temelidir; özellikleri tarımsal üretimi olumlu ya da olumsuz etkiler. Porselen, kiremit, tuğla, seramik gibi sanayi ürünlerinin ham maddesidir.</a:t>
            </a:r>
          </a:p>
          <a:p/>
          <a:p>
            <a:r>
              <a:t>KAYNAK: Kitap s. 175 toprak paragrafı ve Görsel 5.4 (birebir). Toprağın olumsuz özelliklerinin örnekleri: bilimsel; kitapta yok.</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Bitki örtüsünün hayvancılık, orman ürünlerine dayalı sanayi ve turizm üzerindeki etkisi; kenar sorusu: bitki örtüsü ve hayvancılık.</a:t>
            </a:r>
          </a:p>
          <a:p/>
          <a:p>
            <a:r>
              <a:t>NASIL: 6. grubun sözcüsü kartından bir cümle söyler. Görsel 5.5: ormandan kâğıt. Kenar sorusunu sınıfa sorun: 'Koyun nerede, keçi nerede, arı nerede beslenir?'</a:t>
            </a:r>
          </a:p>
          <a:p/>
          <a:p>
            <a:r>
              <a:t>BEKLENEN CEVAP: Çayır ve meralarda büyükbaş (sığır) ve küçükbaş (koyun) hayvancılığı; bozkırlarda koyunculuk; dağlardaki yaylalarda mevsimlik yaylacılık; çalılık ve ormanlık alanlarda keçi yetiştiriciliği; çiçekli bitki örtüsünde arıcılık.</a:t>
            </a:r>
          </a:p>
          <a:p/>
          <a:p>
            <a:r>
              <a:t>KAYNAK: Kitap s. 175 bitki örtüsü paragrafı, Görsel 5.5 ve kenar sorusu (birebir). Örnek cevap: bilimsel; kitapta yok.</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Bitki örtüsünün hayvancılık, orman ürünlerine dayalı sanayi ve turizm üzerindeki etkisi; kenar sorusu: bitki örtüsü ve hayvancılık.</a:t>
            </a:r>
          </a:p>
          <a:p/>
          <a:p>
            <a:r>
              <a:t>NASIL: Her örnekte bitki örtüsü ile hayvanın beslenmesi arasındaki bağı söyletin. Kitaptaki üçüncü cümle (dinlenme, spor, keşif ve inceleme) turizmle bağdır.</a:t>
            </a:r>
          </a:p>
          <a:p/>
          <a:p>
            <a:r>
              <a:t>BEKLENEN CEVAP: Çayır ve meralarda büyükbaş (sığır) ve küçükbaş (koyun) hayvancılığı; bozkırlarda koyunculuk; dağlardaki yaylalarda mevsimlik yaylacılık; çalılık ve ormanlık alanlarda keçi yetiştiriciliği; çiçekli bitki örtüsünde arıcılık.</a:t>
            </a:r>
          </a:p>
          <a:p/>
          <a:p>
            <a:r>
              <a:t>KAYNAK: Kitap s. 175 bitki örtüsü paragrafı, Görsel 5.5 ve kenar sorusu (birebir). Örnek cevap: bilimsel; kitapta yok.</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Madenlerin sanayide ham madde, enerji kaynaklarının sanayi tesislerinin kuruluş yerini belirleyici olduğunu demir-çelik örneğiyle göstermek.</a:t>
            </a:r>
          </a:p>
          <a:p/>
          <a:p>
            <a:r>
              <a:t>NASIL: 7. grubun sözcüsü kartından bir cümle söyler. Zinciri soldan sağa okutun. Çıkış kartının 3. sorusu buradan gelir: 'Demir-çelik tesisleri neden taş kömürüne yakın kurulur?'</a:t>
            </a:r>
          </a:p>
          <a:p/>
          <a:p>
            <a:r>
              <a:t>BEKLENEN CEVAP: Makinelere dayalı üretimde enerji ihtiyacı her geçen gün artar; bu yüzden sanayi tesisleri enerji kaynaklarına yakın kurulur. Örnek: demir-çelik tesisleri taş kömürünün çıkarıldığı alanların yakınında kurulur.</a:t>
            </a:r>
          </a:p>
          <a:p/>
          <a:p>
            <a:r>
              <a:t>KAYNAK: Kitap s. 175 son paragraf (birebir).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8. grubun görevi: kitabın beş görselini 'hangi doğal faktör → hangi ekonomik faaliyet' diye okumak (görsel okuryazarlık; süreç bileşeni c).</a:t>
            </a:r>
          </a:p>
          <a:p/>
          <a:p>
            <a:r>
              <a:t>NASIL: 8. grubun sözcüsü beş görseli tek tek söyler; sınıf onaylar ya da düzeltir.</a:t>
            </a:r>
          </a:p>
          <a:p/>
          <a:p>
            <a:r>
              <a:t>BEKLENEN CEVAP: Görsel 5.1: İklim → Tarım: ananas ve buğday · Görsel 5.2: Topoğrafya (kıyıda elverişli arazi) → Liman, ulaşım ve sanayi · Görsel 5.3: Topoğrafya (ilgi çekici yeryüzü şekli) → Turizm · Görsel 5.4: Toprak → Sanayi: seramik ham maddesi · Görsel 5.5: Bitki örtüsü (orman) → Sanayi: kâğıt ham maddesi</a:t>
            </a:r>
          </a:p>
          <a:p/>
          <a:p>
            <a:r>
              <a:t>KAYNAK: Kitap s. 174-175 Görsel 5.1-5.5 künyeleri ve ilgili paragraflar (faktör-faaliyet bağı kitabın cümlelerinden).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8. grubun görevi: kitabın beş görselini 'hangi doğal faktör → hangi ekonomik faaliyet' diye okumak (görsel okuryazarlık; süreç bileşeni c).</a:t>
            </a:r>
          </a:p>
          <a:p/>
          <a:p>
            <a:r>
              <a:t>NASIL: Görsel 5.2 ile 5.3 aynı faktöre (topoğrafya) bağlıdır ama farklı faaliyetlere: kıyıdaki elverişli arazi liman ve sanayiye, ilgi çekici yeryüzü şekli turizme. Görsel 5.4 ve 5.5 sanayinin ham maddesini doğadan aldığını gösterir.</a:t>
            </a:r>
          </a:p>
          <a:p/>
          <a:p>
            <a:r>
              <a:t>BEKLENEN CEVAP: Görsel 5.1: İklim → Tarım: ananas ve buğday · Görsel 5.2: Topoğrafya (kıyıda elverişli arazi) → Liman, ulaşım ve sanayi · Görsel 5.3: Topoğrafya (ilgi çekici yeryüzü şekli) → Turizm · Görsel 5.4: Toprak → Sanayi: seramik ham maddesi · Görsel 5.5: Bitki örtüsü (orman) → Sanayi: kâğıt ham maddesi</a:t>
            </a:r>
          </a:p>
          <a:p/>
          <a:p>
            <a:r>
              <a:t>KAYNAK: Kitap s. 174-175 Görsel 5.1-5.5 künyeleri ve ilgili paragraflar (faktör-faaliyet bağı kitabın cümlelerinden).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Grupların bilgi kartları için ölçütlü örnek ürün; diğer grupların deftere işleyeceği tek tablo (süreç bileşeni c: düzenler).</a:t>
            </a:r>
          </a:p>
          <a:p/>
          <a:p>
            <a:r>
              <a:t>NASIL: Tabloyu deftere geçirtin (fotoğraf çekilmez). Kontrol ölçütü: her satırda faktör, en az iki faaliyet ve kitaptan bir örnek var mı? Grupların 'sorusu' sütunu tabloya girmez; sorular 29. haftada soru duvarıyla birlikte ele alınır.</a:t>
            </a:r>
          </a:p>
          <a:p/>
          <a:p>
            <a:r>
              <a:t>BEKLENEN CEVAP: Coğrafi konum: ticaret, ulaşım, enerji taşımacılığı · İklim: tarım, turizm, enerji; sanayi (dolaylı) · Topoğrafya: tarım arazisi, ulaşım, liman, turizm · Su: balıkçılık, HES, sulama, deniz ulaşımı ve turizmi, bazı sanayi tesisleri · Toprak: tarım; porselen, kiremit, tuğla · Bitki örtüsü: hayvancılık; kereste, kâğıt, mobilya; dinlenme · Enerji ve maden: sanayi tesislerinin yeri (taş kömürü → demir-çelik).</a:t>
            </a:r>
          </a:p>
          <a:p/>
          <a:p>
            <a:r>
              <a:t>KAYNAK: Kitap s. 174-175 (5.1.1 paragrafları ve Görsel 5.1-5.5). Tablo düzeni: ders planı bilgi kartı. 'Enerji taşımacılığı' kenar sorusundan (s. 174).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bu bölümün temel sonucunu tek soruyla yoklamak.</a:t>
            </a:r>
          </a:p>
          <a:p/>
          <a:p>
            <a:r>
              <a:t>NASIL: Öğrenciler 20 saniye düşünür, parmakla (1-5 = A-E) cevap gösterir; dağılıma bakıp cevap slaytına geçin. Yanlış çoğunluktaysa bilgi kartı tablosuna dönün.</a:t>
            </a:r>
          </a:p>
          <a:p/>
          <a:p>
            <a:r>
              <a:t>BEKLENEN CEVAP: E) İklim — demir-çelik tesisinin taş kömürüne yakınlığı</a:t>
            </a:r>
          </a:p>
          <a:p/>
          <a:p>
            <a:r>
              <a:t>KAYNAK: Kitap s. 174-175.</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NASIL: Gerekçeyi bir öğrenciye okutun; yanlış seçeneklerden birinin neden yanlış olduğunu sorun.</a:t>
            </a:r>
          </a:p>
          <a:p/>
          <a:p>
            <a:r>
              <a:t>SÖYLENEBİLİR: Demir-çelik tesisinin taş kömürüne yakın kurulması ENERJİ KAYNAKLARINA yakınlıktır, iklimle ilgili değildir. Diğer dört eşleştirme kitaptaki cümlelerdir (s. 175).</a:t>
            </a:r>
          </a:p>
          <a:p/>
          <a:p>
            <a:r>
              <a:t>BEKLENEN CEVAP: E) İklim — demir-çelik tesisinin taş kömürüne yakınlığı</a:t>
            </a:r>
          </a:p>
          <a:p/>
          <a:p>
            <a:r>
              <a:t>KAYNAK: Kitap s. 174-175.</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s. 176 uygulamasını ve görev dağılımını tanıtmak: harita okuyarak tarımı sınırlayan doğal faktörleri bulmak ve kanıtıyla tabloya düzenlemek (süreç bileşenleri b-c; OB1, BTYAB5).</a:t>
            </a:r>
          </a:p>
          <a:p/>
          <a:p>
            <a:r>
              <a:t>SÜRE: Uygulama 12 dk: yönerge 1 dk · grup çalışması 9 dk (karekod haritaları tahtada dönüşümlü) · toparlama 2 dk. Paylaşım ve cevaplar 10. aşamada (52-56).</a:t>
            </a:r>
          </a:p>
          <a:p/>
          <a:p>
            <a:r>
              <a:t>NASIL: Yönergeyi okutun. Her grup önce kendi harfini, sonra kalanları kısaca yazar; 8. grup 2. soruyu hazırlar. Tabloda üçüncü bir sütun açtırın: 'Kanıt haritası' (hangi haritadan?). Karekoddaki dört harita öğretmen bilgisayarından etkileşimli tahtada açılır; öğrenci telefonu kullanılmaz. Uygulamanın kitapta Amaç/Beceri künyesi yoktur.</a:t>
            </a:r>
          </a:p>
          <a:p/>
          <a:p>
            <a:r>
              <a:t>KAYNAK: Kitap s. 176 UYGULAMA (yönerge ve iki soru birebir); karekod: 'Dünya fiziki, su kaynakları, iklim türleri ve bitki örtüsü haritaları' (EBA 05_09). OGM Materyal etkileşimli uygulama 160 paraleldir (harf yerleri farklı; sunumda kitabın haritası).</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haritasında a-f yedi yeri bulmak; tarım alanlarının sınırlı olmasının doğal nedenini karekod haritalarıyla gerekçelendirmek. OGM Materyal 'tarım alanları' eşleştirmesiyle paralel (faktör kutusu).</a:t>
            </a:r>
          </a:p>
          <a:p/>
          <a:p>
            <a:r>
              <a:t>NASIL: Harita okuyucular yedi harfi atlasta da bulur. Faktör kutusu, OGM uygulamasındaki gibi bir eşleştirme desteğidir: takılan grup harfini dört faktörden biriyle eşleştirir, sonra kanıtını yazar. Dolaşımda ipucu: 'Önce fiziki haritada yükseltiye, sonra iklim haritasına bak.' Yeşil koyulaştıkça tarım alanı yoğunlaşır; beyaz alanlarda tarım çok azdır.</a:t>
            </a:r>
          </a:p>
          <a:p/>
          <a:p>
            <a:r>
              <a:t>BEKLENEN CEVAP: Örnek cevap 10. aşamanın başında (52-56): a ve d düşük sıcaklık · b ve e yükselti ve eğim · ç ve f kuraklık · c çok sıcak-yağışlı iklim ve sık orman.</a:t>
            </a:r>
          </a:p>
          <a:p/>
          <a:p>
            <a:r>
              <a:t>KAYNAK: Kitap s. 176 harita ve 1. soru (birebir). OGM Materyal 160: OGM kendi haritasını kullanır, harf yerleri kitaptan farklıdır (OGM cevapları: a karasal-sert karasal, b yer şekilleri, ç kurak iklim ve su azlığı …); sunumda KİTABIN haritası ve harfleri esastır.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 176 karekodundaki dört haritayı ve her birinden hangi kanıtın alınacağını tanıtmak (OB1 bilgi okuryazarlığı: kaynağı yazma).</a:t>
            </a:r>
          </a:p>
          <a:p/>
          <a:p>
            <a:r>
              <a:t>NASIL: Dört haritayı öğretmen bilgisayarından etkileşimli tahtada dönüşümlü açın; bu slayt rehberdir. Kanıt yazımı örneği: 'ç → kuraklık (iklim haritası: çöl).' Bitki haritasının lejantında düzen hataları vardır ('Ot Formasyonu' başlığı çöl bitkileri için ikinci kez yazılmış; tundra ile iğne yapraklı orman, muson ormanı ile orta kuşağın karışık ormanı aynı renkte): bu haritayı yalnız orman ile çöl ayrımı için kullanın; iklim türü için iklim haritasına bakın.</a:t>
            </a:r>
          </a:p>
          <a:p/>
          <a:p>
            <a:r>
              <a:t>KAYNAK: Kitabın karekod içeriği (EBA 05_09): Dünya Fiziki Haritası (MSB Harita Genel Müdürlüğü), Kişi Başına Düşen Yıllık Tatlı Su Kaynaklarına Erişim Haritası, Dünya İklim Haritası, Dünya Bitki Haritası.</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EBA iklim haritasında s. 176'daki yedi yerin iklim türünü okumak.</a:t>
            </a:r>
          </a:p>
          <a:p/>
          <a:p>
            <a:r>
              <a:t>NASIL: Harfler kitabın haritasındaki yerlerin bu haritadaki YAKLAŞIK karşılığıdır (iki harita aynı izdüşümdedir). Lejanttaki adlara dikkat: bu harita kitabımızın 3. ünitedeki Harita 3.12'siyle renk renk aynıdır; lejantta 'Tropikal' yazan kırmızı alan kitapta 'ekvatoral iklim', 'Subtropikal' yazan turuncu alan kitapta 'savan iklimi'dir. Öğrencilere kitabın adlarını kullandırın. Grupların takıldığı harfe göre haritayı büyütün.</a:t>
            </a:r>
          </a:p>
          <a:p/>
          <a:p>
            <a:r>
              <a:t>BEKLENEN CEVAP: a ve d: sert karasal (kuzeylerinde tundra) · b: And Dağları'nın 'Dağ' şeridi ve çevresi · c: ekvatoral ile savan iklimlerinin sınırı (sıcak ve yağışlı) · ç ve f: çöl · e: dağ.</a:t>
            </a:r>
          </a:p>
          <a:p/>
          <a:p>
            <a:r>
              <a:t>KAYNAK: Kitabın karekod içeriği (EBA 05_09) Dünya İklim Haritası; kitap 3. ünite Harita 3.12 ve Şema 3.3 (iklim türlerinin adları). İki haritanın aynılığı 04.10.2026'da renk karşılaştırmasıyla doğrulandı.</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EBA su haritasını okumak ve bir ülke ortalaması haritasının sınırını fark etmek (veri okuryazarlığı).</a:t>
            </a:r>
          </a:p>
          <a:p/>
          <a:p>
            <a:r>
              <a:t>NASIL: Kuzey Afrika ülkeleri (ç) en düşük sınıftadır: su en büyük sınırlayıcıdır. Kanada (a) ve Rusya (d) en yüksek sınıflardadır: orada su bol ama sıcaklık yetersiz. Avustralya (f) da yüksek sınıftadır, çünkü harita ÜLKE ORTALAMASIDIR: nüfus az ve kıyılarda toplanmıştır; iç kesimin kuraklığı iklim haritasından okunur. Lejantta birim 'm²/yıl' yazılmıştır; su bir hacimdir, doğrusu m³/yıl. 'Veri olamayan' yazımı da 'veri olmayan' olmalıdır.</a:t>
            </a:r>
          </a:p>
          <a:p/>
          <a:p>
            <a:r>
              <a:t>BEKLENEN CEVAP: ç: kişi başına tatlı su en düşük sınıfta — kuraklık kanıtı. a, d: su bol; sınırlayan sıcaklık. f: ülke ortalaması yüksek; iç kesimin kuraklığı iklim haritasında (çöl).</a:t>
            </a:r>
          </a:p>
          <a:p/>
          <a:p>
            <a:r>
              <a:t>KAYNAK: Kitabın karekod içeriği (EBA 05_09) Kişi Başına Düşen Yıllık Tatlı Su Kaynaklarına Erişim Haritası (lejant sınıfları 0-500-1000-1700-2500-7500-15 000-50 000). Birim düzeltmesi: bilimsel (hacim birimi m³).</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Fiziki haritada b ve e çevresinin yükseltisini, bitki haritasında orman ve çöl alanlarını okumak.</a:t>
            </a:r>
          </a:p>
          <a:p/>
          <a:p>
            <a:r>
              <a:t>NASIL: Soldaki iki kesit Dünya Fiziki Haritası'ndandır: kahverengi koyulaştıkça yükselti artar. b And Dağları'nın doğu eteklerinde, e Tibet Platosu'ndadır (haritada yazılı). Sağdaki bitki haritasında c ekvatoral yağmur ormanında, ç çöl bitkileri alanında, f bozkır ile çöl bitkileri arasındadır. Bitki haritasının lejantı kusurludur (iğne yapraklı orman ile tundra, muson ormanı ile orta kuşağın karışık ormanı aynı renkte; 'Ot Formasyonu' başlığı iki kez): yalnız orman-çöl ayrımı için kullanın.</a:t>
            </a:r>
          </a:p>
          <a:p/>
          <a:p>
            <a:r>
              <a:t>BEKLENEN CEVAP: b ve e: yüksek dağlar ve platolar (yükselti ve eğim). c: ekvatoral yağmur ormanı. ç: çöl bitkileri; f: bozkır ve çöl bitkileri.</a:t>
            </a:r>
          </a:p>
          <a:p/>
          <a:p>
            <a:r>
              <a:t>KAYNAK: Kitabın karekod içeriği (EBA 05_09): Dünya Fiziki Haritası (kesitler 5°G-42°G/88°B-38°B ve 15°K-45°K/65°D-115°D; harfler haritanın enlem-boylam ızgarasına göre yaklaşık) ve Dünya Bitki Haritası ('Ekvatoral yağmur orm.', 'Çöl bitkileri', 'Bozkır'). Harf yerlerindeki renkler lejantla karşılaştırıldı (04.10.2026).</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Grupların cevaplarını ortak tabloda toplamak; kanıt haritasını yazmayı pekiştirmek.</a:t>
            </a:r>
          </a:p>
          <a:p/>
          <a:p>
            <a:r>
              <a:t>SÜRE: Paylaşım 6 dk (esnek): yedi sözcü 30'ar saniye · 8. grup 1 dk · örnek cevaplar. Kısa haftada sözcü sayısı üçe iner ya da paylaşım 29. haftanın girişine taşınır.</a:t>
            </a:r>
          </a:p>
          <a:p/>
          <a:p>
            <a:r>
              <a:t>NASIL: Sözcüler kendi harfini sunarken tahtadaki tabloya yazdırın; sonra slaytı açın, gruplar kendi tablosunu düzeltir. a ve d'de su haritası 'su bol' der: sınırlayan su değil SICAKLIKTIR. Kitabımız sert karasal iklimi ılıman iklimler arasında sayar (3. ünite, Şema 3.3); bu yüzden 'soğuk iklim' değil 'düşük sıcaklık' diyoruz — tundra ise soğuk iklimdir. b'de asıl kanıt fiziki haritadaki yükseltidir (iklim haritasında dağ şeridi b'nin hemen batısındadır). c'de iklim haritası ekvatoral ile savan sınırını gösterir; asıl kanıt bitki haritasındaki yağmur ormanıdır (kitap 3. ünite: Amazon'da yıllık yağış 2.000-4.000 mm). 'Donmuş toprak': kitap 4. ünitedeki permafrost haberi (Kanada'nın kuzeyi, Sibirya).</a:t>
            </a:r>
          </a:p>
          <a:p/>
          <a:p>
            <a:r>
              <a:t>BEKLENEN CEVAP: a: Düşük sıcaklık: kış uzun ve çok soğuk, yetişme dönemi kısa; donmuş topraklar · b: Yükselti ve eğim: dağlık, engebeli arazi; yüksek kesimlerde dağ iklimi · c: Sıcak ve çok yağışlı iklim; sık yağmur ormanı; besince fakir topraklar · ç: Kuraklık: çöl iklimi, yağış ve su kaynakları çok az · d: Düşük sıcaklık: yetişme dönemi kısa; donmuş topraklar · e: Yükselti ve eğim; soğuk yüksek dağ iklimi · f: Kuraklık: çöl iklimi</a:t>
            </a:r>
          </a:p>
          <a:p/>
          <a:p>
            <a:r>
              <a:t>KAYNAK: Kitap s. 176 tablosu; karekod haritaları (EBA 05_09). Kitap 3. ünite: Amazon yağmur ormanlarında yıl boyunca yüksek sıcaklık ve 2.000-4.000 mm yağış; kitap 4. ünite: permafrost (Kanada'nın kuzeyi, Alaska, Sibirya). 'Besince fakir (yağışla yıkanmış) topraklar': bilimsel; kitapta yok. OGM 160: OGM cevapları kendi haritasının harflerine göredir (ör. OGM'de c 'belirgin kuraklık dönemi'); kitabın haritasında c Amazon Havzası'ndadır.</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Yedi yeri dört doğal faktör grubunda haritada görmek (OGM Materyal 160 eşleştirmesinin kitap haritasındaki karşılığı).</a:t>
            </a:r>
          </a:p>
          <a:p/>
          <a:p>
            <a:r>
              <a:t>NASIL: Renkleri sırayla gösterin: 'Tarımı sınırlayan dört doğal faktör: düşük sıcaklık, yükselti ve eğim, kuraklık, aşırı yağış ve sık orman.' Sorun: 'Türkiye'de bu dört sınırlayıcıdan hangileri görülür?' (dağlık alanlar, yer yer kuraklık).</a:t>
            </a:r>
          </a:p>
          <a:p/>
          <a:p>
            <a:r>
              <a:t>BEKLENEN CEVAP: Düşük sıcaklık: a, d · Yükselti ve eğim: b, e · Kuraklık: ç, f · Aşırı yağış ve sık orman: c.</a:t>
            </a:r>
          </a:p>
          <a:p/>
          <a:p>
            <a:r>
              <a:t>KAYNAK: Kitap s. 176 haritası; faktör grupları karekod haritalarından (EBA 05_09). OGM: harf yerleri farklı; kitap haritası esas.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 176 2. soru: tarım alanlarının yoğunlaştığı iklim kuşağı ve gerekçeleri (8. grubun paylaşımı).</a:t>
            </a:r>
          </a:p>
          <a:p/>
          <a:p>
            <a:r>
              <a:t>NASIL: 8. grubun sözcüsü cevabını söyler; sonra açın. Kesik çizgiler 30° ve 60° enlemleridir (haritanın izdüşümünden çizildi): koyu yeşil alanların çoğu iki çizgi arasında. Muson notunu ek bilgi olarak verin: Güney ve Doğu Asya'da yazları sıcak ve yağışlı muson iklimi de yoğun tarıma elverişlidir.</a:t>
            </a:r>
          </a:p>
          <a:p/>
          <a:p>
            <a:r>
              <a:t>BEKLENEN CEVAP: Orta (ılıman) kuşak, 30°-60° enlemleri arası. Gerekçe: sıcaklık ve yağış tarıma elverişli (Akdeniz, okyanusal, ılıman karasal iklimler); dört mevsim belirgin, yetişme dönemi yeterli; geniş ovalar ve düzlükler; akarsular ve su kaynakları; bozkır ve çayır alanlarının verimli toprakları. Ayrıca Güney ve Doğu Asya'nın muson alanları.</a:t>
            </a:r>
          </a:p>
          <a:p/>
          <a:p>
            <a:r>
              <a:t>KAYNAK: Kitap s. 176 2. soru (birebir); kitap 3. ünite İklim Türleri: orta kuşak 30°-60° enlemleri ve ılıman iklimler (Dört mevsimin belirgin olarak yaşandığı orta kuşakta (30°-60° enlemleri)). Ovalar ve akarsular: EBA fiziki harita; bozkır-çayır: EBA bitki haritası; verimli topraklar: bilimsel; kitapta yok. Enlem çizgileri Robinson izdüşümünden hesaplandı.</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bu bölümün temel sonucunu tek soruyla yoklamak.</a:t>
            </a:r>
          </a:p>
          <a:p/>
          <a:p>
            <a:r>
              <a:t>NASIL: Öğrenciler 20 saniye düşünür, parmakla (1-5 = A-E) cevap gösterir; dağılıma bakıp cevap slaytına geçin. Yanlış çoğunluktaysa iklim haritasına dönün.</a:t>
            </a:r>
          </a:p>
          <a:p/>
          <a:p>
            <a:r>
              <a:t>BEKLENEN CEVAP: B) Kuraklık: çöl iklimi</a:t>
            </a:r>
          </a:p>
          <a:p/>
          <a:p>
            <a:r>
              <a:t>KAYNAK: Kitap s. 176 haritası; kitabın karekod içeriği (EBA 05_09) iklim haritası.</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NASIL: Gerekçeyi bir öğrenciye okutun; yanlış seçeneklerden birinin neden yanlış olduğunu sorun.</a:t>
            </a:r>
          </a:p>
          <a:p/>
          <a:p>
            <a:r>
              <a:t>SÖYLENEBİLİR: İki yer de çöl iklimindedir (EBA iklim haritası); yağış ve su azdır. C ve E soğuk alanların (a, d), A dağların (b, e), D ise c'nin özelliğidir.</a:t>
            </a:r>
          </a:p>
          <a:p/>
          <a:p>
            <a:r>
              <a:t>BEKLENEN CEVAP: B) Kuraklık: çöl iklimi</a:t>
            </a:r>
          </a:p>
          <a:p/>
          <a:p>
            <a:r>
              <a:t>KAYNAK: Kitap s. 176 haritası; kitabın karekod içeriği (EBA 05_09) iklim haritası.</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bu bölümün temel sonucunu tek soruyla yoklamak.</a:t>
            </a:r>
          </a:p>
          <a:p/>
          <a:p>
            <a:r>
              <a:t>SÜRE: Toparlama 7 dk: yoklama 1 dk · faktör havuzu 1 dk · çıkış kartı 3 dk · ev ve hatırlatma 2 dk.</a:t>
            </a:r>
          </a:p>
          <a:p/>
          <a:p>
            <a:r>
              <a:t>NASIL: Öğrenciler 20 saniye düşünür, parmakla (1-5 = A-E) cevap gösterir; dağılıma bakıp cevap slaytına geçin. Toparlamanın başında. Yanlış seçenekleri bugünkü örneklerle çürütün: madenler sanayiyi, şelale turizmi etkiler; faktörler yerelden küresele değişir.</a:t>
            </a:r>
          </a:p>
          <a:p/>
          <a:p>
            <a:r>
              <a:t>BEKLENEN CEVAP: B) Kimi zaman avantaj sağlar, kimi zaman sınır koyar.</a:t>
            </a:r>
          </a:p>
          <a:p/>
          <a:p>
            <a:r>
              <a:t>KAYNAK: Kitap s. 174.</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NASIL: Gerekçeyi bir öğrenciye okutun; yanlış seçeneklerden birinin neden yanlış olduğunu sorun.</a:t>
            </a:r>
          </a:p>
          <a:p/>
          <a:p>
            <a:r>
              <a:t>SÖYLENEBİLİR: Doğal faktörler, ekonomik faaliyetler için kimi zaman avantaj sağlarken kimi zaman da bu faaliyetlerin sınırlarının belirlenmesinde temel oluşturmaktadır.</a:t>
            </a:r>
          </a:p>
          <a:p/>
          <a:p>
            <a:r>
              <a:t>BEKLENEN CEVAP: B) Kimi zaman avantaj sağlar, kimi zaman sınır koyar.</a:t>
            </a:r>
          </a:p>
          <a:p/>
          <a:p>
            <a:r>
              <a:t>KAYNAK: Kitap s. 174.</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Köprü sorusundaki faktör havuzuna dönüp doğal faktörleri kapatmak, beşerî faktörlere köprü kurmak.</a:t>
            </a:r>
          </a:p>
          <a:p/>
          <a:p>
            <a:r>
              <a:t>NASIL: Tahtadaki havuzda doğal olanları işaretletin. Sağdaki sütunu gösterin: 'Fabrikanın yerini seçerken söylediğiniz ulaşım, iş gücü, pazar gibi faktörler beşerî faktörlerdir; gelecek hafta TEKNOSAB örneğiyle işleyeceğiz.'</a:t>
            </a:r>
          </a:p>
          <a:p/>
          <a:p>
            <a:r>
              <a:t>KAYNAK: Kitap s. 174-175 (yedi doğal faktör), s. 177-178 (beşerî faktörler); ders planı 28. hafta 11. aşama.</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Haftanın üç çıkış sorusu (ders planı).</a:t>
            </a:r>
          </a:p>
          <a:p/>
          <a:p>
            <a:r>
              <a:t>NASIL: Öğrenciler kâğıda yazar (3 dk); yazıcılar kartları ve KWL formlarını toplar. Kartlar P2 katılım gözlemine işlenir.</a:t>
            </a:r>
          </a:p>
          <a:p/>
          <a:p>
            <a:r>
              <a:t>BEKLENEN CEVAP: 1) üretim (tarla, fabrika, maden ocağı), dağıtım (köprü — taşıma/ulaşım), tüketim (pazar yeri); balon turizmi için gerekçeli eşleme kabul edilir. · 2) düşük sıcaklık (a, d), kuraklık (ç, f), yükselti ve eğim (b, e) ya da aşırı yağış ve sık orman (c) türünden gerekçeli bir cevap. · 3) üretimin yoğun enerji gerektirmesi; enerji kaynağına yakınlığın kuruluş yerini belirlemesi (s. 175).</a:t>
            </a:r>
          </a:p>
          <a:p/>
          <a:p>
            <a:r>
              <a:t>KAYNAK: Ders planı 28. hafta ölçme bölümü; kitap s. 172-176.</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Ev çalışmasını ve performans görevi ön hazırlığını duyurmak.</a:t>
            </a:r>
          </a:p>
          <a:p/>
          <a:p>
            <a:r>
              <a:t>NASIL: Tahtaya da yazın. Çalışma planında: diyagramda kullanılacak faktörler, kitaptan seçilen görsel ve harita numaraları, kaynak listesi. Kitaptaki 'A4 kâğıdı ve yapıştırıcı getiriniz' cümlesi uygulanmaz: malzemeyi okul sağlar (veliye mali yük yok); öğrenciden fotoğraf istenmez. İsteyen öğrenci KWL 'W' sorusu için EBA/MEBİ'de ön bilgi toplar (evde bilgisayar ya da okul kütüphanesi; telefon gerekmez). Coğrafyadan proje alan öğrencilere teslimin gelecek hafta (nisanın son haftası) olduğunu hatırlatın.</a:t>
            </a:r>
          </a:p>
          <a:p/>
          <a:p>
            <a:r>
              <a:t>KAYNAK: Ders planı 28. hafta ev çalışması (COG9-CK-U5 Bölüm 1, 1-6); kitap s. 174-175 kenar soruları, s. 177-178, s. 183 performans görevi (1. adım birebir).</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Kaynak gösterimi — 5846 sayılı Kanun md. 34 eğitim amaçlı seçme ve toplama eserlerde eserin ve eser sahibinin adının belirtilmesini ister. Derste gösterilmesi gerekmez; dosyayı paylaşırken bu slaytı silmeyin.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tr-TR" smtClean="0"/>
              <a:t>Click to edit Master title style</a:t>
            </a:r>
            <a:endParaRPr lang="tr-TR"/>
          </a:p>
        </p:txBody>
      </p:sp>
      <p:sp>
        <p:nvSpPr>
          <p:cNvPr id="3" name="Subtitle 2"/>
          <p:cNvSpPr>
            <a:spLocks noGrp="1"/>
          </p:cNvSpPr>
          <p:nvPr>
            <p:ph type="subTitle" idx="1"/>
          </p:nvPr>
        </p:nvSpPr>
        <p:spPr>
          <a:xfrm>
            <a:off x="1371600" y="3886200"/>
            <a:ext cx="6400800" cy="1752600"/>
          </a:xfrm>
        </p:spPr>
        <p:txBody>
          <a:bodyPr/>
          <a:lstStyle>
            <a:lvl1pPr marL="0" indent="0" algn="ctr">
              <a:buNone/>
              <a:defRPr lang="tr-TR">
                <a:solidFill>
                  <a:schemeClr val="tx1">
                    <a:tint val="75000"/>
                  </a:schemeClr>
                </a:solidFill>
              </a:defRPr>
            </a:lvl1pPr>
            <a:lvl2pPr marL="457200" indent="0" algn="ctr">
              <a:buNone/>
              <a:defRPr lang="tr-TR">
                <a:solidFill>
                  <a:schemeClr val="tx1">
                    <a:tint val="75000"/>
                  </a:schemeClr>
                </a:solidFill>
              </a:defRPr>
            </a:lvl2pPr>
            <a:lvl3pPr marL="914400" indent="0" algn="ctr">
              <a:buNone/>
              <a:defRPr lang="tr-TR">
                <a:solidFill>
                  <a:schemeClr val="tx1">
                    <a:tint val="75000"/>
                  </a:schemeClr>
                </a:solidFill>
              </a:defRPr>
            </a:lvl3pPr>
            <a:lvl4pPr marL="1371600" indent="0" algn="ctr">
              <a:buNone/>
              <a:defRPr lang="tr-TR">
                <a:solidFill>
                  <a:schemeClr val="tx1">
                    <a:tint val="75000"/>
                  </a:schemeClr>
                </a:solidFill>
              </a:defRPr>
            </a:lvl4pPr>
            <a:lvl5pPr marL="1828800" indent="0" algn="ctr">
              <a:buNone/>
              <a:defRPr lang="tr-TR">
                <a:solidFill>
                  <a:schemeClr val="tx1">
                    <a:tint val="75000"/>
                  </a:schemeClr>
                </a:solidFill>
              </a:defRPr>
            </a:lvl5pPr>
            <a:lvl6pPr marL="2286000" indent="0" algn="ctr">
              <a:buNone/>
              <a:defRPr lang="tr-TR">
                <a:solidFill>
                  <a:schemeClr val="tx1">
                    <a:tint val="75000"/>
                  </a:schemeClr>
                </a:solidFill>
              </a:defRPr>
            </a:lvl6pPr>
            <a:lvl7pPr marL="2743200" indent="0" algn="ctr">
              <a:buNone/>
              <a:defRPr lang="tr-TR">
                <a:solidFill>
                  <a:schemeClr val="tx1">
                    <a:tint val="75000"/>
                  </a:schemeClr>
                </a:solidFill>
              </a:defRPr>
            </a:lvl7pPr>
            <a:lvl8pPr marL="3200400" indent="0" algn="ctr">
              <a:buNone/>
              <a:defRPr lang="tr-TR">
                <a:solidFill>
                  <a:schemeClr val="tx1">
                    <a:tint val="75000"/>
                  </a:schemeClr>
                </a:solidFill>
              </a:defRPr>
            </a:lvl8pPr>
            <a:lvl9pPr marL="3657600" indent="0" algn="ctr">
              <a:buNone/>
              <a:defRPr lang="tr-TR">
                <a:solidFill>
                  <a:schemeClr val="tx1">
                    <a:tint val="75000"/>
                  </a:schemeClr>
                </a:solidFill>
              </a:defRPr>
            </a:lvl9pPr>
          </a:lstStyle>
          <a:p>
            <a:r>
              <a:rPr lang="tr-TR" smtClean="0"/>
              <a:t>Click to edit Master subtitle style</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Content Placeholder 2"/>
          <p:cNvSpPr>
            <a:spLocks noGrp="1"/>
          </p:cNvSpPr>
          <p:nvPr>
            <p:ph idx="1"/>
          </p:nvPr>
        </p:nvSpPr>
        <p:spPr/>
        <p:txBody>
          <a:body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lang="tr-TR" sz="4000" b="1" cap="all"/>
            </a:lvl1pPr>
          </a:lstStyle>
          <a:p>
            <a:r>
              <a:rPr lang="tr-TR" smtClean="0"/>
              <a:t>Click to edit Master title style</a:t>
            </a:r>
            <a:endParaRPr lang="tr-TR"/>
          </a:p>
        </p:txBody>
      </p:sp>
      <p:sp>
        <p:nvSpPr>
          <p:cNvPr id="3" name="Text Placeholder 2"/>
          <p:cNvSpPr>
            <a:spLocks noGrp="1"/>
          </p:cNvSpPr>
          <p:nvPr>
            <p:ph type="body" idx="1"/>
          </p:nvPr>
        </p:nvSpPr>
        <p:spPr>
          <a:xfrm>
            <a:off x="722313" y="2906713"/>
            <a:ext cx="7772400" cy="1500187"/>
          </a:xfrm>
        </p:spPr>
        <p:txBody>
          <a:bodyPr anchor="b"/>
          <a:lstStyle>
            <a:lvl1pPr marL="0" indent="0">
              <a:buNone/>
              <a:defRPr lang="tr-TR" sz="2000">
                <a:solidFill>
                  <a:schemeClr val="tx1">
                    <a:tint val="75000"/>
                  </a:schemeClr>
                </a:solidFill>
              </a:defRPr>
            </a:lvl1pPr>
            <a:lvl2pPr marL="457200" indent="0">
              <a:buNone/>
              <a:defRPr lang="tr-TR" sz="1800">
                <a:solidFill>
                  <a:schemeClr val="tx1">
                    <a:tint val="75000"/>
                  </a:schemeClr>
                </a:solidFill>
              </a:defRPr>
            </a:lvl2pPr>
            <a:lvl3pPr marL="914400" indent="0">
              <a:buNone/>
              <a:defRPr lang="tr-TR" sz="1600">
                <a:solidFill>
                  <a:schemeClr val="tx1">
                    <a:tint val="75000"/>
                  </a:schemeClr>
                </a:solidFill>
              </a:defRPr>
            </a:lvl3pPr>
            <a:lvl4pPr marL="1371600" indent="0">
              <a:buNone/>
              <a:defRPr lang="tr-TR" sz="1400">
                <a:solidFill>
                  <a:schemeClr val="tx1">
                    <a:tint val="75000"/>
                  </a:schemeClr>
                </a:solidFill>
              </a:defRPr>
            </a:lvl4pPr>
            <a:lvl5pPr marL="1828800" indent="0">
              <a:buNone/>
              <a:defRPr lang="tr-TR" sz="1400">
                <a:solidFill>
                  <a:schemeClr val="tx1">
                    <a:tint val="75000"/>
                  </a:schemeClr>
                </a:solidFill>
              </a:defRPr>
            </a:lvl5pPr>
            <a:lvl6pPr marL="2286000" indent="0">
              <a:buNone/>
              <a:defRPr lang="tr-TR" sz="1400">
                <a:solidFill>
                  <a:schemeClr val="tx1">
                    <a:tint val="75000"/>
                  </a:schemeClr>
                </a:solidFill>
              </a:defRPr>
            </a:lvl6pPr>
            <a:lvl7pPr marL="2743200" indent="0">
              <a:buNone/>
              <a:defRPr lang="tr-TR" sz="1400">
                <a:solidFill>
                  <a:schemeClr val="tx1">
                    <a:tint val="75000"/>
                  </a:schemeClr>
                </a:solidFill>
              </a:defRPr>
            </a:lvl7pPr>
            <a:lvl8pPr marL="3200400" indent="0">
              <a:buNone/>
              <a:defRPr lang="tr-TR" sz="1400">
                <a:solidFill>
                  <a:schemeClr val="tx1">
                    <a:tint val="75000"/>
                  </a:schemeClr>
                </a:solidFill>
              </a:defRPr>
            </a:lvl8pPr>
            <a:lvl9pPr marL="3657600" indent="0">
              <a:buNone/>
              <a:defRPr lang="tr-TR" sz="1400">
                <a:solidFill>
                  <a:schemeClr val="tx1">
                    <a:tint val="75000"/>
                  </a:schemeClr>
                </a:solidFill>
              </a:defRPr>
            </a:lvl9pPr>
          </a:lstStyle>
          <a:p>
            <a:pPr lvl="0"/>
            <a:r>
              <a:rPr lang="tr-TR"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Content Placeholder 2"/>
          <p:cNvSpPr>
            <a:spLocks noGrp="1"/>
          </p:cNvSpPr>
          <p:nvPr>
            <p:ph sz="half" idx="1"/>
          </p:nvPr>
        </p:nvSpPr>
        <p:spPr>
          <a:xfrm>
            <a:off x="457200" y="1600200"/>
            <a:ext cx="4038600" cy="4525963"/>
          </a:xfrm>
        </p:spPr>
        <p:txBody>
          <a:bodyPr/>
          <a:lstStyle>
            <a:lvl1pPr>
              <a:defRPr lang="tr-TR" sz="2800"/>
            </a:lvl1pPr>
            <a:lvl2pPr>
              <a:defRPr lang="tr-TR" sz="2400"/>
            </a:lvl2pPr>
            <a:lvl3pPr>
              <a:defRPr lang="tr-TR" sz="2000"/>
            </a:lvl3pPr>
            <a:lvl4pPr>
              <a:defRPr lang="tr-TR" sz="1800"/>
            </a:lvl4pPr>
            <a:lvl5pPr>
              <a:defRPr lang="tr-TR" sz="1800"/>
            </a:lvl5pPr>
            <a:lvl6pPr>
              <a:defRPr lang="tr-TR" sz="1800"/>
            </a:lvl6pPr>
            <a:lvl7pPr>
              <a:defRPr lang="tr-TR" sz="1800"/>
            </a:lvl7pPr>
            <a:lvl8pPr>
              <a:defRPr lang="tr-TR" sz="1800"/>
            </a:lvl8pPr>
            <a:lvl9pPr>
              <a:defRPr lang="tr-TR" sz="18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Content Placeholder 3"/>
          <p:cNvSpPr>
            <a:spLocks noGrp="1"/>
          </p:cNvSpPr>
          <p:nvPr>
            <p:ph sz="half" idx="2"/>
          </p:nvPr>
        </p:nvSpPr>
        <p:spPr>
          <a:xfrm>
            <a:off x="4648200" y="1600200"/>
            <a:ext cx="4038600" cy="4525963"/>
          </a:xfrm>
        </p:spPr>
        <p:txBody>
          <a:bodyPr/>
          <a:lstStyle>
            <a:lvl1pPr>
              <a:defRPr lang="tr-TR" sz="2800"/>
            </a:lvl1pPr>
            <a:lvl2pPr>
              <a:defRPr lang="tr-TR" sz="2400"/>
            </a:lvl2pPr>
            <a:lvl3pPr>
              <a:defRPr lang="tr-TR" sz="2000"/>
            </a:lvl3pPr>
            <a:lvl4pPr>
              <a:defRPr lang="tr-TR" sz="1800"/>
            </a:lvl4pPr>
            <a:lvl5pPr>
              <a:defRPr lang="tr-TR" sz="1800"/>
            </a:lvl5pPr>
            <a:lvl6pPr>
              <a:defRPr lang="tr-TR" sz="1800"/>
            </a:lvl6pPr>
            <a:lvl7pPr>
              <a:defRPr lang="tr-TR" sz="1800"/>
            </a:lvl7pPr>
            <a:lvl8pPr>
              <a:defRPr lang="tr-TR" sz="1800"/>
            </a:lvl8pPr>
            <a:lvl9pPr>
              <a:defRPr lang="tr-TR" sz="18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lang="tr-TR"/>
            </a:lvl1pPr>
          </a:lstStyle>
          <a:p>
            <a:r>
              <a:rPr lang="tr-TR" smtClean="0"/>
              <a:t>Click to edit Master title style</a:t>
            </a:r>
            <a:endParaRPr lang="tr-TR"/>
          </a:p>
        </p:txBody>
      </p:sp>
      <p:sp>
        <p:nvSpPr>
          <p:cNvPr id="3" name="Text Placeholder 2"/>
          <p:cNvSpPr>
            <a:spLocks noGrp="1"/>
          </p:cNvSpPr>
          <p:nvPr>
            <p:ph type="body" idx="1"/>
          </p:nvPr>
        </p:nvSpPr>
        <p:spPr>
          <a:xfrm>
            <a:off x="457200" y="1535113"/>
            <a:ext cx="4040188" cy="639762"/>
          </a:xfrm>
        </p:spPr>
        <p:txBody>
          <a:bodyPr anchor="b"/>
          <a:lstStyle>
            <a:lvl1pPr marL="0" indent="0">
              <a:buNone/>
              <a:defRPr lang="tr-TR" sz="2400" b="1"/>
            </a:lvl1pPr>
            <a:lvl2pPr marL="457200" indent="0">
              <a:buNone/>
              <a:defRPr lang="tr-TR" sz="2000" b="1"/>
            </a:lvl2pPr>
            <a:lvl3pPr marL="914400" indent="0">
              <a:buNone/>
              <a:defRPr lang="tr-TR" sz="1800" b="1"/>
            </a:lvl3pPr>
            <a:lvl4pPr marL="1371600" indent="0">
              <a:buNone/>
              <a:defRPr lang="tr-TR" sz="1600" b="1"/>
            </a:lvl4pPr>
            <a:lvl5pPr marL="1828800" indent="0">
              <a:buNone/>
              <a:defRPr lang="tr-TR" sz="1600" b="1"/>
            </a:lvl5pPr>
            <a:lvl6pPr marL="2286000" indent="0">
              <a:buNone/>
              <a:defRPr lang="tr-TR" sz="1600" b="1"/>
            </a:lvl6pPr>
            <a:lvl7pPr marL="2743200" indent="0">
              <a:buNone/>
              <a:defRPr lang="tr-TR" sz="1600" b="1"/>
            </a:lvl7pPr>
            <a:lvl8pPr marL="3200400" indent="0">
              <a:buNone/>
              <a:defRPr lang="tr-TR" sz="1600" b="1"/>
            </a:lvl8pPr>
            <a:lvl9pPr marL="3657600" indent="0">
              <a:buNone/>
              <a:defRPr lang="tr-TR" sz="1600" b="1"/>
            </a:lvl9pPr>
          </a:lstStyle>
          <a:p>
            <a:pPr lvl="0"/>
            <a:r>
              <a:rPr lang="tr-TR"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lang="tr-TR" sz="2400"/>
            </a:lvl1pPr>
            <a:lvl2pPr>
              <a:defRPr lang="tr-TR" sz="2000"/>
            </a:lvl2pPr>
            <a:lvl3pPr>
              <a:defRPr lang="tr-TR" sz="1800"/>
            </a:lvl3pPr>
            <a:lvl4pPr>
              <a:defRPr lang="tr-TR" sz="1600"/>
            </a:lvl4pPr>
            <a:lvl5pPr>
              <a:defRPr lang="tr-TR" sz="1600"/>
            </a:lvl5pPr>
            <a:lvl6pPr>
              <a:defRPr lang="tr-TR" sz="1600"/>
            </a:lvl6pPr>
            <a:lvl7pPr>
              <a:defRPr lang="tr-TR" sz="1600"/>
            </a:lvl7pPr>
            <a:lvl8pPr>
              <a:defRPr lang="tr-TR" sz="1600"/>
            </a:lvl8pPr>
            <a:lvl9pPr>
              <a:defRPr lang="tr-TR" sz="16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lang="tr-TR" sz="2400" b="1"/>
            </a:lvl1pPr>
            <a:lvl2pPr marL="457200" indent="0">
              <a:buNone/>
              <a:defRPr lang="tr-TR" sz="2000" b="1"/>
            </a:lvl2pPr>
            <a:lvl3pPr marL="914400" indent="0">
              <a:buNone/>
              <a:defRPr lang="tr-TR" sz="1800" b="1"/>
            </a:lvl3pPr>
            <a:lvl4pPr marL="1371600" indent="0">
              <a:buNone/>
              <a:defRPr lang="tr-TR" sz="1600" b="1"/>
            </a:lvl4pPr>
            <a:lvl5pPr marL="1828800" indent="0">
              <a:buNone/>
              <a:defRPr lang="tr-TR" sz="1600" b="1"/>
            </a:lvl5pPr>
            <a:lvl6pPr marL="2286000" indent="0">
              <a:buNone/>
              <a:defRPr lang="tr-TR" sz="1600" b="1"/>
            </a:lvl6pPr>
            <a:lvl7pPr marL="2743200" indent="0">
              <a:buNone/>
              <a:defRPr lang="tr-TR" sz="1600" b="1"/>
            </a:lvl7pPr>
            <a:lvl8pPr marL="3200400" indent="0">
              <a:buNone/>
              <a:defRPr lang="tr-TR" sz="1600" b="1"/>
            </a:lvl8pPr>
            <a:lvl9pPr marL="3657600" indent="0">
              <a:buNone/>
              <a:defRPr lang="tr-TR" sz="1600" b="1"/>
            </a:lvl9pPr>
          </a:lstStyle>
          <a:p>
            <a:pPr lvl="0"/>
            <a:r>
              <a:rPr lang="tr-TR"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lang="tr-TR" sz="2400"/>
            </a:lvl1pPr>
            <a:lvl2pPr>
              <a:defRPr lang="tr-TR" sz="2000"/>
            </a:lvl2pPr>
            <a:lvl3pPr>
              <a:defRPr lang="tr-TR" sz="1800"/>
            </a:lvl3pPr>
            <a:lvl4pPr>
              <a:defRPr lang="tr-TR" sz="1600"/>
            </a:lvl4pPr>
            <a:lvl5pPr>
              <a:defRPr lang="tr-TR" sz="1600"/>
            </a:lvl5pPr>
            <a:lvl6pPr>
              <a:defRPr lang="tr-TR" sz="1600"/>
            </a:lvl6pPr>
            <a:lvl7pPr>
              <a:defRPr lang="tr-TR" sz="1600"/>
            </a:lvl7pPr>
            <a:lvl8pPr>
              <a:defRPr lang="tr-TR" sz="1600"/>
            </a:lvl8pPr>
            <a:lvl9pPr>
              <a:defRPr lang="tr-TR" sz="16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7" name="Date Placeholder 6"/>
          <p:cNvSpPr>
            <a:spLocks noGrp="1"/>
          </p:cNvSpPr>
          <p:nvPr>
            <p:ph type="dt" sz="half" idx="10"/>
          </p:nvPr>
        </p:nvSpPr>
        <p:spPr/>
        <p:txBody>
          <a:bodyPr/>
          <a:lstStyle/>
          <a:p>
            <a:fld id="{5BCAD085-E8A6-8845-BD4E-CB4CCA059FC4}" type="datetimeFigureOut">
              <a:rPr lang="tr-TR" smtClean="0"/>
              <a:t>1/27/13</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Date Placeholder 2"/>
          <p:cNvSpPr>
            <a:spLocks noGrp="1"/>
          </p:cNvSpPr>
          <p:nvPr>
            <p:ph type="dt" sz="half" idx="10"/>
          </p:nvPr>
        </p:nvSpPr>
        <p:spPr/>
        <p:txBody>
          <a:bodyPr/>
          <a:lstStyle/>
          <a:p>
            <a:fld id="{5BCAD085-E8A6-8845-BD4E-CB4CCA059FC4}" type="datetimeFigureOut">
              <a:rPr lang="tr-TR" smtClean="0"/>
              <a:t>1/27/13</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lang="tr-TR" sz="2000" b="1"/>
            </a:lvl1pPr>
          </a:lstStyle>
          <a:p>
            <a:r>
              <a:rPr lang="tr-TR" smtClean="0"/>
              <a:t>Click to edit Master title style</a:t>
            </a:r>
            <a:endParaRPr lang="tr-TR"/>
          </a:p>
        </p:txBody>
      </p:sp>
      <p:sp>
        <p:nvSpPr>
          <p:cNvPr id="3" name="Content Placeholder 2"/>
          <p:cNvSpPr>
            <a:spLocks noGrp="1"/>
          </p:cNvSpPr>
          <p:nvPr>
            <p:ph idx="1"/>
          </p:nvPr>
        </p:nvSpPr>
        <p:spPr>
          <a:xfrm>
            <a:off x="3575050" y="273050"/>
            <a:ext cx="5111750" cy="5853113"/>
          </a:xfrm>
        </p:spPr>
        <p:txBody>
          <a:bodyPr/>
          <a:lstStyle>
            <a:lvl1pPr>
              <a:defRPr lang="tr-TR" sz="3200"/>
            </a:lvl1pPr>
            <a:lvl2pPr>
              <a:defRPr lang="tr-TR" sz="2800"/>
            </a:lvl2pPr>
            <a:lvl3pPr>
              <a:defRPr lang="tr-TR" sz="2400"/>
            </a:lvl3pPr>
            <a:lvl4pPr>
              <a:defRPr lang="tr-TR" sz="2000"/>
            </a:lvl4pPr>
            <a:lvl5pPr>
              <a:defRPr lang="tr-TR" sz="2000"/>
            </a:lvl5pPr>
            <a:lvl6pPr>
              <a:defRPr lang="tr-TR" sz="2000"/>
            </a:lvl6pPr>
            <a:lvl7pPr>
              <a:defRPr lang="tr-TR" sz="2000"/>
            </a:lvl7pPr>
            <a:lvl8pPr>
              <a:defRPr lang="tr-TR" sz="2000"/>
            </a:lvl8pPr>
            <a:lvl9pPr>
              <a:defRPr lang="tr-TR" sz="20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Text Placeholder 3"/>
          <p:cNvSpPr>
            <a:spLocks noGrp="1"/>
          </p:cNvSpPr>
          <p:nvPr>
            <p:ph type="body" sz="half" idx="2"/>
          </p:nvPr>
        </p:nvSpPr>
        <p:spPr>
          <a:xfrm>
            <a:off x="457200" y="1435100"/>
            <a:ext cx="3008313" cy="4691063"/>
          </a:xfrm>
        </p:spPr>
        <p:txBody>
          <a:bodyPr/>
          <a:lstStyle>
            <a:lvl1pPr marL="0" indent="0">
              <a:buNone/>
              <a:defRPr lang="tr-TR" sz="1400"/>
            </a:lvl1pPr>
            <a:lvl2pPr marL="457200" indent="0">
              <a:buNone/>
              <a:defRPr lang="tr-TR" sz="1200"/>
            </a:lvl2pPr>
            <a:lvl3pPr marL="914400" indent="0">
              <a:buNone/>
              <a:defRPr lang="tr-TR" sz="1000"/>
            </a:lvl3pPr>
            <a:lvl4pPr marL="1371600" indent="0">
              <a:buNone/>
              <a:defRPr lang="tr-TR" sz="900"/>
            </a:lvl4pPr>
            <a:lvl5pPr marL="1828800" indent="0">
              <a:buNone/>
              <a:defRPr lang="tr-TR" sz="900"/>
            </a:lvl5pPr>
            <a:lvl6pPr marL="2286000" indent="0">
              <a:buNone/>
              <a:defRPr lang="tr-TR" sz="900"/>
            </a:lvl6pPr>
            <a:lvl7pPr marL="2743200" indent="0">
              <a:buNone/>
              <a:defRPr lang="tr-TR" sz="900"/>
            </a:lvl7pPr>
            <a:lvl8pPr marL="3200400" indent="0">
              <a:buNone/>
              <a:defRPr lang="tr-TR" sz="900"/>
            </a:lvl8pPr>
            <a:lvl9pPr marL="3657600" indent="0">
              <a:buNone/>
              <a:defRPr lang="tr-TR" sz="900"/>
            </a:lvl9pPr>
          </a:lstStyle>
          <a:p>
            <a:pPr lvl="0"/>
            <a:r>
              <a:rPr lang="tr-TR"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lang="tr-TR" sz="2000" b="1"/>
            </a:lvl1pPr>
          </a:lstStyle>
          <a:p>
            <a:r>
              <a:rPr lang="tr-TR" smtClean="0"/>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lang="tr-TR" sz="3200"/>
            </a:lvl1pPr>
            <a:lvl2pPr marL="457200" indent="0">
              <a:buNone/>
              <a:defRPr lang="tr-TR" sz="2800"/>
            </a:lvl2pPr>
            <a:lvl3pPr marL="914400" indent="0">
              <a:buNone/>
              <a:defRPr lang="tr-TR" sz="2400"/>
            </a:lvl3pPr>
            <a:lvl4pPr marL="1371600" indent="0">
              <a:buNone/>
              <a:defRPr lang="tr-TR" sz="2000"/>
            </a:lvl4pPr>
            <a:lvl5pPr marL="1828800" indent="0">
              <a:buNone/>
              <a:defRPr lang="tr-TR" sz="2000"/>
            </a:lvl5pPr>
            <a:lvl6pPr marL="2286000" indent="0">
              <a:buNone/>
              <a:defRPr lang="tr-TR" sz="2000"/>
            </a:lvl6pPr>
            <a:lvl7pPr marL="2743200" indent="0">
              <a:buNone/>
              <a:defRPr lang="tr-TR" sz="2000"/>
            </a:lvl7pPr>
            <a:lvl8pPr marL="3200400" indent="0">
              <a:buNone/>
              <a:defRPr lang="tr-TR" sz="2000"/>
            </a:lvl8pPr>
            <a:lvl9pPr marL="3657600" indent="0">
              <a:buNone/>
              <a:defRPr lang="tr-TR" sz="2000"/>
            </a:lvl9pPr>
          </a:lstStyle>
          <a:p>
            <a:endParaRPr lang="tr-TR"/>
          </a:p>
        </p:txBody>
      </p:sp>
      <p:sp>
        <p:nvSpPr>
          <p:cNvPr id="4" name="Text Placeholder 3"/>
          <p:cNvSpPr>
            <a:spLocks noGrp="1"/>
          </p:cNvSpPr>
          <p:nvPr>
            <p:ph type="body" sz="half" idx="2"/>
          </p:nvPr>
        </p:nvSpPr>
        <p:spPr>
          <a:xfrm>
            <a:off x="1792288" y="5367338"/>
            <a:ext cx="5486400" cy="804862"/>
          </a:xfrm>
        </p:spPr>
        <p:txBody>
          <a:bodyPr/>
          <a:lstStyle>
            <a:lvl1pPr marL="0" indent="0">
              <a:buNone/>
              <a:defRPr lang="tr-TR" sz="1400"/>
            </a:lvl1pPr>
            <a:lvl2pPr marL="457200" indent="0">
              <a:buNone/>
              <a:defRPr lang="tr-TR" sz="1200"/>
            </a:lvl2pPr>
            <a:lvl3pPr marL="914400" indent="0">
              <a:buNone/>
              <a:defRPr lang="tr-TR" sz="1000"/>
            </a:lvl3pPr>
            <a:lvl4pPr marL="1371600" indent="0">
              <a:buNone/>
              <a:defRPr lang="tr-TR" sz="900"/>
            </a:lvl4pPr>
            <a:lvl5pPr marL="1828800" indent="0">
              <a:buNone/>
              <a:defRPr lang="tr-TR" sz="900"/>
            </a:lvl5pPr>
            <a:lvl6pPr marL="2286000" indent="0">
              <a:buNone/>
              <a:defRPr lang="tr-TR" sz="900"/>
            </a:lvl6pPr>
            <a:lvl7pPr marL="2743200" indent="0">
              <a:buNone/>
              <a:defRPr lang="tr-TR" sz="900"/>
            </a:lvl7pPr>
            <a:lvl8pPr marL="3200400" indent="0">
              <a:buNone/>
              <a:defRPr lang="tr-TR" sz="900"/>
            </a:lvl8pPr>
            <a:lvl9pPr marL="3657600" indent="0">
              <a:buNone/>
              <a:defRPr lang="tr-TR" sz="900"/>
            </a:lvl9pPr>
          </a:lstStyle>
          <a:p>
            <a:pPr lvl="0"/>
            <a:r>
              <a:rPr lang="tr-TR"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tr-TR" smtClean="0"/>
              <a:t>Click to edit Master title style</a:t>
            </a:r>
            <a:endParaRPr lang="tr-T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smtClean="0"/>
              <a:t>Click to edit Master title style</a:t>
            </a:r>
            <a:endParaRPr lang="tr-T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lang="tr-TR" sz="1200">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lang="tr-TR" sz="120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lang="tr-TR" sz="1200">
                <a:solidFill>
                  <a:schemeClr val="tx1">
                    <a:tint val="75000"/>
                  </a:schemeClr>
                </a:solidFill>
              </a:defRPr>
            </a:lvl1pPr>
          </a:lstStyle>
          <a:p>
            <a:fld id="{C1FF6DA9-008F-8B48-92A6-B652298478BF}" type="slidenum">
              <a:rPr lang="tr-TR" smtClean="0"/>
              <a:t>‹#›</a:t>
            </a:fld>
            <a:endParaRPr lang="tr-T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lang="tr-T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lang="tr-T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lang="tr-T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lang="tr-T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9pPr>
    </p:bodyStyle>
    <p:otherStyle>
      <a:defPPr>
        <a:defRPr lang="tr-TR"/>
      </a:defPPr>
      <a:lvl1pPr marL="0" algn="l" defTabSz="457200" rtl="0" eaLnBrk="1" latinLnBrk="0" hangingPunct="1">
        <a:defRPr lang="tr-TR" sz="1800" kern="1200">
          <a:solidFill>
            <a:schemeClr val="tx1"/>
          </a:solidFill>
          <a:latin typeface="+mn-lt"/>
          <a:ea typeface="+mn-ea"/>
          <a:cs typeface="+mn-cs"/>
        </a:defRPr>
      </a:lvl1pPr>
      <a:lvl2pPr marL="457200" algn="l" defTabSz="457200" rtl="0" eaLnBrk="1" latinLnBrk="0" hangingPunct="1">
        <a:defRPr lang="tr-TR" sz="1800" kern="1200">
          <a:solidFill>
            <a:schemeClr val="tx1"/>
          </a:solidFill>
          <a:latin typeface="+mn-lt"/>
          <a:ea typeface="+mn-ea"/>
          <a:cs typeface="+mn-cs"/>
        </a:defRPr>
      </a:lvl2pPr>
      <a:lvl3pPr marL="914400" algn="l" defTabSz="457200" rtl="0" eaLnBrk="1" latinLnBrk="0" hangingPunct="1">
        <a:defRPr lang="tr-TR" sz="1800" kern="1200">
          <a:solidFill>
            <a:schemeClr val="tx1"/>
          </a:solidFill>
          <a:latin typeface="+mn-lt"/>
          <a:ea typeface="+mn-ea"/>
          <a:cs typeface="+mn-cs"/>
        </a:defRPr>
      </a:lvl3pPr>
      <a:lvl4pPr marL="1371600" algn="l" defTabSz="457200" rtl="0" eaLnBrk="1" latinLnBrk="0" hangingPunct="1">
        <a:defRPr lang="tr-TR" sz="1800" kern="1200">
          <a:solidFill>
            <a:schemeClr val="tx1"/>
          </a:solidFill>
          <a:latin typeface="+mn-lt"/>
          <a:ea typeface="+mn-ea"/>
          <a:cs typeface="+mn-cs"/>
        </a:defRPr>
      </a:lvl4pPr>
      <a:lvl5pPr marL="1828800" algn="l" defTabSz="457200" rtl="0" eaLnBrk="1" latinLnBrk="0" hangingPunct="1">
        <a:defRPr lang="tr-TR" sz="1800" kern="1200">
          <a:solidFill>
            <a:schemeClr val="tx1"/>
          </a:solidFill>
          <a:latin typeface="+mn-lt"/>
          <a:ea typeface="+mn-ea"/>
          <a:cs typeface="+mn-cs"/>
        </a:defRPr>
      </a:lvl5pPr>
      <a:lvl6pPr marL="2286000" algn="l" defTabSz="457200" rtl="0" eaLnBrk="1" latinLnBrk="0" hangingPunct="1">
        <a:defRPr lang="tr-TR" sz="1800" kern="1200">
          <a:solidFill>
            <a:schemeClr val="tx1"/>
          </a:solidFill>
          <a:latin typeface="+mn-lt"/>
          <a:ea typeface="+mn-ea"/>
          <a:cs typeface="+mn-cs"/>
        </a:defRPr>
      </a:lvl6pPr>
      <a:lvl7pPr marL="2743200" algn="l" defTabSz="457200" rtl="0" eaLnBrk="1" latinLnBrk="0" hangingPunct="1">
        <a:defRPr lang="tr-TR" sz="1800" kern="1200">
          <a:solidFill>
            <a:schemeClr val="tx1"/>
          </a:solidFill>
          <a:latin typeface="+mn-lt"/>
          <a:ea typeface="+mn-ea"/>
          <a:cs typeface="+mn-cs"/>
        </a:defRPr>
      </a:lvl7pPr>
      <a:lvl8pPr marL="3200400" algn="l" defTabSz="457200" rtl="0" eaLnBrk="1" latinLnBrk="0" hangingPunct="1">
        <a:defRPr lang="tr-TR" sz="1800" kern="1200">
          <a:solidFill>
            <a:schemeClr val="tx1"/>
          </a:solidFill>
          <a:latin typeface="+mn-lt"/>
          <a:ea typeface="+mn-ea"/>
          <a:cs typeface="+mn-cs"/>
        </a:defRPr>
      </a:lvl8pPr>
      <a:lvl9pPr marL="3657600" algn="l" defTabSz="457200" rtl="0" eaLnBrk="1" latinLnBrk="0" hangingPunct="1">
        <a:defRPr lang="tr-T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5.jpg"/><Relationship Id="rId6" Type="http://schemas.openxmlformats.org/officeDocument/2006/relationships/image" Target="../media/image6.jpg"/><Relationship Id="rId7" Type="http://schemas.openxmlformats.org/officeDocument/2006/relationships/image" Target="../media/image7.jpg"/><Relationship Id="rId8"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5.jpg"/><Relationship Id="rId6" Type="http://schemas.openxmlformats.org/officeDocument/2006/relationships/image" Target="../media/image6.jpg"/><Relationship Id="rId7" Type="http://schemas.openxmlformats.org/officeDocument/2006/relationships/image" Target="../media/image7.jpg"/><Relationship Id="rId8"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7.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9.jpg"/><Relationship Id="rId4" Type="http://schemas.openxmlformats.org/officeDocument/2006/relationships/image" Target="../media/image10.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1.jpg"/><Relationship Id="rId4" Type="http://schemas.openxmlformats.org/officeDocument/2006/relationships/image" Target="../media/image12.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11.jpg"/><Relationship Id="rId4" Type="http://schemas.openxmlformats.org/officeDocument/2006/relationships/image" Target="../media/image12.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13.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14.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14.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 Id="rId6" Type="http://schemas.openxmlformats.org/officeDocument/2006/relationships/image" Target="../media/image12.jpg"/><Relationship Id="rId7" Type="http://schemas.openxmlformats.org/officeDocument/2006/relationships/image" Target="../media/image13.jpg"/><Relationship Id="rId8" Type="http://schemas.openxmlformats.org/officeDocument/2006/relationships/image" Target="../media/image14.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 Id="rId6" Type="http://schemas.openxmlformats.org/officeDocument/2006/relationships/image" Target="../media/image12.jpg"/><Relationship Id="rId7" Type="http://schemas.openxmlformats.org/officeDocument/2006/relationships/image" Target="../media/image13.jpg"/><Relationship Id="rId8" Type="http://schemas.openxmlformats.org/officeDocument/2006/relationships/image" Target="../media/image14.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15.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16.jpg"/><Relationship Id="rId4" Type="http://schemas.openxmlformats.org/officeDocument/2006/relationships/image" Target="../media/image17.jpg"/><Relationship Id="rId5" Type="http://schemas.openxmlformats.org/officeDocument/2006/relationships/image" Target="../media/image18.jpg"/><Relationship Id="rId6" Type="http://schemas.openxmlformats.org/officeDocument/2006/relationships/image" Target="../media/image19.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18.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17.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20.jpg"/><Relationship Id="rId4" Type="http://schemas.openxmlformats.org/officeDocument/2006/relationships/image" Target="../media/image21.jpg"/><Relationship Id="rId5" Type="http://schemas.openxmlformats.org/officeDocument/2006/relationships/image" Target="../media/image19.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15.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15.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apak_s170-171.jpg"/>
          <p:cNvPicPr>
            <a:picLocks noChangeAspect="1"/>
          </p:cNvPicPr>
          <p:nvPr/>
        </p:nvPicPr>
        <p:blipFill>
          <a:blip r:embed="rId2"/>
          <a:srcRect l="1" r="1"/>
          <a:stretch>
            <a:fillRect/>
          </a:stretch>
        </p:blipFill>
        <p:spPr>
          <a:xfrm>
            <a:off x="0" y="0"/>
            <a:ext cx="12191695" cy="6858000"/>
          </a:xfrm>
          <a:prstGeom prst="rect">
            <a:avLst/>
          </a:prstGeom>
        </p:spPr>
      </p:pic>
      <p:sp>
        <p:nvSpPr>
          <p:cNvPr id="3" name="Rectangle 2"/>
          <p:cNvSpPr/>
          <p:nvPr/>
        </p:nvSpPr>
        <p:spPr>
          <a:xfrm>
            <a:off x="0" y="3886200"/>
            <a:ext cx="12191695" cy="2971800"/>
          </a:xfrm>
          <a:prstGeom prst="rect">
            <a:avLst/>
          </a:prstGeom>
          <a:solidFill>
            <a:srgbClr val="4F4F4F">
              <a:alpha val="86000"/>
            </a:srgbClr>
          </a:solidFill>
          <a:ln>
            <a:noFill/>
          </a:ln>
          <a:effectLst/>
        </p:spPr>
        <p:txBody>
          <a:bodyPr rtlCol="0" anchor="ctr"/>
          <a:lstStyle/>
          <a:p/>
        </p:txBody>
      </p:sp>
      <p:sp>
        <p:nvSpPr>
          <p:cNvPr id="4" name="Rectangle 3"/>
          <p:cNvSpPr/>
          <p:nvPr/>
        </p:nvSpPr>
        <p:spPr>
          <a:xfrm>
            <a:off x="0" y="3886200"/>
            <a:ext cx="12191695" cy="73152"/>
          </a:xfrm>
          <a:prstGeom prst="rect">
            <a:avLst/>
          </a:prstGeom>
          <a:solidFill>
            <a:srgbClr val="FCC021"/>
          </a:solidFill>
          <a:ln>
            <a:noFill/>
          </a:ln>
          <a:effectLst/>
        </p:spPr>
        <p:txBody>
          <a:bodyPr rtlCol="0" anchor="ctr"/>
          <a:lstStyle/>
          <a:p/>
        </p:txBody>
      </p:sp>
      <p:sp>
        <p:nvSpPr>
          <p:cNvPr id="5" name="TextBox 4"/>
          <p:cNvSpPr txBox="1"/>
          <p:nvPr/>
        </p:nvSpPr>
        <p:spPr>
          <a:xfrm>
            <a:off x="685800" y="4069080"/>
            <a:ext cx="10789920" cy="457200"/>
          </a:xfrm>
          <a:prstGeom prst="rect">
            <a:avLst/>
          </a:prstGeom>
          <a:noFill/>
        </p:spPr>
        <p:txBody>
          <a:bodyPr wrap="square" anchor="t" lIns="73152" rIns="73152" tIns="36576" bIns="36576">
            <a:noAutofit/>
          </a:bodyPr>
          <a:lstStyle/>
          <a:p>
            <a:pPr algn="l">
              <a:spcBef>
                <a:spcPts val="0"/>
              </a:spcBef>
              <a:spcAft>
                <a:spcPts val="0"/>
              </a:spcAft>
            </a:pPr>
            <a:r>
              <a:rPr lang="tr-TR" sz="2000" b="1" i="0">
                <a:solidFill>
                  <a:srgbClr val="FCC021"/>
                </a:solidFill>
                <a:latin typeface="Calibri"/>
              </a:rPr>
              <a:t>9. SINIF COĞRAFYA · 5. ÜNİTE</a:t>
            </a:r>
          </a:p>
        </p:txBody>
      </p:sp>
      <p:sp>
        <p:nvSpPr>
          <p:cNvPr id="6" name="TextBox 5"/>
          <p:cNvSpPr txBox="1"/>
          <p:nvPr/>
        </p:nvSpPr>
        <p:spPr>
          <a:xfrm>
            <a:off x="685800" y="4498848"/>
            <a:ext cx="10789920" cy="1051560"/>
          </a:xfrm>
          <a:prstGeom prst="rect">
            <a:avLst/>
          </a:prstGeom>
          <a:noFill/>
        </p:spPr>
        <p:txBody>
          <a:bodyPr wrap="square" anchor="ctr" lIns="73152" rIns="73152" tIns="36576" bIns="36576">
            <a:noAutofit/>
          </a:bodyPr>
          <a:lstStyle/>
          <a:p>
            <a:pPr algn="l">
              <a:spcBef>
                <a:spcPts val="0"/>
              </a:spcBef>
              <a:spcAft>
                <a:spcPts val="0"/>
              </a:spcAft>
            </a:pPr>
            <a:r>
              <a:rPr lang="tr-TR" sz="5300" b="1" i="0">
                <a:solidFill>
                  <a:srgbClr val="FFFFFF"/>
                </a:solidFill>
                <a:latin typeface="Calibri"/>
              </a:rPr>
              <a:t>EKONOMİK FAALİYETLER VE ETKİLERİ</a:t>
            </a:r>
          </a:p>
        </p:txBody>
      </p:sp>
      <p:sp>
        <p:nvSpPr>
          <p:cNvPr id="7" name="TextBox 6"/>
          <p:cNvSpPr txBox="1"/>
          <p:nvPr/>
        </p:nvSpPr>
        <p:spPr>
          <a:xfrm>
            <a:off x="685800" y="5577840"/>
            <a:ext cx="8778240" cy="1051560"/>
          </a:xfrm>
          <a:prstGeom prst="rect">
            <a:avLst/>
          </a:prstGeom>
          <a:noFill/>
        </p:spPr>
        <p:txBody>
          <a:bodyPr wrap="square" anchor="t" lIns="73152" rIns="73152" tIns="36576" bIns="36576">
            <a:noAutofit/>
          </a:bodyPr>
          <a:lstStyle/>
          <a:p>
            <a:pPr algn="l">
              <a:spcBef>
                <a:spcPts val="0"/>
              </a:spcBef>
              <a:spcAft>
                <a:spcPts val="200"/>
              </a:spcAft>
            </a:pPr>
            <a:r>
              <a:rPr lang="tr-TR" sz="1800" b="0" i="0">
                <a:solidFill>
                  <a:srgbClr val="FFFFFF"/>
                </a:solidFill>
                <a:latin typeface="Calibri"/>
              </a:rPr>
              <a:t>5.1. Ekonomik Faaliyetleri Etkileyen Coğrafi Faktörler · 28-29. haftalar</a:t>
            </a:r>
          </a:p>
          <a:p>
            <a:pPr algn="l">
              <a:spcBef>
                <a:spcPts val="0"/>
              </a:spcBef>
              <a:spcAft>
                <a:spcPts val="0"/>
              </a:spcAft>
            </a:pPr>
            <a:r>
              <a:rPr lang="tr-TR" sz="1800" b="0" i="0">
                <a:solidFill>
                  <a:srgbClr val="FFFFFF"/>
                </a:solidFill>
                <a:latin typeface="Calibri"/>
              </a:rPr>
              <a:t>2026-2027 Eğitim ve Öğretim Yılı</a:t>
            </a:r>
          </a:p>
        </p:txBody>
      </p:sp>
      <p:sp>
        <p:nvSpPr>
          <p:cNvPr id="8" name="TextBox 7"/>
          <p:cNvSpPr txBox="1"/>
          <p:nvPr/>
        </p:nvSpPr>
        <p:spPr>
          <a:xfrm>
            <a:off x="8229600" y="6446520"/>
            <a:ext cx="3794760" cy="320040"/>
          </a:xfrm>
          <a:prstGeom prst="rect">
            <a:avLst/>
          </a:prstGeom>
          <a:noFill/>
        </p:spPr>
        <p:txBody>
          <a:bodyPr wrap="square" anchor="t" lIns="73152" rIns="73152" tIns="36576" bIns="36576">
            <a:noAutofit/>
          </a:bodyPr>
          <a:lstStyle/>
          <a:p>
            <a:pPr algn="r">
              <a:spcBef>
                <a:spcPts val="0"/>
              </a:spcBef>
              <a:spcAft>
                <a:spcPts val="0"/>
              </a:spcAft>
            </a:pPr>
            <a:r>
              <a:rPr lang="tr-TR" sz="1000" b="0" i="0">
                <a:solidFill>
                  <a:srgbClr val="F0F0F0"/>
                </a:solidFill>
                <a:latin typeface="Calibri"/>
              </a:rPr>
              <a:t>Görsel: 9. Sınıf Coğrafya Ders Kitabı, s. 170-171 (ünite açılışı)</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Bu ünitede neler öğreneceğiz?</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5. ÜNİTE</a:t>
            </a:r>
          </a:p>
        </p:txBody>
      </p:sp>
      <p:sp>
        <p:nvSpPr>
          <p:cNvPr id="6" name="Rounded Rectangle 5"/>
          <p:cNvSpPr/>
          <p:nvPr/>
        </p:nvSpPr>
        <p:spPr>
          <a:xfrm>
            <a:off x="502920" y="1261872"/>
            <a:ext cx="11185855" cy="1417320"/>
          </a:xfrm>
          <a:prstGeom prst="roundRect">
            <a:avLst>
              <a:gd name="adj" fmla="val 8000"/>
            </a:avLst>
          </a:prstGeom>
          <a:solidFill>
            <a:srgbClr val="F0F0F0"/>
          </a:solidFill>
          <a:ln>
            <a:noFill/>
          </a:ln>
          <a:effectLst/>
        </p:spPr>
        <p:txBody>
          <a:bodyPr rtlCol="0" anchor="ctr" wrap="square" lIns="274320" rIns="274320" tIns="73152" bIns="73152">
            <a:noAutofit/>
          </a:bodyPr>
          <a:lstStyle/>
          <a:p>
            <a:pPr algn="l">
              <a:spcBef>
                <a:spcPts val="0"/>
              </a:spcBef>
              <a:spcAft>
                <a:spcPts val="200"/>
              </a:spcAft>
            </a:pPr>
            <a:r>
              <a:rPr lang="tr-TR" sz="2600" b="1" i="0">
                <a:solidFill>
                  <a:srgbClr val="D3373A"/>
                </a:solidFill>
                <a:latin typeface="Calibri"/>
              </a:rPr>
              <a:t>COĞ.9.5.1</a:t>
            </a:r>
          </a:p>
          <a:p>
            <a:pPr algn="l">
              <a:spcBef>
                <a:spcPts val="0"/>
              </a:spcBef>
              <a:spcAft>
                <a:spcPts val="0"/>
              </a:spcAft>
            </a:pPr>
            <a:r>
              <a:rPr lang="tr-TR" sz="2600" b="1" i="0">
                <a:solidFill>
                  <a:srgbClr val="262626"/>
                </a:solidFill>
                <a:latin typeface="Calibri"/>
              </a:rPr>
              <a:t>Doğal ve beşerî faktörlerin ekonomik faaliyetlere etkilerini sorgulayabilme</a:t>
            </a:r>
          </a:p>
        </p:txBody>
      </p:sp>
      <p:sp>
        <p:nvSpPr>
          <p:cNvPr id="7" name="Rounded Rectangle 6"/>
          <p:cNvSpPr/>
          <p:nvPr/>
        </p:nvSpPr>
        <p:spPr>
          <a:xfrm>
            <a:off x="502920" y="2953512"/>
            <a:ext cx="5455767" cy="2788920"/>
          </a:xfrm>
          <a:prstGeom prst="roundRect">
            <a:avLst>
              <a:gd name="adj" fmla="val 4000"/>
            </a:avLst>
          </a:prstGeom>
          <a:solidFill>
            <a:srgbClr val="F0F0F0"/>
          </a:solidFill>
          <a:ln>
            <a:noFill/>
          </a:ln>
          <a:effectLst/>
        </p:spPr>
        <p:txBody>
          <a:bodyPr rtlCol="0" anchor="ctr"/>
          <a:lstStyle/>
          <a:p/>
        </p:txBody>
      </p:sp>
      <p:sp>
        <p:nvSpPr>
          <p:cNvPr id="8" name="Rounded Rectangle 7"/>
          <p:cNvSpPr/>
          <p:nvPr/>
        </p:nvSpPr>
        <p:spPr>
          <a:xfrm>
            <a:off x="502920" y="2953512"/>
            <a:ext cx="5455767" cy="566928"/>
          </a:xfrm>
          <a:prstGeom prst="roundRect">
            <a:avLst>
              <a:gd name="adj" fmla="val 15000"/>
            </a:avLst>
          </a:prstGeom>
          <a:solidFill>
            <a:srgbClr val="3E8E41"/>
          </a:solidFill>
          <a:ln>
            <a:noFill/>
          </a:ln>
          <a:effectLst/>
        </p:spPr>
        <p:txBody>
          <a:bodyPr rtlCol="0" anchor="ctr" wrap="square" lIns="128016" rIns="128016" tIns="73152" bIns="73152">
            <a:noAutofit/>
          </a:bodyPr>
          <a:lstStyle/>
          <a:p>
            <a:pPr algn="ctr">
              <a:spcBef>
                <a:spcPts val="0"/>
              </a:spcBef>
              <a:spcAft>
                <a:spcPts val="0"/>
              </a:spcAft>
            </a:pPr>
            <a:r>
              <a:rPr lang="tr-TR" sz="1700" b="1" i="0">
                <a:solidFill>
                  <a:srgbClr val="FFFFFF"/>
                </a:solidFill>
                <a:latin typeface="Calibri"/>
              </a:rPr>
              <a:t>28. hafta · s. 172-176</a:t>
            </a:r>
          </a:p>
        </p:txBody>
      </p:sp>
      <p:sp>
        <p:nvSpPr>
          <p:cNvPr id="9" name="TextBox 8"/>
          <p:cNvSpPr txBox="1"/>
          <p:nvPr/>
        </p:nvSpPr>
        <p:spPr>
          <a:xfrm>
            <a:off x="685800" y="3639312"/>
            <a:ext cx="5090007" cy="1051560"/>
          </a:xfrm>
          <a:prstGeom prst="rect">
            <a:avLst/>
          </a:prstGeom>
          <a:noFill/>
        </p:spPr>
        <p:txBody>
          <a:bodyPr wrap="square" anchor="t" lIns="73152" rIns="73152" tIns="36576" bIns="36576">
            <a:noAutofit/>
          </a:bodyPr>
          <a:lstStyle/>
          <a:p>
            <a:pPr algn="l">
              <a:spcBef>
                <a:spcPts val="0"/>
              </a:spcBef>
              <a:spcAft>
                <a:spcPts val="0"/>
              </a:spcAft>
            </a:pPr>
            <a:r>
              <a:rPr lang="tr-TR" sz="2400" b="1" i="0">
                <a:solidFill>
                  <a:srgbClr val="3E8E41"/>
                </a:solidFill>
                <a:latin typeface="Calibri"/>
              </a:rPr>
              <a:t>5.1.1. Ekonomik Faaliyetleri Etkileyen Doğal Faktörler</a:t>
            </a:r>
          </a:p>
        </p:txBody>
      </p:sp>
      <p:sp>
        <p:nvSpPr>
          <p:cNvPr id="10" name="TextBox 9"/>
          <p:cNvSpPr txBox="1"/>
          <p:nvPr/>
        </p:nvSpPr>
        <p:spPr>
          <a:xfrm>
            <a:off x="685800" y="4736592"/>
            <a:ext cx="5090007" cy="914401"/>
          </a:xfrm>
          <a:prstGeom prst="rect">
            <a:avLst/>
          </a:prstGeom>
          <a:noFill/>
        </p:spPr>
        <p:txBody>
          <a:bodyPr wrap="square" anchor="t" lIns="73152" rIns="73152" tIns="36576" bIns="36576">
            <a:noAutofit/>
          </a:bodyPr>
          <a:lstStyle/>
          <a:p>
            <a:pPr algn="l">
              <a:spcBef>
                <a:spcPts val="0"/>
              </a:spcBef>
              <a:spcAft>
                <a:spcPts val="0"/>
              </a:spcAft>
            </a:pPr>
            <a:r>
              <a:rPr lang="tr-TR" sz="1950" b="0" i="0">
                <a:solidFill>
                  <a:srgbClr val="767676"/>
                </a:solidFill>
                <a:latin typeface="Calibri"/>
              </a:rPr>
              <a:t>Coğrafi konum, iklim, topoğrafya, su kaynakları, toprak, bitki örtüsü, enerji ve maden kaynakları</a:t>
            </a:r>
          </a:p>
        </p:txBody>
      </p:sp>
      <p:sp>
        <p:nvSpPr>
          <p:cNvPr id="11" name="Rounded Rectangle 10"/>
          <p:cNvSpPr/>
          <p:nvPr/>
        </p:nvSpPr>
        <p:spPr>
          <a:xfrm>
            <a:off x="6233007" y="2953512"/>
            <a:ext cx="5455767" cy="2788920"/>
          </a:xfrm>
          <a:prstGeom prst="roundRect">
            <a:avLst>
              <a:gd name="adj" fmla="val 4000"/>
            </a:avLst>
          </a:prstGeom>
          <a:solidFill>
            <a:srgbClr val="F0F0F0"/>
          </a:solidFill>
          <a:ln>
            <a:noFill/>
          </a:ln>
          <a:effectLst/>
        </p:spPr>
        <p:txBody>
          <a:bodyPr rtlCol="0" anchor="ctr"/>
          <a:lstStyle/>
          <a:p/>
        </p:txBody>
      </p:sp>
      <p:sp>
        <p:nvSpPr>
          <p:cNvPr id="12" name="Rounded Rectangle 11"/>
          <p:cNvSpPr/>
          <p:nvPr/>
        </p:nvSpPr>
        <p:spPr>
          <a:xfrm>
            <a:off x="6233007" y="2953512"/>
            <a:ext cx="5455767" cy="566928"/>
          </a:xfrm>
          <a:prstGeom prst="roundRect">
            <a:avLst>
              <a:gd name="adj" fmla="val 15000"/>
            </a:avLst>
          </a:prstGeom>
          <a:solidFill>
            <a:srgbClr val="2C6696"/>
          </a:solidFill>
          <a:ln>
            <a:noFill/>
          </a:ln>
          <a:effectLst/>
        </p:spPr>
        <p:txBody>
          <a:bodyPr rtlCol="0" anchor="ctr" wrap="square" lIns="128016" rIns="128016" tIns="73152" bIns="73152">
            <a:noAutofit/>
          </a:bodyPr>
          <a:lstStyle/>
          <a:p>
            <a:pPr algn="ctr">
              <a:spcBef>
                <a:spcPts val="0"/>
              </a:spcBef>
              <a:spcAft>
                <a:spcPts val="0"/>
              </a:spcAft>
            </a:pPr>
            <a:r>
              <a:rPr lang="tr-TR" sz="1700" b="1" i="0">
                <a:solidFill>
                  <a:srgbClr val="FFFFFF"/>
                </a:solidFill>
                <a:latin typeface="Calibri"/>
              </a:rPr>
              <a:t>29. hafta · s. 177-185</a:t>
            </a:r>
          </a:p>
        </p:txBody>
      </p:sp>
      <p:sp>
        <p:nvSpPr>
          <p:cNvPr id="13" name="TextBox 12"/>
          <p:cNvSpPr txBox="1"/>
          <p:nvPr/>
        </p:nvSpPr>
        <p:spPr>
          <a:xfrm>
            <a:off x="6415887" y="3639312"/>
            <a:ext cx="5090007" cy="1051560"/>
          </a:xfrm>
          <a:prstGeom prst="rect">
            <a:avLst/>
          </a:prstGeom>
          <a:noFill/>
        </p:spPr>
        <p:txBody>
          <a:bodyPr wrap="square" anchor="t" lIns="73152" rIns="73152" tIns="36576" bIns="36576">
            <a:noAutofit/>
          </a:bodyPr>
          <a:lstStyle/>
          <a:p>
            <a:pPr algn="l">
              <a:spcBef>
                <a:spcPts val="0"/>
              </a:spcBef>
              <a:spcAft>
                <a:spcPts val="0"/>
              </a:spcAft>
            </a:pPr>
            <a:r>
              <a:rPr lang="tr-TR" sz="2400" b="1" i="0">
                <a:solidFill>
                  <a:srgbClr val="2C6696"/>
                </a:solidFill>
                <a:latin typeface="Calibri"/>
              </a:rPr>
              <a:t>5.1.2. Ekonomik Faaliyetleri Etkileyen Beşerî Faktörler</a:t>
            </a:r>
          </a:p>
        </p:txBody>
      </p:sp>
      <p:sp>
        <p:nvSpPr>
          <p:cNvPr id="14" name="TextBox 13"/>
          <p:cNvSpPr txBox="1"/>
          <p:nvPr/>
        </p:nvSpPr>
        <p:spPr>
          <a:xfrm>
            <a:off x="6415887" y="4736592"/>
            <a:ext cx="5090007" cy="914401"/>
          </a:xfrm>
          <a:prstGeom prst="rect">
            <a:avLst/>
          </a:prstGeom>
          <a:noFill/>
        </p:spPr>
        <p:txBody>
          <a:bodyPr wrap="square" anchor="t" lIns="73152" rIns="73152" tIns="36576" bIns="36576">
            <a:noAutofit/>
          </a:bodyPr>
          <a:lstStyle/>
          <a:p>
            <a:pPr algn="l">
              <a:spcBef>
                <a:spcPts val="0"/>
              </a:spcBef>
              <a:spcAft>
                <a:spcPts val="0"/>
              </a:spcAft>
            </a:pPr>
            <a:r>
              <a:rPr lang="tr-TR" sz="1850" b="0" i="0">
                <a:solidFill>
                  <a:srgbClr val="767676"/>
                </a:solidFill>
                <a:latin typeface="Calibri"/>
              </a:rPr>
              <a:t>Nüfus, iş gücü, sermaye, devlet politikaları, teknoloji ve ulaşım; TEKNOSAB; performans görevi</a:t>
            </a:r>
          </a:p>
        </p:txBody>
      </p:sp>
      <p:sp>
        <p:nvSpPr>
          <p:cNvPr id="15" name="TextBox 14"/>
          <p:cNvSpPr txBox="1"/>
          <p:nvPr/>
        </p:nvSpPr>
        <p:spPr>
          <a:xfrm>
            <a:off x="502920" y="5833872"/>
            <a:ext cx="11185855" cy="411480"/>
          </a:xfrm>
          <a:prstGeom prst="rect">
            <a:avLst/>
          </a:prstGeom>
          <a:noFill/>
        </p:spPr>
        <p:txBody>
          <a:bodyPr wrap="square" anchor="t" lIns="73152" rIns="73152" tIns="36576" bIns="36576">
            <a:noAutofit/>
          </a:bodyPr>
          <a:lstStyle/>
          <a:p>
            <a:pPr algn="ctr">
              <a:spcBef>
                <a:spcPts val="0"/>
              </a:spcBef>
              <a:spcAft>
                <a:spcPts val="0"/>
              </a:spcAft>
            </a:pPr>
            <a:r>
              <a:rPr lang="tr-TR" sz="1600" b="0" i="1">
                <a:solidFill>
                  <a:srgbClr val="767676"/>
                </a:solidFill>
                <a:latin typeface="Calibri"/>
              </a:rPr>
              <a:t>Kitap: Bu ünitede doğal ve beşerî faktörlerin ekonomik faaliyetlere etkilerinin sorgulanabilmesi amaçlanmaktadır.</a:t>
            </a:r>
          </a:p>
        </p:txBody>
      </p:sp>
      <p:sp>
        <p:nvSpPr>
          <p:cNvPr id="16" name="TextBox 1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7" name="Rounded Rectangle 1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170</a:t>
            </a:r>
          </a:p>
        </p:txBody>
      </p:sp>
      <p:sp>
        <p:nvSpPr>
          <p:cNvPr id="18" name="TextBox 1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 / 166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Ünitede sizden beklenenler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5. ÜNİTE</a:t>
            </a:r>
          </a:p>
        </p:txBody>
      </p:sp>
      <p:sp>
        <p:nvSpPr>
          <p:cNvPr id="6" name="Rounded Rectangle 5"/>
          <p:cNvSpPr/>
          <p:nvPr/>
        </p:nvSpPr>
        <p:spPr>
          <a:xfrm>
            <a:off x="502920" y="1399032"/>
            <a:ext cx="3545738" cy="4480560"/>
          </a:xfrm>
          <a:prstGeom prst="roundRect">
            <a:avLst>
              <a:gd name="adj" fmla="val 6000"/>
            </a:avLst>
          </a:prstGeom>
          <a:solidFill>
            <a:srgbClr val="F0F0F0"/>
          </a:solidFill>
          <a:ln>
            <a:noFill/>
          </a:ln>
          <a:effectLst/>
        </p:spPr>
        <p:txBody>
          <a:bodyPr rtlCol="0" anchor="ctr"/>
          <a:lstStyle/>
          <a:p/>
        </p:txBody>
      </p:sp>
      <p:sp>
        <p:nvSpPr>
          <p:cNvPr id="7" name="Oval 6"/>
          <p:cNvSpPr/>
          <p:nvPr/>
        </p:nvSpPr>
        <p:spPr>
          <a:xfrm>
            <a:off x="1818589" y="1673352"/>
            <a:ext cx="914400" cy="91440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3400" b="1" i="0">
                <a:solidFill>
                  <a:srgbClr val="262626"/>
                </a:solidFill>
                <a:latin typeface="Calibri"/>
              </a:rPr>
              <a:t>1</a:t>
            </a:r>
          </a:p>
        </p:txBody>
      </p:sp>
      <p:sp>
        <p:nvSpPr>
          <p:cNvPr id="8" name="TextBox 7"/>
          <p:cNvSpPr txBox="1"/>
          <p:nvPr/>
        </p:nvSpPr>
        <p:spPr>
          <a:xfrm>
            <a:off x="685800" y="2770632"/>
            <a:ext cx="3179978" cy="2240280"/>
          </a:xfrm>
          <a:prstGeom prst="rect">
            <a:avLst/>
          </a:prstGeom>
          <a:noFill/>
        </p:spPr>
        <p:txBody>
          <a:bodyPr wrap="square" anchor="ctr" lIns="73152" rIns="73152" tIns="36576" bIns="36576">
            <a:noAutofit/>
          </a:bodyPr>
          <a:lstStyle/>
          <a:p>
            <a:pPr algn="ctr">
              <a:spcBef>
                <a:spcPts val="0"/>
              </a:spcBef>
              <a:spcAft>
                <a:spcPts val="0"/>
              </a:spcAft>
            </a:pPr>
            <a:r>
              <a:rPr lang="tr-TR" sz="2400" b="0" i="0">
                <a:solidFill>
                  <a:srgbClr val="262626"/>
                </a:solidFill>
                <a:latin typeface="Calibri"/>
              </a:rPr>
              <a:t>Giriş çıkış kartını (KWL) doldurmanız</a:t>
            </a:r>
          </a:p>
        </p:txBody>
      </p:sp>
      <p:sp>
        <p:nvSpPr>
          <p:cNvPr id="9" name="Rounded Rectangle 8"/>
          <p:cNvSpPr/>
          <p:nvPr/>
        </p:nvSpPr>
        <p:spPr>
          <a:xfrm>
            <a:off x="731520" y="5148071"/>
            <a:ext cx="3088538" cy="502920"/>
          </a:xfrm>
          <a:prstGeom prst="roundRect">
            <a:avLst>
              <a:gd name="adj" fmla="val 50000"/>
            </a:avLst>
          </a:prstGeom>
          <a:solidFill>
            <a:srgbClr val="FFFFFF"/>
          </a:solidFill>
          <a:ln w="12700">
            <a:solidFill>
              <a:srgbClr val="B85C12"/>
            </a:solidFill>
          </a:ln>
          <a:effectLst/>
        </p:spPr>
        <p:txBody>
          <a:bodyPr rtlCol="0" anchor="ctr" wrap="square" lIns="36576" rIns="36576" tIns="73152" bIns="73152">
            <a:noAutofit/>
          </a:bodyPr>
          <a:lstStyle/>
          <a:p>
            <a:pPr algn="ctr">
              <a:spcBef>
                <a:spcPts val="0"/>
              </a:spcBef>
              <a:spcAft>
                <a:spcPts val="0"/>
              </a:spcAft>
            </a:pPr>
            <a:r>
              <a:rPr lang="tr-TR" sz="1350" b="1" i="0">
                <a:solidFill>
                  <a:srgbClr val="B85C12"/>
                </a:solidFill>
                <a:latin typeface="Calibri"/>
              </a:rPr>
              <a:t>28-29. hafta · s. 174, 182</a:t>
            </a:r>
          </a:p>
        </p:txBody>
      </p:sp>
      <p:sp>
        <p:nvSpPr>
          <p:cNvPr id="10" name="Rounded Rectangle 9"/>
          <p:cNvSpPr/>
          <p:nvPr/>
        </p:nvSpPr>
        <p:spPr>
          <a:xfrm>
            <a:off x="4322978" y="1399032"/>
            <a:ext cx="3545738" cy="4480560"/>
          </a:xfrm>
          <a:prstGeom prst="roundRect">
            <a:avLst>
              <a:gd name="adj" fmla="val 6000"/>
            </a:avLst>
          </a:prstGeom>
          <a:solidFill>
            <a:srgbClr val="F0F0F0"/>
          </a:solidFill>
          <a:ln>
            <a:noFill/>
          </a:ln>
          <a:effectLst/>
        </p:spPr>
        <p:txBody>
          <a:bodyPr rtlCol="0" anchor="ctr"/>
          <a:lstStyle/>
          <a:p/>
        </p:txBody>
      </p:sp>
      <p:sp>
        <p:nvSpPr>
          <p:cNvPr id="11" name="Oval 10"/>
          <p:cNvSpPr/>
          <p:nvPr/>
        </p:nvSpPr>
        <p:spPr>
          <a:xfrm>
            <a:off x="5638647" y="1673352"/>
            <a:ext cx="914400" cy="91440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3400" b="1" i="0">
                <a:solidFill>
                  <a:srgbClr val="262626"/>
                </a:solidFill>
                <a:latin typeface="Calibri"/>
              </a:rPr>
              <a:t>2</a:t>
            </a:r>
          </a:p>
        </p:txBody>
      </p:sp>
      <p:sp>
        <p:nvSpPr>
          <p:cNvPr id="12" name="TextBox 11"/>
          <p:cNvSpPr txBox="1"/>
          <p:nvPr/>
        </p:nvSpPr>
        <p:spPr>
          <a:xfrm>
            <a:off x="4505858" y="2770632"/>
            <a:ext cx="3179978" cy="2240280"/>
          </a:xfrm>
          <a:prstGeom prst="rect">
            <a:avLst/>
          </a:prstGeom>
          <a:noFill/>
        </p:spPr>
        <p:txBody>
          <a:bodyPr wrap="square" anchor="ctr" lIns="73152" rIns="73152" tIns="36576" bIns="36576">
            <a:noAutofit/>
          </a:bodyPr>
          <a:lstStyle/>
          <a:p>
            <a:pPr algn="ctr">
              <a:spcBef>
                <a:spcPts val="0"/>
              </a:spcBef>
              <a:spcAft>
                <a:spcPts val="0"/>
              </a:spcAft>
            </a:pPr>
            <a:r>
              <a:rPr lang="tr-TR" sz="2400" b="0" i="0">
                <a:solidFill>
                  <a:srgbClr val="262626"/>
                </a:solidFill>
                <a:latin typeface="Calibri"/>
              </a:rPr>
              <a:t>Performans görevini yaparak bu görevle ilgili öz değerlendirme formunu doldurmanız</a:t>
            </a:r>
          </a:p>
        </p:txBody>
      </p:sp>
      <p:sp>
        <p:nvSpPr>
          <p:cNvPr id="13" name="Rounded Rectangle 12"/>
          <p:cNvSpPr/>
          <p:nvPr/>
        </p:nvSpPr>
        <p:spPr>
          <a:xfrm>
            <a:off x="4551578" y="5148071"/>
            <a:ext cx="3088538" cy="502920"/>
          </a:xfrm>
          <a:prstGeom prst="roundRect">
            <a:avLst>
              <a:gd name="adj" fmla="val 50000"/>
            </a:avLst>
          </a:prstGeom>
          <a:solidFill>
            <a:srgbClr val="FFFFFF"/>
          </a:solidFill>
          <a:ln w="12700">
            <a:solidFill>
              <a:srgbClr val="B85C12"/>
            </a:solidFill>
          </a:ln>
          <a:effectLst/>
        </p:spPr>
        <p:txBody>
          <a:bodyPr rtlCol="0" anchor="ctr" wrap="square" lIns="36576" rIns="36576" tIns="73152" bIns="73152">
            <a:noAutofit/>
          </a:bodyPr>
          <a:lstStyle/>
          <a:p>
            <a:pPr algn="ctr">
              <a:spcBef>
                <a:spcPts val="0"/>
              </a:spcBef>
              <a:spcAft>
                <a:spcPts val="0"/>
              </a:spcAft>
            </a:pPr>
            <a:r>
              <a:rPr lang="tr-TR" sz="1350" b="1" i="0">
                <a:solidFill>
                  <a:srgbClr val="B85C12"/>
                </a:solidFill>
                <a:latin typeface="Calibri"/>
              </a:rPr>
              <a:t>29. hafta · s. 183</a:t>
            </a:r>
          </a:p>
        </p:txBody>
      </p:sp>
      <p:sp>
        <p:nvSpPr>
          <p:cNvPr id="14" name="Rounded Rectangle 13"/>
          <p:cNvSpPr/>
          <p:nvPr/>
        </p:nvSpPr>
        <p:spPr>
          <a:xfrm>
            <a:off x="8143036" y="1399032"/>
            <a:ext cx="3545738" cy="4480560"/>
          </a:xfrm>
          <a:prstGeom prst="roundRect">
            <a:avLst>
              <a:gd name="adj" fmla="val 6000"/>
            </a:avLst>
          </a:prstGeom>
          <a:solidFill>
            <a:srgbClr val="F0F0F0"/>
          </a:solidFill>
          <a:ln>
            <a:noFill/>
          </a:ln>
          <a:effectLst/>
        </p:spPr>
        <p:txBody>
          <a:bodyPr rtlCol="0" anchor="ctr"/>
          <a:lstStyle/>
          <a:p/>
        </p:txBody>
      </p:sp>
      <p:sp>
        <p:nvSpPr>
          <p:cNvPr id="15" name="Oval 14"/>
          <p:cNvSpPr/>
          <p:nvPr/>
        </p:nvSpPr>
        <p:spPr>
          <a:xfrm>
            <a:off x="9458705" y="1673352"/>
            <a:ext cx="914400" cy="91440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3400" b="1" i="0">
                <a:solidFill>
                  <a:srgbClr val="262626"/>
                </a:solidFill>
                <a:latin typeface="Calibri"/>
              </a:rPr>
              <a:t>3</a:t>
            </a:r>
          </a:p>
        </p:txBody>
      </p:sp>
      <p:sp>
        <p:nvSpPr>
          <p:cNvPr id="16" name="TextBox 15"/>
          <p:cNvSpPr txBox="1"/>
          <p:nvPr/>
        </p:nvSpPr>
        <p:spPr>
          <a:xfrm>
            <a:off x="8325916" y="2770632"/>
            <a:ext cx="3179978" cy="2240280"/>
          </a:xfrm>
          <a:prstGeom prst="rect">
            <a:avLst/>
          </a:prstGeom>
          <a:noFill/>
        </p:spPr>
        <p:txBody>
          <a:bodyPr wrap="square" anchor="ctr" lIns="73152" rIns="73152" tIns="36576" bIns="36576">
            <a:noAutofit/>
          </a:bodyPr>
          <a:lstStyle/>
          <a:p>
            <a:pPr algn="ctr">
              <a:spcBef>
                <a:spcPts val="0"/>
              </a:spcBef>
              <a:spcAft>
                <a:spcPts val="0"/>
              </a:spcAft>
            </a:pPr>
            <a:r>
              <a:rPr lang="tr-TR" sz="2400" b="0" i="0">
                <a:solidFill>
                  <a:srgbClr val="262626"/>
                </a:solidFill>
                <a:latin typeface="Calibri"/>
              </a:rPr>
              <a:t>Ünite sonundaki ölçme ve değerlendirme sorularını cevaplamanız</a:t>
            </a:r>
          </a:p>
        </p:txBody>
      </p:sp>
      <p:sp>
        <p:nvSpPr>
          <p:cNvPr id="17" name="Rounded Rectangle 16"/>
          <p:cNvSpPr/>
          <p:nvPr/>
        </p:nvSpPr>
        <p:spPr>
          <a:xfrm>
            <a:off x="8371636" y="5148071"/>
            <a:ext cx="3088538" cy="502920"/>
          </a:xfrm>
          <a:prstGeom prst="roundRect">
            <a:avLst>
              <a:gd name="adj" fmla="val 50000"/>
            </a:avLst>
          </a:prstGeom>
          <a:solidFill>
            <a:srgbClr val="FFFFFF"/>
          </a:solidFill>
          <a:ln w="12700">
            <a:solidFill>
              <a:srgbClr val="B85C12"/>
            </a:solidFill>
          </a:ln>
          <a:effectLst/>
        </p:spPr>
        <p:txBody>
          <a:bodyPr rtlCol="0" anchor="ctr" wrap="square" lIns="36576" rIns="36576" tIns="73152" bIns="73152">
            <a:noAutofit/>
          </a:bodyPr>
          <a:lstStyle/>
          <a:p>
            <a:pPr algn="ctr">
              <a:spcBef>
                <a:spcPts val="0"/>
              </a:spcBef>
              <a:spcAft>
                <a:spcPts val="0"/>
              </a:spcAft>
            </a:pPr>
            <a:r>
              <a:rPr lang="tr-TR" sz="1350" b="1" i="0">
                <a:solidFill>
                  <a:srgbClr val="B85C12"/>
                </a:solidFill>
                <a:latin typeface="Calibri"/>
              </a:rPr>
              <a:t>29. hafta · s. 184-185</a:t>
            </a:r>
          </a:p>
        </p:txBody>
      </p:sp>
      <p:sp>
        <p:nvSpPr>
          <p:cNvPr id="18" name="TextBox 17"/>
          <p:cNvSpPr txBox="1"/>
          <p:nvPr/>
        </p:nvSpPr>
        <p:spPr>
          <a:xfrm>
            <a:off x="502920" y="6016752"/>
            <a:ext cx="11185855" cy="365760"/>
          </a:xfrm>
          <a:prstGeom prst="rect">
            <a:avLst/>
          </a:prstGeom>
          <a:noFill/>
        </p:spPr>
        <p:txBody>
          <a:bodyPr wrap="square" anchor="t" lIns="73152" rIns="73152" tIns="36576" bIns="36576">
            <a:noAutofit/>
          </a:bodyPr>
          <a:lstStyle/>
          <a:p>
            <a:pPr algn="r">
              <a:spcBef>
                <a:spcPts val="0"/>
              </a:spcBef>
              <a:spcAft>
                <a:spcPts val="0"/>
              </a:spcAft>
            </a:pPr>
            <a:r>
              <a:rPr lang="tr-TR" sz="1400" b="0" i="0">
                <a:solidFill>
                  <a:srgbClr val="767676"/>
                </a:solidFill>
                <a:latin typeface="Calibri"/>
              </a:rPr>
              <a:t>…beklenmektedir. (Ders kitabı, ünite açılışı)</a:t>
            </a:r>
          </a:p>
        </p:txBody>
      </p:sp>
      <p:sp>
        <p:nvSpPr>
          <p:cNvPr id="19" name="TextBox 1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0" name="Rounded Rectangle 1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170</a:t>
            </a:r>
          </a:p>
        </p:txBody>
      </p:sp>
      <p:sp>
        <p:nvSpPr>
          <p:cNvPr id="21" name="TextBox 2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 / 166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Anahtar kavramlar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5. ÜNİTE</a:t>
            </a:r>
          </a:p>
        </p:txBody>
      </p:sp>
      <p:sp>
        <p:nvSpPr>
          <p:cNvPr id="6" name="Rounded Rectangle 5"/>
          <p:cNvSpPr/>
          <p:nvPr/>
        </p:nvSpPr>
        <p:spPr>
          <a:xfrm>
            <a:off x="502920" y="1444752"/>
            <a:ext cx="2194560" cy="713232"/>
          </a:xfrm>
          <a:prstGeom prst="roundRect">
            <a:avLst>
              <a:gd name="adj" fmla="val 8000"/>
            </a:avLst>
          </a:prstGeom>
          <a:solidFill>
            <a:srgbClr val="B8860B"/>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Ekonomik faaliyet</a:t>
            </a:r>
          </a:p>
        </p:txBody>
      </p:sp>
      <p:sp>
        <p:nvSpPr>
          <p:cNvPr id="7" name="Rounded Rectangle 6"/>
          <p:cNvSpPr/>
          <p:nvPr/>
        </p:nvSpPr>
        <p:spPr>
          <a:xfrm>
            <a:off x="2880360" y="1517904"/>
            <a:ext cx="1183809" cy="566928"/>
          </a:xfrm>
          <a:prstGeom prst="roundRect">
            <a:avLst>
              <a:gd name="adj" fmla="val 50000"/>
            </a:avLst>
          </a:prstGeom>
          <a:solidFill>
            <a:srgbClr val="FFFFFF"/>
          </a:solidFill>
          <a:ln w="25400">
            <a:solidFill>
              <a:srgbClr val="B8860B"/>
            </a:solidFill>
          </a:ln>
          <a:effectLst/>
        </p:spPr>
        <p:txBody>
          <a:bodyPr rtlCol="0" anchor="ctr" wrap="square" lIns="73152" rIns="73152" tIns="18288" bIns="18288">
            <a:noAutofit/>
          </a:bodyPr>
          <a:lstStyle/>
          <a:p>
            <a:pPr algn="ctr">
              <a:spcBef>
                <a:spcPts val="0"/>
              </a:spcBef>
              <a:spcAft>
                <a:spcPts val="0"/>
              </a:spcAft>
            </a:pPr>
            <a:r>
              <a:rPr lang="tr-TR" sz="2200" b="0" i="0">
                <a:solidFill>
                  <a:srgbClr val="262626"/>
                </a:solidFill>
                <a:latin typeface="Calibri"/>
              </a:rPr>
              <a:t>üretim</a:t>
            </a:r>
          </a:p>
        </p:txBody>
      </p:sp>
      <p:sp>
        <p:nvSpPr>
          <p:cNvPr id="8" name="Rounded Rectangle 7"/>
          <p:cNvSpPr/>
          <p:nvPr/>
        </p:nvSpPr>
        <p:spPr>
          <a:xfrm>
            <a:off x="4210473" y="1517904"/>
            <a:ext cx="1287051" cy="566928"/>
          </a:xfrm>
          <a:prstGeom prst="roundRect">
            <a:avLst>
              <a:gd name="adj" fmla="val 50000"/>
            </a:avLst>
          </a:prstGeom>
          <a:solidFill>
            <a:srgbClr val="FFFFFF"/>
          </a:solidFill>
          <a:ln w="25400">
            <a:solidFill>
              <a:srgbClr val="B8860B"/>
            </a:solidFill>
          </a:ln>
          <a:effectLst/>
        </p:spPr>
        <p:txBody>
          <a:bodyPr rtlCol="0" anchor="ctr" wrap="square" lIns="73152" rIns="73152" tIns="18288" bIns="18288">
            <a:noAutofit/>
          </a:bodyPr>
          <a:lstStyle/>
          <a:p>
            <a:pPr algn="ctr">
              <a:spcBef>
                <a:spcPts val="0"/>
              </a:spcBef>
              <a:spcAft>
                <a:spcPts val="0"/>
              </a:spcAft>
            </a:pPr>
            <a:r>
              <a:rPr lang="tr-TR" sz="2200" b="0" i="0">
                <a:solidFill>
                  <a:srgbClr val="262626"/>
                </a:solidFill>
                <a:latin typeface="Calibri"/>
              </a:rPr>
              <a:t>dağıtım</a:t>
            </a:r>
          </a:p>
        </p:txBody>
      </p:sp>
      <p:sp>
        <p:nvSpPr>
          <p:cNvPr id="9" name="Rounded Rectangle 8"/>
          <p:cNvSpPr/>
          <p:nvPr/>
        </p:nvSpPr>
        <p:spPr>
          <a:xfrm>
            <a:off x="5643828" y="1517904"/>
            <a:ext cx="1307645" cy="566928"/>
          </a:xfrm>
          <a:prstGeom prst="roundRect">
            <a:avLst>
              <a:gd name="adj" fmla="val 50000"/>
            </a:avLst>
          </a:prstGeom>
          <a:solidFill>
            <a:srgbClr val="FFFFFF"/>
          </a:solidFill>
          <a:ln w="25400">
            <a:solidFill>
              <a:srgbClr val="B8860B"/>
            </a:solidFill>
          </a:ln>
          <a:effectLst/>
        </p:spPr>
        <p:txBody>
          <a:bodyPr rtlCol="0" anchor="ctr" wrap="square" lIns="73152" rIns="73152" tIns="18288" bIns="18288">
            <a:noAutofit/>
          </a:bodyPr>
          <a:lstStyle/>
          <a:p>
            <a:pPr algn="ctr">
              <a:spcBef>
                <a:spcPts val="0"/>
              </a:spcBef>
              <a:spcAft>
                <a:spcPts val="0"/>
              </a:spcAft>
            </a:pPr>
            <a:r>
              <a:rPr lang="tr-TR" sz="2200" b="0" i="0">
                <a:solidFill>
                  <a:srgbClr val="262626"/>
                </a:solidFill>
                <a:latin typeface="Calibri"/>
              </a:rPr>
              <a:t>tüketim</a:t>
            </a:r>
          </a:p>
        </p:txBody>
      </p:sp>
      <p:sp>
        <p:nvSpPr>
          <p:cNvPr id="10" name="Rounded Rectangle 9"/>
          <p:cNvSpPr/>
          <p:nvPr/>
        </p:nvSpPr>
        <p:spPr>
          <a:xfrm>
            <a:off x="7097777" y="1517904"/>
            <a:ext cx="1813951" cy="566928"/>
          </a:xfrm>
          <a:prstGeom prst="roundRect">
            <a:avLst>
              <a:gd name="adj" fmla="val 50000"/>
            </a:avLst>
          </a:prstGeom>
          <a:solidFill>
            <a:srgbClr val="FFFFFF"/>
          </a:solidFill>
          <a:ln w="25400">
            <a:solidFill>
              <a:srgbClr val="B8860B"/>
            </a:solidFill>
          </a:ln>
          <a:effectLst/>
        </p:spPr>
        <p:txBody>
          <a:bodyPr rtlCol="0" anchor="ctr" wrap="square" lIns="73152" rIns="73152" tIns="18288" bIns="18288">
            <a:noAutofit/>
          </a:bodyPr>
          <a:lstStyle/>
          <a:p>
            <a:pPr algn="ctr">
              <a:spcBef>
                <a:spcPts val="0"/>
              </a:spcBef>
              <a:spcAft>
                <a:spcPts val="0"/>
              </a:spcAft>
            </a:pPr>
            <a:r>
              <a:rPr lang="tr-TR" sz="2200" b="0" i="0">
                <a:solidFill>
                  <a:srgbClr val="262626"/>
                </a:solidFill>
                <a:latin typeface="Calibri"/>
              </a:rPr>
              <a:t>ham madde</a:t>
            </a:r>
          </a:p>
        </p:txBody>
      </p:sp>
      <p:sp>
        <p:nvSpPr>
          <p:cNvPr id="11" name="Rounded Rectangle 10"/>
          <p:cNvSpPr/>
          <p:nvPr/>
        </p:nvSpPr>
        <p:spPr>
          <a:xfrm>
            <a:off x="502920" y="2615184"/>
            <a:ext cx="2194560" cy="1408176"/>
          </a:xfrm>
          <a:prstGeom prst="roundRect">
            <a:avLst>
              <a:gd name="adj" fmla="val 8000"/>
            </a:avLst>
          </a:prstGeom>
          <a:solidFill>
            <a:srgbClr val="3E8E41"/>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Doğal faktörler</a:t>
            </a:r>
          </a:p>
        </p:txBody>
      </p:sp>
      <p:sp>
        <p:nvSpPr>
          <p:cNvPr id="12" name="Rounded Rectangle 11"/>
          <p:cNvSpPr/>
          <p:nvPr/>
        </p:nvSpPr>
        <p:spPr>
          <a:xfrm>
            <a:off x="2880360" y="2688336"/>
            <a:ext cx="2081529" cy="566928"/>
          </a:xfrm>
          <a:prstGeom prst="roundRect">
            <a:avLst>
              <a:gd name="adj" fmla="val 50000"/>
            </a:avLst>
          </a:prstGeom>
          <a:solidFill>
            <a:srgbClr val="FFFFFF"/>
          </a:solidFill>
          <a:ln w="25400">
            <a:solidFill>
              <a:srgbClr val="3E8E41"/>
            </a:solidFill>
          </a:ln>
          <a:effectLst/>
        </p:spPr>
        <p:txBody>
          <a:bodyPr rtlCol="0" anchor="ctr" wrap="square" lIns="73152" rIns="73152" tIns="18288" bIns="18288">
            <a:noAutofit/>
          </a:bodyPr>
          <a:lstStyle/>
          <a:p>
            <a:pPr algn="ctr">
              <a:spcBef>
                <a:spcPts val="0"/>
              </a:spcBef>
              <a:spcAft>
                <a:spcPts val="0"/>
              </a:spcAft>
            </a:pPr>
            <a:r>
              <a:rPr lang="tr-TR" sz="2200" b="0" i="0">
                <a:solidFill>
                  <a:srgbClr val="262626"/>
                </a:solidFill>
                <a:latin typeface="Calibri"/>
              </a:rPr>
              <a:t>coğrafi konum</a:t>
            </a:r>
          </a:p>
        </p:txBody>
      </p:sp>
      <p:sp>
        <p:nvSpPr>
          <p:cNvPr id="13" name="Rounded Rectangle 12"/>
          <p:cNvSpPr/>
          <p:nvPr/>
        </p:nvSpPr>
        <p:spPr>
          <a:xfrm>
            <a:off x="5108193" y="2688336"/>
            <a:ext cx="958610" cy="566928"/>
          </a:xfrm>
          <a:prstGeom prst="roundRect">
            <a:avLst>
              <a:gd name="adj" fmla="val 50000"/>
            </a:avLst>
          </a:prstGeom>
          <a:solidFill>
            <a:srgbClr val="FFFFFF"/>
          </a:solidFill>
          <a:ln w="25400">
            <a:solidFill>
              <a:srgbClr val="3E8E41"/>
            </a:solidFill>
          </a:ln>
          <a:effectLst/>
        </p:spPr>
        <p:txBody>
          <a:bodyPr rtlCol="0" anchor="ctr" wrap="square" lIns="73152" rIns="73152" tIns="18288" bIns="18288">
            <a:noAutofit/>
          </a:bodyPr>
          <a:lstStyle/>
          <a:p>
            <a:pPr algn="ctr">
              <a:spcBef>
                <a:spcPts val="0"/>
              </a:spcBef>
              <a:spcAft>
                <a:spcPts val="0"/>
              </a:spcAft>
            </a:pPr>
            <a:r>
              <a:rPr lang="tr-TR" sz="2200" b="0" i="0">
                <a:solidFill>
                  <a:srgbClr val="262626"/>
                </a:solidFill>
                <a:latin typeface="Calibri"/>
              </a:rPr>
              <a:t>iklim</a:t>
            </a:r>
          </a:p>
        </p:txBody>
      </p:sp>
      <p:sp>
        <p:nvSpPr>
          <p:cNvPr id="14" name="Rounded Rectangle 13"/>
          <p:cNvSpPr/>
          <p:nvPr/>
        </p:nvSpPr>
        <p:spPr>
          <a:xfrm>
            <a:off x="6213107" y="2688336"/>
            <a:ext cx="2701307" cy="566928"/>
          </a:xfrm>
          <a:prstGeom prst="roundRect">
            <a:avLst>
              <a:gd name="adj" fmla="val 50000"/>
            </a:avLst>
          </a:prstGeom>
          <a:solidFill>
            <a:srgbClr val="FFFFFF"/>
          </a:solidFill>
          <a:ln w="25400">
            <a:solidFill>
              <a:srgbClr val="3E8E41"/>
            </a:solidFill>
          </a:ln>
          <a:effectLst/>
        </p:spPr>
        <p:txBody>
          <a:bodyPr rtlCol="0" anchor="ctr" wrap="square" lIns="73152" rIns="73152" tIns="18288" bIns="18288">
            <a:noAutofit/>
          </a:bodyPr>
          <a:lstStyle/>
          <a:p>
            <a:pPr algn="ctr">
              <a:spcBef>
                <a:spcPts val="0"/>
              </a:spcBef>
              <a:spcAft>
                <a:spcPts val="0"/>
              </a:spcAft>
            </a:pPr>
            <a:r>
              <a:rPr lang="tr-TR" sz="2200" b="0" i="0">
                <a:solidFill>
                  <a:srgbClr val="262626"/>
                </a:solidFill>
                <a:latin typeface="Calibri"/>
              </a:rPr>
              <a:t>topoğrafik faktörler</a:t>
            </a:r>
          </a:p>
        </p:txBody>
      </p:sp>
      <p:sp>
        <p:nvSpPr>
          <p:cNvPr id="15" name="Rounded Rectangle 14"/>
          <p:cNvSpPr/>
          <p:nvPr/>
        </p:nvSpPr>
        <p:spPr>
          <a:xfrm>
            <a:off x="9060718" y="2688336"/>
            <a:ext cx="1926413" cy="566928"/>
          </a:xfrm>
          <a:prstGeom prst="roundRect">
            <a:avLst>
              <a:gd name="adj" fmla="val 50000"/>
            </a:avLst>
          </a:prstGeom>
          <a:solidFill>
            <a:srgbClr val="FFFFFF"/>
          </a:solidFill>
          <a:ln w="25400">
            <a:solidFill>
              <a:srgbClr val="3E8E41"/>
            </a:solidFill>
          </a:ln>
          <a:effectLst/>
        </p:spPr>
        <p:txBody>
          <a:bodyPr rtlCol="0" anchor="ctr" wrap="square" lIns="73152" rIns="73152" tIns="18288" bIns="18288">
            <a:noAutofit/>
          </a:bodyPr>
          <a:lstStyle/>
          <a:p>
            <a:pPr algn="ctr">
              <a:spcBef>
                <a:spcPts val="0"/>
              </a:spcBef>
              <a:spcAft>
                <a:spcPts val="0"/>
              </a:spcAft>
            </a:pPr>
            <a:r>
              <a:rPr lang="tr-TR" sz="2200" b="0" i="0">
                <a:solidFill>
                  <a:srgbClr val="262626"/>
                </a:solidFill>
                <a:latin typeface="Calibri"/>
              </a:rPr>
              <a:t>su kaynakları</a:t>
            </a:r>
          </a:p>
        </p:txBody>
      </p:sp>
      <p:sp>
        <p:nvSpPr>
          <p:cNvPr id="16" name="Rounded Rectangle 15"/>
          <p:cNvSpPr/>
          <p:nvPr/>
        </p:nvSpPr>
        <p:spPr>
          <a:xfrm>
            <a:off x="2880360" y="3383280"/>
            <a:ext cx="1163445" cy="566928"/>
          </a:xfrm>
          <a:prstGeom prst="roundRect">
            <a:avLst>
              <a:gd name="adj" fmla="val 50000"/>
            </a:avLst>
          </a:prstGeom>
          <a:solidFill>
            <a:srgbClr val="FFFFFF"/>
          </a:solidFill>
          <a:ln w="25400">
            <a:solidFill>
              <a:srgbClr val="3E8E41"/>
            </a:solidFill>
          </a:ln>
          <a:effectLst/>
        </p:spPr>
        <p:txBody>
          <a:bodyPr rtlCol="0" anchor="ctr" wrap="square" lIns="73152" rIns="73152" tIns="18288" bIns="18288">
            <a:noAutofit/>
          </a:bodyPr>
          <a:lstStyle/>
          <a:p>
            <a:pPr algn="ctr">
              <a:spcBef>
                <a:spcPts val="0"/>
              </a:spcBef>
              <a:spcAft>
                <a:spcPts val="0"/>
              </a:spcAft>
            </a:pPr>
            <a:r>
              <a:rPr lang="tr-TR" sz="2200" b="0" i="0">
                <a:solidFill>
                  <a:srgbClr val="262626"/>
                </a:solidFill>
                <a:latin typeface="Calibri"/>
              </a:rPr>
              <a:t>toprak</a:t>
            </a:r>
          </a:p>
        </p:txBody>
      </p:sp>
      <p:sp>
        <p:nvSpPr>
          <p:cNvPr id="17" name="Rounded Rectangle 16"/>
          <p:cNvSpPr/>
          <p:nvPr/>
        </p:nvSpPr>
        <p:spPr>
          <a:xfrm>
            <a:off x="4190109" y="3383280"/>
            <a:ext cx="1754418" cy="566928"/>
          </a:xfrm>
          <a:prstGeom prst="roundRect">
            <a:avLst>
              <a:gd name="adj" fmla="val 50000"/>
            </a:avLst>
          </a:prstGeom>
          <a:solidFill>
            <a:srgbClr val="FFFFFF"/>
          </a:solidFill>
          <a:ln w="25400">
            <a:solidFill>
              <a:srgbClr val="3E8E41"/>
            </a:solidFill>
          </a:ln>
          <a:effectLst/>
        </p:spPr>
        <p:txBody>
          <a:bodyPr rtlCol="0" anchor="ctr" wrap="square" lIns="73152" rIns="73152" tIns="18288" bIns="18288">
            <a:noAutofit/>
          </a:bodyPr>
          <a:lstStyle/>
          <a:p>
            <a:pPr algn="ctr">
              <a:spcBef>
                <a:spcPts val="0"/>
              </a:spcBef>
              <a:spcAft>
                <a:spcPts val="0"/>
              </a:spcAft>
            </a:pPr>
            <a:r>
              <a:rPr lang="tr-TR" sz="2200" b="0" i="0">
                <a:solidFill>
                  <a:srgbClr val="262626"/>
                </a:solidFill>
                <a:latin typeface="Calibri"/>
              </a:rPr>
              <a:t>bitki örtüsü</a:t>
            </a:r>
          </a:p>
        </p:txBody>
      </p:sp>
      <p:sp>
        <p:nvSpPr>
          <p:cNvPr id="18" name="Rounded Rectangle 17"/>
          <p:cNvSpPr/>
          <p:nvPr/>
        </p:nvSpPr>
        <p:spPr>
          <a:xfrm>
            <a:off x="502920" y="4480560"/>
            <a:ext cx="2194560" cy="713232"/>
          </a:xfrm>
          <a:prstGeom prst="roundRect">
            <a:avLst>
              <a:gd name="adj" fmla="val 8000"/>
            </a:avLst>
          </a:prstGeom>
          <a:solidFill>
            <a:srgbClr val="2C6696"/>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Beşerî faktörler</a:t>
            </a:r>
          </a:p>
        </p:txBody>
      </p:sp>
      <p:sp>
        <p:nvSpPr>
          <p:cNvPr id="19" name="Rounded Rectangle 18"/>
          <p:cNvSpPr/>
          <p:nvPr/>
        </p:nvSpPr>
        <p:spPr>
          <a:xfrm>
            <a:off x="2880360" y="4553712"/>
            <a:ext cx="1055661" cy="566928"/>
          </a:xfrm>
          <a:prstGeom prst="roundRect">
            <a:avLst>
              <a:gd name="adj" fmla="val 50000"/>
            </a:avLst>
          </a:prstGeom>
          <a:solidFill>
            <a:srgbClr val="FFFFFF"/>
          </a:solidFill>
          <a:ln w="25400">
            <a:solidFill>
              <a:srgbClr val="2C6696"/>
            </a:solidFill>
          </a:ln>
          <a:effectLst/>
        </p:spPr>
        <p:txBody>
          <a:bodyPr rtlCol="0" anchor="ctr" wrap="square" lIns="73152" rIns="73152" tIns="18288" bIns="18288">
            <a:noAutofit/>
          </a:bodyPr>
          <a:lstStyle/>
          <a:p>
            <a:pPr algn="ctr">
              <a:spcBef>
                <a:spcPts val="0"/>
              </a:spcBef>
              <a:spcAft>
                <a:spcPts val="0"/>
              </a:spcAft>
            </a:pPr>
            <a:r>
              <a:rPr lang="tr-TR" sz="2200" b="0" i="0">
                <a:solidFill>
                  <a:srgbClr val="262626"/>
                </a:solidFill>
                <a:latin typeface="Calibri"/>
              </a:rPr>
              <a:t>nüfus</a:t>
            </a:r>
          </a:p>
        </p:txBody>
      </p:sp>
      <p:sp>
        <p:nvSpPr>
          <p:cNvPr id="20" name="Rounded Rectangle 19"/>
          <p:cNvSpPr/>
          <p:nvPr/>
        </p:nvSpPr>
        <p:spPr>
          <a:xfrm>
            <a:off x="4082325" y="4553712"/>
            <a:ext cx="1207888" cy="566928"/>
          </a:xfrm>
          <a:prstGeom prst="roundRect">
            <a:avLst>
              <a:gd name="adj" fmla="val 50000"/>
            </a:avLst>
          </a:prstGeom>
          <a:solidFill>
            <a:srgbClr val="FFFFFF"/>
          </a:solidFill>
          <a:ln w="25400">
            <a:solidFill>
              <a:srgbClr val="2C6696"/>
            </a:solidFill>
          </a:ln>
          <a:effectLst/>
        </p:spPr>
        <p:txBody>
          <a:bodyPr rtlCol="0" anchor="ctr" wrap="square" lIns="73152" rIns="73152" tIns="18288" bIns="18288">
            <a:noAutofit/>
          </a:bodyPr>
          <a:lstStyle/>
          <a:p>
            <a:pPr algn="ctr">
              <a:spcBef>
                <a:spcPts val="0"/>
              </a:spcBef>
              <a:spcAft>
                <a:spcPts val="0"/>
              </a:spcAft>
            </a:pPr>
            <a:r>
              <a:rPr lang="tr-TR" sz="2200" b="0" i="0">
                <a:solidFill>
                  <a:srgbClr val="262626"/>
                </a:solidFill>
                <a:latin typeface="Calibri"/>
              </a:rPr>
              <a:t>iş gücü</a:t>
            </a:r>
          </a:p>
        </p:txBody>
      </p:sp>
      <p:sp>
        <p:nvSpPr>
          <p:cNvPr id="21" name="Rounded Rectangle 20"/>
          <p:cNvSpPr/>
          <p:nvPr/>
        </p:nvSpPr>
        <p:spPr>
          <a:xfrm>
            <a:off x="5436517" y="4553712"/>
            <a:ext cx="1396715" cy="566928"/>
          </a:xfrm>
          <a:prstGeom prst="roundRect">
            <a:avLst>
              <a:gd name="adj" fmla="val 50000"/>
            </a:avLst>
          </a:prstGeom>
          <a:solidFill>
            <a:srgbClr val="FFFFFF"/>
          </a:solidFill>
          <a:ln w="25400">
            <a:solidFill>
              <a:srgbClr val="2C6696"/>
            </a:solidFill>
          </a:ln>
          <a:effectLst/>
        </p:spPr>
        <p:txBody>
          <a:bodyPr rtlCol="0" anchor="ctr" wrap="square" lIns="73152" rIns="73152" tIns="18288" bIns="18288">
            <a:noAutofit/>
          </a:bodyPr>
          <a:lstStyle/>
          <a:p>
            <a:pPr algn="ctr">
              <a:spcBef>
                <a:spcPts val="0"/>
              </a:spcBef>
              <a:spcAft>
                <a:spcPts val="0"/>
              </a:spcAft>
            </a:pPr>
            <a:r>
              <a:rPr lang="tr-TR" sz="2200" b="0" i="0">
                <a:solidFill>
                  <a:srgbClr val="262626"/>
                </a:solidFill>
                <a:latin typeface="Calibri"/>
              </a:rPr>
              <a:t>sermaye</a:t>
            </a:r>
          </a:p>
        </p:txBody>
      </p:sp>
      <p:sp>
        <p:nvSpPr>
          <p:cNvPr id="22" name="Rounded Rectangle 21"/>
          <p:cNvSpPr/>
          <p:nvPr/>
        </p:nvSpPr>
        <p:spPr>
          <a:xfrm>
            <a:off x="6979536" y="4553712"/>
            <a:ext cx="1431986" cy="566928"/>
          </a:xfrm>
          <a:prstGeom prst="roundRect">
            <a:avLst>
              <a:gd name="adj" fmla="val 50000"/>
            </a:avLst>
          </a:prstGeom>
          <a:solidFill>
            <a:srgbClr val="FFFFFF"/>
          </a:solidFill>
          <a:ln w="25400">
            <a:solidFill>
              <a:srgbClr val="2C6696"/>
            </a:solidFill>
          </a:ln>
          <a:effectLst/>
        </p:spPr>
        <p:txBody>
          <a:bodyPr rtlCol="0" anchor="ctr" wrap="square" lIns="73152" rIns="73152" tIns="18288" bIns="18288">
            <a:noAutofit/>
          </a:bodyPr>
          <a:lstStyle/>
          <a:p>
            <a:pPr algn="ctr">
              <a:spcBef>
                <a:spcPts val="0"/>
              </a:spcBef>
              <a:spcAft>
                <a:spcPts val="0"/>
              </a:spcAft>
            </a:pPr>
            <a:r>
              <a:rPr lang="tr-TR" sz="2200" b="0" i="0">
                <a:solidFill>
                  <a:srgbClr val="262626"/>
                </a:solidFill>
                <a:latin typeface="Calibri"/>
              </a:rPr>
              <a:t>teknoloji</a:t>
            </a:r>
          </a:p>
        </p:txBody>
      </p:sp>
      <p:sp>
        <p:nvSpPr>
          <p:cNvPr id="23" name="Rounded Rectangle 22"/>
          <p:cNvSpPr/>
          <p:nvPr/>
        </p:nvSpPr>
        <p:spPr>
          <a:xfrm>
            <a:off x="8557826" y="4553712"/>
            <a:ext cx="1736026" cy="566928"/>
          </a:xfrm>
          <a:prstGeom prst="roundRect">
            <a:avLst>
              <a:gd name="adj" fmla="val 50000"/>
            </a:avLst>
          </a:prstGeom>
          <a:solidFill>
            <a:srgbClr val="FFFFFF"/>
          </a:solidFill>
          <a:ln w="25400">
            <a:solidFill>
              <a:srgbClr val="2C6696"/>
            </a:solidFill>
          </a:ln>
          <a:effectLst/>
        </p:spPr>
        <p:txBody>
          <a:bodyPr rtlCol="0" anchor="ctr" wrap="square" lIns="73152" rIns="73152" tIns="18288" bIns="18288">
            <a:noAutofit/>
          </a:bodyPr>
          <a:lstStyle/>
          <a:p>
            <a:pPr algn="ctr">
              <a:spcBef>
                <a:spcPts val="0"/>
              </a:spcBef>
              <a:spcAft>
                <a:spcPts val="0"/>
              </a:spcAft>
            </a:pPr>
            <a:r>
              <a:rPr lang="tr-TR" sz="2200" b="0" i="0">
                <a:solidFill>
                  <a:srgbClr val="262626"/>
                </a:solidFill>
                <a:latin typeface="Calibri"/>
              </a:rPr>
              <a:t>gelir düzeyi</a:t>
            </a:r>
          </a:p>
        </p:txBody>
      </p:sp>
      <p:sp>
        <p:nvSpPr>
          <p:cNvPr id="24" name="TextBox 2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5" name="Rounded Rectangle 2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171</a:t>
            </a:r>
          </a:p>
        </p:txBody>
      </p:sp>
      <p:sp>
        <p:nvSpPr>
          <p:cNvPr id="26" name="TextBox 2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 / 166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85C12"/>
          </a:solidFill>
          <a:ln>
            <a:noFill/>
          </a:ln>
          <a:effectLst/>
        </p:spPr>
        <p:txBody>
          <a:bodyPr rtlCol="0" anchor="ctr"/>
          <a:lstStyle/>
          <a:p/>
        </p:txBody>
      </p:sp>
      <p:sp>
        <p:nvSpPr>
          <p:cNvPr id="3" name="Rectangle 2"/>
          <p:cNvSpPr/>
          <p:nvPr/>
        </p:nvSpPr>
        <p:spPr>
          <a:xfrm>
            <a:off x="0" y="6199632"/>
            <a:ext cx="12191695" cy="73152"/>
          </a:xfrm>
          <a:prstGeom prst="rect">
            <a:avLst/>
          </a:prstGeom>
          <a:solidFill>
            <a:srgbClr val="FCC021"/>
          </a:solidFill>
          <a:ln>
            <a:noFill/>
          </a:ln>
          <a:effectLst/>
        </p:spPr>
        <p:txBody>
          <a:bodyPr rtlCol="0" anchor="ctr"/>
          <a:lstStyle/>
          <a:p/>
        </p:txBody>
      </p:sp>
      <p:sp>
        <p:nvSpPr>
          <p:cNvPr id="4" name="TextBox 3"/>
          <p:cNvSpPr txBox="1"/>
          <p:nvPr/>
        </p:nvSpPr>
        <p:spPr>
          <a:xfrm>
            <a:off x="548640" y="320040"/>
            <a:ext cx="2377440" cy="502920"/>
          </a:xfrm>
          <a:prstGeom prst="rect">
            <a:avLst/>
          </a:prstGeom>
          <a:noFill/>
        </p:spPr>
        <p:txBody>
          <a:bodyPr wrap="square" anchor="t" lIns="73152" rIns="73152" tIns="36576" bIns="36576">
            <a:noAutofit/>
          </a:bodyPr>
          <a:lstStyle/>
          <a:p>
            <a:pPr algn="l">
              <a:spcBef>
                <a:spcPts val="0"/>
              </a:spcBef>
              <a:spcAft>
                <a:spcPts val="0"/>
              </a:spcAft>
            </a:pPr>
            <a:r>
              <a:rPr lang="tr-TR" sz="2400" b="1" i="0">
                <a:solidFill>
                  <a:srgbClr val="FCC021"/>
                </a:solidFill>
                <a:latin typeface="Calibri"/>
              </a:rPr>
              <a:t>28. HAFTA</a:t>
            </a:r>
          </a:p>
        </p:txBody>
      </p:sp>
      <p:sp>
        <p:nvSpPr>
          <p:cNvPr id="5" name="TextBox 4"/>
          <p:cNvSpPr txBox="1"/>
          <p:nvPr/>
        </p:nvSpPr>
        <p:spPr>
          <a:xfrm>
            <a:off x="411480" y="731520"/>
            <a:ext cx="2377440" cy="2514600"/>
          </a:xfrm>
          <a:prstGeom prst="rect">
            <a:avLst/>
          </a:prstGeom>
          <a:noFill/>
        </p:spPr>
        <p:txBody>
          <a:bodyPr wrap="square" anchor="t" lIns="73152" rIns="73152" tIns="0" bIns="0">
            <a:noAutofit/>
          </a:bodyPr>
          <a:lstStyle/>
          <a:p>
            <a:pPr algn="l">
              <a:spcBef>
                <a:spcPts val="0"/>
              </a:spcBef>
              <a:spcAft>
                <a:spcPts val="0"/>
              </a:spcAft>
            </a:pPr>
            <a:r>
              <a:rPr lang="tr-TR" sz="16000" b="1" i="0">
                <a:solidFill>
                  <a:srgbClr val="FCC021"/>
                </a:solidFill>
                <a:latin typeface="Calibri"/>
              </a:rPr>
              <a:t>28</a:t>
            </a:r>
          </a:p>
        </p:txBody>
      </p:sp>
      <p:sp>
        <p:nvSpPr>
          <p:cNvPr id="6" name="TextBox 5"/>
          <p:cNvSpPr txBox="1"/>
          <p:nvPr/>
        </p:nvSpPr>
        <p:spPr>
          <a:xfrm>
            <a:off x="2834640" y="411480"/>
            <a:ext cx="8869680" cy="1051560"/>
          </a:xfrm>
          <a:prstGeom prst="rect">
            <a:avLst/>
          </a:prstGeom>
          <a:noFill/>
        </p:spPr>
        <p:txBody>
          <a:bodyPr wrap="square" anchor="ctr" lIns="73152" rIns="73152" tIns="36576" bIns="36576">
            <a:noAutofit/>
          </a:bodyPr>
          <a:lstStyle/>
          <a:p>
            <a:pPr algn="l">
              <a:spcBef>
                <a:spcPts val="0"/>
              </a:spcBef>
              <a:spcAft>
                <a:spcPts val="0"/>
              </a:spcAft>
            </a:pPr>
            <a:r>
              <a:rPr lang="tr-TR" sz="3200" b="1" i="0">
                <a:solidFill>
                  <a:srgbClr val="FFFFFF"/>
                </a:solidFill>
                <a:latin typeface="Calibri"/>
              </a:rPr>
              <a:t>Ekonomik Faaliyetler I: Süreçler ve Doğal Faktörler</a:t>
            </a:r>
          </a:p>
        </p:txBody>
      </p:sp>
      <p:sp>
        <p:nvSpPr>
          <p:cNvPr id="7" name="TextBox 6"/>
          <p:cNvSpPr txBox="1"/>
          <p:nvPr/>
        </p:nvSpPr>
        <p:spPr>
          <a:xfrm>
            <a:off x="2834640" y="1481328"/>
            <a:ext cx="8869680" cy="411480"/>
          </a:xfrm>
          <a:prstGeom prst="rect">
            <a:avLst/>
          </a:prstGeom>
          <a:noFill/>
        </p:spPr>
        <p:txBody>
          <a:bodyPr wrap="square" anchor="t" lIns="73152" rIns="73152" tIns="36576" bIns="36576">
            <a:noAutofit/>
          </a:bodyPr>
          <a:lstStyle/>
          <a:p>
            <a:pPr algn="l">
              <a:spcBef>
                <a:spcPts val="0"/>
              </a:spcBef>
              <a:spcAft>
                <a:spcPts val="0"/>
              </a:spcAft>
            </a:pPr>
            <a:r>
              <a:rPr lang="tr-TR" sz="1800" b="0" i="0">
                <a:solidFill>
                  <a:srgbClr val="E3ECF5"/>
                </a:solidFill>
                <a:latin typeface="Calibri"/>
              </a:rPr>
              <a:t>19-23 Nisan 2027 · 2 ders saati · Kitap s. 172-176</a:t>
            </a:r>
          </a:p>
        </p:txBody>
      </p:sp>
      <p:sp>
        <p:nvSpPr>
          <p:cNvPr id="8" name="Rounded Rectangle 7"/>
          <p:cNvSpPr/>
          <p:nvPr/>
        </p:nvSpPr>
        <p:spPr>
          <a:xfrm>
            <a:off x="2834640" y="2011680"/>
            <a:ext cx="8869680" cy="4023360"/>
          </a:xfrm>
          <a:prstGeom prst="roundRect">
            <a:avLst>
              <a:gd name="adj" fmla="val 5000"/>
            </a:avLst>
          </a:prstGeom>
          <a:solidFill>
            <a:srgbClr val="FFFFFF">
              <a:alpha val="12000"/>
            </a:srgbClr>
          </a:solidFill>
          <a:ln>
            <a:noFill/>
          </a:ln>
          <a:effectLst/>
        </p:spPr>
        <p:txBody>
          <a:bodyPr rtlCol="0" anchor="ctr"/>
          <a:lstStyle/>
          <a:p/>
        </p:txBody>
      </p:sp>
      <p:sp>
        <p:nvSpPr>
          <p:cNvPr id="9" name="TextBox 8"/>
          <p:cNvSpPr txBox="1"/>
          <p:nvPr/>
        </p:nvSpPr>
        <p:spPr>
          <a:xfrm>
            <a:off x="3063240" y="2148840"/>
            <a:ext cx="8412480" cy="365760"/>
          </a:xfrm>
          <a:prstGeom prst="rect">
            <a:avLst/>
          </a:prstGeom>
          <a:noFill/>
        </p:spPr>
        <p:txBody>
          <a:bodyPr wrap="square" anchor="t" lIns="73152" rIns="73152" tIns="36576" bIns="36576">
            <a:noAutofit/>
          </a:bodyPr>
          <a:lstStyle/>
          <a:p>
            <a:pPr algn="l">
              <a:spcBef>
                <a:spcPts val="0"/>
              </a:spcBef>
              <a:spcAft>
                <a:spcPts val="0"/>
              </a:spcAft>
            </a:pPr>
            <a:r>
              <a:rPr lang="tr-TR" sz="1600" b="1" i="0">
                <a:solidFill>
                  <a:srgbClr val="FCC021"/>
                </a:solidFill>
                <a:latin typeface="Calibri"/>
              </a:rPr>
              <a:t>ÖĞRENME ÇIKTISI · COĞ.9.5.1</a:t>
            </a:r>
          </a:p>
        </p:txBody>
      </p:sp>
      <p:sp>
        <p:nvSpPr>
          <p:cNvPr id="10" name="TextBox 9"/>
          <p:cNvSpPr txBox="1"/>
          <p:nvPr/>
        </p:nvSpPr>
        <p:spPr>
          <a:xfrm>
            <a:off x="3063240" y="2532888"/>
            <a:ext cx="8412480" cy="873252"/>
          </a:xfrm>
          <a:prstGeom prst="rect">
            <a:avLst/>
          </a:prstGeom>
          <a:noFill/>
        </p:spPr>
        <p:txBody>
          <a:bodyPr wrap="square" anchor="t" lIns="73152" rIns="73152" tIns="36576" bIns="36576">
            <a:noAutofit/>
          </a:bodyPr>
          <a:lstStyle/>
          <a:p>
            <a:pPr algn="l">
              <a:spcBef>
                <a:spcPts val="0"/>
              </a:spcBef>
              <a:spcAft>
                <a:spcPts val="0"/>
              </a:spcAft>
            </a:pPr>
            <a:r>
              <a:rPr lang="tr-TR" sz="2500" b="1" i="0">
                <a:solidFill>
                  <a:srgbClr val="FFFFFF"/>
                </a:solidFill>
                <a:latin typeface="Calibri"/>
              </a:rPr>
              <a:t>Doğal ve beşerî faktörlerin ekonomik faaliyetlere etkilerini sorgulayabilme</a:t>
            </a:r>
          </a:p>
        </p:txBody>
      </p:sp>
      <p:sp>
        <p:nvSpPr>
          <p:cNvPr id="11" name="TextBox 10"/>
          <p:cNvSpPr txBox="1"/>
          <p:nvPr/>
        </p:nvSpPr>
        <p:spPr>
          <a:xfrm>
            <a:off x="3063240" y="3515868"/>
            <a:ext cx="8412480" cy="347472"/>
          </a:xfrm>
          <a:prstGeom prst="rect">
            <a:avLst/>
          </a:prstGeom>
          <a:noFill/>
        </p:spPr>
        <p:txBody>
          <a:bodyPr wrap="square" anchor="t" lIns="73152" rIns="73152" tIns="36576" bIns="36576">
            <a:noAutofit/>
          </a:bodyPr>
          <a:lstStyle/>
          <a:p>
            <a:pPr algn="l">
              <a:spcBef>
                <a:spcPts val="0"/>
              </a:spcBef>
              <a:spcAft>
                <a:spcPts val="0"/>
              </a:spcAft>
            </a:pPr>
            <a:r>
              <a:rPr lang="tr-TR" sz="1500" b="1" i="0">
                <a:solidFill>
                  <a:srgbClr val="FCC021"/>
                </a:solidFill>
                <a:latin typeface="Calibri"/>
              </a:rPr>
              <a:t>Süreç bileşenleri</a:t>
            </a:r>
          </a:p>
        </p:txBody>
      </p:sp>
      <p:sp>
        <p:nvSpPr>
          <p:cNvPr id="12" name="TextBox 11"/>
          <p:cNvSpPr txBox="1"/>
          <p:nvPr/>
        </p:nvSpPr>
        <p:spPr>
          <a:xfrm>
            <a:off x="3063240" y="3881628"/>
            <a:ext cx="8412480" cy="2043684"/>
          </a:xfrm>
          <a:prstGeom prst="rect">
            <a:avLst/>
          </a:prstGeom>
          <a:noFill/>
        </p:spPr>
        <p:txBody>
          <a:bodyPr wrap="square" anchor="t" lIns="73152" rIns="73152" tIns="36576" bIns="36576">
            <a:noAutofit/>
          </a:bodyPr>
          <a:lstStyle/>
          <a:p>
            <a:pPr algn="l" marL="320722" indent="-320722">
              <a:spcBef>
                <a:spcPts val="0"/>
              </a:spcBef>
              <a:spcAft>
                <a:spcPts val="487"/>
              </a:spcAft>
            </a:pPr>
            <a:r>
              <a:rPr lang="tr-TR" sz="1950" b="1" i="0">
                <a:solidFill>
                  <a:srgbClr val="FCC021"/>
                </a:solidFill>
                <a:latin typeface="Calibri"/>
              </a:rPr>
              <a:t>a)  </a:t>
            </a:r>
            <a:r>
              <a:rPr lang="tr-TR" sz="1950" b="0" i="0">
                <a:solidFill>
                  <a:srgbClr val="FFFFFF"/>
                </a:solidFill>
                <a:latin typeface="Calibri"/>
              </a:rPr>
              <a:t>Doğal ve beşerî faktörlerin ekonomik faaliyetlere etkileriyle ilgili merak ettiği soruları sorar.</a:t>
            </a:r>
          </a:p>
          <a:p>
            <a:pPr algn="l" marL="331683" indent="-331683">
              <a:spcBef>
                <a:spcPts val="0"/>
              </a:spcBef>
              <a:spcAft>
                <a:spcPts val="487"/>
              </a:spcAft>
            </a:pPr>
            <a:r>
              <a:rPr lang="tr-TR" sz="1950" b="1" i="0">
                <a:solidFill>
                  <a:srgbClr val="FCC021"/>
                </a:solidFill>
                <a:latin typeface="Calibri"/>
              </a:rPr>
              <a:t>b)  </a:t>
            </a:r>
            <a:r>
              <a:rPr lang="tr-TR" sz="1950" b="0" i="0">
                <a:solidFill>
                  <a:srgbClr val="FFFFFF"/>
                </a:solidFill>
                <a:latin typeface="Calibri"/>
              </a:rPr>
              <a:t>Doğal ve beşerî faktörlerin ekonomik faaliyetlere etkileriyle ilgili bilgi toplar.</a:t>
            </a:r>
          </a:p>
          <a:p>
            <a:pPr algn="l" marL="301551" indent="-301551">
              <a:spcBef>
                <a:spcPts val="0"/>
              </a:spcBef>
              <a:spcAft>
                <a:spcPts val="0"/>
              </a:spcAft>
            </a:pPr>
            <a:r>
              <a:rPr lang="tr-TR" sz="1950" b="1" i="0">
                <a:solidFill>
                  <a:srgbClr val="FCC021"/>
                </a:solidFill>
                <a:latin typeface="Calibri"/>
              </a:rPr>
              <a:t>c)  </a:t>
            </a:r>
            <a:r>
              <a:rPr lang="tr-TR" sz="1950" b="0" i="0">
                <a:solidFill>
                  <a:srgbClr val="FFFFFF"/>
                </a:solidFill>
                <a:latin typeface="Calibri"/>
              </a:rPr>
              <a:t>Doğal ve beşerî faktörlerin ekonomik faaliyetlere etkileriyle ilgili topladığı bilgileri düzenler.</a:t>
            </a:r>
          </a:p>
        </p:txBody>
      </p:sp>
      <p:sp>
        <p:nvSpPr>
          <p:cNvPr id="13" name="TextBox 1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F0F0F0"/>
                </a:solidFill>
                <a:latin typeface="Calibri"/>
              </a:rPr>
              <a:t>9. Sınıf Coğrafya · 5. Ünite: Ekonomik Faaliyetler ve Etkileri</a:t>
            </a:r>
          </a:p>
        </p:txBody>
      </p:sp>
      <p:sp>
        <p:nvSpPr>
          <p:cNvPr id="14" name="TextBox 1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F0F0F0"/>
                </a:solidFill>
                <a:latin typeface="Calibri"/>
              </a:rPr>
              <a:t>5 / 166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Bugün neler yapacağız?</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28. HAFTA</a:t>
            </a:r>
          </a:p>
        </p:txBody>
      </p:sp>
      <p:cxnSp>
        <p:nvCxnSpPr>
          <p:cNvPr id="6" name="Connector 5"/>
          <p:cNvCxnSpPr/>
          <p:nvPr/>
        </p:nvCxnSpPr>
        <p:spPr>
          <a:xfrm>
            <a:off x="1351254" y="2212848"/>
            <a:ext cx="9489185" cy="0"/>
          </a:xfrm>
          <a:prstGeom prst="line">
            <a:avLst/>
          </a:prstGeom>
          <a:ln w="50800">
            <a:solidFill>
              <a:srgbClr val="D9D9D9"/>
            </a:solidFill>
          </a:ln>
        </p:spPr>
      </p:cxnSp>
      <p:sp>
        <p:nvSpPr>
          <p:cNvPr id="7" name="Oval 6"/>
          <p:cNvSpPr/>
          <p:nvPr/>
        </p:nvSpPr>
        <p:spPr>
          <a:xfrm>
            <a:off x="967206" y="1828800"/>
            <a:ext cx="768096" cy="768096"/>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1</a:t>
            </a:r>
          </a:p>
        </p:txBody>
      </p:sp>
      <p:sp>
        <p:nvSpPr>
          <p:cNvPr id="8" name="Rounded Rectangle 7"/>
          <p:cNvSpPr/>
          <p:nvPr/>
        </p:nvSpPr>
        <p:spPr>
          <a:xfrm>
            <a:off x="502920"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Nereden başlıyoruz?</a:t>
            </a:r>
          </a:p>
        </p:txBody>
      </p:sp>
      <p:sp>
        <p:nvSpPr>
          <p:cNvPr id="9" name="TextBox 8"/>
          <p:cNvSpPr txBox="1"/>
          <p:nvPr/>
        </p:nvSpPr>
        <p:spPr>
          <a:xfrm>
            <a:off x="502920"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Altı görsel ve yaşadığımız yer</a:t>
            </a:r>
          </a:p>
        </p:txBody>
      </p:sp>
      <p:sp>
        <p:nvSpPr>
          <p:cNvPr id="10" name="Oval 9"/>
          <p:cNvSpPr/>
          <p:nvPr/>
        </p:nvSpPr>
        <p:spPr>
          <a:xfrm>
            <a:off x="2865043" y="1828800"/>
            <a:ext cx="768096" cy="768096"/>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2</a:t>
            </a:r>
          </a:p>
        </p:txBody>
      </p:sp>
      <p:sp>
        <p:nvSpPr>
          <p:cNvPr id="11" name="Rounded Rectangle 10"/>
          <p:cNvSpPr/>
          <p:nvPr/>
        </p:nvSpPr>
        <p:spPr>
          <a:xfrm>
            <a:off x="2400757"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Gece ışıkları</a:t>
            </a:r>
          </a:p>
        </p:txBody>
      </p:sp>
      <p:sp>
        <p:nvSpPr>
          <p:cNvPr id="12" name="TextBox 11"/>
          <p:cNvSpPr txBox="1"/>
          <p:nvPr/>
        </p:nvSpPr>
        <p:spPr>
          <a:xfrm>
            <a:off x="2400757"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Ekonomiyi uzaydan okumak</a:t>
            </a:r>
          </a:p>
        </p:txBody>
      </p:sp>
      <p:sp>
        <p:nvSpPr>
          <p:cNvPr id="13" name="Oval 12"/>
          <p:cNvSpPr/>
          <p:nvPr/>
        </p:nvSpPr>
        <p:spPr>
          <a:xfrm>
            <a:off x="4762880" y="1828800"/>
            <a:ext cx="768096" cy="768096"/>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3</a:t>
            </a:r>
          </a:p>
        </p:txBody>
      </p:sp>
      <p:sp>
        <p:nvSpPr>
          <p:cNvPr id="14" name="Rounded Rectangle 13"/>
          <p:cNvSpPr/>
          <p:nvPr/>
        </p:nvSpPr>
        <p:spPr>
          <a:xfrm>
            <a:off x="4298594"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Üç süreç</a:t>
            </a:r>
          </a:p>
        </p:txBody>
      </p:sp>
      <p:sp>
        <p:nvSpPr>
          <p:cNvPr id="15" name="TextBox 14"/>
          <p:cNvSpPr txBox="1"/>
          <p:nvPr/>
        </p:nvSpPr>
        <p:spPr>
          <a:xfrm>
            <a:off x="4298594"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Üretim, dağıtım, tüketim</a:t>
            </a:r>
          </a:p>
        </p:txBody>
      </p:sp>
      <p:sp>
        <p:nvSpPr>
          <p:cNvPr id="16" name="Oval 15"/>
          <p:cNvSpPr/>
          <p:nvPr/>
        </p:nvSpPr>
        <p:spPr>
          <a:xfrm>
            <a:off x="6660717" y="1828800"/>
            <a:ext cx="768096" cy="768096"/>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4</a:t>
            </a:r>
          </a:p>
        </p:txBody>
      </p:sp>
      <p:sp>
        <p:nvSpPr>
          <p:cNvPr id="17" name="Rounded Rectangle 16"/>
          <p:cNvSpPr/>
          <p:nvPr/>
        </p:nvSpPr>
        <p:spPr>
          <a:xfrm>
            <a:off x="6196431"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KWL</a:t>
            </a:r>
          </a:p>
        </p:txBody>
      </p:sp>
      <p:sp>
        <p:nvSpPr>
          <p:cNvPr id="18" name="TextBox 17"/>
          <p:cNvSpPr txBox="1"/>
          <p:nvPr/>
        </p:nvSpPr>
        <p:spPr>
          <a:xfrm>
            <a:off x="6196431"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Ne biliyorum? Ne merak ediyorum?</a:t>
            </a:r>
          </a:p>
        </p:txBody>
      </p:sp>
      <p:sp>
        <p:nvSpPr>
          <p:cNvPr id="19" name="Oval 18"/>
          <p:cNvSpPr/>
          <p:nvPr/>
        </p:nvSpPr>
        <p:spPr>
          <a:xfrm>
            <a:off x="8558554" y="1828800"/>
            <a:ext cx="768096" cy="768096"/>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5</a:t>
            </a:r>
          </a:p>
        </p:txBody>
      </p:sp>
      <p:sp>
        <p:nvSpPr>
          <p:cNvPr id="20" name="Rounded Rectangle 19"/>
          <p:cNvSpPr/>
          <p:nvPr/>
        </p:nvSpPr>
        <p:spPr>
          <a:xfrm>
            <a:off x="8094268"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Yedi doğal faktör</a:t>
            </a:r>
          </a:p>
        </p:txBody>
      </p:sp>
      <p:sp>
        <p:nvSpPr>
          <p:cNvPr id="21" name="TextBox 20"/>
          <p:cNvSpPr txBox="1"/>
          <p:nvPr/>
        </p:nvSpPr>
        <p:spPr>
          <a:xfrm>
            <a:off x="8094268"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Uzman okuma ve bilgi kartı</a:t>
            </a:r>
          </a:p>
        </p:txBody>
      </p:sp>
      <p:sp>
        <p:nvSpPr>
          <p:cNvPr id="22" name="Oval 21"/>
          <p:cNvSpPr/>
          <p:nvPr/>
        </p:nvSpPr>
        <p:spPr>
          <a:xfrm>
            <a:off x="10456391" y="1828800"/>
            <a:ext cx="768096" cy="768096"/>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6</a:t>
            </a:r>
          </a:p>
        </p:txBody>
      </p:sp>
      <p:sp>
        <p:nvSpPr>
          <p:cNvPr id="23" name="Rounded Rectangle 22"/>
          <p:cNvSpPr/>
          <p:nvPr/>
        </p:nvSpPr>
        <p:spPr>
          <a:xfrm>
            <a:off x="9992105"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Harita uygulaması</a:t>
            </a:r>
          </a:p>
        </p:txBody>
      </p:sp>
      <p:sp>
        <p:nvSpPr>
          <p:cNvPr id="24" name="TextBox 23"/>
          <p:cNvSpPr txBox="1"/>
          <p:nvPr/>
        </p:nvSpPr>
        <p:spPr>
          <a:xfrm>
            <a:off x="9992105"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Tarım nerede sınırlı, neden?</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6" name="TextBox 2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6 / 166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Yeni gruplar ve Turizm Haftası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28. HAFTA</a:t>
            </a:r>
          </a:p>
        </p:txBody>
      </p:sp>
      <p:sp>
        <p:nvSpPr>
          <p:cNvPr id="6" name="Rounded Rectangle 5"/>
          <p:cNvSpPr/>
          <p:nvPr/>
        </p:nvSpPr>
        <p:spPr>
          <a:xfrm>
            <a:off x="502920" y="1261872"/>
            <a:ext cx="5455767" cy="498348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61872"/>
            <a:ext cx="5455767" cy="530352"/>
          </a:xfrm>
          <a:prstGeom prst="roundRect">
            <a:avLst>
              <a:gd name="adj" fmla="val 25000"/>
            </a:avLst>
          </a:prstGeom>
          <a:solidFill>
            <a:srgbClr val="B85C12"/>
          </a:solidFill>
          <a:ln>
            <a:noFill/>
          </a:ln>
          <a:effectLst/>
        </p:spPr>
        <p:txBody>
          <a:bodyPr rtlCol="0" anchor="ctr"/>
          <a:lstStyle/>
          <a:p/>
        </p:txBody>
      </p:sp>
      <p:sp>
        <p:nvSpPr>
          <p:cNvPr id="8" name="Rectangle 7"/>
          <p:cNvSpPr/>
          <p:nvPr/>
        </p:nvSpPr>
        <p:spPr>
          <a:xfrm>
            <a:off x="502920" y="1527048"/>
            <a:ext cx="5455767" cy="265176"/>
          </a:xfrm>
          <a:prstGeom prst="rect">
            <a:avLst/>
          </a:prstGeom>
          <a:solidFill>
            <a:srgbClr val="B85C12"/>
          </a:solidFill>
          <a:ln>
            <a:noFill/>
          </a:ln>
          <a:effectLst/>
        </p:spPr>
        <p:txBody>
          <a:bodyPr rtlCol="0" anchor="ctr"/>
          <a:lstStyle/>
          <a:p/>
        </p:txBody>
      </p:sp>
      <p:sp>
        <p:nvSpPr>
          <p:cNvPr id="9" name="TextBox 8"/>
          <p:cNvSpPr txBox="1"/>
          <p:nvPr/>
        </p:nvSpPr>
        <p:spPr>
          <a:xfrm>
            <a:off x="594360" y="1261872"/>
            <a:ext cx="5272887" cy="530352"/>
          </a:xfrm>
          <a:prstGeom prst="rect">
            <a:avLst/>
          </a:prstGeom>
          <a:noFill/>
        </p:spPr>
        <p:txBody>
          <a:bodyPr wrap="square" anchor="ctr" lIns="73152" rIns="73152" tIns="36576" bIns="36576">
            <a:noAutofit/>
          </a:bodyPr>
          <a:lstStyle/>
          <a:p>
            <a:pPr algn="l">
              <a:spcBef>
                <a:spcPts val="0"/>
              </a:spcBef>
              <a:spcAft>
                <a:spcPts val="0"/>
              </a:spcAft>
            </a:pPr>
            <a:r>
              <a:rPr lang="tr-TR" sz="2400" b="1" i="0">
                <a:solidFill>
                  <a:srgbClr val="FFFFFF"/>
                </a:solidFill>
                <a:latin typeface="Calibri"/>
              </a:rPr>
              <a:t>Yeni gruplarımız</a:t>
            </a:r>
          </a:p>
        </p:txBody>
      </p:sp>
      <p:sp>
        <p:nvSpPr>
          <p:cNvPr id="10" name="TextBox 9"/>
          <p:cNvSpPr txBox="1"/>
          <p:nvPr/>
        </p:nvSpPr>
        <p:spPr>
          <a:xfrm>
            <a:off x="612648" y="1865376"/>
            <a:ext cx="5236311" cy="4306824"/>
          </a:xfrm>
          <a:prstGeom prst="rect">
            <a:avLst/>
          </a:prstGeom>
          <a:noFill/>
        </p:spPr>
        <p:txBody>
          <a:bodyPr wrap="square" anchor="ctr" lIns="73152" rIns="73152" tIns="36576" bIns="36576">
            <a:noAutofit/>
          </a:bodyPr>
          <a:lstStyle/>
          <a:p>
            <a:pPr algn="l" marL="298344" indent="-298344">
              <a:spcBef>
                <a:spcPts val="0"/>
              </a:spcBef>
              <a:spcAft>
                <a:spcPts val="600"/>
              </a:spcAft>
            </a:pPr>
            <a:r>
              <a:rPr lang="tr-TR" sz="2400" b="1" i="0">
                <a:solidFill>
                  <a:srgbClr val="2C6696"/>
                </a:solidFill>
                <a:latin typeface="Calibri"/>
              </a:rPr>
              <a:t>•  </a:t>
            </a:r>
            <a:r>
              <a:rPr lang="tr-TR" sz="2400" b="0" i="0">
                <a:solidFill>
                  <a:srgbClr val="262626"/>
                </a:solidFill>
                <a:latin typeface="Calibri"/>
              </a:rPr>
              <a:t>8 grup: 6 grup 4 kişi, 2 grup 5 kişi</a:t>
            </a:r>
          </a:p>
          <a:p>
            <a:pPr algn="l" marL="298344" indent="-298344">
              <a:spcBef>
                <a:spcPts val="0"/>
              </a:spcBef>
              <a:spcAft>
                <a:spcPts val="600"/>
              </a:spcAft>
            </a:pPr>
            <a:r>
              <a:rPr lang="tr-TR" sz="2400" b="1" i="0">
                <a:solidFill>
                  <a:srgbClr val="2C6696"/>
                </a:solidFill>
                <a:latin typeface="Calibri"/>
              </a:rPr>
              <a:t>•  </a:t>
            </a:r>
            <a:r>
              <a:rPr lang="tr-TR" sz="2400" b="0" i="0">
                <a:solidFill>
                  <a:srgbClr val="262626"/>
                </a:solidFill>
                <a:latin typeface="Calibri"/>
              </a:rPr>
              <a:t>Grup listesi tahtada</a:t>
            </a:r>
          </a:p>
          <a:p>
            <a:pPr algn="l" marL="298344" indent="-298344">
              <a:spcBef>
                <a:spcPts val="0"/>
              </a:spcBef>
              <a:spcAft>
                <a:spcPts val="600"/>
              </a:spcAft>
            </a:pPr>
            <a:r>
              <a:rPr lang="tr-TR" sz="2400" b="1" i="0">
                <a:solidFill>
                  <a:srgbClr val="2C6696"/>
                </a:solidFill>
                <a:latin typeface="Calibri"/>
              </a:rPr>
              <a:t>•  </a:t>
            </a:r>
            <a:r>
              <a:rPr lang="tr-TR" sz="2400" b="0" i="0">
                <a:solidFill>
                  <a:srgbClr val="262626"/>
                </a:solidFill>
                <a:latin typeface="Calibri"/>
              </a:rPr>
              <a:t>Roller: sözcü · yazıcı · zaman ve malzeme · harita/veri okuyucu (5 kişilikte kontrolcü)</a:t>
            </a:r>
          </a:p>
          <a:p>
            <a:pPr algn="l" marL="298344" indent="-298344">
              <a:spcBef>
                <a:spcPts val="0"/>
              </a:spcBef>
              <a:spcAft>
                <a:spcPts val="0"/>
              </a:spcAft>
            </a:pPr>
            <a:r>
              <a:rPr lang="tr-TR" sz="2400" b="1" i="0">
                <a:solidFill>
                  <a:srgbClr val="2C6696"/>
                </a:solidFill>
                <a:latin typeface="Calibri"/>
              </a:rPr>
              <a:t>•  </a:t>
            </a:r>
            <a:r>
              <a:rPr lang="tr-TR" sz="2400" b="0" i="0">
                <a:solidFill>
                  <a:srgbClr val="262626"/>
                </a:solidFill>
                <a:latin typeface="Calibri"/>
              </a:rPr>
              <a:t>Roller her hafta döner</a:t>
            </a:r>
          </a:p>
        </p:txBody>
      </p:sp>
      <p:sp>
        <p:nvSpPr>
          <p:cNvPr id="11" name="Rounded Rectangle 10"/>
          <p:cNvSpPr/>
          <p:nvPr/>
        </p:nvSpPr>
        <p:spPr>
          <a:xfrm>
            <a:off x="6233007" y="1261872"/>
            <a:ext cx="5455767" cy="498348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6233007" y="1261872"/>
            <a:ext cx="5455767" cy="530352"/>
          </a:xfrm>
          <a:prstGeom prst="roundRect">
            <a:avLst>
              <a:gd name="adj" fmla="val 25000"/>
            </a:avLst>
          </a:prstGeom>
          <a:solidFill>
            <a:srgbClr val="4F4F4F"/>
          </a:solidFill>
          <a:ln>
            <a:noFill/>
          </a:ln>
          <a:effectLst/>
        </p:spPr>
        <p:txBody>
          <a:bodyPr rtlCol="0" anchor="ctr"/>
          <a:lstStyle/>
          <a:p/>
        </p:txBody>
      </p:sp>
      <p:sp>
        <p:nvSpPr>
          <p:cNvPr id="13" name="Rectangle 12"/>
          <p:cNvSpPr/>
          <p:nvPr/>
        </p:nvSpPr>
        <p:spPr>
          <a:xfrm>
            <a:off x="6233007" y="1527048"/>
            <a:ext cx="5455767" cy="265176"/>
          </a:xfrm>
          <a:prstGeom prst="rect">
            <a:avLst/>
          </a:prstGeom>
          <a:solidFill>
            <a:srgbClr val="4F4F4F"/>
          </a:solidFill>
          <a:ln>
            <a:noFill/>
          </a:ln>
          <a:effectLst/>
        </p:spPr>
        <p:txBody>
          <a:bodyPr rtlCol="0" anchor="ctr"/>
          <a:lstStyle/>
          <a:p/>
        </p:txBody>
      </p:sp>
      <p:sp>
        <p:nvSpPr>
          <p:cNvPr id="14" name="TextBox 13"/>
          <p:cNvSpPr txBox="1"/>
          <p:nvPr/>
        </p:nvSpPr>
        <p:spPr>
          <a:xfrm>
            <a:off x="6324447" y="1261872"/>
            <a:ext cx="5272887" cy="530352"/>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Turizm Haftası · 15-22 Nisan</a:t>
            </a:r>
          </a:p>
        </p:txBody>
      </p:sp>
      <p:pic>
        <p:nvPicPr>
          <p:cNvPr id="15" name="Picture 14" descr="h28_s172_balon.jpg"/>
          <p:cNvPicPr>
            <a:picLocks noChangeAspect="1"/>
          </p:cNvPicPr>
          <p:nvPr/>
        </p:nvPicPr>
        <p:blipFill>
          <a:blip r:embed="rId3"/>
          <a:stretch>
            <a:fillRect/>
          </a:stretch>
        </p:blipFill>
        <p:spPr>
          <a:xfrm>
            <a:off x="7212100" y="1901952"/>
            <a:ext cx="3497580" cy="2331720"/>
          </a:xfrm>
          <a:prstGeom prst="rect">
            <a:avLst/>
          </a:prstGeom>
          <a:ln w="9525">
            <a:solidFill>
              <a:srgbClr val="D9D9D9"/>
            </a:solidFill>
          </a:ln>
        </p:spPr>
      </p:pic>
      <p:sp>
        <p:nvSpPr>
          <p:cNvPr id="16" name="TextBox 15"/>
          <p:cNvSpPr txBox="1"/>
          <p:nvPr/>
        </p:nvSpPr>
        <p:spPr>
          <a:xfrm>
            <a:off x="6415887" y="4325112"/>
            <a:ext cx="5090007" cy="1828800"/>
          </a:xfrm>
          <a:prstGeom prst="rect">
            <a:avLst/>
          </a:prstGeom>
          <a:noFill/>
        </p:spPr>
        <p:txBody>
          <a:bodyPr wrap="square" anchor="ctr" lIns="73152" rIns="73152" tIns="36576" bIns="36576">
            <a:noAutofit/>
          </a:bodyPr>
          <a:lstStyle/>
          <a:p>
            <a:pPr algn="l">
              <a:spcBef>
                <a:spcPts val="0"/>
              </a:spcBef>
              <a:spcAft>
                <a:spcPts val="600"/>
              </a:spcAft>
            </a:pPr>
            <a:r>
              <a:rPr lang="tr-TR" sz="2200" b="1" i="0">
                <a:solidFill>
                  <a:srgbClr val="B85C12"/>
                </a:solidFill>
                <a:latin typeface="Calibri"/>
              </a:rPr>
              <a:t>Turizm de bir ekonomik faaliyettir.</a:t>
            </a:r>
          </a:p>
          <a:p>
            <a:pPr algn="l">
              <a:spcBef>
                <a:spcPts val="0"/>
              </a:spcBef>
              <a:spcAft>
                <a:spcPts val="0"/>
              </a:spcAft>
            </a:pPr>
            <a:r>
              <a:rPr lang="tr-TR" sz="2200" b="0" i="0">
                <a:solidFill>
                  <a:srgbClr val="262626"/>
                </a:solidFill>
                <a:latin typeface="Calibri"/>
              </a:rPr>
              <a:t>Turizmi geliştiren doğal faktörleri bu hafta göreceğiz.</a:t>
            </a:r>
          </a:p>
        </p:txBody>
      </p:sp>
      <p:sp>
        <p:nvSpPr>
          <p:cNvPr id="17" name="TextBox 1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8" name="Rounded Rectangle 1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172, 175</a:t>
            </a:r>
          </a:p>
        </p:txBody>
      </p:sp>
      <p:sp>
        <p:nvSpPr>
          <p:cNvPr id="19" name="TextBox 1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7 / 166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Başlarken: görsellerdeki ekonomik faaliyetler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ÖN DEĞERLENDİRME</a:t>
            </a:r>
          </a:p>
        </p:txBody>
      </p:sp>
      <p:sp>
        <p:nvSpPr>
          <p:cNvPr id="6" name="Rounded Rectangle 5"/>
          <p:cNvSpPr/>
          <p:nvPr/>
        </p:nvSpPr>
        <p:spPr>
          <a:xfrm>
            <a:off x="502920" y="1207008"/>
            <a:ext cx="11185855" cy="676656"/>
          </a:xfrm>
          <a:prstGeom prst="roundRect">
            <a:avLst>
              <a:gd name="adj" fmla="val 8000"/>
            </a:avLst>
          </a:prstGeom>
          <a:solidFill>
            <a:srgbClr val="FFF3D1"/>
          </a:solidFill>
          <a:ln>
            <a:noFill/>
          </a:ln>
          <a:effectLst/>
        </p:spPr>
        <p:txBody>
          <a:bodyPr rtlCol="0" anchor="ctr" wrap="square" lIns="182880" rIns="182880" tIns="73152" bIns="73152">
            <a:noAutofit/>
          </a:bodyPr>
          <a:lstStyle/>
          <a:p>
            <a:pPr algn="l">
              <a:spcBef>
                <a:spcPts val="0"/>
              </a:spcBef>
              <a:spcAft>
                <a:spcPts val="0"/>
              </a:spcAft>
            </a:pPr>
            <a:r>
              <a:rPr lang="tr-TR" sz="1600" b="1" i="0">
                <a:solidFill>
                  <a:srgbClr val="262626"/>
                </a:solidFill>
                <a:latin typeface="Calibri"/>
              </a:rPr>
              <a:t>Aşağıdaki görsellerde verilen ekonomik faaliyetlerin adlarını; bu faaliyetlerin üretim, dağıtım ve tüketim süreçlerinden hangilerine ait olduğunu noktalı yerlere yazınız.</a:t>
            </a:r>
          </a:p>
        </p:txBody>
      </p:sp>
      <p:pic>
        <p:nvPicPr>
          <p:cNvPr id="7" name="Picture 6" descr="h28_s172_fabrika.jpg"/>
          <p:cNvPicPr>
            <a:picLocks noChangeAspect="1"/>
          </p:cNvPicPr>
          <p:nvPr/>
        </p:nvPicPr>
        <p:blipFill>
          <a:blip r:embed="rId3"/>
          <a:srcRect t="18308" b="18308"/>
          <a:stretch>
            <a:fillRect/>
          </a:stretch>
        </p:blipFill>
        <p:spPr>
          <a:xfrm>
            <a:off x="502920" y="1993392"/>
            <a:ext cx="3606698" cy="1517904"/>
          </a:xfrm>
          <a:prstGeom prst="rect">
            <a:avLst/>
          </a:prstGeom>
          <a:ln w="9525">
            <a:solidFill>
              <a:srgbClr val="D9D9D9"/>
            </a:solidFill>
          </a:ln>
        </p:spPr>
      </p:pic>
      <p:sp>
        <p:nvSpPr>
          <p:cNvPr id="8" name="Oval 7"/>
          <p:cNvSpPr/>
          <p:nvPr/>
        </p:nvSpPr>
        <p:spPr>
          <a:xfrm>
            <a:off x="576072" y="2066544"/>
            <a:ext cx="420624" cy="420624"/>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1</a:t>
            </a:r>
          </a:p>
        </p:txBody>
      </p:sp>
      <p:sp>
        <p:nvSpPr>
          <p:cNvPr id="9" name="Rounded Rectangle 8"/>
          <p:cNvSpPr/>
          <p:nvPr/>
        </p:nvSpPr>
        <p:spPr>
          <a:xfrm>
            <a:off x="502920" y="3547872"/>
            <a:ext cx="3606698" cy="475488"/>
          </a:xfrm>
          <a:prstGeom prst="roundRect">
            <a:avLst>
              <a:gd name="adj" fmla="val 8000"/>
            </a:avLst>
          </a:prstGeom>
          <a:solidFill>
            <a:srgbClr val="FFFFFF"/>
          </a:solidFill>
          <a:ln w="12700">
            <a:solidFill>
              <a:srgbClr val="D9D9D9"/>
            </a:solidFill>
          </a:ln>
          <a:effectLst/>
        </p:spPr>
        <p:txBody>
          <a:bodyPr rtlCol="0" anchor="ctr" wrap="square" lIns="54864" rIns="54864" tIns="73152" bIns="73152">
            <a:noAutofit/>
          </a:bodyPr>
          <a:lstStyle/>
          <a:p>
            <a:pPr algn="ctr">
              <a:spcBef>
                <a:spcPts val="0"/>
              </a:spcBef>
              <a:spcAft>
                <a:spcPts val="0"/>
              </a:spcAft>
            </a:pPr>
            <a:r>
              <a:rPr lang="tr-TR" sz="1600" b="0" i="0">
                <a:solidFill>
                  <a:srgbClr val="262626"/>
                </a:solidFill>
                <a:latin typeface="Calibri"/>
              </a:rPr>
              <a:t>Faaliyet: …………  Süreç: …………</a:t>
            </a:r>
          </a:p>
        </p:txBody>
      </p:sp>
      <p:pic>
        <p:nvPicPr>
          <p:cNvPr id="10" name="Picture 9" descr="h28_s172_kopru.jpg"/>
          <p:cNvPicPr>
            <a:picLocks noChangeAspect="1"/>
          </p:cNvPicPr>
          <p:nvPr/>
        </p:nvPicPr>
        <p:blipFill>
          <a:blip r:embed="rId4"/>
          <a:srcRect t="18611" b="18611"/>
          <a:stretch>
            <a:fillRect/>
          </a:stretch>
        </p:blipFill>
        <p:spPr>
          <a:xfrm>
            <a:off x="4292498" y="1993392"/>
            <a:ext cx="3606698" cy="1517904"/>
          </a:xfrm>
          <a:prstGeom prst="rect">
            <a:avLst/>
          </a:prstGeom>
          <a:ln w="9525">
            <a:solidFill>
              <a:srgbClr val="D9D9D9"/>
            </a:solidFill>
          </a:ln>
        </p:spPr>
      </p:pic>
      <p:sp>
        <p:nvSpPr>
          <p:cNvPr id="11" name="Oval 10"/>
          <p:cNvSpPr/>
          <p:nvPr/>
        </p:nvSpPr>
        <p:spPr>
          <a:xfrm>
            <a:off x="4365650" y="2066544"/>
            <a:ext cx="420624" cy="420624"/>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2</a:t>
            </a:r>
          </a:p>
        </p:txBody>
      </p:sp>
      <p:sp>
        <p:nvSpPr>
          <p:cNvPr id="12" name="Rounded Rectangle 11"/>
          <p:cNvSpPr/>
          <p:nvPr/>
        </p:nvSpPr>
        <p:spPr>
          <a:xfrm>
            <a:off x="4292498" y="3547872"/>
            <a:ext cx="3606698" cy="475488"/>
          </a:xfrm>
          <a:prstGeom prst="roundRect">
            <a:avLst>
              <a:gd name="adj" fmla="val 8000"/>
            </a:avLst>
          </a:prstGeom>
          <a:solidFill>
            <a:srgbClr val="FFFFFF"/>
          </a:solidFill>
          <a:ln w="12700">
            <a:solidFill>
              <a:srgbClr val="D9D9D9"/>
            </a:solidFill>
          </a:ln>
          <a:effectLst/>
        </p:spPr>
        <p:txBody>
          <a:bodyPr rtlCol="0" anchor="ctr" wrap="square" lIns="54864" rIns="54864" tIns="73152" bIns="73152">
            <a:noAutofit/>
          </a:bodyPr>
          <a:lstStyle/>
          <a:p>
            <a:pPr algn="ctr">
              <a:spcBef>
                <a:spcPts val="0"/>
              </a:spcBef>
              <a:spcAft>
                <a:spcPts val="0"/>
              </a:spcAft>
            </a:pPr>
            <a:r>
              <a:rPr lang="tr-TR" sz="1600" b="0" i="0">
                <a:solidFill>
                  <a:srgbClr val="262626"/>
                </a:solidFill>
                <a:latin typeface="Calibri"/>
              </a:rPr>
              <a:t>Faaliyet: …………  Süreç: …………</a:t>
            </a:r>
          </a:p>
        </p:txBody>
      </p:sp>
      <p:pic>
        <p:nvPicPr>
          <p:cNvPr id="13" name="Picture 12" descr="h28_s172_pazar.jpg"/>
          <p:cNvPicPr>
            <a:picLocks noChangeAspect="1"/>
          </p:cNvPicPr>
          <p:nvPr/>
        </p:nvPicPr>
        <p:blipFill>
          <a:blip r:embed="rId5"/>
          <a:srcRect t="18347" b="18347"/>
          <a:stretch>
            <a:fillRect/>
          </a:stretch>
        </p:blipFill>
        <p:spPr>
          <a:xfrm>
            <a:off x="8082076" y="1993392"/>
            <a:ext cx="3606698" cy="1517904"/>
          </a:xfrm>
          <a:prstGeom prst="rect">
            <a:avLst/>
          </a:prstGeom>
          <a:ln w="9525">
            <a:solidFill>
              <a:srgbClr val="D9D9D9"/>
            </a:solidFill>
          </a:ln>
        </p:spPr>
      </p:pic>
      <p:sp>
        <p:nvSpPr>
          <p:cNvPr id="14" name="Oval 13"/>
          <p:cNvSpPr/>
          <p:nvPr/>
        </p:nvSpPr>
        <p:spPr>
          <a:xfrm>
            <a:off x="8155228" y="2066544"/>
            <a:ext cx="420624" cy="420624"/>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3</a:t>
            </a:r>
          </a:p>
        </p:txBody>
      </p:sp>
      <p:sp>
        <p:nvSpPr>
          <p:cNvPr id="15" name="Rounded Rectangle 14"/>
          <p:cNvSpPr/>
          <p:nvPr/>
        </p:nvSpPr>
        <p:spPr>
          <a:xfrm>
            <a:off x="8082076" y="3547872"/>
            <a:ext cx="3606698" cy="475488"/>
          </a:xfrm>
          <a:prstGeom prst="roundRect">
            <a:avLst>
              <a:gd name="adj" fmla="val 8000"/>
            </a:avLst>
          </a:prstGeom>
          <a:solidFill>
            <a:srgbClr val="FFFFFF"/>
          </a:solidFill>
          <a:ln w="12700">
            <a:solidFill>
              <a:srgbClr val="D9D9D9"/>
            </a:solidFill>
          </a:ln>
          <a:effectLst/>
        </p:spPr>
        <p:txBody>
          <a:bodyPr rtlCol="0" anchor="ctr" wrap="square" lIns="54864" rIns="54864" tIns="73152" bIns="73152">
            <a:noAutofit/>
          </a:bodyPr>
          <a:lstStyle/>
          <a:p>
            <a:pPr algn="ctr">
              <a:spcBef>
                <a:spcPts val="0"/>
              </a:spcBef>
              <a:spcAft>
                <a:spcPts val="0"/>
              </a:spcAft>
            </a:pPr>
            <a:r>
              <a:rPr lang="tr-TR" sz="1600" b="0" i="0">
                <a:solidFill>
                  <a:srgbClr val="262626"/>
                </a:solidFill>
                <a:latin typeface="Calibri"/>
              </a:rPr>
              <a:t>Faaliyet: …………  Süreç: …………</a:t>
            </a:r>
          </a:p>
        </p:txBody>
      </p:sp>
      <p:pic>
        <p:nvPicPr>
          <p:cNvPr id="16" name="Picture 15" descr="h28_s172_tarla.jpg"/>
          <p:cNvPicPr>
            <a:picLocks noChangeAspect="1"/>
          </p:cNvPicPr>
          <p:nvPr/>
        </p:nvPicPr>
        <p:blipFill>
          <a:blip r:embed="rId6"/>
          <a:srcRect t="18751" b="18751"/>
          <a:stretch>
            <a:fillRect/>
          </a:stretch>
        </p:blipFill>
        <p:spPr>
          <a:xfrm>
            <a:off x="502920" y="4114800"/>
            <a:ext cx="3606698" cy="1517904"/>
          </a:xfrm>
          <a:prstGeom prst="rect">
            <a:avLst/>
          </a:prstGeom>
          <a:ln w="9525">
            <a:solidFill>
              <a:srgbClr val="D9D9D9"/>
            </a:solidFill>
          </a:ln>
        </p:spPr>
      </p:pic>
      <p:sp>
        <p:nvSpPr>
          <p:cNvPr id="17" name="Oval 16"/>
          <p:cNvSpPr/>
          <p:nvPr/>
        </p:nvSpPr>
        <p:spPr>
          <a:xfrm>
            <a:off x="576072" y="4187952"/>
            <a:ext cx="420624" cy="420624"/>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4</a:t>
            </a:r>
          </a:p>
        </p:txBody>
      </p:sp>
      <p:sp>
        <p:nvSpPr>
          <p:cNvPr id="18" name="Rounded Rectangle 17"/>
          <p:cNvSpPr/>
          <p:nvPr/>
        </p:nvSpPr>
        <p:spPr>
          <a:xfrm>
            <a:off x="502920" y="5669280"/>
            <a:ext cx="3606698" cy="475488"/>
          </a:xfrm>
          <a:prstGeom prst="roundRect">
            <a:avLst>
              <a:gd name="adj" fmla="val 8000"/>
            </a:avLst>
          </a:prstGeom>
          <a:solidFill>
            <a:srgbClr val="FFFFFF"/>
          </a:solidFill>
          <a:ln w="12700">
            <a:solidFill>
              <a:srgbClr val="D9D9D9"/>
            </a:solidFill>
          </a:ln>
          <a:effectLst/>
        </p:spPr>
        <p:txBody>
          <a:bodyPr rtlCol="0" anchor="ctr" wrap="square" lIns="54864" rIns="54864" tIns="73152" bIns="73152">
            <a:noAutofit/>
          </a:bodyPr>
          <a:lstStyle/>
          <a:p>
            <a:pPr algn="ctr">
              <a:spcBef>
                <a:spcPts val="0"/>
              </a:spcBef>
              <a:spcAft>
                <a:spcPts val="0"/>
              </a:spcAft>
            </a:pPr>
            <a:r>
              <a:rPr lang="tr-TR" sz="1600" b="0" i="0">
                <a:solidFill>
                  <a:srgbClr val="262626"/>
                </a:solidFill>
                <a:latin typeface="Calibri"/>
              </a:rPr>
              <a:t>Faaliyet: …………  Süreç: …………</a:t>
            </a:r>
          </a:p>
        </p:txBody>
      </p:sp>
      <p:pic>
        <p:nvPicPr>
          <p:cNvPr id="19" name="Picture 18" descr="h28_s172_maden.jpg"/>
          <p:cNvPicPr>
            <a:picLocks noChangeAspect="1"/>
          </p:cNvPicPr>
          <p:nvPr/>
        </p:nvPicPr>
        <p:blipFill>
          <a:blip r:embed="rId7"/>
          <a:srcRect t="18133" b="18133"/>
          <a:stretch>
            <a:fillRect/>
          </a:stretch>
        </p:blipFill>
        <p:spPr>
          <a:xfrm>
            <a:off x="4292498" y="4114800"/>
            <a:ext cx="3606698" cy="1517904"/>
          </a:xfrm>
          <a:prstGeom prst="rect">
            <a:avLst/>
          </a:prstGeom>
          <a:ln w="9525">
            <a:solidFill>
              <a:srgbClr val="D9D9D9"/>
            </a:solidFill>
          </a:ln>
        </p:spPr>
      </p:pic>
      <p:sp>
        <p:nvSpPr>
          <p:cNvPr id="20" name="Oval 19"/>
          <p:cNvSpPr/>
          <p:nvPr/>
        </p:nvSpPr>
        <p:spPr>
          <a:xfrm>
            <a:off x="4365650" y="4187952"/>
            <a:ext cx="420624" cy="420624"/>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5</a:t>
            </a:r>
          </a:p>
        </p:txBody>
      </p:sp>
      <p:sp>
        <p:nvSpPr>
          <p:cNvPr id="21" name="Rounded Rectangle 20"/>
          <p:cNvSpPr/>
          <p:nvPr/>
        </p:nvSpPr>
        <p:spPr>
          <a:xfrm>
            <a:off x="4292498" y="5669280"/>
            <a:ext cx="3606698" cy="475488"/>
          </a:xfrm>
          <a:prstGeom prst="roundRect">
            <a:avLst>
              <a:gd name="adj" fmla="val 8000"/>
            </a:avLst>
          </a:prstGeom>
          <a:solidFill>
            <a:srgbClr val="FFFFFF"/>
          </a:solidFill>
          <a:ln w="12700">
            <a:solidFill>
              <a:srgbClr val="D9D9D9"/>
            </a:solidFill>
          </a:ln>
          <a:effectLst/>
        </p:spPr>
        <p:txBody>
          <a:bodyPr rtlCol="0" anchor="ctr" wrap="square" lIns="54864" rIns="54864" tIns="73152" bIns="73152">
            <a:noAutofit/>
          </a:bodyPr>
          <a:lstStyle/>
          <a:p>
            <a:pPr algn="ctr">
              <a:spcBef>
                <a:spcPts val="0"/>
              </a:spcBef>
              <a:spcAft>
                <a:spcPts val="0"/>
              </a:spcAft>
            </a:pPr>
            <a:r>
              <a:rPr lang="tr-TR" sz="1600" b="0" i="0">
                <a:solidFill>
                  <a:srgbClr val="262626"/>
                </a:solidFill>
                <a:latin typeface="Calibri"/>
              </a:rPr>
              <a:t>Faaliyet: …………  Süreç: …………</a:t>
            </a:r>
          </a:p>
        </p:txBody>
      </p:sp>
      <p:pic>
        <p:nvPicPr>
          <p:cNvPr id="22" name="Picture 21" descr="h28_s172_balon.jpg"/>
          <p:cNvPicPr>
            <a:picLocks noChangeAspect="1"/>
          </p:cNvPicPr>
          <p:nvPr/>
        </p:nvPicPr>
        <p:blipFill>
          <a:blip r:embed="rId8"/>
          <a:srcRect t="18436" b="18436"/>
          <a:stretch>
            <a:fillRect/>
          </a:stretch>
        </p:blipFill>
        <p:spPr>
          <a:xfrm>
            <a:off x="8082076" y="4114800"/>
            <a:ext cx="3606698" cy="1517904"/>
          </a:xfrm>
          <a:prstGeom prst="rect">
            <a:avLst/>
          </a:prstGeom>
          <a:ln w="9525">
            <a:solidFill>
              <a:srgbClr val="D9D9D9"/>
            </a:solidFill>
          </a:ln>
        </p:spPr>
      </p:pic>
      <p:sp>
        <p:nvSpPr>
          <p:cNvPr id="23" name="Oval 22"/>
          <p:cNvSpPr/>
          <p:nvPr/>
        </p:nvSpPr>
        <p:spPr>
          <a:xfrm>
            <a:off x="8155228" y="4187952"/>
            <a:ext cx="420624" cy="420624"/>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6</a:t>
            </a:r>
          </a:p>
        </p:txBody>
      </p:sp>
      <p:sp>
        <p:nvSpPr>
          <p:cNvPr id="24" name="Rounded Rectangle 23"/>
          <p:cNvSpPr/>
          <p:nvPr/>
        </p:nvSpPr>
        <p:spPr>
          <a:xfrm>
            <a:off x="8082076" y="5669280"/>
            <a:ext cx="3606698" cy="475488"/>
          </a:xfrm>
          <a:prstGeom prst="roundRect">
            <a:avLst>
              <a:gd name="adj" fmla="val 8000"/>
            </a:avLst>
          </a:prstGeom>
          <a:solidFill>
            <a:srgbClr val="FFFFFF"/>
          </a:solidFill>
          <a:ln w="12700">
            <a:solidFill>
              <a:srgbClr val="D9D9D9"/>
            </a:solidFill>
          </a:ln>
          <a:effectLst/>
        </p:spPr>
        <p:txBody>
          <a:bodyPr rtlCol="0" anchor="ctr" wrap="square" lIns="54864" rIns="54864" tIns="73152" bIns="73152">
            <a:noAutofit/>
          </a:bodyPr>
          <a:lstStyle/>
          <a:p>
            <a:pPr algn="ctr">
              <a:spcBef>
                <a:spcPts val="0"/>
              </a:spcBef>
              <a:spcAft>
                <a:spcPts val="0"/>
              </a:spcAft>
            </a:pPr>
            <a:r>
              <a:rPr lang="tr-TR" sz="1600" b="0" i="0">
                <a:solidFill>
                  <a:srgbClr val="262626"/>
                </a:solidFill>
                <a:latin typeface="Calibri"/>
              </a:rPr>
              <a:t>Faaliyet: …………  Süreç: …………</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6" name="Rounded Rectangle 2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172</a:t>
            </a:r>
          </a:p>
        </p:txBody>
      </p:sp>
      <p:sp>
        <p:nvSpPr>
          <p:cNvPr id="27" name="TextBox 2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 / 166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650" b="1" i="0">
                <a:solidFill>
                  <a:srgbClr val="FFFFFF"/>
                </a:solidFill>
                <a:latin typeface="Calibri"/>
              </a:rPr>
              <a:t>Başlarken: görsellerdeki ekonomik faaliyetler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07008"/>
            <a:ext cx="11185855" cy="676656"/>
          </a:xfrm>
          <a:prstGeom prst="roundRect">
            <a:avLst>
              <a:gd name="adj" fmla="val 8000"/>
            </a:avLst>
          </a:prstGeom>
          <a:solidFill>
            <a:srgbClr val="FFF3D1"/>
          </a:solidFill>
          <a:ln>
            <a:noFill/>
          </a:ln>
          <a:effectLst/>
        </p:spPr>
        <p:txBody>
          <a:bodyPr rtlCol="0" anchor="ctr" wrap="square" lIns="182880" rIns="182880" tIns="73152" bIns="73152">
            <a:noAutofit/>
          </a:bodyPr>
          <a:lstStyle/>
          <a:p>
            <a:pPr algn="l">
              <a:spcBef>
                <a:spcPts val="0"/>
              </a:spcBef>
              <a:spcAft>
                <a:spcPts val="0"/>
              </a:spcAft>
            </a:pPr>
            <a:r>
              <a:rPr lang="tr-TR" sz="1600" b="1" i="0">
                <a:solidFill>
                  <a:srgbClr val="262626"/>
                </a:solidFill>
                <a:latin typeface="Calibri"/>
              </a:rPr>
              <a:t>Aşağıdaki görsellerde verilen ekonomik faaliyetlerin adlarını; bu faaliyetlerin üretim, dağıtım ve tüketim süreçlerinden hangilerine ait olduğunu noktalı yerlere yazınız.</a:t>
            </a:r>
          </a:p>
        </p:txBody>
      </p:sp>
      <p:pic>
        <p:nvPicPr>
          <p:cNvPr id="7" name="Picture 6" descr="h28_s172_fabrika.jpg"/>
          <p:cNvPicPr>
            <a:picLocks noChangeAspect="1"/>
          </p:cNvPicPr>
          <p:nvPr/>
        </p:nvPicPr>
        <p:blipFill>
          <a:blip r:embed="rId3"/>
          <a:srcRect t="18308" b="18308"/>
          <a:stretch>
            <a:fillRect/>
          </a:stretch>
        </p:blipFill>
        <p:spPr>
          <a:xfrm>
            <a:off x="502920" y="1993392"/>
            <a:ext cx="3606698" cy="1517904"/>
          </a:xfrm>
          <a:prstGeom prst="rect">
            <a:avLst/>
          </a:prstGeom>
          <a:ln w="9525">
            <a:solidFill>
              <a:srgbClr val="D9D9D9"/>
            </a:solidFill>
          </a:ln>
        </p:spPr>
      </p:pic>
      <p:sp>
        <p:nvSpPr>
          <p:cNvPr id="8" name="Oval 7"/>
          <p:cNvSpPr/>
          <p:nvPr/>
        </p:nvSpPr>
        <p:spPr>
          <a:xfrm>
            <a:off x="576072" y="2066544"/>
            <a:ext cx="420624" cy="420624"/>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1</a:t>
            </a:r>
          </a:p>
        </p:txBody>
      </p:sp>
      <p:sp>
        <p:nvSpPr>
          <p:cNvPr id="9" name="Rounded Rectangle 8"/>
          <p:cNvSpPr/>
          <p:nvPr/>
        </p:nvSpPr>
        <p:spPr>
          <a:xfrm>
            <a:off x="502920" y="3547872"/>
            <a:ext cx="3606698" cy="475488"/>
          </a:xfrm>
          <a:prstGeom prst="roundRect">
            <a:avLst>
              <a:gd name="adj" fmla="val 12000"/>
            </a:avLst>
          </a:prstGeom>
          <a:solidFill>
            <a:srgbClr val="E3F1E4"/>
          </a:solidFill>
          <a:ln w="12700">
            <a:solidFill>
              <a:srgbClr val="2E7D32"/>
            </a:solidFill>
          </a:ln>
          <a:effectLst/>
        </p:spPr>
        <p:txBody>
          <a:bodyPr rtlCol="0" anchor="ctr"/>
          <a:lstStyle/>
          <a:p/>
        </p:txBody>
      </p:sp>
      <p:sp>
        <p:nvSpPr>
          <p:cNvPr id="10" name="TextBox 9"/>
          <p:cNvSpPr txBox="1"/>
          <p:nvPr/>
        </p:nvSpPr>
        <p:spPr>
          <a:xfrm>
            <a:off x="594360" y="3547872"/>
            <a:ext cx="1325880" cy="475488"/>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262626"/>
                </a:solidFill>
                <a:latin typeface="Calibri"/>
              </a:rPr>
              <a:t>Sanayi</a:t>
            </a:r>
          </a:p>
        </p:txBody>
      </p:sp>
      <p:sp>
        <p:nvSpPr>
          <p:cNvPr id="11" name="Rounded Rectangle 10"/>
          <p:cNvSpPr/>
          <p:nvPr/>
        </p:nvSpPr>
        <p:spPr>
          <a:xfrm>
            <a:off x="3100107" y="3611880"/>
            <a:ext cx="936359" cy="347472"/>
          </a:xfrm>
          <a:prstGeom prst="roundRect">
            <a:avLst>
              <a:gd name="adj" fmla="val 50000"/>
            </a:avLst>
          </a:prstGeom>
          <a:solidFill>
            <a:srgbClr val="B8860B"/>
          </a:solidFill>
          <a:ln>
            <a:noFill/>
          </a:ln>
          <a:effectLst/>
        </p:spPr>
        <p:txBody>
          <a:bodyPr rtlCol="0" anchor="ctr" wrap="square" lIns="36576" rIns="36576" tIns="0" bIns="0">
            <a:noAutofit/>
          </a:bodyPr>
          <a:lstStyle/>
          <a:p>
            <a:pPr algn="ctr">
              <a:spcBef>
                <a:spcPts val="0"/>
              </a:spcBef>
              <a:spcAft>
                <a:spcPts val="0"/>
              </a:spcAft>
            </a:pPr>
            <a:r>
              <a:rPr lang="tr-TR" sz="1500" b="1" i="0">
                <a:solidFill>
                  <a:srgbClr val="FFFFFF"/>
                </a:solidFill>
                <a:latin typeface="Calibri"/>
              </a:rPr>
              <a:t>Üretim</a:t>
            </a:r>
          </a:p>
        </p:txBody>
      </p:sp>
      <p:pic>
        <p:nvPicPr>
          <p:cNvPr id="12" name="Picture 11" descr="h28_s172_kopru.jpg"/>
          <p:cNvPicPr>
            <a:picLocks noChangeAspect="1"/>
          </p:cNvPicPr>
          <p:nvPr/>
        </p:nvPicPr>
        <p:blipFill>
          <a:blip r:embed="rId4"/>
          <a:srcRect t="18611" b="18611"/>
          <a:stretch>
            <a:fillRect/>
          </a:stretch>
        </p:blipFill>
        <p:spPr>
          <a:xfrm>
            <a:off x="4292498" y="1993392"/>
            <a:ext cx="3606698" cy="1517904"/>
          </a:xfrm>
          <a:prstGeom prst="rect">
            <a:avLst/>
          </a:prstGeom>
          <a:ln w="9525">
            <a:solidFill>
              <a:srgbClr val="D9D9D9"/>
            </a:solidFill>
          </a:ln>
        </p:spPr>
      </p:pic>
      <p:sp>
        <p:nvSpPr>
          <p:cNvPr id="13" name="Oval 12"/>
          <p:cNvSpPr/>
          <p:nvPr/>
        </p:nvSpPr>
        <p:spPr>
          <a:xfrm>
            <a:off x="4365650" y="2066544"/>
            <a:ext cx="420624" cy="420624"/>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2</a:t>
            </a:r>
          </a:p>
        </p:txBody>
      </p:sp>
      <p:sp>
        <p:nvSpPr>
          <p:cNvPr id="14" name="Rounded Rectangle 13"/>
          <p:cNvSpPr/>
          <p:nvPr/>
        </p:nvSpPr>
        <p:spPr>
          <a:xfrm>
            <a:off x="4292498" y="3547872"/>
            <a:ext cx="3606698" cy="475488"/>
          </a:xfrm>
          <a:prstGeom prst="roundRect">
            <a:avLst>
              <a:gd name="adj" fmla="val 12000"/>
            </a:avLst>
          </a:prstGeom>
          <a:solidFill>
            <a:srgbClr val="E3F1E4"/>
          </a:solidFill>
          <a:ln w="12700">
            <a:solidFill>
              <a:srgbClr val="2E7D32"/>
            </a:solidFill>
          </a:ln>
          <a:effectLst/>
        </p:spPr>
        <p:txBody>
          <a:bodyPr rtlCol="0" anchor="ctr"/>
          <a:lstStyle/>
          <a:p/>
        </p:txBody>
      </p:sp>
      <p:sp>
        <p:nvSpPr>
          <p:cNvPr id="15" name="TextBox 14"/>
          <p:cNvSpPr txBox="1"/>
          <p:nvPr/>
        </p:nvSpPr>
        <p:spPr>
          <a:xfrm>
            <a:off x="4383938" y="3547872"/>
            <a:ext cx="1325880" cy="475488"/>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262626"/>
                </a:solidFill>
                <a:latin typeface="Calibri"/>
              </a:rPr>
              <a:t>Ulaşım</a:t>
            </a:r>
          </a:p>
        </p:txBody>
      </p:sp>
      <p:sp>
        <p:nvSpPr>
          <p:cNvPr id="16" name="Rounded Rectangle 15"/>
          <p:cNvSpPr/>
          <p:nvPr/>
        </p:nvSpPr>
        <p:spPr>
          <a:xfrm>
            <a:off x="6821009" y="3611880"/>
            <a:ext cx="1005035" cy="347472"/>
          </a:xfrm>
          <a:prstGeom prst="roundRect">
            <a:avLst>
              <a:gd name="adj" fmla="val 50000"/>
            </a:avLst>
          </a:prstGeom>
          <a:solidFill>
            <a:srgbClr val="1E7B6E"/>
          </a:solidFill>
          <a:ln>
            <a:noFill/>
          </a:ln>
          <a:effectLst/>
        </p:spPr>
        <p:txBody>
          <a:bodyPr rtlCol="0" anchor="ctr" wrap="square" lIns="36576" rIns="36576" tIns="0" bIns="0">
            <a:noAutofit/>
          </a:bodyPr>
          <a:lstStyle/>
          <a:p>
            <a:pPr algn="ctr">
              <a:spcBef>
                <a:spcPts val="0"/>
              </a:spcBef>
              <a:spcAft>
                <a:spcPts val="0"/>
              </a:spcAft>
            </a:pPr>
            <a:r>
              <a:rPr lang="tr-TR" sz="1500" b="1" i="0">
                <a:solidFill>
                  <a:srgbClr val="FFFFFF"/>
                </a:solidFill>
                <a:latin typeface="Calibri"/>
              </a:rPr>
              <a:t>Dağıtım</a:t>
            </a:r>
          </a:p>
        </p:txBody>
      </p:sp>
      <p:pic>
        <p:nvPicPr>
          <p:cNvPr id="17" name="Picture 16" descr="h28_s172_pazar.jpg"/>
          <p:cNvPicPr>
            <a:picLocks noChangeAspect="1"/>
          </p:cNvPicPr>
          <p:nvPr/>
        </p:nvPicPr>
        <p:blipFill>
          <a:blip r:embed="rId5"/>
          <a:srcRect t="18347" b="18347"/>
          <a:stretch>
            <a:fillRect/>
          </a:stretch>
        </p:blipFill>
        <p:spPr>
          <a:xfrm>
            <a:off x="8082076" y="1993392"/>
            <a:ext cx="3606698" cy="1517904"/>
          </a:xfrm>
          <a:prstGeom prst="rect">
            <a:avLst/>
          </a:prstGeom>
          <a:ln w="9525">
            <a:solidFill>
              <a:srgbClr val="D9D9D9"/>
            </a:solidFill>
          </a:ln>
        </p:spPr>
      </p:pic>
      <p:sp>
        <p:nvSpPr>
          <p:cNvPr id="18" name="Oval 17"/>
          <p:cNvSpPr/>
          <p:nvPr/>
        </p:nvSpPr>
        <p:spPr>
          <a:xfrm>
            <a:off x="8155228" y="2066544"/>
            <a:ext cx="420624" cy="420624"/>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3</a:t>
            </a:r>
          </a:p>
        </p:txBody>
      </p:sp>
      <p:sp>
        <p:nvSpPr>
          <p:cNvPr id="19" name="Rounded Rectangle 18"/>
          <p:cNvSpPr/>
          <p:nvPr/>
        </p:nvSpPr>
        <p:spPr>
          <a:xfrm>
            <a:off x="8082076" y="3547872"/>
            <a:ext cx="3606698" cy="475488"/>
          </a:xfrm>
          <a:prstGeom prst="roundRect">
            <a:avLst>
              <a:gd name="adj" fmla="val 12000"/>
            </a:avLst>
          </a:prstGeom>
          <a:solidFill>
            <a:srgbClr val="E3F1E4"/>
          </a:solidFill>
          <a:ln w="12700">
            <a:solidFill>
              <a:srgbClr val="2E7D32"/>
            </a:solidFill>
          </a:ln>
          <a:effectLst/>
        </p:spPr>
        <p:txBody>
          <a:bodyPr rtlCol="0" anchor="ctr"/>
          <a:lstStyle/>
          <a:p/>
        </p:txBody>
      </p:sp>
      <p:sp>
        <p:nvSpPr>
          <p:cNvPr id="20" name="TextBox 19"/>
          <p:cNvSpPr txBox="1"/>
          <p:nvPr/>
        </p:nvSpPr>
        <p:spPr>
          <a:xfrm>
            <a:off x="8173516" y="3547872"/>
            <a:ext cx="1325880" cy="475488"/>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262626"/>
                </a:solidFill>
                <a:latin typeface="Calibri"/>
              </a:rPr>
              <a:t>Ticaret</a:t>
            </a:r>
          </a:p>
        </p:txBody>
      </p:sp>
      <p:sp>
        <p:nvSpPr>
          <p:cNvPr id="21" name="Rounded Rectangle 20"/>
          <p:cNvSpPr/>
          <p:nvPr/>
        </p:nvSpPr>
        <p:spPr>
          <a:xfrm>
            <a:off x="10593694" y="3611880"/>
            <a:ext cx="1021928" cy="347472"/>
          </a:xfrm>
          <a:prstGeom prst="roundRect">
            <a:avLst>
              <a:gd name="adj" fmla="val 50000"/>
            </a:avLst>
          </a:prstGeom>
          <a:solidFill>
            <a:srgbClr val="7A4EA0"/>
          </a:solidFill>
          <a:ln>
            <a:noFill/>
          </a:ln>
          <a:effectLst/>
        </p:spPr>
        <p:txBody>
          <a:bodyPr rtlCol="0" anchor="ctr" wrap="square" lIns="36576" rIns="36576" tIns="0" bIns="0">
            <a:noAutofit/>
          </a:bodyPr>
          <a:lstStyle/>
          <a:p>
            <a:pPr algn="ctr">
              <a:spcBef>
                <a:spcPts val="0"/>
              </a:spcBef>
              <a:spcAft>
                <a:spcPts val="0"/>
              </a:spcAft>
            </a:pPr>
            <a:r>
              <a:rPr lang="tr-TR" sz="1500" b="1" i="0">
                <a:solidFill>
                  <a:srgbClr val="FFFFFF"/>
                </a:solidFill>
                <a:latin typeface="Calibri"/>
              </a:rPr>
              <a:t>Tüketim</a:t>
            </a:r>
          </a:p>
        </p:txBody>
      </p:sp>
      <p:pic>
        <p:nvPicPr>
          <p:cNvPr id="22" name="Picture 21" descr="h28_s172_tarla.jpg"/>
          <p:cNvPicPr>
            <a:picLocks noChangeAspect="1"/>
          </p:cNvPicPr>
          <p:nvPr/>
        </p:nvPicPr>
        <p:blipFill>
          <a:blip r:embed="rId6"/>
          <a:srcRect t="18751" b="18751"/>
          <a:stretch>
            <a:fillRect/>
          </a:stretch>
        </p:blipFill>
        <p:spPr>
          <a:xfrm>
            <a:off x="502920" y="4114800"/>
            <a:ext cx="3606698" cy="1517904"/>
          </a:xfrm>
          <a:prstGeom prst="rect">
            <a:avLst/>
          </a:prstGeom>
          <a:ln w="9525">
            <a:solidFill>
              <a:srgbClr val="D9D9D9"/>
            </a:solidFill>
          </a:ln>
        </p:spPr>
      </p:pic>
      <p:sp>
        <p:nvSpPr>
          <p:cNvPr id="23" name="Oval 22"/>
          <p:cNvSpPr/>
          <p:nvPr/>
        </p:nvSpPr>
        <p:spPr>
          <a:xfrm>
            <a:off x="576072" y="4187952"/>
            <a:ext cx="420624" cy="420624"/>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4</a:t>
            </a:r>
          </a:p>
        </p:txBody>
      </p:sp>
      <p:sp>
        <p:nvSpPr>
          <p:cNvPr id="24" name="Rounded Rectangle 23"/>
          <p:cNvSpPr/>
          <p:nvPr/>
        </p:nvSpPr>
        <p:spPr>
          <a:xfrm>
            <a:off x="502920" y="5669280"/>
            <a:ext cx="3606698" cy="475488"/>
          </a:xfrm>
          <a:prstGeom prst="roundRect">
            <a:avLst>
              <a:gd name="adj" fmla="val 12000"/>
            </a:avLst>
          </a:prstGeom>
          <a:solidFill>
            <a:srgbClr val="E3F1E4"/>
          </a:solidFill>
          <a:ln w="12700">
            <a:solidFill>
              <a:srgbClr val="2E7D32"/>
            </a:solidFill>
          </a:ln>
          <a:effectLst/>
        </p:spPr>
        <p:txBody>
          <a:bodyPr rtlCol="0" anchor="ctr"/>
          <a:lstStyle/>
          <a:p/>
        </p:txBody>
      </p:sp>
      <p:sp>
        <p:nvSpPr>
          <p:cNvPr id="25" name="TextBox 24"/>
          <p:cNvSpPr txBox="1"/>
          <p:nvPr/>
        </p:nvSpPr>
        <p:spPr>
          <a:xfrm>
            <a:off x="594360" y="5669280"/>
            <a:ext cx="1325880" cy="475488"/>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262626"/>
                </a:solidFill>
                <a:latin typeface="Calibri"/>
              </a:rPr>
              <a:t>Tarım</a:t>
            </a:r>
          </a:p>
        </p:txBody>
      </p:sp>
      <p:sp>
        <p:nvSpPr>
          <p:cNvPr id="26" name="Rounded Rectangle 25"/>
          <p:cNvSpPr/>
          <p:nvPr/>
        </p:nvSpPr>
        <p:spPr>
          <a:xfrm>
            <a:off x="3100107" y="5733288"/>
            <a:ext cx="936359" cy="347472"/>
          </a:xfrm>
          <a:prstGeom prst="roundRect">
            <a:avLst>
              <a:gd name="adj" fmla="val 50000"/>
            </a:avLst>
          </a:prstGeom>
          <a:solidFill>
            <a:srgbClr val="B8860B"/>
          </a:solidFill>
          <a:ln>
            <a:noFill/>
          </a:ln>
          <a:effectLst/>
        </p:spPr>
        <p:txBody>
          <a:bodyPr rtlCol="0" anchor="ctr" wrap="square" lIns="36576" rIns="36576" tIns="0" bIns="0">
            <a:noAutofit/>
          </a:bodyPr>
          <a:lstStyle/>
          <a:p>
            <a:pPr algn="ctr">
              <a:spcBef>
                <a:spcPts val="0"/>
              </a:spcBef>
              <a:spcAft>
                <a:spcPts val="0"/>
              </a:spcAft>
            </a:pPr>
            <a:r>
              <a:rPr lang="tr-TR" sz="1500" b="1" i="0">
                <a:solidFill>
                  <a:srgbClr val="FFFFFF"/>
                </a:solidFill>
                <a:latin typeface="Calibri"/>
              </a:rPr>
              <a:t>Üretim</a:t>
            </a:r>
          </a:p>
        </p:txBody>
      </p:sp>
      <p:pic>
        <p:nvPicPr>
          <p:cNvPr id="27" name="Picture 26" descr="h28_s172_maden.jpg"/>
          <p:cNvPicPr>
            <a:picLocks noChangeAspect="1"/>
          </p:cNvPicPr>
          <p:nvPr/>
        </p:nvPicPr>
        <p:blipFill>
          <a:blip r:embed="rId7"/>
          <a:srcRect t="18133" b="18133"/>
          <a:stretch>
            <a:fillRect/>
          </a:stretch>
        </p:blipFill>
        <p:spPr>
          <a:xfrm>
            <a:off x="4292498" y="4114800"/>
            <a:ext cx="3606698" cy="1517904"/>
          </a:xfrm>
          <a:prstGeom prst="rect">
            <a:avLst/>
          </a:prstGeom>
          <a:ln w="9525">
            <a:solidFill>
              <a:srgbClr val="D9D9D9"/>
            </a:solidFill>
          </a:ln>
        </p:spPr>
      </p:pic>
      <p:sp>
        <p:nvSpPr>
          <p:cNvPr id="28" name="Oval 27"/>
          <p:cNvSpPr/>
          <p:nvPr/>
        </p:nvSpPr>
        <p:spPr>
          <a:xfrm>
            <a:off x="4365650" y="4187952"/>
            <a:ext cx="420624" cy="420624"/>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5</a:t>
            </a:r>
          </a:p>
        </p:txBody>
      </p:sp>
      <p:sp>
        <p:nvSpPr>
          <p:cNvPr id="29" name="Rounded Rectangle 28"/>
          <p:cNvSpPr/>
          <p:nvPr/>
        </p:nvSpPr>
        <p:spPr>
          <a:xfrm>
            <a:off x="4292498" y="5669280"/>
            <a:ext cx="3606698" cy="475488"/>
          </a:xfrm>
          <a:prstGeom prst="roundRect">
            <a:avLst>
              <a:gd name="adj" fmla="val 12000"/>
            </a:avLst>
          </a:prstGeom>
          <a:solidFill>
            <a:srgbClr val="E3F1E4"/>
          </a:solidFill>
          <a:ln w="12700">
            <a:solidFill>
              <a:srgbClr val="2E7D32"/>
            </a:solidFill>
          </a:ln>
          <a:effectLst/>
        </p:spPr>
        <p:txBody>
          <a:bodyPr rtlCol="0" anchor="ctr"/>
          <a:lstStyle/>
          <a:p/>
        </p:txBody>
      </p:sp>
      <p:sp>
        <p:nvSpPr>
          <p:cNvPr id="30" name="TextBox 29"/>
          <p:cNvSpPr txBox="1"/>
          <p:nvPr/>
        </p:nvSpPr>
        <p:spPr>
          <a:xfrm>
            <a:off x="4383938" y="5669280"/>
            <a:ext cx="1325880" cy="475488"/>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262626"/>
                </a:solidFill>
                <a:latin typeface="Calibri"/>
              </a:rPr>
              <a:t>Madencilik</a:t>
            </a:r>
          </a:p>
        </p:txBody>
      </p:sp>
      <p:sp>
        <p:nvSpPr>
          <p:cNvPr id="31" name="Rounded Rectangle 30"/>
          <p:cNvSpPr/>
          <p:nvPr/>
        </p:nvSpPr>
        <p:spPr>
          <a:xfrm>
            <a:off x="6889685" y="5733288"/>
            <a:ext cx="936359" cy="347472"/>
          </a:xfrm>
          <a:prstGeom prst="roundRect">
            <a:avLst>
              <a:gd name="adj" fmla="val 50000"/>
            </a:avLst>
          </a:prstGeom>
          <a:solidFill>
            <a:srgbClr val="B8860B"/>
          </a:solidFill>
          <a:ln>
            <a:noFill/>
          </a:ln>
          <a:effectLst/>
        </p:spPr>
        <p:txBody>
          <a:bodyPr rtlCol="0" anchor="ctr" wrap="square" lIns="36576" rIns="36576" tIns="0" bIns="0">
            <a:noAutofit/>
          </a:bodyPr>
          <a:lstStyle/>
          <a:p>
            <a:pPr algn="ctr">
              <a:spcBef>
                <a:spcPts val="0"/>
              </a:spcBef>
              <a:spcAft>
                <a:spcPts val="0"/>
              </a:spcAft>
            </a:pPr>
            <a:r>
              <a:rPr lang="tr-TR" sz="1500" b="1" i="0">
                <a:solidFill>
                  <a:srgbClr val="FFFFFF"/>
                </a:solidFill>
                <a:latin typeface="Calibri"/>
              </a:rPr>
              <a:t>Üretim</a:t>
            </a:r>
          </a:p>
        </p:txBody>
      </p:sp>
      <p:pic>
        <p:nvPicPr>
          <p:cNvPr id="32" name="Picture 31" descr="h28_s172_balon.jpg"/>
          <p:cNvPicPr>
            <a:picLocks noChangeAspect="1"/>
          </p:cNvPicPr>
          <p:nvPr/>
        </p:nvPicPr>
        <p:blipFill>
          <a:blip r:embed="rId8"/>
          <a:srcRect t="18436" b="18436"/>
          <a:stretch>
            <a:fillRect/>
          </a:stretch>
        </p:blipFill>
        <p:spPr>
          <a:xfrm>
            <a:off x="8082076" y="4114800"/>
            <a:ext cx="3606698" cy="1517904"/>
          </a:xfrm>
          <a:prstGeom prst="rect">
            <a:avLst/>
          </a:prstGeom>
          <a:ln w="9525">
            <a:solidFill>
              <a:srgbClr val="D9D9D9"/>
            </a:solidFill>
          </a:ln>
        </p:spPr>
      </p:pic>
      <p:sp>
        <p:nvSpPr>
          <p:cNvPr id="33" name="Oval 32"/>
          <p:cNvSpPr/>
          <p:nvPr/>
        </p:nvSpPr>
        <p:spPr>
          <a:xfrm>
            <a:off x="8155228" y="4187952"/>
            <a:ext cx="420624" cy="420624"/>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6</a:t>
            </a:r>
          </a:p>
        </p:txBody>
      </p:sp>
      <p:sp>
        <p:nvSpPr>
          <p:cNvPr id="34" name="Rounded Rectangle 33"/>
          <p:cNvSpPr/>
          <p:nvPr/>
        </p:nvSpPr>
        <p:spPr>
          <a:xfrm>
            <a:off x="8082076" y="5669280"/>
            <a:ext cx="3606698" cy="475488"/>
          </a:xfrm>
          <a:prstGeom prst="roundRect">
            <a:avLst>
              <a:gd name="adj" fmla="val 12000"/>
            </a:avLst>
          </a:prstGeom>
          <a:solidFill>
            <a:srgbClr val="E3F1E4"/>
          </a:solidFill>
          <a:ln w="12700">
            <a:solidFill>
              <a:srgbClr val="2E7D32"/>
            </a:solidFill>
          </a:ln>
          <a:effectLst/>
        </p:spPr>
        <p:txBody>
          <a:bodyPr rtlCol="0" anchor="ctr"/>
          <a:lstStyle/>
          <a:p/>
        </p:txBody>
      </p:sp>
      <p:sp>
        <p:nvSpPr>
          <p:cNvPr id="35" name="TextBox 34"/>
          <p:cNvSpPr txBox="1"/>
          <p:nvPr/>
        </p:nvSpPr>
        <p:spPr>
          <a:xfrm>
            <a:off x="8173516" y="5669280"/>
            <a:ext cx="1325880" cy="475488"/>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262626"/>
                </a:solidFill>
                <a:latin typeface="Calibri"/>
              </a:rPr>
              <a:t>Turizm</a:t>
            </a:r>
          </a:p>
        </p:txBody>
      </p:sp>
      <p:sp>
        <p:nvSpPr>
          <p:cNvPr id="36" name="Rounded Rectangle 35"/>
          <p:cNvSpPr/>
          <p:nvPr/>
        </p:nvSpPr>
        <p:spPr>
          <a:xfrm>
            <a:off x="10593694" y="5733288"/>
            <a:ext cx="1021928" cy="347472"/>
          </a:xfrm>
          <a:prstGeom prst="roundRect">
            <a:avLst>
              <a:gd name="adj" fmla="val 50000"/>
            </a:avLst>
          </a:prstGeom>
          <a:solidFill>
            <a:srgbClr val="7A4EA0"/>
          </a:solidFill>
          <a:ln>
            <a:noFill/>
          </a:ln>
          <a:effectLst/>
        </p:spPr>
        <p:txBody>
          <a:bodyPr rtlCol="0" anchor="ctr" wrap="square" lIns="36576" rIns="36576" tIns="0" bIns="0">
            <a:noAutofit/>
          </a:bodyPr>
          <a:lstStyle/>
          <a:p>
            <a:pPr algn="ctr">
              <a:spcBef>
                <a:spcPts val="0"/>
              </a:spcBef>
              <a:spcAft>
                <a:spcPts val="0"/>
              </a:spcAft>
            </a:pPr>
            <a:r>
              <a:rPr lang="tr-TR" sz="1500" b="1" i="0">
                <a:solidFill>
                  <a:srgbClr val="FFFFFF"/>
                </a:solidFill>
                <a:latin typeface="Calibri"/>
              </a:rPr>
              <a:t>Tüketim</a:t>
            </a:r>
          </a:p>
        </p:txBody>
      </p:sp>
      <p:sp>
        <p:nvSpPr>
          <p:cNvPr id="37" name="Rounded Rectangle 36"/>
          <p:cNvSpPr/>
          <p:nvPr/>
        </p:nvSpPr>
        <p:spPr>
          <a:xfrm>
            <a:off x="9602471" y="5733288"/>
            <a:ext cx="936359" cy="347472"/>
          </a:xfrm>
          <a:prstGeom prst="roundRect">
            <a:avLst>
              <a:gd name="adj" fmla="val 50000"/>
            </a:avLst>
          </a:prstGeom>
          <a:solidFill>
            <a:srgbClr val="B8860B"/>
          </a:solidFill>
          <a:ln>
            <a:noFill/>
          </a:ln>
          <a:effectLst/>
        </p:spPr>
        <p:txBody>
          <a:bodyPr rtlCol="0" anchor="ctr" wrap="square" lIns="36576" rIns="36576" tIns="0" bIns="0">
            <a:noAutofit/>
          </a:bodyPr>
          <a:lstStyle/>
          <a:p>
            <a:pPr algn="ctr">
              <a:spcBef>
                <a:spcPts val="0"/>
              </a:spcBef>
              <a:spcAft>
                <a:spcPts val="0"/>
              </a:spcAft>
            </a:pPr>
            <a:r>
              <a:rPr lang="tr-TR" sz="1500" b="1" i="0">
                <a:solidFill>
                  <a:srgbClr val="FFFFFF"/>
                </a:solidFill>
                <a:latin typeface="Calibri"/>
              </a:rPr>
              <a:t>Üretim</a:t>
            </a:r>
          </a:p>
        </p:txBody>
      </p:sp>
      <p:sp>
        <p:nvSpPr>
          <p:cNvPr id="38" name="TextBox 3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39" name="Rounded Rectangle 3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172</a:t>
            </a:r>
          </a:p>
        </p:txBody>
      </p:sp>
      <p:sp>
        <p:nvSpPr>
          <p:cNvPr id="40" name="TextBox 3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 / 166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Başlarken: yaşadığımız yerde ekonomik faaliyetler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ÖN DEĞERLENDİRME</a:t>
            </a:r>
          </a:p>
        </p:txBody>
      </p:sp>
      <p:sp>
        <p:nvSpPr>
          <p:cNvPr id="6" name="Rounded Rectangle 5"/>
          <p:cNvSpPr/>
          <p:nvPr/>
        </p:nvSpPr>
        <p:spPr>
          <a:xfrm>
            <a:off x="502920" y="1207008"/>
            <a:ext cx="11185855" cy="82296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50" b="1" i="0">
                <a:solidFill>
                  <a:srgbClr val="262626"/>
                </a:solidFill>
                <a:latin typeface="Calibri"/>
              </a:rPr>
              <a:t>Yaşadığınız yerde yürütülen ekonomik faaliyetler ve bu faaliyetlerin gelişiminde etkili olan faktörler neler olabilir? Düşüncelerinizi paylaşınız.</a:t>
            </a:r>
          </a:p>
        </p:txBody>
      </p:sp>
      <p:sp>
        <p:nvSpPr>
          <p:cNvPr id="7" name="Rounded Rectangle 6"/>
          <p:cNvSpPr/>
          <p:nvPr/>
        </p:nvSpPr>
        <p:spPr>
          <a:xfrm>
            <a:off x="502920" y="2176272"/>
            <a:ext cx="3840480" cy="457200"/>
          </a:xfrm>
          <a:prstGeom prst="roundRect">
            <a:avLst>
              <a:gd name="adj" fmla="val 15000"/>
            </a:avLst>
          </a:prstGeom>
          <a:solidFill>
            <a:srgbClr val="B85C12"/>
          </a:solidFill>
          <a:ln>
            <a:noFill/>
          </a:ln>
          <a:effectLst/>
        </p:spPr>
        <p:txBody>
          <a:bodyPr rtlCol="0" anchor="ctr" wrap="square" lIns="128016" rIns="128016" tIns="73152" bIns="73152">
            <a:noAutofit/>
          </a:bodyPr>
          <a:lstStyle/>
          <a:p>
            <a:pPr algn="ctr">
              <a:spcBef>
                <a:spcPts val="0"/>
              </a:spcBef>
              <a:spcAft>
                <a:spcPts val="0"/>
              </a:spcAft>
            </a:pPr>
            <a:r>
              <a:rPr lang="tr-TR" sz="1700" b="1" i="0">
                <a:solidFill>
                  <a:srgbClr val="FFFFFF"/>
                </a:solidFill>
                <a:latin typeface="Calibri"/>
              </a:rPr>
              <a:t>Ekonomik faaliyet</a:t>
            </a:r>
          </a:p>
        </p:txBody>
      </p:sp>
      <p:sp>
        <p:nvSpPr>
          <p:cNvPr id="8" name="Rounded Rectangle 7"/>
          <p:cNvSpPr/>
          <p:nvPr/>
        </p:nvSpPr>
        <p:spPr>
          <a:xfrm>
            <a:off x="4480560" y="2176272"/>
            <a:ext cx="7208215" cy="457200"/>
          </a:xfrm>
          <a:prstGeom prst="roundRect">
            <a:avLst>
              <a:gd name="adj" fmla="val 15000"/>
            </a:avLst>
          </a:prstGeom>
          <a:solidFill>
            <a:srgbClr val="B85C12"/>
          </a:solidFill>
          <a:ln>
            <a:noFill/>
          </a:ln>
          <a:effectLst/>
        </p:spPr>
        <p:txBody>
          <a:bodyPr rtlCol="0" anchor="ctr" wrap="square" lIns="128016" rIns="128016" tIns="73152" bIns="73152">
            <a:noAutofit/>
          </a:bodyPr>
          <a:lstStyle/>
          <a:p>
            <a:pPr algn="ctr">
              <a:spcBef>
                <a:spcPts val="0"/>
              </a:spcBef>
              <a:spcAft>
                <a:spcPts val="0"/>
              </a:spcAft>
            </a:pPr>
            <a:r>
              <a:rPr lang="tr-TR" sz="1700" b="1" i="0">
                <a:solidFill>
                  <a:srgbClr val="FFFFFF"/>
                </a:solidFill>
                <a:latin typeface="Calibri"/>
              </a:rPr>
              <a:t>Gelişiminde etkili olan faktörler</a:t>
            </a:r>
          </a:p>
        </p:txBody>
      </p:sp>
      <p:sp>
        <p:nvSpPr>
          <p:cNvPr id="9" name="Rounded Rectangle 8"/>
          <p:cNvSpPr/>
          <p:nvPr/>
        </p:nvSpPr>
        <p:spPr>
          <a:xfrm>
            <a:off x="502920" y="2724912"/>
            <a:ext cx="3840480" cy="1714500"/>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10" name="Connector 9"/>
          <p:cNvCxnSpPr/>
          <p:nvPr/>
        </p:nvCxnSpPr>
        <p:spPr>
          <a:xfrm>
            <a:off x="685800" y="3067812"/>
            <a:ext cx="3474720" cy="0"/>
          </a:xfrm>
          <a:prstGeom prst="line">
            <a:avLst/>
          </a:prstGeom>
          <a:ln w="12700">
            <a:solidFill>
              <a:srgbClr val="D9D9D9"/>
            </a:solidFill>
            <a:prstDash val="dash"/>
          </a:ln>
        </p:spPr>
      </p:cxnSp>
      <p:cxnSp>
        <p:nvCxnSpPr>
          <p:cNvPr id="11" name="Connector 10"/>
          <p:cNvCxnSpPr/>
          <p:nvPr/>
        </p:nvCxnSpPr>
        <p:spPr>
          <a:xfrm>
            <a:off x="685800" y="3410712"/>
            <a:ext cx="3474720" cy="0"/>
          </a:xfrm>
          <a:prstGeom prst="line">
            <a:avLst/>
          </a:prstGeom>
          <a:ln w="12700">
            <a:solidFill>
              <a:srgbClr val="D9D9D9"/>
            </a:solidFill>
            <a:prstDash val="dash"/>
          </a:ln>
        </p:spPr>
      </p:cxnSp>
      <p:cxnSp>
        <p:nvCxnSpPr>
          <p:cNvPr id="12" name="Connector 11"/>
          <p:cNvCxnSpPr/>
          <p:nvPr/>
        </p:nvCxnSpPr>
        <p:spPr>
          <a:xfrm>
            <a:off x="685800" y="3753612"/>
            <a:ext cx="3474720" cy="0"/>
          </a:xfrm>
          <a:prstGeom prst="line">
            <a:avLst/>
          </a:prstGeom>
          <a:ln w="12700">
            <a:solidFill>
              <a:srgbClr val="D9D9D9"/>
            </a:solidFill>
            <a:prstDash val="dash"/>
          </a:ln>
        </p:spPr>
      </p:cxnSp>
      <p:cxnSp>
        <p:nvCxnSpPr>
          <p:cNvPr id="13" name="Connector 12"/>
          <p:cNvCxnSpPr/>
          <p:nvPr/>
        </p:nvCxnSpPr>
        <p:spPr>
          <a:xfrm>
            <a:off x="685800" y="4096512"/>
            <a:ext cx="3474720" cy="0"/>
          </a:xfrm>
          <a:prstGeom prst="line">
            <a:avLst/>
          </a:prstGeom>
          <a:ln w="12700">
            <a:solidFill>
              <a:srgbClr val="D9D9D9"/>
            </a:solidFill>
            <a:prstDash val="dash"/>
          </a:ln>
        </p:spPr>
      </p:cxnSp>
      <p:sp>
        <p:nvSpPr>
          <p:cNvPr id="14" name="Rounded Rectangle 13"/>
          <p:cNvSpPr/>
          <p:nvPr/>
        </p:nvSpPr>
        <p:spPr>
          <a:xfrm>
            <a:off x="4480560" y="2724912"/>
            <a:ext cx="7208215" cy="1714500"/>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15" name="Connector 14"/>
          <p:cNvCxnSpPr/>
          <p:nvPr/>
        </p:nvCxnSpPr>
        <p:spPr>
          <a:xfrm>
            <a:off x="4663440" y="3067812"/>
            <a:ext cx="6842455" cy="0"/>
          </a:xfrm>
          <a:prstGeom prst="line">
            <a:avLst/>
          </a:prstGeom>
          <a:ln w="12700">
            <a:solidFill>
              <a:srgbClr val="D9D9D9"/>
            </a:solidFill>
            <a:prstDash val="dash"/>
          </a:ln>
        </p:spPr>
      </p:cxnSp>
      <p:cxnSp>
        <p:nvCxnSpPr>
          <p:cNvPr id="16" name="Connector 15"/>
          <p:cNvCxnSpPr/>
          <p:nvPr/>
        </p:nvCxnSpPr>
        <p:spPr>
          <a:xfrm>
            <a:off x="4663440" y="3410712"/>
            <a:ext cx="6842455" cy="0"/>
          </a:xfrm>
          <a:prstGeom prst="line">
            <a:avLst/>
          </a:prstGeom>
          <a:ln w="12700">
            <a:solidFill>
              <a:srgbClr val="D9D9D9"/>
            </a:solidFill>
            <a:prstDash val="dash"/>
          </a:ln>
        </p:spPr>
      </p:cxnSp>
      <p:cxnSp>
        <p:nvCxnSpPr>
          <p:cNvPr id="17" name="Connector 16"/>
          <p:cNvCxnSpPr/>
          <p:nvPr/>
        </p:nvCxnSpPr>
        <p:spPr>
          <a:xfrm>
            <a:off x="4663440" y="3753612"/>
            <a:ext cx="6842455" cy="0"/>
          </a:xfrm>
          <a:prstGeom prst="line">
            <a:avLst/>
          </a:prstGeom>
          <a:ln w="12700">
            <a:solidFill>
              <a:srgbClr val="D9D9D9"/>
            </a:solidFill>
            <a:prstDash val="dash"/>
          </a:ln>
        </p:spPr>
      </p:cxnSp>
      <p:cxnSp>
        <p:nvCxnSpPr>
          <p:cNvPr id="18" name="Connector 17"/>
          <p:cNvCxnSpPr/>
          <p:nvPr/>
        </p:nvCxnSpPr>
        <p:spPr>
          <a:xfrm>
            <a:off x="4663440" y="4096512"/>
            <a:ext cx="6842455" cy="0"/>
          </a:xfrm>
          <a:prstGeom prst="line">
            <a:avLst/>
          </a:prstGeom>
          <a:ln w="12700">
            <a:solidFill>
              <a:srgbClr val="D9D9D9"/>
            </a:solidFill>
            <a:prstDash val="dash"/>
          </a:ln>
        </p:spPr>
      </p:cxnSp>
      <p:sp>
        <p:nvSpPr>
          <p:cNvPr id="19" name="Rounded Rectangle 18"/>
          <p:cNvSpPr/>
          <p:nvPr/>
        </p:nvSpPr>
        <p:spPr>
          <a:xfrm>
            <a:off x="502920" y="4530852"/>
            <a:ext cx="3840480" cy="1714500"/>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20" name="Connector 19"/>
          <p:cNvCxnSpPr/>
          <p:nvPr/>
        </p:nvCxnSpPr>
        <p:spPr>
          <a:xfrm>
            <a:off x="685800" y="4873752"/>
            <a:ext cx="3474720" cy="0"/>
          </a:xfrm>
          <a:prstGeom prst="line">
            <a:avLst/>
          </a:prstGeom>
          <a:ln w="12700">
            <a:solidFill>
              <a:srgbClr val="D9D9D9"/>
            </a:solidFill>
            <a:prstDash val="dash"/>
          </a:ln>
        </p:spPr>
      </p:cxnSp>
      <p:cxnSp>
        <p:nvCxnSpPr>
          <p:cNvPr id="21" name="Connector 20"/>
          <p:cNvCxnSpPr/>
          <p:nvPr/>
        </p:nvCxnSpPr>
        <p:spPr>
          <a:xfrm>
            <a:off x="685800" y="5216652"/>
            <a:ext cx="3474720" cy="0"/>
          </a:xfrm>
          <a:prstGeom prst="line">
            <a:avLst/>
          </a:prstGeom>
          <a:ln w="12700">
            <a:solidFill>
              <a:srgbClr val="D9D9D9"/>
            </a:solidFill>
            <a:prstDash val="dash"/>
          </a:ln>
        </p:spPr>
      </p:cxnSp>
      <p:cxnSp>
        <p:nvCxnSpPr>
          <p:cNvPr id="22" name="Connector 21"/>
          <p:cNvCxnSpPr/>
          <p:nvPr/>
        </p:nvCxnSpPr>
        <p:spPr>
          <a:xfrm>
            <a:off x="685800" y="5559552"/>
            <a:ext cx="3474720" cy="0"/>
          </a:xfrm>
          <a:prstGeom prst="line">
            <a:avLst/>
          </a:prstGeom>
          <a:ln w="12700">
            <a:solidFill>
              <a:srgbClr val="D9D9D9"/>
            </a:solidFill>
            <a:prstDash val="dash"/>
          </a:ln>
        </p:spPr>
      </p:cxnSp>
      <p:cxnSp>
        <p:nvCxnSpPr>
          <p:cNvPr id="23" name="Connector 22"/>
          <p:cNvCxnSpPr/>
          <p:nvPr/>
        </p:nvCxnSpPr>
        <p:spPr>
          <a:xfrm>
            <a:off x="685800" y="5902452"/>
            <a:ext cx="3474720" cy="0"/>
          </a:xfrm>
          <a:prstGeom prst="line">
            <a:avLst/>
          </a:prstGeom>
          <a:ln w="12700">
            <a:solidFill>
              <a:srgbClr val="D9D9D9"/>
            </a:solidFill>
            <a:prstDash val="dash"/>
          </a:ln>
        </p:spPr>
      </p:cxnSp>
      <p:sp>
        <p:nvSpPr>
          <p:cNvPr id="24" name="Rounded Rectangle 23"/>
          <p:cNvSpPr/>
          <p:nvPr/>
        </p:nvSpPr>
        <p:spPr>
          <a:xfrm>
            <a:off x="4480560" y="4530852"/>
            <a:ext cx="7208215" cy="1714500"/>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25" name="Connector 24"/>
          <p:cNvCxnSpPr/>
          <p:nvPr/>
        </p:nvCxnSpPr>
        <p:spPr>
          <a:xfrm>
            <a:off x="4663440" y="4873752"/>
            <a:ext cx="6842455" cy="0"/>
          </a:xfrm>
          <a:prstGeom prst="line">
            <a:avLst/>
          </a:prstGeom>
          <a:ln w="12700">
            <a:solidFill>
              <a:srgbClr val="D9D9D9"/>
            </a:solidFill>
            <a:prstDash val="dash"/>
          </a:ln>
        </p:spPr>
      </p:cxnSp>
      <p:cxnSp>
        <p:nvCxnSpPr>
          <p:cNvPr id="26" name="Connector 25"/>
          <p:cNvCxnSpPr/>
          <p:nvPr/>
        </p:nvCxnSpPr>
        <p:spPr>
          <a:xfrm>
            <a:off x="4663440" y="5216652"/>
            <a:ext cx="6842455" cy="0"/>
          </a:xfrm>
          <a:prstGeom prst="line">
            <a:avLst/>
          </a:prstGeom>
          <a:ln w="12700">
            <a:solidFill>
              <a:srgbClr val="D9D9D9"/>
            </a:solidFill>
            <a:prstDash val="dash"/>
          </a:ln>
        </p:spPr>
      </p:cxnSp>
      <p:cxnSp>
        <p:nvCxnSpPr>
          <p:cNvPr id="27" name="Connector 26"/>
          <p:cNvCxnSpPr/>
          <p:nvPr/>
        </p:nvCxnSpPr>
        <p:spPr>
          <a:xfrm>
            <a:off x="4663440" y="5559552"/>
            <a:ext cx="6842455" cy="0"/>
          </a:xfrm>
          <a:prstGeom prst="line">
            <a:avLst/>
          </a:prstGeom>
          <a:ln w="12700">
            <a:solidFill>
              <a:srgbClr val="D9D9D9"/>
            </a:solidFill>
            <a:prstDash val="dash"/>
          </a:ln>
        </p:spPr>
      </p:cxnSp>
      <p:cxnSp>
        <p:nvCxnSpPr>
          <p:cNvPr id="28" name="Connector 27"/>
          <p:cNvCxnSpPr/>
          <p:nvPr/>
        </p:nvCxnSpPr>
        <p:spPr>
          <a:xfrm>
            <a:off x="4663440" y="5902452"/>
            <a:ext cx="6842455" cy="0"/>
          </a:xfrm>
          <a:prstGeom prst="line">
            <a:avLst/>
          </a:prstGeom>
          <a:ln w="12700">
            <a:solidFill>
              <a:srgbClr val="D9D9D9"/>
            </a:solidFill>
            <a:prstDash val="dash"/>
          </a:ln>
        </p:spPr>
      </p:cxnSp>
      <p:sp>
        <p:nvSpPr>
          <p:cNvPr id="29" name="TextBox 2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30" name="Rounded Rectangle 2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172</a:t>
            </a:r>
          </a:p>
        </p:txBody>
      </p:sp>
      <p:sp>
        <p:nvSpPr>
          <p:cNvPr id="31" name="TextBox 3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 / 166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450" b="1" i="0">
                <a:solidFill>
                  <a:srgbClr val="FFFFFF"/>
                </a:solidFill>
                <a:latin typeface="Calibri"/>
              </a:rPr>
              <a:t>Başlarken: yaşadığımız yerde ekonomik faaliyetler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07008"/>
            <a:ext cx="11185855" cy="82296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50" b="1" i="0">
                <a:solidFill>
                  <a:srgbClr val="262626"/>
                </a:solidFill>
                <a:latin typeface="Calibri"/>
              </a:rPr>
              <a:t>Yaşadığınız yerde yürütülen ekonomik faaliyetler ve bu faaliyetlerin gelişiminde etkili olan faktörler neler olabilir? Düşüncelerinizi paylaşınız.</a:t>
            </a:r>
          </a:p>
        </p:txBody>
      </p:sp>
      <p:sp>
        <p:nvSpPr>
          <p:cNvPr id="7" name="Rounded Rectangle 6"/>
          <p:cNvSpPr/>
          <p:nvPr/>
        </p:nvSpPr>
        <p:spPr>
          <a:xfrm>
            <a:off x="502920" y="2176272"/>
            <a:ext cx="3840480" cy="457200"/>
          </a:xfrm>
          <a:prstGeom prst="roundRect">
            <a:avLst>
              <a:gd name="adj" fmla="val 15000"/>
            </a:avLst>
          </a:prstGeom>
          <a:solidFill>
            <a:srgbClr val="B85C12"/>
          </a:solidFill>
          <a:ln>
            <a:noFill/>
          </a:ln>
          <a:effectLst/>
        </p:spPr>
        <p:txBody>
          <a:bodyPr rtlCol="0" anchor="ctr" wrap="square" lIns="128016" rIns="128016" tIns="73152" bIns="73152">
            <a:noAutofit/>
          </a:bodyPr>
          <a:lstStyle/>
          <a:p>
            <a:pPr algn="ctr">
              <a:spcBef>
                <a:spcPts val="0"/>
              </a:spcBef>
              <a:spcAft>
                <a:spcPts val="0"/>
              </a:spcAft>
            </a:pPr>
            <a:r>
              <a:rPr lang="tr-TR" sz="1700" b="1" i="0">
                <a:solidFill>
                  <a:srgbClr val="FFFFFF"/>
                </a:solidFill>
                <a:latin typeface="Calibri"/>
              </a:rPr>
              <a:t>Ekonomik faaliyet</a:t>
            </a:r>
          </a:p>
        </p:txBody>
      </p:sp>
      <p:sp>
        <p:nvSpPr>
          <p:cNvPr id="8" name="Rounded Rectangle 7"/>
          <p:cNvSpPr/>
          <p:nvPr/>
        </p:nvSpPr>
        <p:spPr>
          <a:xfrm>
            <a:off x="4480560" y="2176272"/>
            <a:ext cx="7208215" cy="457200"/>
          </a:xfrm>
          <a:prstGeom prst="roundRect">
            <a:avLst>
              <a:gd name="adj" fmla="val 15000"/>
            </a:avLst>
          </a:prstGeom>
          <a:solidFill>
            <a:srgbClr val="B85C12"/>
          </a:solidFill>
          <a:ln>
            <a:noFill/>
          </a:ln>
          <a:effectLst/>
        </p:spPr>
        <p:txBody>
          <a:bodyPr rtlCol="0" anchor="ctr" wrap="square" lIns="128016" rIns="128016" tIns="73152" bIns="73152">
            <a:noAutofit/>
          </a:bodyPr>
          <a:lstStyle/>
          <a:p>
            <a:pPr algn="ctr">
              <a:spcBef>
                <a:spcPts val="0"/>
              </a:spcBef>
              <a:spcAft>
                <a:spcPts val="0"/>
              </a:spcAft>
            </a:pPr>
            <a:r>
              <a:rPr lang="tr-TR" sz="1700" b="1" i="0">
                <a:solidFill>
                  <a:srgbClr val="FFFFFF"/>
                </a:solidFill>
                <a:latin typeface="Calibri"/>
              </a:rPr>
              <a:t>Gelişiminde etkili olan faktörler</a:t>
            </a:r>
          </a:p>
        </p:txBody>
      </p:sp>
      <p:sp>
        <p:nvSpPr>
          <p:cNvPr id="9" name="Rounded Rectangle 8"/>
          <p:cNvSpPr/>
          <p:nvPr/>
        </p:nvSpPr>
        <p:spPr>
          <a:xfrm>
            <a:off x="502920" y="2724912"/>
            <a:ext cx="3840480" cy="697230"/>
          </a:xfrm>
          <a:prstGeom prst="roundRect">
            <a:avLst>
              <a:gd name="adj" fmla="val 8000"/>
            </a:avLst>
          </a:prstGeom>
          <a:solidFill>
            <a:srgbClr val="E3F1E4"/>
          </a:solidFill>
          <a:ln w="12700">
            <a:solidFill>
              <a:srgbClr val="2E7D32"/>
            </a:solidFill>
          </a:ln>
          <a:effectLst/>
        </p:spPr>
        <p:txBody>
          <a:bodyPr rtlCol="0" anchor="ctr" wrap="square" lIns="128016" rIns="128016" tIns="73152" bIns="73152">
            <a:noAutofit/>
          </a:bodyPr>
          <a:lstStyle/>
          <a:p>
            <a:pPr algn="l">
              <a:spcBef>
                <a:spcPts val="0"/>
              </a:spcBef>
              <a:spcAft>
                <a:spcPts val="0"/>
              </a:spcAft>
            </a:pPr>
            <a:r>
              <a:rPr lang="tr-TR" sz="1750" b="1" i="0">
                <a:solidFill>
                  <a:srgbClr val="262626"/>
                </a:solidFill>
                <a:latin typeface="Calibri"/>
              </a:rPr>
              <a:t>Ticaret: çarşı, pazar, alışveriş merkezi</a:t>
            </a:r>
          </a:p>
        </p:txBody>
      </p:sp>
      <p:sp>
        <p:nvSpPr>
          <p:cNvPr id="10" name="Rounded Rectangle 9"/>
          <p:cNvSpPr/>
          <p:nvPr/>
        </p:nvSpPr>
        <p:spPr>
          <a:xfrm>
            <a:off x="4617720" y="2844927"/>
            <a:ext cx="2451681" cy="457200"/>
          </a:xfrm>
          <a:prstGeom prst="roundRect">
            <a:avLst>
              <a:gd name="adj" fmla="val 50000"/>
            </a:avLst>
          </a:prstGeom>
          <a:solidFill>
            <a:srgbClr val="2C6696"/>
          </a:solidFill>
          <a:ln>
            <a:noFill/>
          </a:ln>
          <a:effectLst/>
        </p:spPr>
        <p:txBody>
          <a:bodyPr rtlCol="0" anchor="ctr" wrap="square" lIns="54864" rIns="54864" tIns="0" bIns="0">
            <a:noAutofit/>
          </a:bodyPr>
          <a:lstStyle/>
          <a:p>
            <a:pPr algn="ctr">
              <a:spcBef>
                <a:spcPts val="0"/>
              </a:spcBef>
              <a:spcAft>
                <a:spcPts val="0"/>
              </a:spcAft>
            </a:pPr>
            <a:r>
              <a:rPr lang="tr-TR" sz="1700" b="1" i="0">
                <a:solidFill>
                  <a:srgbClr val="FFFFFF"/>
                </a:solidFill>
                <a:latin typeface="Calibri"/>
              </a:rPr>
              <a:t>kalabalık nüfus (pazar)</a:t>
            </a:r>
          </a:p>
        </p:txBody>
      </p:sp>
      <p:sp>
        <p:nvSpPr>
          <p:cNvPr id="11" name="Rounded Rectangle 10"/>
          <p:cNvSpPr/>
          <p:nvPr/>
        </p:nvSpPr>
        <p:spPr>
          <a:xfrm>
            <a:off x="7206561" y="2844927"/>
            <a:ext cx="1781979" cy="457200"/>
          </a:xfrm>
          <a:prstGeom prst="roundRect">
            <a:avLst>
              <a:gd name="adj" fmla="val 50000"/>
            </a:avLst>
          </a:prstGeom>
          <a:solidFill>
            <a:srgbClr val="2C6696"/>
          </a:solidFill>
          <a:ln>
            <a:noFill/>
          </a:ln>
          <a:effectLst/>
        </p:spPr>
        <p:txBody>
          <a:bodyPr rtlCol="0" anchor="ctr" wrap="square" lIns="54864" rIns="54864" tIns="0" bIns="0">
            <a:noAutofit/>
          </a:bodyPr>
          <a:lstStyle/>
          <a:p>
            <a:pPr algn="ctr">
              <a:spcBef>
                <a:spcPts val="0"/>
              </a:spcBef>
              <a:spcAft>
                <a:spcPts val="0"/>
              </a:spcAft>
            </a:pPr>
            <a:r>
              <a:rPr lang="tr-TR" sz="1700" b="1" i="0">
                <a:solidFill>
                  <a:srgbClr val="FFFFFF"/>
                </a:solidFill>
                <a:latin typeface="Calibri"/>
              </a:rPr>
              <a:t>ulaşım kolaylığı</a:t>
            </a:r>
          </a:p>
        </p:txBody>
      </p:sp>
      <p:sp>
        <p:nvSpPr>
          <p:cNvPr id="12" name="Rounded Rectangle 11"/>
          <p:cNvSpPr/>
          <p:nvPr/>
        </p:nvSpPr>
        <p:spPr>
          <a:xfrm>
            <a:off x="502920" y="3513582"/>
            <a:ext cx="3840480" cy="697230"/>
          </a:xfrm>
          <a:prstGeom prst="roundRect">
            <a:avLst>
              <a:gd name="adj" fmla="val 8000"/>
            </a:avLst>
          </a:prstGeom>
          <a:solidFill>
            <a:srgbClr val="E3F1E4"/>
          </a:solidFill>
          <a:ln w="12700">
            <a:solidFill>
              <a:srgbClr val="2E7D32"/>
            </a:solidFill>
          </a:ln>
          <a:effectLst/>
        </p:spPr>
        <p:txBody>
          <a:bodyPr rtlCol="0" anchor="ctr" wrap="square" lIns="128016" rIns="128016" tIns="73152" bIns="73152">
            <a:noAutofit/>
          </a:bodyPr>
          <a:lstStyle/>
          <a:p>
            <a:pPr algn="l">
              <a:spcBef>
                <a:spcPts val="0"/>
              </a:spcBef>
              <a:spcAft>
                <a:spcPts val="0"/>
              </a:spcAft>
            </a:pPr>
            <a:r>
              <a:rPr lang="tr-TR" sz="1900" b="1" i="0">
                <a:solidFill>
                  <a:srgbClr val="262626"/>
                </a:solidFill>
                <a:latin typeface="Calibri"/>
              </a:rPr>
              <a:t>Sanayi: atölye ve fabrikalar</a:t>
            </a:r>
          </a:p>
        </p:txBody>
      </p:sp>
      <p:sp>
        <p:nvSpPr>
          <p:cNvPr id="13" name="Rounded Rectangle 12"/>
          <p:cNvSpPr/>
          <p:nvPr/>
        </p:nvSpPr>
        <p:spPr>
          <a:xfrm>
            <a:off x="4617720" y="3633597"/>
            <a:ext cx="999524" cy="457200"/>
          </a:xfrm>
          <a:prstGeom prst="roundRect">
            <a:avLst>
              <a:gd name="adj" fmla="val 50000"/>
            </a:avLst>
          </a:prstGeom>
          <a:solidFill>
            <a:srgbClr val="2C6696"/>
          </a:solidFill>
          <a:ln>
            <a:noFill/>
          </a:ln>
          <a:effectLst/>
        </p:spPr>
        <p:txBody>
          <a:bodyPr rtlCol="0" anchor="ctr" wrap="square" lIns="54864" rIns="54864" tIns="0" bIns="0">
            <a:noAutofit/>
          </a:bodyPr>
          <a:lstStyle/>
          <a:p>
            <a:pPr algn="ctr">
              <a:spcBef>
                <a:spcPts val="0"/>
              </a:spcBef>
              <a:spcAft>
                <a:spcPts val="0"/>
              </a:spcAft>
            </a:pPr>
            <a:r>
              <a:rPr lang="tr-TR" sz="1700" b="1" i="0">
                <a:solidFill>
                  <a:srgbClr val="FFFFFF"/>
                </a:solidFill>
                <a:latin typeface="Calibri"/>
              </a:rPr>
              <a:t>iş gücü</a:t>
            </a:r>
          </a:p>
        </p:txBody>
      </p:sp>
      <p:sp>
        <p:nvSpPr>
          <p:cNvPr id="14" name="Rounded Rectangle 13"/>
          <p:cNvSpPr/>
          <p:nvPr/>
        </p:nvSpPr>
        <p:spPr>
          <a:xfrm>
            <a:off x="5754404" y="3633597"/>
            <a:ext cx="1149907" cy="457200"/>
          </a:xfrm>
          <a:prstGeom prst="roundRect">
            <a:avLst>
              <a:gd name="adj" fmla="val 50000"/>
            </a:avLst>
          </a:prstGeom>
          <a:solidFill>
            <a:srgbClr val="2C6696"/>
          </a:solidFill>
          <a:ln>
            <a:noFill/>
          </a:ln>
          <a:effectLst/>
        </p:spPr>
        <p:txBody>
          <a:bodyPr rtlCol="0" anchor="ctr" wrap="square" lIns="54864" rIns="54864" tIns="0" bIns="0">
            <a:noAutofit/>
          </a:bodyPr>
          <a:lstStyle/>
          <a:p>
            <a:pPr algn="ctr">
              <a:spcBef>
                <a:spcPts val="0"/>
              </a:spcBef>
              <a:spcAft>
                <a:spcPts val="0"/>
              </a:spcAft>
            </a:pPr>
            <a:r>
              <a:rPr lang="tr-TR" sz="1700" b="1" i="0">
                <a:solidFill>
                  <a:srgbClr val="FFFFFF"/>
                </a:solidFill>
                <a:latin typeface="Calibri"/>
              </a:rPr>
              <a:t>sermaye</a:t>
            </a:r>
          </a:p>
        </p:txBody>
      </p:sp>
      <p:sp>
        <p:nvSpPr>
          <p:cNvPr id="15" name="Rounded Rectangle 14"/>
          <p:cNvSpPr/>
          <p:nvPr/>
        </p:nvSpPr>
        <p:spPr>
          <a:xfrm>
            <a:off x="7041471" y="3633597"/>
            <a:ext cx="2048101" cy="457200"/>
          </a:xfrm>
          <a:prstGeom prst="roundRect">
            <a:avLst>
              <a:gd name="adj" fmla="val 50000"/>
            </a:avLst>
          </a:prstGeom>
          <a:solidFill>
            <a:srgbClr val="2C6696"/>
          </a:solidFill>
          <a:ln>
            <a:noFill/>
          </a:ln>
          <a:effectLst/>
        </p:spPr>
        <p:txBody>
          <a:bodyPr rtlCol="0" anchor="ctr" wrap="square" lIns="54864" rIns="54864" tIns="0" bIns="0">
            <a:noAutofit/>
          </a:bodyPr>
          <a:lstStyle/>
          <a:p>
            <a:pPr algn="ctr">
              <a:spcBef>
                <a:spcPts val="0"/>
              </a:spcBef>
              <a:spcAft>
                <a:spcPts val="0"/>
              </a:spcAft>
            </a:pPr>
            <a:r>
              <a:rPr lang="tr-TR" sz="1700" b="1" i="0">
                <a:solidFill>
                  <a:srgbClr val="FFFFFF"/>
                </a:solidFill>
                <a:latin typeface="Calibri"/>
              </a:rPr>
              <a:t>kara yolu ve liman</a:t>
            </a:r>
          </a:p>
        </p:txBody>
      </p:sp>
      <p:sp>
        <p:nvSpPr>
          <p:cNvPr id="16" name="Rounded Rectangle 15"/>
          <p:cNvSpPr/>
          <p:nvPr/>
        </p:nvSpPr>
        <p:spPr>
          <a:xfrm>
            <a:off x="502920" y="4302252"/>
            <a:ext cx="3840480" cy="697230"/>
          </a:xfrm>
          <a:prstGeom prst="roundRect">
            <a:avLst>
              <a:gd name="adj" fmla="val 8000"/>
            </a:avLst>
          </a:prstGeom>
          <a:solidFill>
            <a:srgbClr val="E3F1E4"/>
          </a:solidFill>
          <a:ln w="12700">
            <a:solidFill>
              <a:srgbClr val="2E7D32"/>
            </a:solidFill>
          </a:ln>
          <a:effectLst/>
        </p:spPr>
        <p:txBody>
          <a:bodyPr rtlCol="0" anchor="ctr" wrap="square" lIns="128016" rIns="128016" tIns="73152" bIns="73152">
            <a:noAutofit/>
          </a:bodyPr>
          <a:lstStyle/>
          <a:p>
            <a:pPr algn="l">
              <a:spcBef>
                <a:spcPts val="0"/>
              </a:spcBef>
              <a:spcAft>
                <a:spcPts val="0"/>
              </a:spcAft>
            </a:pPr>
            <a:r>
              <a:rPr lang="tr-TR" sz="1900" b="1" i="0">
                <a:solidFill>
                  <a:srgbClr val="262626"/>
                </a:solidFill>
                <a:latin typeface="Calibri"/>
              </a:rPr>
              <a:t>Ulaşım ve depolama</a:t>
            </a:r>
          </a:p>
        </p:txBody>
      </p:sp>
      <p:sp>
        <p:nvSpPr>
          <p:cNvPr id="17" name="Rounded Rectangle 16"/>
          <p:cNvSpPr/>
          <p:nvPr/>
        </p:nvSpPr>
        <p:spPr>
          <a:xfrm>
            <a:off x="4617720" y="4422267"/>
            <a:ext cx="3696019" cy="457200"/>
          </a:xfrm>
          <a:prstGeom prst="roundRect">
            <a:avLst>
              <a:gd name="adj" fmla="val 50000"/>
            </a:avLst>
          </a:prstGeom>
          <a:solidFill>
            <a:srgbClr val="3E8E41"/>
          </a:solidFill>
          <a:ln>
            <a:noFill/>
          </a:ln>
          <a:effectLst/>
        </p:spPr>
        <p:txBody>
          <a:bodyPr rtlCol="0" anchor="ctr" wrap="square" lIns="54864" rIns="54864" tIns="0" bIns="0">
            <a:noAutofit/>
          </a:bodyPr>
          <a:lstStyle/>
          <a:p>
            <a:pPr algn="ctr">
              <a:spcBef>
                <a:spcPts val="0"/>
              </a:spcBef>
              <a:spcAft>
                <a:spcPts val="0"/>
              </a:spcAft>
            </a:pPr>
            <a:r>
              <a:rPr lang="tr-TR" sz="1700" b="1" i="0">
                <a:solidFill>
                  <a:srgbClr val="FFFFFF"/>
                </a:solidFill>
                <a:latin typeface="Calibri"/>
              </a:rPr>
              <a:t>coğrafi konum: Asya ile Avrupa arası</a:t>
            </a:r>
          </a:p>
        </p:txBody>
      </p:sp>
      <p:sp>
        <p:nvSpPr>
          <p:cNvPr id="18" name="Rounded Rectangle 17"/>
          <p:cNvSpPr/>
          <p:nvPr/>
        </p:nvSpPr>
        <p:spPr>
          <a:xfrm>
            <a:off x="8450899" y="4422267"/>
            <a:ext cx="965994" cy="457200"/>
          </a:xfrm>
          <a:prstGeom prst="roundRect">
            <a:avLst>
              <a:gd name="adj" fmla="val 50000"/>
            </a:avLst>
          </a:prstGeom>
          <a:solidFill>
            <a:srgbClr val="2C6696"/>
          </a:solidFill>
          <a:ln>
            <a:noFill/>
          </a:ln>
          <a:effectLst/>
        </p:spPr>
        <p:txBody>
          <a:bodyPr rtlCol="0" anchor="ctr" wrap="square" lIns="54864" rIns="54864" tIns="0" bIns="0">
            <a:noAutofit/>
          </a:bodyPr>
          <a:lstStyle/>
          <a:p>
            <a:pPr algn="ctr">
              <a:spcBef>
                <a:spcPts val="0"/>
              </a:spcBef>
              <a:spcAft>
                <a:spcPts val="0"/>
              </a:spcAft>
            </a:pPr>
            <a:r>
              <a:rPr lang="tr-TR" sz="1700" b="1" i="0">
                <a:solidFill>
                  <a:srgbClr val="FFFFFF"/>
                </a:solidFill>
                <a:latin typeface="Calibri"/>
              </a:rPr>
              <a:t>yol ağı</a:t>
            </a:r>
          </a:p>
        </p:txBody>
      </p:sp>
      <p:sp>
        <p:nvSpPr>
          <p:cNvPr id="19" name="Rounded Rectangle 18"/>
          <p:cNvSpPr/>
          <p:nvPr/>
        </p:nvSpPr>
        <p:spPr>
          <a:xfrm>
            <a:off x="502920" y="5090922"/>
            <a:ext cx="3840480" cy="697230"/>
          </a:xfrm>
          <a:prstGeom prst="roundRect">
            <a:avLst>
              <a:gd name="adj" fmla="val 8000"/>
            </a:avLst>
          </a:prstGeom>
          <a:solidFill>
            <a:srgbClr val="E3F1E4"/>
          </a:solidFill>
          <a:ln w="12700">
            <a:solidFill>
              <a:srgbClr val="2E7D32"/>
            </a:solidFill>
          </a:ln>
          <a:effectLst/>
        </p:spPr>
        <p:txBody>
          <a:bodyPr rtlCol="0" anchor="ctr" wrap="square" lIns="128016" rIns="128016" tIns="73152" bIns="73152">
            <a:noAutofit/>
          </a:bodyPr>
          <a:lstStyle/>
          <a:p>
            <a:pPr algn="l">
              <a:spcBef>
                <a:spcPts val="0"/>
              </a:spcBef>
              <a:spcAft>
                <a:spcPts val="0"/>
              </a:spcAft>
            </a:pPr>
            <a:r>
              <a:rPr lang="tr-TR" sz="1900" b="1" i="0">
                <a:solidFill>
                  <a:srgbClr val="262626"/>
                </a:solidFill>
                <a:latin typeface="Calibri"/>
              </a:rPr>
              <a:t>Turizm</a:t>
            </a:r>
          </a:p>
        </p:txBody>
      </p:sp>
      <p:sp>
        <p:nvSpPr>
          <p:cNvPr id="20" name="Rounded Rectangle 19"/>
          <p:cNvSpPr/>
          <p:nvPr/>
        </p:nvSpPr>
        <p:spPr>
          <a:xfrm>
            <a:off x="4617720" y="5210937"/>
            <a:ext cx="1793236" cy="457200"/>
          </a:xfrm>
          <a:prstGeom prst="roundRect">
            <a:avLst>
              <a:gd name="adj" fmla="val 50000"/>
            </a:avLst>
          </a:prstGeom>
          <a:solidFill>
            <a:srgbClr val="3E8E41"/>
          </a:solidFill>
          <a:ln>
            <a:noFill/>
          </a:ln>
          <a:effectLst/>
        </p:spPr>
        <p:txBody>
          <a:bodyPr rtlCol="0" anchor="ctr" wrap="square" lIns="54864" rIns="54864" tIns="0" bIns="0">
            <a:noAutofit/>
          </a:bodyPr>
          <a:lstStyle/>
          <a:p>
            <a:pPr algn="ctr">
              <a:spcBef>
                <a:spcPts val="0"/>
              </a:spcBef>
              <a:spcAft>
                <a:spcPts val="0"/>
              </a:spcAft>
            </a:pPr>
            <a:r>
              <a:rPr lang="tr-TR" sz="1700" b="1" i="0">
                <a:solidFill>
                  <a:srgbClr val="FFFFFF"/>
                </a:solidFill>
                <a:latin typeface="Calibri"/>
              </a:rPr>
              <a:t>Boğaz ve kıyılar</a:t>
            </a:r>
          </a:p>
        </p:txBody>
      </p:sp>
      <p:sp>
        <p:nvSpPr>
          <p:cNvPr id="21" name="Rounded Rectangle 20"/>
          <p:cNvSpPr/>
          <p:nvPr/>
        </p:nvSpPr>
        <p:spPr>
          <a:xfrm>
            <a:off x="6548116" y="5210937"/>
            <a:ext cx="1548691" cy="457200"/>
          </a:xfrm>
          <a:prstGeom prst="roundRect">
            <a:avLst>
              <a:gd name="adj" fmla="val 50000"/>
            </a:avLst>
          </a:prstGeom>
          <a:solidFill>
            <a:srgbClr val="2C6696"/>
          </a:solidFill>
          <a:ln>
            <a:noFill/>
          </a:ln>
          <a:effectLst/>
        </p:spPr>
        <p:txBody>
          <a:bodyPr rtlCol="0" anchor="ctr" wrap="square" lIns="54864" rIns="54864" tIns="0" bIns="0">
            <a:noAutofit/>
          </a:bodyPr>
          <a:lstStyle/>
          <a:p>
            <a:pPr algn="ctr">
              <a:spcBef>
                <a:spcPts val="0"/>
              </a:spcBef>
              <a:spcAft>
                <a:spcPts val="0"/>
              </a:spcAft>
            </a:pPr>
            <a:r>
              <a:rPr lang="tr-TR" sz="1700" b="1" i="0">
                <a:solidFill>
                  <a:srgbClr val="FFFFFF"/>
                </a:solidFill>
                <a:latin typeface="Calibri"/>
              </a:rPr>
              <a:t>tarihî eserler</a:t>
            </a:r>
          </a:p>
        </p:txBody>
      </p:sp>
      <p:sp>
        <p:nvSpPr>
          <p:cNvPr id="22" name="Rounded Rectangle 21"/>
          <p:cNvSpPr/>
          <p:nvPr/>
        </p:nvSpPr>
        <p:spPr>
          <a:xfrm>
            <a:off x="502920" y="5879592"/>
            <a:ext cx="2220403" cy="384048"/>
          </a:xfrm>
          <a:prstGeom prst="roundRect">
            <a:avLst>
              <a:gd name="adj" fmla="val 50000"/>
            </a:avLst>
          </a:prstGeom>
          <a:solidFill>
            <a:srgbClr val="3E8E41"/>
          </a:solidFill>
          <a:ln>
            <a:noFill/>
          </a:ln>
          <a:effectLst/>
        </p:spPr>
        <p:txBody>
          <a:bodyPr rtlCol="0" anchor="ctr" wrap="square" lIns="54864" rIns="54864" tIns="0" bIns="0">
            <a:noAutofit/>
          </a:bodyPr>
          <a:lstStyle/>
          <a:p>
            <a:pPr algn="ctr">
              <a:spcBef>
                <a:spcPts val="0"/>
              </a:spcBef>
              <a:spcAft>
                <a:spcPts val="0"/>
              </a:spcAft>
            </a:pPr>
            <a:r>
              <a:rPr lang="tr-TR" sz="1500" b="1" i="0">
                <a:solidFill>
                  <a:srgbClr val="FFFFFF"/>
                </a:solidFill>
                <a:latin typeface="Calibri"/>
              </a:rPr>
              <a:t>doğal faktör (doğadan)</a:t>
            </a:r>
          </a:p>
        </p:txBody>
      </p:sp>
      <p:sp>
        <p:nvSpPr>
          <p:cNvPr id="23" name="Rounded Rectangle 22"/>
          <p:cNvSpPr/>
          <p:nvPr/>
        </p:nvSpPr>
        <p:spPr>
          <a:xfrm>
            <a:off x="2906203" y="5879592"/>
            <a:ext cx="2310539" cy="384048"/>
          </a:xfrm>
          <a:prstGeom prst="roundRect">
            <a:avLst>
              <a:gd name="adj" fmla="val 50000"/>
            </a:avLst>
          </a:prstGeom>
          <a:solidFill>
            <a:srgbClr val="2C6696"/>
          </a:solidFill>
          <a:ln>
            <a:noFill/>
          </a:ln>
          <a:effectLst/>
        </p:spPr>
        <p:txBody>
          <a:bodyPr rtlCol="0" anchor="ctr" wrap="square" lIns="54864" rIns="54864" tIns="0" bIns="0">
            <a:noAutofit/>
          </a:bodyPr>
          <a:lstStyle/>
          <a:p>
            <a:pPr algn="ctr">
              <a:spcBef>
                <a:spcPts val="0"/>
              </a:spcBef>
              <a:spcAft>
                <a:spcPts val="0"/>
              </a:spcAft>
            </a:pPr>
            <a:r>
              <a:rPr lang="tr-TR" sz="1500" b="1" i="0">
                <a:solidFill>
                  <a:srgbClr val="FFFFFF"/>
                </a:solidFill>
                <a:latin typeface="Calibri"/>
              </a:rPr>
              <a:t>beşerî faktör (insandan)</a:t>
            </a:r>
          </a:p>
        </p:txBody>
      </p:sp>
      <p:sp>
        <p:nvSpPr>
          <p:cNvPr id="24" name="TextBox 23"/>
          <p:cNvSpPr txBox="1"/>
          <p:nvPr/>
        </p:nvSpPr>
        <p:spPr>
          <a:xfrm>
            <a:off x="5399622" y="5861304"/>
            <a:ext cx="6289153" cy="411480"/>
          </a:xfrm>
          <a:prstGeom prst="rect">
            <a:avLst/>
          </a:prstGeom>
          <a:noFill/>
        </p:spPr>
        <p:txBody>
          <a:bodyPr wrap="square" anchor="ctr" lIns="73152" rIns="73152" tIns="36576" bIns="36576">
            <a:noAutofit/>
          </a:bodyPr>
          <a:lstStyle/>
          <a:p>
            <a:pPr algn="l">
              <a:spcBef>
                <a:spcPts val="0"/>
              </a:spcBef>
              <a:spcAft>
                <a:spcPts val="0"/>
              </a:spcAft>
            </a:pPr>
            <a:r>
              <a:rPr lang="tr-TR" sz="1500" b="0" i="1">
                <a:solidFill>
                  <a:srgbClr val="767676"/>
                </a:solidFill>
                <a:latin typeface="Calibri"/>
              </a:rPr>
              <a:t>Örnek İstanbul içindir: her cevap kendi gözlemine dayanır.</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6" name="Rounded Rectangle 2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172</a:t>
            </a:r>
          </a:p>
        </p:txBody>
      </p:sp>
      <p:sp>
        <p:nvSpPr>
          <p:cNvPr id="27" name="TextBox 2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 / 166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Konuya başlarken: gece ışıkları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KONUYA BAŞLARKEN</a:t>
            </a:r>
          </a:p>
        </p:txBody>
      </p:sp>
      <p:sp>
        <p:nvSpPr>
          <p:cNvPr id="6" name="Rounded Rectangle 5"/>
          <p:cNvSpPr/>
          <p:nvPr/>
        </p:nvSpPr>
        <p:spPr>
          <a:xfrm>
            <a:off x="502920" y="1216152"/>
            <a:ext cx="5897880" cy="1857375"/>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1857375"/>
          </a:xfrm>
          <a:prstGeom prst="rect">
            <a:avLst/>
          </a:prstGeom>
          <a:solidFill>
            <a:srgbClr val="B85C12"/>
          </a:solidFill>
          <a:ln>
            <a:noFill/>
          </a:ln>
          <a:effectLst/>
        </p:spPr>
        <p:txBody>
          <a:bodyPr rtlCol="0" anchor="ctr"/>
          <a:lstStyle/>
          <a:p/>
        </p:txBody>
      </p:sp>
      <p:sp>
        <p:nvSpPr>
          <p:cNvPr id="8" name="TextBox 7"/>
          <p:cNvSpPr txBox="1"/>
          <p:nvPr/>
        </p:nvSpPr>
        <p:spPr>
          <a:xfrm>
            <a:off x="777240" y="1216152"/>
            <a:ext cx="5486400" cy="1857375"/>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Bilim insanları, yaklaşık otuz yıldır insan faaliyetleri ve doğa olaylarını incelemek amacıyla genellikle “gece ışıkları” olarak adlandırılan Dünya’nın gece uydu görüntülerini kullanmaktadır.</a:t>
            </a:r>
          </a:p>
        </p:txBody>
      </p:sp>
      <p:sp>
        <p:nvSpPr>
          <p:cNvPr id="9" name="Rounded Rectangle 8"/>
          <p:cNvSpPr/>
          <p:nvPr/>
        </p:nvSpPr>
        <p:spPr>
          <a:xfrm>
            <a:off x="502920" y="3210687"/>
            <a:ext cx="5897880" cy="1263015"/>
          </a:xfrm>
          <a:prstGeom prst="roundRect">
            <a:avLst>
              <a:gd name="adj" fmla="val 8000"/>
            </a:avLst>
          </a:prstGeom>
          <a:solidFill>
            <a:srgbClr val="F0F0F0"/>
          </a:solidFill>
          <a:ln>
            <a:noFill/>
          </a:ln>
          <a:effectLst/>
        </p:spPr>
        <p:txBody>
          <a:bodyPr rtlCol="0" anchor="ctr"/>
          <a:lstStyle/>
          <a:p/>
        </p:txBody>
      </p:sp>
      <p:sp>
        <p:nvSpPr>
          <p:cNvPr id="10" name="Rectangle 9"/>
          <p:cNvSpPr/>
          <p:nvPr/>
        </p:nvSpPr>
        <p:spPr>
          <a:xfrm>
            <a:off x="502920" y="3210687"/>
            <a:ext cx="118872" cy="1263015"/>
          </a:xfrm>
          <a:prstGeom prst="rect">
            <a:avLst/>
          </a:prstGeom>
          <a:solidFill>
            <a:srgbClr val="B85C12"/>
          </a:solidFill>
          <a:ln>
            <a:noFill/>
          </a:ln>
          <a:effectLst/>
        </p:spPr>
        <p:txBody>
          <a:bodyPr rtlCol="0" anchor="ctr"/>
          <a:lstStyle/>
          <a:p/>
        </p:txBody>
      </p:sp>
      <p:sp>
        <p:nvSpPr>
          <p:cNvPr id="11" name="TextBox 10"/>
          <p:cNvSpPr txBox="1"/>
          <p:nvPr/>
        </p:nvSpPr>
        <p:spPr>
          <a:xfrm>
            <a:off x="777240" y="3210687"/>
            <a:ext cx="5486400" cy="1263015"/>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Gece ışıklarının ekonomi açısından önemi, ekonomik faaliyetlerle olan güçlü ilişkisine dayanmaktadır.</a:t>
            </a:r>
          </a:p>
        </p:txBody>
      </p:sp>
      <p:sp>
        <p:nvSpPr>
          <p:cNvPr id="12" name="Rounded Rectangle 11"/>
          <p:cNvSpPr/>
          <p:nvPr/>
        </p:nvSpPr>
        <p:spPr>
          <a:xfrm>
            <a:off x="502920" y="4610862"/>
            <a:ext cx="5897880" cy="1634490"/>
          </a:xfrm>
          <a:prstGeom prst="roundRect">
            <a:avLst>
              <a:gd name="adj" fmla="val 8000"/>
            </a:avLst>
          </a:prstGeom>
          <a:solidFill>
            <a:srgbClr val="F0F0F0"/>
          </a:solidFill>
          <a:ln>
            <a:noFill/>
          </a:ln>
          <a:effectLst/>
        </p:spPr>
        <p:txBody>
          <a:bodyPr rtlCol="0" anchor="ctr"/>
          <a:lstStyle/>
          <a:p/>
        </p:txBody>
      </p:sp>
      <p:sp>
        <p:nvSpPr>
          <p:cNvPr id="13" name="Rectangle 12"/>
          <p:cNvSpPr/>
          <p:nvPr/>
        </p:nvSpPr>
        <p:spPr>
          <a:xfrm>
            <a:off x="502920" y="4610862"/>
            <a:ext cx="118872" cy="1634490"/>
          </a:xfrm>
          <a:prstGeom prst="rect">
            <a:avLst/>
          </a:prstGeom>
          <a:solidFill>
            <a:srgbClr val="B85C12"/>
          </a:solidFill>
          <a:ln>
            <a:noFill/>
          </a:ln>
          <a:effectLst/>
        </p:spPr>
        <p:txBody>
          <a:bodyPr rtlCol="0" anchor="ctr"/>
          <a:lstStyle/>
          <a:p/>
        </p:txBody>
      </p:sp>
      <p:sp>
        <p:nvSpPr>
          <p:cNvPr id="14" name="TextBox 13"/>
          <p:cNvSpPr txBox="1"/>
          <p:nvPr/>
        </p:nvSpPr>
        <p:spPr>
          <a:xfrm>
            <a:off x="777240" y="4610862"/>
            <a:ext cx="5486400" cy="163449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Bu kapsamda büyüyen ekonomilerde zamanla daha fazla alan aydınlanırken buna karşılık gelişmemiş bölgelerde daha fazla arazi parçası karanlıkta kalmaktadır.</a:t>
            </a:r>
          </a:p>
        </p:txBody>
      </p:sp>
      <p:pic>
        <p:nvPicPr>
          <p:cNvPr id="15" name="Picture 14" descr="h28_gece_isiklari_s173.jpg"/>
          <p:cNvPicPr>
            <a:picLocks noChangeAspect="1"/>
          </p:cNvPicPr>
          <p:nvPr/>
        </p:nvPicPr>
        <p:blipFill>
          <a:blip r:embed="rId3"/>
          <a:stretch>
            <a:fillRect/>
          </a:stretch>
        </p:blipFill>
        <p:spPr>
          <a:xfrm>
            <a:off x="6629400" y="1216152"/>
            <a:ext cx="5059375" cy="2615532"/>
          </a:xfrm>
          <a:prstGeom prst="rect">
            <a:avLst/>
          </a:prstGeom>
          <a:ln w="9525">
            <a:solidFill>
              <a:srgbClr val="D9D9D9"/>
            </a:solidFill>
          </a:ln>
        </p:spPr>
      </p:pic>
      <p:sp>
        <p:nvSpPr>
          <p:cNvPr id="16" name="TextBox 15"/>
          <p:cNvSpPr txBox="1"/>
          <p:nvPr/>
        </p:nvSpPr>
        <p:spPr>
          <a:xfrm>
            <a:off x="6629400" y="3968844"/>
            <a:ext cx="5059375" cy="384048"/>
          </a:xfrm>
          <a:prstGeom prst="rect">
            <a:avLst/>
          </a:prstGeom>
          <a:noFill/>
        </p:spPr>
        <p:txBody>
          <a:bodyPr wrap="square" anchor="t" lIns="73152" rIns="73152" tIns="36576" bIns="36576">
            <a:noAutofit/>
          </a:bodyPr>
          <a:lstStyle/>
          <a:p>
            <a:pPr algn="l">
              <a:spcBef>
                <a:spcPts val="0"/>
              </a:spcBef>
              <a:spcAft>
                <a:spcPts val="0"/>
              </a:spcAft>
            </a:pPr>
            <a:r>
              <a:rPr lang="tr-TR" sz="1800" b="1" i="0">
                <a:solidFill>
                  <a:srgbClr val="B85C12"/>
                </a:solidFill>
                <a:latin typeface="Calibri"/>
              </a:rPr>
              <a:t>Son on yılda gece ışıklarıyla:</a:t>
            </a:r>
          </a:p>
        </p:txBody>
      </p:sp>
      <p:sp>
        <p:nvSpPr>
          <p:cNvPr id="17" name="Rounded Rectangle 16"/>
          <p:cNvSpPr/>
          <p:nvPr/>
        </p:nvSpPr>
        <p:spPr>
          <a:xfrm>
            <a:off x="6629400" y="4426044"/>
            <a:ext cx="2856546" cy="420624"/>
          </a:xfrm>
          <a:prstGeom prst="roundRect">
            <a:avLst>
              <a:gd name="adj" fmla="val 50000"/>
            </a:avLst>
          </a:prstGeom>
          <a:solidFill>
            <a:srgbClr val="FFFFFF"/>
          </a:solidFill>
          <a:ln w="19050">
            <a:solidFill>
              <a:srgbClr val="B85C12"/>
            </a:solidFill>
          </a:ln>
          <a:effectLst/>
        </p:spPr>
        <p:txBody>
          <a:bodyPr rtlCol="0" anchor="ctr" wrap="square" lIns="54864" rIns="54864" tIns="0" bIns="0">
            <a:noAutofit/>
          </a:bodyPr>
          <a:lstStyle/>
          <a:p>
            <a:pPr algn="ctr">
              <a:spcBef>
                <a:spcPts val="0"/>
              </a:spcBef>
              <a:spcAft>
                <a:spcPts val="0"/>
              </a:spcAft>
            </a:pPr>
            <a:r>
              <a:rPr lang="tr-TR" sz="1700" b="1" i="0">
                <a:solidFill>
                  <a:srgbClr val="262626"/>
                </a:solidFill>
                <a:latin typeface="Calibri"/>
              </a:rPr>
              <a:t>ekonomik büyümeyi ölçme</a:t>
            </a:r>
          </a:p>
        </p:txBody>
      </p:sp>
      <p:sp>
        <p:nvSpPr>
          <p:cNvPr id="18" name="Rounded Rectangle 17"/>
          <p:cNvSpPr/>
          <p:nvPr/>
        </p:nvSpPr>
        <p:spPr>
          <a:xfrm>
            <a:off x="6629400" y="4938108"/>
            <a:ext cx="3173294" cy="420624"/>
          </a:xfrm>
          <a:prstGeom prst="roundRect">
            <a:avLst>
              <a:gd name="adj" fmla="val 50000"/>
            </a:avLst>
          </a:prstGeom>
          <a:solidFill>
            <a:srgbClr val="FFFFFF"/>
          </a:solidFill>
          <a:ln w="19050">
            <a:solidFill>
              <a:srgbClr val="B85C12"/>
            </a:solidFill>
          </a:ln>
          <a:effectLst/>
        </p:spPr>
        <p:txBody>
          <a:bodyPr rtlCol="0" anchor="ctr" wrap="square" lIns="54864" rIns="54864" tIns="0" bIns="0">
            <a:noAutofit/>
          </a:bodyPr>
          <a:lstStyle/>
          <a:p>
            <a:pPr algn="ctr">
              <a:spcBef>
                <a:spcPts val="0"/>
              </a:spcBef>
              <a:spcAft>
                <a:spcPts val="0"/>
              </a:spcAft>
            </a:pPr>
            <a:r>
              <a:rPr lang="tr-TR" sz="1700" b="1" i="0">
                <a:solidFill>
                  <a:srgbClr val="262626"/>
                </a:solidFill>
                <a:latin typeface="Calibri"/>
              </a:rPr>
              <a:t>yoksulluğun haritasını çıkarma</a:t>
            </a:r>
          </a:p>
        </p:txBody>
      </p:sp>
      <p:sp>
        <p:nvSpPr>
          <p:cNvPr id="19" name="Rounded Rectangle 18"/>
          <p:cNvSpPr/>
          <p:nvPr/>
        </p:nvSpPr>
        <p:spPr>
          <a:xfrm>
            <a:off x="6629400" y="5450172"/>
            <a:ext cx="2319610" cy="420624"/>
          </a:xfrm>
          <a:prstGeom prst="roundRect">
            <a:avLst>
              <a:gd name="adj" fmla="val 50000"/>
            </a:avLst>
          </a:prstGeom>
          <a:solidFill>
            <a:srgbClr val="FFFFFF"/>
          </a:solidFill>
          <a:ln w="19050">
            <a:solidFill>
              <a:srgbClr val="B85C12"/>
            </a:solidFill>
          </a:ln>
          <a:effectLst/>
        </p:spPr>
        <p:txBody>
          <a:bodyPr rtlCol="0" anchor="ctr" wrap="square" lIns="54864" rIns="54864" tIns="0" bIns="0">
            <a:noAutofit/>
          </a:bodyPr>
          <a:lstStyle/>
          <a:p>
            <a:pPr algn="ctr">
              <a:spcBef>
                <a:spcPts val="0"/>
              </a:spcBef>
              <a:spcAft>
                <a:spcPts val="0"/>
              </a:spcAft>
            </a:pPr>
            <a:r>
              <a:rPr lang="tr-TR" sz="1700" b="1" i="0">
                <a:solidFill>
                  <a:srgbClr val="262626"/>
                </a:solidFill>
                <a:latin typeface="Calibri"/>
              </a:rPr>
              <a:t>eşitsizliği analiz etme</a:t>
            </a:r>
          </a:p>
        </p:txBody>
      </p:sp>
      <p:sp>
        <p:nvSpPr>
          <p:cNvPr id="20" name="TextBox 1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1" name="Rounded Rectangle 2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173</a:t>
            </a:r>
          </a:p>
        </p:txBody>
      </p:sp>
      <p:sp>
        <p:nvSpPr>
          <p:cNvPr id="22" name="TextBox 2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 / 166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Gece ışıkları: ekonomik faaliyetler nerede gelişmiş?</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SEÇ · 1. SORU</a:t>
            </a:r>
          </a:p>
        </p:txBody>
      </p:sp>
      <p:sp>
        <p:nvSpPr>
          <p:cNvPr id="6" name="Rounded Rectangle 5"/>
          <p:cNvSpPr/>
          <p:nvPr/>
        </p:nvSpPr>
        <p:spPr>
          <a:xfrm>
            <a:off x="502920" y="1207008"/>
            <a:ext cx="11185855" cy="566928"/>
          </a:xfrm>
          <a:prstGeom prst="roundRect">
            <a:avLst>
              <a:gd name="adj" fmla="val 8000"/>
            </a:avLst>
          </a:prstGeom>
          <a:solidFill>
            <a:srgbClr val="FFF3D1"/>
          </a:solidFill>
          <a:ln>
            <a:noFill/>
          </a:ln>
          <a:effectLst/>
        </p:spPr>
        <p:txBody>
          <a:bodyPr rtlCol="0" anchor="ctr" wrap="square" lIns="182880" rIns="182880" tIns="73152" bIns="73152">
            <a:noAutofit/>
          </a:bodyPr>
          <a:lstStyle/>
          <a:p>
            <a:pPr algn="l">
              <a:spcBef>
                <a:spcPts val="0"/>
              </a:spcBef>
              <a:spcAft>
                <a:spcPts val="0"/>
              </a:spcAft>
            </a:pPr>
            <a:r>
              <a:rPr lang="tr-TR" sz="1850" b="1" i="0">
                <a:solidFill>
                  <a:srgbClr val="262626"/>
                </a:solidFill>
                <a:latin typeface="Calibri"/>
              </a:rPr>
              <a:t>Gece ışıklarının küresel dağılımı düşünüldüğünde ekonomik faaliyetlerin geliştiği ülkeler hangileri olabilir?</a:t>
            </a:r>
          </a:p>
        </p:txBody>
      </p:sp>
      <p:pic>
        <p:nvPicPr>
          <p:cNvPr id="7" name="Picture 6" descr="h28_gece_isiklari_s173.jpg"/>
          <p:cNvPicPr>
            <a:picLocks noChangeAspect="1"/>
          </p:cNvPicPr>
          <p:nvPr/>
        </p:nvPicPr>
        <p:blipFill>
          <a:blip r:embed="rId3"/>
          <a:stretch>
            <a:fillRect/>
          </a:stretch>
        </p:blipFill>
        <p:spPr>
          <a:xfrm>
            <a:off x="502920" y="1901952"/>
            <a:ext cx="7589520" cy="3923535"/>
          </a:xfrm>
          <a:prstGeom prst="rect">
            <a:avLst/>
          </a:prstGeom>
          <a:ln w="9525">
            <a:solidFill>
              <a:srgbClr val="D9D9D9"/>
            </a:solidFill>
          </a:ln>
        </p:spPr>
      </p:pic>
      <p:sp>
        <p:nvSpPr>
          <p:cNvPr id="8" name="Oval 7"/>
          <p:cNvSpPr/>
          <p:nvPr/>
        </p:nvSpPr>
        <p:spPr>
          <a:xfrm>
            <a:off x="2468619" y="2850214"/>
            <a:ext cx="237744" cy="237744"/>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100" b="1" i="0">
                <a:solidFill>
                  <a:srgbClr val="FFFFFF"/>
                </a:solidFill>
                <a:latin typeface="Calibri"/>
              </a:rPr>
              <a:t>1</a:t>
            </a:r>
          </a:p>
        </p:txBody>
      </p:sp>
      <p:sp>
        <p:nvSpPr>
          <p:cNvPr id="9" name="Oval 8"/>
          <p:cNvSpPr/>
          <p:nvPr/>
        </p:nvSpPr>
        <p:spPr>
          <a:xfrm>
            <a:off x="4130763" y="2479791"/>
            <a:ext cx="237744" cy="237744"/>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100" b="1" i="0">
                <a:solidFill>
                  <a:srgbClr val="FFFFFF"/>
                </a:solidFill>
                <a:latin typeface="Calibri"/>
              </a:rPr>
              <a:t>2</a:t>
            </a:r>
          </a:p>
        </p:txBody>
      </p:sp>
      <p:sp>
        <p:nvSpPr>
          <p:cNvPr id="10" name="Oval 9"/>
          <p:cNvSpPr/>
          <p:nvPr/>
        </p:nvSpPr>
        <p:spPr>
          <a:xfrm>
            <a:off x="4399043" y="2547741"/>
            <a:ext cx="237744" cy="237744"/>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100" b="1" i="0">
                <a:solidFill>
                  <a:srgbClr val="FFFFFF"/>
                </a:solidFill>
                <a:latin typeface="Calibri"/>
              </a:rPr>
              <a:t>3</a:t>
            </a:r>
          </a:p>
        </p:txBody>
      </p:sp>
      <p:sp>
        <p:nvSpPr>
          <p:cNvPr id="11" name="Oval 10"/>
          <p:cNvSpPr/>
          <p:nvPr/>
        </p:nvSpPr>
        <p:spPr>
          <a:xfrm>
            <a:off x="6479147" y="2992073"/>
            <a:ext cx="237744" cy="237744"/>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100" b="1" i="0">
                <a:solidFill>
                  <a:srgbClr val="FFFFFF"/>
                </a:solidFill>
                <a:latin typeface="Calibri"/>
              </a:rPr>
              <a:t>4</a:t>
            </a:r>
          </a:p>
        </p:txBody>
      </p:sp>
      <p:sp>
        <p:nvSpPr>
          <p:cNvPr id="12" name="Oval 11"/>
          <p:cNvSpPr/>
          <p:nvPr/>
        </p:nvSpPr>
        <p:spPr>
          <a:xfrm>
            <a:off x="3255032" y="4247186"/>
            <a:ext cx="237744" cy="237744"/>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100" b="1" i="0">
                <a:solidFill>
                  <a:srgbClr val="FFFFFF"/>
                </a:solidFill>
                <a:latin typeface="Calibri"/>
              </a:rPr>
              <a:t>5</a:t>
            </a:r>
          </a:p>
        </p:txBody>
      </p:sp>
      <p:sp>
        <p:nvSpPr>
          <p:cNvPr id="13" name="Oval 12"/>
          <p:cNvSpPr/>
          <p:nvPr/>
        </p:nvSpPr>
        <p:spPr>
          <a:xfrm>
            <a:off x="4799996" y="3110480"/>
            <a:ext cx="237744" cy="237744"/>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100" b="1" i="0">
                <a:solidFill>
                  <a:srgbClr val="FFFFFF"/>
                </a:solidFill>
                <a:latin typeface="Calibri"/>
              </a:rPr>
              <a:t>6</a:t>
            </a:r>
          </a:p>
        </p:txBody>
      </p:sp>
      <p:sp>
        <p:nvSpPr>
          <p:cNvPr id="14" name="Oval 13"/>
          <p:cNvSpPr/>
          <p:nvPr/>
        </p:nvSpPr>
        <p:spPr>
          <a:xfrm>
            <a:off x="5131517" y="3607789"/>
            <a:ext cx="237744" cy="237744"/>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100" b="1" i="0">
                <a:solidFill>
                  <a:srgbClr val="FFFFFF"/>
                </a:solidFill>
                <a:latin typeface="Calibri"/>
              </a:rPr>
              <a:t>7</a:t>
            </a:r>
          </a:p>
        </p:txBody>
      </p:sp>
      <p:sp>
        <p:nvSpPr>
          <p:cNvPr id="15" name="TextBox 14"/>
          <p:cNvSpPr txBox="1"/>
          <p:nvPr/>
        </p:nvSpPr>
        <p:spPr>
          <a:xfrm>
            <a:off x="502920" y="5862063"/>
            <a:ext cx="7589520" cy="292608"/>
          </a:xfrm>
          <a:prstGeom prst="rect">
            <a:avLst/>
          </a:prstGeom>
          <a:noFill/>
        </p:spPr>
        <p:txBody>
          <a:bodyPr wrap="square" anchor="t" lIns="73152" rIns="73152" tIns="36576" bIns="36576">
            <a:noAutofit/>
          </a:bodyPr>
          <a:lstStyle/>
          <a:p>
            <a:pPr algn="l">
              <a:spcBef>
                <a:spcPts val="0"/>
              </a:spcBef>
              <a:spcAft>
                <a:spcPts val="0"/>
              </a:spcAft>
            </a:pPr>
            <a:r>
              <a:rPr lang="tr-TR" sz="1300" b="0" i="1">
                <a:solidFill>
                  <a:srgbClr val="767676"/>
                </a:solidFill>
                <a:latin typeface="Calibri"/>
              </a:rPr>
              <a:t>Kitap s. 173: gece ışıklarının küresel dağılımı · halkalar ülkelerin yaklaşık yeri</a:t>
            </a:r>
          </a:p>
        </p:txBody>
      </p:sp>
      <p:sp>
        <p:nvSpPr>
          <p:cNvPr id="16" name="Rounded Rectangle 15"/>
          <p:cNvSpPr/>
          <p:nvPr/>
        </p:nvSpPr>
        <p:spPr>
          <a:xfrm>
            <a:off x="8275320" y="1901952"/>
            <a:ext cx="3413455" cy="502920"/>
          </a:xfrm>
          <a:prstGeom prst="roundRect">
            <a:avLst>
              <a:gd name="adj" fmla="val 25000"/>
            </a:avLst>
          </a:prstGeom>
          <a:solidFill>
            <a:srgbClr val="FFFFFF"/>
          </a:solidFill>
          <a:ln w="12700">
            <a:solidFill>
              <a:srgbClr val="D9D9D9"/>
            </a:solidFill>
          </a:ln>
          <a:effectLst/>
        </p:spPr>
        <p:txBody>
          <a:bodyPr rtlCol="0" anchor="ctr"/>
          <a:lstStyle/>
          <a:p/>
        </p:txBody>
      </p:sp>
      <p:sp>
        <p:nvSpPr>
          <p:cNvPr id="17" name="Oval 16"/>
          <p:cNvSpPr/>
          <p:nvPr/>
        </p:nvSpPr>
        <p:spPr>
          <a:xfrm>
            <a:off x="8339328" y="1970532"/>
            <a:ext cx="365760" cy="365760"/>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1</a:t>
            </a:r>
          </a:p>
        </p:txBody>
      </p:sp>
      <p:sp>
        <p:nvSpPr>
          <p:cNvPr id="18" name="TextBox 17"/>
          <p:cNvSpPr txBox="1"/>
          <p:nvPr/>
        </p:nvSpPr>
        <p:spPr>
          <a:xfrm>
            <a:off x="8750808" y="1901952"/>
            <a:ext cx="2499055" cy="50292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ABD</a:t>
            </a:r>
          </a:p>
        </p:txBody>
      </p:sp>
      <p:sp>
        <p:nvSpPr>
          <p:cNvPr id="19" name="Rectangle 18"/>
          <p:cNvSpPr/>
          <p:nvPr/>
        </p:nvSpPr>
        <p:spPr>
          <a:xfrm>
            <a:off x="11277295" y="2016252"/>
            <a:ext cx="274320" cy="274320"/>
          </a:xfrm>
          <a:prstGeom prst="rect">
            <a:avLst/>
          </a:prstGeom>
          <a:solidFill>
            <a:srgbClr val="FFFFFF"/>
          </a:solidFill>
          <a:ln w="15875">
            <a:solidFill>
              <a:srgbClr val="4F4F4F"/>
            </a:solidFill>
          </a:ln>
          <a:effectLst/>
        </p:spPr>
        <p:txBody>
          <a:bodyPr rtlCol="0" anchor="ctr"/>
          <a:lstStyle/>
          <a:p/>
        </p:txBody>
      </p:sp>
      <p:sp>
        <p:nvSpPr>
          <p:cNvPr id="20" name="Rounded Rectangle 19"/>
          <p:cNvSpPr/>
          <p:nvPr/>
        </p:nvSpPr>
        <p:spPr>
          <a:xfrm>
            <a:off x="8275320" y="2459736"/>
            <a:ext cx="3413455" cy="502920"/>
          </a:xfrm>
          <a:prstGeom prst="roundRect">
            <a:avLst>
              <a:gd name="adj" fmla="val 25000"/>
            </a:avLst>
          </a:prstGeom>
          <a:solidFill>
            <a:srgbClr val="FFFFFF"/>
          </a:solidFill>
          <a:ln w="12700">
            <a:solidFill>
              <a:srgbClr val="D9D9D9"/>
            </a:solidFill>
          </a:ln>
          <a:effectLst/>
        </p:spPr>
        <p:txBody>
          <a:bodyPr rtlCol="0" anchor="ctr"/>
          <a:lstStyle/>
          <a:p/>
        </p:txBody>
      </p:sp>
      <p:sp>
        <p:nvSpPr>
          <p:cNvPr id="21" name="Oval 20"/>
          <p:cNvSpPr/>
          <p:nvPr/>
        </p:nvSpPr>
        <p:spPr>
          <a:xfrm>
            <a:off x="8339328" y="2528316"/>
            <a:ext cx="365760" cy="365760"/>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2</a:t>
            </a:r>
          </a:p>
        </p:txBody>
      </p:sp>
      <p:sp>
        <p:nvSpPr>
          <p:cNvPr id="22" name="TextBox 21"/>
          <p:cNvSpPr txBox="1"/>
          <p:nvPr/>
        </p:nvSpPr>
        <p:spPr>
          <a:xfrm>
            <a:off x="8750808" y="2459736"/>
            <a:ext cx="2499055" cy="50292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İngiltere</a:t>
            </a:r>
          </a:p>
        </p:txBody>
      </p:sp>
      <p:sp>
        <p:nvSpPr>
          <p:cNvPr id="23" name="Rectangle 22"/>
          <p:cNvSpPr/>
          <p:nvPr/>
        </p:nvSpPr>
        <p:spPr>
          <a:xfrm>
            <a:off x="11277295" y="2574036"/>
            <a:ext cx="274320" cy="274320"/>
          </a:xfrm>
          <a:prstGeom prst="rect">
            <a:avLst/>
          </a:prstGeom>
          <a:solidFill>
            <a:srgbClr val="FFFFFF"/>
          </a:solidFill>
          <a:ln w="15875">
            <a:solidFill>
              <a:srgbClr val="4F4F4F"/>
            </a:solidFill>
          </a:ln>
          <a:effectLst/>
        </p:spPr>
        <p:txBody>
          <a:bodyPr rtlCol="0" anchor="ctr"/>
          <a:lstStyle/>
          <a:p/>
        </p:txBody>
      </p:sp>
      <p:sp>
        <p:nvSpPr>
          <p:cNvPr id="24" name="Rounded Rectangle 23"/>
          <p:cNvSpPr/>
          <p:nvPr/>
        </p:nvSpPr>
        <p:spPr>
          <a:xfrm>
            <a:off x="8275320" y="3017520"/>
            <a:ext cx="3413455" cy="502920"/>
          </a:xfrm>
          <a:prstGeom prst="roundRect">
            <a:avLst>
              <a:gd name="adj" fmla="val 25000"/>
            </a:avLst>
          </a:prstGeom>
          <a:solidFill>
            <a:srgbClr val="FFFFFF"/>
          </a:solidFill>
          <a:ln w="12700">
            <a:solidFill>
              <a:srgbClr val="D9D9D9"/>
            </a:solidFill>
          </a:ln>
          <a:effectLst/>
        </p:spPr>
        <p:txBody>
          <a:bodyPr rtlCol="0" anchor="ctr"/>
          <a:lstStyle/>
          <a:p/>
        </p:txBody>
      </p:sp>
      <p:sp>
        <p:nvSpPr>
          <p:cNvPr id="25" name="Oval 24"/>
          <p:cNvSpPr/>
          <p:nvPr/>
        </p:nvSpPr>
        <p:spPr>
          <a:xfrm>
            <a:off x="8339328" y="3086100"/>
            <a:ext cx="365760" cy="365760"/>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3</a:t>
            </a:r>
          </a:p>
        </p:txBody>
      </p:sp>
      <p:sp>
        <p:nvSpPr>
          <p:cNvPr id="26" name="TextBox 25"/>
          <p:cNvSpPr txBox="1"/>
          <p:nvPr/>
        </p:nvSpPr>
        <p:spPr>
          <a:xfrm>
            <a:off x="8750808" y="3017520"/>
            <a:ext cx="2499055" cy="50292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Almanya</a:t>
            </a:r>
          </a:p>
        </p:txBody>
      </p:sp>
      <p:sp>
        <p:nvSpPr>
          <p:cNvPr id="27" name="Rectangle 26"/>
          <p:cNvSpPr/>
          <p:nvPr/>
        </p:nvSpPr>
        <p:spPr>
          <a:xfrm>
            <a:off x="11277295" y="3131820"/>
            <a:ext cx="274320" cy="274320"/>
          </a:xfrm>
          <a:prstGeom prst="rect">
            <a:avLst/>
          </a:prstGeom>
          <a:solidFill>
            <a:srgbClr val="FFFFFF"/>
          </a:solidFill>
          <a:ln w="15875">
            <a:solidFill>
              <a:srgbClr val="4F4F4F"/>
            </a:solidFill>
          </a:ln>
          <a:effectLst/>
        </p:spPr>
        <p:txBody>
          <a:bodyPr rtlCol="0" anchor="ctr"/>
          <a:lstStyle/>
          <a:p/>
        </p:txBody>
      </p:sp>
      <p:sp>
        <p:nvSpPr>
          <p:cNvPr id="28" name="Rounded Rectangle 27"/>
          <p:cNvSpPr/>
          <p:nvPr/>
        </p:nvSpPr>
        <p:spPr>
          <a:xfrm>
            <a:off x="8275320" y="3575304"/>
            <a:ext cx="3413455" cy="502920"/>
          </a:xfrm>
          <a:prstGeom prst="roundRect">
            <a:avLst>
              <a:gd name="adj" fmla="val 25000"/>
            </a:avLst>
          </a:prstGeom>
          <a:solidFill>
            <a:srgbClr val="FFFFFF"/>
          </a:solidFill>
          <a:ln w="12700">
            <a:solidFill>
              <a:srgbClr val="D9D9D9"/>
            </a:solidFill>
          </a:ln>
          <a:effectLst/>
        </p:spPr>
        <p:txBody>
          <a:bodyPr rtlCol="0" anchor="ctr"/>
          <a:lstStyle/>
          <a:p/>
        </p:txBody>
      </p:sp>
      <p:sp>
        <p:nvSpPr>
          <p:cNvPr id="29" name="Oval 28"/>
          <p:cNvSpPr/>
          <p:nvPr/>
        </p:nvSpPr>
        <p:spPr>
          <a:xfrm>
            <a:off x="8339328" y="3643884"/>
            <a:ext cx="365760" cy="365760"/>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4</a:t>
            </a:r>
          </a:p>
        </p:txBody>
      </p:sp>
      <p:sp>
        <p:nvSpPr>
          <p:cNvPr id="30" name="TextBox 29"/>
          <p:cNvSpPr txBox="1"/>
          <p:nvPr/>
        </p:nvSpPr>
        <p:spPr>
          <a:xfrm>
            <a:off x="8750808" y="3575304"/>
            <a:ext cx="2499055" cy="50292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Çin</a:t>
            </a:r>
          </a:p>
        </p:txBody>
      </p:sp>
      <p:sp>
        <p:nvSpPr>
          <p:cNvPr id="31" name="Rectangle 30"/>
          <p:cNvSpPr/>
          <p:nvPr/>
        </p:nvSpPr>
        <p:spPr>
          <a:xfrm>
            <a:off x="11277295" y="3689604"/>
            <a:ext cx="274320" cy="274320"/>
          </a:xfrm>
          <a:prstGeom prst="rect">
            <a:avLst/>
          </a:prstGeom>
          <a:solidFill>
            <a:srgbClr val="FFFFFF"/>
          </a:solidFill>
          <a:ln w="15875">
            <a:solidFill>
              <a:srgbClr val="4F4F4F"/>
            </a:solidFill>
          </a:ln>
          <a:effectLst/>
        </p:spPr>
        <p:txBody>
          <a:bodyPr rtlCol="0" anchor="ctr"/>
          <a:lstStyle/>
          <a:p/>
        </p:txBody>
      </p:sp>
      <p:sp>
        <p:nvSpPr>
          <p:cNvPr id="32" name="Rounded Rectangle 31"/>
          <p:cNvSpPr/>
          <p:nvPr/>
        </p:nvSpPr>
        <p:spPr>
          <a:xfrm>
            <a:off x="8275320" y="4133088"/>
            <a:ext cx="3413455" cy="502920"/>
          </a:xfrm>
          <a:prstGeom prst="roundRect">
            <a:avLst>
              <a:gd name="adj" fmla="val 25000"/>
            </a:avLst>
          </a:prstGeom>
          <a:solidFill>
            <a:srgbClr val="FFFFFF"/>
          </a:solidFill>
          <a:ln w="12700">
            <a:solidFill>
              <a:srgbClr val="D9D9D9"/>
            </a:solidFill>
          </a:ln>
          <a:effectLst/>
        </p:spPr>
        <p:txBody>
          <a:bodyPr rtlCol="0" anchor="ctr"/>
          <a:lstStyle/>
          <a:p/>
        </p:txBody>
      </p:sp>
      <p:sp>
        <p:nvSpPr>
          <p:cNvPr id="33" name="Oval 32"/>
          <p:cNvSpPr/>
          <p:nvPr/>
        </p:nvSpPr>
        <p:spPr>
          <a:xfrm>
            <a:off x="8339328" y="4201668"/>
            <a:ext cx="365760" cy="365760"/>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5</a:t>
            </a:r>
          </a:p>
        </p:txBody>
      </p:sp>
      <p:sp>
        <p:nvSpPr>
          <p:cNvPr id="34" name="TextBox 33"/>
          <p:cNvSpPr txBox="1"/>
          <p:nvPr/>
        </p:nvSpPr>
        <p:spPr>
          <a:xfrm>
            <a:off x="8750808" y="4133088"/>
            <a:ext cx="2499055" cy="50292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Brezilya</a:t>
            </a:r>
          </a:p>
        </p:txBody>
      </p:sp>
      <p:sp>
        <p:nvSpPr>
          <p:cNvPr id="35" name="Rectangle 34"/>
          <p:cNvSpPr/>
          <p:nvPr/>
        </p:nvSpPr>
        <p:spPr>
          <a:xfrm>
            <a:off x="11277295" y="4247388"/>
            <a:ext cx="274320" cy="274320"/>
          </a:xfrm>
          <a:prstGeom prst="rect">
            <a:avLst/>
          </a:prstGeom>
          <a:solidFill>
            <a:srgbClr val="FFFFFF"/>
          </a:solidFill>
          <a:ln w="15875">
            <a:solidFill>
              <a:srgbClr val="4F4F4F"/>
            </a:solidFill>
          </a:ln>
          <a:effectLst/>
        </p:spPr>
        <p:txBody>
          <a:bodyPr rtlCol="0" anchor="ctr"/>
          <a:lstStyle/>
          <a:p/>
        </p:txBody>
      </p:sp>
      <p:sp>
        <p:nvSpPr>
          <p:cNvPr id="36" name="Rounded Rectangle 35"/>
          <p:cNvSpPr/>
          <p:nvPr/>
        </p:nvSpPr>
        <p:spPr>
          <a:xfrm>
            <a:off x="8275320" y="4690872"/>
            <a:ext cx="3413455" cy="502920"/>
          </a:xfrm>
          <a:prstGeom prst="roundRect">
            <a:avLst>
              <a:gd name="adj" fmla="val 25000"/>
            </a:avLst>
          </a:prstGeom>
          <a:solidFill>
            <a:srgbClr val="FFFFFF"/>
          </a:solidFill>
          <a:ln w="12700">
            <a:solidFill>
              <a:srgbClr val="D9D9D9"/>
            </a:solidFill>
          </a:ln>
          <a:effectLst/>
        </p:spPr>
        <p:txBody>
          <a:bodyPr rtlCol="0" anchor="ctr"/>
          <a:lstStyle/>
          <a:p/>
        </p:txBody>
      </p:sp>
      <p:sp>
        <p:nvSpPr>
          <p:cNvPr id="37" name="Oval 36"/>
          <p:cNvSpPr/>
          <p:nvPr/>
        </p:nvSpPr>
        <p:spPr>
          <a:xfrm>
            <a:off x="8339328" y="4759452"/>
            <a:ext cx="365760" cy="365760"/>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6</a:t>
            </a:r>
          </a:p>
        </p:txBody>
      </p:sp>
      <p:sp>
        <p:nvSpPr>
          <p:cNvPr id="38" name="TextBox 37"/>
          <p:cNvSpPr txBox="1"/>
          <p:nvPr/>
        </p:nvSpPr>
        <p:spPr>
          <a:xfrm>
            <a:off x="8750808" y="4690872"/>
            <a:ext cx="2499055" cy="50292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Mısır</a:t>
            </a:r>
          </a:p>
        </p:txBody>
      </p:sp>
      <p:sp>
        <p:nvSpPr>
          <p:cNvPr id="39" name="Rectangle 38"/>
          <p:cNvSpPr/>
          <p:nvPr/>
        </p:nvSpPr>
        <p:spPr>
          <a:xfrm>
            <a:off x="11277295" y="4805172"/>
            <a:ext cx="274320" cy="274320"/>
          </a:xfrm>
          <a:prstGeom prst="rect">
            <a:avLst/>
          </a:prstGeom>
          <a:solidFill>
            <a:srgbClr val="FFFFFF"/>
          </a:solidFill>
          <a:ln w="15875">
            <a:solidFill>
              <a:srgbClr val="4F4F4F"/>
            </a:solidFill>
          </a:ln>
          <a:effectLst/>
        </p:spPr>
        <p:txBody>
          <a:bodyPr rtlCol="0" anchor="ctr"/>
          <a:lstStyle/>
          <a:p/>
        </p:txBody>
      </p:sp>
      <p:sp>
        <p:nvSpPr>
          <p:cNvPr id="40" name="Rounded Rectangle 39"/>
          <p:cNvSpPr/>
          <p:nvPr/>
        </p:nvSpPr>
        <p:spPr>
          <a:xfrm>
            <a:off x="8275320" y="5248656"/>
            <a:ext cx="3413455" cy="502920"/>
          </a:xfrm>
          <a:prstGeom prst="roundRect">
            <a:avLst>
              <a:gd name="adj" fmla="val 25000"/>
            </a:avLst>
          </a:prstGeom>
          <a:solidFill>
            <a:srgbClr val="FFFFFF"/>
          </a:solidFill>
          <a:ln w="12700">
            <a:solidFill>
              <a:srgbClr val="D9D9D9"/>
            </a:solidFill>
          </a:ln>
          <a:effectLst/>
        </p:spPr>
        <p:txBody>
          <a:bodyPr rtlCol="0" anchor="ctr"/>
          <a:lstStyle/>
          <a:p/>
        </p:txBody>
      </p:sp>
      <p:sp>
        <p:nvSpPr>
          <p:cNvPr id="41" name="Oval 40"/>
          <p:cNvSpPr/>
          <p:nvPr/>
        </p:nvSpPr>
        <p:spPr>
          <a:xfrm>
            <a:off x="8339328" y="5317236"/>
            <a:ext cx="365760" cy="365760"/>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7</a:t>
            </a:r>
          </a:p>
        </p:txBody>
      </p:sp>
      <p:sp>
        <p:nvSpPr>
          <p:cNvPr id="42" name="TextBox 41"/>
          <p:cNvSpPr txBox="1"/>
          <p:nvPr/>
        </p:nvSpPr>
        <p:spPr>
          <a:xfrm>
            <a:off x="8750808" y="5248656"/>
            <a:ext cx="2499055" cy="50292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Somali</a:t>
            </a:r>
          </a:p>
        </p:txBody>
      </p:sp>
      <p:sp>
        <p:nvSpPr>
          <p:cNvPr id="43" name="Rectangle 42"/>
          <p:cNvSpPr/>
          <p:nvPr/>
        </p:nvSpPr>
        <p:spPr>
          <a:xfrm>
            <a:off x="11277295" y="5362956"/>
            <a:ext cx="274320" cy="274320"/>
          </a:xfrm>
          <a:prstGeom prst="rect">
            <a:avLst/>
          </a:prstGeom>
          <a:solidFill>
            <a:srgbClr val="FFFFFF"/>
          </a:solidFill>
          <a:ln w="15875">
            <a:solidFill>
              <a:srgbClr val="4F4F4F"/>
            </a:solidFill>
          </a:ln>
          <a:effectLst/>
        </p:spPr>
        <p:txBody>
          <a:bodyPr rtlCol="0" anchor="ctr"/>
          <a:lstStyle/>
          <a:p/>
        </p:txBody>
      </p:sp>
      <p:sp>
        <p:nvSpPr>
          <p:cNvPr id="44" name="TextBox 4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45" name="Rounded Rectangle 4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173</a:t>
            </a:r>
          </a:p>
        </p:txBody>
      </p:sp>
      <p:sp>
        <p:nvSpPr>
          <p:cNvPr id="46" name="TextBox 4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13 / 166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650" b="1" i="0">
                <a:solidFill>
                  <a:srgbClr val="FFFFFF"/>
                </a:solidFill>
                <a:latin typeface="Calibri"/>
              </a:rPr>
              <a:t>Gece ışıkları: ekonomik faaliyetler nerede gelişmiş?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07008"/>
            <a:ext cx="11185855" cy="566928"/>
          </a:xfrm>
          <a:prstGeom prst="roundRect">
            <a:avLst>
              <a:gd name="adj" fmla="val 8000"/>
            </a:avLst>
          </a:prstGeom>
          <a:solidFill>
            <a:srgbClr val="FFF3D1"/>
          </a:solidFill>
          <a:ln>
            <a:noFill/>
          </a:ln>
          <a:effectLst/>
        </p:spPr>
        <p:txBody>
          <a:bodyPr rtlCol="0" anchor="ctr" wrap="square" lIns="182880" rIns="182880" tIns="73152" bIns="73152">
            <a:noAutofit/>
          </a:bodyPr>
          <a:lstStyle/>
          <a:p>
            <a:pPr algn="l">
              <a:spcBef>
                <a:spcPts val="0"/>
              </a:spcBef>
              <a:spcAft>
                <a:spcPts val="0"/>
              </a:spcAft>
            </a:pPr>
            <a:r>
              <a:rPr lang="tr-TR" sz="1850" b="1" i="0">
                <a:solidFill>
                  <a:srgbClr val="262626"/>
                </a:solidFill>
                <a:latin typeface="Calibri"/>
              </a:rPr>
              <a:t>Gece ışıklarının küresel dağılımı düşünüldüğünde ekonomik faaliyetlerin geliştiği ülkeler hangileri olabilir?</a:t>
            </a:r>
          </a:p>
        </p:txBody>
      </p:sp>
      <p:pic>
        <p:nvPicPr>
          <p:cNvPr id="7" name="Picture 6" descr="h28_gece_isiklari_s173.jpg"/>
          <p:cNvPicPr>
            <a:picLocks noChangeAspect="1"/>
          </p:cNvPicPr>
          <p:nvPr/>
        </p:nvPicPr>
        <p:blipFill>
          <a:blip r:embed="rId3"/>
          <a:stretch>
            <a:fillRect/>
          </a:stretch>
        </p:blipFill>
        <p:spPr>
          <a:xfrm>
            <a:off x="502920" y="1901952"/>
            <a:ext cx="7589520" cy="3923535"/>
          </a:xfrm>
          <a:prstGeom prst="rect">
            <a:avLst/>
          </a:prstGeom>
          <a:ln w="9525">
            <a:solidFill>
              <a:srgbClr val="D9D9D9"/>
            </a:solidFill>
          </a:ln>
        </p:spPr>
      </p:pic>
      <p:sp>
        <p:nvSpPr>
          <p:cNvPr id="8" name="Oval 7"/>
          <p:cNvSpPr/>
          <p:nvPr/>
        </p:nvSpPr>
        <p:spPr>
          <a:xfrm>
            <a:off x="2468619" y="2850214"/>
            <a:ext cx="237744" cy="237744"/>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100" b="1" i="0">
                <a:solidFill>
                  <a:srgbClr val="FFFFFF"/>
                </a:solidFill>
                <a:latin typeface="Calibri"/>
              </a:rPr>
              <a:t>1</a:t>
            </a:r>
          </a:p>
        </p:txBody>
      </p:sp>
      <p:sp>
        <p:nvSpPr>
          <p:cNvPr id="9" name="Oval 8"/>
          <p:cNvSpPr/>
          <p:nvPr/>
        </p:nvSpPr>
        <p:spPr>
          <a:xfrm>
            <a:off x="4130763" y="2479791"/>
            <a:ext cx="237744" cy="237744"/>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100" b="1" i="0">
                <a:solidFill>
                  <a:srgbClr val="FFFFFF"/>
                </a:solidFill>
                <a:latin typeface="Calibri"/>
              </a:rPr>
              <a:t>2</a:t>
            </a:r>
          </a:p>
        </p:txBody>
      </p:sp>
      <p:sp>
        <p:nvSpPr>
          <p:cNvPr id="10" name="Oval 9"/>
          <p:cNvSpPr/>
          <p:nvPr/>
        </p:nvSpPr>
        <p:spPr>
          <a:xfrm>
            <a:off x="4399043" y="2547741"/>
            <a:ext cx="237744" cy="237744"/>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100" b="1" i="0">
                <a:solidFill>
                  <a:srgbClr val="FFFFFF"/>
                </a:solidFill>
                <a:latin typeface="Calibri"/>
              </a:rPr>
              <a:t>3</a:t>
            </a:r>
          </a:p>
        </p:txBody>
      </p:sp>
      <p:sp>
        <p:nvSpPr>
          <p:cNvPr id="11" name="Oval 10"/>
          <p:cNvSpPr/>
          <p:nvPr/>
        </p:nvSpPr>
        <p:spPr>
          <a:xfrm>
            <a:off x="6479147" y="2992073"/>
            <a:ext cx="237744" cy="237744"/>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100" b="1" i="0">
                <a:solidFill>
                  <a:srgbClr val="FFFFFF"/>
                </a:solidFill>
                <a:latin typeface="Calibri"/>
              </a:rPr>
              <a:t>4</a:t>
            </a:r>
          </a:p>
        </p:txBody>
      </p:sp>
      <p:sp>
        <p:nvSpPr>
          <p:cNvPr id="12" name="Oval 11"/>
          <p:cNvSpPr/>
          <p:nvPr/>
        </p:nvSpPr>
        <p:spPr>
          <a:xfrm>
            <a:off x="3255032" y="4247186"/>
            <a:ext cx="237744" cy="237744"/>
          </a:xfrm>
          <a:prstGeom prst="ellipse">
            <a:avLst/>
          </a:prstGeom>
          <a:solidFill>
            <a:srgbClr val="C77C02"/>
          </a:solidFill>
          <a:ln>
            <a:noFill/>
          </a:ln>
          <a:effectLst/>
        </p:spPr>
        <p:txBody>
          <a:bodyPr rtlCol="0" anchor="ctr" wrap="none" lIns="0" rIns="0" tIns="0" bIns="0">
            <a:noAutofit/>
          </a:bodyPr>
          <a:lstStyle/>
          <a:p>
            <a:pPr algn="ctr">
              <a:spcBef>
                <a:spcPts val="0"/>
              </a:spcBef>
              <a:spcAft>
                <a:spcPts val="0"/>
              </a:spcAft>
            </a:pPr>
            <a:r>
              <a:rPr lang="tr-TR" sz="1100" b="1" i="0">
                <a:solidFill>
                  <a:srgbClr val="FFFFFF"/>
                </a:solidFill>
                <a:latin typeface="Calibri"/>
              </a:rPr>
              <a:t>5</a:t>
            </a:r>
          </a:p>
        </p:txBody>
      </p:sp>
      <p:sp>
        <p:nvSpPr>
          <p:cNvPr id="13" name="Oval 12"/>
          <p:cNvSpPr/>
          <p:nvPr/>
        </p:nvSpPr>
        <p:spPr>
          <a:xfrm>
            <a:off x="4799996" y="3110480"/>
            <a:ext cx="237744" cy="237744"/>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100" b="1" i="0">
                <a:solidFill>
                  <a:srgbClr val="FFFFFF"/>
                </a:solidFill>
                <a:latin typeface="Calibri"/>
              </a:rPr>
              <a:t>6</a:t>
            </a:r>
          </a:p>
        </p:txBody>
      </p:sp>
      <p:sp>
        <p:nvSpPr>
          <p:cNvPr id="14" name="Oval 13"/>
          <p:cNvSpPr/>
          <p:nvPr/>
        </p:nvSpPr>
        <p:spPr>
          <a:xfrm>
            <a:off x="5131517" y="3607789"/>
            <a:ext cx="237744" cy="237744"/>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100" b="1" i="0">
                <a:solidFill>
                  <a:srgbClr val="FFFFFF"/>
                </a:solidFill>
                <a:latin typeface="Calibri"/>
              </a:rPr>
              <a:t>7</a:t>
            </a:r>
          </a:p>
        </p:txBody>
      </p:sp>
      <p:sp>
        <p:nvSpPr>
          <p:cNvPr id="15" name="TextBox 14"/>
          <p:cNvSpPr txBox="1"/>
          <p:nvPr/>
        </p:nvSpPr>
        <p:spPr>
          <a:xfrm>
            <a:off x="502920" y="5862063"/>
            <a:ext cx="7589520" cy="292608"/>
          </a:xfrm>
          <a:prstGeom prst="rect">
            <a:avLst/>
          </a:prstGeom>
          <a:noFill/>
        </p:spPr>
        <p:txBody>
          <a:bodyPr wrap="square" anchor="t" lIns="73152" rIns="73152" tIns="36576" bIns="36576">
            <a:noAutofit/>
          </a:bodyPr>
          <a:lstStyle/>
          <a:p>
            <a:pPr algn="l">
              <a:spcBef>
                <a:spcPts val="0"/>
              </a:spcBef>
              <a:spcAft>
                <a:spcPts val="0"/>
              </a:spcAft>
            </a:pPr>
            <a:r>
              <a:rPr lang="tr-TR" sz="1300" b="0" i="1">
                <a:solidFill>
                  <a:srgbClr val="767676"/>
                </a:solidFill>
                <a:latin typeface="Calibri"/>
              </a:rPr>
              <a:t>Kitap s. 173: gece ışıklarının küresel dağılımı · halkalar ülkelerin yaklaşık yeri</a:t>
            </a:r>
          </a:p>
        </p:txBody>
      </p:sp>
      <p:sp>
        <p:nvSpPr>
          <p:cNvPr id="16" name="Rounded Rectangle 15"/>
          <p:cNvSpPr/>
          <p:nvPr/>
        </p:nvSpPr>
        <p:spPr>
          <a:xfrm>
            <a:off x="8275320" y="1901952"/>
            <a:ext cx="3413455" cy="502920"/>
          </a:xfrm>
          <a:prstGeom prst="roundRect">
            <a:avLst>
              <a:gd name="adj" fmla="val 25000"/>
            </a:avLst>
          </a:prstGeom>
          <a:solidFill>
            <a:srgbClr val="F0F0F0"/>
          </a:solidFill>
          <a:ln w="12700">
            <a:solidFill>
              <a:srgbClr val="D9D9D9"/>
            </a:solidFill>
          </a:ln>
          <a:effectLst/>
        </p:spPr>
        <p:txBody>
          <a:bodyPr rtlCol="0" anchor="ctr"/>
          <a:lstStyle/>
          <a:p/>
        </p:txBody>
      </p:sp>
      <p:sp>
        <p:nvSpPr>
          <p:cNvPr id="17" name="Oval 16"/>
          <p:cNvSpPr/>
          <p:nvPr/>
        </p:nvSpPr>
        <p:spPr>
          <a:xfrm>
            <a:off x="8339328" y="1970532"/>
            <a:ext cx="365760" cy="36576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1</a:t>
            </a:r>
          </a:p>
        </p:txBody>
      </p:sp>
      <p:sp>
        <p:nvSpPr>
          <p:cNvPr id="18" name="TextBox 17"/>
          <p:cNvSpPr txBox="1"/>
          <p:nvPr/>
        </p:nvSpPr>
        <p:spPr>
          <a:xfrm>
            <a:off x="8750808" y="1901952"/>
            <a:ext cx="2864815" cy="502920"/>
          </a:xfrm>
          <a:prstGeom prst="rect">
            <a:avLst/>
          </a:prstGeom>
          <a:noFill/>
        </p:spPr>
        <p:txBody>
          <a:bodyPr wrap="square" anchor="ctr" lIns="73152" rIns="73152" tIns="36576" bIns="36576">
            <a:noAutofit/>
          </a:bodyPr>
          <a:lstStyle/>
          <a:p>
            <a:pPr algn="l">
              <a:spcBef>
                <a:spcPts val="0"/>
              </a:spcBef>
              <a:spcAft>
                <a:spcPts val="0"/>
              </a:spcAft>
            </a:pPr>
            <a:r>
              <a:rPr lang="tr-TR" sz="1500" b="1" i="0">
                <a:solidFill>
                  <a:srgbClr val="262626"/>
                </a:solidFill>
                <a:latin typeface="Calibri"/>
              </a:rPr>
              <a:t>ABD</a:t>
            </a:r>
            <a:r>
              <a:rPr lang="tr-TR" sz="1500" b="0" i="0">
                <a:solidFill>
                  <a:srgbClr val="262626"/>
                </a:solidFill>
                <a:latin typeface="Calibri"/>
              </a:rPr>
              <a:t> · doğusu ve kıyıları aydınlık</a:t>
            </a:r>
          </a:p>
        </p:txBody>
      </p:sp>
      <p:sp>
        <p:nvSpPr>
          <p:cNvPr id="19" name="Rounded Rectangle 18"/>
          <p:cNvSpPr/>
          <p:nvPr/>
        </p:nvSpPr>
        <p:spPr>
          <a:xfrm>
            <a:off x="8275320" y="2459736"/>
            <a:ext cx="3413455" cy="502920"/>
          </a:xfrm>
          <a:prstGeom prst="roundRect">
            <a:avLst>
              <a:gd name="adj" fmla="val 25000"/>
            </a:avLst>
          </a:prstGeom>
          <a:solidFill>
            <a:srgbClr val="F0F0F0"/>
          </a:solidFill>
          <a:ln w="12700">
            <a:solidFill>
              <a:srgbClr val="D9D9D9"/>
            </a:solidFill>
          </a:ln>
          <a:effectLst/>
        </p:spPr>
        <p:txBody>
          <a:bodyPr rtlCol="0" anchor="ctr"/>
          <a:lstStyle/>
          <a:p/>
        </p:txBody>
      </p:sp>
      <p:sp>
        <p:nvSpPr>
          <p:cNvPr id="20" name="Oval 19"/>
          <p:cNvSpPr/>
          <p:nvPr/>
        </p:nvSpPr>
        <p:spPr>
          <a:xfrm>
            <a:off x="8339328" y="2528316"/>
            <a:ext cx="365760" cy="36576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2</a:t>
            </a:r>
          </a:p>
        </p:txBody>
      </p:sp>
      <p:sp>
        <p:nvSpPr>
          <p:cNvPr id="21" name="TextBox 20"/>
          <p:cNvSpPr txBox="1"/>
          <p:nvPr/>
        </p:nvSpPr>
        <p:spPr>
          <a:xfrm>
            <a:off x="8750808" y="2459736"/>
            <a:ext cx="2864815" cy="502920"/>
          </a:xfrm>
          <a:prstGeom prst="rect">
            <a:avLst/>
          </a:prstGeom>
          <a:noFill/>
        </p:spPr>
        <p:txBody>
          <a:bodyPr wrap="square" anchor="ctr" lIns="73152" rIns="73152" tIns="36576" bIns="36576">
            <a:noAutofit/>
          </a:bodyPr>
          <a:lstStyle/>
          <a:p>
            <a:pPr algn="l">
              <a:spcBef>
                <a:spcPts val="0"/>
              </a:spcBef>
              <a:spcAft>
                <a:spcPts val="0"/>
              </a:spcAft>
            </a:pPr>
            <a:r>
              <a:rPr lang="tr-TR" sz="1350" b="1" i="0">
                <a:solidFill>
                  <a:srgbClr val="262626"/>
                </a:solidFill>
                <a:latin typeface="Calibri"/>
              </a:rPr>
              <a:t>İngiltere</a:t>
            </a:r>
            <a:r>
              <a:rPr lang="tr-TR" sz="1350" b="0" i="0">
                <a:solidFill>
                  <a:srgbClr val="262626"/>
                </a:solidFill>
                <a:latin typeface="Calibri"/>
              </a:rPr>
              <a:t> · neredeyse tamamı aydınlık</a:t>
            </a:r>
          </a:p>
        </p:txBody>
      </p:sp>
      <p:sp>
        <p:nvSpPr>
          <p:cNvPr id="22" name="Rounded Rectangle 21"/>
          <p:cNvSpPr/>
          <p:nvPr/>
        </p:nvSpPr>
        <p:spPr>
          <a:xfrm>
            <a:off x="8275320" y="3017520"/>
            <a:ext cx="3413455" cy="502920"/>
          </a:xfrm>
          <a:prstGeom prst="roundRect">
            <a:avLst>
              <a:gd name="adj" fmla="val 25000"/>
            </a:avLst>
          </a:prstGeom>
          <a:solidFill>
            <a:srgbClr val="F0F0F0"/>
          </a:solidFill>
          <a:ln w="12700">
            <a:solidFill>
              <a:srgbClr val="D9D9D9"/>
            </a:solidFill>
          </a:ln>
          <a:effectLst/>
        </p:spPr>
        <p:txBody>
          <a:bodyPr rtlCol="0" anchor="ctr"/>
          <a:lstStyle/>
          <a:p/>
        </p:txBody>
      </p:sp>
      <p:sp>
        <p:nvSpPr>
          <p:cNvPr id="23" name="Oval 22"/>
          <p:cNvSpPr/>
          <p:nvPr/>
        </p:nvSpPr>
        <p:spPr>
          <a:xfrm>
            <a:off x="8339328" y="3086100"/>
            <a:ext cx="365760" cy="36576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3</a:t>
            </a:r>
          </a:p>
        </p:txBody>
      </p:sp>
      <p:sp>
        <p:nvSpPr>
          <p:cNvPr id="24" name="TextBox 23"/>
          <p:cNvSpPr txBox="1"/>
          <p:nvPr/>
        </p:nvSpPr>
        <p:spPr>
          <a:xfrm>
            <a:off x="8750808" y="3017520"/>
            <a:ext cx="2864815" cy="502920"/>
          </a:xfrm>
          <a:prstGeom prst="rect">
            <a:avLst/>
          </a:prstGeom>
          <a:noFill/>
        </p:spPr>
        <p:txBody>
          <a:bodyPr wrap="square" anchor="ctr" lIns="73152" rIns="73152" tIns="36576" bIns="36576">
            <a:noAutofit/>
          </a:bodyPr>
          <a:lstStyle/>
          <a:p>
            <a:pPr algn="l">
              <a:spcBef>
                <a:spcPts val="0"/>
              </a:spcBef>
              <a:spcAft>
                <a:spcPts val="0"/>
              </a:spcAft>
            </a:pPr>
            <a:r>
              <a:rPr lang="tr-TR" sz="1350" b="1" i="0">
                <a:solidFill>
                  <a:srgbClr val="262626"/>
                </a:solidFill>
                <a:latin typeface="Calibri"/>
              </a:rPr>
              <a:t>Almanya</a:t>
            </a:r>
            <a:r>
              <a:rPr lang="tr-TR" sz="1350" b="0" i="0">
                <a:solidFill>
                  <a:srgbClr val="262626"/>
                </a:solidFill>
                <a:latin typeface="Calibri"/>
              </a:rPr>
              <a:t> · neredeyse tamamı aydınlık</a:t>
            </a:r>
          </a:p>
        </p:txBody>
      </p:sp>
      <p:sp>
        <p:nvSpPr>
          <p:cNvPr id="25" name="Rounded Rectangle 24"/>
          <p:cNvSpPr/>
          <p:nvPr/>
        </p:nvSpPr>
        <p:spPr>
          <a:xfrm>
            <a:off x="8275320" y="3575304"/>
            <a:ext cx="3413455" cy="502920"/>
          </a:xfrm>
          <a:prstGeom prst="roundRect">
            <a:avLst>
              <a:gd name="adj" fmla="val 25000"/>
            </a:avLst>
          </a:prstGeom>
          <a:solidFill>
            <a:srgbClr val="F0F0F0"/>
          </a:solidFill>
          <a:ln w="12700">
            <a:solidFill>
              <a:srgbClr val="D9D9D9"/>
            </a:solidFill>
          </a:ln>
          <a:effectLst/>
        </p:spPr>
        <p:txBody>
          <a:bodyPr rtlCol="0" anchor="ctr"/>
          <a:lstStyle/>
          <a:p/>
        </p:txBody>
      </p:sp>
      <p:sp>
        <p:nvSpPr>
          <p:cNvPr id="26" name="Oval 25"/>
          <p:cNvSpPr/>
          <p:nvPr/>
        </p:nvSpPr>
        <p:spPr>
          <a:xfrm>
            <a:off x="8339328" y="3643884"/>
            <a:ext cx="365760" cy="36576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4</a:t>
            </a:r>
          </a:p>
        </p:txBody>
      </p:sp>
      <p:sp>
        <p:nvSpPr>
          <p:cNvPr id="27" name="TextBox 26"/>
          <p:cNvSpPr txBox="1"/>
          <p:nvPr/>
        </p:nvSpPr>
        <p:spPr>
          <a:xfrm>
            <a:off x="8750808" y="3575304"/>
            <a:ext cx="2864815" cy="502920"/>
          </a:xfrm>
          <a:prstGeom prst="rect">
            <a:avLst/>
          </a:prstGeom>
          <a:noFill/>
        </p:spPr>
        <p:txBody>
          <a:bodyPr wrap="square" anchor="ctr" lIns="73152" rIns="73152" tIns="36576" bIns="36576">
            <a:noAutofit/>
          </a:bodyPr>
          <a:lstStyle/>
          <a:p>
            <a:pPr algn="l">
              <a:spcBef>
                <a:spcPts val="0"/>
              </a:spcBef>
              <a:spcAft>
                <a:spcPts val="0"/>
              </a:spcAft>
            </a:pPr>
            <a:r>
              <a:rPr lang="tr-TR" sz="1500" b="1" i="0">
                <a:solidFill>
                  <a:srgbClr val="262626"/>
                </a:solidFill>
                <a:latin typeface="Calibri"/>
              </a:rPr>
              <a:t>Çin</a:t>
            </a:r>
            <a:r>
              <a:rPr lang="tr-TR" sz="1500" b="0" i="0">
                <a:solidFill>
                  <a:srgbClr val="262626"/>
                </a:solidFill>
                <a:latin typeface="Calibri"/>
              </a:rPr>
              <a:t> · doğusu geniş alanda aydınlık</a:t>
            </a:r>
          </a:p>
        </p:txBody>
      </p:sp>
      <p:sp>
        <p:nvSpPr>
          <p:cNvPr id="28" name="Rounded Rectangle 27"/>
          <p:cNvSpPr/>
          <p:nvPr/>
        </p:nvSpPr>
        <p:spPr>
          <a:xfrm>
            <a:off x="8275320" y="4133088"/>
            <a:ext cx="3413455" cy="502920"/>
          </a:xfrm>
          <a:prstGeom prst="roundRect">
            <a:avLst>
              <a:gd name="adj" fmla="val 25000"/>
            </a:avLst>
          </a:prstGeom>
          <a:solidFill>
            <a:srgbClr val="F0F0F0"/>
          </a:solidFill>
          <a:ln w="12700">
            <a:solidFill>
              <a:srgbClr val="D9D9D9"/>
            </a:solidFill>
          </a:ln>
          <a:effectLst/>
        </p:spPr>
        <p:txBody>
          <a:bodyPr rtlCol="0" anchor="ctr"/>
          <a:lstStyle/>
          <a:p/>
        </p:txBody>
      </p:sp>
      <p:sp>
        <p:nvSpPr>
          <p:cNvPr id="29" name="Oval 28"/>
          <p:cNvSpPr/>
          <p:nvPr/>
        </p:nvSpPr>
        <p:spPr>
          <a:xfrm>
            <a:off x="8339328" y="4201668"/>
            <a:ext cx="365760" cy="365760"/>
          </a:xfrm>
          <a:prstGeom prst="ellipse">
            <a:avLst/>
          </a:prstGeom>
          <a:solidFill>
            <a:srgbClr val="C77C02"/>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5</a:t>
            </a:r>
          </a:p>
        </p:txBody>
      </p:sp>
      <p:sp>
        <p:nvSpPr>
          <p:cNvPr id="30" name="TextBox 29"/>
          <p:cNvSpPr txBox="1"/>
          <p:nvPr/>
        </p:nvSpPr>
        <p:spPr>
          <a:xfrm>
            <a:off x="8750808" y="4133088"/>
            <a:ext cx="2864815" cy="502920"/>
          </a:xfrm>
          <a:prstGeom prst="rect">
            <a:avLst/>
          </a:prstGeom>
          <a:noFill/>
        </p:spPr>
        <p:txBody>
          <a:bodyPr wrap="square" anchor="ctr" lIns="73152" rIns="73152" tIns="36576" bIns="36576">
            <a:noAutofit/>
          </a:bodyPr>
          <a:lstStyle/>
          <a:p>
            <a:pPr algn="l">
              <a:spcBef>
                <a:spcPts val="0"/>
              </a:spcBef>
              <a:spcAft>
                <a:spcPts val="0"/>
              </a:spcAft>
            </a:pPr>
            <a:r>
              <a:rPr lang="tr-TR" sz="1350" b="1" i="0">
                <a:solidFill>
                  <a:srgbClr val="262626"/>
                </a:solidFill>
                <a:latin typeface="Calibri"/>
              </a:rPr>
              <a:t>Brezilya</a:t>
            </a:r>
            <a:r>
              <a:rPr lang="tr-TR" sz="1350" b="0" i="0">
                <a:solidFill>
                  <a:srgbClr val="262626"/>
                </a:solidFill>
                <a:latin typeface="Calibri"/>
              </a:rPr>
              <a:t> · güneyi ve güneydoğusu orta, kalanı düşük</a:t>
            </a:r>
          </a:p>
        </p:txBody>
      </p:sp>
      <p:sp>
        <p:nvSpPr>
          <p:cNvPr id="31" name="Rounded Rectangle 30"/>
          <p:cNvSpPr/>
          <p:nvPr/>
        </p:nvSpPr>
        <p:spPr>
          <a:xfrm>
            <a:off x="8275320" y="4690872"/>
            <a:ext cx="3413455" cy="502920"/>
          </a:xfrm>
          <a:prstGeom prst="roundRect">
            <a:avLst>
              <a:gd name="adj" fmla="val 25000"/>
            </a:avLst>
          </a:prstGeom>
          <a:solidFill>
            <a:srgbClr val="F0F0F0"/>
          </a:solidFill>
          <a:ln w="12700">
            <a:solidFill>
              <a:srgbClr val="D9D9D9"/>
            </a:solidFill>
          </a:ln>
          <a:effectLst/>
        </p:spPr>
        <p:txBody>
          <a:bodyPr rtlCol="0" anchor="ctr"/>
          <a:lstStyle/>
          <a:p/>
        </p:txBody>
      </p:sp>
      <p:sp>
        <p:nvSpPr>
          <p:cNvPr id="32" name="Oval 31"/>
          <p:cNvSpPr/>
          <p:nvPr/>
        </p:nvSpPr>
        <p:spPr>
          <a:xfrm>
            <a:off x="8339328" y="4759452"/>
            <a:ext cx="365760" cy="365760"/>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6</a:t>
            </a:r>
          </a:p>
        </p:txBody>
      </p:sp>
      <p:sp>
        <p:nvSpPr>
          <p:cNvPr id="33" name="TextBox 32"/>
          <p:cNvSpPr txBox="1"/>
          <p:nvPr/>
        </p:nvSpPr>
        <p:spPr>
          <a:xfrm>
            <a:off x="8750808" y="4690872"/>
            <a:ext cx="2864815" cy="502920"/>
          </a:xfrm>
          <a:prstGeom prst="rect">
            <a:avLst/>
          </a:prstGeom>
          <a:noFill/>
        </p:spPr>
        <p:txBody>
          <a:bodyPr wrap="square" anchor="ctr" lIns="73152" rIns="73152" tIns="36576" bIns="36576">
            <a:noAutofit/>
          </a:bodyPr>
          <a:lstStyle/>
          <a:p>
            <a:pPr algn="l">
              <a:spcBef>
                <a:spcPts val="0"/>
              </a:spcBef>
              <a:spcAft>
                <a:spcPts val="0"/>
              </a:spcAft>
            </a:pPr>
            <a:r>
              <a:rPr lang="tr-TR" sz="1500" b="1" i="0">
                <a:solidFill>
                  <a:srgbClr val="262626"/>
                </a:solidFill>
                <a:latin typeface="Calibri"/>
              </a:rPr>
              <a:t>Mısır</a:t>
            </a:r>
            <a:r>
              <a:rPr lang="tr-TR" sz="1500" b="0" i="0">
                <a:solidFill>
                  <a:srgbClr val="262626"/>
                </a:solidFill>
                <a:latin typeface="Calibri"/>
              </a:rPr>
              <a:t> · yüksek ışık yok, orta-düşük</a:t>
            </a:r>
          </a:p>
        </p:txBody>
      </p:sp>
      <p:sp>
        <p:nvSpPr>
          <p:cNvPr id="34" name="Rounded Rectangle 33"/>
          <p:cNvSpPr/>
          <p:nvPr/>
        </p:nvSpPr>
        <p:spPr>
          <a:xfrm>
            <a:off x="8275320" y="5248656"/>
            <a:ext cx="3413455" cy="502920"/>
          </a:xfrm>
          <a:prstGeom prst="roundRect">
            <a:avLst>
              <a:gd name="adj" fmla="val 25000"/>
            </a:avLst>
          </a:prstGeom>
          <a:solidFill>
            <a:srgbClr val="F0F0F0"/>
          </a:solidFill>
          <a:ln w="12700">
            <a:solidFill>
              <a:srgbClr val="D9D9D9"/>
            </a:solidFill>
          </a:ln>
          <a:effectLst/>
        </p:spPr>
        <p:txBody>
          <a:bodyPr rtlCol="0" anchor="ctr"/>
          <a:lstStyle/>
          <a:p/>
        </p:txBody>
      </p:sp>
      <p:sp>
        <p:nvSpPr>
          <p:cNvPr id="35" name="Oval 34"/>
          <p:cNvSpPr/>
          <p:nvPr/>
        </p:nvSpPr>
        <p:spPr>
          <a:xfrm>
            <a:off x="8339328" y="5317236"/>
            <a:ext cx="365760" cy="365760"/>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7</a:t>
            </a:r>
          </a:p>
        </p:txBody>
      </p:sp>
      <p:sp>
        <p:nvSpPr>
          <p:cNvPr id="36" name="TextBox 35"/>
          <p:cNvSpPr txBox="1"/>
          <p:nvPr/>
        </p:nvSpPr>
        <p:spPr>
          <a:xfrm>
            <a:off x="8750808" y="5248656"/>
            <a:ext cx="2864815" cy="502920"/>
          </a:xfrm>
          <a:prstGeom prst="rect">
            <a:avLst/>
          </a:prstGeom>
          <a:noFill/>
        </p:spPr>
        <p:txBody>
          <a:bodyPr wrap="square" anchor="ctr" lIns="73152" rIns="73152" tIns="36576" bIns="36576">
            <a:noAutofit/>
          </a:bodyPr>
          <a:lstStyle/>
          <a:p>
            <a:pPr algn="l">
              <a:spcBef>
                <a:spcPts val="0"/>
              </a:spcBef>
              <a:spcAft>
                <a:spcPts val="0"/>
              </a:spcAft>
            </a:pPr>
            <a:r>
              <a:rPr lang="tr-TR" sz="1500" b="1" i="0">
                <a:solidFill>
                  <a:srgbClr val="262626"/>
                </a:solidFill>
                <a:latin typeface="Calibri"/>
              </a:rPr>
              <a:t>Somali</a:t>
            </a:r>
            <a:r>
              <a:rPr lang="tr-TR" sz="1500" b="0" i="0">
                <a:solidFill>
                  <a:srgbClr val="262626"/>
                </a:solidFill>
                <a:latin typeface="Calibri"/>
              </a:rPr>
              <a:t> · en düşük ışık</a:t>
            </a:r>
          </a:p>
        </p:txBody>
      </p:sp>
      <p:sp>
        <p:nvSpPr>
          <p:cNvPr id="37" name="Rounded Rectangle 36"/>
          <p:cNvSpPr/>
          <p:nvPr/>
        </p:nvSpPr>
        <p:spPr>
          <a:xfrm>
            <a:off x="8275320" y="5824728"/>
            <a:ext cx="719462" cy="329184"/>
          </a:xfrm>
          <a:prstGeom prst="roundRect">
            <a:avLst>
              <a:gd name="adj" fmla="val 50000"/>
            </a:avLst>
          </a:prstGeom>
          <a:solidFill>
            <a:srgbClr val="2E7D32"/>
          </a:solidFill>
          <a:ln>
            <a:noFill/>
          </a:ln>
          <a:effectLst/>
        </p:spPr>
        <p:txBody>
          <a:bodyPr rtlCol="0" anchor="ctr" wrap="square" lIns="54864" rIns="54864" tIns="0" bIns="0">
            <a:noAutofit/>
          </a:bodyPr>
          <a:lstStyle/>
          <a:p>
            <a:pPr algn="ctr">
              <a:spcBef>
                <a:spcPts val="0"/>
              </a:spcBef>
              <a:spcAft>
                <a:spcPts val="0"/>
              </a:spcAft>
            </a:pPr>
            <a:r>
              <a:rPr lang="tr-TR" sz="1300" b="1" i="0">
                <a:solidFill>
                  <a:srgbClr val="FFFFFF"/>
                </a:solidFill>
                <a:latin typeface="Calibri"/>
              </a:rPr>
              <a:t>EVET</a:t>
            </a:r>
          </a:p>
        </p:txBody>
      </p:sp>
      <p:sp>
        <p:nvSpPr>
          <p:cNvPr id="38" name="Rounded Rectangle 37"/>
          <p:cNvSpPr/>
          <p:nvPr/>
        </p:nvSpPr>
        <p:spPr>
          <a:xfrm>
            <a:off x="9067934" y="5824728"/>
            <a:ext cx="931125" cy="329184"/>
          </a:xfrm>
          <a:prstGeom prst="roundRect">
            <a:avLst>
              <a:gd name="adj" fmla="val 50000"/>
            </a:avLst>
          </a:prstGeom>
          <a:solidFill>
            <a:srgbClr val="C77C02"/>
          </a:solidFill>
          <a:ln>
            <a:noFill/>
          </a:ln>
          <a:effectLst/>
        </p:spPr>
        <p:txBody>
          <a:bodyPr rtlCol="0" anchor="ctr" wrap="square" lIns="54864" rIns="54864" tIns="0" bIns="0">
            <a:noAutofit/>
          </a:bodyPr>
          <a:lstStyle/>
          <a:p>
            <a:pPr algn="ctr">
              <a:spcBef>
                <a:spcPts val="0"/>
              </a:spcBef>
              <a:spcAft>
                <a:spcPts val="0"/>
              </a:spcAft>
            </a:pPr>
            <a:r>
              <a:rPr lang="tr-TR" sz="1300" b="1" i="0">
                <a:solidFill>
                  <a:srgbClr val="FFFFFF"/>
                </a:solidFill>
                <a:latin typeface="Calibri"/>
              </a:rPr>
              <a:t>KISMEN</a:t>
            </a:r>
          </a:p>
        </p:txBody>
      </p:sp>
      <p:sp>
        <p:nvSpPr>
          <p:cNvPr id="39" name="Rounded Rectangle 38"/>
          <p:cNvSpPr/>
          <p:nvPr/>
        </p:nvSpPr>
        <p:spPr>
          <a:xfrm>
            <a:off x="10072211" y="5824728"/>
            <a:ext cx="794684" cy="329184"/>
          </a:xfrm>
          <a:prstGeom prst="roundRect">
            <a:avLst>
              <a:gd name="adj" fmla="val 50000"/>
            </a:avLst>
          </a:prstGeom>
          <a:solidFill>
            <a:srgbClr val="D3373A"/>
          </a:solidFill>
          <a:ln>
            <a:noFill/>
          </a:ln>
          <a:effectLst/>
        </p:spPr>
        <p:txBody>
          <a:bodyPr rtlCol="0" anchor="ctr" wrap="square" lIns="54864" rIns="54864" tIns="0" bIns="0">
            <a:noAutofit/>
          </a:bodyPr>
          <a:lstStyle/>
          <a:p>
            <a:pPr algn="ctr">
              <a:spcBef>
                <a:spcPts val="0"/>
              </a:spcBef>
              <a:spcAft>
                <a:spcPts val="0"/>
              </a:spcAft>
            </a:pPr>
            <a:r>
              <a:rPr lang="tr-TR" sz="1300" b="1" i="0">
                <a:solidFill>
                  <a:srgbClr val="FFFFFF"/>
                </a:solidFill>
                <a:latin typeface="Calibri"/>
              </a:rPr>
              <a:t>HAYIR</a:t>
            </a:r>
          </a:p>
        </p:txBody>
      </p:sp>
      <p:sp>
        <p:nvSpPr>
          <p:cNvPr id="40" name="TextBox 3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41" name="Rounded Rectangle 4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173</a:t>
            </a:r>
          </a:p>
        </p:txBody>
      </p:sp>
      <p:sp>
        <p:nvSpPr>
          <p:cNvPr id="42" name="TextBox 4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14 / 166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Gece ışıkları ve coğrafi faktörler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2. SORU</a:t>
            </a:r>
          </a:p>
        </p:txBody>
      </p:sp>
      <p:sp>
        <p:nvSpPr>
          <p:cNvPr id="6" name="Rounded Rectangle 5"/>
          <p:cNvSpPr/>
          <p:nvPr/>
        </p:nvSpPr>
        <p:spPr>
          <a:xfrm>
            <a:off x="502920" y="1207008"/>
            <a:ext cx="11185855" cy="566928"/>
          </a:xfrm>
          <a:prstGeom prst="roundRect">
            <a:avLst>
              <a:gd name="adj" fmla="val 8000"/>
            </a:avLst>
          </a:prstGeom>
          <a:solidFill>
            <a:srgbClr val="FFF3D1"/>
          </a:solidFill>
          <a:ln>
            <a:noFill/>
          </a:ln>
          <a:effectLst/>
        </p:spPr>
        <p:txBody>
          <a:bodyPr rtlCol="0" anchor="ctr" wrap="square" lIns="182880" rIns="182880" tIns="73152" bIns="73152">
            <a:noAutofit/>
          </a:bodyPr>
          <a:lstStyle/>
          <a:p>
            <a:pPr algn="l">
              <a:spcBef>
                <a:spcPts val="0"/>
              </a:spcBef>
              <a:spcAft>
                <a:spcPts val="0"/>
              </a:spcAft>
            </a:pPr>
            <a:r>
              <a:rPr lang="tr-TR" sz="2000" b="1" i="0">
                <a:solidFill>
                  <a:srgbClr val="262626"/>
                </a:solidFill>
                <a:latin typeface="Calibri"/>
              </a:rPr>
              <a:t>Ekonomik gelişmişliğin dağılımında etkili olan coğrafi faktörlerle ilgili neler söylenebilir?</a:t>
            </a:r>
          </a:p>
        </p:txBody>
      </p:sp>
      <p:pic>
        <p:nvPicPr>
          <p:cNvPr id="7" name="Picture 6" descr="h28_gece_isiklari_s173.jpg"/>
          <p:cNvPicPr>
            <a:picLocks noChangeAspect="1"/>
          </p:cNvPicPr>
          <p:nvPr/>
        </p:nvPicPr>
        <p:blipFill>
          <a:blip r:embed="rId3"/>
          <a:stretch>
            <a:fillRect/>
          </a:stretch>
        </p:blipFill>
        <p:spPr>
          <a:xfrm>
            <a:off x="502920" y="1901952"/>
            <a:ext cx="6766560" cy="3498091"/>
          </a:xfrm>
          <a:prstGeom prst="rect">
            <a:avLst/>
          </a:prstGeom>
          <a:ln w="9525">
            <a:solidFill>
              <a:srgbClr val="D9D9D9"/>
            </a:solidFill>
          </a:ln>
        </p:spPr>
      </p:pic>
      <p:sp>
        <p:nvSpPr>
          <p:cNvPr id="8" name="TextBox 7"/>
          <p:cNvSpPr txBox="1"/>
          <p:nvPr/>
        </p:nvSpPr>
        <p:spPr>
          <a:xfrm>
            <a:off x="502920" y="5436619"/>
            <a:ext cx="6766560" cy="292608"/>
          </a:xfrm>
          <a:prstGeom prst="rect">
            <a:avLst/>
          </a:prstGeom>
          <a:noFill/>
        </p:spPr>
        <p:txBody>
          <a:bodyPr wrap="square" anchor="t" lIns="73152" rIns="73152" tIns="36576" bIns="36576">
            <a:noAutofit/>
          </a:bodyPr>
          <a:lstStyle/>
          <a:p>
            <a:pPr algn="l">
              <a:spcBef>
                <a:spcPts val="0"/>
              </a:spcBef>
              <a:spcAft>
                <a:spcPts val="0"/>
              </a:spcAft>
            </a:pPr>
            <a:r>
              <a:rPr lang="tr-TR" sz="1300" b="0" i="1">
                <a:solidFill>
                  <a:srgbClr val="767676"/>
                </a:solidFill>
                <a:latin typeface="Calibri"/>
              </a:rPr>
              <a:t>Kitap s. 173: gece ışıklarının küresel dağılımı</a:t>
            </a:r>
          </a:p>
        </p:txBody>
      </p:sp>
      <p:sp>
        <p:nvSpPr>
          <p:cNvPr id="9" name="Rounded Rectangle 8"/>
          <p:cNvSpPr/>
          <p:nvPr/>
        </p:nvSpPr>
        <p:spPr>
          <a:xfrm>
            <a:off x="7498080" y="1901952"/>
            <a:ext cx="4190695" cy="192024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600"/>
              </a:spcAft>
            </a:pPr>
            <a:r>
              <a:rPr lang="tr-TR" sz="2000" b="1" i="0">
                <a:solidFill>
                  <a:srgbClr val="B85C12"/>
                </a:solidFill>
                <a:latin typeface="Calibri"/>
              </a:rPr>
              <a:t>İpucu</a:t>
            </a:r>
          </a:p>
          <a:p>
            <a:pPr algn="l">
              <a:spcBef>
                <a:spcPts val="0"/>
              </a:spcBef>
              <a:spcAft>
                <a:spcPts val="600"/>
              </a:spcAft>
            </a:pPr>
            <a:r>
              <a:rPr lang="tr-TR" sz="2000" b="0" i="0">
                <a:solidFill>
                  <a:srgbClr val="262626"/>
                </a:solidFill>
                <a:latin typeface="Calibri"/>
              </a:rPr>
              <a:t>Haritada nereler karanlık?</a:t>
            </a:r>
          </a:p>
          <a:p>
            <a:pPr algn="l">
              <a:spcBef>
                <a:spcPts val="0"/>
              </a:spcBef>
              <a:spcAft>
                <a:spcPts val="0"/>
              </a:spcAft>
            </a:pPr>
            <a:r>
              <a:rPr lang="tr-TR" sz="2000" b="0" i="0">
                <a:solidFill>
                  <a:srgbClr val="262626"/>
                </a:solidFill>
                <a:latin typeface="Calibri"/>
              </a:rPr>
              <a:t>Oralarda iklim, yer şekilleri ve su nasıl?</a:t>
            </a:r>
          </a:p>
        </p:txBody>
      </p:sp>
      <p:sp>
        <p:nvSpPr>
          <p:cNvPr id="10" name="TextBox 9"/>
          <p:cNvSpPr txBox="1"/>
          <p:nvPr/>
        </p:nvSpPr>
        <p:spPr>
          <a:xfrm>
            <a:off x="7498080" y="3959352"/>
            <a:ext cx="4190695" cy="411480"/>
          </a:xfrm>
          <a:prstGeom prst="rect">
            <a:avLst/>
          </a:prstGeom>
          <a:noFill/>
        </p:spPr>
        <p:txBody>
          <a:bodyPr wrap="square" anchor="t" lIns="73152" rIns="73152" tIns="36576" bIns="36576">
            <a:noAutofit/>
          </a:bodyPr>
          <a:lstStyle/>
          <a:p>
            <a:pPr algn="l">
              <a:spcBef>
                <a:spcPts val="0"/>
              </a:spcBef>
              <a:spcAft>
                <a:spcPts val="0"/>
              </a:spcAft>
            </a:pPr>
            <a:r>
              <a:rPr lang="tr-TR" sz="1800" b="1" i="0">
                <a:solidFill>
                  <a:srgbClr val="262626"/>
                </a:solidFill>
                <a:latin typeface="Calibri"/>
              </a:rPr>
              <a:t>Faktör havuzu (tahtada)</a:t>
            </a:r>
          </a:p>
        </p:txBody>
      </p:sp>
      <p:sp>
        <p:nvSpPr>
          <p:cNvPr id="11" name="Rounded Rectangle 10"/>
          <p:cNvSpPr/>
          <p:nvPr/>
        </p:nvSpPr>
        <p:spPr>
          <a:xfrm>
            <a:off x="7498080" y="4416552"/>
            <a:ext cx="4190695" cy="1828800"/>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12" name="Connector 11"/>
          <p:cNvCxnSpPr/>
          <p:nvPr/>
        </p:nvCxnSpPr>
        <p:spPr>
          <a:xfrm>
            <a:off x="7680960" y="4782312"/>
            <a:ext cx="3824935" cy="0"/>
          </a:xfrm>
          <a:prstGeom prst="line">
            <a:avLst/>
          </a:prstGeom>
          <a:ln w="12700">
            <a:solidFill>
              <a:srgbClr val="D9D9D9"/>
            </a:solidFill>
            <a:prstDash val="dash"/>
          </a:ln>
        </p:spPr>
      </p:cxnSp>
      <p:cxnSp>
        <p:nvCxnSpPr>
          <p:cNvPr id="13" name="Connector 12"/>
          <p:cNvCxnSpPr/>
          <p:nvPr/>
        </p:nvCxnSpPr>
        <p:spPr>
          <a:xfrm>
            <a:off x="7680960" y="5148072"/>
            <a:ext cx="3824935" cy="0"/>
          </a:xfrm>
          <a:prstGeom prst="line">
            <a:avLst/>
          </a:prstGeom>
          <a:ln w="12700">
            <a:solidFill>
              <a:srgbClr val="D9D9D9"/>
            </a:solidFill>
            <a:prstDash val="dash"/>
          </a:ln>
        </p:spPr>
      </p:cxnSp>
      <p:cxnSp>
        <p:nvCxnSpPr>
          <p:cNvPr id="14" name="Connector 13"/>
          <p:cNvCxnSpPr/>
          <p:nvPr/>
        </p:nvCxnSpPr>
        <p:spPr>
          <a:xfrm>
            <a:off x="7680960" y="5513832"/>
            <a:ext cx="3824935" cy="0"/>
          </a:xfrm>
          <a:prstGeom prst="line">
            <a:avLst/>
          </a:prstGeom>
          <a:ln w="12700">
            <a:solidFill>
              <a:srgbClr val="D9D9D9"/>
            </a:solidFill>
            <a:prstDash val="dash"/>
          </a:ln>
        </p:spPr>
      </p:cxnSp>
      <p:cxnSp>
        <p:nvCxnSpPr>
          <p:cNvPr id="15" name="Connector 14"/>
          <p:cNvCxnSpPr/>
          <p:nvPr/>
        </p:nvCxnSpPr>
        <p:spPr>
          <a:xfrm>
            <a:off x="7680960" y="5879592"/>
            <a:ext cx="3824935" cy="0"/>
          </a:xfrm>
          <a:prstGeom prst="line">
            <a:avLst/>
          </a:prstGeom>
          <a:ln w="12700">
            <a:solidFill>
              <a:srgbClr val="D9D9D9"/>
            </a:solidFill>
            <a:prstDash val="dash"/>
          </a:ln>
        </p:spPr>
      </p:cxnSp>
      <p:sp>
        <p:nvSpPr>
          <p:cNvPr id="16" name="TextBox 1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7" name="Rounded Rectangle 1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173</a:t>
            </a:r>
          </a:p>
        </p:txBody>
      </p:sp>
      <p:sp>
        <p:nvSpPr>
          <p:cNvPr id="18" name="TextBox 1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15 / 166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Gece ışıkları ve coğrafi faktörler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07008"/>
            <a:ext cx="11185855" cy="566928"/>
          </a:xfrm>
          <a:prstGeom prst="roundRect">
            <a:avLst>
              <a:gd name="adj" fmla="val 8000"/>
            </a:avLst>
          </a:prstGeom>
          <a:solidFill>
            <a:srgbClr val="FFF3D1"/>
          </a:solidFill>
          <a:ln>
            <a:noFill/>
          </a:ln>
          <a:effectLst/>
        </p:spPr>
        <p:txBody>
          <a:bodyPr rtlCol="0" anchor="ctr" wrap="square" lIns="182880" rIns="182880" tIns="73152" bIns="73152">
            <a:noAutofit/>
          </a:bodyPr>
          <a:lstStyle/>
          <a:p>
            <a:pPr algn="l">
              <a:spcBef>
                <a:spcPts val="0"/>
              </a:spcBef>
              <a:spcAft>
                <a:spcPts val="0"/>
              </a:spcAft>
            </a:pPr>
            <a:r>
              <a:rPr lang="tr-TR" sz="2000" b="1" i="0">
                <a:solidFill>
                  <a:srgbClr val="262626"/>
                </a:solidFill>
                <a:latin typeface="Calibri"/>
              </a:rPr>
              <a:t>Ekonomik gelişmişliğin dağılımında etkili olan coğrafi faktörlerle ilgili neler söylenebilir?</a:t>
            </a:r>
          </a:p>
        </p:txBody>
      </p:sp>
      <p:pic>
        <p:nvPicPr>
          <p:cNvPr id="7" name="Picture 6" descr="h28_gece_isiklari_s173.jpg"/>
          <p:cNvPicPr>
            <a:picLocks noChangeAspect="1"/>
          </p:cNvPicPr>
          <p:nvPr/>
        </p:nvPicPr>
        <p:blipFill>
          <a:blip r:embed="rId3"/>
          <a:stretch>
            <a:fillRect/>
          </a:stretch>
        </p:blipFill>
        <p:spPr>
          <a:xfrm>
            <a:off x="502920" y="1901952"/>
            <a:ext cx="6766560" cy="3498091"/>
          </a:xfrm>
          <a:prstGeom prst="rect">
            <a:avLst/>
          </a:prstGeom>
          <a:ln w="9525">
            <a:solidFill>
              <a:srgbClr val="D9D9D9"/>
            </a:solidFill>
          </a:ln>
        </p:spPr>
      </p:pic>
      <p:cxnSp>
        <p:nvCxnSpPr>
          <p:cNvPr id="8" name="Connector 7"/>
          <p:cNvCxnSpPr/>
          <p:nvPr/>
        </p:nvCxnSpPr>
        <p:spPr>
          <a:xfrm flipH="1" flipV="1">
            <a:off x="3078724" y="2240447"/>
            <a:ext cx="868680" cy="384048"/>
          </a:xfrm>
          <a:prstGeom prst="line">
            <a:avLst/>
          </a:prstGeom>
          <a:ln w="19050">
            <a:solidFill>
              <a:srgbClr val="B85C12"/>
            </a:solidFill>
          </a:ln>
        </p:spPr>
      </p:cxnSp>
      <p:sp>
        <p:nvSpPr>
          <p:cNvPr id="9" name="Oval 8"/>
          <p:cNvSpPr/>
          <p:nvPr/>
        </p:nvSpPr>
        <p:spPr>
          <a:xfrm>
            <a:off x="3897112" y="2574203"/>
            <a:ext cx="100584" cy="100584"/>
          </a:xfrm>
          <a:prstGeom prst="ellipse">
            <a:avLst/>
          </a:prstGeom>
          <a:solidFill>
            <a:srgbClr val="B85C12"/>
          </a:solidFill>
          <a:ln w="12700">
            <a:solidFill>
              <a:srgbClr val="FFFFFF"/>
            </a:solidFill>
          </a:ln>
          <a:effectLst/>
        </p:spPr>
        <p:txBody>
          <a:bodyPr rtlCol="0" anchor="ctr"/>
          <a:lstStyle/>
          <a:p/>
        </p:txBody>
      </p:sp>
      <p:sp>
        <p:nvSpPr>
          <p:cNvPr id="10" name="Rounded Rectangle 9"/>
          <p:cNvSpPr/>
          <p:nvPr/>
        </p:nvSpPr>
        <p:spPr>
          <a:xfrm>
            <a:off x="2606403" y="2112431"/>
            <a:ext cx="944642" cy="256032"/>
          </a:xfrm>
          <a:prstGeom prst="roundRect">
            <a:avLst>
              <a:gd name="adj" fmla="val 25000"/>
            </a:avLst>
          </a:prstGeom>
          <a:solidFill>
            <a:srgbClr val="FFF3D1"/>
          </a:solidFill>
          <a:ln w="15875">
            <a:solidFill>
              <a:srgbClr val="B85C12"/>
            </a:solidFill>
          </a:ln>
          <a:effectLst/>
        </p:spPr>
        <p:txBody>
          <a:bodyPr rtlCol="0" anchor="ctr" wrap="square" lIns="36576" rIns="36576" tIns="0" bIns="0">
            <a:noAutofit/>
          </a:bodyPr>
          <a:lstStyle/>
          <a:p>
            <a:pPr algn="ctr">
              <a:spcBef>
                <a:spcPts val="0"/>
              </a:spcBef>
              <a:spcAft>
                <a:spcPts val="0"/>
              </a:spcAft>
            </a:pPr>
            <a:r>
              <a:rPr lang="tr-TR" sz="1200" b="1" i="0">
                <a:solidFill>
                  <a:srgbClr val="262626"/>
                </a:solidFill>
                <a:latin typeface="Calibri"/>
              </a:rPr>
              <a:t>Batı Avrupa</a:t>
            </a:r>
          </a:p>
        </p:txBody>
      </p:sp>
      <p:cxnSp>
        <p:nvCxnSpPr>
          <p:cNvPr id="11" name="Connector 10"/>
          <p:cNvCxnSpPr/>
          <p:nvPr/>
        </p:nvCxnSpPr>
        <p:spPr>
          <a:xfrm flipH="1" flipV="1">
            <a:off x="1322159" y="2505900"/>
            <a:ext cx="1143000" cy="347472"/>
          </a:xfrm>
          <a:prstGeom prst="line">
            <a:avLst/>
          </a:prstGeom>
          <a:ln w="19050">
            <a:solidFill>
              <a:srgbClr val="B85C12"/>
            </a:solidFill>
          </a:ln>
        </p:spPr>
      </p:cxnSp>
      <p:sp>
        <p:nvSpPr>
          <p:cNvPr id="12" name="Oval 11"/>
          <p:cNvSpPr/>
          <p:nvPr/>
        </p:nvSpPr>
        <p:spPr>
          <a:xfrm>
            <a:off x="2414867" y="2803080"/>
            <a:ext cx="100584" cy="100584"/>
          </a:xfrm>
          <a:prstGeom prst="ellipse">
            <a:avLst/>
          </a:prstGeom>
          <a:solidFill>
            <a:srgbClr val="B85C12"/>
          </a:solidFill>
          <a:ln w="12700">
            <a:solidFill>
              <a:srgbClr val="FFFFFF"/>
            </a:solidFill>
          </a:ln>
          <a:effectLst/>
        </p:spPr>
        <p:txBody>
          <a:bodyPr rtlCol="0" anchor="ctr"/>
          <a:lstStyle/>
          <a:p/>
        </p:txBody>
      </p:sp>
      <p:sp>
        <p:nvSpPr>
          <p:cNvPr id="13" name="Rounded Rectangle 12"/>
          <p:cNvSpPr/>
          <p:nvPr/>
        </p:nvSpPr>
        <p:spPr>
          <a:xfrm>
            <a:off x="711543" y="2377884"/>
            <a:ext cx="1221231" cy="256032"/>
          </a:xfrm>
          <a:prstGeom prst="roundRect">
            <a:avLst>
              <a:gd name="adj" fmla="val 25000"/>
            </a:avLst>
          </a:prstGeom>
          <a:solidFill>
            <a:srgbClr val="FFF3D1"/>
          </a:solidFill>
          <a:ln w="15875">
            <a:solidFill>
              <a:srgbClr val="B85C12"/>
            </a:solidFill>
          </a:ln>
          <a:effectLst/>
        </p:spPr>
        <p:txBody>
          <a:bodyPr rtlCol="0" anchor="ctr" wrap="square" lIns="36576" rIns="36576" tIns="0" bIns="0">
            <a:noAutofit/>
          </a:bodyPr>
          <a:lstStyle/>
          <a:p>
            <a:pPr algn="ctr">
              <a:spcBef>
                <a:spcPts val="0"/>
              </a:spcBef>
              <a:spcAft>
                <a:spcPts val="0"/>
              </a:spcAft>
            </a:pPr>
            <a:r>
              <a:rPr lang="tr-TR" sz="1200" b="1" i="0">
                <a:solidFill>
                  <a:srgbClr val="262626"/>
                </a:solidFill>
                <a:latin typeface="Calibri"/>
              </a:rPr>
              <a:t>ABD'nin doğusu</a:t>
            </a:r>
          </a:p>
        </p:txBody>
      </p:sp>
      <p:cxnSp>
        <p:nvCxnSpPr>
          <p:cNvPr id="14" name="Connector 13"/>
          <p:cNvCxnSpPr/>
          <p:nvPr/>
        </p:nvCxnSpPr>
        <p:spPr>
          <a:xfrm>
            <a:off x="5944564" y="3000963"/>
            <a:ext cx="777240" cy="292608"/>
          </a:xfrm>
          <a:prstGeom prst="line">
            <a:avLst/>
          </a:prstGeom>
          <a:ln w="19050">
            <a:solidFill>
              <a:srgbClr val="B85C12"/>
            </a:solidFill>
          </a:ln>
        </p:spPr>
      </p:cxnSp>
      <p:sp>
        <p:nvSpPr>
          <p:cNvPr id="15" name="Oval 14"/>
          <p:cNvSpPr/>
          <p:nvPr/>
        </p:nvSpPr>
        <p:spPr>
          <a:xfrm>
            <a:off x="5894272" y="2950671"/>
            <a:ext cx="100584" cy="100584"/>
          </a:xfrm>
          <a:prstGeom prst="ellipse">
            <a:avLst/>
          </a:prstGeom>
          <a:solidFill>
            <a:srgbClr val="B85C12"/>
          </a:solidFill>
          <a:ln w="12700">
            <a:solidFill>
              <a:srgbClr val="FFFFFF"/>
            </a:solidFill>
          </a:ln>
          <a:effectLst/>
        </p:spPr>
        <p:txBody>
          <a:bodyPr rtlCol="0" anchor="ctr"/>
          <a:lstStyle/>
          <a:p/>
        </p:txBody>
      </p:sp>
      <p:sp>
        <p:nvSpPr>
          <p:cNvPr id="16" name="Rounded Rectangle 15"/>
          <p:cNvSpPr/>
          <p:nvPr/>
        </p:nvSpPr>
        <p:spPr>
          <a:xfrm>
            <a:off x="6337166" y="3165555"/>
            <a:ext cx="769275" cy="256032"/>
          </a:xfrm>
          <a:prstGeom prst="roundRect">
            <a:avLst>
              <a:gd name="adj" fmla="val 25000"/>
            </a:avLst>
          </a:prstGeom>
          <a:solidFill>
            <a:srgbClr val="FFF3D1"/>
          </a:solidFill>
          <a:ln w="15875">
            <a:solidFill>
              <a:srgbClr val="B85C12"/>
            </a:solidFill>
          </a:ln>
          <a:effectLst/>
        </p:spPr>
        <p:txBody>
          <a:bodyPr rtlCol="0" anchor="ctr" wrap="square" lIns="36576" rIns="36576" tIns="0" bIns="0">
            <a:noAutofit/>
          </a:bodyPr>
          <a:lstStyle/>
          <a:p>
            <a:pPr algn="ctr">
              <a:spcBef>
                <a:spcPts val="0"/>
              </a:spcBef>
              <a:spcAft>
                <a:spcPts val="0"/>
              </a:spcAft>
            </a:pPr>
            <a:r>
              <a:rPr lang="tr-TR" sz="1200" b="1" i="0">
                <a:solidFill>
                  <a:srgbClr val="262626"/>
                </a:solidFill>
                <a:latin typeface="Calibri"/>
              </a:rPr>
              <a:t>Doğu Çin</a:t>
            </a:r>
          </a:p>
        </p:txBody>
      </p:sp>
      <p:cxnSp>
        <p:nvCxnSpPr>
          <p:cNvPr id="17" name="Connector 16"/>
          <p:cNvCxnSpPr/>
          <p:nvPr/>
        </p:nvCxnSpPr>
        <p:spPr>
          <a:xfrm>
            <a:off x="4380296" y="2821804"/>
            <a:ext cx="320040" cy="502920"/>
          </a:xfrm>
          <a:prstGeom prst="line">
            <a:avLst/>
          </a:prstGeom>
          <a:ln w="19050">
            <a:solidFill>
              <a:srgbClr val="B85C12"/>
            </a:solidFill>
          </a:ln>
        </p:spPr>
      </p:cxnSp>
      <p:sp>
        <p:nvSpPr>
          <p:cNvPr id="18" name="Oval 17"/>
          <p:cNvSpPr/>
          <p:nvPr/>
        </p:nvSpPr>
        <p:spPr>
          <a:xfrm>
            <a:off x="4330004" y="2771512"/>
            <a:ext cx="100584" cy="100584"/>
          </a:xfrm>
          <a:prstGeom prst="ellipse">
            <a:avLst/>
          </a:prstGeom>
          <a:solidFill>
            <a:srgbClr val="B85C12"/>
          </a:solidFill>
          <a:ln w="12700">
            <a:solidFill>
              <a:srgbClr val="FFFFFF"/>
            </a:solidFill>
          </a:ln>
          <a:effectLst/>
        </p:spPr>
        <p:txBody>
          <a:bodyPr rtlCol="0" anchor="ctr"/>
          <a:lstStyle/>
          <a:p/>
        </p:txBody>
      </p:sp>
      <p:sp>
        <p:nvSpPr>
          <p:cNvPr id="19" name="Rounded Rectangle 18"/>
          <p:cNvSpPr/>
          <p:nvPr/>
        </p:nvSpPr>
        <p:spPr>
          <a:xfrm>
            <a:off x="4053531" y="3196708"/>
            <a:ext cx="1293610" cy="256032"/>
          </a:xfrm>
          <a:prstGeom prst="roundRect">
            <a:avLst>
              <a:gd name="adj" fmla="val 25000"/>
            </a:avLst>
          </a:prstGeom>
          <a:solidFill>
            <a:srgbClr val="FFF3D1"/>
          </a:solidFill>
          <a:ln w="15875">
            <a:solidFill>
              <a:srgbClr val="B85C12"/>
            </a:solidFill>
          </a:ln>
          <a:effectLst/>
        </p:spPr>
        <p:txBody>
          <a:bodyPr rtlCol="0" anchor="ctr" wrap="square" lIns="36576" rIns="36576" tIns="0" bIns="0">
            <a:noAutofit/>
          </a:bodyPr>
          <a:lstStyle/>
          <a:p>
            <a:pPr algn="ctr">
              <a:spcBef>
                <a:spcPts val="0"/>
              </a:spcBef>
              <a:spcAft>
                <a:spcPts val="0"/>
              </a:spcAft>
            </a:pPr>
            <a:r>
              <a:rPr lang="tr-TR" sz="1200" b="1" i="0">
                <a:solidFill>
                  <a:srgbClr val="262626"/>
                </a:solidFill>
                <a:latin typeface="Calibri"/>
              </a:rPr>
              <a:t>Türkiye'nin batısı</a:t>
            </a:r>
          </a:p>
        </p:txBody>
      </p:sp>
      <p:cxnSp>
        <p:nvCxnSpPr>
          <p:cNvPr id="20" name="Connector 19"/>
          <p:cNvCxnSpPr/>
          <p:nvPr/>
        </p:nvCxnSpPr>
        <p:spPr>
          <a:xfrm flipH="1">
            <a:off x="3031662" y="3212098"/>
            <a:ext cx="960120" cy="201168"/>
          </a:xfrm>
          <a:prstGeom prst="line">
            <a:avLst/>
          </a:prstGeom>
          <a:ln w="19050">
            <a:solidFill>
              <a:srgbClr val="2C6696"/>
            </a:solidFill>
          </a:ln>
        </p:spPr>
      </p:cxnSp>
      <p:sp>
        <p:nvSpPr>
          <p:cNvPr id="21" name="Oval 20"/>
          <p:cNvSpPr/>
          <p:nvPr/>
        </p:nvSpPr>
        <p:spPr>
          <a:xfrm>
            <a:off x="3941490" y="3161806"/>
            <a:ext cx="100584" cy="100584"/>
          </a:xfrm>
          <a:prstGeom prst="ellipse">
            <a:avLst/>
          </a:prstGeom>
          <a:solidFill>
            <a:srgbClr val="2C6696"/>
          </a:solidFill>
          <a:ln w="12700">
            <a:solidFill>
              <a:srgbClr val="FFFFFF"/>
            </a:solidFill>
          </a:ln>
          <a:effectLst/>
        </p:spPr>
        <p:txBody>
          <a:bodyPr rtlCol="0" anchor="ctr"/>
          <a:lstStyle/>
          <a:p/>
        </p:txBody>
      </p:sp>
      <p:sp>
        <p:nvSpPr>
          <p:cNvPr id="22" name="Rounded Rectangle 21"/>
          <p:cNvSpPr/>
          <p:nvPr/>
        </p:nvSpPr>
        <p:spPr>
          <a:xfrm>
            <a:off x="2755838" y="3285250"/>
            <a:ext cx="551648" cy="256032"/>
          </a:xfrm>
          <a:prstGeom prst="roundRect">
            <a:avLst>
              <a:gd name="adj" fmla="val 25000"/>
            </a:avLst>
          </a:prstGeom>
          <a:solidFill>
            <a:srgbClr val="FFFFFF"/>
          </a:solidFill>
          <a:ln w="15875">
            <a:solidFill>
              <a:srgbClr val="2C6696"/>
            </a:solidFill>
          </a:ln>
          <a:effectLst/>
        </p:spPr>
        <p:txBody>
          <a:bodyPr rtlCol="0" anchor="ctr" wrap="square" lIns="36576" rIns="36576" tIns="0" bIns="0">
            <a:noAutofit/>
          </a:bodyPr>
          <a:lstStyle/>
          <a:p>
            <a:pPr algn="ctr">
              <a:spcBef>
                <a:spcPts val="0"/>
              </a:spcBef>
              <a:spcAft>
                <a:spcPts val="0"/>
              </a:spcAft>
            </a:pPr>
            <a:r>
              <a:rPr lang="tr-TR" sz="1200" b="1" i="0">
                <a:solidFill>
                  <a:srgbClr val="262626"/>
                </a:solidFill>
                <a:latin typeface="Calibri"/>
              </a:rPr>
              <a:t>Sahra</a:t>
            </a:r>
          </a:p>
        </p:txBody>
      </p:sp>
      <p:cxnSp>
        <p:nvCxnSpPr>
          <p:cNvPr id="23" name="Connector 22"/>
          <p:cNvCxnSpPr/>
          <p:nvPr/>
        </p:nvCxnSpPr>
        <p:spPr>
          <a:xfrm flipV="1">
            <a:off x="5308780" y="2036195"/>
            <a:ext cx="502920" cy="292608"/>
          </a:xfrm>
          <a:prstGeom prst="line">
            <a:avLst/>
          </a:prstGeom>
          <a:ln w="19050">
            <a:solidFill>
              <a:srgbClr val="2C6696"/>
            </a:solidFill>
          </a:ln>
        </p:spPr>
      </p:cxnSp>
      <p:sp>
        <p:nvSpPr>
          <p:cNvPr id="24" name="Oval 23"/>
          <p:cNvSpPr/>
          <p:nvPr/>
        </p:nvSpPr>
        <p:spPr>
          <a:xfrm>
            <a:off x="5258488" y="2278511"/>
            <a:ext cx="100584" cy="100584"/>
          </a:xfrm>
          <a:prstGeom prst="ellipse">
            <a:avLst/>
          </a:prstGeom>
          <a:solidFill>
            <a:srgbClr val="2C6696"/>
          </a:solidFill>
          <a:ln w="12700">
            <a:solidFill>
              <a:srgbClr val="FFFFFF"/>
            </a:solidFill>
          </a:ln>
          <a:effectLst/>
        </p:spPr>
        <p:txBody>
          <a:bodyPr rtlCol="0" anchor="ctr"/>
          <a:lstStyle/>
          <a:p/>
        </p:txBody>
      </p:sp>
      <p:sp>
        <p:nvSpPr>
          <p:cNvPr id="25" name="Rounded Rectangle 24"/>
          <p:cNvSpPr/>
          <p:nvPr/>
        </p:nvSpPr>
        <p:spPr>
          <a:xfrm>
            <a:off x="5498006" y="1908179"/>
            <a:ext cx="627387" cy="256032"/>
          </a:xfrm>
          <a:prstGeom prst="roundRect">
            <a:avLst>
              <a:gd name="adj" fmla="val 25000"/>
            </a:avLst>
          </a:prstGeom>
          <a:solidFill>
            <a:srgbClr val="FFFFFF"/>
          </a:solidFill>
          <a:ln w="15875">
            <a:solidFill>
              <a:srgbClr val="2C6696"/>
            </a:solidFill>
          </a:ln>
          <a:effectLst/>
        </p:spPr>
        <p:txBody>
          <a:bodyPr rtlCol="0" anchor="ctr" wrap="square" lIns="36576" rIns="36576" tIns="0" bIns="0">
            <a:noAutofit/>
          </a:bodyPr>
          <a:lstStyle/>
          <a:p>
            <a:pPr algn="ctr">
              <a:spcBef>
                <a:spcPts val="0"/>
              </a:spcBef>
              <a:spcAft>
                <a:spcPts val="0"/>
              </a:spcAft>
            </a:pPr>
            <a:r>
              <a:rPr lang="tr-TR" sz="1200" b="1" i="0">
                <a:solidFill>
                  <a:srgbClr val="262626"/>
                </a:solidFill>
                <a:latin typeface="Calibri"/>
              </a:rPr>
              <a:t>Sibirya</a:t>
            </a:r>
          </a:p>
        </p:txBody>
      </p:sp>
      <p:cxnSp>
        <p:nvCxnSpPr>
          <p:cNvPr id="26" name="Connector 25"/>
          <p:cNvCxnSpPr/>
          <p:nvPr/>
        </p:nvCxnSpPr>
        <p:spPr>
          <a:xfrm flipH="1">
            <a:off x="1680286" y="3761049"/>
            <a:ext cx="1051560" cy="45720"/>
          </a:xfrm>
          <a:prstGeom prst="line">
            <a:avLst/>
          </a:prstGeom>
          <a:ln w="19050">
            <a:solidFill>
              <a:srgbClr val="2C6696"/>
            </a:solidFill>
          </a:ln>
        </p:spPr>
      </p:cxnSp>
      <p:sp>
        <p:nvSpPr>
          <p:cNvPr id="27" name="Oval 26"/>
          <p:cNvSpPr/>
          <p:nvPr/>
        </p:nvSpPr>
        <p:spPr>
          <a:xfrm>
            <a:off x="2681554" y="3710757"/>
            <a:ext cx="100584" cy="100584"/>
          </a:xfrm>
          <a:prstGeom prst="ellipse">
            <a:avLst/>
          </a:prstGeom>
          <a:solidFill>
            <a:srgbClr val="2C6696"/>
          </a:solidFill>
          <a:ln w="12700">
            <a:solidFill>
              <a:srgbClr val="FFFFFF"/>
            </a:solidFill>
          </a:ln>
          <a:effectLst/>
        </p:spPr>
        <p:txBody>
          <a:bodyPr rtlCol="0" anchor="ctr"/>
          <a:lstStyle/>
          <a:p/>
        </p:txBody>
      </p:sp>
      <p:sp>
        <p:nvSpPr>
          <p:cNvPr id="28" name="Rounded Rectangle 27"/>
          <p:cNvSpPr/>
          <p:nvPr/>
        </p:nvSpPr>
        <p:spPr>
          <a:xfrm>
            <a:off x="1323008" y="3678753"/>
            <a:ext cx="714555" cy="256032"/>
          </a:xfrm>
          <a:prstGeom prst="roundRect">
            <a:avLst>
              <a:gd name="adj" fmla="val 25000"/>
            </a:avLst>
          </a:prstGeom>
          <a:solidFill>
            <a:srgbClr val="FFFFFF"/>
          </a:solidFill>
          <a:ln w="15875">
            <a:solidFill>
              <a:srgbClr val="2C6696"/>
            </a:solidFill>
          </a:ln>
          <a:effectLst/>
        </p:spPr>
        <p:txBody>
          <a:bodyPr rtlCol="0" anchor="ctr" wrap="square" lIns="36576" rIns="36576" tIns="0" bIns="0">
            <a:noAutofit/>
          </a:bodyPr>
          <a:lstStyle/>
          <a:p>
            <a:pPr algn="ctr">
              <a:spcBef>
                <a:spcPts val="0"/>
              </a:spcBef>
              <a:spcAft>
                <a:spcPts val="0"/>
              </a:spcAft>
            </a:pPr>
            <a:r>
              <a:rPr lang="tr-TR" sz="1200" b="1" i="0">
                <a:solidFill>
                  <a:srgbClr val="262626"/>
                </a:solidFill>
                <a:latin typeface="Calibri"/>
              </a:rPr>
              <a:t>Amazon</a:t>
            </a:r>
          </a:p>
        </p:txBody>
      </p:sp>
      <p:cxnSp>
        <p:nvCxnSpPr>
          <p:cNvPr id="29" name="Connector 28"/>
          <p:cNvCxnSpPr/>
          <p:nvPr/>
        </p:nvCxnSpPr>
        <p:spPr>
          <a:xfrm flipH="1" flipV="1">
            <a:off x="4897282" y="2519824"/>
            <a:ext cx="502920" cy="438912"/>
          </a:xfrm>
          <a:prstGeom prst="line">
            <a:avLst/>
          </a:prstGeom>
          <a:ln w="19050">
            <a:solidFill>
              <a:srgbClr val="2C6696"/>
            </a:solidFill>
          </a:ln>
        </p:spPr>
      </p:cxnSp>
      <p:sp>
        <p:nvSpPr>
          <p:cNvPr id="30" name="Oval 29"/>
          <p:cNvSpPr/>
          <p:nvPr/>
        </p:nvSpPr>
        <p:spPr>
          <a:xfrm>
            <a:off x="5349910" y="2908444"/>
            <a:ext cx="100584" cy="100584"/>
          </a:xfrm>
          <a:prstGeom prst="ellipse">
            <a:avLst/>
          </a:prstGeom>
          <a:solidFill>
            <a:srgbClr val="2C6696"/>
          </a:solidFill>
          <a:ln w="12700">
            <a:solidFill>
              <a:srgbClr val="FFFFFF"/>
            </a:solidFill>
          </a:ln>
          <a:effectLst/>
        </p:spPr>
        <p:txBody>
          <a:bodyPr rtlCol="0" anchor="ctr"/>
          <a:lstStyle/>
          <a:p/>
        </p:txBody>
      </p:sp>
      <p:sp>
        <p:nvSpPr>
          <p:cNvPr id="31" name="Rounded Rectangle 30"/>
          <p:cNvSpPr/>
          <p:nvPr/>
        </p:nvSpPr>
        <p:spPr>
          <a:xfrm>
            <a:off x="4637879" y="2391808"/>
            <a:ext cx="518806" cy="256032"/>
          </a:xfrm>
          <a:prstGeom prst="roundRect">
            <a:avLst>
              <a:gd name="adj" fmla="val 25000"/>
            </a:avLst>
          </a:prstGeom>
          <a:solidFill>
            <a:srgbClr val="FFFFFF"/>
          </a:solidFill>
          <a:ln w="15875">
            <a:solidFill>
              <a:srgbClr val="2C6696"/>
            </a:solidFill>
          </a:ln>
          <a:effectLst/>
        </p:spPr>
        <p:txBody>
          <a:bodyPr rtlCol="0" anchor="ctr" wrap="square" lIns="36576" rIns="36576" tIns="0" bIns="0">
            <a:noAutofit/>
          </a:bodyPr>
          <a:lstStyle/>
          <a:p>
            <a:pPr algn="ctr">
              <a:spcBef>
                <a:spcPts val="0"/>
              </a:spcBef>
              <a:spcAft>
                <a:spcPts val="0"/>
              </a:spcAft>
            </a:pPr>
            <a:r>
              <a:rPr lang="tr-TR" sz="1200" b="1" i="0">
                <a:solidFill>
                  <a:srgbClr val="262626"/>
                </a:solidFill>
                <a:latin typeface="Calibri"/>
              </a:rPr>
              <a:t>Tibet</a:t>
            </a:r>
          </a:p>
        </p:txBody>
      </p:sp>
      <p:cxnSp>
        <p:nvCxnSpPr>
          <p:cNvPr id="32" name="Connector 31"/>
          <p:cNvCxnSpPr/>
          <p:nvPr/>
        </p:nvCxnSpPr>
        <p:spPr>
          <a:xfrm>
            <a:off x="6233205" y="4183320"/>
            <a:ext cx="137160" cy="566928"/>
          </a:xfrm>
          <a:prstGeom prst="line">
            <a:avLst/>
          </a:prstGeom>
          <a:ln w="19050">
            <a:solidFill>
              <a:srgbClr val="2C6696"/>
            </a:solidFill>
          </a:ln>
        </p:spPr>
      </p:cxnSp>
      <p:sp>
        <p:nvSpPr>
          <p:cNvPr id="33" name="Oval 32"/>
          <p:cNvSpPr/>
          <p:nvPr/>
        </p:nvSpPr>
        <p:spPr>
          <a:xfrm>
            <a:off x="6182913" y="4133028"/>
            <a:ext cx="100584" cy="100584"/>
          </a:xfrm>
          <a:prstGeom prst="ellipse">
            <a:avLst/>
          </a:prstGeom>
          <a:solidFill>
            <a:srgbClr val="2C6696"/>
          </a:solidFill>
          <a:ln w="12700">
            <a:solidFill>
              <a:srgbClr val="FFFFFF"/>
            </a:solidFill>
          </a:ln>
          <a:effectLst/>
        </p:spPr>
        <p:txBody>
          <a:bodyPr rtlCol="0" anchor="ctr"/>
          <a:lstStyle/>
          <a:p/>
        </p:txBody>
      </p:sp>
      <p:sp>
        <p:nvSpPr>
          <p:cNvPr id="34" name="Rounded Rectangle 33"/>
          <p:cNvSpPr/>
          <p:nvPr/>
        </p:nvSpPr>
        <p:spPr>
          <a:xfrm>
            <a:off x="5724994" y="4622232"/>
            <a:ext cx="1290741" cy="256032"/>
          </a:xfrm>
          <a:prstGeom prst="roundRect">
            <a:avLst>
              <a:gd name="adj" fmla="val 25000"/>
            </a:avLst>
          </a:prstGeom>
          <a:solidFill>
            <a:srgbClr val="FFFFFF"/>
          </a:solidFill>
          <a:ln w="15875">
            <a:solidFill>
              <a:srgbClr val="2C6696"/>
            </a:solidFill>
          </a:ln>
          <a:effectLst/>
        </p:spPr>
        <p:txBody>
          <a:bodyPr rtlCol="0" anchor="ctr" wrap="square" lIns="36576" rIns="36576" tIns="0" bIns="0">
            <a:noAutofit/>
          </a:bodyPr>
          <a:lstStyle/>
          <a:p>
            <a:pPr algn="ctr">
              <a:spcBef>
                <a:spcPts val="0"/>
              </a:spcBef>
              <a:spcAft>
                <a:spcPts val="0"/>
              </a:spcAft>
            </a:pPr>
            <a:r>
              <a:rPr lang="tr-TR" sz="1200" b="1" i="0">
                <a:solidFill>
                  <a:srgbClr val="262626"/>
                </a:solidFill>
                <a:latin typeface="Calibri"/>
              </a:rPr>
              <a:t>Avustralya'nın içi</a:t>
            </a:r>
          </a:p>
        </p:txBody>
      </p:sp>
      <p:sp>
        <p:nvSpPr>
          <p:cNvPr id="35" name="TextBox 34"/>
          <p:cNvSpPr txBox="1"/>
          <p:nvPr/>
        </p:nvSpPr>
        <p:spPr>
          <a:xfrm>
            <a:off x="502920" y="5436619"/>
            <a:ext cx="6766560" cy="292608"/>
          </a:xfrm>
          <a:prstGeom prst="rect">
            <a:avLst/>
          </a:prstGeom>
          <a:noFill/>
        </p:spPr>
        <p:txBody>
          <a:bodyPr wrap="square" anchor="t" lIns="73152" rIns="73152" tIns="36576" bIns="36576">
            <a:noAutofit/>
          </a:bodyPr>
          <a:lstStyle/>
          <a:p>
            <a:pPr algn="l">
              <a:spcBef>
                <a:spcPts val="0"/>
              </a:spcBef>
              <a:spcAft>
                <a:spcPts val="0"/>
              </a:spcAft>
            </a:pPr>
            <a:r>
              <a:rPr lang="tr-TR" sz="1300" b="0" i="1">
                <a:solidFill>
                  <a:srgbClr val="767676"/>
                </a:solidFill>
                <a:latin typeface="Calibri"/>
              </a:rPr>
              <a:t>Kitap s. 173: gece ışıklarının küresel dağılımı</a:t>
            </a:r>
          </a:p>
        </p:txBody>
      </p:sp>
      <p:sp>
        <p:nvSpPr>
          <p:cNvPr id="36" name="Rounded Rectangle 35"/>
          <p:cNvSpPr/>
          <p:nvPr/>
        </p:nvSpPr>
        <p:spPr>
          <a:xfrm>
            <a:off x="7498080" y="1901952"/>
            <a:ext cx="4190695" cy="1783080"/>
          </a:xfrm>
          <a:prstGeom prst="roundRect">
            <a:avLst>
              <a:gd name="adj" fmla="val 6000"/>
            </a:avLst>
          </a:prstGeom>
          <a:solidFill>
            <a:srgbClr val="E3F1E4"/>
          </a:solidFill>
          <a:ln>
            <a:noFill/>
          </a:ln>
          <a:effectLst/>
        </p:spPr>
        <p:txBody>
          <a:bodyPr rtlCol="0" anchor="ctr"/>
          <a:lstStyle/>
          <a:p/>
        </p:txBody>
      </p:sp>
      <p:sp>
        <p:nvSpPr>
          <p:cNvPr id="37" name="Rectangle 36"/>
          <p:cNvSpPr/>
          <p:nvPr/>
        </p:nvSpPr>
        <p:spPr>
          <a:xfrm>
            <a:off x="7498080" y="1901952"/>
            <a:ext cx="109728" cy="1783080"/>
          </a:xfrm>
          <a:prstGeom prst="rect">
            <a:avLst/>
          </a:prstGeom>
          <a:solidFill>
            <a:srgbClr val="2E7D32"/>
          </a:solidFill>
          <a:ln>
            <a:noFill/>
          </a:ln>
          <a:effectLst/>
        </p:spPr>
        <p:txBody>
          <a:bodyPr rtlCol="0" anchor="ctr"/>
          <a:lstStyle/>
          <a:p/>
        </p:txBody>
      </p:sp>
      <p:sp>
        <p:nvSpPr>
          <p:cNvPr id="38" name="TextBox 37"/>
          <p:cNvSpPr txBox="1"/>
          <p:nvPr/>
        </p:nvSpPr>
        <p:spPr>
          <a:xfrm>
            <a:off x="7726680" y="1956816"/>
            <a:ext cx="3870655" cy="1673352"/>
          </a:xfrm>
          <a:prstGeom prst="rect">
            <a:avLst/>
          </a:prstGeom>
          <a:noFill/>
        </p:spPr>
        <p:txBody>
          <a:bodyPr wrap="square" anchor="ctr" lIns="73152" rIns="73152" tIns="36576" bIns="36576">
            <a:noAutofit/>
          </a:bodyPr>
          <a:lstStyle/>
          <a:p>
            <a:pPr algn="l">
              <a:spcBef>
                <a:spcPts val="0"/>
              </a:spcBef>
              <a:spcAft>
                <a:spcPts val="400"/>
              </a:spcAft>
            </a:pPr>
            <a:r>
              <a:rPr lang="tr-TR" sz="1800" b="1" i="0">
                <a:solidFill>
                  <a:srgbClr val="2E7D32"/>
                </a:solidFill>
                <a:latin typeface="Calibri"/>
              </a:rPr>
              <a:t>Işık yoğun</a:t>
            </a:r>
          </a:p>
          <a:p>
            <a:pPr algn="l">
              <a:spcBef>
                <a:spcPts val="0"/>
              </a:spcBef>
              <a:spcAft>
                <a:spcPts val="500"/>
              </a:spcAft>
            </a:pPr>
            <a:r>
              <a:rPr lang="tr-TR" sz="1800" b="0" i="0">
                <a:solidFill>
                  <a:srgbClr val="262626"/>
                </a:solidFill>
                <a:latin typeface="Calibri"/>
              </a:rPr>
              <a:t>Ilıman orta kuşak, kıyılar, ovalar, akarsu boyları</a:t>
            </a:r>
          </a:p>
          <a:p>
            <a:pPr algn="l">
              <a:spcBef>
                <a:spcPts val="0"/>
              </a:spcBef>
              <a:spcAft>
                <a:spcPts val="0"/>
              </a:spcAft>
            </a:pPr>
            <a:r>
              <a:rPr lang="tr-TR" sz="1800" b="0" i="0">
                <a:solidFill>
                  <a:srgbClr val="262626"/>
                </a:solidFill>
                <a:latin typeface="Calibri"/>
              </a:rPr>
              <a:t>Elverişli iklim, düz arazi, su</a:t>
            </a:r>
          </a:p>
        </p:txBody>
      </p:sp>
      <p:sp>
        <p:nvSpPr>
          <p:cNvPr id="39" name="Rounded Rectangle 38"/>
          <p:cNvSpPr/>
          <p:nvPr/>
        </p:nvSpPr>
        <p:spPr>
          <a:xfrm>
            <a:off x="7498080" y="3794760"/>
            <a:ext cx="4190695" cy="1783080"/>
          </a:xfrm>
          <a:prstGeom prst="roundRect">
            <a:avLst>
              <a:gd name="adj" fmla="val 6000"/>
            </a:avLst>
          </a:prstGeom>
          <a:solidFill>
            <a:srgbClr val="E3ECF5"/>
          </a:solidFill>
          <a:ln>
            <a:noFill/>
          </a:ln>
          <a:effectLst/>
        </p:spPr>
        <p:txBody>
          <a:bodyPr rtlCol="0" anchor="ctr"/>
          <a:lstStyle/>
          <a:p/>
        </p:txBody>
      </p:sp>
      <p:sp>
        <p:nvSpPr>
          <p:cNvPr id="40" name="Rectangle 39"/>
          <p:cNvSpPr/>
          <p:nvPr/>
        </p:nvSpPr>
        <p:spPr>
          <a:xfrm>
            <a:off x="7498080" y="3794760"/>
            <a:ext cx="109728" cy="1783080"/>
          </a:xfrm>
          <a:prstGeom prst="rect">
            <a:avLst/>
          </a:prstGeom>
          <a:solidFill>
            <a:srgbClr val="2C6696"/>
          </a:solidFill>
          <a:ln>
            <a:noFill/>
          </a:ln>
          <a:effectLst/>
        </p:spPr>
        <p:txBody>
          <a:bodyPr rtlCol="0" anchor="ctr"/>
          <a:lstStyle/>
          <a:p/>
        </p:txBody>
      </p:sp>
      <p:sp>
        <p:nvSpPr>
          <p:cNvPr id="41" name="TextBox 40"/>
          <p:cNvSpPr txBox="1"/>
          <p:nvPr/>
        </p:nvSpPr>
        <p:spPr>
          <a:xfrm>
            <a:off x="7726680" y="3849624"/>
            <a:ext cx="3870655" cy="1673352"/>
          </a:xfrm>
          <a:prstGeom prst="rect">
            <a:avLst/>
          </a:prstGeom>
          <a:noFill/>
        </p:spPr>
        <p:txBody>
          <a:bodyPr wrap="square" anchor="ctr" lIns="73152" rIns="73152" tIns="36576" bIns="36576">
            <a:noAutofit/>
          </a:bodyPr>
          <a:lstStyle/>
          <a:p>
            <a:pPr algn="l">
              <a:spcBef>
                <a:spcPts val="0"/>
              </a:spcBef>
              <a:spcAft>
                <a:spcPts val="400"/>
              </a:spcAft>
            </a:pPr>
            <a:r>
              <a:rPr lang="tr-TR" sz="1800" b="1" i="0">
                <a:solidFill>
                  <a:srgbClr val="2C6696"/>
                </a:solidFill>
                <a:latin typeface="Calibri"/>
              </a:rPr>
              <a:t>Işık az</a:t>
            </a:r>
          </a:p>
          <a:p>
            <a:pPr algn="l">
              <a:spcBef>
                <a:spcPts val="0"/>
              </a:spcBef>
              <a:spcAft>
                <a:spcPts val="500"/>
              </a:spcAft>
            </a:pPr>
            <a:r>
              <a:rPr lang="tr-TR" sz="1800" b="0" i="0">
                <a:solidFill>
                  <a:srgbClr val="262626"/>
                </a:solidFill>
                <a:latin typeface="Calibri"/>
              </a:rPr>
              <a:t>Çöller, çok soğuk alanlar, yüksek dağlar, sık ormanlar</a:t>
            </a:r>
          </a:p>
          <a:p>
            <a:pPr algn="l">
              <a:spcBef>
                <a:spcPts val="0"/>
              </a:spcBef>
              <a:spcAft>
                <a:spcPts val="0"/>
              </a:spcAft>
            </a:pPr>
            <a:r>
              <a:rPr lang="tr-TR" sz="1800" b="0" i="0">
                <a:solidFill>
                  <a:srgbClr val="262626"/>
                </a:solidFill>
                <a:latin typeface="Calibri"/>
              </a:rPr>
              <a:t>Zor doğal koşullar</a:t>
            </a:r>
          </a:p>
        </p:txBody>
      </p:sp>
      <p:sp>
        <p:nvSpPr>
          <p:cNvPr id="42" name="Rounded Rectangle 41"/>
          <p:cNvSpPr/>
          <p:nvPr/>
        </p:nvSpPr>
        <p:spPr>
          <a:xfrm>
            <a:off x="7498080" y="5687568"/>
            <a:ext cx="4190695" cy="603504"/>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0"/>
              </a:spcAft>
            </a:pPr>
            <a:r>
              <a:rPr lang="tr-TR" sz="1600" b="1" i="0">
                <a:solidFill>
                  <a:srgbClr val="262626"/>
                </a:solidFill>
                <a:latin typeface="Calibri"/>
              </a:rPr>
              <a:t>Beşerî faktörler de etkili: 29. hafta</a:t>
            </a:r>
          </a:p>
        </p:txBody>
      </p:sp>
      <p:sp>
        <p:nvSpPr>
          <p:cNvPr id="43" name="TextBox 4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44" name="Rounded Rectangle 4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173</a:t>
            </a:r>
          </a:p>
        </p:txBody>
      </p:sp>
      <p:sp>
        <p:nvSpPr>
          <p:cNvPr id="45" name="TextBox 4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16 / 166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Köprü: üretim tesisini nereye kurardın?</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KÖPRÜ KURMA</a:t>
            </a:r>
          </a:p>
        </p:txBody>
      </p:sp>
      <p:sp>
        <p:nvSpPr>
          <p:cNvPr id="6" name="Rounded Rectangle 5"/>
          <p:cNvSpPr/>
          <p:nvPr/>
        </p:nvSpPr>
        <p:spPr>
          <a:xfrm>
            <a:off x="502920" y="1207008"/>
            <a:ext cx="11185855" cy="91440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1900" b="1" i="0">
                <a:solidFill>
                  <a:srgbClr val="262626"/>
                </a:solidFill>
                <a:latin typeface="Calibri"/>
              </a:rPr>
              <a:t>Verilen haritayı göz önünde bulundurarak bir ürün belirleyecek ve bu ürünle ilgili üretim tesisi kuracak olsanız yer seçiminde hangi faktörleri dikkate alırsınız? Düşüncelerinizi arkadaşlarınızla paylaşınız.</a:t>
            </a:r>
          </a:p>
        </p:txBody>
      </p:sp>
      <p:sp>
        <p:nvSpPr>
          <p:cNvPr id="7" name="Rounded Rectangle 6"/>
          <p:cNvSpPr/>
          <p:nvPr/>
        </p:nvSpPr>
        <p:spPr>
          <a:xfrm>
            <a:off x="502920" y="2267712"/>
            <a:ext cx="3606698" cy="1417320"/>
          </a:xfrm>
          <a:prstGeom prst="roundRect">
            <a:avLst>
              <a:gd name="adj" fmla="val 5000"/>
            </a:avLst>
          </a:prstGeom>
          <a:solidFill>
            <a:srgbClr val="F0F0F0"/>
          </a:solidFill>
          <a:ln>
            <a:noFill/>
          </a:ln>
          <a:effectLst/>
        </p:spPr>
        <p:txBody>
          <a:bodyPr rtlCol="0" anchor="ctr"/>
          <a:lstStyle/>
          <a:p/>
        </p:txBody>
      </p:sp>
      <p:sp>
        <p:nvSpPr>
          <p:cNvPr id="8" name="Rounded Rectangle 7"/>
          <p:cNvSpPr/>
          <p:nvPr/>
        </p:nvSpPr>
        <p:spPr>
          <a:xfrm>
            <a:off x="502920" y="2267712"/>
            <a:ext cx="3606698" cy="530352"/>
          </a:xfrm>
          <a:prstGeom prst="roundRect">
            <a:avLst>
              <a:gd name="adj" fmla="val 25000"/>
            </a:avLst>
          </a:prstGeom>
          <a:solidFill>
            <a:srgbClr val="B85C12"/>
          </a:solidFill>
          <a:ln>
            <a:noFill/>
          </a:ln>
          <a:effectLst/>
        </p:spPr>
        <p:txBody>
          <a:bodyPr rtlCol="0" anchor="ctr"/>
          <a:lstStyle/>
          <a:p/>
        </p:txBody>
      </p:sp>
      <p:sp>
        <p:nvSpPr>
          <p:cNvPr id="9" name="Rectangle 8"/>
          <p:cNvSpPr/>
          <p:nvPr/>
        </p:nvSpPr>
        <p:spPr>
          <a:xfrm>
            <a:off x="502920" y="2532888"/>
            <a:ext cx="3606698" cy="265176"/>
          </a:xfrm>
          <a:prstGeom prst="rect">
            <a:avLst/>
          </a:prstGeom>
          <a:solidFill>
            <a:srgbClr val="B85C12"/>
          </a:solidFill>
          <a:ln>
            <a:noFill/>
          </a:ln>
          <a:effectLst/>
        </p:spPr>
        <p:txBody>
          <a:bodyPr rtlCol="0" anchor="ctr"/>
          <a:lstStyle/>
          <a:p/>
        </p:txBody>
      </p:sp>
      <p:sp>
        <p:nvSpPr>
          <p:cNvPr id="10" name="TextBox 9"/>
          <p:cNvSpPr txBox="1"/>
          <p:nvPr/>
        </p:nvSpPr>
        <p:spPr>
          <a:xfrm>
            <a:off x="594360" y="2267712"/>
            <a:ext cx="3423818"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DÜŞÜN · 1 dk</a:t>
            </a:r>
          </a:p>
        </p:txBody>
      </p:sp>
      <p:sp>
        <p:nvSpPr>
          <p:cNvPr id="11" name="TextBox 10"/>
          <p:cNvSpPr txBox="1"/>
          <p:nvPr/>
        </p:nvSpPr>
        <p:spPr>
          <a:xfrm>
            <a:off x="612648" y="2871216"/>
            <a:ext cx="3387242" cy="740664"/>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Bir ürün seç. Yer seçiminde dikkat edeceğin üç faktörü defterine yaz.</a:t>
            </a:r>
          </a:p>
        </p:txBody>
      </p:sp>
      <p:sp>
        <p:nvSpPr>
          <p:cNvPr id="12" name="Rounded Rectangle 11"/>
          <p:cNvSpPr/>
          <p:nvPr/>
        </p:nvSpPr>
        <p:spPr>
          <a:xfrm>
            <a:off x="4292498" y="2267712"/>
            <a:ext cx="3606698" cy="1417320"/>
          </a:xfrm>
          <a:prstGeom prst="roundRect">
            <a:avLst>
              <a:gd name="adj" fmla="val 5000"/>
            </a:avLst>
          </a:prstGeom>
          <a:solidFill>
            <a:srgbClr val="F0F0F0"/>
          </a:solidFill>
          <a:ln>
            <a:noFill/>
          </a:ln>
          <a:effectLst/>
        </p:spPr>
        <p:txBody>
          <a:bodyPr rtlCol="0" anchor="ctr"/>
          <a:lstStyle/>
          <a:p/>
        </p:txBody>
      </p:sp>
      <p:sp>
        <p:nvSpPr>
          <p:cNvPr id="13" name="Rounded Rectangle 12"/>
          <p:cNvSpPr/>
          <p:nvPr/>
        </p:nvSpPr>
        <p:spPr>
          <a:xfrm>
            <a:off x="4292498" y="2267712"/>
            <a:ext cx="3606698" cy="530352"/>
          </a:xfrm>
          <a:prstGeom prst="roundRect">
            <a:avLst>
              <a:gd name="adj" fmla="val 25000"/>
            </a:avLst>
          </a:prstGeom>
          <a:solidFill>
            <a:srgbClr val="4F4F4F"/>
          </a:solidFill>
          <a:ln>
            <a:noFill/>
          </a:ln>
          <a:effectLst/>
        </p:spPr>
        <p:txBody>
          <a:bodyPr rtlCol="0" anchor="ctr"/>
          <a:lstStyle/>
          <a:p/>
        </p:txBody>
      </p:sp>
      <p:sp>
        <p:nvSpPr>
          <p:cNvPr id="14" name="Rectangle 13"/>
          <p:cNvSpPr/>
          <p:nvPr/>
        </p:nvSpPr>
        <p:spPr>
          <a:xfrm>
            <a:off x="4292498" y="2532888"/>
            <a:ext cx="3606698" cy="265176"/>
          </a:xfrm>
          <a:prstGeom prst="rect">
            <a:avLst/>
          </a:prstGeom>
          <a:solidFill>
            <a:srgbClr val="4F4F4F"/>
          </a:solidFill>
          <a:ln>
            <a:noFill/>
          </a:ln>
          <a:effectLst/>
        </p:spPr>
        <p:txBody>
          <a:bodyPr rtlCol="0" anchor="ctr"/>
          <a:lstStyle/>
          <a:p/>
        </p:txBody>
      </p:sp>
      <p:sp>
        <p:nvSpPr>
          <p:cNvPr id="15" name="TextBox 14"/>
          <p:cNvSpPr txBox="1"/>
          <p:nvPr/>
        </p:nvSpPr>
        <p:spPr>
          <a:xfrm>
            <a:off x="4383938" y="2267712"/>
            <a:ext cx="3423818"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EŞLEŞ · 2 dk</a:t>
            </a:r>
          </a:p>
        </p:txBody>
      </p:sp>
      <p:sp>
        <p:nvSpPr>
          <p:cNvPr id="16" name="TextBox 15"/>
          <p:cNvSpPr txBox="1"/>
          <p:nvPr/>
        </p:nvSpPr>
        <p:spPr>
          <a:xfrm>
            <a:off x="4402226" y="2871216"/>
            <a:ext cx="3387242" cy="740664"/>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Sıra arkadaşınla karşılaştır; ortak listenizi oluşturun.</a:t>
            </a:r>
          </a:p>
        </p:txBody>
      </p:sp>
      <p:sp>
        <p:nvSpPr>
          <p:cNvPr id="17" name="Rounded Rectangle 16"/>
          <p:cNvSpPr/>
          <p:nvPr/>
        </p:nvSpPr>
        <p:spPr>
          <a:xfrm>
            <a:off x="8082076" y="2267712"/>
            <a:ext cx="3606698" cy="1417320"/>
          </a:xfrm>
          <a:prstGeom prst="roundRect">
            <a:avLst>
              <a:gd name="adj" fmla="val 5000"/>
            </a:avLst>
          </a:prstGeom>
          <a:solidFill>
            <a:srgbClr val="F0F0F0"/>
          </a:solidFill>
          <a:ln>
            <a:noFill/>
          </a:ln>
          <a:effectLst/>
        </p:spPr>
        <p:txBody>
          <a:bodyPr rtlCol="0" anchor="ctr"/>
          <a:lstStyle/>
          <a:p/>
        </p:txBody>
      </p:sp>
      <p:sp>
        <p:nvSpPr>
          <p:cNvPr id="18" name="Rounded Rectangle 17"/>
          <p:cNvSpPr/>
          <p:nvPr/>
        </p:nvSpPr>
        <p:spPr>
          <a:xfrm>
            <a:off x="8082076" y="2267712"/>
            <a:ext cx="3606698" cy="530352"/>
          </a:xfrm>
          <a:prstGeom prst="roundRect">
            <a:avLst>
              <a:gd name="adj" fmla="val 25000"/>
            </a:avLst>
          </a:prstGeom>
          <a:solidFill>
            <a:srgbClr val="B85C12"/>
          </a:solidFill>
          <a:ln>
            <a:noFill/>
          </a:ln>
          <a:effectLst/>
        </p:spPr>
        <p:txBody>
          <a:bodyPr rtlCol="0" anchor="ctr"/>
          <a:lstStyle/>
          <a:p/>
        </p:txBody>
      </p:sp>
      <p:sp>
        <p:nvSpPr>
          <p:cNvPr id="19" name="Rectangle 18"/>
          <p:cNvSpPr/>
          <p:nvPr/>
        </p:nvSpPr>
        <p:spPr>
          <a:xfrm>
            <a:off x="8082076" y="2532888"/>
            <a:ext cx="3606698" cy="265176"/>
          </a:xfrm>
          <a:prstGeom prst="rect">
            <a:avLst/>
          </a:prstGeom>
          <a:solidFill>
            <a:srgbClr val="B85C12"/>
          </a:solidFill>
          <a:ln>
            <a:noFill/>
          </a:ln>
          <a:effectLst/>
        </p:spPr>
        <p:txBody>
          <a:bodyPr rtlCol="0" anchor="ctr"/>
          <a:lstStyle/>
          <a:p/>
        </p:txBody>
      </p:sp>
      <p:sp>
        <p:nvSpPr>
          <p:cNvPr id="20" name="TextBox 19"/>
          <p:cNvSpPr txBox="1"/>
          <p:nvPr/>
        </p:nvSpPr>
        <p:spPr>
          <a:xfrm>
            <a:off x="8173516" y="2267712"/>
            <a:ext cx="3423818"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PAYLAŞ</a:t>
            </a:r>
          </a:p>
        </p:txBody>
      </p:sp>
      <p:sp>
        <p:nvSpPr>
          <p:cNvPr id="21" name="TextBox 20"/>
          <p:cNvSpPr txBox="1"/>
          <p:nvPr/>
        </p:nvSpPr>
        <p:spPr>
          <a:xfrm>
            <a:off x="8191804" y="2871216"/>
            <a:ext cx="3387242" cy="740664"/>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Faktörleriniz tahtadaki havuza eklenir.</a:t>
            </a:r>
          </a:p>
        </p:txBody>
      </p:sp>
      <p:sp>
        <p:nvSpPr>
          <p:cNvPr id="22" name="Rounded Rectangle 21"/>
          <p:cNvSpPr/>
          <p:nvPr/>
        </p:nvSpPr>
        <p:spPr>
          <a:xfrm>
            <a:off x="502920" y="3867912"/>
            <a:ext cx="5501487" cy="2423160"/>
          </a:xfrm>
          <a:prstGeom prst="roundRect">
            <a:avLst>
              <a:gd name="adj" fmla="val 5000"/>
            </a:avLst>
          </a:prstGeom>
          <a:solidFill>
            <a:srgbClr val="FFFFFF"/>
          </a:solidFill>
          <a:ln>
            <a:noFill/>
          </a:ln>
          <a:effectLst/>
        </p:spPr>
        <p:txBody>
          <a:bodyPr rtlCol="0" anchor="ctr"/>
          <a:lstStyle/>
          <a:p/>
        </p:txBody>
      </p:sp>
      <p:sp>
        <p:nvSpPr>
          <p:cNvPr id="23" name="Rounded Rectangle 22"/>
          <p:cNvSpPr/>
          <p:nvPr/>
        </p:nvSpPr>
        <p:spPr>
          <a:xfrm>
            <a:off x="502920" y="3867912"/>
            <a:ext cx="5501487" cy="685800"/>
          </a:xfrm>
          <a:prstGeom prst="roundRect">
            <a:avLst>
              <a:gd name="adj" fmla="val 25000"/>
            </a:avLst>
          </a:prstGeom>
          <a:solidFill>
            <a:srgbClr val="3E8E41"/>
          </a:solidFill>
          <a:ln>
            <a:noFill/>
          </a:ln>
          <a:effectLst/>
        </p:spPr>
        <p:txBody>
          <a:bodyPr rtlCol="0" anchor="ctr"/>
          <a:lstStyle/>
          <a:p/>
        </p:txBody>
      </p:sp>
      <p:sp>
        <p:nvSpPr>
          <p:cNvPr id="24" name="Rectangle 23"/>
          <p:cNvSpPr/>
          <p:nvPr/>
        </p:nvSpPr>
        <p:spPr>
          <a:xfrm>
            <a:off x="502920" y="4210812"/>
            <a:ext cx="5501487" cy="342900"/>
          </a:xfrm>
          <a:prstGeom prst="rect">
            <a:avLst/>
          </a:prstGeom>
          <a:solidFill>
            <a:srgbClr val="3E8E41"/>
          </a:solidFill>
          <a:ln>
            <a:noFill/>
          </a:ln>
          <a:effectLst/>
        </p:spPr>
        <p:txBody>
          <a:bodyPr rtlCol="0" anchor="ctr"/>
          <a:lstStyle/>
          <a:p/>
        </p:txBody>
      </p:sp>
      <p:sp>
        <p:nvSpPr>
          <p:cNvPr id="25" name="TextBox 24"/>
          <p:cNvSpPr txBox="1"/>
          <p:nvPr/>
        </p:nvSpPr>
        <p:spPr>
          <a:xfrm>
            <a:off x="594360" y="3867912"/>
            <a:ext cx="5318607" cy="6858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Doğadan gelenler</a:t>
            </a:r>
          </a:p>
        </p:txBody>
      </p:sp>
      <p:sp>
        <p:nvSpPr>
          <p:cNvPr id="26" name="Rounded Rectangle 25"/>
          <p:cNvSpPr/>
          <p:nvPr/>
        </p:nvSpPr>
        <p:spPr>
          <a:xfrm>
            <a:off x="502920" y="3867912"/>
            <a:ext cx="5501487" cy="2423160"/>
          </a:xfrm>
          <a:prstGeom prst="roundRect">
            <a:avLst>
              <a:gd name="adj" fmla="val 5000"/>
            </a:avLst>
          </a:prstGeom>
          <a:noFill/>
          <a:ln w="12700">
            <a:solidFill>
              <a:srgbClr val="D9D9D9"/>
            </a:solidFill>
          </a:ln>
          <a:effectLst/>
        </p:spPr>
        <p:txBody>
          <a:bodyPr rtlCol="0" anchor="ctr"/>
          <a:lstStyle/>
          <a:p/>
        </p:txBody>
      </p:sp>
      <p:cxnSp>
        <p:nvCxnSpPr>
          <p:cNvPr id="27" name="Connector 26"/>
          <p:cNvCxnSpPr/>
          <p:nvPr/>
        </p:nvCxnSpPr>
        <p:spPr>
          <a:xfrm>
            <a:off x="685800" y="5132832"/>
            <a:ext cx="5135727" cy="0"/>
          </a:xfrm>
          <a:prstGeom prst="line">
            <a:avLst/>
          </a:prstGeom>
          <a:ln w="12700">
            <a:solidFill>
              <a:srgbClr val="D9D9D9"/>
            </a:solidFill>
            <a:prstDash val="dash"/>
          </a:ln>
        </p:spPr>
      </p:cxnSp>
      <p:cxnSp>
        <p:nvCxnSpPr>
          <p:cNvPr id="28" name="Connector 27"/>
          <p:cNvCxnSpPr/>
          <p:nvPr/>
        </p:nvCxnSpPr>
        <p:spPr>
          <a:xfrm>
            <a:off x="685800" y="5711952"/>
            <a:ext cx="5135727" cy="0"/>
          </a:xfrm>
          <a:prstGeom prst="line">
            <a:avLst/>
          </a:prstGeom>
          <a:ln w="12700">
            <a:solidFill>
              <a:srgbClr val="D9D9D9"/>
            </a:solidFill>
            <a:prstDash val="dash"/>
          </a:ln>
        </p:spPr>
      </p:cxnSp>
      <p:sp>
        <p:nvSpPr>
          <p:cNvPr id="29" name="Rounded Rectangle 28"/>
          <p:cNvSpPr/>
          <p:nvPr/>
        </p:nvSpPr>
        <p:spPr>
          <a:xfrm>
            <a:off x="6187287" y="3867912"/>
            <a:ext cx="5501487" cy="2423160"/>
          </a:xfrm>
          <a:prstGeom prst="roundRect">
            <a:avLst>
              <a:gd name="adj" fmla="val 5000"/>
            </a:avLst>
          </a:prstGeom>
          <a:solidFill>
            <a:srgbClr val="FFFFFF"/>
          </a:solidFill>
          <a:ln>
            <a:noFill/>
          </a:ln>
          <a:effectLst/>
        </p:spPr>
        <p:txBody>
          <a:bodyPr rtlCol="0" anchor="ctr"/>
          <a:lstStyle/>
          <a:p/>
        </p:txBody>
      </p:sp>
      <p:sp>
        <p:nvSpPr>
          <p:cNvPr id="30" name="Rounded Rectangle 29"/>
          <p:cNvSpPr/>
          <p:nvPr/>
        </p:nvSpPr>
        <p:spPr>
          <a:xfrm>
            <a:off x="6187287" y="3867912"/>
            <a:ext cx="5501487" cy="685800"/>
          </a:xfrm>
          <a:prstGeom prst="roundRect">
            <a:avLst>
              <a:gd name="adj" fmla="val 25000"/>
            </a:avLst>
          </a:prstGeom>
          <a:solidFill>
            <a:srgbClr val="2C6696"/>
          </a:solidFill>
          <a:ln>
            <a:noFill/>
          </a:ln>
          <a:effectLst/>
        </p:spPr>
        <p:txBody>
          <a:bodyPr rtlCol="0" anchor="ctr"/>
          <a:lstStyle/>
          <a:p/>
        </p:txBody>
      </p:sp>
      <p:sp>
        <p:nvSpPr>
          <p:cNvPr id="31" name="Rectangle 30"/>
          <p:cNvSpPr/>
          <p:nvPr/>
        </p:nvSpPr>
        <p:spPr>
          <a:xfrm>
            <a:off x="6187287" y="4210812"/>
            <a:ext cx="5501487" cy="342900"/>
          </a:xfrm>
          <a:prstGeom prst="rect">
            <a:avLst/>
          </a:prstGeom>
          <a:solidFill>
            <a:srgbClr val="2C6696"/>
          </a:solidFill>
          <a:ln>
            <a:noFill/>
          </a:ln>
          <a:effectLst/>
        </p:spPr>
        <p:txBody>
          <a:bodyPr rtlCol="0" anchor="ctr"/>
          <a:lstStyle/>
          <a:p/>
        </p:txBody>
      </p:sp>
      <p:sp>
        <p:nvSpPr>
          <p:cNvPr id="32" name="TextBox 31"/>
          <p:cNvSpPr txBox="1"/>
          <p:nvPr/>
        </p:nvSpPr>
        <p:spPr>
          <a:xfrm>
            <a:off x="6278727" y="3867912"/>
            <a:ext cx="5318607" cy="6858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İnsandan gelenler</a:t>
            </a:r>
          </a:p>
        </p:txBody>
      </p:sp>
      <p:sp>
        <p:nvSpPr>
          <p:cNvPr id="33" name="Rounded Rectangle 32"/>
          <p:cNvSpPr/>
          <p:nvPr/>
        </p:nvSpPr>
        <p:spPr>
          <a:xfrm>
            <a:off x="6187287" y="3867912"/>
            <a:ext cx="5501487" cy="2423160"/>
          </a:xfrm>
          <a:prstGeom prst="roundRect">
            <a:avLst>
              <a:gd name="adj" fmla="val 5000"/>
            </a:avLst>
          </a:prstGeom>
          <a:noFill/>
          <a:ln w="12700">
            <a:solidFill>
              <a:srgbClr val="D9D9D9"/>
            </a:solidFill>
          </a:ln>
          <a:effectLst/>
        </p:spPr>
        <p:txBody>
          <a:bodyPr rtlCol="0" anchor="ctr"/>
          <a:lstStyle/>
          <a:p/>
        </p:txBody>
      </p:sp>
      <p:cxnSp>
        <p:nvCxnSpPr>
          <p:cNvPr id="34" name="Connector 33"/>
          <p:cNvCxnSpPr/>
          <p:nvPr/>
        </p:nvCxnSpPr>
        <p:spPr>
          <a:xfrm>
            <a:off x="6370167" y="5132832"/>
            <a:ext cx="5135727" cy="0"/>
          </a:xfrm>
          <a:prstGeom prst="line">
            <a:avLst/>
          </a:prstGeom>
          <a:ln w="12700">
            <a:solidFill>
              <a:srgbClr val="D9D9D9"/>
            </a:solidFill>
            <a:prstDash val="dash"/>
          </a:ln>
        </p:spPr>
      </p:cxnSp>
      <p:cxnSp>
        <p:nvCxnSpPr>
          <p:cNvPr id="35" name="Connector 34"/>
          <p:cNvCxnSpPr/>
          <p:nvPr/>
        </p:nvCxnSpPr>
        <p:spPr>
          <a:xfrm>
            <a:off x="6370167" y="5711952"/>
            <a:ext cx="5135727" cy="0"/>
          </a:xfrm>
          <a:prstGeom prst="line">
            <a:avLst/>
          </a:prstGeom>
          <a:ln w="12700">
            <a:solidFill>
              <a:srgbClr val="D9D9D9"/>
            </a:solidFill>
            <a:prstDash val="dash"/>
          </a:ln>
        </p:spPr>
      </p:cxnSp>
      <p:sp>
        <p:nvSpPr>
          <p:cNvPr id="36" name="TextBox 3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37" name="Rounded Rectangle 3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173</a:t>
            </a:r>
          </a:p>
        </p:txBody>
      </p:sp>
      <p:sp>
        <p:nvSpPr>
          <p:cNvPr id="38" name="TextBox 3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17 / 166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Köprü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5478627" cy="2514600"/>
          </a:xfrm>
          <a:prstGeom prst="roundRect">
            <a:avLst>
              <a:gd name="adj" fmla="val 6000"/>
            </a:avLst>
          </a:prstGeom>
          <a:solidFill>
            <a:srgbClr val="E3F1E4"/>
          </a:solidFill>
          <a:ln>
            <a:noFill/>
          </a:ln>
          <a:effectLst/>
        </p:spPr>
        <p:txBody>
          <a:bodyPr rtlCol="0" anchor="ctr"/>
          <a:lstStyle/>
          <a:p/>
        </p:txBody>
      </p:sp>
      <p:sp>
        <p:nvSpPr>
          <p:cNvPr id="7" name="Rectangle 6"/>
          <p:cNvSpPr/>
          <p:nvPr/>
        </p:nvSpPr>
        <p:spPr>
          <a:xfrm>
            <a:off x="502920" y="1216152"/>
            <a:ext cx="109728" cy="2514600"/>
          </a:xfrm>
          <a:prstGeom prst="rect">
            <a:avLst/>
          </a:prstGeom>
          <a:solidFill>
            <a:srgbClr val="2E7D32"/>
          </a:solidFill>
          <a:ln>
            <a:noFill/>
          </a:ln>
          <a:effectLst/>
        </p:spPr>
        <p:txBody>
          <a:bodyPr rtlCol="0" anchor="ctr"/>
          <a:lstStyle/>
          <a:p/>
        </p:txBody>
      </p:sp>
      <p:sp>
        <p:nvSpPr>
          <p:cNvPr id="8" name="TextBox 7"/>
          <p:cNvSpPr txBox="1"/>
          <p:nvPr/>
        </p:nvSpPr>
        <p:spPr>
          <a:xfrm>
            <a:off x="731520" y="1271016"/>
            <a:ext cx="5158587" cy="2404872"/>
          </a:xfrm>
          <a:prstGeom prst="rect">
            <a:avLst/>
          </a:prstGeom>
          <a:noFill/>
        </p:spPr>
        <p:txBody>
          <a:bodyPr wrap="square" anchor="ctr" lIns="73152" rIns="73152" tIns="36576" bIns="36576">
            <a:noAutofit/>
          </a:bodyPr>
          <a:lstStyle/>
          <a:p>
            <a:pPr algn="l">
              <a:spcBef>
                <a:spcPts val="0"/>
              </a:spcBef>
              <a:spcAft>
                <a:spcPts val="400"/>
              </a:spcAft>
            </a:pPr>
            <a:r>
              <a:rPr lang="tr-TR" sz="2000" b="1" i="0">
                <a:solidFill>
                  <a:srgbClr val="2E7D32"/>
                </a:solidFill>
                <a:latin typeface="Calibri"/>
              </a:rPr>
              <a:t>Demir-çelik fabrikası (kitap s. 175)</a:t>
            </a:r>
          </a:p>
          <a:p>
            <a:pPr algn="l" marL="248620" indent="-248620">
              <a:spcBef>
                <a:spcPts val="0"/>
              </a:spcBef>
              <a:spcAft>
                <a:spcPts val="500"/>
              </a:spcAft>
            </a:pPr>
            <a:r>
              <a:rPr lang="tr-TR" sz="2000" b="1" i="0">
                <a:solidFill>
                  <a:srgbClr val="2C6696"/>
                </a:solidFill>
                <a:latin typeface="Calibri"/>
              </a:rPr>
              <a:t>•  </a:t>
            </a:r>
            <a:r>
              <a:rPr lang="tr-TR" sz="2000" b="0" i="0">
                <a:solidFill>
                  <a:srgbClr val="262626"/>
                </a:solidFill>
                <a:latin typeface="Calibri"/>
              </a:rPr>
              <a:t>Enerji kaynağına (taş kömürü) yakın</a:t>
            </a:r>
          </a:p>
          <a:p>
            <a:pPr algn="l" marL="248620" indent="-248620">
              <a:spcBef>
                <a:spcPts val="0"/>
              </a:spcBef>
              <a:spcAft>
                <a:spcPts val="500"/>
              </a:spcAft>
            </a:pPr>
            <a:r>
              <a:rPr lang="tr-TR" sz="2000" b="1" i="0">
                <a:solidFill>
                  <a:srgbClr val="2C6696"/>
                </a:solidFill>
                <a:latin typeface="Calibri"/>
              </a:rPr>
              <a:t>•  </a:t>
            </a:r>
            <a:r>
              <a:rPr lang="tr-TR" sz="2000" b="0" i="0">
                <a:solidFill>
                  <a:srgbClr val="262626"/>
                </a:solidFill>
                <a:latin typeface="Calibri"/>
              </a:rPr>
              <a:t>Su kaynağına yakın</a:t>
            </a:r>
          </a:p>
          <a:p>
            <a:pPr algn="l" marL="248620" indent="-248620">
              <a:spcBef>
                <a:spcPts val="0"/>
              </a:spcBef>
              <a:spcAft>
                <a:spcPts val="0"/>
              </a:spcAft>
            </a:pPr>
            <a:r>
              <a:rPr lang="tr-TR" sz="2000" b="1" i="0">
                <a:solidFill>
                  <a:srgbClr val="2C6696"/>
                </a:solidFill>
                <a:latin typeface="Calibri"/>
              </a:rPr>
              <a:t>•  </a:t>
            </a:r>
            <a:r>
              <a:rPr lang="tr-TR" sz="2000" b="0" i="0">
                <a:solidFill>
                  <a:srgbClr val="262626"/>
                </a:solidFill>
                <a:latin typeface="Calibri"/>
              </a:rPr>
              <a:t>Liman, demir yolu; iş gücü</a:t>
            </a:r>
          </a:p>
        </p:txBody>
      </p:sp>
      <p:sp>
        <p:nvSpPr>
          <p:cNvPr id="9" name="Rounded Rectangle 8"/>
          <p:cNvSpPr/>
          <p:nvPr/>
        </p:nvSpPr>
        <p:spPr>
          <a:xfrm>
            <a:off x="6210147" y="1216152"/>
            <a:ext cx="5478627" cy="2514600"/>
          </a:xfrm>
          <a:prstGeom prst="roundRect">
            <a:avLst>
              <a:gd name="adj" fmla="val 6000"/>
            </a:avLst>
          </a:prstGeom>
          <a:solidFill>
            <a:srgbClr val="E3F1E4"/>
          </a:solidFill>
          <a:ln>
            <a:noFill/>
          </a:ln>
          <a:effectLst/>
        </p:spPr>
        <p:txBody>
          <a:bodyPr rtlCol="0" anchor="ctr"/>
          <a:lstStyle/>
          <a:p/>
        </p:txBody>
      </p:sp>
      <p:sp>
        <p:nvSpPr>
          <p:cNvPr id="10" name="Rectangle 9"/>
          <p:cNvSpPr/>
          <p:nvPr/>
        </p:nvSpPr>
        <p:spPr>
          <a:xfrm>
            <a:off x="6210147" y="1216152"/>
            <a:ext cx="109728" cy="2514600"/>
          </a:xfrm>
          <a:prstGeom prst="rect">
            <a:avLst/>
          </a:prstGeom>
          <a:solidFill>
            <a:srgbClr val="2E7D32"/>
          </a:solidFill>
          <a:ln>
            <a:noFill/>
          </a:ln>
          <a:effectLst/>
        </p:spPr>
        <p:txBody>
          <a:bodyPr rtlCol="0" anchor="ctr"/>
          <a:lstStyle/>
          <a:p/>
        </p:txBody>
      </p:sp>
      <p:sp>
        <p:nvSpPr>
          <p:cNvPr id="11" name="TextBox 10"/>
          <p:cNvSpPr txBox="1"/>
          <p:nvPr/>
        </p:nvSpPr>
        <p:spPr>
          <a:xfrm>
            <a:off x="6438747" y="1271016"/>
            <a:ext cx="5158587" cy="2404872"/>
          </a:xfrm>
          <a:prstGeom prst="rect">
            <a:avLst/>
          </a:prstGeom>
          <a:noFill/>
        </p:spPr>
        <p:txBody>
          <a:bodyPr wrap="square" anchor="ctr" lIns="73152" rIns="73152" tIns="36576" bIns="36576">
            <a:noAutofit/>
          </a:bodyPr>
          <a:lstStyle/>
          <a:p>
            <a:pPr algn="l">
              <a:spcBef>
                <a:spcPts val="0"/>
              </a:spcBef>
              <a:spcAft>
                <a:spcPts val="400"/>
              </a:spcAft>
            </a:pPr>
            <a:r>
              <a:rPr lang="tr-TR" sz="2000" b="1" i="0">
                <a:solidFill>
                  <a:srgbClr val="2E7D32"/>
                </a:solidFill>
                <a:latin typeface="Calibri"/>
              </a:rPr>
              <a:t>Süt ürünleri fabrikası</a:t>
            </a:r>
          </a:p>
          <a:p>
            <a:pPr algn="l" marL="248620" indent="-248620">
              <a:spcBef>
                <a:spcPts val="0"/>
              </a:spcBef>
              <a:spcAft>
                <a:spcPts val="500"/>
              </a:spcAft>
            </a:pPr>
            <a:r>
              <a:rPr lang="tr-TR" sz="2000" b="1" i="0">
                <a:solidFill>
                  <a:srgbClr val="2C6696"/>
                </a:solidFill>
                <a:latin typeface="Calibri"/>
              </a:rPr>
              <a:t>•  </a:t>
            </a:r>
            <a:r>
              <a:rPr lang="tr-TR" sz="2000" b="0" i="0">
                <a:solidFill>
                  <a:srgbClr val="262626"/>
                </a:solidFill>
                <a:latin typeface="Calibri"/>
              </a:rPr>
              <a:t>Hayvancılık yapılan çayır-mera alanlarına yakın</a:t>
            </a:r>
          </a:p>
          <a:p>
            <a:pPr algn="l" marL="248620" indent="-248620">
              <a:spcBef>
                <a:spcPts val="0"/>
              </a:spcBef>
              <a:spcAft>
                <a:spcPts val="500"/>
              </a:spcAft>
            </a:pPr>
            <a:r>
              <a:rPr lang="tr-TR" sz="2000" b="1" i="0">
                <a:solidFill>
                  <a:srgbClr val="2C6696"/>
                </a:solidFill>
                <a:latin typeface="Calibri"/>
              </a:rPr>
              <a:t>•  </a:t>
            </a:r>
            <a:r>
              <a:rPr lang="tr-TR" sz="2000" b="0" i="0">
                <a:solidFill>
                  <a:srgbClr val="262626"/>
                </a:solidFill>
                <a:latin typeface="Calibri"/>
              </a:rPr>
              <a:t>Ürün çabuk bozulur: şehirlere (pazara) ve iyi yollara yakın</a:t>
            </a:r>
          </a:p>
          <a:p>
            <a:pPr algn="l" marL="248620" indent="-248620">
              <a:spcBef>
                <a:spcPts val="0"/>
              </a:spcBef>
              <a:spcAft>
                <a:spcPts val="0"/>
              </a:spcAft>
            </a:pPr>
            <a:r>
              <a:rPr lang="tr-TR" sz="2000" b="1" i="0">
                <a:solidFill>
                  <a:srgbClr val="2C6696"/>
                </a:solidFill>
                <a:latin typeface="Calibri"/>
              </a:rPr>
              <a:t>•  </a:t>
            </a:r>
            <a:r>
              <a:rPr lang="tr-TR" sz="2000" b="0" i="0">
                <a:solidFill>
                  <a:srgbClr val="262626"/>
                </a:solidFill>
                <a:latin typeface="Calibri"/>
              </a:rPr>
              <a:t>Su ve enerji</a:t>
            </a:r>
          </a:p>
        </p:txBody>
      </p:sp>
      <p:sp>
        <p:nvSpPr>
          <p:cNvPr id="12" name="Rounded Rectangle 11"/>
          <p:cNvSpPr/>
          <p:nvPr/>
        </p:nvSpPr>
        <p:spPr>
          <a:xfrm>
            <a:off x="502920" y="3913632"/>
            <a:ext cx="5478627" cy="502920"/>
          </a:xfrm>
          <a:prstGeom prst="roundRect">
            <a:avLst>
              <a:gd name="adj" fmla="val 20000"/>
            </a:avLst>
          </a:prstGeom>
          <a:solidFill>
            <a:srgbClr val="3E8E41"/>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DOĞAL faktörler · doğadan</a:t>
            </a:r>
          </a:p>
        </p:txBody>
      </p:sp>
      <p:sp>
        <p:nvSpPr>
          <p:cNvPr id="13" name="Rounded Rectangle 12"/>
          <p:cNvSpPr/>
          <p:nvPr/>
        </p:nvSpPr>
        <p:spPr>
          <a:xfrm>
            <a:off x="502920" y="4535424"/>
            <a:ext cx="1618427" cy="420624"/>
          </a:xfrm>
          <a:prstGeom prst="roundRect">
            <a:avLst>
              <a:gd name="adj" fmla="val 50000"/>
            </a:avLst>
          </a:prstGeom>
          <a:solidFill>
            <a:srgbClr val="FFFFFF"/>
          </a:solidFill>
          <a:ln w="19050">
            <a:solidFill>
              <a:srgbClr val="3E8E41"/>
            </a:solidFill>
          </a:ln>
          <a:effectLst/>
        </p:spPr>
        <p:txBody>
          <a:bodyPr rtlCol="0" anchor="ctr" wrap="square" lIns="54864" rIns="54864" tIns="0" bIns="0">
            <a:noAutofit/>
          </a:bodyPr>
          <a:lstStyle/>
          <a:p>
            <a:pPr algn="ctr">
              <a:spcBef>
                <a:spcPts val="0"/>
              </a:spcBef>
              <a:spcAft>
                <a:spcPts val="0"/>
              </a:spcAft>
            </a:pPr>
            <a:r>
              <a:rPr lang="tr-TR" sz="1700" b="0" i="0">
                <a:solidFill>
                  <a:srgbClr val="262626"/>
                </a:solidFill>
                <a:latin typeface="Calibri"/>
              </a:rPr>
              <a:t>enerji kaynağı</a:t>
            </a:r>
          </a:p>
        </p:txBody>
      </p:sp>
      <p:sp>
        <p:nvSpPr>
          <p:cNvPr id="14" name="Rounded Rectangle 13"/>
          <p:cNvSpPr/>
          <p:nvPr/>
        </p:nvSpPr>
        <p:spPr>
          <a:xfrm>
            <a:off x="2212787" y="4535424"/>
            <a:ext cx="1448656" cy="420624"/>
          </a:xfrm>
          <a:prstGeom prst="roundRect">
            <a:avLst>
              <a:gd name="adj" fmla="val 50000"/>
            </a:avLst>
          </a:prstGeom>
          <a:solidFill>
            <a:srgbClr val="FFFFFF"/>
          </a:solidFill>
          <a:ln w="19050">
            <a:solidFill>
              <a:srgbClr val="3E8E41"/>
            </a:solidFill>
          </a:ln>
          <a:effectLst/>
        </p:spPr>
        <p:txBody>
          <a:bodyPr rtlCol="0" anchor="ctr" wrap="square" lIns="54864" rIns="54864" tIns="0" bIns="0">
            <a:noAutofit/>
          </a:bodyPr>
          <a:lstStyle/>
          <a:p>
            <a:pPr algn="ctr">
              <a:spcBef>
                <a:spcPts val="0"/>
              </a:spcBef>
              <a:spcAft>
                <a:spcPts val="0"/>
              </a:spcAft>
            </a:pPr>
            <a:r>
              <a:rPr lang="tr-TR" sz="1700" b="0" i="0">
                <a:solidFill>
                  <a:srgbClr val="262626"/>
                </a:solidFill>
                <a:latin typeface="Calibri"/>
              </a:rPr>
              <a:t>ham madde</a:t>
            </a:r>
          </a:p>
        </p:txBody>
      </p:sp>
      <p:sp>
        <p:nvSpPr>
          <p:cNvPr id="15" name="Rounded Rectangle 14"/>
          <p:cNvSpPr/>
          <p:nvPr/>
        </p:nvSpPr>
        <p:spPr>
          <a:xfrm>
            <a:off x="3752883" y="4535424"/>
            <a:ext cx="572630" cy="420624"/>
          </a:xfrm>
          <a:prstGeom prst="roundRect">
            <a:avLst>
              <a:gd name="adj" fmla="val 50000"/>
            </a:avLst>
          </a:prstGeom>
          <a:solidFill>
            <a:srgbClr val="FFFFFF"/>
          </a:solidFill>
          <a:ln w="19050">
            <a:solidFill>
              <a:srgbClr val="3E8E41"/>
            </a:solidFill>
          </a:ln>
          <a:effectLst/>
        </p:spPr>
        <p:txBody>
          <a:bodyPr rtlCol="0" anchor="ctr" wrap="square" lIns="54864" rIns="54864" tIns="0" bIns="0">
            <a:noAutofit/>
          </a:bodyPr>
          <a:lstStyle/>
          <a:p>
            <a:pPr algn="ctr">
              <a:spcBef>
                <a:spcPts val="0"/>
              </a:spcBef>
              <a:spcAft>
                <a:spcPts val="0"/>
              </a:spcAft>
            </a:pPr>
            <a:r>
              <a:rPr lang="tr-TR" sz="1700" b="0" i="0">
                <a:solidFill>
                  <a:srgbClr val="262626"/>
                </a:solidFill>
                <a:latin typeface="Calibri"/>
              </a:rPr>
              <a:t>su</a:t>
            </a:r>
          </a:p>
        </p:txBody>
      </p:sp>
      <p:sp>
        <p:nvSpPr>
          <p:cNvPr id="16" name="Rounded Rectangle 15"/>
          <p:cNvSpPr/>
          <p:nvPr/>
        </p:nvSpPr>
        <p:spPr>
          <a:xfrm>
            <a:off x="4416953" y="4535424"/>
            <a:ext cx="1165543" cy="420624"/>
          </a:xfrm>
          <a:prstGeom prst="roundRect">
            <a:avLst>
              <a:gd name="adj" fmla="val 50000"/>
            </a:avLst>
          </a:prstGeom>
          <a:solidFill>
            <a:srgbClr val="FFFFFF"/>
          </a:solidFill>
          <a:ln w="19050">
            <a:solidFill>
              <a:srgbClr val="3E8E41"/>
            </a:solidFill>
          </a:ln>
          <a:effectLst/>
        </p:spPr>
        <p:txBody>
          <a:bodyPr rtlCol="0" anchor="ctr" wrap="square" lIns="54864" rIns="54864" tIns="0" bIns="0">
            <a:noAutofit/>
          </a:bodyPr>
          <a:lstStyle/>
          <a:p>
            <a:pPr algn="ctr">
              <a:spcBef>
                <a:spcPts val="0"/>
              </a:spcBef>
              <a:spcAft>
                <a:spcPts val="0"/>
              </a:spcAft>
            </a:pPr>
            <a:r>
              <a:rPr lang="tr-TR" sz="1700" b="0" i="0">
                <a:solidFill>
                  <a:srgbClr val="262626"/>
                </a:solidFill>
                <a:latin typeface="Calibri"/>
              </a:rPr>
              <a:t>düz arazi</a:t>
            </a:r>
          </a:p>
        </p:txBody>
      </p:sp>
      <p:sp>
        <p:nvSpPr>
          <p:cNvPr id="17" name="Rounded Rectangle 16"/>
          <p:cNvSpPr/>
          <p:nvPr/>
        </p:nvSpPr>
        <p:spPr>
          <a:xfrm>
            <a:off x="502920" y="5047488"/>
            <a:ext cx="800671" cy="420624"/>
          </a:xfrm>
          <a:prstGeom prst="roundRect">
            <a:avLst>
              <a:gd name="adj" fmla="val 50000"/>
            </a:avLst>
          </a:prstGeom>
          <a:solidFill>
            <a:srgbClr val="FFFFFF"/>
          </a:solidFill>
          <a:ln w="19050">
            <a:solidFill>
              <a:srgbClr val="3E8E41"/>
            </a:solidFill>
          </a:ln>
          <a:effectLst/>
        </p:spPr>
        <p:txBody>
          <a:bodyPr rtlCol="0" anchor="ctr" wrap="square" lIns="54864" rIns="54864" tIns="0" bIns="0">
            <a:noAutofit/>
          </a:bodyPr>
          <a:lstStyle/>
          <a:p>
            <a:pPr algn="ctr">
              <a:spcBef>
                <a:spcPts val="0"/>
              </a:spcBef>
              <a:spcAft>
                <a:spcPts val="0"/>
              </a:spcAft>
            </a:pPr>
            <a:r>
              <a:rPr lang="tr-TR" sz="1700" b="0" i="0">
                <a:solidFill>
                  <a:srgbClr val="262626"/>
                </a:solidFill>
                <a:latin typeface="Calibri"/>
              </a:rPr>
              <a:t>iklim</a:t>
            </a:r>
          </a:p>
        </p:txBody>
      </p:sp>
      <p:sp>
        <p:nvSpPr>
          <p:cNvPr id="18" name="Rounded Rectangle 17"/>
          <p:cNvSpPr/>
          <p:nvPr/>
        </p:nvSpPr>
        <p:spPr>
          <a:xfrm>
            <a:off x="6210147" y="3913632"/>
            <a:ext cx="5478627" cy="502920"/>
          </a:xfrm>
          <a:prstGeom prst="roundRect">
            <a:avLst>
              <a:gd name="adj" fmla="val 20000"/>
            </a:avLst>
          </a:prstGeom>
          <a:solidFill>
            <a:srgbClr val="2C6696"/>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BEŞERÎ faktörler · insandan</a:t>
            </a:r>
          </a:p>
        </p:txBody>
      </p:sp>
      <p:sp>
        <p:nvSpPr>
          <p:cNvPr id="19" name="Rounded Rectangle 18"/>
          <p:cNvSpPr/>
          <p:nvPr/>
        </p:nvSpPr>
        <p:spPr>
          <a:xfrm>
            <a:off x="6210147" y="4535424"/>
            <a:ext cx="958906" cy="420624"/>
          </a:xfrm>
          <a:prstGeom prst="roundRect">
            <a:avLst>
              <a:gd name="adj" fmla="val 50000"/>
            </a:avLst>
          </a:prstGeom>
          <a:solidFill>
            <a:srgbClr val="FFFFFF"/>
          </a:solidFill>
          <a:ln w="19050">
            <a:solidFill>
              <a:srgbClr val="2C6696"/>
            </a:solidFill>
          </a:ln>
          <a:effectLst/>
        </p:spPr>
        <p:txBody>
          <a:bodyPr rtlCol="0" anchor="ctr" wrap="square" lIns="54864" rIns="54864" tIns="0" bIns="0">
            <a:noAutofit/>
          </a:bodyPr>
          <a:lstStyle/>
          <a:p>
            <a:pPr algn="ctr">
              <a:spcBef>
                <a:spcPts val="0"/>
              </a:spcBef>
              <a:spcAft>
                <a:spcPts val="0"/>
              </a:spcAft>
            </a:pPr>
            <a:r>
              <a:rPr lang="tr-TR" sz="1700" b="0" i="0">
                <a:solidFill>
                  <a:srgbClr val="262626"/>
                </a:solidFill>
                <a:latin typeface="Calibri"/>
              </a:rPr>
              <a:t>ulaşım</a:t>
            </a:r>
          </a:p>
        </p:txBody>
      </p:sp>
      <p:sp>
        <p:nvSpPr>
          <p:cNvPr id="20" name="Rounded Rectangle 19"/>
          <p:cNvSpPr/>
          <p:nvPr/>
        </p:nvSpPr>
        <p:spPr>
          <a:xfrm>
            <a:off x="7260493" y="4535424"/>
            <a:ext cx="1550950" cy="420624"/>
          </a:xfrm>
          <a:prstGeom prst="roundRect">
            <a:avLst>
              <a:gd name="adj" fmla="val 50000"/>
            </a:avLst>
          </a:prstGeom>
          <a:solidFill>
            <a:srgbClr val="FFFFFF"/>
          </a:solidFill>
          <a:ln w="19050">
            <a:solidFill>
              <a:srgbClr val="2C6696"/>
            </a:solidFill>
          </a:ln>
          <a:effectLst/>
        </p:spPr>
        <p:txBody>
          <a:bodyPr rtlCol="0" anchor="ctr" wrap="square" lIns="54864" rIns="54864" tIns="0" bIns="0">
            <a:noAutofit/>
          </a:bodyPr>
          <a:lstStyle/>
          <a:p>
            <a:pPr algn="ctr">
              <a:spcBef>
                <a:spcPts val="0"/>
              </a:spcBef>
              <a:spcAft>
                <a:spcPts val="0"/>
              </a:spcAft>
            </a:pPr>
            <a:r>
              <a:rPr lang="tr-TR" sz="1700" b="0" i="0">
                <a:solidFill>
                  <a:srgbClr val="262626"/>
                </a:solidFill>
                <a:latin typeface="Calibri"/>
              </a:rPr>
              <a:t>pazar (nüfus)</a:t>
            </a:r>
          </a:p>
        </p:txBody>
      </p:sp>
      <p:sp>
        <p:nvSpPr>
          <p:cNvPr id="21" name="Rounded Rectangle 20"/>
          <p:cNvSpPr/>
          <p:nvPr/>
        </p:nvSpPr>
        <p:spPr>
          <a:xfrm>
            <a:off x="8902883" y="4535424"/>
            <a:ext cx="989517" cy="420624"/>
          </a:xfrm>
          <a:prstGeom prst="roundRect">
            <a:avLst>
              <a:gd name="adj" fmla="val 50000"/>
            </a:avLst>
          </a:prstGeom>
          <a:solidFill>
            <a:srgbClr val="FFFFFF"/>
          </a:solidFill>
          <a:ln w="19050">
            <a:solidFill>
              <a:srgbClr val="2C6696"/>
            </a:solidFill>
          </a:ln>
          <a:effectLst/>
        </p:spPr>
        <p:txBody>
          <a:bodyPr rtlCol="0" anchor="ctr" wrap="square" lIns="54864" rIns="54864" tIns="0" bIns="0">
            <a:noAutofit/>
          </a:bodyPr>
          <a:lstStyle/>
          <a:p>
            <a:pPr algn="ctr">
              <a:spcBef>
                <a:spcPts val="0"/>
              </a:spcBef>
              <a:spcAft>
                <a:spcPts val="0"/>
              </a:spcAft>
            </a:pPr>
            <a:r>
              <a:rPr lang="tr-TR" sz="1700" b="0" i="0">
                <a:solidFill>
                  <a:srgbClr val="262626"/>
                </a:solidFill>
                <a:latin typeface="Calibri"/>
              </a:rPr>
              <a:t>iş gücü</a:t>
            </a:r>
          </a:p>
        </p:txBody>
      </p:sp>
      <p:sp>
        <p:nvSpPr>
          <p:cNvPr id="22" name="Rounded Rectangle 21"/>
          <p:cNvSpPr/>
          <p:nvPr/>
        </p:nvSpPr>
        <p:spPr>
          <a:xfrm>
            <a:off x="9983840" y="4535424"/>
            <a:ext cx="1132568" cy="420624"/>
          </a:xfrm>
          <a:prstGeom prst="roundRect">
            <a:avLst>
              <a:gd name="adj" fmla="val 50000"/>
            </a:avLst>
          </a:prstGeom>
          <a:solidFill>
            <a:srgbClr val="FFFFFF"/>
          </a:solidFill>
          <a:ln w="19050">
            <a:solidFill>
              <a:srgbClr val="2C6696"/>
            </a:solidFill>
          </a:ln>
          <a:effectLst/>
        </p:spPr>
        <p:txBody>
          <a:bodyPr rtlCol="0" anchor="ctr" wrap="square" lIns="54864" rIns="54864" tIns="0" bIns="0">
            <a:noAutofit/>
          </a:bodyPr>
          <a:lstStyle/>
          <a:p>
            <a:pPr algn="ctr">
              <a:spcBef>
                <a:spcPts val="0"/>
              </a:spcBef>
              <a:spcAft>
                <a:spcPts val="0"/>
              </a:spcAft>
            </a:pPr>
            <a:r>
              <a:rPr lang="tr-TR" sz="1700" b="0" i="0">
                <a:solidFill>
                  <a:srgbClr val="262626"/>
                </a:solidFill>
                <a:latin typeface="Calibri"/>
              </a:rPr>
              <a:t>sermaye</a:t>
            </a:r>
          </a:p>
        </p:txBody>
      </p:sp>
      <p:sp>
        <p:nvSpPr>
          <p:cNvPr id="23" name="Rounded Rectangle 22"/>
          <p:cNvSpPr/>
          <p:nvPr/>
        </p:nvSpPr>
        <p:spPr>
          <a:xfrm>
            <a:off x="6210147" y="5047488"/>
            <a:ext cx="1159288" cy="420624"/>
          </a:xfrm>
          <a:prstGeom prst="roundRect">
            <a:avLst>
              <a:gd name="adj" fmla="val 50000"/>
            </a:avLst>
          </a:prstGeom>
          <a:solidFill>
            <a:srgbClr val="FFFFFF"/>
          </a:solidFill>
          <a:ln w="19050">
            <a:solidFill>
              <a:srgbClr val="2C6696"/>
            </a:solidFill>
          </a:ln>
          <a:effectLst/>
        </p:spPr>
        <p:txBody>
          <a:bodyPr rtlCol="0" anchor="ctr" wrap="square" lIns="54864" rIns="54864" tIns="0" bIns="0">
            <a:noAutofit/>
          </a:bodyPr>
          <a:lstStyle/>
          <a:p>
            <a:pPr algn="ctr">
              <a:spcBef>
                <a:spcPts val="0"/>
              </a:spcBef>
              <a:spcAft>
                <a:spcPts val="0"/>
              </a:spcAft>
            </a:pPr>
            <a:r>
              <a:rPr lang="tr-TR" sz="1700" b="0" i="0">
                <a:solidFill>
                  <a:srgbClr val="262626"/>
                </a:solidFill>
                <a:latin typeface="Calibri"/>
              </a:rPr>
              <a:t>teknoloji</a:t>
            </a:r>
          </a:p>
        </p:txBody>
      </p:sp>
      <p:sp>
        <p:nvSpPr>
          <p:cNvPr id="24" name="Rounded Rectangle 23"/>
          <p:cNvSpPr/>
          <p:nvPr/>
        </p:nvSpPr>
        <p:spPr>
          <a:xfrm>
            <a:off x="7460875" y="5047488"/>
            <a:ext cx="1631353" cy="420624"/>
          </a:xfrm>
          <a:prstGeom prst="roundRect">
            <a:avLst>
              <a:gd name="adj" fmla="val 50000"/>
            </a:avLst>
          </a:prstGeom>
          <a:solidFill>
            <a:srgbClr val="FFFFFF"/>
          </a:solidFill>
          <a:ln w="19050">
            <a:solidFill>
              <a:srgbClr val="2C6696"/>
            </a:solidFill>
          </a:ln>
          <a:effectLst/>
        </p:spPr>
        <p:txBody>
          <a:bodyPr rtlCol="0" anchor="ctr" wrap="square" lIns="54864" rIns="54864" tIns="0" bIns="0">
            <a:noAutofit/>
          </a:bodyPr>
          <a:lstStyle/>
          <a:p>
            <a:pPr algn="ctr">
              <a:spcBef>
                <a:spcPts val="0"/>
              </a:spcBef>
              <a:spcAft>
                <a:spcPts val="0"/>
              </a:spcAft>
            </a:pPr>
            <a:r>
              <a:rPr lang="tr-TR" sz="1700" b="0" i="0">
                <a:solidFill>
                  <a:srgbClr val="262626"/>
                </a:solidFill>
                <a:latin typeface="Calibri"/>
              </a:rPr>
              <a:t>devlet desteği</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6" name="Rounded Rectangle 2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173, 175</a:t>
            </a:r>
          </a:p>
        </p:txBody>
      </p:sp>
      <p:sp>
        <p:nvSpPr>
          <p:cNvPr id="27" name="TextBox 2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18 / 166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Kavramı tanımıyla eşleştir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EŞLEŞTİR</a:t>
            </a:r>
          </a:p>
        </p:txBody>
      </p:sp>
      <p:sp>
        <p:nvSpPr>
          <p:cNvPr id="6" name="Rounded Rectangle 5"/>
          <p:cNvSpPr/>
          <p:nvPr/>
        </p:nvSpPr>
        <p:spPr>
          <a:xfrm>
            <a:off x="502920" y="1216152"/>
            <a:ext cx="3200400" cy="1147572"/>
          </a:xfrm>
          <a:prstGeom prst="roundRect">
            <a:avLst>
              <a:gd name="adj" fmla="val 15000"/>
            </a:avLst>
          </a:prstGeom>
          <a:solidFill>
            <a:srgbClr val="B85C12"/>
          </a:solidFill>
          <a:ln>
            <a:noFill/>
          </a:ln>
          <a:effectLst/>
        </p:spPr>
        <p:txBody>
          <a:bodyPr rtlCol="0" anchor="ctr" wrap="square" lIns="128016" rIns="128016" tIns="73152" bIns="73152">
            <a:noAutofit/>
          </a:bodyPr>
          <a:lstStyle/>
          <a:p>
            <a:pPr algn="ctr">
              <a:spcBef>
                <a:spcPts val="0"/>
              </a:spcBef>
              <a:spcAft>
                <a:spcPts val="0"/>
              </a:spcAft>
            </a:pPr>
            <a:r>
              <a:rPr lang="tr-TR" sz="2400" b="1" i="0">
                <a:solidFill>
                  <a:srgbClr val="FFFFFF"/>
                </a:solidFill>
                <a:latin typeface="Calibri"/>
              </a:rPr>
              <a:t>1 · Ekonomik faaliyet</a:t>
            </a:r>
          </a:p>
        </p:txBody>
      </p:sp>
      <p:sp>
        <p:nvSpPr>
          <p:cNvPr id="7" name="Rounded Rectangle 6"/>
          <p:cNvSpPr/>
          <p:nvPr/>
        </p:nvSpPr>
        <p:spPr>
          <a:xfrm>
            <a:off x="502920" y="2510028"/>
            <a:ext cx="3200400" cy="1147572"/>
          </a:xfrm>
          <a:prstGeom prst="roundRect">
            <a:avLst>
              <a:gd name="adj" fmla="val 15000"/>
            </a:avLst>
          </a:prstGeom>
          <a:solidFill>
            <a:srgbClr val="B8860B"/>
          </a:solidFill>
          <a:ln>
            <a:noFill/>
          </a:ln>
          <a:effectLst/>
        </p:spPr>
        <p:txBody>
          <a:bodyPr rtlCol="0" anchor="ctr" wrap="square" lIns="128016" rIns="128016" tIns="73152" bIns="73152">
            <a:noAutofit/>
          </a:bodyPr>
          <a:lstStyle/>
          <a:p>
            <a:pPr algn="ctr">
              <a:spcBef>
                <a:spcPts val="0"/>
              </a:spcBef>
              <a:spcAft>
                <a:spcPts val="0"/>
              </a:spcAft>
            </a:pPr>
            <a:r>
              <a:rPr lang="tr-TR" sz="2400" b="1" i="0">
                <a:solidFill>
                  <a:srgbClr val="FFFFFF"/>
                </a:solidFill>
                <a:latin typeface="Calibri"/>
              </a:rPr>
              <a:t>2 · Üretim</a:t>
            </a:r>
          </a:p>
        </p:txBody>
      </p:sp>
      <p:sp>
        <p:nvSpPr>
          <p:cNvPr id="8" name="Rounded Rectangle 7"/>
          <p:cNvSpPr/>
          <p:nvPr/>
        </p:nvSpPr>
        <p:spPr>
          <a:xfrm>
            <a:off x="502920" y="3803904"/>
            <a:ext cx="3200400" cy="1147572"/>
          </a:xfrm>
          <a:prstGeom prst="roundRect">
            <a:avLst>
              <a:gd name="adj" fmla="val 15000"/>
            </a:avLst>
          </a:prstGeom>
          <a:solidFill>
            <a:srgbClr val="1E7B6E"/>
          </a:solidFill>
          <a:ln>
            <a:noFill/>
          </a:ln>
          <a:effectLst/>
        </p:spPr>
        <p:txBody>
          <a:bodyPr rtlCol="0" anchor="ctr" wrap="square" lIns="128016" rIns="128016" tIns="73152" bIns="73152">
            <a:noAutofit/>
          </a:bodyPr>
          <a:lstStyle/>
          <a:p>
            <a:pPr algn="ctr">
              <a:spcBef>
                <a:spcPts val="0"/>
              </a:spcBef>
              <a:spcAft>
                <a:spcPts val="0"/>
              </a:spcAft>
            </a:pPr>
            <a:r>
              <a:rPr lang="tr-TR" sz="2400" b="1" i="0">
                <a:solidFill>
                  <a:srgbClr val="FFFFFF"/>
                </a:solidFill>
                <a:latin typeface="Calibri"/>
              </a:rPr>
              <a:t>3 · Dağıtım</a:t>
            </a:r>
          </a:p>
        </p:txBody>
      </p:sp>
      <p:sp>
        <p:nvSpPr>
          <p:cNvPr id="9" name="Rounded Rectangle 8"/>
          <p:cNvSpPr/>
          <p:nvPr/>
        </p:nvSpPr>
        <p:spPr>
          <a:xfrm>
            <a:off x="502920" y="5097780"/>
            <a:ext cx="3200400" cy="1147572"/>
          </a:xfrm>
          <a:prstGeom prst="roundRect">
            <a:avLst>
              <a:gd name="adj" fmla="val 15000"/>
            </a:avLst>
          </a:prstGeom>
          <a:solidFill>
            <a:srgbClr val="7A4EA0"/>
          </a:solidFill>
          <a:ln>
            <a:noFill/>
          </a:ln>
          <a:effectLst/>
        </p:spPr>
        <p:txBody>
          <a:bodyPr rtlCol="0" anchor="ctr" wrap="square" lIns="128016" rIns="128016" tIns="73152" bIns="73152">
            <a:noAutofit/>
          </a:bodyPr>
          <a:lstStyle/>
          <a:p>
            <a:pPr algn="ctr">
              <a:spcBef>
                <a:spcPts val="0"/>
              </a:spcBef>
              <a:spcAft>
                <a:spcPts val="0"/>
              </a:spcAft>
            </a:pPr>
            <a:r>
              <a:rPr lang="tr-TR" sz="2400" b="1" i="0">
                <a:solidFill>
                  <a:srgbClr val="FFFFFF"/>
                </a:solidFill>
                <a:latin typeface="Calibri"/>
              </a:rPr>
              <a:t>4 · Tüketim</a:t>
            </a:r>
          </a:p>
        </p:txBody>
      </p:sp>
      <p:sp>
        <p:nvSpPr>
          <p:cNvPr id="10" name="Rounded Rectangle 9"/>
          <p:cNvSpPr/>
          <p:nvPr/>
        </p:nvSpPr>
        <p:spPr>
          <a:xfrm>
            <a:off x="4389120" y="1216152"/>
            <a:ext cx="6613855" cy="1147572"/>
          </a:xfrm>
          <a:prstGeom prst="roundRect">
            <a:avLst>
              <a:gd name="adj" fmla="val 8000"/>
            </a:avLst>
          </a:prstGeom>
          <a:solidFill>
            <a:srgbClr val="F0F0F0"/>
          </a:solidFill>
          <a:ln>
            <a:noFill/>
          </a:ln>
          <a:effectLst/>
        </p:spPr>
        <p:txBody>
          <a:bodyPr rtlCol="0" anchor="ctr" wrap="square" lIns="137160" rIns="137160" tIns="73152" bIns="73152">
            <a:noAutofit/>
          </a:bodyPr>
          <a:lstStyle/>
          <a:p>
            <a:pPr algn="l">
              <a:spcBef>
                <a:spcPts val="0"/>
              </a:spcBef>
              <a:spcAft>
                <a:spcPts val="0"/>
              </a:spcAft>
            </a:pPr>
            <a:r>
              <a:rPr lang="tr-TR" sz="2050" b="0" i="0">
                <a:solidFill>
                  <a:srgbClr val="262626"/>
                </a:solidFill>
                <a:latin typeface="Calibri"/>
              </a:rPr>
              <a:t>Üretilen mal ve hizmetlerin bir yerden başka bir yere aktarılması.</a:t>
            </a:r>
          </a:p>
        </p:txBody>
      </p:sp>
      <p:sp>
        <p:nvSpPr>
          <p:cNvPr id="11" name="Oval 10"/>
          <p:cNvSpPr/>
          <p:nvPr/>
        </p:nvSpPr>
        <p:spPr>
          <a:xfrm>
            <a:off x="3840480" y="1561338"/>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12" name="Oval 11"/>
          <p:cNvSpPr/>
          <p:nvPr/>
        </p:nvSpPr>
        <p:spPr>
          <a:xfrm>
            <a:off x="11140135" y="1538478"/>
            <a:ext cx="502920" cy="502920"/>
          </a:xfrm>
          <a:prstGeom prst="ellipse">
            <a:avLst/>
          </a:prstGeom>
          <a:solidFill>
            <a:srgbClr val="FFFFFF"/>
          </a:solidFill>
          <a:ln w="19050">
            <a:solidFill>
              <a:srgbClr val="D9D9D9"/>
            </a:solidFill>
          </a:ln>
          <a:effectLst/>
        </p:spPr>
        <p:txBody>
          <a:bodyPr rtlCol="0" anchor="ctr"/>
          <a:lstStyle/>
          <a:p/>
        </p:txBody>
      </p:sp>
      <p:sp>
        <p:nvSpPr>
          <p:cNvPr id="13" name="Rounded Rectangle 12"/>
          <p:cNvSpPr/>
          <p:nvPr/>
        </p:nvSpPr>
        <p:spPr>
          <a:xfrm>
            <a:off x="4389120" y="2510028"/>
            <a:ext cx="6613855" cy="1147572"/>
          </a:xfrm>
          <a:prstGeom prst="roundRect">
            <a:avLst>
              <a:gd name="adj" fmla="val 8000"/>
            </a:avLst>
          </a:prstGeom>
          <a:solidFill>
            <a:srgbClr val="F0F0F0"/>
          </a:solidFill>
          <a:ln>
            <a:noFill/>
          </a:ln>
          <a:effectLst/>
        </p:spPr>
        <p:txBody>
          <a:bodyPr rtlCol="0" anchor="ctr" wrap="square" lIns="137160" rIns="137160" tIns="73152" bIns="73152">
            <a:noAutofit/>
          </a:bodyPr>
          <a:lstStyle/>
          <a:p>
            <a:pPr algn="l">
              <a:spcBef>
                <a:spcPts val="0"/>
              </a:spcBef>
              <a:spcAft>
                <a:spcPts val="0"/>
              </a:spcAft>
            </a:pPr>
            <a:r>
              <a:rPr lang="tr-TR" sz="2050" b="0" i="0">
                <a:solidFill>
                  <a:srgbClr val="262626"/>
                </a:solidFill>
                <a:latin typeface="Calibri"/>
              </a:rPr>
              <a:t>İnsanların hayatlarını devam ettirmek, gelir elde etmek ve refah seviyelerini yükseltmek için yaptıkları çalışmalar.</a:t>
            </a:r>
          </a:p>
        </p:txBody>
      </p:sp>
      <p:sp>
        <p:nvSpPr>
          <p:cNvPr id="14" name="Oval 13"/>
          <p:cNvSpPr/>
          <p:nvPr/>
        </p:nvSpPr>
        <p:spPr>
          <a:xfrm>
            <a:off x="3840480" y="2855214"/>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15" name="Oval 14"/>
          <p:cNvSpPr/>
          <p:nvPr/>
        </p:nvSpPr>
        <p:spPr>
          <a:xfrm>
            <a:off x="11140135" y="2832354"/>
            <a:ext cx="502920" cy="502920"/>
          </a:xfrm>
          <a:prstGeom prst="ellipse">
            <a:avLst/>
          </a:prstGeom>
          <a:solidFill>
            <a:srgbClr val="FFFFFF"/>
          </a:solidFill>
          <a:ln w="19050">
            <a:solidFill>
              <a:srgbClr val="D9D9D9"/>
            </a:solidFill>
          </a:ln>
          <a:effectLst/>
        </p:spPr>
        <p:txBody>
          <a:bodyPr rtlCol="0" anchor="ctr"/>
          <a:lstStyle/>
          <a:p/>
        </p:txBody>
      </p:sp>
      <p:sp>
        <p:nvSpPr>
          <p:cNvPr id="16" name="Rounded Rectangle 15"/>
          <p:cNvSpPr/>
          <p:nvPr/>
        </p:nvSpPr>
        <p:spPr>
          <a:xfrm>
            <a:off x="4389120" y="3803904"/>
            <a:ext cx="6613855" cy="1147572"/>
          </a:xfrm>
          <a:prstGeom prst="roundRect">
            <a:avLst>
              <a:gd name="adj" fmla="val 8000"/>
            </a:avLst>
          </a:prstGeom>
          <a:solidFill>
            <a:srgbClr val="F0F0F0"/>
          </a:solidFill>
          <a:ln>
            <a:noFill/>
          </a:ln>
          <a:effectLst/>
        </p:spPr>
        <p:txBody>
          <a:bodyPr rtlCol="0" anchor="ctr" wrap="square" lIns="137160" rIns="137160" tIns="73152" bIns="73152">
            <a:noAutofit/>
          </a:bodyPr>
          <a:lstStyle/>
          <a:p>
            <a:pPr algn="l">
              <a:spcBef>
                <a:spcPts val="0"/>
              </a:spcBef>
              <a:spcAft>
                <a:spcPts val="0"/>
              </a:spcAft>
            </a:pPr>
            <a:r>
              <a:rPr lang="tr-TR" sz="2050" b="0" i="0">
                <a:solidFill>
                  <a:srgbClr val="262626"/>
                </a:solidFill>
                <a:latin typeface="Calibri"/>
              </a:rPr>
              <a:t>Üretilen mal ve hizmetlerin tüketiciler tarafından kullanılması.</a:t>
            </a:r>
          </a:p>
        </p:txBody>
      </p:sp>
      <p:sp>
        <p:nvSpPr>
          <p:cNvPr id="17" name="Oval 16"/>
          <p:cNvSpPr/>
          <p:nvPr/>
        </p:nvSpPr>
        <p:spPr>
          <a:xfrm>
            <a:off x="3840480" y="4149090"/>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18" name="Oval 17"/>
          <p:cNvSpPr/>
          <p:nvPr/>
        </p:nvSpPr>
        <p:spPr>
          <a:xfrm>
            <a:off x="11140135" y="4126230"/>
            <a:ext cx="502920" cy="502920"/>
          </a:xfrm>
          <a:prstGeom prst="ellipse">
            <a:avLst/>
          </a:prstGeom>
          <a:solidFill>
            <a:srgbClr val="FFFFFF"/>
          </a:solidFill>
          <a:ln w="19050">
            <a:solidFill>
              <a:srgbClr val="D9D9D9"/>
            </a:solidFill>
          </a:ln>
          <a:effectLst/>
        </p:spPr>
        <p:txBody>
          <a:bodyPr rtlCol="0" anchor="ctr"/>
          <a:lstStyle/>
          <a:p/>
        </p:txBody>
      </p:sp>
      <p:sp>
        <p:nvSpPr>
          <p:cNvPr id="19" name="Rounded Rectangle 18"/>
          <p:cNvSpPr/>
          <p:nvPr/>
        </p:nvSpPr>
        <p:spPr>
          <a:xfrm>
            <a:off x="4389120" y="5097780"/>
            <a:ext cx="6613855" cy="1147572"/>
          </a:xfrm>
          <a:prstGeom prst="roundRect">
            <a:avLst>
              <a:gd name="adj" fmla="val 8000"/>
            </a:avLst>
          </a:prstGeom>
          <a:solidFill>
            <a:srgbClr val="F0F0F0"/>
          </a:solidFill>
          <a:ln>
            <a:noFill/>
          </a:ln>
          <a:effectLst/>
        </p:spPr>
        <p:txBody>
          <a:bodyPr rtlCol="0" anchor="ctr" wrap="square" lIns="137160" rIns="137160" tIns="73152" bIns="73152">
            <a:noAutofit/>
          </a:bodyPr>
          <a:lstStyle/>
          <a:p>
            <a:pPr algn="l">
              <a:spcBef>
                <a:spcPts val="0"/>
              </a:spcBef>
              <a:spcAft>
                <a:spcPts val="0"/>
              </a:spcAft>
            </a:pPr>
            <a:r>
              <a:rPr lang="tr-TR" sz="2050" b="0" i="0">
                <a:solidFill>
                  <a:srgbClr val="262626"/>
                </a:solidFill>
                <a:latin typeface="Calibri"/>
              </a:rPr>
              <a:t>Mal ve hizmetlerin bir dizi işlemden geçirilerek kullanıma hazır hâle getirilmesi.</a:t>
            </a:r>
          </a:p>
        </p:txBody>
      </p:sp>
      <p:sp>
        <p:nvSpPr>
          <p:cNvPr id="20" name="Oval 19"/>
          <p:cNvSpPr/>
          <p:nvPr/>
        </p:nvSpPr>
        <p:spPr>
          <a:xfrm>
            <a:off x="3840480" y="5442966"/>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21" name="Oval 20"/>
          <p:cNvSpPr/>
          <p:nvPr/>
        </p:nvSpPr>
        <p:spPr>
          <a:xfrm>
            <a:off x="11140135" y="5420106"/>
            <a:ext cx="502920" cy="502920"/>
          </a:xfrm>
          <a:prstGeom prst="ellipse">
            <a:avLst/>
          </a:prstGeom>
          <a:solidFill>
            <a:srgbClr val="FFFFFF"/>
          </a:solidFill>
          <a:ln w="19050">
            <a:solidFill>
              <a:srgbClr val="D9D9D9"/>
            </a:solidFill>
          </a:ln>
          <a:effectLst/>
        </p:spPr>
        <p:txBody>
          <a:bodyPr rtlCol="0" anchor="ctr"/>
          <a:lstStyle/>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174</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19 / 166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Kavramı tanımıyla eşleştir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3200400" cy="1147572"/>
          </a:xfrm>
          <a:prstGeom prst="roundRect">
            <a:avLst>
              <a:gd name="adj" fmla="val 15000"/>
            </a:avLst>
          </a:prstGeom>
          <a:solidFill>
            <a:srgbClr val="B85C12"/>
          </a:solidFill>
          <a:ln>
            <a:noFill/>
          </a:ln>
          <a:effectLst/>
        </p:spPr>
        <p:txBody>
          <a:bodyPr rtlCol="0" anchor="ctr" wrap="square" lIns="128016" rIns="128016" tIns="73152" bIns="73152">
            <a:noAutofit/>
          </a:bodyPr>
          <a:lstStyle/>
          <a:p>
            <a:pPr algn="ctr">
              <a:spcBef>
                <a:spcPts val="0"/>
              </a:spcBef>
              <a:spcAft>
                <a:spcPts val="0"/>
              </a:spcAft>
            </a:pPr>
            <a:r>
              <a:rPr lang="tr-TR" sz="2400" b="1" i="0">
                <a:solidFill>
                  <a:srgbClr val="FFFFFF"/>
                </a:solidFill>
                <a:latin typeface="Calibri"/>
              </a:rPr>
              <a:t>1 · Ekonomik faaliyet</a:t>
            </a:r>
          </a:p>
        </p:txBody>
      </p:sp>
      <p:sp>
        <p:nvSpPr>
          <p:cNvPr id="7" name="Rounded Rectangle 6"/>
          <p:cNvSpPr/>
          <p:nvPr/>
        </p:nvSpPr>
        <p:spPr>
          <a:xfrm>
            <a:off x="502920" y="2510028"/>
            <a:ext cx="3200400" cy="1147572"/>
          </a:xfrm>
          <a:prstGeom prst="roundRect">
            <a:avLst>
              <a:gd name="adj" fmla="val 15000"/>
            </a:avLst>
          </a:prstGeom>
          <a:solidFill>
            <a:srgbClr val="B8860B"/>
          </a:solidFill>
          <a:ln>
            <a:noFill/>
          </a:ln>
          <a:effectLst/>
        </p:spPr>
        <p:txBody>
          <a:bodyPr rtlCol="0" anchor="ctr" wrap="square" lIns="128016" rIns="128016" tIns="73152" bIns="73152">
            <a:noAutofit/>
          </a:bodyPr>
          <a:lstStyle/>
          <a:p>
            <a:pPr algn="ctr">
              <a:spcBef>
                <a:spcPts val="0"/>
              </a:spcBef>
              <a:spcAft>
                <a:spcPts val="0"/>
              </a:spcAft>
            </a:pPr>
            <a:r>
              <a:rPr lang="tr-TR" sz="2400" b="1" i="0">
                <a:solidFill>
                  <a:srgbClr val="FFFFFF"/>
                </a:solidFill>
                <a:latin typeface="Calibri"/>
              </a:rPr>
              <a:t>2 · Üretim</a:t>
            </a:r>
          </a:p>
        </p:txBody>
      </p:sp>
      <p:sp>
        <p:nvSpPr>
          <p:cNvPr id="8" name="Rounded Rectangle 7"/>
          <p:cNvSpPr/>
          <p:nvPr/>
        </p:nvSpPr>
        <p:spPr>
          <a:xfrm>
            <a:off x="502920" y="3803904"/>
            <a:ext cx="3200400" cy="1147572"/>
          </a:xfrm>
          <a:prstGeom prst="roundRect">
            <a:avLst>
              <a:gd name="adj" fmla="val 15000"/>
            </a:avLst>
          </a:prstGeom>
          <a:solidFill>
            <a:srgbClr val="1E7B6E"/>
          </a:solidFill>
          <a:ln>
            <a:noFill/>
          </a:ln>
          <a:effectLst/>
        </p:spPr>
        <p:txBody>
          <a:bodyPr rtlCol="0" anchor="ctr" wrap="square" lIns="128016" rIns="128016" tIns="73152" bIns="73152">
            <a:noAutofit/>
          </a:bodyPr>
          <a:lstStyle/>
          <a:p>
            <a:pPr algn="ctr">
              <a:spcBef>
                <a:spcPts val="0"/>
              </a:spcBef>
              <a:spcAft>
                <a:spcPts val="0"/>
              </a:spcAft>
            </a:pPr>
            <a:r>
              <a:rPr lang="tr-TR" sz="2400" b="1" i="0">
                <a:solidFill>
                  <a:srgbClr val="FFFFFF"/>
                </a:solidFill>
                <a:latin typeface="Calibri"/>
              </a:rPr>
              <a:t>3 · Dağıtım</a:t>
            </a:r>
          </a:p>
        </p:txBody>
      </p:sp>
      <p:sp>
        <p:nvSpPr>
          <p:cNvPr id="9" name="Rounded Rectangle 8"/>
          <p:cNvSpPr/>
          <p:nvPr/>
        </p:nvSpPr>
        <p:spPr>
          <a:xfrm>
            <a:off x="502920" y="5097780"/>
            <a:ext cx="3200400" cy="1147572"/>
          </a:xfrm>
          <a:prstGeom prst="roundRect">
            <a:avLst>
              <a:gd name="adj" fmla="val 15000"/>
            </a:avLst>
          </a:prstGeom>
          <a:solidFill>
            <a:srgbClr val="7A4EA0"/>
          </a:solidFill>
          <a:ln>
            <a:noFill/>
          </a:ln>
          <a:effectLst/>
        </p:spPr>
        <p:txBody>
          <a:bodyPr rtlCol="0" anchor="ctr" wrap="square" lIns="128016" rIns="128016" tIns="73152" bIns="73152">
            <a:noAutofit/>
          </a:bodyPr>
          <a:lstStyle/>
          <a:p>
            <a:pPr algn="ctr">
              <a:spcBef>
                <a:spcPts val="0"/>
              </a:spcBef>
              <a:spcAft>
                <a:spcPts val="0"/>
              </a:spcAft>
            </a:pPr>
            <a:r>
              <a:rPr lang="tr-TR" sz="2400" b="1" i="0">
                <a:solidFill>
                  <a:srgbClr val="FFFFFF"/>
                </a:solidFill>
                <a:latin typeface="Calibri"/>
              </a:rPr>
              <a:t>4 · Tüketim</a:t>
            </a:r>
          </a:p>
        </p:txBody>
      </p:sp>
      <p:sp>
        <p:nvSpPr>
          <p:cNvPr id="10" name="Rounded Rectangle 9"/>
          <p:cNvSpPr/>
          <p:nvPr/>
        </p:nvSpPr>
        <p:spPr>
          <a:xfrm>
            <a:off x="4389120" y="1216152"/>
            <a:ext cx="6613855" cy="1147572"/>
          </a:xfrm>
          <a:prstGeom prst="roundRect">
            <a:avLst>
              <a:gd name="adj" fmla="val 8000"/>
            </a:avLst>
          </a:prstGeom>
          <a:solidFill>
            <a:srgbClr val="FFFFFF"/>
          </a:solidFill>
          <a:ln w="31750">
            <a:solidFill>
              <a:srgbClr val="1E7B6E"/>
            </a:solidFill>
          </a:ln>
          <a:effectLst/>
        </p:spPr>
        <p:txBody>
          <a:bodyPr rtlCol="0" anchor="ctr" wrap="square" lIns="137160" rIns="137160" tIns="73152" bIns="73152">
            <a:noAutofit/>
          </a:bodyPr>
          <a:lstStyle/>
          <a:p>
            <a:pPr algn="l">
              <a:spcBef>
                <a:spcPts val="0"/>
              </a:spcBef>
              <a:spcAft>
                <a:spcPts val="0"/>
              </a:spcAft>
            </a:pPr>
            <a:r>
              <a:rPr lang="tr-TR" sz="2050" b="0" i="0">
                <a:solidFill>
                  <a:srgbClr val="262626"/>
                </a:solidFill>
                <a:latin typeface="Calibri"/>
              </a:rPr>
              <a:t>Üretilen mal ve hizmetlerin bir yerden başka bir yere aktarılması.</a:t>
            </a:r>
          </a:p>
        </p:txBody>
      </p:sp>
      <p:sp>
        <p:nvSpPr>
          <p:cNvPr id="11" name="Oval 10"/>
          <p:cNvSpPr/>
          <p:nvPr/>
        </p:nvSpPr>
        <p:spPr>
          <a:xfrm>
            <a:off x="3840480" y="1561338"/>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12" name="Oval 11"/>
          <p:cNvSpPr/>
          <p:nvPr/>
        </p:nvSpPr>
        <p:spPr>
          <a:xfrm>
            <a:off x="11140135" y="1538478"/>
            <a:ext cx="502920" cy="502920"/>
          </a:xfrm>
          <a:prstGeom prst="ellipse">
            <a:avLst/>
          </a:prstGeom>
          <a:solidFill>
            <a:srgbClr val="1E7B6E"/>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3</a:t>
            </a:r>
          </a:p>
        </p:txBody>
      </p:sp>
      <p:sp>
        <p:nvSpPr>
          <p:cNvPr id="13" name="Rounded Rectangle 12"/>
          <p:cNvSpPr/>
          <p:nvPr/>
        </p:nvSpPr>
        <p:spPr>
          <a:xfrm>
            <a:off x="4389120" y="2510028"/>
            <a:ext cx="6613855" cy="1147572"/>
          </a:xfrm>
          <a:prstGeom prst="roundRect">
            <a:avLst>
              <a:gd name="adj" fmla="val 8000"/>
            </a:avLst>
          </a:prstGeom>
          <a:solidFill>
            <a:srgbClr val="FFFFFF"/>
          </a:solidFill>
          <a:ln w="31750">
            <a:solidFill>
              <a:srgbClr val="B85C12"/>
            </a:solidFill>
          </a:ln>
          <a:effectLst/>
        </p:spPr>
        <p:txBody>
          <a:bodyPr rtlCol="0" anchor="ctr" wrap="square" lIns="137160" rIns="137160" tIns="73152" bIns="73152">
            <a:noAutofit/>
          </a:bodyPr>
          <a:lstStyle/>
          <a:p>
            <a:pPr algn="l">
              <a:spcBef>
                <a:spcPts val="0"/>
              </a:spcBef>
              <a:spcAft>
                <a:spcPts val="0"/>
              </a:spcAft>
            </a:pPr>
            <a:r>
              <a:rPr lang="tr-TR" sz="2050" b="0" i="0">
                <a:solidFill>
                  <a:srgbClr val="262626"/>
                </a:solidFill>
                <a:latin typeface="Calibri"/>
              </a:rPr>
              <a:t>İnsanların hayatlarını devam ettirmek, gelir elde etmek ve refah seviyelerini yükseltmek için yaptıkları çalışmalar.</a:t>
            </a:r>
          </a:p>
        </p:txBody>
      </p:sp>
      <p:sp>
        <p:nvSpPr>
          <p:cNvPr id="14" name="Oval 13"/>
          <p:cNvSpPr/>
          <p:nvPr/>
        </p:nvSpPr>
        <p:spPr>
          <a:xfrm>
            <a:off x="3840480" y="2855214"/>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15" name="Oval 14"/>
          <p:cNvSpPr/>
          <p:nvPr/>
        </p:nvSpPr>
        <p:spPr>
          <a:xfrm>
            <a:off x="11140135" y="2832354"/>
            <a:ext cx="502920" cy="502920"/>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1</a:t>
            </a:r>
          </a:p>
        </p:txBody>
      </p:sp>
      <p:sp>
        <p:nvSpPr>
          <p:cNvPr id="16" name="Rounded Rectangle 15"/>
          <p:cNvSpPr/>
          <p:nvPr/>
        </p:nvSpPr>
        <p:spPr>
          <a:xfrm>
            <a:off x="4389120" y="3803904"/>
            <a:ext cx="6613855" cy="1147572"/>
          </a:xfrm>
          <a:prstGeom prst="roundRect">
            <a:avLst>
              <a:gd name="adj" fmla="val 8000"/>
            </a:avLst>
          </a:prstGeom>
          <a:solidFill>
            <a:srgbClr val="FFFFFF"/>
          </a:solidFill>
          <a:ln w="31750">
            <a:solidFill>
              <a:srgbClr val="7A4EA0"/>
            </a:solidFill>
          </a:ln>
          <a:effectLst/>
        </p:spPr>
        <p:txBody>
          <a:bodyPr rtlCol="0" anchor="ctr" wrap="square" lIns="137160" rIns="137160" tIns="73152" bIns="73152">
            <a:noAutofit/>
          </a:bodyPr>
          <a:lstStyle/>
          <a:p>
            <a:pPr algn="l">
              <a:spcBef>
                <a:spcPts val="0"/>
              </a:spcBef>
              <a:spcAft>
                <a:spcPts val="0"/>
              </a:spcAft>
            </a:pPr>
            <a:r>
              <a:rPr lang="tr-TR" sz="2050" b="0" i="0">
                <a:solidFill>
                  <a:srgbClr val="262626"/>
                </a:solidFill>
                <a:latin typeface="Calibri"/>
              </a:rPr>
              <a:t>Üretilen mal ve hizmetlerin tüketiciler tarafından kullanılması.</a:t>
            </a:r>
          </a:p>
        </p:txBody>
      </p:sp>
      <p:sp>
        <p:nvSpPr>
          <p:cNvPr id="17" name="Oval 16"/>
          <p:cNvSpPr/>
          <p:nvPr/>
        </p:nvSpPr>
        <p:spPr>
          <a:xfrm>
            <a:off x="3840480" y="4149090"/>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18" name="Oval 17"/>
          <p:cNvSpPr/>
          <p:nvPr/>
        </p:nvSpPr>
        <p:spPr>
          <a:xfrm>
            <a:off x="11140135" y="4126230"/>
            <a:ext cx="502920" cy="502920"/>
          </a:xfrm>
          <a:prstGeom prst="ellipse">
            <a:avLst/>
          </a:prstGeom>
          <a:solidFill>
            <a:srgbClr val="7A4EA0"/>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4</a:t>
            </a:r>
          </a:p>
        </p:txBody>
      </p:sp>
      <p:sp>
        <p:nvSpPr>
          <p:cNvPr id="19" name="Rounded Rectangle 18"/>
          <p:cNvSpPr/>
          <p:nvPr/>
        </p:nvSpPr>
        <p:spPr>
          <a:xfrm>
            <a:off x="4389120" y="5097780"/>
            <a:ext cx="6613855" cy="1147572"/>
          </a:xfrm>
          <a:prstGeom prst="roundRect">
            <a:avLst>
              <a:gd name="adj" fmla="val 8000"/>
            </a:avLst>
          </a:prstGeom>
          <a:solidFill>
            <a:srgbClr val="FFFFFF"/>
          </a:solidFill>
          <a:ln w="31750">
            <a:solidFill>
              <a:srgbClr val="B8860B"/>
            </a:solidFill>
          </a:ln>
          <a:effectLst/>
        </p:spPr>
        <p:txBody>
          <a:bodyPr rtlCol="0" anchor="ctr" wrap="square" lIns="137160" rIns="137160" tIns="73152" bIns="73152">
            <a:noAutofit/>
          </a:bodyPr>
          <a:lstStyle/>
          <a:p>
            <a:pPr algn="l">
              <a:spcBef>
                <a:spcPts val="0"/>
              </a:spcBef>
              <a:spcAft>
                <a:spcPts val="0"/>
              </a:spcAft>
            </a:pPr>
            <a:r>
              <a:rPr lang="tr-TR" sz="2050" b="0" i="0">
                <a:solidFill>
                  <a:srgbClr val="262626"/>
                </a:solidFill>
                <a:latin typeface="Calibri"/>
              </a:rPr>
              <a:t>Mal ve hizmetlerin bir dizi işlemden geçirilerek kullanıma hazır hâle getirilmesi.</a:t>
            </a:r>
          </a:p>
        </p:txBody>
      </p:sp>
      <p:sp>
        <p:nvSpPr>
          <p:cNvPr id="20" name="Oval 19"/>
          <p:cNvSpPr/>
          <p:nvPr/>
        </p:nvSpPr>
        <p:spPr>
          <a:xfrm>
            <a:off x="3840480" y="5442966"/>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21" name="Oval 20"/>
          <p:cNvSpPr/>
          <p:nvPr/>
        </p:nvSpPr>
        <p:spPr>
          <a:xfrm>
            <a:off x="11140135" y="5420106"/>
            <a:ext cx="502920" cy="502920"/>
          </a:xfrm>
          <a:prstGeom prst="ellipse">
            <a:avLst/>
          </a:prstGeom>
          <a:solidFill>
            <a:srgbClr val="B8860B"/>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2</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174</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20 / 166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Bir ekonomik faaliyetin zinciri</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5.1.1</a:t>
            </a:r>
          </a:p>
        </p:txBody>
      </p:sp>
      <p:sp>
        <p:nvSpPr>
          <p:cNvPr id="6" name="Rounded Rectangle 5"/>
          <p:cNvSpPr/>
          <p:nvPr/>
        </p:nvSpPr>
        <p:spPr>
          <a:xfrm>
            <a:off x="502920" y="1216152"/>
            <a:ext cx="11185855" cy="777240"/>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777240"/>
          </a:xfrm>
          <a:prstGeom prst="rect">
            <a:avLst/>
          </a:prstGeom>
          <a:solidFill>
            <a:srgbClr val="B85C12"/>
          </a:solidFill>
          <a:ln>
            <a:noFill/>
          </a:ln>
          <a:effectLst/>
        </p:spPr>
        <p:txBody>
          <a:bodyPr rtlCol="0" anchor="ctr"/>
          <a:lstStyle/>
          <a:p/>
        </p:txBody>
      </p:sp>
      <p:sp>
        <p:nvSpPr>
          <p:cNvPr id="8" name="TextBox 7"/>
          <p:cNvSpPr txBox="1"/>
          <p:nvPr/>
        </p:nvSpPr>
        <p:spPr>
          <a:xfrm>
            <a:off x="777240" y="1216152"/>
            <a:ext cx="10774375" cy="77724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Ekonomik faaliyet; kaynak girdisi, üretim süreci ve ürün çıktısı (mal veya hizmet) ile karakterize edilir.</a:t>
            </a:r>
          </a:p>
        </p:txBody>
      </p:sp>
      <p:pic>
        <p:nvPicPr>
          <p:cNvPr id="9" name="Picture 8" descr="h28_s172_maden.jpg"/>
          <p:cNvPicPr>
            <a:picLocks noChangeAspect="1"/>
          </p:cNvPicPr>
          <p:nvPr/>
        </p:nvPicPr>
        <p:blipFill>
          <a:blip r:embed="rId3"/>
          <a:srcRect t="1697" b="1697"/>
          <a:stretch>
            <a:fillRect/>
          </a:stretch>
        </p:blipFill>
        <p:spPr>
          <a:xfrm>
            <a:off x="502920" y="2176272"/>
            <a:ext cx="2508427" cy="1600200"/>
          </a:xfrm>
          <a:prstGeom prst="rect">
            <a:avLst/>
          </a:prstGeom>
          <a:ln w="9525">
            <a:solidFill>
              <a:srgbClr val="D9D9D9"/>
            </a:solidFill>
          </a:ln>
        </p:spPr>
      </p:pic>
      <p:sp>
        <p:nvSpPr>
          <p:cNvPr id="10" name="Rounded Rectangle 9"/>
          <p:cNvSpPr/>
          <p:nvPr/>
        </p:nvSpPr>
        <p:spPr>
          <a:xfrm>
            <a:off x="502920" y="3831336"/>
            <a:ext cx="2508427" cy="475488"/>
          </a:xfrm>
          <a:prstGeom prst="roundRect">
            <a:avLst>
              <a:gd name="adj" fmla="val 15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1850" b="1" i="0">
                <a:solidFill>
                  <a:srgbClr val="FFFFFF"/>
                </a:solidFill>
                <a:latin typeface="Calibri"/>
              </a:rPr>
              <a:t>Kaynak girdisi</a:t>
            </a:r>
          </a:p>
        </p:txBody>
      </p:sp>
      <p:sp>
        <p:nvSpPr>
          <p:cNvPr id="11" name="TextBox 10"/>
          <p:cNvSpPr txBox="1"/>
          <p:nvPr/>
        </p:nvSpPr>
        <p:spPr>
          <a:xfrm>
            <a:off x="502920" y="4325112"/>
            <a:ext cx="2508427" cy="365760"/>
          </a:xfrm>
          <a:prstGeom prst="rect">
            <a:avLst/>
          </a:prstGeom>
          <a:noFill/>
        </p:spPr>
        <p:txBody>
          <a:bodyPr wrap="square" anchor="t" lIns="73152" rIns="73152" tIns="36576" bIns="36576">
            <a:noAutofit/>
          </a:bodyPr>
          <a:lstStyle/>
          <a:p>
            <a:pPr algn="ctr">
              <a:spcBef>
                <a:spcPts val="0"/>
              </a:spcBef>
              <a:spcAft>
                <a:spcPts val="0"/>
              </a:spcAft>
            </a:pPr>
            <a:r>
              <a:rPr lang="tr-TR" sz="1600" b="0" i="1">
                <a:solidFill>
                  <a:srgbClr val="767676"/>
                </a:solidFill>
                <a:latin typeface="Calibri"/>
              </a:rPr>
              <a:t>ham madde</a:t>
            </a:r>
          </a:p>
        </p:txBody>
      </p:sp>
      <p:cxnSp>
        <p:nvCxnSpPr>
          <p:cNvPr id="12" name="Connector 11"/>
          <p:cNvCxnSpPr/>
          <p:nvPr/>
        </p:nvCxnSpPr>
        <p:spPr>
          <a:xfrm>
            <a:off x="3057067" y="2976372"/>
            <a:ext cx="292608" cy="0"/>
          </a:xfrm>
          <a:prstGeom prst="line">
            <a:avLst/>
          </a:prstGeom>
          <a:ln w="63500">
            <a:solidFill>
              <a:srgbClr val="FCC021"/>
            </a:solidFill>
            <a:tailEnd type="triangle" w="med" len="med"/>
          </a:ln>
        </p:spPr>
      </p:cxnSp>
      <p:pic>
        <p:nvPicPr>
          <p:cNvPr id="13" name="Picture 12" descr="h28_s172_fabrika.jpg"/>
          <p:cNvPicPr>
            <a:picLocks noChangeAspect="1"/>
          </p:cNvPicPr>
          <p:nvPr/>
        </p:nvPicPr>
        <p:blipFill>
          <a:blip r:embed="rId4"/>
          <a:srcRect t="1962" b="1962"/>
          <a:stretch>
            <a:fillRect/>
          </a:stretch>
        </p:blipFill>
        <p:spPr>
          <a:xfrm>
            <a:off x="3395395" y="2176272"/>
            <a:ext cx="2508427" cy="1600200"/>
          </a:xfrm>
          <a:prstGeom prst="rect">
            <a:avLst/>
          </a:prstGeom>
          <a:ln w="9525">
            <a:solidFill>
              <a:srgbClr val="D9D9D9"/>
            </a:solidFill>
          </a:ln>
        </p:spPr>
      </p:pic>
      <p:sp>
        <p:nvSpPr>
          <p:cNvPr id="14" name="Rounded Rectangle 13"/>
          <p:cNvSpPr/>
          <p:nvPr/>
        </p:nvSpPr>
        <p:spPr>
          <a:xfrm>
            <a:off x="3395395" y="3831336"/>
            <a:ext cx="2508427" cy="475488"/>
          </a:xfrm>
          <a:prstGeom prst="roundRect">
            <a:avLst>
              <a:gd name="adj" fmla="val 15000"/>
            </a:avLst>
          </a:prstGeom>
          <a:solidFill>
            <a:srgbClr val="B8860B"/>
          </a:solidFill>
          <a:ln>
            <a:noFill/>
          </a:ln>
          <a:effectLst/>
        </p:spPr>
        <p:txBody>
          <a:bodyPr rtlCol="0" anchor="ctr" wrap="square" lIns="128016" rIns="128016" tIns="73152" bIns="73152">
            <a:noAutofit/>
          </a:bodyPr>
          <a:lstStyle/>
          <a:p>
            <a:pPr algn="ctr">
              <a:spcBef>
                <a:spcPts val="0"/>
              </a:spcBef>
              <a:spcAft>
                <a:spcPts val="0"/>
              </a:spcAft>
            </a:pPr>
            <a:r>
              <a:rPr lang="tr-TR" sz="1850" b="1" i="0">
                <a:solidFill>
                  <a:srgbClr val="FFFFFF"/>
                </a:solidFill>
                <a:latin typeface="Calibri"/>
              </a:rPr>
              <a:t>Üretim süreci</a:t>
            </a:r>
          </a:p>
        </p:txBody>
      </p:sp>
      <p:sp>
        <p:nvSpPr>
          <p:cNvPr id="15" name="TextBox 14"/>
          <p:cNvSpPr txBox="1"/>
          <p:nvPr/>
        </p:nvSpPr>
        <p:spPr>
          <a:xfrm>
            <a:off x="3395395" y="4325112"/>
            <a:ext cx="2508427" cy="365760"/>
          </a:xfrm>
          <a:prstGeom prst="rect">
            <a:avLst/>
          </a:prstGeom>
          <a:noFill/>
        </p:spPr>
        <p:txBody>
          <a:bodyPr wrap="square" anchor="t" lIns="73152" rIns="73152" tIns="36576" bIns="36576">
            <a:noAutofit/>
          </a:bodyPr>
          <a:lstStyle/>
          <a:p>
            <a:pPr algn="ctr">
              <a:spcBef>
                <a:spcPts val="0"/>
              </a:spcBef>
              <a:spcAft>
                <a:spcPts val="0"/>
              </a:spcAft>
            </a:pPr>
            <a:r>
              <a:rPr lang="tr-TR" sz="1600" b="0" i="1">
                <a:solidFill>
                  <a:srgbClr val="767676"/>
                </a:solidFill>
                <a:latin typeface="Calibri"/>
              </a:rPr>
              <a:t>ürün çıktısı: mal</a:t>
            </a:r>
          </a:p>
        </p:txBody>
      </p:sp>
      <p:cxnSp>
        <p:nvCxnSpPr>
          <p:cNvPr id="16" name="Connector 15"/>
          <p:cNvCxnSpPr/>
          <p:nvPr/>
        </p:nvCxnSpPr>
        <p:spPr>
          <a:xfrm>
            <a:off x="5949542" y="2976372"/>
            <a:ext cx="292608" cy="0"/>
          </a:xfrm>
          <a:prstGeom prst="line">
            <a:avLst/>
          </a:prstGeom>
          <a:ln w="63500">
            <a:solidFill>
              <a:srgbClr val="FCC021"/>
            </a:solidFill>
            <a:tailEnd type="triangle" w="med" len="med"/>
          </a:ln>
        </p:spPr>
      </p:cxnSp>
      <p:pic>
        <p:nvPicPr>
          <p:cNvPr id="17" name="Picture 16" descr="h28_s172_kopru.jpg"/>
          <p:cNvPicPr>
            <a:picLocks noChangeAspect="1"/>
          </p:cNvPicPr>
          <p:nvPr/>
        </p:nvPicPr>
        <p:blipFill>
          <a:blip r:embed="rId5"/>
          <a:srcRect t="2421" b="2421"/>
          <a:stretch>
            <a:fillRect/>
          </a:stretch>
        </p:blipFill>
        <p:spPr>
          <a:xfrm>
            <a:off x="6287870" y="2176272"/>
            <a:ext cx="2508427" cy="1600200"/>
          </a:xfrm>
          <a:prstGeom prst="rect">
            <a:avLst/>
          </a:prstGeom>
          <a:ln w="9525">
            <a:solidFill>
              <a:srgbClr val="D9D9D9"/>
            </a:solidFill>
          </a:ln>
        </p:spPr>
      </p:pic>
      <p:sp>
        <p:nvSpPr>
          <p:cNvPr id="18" name="Rounded Rectangle 17"/>
          <p:cNvSpPr/>
          <p:nvPr/>
        </p:nvSpPr>
        <p:spPr>
          <a:xfrm>
            <a:off x="6287870" y="3831336"/>
            <a:ext cx="2508427" cy="475488"/>
          </a:xfrm>
          <a:prstGeom prst="roundRect">
            <a:avLst>
              <a:gd name="adj" fmla="val 15000"/>
            </a:avLst>
          </a:prstGeom>
          <a:solidFill>
            <a:srgbClr val="1E7B6E"/>
          </a:solidFill>
          <a:ln>
            <a:noFill/>
          </a:ln>
          <a:effectLst/>
        </p:spPr>
        <p:txBody>
          <a:bodyPr rtlCol="0" anchor="ctr" wrap="square" lIns="128016" rIns="128016" tIns="73152" bIns="73152">
            <a:noAutofit/>
          </a:bodyPr>
          <a:lstStyle/>
          <a:p>
            <a:pPr algn="ctr">
              <a:spcBef>
                <a:spcPts val="0"/>
              </a:spcBef>
              <a:spcAft>
                <a:spcPts val="0"/>
              </a:spcAft>
            </a:pPr>
            <a:r>
              <a:rPr lang="tr-TR" sz="1850" b="1" i="0">
                <a:solidFill>
                  <a:srgbClr val="FFFFFF"/>
                </a:solidFill>
                <a:latin typeface="Calibri"/>
              </a:rPr>
              <a:t>Dağıtım</a:t>
            </a:r>
          </a:p>
        </p:txBody>
      </p:sp>
      <p:sp>
        <p:nvSpPr>
          <p:cNvPr id="19" name="TextBox 18"/>
          <p:cNvSpPr txBox="1"/>
          <p:nvPr/>
        </p:nvSpPr>
        <p:spPr>
          <a:xfrm>
            <a:off x="6287870" y="4325112"/>
            <a:ext cx="2508427" cy="365760"/>
          </a:xfrm>
          <a:prstGeom prst="rect">
            <a:avLst/>
          </a:prstGeom>
          <a:noFill/>
        </p:spPr>
        <p:txBody>
          <a:bodyPr wrap="square" anchor="t" lIns="73152" rIns="73152" tIns="36576" bIns="36576">
            <a:noAutofit/>
          </a:bodyPr>
          <a:lstStyle/>
          <a:p>
            <a:pPr algn="ctr">
              <a:spcBef>
                <a:spcPts val="0"/>
              </a:spcBef>
              <a:spcAft>
                <a:spcPts val="0"/>
              </a:spcAft>
            </a:pPr>
            <a:r>
              <a:rPr lang="tr-TR" sz="1600" b="0" i="1">
                <a:solidFill>
                  <a:srgbClr val="767676"/>
                </a:solidFill>
                <a:latin typeface="Calibri"/>
              </a:rPr>
              <a:t>taşıma</a:t>
            </a:r>
          </a:p>
        </p:txBody>
      </p:sp>
      <p:cxnSp>
        <p:nvCxnSpPr>
          <p:cNvPr id="20" name="Connector 19"/>
          <p:cNvCxnSpPr/>
          <p:nvPr/>
        </p:nvCxnSpPr>
        <p:spPr>
          <a:xfrm>
            <a:off x="8842017" y="2976372"/>
            <a:ext cx="292608" cy="0"/>
          </a:xfrm>
          <a:prstGeom prst="line">
            <a:avLst/>
          </a:prstGeom>
          <a:ln w="63500">
            <a:solidFill>
              <a:srgbClr val="FCC021"/>
            </a:solidFill>
            <a:tailEnd type="triangle" w="med" len="med"/>
          </a:ln>
        </p:spPr>
      </p:cxnSp>
      <p:pic>
        <p:nvPicPr>
          <p:cNvPr id="21" name="Picture 20" descr="h28_s172_pazar.jpg"/>
          <p:cNvPicPr>
            <a:picLocks noChangeAspect="1"/>
          </p:cNvPicPr>
          <p:nvPr/>
        </p:nvPicPr>
        <p:blipFill>
          <a:blip r:embed="rId6"/>
          <a:srcRect t="2021" b="2021"/>
          <a:stretch>
            <a:fillRect/>
          </a:stretch>
        </p:blipFill>
        <p:spPr>
          <a:xfrm>
            <a:off x="9180345" y="2176272"/>
            <a:ext cx="2508427" cy="1600200"/>
          </a:xfrm>
          <a:prstGeom prst="rect">
            <a:avLst/>
          </a:prstGeom>
          <a:ln w="9525">
            <a:solidFill>
              <a:srgbClr val="D9D9D9"/>
            </a:solidFill>
          </a:ln>
        </p:spPr>
      </p:pic>
      <p:sp>
        <p:nvSpPr>
          <p:cNvPr id="22" name="Rounded Rectangle 21"/>
          <p:cNvSpPr/>
          <p:nvPr/>
        </p:nvSpPr>
        <p:spPr>
          <a:xfrm>
            <a:off x="9180345" y="3831336"/>
            <a:ext cx="2508427" cy="475488"/>
          </a:xfrm>
          <a:prstGeom prst="roundRect">
            <a:avLst>
              <a:gd name="adj" fmla="val 15000"/>
            </a:avLst>
          </a:prstGeom>
          <a:solidFill>
            <a:srgbClr val="7A4EA0"/>
          </a:solidFill>
          <a:ln>
            <a:noFill/>
          </a:ln>
          <a:effectLst/>
        </p:spPr>
        <p:txBody>
          <a:bodyPr rtlCol="0" anchor="ctr" wrap="square" lIns="128016" rIns="128016" tIns="73152" bIns="73152">
            <a:noAutofit/>
          </a:bodyPr>
          <a:lstStyle/>
          <a:p>
            <a:pPr algn="ctr">
              <a:spcBef>
                <a:spcPts val="0"/>
              </a:spcBef>
              <a:spcAft>
                <a:spcPts val="0"/>
              </a:spcAft>
            </a:pPr>
            <a:r>
              <a:rPr lang="tr-TR" sz="1850" b="1" i="0">
                <a:solidFill>
                  <a:srgbClr val="FFFFFF"/>
                </a:solidFill>
                <a:latin typeface="Calibri"/>
              </a:rPr>
              <a:t>Tüketim</a:t>
            </a:r>
          </a:p>
        </p:txBody>
      </p:sp>
      <p:sp>
        <p:nvSpPr>
          <p:cNvPr id="23" name="TextBox 22"/>
          <p:cNvSpPr txBox="1"/>
          <p:nvPr/>
        </p:nvSpPr>
        <p:spPr>
          <a:xfrm>
            <a:off x="9180345" y="4325112"/>
            <a:ext cx="2508427" cy="365760"/>
          </a:xfrm>
          <a:prstGeom prst="rect">
            <a:avLst/>
          </a:prstGeom>
          <a:noFill/>
        </p:spPr>
        <p:txBody>
          <a:bodyPr wrap="square" anchor="t" lIns="73152" rIns="73152" tIns="36576" bIns="36576">
            <a:noAutofit/>
          </a:bodyPr>
          <a:lstStyle/>
          <a:p>
            <a:pPr algn="ctr">
              <a:spcBef>
                <a:spcPts val="0"/>
              </a:spcBef>
              <a:spcAft>
                <a:spcPts val="0"/>
              </a:spcAft>
            </a:pPr>
            <a:r>
              <a:rPr lang="tr-TR" sz="1600" b="0" i="1">
                <a:solidFill>
                  <a:srgbClr val="767676"/>
                </a:solidFill>
                <a:latin typeface="Calibri"/>
              </a:rPr>
              <a:t>satın alma, kullanma</a:t>
            </a:r>
          </a:p>
        </p:txBody>
      </p:sp>
      <p:sp>
        <p:nvSpPr>
          <p:cNvPr id="24" name="Rounded Rectangle 23"/>
          <p:cNvSpPr/>
          <p:nvPr/>
        </p:nvSpPr>
        <p:spPr>
          <a:xfrm>
            <a:off x="502920" y="4782312"/>
            <a:ext cx="11185855" cy="1508760"/>
          </a:xfrm>
          <a:prstGeom prst="roundRect">
            <a:avLst>
              <a:gd name="adj" fmla="val 8000"/>
            </a:avLst>
          </a:prstGeom>
          <a:solidFill>
            <a:srgbClr val="F0F0F0"/>
          </a:solidFill>
          <a:ln>
            <a:noFill/>
          </a:ln>
          <a:effectLst/>
        </p:spPr>
        <p:txBody>
          <a:bodyPr rtlCol="0" anchor="ctr"/>
          <a:lstStyle/>
          <a:p/>
        </p:txBody>
      </p:sp>
      <p:pic>
        <p:nvPicPr>
          <p:cNvPr id="25" name="Picture 24" descr="h28_s172_balon.jpg"/>
          <p:cNvPicPr>
            <a:picLocks noChangeAspect="1"/>
          </p:cNvPicPr>
          <p:nvPr/>
        </p:nvPicPr>
        <p:blipFill>
          <a:blip r:embed="rId7"/>
          <a:stretch>
            <a:fillRect/>
          </a:stretch>
        </p:blipFill>
        <p:spPr>
          <a:xfrm>
            <a:off x="594360" y="4866132"/>
            <a:ext cx="2011680" cy="1341120"/>
          </a:xfrm>
          <a:prstGeom prst="rect">
            <a:avLst/>
          </a:prstGeom>
          <a:ln w="9525">
            <a:solidFill>
              <a:srgbClr val="D9D9D9"/>
            </a:solidFill>
          </a:ln>
        </p:spPr>
      </p:pic>
      <p:sp>
        <p:nvSpPr>
          <p:cNvPr id="26" name="TextBox 25"/>
          <p:cNvSpPr txBox="1"/>
          <p:nvPr/>
        </p:nvSpPr>
        <p:spPr>
          <a:xfrm>
            <a:off x="2743200" y="4782312"/>
            <a:ext cx="8808415" cy="1508760"/>
          </a:xfrm>
          <a:prstGeom prst="rect">
            <a:avLst/>
          </a:prstGeom>
          <a:noFill/>
        </p:spPr>
        <p:txBody>
          <a:bodyPr wrap="square" anchor="ctr" lIns="73152" rIns="73152" tIns="36576" bIns="36576">
            <a:noAutofit/>
          </a:bodyPr>
          <a:lstStyle/>
          <a:p>
            <a:pPr algn="l">
              <a:spcBef>
                <a:spcPts val="0"/>
              </a:spcBef>
              <a:spcAft>
                <a:spcPts val="400"/>
              </a:spcAft>
            </a:pPr>
            <a:r>
              <a:rPr lang="tr-TR" sz="2000" b="1" i="0">
                <a:solidFill>
                  <a:srgbClr val="B85C12"/>
                </a:solidFill>
                <a:latin typeface="Calibri"/>
              </a:rPr>
              <a:t>Ürün çıktısı bir hizmet de olabilir.</a:t>
            </a:r>
          </a:p>
          <a:p>
            <a:pPr algn="l">
              <a:spcBef>
                <a:spcPts val="0"/>
              </a:spcBef>
              <a:spcAft>
                <a:spcPts val="0"/>
              </a:spcAft>
            </a:pPr>
            <a:r>
              <a:rPr lang="tr-TR" sz="2000" b="0" i="0">
                <a:solidFill>
                  <a:srgbClr val="262626"/>
                </a:solidFill>
                <a:latin typeface="Calibri"/>
              </a:rPr>
              <a:t>Balon turunda hizmet üretildiği anda tüketilir: üretim ve tüketim birlikte.</a:t>
            </a:r>
          </a:p>
        </p:txBody>
      </p:sp>
      <p:sp>
        <p:nvSpPr>
          <p:cNvPr id="27" name="TextBox 2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8" name="Rounded Rectangle 2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172, 174</a:t>
            </a:r>
          </a:p>
        </p:txBody>
      </p:sp>
      <p:sp>
        <p:nvSpPr>
          <p:cNvPr id="29" name="TextBox 2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21 / 166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Ekonomik faaliyetleri etkileyen faktörler</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5.1</a:t>
            </a:r>
          </a:p>
        </p:txBody>
      </p:sp>
      <p:sp>
        <p:nvSpPr>
          <p:cNvPr id="6" name="Rounded Rectangle 5"/>
          <p:cNvSpPr/>
          <p:nvPr/>
        </p:nvSpPr>
        <p:spPr>
          <a:xfrm>
            <a:off x="502920" y="1216152"/>
            <a:ext cx="5478627" cy="1097280"/>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1097280"/>
          </a:xfrm>
          <a:prstGeom prst="rect">
            <a:avLst/>
          </a:prstGeom>
          <a:solidFill>
            <a:srgbClr val="B85C12"/>
          </a:solidFill>
          <a:ln>
            <a:noFill/>
          </a:ln>
          <a:effectLst/>
        </p:spPr>
        <p:txBody>
          <a:bodyPr rtlCol="0" anchor="ctr"/>
          <a:lstStyle/>
          <a:p/>
        </p:txBody>
      </p:sp>
      <p:sp>
        <p:nvSpPr>
          <p:cNvPr id="8" name="TextBox 7"/>
          <p:cNvSpPr txBox="1"/>
          <p:nvPr/>
        </p:nvSpPr>
        <p:spPr>
          <a:xfrm>
            <a:off x="777240" y="1216152"/>
            <a:ext cx="5067147" cy="1097280"/>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Ekonomik faaliyetlerin yeryüzündeki dağılışı çok değişkenli ve karmaşık bir yapıya sahiptir.</a:t>
            </a:r>
          </a:p>
        </p:txBody>
      </p:sp>
      <p:sp>
        <p:nvSpPr>
          <p:cNvPr id="9" name="Rounded Rectangle 8"/>
          <p:cNvSpPr/>
          <p:nvPr/>
        </p:nvSpPr>
        <p:spPr>
          <a:xfrm>
            <a:off x="6210147" y="1216152"/>
            <a:ext cx="5478627" cy="1097280"/>
          </a:xfrm>
          <a:prstGeom prst="roundRect">
            <a:avLst>
              <a:gd name="adj" fmla="val 8000"/>
            </a:avLst>
          </a:prstGeom>
          <a:solidFill>
            <a:srgbClr val="F0F0F0"/>
          </a:solidFill>
          <a:ln>
            <a:noFill/>
          </a:ln>
          <a:effectLst/>
        </p:spPr>
        <p:txBody>
          <a:bodyPr rtlCol="0" anchor="ctr"/>
          <a:lstStyle/>
          <a:p/>
        </p:txBody>
      </p:sp>
      <p:sp>
        <p:nvSpPr>
          <p:cNvPr id="10" name="Rectangle 9"/>
          <p:cNvSpPr/>
          <p:nvPr/>
        </p:nvSpPr>
        <p:spPr>
          <a:xfrm>
            <a:off x="6210147" y="1216152"/>
            <a:ext cx="118872" cy="1097280"/>
          </a:xfrm>
          <a:prstGeom prst="rect">
            <a:avLst/>
          </a:prstGeom>
          <a:solidFill>
            <a:srgbClr val="B85C12"/>
          </a:solidFill>
          <a:ln>
            <a:noFill/>
          </a:ln>
          <a:effectLst/>
        </p:spPr>
        <p:txBody>
          <a:bodyPr rtlCol="0" anchor="ctr"/>
          <a:lstStyle/>
          <a:p/>
        </p:txBody>
      </p:sp>
      <p:sp>
        <p:nvSpPr>
          <p:cNvPr id="11" name="TextBox 10"/>
          <p:cNvSpPr txBox="1"/>
          <p:nvPr/>
        </p:nvSpPr>
        <p:spPr>
          <a:xfrm>
            <a:off x="6484467" y="1216152"/>
            <a:ext cx="5067147" cy="1097280"/>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Ekonomik faaliyetleri etkileyen coğrafi faktörler yerelden küresele doğru değişebilmektedir.</a:t>
            </a:r>
          </a:p>
        </p:txBody>
      </p:sp>
      <p:sp>
        <p:nvSpPr>
          <p:cNvPr id="12" name="Rounded Rectangle 11"/>
          <p:cNvSpPr/>
          <p:nvPr/>
        </p:nvSpPr>
        <p:spPr>
          <a:xfrm>
            <a:off x="502920" y="2496312"/>
            <a:ext cx="5478627" cy="2514600"/>
          </a:xfrm>
          <a:prstGeom prst="roundRect">
            <a:avLst>
              <a:gd name="adj" fmla="val 5000"/>
            </a:avLst>
          </a:prstGeom>
          <a:solidFill>
            <a:srgbClr val="F0F0F0"/>
          </a:solidFill>
          <a:ln>
            <a:noFill/>
          </a:ln>
          <a:effectLst/>
        </p:spPr>
        <p:txBody>
          <a:bodyPr rtlCol="0" anchor="ctr"/>
          <a:lstStyle/>
          <a:p/>
        </p:txBody>
      </p:sp>
      <p:sp>
        <p:nvSpPr>
          <p:cNvPr id="13" name="Rounded Rectangle 12"/>
          <p:cNvSpPr/>
          <p:nvPr/>
        </p:nvSpPr>
        <p:spPr>
          <a:xfrm>
            <a:off x="502920" y="2496312"/>
            <a:ext cx="5478627" cy="530352"/>
          </a:xfrm>
          <a:prstGeom prst="roundRect">
            <a:avLst>
              <a:gd name="adj" fmla="val 25000"/>
            </a:avLst>
          </a:prstGeom>
          <a:solidFill>
            <a:srgbClr val="3E8E41"/>
          </a:solidFill>
          <a:ln>
            <a:noFill/>
          </a:ln>
          <a:effectLst/>
        </p:spPr>
        <p:txBody>
          <a:bodyPr rtlCol="0" anchor="ctr"/>
          <a:lstStyle/>
          <a:p/>
        </p:txBody>
      </p:sp>
      <p:sp>
        <p:nvSpPr>
          <p:cNvPr id="14" name="Rectangle 13"/>
          <p:cNvSpPr/>
          <p:nvPr/>
        </p:nvSpPr>
        <p:spPr>
          <a:xfrm>
            <a:off x="502920" y="2761488"/>
            <a:ext cx="5478627" cy="265176"/>
          </a:xfrm>
          <a:prstGeom prst="rect">
            <a:avLst/>
          </a:prstGeom>
          <a:solidFill>
            <a:srgbClr val="3E8E41"/>
          </a:solidFill>
          <a:ln>
            <a:noFill/>
          </a:ln>
          <a:effectLst/>
        </p:spPr>
        <p:txBody>
          <a:bodyPr rtlCol="0" anchor="ctr"/>
          <a:lstStyle/>
          <a:p/>
        </p:txBody>
      </p:sp>
      <p:sp>
        <p:nvSpPr>
          <p:cNvPr id="15" name="TextBox 14"/>
          <p:cNvSpPr txBox="1"/>
          <p:nvPr/>
        </p:nvSpPr>
        <p:spPr>
          <a:xfrm>
            <a:off x="594360" y="2496312"/>
            <a:ext cx="5295747"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Doğal faktörler · bu hafta (s. 174-176)</a:t>
            </a:r>
          </a:p>
        </p:txBody>
      </p:sp>
      <p:sp>
        <p:nvSpPr>
          <p:cNvPr id="16" name="TextBox 15"/>
          <p:cNvSpPr txBox="1"/>
          <p:nvPr/>
        </p:nvSpPr>
        <p:spPr>
          <a:xfrm>
            <a:off x="612648" y="3099816"/>
            <a:ext cx="5259171" cy="1837944"/>
          </a:xfrm>
          <a:prstGeom prst="rect">
            <a:avLst/>
          </a:prstGeom>
          <a:noFill/>
        </p:spPr>
        <p:txBody>
          <a:bodyPr wrap="square" anchor="ctr" lIns="73152" rIns="73152" tIns="36576" bIns="36576">
            <a:noAutofit/>
          </a:bodyPr>
          <a:lstStyle/>
          <a:p>
            <a:pPr algn="l">
              <a:spcBef>
                <a:spcPts val="0"/>
              </a:spcBef>
              <a:spcAft>
                <a:spcPts val="600"/>
              </a:spcAft>
            </a:pPr>
            <a:r>
              <a:rPr lang="tr-TR" sz="2100" b="0" i="0">
                <a:solidFill>
                  <a:srgbClr val="262626"/>
                </a:solidFill>
                <a:latin typeface="Calibri"/>
              </a:rPr>
              <a:t>Coğrafi konum · İklim · Topoğrafya</a:t>
            </a:r>
          </a:p>
          <a:p>
            <a:pPr algn="l">
              <a:spcBef>
                <a:spcPts val="0"/>
              </a:spcBef>
              <a:spcAft>
                <a:spcPts val="600"/>
              </a:spcAft>
            </a:pPr>
            <a:r>
              <a:rPr lang="tr-TR" sz="2100" b="0" i="0">
                <a:solidFill>
                  <a:srgbClr val="262626"/>
                </a:solidFill>
                <a:latin typeface="Calibri"/>
              </a:rPr>
              <a:t>Su kaynakları · Toprak · Bitki örtüsü</a:t>
            </a:r>
          </a:p>
          <a:p>
            <a:pPr algn="l">
              <a:spcBef>
                <a:spcPts val="0"/>
              </a:spcBef>
              <a:spcAft>
                <a:spcPts val="0"/>
              </a:spcAft>
            </a:pPr>
            <a:r>
              <a:rPr lang="tr-TR" sz="2100" b="0" i="0">
                <a:solidFill>
                  <a:srgbClr val="262626"/>
                </a:solidFill>
                <a:latin typeface="Calibri"/>
              </a:rPr>
              <a:t>Enerji ve maden kaynakları</a:t>
            </a:r>
          </a:p>
        </p:txBody>
      </p:sp>
      <p:sp>
        <p:nvSpPr>
          <p:cNvPr id="17" name="Rounded Rectangle 16"/>
          <p:cNvSpPr/>
          <p:nvPr/>
        </p:nvSpPr>
        <p:spPr>
          <a:xfrm>
            <a:off x="6210147" y="2496312"/>
            <a:ext cx="5478627" cy="2514600"/>
          </a:xfrm>
          <a:prstGeom prst="roundRect">
            <a:avLst>
              <a:gd name="adj" fmla="val 5000"/>
            </a:avLst>
          </a:prstGeom>
          <a:solidFill>
            <a:srgbClr val="F0F0F0"/>
          </a:solidFill>
          <a:ln>
            <a:noFill/>
          </a:ln>
          <a:effectLst/>
        </p:spPr>
        <p:txBody>
          <a:bodyPr rtlCol="0" anchor="ctr"/>
          <a:lstStyle/>
          <a:p/>
        </p:txBody>
      </p:sp>
      <p:sp>
        <p:nvSpPr>
          <p:cNvPr id="18" name="Rounded Rectangle 17"/>
          <p:cNvSpPr/>
          <p:nvPr/>
        </p:nvSpPr>
        <p:spPr>
          <a:xfrm>
            <a:off x="6210147" y="2496312"/>
            <a:ext cx="5478627" cy="530352"/>
          </a:xfrm>
          <a:prstGeom prst="roundRect">
            <a:avLst>
              <a:gd name="adj" fmla="val 25000"/>
            </a:avLst>
          </a:prstGeom>
          <a:solidFill>
            <a:srgbClr val="2C6696"/>
          </a:solidFill>
          <a:ln>
            <a:noFill/>
          </a:ln>
          <a:effectLst/>
        </p:spPr>
        <p:txBody>
          <a:bodyPr rtlCol="0" anchor="ctr"/>
          <a:lstStyle/>
          <a:p/>
        </p:txBody>
      </p:sp>
      <p:sp>
        <p:nvSpPr>
          <p:cNvPr id="19" name="Rectangle 18"/>
          <p:cNvSpPr/>
          <p:nvPr/>
        </p:nvSpPr>
        <p:spPr>
          <a:xfrm>
            <a:off x="6210147" y="2761488"/>
            <a:ext cx="5478627" cy="265176"/>
          </a:xfrm>
          <a:prstGeom prst="rect">
            <a:avLst/>
          </a:prstGeom>
          <a:solidFill>
            <a:srgbClr val="2C6696"/>
          </a:solidFill>
          <a:ln>
            <a:noFill/>
          </a:ln>
          <a:effectLst/>
        </p:spPr>
        <p:txBody>
          <a:bodyPr rtlCol="0" anchor="ctr"/>
          <a:lstStyle/>
          <a:p/>
        </p:txBody>
      </p:sp>
      <p:sp>
        <p:nvSpPr>
          <p:cNvPr id="20" name="TextBox 19"/>
          <p:cNvSpPr txBox="1"/>
          <p:nvPr/>
        </p:nvSpPr>
        <p:spPr>
          <a:xfrm>
            <a:off x="6301587" y="2496312"/>
            <a:ext cx="5295747"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Beşerî faktörler · 29. hafta (s. 177-181)</a:t>
            </a:r>
          </a:p>
        </p:txBody>
      </p:sp>
      <p:sp>
        <p:nvSpPr>
          <p:cNvPr id="21" name="TextBox 20"/>
          <p:cNvSpPr txBox="1"/>
          <p:nvPr/>
        </p:nvSpPr>
        <p:spPr>
          <a:xfrm>
            <a:off x="6319875" y="3099816"/>
            <a:ext cx="5259171" cy="1837944"/>
          </a:xfrm>
          <a:prstGeom prst="rect">
            <a:avLst/>
          </a:prstGeom>
          <a:noFill/>
        </p:spPr>
        <p:txBody>
          <a:bodyPr wrap="square" anchor="ctr" lIns="73152" rIns="73152" tIns="36576" bIns="36576">
            <a:noAutofit/>
          </a:bodyPr>
          <a:lstStyle/>
          <a:p>
            <a:pPr algn="l">
              <a:spcBef>
                <a:spcPts val="0"/>
              </a:spcBef>
              <a:spcAft>
                <a:spcPts val="600"/>
              </a:spcAft>
            </a:pPr>
            <a:r>
              <a:rPr lang="tr-TR" sz="2100" b="0" i="0">
                <a:solidFill>
                  <a:srgbClr val="262626"/>
                </a:solidFill>
                <a:latin typeface="Calibri"/>
              </a:rPr>
              <a:t>Nüfus · İş gücü · Sermaye</a:t>
            </a:r>
          </a:p>
          <a:p>
            <a:pPr algn="l">
              <a:spcBef>
                <a:spcPts val="0"/>
              </a:spcBef>
              <a:spcAft>
                <a:spcPts val="600"/>
              </a:spcAft>
            </a:pPr>
            <a:r>
              <a:rPr lang="tr-TR" sz="2100" b="0" i="0">
                <a:solidFill>
                  <a:srgbClr val="262626"/>
                </a:solidFill>
                <a:latin typeface="Calibri"/>
              </a:rPr>
              <a:t>Devlet politikaları · Teknoloji</a:t>
            </a:r>
          </a:p>
          <a:p>
            <a:pPr algn="l">
              <a:spcBef>
                <a:spcPts val="0"/>
              </a:spcBef>
              <a:spcAft>
                <a:spcPts val="0"/>
              </a:spcAft>
            </a:pPr>
            <a:r>
              <a:rPr lang="tr-TR" sz="2100" b="0" i="0">
                <a:solidFill>
                  <a:srgbClr val="262626"/>
                </a:solidFill>
                <a:latin typeface="Calibri"/>
              </a:rPr>
              <a:t>Ulaşım</a:t>
            </a:r>
          </a:p>
        </p:txBody>
      </p:sp>
      <p:sp>
        <p:nvSpPr>
          <p:cNvPr id="22" name="Rounded Rectangle 21"/>
          <p:cNvSpPr/>
          <p:nvPr/>
        </p:nvSpPr>
        <p:spPr>
          <a:xfrm>
            <a:off x="502920" y="5175504"/>
            <a:ext cx="11185855" cy="1115568"/>
          </a:xfrm>
          <a:prstGeom prst="roundRect">
            <a:avLst>
              <a:gd name="adj" fmla="val 8000"/>
            </a:avLst>
          </a:prstGeom>
          <a:solidFill>
            <a:srgbClr val="F0F0F0"/>
          </a:solidFill>
          <a:ln>
            <a:noFill/>
          </a:ln>
          <a:effectLst/>
        </p:spPr>
        <p:txBody>
          <a:bodyPr rtlCol="0" anchor="ctr"/>
          <a:lstStyle/>
          <a:p/>
        </p:txBody>
      </p:sp>
      <p:sp>
        <p:nvSpPr>
          <p:cNvPr id="23" name="Rectangle 22"/>
          <p:cNvSpPr/>
          <p:nvPr/>
        </p:nvSpPr>
        <p:spPr>
          <a:xfrm>
            <a:off x="502920" y="5175504"/>
            <a:ext cx="118872" cy="1115568"/>
          </a:xfrm>
          <a:prstGeom prst="rect">
            <a:avLst/>
          </a:prstGeom>
          <a:solidFill>
            <a:srgbClr val="3E8E41"/>
          </a:solidFill>
          <a:ln>
            <a:noFill/>
          </a:ln>
          <a:effectLst/>
        </p:spPr>
        <p:txBody>
          <a:bodyPr rtlCol="0" anchor="ctr"/>
          <a:lstStyle/>
          <a:p/>
        </p:txBody>
      </p:sp>
      <p:sp>
        <p:nvSpPr>
          <p:cNvPr id="24" name="TextBox 23"/>
          <p:cNvSpPr txBox="1"/>
          <p:nvPr/>
        </p:nvSpPr>
        <p:spPr>
          <a:xfrm>
            <a:off x="777240" y="5175504"/>
            <a:ext cx="10774375" cy="1115568"/>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Doğal faktörler, ekonomik faaliyetler için kimi zaman avantaj sağlarken kimi zaman da bu faaliyetlerin sınırlarının belirlenmesinde temel oluşturmaktadır.</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6" name="Rounded Rectangle 2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174, 177</a:t>
            </a:r>
          </a:p>
        </p:txBody>
      </p:sp>
      <p:sp>
        <p:nvSpPr>
          <p:cNvPr id="27" name="TextBox 2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22 / 166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1</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Aşağıdakilerden hangisi dağıtım sürecine örnektir?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Tarlada buğdayın hasat edilmesi</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Maden ocağından cevher çıkarılması</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Ürünlerin tırlarla pazara taşınması</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Fabrikada kumaş dokunması</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Pazardan sebze satın alınması</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174</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23 / 166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1</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Aşağıdakilerden hangisi dağıtım sürecine örnektir?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Tarlada buğdayın hasat edilmesi</a:t>
            </a:r>
          </a:p>
        </p:txBody>
      </p:sp>
      <p:sp>
        <p:nvSpPr>
          <p:cNvPr id="10" name="Rounded Rectangle 9"/>
          <p:cNvSpPr/>
          <p:nvPr/>
        </p:nvSpPr>
        <p:spPr>
          <a:xfrm>
            <a:off x="502920" y="315833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11444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Maden ocağından cevher çıkarılması</a:t>
            </a:r>
          </a:p>
        </p:txBody>
      </p:sp>
      <p:sp>
        <p:nvSpPr>
          <p:cNvPr id="13" name="Rounded Rectangle 12"/>
          <p:cNvSpPr/>
          <p:nvPr/>
        </p:nvSpPr>
        <p:spPr>
          <a:xfrm>
            <a:off x="502920" y="3683202"/>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14" name="Oval 13"/>
          <p:cNvSpPr/>
          <p:nvPr/>
        </p:nvSpPr>
        <p:spPr>
          <a:xfrm>
            <a:off x="594360" y="3639310"/>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Ürünlerin tırlarla pazara taşınması</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Fabrikada kumaş dokunması</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Pazardan sebze satın alınması</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Üretilen mal ve hizmetlerin bir yerden başka bir yere aktarılması dağıtım olarak adlandırılır. A, B ve D üretim, E tüketim sürecidir.</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174</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24 / 166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KWL: Ne biliyorum? Ne bilmek istiyorum?</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KWL · BİREYSEL</a:t>
            </a:r>
          </a:p>
        </p:txBody>
      </p:sp>
      <p:sp>
        <p:nvSpPr>
          <p:cNvPr id="6" name="Rounded Rectangle 5"/>
          <p:cNvSpPr/>
          <p:nvPr/>
        </p:nvSpPr>
        <p:spPr>
          <a:xfrm>
            <a:off x="502920" y="1207008"/>
            <a:ext cx="11185855" cy="82296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1" i="0">
                <a:solidFill>
                  <a:srgbClr val="262626"/>
                </a:solidFill>
                <a:latin typeface="Calibri"/>
              </a:rPr>
              <a:t>Ekonomik faaliyetleri etkileyen doğal ve beşerî faktörler hakkında bildikleriniz ve bilmek istediklerinizi formun ilgili alanlarına yazınız. Yazdıklarınızı arkadaşlarınızla paylaşınız.</a:t>
            </a:r>
          </a:p>
        </p:txBody>
      </p:sp>
      <p:sp>
        <p:nvSpPr>
          <p:cNvPr id="7" name="Rounded Rectangle 6"/>
          <p:cNvSpPr/>
          <p:nvPr/>
        </p:nvSpPr>
        <p:spPr>
          <a:xfrm>
            <a:off x="502920" y="2176272"/>
            <a:ext cx="3606698" cy="4114800"/>
          </a:xfrm>
          <a:prstGeom prst="roundRect">
            <a:avLst>
              <a:gd name="adj" fmla="val 5000"/>
            </a:avLst>
          </a:prstGeom>
          <a:solidFill>
            <a:srgbClr val="FFFFFF"/>
          </a:solidFill>
          <a:ln>
            <a:noFill/>
          </a:ln>
          <a:effectLst/>
        </p:spPr>
        <p:txBody>
          <a:bodyPr rtlCol="0" anchor="ctr"/>
          <a:lstStyle/>
          <a:p/>
        </p:txBody>
      </p:sp>
      <p:sp>
        <p:nvSpPr>
          <p:cNvPr id="8" name="Rounded Rectangle 7"/>
          <p:cNvSpPr/>
          <p:nvPr/>
        </p:nvSpPr>
        <p:spPr>
          <a:xfrm>
            <a:off x="502920" y="2176272"/>
            <a:ext cx="3606698" cy="640080"/>
          </a:xfrm>
          <a:prstGeom prst="roundRect">
            <a:avLst>
              <a:gd name="adj" fmla="val 25000"/>
            </a:avLst>
          </a:prstGeom>
          <a:solidFill>
            <a:srgbClr val="B85C12"/>
          </a:solidFill>
          <a:ln>
            <a:noFill/>
          </a:ln>
          <a:effectLst/>
        </p:spPr>
        <p:txBody>
          <a:bodyPr rtlCol="0" anchor="ctr"/>
          <a:lstStyle/>
          <a:p/>
        </p:txBody>
      </p:sp>
      <p:sp>
        <p:nvSpPr>
          <p:cNvPr id="9" name="Rectangle 8"/>
          <p:cNvSpPr/>
          <p:nvPr/>
        </p:nvSpPr>
        <p:spPr>
          <a:xfrm>
            <a:off x="502920" y="2496312"/>
            <a:ext cx="3606698" cy="320040"/>
          </a:xfrm>
          <a:prstGeom prst="rect">
            <a:avLst/>
          </a:prstGeom>
          <a:solidFill>
            <a:srgbClr val="B85C12"/>
          </a:solidFill>
          <a:ln>
            <a:noFill/>
          </a:ln>
          <a:effectLst/>
        </p:spPr>
        <p:txBody>
          <a:bodyPr rtlCol="0" anchor="ctr"/>
          <a:lstStyle/>
          <a:p/>
        </p:txBody>
      </p:sp>
      <p:sp>
        <p:nvSpPr>
          <p:cNvPr id="10" name="TextBox 9"/>
          <p:cNvSpPr txBox="1"/>
          <p:nvPr/>
        </p:nvSpPr>
        <p:spPr>
          <a:xfrm>
            <a:off x="594360" y="2176272"/>
            <a:ext cx="3423818" cy="64008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K · Ne Biliyorum?</a:t>
            </a:r>
          </a:p>
        </p:txBody>
      </p:sp>
      <p:sp>
        <p:nvSpPr>
          <p:cNvPr id="11" name="Rounded Rectangle 10"/>
          <p:cNvSpPr/>
          <p:nvPr/>
        </p:nvSpPr>
        <p:spPr>
          <a:xfrm>
            <a:off x="502920" y="2176272"/>
            <a:ext cx="3606698" cy="4114800"/>
          </a:xfrm>
          <a:prstGeom prst="roundRect">
            <a:avLst>
              <a:gd name="adj" fmla="val 5000"/>
            </a:avLst>
          </a:prstGeom>
          <a:noFill/>
          <a:ln w="12700">
            <a:solidFill>
              <a:srgbClr val="D9D9D9"/>
            </a:solidFill>
          </a:ln>
          <a:effectLst/>
        </p:spPr>
        <p:txBody>
          <a:bodyPr rtlCol="0" anchor="ctr"/>
          <a:lstStyle/>
          <a:p/>
        </p:txBody>
      </p:sp>
      <p:cxnSp>
        <p:nvCxnSpPr>
          <p:cNvPr id="12" name="Connector 11"/>
          <p:cNvCxnSpPr/>
          <p:nvPr/>
        </p:nvCxnSpPr>
        <p:spPr>
          <a:xfrm>
            <a:off x="685800" y="3511296"/>
            <a:ext cx="3240938" cy="0"/>
          </a:xfrm>
          <a:prstGeom prst="line">
            <a:avLst/>
          </a:prstGeom>
          <a:ln w="12700">
            <a:solidFill>
              <a:srgbClr val="D9D9D9"/>
            </a:solidFill>
            <a:prstDash val="dash"/>
          </a:ln>
        </p:spPr>
      </p:cxnSp>
      <p:cxnSp>
        <p:nvCxnSpPr>
          <p:cNvPr id="13" name="Connector 12"/>
          <p:cNvCxnSpPr/>
          <p:nvPr/>
        </p:nvCxnSpPr>
        <p:spPr>
          <a:xfrm>
            <a:off x="685800" y="4206240"/>
            <a:ext cx="3240938" cy="0"/>
          </a:xfrm>
          <a:prstGeom prst="line">
            <a:avLst/>
          </a:prstGeom>
          <a:ln w="12700">
            <a:solidFill>
              <a:srgbClr val="D9D9D9"/>
            </a:solidFill>
            <a:prstDash val="dash"/>
          </a:ln>
        </p:spPr>
      </p:cxnSp>
      <p:cxnSp>
        <p:nvCxnSpPr>
          <p:cNvPr id="14" name="Connector 13"/>
          <p:cNvCxnSpPr/>
          <p:nvPr/>
        </p:nvCxnSpPr>
        <p:spPr>
          <a:xfrm>
            <a:off x="685800" y="4901184"/>
            <a:ext cx="3240938" cy="0"/>
          </a:xfrm>
          <a:prstGeom prst="line">
            <a:avLst/>
          </a:prstGeom>
          <a:ln w="12700">
            <a:solidFill>
              <a:srgbClr val="D9D9D9"/>
            </a:solidFill>
            <a:prstDash val="dash"/>
          </a:ln>
        </p:spPr>
      </p:cxnSp>
      <p:cxnSp>
        <p:nvCxnSpPr>
          <p:cNvPr id="15" name="Connector 14"/>
          <p:cNvCxnSpPr/>
          <p:nvPr/>
        </p:nvCxnSpPr>
        <p:spPr>
          <a:xfrm>
            <a:off x="685800" y="5596128"/>
            <a:ext cx="3240938" cy="0"/>
          </a:xfrm>
          <a:prstGeom prst="line">
            <a:avLst/>
          </a:prstGeom>
          <a:ln w="12700">
            <a:solidFill>
              <a:srgbClr val="D9D9D9"/>
            </a:solidFill>
            <a:prstDash val="dash"/>
          </a:ln>
        </p:spPr>
      </p:cxnSp>
      <p:sp>
        <p:nvSpPr>
          <p:cNvPr id="16" name="Rounded Rectangle 15"/>
          <p:cNvSpPr/>
          <p:nvPr/>
        </p:nvSpPr>
        <p:spPr>
          <a:xfrm>
            <a:off x="4292498" y="2176272"/>
            <a:ext cx="3606698" cy="4114800"/>
          </a:xfrm>
          <a:prstGeom prst="roundRect">
            <a:avLst>
              <a:gd name="adj" fmla="val 5000"/>
            </a:avLst>
          </a:prstGeom>
          <a:solidFill>
            <a:srgbClr val="FFFFFF"/>
          </a:solidFill>
          <a:ln>
            <a:noFill/>
          </a:ln>
          <a:effectLst/>
        </p:spPr>
        <p:txBody>
          <a:bodyPr rtlCol="0" anchor="ctr"/>
          <a:lstStyle/>
          <a:p/>
        </p:txBody>
      </p:sp>
      <p:sp>
        <p:nvSpPr>
          <p:cNvPr id="17" name="Rounded Rectangle 16"/>
          <p:cNvSpPr/>
          <p:nvPr/>
        </p:nvSpPr>
        <p:spPr>
          <a:xfrm>
            <a:off x="4292498" y="2176272"/>
            <a:ext cx="3606698" cy="640080"/>
          </a:xfrm>
          <a:prstGeom prst="roundRect">
            <a:avLst>
              <a:gd name="adj" fmla="val 25000"/>
            </a:avLst>
          </a:prstGeom>
          <a:solidFill>
            <a:srgbClr val="2C6696"/>
          </a:solidFill>
          <a:ln>
            <a:noFill/>
          </a:ln>
          <a:effectLst/>
        </p:spPr>
        <p:txBody>
          <a:bodyPr rtlCol="0" anchor="ctr"/>
          <a:lstStyle/>
          <a:p/>
        </p:txBody>
      </p:sp>
      <p:sp>
        <p:nvSpPr>
          <p:cNvPr id="18" name="Rectangle 17"/>
          <p:cNvSpPr/>
          <p:nvPr/>
        </p:nvSpPr>
        <p:spPr>
          <a:xfrm>
            <a:off x="4292498" y="2496312"/>
            <a:ext cx="3606698" cy="320040"/>
          </a:xfrm>
          <a:prstGeom prst="rect">
            <a:avLst/>
          </a:prstGeom>
          <a:solidFill>
            <a:srgbClr val="2C6696"/>
          </a:solidFill>
          <a:ln>
            <a:noFill/>
          </a:ln>
          <a:effectLst/>
        </p:spPr>
        <p:txBody>
          <a:bodyPr rtlCol="0" anchor="ctr"/>
          <a:lstStyle/>
          <a:p/>
        </p:txBody>
      </p:sp>
      <p:sp>
        <p:nvSpPr>
          <p:cNvPr id="19" name="TextBox 18"/>
          <p:cNvSpPr txBox="1"/>
          <p:nvPr/>
        </p:nvSpPr>
        <p:spPr>
          <a:xfrm>
            <a:off x="4383938" y="2176272"/>
            <a:ext cx="3423818" cy="64008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W · Ne Bilmek İstiyorum?</a:t>
            </a:r>
          </a:p>
        </p:txBody>
      </p:sp>
      <p:sp>
        <p:nvSpPr>
          <p:cNvPr id="20" name="Rounded Rectangle 19"/>
          <p:cNvSpPr/>
          <p:nvPr/>
        </p:nvSpPr>
        <p:spPr>
          <a:xfrm>
            <a:off x="4292498" y="2176272"/>
            <a:ext cx="3606698" cy="4114800"/>
          </a:xfrm>
          <a:prstGeom prst="roundRect">
            <a:avLst>
              <a:gd name="adj" fmla="val 5000"/>
            </a:avLst>
          </a:prstGeom>
          <a:noFill/>
          <a:ln w="12700">
            <a:solidFill>
              <a:srgbClr val="D9D9D9"/>
            </a:solidFill>
          </a:ln>
          <a:effectLst/>
        </p:spPr>
        <p:txBody>
          <a:bodyPr rtlCol="0" anchor="ctr"/>
          <a:lstStyle/>
          <a:p/>
        </p:txBody>
      </p:sp>
      <p:cxnSp>
        <p:nvCxnSpPr>
          <p:cNvPr id="21" name="Connector 20"/>
          <p:cNvCxnSpPr/>
          <p:nvPr/>
        </p:nvCxnSpPr>
        <p:spPr>
          <a:xfrm>
            <a:off x="4475378" y="3511296"/>
            <a:ext cx="3240938" cy="0"/>
          </a:xfrm>
          <a:prstGeom prst="line">
            <a:avLst/>
          </a:prstGeom>
          <a:ln w="12700">
            <a:solidFill>
              <a:srgbClr val="D9D9D9"/>
            </a:solidFill>
            <a:prstDash val="dash"/>
          </a:ln>
        </p:spPr>
      </p:cxnSp>
      <p:cxnSp>
        <p:nvCxnSpPr>
          <p:cNvPr id="22" name="Connector 21"/>
          <p:cNvCxnSpPr/>
          <p:nvPr/>
        </p:nvCxnSpPr>
        <p:spPr>
          <a:xfrm>
            <a:off x="4475378" y="4206240"/>
            <a:ext cx="3240938" cy="0"/>
          </a:xfrm>
          <a:prstGeom prst="line">
            <a:avLst/>
          </a:prstGeom>
          <a:ln w="12700">
            <a:solidFill>
              <a:srgbClr val="D9D9D9"/>
            </a:solidFill>
            <a:prstDash val="dash"/>
          </a:ln>
        </p:spPr>
      </p:cxnSp>
      <p:cxnSp>
        <p:nvCxnSpPr>
          <p:cNvPr id="23" name="Connector 22"/>
          <p:cNvCxnSpPr/>
          <p:nvPr/>
        </p:nvCxnSpPr>
        <p:spPr>
          <a:xfrm>
            <a:off x="4475378" y="4901184"/>
            <a:ext cx="3240938" cy="0"/>
          </a:xfrm>
          <a:prstGeom prst="line">
            <a:avLst/>
          </a:prstGeom>
          <a:ln w="12700">
            <a:solidFill>
              <a:srgbClr val="D9D9D9"/>
            </a:solidFill>
            <a:prstDash val="dash"/>
          </a:ln>
        </p:spPr>
      </p:cxnSp>
      <p:cxnSp>
        <p:nvCxnSpPr>
          <p:cNvPr id="24" name="Connector 23"/>
          <p:cNvCxnSpPr/>
          <p:nvPr/>
        </p:nvCxnSpPr>
        <p:spPr>
          <a:xfrm>
            <a:off x="4475378" y="5596128"/>
            <a:ext cx="3240938" cy="0"/>
          </a:xfrm>
          <a:prstGeom prst="line">
            <a:avLst/>
          </a:prstGeom>
          <a:ln w="12700">
            <a:solidFill>
              <a:srgbClr val="D9D9D9"/>
            </a:solidFill>
            <a:prstDash val="dash"/>
          </a:ln>
        </p:spPr>
      </p:cxnSp>
      <p:sp>
        <p:nvSpPr>
          <p:cNvPr id="25" name="Rounded Rectangle 24"/>
          <p:cNvSpPr/>
          <p:nvPr/>
        </p:nvSpPr>
        <p:spPr>
          <a:xfrm>
            <a:off x="8082076" y="2176272"/>
            <a:ext cx="3606698" cy="4114800"/>
          </a:xfrm>
          <a:prstGeom prst="roundRect">
            <a:avLst>
              <a:gd name="adj" fmla="val 5000"/>
            </a:avLst>
          </a:prstGeom>
          <a:solidFill>
            <a:srgbClr val="FFFFFF"/>
          </a:solidFill>
          <a:ln>
            <a:noFill/>
          </a:ln>
          <a:effectLst/>
        </p:spPr>
        <p:txBody>
          <a:bodyPr rtlCol="0" anchor="ctr"/>
          <a:lstStyle/>
          <a:p/>
        </p:txBody>
      </p:sp>
      <p:sp>
        <p:nvSpPr>
          <p:cNvPr id="26" name="Rounded Rectangle 25"/>
          <p:cNvSpPr/>
          <p:nvPr/>
        </p:nvSpPr>
        <p:spPr>
          <a:xfrm>
            <a:off x="8082076" y="2176272"/>
            <a:ext cx="3606698" cy="640080"/>
          </a:xfrm>
          <a:prstGeom prst="roundRect">
            <a:avLst>
              <a:gd name="adj" fmla="val 25000"/>
            </a:avLst>
          </a:prstGeom>
          <a:solidFill>
            <a:srgbClr val="D9D9D9"/>
          </a:solidFill>
          <a:ln>
            <a:noFill/>
          </a:ln>
          <a:effectLst/>
        </p:spPr>
        <p:txBody>
          <a:bodyPr rtlCol="0" anchor="ctr"/>
          <a:lstStyle/>
          <a:p/>
        </p:txBody>
      </p:sp>
      <p:sp>
        <p:nvSpPr>
          <p:cNvPr id="27" name="Rectangle 26"/>
          <p:cNvSpPr/>
          <p:nvPr/>
        </p:nvSpPr>
        <p:spPr>
          <a:xfrm>
            <a:off x="8082076" y="2496312"/>
            <a:ext cx="3606698" cy="320040"/>
          </a:xfrm>
          <a:prstGeom prst="rect">
            <a:avLst/>
          </a:prstGeom>
          <a:solidFill>
            <a:srgbClr val="D9D9D9"/>
          </a:solidFill>
          <a:ln>
            <a:noFill/>
          </a:ln>
          <a:effectLst/>
        </p:spPr>
        <p:txBody>
          <a:bodyPr rtlCol="0" anchor="ctr"/>
          <a:lstStyle/>
          <a:p/>
        </p:txBody>
      </p:sp>
      <p:sp>
        <p:nvSpPr>
          <p:cNvPr id="28" name="TextBox 27"/>
          <p:cNvSpPr txBox="1"/>
          <p:nvPr/>
        </p:nvSpPr>
        <p:spPr>
          <a:xfrm>
            <a:off x="8173516" y="2176272"/>
            <a:ext cx="3423818" cy="64008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L · Ne öğrendim? (29. hafta)</a:t>
            </a:r>
          </a:p>
        </p:txBody>
      </p:sp>
      <p:sp>
        <p:nvSpPr>
          <p:cNvPr id="29" name="Rounded Rectangle 28"/>
          <p:cNvSpPr/>
          <p:nvPr/>
        </p:nvSpPr>
        <p:spPr>
          <a:xfrm>
            <a:off x="8082076" y="2176272"/>
            <a:ext cx="3606698" cy="4114800"/>
          </a:xfrm>
          <a:prstGeom prst="roundRect">
            <a:avLst>
              <a:gd name="adj" fmla="val 5000"/>
            </a:avLst>
          </a:prstGeom>
          <a:noFill/>
          <a:ln w="12700">
            <a:solidFill>
              <a:srgbClr val="D9D9D9"/>
            </a:solidFill>
          </a:ln>
          <a:effectLst/>
        </p:spPr>
        <p:txBody>
          <a:bodyPr rtlCol="0" anchor="ctr"/>
          <a:lstStyle/>
          <a:p/>
        </p:txBody>
      </p:sp>
      <p:sp>
        <p:nvSpPr>
          <p:cNvPr id="30" name="TextBox 29"/>
          <p:cNvSpPr txBox="1"/>
          <p:nvPr/>
        </p:nvSpPr>
        <p:spPr>
          <a:xfrm>
            <a:off x="8219236" y="2953512"/>
            <a:ext cx="3332378" cy="3200400"/>
          </a:xfrm>
          <a:prstGeom prst="rect">
            <a:avLst/>
          </a:prstGeom>
          <a:noFill/>
        </p:spPr>
        <p:txBody>
          <a:bodyPr wrap="square" anchor="ctr" lIns="73152" rIns="73152" tIns="36576" bIns="36576">
            <a:noAutofit/>
          </a:bodyPr>
          <a:lstStyle/>
          <a:p>
            <a:pPr algn="l">
              <a:spcBef>
                <a:spcPts val="0"/>
              </a:spcBef>
              <a:spcAft>
                <a:spcPts val="0"/>
              </a:spcAft>
            </a:pPr>
            <a:r>
              <a:rPr lang="tr-TR" sz="1800" b="0" i="1">
                <a:solidFill>
                  <a:srgbClr val="767676"/>
                </a:solidFill>
                <a:latin typeface="Calibri"/>
              </a:rPr>
              <a:t>Bu sütunu 29. haftada, ünitenin sonunda dolduracağız.</a:t>
            </a:r>
          </a:p>
        </p:txBody>
      </p:sp>
      <p:sp>
        <p:nvSpPr>
          <p:cNvPr id="31" name="TextBox 3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32" name="Rounded Rectangle 3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174</a:t>
            </a:r>
          </a:p>
        </p:txBody>
      </p:sp>
      <p:sp>
        <p:nvSpPr>
          <p:cNvPr id="33" name="TextBox 3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25 / 166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800" b="1" i="0">
                <a:solidFill>
                  <a:srgbClr val="FFFFFF"/>
                </a:solidFill>
                <a:latin typeface="Calibri"/>
              </a:rPr>
              <a:t>KWL: Ne biliyorum? Ne bilmek istiyorum?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07008"/>
            <a:ext cx="11185855" cy="82296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1" i="0">
                <a:solidFill>
                  <a:srgbClr val="262626"/>
                </a:solidFill>
                <a:latin typeface="Calibri"/>
              </a:rPr>
              <a:t>Ekonomik faaliyetleri etkileyen doğal ve beşerî faktörler hakkında bildikleriniz ve bilmek istediklerinizi formun ilgili alanlarına yazınız. Yazdıklarınızı arkadaşlarınızla paylaşınız.</a:t>
            </a:r>
          </a:p>
        </p:txBody>
      </p:sp>
      <p:sp>
        <p:nvSpPr>
          <p:cNvPr id="7" name="Rounded Rectangle 6"/>
          <p:cNvSpPr/>
          <p:nvPr/>
        </p:nvSpPr>
        <p:spPr>
          <a:xfrm>
            <a:off x="502920" y="2176272"/>
            <a:ext cx="3606698" cy="4114800"/>
          </a:xfrm>
          <a:prstGeom prst="roundRect">
            <a:avLst>
              <a:gd name="adj" fmla="val 5000"/>
            </a:avLst>
          </a:prstGeom>
          <a:solidFill>
            <a:srgbClr val="FFFFFF"/>
          </a:solidFill>
          <a:ln>
            <a:noFill/>
          </a:ln>
          <a:effectLst/>
        </p:spPr>
        <p:txBody>
          <a:bodyPr rtlCol="0" anchor="ctr"/>
          <a:lstStyle/>
          <a:p/>
        </p:txBody>
      </p:sp>
      <p:sp>
        <p:nvSpPr>
          <p:cNvPr id="8" name="Rounded Rectangle 7"/>
          <p:cNvSpPr/>
          <p:nvPr/>
        </p:nvSpPr>
        <p:spPr>
          <a:xfrm>
            <a:off x="502920" y="2176272"/>
            <a:ext cx="3606698" cy="640080"/>
          </a:xfrm>
          <a:prstGeom prst="roundRect">
            <a:avLst>
              <a:gd name="adj" fmla="val 25000"/>
            </a:avLst>
          </a:prstGeom>
          <a:solidFill>
            <a:srgbClr val="B85C12"/>
          </a:solidFill>
          <a:ln>
            <a:noFill/>
          </a:ln>
          <a:effectLst/>
        </p:spPr>
        <p:txBody>
          <a:bodyPr rtlCol="0" anchor="ctr"/>
          <a:lstStyle/>
          <a:p/>
        </p:txBody>
      </p:sp>
      <p:sp>
        <p:nvSpPr>
          <p:cNvPr id="9" name="Rectangle 8"/>
          <p:cNvSpPr/>
          <p:nvPr/>
        </p:nvSpPr>
        <p:spPr>
          <a:xfrm>
            <a:off x="502920" y="2496312"/>
            <a:ext cx="3606698" cy="320040"/>
          </a:xfrm>
          <a:prstGeom prst="rect">
            <a:avLst/>
          </a:prstGeom>
          <a:solidFill>
            <a:srgbClr val="B85C12"/>
          </a:solidFill>
          <a:ln>
            <a:noFill/>
          </a:ln>
          <a:effectLst/>
        </p:spPr>
        <p:txBody>
          <a:bodyPr rtlCol="0" anchor="ctr"/>
          <a:lstStyle/>
          <a:p/>
        </p:txBody>
      </p:sp>
      <p:sp>
        <p:nvSpPr>
          <p:cNvPr id="10" name="TextBox 9"/>
          <p:cNvSpPr txBox="1"/>
          <p:nvPr/>
        </p:nvSpPr>
        <p:spPr>
          <a:xfrm>
            <a:off x="594360" y="2176272"/>
            <a:ext cx="3423818" cy="64008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K · Ne Biliyorum?</a:t>
            </a:r>
          </a:p>
        </p:txBody>
      </p:sp>
      <p:sp>
        <p:nvSpPr>
          <p:cNvPr id="11" name="Rounded Rectangle 10"/>
          <p:cNvSpPr/>
          <p:nvPr/>
        </p:nvSpPr>
        <p:spPr>
          <a:xfrm>
            <a:off x="502920" y="2176272"/>
            <a:ext cx="3606698" cy="4114800"/>
          </a:xfrm>
          <a:prstGeom prst="roundRect">
            <a:avLst>
              <a:gd name="adj" fmla="val 5000"/>
            </a:avLst>
          </a:prstGeom>
          <a:noFill/>
          <a:ln w="12700">
            <a:solidFill>
              <a:srgbClr val="D9D9D9"/>
            </a:solidFill>
          </a:ln>
          <a:effectLst/>
        </p:spPr>
        <p:txBody>
          <a:bodyPr rtlCol="0" anchor="ctr"/>
          <a:lstStyle/>
          <a:p/>
        </p:txBody>
      </p:sp>
      <p:sp>
        <p:nvSpPr>
          <p:cNvPr id="12" name="TextBox 11"/>
          <p:cNvSpPr txBox="1"/>
          <p:nvPr/>
        </p:nvSpPr>
        <p:spPr>
          <a:xfrm>
            <a:off x="640080" y="2953512"/>
            <a:ext cx="3332378" cy="3200400"/>
          </a:xfrm>
          <a:prstGeom prst="rect">
            <a:avLst/>
          </a:prstGeom>
          <a:noFill/>
        </p:spPr>
        <p:txBody>
          <a:bodyPr wrap="square" anchor="t" lIns="73152" rIns="73152" tIns="36576" bIns="36576">
            <a:noAutofit/>
          </a:bodyPr>
          <a:lstStyle/>
          <a:p>
            <a:pPr algn="l" marL="236189" indent="-236189">
              <a:spcBef>
                <a:spcPts val="0"/>
              </a:spcBef>
              <a:spcAft>
                <a:spcPts val="1000"/>
              </a:spcAft>
            </a:pPr>
            <a:r>
              <a:rPr lang="tr-TR" sz="1900" b="1" i="0">
                <a:solidFill>
                  <a:srgbClr val="B85C12"/>
                </a:solidFill>
                <a:latin typeface="Calibri"/>
              </a:rPr>
              <a:t>•  </a:t>
            </a:r>
            <a:r>
              <a:rPr lang="tr-TR" sz="1900" b="0" i="0">
                <a:solidFill>
                  <a:srgbClr val="262626"/>
                </a:solidFill>
                <a:latin typeface="Calibri"/>
              </a:rPr>
              <a:t>İklim, hangi ürünlerin yetiştirileceğini etkiler.</a:t>
            </a:r>
          </a:p>
          <a:p>
            <a:pPr algn="l" marL="236189" indent="-236189">
              <a:spcBef>
                <a:spcPts val="0"/>
              </a:spcBef>
              <a:spcAft>
                <a:spcPts val="1000"/>
              </a:spcAft>
            </a:pPr>
            <a:r>
              <a:rPr lang="tr-TR" sz="1900" b="1" i="0">
                <a:solidFill>
                  <a:srgbClr val="B85C12"/>
                </a:solidFill>
                <a:latin typeface="Calibri"/>
              </a:rPr>
              <a:t>•  </a:t>
            </a:r>
            <a:r>
              <a:rPr lang="tr-TR" sz="1900" b="0" i="0">
                <a:solidFill>
                  <a:srgbClr val="262626"/>
                </a:solidFill>
                <a:latin typeface="Calibri"/>
              </a:rPr>
              <a:t>Fabrikalar ulaşımın kolay olduğu yerlere kurulur.</a:t>
            </a:r>
          </a:p>
          <a:p>
            <a:pPr algn="l" marL="236189" indent="-236189">
              <a:spcBef>
                <a:spcPts val="0"/>
              </a:spcBef>
              <a:spcAft>
                <a:spcPts val="0"/>
              </a:spcAft>
            </a:pPr>
            <a:r>
              <a:rPr lang="tr-TR" sz="1900" b="1" i="0">
                <a:solidFill>
                  <a:srgbClr val="B85C12"/>
                </a:solidFill>
                <a:latin typeface="Calibri"/>
              </a:rPr>
              <a:t>•  </a:t>
            </a:r>
            <a:r>
              <a:rPr lang="tr-TR" sz="1900" b="0" i="0">
                <a:solidFill>
                  <a:srgbClr val="262626"/>
                </a:solidFill>
                <a:latin typeface="Calibri"/>
              </a:rPr>
              <a:t>Doğal güzellikler turizmi geliştirir.</a:t>
            </a:r>
          </a:p>
        </p:txBody>
      </p:sp>
      <p:sp>
        <p:nvSpPr>
          <p:cNvPr id="13" name="Rounded Rectangle 12"/>
          <p:cNvSpPr/>
          <p:nvPr/>
        </p:nvSpPr>
        <p:spPr>
          <a:xfrm>
            <a:off x="4292498" y="2176272"/>
            <a:ext cx="3606698" cy="4114800"/>
          </a:xfrm>
          <a:prstGeom prst="roundRect">
            <a:avLst>
              <a:gd name="adj" fmla="val 5000"/>
            </a:avLst>
          </a:prstGeom>
          <a:solidFill>
            <a:srgbClr val="FFFFFF"/>
          </a:solidFill>
          <a:ln>
            <a:noFill/>
          </a:ln>
          <a:effectLst/>
        </p:spPr>
        <p:txBody>
          <a:bodyPr rtlCol="0" anchor="ctr"/>
          <a:lstStyle/>
          <a:p/>
        </p:txBody>
      </p:sp>
      <p:sp>
        <p:nvSpPr>
          <p:cNvPr id="14" name="Rounded Rectangle 13"/>
          <p:cNvSpPr/>
          <p:nvPr/>
        </p:nvSpPr>
        <p:spPr>
          <a:xfrm>
            <a:off x="4292498" y="2176272"/>
            <a:ext cx="3606698" cy="640080"/>
          </a:xfrm>
          <a:prstGeom prst="roundRect">
            <a:avLst>
              <a:gd name="adj" fmla="val 25000"/>
            </a:avLst>
          </a:prstGeom>
          <a:solidFill>
            <a:srgbClr val="2C6696"/>
          </a:solidFill>
          <a:ln>
            <a:noFill/>
          </a:ln>
          <a:effectLst/>
        </p:spPr>
        <p:txBody>
          <a:bodyPr rtlCol="0" anchor="ctr"/>
          <a:lstStyle/>
          <a:p/>
        </p:txBody>
      </p:sp>
      <p:sp>
        <p:nvSpPr>
          <p:cNvPr id="15" name="Rectangle 14"/>
          <p:cNvSpPr/>
          <p:nvPr/>
        </p:nvSpPr>
        <p:spPr>
          <a:xfrm>
            <a:off x="4292498" y="2496312"/>
            <a:ext cx="3606698" cy="320040"/>
          </a:xfrm>
          <a:prstGeom prst="rect">
            <a:avLst/>
          </a:prstGeom>
          <a:solidFill>
            <a:srgbClr val="2C6696"/>
          </a:solidFill>
          <a:ln>
            <a:noFill/>
          </a:ln>
          <a:effectLst/>
        </p:spPr>
        <p:txBody>
          <a:bodyPr rtlCol="0" anchor="ctr"/>
          <a:lstStyle/>
          <a:p/>
        </p:txBody>
      </p:sp>
      <p:sp>
        <p:nvSpPr>
          <p:cNvPr id="16" name="TextBox 15"/>
          <p:cNvSpPr txBox="1"/>
          <p:nvPr/>
        </p:nvSpPr>
        <p:spPr>
          <a:xfrm>
            <a:off x="4383938" y="2176272"/>
            <a:ext cx="3423818" cy="64008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W · Ne Bilmek İstiyorum?</a:t>
            </a:r>
          </a:p>
        </p:txBody>
      </p:sp>
      <p:sp>
        <p:nvSpPr>
          <p:cNvPr id="17" name="Rounded Rectangle 16"/>
          <p:cNvSpPr/>
          <p:nvPr/>
        </p:nvSpPr>
        <p:spPr>
          <a:xfrm>
            <a:off x="4292498" y="2176272"/>
            <a:ext cx="3606698" cy="4114800"/>
          </a:xfrm>
          <a:prstGeom prst="roundRect">
            <a:avLst>
              <a:gd name="adj" fmla="val 5000"/>
            </a:avLst>
          </a:prstGeom>
          <a:noFill/>
          <a:ln w="12700">
            <a:solidFill>
              <a:srgbClr val="D9D9D9"/>
            </a:solidFill>
          </a:ln>
          <a:effectLst/>
        </p:spPr>
        <p:txBody>
          <a:bodyPr rtlCol="0" anchor="ctr"/>
          <a:lstStyle/>
          <a:p/>
        </p:txBody>
      </p:sp>
      <p:sp>
        <p:nvSpPr>
          <p:cNvPr id="18" name="TextBox 17"/>
          <p:cNvSpPr txBox="1"/>
          <p:nvPr/>
        </p:nvSpPr>
        <p:spPr>
          <a:xfrm>
            <a:off x="4429658" y="2953512"/>
            <a:ext cx="3332378" cy="3200400"/>
          </a:xfrm>
          <a:prstGeom prst="rect">
            <a:avLst/>
          </a:prstGeom>
          <a:noFill/>
        </p:spPr>
        <p:txBody>
          <a:bodyPr wrap="square" anchor="t" lIns="73152" rIns="73152" tIns="36576" bIns="36576">
            <a:noAutofit/>
          </a:bodyPr>
          <a:lstStyle/>
          <a:p>
            <a:pPr algn="l" marL="236189" indent="-236189">
              <a:spcBef>
                <a:spcPts val="0"/>
              </a:spcBef>
              <a:spcAft>
                <a:spcPts val="1000"/>
              </a:spcAft>
            </a:pPr>
            <a:r>
              <a:rPr lang="tr-TR" sz="1900" b="1" i="0">
                <a:solidFill>
                  <a:srgbClr val="2C6696"/>
                </a:solidFill>
                <a:latin typeface="Calibri"/>
              </a:rPr>
              <a:t>•  </a:t>
            </a:r>
            <a:r>
              <a:rPr lang="tr-TR" sz="1900" b="0" i="0">
                <a:solidFill>
                  <a:srgbClr val="262626"/>
                </a:solidFill>
                <a:latin typeface="Calibri"/>
              </a:rPr>
              <a:t>Japonya'nın ham maddesi az olduğu hâlde sanayisi nasıl gelişti?</a:t>
            </a:r>
          </a:p>
          <a:p>
            <a:pPr algn="l" marL="236189" indent="-236189">
              <a:spcBef>
                <a:spcPts val="0"/>
              </a:spcBef>
              <a:spcAft>
                <a:spcPts val="1000"/>
              </a:spcAft>
            </a:pPr>
            <a:r>
              <a:rPr lang="tr-TR" sz="1900" b="1" i="0">
                <a:solidFill>
                  <a:srgbClr val="2C6696"/>
                </a:solidFill>
                <a:latin typeface="Calibri"/>
              </a:rPr>
              <a:t>•  </a:t>
            </a:r>
            <a:r>
              <a:rPr lang="tr-TR" sz="1900" b="0" i="0">
                <a:solidFill>
                  <a:srgbClr val="262626"/>
                </a:solidFill>
                <a:latin typeface="Calibri"/>
              </a:rPr>
              <a:t>Çöllerde tarım yapılabilir mi?</a:t>
            </a:r>
          </a:p>
          <a:p>
            <a:pPr algn="l" marL="236189" indent="-236189">
              <a:spcBef>
                <a:spcPts val="0"/>
              </a:spcBef>
              <a:spcAft>
                <a:spcPts val="0"/>
              </a:spcAft>
            </a:pPr>
            <a:r>
              <a:rPr lang="tr-TR" sz="1900" b="1" i="0">
                <a:solidFill>
                  <a:srgbClr val="2C6696"/>
                </a:solidFill>
                <a:latin typeface="Calibri"/>
              </a:rPr>
              <a:t>•  </a:t>
            </a:r>
            <a:r>
              <a:rPr lang="tr-TR" sz="1900" b="0" i="0">
                <a:solidFill>
                  <a:srgbClr val="262626"/>
                </a:solidFill>
                <a:latin typeface="Calibri"/>
              </a:rPr>
              <a:t>Bir fabrikanın yeri neye göre seçilir?</a:t>
            </a:r>
          </a:p>
        </p:txBody>
      </p:sp>
      <p:sp>
        <p:nvSpPr>
          <p:cNvPr id="19" name="Rounded Rectangle 18"/>
          <p:cNvSpPr/>
          <p:nvPr/>
        </p:nvSpPr>
        <p:spPr>
          <a:xfrm>
            <a:off x="8082076" y="2176272"/>
            <a:ext cx="3606698" cy="4114800"/>
          </a:xfrm>
          <a:prstGeom prst="roundRect">
            <a:avLst>
              <a:gd name="adj" fmla="val 5000"/>
            </a:avLst>
          </a:prstGeom>
          <a:solidFill>
            <a:srgbClr val="FFFFFF"/>
          </a:solidFill>
          <a:ln>
            <a:noFill/>
          </a:ln>
          <a:effectLst/>
        </p:spPr>
        <p:txBody>
          <a:bodyPr rtlCol="0" anchor="ctr"/>
          <a:lstStyle/>
          <a:p/>
        </p:txBody>
      </p:sp>
      <p:sp>
        <p:nvSpPr>
          <p:cNvPr id="20" name="Rounded Rectangle 19"/>
          <p:cNvSpPr/>
          <p:nvPr/>
        </p:nvSpPr>
        <p:spPr>
          <a:xfrm>
            <a:off x="8082076" y="2176272"/>
            <a:ext cx="3606698" cy="640080"/>
          </a:xfrm>
          <a:prstGeom prst="roundRect">
            <a:avLst>
              <a:gd name="adj" fmla="val 25000"/>
            </a:avLst>
          </a:prstGeom>
          <a:solidFill>
            <a:srgbClr val="D9D9D9"/>
          </a:solidFill>
          <a:ln>
            <a:noFill/>
          </a:ln>
          <a:effectLst/>
        </p:spPr>
        <p:txBody>
          <a:bodyPr rtlCol="0" anchor="ctr"/>
          <a:lstStyle/>
          <a:p/>
        </p:txBody>
      </p:sp>
      <p:sp>
        <p:nvSpPr>
          <p:cNvPr id="21" name="Rectangle 20"/>
          <p:cNvSpPr/>
          <p:nvPr/>
        </p:nvSpPr>
        <p:spPr>
          <a:xfrm>
            <a:off x="8082076" y="2496312"/>
            <a:ext cx="3606698" cy="320040"/>
          </a:xfrm>
          <a:prstGeom prst="rect">
            <a:avLst/>
          </a:prstGeom>
          <a:solidFill>
            <a:srgbClr val="D9D9D9"/>
          </a:solidFill>
          <a:ln>
            <a:noFill/>
          </a:ln>
          <a:effectLst/>
        </p:spPr>
        <p:txBody>
          <a:bodyPr rtlCol="0" anchor="ctr"/>
          <a:lstStyle/>
          <a:p/>
        </p:txBody>
      </p:sp>
      <p:sp>
        <p:nvSpPr>
          <p:cNvPr id="22" name="TextBox 21"/>
          <p:cNvSpPr txBox="1"/>
          <p:nvPr/>
        </p:nvSpPr>
        <p:spPr>
          <a:xfrm>
            <a:off x="8173516" y="2176272"/>
            <a:ext cx="3423818" cy="64008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L · Ne öğrendim? (29. hafta)</a:t>
            </a:r>
          </a:p>
        </p:txBody>
      </p:sp>
      <p:sp>
        <p:nvSpPr>
          <p:cNvPr id="23" name="Rounded Rectangle 22"/>
          <p:cNvSpPr/>
          <p:nvPr/>
        </p:nvSpPr>
        <p:spPr>
          <a:xfrm>
            <a:off x="8082076" y="2176272"/>
            <a:ext cx="3606698" cy="4114800"/>
          </a:xfrm>
          <a:prstGeom prst="roundRect">
            <a:avLst>
              <a:gd name="adj" fmla="val 5000"/>
            </a:avLst>
          </a:prstGeom>
          <a:noFill/>
          <a:ln w="12700">
            <a:solidFill>
              <a:srgbClr val="D9D9D9"/>
            </a:solidFill>
          </a:ln>
          <a:effectLst/>
        </p:spPr>
        <p:txBody>
          <a:bodyPr rtlCol="0" anchor="ctr"/>
          <a:lstStyle/>
          <a:p/>
        </p:txBody>
      </p:sp>
      <p:sp>
        <p:nvSpPr>
          <p:cNvPr id="24" name="TextBox 23"/>
          <p:cNvSpPr txBox="1"/>
          <p:nvPr/>
        </p:nvSpPr>
        <p:spPr>
          <a:xfrm>
            <a:off x="8219236" y="2953512"/>
            <a:ext cx="3332378" cy="3200400"/>
          </a:xfrm>
          <a:prstGeom prst="rect">
            <a:avLst/>
          </a:prstGeom>
          <a:noFill/>
        </p:spPr>
        <p:txBody>
          <a:bodyPr wrap="square" anchor="ctr" lIns="73152" rIns="73152" tIns="36576" bIns="36576">
            <a:noAutofit/>
          </a:bodyPr>
          <a:lstStyle/>
          <a:p>
            <a:pPr algn="l">
              <a:spcBef>
                <a:spcPts val="0"/>
              </a:spcBef>
              <a:spcAft>
                <a:spcPts val="0"/>
              </a:spcAft>
            </a:pPr>
            <a:r>
              <a:rPr lang="tr-TR" sz="1800" b="0" i="1">
                <a:solidFill>
                  <a:srgbClr val="767676"/>
                </a:solidFill>
                <a:latin typeface="Calibri"/>
              </a:rPr>
              <a:t>Bu sütunu 29. haftada, ünitenin sonunda dolduracağız.</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6" name="Rounded Rectangle 2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174</a:t>
            </a:r>
          </a:p>
        </p:txBody>
      </p:sp>
      <p:sp>
        <p:nvSpPr>
          <p:cNvPr id="27" name="TextBox 2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26 / 166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Soru duvarı: en iyi merak sorumuz</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İKİLİ · 5 dk</a:t>
            </a:r>
          </a:p>
        </p:txBody>
      </p:sp>
      <p:sp>
        <p:nvSpPr>
          <p:cNvPr id="6" name="Rounded Rectangle 5"/>
          <p:cNvSpPr/>
          <p:nvPr/>
        </p:nvSpPr>
        <p:spPr>
          <a:xfrm>
            <a:off x="502920" y="1216152"/>
            <a:ext cx="6766560" cy="1591056"/>
          </a:xfrm>
          <a:prstGeom prst="roundRect">
            <a:avLst>
              <a:gd name="adj" fmla="val 8000"/>
            </a:avLst>
          </a:prstGeom>
          <a:solidFill>
            <a:srgbClr val="F0F0F0"/>
          </a:solidFill>
          <a:ln>
            <a:noFill/>
          </a:ln>
          <a:effectLst/>
        </p:spPr>
        <p:txBody>
          <a:bodyPr rtlCol="0" anchor="ctr"/>
          <a:lstStyle/>
          <a:p/>
        </p:txBody>
      </p:sp>
      <p:sp>
        <p:nvSpPr>
          <p:cNvPr id="7" name="Rounded Rectangle 6"/>
          <p:cNvSpPr/>
          <p:nvPr/>
        </p:nvSpPr>
        <p:spPr>
          <a:xfrm>
            <a:off x="502920" y="1216152"/>
            <a:ext cx="1600200" cy="1591056"/>
          </a:xfrm>
          <a:prstGeom prst="roundRect">
            <a:avLst>
              <a:gd name="adj" fmla="val 8000"/>
            </a:avLst>
          </a:prstGeom>
          <a:solidFill>
            <a:srgbClr val="B85C12"/>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SEÇ</a:t>
            </a:r>
          </a:p>
        </p:txBody>
      </p:sp>
      <p:sp>
        <p:nvSpPr>
          <p:cNvPr id="8" name="TextBox 7"/>
          <p:cNvSpPr txBox="1"/>
          <p:nvPr/>
        </p:nvSpPr>
        <p:spPr>
          <a:xfrm>
            <a:off x="2240280" y="1216152"/>
            <a:ext cx="3703320" cy="1591056"/>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W sütunlarınızdan en iyi merak sorunuzu ikili seçin.</a:t>
            </a:r>
          </a:p>
        </p:txBody>
      </p:sp>
      <p:sp>
        <p:nvSpPr>
          <p:cNvPr id="9" name="Rounded Rectangle 8"/>
          <p:cNvSpPr/>
          <p:nvPr/>
        </p:nvSpPr>
        <p:spPr>
          <a:xfrm>
            <a:off x="6126480" y="1737360"/>
            <a:ext cx="1005840" cy="548640"/>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2 dk</a:t>
            </a:r>
          </a:p>
        </p:txBody>
      </p:sp>
      <p:sp>
        <p:nvSpPr>
          <p:cNvPr id="10" name="Rounded Rectangle 9"/>
          <p:cNvSpPr/>
          <p:nvPr/>
        </p:nvSpPr>
        <p:spPr>
          <a:xfrm>
            <a:off x="502920" y="2935224"/>
            <a:ext cx="6766560" cy="1591056"/>
          </a:xfrm>
          <a:prstGeom prst="roundRect">
            <a:avLst>
              <a:gd name="adj" fmla="val 8000"/>
            </a:avLst>
          </a:prstGeom>
          <a:solidFill>
            <a:srgbClr val="F0F0F0"/>
          </a:solidFill>
          <a:ln>
            <a:noFill/>
          </a:ln>
          <a:effectLst/>
        </p:spPr>
        <p:txBody>
          <a:bodyPr rtlCol="0" anchor="ctr"/>
          <a:lstStyle/>
          <a:p/>
        </p:txBody>
      </p:sp>
      <p:sp>
        <p:nvSpPr>
          <p:cNvPr id="11" name="Rounded Rectangle 10"/>
          <p:cNvSpPr/>
          <p:nvPr/>
        </p:nvSpPr>
        <p:spPr>
          <a:xfrm>
            <a:off x="502920" y="2935224"/>
            <a:ext cx="1600200" cy="1591056"/>
          </a:xfrm>
          <a:prstGeom prst="roundRect">
            <a:avLst>
              <a:gd name="adj" fmla="val 8000"/>
            </a:avLst>
          </a:prstGeom>
          <a:solidFill>
            <a:srgbClr val="B85C12"/>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YAZ</a:t>
            </a:r>
          </a:p>
        </p:txBody>
      </p:sp>
      <p:sp>
        <p:nvSpPr>
          <p:cNvPr id="12" name="TextBox 11"/>
          <p:cNvSpPr txBox="1"/>
          <p:nvPr/>
        </p:nvSpPr>
        <p:spPr>
          <a:xfrm>
            <a:off x="2240280" y="2935224"/>
            <a:ext cx="4937760" cy="1591056"/>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Soruyu yapışkan nota okunaklı yazın.</a:t>
            </a:r>
          </a:p>
        </p:txBody>
      </p:sp>
      <p:sp>
        <p:nvSpPr>
          <p:cNvPr id="13" name="Rounded Rectangle 12"/>
          <p:cNvSpPr/>
          <p:nvPr/>
        </p:nvSpPr>
        <p:spPr>
          <a:xfrm>
            <a:off x="502920" y="4654296"/>
            <a:ext cx="6766560" cy="1591056"/>
          </a:xfrm>
          <a:prstGeom prst="roundRect">
            <a:avLst>
              <a:gd name="adj" fmla="val 8000"/>
            </a:avLst>
          </a:prstGeom>
          <a:solidFill>
            <a:srgbClr val="F0F0F0"/>
          </a:solidFill>
          <a:ln>
            <a:noFill/>
          </a:ln>
          <a:effectLst/>
        </p:spPr>
        <p:txBody>
          <a:bodyPr rtlCol="0" anchor="ctr"/>
          <a:lstStyle/>
          <a:p/>
        </p:txBody>
      </p:sp>
      <p:sp>
        <p:nvSpPr>
          <p:cNvPr id="14" name="Rounded Rectangle 13"/>
          <p:cNvSpPr/>
          <p:nvPr/>
        </p:nvSpPr>
        <p:spPr>
          <a:xfrm>
            <a:off x="502920" y="4654296"/>
            <a:ext cx="1600200" cy="1591056"/>
          </a:xfrm>
          <a:prstGeom prst="roundRect">
            <a:avLst>
              <a:gd name="adj" fmla="val 8000"/>
            </a:avLst>
          </a:prstGeom>
          <a:solidFill>
            <a:srgbClr val="B85C12"/>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AS</a:t>
            </a:r>
          </a:p>
        </p:txBody>
      </p:sp>
      <p:sp>
        <p:nvSpPr>
          <p:cNvPr id="15" name="TextBox 14"/>
          <p:cNvSpPr txBox="1"/>
          <p:nvPr/>
        </p:nvSpPr>
        <p:spPr>
          <a:xfrm>
            <a:off x="2240280" y="4654296"/>
            <a:ext cx="3703320" cy="1591056"/>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Malzeme sorumlusu notu soru duvarına asar.</a:t>
            </a:r>
          </a:p>
        </p:txBody>
      </p:sp>
      <p:sp>
        <p:nvSpPr>
          <p:cNvPr id="16" name="Rounded Rectangle 15"/>
          <p:cNvSpPr/>
          <p:nvPr/>
        </p:nvSpPr>
        <p:spPr>
          <a:xfrm>
            <a:off x="6126480" y="5175504"/>
            <a:ext cx="1005840" cy="548640"/>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3 dk</a:t>
            </a:r>
          </a:p>
        </p:txBody>
      </p:sp>
      <p:sp>
        <p:nvSpPr>
          <p:cNvPr id="17" name="Rounded Rectangle 16"/>
          <p:cNvSpPr/>
          <p:nvPr/>
        </p:nvSpPr>
        <p:spPr>
          <a:xfrm>
            <a:off x="7498080" y="1216152"/>
            <a:ext cx="4190695" cy="502920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l">
              <a:spcBef>
                <a:spcPts val="0"/>
              </a:spcBef>
              <a:spcAft>
                <a:spcPts val="1000"/>
              </a:spcAft>
            </a:pPr>
            <a:r>
              <a:rPr lang="tr-TR" sz="2200" b="1" i="0">
                <a:solidFill>
                  <a:srgbClr val="B85C12"/>
                </a:solidFill>
                <a:latin typeface="Calibri"/>
              </a:rPr>
              <a:t>İyi bir merak sorusu</a:t>
            </a:r>
          </a:p>
          <a:p>
            <a:pPr algn="l" marL="273482" indent="-273482">
              <a:spcBef>
                <a:spcPts val="0"/>
              </a:spcBef>
              <a:spcAft>
                <a:spcPts val="1000"/>
              </a:spcAft>
            </a:pPr>
            <a:r>
              <a:rPr lang="tr-TR" sz="2200" b="1" i="0">
                <a:solidFill>
                  <a:srgbClr val="2C6696"/>
                </a:solidFill>
                <a:latin typeface="Calibri"/>
              </a:rPr>
              <a:t>•  </a:t>
            </a:r>
            <a:r>
              <a:rPr lang="tr-TR" sz="2200" b="0" i="0">
                <a:solidFill>
                  <a:srgbClr val="262626"/>
                </a:solidFill>
                <a:latin typeface="Calibri"/>
              </a:rPr>
              <a:t>Neden…? Nasıl…? Ne olurdu…?</a:t>
            </a:r>
          </a:p>
          <a:p>
            <a:pPr algn="l" marL="273482" indent="-273482">
              <a:spcBef>
                <a:spcPts val="0"/>
              </a:spcBef>
              <a:spcAft>
                <a:spcPts val="1000"/>
              </a:spcAft>
            </a:pPr>
            <a:r>
              <a:rPr lang="tr-TR" sz="2200" b="1" i="0">
                <a:solidFill>
                  <a:srgbClr val="2C6696"/>
                </a:solidFill>
                <a:latin typeface="Calibri"/>
              </a:rPr>
              <a:t>•  </a:t>
            </a:r>
            <a:r>
              <a:rPr lang="tr-TR" sz="2200" b="0" i="0">
                <a:solidFill>
                  <a:srgbClr val="262626"/>
                </a:solidFill>
                <a:latin typeface="Calibri"/>
              </a:rPr>
              <a:t>Cevabı araştırarak bulunur</a:t>
            </a:r>
          </a:p>
          <a:p>
            <a:pPr algn="l" marL="273482" indent="-273482">
              <a:spcBef>
                <a:spcPts val="0"/>
              </a:spcBef>
              <a:spcAft>
                <a:spcPts val="0"/>
              </a:spcAft>
            </a:pPr>
            <a:r>
              <a:rPr lang="tr-TR" sz="2200" b="1" i="0">
                <a:solidFill>
                  <a:srgbClr val="2C6696"/>
                </a:solidFill>
                <a:latin typeface="Calibri"/>
              </a:rPr>
              <a:t>•  </a:t>
            </a:r>
            <a:r>
              <a:rPr lang="tr-TR" sz="2200" b="0" i="0">
                <a:solidFill>
                  <a:srgbClr val="262626"/>
                </a:solidFill>
                <a:latin typeface="Calibri"/>
              </a:rPr>
              <a:t>Tek kelimeyle bitmez</a:t>
            </a:r>
          </a:p>
        </p:txBody>
      </p:sp>
      <p:sp>
        <p:nvSpPr>
          <p:cNvPr id="18" name="TextBox 1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9" name="Rounded Rectangle 1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174</a:t>
            </a:r>
          </a:p>
        </p:txBody>
      </p:sp>
      <p:sp>
        <p:nvSpPr>
          <p:cNvPr id="20" name="TextBox 1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27 / 166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Soru duvarı — örnek sorular</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ectangle 5"/>
          <p:cNvSpPr/>
          <p:nvPr/>
        </p:nvSpPr>
        <p:spPr>
          <a:xfrm>
            <a:off x="502920" y="1216152"/>
            <a:ext cx="3576218" cy="2103120"/>
          </a:xfrm>
          <a:prstGeom prst="rect">
            <a:avLst/>
          </a:prstGeom>
          <a:solidFill>
            <a:srgbClr val="FFF3D1"/>
          </a:solidFill>
          <a:ln w="19050">
            <a:solidFill>
              <a:srgbClr val="FCC021"/>
            </a:solidFill>
          </a:ln>
          <a:effectLst/>
        </p:spPr>
        <p:txBody>
          <a:bodyPr rtlCol="0" anchor="ctr" wrap="square" lIns="182880" rIns="182880" tIns="73152" bIns="73152">
            <a:noAutofit/>
          </a:bodyPr>
          <a:lstStyle/>
          <a:p>
            <a:pPr algn="ctr">
              <a:spcBef>
                <a:spcPts val="0"/>
              </a:spcBef>
              <a:spcAft>
                <a:spcPts val="0"/>
              </a:spcAft>
            </a:pPr>
            <a:r>
              <a:rPr lang="tr-TR" sz="2300" b="0" i="0">
                <a:solidFill>
                  <a:srgbClr val="262626"/>
                </a:solidFill>
                <a:latin typeface="Calibri"/>
              </a:rPr>
              <a:t>Neden sanayi tesisleri çoğu zaman kıyılarda toplanır?</a:t>
            </a:r>
          </a:p>
        </p:txBody>
      </p:sp>
      <p:sp>
        <p:nvSpPr>
          <p:cNvPr id="7" name="Rectangle 6"/>
          <p:cNvSpPr/>
          <p:nvPr/>
        </p:nvSpPr>
        <p:spPr>
          <a:xfrm>
            <a:off x="4307738" y="1216152"/>
            <a:ext cx="3576218" cy="2103120"/>
          </a:xfrm>
          <a:prstGeom prst="rect">
            <a:avLst/>
          </a:prstGeom>
          <a:solidFill>
            <a:srgbClr val="FFF3D1"/>
          </a:solidFill>
          <a:ln w="19050">
            <a:solidFill>
              <a:srgbClr val="FCC021"/>
            </a:solidFill>
          </a:ln>
          <a:effectLst/>
        </p:spPr>
        <p:txBody>
          <a:bodyPr rtlCol="0" anchor="ctr" wrap="square" lIns="182880" rIns="182880" tIns="73152" bIns="73152">
            <a:noAutofit/>
          </a:bodyPr>
          <a:lstStyle/>
          <a:p>
            <a:pPr algn="ctr">
              <a:spcBef>
                <a:spcPts val="0"/>
              </a:spcBef>
              <a:spcAft>
                <a:spcPts val="0"/>
              </a:spcAft>
            </a:pPr>
            <a:r>
              <a:rPr lang="tr-TR" sz="2300" b="0" i="0">
                <a:solidFill>
                  <a:srgbClr val="262626"/>
                </a:solidFill>
                <a:latin typeface="Calibri"/>
              </a:rPr>
              <a:t>Buzullar erirse kutuplarda hangi ekonomik faaliyetler gelişebilir?</a:t>
            </a:r>
          </a:p>
        </p:txBody>
      </p:sp>
      <p:sp>
        <p:nvSpPr>
          <p:cNvPr id="8" name="Rectangle 7"/>
          <p:cNvSpPr/>
          <p:nvPr/>
        </p:nvSpPr>
        <p:spPr>
          <a:xfrm>
            <a:off x="8112556" y="1216152"/>
            <a:ext cx="3576218" cy="2103120"/>
          </a:xfrm>
          <a:prstGeom prst="rect">
            <a:avLst/>
          </a:prstGeom>
          <a:solidFill>
            <a:srgbClr val="FFF3D1"/>
          </a:solidFill>
          <a:ln w="19050">
            <a:solidFill>
              <a:srgbClr val="FCC021"/>
            </a:solidFill>
          </a:ln>
          <a:effectLst/>
        </p:spPr>
        <p:txBody>
          <a:bodyPr rtlCol="0" anchor="ctr" wrap="square" lIns="182880" rIns="182880" tIns="73152" bIns="73152">
            <a:noAutofit/>
          </a:bodyPr>
          <a:lstStyle/>
          <a:p>
            <a:pPr algn="ctr">
              <a:spcBef>
                <a:spcPts val="0"/>
              </a:spcBef>
              <a:spcAft>
                <a:spcPts val="0"/>
              </a:spcAft>
            </a:pPr>
            <a:r>
              <a:rPr lang="tr-TR" sz="2300" b="0" i="0">
                <a:solidFill>
                  <a:srgbClr val="262626"/>
                </a:solidFill>
                <a:latin typeface="Calibri"/>
              </a:rPr>
              <a:t>Ham maddesi az olan bir ülke nasıl gelişebilir?</a:t>
            </a:r>
          </a:p>
        </p:txBody>
      </p:sp>
      <p:sp>
        <p:nvSpPr>
          <p:cNvPr id="9" name="Rectangle 8"/>
          <p:cNvSpPr/>
          <p:nvPr/>
        </p:nvSpPr>
        <p:spPr>
          <a:xfrm>
            <a:off x="502920" y="3547872"/>
            <a:ext cx="3576218" cy="2103120"/>
          </a:xfrm>
          <a:prstGeom prst="rect">
            <a:avLst/>
          </a:prstGeom>
          <a:solidFill>
            <a:srgbClr val="FFF3D1"/>
          </a:solidFill>
          <a:ln w="19050">
            <a:solidFill>
              <a:srgbClr val="FCC021"/>
            </a:solidFill>
          </a:ln>
          <a:effectLst/>
        </p:spPr>
        <p:txBody>
          <a:bodyPr rtlCol="0" anchor="ctr" wrap="square" lIns="182880" rIns="182880" tIns="73152" bIns="73152">
            <a:noAutofit/>
          </a:bodyPr>
          <a:lstStyle/>
          <a:p>
            <a:pPr algn="ctr">
              <a:spcBef>
                <a:spcPts val="0"/>
              </a:spcBef>
              <a:spcAft>
                <a:spcPts val="0"/>
              </a:spcAft>
            </a:pPr>
            <a:r>
              <a:rPr lang="tr-TR" sz="2300" b="0" i="0">
                <a:solidFill>
                  <a:srgbClr val="262626"/>
                </a:solidFill>
                <a:latin typeface="Calibri"/>
              </a:rPr>
              <a:t>Çölde ekonomik faaliyet yapılabilir mi?</a:t>
            </a:r>
          </a:p>
        </p:txBody>
      </p:sp>
      <p:sp>
        <p:nvSpPr>
          <p:cNvPr id="10" name="Rectangle 9"/>
          <p:cNvSpPr/>
          <p:nvPr/>
        </p:nvSpPr>
        <p:spPr>
          <a:xfrm>
            <a:off x="4307738" y="3547872"/>
            <a:ext cx="3576218" cy="2103120"/>
          </a:xfrm>
          <a:prstGeom prst="rect">
            <a:avLst/>
          </a:prstGeom>
          <a:solidFill>
            <a:srgbClr val="FFF3D1"/>
          </a:solidFill>
          <a:ln w="19050">
            <a:solidFill>
              <a:srgbClr val="FCC021"/>
            </a:solidFill>
          </a:ln>
          <a:effectLst/>
        </p:spPr>
        <p:txBody>
          <a:bodyPr rtlCol="0" anchor="ctr" wrap="square" lIns="182880" rIns="182880" tIns="73152" bIns="73152">
            <a:noAutofit/>
          </a:bodyPr>
          <a:lstStyle/>
          <a:p>
            <a:pPr algn="ctr">
              <a:spcBef>
                <a:spcPts val="0"/>
              </a:spcBef>
              <a:spcAft>
                <a:spcPts val="0"/>
              </a:spcAft>
            </a:pPr>
            <a:r>
              <a:rPr lang="tr-TR" sz="2300" b="0" i="0">
                <a:solidFill>
                  <a:srgbClr val="262626"/>
                </a:solidFill>
                <a:latin typeface="Calibri"/>
              </a:rPr>
              <a:t>Türkiye'nin konumu ticarete nasıl katkı sağlar?</a:t>
            </a:r>
          </a:p>
        </p:txBody>
      </p:sp>
      <p:sp>
        <p:nvSpPr>
          <p:cNvPr id="11" name="Rectangle 10"/>
          <p:cNvSpPr/>
          <p:nvPr/>
        </p:nvSpPr>
        <p:spPr>
          <a:xfrm>
            <a:off x="8112556" y="3547872"/>
            <a:ext cx="3576218" cy="2103120"/>
          </a:xfrm>
          <a:prstGeom prst="rect">
            <a:avLst/>
          </a:prstGeom>
          <a:solidFill>
            <a:srgbClr val="FFF3D1"/>
          </a:solidFill>
          <a:ln w="19050">
            <a:solidFill>
              <a:srgbClr val="FCC021"/>
            </a:solidFill>
          </a:ln>
          <a:effectLst/>
        </p:spPr>
        <p:txBody>
          <a:bodyPr rtlCol="0" anchor="ctr" wrap="square" lIns="182880" rIns="182880" tIns="73152" bIns="73152">
            <a:noAutofit/>
          </a:bodyPr>
          <a:lstStyle/>
          <a:p>
            <a:pPr algn="ctr">
              <a:spcBef>
                <a:spcPts val="0"/>
              </a:spcBef>
              <a:spcAft>
                <a:spcPts val="0"/>
              </a:spcAft>
            </a:pPr>
            <a:r>
              <a:rPr lang="tr-TR" sz="2300" b="0" i="0">
                <a:solidFill>
                  <a:srgbClr val="262626"/>
                </a:solidFill>
                <a:latin typeface="Calibri"/>
              </a:rPr>
              <a:t>Dağlık bir yerde insanlar nasıl gelir elde eder?</a:t>
            </a:r>
          </a:p>
        </p:txBody>
      </p:sp>
      <p:sp>
        <p:nvSpPr>
          <p:cNvPr id="12" name="Rounded Rectangle 11"/>
          <p:cNvSpPr/>
          <p:nvPr/>
        </p:nvSpPr>
        <p:spPr>
          <a:xfrm>
            <a:off x="502920" y="5742432"/>
            <a:ext cx="11185855" cy="502920"/>
          </a:xfrm>
          <a:prstGeom prst="roundRect">
            <a:avLst>
              <a:gd name="adj" fmla="val 8000"/>
            </a:avLst>
          </a:prstGeom>
          <a:solidFill>
            <a:srgbClr val="E3F1E4"/>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2E7D32"/>
                </a:solidFill>
                <a:latin typeface="Calibri"/>
              </a:rPr>
              <a:t>29. haftada duvara döneceğiz: hangi sorunun cevabını bulduk?</a:t>
            </a:r>
          </a:p>
        </p:txBody>
      </p:sp>
      <p:sp>
        <p:nvSpPr>
          <p:cNvPr id="13" name="TextBox 1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4" name="Rounded Rectangle 1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174</a:t>
            </a:r>
          </a:p>
        </p:txBody>
      </p:sp>
      <p:sp>
        <p:nvSpPr>
          <p:cNvPr id="15" name="TextBox 1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28 / 166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Gruplara geçiş: görevlerimiz</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8 GRUP</a:t>
            </a:r>
          </a:p>
        </p:txBody>
      </p:sp>
      <p:sp>
        <p:nvSpPr>
          <p:cNvPr id="6" name="Rounded Rectangle 5"/>
          <p:cNvSpPr/>
          <p:nvPr/>
        </p:nvSpPr>
        <p:spPr>
          <a:xfrm>
            <a:off x="502920" y="1261872"/>
            <a:ext cx="2076236" cy="310896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61872"/>
            <a:ext cx="2076236" cy="530352"/>
          </a:xfrm>
          <a:prstGeom prst="roundRect">
            <a:avLst>
              <a:gd name="adj" fmla="val 25000"/>
            </a:avLst>
          </a:prstGeom>
          <a:solidFill>
            <a:srgbClr val="3E8E41"/>
          </a:solidFill>
          <a:ln>
            <a:noFill/>
          </a:ln>
          <a:effectLst/>
        </p:spPr>
        <p:txBody>
          <a:bodyPr rtlCol="0" anchor="ctr"/>
          <a:lstStyle/>
          <a:p/>
        </p:txBody>
      </p:sp>
      <p:sp>
        <p:nvSpPr>
          <p:cNvPr id="8" name="Rectangle 7"/>
          <p:cNvSpPr/>
          <p:nvPr/>
        </p:nvSpPr>
        <p:spPr>
          <a:xfrm>
            <a:off x="502920" y="1527048"/>
            <a:ext cx="2076236" cy="265176"/>
          </a:xfrm>
          <a:prstGeom prst="rect">
            <a:avLst/>
          </a:prstGeom>
          <a:solidFill>
            <a:srgbClr val="3E8E41"/>
          </a:solidFill>
          <a:ln>
            <a:noFill/>
          </a:ln>
          <a:effectLst/>
        </p:spPr>
        <p:txBody>
          <a:bodyPr rtlCol="0" anchor="ctr"/>
          <a:lstStyle/>
          <a:p/>
        </p:txBody>
      </p:sp>
      <p:sp>
        <p:nvSpPr>
          <p:cNvPr id="9" name="TextBox 8"/>
          <p:cNvSpPr txBox="1"/>
          <p:nvPr/>
        </p:nvSpPr>
        <p:spPr>
          <a:xfrm>
            <a:off x="594360"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FFFFFF"/>
                </a:solidFill>
                <a:latin typeface="Calibri"/>
              </a:rPr>
              <a:t>SÖZCÜ</a:t>
            </a:r>
          </a:p>
        </p:txBody>
      </p:sp>
      <p:sp>
        <p:nvSpPr>
          <p:cNvPr id="10" name="TextBox 9"/>
          <p:cNvSpPr txBox="1"/>
          <p:nvPr/>
        </p:nvSpPr>
        <p:spPr>
          <a:xfrm>
            <a:off x="612648"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Grubun cevabını sınıfla paylaşır.</a:t>
            </a:r>
          </a:p>
        </p:txBody>
      </p:sp>
      <p:sp>
        <p:nvSpPr>
          <p:cNvPr id="11" name="Rounded Rectangle 10"/>
          <p:cNvSpPr/>
          <p:nvPr/>
        </p:nvSpPr>
        <p:spPr>
          <a:xfrm>
            <a:off x="2780324" y="1261872"/>
            <a:ext cx="2076236" cy="310896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2780324" y="1261872"/>
            <a:ext cx="2076236" cy="530352"/>
          </a:xfrm>
          <a:prstGeom prst="roundRect">
            <a:avLst>
              <a:gd name="adj" fmla="val 25000"/>
            </a:avLst>
          </a:prstGeom>
          <a:solidFill>
            <a:srgbClr val="4F4F4F"/>
          </a:solidFill>
          <a:ln>
            <a:noFill/>
          </a:ln>
          <a:effectLst/>
        </p:spPr>
        <p:txBody>
          <a:bodyPr rtlCol="0" anchor="ctr"/>
          <a:lstStyle/>
          <a:p/>
        </p:txBody>
      </p:sp>
      <p:sp>
        <p:nvSpPr>
          <p:cNvPr id="13" name="Rectangle 12"/>
          <p:cNvSpPr/>
          <p:nvPr/>
        </p:nvSpPr>
        <p:spPr>
          <a:xfrm>
            <a:off x="2780324" y="1527048"/>
            <a:ext cx="2076236" cy="265176"/>
          </a:xfrm>
          <a:prstGeom prst="rect">
            <a:avLst/>
          </a:prstGeom>
          <a:solidFill>
            <a:srgbClr val="4F4F4F"/>
          </a:solidFill>
          <a:ln>
            <a:noFill/>
          </a:ln>
          <a:effectLst/>
        </p:spPr>
        <p:txBody>
          <a:bodyPr rtlCol="0" anchor="ctr"/>
          <a:lstStyle/>
          <a:p/>
        </p:txBody>
      </p:sp>
      <p:sp>
        <p:nvSpPr>
          <p:cNvPr id="14" name="TextBox 13"/>
          <p:cNvSpPr txBox="1"/>
          <p:nvPr/>
        </p:nvSpPr>
        <p:spPr>
          <a:xfrm>
            <a:off x="2871764"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FFFFFF"/>
                </a:solidFill>
                <a:latin typeface="Calibri"/>
              </a:rPr>
              <a:t>YAZICI</a:t>
            </a:r>
          </a:p>
        </p:txBody>
      </p:sp>
      <p:sp>
        <p:nvSpPr>
          <p:cNvPr id="15" name="TextBox 14"/>
          <p:cNvSpPr txBox="1"/>
          <p:nvPr/>
        </p:nvSpPr>
        <p:spPr>
          <a:xfrm>
            <a:off x="2890052"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Ortak cevabı yazar, tabloyu doldurur.</a:t>
            </a:r>
          </a:p>
        </p:txBody>
      </p:sp>
      <p:sp>
        <p:nvSpPr>
          <p:cNvPr id="16" name="Rounded Rectangle 15"/>
          <p:cNvSpPr/>
          <p:nvPr/>
        </p:nvSpPr>
        <p:spPr>
          <a:xfrm>
            <a:off x="5057728" y="1261872"/>
            <a:ext cx="2076236" cy="310896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5057728" y="1261872"/>
            <a:ext cx="2076236" cy="530352"/>
          </a:xfrm>
          <a:prstGeom prst="roundRect">
            <a:avLst>
              <a:gd name="adj" fmla="val 25000"/>
            </a:avLst>
          </a:prstGeom>
          <a:solidFill>
            <a:srgbClr val="3E8E41"/>
          </a:solidFill>
          <a:ln>
            <a:noFill/>
          </a:ln>
          <a:effectLst/>
        </p:spPr>
        <p:txBody>
          <a:bodyPr rtlCol="0" anchor="ctr"/>
          <a:lstStyle/>
          <a:p/>
        </p:txBody>
      </p:sp>
      <p:sp>
        <p:nvSpPr>
          <p:cNvPr id="18" name="Rectangle 17"/>
          <p:cNvSpPr/>
          <p:nvPr/>
        </p:nvSpPr>
        <p:spPr>
          <a:xfrm>
            <a:off x="5057728" y="1527048"/>
            <a:ext cx="2076236" cy="265176"/>
          </a:xfrm>
          <a:prstGeom prst="rect">
            <a:avLst/>
          </a:prstGeom>
          <a:solidFill>
            <a:srgbClr val="3E8E41"/>
          </a:solidFill>
          <a:ln>
            <a:noFill/>
          </a:ln>
          <a:effectLst/>
        </p:spPr>
        <p:txBody>
          <a:bodyPr rtlCol="0" anchor="ctr"/>
          <a:lstStyle/>
          <a:p/>
        </p:txBody>
      </p:sp>
      <p:sp>
        <p:nvSpPr>
          <p:cNvPr id="19" name="TextBox 18"/>
          <p:cNvSpPr txBox="1"/>
          <p:nvPr/>
        </p:nvSpPr>
        <p:spPr>
          <a:xfrm>
            <a:off x="5149168"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450" b="1" i="0">
                <a:solidFill>
                  <a:srgbClr val="FFFFFF"/>
                </a:solidFill>
                <a:latin typeface="Calibri"/>
              </a:rPr>
              <a:t>ZAMAN VE MALZEME</a:t>
            </a:r>
          </a:p>
        </p:txBody>
      </p:sp>
      <p:sp>
        <p:nvSpPr>
          <p:cNvPr id="20" name="TextBox 19"/>
          <p:cNvSpPr txBox="1"/>
          <p:nvPr/>
        </p:nvSpPr>
        <p:spPr>
          <a:xfrm>
            <a:off x="5167456"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Süreyi izler, 2 dk kala uyarır; malzemeyi alır, teslim eder.</a:t>
            </a:r>
          </a:p>
        </p:txBody>
      </p:sp>
      <p:sp>
        <p:nvSpPr>
          <p:cNvPr id="21" name="Rounded Rectangle 20"/>
          <p:cNvSpPr/>
          <p:nvPr/>
        </p:nvSpPr>
        <p:spPr>
          <a:xfrm>
            <a:off x="7335132" y="1261872"/>
            <a:ext cx="2076236" cy="3108960"/>
          </a:xfrm>
          <a:prstGeom prst="roundRect">
            <a:avLst>
              <a:gd name="adj" fmla="val 5000"/>
            </a:avLst>
          </a:prstGeom>
          <a:solidFill>
            <a:srgbClr val="F0F0F0"/>
          </a:solidFill>
          <a:ln>
            <a:noFill/>
          </a:ln>
          <a:effectLst/>
        </p:spPr>
        <p:txBody>
          <a:bodyPr rtlCol="0" anchor="ctr"/>
          <a:lstStyle/>
          <a:p/>
        </p:txBody>
      </p:sp>
      <p:sp>
        <p:nvSpPr>
          <p:cNvPr id="22" name="Rounded Rectangle 21"/>
          <p:cNvSpPr/>
          <p:nvPr/>
        </p:nvSpPr>
        <p:spPr>
          <a:xfrm>
            <a:off x="7335132" y="1261872"/>
            <a:ext cx="2076236" cy="530352"/>
          </a:xfrm>
          <a:prstGeom prst="roundRect">
            <a:avLst>
              <a:gd name="adj" fmla="val 25000"/>
            </a:avLst>
          </a:prstGeom>
          <a:solidFill>
            <a:srgbClr val="4F4F4F"/>
          </a:solidFill>
          <a:ln>
            <a:noFill/>
          </a:ln>
          <a:effectLst/>
        </p:spPr>
        <p:txBody>
          <a:bodyPr rtlCol="0" anchor="ctr"/>
          <a:lstStyle/>
          <a:p/>
        </p:txBody>
      </p:sp>
      <p:sp>
        <p:nvSpPr>
          <p:cNvPr id="23" name="Rectangle 22"/>
          <p:cNvSpPr/>
          <p:nvPr/>
        </p:nvSpPr>
        <p:spPr>
          <a:xfrm>
            <a:off x="7335132" y="1527048"/>
            <a:ext cx="2076236" cy="265176"/>
          </a:xfrm>
          <a:prstGeom prst="rect">
            <a:avLst/>
          </a:prstGeom>
          <a:solidFill>
            <a:srgbClr val="4F4F4F"/>
          </a:solidFill>
          <a:ln>
            <a:noFill/>
          </a:ln>
          <a:effectLst/>
        </p:spPr>
        <p:txBody>
          <a:bodyPr rtlCol="0" anchor="ctr"/>
          <a:lstStyle/>
          <a:p/>
        </p:txBody>
      </p:sp>
      <p:sp>
        <p:nvSpPr>
          <p:cNvPr id="24" name="TextBox 23"/>
          <p:cNvSpPr txBox="1"/>
          <p:nvPr/>
        </p:nvSpPr>
        <p:spPr>
          <a:xfrm>
            <a:off x="7426572"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450" b="1" i="0">
                <a:solidFill>
                  <a:srgbClr val="FFFFFF"/>
                </a:solidFill>
                <a:latin typeface="Calibri"/>
              </a:rPr>
              <a:t>HARİTA / VERİ OKUYUCU</a:t>
            </a:r>
          </a:p>
        </p:txBody>
      </p:sp>
      <p:sp>
        <p:nvSpPr>
          <p:cNvPr id="25" name="TextBox 24"/>
          <p:cNvSpPr txBox="1"/>
          <p:nvPr/>
        </p:nvSpPr>
        <p:spPr>
          <a:xfrm>
            <a:off x="7444860"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Haritayı, tabloyu ve grafiği okur, gösterir.</a:t>
            </a:r>
          </a:p>
        </p:txBody>
      </p:sp>
      <p:sp>
        <p:nvSpPr>
          <p:cNvPr id="26" name="Rounded Rectangle 25"/>
          <p:cNvSpPr/>
          <p:nvPr/>
        </p:nvSpPr>
        <p:spPr>
          <a:xfrm>
            <a:off x="9612536" y="1261872"/>
            <a:ext cx="2076236" cy="3108960"/>
          </a:xfrm>
          <a:prstGeom prst="roundRect">
            <a:avLst>
              <a:gd name="adj" fmla="val 5000"/>
            </a:avLst>
          </a:prstGeom>
          <a:solidFill>
            <a:srgbClr val="F0F0F0"/>
          </a:solidFill>
          <a:ln>
            <a:noFill/>
          </a:ln>
          <a:effectLst/>
        </p:spPr>
        <p:txBody>
          <a:bodyPr rtlCol="0" anchor="ctr"/>
          <a:lstStyle/>
          <a:p/>
        </p:txBody>
      </p:sp>
      <p:sp>
        <p:nvSpPr>
          <p:cNvPr id="27" name="Rounded Rectangle 26"/>
          <p:cNvSpPr/>
          <p:nvPr/>
        </p:nvSpPr>
        <p:spPr>
          <a:xfrm>
            <a:off x="9612536" y="1261872"/>
            <a:ext cx="2076236" cy="530352"/>
          </a:xfrm>
          <a:prstGeom prst="roundRect">
            <a:avLst>
              <a:gd name="adj" fmla="val 25000"/>
            </a:avLst>
          </a:prstGeom>
          <a:solidFill>
            <a:srgbClr val="3E8E41"/>
          </a:solidFill>
          <a:ln>
            <a:noFill/>
          </a:ln>
          <a:effectLst/>
        </p:spPr>
        <p:txBody>
          <a:bodyPr rtlCol="0" anchor="ctr"/>
          <a:lstStyle/>
          <a:p/>
        </p:txBody>
      </p:sp>
      <p:sp>
        <p:nvSpPr>
          <p:cNvPr id="28" name="Rectangle 27"/>
          <p:cNvSpPr/>
          <p:nvPr/>
        </p:nvSpPr>
        <p:spPr>
          <a:xfrm>
            <a:off x="9612536" y="1527048"/>
            <a:ext cx="2076236" cy="265176"/>
          </a:xfrm>
          <a:prstGeom prst="rect">
            <a:avLst/>
          </a:prstGeom>
          <a:solidFill>
            <a:srgbClr val="3E8E41"/>
          </a:solidFill>
          <a:ln>
            <a:noFill/>
          </a:ln>
          <a:effectLst/>
        </p:spPr>
        <p:txBody>
          <a:bodyPr rtlCol="0" anchor="ctr"/>
          <a:lstStyle/>
          <a:p/>
        </p:txBody>
      </p:sp>
      <p:sp>
        <p:nvSpPr>
          <p:cNvPr id="29" name="TextBox 28"/>
          <p:cNvSpPr txBox="1"/>
          <p:nvPr/>
        </p:nvSpPr>
        <p:spPr>
          <a:xfrm>
            <a:off x="9703976"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FFFFFF"/>
                </a:solidFill>
                <a:latin typeface="Calibri"/>
              </a:rPr>
              <a:t>KONTROLCÜ</a:t>
            </a:r>
          </a:p>
        </p:txBody>
      </p:sp>
      <p:sp>
        <p:nvSpPr>
          <p:cNvPr id="30" name="TextBox 29"/>
          <p:cNvSpPr txBox="1"/>
          <p:nvPr/>
        </p:nvSpPr>
        <p:spPr>
          <a:xfrm>
            <a:off x="9722264"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5 kişilik grupta yazımı, kaynağı ve doğruluğu denetler.</a:t>
            </a:r>
          </a:p>
        </p:txBody>
      </p:sp>
      <p:sp>
        <p:nvSpPr>
          <p:cNvPr id="31" name="Rounded Rectangle 30"/>
          <p:cNvSpPr/>
          <p:nvPr/>
        </p:nvSpPr>
        <p:spPr>
          <a:xfrm>
            <a:off x="502920" y="4599432"/>
            <a:ext cx="11185855" cy="1645920"/>
          </a:xfrm>
          <a:prstGeom prst="roundRect">
            <a:avLst>
              <a:gd name="adj" fmla="val 8000"/>
            </a:avLst>
          </a:prstGeom>
          <a:solidFill>
            <a:srgbClr val="F0F0F0"/>
          </a:solidFill>
          <a:ln>
            <a:noFill/>
          </a:ln>
          <a:effectLst/>
        </p:spPr>
        <p:txBody>
          <a:bodyPr rtlCol="0" anchor="ctr" wrap="square" lIns="274320" rIns="274320" tIns="73152" bIns="73152">
            <a:noAutofit/>
          </a:bodyPr>
          <a:lstStyle/>
          <a:p>
            <a:pPr algn="l">
              <a:spcBef>
                <a:spcPts val="0"/>
              </a:spcBef>
              <a:spcAft>
                <a:spcPts val="600"/>
              </a:spcAft>
            </a:pPr>
            <a:r>
              <a:rPr lang="tr-TR" sz="2400" b="1" i="0">
                <a:solidFill>
                  <a:srgbClr val="3E8E41"/>
                </a:solidFill>
                <a:latin typeface="Calibri"/>
              </a:rPr>
              <a:t>Yedi doğal faktör, sekiz grup: uzman okuma ve bilgi kartı</a:t>
            </a:r>
          </a:p>
          <a:p>
            <a:pPr algn="l" marL="298344" indent="-298344">
              <a:spcBef>
                <a:spcPts val="0"/>
              </a:spcBef>
              <a:spcAft>
                <a:spcPts val="0"/>
              </a:spcAft>
            </a:pPr>
            <a:r>
              <a:rPr lang="tr-TR" sz="2400" b="1" i="0">
                <a:solidFill>
                  <a:srgbClr val="2C6696"/>
                </a:solidFill>
                <a:latin typeface="Calibri"/>
              </a:rPr>
              <a:t>•  </a:t>
            </a:r>
            <a:r>
              <a:rPr lang="tr-TR" sz="2400" b="0" i="0">
                <a:solidFill>
                  <a:srgbClr val="262626"/>
                </a:solidFill>
                <a:latin typeface="Calibri"/>
              </a:rPr>
              <a:t>Grupta “30 cm sesi” · söz hakkı isim kartıyla · farklı görüşlere saygı</a:t>
            </a:r>
          </a:p>
        </p:txBody>
      </p:sp>
      <p:sp>
        <p:nvSpPr>
          <p:cNvPr id="32" name="TextBox 3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33" name="TextBox 3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29 / 166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Uzman okuma: yedi faktör, sekiz grup</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8 GRUP · 13 dk</a:t>
            </a:r>
          </a:p>
        </p:txBody>
      </p:sp>
      <p:graphicFrame>
        <p:nvGraphicFramePr>
          <p:cNvPr id="6" name="Table 5"/>
          <p:cNvGraphicFramePr>
            <a:graphicFrameLocks noGrp="1"/>
          </p:cNvGraphicFramePr>
          <p:nvPr/>
        </p:nvGraphicFramePr>
        <p:xfrm>
          <a:off x="502920" y="1216152"/>
          <a:ext cx="6583680" cy="4846320"/>
        </p:xfrm>
        <a:graphic>
          <a:graphicData uri="http://schemas.openxmlformats.org/drawingml/2006/table">
            <a:tbl>
              <a:tblPr firstRow="1" bandRow="1">
                <a:tableStyleId>{5C22544A-7EE6-4342-B048-85BDC9FD1C3A}</a:tableStyleId>
              </a:tblPr>
              <a:tblGrid>
                <a:gridCol w="822960"/>
                <a:gridCol w="4526280"/>
                <a:gridCol w="1234440"/>
              </a:tblGrid>
              <a:tr h="457200">
                <a:tc>
                  <a:txBody>
                    <a:bodyPr wrap="square"/>
                    <a:lstStyle/>
                    <a:p>
                      <a:pPr algn="ctr">
                        <a:spcBef>
                          <a:spcPts val="0"/>
                        </a:spcBef>
                        <a:spcAft>
                          <a:spcPts val="0"/>
                        </a:spcAft>
                      </a:pPr>
                      <a:r>
                        <a:rPr lang="tr-TR" sz="1800" b="1" i="0">
                          <a:solidFill>
                            <a:srgbClr val="FFFFFF"/>
                          </a:solidFill>
                          <a:latin typeface="Calibri"/>
                        </a:rPr>
                        <a:t>Grup</a:t>
                      </a:r>
                    </a:p>
                  </a:txBody>
                  <a:tcPr marL="54864" marR="54864" marT="18288" marB="18288" anchor="ctr">
                    <a:solidFill>
                      <a:srgbClr val="3E8E41"/>
                    </a:solidFill>
                  </a:tcPr>
                </a:tc>
                <a:tc>
                  <a:txBody>
                    <a:bodyPr wrap="square"/>
                    <a:lstStyle/>
                    <a:p>
                      <a:pPr algn="ctr">
                        <a:spcBef>
                          <a:spcPts val="0"/>
                        </a:spcBef>
                        <a:spcAft>
                          <a:spcPts val="0"/>
                        </a:spcAft>
                      </a:pPr>
                      <a:r>
                        <a:rPr lang="tr-TR" sz="1800" b="1" i="0">
                          <a:solidFill>
                            <a:srgbClr val="FFFFFF"/>
                          </a:solidFill>
                          <a:latin typeface="Calibri"/>
                        </a:rPr>
                        <a:t>Faktör</a:t>
                      </a:r>
                    </a:p>
                  </a:txBody>
                  <a:tcPr marL="54864" marR="54864" marT="18288" marB="18288" anchor="ctr">
                    <a:solidFill>
                      <a:srgbClr val="3E8E41"/>
                    </a:solidFill>
                  </a:tcPr>
                </a:tc>
                <a:tc>
                  <a:txBody>
                    <a:bodyPr wrap="square"/>
                    <a:lstStyle/>
                    <a:p>
                      <a:pPr algn="ctr">
                        <a:spcBef>
                          <a:spcPts val="0"/>
                        </a:spcBef>
                        <a:spcAft>
                          <a:spcPts val="0"/>
                        </a:spcAft>
                      </a:pPr>
                      <a:r>
                        <a:rPr lang="tr-TR" sz="1800" b="1" i="0">
                          <a:solidFill>
                            <a:srgbClr val="FFFFFF"/>
                          </a:solidFill>
                          <a:latin typeface="Calibri"/>
                        </a:rPr>
                        <a:t>Kitap</a:t>
                      </a:r>
                    </a:p>
                  </a:txBody>
                  <a:tcPr marL="54864" marR="54864" marT="18288" marB="18288" anchor="ctr">
                    <a:solidFill>
                      <a:srgbClr val="3E8E41"/>
                    </a:solidFill>
                  </a:tcPr>
                </a:tc>
              </a:tr>
              <a:tr h="548640">
                <a:tc>
                  <a:txBody>
                    <a:bodyPr wrap="square"/>
                    <a:lstStyle/>
                    <a:p>
                      <a:pPr algn="ctr">
                        <a:spcBef>
                          <a:spcPts val="0"/>
                        </a:spcBef>
                        <a:spcAft>
                          <a:spcPts val="0"/>
                        </a:spcAft>
                      </a:pPr>
                      <a:r>
                        <a:rPr lang="tr-TR" sz="1800" b="0" i="0">
                          <a:solidFill>
                            <a:srgbClr val="262626"/>
                          </a:solidFill>
                          <a:latin typeface="Calibri"/>
                        </a:rPr>
                        <a:t>1</a:t>
                      </a:r>
                    </a:p>
                  </a:txBody>
                  <a:tcPr marL="54864" marR="54864" marT="18288" marB="18288" anchor="ctr">
                    <a:solidFill>
                      <a:srgbClr val="FFFFFF"/>
                    </a:solidFill>
                  </a:tcPr>
                </a:tc>
                <a:tc>
                  <a:txBody>
                    <a:bodyPr wrap="square"/>
                    <a:lstStyle/>
                    <a:p>
                      <a:pPr algn="l">
                        <a:spcBef>
                          <a:spcPts val="0"/>
                        </a:spcBef>
                        <a:spcAft>
                          <a:spcPts val="0"/>
                        </a:spcAft>
                      </a:pPr>
                      <a:r>
                        <a:rPr lang="tr-TR" sz="1800" b="0" i="0">
                          <a:solidFill>
                            <a:srgbClr val="262626"/>
                          </a:solidFill>
                          <a:latin typeface="Calibri"/>
                        </a:rPr>
                        <a:t>Coğrafi konum</a:t>
                      </a:r>
                    </a:p>
                  </a:txBody>
                  <a:tcPr marL="54864" marR="54864" marT="18288" marB="18288" anchor="ctr">
                    <a:solidFill>
                      <a:srgbClr val="FFFFFF"/>
                    </a:solidFill>
                  </a:tcPr>
                </a:tc>
                <a:tc>
                  <a:txBody>
                    <a:bodyPr wrap="square"/>
                    <a:lstStyle/>
                    <a:p>
                      <a:pPr algn="ctr">
                        <a:spcBef>
                          <a:spcPts val="0"/>
                        </a:spcBef>
                        <a:spcAft>
                          <a:spcPts val="0"/>
                        </a:spcAft>
                      </a:pPr>
                      <a:r>
                        <a:rPr lang="tr-TR" sz="1800" b="0" i="0">
                          <a:solidFill>
                            <a:srgbClr val="262626"/>
                          </a:solidFill>
                          <a:latin typeface="Calibri"/>
                        </a:rPr>
                        <a:t>s. 174</a:t>
                      </a:r>
                    </a:p>
                  </a:txBody>
                  <a:tcPr marL="54864" marR="54864" marT="18288" marB="18288" anchor="ctr">
                    <a:solidFill>
                      <a:srgbClr val="FFFFFF"/>
                    </a:solidFill>
                  </a:tcPr>
                </a:tc>
              </a:tr>
              <a:tr h="548640">
                <a:tc>
                  <a:txBody>
                    <a:bodyPr wrap="square"/>
                    <a:lstStyle/>
                    <a:p>
                      <a:pPr algn="ctr">
                        <a:spcBef>
                          <a:spcPts val="0"/>
                        </a:spcBef>
                        <a:spcAft>
                          <a:spcPts val="0"/>
                        </a:spcAft>
                      </a:pPr>
                      <a:r>
                        <a:rPr lang="tr-TR" sz="1800" b="0" i="0">
                          <a:solidFill>
                            <a:srgbClr val="262626"/>
                          </a:solidFill>
                          <a:latin typeface="Calibri"/>
                        </a:rPr>
                        <a:t>2</a:t>
                      </a:r>
                    </a:p>
                  </a:txBody>
                  <a:tcPr marL="54864" marR="54864" marT="18288" marB="18288" anchor="ctr">
                    <a:solidFill>
                      <a:srgbClr val="F0F0F0"/>
                    </a:solidFill>
                  </a:tcPr>
                </a:tc>
                <a:tc>
                  <a:txBody>
                    <a:bodyPr wrap="square"/>
                    <a:lstStyle/>
                    <a:p>
                      <a:pPr algn="l">
                        <a:spcBef>
                          <a:spcPts val="0"/>
                        </a:spcBef>
                        <a:spcAft>
                          <a:spcPts val="0"/>
                        </a:spcAft>
                      </a:pPr>
                      <a:r>
                        <a:rPr lang="tr-TR" sz="1800" b="0" i="0">
                          <a:solidFill>
                            <a:srgbClr val="262626"/>
                          </a:solidFill>
                          <a:latin typeface="Calibri"/>
                        </a:rPr>
                        <a:t>İklim (Görsel 5.1)</a:t>
                      </a:r>
                    </a:p>
                  </a:txBody>
                  <a:tcPr marL="54864" marR="54864" marT="18288" marB="18288" anchor="ctr">
                    <a:solidFill>
                      <a:srgbClr val="F0F0F0"/>
                    </a:solidFill>
                  </a:tcPr>
                </a:tc>
                <a:tc>
                  <a:txBody>
                    <a:bodyPr wrap="square"/>
                    <a:lstStyle/>
                    <a:p>
                      <a:pPr algn="ctr">
                        <a:spcBef>
                          <a:spcPts val="0"/>
                        </a:spcBef>
                        <a:spcAft>
                          <a:spcPts val="0"/>
                        </a:spcAft>
                      </a:pPr>
                      <a:r>
                        <a:rPr lang="tr-TR" sz="1800" b="0" i="0">
                          <a:solidFill>
                            <a:srgbClr val="262626"/>
                          </a:solidFill>
                          <a:latin typeface="Calibri"/>
                        </a:rPr>
                        <a:t>s. 174</a:t>
                      </a:r>
                    </a:p>
                  </a:txBody>
                  <a:tcPr marL="54864" marR="54864" marT="18288" marB="18288" anchor="ctr">
                    <a:solidFill>
                      <a:srgbClr val="F0F0F0"/>
                    </a:solidFill>
                  </a:tcPr>
                </a:tc>
              </a:tr>
              <a:tr h="548640">
                <a:tc>
                  <a:txBody>
                    <a:bodyPr wrap="square"/>
                    <a:lstStyle/>
                    <a:p>
                      <a:pPr algn="ctr">
                        <a:spcBef>
                          <a:spcPts val="0"/>
                        </a:spcBef>
                        <a:spcAft>
                          <a:spcPts val="0"/>
                        </a:spcAft>
                      </a:pPr>
                      <a:r>
                        <a:rPr lang="tr-TR" sz="1800" b="0" i="0">
                          <a:solidFill>
                            <a:srgbClr val="262626"/>
                          </a:solidFill>
                          <a:latin typeface="Calibri"/>
                        </a:rPr>
                        <a:t>3</a:t>
                      </a:r>
                    </a:p>
                  </a:txBody>
                  <a:tcPr marL="54864" marR="54864" marT="18288" marB="18288" anchor="ctr">
                    <a:solidFill>
                      <a:srgbClr val="FFFFFF"/>
                    </a:solidFill>
                  </a:tcPr>
                </a:tc>
                <a:tc>
                  <a:txBody>
                    <a:bodyPr wrap="square"/>
                    <a:lstStyle/>
                    <a:p>
                      <a:pPr algn="l">
                        <a:spcBef>
                          <a:spcPts val="0"/>
                        </a:spcBef>
                        <a:spcAft>
                          <a:spcPts val="0"/>
                        </a:spcAft>
                      </a:pPr>
                      <a:r>
                        <a:rPr lang="tr-TR" sz="1800" b="0" i="0">
                          <a:solidFill>
                            <a:srgbClr val="262626"/>
                          </a:solidFill>
                          <a:latin typeface="Calibri"/>
                        </a:rPr>
                        <a:t>Topoğrafya (Görsel 5.2-5.3)</a:t>
                      </a:r>
                    </a:p>
                  </a:txBody>
                  <a:tcPr marL="54864" marR="54864" marT="18288" marB="18288" anchor="ctr">
                    <a:solidFill>
                      <a:srgbClr val="FFFFFF"/>
                    </a:solidFill>
                  </a:tcPr>
                </a:tc>
                <a:tc>
                  <a:txBody>
                    <a:bodyPr wrap="square"/>
                    <a:lstStyle/>
                    <a:p>
                      <a:pPr algn="ctr">
                        <a:spcBef>
                          <a:spcPts val="0"/>
                        </a:spcBef>
                        <a:spcAft>
                          <a:spcPts val="0"/>
                        </a:spcAft>
                      </a:pPr>
                      <a:r>
                        <a:rPr lang="tr-TR" sz="1800" b="0" i="0">
                          <a:solidFill>
                            <a:srgbClr val="262626"/>
                          </a:solidFill>
                          <a:latin typeface="Calibri"/>
                        </a:rPr>
                        <a:t>s. 175</a:t>
                      </a:r>
                    </a:p>
                  </a:txBody>
                  <a:tcPr marL="54864" marR="54864" marT="18288" marB="18288" anchor="ctr">
                    <a:solidFill>
                      <a:srgbClr val="FFFFFF"/>
                    </a:solidFill>
                  </a:tcPr>
                </a:tc>
              </a:tr>
              <a:tr h="548640">
                <a:tc>
                  <a:txBody>
                    <a:bodyPr wrap="square"/>
                    <a:lstStyle/>
                    <a:p>
                      <a:pPr algn="ctr">
                        <a:spcBef>
                          <a:spcPts val="0"/>
                        </a:spcBef>
                        <a:spcAft>
                          <a:spcPts val="0"/>
                        </a:spcAft>
                      </a:pPr>
                      <a:r>
                        <a:rPr lang="tr-TR" sz="1800" b="0" i="0">
                          <a:solidFill>
                            <a:srgbClr val="262626"/>
                          </a:solidFill>
                          <a:latin typeface="Calibri"/>
                        </a:rPr>
                        <a:t>4</a:t>
                      </a:r>
                    </a:p>
                  </a:txBody>
                  <a:tcPr marL="54864" marR="54864" marT="18288" marB="18288" anchor="ctr">
                    <a:solidFill>
                      <a:srgbClr val="F0F0F0"/>
                    </a:solidFill>
                  </a:tcPr>
                </a:tc>
                <a:tc>
                  <a:txBody>
                    <a:bodyPr wrap="square"/>
                    <a:lstStyle/>
                    <a:p>
                      <a:pPr algn="l">
                        <a:spcBef>
                          <a:spcPts val="0"/>
                        </a:spcBef>
                        <a:spcAft>
                          <a:spcPts val="0"/>
                        </a:spcAft>
                      </a:pPr>
                      <a:r>
                        <a:rPr lang="tr-TR" sz="1800" b="0" i="0">
                          <a:solidFill>
                            <a:srgbClr val="262626"/>
                          </a:solidFill>
                          <a:latin typeface="Calibri"/>
                        </a:rPr>
                        <a:t>Su kaynakları</a:t>
                      </a:r>
                    </a:p>
                  </a:txBody>
                  <a:tcPr marL="54864" marR="54864" marT="18288" marB="18288" anchor="ctr">
                    <a:solidFill>
                      <a:srgbClr val="F0F0F0"/>
                    </a:solidFill>
                  </a:tcPr>
                </a:tc>
                <a:tc>
                  <a:txBody>
                    <a:bodyPr wrap="square"/>
                    <a:lstStyle/>
                    <a:p>
                      <a:pPr algn="ctr">
                        <a:spcBef>
                          <a:spcPts val="0"/>
                        </a:spcBef>
                        <a:spcAft>
                          <a:spcPts val="0"/>
                        </a:spcAft>
                      </a:pPr>
                      <a:r>
                        <a:rPr lang="tr-TR" sz="1800" b="0" i="0">
                          <a:solidFill>
                            <a:srgbClr val="262626"/>
                          </a:solidFill>
                          <a:latin typeface="Calibri"/>
                        </a:rPr>
                        <a:t>s. 175</a:t>
                      </a:r>
                    </a:p>
                  </a:txBody>
                  <a:tcPr marL="54864" marR="54864" marT="18288" marB="18288" anchor="ctr">
                    <a:solidFill>
                      <a:srgbClr val="F0F0F0"/>
                    </a:solidFill>
                  </a:tcPr>
                </a:tc>
              </a:tr>
              <a:tr h="548640">
                <a:tc>
                  <a:txBody>
                    <a:bodyPr wrap="square"/>
                    <a:lstStyle/>
                    <a:p>
                      <a:pPr algn="ctr">
                        <a:spcBef>
                          <a:spcPts val="0"/>
                        </a:spcBef>
                        <a:spcAft>
                          <a:spcPts val="0"/>
                        </a:spcAft>
                      </a:pPr>
                      <a:r>
                        <a:rPr lang="tr-TR" sz="1800" b="0" i="0">
                          <a:solidFill>
                            <a:srgbClr val="262626"/>
                          </a:solidFill>
                          <a:latin typeface="Calibri"/>
                        </a:rPr>
                        <a:t>5</a:t>
                      </a:r>
                    </a:p>
                  </a:txBody>
                  <a:tcPr marL="54864" marR="54864" marT="18288" marB="18288" anchor="ctr">
                    <a:solidFill>
                      <a:srgbClr val="FFFFFF"/>
                    </a:solidFill>
                  </a:tcPr>
                </a:tc>
                <a:tc>
                  <a:txBody>
                    <a:bodyPr wrap="square"/>
                    <a:lstStyle/>
                    <a:p>
                      <a:pPr algn="l">
                        <a:spcBef>
                          <a:spcPts val="0"/>
                        </a:spcBef>
                        <a:spcAft>
                          <a:spcPts val="0"/>
                        </a:spcAft>
                      </a:pPr>
                      <a:r>
                        <a:rPr lang="tr-TR" sz="1800" b="0" i="0">
                          <a:solidFill>
                            <a:srgbClr val="262626"/>
                          </a:solidFill>
                          <a:latin typeface="Calibri"/>
                        </a:rPr>
                        <a:t>Toprak (Görsel 5.4)</a:t>
                      </a:r>
                    </a:p>
                  </a:txBody>
                  <a:tcPr marL="54864" marR="54864" marT="18288" marB="18288" anchor="ctr">
                    <a:solidFill>
                      <a:srgbClr val="FFFFFF"/>
                    </a:solidFill>
                  </a:tcPr>
                </a:tc>
                <a:tc>
                  <a:txBody>
                    <a:bodyPr wrap="square"/>
                    <a:lstStyle/>
                    <a:p>
                      <a:pPr algn="ctr">
                        <a:spcBef>
                          <a:spcPts val="0"/>
                        </a:spcBef>
                        <a:spcAft>
                          <a:spcPts val="0"/>
                        </a:spcAft>
                      </a:pPr>
                      <a:r>
                        <a:rPr lang="tr-TR" sz="1800" b="0" i="0">
                          <a:solidFill>
                            <a:srgbClr val="262626"/>
                          </a:solidFill>
                          <a:latin typeface="Calibri"/>
                        </a:rPr>
                        <a:t>s. 175</a:t>
                      </a:r>
                    </a:p>
                  </a:txBody>
                  <a:tcPr marL="54864" marR="54864" marT="18288" marB="18288" anchor="ctr">
                    <a:solidFill>
                      <a:srgbClr val="FFFFFF"/>
                    </a:solidFill>
                  </a:tcPr>
                </a:tc>
              </a:tr>
              <a:tr h="548640">
                <a:tc>
                  <a:txBody>
                    <a:bodyPr wrap="square"/>
                    <a:lstStyle/>
                    <a:p>
                      <a:pPr algn="ctr">
                        <a:spcBef>
                          <a:spcPts val="0"/>
                        </a:spcBef>
                        <a:spcAft>
                          <a:spcPts val="0"/>
                        </a:spcAft>
                      </a:pPr>
                      <a:r>
                        <a:rPr lang="tr-TR" sz="1800" b="0" i="0">
                          <a:solidFill>
                            <a:srgbClr val="262626"/>
                          </a:solidFill>
                          <a:latin typeface="Calibri"/>
                        </a:rPr>
                        <a:t>6</a:t>
                      </a:r>
                    </a:p>
                  </a:txBody>
                  <a:tcPr marL="54864" marR="54864" marT="18288" marB="18288" anchor="ctr">
                    <a:solidFill>
                      <a:srgbClr val="F0F0F0"/>
                    </a:solidFill>
                  </a:tcPr>
                </a:tc>
                <a:tc>
                  <a:txBody>
                    <a:bodyPr wrap="square"/>
                    <a:lstStyle/>
                    <a:p>
                      <a:pPr algn="l">
                        <a:spcBef>
                          <a:spcPts val="0"/>
                        </a:spcBef>
                        <a:spcAft>
                          <a:spcPts val="0"/>
                        </a:spcAft>
                      </a:pPr>
                      <a:r>
                        <a:rPr lang="tr-TR" sz="1800" b="0" i="0">
                          <a:solidFill>
                            <a:srgbClr val="262626"/>
                          </a:solidFill>
                          <a:latin typeface="Calibri"/>
                        </a:rPr>
                        <a:t>Bitki örtüsü (Görsel 5.5)</a:t>
                      </a:r>
                    </a:p>
                  </a:txBody>
                  <a:tcPr marL="54864" marR="54864" marT="18288" marB="18288" anchor="ctr">
                    <a:solidFill>
                      <a:srgbClr val="F0F0F0"/>
                    </a:solidFill>
                  </a:tcPr>
                </a:tc>
                <a:tc>
                  <a:txBody>
                    <a:bodyPr wrap="square"/>
                    <a:lstStyle/>
                    <a:p>
                      <a:pPr algn="ctr">
                        <a:spcBef>
                          <a:spcPts val="0"/>
                        </a:spcBef>
                        <a:spcAft>
                          <a:spcPts val="0"/>
                        </a:spcAft>
                      </a:pPr>
                      <a:r>
                        <a:rPr lang="tr-TR" sz="1800" b="0" i="0">
                          <a:solidFill>
                            <a:srgbClr val="262626"/>
                          </a:solidFill>
                          <a:latin typeface="Calibri"/>
                        </a:rPr>
                        <a:t>s. 175</a:t>
                      </a:r>
                    </a:p>
                  </a:txBody>
                  <a:tcPr marL="54864" marR="54864" marT="18288" marB="18288" anchor="ctr">
                    <a:solidFill>
                      <a:srgbClr val="F0F0F0"/>
                    </a:solidFill>
                  </a:tcPr>
                </a:tc>
              </a:tr>
              <a:tr h="548640">
                <a:tc>
                  <a:txBody>
                    <a:bodyPr wrap="square"/>
                    <a:lstStyle/>
                    <a:p>
                      <a:pPr algn="ctr">
                        <a:spcBef>
                          <a:spcPts val="0"/>
                        </a:spcBef>
                        <a:spcAft>
                          <a:spcPts val="0"/>
                        </a:spcAft>
                      </a:pPr>
                      <a:r>
                        <a:rPr lang="tr-TR" sz="1800" b="0" i="0">
                          <a:solidFill>
                            <a:srgbClr val="262626"/>
                          </a:solidFill>
                          <a:latin typeface="Calibri"/>
                        </a:rPr>
                        <a:t>7</a:t>
                      </a:r>
                    </a:p>
                  </a:txBody>
                  <a:tcPr marL="54864" marR="54864" marT="18288" marB="18288" anchor="ctr">
                    <a:solidFill>
                      <a:srgbClr val="FFFFFF"/>
                    </a:solidFill>
                  </a:tcPr>
                </a:tc>
                <a:tc>
                  <a:txBody>
                    <a:bodyPr wrap="square"/>
                    <a:lstStyle/>
                    <a:p>
                      <a:pPr algn="l">
                        <a:spcBef>
                          <a:spcPts val="0"/>
                        </a:spcBef>
                        <a:spcAft>
                          <a:spcPts val="0"/>
                        </a:spcAft>
                      </a:pPr>
                      <a:r>
                        <a:rPr lang="tr-TR" sz="1800" b="0" i="0">
                          <a:solidFill>
                            <a:srgbClr val="262626"/>
                          </a:solidFill>
                          <a:latin typeface="Calibri"/>
                        </a:rPr>
                        <a:t>Enerji ve maden kaynakları</a:t>
                      </a:r>
                    </a:p>
                  </a:txBody>
                  <a:tcPr marL="54864" marR="54864" marT="18288" marB="18288" anchor="ctr">
                    <a:solidFill>
                      <a:srgbClr val="FFFFFF"/>
                    </a:solidFill>
                  </a:tcPr>
                </a:tc>
                <a:tc>
                  <a:txBody>
                    <a:bodyPr wrap="square"/>
                    <a:lstStyle/>
                    <a:p>
                      <a:pPr algn="ctr">
                        <a:spcBef>
                          <a:spcPts val="0"/>
                        </a:spcBef>
                        <a:spcAft>
                          <a:spcPts val="0"/>
                        </a:spcAft>
                      </a:pPr>
                      <a:r>
                        <a:rPr lang="tr-TR" sz="1800" b="0" i="0">
                          <a:solidFill>
                            <a:srgbClr val="262626"/>
                          </a:solidFill>
                          <a:latin typeface="Calibri"/>
                        </a:rPr>
                        <a:t>s. 175</a:t>
                      </a:r>
                    </a:p>
                  </a:txBody>
                  <a:tcPr marL="54864" marR="54864" marT="18288" marB="18288" anchor="ctr">
                    <a:solidFill>
                      <a:srgbClr val="FFFFFF"/>
                    </a:solidFill>
                  </a:tcPr>
                </a:tc>
              </a:tr>
              <a:tr h="548640">
                <a:tc>
                  <a:txBody>
                    <a:bodyPr wrap="square"/>
                    <a:lstStyle/>
                    <a:p>
                      <a:pPr algn="ctr">
                        <a:spcBef>
                          <a:spcPts val="0"/>
                        </a:spcBef>
                        <a:spcAft>
                          <a:spcPts val="0"/>
                        </a:spcAft>
                      </a:pPr>
                      <a:r>
                        <a:rPr lang="tr-TR" sz="1800" b="0" i="0">
                          <a:solidFill>
                            <a:srgbClr val="262626"/>
                          </a:solidFill>
                          <a:latin typeface="Calibri"/>
                        </a:rPr>
                        <a:t>8</a:t>
                      </a:r>
                    </a:p>
                  </a:txBody>
                  <a:tcPr marL="54864" marR="54864" marT="18288" marB="18288" anchor="ctr">
                    <a:solidFill>
                      <a:srgbClr val="FFF3D1"/>
                    </a:solidFill>
                  </a:tcPr>
                </a:tc>
                <a:tc>
                  <a:txBody>
                    <a:bodyPr wrap="square"/>
                    <a:lstStyle/>
                    <a:p>
                      <a:pPr algn="l">
                        <a:spcBef>
                          <a:spcPts val="0"/>
                        </a:spcBef>
                        <a:spcAft>
                          <a:spcPts val="0"/>
                        </a:spcAft>
                      </a:pPr>
                      <a:r>
                        <a:rPr lang="tr-TR" sz="1800" b="0" i="0">
                          <a:solidFill>
                            <a:srgbClr val="262626"/>
                          </a:solidFill>
                          <a:latin typeface="Calibri"/>
                        </a:rPr>
                        <a:t>Beş görsel: hangi faktör, hangi faaliyet?</a:t>
                      </a:r>
                    </a:p>
                  </a:txBody>
                  <a:tcPr marL="54864" marR="54864" marT="18288" marB="18288" anchor="ctr">
                    <a:solidFill>
                      <a:srgbClr val="FFF3D1"/>
                    </a:solidFill>
                  </a:tcPr>
                </a:tc>
                <a:tc>
                  <a:txBody>
                    <a:bodyPr wrap="square"/>
                    <a:lstStyle/>
                    <a:p>
                      <a:pPr algn="ctr">
                        <a:spcBef>
                          <a:spcPts val="0"/>
                        </a:spcBef>
                        <a:spcAft>
                          <a:spcPts val="0"/>
                        </a:spcAft>
                      </a:pPr>
                      <a:r>
                        <a:rPr lang="tr-TR" sz="1800" b="0" i="0">
                          <a:solidFill>
                            <a:srgbClr val="262626"/>
                          </a:solidFill>
                          <a:latin typeface="Calibri"/>
                        </a:rPr>
                        <a:t>s. 174-175</a:t>
                      </a:r>
                    </a:p>
                  </a:txBody>
                  <a:tcPr marL="54864" marR="54864" marT="18288" marB="18288" anchor="ctr">
                    <a:solidFill>
                      <a:srgbClr val="FFF3D1"/>
                    </a:solidFill>
                  </a:tcPr>
                </a:tc>
              </a:tr>
            </a:tbl>
          </a:graphicData>
        </a:graphic>
      </p:graphicFrame>
      <p:sp>
        <p:nvSpPr>
          <p:cNvPr id="7" name="Rounded Rectangle 6"/>
          <p:cNvSpPr/>
          <p:nvPr/>
        </p:nvSpPr>
        <p:spPr>
          <a:xfrm>
            <a:off x="7360920" y="1216152"/>
            <a:ext cx="4327855" cy="3291840"/>
          </a:xfrm>
          <a:prstGeom prst="roundRect">
            <a:avLst>
              <a:gd name="adj" fmla="val 5000"/>
            </a:avLst>
          </a:prstGeom>
          <a:solidFill>
            <a:srgbClr val="F0F0F0"/>
          </a:solidFill>
          <a:ln>
            <a:noFill/>
          </a:ln>
          <a:effectLst/>
        </p:spPr>
        <p:txBody>
          <a:bodyPr rtlCol="0" anchor="ctr"/>
          <a:lstStyle/>
          <a:p/>
        </p:txBody>
      </p:sp>
      <p:sp>
        <p:nvSpPr>
          <p:cNvPr id="8" name="Rounded Rectangle 7"/>
          <p:cNvSpPr/>
          <p:nvPr/>
        </p:nvSpPr>
        <p:spPr>
          <a:xfrm>
            <a:off x="7360920" y="1216152"/>
            <a:ext cx="4327855" cy="530352"/>
          </a:xfrm>
          <a:prstGeom prst="roundRect">
            <a:avLst>
              <a:gd name="adj" fmla="val 25000"/>
            </a:avLst>
          </a:prstGeom>
          <a:solidFill>
            <a:srgbClr val="3E8E41"/>
          </a:solidFill>
          <a:ln>
            <a:noFill/>
          </a:ln>
          <a:effectLst/>
        </p:spPr>
        <p:txBody>
          <a:bodyPr rtlCol="0" anchor="ctr"/>
          <a:lstStyle/>
          <a:p/>
        </p:txBody>
      </p:sp>
      <p:sp>
        <p:nvSpPr>
          <p:cNvPr id="9" name="Rectangle 8"/>
          <p:cNvSpPr/>
          <p:nvPr/>
        </p:nvSpPr>
        <p:spPr>
          <a:xfrm>
            <a:off x="7360920" y="1481328"/>
            <a:ext cx="4327855" cy="265176"/>
          </a:xfrm>
          <a:prstGeom prst="rect">
            <a:avLst/>
          </a:prstGeom>
          <a:solidFill>
            <a:srgbClr val="3E8E41"/>
          </a:solidFill>
          <a:ln>
            <a:noFill/>
          </a:ln>
          <a:effectLst/>
        </p:spPr>
        <p:txBody>
          <a:bodyPr rtlCol="0" anchor="ctr"/>
          <a:lstStyle/>
          <a:p/>
        </p:txBody>
      </p:sp>
      <p:sp>
        <p:nvSpPr>
          <p:cNvPr id="10" name="TextBox 9"/>
          <p:cNvSpPr txBox="1"/>
          <p:nvPr/>
        </p:nvSpPr>
        <p:spPr>
          <a:xfrm>
            <a:off x="7452360" y="1216152"/>
            <a:ext cx="4144975"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Bilgi kartı</a:t>
            </a:r>
          </a:p>
        </p:txBody>
      </p:sp>
      <p:sp>
        <p:nvSpPr>
          <p:cNvPr id="11" name="TextBox 10"/>
          <p:cNvSpPr txBox="1"/>
          <p:nvPr/>
        </p:nvSpPr>
        <p:spPr>
          <a:xfrm>
            <a:off x="7470648" y="1819656"/>
            <a:ext cx="4108399" cy="2615184"/>
          </a:xfrm>
          <a:prstGeom prst="rect">
            <a:avLst/>
          </a:prstGeom>
          <a:noFill/>
        </p:spPr>
        <p:txBody>
          <a:bodyPr wrap="square" anchor="ctr" lIns="73152" rIns="73152" tIns="36576" bIns="36576">
            <a:noAutofit/>
          </a:bodyPr>
          <a:lstStyle/>
          <a:p>
            <a:pPr algn="l" marL="304732" indent="-304732">
              <a:spcBef>
                <a:spcPts val="0"/>
              </a:spcBef>
              <a:spcAft>
                <a:spcPts val="600"/>
              </a:spcAft>
            </a:pPr>
            <a:r>
              <a:rPr lang="tr-TR" sz="1900" b="1" i="0">
                <a:solidFill>
                  <a:srgbClr val="2C6696"/>
                </a:solidFill>
                <a:latin typeface="Calibri"/>
              </a:rPr>
              <a:t>1.  </a:t>
            </a:r>
            <a:r>
              <a:rPr lang="tr-TR" sz="1900" b="0" i="0">
                <a:solidFill>
                  <a:srgbClr val="262626"/>
                </a:solidFill>
                <a:latin typeface="Calibri"/>
              </a:rPr>
              <a:t>Faktör: ……………</a:t>
            </a:r>
          </a:p>
          <a:p>
            <a:pPr algn="l" marL="304732" indent="-304732">
              <a:spcBef>
                <a:spcPts val="0"/>
              </a:spcBef>
              <a:spcAft>
                <a:spcPts val="600"/>
              </a:spcAft>
            </a:pPr>
            <a:r>
              <a:rPr lang="tr-TR" sz="1900" b="1" i="0">
                <a:solidFill>
                  <a:srgbClr val="2C6696"/>
                </a:solidFill>
                <a:latin typeface="Calibri"/>
              </a:rPr>
              <a:t>2.  </a:t>
            </a:r>
            <a:r>
              <a:rPr lang="tr-TR" sz="1900" b="0" i="0">
                <a:solidFill>
                  <a:srgbClr val="262626"/>
                </a:solidFill>
                <a:latin typeface="Calibri"/>
              </a:rPr>
              <a:t>Etkilediği ekonomik faaliyetler: ……………</a:t>
            </a:r>
          </a:p>
          <a:p>
            <a:pPr algn="l" marL="304732" indent="-304732">
              <a:spcBef>
                <a:spcPts val="0"/>
              </a:spcBef>
              <a:spcAft>
                <a:spcPts val="600"/>
              </a:spcAft>
            </a:pPr>
            <a:r>
              <a:rPr lang="tr-TR" sz="1900" b="1" i="0">
                <a:solidFill>
                  <a:srgbClr val="2C6696"/>
                </a:solidFill>
                <a:latin typeface="Calibri"/>
              </a:rPr>
              <a:t>3.  </a:t>
            </a:r>
            <a:r>
              <a:rPr lang="tr-TR" sz="1900" b="0" i="0">
                <a:solidFill>
                  <a:srgbClr val="262626"/>
                </a:solidFill>
                <a:latin typeface="Calibri"/>
              </a:rPr>
              <a:t>Kitaptaki örnek: ……………</a:t>
            </a:r>
          </a:p>
          <a:p>
            <a:pPr algn="l" marL="304732" indent="-304732">
              <a:spcBef>
                <a:spcPts val="0"/>
              </a:spcBef>
              <a:spcAft>
                <a:spcPts val="0"/>
              </a:spcAft>
            </a:pPr>
            <a:r>
              <a:rPr lang="tr-TR" sz="1900" b="1" i="0">
                <a:solidFill>
                  <a:srgbClr val="2C6696"/>
                </a:solidFill>
                <a:latin typeface="Calibri"/>
              </a:rPr>
              <a:t>4.  </a:t>
            </a:r>
            <a:r>
              <a:rPr lang="tr-TR" sz="1900" b="0" i="0">
                <a:solidFill>
                  <a:srgbClr val="262626"/>
                </a:solidFill>
                <a:latin typeface="Calibri"/>
              </a:rPr>
              <a:t>Grubumuzun sorusu: ……………</a:t>
            </a:r>
          </a:p>
        </p:txBody>
      </p:sp>
      <p:sp>
        <p:nvSpPr>
          <p:cNvPr id="12" name="Rounded Rectangle 11"/>
          <p:cNvSpPr/>
          <p:nvPr/>
        </p:nvSpPr>
        <p:spPr>
          <a:xfrm>
            <a:off x="7360920" y="4645152"/>
            <a:ext cx="4327855" cy="160020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l" marL="248620" indent="-248620">
              <a:spcBef>
                <a:spcPts val="0"/>
              </a:spcBef>
              <a:spcAft>
                <a:spcPts val="600"/>
              </a:spcAft>
            </a:pPr>
            <a:r>
              <a:rPr lang="tr-TR" sz="2000" b="1" i="0">
                <a:solidFill>
                  <a:srgbClr val="2C6696"/>
                </a:solidFill>
                <a:latin typeface="Calibri"/>
              </a:rPr>
              <a:t>•  </a:t>
            </a:r>
            <a:r>
              <a:rPr lang="tr-TR" sz="2000" b="0" i="0">
                <a:solidFill>
                  <a:srgbClr val="262626"/>
                </a:solidFill>
                <a:latin typeface="Calibri"/>
              </a:rPr>
              <a:t>5 dk: oku ve kartı doldur</a:t>
            </a:r>
          </a:p>
          <a:p>
            <a:pPr algn="l" marL="248620" indent="-248620">
              <a:spcBef>
                <a:spcPts val="0"/>
              </a:spcBef>
              <a:spcAft>
                <a:spcPts val="0"/>
              </a:spcAft>
            </a:pPr>
            <a:r>
              <a:rPr lang="tr-TR" sz="2000" b="1" i="0">
                <a:solidFill>
                  <a:srgbClr val="2C6696"/>
                </a:solidFill>
                <a:latin typeface="Calibri"/>
              </a:rPr>
              <a:t>•  </a:t>
            </a:r>
            <a:r>
              <a:rPr lang="tr-TR" sz="2000" b="0" i="0">
                <a:solidFill>
                  <a:srgbClr val="262626"/>
                </a:solidFill>
                <a:latin typeface="Calibri"/>
              </a:rPr>
              <a:t>Sonra: sözcü bir cümle ekler</a:t>
            </a:r>
          </a:p>
        </p:txBody>
      </p:sp>
      <p:sp>
        <p:nvSpPr>
          <p:cNvPr id="13" name="TextBox 1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4" name="Rounded Rectangle 1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174-175</a:t>
            </a:r>
          </a:p>
        </p:txBody>
      </p:sp>
      <p:sp>
        <p:nvSpPr>
          <p:cNvPr id="15" name="TextBox 1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30 / 166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 · Coğrafi konum</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1. GRUP</a:t>
            </a:r>
          </a:p>
        </p:txBody>
      </p:sp>
      <p:sp>
        <p:nvSpPr>
          <p:cNvPr id="6" name="Rounded Rectangle 5"/>
          <p:cNvSpPr/>
          <p:nvPr/>
        </p:nvSpPr>
        <p:spPr>
          <a:xfrm>
            <a:off x="502920" y="1216152"/>
            <a:ext cx="6537960" cy="1398494"/>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1398494"/>
          </a:xfrm>
          <a:prstGeom prst="rect">
            <a:avLst/>
          </a:prstGeom>
          <a:solidFill>
            <a:srgbClr val="3E8E41"/>
          </a:solidFill>
          <a:ln>
            <a:noFill/>
          </a:ln>
          <a:effectLst/>
        </p:spPr>
        <p:txBody>
          <a:bodyPr rtlCol="0" anchor="ctr"/>
          <a:lstStyle/>
          <a:p/>
        </p:txBody>
      </p:sp>
      <p:sp>
        <p:nvSpPr>
          <p:cNvPr id="8" name="TextBox 7"/>
          <p:cNvSpPr txBox="1"/>
          <p:nvPr/>
        </p:nvSpPr>
        <p:spPr>
          <a:xfrm>
            <a:off x="777240" y="1216152"/>
            <a:ext cx="6126480" cy="1398494"/>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Bir yerin coğrafi özelliklerinin ana kaynağı, o yerin sahip olduğu coğrafi konumdur.</a:t>
            </a:r>
          </a:p>
        </p:txBody>
      </p:sp>
      <p:sp>
        <p:nvSpPr>
          <p:cNvPr id="9" name="Rounded Rectangle 8"/>
          <p:cNvSpPr/>
          <p:nvPr/>
        </p:nvSpPr>
        <p:spPr>
          <a:xfrm>
            <a:off x="502920" y="2751806"/>
            <a:ext cx="6537960" cy="1398494"/>
          </a:xfrm>
          <a:prstGeom prst="roundRect">
            <a:avLst>
              <a:gd name="adj" fmla="val 8000"/>
            </a:avLst>
          </a:prstGeom>
          <a:solidFill>
            <a:srgbClr val="F0F0F0"/>
          </a:solidFill>
          <a:ln>
            <a:noFill/>
          </a:ln>
          <a:effectLst/>
        </p:spPr>
        <p:txBody>
          <a:bodyPr rtlCol="0" anchor="ctr"/>
          <a:lstStyle/>
          <a:p/>
        </p:txBody>
      </p:sp>
      <p:sp>
        <p:nvSpPr>
          <p:cNvPr id="10" name="Rectangle 9"/>
          <p:cNvSpPr/>
          <p:nvPr/>
        </p:nvSpPr>
        <p:spPr>
          <a:xfrm>
            <a:off x="502920" y="2751806"/>
            <a:ext cx="118872" cy="1398494"/>
          </a:xfrm>
          <a:prstGeom prst="rect">
            <a:avLst/>
          </a:prstGeom>
          <a:solidFill>
            <a:srgbClr val="3E8E41"/>
          </a:solidFill>
          <a:ln>
            <a:noFill/>
          </a:ln>
          <a:effectLst/>
        </p:spPr>
        <p:txBody>
          <a:bodyPr rtlCol="0" anchor="ctr"/>
          <a:lstStyle/>
          <a:p/>
        </p:txBody>
      </p:sp>
      <p:sp>
        <p:nvSpPr>
          <p:cNvPr id="11" name="TextBox 10"/>
          <p:cNvSpPr txBox="1"/>
          <p:nvPr/>
        </p:nvSpPr>
        <p:spPr>
          <a:xfrm>
            <a:off x="777240" y="2751806"/>
            <a:ext cx="6126480" cy="1398494"/>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Coğrafi konum, küresel pazarda ekonomik faaliyetleri etkileyen kritik bir faktördür.</a:t>
            </a:r>
          </a:p>
        </p:txBody>
      </p:sp>
      <p:sp>
        <p:nvSpPr>
          <p:cNvPr id="12" name="Rounded Rectangle 11"/>
          <p:cNvSpPr/>
          <p:nvPr/>
        </p:nvSpPr>
        <p:spPr>
          <a:xfrm>
            <a:off x="502920" y="4287460"/>
            <a:ext cx="6537960" cy="1957891"/>
          </a:xfrm>
          <a:prstGeom prst="roundRect">
            <a:avLst>
              <a:gd name="adj" fmla="val 8000"/>
            </a:avLst>
          </a:prstGeom>
          <a:solidFill>
            <a:srgbClr val="F0F0F0"/>
          </a:solidFill>
          <a:ln>
            <a:noFill/>
          </a:ln>
          <a:effectLst/>
        </p:spPr>
        <p:txBody>
          <a:bodyPr rtlCol="0" anchor="ctr"/>
          <a:lstStyle/>
          <a:p/>
        </p:txBody>
      </p:sp>
      <p:sp>
        <p:nvSpPr>
          <p:cNvPr id="13" name="Rectangle 12"/>
          <p:cNvSpPr/>
          <p:nvPr/>
        </p:nvSpPr>
        <p:spPr>
          <a:xfrm>
            <a:off x="502920" y="4287460"/>
            <a:ext cx="118872" cy="1957891"/>
          </a:xfrm>
          <a:prstGeom prst="rect">
            <a:avLst/>
          </a:prstGeom>
          <a:solidFill>
            <a:srgbClr val="3E8E41"/>
          </a:solidFill>
          <a:ln>
            <a:noFill/>
          </a:ln>
          <a:effectLst/>
        </p:spPr>
        <p:txBody>
          <a:bodyPr rtlCol="0" anchor="ctr"/>
          <a:lstStyle/>
          <a:p/>
        </p:txBody>
      </p:sp>
      <p:sp>
        <p:nvSpPr>
          <p:cNvPr id="14" name="TextBox 13"/>
          <p:cNvSpPr txBox="1"/>
          <p:nvPr/>
        </p:nvSpPr>
        <p:spPr>
          <a:xfrm>
            <a:off x="777240" y="4287460"/>
            <a:ext cx="6126480" cy="1957891"/>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Büyük ticaret yollarının kavşak noktası veya doğal kaynaklara yakın stratejik konumlarda bulunan Türkiye gibi ülkeler, uluslararası ticarette önemli bir avantaja sahiptir.</a:t>
            </a:r>
          </a:p>
        </p:txBody>
      </p:sp>
      <p:sp>
        <p:nvSpPr>
          <p:cNvPr id="15" name="Rounded Rectangle 14"/>
          <p:cNvSpPr/>
          <p:nvPr/>
        </p:nvSpPr>
        <p:spPr>
          <a:xfrm>
            <a:off x="7269480" y="1216152"/>
            <a:ext cx="4419295" cy="5029200"/>
          </a:xfrm>
          <a:prstGeom prst="roundRect">
            <a:avLst>
              <a:gd name="adj" fmla="val 5000"/>
            </a:avLst>
          </a:prstGeom>
          <a:solidFill>
            <a:srgbClr val="F0F0F0"/>
          </a:solidFill>
          <a:ln>
            <a:noFill/>
          </a:ln>
          <a:effectLst/>
        </p:spPr>
        <p:txBody>
          <a:bodyPr rtlCol="0" anchor="ctr"/>
          <a:lstStyle/>
          <a:p/>
        </p:txBody>
      </p:sp>
      <p:sp>
        <p:nvSpPr>
          <p:cNvPr id="16" name="Rectangle 15"/>
          <p:cNvSpPr/>
          <p:nvPr/>
        </p:nvSpPr>
        <p:spPr>
          <a:xfrm>
            <a:off x="7406640" y="1325880"/>
            <a:ext cx="4144975" cy="54864"/>
          </a:xfrm>
          <a:prstGeom prst="rect">
            <a:avLst/>
          </a:prstGeom>
          <a:solidFill>
            <a:srgbClr val="D3373A"/>
          </a:solidFill>
          <a:ln>
            <a:noFill/>
          </a:ln>
          <a:effectLst/>
        </p:spPr>
        <p:txBody>
          <a:bodyPr rtlCol="0" anchor="ctr"/>
          <a:lstStyle/>
          <a:p/>
        </p:txBody>
      </p:sp>
      <p:sp>
        <p:nvSpPr>
          <p:cNvPr id="17" name="TextBox 16"/>
          <p:cNvSpPr txBox="1"/>
          <p:nvPr/>
        </p:nvSpPr>
        <p:spPr>
          <a:xfrm>
            <a:off x="7406640" y="1417320"/>
            <a:ext cx="4144975" cy="365760"/>
          </a:xfrm>
          <a:prstGeom prst="rect">
            <a:avLst/>
          </a:prstGeom>
          <a:noFill/>
        </p:spPr>
        <p:txBody>
          <a:bodyPr wrap="square" anchor="t" lIns="73152" rIns="73152" tIns="36576" bIns="36576">
            <a:noAutofit/>
          </a:bodyPr>
          <a:lstStyle/>
          <a:p>
            <a:pPr algn="l">
              <a:spcBef>
                <a:spcPts val="0"/>
              </a:spcBef>
              <a:spcAft>
                <a:spcPts val="0"/>
              </a:spcAft>
            </a:pPr>
            <a:r>
              <a:rPr lang="tr-TR" sz="1400" b="1" i="0">
                <a:solidFill>
                  <a:srgbClr val="D3373A"/>
                </a:solidFill>
                <a:latin typeface="Calibri"/>
              </a:rPr>
              <a:t>KENAR SORUSU</a:t>
            </a:r>
          </a:p>
        </p:txBody>
      </p:sp>
      <p:sp>
        <p:nvSpPr>
          <p:cNvPr id="18" name="TextBox 17"/>
          <p:cNvSpPr txBox="1"/>
          <p:nvPr/>
        </p:nvSpPr>
        <p:spPr>
          <a:xfrm>
            <a:off x="7406640" y="1783080"/>
            <a:ext cx="4144975" cy="746760"/>
          </a:xfrm>
          <a:prstGeom prst="rect">
            <a:avLst/>
          </a:prstGeom>
          <a:noFill/>
        </p:spPr>
        <p:txBody>
          <a:bodyPr wrap="square" anchor="t" lIns="73152" rIns="73152" tIns="36576" bIns="36576">
            <a:noAutofit/>
          </a:bodyPr>
          <a:lstStyle/>
          <a:p>
            <a:pPr algn="l">
              <a:spcBef>
                <a:spcPts val="0"/>
              </a:spcBef>
              <a:spcAft>
                <a:spcPts val="0"/>
              </a:spcAft>
            </a:pPr>
            <a:r>
              <a:rPr lang="tr-TR" sz="2000" b="1" i="1">
                <a:solidFill>
                  <a:srgbClr val="262626"/>
                </a:solidFill>
                <a:latin typeface="Calibri"/>
              </a:rPr>
              <a:t>Türkiye’nin coğrafi konumu, enerji taşımacılığını nasıl etkilemiştir?</a:t>
            </a:r>
          </a:p>
        </p:txBody>
      </p:sp>
      <p:sp>
        <p:nvSpPr>
          <p:cNvPr id="19" name="Rounded Rectangle 18"/>
          <p:cNvSpPr/>
          <p:nvPr/>
        </p:nvSpPr>
        <p:spPr>
          <a:xfrm>
            <a:off x="7406640" y="2639568"/>
            <a:ext cx="4144975" cy="3468624"/>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20" name="Connector 19"/>
          <p:cNvCxnSpPr/>
          <p:nvPr/>
        </p:nvCxnSpPr>
        <p:spPr>
          <a:xfrm>
            <a:off x="7589520" y="2986430"/>
            <a:ext cx="3779215" cy="0"/>
          </a:xfrm>
          <a:prstGeom prst="line">
            <a:avLst/>
          </a:prstGeom>
          <a:ln w="12700">
            <a:solidFill>
              <a:srgbClr val="D9D9D9"/>
            </a:solidFill>
            <a:prstDash val="dash"/>
          </a:ln>
        </p:spPr>
      </p:cxnSp>
      <p:cxnSp>
        <p:nvCxnSpPr>
          <p:cNvPr id="21" name="Connector 20"/>
          <p:cNvCxnSpPr/>
          <p:nvPr/>
        </p:nvCxnSpPr>
        <p:spPr>
          <a:xfrm>
            <a:off x="7589520" y="3333292"/>
            <a:ext cx="3779215" cy="0"/>
          </a:xfrm>
          <a:prstGeom prst="line">
            <a:avLst/>
          </a:prstGeom>
          <a:ln w="12700">
            <a:solidFill>
              <a:srgbClr val="D9D9D9"/>
            </a:solidFill>
            <a:prstDash val="dash"/>
          </a:ln>
        </p:spPr>
      </p:cxnSp>
      <p:cxnSp>
        <p:nvCxnSpPr>
          <p:cNvPr id="22" name="Connector 21"/>
          <p:cNvCxnSpPr/>
          <p:nvPr/>
        </p:nvCxnSpPr>
        <p:spPr>
          <a:xfrm>
            <a:off x="7589520" y="3680155"/>
            <a:ext cx="3779215" cy="0"/>
          </a:xfrm>
          <a:prstGeom prst="line">
            <a:avLst/>
          </a:prstGeom>
          <a:ln w="12700">
            <a:solidFill>
              <a:srgbClr val="D9D9D9"/>
            </a:solidFill>
            <a:prstDash val="dash"/>
          </a:ln>
        </p:spPr>
      </p:cxnSp>
      <p:cxnSp>
        <p:nvCxnSpPr>
          <p:cNvPr id="23" name="Connector 22"/>
          <p:cNvCxnSpPr/>
          <p:nvPr/>
        </p:nvCxnSpPr>
        <p:spPr>
          <a:xfrm>
            <a:off x="7589520" y="4027017"/>
            <a:ext cx="3779215" cy="0"/>
          </a:xfrm>
          <a:prstGeom prst="line">
            <a:avLst/>
          </a:prstGeom>
          <a:ln w="12700">
            <a:solidFill>
              <a:srgbClr val="D9D9D9"/>
            </a:solidFill>
            <a:prstDash val="dash"/>
          </a:ln>
        </p:spPr>
      </p:cxnSp>
      <p:cxnSp>
        <p:nvCxnSpPr>
          <p:cNvPr id="24" name="Connector 23"/>
          <p:cNvCxnSpPr/>
          <p:nvPr/>
        </p:nvCxnSpPr>
        <p:spPr>
          <a:xfrm>
            <a:off x="7589520" y="4373880"/>
            <a:ext cx="3779215" cy="0"/>
          </a:xfrm>
          <a:prstGeom prst="line">
            <a:avLst/>
          </a:prstGeom>
          <a:ln w="12700">
            <a:solidFill>
              <a:srgbClr val="D9D9D9"/>
            </a:solidFill>
            <a:prstDash val="dash"/>
          </a:ln>
        </p:spPr>
      </p:cxnSp>
      <p:cxnSp>
        <p:nvCxnSpPr>
          <p:cNvPr id="25" name="Connector 24"/>
          <p:cNvCxnSpPr/>
          <p:nvPr/>
        </p:nvCxnSpPr>
        <p:spPr>
          <a:xfrm>
            <a:off x="7589520" y="4720742"/>
            <a:ext cx="3779215" cy="0"/>
          </a:xfrm>
          <a:prstGeom prst="line">
            <a:avLst/>
          </a:prstGeom>
          <a:ln w="12700">
            <a:solidFill>
              <a:srgbClr val="D9D9D9"/>
            </a:solidFill>
            <a:prstDash val="dash"/>
          </a:ln>
        </p:spPr>
      </p:cxnSp>
      <p:cxnSp>
        <p:nvCxnSpPr>
          <p:cNvPr id="26" name="Connector 25"/>
          <p:cNvCxnSpPr/>
          <p:nvPr/>
        </p:nvCxnSpPr>
        <p:spPr>
          <a:xfrm>
            <a:off x="7589520" y="5067604"/>
            <a:ext cx="3779215" cy="0"/>
          </a:xfrm>
          <a:prstGeom prst="line">
            <a:avLst/>
          </a:prstGeom>
          <a:ln w="12700">
            <a:solidFill>
              <a:srgbClr val="D9D9D9"/>
            </a:solidFill>
            <a:prstDash val="dash"/>
          </a:ln>
        </p:spPr>
      </p:cxnSp>
      <p:cxnSp>
        <p:nvCxnSpPr>
          <p:cNvPr id="27" name="Connector 26"/>
          <p:cNvCxnSpPr/>
          <p:nvPr/>
        </p:nvCxnSpPr>
        <p:spPr>
          <a:xfrm>
            <a:off x="7589520" y="5414467"/>
            <a:ext cx="3779215" cy="0"/>
          </a:xfrm>
          <a:prstGeom prst="line">
            <a:avLst/>
          </a:prstGeom>
          <a:ln w="12700">
            <a:solidFill>
              <a:srgbClr val="D9D9D9"/>
            </a:solidFill>
            <a:prstDash val="dash"/>
          </a:ln>
        </p:spPr>
      </p:cxnSp>
      <p:cxnSp>
        <p:nvCxnSpPr>
          <p:cNvPr id="28" name="Connector 27"/>
          <p:cNvCxnSpPr/>
          <p:nvPr/>
        </p:nvCxnSpPr>
        <p:spPr>
          <a:xfrm>
            <a:off x="7589520" y="5761329"/>
            <a:ext cx="3779215" cy="0"/>
          </a:xfrm>
          <a:prstGeom prst="line">
            <a:avLst/>
          </a:prstGeom>
          <a:ln w="12700">
            <a:solidFill>
              <a:srgbClr val="D9D9D9"/>
            </a:solidFill>
            <a:prstDash val="dash"/>
          </a:ln>
        </p:spPr>
      </p:cxnSp>
      <p:sp>
        <p:nvSpPr>
          <p:cNvPr id="29" name="TextBox 2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30" name="Rounded Rectangle 2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174</a:t>
            </a:r>
          </a:p>
        </p:txBody>
      </p:sp>
      <p:sp>
        <p:nvSpPr>
          <p:cNvPr id="31" name="TextBox 3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31 / 166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Coğrafi konum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6537960" cy="1398494"/>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1398494"/>
          </a:xfrm>
          <a:prstGeom prst="rect">
            <a:avLst/>
          </a:prstGeom>
          <a:solidFill>
            <a:srgbClr val="3E8E41"/>
          </a:solidFill>
          <a:ln>
            <a:noFill/>
          </a:ln>
          <a:effectLst/>
        </p:spPr>
        <p:txBody>
          <a:bodyPr rtlCol="0" anchor="ctr"/>
          <a:lstStyle/>
          <a:p/>
        </p:txBody>
      </p:sp>
      <p:sp>
        <p:nvSpPr>
          <p:cNvPr id="8" name="TextBox 7"/>
          <p:cNvSpPr txBox="1"/>
          <p:nvPr/>
        </p:nvSpPr>
        <p:spPr>
          <a:xfrm>
            <a:off x="777240" y="1216152"/>
            <a:ext cx="6126480" cy="1398494"/>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Bir yerin coğrafi özelliklerinin ana kaynağı, o yerin sahip olduğu coğrafi konumdur.</a:t>
            </a:r>
          </a:p>
        </p:txBody>
      </p:sp>
      <p:sp>
        <p:nvSpPr>
          <p:cNvPr id="9" name="Rounded Rectangle 8"/>
          <p:cNvSpPr/>
          <p:nvPr/>
        </p:nvSpPr>
        <p:spPr>
          <a:xfrm>
            <a:off x="502920" y="2751806"/>
            <a:ext cx="6537960" cy="1398494"/>
          </a:xfrm>
          <a:prstGeom prst="roundRect">
            <a:avLst>
              <a:gd name="adj" fmla="val 8000"/>
            </a:avLst>
          </a:prstGeom>
          <a:solidFill>
            <a:srgbClr val="F0F0F0"/>
          </a:solidFill>
          <a:ln>
            <a:noFill/>
          </a:ln>
          <a:effectLst/>
        </p:spPr>
        <p:txBody>
          <a:bodyPr rtlCol="0" anchor="ctr"/>
          <a:lstStyle/>
          <a:p/>
        </p:txBody>
      </p:sp>
      <p:sp>
        <p:nvSpPr>
          <p:cNvPr id="10" name="Rectangle 9"/>
          <p:cNvSpPr/>
          <p:nvPr/>
        </p:nvSpPr>
        <p:spPr>
          <a:xfrm>
            <a:off x="502920" y="2751806"/>
            <a:ext cx="118872" cy="1398494"/>
          </a:xfrm>
          <a:prstGeom prst="rect">
            <a:avLst/>
          </a:prstGeom>
          <a:solidFill>
            <a:srgbClr val="3E8E41"/>
          </a:solidFill>
          <a:ln>
            <a:noFill/>
          </a:ln>
          <a:effectLst/>
        </p:spPr>
        <p:txBody>
          <a:bodyPr rtlCol="0" anchor="ctr"/>
          <a:lstStyle/>
          <a:p/>
        </p:txBody>
      </p:sp>
      <p:sp>
        <p:nvSpPr>
          <p:cNvPr id="11" name="TextBox 10"/>
          <p:cNvSpPr txBox="1"/>
          <p:nvPr/>
        </p:nvSpPr>
        <p:spPr>
          <a:xfrm>
            <a:off x="777240" y="2751806"/>
            <a:ext cx="6126480" cy="1398494"/>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Coğrafi konum, küresel pazarda ekonomik faaliyetleri etkileyen kritik bir faktördür.</a:t>
            </a:r>
          </a:p>
        </p:txBody>
      </p:sp>
      <p:sp>
        <p:nvSpPr>
          <p:cNvPr id="12" name="Rounded Rectangle 11"/>
          <p:cNvSpPr/>
          <p:nvPr/>
        </p:nvSpPr>
        <p:spPr>
          <a:xfrm>
            <a:off x="502920" y="4287460"/>
            <a:ext cx="6537960" cy="1957891"/>
          </a:xfrm>
          <a:prstGeom prst="roundRect">
            <a:avLst>
              <a:gd name="adj" fmla="val 8000"/>
            </a:avLst>
          </a:prstGeom>
          <a:solidFill>
            <a:srgbClr val="F0F0F0"/>
          </a:solidFill>
          <a:ln>
            <a:noFill/>
          </a:ln>
          <a:effectLst/>
        </p:spPr>
        <p:txBody>
          <a:bodyPr rtlCol="0" anchor="ctr"/>
          <a:lstStyle/>
          <a:p/>
        </p:txBody>
      </p:sp>
      <p:sp>
        <p:nvSpPr>
          <p:cNvPr id="13" name="Rectangle 12"/>
          <p:cNvSpPr/>
          <p:nvPr/>
        </p:nvSpPr>
        <p:spPr>
          <a:xfrm>
            <a:off x="502920" y="4287460"/>
            <a:ext cx="118872" cy="1957891"/>
          </a:xfrm>
          <a:prstGeom prst="rect">
            <a:avLst/>
          </a:prstGeom>
          <a:solidFill>
            <a:srgbClr val="3E8E41"/>
          </a:solidFill>
          <a:ln>
            <a:noFill/>
          </a:ln>
          <a:effectLst/>
        </p:spPr>
        <p:txBody>
          <a:bodyPr rtlCol="0" anchor="ctr"/>
          <a:lstStyle/>
          <a:p/>
        </p:txBody>
      </p:sp>
      <p:sp>
        <p:nvSpPr>
          <p:cNvPr id="14" name="TextBox 13"/>
          <p:cNvSpPr txBox="1"/>
          <p:nvPr/>
        </p:nvSpPr>
        <p:spPr>
          <a:xfrm>
            <a:off x="777240" y="4287460"/>
            <a:ext cx="6126480" cy="1957891"/>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Büyük ticaret yollarının kavşak noktası veya doğal kaynaklara yakın stratejik konumlarda bulunan Türkiye gibi ülkeler, uluslararası ticarette önemli bir avantaja sahiptir.</a:t>
            </a:r>
          </a:p>
        </p:txBody>
      </p:sp>
      <p:sp>
        <p:nvSpPr>
          <p:cNvPr id="15" name="Rounded Rectangle 14"/>
          <p:cNvSpPr/>
          <p:nvPr/>
        </p:nvSpPr>
        <p:spPr>
          <a:xfrm>
            <a:off x="7269480" y="1216152"/>
            <a:ext cx="4419295" cy="5029200"/>
          </a:xfrm>
          <a:prstGeom prst="roundRect">
            <a:avLst>
              <a:gd name="adj" fmla="val 5000"/>
            </a:avLst>
          </a:prstGeom>
          <a:solidFill>
            <a:srgbClr val="F0F0F0"/>
          </a:solidFill>
          <a:ln>
            <a:noFill/>
          </a:ln>
          <a:effectLst/>
        </p:spPr>
        <p:txBody>
          <a:bodyPr rtlCol="0" anchor="ctr"/>
          <a:lstStyle/>
          <a:p/>
        </p:txBody>
      </p:sp>
      <p:sp>
        <p:nvSpPr>
          <p:cNvPr id="16" name="Rectangle 15"/>
          <p:cNvSpPr/>
          <p:nvPr/>
        </p:nvSpPr>
        <p:spPr>
          <a:xfrm>
            <a:off x="7406640" y="1325880"/>
            <a:ext cx="4144975" cy="54864"/>
          </a:xfrm>
          <a:prstGeom prst="rect">
            <a:avLst/>
          </a:prstGeom>
          <a:solidFill>
            <a:srgbClr val="D3373A"/>
          </a:solidFill>
          <a:ln>
            <a:noFill/>
          </a:ln>
          <a:effectLst/>
        </p:spPr>
        <p:txBody>
          <a:bodyPr rtlCol="0" anchor="ctr"/>
          <a:lstStyle/>
          <a:p/>
        </p:txBody>
      </p:sp>
      <p:sp>
        <p:nvSpPr>
          <p:cNvPr id="17" name="TextBox 16"/>
          <p:cNvSpPr txBox="1"/>
          <p:nvPr/>
        </p:nvSpPr>
        <p:spPr>
          <a:xfrm>
            <a:off x="7406640" y="1417320"/>
            <a:ext cx="4144975" cy="365760"/>
          </a:xfrm>
          <a:prstGeom prst="rect">
            <a:avLst/>
          </a:prstGeom>
          <a:noFill/>
        </p:spPr>
        <p:txBody>
          <a:bodyPr wrap="square" anchor="t" lIns="73152" rIns="73152" tIns="36576" bIns="36576">
            <a:noAutofit/>
          </a:bodyPr>
          <a:lstStyle/>
          <a:p>
            <a:pPr algn="l">
              <a:spcBef>
                <a:spcPts val="0"/>
              </a:spcBef>
              <a:spcAft>
                <a:spcPts val="0"/>
              </a:spcAft>
            </a:pPr>
            <a:r>
              <a:rPr lang="tr-TR" sz="1400" b="1" i="0">
                <a:solidFill>
                  <a:srgbClr val="D3373A"/>
                </a:solidFill>
                <a:latin typeface="Calibri"/>
              </a:rPr>
              <a:t>KENAR SORUSU</a:t>
            </a:r>
          </a:p>
        </p:txBody>
      </p:sp>
      <p:sp>
        <p:nvSpPr>
          <p:cNvPr id="18" name="TextBox 17"/>
          <p:cNvSpPr txBox="1"/>
          <p:nvPr/>
        </p:nvSpPr>
        <p:spPr>
          <a:xfrm>
            <a:off x="7406640" y="1783080"/>
            <a:ext cx="4144975" cy="746760"/>
          </a:xfrm>
          <a:prstGeom prst="rect">
            <a:avLst/>
          </a:prstGeom>
          <a:noFill/>
        </p:spPr>
        <p:txBody>
          <a:bodyPr wrap="square" anchor="t" lIns="73152" rIns="73152" tIns="36576" bIns="36576">
            <a:noAutofit/>
          </a:bodyPr>
          <a:lstStyle/>
          <a:p>
            <a:pPr algn="l">
              <a:spcBef>
                <a:spcPts val="0"/>
              </a:spcBef>
              <a:spcAft>
                <a:spcPts val="0"/>
              </a:spcAft>
            </a:pPr>
            <a:r>
              <a:rPr lang="tr-TR" sz="2000" b="1" i="1">
                <a:solidFill>
                  <a:srgbClr val="262626"/>
                </a:solidFill>
                <a:latin typeface="Calibri"/>
              </a:rPr>
              <a:t>Türkiye’nin coğrafi konumu, enerji taşımacılığını nasıl etkilemiştir?</a:t>
            </a:r>
          </a:p>
        </p:txBody>
      </p:sp>
      <p:sp>
        <p:nvSpPr>
          <p:cNvPr id="19" name="Rounded Rectangle 18"/>
          <p:cNvSpPr/>
          <p:nvPr/>
        </p:nvSpPr>
        <p:spPr>
          <a:xfrm>
            <a:off x="7406640" y="2639568"/>
            <a:ext cx="4144975" cy="3468624"/>
          </a:xfrm>
          <a:prstGeom prst="roundRect">
            <a:avLst>
              <a:gd name="adj" fmla="val 8000"/>
            </a:avLst>
          </a:prstGeom>
          <a:solidFill>
            <a:srgbClr val="E3F1E4"/>
          </a:solidFill>
          <a:ln w="12700">
            <a:solidFill>
              <a:srgbClr val="2E7D32"/>
            </a:solidFill>
          </a:ln>
          <a:effectLst/>
        </p:spPr>
        <p:txBody>
          <a:bodyPr rtlCol="0" anchor="ctr" wrap="square" lIns="109728" rIns="109728" tIns="73152" bIns="73152">
            <a:noAutofit/>
          </a:bodyPr>
          <a:lstStyle/>
          <a:p>
            <a:pPr algn="l">
              <a:spcBef>
                <a:spcPts val="0"/>
              </a:spcBef>
              <a:spcAft>
                <a:spcPts val="704"/>
              </a:spcAft>
            </a:pPr>
            <a:r>
              <a:rPr lang="tr-TR" sz="1480" b="1" i="0">
                <a:solidFill>
                  <a:srgbClr val="2E7D32"/>
                </a:solidFill>
                <a:latin typeface="Calibri"/>
              </a:rPr>
              <a:t>ÖRNEK CEVAP</a:t>
            </a:r>
          </a:p>
          <a:p>
            <a:pPr algn="l" marL="229974" indent="-229974">
              <a:spcBef>
                <a:spcPts val="0"/>
              </a:spcBef>
              <a:spcAft>
                <a:spcPts val="704"/>
              </a:spcAft>
            </a:pPr>
            <a:r>
              <a:rPr lang="tr-TR" sz="1850" b="1" i="0">
                <a:solidFill>
                  <a:srgbClr val="2E7D32"/>
                </a:solidFill>
                <a:latin typeface="Calibri"/>
              </a:rPr>
              <a:t>•  </a:t>
            </a:r>
            <a:r>
              <a:rPr lang="tr-TR" sz="1850" b="0" i="0">
                <a:solidFill>
                  <a:srgbClr val="262626"/>
                </a:solidFill>
                <a:latin typeface="Calibri"/>
              </a:rPr>
              <a:t>Türkiye, enerji kaynakları zengin komşu bölgeler ile enerjiyi kullanan Avrupa arasında bir köprüdür.</a:t>
            </a:r>
          </a:p>
          <a:p>
            <a:pPr algn="l" marL="229974" indent="-229974">
              <a:spcBef>
                <a:spcPts val="0"/>
              </a:spcBef>
              <a:spcAft>
                <a:spcPts val="704"/>
              </a:spcAft>
            </a:pPr>
            <a:r>
              <a:rPr lang="tr-TR" sz="1850" b="1" i="0">
                <a:solidFill>
                  <a:srgbClr val="2E7D32"/>
                </a:solidFill>
                <a:latin typeface="Calibri"/>
              </a:rPr>
              <a:t>•  </a:t>
            </a:r>
            <a:r>
              <a:rPr lang="tr-TR" sz="1850" b="0" i="0">
                <a:solidFill>
                  <a:srgbClr val="262626"/>
                </a:solidFill>
                <a:latin typeface="Calibri"/>
              </a:rPr>
              <a:t>Boru hatları ve tanker yolları (Boğazlar) Türkiye'den geçer: enerji koridoru.</a:t>
            </a:r>
          </a:p>
          <a:p>
            <a:pPr algn="l" marL="229974" indent="-229974">
              <a:spcBef>
                <a:spcPts val="0"/>
              </a:spcBef>
              <a:spcAft>
                <a:spcPts val="0"/>
              </a:spcAft>
            </a:pPr>
            <a:r>
              <a:rPr lang="tr-TR" sz="1850" b="1" i="0">
                <a:solidFill>
                  <a:srgbClr val="2E7D32"/>
                </a:solidFill>
                <a:latin typeface="Calibri"/>
              </a:rPr>
              <a:t>•  </a:t>
            </a:r>
            <a:r>
              <a:rPr lang="tr-TR" sz="1850" b="0" i="0">
                <a:solidFill>
                  <a:srgbClr val="262626"/>
                </a:solidFill>
                <a:latin typeface="Calibri"/>
              </a:rPr>
              <a:t>Gelir, iş imkânı ve stratejik önem kazandırır.</a:t>
            </a:r>
          </a:p>
        </p:txBody>
      </p:sp>
      <p:sp>
        <p:nvSpPr>
          <p:cNvPr id="20" name="TextBox 1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1" name="Rounded Rectangle 2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174</a:t>
            </a:r>
          </a:p>
        </p:txBody>
      </p:sp>
      <p:sp>
        <p:nvSpPr>
          <p:cNvPr id="22" name="TextBox 2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32 / 166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2 · İklim</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2. GRUP</a:t>
            </a:r>
          </a:p>
        </p:txBody>
      </p:sp>
      <p:sp>
        <p:nvSpPr>
          <p:cNvPr id="6" name="Rounded Rectangle 5"/>
          <p:cNvSpPr/>
          <p:nvPr/>
        </p:nvSpPr>
        <p:spPr>
          <a:xfrm>
            <a:off x="502920" y="1216152"/>
            <a:ext cx="5760720" cy="1509485"/>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1509485"/>
          </a:xfrm>
          <a:prstGeom prst="rect">
            <a:avLst/>
          </a:prstGeom>
          <a:solidFill>
            <a:srgbClr val="3E8E41"/>
          </a:solidFill>
          <a:ln>
            <a:noFill/>
          </a:ln>
          <a:effectLst/>
        </p:spPr>
        <p:txBody>
          <a:bodyPr rtlCol="0" anchor="ctr"/>
          <a:lstStyle/>
          <a:p/>
        </p:txBody>
      </p:sp>
      <p:sp>
        <p:nvSpPr>
          <p:cNvPr id="8" name="TextBox 7"/>
          <p:cNvSpPr txBox="1"/>
          <p:nvPr/>
        </p:nvSpPr>
        <p:spPr>
          <a:xfrm>
            <a:off x="777240" y="1216152"/>
            <a:ext cx="5349240" cy="1509485"/>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Bir yerin iklim koşulları; tarımsal faaliyetler başta olmak üzere sanayi, enerji üretimi, ulaşım, turizm gibi diğer ekonomik faaliyetleri de etkilemektedir.</a:t>
            </a:r>
          </a:p>
        </p:txBody>
      </p:sp>
      <p:sp>
        <p:nvSpPr>
          <p:cNvPr id="9" name="Rounded Rectangle 8"/>
          <p:cNvSpPr/>
          <p:nvPr/>
        </p:nvSpPr>
        <p:spPr>
          <a:xfrm>
            <a:off x="502920" y="2862797"/>
            <a:ext cx="5760720" cy="1735908"/>
          </a:xfrm>
          <a:prstGeom prst="roundRect">
            <a:avLst>
              <a:gd name="adj" fmla="val 8000"/>
            </a:avLst>
          </a:prstGeom>
          <a:solidFill>
            <a:srgbClr val="F0F0F0"/>
          </a:solidFill>
          <a:ln>
            <a:noFill/>
          </a:ln>
          <a:effectLst/>
        </p:spPr>
        <p:txBody>
          <a:bodyPr rtlCol="0" anchor="ctr"/>
          <a:lstStyle/>
          <a:p/>
        </p:txBody>
      </p:sp>
      <p:sp>
        <p:nvSpPr>
          <p:cNvPr id="10" name="Rectangle 9"/>
          <p:cNvSpPr/>
          <p:nvPr/>
        </p:nvSpPr>
        <p:spPr>
          <a:xfrm>
            <a:off x="502920" y="2862797"/>
            <a:ext cx="118872" cy="1735908"/>
          </a:xfrm>
          <a:prstGeom prst="rect">
            <a:avLst/>
          </a:prstGeom>
          <a:solidFill>
            <a:srgbClr val="3E8E41"/>
          </a:solidFill>
          <a:ln>
            <a:noFill/>
          </a:ln>
          <a:effectLst/>
        </p:spPr>
        <p:txBody>
          <a:bodyPr rtlCol="0" anchor="ctr"/>
          <a:lstStyle/>
          <a:p/>
        </p:txBody>
      </p:sp>
      <p:sp>
        <p:nvSpPr>
          <p:cNvPr id="11" name="TextBox 10"/>
          <p:cNvSpPr txBox="1"/>
          <p:nvPr/>
        </p:nvSpPr>
        <p:spPr>
          <a:xfrm>
            <a:off x="777240" y="2862797"/>
            <a:ext cx="5349240" cy="1735908"/>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İklim; tarım ürünleri ve turizm faaliyetlerinin çeşitlenmesinde doğrudan, bazı sanayi kollarının icra edileceği yerlerin seçiminde de dolaylı etkiye sahiptir.</a:t>
            </a:r>
          </a:p>
        </p:txBody>
      </p:sp>
      <p:sp>
        <p:nvSpPr>
          <p:cNvPr id="12" name="Rounded Rectangle 11"/>
          <p:cNvSpPr/>
          <p:nvPr/>
        </p:nvSpPr>
        <p:spPr>
          <a:xfrm>
            <a:off x="502920" y="4735865"/>
            <a:ext cx="5760720" cy="1509485"/>
          </a:xfrm>
          <a:prstGeom prst="roundRect">
            <a:avLst>
              <a:gd name="adj" fmla="val 8000"/>
            </a:avLst>
          </a:prstGeom>
          <a:solidFill>
            <a:srgbClr val="F0F0F0"/>
          </a:solidFill>
          <a:ln>
            <a:noFill/>
          </a:ln>
          <a:effectLst/>
        </p:spPr>
        <p:txBody>
          <a:bodyPr rtlCol="0" anchor="ctr"/>
          <a:lstStyle/>
          <a:p/>
        </p:txBody>
      </p:sp>
      <p:sp>
        <p:nvSpPr>
          <p:cNvPr id="13" name="Rectangle 12"/>
          <p:cNvSpPr/>
          <p:nvPr/>
        </p:nvSpPr>
        <p:spPr>
          <a:xfrm>
            <a:off x="502920" y="4735865"/>
            <a:ext cx="118872" cy="1509485"/>
          </a:xfrm>
          <a:prstGeom prst="rect">
            <a:avLst/>
          </a:prstGeom>
          <a:solidFill>
            <a:srgbClr val="3E8E41"/>
          </a:solidFill>
          <a:ln>
            <a:noFill/>
          </a:ln>
          <a:effectLst/>
        </p:spPr>
        <p:txBody>
          <a:bodyPr rtlCol="0" anchor="ctr"/>
          <a:lstStyle/>
          <a:p/>
        </p:txBody>
      </p:sp>
      <p:sp>
        <p:nvSpPr>
          <p:cNvPr id="14" name="TextBox 13"/>
          <p:cNvSpPr txBox="1"/>
          <p:nvPr/>
        </p:nvSpPr>
        <p:spPr>
          <a:xfrm>
            <a:off x="777240" y="4735865"/>
            <a:ext cx="5349240" cy="1509485"/>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Ayrıca iklim şartları; güneş enerjisi, rüzgâr gücü ve suyla çalışan enerji santrallerinin verimliliğini de etkileyebilmektedir.</a:t>
            </a:r>
          </a:p>
        </p:txBody>
      </p:sp>
      <p:pic>
        <p:nvPicPr>
          <p:cNvPr id="15" name="Picture 14" descr="h28_g51_ananas_s174.jpg"/>
          <p:cNvPicPr>
            <a:picLocks noChangeAspect="1"/>
          </p:cNvPicPr>
          <p:nvPr/>
        </p:nvPicPr>
        <p:blipFill>
          <a:blip r:embed="rId3"/>
          <a:srcRect t="18957" b="18957"/>
          <a:stretch>
            <a:fillRect/>
          </a:stretch>
        </p:blipFill>
        <p:spPr>
          <a:xfrm>
            <a:off x="6492240" y="1216152"/>
            <a:ext cx="5196535" cy="1828800"/>
          </a:xfrm>
          <a:prstGeom prst="rect">
            <a:avLst/>
          </a:prstGeom>
          <a:ln w="9525">
            <a:solidFill>
              <a:srgbClr val="D9D9D9"/>
            </a:solidFill>
          </a:ln>
        </p:spPr>
      </p:pic>
      <p:pic>
        <p:nvPicPr>
          <p:cNvPr id="16" name="Picture 15" descr="h28_g51_bugday_s174.jpg"/>
          <p:cNvPicPr>
            <a:picLocks noChangeAspect="1"/>
          </p:cNvPicPr>
          <p:nvPr/>
        </p:nvPicPr>
        <p:blipFill>
          <a:blip r:embed="rId4"/>
          <a:srcRect t="17219" b="17219"/>
          <a:stretch>
            <a:fillRect/>
          </a:stretch>
        </p:blipFill>
        <p:spPr>
          <a:xfrm>
            <a:off x="6492240" y="3136392"/>
            <a:ext cx="5196535" cy="1828800"/>
          </a:xfrm>
          <a:prstGeom prst="rect">
            <a:avLst/>
          </a:prstGeom>
          <a:ln w="9525">
            <a:solidFill>
              <a:srgbClr val="D9D9D9"/>
            </a:solidFill>
          </a:ln>
        </p:spPr>
      </p:pic>
      <p:sp>
        <p:nvSpPr>
          <p:cNvPr id="17" name="Rounded Rectangle 16"/>
          <p:cNvSpPr/>
          <p:nvPr/>
        </p:nvSpPr>
        <p:spPr>
          <a:xfrm>
            <a:off x="6583680" y="1307592"/>
            <a:ext cx="1325880" cy="329184"/>
          </a:xfrm>
          <a:prstGeom prst="roundRect">
            <a:avLst>
              <a:gd name="adj" fmla="val 25000"/>
            </a:avLst>
          </a:prstGeom>
          <a:solidFill>
            <a:srgbClr val="FFFFFF"/>
          </a:solidFill>
          <a:ln>
            <a:noFill/>
          </a:ln>
          <a:effectLst/>
        </p:spPr>
        <p:txBody>
          <a:bodyPr rtlCol="0" anchor="ctr" wrap="square" lIns="36576" rIns="36576" tIns="0" bIns="0">
            <a:noAutofit/>
          </a:bodyPr>
          <a:lstStyle/>
          <a:p>
            <a:pPr algn="ctr">
              <a:spcBef>
                <a:spcPts val="0"/>
              </a:spcBef>
              <a:spcAft>
                <a:spcPts val="0"/>
              </a:spcAft>
            </a:pPr>
            <a:r>
              <a:rPr lang="tr-TR" sz="1500" b="1" i="0">
                <a:solidFill>
                  <a:srgbClr val="262626"/>
                </a:solidFill>
                <a:latin typeface="Calibri"/>
              </a:rPr>
              <a:t>Ananas</a:t>
            </a:r>
          </a:p>
        </p:txBody>
      </p:sp>
      <p:sp>
        <p:nvSpPr>
          <p:cNvPr id="18" name="Rounded Rectangle 17"/>
          <p:cNvSpPr/>
          <p:nvPr/>
        </p:nvSpPr>
        <p:spPr>
          <a:xfrm>
            <a:off x="6583680" y="3227832"/>
            <a:ext cx="1325880" cy="329184"/>
          </a:xfrm>
          <a:prstGeom prst="roundRect">
            <a:avLst>
              <a:gd name="adj" fmla="val 25000"/>
            </a:avLst>
          </a:prstGeom>
          <a:solidFill>
            <a:srgbClr val="FFFFFF"/>
          </a:solidFill>
          <a:ln>
            <a:noFill/>
          </a:ln>
          <a:effectLst/>
        </p:spPr>
        <p:txBody>
          <a:bodyPr rtlCol="0" anchor="ctr" wrap="square" lIns="36576" rIns="36576" tIns="0" bIns="0">
            <a:noAutofit/>
          </a:bodyPr>
          <a:lstStyle/>
          <a:p>
            <a:pPr algn="ctr">
              <a:spcBef>
                <a:spcPts val="0"/>
              </a:spcBef>
              <a:spcAft>
                <a:spcPts val="0"/>
              </a:spcAft>
            </a:pPr>
            <a:r>
              <a:rPr lang="tr-TR" sz="1500" b="1" i="0">
                <a:solidFill>
                  <a:srgbClr val="262626"/>
                </a:solidFill>
                <a:latin typeface="Calibri"/>
              </a:rPr>
              <a:t>Buğday</a:t>
            </a:r>
          </a:p>
        </p:txBody>
      </p:sp>
      <p:sp>
        <p:nvSpPr>
          <p:cNvPr id="19" name="TextBox 18"/>
          <p:cNvSpPr txBox="1"/>
          <p:nvPr/>
        </p:nvSpPr>
        <p:spPr>
          <a:xfrm>
            <a:off x="6492240" y="5056632"/>
            <a:ext cx="5196535" cy="1234440"/>
          </a:xfrm>
          <a:prstGeom prst="rect">
            <a:avLst/>
          </a:prstGeom>
          <a:noFill/>
        </p:spPr>
        <p:txBody>
          <a:bodyPr wrap="square" anchor="ctr" lIns="73152" rIns="73152" tIns="36576" bIns="36576">
            <a:noAutofit/>
          </a:bodyPr>
          <a:lstStyle/>
          <a:p>
            <a:pPr algn="l">
              <a:spcBef>
                <a:spcPts val="0"/>
              </a:spcBef>
              <a:spcAft>
                <a:spcPts val="0"/>
              </a:spcAft>
            </a:pPr>
            <a:r>
              <a:rPr lang="tr-TR" sz="1600" b="0" i="1">
                <a:solidFill>
                  <a:srgbClr val="767676"/>
                </a:solidFill>
                <a:latin typeface="Calibri"/>
              </a:rPr>
              <a:t>Görsel 5.1:  Sıcak ve yağışlı alanlarda ananas yetiştirilebilirken sıcaklığın düştüğü ve yağışın azaldığı yerlerde buğday tarımı yapılabilmektedir.</a:t>
            </a:r>
          </a:p>
        </p:txBody>
      </p:sp>
      <p:sp>
        <p:nvSpPr>
          <p:cNvPr id="20" name="TextBox 1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1" name="Rounded Rectangle 2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174</a:t>
            </a:r>
          </a:p>
        </p:txBody>
      </p:sp>
      <p:sp>
        <p:nvSpPr>
          <p:cNvPr id="22" name="TextBox 2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33 / 166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3 · Topoğrafya</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3. GRUP</a:t>
            </a:r>
          </a:p>
        </p:txBody>
      </p:sp>
      <p:pic>
        <p:nvPicPr>
          <p:cNvPr id="6" name="Picture 5" descr="h28_g52_liman_s175.jpg"/>
          <p:cNvPicPr>
            <a:picLocks noChangeAspect="1"/>
          </p:cNvPicPr>
          <p:nvPr/>
        </p:nvPicPr>
        <p:blipFill>
          <a:blip r:embed="rId3"/>
          <a:srcRect t="483" b="483"/>
          <a:stretch>
            <a:fillRect/>
          </a:stretch>
        </p:blipFill>
        <p:spPr>
          <a:xfrm>
            <a:off x="502920" y="1216152"/>
            <a:ext cx="3383280" cy="1783080"/>
          </a:xfrm>
          <a:prstGeom prst="rect">
            <a:avLst/>
          </a:prstGeom>
          <a:ln w="9525">
            <a:solidFill>
              <a:srgbClr val="D9D9D9"/>
            </a:solidFill>
          </a:ln>
        </p:spPr>
      </p:pic>
      <p:sp>
        <p:nvSpPr>
          <p:cNvPr id="7" name="TextBox 6"/>
          <p:cNvSpPr txBox="1"/>
          <p:nvPr/>
        </p:nvSpPr>
        <p:spPr>
          <a:xfrm>
            <a:off x="502920" y="3035808"/>
            <a:ext cx="3383280" cy="566928"/>
          </a:xfrm>
          <a:prstGeom prst="rect">
            <a:avLst/>
          </a:prstGeom>
          <a:noFill/>
        </p:spPr>
        <p:txBody>
          <a:bodyPr wrap="square" anchor="t" lIns="73152" rIns="73152" tIns="36576" bIns="36576">
            <a:noAutofit/>
          </a:bodyPr>
          <a:lstStyle/>
          <a:p>
            <a:pPr algn="l">
              <a:spcBef>
                <a:spcPts val="0"/>
              </a:spcBef>
              <a:spcAft>
                <a:spcPts val="0"/>
              </a:spcAft>
            </a:pPr>
            <a:r>
              <a:rPr lang="tr-TR" sz="1200" b="0" i="1">
                <a:solidFill>
                  <a:srgbClr val="767676"/>
                </a:solidFill>
                <a:latin typeface="Calibri"/>
              </a:rPr>
              <a:t>Görsel 5.2: Topoğrafyanın elverişli olması liman gelişimi için önemlidir. (Hamburg Limanı/Almanya)</a:t>
            </a:r>
          </a:p>
        </p:txBody>
      </p:sp>
      <p:pic>
        <p:nvPicPr>
          <p:cNvPr id="8" name="Picture 7" descr="h28_g53_selale_s175.jpg"/>
          <p:cNvPicPr>
            <a:picLocks noChangeAspect="1"/>
          </p:cNvPicPr>
          <p:nvPr/>
        </p:nvPicPr>
        <p:blipFill>
          <a:blip r:embed="rId4"/>
          <a:srcRect t="700" b="700"/>
          <a:stretch>
            <a:fillRect/>
          </a:stretch>
        </p:blipFill>
        <p:spPr>
          <a:xfrm>
            <a:off x="4069080" y="1216152"/>
            <a:ext cx="3383280" cy="1783080"/>
          </a:xfrm>
          <a:prstGeom prst="rect">
            <a:avLst/>
          </a:prstGeom>
          <a:ln w="9525">
            <a:solidFill>
              <a:srgbClr val="D9D9D9"/>
            </a:solidFill>
          </a:ln>
        </p:spPr>
      </p:pic>
      <p:sp>
        <p:nvSpPr>
          <p:cNvPr id="9" name="TextBox 8"/>
          <p:cNvSpPr txBox="1"/>
          <p:nvPr/>
        </p:nvSpPr>
        <p:spPr>
          <a:xfrm>
            <a:off x="4069080" y="3035808"/>
            <a:ext cx="3383280" cy="566928"/>
          </a:xfrm>
          <a:prstGeom prst="rect">
            <a:avLst/>
          </a:prstGeom>
          <a:noFill/>
        </p:spPr>
        <p:txBody>
          <a:bodyPr wrap="square" anchor="t" lIns="73152" rIns="73152" tIns="36576" bIns="36576">
            <a:noAutofit/>
          </a:bodyPr>
          <a:lstStyle/>
          <a:p>
            <a:pPr algn="l">
              <a:spcBef>
                <a:spcPts val="0"/>
              </a:spcBef>
              <a:spcAft>
                <a:spcPts val="0"/>
              </a:spcAft>
            </a:pPr>
            <a:r>
              <a:rPr lang="tr-TR" sz="1400" b="0" i="1">
                <a:solidFill>
                  <a:srgbClr val="767676"/>
                </a:solidFill>
                <a:latin typeface="Calibri"/>
              </a:rPr>
              <a:t>Görsel 5.3: Doğal güzellikler turizmde cazibe alanlarıdır. (Niagara Şelalesi/ABD)</a:t>
            </a:r>
          </a:p>
        </p:txBody>
      </p:sp>
      <p:sp>
        <p:nvSpPr>
          <p:cNvPr id="10" name="Rounded Rectangle 9"/>
          <p:cNvSpPr/>
          <p:nvPr/>
        </p:nvSpPr>
        <p:spPr>
          <a:xfrm>
            <a:off x="502920" y="3685032"/>
            <a:ext cx="6949440" cy="1497787"/>
          </a:xfrm>
          <a:prstGeom prst="roundRect">
            <a:avLst>
              <a:gd name="adj" fmla="val 8000"/>
            </a:avLst>
          </a:prstGeom>
          <a:solidFill>
            <a:srgbClr val="F0F0F0"/>
          </a:solidFill>
          <a:ln>
            <a:noFill/>
          </a:ln>
          <a:effectLst/>
        </p:spPr>
        <p:txBody>
          <a:bodyPr rtlCol="0" anchor="ctr"/>
          <a:lstStyle/>
          <a:p/>
        </p:txBody>
      </p:sp>
      <p:sp>
        <p:nvSpPr>
          <p:cNvPr id="11" name="Rectangle 10"/>
          <p:cNvSpPr/>
          <p:nvPr/>
        </p:nvSpPr>
        <p:spPr>
          <a:xfrm>
            <a:off x="502920" y="3685032"/>
            <a:ext cx="118872" cy="1497787"/>
          </a:xfrm>
          <a:prstGeom prst="rect">
            <a:avLst/>
          </a:prstGeom>
          <a:solidFill>
            <a:srgbClr val="3E8E41"/>
          </a:solidFill>
          <a:ln>
            <a:noFill/>
          </a:ln>
          <a:effectLst/>
        </p:spPr>
        <p:txBody>
          <a:bodyPr rtlCol="0" anchor="ctr"/>
          <a:lstStyle/>
          <a:p/>
        </p:txBody>
      </p:sp>
      <p:sp>
        <p:nvSpPr>
          <p:cNvPr id="12" name="TextBox 11"/>
          <p:cNvSpPr txBox="1"/>
          <p:nvPr/>
        </p:nvSpPr>
        <p:spPr>
          <a:xfrm>
            <a:off x="777240" y="3685032"/>
            <a:ext cx="6537960" cy="1497787"/>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Bir bölgenin topoğrafik özellikleri (yükselti, eğim, bakı vb.) o bölgenin ekonomik potansiyelinin belirlenmesinde etkin rol oynar. Söz konusu özellikler; tarım arazilerinin dağılışı, kara ve demir yolu güzergâhları, liman ve havalimanlarına ait yerlerin belirlenmesinde oldukça önemlidir.</a:t>
            </a:r>
          </a:p>
        </p:txBody>
      </p:sp>
      <p:sp>
        <p:nvSpPr>
          <p:cNvPr id="13" name="Rounded Rectangle 12"/>
          <p:cNvSpPr/>
          <p:nvPr/>
        </p:nvSpPr>
        <p:spPr>
          <a:xfrm>
            <a:off x="502920" y="5292547"/>
            <a:ext cx="6949440" cy="998524"/>
          </a:xfrm>
          <a:prstGeom prst="roundRect">
            <a:avLst>
              <a:gd name="adj" fmla="val 8000"/>
            </a:avLst>
          </a:prstGeom>
          <a:solidFill>
            <a:srgbClr val="F0F0F0"/>
          </a:solidFill>
          <a:ln>
            <a:noFill/>
          </a:ln>
          <a:effectLst/>
        </p:spPr>
        <p:txBody>
          <a:bodyPr rtlCol="0" anchor="ctr"/>
          <a:lstStyle/>
          <a:p/>
        </p:txBody>
      </p:sp>
      <p:sp>
        <p:nvSpPr>
          <p:cNvPr id="14" name="Rectangle 13"/>
          <p:cNvSpPr/>
          <p:nvPr/>
        </p:nvSpPr>
        <p:spPr>
          <a:xfrm>
            <a:off x="502920" y="5292547"/>
            <a:ext cx="118872" cy="998524"/>
          </a:xfrm>
          <a:prstGeom prst="rect">
            <a:avLst/>
          </a:prstGeom>
          <a:solidFill>
            <a:srgbClr val="3E8E41"/>
          </a:solidFill>
          <a:ln>
            <a:noFill/>
          </a:ln>
          <a:effectLst/>
        </p:spPr>
        <p:txBody>
          <a:bodyPr rtlCol="0" anchor="ctr"/>
          <a:lstStyle/>
          <a:p/>
        </p:txBody>
      </p:sp>
      <p:sp>
        <p:nvSpPr>
          <p:cNvPr id="15" name="TextBox 14"/>
          <p:cNvSpPr txBox="1"/>
          <p:nvPr/>
        </p:nvSpPr>
        <p:spPr>
          <a:xfrm>
            <a:off x="777240" y="5292547"/>
            <a:ext cx="6537960" cy="998524"/>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Peribacası, traverten, şelale, mağara vb. ilgi çekici yeryüzü şekillerine sahip yerler turizm faaliyetlerinin gelişimine imkân sağlamaktadır.</a:t>
            </a:r>
          </a:p>
        </p:txBody>
      </p:sp>
      <p:sp>
        <p:nvSpPr>
          <p:cNvPr id="16" name="Rounded Rectangle 15"/>
          <p:cNvSpPr/>
          <p:nvPr/>
        </p:nvSpPr>
        <p:spPr>
          <a:xfrm>
            <a:off x="7680960" y="1216152"/>
            <a:ext cx="4007815" cy="5029200"/>
          </a:xfrm>
          <a:prstGeom prst="roundRect">
            <a:avLst>
              <a:gd name="adj" fmla="val 5000"/>
            </a:avLst>
          </a:prstGeom>
          <a:solidFill>
            <a:srgbClr val="F0F0F0"/>
          </a:solidFill>
          <a:ln>
            <a:noFill/>
          </a:ln>
          <a:effectLst/>
        </p:spPr>
        <p:txBody>
          <a:bodyPr rtlCol="0" anchor="ctr"/>
          <a:lstStyle/>
          <a:p/>
        </p:txBody>
      </p:sp>
      <p:sp>
        <p:nvSpPr>
          <p:cNvPr id="17" name="Rectangle 16"/>
          <p:cNvSpPr/>
          <p:nvPr/>
        </p:nvSpPr>
        <p:spPr>
          <a:xfrm>
            <a:off x="7818120" y="1325880"/>
            <a:ext cx="3733495" cy="54864"/>
          </a:xfrm>
          <a:prstGeom prst="rect">
            <a:avLst/>
          </a:prstGeom>
          <a:solidFill>
            <a:srgbClr val="D3373A"/>
          </a:solidFill>
          <a:ln>
            <a:noFill/>
          </a:ln>
          <a:effectLst/>
        </p:spPr>
        <p:txBody>
          <a:bodyPr rtlCol="0" anchor="ctr"/>
          <a:lstStyle/>
          <a:p/>
        </p:txBody>
      </p:sp>
      <p:sp>
        <p:nvSpPr>
          <p:cNvPr id="18" name="TextBox 17"/>
          <p:cNvSpPr txBox="1"/>
          <p:nvPr/>
        </p:nvSpPr>
        <p:spPr>
          <a:xfrm>
            <a:off x="7818120" y="1417320"/>
            <a:ext cx="3733495" cy="365760"/>
          </a:xfrm>
          <a:prstGeom prst="rect">
            <a:avLst/>
          </a:prstGeom>
          <a:noFill/>
        </p:spPr>
        <p:txBody>
          <a:bodyPr wrap="square" anchor="t" lIns="73152" rIns="73152" tIns="36576" bIns="36576">
            <a:noAutofit/>
          </a:bodyPr>
          <a:lstStyle/>
          <a:p>
            <a:pPr algn="l">
              <a:spcBef>
                <a:spcPts val="0"/>
              </a:spcBef>
              <a:spcAft>
                <a:spcPts val="0"/>
              </a:spcAft>
            </a:pPr>
            <a:r>
              <a:rPr lang="tr-TR" sz="1400" b="1" i="0">
                <a:solidFill>
                  <a:srgbClr val="D3373A"/>
                </a:solidFill>
                <a:latin typeface="Calibri"/>
              </a:rPr>
              <a:t>KENAR SORUSU</a:t>
            </a:r>
          </a:p>
        </p:txBody>
      </p:sp>
      <p:sp>
        <p:nvSpPr>
          <p:cNvPr id="19" name="TextBox 18"/>
          <p:cNvSpPr txBox="1"/>
          <p:nvPr/>
        </p:nvSpPr>
        <p:spPr>
          <a:xfrm>
            <a:off x="7818120" y="1783080"/>
            <a:ext cx="3733495" cy="1056640"/>
          </a:xfrm>
          <a:prstGeom prst="rect">
            <a:avLst/>
          </a:prstGeom>
          <a:noFill/>
        </p:spPr>
        <p:txBody>
          <a:bodyPr wrap="square" anchor="t" lIns="73152" rIns="73152" tIns="36576" bIns="36576">
            <a:noAutofit/>
          </a:bodyPr>
          <a:lstStyle/>
          <a:p>
            <a:pPr algn="l">
              <a:spcBef>
                <a:spcPts val="0"/>
              </a:spcBef>
              <a:spcAft>
                <a:spcPts val="0"/>
              </a:spcAft>
            </a:pPr>
            <a:r>
              <a:rPr lang="tr-TR" sz="2000" b="1" i="1">
                <a:solidFill>
                  <a:srgbClr val="262626"/>
                </a:solidFill>
                <a:latin typeface="Calibri"/>
              </a:rPr>
              <a:t>Dağlık alanlarda yürütülen ekonomik faaliyetler neler olabilir?</a:t>
            </a:r>
          </a:p>
        </p:txBody>
      </p:sp>
      <p:sp>
        <p:nvSpPr>
          <p:cNvPr id="20" name="Rounded Rectangle 19"/>
          <p:cNvSpPr/>
          <p:nvPr/>
        </p:nvSpPr>
        <p:spPr>
          <a:xfrm>
            <a:off x="7818120" y="2949448"/>
            <a:ext cx="3733495" cy="3158744"/>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21" name="Connector 20"/>
          <p:cNvCxnSpPr/>
          <p:nvPr/>
        </p:nvCxnSpPr>
        <p:spPr>
          <a:xfrm>
            <a:off x="8001000" y="3300419"/>
            <a:ext cx="3367735" cy="0"/>
          </a:xfrm>
          <a:prstGeom prst="line">
            <a:avLst/>
          </a:prstGeom>
          <a:ln w="12700">
            <a:solidFill>
              <a:srgbClr val="D9D9D9"/>
            </a:solidFill>
            <a:prstDash val="dash"/>
          </a:ln>
        </p:spPr>
      </p:cxnSp>
      <p:cxnSp>
        <p:nvCxnSpPr>
          <p:cNvPr id="22" name="Connector 21"/>
          <p:cNvCxnSpPr/>
          <p:nvPr/>
        </p:nvCxnSpPr>
        <p:spPr>
          <a:xfrm>
            <a:off x="8001000" y="3651391"/>
            <a:ext cx="3367735" cy="0"/>
          </a:xfrm>
          <a:prstGeom prst="line">
            <a:avLst/>
          </a:prstGeom>
          <a:ln w="12700">
            <a:solidFill>
              <a:srgbClr val="D9D9D9"/>
            </a:solidFill>
            <a:prstDash val="dash"/>
          </a:ln>
        </p:spPr>
      </p:cxnSp>
      <p:cxnSp>
        <p:nvCxnSpPr>
          <p:cNvPr id="23" name="Connector 22"/>
          <p:cNvCxnSpPr/>
          <p:nvPr/>
        </p:nvCxnSpPr>
        <p:spPr>
          <a:xfrm>
            <a:off x="8001000" y="4002362"/>
            <a:ext cx="3367735" cy="0"/>
          </a:xfrm>
          <a:prstGeom prst="line">
            <a:avLst/>
          </a:prstGeom>
          <a:ln w="12700">
            <a:solidFill>
              <a:srgbClr val="D9D9D9"/>
            </a:solidFill>
            <a:prstDash val="dash"/>
          </a:ln>
        </p:spPr>
      </p:cxnSp>
      <p:cxnSp>
        <p:nvCxnSpPr>
          <p:cNvPr id="24" name="Connector 23"/>
          <p:cNvCxnSpPr/>
          <p:nvPr/>
        </p:nvCxnSpPr>
        <p:spPr>
          <a:xfrm>
            <a:off x="8001000" y="4353334"/>
            <a:ext cx="3367735" cy="0"/>
          </a:xfrm>
          <a:prstGeom prst="line">
            <a:avLst/>
          </a:prstGeom>
          <a:ln w="12700">
            <a:solidFill>
              <a:srgbClr val="D9D9D9"/>
            </a:solidFill>
            <a:prstDash val="dash"/>
          </a:ln>
        </p:spPr>
      </p:cxnSp>
      <p:cxnSp>
        <p:nvCxnSpPr>
          <p:cNvPr id="25" name="Connector 24"/>
          <p:cNvCxnSpPr/>
          <p:nvPr/>
        </p:nvCxnSpPr>
        <p:spPr>
          <a:xfrm>
            <a:off x="8001000" y="4704305"/>
            <a:ext cx="3367735" cy="0"/>
          </a:xfrm>
          <a:prstGeom prst="line">
            <a:avLst/>
          </a:prstGeom>
          <a:ln w="12700">
            <a:solidFill>
              <a:srgbClr val="D9D9D9"/>
            </a:solidFill>
            <a:prstDash val="dash"/>
          </a:ln>
        </p:spPr>
      </p:cxnSp>
      <p:cxnSp>
        <p:nvCxnSpPr>
          <p:cNvPr id="26" name="Connector 25"/>
          <p:cNvCxnSpPr/>
          <p:nvPr/>
        </p:nvCxnSpPr>
        <p:spPr>
          <a:xfrm>
            <a:off x="8001000" y="5055277"/>
            <a:ext cx="3367735" cy="0"/>
          </a:xfrm>
          <a:prstGeom prst="line">
            <a:avLst/>
          </a:prstGeom>
          <a:ln w="12700">
            <a:solidFill>
              <a:srgbClr val="D9D9D9"/>
            </a:solidFill>
            <a:prstDash val="dash"/>
          </a:ln>
        </p:spPr>
      </p:cxnSp>
      <p:cxnSp>
        <p:nvCxnSpPr>
          <p:cNvPr id="27" name="Connector 26"/>
          <p:cNvCxnSpPr/>
          <p:nvPr/>
        </p:nvCxnSpPr>
        <p:spPr>
          <a:xfrm>
            <a:off x="8001000" y="5406248"/>
            <a:ext cx="3367735" cy="0"/>
          </a:xfrm>
          <a:prstGeom prst="line">
            <a:avLst/>
          </a:prstGeom>
          <a:ln w="12700">
            <a:solidFill>
              <a:srgbClr val="D9D9D9"/>
            </a:solidFill>
            <a:prstDash val="dash"/>
          </a:ln>
        </p:spPr>
      </p:cxnSp>
      <p:cxnSp>
        <p:nvCxnSpPr>
          <p:cNvPr id="28" name="Connector 27"/>
          <p:cNvCxnSpPr/>
          <p:nvPr/>
        </p:nvCxnSpPr>
        <p:spPr>
          <a:xfrm>
            <a:off x="8001000" y="5757220"/>
            <a:ext cx="3367735" cy="0"/>
          </a:xfrm>
          <a:prstGeom prst="line">
            <a:avLst/>
          </a:prstGeom>
          <a:ln w="12700">
            <a:solidFill>
              <a:srgbClr val="D9D9D9"/>
            </a:solidFill>
            <a:prstDash val="dash"/>
          </a:ln>
        </p:spPr>
      </p:cxnSp>
      <p:sp>
        <p:nvSpPr>
          <p:cNvPr id="29" name="TextBox 2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30" name="Rounded Rectangle 2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175</a:t>
            </a:r>
          </a:p>
        </p:txBody>
      </p:sp>
      <p:sp>
        <p:nvSpPr>
          <p:cNvPr id="31" name="TextBox 3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34 / 166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Topoğrafya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pic>
        <p:nvPicPr>
          <p:cNvPr id="6" name="Picture 5" descr="h28_g52_liman_s175.jpg"/>
          <p:cNvPicPr>
            <a:picLocks noChangeAspect="1"/>
          </p:cNvPicPr>
          <p:nvPr/>
        </p:nvPicPr>
        <p:blipFill>
          <a:blip r:embed="rId3"/>
          <a:srcRect t="483" b="483"/>
          <a:stretch>
            <a:fillRect/>
          </a:stretch>
        </p:blipFill>
        <p:spPr>
          <a:xfrm>
            <a:off x="502920" y="1216152"/>
            <a:ext cx="3383280" cy="1783080"/>
          </a:xfrm>
          <a:prstGeom prst="rect">
            <a:avLst/>
          </a:prstGeom>
          <a:ln w="9525">
            <a:solidFill>
              <a:srgbClr val="D9D9D9"/>
            </a:solidFill>
          </a:ln>
        </p:spPr>
      </p:pic>
      <p:sp>
        <p:nvSpPr>
          <p:cNvPr id="7" name="TextBox 6"/>
          <p:cNvSpPr txBox="1"/>
          <p:nvPr/>
        </p:nvSpPr>
        <p:spPr>
          <a:xfrm>
            <a:off x="502920" y="3035808"/>
            <a:ext cx="3383280" cy="566928"/>
          </a:xfrm>
          <a:prstGeom prst="rect">
            <a:avLst/>
          </a:prstGeom>
          <a:noFill/>
        </p:spPr>
        <p:txBody>
          <a:bodyPr wrap="square" anchor="t" lIns="73152" rIns="73152" tIns="36576" bIns="36576">
            <a:noAutofit/>
          </a:bodyPr>
          <a:lstStyle/>
          <a:p>
            <a:pPr algn="l">
              <a:spcBef>
                <a:spcPts val="0"/>
              </a:spcBef>
              <a:spcAft>
                <a:spcPts val="0"/>
              </a:spcAft>
            </a:pPr>
            <a:r>
              <a:rPr lang="tr-TR" sz="1200" b="0" i="1">
                <a:solidFill>
                  <a:srgbClr val="767676"/>
                </a:solidFill>
                <a:latin typeface="Calibri"/>
              </a:rPr>
              <a:t>Görsel 5.2: Topoğrafyanın elverişli olması liman gelişimi için önemlidir. (Hamburg Limanı/Almanya)</a:t>
            </a:r>
          </a:p>
        </p:txBody>
      </p:sp>
      <p:pic>
        <p:nvPicPr>
          <p:cNvPr id="8" name="Picture 7" descr="h28_g53_selale_s175.jpg"/>
          <p:cNvPicPr>
            <a:picLocks noChangeAspect="1"/>
          </p:cNvPicPr>
          <p:nvPr/>
        </p:nvPicPr>
        <p:blipFill>
          <a:blip r:embed="rId4"/>
          <a:srcRect t="700" b="700"/>
          <a:stretch>
            <a:fillRect/>
          </a:stretch>
        </p:blipFill>
        <p:spPr>
          <a:xfrm>
            <a:off x="4069080" y="1216152"/>
            <a:ext cx="3383280" cy="1783080"/>
          </a:xfrm>
          <a:prstGeom prst="rect">
            <a:avLst/>
          </a:prstGeom>
          <a:ln w="9525">
            <a:solidFill>
              <a:srgbClr val="D9D9D9"/>
            </a:solidFill>
          </a:ln>
        </p:spPr>
      </p:pic>
      <p:sp>
        <p:nvSpPr>
          <p:cNvPr id="9" name="TextBox 8"/>
          <p:cNvSpPr txBox="1"/>
          <p:nvPr/>
        </p:nvSpPr>
        <p:spPr>
          <a:xfrm>
            <a:off x="4069080" y="3035808"/>
            <a:ext cx="3383280" cy="566928"/>
          </a:xfrm>
          <a:prstGeom prst="rect">
            <a:avLst/>
          </a:prstGeom>
          <a:noFill/>
        </p:spPr>
        <p:txBody>
          <a:bodyPr wrap="square" anchor="t" lIns="73152" rIns="73152" tIns="36576" bIns="36576">
            <a:noAutofit/>
          </a:bodyPr>
          <a:lstStyle/>
          <a:p>
            <a:pPr algn="l">
              <a:spcBef>
                <a:spcPts val="0"/>
              </a:spcBef>
              <a:spcAft>
                <a:spcPts val="0"/>
              </a:spcAft>
            </a:pPr>
            <a:r>
              <a:rPr lang="tr-TR" sz="1400" b="0" i="1">
                <a:solidFill>
                  <a:srgbClr val="767676"/>
                </a:solidFill>
                <a:latin typeface="Calibri"/>
              </a:rPr>
              <a:t>Görsel 5.3: Doğal güzellikler turizmde cazibe alanlarıdır. (Niagara Şelalesi/ABD)</a:t>
            </a:r>
          </a:p>
        </p:txBody>
      </p:sp>
      <p:sp>
        <p:nvSpPr>
          <p:cNvPr id="10" name="Rounded Rectangle 9"/>
          <p:cNvSpPr/>
          <p:nvPr/>
        </p:nvSpPr>
        <p:spPr>
          <a:xfrm>
            <a:off x="502920" y="3685032"/>
            <a:ext cx="6949440" cy="1497787"/>
          </a:xfrm>
          <a:prstGeom prst="roundRect">
            <a:avLst>
              <a:gd name="adj" fmla="val 8000"/>
            </a:avLst>
          </a:prstGeom>
          <a:solidFill>
            <a:srgbClr val="F0F0F0"/>
          </a:solidFill>
          <a:ln>
            <a:noFill/>
          </a:ln>
          <a:effectLst/>
        </p:spPr>
        <p:txBody>
          <a:bodyPr rtlCol="0" anchor="ctr"/>
          <a:lstStyle/>
          <a:p/>
        </p:txBody>
      </p:sp>
      <p:sp>
        <p:nvSpPr>
          <p:cNvPr id="11" name="Rectangle 10"/>
          <p:cNvSpPr/>
          <p:nvPr/>
        </p:nvSpPr>
        <p:spPr>
          <a:xfrm>
            <a:off x="502920" y="3685032"/>
            <a:ext cx="118872" cy="1497787"/>
          </a:xfrm>
          <a:prstGeom prst="rect">
            <a:avLst/>
          </a:prstGeom>
          <a:solidFill>
            <a:srgbClr val="3E8E41"/>
          </a:solidFill>
          <a:ln>
            <a:noFill/>
          </a:ln>
          <a:effectLst/>
        </p:spPr>
        <p:txBody>
          <a:bodyPr rtlCol="0" anchor="ctr"/>
          <a:lstStyle/>
          <a:p/>
        </p:txBody>
      </p:sp>
      <p:sp>
        <p:nvSpPr>
          <p:cNvPr id="12" name="TextBox 11"/>
          <p:cNvSpPr txBox="1"/>
          <p:nvPr/>
        </p:nvSpPr>
        <p:spPr>
          <a:xfrm>
            <a:off x="777240" y="3685032"/>
            <a:ext cx="6537960" cy="1497787"/>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Bir bölgenin topoğrafik özellikleri (yükselti, eğim, bakı vb.) o bölgenin ekonomik potansiyelinin belirlenmesinde etkin rol oynar. Söz konusu özellikler; tarım arazilerinin dağılışı, kara ve demir yolu güzergâhları, liman ve havalimanlarına ait yerlerin belirlenmesinde oldukça önemlidir.</a:t>
            </a:r>
          </a:p>
        </p:txBody>
      </p:sp>
      <p:sp>
        <p:nvSpPr>
          <p:cNvPr id="13" name="Rounded Rectangle 12"/>
          <p:cNvSpPr/>
          <p:nvPr/>
        </p:nvSpPr>
        <p:spPr>
          <a:xfrm>
            <a:off x="502920" y="5292547"/>
            <a:ext cx="6949440" cy="998524"/>
          </a:xfrm>
          <a:prstGeom prst="roundRect">
            <a:avLst>
              <a:gd name="adj" fmla="val 8000"/>
            </a:avLst>
          </a:prstGeom>
          <a:solidFill>
            <a:srgbClr val="F0F0F0"/>
          </a:solidFill>
          <a:ln>
            <a:noFill/>
          </a:ln>
          <a:effectLst/>
        </p:spPr>
        <p:txBody>
          <a:bodyPr rtlCol="0" anchor="ctr"/>
          <a:lstStyle/>
          <a:p/>
        </p:txBody>
      </p:sp>
      <p:sp>
        <p:nvSpPr>
          <p:cNvPr id="14" name="Rectangle 13"/>
          <p:cNvSpPr/>
          <p:nvPr/>
        </p:nvSpPr>
        <p:spPr>
          <a:xfrm>
            <a:off x="502920" y="5292547"/>
            <a:ext cx="118872" cy="998524"/>
          </a:xfrm>
          <a:prstGeom prst="rect">
            <a:avLst/>
          </a:prstGeom>
          <a:solidFill>
            <a:srgbClr val="3E8E41"/>
          </a:solidFill>
          <a:ln>
            <a:noFill/>
          </a:ln>
          <a:effectLst/>
        </p:spPr>
        <p:txBody>
          <a:bodyPr rtlCol="0" anchor="ctr"/>
          <a:lstStyle/>
          <a:p/>
        </p:txBody>
      </p:sp>
      <p:sp>
        <p:nvSpPr>
          <p:cNvPr id="15" name="TextBox 14"/>
          <p:cNvSpPr txBox="1"/>
          <p:nvPr/>
        </p:nvSpPr>
        <p:spPr>
          <a:xfrm>
            <a:off x="777240" y="5292547"/>
            <a:ext cx="6537960" cy="998524"/>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Peribacası, traverten, şelale, mağara vb. ilgi çekici yeryüzü şekillerine sahip yerler turizm faaliyetlerinin gelişimine imkân sağlamaktadır.</a:t>
            </a:r>
          </a:p>
        </p:txBody>
      </p:sp>
      <p:sp>
        <p:nvSpPr>
          <p:cNvPr id="16" name="Rounded Rectangle 15"/>
          <p:cNvSpPr/>
          <p:nvPr/>
        </p:nvSpPr>
        <p:spPr>
          <a:xfrm>
            <a:off x="7680960" y="1216152"/>
            <a:ext cx="4007815" cy="5029200"/>
          </a:xfrm>
          <a:prstGeom prst="roundRect">
            <a:avLst>
              <a:gd name="adj" fmla="val 5000"/>
            </a:avLst>
          </a:prstGeom>
          <a:solidFill>
            <a:srgbClr val="F0F0F0"/>
          </a:solidFill>
          <a:ln>
            <a:noFill/>
          </a:ln>
          <a:effectLst/>
        </p:spPr>
        <p:txBody>
          <a:bodyPr rtlCol="0" anchor="ctr"/>
          <a:lstStyle/>
          <a:p/>
        </p:txBody>
      </p:sp>
      <p:sp>
        <p:nvSpPr>
          <p:cNvPr id="17" name="Rectangle 16"/>
          <p:cNvSpPr/>
          <p:nvPr/>
        </p:nvSpPr>
        <p:spPr>
          <a:xfrm>
            <a:off x="7818120" y="1325880"/>
            <a:ext cx="3733495" cy="54864"/>
          </a:xfrm>
          <a:prstGeom prst="rect">
            <a:avLst/>
          </a:prstGeom>
          <a:solidFill>
            <a:srgbClr val="D3373A"/>
          </a:solidFill>
          <a:ln>
            <a:noFill/>
          </a:ln>
          <a:effectLst/>
        </p:spPr>
        <p:txBody>
          <a:bodyPr rtlCol="0" anchor="ctr"/>
          <a:lstStyle/>
          <a:p/>
        </p:txBody>
      </p:sp>
      <p:sp>
        <p:nvSpPr>
          <p:cNvPr id="18" name="TextBox 17"/>
          <p:cNvSpPr txBox="1"/>
          <p:nvPr/>
        </p:nvSpPr>
        <p:spPr>
          <a:xfrm>
            <a:off x="7818120" y="1417320"/>
            <a:ext cx="3733495" cy="365760"/>
          </a:xfrm>
          <a:prstGeom prst="rect">
            <a:avLst/>
          </a:prstGeom>
          <a:noFill/>
        </p:spPr>
        <p:txBody>
          <a:bodyPr wrap="square" anchor="t" lIns="73152" rIns="73152" tIns="36576" bIns="36576">
            <a:noAutofit/>
          </a:bodyPr>
          <a:lstStyle/>
          <a:p>
            <a:pPr algn="l">
              <a:spcBef>
                <a:spcPts val="0"/>
              </a:spcBef>
              <a:spcAft>
                <a:spcPts val="0"/>
              </a:spcAft>
            </a:pPr>
            <a:r>
              <a:rPr lang="tr-TR" sz="1400" b="1" i="0">
                <a:solidFill>
                  <a:srgbClr val="D3373A"/>
                </a:solidFill>
                <a:latin typeface="Calibri"/>
              </a:rPr>
              <a:t>KENAR SORUSU</a:t>
            </a:r>
          </a:p>
        </p:txBody>
      </p:sp>
      <p:sp>
        <p:nvSpPr>
          <p:cNvPr id="19" name="TextBox 18"/>
          <p:cNvSpPr txBox="1"/>
          <p:nvPr/>
        </p:nvSpPr>
        <p:spPr>
          <a:xfrm>
            <a:off x="7818120" y="1783080"/>
            <a:ext cx="3733495" cy="1056640"/>
          </a:xfrm>
          <a:prstGeom prst="rect">
            <a:avLst/>
          </a:prstGeom>
          <a:noFill/>
        </p:spPr>
        <p:txBody>
          <a:bodyPr wrap="square" anchor="t" lIns="73152" rIns="73152" tIns="36576" bIns="36576">
            <a:noAutofit/>
          </a:bodyPr>
          <a:lstStyle/>
          <a:p>
            <a:pPr algn="l">
              <a:spcBef>
                <a:spcPts val="0"/>
              </a:spcBef>
              <a:spcAft>
                <a:spcPts val="0"/>
              </a:spcAft>
            </a:pPr>
            <a:r>
              <a:rPr lang="tr-TR" sz="2000" b="1" i="1">
                <a:solidFill>
                  <a:srgbClr val="262626"/>
                </a:solidFill>
                <a:latin typeface="Calibri"/>
              </a:rPr>
              <a:t>Dağlık alanlarda yürütülen ekonomik faaliyetler neler olabilir?</a:t>
            </a:r>
          </a:p>
        </p:txBody>
      </p:sp>
      <p:sp>
        <p:nvSpPr>
          <p:cNvPr id="20" name="Rounded Rectangle 19"/>
          <p:cNvSpPr/>
          <p:nvPr/>
        </p:nvSpPr>
        <p:spPr>
          <a:xfrm>
            <a:off x="7818120" y="2949448"/>
            <a:ext cx="3733495" cy="3158744"/>
          </a:xfrm>
          <a:prstGeom prst="roundRect">
            <a:avLst>
              <a:gd name="adj" fmla="val 8000"/>
            </a:avLst>
          </a:prstGeom>
          <a:solidFill>
            <a:srgbClr val="E3F1E4"/>
          </a:solidFill>
          <a:ln w="12700">
            <a:solidFill>
              <a:srgbClr val="2E7D32"/>
            </a:solidFill>
          </a:ln>
          <a:effectLst/>
        </p:spPr>
        <p:txBody>
          <a:bodyPr rtlCol="0" anchor="ctr" wrap="square" lIns="109728" rIns="109728" tIns="73152" bIns="73152">
            <a:noAutofit/>
          </a:bodyPr>
          <a:lstStyle/>
          <a:p>
            <a:pPr algn="l">
              <a:spcBef>
                <a:spcPts val="0"/>
              </a:spcBef>
              <a:spcAft>
                <a:spcPts val="742"/>
              </a:spcAft>
            </a:pPr>
            <a:r>
              <a:rPr lang="tr-TR" sz="1560" b="1" i="0">
                <a:solidFill>
                  <a:srgbClr val="2E7D32"/>
                </a:solidFill>
                <a:latin typeface="Calibri"/>
              </a:rPr>
              <a:t>ÖRNEK CEVAP</a:t>
            </a:r>
          </a:p>
          <a:p>
            <a:pPr algn="l" marL="242405" indent="-242405">
              <a:spcBef>
                <a:spcPts val="0"/>
              </a:spcBef>
              <a:spcAft>
                <a:spcPts val="742"/>
              </a:spcAft>
            </a:pPr>
            <a:r>
              <a:rPr lang="tr-TR" sz="1950" b="1" i="0">
                <a:solidFill>
                  <a:srgbClr val="2E7D32"/>
                </a:solidFill>
                <a:latin typeface="Calibri"/>
              </a:rPr>
              <a:t>•  </a:t>
            </a:r>
            <a:r>
              <a:rPr lang="tr-TR" sz="1950" b="0" i="0">
                <a:solidFill>
                  <a:srgbClr val="262626"/>
                </a:solidFill>
                <a:latin typeface="Calibri"/>
              </a:rPr>
              <a:t>Yaylalarda mera hayvancılığı, arıcılık</a:t>
            </a:r>
          </a:p>
          <a:p>
            <a:pPr algn="l" marL="242405" indent="-242405">
              <a:spcBef>
                <a:spcPts val="0"/>
              </a:spcBef>
              <a:spcAft>
                <a:spcPts val="742"/>
              </a:spcAft>
            </a:pPr>
            <a:r>
              <a:rPr lang="tr-TR" sz="1950" b="1" i="0">
                <a:solidFill>
                  <a:srgbClr val="2E7D32"/>
                </a:solidFill>
                <a:latin typeface="Calibri"/>
              </a:rPr>
              <a:t>•  </a:t>
            </a:r>
            <a:r>
              <a:rPr lang="tr-TR" sz="1950" b="0" i="0">
                <a:solidFill>
                  <a:srgbClr val="262626"/>
                </a:solidFill>
                <a:latin typeface="Calibri"/>
              </a:rPr>
              <a:t>Ormancılık ve madencilik</a:t>
            </a:r>
          </a:p>
          <a:p>
            <a:pPr algn="l" marL="242405" indent="-242405">
              <a:spcBef>
                <a:spcPts val="0"/>
              </a:spcBef>
              <a:spcAft>
                <a:spcPts val="742"/>
              </a:spcAft>
            </a:pPr>
            <a:r>
              <a:rPr lang="tr-TR" sz="1950" b="1" i="0">
                <a:solidFill>
                  <a:srgbClr val="2E7D32"/>
                </a:solidFill>
                <a:latin typeface="Calibri"/>
              </a:rPr>
              <a:t>•  </a:t>
            </a:r>
            <a:r>
              <a:rPr lang="tr-TR" sz="1950" b="0" i="0">
                <a:solidFill>
                  <a:srgbClr val="262626"/>
                </a:solidFill>
                <a:latin typeface="Calibri"/>
              </a:rPr>
              <a:t>Hidroelektrik enerji üretimi</a:t>
            </a:r>
          </a:p>
          <a:p>
            <a:pPr algn="l" marL="242405" indent="-242405">
              <a:spcBef>
                <a:spcPts val="0"/>
              </a:spcBef>
              <a:spcAft>
                <a:spcPts val="742"/>
              </a:spcAft>
            </a:pPr>
            <a:r>
              <a:rPr lang="tr-TR" sz="1950" b="1" i="0">
                <a:solidFill>
                  <a:srgbClr val="2E7D32"/>
                </a:solidFill>
                <a:latin typeface="Calibri"/>
              </a:rPr>
              <a:t>•  </a:t>
            </a:r>
            <a:r>
              <a:rPr lang="tr-TR" sz="1950" b="0" i="0">
                <a:solidFill>
                  <a:srgbClr val="262626"/>
                </a:solidFill>
                <a:latin typeface="Calibri"/>
              </a:rPr>
              <a:t>Kış ve doğa turizmi</a:t>
            </a:r>
          </a:p>
          <a:p>
            <a:pPr algn="l" marL="242405" indent="-242405">
              <a:spcBef>
                <a:spcPts val="0"/>
              </a:spcBef>
              <a:spcAft>
                <a:spcPts val="0"/>
              </a:spcAft>
            </a:pPr>
            <a:r>
              <a:rPr lang="tr-TR" sz="1950" b="1" i="0">
                <a:solidFill>
                  <a:srgbClr val="2E7D32"/>
                </a:solidFill>
                <a:latin typeface="Calibri"/>
              </a:rPr>
              <a:t>•  </a:t>
            </a:r>
            <a:r>
              <a:rPr lang="tr-TR" sz="1950" b="0" i="0">
                <a:solidFill>
                  <a:srgbClr val="262626"/>
                </a:solidFill>
                <a:latin typeface="Calibri"/>
              </a:rPr>
              <a:t>Yamaçlarda çay tarımı (s. 184)</a:t>
            </a:r>
          </a:p>
        </p:txBody>
      </p:sp>
      <p:sp>
        <p:nvSpPr>
          <p:cNvPr id="21" name="TextBox 2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2" name="Rounded Rectangle 2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175</a:t>
            </a:r>
          </a:p>
        </p:txBody>
      </p:sp>
      <p:sp>
        <p:nvSpPr>
          <p:cNvPr id="23" name="TextBox 2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35 / 166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4 · Su kaynakları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4. GRUP</a:t>
            </a:r>
          </a:p>
        </p:txBody>
      </p:sp>
      <p:sp>
        <p:nvSpPr>
          <p:cNvPr id="6" name="Rounded Rectangle 5"/>
          <p:cNvSpPr/>
          <p:nvPr/>
        </p:nvSpPr>
        <p:spPr>
          <a:xfrm>
            <a:off x="502920" y="1216152"/>
            <a:ext cx="11185855" cy="1143000"/>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1143000"/>
          </a:xfrm>
          <a:prstGeom prst="rect">
            <a:avLst/>
          </a:prstGeom>
          <a:solidFill>
            <a:srgbClr val="3E8E41"/>
          </a:solidFill>
          <a:ln>
            <a:noFill/>
          </a:ln>
          <a:effectLst/>
        </p:spPr>
        <p:txBody>
          <a:bodyPr rtlCol="0" anchor="ctr"/>
          <a:lstStyle/>
          <a:p/>
        </p:txBody>
      </p:sp>
      <p:sp>
        <p:nvSpPr>
          <p:cNvPr id="8" name="TextBox 7"/>
          <p:cNvSpPr txBox="1"/>
          <p:nvPr/>
        </p:nvSpPr>
        <p:spPr>
          <a:xfrm>
            <a:off x="777240" y="1216152"/>
            <a:ext cx="10774375" cy="114300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Bir yerdeki su kaynakları, balıkçılık faaliyetlerinin ve hidroelektrik enerji üretiminin olmazsa olmazıdır.</a:t>
            </a:r>
          </a:p>
        </p:txBody>
      </p:sp>
      <p:sp>
        <p:nvSpPr>
          <p:cNvPr id="9" name="Rounded Rectangle 8"/>
          <p:cNvSpPr/>
          <p:nvPr/>
        </p:nvSpPr>
        <p:spPr>
          <a:xfrm>
            <a:off x="502920" y="2542032"/>
            <a:ext cx="5478627" cy="2194560"/>
          </a:xfrm>
          <a:prstGeom prst="roundRect">
            <a:avLst>
              <a:gd name="adj" fmla="val 5000"/>
            </a:avLst>
          </a:prstGeom>
          <a:solidFill>
            <a:srgbClr val="F0F0F0"/>
          </a:solidFill>
          <a:ln>
            <a:noFill/>
          </a:ln>
          <a:effectLst/>
        </p:spPr>
        <p:txBody>
          <a:bodyPr rtlCol="0" anchor="ctr"/>
          <a:lstStyle/>
          <a:p/>
        </p:txBody>
      </p:sp>
      <p:sp>
        <p:nvSpPr>
          <p:cNvPr id="10" name="Rounded Rectangle 9"/>
          <p:cNvSpPr/>
          <p:nvPr/>
        </p:nvSpPr>
        <p:spPr>
          <a:xfrm>
            <a:off x="502920" y="2542032"/>
            <a:ext cx="5478627" cy="530352"/>
          </a:xfrm>
          <a:prstGeom prst="roundRect">
            <a:avLst>
              <a:gd name="adj" fmla="val 25000"/>
            </a:avLst>
          </a:prstGeom>
          <a:solidFill>
            <a:srgbClr val="3E8E41"/>
          </a:solidFill>
          <a:ln>
            <a:noFill/>
          </a:ln>
          <a:effectLst/>
        </p:spPr>
        <p:txBody>
          <a:bodyPr rtlCol="0" anchor="ctr"/>
          <a:lstStyle/>
          <a:p/>
        </p:txBody>
      </p:sp>
      <p:sp>
        <p:nvSpPr>
          <p:cNvPr id="11" name="Rectangle 10"/>
          <p:cNvSpPr/>
          <p:nvPr/>
        </p:nvSpPr>
        <p:spPr>
          <a:xfrm>
            <a:off x="502920" y="2807208"/>
            <a:ext cx="5478627" cy="265176"/>
          </a:xfrm>
          <a:prstGeom prst="rect">
            <a:avLst/>
          </a:prstGeom>
          <a:solidFill>
            <a:srgbClr val="3E8E41"/>
          </a:solidFill>
          <a:ln>
            <a:noFill/>
          </a:ln>
          <a:effectLst/>
        </p:spPr>
        <p:txBody>
          <a:bodyPr rtlCol="0" anchor="ctr"/>
          <a:lstStyle/>
          <a:p/>
        </p:txBody>
      </p:sp>
      <p:sp>
        <p:nvSpPr>
          <p:cNvPr id="12" name="TextBox 11"/>
          <p:cNvSpPr txBox="1"/>
          <p:nvPr/>
        </p:nvSpPr>
        <p:spPr>
          <a:xfrm>
            <a:off x="594360" y="2542032"/>
            <a:ext cx="5295747" cy="530352"/>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Olmazsa olmaz</a:t>
            </a:r>
          </a:p>
        </p:txBody>
      </p:sp>
      <p:sp>
        <p:nvSpPr>
          <p:cNvPr id="13" name="TextBox 12"/>
          <p:cNvSpPr txBox="1"/>
          <p:nvPr/>
        </p:nvSpPr>
        <p:spPr>
          <a:xfrm>
            <a:off x="612648" y="3145536"/>
            <a:ext cx="5259171" cy="1517904"/>
          </a:xfrm>
          <a:prstGeom prst="rect">
            <a:avLst/>
          </a:prstGeom>
          <a:noFill/>
        </p:spPr>
        <p:txBody>
          <a:bodyPr wrap="square" anchor="ctr" lIns="73152" rIns="73152" tIns="36576" bIns="36576">
            <a:noAutofit/>
          </a:bodyPr>
          <a:lstStyle/>
          <a:p>
            <a:pPr algn="l" marL="298344" indent="-298344">
              <a:spcBef>
                <a:spcPts val="0"/>
              </a:spcBef>
              <a:spcAft>
                <a:spcPts val="600"/>
              </a:spcAft>
            </a:pPr>
            <a:r>
              <a:rPr lang="tr-TR" sz="2400" b="1" i="0">
                <a:solidFill>
                  <a:srgbClr val="2C6696"/>
                </a:solidFill>
                <a:latin typeface="Calibri"/>
              </a:rPr>
              <a:t>•  </a:t>
            </a:r>
            <a:r>
              <a:rPr lang="tr-TR" sz="2400" b="0" i="0">
                <a:solidFill>
                  <a:srgbClr val="262626"/>
                </a:solidFill>
                <a:latin typeface="Calibri"/>
              </a:rPr>
              <a:t>Balıkçılık</a:t>
            </a:r>
          </a:p>
          <a:p>
            <a:pPr algn="l" marL="298344" indent="-298344">
              <a:spcBef>
                <a:spcPts val="0"/>
              </a:spcBef>
              <a:spcAft>
                <a:spcPts val="0"/>
              </a:spcAft>
            </a:pPr>
            <a:r>
              <a:rPr lang="tr-TR" sz="2400" b="1" i="0">
                <a:solidFill>
                  <a:srgbClr val="2C6696"/>
                </a:solidFill>
                <a:latin typeface="Calibri"/>
              </a:rPr>
              <a:t>•  </a:t>
            </a:r>
            <a:r>
              <a:rPr lang="tr-TR" sz="2400" b="0" i="0">
                <a:solidFill>
                  <a:srgbClr val="262626"/>
                </a:solidFill>
                <a:latin typeface="Calibri"/>
              </a:rPr>
              <a:t>Hidroelektrik enerji üretimi</a:t>
            </a:r>
          </a:p>
        </p:txBody>
      </p:sp>
      <p:sp>
        <p:nvSpPr>
          <p:cNvPr id="14" name="Rounded Rectangle 13"/>
          <p:cNvSpPr/>
          <p:nvPr/>
        </p:nvSpPr>
        <p:spPr>
          <a:xfrm>
            <a:off x="6210147" y="2542032"/>
            <a:ext cx="5478627" cy="2194560"/>
          </a:xfrm>
          <a:prstGeom prst="roundRect">
            <a:avLst>
              <a:gd name="adj" fmla="val 5000"/>
            </a:avLst>
          </a:prstGeom>
          <a:solidFill>
            <a:srgbClr val="F0F0F0"/>
          </a:solidFill>
          <a:ln>
            <a:noFill/>
          </a:ln>
          <a:effectLst/>
        </p:spPr>
        <p:txBody>
          <a:bodyPr rtlCol="0" anchor="ctr"/>
          <a:lstStyle/>
          <a:p/>
        </p:txBody>
      </p:sp>
      <p:sp>
        <p:nvSpPr>
          <p:cNvPr id="15" name="Rounded Rectangle 14"/>
          <p:cNvSpPr/>
          <p:nvPr/>
        </p:nvSpPr>
        <p:spPr>
          <a:xfrm>
            <a:off x="6210147" y="2542032"/>
            <a:ext cx="5478627" cy="530352"/>
          </a:xfrm>
          <a:prstGeom prst="roundRect">
            <a:avLst>
              <a:gd name="adj" fmla="val 25000"/>
            </a:avLst>
          </a:prstGeom>
          <a:solidFill>
            <a:srgbClr val="4F4F4F"/>
          </a:solidFill>
          <a:ln>
            <a:noFill/>
          </a:ln>
          <a:effectLst/>
        </p:spPr>
        <p:txBody>
          <a:bodyPr rtlCol="0" anchor="ctr"/>
          <a:lstStyle/>
          <a:p/>
        </p:txBody>
      </p:sp>
      <p:sp>
        <p:nvSpPr>
          <p:cNvPr id="16" name="Rectangle 15"/>
          <p:cNvSpPr/>
          <p:nvPr/>
        </p:nvSpPr>
        <p:spPr>
          <a:xfrm>
            <a:off x="6210147" y="2807208"/>
            <a:ext cx="5478627" cy="265176"/>
          </a:xfrm>
          <a:prstGeom prst="rect">
            <a:avLst/>
          </a:prstGeom>
          <a:solidFill>
            <a:srgbClr val="4F4F4F"/>
          </a:solidFill>
          <a:ln>
            <a:noFill/>
          </a:ln>
          <a:effectLst/>
        </p:spPr>
        <p:txBody>
          <a:bodyPr rtlCol="0" anchor="ctr"/>
          <a:lstStyle/>
          <a:p/>
        </p:txBody>
      </p:sp>
      <p:sp>
        <p:nvSpPr>
          <p:cNvPr id="17" name="TextBox 16"/>
          <p:cNvSpPr txBox="1"/>
          <p:nvPr/>
        </p:nvSpPr>
        <p:spPr>
          <a:xfrm>
            <a:off x="6301587" y="2542032"/>
            <a:ext cx="5295747" cy="530352"/>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Zemin hazırlar</a:t>
            </a:r>
          </a:p>
        </p:txBody>
      </p:sp>
      <p:sp>
        <p:nvSpPr>
          <p:cNvPr id="18" name="TextBox 17"/>
          <p:cNvSpPr txBox="1"/>
          <p:nvPr/>
        </p:nvSpPr>
        <p:spPr>
          <a:xfrm>
            <a:off x="6319875" y="3145536"/>
            <a:ext cx="5259171" cy="1517904"/>
          </a:xfrm>
          <a:prstGeom prst="rect">
            <a:avLst/>
          </a:prstGeom>
          <a:noFill/>
        </p:spPr>
        <p:txBody>
          <a:bodyPr wrap="square" anchor="ctr" lIns="73152" rIns="73152" tIns="36576" bIns="36576">
            <a:noAutofit/>
          </a:bodyPr>
          <a:lstStyle/>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Tarımsal sulama</a:t>
            </a:r>
          </a:p>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Deniz ulaşımı ve turizmi</a:t>
            </a:r>
          </a:p>
          <a:p>
            <a:pPr algn="l" marL="273482" indent="-273482">
              <a:spcBef>
                <a:spcPts val="0"/>
              </a:spcBef>
              <a:spcAft>
                <a:spcPts val="0"/>
              </a:spcAft>
            </a:pPr>
            <a:r>
              <a:rPr lang="tr-TR" sz="2200" b="1" i="0">
                <a:solidFill>
                  <a:srgbClr val="2C6696"/>
                </a:solidFill>
                <a:latin typeface="Calibri"/>
              </a:rPr>
              <a:t>•  </a:t>
            </a:r>
            <a:r>
              <a:rPr lang="tr-TR" sz="2200" b="0" i="0">
                <a:solidFill>
                  <a:srgbClr val="262626"/>
                </a:solidFill>
                <a:latin typeface="Calibri"/>
              </a:rPr>
              <a:t>Nükleer santral, demir-çelik fabrikası</a:t>
            </a:r>
          </a:p>
        </p:txBody>
      </p:sp>
      <p:sp>
        <p:nvSpPr>
          <p:cNvPr id="19" name="Rounded Rectangle 18"/>
          <p:cNvSpPr/>
          <p:nvPr/>
        </p:nvSpPr>
        <p:spPr>
          <a:xfrm>
            <a:off x="502920" y="4901184"/>
            <a:ext cx="11185855" cy="1389888"/>
          </a:xfrm>
          <a:prstGeom prst="roundRect">
            <a:avLst>
              <a:gd name="adj" fmla="val 8000"/>
            </a:avLst>
          </a:prstGeom>
          <a:solidFill>
            <a:srgbClr val="F0F0F0"/>
          </a:solidFill>
          <a:ln>
            <a:noFill/>
          </a:ln>
          <a:effectLst/>
        </p:spPr>
        <p:txBody>
          <a:bodyPr rtlCol="0" anchor="ctr"/>
          <a:lstStyle/>
          <a:p/>
        </p:txBody>
      </p:sp>
      <p:sp>
        <p:nvSpPr>
          <p:cNvPr id="20" name="Rectangle 19"/>
          <p:cNvSpPr/>
          <p:nvPr/>
        </p:nvSpPr>
        <p:spPr>
          <a:xfrm>
            <a:off x="502920" y="4901184"/>
            <a:ext cx="118872" cy="1389888"/>
          </a:xfrm>
          <a:prstGeom prst="rect">
            <a:avLst/>
          </a:prstGeom>
          <a:solidFill>
            <a:srgbClr val="3E8E41"/>
          </a:solidFill>
          <a:ln>
            <a:noFill/>
          </a:ln>
          <a:effectLst/>
        </p:spPr>
        <p:txBody>
          <a:bodyPr rtlCol="0" anchor="ctr"/>
          <a:lstStyle/>
          <a:p/>
        </p:txBody>
      </p:sp>
      <p:sp>
        <p:nvSpPr>
          <p:cNvPr id="21" name="TextBox 20"/>
          <p:cNvSpPr txBox="1"/>
          <p:nvPr/>
        </p:nvSpPr>
        <p:spPr>
          <a:xfrm>
            <a:off x="777240" y="4901184"/>
            <a:ext cx="10774375" cy="1389888"/>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Ayrıca söz konusu kaynaklar; tarımsal sulama, deniz ulaşımı ve turizminin yapılması ile nükleer santral ve demir-çelik fabrikaları gibi bazı sanayi tesislerinin kurulmasına da zemin teşkil etmektedir.</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175</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36 / 166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5 · Toprak</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5. GRUP</a:t>
            </a:r>
          </a:p>
        </p:txBody>
      </p:sp>
      <p:sp>
        <p:nvSpPr>
          <p:cNvPr id="6" name="Rounded Rectangle 5"/>
          <p:cNvSpPr/>
          <p:nvPr/>
        </p:nvSpPr>
        <p:spPr>
          <a:xfrm>
            <a:off x="502920" y="1216152"/>
            <a:ext cx="6309360" cy="1227065"/>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1227065"/>
          </a:xfrm>
          <a:prstGeom prst="rect">
            <a:avLst/>
          </a:prstGeom>
          <a:solidFill>
            <a:srgbClr val="3E8E41"/>
          </a:solidFill>
          <a:ln>
            <a:noFill/>
          </a:ln>
          <a:effectLst/>
        </p:spPr>
        <p:txBody>
          <a:bodyPr rtlCol="0" anchor="ctr"/>
          <a:lstStyle/>
          <a:p/>
        </p:txBody>
      </p:sp>
      <p:sp>
        <p:nvSpPr>
          <p:cNvPr id="8" name="TextBox 7"/>
          <p:cNvSpPr txBox="1"/>
          <p:nvPr/>
        </p:nvSpPr>
        <p:spPr>
          <a:xfrm>
            <a:off x="777240" y="1216152"/>
            <a:ext cx="5897880" cy="1227065"/>
          </a:xfrm>
          <a:prstGeom prst="rect">
            <a:avLst/>
          </a:prstGeom>
          <a:noFill/>
        </p:spPr>
        <p:txBody>
          <a:bodyPr wrap="square" anchor="ctr" lIns="73152" rIns="73152" tIns="36576" bIns="36576">
            <a:noAutofit/>
          </a:bodyPr>
          <a:lstStyle/>
          <a:p>
            <a:pPr algn="l">
              <a:spcBef>
                <a:spcPts val="0"/>
              </a:spcBef>
              <a:spcAft>
                <a:spcPts val="0"/>
              </a:spcAft>
            </a:pPr>
            <a:r>
              <a:rPr lang="tr-TR" sz="2300" b="0" i="0">
                <a:solidFill>
                  <a:srgbClr val="262626"/>
                </a:solidFill>
                <a:latin typeface="Calibri"/>
              </a:rPr>
              <a:t>Tarım faaliyetlerinin temelinde toprak vardır.</a:t>
            </a:r>
          </a:p>
        </p:txBody>
      </p:sp>
      <p:sp>
        <p:nvSpPr>
          <p:cNvPr id="9" name="Rounded Rectangle 8"/>
          <p:cNvSpPr/>
          <p:nvPr/>
        </p:nvSpPr>
        <p:spPr>
          <a:xfrm>
            <a:off x="502920" y="2580377"/>
            <a:ext cx="6309360" cy="1533832"/>
          </a:xfrm>
          <a:prstGeom prst="roundRect">
            <a:avLst>
              <a:gd name="adj" fmla="val 8000"/>
            </a:avLst>
          </a:prstGeom>
          <a:solidFill>
            <a:srgbClr val="F0F0F0"/>
          </a:solidFill>
          <a:ln>
            <a:noFill/>
          </a:ln>
          <a:effectLst/>
        </p:spPr>
        <p:txBody>
          <a:bodyPr rtlCol="0" anchor="ctr"/>
          <a:lstStyle/>
          <a:p/>
        </p:txBody>
      </p:sp>
      <p:sp>
        <p:nvSpPr>
          <p:cNvPr id="10" name="Rectangle 9"/>
          <p:cNvSpPr/>
          <p:nvPr/>
        </p:nvSpPr>
        <p:spPr>
          <a:xfrm>
            <a:off x="502920" y="2580377"/>
            <a:ext cx="118872" cy="1533832"/>
          </a:xfrm>
          <a:prstGeom prst="rect">
            <a:avLst/>
          </a:prstGeom>
          <a:solidFill>
            <a:srgbClr val="3E8E41"/>
          </a:solidFill>
          <a:ln>
            <a:noFill/>
          </a:ln>
          <a:effectLst/>
        </p:spPr>
        <p:txBody>
          <a:bodyPr rtlCol="0" anchor="ctr"/>
          <a:lstStyle/>
          <a:p/>
        </p:txBody>
      </p:sp>
      <p:sp>
        <p:nvSpPr>
          <p:cNvPr id="11" name="TextBox 10"/>
          <p:cNvSpPr txBox="1"/>
          <p:nvPr/>
        </p:nvSpPr>
        <p:spPr>
          <a:xfrm>
            <a:off x="777240" y="2580377"/>
            <a:ext cx="5897880" cy="1533832"/>
          </a:xfrm>
          <a:prstGeom prst="rect">
            <a:avLst/>
          </a:prstGeom>
          <a:noFill/>
        </p:spPr>
        <p:txBody>
          <a:bodyPr wrap="square" anchor="ctr" lIns="73152" rIns="73152" tIns="36576" bIns="36576">
            <a:noAutofit/>
          </a:bodyPr>
          <a:lstStyle/>
          <a:p>
            <a:pPr algn="l">
              <a:spcBef>
                <a:spcPts val="0"/>
              </a:spcBef>
              <a:spcAft>
                <a:spcPts val="0"/>
              </a:spcAft>
            </a:pPr>
            <a:r>
              <a:rPr lang="tr-TR" sz="2300" b="0" i="0">
                <a:solidFill>
                  <a:srgbClr val="262626"/>
                </a:solidFill>
                <a:latin typeface="Calibri"/>
              </a:rPr>
              <a:t>Toprağın özellikleri, tarımsal üretimi olumlu veya olumsuz etkileyebilmektedir.</a:t>
            </a:r>
          </a:p>
        </p:txBody>
      </p:sp>
      <p:sp>
        <p:nvSpPr>
          <p:cNvPr id="12" name="Rounded Rectangle 11"/>
          <p:cNvSpPr/>
          <p:nvPr/>
        </p:nvSpPr>
        <p:spPr>
          <a:xfrm>
            <a:off x="502920" y="4251369"/>
            <a:ext cx="6309360" cy="1993981"/>
          </a:xfrm>
          <a:prstGeom prst="roundRect">
            <a:avLst>
              <a:gd name="adj" fmla="val 8000"/>
            </a:avLst>
          </a:prstGeom>
          <a:solidFill>
            <a:srgbClr val="F0F0F0"/>
          </a:solidFill>
          <a:ln>
            <a:noFill/>
          </a:ln>
          <a:effectLst/>
        </p:spPr>
        <p:txBody>
          <a:bodyPr rtlCol="0" anchor="ctr"/>
          <a:lstStyle/>
          <a:p/>
        </p:txBody>
      </p:sp>
      <p:sp>
        <p:nvSpPr>
          <p:cNvPr id="13" name="Rectangle 12"/>
          <p:cNvSpPr/>
          <p:nvPr/>
        </p:nvSpPr>
        <p:spPr>
          <a:xfrm>
            <a:off x="502920" y="4251369"/>
            <a:ext cx="118872" cy="1993981"/>
          </a:xfrm>
          <a:prstGeom prst="rect">
            <a:avLst/>
          </a:prstGeom>
          <a:solidFill>
            <a:srgbClr val="3E8E41"/>
          </a:solidFill>
          <a:ln>
            <a:noFill/>
          </a:ln>
          <a:effectLst/>
        </p:spPr>
        <p:txBody>
          <a:bodyPr rtlCol="0" anchor="ctr"/>
          <a:lstStyle/>
          <a:p/>
        </p:txBody>
      </p:sp>
      <p:sp>
        <p:nvSpPr>
          <p:cNvPr id="14" name="TextBox 13"/>
          <p:cNvSpPr txBox="1"/>
          <p:nvPr/>
        </p:nvSpPr>
        <p:spPr>
          <a:xfrm>
            <a:off x="777240" y="4251369"/>
            <a:ext cx="5897880" cy="1993981"/>
          </a:xfrm>
          <a:prstGeom prst="rect">
            <a:avLst/>
          </a:prstGeom>
          <a:noFill/>
        </p:spPr>
        <p:txBody>
          <a:bodyPr wrap="square" anchor="ctr" lIns="73152" rIns="73152" tIns="36576" bIns="36576">
            <a:noAutofit/>
          </a:bodyPr>
          <a:lstStyle/>
          <a:p>
            <a:pPr algn="l">
              <a:spcBef>
                <a:spcPts val="0"/>
              </a:spcBef>
              <a:spcAft>
                <a:spcPts val="0"/>
              </a:spcAft>
            </a:pPr>
            <a:r>
              <a:rPr lang="tr-TR" sz="2300" b="0" i="0">
                <a:solidFill>
                  <a:srgbClr val="262626"/>
                </a:solidFill>
                <a:latin typeface="Calibri"/>
              </a:rPr>
              <a:t>Ayrıca bu kaynak; porselen, kiremit, tuğla gibi sanayi ürünlerinin üretiminde ham madde olarak kullanılmaktadır.</a:t>
            </a:r>
          </a:p>
        </p:txBody>
      </p:sp>
      <p:pic>
        <p:nvPicPr>
          <p:cNvPr id="15" name="Picture 14" descr="h28_g54_seramik_s175.jpg"/>
          <p:cNvPicPr>
            <a:picLocks noChangeAspect="1"/>
          </p:cNvPicPr>
          <p:nvPr/>
        </p:nvPicPr>
        <p:blipFill>
          <a:blip r:embed="rId3"/>
          <a:stretch>
            <a:fillRect/>
          </a:stretch>
        </p:blipFill>
        <p:spPr>
          <a:xfrm>
            <a:off x="7040880" y="1469062"/>
            <a:ext cx="4647895" cy="2786018"/>
          </a:xfrm>
          <a:prstGeom prst="rect">
            <a:avLst/>
          </a:prstGeom>
          <a:ln w="9525">
            <a:solidFill>
              <a:srgbClr val="D9D9D9"/>
            </a:solidFill>
          </a:ln>
        </p:spPr>
      </p:pic>
      <p:sp>
        <p:nvSpPr>
          <p:cNvPr id="16" name="TextBox 15"/>
          <p:cNvSpPr txBox="1"/>
          <p:nvPr/>
        </p:nvSpPr>
        <p:spPr>
          <a:xfrm>
            <a:off x="7040880" y="4328233"/>
            <a:ext cx="4647895" cy="731520"/>
          </a:xfrm>
          <a:prstGeom prst="rect">
            <a:avLst/>
          </a:prstGeom>
          <a:noFill/>
        </p:spPr>
        <p:txBody>
          <a:bodyPr wrap="square" anchor="t" lIns="73152" rIns="73152" tIns="36576" bIns="36576">
            <a:noAutofit/>
          </a:bodyPr>
          <a:lstStyle/>
          <a:p>
            <a:pPr algn="l">
              <a:spcBef>
                <a:spcPts val="0"/>
              </a:spcBef>
              <a:spcAft>
                <a:spcPts val="0"/>
              </a:spcAft>
            </a:pPr>
            <a:r>
              <a:rPr lang="tr-TR" sz="1600" b="0" i="1">
                <a:solidFill>
                  <a:srgbClr val="767676"/>
                </a:solidFill>
                <a:latin typeface="Calibri"/>
              </a:rPr>
              <a:t>Görsel 5.4: Toprak, seramik yapımında ham madde olarak kullanılır.</a:t>
            </a:r>
          </a:p>
        </p:txBody>
      </p:sp>
      <p:sp>
        <p:nvSpPr>
          <p:cNvPr id="17" name="TextBox 1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8" name="Rounded Rectangle 1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175</a:t>
            </a:r>
          </a:p>
        </p:txBody>
      </p:sp>
      <p:sp>
        <p:nvSpPr>
          <p:cNvPr id="19" name="TextBox 1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37 / 166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6 · Bitki örtüsü</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6. GRUP</a:t>
            </a:r>
          </a:p>
        </p:txBody>
      </p:sp>
      <p:pic>
        <p:nvPicPr>
          <p:cNvPr id="6" name="Picture 5" descr="h28_g55_kagit_s175.jpg"/>
          <p:cNvPicPr>
            <a:picLocks noChangeAspect="1"/>
          </p:cNvPicPr>
          <p:nvPr/>
        </p:nvPicPr>
        <p:blipFill>
          <a:blip r:embed="rId3"/>
          <a:stretch>
            <a:fillRect/>
          </a:stretch>
        </p:blipFill>
        <p:spPr>
          <a:xfrm>
            <a:off x="502920" y="1320741"/>
            <a:ext cx="3017520" cy="1802500"/>
          </a:xfrm>
          <a:prstGeom prst="rect">
            <a:avLst/>
          </a:prstGeom>
          <a:ln w="9525">
            <a:solidFill>
              <a:srgbClr val="D9D9D9"/>
            </a:solidFill>
          </a:ln>
        </p:spPr>
      </p:pic>
      <p:sp>
        <p:nvSpPr>
          <p:cNvPr id="7" name="TextBox 6"/>
          <p:cNvSpPr txBox="1"/>
          <p:nvPr/>
        </p:nvSpPr>
        <p:spPr>
          <a:xfrm>
            <a:off x="502920" y="3168962"/>
            <a:ext cx="3017520" cy="685800"/>
          </a:xfrm>
          <a:prstGeom prst="rect">
            <a:avLst/>
          </a:prstGeom>
          <a:noFill/>
        </p:spPr>
        <p:txBody>
          <a:bodyPr wrap="square" anchor="t" lIns="73152" rIns="73152" tIns="36576" bIns="36576">
            <a:noAutofit/>
          </a:bodyPr>
          <a:lstStyle/>
          <a:p>
            <a:pPr algn="l">
              <a:spcBef>
                <a:spcPts val="0"/>
              </a:spcBef>
              <a:spcAft>
                <a:spcPts val="0"/>
              </a:spcAft>
            </a:pPr>
            <a:r>
              <a:rPr lang="tr-TR" sz="1400" b="0" i="1">
                <a:solidFill>
                  <a:srgbClr val="767676"/>
                </a:solidFill>
                <a:latin typeface="Calibri"/>
              </a:rPr>
              <a:t>Görsel 5.5: Ormanlar, kâğıt üretiminde önemli bir ham madde kaynağıdır.</a:t>
            </a:r>
          </a:p>
        </p:txBody>
      </p:sp>
      <p:sp>
        <p:nvSpPr>
          <p:cNvPr id="8" name="Rounded Rectangle 7"/>
          <p:cNvSpPr/>
          <p:nvPr/>
        </p:nvSpPr>
        <p:spPr>
          <a:xfrm>
            <a:off x="3703320" y="1216152"/>
            <a:ext cx="3749040" cy="2697480"/>
          </a:xfrm>
          <a:prstGeom prst="roundRect">
            <a:avLst>
              <a:gd name="adj" fmla="val 8000"/>
            </a:avLst>
          </a:prstGeom>
          <a:solidFill>
            <a:srgbClr val="F0F0F0"/>
          </a:solidFill>
          <a:ln>
            <a:noFill/>
          </a:ln>
          <a:effectLst/>
        </p:spPr>
        <p:txBody>
          <a:bodyPr rtlCol="0" anchor="ctr"/>
          <a:lstStyle/>
          <a:p/>
        </p:txBody>
      </p:sp>
      <p:sp>
        <p:nvSpPr>
          <p:cNvPr id="9" name="Rectangle 8"/>
          <p:cNvSpPr/>
          <p:nvPr/>
        </p:nvSpPr>
        <p:spPr>
          <a:xfrm>
            <a:off x="3703320" y="1216152"/>
            <a:ext cx="118872" cy="2697480"/>
          </a:xfrm>
          <a:prstGeom prst="rect">
            <a:avLst/>
          </a:prstGeom>
          <a:solidFill>
            <a:srgbClr val="3E8E41"/>
          </a:solidFill>
          <a:ln>
            <a:noFill/>
          </a:ln>
          <a:effectLst/>
        </p:spPr>
        <p:txBody>
          <a:bodyPr rtlCol="0" anchor="ctr"/>
          <a:lstStyle/>
          <a:p/>
        </p:txBody>
      </p:sp>
      <p:sp>
        <p:nvSpPr>
          <p:cNvPr id="10" name="TextBox 9"/>
          <p:cNvSpPr txBox="1"/>
          <p:nvPr/>
        </p:nvSpPr>
        <p:spPr>
          <a:xfrm>
            <a:off x="3977640" y="1216152"/>
            <a:ext cx="3337560" cy="269748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Bir yerin sahip olduğu bitki örtüsü, o alanda yürütülen hayvancılık faaliyetleri üzerinde etkilidir.</a:t>
            </a:r>
          </a:p>
        </p:txBody>
      </p:sp>
      <p:sp>
        <p:nvSpPr>
          <p:cNvPr id="11" name="Rounded Rectangle 10"/>
          <p:cNvSpPr/>
          <p:nvPr/>
        </p:nvSpPr>
        <p:spPr>
          <a:xfrm>
            <a:off x="502920" y="4050792"/>
            <a:ext cx="6949440" cy="1065276"/>
          </a:xfrm>
          <a:prstGeom prst="roundRect">
            <a:avLst>
              <a:gd name="adj" fmla="val 8000"/>
            </a:avLst>
          </a:prstGeom>
          <a:solidFill>
            <a:srgbClr val="F0F0F0"/>
          </a:solidFill>
          <a:ln>
            <a:noFill/>
          </a:ln>
          <a:effectLst/>
        </p:spPr>
        <p:txBody>
          <a:bodyPr rtlCol="0" anchor="ctr"/>
          <a:lstStyle/>
          <a:p/>
        </p:txBody>
      </p:sp>
      <p:sp>
        <p:nvSpPr>
          <p:cNvPr id="12" name="Rectangle 11"/>
          <p:cNvSpPr/>
          <p:nvPr/>
        </p:nvSpPr>
        <p:spPr>
          <a:xfrm>
            <a:off x="502920" y="4050792"/>
            <a:ext cx="118872" cy="1065276"/>
          </a:xfrm>
          <a:prstGeom prst="rect">
            <a:avLst/>
          </a:prstGeom>
          <a:solidFill>
            <a:srgbClr val="3E8E41"/>
          </a:solidFill>
          <a:ln>
            <a:noFill/>
          </a:ln>
          <a:effectLst/>
        </p:spPr>
        <p:txBody>
          <a:bodyPr rtlCol="0" anchor="ctr"/>
          <a:lstStyle/>
          <a:p/>
        </p:txBody>
      </p:sp>
      <p:sp>
        <p:nvSpPr>
          <p:cNvPr id="13" name="TextBox 12"/>
          <p:cNvSpPr txBox="1"/>
          <p:nvPr/>
        </p:nvSpPr>
        <p:spPr>
          <a:xfrm>
            <a:off x="777240" y="4050792"/>
            <a:ext cx="6537960" cy="1065276"/>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Bununla birlikte bazı bitkiler kereste, kâğıt, mobilya gibi ürünlerin üretiminde ham madde olarak kullanılmaktadır.</a:t>
            </a:r>
          </a:p>
        </p:txBody>
      </p:sp>
      <p:sp>
        <p:nvSpPr>
          <p:cNvPr id="14" name="Rounded Rectangle 13"/>
          <p:cNvSpPr/>
          <p:nvPr/>
        </p:nvSpPr>
        <p:spPr>
          <a:xfrm>
            <a:off x="502920" y="5225796"/>
            <a:ext cx="6949440" cy="1065276"/>
          </a:xfrm>
          <a:prstGeom prst="roundRect">
            <a:avLst>
              <a:gd name="adj" fmla="val 8000"/>
            </a:avLst>
          </a:prstGeom>
          <a:solidFill>
            <a:srgbClr val="F0F0F0"/>
          </a:solidFill>
          <a:ln>
            <a:noFill/>
          </a:ln>
          <a:effectLst/>
        </p:spPr>
        <p:txBody>
          <a:bodyPr rtlCol="0" anchor="ctr"/>
          <a:lstStyle/>
          <a:p/>
        </p:txBody>
      </p:sp>
      <p:sp>
        <p:nvSpPr>
          <p:cNvPr id="15" name="Rectangle 14"/>
          <p:cNvSpPr/>
          <p:nvPr/>
        </p:nvSpPr>
        <p:spPr>
          <a:xfrm>
            <a:off x="502920" y="5225796"/>
            <a:ext cx="118872" cy="1065276"/>
          </a:xfrm>
          <a:prstGeom prst="rect">
            <a:avLst/>
          </a:prstGeom>
          <a:solidFill>
            <a:srgbClr val="3E8E41"/>
          </a:solidFill>
          <a:ln>
            <a:noFill/>
          </a:ln>
          <a:effectLst/>
        </p:spPr>
        <p:txBody>
          <a:bodyPr rtlCol="0" anchor="ctr"/>
          <a:lstStyle/>
          <a:p/>
        </p:txBody>
      </p:sp>
      <p:sp>
        <p:nvSpPr>
          <p:cNvPr id="16" name="TextBox 15"/>
          <p:cNvSpPr txBox="1"/>
          <p:nvPr/>
        </p:nvSpPr>
        <p:spPr>
          <a:xfrm>
            <a:off x="777240" y="5225796"/>
            <a:ext cx="6537960" cy="1065276"/>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Bitki örtüsünün çeşitlilik gösterdiği bazı alanların da dinlenme, spor, keşif ve inceleme gibi amaçlarla ziyaret edildiği görülmektedir.</a:t>
            </a:r>
          </a:p>
        </p:txBody>
      </p:sp>
      <p:sp>
        <p:nvSpPr>
          <p:cNvPr id="17" name="Rounded Rectangle 16"/>
          <p:cNvSpPr/>
          <p:nvPr/>
        </p:nvSpPr>
        <p:spPr>
          <a:xfrm>
            <a:off x="7680960" y="1216152"/>
            <a:ext cx="4007815" cy="5029200"/>
          </a:xfrm>
          <a:prstGeom prst="roundRect">
            <a:avLst>
              <a:gd name="adj" fmla="val 5000"/>
            </a:avLst>
          </a:prstGeom>
          <a:solidFill>
            <a:srgbClr val="F0F0F0"/>
          </a:solidFill>
          <a:ln>
            <a:noFill/>
          </a:ln>
          <a:effectLst/>
        </p:spPr>
        <p:txBody>
          <a:bodyPr rtlCol="0" anchor="ctr"/>
          <a:lstStyle/>
          <a:p/>
        </p:txBody>
      </p:sp>
      <p:sp>
        <p:nvSpPr>
          <p:cNvPr id="18" name="Rectangle 17"/>
          <p:cNvSpPr/>
          <p:nvPr/>
        </p:nvSpPr>
        <p:spPr>
          <a:xfrm>
            <a:off x="7818120" y="1325880"/>
            <a:ext cx="3733495" cy="54864"/>
          </a:xfrm>
          <a:prstGeom prst="rect">
            <a:avLst/>
          </a:prstGeom>
          <a:solidFill>
            <a:srgbClr val="D3373A"/>
          </a:solidFill>
          <a:ln>
            <a:noFill/>
          </a:ln>
          <a:effectLst/>
        </p:spPr>
        <p:txBody>
          <a:bodyPr rtlCol="0" anchor="ctr"/>
          <a:lstStyle/>
          <a:p/>
        </p:txBody>
      </p:sp>
      <p:sp>
        <p:nvSpPr>
          <p:cNvPr id="19" name="TextBox 18"/>
          <p:cNvSpPr txBox="1"/>
          <p:nvPr/>
        </p:nvSpPr>
        <p:spPr>
          <a:xfrm>
            <a:off x="7818120" y="1417320"/>
            <a:ext cx="3733495" cy="365760"/>
          </a:xfrm>
          <a:prstGeom prst="rect">
            <a:avLst/>
          </a:prstGeom>
          <a:noFill/>
        </p:spPr>
        <p:txBody>
          <a:bodyPr wrap="square" anchor="t" lIns="73152" rIns="73152" tIns="36576" bIns="36576">
            <a:noAutofit/>
          </a:bodyPr>
          <a:lstStyle/>
          <a:p>
            <a:pPr algn="l">
              <a:spcBef>
                <a:spcPts val="0"/>
              </a:spcBef>
              <a:spcAft>
                <a:spcPts val="0"/>
              </a:spcAft>
            </a:pPr>
            <a:r>
              <a:rPr lang="tr-TR" sz="1400" b="1" i="0">
                <a:solidFill>
                  <a:srgbClr val="D3373A"/>
                </a:solidFill>
                <a:latin typeface="Calibri"/>
              </a:rPr>
              <a:t>KENAR SORUSU</a:t>
            </a:r>
          </a:p>
        </p:txBody>
      </p:sp>
      <p:sp>
        <p:nvSpPr>
          <p:cNvPr id="20" name="TextBox 19"/>
          <p:cNvSpPr txBox="1"/>
          <p:nvPr/>
        </p:nvSpPr>
        <p:spPr>
          <a:xfrm>
            <a:off x="7818120" y="1783080"/>
            <a:ext cx="3733495" cy="1056640"/>
          </a:xfrm>
          <a:prstGeom prst="rect">
            <a:avLst/>
          </a:prstGeom>
          <a:noFill/>
        </p:spPr>
        <p:txBody>
          <a:bodyPr wrap="square" anchor="t" lIns="73152" rIns="73152" tIns="36576" bIns="36576">
            <a:noAutofit/>
          </a:bodyPr>
          <a:lstStyle/>
          <a:p>
            <a:pPr algn="l">
              <a:spcBef>
                <a:spcPts val="0"/>
              </a:spcBef>
              <a:spcAft>
                <a:spcPts val="0"/>
              </a:spcAft>
            </a:pPr>
            <a:r>
              <a:rPr lang="tr-TR" sz="2000" b="1" i="1">
                <a:solidFill>
                  <a:srgbClr val="262626"/>
                </a:solidFill>
                <a:latin typeface="Calibri"/>
              </a:rPr>
              <a:t>Bitki örtüsü hangi hayvancılık faaliyetleri üzerinde etkilidir? Örnekler üzerinden açıklayınız.</a:t>
            </a:r>
          </a:p>
        </p:txBody>
      </p:sp>
      <p:sp>
        <p:nvSpPr>
          <p:cNvPr id="21" name="Rounded Rectangle 20"/>
          <p:cNvSpPr/>
          <p:nvPr/>
        </p:nvSpPr>
        <p:spPr>
          <a:xfrm>
            <a:off x="7818120" y="2949448"/>
            <a:ext cx="3733495" cy="3158744"/>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22" name="Connector 21"/>
          <p:cNvCxnSpPr/>
          <p:nvPr/>
        </p:nvCxnSpPr>
        <p:spPr>
          <a:xfrm>
            <a:off x="8001000" y="3300419"/>
            <a:ext cx="3367735" cy="0"/>
          </a:xfrm>
          <a:prstGeom prst="line">
            <a:avLst/>
          </a:prstGeom>
          <a:ln w="12700">
            <a:solidFill>
              <a:srgbClr val="D9D9D9"/>
            </a:solidFill>
            <a:prstDash val="dash"/>
          </a:ln>
        </p:spPr>
      </p:cxnSp>
      <p:cxnSp>
        <p:nvCxnSpPr>
          <p:cNvPr id="23" name="Connector 22"/>
          <p:cNvCxnSpPr/>
          <p:nvPr/>
        </p:nvCxnSpPr>
        <p:spPr>
          <a:xfrm>
            <a:off x="8001000" y="3651391"/>
            <a:ext cx="3367735" cy="0"/>
          </a:xfrm>
          <a:prstGeom prst="line">
            <a:avLst/>
          </a:prstGeom>
          <a:ln w="12700">
            <a:solidFill>
              <a:srgbClr val="D9D9D9"/>
            </a:solidFill>
            <a:prstDash val="dash"/>
          </a:ln>
        </p:spPr>
      </p:cxnSp>
      <p:cxnSp>
        <p:nvCxnSpPr>
          <p:cNvPr id="24" name="Connector 23"/>
          <p:cNvCxnSpPr/>
          <p:nvPr/>
        </p:nvCxnSpPr>
        <p:spPr>
          <a:xfrm>
            <a:off x="8001000" y="4002362"/>
            <a:ext cx="3367735" cy="0"/>
          </a:xfrm>
          <a:prstGeom prst="line">
            <a:avLst/>
          </a:prstGeom>
          <a:ln w="12700">
            <a:solidFill>
              <a:srgbClr val="D9D9D9"/>
            </a:solidFill>
            <a:prstDash val="dash"/>
          </a:ln>
        </p:spPr>
      </p:cxnSp>
      <p:cxnSp>
        <p:nvCxnSpPr>
          <p:cNvPr id="25" name="Connector 24"/>
          <p:cNvCxnSpPr/>
          <p:nvPr/>
        </p:nvCxnSpPr>
        <p:spPr>
          <a:xfrm>
            <a:off x="8001000" y="4353334"/>
            <a:ext cx="3367735" cy="0"/>
          </a:xfrm>
          <a:prstGeom prst="line">
            <a:avLst/>
          </a:prstGeom>
          <a:ln w="12700">
            <a:solidFill>
              <a:srgbClr val="D9D9D9"/>
            </a:solidFill>
            <a:prstDash val="dash"/>
          </a:ln>
        </p:spPr>
      </p:cxnSp>
      <p:cxnSp>
        <p:nvCxnSpPr>
          <p:cNvPr id="26" name="Connector 25"/>
          <p:cNvCxnSpPr/>
          <p:nvPr/>
        </p:nvCxnSpPr>
        <p:spPr>
          <a:xfrm>
            <a:off x="8001000" y="4704305"/>
            <a:ext cx="3367735" cy="0"/>
          </a:xfrm>
          <a:prstGeom prst="line">
            <a:avLst/>
          </a:prstGeom>
          <a:ln w="12700">
            <a:solidFill>
              <a:srgbClr val="D9D9D9"/>
            </a:solidFill>
            <a:prstDash val="dash"/>
          </a:ln>
        </p:spPr>
      </p:cxnSp>
      <p:cxnSp>
        <p:nvCxnSpPr>
          <p:cNvPr id="27" name="Connector 26"/>
          <p:cNvCxnSpPr/>
          <p:nvPr/>
        </p:nvCxnSpPr>
        <p:spPr>
          <a:xfrm>
            <a:off x="8001000" y="5055277"/>
            <a:ext cx="3367735" cy="0"/>
          </a:xfrm>
          <a:prstGeom prst="line">
            <a:avLst/>
          </a:prstGeom>
          <a:ln w="12700">
            <a:solidFill>
              <a:srgbClr val="D9D9D9"/>
            </a:solidFill>
            <a:prstDash val="dash"/>
          </a:ln>
        </p:spPr>
      </p:cxnSp>
      <p:cxnSp>
        <p:nvCxnSpPr>
          <p:cNvPr id="28" name="Connector 27"/>
          <p:cNvCxnSpPr/>
          <p:nvPr/>
        </p:nvCxnSpPr>
        <p:spPr>
          <a:xfrm>
            <a:off x="8001000" y="5406248"/>
            <a:ext cx="3367735" cy="0"/>
          </a:xfrm>
          <a:prstGeom prst="line">
            <a:avLst/>
          </a:prstGeom>
          <a:ln w="12700">
            <a:solidFill>
              <a:srgbClr val="D9D9D9"/>
            </a:solidFill>
            <a:prstDash val="dash"/>
          </a:ln>
        </p:spPr>
      </p:cxnSp>
      <p:cxnSp>
        <p:nvCxnSpPr>
          <p:cNvPr id="29" name="Connector 28"/>
          <p:cNvCxnSpPr/>
          <p:nvPr/>
        </p:nvCxnSpPr>
        <p:spPr>
          <a:xfrm>
            <a:off x="8001000" y="5757220"/>
            <a:ext cx="3367735" cy="0"/>
          </a:xfrm>
          <a:prstGeom prst="line">
            <a:avLst/>
          </a:prstGeom>
          <a:ln w="12700">
            <a:solidFill>
              <a:srgbClr val="D9D9D9"/>
            </a:solidFill>
            <a:prstDash val="dash"/>
          </a:ln>
        </p:spPr>
      </p:cxnSp>
      <p:sp>
        <p:nvSpPr>
          <p:cNvPr id="30" name="TextBox 2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31" name="Rounded Rectangle 3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175</a:t>
            </a:r>
          </a:p>
        </p:txBody>
      </p:sp>
      <p:sp>
        <p:nvSpPr>
          <p:cNvPr id="32" name="TextBox 3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38 / 166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Bitki örtüsü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pic>
        <p:nvPicPr>
          <p:cNvPr id="6" name="Picture 5" descr="h28_g55_kagit_s175.jpg"/>
          <p:cNvPicPr>
            <a:picLocks noChangeAspect="1"/>
          </p:cNvPicPr>
          <p:nvPr/>
        </p:nvPicPr>
        <p:blipFill>
          <a:blip r:embed="rId3"/>
          <a:stretch>
            <a:fillRect/>
          </a:stretch>
        </p:blipFill>
        <p:spPr>
          <a:xfrm>
            <a:off x="502920" y="1320741"/>
            <a:ext cx="3017520" cy="1802500"/>
          </a:xfrm>
          <a:prstGeom prst="rect">
            <a:avLst/>
          </a:prstGeom>
          <a:ln w="9525">
            <a:solidFill>
              <a:srgbClr val="D9D9D9"/>
            </a:solidFill>
          </a:ln>
        </p:spPr>
      </p:pic>
      <p:sp>
        <p:nvSpPr>
          <p:cNvPr id="7" name="TextBox 6"/>
          <p:cNvSpPr txBox="1"/>
          <p:nvPr/>
        </p:nvSpPr>
        <p:spPr>
          <a:xfrm>
            <a:off x="502920" y="3168962"/>
            <a:ext cx="3017520" cy="685800"/>
          </a:xfrm>
          <a:prstGeom prst="rect">
            <a:avLst/>
          </a:prstGeom>
          <a:noFill/>
        </p:spPr>
        <p:txBody>
          <a:bodyPr wrap="square" anchor="t" lIns="73152" rIns="73152" tIns="36576" bIns="36576">
            <a:noAutofit/>
          </a:bodyPr>
          <a:lstStyle/>
          <a:p>
            <a:pPr algn="l">
              <a:spcBef>
                <a:spcPts val="0"/>
              </a:spcBef>
              <a:spcAft>
                <a:spcPts val="0"/>
              </a:spcAft>
            </a:pPr>
            <a:r>
              <a:rPr lang="tr-TR" sz="1400" b="0" i="1">
                <a:solidFill>
                  <a:srgbClr val="767676"/>
                </a:solidFill>
                <a:latin typeface="Calibri"/>
              </a:rPr>
              <a:t>Görsel 5.5: Ormanlar, kâğıt üretiminde önemli bir ham madde kaynağıdır.</a:t>
            </a:r>
          </a:p>
        </p:txBody>
      </p:sp>
      <p:sp>
        <p:nvSpPr>
          <p:cNvPr id="8" name="Rounded Rectangle 7"/>
          <p:cNvSpPr/>
          <p:nvPr/>
        </p:nvSpPr>
        <p:spPr>
          <a:xfrm>
            <a:off x="3703320" y="1216152"/>
            <a:ext cx="3749040" cy="2697480"/>
          </a:xfrm>
          <a:prstGeom prst="roundRect">
            <a:avLst>
              <a:gd name="adj" fmla="val 8000"/>
            </a:avLst>
          </a:prstGeom>
          <a:solidFill>
            <a:srgbClr val="F0F0F0"/>
          </a:solidFill>
          <a:ln>
            <a:noFill/>
          </a:ln>
          <a:effectLst/>
        </p:spPr>
        <p:txBody>
          <a:bodyPr rtlCol="0" anchor="ctr"/>
          <a:lstStyle/>
          <a:p/>
        </p:txBody>
      </p:sp>
      <p:sp>
        <p:nvSpPr>
          <p:cNvPr id="9" name="Rectangle 8"/>
          <p:cNvSpPr/>
          <p:nvPr/>
        </p:nvSpPr>
        <p:spPr>
          <a:xfrm>
            <a:off x="3703320" y="1216152"/>
            <a:ext cx="118872" cy="2697480"/>
          </a:xfrm>
          <a:prstGeom prst="rect">
            <a:avLst/>
          </a:prstGeom>
          <a:solidFill>
            <a:srgbClr val="3E8E41"/>
          </a:solidFill>
          <a:ln>
            <a:noFill/>
          </a:ln>
          <a:effectLst/>
        </p:spPr>
        <p:txBody>
          <a:bodyPr rtlCol="0" anchor="ctr"/>
          <a:lstStyle/>
          <a:p/>
        </p:txBody>
      </p:sp>
      <p:sp>
        <p:nvSpPr>
          <p:cNvPr id="10" name="TextBox 9"/>
          <p:cNvSpPr txBox="1"/>
          <p:nvPr/>
        </p:nvSpPr>
        <p:spPr>
          <a:xfrm>
            <a:off x="3977640" y="1216152"/>
            <a:ext cx="3337560" cy="269748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Bir yerin sahip olduğu bitki örtüsü, o alanda yürütülen hayvancılık faaliyetleri üzerinde etkilidir.</a:t>
            </a:r>
          </a:p>
        </p:txBody>
      </p:sp>
      <p:sp>
        <p:nvSpPr>
          <p:cNvPr id="11" name="Rounded Rectangle 10"/>
          <p:cNvSpPr/>
          <p:nvPr/>
        </p:nvSpPr>
        <p:spPr>
          <a:xfrm>
            <a:off x="502920" y="4050792"/>
            <a:ext cx="6949440" cy="1065276"/>
          </a:xfrm>
          <a:prstGeom prst="roundRect">
            <a:avLst>
              <a:gd name="adj" fmla="val 8000"/>
            </a:avLst>
          </a:prstGeom>
          <a:solidFill>
            <a:srgbClr val="F0F0F0"/>
          </a:solidFill>
          <a:ln>
            <a:noFill/>
          </a:ln>
          <a:effectLst/>
        </p:spPr>
        <p:txBody>
          <a:bodyPr rtlCol="0" anchor="ctr"/>
          <a:lstStyle/>
          <a:p/>
        </p:txBody>
      </p:sp>
      <p:sp>
        <p:nvSpPr>
          <p:cNvPr id="12" name="Rectangle 11"/>
          <p:cNvSpPr/>
          <p:nvPr/>
        </p:nvSpPr>
        <p:spPr>
          <a:xfrm>
            <a:off x="502920" y="4050792"/>
            <a:ext cx="118872" cy="1065276"/>
          </a:xfrm>
          <a:prstGeom prst="rect">
            <a:avLst/>
          </a:prstGeom>
          <a:solidFill>
            <a:srgbClr val="3E8E41"/>
          </a:solidFill>
          <a:ln>
            <a:noFill/>
          </a:ln>
          <a:effectLst/>
        </p:spPr>
        <p:txBody>
          <a:bodyPr rtlCol="0" anchor="ctr"/>
          <a:lstStyle/>
          <a:p/>
        </p:txBody>
      </p:sp>
      <p:sp>
        <p:nvSpPr>
          <p:cNvPr id="13" name="TextBox 12"/>
          <p:cNvSpPr txBox="1"/>
          <p:nvPr/>
        </p:nvSpPr>
        <p:spPr>
          <a:xfrm>
            <a:off x="777240" y="4050792"/>
            <a:ext cx="6537960" cy="1065276"/>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Bununla birlikte bazı bitkiler kereste, kâğıt, mobilya gibi ürünlerin üretiminde ham madde olarak kullanılmaktadır.</a:t>
            </a:r>
          </a:p>
        </p:txBody>
      </p:sp>
      <p:sp>
        <p:nvSpPr>
          <p:cNvPr id="14" name="Rounded Rectangle 13"/>
          <p:cNvSpPr/>
          <p:nvPr/>
        </p:nvSpPr>
        <p:spPr>
          <a:xfrm>
            <a:off x="502920" y="5225796"/>
            <a:ext cx="6949440" cy="1065276"/>
          </a:xfrm>
          <a:prstGeom prst="roundRect">
            <a:avLst>
              <a:gd name="adj" fmla="val 8000"/>
            </a:avLst>
          </a:prstGeom>
          <a:solidFill>
            <a:srgbClr val="F0F0F0"/>
          </a:solidFill>
          <a:ln>
            <a:noFill/>
          </a:ln>
          <a:effectLst/>
        </p:spPr>
        <p:txBody>
          <a:bodyPr rtlCol="0" anchor="ctr"/>
          <a:lstStyle/>
          <a:p/>
        </p:txBody>
      </p:sp>
      <p:sp>
        <p:nvSpPr>
          <p:cNvPr id="15" name="Rectangle 14"/>
          <p:cNvSpPr/>
          <p:nvPr/>
        </p:nvSpPr>
        <p:spPr>
          <a:xfrm>
            <a:off x="502920" y="5225796"/>
            <a:ext cx="118872" cy="1065276"/>
          </a:xfrm>
          <a:prstGeom prst="rect">
            <a:avLst/>
          </a:prstGeom>
          <a:solidFill>
            <a:srgbClr val="3E8E41"/>
          </a:solidFill>
          <a:ln>
            <a:noFill/>
          </a:ln>
          <a:effectLst/>
        </p:spPr>
        <p:txBody>
          <a:bodyPr rtlCol="0" anchor="ctr"/>
          <a:lstStyle/>
          <a:p/>
        </p:txBody>
      </p:sp>
      <p:sp>
        <p:nvSpPr>
          <p:cNvPr id="16" name="TextBox 15"/>
          <p:cNvSpPr txBox="1"/>
          <p:nvPr/>
        </p:nvSpPr>
        <p:spPr>
          <a:xfrm>
            <a:off x="777240" y="5225796"/>
            <a:ext cx="6537960" cy="1065276"/>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Bitki örtüsünün çeşitlilik gösterdiği bazı alanların da dinlenme, spor, keşif ve inceleme gibi amaçlarla ziyaret edildiği görülmektedir.</a:t>
            </a:r>
          </a:p>
        </p:txBody>
      </p:sp>
      <p:sp>
        <p:nvSpPr>
          <p:cNvPr id="17" name="Rounded Rectangle 16"/>
          <p:cNvSpPr/>
          <p:nvPr/>
        </p:nvSpPr>
        <p:spPr>
          <a:xfrm>
            <a:off x="7680960" y="1216152"/>
            <a:ext cx="4007815" cy="5029200"/>
          </a:xfrm>
          <a:prstGeom prst="roundRect">
            <a:avLst>
              <a:gd name="adj" fmla="val 5000"/>
            </a:avLst>
          </a:prstGeom>
          <a:solidFill>
            <a:srgbClr val="F0F0F0"/>
          </a:solidFill>
          <a:ln>
            <a:noFill/>
          </a:ln>
          <a:effectLst/>
        </p:spPr>
        <p:txBody>
          <a:bodyPr rtlCol="0" anchor="ctr"/>
          <a:lstStyle/>
          <a:p/>
        </p:txBody>
      </p:sp>
      <p:sp>
        <p:nvSpPr>
          <p:cNvPr id="18" name="Rectangle 17"/>
          <p:cNvSpPr/>
          <p:nvPr/>
        </p:nvSpPr>
        <p:spPr>
          <a:xfrm>
            <a:off x="7818120" y="1325880"/>
            <a:ext cx="3733495" cy="54864"/>
          </a:xfrm>
          <a:prstGeom prst="rect">
            <a:avLst/>
          </a:prstGeom>
          <a:solidFill>
            <a:srgbClr val="D3373A"/>
          </a:solidFill>
          <a:ln>
            <a:noFill/>
          </a:ln>
          <a:effectLst/>
        </p:spPr>
        <p:txBody>
          <a:bodyPr rtlCol="0" anchor="ctr"/>
          <a:lstStyle/>
          <a:p/>
        </p:txBody>
      </p:sp>
      <p:sp>
        <p:nvSpPr>
          <p:cNvPr id="19" name="TextBox 18"/>
          <p:cNvSpPr txBox="1"/>
          <p:nvPr/>
        </p:nvSpPr>
        <p:spPr>
          <a:xfrm>
            <a:off x="7818120" y="1417320"/>
            <a:ext cx="3733495" cy="365760"/>
          </a:xfrm>
          <a:prstGeom prst="rect">
            <a:avLst/>
          </a:prstGeom>
          <a:noFill/>
        </p:spPr>
        <p:txBody>
          <a:bodyPr wrap="square" anchor="t" lIns="73152" rIns="73152" tIns="36576" bIns="36576">
            <a:noAutofit/>
          </a:bodyPr>
          <a:lstStyle/>
          <a:p>
            <a:pPr algn="l">
              <a:spcBef>
                <a:spcPts val="0"/>
              </a:spcBef>
              <a:spcAft>
                <a:spcPts val="0"/>
              </a:spcAft>
            </a:pPr>
            <a:r>
              <a:rPr lang="tr-TR" sz="1400" b="1" i="0">
                <a:solidFill>
                  <a:srgbClr val="D3373A"/>
                </a:solidFill>
                <a:latin typeface="Calibri"/>
              </a:rPr>
              <a:t>KENAR SORUSU</a:t>
            </a:r>
          </a:p>
        </p:txBody>
      </p:sp>
      <p:sp>
        <p:nvSpPr>
          <p:cNvPr id="20" name="TextBox 19"/>
          <p:cNvSpPr txBox="1"/>
          <p:nvPr/>
        </p:nvSpPr>
        <p:spPr>
          <a:xfrm>
            <a:off x="7818120" y="1783080"/>
            <a:ext cx="3733495" cy="1056640"/>
          </a:xfrm>
          <a:prstGeom prst="rect">
            <a:avLst/>
          </a:prstGeom>
          <a:noFill/>
        </p:spPr>
        <p:txBody>
          <a:bodyPr wrap="square" anchor="t" lIns="73152" rIns="73152" tIns="36576" bIns="36576">
            <a:noAutofit/>
          </a:bodyPr>
          <a:lstStyle/>
          <a:p>
            <a:pPr algn="l">
              <a:spcBef>
                <a:spcPts val="0"/>
              </a:spcBef>
              <a:spcAft>
                <a:spcPts val="0"/>
              </a:spcAft>
            </a:pPr>
            <a:r>
              <a:rPr lang="tr-TR" sz="2000" b="1" i="1">
                <a:solidFill>
                  <a:srgbClr val="262626"/>
                </a:solidFill>
                <a:latin typeface="Calibri"/>
              </a:rPr>
              <a:t>Bitki örtüsü hangi hayvancılık faaliyetleri üzerinde etkilidir? Örnekler üzerinden açıklayınız.</a:t>
            </a:r>
          </a:p>
        </p:txBody>
      </p:sp>
      <p:sp>
        <p:nvSpPr>
          <p:cNvPr id="21" name="Rounded Rectangle 20"/>
          <p:cNvSpPr/>
          <p:nvPr/>
        </p:nvSpPr>
        <p:spPr>
          <a:xfrm>
            <a:off x="7818120" y="2949448"/>
            <a:ext cx="3733495" cy="3158744"/>
          </a:xfrm>
          <a:prstGeom prst="roundRect">
            <a:avLst>
              <a:gd name="adj" fmla="val 8000"/>
            </a:avLst>
          </a:prstGeom>
          <a:solidFill>
            <a:srgbClr val="E3F1E4"/>
          </a:solidFill>
          <a:ln w="12700">
            <a:solidFill>
              <a:srgbClr val="2E7D32"/>
            </a:solidFill>
          </a:ln>
          <a:effectLst/>
        </p:spPr>
        <p:txBody>
          <a:bodyPr rtlCol="0" anchor="ctr" wrap="square" lIns="109728" rIns="109728" tIns="73152" bIns="73152">
            <a:noAutofit/>
          </a:bodyPr>
          <a:lstStyle/>
          <a:p>
            <a:pPr algn="l">
              <a:spcBef>
                <a:spcPts val="0"/>
              </a:spcBef>
              <a:spcAft>
                <a:spcPts val="780"/>
              </a:spcAft>
            </a:pPr>
            <a:r>
              <a:rPr lang="tr-TR" sz="1639" b="1" i="0">
                <a:solidFill>
                  <a:srgbClr val="2E7D32"/>
                </a:solidFill>
                <a:latin typeface="Calibri"/>
              </a:rPr>
              <a:t>ÖRNEK CEVAP</a:t>
            </a:r>
          </a:p>
          <a:p>
            <a:pPr algn="l" marL="254836" indent="-254836">
              <a:spcBef>
                <a:spcPts val="0"/>
              </a:spcBef>
              <a:spcAft>
                <a:spcPts val="780"/>
              </a:spcAft>
            </a:pPr>
            <a:r>
              <a:rPr lang="tr-TR" sz="2050" b="1" i="0">
                <a:solidFill>
                  <a:srgbClr val="2E7D32"/>
                </a:solidFill>
                <a:latin typeface="Calibri"/>
              </a:rPr>
              <a:t>•  </a:t>
            </a:r>
            <a:r>
              <a:rPr lang="tr-TR" sz="2050" b="0" i="0">
                <a:solidFill>
                  <a:srgbClr val="262626"/>
                </a:solidFill>
                <a:latin typeface="Calibri"/>
              </a:rPr>
              <a:t>Çayır ve mera: sığır ve koyun</a:t>
            </a:r>
          </a:p>
          <a:p>
            <a:pPr algn="l" marL="254836" indent="-254836">
              <a:spcBef>
                <a:spcPts val="0"/>
              </a:spcBef>
              <a:spcAft>
                <a:spcPts val="780"/>
              </a:spcAft>
            </a:pPr>
            <a:r>
              <a:rPr lang="tr-TR" sz="2050" b="1" i="0">
                <a:solidFill>
                  <a:srgbClr val="2E7D32"/>
                </a:solidFill>
                <a:latin typeface="Calibri"/>
              </a:rPr>
              <a:t>•  </a:t>
            </a:r>
            <a:r>
              <a:rPr lang="tr-TR" sz="2050" b="0" i="0">
                <a:solidFill>
                  <a:srgbClr val="262626"/>
                </a:solidFill>
                <a:latin typeface="Calibri"/>
              </a:rPr>
              <a:t>Bozkır: koyunculuk</a:t>
            </a:r>
          </a:p>
          <a:p>
            <a:pPr algn="l" marL="254836" indent="-254836">
              <a:spcBef>
                <a:spcPts val="0"/>
              </a:spcBef>
              <a:spcAft>
                <a:spcPts val="780"/>
              </a:spcAft>
            </a:pPr>
            <a:r>
              <a:rPr lang="tr-TR" sz="2050" b="1" i="0">
                <a:solidFill>
                  <a:srgbClr val="2E7D32"/>
                </a:solidFill>
                <a:latin typeface="Calibri"/>
              </a:rPr>
              <a:t>•  </a:t>
            </a:r>
            <a:r>
              <a:rPr lang="tr-TR" sz="2050" b="0" i="0">
                <a:solidFill>
                  <a:srgbClr val="262626"/>
                </a:solidFill>
                <a:latin typeface="Calibri"/>
              </a:rPr>
              <a:t>Yaylalar: mevsimlik yaylacılık</a:t>
            </a:r>
          </a:p>
          <a:p>
            <a:pPr algn="l" marL="254836" indent="-254836">
              <a:spcBef>
                <a:spcPts val="0"/>
              </a:spcBef>
              <a:spcAft>
                <a:spcPts val="780"/>
              </a:spcAft>
            </a:pPr>
            <a:r>
              <a:rPr lang="tr-TR" sz="2050" b="1" i="0">
                <a:solidFill>
                  <a:srgbClr val="2E7D32"/>
                </a:solidFill>
                <a:latin typeface="Calibri"/>
              </a:rPr>
              <a:t>•  </a:t>
            </a:r>
            <a:r>
              <a:rPr lang="tr-TR" sz="2050" b="0" i="0">
                <a:solidFill>
                  <a:srgbClr val="262626"/>
                </a:solidFill>
                <a:latin typeface="Calibri"/>
              </a:rPr>
              <a:t>Çalılık ve orman: keçi</a:t>
            </a:r>
          </a:p>
          <a:p>
            <a:pPr algn="l" marL="254836" indent="-254836">
              <a:spcBef>
                <a:spcPts val="0"/>
              </a:spcBef>
              <a:spcAft>
                <a:spcPts val="0"/>
              </a:spcAft>
            </a:pPr>
            <a:r>
              <a:rPr lang="tr-TR" sz="2050" b="1" i="0">
                <a:solidFill>
                  <a:srgbClr val="2E7D32"/>
                </a:solidFill>
                <a:latin typeface="Calibri"/>
              </a:rPr>
              <a:t>•  </a:t>
            </a:r>
            <a:r>
              <a:rPr lang="tr-TR" sz="2050" b="0" i="0">
                <a:solidFill>
                  <a:srgbClr val="262626"/>
                </a:solidFill>
                <a:latin typeface="Calibri"/>
              </a:rPr>
              <a:t>Çiçekli bitki örtüsü: arıcılık</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175</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39 / 166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7 · Enerji ve maden kaynakları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7. GRUP</a:t>
            </a:r>
          </a:p>
        </p:txBody>
      </p:sp>
      <p:sp>
        <p:nvSpPr>
          <p:cNvPr id="6" name="Rounded Rectangle 5"/>
          <p:cNvSpPr/>
          <p:nvPr/>
        </p:nvSpPr>
        <p:spPr>
          <a:xfrm>
            <a:off x="502920" y="1216152"/>
            <a:ext cx="11185855" cy="960120"/>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960120"/>
          </a:xfrm>
          <a:prstGeom prst="rect">
            <a:avLst/>
          </a:prstGeom>
          <a:solidFill>
            <a:srgbClr val="3E8E41"/>
          </a:solidFill>
          <a:ln>
            <a:noFill/>
          </a:ln>
          <a:effectLst/>
        </p:spPr>
        <p:txBody>
          <a:bodyPr rtlCol="0" anchor="ctr"/>
          <a:lstStyle/>
          <a:p/>
        </p:txBody>
      </p:sp>
      <p:sp>
        <p:nvSpPr>
          <p:cNvPr id="8" name="TextBox 7"/>
          <p:cNvSpPr txBox="1"/>
          <p:nvPr/>
        </p:nvSpPr>
        <p:spPr>
          <a:xfrm>
            <a:off x="777240" y="1216152"/>
            <a:ext cx="10774375" cy="96012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Sanayi tesislerindeki üretimde tarımsal ham maddelerin yanı sıra madenler de kullanılmaktadır.</a:t>
            </a:r>
          </a:p>
        </p:txBody>
      </p:sp>
      <p:sp>
        <p:nvSpPr>
          <p:cNvPr id="9" name="Rounded Rectangle 8"/>
          <p:cNvSpPr/>
          <p:nvPr/>
        </p:nvSpPr>
        <p:spPr>
          <a:xfrm>
            <a:off x="502920" y="2404872"/>
            <a:ext cx="3454298" cy="3200400"/>
          </a:xfrm>
          <a:prstGeom prst="roundRect">
            <a:avLst>
              <a:gd name="adj" fmla="val 8000"/>
            </a:avLst>
          </a:prstGeom>
          <a:solidFill>
            <a:srgbClr val="F0F0F0"/>
          </a:solidFill>
          <a:ln w="31750">
            <a:solidFill>
              <a:srgbClr val="4F4F4F"/>
            </a:solidFill>
          </a:ln>
          <a:effectLst/>
        </p:spPr>
        <p:txBody>
          <a:bodyPr rtlCol="0" anchor="ctr" wrap="square" lIns="182880" rIns="182880" tIns="73152" bIns="73152">
            <a:noAutofit/>
          </a:bodyPr>
          <a:lstStyle/>
          <a:p>
            <a:pPr algn="l">
              <a:spcBef>
                <a:spcPts val="0"/>
              </a:spcBef>
              <a:spcAft>
                <a:spcPts val="0"/>
              </a:spcAft>
            </a:pPr>
            <a:r>
              <a:rPr lang="tr-TR" sz="2100" b="0" i="0">
                <a:solidFill>
                  <a:srgbClr val="262626"/>
                </a:solidFill>
                <a:latin typeface="Calibri"/>
              </a:rPr>
              <a:t>Üretimin makinelere dayalı olduğu bu tür tesislerde enerjiye duyulan ihtiyaç her geçen gün artmaktadır.</a:t>
            </a:r>
          </a:p>
        </p:txBody>
      </p:sp>
      <p:cxnSp>
        <p:nvCxnSpPr>
          <p:cNvPr id="10" name="Connector 9"/>
          <p:cNvCxnSpPr/>
          <p:nvPr/>
        </p:nvCxnSpPr>
        <p:spPr>
          <a:xfrm>
            <a:off x="4012082" y="4005072"/>
            <a:ext cx="301752" cy="0"/>
          </a:xfrm>
          <a:prstGeom prst="line">
            <a:avLst/>
          </a:prstGeom>
          <a:ln w="63500">
            <a:solidFill>
              <a:srgbClr val="FCC021"/>
            </a:solidFill>
            <a:tailEnd type="triangle" w="med" len="med"/>
          </a:ln>
        </p:spPr>
      </p:cxnSp>
      <p:sp>
        <p:nvSpPr>
          <p:cNvPr id="11" name="Rounded Rectangle 10"/>
          <p:cNvSpPr/>
          <p:nvPr/>
        </p:nvSpPr>
        <p:spPr>
          <a:xfrm>
            <a:off x="4368698" y="2404872"/>
            <a:ext cx="3454298" cy="3200400"/>
          </a:xfrm>
          <a:prstGeom prst="roundRect">
            <a:avLst>
              <a:gd name="adj" fmla="val 8000"/>
            </a:avLst>
          </a:prstGeom>
          <a:solidFill>
            <a:srgbClr val="F0F0F0"/>
          </a:solidFill>
          <a:ln w="31750">
            <a:solidFill>
              <a:srgbClr val="3E8E41"/>
            </a:solidFill>
          </a:ln>
          <a:effectLst/>
        </p:spPr>
        <p:txBody>
          <a:bodyPr rtlCol="0" anchor="ctr" wrap="square" lIns="182880" rIns="182880" tIns="73152" bIns="73152">
            <a:noAutofit/>
          </a:bodyPr>
          <a:lstStyle/>
          <a:p>
            <a:pPr algn="l">
              <a:spcBef>
                <a:spcPts val="0"/>
              </a:spcBef>
              <a:spcAft>
                <a:spcPts val="0"/>
              </a:spcAft>
            </a:pPr>
            <a:r>
              <a:rPr lang="tr-TR" sz="2100" b="0" i="0">
                <a:solidFill>
                  <a:srgbClr val="262626"/>
                </a:solidFill>
                <a:latin typeface="Calibri"/>
              </a:rPr>
              <a:t>Bu durum, sanayi tesislerinin kuruluş yerinin belirlenmesinde enerji kaynaklarına yakınlığın önemini göstermektedir.</a:t>
            </a:r>
          </a:p>
        </p:txBody>
      </p:sp>
      <p:cxnSp>
        <p:nvCxnSpPr>
          <p:cNvPr id="12" name="Connector 11"/>
          <p:cNvCxnSpPr/>
          <p:nvPr/>
        </p:nvCxnSpPr>
        <p:spPr>
          <a:xfrm>
            <a:off x="7877860" y="4005072"/>
            <a:ext cx="301752" cy="0"/>
          </a:xfrm>
          <a:prstGeom prst="line">
            <a:avLst/>
          </a:prstGeom>
          <a:ln w="63500">
            <a:solidFill>
              <a:srgbClr val="FCC021"/>
            </a:solidFill>
            <a:tailEnd type="triangle" w="med" len="med"/>
          </a:ln>
        </p:spPr>
      </p:cxnSp>
      <p:sp>
        <p:nvSpPr>
          <p:cNvPr id="13" name="Rounded Rectangle 12"/>
          <p:cNvSpPr/>
          <p:nvPr/>
        </p:nvSpPr>
        <p:spPr>
          <a:xfrm>
            <a:off x="8234476" y="2404872"/>
            <a:ext cx="3454298" cy="3200400"/>
          </a:xfrm>
          <a:prstGeom prst="roundRect">
            <a:avLst>
              <a:gd name="adj" fmla="val 8000"/>
            </a:avLst>
          </a:prstGeom>
          <a:solidFill>
            <a:srgbClr val="F0F0F0"/>
          </a:solidFill>
          <a:ln w="31750">
            <a:solidFill>
              <a:srgbClr val="B8860B"/>
            </a:solidFill>
          </a:ln>
          <a:effectLst/>
        </p:spPr>
        <p:txBody>
          <a:bodyPr rtlCol="0" anchor="ctr" wrap="square" lIns="182880" rIns="182880" tIns="73152" bIns="73152">
            <a:noAutofit/>
          </a:bodyPr>
          <a:lstStyle/>
          <a:p>
            <a:pPr algn="l">
              <a:spcBef>
                <a:spcPts val="0"/>
              </a:spcBef>
              <a:spcAft>
                <a:spcPts val="0"/>
              </a:spcAft>
            </a:pPr>
            <a:r>
              <a:rPr lang="tr-TR" sz="2100" b="0" i="0">
                <a:solidFill>
                  <a:srgbClr val="262626"/>
                </a:solidFill>
                <a:latin typeface="Calibri"/>
              </a:rPr>
              <a:t>Demir-çelik sanayisine ait tesislerin genellikle taş kömürünün çıkarıldığı alanların yakınında kurulması bu duruma örnek olarak gösterilebilir.</a:t>
            </a:r>
          </a:p>
        </p:txBody>
      </p:sp>
      <p:sp>
        <p:nvSpPr>
          <p:cNvPr id="14" name="Rounded Rectangle 13"/>
          <p:cNvSpPr/>
          <p:nvPr/>
        </p:nvSpPr>
        <p:spPr>
          <a:xfrm>
            <a:off x="502920" y="5742432"/>
            <a:ext cx="11185855" cy="50292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262626"/>
                </a:solidFill>
                <a:latin typeface="Calibri"/>
              </a:rPr>
              <a:t>Taş kömürü (enerji kaynağı) → demir-çelik tesisi</a:t>
            </a:r>
          </a:p>
        </p:txBody>
      </p:sp>
      <p:sp>
        <p:nvSpPr>
          <p:cNvPr id="15" name="TextBox 1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6" name="Rounded Rectangle 1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175</a:t>
            </a:r>
          </a:p>
        </p:txBody>
      </p:sp>
      <p:sp>
        <p:nvSpPr>
          <p:cNvPr id="17" name="TextBox 1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40 / 166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8. grup: beş görsel, hangi faktör, hangi faaliyet?</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8. GRUP</a:t>
            </a:r>
          </a:p>
        </p:txBody>
      </p:sp>
      <p:pic>
        <p:nvPicPr>
          <p:cNvPr id="6" name="Picture 5" descr="h28_g51_ananas_s174.jpg"/>
          <p:cNvPicPr>
            <a:picLocks noChangeAspect="1"/>
          </p:cNvPicPr>
          <p:nvPr/>
        </p:nvPicPr>
        <p:blipFill>
          <a:blip r:embed="rId3"/>
          <a:srcRect t="17438" b="17438"/>
          <a:stretch>
            <a:fillRect/>
          </a:stretch>
        </p:blipFill>
        <p:spPr>
          <a:xfrm>
            <a:off x="502920" y="1216152"/>
            <a:ext cx="2105497" cy="777240"/>
          </a:xfrm>
          <a:prstGeom prst="rect">
            <a:avLst/>
          </a:prstGeom>
          <a:ln w="9525">
            <a:solidFill>
              <a:srgbClr val="D9D9D9"/>
            </a:solidFill>
          </a:ln>
        </p:spPr>
      </p:pic>
      <p:pic>
        <p:nvPicPr>
          <p:cNvPr id="7" name="Picture 6" descr="h28_g51_bugday_s174.jpg"/>
          <p:cNvPicPr>
            <a:picLocks noChangeAspect="1"/>
          </p:cNvPicPr>
          <p:nvPr/>
        </p:nvPicPr>
        <p:blipFill>
          <a:blip r:embed="rId4"/>
          <a:srcRect t="15615" b="15615"/>
          <a:stretch>
            <a:fillRect/>
          </a:stretch>
        </p:blipFill>
        <p:spPr>
          <a:xfrm>
            <a:off x="502920" y="2039112"/>
            <a:ext cx="2105497" cy="777240"/>
          </a:xfrm>
          <a:prstGeom prst="rect">
            <a:avLst/>
          </a:prstGeom>
          <a:ln w="9525">
            <a:solidFill>
              <a:srgbClr val="D9D9D9"/>
            </a:solidFill>
          </a:ln>
        </p:spPr>
      </p:pic>
      <p:sp>
        <p:nvSpPr>
          <p:cNvPr id="8" name="Rounded Rectangle 7"/>
          <p:cNvSpPr/>
          <p:nvPr/>
        </p:nvSpPr>
        <p:spPr>
          <a:xfrm>
            <a:off x="502920" y="2871216"/>
            <a:ext cx="2105497" cy="411480"/>
          </a:xfrm>
          <a:prstGeom prst="roundRect">
            <a:avLst>
              <a:gd name="adj" fmla="val 20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1400" b="1" i="0">
                <a:solidFill>
                  <a:srgbClr val="FFFFFF"/>
                </a:solidFill>
                <a:latin typeface="Calibri"/>
              </a:rPr>
              <a:t>Görsel 5.1</a:t>
            </a:r>
          </a:p>
        </p:txBody>
      </p:sp>
      <p:sp>
        <p:nvSpPr>
          <p:cNvPr id="9" name="Rounded Rectangle 8"/>
          <p:cNvSpPr/>
          <p:nvPr/>
        </p:nvSpPr>
        <p:spPr>
          <a:xfrm>
            <a:off x="502920" y="3383280"/>
            <a:ext cx="2105497" cy="1399032"/>
          </a:xfrm>
          <a:prstGeom prst="roundRect">
            <a:avLst>
              <a:gd name="adj" fmla="val 8000"/>
            </a:avLst>
          </a:prstGeom>
          <a:solidFill>
            <a:srgbClr val="FFFFFF"/>
          </a:solidFill>
          <a:ln w="12700">
            <a:solidFill>
              <a:srgbClr val="D9D9D9"/>
            </a:solidFill>
          </a:ln>
          <a:effectLst/>
        </p:spPr>
        <p:txBody>
          <a:bodyPr rtlCol="0" anchor="ctr" wrap="square" tIns="73152" bIns="73152">
            <a:noAutofit/>
          </a:bodyPr>
          <a:lstStyle/>
          <a:p>
            <a:pPr algn="l">
              <a:spcBef>
                <a:spcPts val="0"/>
              </a:spcBef>
              <a:spcAft>
                <a:spcPts val="200"/>
              </a:spcAft>
            </a:pPr>
            <a:r>
              <a:rPr lang="tr-TR" sz="1400" b="1" i="0">
                <a:solidFill>
                  <a:srgbClr val="3E8E41"/>
                </a:solidFill>
                <a:latin typeface="Calibri"/>
              </a:rPr>
              <a:t>Faktör</a:t>
            </a:r>
          </a:p>
          <a:p>
            <a:pPr algn="l">
              <a:spcBef>
                <a:spcPts val="0"/>
              </a:spcBef>
              <a:spcAft>
                <a:spcPts val="0"/>
              </a:spcAft>
            </a:pPr>
            <a:r>
              <a:rPr lang="tr-TR" sz="1700" b="0" i="0">
                <a:solidFill>
                  <a:srgbClr val="262626"/>
                </a:solidFill>
                <a:latin typeface="Calibri"/>
              </a:rPr>
              <a:t>……………</a:t>
            </a:r>
          </a:p>
        </p:txBody>
      </p:sp>
      <p:sp>
        <p:nvSpPr>
          <p:cNvPr id="10" name="Rounded Rectangle 9"/>
          <p:cNvSpPr/>
          <p:nvPr/>
        </p:nvSpPr>
        <p:spPr>
          <a:xfrm>
            <a:off x="502920" y="4892040"/>
            <a:ext cx="2105497" cy="1399032"/>
          </a:xfrm>
          <a:prstGeom prst="roundRect">
            <a:avLst>
              <a:gd name="adj" fmla="val 8000"/>
            </a:avLst>
          </a:prstGeom>
          <a:solidFill>
            <a:srgbClr val="FFFFFF"/>
          </a:solidFill>
          <a:ln w="12700">
            <a:solidFill>
              <a:srgbClr val="D9D9D9"/>
            </a:solidFill>
          </a:ln>
          <a:effectLst/>
        </p:spPr>
        <p:txBody>
          <a:bodyPr rtlCol="0" anchor="ctr" wrap="square" tIns="73152" bIns="73152">
            <a:noAutofit/>
          </a:bodyPr>
          <a:lstStyle/>
          <a:p>
            <a:pPr algn="l">
              <a:spcBef>
                <a:spcPts val="0"/>
              </a:spcBef>
              <a:spcAft>
                <a:spcPts val="200"/>
              </a:spcAft>
            </a:pPr>
            <a:r>
              <a:rPr lang="tr-TR" sz="1400" b="1" i="0">
                <a:solidFill>
                  <a:srgbClr val="B85C12"/>
                </a:solidFill>
                <a:latin typeface="Calibri"/>
              </a:rPr>
              <a:t>Faaliyet</a:t>
            </a:r>
          </a:p>
          <a:p>
            <a:pPr algn="l">
              <a:spcBef>
                <a:spcPts val="0"/>
              </a:spcBef>
              <a:spcAft>
                <a:spcPts val="0"/>
              </a:spcAft>
            </a:pPr>
            <a:r>
              <a:rPr lang="tr-TR" sz="1700" b="0" i="0">
                <a:solidFill>
                  <a:srgbClr val="262626"/>
                </a:solidFill>
                <a:latin typeface="Calibri"/>
              </a:rPr>
              <a:t>……………</a:t>
            </a:r>
          </a:p>
        </p:txBody>
      </p:sp>
      <p:pic>
        <p:nvPicPr>
          <p:cNvPr id="11" name="Picture 10" descr="h28_g52_liman_s175.jpg"/>
          <p:cNvPicPr>
            <a:picLocks noChangeAspect="1"/>
          </p:cNvPicPr>
          <p:nvPr/>
        </p:nvPicPr>
        <p:blipFill>
          <a:blip r:embed="rId5"/>
          <a:srcRect l="14990" r="14990"/>
          <a:stretch>
            <a:fillRect/>
          </a:stretch>
        </p:blipFill>
        <p:spPr>
          <a:xfrm>
            <a:off x="2773009" y="1216152"/>
            <a:ext cx="2105497" cy="1600200"/>
          </a:xfrm>
          <a:prstGeom prst="rect">
            <a:avLst/>
          </a:prstGeom>
          <a:ln w="9525">
            <a:solidFill>
              <a:srgbClr val="D9D9D9"/>
            </a:solidFill>
          </a:ln>
        </p:spPr>
      </p:pic>
      <p:sp>
        <p:nvSpPr>
          <p:cNvPr id="12" name="Rounded Rectangle 11"/>
          <p:cNvSpPr/>
          <p:nvPr/>
        </p:nvSpPr>
        <p:spPr>
          <a:xfrm>
            <a:off x="2773009" y="2871216"/>
            <a:ext cx="2105497" cy="411480"/>
          </a:xfrm>
          <a:prstGeom prst="roundRect">
            <a:avLst>
              <a:gd name="adj" fmla="val 20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1400" b="1" i="0">
                <a:solidFill>
                  <a:srgbClr val="FFFFFF"/>
                </a:solidFill>
                <a:latin typeface="Calibri"/>
              </a:rPr>
              <a:t>Görsel 5.2</a:t>
            </a:r>
          </a:p>
        </p:txBody>
      </p:sp>
      <p:sp>
        <p:nvSpPr>
          <p:cNvPr id="13" name="Rounded Rectangle 12"/>
          <p:cNvSpPr/>
          <p:nvPr/>
        </p:nvSpPr>
        <p:spPr>
          <a:xfrm>
            <a:off x="2773009" y="3383280"/>
            <a:ext cx="2105497" cy="1399032"/>
          </a:xfrm>
          <a:prstGeom prst="roundRect">
            <a:avLst>
              <a:gd name="adj" fmla="val 8000"/>
            </a:avLst>
          </a:prstGeom>
          <a:solidFill>
            <a:srgbClr val="FFFFFF"/>
          </a:solidFill>
          <a:ln w="12700">
            <a:solidFill>
              <a:srgbClr val="D9D9D9"/>
            </a:solidFill>
          </a:ln>
          <a:effectLst/>
        </p:spPr>
        <p:txBody>
          <a:bodyPr rtlCol="0" anchor="ctr" wrap="square" tIns="73152" bIns="73152">
            <a:noAutofit/>
          </a:bodyPr>
          <a:lstStyle/>
          <a:p>
            <a:pPr algn="l">
              <a:spcBef>
                <a:spcPts val="0"/>
              </a:spcBef>
              <a:spcAft>
                <a:spcPts val="200"/>
              </a:spcAft>
            </a:pPr>
            <a:r>
              <a:rPr lang="tr-TR" sz="1400" b="1" i="0">
                <a:solidFill>
                  <a:srgbClr val="3E8E41"/>
                </a:solidFill>
                <a:latin typeface="Calibri"/>
              </a:rPr>
              <a:t>Faktör</a:t>
            </a:r>
          </a:p>
          <a:p>
            <a:pPr algn="l">
              <a:spcBef>
                <a:spcPts val="0"/>
              </a:spcBef>
              <a:spcAft>
                <a:spcPts val="0"/>
              </a:spcAft>
            </a:pPr>
            <a:r>
              <a:rPr lang="tr-TR" sz="1700" b="0" i="0">
                <a:solidFill>
                  <a:srgbClr val="262626"/>
                </a:solidFill>
                <a:latin typeface="Calibri"/>
              </a:rPr>
              <a:t>……………</a:t>
            </a:r>
          </a:p>
        </p:txBody>
      </p:sp>
      <p:sp>
        <p:nvSpPr>
          <p:cNvPr id="14" name="Rounded Rectangle 13"/>
          <p:cNvSpPr/>
          <p:nvPr/>
        </p:nvSpPr>
        <p:spPr>
          <a:xfrm>
            <a:off x="2773009" y="4892040"/>
            <a:ext cx="2105497" cy="1399032"/>
          </a:xfrm>
          <a:prstGeom prst="roundRect">
            <a:avLst>
              <a:gd name="adj" fmla="val 8000"/>
            </a:avLst>
          </a:prstGeom>
          <a:solidFill>
            <a:srgbClr val="FFFFFF"/>
          </a:solidFill>
          <a:ln w="12700">
            <a:solidFill>
              <a:srgbClr val="D9D9D9"/>
            </a:solidFill>
          </a:ln>
          <a:effectLst/>
        </p:spPr>
        <p:txBody>
          <a:bodyPr rtlCol="0" anchor="ctr" wrap="square" tIns="73152" bIns="73152">
            <a:noAutofit/>
          </a:bodyPr>
          <a:lstStyle/>
          <a:p>
            <a:pPr algn="l">
              <a:spcBef>
                <a:spcPts val="0"/>
              </a:spcBef>
              <a:spcAft>
                <a:spcPts val="200"/>
              </a:spcAft>
            </a:pPr>
            <a:r>
              <a:rPr lang="tr-TR" sz="1400" b="1" i="0">
                <a:solidFill>
                  <a:srgbClr val="B85C12"/>
                </a:solidFill>
                <a:latin typeface="Calibri"/>
              </a:rPr>
              <a:t>Faaliyet</a:t>
            </a:r>
          </a:p>
          <a:p>
            <a:pPr algn="l">
              <a:spcBef>
                <a:spcPts val="0"/>
              </a:spcBef>
              <a:spcAft>
                <a:spcPts val="0"/>
              </a:spcAft>
            </a:pPr>
            <a:r>
              <a:rPr lang="tr-TR" sz="1700" b="0" i="0">
                <a:solidFill>
                  <a:srgbClr val="262626"/>
                </a:solidFill>
                <a:latin typeface="Calibri"/>
              </a:rPr>
              <a:t>……………</a:t>
            </a:r>
          </a:p>
        </p:txBody>
      </p:sp>
      <p:pic>
        <p:nvPicPr>
          <p:cNvPr id="15" name="Picture 14" descr="h28_g53_selale_s175.jpg"/>
          <p:cNvPicPr>
            <a:picLocks noChangeAspect="1"/>
          </p:cNvPicPr>
          <p:nvPr/>
        </p:nvPicPr>
        <p:blipFill>
          <a:blip r:embed="rId6"/>
          <a:srcRect l="14835" r="14835"/>
          <a:stretch>
            <a:fillRect/>
          </a:stretch>
        </p:blipFill>
        <p:spPr>
          <a:xfrm>
            <a:off x="5043098" y="1216152"/>
            <a:ext cx="2105497" cy="1600200"/>
          </a:xfrm>
          <a:prstGeom prst="rect">
            <a:avLst/>
          </a:prstGeom>
          <a:ln w="9525">
            <a:solidFill>
              <a:srgbClr val="D9D9D9"/>
            </a:solidFill>
          </a:ln>
        </p:spPr>
      </p:pic>
      <p:sp>
        <p:nvSpPr>
          <p:cNvPr id="16" name="Rounded Rectangle 15"/>
          <p:cNvSpPr/>
          <p:nvPr/>
        </p:nvSpPr>
        <p:spPr>
          <a:xfrm>
            <a:off x="5043098" y="2871216"/>
            <a:ext cx="2105497" cy="411480"/>
          </a:xfrm>
          <a:prstGeom prst="roundRect">
            <a:avLst>
              <a:gd name="adj" fmla="val 20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1400" b="1" i="0">
                <a:solidFill>
                  <a:srgbClr val="FFFFFF"/>
                </a:solidFill>
                <a:latin typeface="Calibri"/>
              </a:rPr>
              <a:t>Görsel 5.3</a:t>
            </a:r>
          </a:p>
        </p:txBody>
      </p:sp>
      <p:sp>
        <p:nvSpPr>
          <p:cNvPr id="17" name="Rounded Rectangle 16"/>
          <p:cNvSpPr/>
          <p:nvPr/>
        </p:nvSpPr>
        <p:spPr>
          <a:xfrm>
            <a:off x="5043098" y="3383280"/>
            <a:ext cx="2105497" cy="1399032"/>
          </a:xfrm>
          <a:prstGeom prst="roundRect">
            <a:avLst>
              <a:gd name="adj" fmla="val 8000"/>
            </a:avLst>
          </a:prstGeom>
          <a:solidFill>
            <a:srgbClr val="FFFFFF"/>
          </a:solidFill>
          <a:ln w="12700">
            <a:solidFill>
              <a:srgbClr val="D9D9D9"/>
            </a:solidFill>
          </a:ln>
          <a:effectLst/>
        </p:spPr>
        <p:txBody>
          <a:bodyPr rtlCol="0" anchor="ctr" wrap="square" tIns="73152" bIns="73152">
            <a:noAutofit/>
          </a:bodyPr>
          <a:lstStyle/>
          <a:p>
            <a:pPr algn="l">
              <a:spcBef>
                <a:spcPts val="0"/>
              </a:spcBef>
              <a:spcAft>
                <a:spcPts val="200"/>
              </a:spcAft>
            </a:pPr>
            <a:r>
              <a:rPr lang="tr-TR" sz="1400" b="1" i="0">
                <a:solidFill>
                  <a:srgbClr val="3E8E41"/>
                </a:solidFill>
                <a:latin typeface="Calibri"/>
              </a:rPr>
              <a:t>Faktör</a:t>
            </a:r>
          </a:p>
          <a:p>
            <a:pPr algn="l">
              <a:spcBef>
                <a:spcPts val="0"/>
              </a:spcBef>
              <a:spcAft>
                <a:spcPts val="0"/>
              </a:spcAft>
            </a:pPr>
            <a:r>
              <a:rPr lang="tr-TR" sz="1700" b="0" i="0">
                <a:solidFill>
                  <a:srgbClr val="262626"/>
                </a:solidFill>
                <a:latin typeface="Calibri"/>
              </a:rPr>
              <a:t>……………</a:t>
            </a:r>
          </a:p>
        </p:txBody>
      </p:sp>
      <p:sp>
        <p:nvSpPr>
          <p:cNvPr id="18" name="Rounded Rectangle 17"/>
          <p:cNvSpPr/>
          <p:nvPr/>
        </p:nvSpPr>
        <p:spPr>
          <a:xfrm>
            <a:off x="5043098" y="4892040"/>
            <a:ext cx="2105497" cy="1399032"/>
          </a:xfrm>
          <a:prstGeom prst="roundRect">
            <a:avLst>
              <a:gd name="adj" fmla="val 8000"/>
            </a:avLst>
          </a:prstGeom>
          <a:solidFill>
            <a:srgbClr val="FFFFFF"/>
          </a:solidFill>
          <a:ln w="12700">
            <a:solidFill>
              <a:srgbClr val="D9D9D9"/>
            </a:solidFill>
          </a:ln>
          <a:effectLst/>
        </p:spPr>
        <p:txBody>
          <a:bodyPr rtlCol="0" anchor="ctr" wrap="square" tIns="73152" bIns="73152">
            <a:noAutofit/>
          </a:bodyPr>
          <a:lstStyle/>
          <a:p>
            <a:pPr algn="l">
              <a:spcBef>
                <a:spcPts val="0"/>
              </a:spcBef>
              <a:spcAft>
                <a:spcPts val="200"/>
              </a:spcAft>
            </a:pPr>
            <a:r>
              <a:rPr lang="tr-TR" sz="1400" b="1" i="0">
                <a:solidFill>
                  <a:srgbClr val="B85C12"/>
                </a:solidFill>
                <a:latin typeface="Calibri"/>
              </a:rPr>
              <a:t>Faaliyet</a:t>
            </a:r>
          </a:p>
          <a:p>
            <a:pPr algn="l">
              <a:spcBef>
                <a:spcPts val="0"/>
              </a:spcBef>
              <a:spcAft>
                <a:spcPts val="0"/>
              </a:spcAft>
            </a:pPr>
            <a:r>
              <a:rPr lang="tr-TR" sz="1700" b="0" i="0">
                <a:solidFill>
                  <a:srgbClr val="262626"/>
                </a:solidFill>
                <a:latin typeface="Calibri"/>
              </a:rPr>
              <a:t>……………</a:t>
            </a:r>
          </a:p>
        </p:txBody>
      </p:sp>
      <p:pic>
        <p:nvPicPr>
          <p:cNvPr id="19" name="Picture 18" descr="h28_g54_seramik_s175.jpg"/>
          <p:cNvPicPr>
            <a:picLocks noChangeAspect="1"/>
          </p:cNvPicPr>
          <p:nvPr/>
        </p:nvPicPr>
        <p:blipFill>
          <a:blip r:embed="rId7"/>
          <a:srcRect l="10565" r="10565"/>
          <a:stretch>
            <a:fillRect/>
          </a:stretch>
        </p:blipFill>
        <p:spPr>
          <a:xfrm>
            <a:off x="7313187" y="1216152"/>
            <a:ext cx="2105497" cy="1600200"/>
          </a:xfrm>
          <a:prstGeom prst="rect">
            <a:avLst/>
          </a:prstGeom>
          <a:ln w="9525">
            <a:solidFill>
              <a:srgbClr val="D9D9D9"/>
            </a:solidFill>
          </a:ln>
        </p:spPr>
      </p:pic>
      <p:sp>
        <p:nvSpPr>
          <p:cNvPr id="20" name="Rounded Rectangle 19"/>
          <p:cNvSpPr/>
          <p:nvPr/>
        </p:nvSpPr>
        <p:spPr>
          <a:xfrm>
            <a:off x="7313187" y="2871216"/>
            <a:ext cx="2105497" cy="411480"/>
          </a:xfrm>
          <a:prstGeom prst="roundRect">
            <a:avLst>
              <a:gd name="adj" fmla="val 20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1400" b="1" i="0">
                <a:solidFill>
                  <a:srgbClr val="FFFFFF"/>
                </a:solidFill>
                <a:latin typeface="Calibri"/>
              </a:rPr>
              <a:t>Görsel 5.4</a:t>
            </a:r>
          </a:p>
        </p:txBody>
      </p:sp>
      <p:sp>
        <p:nvSpPr>
          <p:cNvPr id="21" name="Rounded Rectangle 20"/>
          <p:cNvSpPr/>
          <p:nvPr/>
        </p:nvSpPr>
        <p:spPr>
          <a:xfrm>
            <a:off x="7313187" y="3383280"/>
            <a:ext cx="2105497" cy="1399032"/>
          </a:xfrm>
          <a:prstGeom prst="roundRect">
            <a:avLst>
              <a:gd name="adj" fmla="val 8000"/>
            </a:avLst>
          </a:prstGeom>
          <a:solidFill>
            <a:srgbClr val="FFFFFF"/>
          </a:solidFill>
          <a:ln w="12700">
            <a:solidFill>
              <a:srgbClr val="D9D9D9"/>
            </a:solidFill>
          </a:ln>
          <a:effectLst/>
        </p:spPr>
        <p:txBody>
          <a:bodyPr rtlCol="0" anchor="ctr" wrap="square" tIns="73152" bIns="73152">
            <a:noAutofit/>
          </a:bodyPr>
          <a:lstStyle/>
          <a:p>
            <a:pPr algn="l">
              <a:spcBef>
                <a:spcPts val="0"/>
              </a:spcBef>
              <a:spcAft>
                <a:spcPts val="200"/>
              </a:spcAft>
            </a:pPr>
            <a:r>
              <a:rPr lang="tr-TR" sz="1400" b="1" i="0">
                <a:solidFill>
                  <a:srgbClr val="3E8E41"/>
                </a:solidFill>
                <a:latin typeface="Calibri"/>
              </a:rPr>
              <a:t>Faktör</a:t>
            </a:r>
          </a:p>
          <a:p>
            <a:pPr algn="l">
              <a:spcBef>
                <a:spcPts val="0"/>
              </a:spcBef>
              <a:spcAft>
                <a:spcPts val="0"/>
              </a:spcAft>
            </a:pPr>
            <a:r>
              <a:rPr lang="tr-TR" sz="1700" b="0" i="0">
                <a:solidFill>
                  <a:srgbClr val="262626"/>
                </a:solidFill>
                <a:latin typeface="Calibri"/>
              </a:rPr>
              <a:t>……………</a:t>
            </a:r>
          </a:p>
        </p:txBody>
      </p:sp>
      <p:sp>
        <p:nvSpPr>
          <p:cNvPr id="22" name="Rounded Rectangle 21"/>
          <p:cNvSpPr/>
          <p:nvPr/>
        </p:nvSpPr>
        <p:spPr>
          <a:xfrm>
            <a:off x="7313187" y="4892040"/>
            <a:ext cx="2105497" cy="1399032"/>
          </a:xfrm>
          <a:prstGeom prst="roundRect">
            <a:avLst>
              <a:gd name="adj" fmla="val 8000"/>
            </a:avLst>
          </a:prstGeom>
          <a:solidFill>
            <a:srgbClr val="FFFFFF"/>
          </a:solidFill>
          <a:ln w="12700">
            <a:solidFill>
              <a:srgbClr val="D9D9D9"/>
            </a:solidFill>
          </a:ln>
          <a:effectLst/>
        </p:spPr>
        <p:txBody>
          <a:bodyPr rtlCol="0" anchor="ctr" wrap="square" tIns="73152" bIns="73152">
            <a:noAutofit/>
          </a:bodyPr>
          <a:lstStyle/>
          <a:p>
            <a:pPr algn="l">
              <a:spcBef>
                <a:spcPts val="0"/>
              </a:spcBef>
              <a:spcAft>
                <a:spcPts val="200"/>
              </a:spcAft>
            </a:pPr>
            <a:r>
              <a:rPr lang="tr-TR" sz="1400" b="1" i="0">
                <a:solidFill>
                  <a:srgbClr val="B85C12"/>
                </a:solidFill>
                <a:latin typeface="Calibri"/>
              </a:rPr>
              <a:t>Faaliyet</a:t>
            </a:r>
          </a:p>
          <a:p>
            <a:pPr algn="l">
              <a:spcBef>
                <a:spcPts val="0"/>
              </a:spcBef>
              <a:spcAft>
                <a:spcPts val="0"/>
              </a:spcAft>
            </a:pPr>
            <a:r>
              <a:rPr lang="tr-TR" sz="1700" b="0" i="0">
                <a:solidFill>
                  <a:srgbClr val="262626"/>
                </a:solidFill>
                <a:latin typeface="Calibri"/>
              </a:rPr>
              <a:t>……………</a:t>
            </a:r>
          </a:p>
        </p:txBody>
      </p:sp>
      <p:pic>
        <p:nvPicPr>
          <p:cNvPr id="23" name="Picture 22" descr="h28_g55_kagit_s175.jpg"/>
          <p:cNvPicPr>
            <a:picLocks noChangeAspect="1"/>
          </p:cNvPicPr>
          <p:nvPr/>
        </p:nvPicPr>
        <p:blipFill>
          <a:blip r:embed="rId8"/>
          <a:srcRect l="10702" r="10702"/>
          <a:stretch>
            <a:fillRect/>
          </a:stretch>
        </p:blipFill>
        <p:spPr>
          <a:xfrm>
            <a:off x="9583276" y="1216152"/>
            <a:ext cx="2105497" cy="1600200"/>
          </a:xfrm>
          <a:prstGeom prst="rect">
            <a:avLst/>
          </a:prstGeom>
          <a:ln w="9525">
            <a:solidFill>
              <a:srgbClr val="D9D9D9"/>
            </a:solidFill>
          </a:ln>
        </p:spPr>
      </p:pic>
      <p:sp>
        <p:nvSpPr>
          <p:cNvPr id="24" name="Rounded Rectangle 23"/>
          <p:cNvSpPr/>
          <p:nvPr/>
        </p:nvSpPr>
        <p:spPr>
          <a:xfrm>
            <a:off x="9583276" y="2871216"/>
            <a:ext cx="2105497" cy="411480"/>
          </a:xfrm>
          <a:prstGeom prst="roundRect">
            <a:avLst>
              <a:gd name="adj" fmla="val 20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1400" b="1" i="0">
                <a:solidFill>
                  <a:srgbClr val="FFFFFF"/>
                </a:solidFill>
                <a:latin typeface="Calibri"/>
              </a:rPr>
              <a:t>Görsel 5.5</a:t>
            </a:r>
          </a:p>
        </p:txBody>
      </p:sp>
      <p:sp>
        <p:nvSpPr>
          <p:cNvPr id="25" name="Rounded Rectangle 24"/>
          <p:cNvSpPr/>
          <p:nvPr/>
        </p:nvSpPr>
        <p:spPr>
          <a:xfrm>
            <a:off x="9583276" y="3383280"/>
            <a:ext cx="2105497" cy="1399032"/>
          </a:xfrm>
          <a:prstGeom prst="roundRect">
            <a:avLst>
              <a:gd name="adj" fmla="val 8000"/>
            </a:avLst>
          </a:prstGeom>
          <a:solidFill>
            <a:srgbClr val="FFFFFF"/>
          </a:solidFill>
          <a:ln w="12700">
            <a:solidFill>
              <a:srgbClr val="D9D9D9"/>
            </a:solidFill>
          </a:ln>
          <a:effectLst/>
        </p:spPr>
        <p:txBody>
          <a:bodyPr rtlCol="0" anchor="ctr" wrap="square" tIns="73152" bIns="73152">
            <a:noAutofit/>
          </a:bodyPr>
          <a:lstStyle/>
          <a:p>
            <a:pPr algn="l">
              <a:spcBef>
                <a:spcPts val="0"/>
              </a:spcBef>
              <a:spcAft>
                <a:spcPts val="200"/>
              </a:spcAft>
            </a:pPr>
            <a:r>
              <a:rPr lang="tr-TR" sz="1400" b="1" i="0">
                <a:solidFill>
                  <a:srgbClr val="3E8E41"/>
                </a:solidFill>
                <a:latin typeface="Calibri"/>
              </a:rPr>
              <a:t>Faktör</a:t>
            </a:r>
          </a:p>
          <a:p>
            <a:pPr algn="l">
              <a:spcBef>
                <a:spcPts val="0"/>
              </a:spcBef>
              <a:spcAft>
                <a:spcPts val="0"/>
              </a:spcAft>
            </a:pPr>
            <a:r>
              <a:rPr lang="tr-TR" sz="1700" b="0" i="0">
                <a:solidFill>
                  <a:srgbClr val="262626"/>
                </a:solidFill>
                <a:latin typeface="Calibri"/>
              </a:rPr>
              <a:t>……………</a:t>
            </a:r>
          </a:p>
        </p:txBody>
      </p:sp>
      <p:sp>
        <p:nvSpPr>
          <p:cNvPr id="26" name="Rounded Rectangle 25"/>
          <p:cNvSpPr/>
          <p:nvPr/>
        </p:nvSpPr>
        <p:spPr>
          <a:xfrm>
            <a:off x="9583276" y="4892040"/>
            <a:ext cx="2105497" cy="1399032"/>
          </a:xfrm>
          <a:prstGeom prst="roundRect">
            <a:avLst>
              <a:gd name="adj" fmla="val 8000"/>
            </a:avLst>
          </a:prstGeom>
          <a:solidFill>
            <a:srgbClr val="FFFFFF"/>
          </a:solidFill>
          <a:ln w="12700">
            <a:solidFill>
              <a:srgbClr val="D9D9D9"/>
            </a:solidFill>
          </a:ln>
          <a:effectLst/>
        </p:spPr>
        <p:txBody>
          <a:bodyPr rtlCol="0" anchor="ctr" wrap="square" tIns="73152" bIns="73152">
            <a:noAutofit/>
          </a:bodyPr>
          <a:lstStyle/>
          <a:p>
            <a:pPr algn="l">
              <a:spcBef>
                <a:spcPts val="0"/>
              </a:spcBef>
              <a:spcAft>
                <a:spcPts val="200"/>
              </a:spcAft>
            </a:pPr>
            <a:r>
              <a:rPr lang="tr-TR" sz="1400" b="1" i="0">
                <a:solidFill>
                  <a:srgbClr val="B85C12"/>
                </a:solidFill>
                <a:latin typeface="Calibri"/>
              </a:rPr>
              <a:t>Faaliyet</a:t>
            </a:r>
          </a:p>
          <a:p>
            <a:pPr algn="l">
              <a:spcBef>
                <a:spcPts val="0"/>
              </a:spcBef>
              <a:spcAft>
                <a:spcPts val="0"/>
              </a:spcAft>
            </a:pPr>
            <a:r>
              <a:rPr lang="tr-TR" sz="1700" b="0" i="0">
                <a:solidFill>
                  <a:srgbClr val="262626"/>
                </a:solidFill>
                <a:latin typeface="Calibri"/>
              </a:rPr>
              <a:t>……………</a:t>
            </a:r>
          </a:p>
        </p:txBody>
      </p:sp>
      <p:sp>
        <p:nvSpPr>
          <p:cNvPr id="27" name="TextBox 2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8" name="Rounded Rectangle 2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174-175</a:t>
            </a:r>
          </a:p>
        </p:txBody>
      </p:sp>
      <p:sp>
        <p:nvSpPr>
          <p:cNvPr id="29" name="TextBox 2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41 / 166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550" b="1" i="0">
                <a:solidFill>
                  <a:srgbClr val="FFFFFF"/>
                </a:solidFill>
                <a:latin typeface="Calibri"/>
              </a:rPr>
              <a:t>8. grup: beş görsel, hangi faktör, hangi faaliyet?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pic>
        <p:nvPicPr>
          <p:cNvPr id="6" name="Picture 5" descr="h28_g51_ananas_s174.jpg"/>
          <p:cNvPicPr>
            <a:picLocks noChangeAspect="1"/>
          </p:cNvPicPr>
          <p:nvPr/>
        </p:nvPicPr>
        <p:blipFill>
          <a:blip r:embed="rId3"/>
          <a:srcRect t="17438" b="17438"/>
          <a:stretch>
            <a:fillRect/>
          </a:stretch>
        </p:blipFill>
        <p:spPr>
          <a:xfrm>
            <a:off x="502920" y="1216152"/>
            <a:ext cx="2105497" cy="777240"/>
          </a:xfrm>
          <a:prstGeom prst="rect">
            <a:avLst/>
          </a:prstGeom>
          <a:ln w="9525">
            <a:solidFill>
              <a:srgbClr val="D9D9D9"/>
            </a:solidFill>
          </a:ln>
        </p:spPr>
      </p:pic>
      <p:pic>
        <p:nvPicPr>
          <p:cNvPr id="7" name="Picture 6" descr="h28_g51_bugday_s174.jpg"/>
          <p:cNvPicPr>
            <a:picLocks noChangeAspect="1"/>
          </p:cNvPicPr>
          <p:nvPr/>
        </p:nvPicPr>
        <p:blipFill>
          <a:blip r:embed="rId4"/>
          <a:srcRect t="15615" b="15615"/>
          <a:stretch>
            <a:fillRect/>
          </a:stretch>
        </p:blipFill>
        <p:spPr>
          <a:xfrm>
            <a:off x="502920" y="2039112"/>
            <a:ext cx="2105497" cy="777240"/>
          </a:xfrm>
          <a:prstGeom prst="rect">
            <a:avLst/>
          </a:prstGeom>
          <a:ln w="9525">
            <a:solidFill>
              <a:srgbClr val="D9D9D9"/>
            </a:solidFill>
          </a:ln>
        </p:spPr>
      </p:pic>
      <p:sp>
        <p:nvSpPr>
          <p:cNvPr id="8" name="Rounded Rectangle 7"/>
          <p:cNvSpPr/>
          <p:nvPr/>
        </p:nvSpPr>
        <p:spPr>
          <a:xfrm>
            <a:off x="502920" y="2871216"/>
            <a:ext cx="2105497" cy="411480"/>
          </a:xfrm>
          <a:prstGeom prst="roundRect">
            <a:avLst>
              <a:gd name="adj" fmla="val 20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1400" b="1" i="0">
                <a:solidFill>
                  <a:srgbClr val="FFFFFF"/>
                </a:solidFill>
                <a:latin typeface="Calibri"/>
              </a:rPr>
              <a:t>Görsel 5.1</a:t>
            </a:r>
          </a:p>
        </p:txBody>
      </p:sp>
      <p:sp>
        <p:nvSpPr>
          <p:cNvPr id="9" name="Rounded Rectangle 8"/>
          <p:cNvSpPr/>
          <p:nvPr/>
        </p:nvSpPr>
        <p:spPr>
          <a:xfrm>
            <a:off x="502920" y="3383280"/>
            <a:ext cx="2105497" cy="1399032"/>
          </a:xfrm>
          <a:prstGeom prst="roundRect">
            <a:avLst>
              <a:gd name="adj" fmla="val 8000"/>
            </a:avLst>
          </a:prstGeom>
          <a:solidFill>
            <a:srgbClr val="E3F1E4"/>
          </a:solidFill>
          <a:ln w="12700">
            <a:solidFill>
              <a:srgbClr val="2E7D32"/>
            </a:solidFill>
          </a:ln>
          <a:effectLst/>
        </p:spPr>
        <p:txBody>
          <a:bodyPr rtlCol="0" anchor="ctr" wrap="square" tIns="73152" bIns="73152">
            <a:noAutofit/>
          </a:bodyPr>
          <a:lstStyle/>
          <a:p>
            <a:pPr algn="l">
              <a:spcBef>
                <a:spcPts val="0"/>
              </a:spcBef>
              <a:spcAft>
                <a:spcPts val="200"/>
              </a:spcAft>
            </a:pPr>
            <a:r>
              <a:rPr lang="tr-TR" sz="1400" b="1" i="0">
                <a:solidFill>
                  <a:srgbClr val="3E8E41"/>
                </a:solidFill>
                <a:latin typeface="Calibri"/>
              </a:rPr>
              <a:t>Faktör</a:t>
            </a:r>
          </a:p>
          <a:p>
            <a:pPr algn="l">
              <a:spcBef>
                <a:spcPts val="0"/>
              </a:spcBef>
              <a:spcAft>
                <a:spcPts val="0"/>
              </a:spcAft>
            </a:pPr>
            <a:r>
              <a:rPr lang="tr-TR" sz="1700" b="0" i="0">
                <a:solidFill>
                  <a:srgbClr val="262626"/>
                </a:solidFill>
                <a:latin typeface="Calibri"/>
              </a:rPr>
              <a:t>İklim</a:t>
            </a:r>
          </a:p>
        </p:txBody>
      </p:sp>
      <p:sp>
        <p:nvSpPr>
          <p:cNvPr id="10" name="Rounded Rectangle 9"/>
          <p:cNvSpPr/>
          <p:nvPr/>
        </p:nvSpPr>
        <p:spPr>
          <a:xfrm>
            <a:off x="502920" y="4892040"/>
            <a:ext cx="2105497" cy="1399032"/>
          </a:xfrm>
          <a:prstGeom prst="roundRect">
            <a:avLst>
              <a:gd name="adj" fmla="val 8000"/>
            </a:avLst>
          </a:prstGeom>
          <a:solidFill>
            <a:srgbClr val="E3F1E4"/>
          </a:solidFill>
          <a:ln w="12700">
            <a:solidFill>
              <a:srgbClr val="2E7D32"/>
            </a:solidFill>
          </a:ln>
          <a:effectLst/>
        </p:spPr>
        <p:txBody>
          <a:bodyPr rtlCol="0" anchor="ctr" wrap="square" tIns="73152" bIns="73152">
            <a:noAutofit/>
          </a:bodyPr>
          <a:lstStyle/>
          <a:p>
            <a:pPr algn="l">
              <a:spcBef>
                <a:spcPts val="0"/>
              </a:spcBef>
              <a:spcAft>
                <a:spcPts val="200"/>
              </a:spcAft>
            </a:pPr>
            <a:r>
              <a:rPr lang="tr-TR" sz="1400" b="1" i="0">
                <a:solidFill>
                  <a:srgbClr val="B85C12"/>
                </a:solidFill>
                <a:latin typeface="Calibri"/>
              </a:rPr>
              <a:t>Faaliyet</a:t>
            </a:r>
          </a:p>
          <a:p>
            <a:pPr algn="l">
              <a:spcBef>
                <a:spcPts val="0"/>
              </a:spcBef>
              <a:spcAft>
                <a:spcPts val="0"/>
              </a:spcAft>
            </a:pPr>
            <a:r>
              <a:rPr lang="tr-TR" sz="1700" b="0" i="0">
                <a:solidFill>
                  <a:srgbClr val="262626"/>
                </a:solidFill>
                <a:latin typeface="Calibri"/>
              </a:rPr>
              <a:t>Tarım: ananas ve buğday</a:t>
            </a:r>
          </a:p>
        </p:txBody>
      </p:sp>
      <p:pic>
        <p:nvPicPr>
          <p:cNvPr id="11" name="Picture 10" descr="h28_g52_liman_s175.jpg"/>
          <p:cNvPicPr>
            <a:picLocks noChangeAspect="1"/>
          </p:cNvPicPr>
          <p:nvPr/>
        </p:nvPicPr>
        <p:blipFill>
          <a:blip r:embed="rId5"/>
          <a:srcRect l="14990" r="14990"/>
          <a:stretch>
            <a:fillRect/>
          </a:stretch>
        </p:blipFill>
        <p:spPr>
          <a:xfrm>
            <a:off x="2773009" y="1216152"/>
            <a:ext cx="2105497" cy="1600200"/>
          </a:xfrm>
          <a:prstGeom prst="rect">
            <a:avLst/>
          </a:prstGeom>
          <a:ln w="9525">
            <a:solidFill>
              <a:srgbClr val="D9D9D9"/>
            </a:solidFill>
          </a:ln>
        </p:spPr>
      </p:pic>
      <p:sp>
        <p:nvSpPr>
          <p:cNvPr id="12" name="Rounded Rectangle 11"/>
          <p:cNvSpPr/>
          <p:nvPr/>
        </p:nvSpPr>
        <p:spPr>
          <a:xfrm>
            <a:off x="2773009" y="2871216"/>
            <a:ext cx="2105497" cy="411480"/>
          </a:xfrm>
          <a:prstGeom prst="roundRect">
            <a:avLst>
              <a:gd name="adj" fmla="val 20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1400" b="1" i="0">
                <a:solidFill>
                  <a:srgbClr val="FFFFFF"/>
                </a:solidFill>
                <a:latin typeface="Calibri"/>
              </a:rPr>
              <a:t>Görsel 5.2</a:t>
            </a:r>
          </a:p>
        </p:txBody>
      </p:sp>
      <p:sp>
        <p:nvSpPr>
          <p:cNvPr id="13" name="Rounded Rectangle 12"/>
          <p:cNvSpPr/>
          <p:nvPr/>
        </p:nvSpPr>
        <p:spPr>
          <a:xfrm>
            <a:off x="2773009" y="3383280"/>
            <a:ext cx="2105497" cy="1399032"/>
          </a:xfrm>
          <a:prstGeom prst="roundRect">
            <a:avLst>
              <a:gd name="adj" fmla="val 8000"/>
            </a:avLst>
          </a:prstGeom>
          <a:solidFill>
            <a:srgbClr val="E3F1E4"/>
          </a:solidFill>
          <a:ln w="12700">
            <a:solidFill>
              <a:srgbClr val="2E7D32"/>
            </a:solidFill>
          </a:ln>
          <a:effectLst/>
        </p:spPr>
        <p:txBody>
          <a:bodyPr rtlCol="0" anchor="ctr" wrap="square" tIns="73152" bIns="73152">
            <a:noAutofit/>
          </a:bodyPr>
          <a:lstStyle/>
          <a:p>
            <a:pPr algn="l">
              <a:spcBef>
                <a:spcPts val="0"/>
              </a:spcBef>
              <a:spcAft>
                <a:spcPts val="200"/>
              </a:spcAft>
            </a:pPr>
            <a:r>
              <a:rPr lang="tr-TR" sz="1400" b="1" i="0">
                <a:solidFill>
                  <a:srgbClr val="3E8E41"/>
                </a:solidFill>
                <a:latin typeface="Calibri"/>
              </a:rPr>
              <a:t>Faktör</a:t>
            </a:r>
          </a:p>
          <a:p>
            <a:pPr algn="l">
              <a:spcBef>
                <a:spcPts val="0"/>
              </a:spcBef>
              <a:spcAft>
                <a:spcPts val="0"/>
              </a:spcAft>
            </a:pPr>
            <a:r>
              <a:rPr lang="tr-TR" sz="1700" b="0" i="0">
                <a:solidFill>
                  <a:srgbClr val="262626"/>
                </a:solidFill>
                <a:latin typeface="Calibri"/>
              </a:rPr>
              <a:t>Topoğrafya (kıyıda elverişli arazi)</a:t>
            </a:r>
          </a:p>
        </p:txBody>
      </p:sp>
      <p:sp>
        <p:nvSpPr>
          <p:cNvPr id="14" name="Rounded Rectangle 13"/>
          <p:cNvSpPr/>
          <p:nvPr/>
        </p:nvSpPr>
        <p:spPr>
          <a:xfrm>
            <a:off x="2773009" y="4892040"/>
            <a:ext cx="2105497" cy="1399032"/>
          </a:xfrm>
          <a:prstGeom prst="roundRect">
            <a:avLst>
              <a:gd name="adj" fmla="val 8000"/>
            </a:avLst>
          </a:prstGeom>
          <a:solidFill>
            <a:srgbClr val="E3F1E4"/>
          </a:solidFill>
          <a:ln w="12700">
            <a:solidFill>
              <a:srgbClr val="2E7D32"/>
            </a:solidFill>
          </a:ln>
          <a:effectLst/>
        </p:spPr>
        <p:txBody>
          <a:bodyPr rtlCol="0" anchor="ctr" wrap="square" tIns="73152" bIns="73152">
            <a:noAutofit/>
          </a:bodyPr>
          <a:lstStyle/>
          <a:p>
            <a:pPr algn="l">
              <a:spcBef>
                <a:spcPts val="0"/>
              </a:spcBef>
              <a:spcAft>
                <a:spcPts val="200"/>
              </a:spcAft>
            </a:pPr>
            <a:r>
              <a:rPr lang="tr-TR" sz="1400" b="1" i="0">
                <a:solidFill>
                  <a:srgbClr val="B85C12"/>
                </a:solidFill>
                <a:latin typeface="Calibri"/>
              </a:rPr>
              <a:t>Faaliyet</a:t>
            </a:r>
          </a:p>
          <a:p>
            <a:pPr algn="l">
              <a:spcBef>
                <a:spcPts val="0"/>
              </a:spcBef>
              <a:spcAft>
                <a:spcPts val="0"/>
              </a:spcAft>
            </a:pPr>
            <a:r>
              <a:rPr lang="tr-TR" sz="1700" b="0" i="0">
                <a:solidFill>
                  <a:srgbClr val="262626"/>
                </a:solidFill>
                <a:latin typeface="Calibri"/>
              </a:rPr>
              <a:t>Liman, ulaşım ve sanayi</a:t>
            </a:r>
          </a:p>
        </p:txBody>
      </p:sp>
      <p:pic>
        <p:nvPicPr>
          <p:cNvPr id="15" name="Picture 14" descr="h28_g53_selale_s175.jpg"/>
          <p:cNvPicPr>
            <a:picLocks noChangeAspect="1"/>
          </p:cNvPicPr>
          <p:nvPr/>
        </p:nvPicPr>
        <p:blipFill>
          <a:blip r:embed="rId6"/>
          <a:srcRect l="14835" r="14835"/>
          <a:stretch>
            <a:fillRect/>
          </a:stretch>
        </p:blipFill>
        <p:spPr>
          <a:xfrm>
            <a:off x="5043098" y="1216152"/>
            <a:ext cx="2105497" cy="1600200"/>
          </a:xfrm>
          <a:prstGeom prst="rect">
            <a:avLst/>
          </a:prstGeom>
          <a:ln w="9525">
            <a:solidFill>
              <a:srgbClr val="D9D9D9"/>
            </a:solidFill>
          </a:ln>
        </p:spPr>
      </p:pic>
      <p:sp>
        <p:nvSpPr>
          <p:cNvPr id="16" name="Rounded Rectangle 15"/>
          <p:cNvSpPr/>
          <p:nvPr/>
        </p:nvSpPr>
        <p:spPr>
          <a:xfrm>
            <a:off x="5043098" y="2871216"/>
            <a:ext cx="2105497" cy="411480"/>
          </a:xfrm>
          <a:prstGeom prst="roundRect">
            <a:avLst>
              <a:gd name="adj" fmla="val 20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1400" b="1" i="0">
                <a:solidFill>
                  <a:srgbClr val="FFFFFF"/>
                </a:solidFill>
                <a:latin typeface="Calibri"/>
              </a:rPr>
              <a:t>Görsel 5.3</a:t>
            </a:r>
          </a:p>
        </p:txBody>
      </p:sp>
      <p:sp>
        <p:nvSpPr>
          <p:cNvPr id="17" name="Rounded Rectangle 16"/>
          <p:cNvSpPr/>
          <p:nvPr/>
        </p:nvSpPr>
        <p:spPr>
          <a:xfrm>
            <a:off x="5043098" y="3383280"/>
            <a:ext cx="2105497" cy="1399032"/>
          </a:xfrm>
          <a:prstGeom prst="roundRect">
            <a:avLst>
              <a:gd name="adj" fmla="val 8000"/>
            </a:avLst>
          </a:prstGeom>
          <a:solidFill>
            <a:srgbClr val="E3F1E4"/>
          </a:solidFill>
          <a:ln w="12700">
            <a:solidFill>
              <a:srgbClr val="2E7D32"/>
            </a:solidFill>
          </a:ln>
          <a:effectLst/>
        </p:spPr>
        <p:txBody>
          <a:bodyPr rtlCol="0" anchor="ctr" wrap="square" tIns="73152" bIns="73152">
            <a:noAutofit/>
          </a:bodyPr>
          <a:lstStyle/>
          <a:p>
            <a:pPr algn="l">
              <a:spcBef>
                <a:spcPts val="0"/>
              </a:spcBef>
              <a:spcAft>
                <a:spcPts val="200"/>
              </a:spcAft>
            </a:pPr>
            <a:r>
              <a:rPr lang="tr-TR" sz="1400" b="1" i="0">
                <a:solidFill>
                  <a:srgbClr val="3E8E41"/>
                </a:solidFill>
                <a:latin typeface="Calibri"/>
              </a:rPr>
              <a:t>Faktör</a:t>
            </a:r>
          </a:p>
          <a:p>
            <a:pPr algn="l">
              <a:spcBef>
                <a:spcPts val="0"/>
              </a:spcBef>
              <a:spcAft>
                <a:spcPts val="0"/>
              </a:spcAft>
            </a:pPr>
            <a:r>
              <a:rPr lang="tr-TR" sz="1700" b="0" i="0">
                <a:solidFill>
                  <a:srgbClr val="262626"/>
                </a:solidFill>
                <a:latin typeface="Calibri"/>
              </a:rPr>
              <a:t>Topoğrafya (ilgi çekici yeryüzü şekli)</a:t>
            </a:r>
          </a:p>
        </p:txBody>
      </p:sp>
      <p:sp>
        <p:nvSpPr>
          <p:cNvPr id="18" name="Rounded Rectangle 17"/>
          <p:cNvSpPr/>
          <p:nvPr/>
        </p:nvSpPr>
        <p:spPr>
          <a:xfrm>
            <a:off x="5043098" y="4892040"/>
            <a:ext cx="2105497" cy="1399032"/>
          </a:xfrm>
          <a:prstGeom prst="roundRect">
            <a:avLst>
              <a:gd name="adj" fmla="val 8000"/>
            </a:avLst>
          </a:prstGeom>
          <a:solidFill>
            <a:srgbClr val="E3F1E4"/>
          </a:solidFill>
          <a:ln w="12700">
            <a:solidFill>
              <a:srgbClr val="2E7D32"/>
            </a:solidFill>
          </a:ln>
          <a:effectLst/>
        </p:spPr>
        <p:txBody>
          <a:bodyPr rtlCol="0" anchor="ctr" wrap="square" tIns="73152" bIns="73152">
            <a:noAutofit/>
          </a:bodyPr>
          <a:lstStyle/>
          <a:p>
            <a:pPr algn="l">
              <a:spcBef>
                <a:spcPts val="0"/>
              </a:spcBef>
              <a:spcAft>
                <a:spcPts val="200"/>
              </a:spcAft>
            </a:pPr>
            <a:r>
              <a:rPr lang="tr-TR" sz="1400" b="1" i="0">
                <a:solidFill>
                  <a:srgbClr val="B85C12"/>
                </a:solidFill>
                <a:latin typeface="Calibri"/>
              </a:rPr>
              <a:t>Faaliyet</a:t>
            </a:r>
          </a:p>
          <a:p>
            <a:pPr algn="l">
              <a:spcBef>
                <a:spcPts val="0"/>
              </a:spcBef>
              <a:spcAft>
                <a:spcPts val="0"/>
              </a:spcAft>
            </a:pPr>
            <a:r>
              <a:rPr lang="tr-TR" sz="1700" b="0" i="0">
                <a:solidFill>
                  <a:srgbClr val="262626"/>
                </a:solidFill>
                <a:latin typeface="Calibri"/>
              </a:rPr>
              <a:t>Turizm</a:t>
            </a:r>
          </a:p>
        </p:txBody>
      </p:sp>
      <p:pic>
        <p:nvPicPr>
          <p:cNvPr id="19" name="Picture 18" descr="h28_g54_seramik_s175.jpg"/>
          <p:cNvPicPr>
            <a:picLocks noChangeAspect="1"/>
          </p:cNvPicPr>
          <p:nvPr/>
        </p:nvPicPr>
        <p:blipFill>
          <a:blip r:embed="rId7"/>
          <a:srcRect l="10565" r="10565"/>
          <a:stretch>
            <a:fillRect/>
          </a:stretch>
        </p:blipFill>
        <p:spPr>
          <a:xfrm>
            <a:off x="7313187" y="1216152"/>
            <a:ext cx="2105497" cy="1600200"/>
          </a:xfrm>
          <a:prstGeom prst="rect">
            <a:avLst/>
          </a:prstGeom>
          <a:ln w="9525">
            <a:solidFill>
              <a:srgbClr val="D9D9D9"/>
            </a:solidFill>
          </a:ln>
        </p:spPr>
      </p:pic>
      <p:sp>
        <p:nvSpPr>
          <p:cNvPr id="20" name="Rounded Rectangle 19"/>
          <p:cNvSpPr/>
          <p:nvPr/>
        </p:nvSpPr>
        <p:spPr>
          <a:xfrm>
            <a:off x="7313187" y="2871216"/>
            <a:ext cx="2105497" cy="411480"/>
          </a:xfrm>
          <a:prstGeom prst="roundRect">
            <a:avLst>
              <a:gd name="adj" fmla="val 20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1400" b="1" i="0">
                <a:solidFill>
                  <a:srgbClr val="FFFFFF"/>
                </a:solidFill>
                <a:latin typeface="Calibri"/>
              </a:rPr>
              <a:t>Görsel 5.4</a:t>
            </a:r>
          </a:p>
        </p:txBody>
      </p:sp>
      <p:sp>
        <p:nvSpPr>
          <p:cNvPr id="21" name="Rounded Rectangle 20"/>
          <p:cNvSpPr/>
          <p:nvPr/>
        </p:nvSpPr>
        <p:spPr>
          <a:xfrm>
            <a:off x="7313187" y="3383280"/>
            <a:ext cx="2105497" cy="1399032"/>
          </a:xfrm>
          <a:prstGeom prst="roundRect">
            <a:avLst>
              <a:gd name="adj" fmla="val 8000"/>
            </a:avLst>
          </a:prstGeom>
          <a:solidFill>
            <a:srgbClr val="E3F1E4"/>
          </a:solidFill>
          <a:ln w="12700">
            <a:solidFill>
              <a:srgbClr val="2E7D32"/>
            </a:solidFill>
          </a:ln>
          <a:effectLst/>
        </p:spPr>
        <p:txBody>
          <a:bodyPr rtlCol="0" anchor="ctr" wrap="square" tIns="73152" bIns="73152">
            <a:noAutofit/>
          </a:bodyPr>
          <a:lstStyle/>
          <a:p>
            <a:pPr algn="l">
              <a:spcBef>
                <a:spcPts val="0"/>
              </a:spcBef>
              <a:spcAft>
                <a:spcPts val="200"/>
              </a:spcAft>
            </a:pPr>
            <a:r>
              <a:rPr lang="tr-TR" sz="1400" b="1" i="0">
                <a:solidFill>
                  <a:srgbClr val="3E8E41"/>
                </a:solidFill>
                <a:latin typeface="Calibri"/>
              </a:rPr>
              <a:t>Faktör</a:t>
            </a:r>
          </a:p>
          <a:p>
            <a:pPr algn="l">
              <a:spcBef>
                <a:spcPts val="0"/>
              </a:spcBef>
              <a:spcAft>
                <a:spcPts val="0"/>
              </a:spcAft>
            </a:pPr>
            <a:r>
              <a:rPr lang="tr-TR" sz="1700" b="0" i="0">
                <a:solidFill>
                  <a:srgbClr val="262626"/>
                </a:solidFill>
                <a:latin typeface="Calibri"/>
              </a:rPr>
              <a:t>Toprak</a:t>
            </a:r>
          </a:p>
        </p:txBody>
      </p:sp>
      <p:sp>
        <p:nvSpPr>
          <p:cNvPr id="22" name="Rounded Rectangle 21"/>
          <p:cNvSpPr/>
          <p:nvPr/>
        </p:nvSpPr>
        <p:spPr>
          <a:xfrm>
            <a:off x="7313187" y="4892040"/>
            <a:ext cx="2105497" cy="1399032"/>
          </a:xfrm>
          <a:prstGeom prst="roundRect">
            <a:avLst>
              <a:gd name="adj" fmla="val 8000"/>
            </a:avLst>
          </a:prstGeom>
          <a:solidFill>
            <a:srgbClr val="E3F1E4"/>
          </a:solidFill>
          <a:ln w="12700">
            <a:solidFill>
              <a:srgbClr val="2E7D32"/>
            </a:solidFill>
          </a:ln>
          <a:effectLst/>
        </p:spPr>
        <p:txBody>
          <a:bodyPr rtlCol="0" anchor="ctr" wrap="square" tIns="73152" bIns="73152">
            <a:noAutofit/>
          </a:bodyPr>
          <a:lstStyle/>
          <a:p>
            <a:pPr algn="l">
              <a:spcBef>
                <a:spcPts val="0"/>
              </a:spcBef>
              <a:spcAft>
                <a:spcPts val="200"/>
              </a:spcAft>
            </a:pPr>
            <a:r>
              <a:rPr lang="tr-TR" sz="1400" b="1" i="0">
                <a:solidFill>
                  <a:srgbClr val="B85C12"/>
                </a:solidFill>
                <a:latin typeface="Calibri"/>
              </a:rPr>
              <a:t>Faaliyet</a:t>
            </a:r>
          </a:p>
          <a:p>
            <a:pPr algn="l">
              <a:spcBef>
                <a:spcPts val="0"/>
              </a:spcBef>
              <a:spcAft>
                <a:spcPts val="0"/>
              </a:spcAft>
            </a:pPr>
            <a:r>
              <a:rPr lang="tr-TR" sz="1700" b="0" i="0">
                <a:solidFill>
                  <a:srgbClr val="262626"/>
                </a:solidFill>
                <a:latin typeface="Calibri"/>
              </a:rPr>
              <a:t>Sanayi: seramik ham maddesi</a:t>
            </a:r>
          </a:p>
        </p:txBody>
      </p:sp>
      <p:pic>
        <p:nvPicPr>
          <p:cNvPr id="23" name="Picture 22" descr="h28_g55_kagit_s175.jpg"/>
          <p:cNvPicPr>
            <a:picLocks noChangeAspect="1"/>
          </p:cNvPicPr>
          <p:nvPr/>
        </p:nvPicPr>
        <p:blipFill>
          <a:blip r:embed="rId8"/>
          <a:srcRect l="10702" r="10702"/>
          <a:stretch>
            <a:fillRect/>
          </a:stretch>
        </p:blipFill>
        <p:spPr>
          <a:xfrm>
            <a:off x="9583276" y="1216152"/>
            <a:ext cx="2105497" cy="1600200"/>
          </a:xfrm>
          <a:prstGeom prst="rect">
            <a:avLst/>
          </a:prstGeom>
          <a:ln w="9525">
            <a:solidFill>
              <a:srgbClr val="D9D9D9"/>
            </a:solidFill>
          </a:ln>
        </p:spPr>
      </p:pic>
      <p:sp>
        <p:nvSpPr>
          <p:cNvPr id="24" name="Rounded Rectangle 23"/>
          <p:cNvSpPr/>
          <p:nvPr/>
        </p:nvSpPr>
        <p:spPr>
          <a:xfrm>
            <a:off x="9583276" y="2871216"/>
            <a:ext cx="2105497" cy="411480"/>
          </a:xfrm>
          <a:prstGeom prst="roundRect">
            <a:avLst>
              <a:gd name="adj" fmla="val 20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1400" b="1" i="0">
                <a:solidFill>
                  <a:srgbClr val="FFFFFF"/>
                </a:solidFill>
                <a:latin typeface="Calibri"/>
              </a:rPr>
              <a:t>Görsel 5.5</a:t>
            </a:r>
          </a:p>
        </p:txBody>
      </p:sp>
      <p:sp>
        <p:nvSpPr>
          <p:cNvPr id="25" name="Rounded Rectangle 24"/>
          <p:cNvSpPr/>
          <p:nvPr/>
        </p:nvSpPr>
        <p:spPr>
          <a:xfrm>
            <a:off x="9583276" y="3383280"/>
            <a:ext cx="2105497" cy="1399032"/>
          </a:xfrm>
          <a:prstGeom prst="roundRect">
            <a:avLst>
              <a:gd name="adj" fmla="val 8000"/>
            </a:avLst>
          </a:prstGeom>
          <a:solidFill>
            <a:srgbClr val="E3F1E4"/>
          </a:solidFill>
          <a:ln w="12700">
            <a:solidFill>
              <a:srgbClr val="2E7D32"/>
            </a:solidFill>
          </a:ln>
          <a:effectLst/>
        </p:spPr>
        <p:txBody>
          <a:bodyPr rtlCol="0" anchor="ctr" wrap="square" tIns="73152" bIns="73152">
            <a:noAutofit/>
          </a:bodyPr>
          <a:lstStyle/>
          <a:p>
            <a:pPr algn="l">
              <a:spcBef>
                <a:spcPts val="0"/>
              </a:spcBef>
              <a:spcAft>
                <a:spcPts val="200"/>
              </a:spcAft>
            </a:pPr>
            <a:r>
              <a:rPr lang="tr-TR" sz="1400" b="1" i="0">
                <a:solidFill>
                  <a:srgbClr val="3E8E41"/>
                </a:solidFill>
                <a:latin typeface="Calibri"/>
              </a:rPr>
              <a:t>Faktör</a:t>
            </a:r>
          </a:p>
          <a:p>
            <a:pPr algn="l">
              <a:spcBef>
                <a:spcPts val="0"/>
              </a:spcBef>
              <a:spcAft>
                <a:spcPts val="0"/>
              </a:spcAft>
            </a:pPr>
            <a:r>
              <a:rPr lang="tr-TR" sz="1700" b="0" i="0">
                <a:solidFill>
                  <a:srgbClr val="262626"/>
                </a:solidFill>
                <a:latin typeface="Calibri"/>
              </a:rPr>
              <a:t>Bitki örtüsü (orman)</a:t>
            </a:r>
          </a:p>
        </p:txBody>
      </p:sp>
      <p:sp>
        <p:nvSpPr>
          <p:cNvPr id="26" name="Rounded Rectangle 25"/>
          <p:cNvSpPr/>
          <p:nvPr/>
        </p:nvSpPr>
        <p:spPr>
          <a:xfrm>
            <a:off x="9583276" y="4892040"/>
            <a:ext cx="2105497" cy="1399032"/>
          </a:xfrm>
          <a:prstGeom prst="roundRect">
            <a:avLst>
              <a:gd name="adj" fmla="val 8000"/>
            </a:avLst>
          </a:prstGeom>
          <a:solidFill>
            <a:srgbClr val="E3F1E4"/>
          </a:solidFill>
          <a:ln w="12700">
            <a:solidFill>
              <a:srgbClr val="2E7D32"/>
            </a:solidFill>
          </a:ln>
          <a:effectLst/>
        </p:spPr>
        <p:txBody>
          <a:bodyPr rtlCol="0" anchor="ctr" wrap="square" tIns="73152" bIns="73152">
            <a:noAutofit/>
          </a:bodyPr>
          <a:lstStyle/>
          <a:p>
            <a:pPr algn="l">
              <a:spcBef>
                <a:spcPts val="0"/>
              </a:spcBef>
              <a:spcAft>
                <a:spcPts val="200"/>
              </a:spcAft>
            </a:pPr>
            <a:r>
              <a:rPr lang="tr-TR" sz="1400" b="1" i="0">
                <a:solidFill>
                  <a:srgbClr val="B85C12"/>
                </a:solidFill>
                <a:latin typeface="Calibri"/>
              </a:rPr>
              <a:t>Faaliyet</a:t>
            </a:r>
          </a:p>
          <a:p>
            <a:pPr algn="l">
              <a:spcBef>
                <a:spcPts val="0"/>
              </a:spcBef>
              <a:spcAft>
                <a:spcPts val="0"/>
              </a:spcAft>
            </a:pPr>
            <a:r>
              <a:rPr lang="tr-TR" sz="1700" b="0" i="0">
                <a:solidFill>
                  <a:srgbClr val="262626"/>
                </a:solidFill>
                <a:latin typeface="Calibri"/>
              </a:rPr>
              <a:t>Sanayi: kâğıt ham maddesi</a:t>
            </a:r>
          </a:p>
        </p:txBody>
      </p:sp>
      <p:sp>
        <p:nvSpPr>
          <p:cNvPr id="27" name="TextBox 2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8" name="Rounded Rectangle 2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174-175</a:t>
            </a:r>
          </a:p>
        </p:txBody>
      </p:sp>
      <p:sp>
        <p:nvSpPr>
          <p:cNvPr id="29" name="TextBox 2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42 / 166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900" b="1" i="0">
                <a:solidFill>
                  <a:srgbClr val="FFFFFF"/>
                </a:solidFill>
                <a:latin typeface="Calibri"/>
              </a:rPr>
              <a:t>Bilgi kartı — örnek cevap: yedi doğal faktör tek tabloda</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graphicFrame>
        <p:nvGraphicFramePr>
          <p:cNvPr id="6" name="Table 5"/>
          <p:cNvGraphicFramePr>
            <a:graphicFrameLocks noGrp="1"/>
          </p:cNvGraphicFramePr>
          <p:nvPr/>
        </p:nvGraphicFramePr>
        <p:xfrm>
          <a:off x="502920" y="1216152"/>
          <a:ext cx="11185855" cy="4956048"/>
        </p:xfrm>
        <a:graphic>
          <a:graphicData uri="http://schemas.openxmlformats.org/drawingml/2006/table">
            <a:tbl>
              <a:tblPr firstRow="1" bandRow="1">
                <a:tableStyleId>{5C22544A-7EE6-4342-B048-85BDC9FD1C3A}</a:tableStyleId>
              </a:tblPr>
              <a:tblGrid>
                <a:gridCol w="2514600"/>
                <a:gridCol w="5212080"/>
                <a:gridCol w="3459175"/>
              </a:tblGrid>
              <a:tr h="475488">
                <a:tc>
                  <a:txBody>
                    <a:bodyPr wrap="square"/>
                    <a:lstStyle/>
                    <a:p>
                      <a:pPr algn="ctr">
                        <a:spcBef>
                          <a:spcPts val="0"/>
                        </a:spcBef>
                        <a:spcAft>
                          <a:spcPts val="0"/>
                        </a:spcAft>
                      </a:pPr>
                      <a:r>
                        <a:rPr lang="tr-TR" sz="1800" b="1" i="0">
                          <a:solidFill>
                            <a:srgbClr val="FFFFFF"/>
                          </a:solidFill>
                          <a:latin typeface="Calibri"/>
                        </a:rPr>
                        <a:t>Doğal faktör</a:t>
                      </a:r>
                    </a:p>
                  </a:txBody>
                  <a:tcPr marL="54864" marR="54864" marT="18288" marB="18288" anchor="ctr">
                    <a:solidFill>
                      <a:srgbClr val="2E7D32"/>
                    </a:solidFill>
                  </a:tcPr>
                </a:tc>
                <a:tc>
                  <a:txBody>
                    <a:bodyPr wrap="square"/>
                    <a:lstStyle/>
                    <a:p>
                      <a:pPr algn="ctr">
                        <a:spcBef>
                          <a:spcPts val="0"/>
                        </a:spcBef>
                        <a:spcAft>
                          <a:spcPts val="0"/>
                        </a:spcAft>
                      </a:pPr>
                      <a:r>
                        <a:rPr lang="tr-TR" sz="1800" b="1" i="0">
                          <a:solidFill>
                            <a:srgbClr val="FFFFFF"/>
                          </a:solidFill>
                          <a:latin typeface="Calibri"/>
                        </a:rPr>
                        <a:t>Etkilediği ekonomik faaliyetler</a:t>
                      </a:r>
                    </a:p>
                  </a:txBody>
                  <a:tcPr marL="54864" marR="54864" marT="18288" marB="18288" anchor="ctr">
                    <a:solidFill>
                      <a:srgbClr val="2E7D32"/>
                    </a:solidFill>
                  </a:tcPr>
                </a:tc>
                <a:tc>
                  <a:txBody>
                    <a:bodyPr wrap="square"/>
                    <a:lstStyle/>
                    <a:p>
                      <a:pPr algn="ctr">
                        <a:spcBef>
                          <a:spcPts val="0"/>
                        </a:spcBef>
                        <a:spcAft>
                          <a:spcPts val="0"/>
                        </a:spcAft>
                      </a:pPr>
                      <a:r>
                        <a:rPr lang="tr-TR" sz="1800" b="1" i="0">
                          <a:solidFill>
                            <a:srgbClr val="FFFFFF"/>
                          </a:solidFill>
                          <a:latin typeface="Calibri"/>
                        </a:rPr>
                        <a:t>Kitaptaki örnek</a:t>
                      </a:r>
                    </a:p>
                  </a:txBody>
                  <a:tcPr marL="54864" marR="54864" marT="18288" marB="18288" anchor="ctr">
                    <a:solidFill>
                      <a:srgbClr val="2E7D32"/>
                    </a:solidFill>
                  </a:tcPr>
                </a:tc>
              </a:tr>
              <a:tr h="640080">
                <a:tc>
                  <a:txBody>
                    <a:bodyPr wrap="square"/>
                    <a:lstStyle/>
                    <a:p>
                      <a:pPr algn="l">
                        <a:spcBef>
                          <a:spcPts val="0"/>
                        </a:spcBef>
                        <a:spcAft>
                          <a:spcPts val="0"/>
                        </a:spcAft>
                      </a:pPr>
                      <a:r>
                        <a:rPr lang="tr-TR" sz="1700" b="0" i="0">
                          <a:solidFill>
                            <a:srgbClr val="262626"/>
                          </a:solidFill>
                          <a:latin typeface="Calibri"/>
                        </a:rPr>
                        <a:t>Coğrafi konum</a:t>
                      </a:r>
                    </a:p>
                  </a:txBody>
                  <a:tcPr marL="54864" marR="54864" marT="18288" marB="18288" anchor="ctr">
                    <a:solidFill>
                      <a:srgbClr val="FFFFFF"/>
                    </a:solidFill>
                  </a:tcPr>
                </a:tc>
                <a:tc>
                  <a:txBody>
                    <a:bodyPr wrap="square"/>
                    <a:lstStyle/>
                    <a:p>
                      <a:pPr algn="l">
                        <a:spcBef>
                          <a:spcPts val="0"/>
                        </a:spcBef>
                        <a:spcAft>
                          <a:spcPts val="0"/>
                        </a:spcAft>
                      </a:pPr>
                      <a:r>
                        <a:rPr lang="tr-TR" sz="1700" b="0" i="0">
                          <a:solidFill>
                            <a:srgbClr val="262626"/>
                          </a:solidFill>
                          <a:latin typeface="Calibri"/>
                        </a:rPr>
                        <a:t>Ticaret, ulaşım, enerji taşımacılığı</a:t>
                      </a:r>
                    </a:p>
                  </a:txBody>
                  <a:tcPr marL="54864" marR="54864" marT="18288" marB="18288" anchor="ctr">
                    <a:solidFill>
                      <a:srgbClr val="FFFFFF"/>
                    </a:solidFill>
                  </a:tcPr>
                </a:tc>
                <a:tc>
                  <a:txBody>
                    <a:bodyPr wrap="square"/>
                    <a:lstStyle/>
                    <a:p>
                      <a:pPr algn="l">
                        <a:spcBef>
                          <a:spcPts val="0"/>
                        </a:spcBef>
                        <a:spcAft>
                          <a:spcPts val="0"/>
                        </a:spcAft>
                      </a:pPr>
                      <a:r>
                        <a:rPr lang="tr-TR" sz="1700" b="0" i="0">
                          <a:solidFill>
                            <a:srgbClr val="262626"/>
                          </a:solidFill>
                          <a:latin typeface="Calibri"/>
                        </a:rPr>
                        <a:t>Türkiye: ticaret yollarının kavşağı (s. 174)</a:t>
                      </a:r>
                    </a:p>
                  </a:txBody>
                  <a:tcPr marL="54864" marR="54864" marT="18288" marB="18288" anchor="ctr">
                    <a:solidFill>
                      <a:srgbClr val="FFFFFF"/>
                    </a:solidFill>
                  </a:tcPr>
                </a:tc>
              </a:tr>
              <a:tr h="640080">
                <a:tc>
                  <a:txBody>
                    <a:bodyPr wrap="square"/>
                    <a:lstStyle/>
                    <a:p>
                      <a:pPr algn="l">
                        <a:spcBef>
                          <a:spcPts val="0"/>
                        </a:spcBef>
                        <a:spcAft>
                          <a:spcPts val="0"/>
                        </a:spcAft>
                      </a:pPr>
                      <a:r>
                        <a:rPr lang="tr-TR" sz="1700" b="0" i="0">
                          <a:solidFill>
                            <a:srgbClr val="262626"/>
                          </a:solidFill>
                          <a:latin typeface="Calibri"/>
                        </a:rPr>
                        <a:t>İklim</a:t>
                      </a:r>
                    </a:p>
                  </a:txBody>
                  <a:tcPr marL="54864" marR="54864" marT="18288" marB="18288" anchor="ctr">
                    <a:solidFill>
                      <a:srgbClr val="E3F1E4"/>
                    </a:solidFill>
                  </a:tcPr>
                </a:tc>
                <a:tc>
                  <a:txBody>
                    <a:bodyPr wrap="square"/>
                    <a:lstStyle/>
                    <a:p>
                      <a:pPr algn="l">
                        <a:spcBef>
                          <a:spcPts val="0"/>
                        </a:spcBef>
                        <a:spcAft>
                          <a:spcPts val="0"/>
                        </a:spcAft>
                      </a:pPr>
                      <a:r>
                        <a:rPr lang="tr-TR" sz="1700" b="0" i="0">
                          <a:solidFill>
                            <a:srgbClr val="262626"/>
                          </a:solidFill>
                          <a:latin typeface="Calibri"/>
                        </a:rPr>
                        <a:t>Tarım, turizm, enerji üretimi; sanayinin yeri (dolaylı)</a:t>
                      </a:r>
                    </a:p>
                  </a:txBody>
                  <a:tcPr marL="54864" marR="54864" marT="18288" marB="18288" anchor="ctr">
                    <a:solidFill>
                      <a:srgbClr val="E3F1E4"/>
                    </a:solidFill>
                  </a:tcPr>
                </a:tc>
                <a:tc>
                  <a:txBody>
                    <a:bodyPr wrap="square"/>
                    <a:lstStyle/>
                    <a:p>
                      <a:pPr algn="l">
                        <a:spcBef>
                          <a:spcPts val="0"/>
                        </a:spcBef>
                        <a:spcAft>
                          <a:spcPts val="0"/>
                        </a:spcAft>
                      </a:pPr>
                      <a:r>
                        <a:rPr lang="tr-TR" sz="1700" b="0" i="0">
                          <a:solidFill>
                            <a:srgbClr val="262626"/>
                          </a:solidFill>
                          <a:latin typeface="Calibri"/>
                        </a:rPr>
                        <a:t>Ananas ve buğday (Görsel 5.1)</a:t>
                      </a:r>
                    </a:p>
                  </a:txBody>
                  <a:tcPr marL="54864" marR="54864" marT="18288" marB="18288" anchor="ctr">
                    <a:solidFill>
                      <a:srgbClr val="E3F1E4"/>
                    </a:solidFill>
                  </a:tcPr>
                </a:tc>
              </a:tr>
              <a:tr h="640080">
                <a:tc>
                  <a:txBody>
                    <a:bodyPr wrap="square"/>
                    <a:lstStyle/>
                    <a:p>
                      <a:pPr algn="l">
                        <a:spcBef>
                          <a:spcPts val="0"/>
                        </a:spcBef>
                        <a:spcAft>
                          <a:spcPts val="0"/>
                        </a:spcAft>
                      </a:pPr>
                      <a:r>
                        <a:rPr lang="tr-TR" sz="1700" b="0" i="0">
                          <a:solidFill>
                            <a:srgbClr val="262626"/>
                          </a:solidFill>
                          <a:latin typeface="Calibri"/>
                        </a:rPr>
                        <a:t>Topoğrafya</a:t>
                      </a:r>
                    </a:p>
                  </a:txBody>
                  <a:tcPr marL="54864" marR="54864" marT="18288" marB="18288" anchor="ctr">
                    <a:solidFill>
                      <a:srgbClr val="FFFFFF"/>
                    </a:solidFill>
                  </a:tcPr>
                </a:tc>
                <a:tc>
                  <a:txBody>
                    <a:bodyPr wrap="square"/>
                    <a:lstStyle/>
                    <a:p>
                      <a:pPr algn="l">
                        <a:spcBef>
                          <a:spcPts val="0"/>
                        </a:spcBef>
                        <a:spcAft>
                          <a:spcPts val="0"/>
                        </a:spcAft>
                      </a:pPr>
                      <a:r>
                        <a:rPr lang="tr-TR" sz="1700" b="0" i="0">
                          <a:solidFill>
                            <a:srgbClr val="262626"/>
                          </a:solidFill>
                          <a:latin typeface="Calibri"/>
                        </a:rPr>
                        <a:t>Tarım arazisi, ulaşım güzergâhı, liman ve havalimanı, turizm</a:t>
                      </a:r>
                    </a:p>
                  </a:txBody>
                  <a:tcPr marL="54864" marR="54864" marT="18288" marB="18288" anchor="ctr">
                    <a:solidFill>
                      <a:srgbClr val="FFFFFF"/>
                    </a:solidFill>
                  </a:tcPr>
                </a:tc>
                <a:tc>
                  <a:txBody>
                    <a:bodyPr wrap="square"/>
                    <a:lstStyle/>
                    <a:p>
                      <a:pPr algn="l">
                        <a:spcBef>
                          <a:spcPts val="0"/>
                        </a:spcBef>
                        <a:spcAft>
                          <a:spcPts val="0"/>
                        </a:spcAft>
                      </a:pPr>
                      <a:r>
                        <a:rPr lang="tr-TR" sz="1700" b="0" i="0">
                          <a:solidFill>
                            <a:srgbClr val="262626"/>
                          </a:solidFill>
                          <a:latin typeface="Calibri"/>
                        </a:rPr>
                        <a:t>Liman ve şelale (Görsel 5.2-5.3)</a:t>
                      </a:r>
                    </a:p>
                  </a:txBody>
                  <a:tcPr marL="54864" marR="54864" marT="18288" marB="18288" anchor="ctr">
                    <a:solidFill>
                      <a:srgbClr val="FFFFFF"/>
                    </a:solidFill>
                  </a:tcPr>
                </a:tc>
              </a:tr>
              <a:tr h="640080">
                <a:tc>
                  <a:txBody>
                    <a:bodyPr wrap="square"/>
                    <a:lstStyle/>
                    <a:p>
                      <a:pPr algn="l">
                        <a:spcBef>
                          <a:spcPts val="0"/>
                        </a:spcBef>
                        <a:spcAft>
                          <a:spcPts val="0"/>
                        </a:spcAft>
                      </a:pPr>
                      <a:r>
                        <a:rPr lang="tr-TR" sz="1700" b="0" i="0">
                          <a:solidFill>
                            <a:srgbClr val="262626"/>
                          </a:solidFill>
                          <a:latin typeface="Calibri"/>
                        </a:rPr>
                        <a:t>Su kaynakları</a:t>
                      </a:r>
                    </a:p>
                  </a:txBody>
                  <a:tcPr marL="54864" marR="54864" marT="18288" marB="18288" anchor="ctr">
                    <a:solidFill>
                      <a:srgbClr val="E3F1E4"/>
                    </a:solidFill>
                  </a:tcPr>
                </a:tc>
                <a:tc>
                  <a:txBody>
                    <a:bodyPr wrap="square"/>
                    <a:lstStyle/>
                    <a:p>
                      <a:pPr algn="l">
                        <a:spcBef>
                          <a:spcPts val="0"/>
                        </a:spcBef>
                        <a:spcAft>
                          <a:spcPts val="0"/>
                        </a:spcAft>
                      </a:pPr>
                      <a:r>
                        <a:rPr lang="tr-TR" sz="1700" b="0" i="0">
                          <a:solidFill>
                            <a:srgbClr val="262626"/>
                          </a:solidFill>
                          <a:latin typeface="Calibri"/>
                        </a:rPr>
                        <a:t>Balıkçılık, hidroelektrik, sulama, deniz ulaşımı ve turizmi, bazı sanayi tesisleri</a:t>
                      </a:r>
                    </a:p>
                  </a:txBody>
                  <a:tcPr marL="54864" marR="54864" marT="18288" marB="18288" anchor="ctr">
                    <a:solidFill>
                      <a:srgbClr val="E3F1E4"/>
                    </a:solidFill>
                  </a:tcPr>
                </a:tc>
                <a:tc>
                  <a:txBody>
                    <a:bodyPr wrap="square"/>
                    <a:lstStyle/>
                    <a:p>
                      <a:pPr algn="l">
                        <a:spcBef>
                          <a:spcPts val="0"/>
                        </a:spcBef>
                        <a:spcAft>
                          <a:spcPts val="0"/>
                        </a:spcAft>
                      </a:pPr>
                      <a:r>
                        <a:rPr lang="tr-TR" sz="1700" b="0" i="0">
                          <a:solidFill>
                            <a:srgbClr val="262626"/>
                          </a:solidFill>
                          <a:latin typeface="Calibri"/>
                        </a:rPr>
                        <a:t>Nükleer santral, demir-çelik (s. 175)</a:t>
                      </a:r>
                    </a:p>
                  </a:txBody>
                  <a:tcPr marL="54864" marR="54864" marT="18288" marB="18288" anchor="ctr">
                    <a:solidFill>
                      <a:srgbClr val="E3F1E4"/>
                    </a:solidFill>
                  </a:tcPr>
                </a:tc>
              </a:tr>
              <a:tr h="640080">
                <a:tc>
                  <a:txBody>
                    <a:bodyPr wrap="square"/>
                    <a:lstStyle/>
                    <a:p>
                      <a:pPr algn="l">
                        <a:spcBef>
                          <a:spcPts val="0"/>
                        </a:spcBef>
                        <a:spcAft>
                          <a:spcPts val="0"/>
                        </a:spcAft>
                      </a:pPr>
                      <a:r>
                        <a:rPr lang="tr-TR" sz="1700" b="0" i="0">
                          <a:solidFill>
                            <a:srgbClr val="262626"/>
                          </a:solidFill>
                          <a:latin typeface="Calibri"/>
                        </a:rPr>
                        <a:t>Toprak</a:t>
                      </a:r>
                    </a:p>
                  </a:txBody>
                  <a:tcPr marL="54864" marR="54864" marT="18288" marB="18288" anchor="ctr">
                    <a:solidFill>
                      <a:srgbClr val="FFFFFF"/>
                    </a:solidFill>
                  </a:tcPr>
                </a:tc>
                <a:tc>
                  <a:txBody>
                    <a:bodyPr wrap="square"/>
                    <a:lstStyle/>
                    <a:p>
                      <a:pPr algn="l">
                        <a:spcBef>
                          <a:spcPts val="0"/>
                        </a:spcBef>
                        <a:spcAft>
                          <a:spcPts val="0"/>
                        </a:spcAft>
                      </a:pPr>
                      <a:r>
                        <a:rPr lang="tr-TR" sz="1700" b="0" i="0">
                          <a:solidFill>
                            <a:srgbClr val="262626"/>
                          </a:solidFill>
                          <a:latin typeface="Calibri"/>
                        </a:rPr>
                        <a:t>Tarım; porselen, kiremit, tuğla üretimi</a:t>
                      </a:r>
                    </a:p>
                  </a:txBody>
                  <a:tcPr marL="54864" marR="54864" marT="18288" marB="18288" anchor="ctr">
                    <a:solidFill>
                      <a:srgbClr val="FFFFFF"/>
                    </a:solidFill>
                  </a:tcPr>
                </a:tc>
                <a:tc>
                  <a:txBody>
                    <a:bodyPr wrap="square"/>
                    <a:lstStyle/>
                    <a:p>
                      <a:pPr algn="l">
                        <a:spcBef>
                          <a:spcPts val="0"/>
                        </a:spcBef>
                        <a:spcAft>
                          <a:spcPts val="0"/>
                        </a:spcAft>
                      </a:pPr>
                      <a:r>
                        <a:rPr lang="tr-TR" sz="1700" b="0" i="0">
                          <a:solidFill>
                            <a:srgbClr val="262626"/>
                          </a:solidFill>
                          <a:latin typeface="Calibri"/>
                        </a:rPr>
                        <a:t>Seramik (Görsel 5.4)</a:t>
                      </a:r>
                    </a:p>
                  </a:txBody>
                  <a:tcPr marL="54864" marR="54864" marT="18288" marB="18288" anchor="ctr">
                    <a:solidFill>
                      <a:srgbClr val="FFFFFF"/>
                    </a:solidFill>
                  </a:tcPr>
                </a:tc>
              </a:tr>
              <a:tr h="640080">
                <a:tc>
                  <a:txBody>
                    <a:bodyPr wrap="square"/>
                    <a:lstStyle/>
                    <a:p>
                      <a:pPr algn="l">
                        <a:spcBef>
                          <a:spcPts val="0"/>
                        </a:spcBef>
                        <a:spcAft>
                          <a:spcPts val="0"/>
                        </a:spcAft>
                      </a:pPr>
                      <a:r>
                        <a:rPr lang="tr-TR" sz="1700" b="0" i="0">
                          <a:solidFill>
                            <a:srgbClr val="262626"/>
                          </a:solidFill>
                          <a:latin typeface="Calibri"/>
                        </a:rPr>
                        <a:t>Bitki örtüsü</a:t>
                      </a:r>
                    </a:p>
                  </a:txBody>
                  <a:tcPr marL="54864" marR="54864" marT="18288" marB="18288" anchor="ctr">
                    <a:solidFill>
                      <a:srgbClr val="E3F1E4"/>
                    </a:solidFill>
                  </a:tcPr>
                </a:tc>
                <a:tc>
                  <a:txBody>
                    <a:bodyPr wrap="square"/>
                    <a:lstStyle/>
                    <a:p>
                      <a:pPr algn="l">
                        <a:spcBef>
                          <a:spcPts val="0"/>
                        </a:spcBef>
                        <a:spcAft>
                          <a:spcPts val="0"/>
                        </a:spcAft>
                      </a:pPr>
                      <a:r>
                        <a:rPr lang="tr-TR" sz="1700" b="0" i="0">
                          <a:solidFill>
                            <a:srgbClr val="262626"/>
                          </a:solidFill>
                          <a:latin typeface="Calibri"/>
                        </a:rPr>
                        <a:t>Hayvancılık; kereste, kâğıt, mobilya; dinlenme ve spor</a:t>
                      </a:r>
                    </a:p>
                  </a:txBody>
                  <a:tcPr marL="54864" marR="54864" marT="18288" marB="18288" anchor="ctr">
                    <a:solidFill>
                      <a:srgbClr val="E3F1E4"/>
                    </a:solidFill>
                  </a:tcPr>
                </a:tc>
                <a:tc>
                  <a:txBody>
                    <a:bodyPr wrap="square"/>
                    <a:lstStyle/>
                    <a:p>
                      <a:pPr algn="l">
                        <a:spcBef>
                          <a:spcPts val="0"/>
                        </a:spcBef>
                        <a:spcAft>
                          <a:spcPts val="0"/>
                        </a:spcAft>
                      </a:pPr>
                      <a:r>
                        <a:rPr lang="tr-TR" sz="1700" b="0" i="0">
                          <a:solidFill>
                            <a:srgbClr val="262626"/>
                          </a:solidFill>
                          <a:latin typeface="Calibri"/>
                        </a:rPr>
                        <a:t>Kâğıt (Görsel 5.5)</a:t>
                      </a:r>
                    </a:p>
                  </a:txBody>
                  <a:tcPr marL="54864" marR="54864" marT="18288" marB="18288" anchor="ctr">
                    <a:solidFill>
                      <a:srgbClr val="E3F1E4"/>
                    </a:solidFill>
                  </a:tcPr>
                </a:tc>
              </a:tr>
              <a:tr h="640080">
                <a:tc>
                  <a:txBody>
                    <a:bodyPr wrap="square"/>
                    <a:lstStyle/>
                    <a:p>
                      <a:pPr algn="l">
                        <a:spcBef>
                          <a:spcPts val="0"/>
                        </a:spcBef>
                        <a:spcAft>
                          <a:spcPts val="0"/>
                        </a:spcAft>
                      </a:pPr>
                      <a:r>
                        <a:rPr lang="tr-TR" sz="1700" b="0" i="0">
                          <a:solidFill>
                            <a:srgbClr val="262626"/>
                          </a:solidFill>
                          <a:latin typeface="Calibri"/>
                        </a:rPr>
                        <a:t>Enerji ve maden kaynakları</a:t>
                      </a:r>
                    </a:p>
                  </a:txBody>
                  <a:tcPr marL="54864" marR="54864" marT="18288" marB="18288" anchor="ctr">
                    <a:solidFill>
                      <a:srgbClr val="FFFFFF"/>
                    </a:solidFill>
                  </a:tcPr>
                </a:tc>
                <a:tc>
                  <a:txBody>
                    <a:bodyPr wrap="square"/>
                    <a:lstStyle/>
                    <a:p>
                      <a:pPr algn="l">
                        <a:spcBef>
                          <a:spcPts val="0"/>
                        </a:spcBef>
                        <a:spcAft>
                          <a:spcPts val="0"/>
                        </a:spcAft>
                      </a:pPr>
                      <a:r>
                        <a:rPr lang="tr-TR" sz="1700" b="0" i="0">
                          <a:solidFill>
                            <a:srgbClr val="262626"/>
                          </a:solidFill>
                          <a:latin typeface="Calibri"/>
                        </a:rPr>
                        <a:t>Sanayi ham maddesi; sanayi tesislerinin yeri</a:t>
                      </a:r>
                    </a:p>
                  </a:txBody>
                  <a:tcPr marL="54864" marR="54864" marT="18288" marB="18288" anchor="ctr">
                    <a:solidFill>
                      <a:srgbClr val="FFFFFF"/>
                    </a:solidFill>
                  </a:tcPr>
                </a:tc>
                <a:tc>
                  <a:txBody>
                    <a:bodyPr wrap="square"/>
                    <a:lstStyle/>
                    <a:p>
                      <a:pPr algn="l">
                        <a:spcBef>
                          <a:spcPts val="0"/>
                        </a:spcBef>
                        <a:spcAft>
                          <a:spcPts val="0"/>
                        </a:spcAft>
                      </a:pPr>
                      <a:r>
                        <a:rPr lang="tr-TR" sz="1700" b="0" i="0">
                          <a:solidFill>
                            <a:srgbClr val="262626"/>
                          </a:solidFill>
                          <a:latin typeface="Calibri"/>
                        </a:rPr>
                        <a:t>Taş kömürü → demir-çelik (s. 175)</a:t>
                      </a:r>
                    </a:p>
                  </a:txBody>
                  <a:tcPr marL="54864" marR="54864" marT="18288" marB="18288" anchor="ctr">
                    <a:solidFill>
                      <a:srgbClr val="FFFFFF"/>
                    </a:solidFill>
                  </a:tcPr>
                </a:tc>
              </a:tr>
            </a:tbl>
          </a:graphicData>
        </a:graphic>
      </p:graphicFrame>
      <p:sp>
        <p:nvSpPr>
          <p:cNvPr id="7" name="TextBox 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8" name="Rounded Rectangle 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174-175</a:t>
            </a:r>
          </a:p>
        </p:txBody>
      </p:sp>
      <p:sp>
        <p:nvSpPr>
          <p:cNvPr id="9" name="TextBox 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43 / 166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2</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Hangisinde doğal faktör ile etkilediği faaliyet YANLIŞ eşleştirilmiştir?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Toprak — porselen, kiremit, tuğla üretimi</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Bitki örtüsü — kâğıt ve mobilya üretimi</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Su kaynakları — hidroelektrik enerji üretimi</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Topoğrafya — liman ve havalimanı yerleri</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İklim — demir-çelik tesisinin taş kömürüne yakınlığı</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174-175</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44 / 166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2</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Hangisinde doğal faktör ile etkilediği faaliyet YANLIŞ eşleştirilmiştir?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Toprak — porselen, kiremit, tuğla üretimi</a:t>
            </a:r>
          </a:p>
        </p:txBody>
      </p:sp>
      <p:sp>
        <p:nvSpPr>
          <p:cNvPr id="10" name="Rounded Rectangle 9"/>
          <p:cNvSpPr/>
          <p:nvPr/>
        </p:nvSpPr>
        <p:spPr>
          <a:xfrm>
            <a:off x="502920" y="315833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11444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Bitki örtüsü — kâğıt ve mobilya üretimi</a:t>
            </a:r>
          </a:p>
        </p:txBody>
      </p:sp>
      <p:sp>
        <p:nvSpPr>
          <p:cNvPr id="13" name="Rounded Rectangle 12"/>
          <p:cNvSpPr/>
          <p:nvPr/>
        </p:nvSpPr>
        <p:spPr>
          <a:xfrm>
            <a:off x="502920" y="368320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363931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Su kaynakları — hidroelektrik enerji üretimi</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Topoğrafya — liman ve havalimanı yerleri</a:t>
            </a:r>
          </a:p>
        </p:txBody>
      </p:sp>
      <p:sp>
        <p:nvSpPr>
          <p:cNvPr id="19" name="Rounded Rectangle 18"/>
          <p:cNvSpPr/>
          <p:nvPr/>
        </p:nvSpPr>
        <p:spPr>
          <a:xfrm>
            <a:off x="502920" y="4732932"/>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20" name="Oval 19"/>
          <p:cNvSpPr/>
          <p:nvPr/>
        </p:nvSpPr>
        <p:spPr>
          <a:xfrm>
            <a:off x="594360" y="4689040"/>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İklim — demir-çelik tesisinin taş kömürüne yakınlığı</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Demir-çelik tesisinin taş kömürüne yakın kurulması ENERJİ KAYNAKLARINA yakınlıktır, iklimle ilgili değildir. Diğer dört eşleştirme kitaptaki cümlelerdir (s. 175).</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174-175</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45 / 166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750" b="1" i="0">
                <a:solidFill>
                  <a:srgbClr val="FFFFFF"/>
                </a:solidFill>
                <a:latin typeface="Calibri"/>
              </a:rPr>
              <a:t>Uygulama: Ekonomik Faaliyetleri Etkileyen Doğal Faktörler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UYGULAMA · 12 dk</a:t>
            </a:r>
          </a:p>
        </p:txBody>
      </p:sp>
      <p:sp>
        <p:nvSpPr>
          <p:cNvPr id="6" name="Rounded Rectangle 5"/>
          <p:cNvSpPr/>
          <p:nvPr/>
        </p:nvSpPr>
        <p:spPr>
          <a:xfrm>
            <a:off x="502920" y="1216152"/>
            <a:ext cx="11185855" cy="640080"/>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640080"/>
          </a:xfrm>
          <a:prstGeom prst="rect">
            <a:avLst/>
          </a:prstGeom>
          <a:solidFill>
            <a:srgbClr val="B85C12"/>
          </a:solidFill>
          <a:ln>
            <a:noFill/>
          </a:ln>
          <a:effectLst/>
        </p:spPr>
        <p:txBody>
          <a:bodyPr rtlCol="0" anchor="ctr"/>
          <a:lstStyle/>
          <a:p/>
        </p:txBody>
      </p:sp>
      <p:sp>
        <p:nvSpPr>
          <p:cNvPr id="8" name="TextBox 7"/>
          <p:cNvSpPr txBox="1"/>
          <p:nvPr/>
        </p:nvSpPr>
        <p:spPr>
          <a:xfrm>
            <a:off x="777240" y="1216152"/>
            <a:ext cx="10774375" cy="64008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Aşağıda verilen harita ve karekoddaki haritalardan yararlanarak soruları cevaplayınız.</a:t>
            </a:r>
          </a:p>
        </p:txBody>
      </p:sp>
      <p:sp>
        <p:nvSpPr>
          <p:cNvPr id="9" name="Rounded Rectangle 8"/>
          <p:cNvSpPr/>
          <p:nvPr/>
        </p:nvSpPr>
        <p:spPr>
          <a:xfrm>
            <a:off x="502920" y="2039112"/>
            <a:ext cx="6675120" cy="160020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300"/>
              </a:spcAft>
            </a:pPr>
            <a:r>
              <a:rPr lang="tr-TR" sz="1700" b="1" i="0">
                <a:solidFill>
                  <a:srgbClr val="B85C12"/>
                </a:solidFill>
                <a:latin typeface="Calibri"/>
              </a:rPr>
              <a:t>1. soru · 1-7. gruplar</a:t>
            </a:r>
          </a:p>
          <a:p>
            <a:pPr algn="l">
              <a:spcBef>
                <a:spcPts val="0"/>
              </a:spcBef>
              <a:spcAft>
                <a:spcPts val="0"/>
              </a:spcAft>
            </a:pPr>
            <a:r>
              <a:rPr lang="tr-TR" sz="1900" b="0" i="0">
                <a:solidFill>
                  <a:srgbClr val="262626"/>
                </a:solidFill>
                <a:latin typeface="Calibri"/>
              </a:rPr>
              <a:t>Yukarıdaki haritada harflerle gösterilen yerlerde tarım alanlarının sınırlı olmasına yol açan doğal faktörleri karekodda verilen haritaları da inceleyerek aşağıdaki tabloya yazınız.</a:t>
            </a:r>
          </a:p>
        </p:txBody>
      </p:sp>
      <p:sp>
        <p:nvSpPr>
          <p:cNvPr id="10" name="Rounded Rectangle 9"/>
          <p:cNvSpPr/>
          <p:nvPr/>
        </p:nvSpPr>
        <p:spPr>
          <a:xfrm>
            <a:off x="502920" y="3776472"/>
            <a:ext cx="6675120" cy="105156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284"/>
              </a:spcAft>
            </a:pPr>
            <a:r>
              <a:rPr lang="tr-TR" sz="1610" b="1" i="0">
                <a:solidFill>
                  <a:srgbClr val="B85C12"/>
                </a:solidFill>
                <a:latin typeface="Calibri"/>
              </a:rPr>
              <a:t>2. soru · 8. grup</a:t>
            </a:r>
          </a:p>
          <a:p>
            <a:pPr algn="l">
              <a:spcBef>
                <a:spcPts val="0"/>
              </a:spcBef>
              <a:spcAft>
                <a:spcPts val="0"/>
              </a:spcAft>
            </a:pPr>
            <a:r>
              <a:rPr lang="tr-TR" sz="1800" b="0" i="0">
                <a:solidFill>
                  <a:srgbClr val="262626"/>
                </a:solidFill>
                <a:latin typeface="Calibri"/>
              </a:rPr>
              <a:t>Dünyada tarım alanlarının yoğunlaştığı iklim kuşağı neresidir? Gerekçeleriyle açıklayınız.</a:t>
            </a:r>
          </a:p>
        </p:txBody>
      </p:sp>
      <p:sp>
        <p:nvSpPr>
          <p:cNvPr id="11" name="Rounded Rectangle 10"/>
          <p:cNvSpPr/>
          <p:nvPr/>
        </p:nvSpPr>
        <p:spPr>
          <a:xfrm>
            <a:off x="502920" y="4965192"/>
            <a:ext cx="6675120" cy="132588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l" marL="236189" indent="-236189">
              <a:spcBef>
                <a:spcPts val="0"/>
              </a:spcBef>
              <a:spcAft>
                <a:spcPts val="300"/>
              </a:spcAft>
            </a:pPr>
            <a:r>
              <a:rPr lang="tr-TR" sz="1900" b="1" i="0">
                <a:solidFill>
                  <a:srgbClr val="2C6696"/>
                </a:solidFill>
                <a:latin typeface="Calibri"/>
              </a:rPr>
              <a:t>•  </a:t>
            </a:r>
            <a:r>
              <a:rPr lang="tr-TR" sz="1900" b="0" i="0">
                <a:solidFill>
                  <a:srgbClr val="262626"/>
                </a:solidFill>
                <a:latin typeface="Calibri"/>
              </a:rPr>
              <a:t>Önce kendi harfin, sonra kalanlar</a:t>
            </a:r>
          </a:p>
          <a:p>
            <a:pPr algn="l" marL="236189" indent="-236189">
              <a:spcBef>
                <a:spcPts val="0"/>
              </a:spcBef>
              <a:spcAft>
                <a:spcPts val="300"/>
              </a:spcAft>
            </a:pPr>
            <a:r>
              <a:rPr lang="tr-TR" sz="1900" b="1" i="0">
                <a:solidFill>
                  <a:srgbClr val="2C6696"/>
                </a:solidFill>
                <a:latin typeface="Calibri"/>
              </a:rPr>
              <a:t>•  </a:t>
            </a:r>
            <a:r>
              <a:rPr lang="tr-TR" sz="1900" b="0" i="0">
                <a:solidFill>
                  <a:srgbClr val="262626"/>
                </a:solidFill>
                <a:latin typeface="Calibri"/>
              </a:rPr>
              <a:t>Tabloya üçüncü sütun: kanıt haritası</a:t>
            </a:r>
          </a:p>
          <a:p>
            <a:pPr algn="l" marL="236189" indent="-236189">
              <a:spcBef>
                <a:spcPts val="0"/>
              </a:spcBef>
              <a:spcAft>
                <a:spcPts val="0"/>
              </a:spcAft>
            </a:pPr>
            <a:r>
              <a:rPr lang="tr-TR" sz="1900" b="1" i="0">
                <a:solidFill>
                  <a:srgbClr val="2C6696"/>
                </a:solidFill>
                <a:latin typeface="Calibri"/>
              </a:rPr>
              <a:t>•  </a:t>
            </a:r>
            <a:r>
              <a:rPr lang="tr-TR" sz="1900" b="0" i="0">
                <a:solidFill>
                  <a:srgbClr val="262626"/>
                </a:solidFill>
                <a:latin typeface="Calibri"/>
              </a:rPr>
              <a:t>Karekod haritaları tahtada</a:t>
            </a:r>
          </a:p>
        </p:txBody>
      </p:sp>
      <p:sp>
        <p:nvSpPr>
          <p:cNvPr id="12" name="TextBox 11"/>
          <p:cNvSpPr txBox="1"/>
          <p:nvPr/>
        </p:nvSpPr>
        <p:spPr>
          <a:xfrm>
            <a:off x="7452360" y="2039112"/>
            <a:ext cx="4236415" cy="411480"/>
          </a:xfrm>
          <a:prstGeom prst="rect">
            <a:avLst/>
          </a:prstGeom>
          <a:noFill/>
        </p:spPr>
        <p:txBody>
          <a:bodyPr wrap="square" anchor="t" lIns="73152" rIns="73152" tIns="36576" bIns="36576">
            <a:noAutofit/>
          </a:bodyPr>
          <a:lstStyle/>
          <a:p>
            <a:pPr algn="l">
              <a:spcBef>
                <a:spcPts val="0"/>
              </a:spcBef>
              <a:spcAft>
                <a:spcPts val="0"/>
              </a:spcAft>
            </a:pPr>
            <a:r>
              <a:rPr lang="tr-TR" sz="1900" b="1" i="0">
                <a:solidFill>
                  <a:srgbClr val="B85C12"/>
                </a:solidFill>
                <a:latin typeface="Calibri"/>
              </a:rPr>
              <a:t>Görev dağılımı</a:t>
            </a:r>
          </a:p>
        </p:txBody>
      </p:sp>
      <p:sp>
        <p:nvSpPr>
          <p:cNvPr id="13" name="Rounded Rectangle 12"/>
          <p:cNvSpPr/>
          <p:nvPr/>
        </p:nvSpPr>
        <p:spPr>
          <a:xfrm>
            <a:off x="7452360" y="2542032"/>
            <a:ext cx="2063343" cy="566928"/>
          </a:xfrm>
          <a:prstGeom prst="roundRect">
            <a:avLst>
              <a:gd name="adj" fmla="val 30000"/>
            </a:avLst>
          </a:prstGeom>
          <a:solidFill>
            <a:srgbClr val="F0F0F0"/>
          </a:solidFill>
          <a:ln>
            <a:noFill/>
          </a:ln>
          <a:effectLst/>
        </p:spPr>
        <p:txBody>
          <a:bodyPr rtlCol="0" anchor="ctr"/>
          <a:lstStyle/>
          <a:p/>
        </p:txBody>
      </p:sp>
      <p:sp>
        <p:nvSpPr>
          <p:cNvPr id="14" name="Oval 13"/>
          <p:cNvSpPr/>
          <p:nvPr/>
        </p:nvSpPr>
        <p:spPr>
          <a:xfrm>
            <a:off x="7525512" y="2615184"/>
            <a:ext cx="420624" cy="420624"/>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1</a:t>
            </a:r>
          </a:p>
        </p:txBody>
      </p:sp>
      <p:sp>
        <p:nvSpPr>
          <p:cNvPr id="15" name="TextBox 14"/>
          <p:cNvSpPr txBox="1"/>
          <p:nvPr/>
        </p:nvSpPr>
        <p:spPr>
          <a:xfrm>
            <a:off x="8001000" y="2542032"/>
            <a:ext cx="457200" cy="566928"/>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262626"/>
                </a:solidFill>
                <a:latin typeface="Calibri"/>
              </a:rPr>
              <a:t>→</a:t>
            </a:r>
          </a:p>
        </p:txBody>
      </p:sp>
      <p:sp>
        <p:nvSpPr>
          <p:cNvPr id="16" name="Oval 15"/>
          <p:cNvSpPr/>
          <p:nvPr/>
        </p:nvSpPr>
        <p:spPr>
          <a:xfrm>
            <a:off x="8439912" y="2624328"/>
            <a:ext cx="402336" cy="402336"/>
          </a:xfrm>
          <a:prstGeom prst="ellipse">
            <a:avLst/>
          </a:prstGeom>
          <a:solidFill>
            <a:srgbClr val="FFFFFF"/>
          </a:solidFill>
          <a:ln w="28575">
            <a:solidFill>
              <a:srgbClr val="D3373A"/>
            </a:solidFill>
          </a:ln>
          <a:effectLst/>
        </p:spPr>
        <p:txBody>
          <a:bodyPr rtlCol="0" anchor="ctr" wrap="none" lIns="0" rIns="0" tIns="0" bIns="0">
            <a:noAutofit/>
          </a:bodyPr>
          <a:lstStyle/>
          <a:p>
            <a:pPr algn="ctr">
              <a:spcBef>
                <a:spcPts val="0"/>
              </a:spcBef>
              <a:spcAft>
                <a:spcPts val="0"/>
              </a:spcAft>
            </a:pPr>
            <a:r>
              <a:rPr lang="tr-TR" sz="1700" b="1" i="0">
                <a:solidFill>
                  <a:srgbClr val="262626"/>
                </a:solidFill>
                <a:latin typeface="Calibri"/>
              </a:rPr>
              <a:t>a</a:t>
            </a:r>
          </a:p>
        </p:txBody>
      </p:sp>
      <p:sp>
        <p:nvSpPr>
          <p:cNvPr id="17" name="Rounded Rectangle 16"/>
          <p:cNvSpPr/>
          <p:nvPr/>
        </p:nvSpPr>
        <p:spPr>
          <a:xfrm>
            <a:off x="9625431" y="2542032"/>
            <a:ext cx="2063343" cy="566928"/>
          </a:xfrm>
          <a:prstGeom prst="roundRect">
            <a:avLst>
              <a:gd name="adj" fmla="val 30000"/>
            </a:avLst>
          </a:prstGeom>
          <a:solidFill>
            <a:srgbClr val="F0F0F0"/>
          </a:solidFill>
          <a:ln>
            <a:noFill/>
          </a:ln>
          <a:effectLst/>
        </p:spPr>
        <p:txBody>
          <a:bodyPr rtlCol="0" anchor="ctr"/>
          <a:lstStyle/>
          <a:p/>
        </p:txBody>
      </p:sp>
      <p:sp>
        <p:nvSpPr>
          <p:cNvPr id="18" name="Oval 17"/>
          <p:cNvSpPr/>
          <p:nvPr/>
        </p:nvSpPr>
        <p:spPr>
          <a:xfrm>
            <a:off x="9698583" y="2615184"/>
            <a:ext cx="420624" cy="420624"/>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2</a:t>
            </a:r>
          </a:p>
        </p:txBody>
      </p:sp>
      <p:sp>
        <p:nvSpPr>
          <p:cNvPr id="19" name="TextBox 18"/>
          <p:cNvSpPr txBox="1"/>
          <p:nvPr/>
        </p:nvSpPr>
        <p:spPr>
          <a:xfrm>
            <a:off x="10174071" y="2542032"/>
            <a:ext cx="457200" cy="566928"/>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262626"/>
                </a:solidFill>
                <a:latin typeface="Calibri"/>
              </a:rPr>
              <a:t>→</a:t>
            </a:r>
          </a:p>
        </p:txBody>
      </p:sp>
      <p:sp>
        <p:nvSpPr>
          <p:cNvPr id="20" name="Oval 19"/>
          <p:cNvSpPr/>
          <p:nvPr/>
        </p:nvSpPr>
        <p:spPr>
          <a:xfrm>
            <a:off x="10612983" y="2624328"/>
            <a:ext cx="402336" cy="402336"/>
          </a:xfrm>
          <a:prstGeom prst="ellipse">
            <a:avLst/>
          </a:prstGeom>
          <a:solidFill>
            <a:srgbClr val="FFFFFF"/>
          </a:solidFill>
          <a:ln w="28575">
            <a:solidFill>
              <a:srgbClr val="D3373A"/>
            </a:solidFill>
          </a:ln>
          <a:effectLst/>
        </p:spPr>
        <p:txBody>
          <a:bodyPr rtlCol="0" anchor="ctr" wrap="none" lIns="0" rIns="0" tIns="0" bIns="0">
            <a:noAutofit/>
          </a:bodyPr>
          <a:lstStyle/>
          <a:p>
            <a:pPr algn="ctr">
              <a:spcBef>
                <a:spcPts val="0"/>
              </a:spcBef>
              <a:spcAft>
                <a:spcPts val="0"/>
              </a:spcAft>
            </a:pPr>
            <a:r>
              <a:rPr lang="tr-TR" sz="1700" b="1" i="0">
                <a:solidFill>
                  <a:srgbClr val="262626"/>
                </a:solidFill>
                <a:latin typeface="Calibri"/>
              </a:rPr>
              <a:t>b</a:t>
            </a:r>
          </a:p>
        </p:txBody>
      </p:sp>
      <p:sp>
        <p:nvSpPr>
          <p:cNvPr id="21" name="Rounded Rectangle 20"/>
          <p:cNvSpPr/>
          <p:nvPr/>
        </p:nvSpPr>
        <p:spPr>
          <a:xfrm>
            <a:off x="7452360" y="3218688"/>
            <a:ext cx="2063343" cy="566928"/>
          </a:xfrm>
          <a:prstGeom prst="roundRect">
            <a:avLst>
              <a:gd name="adj" fmla="val 30000"/>
            </a:avLst>
          </a:prstGeom>
          <a:solidFill>
            <a:srgbClr val="F0F0F0"/>
          </a:solidFill>
          <a:ln>
            <a:noFill/>
          </a:ln>
          <a:effectLst/>
        </p:spPr>
        <p:txBody>
          <a:bodyPr rtlCol="0" anchor="ctr"/>
          <a:lstStyle/>
          <a:p/>
        </p:txBody>
      </p:sp>
      <p:sp>
        <p:nvSpPr>
          <p:cNvPr id="22" name="Oval 21"/>
          <p:cNvSpPr/>
          <p:nvPr/>
        </p:nvSpPr>
        <p:spPr>
          <a:xfrm>
            <a:off x="7525512" y="3291840"/>
            <a:ext cx="420624" cy="420624"/>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3</a:t>
            </a:r>
          </a:p>
        </p:txBody>
      </p:sp>
      <p:sp>
        <p:nvSpPr>
          <p:cNvPr id="23" name="TextBox 22"/>
          <p:cNvSpPr txBox="1"/>
          <p:nvPr/>
        </p:nvSpPr>
        <p:spPr>
          <a:xfrm>
            <a:off x="8001000" y="3218688"/>
            <a:ext cx="457200" cy="566928"/>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262626"/>
                </a:solidFill>
                <a:latin typeface="Calibri"/>
              </a:rPr>
              <a:t>→</a:t>
            </a:r>
          </a:p>
        </p:txBody>
      </p:sp>
      <p:sp>
        <p:nvSpPr>
          <p:cNvPr id="24" name="Oval 23"/>
          <p:cNvSpPr/>
          <p:nvPr/>
        </p:nvSpPr>
        <p:spPr>
          <a:xfrm>
            <a:off x="8439912" y="3300984"/>
            <a:ext cx="402336" cy="402336"/>
          </a:xfrm>
          <a:prstGeom prst="ellipse">
            <a:avLst/>
          </a:prstGeom>
          <a:solidFill>
            <a:srgbClr val="FFFFFF"/>
          </a:solidFill>
          <a:ln w="28575">
            <a:solidFill>
              <a:srgbClr val="D3373A"/>
            </a:solidFill>
          </a:ln>
          <a:effectLst/>
        </p:spPr>
        <p:txBody>
          <a:bodyPr rtlCol="0" anchor="ctr" wrap="none" lIns="0" rIns="0" tIns="0" bIns="0">
            <a:noAutofit/>
          </a:bodyPr>
          <a:lstStyle/>
          <a:p>
            <a:pPr algn="ctr">
              <a:spcBef>
                <a:spcPts val="0"/>
              </a:spcBef>
              <a:spcAft>
                <a:spcPts val="0"/>
              </a:spcAft>
            </a:pPr>
            <a:r>
              <a:rPr lang="tr-TR" sz="1700" b="1" i="0">
                <a:solidFill>
                  <a:srgbClr val="262626"/>
                </a:solidFill>
                <a:latin typeface="Calibri"/>
              </a:rPr>
              <a:t>c</a:t>
            </a:r>
          </a:p>
        </p:txBody>
      </p:sp>
      <p:sp>
        <p:nvSpPr>
          <p:cNvPr id="25" name="Rounded Rectangle 24"/>
          <p:cNvSpPr/>
          <p:nvPr/>
        </p:nvSpPr>
        <p:spPr>
          <a:xfrm>
            <a:off x="9625431" y="3218688"/>
            <a:ext cx="2063343" cy="566928"/>
          </a:xfrm>
          <a:prstGeom prst="roundRect">
            <a:avLst>
              <a:gd name="adj" fmla="val 30000"/>
            </a:avLst>
          </a:prstGeom>
          <a:solidFill>
            <a:srgbClr val="F0F0F0"/>
          </a:solidFill>
          <a:ln>
            <a:noFill/>
          </a:ln>
          <a:effectLst/>
        </p:spPr>
        <p:txBody>
          <a:bodyPr rtlCol="0" anchor="ctr"/>
          <a:lstStyle/>
          <a:p/>
        </p:txBody>
      </p:sp>
      <p:sp>
        <p:nvSpPr>
          <p:cNvPr id="26" name="Oval 25"/>
          <p:cNvSpPr/>
          <p:nvPr/>
        </p:nvSpPr>
        <p:spPr>
          <a:xfrm>
            <a:off x="9698583" y="3291840"/>
            <a:ext cx="420624" cy="420624"/>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4</a:t>
            </a:r>
          </a:p>
        </p:txBody>
      </p:sp>
      <p:sp>
        <p:nvSpPr>
          <p:cNvPr id="27" name="TextBox 26"/>
          <p:cNvSpPr txBox="1"/>
          <p:nvPr/>
        </p:nvSpPr>
        <p:spPr>
          <a:xfrm>
            <a:off x="10174071" y="3218688"/>
            <a:ext cx="457200" cy="566928"/>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262626"/>
                </a:solidFill>
                <a:latin typeface="Calibri"/>
              </a:rPr>
              <a:t>→</a:t>
            </a:r>
          </a:p>
        </p:txBody>
      </p:sp>
      <p:sp>
        <p:nvSpPr>
          <p:cNvPr id="28" name="Oval 27"/>
          <p:cNvSpPr/>
          <p:nvPr/>
        </p:nvSpPr>
        <p:spPr>
          <a:xfrm>
            <a:off x="10612983" y="3300984"/>
            <a:ext cx="402336" cy="402336"/>
          </a:xfrm>
          <a:prstGeom prst="ellipse">
            <a:avLst/>
          </a:prstGeom>
          <a:solidFill>
            <a:srgbClr val="FFFFFF"/>
          </a:solidFill>
          <a:ln w="28575">
            <a:solidFill>
              <a:srgbClr val="D3373A"/>
            </a:solidFill>
          </a:ln>
          <a:effectLst/>
        </p:spPr>
        <p:txBody>
          <a:bodyPr rtlCol="0" anchor="ctr" wrap="none" lIns="0" rIns="0" tIns="0" bIns="0">
            <a:noAutofit/>
          </a:bodyPr>
          <a:lstStyle/>
          <a:p>
            <a:pPr algn="ctr">
              <a:spcBef>
                <a:spcPts val="0"/>
              </a:spcBef>
              <a:spcAft>
                <a:spcPts val="0"/>
              </a:spcAft>
            </a:pPr>
            <a:r>
              <a:rPr lang="tr-TR" sz="1700" b="1" i="0">
                <a:solidFill>
                  <a:srgbClr val="262626"/>
                </a:solidFill>
                <a:latin typeface="Calibri"/>
              </a:rPr>
              <a:t>ç</a:t>
            </a:r>
          </a:p>
        </p:txBody>
      </p:sp>
      <p:sp>
        <p:nvSpPr>
          <p:cNvPr id="29" name="Rounded Rectangle 28"/>
          <p:cNvSpPr/>
          <p:nvPr/>
        </p:nvSpPr>
        <p:spPr>
          <a:xfrm>
            <a:off x="7452360" y="3895344"/>
            <a:ext cx="2063343" cy="566928"/>
          </a:xfrm>
          <a:prstGeom prst="roundRect">
            <a:avLst>
              <a:gd name="adj" fmla="val 30000"/>
            </a:avLst>
          </a:prstGeom>
          <a:solidFill>
            <a:srgbClr val="F0F0F0"/>
          </a:solidFill>
          <a:ln>
            <a:noFill/>
          </a:ln>
          <a:effectLst/>
        </p:spPr>
        <p:txBody>
          <a:bodyPr rtlCol="0" anchor="ctr"/>
          <a:lstStyle/>
          <a:p/>
        </p:txBody>
      </p:sp>
      <p:sp>
        <p:nvSpPr>
          <p:cNvPr id="30" name="Oval 29"/>
          <p:cNvSpPr/>
          <p:nvPr/>
        </p:nvSpPr>
        <p:spPr>
          <a:xfrm>
            <a:off x="7525512" y="3968496"/>
            <a:ext cx="420624" cy="420624"/>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5</a:t>
            </a:r>
          </a:p>
        </p:txBody>
      </p:sp>
      <p:sp>
        <p:nvSpPr>
          <p:cNvPr id="31" name="TextBox 30"/>
          <p:cNvSpPr txBox="1"/>
          <p:nvPr/>
        </p:nvSpPr>
        <p:spPr>
          <a:xfrm>
            <a:off x="8001000" y="3895344"/>
            <a:ext cx="457200" cy="566928"/>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262626"/>
                </a:solidFill>
                <a:latin typeface="Calibri"/>
              </a:rPr>
              <a:t>→</a:t>
            </a:r>
          </a:p>
        </p:txBody>
      </p:sp>
      <p:sp>
        <p:nvSpPr>
          <p:cNvPr id="32" name="Oval 31"/>
          <p:cNvSpPr/>
          <p:nvPr/>
        </p:nvSpPr>
        <p:spPr>
          <a:xfrm>
            <a:off x="8439912" y="3977640"/>
            <a:ext cx="402336" cy="402336"/>
          </a:xfrm>
          <a:prstGeom prst="ellipse">
            <a:avLst/>
          </a:prstGeom>
          <a:solidFill>
            <a:srgbClr val="FFFFFF"/>
          </a:solidFill>
          <a:ln w="28575">
            <a:solidFill>
              <a:srgbClr val="D3373A"/>
            </a:solidFill>
          </a:ln>
          <a:effectLst/>
        </p:spPr>
        <p:txBody>
          <a:bodyPr rtlCol="0" anchor="ctr" wrap="none" lIns="0" rIns="0" tIns="0" bIns="0">
            <a:noAutofit/>
          </a:bodyPr>
          <a:lstStyle/>
          <a:p>
            <a:pPr algn="ctr">
              <a:spcBef>
                <a:spcPts val="0"/>
              </a:spcBef>
              <a:spcAft>
                <a:spcPts val="0"/>
              </a:spcAft>
            </a:pPr>
            <a:r>
              <a:rPr lang="tr-TR" sz="1700" b="1" i="0">
                <a:solidFill>
                  <a:srgbClr val="262626"/>
                </a:solidFill>
                <a:latin typeface="Calibri"/>
              </a:rPr>
              <a:t>d</a:t>
            </a:r>
          </a:p>
        </p:txBody>
      </p:sp>
      <p:sp>
        <p:nvSpPr>
          <p:cNvPr id="33" name="Rounded Rectangle 32"/>
          <p:cNvSpPr/>
          <p:nvPr/>
        </p:nvSpPr>
        <p:spPr>
          <a:xfrm>
            <a:off x="9625431" y="3895344"/>
            <a:ext cx="2063343" cy="566928"/>
          </a:xfrm>
          <a:prstGeom prst="roundRect">
            <a:avLst>
              <a:gd name="adj" fmla="val 30000"/>
            </a:avLst>
          </a:prstGeom>
          <a:solidFill>
            <a:srgbClr val="F0F0F0"/>
          </a:solidFill>
          <a:ln>
            <a:noFill/>
          </a:ln>
          <a:effectLst/>
        </p:spPr>
        <p:txBody>
          <a:bodyPr rtlCol="0" anchor="ctr"/>
          <a:lstStyle/>
          <a:p/>
        </p:txBody>
      </p:sp>
      <p:sp>
        <p:nvSpPr>
          <p:cNvPr id="34" name="Oval 33"/>
          <p:cNvSpPr/>
          <p:nvPr/>
        </p:nvSpPr>
        <p:spPr>
          <a:xfrm>
            <a:off x="9698583" y="3968496"/>
            <a:ext cx="420624" cy="420624"/>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6</a:t>
            </a:r>
          </a:p>
        </p:txBody>
      </p:sp>
      <p:sp>
        <p:nvSpPr>
          <p:cNvPr id="35" name="TextBox 34"/>
          <p:cNvSpPr txBox="1"/>
          <p:nvPr/>
        </p:nvSpPr>
        <p:spPr>
          <a:xfrm>
            <a:off x="10174071" y="3895344"/>
            <a:ext cx="457200" cy="566928"/>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262626"/>
                </a:solidFill>
                <a:latin typeface="Calibri"/>
              </a:rPr>
              <a:t>→</a:t>
            </a:r>
          </a:p>
        </p:txBody>
      </p:sp>
      <p:sp>
        <p:nvSpPr>
          <p:cNvPr id="36" name="Oval 35"/>
          <p:cNvSpPr/>
          <p:nvPr/>
        </p:nvSpPr>
        <p:spPr>
          <a:xfrm>
            <a:off x="10612983" y="3977640"/>
            <a:ext cx="402336" cy="402336"/>
          </a:xfrm>
          <a:prstGeom prst="ellipse">
            <a:avLst/>
          </a:prstGeom>
          <a:solidFill>
            <a:srgbClr val="FFFFFF"/>
          </a:solidFill>
          <a:ln w="28575">
            <a:solidFill>
              <a:srgbClr val="D3373A"/>
            </a:solidFill>
          </a:ln>
          <a:effectLst/>
        </p:spPr>
        <p:txBody>
          <a:bodyPr rtlCol="0" anchor="ctr" wrap="none" lIns="0" rIns="0" tIns="0" bIns="0">
            <a:noAutofit/>
          </a:bodyPr>
          <a:lstStyle/>
          <a:p>
            <a:pPr algn="ctr">
              <a:spcBef>
                <a:spcPts val="0"/>
              </a:spcBef>
              <a:spcAft>
                <a:spcPts val="0"/>
              </a:spcAft>
            </a:pPr>
            <a:r>
              <a:rPr lang="tr-TR" sz="1700" b="1" i="0">
                <a:solidFill>
                  <a:srgbClr val="262626"/>
                </a:solidFill>
                <a:latin typeface="Calibri"/>
              </a:rPr>
              <a:t>e</a:t>
            </a:r>
          </a:p>
        </p:txBody>
      </p:sp>
      <p:sp>
        <p:nvSpPr>
          <p:cNvPr id="37" name="Rounded Rectangle 36"/>
          <p:cNvSpPr/>
          <p:nvPr/>
        </p:nvSpPr>
        <p:spPr>
          <a:xfrm>
            <a:off x="7452360" y="4572000"/>
            <a:ext cx="2063343" cy="566928"/>
          </a:xfrm>
          <a:prstGeom prst="roundRect">
            <a:avLst>
              <a:gd name="adj" fmla="val 30000"/>
            </a:avLst>
          </a:prstGeom>
          <a:solidFill>
            <a:srgbClr val="F0F0F0"/>
          </a:solidFill>
          <a:ln>
            <a:noFill/>
          </a:ln>
          <a:effectLst/>
        </p:spPr>
        <p:txBody>
          <a:bodyPr rtlCol="0" anchor="ctr"/>
          <a:lstStyle/>
          <a:p/>
        </p:txBody>
      </p:sp>
      <p:sp>
        <p:nvSpPr>
          <p:cNvPr id="38" name="Oval 37"/>
          <p:cNvSpPr/>
          <p:nvPr/>
        </p:nvSpPr>
        <p:spPr>
          <a:xfrm>
            <a:off x="7525512" y="4645152"/>
            <a:ext cx="420624" cy="420624"/>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7</a:t>
            </a:r>
          </a:p>
        </p:txBody>
      </p:sp>
      <p:sp>
        <p:nvSpPr>
          <p:cNvPr id="39" name="TextBox 38"/>
          <p:cNvSpPr txBox="1"/>
          <p:nvPr/>
        </p:nvSpPr>
        <p:spPr>
          <a:xfrm>
            <a:off x="8001000" y="4572000"/>
            <a:ext cx="457200" cy="566928"/>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262626"/>
                </a:solidFill>
                <a:latin typeface="Calibri"/>
              </a:rPr>
              <a:t>→</a:t>
            </a:r>
          </a:p>
        </p:txBody>
      </p:sp>
      <p:sp>
        <p:nvSpPr>
          <p:cNvPr id="40" name="Oval 39"/>
          <p:cNvSpPr/>
          <p:nvPr/>
        </p:nvSpPr>
        <p:spPr>
          <a:xfrm>
            <a:off x="8439912" y="4654296"/>
            <a:ext cx="402336" cy="402336"/>
          </a:xfrm>
          <a:prstGeom prst="ellipse">
            <a:avLst/>
          </a:prstGeom>
          <a:solidFill>
            <a:srgbClr val="FFFFFF"/>
          </a:solidFill>
          <a:ln w="28575">
            <a:solidFill>
              <a:srgbClr val="D3373A"/>
            </a:solidFill>
          </a:ln>
          <a:effectLst/>
        </p:spPr>
        <p:txBody>
          <a:bodyPr rtlCol="0" anchor="ctr" wrap="none" lIns="0" rIns="0" tIns="0" bIns="0">
            <a:noAutofit/>
          </a:bodyPr>
          <a:lstStyle/>
          <a:p>
            <a:pPr algn="ctr">
              <a:spcBef>
                <a:spcPts val="0"/>
              </a:spcBef>
              <a:spcAft>
                <a:spcPts val="0"/>
              </a:spcAft>
            </a:pPr>
            <a:r>
              <a:rPr lang="tr-TR" sz="1700" b="1" i="0">
                <a:solidFill>
                  <a:srgbClr val="262626"/>
                </a:solidFill>
                <a:latin typeface="Calibri"/>
              </a:rPr>
              <a:t>f</a:t>
            </a:r>
          </a:p>
        </p:txBody>
      </p:sp>
      <p:sp>
        <p:nvSpPr>
          <p:cNvPr id="41" name="Rounded Rectangle 40"/>
          <p:cNvSpPr/>
          <p:nvPr/>
        </p:nvSpPr>
        <p:spPr>
          <a:xfrm>
            <a:off x="9625431" y="4572000"/>
            <a:ext cx="2063343" cy="566928"/>
          </a:xfrm>
          <a:prstGeom prst="roundRect">
            <a:avLst>
              <a:gd name="adj" fmla="val 30000"/>
            </a:avLst>
          </a:prstGeom>
          <a:solidFill>
            <a:srgbClr val="FFF3D1"/>
          </a:solidFill>
          <a:ln>
            <a:noFill/>
          </a:ln>
          <a:effectLst/>
        </p:spPr>
        <p:txBody>
          <a:bodyPr rtlCol="0" anchor="ctr"/>
          <a:lstStyle/>
          <a:p/>
        </p:txBody>
      </p:sp>
      <p:sp>
        <p:nvSpPr>
          <p:cNvPr id="42" name="Oval 41"/>
          <p:cNvSpPr/>
          <p:nvPr/>
        </p:nvSpPr>
        <p:spPr>
          <a:xfrm>
            <a:off x="9698583" y="4645152"/>
            <a:ext cx="420624" cy="420624"/>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8</a:t>
            </a:r>
          </a:p>
        </p:txBody>
      </p:sp>
      <p:sp>
        <p:nvSpPr>
          <p:cNvPr id="43" name="TextBox 42"/>
          <p:cNvSpPr txBox="1"/>
          <p:nvPr/>
        </p:nvSpPr>
        <p:spPr>
          <a:xfrm>
            <a:off x="10174071" y="4572000"/>
            <a:ext cx="1468983" cy="566928"/>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262626"/>
                </a:solidFill>
                <a:latin typeface="Calibri"/>
              </a:rPr>
              <a:t>2. soru</a:t>
            </a:r>
          </a:p>
        </p:txBody>
      </p:sp>
      <p:sp>
        <p:nvSpPr>
          <p:cNvPr id="44" name="TextBox 4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45" name="Rounded Rectangle 4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176</a:t>
            </a:r>
          </a:p>
        </p:txBody>
      </p:sp>
      <p:sp>
        <p:nvSpPr>
          <p:cNvPr id="46" name="TextBox 4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46 / 166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Dünya Tarım Alanları Yoğunluk Haritası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UYGULAMA · 1. SORU</a:t>
            </a:r>
          </a:p>
        </p:txBody>
      </p:sp>
      <p:pic>
        <p:nvPicPr>
          <p:cNvPr id="6" name="Picture 5" descr="h28_tarim_haritasi_s176.jpg"/>
          <p:cNvPicPr>
            <a:picLocks noChangeAspect="1"/>
          </p:cNvPicPr>
          <p:nvPr/>
        </p:nvPicPr>
        <p:blipFill>
          <a:blip r:embed="rId3"/>
          <a:stretch>
            <a:fillRect/>
          </a:stretch>
        </p:blipFill>
        <p:spPr>
          <a:xfrm>
            <a:off x="502920" y="1216152"/>
            <a:ext cx="7863840" cy="4047637"/>
          </a:xfrm>
          <a:prstGeom prst="rect">
            <a:avLst/>
          </a:prstGeom>
          <a:ln w="9525">
            <a:solidFill>
              <a:srgbClr val="D9D9D9"/>
            </a:solidFill>
          </a:ln>
        </p:spPr>
      </p:pic>
      <p:sp>
        <p:nvSpPr>
          <p:cNvPr id="7" name="TextBox 6"/>
          <p:cNvSpPr txBox="1"/>
          <p:nvPr/>
        </p:nvSpPr>
        <p:spPr>
          <a:xfrm>
            <a:off x="502920" y="5300365"/>
            <a:ext cx="7863840" cy="292608"/>
          </a:xfrm>
          <a:prstGeom prst="rect">
            <a:avLst/>
          </a:prstGeom>
          <a:noFill/>
        </p:spPr>
        <p:txBody>
          <a:bodyPr wrap="square" anchor="t" lIns="73152" rIns="73152" tIns="36576" bIns="36576">
            <a:noAutofit/>
          </a:bodyPr>
          <a:lstStyle/>
          <a:p>
            <a:pPr algn="l">
              <a:spcBef>
                <a:spcPts val="0"/>
              </a:spcBef>
              <a:spcAft>
                <a:spcPts val="0"/>
              </a:spcAft>
            </a:pPr>
            <a:r>
              <a:rPr lang="tr-TR" sz="1300" b="0" i="1">
                <a:solidFill>
                  <a:srgbClr val="767676"/>
                </a:solidFill>
                <a:latin typeface="Calibri"/>
              </a:rPr>
              <a:t>Kitap s. 176 · yeşil koyulaştıkça tarım alanı yoğun</a:t>
            </a:r>
          </a:p>
        </p:txBody>
      </p:sp>
      <p:sp>
        <p:nvSpPr>
          <p:cNvPr id="8" name="Rounded Rectangle 7"/>
          <p:cNvSpPr/>
          <p:nvPr/>
        </p:nvSpPr>
        <p:spPr>
          <a:xfrm>
            <a:off x="8595360" y="1216152"/>
            <a:ext cx="3093415" cy="196596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0"/>
              </a:spcAft>
            </a:pPr>
            <a:r>
              <a:rPr lang="tr-TR" sz="1600" b="0" i="0">
                <a:solidFill>
                  <a:srgbClr val="262626"/>
                </a:solidFill>
                <a:latin typeface="Calibri"/>
              </a:rPr>
              <a:t>Yukarıdaki haritada harflerle gösterilen yerlerde tarım alanlarının sınırlı olmasına yol açan doğal faktörleri karekodda verilen haritaları da inceleyerek aşağıdaki tabloya yazınız.</a:t>
            </a:r>
          </a:p>
        </p:txBody>
      </p:sp>
      <p:sp>
        <p:nvSpPr>
          <p:cNvPr id="9" name="TextBox 8"/>
          <p:cNvSpPr txBox="1"/>
          <p:nvPr/>
        </p:nvSpPr>
        <p:spPr>
          <a:xfrm>
            <a:off x="8595360" y="3273552"/>
            <a:ext cx="3093415" cy="384048"/>
          </a:xfrm>
          <a:prstGeom prst="rect">
            <a:avLst/>
          </a:prstGeom>
          <a:noFill/>
        </p:spPr>
        <p:txBody>
          <a:bodyPr wrap="square" anchor="t" lIns="73152" rIns="73152" tIns="36576" bIns="36576">
            <a:noAutofit/>
          </a:bodyPr>
          <a:lstStyle/>
          <a:p>
            <a:pPr algn="l">
              <a:spcBef>
                <a:spcPts val="0"/>
              </a:spcBef>
              <a:spcAft>
                <a:spcPts val="0"/>
              </a:spcAft>
            </a:pPr>
            <a:r>
              <a:rPr lang="tr-TR" sz="1700" b="1" i="0">
                <a:solidFill>
                  <a:srgbClr val="B85C12"/>
                </a:solidFill>
                <a:latin typeface="Calibri"/>
              </a:rPr>
              <a:t>Faktör kutusu (ipucu)</a:t>
            </a:r>
          </a:p>
        </p:txBody>
      </p:sp>
      <p:sp>
        <p:nvSpPr>
          <p:cNvPr id="10" name="Rounded Rectangle 9"/>
          <p:cNvSpPr/>
          <p:nvPr/>
        </p:nvSpPr>
        <p:spPr>
          <a:xfrm>
            <a:off x="8595360" y="3703320"/>
            <a:ext cx="3093415" cy="429768"/>
          </a:xfrm>
          <a:prstGeom prst="roundRect">
            <a:avLst>
              <a:gd name="adj" fmla="val 30000"/>
            </a:avLst>
          </a:prstGeom>
          <a:solidFill>
            <a:srgbClr val="FFFFFF"/>
          </a:solidFill>
          <a:ln w="25400">
            <a:solidFill>
              <a:srgbClr val="2F6EB0"/>
            </a:solidFill>
          </a:ln>
          <a:effectLst/>
        </p:spPr>
        <p:txBody>
          <a:bodyPr rtlCol="0" anchor="ctr" wrap="square" lIns="128016" rIns="128016" tIns="18288" bIns="18288">
            <a:noAutofit/>
          </a:bodyPr>
          <a:lstStyle/>
          <a:p>
            <a:pPr algn="ctr">
              <a:spcBef>
                <a:spcPts val="0"/>
              </a:spcBef>
              <a:spcAft>
                <a:spcPts val="0"/>
              </a:spcAft>
            </a:pPr>
            <a:r>
              <a:rPr lang="tr-TR" sz="1700" b="1" i="0">
                <a:solidFill>
                  <a:srgbClr val="2F6EB0"/>
                </a:solidFill>
                <a:latin typeface="Calibri"/>
              </a:rPr>
              <a:t>düşük sıcaklık</a:t>
            </a:r>
          </a:p>
        </p:txBody>
      </p:sp>
      <p:sp>
        <p:nvSpPr>
          <p:cNvPr id="11" name="Rounded Rectangle 10"/>
          <p:cNvSpPr/>
          <p:nvPr/>
        </p:nvSpPr>
        <p:spPr>
          <a:xfrm>
            <a:off x="8595360" y="4206240"/>
            <a:ext cx="3093415" cy="429768"/>
          </a:xfrm>
          <a:prstGeom prst="roundRect">
            <a:avLst>
              <a:gd name="adj" fmla="val 30000"/>
            </a:avLst>
          </a:prstGeom>
          <a:solidFill>
            <a:srgbClr val="FFFFFF"/>
          </a:solidFill>
          <a:ln w="25400">
            <a:solidFill>
              <a:srgbClr val="7A3E9D"/>
            </a:solidFill>
          </a:ln>
          <a:effectLst/>
        </p:spPr>
        <p:txBody>
          <a:bodyPr rtlCol="0" anchor="ctr" wrap="square" lIns="128016" rIns="128016" tIns="18288" bIns="18288">
            <a:noAutofit/>
          </a:bodyPr>
          <a:lstStyle/>
          <a:p>
            <a:pPr algn="ctr">
              <a:spcBef>
                <a:spcPts val="0"/>
              </a:spcBef>
              <a:spcAft>
                <a:spcPts val="0"/>
              </a:spcAft>
            </a:pPr>
            <a:r>
              <a:rPr lang="tr-TR" sz="1700" b="1" i="0">
                <a:solidFill>
                  <a:srgbClr val="7A3E9D"/>
                </a:solidFill>
                <a:latin typeface="Calibri"/>
              </a:rPr>
              <a:t>yükselti ve eğim</a:t>
            </a:r>
          </a:p>
        </p:txBody>
      </p:sp>
      <p:sp>
        <p:nvSpPr>
          <p:cNvPr id="12" name="Rounded Rectangle 11"/>
          <p:cNvSpPr/>
          <p:nvPr/>
        </p:nvSpPr>
        <p:spPr>
          <a:xfrm>
            <a:off x="8595360" y="4709160"/>
            <a:ext cx="3093415" cy="429768"/>
          </a:xfrm>
          <a:prstGeom prst="roundRect">
            <a:avLst>
              <a:gd name="adj" fmla="val 30000"/>
            </a:avLst>
          </a:prstGeom>
          <a:solidFill>
            <a:srgbClr val="FFFFFF"/>
          </a:solidFill>
          <a:ln w="25400">
            <a:solidFill>
              <a:srgbClr val="C26A00"/>
            </a:solidFill>
          </a:ln>
          <a:effectLst/>
        </p:spPr>
        <p:txBody>
          <a:bodyPr rtlCol="0" anchor="ctr" wrap="square" lIns="128016" rIns="128016" tIns="18288" bIns="18288">
            <a:noAutofit/>
          </a:bodyPr>
          <a:lstStyle/>
          <a:p>
            <a:pPr algn="ctr">
              <a:spcBef>
                <a:spcPts val="0"/>
              </a:spcBef>
              <a:spcAft>
                <a:spcPts val="0"/>
              </a:spcAft>
            </a:pPr>
            <a:r>
              <a:rPr lang="tr-TR" sz="1700" b="1" i="0">
                <a:solidFill>
                  <a:srgbClr val="C26A00"/>
                </a:solidFill>
                <a:latin typeface="Calibri"/>
              </a:rPr>
              <a:t>kuraklık</a:t>
            </a:r>
          </a:p>
        </p:txBody>
      </p:sp>
      <p:sp>
        <p:nvSpPr>
          <p:cNvPr id="13" name="Rounded Rectangle 12"/>
          <p:cNvSpPr/>
          <p:nvPr/>
        </p:nvSpPr>
        <p:spPr>
          <a:xfrm>
            <a:off x="8595360" y="5212080"/>
            <a:ext cx="3093415" cy="429768"/>
          </a:xfrm>
          <a:prstGeom prst="roundRect">
            <a:avLst>
              <a:gd name="adj" fmla="val 30000"/>
            </a:avLst>
          </a:prstGeom>
          <a:solidFill>
            <a:srgbClr val="FFFFFF"/>
          </a:solidFill>
          <a:ln w="25400">
            <a:solidFill>
              <a:srgbClr val="2E7D32"/>
            </a:solidFill>
          </a:ln>
          <a:effectLst/>
        </p:spPr>
        <p:txBody>
          <a:bodyPr rtlCol="0" anchor="ctr" wrap="square" lIns="128016" rIns="128016" tIns="18288" bIns="18288">
            <a:noAutofit/>
          </a:bodyPr>
          <a:lstStyle/>
          <a:p>
            <a:pPr algn="ctr">
              <a:spcBef>
                <a:spcPts val="0"/>
              </a:spcBef>
              <a:spcAft>
                <a:spcPts val="0"/>
              </a:spcAft>
            </a:pPr>
            <a:r>
              <a:rPr lang="tr-TR" sz="1700" b="1" i="0">
                <a:solidFill>
                  <a:srgbClr val="2E7D32"/>
                </a:solidFill>
                <a:latin typeface="Calibri"/>
              </a:rPr>
              <a:t>aşırı yağış ve sık orman</a:t>
            </a:r>
          </a:p>
        </p:txBody>
      </p:sp>
      <p:sp>
        <p:nvSpPr>
          <p:cNvPr id="14" name="Rounded Rectangle 13"/>
          <p:cNvSpPr/>
          <p:nvPr/>
        </p:nvSpPr>
        <p:spPr>
          <a:xfrm>
            <a:off x="8595360" y="5760720"/>
            <a:ext cx="3093415" cy="530352"/>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l">
              <a:spcBef>
                <a:spcPts val="0"/>
              </a:spcBef>
              <a:spcAft>
                <a:spcPts val="0"/>
              </a:spcAft>
            </a:pPr>
            <a:r>
              <a:rPr lang="tr-TR" sz="1700" b="1" i="0">
                <a:solidFill>
                  <a:srgbClr val="262626"/>
                </a:solidFill>
                <a:latin typeface="Calibri"/>
              </a:rPr>
              <a:t>Kanıt: hangi haritadan?</a:t>
            </a:r>
          </a:p>
        </p:txBody>
      </p:sp>
      <p:sp>
        <p:nvSpPr>
          <p:cNvPr id="15" name="TextBox 1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6" name="Rounded Rectangle 1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176</a:t>
            </a:r>
          </a:p>
        </p:txBody>
      </p:sp>
      <p:sp>
        <p:nvSpPr>
          <p:cNvPr id="17" name="TextBox 1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47 / 166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Karekoddaki dört harita: hangisinde ne ararız?</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KAREKOD (EBA)</a:t>
            </a:r>
          </a:p>
        </p:txBody>
      </p:sp>
      <p:sp>
        <p:nvSpPr>
          <p:cNvPr id="6" name="Rounded Rectangle 5"/>
          <p:cNvSpPr/>
          <p:nvPr/>
        </p:nvSpPr>
        <p:spPr>
          <a:xfrm>
            <a:off x="502920" y="1216152"/>
            <a:ext cx="5478627" cy="2286000"/>
          </a:xfrm>
          <a:prstGeom prst="roundRect">
            <a:avLst>
              <a:gd name="adj" fmla="val 5000"/>
            </a:avLst>
          </a:prstGeom>
          <a:solidFill>
            <a:srgbClr val="F0F0F0"/>
          </a:solidFill>
          <a:ln>
            <a:noFill/>
          </a:ln>
          <a:effectLst/>
        </p:spPr>
        <p:txBody>
          <a:bodyPr rtlCol="0" anchor="ctr"/>
          <a:lstStyle/>
          <a:p/>
        </p:txBody>
      </p:sp>
      <p:pic>
        <p:nvPicPr>
          <p:cNvPr id="7" name="Picture 6" descr="h28_eba_fiziki.jpg"/>
          <p:cNvPicPr>
            <a:picLocks noChangeAspect="1"/>
          </p:cNvPicPr>
          <p:nvPr/>
        </p:nvPicPr>
        <p:blipFill>
          <a:blip r:embed="rId3"/>
          <a:stretch>
            <a:fillRect/>
          </a:stretch>
        </p:blipFill>
        <p:spPr>
          <a:xfrm>
            <a:off x="594360" y="1438941"/>
            <a:ext cx="3291840" cy="1840421"/>
          </a:xfrm>
          <a:prstGeom prst="rect">
            <a:avLst/>
          </a:prstGeom>
          <a:ln w="9525">
            <a:solidFill>
              <a:srgbClr val="D9D9D9"/>
            </a:solidFill>
          </a:ln>
        </p:spPr>
      </p:pic>
      <p:sp>
        <p:nvSpPr>
          <p:cNvPr id="8" name="TextBox 7"/>
          <p:cNvSpPr txBox="1"/>
          <p:nvPr/>
        </p:nvSpPr>
        <p:spPr>
          <a:xfrm>
            <a:off x="3977640" y="1307592"/>
            <a:ext cx="1912467" cy="2103120"/>
          </a:xfrm>
          <a:prstGeom prst="rect">
            <a:avLst/>
          </a:prstGeom>
          <a:noFill/>
        </p:spPr>
        <p:txBody>
          <a:bodyPr wrap="square" anchor="ctr" lIns="73152" rIns="73152" tIns="36576" bIns="36576">
            <a:noAutofit/>
          </a:bodyPr>
          <a:lstStyle/>
          <a:p>
            <a:pPr algn="l">
              <a:spcBef>
                <a:spcPts val="0"/>
              </a:spcBef>
              <a:spcAft>
                <a:spcPts val="600"/>
              </a:spcAft>
            </a:pPr>
            <a:r>
              <a:rPr lang="tr-TR" sz="1500" b="1" i="0">
                <a:solidFill>
                  <a:srgbClr val="2C6696"/>
                </a:solidFill>
                <a:latin typeface="Calibri"/>
              </a:rPr>
              <a:t>Dünya fiziki haritası</a:t>
            </a:r>
          </a:p>
          <a:p>
            <a:pPr algn="l">
              <a:spcBef>
                <a:spcPts val="0"/>
              </a:spcBef>
              <a:spcAft>
                <a:spcPts val="0"/>
              </a:spcAft>
            </a:pPr>
            <a:r>
              <a:rPr lang="tr-TR" sz="1900" b="1" i="0">
                <a:solidFill>
                  <a:srgbClr val="262626"/>
                </a:solidFill>
                <a:latin typeface="Calibri"/>
              </a:rPr>
              <a:t>Yükselti: dağlar, platolar, ovalar</a:t>
            </a:r>
          </a:p>
        </p:txBody>
      </p:sp>
      <p:sp>
        <p:nvSpPr>
          <p:cNvPr id="9" name="Rounded Rectangle 8"/>
          <p:cNvSpPr/>
          <p:nvPr/>
        </p:nvSpPr>
        <p:spPr>
          <a:xfrm>
            <a:off x="6210147" y="1216152"/>
            <a:ext cx="5478627" cy="2286000"/>
          </a:xfrm>
          <a:prstGeom prst="roundRect">
            <a:avLst>
              <a:gd name="adj" fmla="val 5000"/>
            </a:avLst>
          </a:prstGeom>
          <a:solidFill>
            <a:srgbClr val="F0F0F0"/>
          </a:solidFill>
          <a:ln>
            <a:noFill/>
          </a:ln>
          <a:effectLst/>
        </p:spPr>
        <p:txBody>
          <a:bodyPr rtlCol="0" anchor="ctr"/>
          <a:lstStyle/>
          <a:p/>
        </p:txBody>
      </p:sp>
      <p:pic>
        <p:nvPicPr>
          <p:cNvPr id="10" name="Picture 9" descr="h28_eba_su.jpg"/>
          <p:cNvPicPr>
            <a:picLocks noChangeAspect="1"/>
          </p:cNvPicPr>
          <p:nvPr/>
        </p:nvPicPr>
        <p:blipFill>
          <a:blip r:embed="rId4"/>
          <a:stretch>
            <a:fillRect/>
          </a:stretch>
        </p:blipFill>
        <p:spPr>
          <a:xfrm>
            <a:off x="6301587" y="1492328"/>
            <a:ext cx="3291840" cy="1733646"/>
          </a:xfrm>
          <a:prstGeom prst="rect">
            <a:avLst/>
          </a:prstGeom>
          <a:ln w="9525">
            <a:solidFill>
              <a:srgbClr val="D9D9D9"/>
            </a:solidFill>
          </a:ln>
        </p:spPr>
      </p:pic>
      <p:sp>
        <p:nvSpPr>
          <p:cNvPr id="11" name="TextBox 10"/>
          <p:cNvSpPr txBox="1"/>
          <p:nvPr/>
        </p:nvSpPr>
        <p:spPr>
          <a:xfrm>
            <a:off x="9684867" y="1307592"/>
            <a:ext cx="1912467" cy="2103120"/>
          </a:xfrm>
          <a:prstGeom prst="rect">
            <a:avLst/>
          </a:prstGeom>
          <a:noFill/>
        </p:spPr>
        <p:txBody>
          <a:bodyPr wrap="square" anchor="ctr" lIns="73152" rIns="73152" tIns="36576" bIns="36576">
            <a:noAutofit/>
          </a:bodyPr>
          <a:lstStyle/>
          <a:p>
            <a:pPr algn="l">
              <a:spcBef>
                <a:spcPts val="0"/>
              </a:spcBef>
              <a:spcAft>
                <a:spcPts val="600"/>
              </a:spcAft>
            </a:pPr>
            <a:r>
              <a:rPr lang="tr-TR" sz="1500" b="1" i="0">
                <a:solidFill>
                  <a:srgbClr val="2C6696"/>
                </a:solidFill>
                <a:latin typeface="Calibri"/>
              </a:rPr>
              <a:t>Kişi başına düşen yıllık tatlı su kaynaklarına erişim haritası</a:t>
            </a:r>
          </a:p>
          <a:p>
            <a:pPr algn="l">
              <a:spcBef>
                <a:spcPts val="0"/>
              </a:spcBef>
              <a:spcAft>
                <a:spcPts val="0"/>
              </a:spcAft>
            </a:pPr>
            <a:r>
              <a:rPr lang="tr-TR" sz="1900" b="1" i="0">
                <a:solidFill>
                  <a:srgbClr val="262626"/>
                </a:solidFill>
                <a:latin typeface="Calibri"/>
              </a:rPr>
              <a:t>Kişi başına düşen tatlı su (ülke ortalaması)</a:t>
            </a:r>
          </a:p>
        </p:txBody>
      </p:sp>
      <p:sp>
        <p:nvSpPr>
          <p:cNvPr id="12" name="Rounded Rectangle 11"/>
          <p:cNvSpPr/>
          <p:nvPr/>
        </p:nvSpPr>
        <p:spPr>
          <a:xfrm>
            <a:off x="502920" y="3639312"/>
            <a:ext cx="5478627" cy="2286000"/>
          </a:xfrm>
          <a:prstGeom prst="roundRect">
            <a:avLst>
              <a:gd name="adj" fmla="val 5000"/>
            </a:avLst>
          </a:prstGeom>
          <a:solidFill>
            <a:srgbClr val="F0F0F0"/>
          </a:solidFill>
          <a:ln>
            <a:noFill/>
          </a:ln>
          <a:effectLst/>
        </p:spPr>
        <p:txBody>
          <a:bodyPr rtlCol="0" anchor="ctr"/>
          <a:lstStyle/>
          <a:p/>
        </p:txBody>
      </p:sp>
      <p:pic>
        <p:nvPicPr>
          <p:cNvPr id="13" name="Picture 12" descr="h28_eba_iklim.jpg"/>
          <p:cNvPicPr>
            <a:picLocks noChangeAspect="1"/>
          </p:cNvPicPr>
          <p:nvPr/>
        </p:nvPicPr>
        <p:blipFill>
          <a:blip r:embed="rId5"/>
          <a:stretch>
            <a:fillRect/>
          </a:stretch>
        </p:blipFill>
        <p:spPr>
          <a:xfrm>
            <a:off x="594360" y="3915488"/>
            <a:ext cx="3291840" cy="1733646"/>
          </a:xfrm>
          <a:prstGeom prst="rect">
            <a:avLst/>
          </a:prstGeom>
          <a:ln w="9525">
            <a:solidFill>
              <a:srgbClr val="D9D9D9"/>
            </a:solidFill>
          </a:ln>
        </p:spPr>
      </p:pic>
      <p:sp>
        <p:nvSpPr>
          <p:cNvPr id="14" name="TextBox 13"/>
          <p:cNvSpPr txBox="1"/>
          <p:nvPr/>
        </p:nvSpPr>
        <p:spPr>
          <a:xfrm>
            <a:off x="3977640" y="3730752"/>
            <a:ext cx="1912467" cy="2103120"/>
          </a:xfrm>
          <a:prstGeom prst="rect">
            <a:avLst/>
          </a:prstGeom>
          <a:noFill/>
        </p:spPr>
        <p:txBody>
          <a:bodyPr wrap="square" anchor="ctr" lIns="73152" rIns="73152" tIns="36576" bIns="36576">
            <a:noAutofit/>
          </a:bodyPr>
          <a:lstStyle/>
          <a:p>
            <a:pPr algn="l">
              <a:spcBef>
                <a:spcPts val="0"/>
              </a:spcBef>
              <a:spcAft>
                <a:spcPts val="600"/>
              </a:spcAft>
            </a:pPr>
            <a:r>
              <a:rPr lang="tr-TR" sz="1500" b="1" i="0">
                <a:solidFill>
                  <a:srgbClr val="2C6696"/>
                </a:solidFill>
                <a:latin typeface="Calibri"/>
              </a:rPr>
              <a:t>Dünya iklim haritası</a:t>
            </a:r>
          </a:p>
          <a:p>
            <a:pPr algn="l">
              <a:spcBef>
                <a:spcPts val="0"/>
              </a:spcBef>
              <a:spcAft>
                <a:spcPts val="0"/>
              </a:spcAft>
            </a:pPr>
            <a:r>
              <a:rPr lang="tr-TR" sz="1900" b="1" i="0">
                <a:solidFill>
                  <a:srgbClr val="262626"/>
                </a:solidFill>
                <a:latin typeface="Calibri"/>
              </a:rPr>
              <a:t>İklim türü</a:t>
            </a:r>
          </a:p>
        </p:txBody>
      </p:sp>
      <p:sp>
        <p:nvSpPr>
          <p:cNvPr id="15" name="Rounded Rectangle 14"/>
          <p:cNvSpPr/>
          <p:nvPr/>
        </p:nvSpPr>
        <p:spPr>
          <a:xfrm>
            <a:off x="6210147" y="3639312"/>
            <a:ext cx="5478627" cy="2286000"/>
          </a:xfrm>
          <a:prstGeom prst="roundRect">
            <a:avLst>
              <a:gd name="adj" fmla="val 5000"/>
            </a:avLst>
          </a:prstGeom>
          <a:solidFill>
            <a:srgbClr val="F0F0F0"/>
          </a:solidFill>
          <a:ln>
            <a:noFill/>
          </a:ln>
          <a:effectLst/>
        </p:spPr>
        <p:txBody>
          <a:bodyPr rtlCol="0" anchor="ctr"/>
          <a:lstStyle/>
          <a:p/>
        </p:txBody>
      </p:sp>
      <p:pic>
        <p:nvPicPr>
          <p:cNvPr id="16" name="Picture 15" descr="h28_eba_bitki.jpg"/>
          <p:cNvPicPr>
            <a:picLocks noChangeAspect="1"/>
          </p:cNvPicPr>
          <p:nvPr/>
        </p:nvPicPr>
        <p:blipFill>
          <a:blip r:embed="rId6"/>
          <a:stretch>
            <a:fillRect/>
          </a:stretch>
        </p:blipFill>
        <p:spPr>
          <a:xfrm>
            <a:off x="6301587" y="3917683"/>
            <a:ext cx="3291840" cy="1729257"/>
          </a:xfrm>
          <a:prstGeom prst="rect">
            <a:avLst/>
          </a:prstGeom>
          <a:ln w="9525">
            <a:solidFill>
              <a:srgbClr val="D9D9D9"/>
            </a:solidFill>
          </a:ln>
        </p:spPr>
      </p:pic>
      <p:sp>
        <p:nvSpPr>
          <p:cNvPr id="17" name="TextBox 16"/>
          <p:cNvSpPr txBox="1"/>
          <p:nvPr/>
        </p:nvSpPr>
        <p:spPr>
          <a:xfrm>
            <a:off x="9684867" y="3730752"/>
            <a:ext cx="1912467" cy="2103120"/>
          </a:xfrm>
          <a:prstGeom prst="rect">
            <a:avLst/>
          </a:prstGeom>
          <a:noFill/>
        </p:spPr>
        <p:txBody>
          <a:bodyPr wrap="square" anchor="ctr" lIns="73152" rIns="73152" tIns="36576" bIns="36576">
            <a:noAutofit/>
          </a:bodyPr>
          <a:lstStyle/>
          <a:p>
            <a:pPr algn="l">
              <a:spcBef>
                <a:spcPts val="0"/>
              </a:spcBef>
              <a:spcAft>
                <a:spcPts val="600"/>
              </a:spcAft>
            </a:pPr>
            <a:r>
              <a:rPr lang="tr-TR" sz="1500" b="1" i="0">
                <a:solidFill>
                  <a:srgbClr val="2C6696"/>
                </a:solidFill>
                <a:latin typeface="Calibri"/>
              </a:rPr>
              <a:t>Dünya bitki haritası</a:t>
            </a:r>
          </a:p>
          <a:p>
            <a:pPr algn="l">
              <a:spcBef>
                <a:spcPts val="0"/>
              </a:spcBef>
              <a:spcAft>
                <a:spcPts val="0"/>
              </a:spcAft>
            </a:pPr>
            <a:r>
              <a:rPr lang="tr-TR" sz="1900" b="1" i="0">
                <a:solidFill>
                  <a:srgbClr val="262626"/>
                </a:solidFill>
                <a:latin typeface="Calibri"/>
              </a:rPr>
              <a:t>Orman mı, çöl mü?</a:t>
            </a:r>
          </a:p>
        </p:txBody>
      </p:sp>
      <p:sp>
        <p:nvSpPr>
          <p:cNvPr id="18" name="TextBox 17"/>
          <p:cNvSpPr txBox="1"/>
          <p:nvPr/>
        </p:nvSpPr>
        <p:spPr>
          <a:xfrm>
            <a:off x="502920" y="5998464"/>
            <a:ext cx="11185855" cy="274320"/>
          </a:xfrm>
          <a:prstGeom prst="rect">
            <a:avLst/>
          </a:prstGeom>
          <a:noFill/>
        </p:spPr>
        <p:txBody>
          <a:bodyPr wrap="square" anchor="t" lIns="73152" rIns="73152" tIns="36576" bIns="36576">
            <a:noAutofit/>
          </a:bodyPr>
          <a:lstStyle/>
          <a:p>
            <a:pPr algn="r">
              <a:spcBef>
                <a:spcPts val="0"/>
              </a:spcBef>
              <a:spcAft>
                <a:spcPts val="0"/>
              </a:spcAft>
            </a:pPr>
            <a:r>
              <a:rPr lang="tr-TR" sz="1100" b="0" i="0">
                <a:solidFill>
                  <a:srgbClr val="767676"/>
                </a:solidFill>
                <a:latin typeface="Calibri"/>
              </a:rPr>
              <a:t>Kitabın karekod içeriği (EBA): s. 176 karekodundaki dört harita</a:t>
            </a:r>
          </a:p>
        </p:txBody>
      </p:sp>
      <p:sp>
        <p:nvSpPr>
          <p:cNvPr id="19" name="TextBox 1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0" name="Rounded Rectangle 1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176</a:t>
            </a:r>
          </a:p>
        </p:txBody>
      </p:sp>
      <p:sp>
        <p:nvSpPr>
          <p:cNvPr id="21" name="TextBox 2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48 / 166</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Kanıt haritası: iklim</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KAREKOD (EBA)</a:t>
            </a:r>
          </a:p>
        </p:txBody>
      </p:sp>
      <p:pic>
        <p:nvPicPr>
          <p:cNvPr id="6" name="Picture 5" descr="h28_eba_iklim.jpg"/>
          <p:cNvPicPr>
            <a:picLocks noChangeAspect="1"/>
          </p:cNvPicPr>
          <p:nvPr/>
        </p:nvPicPr>
        <p:blipFill>
          <a:blip r:embed="rId3"/>
          <a:stretch>
            <a:fillRect/>
          </a:stretch>
        </p:blipFill>
        <p:spPr>
          <a:xfrm>
            <a:off x="502920" y="1216152"/>
            <a:ext cx="8229600" cy="4334116"/>
          </a:xfrm>
          <a:prstGeom prst="rect">
            <a:avLst/>
          </a:prstGeom>
          <a:ln w="9525">
            <a:solidFill>
              <a:srgbClr val="D9D9D9"/>
            </a:solidFill>
          </a:ln>
        </p:spPr>
      </p:pic>
      <p:sp>
        <p:nvSpPr>
          <p:cNvPr id="7" name="Oval 6"/>
          <p:cNvSpPr/>
          <p:nvPr/>
        </p:nvSpPr>
        <p:spPr>
          <a:xfrm>
            <a:off x="2582456" y="1729664"/>
            <a:ext cx="274320" cy="274320"/>
          </a:xfrm>
          <a:prstGeom prst="ellipse">
            <a:avLst/>
          </a:prstGeom>
          <a:solidFill>
            <a:srgbClr val="FFFFFF"/>
          </a:solidFill>
          <a:ln w="28575">
            <a:solidFill>
              <a:srgbClr val="D3373A"/>
            </a:solidFill>
          </a:ln>
          <a:effectLst/>
        </p:spPr>
        <p:txBody>
          <a:bodyPr rtlCol="0" anchor="ctr" wrap="none" lIns="0" rIns="0" tIns="0" bIns="0">
            <a:noAutofit/>
          </a:bodyPr>
          <a:lstStyle/>
          <a:p>
            <a:pPr algn="ctr">
              <a:spcBef>
                <a:spcPts val="0"/>
              </a:spcBef>
              <a:spcAft>
                <a:spcPts val="0"/>
              </a:spcAft>
            </a:pPr>
            <a:r>
              <a:rPr lang="tr-TR" sz="1300" b="1" i="0">
                <a:solidFill>
                  <a:srgbClr val="262626"/>
                </a:solidFill>
                <a:latin typeface="Calibri"/>
              </a:rPr>
              <a:t>a</a:t>
            </a:r>
          </a:p>
        </p:txBody>
      </p:sp>
      <p:sp>
        <p:nvSpPr>
          <p:cNvPr id="8" name="Oval 7"/>
          <p:cNvSpPr/>
          <p:nvPr/>
        </p:nvSpPr>
        <p:spPr>
          <a:xfrm>
            <a:off x="3051667" y="3963904"/>
            <a:ext cx="274320" cy="274320"/>
          </a:xfrm>
          <a:prstGeom prst="ellipse">
            <a:avLst/>
          </a:prstGeom>
          <a:solidFill>
            <a:srgbClr val="FFFFFF"/>
          </a:solidFill>
          <a:ln w="28575">
            <a:solidFill>
              <a:srgbClr val="D3373A"/>
            </a:solidFill>
          </a:ln>
          <a:effectLst/>
        </p:spPr>
        <p:txBody>
          <a:bodyPr rtlCol="0" anchor="ctr" wrap="none" lIns="0" rIns="0" tIns="0" bIns="0">
            <a:noAutofit/>
          </a:bodyPr>
          <a:lstStyle/>
          <a:p>
            <a:pPr algn="ctr">
              <a:spcBef>
                <a:spcPts val="0"/>
              </a:spcBef>
              <a:spcAft>
                <a:spcPts val="0"/>
              </a:spcAft>
            </a:pPr>
            <a:r>
              <a:rPr lang="tr-TR" sz="1300" b="1" i="0">
                <a:solidFill>
                  <a:srgbClr val="262626"/>
                </a:solidFill>
                <a:latin typeface="Calibri"/>
              </a:rPr>
              <a:t>b</a:t>
            </a:r>
          </a:p>
        </p:txBody>
      </p:sp>
      <p:sp>
        <p:nvSpPr>
          <p:cNvPr id="9" name="Oval 8"/>
          <p:cNvSpPr/>
          <p:nvPr/>
        </p:nvSpPr>
        <p:spPr>
          <a:xfrm>
            <a:off x="3319278" y="3389283"/>
            <a:ext cx="274320" cy="274320"/>
          </a:xfrm>
          <a:prstGeom prst="ellipse">
            <a:avLst/>
          </a:prstGeom>
          <a:solidFill>
            <a:srgbClr val="FFFFFF"/>
          </a:solidFill>
          <a:ln w="28575">
            <a:solidFill>
              <a:srgbClr val="D3373A"/>
            </a:solidFill>
          </a:ln>
          <a:effectLst/>
        </p:spPr>
        <p:txBody>
          <a:bodyPr rtlCol="0" anchor="ctr" wrap="none" lIns="0" rIns="0" tIns="0" bIns="0">
            <a:noAutofit/>
          </a:bodyPr>
          <a:lstStyle/>
          <a:p>
            <a:pPr algn="ctr">
              <a:spcBef>
                <a:spcPts val="0"/>
              </a:spcBef>
              <a:spcAft>
                <a:spcPts val="0"/>
              </a:spcAft>
            </a:pPr>
            <a:r>
              <a:rPr lang="tr-TR" sz="1300" b="1" i="0">
                <a:solidFill>
                  <a:srgbClr val="262626"/>
                </a:solidFill>
                <a:latin typeface="Calibri"/>
              </a:rPr>
              <a:t>c</a:t>
            </a:r>
          </a:p>
        </p:txBody>
      </p:sp>
      <p:sp>
        <p:nvSpPr>
          <p:cNvPr id="10" name="Oval 9"/>
          <p:cNvSpPr/>
          <p:nvPr/>
        </p:nvSpPr>
        <p:spPr>
          <a:xfrm>
            <a:off x="4857150" y="2614794"/>
            <a:ext cx="274320" cy="274320"/>
          </a:xfrm>
          <a:prstGeom prst="ellipse">
            <a:avLst/>
          </a:prstGeom>
          <a:solidFill>
            <a:srgbClr val="FFFFFF"/>
          </a:solidFill>
          <a:ln w="28575">
            <a:solidFill>
              <a:srgbClr val="D3373A"/>
            </a:solidFill>
          </a:ln>
          <a:effectLst/>
        </p:spPr>
        <p:txBody>
          <a:bodyPr rtlCol="0" anchor="ctr" wrap="none" lIns="0" rIns="0" tIns="0" bIns="0">
            <a:noAutofit/>
          </a:bodyPr>
          <a:lstStyle/>
          <a:p>
            <a:pPr algn="ctr">
              <a:spcBef>
                <a:spcPts val="0"/>
              </a:spcBef>
              <a:spcAft>
                <a:spcPts val="0"/>
              </a:spcAft>
            </a:pPr>
            <a:r>
              <a:rPr lang="tr-TR" sz="1300" b="1" i="0">
                <a:solidFill>
                  <a:srgbClr val="262626"/>
                </a:solidFill>
                <a:latin typeface="Calibri"/>
              </a:rPr>
              <a:t>ç</a:t>
            </a:r>
          </a:p>
        </p:txBody>
      </p:sp>
      <p:sp>
        <p:nvSpPr>
          <p:cNvPr id="11" name="Oval 10"/>
          <p:cNvSpPr/>
          <p:nvPr/>
        </p:nvSpPr>
        <p:spPr>
          <a:xfrm>
            <a:off x="6061401" y="1585117"/>
            <a:ext cx="274320" cy="274320"/>
          </a:xfrm>
          <a:prstGeom prst="ellipse">
            <a:avLst/>
          </a:prstGeom>
          <a:solidFill>
            <a:srgbClr val="FFFFFF"/>
          </a:solidFill>
          <a:ln w="28575">
            <a:solidFill>
              <a:srgbClr val="D3373A"/>
            </a:solidFill>
          </a:ln>
          <a:effectLst/>
        </p:spPr>
        <p:txBody>
          <a:bodyPr rtlCol="0" anchor="ctr" wrap="none" lIns="0" rIns="0" tIns="0" bIns="0">
            <a:noAutofit/>
          </a:bodyPr>
          <a:lstStyle/>
          <a:p>
            <a:pPr algn="ctr">
              <a:spcBef>
                <a:spcPts val="0"/>
              </a:spcBef>
              <a:spcAft>
                <a:spcPts val="0"/>
              </a:spcAft>
            </a:pPr>
            <a:r>
              <a:rPr lang="tr-TR" sz="1300" b="1" i="0">
                <a:solidFill>
                  <a:srgbClr val="262626"/>
                </a:solidFill>
                <a:latin typeface="Calibri"/>
              </a:rPr>
              <a:t>d</a:t>
            </a:r>
          </a:p>
        </p:txBody>
      </p:sp>
      <p:sp>
        <p:nvSpPr>
          <p:cNvPr id="12" name="Oval 11"/>
          <p:cNvSpPr/>
          <p:nvPr/>
        </p:nvSpPr>
        <p:spPr>
          <a:xfrm>
            <a:off x="6382534" y="2459539"/>
            <a:ext cx="274320" cy="274320"/>
          </a:xfrm>
          <a:prstGeom prst="ellipse">
            <a:avLst/>
          </a:prstGeom>
          <a:solidFill>
            <a:srgbClr val="FFFFFF"/>
          </a:solidFill>
          <a:ln w="28575">
            <a:solidFill>
              <a:srgbClr val="D3373A"/>
            </a:solidFill>
          </a:ln>
          <a:effectLst/>
        </p:spPr>
        <p:txBody>
          <a:bodyPr rtlCol="0" anchor="ctr" wrap="none" lIns="0" rIns="0" tIns="0" bIns="0">
            <a:noAutofit/>
          </a:bodyPr>
          <a:lstStyle/>
          <a:p>
            <a:pPr algn="ctr">
              <a:spcBef>
                <a:spcPts val="0"/>
              </a:spcBef>
              <a:spcAft>
                <a:spcPts val="0"/>
              </a:spcAft>
            </a:pPr>
            <a:r>
              <a:rPr lang="tr-TR" sz="1300" b="1" i="0">
                <a:solidFill>
                  <a:srgbClr val="262626"/>
                </a:solidFill>
                <a:latin typeface="Calibri"/>
              </a:rPr>
              <a:t>e</a:t>
            </a:r>
          </a:p>
        </p:txBody>
      </p:sp>
      <p:sp>
        <p:nvSpPr>
          <p:cNvPr id="13" name="Oval 12"/>
          <p:cNvSpPr/>
          <p:nvPr/>
        </p:nvSpPr>
        <p:spPr>
          <a:xfrm>
            <a:off x="7329877" y="3956765"/>
            <a:ext cx="274320" cy="274320"/>
          </a:xfrm>
          <a:prstGeom prst="ellipse">
            <a:avLst/>
          </a:prstGeom>
          <a:solidFill>
            <a:srgbClr val="FFFFFF"/>
          </a:solidFill>
          <a:ln w="28575">
            <a:solidFill>
              <a:srgbClr val="D3373A"/>
            </a:solidFill>
          </a:ln>
          <a:effectLst/>
        </p:spPr>
        <p:txBody>
          <a:bodyPr rtlCol="0" anchor="ctr" wrap="none" lIns="0" rIns="0" tIns="0" bIns="0">
            <a:noAutofit/>
          </a:bodyPr>
          <a:lstStyle/>
          <a:p>
            <a:pPr algn="ctr">
              <a:spcBef>
                <a:spcPts val="0"/>
              </a:spcBef>
              <a:spcAft>
                <a:spcPts val="0"/>
              </a:spcAft>
            </a:pPr>
            <a:r>
              <a:rPr lang="tr-TR" sz="1300" b="1" i="0">
                <a:solidFill>
                  <a:srgbClr val="262626"/>
                </a:solidFill>
                <a:latin typeface="Calibri"/>
              </a:rPr>
              <a:t>f</a:t>
            </a:r>
          </a:p>
        </p:txBody>
      </p:sp>
      <p:sp>
        <p:nvSpPr>
          <p:cNvPr id="14" name="TextBox 13"/>
          <p:cNvSpPr txBox="1"/>
          <p:nvPr/>
        </p:nvSpPr>
        <p:spPr>
          <a:xfrm>
            <a:off x="502920" y="5577700"/>
            <a:ext cx="8229600" cy="274320"/>
          </a:xfrm>
          <a:prstGeom prst="rect">
            <a:avLst/>
          </a:prstGeom>
          <a:noFill/>
        </p:spPr>
        <p:txBody>
          <a:bodyPr wrap="square" anchor="t" lIns="73152" rIns="73152" tIns="36576" bIns="36576">
            <a:noAutofit/>
          </a:bodyPr>
          <a:lstStyle/>
          <a:p>
            <a:pPr algn="l">
              <a:spcBef>
                <a:spcPts val="0"/>
              </a:spcBef>
              <a:spcAft>
                <a:spcPts val="0"/>
              </a:spcAft>
            </a:pPr>
            <a:r>
              <a:rPr lang="tr-TR" sz="1100" b="0" i="0">
                <a:solidFill>
                  <a:srgbClr val="767676"/>
                </a:solidFill>
                <a:latin typeface="Calibri"/>
              </a:rPr>
              <a:t>Kitabın karekod içeriği (EBA): Dünya İklim Haritası · harfler yaklaşık</a:t>
            </a:r>
          </a:p>
        </p:txBody>
      </p:sp>
      <p:sp>
        <p:nvSpPr>
          <p:cNvPr id="15" name="Rounded Rectangle 14"/>
          <p:cNvSpPr/>
          <p:nvPr/>
        </p:nvSpPr>
        <p:spPr>
          <a:xfrm>
            <a:off x="8961120" y="1216152"/>
            <a:ext cx="2727655" cy="2377440"/>
          </a:xfrm>
          <a:prstGeom prst="roundRect">
            <a:avLst>
              <a:gd name="adj" fmla="val 8000"/>
            </a:avLst>
          </a:prstGeom>
          <a:solidFill>
            <a:srgbClr val="E3ECF5"/>
          </a:solidFill>
          <a:ln>
            <a:noFill/>
          </a:ln>
          <a:effectLst/>
        </p:spPr>
        <p:txBody>
          <a:bodyPr rtlCol="0" anchor="ctr" wrap="square" lIns="128016" rIns="128016" tIns="73152" bIns="73152">
            <a:noAutofit/>
          </a:bodyPr>
          <a:lstStyle/>
          <a:p>
            <a:pPr algn="l">
              <a:spcBef>
                <a:spcPts val="0"/>
              </a:spcBef>
              <a:spcAft>
                <a:spcPts val="400"/>
              </a:spcAft>
            </a:pPr>
            <a:r>
              <a:rPr lang="tr-TR" sz="1700" b="1" i="0">
                <a:solidFill>
                  <a:srgbClr val="2C6696"/>
                </a:solidFill>
                <a:latin typeface="Calibri"/>
              </a:rPr>
              <a:t>Lejanttaki adlar</a:t>
            </a:r>
          </a:p>
          <a:p>
            <a:pPr algn="l" marL="211327" indent="-211327">
              <a:spcBef>
                <a:spcPts val="0"/>
              </a:spcBef>
              <a:spcAft>
                <a:spcPts val="400"/>
              </a:spcAft>
            </a:pPr>
            <a:r>
              <a:rPr lang="tr-TR" sz="1700" b="1" i="0">
                <a:solidFill>
                  <a:srgbClr val="2C6696"/>
                </a:solidFill>
                <a:latin typeface="Calibri"/>
              </a:rPr>
              <a:t>•  </a:t>
            </a:r>
            <a:r>
              <a:rPr lang="tr-TR" sz="1700" b="0" i="0">
                <a:solidFill>
                  <a:srgbClr val="262626"/>
                </a:solidFill>
                <a:latin typeface="Calibri"/>
              </a:rPr>
              <a:t>“Tropikal” = ekvatoral iklim</a:t>
            </a:r>
          </a:p>
          <a:p>
            <a:pPr algn="l" marL="211327" indent="-211327">
              <a:spcBef>
                <a:spcPts val="0"/>
              </a:spcBef>
              <a:spcAft>
                <a:spcPts val="400"/>
              </a:spcAft>
            </a:pPr>
            <a:r>
              <a:rPr lang="tr-TR" sz="1700" b="1" i="0">
                <a:solidFill>
                  <a:srgbClr val="2C6696"/>
                </a:solidFill>
                <a:latin typeface="Calibri"/>
              </a:rPr>
              <a:t>•  </a:t>
            </a:r>
            <a:r>
              <a:rPr lang="tr-TR" sz="1700" b="0" i="0">
                <a:solidFill>
                  <a:srgbClr val="262626"/>
                </a:solidFill>
                <a:latin typeface="Calibri"/>
              </a:rPr>
              <a:t>“Subtropikal” = savan iklimi</a:t>
            </a:r>
          </a:p>
          <a:p>
            <a:pPr algn="l">
              <a:spcBef>
                <a:spcPts val="0"/>
              </a:spcBef>
              <a:spcAft>
                <a:spcPts val="0"/>
              </a:spcAft>
            </a:pPr>
            <a:r>
              <a:rPr lang="tr-TR" sz="1700" b="0" i="1">
                <a:solidFill>
                  <a:srgbClr val="767676"/>
                </a:solidFill>
                <a:latin typeface="Calibri"/>
              </a:rPr>
              <a:t>Kitap: Harita 3.12</a:t>
            </a:r>
          </a:p>
        </p:txBody>
      </p:sp>
      <p:sp>
        <p:nvSpPr>
          <p:cNvPr id="16" name="Rounded Rectangle 15"/>
          <p:cNvSpPr/>
          <p:nvPr/>
        </p:nvSpPr>
        <p:spPr>
          <a:xfrm>
            <a:off x="8961120" y="3730752"/>
            <a:ext cx="2727655" cy="256032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l">
              <a:spcBef>
                <a:spcPts val="0"/>
              </a:spcBef>
              <a:spcAft>
                <a:spcPts val="400"/>
              </a:spcAft>
            </a:pPr>
            <a:r>
              <a:rPr lang="tr-TR" sz="1700" b="1" i="0">
                <a:solidFill>
                  <a:srgbClr val="B85C12"/>
                </a:solidFill>
                <a:latin typeface="Calibri"/>
              </a:rPr>
              <a:t>Ara:</a:t>
            </a:r>
          </a:p>
          <a:p>
            <a:pPr algn="l" marL="211327" indent="-211327">
              <a:spcBef>
                <a:spcPts val="0"/>
              </a:spcBef>
              <a:spcAft>
                <a:spcPts val="400"/>
              </a:spcAft>
            </a:pPr>
            <a:r>
              <a:rPr lang="tr-TR" sz="1700" b="1" i="0">
                <a:solidFill>
                  <a:srgbClr val="2C6696"/>
                </a:solidFill>
                <a:latin typeface="Calibri"/>
              </a:rPr>
              <a:t>•  </a:t>
            </a:r>
            <a:r>
              <a:rPr lang="tr-TR" sz="1700" b="0" i="0">
                <a:solidFill>
                  <a:srgbClr val="262626"/>
                </a:solidFill>
                <a:latin typeface="Calibri"/>
              </a:rPr>
              <a:t>Harfin olduğu yerin rengi hangi iklim türü?</a:t>
            </a:r>
          </a:p>
          <a:p>
            <a:pPr algn="l" marL="211327" indent="-211327">
              <a:spcBef>
                <a:spcPts val="0"/>
              </a:spcBef>
              <a:spcAft>
                <a:spcPts val="0"/>
              </a:spcAft>
            </a:pPr>
            <a:r>
              <a:rPr lang="tr-TR" sz="1700" b="1" i="0">
                <a:solidFill>
                  <a:srgbClr val="2C6696"/>
                </a:solidFill>
                <a:latin typeface="Calibri"/>
              </a:rPr>
              <a:t>•  </a:t>
            </a:r>
            <a:r>
              <a:rPr lang="tr-TR" sz="1700" b="0" i="0">
                <a:solidFill>
                  <a:srgbClr val="262626"/>
                </a:solidFill>
                <a:latin typeface="Calibri"/>
              </a:rPr>
              <a:t>O iklimde tarım neden zor?</a:t>
            </a:r>
          </a:p>
        </p:txBody>
      </p:sp>
      <p:sp>
        <p:nvSpPr>
          <p:cNvPr id="17" name="TextBox 1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8" name="Rounded Rectangle 1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176</a:t>
            </a:r>
          </a:p>
        </p:txBody>
      </p:sp>
      <p:sp>
        <p:nvSpPr>
          <p:cNvPr id="19" name="TextBox 1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49 / 166</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Kanıt haritası: tatlı su</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KAREKOD (EBA)</a:t>
            </a:r>
          </a:p>
        </p:txBody>
      </p:sp>
      <p:pic>
        <p:nvPicPr>
          <p:cNvPr id="6" name="Picture 5" descr="h28_eba_su.jpg"/>
          <p:cNvPicPr>
            <a:picLocks noChangeAspect="1"/>
          </p:cNvPicPr>
          <p:nvPr/>
        </p:nvPicPr>
        <p:blipFill>
          <a:blip r:embed="rId3"/>
          <a:stretch>
            <a:fillRect/>
          </a:stretch>
        </p:blipFill>
        <p:spPr>
          <a:xfrm>
            <a:off x="502920" y="1216152"/>
            <a:ext cx="8229600" cy="4334116"/>
          </a:xfrm>
          <a:prstGeom prst="rect">
            <a:avLst/>
          </a:prstGeom>
          <a:ln w="9525">
            <a:solidFill>
              <a:srgbClr val="D9D9D9"/>
            </a:solidFill>
          </a:ln>
        </p:spPr>
      </p:pic>
      <p:sp>
        <p:nvSpPr>
          <p:cNvPr id="7" name="Oval 6"/>
          <p:cNvSpPr/>
          <p:nvPr/>
        </p:nvSpPr>
        <p:spPr>
          <a:xfrm>
            <a:off x="2596607" y="1722041"/>
            <a:ext cx="274320" cy="274320"/>
          </a:xfrm>
          <a:prstGeom prst="ellipse">
            <a:avLst/>
          </a:prstGeom>
          <a:solidFill>
            <a:srgbClr val="FFFFFF"/>
          </a:solidFill>
          <a:ln w="28575">
            <a:solidFill>
              <a:srgbClr val="D3373A"/>
            </a:solidFill>
          </a:ln>
          <a:effectLst/>
        </p:spPr>
        <p:txBody>
          <a:bodyPr rtlCol="0" anchor="ctr" wrap="none" lIns="0" rIns="0" tIns="0" bIns="0">
            <a:noAutofit/>
          </a:bodyPr>
          <a:lstStyle/>
          <a:p>
            <a:pPr algn="ctr">
              <a:spcBef>
                <a:spcPts val="0"/>
              </a:spcBef>
              <a:spcAft>
                <a:spcPts val="0"/>
              </a:spcAft>
            </a:pPr>
            <a:r>
              <a:rPr lang="tr-TR" sz="1300" b="1" i="0">
                <a:solidFill>
                  <a:srgbClr val="262626"/>
                </a:solidFill>
                <a:latin typeface="Calibri"/>
              </a:rPr>
              <a:t>a</a:t>
            </a:r>
          </a:p>
        </p:txBody>
      </p:sp>
      <p:sp>
        <p:nvSpPr>
          <p:cNvPr id="8" name="Oval 7"/>
          <p:cNvSpPr/>
          <p:nvPr/>
        </p:nvSpPr>
        <p:spPr>
          <a:xfrm>
            <a:off x="3065819" y="3956281"/>
            <a:ext cx="274320" cy="274320"/>
          </a:xfrm>
          <a:prstGeom prst="ellipse">
            <a:avLst/>
          </a:prstGeom>
          <a:solidFill>
            <a:srgbClr val="FFFFFF"/>
          </a:solidFill>
          <a:ln w="28575">
            <a:solidFill>
              <a:srgbClr val="D3373A"/>
            </a:solidFill>
          </a:ln>
          <a:effectLst/>
        </p:spPr>
        <p:txBody>
          <a:bodyPr rtlCol="0" anchor="ctr" wrap="none" lIns="0" rIns="0" tIns="0" bIns="0">
            <a:noAutofit/>
          </a:bodyPr>
          <a:lstStyle/>
          <a:p>
            <a:pPr algn="ctr">
              <a:spcBef>
                <a:spcPts val="0"/>
              </a:spcBef>
              <a:spcAft>
                <a:spcPts val="0"/>
              </a:spcAft>
            </a:pPr>
            <a:r>
              <a:rPr lang="tr-TR" sz="1300" b="1" i="0">
                <a:solidFill>
                  <a:srgbClr val="262626"/>
                </a:solidFill>
                <a:latin typeface="Calibri"/>
              </a:rPr>
              <a:t>b</a:t>
            </a:r>
          </a:p>
        </p:txBody>
      </p:sp>
      <p:sp>
        <p:nvSpPr>
          <p:cNvPr id="9" name="Oval 8"/>
          <p:cNvSpPr/>
          <p:nvPr/>
        </p:nvSpPr>
        <p:spPr>
          <a:xfrm>
            <a:off x="3333430" y="3381660"/>
            <a:ext cx="274320" cy="274320"/>
          </a:xfrm>
          <a:prstGeom prst="ellipse">
            <a:avLst/>
          </a:prstGeom>
          <a:solidFill>
            <a:srgbClr val="FFFFFF"/>
          </a:solidFill>
          <a:ln w="28575">
            <a:solidFill>
              <a:srgbClr val="D3373A"/>
            </a:solidFill>
          </a:ln>
          <a:effectLst/>
        </p:spPr>
        <p:txBody>
          <a:bodyPr rtlCol="0" anchor="ctr" wrap="none" lIns="0" rIns="0" tIns="0" bIns="0">
            <a:noAutofit/>
          </a:bodyPr>
          <a:lstStyle/>
          <a:p>
            <a:pPr algn="ctr">
              <a:spcBef>
                <a:spcPts val="0"/>
              </a:spcBef>
              <a:spcAft>
                <a:spcPts val="0"/>
              </a:spcAft>
            </a:pPr>
            <a:r>
              <a:rPr lang="tr-TR" sz="1300" b="1" i="0">
                <a:solidFill>
                  <a:srgbClr val="262626"/>
                </a:solidFill>
                <a:latin typeface="Calibri"/>
              </a:rPr>
              <a:t>c</a:t>
            </a:r>
          </a:p>
        </p:txBody>
      </p:sp>
      <p:sp>
        <p:nvSpPr>
          <p:cNvPr id="10" name="Oval 9"/>
          <p:cNvSpPr/>
          <p:nvPr/>
        </p:nvSpPr>
        <p:spPr>
          <a:xfrm>
            <a:off x="4871302" y="2607171"/>
            <a:ext cx="274320" cy="274320"/>
          </a:xfrm>
          <a:prstGeom prst="ellipse">
            <a:avLst/>
          </a:prstGeom>
          <a:solidFill>
            <a:srgbClr val="FFFFFF"/>
          </a:solidFill>
          <a:ln w="28575">
            <a:solidFill>
              <a:srgbClr val="D3373A"/>
            </a:solidFill>
          </a:ln>
          <a:effectLst/>
        </p:spPr>
        <p:txBody>
          <a:bodyPr rtlCol="0" anchor="ctr" wrap="none" lIns="0" rIns="0" tIns="0" bIns="0">
            <a:noAutofit/>
          </a:bodyPr>
          <a:lstStyle/>
          <a:p>
            <a:pPr algn="ctr">
              <a:spcBef>
                <a:spcPts val="0"/>
              </a:spcBef>
              <a:spcAft>
                <a:spcPts val="0"/>
              </a:spcAft>
            </a:pPr>
            <a:r>
              <a:rPr lang="tr-TR" sz="1300" b="1" i="0">
                <a:solidFill>
                  <a:srgbClr val="262626"/>
                </a:solidFill>
                <a:latin typeface="Calibri"/>
              </a:rPr>
              <a:t>ç</a:t>
            </a:r>
          </a:p>
        </p:txBody>
      </p:sp>
      <p:sp>
        <p:nvSpPr>
          <p:cNvPr id="11" name="Oval 10"/>
          <p:cNvSpPr/>
          <p:nvPr/>
        </p:nvSpPr>
        <p:spPr>
          <a:xfrm>
            <a:off x="6075552" y="1577494"/>
            <a:ext cx="274320" cy="274320"/>
          </a:xfrm>
          <a:prstGeom prst="ellipse">
            <a:avLst/>
          </a:prstGeom>
          <a:solidFill>
            <a:srgbClr val="FFFFFF"/>
          </a:solidFill>
          <a:ln w="28575">
            <a:solidFill>
              <a:srgbClr val="D3373A"/>
            </a:solidFill>
          </a:ln>
          <a:effectLst/>
        </p:spPr>
        <p:txBody>
          <a:bodyPr rtlCol="0" anchor="ctr" wrap="none" lIns="0" rIns="0" tIns="0" bIns="0">
            <a:noAutofit/>
          </a:bodyPr>
          <a:lstStyle/>
          <a:p>
            <a:pPr algn="ctr">
              <a:spcBef>
                <a:spcPts val="0"/>
              </a:spcBef>
              <a:spcAft>
                <a:spcPts val="0"/>
              </a:spcAft>
            </a:pPr>
            <a:r>
              <a:rPr lang="tr-TR" sz="1300" b="1" i="0">
                <a:solidFill>
                  <a:srgbClr val="262626"/>
                </a:solidFill>
                <a:latin typeface="Calibri"/>
              </a:rPr>
              <a:t>d</a:t>
            </a:r>
          </a:p>
        </p:txBody>
      </p:sp>
      <p:sp>
        <p:nvSpPr>
          <p:cNvPr id="12" name="Oval 11"/>
          <p:cNvSpPr/>
          <p:nvPr/>
        </p:nvSpPr>
        <p:spPr>
          <a:xfrm>
            <a:off x="6396685" y="2451917"/>
            <a:ext cx="274320" cy="274320"/>
          </a:xfrm>
          <a:prstGeom prst="ellipse">
            <a:avLst/>
          </a:prstGeom>
          <a:solidFill>
            <a:srgbClr val="FFFFFF"/>
          </a:solidFill>
          <a:ln w="28575">
            <a:solidFill>
              <a:srgbClr val="D3373A"/>
            </a:solidFill>
          </a:ln>
          <a:effectLst/>
        </p:spPr>
        <p:txBody>
          <a:bodyPr rtlCol="0" anchor="ctr" wrap="none" lIns="0" rIns="0" tIns="0" bIns="0">
            <a:noAutofit/>
          </a:bodyPr>
          <a:lstStyle/>
          <a:p>
            <a:pPr algn="ctr">
              <a:spcBef>
                <a:spcPts val="0"/>
              </a:spcBef>
              <a:spcAft>
                <a:spcPts val="0"/>
              </a:spcAft>
            </a:pPr>
            <a:r>
              <a:rPr lang="tr-TR" sz="1300" b="1" i="0">
                <a:solidFill>
                  <a:srgbClr val="262626"/>
                </a:solidFill>
                <a:latin typeface="Calibri"/>
              </a:rPr>
              <a:t>e</a:t>
            </a:r>
          </a:p>
        </p:txBody>
      </p:sp>
      <p:sp>
        <p:nvSpPr>
          <p:cNvPr id="13" name="Oval 12"/>
          <p:cNvSpPr/>
          <p:nvPr/>
        </p:nvSpPr>
        <p:spPr>
          <a:xfrm>
            <a:off x="7344029" y="3949143"/>
            <a:ext cx="274320" cy="274320"/>
          </a:xfrm>
          <a:prstGeom prst="ellipse">
            <a:avLst/>
          </a:prstGeom>
          <a:solidFill>
            <a:srgbClr val="FFFFFF"/>
          </a:solidFill>
          <a:ln w="28575">
            <a:solidFill>
              <a:srgbClr val="D3373A"/>
            </a:solidFill>
          </a:ln>
          <a:effectLst/>
        </p:spPr>
        <p:txBody>
          <a:bodyPr rtlCol="0" anchor="ctr" wrap="none" lIns="0" rIns="0" tIns="0" bIns="0">
            <a:noAutofit/>
          </a:bodyPr>
          <a:lstStyle/>
          <a:p>
            <a:pPr algn="ctr">
              <a:spcBef>
                <a:spcPts val="0"/>
              </a:spcBef>
              <a:spcAft>
                <a:spcPts val="0"/>
              </a:spcAft>
            </a:pPr>
            <a:r>
              <a:rPr lang="tr-TR" sz="1300" b="1" i="0">
                <a:solidFill>
                  <a:srgbClr val="262626"/>
                </a:solidFill>
                <a:latin typeface="Calibri"/>
              </a:rPr>
              <a:t>f</a:t>
            </a:r>
          </a:p>
        </p:txBody>
      </p:sp>
      <p:sp>
        <p:nvSpPr>
          <p:cNvPr id="14" name="TextBox 13"/>
          <p:cNvSpPr txBox="1"/>
          <p:nvPr/>
        </p:nvSpPr>
        <p:spPr>
          <a:xfrm>
            <a:off x="502920" y="5577700"/>
            <a:ext cx="8229600" cy="274320"/>
          </a:xfrm>
          <a:prstGeom prst="rect">
            <a:avLst/>
          </a:prstGeom>
          <a:noFill/>
        </p:spPr>
        <p:txBody>
          <a:bodyPr wrap="square" anchor="t" lIns="73152" rIns="73152" tIns="36576" bIns="36576">
            <a:noAutofit/>
          </a:bodyPr>
          <a:lstStyle/>
          <a:p>
            <a:pPr algn="l">
              <a:spcBef>
                <a:spcPts val="0"/>
              </a:spcBef>
              <a:spcAft>
                <a:spcPts val="0"/>
              </a:spcAft>
            </a:pPr>
            <a:r>
              <a:rPr lang="tr-TR" sz="1100" b="0" i="0">
                <a:solidFill>
                  <a:srgbClr val="767676"/>
                </a:solidFill>
                <a:latin typeface="Calibri"/>
              </a:rPr>
              <a:t>Kitabın karekod içeriği (EBA): Kişi Başına Düşen Yıllık Tatlı Su Kaynaklarına Erişim Haritası</a:t>
            </a:r>
          </a:p>
        </p:txBody>
      </p:sp>
      <p:sp>
        <p:nvSpPr>
          <p:cNvPr id="15" name="Rounded Rectangle 14"/>
          <p:cNvSpPr/>
          <p:nvPr/>
        </p:nvSpPr>
        <p:spPr>
          <a:xfrm>
            <a:off x="8961120" y="1216152"/>
            <a:ext cx="2727655" cy="2834640"/>
          </a:xfrm>
          <a:prstGeom prst="roundRect">
            <a:avLst>
              <a:gd name="adj" fmla="val 8000"/>
            </a:avLst>
          </a:prstGeom>
          <a:solidFill>
            <a:srgbClr val="F9E1E1"/>
          </a:solidFill>
          <a:ln>
            <a:noFill/>
          </a:ln>
          <a:effectLst/>
        </p:spPr>
        <p:txBody>
          <a:bodyPr rtlCol="0" anchor="ctr" wrap="square" lIns="128016" rIns="128016" tIns="73152" bIns="73152">
            <a:noAutofit/>
          </a:bodyPr>
          <a:lstStyle/>
          <a:p>
            <a:pPr algn="l">
              <a:spcBef>
                <a:spcPts val="0"/>
              </a:spcBef>
              <a:spcAft>
                <a:spcPts val="500"/>
              </a:spcAft>
            </a:pPr>
            <a:r>
              <a:rPr lang="tr-TR" sz="1700" b="1" i="0">
                <a:solidFill>
                  <a:srgbClr val="D3373A"/>
                </a:solidFill>
                <a:latin typeface="Calibri"/>
              </a:rPr>
              <a:t>Dikkat: ülke ortalaması</a:t>
            </a:r>
          </a:p>
          <a:p>
            <a:pPr algn="l">
              <a:spcBef>
                <a:spcPts val="0"/>
              </a:spcBef>
              <a:spcAft>
                <a:spcPts val="500"/>
              </a:spcAft>
            </a:pPr>
            <a:r>
              <a:rPr lang="tr-TR" sz="1700" b="0" i="0">
                <a:solidFill>
                  <a:srgbClr val="262626"/>
                </a:solidFill>
                <a:latin typeface="Calibri"/>
              </a:rPr>
              <a:t>Bir ülkenin tek rengi, içindeki çöl ile kıyıyı ayırmaz.</a:t>
            </a:r>
          </a:p>
          <a:p>
            <a:pPr algn="l">
              <a:spcBef>
                <a:spcPts val="0"/>
              </a:spcBef>
              <a:spcAft>
                <a:spcPts val="0"/>
              </a:spcAft>
            </a:pPr>
            <a:r>
              <a:rPr lang="tr-TR" sz="1700" b="1" i="0">
                <a:solidFill>
                  <a:srgbClr val="262626"/>
                </a:solidFill>
                <a:latin typeface="Calibri"/>
              </a:rPr>
              <a:t>f: ülke ortalaması yüksek, iç kesim çöl.</a:t>
            </a:r>
          </a:p>
        </p:txBody>
      </p:sp>
      <p:sp>
        <p:nvSpPr>
          <p:cNvPr id="16" name="Rounded Rectangle 15"/>
          <p:cNvSpPr/>
          <p:nvPr/>
        </p:nvSpPr>
        <p:spPr>
          <a:xfrm>
            <a:off x="8961120" y="4187952"/>
            <a:ext cx="2727655" cy="2103120"/>
          </a:xfrm>
          <a:prstGeom prst="roundRect">
            <a:avLst>
              <a:gd name="adj" fmla="val 8000"/>
            </a:avLst>
          </a:prstGeom>
          <a:solidFill>
            <a:srgbClr val="E3ECF5"/>
          </a:solidFill>
          <a:ln>
            <a:noFill/>
          </a:ln>
          <a:effectLst/>
        </p:spPr>
        <p:txBody>
          <a:bodyPr rtlCol="0" anchor="ctr" wrap="square" lIns="128016" rIns="128016" tIns="73152" bIns="73152">
            <a:noAutofit/>
          </a:bodyPr>
          <a:lstStyle/>
          <a:p>
            <a:pPr algn="l">
              <a:spcBef>
                <a:spcPts val="0"/>
              </a:spcBef>
              <a:spcAft>
                <a:spcPts val="500"/>
              </a:spcAft>
            </a:pPr>
            <a:r>
              <a:rPr lang="tr-TR" sz="1700" b="1" i="0">
                <a:solidFill>
                  <a:srgbClr val="2C6696"/>
                </a:solidFill>
                <a:latin typeface="Calibri"/>
              </a:rPr>
              <a:t>Birim</a:t>
            </a:r>
          </a:p>
          <a:p>
            <a:pPr algn="l">
              <a:spcBef>
                <a:spcPts val="0"/>
              </a:spcBef>
              <a:spcAft>
                <a:spcPts val="0"/>
              </a:spcAft>
            </a:pPr>
            <a:r>
              <a:rPr lang="tr-TR" sz="1700" b="0" i="0">
                <a:solidFill>
                  <a:srgbClr val="262626"/>
                </a:solidFill>
                <a:latin typeface="Calibri"/>
              </a:rPr>
              <a:t>Lejantta “m²/yıl” yazıyor; su bir hacimdir: m³/yıl.</a:t>
            </a:r>
          </a:p>
        </p:txBody>
      </p:sp>
      <p:sp>
        <p:nvSpPr>
          <p:cNvPr id="17" name="TextBox 1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8" name="Rounded Rectangle 1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176</a:t>
            </a:r>
          </a:p>
        </p:txBody>
      </p:sp>
      <p:sp>
        <p:nvSpPr>
          <p:cNvPr id="19" name="TextBox 1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50 / 166</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Kanıt haritaları: fiziki ve bitki</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KAREKOD (EBA)</a:t>
            </a:r>
          </a:p>
        </p:txBody>
      </p:sp>
      <p:pic>
        <p:nvPicPr>
          <p:cNvPr id="6" name="Picture 5" descr="h28_eba_fiziki_and.jpg"/>
          <p:cNvPicPr>
            <a:picLocks noChangeAspect="1"/>
          </p:cNvPicPr>
          <p:nvPr/>
        </p:nvPicPr>
        <p:blipFill>
          <a:blip r:embed="rId3"/>
          <a:stretch>
            <a:fillRect/>
          </a:stretch>
        </p:blipFill>
        <p:spPr>
          <a:xfrm>
            <a:off x="502920" y="1216152"/>
            <a:ext cx="2582137" cy="1911096"/>
          </a:xfrm>
          <a:prstGeom prst="rect">
            <a:avLst/>
          </a:prstGeom>
          <a:ln w="9525">
            <a:solidFill>
              <a:srgbClr val="D9D9D9"/>
            </a:solidFill>
          </a:ln>
        </p:spPr>
      </p:pic>
      <p:sp>
        <p:nvSpPr>
          <p:cNvPr id="7" name="Oval 6"/>
          <p:cNvSpPr/>
          <p:nvPr/>
        </p:nvSpPr>
        <p:spPr>
          <a:xfrm>
            <a:off x="1493296" y="2222211"/>
            <a:ext cx="310896" cy="310896"/>
          </a:xfrm>
          <a:prstGeom prst="ellipse">
            <a:avLst/>
          </a:prstGeom>
          <a:solidFill>
            <a:srgbClr val="FFFFFF"/>
          </a:solidFill>
          <a:ln w="28575">
            <a:solidFill>
              <a:srgbClr val="D3373A"/>
            </a:solidFill>
          </a:ln>
          <a:effectLst/>
        </p:spPr>
        <p:txBody>
          <a:bodyPr rtlCol="0" anchor="ctr" wrap="none" lIns="0" rIns="0" tIns="0" bIns="0">
            <a:noAutofit/>
          </a:bodyPr>
          <a:lstStyle/>
          <a:p>
            <a:pPr algn="ctr">
              <a:spcBef>
                <a:spcPts val="0"/>
              </a:spcBef>
              <a:spcAft>
                <a:spcPts val="0"/>
              </a:spcAft>
            </a:pPr>
            <a:r>
              <a:rPr lang="tr-TR" sz="1400" b="1" i="0">
                <a:solidFill>
                  <a:srgbClr val="262626"/>
                </a:solidFill>
                <a:latin typeface="Calibri"/>
              </a:rPr>
              <a:t>b</a:t>
            </a:r>
          </a:p>
        </p:txBody>
      </p:sp>
      <p:sp>
        <p:nvSpPr>
          <p:cNvPr id="8" name="TextBox 7"/>
          <p:cNvSpPr txBox="1"/>
          <p:nvPr/>
        </p:nvSpPr>
        <p:spPr>
          <a:xfrm>
            <a:off x="502920" y="3145536"/>
            <a:ext cx="4114800" cy="329184"/>
          </a:xfrm>
          <a:prstGeom prst="rect">
            <a:avLst/>
          </a:prstGeom>
          <a:noFill/>
        </p:spPr>
        <p:txBody>
          <a:bodyPr wrap="square" anchor="t" lIns="73152" rIns="73152" tIns="36576" bIns="36576">
            <a:noAutofit/>
          </a:bodyPr>
          <a:lstStyle/>
          <a:p>
            <a:pPr algn="l">
              <a:spcBef>
                <a:spcPts val="0"/>
              </a:spcBef>
              <a:spcAft>
                <a:spcPts val="0"/>
              </a:spcAft>
            </a:pPr>
            <a:r>
              <a:rPr lang="tr-TR" sz="1500" b="1" i="0">
                <a:solidFill>
                  <a:srgbClr val="262626"/>
                </a:solidFill>
                <a:latin typeface="Calibri"/>
              </a:rPr>
              <a:t>b · And Dağları çevresi</a:t>
            </a:r>
          </a:p>
        </p:txBody>
      </p:sp>
      <p:pic>
        <p:nvPicPr>
          <p:cNvPr id="9" name="Picture 8" descr="h28_eba_fiziki_tibet.jpg"/>
          <p:cNvPicPr>
            <a:picLocks noChangeAspect="1"/>
          </p:cNvPicPr>
          <p:nvPr/>
        </p:nvPicPr>
        <p:blipFill>
          <a:blip r:embed="rId4"/>
          <a:stretch>
            <a:fillRect/>
          </a:stretch>
        </p:blipFill>
        <p:spPr>
          <a:xfrm>
            <a:off x="502920" y="3602736"/>
            <a:ext cx="3175508" cy="1911096"/>
          </a:xfrm>
          <a:prstGeom prst="rect">
            <a:avLst/>
          </a:prstGeom>
          <a:ln w="9525">
            <a:solidFill>
              <a:srgbClr val="D9D9D9"/>
            </a:solidFill>
          </a:ln>
        </p:spPr>
      </p:pic>
      <p:sp>
        <p:nvSpPr>
          <p:cNvPr id="10" name="Oval 9"/>
          <p:cNvSpPr/>
          <p:nvPr/>
        </p:nvSpPr>
        <p:spPr>
          <a:xfrm>
            <a:off x="1863023" y="4304102"/>
            <a:ext cx="310896" cy="310896"/>
          </a:xfrm>
          <a:prstGeom prst="ellipse">
            <a:avLst/>
          </a:prstGeom>
          <a:solidFill>
            <a:srgbClr val="FFFFFF"/>
          </a:solidFill>
          <a:ln w="28575">
            <a:solidFill>
              <a:srgbClr val="D3373A"/>
            </a:solidFill>
          </a:ln>
          <a:effectLst/>
        </p:spPr>
        <p:txBody>
          <a:bodyPr rtlCol="0" anchor="ctr" wrap="none" lIns="0" rIns="0" tIns="0" bIns="0">
            <a:noAutofit/>
          </a:bodyPr>
          <a:lstStyle/>
          <a:p>
            <a:pPr algn="ctr">
              <a:spcBef>
                <a:spcPts val="0"/>
              </a:spcBef>
              <a:spcAft>
                <a:spcPts val="0"/>
              </a:spcAft>
            </a:pPr>
            <a:r>
              <a:rPr lang="tr-TR" sz="1400" b="1" i="0">
                <a:solidFill>
                  <a:srgbClr val="262626"/>
                </a:solidFill>
                <a:latin typeface="Calibri"/>
              </a:rPr>
              <a:t>e</a:t>
            </a:r>
          </a:p>
        </p:txBody>
      </p:sp>
      <p:sp>
        <p:nvSpPr>
          <p:cNvPr id="11" name="TextBox 10"/>
          <p:cNvSpPr txBox="1"/>
          <p:nvPr/>
        </p:nvSpPr>
        <p:spPr>
          <a:xfrm>
            <a:off x="502920" y="5532120"/>
            <a:ext cx="4114800" cy="329184"/>
          </a:xfrm>
          <a:prstGeom prst="rect">
            <a:avLst/>
          </a:prstGeom>
          <a:noFill/>
        </p:spPr>
        <p:txBody>
          <a:bodyPr wrap="square" anchor="t" lIns="73152" rIns="73152" tIns="36576" bIns="36576">
            <a:noAutofit/>
          </a:bodyPr>
          <a:lstStyle/>
          <a:p>
            <a:pPr algn="l">
              <a:spcBef>
                <a:spcPts val="0"/>
              </a:spcBef>
              <a:spcAft>
                <a:spcPts val="0"/>
              </a:spcAft>
            </a:pPr>
            <a:r>
              <a:rPr lang="tr-TR" sz="1500" b="1" i="0">
                <a:solidFill>
                  <a:srgbClr val="262626"/>
                </a:solidFill>
                <a:latin typeface="Calibri"/>
              </a:rPr>
              <a:t>e · Tibet Platosu</a:t>
            </a:r>
          </a:p>
        </p:txBody>
      </p:sp>
      <p:sp>
        <p:nvSpPr>
          <p:cNvPr id="12" name="TextBox 11"/>
          <p:cNvSpPr txBox="1"/>
          <p:nvPr/>
        </p:nvSpPr>
        <p:spPr>
          <a:xfrm>
            <a:off x="502920" y="5998464"/>
            <a:ext cx="4114800" cy="274320"/>
          </a:xfrm>
          <a:prstGeom prst="rect">
            <a:avLst/>
          </a:prstGeom>
          <a:noFill/>
        </p:spPr>
        <p:txBody>
          <a:bodyPr wrap="square" anchor="t" lIns="73152" rIns="73152" tIns="36576" bIns="36576">
            <a:noAutofit/>
          </a:bodyPr>
          <a:lstStyle/>
          <a:p>
            <a:pPr algn="l">
              <a:spcBef>
                <a:spcPts val="0"/>
              </a:spcBef>
              <a:spcAft>
                <a:spcPts val="0"/>
              </a:spcAft>
            </a:pPr>
            <a:r>
              <a:rPr lang="tr-TR" sz="1100" b="0" i="0">
                <a:solidFill>
                  <a:srgbClr val="767676"/>
                </a:solidFill>
                <a:latin typeface="Calibri"/>
              </a:rPr>
              <a:t>EBA: Dünya Fiziki Haritası (kesitler)</a:t>
            </a:r>
          </a:p>
        </p:txBody>
      </p:sp>
      <p:pic>
        <p:nvPicPr>
          <p:cNvPr id="13" name="Picture 12" descr="h28_eba_bitki.jpg"/>
          <p:cNvPicPr>
            <a:picLocks noChangeAspect="1"/>
          </p:cNvPicPr>
          <p:nvPr/>
        </p:nvPicPr>
        <p:blipFill>
          <a:blip r:embed="rId5"/>
          <a:stretch>
            <a:fillRect/>
          </a:stretch>
        </p:blipFill>
        <p:spPr>
          <a:xfrm>
            <a:off x="4846320" y="1216152"/>
            <a:ext cx="6842455" cy="3594454"/>
          </a:xfrm>
          <a:prstGeom prst="rect">
            <a:avLst/>
          </a:prstGeom>
          <a:ln w="9525">
            <a:solidFill>
              <a:srgbClr val="D9D9D9"/>
            </a:solidFill>
          </a:ln>
        </p:spPr>
      </p:pic>
      <p:sp>
        <p:nvSpPr>
          <p:cNvPr id="14" name="Oval 13"/>
          <p:cNvSpPr/>
          <p:nvPr/>
        </p:nvSpPr>
        <p:spPr>
          <a:xfrm>
            <a:off x="6559998" y="1610300"/>
            <a:ext cx="256032" cy="256032"/>
          </a:xfrm>
          <a:prstGeom prst="ellipse">
            <a:avLst/>
          </a:prstGeom>
          <a:solidFill>
            <a:srgbClr val="FFFFFF"/>
          </a:solidFill>
          <a:ln w="28575">
            <a:solidFill>
              <a:srgbClr val="D3373A"/>
            </a:solidFill>
          </a:ln>
          <a:effectLst/>
        </p:spPr>
        <p:txBody>
          <a:bodyPr rtlCol="0" anchor="ctr" wrap="none" lIns="0" rIns="0" tIns="0" bIns="0">
            <a:noAutofit/>
          </a:bodyPr>
          <a:lstStyle/>
          <a:p>
            <a:pPr algn="ctr">
              <a:spcBef>
                <a:spcPts val="0"/>
              </a:spcBef>
              <a:spcAft>
                <a:spcPts val="0"/>
              </a:spcAft>
            </a:pPr>
            <a:r>
              <a:rPr lang="tr-TR" sz="1200" b="1" i="0">
                <a:solidFill>
                  <a:srgbClr val="262626"/>
                </a:solidFill>
                <a:latin typeface="Calibri"/>
              </a:rPr>
              <a:t>a</a:t>
            </a:r>
          </a:p>
        </p:txBody>
      </p:sp>
      <p:sp>
        <p:nvSpPr>
          <p:cNvPr id="15" name="Oval 14"/>
          <p:cNvSpPr/>
          <p:nvPr/>
        </p:nvSpPr>
        <p:spPr>
          <a:xfrm>
            <a:off x="6951242" y="3473554"/>
            <a:ext cx="256032" cy="256032"/>
          </a:xfrm>
          <a:prstGeom prst="ellipse">
            <a:avLst/>
          </a:prstGeom>
          <a:solidFill>
            <a:srgbClr val="FFFFFF"/>
          </a:solidFill>
          <a:ln w="28575">
            <a:solidFill>
              <a:srgbClr val="D3373A"/>
            </a:solidFill>
          </a:ln>
          <a:effectLst/>
        </p:spPr>
        <p:txBody>
          <a:bodyPr rtlCol="0" anchor="ctr" wrap="none" lIns="0" rIns="0" tIns="0" bIns="0">
            <a:noAutofit/>
          </a:bodyPr>
          <a:lstStyle/>
          <a:p>
            <a:pPr algn="ctr">
              <a:spcBef>
                <a:spcPts val="0"/>
              </a:spcBef>
              <a:spcAft>
                <a:spcPts val="0"/>
              </a:spcAft>
            </a:pPr>
            <a:r>
              <a:rPr lang="tr-TR" sz="1200" b="1" i="0">
                <a:solidFill>
                  <a:srgbClr val="262626"/>
                </a:solidFill>
                <a:latin typeface="Calibri"/>
              </a:rPr>
              <a:t>b</a:t>
            </a:r>
          </a:p>
        </p:txBody>
      </p:sp>
      <p:sp>
        <p:nvSpPr>
          <p:cNvPr id="16" name="Oval 15"/>
          <p:cNvSpPr/>
          <p:nvPr/>
        </p:nvSpPr>
        <p:spPr>
          <a:xfrm>
            <a:off x="7174384" y="2994346"/>
            <a:ext cx="256032" cy="256032"/>
          </a:xfrm>
          <a:prstGeom prst="ellipse">
            <a:avLst/>
          </a:prstGeom>
          <a:solidFill>
            <a:srgbClr val="FFFFFF"/>
          </a:solidFill>
          <a:ln w="28575">
            <a:solidFill>
              <a:srgbClr val="D3373A"/>
            </a:solidFill>
          </a:ln>
          <a:effectLst/>
        </p:spPr>
        <p:txBody>
          <a:bodyPr rtlCol="0" anchor="ctr" wrap="none" lIns="0" rIns="0" tIns="0" bIns="0">
            <a:noAutofit/>
          </a:bodyPr>
          <a:lstStyle/>
          <a:p>
            <a:pPr algn="ctr">
              <a:spcBef>
                <a:spcPts val="0"/>
              </a:spcBef>
              <a:spcAft>
                <a:spcPts val="0"/>
              </a:spcAft>
            </a:pPr>
            <a:r>
              <a:rPr lang="tr-TR" sz="1200" b="1" i="0">
                <a:solidFill>
                  <a:srgbClr val="262626"/>
                </a:solidFill>
                <a:latin typeface="Calibri"/>
              </a:rPr>
              <a:t>c</a:t>
            </a:r>
          </a:p>
        </p:txBody>
      </p:sp>
      <p:sp>
        <p:nvSpPr>
          <p:cNvPr id="17" name="Oval 16"/>
          <p:cNvSpPr/>
          <p:nvPr/>
        </p:nvSpPr>
        <p:spPr>
          <a:xfrm>
            <a:off x="8456712" y="2348458"/>
            <a:ext cx="256032" cy="256032"/>
          </a:xfrm>
          <a:prstGeom prst="ellipse">
            <a:avLst/>
          </a:prstGeom>
          <a:solidFill>
            <a:srgbClr val="FFFFFF"/>
          </a:solidFill>
          <a:ln w="28575">
            <a:solidFill>
              <a:srgbClr val="D3373A"/>
            </a:solidFill>
          </a:ln>
          <a:effectLst/>
        </p:spPr>
        <p:txBody>
          <a:bodyPr rtlCol="0" anchor="ctr" wrap="none" lIns="0" rIns="0" tIns="0" bIns="0">
            <a:noAutofit/>
          </a:bodyPr>
          <a:lstStyle/>
          <a:p>
            <a:pPr algn="ctr">
              <a:spcBef>
                <a:spcPts val="0"/>
              </a:spcBef>
              <a:spcAft>
                <a:spcPts val="0"/>
              </a:spcAft>
            </a:pPr>
            <a:r>
              <a:rPr lang="tr-TR" sz="1200" b="1" i="0">
                <a:solidFill>
                  <a:srgbClr val="262626"/>
                </a:solidFill>
                <a:latin typeface="Calibri"/>
              </a:rPr>
              <a:t>ç</a:t>
            </a:r>
          </a:p>
        </p:txBody>
      </p:sp>
      <p:sp>
        <p:nvSpPr>
          <p:cNvPr id="18" name="Oval 17"/>
          <p:cNvSpPr/>
          <p:nvPr/>
        </p:nvSpPr>
        <p:spPr>
          <a:xfrm>
            <a:off x="9460854" y="1489754"/>
            <a:ext cx="256032" cy="256032"/>
          </a:xfrm>
          <a:prstGeom prst="ellipse">
            <a:avLst/>
          </a:prstGeom>
          <a:solidFill>
            <a:srgbClr val="FFFFFF"/>
          </a:solidFill>
          <a:ln w="28575">
            <a:solidFill>
              <a:srgbClr val="D3373A"/>
            </a:solidFill>
          </a:ln>
          <a:effectLst/>
        </p:spPr>
        <p:txBody>
          <a:bodyPr rtlCol="0" anchor="ctr" wrap="none" lIns="0" rIns="0" tIns="0" bIns="0">
            <a:noAutofit/>
          </a:bodyPr>
          <a:lstStyle/>
          <a:p>
            <a:pPr algn="ctr">
              <a:spcBef>
                <a:spcPts val="0"/>
              </a:spcBef>
              <a:spcAft>
                <a:spcPts val="0"/>
              </a:spcAft>
            </a:pPr>
            <a:r>
              <a:rPr lang="tr-TR" sz="1200" b="1" i="0">
                <a:solidFill>
                  <a:srgbClr val="262626"/>
                </a:solidFill>
                <a:latin typeface="Calibri"/>
              </a:rPr>
              <a:t>d</a:t>
            </a:r>
          </a:p>
        </p:txBody>
      </p:sp>
      <p:sp>
        <p:nvSpPr>
          <p:cNvPr id="19" name="Oval 18"/>
          <p:cNvSpPr/>
          <p:nvPr/>
        </p:nvSpPr>
        <p:spPr>
          <a:xfrm>
            <a:off x="9728625" y="2218983"/>
            <a:ext cx="256032" cy="256032"/>
          </a:xfrm>
          <a:prstGeom prst="ellipse">
            <a:avLst/>
          </a:prstGeom>
          <a:solidFill>
            <a:srgbClr val="FFFFFF"/>
          </a:solidFill>
          <a:ln w="28575">
            <a:solidFill>
              <a:srgbClr val="D3373A"/>
            </a:solidFill>
          </a:ln>
          <a:effectLst/>
        </p:spPr>
        <p:txBody>
          <a:bodyPr rtlCol="0" anchor="ctr" wrap="none" lIns="0" rIns="0" tIns="0" bIns="0">
            <a:noAutofit/>
          </a:bodyPr>
          <a:lstStyle/>
          <a:p>
            <a:pPr algn="ctr">
              <a:spcBef>
                <a:spcPts val="0"/>
              </a:spcBef>
              <a:spcAft>
                <a:spcPts val="0"/>
              </a:spcAft>
            </a:pPr>
            <a:r>
              <a:rPr lang="tr-TR" sz="1200" b="1" i="0">
                <a:solidFill>
                  <a:srgbClr val="262626"/>
                </a:solidFill>
                <a:latin typeface="Calibri"/>
              </a:rPr>
              <a:t>e</a:t>
            </a:r>
          </a:p>
        </p:txBody>
      </p:sp>
      <p:sp>
        <p:nvSpPr>
          <p:cNvPr id="20" name="Oval 19"/>
          <p:cNvSpPr/>
          <p:nvPr/>
        </p:nvSpPr>
        <p:spPr>
          <a:xfrm>
            <a:off x="10518551" y="3467601"/>
            <a:ext cx="256032" cy="256032"/>
          </a:xfrm>
          <a:prstGeom prst="ellipse">
            <a:avLst/>
          </a:prstGeom>
          <a:solidFill>
            <a:srgbClr val="FFFFFF"/>
          </a:solidFill>
          <a:ln w="28575">
            <a:solidFill>
              <a:srgbClr val="D3373A"/>
            </a:solidFill>
          </a:ln>
          <a:effectLst/>
        </p:spPr>
        <p:txBody>
          <a:bodyPr rtlCol="0" anchor="ctr" wrap="none" lIns="0" rIns="0" tIns="0" bIns="0">
            <a:noAutofit/>
          </a:bodyPr>
          <a:lstStyle/>
          <a:p>
            <a:pPr algn="ctr">
              <a:spcBef>
                <a:spcPts val="0"/>
              </a:spcBef>
              <a:spcAft>
                <a:spcPts val="0"/>
              </a:spcAft>
            </a:pPr>
            <a:r>
              <a:rPr lang="tr-TR" sz="1200" b="1" i="0">
                <a:solidFill>
                  <a:srgbClr val="262626"/>
                </a:solidFill>
                <a:latin typeface="Calibri"/>
              </a:rPr>
              <a:t>f</a:t>
            </a:r>
          </a:p>
        </p:txBody>
      </p:sp>
      <p:sp>
        <p:nvSpPr>
          <p:cNvPr id="21" name="Rounded Rectangle 20"/>
          <p:cNvSpPr/>
          <p:nvPr/>
        </p:nvSpPr>
        <p:spPr>
          <a:xfrm>
            <a:off x="4846320" y="4902046"/>
            <a:ext cx="6842455" cy="1068986"/>
          </a:xfrm>
          <a:prstGeom prst="roundRect">
            <a:avLst>
              <a:gd name="adj" fmla="val 8000"/>
            </a:avLst>
          </a:prstGeom>
          <a:solidFill>
            <a:srgbClr val="E3ECF5"/>
          </a:solidFill>
          <a:ln>
            <a:noFill/>
          </a:ln>
          <a:effectLst/>
        </p:spPr>
        <p:txBody>
          <a:bodyPr rtlCol="0" anchor="ctr" wrap="square" lIns="128016" rIns="128016" tIns="73152" bIns="73152">
            <a:noAutofit/>
          </a:bodyPr>
          <a:lstStyle/>
          <a:p>
            <a:pPr algn="l">
              <a:spcBef>
                <a:spcPts val="0"/>
              </a:spcBef>
              <a:spcAft>
                <a:spcPts val="400"/>
              </a:spcAft>
            </a:pPr>
            <a:r>
              <a:rPr lang="tr-TR" sz="1700" b="1" i="0">
                <a:solidFill>
                  <a:srgbClr val="2C6696"/>
                </a:solidFill>
                <a:latin typeface="Calibri"/>
              </a:rPr>
              <a:t>Bitki haritası: yalnız orman mı, çöl mü?</a:t>
            </a:r>
          </a:p>
          <a:p>
            <a:pPr algn="l">
              <a:spcBef>
                <a:spcPts val="0"/>
              </a:spcBef>
              <a:spcAft>
                <a:spcPts val="0"/>
              </a:spcAft>
            </a:pPr>
            <a:r>
              <a:rPr lang="tr-TR" sz="1700" b="0" i="0">
                <a:solidFill>
                  <a:srgbClr val="262626"/>
                </a:solidFill>
                <a:latin typeface="Calibri"/>
              </a:rPr>
              <a:t>c: ekvatoral yağmur ormanı · ç: çöl bitkileri · f: bozkır, çöl bitkileri</a:t>
            </a:r>
          </a:p>
        </p:txBody>
      </p:sp>
      <p:sp>
        <p:nvSpPr>
          <p:cNvPr id="22" name="TextBox 21"/>
          <p:cNvSpPr txBox="1"/>
          <p:nvPr/>
        </p:nvSpPr>
        <p:spPr>
          <a:xfrm>
            <a:off x="4846320" y="5998464"/>
            <a:ext cx="6842455" cy="274320"/>
          </a:xfrm>
          <a:prstGeom prst="rect">
            <a:avLst/>
          </a:prstGeom>
          <a:noFill/>
        </p:spPr>
        <p:txBody>
          <a:bodyPr wrap="square" anchor="t" lIns="73152" rIns="73152" tIns="36576" bIns="36576">
            <a:noAutofit/>
          </a:bodyPr>
          <a:lstStyle/>
          <a:p>
            <a:pPr algn="r">
              <a:spcBef>
                <a:spcPts val="0"/>
              </a:spcBef>
              <a:spcAft>
                <a:spcPts val="0"/>
              </a:spcAft>
            </a:pPr>
            <a:r>
              <a:rPr lang="tr-TR" sz="1100" b="0" i="0">
                <a:solidFill>
                  <a:srgbClr val="767676"/>
                </a:solidFill>
                <a:latin typeface="Calibri"/>
              </a:rPr>
              <a:t>Kitabın karekod içeriği (EBA): Dünya Bitki Haritası · harfler yaklaşık</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176</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51 / 166</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 soru — örnek cevap: ortak tablo</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graphicFrame>
        <p:nvGraphicFramePr>
          <p:cNvPr id="6" name="Table 5"/>
          <p:cNvGraphicFramePr>
            <a:graphicFrameLocks noGrp="1"/>
          </p:cNvGraphicFramePr>
          <p:nvPr/>
        </p:nvGraphicFramePr>
        <p:xfrm>
          <a:off x="502920" y="1216152"/>
          <a:ext cx="11185855" cy="4937760"/>
        </p:xfrm>
        <a:graphic>
          <a:graphicData uri="http://schemas.openxmlformats.org/drawingml/2006/table">
            <a:tbl>
              <a:tblPr firstRow="1" bandRow="1">
                <a:tableStyleId>{5C22544A-7EE6-4342-B048-85BDC9FD1C3A}</a:tableStyleId>
              </a:tblPr>
              <a:tblGrid>
                <a:gridCol w="2697480"/>
                <a:gridCol w="5120640"/>
                <a:gridCol w="3367735"/>
              </a:tblGrid>
              <a:tr h="457200">
                <a:tc>
                  <a:txBody>
                    <a:bodyPr wrap="square"/>
                    <a:lstStyle/>
                    <a:p>
                      <a:pPr algn="ctr">
                        <a:spcBef>
                          <a:spcPts val="0"/>
                        </a:spcBef>
                        <a:spcAft>
                          <a:spcPts val="0"/>
                        </a:spcAft>
                      </a:pPr>
                      <a:r>
                        <a:rPr lang="tr-TR" sz="1500" b="1" i="0">
                          <a:solidFill>
                            <a:srgbClr val="FFFFFF"/>
                          </a:solidFill>
                          <a:latin typeface="Calibri"/>
                        </a:rPr>
                        <a:t>Yer</a:t>
                      </a:r>
                    </a:p>
                  </a:txBody>
                  <a:tcPr marL="54864" marR="54864" marT="18288" marB="18288" anchor="ctr">
                    <a:solidFill>
                      <a:srgbClr val="2E7D32"/>
                    </a:solidFill>
                  </a:tcPr>
                </a:tc>
                <a:tc>
                  <a:txBody>
                    <a:bodyPr wrap="square"/>
                    <a:lstStyle/>
                    <a:p>
                      <a:pPr algn="ctr">
                        <a:spcBef>
                          <a:spcPts val="0"/>
                        </a:spcBef>
                        <a:spcAft>
                          <a:spcPts val="0"/>
                        </a:spcAft>
                      </a:pPr>
                      <a:r>
                        <a:rPr lang="tr-TR" sz="1500" b="1" i="0">
                          <a:solidFill>
                            <a:srgbClr val="FFFFFF"/>
                          </a:solidFill>
                          <a:latin typeface="Calibri"/>
                        </a:rPr>
                        <a:t>Tarım Alanlarının Sınırlı Olmasına Yol Açan Doğal Faktörler</a:t>
                      </a:r>
                    </a:p>
                  </a:txBody>
                  <a:tcPr marL="54864" marR="54864" marT="18288" marB="18288" anchor="ctr">
                    <a:solidFill>
                      <a:srgbClr val="2E7D32"/>
                    </a:solidFill>
                  </a:tcPr>
                </a:tc>
                <a:tc>
                  <a:txBody>
                    <a:bodyPr wrap="square"/>
                    <a:lstStyle/>
                    <a:p>
                      <a:pPr algn="ctr">
                        <a:spcBef>
                          <a:spcPts val="0"/>
                        </a:spcBef>
                        <a:spcAft>
                          <a:spcPts val="0"/>
                        </a:spcAft>
                      </a:pPr>
                      <a:r>
                        <a:rPr lang="tr-TR" sz="1500" b="1" i="0">
                          <a:solidFill>
                            <a:srgbClr val="FFFFFF"/>
                          </a:solidFill>
                          <a:latin typeface="Calibri"/>
                        </a:rPr>
                        <a:t>Kanıt (karekod)</a:t>
                      </a:r>
                    </a:p>
                  </a:txBody>
                  <a:tcPr marL="54864" marR="54864" marT="18288" marB="18288" anchor="ctr">
                    <a:solidFill>
                      <a:srgbClr val="2E7D32"/>
                    </a:solidFill>
                  </a:tcPr>
                </a:tc>
              </a:tr>
              <a:tr h="640080">
                <a:tc>
                  <a:txBody>
                    <a:bodyPr wrap="square"/>
                    <a:lstStyle/>
                    <a:p>
                      <a:pPr algn="l">
                        <a:spcBef>
                          <a:spcPts val="0"/>
                        </a:spcBef>
                        <a:spcAft>
                          <a:spcPts val="0"/>
                        </a:spcAft>
                      </a:pPr>
                      <a:r>
                        <a:rPr lang="tr-TR" sz="1600" b="0" i="0">
                          <a:solidFill>
                            <a:srgbClr val="262626"/>
                          </a:solidFill>
                          <a:latin typeface="Calibri"/>
                        </a:rPr>
                        <a:t>a · Kanada'nın kuzeyi</a:t>
                      </a:r>
                    </a:p>
                  </a:txBody>
                  <a:tcPr marL="54864" marR="54864" marT="18288" marB="18288" anchor="ctr">
                    <a:solidFill>
                      <a:srgbClr val="FFFFFF"/>
                    </a:solidFill>
                  </a:tcPr>
                </a:tc>
                <a:tc>
                  <a:txBody>
                    <a:bodyPr wrap="square"/>
                    <a:lstStyle/>
                    <a:p>
                      <a:pPr algn="l">
                        <a:spcBef>
                          <a:spcPts val="0"/>
                        </a:spcBef>
                        <a:spcAft>
                          <a:spcPts val="0"/>
                        </a:spcAft>
                      </a:pPr>
                      <a:r>
                        <a:rPr lang="tr-TR" sz="1600" b="0" i="0">
                          <a:solidFill>
                            <a:srgbClr val="262626"/>
                          </a:solidFill>
                          <a:latin typeface="Calibri"/>
                        </a:rPr>
                        <a:t>Düşük sıcaklık: kış uzun ve çok soğuk, yetişme dönemi kısa; donmuş topraklar</a:t>
                      </a:r>
                    </a:p>
                  </a:txBody>
                  <a:tcPr marL="54864" marR="54864" marT="18288" marB="18288" anchor="ctr">
                    <a:solidFill>
                      <a:srgbClr val="FFFFFF"/>
                    </a:solidFill>
                  </a:tcPr>
                </a:tc>
                <a:tc>
                  <a:txBody>
                    <a:bodyPr wrap="square"/>
                    <a:lstStyle/>
                    <a:p>
                      <a:pPr algn="l">
                        <a:spcBef>
                          <a:spcPts val="0"/>
                        </a:spcBef>
                        <a:spcAft>
                          <a:spcPts val="0"/>
                        </a:spcAft>
                      </a:pPr>
                      <a:r>
                        <a:rPr lang="tr-TR" sz="1600" b="0" i="0">
                          <a:solidFill>
                            <a:srgbClr val="262626"/>
                          </a:solidFill>
                          <a:latin typeface="Calibri"/>
                        </a:rPr>
                        <a:t>İklim: sert karasal (kuzeyde tundra)</a:t>
                      </a:r>
                    </a:p>
                  </a:txBody>
                  <a:tcPr marL="54864" marR="54864" marT="18288" marB="18288" anchor="ctr">
                    <a:solidFill>
                      <a:srgbClr val="FFFFFF"/>
                    </a:solidFill>
                  </a:tcPr>
                </a:tc>
              </a:tr>
              <a:tr h="640080">
                <a:tc>
                  <a:txBody>
                    <a:bodyPr wrap="square"/>
                    <a:lstStyle/>
                    <a:p>
                      <a:pPr algn="l">
                        <a:spcBef>
                          <a:spcPts val="0"/>
                        </a:spcBef>
                        <a:spcAft>
                          <a:spcPts val="0"/>
                        </a:spcAft>
                      </a:pPr>
                      <a:r>
                        <a:rPr lang="tr-TR" sz="1600" b="0" i="0">
                          <a:solidFill>
                            <a:srgbClr val="262626"/>
                          </a:solidFill>
                          <a:latin typeface="Calibri"/>
                        </a:rPr>
                        <a:t>b · And Dağları çevresi</a:t>
                      </a:r>
                    </a:p>
                  </a:txBody>
                  <a:tcPr marL="54864" marR="54864" marT="18288" marB="18288" anchor="ctr">
                    <a:solidFill>
                      <a:srgbClr val="E3F1E4"/>
                    </a:solidFill>
                  </a:tcPr>
                </a:tc>
                <a:tc>
                  <a:txBody>
                    <a:bodyPr wrap="square"/>
                    <a:lstStyle/>
                    <a:p>
                      <a:pPr algn="l">
                        <a:spcBef>
                          <a:spcPts val="0"/>
                        </a:spcBef>
                        <a:spcAft>
                          <a:spcPts val="0"/>
                        </a:spcAft>
                      </a:pPr>
                      <a:r>
                        <a:rPr lang="tr-TR" sz="1600" b="0" i="0">
                          <a:solidFill>
                            <a:srgbClr val="262626"/>
                          </a:solidFill>
                          <a:latin typeface="Calibri"/>
                        </a:rPr>
                        <a:t>Yükselti ve eğim: dağlık, engebeli arazi; yüksek kesimlerde dağ iklimi</a:t>
                      </a:r>
                    </a:p>
                  </a:txBody>
                  <a:tcPr marL="54864" marR="54864" marT="18288" marB="18288" anchor="ctr">
                    <a:solidFill>
                      <a:srgbClr val="E3F1E4"/>
                    </a:solidFill>
                  </a:tcPr>
                </a:tc>
                <a:tc>
                  <a:txBody>
                    <a:bodyPr wrap="square"/>
                    <a:lstStyle/>
                    <a:p>
                      <a:pPr algn="l">
                        <a:spcBef>
                          <a:spcPts val="0"/>
                        </a:spcBef>
                        <a:spcAft>
                          <a:spcPts val="0"/>
                        </a:spcAft>
                      </a:pPr>
                      <a:r>
                        <a:rPr lang="tr-TR" sz="1600" b="0" i="0">
                          <a:solidFill>
                            <a:srgbClr val="262626"/>
                          </a:solidFill>
                          <a:latin typeface="Calibri"/>
                        </a:rPr>
                        <a:t>Fiziki: And Dağları (yüksek)</a:t>
                      </a:r>
                    </a:p>
                  </a:txBody>
                  <a:tcPr marL="54864" marR="54864" marT="18288" marB="18288" anchor="ctr">
                    <a:solidFill>
                      <a:srgbClr val="E3F1E4"/>
                    </a:solidFill>
                  </a:tcPr>
                </a:tc>
              </a:tr>
              <a:tr h="640080">
                <a:tc>
                  <a:txBody>
                    <a:bodyPr wrap="square"/>
                    <a:lstStyle/>
                    <a:p>
                      <a:pPr algn="l">
                        <a:spcBef>
                          <a:spcPts val="0"/>
                        </a:spcBef>
                        <a:spcAft>
                          <a:spcPts val="0"/>
                        </a:spcAft>
                      </a:pPr>
                      <a:r>
                        <a:rPr lang="tr-TR" sz="1600" b="0" i="0">
                          <a:solidFill>
                            <a:srgbClr val="262626"/>
                          </a:solidFill>
                          <a:latin typeface="Calibri"/>
                        </a:rPr>
                        <a:t>c · Amazon Havzası</a:t>
                      </a:r>
                    </a:p>
                  </a:txBody>
                  <a:tcPr marL="54864" marR="54864" marT="18288" marB="18288" anchor="ctr">
                    <a:solidFill>
                      <a:srgbClr val="FFFFFF"/>
                    </a:solidFill>
                  </a:tcPr>
                </a:tc>
                <a:tc>
                  <a:txBody>
                    <a:bodyPr wrap="square"/>
                    <a:lstStyle/>
                    <a:p>
                      <a:pPr algn="l">
                        <a:spcBef>
                          <a:spcPts val="0"/>
                        </a:spcBef>
                        <a:spcAft>
                          <a:spcPts val="0"/>
                        </a:spcAft>
                      </a:pPr>
                      <a:r>
                        <a:rPr lang="tr-TR" sz="1600" b="0" i="0">
                          <a:solidFill>
                            <a:srgbClr val="262626"/>
                          </a:solidFill>
                          <a:latin typeface="Calibri"/>
                        </a:rPr>
                        <a:t>Sıcak ve çok yağışlı iklim; sık yağmur ormanı; besince fakir topraklar</a:t>
                      </a:r>
                    </a:p>
                  </a:txBody>
                  <a:tcPr marL="54864" marR="54864" marT="18288" marB="18288" anchor="ctr">
                    <a:solidFill>
                      <a:srgbClr val="FFFFFF"/>
                    </a:solidFill>
                  </a:tcPr>
                </a:tc>
                <a:tc>
                  <a:txBody>
                    <a:bodyPr wrap="square"/>
                    <a:lstStyle/>
                    <a:p>
                      <a:pPr algn="l">
                        <a:spcBef>
                          <a:spcPts val="0"/>
                        </a:spcBef>
                        <a:spcAft>
                          <a:spcPts val="0"/>
                        </a:spcAft>
                      </a:pPr>
                      <a:r>
                        <a:rPr lang="tr-TR" sz="1600" b="0" i="0">
                          <a:solidFill>
                            <a:srgbClr val="262626"/>
                          </a:solidFill>
                          <a:latin typeface="Calibri"/>
                        </a:rPr>
                        <a:t>Bitki: ekvatoral yağmur ormanı</a:t>
                      </a:r>
                    </a:p>
                  </a:txBody>
                  <a:tcPr marL="54864" marR="54864" marT="18288" marB="18288" anchor="ctr">
                    <a:solidFill>
                      <a:srgbClr val="FFFFFF"/>
                    </a:solidFill>
                  </a:tcPr>
                </a:tc>
              </a:tr>
              <a:tr h="640080">
                <a:tc>
                  <a:txBody>
                    <a:bodyPr wrap="square"/>
                    <a:lstStyle/>
                    <a:p>
                      <a:pPr algn="l">
                        <a:spcBef>
                          <a:spcPts val="0"/>
                        </a:spcBef>
                        <a:spcAft>
                          <a:spcPts val="0"/>
                        </a:spcAft>
                      </a:pPr>
                      <a:r>
                        <a:rPr lang="tr-TR" sz="1600" b="0" i="0">
                          <a:solidFill>
                            <a:srgbClr val="262626"/>
                          </a:solidFill>
                          <a:latin typeface="Calibri"/>
                        </a:rPr>
                        <a:t>ç · Büyük Sahra</a:t>
                      </a:r>
                    </a:p>
                  </a:txBody>
                  <a:tcPr marL="54864" marR="54864" marT="18288" marB="18288" anchor="ctr">
                    <a:solidFill>
                      <a:srgbClr val="E3F1E4"/>
                    </a:solidFill>
                  </a:tcPr>
                </a:tc>
                <a:tc>
                  <a:txBody>
                    <a:bodyPr wrap="square"/>
                    <a:lstStyle/>
                    <a:p>
                      <a:pPr algn="l">
                        <a:spcBef>
                          <a:spcPts val="0"/>
                        </a:spcBef>
                        <a:spcAft>
                          <a:spcPts val="0"/>
                        </a:spcAft>
                      </a:pPr>
                      <a:r>
                        <a:rPr lang="tr-TR" sz="1600" b="0" i="0">
                          <a:solidFill>
                            <a:srgbClr val="262626"/>
                          </a:solidFill>
                          <a:latin typeface="Calibri"/>
                        </a:rPr>
                        <a:t>Kuraklık: çöl iklimi, yağış ve su kaynakları çok az</a:t>
                      </a:r>
                    </a:p>
                  </a:txBody>
                  <a:tcPr marL="54864" marR="54864" marT="18288" marB="18288" anchor="ctr">
                    <a:solidFill>
                      <a:srgbClr val="E3F1E4"/>
                    </a:solidFill>
                  </a:tcPr>
                </a:tc>
                <a:tc>
                  <a:txBody>
                    <a:bodyPr wrap="square"/>
                    <a:lstStyle/>
                    <a:p>
                      <a:pPr algn="l">
                        <a:spcBef>
                          <a:spcPts val="0"/>
                        </a:spcBef>
                        <a:spcAft>
                          <a:spcPts val="0"/>
                        </a:spcAft>
                      </a:pPr>
                      <a:r>
                        <a:rPr lang="tr-TR" sz="1600" b="0" i="0">
                          <a:solidFill>
                            <a:srgbClr val="262626"/>
                          </a:solidFill>
                          <a:latin typeface="Calibri"/>
                        </a:rPr>
                        <a:t>İklim: çöl · Su: en düşük sınıf</a:t>
                      </a:r>
                    </a:p>
                  </a:txBody>
                  <a:tcPr marL="54864" marR="54864" marT="18288" marB="18288" anchor="ctr">
                    <a:solidFill>
                      <a:srgbClr val="E3F1E4"/>
                    </a:solidFill>
                  </a:tcPr>
                </a:tc>
              </a:tr>
              <a:tr h="640080">
                <a:tc>
                  <a:txBody>
                    <a:bodyPr wrap="square"/>
                    <a:lstStyle/>
                    <a:p>
                      <a:pPr algn="l">
                        <a:spcBef>
                          <a:spcPts val="0"/>
                        </a:spcBef>
                        <a:spcAft>
                          <a:spcPts val="0"/>
                        </a:spcAft>
                      </a:pPr>
                      <a:r>
                        <a:rPr lang="tr-TR" sz="1600" b="0" i="0">
                          <a:solidFill>
                            <a:srgbClr val="262626"/>
                          </a:solidFill>
                          <a:latin typeface="Calibri"/>
                        </a:rPr>
                        <a:t>d · Sibirya'nın kuzeyi</a:t>
                      </a:r>
                    </a:p>
                  </a:txBody>
                  <a:tcPr marL="54864" marR="54864" marT="18288" marB="18288" anchor="ctr">
                    <a:solidFill>
                      <a:srgbClr val="FFFFFF"/>
                    </a:solidFill>
                  </a:tcPr>
                </a:tc>
                <a:tc>
                  <a:txBody>
                    <a:bodyPr wrap="square"/>
                    <a:lstStyle/>
                    <a:p>
                      <a:pPr algn="l">
                        <a:spcBef>
                          <a:spcPts val="0"/>
                        </a:spcBef>
                        <a:spcAft>
                          <a:spcPts val="0"/>
                        </a:spcAft>
                      </a:pPr>
                      <a:r>
                        <a:rPr lang="tr-TR" sz="1600" b="0" i="0">
                          <a:solidFill>
                            <a:srgbClr val="262626"/>
                          </a:solidFill>
                          <a:latin typeface="Calibri"/>
                        </a:rPr>
                        <a:t>Düşük sıcaklık: yetişme dönemi kısa; donmuş topraklar</a:t>
                      </a:r>
                    </a:p>
                  </a:txBody>
                  <a:tcPr marL="54864" marR="54864" marT="18288" marB="18288" anchor="ctr">
                    <a:solidFill>
                      <a:srgbClr val="FFFFFF"/>
                    </a:solidFill>
                  </a:tcPr>
                </a:tc>
                <a:tc>
                  <a:txBody>
                    <a:bodyPr wrap="square"/>
                    <a:lstStyle/>
                    <a:p>
                      <a:pPr algn="l">
                        <a:spcBef>
                          <a:spcPts val="0"/>
                        </a:spcBef>
                        <a:spcAft>
                          <a:spcPts val="0"/>
                        </a:spcAft>
                      </a:pPr>
                      <a:r>
                        <a:rPr lang="tr-TR" sz="1600" b="0" i="0">
                          <a:solidFill>
                            <a:srgbClr val="262626"/>
                          </a:solidFill>
                          <a:latin typeface="Calibri"/>
                        </a:rPr>
                        <a:t>İklim: sert karasal (kuzeyde tundra)</a:t>
                      </a:r>
                    </a:p>
                  </a:txBody>
                  <a:tcPr marL="54864" marR="54864" marT="18288" marB="18288" anchor="ctr">
                    <a:solidFill>
                      <a:srgbClr val="FFFFFF"/>
                    </a:solidFill>
                  </a:tcPr>
                </a:tc>
              </a:tr>
              <a:tr h="640080">
                <a:tc>
                  <a:txBody>
                    <a:bodyPr wrap="square"/>
                    <a:lstStyle/>
                    <a:p>
                      <a:pPr algn="l">
                        <a:spcBef>
                          <a:spcPts val="0"/>
                        </a:spcBef>
                        <a:spcAft>
                          <a:spcPts val="0"/>
                        </a:spcAft>
                      </a:pPr>
                      <a:r>
                        <a:rPr lang="tr-TR" sz="1600" b="0" i="0">
                          <a:solidFill>
                            <a:srgbClr val="262626"/>
                          </a:solidFill>
                          <a:latin typeface="Calibri"/>
                        </a:rPr>
                        <a:t>e · Himalaya-Tibet</a:t>
                      </a:r>
                    </a:p>
                  </a:txBody>
                  <a:tcPr marL="54864" marR="54864" marT="18288" marB="18288" anchor="ctr">
                    <a:solidFill>
                      <a:srgbClr val="E3F1E4"/>
                    </a:solidFill>
                  </a:tcPr>
                </a:tc>
                <a:tc>
                  <a:txBody>
                    <a:bodyPr wrap="square"/>
                    <a:lstStyle/>
                    <a:p>
                      <a:pPr algn="l">
                        <a:spcBef>
                          <a:spcPts val="0"/>
                        </a:spcBef>
                        <a:spcAft>
                          <a:spcPts val="0"/>
                        </a:spcAft>
                      </a:pPr>
                      <a:r>
                        <a:rPr lang="tr-TR" sz="1600" b="0" i="0">
                          <a:solidFill>
                            <a:srgbClr val="262626"/>
                          </a:solidFill>
                          <a:latin typeface="Calibri"/>
                        </a:rPr>
                        <a:t>Yükselti ve eğim; soğuk yüksek dağ iklimi</a:t>
                      </a:r>
                    </a:p>
                  </a:txBody>
                  <a:tcPr marL="54864" marR="54864" marT="18288" marB="18288" anchor="ctr">
                    <a:solidFill>
                      <a:srgbClr val="E3F1E4"/>
                    </a:solidFill>
                  </a:tcPr>
                </a:tc>
                <a:tc>
                  <a:txBody>
                    <a:bodyPr wrap="square"/>
                    <a:lstStyle/>
                    <a:p>
                      <a:pPr algn="l">
                        <a:spcBef>
                          <a:spcPts val="0"/>
                        </a:spcBef>
                        <a:spcAft>
                          <a:spcPts val="0"/>
                        </a:spcAft>
                      </a:pPr>
                      <a:r>
                        <a:rPr lang="tr-TR" sz="1600" b="0" i="0">
                          <a:solidFill>
                            <a:srgbClr val="262626"/>
                          </a:solidFill>
                          <a:latin typeface="Calibri"/>
                        </a:rPr>
                        <a:t>Fiziki: Tibet Platosu · İklim: dağ</a:t>
                      </a:r>
                    </a:p>
                  </a:txBody>
                  <a:tcPr marL="54864" marR="54864" marT="18288" marB="18288" anchor="ctr">
                    <a:solidFill>
                      <a:srgbClr val="E3F1E4"/>
                    </a:solidFill>
                  </a:tcPr>
                </a:tc>
              </a:tr>
              <a:tr h="640080">
                <a:tc>
                  <a:txBody>
                    <a:bodyPr wrap="square"/>
                    <a:lstStyle/>
                    <a:p>
                      <a:pPr algn="l">
                        <a:spcBef>
                          <a:spcPts val="0"/>
                        </a:spcBef>
                        <a:spcAft>
                          <a:spcPts val="0"/>
                        </a:spcAft>
                      </a:pPr>
                      <a:r>
                        <a:rPr lang="tr-TR" sz="1600" b="0" i="0">
                          <a:solidFill>
                            <a:srgbClr val="262626"/>
                          </a:solidFill>
                          <a:latin typeface="Calibri"/>
                        </a:rPr>
                        <a:t>f · Avustralya'nın iç kesimi</a:t>
                      </a:r>
                    </a:p>
                  </a:txBody>
                  <a:tcPr marL="54864" marR="54864" marT="18288" marB="18288" anchor="ctr">
                    <a:solidFill>
                      <a:srgbClr val="FFFFFF"/>
                    </a:solidFill>
                  </a:tcPr>
                </a:tc>
                <a:tc>
                  <a:txBody>
                    <a:bodyPr wrap="square"/>
                    <a:lstStyle/>
                    <a:p>
                      <a:pPr algn="l">
                        <a:spcBef>
                          <a:spcPts val="0"/>
                        </a:spcBef>
                        <a:spcAft>
                          <a:spcPts val="0"/>
                        </a:spcAft>
                      </a:pPr>
                      <a:r>
                        <a:rPr lang="tr-TR" sz="1600" b="0" i="0">
                          <a:solidFill>
                            <a:srgbClr val="262626"/>
                          </a:solidFill>
                          <a:latin typeface="Calibri"/>
                        </a:rPr>
                        <a:t>Kuraklık: çöl iklimi</a:t>
                      </a:r>
                    </a:p>
                  </a:txBody>
                  <a:tcPr marL="54864" marR="54864" marT="18288" marB="18288" anchor="ctr">
                    <a:solidFill>
                      <a:srgbClr val="FFFFFF"/>
                    </a:solidFill>
                  </a:tcPr>
                </a:tc>
                <a:tc>
                  <a:txBody>
                    <a:bodyPr wrap="square"/>
                    <a:lstStyle/>
                    <a:p>
                      <a:pPr algn="l">
                        <a:spcBef>
                          <a:spcPts val="0"/>
                        </a:spcBef>
                        <a:spcAft>
                          <a:spcPts val="0"/>
                        </a:spcAft>
                      </a:pPr>
                      <a:r>
                        <a:rPr lang="tr-TR" sz="1600" b="0" i="0">
                          <a:solidFill>
                            <a:srgbClr val="262626"/>
                          </a:solidFill>
                          <a:latin typeface="Calibri"/>
                        </a:rPr>
                        <a:t>İklim: çöl · Bitki: bozkır, çöl bitkileri</a:t>
                      </a:r>
                    </a:p>
                  </a:txBody>
                  <a:tcPr marL="54864" marR="54864" marT="18288" marB="18288" anchor="ctr">
                    <a:solidFill>
                      <a:srgbClr val="FFFFFF"/>
                    </a:solidFill>
                  </a:tcPr>
                </a:tc>
              </a:tr>
            </a:tbl>
          </a:graphicData>
        </a:graphic>
      </p:graphicFrame>
      <p:sp>
        <p:nvSpPr>
          <p:cNvPr id="7" name="TextBox 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8" name="Rounded Rectangle 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176</a:t>
            </a:r>
          </a:p>
        </p:txBody>
      </p:sp>
      <p:sp>
        <p:nvSpPr>
          <p:cNvPr id="9" name="TextBox 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52 / 166</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 soru — örnek cevap: haritada</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pic>
        <p:nvPicPr>
          <p:cNvPr id="6" name="Picture 5" descr="h28_tarim_haritasi_s176.jpg"/>
          <p:cNvPicPr>
            <a:picLocks noChangeAspect="1"/>
          </p:cNvPicPr>
          <p:nvPr/>
        </p:nvPicPr>
        <p:blipFill>
          <a:blip r:embed="rId3"/>
          <a:stretch>
            <a:fillRect/>
          </a:stretch>
        </p:blipFill>
        <p:spPr>
          <a:xfrm>
            <a:off x="502920" y="1216152"/>
            <a:ext cx="8503920" cy="4377095"/>
          </a:xfrm>
          <a:prstGeom prst="rect">
            <a:avLst/>
          </a:prstGeom>
          <a:ln w="9525">
            <a:solidFill>
              <a:srgbClr val="D9D9D9"/>
            </a:solidFill>
          </a:ln>
        </p:spPr>
      </p:pic>
      <p:sp>
        <p:nvSpPr>
          <p:cNvPr id="7" name="Oval 6"/>
          <p:cNvSpPr/>
          <p:nvPr/>
        </p:nvSpPr>
        <p:spPr>
          <a:xfrm>
            <a:off x="2569066" y="1600050"/>
            <a:ext cx="438912" cy="438912"/>
          </a:xfrm>
          <a:prstGeom prst="ellipse">
            <a:avLst/>
          </a:prstGeom>
          <a:noFill/>
          <a:ln w="50800">
            <a:solidFill>
              <a:srgbClr val="2F6EB0"/>
            </a:solidFill>
          </a:ln>
          <a:effectLst/>
        </p:spPr>
        <p:txBody>
          <a:bodyPr rtlCol="0" anchor="ctr"/>
          <a:lstStyle/>
          <a:p/>
        </p:txBody>
      </p:sp>
      <p:sp>
        <p:nvSpPr>
          <p:cNvPr id="8" name="Rounded Rectangle 7"/>
          <p:cNvSpPr/>
          <p:nvPr/>
        </p:nvSpPr>
        <p:spPr>
          <a:xfrm>
            <a:off x="3007978" y="1691490"/>
            <a:ext cx="1083292" cy="256032"/>
          </a:xfrm>
          <a:prstGeom prst="roundRect">
            <a:avLst>
              <a:gd name="adj" fmla="val 25000"/>
            </a:avLst>
          </a:prstGeom>
          <a:solidFill>
            <a:srgbClr val="2F6EB0"/>
          </a:solidFill>
          <a:ln>
            <a:noFill/>
          </a:ln>
          <a:effectLst/>
        </p:spPr>
        <p:txBody>
          <a:bodyPr rtlCol="0" anchor="ctr" wrap="square" lIns="36576" rIns="36576" tIns="0" bIns="0">
            <a:noAutofit/>
          </a:bodyPr>
          <a:lstStyle/>
          <a:p>
            <a:pPr algn="ctr">
              <a:spcBef>
                <a:spcPts val="0"/>
              </a:spcBef>
              <a:spcAft>
                <a:spcPts val="0"/>
              </a:spcAft>
            </a:pPr>
            <a:r>
              <a:rPr lang="tr-TR" sz="1200" b="1" i="0">
                <a:solidFill>
                  <a:srgbClr val="FFFFFF"/>
                </a:solidFill>
                <a:latin typeface="Calibri"/>
              </a:rPr>
              <a:t>düşük sıcaklık</a:t>
            </a:r>
          </a:p>
        </p:txBody>
      </p:sp>
      <p:sp>
        <p:nvSpPr>
          <p:cNvPr id="9" name="Oval 8"/>
          <p:cNvSpPr/>
          <p:nvPr/>
        </p:nvSpPr>
        <p:spPr>
          <a:xfrm>
            <a:off x="3055797" y="3917227"/>
            <a:ext cx="438912" cy="438912"/>
          </a:xfrm>
          <a:prstGeom prst="ellipse">
            <a:avLst/>
          </a:prstGeom>
          <a:noFill/>
          <a:ln w="50800">
            <a:solidFill>
              <a:srgbClr val="7A3E9D"/>
            </a:solidFill>
          </a:ln>
          <a:effectLst/>
        </p:spPr>
        <p:txBody>
          <a:bodyPr rtlCol="0" anchor="ctr"/>
          <a:lstStyle/>
          <a:p/>
        </p:txBody>
      </p:sp>
      <p:sp>
        <p:nvSpPr>
          <p:cNvPr id="10" name="Rounded Rectangle 9"/>
          <p:cNvSpPr/>
          <p:nvPr/>
        </p:nvSpPr>
        <p:spPr>
          <a:xfrm>
            <a:off x="3494709" y="4008667"/>
            <a:ext cx="1233151" cy="256032"/>
          </a:xfrm>
          <a:prstGeom prst="roundRect">
            <a:avLst>
              <a:gd name="adj" fmla="val 25000"/>
            </a:avLst>
          </a:prstGeom>
          <a:solidFill>
            <a:srgbClr val="7A3E9D"/>
          </a:solidFill>
          <a:ln>
            <a:noFill/>
          </a:ln>
          <a:effectLst/>
        </p:spPr>
        <p:txBody>
          <a:bodyPr rtlCol="0" anchor="ctr" wrap="square" lIns="36576" rIns="36576" tIns="0" bIns="0">
            <a:noAutofit/>
          </a:bodyPr>
          <a:lstStyle/>
          <a:p>
            <a:pPr algn="ctr">
              <a:spcBef>
                <a:spcPts val="0"/>
              </a:spcBef>
              <a:spcAft>
                <a:spcPts val="0"/>
              </a:spcAft>
            </a:pPr>
            <a:r>
              <a:rPr lang="tr-TR" sz="1200" b="1" i="0">
                <a:solidFill>
                  <a:srgbClr val="FFFFFF"/>
                </a:solidFill>
                <a:latin typeface="Calibri"/>
              </a:rPr>
              <a:t>yükselti ve eğim</a:t>
            </a:r>
          </a:p>
        </p:txBody>
      </p:sp>
      <p:sp>
        <p:nvSpPr>
          <p:cNvPr id="11" name="Oval 10"/>
          <p:cNvSpPr/>
          <p:nvPr/>
        </p:nvSpPr>
        <p:spPr>
          <a:xfrm>
            <a:off x="3333400" y="3321275"/>
            <a:ext cx="438912" cy="438912"/>
          </a:xfrm>
          <a:prstGeom prst="ellipse">
            <a:avLst/>
          </a:prstGeom>
          <a:noFill/>
          <a:ln w="50800">
            <a:solidFill>
              <a:srgbClr val="2E7D32"/>
            </a:solidFill>
          </a:ln>
          <a:effectLst/>
        </p:spPr>
        <p:txBody>
          <a:bodyPr rtlCol="0" anchor="ctr"/>
          <a:lstStyle/>
          <a:p/>
        </p:txBody>
      </p:sp>
      <p:sp>
        <p:nvSpPr>
          <p:cNvPr id="12" name="Rounded Rectangle 11"/>
          <p:cNvSpPr/>
          <p:nvPr/>
        </p:nvSpPr>
        <p:spPr>
          <a:xfrm>
            <a:off x="3772312" y="3412715"/>
            <a:ext cx="1016506" cy="256032"/>
          </a:xfrm>
          <a:prstGeom prst="roundRect">
            <a:avLst>
              <a:gd name="adj" fmla="val 25000"/>
            </a:avLst>
          </a:prstGeom>
          <a:solidFill>
            <a:srgbClr val="2E7D32"/>
          </a:solidFill>
          <a:ln>
            <a:noFill/>
          </a:ln>
          <a:effectLst/>
        </p:spPr>
        <p:txBody>
          <a:bodyPr rtlCol="0" anchor="ctr" wrap="square" lIns="36576" rIns="36576" tIns="0" bIns="0">
            <a:noAutofit/>
          </a:bodyPr>
          <a:lstStyle/>
          <a:p>
            <a:pPr algn="ctr">
              <a:spcBef>
                <a:spcPts val="0"/>
              </a:spcBef>
              <a:spcAft>
                <a:spcPts val="0"/>
              </a:spcAft>
            </a:pPr>
            <a:r>
              <a:rPr lang="tr-TR" sz="1200" b="1" i="0">
                <a:solidFill>
                  <a:srgbClr val="FFFFFF"/>
                </a:solidFill>
                <a:latin typeface="Calibri"/>
              </a:rPr>
              <a:t>yağış, orman</a:t>
            </a:r>
          </a:p>
        </p:txBody>
      </p:sp>
      <p:sp>
        <p:nvSpPr>
          <p:cNvPr id="13" name="Oval 12"/>
          <p:cNvSpPr/>
          <p:nvPr/>
        </p:nvSpPr>
        <p:spPr>
          <a:xfrm>
            <a:off x="4928695" y="2518037"/>
            <a:ext cx="438912" cy="438912"/>
          </a:xfrm>
          <a:prstGeom prst="ellipse">
            <a:avLst/>
          </a:prstGeom>
          <a:noFill/>
          <a:ln w="50800">
            <a:solidFill>
              <a:srgbClr val="C26A00"/>
            </a:solidFill>
          </a:ln>
          <a:effectLst/>
        </p:spPr>
        <p:txBody>
          <a:bodyPr rtlCol="0" anchor="ctr"/>
          <a:lstStyle/>
          <a:p/>
        </p:txBody>
      </p:sp>
      <p:sp>
        <p:nvSpPr>
          <p:cNvPr id="14" name="Rounded Rectangle 13"/>
          <p:cNvSpPr/>
          <p:nvPr/>
        </p:nvSpPr>
        <p:spPr>
          <a:xfrm>
            <a:off x="5367607" y="2609477"/>
            <a:ext cx="701213" cy="256032"/>
          </a:xfrm>
          <a:prstGeom prst="roundRect">
            <a:avLst>
              <a:gd name="adj" fmla="val 25000"/>
            </a:avLst>
          </a:prstGeom>
          <a:solidFill>
            <a:srgbClr val="C26A00"/>
          </a:solidFill>
          <a:ln>
            <a:noFill/>
          </a:ln>
          <a:effectLst/>
        </p:spPr>
        <p:txBody>
          <a:bodyPr rtlCol="0" anchor="ctr" wrap="square" lIns="36576" rIns="36576" tIns="0" bIns="0">
            <a:noAutofit/>
          </a:bodyPr>
          <a:lstStyle/>
          <a:p>
            <a:pPr algn="ctr">
              <a:spcBef>
                <a:spcPts val="0"/>
              </a:spcBef>
              <a:spcAft>
                <a:spcPts val="0"/>
              </a:spcAft>
            </a:pPr>
            <a:r>
              <a:rPr lang="tr-TR" sz="1200" b="1" i="0">
                <a:solidFill>
                  <a:srgbClr val="FFFFFF"/>
                </a:solidFill>
                <a:latin typeface="Calibri"/>
              </a:rPr>
              <a:t>kuraklık</a:t>
            </a:r>
          </a:p>
        </p:txBody>
      </p:sp>
      <p:sp>
        <p:nvSpPr>
          <p:cNvPr id="15" name="Oval 14"/>
          <p:cNvSpPr/>
          <p:nvPr/>
        </p:nvSpPr>
        <p:spPr>
          <a:xfrm>
            <a:off x="6177911" y="1450137"/>
            <a:ext cx="438912" cy="438912"/>
          </a:xfrm>
          <a:prstGeom prst="ellipse">
            <a:avLst/>
          </a:prstGeom>
          <a:noFill/>
          <a:ln w="50800">
            <a:solidFill>
              <a:srgbClr val="2F6EB0"/>
            </a:solidFill>
          </a:ln>
          <a:effectLst/>
        </p:spPr>
        <p:txBody>
          <a:bodyPr rtlCol="0" anchor="ctr"/>
          <a:lstStyle/>
          <a:p/>
        </p:txBody>
      </p:sp>
      <p:sp>
        <p:nvSpPr>
          <p:cNvPr id="16" name="Rounded Rectangle 15"/>
          <p:cNvSpPr/>
          <p:nvPr/>
        </p:nvSpPr>
        <p:spPr>
          <a:xfrm>
            <a:off x="6616823" y="1541577"/>
            <a:ext cx="1083292" cy="256032"/>
          </a:xfrm>
          <a:prstGeom prst="roundRect">
            <a:avLst>
              <a:gd name="adj" fmla="val 25000"/>
            </a:avLst>
          </a:prstGeom>
          <a:solidFill>
            <a:srgbClr val="2F6EB0"/>
          </a:solidFill>
          <a:ln>
            <a:noFill/>
          </a:ln>
          <a:effectLst/>
        </p:spPr>
        <p:txBody>
          <a:bodyPr rtlCol="0" anchor="ctr" wrap="square" lIns="36576" rIns="36576" tIns="0" bIns="0">
            <a:noAutofit/>
          </a:bodyPr>
          <a:lstStyle/>
          <a:p>
            <a:pPr algn="ctr">
              <a:spcBef>
                <a:spcPts val="0"/>
              </a:spcBef>
              <a:spcAft>
                <a:spcPts val="0"/>
              </a:spcAft>
            </a:pPr>
            <a:r>
              <a:rPr lang="tr-TR" sz="1200" b="1" i="0">
                <a:solidFill>
                  <a:srgbClr val="FFFFFF"/>
                </a:solidFill>
                <a:latin typeface="Calibri"/>
              </a:rPr>
              <a:t>düşük sıcaklık</a:t>
            </a:r>
          </a:p>
        </p:txBody>
      </p:sp>
      <p:sp>
        <p:nvSpPr>
          <p:cNvPr id="17" name="Oval 16"/>
          <p:cNvSpPr/>
          <p:nvPr/>
        </p:nvSpPr>
        <p:spPr>
          <a:xfrm>
            <a:off x="6511035" y="2357019"/>
            <a:ext cx="438912" cy="438912"/>
          </a:xfrm>
          <a:prstGeom prst="ellipse">
            <a:avLst/>
          </a:prstGeom>
          <a:noFill/>
          <a:ln w="50800">
            <a:solidFill>
              <a:srgbClr val="7A3E9D"/>
            </a:solidFill>
          </a:ln>
          <a:effectLst/>
        </p:spPr>
        <p:txBody>
          <a:bodyPr rtlCol="0" anchor="ctr"/>
          <a:lstStyle/>
          <a:p/>
        </p:txBody>
      </p:sp>
      <p:sp>
        <p:nvSpPr>
          <p:cNvPr id="18" name="Rounded Rectangle 17"/>
          <p:cNvSpPr/>
          <p:nvPr/>
        </p:nvSpPr>
        <p:spPr>
          <a:xfrm>
            <a:off x="6949947" y="2448459"/>
            <a:ext cx="1233151" cy="256032"/>
          </a:xfrm>
          <a:prstGeom prst="roundRect">
            <a:avLst>
              <a:gd name="adj" fmla="val 25000"/>
            </a:avLst>
          </a:prstGeom>
          <a:solidFill>
            <a:srgbClr val="7A3E9D"/>
          </a:solidFill>
          <a:ln>
            <a:noFill/>
          </a:ln>
          <a:effectLst/>
        </p:spPr>
        <p:txBody>
          <a:bodyPr rtlCol="0" anchor="ctr" wrap="square" lIns="36576" rIns="36576" tIns="0" bIns="0">
            <a:noAutofit/>
          </a:bodyPr>
          <a:lstStyle/>
          <a:p>
            <a:pPr algn="ctr">
              <a:spcBef>
                <a:spcPts val="0"/>
              </a:spcBef>
              <a:spcAft>
                <a:spcPts val="0"/>
              </a:spcAft>
            </a:pPr>
            <a:r>
              <a:rPr lang="tr-TR" sz="1200" b="1" i="0">
                <a:solidFill>
                  <a:srgbClr val="FFFFFF"/>
                </a:solidFill>
                <a:latin typeface="Calibri"/>
              </a:rPr>
              <a:t>yükselti ve eğim</a:t>
            </a:r>
          </a:p>
        </p:txBody>
      </p:sp>
      <p:sp>
        <p:nvSpPr>
          <p:cNvPr id="19" name="Oval 18"/>
          <p:cNvSpPr/>
          <p:nvPr/>
        </p:nvSpPr>
        <p:spPr>
          <a:xfrm>
            <a:off x="7493751" y="3909823"/>
            <a:ext cx="438912" cy="438912"/>
          </a:xfrm>
          <a:prstGeom prst="ellipse">
            <a:avLst/>
          </a:prstGeom>
          <a:noFill/>
          <a:ln w="50800">
            <a:solidFill>
              <a:srgbClr val="C26A00"/>
            </a:solidFill>
          </a:ln>
          <a:effectLst/>
        </p:spPr>
        <p:txBody>
          <a:bodyPr rtlCol="0" anchor="ctr"/>
          <a:lstStyle/>
          <a:p/>
        </p:txBody>
      </p:sp>
      <p:sp>
        <p:nvSpPr>
          <p:cNvPr id="20" name="Rounded Rectangle 19"/>
          <p:cNvSpPr/>
          <p:nvPr/>
        </p:nvSpPr>
        <p:spPr>
          <a:xfrm>
            <a:off x="7932663" y="4001263"/>
            <a:ext cx="701213" cy="256032"/>
          </a:xfrm>
          <a:prstGeom prst="roundRect">
            <a:avLst>
              <a:gd name="adj" fmla="val 25000"/>
            </a:avLst>
          </a:prstGeom>
          <a:solidFill>
            <a:srgbClr val="C26A00"/>
          </a:solidFill>
          <a:ln>
            <a:noFill/>
          </a:ln>
          <a:effectLst/>
        </p:spPr>
        <p:txBody>
          <a:bodyPr rtlCol="0" anchor="ctr" wrap="square" lIns="36576" rIns="36576" tIns="0" bIns="0">
            <a:noAutofit/>
          </a:bodyPr>
          <a:lstStyle/>
          <a:p>
            <a:pPr algn="ctr">
              <a:spcBef>
                <a:spcPts val="0"/>
              </a:spcBef>
              <a:spcAft>
                <a:spcPts val="0"/>
              </a:spcAft>
            </a:pPr>
            <a:r>
              <a:rPr lang="tr-TR" sz="1200" b="1" i="0">
                <a:solidFill>
                  <a:srgbClr val="FFFFFF"/>
                </a:solidFill>
                <a:latin typeface="Calibri"/>
              </a:rPr>
              <a:t>kuraklık</a:t>
            </a:r>
          </a:p>
        </p:txBody>
      </p:sp>
      <p:sp>
        <p:nvSpPr>
          <p:cNvPr id="21" name="TextBox 20"/>
          <p:cNvSpPr txBox="1"/>
          <p:nvPr/>
        </p:nvSpPr>
        <p:spPr>
          <a:xfrm>
            <a:off x="502920" y="5629823"/>
            <a:ext cx="8503920" cy="292608"/>
          </a:xfrm>
          <a:prstGeom prst="rect">
            <a:avLst/>
          </a:prstGeom>
          <a:noFill/>
        </p:spPr>
        <p:txBody>
          <a:bodyPr wrap="square" anchor="t" lIns="73152" rIns="73152" tIns="36576" bIns="36576">
            <a:noAutofit/>
          </a:bodyPr>
          <a:lstStyle/>
          <a:p>
            <a:pPr algn="l">
              <a:spcBef>
                <a:spcPts val="0"/>
              </a:spcBef>
              <a:spcAft>
                <a:spcPts val="0"/>
              </a:spcAft>
            </a:pPr>
            <a:r>
              <a:rPr lang="tr-TR" sz="1300" b="0" i="1">
                <a:solidFill>
                  <a:srgbClr val="767676"/>
                </a:solidFill>
                <a:latin typeface="Calibri"/>
              </a:rPr>
              <a:t>Kitap s. 176 · Dünya Tarım Alanları Yoğunluk Haritası</a:t>
            </a:r>
          </a:p>
        </p:txBody>
      </p:sp>
      <p:sp>
        <p:nvSpPr>
          <p:cNvPr id="22" name="Rounded Rectangle 21"/>
          <p:cNvSpPr/>
          <p:nvPr/>
        </p:nvSpPr>
        <p:spPr>
          <a:xfrm>
            <a:off x="9235440" y="1216152"/>
            <a:ext cx="2453335" cy="1097280"/>
          </a:xfrm>
          <a:prstGeom prst="roundRect">
            <a:avLst>
              <a:gd name="adj" fmla="val 8000"/>
            </a:avLst>
          </a:prstGeom>
          <a:solidFill>
            <a:srgbClr val="2F6EB0"/>
          </a:solidFill>
          <a:ln>
            <a:noFill/>
          </a:ln>
          <a:effectLst/>
        </p:spPr>
        <p:txBody>
          <a:bodyPr rtlCol="0" anchor="ctr" wrap="square" lIns="128016" rIns="128016" tIns="73152" bIns="73152">
            <a:noAutofit/>
          </a:bodyPr>
          <a:lstStyle/>
          <a:p>
            <a:pPr algn="l">
              <a:spcBef>
                <a:spcPts val="0"/>
              </a:spcBef>
              <a:spcAft>
                <a:spcPts val="200"/>
              </a:spcAft>
            </a:pPr>
            <a:r>
              <a:rPr lang="tr-TR" sz="1500" b="1" i="0">
                <a:solidFill>
                  <a:srgbClr val="FFFFFF"/>
                </a:solidFill>
                <a:latin typeface="Calibri"/>
              </a:rPr>
              <a:t>Düşük sıcaklık</a:t>
            </a:r>
          </a:p>
          <a:p>
            <a:pPr algn="l">
              <a:spcBef>
                <a:spcPts val="0"/>
              </a:spcBef>
              <a:spcAft>
                <a:spcPts val="0"/>
              </a:spcAft>
            </a:pPr>
            <a:r>
              <a:rPr lang="tr-TR" sz="2400" b="1" i="0">
                <a:solidFill>
                  <a:srgbClr val="FFFFFF"/>
                </a:solidFill>
                <a:latin typeface="Calibri"/>
              </a:rPr>
              <a:t>a, d</a:t>
            </a:r>
          </a:p>
        </p:txBody>
      </p:sp>
      <p:sp>
        <p:nvSpPr>
          <p:cNvPr id="23" name="Rounded Rectangle 22"/>
          <p:cNvSpPr/>
          <p:nvPr/>
        </p:nvSpPr>
        <p:spPr>
          <a:xfrm>
            <a:off x="9235440" y="2423160"/>
            <a:ext cx="2453335" cy="1097280"/>
          </a:xfrm>
          <a:prstGeom prst="roundRect">
            <a:avLst>
              <a:gd name="adj" fmla="val 8000"/>
            </a:avLst>
          </a:prstGeom>
          <a:solidFill>
            <a:srgbClr val="7A3E9D"/>
          </a:solidFill>
          <a:ln>
            <a:noFill/>
          </a:ln>
          <a:effectLst/>
        </p:spPr>
        <p:txBody>
          <a:bodyPr rtlCol="0" anchor="ctr" wrap="square" lIns="128016" rIns="128016" tIns="73152" bIns="73152">
            <a:noAutofit/>
          </a:bodyPr>
          <a:lstStyle/>
          <a:p>
            <a:pPr algn="l">
              <a:spcBef>
                <a:spcPts val="0"/>
              </a:spcBef>
              <a:spcAft>
                <a:spcPts val="200"/>
              </a:spcAft>
            </a:pPr>
            <a:r>
              <a:rPr lang="tr-TR" sz="1500" b="1" i="0">
                <a:solidFill>
                  <a:srgbClr val="FFFFFF"/>
                </a:solidFill>
                <a:latin typeface="Calibri"/>
              </a:rPr>
              <a:t>Yükselti ve eğim</a:t>
            </a:r>
          </a:p>
          <a:p>
            <a:pPr algn="l">
              <a:spcBef>
                <a:spcPts val="0"/>
              </a:spcBef>
              <a:spcAft>
                <a:spcPts val="0"/>
              </a:spcAft>
            </a:pPr>
            <a:r>
              <a:rPr lang="tr-TR" sz="2400" b="1" i="0">
                <a:solidFill>
                  <a:srgbClr val="FFFFFF"/>
                </a:solidFill>
                <a:latin typeface="Calibri"/>
              </a:rPr>
              <a:t>b, e</a:t>
            </a:r>
          </a:p>
        </p:txBody>
      </p:sp>
      <p:sp>
        <p:nvSpPr>
          <p:cNvPr id="24" name="Rounded Rectangle 23"/>
          <p:cNvSpPr/>
          <p:nvPr/>
        </p:nvSpPr>
        <p:spPr>
          <a:xfrm>
            <a:off x="9235440" y="3630168"/>
            <a:ext cx="2453335" cy="1097280"/>
          </a:xfrm>
          <a:prstGeom prst="roundRect">
            <a:avLst>
              <a:gd name="adj" fmla="val 8000"/>
            </a:avLst>
          </a:prstGeom>
          <a:solidFill>
            <a:srgbClr val="C26A00"/>
          </a:solidFill>
          <a:ln>
            <a:noFill/>
          </a:ln>
          <a:effectLst/>
        </p:spPr>
        <p:txBody>
          <a:bodyPr rtlCol="0" anchor="ctr" wrap="square" lIns="128016" rIns="128016" tIns="73152" bIns="73152">
            <a:noAutofit/>
          </a:bodyPr>
          <a:lstStyle/>
          <a:p>
            <a:pPr algn="l">
              <a:spcBef>
                <a:spcPts val="0"/>
              </a:spcBef>
              <a:spcAft>
                <a:spcPts val="200"/>
              </a:spcAft>
            </a:pPr>
            <a:r>
              <a:rPr lang="tr-TR" sz="1500" b="1" i="0">
                <a:solidFill>
                  <a:srgbClr val="FFFFFF"/>
                </a:solidFill>
                <a:latin typeface="Calibri"/>
              </a:rPr>
              <a:t>Kuraklık</a:t>
            </a:r>
          </a:p>
          <a:p>
            <a:pPr algn="l">
              <a:spcBef>
                <a:spcPts val="0"/>
              </a:spcBef>
              <a:spcAft>
                <a:spcPts val="0"/>
              </a:spcAft>
            </a:pPr>
            <a:r>
              <a:rPr lang="tr-TR" sz="2400" b="1" i="0">
                <a:solidFill>
                  <a:srgbClr val="FFFFFF"/>
                </a:solidFill>
                <a:latin typeface="Calibri"/>
              </a:rPr>
              <a:t>ç, f</a:t>
            </a:r>
          </a:p>
        </p:txBody>
      </p:sp>
      <p:sp>
        <p:nvSpPr>
          <p:cNvPr id="25" name="Rounded Rectangle 24"/>
          <p:cNvSpPr/>
          <p:nvPr/>
        </p:nvSpPr>
        <p:spPr>
          <a:xfrm>
            <a:off x="9235440" y="4837176"/>
            <a:ext cx="2453335" cy="1097280"/>
          </a:xfrm>
          <a:prstGeom prst="roundRect">
            <a:avLst>
              <a:gd name="adj" fmla="val 8000"/>
            </a:avLst>
          </a:prstGeom>
          <a:solidFill>
            <a:srgbClr val="2E7D32"/>
          </a:solidFill>
          <a:ln>
            <a:noFill/>
          </a:ln>
          <a:effectLst/>
        </p:spPr>
        <p:txBody>
          <a:bodyPr rtlCol="0" anchor="ctr" wrap="square" lIns="128016" rIns="128016" tIns="73152" bIns="73152">
            <a:noAutofit/>
          </a:bodyPr>
          <a:lstStyle/>
          <a:p>
            <a:pPr algn="l">
              <a:spcBef>
                <a:spcPts val="0"/>
              </a:spcBef>
              <a:spcAft>
                <a:spcPts val="200"/>
              </a:spcAft>
            </a:pPr>
            <a:r>
              <a:rPr lang="tr-TR" sz="1500" b="1" i="0">
                <a:solidFill>
                  <a:srgbClr val="FFFFFF"/>
                </a:solidFill>
                <a:latin typeface="Calibri"/>
              </a:rPr>
              <a:t>Aşırı yağış ve sık orman</a:t>
            </a:r>
          </a:p>
          <a:p>
            <a:pPr algn="l">
              <a:spcBef>
                <a:spcPts val="0"/>
              </a:spcBef>
              <a:spcAft>
                <a:spcPts val="0"/>
              </a:spcAft>
            </a:pPr>
            <a:r>
              <a:rPr lang="tr-TR" sz="2400" b="1" i="0">
                <a:solidFill>
                  <a:srgbClr val="FFFFFF"/>
                </a:solidFill>
                <a:latin typeface="Calibri"/>
              </a:rPr>
              <a:t>c</a:t>
            </a:r>
          </a:p>
        </p:txBody>
      </p:sp>
      <p:sp>
        <p:nvSpPr>
          <p:cNvPr id="26" name="TextBox 2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7" name="Rounded Rectangle 2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176</a:t>
            </a:r>
          </a:p>
        </p:txBody>
      </p:sp>
      <p:sp>
        <p:nvSpPr>
          <p:cNvPr id="28" name="TextBox 2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53 / 166</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2. soru — örnek cevap: tarımın yoğunlaştığı kuşak</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pic>
        <p:nvPicPr>
          <p:cNvPr id="6" name="Picture 5" descr="h28_tarim_haritasi_s176.jpg"/>
          <p:cNvPicPr>
            <a:picLocks noChangeAspect="1"/>
          </p:cNvPicPr>
          <p:nvPr/>
        </p:nvPicPr>
        <p:blipFill>
          <a:blip r:embed="rId3"/>
          <a:stretch>
            <a:fillRect/>
          </a:stretch>
        </p:blipFill>
        <p:spPr>
          <a:xfrm>
            <a:off x="502920" y="1216152"/>
            <a:ext cx="6949440" cy="3576981"/>
          </a:xfrm>
          <a:prstGeom prst="rect">
            <a:avLst/>
          </a:prstGeom>
          <a:ln w="9525">
            <a:solidFill>
              <a:srgbClr val="D9D9D9"/>
            </a:solidFill>
          </a:ln>
        </p:spPr>
      </p:pic>
      <p:cxnSp>
        <p:nvCxnSpPr>
          <p:cNvPr id="7" name="Connector 6"/>
          <p:cNvCxnSpPr/>
          <p:nvPr/>
        </p:nvCxnSpPr>
        <p:spPr>
          <a:xfrm>
            <a:off x="691303" y="2361303"/>
            <a:ext cx="6574185" cy="0"/>
          </a:xfrm>
          <a:prstGeom prst="line">
            <a:avLst/>
          </a:prstGeom>
          <a:ln w="25400">
            <a:solidFill>
              <a:srgbClr val="D3373A"/>
            </a:solidFill>
            <a:prstDash val="dash"/>
          </a:ln>
        </p:spPr>
      </p:cxnSp>
      <p:sp>
        <p:nvSpPr>
          <p:cNvPr id="8" name="Rounded Rectangle 7"/>
          <p:cNvSpPr/>
          <p:nvPr/>
        </p:nvSpPr>
        <p:spPr>
          <a:xfrm>
            <a:off x="6698560" y="2224143"/>
            <a:ext cx="548640" cy="256032"/>
          </a:xfrm>
          <a:prstGeom prst="roundRect">
            <a:avLst>
              <a:gd name="adj" fmla="val 25000"/>
            </a:avLst>
          </a:prstGeom>
          <a:solidFill>
            <a:srgbClr val="FFFFFF"/>
          </a:solidFill>
          <a:ln w="15875">
            <a:solidFill>
              <a:srgbClr val="D3373A"/>
            </a:solidFill>
          </a:ln>
          <a:effectLst/>
        </p:spPr>
        <p:txBody>
          <a:bodyPr rtlCol="0" anchor="ctr" wrap="square" lIns="36576" rIns="36576" tIns="0" bIns="0">
            <a:noAutofit/>
          </a:bodyPr>
          <a:lstStyle/>
          <a:p>
            <a:pPr algn="ctr">
              <a:spcBef>
                <a:spcPts val="0"/>
              </a:spcBef>
              <a:spcAft>
                <a:spcPts val="0"/>
              </a:spcAft>
            </a:pPr>
            <a:r>
              <a:rPr lang="tr-TR" sz="1100" b="1" i="0">
                <a:solidFill>
                  <a:srgbClr val="D3373A"/>
                </a:solidFill>
                <a:latin typeface="Calibri"/>
              </a:rPr>
              <a:t>30° K</a:t>
            </a:r>
          </a:p>
        </p:txBody>
      </p:sp>
      <p:cxnSp>
        <p:nvCxnSpPr>
          <p:cNvPr id="9" name="Connector 8"/>
          <p:cNvCxnSpPr/>
          <p:nvPr/>
        </p:nvCxnSpPr>
        <p:spPr>
          <a:xfrm>
            <a:off x="1243945" y="1729797"/>
            <a:ext cx="5468901" cy="0"/>
          </a:xfrm>
          <a:prstGeom prst="line">
            <a:avLst/>
          </a:prstGeom>
          <a:ln w="25400">
            <a:solidFill>
              <a:srgbClr val="D3373A"/>
            </a:solidFill>
            <a:prstDash val="dash"/>
          </a:ln>
        </p:spPr>
      </p:cxnSp>
      <p:sp>
        <p:nvSpPr>
          <p:cNvPr id="10" name="Rounded Rectangle 9"/>
          <p:cNvSpPr/>
          <p:nvPr/>
        </p:nvSpPr>
        <p:spPr>
          <a:xfrm>
            <a:off x="6145918" y="1592637"/>
            <a:ext cx="548640" cy="256032"/>
          </a:xfrm>
          <a:prstGeom prst="roundRect">
            <a:avLst>
              <a:gd name="adj" fmla="val 25000"/>
            </a:avLst>
          </a:prstGeom>
          <a:solidFill>
            <a:srgbClr val="FFFFFF"/>
          </a:solidFill>
          <a:ln w="15875">
            <a:solidFill>
              <a:srgbClr val="D3373A"/>
            </a:solidFill>
          </a:ln>
          <a:effectLst/>
        </p:spPr>
        <p:txBody>
          <a:bodyPr rtlCol="0" anchor="ctr" wrap="square" lIns="36576" rIns="36576" tIns="0" bIns="0">
            <a:noAutofit/>
          </a:bodyPr>
          <a:lstStyle/>
          <a:p>
            <a:pPr algn="ctr">
              <a:spcBef>
                <a:spcPts val="0"/>
              </a:spcBef>
              <a:spcAft>
                <a:spcPts val="0"/>
              </a:spcAft>
            </a:pPr>
            <a:r>
              <a:rPr lang="tr-TR" sz="1100" b="1" i="0">
                <a:solidFill>
                  <a:srgbClr val="D3373A"/>
                </a:solidFill>
                <a:latin typeface="Calibri"/>
              </a:rPr>
              <a:t>60° K</a:t>
            </a:r>
          </a:p>
        </p:txBody>
      </p:sp>
      <p:cxnSp>
        <p:nvCxnSpPr>
          <p:cNvPr id="11" name="Connector 10"/>
          <p:cNvCxnSpPr/>
          <p:nvPr/>
        </p:nvCxnSpPr>
        <p:spPr>
          <a:xfrm>
            <a:off x="691303" y="3657056"/>
            <a:ext cx="6574185" cy="0"/>
          </a:xfrm>
          <a:prstGeom prst="line">
            <a:avLst/>
          </a:prstGeom>
          <a:ln w="25400">
            <a:solidFill>
              <a:srgbClr val="D3373A"/>
            </a:solidFill>
            <a:prstDash val="dash"/>
          </a:ln>
        </p:spPr>
      </p:cxnSp>
      <p:sp>
        <p:nvSpPr>
          <p:cNvPr id="12" name="Rounded Rectangle 11"/>
          <p:cNvSpPr/>
          <p:nvPr/>
        </p:nvSpPr>
        <p:spPr>
          <a:xfrm>
            <a:off x="6698560" y="3519896"/>
            <a:ext cx="548640" cy="256032"/>
          </a:xfrm>
          <a:prstGeom prst="roundRect">
            <a:avLst>
              <a:gd name="adj" fmla="val 25000"/>
            </a:avLst>
          </a:prstGeom>
          <a:solidFill>
            <a:srgbClr val="FFFFFF"/>
          </a:solidFill>
          <a:ln w="15875">
            <a:solidFill>
              <a:srgbClr val="D3373A"/>
            </a:solidFill>
          </a:ln>
          <a:effectLst/>
        </p:spPr>
        <p:txBody>
          <a:bodyPr rtlCol="0" anchor="ctr" wrap="square" lIns="36576" rIns="36576" tIns="0" bIns="0">
            <a:noAutofit/>
          </a:bodyPr>
          <a:lstStyle/>
          <a:p>
            <a:pPr algn="ctr">
              <a:spcBef>
                <a:spcPts val="0"/>
              </a:spcBef>
              <a:spcAft>
                <a:spcPts val="0"/>
              </a:spcAft>
            </a:pPr>
            <a:r>
              <a:rPr lang="tr-TR" sz="1100" b="1" i="0">
                <a:solidFill>
                  <a:srgbClr val="D3373A"/>
                </a:solidFill>
                <a:latin typeface="Calibri"/>
              </a:rPr>
              <a:t>30° G</a:t>
            </a:r>
          </a:p>
        </p:txBody>
      </p:sp>
      <p:cxnSp>
        <p:nvCxnSpPr>
          <p:cNvPr id="13" name="Connector 12"/>
          <p:cNvCxnSpPr/>
          <p:nvPr/>
        </p:nvCxnSpPr>
        <p:spPr>
          <a:xfrm>
            <a:off x="1243945" y="4288562"/>
            <a:ext cx="5468901" cy="0"/>
          </a:xfrm>
          <a:prstGeom prst="line">
            <a:avLst/>
          </a:prstGeom>
          <a:ln w="25400">
            <a:solidFill>
              <a:srgbClr val="D3373A"/>
            </a:solidFill>
            <a:prstDash val="dash"/>
          </a:ln>
        </p:spPr>
      </p:cxnSp>
      <p:sp>
        <p:nvSpPr>
          <p:cNvPr id="14" name="Rounded Rectangle 13"/>
          <p:cNvSpPr/>
          <p:nvPr/>
        </p:nvSpPr>
        <p:spPr>
          <a:xfrm>
            <a:off x="6145918" y="4151402"/>
            <a:ext cx="548640" cy="256032"/>
          </a:xfrm>
          <a:prstGeom prst="roundRect">
            <a:avLst>
              <a:gd name="adj" fmla="val 25000"/>
            </a:avLst>
          </a:prstGeom>
          <a:solidFill>
            <a:srgbClr val="FFFFFF"/>
          </a:solidFill>
          <a:ln w="15875">
            <a:solidFill>
              <a:srgbClr val="D3373A"/>
            </a:solidFill>
          </a:ln>
          <a:effectLst/>
        </p:spPr>
        <p:txBody>
          <a:bodyPr rtlCol="0" anchor="ctr" wrap="square" lIns="36576" rIns="36576" tIns="0" bIns="0">
            <a:noAutofit/>
          </a:bodyPr>
          <a:lstStyle/>
          <a:p>
            <a:pPr algn="ctr">
              <a:spcBef>
                <a:spcPts val="0"/>
              </a:spcBef>
              <a:spcAft>
                <a:spcPts val="0"/>
              </a:spcAft>
            </a:pPr>
            <a:r>
              <a:rPr lang="tr-TR" sz="1100" b="1" i="0">
                <a:solidFill>
                  <a:srgbClr val="D3373A"/>
                </a:solidFill>
                <a:latin typeface="Calibri"/>
              </a:rPr>
              <a:t>60° G</a:t>
            </a:r>
          </a:p>
        </p:txBody>
      </p:sp>
      <p:sp>
        <p:nvSpPr>
          <p:cNvPr id="15" name="TextBox 14"/>
          <p:cNvSpPr txBox="1"/>
          <p:nvPr/>
        </p:nvSpPr>
        <p:spPr>
          <a:xfrm>
            <a:off x="502920" y="4829709"/>
            <a:ext cx="6949440" cy="292608"/>
          </a:xfrm>
          <a:prstGeom prst="rect">
            <a:avLst/>
          </a:prstGeom>
          <a:noFill/>
        </p:spPr>
        <p:txBody>
          <a:bodyPr wrap="square" anchor="t" lIns="73152" rIns="73152" tIns="36576" bIns="36576">
            <a:noAutofit/>
          </a:bodyPr>
          <a:lstStyle/>
          <a:p>
            <a:pPr algn="l">
              <a:spcBef>
                <a:spcPts val="0"/>
              </a:spcBef>
              <a:spcAft>
                <a:spcPts val="0"/>
              </a:spcAft>
            </a:pPr>
            <a:r>
              <a:rPr lang="tr-TR" sz="1300" b="0" i="1">
                <a:solidFill>
                  <a:srgbClr val="767676"/>
                </a:solidFill>
                <a:latin typeface="Calibri"/>
              </a:rPr>
              <a:t>Kitap s. 176 · kesik çizgiler: 30° ve 60° enlemleri</a:t>
            </a:r>
          </a:p>
        </p:txBody>
      </p:sp>
      <p:sp>
        <p:nvSpPr>
          <p:cNvPr id="16" name="Rounded Rectangle 15"/>
          <p:cNvSpPr/>
          <p:nvPr/>
        </p:nvSpPr>
        <p:spPr>
          <a:xfrm>
            <a:off x="7680960" y="1216152"/>
            <a:ext cx="4007815" cy="1143000"/>
          </a:xfrm>
          <a:prstGeom prst="roundRect">
            <a:avLst>
              <a:gd name="adj" fmla="val 8000"/>
            </a:avLst>
          </a:prstGeom>
          <a:solidFill>
            <a:srgbClr val="2E7D32"/>
          </a:solidFill>
          <a:ln>
            <a:noFill/>
          </a:ln>
          <a:effectLst/>
        </p:spPr>
        <p:txBody>
          <a:bodyPr rtlCol="0" anchor="ctr" wrap="square" lIns="128016" rIns="128016" tIns="73152" bIns="73152">
            <a:noAutofit/>
          </a:bodyPr>
          <a:lstStyle/>
          <a:p>
            <a:pPr algn="l">
              <a:spcBef>
                <a:spcPts val="0"/>
              </a:spcBef>
              <a:spcAft>
                <a:spcPts val="200"/>
              </a:spcAft>
            </a:pPr>
            <a:r>
              <a:rPr lang="tr-TR" sz="2400" b="1" i="0">
                <a:solidFill>
                  <a:srgbClr val="FFFFFF"/>
                </a:solidFill>
                <a:latin typeface="Calibri"/>
              </a:rPr>
              <a:t>Orta (ılıman) kuşak</a:t>
            </a:r>
          </a:p>
          <a:p>
            <a:pPr algn="l">
              <a:spcBef>
                <a:spcPts val="0"/>
              </a:spcBef>
              <a:spcAft>
                <a:spcPts val="0"/>
              </a:spcAft>
            </a:pPr>
            <a:r>
              <a:rPr lang="tr-TR" sz="1900" b="0" i="0">
                <a:solidFill>
                  <a:srgbClr val="FFFFFF"/>
                </a:solidFill>
                <a:latin typeface="Calibri"/>
              </a:rPr>
              <a:t>30° ile 60° enlemleri arası</a:t>
            </a:r>
          </a:p>
        </p:txBody>
      </p:sp>
      <p:sp>
        <p:nvSpPr>
          <p:cNvPr id="17" name="Rounded Rectangle 16"/>
          <p:cNvSpPr/>
          <p:nvPr/>
        </p:nvSpPr>
        <p:spPr>
          <a:xfrm>
            <a:off x="7680960" y="2496312"/>
            <a:ext cx="4007815" cy="2788920"/>
          </a:xfrm>
          <a:prstGeom prst="roundRect">
            <a:avLst>
              <a:gd name="adj" fmla="val 6000"/>
            </a:avLst>
          </a:prstGeom>
          <a:solidFill>
            <a:srgbClr val="E3F1E4"/>
          </a:solidFill>
          <a:ln>
            <a:noFill/>
          </a:ln>
          <a:effectLst/>
        </p:spPr>
        <p:txBody>
          <a:bodyPr rtlCol="0" anchor="ctr"/>
          <a:lstStyle/>
          <a:p/>
        </p:txBody>
      </p:sp>
      <p:sp>
        <p:nvSpPr>
          <p:cNvPr id="18" name="Rectangle 17"/>
          <p:cNvSpPr/>
          <p:nvPr/>
        </p:nvSpPr>
        <p:spPr>
          <a:xfrm>
            <a:off x="7680960" y="2496312"/>
            <a:ext cx="109728" cy="2788920"/>
          </a:xfrm>
          <a:prstGeom prst="rect">
            <a:avLst/>
          </a:prstGeom>
          <a:solidFill>
            <a:srgbClr val="2E7D32"/>
          </a:solidFill>
          <a:ln>
            <a:noFill/>
          </a:ln>
          <a:effectLst/>
        </p:spPr>
        <p:txBody>
          <a:bodyPr rtlCol="0" anchor="ctr"/>
          <a:lstStyle/>
          <a:p/>
        </p:txBody>
      </p:sp>
      <p:sp>
        <p:nvSpPr>
          <p:cNvPr id="19" name="TextBox 18"/>
          <p:cNvSpPr txBox="1"/>
          <p:nvPr/>
        </p:nvSpPr>
        <p:spPr>
          <a:xfrm>
            <a:off x="7909560" y="2551176"/>
            <a:ext cx="3687775" cy="2679192"/>
          </a:xfrm>
          <a:prstGeom prst="rect">
            <a:avLst/>
          </a:prstGeom>
          <a:noFill/>
        </p:spPr>
        <p:txBody>
          <a:bodyPr wrap="square" anchor="ctr" lIns="73152" rIns="73152" tIns="36576" bIns="36576">
            <a:noAutofit/>
          </a:bodyPr>
          <a:lstStyle/>
          <a:p>
            <a:pPr algn="l">
              <a:spcBef>
                <a:spcPts val="0"/>
              </a:spcBef>
              <a:spcAft>
                <a:spcPts val="400"/>
              </a:spcAft>
            </a:pPr>
            <a:r>
              <a:rPr lang="tr-TR" sz="1800" b="1" i="0">
                <a:solidFill>
                  <a:srgbClr val="2E7D32"/>
                </a:solidFill>
                <a:latin typeface="Calibri"/>
              </a:rPr>
              <a:t>Gerekçeler</a:t>
            </a:r>
          </a:p>
          <a:p>
            <a:pPr algn="l" marL="223758" indent="-223758">
              <a:spcBef>
                <a:spcPts val="0"/>
              </a:spcBef>
              <a:spcAft>
                <a:spcPts val="500"/>
              </a:spcAft>
            </a:pPr>
            <a:r>
              <a:rPr lang="tr-TR" sz="1800" b="1" i="0">
                <a:solidFill>
                  <a:srgbClr val="2C6696"/>
                </a:solidFill>
                <a:latin typeface="Calibri"/>
              </a:rPr>
              <a:t>•  </a:t>
            </a:r>
            <a:r>
              <a:rPr lang="tr-TR" sz="1800" b="0" i="0">
                <a:solidFill>
                  <a:srgbClr val="262626"/>
                </a:solidFill>
                <a:latin typeface="Calibri"/>
              </a:rPr>
              <a:t>Sıcaklık ve yağış elverişli, yetişme dönemi yeterli</a:t>
            </a:r>
          </a:p>
          <a:p>
            <a:pPr algn="l" marL="223758" indent="-223758">
              <a:spcBef>
                <a:spcPts val="0"/>
              </a:spcBef>
              <a:spcAft>
                <a:spcPts val="500"/>
              </a:spcAft>
            </a:pPr>
            <a:r>
              <a:rPr lang="tr-TR" sz="1800" b="1" i="0">
                <a:solidFill>
                  <a:srgbClr val="2C6696"/>
                </a:solidFill>
                <a:latin typeface="Calibri"/>
              </a:rPr>
              <a:t>•  </a:t>
            </a:r>
            <a:r>
              <a:rPr lang="tr-TR" sz="1800" b="0" i="0">
                <a:solidFill>
                  <a:srgbClr val="262626"/>
                </a:solidFill>
                <a:latin typeface="Calibri"/>
              </a:rPr>
              <a:t>Geniş ovalar ve düzlükler</a:t>
            </a:r>
          </a:p>
          <a:p>
            <a:pPr algn="l" marL="223758" indent="-223758">
              <a:spcBef>
                <a:spcPts val="0"/>
              </a:spcBef>
              <a:spcAft>
                <a:spcPts val="0"/>
              </a:spcAft>
            </a:pPr>
            <a:r>
              <a:rPr lang="tr-TR" sz="1800" b="1" i="0">
                <a:solidFill>
                  <a:srgbClr val="2C6696"/>
                </a:solidFill>
                <a:latin typeface="Calibri"/>
              </a:rPr>
              <a:t>•  </a:t>
            </a:r>
            <a:r>
              <a:rPr lang="tr-TR" sz="1800" b="0" i="0">
                <a:solidFill>
                  <a:srgbClr val="262626"/>
                </a:solidFill>
                <a:latin typeface="Calibri"/>
              </a:rPr>
              <a:t>Akarsular, verimli topraklar</a:t>
            </a:r>
          </a:p>
        </p:txBody>
      </p:sp>
      <p:sp>
        <p:nvSpPr>
          <p:cNvPr id="20" name="Rounded Rectangle 19"/>
          <p:cNvSpPr/>
          <p:nvPr/>
        </p:nvSpPr>
        <p:spPr>
          <a:xfrm>
            <a:off x="7680960" y="5422392"/>
            <a:ext cx="4007815" cy="86868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0"/>
              </a:spcAft>
            </a:pPr>
            <a:r>
              <a:rPr lang="tr-TR" sz="1600" b="0" i="0">
                <a:solidFill>
                  <a:srgbClr val="262626"/>
                </a:solidFill>
                <a:latin typeface="Calibri"/>
              </a:rPr>
              <a:t>Ayrıca: Güney ve Doğu Asya'nın muson alanları</a:t>
            </a:r>
          </a:p>
        </p:txBody>
      </p:sp>
      <p:sp>
        <p:nvSpPr>
          <p:cNvPr id="21" name="TextBox 2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2" name="Rounded Rectangle 2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176</a:t>
            </a:r>
          </a:p>
        </p:txBody>
      </p:sp>
      <p:sp>
        <p:nvSpPr>
          <p:cNvPr id="23" name="TextBox 2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54 / 166</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3</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s. 176 haritasındaki ç (Büyük Sahra) ve f (Avustralya'nın iç kesimi) için tarımı sınırlayan ortak doğal faktör hangisidir?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Yükselti ve eğimin fazla olması</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Kuraklık: çöl iklimi</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Yetişme döneminin kısa ve soğuk olması</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Sık yağmur ormanları</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Donmuş topraklar</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176</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55 / 166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3</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s. 176 haritasındaki ç (Büyük Sahra) ve f (Avustralya'nın iç kesimi) için tarımı sınırlayan ortak doğal faktör hangisidir?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Yükselti ve eğimin fazla olması</a:t>
            </a:r>
          </a:p>
        </p:txBody>
      </p:sp>
      <p:sp>
        <p:nvSpPr>
          <p:cNvPr id="10" name="Rounded Rectangle 9"/>
          <p:cNvSpPr/>
          <p:nvPr/>
        </p:nvSpPr>
        <p:spPr>
          <a:xfrm>
            <a:off x="502920" y="3158337"/>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11" name="Oval 10"/>
          <p:cNvSpPr/>
          <p:nvPr/>
        </p:nvSpPr>
        <p:spPr>
          <a:xfrm>
            <a:off x="594360" y="3114445"/>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Kuraklık: çöl iklimi</a:t>
            </a:r>
          </a:p>
        </p:txBody>
      </p:sp>
      <p:sp>
        <p:nvSpPr>
          <p:cNvPr id="13" name="Rounded Rectangle 12"/>
          <p:cNvSpPr/>
          <p:nvPr/>
        </p:nvSpPr>
        <p:spPr>
          <a:xfrm>
            <a:off x="502920" y="368320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363931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Yetişme döneminin kısa ve soğuk olması</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Sık yağmur ormanları</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Donmuş topraklar</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İki yer de çöl iklimindedir (EBA iklim haritası); yağış ve su azdır. C ve E soğuk alanların (a, d), A dağların (b, e), D ise c'nin özelliğidir.</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176</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56 / 166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4</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Kitaba göre doğal faktörlerin ekonomik faaliyetlere etkisi için hangisi doğrudur?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Yalnız tarımı etkiler.</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Kimi zaman avantaj sağlar, kimi zaman sınır koyar.</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Sanayiyi hiç etkilemez.</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Etkileri yalnız yerel ölçektedir.</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Turizmle ilgisi yoktur.</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174</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57 / 166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4</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Kitaba göre doğal faktörlerin ekonomik faaliyetlere etkisi için hangisi doğrudur?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Yalnız tarımı etkiler.</a:t>
            </a:r>
          </a:p>
        </p:txBody>
      </p:sp>
      <p:sp>
        <p:nvSpPr>
          <p:cNvPr id="10" name="Rounded Rectangle 9"/>
          <p:cNvSpPr/>
          <p:nvPr/>
        </p:nvSpPr>
        <p:spPr>
          <a:xfrm>
            <a:off x="502920" y="3158337"/>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11" name="Oval 10"/>
          <p:cNvSpPr/>
          <p:nvPr/>
        </p:nvSpPr>
        <p:spPr>
          <a:xfrm>
            <a:off x="594360" y="3114445"/>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Kimi zaman avantaj sağlar, kimi zaman sınır koyar.</a:t>
            </a:r>
          </a:p>
        </p:txBody>
      </p:sp>
      <p:sp>
        <p:nvSpPr>
          <p:cNvPr id="13" name="Rounded Rectangle 12"/>
          <p:cNvSpPr/>
          <p:nvPr/>
        </p:nvSpPr>
        <p:spPr>
          <a:xfrm>
            <a:off x="502920" y="368320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363931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Sanayiyi hiç etkilemez.</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Etkileri yalnız yerel ölçektedir.</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Turizmle ilgisi yoktur.</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Doğal faktörler, ekonomik faaliyetler için kimi zaman avantaj sağlarken kimi zaman da bu faaliyetlerin sınırlarının belirlenmesinde temel oluşturmaktadır.</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174</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58 / 166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Faktör havuzumuza dönelim</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28. HAFTA</a:t>
            </a:r>
          </a:p>
        </p:txBody>
      </p:sp>
      <p:sp>
        <p:nvSpPr>
          <p:cNvPr id="6" name="Rounded Rectangle 5"/>
          <p:cNvSpPr/>
          <p:nvPr/>
        </p:nvSpPr>
        <p:spPr>
          <a:xfrm>
            <a:off x="502920" y="1216152"/>
            <a:ext cx="5478627" cy="502920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16152"/>
            <a:ext cx="5478627" cy="530352"/>
          </a:xfrm>
          <a:prstGeom prst="roundRect">
            <a:avLst>
              <a:gd name="adj" fmla="val 25000"/>
            </a:avLst>
          </a:prstGeom>
          <a:solidFill>
            <a:srgbClr val="3E8E41"/>
          </a:solidFill>
          <a:ln>
            <a:noFill/>
          </a:ln>
          <a:effectLst/>
        </p:spPr>
        <p:txBody>
          <a:bodyPr rtlCol="0" anchor="ctr"/>
          <a:lstStyle/>
          <a:p/>
        </p:txBody>
      </p:sp>
      <p:sp>
        <p:nvSpPr>
          <p:cNvPr id="8" name="Rectangle 7"/>
          <p:cNvSpPr/>
          <p:nvPr/>
        </p:nvSpPr>
        <p:spPr>
          <a:xfrm>
            <a:off x="502920" y="1481328"/>
            <a:ext cx="5478627" cy="265176"/>
          </a:xfrm>
          <a:prstGeom prst="rect">
            <a:avLst/>
          </a:prstGeom>
          <a:solidFill>
            <a:srgbClr val="3E8E41"/>
          </a:solidFill>
          <a:ln>
            <a:noFill/>
          </a:ln>
          <a:effectLst/>
        </p:spPr>
        <p:txBody>
          <a:bodyPr rtlCol="0" anchor="ctr"/>
          <a:lstStyle/>
          <a:p/>
        </p:txBody>
      </p:sp>
      <p:sp>
        <p:nvSpPr>
          <p:cNvPr id="9" name="TextBox 8"/>
          <p:cNvSpPr txBox="1"/>
          <p:nvPr/>
        </p:nvSpPr>
        <p:spPr>
          <a:xfrm>
            <a:off x="594360" y="1216152"/>
            <a:ext cx="5295747" cy="530352"/>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Doğal faktörler · tamam</a:t>
            </a:r>
          </a:p>
        </p:txBody>
      </p:sp>
      <p:sp>
        <p:nvSpPr>
          <p:cNvPr id="10" name="TextBox 9"/>
          <p:cNvSpPr txBox="1"/>
          <p:nvPr/>
        </p:nvSpPr>
        <p:spPr>
          <a:xfrm>
            <a:off x="612648" y="1819656"/>
            <a:ext cx="5259171" cy="4352544"/>
          </a:xfrm>
          <a:prstGeom prst="rect">
            <a:avLst/>
          </a:prstGeom>
          <a:noFill/>
        </p:spPr>
        <p:txBody>
          <a:bodyPr wrap="square" anchor="ctr" lIns="73152" rIns="73152" tIns="36576" bIns="36576">
            <a:noAutofit/>
          </a:bodyPr>
          <a:lstStyle/>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Coğrafi konum</a:t>
            </a:r>
          </a:p>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İklim</a:t>
            </a:r>
          </a:p>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Topoğrafya</a:t>
            </a:r>
          </a:p>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Su kaynakları</a:t>
            </a:r>
          </a:p>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Toprak</a:t>
            </a:r>
          </a:p>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Bitki örtüsü</a:t>
            </a:r>
          </a:p>
          <a:p>
            <a:pPr algn="l" marL="273482" indent="-273482">
              <a:spcBef>
                <a:spcPts val="0"/>
              </a:spcBef>
              <a:spcAft>
                <a:spcPts val="0"/>
              </a:spcAft>
            </a:pPr>
            <a:r>
              <a:rPr lang="tr-TR" sz="2200" b="1" i="0">
                <a:solidFill>
                  <a:srgbClr val="2C6696"/>
                </a:solidFill>
                <a:latin typeface="Calibri"/>
              </a:rPr>
              <a:t>•  </a:t>
            </a:r>
            <a:r>
              <a:rPr lang="tr-TR" sz="2200" b="0" i="0">
                <a:solidFill>
                  <a:srgbClr val="262626"/>
                </a:solidFill>
                <a:latin typeface="Calibri"/>
              </a:rPr>
              <a:t>Enerji ve maden kaynakları</a:t>
            </a:r>
          </a:p>
        </p:txBody>
      </p:sp>
      <p:sp>
        <p:nvSpPr>
          <p:cNvPr id="11" name="Rounded Rectangle 10"/>
          <p:cNvSpPr/>
          <p:nvPr/>
        </p:nvSpPr>
        <p:spPr>
          <a:xfrm>
            <a:off x="6210147" y="1216152"/>
            <a:ext cx="5478627" cy="502920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6210147" y="1216152"/>
            <a:ext cx="5478627" cy="530352"/>
          </a:xfrm>
          <a:prstGeom prst="roundRect">
            <a:avLst>
              <a:gd name="adj" fmla="val 25000"/>
            </a:avLst>
          </a:prstGeom>
          <a:solidFill>
            <a:srgbClr val="2C6696"/>
          </a:solidFill>
          <a:ln>
            <a:noFill/>
          </a:ln>
          <a:effectLst/>
        </p:spPr>
        <p:txBody>
          <a:bodyPr rtlCol="0" anchor="ctr"/>
          <a:lstStyle/>
          <a:p/>
        </p:txBody>
      </p:sp>
      <p:sp>
        <p:nvSpPr>
          <p:cNvPr id="13" name="Rectangle 12"/>
          <p:cNvSpPr/>
          <p:nvPr/>
        </p:nvSpPr>
        <p:spPr>
          <a:xfrm>
            <a:off x="6210147" y="1481328"/>
            <a:ext cx="5478627" cy="265176"/>
          </a:xfrm>
          <a:prstGeom prst="rect">
            <a:avLst/>
          </a:prstGeom>
          <a:solidFill>
            <a:srgbClr val="2C6696"/>
          </a:solidFill>
          <a:ln>
            <a:noFill/>
          </a:ln>
          <a:effectLst/>
        </p:spPr>
        <p:txBody>
          <a:bodyPr rtlCol="0" anchor="ctr"/>
          <a:lstStyle/>
          <a:p/>
        </p:txBody>
      </p:sp>
      <p:sp>
        <p:nvSpPr>
          <p:cNvPr id="14" name="TextBox 13"/>
          <p:cNvSpPr txBox="1"/>
          <p:nvPr/>
        </p:nvSpPr>
        <p:spPr>
          <a:xfrm>
            <a:off x="6301587" y="1216152"/>
            <a:ext cx="5295747" cy="530352"/>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Beşerî faktörler · 29. hafta</a:t>
            </a:r>
          </a:p>
        </p:txBody>
      </p:sp>
      <p:sp>
        <p:nvSpPr>
          <p:cNvPr id="15" name="TextBox 14"/>
          <p:cNvSpPr txBox="1"/>
          <p:nvPr/>
        </p:nvSpPr>
        <p:spPr>
          <a:xfrm>
            <a:off x="6319875" y="1819656"/>
            <a:ext cx="5259171" cy="4352544"/>
          </a:xfrm>
          <a:prstGeom prst="rect">
            <a:avLst/>
          </a:prstGeom>
          <a:noFill/>
        </p:spPr>
        <p:txBody>
          <a:bodyPr wrap="square" anchor="ctr" lIns="73152" rIns="73152" tIns="36576" bIns="36576">
            <a:noAutofit/>
          </a:bodyPr>
          <a:lstStyle/>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Nüfus</a:t>
            </a:r>
          </a:p>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İş gücü</a:t>
            </a:r>
          </a:p>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Sermaye</a:t>
            </a:r>
          </a:p>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Devlet politikaları</a:t>
            </a:r>
          </a:p>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Teknoloji</a:t>
            </a:r>
          </a:p>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Ulaşım</a:t>
            </a:r>
          </a:p>
          <a:p>
            <a:pPr algn="l">
              <a:spcBef>
                <a:spcPts val="0"/>
              </a:spcBef>
              <a:spcAft>
                <a:spcPts val="0"/>
              </a:spcAft>
            </a:pPr>
            <a:r>
              <a:rPr lang="tr-TR" sz="2200" b="0" i="1">
                <a:solidFill>
                  <a:srgbClr val="767676"/>
                </a:solidFill>
                <a:latin typeface="Calibri"/>
              </a:rPr>
              <a:t>Örnek: TEKNOSAB (Bursa)</a:t>
            </a:r>
          </a:p>
        </p:txBody>
      </p:sp>
      <p:sp>
        <p:nvSpPr>
          <p:cNvPr id="16" name="TextBox 1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7" name="Rounded Rectangle 1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173-177</a:t>
            </a:r>
          </a:p>
        </p:txBody>
      </p:sp>
      <p:sp>
        <p:nvSpPr>
          <p:cNvPr id="18" name="TextBox 1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59 / 166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Çıkış Kartı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28. HAFTA</a:t>
            </a:r>
          </a:p>
        </p:txBody>
      </p:sp>
      <p:sp>
        <p:nvSpPr>
          <p:cNvPr id="6" name="TextBox 5"/>
          <p:cNvSpPr txBox="1"/>
          <p:nvPr/>
        </p:nvSpPr>
        <p:spPr>
          <a:xfrm>
            <a:off x="502920" y="1170432"/>
            <a:ext cx="11185855" cy="502920"/>
          </a:xfrm>
          <a:prstGeom prst="rect">
            <a:avLst/>
          </a:prstGeom>
          <a:noFill/>
        </p:spPr>
        <p:txBody>
          <a:bodyPr wrap="square" anchor="t" lIns="73152" rIns="73152" tIns="36576" bIns="36576">
            <a:noAutofit/>
          </a:bodyPr>
          <a:lstStyle/>
          <a:p>
            <a:pPr algn="l">
              <a:spcBef>
                <a:spcPts val="0"/>
              </a:spcBef>
              <a:spcAft>
                <a:spcPts val="0"/>
              </a:spcAft>
            </a:pPr>
            <a:r>
              <a:rPr lang="tr-TR" sz="2200" b="0" i="0">
                <a:solidFill>
                  <a:srgbClr val="767676"/>
                </a:solidFill>
                <a:latin typeface="Calibri"/>
              </a:rPr>
              <a:t>Çıkmadan önce kâğıdına yaz:</a:t>
            </a:r>
          </a:p>
        </p:txBody>
      </p:sp>
      <p:sp>
        <p:nvSpPr>
          <p:cNvPr id="7" name="Rounded Rectangle 6"/>
          <p:cNvSpPr/>
          <p:nvPr/>
        </p:nvSpPr>
        <p:spPr>
          <a:xfrm>
            <a:off x="502920" y="1764792"/>
            <a:ext cx="11185855" cy="1399032"/>
          </a:xfrm>
          <a:prstGeom prst="roundRect">
            <a:avLst>
              <a:gd name="adj" fmla="val 10000"/>
            </a:avLst>
          </a:prstGeom>
          <a:solidFill>
            <a:srgbClr val="F0F0F0"/>
          </a:solidFill>
          <a:ln>
            <a:noFill/>
          </a:ln>
          <a:effectLst/>
        </p:spPr>
        <p:txBody>
          <a:bodyPr rtlCol="0" anchor="ctr"/>
          <a:lstStyle/>
          <a:p/>
        </p:txBody>
      </p:sp>
      <p:sp>
        <p:nvSpPr>
          <p:cNvPr id="8" name="Oval 7"/>
          <p:cNvSpPr/>
          <p:nvPr/>
        </p:nvSpPr>
        <p:spPr>
          <a:xfrm>
            <a:off x="667512" y="2144268"/>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1</a:t>
            </a:r>
          </a:p>
        </p:txBody>
      </p:sp>
      <p:sp>
        <p:nvSpPr>
          <p:cNvPr id="9" name="TextBox 8"/>
          <p:cNvSpPr txBox="1"/>
          <p:nvPr/>
        </p:nvSpPr>
        <p:spPr>
          <a:xfrm>
            <a:off x="1508760" y="1764792"/>
            <a:ext cx="9997135" cy="1399032"/>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Ekonomik faaliyetin üç sürecini yazıp her birine s. 172 görsellerinden bir örnek eşleştiriniz.</a:t>
            </a:r>
          </a:p>
        </p:txBody>
      </p:sp>
      <p:sp>
        <p:nvSpPr>
          <p:cNvPr id="10" name="Rounded Rectangle 9"/>
          <p:cNvSpPr/>
          <p:nvPr/>
        </p:nvSpPr>
        <p:spPr>
          <a:xfrm>
            <a:off x="502920" y="3328416"/>
            <a:ext cx="11185855" cy="1399032"/>
          </a:xfrm>
          <a:prstGeom prst="roundRect">
            <a:avLst>
              <a:gd name="adj" fmla="val 10000"/>
            </a:avLst>
          </a:prstGeom>
          <a:solidFill>
            <a:srgbClr val="F0F0F0"/>
          </a:solidFill>
          <a:ln>
            <a:noFill/>
          </a:ln>
          <a:effectLst/>
        </p:spPr>
        <p:txBody>
          <a:bodyPr rtlCol="0" anchor="ctr"/>
          <a:lstStyle/>
          <a:p/>
        </p:txBody>
      </p:sp>
      <p:sp>
        <p:nvSpPr>
          <p:cNvPr id="11" name="Oval 10"/>
          <p:cNvSpPr/>
          <p:nvPr/>
        </p:nvSpPr>
        <p:spPr>
          <a:xfrm>
            <a:off x="667512" y="3707892"/>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2</a:t>
            </a:r>
          </a:p>
        </p:txBody>
      </p:sp>
      <p:sp>
        <p:nvSpPr>
          <p:cNvPr id="12" name="TextBox 11"/>
          <p:cNvSpPr txBox="1"/>
          <p:nvPr/>
        </p:nvSpPr>
        <p:spPr>
          <a:xfrm>
            <a:off x="1508760" y="3328416"/>
            <a:ext cx="9997135" cy="1399032"/>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s. 176 haritasında tarım alanlarının sınırlı olduğu yerlerden birini seçip buna yol açan doğal faktörü yazınız.</a:t>
            </a:r>
          </a:p>
        </p:txBody>
      </p:sp>
      <p:sp>
        <p:nvSpPr>
          <p:cNvPr id="13" name="Rounded Rectangle 12"/>
          <p:cNvSpPr/>
          <p:nvPr/>
        </p:nvSpPr>
        <p:spPr>
          <a:xfrm>
            <a:off x="502920" y="4892040"/>
            <a:ext cx="11185855" cy="1399032"/>
          </a:xfrm>
          <a:prstGeom prst="roundRect">
            <a:avLst>
              <a:gd name="adj" fmla="val 10000"/>
            </a:avLst>
          </a:prstGeom>
          <a:solidFill>
            <a:srgbClr val="F0F0F0"/>
          </a:solidFill>
          <a:ln>
            <a:noFill/>
          </a:ln>
          <a:effectLst/>
        </p:spPr>
        <p:txBody>
          <a:bodyPr rtlCol="0" anchor="ctr"/>
          <a:lstStyle/>
          <a:p/>
        </p:txBody>
      </p:sp>
      <p:sp>
        <p:nvSpPr>
          <p:cNvPr id="14" name="Oval 13"/>
          <p:cNvSpPr/>
          <p:nvPr/>
        </p:nvSpPr>
        <p:spPr>
          <a:xfrm>
            <a:off x="667512" y="5271516"/>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3</a:t>
            </a:r>
          </a:p>
        </p:txBody>
      </p:sp>
      <p:sp>
        <p:nvSpPr>
          <p:cNvPr id="15" name="TextBox 14"/>
          <p:cNvSpPr txBox="1"/>
          <p:nvPr/>
        </p:nvSpPr>
        <p:spPr>
          <a:xfrm>
            <a:off x="1508760" y="4892040"/>
            <a:ext cx="9997135" cy="1399032"/>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Demir-çelik tesisleri neden genellikle taş kömürü çıkarılan alanların yakınına kurulur?</a:t>
            </a:r>
          </a:p>
        </p:txBody>
      </p:sp>
      <p:sp>
        <p:nvSpPr>
          <p:cNvPr id="16" name="TextBox 1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7" name="Rounded Rectangle 1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172-176</a:t>
            </a:r>
          </a:p>
        </p:txBody>
      </p:sp>
      <p:sp>
        <p:nvSpPr>
          <p:cNvPr id="18" name="TextBox 1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60 / 166</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Bu hafta evde</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28. HAFTA</a:t>
            </a:r>
          </a:p>
        </p:txBody>
      </p:sp>
      <p:sp>
        <p:nvSpPr>
          <p:cNvPr id="6" name="TextBox 5"/>
          <p:cNvSpPr txBox="1"/>
          <p:nvPr/>
        </p:nvSpPr>
        <p:spPr>
          <a:xfrm>
            <a:off x="594360" y="1307592"/>
            <a:ext cx="11002975" cy="4846320"/>
          </a:xfrm>
          <a:prstGeom prst="rect">
            <a:avLst/>
          </a:prstGeom>
          <a:noFill/>
        </p:spPr>
        <p:txBody>
          <a:bodyPr wrap="square" anchor="t" lIns="73152" rIns="73152" tIns="36576" bIns="36576">
            <a:noAutofit/>
          </a:bodyPr>
          <a:lstStyle/>
          <a:p>
            <a:pPr algn="l" marL="323206" indent="-323206">
              <a:spcBef>
                <a:spcPts val="0"/>
              </a:spcBef>
              <a:spcAft>
                <a:spcPts val="1200"/>
              </a:spcAft>
            </a:pPr>
            <a:r>
              <a:rPr lang="tr-TR" sz="2600" b="1" i="0">
                <a:solidFill>
                  <a:srgbClr val="B85C12"/>
                </a:solidFill>
                <a:latin typeface="Calibri"/>
              </a:rPr>
              <a:t>•  </a:t>
            </a:r>
            <a:r>
              <a:rPr lang="tr-TR" sz="2600" b="0" i="0">
                <a:solidFill>
                  <a:srgbClr val="262626"/>
                </a:solidFill>
                <a:latin typeface="Calibri"/>
              </a:rPr>
              <a:t>Çalışma kâğıdı Bölüm 1: 1-6. sorular (kitap s. 172-176).</a:t>
            </a:r>
          </a:p>
          <a:p>
            <a:pPr algn="l" marL="323206" indent="-323206">
              <a:spcBef>
                <a:spcPts val="0"/>
              </a:spcBef>
              <a:spcAft>
                <a:spcPts val="1200"/>
              </a:spcAft>
            </a:pPr>
            <a:r>
              <a:rPr lang="tr-TR" sz="2600" b="1" i="0">
                <a:solidFill>
                  <a:srgbClr val="B85C12"/>
                </a:solidFill>
                <a:latin typeface="Calibri"/>
              </a:rPr>
              <a:t>•  </a:t>
            </a:r>
            <a:r>
              <a:rPr lang="tr-TR" sz="2600" b="0" i="0">
                <a:solidFill>
                  <a:srgbClr val="262626"/>
                </a:solidFill>
                <a:latin typeface="Calibri"/>
              </a:rPr>
              <a:t>Kenar sorularını kendi cümlelerinle defterine yaz (ikişer cümle).</a:t>
            </a:r>
          </a:p>
          <a:p>
            <a:pPr algn="l" marL="323206" indent="-323206">
              <a:spcBef>
                <a:spcPts val="0"/>
              </a:spcBef>
              <a:spcAft>
                <a:spcPts val="1200"/>
              </a:spcAft>
            </a:pPr>
            <a:r>
              <a:rPr lang="tr-TR" sz="2600" b="1" i="0">
                <a:solidFill>
                  <a:srgbClr val="B85C12"/>
                </a:solidFill>
                <a:latin typeface="Calibri"/>
              </a:rPr>
              <a:t>•  </a:t>
            </a:r>
            <a:r>
              <a:rPr lang="tr-TR" sz="2600" b="0" i="0">
                <a:solidFill>
                  <a:srgbClr val="262626"/>
                </a:solidFill>
                <a:latin typeface="Calibri"/>
              </a:rPr>
              <a:t>Kitap s. 177-178: beşerî faktörler ön okuması.</a:t>
            </a:r>
          </a:p>
          <a:p>
            <a:pPr algn="l" marL="323206" indent="-323206">
              <a:spcBef>
                <a:spcPts val="0"/>
              </a:spcBef>
              <a:spcAft>
                <a:spcPts val="0"/>
              </a:spcAft>
            </a:pPr>
            <a:r>
              <a:rPr lang="tr-TR" sz="2600" b="1" i="0">
                <a:solidFill>
                  <a:srgbClr val="B85C12"/>
                </a:solidFill>
                <a:latin typeface="Calibri"/>
              </a:rPr>
              <a:t>•  </a:t>
            </a:r>
            <a:r>
              <a:rPr lang="tr-TR" sz="2600" b="0" i="0">
                <a:solidFill>
                  <a:srgbClr val="262626"/>
                </a:solidFill>
                <a:latin typeface="Calibri"/>
              </a:rPr>
              <a:t>Performans görevi (s. 183) 1. adım: Çalışma planı yaparak ders öncesi hazırlıklarınızı tamamlayınız. Malzemeyi okul sağlar.</a:t>
            </a:r>
          </a:p>
        </p:txBody>
      </p:sp>
      <p:sp>
        <p:nvSpPr>
          <p:cNvPr id="7" name="TextBox 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8" name="Rounded Rectangle 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177-178, 183</a:t>
            </a:r>
          </a:p>
        </p:txBody>
      </p:sp>
      <p:sp>
        <p:nvSpPr>
          <p:cNvPr id="9" name="TextBox 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61 / 166</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Kaynaklar ve Haklar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KAYNAKÇA</a:t>
            </a:r>
          </a:p>
        </p:txBody>
      </p:sp>
      <p:sp>
        <p:nvSpPr>
          <p:cNvPr id="6" name="Rounded Rectangle 5"/>
          <p:cNvSpPr/>
          <p:nvPr/>
        </p:nvSpPr>
        <p:spPr>
          <a:xfrm>
            <a:off x="502920" y="1280160"/>
            <a:ext cx="11185855" cy="150876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650" b="1" i="0">
                <a:solidFill>
                  <a:srgbClr val="262626"/>
                </a:solidFill>
                <a:latin typeface="Calibri"/>
              </a:rPr>
              <a:t>Ders kitabı.</a:t>
            </a:r>
            <a:r>
              <a:rPr lang="tr-TR" sz="1650" b="0" i="0">
                <a:solidFill>
                  <a:srgbClr val="262626"/>
                </a:solidFill>
                <a:latin typeface="Calibri"/>
              </a:rPr>
              <a:t> Coğrafya 9. Sınıf Ders Kitabı (Ortaöğretim), 2026-2027 baskısı. </a:t>
            </a:r>
            <a:r>
              <a:rPr lang="tr-TR" sz="1650" b="1" i="0">
                <a:solidFill>
                  <a:srgbClr val="262626"/>
                </a:solidFill>
                <a:latin typeface="Calibri"/>
              </a:rPr>
              <a:t>Yazarlar:</a:t>
            </a:r>
            <a:r>
              <a:rPr lang="tr-TR" sz="1650" b="0" i="0">
                <a:solidFill>
                  <a:srgbClr val="262626"/>
                </a:solidFill>
                <a:latin typeface="Calibri"/>
              </a:rPr>
              <a:t> Dr. Gülten İçel, Alper Soyatlar, Beyhan Polat, Bülent Akça, Cem Erdebil, Kenan Türkez, Mehmet Ekici, Mutlu Karakoç, Nihal Öztürk, Nurullah Balşen, Orhan Ekin, Ramazan Bıçaklı, Raşit Düzgün, Soner Cırık, Tuba Dirim. Millî Eğitim Bakanlığı Yayınları No 9606 · Ders Kitapları Dizisi No 2027 · Devlet Kitapları, 2026 · ISBN 978-975-11-8046-9. Slaytlardaki “Kitap s. …” etiketleri bu baskının sayfalarıdır.</a:t>
            </a:r>
          </a:p>
        </p:txBody>
      </p:sp>
      <p:sp>
        <p:nvSpPr>
          <p:cNvPr id="7" name="Rounded Rectangle 6"/>
          <p:cNvSpPr/>
          <p:nvPr/>
        </p:nvSpPr>
        <p:spPr>
          <a:xfrm>
            <a:off x="502920" y="2916936"/>
            <a:ext cx="11185855" cy="114300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500" b="1" i="0">
                <a:solidFill>
                  <a:srgbClr val="262626"/>
                </a:solidFill>
                <a:latin typeface="Calibri"/>
              </a:rPr>
              <a:t>Öğretim programı ve etkinlikler.</a:t>
            </a:r>
            <a:r>
              <a:rPr lang="tr-TR" sz="1500" b="0" i="0">
                <a:solidFill>
                  <a:srgbClr val="262626"/>
                </a:solidFill>
                <a:latin typeface="Calibri"/>
              </a:rPr>
              <a:t> Coğrafya dersi öğretim programı (2026 nüshası): Talim ve Terbiye Kurulunun 23.05.2024 tarihli ve 20 sayılı kararıyla kabul edilen, 13.05.2026 tarihli ve 53 sayılı kararıyla güncellenen program. Etkinliklerin bir bölümü MEB Ortaöğretim Genel Müdürlüğünün OGM Materyal platformundaki etkileşimli etkinliklerle paralel kurulmuştur. Bazı görseller ve sorular ders kitabının karekod içeriklerinden (EBA: ölçme araçları, tema sonu soruları, harita ve bilgi görselleri) alınmıştır.</a:t>
            </a:r>
          </a:p>
        </p:txBody>
      </p:sp>
      <p:sp>
        <p:nvSpPr>
          <p:cNvPr id="8" name="Rounded Rectangle 7"/>
          <p:cNvSpPr/>
          <p:nvPr/>
        </p:nvSpPr>
        <p:spPr>
          <a:xfrm>
            <a:off x="502920" y="4187952"/>
            <a:ext cx="11185855" cy="137160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650" b="1" i="0">
                <a:solidFill>
                  <a:srgbClr val="262626"/>
                </a:solidFill>
                <a:latin typeface="Calibri"/>
              </a:rPr>
              <a:t>Haklar ve lisans.</a:t>
            </a:r>
            <a:r>
              <a:rPr lang="tr-TR" sz="1650" b="0" i="0">
                <a:solidFill>
                  <a:srgbClr val="262626"/>
                </a:solidFill>
                <a:latin typeface="Calibri"/>
              </a:rPr>
              <a:t> Ders kitabından, kitabın karekod içeriklerinden (EBA) ve OGM Materyal'den alınan metin, soru ve görsellerin hakları Millî Eğitim Bakanlığına aittir; eğitim ve öğretim amacıyla, kaynak gösterilerek alıntılanmıştır (5846 sayılı Fikir ve Sanat Eserleri Kanunu md. 34). Sunumun tasarımı, ders akışı, etkinlik kurgusu, örnek cevaplar ve öğretmen notları okulapp.org'un özgün katkısıdır; yalnız bu katkılar CC BY 4.0 lisansıyla paylaşılır. Resmî bir Bakanlık materyali değildir.</a:t>
            </a:r>
          </a:p>
        </p:txBody>
      </p:sp>
      <p:sp>
        <p:nvSpPr>
          <p:cNvPr id="9" name="TextBox 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0" name="TextBox 9"/>
          <p:cNvSpPr txBox="1"/>
          <p:nvPr/>
        </p:nvSpPr>
        <p:spPr>
          <a:xfrm>
            <a:off x="8503920" y="6437376"/>
            <a:ext cx="32918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okulapp.org/cografya · sürüm 2026.10.2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GNL-COG9-SN-U5 — 28. hafta · Ekonomik Faaliyetler I: Süreçler ve Doğal Faktörler (slayt 1-61)</dc:title>
  <dc:subject>9. Sınıf Coğrafya ders sunumu. Kaynak: Coğrafya 9. Sınıf Ders Kitabı (MEB, 2026-2027 baskısı) ve 2026 öğretim programı. okulapp.org/cografya</dc:subject>
  <dc:creator>okulapp.org</dc:creator>
  <cp:keywords/>
  <dc:description>Kitaptan, karekod içeriklerinden (EBA) ve OGM Materyal'den alınan metin, soru ve görsellerin hakları MEB'e aittir (5846 sayılı Kanun md. 34 kapsamında kaynak gösterilerek alıntı). Özgün katkılar CC BY 4.0 — okulapp.org</dc:description>
  <cp:lastModifiedBy>okulapp.org</cp:lastModifiedBy>
  <cp:revision>1</cp:revision>
  <dcterms:created xsi:type="dcterms:W3CDTF">2013-01-27T09:14:16Z</dcterms:created>
  <dcterms:modified xsi:type="dcterms:W3CDTF">2013-01-27T09:15:58Z</dcterms:modified>
  <cp:category>Ders materyali</cp:category>
  <dc:language>tr-TR</dc:language>
</cp:coreProperties>
</file>