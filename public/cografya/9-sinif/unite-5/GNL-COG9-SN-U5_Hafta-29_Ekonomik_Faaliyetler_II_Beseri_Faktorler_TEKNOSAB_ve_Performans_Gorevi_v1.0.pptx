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68"/>
  </p:sldIdLst>
  <p:sldSz cx="12191695" cy="6858000" type="screen4x3"/>
  <p:notesSz cx="6858000" cy="9144000"/>
  <p:defaultTextStyle>
    <a:defPPr>
      <a:defRPr lang="tr-TR"/>
    </a:defPPr>
    <a:lvl1pPr marL="0" algn="l" defTabSz="457200" rtl="0" eaLnBrk="1" latinLnBrk="0" hangingPunct="1">
      <a:defRPr lang="tr-TR" sz="1800" kern="1200">
        <a:solidFill>
          <a:schemeClr val="tx1"/>
        </a:solidFill>
        <a:latin typeface="+mn-lt"/>
        <a:ea typeface="+mn-ea"/>
        <a:cs typeface="+mn-cs"/>
      </a:defRPr>
    </a:lvl1pPr>
    <a:lvl2pPr marL="457200" algn="l" defTabSz="457200" rtl="0" eaLnBrk="1" latinLnBrk="0" hangingPunct="1">
      <a:defRPr lang="tr-TR" sz="1800" kern="1200">
        <a:solidFill>
          <a:schemeClr val="tx1"/>
        </a:solidFill>
        <a:latin typeface="+mn-lt"/>
        <a:ea typeface="+mn-ea"/>
        <a:cs typeface="+mn-cs"/>
      </a:defRPr>
    </a:lvl2pPr>
    <a:lvl3pPr marL="914400" algn="l" defTabSz="457200" rtl="0" eaLnBrk="1" latinLnBrk="0" hangingPunct="1">
      <a:defRPr lang="tr-TR" sz="1800" kern="1200">
        <a:solidFill>
          <a:schemeClr val="tx1"/>
        </a:solidFill>
        <a:latin typeface="+mn-lt"/>
        <a:ea typeface="+mn-ea"/>
        <a:cs typeface="+mn-cs"/>
      </a:defRPr>
    </a:lvl3pPr>
    <a:lvl4pPr marL="1371600" algn="l" defTabSz="457200" rtl="0" eaLnBrk="1" latinLnBrk="0" hangingPunct="1">
      <a:defRPr lang="tr-TR" sz="1800" kern="1200">
        <a:solidFill>
          <a:schemeClr val="tx1"/>
        </a:solidFill>
        <a:latin typeface="+mn-lt"/>
        <a:ea typeface="+mn-ea"/>
        <a:cs typeface="+mn-cs"/>
      </a:defRPr>
    </a:lvl4pPr>
    <a:lvl5pPr marL="1828800" algn="l" defTabSz="457200" rtl="0" eaLnBrk="1" latinLnBrk="0" hangingPunct="1">
      <a:defRPr lang="tr-TR" sz="1800" kern="1200">
        <a:solidFill>
          <a:schemeClr val="tx1"/>
        </a:solidFill>
        <a:latin typeface="+mn-lt"/>
        <a:ea typeface="+mn-ea"/>
        <a:cs typeface="+mn-cs"/>
      </a:defRPr>
    </a:lvl5pPr>
    <a:lvl6pPr marL="2286000" algn="l" defTabSz="457200" rtl="0" eaLnBrk="1" latinLnBrk="0" hangingPunct="1">
      <a:defRPr lang="tr-TR" sz="1800" kern="1200">
        <a:solidFill>
          <a:schemeClr val="tx1"/>
        </a:solidFill>
        <a:latin typeface="+mn-lt"/>
        <a:ea typeface="+mn-ea"/>
        <a:cs typeface="+mn-cs"/>
      </a:defRPr>
    </a:lvl6pPr>
    <a:lvl7pPr marL="2743200" algn="l" defTabSz="457200" rtl="0" eaLnBrk="1" latinLnBrk="0" hangingPunct="1">
      <a:defRPr lang="tr-TR" sz="1800" kern="1200">
        <a:solidFill>
          <a:schemeClr val="tx1"/>
        </a:solidFill>
        <a:latin typeface="+mn-lt"/>
        <a:ea typeface="+mn-ea"/>
        <a:cs typeface="+mn-cs"/>
      </a:defRPr>
    </a:lvl7pPr>
    <a:lvl8pPr marL="3200400" algn="l" defTabSz="457200" rtl="0" eaLnBrk="1" latinLnBrk="0" hangingPunct="1">
      <a:defRPr lang="tr-TR" sz="1800" kern="1200">
        <a:solidFill>
          <a:schemeClr val="tx1"/>
        </a:solidFill>
        <a:latin typeface="+mn-lt"/>
        <a:ea typeface="+mn-ea"/>
        <a:cs typeface="+mn-cs"/>
      </a:defRPr>
    </a:lvl8pPr>
    <a:lvl9pPr marL="3657600" algn="l" defTabSz="457200" rtl="0" eaLnBrk="1" latinLnBrk="0" hangingPunct="1">
      <a:defRPr lang="tr-T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8" Type="http://schemas.openxmlformats.org/officeDocument/2006/relationships/notesMaster" Target="notesMasters/notesMaster1.xml"/><Relationship Id="rId68" Type="http://schemas.openxmlformats.org/officeDocument/2006/relationships/slide" Target="slides/slide63.xml"/><Relationship Id="rId69" Type="http://schemas.openxmlformats.org/officeDocument/2006/relationships/slide" Target="slides/slide1.xml"/><Relationship Id="rId70" Type="http://schemas.openxmlformats.org/officeDocument/2006/relationships/slide" Target="slides/slide2.xml"/><Relationship Id="rId71" Type="http://schemas.openxmlformats.org/officeDocument/2006/relationships/slide" Target="slides/slide3.xml"/><Relationship Id="rId72" Type="http://schemas.openxmlformats.org/officeDocument/2006/relationships/slide" Target="slides/slide4.xml"/><Relationship Id="rId73" Type="http://schemas.openxmlformats.org/officeDocument/2006/relationships/slide" Target="slides/slide5.xml"/><Relationship Id="rId74" Type="http://schemas.openxmlformats.org/officeDocument/2006/relationships/slide" Target="slides/slide6.xml"/><Relationship Id="rId75" Type="http://schemas.openxmlformats.org/officeDocument/2006/relationships/slide" Target="slides/slide7.xml"/><Relationship Id="rId76" Type="http://schemas.openxmlformats.org/officeDocument/2006/relationships/slide" Target="slides/slide8.xml"/><Relationship Id="rId77" Type="http://schemas.openxmlformats.org/officeDocument/2006/relationships/slide" Target="slides/slide9.xml"/><Relationship Id="rId78" Type="http://schemas.openxmlformats.org/officeDocument/2006/relationships/slide" Target="slides/slide10.xml"/><Relationship Id="rId79" Type="http://schemas.openxmlformats.org/officeDocument/2006/relationships/slide" Target="slides/slide11.xml"/><Relationship Id="rId80" Type="http://schemas.openxmlformats.org/officeDocument/2006/relationships/slide" Target="slides/slide12.xml"/><Relationship Id="rId81" Type="http://schemas.openxmlformats.org/officeDocument/2006/relationships/slide" Target="slides/slide13.xml"/><Relationship Id="rId82" Type="http://schemas.openxmlformats.org/officeDocument/2006/relationships/slide" Target="slides/slide14.xml"/><Relationship Id="rId83" Type="http://schemas.openxmlformats.org/officeDocument/2006/relationships/slide" Target="slides/slide15.xml"/><Relationship Id="rId84" Type="http://schemas.openxmlformats.org/officeDocument/2006/relationships/slide" Target="slides/slide16.xml"/><Relationship Id="rId85" Type="http://schemas.openxmlformats.org/officeDocument/2006/relationships/slide" Target="slides/slide17.xml"/><Relationship Id="rId86" Type="http://schemas.openxmlformats.org/officeDocument/2006/relationships/slide" Target="slides/slide18.xml"/><Relationship Id="rId87" Type="http://schemas.openxmlformats.org/officeDocument/2006/relationships/slide" Target="slides/slide19.xml"/><Relationship Id="rId88" Type="http://schemas.openxmlformats.org/officeDocument/2006/relationships/slide" Target="slides/slide20.xml"/><Relationship Id="rId89" Type="http://schemas.openxmlformats.org/officeDocument/2006/relationships/slide" Target="slides/slide21.xml"/><Relationship Id="rId90" Type="http://schemas.openxmlformats.org/officeDocument/2006/relationships/slide" Target="slides/slide22.xml"/><Relationship Id="rId91" Type="http://schemas.openxmlformats.org/officeDocument/2006/relationships/slide" Target="slides/slide23.xml"/><Relationship Id="rId92" Type="http://schemas.openxmlformats.org/officeDocument/2006/relationships/slide" Target="slides/slide24.xml"/><Relationship Id="rId93" Type="http://schemas.openxmlformats.org/officeDocument/2006/relationships/slide" Target="slides/slide25.xml"/><Relationship Id="rId94" Type="http://schemas.openxmlformats.org/officeDocument/2006/relationships/slide" Target="slides/slide26.xml"/><Relationship Id="rId95" Type="http://schemas.openxmlformats.org/officeDocument/2006/relationships/slide" Target="slides/slide27.xml"/><Relationship Id="rId96" Type="http://schemas.openxmlformats.org/officeDocument/2006/relationships/slide" Target="slides/slide28.xml"/><Relationship Id="rId97" Type="http://schemas.openxmlformats.org/officeDocument/2006/relationships/slide" Target="slides/slide29.xml"/><Relationship Id="rId98" Type="http://schemas.openxmlformats.org/officeDocument/2006/relationships/slide" Target="slides/slide30.xml"/><Relationship Id="rId99" Type="http://schemas.openxmlformats.org/officeDocument/2006/relationships/slide" Target="slides/slide31.xml"/><Relationship Id="rId100" Type="http://schemas.openxmlformats.org/officeDocument/2006/relationships/slide" Target="slides/slide32.xml"/><Relationship Id="rId101" Type="http://schemas.openxmlformats.org/officeDocument/2006/relationships/slide" Target="slides/slide33.xml"/><Relationship Id="rId102" Type="http://schemas.openxmlformats.org/officeDocument/2006/relationships/slide" Target="slides/slide34.xml"/><Relationship Id="rId103" Type="http://schemas.openxmlformats.org/officeDocument/2006/relationships/slide" Target="slides/slide35.xml"/><Relationship Id="rId104" Type="http://schemas.openxmlformats.org/officeDocument/2006/relationships/slide" Target="slides/slide36.xml"/><Relationship Id="rId105" Type="http://schemas.openxmlformats.org/officeDocument/2006/relationships/slide" Target="slides/slide37.xml"/><Relationship Id="rId106" Type="http://schemas.openxmlformats.org/officeDocument/2006/relationships/slide" Target="slides/slide38.xml"/><Relationship Id="rId107" Type="http://schemas.openxmlformats.org/officeDocument/2006/relationships/slide" Target="slides/slide39.xml"/><Relationship Id="rId108" Type="http://schemas.openxmlformats.org/officeDocument/2006/relationships/slide" Target="slides/slide40.xml"/><Relationship Id="rId109" Type="http://schemas.openxmlformats.org/officeDocument/2006/relationships/slide" Target="slides/slide41.xml"/><Relationship Id="rId110" Type="http://schemas.openxmlformats.org/officeDocument/2006/relationships/slide" Target="slides/slide42.xml"/><Relationship Id="rId111" Type="http://schemas.openxmlformats.org/officeDocument/2006/relationships/slide" Target="slides/slide43.xml"/><Relationship Id="rId112" Type="http://schemas.openxmlformats.org/officeDocument/2006/relationships/slide" Target="slides/slide44.xml"/><Relationship Id="rId113" Type="http://schemas.openxmlformats.org/officeDocument/2006/relationships/slide" Target="slides/slide45.xml"/><Relationship Id="rId114" Type="http://schemas.openxmlformats.org/officeDocument/2006/relationships/slide" Target="slides/slide46.xml"/><Relationship Id="rId115" Type="http://schemas.openxmlformats.org/officeDocument/2006/relationships/slide" Target="slides/slide47.xml"/><Relationship Id="rId116" Type="http://schemas.openxmlformats.org/officeDocument/2006/relationships/slide" Target="slides/slide48.xml"/><Relationship Id="rId117" Type="http://schemas.openxmlformats.org/officeDocument/2006/relationships/slide" Target="slides/slide49.xml"/><Relationship Id="rId118" Type="http://schemas.openxmlformats.org/officeDocument/2006/relationships/slide" Target="slides/slide50.xml"/><Relationship Id="rId119" Type="http://schemas.openxmlformats.org/officeDocument/2006/relationships/slide" Target="slides/slide51.xml"/><Relationship Id="rId120" Type="http://schemas.openxmlformats.org/officeDocument/2006/relationships/slide" Target="slides/slide52.xml"/><Relationship Id="rId121" Type="http://schemas.openxmlformats.org/officeDocument/2006/relationships/slide" Target="slides/slide53.xml"/><Relationship Id="rId122" Type="http://schemas.openxmlformats.org/officeDocument/2006/relationships/slide" Target="slides/slide54.xml"/><Relationship Id="rId123" Type="http://schemas.openxmlformats.org/officeDocument/2006/relationships/slide" Target="slides/slide55.xml"/><Relationship Id="rId124" Type="http://schemas.openxmlformats.org/officeDocument/2006/relationships/slide" Target="slides/slide56.xml"/><Relationship Id="rId125" Type="http://schemas.openxmlformats.org/officeDocument/2006/relationships/slide" Target="slides/slide57.xml"/><Relationship Id="rId126" Type="http://schemas.openxmlformats.org/officeDocument/2006/relationships/slide" Target="slides/slide58.xml"/><Relationship Id="rId127" Type="http://schemas.openxmlformats.org/officeDocument/2006/relationships/slide" Target="slides/slide59.xml"/><Relationship Id="rId128" Type="http://schemas.openxmlformats.org/officeDocument/2006/relationships/slide" Target="slides/slide60.xml"/><Relationship Id="rId129" Type="http://schemas.openxmlformats.org/officeDocument/2006/relationships/slide" Target="slides/slide61.xml"/><Relationship Id="rId130" Type="http://schemas.openxmlformats.org/officeDocument/2006/relationships/slide" Target="slides/slide6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lang="tr-TR" sz="1200"/>
            </a:lvl1pPr>
          </a:lstStyle>
          <a:p>
            <a:endParaRPr lang="tr-T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lang="tr-TR" sz="1200"/>
            </a:lvl1pPr>
          </a:lstStyle>
          <a:p>
            <a:fld id="{0F89C1C7-3DCD-1040-A9CF-14679D8B5DDD}" type="datetimeFigureOut">
              <a:rPr lang="tr-TR" smtClean="0"/>
              <a:t>10/17/16</a:t>
            </a:fld>
            <a:endParaRPr lang="tr-TR"/>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tr-T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lang="tr-TR" sz="1200"/>
            </a:lvl1pPr>
          </a:lstStyle>
          <a:p>
            <a:endParaRPr lang="tr-T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lang="tr-TR" sz="1200"/>
            </a:lvl1pPr>
          </a:lstStyle>
          <a:p>
            <a:fld id="{BB5E49A5-4136-284D-997B-48E1D791AD67}" type="slidenum">
              <a:rPr lang="tr-TR" smtClean="0"/>
              <a:t>‹#›</a:t>
            </a:fld>
            <a:endParaRPr lang="tr-TR"/>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lang="tr-TR" sz="1200" kern="1200">
        <a:solidFill>
          <a:schemeClr val="tx1"/>
        </a:solidFill>
        <a:latin typeface="+mn-lt"/>
        <a:ea typeface="+mn-ea"/>
        <a:cs typeface="+mn-cs"/>
      </a:defRPr>
    </a:lvl1pPr>
    <a:lvl2pPr marL="457200" algn="l" defTabSz="457200" rtl="0" eaLnBrk="1" latinLnBrk="0" hangingPunct="1">
      <a:defRPr lang="tr-TR" sz="1200" kern="1200">
        <a:solidFill>
          <a:schemeClr val="tx1"/>
        </a:solidFill>
        <a:latin typeface="+mn-lt"/>
        <a:ea typeface="+mn-ea"/>
        <a:cs typeface="+mn-cs"/>
      </a:defRPr>
    </a:lvl2pPr>
    <a:lvl3pPr marL="914400" algn="l" defTabSz="457200" rtl="0" eaLnBrk="1" latinLnBrk="0" hangingPunct="1">
      <a:defRPr lang="tr-TR" sz="1200" kern="1200">
        <a:solidFill>
          <a:schemeClr val="tx1"/>
        </a:solidFill>
        <a:latin typeface="+mn-lt"/>
        <a:ea typeface="+mn-ea"/>
        <a:cs typeface="+mn-cs"/>
      </a:defRPr>
    </a:lvl3pPr>
    <a:lvl4pPr marL="1371600" algn="l" defTabSz="457200" rtl="0" eaLnBrk="1" latinLnBrk="0" hangingPunct="1">
      <a:defRPr lang="tr-TR" sz="1200" kern="1200">
        <a:solidFill>
          <a:schemeClr val="tx1"/>
        </a:solidFill>
        <a:latin typeface="+mn-lt"/>
        <a:ea typeface="+mn-ea"/>
        <a:cs typeface="+mn-cs"/>
      </a:defRPr>
    </a:lvl4pPr>
    <a:lvl5pPr marL="1828800" algn="l" defTabSz="457200" rtl="0" eaLnBrk="1" latinLnBrk="0" hangingPunct="1">
      <a:defRPr lang="tr-TR" sz="1200" kern="1200">
        <a:solidFill>
          <a:schemeClr val="tx1"/>
        </a:solidFill>
        <a:latin typeface="+mn-lt"/>
        <a:ea typeface="+mn-ea"/>
        <a:cs typeface="+mn-cs"/>
      </a:defRPr>
    </a:lvl5pPr>
    <a:lvl6pPr marL="2286000" algn="l" defTabSz="457200" rtl="0" eaLnBrk="1" latinLnBrk="0" hangingPunct="1">
      <a:defRPr lang="tr-TR" sz="1200" kern="1200">
        <a:solidFill>
          <a:schemeClr val="tx1"/>
        </a:solidFill>
        <a:latin typeface="+mn-lt"/>
        <a:ea typeface="+mn-ea"/>
        <a:cs typeface="+mn-cs"/>
      </a:defRPr>
    </a:lvl6pPr>
    <a:lvl7pPr marL="2743200" algn="l" defTabSz="457200" rtl="0" eaLnBrk="1" latinLnBrk="0" hangingPunct="1">
      <a:defRPr lang="tr-TR" sz="1200" kern="1200">
        <a:solidFill>
          <a:schemeClr val="tx1"/>
        </a:solidFill>
        <a:latin typeface="+mn-lt"/>
        <a:ea typeface="+mn-ea"/>
        <a:cs typeface="+mn-cs"/>
      </a:defRPr>
    </a:lvl7pPr>
    <a:lvl8pPr marL="3200400" algn="l" defTabSz="457200" rtl="0" eaLnBrk="1" latinLnBrk="0" hangingPunct="1">
      <a:defRPr lang="tr-TR" sz="1200" kern="1200">
        <a:solidFill>
          <a:schemeClr val="tx1"/>
        </a:solidFill>
        <a:latin typeface="+mn-lt"/>
        <a:ea typeface="+mn-ea"/>
        <a:cs typeface="+mn-cs"/>
      </a:defRPr>
    </a:lvl8pPr>
    <a:lvl9pPr marL="3657600" algn="l" defTabSz="457200" rtl="0" eaLnBrk="1" latinLnBrk="0" hangingPunct="1">
      <a:defRPr lang="tr-TR" sz="1200" kern="1200">
        <a:solidFill>
          <a:schemeClr val="tx1"/>
        </a:solidFill>
        <a:latin typeface="+mn-lt"/>
        <a:ea typeface="+mn-ea"/>
        <a:cs typeface="+mn-cs"/>
      </a:defRPr>
    </a:lvl9pPr>
  </p:notesStyle>
</p:notesMaster>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Kaynak gösterimi — 5846 sayılı Kanun md. 34 eğitim amaçlı seçme ve toplama eserlerde eserin ve eser sahibinin adının belirtilmesini ister. Derste gösterilmesi gerekmez; dosyayı paylaşırken bu slaytı silmeyin.</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Haftanın iki süreç bileşenini tanıtmak: geçen hafta topladığımız ve düzenlediğimiz bilgileri bu hafta çözümleyeceğiz (ç) ve vardığımız sonuçları paylaşacağız (d). Ünite bu hafta biter.</a:t>
            </a:r>
          </a:p>
          <a:p/>
          <a:p>
            <a:r>
              <a:t>SÜRE: 80 dakikalık akış (ders planı, 29. hafta): giriş ve soru duvarı 6 · beşerî faktörler 11 · geçiş (E) 2 · s. 179 uygulaması 9 · TEKNOSAB adım 1-3 12 (40. dk) · TEKNOSAB adım 4-8 ve paylaşım 9 · sanal saha (E) 4 · düşün-eşleş-paylaş ve UYGULA 5 · performans görevi 13 · KWL ve öz değerlendirme 5 · kapanış 4.</a:t>
            </a:r>
          </a:p>
          <a:p/>
          <a:p>
            <a:r>
              <a:t>NASIL: Çıktıyı öğrencinin diliyle söyleyin: 'Geçen hafta doğanın ekonomik faaliyetlere etkisini gördük. Bugün insandan gelen faktörleri öğreneceğiz, TEKNOSAB'ın neden orada kurulduğunu çözümleyip bulgularımızı paylaşacağız ve hepsini bir diyagramda göstereceğiz.' Giriş aşaması (6 dk): ayraç ve yol haritası 1 dk · soru duvarı 3 dk · YOKLAMA 5 1 dk · proje teslimi hatırlatması 1 dk.</a:t>
            </a:r>
          </a:p>
          <a:p/>
          <a:p>
            <a:r>
              <a:t>KAYNAK: Program (2026) COĞ.9.5.1 ç-d (birebir); ders planı 29. hafta; kitap 5.1.2 (s. 177-183, 2026-2027 baskısı).</a:t>
            </a:r>
          </a:p>
          <a:p/>
          <a:p>
            <a:r>
              <a:t>NOT: Yeni baskı: s. 180'de Bursa'nın nüfusu '2024 yılı TÜİK verilerine göre yaklaşık 3,24 milyon'dur (eski baskıda 2023, 3,2 milyon); s. 181'deki UYGULA bölümü yenidir. Proje teslimleri bu hafta, ders akışından süre almadan (ders sonunda) tutanakla alınır. 29 Nisan Kût'ül Amâre Zaferi: ders içi ayrı etkinlik gerekmez, okul programı esastır.</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Dersin yol haritasını göstermek (30 sn).</a:t>
            </a:r>
          </a:p>
          <a:p/>
          <a:p>
            <a:r>
              <a:t>NASIL: Her istasyonu bir cümleyle söyleyin. Dersin ilk yarısı (40. dk) TEKNOSAB etkinliğinin ilk üç adımıyla biter; ikinci yarıda çözümleme, paylaşım, diyagram ve KWL vardır. Ünitenin sonunda evde çözülecek ölçme soruları (s. 184-185) sunumun ünite sonu bölümündedir (124-166).</a:t>
            </a:r>
          </a:p>
          <a:p/>
          <a:p>
            <a:r>
              <a:t>KAYNAK: Ders planı 29. hafta akışı.</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28. haftada soru duvarına asılan merak sorularına dönmek: hangileri doğal faktörlerle cevaplandı, hangileri bugünkü beşerî faktörleri bekliyor? (Programın 'başta yazılanlara dönüş' adımının ön hazırlığı, KB3.3.)</a:t>
            </a:r>
          </a:p>
          <a:p/>
          <a:p>
            <a:r>
              <a:t>SÜRE: Soru duvarı 3 dk (giriş aşamasının içinde).</a:t>
            </a:r>
          </a:p>
          <a:p/>
          <a:p>
            <a:r>
              <a:t>NASIL: Duvardan 3-4 notu yüksek sesle okuyun; sınıf 'D' mi 'B' mi diye karar verir, notun köşesine harf yazılır. Geçen hafta cevaplanan sorunun yanına ✓ konur. 28. haftanın 'Paylaşım ve ortak tablo' aşaması (s. 176 tablosu) yapılamadıysa soru duvarını 1 dakikaya indirin ve üç sözcüye s. 176 tablosunu 3 dakikada tamamlatın (28. haftanın paylaşım ve örnek cevap slaytları).</a:t>
            </a:r>
          </a:p>
          <a:p/>
          <a:p>
            <a:r>
              <a:t>BEKLENEN CEVAP: Örnek: 'Fabrikalar neden şehirlerin çevresine kurulur?' → B (iş gücü, pazar, ulaşım) · 'Neden her yerde tarım yapılamaz?' → D (iklim, topoğrafya; 28. hafta s. 176) · 'Japonya'da neden bu kadar fabrika var?' → B (teknoloji; bugün s. 178). İki faktöre birden dayanan soru ('Limanlar nereye kurulur?' → topoğrafya + ulaşım) iki harf alabilir.</a:t>
            </a:r>
          </a:p>
          <a:p/>
          <a:p>
            <a:r>
              <a:t>KAYNAK: Kitap s. 174-175 (doğal faktörler), s. 177-178 (beşerî faktörler); program: öğrencilerin en başta yazdıklarını incelemeleri ve merak ettiklerine cevap bulup bulamadıklarını tartışmaları (KB3.3).</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Ara yoklama: bu bölümün temel sonucunu tek soruyla yoklamak.</a:t>
            </a:r>
          </a:p>
          <a:p/>
          <a:p>
            <a:r>
              <a:t>NASIL: Öğrenciler 20 saniye düşünür, parmakla (1-5 = A-E) cevap gösterir; dağılıma bakıp cevap slaytına geçin. Geçen haftanın doğal faktörlerini hatırlatır, bugünün beşerî faktörlerine köprü kurar.</a:t>
            </a:r>
          </a:p>
          <a:p/>
          <a:p>
            <a:r>
              <a:t>BEKLENEN CEVAP: C) Sermaye</a:t>
            </a:r>
          </a:p>
          <a:p/>
          <a:p>
            <a:r>
              <a:t>KAYNAK: Kitap s. 175, 177.</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Doğru seçeneği gerekçesiyle göstermek.</a:t>
            </a:r>
          </a:p>
          <a:p/>
          <a:p>
            <a:r>
              <a:t>NASIL: 'Sermaye doğadan mı gelir, insandan mı?' diye sorun; cevabı bugünün konusuna bağlayın.</a:t>
            </a:r>
          </a:p>
          <a:p/>
          <a:p>
            <a:r>
              <a:t>SÖYLENEBİLİR: Sermaye insanların oluşturduğu beşerî bir faktördür (s. 177); toprak, bitki örtüsü, su kaynakları ve topoğrafik özellikler doğal faktörlerdir (s. 175).</a:t>
            </a:r>
          </a:p>
          <a:p/>
          <a:p>
            <a:r>
              <a:t>BEKLENEN CEVAP: C) Sermaye</a:t>
            </a:r>
          </a:p>
          <a:p/>
          <a:p>
            <a:r>
              <a:t>KAYNAK: Kitap s. 175, 177.</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Beşerî faktörlerin altısını (nüfus, iş gücü, sermaye, devlet politikaları, teknoloji, ulaşım) kitabın sırasıyla tanıtmak; defterdeki üç sütunlu tabloyu başlatmak.</a:t>
            </a:r>
          </a:p>
          <a:p/>
          <a:p>
            <a:r>
              <a:t>SÜRE: Beşerî faktörler 11 dk: genel bakış 1 · nüfus ve iş gücü 1,5 · sermaye 1,5 · devlet politikaları 1 · teknoloji 1,5 · kenar sorusu 1,5 · ulaşım 1 · boşluk doldurma 1 · YOKLAMA 6 1.</a:t>
            </a:r>
          </a:p>
          <a:p/>
          <a:p>
            <a:r>
              <a:t>NASIL: Kitabın cümlesini okutun; altı kartı sırayla gösterin. Öğrenciler defterine üç sütun açar: faktör · kitaptaki örnek · yaşadığım yerden bir örnek. Kitaptaki örnekler sonraki slaytlardadır; 'yaşadığım yerden' sütununu her faktörde bir öğrenciye sorun (ör. iş gücü: ilçemizdeki fabrikada çalışanlar; ulaşım: otoyol ve limanlar). Kişisel bilgi (ailenin işi, geliri) sorulmaz.</a:t>
            </a:r>
          </a:p>
          <a:p/>
          <a:p>
            <a:r>
              <a:t>KAYNAK: Kitap s. 177 ilk paragraf (birebir); devlet politikaları s. 177, teknoloji ve ulaşım s. 178 aynı alt başlıktadır (5.1.2).</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Nüfus ve iş gücünün ekonomik faaliyetlere etkisini kitabın örnekleriyle kurmak.</a:t>
            </a:r>
          </a:p>
          <a:p/>
          <a:p>
            <a:r>
              <a:t>NASIL: Üstteki iki kartı okutun. Görsel 5.6'yı gösterip sorun: 'Teknoloji arttıkça insana ihtiyaç bitti mi?' Sonra alttaki oku açıklayın: gelişmiş ülkeler üretimin bir kısmını iş gücü maliyeti düşük ülkelere kaydırır. 'Neden?' diye sorun.</a:t>
            </a:r>
          </a:p>
          <a:p/>
          <a:p>
            <a:r>
              <a:t>BEKLENEN CEVAP: İhtiyaç bitmedi: makineleşmeye rağmen iş gücünün varlığı ve maliyeti önemlidir; teknolojinin yoğun kullanıldığı ülkelerde vasıflı (eğitimli, nitelikli) iş gücüne ihtiyaç artar. Üretim kayar, çünkü Pakistan, Hindistan, Bangladeş gibi ülkelerde iş gücü maliyeti düşüktür. Nüfus artış hızı ekonomik büyümeden hızlı olursa kişi başına düşen gelir azalır, iş ve hizmet yetersiz kalır (bilimsel; 4. ünite nüfus politikalarıyla bağlantılı).</a:t>
            </a:r>
          </a:p>
          <a:p/>
          <a:p>
            <a:r>
              <a:t>KAYNAK: Kitap s. 177 (iki paragraf ve Görsel 5.6 açıklaması birebir). Denge cümlesinin açıklaması bilimsel, kitapta yok.</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Sermayenin tesislerin kuruluşu ve gelişmesindeki rolünü ve çok uluslu şirketlerin üretimi nasıl yaydığını göstermek.</a:t>
            </a:r>
          </a:p>
          <a:p/>
          <a:p>
            <a:r>
              <a:t>NASIL: Görsel 5.7'yi gösterip sorun: 'Bu fabrikayı kurmak ve çalıştırmak için neye para harcanır?' Sonra iki kartı okutun. Çok uluslu şirket: üretimini birden fazla ülkede yapan şirket.</a:t>
            </a:r>
          </a:p>
          <a:p/>
          <a:p>
            <a:r>
              <a:t>BEKLENEN CEVAP: Arsa ve bina, makineler ve robotlar, enerji, ham madde, çalışanların ücretleri (bilimsel, 9. sınıf düzeyi). Bu yüzden yeterli sermayesi olan ülkelerde ekonomik faaliyetler yoğunlaşır.</a:t>
            </a:r>
          </a:p>
          <a:p/>
          <a:p>
            <a:r>
              <a:t>KAYNAK: Kitap s. 177 (sermaye ve çok uluslu şirketler paragrafları, Görsel 5.7 açıklaması birebir).</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Devletlerin ekonomi politikalarıyla ekonomik faaliyetleri etkilediğini ve yabancı sermayenin istikrar arayışını göstermek.</a:t>
            </a:r>
          </a:p>
          <a:p/>
          <a:p>
            <a:r>
              <a:t>NASIL: Kartları okutun. Sorun: 'Bir yatırımcı fabrikasını kuracağı ülkeyi seçerken neden istikrara bakar?' Ülke adı vermeyin; kitap bu konuda ülke örneği vermez.</a:t>
            </a:r>
          </a:p>
          <a:p/>
          <a:p>
            <a:r>
              <a:t>BEKLENEN CEVAP: Kurallar sık değişmezse, mahkemeler işlerse ve ortam güvenliyse yatırımcı sermayesinin güvende olduğunu bilir, uzun süreli yatırım yapar (bilimsel, 9. sınıf düzeyi). Ekonomik, hukuki ve siyasal istikrar sağlandığı ölçüde yabancı sermaye gelir.</a:t>
            </a:r>
          </a:p>
          <a:p/>
          <a:p>
            <a:r>
              <a:t>KAYNAK: Kitap s. 177 son paragraf (birebir).</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Teknolojinin ekonomik gelişmedeki rolünü Japonya örneği ve dört sanayi devrimiyle göstermek.</a:t>
            </a:r>
          </a:p>
          <a:p/>
          <a:p>
            <a:r>
              <a:t>NASIL: Japonya cümlesini okutun ve sorun: 'Japonya hangi doğal faktörün eksikliğini hangi beşerî faktörle aştı?' Sonra Görsel 5.8'i soldan sağa okuyun: 1.0 buhar, 2.0 elektrik ve seri üretim, 3.0 elektronik ve otomasyon, 4.0 birbirine bağlı dijital teknolojiler.</a:t>
            </a:r>
          </a:p>
          <a:p/>
          <a:p>
            <a:r>
              <a:t>BEKLENEN CEVAP: Ham madde (doğal) eksikliğini yüksek teknoloji (beşerî) ile aştı. Her devrimde üretim maliyetleri düştü, hız ve kalite arttı.</a:t>
            </a:r>
          </a:p>
          <a:p/>
          <a:p>
            <a:r>
              <a:t>KAYNAK: Kitap s. 178 (teknoloji paragrafları birebir; Görsel 5.8 'Sanayi devrimleri (OECD)' kırpıldı, künye dışarıda). Görsel 5.8 çalışma kâğıdının 8. maddesidir.</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Kitabın s. 178 kenar sorusu: sanayideki teknolojik gelişmelerin tarım, ulaşım-ticaret, iletişim-hizmetler ve turizme etkisini örneklemek.</a:t>
            </a:r>
          </a:p>
          <a:p/>
          <a:p>
            <a:r>
              <a:t>NASIL: İkililer 1 dakika düşünür; dört sütundan en az ikisine birer örnek bulur. İki ikiliden cevap alın, sonra örnek cevap slaytını açın.</a:t>
            </a:r>
          </a:p>
          <a:p/>
          <a:p>
            <a:r>
              <a:t>BEKLENEN CEVAP: Örnek cevap izleyen slaytta.</a:t>
            </a:r>
          </a:p>
          <a:p/>
          <a:p>
            <a:r>
              <a:t>KAYNAK: Kitap s. 178 kenar sorusu (birebir).</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Kenar sorusunun örnek cevabı: dört faaliyet, her birinde bir örnek; karekoddaki bilgi görselinden iki harita.</a:t>
            </a:r>
          </a:p>
          <a:p/>
          <a:p>
            <a:r>
              <a:t>NASIL: İkililerin örnekleriyle karşılaştırın. Sağdaki iki harita kitabın karekodundaki 'Teknolojik Değişim ve Ekonomik Gelişme' bilgi görselindendir: su altı telgraf kablolarından su altı internet kablolarına haberleşme ağı sıklaşmıştır; ticaret ve hizmetler bu ağla küreselleşir. Görselin zaman çizelgesindeki diğer olaylar (Süveyş ve Panama kanalları, Model T, uydu) isterseniz tahtada açılır; öğrenci telefonu kullanılmaz.</a:t>
            </a:r>
          </a:p>
          <a:p/>
          <a:p>
            <a:r>
              <a:t>BEKLENEN CEVAP: Tarım: makineleşmeyle verim ve üretim arttı. Ulaşım ve ticaret: buhar gücüyle okyanuslar aşıldı, nakliye rotaları ve ticaret limanları gelişti. İletişim ve hizmetler: telgraftan internete haberleşme hızlandı; bilişim, pazarlama ve kargo hizmetleri yaygınlaştı. Turizm: havacılık ve büyük hava limanları uzak yerleri yakınlaştırdı. Gerekçeli başka örnekler kabul.</a:t>
            </a:r>
          </a:p>
          <a:p/>
          <a:p>
            <a:r>
              <a:t>KAYNAK: Kitap s. 178 ('Tarım, sanayi ve hizmet sektörlerinde teknolojiyi etkin kullanan ülkelerin ekonomik gelişmişlik düzeylerini yükselttiği…'; 'Turizm faaliyetlerinin küresel ölçekte gelişmesinde ulaşım sistemlerindeki gelişmelerin payı büyüktür.'); EBA 05_12 bilgi görseli (tırnak içindeki ifadeler görseldeki yazılardır). Tarım makineleri örneği bilimsel.</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Ulaşımın üretim, dağıtım ve tüketimdeki doğrudan etkisini ve büyük limanlarla sanayi-ticaret arasındaki bağı Harita 5.1 ile göstermek.</a:t>
            </a:r>
          </a:p>
          <a:p/>
          <a:p>
            <a:r>
              <a:t>NASIL: Soldaki zinciri okutun: ham madde fabrikaya, ürün pazara ulaşımla gider. Haritayı gösterip sorun: 'En büyük daireler (24 milyondan fazla konteyner) nerede toplanmış?' Uygulama (s. 179) sırasında bu haritaya döneceğiz.</a:t>
            </a:r>
          </a:p>
          <a:p/>
          <a:p>
            <a:r>
              <a:t>BEKLENEN CEVAP: En büyük daireler (24 milyondan fazla konteyner) Doğu ve Güneydoğu Asya kıyılarındadır; Batı Avrupa ve Kuzey Amerika kıyılarında da büyük limanlar vardır. Bu yerler büyük sanayi ve ticaret tesislerinin de bulunduğu yerlerdir (s. 178).</a:t>
            </a:r>
          </a:p>
          <a:p/>
          <a:p>
            <a:r>
              <a:t>KAYNAK: Kitap s. 178 (ulaşım paragrafları birebir; Harita 5.1 'Dünyanın başlıca konteyner limanları' kırpıldı, künye dışarıda — daire büyüklükleri haritanın lejantından okunur).</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OGM Materyal 'beşerî faktörler' boşluk doldurma uygulamasıyla paralel: altı beşerî faktörü kitabın cümleleriyle pekiştirmek.</a:t>
            </a:r>
          </a:p>
          <a:p/>
          <a:p>
            <a:r>
              <a:t>NASIL: Cümleleri sırayla bir öğrenciye okutun; boşluğu sınıf sözlü tamamlar, kutudaki kelimeler ipucudur (1 dk).</a:t>
            </a:r>
          </a:p>
          <a:p/>
          <a:p>
            <a:r>
              <a:t>BEKLENEN CEVAP: 1 iş gücünün · 2 sermayeye · 3 yabancı · 4 sanayi · 5 ulaşım · 6 limanlara.</a:t>
            </a:r>
          </a:p>
          <a:p/>
          <a:p>
            <a:r>
              <a:t>KAYNAK: Kitap s. 177-178 cümleleri (birebir; 4. cümle kısaltıldı); OGM Materyal etkileşimli uygulama 158. OGM: doğru kelimeler OGM'de 'limanlara · iş gücüne · yabancı · sanayi · sermayeye · ulaşım' sırasıyla; OGM'nin 'iş gücüne' biçimi kitabın cümlesinde 'iş gücünün'dür — sunum kitabın cümlesini kullanır. Çalışma kâğıdının 7. maddesiyle aynı.</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OGM Materyal 'beşerî faktörler' boşluk doldurma uygulamasıyla paralel: altı beşerî faktörü kitabın cümleleriyle pekiştirmek.</a:t>
            </a:r>
          </a:p>
          <a:p/>
          <a:p>
            <a:r>
              <a:t>NASIL: Kalın kelimeler boşlukların cevabıdır; her cümlenin hangi faktörü anlattığını sorun: 1 iş gücü, 2 sermaye, 3 devlet politikaları, 4 teknoloji, 5-6 ulaşım.</a:t>
            </a:r>
          </a:p>
          <a:p/>
          <a:p>
            <a:r>
              <a:t>BEKLENEN CEVAP: 1 iş gücünün · 2 sermayeye · 3 yabancı · 4 sanayi · 5 ulaşım · 6 limanlara.</a:t>
            </a:r>
          </a:p>
          <a:p/>
          <a:p>
            <a:r>
              <a:t>KAYNAK: Kitap s. 177-178 cümleleri (birebir; 4. cümle kısaltıldı); OGM Materyal etkileşimli uygulama 158. OGM: doğru kelimeler OGM'de 'limanlara · iş gücüne · yabancı · sanayi · sermayeye · ulaşım' sırasıyla; OGM'nin 'iş gücüne' biçimi kitabın cümlesinde 'iş gücünün'dür — sunum kitabın cümlesini kullanır. Çalışma kâğıdının 7. maddesiyle aynı.</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Ara yoklama: bu bölümün temel sonucunu tek soruyla yoklamak.</a:t>
            </a:r>
          </a:p>
          <a:p/>
          <a:p>
            <a:r>
              <a:t>NASIL: Öğrenciler 20 saniye düşünür, parmakla (1-5 = A-E) cevap gösterir; dağılıma bakıp cevap slaytına geçin. Seçeneklerden dördü doğal faktördür; doğru cevap beşerî bir faktördür.</a:t>
            </a:r>
          </a:p>
          <a:p/>
          <a:p>
            <a:r>
              <a:t>BEKLENEN CEVAP: A) Yüksek teknoloji</a:t>
            </a:r>
          </a:p>
          <a:p/>
          <a:p>
            <a:r>
              <a:t>KAYNAK: Kitap s. 178.</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Doğru seçeneği gerekçesiyle göstermek.</a:t>
            </a:r>
          </a:p>
          <a:p/>
          <a:p>
            <a:r>
              <a:t>NASIL: Japonya'da ham madde (doğal) eksikliğinin teknoloji (beşerî) ile aşıldığını vurgulayın.</a:t>
            </a:r>
          </a:p>
          <a:p/>
          <a:p>
            <a:r>
              <a:t>SÖYLENEBİLİR: Örneğin Japonya, sanayi üretiminde yeterli ham maddeye sahip olmamasına rağmen kullandığı yüksek teknoloji sayesinde sanayi faaliyetlerinin geliştiği önemli bir ülke hâline gelmiştir.</a:t>
            </a:r>
          </a:p>
          <a:p/>
          <a:p>
            <a:r>
              <a:t>BEKLENEN CEVAP: A) Yüksek teknoloji</a:t>
            </a:r>
          </a:p>
          <a:p/>
          <a:p>
            <a:r>
              <a:t>KAYNAK: Kitap s. 178.</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Grup çalışmasına geçiş: rolleri ve kuralları hatırlatmak.</a:t>
            </a:r>
          </a:p>
          <a:p/>
          <a:p>
            <a:r>
              <a:t>SÜRE: Geçiş 2 dk (esnek).</a:t>
            </a:r>
          </a:p>
          <a:p/>
          <a:p>
            <a:r>
              <a:t>NASIL: Ayağa kalkma molası; sıralar 4'lü adalara çevrilir, malzeme sorumluları grup setlerini alır. Roller her hafta döner; 4 kişilik grupta ilk dört rol, 5 kişilikte kontrolcü de vardır. Bu hafta ünitenin en yoğun haftasıdır: aşama süreleri tahtada yazılı kalsın. Harita/veri okuyucu s. 179 haritasını ve TEKNOSAB uydu görüntüsünü okur; sözcü TEKNOSAB'ın 8. adımı için not tutar.</a:t>
            </a:r>
          </a:p>
          <a:p/>
          <a:p>
            <a:r>
              <a:t>KAYNAK: Ders planı (34 kişilik sınıf için grup düzeni: 6 × 4 + 2 × 5; sınıf mevcuduna göre uyarlanır).</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Kitabın s. 179 uygulamasını gruplara dağıtmak: sanayinin yoğunlaştığı bölgeler ve beşerî faktörler (bütün gruplar), turizm (1-4), sanayi ile ticaretin benzerliği (5-8).</a:t>
            </a:r>
          </a:p>
          <a:p/>
          <a:p>
            <a:r>
              <a:t>SÜRE: Uygulama 9 dk: görev dağılımı 0,5 · grup çalışması 5,5 · paylaşım ve örnek cevaplar 2,5 · YOKLAMA 7 0,5.</a:t>
            </a:r>
          </a:p>
          <a:p/>
          <a:p>
            <a:r>
              <a:t>NASIL: Soruları okutun, grupların sorularını tahtaya yazın. Önce sanayi haritası (izleyen slayt), sonra karekoddaki iki harita etkileşimli tahtada dönüşümlü açılır; s. 179 tablo kopyası gruplardadır. Dolaşırken: 'Bu bölgeyi Harita 5.1'deki büyük limanlarla karşılaştır.' Paylaşımda üç sözcü (1., 2. ve 3. sorudan birer grup) konuşur.</a:t>
            </a:r>
          </a:p>
          <a:p/>
          <a:p>
            <a:r>
              <a:t>KAYNAK: Kitap s. 179 UYGULAMA (yönerge ve üç soru birebir; künyesi yoktur); karekod: dünya turizm haritası, dünya ticaret ağı ve hacmi haritası (EBA 05_07).</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OGM Materyal 'başlıca sanayi bölgeleri' uygulamasıyla paralel: haritada birincil gösterilen bölgeleri bulmak (1. sorunun tablosunun ilk sütunu).</a:t>
            </a:r>
          </a:p>
          <a:p/>
          <a:p>
            <a:r>
              <a:t>NASIL: Harita okuyucular turuncu alanları bulur; yazıcı seçtikleri bölgeleri tablonun ilk sütununa yazar. Gri noktalar 'diğer' sanayi bölgeleridir.</a:t>
            </a:r>
          </a:p>
          <a:p/>
          <a:p>
            <a:r>
              <a:t>BEKLENEN CEVAP: Birincil: ABD'nin kuzeydoğusu, Batı Avrupa, Rusya (Avrupa kesimi), Doğu Asya. Değil: Orta Asya, Okyanusya, Kuzey Afrika.</a:t>
            </a:r>
          </a:p>
          <a:p/>
          <a:p>
            <a:r>
              <a:t>KAYNAK: Kitap s. 179 haritası (OECD 2023; birincil alanlar haritanın turuncu çiziminden); OGM Materyal etkileşimli uygulama 165 (doğru: Rusya, ABD'nin kuzeydoğusu, Batı Avrupa, Doğu Asya; yanlış: Orta Asya, Okyanusya, Kuzey Afrika). Çalışma kâğıdının 9. maddesiyle aynı seçenekler.</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OGM Materyal 'başlıca sanayi bölgeleri' uygulamasıyla paralel: haritada birincil gösterilen bölgeleri bulmak (1. sorunun tablosunun ilk sütunu).</a:t>
            </a:r>
          </a:p>
          <a:p/>
          <a:p>
            <a:r>
              <a:t>NASIL: Halkalı dört alanı sırayla gösterin. Japonya'da turuncu alan yoktur, yalnız gri noktalar vardır: haritada 'diğer' sanayi bölgesi olarak gösterilmiştir; Doğu Asya'nın birincil alanları Çin'in doğusundadır. Orta Asya, Okyanusya ve Kuzey Afrika'da birincil alan yoktur.</a:t>
            </a:r>
          </a:p>
          <a:p/>
          <a:p>
            <a:r>
              <a:t>BEKLENEN CEVAP: Birincil: ABD'nin kuzeydoğusu, Batı Avrupa, Rusya (Avrupa kesimi), Doğu Asya. Değil: Orta Asya, Okyanusya, Kuzey Afrika.</a:t>
            </a:r>
          </a:p>
          <a:p/>
          <a:p>
            <a:r>
              <a:t>KAYNAK: Kitap s. 179 haritası (OECD 2023; birincil alanlar haritanın turuncu çiziminden); OGM Materyal etkileşimli uygulama 165 (doğru: Rusya, ABD'nin kuzeydoğusu, Batı Avrupa, Doğu Asya; yanlış: Orta Asya, Okyanusya, Kuzey Afrika). Çalışma kâğıdının 9. maddesiyle aynı seçenekler.</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1. sorunun tablosu: dört birincil sanayi bölgesinde etkili beşerî faktörler (ölçütlü örnek).</a:t>
            </a:r>
          </a:p>
          <a:p/>
          <a:p>
            <a:r>
              <a:t>NASIL: Grupların tablolarıyla karşılaştırın. Ölçüt: her bölgeye en az iki beşerî faktör; faktörler kitaptaki altı beşerî faktörden (s. 177-178). Bölgeye özgü kanıtı haritalardan isteyin (limanlar Harita 5.1'de).</a:t>
            </a:r>
          </a:p>
          <a:p/>
          <a:p>
            <a:r>
              <a:t>BEKLENEN CEVAP: Dört bölgede ortak: yeterli sermaye ve teknoloji, nitelikli iş gücü, gelişmiş ulaşım ve büyük limanlar, kalabalık nüfus ve büyük pazar, istikrarlı ekonomi politikaları. Gerekçeli başka faktörler kabul.</a:t>
            </a:r>
          </a:p>
          <a:p/>
          <a:p>
            <a:r>
              <a:t>KAYNAK: Kitap s. 177 ('yeterli sermayeye sahip ülkeler, ekonomik faaliyetlerin yoğunlaştığı yerlerdir'), s. 178 ('büyük ve işlek limanlara sahip ülkeler, aynı zamanda büyük sanayi veya ticaret tesislerinin de bulunduğu yerlerdir'; Harita 5.1). Bölge-faktör eşlemesi bilimsel, 9. sınıf düzeyi; kitapta bölge bazında liste yoktur.</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2. soru: karekoddaki dünya turizm haritasından turizmin yoğunlaştığı ülkeleri okuyup yoğunlaşmanın beşerî nedenlerini bulmak.</a:t>
            </a:r>
          </a:p>
          <a:p/>
          <a:p>
            <a:r>
              <a:t>NASIL: Haritayı etkileşimli tahtada büyütün; renk sınıflarını sağdaki büyütülmüş lejanttan okutun. Önce en koyu renkli ülkeleri buldurun, sonra 'Turisti oraya çeken, insanın yaptığı ne?' diye sorun. İklim, kıyı ve doğal güzellikler doğal faktördür; soru beşerî faktörleri ister.</a:t>
            </a:r>
          </a:p>
          <a:p/>
          <a:p>
            <a:r>
              <a:t>BEKLENEN CEVAP: Örnek cevap izleyen slaytta.</a:t>
            </a:r>
          </a:p>
          <a:p/>
          <a:p>
            <a:r>
              <a:t>KAYNAK: Kitap s. 179 2. soru (birebir); karekod: Dünya Turizm Haritası (DTrÖ, 2025) — EBA 05_07 (lejant sınıfları ve renkleri haritadan).</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2. sorunun örnek cevabı: haritadan okunan ülkeler ve turizmi yoğunlaştıran beşerî faktörler.</a:t>
            </a:r>
          </a:p>
          <a:p/>
          <a:p>
            <a:r>
              <a:t>NASIL: Sözcünün cevabından sonra açın. Ülkeleri haritadan gösterin; beşerî faktörleri kitaptaki beşerî faktörlerle eşleyin (ulaşım, sermaye, devlet politikaları, iş gücü, nüfus).</a:t>
            </a:r>
          </a:p>
          <a:p/>
          <a:p>
            <a:r>
              <a:t>BEKLENEN CEVAP: En koyu renk (25 milyondan fazla gelen turist): Kuzey Amerika (ABD, Kanada, Meksika), Avrupa'nın batısı ve Akdeniz kıyısı (Fransa, İspanya, İtalya, Yunanistan, Türkiye), Doğu Asya (Çin, Japonya) — haritadan okunur. Beşerî faktörler: gelişmiş ulaşım (havalimanı, otoyol, demir yolu, liman), konaklama tesislerine yatırılan sermaye ve hizmet veren iş gücü, tarihî ve kültürel miras, istikrar-güvenlik ve tanıtım, turist gönderen kalabalık ve geliri yüksek nüfusa yakınlık.</a:t>
            </a:r>
          </a:p>
          <a:p/>
          <a:p>
            <a:r>
              <a:t>KAYNAK: Kitap s. 178 ('Turizm faaliyetlerinin küresel ölçekte gelişmesinde ulaşım sistemlerindeki gelişmelerin payı büyüktür.'), s. 177 (sermaye; istikrar), s. 175 (doğal güzellikler doğal faktördür); EBA 05_07 turizm haritası (ülkeler haritanın en koyu renk sınıfından okundu). Tarihî-kültürel miras, tanıtım ve yakın pazar: bilimsel, 9. sınıf düzeyi.</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3. soru: sanayi haritası (s. 179) ile karekoddaki ticaret ağı ve hacmi haritasını karşılaştırıp ortak beşerî faktörleri bulmak.</a:t>
            </a:r>
          </a:p>
          <a:p/>
          <a:p>
            <a:r>
              <a:t>NASIL: Ticaret haritasını tahtada açın; değerler sağdaki tabloda büyüktür. 'Birincil sanayi bölgeleri hangi ticaret bölgelerinin içinde?' diye sorun; sonra ortak beşerî faktörleri buldurun.</a:t>
            </a:r>
          </a:p>
          <a:p/>
          <a:p>
            <a:r>
              <a:t>BEKLENEN CEVAP: Örnek cevap izleyen slaytta.</a:t>
            </a:r>
          </a:p>
          <a:p/>
          <a:p>
            <a:r>
              <a:t>KAYNAK: Kitap s. 179 3. soru (birebir); karekod: Dünya Ticaret Ağı ve Hacmi Haritası (DTÖ, 2023) — EBA 05_07 (bölge değerleri, milyar dolar).</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3. sorunun örnek cevabı: sanayi bölgeleriyle ticaret merkezlerinin örtüşmesi ve ortak beşerî faktörler.</a:t>
            </a:r>
          </a:p>
          <a:p/>
          <a:p>
            <a:r>
              <a:t>NASIL: Tabloyu satır satır okutun. Son satırı tartıştırın: Rusya'daki birincil sanayi bölgesinin çevresinde Harita 5.1'de büyük konteyner limanı yoktur ve BDT'nin ticaret hacmi küçüktür. Siyasi yorum yapılmaz; yalnız haritalardaki veriler karşılaştırılır.</a:t>
            </a:r>
          </a:p>
          <a:p/>
          <a:p>
            <a:r>
              <a:t>BEKLENEN CEVAP: Üç büyük sanayi bölgesi (ABD'nin kuzeydoğusu, Batı Avrupa, Doğu Asya) ticaret hacmi en büyük üç bölgededir: Kuzey Amerika 4.299, Avrupa 12.220, Asya-Pasifik 10.831 milyar $. Ortak beşerî faktörler: sermaye, teknoloji, nitelikli iş gücü, büyük ve işlek limanlar ve gelişmiş ulaşım, kalabalık nüfus ve büyük pazar, istikrarlı ekonomi politikaları. Rusya'da birincil sanayi bölgesi vardır ama BDT'nin ticaret hacmi 814 milyar $'dır.</a:t>
            </a:r>
          </a:p>
          <a:p/>
          <a:p>
            <a:r>
              <a:t>KAYNAK: Kitap s. 179 haritası; s. 178 ('büyük ve işlek limanlara sahip ülkeler, aynı zamanda büyük sanayi veya ticaret tesislerinin de bulunduğu yerlerdir'; Harita 5.1); s. 177 (sermaye, istikrar); EBA 05_07 ticaret ağı ve hacmi haritası (DTÖ, 2023).</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Ara yoklama: bu bölümün temel sonucunu tek soruyla yoklamak.</a:t>
            </a:r>
          </a:p>
          <a:p/>
          <a:p>
            <a:r>
              <a:t>NASIL: Öğrenciler 20 saniye düşünür, parmakla (1-5 = A-E) cevap gösterir; dağılıma bakıp cevap slaytına geçin. Haritalar tahtada açık kalabilir.</a:t>
            </a:r>
          </a:p>
          <a:p/>
          <a:p>
            <a:r>
              <a:t>BEKLENEN CEVAP: A) Birincil sanayi bölgelerinin çoğu ticaret hacmi en büyük bölgelerdedir.</a:t>
            </a:r>
          </a:p>
          <a:p/>
          <a:p>
            <a:r>
              <a:t>KAYNAK: Kitap s. 179 haritası; EBA 05_07 ticaret ağı ve hacmi haritası (DTÖ, 2023).</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Doğru seçeneği gerekçesiyle göstermek.</a:t>
            </a:r>
          </a:p>
          <a:p/>
          <a:p>
            <a:r>
              <a:t>NASIL: D seçeneğini Rusya'nın iç kesimindeki birincil sanayi bölgesiyle çürütün; B, C ve E haritalarla çelişir.</a:t>
            </a:r>
          </a:p>
          <a:p/>
          <a:p>
            <a:r>
              <a:t>SÖYLENEBİLİR: ABD'nin kuzeydoğusu, Batı Avrupa ve Doğu Asya; Kuzey Amerika (4.299), Avrupa (12.220) ve Asya-Pasifik (10.831 milyar $) ticaret bölgelerindedir (DTÖ, 2023).</a:t>
            </a:r>
          </a:p>
          <a:p/>
          <a:p>
            <a:r>
              <a:t>BEKLENEN CEVAP: A) Birincil sanayi bölgelerinin çoğu ticaret hacmi en büyük bölgelerdedir.</a:t>
            </a:r>
          </a:p>
          <a:p/>
          <a:p>
            <a:r>
              <a:t>KAYNAK: Kitap s. 179 haritası; EBA 05_07 ticaret ağı ve hacmi haritası (DTÖ, 2023).</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Kitabın s. 180-181 etkinliğinin künyesini, kaynaklarını ve bugünkü adım planını tanıtmak (süreç bileşenleri ç ve d'nin ana etkinliği).</a:t>
            </a:r>
          </a:p>
          <a:p/>
          <a:p>
            <a:r>
              <a:t>SÜRE: TEKNOSAB adım 1-3 12 dk: künye ve genel bilgiler 1 · adım 1 2 · adım 2 5 (video yaklaşık 3 dk dâhil) · adım 3 4. 40. dakika bu aşamanın sonudur.</a:t>
            </a:r>
          </a:p>
          <a:p/>
          <a:p>
            <a:r>
              <a:t>NASIL: Amacı ve beceriyi okutun. Dört kaynağı gösterin: metin, uydu görüntüsü, grafik, e-içerik. Gruplar TEKNOSAB çalışma yaprağında (s. 181 düzeni) çalışır. Süre darsa video, gruplar 1. adımda soru yazarken tahtada sessiz oynatılır.</a:t>
            </a:r>
          </a:p>
          <a:p/>
          <a:p>
            <a:r>
              <a:t>KAYNAK: Kitap s. 180 (künye, yönerge, başlık birebir) ve s. 181 (adımlar).</a:t>
            </a:r>
          </a:p>
          <a:p/>
          <a:p>
            <a:r>
              <a:t>NOT: e-içerik: kitabın s. 180 karekodu, EBA'da '9.5-TEKNOSAB' (188,5 sn, alt yazısız). Video bu sunum hazırlanırken İNCELENEMEDİ: derse girmeden önce kendiniz izleyin; slaytlardaki bilgiler kitabın s. 180 metninden, tablosundan, uydu görüntüsünden ve grafiğindendir. Video öğretmen bilgisayarından oynatılır; öğrenci telefonu kullanılmaz.</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TEKNOSAB'ı tanıtmak: teknoloji odaklı yeni nesil organize sanayi bölgesi; birimleri.</a:t>
            </a:r>
          </a:p>
          <a:p/>
          <a:p>
            <a:r>
              <a:t>NASIL: Üstteki iki cümleyi okutun; tabloyu satır satır gösterin. 'Organize sanayi bölgesi: sanayi tesislerinin planlı biçimde bir arada kurulduğu alan' (bilimsel tanım, kitapta yok). 1. adımda yazılacak sorular için ipucu: tabloda ulaşım, enerji ve üniversite var.</a:t>
            </a:r>
          </a:p>
          <a:p/>
          <a:p>
            <a:r>
              <a:t>KAYNAK: Kitap s. 180 'GENEL BİLGİLER' (cümleler ve tablo birebir).</a:t>
            </a:r>
          </a:p>
          <a:p/>
          <a:p>
            <a:r>
              <a:t>NOT: Organize sanayi bölgesi tanımı bilimseldir; kitapta tanım kutusu yoktur.</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1. adım: coğrafyanın temel sorularıyla doğal ve beşerî faktörlere yönelik araştırma soruları geliştirmek (süreç bileşeni a'nın tekrarı, çözümlemenin başlangıcı).</a:t>
            </a:r>
          </a:p>
          <a:p/>
          <a:p>
            <a:r>
              <a:t>NASIL: 2 dakika: her grup en az iki doğal, iki beşerî soru yazar; çiplerden birini kullanmak zorunludur. Dolaşırken: 'Bu sorunun cevabı kaynaklarımızda aranabilir mi?'</a:t>
            </a:r>
          </a:p>
          <a:p/>
          <a:p>
            <a:r>
              <a:t>BEKLENEN CEVAP: Örnek cevap izleyen slaytta.</a:t>
            </a:r>
          </a:p>
          <a:p/>
          <a:p>
            <a:r>
              <a:t>KAYNAK: Kitap s. 181 1. adım (yönerge ve temel sorular birebir; tablo başlıkları kitaptaki gibi).</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1. adımın ölçütlü örneği: her soru bir temel soruya dayanır ve cevabı kaynaklarda aranabilir.</a:t>
            </a:r>
          </a:p>
          <a:p/>
          <a:p>
            <a:r>
              <a:t>NASIL: Grupların sorularıyla karşılaştırın; doğru-yanlış değil nitelik aranır. Son soru ('Ne zaman?') bilerek seçildi: cevabı metinde yoktur; 4. adımda 'eksik' diye işaretlenecek.</a:t>
            </a:r>
          </a:p>
          <a:p/>
          <a:p>
            <a:r>
              <a:t>BEKLENEN CEVAP: Doğal: TEKNOSAB nerede, yer şekilleri nasıl? · İklim üretimi ve enerji santrallerini nasıl etkiler? · Nilüfer Çayı Havzası'nda olması neden önemli? Beşerî: Neden bu kavşak noktasında? · Bursa'nın nüfusu ve sanayisi nasıl etkiler? · Kuruluşu ne zaman başladı?</a:t>
            </a:r>
          </a:p>
          <a:p/>
          <a:p>
            <a:r>
              <a:t>KAYNAK: Kitap s. 181 1. adım; sorular s. 180 metnine göre kurgulanmış örnektir.</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2. adım: metindeki coğrafi özellikleri düzenli bir veri kartı olarak okumak.</a:t>
            </a:r>
          </a:p>
          <a:p/>
          <a:p>
            <a:r>
              <a:t>NASIL: 2. adımın yönergesini okutun (aşağıda notta). Gruplar tabloyu kitaptaki metinle karşılaştırır; her satırın 'doğal mı, beşerî mi?' sorusunu 3. adıma bırakın. Not: metin güneydeki yola 'Bursa-Karacabey Kara Yolu' der, uydu görüntüsündeki etiket 'Bursa-İzmir Kara Yolu'dur (karşılaştırma örneği, adım 2'nin örnek cevabında).</a:t>
            </a:r>
          </a:p>
          <a:p/>
          <a:p>
            <a:r>
              <a:t>KAYNAK: Kitap s. 180 'COĞRAFİ ÖZELLİKLERİ' (ifadeler birebir; 2026-2027 baskısı: Bursa 2024 TÜİK ≈ 3,24 milyon).</a:t>
            </a:r>
          </a:p>
          <a:p/>
          <a:p>
            <a:r>
              <a:t>NOT: Adım 2 yönergesi (s. 181): Oluşturduğunuz soruları cevaplayabilmek için yukarıda verilen açıklama metninin yanı sıra harita, grafik, e-içerik, etkileşimli tahta ve ders kitabınızdan yararlanarak bilgi toplayınız. Farklı kaynaklardan toplayacağınız bilgileri karşılaştırarak bu bilgilerin doğruluğunu kontrol ediniz.</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Uydu görüntüsündeki coğrafi verileri okumak (coğrafi temsil).</a:t>
            </a:r>
          </a:p>
          <a:p/>
          <a:p>
            <a:r>
              <a:t>NASIL: Görüntüyü büyük gösterin; sağdaki listeyi harita okuyucular sırayla bulur. 'Planlanan Çalışmalar' lejantına dikkat: TEKNOSAB alanı, liman, rüzgâr türbini ve güneş paneli planlanan çalışmalardır. Liman simgesinin adı görüntüde yazmaz; adlandırmayın.</a:t>
            </a:r>
          </a:p>
          <a:p/>
          <a:p>
            <a:r>
              <a:t>BEKLENEN CEVAP: Marmara Denizi kuzeyde; İstanbul-İzmir Otoyolu TEKNOSAB alanının kuzeyinden, 'Bursa-İzmir Kara Yolu' etiketli yol güneyinden geçer; liman ile demir yolu ve kara yolu bağlantıları, demir yolu projesi; Uluabat Gölü güneybatıda; rüzgâr türbini ve güneş paneli.</a:t>
            </a:r>
          </a:p>
          <a:p/>
          <a:p>
            <a:r>
              <a:t>KAYNAK: Kitap s. 180 uydu görüntüsü (etiketleriyle kırpıldı; 'Aşağıda TEKNOSAB’ a ait uydu görüntüsü üzerinde coğrafi veriler işaretlenmiştir.' — kitapta 'TEKNOSAB’ a' fazla boşlukla dizilmiştir).</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İklim grafiğini okuyup metindeki 'geçiş iklimi' bilgisiyle karşılaştırmak (farklı kaynakları karşılaştırma, OB1).</a:t>
            </a:r>
          </a:p>
          <a:p/>
          <a:p>
            <a:r>
              <a:t>NASIL: Eksenleri okutun: solda sıcaklık (°C, kırmızı çizgi), sağda yağış (mm, mavi sütun). Üç soruyu sorun; değerler grafikten yaklaşık okunur. Cevaplar izleyen slaytta.</a:t>
            </a:r>
          </a:p>
          <a:p/>
          <a:p>
            <a:r>
              <a:t>BEKLENEN CEVAP: 1) En sıcak Temmuz-Ağustos (yaklaşık 24-25 °C), en soğuk Ocak (yaklaşık 5 °C). 2) En yağışlı Aralık (yaklaşık 100 mm), en az yağış Ağustos (yaklaşık 18 mm). 3) Uyumlu: yaz aylarında yağış azalır ama kesilmez, kışın yağış fazladır.</a:t>
            </a:r>
          </a:p>
          <a:p/>
          <a:p>
            <a:r>
              <a:t>KAYNAK: Kitap s. 180 grafik (Bursa, Enlem 40° 13' K, Boylam 29° 00' D, Yükselti 100 m); değerler grafiğin çiziminden okunmuştur (yaklaşık): sıcaklık Ocak 5,4 · Temmuz 24,5 · Ağustos 24,4 °C; yağış Temmuz 22 · Ağustos 18 · Aralık 99 mm.</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2. adımın örneği: aynı bilgiyi farklı kaynaklarda karşılaştırıp doğrulamak (OB1); grafik sorularının cevabı.</a:t>
            </a:r>
          </a:p>
          <a:p/>
          <a:p>
            <a:r>
              <a:t>NASIL: Satır satır okutun. Kara yolu satırı önemlidir: metin 'Bursa-Karacabey Kara Yolu', uydu görüntüsü 'Bursa-İzmir Kara Yolu' der; ikisi de TEKNOSAB'ın güneyinden geçen yoldur — ad farkını atlasta ya da etkileşimli tahtadaki haritada kontrol edin. Ayrıca bilgi uydurulmaz: kaynakta yoksa 'bulunamadı' yazılır.</a:t>
            </a:r>
          </a:p>
          <a:p/>
          <a:p>
            <a:r>
              <a:t>BEKLENEN CEVAP: Otoyol: uyumlu. Kara yolu: konum uyumlu, ad farklı → atlasla kontrol. İklim: grafik geçiş iklimini destekler (yaz az yağışlı ama kurak değil, kış yağışlı). Enerji: tablo ile uydu görüntüsü uyumlu.</a:t>
            </a:r>
          </a:p>
          <a:p/>
          <a:p>
            <a:r>
              <a:t>KAYNAK: Kitap s. 180 (metin, tablo, uydu görüntüsü, grafik); grafik değerleri çizimden yaklaşık okunmuştur.</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3. adım: toplanan bilgileri doğal ve beşerî faktörler tablosuna düzenlemek (OGM Materyal 'TEKNOSAB' sınıflandırma uygulamasıyla paralel).</a:t>
            </a:r>
          </a:p>
          <a:p/>
          <a:p>
            <a:r>
              <a:t>NASIL: 4 dakika: yazıcı dokuz kartı iki sütuna yerleştirir ve her kartın yanına metinden bir kanıt yazar. Son iki kart bilerek ayrı yazıldı: rüzgâr ve güneş (kaynak) mı, türbin ve panel (tesis) mi?</a:t>
            </a:r>
          </a:p>
          <a:p/>
          <a:p>
            <a:r>
              <a:t>BEKLENEN CEVAP: Örnek cevap izleyen slaytta.</a:t>
            </a:r>
          </a:p>
          <a:p/>
          <a:p>
            <a:r>
              <a:t>KAYNAK: Kitap s. 181 3. adım (yönerge ve tablo başlıkları birebir); OGM Materyal etkileşimli uygulama 161 (kartlar: coğrafi konum, iklim, yer şekilleri, su kaynakları, enerji kaynakları, eğitim, ulaşım, iş gücü — burada 'enerji kaynakları' ikiye ayrıldı).</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3. adımın örnek cevabı: dokuz kartın sınıflandırılması ve metinden kanıtları.</a:t>
            </a:r>
          </a:p>
          <a:p/>
          <a:p>
            <a:r>
              <a:t>NASIL: Grupların tablosuyla karşılaştırın. Enerji ayrımını vurgulayın: rüzgâr ve güneş doğanın sunduğu kaynaktır (iklime bağlı, s. 174); türbin ve panel insanın kurduğu tesistir. Coğrafi konum kitapta doğal faktörler arasında anlatılır (s. 174: büyük ticaret yollarının kavşak noktası).</a:t>
            </a:r>
          </a:p>
          <a:p/>
          <a:p>
            <a:r>
              <a:t>BEKLENEN CEVAP: Doğal: coğrafi konum, yer şekilleri (hafif engebeli ve tepelik), su kaynakları (Nilüfer Çayı Havzası), iklim (geçiş iklimi), rüzgâr ve güneş potansiyeli. Beşerî: ulaşım (otoyol, kara yolu, Gemlik 50 km, Bandırma 74 km, Yüksek Hızlı Tren), eğitim (Teknoloji Üniversitesi), iş gücü (Bursa yaklaşık 3,24 milyon nüfus, sanayi sektörleri), enerji tesisleri (rüzgâr türbini, güneş paneli).</a:t>
            </a:r>
          </a:p>
          <a:p/>
          <a:p>
            <a:r>
              <a:t>KAYNAK: Kitap s. 180 (kanıtlar), s. 174-175 (coğrafi konum, iklimin güneş ve rüzgâr santrallerine etkisi, enerji kaynakları). OGM: OGM 161 'enerji kaynakları'nı beşerî kutusuna koyar — TEKNOSAB'daki kurulu tesis anlamında; kitap s. 175 enerji kaynaklarını doğal faktör sayar. Çalışma kâğıdının 10. maddesiyle aynı sınıflandırma.</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4. adım: topladığımız bilgilerin sorularımızı cevaplamaya yetip yetmediğini değerlendirmek; 5. adım: faktörleri önem sırasına koyup gerekçelendirmek (süreç bileşeni ç).</a:t>
            </a:r>
          </a:p>
          <a:p/>
          <a:p>
            <a:r>
              <a:t>SÜRE: TEKNOSAB adım 4-8 9 dk: adım 4 1 · adım 5 2 · adım 6 2 · adım 7 1,5 · adım 8 (iki sözcü) 2 · YOKLAMA 8 0,5.</a:t>
            </a:r>
          </a:p>
          <a:p/>
          <a:p>
            <a:r>
              <a:t>NASIL: Adım 4 (1 dk): yazıcı 1. adımdaki her sorunun yanına ✓ (cevabı bulundu) ya da ? (eksik) koyar. Adım 5 (2 dk): grup beş faktörü sıralar, en az birini 'çünkü' ile gerekçelendirir. Kazanan sıralama yoktur; gerekçe kitaba dayanmalıdır.</a:t>
            </a:r>
          </a:p>
          <a:p/>
          <a:p>
            <a:r>
              <a:t>BEKLENEN CEVAP: Adım 4: konum, ulaşım, yer şekli, su, iklim, nüfus ve sektör soruları kaynaklarla cevaplanır; 'Ne zaman?' gibi bir sorunun cevabı metinde yoktur ('kurulması planlanan') → e-içerikte ya da öğretmenin önerdiği güvenilir kaynakta aranır. Adım 5'in örneği izleyen slaytta.</a:t>
            </a:r>
          </a:p>
          <a:p/>
          <a:p>
            <a:r>
              <a:t>KAYNAK: Kitap s. 181 4. ve 5. adım (birebir).</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5. adımın ölçütlü örneği: önem sırası ve her faktörün gerekçesi.</a:t>
            </a:r>
          </a:p>
          <a:p/>
          <a:p>
            <a:r>
              <a:t>NASIL: Grupların sırasıyla karşılaştırın; farklı sıralamayı gerekçesine göre kabul edin. 'Neden ulaşımı birinci yaptık?' sorusunu sözcüye yöneltin.</a:t>
            </a:r>
          </a:p>
          <a:p/>
          <a:p>
            <a:r>
              <a:t>BEKLENEN CEVAP: 1 ulaşım ve konum · 2 iş gücü ve sanayi birikimi · 3 eğitim ve teknoloji · 4 yer şekilleri · 5 su ve iklim (enerji). Gerekçeli farklı sıralama doğrudur.</a:t>
            </a:r>
          </a:p>
          <a:p/>
          <a:p>
            <a:r>
              <a:t>KAYNAK: Kitap s. 180 (kanıtlar), s. 175 (topoğrafyanın ulaşım güzergâhları ve tesis yerlerinin belirlenmesindeki önemi; su kaynakları), s. 174 (iklim ve enerji santralleri). Sıralama örnektir; kitapta tek doğru sıra yoktur.</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6. adım: 1. adımda yazılan coğrafi soruları toplanan bilgilerle cevaplamak.</a:t>
            </a:r>
          </a:p>
          <a:p/>
          <a:p>
            <a:r>
              <a:t>NASIL: Gruplar kendi sorularını cevaplar (2 dk); slayttaki örnek sorular, kendi sorusunu yazamamış grup içindir.</a:t>
            </a:r>
          </a:p>
          <a:p/>
          <a:p>
            <a:r>
              <a:t>BEKLENEN CEVAP: Bursa'nın yaklaşık 30 km batısında, Karacabey'de; arazi hafif engebeli ve tepelik. | Geçiş iklimi: yaz sıcak ve az yağışlı, kış yağışlı; iklim güneş ve rüzgâr santrallerinin verimini etkiler (s. 174). | Su kaynağı sağlar; su kaynakları bazı sanayi tesislerinin kurulmasına zemin hazırlar (s. 175). | Kuzeyde otoyol, güneyde kara yolu; Gemlik (50 km) ve Bandırma (74 km) limanları yakın: ham madde ve ürün kolay taşınır. | ≈ 3,24 milyon nüfus (2024 TÜİK) iş gücü ve pazar sağlar; otomotiv, tekstil, makine-metal sektörleri sanayi birikimidir. | Metinde yok (“kurulması planlanan” der): e-içerikte ya da güvenilir bir kaynakta aranır (4. adımda “eksik”).</a:t>
            </a:r>
          </a:p>
          <a:p/>
          <a:p>
            <a:r>
              <a:t>KAYNAK: Kitap s. 181 6. adım (birebir); cevaplar s. 180 metni ve grafiği, s. 174-175.</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6. adımın örnek cevabı: 1. adımın örnek sorularının cevapları.</a:t>
            </a:r>
          </a:p>
          <a:p/>
          <a:p>
            <a:r>
              <a:t>NASIL: Cevapları kendi cevaplarıyla karşılaştırın. Son cevap: kaynakta olmayan bilgi uydurulmaz, 'bulunamadı' yazılır (4. adım).</a:t>
            </a:r>
          </a:p>
          <a:p/>
          <a:p>
            <a:r>
              <a:t>BEKLENEN CEVAP: Bursa'nın yaklaşık 30 km batısında, Karacabey'de; arazi hafif engebeli ve tepelik. | Geçiş iklimi: yaz sıcak ve az yağışlı, kış yağışlı; iklim güneş ve rüzgâr santrallerinin verimini etkiler (s. 174). | Su kaynağı sağlar; su kaynakları bazı sanayi tesislerinin kurulmasına zemin hazırlar (s. 175). | Kuzeyde otoyol, güneyde kara yolu; Gemlik (50 km) ve Bandırma (74 km) limanları yakın: ham madde ve ürün kolay taşınır. | ≈ 3,24 milyon nüfus (2024 TÜİK) iş gücü ve pazar sağlar; otomotiv, tekstil, makine-metal sektörleri sanayi birikimidir. | Metinde yok (“kurulması planlanan” der): e-içerikte ya da güvenilir bir kaynakta aranır (4. adımda “eksik”).</a:t>
            </a:r>
          </a:p>
          <a:p/>
          <a:p>
            <a:r>
              <a:t>KAYNAK: Kitap s. 181 6. adım (birebir); cevaplar s. 180 metni ve grafiği, s. 174-175.</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7. adım: TEKNOSAB'daki faaliyetlerin doğal ve beşerî ortama etkilerini öngörmek (çözümlemeden sonuç çıkarma).</a:t>
            </a:r>
          </a:p>
          <a:p/>
          <a:p>
            <a:r>
              <a:t>NASIL: 1,5 dakika: her sütuna en az iki madde. Olumlu ve olumsuz etkiler birlikte düşünülür; 'yerli, yenilikçi ve yeşil' ilkesi ipucudur.</a:t>
            </a:r>
          </a:p>
          <a:p/>
          <a:p>
            <a:r>
              <a:t>BEKLENEN CEVAP: Örnek cevap izleyen slaytta.</a:t>
            </a:r>
          </a:p>
          <a:p/>
          <a:p>
            <a:r>
              <a:t>KAYNAK: Kitap s. 181 7. adım (birebir); s. 180 'Yerli, yenilikçi ve yeşil' ilkesi, yenilenebilir enerji.</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7. adımın ölçütlü örneği: doğal ve beşerî ortamdaki olası değişimler (görüş).</a:t>
            </a:r>
          </a:p>
          <a:p/>
          <a:p>
            <a:r>
              <a:t>NASIL: Grupların görüşleriyle karşılaştırın. Görüş 'olabilir' dilinde yazılır; kesin hüküm verilmez. Olumsuz etkilerin azaltılması için kitapta geçen ilkeye (yeşil, yenilenebilir enerji, tasarruf ilkeleri) bağlayın.</a:t>
            </a:r>
          </a:p>
          <a:p/>
          <a:p>
            <a:r>
              <a:t>BEKLENEN CEVAP: Beşerî: yeni iş olanakları, çevreden göç ve nüfus artışı; konut, okul, sağlık ve ulaşım ihtiyacı; yeni yollar, demir yolu ve liman bağlantıları; ticaret ve hizmetlerin gelişmesi. Doğal: tarım alanı ve doğal bitki örtüsü azalabilir; hava, su ve toprak kirliliği riski (Nilüfer Çayı Havzası); yenilenebilir enerji ve 'yeşil' ilke bu etkileri azaltmayı hedefler.</a:t>
            </a:r>
          </a:p>
          <a:p/>
          <a:p>
            <a:r>
              <a:t>KAYNAK: Kitap s. 180 ('tasarruf ilkeleri doğrultusunda', 'yenilenebilir enerji kaynaklarına dayalı', 'Yerli, yenilikçi ve yeşil'); etkiler bilimsel, 9. sınıf düzeyi (kitapta öngörü yoktur).</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8. adım: iki grubun sözcüsü bulguları paylaşır (süreç bileşeni d); dinleyen gruplar Değerlendirme 1'e göre kendi çalışmalarını düzenler (SDB2.1, SDB2.2).</a:t>
            </a:r>
          </a:p>
          <a:p/>
          <a:p>
            <a:r>
              <a:t>NASIL: İsim kartıyla iki grup seçin; her sözcü 1 dakikada kalıbı kullanır. Dinleyen gruplar ortak ve farklı yönleri kendi tablolarına işler, bir dönüt verir. Kalan grupların yaprakları toplanır (P2 beceri kontrol listesi).</a:t>
            </a:r>
          </a:p>
          <a:p/>
          <a:p>
            <a:r>
              <a:t>BEKLENEN CEVAP: Örnek paylaşım: 'TEKNOSAB'ın yerini en çok ulaşım belirlemiş, çünkü kuzeyinden otoyol, güneyinden kara yolu geçiyor ve iki limana yakın. Bu sanayi bölgesi çevreye iş ve göç getirecek; yenilenebilir enerji çevreye etkisini azaltabilir.'</a:t>
            </a:r>
          </a:p>
          <a:p/>
          <a:p>
            <a:r>
              <a:t>KAYNAK: Kitap s. 181 8. adım ve DEĞERLENDİRME 1 (birebir).</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Ara yoklama: bu bölümün temel sonucunu tek soruyla yoklamak.</a:t>
            </a:r>
          </a:p>
          <a:p/>
          <a:p>
            <a:r>
              <a:t>NASIL: Öğrenciler 20 saniye düşünür, parmakla (1-5 = A-E) cevap gösterir; dağılıma bakıp cevap slaytına geçin. Sözcü paylaşımlarından hemen sonra; adım 3 tablosu tahtada açık kalabilir.</a:t>
            </a:r>
          </a:p>
          <a:p/>
          <a:p>
            <a:r>
              <a:t>BEKLENEN CEVAP: A) Gemlik ve Bandırma limanlarına yakın olması</a:t>
            </a:r>
          </a:p>
          <a:p/>
          <a:p>
            <a:r>
              <a:t>KAYNAK: Kitap s. 180 (TEKNOSAB metni ve uydu görüntüsü), s. 174-175 (doğal faktörler).</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Doğru seçeneği gerekçesiyle göstermek.</a:t>
            </a:r>
          </a:p>
          <a:p/>
          <a:p>
            <a:r>
              <a:t>NASIL: E'yi seçenlere sorun: 'Deniz insanın mı eseri, liman mı?' — deniz doğal, liman beşerîdir.</a:t>
            </a:r>
          </a:p>
          <a:p/>
          <a:p>
            <a:r>
              <a:t>SÖYLENEBİLİR: Limanlar insan yapımıdır, ulaşım beşerî bir faktördür; yer şekli, su, iklim ve denize yakınlık doğal faktörlerdir (s. 174-175, 180).</a:t>
            </a:r>
          </a:p>
          <a:p/>
          <a:p>
            <a:r>
              <a:t>BEKLENEN CEVAP: A) Gemlik ve Bandırma limanlarına yakın olması</a:t>
            </a:r>
          </a:p>
          <a:p/>
          <a:p>
            <a:r>
              <a:t>KAYNAK: Kitap s. 180 (TEKNOSAB metni ve uydu görüntüsü), s. 174-175 (doğal faktörler).</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Programın önerdiği sanal saha çalışması: TEKNOSAB'da kullandığımız soruları okul çevresindeki bir işletmenin kuruluş yerine uygulamak (SDB2.1).</a:t>
            </a:r>
          </a:p>
          <a:p/>
          <a:p>
            <a:r>
              <a:t>SÜRE: Sanal saha 4 dk (esnek): görüntü 1 · gözlem notu 2 · paylaşım ve örnek not 1. Süre darsa kısaltılır ya da 30. haftanın başına alınır.</a:t>
            </a:r>
          </a:p>
          <a:p/>
          <a:p>
            <a:r>
              <a:t>NASIL: Etkileşimli tahtada önceden seçtiğiniz işletmenin ya da sanayi alanının harita/uydu görüntüsünü açın. Slayttaki köşeli parantezli alan yer tutucudur: sunuma işletme adı yazılmadı, adı siz söylersiniz. Üç soruyu sorun; öğrenciler iki cümlelik gözlem notu yazar; dört öğrenciden not alın. Okul dışına çıkılmaz, kimse tahtaya kalkmaz. Gerçek gözlem istenirse zaman-yer-refakat onayı ve veli izniyle ayrıca planlanır (ders planı notları).</a:t>
            </a:r>
          </a:p>
          <a:p/>
          <a:p>
            <a:r>
              <a:t>BEKLENEN CEVAP: Örnek gözlem notu izleyen slaytta.</a:t>
            </a:r>
          </a:p>
          <a:p/>
          <a:p>
            <a:r>
              <a:t>KAYNAK: Program (2026) COĞ.9.5.1 öğrenme-öğretme uygulamaları (alıntı slaytta, birebir); ders planı 29. hafta 7. aşama.</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Gözlem notunun ölçütlü örneği (biçim örneği; işletmenin gerçek özellikleri görüntüden okunur).</a:t>
            </a:r>
          </a:p>
          <a:p/>
          <a:p>
            <a:r>
              <a:t>NASIL: Öğrencilerin notlarını ölçütlere göre karşılaştırın. Örnek nottaki özellikler biçim örneğidir: seçtiğiniz işletmenin görüntüsüne uymuyorsa sınıfla birlikte düzeltin.</a:t>
            </a:r>
          </a:p>
          <a:p/>
          <a:p>
            <a:r>
              <a:t>BEKLENEN CEVAP: İyi bir not: konum (neye yakın?), ulaşım bağlantısı, bir doğal ve bir beşerî faktör; iki cümle; kanıt görüntüden.</a:t>
            </a:r>
          </a:p>
          <a:p/>
          <a:p>
            <a:r>
              <a:t>KAYNAK: Program (2026) COĞ.9.5.1 (sanal saha çalışması); TEKNOSAB etkinliğinin soru seti (s. 181). Örnek not kurgudur, gerçek bir işletmeyi anlatmaz.</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Kitabın Değerlendirme 2'si: Türkiye'deki kaynakların verimli kullanımı ve ülke ekonomisine katkısı (program D17.3 tasarruf, D19.3 vatanseverlik).</a:t>
            </a:r>
          </a:p>
          <a:p/>
          <a:p>
            <a:r>
              <a:t>SÜRE: Düşün-eşleş-paylaş ve UYGULA 5 dk: düşün 1 · eşleş 1,5 · paylaş 1,5 · UYGULA tanıtımı 1.</a:t>
            </a:r>
          </a:p>
          <a:p/>
          <a:p>
            <a:r>
              <a:t>NASIL: Kartı dağıtın. DÜŞÜN: bireysel, ana başlıklarla (su, enerji, gıda, kâğıt…). EŞLEŞ: sıra arkadaşıyla ortak düşünce ve ülke ekonomisine katkısı. PAYLAŞ: dört ikili. Kartın son satırı 'okulda/evde atacağım somut adım': bu adım UYGULA'nın davranışı olur.</a:t>
            </a:r>
          </a:p>
          <a:p/>
          <a:p>
            <a:r>
              <a:t>BEKLENEN CEVAP: Örnek cevap izleyen slaytta.</a:t>
            </a:r>
          </a:p>
          <a:p/>
          <a:p>
            <a:r>
              <a:t>KAYNAK: Kitap s. 181 DEĞERLENDİRME 2, DÜŞÜN, EŞLEŞ, PAYLAŞ (birebir); program: çözüm önerilerinin okul ve aile yaşantısına yansıtılması (D17.3), ekonomiye katkıların düşün-eşleş-paylaş ile paylaşılması (D19.3).</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Değerlendirme 2'nin ölçütlü örneği: ana başlıklar ve ülke ekonomisine katkı.</a:t>
            </a:r>
          </a:p>
          <a:p/>
          <a:p>
            <a:r>
              <a:t>NASIL: İkililerin paylaşımından sonra açın; eksik başlığı sınıfa tamamlatın. Ailenin geliri, faturası gibi kişisel bilgiler sorulmaz.</a:t>
            </a:r>
          </a:p>
          <a:p/>
          <a:p>
            <a:r>
              <a:t>BEKLENEN CEVAP: Su, enerji, gıda, kâğıt ve malzeme, toprak (tarım alanları) başlıkları; katkı: maliyet düşer, giderler azalır ve tasarruf yatırıma dönüşebilir, ham madde ihtiyacı azalır, kaynaklar gelecek kuşaklara kalır.</a:t>
            </a:r>
          </a:p>
          <a:p/>
          <a:p>
            <a:r>
              <a:t>KAYNAK: Kitap s. 181 (UYGULA'da sayılan su, enerji, gıda, kâğıt); s. 177 (sermaye); s. 174 (güneş ve rüzgâr). Ekonomiye katkılar bilimsel, 9. sınıf düzeyi.</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Kitabın yeni UYGULA bölümünü tanıtmak: düşün-eşleş-paylaşta bulunan çözümlerden birini en az bir hafta okulda ya da evde uygulamak (program D17.3: kaynakları korumaya yönelik somut adımlar, çevreye örnek davranış).</a:t>
            </a:r>
          </a:p>
          <a:p/>
          <a:p>
            <a:r>
              <a:t>NASIL: Kitabın üç maddesini okutun. Belgelendirme bizde çalışma kâğıdının 11. maddesindeki gözlem kaydıyladır (yedi günlük kısa not çizelgesi): fotoğraf zorunlu değildir, kimsenin fotoğrafı çekilmez, ailenin geliri ya da faturası gibi kişisel bilgiler yazılmaz; sınıfta telefon kullanılmaz. Kayıt 30. haftanın başında kontrol edilir (P2 örnek davranış).</a:t>
            </a:r>
          </a:p>
          <a:p/>
          <a:p>
            <a:r>
              <a:t>BEKLENEN CEVAP: Örnek gözlem kaydı izleyen slaytta.</a:t>
            </a:r>
          </a:p>
          <a:p/>
          <a:p>
            <a:r>
              <a:t>KAYNAK: Kitap s. 181 UYGULA (2026-2027 baskısında yeni; birebir); program D17.3; çalışma kâğıdı COG9-CK-U5 11. madde.</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UYGULA'nın ölçütlü örneği: bir davranış, yedi günlük kısa kayıt, hafta sonu yansıtması.</a:t>
            </a:r>
          </a:p>
          <a:p/>
          <a:p>
            <a:r>
              <a:t>NASIL: Örneği gösterin; kendi davranışlarını kâğıdın 11. maddesine yazdırın. Doğru-yanlış aranmaz; uygulanmayan gün dürüstçe '–' ile yazılır.</a:t>
            </a:r>
          </a:p>
          <a:p/>
          <a:p>
            <a:r>
              <a:t>BEKLENEN CEVAP: Davranış: diş fırçalarken musluğu kapatmak (su). Kayıt: 7 günün 6'sında ✓, kısa notlar. Yansıtma: 'Kaç gün uyguladım, ne değişti, nasıl sürdüreceğim?' Başka örnekler: boş odada ışığı söndürmek, tabağa yiyeceği kadar almak, kâğıdın iki yüzünü kullanmak.</a:t>
            </a:r>
          </a:p>
          <a:p/>
          <a:p>
            <a:r>
              <a:t>KAYNAK: Kitap s. 181 UYGULA; çalışma kâğıdının 11. maddesi ve cevap anahtarıyla aynı örnekler. Örnek kayıt kurgudur.</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Ünitenin performans görevini sınıf içi grup çalışması olarak başlatmak: doğal ve beşerî faktörlerin ekonomik faaliyetlere etkisini görsellerle gösteren diyagram (SBAB11.2).</a:t>
            </a:r>
          </a:p>
          <a:p/>
          <a:p>
            <a:r>
              <a:t>SÜRE: Performans görevi 13 dk: görev, örnek ürün ve ölçütler 2 · üretim 10 · ürünleri toplama 1 (galeri yürüyüşü yok).</a:t>
            </a:r>
          </a:p>
          <a:p/>
          <a:p>
            <a:r>
              <a:t>NASIL: Görevi ve dört adımı okutun. 1. adım (çalışma planı) 28. haftanın ev çalışmasıydı: grupların planlarına bakın. Malzemeyi okul sağlar: A4, yapıştırıcı ve kitaptan çoğaltılmış görsel ve harita kesitleri grup başına tek settir. Roller: yazıcı açıklamalar, harita/veri okuyucu görsel seçimi ve yerleşim, sözcü kaynak satırı, zaman sorumlusu adım takibi, kontrolcü ölçüt denetimi. Bitmeyen grup 30. haftanın başında teslim eder.</a:t>
            </a:r>
          </a:p>
          <a:p/>
          <a:p>
            <a:r>
              <a:t>KAYNAK: Kitap s. 183 PERFORMANS GÖREVİ (beceri, görev, yönerge ve adımlar birebir); program öğrenme kanıtları (diyagram); _x0001_ümre kararları.</a:t>
            </a:r>
          </a:p>
          <a:p/>
          <a:p>
            <a:r>
              <a:t>NOT: s. 183'teki 'Gelecek Derse Hazırlık' kutusunun 'Sınıfa örnek fotoğraf, grafik vb. malzemelerle A4 kâğıdı ve yapıştırıcı getiriniz.' cümlesi öğrenciye verilmez: malzemeyi okul sağlar, veliye mali yük getirilmez. Aynı kutudaki internet ve kütüphane kaynakları evde çalışma planı için kullanılabilir; sınıfta telefon kullanılmaz.</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Açık uçlu performans görevi için ölçütlü örnek ürün: diyagramın iskeleti (doğru cevap değil, biçim ve ölçüt örneği).</a:t>
            </a:r>
          </a:p>
          <a:p/>
          <a:p>
            <a:r>
              <a:t>NASIL: Görevin hemen ardından gösterin; izleyen slayttaki puanlama anahtarıyla eşleyin: iki kol ve alt dallar (diyagram hazırlama), görsel + cümle (görsel materyal kullanımı, bilgileri düzenleme), kaynak satırı (bilgi toplama). Gruplar kutuları kendi seçtikleri görsellerle doldurur; dal sayısı ve faktörler değişebilir. Üretim boyunca bu iskelet ya da anahtar tahtada açık kalır.</a:t>
            </a:r>
          </a:p>
          <a:p/>
          <a:p>
            <a:r>
              <a:t>BEKLENEN CEVAP: İyi bir diyagram: ortada ekonomik faaliyet (üretim · dağıtım · tüketim); iki kolda doğal ve beşerî faktörler; her faktörde kitaptan bir görsel ve etkiyi anlatan bir cümle; altta kaynak satırı.</a:t>
            </a:r>
          </a:p>
          <a:p/>
          <a:p>
            <a:r>
              <a:t>KAYNAK: Kitap s. 174-178 (Görsel 5.1-5.8, Harita 5.1 açıklamaları); EBA 05_04 'Diyagram Hazırlama' ölçütü. İskelet sunum örneğidir (kitapta yok).</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Kitabın karekodundaki analitik dereceli puanlama anahtarının beş ölçütünü ve puanlarını üretimden önce göstermek.</a:t>
            </a:r>
          </a:p>
          <a:p/>
          <a:p>
            <a:r>
              <a:t>NASIL: Ölçütleri okutun; 'çok iyi' düzeyinin ne istediğini vurgulayın (özellikle diyagram: doğal ve beşerî faktörler ve alt bölümleri doğru) ve bir önceki slayttaki örnek iskelette her ölçütün nerede karşılandığını gösterin. Anahtarın çıktısı öğretmende; dört düzey (başlangıç, kabul edilebilir, iyi, çok iyi) anahtarda yazılıdır. Sonra 10 dakikalık üretim başlar.</a:t>
            </a:r>
          </a:p>
          <a:p/>
          <a:p>
            <a:r>
              <a:t>KAYNAK: Kitap s. 183 DEĞERLENDİRME (birebir); EBA 05_04 Analitik Dereceli Puanlama Anahtarı (ölçütler, puanlar ve 'çok iyi' düzey ifadeleri birebir; 75 ve üzeri yeterli).</a:t>
            </a:r>
          </a:p>
          <a:p/>
          <a:p>
            <a:r>
              <a:t>NOT: Program dört ölçüt sayar (bilgi toplama, bilgileri düzenleme, görsel materyal kullanma, diyagram hazırlama); kitabın anahtarı 'çalışma planı hazırlama'yı da ekler — anahtar esastır (zümre kararı).</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Programın öğrenme kanıtı KWL'yi tamamlamak: 'Ne öğrendim?' sütunu ve başta yazılanlarla karşılaştırma (KB3.3, SDB1.1, SDB1.3).</a:t>
            </a:r>
          </a:p>
          <a:p/>
          <a:p>
            <a:r>
              <a:t>SÜRE: KWL ve öz değerlendirme 5 dk: 'Ne öğrendim?' 2 · karşılaştırma ve soru duvarı 1 · öz değerlendirme formu 2.</a:t>
            </a:r>
          </a:p>
          <a:p/>
          <a:p>
            <a:r>
              <a:t>NASIL: KWL formlarını sıra başlarıyla geri verin. Öğrenciler L sütununa en az üç madde yazar, K ile karşılaştırır ve W'deki sorusunun cevabını bulup bulmadığını işaretler. Soru duvarında cevaplanan sorulara ✓ konur; kalanlar 'araştırma sorusu' olarak duvarda kalır. Formlar toplanır (P2 beceri görevi).</a:t>
            </a:r>
          </a:p>
          <a:p/>
          <a:p>
            <a:r>
              <a:t>BEKLENEN CEVAP: Örnek 'Ne öğrendim?' maddeleri izleyen slaytta (doğru-yanlış aranmaz).</a:t>
            </a:r>
          </a:p>
          <a:p/>
          <a:p>
            <a:r>
              <a:t>KAYNAK: Kitap s. 174 (KWL formu: Ne Biliyorum? · Ne Bilmek İstiyorum?) ve s. 182 (Öğrendiklerim/Ne öğrendim?; yönerge birebir); program öğrenme kanıtları (KWL).</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'Ne öğrendim?' sütunu için örnek maddeler ve K ile karşılaştırma örneği.</a:t>
            </a:r>
          </a:p>
          <a:p/>
          <a:p>
            <a:r>
              <a:t>NASIL: Öğrenciler yazdıktan sonra açın: 'Bu maddelerden hangilerini siz de yazdınız? Hangisini eklemek istersiniz?' Doğru-yanlış aranmaz; amaç öğrenmenin farkına varmaktır (SDB1.3).</a:t>
            </a:r>
          </a:p>
          <a:p/>
          <a:p>
            <a:r>
              <a:t>BEKLENEN CEVAP: Örnek maddeler slaytta; karşılaştırma: K'de 'Fabrikalar şehirlere yakın kurulur.' yazan öğrenci L'de yer seçimini doğal ve beşerî faktörlerle açıklar.</a:t>
            </a:r>
          </a:p>
          <a:p/>
          <a:p>
            <a:r>
              <a:t>KAYNAK: Kitap s. 174-182 (ünitenin konuları); öz yansıtma örneğidir.</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Performans görevi için karekoddaki öz değerlendirme formunu bireysel ve sessiz doldurtmak (SDB1.2 öz düzenleme, SDB1.3 öz yansıtma).</a:t>
            </a:r>
          </a:p>
          <a:p/>
          <a:p>
            <a:r>
              <a:t>NASIL: Formun çıktısını dağıtın (karekoddan öğretmen çoğaltır; telefon yok). 2 dakika; konuşulmaz. 'Hayır' ve 'Kısmen' işaretlenen konuları formun kendi önerisine göre tekrar etmelerini söyleyin. Formlar yazıcılarla toplanır, performans görevi dosyasına konur.</a:t>
            </a:r>
          </a:p>
          <a:p/>
          <a:p>
            <a:r>
              <a:t>BEKLENEN CEVAP: Doğru-yanlış aranmaz; öz değerlendirmedir.</a:t>
            </a:r>
          </a:p>
          <a:p/>
          <a:p>
            <a:r>
              <a:t>KAYNAK: Kitap s. 183 (“Öz Değerlendirme Formu”); EBA 05_03 Öz Değerlendirme Formu (etkinlik adı, beş madde ve üç açık uçlu ifade birebir).</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Ünitenin büyük sorusunu üç örnekle kapatmak: bazen doğal faktör, bazen beşerî faktör öne çıkar; çoğu zaman ikisi birlikte etkilidir.</a:t>
            </a:r>
          </a:p>
          <a:p/>
          <a:p>
            <a:r>
              <a:t>SÜRE: Kapanış 4 dk: ünite özeti 0,5 · çıkış kartı 2 · ev ve 6. üniteye hazırlık 1 · tampon 0,5.</a:t>
            </a:r>
          </a:p>
          <a:p/>
          <a:p>
            <a:r>
              <a:t>NASIL: Üç kartı hızla okutun; 'Ekonomik faaliyetin yerini ne belirler?' sorusuna sınıfça bir cümlelik cevap verin.</a:t>
            </a:r>
          </a:p>
          <a:p/>
          <a:p>
            <a:r>
              <a:t>BEKLENEN CEVAP: Ekonomik faaliyetlerin yerini doğal ve beşerî faktörler birlikte belirler; bazı faaliyetlerde doğal faktörler (taş kömürü ve demir-çelik), bazılarında beşerî faktörler (Japonya'da teknoloji) öne çıkar.</a:t>
            </a:r>
          </a:p>
          <a:p/>
          <a:p>
            <a:r>
              <a:t>KAYNAK: Kitap s. 174 (iki cümle birebir), s. 175 (demir-çelik ve taş kömürü), s. 178 (Japonya), s. 180 (TEKNOSAB).</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Haftanın üç çıkış sorusu (ders planı).</a:t>
            </a:r>
          </a:p>
          <a:p/>
          <a:p>
            <a:r>
              <a:t>SÜRE: Çıkış kartı 2 dk; kitapsız.</a:t>
            </a:r>
          </a:p>
          <a:p/>
          <a:p>
            <a:r>
              <a:t>NASIL: Yazıcılar toplar; kartlar P2 katılım gözlemine ve e-Okul gelişim raporuna kaynak olur. 3. soru UYGULA'nın başlangıç kaydıdır.</a:t>
            </a:r>
          </a:p>
          <a:p/>
          <a:p>
            <a:r>
              <a:t>BEKLENEN CEVAP: 1) doğal: hafif engebeli topoğrafya, Nilüfer Çayı Havzası'ndaki su, geçiş iklimi (biri yeterli); beşerî: İstanbul-İzmir Otoyolu ve kara yolu bağlantısı, Gemlik ve Bandırma limanlarına yakınlık, Bursa'nın nüfusu ve sanayi birikimi, Teknoloji Üniversitesi, rüzgâr ve güneş enerjisi tesisleri (ikisi yeterli). · 2) Japonya, ABD ya da Almanya → Pakistan, Hindistan ya da Bangladeş (s. 177). · 3) yansıtma cümlesi (D17.3, D19.3); ör. 'Diş fırçalarken musluğu kapatacağım; su ve enerji boşa gitmez, ülkenin kaynakları korunur.' Doğru-yanlış aranmaz, gerekçe izlenir.</a:t>
            </a:r>
          </a:p>
          <a:p/>
          <a:p>
            <a:r>
              <a:t>KAYNAK: Ders planı 29. hafta çıkış kartı; kitap s. 177, 180-181.</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Ev çalışmasını, UYGULA kaydını, ünite tekrarını ve 6. üniteye hazırlığı duyurmak.</a:t>
            </a:r>
          </a:p>
          <a:p/>
          <a:p>
            <a:r>
              <a:t>NASIL: Tahtaya da yazın. Ölçme sorularının (s. 184-185) çözümleri ve kitabın karekodundaki ek sorular sunumun ünite sonu bölümündedir (124-166); 30. haftanın başında kontrol edilir. MEBİ ve EBA tekrarı P2 'MEBİ ve EBA' kalemidir; erişimi olmayan öğrenci için okul laboratuvarında ders dışı saat planlanır (telefon gerekmez). 6. üniteye hazırlıkta haber, görsel ya da çıktı istenmez; öğrenciler kitabın 6. ünitesinin açılış sayfasına (Başlarken) göz atar. Ünite bitti: e-Okul gelişim raporu ünite bitişini izleyen sürede doldurulur (2026-2027 Genelgesi bent 20). Proje teslimleri ders bitiminde tutanakla alınır.</a:t>
            </a:r>
          </a:p>
          <a:p/>
          <a:p>
            <a:r>
              <a:t>KAYNAK: Ders planı 29. hafta ev çalışması ve notlar; çalışma kâğıdı COG9-CK-U5 Bölüm 2 (7-10), 11 (UYGULA) ve 12; kitap s. 181 (UYGULA), s. 184-185 (ölçme).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tr-TR" smtClean="0"/>
              <a:t>Click to edit Master title style</a:t>
            </a:r>
            <a:endParaRPr lang="tr-TR"/>
          </a:p>
        </p:txBody>
      </p:sp>
      <p:sp>
        <p:nvSpPr>
          <p:cNvPr id="3" name="Subtitle 2"/>
          <p:cNvSpPr>
            <a:spLocks noGrp="1"/>
          </p:cNvSpPr>
          <p:nvPr>
            <p:ph type="subTitle" idx="1"/>
          </p:nvPr>
        </p:nvSpPr>
        <p:spPr>
          <a:xfrm>
            <a:off x="1371600" y="3886200"/>
            <a:ext cx="6400800" cy="1752600"/>
          </a:xfrm>
        </p:spPr>
        <p:txBody>
          <a:bodyPr/>
          <a:lstStyle>
            <a:lvl1pPr marL="0" indent="0" algn="ctr">
              <a:buNone/>
              <a:defRPr lang="tr-TR">
                <a:solidFill>
                  <a:schemeClr val="tx1">
                    <a:tint val="75000"/>
                  </a:schemeClr>
                </a:solidFill>
              </a:defRPr>
            </a:lvl1pPr>
            <a:lvl2pPr marL="457200" indent="0" algn="ctr">
              <a:buNone/>
              <a:defRPr lang="tr-TR">
                <a:solidFill>
                  <a:schemeClr val="tx1">
                    <a:tint val="75000"/>
                  </a:schemeClr>
                </a:solidFill>
              </a:defRPr>
            </a:lvl2pPr>
            <a:lvl3pPr marL="914400" indent="0" algn="ctr">
              <a:buNone/>
              <a:defRPr lang="tr-TR">
                <a:solidFill>
                  <a:schemeClr val="tx1">
                    <a:tint val="75000"/>
                  </a:schemeClr>
                </a:solidFill>
              </a:defRPr>
            </a:lvl3pPr>
            <a:lvl4pPr marL="1371600" indent="0" algn="ctr">
              <a:buNone/>
              <a:defRPr lang="tr-TR">
                <a:solidFill>
                  <a:schemeClr val="tx1">
                    <a:tint val="75000"/>
                  </a:schemeClr>
                </a:solidFill>
              </a:defRPr>
            </a:lvl4pPr>
            <a:lvl5pPr marL="1828800" indent="0" algn="ctr">
              <a:buNone/>
              <a:defRPr lang="tr-TR">
                <a:solidFill>
                  <a:schemeClr val="tx1">
                    <a:tint val="75000"/>
                  </a:schemeClr>
                </a:solidFill>
              </a:defRPr>
            </a:lvl5pPr>
            <a:lvl6pPr marL="2286000" indent="0" algn="ctr">
              <a:buNone/>
              <a:defRPr lang="tr-TR">
                <a:solidFill>
                  <a:schemeClr val="tx1">
                    <a:tint val="75000"/>
                  </a:schemeClr>
                </a:solidFill>
              </a:defRPr>
            </a:lvl6pPr>
            <a:lvl7pPr marL="2743200" indent="0" algn="ctr">
              <a:buNone/>
              <a:defRPr lang="tr-TR">
                <a:solidFill>
                  <a:schemeClr val="tx1">
                    <a:tint val="75000"/>
                  </a:schemeClr>
                </a:solidFill>
              </a:defRPr>
            </a:lvl7pPr>
            <a:lvl8pPr marL="3200400" indent="0" algn="ctr">
              <a:buNone/>
              <a:defRPr lang="tr-TR">
                <a:solidFill>
                  <a:schemeClr val="tx1">
                    <a:tint val="75000"/>
                  </a:schemeClr>
                </a:solidFill>
              </a:defRPr>
            </a:lvl8pPr>
            <a:lvl9pPr marL="3657600" indent="0" algn="ctr">
              <a:buNone/>
              <a:defRPr lang="tr-TR">
                <a:solidFill>
                  <a:schemeClr val="tx1">
                    <a:tint val="75000"/>
                  </a:schemeClr>
                </a:solidFill>
              </a:defRPr>
            </a:lvl9pPr>
          </a:lstStyle>
          <a:p>
            <a:r>
              <a:rPr lang="tr-TR" smtClean="0"/>
              <a:t>Click to edit Master subtitle style</a:t>
            </a:r>
            <a:endParaRPr lang="tr-TR"/>
          </a:p>
        </p:txBody>
      </p:sp>
      <p:sp>
        <p:nvSpPr>
          <p:cNvPr id="4" name="Date Placeholder 3"/>
          <p:cNvSpPr>
            <a:spLocks noGrp="1"/>
          </p:cNvSpPr>
          <p:nvPr>
            <p:ph type="dt" sz="half" idx="10"/>
          </p:nvPr>
        </p:nvSpPr>
        <p:spPr/>
        <p:txBody>
          <a:bodyPr/>
          <a:lstStyle/>
          <a:p>
            <a:fld id="{5BCAD085-E8A6-8845-BD4E-CB4CCA059FC4}" type="datetimeFigureOut">
              <a:rPr lang="tr-TR" smtClean="0"/>
              <a:t>1/27/13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Click to edit Master title style</a:t>
            </a:r>
            <a:endParaRPr lang="tr-TR"/>
          </a:p>
        </p:txBody>
      </p:sp>
      <p:sp>
        <p:nvSpPr>
          <p:cNvPr id="3" name="Content Placeholder 2"/>
          <p:cNvSpPr>
            <a:spLocks noGrp="1"/>
          </p:cNvSpPr>
          <p:nvPr>
            <p:ph idx="1"/>
          </p:nvPr>
        </p:nvSpPr>
        <p:spPr/>
        <p:txBody>
          <a:body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Date Placeholder 3"/>
          <p:cNvSpPr>
            <a:spLocks noGrp="1"/>
          </p:cNvSpPr>
          <p:nvPr>
            <p:ph type="dt" sz="half" idx="10"/>
          </p:nvPr>
        </p:nvSpPr>
        <p:spPr/>
        <p:txBody>
          <a:bodyPr/>
          <a:lstStyle/>
          <a:p>
            <a:fld id="{5BCAD085-E8A6-8845-BD4E-CB4CCA059FC4}" type="datetimeFigureOut">
              <a:rPr lang="tr-TR" smtClean="0"/>
              <a:t>1/27/13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lang="tr-TR" sz="4000" b="1" cap="all"/>
            </a:lvl1pPr>
          </a:lstStyle>
          <a:p>
            <a:r>
              <a:rPr lang="tr-TR" smtClean="0"/>
              <a:t>Click to edit Master title style</a:t>
            </a:r>
            <a:endParaRPr lang="tr-TR"/>
          </a:p>
        </p:txBody>
      </p:sp>
      <p:sp>
        <p:nvSpPr>
          <p:cNvPr id="3" name="Text Placeholder 2"/>
          <p:cNvSpPr>
            <a:spLocks noGrp="1"/>
          </p:cNvSpPr>
          <p:nvPr>
            <p:ph type="body" idx="1"/>
          </p:nvPr>
        </p:nvSpPr>
        <p:spPr>
          <a:xfrm>
            <a:off x="722313" y="2906713"/>
            <a:ext cx="7772400" cy="1500187"/>
          </a:xfrm>
        </p:spPr>
        <p:txBody>
          <a:bodyPr anchor="b"/>
          <a:lstStyle>
            <a:lvl1pPr marL="0" indent="0">
              <a:buNone/>
              <a:defRPr lang="tr-TR" sz="2000">
                <a:solidFill>
                  <a:schemeClr val="tx1">
                    <a:tint val="75000"/>
                  </a:schemeClr>
                </a:solidFill>
              </a:defRPr>
            </a:lvl1pPr>
            <a:lvl2pPr marL="457200" indent="0">
              <a:buNone/>
              <a:defRPr lang="tr-TR" sz="1800">
                <a:solidFill>
                  <a:schemeClr val="tx1">
                    <a:tint val="75000"/>
                  </a:schemeClr>
                </a:solidFill>
              </a:defRPr>
            </a:lvl2pPr>
            <a:lvl3pPr marL="914400" indent="0">
              <a:buNone/>
              <a:defRPr lang="tr-TR" sz="1600">
                <a:solidFill>
                  <a:schemeClr val="tx1">
                    <a:tint val="75000"/>
                  </a:schemeClr>
                </a:solidFill>
              </a:defRPr>
            </a:lvl3pPr>
            <a:lvl4pPr marL="1371600" indent="0">
              <a:buNone/>
              <a:defRPr lang="tr-TR" sz="1400">
                <a:solidFill>
                  <a:schemeClr val="tx1">
                    <a:tint val="75000"/>
                  </a:schemeClr>
                </a:solidFill>
              </a:defRPr>
            </a:lvl4pPr>
            <a:lvl5pPr marL="1828800" indent="0">
              <a:buNone/>
              <a:defRPr lang="tr-TR" sz="1400">
                <a:solidFill>
                  <a:schemeClr val="tx1">
                    <a:tint val="75000"/>
                  </a:schemeClr>
                </a:solidFill>
              </a:defRPr>
            </a:lvl5pPr>
            <a:lvl6pPr marL="2286000" indent="0">
              <a:buNone/>
              <a:defRPr lang="tr-TR" sz="1400">
                <a:solidFill>
                  <a:schemeClr val="tx1">
                    <a:tint val="75000"/>
                  </a:schemeClr>
                </a:solidFill>
              </a:defRPr>
            </a:lvl6pPr>
            <a:lvl7pPr marL="2743200" indent="0">
              <a:buNone/>
              <a:defRPr lang="tr-TR" sz="1400">
                <a:solidFill>
                  <a:schemeClr val="tx1">
                    <a:tint val="75000"/>
                  </a:schemeClr>
                </a:solidFill>
              </a:defRPr>
            </a:lvl7pPr>
            <a:lvl8pPr marL="3200400" indent="0">
              <a:buNone/>
              <a:defRPr lang="tr-TR" sz="1400">
                <a:solidFill>
                  <a:schemeClr val="tx1">
                    <a:tint val="75000"/>
                  </a:schemeClr>
                </a:solidFill>
              </a:defRPr>
            </a:lvl8pPr>
            <a:lvl9pPr marL="3657600" indent="0">
              <a:buNone/>
              <a:defRPr lang="tr-TR" sz="1400">
                <a:solidFill>
                  <a:schemeClr val="tx1">
                    <a:tint val="75000"/>
                  </a:schemeClr>
                </a:solidFill>
              </a:defRPr>
            </a:lvl9pPr>
          </a:lstStyle>
          <a:p>
            <a:pPr lvl="0"/>
            <a:r>
              <a:rPr lang="tr-TR"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tr-TR" smtClean="0"/>
              <a:t>1/27/13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Click to edit Master title style</a:t>
            </a:r>
            <a:endParaRPr lang="tr-TR"/>
          </a:p>
        </p:txBody>
      </p:sp>
      <p:sp>
        <p:nvSpPr>
          <p:cNvPr id="3" name="Content Placeholder 2"/>
          <p:cNvSpPr>
            <a:spLocks noGrp="1"/>
          </p:cNvSpPr>
          <p:nvPr>
            <p:ph sz="half" idx="1"/>
          </p:nvPr>
        </p:nvSpPr>
        <p:spPr>
          <a:xfrm>
            <a:off x="457200" y="1600200"/>
            <a:ext cx="4038600" cy="4525963"/>
          </a:xfrm>
        </p:spPr>
        <p:txBody>
          <a:bodyPr/>
          <a:lstStyle>
            <a:lvl1pPr>
              <a:defRPr lang="tr-TR" sz="2800"/>
            </a:lvl1pPr>
            <a:lvl2pPr>
              <a:defRPr lang="tr-TR" sz="2400"/>
            </a:lvl2pPr>
            <a:lvl3pPr>
              <a:defRPr lang="tr-TR" sz="2000"/>
            </a:lvl3pPr>
            <a:lvl4pPr>
              <a:defRPr lang="tr-TR" sz="1800"/>
            </a:lvl4pPr>
            <a:lvl5pPr>
              <a:defRPr lang="tr-TR" sz="1800"/>
            </a:lvl5pPr>
            <a:lvl6pPr>
              <a:defRPr lang="tr-TR" sz="1800"/>
            </a:lvl6pPr>
            <a:lvl7pPr>
              <a:defRPr lang="tr-TR" sz="1800"/>
            </a:lvl7pPr>
            <a:lvl8pPr>
              <a:defRPr lang="tr-TR" sz="1800"/>
            </a:lvl8pPr>
            <a:lvl9pPr>
              <a:defRPr lang="tr-TR" sz="1800"/>
            </a:lvl9p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Content Placeholder 3"/>
          <p:cNvSpPr>
            <a:spLocks noGrp="1"/>
          </p:cNvSpPr>
          <p:nvPr>
            <p:ph sz="half" idx="2"/>
          </p:nvPr>
        </p:nvSpPr>
        <p:spPr>
          <a:xfrm>
            <a:off x="4648200" y="1600200"/>
            <a:ext cx="4038600" cy="4525963"/>
          </a:xfrm>
        </p:spPr>
        <p:txBody>
          <a:bodyPr/>
          <a:lstStyle>
            <a:lvl1pPr>
              <a:defRPr lang="tr-TR" sz="2800"/>
            </a:lvl1pPr>
            <a:lvl2pPr>
              <a:defRPr lang="tr-TR" sz="2400"/>
            </a:lvl2pPr>
            <a:lvl3pPr>
              <a:defRPr lang="tr-TR" sz="2000"/>
            </a:lvl3pPr>
            <a:lvl4pPr>
              <a:defRPr lang="tr-TR" sz="1800"/>
            </a:lvl4pPr>
            <a:lvl5pPr>
              <a:defRPr lang="tr-TR" sz="1800"/>
            </a:lvl5pPr>
            <a:lvl6pPr>
              <a:defRPr lang="tr-TR" sz="1800"/>
            </a:lvl6pPr>
            <a:lvl7pPr>
              <a:defRPr lang="tr-TR" sz="1800"/>
            </a:lvl7pPr>
            <a:lvl8pPr>
              <a:defRPr lang="tr-TR" sz="1800"/>
            </a:lvl8pPr>
            <a:lvl9pPr>
              <a:defRPr lang="tr-TR" sz="1800"/>
            </a:lvl9p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5" name="Date Placeholder 4"/>
          <p:cNvSpPr>
            <a:spLocks noGrp="1"/>
          </p:cNvSpPr>
          <p:nvPr>
            <p:ph type="dt" sz="half" idx="10"/>
          </p:nvPr>
        </p:nvSpPr>
        <p:spPr/>
        <p:txBody>
          <a:bodyPr/>
          <a:lstStyle/>
          <a:p>
            <a:fld id="{5BCAD085-E8A6-8845-BD4E-CB4CCA059FC4}" type="datetimeFigureOut">
              <a:rPr lang="tr-TR" smtClean="0"/>
              <a:t>1/27/13</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lang="tr-TR"/>
            </a:lvl1pPr>
          </a:lstStyle>
          <a:p>
            <a:r>
              <a:rPr lang="tr-TR" smtClean="0"/>
              <a:t>Click to edit Master title style</a:t>
            </a:r>
            <a:endParaRPr lang="tr-TR"/>
          </a:p>
        </p:txBody>
      </p:sp>
      <p:sp>
        <p:nvSpPr>
          <p:cNvPr id="3" name="Text Placeholder 2"/>
          <p:cNvSpPr>
            <a:spLocks noGrp="1"/>
          </p:cNvSpPr>
          <p:nvPr>
            <p:ph type="body" idx="1"/>
          </p:nvPr>
        </p:nvSpPr>
        <p:spPr>
          <a:xfrm>
            <a:off x="457200" y="1535113"/>
            <a:ext cx="4040188" cy="639762"/>
          </a:xfrm>
        </p:spPr>
        <p:txBody>
          <a:bodyPr anchor="b"/>
          <a:lstStyle>
            <a:lvl1pPr marL="0" indent="0">
              <a:buNone/>
              <a:defRPr lang="tr-TR" sz="2400" b="1"/>
            </a:lvl1pPr>
            <a:lvl2pPr marL="457200" indent="0">
              <a:buNone/>
              <a:defRPr lang="tr-TR" sz="2000" b="1"/>
            </a:lvl2pPr>
            <a:lvl3pPr marL="914400" indent="0">
              <a:buNone/>
              <a:defRPr lang="tr-TR" sz="1800" b="1"/>
            </a:lvl3pPr>
            <a:lvl4pPr marL="1371600" indent="0">
              <a:buNone/>
              <a:defRPr lang="tr-TR" sz="1600" b="1"/>
            </a:lvl4pPr>
            <a:lvl5pPr marL="1828800" indent="0">
              <a:buNone/>
              <a:defRPr lang="tr-TR" sz="1600" b="1"/>
            </a:lvl5pPr>
            <a:lvl6pPr marL="2286000" indent="0">
              <a:buNone/>
              <a:defRPr lang="tr-TR" sz="1600" b="1"/>
            </a:lvl6pPr>
            <a:lvl7pPr marL="2743200" indent="0">
              <a:buNone/>
              <a:defRPr lang="tr-TR" sz="1600" b="1"/>
            </a:lvl7pPr>
            <a:lvl8pPr marL="3200400" indent="0">
              <a:buNone/>
              <a:defRPr lang="tr-TR" sz="1600" b="1"/>
            </a:lvl8pPr>
            <a:lvl9pPr marL="3657600" indent="0">
              <a:buNone/>
              <a:defRPr lang="tr-TR" sz="1600" b="1"/>
            </a:lvl9pPr>
          </a:lstStyle>
          <a:p>
            <a:pPr lvl="0"/>
            <a:r>
              <a:rPr lang="tr-TR"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lang="tr-TR" sz="2400"/>
            </a:lvl1pPr>
            <a:lvl2pPr>
              <a:defRPr lang="tr-TR" sz="2000"/>
            </a:lvl2pPr>
            <a:lvl3pPr>
              <a:defRPr lang="tr-TR" sz="1800"/>
            </a:lvl3pPr>
            <a:lvl4pPr>
              <a:defRPr lang="tr-TR" sz="1600"/>
            </a:lvl4pPr>
            <a:lvl5pPr>
              <a:defRPr lang="tr-TR" sz="1600"/>
            </a:lvl5pPr>
            <a:lvl6pPr>
              <a:defRPr lang="tr-TR" sz="1600"/>
            </a:lvl6pPr>
            <a:lvl7pPr>
              <a:defRPr lang="tr-TR" sz="1600"/>
            </a:lvl7pPr>
            <a:lvl8pPr>
              <a:defRPr lang="tr-TR" sz="1600"/>
            </a:lvl8pPr>
            <a:lvl9pPr>
              <a:defRPr lang="tr-TR" sz="1600"/>
            </a:lvl9p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lang="tr-TR" sz="2400" b="1"/>
            </a:lvl1pPr>
            <a:lvl2pPr marL="457200" indent="0">
              <a:buNone/>
              <a:defRPr lang="tr-TR" sz="2000" b="1"/>
            </a:lvl2pPr>
            <a:lvl3pPr marL="914400" indent="0">
              <a:buNone/>
              <a:defRPr lang="tr-TR" sz="1800" b="1"/>
            </a:lvl3pPr>
            <a:lvl4pPr marL="1371600" indent="0">
              <a:buNone/>
              <a:defRPr lang="tr-TR" sz="1600" b="1"/>
            </a:lvl4pPr>
            <a:lvl5pPr marL="1828800" indent="0">
              <a:buNone/>
              <a:defRPr lang="tr-TR" sz="1600" b="1"/>
            </a:lvl5pPr>
            <a:lvl6pPr marL="2286000" indent="0">
              <a:buNone/>
              <a:defRPr lang="tr-TR" sz="1600" b="1"/>
            </a:lvl6pPr>
            <a:lvl7pPr marL="2743200" indent="0">
              <a:buNone/>
              <a:defRPr lang="tr-TR" sz="1600" b="1"/>
            </a:lvl7pPr>
            <a:lvl8pPr marL="3200400" indent="0">
              <a:buNone/>
              <a:defRPr lang="tr-TR" sz="1600" b="1"/>
            </a:lvl8pPr>
            <a:lvl9pPr marL="3657600" indent="0">
              <a:buNone/>
              <a:defRPr lang="tr-TR" sz="1600" b="1"/>
            </a:lvl9pPr>
          </a:lstStyle>
          <a:p>
            <a:pPr lvl="0"/>
            <a:r>
              <a:rPr lang="tr-TR"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lang="tr-TR" sz="2400"/>
            </a:lvl1pPr>
            <a:lvl2pPr>
              <a:defRPr lang="tr-TR" sz="2000"/>
            </a:lvl2pPr>
            <a:lvl3pPr>
              <a:defRPr lang="tr-TR" sz="1800"/>
            </a:lvl3pPr>
            <a:lvl4pPr>
              <a:defRPr lang="tr-TR" sz="1600"/>
            </a:lvl4pPr>
            <a:lvl5pPr>
              <a:defRPr lang="tr-TR" sz="1600"/>
            </a:lvl5pPr>
            <a:lvl6pPr>
              <a:defRPr lang="tr-TR" sz="1600"/>
            </a:lvl6pPr>
            <a:lvl7pPr>
              <a:defRPr lang="tr-TR" sz="1600"/>
            </a:lvl7pPr>
            <a:lvl8pPr>
              <a:defRPr lang="tr-TR" sz="1600"/>
            </a:lvl8pPr>
            <a:lvl9pPr>
              <a:defRPr lang="tr-TR" sz="1600"/>
            </a:lvl9p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7" name="Date Placeholder 6"/>
          <p:cNvSpPr>
            <a:spLocks noGrp="1"/>
          </p:cNvSpPr>
          <p:nvPr>
            <p:ph type="dt" sz="half" idx="10"/>
          </p:nvPr>
        </p:nvSpPr>
        <p:spPr/>
        <p:txBody>
          <a:bodyPr/>
          <a:lstStyle/>
          <a:p>
            <a:fld id="{5BCAD085-E8A6-8845-BD4E-CB4CCA059FC4}" type="datetimeFigureOut">
              <a:rPr lang="tr-TR" smtClean="0"/>
              <a:t>1/27/13</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Click to edit Master title style</a:t>
            </a:r>
            <a:endParaRPr lang="tr-TR"/>
          </a:p>
        </p:txBody>
      </p:sp>
      <p:sp>
        <p:nvSpPr>
          <p:cNvPr id="3" name="Date Placeholder 2"/>
          <p:cNvSpPr>
            <a:spLocks noGrp="1"/>
          </p:cNvSpPr>
          <p:nvPr>
            <p:ph type="dt" sz="half" idx="10"/>
          </p:nvPr>
        </p:nvSpPr>
        <p:spPr/>
        <p:txBody>
          <a:bodyPr/>
          <a:lstStyle/>
          <a:p>
            <a:fld id="{5BCAD085-E8A6-8845-BD4E-CB4CCA059FC4}" type="datetimeFigureOut">
              <a:rPr lang="tr-TR" smtClean="0"/>
              <a:t>1/27/13</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tr-TR" smtClean="0"/>
              <a:t>1/27/13</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lang="tr-TR" sz="2000" b="1"/>
            </a:lvl1pPr>
          </a:lstStyle>
          <a:p>
            <a:r>
              <a:rPr lang="tr-TR" smtClean="0"/>
              <a:t>Click to edit Master title style</a:t>
            </a:r>
            <a:endParaRPr lang="tr-TR"/>
          </a:p>
        </p:txBody>
      </p:sp>
      <p:sp>
        <p:nvSpPr>
          <p:cNvPr id="3" name="Content Placeholder 2"/>
          <p:cNvSpPr>
            <a:spLocks noGrp="1"/>
          </p:cNvSpPr>
          <p:nvPr>
            <p:ph idx="1"/>
          </p:nvPr>
        </p:nvSpPr>
        <p:spPr>
          <a:xfrm>
            <a:off x="3575050" y="273050"/>
            <a:ext cx="5111750" cy="5853113"/>
          </a:xfrm>
        </p:spPr>
        <p:txBody>
          <a:bodyPr/>
          <a:lstStyle>
            <a:lvl1pPr>
              <a:defRPr lang="tr-TR" sz="3200"/>
            </a:lvl1pPr>
            <a:lvl2pPr>
              <a:defRPr lang="tr-TR" sz="2800"/>
            </a:lvl2pPr>
            <a:lvl3pPr>
              <a:defRPr lang="tr-TR" sz="2400"/>
            </a:lvl3pPr>
            <a:lvl4pPr>
              <a:defRPr lang="tr-TR" sz="2000"/>
            </a:lvl4pPr>
            <a:lvl5pPr>
              <a:defRPr lang="tr-TR" sz="2000"/>
            </a:lvl5pPr>
            <a:lvl6pPr>
              <a:defRPr lang="tr-TR" sz="2000"/>
            </a:lvl6pPr>
            <a:lvl7pPr>
              <a:defRPr lang="tr-TR" sz="2000"/>
            </a:lvl7pPr>
            <a:lvl8pPr>
              <a:defRPr lang="tr-TR" sz="2000"/>
            </a:lvl8pPr>
            <a:lvl9pPr>
              <a:defRPr lang="tr-TR" sz="2000"/>
            </a:lvl9p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Text Placeholder 3"/>
          <p:cNvSpPr>
            <a:spLocks noGrp="1"/>
          </p:cNvSpPr>
          <p:nvPr>
            <p:ph type="body" sz="half" idx="2"/>
          </p:nvPr>
        </p:nvSpPr>
        <p:spPr>
          <a:xfrm>
            <a:off x="457200" y="1435100"/>
            <a:ext cx="3008313" cy="4691063"/>
          </a:xfrm>
        </p:spPr>
        <p:txBody>
          <a:bodyPr/>
          <a:lstStyle>
            <a:lvl1pPr marL="0" indent="0">
              <a:buNone/>
              <a:defRPr lang="tr-TR" sz="1400"/>
            </a:lvl1pPr>
            <a:lvl2pPr marL="457200" indent="0">
              <a:buNone/>
              <a:defRPr lang="tr-TR" sz="1200"/>
            </a:lvl2pPr>
            <a:lvl3pPr marL="914400" indent="0">
              <a:buNone/>
              <a:defRPr lang="tr-TR" sz="1000"/>
            </a:lvl3pPr>
            <a:lvl4pPr marL="1371600" indent="0">
              <a:buNone/>
              <a:defRPr lang="tr-TR" sz="900"/>
            </a:lvl4pPr>
            <a:lvl5pPr marL="1828800" indent="0">
              <a:buNone/>
              <a:defRPr lang="tr-TR" sz="900"/>
            </a:lvl5pPr>
            <a:lvl6pPr marL="2286000" indent="0">
              <a:buNone/>
              <a:defRPr lang="tr-TR" sz="900"/>
            </a:lvl6pPr>
            <a:lvl7pPr marL="2743200" indent="0">
              <a:buNone/>
              <a:defRPr lang="tr-TR" sz="900"/>
            </a:lvl7pPr>
            <a:lvl8pPr marL="3200400" indent="0">
              <a:buNone/>
              <a:defRPr lang="tr-TR" sz="900"/>
            </a:lvl8pPr>
            <a:lvl9pPr marL="3657600" indent="0">
              <a:buNone/>
              <a:defRPr lang="tr-TR" sz="900"/>
            </a:lvl9pPr>
          </a:lstStyle>
          <a:p>
            <a:pPr lvl="0"/>
            <a:r>
              <a:rPr lang="tr-TR"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tr-TR" smtClean="0"/>
              <a:t>1/27/13</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lang="tr-TR" sz="2000" b="1"/>
            </a:lvl1pPr>
          </a:lstStyle>
          <a:p>
            <a:r>
              <a:rPr lang="tr-TR" smtClean="0"/>
              <a:t>Click to edit Master title style</a:t>
            </a:r>
            <a:endParaRPr lang="tr-TR"/>
          </a:p>
        </p:txBody>
      </p:sp>
      <p:sp>
        <p:nvSpPr>
          <p:cNvPr id="3" name="Picture Placeholder 2"/>
          <p:cNvSpPr>
            <a:spLocks noGrp="1"/>
          </p:cNvSpPr>
          <p:nvPr>
            <p:ph type="pic" idx="1"/>
          </p:nvPr>
        </p:nvSpPr>
        <p:spPr>
          <a:xfrm>
            <a:off x="1792288" y="612775"/>
            <a:ext cx="5486400" cy="4114800"/>
          </a:xfrm>
        </p:spPr>
        <p:txBody>
          <a:bodyPr/>
          <a:lstStyle>
            <a:lvl1pPr marL="0" indent="0">
              <a:buNone/>
              <a:defRPr lang="tr-TR" sz="3200"/>
            </a:lvl1pPr>
            <a:lvl2pPr marL="457200" indent="0">
              <a:buNone/>
              <a:defRPr lang="tr-TR" sz="2800"/>
            </a:lvl2pPr>
            <a:lvl3pPr marL="914400" indent="0">
              <a:buNone/>
              <a:defRPr lang="tr-TR" sz="2400"/>
            </a:lvl3pPr>
            <a:lvl4pPr marL="1371600" indent="0">
              <a:buNone/>
              <a:defRPr lang="tr-TR" sz="2000"/>
            </a:lvl4pPr>
            <a:lvl5pPr marL="1828800" indent="0">
              <a:buNone/>
              <a:defRPr lang="tr-TR" sz="2000"/>
            </a:lvl5pPr>
            <a:lvl6pPr marL="2286000" indent="0">
              <a:buNone/>
              <a:defRPr lang="tr-TR" sz="2000"/>
            </a:lvl6pPr>
            <a:lvl7pPr marL="2743200" indent="0">
              <a:buNone/>
              <a:defRPr lang="tr-TR" sz="2000"/>
            </a:lvl7pPr>
            <a:lvl8pPr marL="3200400" indent="0">
              <a:buNone/>
              <a:defRPr lang="tr-TR" sz="2000"/>
            </a:lvl8pPr>
            <a:lvl9pPr marL="3657600" indent="0">
              <a:buNone/>
              <a:defRPr lang="tr-TR" sz="2000"/>
            </a:lvl9pPr>
          </a:lstStyle>
          <a:p>
            <a:endParaRPr lang="tr-TR"/>
          </a:p>
        </p:txBody>
      </p:sp>
      <p:sp>
        <p:nvSpPr>
          <p:cNvPr id="4" name="Text Placeholder 3"/>
          <p:cNvSpPr>
            <a:spLocks noGrp="1"/>
          </p:cNvSpPr>
          <p:nvPr>
            <p:ph type="body" sz="half" idx="2"/>
          </p:nvPr>
        </p:nvSpPr>
        <p:spPr>
          <a:xfrm>
            <a:off x="1792288" y="5367338"/>
            <a:ext cx="5486400" cy="804862"/>
          </a:xfrm>
        </p:spPr>
        <p:txBody>
          <a:bodyPr/>
          <a:lstStyle>
            <a:lvl1pPr marL="0" indent="0">
              <a:buNone/>
              <a:defRPr lang="tr-TR" sz="1400"/>
            </a:lvl1pPr>
            <a:lvl2pPr marL="457200" indent="0">
              <a:buNone/>
              <a:defRPr lang="tr-TR" sz="1200"/>
            </a:lvl2pPr>
            <a:lvl3pPr marL="914400" indent="0">
              <a:buNone/>
              <a:defRPr lang="tr-TR" sz="1000"/>
            </a:lvl3pPr>
            <a:lvl4pPr marL="1371600" indent="0">
              <a:buNone/>
              <a:defRPr lang="tr-TR" sz="900"/>
            </a:lvl4pPr>
            <a:lvl5pPr marL="1828800" indent="0">
              <a:buNone/>
              <a:defRPr lang="tr-TR" sz="900"/>
            </a:lvl5pPr>
            <a:lvl6pPr marL="2286000" indent="0">
              <a:buNone/>
              <a:defRPr lang="tr-TR" sz="900"/>
            </a:lvl6pPr>
            <a:lvl7pPr marL="2743200" indent="0">
              <a:buNone/>
              <a:defRPr lang="tr-TR" sz="900"/>
            </a:lvl7pPr>
            <a:lvl8pPr marL="3200400" indent="0">
              <a:buNone/>
              <a:defRPr lang="tr-TR" sz="900"/>
            </a:lvl8pPr>
            <a:lvl9pPr marL="3657600" indent="0">
              <a:buNone/>
              <a:defRPr lang="tr-TR" sz="900"/>
            </a:lvl9pPr>
          </a:lstStyle>
          <a:p>
            <a:pPr lvl="0"/>
            <a:r>
              <a:rPr lang="tr-TR"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tr-TR" smtClean="0"/>
              <a:t>1/27/13</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Click to edit Master title style</a:t>
            </a:r>
            <a:endParaRPr lang="tr-TR"/>
          </a:p>
        </p:txBody>
      </p:sp>
      <p:sp>
        <p:nvSpPr>
          <p:cNvPr id="3" name="Vertical Text Placeholder 2"/>
          <p:cNvSpPr>
            <a:spLocks noGrp="1"/>
          </p:cNvSpPr>
          <p:nvPr>
            <p:ph type="body" orient="vert" idx="1"/>
          </p:nvPr>
        </p:nvSpPr>
        <p:spPr/>
        <p:txBody>
          <a:bodyPr vert="eaVert"/>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Date Placeholder 3"/>
          <p:cNvSpPr>
            <a:spLocks noGrp="1"/>
          </p:cNvSpPr>
          <p:nvPr>
            <p:ph type="dt" sz="half" idx="10"/>
          </p:nvPr>
        </p:nvSpPr>
        <p:spPr/>
        <p:txBody>
          <a:bodyPr/>
          <a:lstStyle/>
          <a:p>
            <a:fld id="{5BCAD085-E8A6-8845-BD4E-CB4CCA059FC4}" type="datetimeFigureOut">
              <a:rPr lang="tr-TR" smtClean="0"/>
              <a:t>1/27/13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tr-TR" smtClean="0"/>
              <a:t>Click to edit Master title style</a:t>
            </a:r>
            <a:endParaRPr lang="tr-T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Date Placeholder 3"/>
          <p:cNvSpPr>
            <a:spLocks noGrp="1"/>
          </p:cNvSpPr>
          <p:nvPr>
            <p:ph type="dt" sz="half" idx="10"/>
          </p:nvPr>
        </p:nvSpPr>
        <p:spPr/>
        <p:txBody>
          <a:bodyPr/>
          <a:lstStyle/>
          <a:p>
            <a:fld id="{5BCAD085-E8A6-8845-BD4E-CB4CCA059FC4}" type="datetimeFigureOut">
              <a:rPr lang="tr-TR" smtClean="0"/>
              <a:t>1/27/13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tr-TR" smtClean="0"/>
              <a:t>Click to edit Master title style</a:t>
            </a:r>
            <a:endParaRPr lang="tr-T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lang="tr-TR" sz="1200">
                <a:solidFill>
                  <a:schemeClr val="tx1">
                    <a:tint val="75000"/>
                  </a:schemeClr>
                </a:solidFill>
              </a:defRPr>
            </a:lvl1pPr>
          </a:lstStyle>
          <a:p>
            <a:fld id="{5BCAD085-E8A6-8845-BD4E-CB4CCA059FC4}" type="datetimeFigureOut">
              <a:rPr lang="tr-TR" smtClean="0"/>
              <a:t>1/27/13</a:t>
            </a:fld>
            <a:endParaRPr lang="tr-T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lang="tr-TR" sz="1200">
                <a:solidFill>
                  <a:schemeClr val="tx1">
                    <a:tint val="75000"/>
                  </a:schemeClr>
                </a:solidFill>
              </a:defRPr>
            </a:lvl1pPr>
          </a:lstStyle>
          <a:p>
            <a:endParaRPr lang="tr-T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lang="tr-TR" sz="1200">
                <a:solidFill>
                  <a:schemeClr val="tx1">
                    <a:tint val="75000"/>
                  </a:schemeClr>
                </a:solidFill>
              </a:defRPr>
            </a:lvl1pPr>
          </a:lstStyle>
          <a:p>
            <a:fld id="{C1FF6DA9-008F-8B48-92A6-B652298478BF}" type="slidenum">
              <a:rPr lang="tr-TR" smtClean="0"/>
              <a:t>‹#›</a:t>
            </a:fld>
            <a:endParaRPr lang="tr-T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lang="tr-T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lang="tr-T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lang="tr-T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lang="tr-T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9pPr>
    </p:bodyStyle>
    <p:otherStyle>
      <a:defPPr>
        <a:defRPr lang="tr-TR"/>
      </a:defPPr>
      <a:lvl1pPr marL="0" algn="l" defTabSz="457200" rtl="0" eaLnBrk="1" latinLnBrk="0" hangingPunct="1">
        <a:defRPr lang="tr-TR" sz="1800" kern="1200">
          <a:solidFill>
            <a:schemeClr val="tx1"/>
          </a:solidFill>
          <a:latin typeface="+mn-lt"/>
          <a:ea typeface="+mn-ea"/>
          <a:cs typeface="+mn-cs"/>
        </a:defRPr>
      </a:lvl1pPr>
      <a:lvl2pPr marL="457200" algn="l" defTabSz="457200" rtl="0" eaLnBrk="1" latinLnBrk="0" hangingPunct="1">
        <a:defRPr lang="tr-TR" sz="1800" kern="1200">
          <a:solidFill>
            <a:schemeClr val="tx1"/>
          </a:solidFill>
          <a:latin typeface="+mn-lt"/>
          <a:ea typeface="+mn-ea"/>
          <a:cs typeface="+mn-cs"/>
        </a:defRPr>
      </a:lvl2pPr>
      <a:lvl3pPr marL="914400" algn="l" defTabSz="457200" rtl="0" eaLnBrk="1" latinLnBrk="0" hangingPunct="1">
        <a:defRPr lang="tr-TR" sz="1800" kern="1200">
          <a:solidFill>
            <a:schemeClr val="tx1"/>
          </a:solidFill>
          <a:latin typeface="+mn-lt"/>
          <a:ea typeface="+mn-ea"/>
          <a:cs typeface="+mn-cs"/>
        </a:defRPr>
      </a:lvl3pPr>
      <a:lvl4pPr marL="1371600" algn="l" defTabSz="457200" rtl="0" eaLnBrk="1" latinLnBrk="0" hangingPunct="1">
        <a:defRPr lang="tr-TR" sz="1800" kern="1200">
          <a:solidFill>
            <a:schemeClr val="tx1"/>
          </a:solidFill>
          <a:latin typeface="+mn-lt"/>
          <a:ea typeface="+mn-ea"/>
          <a:cs typeface="+mn-cs"/>
        </a:defRPr>
      </a:lvl4pPr>
      <a:lvl5pPr marL="1828800" algn="l" defTabSz="457200" rtl="0" eaLnBrk="1" latinLnBrk="0" hangingPunct="1">
        <a:defRPr lang="tr-TR" sz="1800" kern="1200">
          <a:solidFill>
            <a:schemeClr val="tx1"/>
          </a:solidFill>
          <a:latin typeface="+mn-lt"/>
          <a:ea typeface="+mn-ea"/>
          <a:cs typeface="+mn-cs"/>
        </a:defRPr>
      </a:lvl5pPr>
      <a:lvl6pPr marL="2286000" algn="l" defTabSz="457200" rtl="0" eaLnBrk="1" latinLnBrk="0" hangingPunct="1">
        <a:defRPr lang="tr-TR" sz="1800" kern="1200">
          <a:solidFill>
            <a:schemeClr val="tx1"/>
          </a:solidFill>
          <a:latin typeface="+mn-lt"/>
          <a:ea typeface="+mn-ea"/>
          <a:cs typeface="+mn-cs"/>
        </a:defRPr>
      </a:lvl6pPr>
      <a:lvl7pPr marL="2743200" algn="l" defTabSz="457200" rtl="0" eaLnBrk="1" latinLnBrk="0" hangingPunct="1">
        <a:defRPr lang="tr-TR" sz="1800" kern="1200">
          <a:solidFill>
            <a:schemeClr val="tx1"/>
          </a:solidFill>
          <a:latin typeface="+mn-lt"/>
          <a:ea typeface="+mn-ea"/>
          <a:cs typeface="+mn-cs"/>
        </a:defRPr>
      </a:lvl7pPr>
      <a:lvl8pPr marL="3200400" algn="l" defTabSz="457200" rtl="0" eaLnBrk="1" latinLnBrk="0" hangingPunct="1">
        <a:defRPr lang="tr-TR" sz="1800" kern="1200">
          <a:solidFill>
            <a:schemeClr val="tx1"/>
          </a:solidFill>
          <a:latin typeface="+mn-lt"/>
          <a:ea typeface="+mn-ea"/>
          <a:cs typeface="+mn-cs"/>
        </a:defRPr>
      </a:lvl8pPr>
      <a:lvl9pPr marL="3657600" algn="l" defTabSz="457200" rtl="0" eaLnBrk="1" latinLnBrk="0" hangingPunct="1">
        <a:defRPr lang="tr-T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 Id="rId3" Type="http://schemas.openxmlformats.org/officeDocument/2006/relationships/image" Target="../media/image2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 Id="rId3" Type="http://schemas.openxmlformats.org/officeDocument/2006/relationships/image" Target="../media/image2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 Id="rId3" Type="http://schemas.openxmlformats.org/officeDocument/2006/relationships/image" Target="../media/image2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 Id="rId3" Type="http://schemas.openxmlformats.org/officeDocument/2006/relationships/image" Target="../media/image25.jpg"/><Relationship Id="rId4" Type="http://schemas.openxmlformats.org/officeDocument/2006/relationships/image" Target="../media/image26.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 Id="rId3" Type="http://schemas.openxmlformats.org/officeDocument/2006/relationships/image" Target="../media/image27.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 Id="rId3" Type="http://schemas.openxmlformats.org/officeDocument/2006/relationships/image" Target="../media/image28.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 Id="rId3" Type="http://schemas.openxmlformats.org/officeDocument/2006/relationships/image" Target="../media/image28.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 Id="rId3" Type="http://schemas.openxmlformats.org/officeDocument/2006/relationships/image" Target="../media/image29.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 Id="rId3" Type="http://schemas.openxmlformats.org/officeDocument/2006/relationships/image" Target="../media/image29.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 Id="rId3" Type="http://schemas.openxmlformats.org/officeDocument/2006/relationships/image" Target="../media/image30.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 Id="rId3" Type="http://schemas.openxmlformats.org/officeDocument/2006/relationships/image" Target="../media/image31.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 Id="rId3" Type="http://schemas.openxmlformats.org/officeDocument/2006/relationships/image" Target="../media/image32.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0.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0.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B85C12"/>
          </a:solidFill>
          <a:ln>
            <a:noFill/>
          </a:ln>
          <a:effectLst/>
        </p:spPr>
        <p:txBody>
          <a:bodyPr rtlCol="0" anchor="ctr"/>
          <a:lstStyle/>
          <a:p/>
        </p:txBody>
      </p:sp>
      <p:sp>
        <p:nvSpPr>
          <p:cNvPr id="3" name="Rectangle 2"/>
          <p:cNvSpPr/>
          <p:nvPr/>
        </p:nvSpPr>
        <p:spPr>
          <a:xfrm>
            <a:off x="0" y="6199632"/>
            <a:ext cx="12191695" cy="73152"/>
          </a:xfrm>
          <a:prstGeom prst="rect">
            <a:avLst/>
          </a:prstGeom>
          <a:solidFill>
            <a:srgbClr val="FCC021"/>
          </a:solidFill>
          <a:ln>
            <a:noFill/>
          </a:ln>
          <a:effectLst/>
        </p:spPr>
        <p:txBody>
          <a:bodyPr rtlCol="0" anchor="ctr"/>
          <a:lstStyle/>
          <a:p/>
        </p:txBody>
      </p:sp>
      <p:sp>
        <p:nvSpPr>
          <p:cNvPr id="4" name="TextBox 3"/>
          <p:cNvSpPr txBox="1"/>
          <p:nvPr/>
        </p:nvSpPr>
        <p:spPr>
          <a:xfrm>
            <a:off x="548640" y="320040"/>
            <a:ext cx="2377440" cy="502920"/>
          </a:xfrm>
          <a:prstGeom prst="rect">
            <a:avLst/>
          </a:prstGeom>
          <a:noFill/>
        </p:spPr>
        <p:txBody>
          <a:bodyPr wrap="square" anchor="t" lIns="73152" rIns="73152" tIns="36576" bIns="36576">
            <a:noAutofit/>
          </a:bodyPr>
          <a:lstStyle/>
          <a:p>
            <a:pPr algn="l">
              <a:spcBef>
                <a:spcPts val="0"/>
              </a:spcBef>
              <a:spcAft>
                <a:spcPts val="0"/>
              </a:spcAft>
            </a:pPr>
            <a:r>
              <a:rPr lang="tr-TR" sz="2400" b="1" i="0">
                <a:solidFill>
                  <a:srgbClr val="FCC021"/>
                </a:solidFill>
                <a:latin typeface="Calibri"/>
              </a:rPr>
              <a:t>29. HAFTA</a:t>
            </a:r>
          </a:p>
        </p:txBody>
      </p:sp>
      <p:sp>
        <p:nvSpPr>
          <p:cNvPr id="5" name="TextBox 4"/>
          <p:cNvSpPr txBox="1"/>
          <p:nvPr/>
        </p:nvSpPr>
        <p:spPr>
          <a:xfrm>
            <a:off x="411480" y="731520"/>
            <a:ext cx="2377440" cy="2514600"/>
          </a:xfrm>
          <a:prstGeom prst="rect">
            <a:avLst/>
          </a:prstGeom>
          <a:noFill/>
        </p:spPr>
        <p:txBody>
          <a:bodyPr wrap="square" anchor="t" lIns="73152" rIns="73152" tIns="0" bIns="0">
            <a:noAutofit/>
          </a:bodyPr>
          <a:lstStyle/>
          <a:p>
            <a:pPr algn="l">
              <a:spcBef>
                <a:spcPts val="0"/>
              </a:spcBef>
              <a:spcAft>
                <a:spcPts val="0"/>
              </a:spcAft>
            </a:pPr>
            <a:r>
              <a:rPr lang="tr-TR" sz="16000" b="1" i="0">
                <a:solidFill>
                  <a:srgbClr val="FCC021"/>
                </a:solidFill>
                <a:latin typeface="Calibri"/>
              </a:rPr>
              <a:t>29</a:t>
            </a:r>
          </a:p>
        </p:txBody>
      </p:sp>
      <p:sp>
        <p:nvSpPr>
          <p:cNvPr id="6" name="TextBox 5"/>
          <p:cNvSpPr txBox="1"/>
          <p:nvPr/>
        </p:nvSpPr>
        <p:spPr>
          <a:xfrm>
            <a:off x="2834640" y="411480"/>
            <a:ext cx="8869680" cy="1051560"/>
          </a:xfrm>
          <a:prstGeom prst="rect">
            <a:avLst/>
          </a:prstGeom>
          <a:noFill/>
        </p:spPr>
        <p:txBody>
          <a:bodyPr wrap="square" anchor="ctr" lIns="73152" rIns="73152" tIns="36576" bIns="36576">
            <a:noAutofit/>
          </a:bodyPr>
          <a:lstStyle/>
          <a:p>
            <a:pPr algn="l">
              <a:spcBef>
                <a:spcPts val="0"/>
              </a:spcBef>
              <a:spcAft>
                <a:spcPts val="0"/>
              </a:spcAft>
            </a:pPr>
            <a:r>
              <a:rPr lang="tr-TR" sz="3200" b="1" i="0">
                <a:solidFill>
                  <a:srgbClr val="FFFFFF"/>
                </a:solidFill>
                <a:latin typeface="Calibri"/>
              </a:rPr>
              <a:t>Beşerî Faktörler, TEKNOSAB ve Performans Görevi</a:t>
            </a:r>
          </a:p>
        </p:txBody>
      </p:sp>
      <p:sp>
        <p:nvSpPr>
          <p:cNvPr id="7" name="TextBox 6"/>
          <p:cNvSpPr txBox="1"/>
          <p:nvPr/>
        </p:nvSpPr>
        <p:spPr>
          <a:xfrm>
            <a:off x="2834640" y="1481328"/>
            <a:ext cx="8869680" cy="411480"/>
          </a:xfrm>
          <a:prstGeom prst="rect">
            <a:avLst/>
          </a:prstGeom>
          <a:noFill/>
        </p:spPr>
        <p:txBody>
          <a:bodyPr wrap="square" anchor="t" lIns="73152" rIns="73152" tIns="36576" bIns="36576">
            <a:noAutofit/>
          </a:bodyPr>
          <a:lstStyle/>
          <a:p>
            <a:pPr algn="l">
              <a:spcBef>
                <a:spcPts val="0"/>
              </a:spcBef>
              <a:spcAft>
                <a:spcPts val="0"/>
              </a:spcAft>
            </a:pPr>
            <a:r>
              <a:rPr lang="tr-TR" sz="1800" b="0" i="0">
                <a:solidFill>
                  <a:srgbClr val="E3ECF5"/>
                </a:solidFill>
                <a:latin typeface="Calibri"/>
              </a:rPr>
              <a:t>26-30 Nisan 2027 · 2 ders saati · Kitap s. 177-183</a:t>
            </a:r>
          </a:p>
        </p:txBody>
      </p:sp>
      <p:sp>
        <p:nvSpPr>
          <p:cNvPr id="8" name="Rounded Rectangle 7"/>
          <p:cNvSpPr/>
          <p:nvPr/>
        </p:nvSpPr>
        <p:spPr>
          <a:xfrm>
            <a:off x="2834640" y="2011680"/>
            <a:ext cx="8869680" cy="4023360"/>
          </a:xfrm>
          <a:prstGeom prst="roundRect">
            <a:avLst>
              <a:gd name="adj" fmla="val 5000"/>
            </a:avLst>
          </a:prstGeom>
          <a:solidFill>
            <a:srgbClr val="FFFFFF">
              <a:alpha val="12000"/>
            </a:srgbClr>
          </a:solidFill>
          <a:ln>
            <a:noFill/>
          </a:ln>
          <a:effectLst/>
        </p:spPr>
        <p:txBody>
          <a:bodyPr rtlCol="0" anchor="ctr"/>
          <a:lstStyle/>
          <a:p/>
        </p:txBody>
      </p:sp>
      <p:sp>
        <p:nvSpPr>
          <p:cNvPr id="9" name="TextBox 8"/>
          <p:cNvSpPr txBox="1"/>
          <p:nvPr/>
        </p:nvSpPr>
        <p:spPr>
          <a:xfrm>
            <a:off x="3063240" y="2148840"/>
            <a:ext cx="8412480" cy="365760"/>
          </a:xfrm>
          <a:prstGeom prst="rect">
            <a:avLst/>
          </a:prstGeom>
          <a:noFill/>
        </p:spPr>
        <p:txBody>
          <a:bodyPr wrap="square" anchor="t" lIns="73152" rIns="73152" tIns="36576" bIns="36576">
            <a:noAutofit/>
          </a:bodyPr>
          <a:lstStyle/>
          <a:p>
            <a:pPr algn="l">
              <a:spcBef>
                <a:spcPts val="0"/>
              </a:spcBef>
              <a:spcAft>
                <a:spcPts val="0"/>
              </a:spcAft>
            </a:pPr>
            <a:r>
              <a:rPr lang="tr-TR" sz="1600" b="1" i="0">
                <a:solidFill>
                  <a:srgbClr val="FCC021"/>
                </a:solidFill>
                <a:latin typeface="Calibri"/>
              </a:rPr>
              <a:t>ÖĞRENME ÇIKTISI · COĞ.9.5.1</a:t>
            </a:r>
          </a:p>
        </p:txBody>
      </p:sp>
      <p:sp>
        <p:nvSpPr>
          <p:cNvPr id="10" name="TextBox 9"/>
          <p:cNvSpPr txBox="1"/>
          <p:nvPr/>
        </p:nvSpPr>
        <p:spPr>
          <a:xfrm>
            <a:off x="3063240" y="2532888"/>
            <a:ext cx="8412480" cy="873252"/>
          </a:xfrm>
          <a:prstGeom prst="rect">
            <a:avLst/>
          </a:prstGeom>
          <a:noFill/>
        </p:spPr>
        <p:txBody>
          <a:bodyPr wrap="square" anchor="t" lIns="73152" rIns="73152" tIns="36576" bIns="36576">
            <a:noAutofit/>
          </a:bodyPr>
          <a:lstStyle/>
          <a:p>
            <a:pPr algn="l">
              <a:spcBef>
                <a:spcPts val="0"/>
              </a:spcBef>
              <a:spcAft>
                <a:spcPts val="0"/>
              </a:spcAft>
            </a:pPr>
            <a:r>
              <a:rPr lang="tr-TR" sz="2500" b="1" i="0">
                <a:solidFill>
                  <a:srgbClr val="FFFFFF"/>
                </a:solidFill>
                <a:latin typeface="Calibri"/>
              </a:rPr>
              <a:t>Doğal ve beşerî faktörlerin ekonomik faaliyetlere etkilerini sorgulayabilme</a:t>
            </a:r>
          </a:p>
        </p:txBody>
      </p:sp>
      <p:sp>
        <p:nvSpPr>
          <p:cNvPr id="11" name="TextBox 10"/>
          <p:cNvSpPr txBox="1"/>
          <p:nvPr/>
        </p:nvSpPr>
        <p:spPr>
          <a:xfrm>
            <a:off x="3063240" y="3515868"/>
            <a:ext cx="8412480" cy="347472"/>
          </a:xfrm>
          <a:prstGeom prst="rect">
            <a:avLst/>
          </a:prstGeom>
          <a:noFill/>
        </p:spPr>
        <p:txBody>
          <a:bodyPr wrap="square" anchor="t" lIns="73152" rIns="73152" tIns="36576" bIns="36576">
            <a:noAutofit/>
          </a:bodyPr>
          <a:lstStyle/>
          <a:p>
            <a:pPr algn="l">
              <a:spcBef>
                <a:spcPts val="0"/>
              </a:spcBef>
              <a:spcAft>
                <a:spcPts val="0"/>
              </a:spcAft>
            </a:pPr>
            <a:r>
              <a:rPr lang="tr-TR" sz="1500" b="1" i="0">
                <a:solidFill>
                  <a:srgbClr val="FCC021"/>
                </a:solidFill>
                <a:latin typeface="Calibri"/>
              </a:rPr>
              <a:t>Süreç bileşenleri</a:t>
            </a:r>
          </a:p>
        </p:txBody>
      </p:sp>
      <p:sp>
        <p:nvSpPr>
          <p:cNvPr id="12" name="TextBox 11"/>
          <p:cNvSpPr txBox="1"/>
          <p:nvPr/>
        </p:nvSpPr>
        <p:spPr>
          <a:xfrm>
            <a:off x="3063240" y="3881628"/>
            <a:ext cx="8412480" cy="2043684"/>
          </a:xfrm>
          <a:prstGeom prst="rect">
            <a:avLst/>
          </a:prstGeom>
          <a:noFill/>
        </p:spPr>
        <p:txBody>
          <a:bodyPr wrap="square" anchor="t" lIns="73152" rIns="73152" tIns="36576" bIns="36576">
            <a:noAutofit/>
          </a:bodyPr>
          <a:lstStyle/>
          <a:p>
            <a:pPr algn="l" marL="309283" indent="-309283">
              <a:spcBef>
                <a:spcPts val="0"/>
              </a:spcBef>
              <a:spcAft>
                <a:spcPts val="500"/>
              </a:spcAft>
            </a:pPr>
            <a:r>
              <a:rPr lang="tr-TR" sz="2000" b="1" i="0">
                <a:solidFill>
                  <a:srgbClr val="FCC021"/>
                </a:solidFill>
                <a:latin typeface="Calibri"/>
              </a:rPr>
              <a:t>ç)  </a:t>
            </a:r>
            <a:r>
              <a:rPr lang="tr-TR" sz="2000" b="0" i="0">
                <a:solidFill>
                  <a:srgbClr val="FFFFFF"/>
                </a:solidFill>
                <a:latin typeface="Calibri"/>
              </a:rPr>
              <a:t>Doğal ve beşerî faktörlerin ekonomik faaliyetlere etkileriyle ilgili düzenlediği bilgileri çözümler.</a:t>
            </a:r>
          </a:p>
          <a:p>
            <a:pPr algn="l" marL="340187" indent="-340187">
              <a:spcBef>
                <a:spcPts val="0"/>
              </a:spcBef>
              <a:spcAft>
                <a:spcPts val="0"/>
              </a:spcAft>
            </a:pPr>
            <a:r>
              <a:rPr lang="tr-TR" sz="2000" b="1" i="0">
                <a:solidFill>
                  <a:srgbClr val="FCC021"/>
                </a:solidFill>
                <a:latin typeface="Calibri"/>
              </a:rPr>
              <a:t>d)  </a:t>
            </a:r>
            <a:r>
              <a:rPr lang="tr-TR" sz="2000" b="0" i="0">
                <a:solidFill>
                  <a:srgbClr val="FFFFFF"/>
                </a:solidFill>
                <a:latin typeface="Calibri"/>
              </a:rPr>
              <a:t>Doğal ve beşerî faktörlerin ekonomik faaliyetlere etkileriyle ilgili çözümlediği bilgilerden çıkardığı sonuçları paylaşır.</a:t>
            </a:r>
          </a:p>
        </p:txBody>
      </p:sp>
      <p:sp>
        <p:nvSpPr>
          <p:cNvPr id="13" name="TextBox 1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F0F0F0"/>
                </a:solidFill>
                <a:latin typeface="Calibri"/>
              </a:rPr>
              <a:t>9. Sınıf Coğrafya · 5. Ünite: Ekonomik Faaliyetler ve Etkileri</a:t>
            </a:r>
          </a:p>
        </p:txBody>
      </p:sp>
      <p:sp>
        <p:nvSpPr>
          <p:cNvPr id="14" name="TextBox 1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F0F0F0"/>
                </a:solidFill>
                <a:latin typeface="Calibri"/>
              </a:rPr>
              <a:t>62 / 166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Bugün neler yapacağız?</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29. HAFTA</a:t>
            </a:r>
          </a:p>
        </p:txBody>
      </p:sp>
      <p:cxnSp>
        <p:nvCxnSpPr>
          <p:cNvPr id="6" name="Connector 5"/>
          <p:cNvCxnSpPr/>
          <p:nvPr/>
        </p:nvCxnSpPr>
        <p:spPr>
          <a:xfrm>
            <a:off x="1351254" y="2212848"/>
            <a:ext cx="9489185" cy="0"/>
          </a:xfrm>
          <a:prstGeom prst="line">
            <a:avLst/>
          </a:prstGeom>
          <a:ln w="50800">
            <a:solidFill>
              <a:srgbClr val="D9D9D9"/>
            </a:solidFill>
          </a:ln>
        </p:spPr>
      </p:cxnSp>
      <p:sp>
        <p:nvSpPr>
          <p:cNvPr id="7" name="Oval 6"/>
          <p:cNvSpPr/>
          <p:nvPr/>
        </p:nvSpPr>
        <p:spPr>
          <a:xfrm>
            <a:off x="967206" y="1828800"/>
            <a:ext cx="768096" cy="768096"/>
          </a:xfrm>
          <a:prstGeom prst="ellipse">
            <a:avLst/>
          </a:prstGeom>
          <a:solidFill>
            <a:srgbClr val="B85C12"/>
          </a:solidFill>
          <a:ln>
            <a:noFill/>
          </a:ln>
          <a:effectLst/>
        </p:spPr>
        <p:txBody>
          <a:bodyPr rtlCol="0" anchor="ctr" wrap="none" lIns="0" rIns="0" tIns="0" bIns="0">
            <a:noAutofit/>
          </a:bodyPr>
          <a:lstStyle/>
          <a:p>
            <a:pPr algn="ctr">
              <a:spcBef>
                <a:spcPts val="0"/>
              </a:spcBef>
              <a:spcAft>
                <a:spcPts val="0"/>
              </a:spcAft>
            </a:pPr>
            <a:r>
              <a:rPr lang="tr-TR" sz="2800" b="1" i="0">
                <a:solidFill>
                  <a:srgbClr val="FFFFFF"/>
                </a:solidFill>
                <a:latin typeface="Calibri"/>
              </a:rPr>
              <a:t>1</a:t>
            </a:r>
          </a:p>
        </p:txBody>
      </p:sp>
      <p:sp>
        <p:nvSpPr>
          <p:cNvPr id="8" name="Rounded Rectangle 7"/>
          <p:cNvSpPr/>
          <p:nvPr/>
        </p:nvSpPr>
        <p:spPr>
          <a:xfrm>
            <a:off x="502920" y="2788920"/>
            <a:ext cx="1696669" cy="1143000"/>
          </a:xfrm>
          <a:prstGeom prst="roundRect">
            <a:avLst>
              <a:gd name="adj" fmla="val 8000"/>
            </a:avLst>
          </a:prstGeom>
          <a:solidFill>
            <a:srgbClr val="F0F0F0"/>
          </a:solidFill>
          <a:ln>
            <a:noFill/>
          </a:ln>
          <a:effectLst/>
        </p:spPr>
        <p:txBody>
          <a:bodyPr rtlCol="0" anchor="ctr" wrap="square" lIns="73152" rIns="73152" tIns="73152" bIns="73152">
            <a:noAutofit/>
          </a:bodyPr>
          <a:lstStyle/>
          <a:p>
            <a:pPr algn="ctr">
              <a:spcBef>
                <a:spcPts val="0"/>
              </a:spcBef>
              <a:spcAft>
                <a:spcPts val="0"/>
              </a:spcAft>
            </a:pPr>
            <a:r>
              <a:rPr lang="tr-TR" sz="2000" b="1" i="0">
                <a:solidFill>
                  <a:srgbClr val="262626"/>
                </a:solidFill>
                <a:latin typeface="Calibri"/>
              </a:rPr>
              <a:t>Beşerî faktörler</a:t>
            </a:r>
          </a:p>
        </p:txBody>
      </p:sp>
      <p:sp>
        <p:nvSpPr>
          <p:cNvPr id="9" name="TextBox 8"/>
          <p:cNvSpPr txBox="1"/>
          <p:nvPr/>
        </p:nvSpPr>
        <p:spPr>
          <a:xfrm>
            <a:off x="502920" y="4041648"/>
            <a:ext cx="1696669" cy="1737360"/>
          </a:xfrm>
          <a:prstGeom prst="rect">
            <a:avLst/>
          </a:prstGeom>
          <a:noFill/>
        </p:spPr>
        <p:txBody>
          <a:bodyPr wrap="square" anchor="t" lIns="73152" rIns="73152" tIns="36576" bIns="36576">
            <a:noAutofit/>
          </a:bodyPr>
          <a:lstStyle/>
          <a:p>
            <a:pPr algn="ctr">
              <a:spcBef>
                <a:spcPts val="0"/>
              </a:spcBef>
              <a:spcAft>
                <a:spcPts val="0"/>
              </a:spcAft>
            </a:pPr>
            <a:r>
              <a:rPr lang="tr-TR" sz="1600" b="0" i="0">
                <a:solidFill>
                  <a:srgbClr val="767676"/>
                </a:solidFill>
                <a:latin typeface="Calibri"/>
              </a:rPr>
              <a:t>Nüfustan ulaşıma (s. 177-178)</a:t>
            </a:r>
          </a:p>
        </p:txBody>
      </p:sp>
      <p:sp>
        <p:nvSpPr>
          <p:cNvPr id="10" name="Oval 9"/>
          <p:cNvSpPr/>
          <p:nvPr/>
        </p:nvSpPr>
        <p:spPr>
          <a:xfrm>
            <a:off x="2865043" y="1828800"/>
            <a:ext cx="768096" cy="768096"/>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2800" b="1" i="0">
                <a:solidFill>
                  <a:srgbClr val="FFFFFF"/>
                </a:solidFill>
                <a:latin typeface="Calibri"/>
              </a:rPr>
              <a:t>2</a:t>
            </a:r>
          </a:p>
        </p:txBody>
      </p:sp>
      <p:sp>
        <p:nvSpPr>
          <p:cNvPr id="11" name="Rounded Rectangle 10"/>
          <p:cNvSpPr/>
          <p:nvPr/>
        </p:nvSpPr>
        <p:spPr>
          <a:xfrm>
            <a:off x="2400757" y="2788920"/>
            <a:ext cx="1696669" cy="1143000"/>
          </a:xfrm>
          <a:prstGeom prst="roundRect">
            <a:avLst>
              <a:gd name="adj" fmla="val 8000"/>
            </a:avLst>
          </a:prstGeom>
          <a:solidFill>
            <a:srgbClr val="F0F0F0"/>
          </a:solidFill>
          <a:ln>
            <a:noFill/>
          </a:ln>
          <a:effectLst/>
        </p:spPr>
        <p:txBody>
          <a:bodyPr rtlCol="0" anchor="ctr" wrap="square" lIns="73152" rIns="73152" tIns="73152" bIns="73152">
            <a:noAutofit/>
          </a:bodyPr>
          <a:lstStyle/>
          <a:p>
            <a:pPr algn="ctr">
              <a:spcBef>
                <a:spcPts val="0"/>
              </a:spcBef>
              <a:spcAft>
                <a:spcPts val="0"/>
              </a:spcAft>
            </a:pPr>
            <a:r>
              <a:rPr lang="tr-TR" sz="2000" b="1" i="0">
                <a:solidFill>
                  <a:srgbClr val="262626"/>
                </a:solidFill>
                <a:latin typeface="Calibri"/>
              </a:rPr>
              <a:t>Sanayi bölgeleri</a:t>
            </a:r>
          </a:p>
        </p:txBody>
      </p:sp>
      <p:sp>
        <p:nvSpPr>
          <p:cNvPr id="12" name="TextBox 11"/>
          <p:cNvSpPr txBox="1"/>
          <p:nvPr/>
        </p:nvSpPr>
        <p:spPr>
          <a:xfrm>
            <a:off x="2400757" y="4041648"/>
            <a:ext cx="1696669" cy="1737360"/>
          </a:xfrm>
          <a:prstGeom prst="rect">
            <a:avLst/>
          </a:prstGeom>
          <a:noFill/>
        </p:spPr>
        <p:txBody>
          <a:bodyPr wrap="square" anchor="t" lIns="73152" rIns="73152" tIns="36576" bIns="36576">
            <a:noAutofit/>
          </a:bodyPr>
          <a:lstStyle/>
          <a:p>
            <a:pPr algn="ctr">
              <a:spcBef>
                <a:spcPts val="0"/>
              </a:spcBef>
              <a:spcAft>
                <a:spcPts val="0"/>
              </a:spcAft>
            </a:pPr>
            <a:r>
              <a:rPr lang="tr-TR" sz="1600" b="0" i="0">
                <a:solidFill>
                  <a:srgbClr val="767676"/>
                </a:solidFill>
                <a:latin typeface="Calibri"/>
              </a:rPr>
              <a:t>Uygulama (s. 179)</a:t>
            </a:r>
          </a:p>
        </p:txBody>
      </p:sp>
      <p:sp>
        <p:nvSpPr>
          <p:cNvPr id="13" name="Oval 12"/>
          <p:cNvSpPr/>
          <p:nvPr/>
        </p:nvSpPr>
        <p:spPr>
          <a:xfrm>
            <a:off x="4762880" y="1828800"/>
            <a:ext cx="768096" cy="768096"/>
          </a:xfrm>
          <a:prstGeom prst="ellipse">
            <a:avLst/>
          </a:prstGeom>
          <a:solidFill>
            <a:srgbClr val="B85C12"/>
          </a:solidFill>
          <a:ln>
            <a:noFill/>
          </a:ln>
          <a:effectLst/>
        </p:spPr>
        <p:txBody>
          <a:bodyPr rtlCol="0" anchor="ctr" wrap="none" lIns="0" rIns="0" tIns="0" bIns="0">
            <a:noAutofit/>
          </a:bodyPr>
          <a:lstStyle/>
          <a:p>
            <a:pPr algn="ctr">
              <a:spcBef>
                <a:spcPts val="0"/>
              </a:spcBef>
              <a:spcAft>
                <a:spcPts val="0"/>
              </a:spcAft>
            </a:pPr>
            <a:r>
              <a:rPr lang="tr-TR" sz="2800" b="1" i="0">
                <a:solidFill>
                  <a:srgbClr val="FFFFFF"/>
                </a:solidFill>
                <a:latin typeface="Calibri"/>
              </a:rPr>
              <a:t>3</a:t>
            </a:r>
          </a:p>
        </p:txBody>
      </p:sp>
      <p:sp>
        <p:nvSpPr>
          <p:cNvPr id="14" name="Rounded Rectangle 13"/>
          <p:cNvSpPr/>
          <p:nvPr/>
        </p:nvSpPr>
        <p:spPr>
          <a:xfrm>
            <a:off x="4298594" y="2788920"/>
            <a:ext cx="1696669" cy="1143000"/>
          </a:xfrm>
          <a:prstGeom prst="roundRect">
            <a:avLst>
              <a:gd name="adj" fmla="val 8000"/>
            </a:avLst>
          </a:prstGeom>
          <a:solidFill>
            <a:srgbClr val="F0F0F0"/>
          </a:solidFill>
          <a:ln>
            <a:noFill/>
          </a:ln>
          <a:effectLst/>
        </p:spPr>
        <p:txBody>
          <a:bodyPr rtlCol="0" anchor="ctr" wrap="square" lIns="73152" rIns="73152" tIns="73152" bIns="73152">
            <a:noAutofit/>
          </a:bodyPr>
          <a:lstStyle/>
          <a:p>
            <a:pPr algn="ctr">
              <a:spcBef>
                <a:spcPts val="0"/>
              </a:spcBef>
              <a:spcAft>
                <a:spcPts val="0"/>
              </a:spcAft>
            </a:pPr>
            <a:r>
              <a:rPr lang="tr-TR" sz="2000" b="1" i="0">
                <a:solidFill>
                  <a:srgbClr val="262626"/>
                </a:solidFill>
                <a:latin typeface="Calibri"/>
              </a:rPr>
              <a:t>TEKNOSAB</a:t>
            </a:r>
          </a:p>
        </p:txBody>
      </p:sp>
      <p:sp>
        <p:nvSpPr>
          <p:cNvPr id="15" name="TextBox 14"/>
          <p:cNvSpPr txBox="1"/>
          <p:nvPr/>
        </p:nvSpPr>
        <p:spPr>
          <a:xfrm>
            <a:off x="4298594" y="4041648"/>
            <a:ext cx="1696669" cy="1737360"/>
          </a:xfrm>
          <a:prstGeom prst="rect">
            <a:avLst/>
          </a:prstGeom>
          <a:noFill/>
        </p:spPr>
        <p:txBody>
          <a:bodyPr wrap="square" anchor="t" lIns="73152" rIns="73152" tIns="36576" bIns="36576">
            <a:noAutofit/>
          </a:bodyPr>
          <a:lstStyle/>
          <a:p>
            <a:pPr algn="ctr">
              <a:spcBef>
                <a:spcPts val="0"/>
              </a:spcBef>
              <a:spcAft>
                <a:spcPts val="0"/>
              </a:spcAft>
            </a:pPr>
            <a:r>
              <a:rPr lang="tr-TR" sz="1600" b="0" i="0">
                <a:solidFill>
                  <a:srgbClr val="767676"/>
                </a:solidFill>
                <a:latin typeface="Calibri"/>
              </a:rPr>
              <a:t>Etkinlik: sekiz adım (s. 180-181)</a:t>
            </a:r>
          </a:p>
        </p:txBody>
      </p:sp>
      <p:sp>
        <p:nvSpPr>
          <p:cNvPr id="16" name="Oval 15"/>
          <p:cNvSpPr/>
          <p:nvPr/>
        </p:nvSpPr>
        <p:spPr>
          <a:xfrm>
            <a:off x="6660717" y="1828800"/>
            <a:ext cx="768096" cy="768096"/>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2800" b="1" i="0">
                <a:solidFill>
                  <a:srgbClr val="FFFFFF"/>
                </a:solidFill>
                <a:latin typeface="Calibri"/>
              </a:rPr>
              <a:t>4</a:t>
            </a:r>
          </a:p>
        </p:txBody>
      </p:sp>
      <p:sp>
        <p:nvSpPr>
          <p:cNvPr id="17" name="Rounded Rectangle 16"/>
          <p:cNvSpPr/>
          <p:nvPr/>
        </p:nvSpPr>
        <p:spPr>
          <a:xfrm>
            <a:off x="6196431" y="2788920"/>
            <a:ext cx="1696669" cy="1143000"/>
          </a:xfrm>
          <a:prstGeom prst="roundRect">
            <a:avLst>
              <a:gd name="adj" fmla="val 8000"/>
            </a:avLst>
          </a:prstGeom>
          <a:solidFill>
            <a:srgbClr val="F0F0F0"/>
          </a:solidFill>
          <a:ln>
            <a:noFill/>
          </a:ln>
          <a:effectLst/>
        </p:spPr>
        <p:txBody>
          <a:bodyPr rtlCol="0" anchor="ctr" wrap="square" lIns="73152" rIns="73152" tIns="73152" bIns="73152">
            <a:noAutofit/>
          </a:bodyPr>
          <a:lstStyle/>
          <a:p>
            <a:pPr algn="ctr">
              <a:spcBef>
                <a:spcPts val="0"/>
              </a:spcBef>
              <a:spcAft>
                <a:spcPts val="0"/>
              </a:spcAft>
            </a:pPr>
            <a:r>
              <a:rPr lang="tr-TR" sz="1950" b="1" i="0">
                <a:solidFill>
                  <a:srgbClr val="262626"/>
                </a:solidFill>
                <a:latin typeface="Calibri"/>
              </a:rPr>
              <a:t>Kaynaklarımız</a:t>
            </a:r>
          </a:p>
        </p:txBody>
      </p:sp>
      <p:sp>
        <p:nvSpPr>
          <p:cNvPr id="18" name="TextBox 17"/>
          <p:cNvSpPr txBox="1"/>
          <p:nvPr/>
        </p:nvSpPr>
        <p:spPr>
          <a:xfrm>
            <a:off x="6196431" y="4041648"/>
            <a:ext cx="1696669" cy="1737360"/>
          </a:xfrm>
          <a:prstGeom prst="rect">
            <a:avLst/>
          </a:prstGeom>
          <a:noFill/>
        </p:spPr>
        <p:txBody>
          <a:bodyPr wrap="square" anchor="t" lIns="73152" rIns="73152" tIns="36576" bIns="36576">
            <a:noAutofit/>
          </a:bodyPr>
          <a:lstStyle/>
          <a:p>
            <a:pPr algn="ctr">
              <a:spcBef>
                <a:spcPts val="0"/>
              </a:spcBef>
              <a:spcAft>
                <a:spcPts val="0"/>
              </a:spcAft>
            </a:pPr>
            <a:r>
              <a:rPr lang="tr-TR" sz="1500" b="0" i="0">
                <a:solidFill>
                  <a:srgbClr val="767676"/>
                </a:solidFill>
                <a:latin typeface="Calibri"/>
              </a:rPr>
              <a:t>Düşün-Eşleş-Paylaş ve UYGULA (s. 181)</a:t>
            </a:r>
          </a:p>
        </p:txBody>
      </p:sp>
      <p:sp>
        <p:nvSpPr>
          <p:cNvPr id="19" name="Oval 18"/>
          <p:cNvSpPr/>
          <p:nvPr/>
        </p:nvSpPr>
        <p:spPr>
          <a:xfrm>
            <a:off x="8558554" y="1828800"/>
            <a:ext cx="768096" cy="768096"/>
          </a:xfrm>
          <a:prstGeom prst="ellipse">
            <a:avLst/>
          </a:prstGeom>
          <a:solidFill>
            <a:srgbClr val="B85C12"/>
          </a:solidFill>
          <a:ln>
            <a:noFill/>
          </a:ln>
          <a:effectLst/>
        </p:spPr>
        <p:txBody>
          <a:bodyPr rtlCol="0" anchor="ctr" wrap="none" lIns="0" rIns="0" tIns="0" bIns="0">
            <a:noAutofit/>
          </a:bodyPr>
          <a:lstStyle/>
          <a:p>
            <a:pPr algn="ctr">
              <a:spcBef>
                <a:spcPts val="0"/>
              </a:spcBef>
              <a:spcAft>
                <a:spcPts val="0"/>
              </a:spcAft>
            </a:pPr>
            <a:r>
              <a:rPr lang="tr-TR" sz="2800" b="1" i="0">
                <a:solidFill>
                  <a:srgbClr val="FFFFFF"/>
                </a:solidFill>
                <a:latin typeface="Calibri"/>
              </a:rPr>
              <a:t>5</a:t>
            </a:r>
          </a:p>
        </p:txBody>
      </p:sp>
      <p:sp>
        <p:nvSpPr>
          <p:cNvPr id="20" name="Rounded Rectangle 19"/>
          <p:cNvSpPr/>
          <p:nvPr/>
        </p:nvSpPr>
        <p:spPr>
          <a:xfrm>
            <a:off x="8094268" y="2788920"/>
            <a:ext cx="1696669" cy="1143000"/>
          </a:xfrm>
          <a:prstGeom prst="roundRect">
            <a:avLst>
              <a:gd name="adj" fmla="val 8000"/>
            </a:avLst>
          </a:prstGeom>
          <a:solidFill>
            <a:srgbClr val="F0F0F0"/>
          </a:solidFill>
          <a:ln>
            <a:noFill/>
          </a:ln>
          <a:effectLst/>
        </p:spPr>
        <p:txBody>
          <a:bodyPr rtlCol="0" anchor="ctr" wrap="square" lIns="73152" rIns="73152" tIns="73152" bIns="73152">
            <a:noAutofit/>
          </a:bodyPr>
          <a:lstStyle/>
          <a:p>
            <a:pPr algn="ctr">
              <a:spcBef>
                <a:spcPts val="0"/>
              </a:spcBef>
              <a:spcAft>
                <a:spcPts val="0"/>
              </a:spcAft>
            </a:pPr>
            <a:r>
              <a:rPr lang="tr-TR" sz="2000" b="1" i="0">
                <a:solidFill>
                  <a:srgbClr val="262626"/>
                </a:solidFill>
                <a:latin typeface="Calibri"/>
              </a:rPr>
              <a:t>Diyagram</a:t>
            </a:r>
          </a:p>
        </p:txBody>
      </p:sp>
      <p:sp>
        <p:nvSpPr>
          <p:cNvPr id="21" name="TextBox 20"/>
          <p:cNvSpPr txBox="1"/>
          <p:nvPr/>
        </p:nvSpPr>
        <p:spPr>
          <a:xfrm>
            <a:off x="8094268" y="4041648"/>
            <a:ext cx="1696669" cy="1737360"/>
          </a:xfrm>
          <a:prstGeom prst="rect">
            <a:avLst/>
          </a:prstGeom>
          <a:noFill/>
        </p:spPr>
        <p:txBody>
          <a:bodyPr wrap="square" anchor="t" lIns="73152" rIns="73152" tIns="36576" bIns="36576">
            <a:noAutofit/>
          </a:bodyPr>
          <a:lstStyle/>
          <a:p>
            <a:pPr algn="ctr">
              <a:spcBef>
                <a:spcPts val="0"/>
              </a:spcBef>
              <a:spcAft>
                <a:spcPts val="0"/>
              </a:spcAft>
            </a:pPr>
            <a:r>
              <a:rPr lang="tr-TR" sz="1600" b="0" i="0">
                <a:solidFill>
                  <a:srgbClr val="767676"/>
                </a:solidFill>
                <a:latin typeface="Calibri"/>
              </a:rPr>
              <a:t>Performans görevi (s. 183)</a:t>
            </a:r>
          </a:p>
        </p:txBody>
      </p:sp>
      <p:sp>
        <p:nvSpPr>
          <p:cNvPr id="22" name="Oval 21"/>
          <p:cNvSpPr/>
          <p:nvPr/>
        </p:nvSpPr>
        <p:spPr>
          <a:xfrm>
            <a:off x="10456391" y="1828800"/>
            <a:ext cx="768096" cy="768096"/>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2800" b="1" i="0">
                <a:solidFill>
                  <a:srgbClr val="FFFFFF"/>
                </a:solidFill>
                <a:latin typeface="Calibri"/>
              </a:rPr>
              <a:t>6</a:t>
            </a:r>
          </a:p>
        </p:txBody>
      </p:sp>
      <p:sp>
        <p:nvSpPr>
          <p:cNvPr id="23" name="Rounded Rectangle 22"/>
          <p:cNvSpPr/>
          <p:nvPr/>
        </p:nvSpPr>
        <p:spPr>
          <a:xfrm>
            <a:off x="9992105" y="2788920"/>
            <a:ext cx="1696669" cy="1143000"/>
          </a:xfrm>
          <a:prstGeom prst="roundRect">
            <a:avLst>
              <a:gd name="adj" fmla="val 8000"/>
            </a:avLst>
          </a:prstGeom>
          <a:solidFill>
            <a:srgbClr val="F0F0F0"/>
          </a:solidFill>
          <a:ln>
            <a:noFill/>
          </a:ln>
          <a:effectLst/>
        </p:spPr>
        <p:txBody>
          <a:bodyPr rtlCol="0" anchor="ctr" wrap="square" lIns="73152" rIns="73152" tIns="73152" bIns="73152">
            <a:noAutofit/>
          </a:bodyPr>
          <a:lstStyle/>
          <a:p>
            <a:pPr algn="ctr">
              <a:spcBef>
                <a:spcPts val="0"/>
              </a:spcBef>
              <a:spcAft>
                <a:spcPts val="0"/>
              </a:spcAft>
            </a:pPr>
            <a:r>
              <a:rPr lang="tr-TR" sz="2000" b="1" i="0">
                <a:solidFill>
                  <a:srgbClr val="262626"/>
                </a:solidFill>
                <a:latin typeface="Calibri"/>
              </a:rPr>
              <a:t>Ne öğrendim?</a:t>
            </a:r>
          </a:p>
        </p:txBody>
      </p:sp>
      <p:sp>
        <p:nvSpPr>
          <p:cNvPr id="24" name="TextBox 23"/>
          <p:cNvSpPr txBox="1"/>
          <p:nvPr/>
        </p:nvSpPr>
        <p:spPr>
          <a:xfrm>
            <a:off x="9992105" y="4041648"/>
            <a:ext cx="1696669" cy="1737360"/>
          </a:xfrm>
          <a:prstGeom prst="rect">
            <a:avLst/>
          </a:prstGeom>
          <a:noFill/>
        </p:spPr>
        <p:txBody>
          <a:bodyPr wrap="square" anchor="t" lIns="73152" rIns="73152" tIns="36576" bIns="36576">
            <a:noAutofit/>
          </a:bodyPr>
          <a:lstStyle/>
          <a:p>
            <a:pPr algn="ctr">
              <a:spcBef>
                <a:spcPts val="0"/>
              </a:spcBef>
              <a:spcAft>
                <a:spcPts val="0"/>
              </a:spcAft>
            </a:pPr>
            <a:r>
              <a:rPr lang="tr-TR" sz="1600" b="0" i="0">
                <a:solidFill>
                  <a:srgbClr val="767676"/>
                </a:solidFill>
                <a:latin typeface="Calibri"/>
              </a:rPr>
              <a:t>KWL ve öz değerlendirme (s. 182)</a:t>
            </a:r>
          </a:p>
        </p:txBody>
      </p:sp>
      <p:sp>
        <p:nvSpPr>
          <p:cNvPr id="25" name="TextBox 24"/>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26" name="TextBox 25"/>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63 / 166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Soru duvarına dönüş: doğadan mı, insandan mı?</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SORU DUVARI</a:t>
            </a:r>
          </a:p>
        </p:txBody>
      </p:sp>
      <p:sp>
        <p:nvSpPr>
          <p:cNvPr id="6" name="TextBox 5"/>
          <p:cNvSpPr txBox="1"/>
          <p:nvPr/>
        </p:nvSpPr>
        <p:spPr>
          <a:xfrm>
            <a:off x="502920" y="1170432"/>
            <a:ext cx="11185855" cy="548640"/>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262626"/>
                </a:solidFill>
                <a:latin typeface="Calibri"/>
              </a:rPr>
              <a:t>Duvardaki sorulardan hangileri geçen hafta cevaplandı, hangileri bugünü bekliyor?</a:t>
            </a:r>
          </a:p>
        </p:txBody>
      </p:sp>
      <p:sp>
        <p:nvSpPr>
          <p:cNvPr id="7" name="Rounded Rectangle 6"/>
          <p:cNvSpPr/>
          <p:nvPr/>
        </p:nvSpPr>
        <p:spPr>
          <a:xfrm>
            <a:off x="502920" y="1856232"/>
            <a:ext cx="5455767" cy="3611880"/>
          </a:xfrm>
          <a:prstGeom prst="roundRect">
            <a:avLst>
              <a:gd name="adj" fmla="val 5000"/>
            </a:avLst>
          </a:prstGeom>
          <a:solidFill>
            <a:srgbClr val="F0F0F0"/>
          </a:solidFill>
          <a:ln>
            <a:noFill/>
          </a:ln>
          <a:effectLst/>
        </p:spPr>
        <p:txBody>
          <a:bodyPr rtlCol="0" anchor="ctr"/>
          <a:lstStyle/>
          <a:p/>
        </p:txBody>
      </p:sp>
      <p:sp>
        <p:nvSpPr>
          <p:cNvPr id="8" name="Rounded Rectangle 7"/>
          <p:cNvSpPr/>
          <p:nvPr/>
        </p:nvSpPr>
        <p:spPr>
          <a:xfrm>
            <a:off x="502920" y="1856232"/>
            <a:ext cx="5455767" cy="594360"/>
          </a:xfrm>
          <a:prstGeom prst="roundRect">
            <a:avLst>
              <a:gd name="adj" fmla="val 25000"/>
            </a:avLst>
          </a:prstGeom>
          <a:solidFill>
            <a:srgbClr val="3E8E41"/>
          </a:solidFill>
          <a:ln>
            <a:noFill/>
          </a:ln>
          <a:effectLst/>
        </p:spPr>
        <p:txBody>
          <a:bodyPr rtlCol="0" anchor="ctr"/>
          <a:lstStyle/>
          <a:p/>
        </p:txBody>
      </p:sp>
      <p:sp>
        <p:nvSpPr>
          <p:cNvPr id="9" name="Rectangle 8"/>
          <p:cNvSpPr/>
          <p:nvPr/>
        </p:nvSpPr>
        <p:spPr>
          <a:xfrm>
            <a:off x="502920" y="2153412"/>
            <a:ext cx="5455767" cy="297180"/>
          </a:xfrm>
          <a:prstGeom prst="rect">
            <a:avLst/>
          </a:prstGeom>
          <a:solidFill>
            <a:srgbClr val="3E8E41"/>
          </a:solidFill>
          <a:ln>
            <a:noFill/>
          </a:ln>
          <a:effectLst/>
        </p:spPr>
        <p:txBody>
          <a:bodyPr rtlCol="0" anchor="ctr"/>
          <a:lstStyle/>
          <a:p/>
        </p:txBody>
      </p:sp>
      <p:sp>
        <p:nvSpPr>
          <p:cNvPr id="10" name="TextBox 9"/>
          <p:cNvSpPr txBox="1"/>
          <p:nvPr/>
        </p:nvSpPr>
        <p:spPr>
          <a:xfrm>
            <a:off x="594360" y="1856232"/>
            <a:ext cx="5272887" cy="594360"/>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FFFFFF"/>
                </a:solidFill>
                <a:latin typeface="Calibri"/>
              </a:rPr>
              <a:t>Doğal faktörler · 28. hafta ✓</a:t>
            </a:r>
          </a:p>
        </p:txBody>
      </p:sp>
      <p:sp>
        <p:nvSpPr>
          <p:cNvPr id="11" name="Rounded Rectangle 10"/>
          <p:cNvSpPr/>
          <p:nvPr/>
        </p:nvSpPr>
        <p:spPr>
          <a:xfrm>
            <a:off x="704088" y="2660904"/>
            <a:ext cx="2158483" cy="566928"/>
          </a:xfrm>
          <a:prstGeom prst="roundRect">
            <a:avLst>
              <a:gd name="adj" fmla="val 50000"/>
            </a:avLst>
          </a:prstGeom>
          <a:solidFill>
            <a:srgbClr val="FFFFFF"/>
          </a:solidFill>
          <a:ln w="25400">
            <a:solidFill>
              <a:srgbClr val="3E8E41"/>
            </a:solidFill>
          </a:ln>
          <a:effectLst/>
        </p:spPr>
        <p:txBody>
          <a:bodyPr rtlCol="0" anchor="ctr" wrap="square" lIns="73152" rIns="73152" tIns="18288" bIns="18288">
            <a:noAutofit/>
          </a:bodyPr>
          <a:lstStyle/>
          <a:p>
            <a:pPr algn="ctr">
              <a:spcBef>
                <a:spcPts val="0"/>
              </a:spcBef>
              <a:spcAft>
                <a:spcPts val="0"/>
              </a:spcAft>
            </a:pPr>
            <a:r>
              <a:rPr lang="tr-TR" sz="2300" b="0" i="0">
                <a:solidFill>
                  <a:srgbClr val="262626"/>
                </a:solidFill>
                <a:latin typeface="Calibri"/>
              </a:rPr>
              <a:t>coğrafi konum</a:t>
            </a:r>
          </a:p>
        </p:txBody>
      </p:sp>
      <p:sp>
        <p:nvSpPr>
          <p:cNvPr id="12" name="Rounded Rectangle 11"/>
          <p:cNvSpPr/>
          <p:nvPr/>
        </p:nvSpPr>
        <p:spPr>
          <a:xfrm>
            <a:off x="2990587" y="2660904"/>
            <a:ext cx="984522" cy="566928"/>
          </a:xfrm>
          <a:prstGeom prst="roundRect">
            <a:avLst>
              <a:gd name="adj" fmla="val 50000"/>
            </a:avLst>
          </a:prstGeom>
          <a:solidFill>
            <a:srgbClr val="FFFFFF"/>
          </a:solidFill>
          <a:ln w="25400">
            <a:solidFill>
              <a:srgbClr val="3E8E41"/>
            </a:solidFill>
          </a:ln>
          <a:effectLst/>
        </p:spPr>
        <p:txBody>
          <a:bodyPr rtlCol="0" anchor="ctr" wrap="square" lIns="73152" rIns="73152" tIns="18288" bIns="18288">
            <a:noAutofit/>
          </a:bodyPr>
          <a:lstStyle/>
          <a:p>
            <a:pPr algn="ctr">
              <a:spcBef>
                <a:spcPts val="0"/>
              </a:spcBef>
              <a:spcAft>
                <a:spcPts val="0"/>
              </a:spcAft>
            </a:pPr>
            <a:r>
              <a:rPr lang="tr-TR" sz="2300" b="0" i="0">
                <a:solidFill>
                  <a:srgbClr val="262626"/>
                </a:solidFill>
                <a:latin typeface="Calibri"/>
              </a:rPr>
              <a:t>iklim</a:t>
            </a:r>
          </a:p>
        </p:txBody>
      </p:sp>
      <p:sp>
        <p:nvSpPr>
          <p:cNvPr id="13" name="Rounded Rectangle 12"/>
          <p:cNvSpPr/>
          <p:nvPr/>
        </p:nvSpPr>
        <p:spPr>
          <a:xfrm>
            <a:off x="704088" y="3346704"/>
            <a:ext cx="2840716" cy="566928"/>
          </a:xfrm>
          <a:prstGeom prst="roundRect">
            <a:avLst>
              <a:gd name="adj" fmla="val 50000"/>
            </a:avLst>
          </a:prstGeom>
          <a:solidFill>
            <a:srgbClr val="FFFFFF"/>
          </a:solidFill>
          <a:ln w="25400">
            <a:solidFill>
              <a:srgbClr val="3E8E41"/>
            </a:solidFill>
          </a:ln>
          <a:effectLst/>
        </p:spPr>
        <p:txBody>
          <a:bodyPr rtlCol="0" anchor="ctr" wrap="square" lIns="73152" rIns="73152" tIns="18288" bIns="18288">
            <a:noAutofit/>
          </a:bodyPr>
          <a:lstStyle/>
          <a:p>
            <a:pPr algn="ctr">
              <a:spcBef>
                <a:spcPts val="0"/>
              </a:spcBef>
              <a:spcAft>
                <a:spcPts val="0"/>
              </a:spcAft>
            </a:pPr>
            <a:r>
              <a:rPr lang="tr-TR" sz="2300" b="0" i="0">
                <a:solidFill>
                  <a:srgbClr val="262626"/>
                </a:solidFill>
                <a:latin typeface="Calibri"/>
              </a:rPr>
              <a:t>topoğrafik özellikler</a:t>
            </a:r>
          </a:p>
        </p:txBody>
      </p:sp>
      <p:sp>
        <p:nvSpPr>
          <p:cNvPr id="14" name="Rounded Rectangle 13"/>
          <p:cNvSpPr/>
          <p:nvPr/>
        </p:nvSpPr>
        <p:spPr>
          <a:xfrm>
            <a:off x="3672820" y="3346704"/>
            <a:ext cx="1996316" cy="566928"/>
          </a:xfrm>
          <a:prstGeom prst="roundRect">
            <a:avLst>
              <a:gd name="adj" fmla="val 50000"/>
            </a:avLst>
          </a:prstGeom>
          <a:solidFill>
            <a:srgbClr val="FFFFFF"/>
          </a:solidFill>
          <a:ln w="25400">
            <a:solidFill>
              <a:srgbClr val="3E8E41"/>
            </a:solidFill>
          </a:ln>
          <a:effectLst/>
        </p:spPr>
        <p:txBody>
          <a:bodyPr rtlCol="0" anchor="ctr" wrap="square" lIns="73152" rIns="73152" tIns="18288" bIns="18288">
            <a:noAutofit/>
          </a:bodyPr>
          <a:lstStyle/>
          <a:p>
            <a:pPr algn="ctr">
              <a:spcBef>
                <a:spcPts val="0"/>
              </a:spcBef>
              <a:spcAft>
                <a:spcPts val="0"/>
              </a:spcAft>
            </a:pPr>
            <a:r>
              <a:rPr lang="tr-TR" sz="2300" b="0" i="0">
                <a:solidFill>
                  <a:srgbClr val="262626"/>
                </a:solidFill>
                <a:latin typeface="Calibri"/>
              </a:rPr>
              <a:t>su kaynakları</a:t>
            </a:r>
          </a:p>
        </p:txBody>
      </p:sp>
      <p:sp>
        <p:nvSpPr>
          <p:cNvPr id="15" name="Rounded Rectangle 14"/>
          <p:cNvSpPr/>
          <p:nvPr/>
        </p:nvSpPr>
        <p:spPr>
          <a:xfrm>
            <a:off x="704088" y="4032504"/>
            <a:ext cx="1198667" cy="566928"/>
          </a:xfrm>
          <a:prstGeom prst="roundRect">
            <a:avLst>
              <a:gd name="adj" fmla="val 50000"/>
            </a:avLst>
          </a:prstGeom>
          <a:solidFill>
            <a:srgbClr val="FFFFFF"/>
          </a:solidFill>
          <a:ln w="25400">
            <a:solidFill>
              <a:srgbClr val="3E8E41"/>
            </a:solidFill>
          </a:ln>
          <a:effectLst/>
        </p:spPr>
        <p:txBody>
          <a:bodyPr rtlCol="0" anchor="ctr" wrap="square" lIns="73152" rIns="73152" tIns="18288" bIns="18288">
            <a:noAutofit/>
          </a:bodyPr>
          <a:lstStyle/>
          <a:p>
            <a:pPr algn="ctr">
              <a:spcBef>
                <a:spcPts val="0"/>
              </a:spcBef>
              <a:spcAft>
                <a:spcPts val="0"/>
              </a:spcAft>
            </a:pPr>
            <a:r>
              <a:rPr lang="tr-TR" sz="2300" b="0" i="0">
                <a:solidFill>
                  <a:srgbClr val="262626"/>
                </a:solidFill>
                <a:latin typeface="Calibri"/>
              </a:rPr>
              <a:t>toprak</a:t>
            </a:r>
          </a:p>
        </p:txBody>
      </p:sp>
      <p:sp>
        <p:nvSpPr>
          <p:cNvPr id="16" name="Rounded Rectangle 15"/>
          <p:cNvSpPr/>
          <p:nvPr/>
        </p:nvSpPr>
        <p:spPr>
          <a:xfrm>
            <a:off x="2030771" y="4032504"/>
            <a:ext cx="1816503" cy="566928"/>
          </a:xfrm>
          <a:prstGeom prst="roundRect">
            <a:avLst>
              <a:gd name="adj" fmla="val 50000"/>
            </a:avLst>
          </a:prstGeom>
          <a:solidFill>
            <a:srgbClr val="FFFFFF"/>
          </a:solidFill>
          <a:ln w="25400">
            <a:solidFill>
              <a:srgbClr val="3E8E41"/>
            </a:solidFill>
          </a:ln>
          <a:effectLst/>
        </p:spPr>
        <p:txBody>
          <a:bodyPr rtlCol="0" anchor="ctr" wrap="square" lIns="73152" rIns="73152" tIns="18288" bIns="18288">
            <a:noAutofit/>
          </a:bodyPr>
          <a:lstStyle/>
          <a:p>
            <a:pPr algn="ctr">
              <a:spcBef>
                <a:spcPts val="0"/>
              </a:spcBef>
              <a:spcAft>
                <a:spcPts val="0"/>
              </a:spcAft>
            </a:pPr>
            <a:r>
              <a:rPr lang="tr-TR" sz="2300" b="0" i="0">
                <a:solidFill>
                  <a:srgbClr val="262626"/>
                </a:solidFill>
                <a:latin typeface="Calibri"/>
              </a:rPr>
              <a:t>bitki örtüsü</a:t>
            </a:r>
          </a:p>
        </p:txBody>
      </p:sp>
      <p:sp>
        <p:nvSpPr>
          <p:cNvPr id="17" name="Rounded Rectangle 16"/>
          <p:cNvSpPr/>
          <p:nvPr/>
        </p:nvSpPr>
        <p:spPr>
          <a:xfrm>
            <a:off x="704088" y="4718304"/>
            <a:ext cx="4057017" cy="566928"/>
          </a:xfrm>
          <a:prstGeom prst="roundRect">
            <a:avLst>
              <a:gd name="adj" fmla="val 50000"/>
            </a:avLst>
          </a:prstGeom>
          <a:solidFill>
            <a:srgbClr val="FFFFFF"/>
          </a:solidFill>
          <a:ln w="25400">
            <a:solidFill>
              <a:srgbClr val="3E8E41"/>
            </a:solidFill>
          </a:ln>
          <a:effectLst/>
        </p:spPr>
        <p:txBody>
          <a:bodyPr rtlCol="0" anchor="ctr" wrap="square" lIns="73152" rIns="73152" tIns="18288" bIns="18288">
            <a:noAutofit/>
          </a:bodyPr>
          <a:lstStyle/>
          <a:p>
            <a:pPr algn="ctr">
              <a:spcBef>
                <a:spcPts val="0"/>
              </a:spcBef>
              <a:spcAft>
                <a:spcPts val="0"/>
              </a:spcAft>
            </a:pPr>
            <a:r>
              <a:rPr lang="tr-TR" sz="2300" b="0" i="0">
                <a:solidFill>
                  <a:srgbClr val="262626"/>
                </a:solidFill>
                <a:latin typeface="Calibri"/>
              </a:rPr>
              <a:t>madenler ve enerji kaynakları</a:t>
            </a:r>
          </a:p>
        </p:txBody>
      </p:sp>
      <p:sp>
        <p:nvSpPr>
          <p:cNvPr id="18" name="Rounded Rectangle 17"/>
          <p:cNvSpPr/>
          <p:nvPr/>
        </p:nvSpPr>
        <p:spPr>
          <a:xfrm>
            <a:off x="6233007" y="1856232"/>
            <a:ext cx="5455767" cy="3611880"/>
          </a:xfrm>
          <a:prstGeom prst="roundRect">
            <a:avLst>
              <a:gd name="adj" fmla="val 5000"/>
            </a:avLst>
          </a:prstGeom>
          <a:solidFill>
            <a:srgbClr val="F0F0F0"/>
          </a:solidFill>
          <a:ln>
            <a:noFill/>
          </a:ln>
          <a:effectLst/>
        </p:spPr>
        <p:txBody>
          <a:bodyPr rtlCol="0" anchor="ctr"/>
          <a:lstStyle/>
          <a:p/>
        </p:txBody>
      </p:sp>
      <p:sp>
        <p:nvSpPr>
          <p:cNvPr id="19" name="Rounded Rectangle 18"/>
          <p:cNvSpPr/>
          <p:nvPr/>
        </p:nvSpPr>
        <p:spPr>
          <a:xfrm>
            <a:off x="6233007" y="1856232"/>
            <a:ext cx="5455767" cy="594360"/>
          </a:xfrm>
          <a:prstGeom prst="roundRect">
            <a:avLst>
              <a:gd name="adj" fmla="val 25000"/>
            </a:avLst>
          </a:prstGeom>
          <a:solidFill>
            <a:srgbClr val="2C6696"/>
          </a:solidFill>
          <a:ln>
            <a:noFill/>
          </a:ln>
          <a:effectLst/>
        </p:spPr>
        <p:txBody>
          <a:bodyPr rtlCol="0" anchor="ctr"/>
          <a:lstStyle/>
          <a:p/>
        </p:txBody>
      </p:sp>
      <p:sp>
        <p:nvSpPr>
          <p:cNvPr id="20" name="Rectangle 19"/>
          <p:cNvSpPr/>
          <p:nvPr/>
        </p:nvSpPr>
        <p:spPr>
          <a:xfrm>
            <a:off x="6233007" y="2153412"/>
            <a:ext cx="5455767" cy="297180"/>
          </a:xfrm>
          <a:prstGeom prst="rect">
            <a:avLst/>
          </a:prstGeom>
          <a:solidFill>
            <a:srgbClr val="2C6696"/>
          </a:solidFill>
          <a:ln>
            <a:noFill/>
          </a:ln>
          <a:effectLst/>
        </p:spPr>
        <p:txBody>
          <a:bodyPr rtlCol="0" anchor="ctr"/>
          <a:lstStyle/>
          <a:p/>
        </p:txBody>
      </p:sp>
      <p:sp>
        <p:nvSpPr>
          <p:cNvPr id="21" name="TextBox 20"/>
          <p:cNvSpPr txBox="1"/>
          <p:nvPr/>
        </p:nvSpPr>
        <p:spPr>
          <a:xfrm>
            <a:off x="6324447" y="1856232"/>
            <a:ext cx="5272887" cy="594360"/>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FFFFFF"/>
                </a:solidFill>
                <a:latin typeface="Calibri"/>
              </a:rPr>
              <a:t>Beşerî faktörler · bugün</a:t>
            </a:r>
          </a:p>
        </p:txBody>
      </p:sp>
      <p:sp>
        <p:nvSpPr>
          <p:cNvPr id="22" name="Rounded Rectangle 21"/>
          <p:cNvSpPr/>
          <p:nvPr/>
        </p:nvSpPr>
        <p:spPr>
          <a:xfrm>
            <a:off x="6434175" y="2660904"/>
            <a:ext cx="1085984" cy="566928"/>
          </a:xfrm>
          <a:prstGeom prst="roundRect">
            <a:avLst>
              <a:gd name="adj" fmla="val 50000"/>
            </a:avLst>
          </a:prstGeom>
          <a:solidFill>
            <a:srgbClr val="FFFFFF"/>
          </a:solidFill>
          <a:ln w="25400">
            <a:solidFill>
              <a:srgbClr val="2C6696"/>
            </a:solidFill>
          </a:ln>
          <a:effectLst/>
        </p:spPr>
        <p:txBody>
          <a:bodyPr rtlCol="0" anchor="ctr" wrap="square" lIns="73152" rIns="73152" tIns="18288" bIns="18288">
            <a:noAutofit/>
          </a:bodyPr>
          <a:lstStyle/>
          <a:p>
            <a:pPr algn="ctr">
              <a:spcBef>
                <a:spcPts val="0"/>
              </a:spcBef>
              <a:spcAft>
                <a:spcPts val="0"/>
              </a:spcAft>
            </a:pPr>
            <a:r>
              <a:rPr lang="tr-TR" sz="2300" b="0" i="0">
                <a:solidFill>
                  <a:srgbClr val="262626"/>
                </a:solidFill>
                <a:latin typeface="Calibri"/>
              </a:rPr>
              <a:t>nüfus</a:t>
            </a:r>
          </a:p>
        </p:txBody>
      </p:sp>
      <p:sp>
        <p:nvSpPr>
          <p:cNvPr id="23" name="Rounded Rectangle 22"/>
          <p:cNvSpPr/>
          <p:nvPr/>
        </p:nvSpPr>
        <p:spPr>
          <a:xfrm>
            <a:off x="7648175" y="2660904"/>
            <a:ext cx="1245131" cy="566928"/>
          </a:xfrm>
          <a:prstGeom prst="roundRect">
            <a:avLst>
              <a:gd name="adj" fmla="val 50000"/>
            </a:avLst>
          </a:prstGeom>
          <a:solidFill>
            <a:srgbClr val="FFFFFF"/>
          </a:solidFill>
          <a:ln w="25400">
            <a:solidFill>
              <a:srgbClr val="2C6696"/>
            </a:solidFill>
          </a:ln>
          <a:effectLst/>
        </p:spPr>
        <p:txBody>
          <a:bodyPr rtlCol="0" anchor="ctr" wrap="square" lIns="73152" rIns="73152" tIns="18288" bIns="18288">
            <a:noAutofit/>
          </a:bodyPr>
          <a:lstStyle/>
          <a:p>
            <a:pPr algn="ctr">
              <a:spcBef>
                <a:spcPts val="0"/>
              </a:spcBef>
              <a:spcAft>
                <a:spcPts val="0"/>
              </a:spcAft>
            </a:pPr>
            <a:r>
              <a:rPr lang="tr-TR" sz="2300" b="0" i="0">
                <a:solidFill>
                  <a:srgbClr val="262626"/>
                </a:solidFill>
                <a:latin typeface="Calibri"/>
              </a:rPr>
              <a:t>iş gücü</a:t>
            </a:r>
          </a:p>
        </p:txBody>
      </p:sp>
      <p:sp>
        <p:nvSpPr>
          <p:cNvPr id="24" name="Rounded Rectangle 23"/>
          <p:cNvSpPr/>
          <p:nvPr/>
        </p:nvSpPr>
        <p:spPr>
          <a:xfrm>
            <a:off x="9021322" y="2660904"/>
            <a:ext cx="1442541" cy="566928"/>
          </a:xfrm>
          <a:prstGeom prst="roundRect">
            <a:avLst>
              <a:gd name="adj" fmla="val 50000"/>
            </a:avLst>
          </a:prstGeom>
          <a:solidFill>
            <a:srgbClr val="FFFFFF"/>
          </a:solidFill>
          <a:ln w="25400">
            <a:solidFill>
              <a:srgbClr val="2C6696"/>
            </a:solidFill>
          </a:ln>
          <a:effectLst/>
        </p:spPr>
        <p:txBody>
          <a:bodyPr rtlCol="0" anchor="ctr" wrap="square" lIns="73152" rIns="73152" tIns="18288" bIns="18288">
            <a:noAutofit/>
          </a:bodyPr>
          <a:lstStyle/>
          <a:p>
            <a:pPr algn="ctr">
              <a:spcBef>
                <a:spcPts val="0"/>
              </a:spcBef>
              <a:spcAft>
                <a:spcPts val="0"/>
              </a:spcAft>
            </a:pPr>
            <a:r>
              <a:rPr lang="tr-TR" sz="2300" b="0" i="0">
                <a:solidFill>
                  <a:srgbClr val="262626"/>
                </a:solidFill>
                <a:latin typeface="Calibri"/>
              </a:rPr>
              <a:t>sermaye</a:t>
            </a:r>
          </a:p>
        </p:txBody>
      </p:sp>
      <p:sp>
        <p:nvSpPr>
          <p:cNvPr id="25" name="Rounded Rectangle 24"/>
          <p:cNvSpPr/>
          <p:nvPr/>
        </p:nvSpPr>
        <p:spPr>
          <a:xfrm>
            <a:off x="6434175" y="3346704"/>
            <a:ext cx="2544385" cy="566928"/>
          </a:xfrm>
          <a:prstGeom prst="roundRect">
            <a:avLst>
              <a:gd name="adj" fmla="val 50000"/>
            </a:avLst>
          </a:prstGeom>
          <a:solidFill>
            <a:srgbClr val="FFFFFF"/>
          </a:solidFill>
          <a:ln w="25400">
            <a:solidFill>
              <a:srgbClr val="2C6696"/>
            </a:solidFill>
          </a:ln>
          <a:effectLst/>
        </p:spPr>
        <p:txBody>
          <a:bodyPr rtlCol="0" anchor="ctr" wrap="square" lIns="73152" rIns="73152" tIns="18288" bIns="18288">
            <a:noAutofit/>
          </a:bodyPr>
          <a:lstStyle/>
          <a:p>
            <a:pPr algn="ctr">
              <a:spcBef>
                <a:spcPts val="0"/>
              </a:spcBef>
              <a:spcAft>
                <a:spcPts val="0"/>
              </a:spcAft>
            </a:pPr>
            <a:r>
              <a:rPr lang="tr-TR" sz="2300" b="0" i="0">
                <a:solidFill>
                  <a:srgbClr val="262626"/>
                </a:solidFill>
                <a:latin typeface="Calibri"/>
              </a:rPr>
              <a:t>devlet politikaları</a:t>
            </a:r>
          </a:p>
        </p:txBody>
      </p:sp>
      <p:sp>
        <p:nvSpPr>
          <p:cNvPr id="26" name="Rounded Rectangle 25"/>
          <p:cNvSpPr/>
          <p:nvPr/>
        </p:nvSpPr>
        <p:spPr>
          <a:xfrm>
            <a:off x="9106576" y="3346704"/>
            <a:ext cx="1479414" cy="566928"/>
          </a:xfrm>
          <a:prstGeom prst="roundRect">
            <a:avLst>
              <a:gd name="adj" fmla="val 50000"/>
            </a:avLst>
          </a:prstGeom>
          <a:solidFill>
            <a:srgbClr val="FFFFFF"/>
          </a:solidFill>
          <a:ln w="25400">
            <a:solidFill>
              <a:srgbClr val="2C6696"/>
            </a:solidFill>
          </a:ln>
          <a:effectLst/>
        </p:spPr>
        <p:txBody>
          <a:bodyPr rtlCol="0" anchor="ctr" wrap="square" lIns="73152" rIns="73152" tIns="18288" bIns="18288">
            <a:noAutofit/>
          </a:bodyPr>
          <a:lstStyle/>
          <a:p>
            <a:pPr algn="ctr">
              <a:spcBef>
                <a:spcPts val="0"/>
              </a:spcBef>
              <a:spcAft>
                <a:spcPts val="0"/>
              </a:spcAft>
            </a:pPr>
            <a:r>
              <a:rPr lang="tr-TR" sz="2300" b="0" i="0">
                <a:solidFill>
                  <a:srgbClr val="262626"/>
                </a:solidFill>
                <a:latin typeface="Calibri"/>
              </a:rPr>
              <a:t>teknoloji</a:t>
            </a:r>
          </a:p>
        </p:txBody>
      </p:sp>
      <p:sp>
        <p:nvSpPr>
          <p:cNvPr id="27" name="Rounded Rectangle 26"/>
          <p:cNvSpPr/>
          <p:nvPr/>
        </p:nvSpPr>
        <p:spPr>
          <a:xfrm>
            <a:off x="6434175" y="4032504"/>
            <a:ext cx="1202887" cy="566928"/>
          </a:xfrm>
          <a:prstGeom prst="roundRect">
            <a:avLst>
              <a:gd name="adj" fmla="val 50000"/>
            </a:avLst>
          </a:prstGeom>
          <a:solidFill>
            <a:srgbClr val="FFFFFF"/>
          </a:solidFill>
          <a:ln w="25400">
            <a:solidFill>
              <a:srgbClr val="2C6696"/>
            </a:solidFill>
          </a:ln>
          <a:effectLst/>
        </p:spPr>
        <p:txBody>
          <a:bodyPr rtlCol="0" anchor="ctr" wrap="square" lIns="73152" rIns="73152" tIns="18288" bIns="18288">
            <a:noAutofit/>
          </a:bodyPr>
          <a:lstStyle/>
          <a:p>
            <a:pPr algn="ctr">
              <a:spcBef>
                <a:spcPts val="0"/>
              </a:spcBef>
              <a:spcAft>
                <a:spcPts val="0"/>
              </a:spcAft>
            </a:pPr>
            <a:r>
              <a:rPr lang="tr-TR" sz="2300" b="0" i="0">
                <a:solidFill>
                  <a:srgbClr val="262626"/>
                </a:solidFill>
                <a:latin typeface="Calibri"/>
              </a:rPr>
              <a:t>ulaşım</a:t>
            </a:r>
          </a:p>
        </p:txBody>
      </p:sp>
      <p:sp>
        <p:nvSpPr>
          <p:cNvPr id="28" name="Rounded Rectangle 27"/>
          <p:cNvSpPr/>
          <p:nvPr/>
        </p:nvSpPr>
        <p:spPr>
          <a:xfrm>
            <a:off x="502920" y="5605272"/>
            <a:ext cx="11185855" cy="685800"/>
          </a:xfrm>
          <a:prstGeom prst="roundRect">
            <a:avLst>
              <a:gd name="adj" fmla="val 8000"/>
            </a:avLst>
          </a:prstGeom>
          <a:solidFill>
            <a:srgbClr val="FFF3D1"/>
          </a:solidFill>
          <a:ln>
            <a:noFill/>
          </a:ln>
          <a:effectLst/>
        </p:spPr>
        <p:txBody>
          <a:bodyPr rtlCol="0" anchor="ctr" wrap="square" lIns="201168" rIns="201168" tIns="73152" bIns="73152">
            <a:noAutofit/>
          </a:bodyPr>
          <a:lstStyle/>
          <a:p>
            <a:pPr algn="ctr">
              <a:spcBef>
                <a:spcPts val="0"/>
              </a:spcBef>
              <a:spcAft>
                <a:spcPts val="0"/>
              </a:spcAft>
            </a:pPr>
            <a:r>
              <a:rPr lang="tr-TR" sz="2200" b="0" i="0">
                <a:solidFill>
                  <a:srgbClr val="262626"/>
                </a:solidFill>
                <a:latin typeface="Calibri"/>
              </a:rPr>
              <a:t>Soru notunun köşesine </a:t>
            </a:r>
            <a:r>
              <a:rPr lang="tr-TR" sz="2200" b="1" i="0">
                <a:solidFill>
                  <a:srgbClr val="262626"/>
                </a:solidFill>
                <a:latin typeface="Calibri"/>
              </a:rPr>
              <a:t>D</a:t>
            </a:r>
            <a:r>
              <a:rPr lang="tr-TR" sz="2200" b="0" i="0">
                <a:solidFill>
                  <a:srgbClr val="262626"/>
                </a:solidFill>
                <a:latin typeface="Calibri"/>
              </a:rPr>
              <a:t> (doğal) ya da </a:t>
            </a:r>
            <a:r>
              <a:rPr lang="tr-TR" sz="2200" b="1" i="0">
                <a:solidFill>
                  <a:srgbClr val="262626"/>
                </a:solidFill>
                <a:latin typeface="Calibri"/>
              </a:rPr>
              <a:t>B</a:t>
            </a:r>
            <a:r>
              <a:rPr lang="tr-TR" sz="2200" b="0" i="0">
                <a:solidFill>
                  <a:srgbClr val="262626"/>
                </a:solidFill>
                <a:latin typeface="Calibri"/>
              </a:rPr>
              <a:t> (beşerî) yaz · cevabını bulduğumuz soruya </a:t>
            </a:r>
            <a:r>
              <a:rPr lang="tr-TR" sz="2200" b="1" i="0">
                <a:solidFill>
                  <a:srgbClr val="262626"/>
                </a:solidFill>
                <a:latin typeface="Calibri"/>
              </a:rPr>
              <a:t>✓</a:t>
            </a:r>
          </a:p>
        </p:txBody>
      </p:sp>
      <p:sp>
        <p:nvSpPr>
          <p:cNvPr id="29" name="TextBox 28"/>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30" name="Rounded Rectangle 29"/>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174-178</a:t>
            </a:r>
          </a:p>
        </p:txBody>
      </p:sp>
      <p:sp>
        <p:nvSpPr>
          <p:cNvPr id="31" name="TextBox 30"/>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64 / 166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5</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Aşağıdakilerden hangisi ekonomik faaliyetleri etkileyen doğal faktörlerden biri değildir?</a:t>
            </a:r>
          </a:p>
        </p:txBody>
      </p:sp>
      <p:sp>
        <p:nvSpPr>
          <p:cNvPr id="7" name="Rounded Rectangle 6"/>
          <p:cNvSpPr/>
          <p:nvPr/>
        </p:nvSpPr>
        <p:spPr>
          <a:xfrm>
            <a:off x="502920" y="2633472"/>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694736"/>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Toprak</a:t>
            </a:r>
          </a:p>
        </p:txBody>
      </p:sp>
      <p:sp>
        <p:nvSpPr>
          <p:cNvPr id="10" name="Rounded Rectangle 9"/>
          <p:cNvSpPr/>
          <p:nvPr/>
        </p:nvSpPr>
        <p:spPr>
          <a:xfrm>
            <a:off x="502920" y="3368649"/>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1" name="Oval 10"/>
          <p:cNvSpPr/>
          <p:nvPr/>
        </p:nvSpPr>
        <p:spPr>
          <a:xfrm>
            <a:off x="594360" y="3429913"/>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368649"/>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Bitki örtüsü</a:t>
            </a:r>
          </a:p>
        </p:txBody>
      </p:sp>
      <p:sp>
        <p:nvSpPr>
          <p:cNvPr id="13" name="Rounded Rectangle 12"/>
          <p:cNvSpPr/>
          <p:nvPr/>
        </p:nvSpPr>
        <p:spPr>
          <a:xfrm>
            <a:off x="502920" y="4103826"/>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4" name="Oval 13"/>
          <p:cNvSpPr/>
          <p:nvPr/>
        </p:nvSpPr>
        <p:spPr>
          <a:xfrm>
            <a:off x="594360" y="4165090"/>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4103826"/>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Sermaye</a:t>
            </a:r>
          </a:p>
        </p:txBody>
      </p:sp>
      <p:sp>
        <p:nvSpPr>
          <p:cNvPr id="16" name="Rounded Rectangle 15"/>
          <p:cNvSpPr/>
          <p:nvPr/>
        </p:nvSpPr>
        <p:spPr>
          <a:xfrm>
            <a:off x="502920" y="4839003"/>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900267"/>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839003"/>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Su kaynakları</a:t>
            </a:r>
          </a:p>
        </p:txBody>
      </p:sp>
      <p:sp>
        <p:nvSpPr>
          <p:cNvPr id="19" name="Rounded Rectangle 18"/>
          <p:cNvSpPr/>
          <p:nvPr/>
        </p:nvSpPr>
        <p:spPr>
          <a:xfrm>
            <a:off x="502920" y="5574180"/>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5635444"/>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5574180"/>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Topoğrafik özellikler</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175, 177</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65 / 166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5</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Aşağıdakilerden hangisi ekonomik faaliyetleri etkileyen doğal faktörlerden biri değildir?</a:t>
            </a:r>
          </a:p>
        </p:txBody>
      </p:sp>
      <p:sp>
        <p:nvSpPr>
          <p:cNvPr id="7" name="Rounded Rectangle 6"/>
          <p:cNvSpPr/>
          <p:nvPr/>
        </p:nvSpPr>
        <p:spPr>
          <a:xfrm>
            <a:off x="502920" y="263347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58958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Toprak</a:t>
            </a:r>
          </a:p>
        </p:txBody>
      </p:sp>
      <p:sp>
        <p:nvSpPr>
          <p:cNvPr id="10" name="Rounded Rectangle 9"/>
          <p:cNvSpPr/>
          <p:nvPr/>
        </p:nvSpPr>
        <p:spPr>
          <a:xfrm>
            <a:off x="502920" y="3158337"/>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1" name="Oval 10"/>
          <p:cNvSpPr/>
          <p:nvPr/>
        </p:nvSpPr>
        <p:spPr>
          <a:xfrm>
            <a:off x="594360" y="3114445"/>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15833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Bitki örtüsü</a:t>
            </a:r>
          </a:p>
        </p:txBody>
      </p:sp>
      <p:sp>
        <p:nvSpPr>
          <p:cNvPr id="13" name="Rounded Rectangle 12"/>
          <p:cNvSpPr/>
          <p:nvPr/>
        </p:nvSpPr>
        <p:spPr>
          <a:xfrm>
            <a:off x="502920" y="3683202"/>
            <a:ext cx="11185855" cy="415137"/>
          </a:xfrm>
          <a:prstGeom prst="roundRect">
            <a:avLst>
              <a:gd name="adj" fmla="val 30000"/>
            </a:avLst>
          </a:prstGeom>
          <a:solidFill>
            <a:srgbClr val="E3F1E4"/>
          </a:solidFill>
          <a:ln w="31750">
            <a:solidFill>
              <a:srgbClr val="2E7D32"/>
            </a:solidFill>
          </a:ln>
          <a:effectLst/>
        </p:spPr>
        <p:txBody>
          <a:bodyPr rtlCol="0" anchor="ctr"/>
          <a:lstStyle/>
          <a:p/>
        </p:txBody>
      </p:sp>
      <p:sp>
        <p:nvSpPr>
          <p:cNvPr id="14" name="Oval 13"/>
          <p:cNvSpPr/>
          <p:nvPr/>
        </p:nvSpPr>
        <p:spPr>
          <a:xfrm>
            <a:off x="594360" y="3639310"/>
            <a:ext cx="502920" cy="50292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368320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262626"/>
                </a:solidFill>
                <a:latin typeface="Calibri"/>
              </a:rPr>
              <a:t>Sermaye</a:t>
            </a:r>
          </a:p>
        </p:txBody>
      </p:sp>
      <p:sp>
        <p:nvSpPr>
          <p:cNvPr id="16" name="Rounded Rectangle 15"/>
          <p:cNvSpPr/>
          <p:nvPr/>
        </p:nvSpPr>
        <p:spPr>
          <a:xfrm>
            <a:off x="502920" y="4208067"/>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164175"/>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20806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Su kaynakları</a:t>
            </a:r>
          </a:p>
        </p:txBody>
      </p:sp>
      <p:sp>
        <p:nvSpPr>
          <p:cNvPr id="19" name="Rounded Rectangle 18"/>
          <p:cNvSpPr/>
          <p:nvPr/>
        </p:nvSpPr>
        <p:spPr>
          <a:xfrm>
            <a:off x="502920" y="473293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468904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473293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Topoğrafik özellikler</a:t>
            </a:r>
          </a:p>
        </p:txBody>
      </p:sp>
      <p:sp>
        <p:nvSpPr>
          <p:cNvPr id="22" name="Rounded Rectangle 21"/>
          <p:cNvSpPr/>
          <p:nvPr/>
        </p:nvSpPr>
        <p:spPr>
          <a:xfrm>
            <a:off x="502920" y="5266944"/>
            <a:ext cx="11185855" cy="1005840"/>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2000" b="0" i="0">
                <a:solidFill>
                  <a:srgbClr val="262626"/>
                </a:solidFill>
                <a:latin typeface="Calibri"/>
              </a:rPr>
              <a:t>Sermaye insanların oluşturduğu beşerî bir faktördür (s. 177); toprak, bitki örtüsü, su kaynakları ve topoğrafik özellikler doğal faktörlerdir (s. 175).</a:t>
            </a:r>
          </a:p>
        </p:txBody>
      </p:sp>
      <p:sp>
        <p:nvSpPr>
          <p:cNvPr id="23" name="TextBox 2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24" name="Rounded Rectangle 2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175, 177</a:t>
            </a:r>
          </a:p>
        </p:txBody>
      </p:sp>
      <p:sp>
        <p:nvSpPr>
          <p:cNvPr id="25" name="TextBox 2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66 / 166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Beşerî faktörler: insandan gelenler</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5.1.2</a:t>
            </a:r>
          </a:p>
        </p:txBody>
      </p:sp>
      <p:sp>
        <p:nvSpPr>
          <p:cNvPr id="6" name="Rounded Rectangle 5"/>
          <p:cNvSpPr/>
          <p:nvPr/>
        </p:nvSpPr>
        <p:spPr>
          <a:xfrm>
            <a:off x="502920" y="1216152"/>
            <a:ext cx="11185855" cy="1188720"/>
          </a:xfrm>
          <a:prstGeom prst="roundRect">
            <a:avLst>
              <a:gd name="adj" fmla="val 8000"/>
            </a:avLst>
          </a:prstGeom>
          <a:solidFill>
            <a:srgbClr val="F0F0F0"/>
          </a:solidFill>
          <a:ln>
            <a:noFill/>
          </a:ln>
          <a:effectLst/>
        </p:spPr>
        <p:txBody>
          <a:bodyPr rtlCol="0" anchor="ctr"/>
          <a:lstStyle/>
          <a:p/>
        </p:txBody>
      </p:sp>
      <p:sp>
        <p:nvSpPr>
          <p:cNvPr id="7" name="Rectangle 6"/>
          <p:cNvSpPr/>
          <p:nvPr/>
        </p:nvSpPr>
        <p:spPr>
          <a:xfrm>
            <a:off x="502920" y="1216152"/>
            <a:ext cx="118872" cy="1188720"/>
          </a:xfrm>
          <a:prstGeom prst="rect">
            <a:avLst/>
          </a:prstGeom>
          <a:solidFill>
            <a:srgbClr val="2C6696"/>
          </a:solidFill>
          <a:ln>
            <a:noFill/>
          </a:ln>
          <a:effectLst/>
        </p:spPr>
        <p:txBody>
          <a:bodyPr rtlCol="0" anchor="ctr"/>
          <a:lstStyle/>
          <a:p/>
        </p:txBody>
      </p:sp>
      <p:sp>
        <p:nvSpPr>
          <p:cNvPr id="8" name="TextBox 7"/>
          <p:cNvSpPr txBox="1"/>
          <p:nvPr/>
        </p:nvSpPr>
        <p:spPr>
          <a:xfrm>
            <a:off x="777240" y="1216152"/>
            <a:ext cx="10774375" cy="1188720"/>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Ekonomik faaliyetlerin dağılışı ve gelişmesinde doğal faktörlerin yanı sıra nüfus (miktarı, artış hızı, yaş yapısı, eğitim düzeyi vb.), iş gücü, sermaye, teknoloji gibi beşerî faktörler de etkilidir.</a:t>
            </a:r>
          </a:p>
        </p:txBody>
      </p:sp>
      <p:sp>
        <p:nvSpPr>
          <p:cNvPr id="9" name="Rounded Rectangle 8"/>
          <p:cNvSpPr/>
          <p:nvPr/>
        </p:nvSpPr>
        <p:spPr>
          <a:xfrm>
            <a:off x="502920" y="2587752"/>
            <a:ext cx="3576218" cy="1005840"/>
          </a:xfrm>
          <a:prstGeom prst="roundRect">
            <a:avLst>
              <a:gd name="adj" fmla="val 15000"/>
            </a:avLst>
          </a:prstGeom>
          <a:solidFill>
            <a:srgbClr val="F0F0F0"/>
          </a:solidFill>
          <a:ln>
            <a:noFill/>
          </a:ln>
          <a:effectLst/>
        </p:spPr>
        <p:txBody>
          <a:bodyPr rtlCol="0" anchor="ctr"/>
          <a:lstStyle/>
          <a:p/>
        </p:txBody>
      </p:sp>
      <p:sp>
        <p:nvSpPr>
          <p:cNvPr id="10" name="Oval 9"/>
          <p:cNvSpPr/>
          <p:nvPr/>
        </p:nvSpPr>
        <p:spPr>
          <a:xfrm>
            <a:off x="667512" y="2770632"/>
            <a:ext cx="640080" cy="64008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400" b="1" i="0">
                <a:solidFill>
                  <a:srgbClr val="FFFFFF"/>
                </a:solidFill>
                <a:latin typeface="Calibri"/>
              </a:rPr>
              <a:t>1</a:t>
            </a:r>
          </a:p>
        </p:txBody>
      </p:sp>
      <p:sp>
        <p:nvSpPr>
          <p:cNvPr id="11" name="TextBox 10"/>
          <p:cNvSpPr txBox="1"/>
          <p:nvPr/>
        </p:nvSpPr>
        <p:spPr>
          <a:xfrm>
            <a:off x="1463040" y="2587752"/>
            <a:ext cx="2524658" cy="1005840"/>
          </a:xfrm>
          <a:prstGeom prst="rect">
            <a:avLst/>
          </a:prstGeom>
          <a:noFill/>
        </p:spPr>
        <p:txBody>
          <a:bodyPr wrap="square" anchor="ctr" lIns="73152" rIns="73152" tIns="36576" bIns="36576">
            <a:noAutofit/>
          </a:bodyPr>
          <a:lstStyle/>
          <a:p>
            <a:pPr algn="l">
              <a:spcBef>
                <a:spcPts val="0"/>
              </a:spcBef>
              <a:spcAft>
                <a:spcPts val="0"/>
              </a:spcAft>
            </a:pPr>
            <a:r>
              <a:rPr lang="tr-TR" sz="2600" b="1" i="0">
                <a:solidFill>
                  <a:srgbClr val="262626"/>
                </a:solidFill>
                <a:latin typeface="Calibri"/>
              </a:rPr>
              <a:t>Nüfus</a:t>
            </a:r>
          </a:p>
          <a:p>
            <a:pPr algn="l">
              <a:spcBef>
                <a:spcPts val="0"/>
              </a:spcBef>
              <a:spcAft>
                <a:spcPts val="0"/>
              </a:spcAft>
            </a:pPr>
            <a:r>
              <a:rPr lang="tr-TR" sz="1600" b="0" i="0">
                <a:solidFill>
                  <a:srgbClr val="767676"/>
                </a:solidFill>
                <a:latin typeface="Calibri"/>
              </a:rPr>
              <a:t>s. 177</a:t>
            </a:r>
          </a:p>
        </p:txBody>
      </p:sp>
      <p:sp>
        <p:nvSpPr>
          <p:cNvPr id="12" name="Rounded Rectangle 11"/>
          <p:cNvSpPr/>
          <p:nvPr/>
        </p:nvSpPr>
        <p:spPr>
          <a:xfrm>
            <a:off x="4307738" y="2587752"/>
            <a:ext cx="3576218" cy="1005840"/>
          </a:xfrm>
          <a:prstGeom prst="roundRect">
            <a:avLst>
              <a:gd name="adj" fmla="val 15000"/>
            </a:avLst>
          </a:prstGeom>
          <a:solidFill>
            <a:srgbClr val="F0F0F0"/>
          </a:solidFill>
          <a:ln>
            <a:noFill/>
          </a:ln>
          <a:effectLst/>
        </p:spPr>
        <p:txBody>
          <a:bodyPr rtlCol="0" anchor="ctr"/>
          <a:lstStyle/>
          <a:p/>
        </p:txBody>
      </p:sp>
      <p:sp>
        <p:nvSpPr>
          <p:cNvPr id="13" name="Oval 12"/>
          <p:cNvSpPr/>
          <p:nvPr/>
        </p:nvSpPr>
        <p:spPr>
          <a:xfrm>
            <a:off x="4472330" y="2770632"/>
            <a:ext cx="640080" cy="640080"/>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2400" b="1" i="0">
                <a:solidFill>
                  <a:srgbClr val="FFFFFF"/>
                </a:solidFill>
                <a:latin typeface="Calibri"/>
              </a:rPr>
              <a:t>2</a:t>
            </a:r>
          </a:p>
        </p:txBody>
      </p:sp>
      <p:sp>
        <p:nvSpPr>
          <p:cNvPr id="14" name="TextBox 13"/>
          <p:cNvSpPr txBox="1"/>
          <p:nvPr/>
        </p:nvSpPr>
        <p:spPr>
          <a:xfrm>
            <a:off x="5267858" y="2587752"/>
            <a:ext cx="2524658" cy="1005840"/>
          </a:xfrm>
          <a:prstGeom prst="rect">
            <a:avLst/>
          </a:prstGeom>
          <a:noFill/>
        </p:spPr>
        <p:txBody>
          <a:bodyPr wrap="square" anchor="ctr" lIns="73152" rIns="73152" tIns="36576" bIns="36576">
            <a:noAutofit/>
          </a:bodyPr>
          <a:lstStyle/>
          <a:p>
            <a:pPr algn="l">
              <a:spcBef>
                <a:spcPts val="0"/>
              </a:spcBef>
              <a:spcAft>
                <a:spcPts val="0"/>
              </a:spcAft>
            </a:pPr>
            <a:r>
              <a:rPr lang="tr-TR" sz="2600" b="1" i="0">
                <a:solidFill>
                  <a:srgbClr val="262626"/>
                </a:solidFill>
                <a:latin typeface="Calibri"/>
              </a:rPr>
              <a:t>İş gücü</a:t>
            </a:r>
          </a:p>
          <a:p>
            <a:pPr algn="l">
              <a:spcBef>
                <a:spcPts val="0"/>
              </a:spcBef>
              <a:spcAft>
                <a:spcPts val="0"/>
              </a:spcAft>
            </a:pPr>
            <a:r>
              <a:rPr lang="tr-TR" sz="1600" b="0" i="0">
                <a:solidFill>
                  <a:srgbClr val="767676"/>
                </a:solidFill>
                <a:latin typeface="Calibri"/>
              </a:rPr>
              <a:t>s. 177</a:t>
            </a:r>
          </a:p>
        </p:txBody>
      </p:sp>
      <p:sp>
        <p:nvSpPr>
          <p:cNvPr id="15" name="Rounded Rectangle 14"/>
          <p:cNvSpPr/>
          <p:nvPr/>
        </p:nvSpPr>
        <p:spPr>
          <a:xfrm>
            <a:off x="8112556" y="2587752"/>
            <a:ext cx="3576218" cy="1005840"/>
          </a:xfrm>
          <a:prstGeom prst="roundRect">
            <a:avLst>
              <a:gd name="adj" fmla="val 15000"/>
            </a:avLst>
          </a:prstGeom>
          <a:solidFill>
            <a:srgbClr val="F0F0F0"/>
          </a:solidFill>
          <a:ln>
            <a:noFill/>
          </a:ln>
          <a:effectLst/>
        </p:spPr>
        <p:txBody>
          <a:bodyPr rtlCol="0" anchor="ctr"/>
          <a:lstStyle/>
          <a:p/>
        </p:txBody>
      </p:sp>
      <p:sp>
        <p:nvSpPr>
          <p:cNvPr id="16" name="Oval 15"/>
          <p:cNvSpPr/>
          <p:nvPr/>
        </p:nvSpPr>
        <p:spPr>
          <a:xfrm>
            <a:off x="8277148" y="2770632"/>
            <a:ext cx="640080" cy="64008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400" b="1" i="0">
                <a:solidFill>
                  <a:srgbClr val="FFFFFF"/>
                </a:solidFill>
                <a:latin typeface="Calibri"/>
              </a:rPr>
              <a:t>3</a:t>
            </a:r>
          </a:p>
        </p:txBody>
      </p:sp>
      <p:sp>
        <p:nvSpPr>
          <p:cNvPr id="17" name="TextBox 16"/>
          <p:cNvSpPr txBox="1"/>
          <p:nvPr/>
        </p:nvSpPr>
        <p:spPr>
          <a:xfrm>
            <a:off x="9072676" y="2587752"/>
            <a:ext cx="2524658" cy="1005840"/>
          </a:xfrm>
          <a:prstGeom prst="rect">
            <a:avLst/>
          </a:prstGeom>
          <a:noFill/>
        </p:spPr>
        <p:txBody>
          <a:bodyPr wrap="square" anchor="ctr" lIns="73152" rIns="73152" tIns="36576" bIns="36576">
            <a:noAutofit/>
          </a:bodyPr>
          <a:lstStyle/>
          <a:p>
            <a:pPr algn="l">
              <a:spcBef>
                <a:spcPts val="0"/>
              </a:spcBef>
              <a:spcAft>
                <a:spcPts val="0"/>
              </a:spcAft>
            </a:pPr>
            <a:r>
              <a:rPr lang="tr-TR" sz="2600" b="1" i="0">
                <a:solidFill>
                  <a:srgbClr val="262626"/>
                </a:solidFill>
                <a:latin typeface="Calibri"/>
              </a:rPr>
              <a:t>Sermaye</a:t>
            </a:r>
          </a:p>
          <a:p>
            <a:pPr algn="l">
              <a:spcBef>
                <a:spcPts val="0"/>
              </a:spcBef>
              <a:spcAft>
                <a:spcPts val="0"/>
              </a:spcAft>
            </a:pPr>
            <a:r>
              <a:rPr lang="tr-TR" sz="1600" b="0" i="0">
                <a:solidFill>
                  <a:srgbClr val="767676"/>
                </a:solidFill>
                <a:latin typeface="Calibri"/>
              </a:rPr>
              <a:t>s. 177</a:t>
            </a:r>
          </a:p>
        </p:txBody>
      </p:sp>
      <p:sp>
        <p:nvSpPr>
          <p:cNvPr id="18" name="Rounded Rectangle 17"/>
          <p:cNvSpPr/>
          <p:nvPr/>
        </p:nvSpPr>
        <p:spPr>
          <a:xfrm>
            <a:off x="502920" y="3776472"/>
            <a:ext cx="3576218" cy="1005840"/>
          </a:xfrm>
          <a:prstGeom prst="roundRect">
            <a:avLst>
              <a:gd name="adj" fmla="val 15000"/>
            </a:avLst>
          </a:prstGeom>
          <a:solidFill>
            <a:srgbClr val="F0F0F0"/>
          </a:solidFill>
          <a:ln>
            <a:noFill/>
          </a:ln>
          <a:effectLst/>
        </p:spPr>
        <p:txBody>
          <a:bodyPr rtlCol="0" anchor="ctr"/>
          <a:lstStyle/>
          <a:p/>
        </p:txBody>
      </p:sp>
      <p:sp>
        <p:nvSpPr>
          <p:cNvPr id="19" name="Oval 18"/>
          <p:cNvSpPr/>
          <p:nvPr/>
        </p:nvSpPr>
        <p:spPr>
          <a:xfrm>
            <a:off x="667512" y="3959352"/>
            <a:ext cx="640080" cy="640080"/>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2400" b="1" i="0">
                <a:solidFill>
                  <a:srgbClr val="FFFFFF"/>
                </a:solidFill>
                <a:latin typeface="Calibri"/>
              </a:rPr>
              <a:t>4</a:t>
            </a:r>
          </a:p>
        </p:txBody>
      </p:sp>
      <p:sp>
        <p:nvSpPr>
          <p:cNvPr id="20" name="TextBox 19"/>
          <p:cNvSpPr txBox="1"/>
          <p:nvPr/>
        </p:nvSpPr>
        <p:spPr>
          <a:xfrm>
            <a:off x="1463040" y="3776472"/>
            <a:ext cx="2524658" cy="1005840"/>
          </a:xfrm>
          <a:prstGeom prst="rect">
            <a:avLst/>
          </a:prstGeom>
          <a:noFill/>
        </p:spPr>
        <p:txBody>
          <a:bodyPr wrap="square" anchor="ctr" lIns="73152" rIns="73152" tIns="36576" bIns="36576">
            <a:noAutofit/>
          </a:bodyPr>
          <a:lstStyle/>
          <a:p>
            <a:pPr algn="l">
              <a:spcBef>
                <a:spcPts val="0"/>
              </a:spcBef>
              <a:spcAft>
                <a:spcPts val="0"/>
              </a:spcAft>
            </a:pPr>
            <a:r>
              <a:rPr lang="tr-TR" sz="2450" b="1" i="0">
                <a:solidFill>
                  <a:srgbClr val="262626"/>
                </a:solidFill>
                <a:latin typeface="Calibri"/>
              </a:rPr>
              <a:t>Devlet politikaları</a:t>
            </a:r>
          </a:p>
          <a:p>
            <a:pPr algn="l">
              <a:spcBef>
                <a:spcPts val="0"/>
              </a:spcBef>
              <a:spcAft>
                <a:spcPts val="0"/>
              </a:spcAft>
            </a:pPr>
            <a:r>
              <a:rPr lang="tr-TR" sz="1507" b="0" i="0">
                <a:solidFill>
                  <a:srgbClr val="767676"/>
                </a:solidFill>
                <a:latin typeface="Calibri"/>
              </a:rPr>
              <a:t>s. 177</a:t>
            </a:r>
          </a:p>
        </p:txBody>
      </p:sp>
      <p:sp>
        <p:nvSpPr>
          <p:cNvPr id="21" name="Rounded Rectangle 20"/>
          <p:cNvSpPr/>
          <p:nvPr/>
        </p:nvSpPr>
        <p:spPr>
          <a:xfrm>
            <a:off x="4307738" y="3776472"/>
            <a:ext cx="3576218" cy="1005840"/>
          </a:xfrm>
          <a:prstGeom prst="roundRect">
            <a:avLst>
              <a:gd name="adj" fmla="val 15000"/>
            </a:avLst>
          </a:prstGeom>
          <a:solidFill>
            <a:srgbClr val="F0F0F0"/>
          </a:solidFill>
          <a:ln>
            <a:noFill/>
          </a:ln>
          <a:effectLst/>
        </p:spPr>
        <p:txBody>
          <a:bodyPr rtlCol="0" anchor="ctr"/>
          <a:lstStyle/>
          <a:p/>
        </p:txBody>
      </p:sp>
      <p:sp>
        <p:nvSpPr>
          <p:cNvPr id="22" name="Oval 21"/>
          <p:cNvSpPr/>
          <p:nvPr/>
        </p:nvSpPr>
        <p:spPr>
          <a:xfrm>
            <a:off x="4472330" y="3959352"/>
            <a:ext cx="640080" cy="64008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400" b="1" i="0">
                <a:solidFill>
                  <a:srgbClr val="FFFFFF"/>
                </a:solidFill>
                <a:latin typeface="Calibri"/>
              </a:rPr>
              <a:t>5</a:t>
            </a:r>
          </a:p>
        </p:txBody>
      </p:sp>
      <p:sp>
        <p:nvSpPr>
          <p:cNvPr id="23" name="TextBox 22"/>
          <p:cNvSpPr txBox="1"/>
          <p:nvPr/>
        </p:nvSpPr>
        <p:spPr>
          <a:xfrm>
            <a:off x="5267858" y="3776472"/>
            <a:ext cx="2524658" cy="1005840"/>
          </a:xfrm>
          <a:prstGeom prst="rect">
            <a:avLst/>
          </a:prstGeom>
          <a:noFill/>
        </p:spPr>
        <p:txBody>
          <a:bodyPr wrap="square" anchor="ctr" lIns="73152" rIns="73152" tIns="36576" bIns="36576">
            <a:noAutofit/>
          </a:bodyPr>
          <a:lstStyle/>
          <a:p>
            <a:pPr algn="l">
              <a:spcBef>
                <a:spcPts val="0"/>
              </a:spcBef>
              <a:spcAft>
                <a:spcPts val="0"/>
              </a:spcAft>
            </a:pPr>
            <a:r>
              <a:rPr lang="tr-TR" sz="2600" b="1" i="0">
                <a:solidFill>
                  <a:srgbClr val="262626"/>
                </a:solidFill>
                <a:latin typeface="Calibri"/>
              </a:rPr>
              <a:t>Teknoloji</a:t>
            </a:r>
          </a:p>
          <a:p>
            <a:pPr algn="l">
              <a:spcBef>
                <a:spcPts val="0"/>
              </a:spcBef>
              <a:spcAft>
                <a:spcPts val="0"/>
              </a:spcAft>
            </a:pPr>
            <a:r>
              <a:rPr lang="tr-TR" sz="1600" b="0" i="0">
                <a:solidFill>
                  <a:srgbClr val="767676"/>
                </a:solidFill>
                <a:latin typeface="Calibri"/>
              </a:rPr>
              <a:t>s. 178</a:t>
            </a:r>
          </a:p>
        </p:txBody>
      </p:sp>
      <p:sp>
        <p:nvSpPr>
          <p:cNvPr id="24" name="Rounded Rectangle 23"/>
          <p:cNvSpPr/>
          <p:nvPr/>
        </p:nvSpPr>
        <p:spPr>
          <a:xfrm>
            <a:off x="8112556" y="3776472"/>
            <a:ext cx="3576218" cy="1005840"/>
          </a:xfrm>
          <a:prstGeom prst="roundRect">
            <a:avLst>
              <a:gd name="adj" fmla="val 15000"/>
            </a:avLst>
          </a:prstGeom>
          <a:solidFill>
            <a:srgbClr val="F0F0F0"/>
          </a:solidFill>
          <a:ln>
            <a:noFill/>
          </a:ln>
          <a:effectLst/>
        </p:spPr>
        <p:txBody>
          <a:bodyPr rtlCol="0" anchor="ctr"/>
          <a:lstStyle/>
          <a:p/>
        </p:txBody>
      </p:sp>
      <p:sp>
        <p:nvSpPr>
          <p:cNvPr id="25" name="Oval 24"/>
          <p:cNvSpPr/>
          <p:nvPr/>
        </p:nvSpPr>
        <p:spPr>
          <a:xfrm>
            <a:off x="8277148" y="3959352"/>
            <a:ext cx="640080" cy="640080"/>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2400" b="1" i="0">
                <a:solidFill>
                  <a:srgbClr val="FFFFFF"/>
                </a:solidFill>
                <a:latin typeface="Calibri"/>
              </a:rPr>
              <a:t>6</a:t>
            </a:r>
          </a:p>
        </p:txBody>
      </p:sp>
      <p:sp>
        <p:nvSpPr>
          <p:cNvPr id="26" name="TextBox 25"/>
          <p:cNvSpPr txBox="1"/>
          <p:nvPr/>
        </p:nvSpPr>
        <p:spPr>
          <a:xfrm>
            <a:off x="9072676" y="3776472"/>
            <a:ext cx="2524658" cy="1005840"/>
          </a:xfrm>
          <a:prstGeom prst="rect">
            <a:avLst/>
          </a:prstGeom>
          <a:noFill/>
        </p:spPr>
        <p:txBody>
          <a:bodyPr wrap="square" anchor="ctr" lIns="73152" rIns="73152" tIns="36576" bIns="36576">
            <a:noAutofit/>
          </a:bodyPr>
          <a:lstStyle/>
          <a:p>
            <a:pPr algn="l">
              <a:spcBef>
                <a:spcPts val="0"/>
              </a:spcBef>
              <a:spcAft>
                <a:spcPts val="0"/>
              </a:spcAft>
            </a:pPr>
            <a:r>
              <a:rPr lang="tr-TR" sz="2600" b="1" i="0">
                <a:solidFill>
                  <a:srgbClr val="262626"/>
                </a:solidFill>
                <a:latin typeface="Calibri"/>
              </a:rPr>
              <a:t>Ulaşım</a:t>
            </a:r>
          </a:p>
          <a:p>
            <a:pPr algn="l">
              <a:spcBef>
                <a:spcPts val="0"/>
              </a:spcBef>
              <a:spcAft>
                <a:spcPts val="0"/>
              </a:spcAft>
            </a:pPr>
            <a:r>
              <a:rPr lang="tr-TR" sz="1600" b="0" i="0">
                <a:solidFill>
                  <a:srgbClr val="767676"/>
                </a:solidFill>
                <a:latin typeface="Calibri"/>
              </a:rPr>
              <a:t>s. 178</a:t>
            </a:r>
          </a:p>
        </p:txBody>
      </p:sp>
      <p:sp>
        <p:nvSpPr>
          <p:cNvPr id="27" name="TextBox 26"/>
          <p:cNvSpPr txBox="1"/>
          <p:nvPr/>
        </p:nvSpPr>
        <p:spPr>
          <a:xfrm>
            <a:off x="502920" y="5010912"/>
            <a:ext cx="11185855" cy="411480"/>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767676"/>
                </a:solidFill>
                <a:latin typeface="Calibri"/>
              </a:rPr>
              <a:t>Defterine üç sütunlu tablo:</a:t>
            </a:r>
          </a:p>
        </p:txBody>
      </p:sp>
      <p:sp>
        <p:nvSpPr>
          <p:cNvPr id="28" name="Rounded Rectangle 27"/>
          <p:cNvSpPr/>
          <p:nvPr/>
        </p:nvSpPr>
        <p:spPr>
          <a:xfrm>
            <a:off x="502920" y="5468112"/>
            <a:ext cx="3606698" cy="777240"/>
          </a:xfrm>
          <a:prstGeom prst="roundRect">
            <a:avLst>
              <a:gd name="adj" fmla="val 30000"/>
            </a:avLst>
          </a:prstGeom>
          <a:solidFill>
            <a:srgbClr val="FFFFFF"/>
          </a:solidFill>
          <a:ln w="19050">
            <a:solidFill>
              <a:srgbClr val="2C6696"/>
            </a:solidFill>
          </a:ln>
          <a:effectLst/>
        </p:spPr>
        <p:txBody>
          <a:bodyPr rtlCol="0" anchor="ctr" wrap="square" lIns="54864" rIns="54864" tIns="18288" bIns="18288">
            <a:noAutofit/>
          </a:bodyPr>
          <a:lstStyle/>
          <a:p>
            <a:pPr algn="ctr">
              <a:spcBef>
                <a:spcPts val="0"/>
              </a:spcBef>
              <a:spcAft>
                <a:spcPts val="0"/>
              </a:spcAft>
            </a:pPr>
            <a:r>
              <a:rPr lang="tr-TR" sz="2100" b="1" i="0">
                <a:solidFill>
                  <a:srgbClr val="2C6696"/>
                </a:solidFill>
                <a:latin typeface="Calibri"/>
              </a:rPr>
              <a:t>Faktör</a:t>
            </a:r>
          </a:p>
        </p:txBody>
      </p:sp>
      <p:sp>
        <p:nvSpPr>
          <p:cNvPr id="29" name="Rounded Rectangle 28"/>
          <p:cNvSpPr/>
          <p:nvPr/>
        </p:nvSpPr>
        <p:spPr>
          <a:xfrm>
            <a:off x="4292498" y="5468112"/>
            <a:ext cx="3606698" cy="777240"/>
          </a:xfrm>
          <a:prstGeom prst="roundRect">
            <a:avLst>
              <a:gd name="adj" fmla="val 30000"/>
            </a:avLst>
          </a:prstGeom>
          <a:solidFill>
            <a:srgbClr val="FFFFFF"/>
          </a:solidFill>
          <a:ln w="19050">
            <a:solidFill>
              <a:srgbClr val="2C6696"/>
            </a:solidFill>
          </a:ln>
          <a:effectLst/>
        </p:spPr>
        <p:txBody>
          <a:bodyPr rtlCol="0" anchor="ctr" wrap="square" lIns="54864" rIns="54864" tIns="18288" bIns="18288">
            <a:noAutofit/>
          </a:bodyPr>
          <a:lstStyle/>
          <a:p>
            <a:pPr algn="ctr">
              <a:spcBef>
                <a:spcPts val="0"/>
              </a:spcBef>
              <a:spcAft>
                <a:spcPts val="0"/>
              </a:spcAft>
            </a:pPr>
            <a:r>
              <a:rPr lang="tr-TR" sz="2100" b="1" i="0">
                <a:solidFill>
                  <a:srgbClr val="2C6696"/>
                </a:solidFill>
                <a:latin typeface="Calibri"/>
              </a:rPr>
              <a:t>Kitaptaki örnek</a:t>
            </a:r>
          </a:p>
        </p:txBody>
      </p:sp>
      <p:sp>
        <p:nvSpPr>
          <p:cNvPr id="30" name="Rounded Rectangle 29"/>
          <p:cNvSpPr/>
          <p:nvPr/>
        </p:nvSpPr>
        <p:spPr>
          <a:xfrm>
            <a:off x="8082076" y="5468112"/>
            <a:ext cx="3606698" cy="777240"/>
          </a:xfrm>
          <a:prstGeom prst="roundRect">
            <a:avLst>
              <a:gd name="adj" fmla="val 30000"/>
            </a:avLst>
          </a:prstGeom>
          <a:solidFill>
            <a:srgbClr val="FFFFFF"/>
          </a:solidFill>
          <a:ln w="19050">
            <a:solidFill>
              <a:srgbClr val="2C6696"/>
            </a:solidFill>
          </a:ln>
          <a:effectLst/>
        </p:spPr>
        <p:txBody>
          <a:bodyPr rtlCol="0" anchor="ctr" wrap="square" lIns="54864" rIns="54864" tIns="18288" bIns="18288">
            <a:noAutofit/>
          </a:bodyPr>
          <a:lstStyle/>
          <a:p>
            <a:pPr algn="ctr">
              <a:spcBef>
                <a:spcPts val="0"/>
              </a:spcBef>
              <a:spcAft>
                <a:spcPts val="0"/>
              </a:spcAft>
            </a:pPr>
            <a:r>
              <a:rPr lang="tr-TR" sz="2100" b="1" i="0">
                <a:solidFill>
                  <a:srgbClr val="2C6696"/>
                </a:solidFill>
                <a:latin typeface="Calibri"/>
              </a:rPr>
              <a:t>Yaşadığım yerden bir örnek</a:t>
            </a:r>
          </a:p>
        </p:txBody>
      </p:sp>
      <p:sp>
        <p:nvSpPr>
          <p:cNvPr id="31" name="TextBox 30"/>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32" name="Rounded Rectangle 31"/>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177-178</a:t>
            </a:r>
          </a:p>
        </p:txBody>
      </p:sp>
      <p:sp>
        <p:nvSpPr>
          <p:cNvPr id="33" name="TextBox 32"/>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67 / 166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Nüfus ve iş gücü</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BEŞERÎ FAKTÖR</a:t>
            </a:r>
          </a:p>
        </p:txBody>
      </p:sp>
      <p:sp>
        <p:nvSpPr>
          <p:cNvPr id="6" name="Rounded Rectangle 5"/>
          <p:cNvSpPr/>
          <p:nvPr/>
        </p:nvSpPr>
        <p:spPr>
          <a:xfrm>
            <a:off x="502920" y="1216152"/>
            <a:ext cx="5029200" cy="2148840"/>
          </a:xfrm>
          <a:prstGeom prst="roundRect">
            <a:avLst>
              <a:gd name="adj" fmla="val 5000"/>
            </a:avLst>
          </a:prstGeom>
          <a:solidFill>
            <a:srgbClr val="F0F0F0"/>
          </a:solidFill>
          <a:ln>
            <a:noFill/>
          </a:ln>
          <a:effectLst/>
        </p:spPr>
        <p:txBody>
          <a:bodyPr rtlCol="0" anchor="ctr"/>
          <a:lstStyle/>
          <a:p/>
        </p:txBody>
      </p:sp>
      <p:sp>
        <p:nvSpPr>
          <p:cNvPr id="7" name="Rounded Rectangle 6"/>
          <p:cNvSpPr/>
          <p:nvPr/>
        </p:nvSpPr>
        <p:spPr>
          <a:xfrm>
            <a:off x="502920" y="1216152"/>
            <a:ext cx="5029200" cy="530352"/>
          </a:xfrm>
          <a:prstGeom prst="roundRect">
            <a:avLst>
              <a:gd name="adj" fmla="val 25000"/>
            </a:avLst>
          </a:prstGeom>
          <a:solidFill>
            <a:srgbClr val="2C6696"/>
          </a:solidFill>
          <a:ln>
            <a:noFill/>
          </a:ln>
          <a:effectLst/>
        </p:spPr>
        <p:txBody>
          <a:bodyPr rtlCol="0" anchor="ctr"/>
          <a:lstStyle/>
          <a:p/>
        </p:txBody>
      </p:sp>
      <p:sp>
        <p:nvSpPr>
          <p:cNvPr id="8" name="Rectangle 7"/>
          <p:cNvSpPr/>
          <p:nvPr/>
        </p:nvSpPr>
        <p:spPr>
          <a:xfrm>
            <a:off x="502920" y="1481328"/>
            <a:ext cx="5029200" cy="265176"/>
          </a:xfrm>
          <a:prstGeom prst="rect">
            <a:avLst/>
          </a:prstGeom>
          <a:solidFill>
            <a:srgbClr val="2C6696"/>
          </a:solidFill>
          <a:ln>
            <a:noFill/>
          </a:ln>
          <a:effectLst/>
        </p:spPr>
        <p:txBody>
          <a:bodyPr rtlCol="0" anchor="ctr"/>
          <a:lstStyle/>
          <a:p/>
        </p:txBody>
      </p:sp>
      <p:sp>
        <p:nvSpPr>
          <p:cNvPr id="9" name="TextBox 8"/>
          <p:cNvSpPr txBox="1"/>
          <p:nvPr/>
        </p:nvSpPr>
        <p:spPr>
          <a:xfrm>
            <a:off x="594360" y="1216152"/>
            <a:ext cx="4846320" cy="530352"/>
          </a:xfrm>
          <a:prstGeom prst="rect">
            <a:avLst/>
          </a:prstGeom>
          <a:noFill/>
        </p:spPr>
        <p:txBody>
          <a:bodyPr wrap="square" anchor="ctr" lIns="73152" rIns="73152" tIns="36576" bIns="36576">
            <a:noAutofit/>
          </a:bodyPr>
          <a:lstStyle/>
          <a:p>
            <a:pPr algn="l">
              <a:spcBef>
                <a:spcPts val="0"/>
              </a:spcBef>
              <a:spcAft>
                <a:spcPts val="0"/>
              </a:spcAft>
            </a:pPr>
            <a:r>
              <a:rPr lang="tr-TR" sz="2100" b="1" i="0">
                <a:solidFill>
                  <a:srgbClr val="FFFFFF"/>
                </a:solidFill>
                <a:latin typeface="Calibri"/>
              </a:rPr>
              <a:t>Nüfus</a:t>
            </a:r>
          </a:p>
        </p:txBody>
      </p:sp>
      <p:sp>
        <p:nvSpPr>
          <p:cNvPr id="10" name="TextBox 9"/>
          <p:cNvSpPr txBox="1"/>
          <p:nvPr/>
        </p:nvSpPr>
        <p:spPr>
          <a:xfrm>
            <a:off x="612648" y="1819656"/>
            <a:ext cx="4809744" cy="1472184"/>
          </a:xfrm>
          <a:prstGeom prst="rect">
            <a:avLst/>
          </a:prstGeom>
          <a:noFill/>
        </p:spPr>
        <p:txBody>
          <a:bodyPr wrap="square" anchor="ctr" lIns="73152" rIns="73152" tIns="36576" bIns="36576">
            <a:noAutofit/>
          </a:bodyPr>
          <a:lstStyle/>
          <a:p>
            <a:pPr algn="l">
              <a:spcBef>
                <a:spcPts val="0"/>
              </a:spcBef>
              <a:spcAft>
                <a:spcPts val="600"/>
              </a:spcAft>
            </a:pPr>
            <a:r>
              <a:rPr lang="tr-TR" sz="2100" b="1" i="0">
                <a:solidFill>
                  <a:srgbClr val="2C6696"/>
                </a:solidFill>
                <a:latin typeface="Calibri"/>
              </a:rPr>
              <a:t>miktarı · artış hızı · yaş yapısı · eğitim düzeyi</a:t>
            </a:r>
          </a:p>
          <a:p>
            <a:pPr algn="l">
              <a:spcBef>
                <a:spcPts val="0"/>
              </a:spcBef>
              <a:spcAft>
                <a:spcPts val="0"/>
              </a:spcAft>
            </a:pPr>
            <a:r>
              <a:rPr lang="tr-TR" sz="2100" b="0" i="0">
                <a:solidFill>
                  <a:srgbClr val="262626"/>
                </a:solidFill>
                <a:latin typeface="Calibri"/>
              </a:rPr>
              <a:t>Bir ülkenin ekonomik büyüme hızı ile nüfus artış hızı dengeli olmalıdır.</a:t>
            </a:r>
          </a:p>
        </p:txBody>
      </p:sp>
      <p:sp>
        <p:nvSpPr>
          <p:cNvPr id="11" name="Rounded Rectangle 10"/>
          <p:cNvSpPr/>
          <p:nvPr/>
        </p:nvSpPr>
        <p:spPr>
          <a:xfrm>
            <a:off x="5760720" y="1216152"/>
            <a:ext cx="5928055" cy="2148840"/>
          </a:xfrm>
          <a:prstGeom prst="roundRect">
            <a:avLst>
              <a:gd name="adj" fmla="val 5000"/>
            </a:avLst>
          </a:prstGeom>
          <a:solidFill>
            <a:srgbClr val="F0F0F0"/>
          </a:solidFill>
          <a:ln>
            <a:noFill/>
          </a:ln>
          <a:effectLst/>
        </p:spPr>
        <p:txBody>
          <a:bodyPr rtlCol="0" anchor="ctr"/>
          <a:lstStyle/>
          <a:p/>
        </p:txBody>
      </p:sp>
      <p:sp>
        <p:nvSpPr>
          <p:cNvPr id="12" name="Rounded Rectangle 11"/>
          <p:cNvSpPr/>
          <p:nvPr/>
        </p:nvSpPr>
        <p:spPr>
          <a:xfrm>
            <a:off x="5760720" y="1216152"/>
            <a:ext cx="5928055" cy="530352"/>
          </a:xfrm>
          <a:prstGeom prst="roundRect">
            <a:avLst>
              <a:gd name="adj" fmla="val 25000"/>
            </a:avLst>
          </a:prstGeom>
          <a:solidFill>
            <a:srgbClr val="4F4F4F"/>
          </a:solidFill>
          <a:ln>
            <a:noFill/>
          </a:ln>
          <a:effectLst/>
        </p:spPr>
        <p:txBody>
          <a:bodyPr rtlCol="0" anchor="ctr"/>
          <a:lstStyle/>
          <a:p/>
        </p:txBody>
      </p:sp>
      <p:sp>
        <p:nvSpPr>
          <p:cNvPr id="13" name="Rectangle 12"/>
          <p:cNvSpPr/>
          <p:nvPr/>
        </p:nvSpPr>
        <p:spPr>
          <a:xfrm>
            <a:off x="5760720" y="1481328"/>
            <a:ext cx="5928055" cy="265176"/>
          </a:xfrm>
          <a:prstGeom prst="rect">
            <a:avLst/>
          </a:prstGeom>
          <a:solidFill>
            <a:srgbClr val="4F4F4F"/>
          </a:solidFill>
          <a:ln>
            <a:noFill/>
          </a:ln>
          <a:effectLst/>
        </p:spPr>
        <p:txBody>
          <a:bodyPr rtlCol="0" anchor="ctr"/>
          <a:lstStyle/>
          <a:p/>
        </p:txBody>
      </p:sp>
      <p:sp>
        <p:nvSpPr>
          <p:cNvPr id="14" name="TextBox 13"/>
          <p:cNvSpPr txBox="1"/>
          <p:nvPr/>
        </p:nvSpPr>
        <p:spPr>
          <a:xfrm>
            <a:off x="5852160" y="1216152"/>
            <a:ext cx="5745175" cy="530352"/>
          </a:xfrm>
          <a:prstGeom prst="rect">
            <a:avLst/>
          </a:prstGeom>
          <a:noFill/>
        </p:spPr>
        <p:txBody>
          <a:bodyPr wrap="square" anchor="ctr" lIns="73152" rIns="73152" tIns="36576" bIns="36576">
            <a:noAutofit/>
          </a:bodyPr>
          <a:lstStyle/>
          <a:p>
            <a:pPr algn="l">
              <a:spcBef>
                <a:spcPts val="0"/>
              </a:spcBef>
              <a:spcAft>
                <a:spcPts val="0"/>
              </a:spcAft>
            </a:pPr>
            <a:r>
              <a:rPr lang="tr-TR" sz="2100" b="1" i="0">
                <a:solidFill>
                  <a:srgbClr val="FFFFFF"/>
                </a:solidFill>
                <a:latin typeface="Calibri"/>
              </a:rPr>
              <a:t>İş gücü</a:t>
            </a:r>
          </a:p>
        </p:txBody>
      </p:sp>
      <p:sp>
        <p:nvSpPr>
          <p:cNvPr id="15" name="TextBox 14"/>
          <p:cNvSpPr txBox="1"/>
          <p:nvPr/>
        </p:nvSpPr>
        <p:spPr>
          <a:xfrm>
            <a:off x="5870448" y="1819656"/>
            <a:ext cx="5708599" cy="1472184"/>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Ekonomik faaliyetlerde yoğun makineleşmeye rağmen iş gücünün varlığı ve maliyeti önemini korumaktadır.</a:t>
            </a:r>
          </a:p>
        </p:txBody>
      </p:sp>
      <p:pic>
        <p:nvPicPr>
          <p:cNvPr id="16" name="Picture 15" descr="h29_g56_s177.jpg"/>
          <p:cNvPicPr>
            <a:picLocks noChangeAspect="1"/>
          </p:cNvPicPr>
          <p:nvPr/>
        </p:nvPicPr>
        <p:blipFill>
          <a:blip r:embed="rId3"/>
          <a:stretch>
            <a:fillRect/>
          </a:stretch>
        </p:blipFill>
        <p:spPr>
          <a:xfrm>
            <a:off x="502920" y="3529584"/>
            <a:ext cx="3362483" cy="2011680"/>
          </a:xfrm>
          <a:prstGeom prst="rect">
            <a:avLst/>
          </a:prstGeom>
          <a:ln w="9525">
            <a:solidFill>
              <a:srgbClr val="D9D9D9"/>
            </a:solidFill>
          </a:ln>
        </p:spPr>
      </p:pic>
      <p:sp>
        <p:nvSpPr>
          <p:cNvPr id="17" name="TextBox 16"/>
          <p:cNvSpPr txBox="1"/>
          <p:nvPr/>
        </p:nvSpPr>
        <p:spPr>
          <a:xfrm>
            <a:off x="502920" y="5568696"/>
            <a:ext cx="3362483" cy="722376"/>
          </a:xfrm>
          <a:prstGeom prst="rect">
            <a:avLst/>
          </a:prstGeom>
          <a:noFill/>
        </p:spPr>
        <p:txBody>
          <a:bodyPr wrap="square" anchor="t" lIns="73152" rIns="73152" tIns="0" bIns="0">
            <a:noAutofit/>
          </a:bodyPr>
          <a:lstStyle/>
          <a:p>
            <a:pPr algn="l">
              <a:spcBef>
                <a:spcPts val="0"/>
              </a:spcBef>
              <a:spcAft>
                <a:spcPts val="0"/>
              </a:spcAft>
            </a:pPr>
            <a:r>
              <a:rPr lang="tr-TR" sz="1400" b="0" i="1">
                <a:solidFill>
                  <a:srgbClr val="767676"/>
                </a:solidFill>
                <a:latin typeface="Calibri"/>
              </a:rPr>
              <a:t>Görsel 5.6: Teknolojinin yoğun olarak kullanıldığı ülkelerde vasıflı iş gücüne duyulan ihtiyaç artmaktadır.</a:t>
            </a:r>
          </a:p>
        </p:txBody>
      </p:sp>
      <p:sp>
        <p:nvSpPr>
          <p:cNvPr id="18" name="TextBox 17"/>
          <p:cNvSpPr txBox="1"/>
          <p:nvPr/>
        </p:nvSpPr>
        <p:spPr>
          <a:xfrm>
            <a:off x="4185443" y="3529584"/>
            <a:ext cx="7503332" cy="457200"/>
          </a:xfrm>
          <a:prstGeom prst="rect">
            <a:avLst/>
          </a:prstGeom>
          <a:noFill/>
        </p:spPr>
        <p:txBody>
          <a:bodyPr wrap="square" anchor="ctr" lIns="73152" rIns="73152" tIns="36576" bIns="36576">
            <a:noAutofit/>
          </a:bodyPr>
          <a:lstStyle/>
          <a:p>
            <a:pPr algn="l">
              <a:spcBef>
                <a:spcPts val="0"/>
              </a:spcBef>
              <a:spcAft>
                <a:spcPts val="0"/>
              </a:spcAft>
            </a:pPr>
            <a:r>
              <a:rPr lang="tr-TR" sz="2100" b="1" i="0">
                <a:solidFill>
                  <a:srgbClr val="4F4F4F"/>
                </a:solidFill>
                <a:latin typeface="Calibri"/>
              </a:rPr>
              <a:t>Üretimin bir kısmı nereye kayıyor?</a:t>
            </a:r>
          </a:p>
        </p:txBody>
      </p:sp>
      <p:sp>
        <p:nvSpPr>
          <p:cNvPr id="19" name="Rounded Rectangle 18"/>
          <p:cNvSpPr/>
          <p:nvPr/>
        </p:nvSpPr>
        <p:spPr>
          <a:xfrm>
            <a:off x="4185443" y="4123944"/>
            <a:ext cx="3157306" cy="1188720"/>
          </a:xfrm>
          <a:prstGeom prst="roundRect">
            <a:avLst>
              <a:gd name="adj" fmla="val 8000"/>
            </a:avLst>
          </a:prstGeom>
          <a:solidFill>
            <a:srgbClr val="2C6696"/>
          </a:solidFill>
          <a:ln>
            <a:noFill/>
          </a:ln>
          <a:effectLst/>
        </p:spPr>
        <p:txBody>
          <a:bodyPr rtlCol="0" anchor="ctr" wrap="square" lIns="128016" rIns="128016" tIns="73152" bIns="73152">
            <a:noAutofit/>
          </a:bodyPr>
          <a:lstStyle/>
          <a:p>
            <a:pPr algn="ctr">
              <a:spcBef>
                <a:spcPts val="0"/>
              </a:spcBef>
              <a:spcAft>
                <a:spcPts val="0"/>
              </a:spcAft>
            </a:pPr>
            <a:r>
              <a:rPr lang="tr-TR" sz="2200" b="1" i="0">
                <a:solidFill>
                  <a:srgbClr val="FFFFFF"/>
                </a:solidFill>
                <a:latin typeface="Calibri"/>
              </a:rPr>
              <a:t>Japonya · ABD · Almanya</a:t>
            </a:r>
          </a:p>
        </p:txBody>
      </p:sp>
      <p:sp>
        <p:nvSpPr>
          <p:cNvPr id="20" name="Rounded Rectangle 19"/>
          <p:cNvSpPr/>
          <p:nvPr/>
        </p:nvSpPr>
        <p:spPr>
          <a:xfrm>
            <a:off x="8531469" y="4123944"/>
            <a:ext cx="3157306" cy="1188720"/>
          </a:xfrm>
          <a:prstGeom prst="roundRect">
            <a:avLst>
              <a:gd name="adj" fmla="val 8000"/>
            </a:avLst>
          </a:prstGeom>
          <a:solidFill>
            <a:srgbClr val="4F4F4F"/>
          </a:solidFill>
          <a:ln>
            <a:noFill/>
          </a:ln>
          <a:effectLst/>
        </p:spPr>
        <p:txBody>
          <a:bodyPr rtlCol="0" anchor="ctr" wrap="square" lIns="128016" rIns="128016" tIns="73152" bIns="73152">
            <a:noAutofit/>
          </a:bodyPr>
          <a:lstStyle/>
          <a:p>
            <a:pPr algn="ctr">
              <a:spcBef>
                <a:spcPts val="0"/>
              </a:spcBef>
              <a:spcAft>
                <a:spcPts val="0"/>
              </a:spcAft>
            </a:pPr>
            <a:r>
              <a:rPr lang="tr-TR" sz="2200" b="1" i="0">
                <a:solidFill>
                  <a:srgbClr val="FFFFFF"/>
                </a:solidFill>
                <a:latin typeface="Calibri"/>
              </a:rPr>
              <a:t>Pakistan · Hindistan · Bangladeş</a:t>
            </a:r>
          </a:p>
        </p:txBody>
      </p:sp>
      <p:cxnSp>
        <p:nvCxnSpPr>
          <p:cNvPr id="21" name="Connector 20"/>
          <p:cNvCxnSpPr/>
          <p:nvPr/>
        </p:nvCxnSpPr>
        <p:spPr>
          <a:xfrm>
            <a:off x="7452477" y="4718304"/>
            <a:ext cx="969264" cy="0"/>
          </a:xfrm>
          <a:prstGeom prst="line">
            <a:avLst/>
          </a:prstGeom>
          <a:ln w="63500">
            <a:solidFill>
              <a:srgbClr val="FCC021"/>
            </a:solidFill>
            <a:tailEnd type="triangle" w="med" len="med"/>
          </a:ln>
        </p:spPr>
      </p:cxnSp>
      <p:sp>
        <p:nvSpPr>
          <p:cNvPr id="22" name="TextBox 21"/>
          <p:cNvSpPr txBox="1"/>
          <p:nvPr/>
        </p:nvSpPr>
        <p:spPr>
          <a:xfrm>
            <a:off x="4185443" y="5385816"/>
            <a:ext cx="3157306" cy="905256"/>
          </a:xfrm>
          <a:prstGeom prst="rect">
            <a:avLst/>
          </a:prstGeom>
          <a:noFill/>
        </p:spPr>
        <p:txBody>
          <a:bodyPr wrap="square" anchor="t" lIns="73152" rIns="73152" tIns="36576" bIns="36576">
            <a:noAutofit/>
          </a:bodyPr>
          <a:lstStyle/>
          <a:p>
            <a:pPr algn="ctr">
              <a:spcBef>
                <a:spcPts val="0"/>
              </a:spcBef>
              <a:spcAft>
                <a:spcPts val="0"/>
              </a:spcAft>
            </a:pPr>
            <a:r>
              <a:rPr lang="tr-TR" sz="1800" b="0" i="1">
                <a:solidFill>
                  <a:srgbClr val="767676"/>
                </a:solidFill>
                <a:latin typeface="Calibri"/>
              </a:rPr>
              <a:t>Gelişmiş ülkeler</a:t>
            </a:r>
          </a:p>
        </p:txBody>
      </p:sp>
      <p:sp>
        <p:nvSpPr>
          <p:cNvPr id="23" name="TextBox 22"/>
          <p:cNvSpPr txBox="1"/>
          <p:nvPr/>
        </p:nvSpPr>
        <p:spPr>
          <a:xfrm>
            <a:off x="8531469" y="5385816"/>
            <a:ext cx="3157306" cy="905256"/>
          </a:xfrm>
          <a:prstGeom prst="rect">
            <a:avLst/>
          </a:prstGeom>
          <a:noFill/>
        </p:spPr>
        <p:txBody>
          <a:bodyPr wrap="square" anchor="t" lIns="73152" rIns="73152" tIns="36576" bIns="36576">
            <a:noAutofit/>
          </a:bodyPr>
          <a:lstStyle/>
          <a:p>
            <a:pPr algn="ctr">
              <a:spcBef>
                <a:spcPts val="0"/>
              </a:spcBef>
              <a:spcAft>
                <a:spcPts val="0"/>
              </a:spcAft>
            </a:pPr>
            <a:r>
              <a:rPr lang="tr-TR" sz="1800" b="0" i="1">
                <a:solidFill>
                  <a:srgbClr val="767676"/>
                </a:solidFill>
                <a:latin typeface="Calibri"/>
              </a:rPr>
              <a:t>İş gücü maliyetlerinin düşük olduğu ülkeler</a:t>
            </a:r>
          </a:p>
        </p:txBody>
      </p:sp>
      <p:sp>
        <p:nvSpPr>
          <p:cNvPr id="24" name="TextBox 23"/>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25" name="Rounded Rectangle 24"/>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177</a:t>
            </a:r>
          </a:p>
        </p:txBody>
      </p:sp>
      <p:sp>
        <p:nvSpPr>
          <p:cNvPr id="26" name="TextBox 25"/>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68 / 166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Sermaye ve çok uluslu şirketler</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BEŞERÎ FAKTÖR</a:t>
            </a:r>
          </a:p>
        </p:txBody>
      </p:sp>
      <p:pic>
        <p:nvPicPr>
          <p:cNvPr id="6" name="Picture 5" descr="h29_g57_s177.jpg"/>
          <p:cNvPicPr>
            <a:picLocks noChangeAspect="1"/>
          </p:cNvPicPr>
          <p:nvPr/>
        </p:nvPicPr>
        <p:blipFill>
          <a:blip r:embed="rId3"/>
          <a:stretch>
            <a:fillRect/>
          </a:stretch>
        </p:blipFill>
        <p:spPr>
          <a:xfrm>
            <a:off x="502920" y="1216152"/>
            <a:ext cx="5212080" cy="3083814"/>
          </a:xfrm>
          <a:prstGeom prst="rect">
            <a:avLst/>
          </a:prstGeom>
          <a:ln w="9525">
            <a:solidFill>
              <a:srgbClr val="D9D9D9"/>
            </a:solidFill>
          </a:ln>
        </p:spPr>
      </p:pic>
      <p:sp>
        <p:nvSpPr>
          <p:cNvPr id="7" name="TextBox 6"/>
          <p:cNvSpPr txBox="1"/>
          <p:nvPr/>
        </p:nvSpPr>
        <p:spPr>
          <a:xfrm>
            <a:off x="502920" y="4336542"/>
            <a:ext cx="5212080" cy="566928"/>
          </a:xfrm>
          <a:prstGeom prst="rect">
            <a:avLst/>
          </a:prstGeom>
          <a:noFill/>
        </p:spPr>
        <p:txBody>
          <a:bodyPr wrap="square" anchor="t" lIns="73152" rIns="73152" tIns="0" bIns="0">
            <a:noAutofit/>
          </a:bodyPr>
          <a:lstStyle/>
          <a:p>
            <a:pPr algn="l">
              <a:spcBef>
                <a:spcPts val="0"/>
              </a:spcBef>
              <a:spcAft>
                <a:spcPts val="0"/>
              </a:spcAft>
            </a:pPr>
            <a:r>
              <a:rPr lang="tr-TR" sz="1500" b="0" i="1">
                <a:solidFill>
                  <a:srgbClr val="767676"/>
                </a:solidFill>
                <a:latin typeface="Calibri"/>
              </a:rPr>
              <a:t>Görsel 5.7: Bir sanayi tesisinin kuruluşu ve işletilmesi esnasında yüksek miktarda sermayeye ihtiyaç vardır.</a:t>
            </a:r>
          </a:p>
        </p:txBody>
      </p:sp>
      <p:sp>
        <p:nvSpPr>
          <p:cNvPr id="8" name="Rounded Rectangle 7"/>
          <p:cNvSpPr/>
          <p:nvPr/>
        </p:nvSpPr>
        <p:spPr>
          <a:xfrm>
            <a:off x="502920" y="4994910"/>
            <a:ext cx="5212080" cy="1296162"/>
          </a:xfrm>
          <a:prstGeom prst="roundRect">
            <a:avLst>
              <a:gd name="adj" fmla="val 8000"/>
            </a:avLst>
          </a:prstGeom>
          <a:solidFill>
            <a:srgbClr val="FFF3D1"/>
          </a:solidFill>
          <a:ln>
            <a:noFill/>
          </a:ln>
          <a:effectLst/>
        </p:spPr>
        <p:txBody>
          <a:bodyPr rtlCol="0" anchor="ctr" wrap="square" lIns="201168" rIns="201168" tIns="73152" bIns="73152">
            <a:noAutofit/>
          </a:bodyPr>
          <a:lstStyle/>
          <a:p>
            <a:pPr algn="l">
              <a:spcBef>
                <a:spcPts val="0"/>
              </a:spcBef>
              <a:spcAft>
                <a:spcPts val="0"/>
              </a:spcAft>
            </a:pPr>
            <a:r>
              <a:rPr lang="tr-TR" sz="2100" b="1" i="0">
                <a:solidFill>
                  <a:srgbClr val="262626"/>
                </a:solidFill>
                <a:latin typeface="Calibri"/>
              </a:rPr>
              <a:t>Düşün:</a:t>
            </a:r>
            <a:r>
              <a:rPr lang="tr-TR" sz="2100" b="0" i="0">
                <a:solidFill>
                  <a:srgbClr val="262626"/>
                </a:solidFill>
                <a:latin typeface="Calibri"/>
              </a:rPr>
              <a:t> Bu fabrikayı kurmak ve çalıştırmak için nelere para harcanır?</a:t>
            </a:r>
          </a:p>
        </p:txBody>
      </p:sp>
      <p:sp>
        <p:nvSpPr>
          <p:cNvPr id="9" name="Rounded Rectangle 8"/>
          <p:cNvSpPr/>
          <p:nvPr/>
        </p:nvSpPr>
        <p:spPr>
          <a:xfrm>
            <a:off x="5943600" y="1216152"/>
            <a:ext cx="5745175" cy="2331720"/>
          </a:xfrm>
          <a:prstGeom prst="roundRect">
            <a:avLst>
              <a:gd name="adj" fmla="val 5000"/>
            </a:avLst>
          </a:prstGeom>
          <a:solidFill>
            <a:srgbClr val="F0F0F0"/>
          </a:solidFill>
          <a:ln>
            <a:noFill/>
          </a:ln>
          <a:effectLst/>
        </p:spPr>
        <p:txBody>
          <a:bodyPr rtlCol="0" anchor="ctr"/>
          <a:lstStyle/>
          <a:p/>
        </p:txBody>
      </p:sp>
      <p:sp>
        <p:nvSpPr>
          <p:cNvPr id="10" name="Rounded Rectangle 9"/>
          <p:cNvSpPr/>
          <p:nvPr/>
        </p:nvSpPr>
        <p:spPr>
          <a:xfrm>
            <a:off x="5943600" y="1216152"/>
            <a:ext cx="5745175" cy="530352"/>
          </a:xfrm>
          <a:prstGeom prst="roundRect">
            <a:avLst>
              <a:gd name="adj" fmla="val 25000"/>
            </a:avLst>
          </a:prstGeom>
          <a:solidFill>
            <a:srgbClr val="2C6696"/>
          </a:solidFill>
          <a:ln>
            <a:noFill/>
          </a:ln>
          <a:effectLst/>
        </p:spPr>
        <p:txBody>
          <a:bodyPr rtlCol="0" anchor="ctr"/>
          <a:lstStyle/>
          <a:p/>
        </p:txBody>
      </p:sp>
      <p:sp>
        <p:nvSpPr>
          <p:cNvPr id="11" name="Rectangle 10"/>
          <p:cNvSpPr/>
          <p:nvPr/>
        </p:nvSpPr>
        <p:spPr>
          <a:xfrm>
            <a:off x="5943600" y="1481328"/>
            <a:ext cx="5745175" cy="265176"/>
          </a:xfrm>
          <a:prstGeom prst="rect">
            <a:avLst/>
          </a:prstGeom>
          <a:solidFill>
            <a:srgbClr val="2C6696"/>
          </a:solidFill>
          <a:ln>
            <a:noFill/>
          </a:ln>
          <a:effectLst/>
        </p:spPr>
        <p:txBody>
          <a:bodyPr rtlCol="0" anchor="ctr"/>
          <a:lstStyle/>
          <a:p/>
        </p:txBody>
      </p:sp>
      <p:sp>
        <p:nvSpPr>
          <p:cNvPr id="12" name="TextBox 11"/>
          <p:cNvSpPr txBox="1"/>
          <p:nvPr/>
        </p:nvSpPr>
        <p:spPr>
          <a:xfrm>
            <a:off x="6035040" y="1216152"/>
            <a:ext cx="5562295" cy="530352"/>
          </a:xfrm>
          <a:prstGeom prst="rect">
            <a:avLst/>
          </a:prstGeom>
          <a:noFill/>
        </p:spPr>
        <p:txBody>
          <a:bodyPr wrap="square" anchor="ctr" lIns="73152" rIns="73152" tIns="36576" bIns="36576">
            <a:noAutofit/>
          </a:bodyPr>
          <a:lstStyle/>
          <a:p>
            <a:pPr algn="l">
              <a:spcBef>
                <a:spcPts val="0"/>
              </a:spcBef>
              <a:spcAft>
                <a:spcPts val="0"/>
              </a:spcAft>
            </a:pPr>
            <a:r>
              <a:rPr lang="tr-TR" sz="2100" b="1" i="0">
                <a:solidFill>
                  <a:srgbClr val="FFFFFF"/>
                </a:solidFill>
                <a:latin typeface="Calibri"/>
              </a:rPr>
              <a:t>Sermaye</a:t>
            </a:r>
          </a:p>
        </p:txBody>
      </p:sp>
      <p:sp>
        <p:nvSpPr>
          <p:cNvPr id="13" name="TextBox 12"/>
          <p:cNvSpPr txBox="1"/>
          <p:nvPr/>
        </p:nvSpPr>
        <p:spPr>
          <a:xfrm>
            <a:off x="6053328" y="1819656"/>
            <a:ext cx="5525719" cy="1655064"/>
          </a:xfrm>
          <a:prstGeom prst="rect">
            <a:avLst/>
          </a:prstGeom>
          <a:noFill/>
        </p:spPr>
        <p:txBody>
          <a:bodyPr wrap="square" anchor="ctr" lIns="73152" rIns="73152" tIns="36576" bIns="36576">
            <a:noAutofit/>
          </a:bodyPr>
          <a:lstStyle/>
          <a:p>
            <a:pPr algn="l">
              <a:spcBef>
                <a:spcPts val="0"/>
              </a:spcBef>
              <a:spcAft>
                <a:spcPts val="569"/>
              </a:spcAft>
            </a:pPr>
            <a:r>
              <a:rPr lang="tr-TR" sz="1900" b="0" i="0">
                <a:solidFill>
                  <a:srgbClr val="262626"/>
                </a:solidFill>
                <a:latin typeface="Calibri"/>
              </a:rPr>
              <a:t>Sermaye; ekonomik faaliyetlerin yürütüldüğü tesislerin kuruluşu, devamlılığı ve gelişmesinde etkin rol oynar.</a:t>
            </a:r>
          </a:p>
          <a:p>
            <a:pPr algn="l">
              <a:spcBef>
                <a:spcPts val="0"/>
              </a:spcBef>
              <a:spcAft>
                <a:spcPts val="0"/>
              </a:spcAft>
            </a:pPr>
            <a:r>
              <a:rPr lang="tr-TR" sz="1900" b="1" i="0">
                <a:solidFill>
                  <a:srgbClr val="262626"/>
                </a:solidFill>
                <a:latin typeface="Calibri"/>
              </a:rPr>
              <a:t>Bu nedenle yeterli sermayeye sahip ülkeler, ekonomik faaliyetlerin yoğunlaştığı yerlerdir.</a:t>
            </a:r>
          </a:p>
        </p:txBody>
      </p:sp>
      <p:sp>
        <p:nvSpPr>
          <p:cNvPr id="14" name="Rounded Rectangle 13"/>
          <p:cNvSpPr/>
          <p:nvPr/>
        </p:nvSpPr>
        <p:spPr>
          <a:xfrm>
            <a:off x="5943600" y="3685032"/>
            <a:ext cx="5745175" cy="2560320"/>
          </a:xfrm>
          <a:prstGeom prst="roundRect">
            <a:avLst>
              <a:gd name="adj" fmla="val 5000"/>
            </a:avLst>
          </a:prstGeom>
          <a:solidFill>
            <a:srgbClr val="F0F0F0"/>
          </a:solidFill>
          <a:ln>
            <a:noFill/>
          </a:ln>
          <a:effectLst/>
        </p:spPr>
        <p:txBody>
          <a:bodyPr rtlCol="0" anchor="ctr"/>
          <a:lstStyle/>
          <a:p/>
        </p:txBody>
      </p:sp>
      <p:sp>
        <p:nvSpPr>
          <p:cNvPr id="15" name="Rounded Rectangle 14"/>
          <p:cNvSpPr/>
          <p:nvPr/>
        </p:nvSpPr>
        <p:spPr>
          <a:xfrm>
            <a:off x="5943600" y="3685032"/>
            <a:ext cx="5745175" cy="530352"/>
          </a:xfrm>
          <a:prstGeom prst="roundRect">
            <a:avLst>
              <a:gd name="adj" fmla="val 25000"/>
            </a:avLst>
          </a:prstGeom>
          <a:solidFill>
            <a:srgbClr val="4F4F4F"/>
          </a:solidFill>
          <a:ln>
            <a:noFill/>
          </a:ln>
          <a:effectLst/>
        </p:spPr>
        <p:txBody>
          <a:bodyPr rtlCol="0" anchor="ctr"/>
          <a:lstStyle/>
          <a:p/>
        </p:txBody>
      </p:sp>
      <p:sp>
        <p:nvSpPr>
          <p:cNvPr id="16" name="Rectangle 15"/>
          <p:cNvSpPr/>
          <p:nvPr/>
        </p:nvSpPr>
        <p:spPr>
          <a:xfrm>
            <a:off x="5943600" y="3950208"/>
            <a:ext cx="5745175" cy="265176"/>
          </a:xfrm>
          <a:prstGeom prst="rect">
            <a:avLst/>
          </a:prstGeom>
          <a:solidFill>
            <a:srgbClr val="4F4F4F"/>
          </a:solidFill>
          <a:ln>
            <a:noFill/>
          </a:ln>
          <a:effectLst/>
        </p:spPr>
        <p:txBody>
          <a:bodyPr rtlCol="0" anchor="ctr"/>
          <a:lstStyle/>
          <a:p/>
        </p:txBody>
      </p:sp>
      <p:sp>
        <p:nvSpPr>
          <p:cNvPr id="17" name="TextBox 16"/>
          <p:cNvSpPr txBox="1"/>
          <p:nvPr/>
        </p:nvSpPr>
        <p:spPr>
          <a:xfrm>
            <a:off x="6035040" y="3685032"/>
            <a:ext cx="5562295" cy="530352"/>
          </a:xfrm>
          <a:prstGeom prst="rect">
            <a:avLst/>
          </a:prstGeom>
          <a:noFill/>
        </p:spPr>
        <p:txBody>
          <a:bodyPr wrap="square" anchor="ctr" lIns="73152" rIns="73152" tIns="36576" bIns="36576">
            <a:noAutofit/>
          </a:bodyPr>
          <a:lstStyle/>
          <a:p>
            <a:pPr algn="l">
              <a:spcBef>
                <a:spcPts val="0"/>
              </a:spcBef>
              <a:spcAft>
                <a:spcPts val="0"/>
              </a:spcAft>
            </a:pPr>
            <a:r>
              <a:rPr lang="tr-TR" sz="2100" b="1" i="0">
                <a:solidFill>
                  <a:srgbClr val="FFFFFF"/>
                </a:solidFill>
                <a:latin typeface="Calibri"/>
              </a:rPr>
              <a:t>Çok uluslu şirketler</a:t>
            </a:r>
          </a:p>
        </p:txBody>
      </p:sp>
      <p:sp>
        <p:nvSpPr>
          <p:cNvPr id="18" name="TextBox 17"/>
          <p:cNvSpPr txBox="1"/>
          <p:nvPr/>
        </p:nvSpPr>
        <p:spPr>
          <a:xfrm>
            <a:off x="6053328" y="4288536"/>
            <a:ext cx="5525719" cy="1883664"/>
          </a:xfrm>
          <a:prstGeom prst="rect">
            <a:avLst/>
          </a:prstGeom>
          <a:noFill/>
        </p:spPr>
        <p:txBody>
          <a:bodyPr wrap="square" anchor="ctr" lIns="73152" rIns="73152" tIns="36576" bIns="36576">
            <a:noAutofit/>
          </a:bodyPr>
          <a:lstStyle/>
          <a:p>
            <a:pPr algn="l">
              <a:spcBef>
                <a:spcPts val="0"/>
              </a:spcBef>
              <a:spcAft>
                <a:spcPts val="600"/>
              </a:spcAft>
            </a:pPr>
            <a:r>
              <a:rPr lang="tr-TR" sz="2000" b="0" i="0">
                <a:solidFill>
                  <a:srgbClr val="262626"/>
                </a:solidFill>
                <a:latin typeface="Calibri"/>
              </a:rPr>
              <a:t>Çok uluslu şirketler, üretim faaliyetlerini birden fazla ülkede yürütebilmektedir.</a:t>
            </a:r>
          </a:p>
          <a:p>
            <a:pPr algn="l">
              <a:spcBef>
                <a:spcPts val="0"/>
              </a:spcBef>
              <a:spcAft>
                <a:spcPts val="0"/>
              </a:spcAft>
            </a:pPr>
            <a:r>
              <a:rPr lang="tr-TR" sz="2000" b="1" i="0">
                <a:solidFill>
                  <a:srgbClr val="262626"/>
                </a:solidFill>
                <a:latin typeface="Calibri"/>
              </a:rPr>
              <a:t>Bu sayede maliyetler düşmekte, sermaye hareketliliği yaşanmakta ve ülkeler arasındaki ticaret canlılık kazanmaktadır.</a:t>
            </a:r>
          </a:p>
        </p:txBody>
      </p:sp>
      <p:sp>
        <p:nvSpPr>
          <p:cNvPr id="19" name="TextBox 18"/>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20" name="Rounded Rectangle 19"/>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177</a:t>
            </a:r>
          </a:p>
        </p:txBody>
      </p:sp>
      <p:sp>
        <p:nvSpPr>
          <p:cNvPr id="21" name="TextBox 20"/>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69 / 166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Devlet politikaları</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BEŞERÎ FAKTÖR</a:t>
            </a:r>
          </a:p>
        </p:txBody>
      </p:sp>
      <p:sp>
        <p:nvSpPr>
          <p:cNvPr id="6" name="Rounded Rectangle 5"/>
          <p:cNvSpPr/>
          <p:nvPr/>
        </p:nvSpPr>
        <p:spPr>
          <a:xfrm>
            <a:off x="502920" y="1216152"/>
            <a:ext cx="11185855" cy="914400"/>
          </a:xfrm>
          <a:prstGeom prst="roundRect">
            <a:avLst>
              <a:gd name="adj" fmla="val 8000"/>
            </a:avLst>
          </a:prstGeom>
          <a:solidFill>
            <a:srgbClr val="F0F0F0"/>
          </a:solidFill>
          <a:ln>
            <a:noFill/>
          </a:ln>
          <a:effectLst/>
        </p:spPr>
        <p:txBody>
          <a:bodyPr rtlCol="0" anchor="ctr"/>
          <a:lstStyle/>
          <a:p/>
        </p:txBody>
      </p:sp>
      <p:sp>
        <p:nvSpPr>
          <p:cNvPr id="7" name="Rectangle 6"/>
          <p:cNvSpPr/>
          <p:nvPr/>
        </p:nvSpPr>
        <p:spPr>
          <a:xfrm>
            <a:off x="502920" y="1216152"/>
            <a:ext cx="118872" cy="914400"/>
          </a:xfrm>
          <a:prstGeom prst="rect">
            <a:avLst/>
          </a:prstGeom>
          <a:solidFill>
            <a:srgbClr val="2C6696"/>
          </a:solidFill>
          <a:ln>
            <a:noFill/>
          </a:ln>
          <a:effectLst/>
        </p:spPr>
        <p:txBody>
          <a:bodyPr rtlCol="0" anchor="ctr"/>
          <a:lstStyle/>
          <a:p/>
        </p:txBody>
      </p:sp>
      <p:sp>
        <p:nvSpPr>
          <p:cNvPr id="8" name="TextBox 7"/>
          <p:cNvSpPr txBox="1"/>
          <p:nvPr/>
        </p:nvSpPr>
        <p:spPr>
          <a:xfrm>
            <a:off x="777240" y="1216152"/>
            <a:ext cx="10774375" cy="914400"/>
          </a:xfrm>
          <a:prstGeom prst="rect">
            <a:avLst/>
          </a:prstGeom>
          <a:noFill/>
        </p:spPr>
        <p:txBody>
          <a:bodyPr wrap="square" anchor="ctr" lIns="73152" rIns="73152" tIns="36576" bIns="36576">
            <a:noAutofit/>
          </a:bodyPr>
          <a:lstStyle/>
          <a:p>
            <a:pPr algn="l">
              <a:spcBef>
                <a:spcPts val="0"/>
              </a:spcBef>
              <a:spcAft>
                <a:spcPts val="0"/>
              </a:spcAft>
            </a:pPr>
            <a:r>
              <a:rPr lang="tr-TR" sz="2400" b="0" i="0">
                <a:solidFill>
                  <a:srgbClr val="262626"/>
                </a:solidFill>
                <a:latin typeface="Calibri"/>
              </a:rPr>
              <a:t>Devletler, uyguladıkları ekonomi politikalarıyla ekonomik faaliyetleri etkilemektedir.</a:t>
            </a:r>
          </a:p>
        </p:txBody>
      </p:sp>
      <p:sp>
        <p:nvSpPr>
          <p:cNvPr id="9" name="Rounded Rectangle 8"/>
          <p:cNvSpPr/>
          <p:nvPr/>
        </p:nvSpPr>
        <p:spPr>
          <a:xfrm>
            <a:off x="502920" y="2267712"/>
            <a:ext cx="5455767" cy="1600200"/>
          </a:xfrm>
          <a:prstGeom prst="roundRect">
            <a:avLst>
              <a:gd name="adj" fmla="val 5000"/>
            </a:avLst>
          </a:prstGeom>
          <a:solidFill>
            <a:srgbClr val="F0F0F0"/>
          </a:solidFill>
          <a:ln>
            <a:noFill/>
          </a:ln>
          <a:effectLst/>
        </p:spPr>
        <p:txBody>
          <a:bodyPr rtlCol="0" anchor="ctr"/>
          <a:lstStyle/>
          <a:p/>
        </p:txBody>
      </p:sp>
      <p:sp>
        <p:nvSpPr>
          <p:cNvPr id="10" name="Rounded Rectangle 9"/>
          <p:cNvSpPr/>
          <p:nvPr/>
        </p:nvSpPr>
        <p:spPr>
          <a:xfrm>
            <a:off x="502920" y="2267712"/>
            <a:ext cx="5455767" cy="530352"/>
          </a:xfrm>
          <a:prstGeom prst="roundRect">
            <a:avLst>
              <a:gd name="adj" fmla="val 25000"/>
            </a:avLst>
          </a:prstGeom>
          <a:solidFill>
            <a:srgbClr val="2C6696"/>
          </a:solidFill>
          <a:ln>
            <a:noFill/>
          </a:ln>
          <a:effectLst/>
        </p:spPr>
        <p:txBody>
          <a:bodyPr rtlCol="0" anchor="ctr"/>
          <a:lstStyle/>
          <a:p/>
        </p:txBody>
      </p:sp>
      <p:sp>
        <p:nvSpPr>
          <p:cNvPr id="11" name="Rectangle 10"/>
          <p:cNvSpPr/>
          <p:nvPr/>
        </p:nvSpPr>
        <p:spPr>
          <a:xfrm>
            <a:off x="502920" y="2532888"/>
            <a:ext cx="5455767" cy="265176"/>
          </a:xfrm>
          <a:prstGeom prst="rect">
            <a:avLst/>
          </a:prstGeom>
          <a:solidFill>
            <a:srgbClr val="2C6696"/>
          </a:solidFill>
          <a:ln>
            <a:noFill/>
          </a:ln>
          <a:effectLst/>
        </p:spPr>
        <p:txBody>
          <a:bodyPr rtlCol="0" anchor="ctr"/>
          <a:lstStyle/>
          <a:p/>
        </p:txBody>
      </p:sp>
      <p:sp>
        <p:nvSpPr>
          <p:cNvPr id="12" name="TextBox 11"/>
          <p:cNvSpPr txBox="1"/>
          <p:nvPr/>
        </p:nvSpPr>
        <p:spPr>
          <a:xfrm>
            <a:off x="594360" y="2267712"/>
            <a:ext cx="5272887" cy="530352"/>
          </a:xfrm>
          <a:prstGeom prst="rect">
            <a:avLst/>
          </a:prstGeom>
          <a:noFill/>
        </p:spPr>
        <p:txBody>
          <a:bodyPr wrap="square" anchor="ctr" lIns="73152" rIns="73152" tIns="36576" bIns="36576">
            <a:noAutofit/>
          </a:bodyPr>
          <a:lstStyle/>
          <a:p>
            <a:pPr algn="l">
              <a:spcBef>
                <a:spcPts val="0"/>
              </a:spcBef>
              <a:spcAft>
                <a:spcPts val="0"/>
              </a:spcAft>
            </a:pPr>
            <a:r>
              <a:rPr lang="tr-TR" sz="2100" b="1" i="0">
                <a:solidFill>
                  <a:srgbClr val="FFFFFF"/>
                </a:solidFill>
                <a:latin typeface="Calibri"/>
              </a:rPr>
              <a:t>Devlet kontrolü fazla</a:t>
            </a:r>
          </a:p>
        </p:txBody>
      </p:sp>
      <p:sp>
        <p:nvSpPr>
          <p:cNvPr id="13" name="TextBox 12"/>
          <p:cNvSpPr txBox="1"/>
          <p:nvPr/>
        </p:nvSpPr>
        <p:spPr>
          <a:xfrm>
            <a:off x="612648" y="2871216"/>
            <a:ext cx="5236311" cy="923544"/>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Bazı ülkelerde ekonomik faaliyetler önemli ölçüde devlet kontrolünde gerçekleşirken …</a:t>
            </a:r>
          </a:p>
        </p:txBody>
      </p:sp>
      <p:sp>
        <p:nvSpPr>
          <p:cNvPr id="14" name="Rounded Rectangle 13"/>
          <p:cNvSpPr/>
          <p:nvPr/>
        </p:nvSpPr>
        <p:spPr>
          <a:xfrm>
            <a:off x="6233007" y="2267712"/>
            <a:ext cx="5455767" cy="1600200"/>
          </a:xfrm>
          <a:prstGeom prst="roundRect">
            <a:avLst>
              <a:gd name="adj" fmla="val 5000"/>
            </a:avLst>
          </a:prstGeom>
          <a:solidFill>
            <a:srgbClr val="F0F0F0"/>
          </a:solidFill>
          <a:ln>
            <a:noFill/>
          </a:ln>
          <a:effectLst/>
        </p:spPr>
        <p:txBody>
          <a:bodyPr rtlCol="0" anchor="ctr"/>
          <a:lstStyle/>
          <a:p/>
        </p:txBody>
      </p:sp>
      <p:sp>
        <p:nvSpPr>
          <p:cNvPr id="15" name="Rounded Rectangle 14"/>
          <p:cNvSpPr/>
          <p:nvPr/>
        </p:nvSpPr>
        <p:spPr>
          <a:xfrm>
            <a:off x="6233007" y="2267712"/>
            <a:ext cx="5455767" cy="530352"/>
          </a:xfrm>
          <a:prstGeom prst="roundRect">
            <a:avLst>
              <a:gd name="adj" fmla="val 25000"/>
            </a:avLst>
          </a:prstGeom>
          <a:solidFill>
            <a:srgbClr val="4F4F4F"/>
          </a:solidFill>
          <a:ln>
            <a:noFill/>
          </a:ln>
          <a:effectLst/>
        </p:spPr>
        <p:txBody>
          <a:bodyPr rtlCol="0" anchor="ctr"/>
          <a:lstStyle/>
          <a:p/>
        </p:txBody>
      </p:sp>
      <p:sp>
        <p:nvSpPr>
          <p:cNvPr id="16" name="Rectangle 15"/>
          <p:cNvSpPr/>
          <p:nvPr/>
        </p:nvSpPr>
        <p:spPr>
          <a:xfrm>
            <a:off x="6233007" y="2532888"/>
            <a:ext cx="5455767" cy="265176"/>
          </a:xfrm>
          <a:prstGeom prst="rect">
            <a:avLst/>
          </a:prstGeom>
          <a:solidFill>
            <a:srgbClr val="4F4F4F"/>
          </a:solidFill>
          <a:ln>
            <a:noFill/>
          </a:ln>
          <a:effectLst/>
        </p:spPr>
        <p:txBody>
          <a:bodyPr rtlCol="0" anchor="ctr"/>
          <a:lstStyle/>
          <a:p/>
        </p:txBody>
      </p:sp>
      <p:sp>
        <p:nvSpPr>
          <p:cNvPr id="17" name="TextBox 16"/>
          <p:cNvSpPr txBox="1"/>
          <p:nvPr/>
        </p:nvSpPr>
        <p:spPr>
          <a:xfrm>
            <a:off x="6324447" y="2267712"/>
            <a:ext cx="5272887" cy="530352"/>
          </a:xfrm>
          <a:prstGeom prst="rect">
            <a:avLst/>
          </a:prstGeom>
          <a:noFill/>
        </p:spPr>
        <p:txBody>
          <a:bodyPr wrap="square" anchor="ctr" lIns="73152" rIns="73152" tIns="36576" bIns="36576">
            <a:noAutofit/>
          </a:bodyPr>
          <a:lstStyle/>
          <a:p>
            <a:pPr algn="l">
              <a:spcBef>
                <a:spcPts val="0"/>
              </a:spcBef>
              <a:spcAft>
                <a:spcPts val="0"/>
              </a:spcAft>
            </a:pPr>
            <a:r>
              <a:rPr lang="tr-TR" sz="2100" b="1" i="0">
                <a:solidFill>
                  <a:srgbClr val="FFFFFF"/>
                </a:solidFill>
                <a:latin typeface="Calibri"/>
              </a:rPr>
              <a:t>Devletin müdahalesi sınırlı</a:t>
            </a:r>
          </a:p>
        </p:txBody>
      </p:sp>
      <p:sp>
        <p:nvSpPr>
          <p:cNvPr id="18" name="TextBox 17"/>
          <p:cNvSpPr txBox="1"/>
          <p:nvPr/>
        </p:nvSpPr>
        <p:spPr>
          <a:xfrm>
            <a:off x="6342735" y="2871216"/>
            <a:ext cx="5236311" cy="923544"/>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 bazı ülkelerde devletin ekonomiye müdahalesi sınırlıdır.</a:t>
            </a:r>
          </a:p>
        </p:txBody>
      </p:sp>
      <p:sp>
        <p:nvSpPr>
          <p:cNvPr id="19" name="Rounded Rectangle 18"/>
          <p:cNvSpPr/>
          <p:nvPr/>
        </p:nvSpPr>
        <p:spPr>
          <a:xfrm>
            <a:off x="502920" y="4050792"/>
            <a:ext cx="2661818" cy="777240"/>
          </a:xfrm>
          <a:prstGeom prst="roundRect">
            <a:avLst>
              <a:gd name="adj" fmla="val 30000"/>
            </a:avLst>
          </a:prstGeom>
          <a:solidFill>
            <a:srgbClr val="E3ECF5"/>
          </a:solidFill>
          <a:ln w="19050">
            <a:solidFill>
              <a:srgbClr val="2C6696"/>
            </a:solidFill>
          </a:ln>
          <a:effectLst/>
        </p:spPr>
        <p:txBody>
          <a:bodyPr rtlCol="0" anchor="ctr" wrap="square" lIns="54864" rIns="54864" tIns="18288" bIns="18288">
            <a:noAutofit/>
          </a:bodyPr>
          <a:lstStyle/>
          <a:p>
            <a:pPr algn="ctr">
              <a:spcBef>
                <a:spcPts val="0"/>
              </a:spcBef>
              <a:spcAft>
                <a:spcPts val="0"/>
              </a:spcAft>
            </a:pPr>
            <a:r>
              <a:rPr lang="tr-TR" sz="2100" b="1" i="0">
                <a:solidFill>
                  <a:srgbClr val="2C6696"/>
                </a:solidFill>
                <a:latin typeface="Calibri"/>
              </a:rPr>
              <a:t>Ekonomik istikrar</a:t>
            </a:r>
          </a:p>
        </p:txBody>
      </p:sp>
      <p:sp>
        <p:nvSpPr>
          <p:cNvPr id="20" name="Rounded Rectangle 19"/>
          <p:cNvSpPr/>
          <p:nvPr/>
        </p:nvSpPr>
        <p:spPr>
          <a:xfrm>
            <a:off x="3301898" y="4050792"/>
            <a:ext cx="2661818" cy="777240"/>
          </a:xfrm>
          <a:prstGeom prst="roundRect">
            <a:avLst>
              <a:gd name="adj" fmla="val 30000"/>
            </a:avLst>
          </a:prstGeom>
          <a:solidFill>
            <a:srgbClr val="E3ECF5"/>
          </a:solidFill>
          <a:ln w="19050">
            <a:solidFill>
              <a:srgbClr val="2C6696"/>
            </a:solidFill>
          </a:ln>
          <a:effectLst/>
        </p:spPr>
        <p:txBody>
          <a:bodyPr rtlCol="0" anchor="ctr" wrap="square" lIns="54864" rIns="54864" tIns="18288" bIns="18288">
            <a:noAutofit/>
          </a:bodyPr>
          <a:lstStyle/>
          <a:p>
            <a:pPr algn="ctr">
              <a:spcBef>
                <a:spcPts val="0"/>
              </a:spcBef>
              <a:spcAft>
                <a:spcPts val="0"/>
              </a:spcAft>
            </a:pPr>
            <a:r>
              <a:rPr lang="tr-TR" sz="2100" b="1" i="0">
                <a:solidFill>
                  <a:srgbClr val="2C6696"/>
                </a:solidFill>
                <a:latin typeface="Calibri"/>
              </a:rPr>
              <a:t>Hukuki istikrar</a:t>
            </a:r>
          </a:p>
        </p:txBody>
      </p:sp>
      <p:sp>
        <p:nvSpPr>
          <p:cNvPr id="21" name="Rounded Rectangle 20"/>
          <p:cNvSpPr/>
          <p:nvPr/>
        </p:nvSpPr>
        <p:spPr>
          <a:xfrm>
            <a:off x="6100876" y="4050792"/>
            <a:ext cx="2661818" cy="777240"/>
          </a:xfrm>
          <a:prstGeom prst="roundRect">
            <a:avLst>
              <a:gd name="adj" fmla="val 30000"/>
            </a:avLst>
          </a:prstGeom>
          <a:solidFill>
            <a:srgbClr val="E3ECF5"/>
          </a:solidFill>
          <a:ln w="19050">
            <a:solidFill>
              <a:srgbClr val="2C6696"/>
            </a:solidFill>
          </a:ln>
          <a:effectLst/>
        </p:spPr>
        <p:txBody>
          <a:bodyPr rtlCol="0" anchor="ctr" wrap="square" lIns="54864" rIns="54864" tIns="18288" bIns="18288">
            <a:noAutofit/>
          </a:bodyPr>
          <a:lstStyle/>
          <a:p>
            <a:pPr algn="ctr">
              <a:spcBef>
                <a:spcPts val="0"/>
              </a:spcBef>
              <a:spcAft>
                <a:spcPts val="0"/>
              </a:spcAft>
            </a:pPr>
            <a:r>
              <a:rPr lang="tr-TR" sz="2100" b="1" i="0">
                <a:solidFill>
                  <a:srgbClr val="2C6696"/>
                </a:solidFill>
                <a:latin typeface="Calibri"/>
              </a:rPr>
              <a:t>Siyasal istikrar</a:t>
            </a:r>
          </a:p>
        </p:txBody>
      </p:sp>
      <p:cxnSp>
        <p:nvCxnSpPr>
          <p:cNvPr id="22" name="Connector 21"/>
          <p:cNvCxnSpPr/>
          <p:nvPr/>
        </p:nvCxnSpPr>
        <p:spPr>
          <a:xfrm>
            <a:off x="8835847" y="4439412"/>
            <a:ext cx="493776" cy="0"/>
          </a:xfrm>
          <a:prstGeom prst="line">
            <a:avLst/>
          </a:prstGeom>
          <a:ln w="63500">
            <a:solidFill>
              <a:srgbClr val="FCC021"/>
            </a:solidFill>
            <a:tailEnd type="triangle" w="med" len="med"/>
          </a:ln>
        </p:spPr>
      </p:cxnSp>
      <p:sp>
        <p:nvSpPr>
          <p:cNvPr id="23" name="Rounded Rectangle 22"/>
          <p:cNvSpPr/>
          <p:nvPr/>
        </p:nvSpPr>
        <p:spPr>
          <a:xfrm>
            <a:off x="9402775" y="4050792"/>
            <a:ext cx="2286000" cy="777240"/>
          </a:xfrm>
          <a:prstGeom prst="roundRect">
            <a:avLst>
              <a:gd name="adj" fmla="val 30000"/>
            </a:avLst>
          </a:prstGeom>
          <a:solidFill>
            <a:srgbClr val="2C6696"/>
          </a:solidFill>
          <a:ln>
            <a:noFill/>
          </a:ln>
          <a:effectLst/>
        </p:spPr>
        <p:txBody>
          <a:bodyPr rtlCol="0" anchor="ctr" wrap="square" lIns="54864" rIns="54864" tIns="18288" bIns="18288">
            <a:noAutofit/>
          </a:bodyPr>
          <a:lstStyle/>
          <a:p>
            <a:pPr algn="ctr">
              <a:spcBef>
                <a:spcPts val="0"/>
              </a:spcBef>
              <a:spcAft>
                <a:spcPts val="0"/>
              </a:spcAft>
            </a:pPr>
            <a:r>
              <a:rPr lang="tr-TR" sz="1900" b="1" i="0">
                <a:solidFill>
                  <a:srgbClr val="FFFFFF"/>
                </a:solidFill>
                <a:latin typeface="Calibri"/>
              </a:rPr>
              <a:t>yabancı sermaye girişi</a:t>
            </a:r>
          </a:p>
        </p:txBody>
      </p:sp>
      <p:sp>
        <p:nvSpPr>
          <p:cNvPr id="24" name="Rounded Rectangle 23"/>
          <p:cNvSpPr/>
          <p:nvPr/>
        </p:nvSpPr>
        <p:spPr>
          <a:xfrm>
            <a:off x="502920" y="5010912"/>
            <a:ext cx="11185855" cy="1280160"/>
          </a:xfrm>
          <a:prstGeom prst="roundRect">
            <a:avLst>
              <a:gd name="adj" fmla="val 8000"/>
            </a:avLst>
          </a:prstGeom>
          <a:solidFill>
            <a:srgbClr val="FFF3D1"/>
          </a:solidFill>
          <a:ln>
            <a:noFill/>
          </a:ln>
          <a:effectLst/>
        </p:spPr>
        <p:txBody>
          <a:bodyPr rtlCol="0" anchor="ctr" wrap="square" lIns="201168" rIns="201168" tIns="73152" bIns="73152">
            <a:noAutofit/>
          </a:bodyPr>
          <a:lstStyle/>
          <a:p>
            <a:pPr algn="ctr">
              <a:spcBef>
                <a:spcPts val="0"/>
              </a:spcBef>
              <a:spcAft>
                <a:spcPts val="0"/>
              </a:spcAft>
            </a:pPr>
            <a:r>
              <a:rPr lang="tr-TR" sz="2200" b="0" i="0">
                <a:solidFill>
                  <a:srgbClr val="262626"/>
                </a:solidFill>
                <a:latin typeface="Calibri"/>
              </a:rPr>
              <a:t>Gelişmekte olan ülkelere yabancı sermaye girişi; ekonomik, hukuki ve siyasal istikrar sağlandığı ölçüde gerçekleşebilmektedir.</a:t>
            </a:r>
          </a:p>
        </p:txBody>
      </p:sp>
      <p:sp>
        <p:nvSpPr>
          <p:cNvPr id="25" name="TextBox 24"/>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26" name="Rounded Rectangle 25"/>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177</a:t>
            </a:r>
          </a:p>
        </p:txBody>
      </p:sp>
      <p:sp>
        <p:nvSpPr>
          <p:cNvPr id="27" name="TextBox 26"/>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70 / 166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Teknoloji: dört sanayi devrimi</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BEŞERÎ FAKTÖR</a:t>
            </a:r>
          </a:p>
        </p:txBody>
      </p:sp>
      <p:sp>
        <p:nvSpPr>
          <p:cNvPr id="6" name="Rounded Rectangle 5"/>
          <p:cNvSpPr/>
          <p:nvPr/>
        </p:nvSpPr>
        <p:spPr>
          <a:xfrm>
            <a:off x="502920" y="1216152"/>
            <a:ext cx="11185855" cy="1143000"/>
          </a:xfrm>
          <a:prstGeom prst="roundRect">
            <a:avLst>
              <a:gd name="adj" fmla="val 8000"/>
            </a:avLst>
          </a:prstGeom>
          <a:solidFill>
            <a:srgbClr val="F0F0F0"/>
          </a:solidFill>
          <a:ln>
            <a:noFill/>
          </a:ln>
          <a:effectLst/>
        </p:spPr>
        <p:txBody>
          <a:bodyPr rtlCol="0" anchor="ctr"/>
          <a:lstStyle/>
          <a:p/>
        </p:txBody>
      </p:sp>
      <p:sp>
        <p:nvSpPr>
          <p:cNvPr id="7" name="Rectangle 6"/>
          <p:cNvSpPr/>
          <p:nvPr/>
        </p:nvSpPr>
        <p:spPr>
          <a:xfrm>
            <a:off x="502920" y="1216152"/>
            <a:ext cx="118872" cy="1143000"/>
          </a:xfrm>
          <a:prstGeom prst="rect">
            <a:avLst/>
          </a:prstGeom>
          <a:solidFill>
            <a:srgbClr val="2C6696"/>
          </a:solidFill>
          <a:ln>
            <a:noFill/>
          </a:ln>
          <a:effectLst/>
        </p:spPr>
        <p:txBody>
          <a:bodyPr rtlCol="0" anchor="ctr"/>
          <a:lstStyle/>
          <a:p/>
        </p:txBody>
      </p:sp>
      <p:sp>
        <p:nvSpPr>
          <p:cNvPr id="8" name="TextBox 7"/>
          <p:cNvSpPr txBox="1"/>
          <p:nvPr/>
        </p:nvSpPr>
        <p:spPr>
          <a:xfrm>
            <a:off x="777240" y="1216152"/>
            <a:ext cx="10774375" cy="1143000"/>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Örneğin Japonya, sanayi üretiminde yeterli ham maddeye sahip olmamasına rağmen kullandığı yüksek teknoloji sayesinde sanayi faaliyetlerinin geliştiği önemli bir ülke hâline gelmiştir.</a:t>
            </a:r>
          </a:p>
        </p:txBody>
      </p:sp>
      <p:pic>
        <p:nvPicPr>
          <p:cNvPr id="9" name="Picture 8" descr="h29_g58_s178.jpg"/>
          <p:cNvPicPr>
            <a:picLocks noChangeAspect="1"/>
          </p:cNvPicPr>
          <p:nvPr/>
        </p:nvPicPr>
        <p:blipFill>
          <a:blip r:embed="rId3"/>
          <a:stretch>
            <a:fillRect/>
          </a:stretch>
        </p:blipFill>
        <p:spPr>
          <a:xfrm>
            <a:off x="1661007" y="2450592"/>
            <a:ext cx="8869680" cy="2866689"/>
          </a:xfrm>
          <a:prstGeom prst="rect">
            <a:avLst/>
          </a:prstGeom>
        </p:spPr>
      </p:pic>
      <p:sp>
        <p:nvSpPr>
          <p:cNvPr id="10" name="Rounded Rectangle 9"/>
          <p:cNvSpPr/>
          <p:nvPr/>
        </p:nvSpPr>
        <p:spPr>
          <a:xfrm>
            <a:off x="502920" y="5427009"/>
            <a:ext cx="11185855" cy="864063"/>
          </a:xfrm>
          <a:prstGeom prst="roundRect">
            <a:avLst>
              <a:gd name="adj" fmla="val 8000"/>
            </a:avLst>
          </a:prstGeom>
          <a:solidFill>
            <a:srgbClr val="FFF3D1"/>
          </a:solidFill>
          <a:ln>
            <a:noFill/>
          </a:ln>
          <a:effectLst/>
        </p:spPr>
        <p:txBody>
          <a:bodyPr rtlCol="0" anchor="ctr" wrap="square" lIns="201168" rIns="201168" tIns="73152" bIns="73152">
            <a:noAutofit/>
          </a:bodyPr>
          <a:lstStyle/>
          <a:p>
            <a:pPr algn="ctr">
              <a:spcBef>
                <a:spcPts val="0"/>
              </a:spcBef>
              <a:spcAft>
                <a:spcPts val="0"/>
              </a:spcAft>
            </a:pPr>
            <a:r>
              <a:rPr lang="tr-TR" sz="2000" b="0" i="0">
                <a:solidFill>
                  <a:srgbClr val="262626"/>
                </a:solidFill>
                <a:latin typeface="Calibri"/>
              </a:rPr>
              <a:t>Görsel 5.8 (OECD): Teknolojinin gelişmesi dört sanayi devriminin gerçekleşmesini sağlamıştır → sanayi faaliyetlerinde üretim maliyetleri düşerken hız ve kalite artmıştır.</a:t>
            </a:r>
          </a:p>
        </p:txBody>
      </p:sp>
      <p:sp>
        <p:nvSpPr>
          <p:cNvPr id="11" name="TextBox 10"/>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12" name="Rounded Rectangle 11"/>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178</a:t>
            </a:r>
          </a:p>
        </p:txBody>
      </p:sp>
      <p:sp>
        <p:nvSpPr>
          <p:cNvPr id="13" name="TextBox 12"/>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71 / 166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2950" b="1" i="0">
                <a:solidFill>
                  <a:srgbClr val="FFFFFF"/>
                </a:solidFill>
                <a:latin typeface="Calibri"/>
              </a:rPr>
              <a:t>Kenar sorusu: teknoloji başka faaliyetleri değiştirdi mi?</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İKİLİ · 1 dk</a:t>
            </a:r>
          </a:p>
        </p:txBody>
      </p:sp>
      <p:sp>
        <p:nvSpPr>
          <p:cNvPr id="6" name="Rounded Rectangle 5"/>
          <p:cNvSpPr/>
          <p:nvPr/>
        </p:nvSpPr>
        <p:spPr>
          <a:xfrm>
            <a:off x="502920" y="1216152"/>
            <a:ext cx="11185855" cy="1051560"/>
          </a:xfrm>
          <a:prstGeom prst="roundRect">
            <a:avLst>
              <a:gd name="adj" fmla="val 8000"/>
            </a:avLst>
          </a:prstGeom>
          <a:solidFill>
            <a:srgbClr val="FFF3D1"/>
          </a:solidFill>
          <a:ln>
            <a:noFill/>
          </a:ln>
          <a:effectLst/>
        </p:spPr>
        <p:txBody>
          <a:bodyPr rtlCol="0" anchor="ctr" wrap="square" lIns="274320" rIns="274320" tIns="73152" bIns="73152">
            <a:noAutofit/>
          </a:bodyPr>
          <a:lstStyle/>
          <a:p>
            <a:pPr algn="l">
              <a:spcBef>
                <a:spcPts val="0"/>
              </a:spcBef>
              <a:spcAft>
                <a:spcPts val="0"/>
              </a:spcAft>
            </a:pPr>
            <a:r>
              <a:rPr lang="tr-TR" sz="2400" b="1" i="0">
                <a:solidFill>
                  <a:srgbClr val="262626"/>
                </a:solidFill>
                <a:latin typeface="Calibri"/>
              </a:rPr>
              <a:t>Sanayide yaşanan teknolojik gelişmeler, diğer ekonomik faaliyetleri nasıl etkilemiştir? Örneklerle açıklayınız.</a:t>
            </a:r>
          </a:p>
        </p:txBody>
      </p:sp>
      <p:sp>
        <p:nvSpPr>
          <p:cNvPr id="7" name="Rounded Rectangle 6"/>
          <p:cNvSpPr/>
          <p:nvPr/>
        </p:nvSpPr>
        <p:spPr>
          <a:xfrm>
            <a:off x="502920" y="2450592"/>
            <a:ext cx="2659303" cy="3794760"/>
          </a:xfrm>
          <a:prstGeom prst="roundRect">
            <a:avLst>
              <a:gd name="adj" fmla="val 5000"/>
            </a:avLst>
          </a:prstGeom>
          <a:solidFill>
            <a:srgbClr val="FFFFFF"/>
          </a:solidFill>
          <a:ln>
            <a:noFill/>
          </a:ln>
          <a:effectLst/>
        </p:spPr>
        <p:txBody>
          <a:bodyPr rtlCol="0" anchor="ctr"/>
          <a:lstStyle/>
          <a:p/>
        </p:txBody>
      </p:sp>
      <p:sp>
        <p:nvSpPr>
          <p:cNvPr id="8" name="Rounded Rectangle 7"/>
          <p:cNvSpPr/>
          <p:nvPr/>
        </p:nvSpPr>
        <p:spPr>
          <a:xfrm>
            <a:off x="502920" y="2450592"/>
            <a:ext cx="2659303" cy="685800"/>
          </a:xfrm>
          <a:prstGeom prst="roundRect">
            <a:avLst>
              <a:gd name="adj" fmla="val 25000"/>
            </a:avLst>
          </a:prstGeom>
          <a:solidFill>
            <a:srgbClr val="3E8E41"/>
          </a:solidFill>
          <a:ln>
            <a:noFill/>
          </a:ln>
          <a:effectLst/>
        </p:spPr>
        <p:txBody>
          <a:bodyPr rtlCol="0" anchor="ctr"/>
          <a:lstStyle/>
          <a:p/>
        </p:txBody>
      </p:sp>
      <p:sp>
        <p:nvSpPr>
          <p:cNvPr id="9" name="Rectangle 8"/>
          <p:cNvSpPr/>
          <p:nvPr/>
        </p:nvSpPr>
        <p:spPr>
          <a:xfrm>
            <a:off x="502920" y="2793492"/>
            <a:ext cx="2659303" cy="342900"/>
          </a:xfrm>
          <a:prstGeom prst="rect">
            <a:avLst/>
          </a:prstGeom>
          <a:solidFill>
            <a:srgbClr val="3E8E41"/>
          </a:solidFill>
          <a:ln>
            <a:noFill/>
          </a:ln>
          <a:effectLst/>
        </p:spPr>
        <p:txBody>
          <a:bodyPr rtlCol="0" anchor="ctr"/>
          <a:lstStyle/>
          <a:p/>
        </p:txBody>
      </p:sp>
      <p:sp>
        <p:nvSpPr>
          <p:cNvPr id="10" name="TextBox 9"/>
          <p:cNvSpPr txBox="1"/>
          <p:nvPr/>
        </p:nvSpPr>
        <p:spPr>
          <a:xfrm>
            <a:off x="594360" y="2450592"/>
            <a:ext cx="2476423" cy="685800"/>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Tarım</a:t>
            </a:r>
          </a:p>
        </p:txBody>
      </p:sp>
      <p:sp>
        <p:nvSpPr>
          <p:cNvPr id="11" name="Rounded Rectangle 10"/>
          <p:cNvSpPr/>
          <p:nvPr/>
        </p:nvSpPr>
        <p:spPr>
          <a:xfrm>
            <a:off x="502920" y="2450592"/>
            <a:ext cx="2659303" cy="3794760"/>
          </a:xfrm>
          <a:prstGeom prst="roundRect">
            <a:avLst>
              <a:gd name="adj" fmla="val 5000"/>
            </a:avLst>
          </a:prstGeom>
          <a:noFill/>
          <a:ln w="12700">
            <a:solidFill>
              <a:srgbClr val="D9D9D9"/>
            </a:solidFill>
          </a:ln>
          <a:effectLst/>
        </p:spPr>
        <p:txBody>
          <a:bodyPr rtlCol="0" anchor="ctr"/>
          <a:lstStyle/>
          <a:p/>
        </p:txBody>
      </p:sp>
      <p:cxnSp>
        <p:nvCxnSpPr>
          <p:cNvPr id="12" name="Connector 11"/>
          <p:cNvCxnSpPr/>
          <p:nvPr/>
        </p:nvCxnSpPr>
        <p:spPr>
          <a:xfrm>
            <a:off x="685800" y="3913632"/>
            <a:ext cx="2293543" cy="0"/>
          </a:xfrm>
          <a:prstGeom prst="line">
            <a:avLst/>
          </a:prstGeom>
          <a:ln w="12700">
            <a:solidFill>
              <a:srgbClr val="D9D9D9"/>
            </a:solidFill>
            <a:prstDash val="dash"/>
          </a:ln>
        </p:spPr>
      </p:cxnSp>
      <p:cxnSp>
        <p:nvCxnSpPr>
          <p:cNvPr id="13" name="Connector 12"/>
          <p:cNvCxnSpPr/>
          <p:nvPr/>
        </p:nvCxnSpPr>
        <p:spPr>
          <a:xfrm>
            <a:off x="685800" y="4690872"/>
            <a:ext cx="2293543" cy="0"/>
          </a:xfrm>
          <a:prstGeom prst="line">
            <a:avLst/>
          </a:prstGeom>
          <a:ln w="12700">
            <a:solidFill>
              <a:srgbClr val="D9D9D9"/>
            </a:solidFill>
            <a:prstDash val="dash"/>
          </a:ln>
        </p:spPr>
      </p:cxnSp>
      <p:cxnSp>
        <p:nvCxnSpPr>
          <p:cNvPr id="14" name="Connector 13"/>
          <p:cNvCxnSpPr/>
          <p:nvPr/>
        </p:nvCxnSpPr>
        <p:spPr>
          <a:xfrm>
            <a:off x="685800" y="5468112"/>
            <a:ext cx="2293543" cy="0"/>
          </a:xfrm>
          <a:prstGeom prst="line">
            <a:avLst/>
          </a:prstGeom>
          <a:ln w="12700">
            <a:solidFill>
              <a:srgbClr val="D9D9D9"/>
            </a:solidFill>
            <a:prstDash val="dash"/>
          </a:ln>
        </p:spPr>
      </p:cxnSp>
      <p:sp>
        <p:nvSpPr>
          <p:cNvPr id="15" name="Rounded Rectangle 14"/>
          <p:cNvSpPr/>
          <p:nvPr/>
        </p:nvSpPr>
        <p:spPr>
          <a:xfrm>
            <a:off x="3345103" y="2450592"/>
            <a:ext cx="2659303" cy="3794760"/>
          </a:xfrm>
          <a:prstGeom prst="roundRect">
            <a:avLst>
              <a:gd name="adj" fmla="val 5000"/>
            </a:avLst>
          </a:prstGeom>
          <a:solidFill>
            <a:srgbClr val="FFFFFF"/>
          </a:solidFill>
          <a:ln>
            <a:noFill/>
          </a:ln>
          <a:effectLst/>
        </p:spPr>
        <p:txBody>
          <a:bodyPr rtlCol="0" anchor="ctr"/>
          <a:lstStyle/>
          <a:p/>
        </p:txBody>
      </p:sp>
      <p:sp>
        <p:nvSpPr>
          <p:cNvPr id="16" name="Rounded Rectangle 15"/>
          <p:cNvSpPr/>
          <p:nvPr/>
        </p:nvSpPr>
        <p:spPr>
          <a:xfrm>
            <a:off x="3345103" y="2450592"/>
            <a:ext cx="2659303" cy="685800"/>
          </a:xfrm>
          <a:prstGeom prst="roundRect">
            <a:avLst>
              <a:gd name="adj" fmla="val 25000"/>
            </a:avLst>
          </a:prstGeom>
          <a:solidFill>
            <a:srgbClr val="1E7B6E"/>
          </a:solidFill>
          <a:ln>
            <a:noFill/>
          </a:ln>
          <a:effectLst/>
        </p:spPr>
        <p:txBody>
          <a:bodyPr rtlCol="0" anchor="ctr"/>
          <a:lstStyle/>
          <a:p/>
        </p:txBody>
      </p:sp>
      <p:sp>
        <p:nvSpPr>
          <p:cNvPr id="17" name="Rectangle 16"/>
          <p:cNvSpPr/>
          <p:nvPr/>
        </p:nvSpPr>
        <p:spPr>
          <a:xfrm>
            <a:off x="3345103" y="2793492"/>
            <a:ext cx="2659303" cy="342900"/>
          </a:xfrm>
          <a:prstGeom prst="rect">
            <a:avLst/>
          </a:prstGeom>
          <a:solidFill>
            <a:srgbClr val="1E7B6E"/>
          </a:solidFill>
          <a:ln>
            <a:noFill/>
          </a:ln>
          <a:effectLst/>
        </p:spPr>
        <p:txBody>
          <a:bodyPr rtlCol="0" anchor="ctr"/>
          <a:lstStyle/>
          <a:p/>
        </p:txBody>
      </p:sp>
      <p:sp>
        <p:nvSpPr>
          <p:cNvPr id="18" name="TextBox 17"/>
          <p:cNvSpPr txBox="1"/>
          <p:nvPr/>
        </p:nvSpPr>
        <p:spPr>
          <a:xfrm>
            <a:off x="3436543" y="2450592"/>
            <a:ext cx="2476423" cy="685800"/>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Ulaşım ve ticaret</a:t>
            </a:r>
          </a:p>
        </p:txBody>
      </p:sp>
      <p:sp>
        <p:nvSpPr>
          <p:cNvPr id="19" name="Rounded Rectangle 18"/>
          <p:cNvSpPr/>
          <p:nvPr/>
        </p:nvSpPr>
        <p:spPr>
          <a:xfrm>
            <a:off x="3345103" y="2450592"/>
            <a:ext cx="2659303" cy="3794760"/>
          </a:xfrm>
          <a:prstGeom prst="roundRect">
            <a:avLst>
              <a:gd name="adj" fmla="val 5000"/>
            </a:avLst>
          </a:prstGeom>
          <a:noFill/>
          <a:ln w="12700">
            <a:solidFill>
              <a:srgbClr val="D9D9D9"/>
            </a:solidFill>
          </a:ln>
          <a:effectLst/>
        </p:spPr>
        <p:txBody>
          <a:bodyPr rtlCol="0" anchor="ctr"/>
          <a:lstStyle/>
          <a:p/>
        </p:txBody>
      </p:sp>
      <p:cxnSp>
        <p:nvCxnSpPr>
          <p:cNvPr id="20" name="Connector 19"/>
          <p:cNvCxnSpPr/>
          <p:nvPr/>
        </p:nvCxnSpPr>
        <p:spPr>
          <a:xfrm>
            <a:off x="3527983" y="3913632"/>
            <a:ext cx="2293543" cy="0"/>
          </a:xfrm>
          <a:prstGeom prst="line">
            <a:avLst/>
          </a:prstGeom>
          <a:ln w="12700">
            <a:solidFill>
              <a:srgbClr val="D9D9D9"/>
            </a:solidFill>
            <a:prstDash val="dash"/>
          </a:ln>
        </p:spPr>
      </p:cxnSp>
      <p:cxnSp>
        <p:nvCxnSpPr>
          <p:cNvPr id="21" name="Connector 20"/>
          <p:cNvCxnSpPr/>
          <p:nvPr/>
        </p:nvCxnSpPr>
        <p:spPr>
          <a:xfrm>
            <a:off x="3527983" y="4690872"/>
            <a:ext cx="2293543" cy="0"/>
          </a:xfrm>
          <a:prstGeom prst="line">
            <a:avLst/>
          </a:prstGeom>
          <a:ln w="12700">
            <a:solidFill>
              <a:srgbClr val="D9D9D9"/>
            </a:solidFill>
            <a:prstDash val="dash"/>
          </a:ln>
        </p:spPr>
      </p:cxnSp>
      <p:cxnSp>
        <p:nvCxnSpPr>
          <p:cNvPr id="22" name="Connector 21"/>
          <p:cNvCxnSpPr/>
          <p:nvPr/>
        </p:nvCxnSpPr>
        <p:spPr>
          <a:xfrm>
            <a:off x="3527983" y="5468112"/>
            <a:ext cx="2293543" cy="0"/>
          </a:xfrm>
          <a:prstGeom prst="line">
            <a:avLst/>
          </a:prstGeom>
          <a:ln w="12700">
            <a:solidFill>
              <a:srgbClr val="D9D9D9"/>
            </a:solidFill>
            <a:prstDash val="dash"/>
          </a:ln>
        </p:spPr>
      </p:cxnSp>
      <p:sp>
        <p:nvSpPr>
          <p:cNvPr id="23" name="Rounded Rectangle 22"/>
          <p:cNvSpPr/>
          <p:nvPr/>
        </p:nvSpPr>
        <p:spPr>
          <a:xfrm>
            <a:off x="6187286" y="2450592"/>
            <a:ext cx="2659303" cy="3794760"/>
          </a:xfrm>
          <a:prstGeom prst="roundRect">
            <a:avLst>
              <a:gd name="adj" fmla="val 5000"/>
            </a:avLst>
          </a:prstGeom>
          <a:solidFill>
            <a:srgbClr val="FFFFFF"/>
          </a:solidFill>
          <a:ln>
            <a:noFill/>
          </a:ln>
          <a:effectLst/>
        </p:spPr>
        <p:txBody>
          <a:bodyPr rtlCol="0" anchor="ctr"/>
          <a:lstStyle/>
          <a:p/>
        </p:txBody>
      </p:sp>
      <p:sp>
        <p:nvSpPr>
          <p:cNvPr id="24" name="Rounded Rectangle 23"/>
          <p:cNvSpPr/>
          <p:nvPr/>
        </p:nvSpPr>
        <p:spPr>
          <a:xfrm>
            <a:off x="6187286" y="2450592"/>
            <a:ext cx="2659303" cy="685800"/>
          </a:xfrm>
          <a:prstGeom prst="roundRect">
            <a:avLst>
              <a:gd name="adj" fmla="val 25000"/>
            </a:avLst>
          </a:prstGeom>
          <a:solidFill>
            <a:srgbClr val="2C6696"/>
          </a:solidFill>
          <a:ln>
            <a:noFill/>
          </a:ln>
          <a:effectLst/>
        </p:spPr>
        <p:txBody>
          <a:bodyPr rtlCol="0" anchor="ctr"/>
          <a:lstStyle/>
          <a:p/>
        </p:txBody>
      </p:sp>
      <p:sp>
        <p:nvSpPr>
          <p:cNvPr id="25" name="Rectangle 24"/>
          <p:cNvSpPr/>
          <p:nvPr/>
        </p:nvSpPr>
        <p:spPr>
          <a:xfrm>
            <a:off x="6187286" y="2793492"/>
            <a:ext cx="2659303" cy="342900"/>
          </a:xfrm>
          <a:prstGeom prst="rect">
            <a:avLst/>
          </a:prstGeom>
          <a:solidFill>
            <a:srgbClr val="2C6696"/>
          </a:solidFill>
          <a:ln>
            <a:noFill/>
          </a:ln>
          <a:effectLst/>
        </p:spPr>
        <p:txBody>
          <a:bodyPr rtlCol="0" anchor="ctr"/>
          <a:lstStyle/>
          <a:p/>
        </p:txBody>
      </p:sp>
      <p:sp>
        <p:nvSpPr>
          <p:cNvPr id="26" name="TextBox 25"/>
          <p:cNvSpPr txBox="1"/>
          <p:nvPr/>
        </p:nvSpPr>
        <p:spPr>
          <a:xfrm>
            <a:off x="6278726" y="2450592"/>
            <a:ext cx="2476423" cy="685800"/>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İletişim ve hizmetler</a:t>
            </a:r>
          </a:p>
        </p:txBody>
      </p:sp>
      <p:sp>
        <p:nvSpPr>
          <p:cNvPr id="27" name="Rounded Rectangle 26"/>
          <p:cNvSpPr/>
          <p:nvPr/>
        </p:nvSpPr>
        <p:spPr>
          <a:xfrm>
            <a:off x="6187286" y="2450592"/>
            <a:ext cx="2659303" cy="3794760"/>
          </a:xfrm>
          <a:prstGeom prst="roundRect">
            <a:avLst>
              <a:gd name="adj" fmla="val 5000"/>
            </a:avLst>
          </a:prstGeom>
          <a:noFill/>
          <a:ln w="12700">
            <a:solidFill>
              <a:srgbClr val="D9D9D9"/>
            </a:solidFill>
          </a:ln>
          <a:effectLst/>
        </p:spPr>
        <p:txBody>
          <a:bodyPr rtlCol="0" anchor="ctr"/>
          <a:lstStyle/>
          <a:p/>
        </p:txBody>
      </p:sp>
      <p:cxnSp>
        <p:nvCxnSpPr>
          <p:cNvPr id="28" name="Connector 27"/>
          <p:cNvCxnSpPr/>
          <p:nvPr/>
        </p:nvCxnSpPr>
        <p:spPr>
          <a:xfrm>
            <a:off x="6370166" y="3913632"/>
            <a:ext cx="2293543" cy="0"/>
          </a:xfrm>
          <a:prstGeom prst="line">
            <a:avLst/>
          </a:prstGeom>
          <a:ln w="12700">
            <a:solidFill>
              <a:srgbClr val="D9D9D9"/>
            </a:solidFill>
            <a:prstDash val="dash"/>
          </a:ln>
        </p:spPr>
      </p:cxnSp>
      <p:cxnSp>
        <p:nvCxnSpPr>
          <p:cNvPr id="29" name="Connector 28"/>
          <p:cNvCxnSpPr/>
          <p:nvPr/>
        </p:nvCxnSpPr>
        <p:spPr>
          <a:xfrm>
            <a:off x="6370166" y="4690872"/>
            <a:ext cx="2293543" cy="0"/>
          </a:xfrm>
          <a:prstGeom prst="line">
            <a:avLst/>
          </a:prstGeom>
          <a:ln w="12700">
            <a:solidFill>
              <a:srgbClr val="D9D9D9"/>
            </a:solidFill>
            <a:prstDash val="dash"/>
          </a:ln>
        </p:spPr>
      </p:cxnSp>
      <p:cxnSp>
        <p:nvCxnSpPr>
          <p:cNvPr id="30" name="Connector 29"/>
          <p:cNvCxnSpPr/>
          <p:nvPr/>
        </p:nvCxnSpPr>
        <p:spPr>
          <a:xfrm>
            <a:off x="6370166" y="5468112"/>
            <a:ext cx="2293543" cy="0"/>
          </a:xfrm>
          <a:prstGeom prst="line">
            <a:avLst/>
          </a:prstGeom>
          <a:ln w="12700">
            <a:solidFill>
              <a:srgbClr val="D9D9D9"/>
            </a:solidFill>
            <a:prstDash val="dash"/>
          </a:ln>
        </p:spPr>
      </p:cxnSp>
      <p:sp>
        <p:nvSpPr>
          <p:cNvPr id="31" name="Rounded Rectangle 30"/>
          <p:cNvSpPr/>
          <p:nvPr/>
        </p:nvSpPr>
        <p:spPr>
          <a:xfrm>
            <a:off x="9029469" y="2450592"/>
            <a:ext cx="2659303" cy="3794760"/>
          </a:xfrm>
          <a:prstGeom prst="roundRect">
            <a:avLst>
              <a:gd name="adj" fmla="val 5000"/>
            </a:avLst>
          </a:prstGeom>
          <a:solidFill>
            <a:srgbClr val="FFFFFF"/>
          </a:solidFill>
          <a:ln>
            <a:noFill/>
          </a:ln>
          <a:effectLst/>
        </p:spPr>
        <p:txBody>
          <a:bodyPr rtlCol="0" anchor="ctr"/>
          <a:lstStyle/>
          <a:p/>
        </p:txBody>
      </p:sp>
      <p:sp>
        <p:nvSpPr>
          <p:cNvPr id="32" name="Rounded Rectangle 31"/>
          <p:cNvSpPr/>
          <p:nvPr/>
        </p:nvSpPr>
        <p:spPr>
          <a:xfrm>
            <a:off x="9029469" y="2450592"/>
            <a:ext cx="2659303" cy="685800"/>
          </a:xfrm>
          <a:prstGeom prst="roundRect">
            <a:avLst>
              <a:gd name="adj" fmla="val 25000"/>
            </a:avLst>
          </a:prstGeom>
          <a:solidFill>
            <a:srgbClr val="B85C12"/>
          </a:solidFill>
          <a:ln>
            <a:noFill/>
          </a:ln>
          <a:effectLst/>
        </p:spPr>
        <p:txBody>
          <a:bodyPr rtlCol="0" anchor="ctr"/>
          <a:lstStyle/>
          <a:p/>
        </p:txBody>
      </p:sp>
      <p:sp>
        <p:nvSpPr>
          <p:cNvPr id="33" name="Rectangle 32"/>
          <p:cNvSpPr/>
          <p:nvPr/>
        </p:nvSpPr>
        <p:spPr>
          <a:xfrm>
            <a:off x="9029469" y="2793492"/>
            <a:ext cx="2659303" cy="342900"/>
          </a:xfrm>
          <a:prstGeom prst="rect">
            <a:avLst/>
          </a:prstGeom>
          <a:solidFill>
            <a:srgbClr val="B85C12"/>
          </a:solidFill>
          <a:ln>
            <a:noFill/>
          </a:ln>
          <a:effectLst/>
        </p:spPr>
        <p:txBody>
          <a:bodyPr rtlCol="0" anchor="ctr"/>
          <a:lstStyle/>
          <a:p/>
        </p:txBody>
      </p:sp>
      <p:sp>
        <p:nvSpPr>
          <p:cNvPr id="34" name="TextBox 33"/>
          <p:cNvSpPr txBox="1"/>
          <p:nvPr/>
        </p:nvSpPr>
        <p:spPr>
          <a:xfrm>
            <a:off x="9120909" y="2450592"/>
            <a:ext cx="2476423" cy="685800"/>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Turizm</a:t>
            </a:r>
          </a:p>
        </p:txBody>
      </p:sp>
      <p:sp>
        <p:nvSpPr>
          <p:cNvPr id="35" name="Rounded Rectangle 34"/>
          <p:cNvSpPr/>
          <p:nvPr/>
        </p:nvSpPr>
        <p:spPr>
          <a:xfrm>
            <a:off x="9029469" y="2450592"/>
            <a:ext cx="2659303" cy="3794760"/>
          </a:xfrm>
          <a:prstGeom prst="roundRect">
            <a:avLst>
              <a:gd name="adj" fmla="val 5000"/>
            </a:avLst>
          </a:prstGeom>
          <a:noFill/>
          <a:ln w="12700">
            <a:solidFill>
              <a:srgbClr val="D9D9D9"/>
            </a:solidFill>
          </a:ln>
          <a:effectLst/>
        </p:spPr>
        <p:txBody>
          <a:bodyPr rtlCol="0" anchor="ctr"/>
          <a:lstStyle/>
          <a:p/>
        </p:txBody>
      </p:sp>
      <p:cxnSp>
        <p:nvCxnSpPr>
          <p:cNvPr id="36" name="Connector 35"/>
          <p:cNvCxnSpPr/>
          <p:nvPr/>
        </p:nvCxnSpPr>
        <p:spPr>
          <a:xfrm>
            <a:off x="9212349" y="3913632"/>
            <a:ext cx="2293543" cy="0"/>
          </a:xfrm>
          <a:prstGeom prst="line">
            <a:avLst/>
          </a:prstGeom>
          <a:ln w="12700">
            <a:solidFill>
              <a:srgbClr val="D9D9D9"/>
            </a:solidFill>
            <a:prstDash val="dash"/>
          </a:ln>
        </p:spPr>
      </p:cxnSp>
      <p:cxnSp>
        <p:nvCxnSpPr>
          <p:cNvPr id="37" name="Connector 36"/>
          <p:cNvCxnSpPr/>
          <p:nvPr/>
        </p:nvCxnSpPr>
        <p:spPr>
          <a:xfrm>
            <a:off x="9212349" y="4690872"/>
            <a:ext cx="2293543" cy="0"/>
          </a:xfrm>
          <a:prstGeom prst="line">
            <a:avLst/>
          </a:prstGeom>
          <a:ln w="12700">
            <a:solidFill>
              <a:srgbClr val="D9D9D9"/>
            </a:solidFill>
            <a:prstDash val="dash"/>
          </a:ln>
        </p:spPr>
      </p:cxnSp>
      <p:cxnSp>
        <p:nvCxnSpPr>
          <p:cNvPr id="38" name="Connector 37"/>
          <p:cNvCxnSpPr/>
          <p:nvPr/>
        </p:nvCxnSpPr>
        <p:spPr>
          <a:xfrm>
            <a:off x="9212349" y="5468112"/>
            <a:ext cx="2293543" cy="0"/>
          </a:xfrm>
          <a:prstGeom prst="line">
            <a:avLst/>
          </a:prstGeom>
          <a:ln w="12700">
            <a:solidFill>
              <a:srgbClr val="D9D9D9"/>
            </a:solidFill>
            <a:prstDash val="dash"/>
          </a:ln>
        </p:spPr>
      </p:cxnSp>
      <p:sp>
        <p:nvSpPr>
          <p:cNvPr id="39" name="TextBox 38"/>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40" name="Rounded Rectangle 39"/>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178</a:t>
            </a:r>
          </a:p>
        </p:txBody>
      </p:sp>
      <p:sp>
        <p:nvSpPr>
          <p:cNvPr id="41" name="TextBox 40"/>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72 / 166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Kenar sorusu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Rounded Rectangle 5"/>
          <p:cNvSpPr/>
          <p:nvPr/>
        </p:nvSpPr>
        <p:spPr>
          <a:xfrm>
            <a:off x="502920" y="1216152"/>
            <a:ext cx="3451860" cy="2446020"/>
          </a:xfrm>
          <a:prstGeom prst="roundRect">
            <a:avLst>
              <a:gd name="adj" fmla="val 6000"/>
            </a:avLst>
          </a:prstGeom>
          <a:solidFill>
            <a:srgbClr val="E3F1E4"/>
          </a:solidFill>
          <a:ln>
            <a:noFill/>
          </a:ln>
          <a:effectLst/>
        </p:spPr>
        <p:txBody>
          <a:bodyPr rtlCol="0" anchor="ctr"/>
          <a:lstStyle/>
          <a:p/>
        </p:txBody>
      </p:sp>
      <p:sp>
        <p:nvSpPr>
          <p:cNvPr id="7" name="Rectangle 6"/>
          <p:cNvSpPr/>
          <p:nvPr/>
        </p:nvSpPr>
        <p:spPr>
          <a:xfrm>
            <a:off x="502920" y="1216152"/>
            <a:ext cx="109728" cy="2446020"/>
          </a:xfrm>
          <a:prstGeom prst="rect">
            <a:avLst/>
          </a:prstGeom>
          <a:solidFill>
            <a:srgbClr val="2E7D32"/>
          </a:solidFill>
          <a:ln>
            <a:noFill/>
          </a:ln>
          <a:effectLst/>
        </p:spPr>
        <p:txBody>
          <a:bodyPr rtlCol="0" anchor="ctr"/>
          <a:lstStyle/>
          <a:p/>
        </p:txBody>
      </p:sp>
      <p:sp>
        <p:nvSpPr>
          <p:cNvPr id="8" name="TextBox 7"/>
          <p:cNvSpPr txBox="1"/>
          <p:nvPr/>
        </p:nvSpPr>
        <p:spPr>
          <a:xfrm>
            <a:off x="731520" y="1271016"/>
            <a:ext cx="3131820" cy="2336292"/>
          </a:xfrm>
          <a:prstGeom prst="rect">
            <a:avLst/>
          </a:prstGeom>
          <a:noFill/>
        </p:spPr>
        <p:txBody>
          <a:bodyPr wrap="square" anchor="ctr" lIns="73152" rIns="73152" tIns="36576" bIns="36576">
            <a:noAutofit/>
          </a:bodyPr>
          <a:lstStyle/>
          <a:p>
            <a:pPr algn="l">
              <a:spcBef>
                <a:spcPts val="0"/>
              </a:spcBef>
              <a:spcAft>
                <a:spcPts val="400"/>
              </a:spcAft>
            </a:pPr>
            <a:r>
              <a:rPr lang="tr-TR" sz="1950" b="1" i="0">
                <a:solidFill>
                  <a:srgbClr val="2E7D32"/>
                </a:solidFill>
                <a:latin typeface="Calibri"/>
              </a:rPr>
              <a:t>Tarım</a:t>
            </a:r>
          </a:p>
          <a:p>
            <a:pPr algn="l">
              <a:spcBef>
                <a:spcPts val="0"/>
              </a:spcBef>
              <a:spcAft>
                <a:spcPts val="500"/>
              </a:spcAft>
            </a:pPr>
            <a:r>
              <a:rPr lang="tr-TR" sz="1950" b="0" i="0">
                <a:solidFill>
                  <a:srgbClr val="262626"/>
                </a:solidFill>
                <a:latin typeface="Calibri"/>
              </a:rPr>
              <a:t>Makineleşmeyle verim ve üretim arttı.</a:t>
            </a:r>
          </a:p>
          <a:p>
            <a:pPr algn="l">
              <a:spcBef>
                <a:spcPts val="0"/>
              </a:spcBef>
              <a:spcAft>
                <a:spcPts val="0"/>
              </a:spcAft>
            </a:pPr>
            <a:r>
              <a:rPr lang="tr-TR" sz="1950" b="0" i="1">
                <a:solidFill>
                  <a:srgbClr val="262626"/>
                </a:solidFill>
                <a:latin typeface="Calibri"/>
              </a:rPr>
              <a:t>Kitap: “… teknolojiyi etkin kullanan ülkelerin ekonomik gelişmişlik düzeylerini yükselttiği görülmektedir.”</a:t>
            </a:r>
          </a:p>
        </p:txBody>
      </p:sp>
      <p:sp>
        <p:nvSpPr>
          <p:cNvPr id="9" name="Rounded Rectangle 8"/>
          <p:cNvSpPr/>
          <p:nvPr/>
        </p:nvSpPr>
        <p:spPr>
          <a:xfrm>
            <a:off x="4137660" y="1216152"/>
            <a:ext cx="3451860" cy="2446020"/>
          </a:xfrm>
          <a:prstGeom prst="roundRect">
            <a:avLst>
              <a:gd name="adj" fmla="val 6000"/>
            </a:avLst>
          </a:prstGeom>
          <a:solidFill>
            <a:srgbClr val="E3F1E4"/>
          </a:solidFill>
          <a:ln>
            <a:noFill/>
          </a:ln>
          <a:effectLst/>
        </p:spPr>
        <p:txBody>
          <a:bodyPr rtlCol="0" anchor="ctr"/>
          <a:lstStyle/>
          <a:p/>
        </p:txBody>
      </p:sp>
      <p:sp>
        <p:nvSpPr>
          <p:cNvPr id="10" name="Rectangle 9"/>
          <p:cNvSpPr/>
          <p:nvPr/>
        </p:nvSpPr>
        <p:spPr>
          <a:xfrm>
            <a:off x="4137660" y="1216152"/>
            <a:ext cx="109728" cy="2446020"/>
          </a:xfrm>
          <a:prstGeom prst="rect">
            <a:avLst/>
          </a:prstGeom>
          <a:solidFill>
            <a:srgbClr val="2E7D32"/>
          </a:solidFill>
          <a:ln>
            <a:noFill/>
          </a:ln>
          <a:effectLst/>
        </p:spPr>
        <p:txBody>
          <a:bodyPr rtlCol="0" anchor="ctr"/>
          <a:lstStyle/>
          <a:p/>
        </p:txBody>
      </p:sp>
      <p:sp>
        <p:nvSpPr>
          <p:cNvPr id="11" name="TextBox 10"/>
          <p:cNvSpPr txBox="1"/>
          <p:nvPr/>
        </p:nvSpPr>
        <p:spPr>
          <a:xfrm>
            <a:off x="4366260" y="1271016"/>
            <a:ext cx="3131820" cy="2336292"/>
          </a:xfrm>
          <a:prstGeom prst="rect">
            <a:avLst/>
          </a:prstGeom>
          <a:noFill/>
        </p:spPr>
        <p:txBody>
          <a:bodyPr wrap="square" anchor="ctr" lIns="73152" rIns="73152" tIns="36576" bIns="36576">
            <a:noAutofit/>
          </a:bodyPr>
          <a:lstStyle/>
          <a:p>
            <a:pPr algn="l">
              <a:spcBef>
                <a:spcPts val="0"/>
              </a:spcBef>
              <a:spcAft>
                <a:spcPts val="400"/>
              </a:spcAft>
            </a:pPr>
            <a:r>
              <a:rPr lang="tr-TR" sz="1950" b="1" i="0">
                <a:solidFill>
                  <a:srgbClr val="2E7D32"/>
                </a:solidFill>
                <a:latin typeface="Calibri"/>
              </a:rPr>
              <a:t>Ulaşım ve ticaret</a:t>
            </a:r>
          </a:p>
          <a:p>
            <a:pPr algn="l">
              <a:spcBef>
                <a:spcPts val="0"/>
              </a:spcBef>
              <a:spcAft>
                <a:spcPts val="500"/>
              </a:spcAft>
            </a:pPr>
            <a:r>
              <a:rPr lang="tr-TR" sz="1950" b="0" i="0">
                <a:solidFill>
                  <a:srgbClr val="262626"/>
                </a:solidFill>
                <a:latin typeface="Calibri"/>
              </a:rPr>
              <a:t>Buhar gücüyle okyanuslar aşıldı; ürünler uzak pazarlara ulaştı.</a:t>
            </a:r>
          </a:p>
          <a:p>
            <a:pPr algn="l">
              <a:spcBef>
                <a:spcPts val="0"/>
              </a:spcBef>
              <a:spcAft>
                <a:spcPts val="0"/>
              </a:spcAft>
            </a:pPr>
            <a:r>
              <a:rPr lang="tr-TR" sz="1950" b="0" i="1">
                <a:solidFill>
                  <a:srgbClr val="262626"/>
                </a:solidFill>
                <a:latin typeface="Calibri"/>
              </a:rPr>
              <a:t>EBA: “Dünya nakliye rotalarının ortaya çıkması”</a:t>
            </a:r>
          </a:p>
        </p:txBody>
      </p:sp>
      <p:sp>
        <p:nvSpPr>
          <p:cNvPr id="12" name="Rounded Rectangle 11"/>
          <p:cNvSpPr/>
          <p:nvPr/>
        </p:nvSpPr>
        <p:spPr>
          <a:xfrm>
            <a:off x="502920" y="3799332"/>
            <a:ext cx="3451860" cy="2446020"/>
          </a:xfrm>
          <a:prstGeom prst="roundRect">
            <a:avLst>
              <a:gd name="adj" fmla="val 6000"/>
            </a:avLst>
          </a:prstGeom>
          <a:solidFill>
            <a:srgbClr val="E3F1E4"/>
          </a:solidFill>
          <a:ln>
            <a:noFill/>
          </a:ln>
          <a:effectLst/>
        </p:spPr>
        <p:txBody>
          <a:bodyPr rtlCol="0" anchor="ctr"/>
          <a:lstStyle/>
          <a:p/>
        </p:txBody>
      </p:sp>
      <p:sp>
        <p:nvSpPr>
          <p:cNvPr id="13" name="Rectangle 12"/>
          <p:cNvSpPr/>
          <p:nvPr/>
        </p:nvSpPr>
        <p:spPr>
          <a:xfrm>
            <a:off x="502920" y="3799332"/>
            <a:ext cx="109728" cy="2446020"/>
          </a:xfrm>
          <a:prstGeom prst="rect">
            <a:avLst/>
          </a:prstGeom>
          <a:solidFill>
            <a:srgbClr val="2E7D32"/>
          </a:solidFill>
          <a:ln>
            <a:noFill/>
          </a:ln>
          <a:effectLst/>
        </p:spPr>
        <p:txBody>
          <a:bodyPr rtlCol="0" anchor="ctr"/>
          <a:lstStyle/>
          <a:p/>
        </p:txBody>
      </p:sp>
      <p:sp>
        <p:nvSpPr>
          <p:cNvPr id="14" name="TextBox 13"/>
          <p:cNvSpPr txBox="1"/>
          <p:nvPr/>
        </p:nvSpPr>
        <p:spPr>
          <a:xfrm>
            <a:off x="731520" y="3854196"/>
            <a:ext cx="3131820" cy="2336292"/>
          </a:xfrm>
          <a:prstGeom prst="rect">
            <a:avLst/>
          </a:prstGeom>
          <a:noFill/>
        </p:spPr>
        <p:txBody>
          <a:bodyPr wrap="square" anchor="ctr" lIns="73152" rIns="73152" tIns="36576" bIns="36576">
            <a:noAutofit/>
          </a:bodyPr>
          <a:lstStyle/>
          <a:p>
            <a:pPr algn="l">
              <a:spcBef>
                <a:spcPts val="0"/>
              </a:spcBef>
              <a:spcAft>
                <a:spcPts val="400"/>
              </a:spcAft>
            </a:pPr>
            <a:r>
              <a:rPr lang="tr-TR" sz="1950" b="1" i="0">
                <a:solidFill>
                  <a:srgbClr val="2E7D32"/>
                </a:solidFill>
                <a:latin typeface="Calibri"/>
              </a:rPr>
              <a:t>İletişim ve hizmetler</a:t>
            </a:r>
          </a:p>
          <a:p>
            <a:pPr algn="l">
              <a:spcBef>
                <a:spcPts val="0"/>
              </a:spcBef>
              <a:spcAft>
                <a:spcPts val="500"/>
              </a:spcAft>
            </a:pPr>
            <a:r>
              <a:rPr lang="tr-TR" sz="1950" b="0" i="0">
                <a:solidFill>
                  <a:srgbClr val="262626"/>
                </a:solidFill>
                <a:latin typeface="Calibri"/>
              </a:rPr>
              <a:t>Telgraftan internete haberleşme hızlandı; hizmetler dünyaya yayıldı.</a:t>
            </a:r>
          </a:p>
          <a:p>
            <a:pPr algn="l">
              <a:spcBef>
                <a:spcPts val="0"/>
              </a:spcBef>
              <a:spcAft>
                <a:spcPts val="0"/>
              </a:spcAft>
            </a:pPr>
            <a:r>
              <a:rPr lang="tr-TR" sz="1950" b="0" i="1">
                <a:solidFill>
                  <a:srgbClr val="262626"/>
                </a:solidFill>
                <a:latin typeface="Calibri"/>
              </a:rPr>
              <a:t>EBA: “Küresel kargo hizmetlerinin yaygınlaşması”</a:t>
            </a:r>
          </a:p>
        </p:txBody>
      </p:sp>
      <p:sp>
        <p:nvSpPr>
          <p:cNvPr id="15" name="Rounded Rectangle 14"/>
          <p:cNvSpPr/>
          <p:nvPr/>
        </p:nvSpPr>
        <p:spPr>
          <a:xfrm>
            <a:off x="4137660" y="3799332"/>
            <a:ext cx="3451860" cy="2446020"/>
          </a:xfrm>
          <a:prstGeom prst="roundRect">
            <a:avLst>
              <a:gd name="adj" fmla="val 6000"/>
            </a:avLst>
          </a:prstGeom>
          <a:solidFill>
            <a:srgbClr val="E3F1E4"/>
          </a:solidFill>
          <a:ln>
            <a:noFill/>
          </a:ln>
          <a:effectLst/>
        </p:spPr>
        <p:txBody>
          <a:bodyPr rtlCol="0" anchor="ctr"/>
          <a:lstStyle/>
          <a:p/>
        </p:txBody>
      </p:sp>
      <p:sp>
        <p:nvSpPr>
          <p:cNvPr id="16" name="Rectangle 15"/>
          <p:cNvSpPr/>
          <p:nvPr/>
        </p:nvSpPr>
        <p:spPr>
          <a:xfrm>
            <a:off x="4137660" y="3799332"/>
            <a:ext cx="109728" cy="2446020"/>
          </a:xfrm>
          <a:prstGeom prst="rect">
            <a:avLst/>
          </a:prstGeom>
          <a:solidFill>
            <a:srgbClr val="2E7D32"/>
          </a:solidFill>
          <a:ln>
            <a:noFill/>
          </a:ln>
          <a:effectLst/>
        </p:spPr>
        <p:txBody>
          <a:bodyPr rtlCol="0" anchor="ctr"/>
          <a:lstStyle/>
          <a:p/>
        </p:txBody>
      </p:sp>
      <p:sp>
        <p:nvSpPr>
          <p:cNvPr id="17" name="TextBox 16"/>
          <p:cNvSpPr txBox="1"/>
          <p:nvPr/>
        </p:nvSpPr>
        <p:spPr>
          <a:xfrm>
            <a:off x="4366260" y="3854196"/>
            <a:ext cx="3131820" cy="2336292"/>
          </a:xfrm>
          <a:prstGeom prst="rect">
            <a:avLst/>
          </a:prstGeom>
          <a:noFill/>
        </p:spPr>
        <p:txBody>
          <a:bodyPr wrap="square" anchor="ctr" lIns="73152" rIns="73152" tIns="36576" bIns="36576">
            <a:noAutofit/>
          </a:bodyPr>
          <a:lstStyle/>
          <a:p>
            <a:pPr algn="l">
              <a:spcBef>
                <a:spcPts val="0"/>
              </a:spcBef>
              <a:spcAft>
                <a:spcPts val="400"/>
              </a:spcAft>
            </a:pPr>
            <a:r>
              <a:rPr lang="tr-TR" sz="1950" b="1" i="0">
                <a:solidFill>
                  <a:srgbClr val="2E7D32"/>
                </a:solidFill>
                <a:latin typeface="Calibri"/>
              </a:rPr>
              <a:t>Turizm</a:t>
            </a:r>
          </a:p>
          <a:p>
            <a:pPr algn="l">
              <a:spcBef>
                <a:spcPts val="0"/>
              </a:spcBef>
              <a:spcAft>
                <a:spcPts val="500"/>
              </a:spcAft>
            </a:pPr>
            <a:r>
              <a:rPr lang="tr-TR" sz="1950" b="0" i="0">
                <a:solidFill>
                  <a:srgbClr val="262626"/>
                </a:solidFill>
                <a:latin typeface="Calibri"/>
              </a:rPr>
              <a:t>Havacılık gelişti; uzak yerler yakınlaştı.</a:t>
            </a:r>
          </a:p>
          <a:p>
            <a:pPr algn="l">
              <a:spcBef>
                <a:spcPts val="0"/>
              </a:spcBef>
              <a:spcAft>
                <a:spcPts val="0"/>
              </a:spcAft>
            </a:pPr>
            <a:r>
              <a:rPr lang="tr-TR" sz="1950" b="0" i="1">
                <a:solidFill>
                  <a:srgbClr val="262626"/>
                </a:solidFill>
                <a:latin typeface="Calibri"/>
              </a:rPr>
              <a:t>EBA: “Büyük hava limanlarının inşa edilmesi”</a:t>
            </a:r>
          </a:p>
        </p:txBody>
      </p:sp>
      <p:pic>
        <p:nvPicPr>
          <p:cNvPr id="18" name="Picture 17" descr="h29_eba_telgraf.jpg"/>
          <p:cNvPicPr>
            <a:picLocks noChangeAspect="1"/>
          </p:cNvPicPr>
          <p:nvPr/>
        </p:nvPicPr>
        <p:blipFill>
          <a:blip r:embed="rId3"/>
          <a:stretch>
            <a:fillRect/>
          </a:stretch>
        </p:blipFill>
        <p:spPr>
          <a:xfrm>
            <a:off x="7818120" y="1216152"/>
            <a:ext cx="3870655" cy="2026330"/>
          </a:xfrm>
          <a:prstGeom prst="rect">
            <a:avLst/>
          </a:prstGeom>
          <a:ln w="9525">
            <a:solidFill>
              <a:srgbClr val="D9D9D9"/>
            </a:solidFill>
          </a:ln>
        </p:spPr>
      </p:pic>
      <p:sp>
        <p:nvSpPr>
          <p:cNvPr id="19" name="Rounded Rectangle 18"/>
          <p:cNvSpPr/>
          <p:nvPr/>
        </p:nvSpPr>
        <p:spPr>
          <a:xfrm>
            <a:off x="7872984" y="1271016"/>
            <a:ext cx="2331720" cy="329184"/>
          </a:xfrm>
          <a:prstGeom prst="roundRect">
            <a:avLst>
              <a:gd name="adj" fmla="val 25000"/>
            </a:avLst>
          </a:prstGeom>
          <a:solidFill>
            <a:srgbClr val="FFFFFF"/>
          </a:solidFill>
          <a:ln w="15875">
            <a:solidFill>
              <a:srgbClr val="D9D9D9"/>
            </a:solidFill>
          </a:ln>
          <a:effectLst/>
        </p:spPr>
        <p:txBody>
          <a:bodyPr rtlCol="0" anchor="ctr" wrap="square" lIns="36576" rIns="36576" tIns="0" bIns="0">
            <a:noAutofit/>
          </a:bodyPr>
          <a:lstStyle/>
          <a:p>
            <a:pPr algn="ctr">
              <a:spcBef>
                <a:spcPts val="0"/>
              </a:spcBef>
              <a:spcAft>
                <a:spcPts val="0"/>
              </a:spcAft>
            </a:pPr>
            <a:r>
              <a:rPr lang="tr-TR" sz="1400" b="1" i="0">
                <a:solidFill>
                  <a:srgbClr val="262626"/>
                </a:solidFill>
                <a:latin typeface="Calibri"/>
              </a:rPr>
              <a:t>Su Altı Telgraf Kabloları</a:t>
            </a:r>
          </a:p>
        </p:txBody>
      </p:sp>
      <p:pic>
        <p:nvPicPr>
          <p:cNvPr id="20" name="Picture 19" descr="h29_eba_internet.jpg"/>
          <p:cNvPicPr>
            <a:picLocks noChangeAspect="1"/>
          </p:cNvPicPr>
          <p:nvPr/>
        </p:nvPicPr>
        <p:blipFill>
          <a:blip r:embed="rId4"/>
          <a:stretch>
            <a:fillRect/>
          </a:stretch>
        </p:blipFill>
        <p:spPr>
          <a:xfrm>
            <a:off x="7818120" y="3399334"/>
            <a:ext cx="3870655" cy="2073454"/>
          </a:xfrm>
          <a:prstGeom prst="rect">
            <a:avLst/>
          </a:prstGeom>
          <a:ln w="9525">
            <a:solidFill>
              <a:srgbClr val="D9D9D9"/>
            </a:solidFill>
          </a:ln>
        </p:spPr>
      </p:pic>
      <p:sp>
        <p:nvSpPr>
          <p:cNvPr id="21" name="Rounded Rectangle 20"/>
          <p:cNvSpPr/>
          <p:nvPr/>
        </p:nvSpPr>
        <p:spPr>
          <a:xfrm>
            <a:off x="7872984" y="3454198"/>
            <a:ext cx="2331720" cy="329184"/>
          </a:xfrm>
          <a:prstGeom prst="roundRect">
            <a:avLst>
              <a:gd name="adj" fmla="val 25000"/>
            </a:avLst>
          </a:prstGeom>
          <a:solidFill>
            <a:srgbClr val="FFFFFF"/>
          </a:solidFill>
          <a:ln w="15875">
            <a:solidFill>
              <a:srgbClr val="D9D9D9"/>
            </a:solidFill>
          </a:ln>
          <a:effectLst/>
        </p:spPr>
        <p:txBody>
          <a:bodyPr rtlCol="0" anchor="ctr" wrap="square" lIns="36576" rIns="36576" tIns="0" bIns="0">
            <a:noAutofit/>
          </a:bodyPr>
          <a:lstStyle/>
          <a:p>
            <a:pPr algn="ctr">
              <a:spcBef>
                <a:spcPts val="0"/>
              </a:spcBef>
              <a:spcAft>
                <a:spcPts val="0"/>
              </a:spcAft>
            </a:pPr>
            <a:r>
              <a:rPr lang="tr-TR" sz="1400" b="1" i="0">
                <a:solidFill>
                  <a:srgbClr val="262626"/>
                </a:solidFill>
                <a:latin typeface="Calibri"/>
              </a:rPr>
              <a:t>Su Altı İnternet Kabloları</a:t>
            </a:r>
          </a:p>
        </p:txBody>
      </p:sp>
      <p:sp>
        <p:nvSpPr>
          <p:cNvPr id="22" name="TextBox 21"/>
          <p:cNvSpPr txBox="1"/>
          <p:nvPr/>
        </p:nvSpPr>
        <p:spPr>
          <a:xfrm>
            <a:off x="7818120" y="6016752"/>
            <a:ext cx="3870655" cy="274320"/>
          </a:xfrm>
          <a:prstGeom prst="rect">
            <a:avLst/>
          </a:prstGeom>
          <a:noFill/>
        </p:spPr>
        <p:txBody>
          <a:bodyPr wrap="square" anchor="t" lIns="73152" rIns="73152" tIns="36576" bIns="36576">
            <a:noAutofit/>
          </a:bodyPr>
          <a:lstStyle/>
          <a:p>
            <a:pPr algn="r">
              <a:spcBef>
                <a:spcPts val="0"/>
              </a:spcBef>
              <a:spcAft>
                <a:spcPts val="0"/>
              </a:spcAft>
            </a:pPr>
            <a:r>
              <a:rPr lang="tr-TR" sz="1000" b="0" i="0">
                <a:solidFill>
                  <a:srgbClr val="767676"/>
                </a:solidFill>
                <a:latin typeface="Calibri"/>
              </a:rPr>
              <a:t>Kitabın karekod içeriği (EBA): Teknolojik Değişim ve Ekonomik Gelişme</a:t>
            </a:r>
          </a:p>
        </p:txBody>
      </p:sp>
      <p:sp>
        <p:nvSpPr>
          <p:cNvPr id="23" name="TextBox 2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24" name="Rounded Rectangle 2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178</a:t>
            </a:r>
          </a:p>
        </p:txBody>
      </p:sp>
      <p:sp>
        <p:nvSpPr>
          <p:cNvPr id="25" name="TextBox 2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73 / 166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Ulaşım ve büyük limanlar</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BEŞERÎ FAKTÖR</a:t>
            </a:r>
          </a:p>
        </p:txBody>
      </p:sp>
      <p:sp>
        <p:nvSpPr>
          <p:cNvPr id="6" name="Rounded Rectangle 5"/>
          <p:cNvSpPr/>
          <p:nvPr/>
        </p:nvSpPr>
        <p:spPr>
          <a:xfrm>
            <a:off x="502920" y="1216152"/>
            <a:ext cx="3886200" cy="1691640"/>
          </a:xfrm>
          <a:prstGeom prst="roundRect">
            <a:avLst>
              <a:gd name="adj" fmla="val 5000"/>
            </a:avLst>
          </a:prstGeom>
          <a:solidFill>
            <a:srgbClr val="F0F0F0"/>
          </a:solidFill>
          <a:ln>
            <a:noFill/>
          </a:ln>
          <a:effectLst/>
        </p:spPr>
        <p:txBody>
          <a:bodyPr rtlCol="0" anchor="ctr"/>
          <a:lstStyle/>
          <a:p/>
        </p:txBody>
      </p:sp>
      <p:sp>
        <p:nvSpPr>
          <p:cNvPr id="7" name="Rounded Rectangle 6"/>
          <p:cNvSpPr/>
          <p:nvPr/>
        </p:nvSpPr>
        <p:spPr>
          <a:xfrm>
            <a:off x="502920" y="1216152"/>
            <a:ext cx="3886200" cy="530352"/>
          </a:xfrm>
          <a:prstGeom prst="roundRect">
            <a:avLst>
              <a:gd name="adj" fmla="val 25000"/>
            </a:avLst>
          </a:prstGeom>
          <a:solidFill>
            <a:srgbClr val="1E7B6E"/>
          </a:solidFill>
          <a:ln>
            <a:noFill/>
          </a:ln>
          <a:effectLst/>
        </p:spPr>
        <p:txBody>
          <a:bodyPr rtlCol="0" anchor="ctr"/>
          <a:lstStyle/>
          <a:p/>
        </p:txBody>
      </p:sp>
      <p:sp>
        <p:nvSpPr>
          <p:cNvPr id="8" name="Rectangle 7"/>
          <p:cNvSpPr/>
          <p:nvPr/>
        </p:nvSpPr>
        <p:spPr>
          <a:xfrm>
            <a:off x="502920" y="1481328"/>
            <a:ext cx="3886200" cy="265176"/>
          </a:xfrm>
          <a:prstGeom prst="rect">
            <a:avLst/>
          </a:prstGeom>
          <a:solidFill>
            <a:srgbClr val="1E7B6E"/>
          </a:solidFill>
          <a:ln>
            <a:noFill/>
          </a:ln>
          <a:effectLst/>
        </p:spPr>
        <p:txBody>
          <a:bodyPr rtlCol="0" anchor="ctr"/>
          <a:lstStyle/>
          <a:p/>
        </p:txBody>
      </p:sp>
      <p:sp>
        <p:nvSpPr>
          <p:cNvPr id="9" name="TextBox 8"/>
          <p:cNvSpPr txBox="1"/>
          <p:nvPr/>
        </p:nvSpPr>
        <p:spPr>
          <a:xfrm>
            <a:off x="594360" y="1216152"/>
            <a:ext cx="3703320" cy="530352"/>
          </a:xfrm>
          <a:prstGeom prst="rect">
            <a:avLst/>
          </a:prstGeom>
          <a:noFill/>
        </p:spPr>
        <p:txBody>
          <a:bodyPr wrap="square" anchor="ctr" lIns="73152" rIns="73152" tIns="36576" bIns="36576">
            <a:noAutofit/>
          </a:bodyPr>
          <a:lstStyle/>
          <a:p>
            <a:pPr algn="l">
              <a:spcBef>
                <a:spcPts val="0"/>
              </a:spcBef>
              <a:spcAft>
                <a:spcPts val="0"/>
              </a:spcAft>
            </a:pPr>
            <a:r>
              <a:rPr lang="tr-TR" sz="2100" b="1" i="0">
                <a:solidFill>
                  <a:srgbClr val="FFFFFF"/>
                </a:solidFill>
                <a:latin typeface="Calibri"/>
              </a:rPr>
              <a:t>Ulaşım</a:t>
            </a:r>
          </a:p>
        </p:txBody>
      </p:sp>
      <p:sp>
        <p:nvSpPr>
          <p:cNvPr id="10" name="TextBox 9"/>
          <p:cNvSpPr txBox="1"/>
          <p:nvPr/>
        </p:nvSpPr>
        <p:spPr>
          <a:xfrm>
            <a:off x="612648" y="1819656"/>
            <a:ext cx="3666744" cy="1014984"/>
          </a:xfrm>
          <a:prstGeom prst="rect">
            <a:avLst/>
          </a:prstGeom>
          <a:noFill/>
        </p:spPr>
        <p:txBody>
          <a:bodyPr wrap="square" anchor="ctr" lIns="73152" rIns="73152" tIns="36576" bIns="36576">
            <a:noAutofit/>
          </a:bodyPr>
          <a:lstStyle/>
          <a:p>
            <a:pPr algn="l">
              <a:spcBef>
                <a:spcPts val="0"/>
              </a:spcBef>
              <a:spcAft>
                <a:spcPts val="0"/>
              </a:spcAft>
            </a:pPr>
            <a:r>
              <a:rPr lang="tr-TR" sz="2000" b="0" i="0">
                <a:solidFill>
                  <a:srgbClr val="262626"/>
                </a:solidFill>
                <a:latin typeface="Calibri"/>
              </a:rPr>
              <a:t>Ulaşımın mal ve hizmetlerin üretim, dağıtım ve tüketiminde doğrudan etkisi vardır.</a:t>
            </a:r>
          </a:p>
        </p:txBody>
      </p:sp>
      <p:sp>
        <p:nvSpPr>
          <p:cNvPr id="11" name="Rounded Rectangle 10"/>
          <p:cNvSpPr/>
          <p:nvPr/>
        </p:nvSpPr>
        <p:spPr>
          <a:xfrm>
            <a:off x="1051560" y="3072384"/>
            <a:ext cx="2788920" cy="512064"/>
          </a:xfrm>
          <a:prstGeom prst="roundRect">
            <a:avLst>
              <a:gd name="adj" fmla="val 30000"/>
            </a:avLst>
          </a:prstGeom>
          <a:solidFill>
            <a:srgbClr val="1E7B6E"/>
          </a:solidFill>
          <a:ln>
            <a:noFill/>
          </a:ln>
          <a:effectLst/>
        </p:spPr>
        <p:txBody>
          <a:bodyPr rtlCol="0" anchor="ctr" wrap="square" lIns="54864" rIns="54864" tIns="18288" bIns="18288">
            <a:noAutofit/>
          </a:bodyPr>
          <a:lstStyle/>
          <a:p>
            <a:pPr algn="ctr">
              <a:spcBef>
                <a:spcPts val="0"/>
              </a:spcBef>
              <a:spcAft>
                <a:spcPts val="0"/>
              </a:spcAft>
            </a:pPr>
            <a:r>
              <a:rPr lang="tr-TR" sz="2100" b="1" i="0">
                <a:solidFill>
                  <a:srgbClr val="FFFFFF"/>
                </a:solidFill>
                <a:latin typeface="Calibri"/>
              </a:rPr>
              <a:t>Ham madde</a:t>
            </a:r>
          </a:p>
        </p:txBody>
      </p:sp>
      <p:cxnSp>
        <p:nvCxnSpPr>
          <p:cNvPr id="12" name="Connector 11"/>
          <p:cNvCxnSpPr/>
          <p:nvPr/>
        </p:nvCxnSpPr>
        <p:spPr>
          <a:xfrm>
            <a:off x="2446020" y="3621024"/>
            <a:ext cx="0" cy="237744"/>
          </a:xfrm>
          <a:prstGeom prst="line">
            <a:avLst/>
          </a:prstGeom>
          <a:ln w="50800">
            <a:solidFill>
              <a:srgbClr val="FCC021"/>
            </a:solidFill>
            <a:tailEnd type="triangle" w="med" len="med"/>
          </a:ln>
        </p:spPr>
      </p:cxnSp>
      <p:sp>
        <p:nvSpPr>
          <p:cNvPr id="13" name="TextBox 12"/>
          <p:cNvSpPr txBox="1"/>
          <p:nvPr/>
        </p:nvSpPr>
        <p:spPr>
          <a:xfrm>
            <a:off x="2555748" y="3584448"/>
            <a:ext cx="1833372" cy="310896"/>
          </a:xfrm>
          <a:prstGeom prst="rect">
            <a:avLst/>
          </a:prstGeom>
          <a:noFill/>
        </p:spPr>
        <p:txBody>
          <a:bodyPr wrap="square" anchor="ctr" lIns="73152" rIns="73152" tIns="36576" bIns="36576">
            <a:noAutofit/>
          </a:bodyPr>
          <a:lstStyle/>
          <a:p>
            <a:pPr algn="l">
              <a:spcBef>
                <a:spcPts val="0"/>
              </a:spcBef>
              <a:spcAft>
                <a:spcPts val="0"/>
              </a:spcAft>
            </a:pPr>
            <a:r>
              <a:rPr lang="tr-TR" sz="1500" b="0" i="1">
                <a:solidFill>
                  <a:srgbClr val="767676"/>
                </a:solidFill>
                <a:latin typeface="Calibri"/>
              </a:rPr>
              <a:t>ulaşım</a:t>
            </a:r>
          </a:p>
        </p:txBody>
      </p:sp>
      <p:sp>
        <p:nvSpPr>
          <p:cNvPr id="14" name="Rounded Rectangle 13"/>
          <p:cNvSpPr/>
          <p:nvPr/>
        </p:nvSpPr>
        <p:spPr>
          <a:xfrm>
            <a:off x="1051560" y="3895344"/>
            <a:ext cx="2788920" cy="512064"/>
          </a:xfrm>
          <a:prstGeom prst="roundRect">
            <a:avLst>
              <a:gd name="adj" fmla="val 30000"/>
            </a:avLst>
          </a:prstGeom>
          <a:solidFill>
            <a:srgbClr val="4F4F4F"/>
          </a:solidFill>
          <a:ln>
            <a:noFill/>
          </a:ln>
          <a:effectLst/>
        </p:spPr>
        <p:txBody>
          <a:bodyPr rtlCol="0" anchor="ctr" wrap="square" lIns="54864" rIns="54864" tIns="18288" bIns="18288">
            <a:noAutofit/>
          </a:bodyPr>
          <a:lstStyle/>
          <a:p>
            <a:pPr algn="ctr">
              <a:spcBef>
                <a:spcPts val="0"/>
              </a:spcBef>
              <a:spcAft>
                <a:spcPts val="0"/>
              </a:spcAft>
            </a:pPr>
            <a:r>
              <a:rPr lang="tr-TR" sz="2100" b="1" i="0">
                <a:solidFill>
                  <a:srgbClr val="FFFFFF"/>
                </a:solidFill>
                <a:latin typeface="Calibri"/>
              </a:rPr>
              <a:t>Fabrika</a:t>
            </a:r>
          </a:p>
        </p:txBody>
      </p:sp>
      <p:cxnSp>
        <p:nvCxnSpPr>
          <p:cNvPr id="15" name="Connector 14"/>
          <p:cNvCxnSpPr/>
          <p:nvPr/>
        </p:nvCxnSpPr>
        <p:spPr>
          <a:xfrm>
            <a:off x="2446020" y="4443984"/>
            <a:ext cx="0" cy="237744"/>
          </a:xfrm>
          <a:prstGeom prst="line">
            <a:avLst/>
          </a:prstGeom>
          <a:ln w="50800">
            <a:solidFill>
              <a:srgbClr val="FCC021"/>
            </a:solidFill>
            <a:tailEnd type="triangle" w="med" len="med"/>
          </a:ln>
        </p:spPr>
      </p:cxnSp>
      <p:sp>
        <p:nvSpPr>
          <p:cNvPr id="16" name="TextBox 15"/>
          <p:cNvSpPr txBox="1"/>
          <p:nvPr/>
        </p:nvSpPr>
        <p:spPr>
          <a:xfrm>
            <a:off x="2555748" y="4407408"/>
            <a:ext cx="1833372" cy="310896"/>
          </a:xfrm>
          <a:prstGeom prst="rect">
            <a:avLst/>
          </a:prstGeom>
          <a:noFill/>
        </p:spPr>
        <p:txBody>
          <a:bodyPr wrap="square" anchor="ctr" lIns="73152" rIns="73152" tIns="36576" bIns="36576">
            <a:noAutofit/>
          </a:bodyPr>
          <a:lstStyle/>
          <a:p>
            <a:pPr algn="l">
              <a:spcBef>
                <a:spcPts val="0"/>
              </a:spcBef>
              <a:spcAft>
                <a:spcPts val="0"/>
              </a:spcAft>
            </a:pPr>
            <a:r>
              <a:rPr lang="tr-TR" sz="1500" b="0" i="1">
                <a:solidFill>
                  <a:srgbClr val="767676"/>
                </a:solidFill>
                <a:latin typeface="Calibri"/>
              </a:rPr>
              <a:t>ulaşım</a:t>
            </a:r>
          </a:p>
        </p:txBody>
      </p:sp>
      <p:sp>
        <p:nvSpPr>
          <p:cNvPr id="17" name="Rounded Rectangle 16"/>
          <p:cNvSpPr/>
          <p:nvPr/>
        </p:nvSpPr>
        <p:spPr>
          <a:xfrm>
            <a:off x="1051560" y="4718304"/>
            <a:ext cx="2788920" cy="512064"/>
          </a:xfrm>
          <a:prstGeom prst="roundRect">
            <a:avLst>
              <a:gd name="adj" fmla="val 30000"/>
            </a:avLst>
          </a:prstGeom>
          <a:solidFill>
            <a:srgbClr val="1E7B6E"/>
          </a:solidFill>
          <a:ln>
            <a:noFill/>
          </a:ln>
          <a:effectLst/>
        </p:spPr>
        <p:txBody>
          <a:bodyPr rtlCol="0" anchor="ctr" wrap="square" lIns="54864" rIns="54864" tIns="18288" bIns="18288">
            <a:noAutofit/>
          </a:bodyPr>
          <a:lstStyle/>
          <a:p>
            <a:pPr algn="ctr">
              <a:spcBef>
                <a:spcPts val="0"/>
              </a:spcBef>
              <a:spcAft>
                <a:spcPts val="0"/>
              </a:spcAft>
            </a:pPr>
            <a:r>
              <a:rPr lang="tr-TR" sz="2100" b="1" i="0">
                <a:solidFill>
                  <a:srgbClr val="FFFFFF"/>
                </a:solidFill>
                <a:latin typeface="Calibri"/>
              </a:rPr>
              <a:t>Pazar</a:t>
            </a:r>
          </a:p>
        </p:txBody>
      </p:sp>
      <p:sp>
        <p:nvSpPr>
          <p:cNvPr id="18" name="Rounded Rectangle 17"/>
          <p:cNvSpPr/>
          <p:nvPr/>
        </p:nvSpPr>
        <p:spPr>
          <a:xfrm>
            <a:off x="502920" y="5413248"/>
            <a:ext cx="3886200" cy="877824"/>
          </a:xfrm>
          <a:prstGeom prst="roundRect">
            <a:avLst>
              <a:gd name="adj" fmla="val 8000"/>
            </a:avLst>
          </a:prstGeom>
          <a:solidFill>
            <a:srgbClr val="FFF3D1"/>
          </a:solidFill>
          <a:ln>
            <a:noFill/>
          </a:ln>
          <a:effectLst/>
        </p:spPr>
        <p:txBody>
          <a:bodyPr rtlCol="0" anchor="ctr" wrap="square" lIns="201168" rIns="201168" tIns="73152" bIns="73152">
            <a:noAutofit/>
          </a:bodyPr>
          <a:lstStyle/>
          <a:p>
            <a:pPr algn="l">
              <a:spcBef>
                <a:spcPts val="0"/>
              </a:spcBef>
              <a:spcAft>
                <a:spcPts val="0"/>
              </a:spcAft>
            </a:pPr>
            <a:r>
              <a:rPr lang="tr-TR" sz="2000" b="1" i="0">
                <a:solidFill>
                  <a:srgbClr val="262626"/>
                </a:solidFill>
                <a:latin typeface="Calibri"/>
              </a:rPr>
              <a:t>Düşün:</a:t>
            </a:r>
            <a:r>
              <a:rPr lang="tr-TR" sz="2000" b="0" i="0">
                <a:solidFill>
                  <a:srgbClr val="262626"/>
                </a:solidFill>
                <a:latin typeface="Calibri"/>
              </a:rPr>
              <a:t> En büyük limanlar nerede toplanmış?</a:t>
            </a:r>
          </a:p>
        </p:txBody>
      </p:sp>
      <p:pic>
        <p:nvPicPr>
          <p:cNvPr id="19" name="Picture 18" descr="h29_h51_s178.jpg"/>
          <p:cNvPicPr>
            <a:picLocks noChangeAspect="1"/>
          </p:cNvPicPr>
          <p:nvPr/>
        </p:nvPicPr>
        <p:blipFill>
          <a:blip r:embed="rId3"/>
          <a:stretch>
            <a:fillRect/>
          </a:stretch>
        </p:blipFill>
        <p:spPr>
          <a:xfrm>
            <a:off x="4617720" y="1216152"/>
            <a:ext cx="7071055" cy="3568475"/>
          </a:xfrm>
          <a:prstGeom prst="rect">
            <a:avLst/>
          </a:prstGeom>
          <a:ln w="9525">
            <a:solidFill>
              <a:srgbClr val="D9D9D9"/>
            </a:solidFill>
          </a:ln>
        </p:spPr>
      </p:pic>
      <p:sp>
        <p:nvSpPr>
          <p:cNvPr id="20" name="TextBox 19"/>
          <p:cNvSpPr txBox="1"/>
          <p:nvPr/>
        </p:nvSpPr>
        <p:spPr>
          <a:xfrm>
            <a:off x="4617720" y="4802915"/>
            <a:ext cx="7071055" cy="274320"/>
          </a:xfrm>
          <a:prstGeom prst="rect">
            <a:avLst/>
          </a:prstGeom>
          <a:noFill/>
        </p:spPr>
        <p:txBody>
          <a:bodyPr wrap="square" anchor="t" lIns="73152" rIns="73152" tIns="36576" bIns="36576">
            <a:noAutofit/>
          </a:bodyPr>
          <a:lstStyle/>
          <a:p>
            <a:pPr algn="r">
              <a:spcBef>
                <a:spcPts val="0"/>
              </a:spcBef>
              <a:spcAft>
                <a:spcPts val="0"/>
              </a:spcAft>
            </a:pPr>
            <a:r>
              <a:rPr lang="tr-TR" sz="1100" b="0" i="0">
                <a:solidFill>
                  <a:srgbClr val="767676"/>
                </a:solidFill>
                <a:latin typeface="Calibri"/>
              </a:rPr>
              <a:t>Harita 5.1: Dünyanın başlıca konteyner limanları — Ders kitabı s. 178</a:t>
            </a:r>
          </a:p>
        </p:txBody>
      </p:sp>
      <p:sp>
        <p:nvSpPr>
          <p:cNvPr id="21" name="Rounded Rectangle 20"/>
          <p:cNvSpPr/>
          <p:nvPr/>
        </p:nvSpPr>
        <p:spPr>
          <a:xfrm>
            <a:off x="4617720" y="5104667"/>
            <a:ext cx="7071055" cy="1186405"/>
          </a:xfrm>
          <a:prstGeom prst="roundRect">
            <a:avLst>
              <a:gd name="adj" fmla="val 8000"/>
            </a:avLst>
          </a:prstGeom>
          <a:solidFill>
            <a:srgbClr val="F0F0F0"/>
          </a:solidFill>
          <a:ln>
            <a:noFill/>
          </a:ln>
          <a:effectLst/>
        </p:spPr>
        <p:txBody>
          <a:bodyPr rtlCol="0" anchor="ctr"/>
          <a:lstStyle/>
          <a:p/>
        </p:txBody>
      </p:sp>
      <p:sp>
        <p:nvSpPr>
          <p:cNvPr id="22" name="Rectangle 21"/>
          <p:cNvSpPr/>
          <p:nvPr/>
        </p:nvSpPr>
        <p:spPr>
          <a:xfrm>
            <a:off x="4617720" y="5104667"/>
            <a:ext cx="118872" cy="1186405"/>
          </a:xfrm>
          <a:prstGeom prst="rect">
            <a:avLst/>
          </a:prstGeom>
          <a:solidFill>
            <a:srgbClr val="1E7B6E"/>
          </a:solidFill>
          <a:ln>
            <a:noFill/>
          </a:ln>
          <a:effectLst/>
        </p:spPr>
        <p:txBody>
          <a:bodyPr rtlCol="0" anchor="ctr"/>
          <a:lstStyle/>
          <a:p/>
        </p:txBody>
      </p:sp>
      <p:sp>
        <p:nvSpPr>
          <p:cNvPr id="23" name="TextBox 22"/>
          <p:cNvSpPr txBox="1"/>
          <p:nvPr/>
        </p:nvSpPr>
        <p:spPr>
          <a:xfrm>
            <a:off x="4892040" y="5104667"/>
            <a:ext cx="6659575" cy="1186405"/>
          </a:xfrm>
          <a:prstGeom prst="rect">
            <a:avLst/>
          </a:prstGeom>
          <a:noFill/>
        </p:spPr>
        <p:txBody>
          <a:bodyPr wrap="square" anchor="ctr" lIns="73152" rIns="73152" tIns="36576" bIns="36576">
            <a:noAutofit/>
          </a:bodyPr>
          <a:lstStyle/>
          <a:p>
            <a:pPr algn="l">
              <a:spcBef>
                <a:spcPts val="0"/>
              </a:spcBef>
              <a:spcAft>
                <a:spcPts val="0"/>
              </a:spcAft>
            </a:pPr>
            <a:r>
              <a:rPr lang="tr-TR" sz="2000" b="0" i="0">
                <a:solidFill>
                  <a:srgbClr val="262626"/>
                </a:solidFill>
                <a:latin typeface="Calibri"/>
              </a:rPr>
              <a:t>Ulaşım sektörü açısından büyük ve işlek limanlara sahip ülkeler, aynı zamanda büyük sanayi veya ticaret tesislerinin de bulunduğu yerlerdir.</a:t>
            </a:r>
          </a:p>
        </p:txBody>
      </p:sp>
      <p:sp>
        <p:nvSpPr>
          <p:cNvPr id="24" name="TextBox 23"/>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25" name="Rounded Rectangle 24"/>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178</a:t>
            </a:r>
          </a:p>
        </p:txBody>
      </p:sp>
      <p:sp>
        <p:nvSpPr>
          <p:cNvPr id="26" name="TextBox 25"/>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74 / 166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Beşerî faktörler: boşlukları dolduralım</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BOŞLUK DOLDUR</a:t>
            </a:r>
          </a:p>
        </p:txBody>
      </p:sp>
      <p:sp>
        <p:nvSpPr>
          <p:cNvPr id="6" name="Rounded Rectangle 5"/>
          <p:cNvSpPr/>
          <p:nvPr/>
        </p:nvSpPr>
        <p:spPr>
          <a:xfrm>
            <a:off x="502920" y="1216152"/>
            <a:ext cx="11185855" cy="3977639"/>
          </a:xfrm>
          <a:prstGeom prst="roundRect">
            <a:avLst>
              <a:gd name="adj" fmla="val 8000"/>
            </a:avLst>
          </a:prstGeom>
          <a:solidFill>
            <a:srgbClr val="F0F0F0"/>
          </a:solidFill>
          <a:ln>
            <a:noFill/>
          </a:ln>
          <a:effectLst/>
        </p:spPr>
        <p:txBody>
          <a:bodyPr rtlCol="0" anchor="ctr" wrap="square" lIns="274320" rIns="274320" tIns="73152" bIns="73152">
            <a:noAutofit/>
          </a:bodyPr>
          <a:lstStyle/>
          <a:p>
            <a:pPr algn="l">
              <a:spcBef>
                <a:spcPts val="0"/>
              </a:spcBef>
              <a:spcAft>
                <a:spcPts val="857"/>
              </a:spcAft>
            </a:pPr>
            <a:r>
              <a:rPr lang="tr-TR" sz="2000" b="0" i="0">
                <a:solidFill>
                  <a:srgbClr val="262626"/>
                </a:solidFill>
                <a:latin typeface="Calibri"/>
              </a:rPr>
              <a:t>1.  Ekonomik faaliyetlerde yoğun makineleşmeye rağmen (1) …… varlığı ve maliyeti önemini korumaktadır.</a:t>
            </a:r>
          </a:p>
          <a:p>
            <a:pPr algn="l">
              <a:spcBef>
                <a:spcPts val="0"/>
              </a:spcBef>
              <a:spcAft>
                <a:spcPts val="857"/>
              </a:spcAft>
            </a:pPr>
            <a:r>
              <a:rPr lang="tr-TR" sz="2000" b="0" i="0">
                <a:solidFill>
                  <a:srgbClr val="262626"/>
                </a:solidFill>
                <a:latin typeface="Calibri"/>
              </a:rPr>
              <a:t>2.  Bu nedenle yeterli (2) …… sahip ülkeler, ekonomik faaliyetlerin yoğunlaştığı yerlerdir.</a:t>
            </a:r>
          </a:p>
          <a:p>
            <a:pPr algn="l">
              <a:spcBef>
                <a:spcPts val="0"/>
              </a:spcBef>
              <a:spcAft>
                <a:spcPts val="857"/>
              </a:spcAft>
            </a:pPr>
            <a:r>
              <a:rPr lang="tr-TR" sz="2000" b="0" i="0">
                <a:solidFill>
                  <a:srgbClr val="262626"/>
                </a:solidFill>
                <a:latin typeface="Calibri"/>
              </a:rPr>
              <a:t>3.  Gelişmekte olan ülkelere (3) …… sermaye girişi; ekonomik, hukuki ve siyasal istikrar sağlandığı ölçüde gerçekleşebilmektedir.</a:t>
            </a:r>
          </a:p>
          <a:p>
            <a:pPr algn="l">
              <a:spcBef>
                <a:spcPts val="0"/>
              </a:spcBef>
              <a:spcAft>
                <a:spcPts val="857"/>
              </a:spcAft>
            </a:pPr>
            <a:r>
              <a:rPr lang="tr-TR" sz="2000" b="0" i="0">
                <a:solidFill>
                  <a:srgbClr val="262626"/>
                </a:solidFill>
                <a:latin typeface="Calibri"/>
              </a:rPr>
              <a:t>4.  Japonya … kullandığı yüksek teknoloji sayesinde (4) …… faaliyetlerinin geliştiği önemli bir ülke hâline gelmiştir.</a:t>
            </a:r>
          </a:p>
          <a:p>
            <a:pPr algn="l">
              <a:spcBef>
                <a:spcPts val="0"/>
              </a:spcBef>
              <a:spcAft>
                <a:spcPts val="857"/>
              </a:spcAft>
            </a:pPr>
            <a:r>
              <a:rPr lang="tr-TR" sz="2000" b="0" i="0">
                <a:solidFill>
                  <a:srgbClr val="262626"/>
                </a:solidFill>
                <a:latin typeface="Calibri"/>
              </a:rPr>
              <a:t>5.  Ekonomik faaliyetleri etkileyen faktörlerden bir diğeri (5) ……dır.</a:t>
            </a:r>
          </a:p>
          <a:p>
            <a:pPr algn="l">
              <a:spcBef>
                <a:spcPts val="0"/>
              </a:spcBef>
              <a:spcAft>
                <a:spcPts val="0"/>
              </a:spcAft>
            </a:pPr>
            <a:r>
              <a:rPr lang="tr-TR" sz="2000" b="0" i="0">
                <a:solidFill>
                  <a:srgbClr val="262626"/>
                </a:solidFill>
                <a:latin typeface="Calibri"/>
              </a:rPr>
              <a:t>6.  Ulaşım sektörü açısından büyük ve işlek (6) …… sahip ülkeler, aynı zamanda büyük sanayi veya ticaret tesislerinin de bulunduğu yerlerdir.</a:t>
            </a:r>
          </a:p>
        </p:txBody>
      </p:sp>
      <p:sp>
        <p:nvSpPr>
          <p:cNvPr id="7" name="Rounded Rectangle 6"/>
          <p:cNvSpPr/>
          <p:nvPr/>
        </p:nvSpPr>
        <p:spPr>
          <a:xfrm>
            <a:off x="777240" y="5513832"/>
            <a:ext cx="1533669" cy="566928"/>
          </a:xfrm>
          <a:prstGeom prst="roundRect">
            <a:avLst>
              <a:gd name="adj" fmla="val 50000"/>
            </a:avLst>
          </a:prstGeom>
          <a:solidFill>
            <a:srgbClr val="FFFFFF"/>
          </a:solidFill>
          <a:ln w="25400">
            <a:solidFill>
              <a:srgbClr val="2C6696"/>
            </a:solidFill>
          </a:ln>
          <a:effectLst/>
        </p:spPr>
        <p:txBody>
          <a:bodyPr rtlCol="0" anchor="ctr" wrap="square" lIns="73152" rIns="73152" tIns="18288" bIns="18288">
            <a:noAutofit/>
          </a:bodyPr>
          <a:lstStyle/>
          <a:p>
            <a:pPr algn="ctr">
              <a:spcBef>
                <a:spcPts val="0"/>
              </a:spcBef>
              <a:spcAft>
                <a:spcPts val="0"/>
              </a:spcAft>
            </a:pPr>
            <a:r>
              <a:rPr lang="tr-TR" sz="2200" b="1" i="0">
                <a:solidFill>
                  <a:srgbClr val="262626"/>
                </a:solidFill>
                <a:latin typeface="Calibri"/>
              </a:rPr>
              <a:t>limanlara</a:t>
            </a:r>
          </a:p>
        </p:txBody>
      </p:sp>
      <p:sp>
        <p:nvSpPr>
          <p:cNvPr id="8" name="Rounded Rectangle 7"/>
          <p:cNvSpPr/>
          <p:nvPr/>
        </p:nvSpPr>
        <p:spPr>
          <a:xfrm>
            <a:off x="2438925" y="5513832"/>
            <a:ext cx="1693601" cy="566928"/>
          </a:xfrm>
          <a:prstGeom prst="roundRect">
            <a:avLst>
              <a:gd name="adj" fmla="val 50000"/>
            </a:avLst>
          </a:prstGeom>
          <a:solidFill>
            <a:srgbClr val="FFFFFF"/>
          </a:solidFill>
          <a:ln w="25400">
            <a:solidFill>
              <a:srgbClr val="2C6696"/>
            </a:solidFill>
          </a:ln>
          <a:effectLst/>
        </p:spPr>
        <p:txBody>
          <a:bodyPr rtlCol="0" anchor="ctr" wrap="square" lIns="73152" rIns="73152" tIns="18288" bIns="18288">
            <a:noAutofit/>
          </a:bodyPr>
          <a:lstStyle/>
          <a:p>
            <a:pPr algn="ctr">
              <a:spcBef>
                <a:spcPts val="0"/>
              </a:spcBef>
              <a:spcAft>
                <a:spcPts val="0"/>
              </a:spcAft>
            </a:pPr>
            <a:r>
              <a:rPr lang="tr-TR" sz="2200" b="1" i="0">
                <a:solidFill>
                  <a:srgbClr val="262626"/>
                </a:solidFill>
                <a:latin typeface="Calibri"/>
              </a:rPr>
              <a:t>iş gücünün</a:t>
            </a:r>
          </a:p>
        </p:txBody>
      </p:sp>
      <p:sp>
        <p:nvSpPr>
          <p:cNvPr id="9" name="Rounded Rectangle 8"/>
          <p:cNvSpPr/>
          <p:nvPr/>
        </p:nvSpPr>
        <p:spPr>
          <a:xfrm>
            <a:off x="4260542" y="5513832"/>
            <a:ext cx="1322826" cy="566928"/>
          </a:xfrm>
          <a:prstGeom prst="roundRect">
            <a:avLst>
              <a:gd name="adj" fmla="val 50000"/>
            </a:avLst>
          </a:prstGeom>
          <a:solidFill>
            <a:srgbClr val="FFFFFF"/>
          </a:solidFill>
          <a:ln w="25400">
            <a:solidFill>
              <a:srgbClr val="2C6696"/>
            </a:solidFill>
          </a:ln>
          <a:effectLst/>
        </p:spPr>
        <p:txBody>
          <a:bodyPr rtlCol="0" anchor="ctr" wrap="square" lIns="73152" rIns="73152" tIns="18288" bIns="18288">
            <a:noAutofit/>
          </a:bodyPr>
          <a:lstStyle/>
          <a:p>
            <a:pPr algn="ctr">
              <a:spcBef>
                <a:spcPts val="0"/>
              </a:spcBef>
              <a:spcAft>
                <a:spcPts val="0"/>
              </a:spcAft>
            </a:pPr>
            <a:r>
              <a:rPr lang="tr-TR" sz="2200" b="1" i="0">
                <a:solidFill>
                  <a:srgbClr val="262626"/>
                </a:solidFill>
                <a:latin typeface="Calibri"/>
              </a:rPr>
              <a:t>yabancı</a:t>
            </a:r>
          </a:p>
        </p:txBody>
      </p:sp>
      <p:sp>
        <p:nvSpPr>
          <p:cNvPr id="10" name="Rounded Rectangle 9"/>
          <p:cNvSpPr/>
          <p:nvPr/>
        </p:nvSpPr>
        <p:spPr>
          <a:xfrm>
            <a:off x="5711384" y="5513832"/>
            <a:ext cx="1158720" cy="566928"/>
          </a:xfrm>
          <a:prstGeom prst="roundRect">
            <a:avLst>
              <a:gd name="adj" fmla="val 50000"/>
            </a:avLst>
          </a:prstGeom>
          <a:solidFill>
            <a:srgbClr val="FFFFFF"/>
          </a:solidFill>
          <a:ln w="25400">
            <a:solidFill>
              <a:srgbClr val="2C6696"/>
            </a:solidFill>
          </a:ln>
          <a:effectLst/>
        </p:spPr>
        <p:txBody>
          <a:bodyPr rtlCol="0" anchor="ctr" wrap="square" lIns="73152" rIns="73152" tIns="18288" bIns="18288">
            <a:noAutofit/>
          </a:bodyPr>
          <a:lstStyle/>
          <a:p>
            <a:pPr algn="ctr">
              <a:spcBef>
                <a:spcPts val="0"/>
              </a:spcBef>
              <a:spcAft>
                <a:spcPts val="0"/>
              </a:spcAft>
            </a:pPr>
            <a:r>
              <a:rPr lang="tr-TR" sz="2200" b="1" i="0">
                <a:solidFill>
                  <a:srgbClr val="262626"/>
                </a:solidFill>
                <a:latin typeface="Calibri"/>
              </a:rPr>
              <a:t>sanayi</a:t>
            </a:r>
          </a:p>
        </p:txBody>
      </p:sp>
      <p:sp>
        <p:nvSpPr>
          <p:cNvPr id="11" name="Rounded Rectangle 10"/>
          <p:cNvSpPr/>
          <p:nvPr/>
        </p:nvSpPr>
        <p:spPr>
          <a:xfrm>
            <a:off x="6998120" y="5513832"/>
            <a:ext cx="1700389" cy="566928"/>
          </a:xfrm>
          <a:prstGeom prst="roundRect">
            <a:avLst>
              <a:gd name="adj" fmla="val 50000"/>
            </a:avLst>
          </a:prstGeom>
          <a:solidFill>
            <a:srgbClr val="FFFFFF"/>
          </a:solidFill>
          <a:ln w="25400">
            <a:solidFill>
              <a:srgbClr val="2C6696"/>
            </a:solidFill>
          </a:ln>
          <a:effectLst/>
        </p:spPr>
        <p:txBody>
          <a:bodyPr rtlCol="0" anchor="ctr" wrap="square" lIns="73152" rIns="73152" tIns="18288" bIns="18288">
            <a:noAutofit/>
          </a:bodyPr>
          <a:lstStyle/>
          <a:p>
            <a:pPr algn="ctr">
              <a:spcBef>
                <a:spcPts val="0"/>
              </a:spcBef>
              <a:spcAft>
                <a:spcPts val="0"/>
              </a:spcAft>
            </a:pPr>
            <a:r>
              <a:rPr lang="tr-TR" sz="2200" b="1" i="0">
                <a:solidFill>
                  <a:srgbClr val="262626"/>
                </a:solidFill>
                <a:latin typeface="Calibri"/>
              </a:rPr>
              <a:t>sermayeye</a:t>
            </a:r>
          </a:p>
        </p:txBody>
      </p:sp>
      <p:sp>
        <p:nvSpPr>
          <p:cNvPr id="12" name="Rounded Rectangle 11"/>
          <p:cNvSpPr/>
          <p:nvPr/>
        </p:nvSpPr>
        <p:spPr>
          <a:xfrm>
            <a:off x="8826525" y="5513832"/>
            <a:ext cx="1191010" cy="566928"/>
          </a:xfrm>
          <a:prstGeom prst="roundRect">
            <a:avLst>
              <a:gd name="adj" fmla="val 50000"/>
            </a:avLst>
          </a:prstGeom>
          <a:solidFill>
            <a:srgbClr val="FFFFFF"/>
          </a:solidFill>
          <a:ln w="25400">
            <a:solidFill>
              <a:srgbClr val="2C6696"/>
            </a:solidFill>
          </a:ln>
          <a:effectLst/>
        </p:spPr>
        <p:txBody>
          <a:bodyPr rtlCol="0" anchor="ctr" wrap="square" lIns="73152" rIns="73152" tIns="18288" bIns="18288">
            <a:noAutofit/>
          </a:bodyPr>
          <a:lstStyle/>
          <a:p>
            <a:pPr algn="ctr">
              <a:spcBef>
                <a:spcPts val="0"/>
              </a:spcBef>
              <a:spcAft>
                <a:spcPts val="0"/>
              </a:spcAft>
            </a:pPr>
            <a:r>
              <a:rPr lang="tr-TR" sz="2200" b="1" i="0">
                <a:solidFill>
                  <a:srgbClr val="262626"/>
                </a:solidFill>
                <a:latin typeface="Calibri"/>
              </a:rPr>
              <a:t>ulaşım</a:t>
            </a:r>
          </a:p>
        </p:txBody>
      </p:sp>
      <p:sp>
        <p:nvSpPr>
          <p:cNvPr id="13" name="TextBox 1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14" name="Rounded Rectangle 1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177-178</a:t>
            </a:r>
          </a:p>
        </p:txBody>
      </p:sp>
      <p:sp>
        <p:nvSpPr>
          <p:cNvPr id="15" name="TextBox 1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75 / 166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Beşerî faktörler: boşlukları dolduralım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CEVAP</a:t>
            </a:r>
          </a:p>
        </p:txBody>
      </p:sp>
      <p:sp>
        <p:nvSpPr>
          <p:cNvPr id="6" name="Rounded Rectangle 5"/>
          <p:cNvSpPr/>
          <p:nvPr/>
        </p:nvSpPr>
        <p:spPr>
          <a:xfrm>
            <a:off x="502920" y="1216152"/>
            <a:ext cx="11185855" cy="3977639"/>
          </a:xfrm>
          <a:prstGeom prst="roundRect">
            <a:avLst>
              <a:gd name="adj" fmla="val 8000"/>
            </a:avLst>
          </a:prstGeom>
          <a:solidFill>
            <a:srgbClr val="E3F1E4"/>
          </a:solidFill>
          <a:ln w="12700">
            <a:solidFill>
              <a:srgbClr val="2E7D32"/>
            </a:solidFill>
          </a:ln>
          <a:effectLst/>
        </p:spPr>
        <p:txBody>
          <a:bodyPr rtlCol="0" anchor="ctr" wrap="square" lIns="274320" rIns="274320" tIns="73152" bIns="73152">
            <a:noAutofit/>
          </a:bodyPr>
          <a:lstStyle/>
          <a:p>
            <a:pPr algn="l">
              <a:spcBef>
                <a:spcPts val="0"/>
              </a:spcBef>
              <a:spcAft>
                <a:spcPts val="857"/>
              </a:spcAft>
            </a:pPr>
            <a:r>
              <a:rPr lang="tr-TR" sz="2000" b="0" i="0">
                <a:solidFill>
                  <a:srgbClr val="262626"/>
                </a:solidFill>
                <a:latin typeface="Calibri"/>
              </a:rPr>
              <a:t>1.  Ekonomik faaliyetlerde yoğun makineleşmeye rağmen </a:t>
            </a:r>
            <a:r>
              <a:rPr lang="tr-TR" sz="2000" b="1" i="0">
                <a:solidFill>
                  <a:srgbClr val="262626"/>
                </a:solidFill>
                <a:latin typeface="Calibri"/>
              </a:rPr>
              <a:t>iş gücünün</a:t>
            </a:r>
            <a:r>
              <a:rPr lang="tr-TR" sz="2000" b="0" i="0">
                <a:solidFill>
                  <a:srgbClr val="262626"/>
                </a:solidFill>
                <a:latin typeface="Calibri"/>
              </a:rPr>
              <a:t> varlığı ve maliyeti önemini korumaktadır.</a:t>
            </a:r>
          </a:p>
          <a:p>
            <a:pPr algn="l">
              <a:spcBef>
                <a:spcPts val="0"/>
              </a:spcBef>
              <a:spcAft>
                <a:spcPts val="857"/>
              </a:spcAft>
            </a:pPr>
            <a:r>
              <a:rPr lang="tr-TR" sz="2000" b="0" i="0">
                <a:solidFill>
                  <a:srgbClr val="262626"/>
                </a:solidFill>
                <a:latin typeface="Calibri"/>
              </a:rPr>
              <a:t>2.  Bu nedenle yeterli </a:t>
            </a:r>
            <a:r>
              <a:rPr lang="tr-TR" sz="2000" b="1" i="0">
                <a:solidFill>
                  <a:srgbClr val="262626"/>
                </a:solidFill>
                <a:latin typeface="Calibri"/>
              </a:rPr>
              <a:t>sermayeye</a:t>
            </a:r>
            <a:r>
              <a:rPr lang="tr-TR" sz="2000" b="0" i="0">
                <a:solidFill>
                  <a:srgbClr val="262626"/>
                </a:solidFill>
                <a:latin typeface="Calibri"/>
              </a:rPr>
              <a:t> sahip ülkeler, ekonomik faaliyetlerin yoğunlaştığı yerlerdir.</a:t>
            </a:r>
          </a:p>
          <a:p>
            <a:pPr algn="l">
              <a:spcBef>
                <a:spcPts val="0"/>
              </a:spcBef>
              <a:spcAft>
                <a:spcPts val="857"/>
              </a:spcAft>
            </a:pPr>
            <a:r>
              <a:rPr lang="tr-TR" sz="2000" b="0" i="0">
                <a:solidFill>
                  <a:srgbClr val="262626"/>
                </a:solidFill>
                <a:latin typeface="Calibri"/>
              </a:rPr>
              <a:t>3.  Gelişmekte olan ülkelere </a:t>
            </a:r>
            <a:r>
              <a:rPr lang="tr-TR" sz="2000" b="1" i="0">
                <a:solidFill>
                  <a:srgbClr val="262626"/>
                </a:solidFill>
                <a:latin typeface="Calibri"/>
              </a:rPr>
              <a:t>yabancı</a:t>
            </a:r>
            <a:r>
              <a:rPr lang="tr-TR" sz="2000" b="0" i="0">
                <a:solidFill>
                  <a:srgbClr val="262626"/>
                </a:solidFill>
                <a:latin typeface="Calibri"/>
              </a:rPr>
              <a:t> sermaye girişi; ekonomik, hukuki ve siyasal istikrar sağlandığı ölçüde gerçekleşebilmektedir.</a:t>
            </a:r>
          </a:p>
          <a:p>
            <a:pPr algn="l">
              <a:spcBef>
                <a:spcPts val="0"/>
              </a:spcBef>
              <a:spcAft>
                <a:spcPts val="857"/>
              </a:spcAft>
            </a:pPr>
            <a:r>
              <a:rPr lang="tr-TR" sz="2000" b="0" i="0">
                <a:solidFill>
                  <a:srgbClr val="262626"/>
                </a:solidFill>
                <a:latin typeface="Calibri"/>
              </a:rPr>
              <a:t>4.  Japonya … kullandığı yüksek teknoloji sayesinde </a:t>
            </a:r>
            <a:r>
              <a:rPr lang="tr-TR" sz="2000" b="1" i="0">
                <a:solidFill>
                  <a:srgbClr val="262626"/>
                </a:solidFill>
                <a:latin typeface="Calibri"/>
              </a:rPr>
              <a:t>sanayi</a:t>
            </a:r>
            <a:r>
              <a:rPr lang="tr-TR" sz="2000" b="0" i="0">
                <a:solidFill>
                  <a:srgbClr val="262626"/>
                </a:solidFill>
                <a:latin typeface="Calibri"/>
              </a:rPr>
              <a:t> faaliyetlerinin geliştiği önemli bir ülke hâline gelmiştir.</a:t>
            </a:r>
          </a:p>
          <a:p>
            <a:pPr algn="l">
              <a:spcBef>
                <a:spcPts val="0"/>
              </a:spcBef>
              <a:spcAft>
                <a:spcPts val="857"/>
              </a:spcAft>
            </a:pPr>
            <a:r>
              <a:rPr lang="tr-TR" sz="2000" b="0" i="0">
                <a:solidFill>
                  <a:srgbClr val="262626"/>
                </a:solidFill>
                <a:latin typeface="Calibri"/>
              </a:rPr>
              <a:t>5.  Ekonomik faaliyetleri etkileyen faktörlerden bir diğeri </a:t>
            </a:r>
            <a:r>
              <a:rPr lang="tr-TR" sz="2000" b="1" i="0">
                <a:solidFill>
                  <a:srgbClr val="262626"/>
                </a:solidFill>
                <a:latin typeface="Calibri"/>
              </a:rPr>
              <a:t>ulaşım</a:t>
            </a:r>
            <a:r>
              <a:rPr lang="tr-TR" sz="2000" b="0" i="0">
                <a:solidFill>
                  <a:srgbClr val="262626"/>
                </a:solidFill>
                <a:latin typeface="Calibri"/>
              </a:rPr>
              <a:t>dır.</a:t>
            </a:r>
          </a:p>
          <a:p>
            <a:pPr algn="l">
              <a:spcBef>
                <a:spcPts val="0"/>
              </a:spcBef>
              <a:spcAft>
                <a:spcPts val="0"/>
              </a:spcAft>
            </a:pPr>
            <a:r>
              <a:rPr lang="tr-TR" sz="2000" b="0" i="0">
                <a:solidFill>
                  <a:srgbClr val="262626"/>
                </a:solidFill>
                <a:latin typeface="Calibri"/>
              </a:rPr>
              <a:t>6.  Ulaşım sektörü açısından büyük ve işlek </a:t>
            </a:r>
            <a:r>
              <a:rPr lang="tr-TR" sz="2000" b="1" i="0">
                <a:solidFill>
                  <a:srgbClr val="262626"/>
                </a:solidFill>
                <a:latin typeface="Calibri"/>
              </a:rPr>
              <a:t>limanlara</a:t>
            </a:r>
            <a:r>
              <a:rPr lang="tr-TR" sz="2000" b="0" i="0">
                <a:solidFill>
                  <a:srgbClr val="262626"/>
                </a:solidFill>
                <a:latin typeface="Calibri"/>
              </a:rPr>
              <a:t> sahip ülkeler, aynı zamanda büyük sanayi veya ticaret tesislerinin de bulunduğu yerlerdir.</a:t>
            </a:r>
          </a:p>
        </p:txBody>
      </p:sp>
      <p:sp>
        <p:nvSpPr>
          <p:cNvPr id="7" name="Rounded Rectangle 6"/>
          <p:cNvSpPr/>
          <p:nvPr/>
        </p:nvSpPr>
        <p:spPr>
          <a:xfrm>
            <a:off x="502920" y="5468112"/>
            <a:ext cx="11185855" cy="822960"/>
          </a:xfrm>
          <a:prstGeom prst="roundRect">
            <a:avLst>
              <a:gd name="adj" fmla="val 8000"/>
            </a:avLst>
          </a:prstGeom>
          <a:solidFill>
            <a:srgbClr val="E3F1E4"/>
          </a:solidFill>
          <a:ln w="19050">
            <a:solidFill>
              <a:srgbClr val="2E7D32"/>
            </a:solidFill>
          </a:ln>
          <a:effectLst/>
        </p:spPr>
        <p:txBody>
          <a:bodyPr rtlCol="0" anchor="ctr" wrap="square" lIns="201168" rIns="201168" tIns="73152" bIns="73152">
            <a:noAutofit/>
          </a:bodyPr>
          <a:lstStyle/>
          <a:p>
            <a:pPr algn="ctr">
              <a:spcBef>
                <a:spcPts val="0"/>
              </a:spcBef>
              <a:spcAft>
                <a:spcPts val="0"/>
              </a:spcAft>
            </a:pPr>
            <a:r>
              <a:rPr lang="tr-TR" sz="2200" b="1" i="0">
                <a:solidFill>
                  <a:srgbClr val="262626"/>
                </a:solidFill>
                <a:latin typeface="Calibri"/>
              </a:rPr>
              <a:t>1 iş gücü · 2 sermaye · 3 devlet politikaları · 4 teknoloji · 5-6 ulaşım</a:t>
            </a:r>
          </a:p>
        </p:txBody>
      </p:sp>
      <p:sp>
        <p:nvSpPr>
          <p:cNvPr id="8" name="TextBox 7"/>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9" name="Rounded Rectangle 8"/>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177-178</a:t>
            </a:r>
          </a:p>
        </p:txBody>
      </p:sp>
      <p:sp>
        <p:nvSpPr>
          <p:cNvPr id="10" name="TextBox 9"/>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76 / 166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6</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Japonya'nın, yeterli ham maddeye sahip olmamasına rağmen önemli bir sanayi ülkesi hâline gelmesini sağlayan faktör hangisidir?</a:t>
            </a:r>
          </a:p>
        </p:txBody>
      </p:sp>
      <p:sp>
        <p:nvSpPr>
          <p:cNvPr id="7" name="Rounded Rectangle 6"/>
          <p:cNvSpPr/>
          <p:nvPr/>
        </p:nvSpPr>
        <p:spPr>
          <a:xfrm>
            <a:off x="502920" y="2633472"/>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694736"/>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Yüksek teknoloji</a:t>
            </a:r>
          </a:p>
        </p:txBody>
      </p:sp>
      <p:sp>
        <p:nvSpPr>
          <p:cNvPr id="10" name="Rounded Rectangle 9"/>
          <p:cNvSpPr/>
          <p:nvPr/>
        </p:nvSpPr>
        <p:spPr>
          <a:xfrm>
            <a:off x="502920" y="3368649"/>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1" name="Oval 10"/>
          <p:cNvSpPr/>
          <p:nvPr/>
        </p:nvSpPr>
        <p:spPr>
          <a:xfrm>
            <a:off x="594360" y="3429913"/>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368649"/>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Geniş tarım alanları</a:t>
            </a:r>
          </a:p>
        </p:txBody>
      </p:sp>
      <p:sp>
        <p:nvSpPr>
          <p:cNvPr id="13" name="Rounded Rectangle 12"/>
          <p:cNvSpPr/>
          <p:nvPr/>
        </p:nvSpPr>
        <p:spPr>
          <a:xfrm>
            <a:off x="502920" y="4103826"/>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4" name="Oval 13"/>
          <p:cNvSpPr/>
          <p:nvPr/>
        </p:nvSpPr>
        <p:spPr>
          <a:xfrm>
            <a:off x="594360" y="4165090"/>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4103826"/>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Zengin taş kömürü yatakları</a:t>
            </a:r>
          </a:p>
        </p:txBody>
      </p:sp>
      <p:sp>
        <p:nvSpPr>
          <p:cNvPr id="16" name="Rounded Rectangle 15"/>
          <p:cNvSpPr/>
          <p:nvPr/>
        </p:nvSpPr>
        <p:spPr>
          <a:xfrm>
            <a:off x="502920" y="4839003"/>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900267"/>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839003"/>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Sıcak ve yağışlı iklim</a:t>
            </a:r>
          </a:p>
        </p:txBody>
      </p:sp>
      <p:sp>
        <p:nvSpPr>
          <p:cNvPr id="19" name="Rounded Rectangle 18"/>
          <p:cNvSpPr/>
          <p:nvPr/>
        </p:nvSpPr>
        <p:spPr>
          <a:xfrm>
            <a:off x="502920" y="5574180"/>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5635444"/>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5574180"/>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Geniş ovalar</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178</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77 / 166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6</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Japonya'nın, yeterli ham maddeye sahip olmamasına rağmen önemli bir sanayi ülkesi hâline gelmesini sağlayan faktör hangisidir?</a:t>
            </a:r>
          </a:p>
        </p:txBody>
      </p:sp>
      <p:sp>
        <p:nvSpPr>
          <p:cNvPr id="7" name="Rounded Rectangle 6"/>
          <p:cNvSpPr/>
          <p:nvPr/>
        </p:nvSpPr>
        <p:spPr>
          <a:xfrm>
            <a:off x="502920" y="2633472"/>
            <a:ext cx="11185855" cy="415137"/>
          </a:xfrm>
          <a:prstGeom prst="roundRect">
            <a:avLst>
              <a:gd name="adj" fmla="val 30000"/>
            </a:avLst>
          </a:prstGeom>
          <a:solidFill>
            <a:srgbClr val="E3F1E4"/>
          </a:solidFill>
          <a:ln w="31750">
            <a:solidFill>
              <a:srgbClr val="2E7D32"/>
            </a:solidFill>
          </a:ln>
          <a:effectLst/>
        </p:spPr>
        <p:txBody>
          <a:bodyPr rtlCol="0" anchor="ctr"/>
          <a:lstStyle/>
          <a:p/>
        </p:txBody>
      </p:sp>
      <p:sp>
        <p:nvSpPr>
          <p:cNvPr id="8" name="Oval 7"/>
          <p:cNvSpPr/>
          <p:nvPr/>
        </p:nvSpPr>
        <p:spPr>
          <a:xfrm>
            <a:off x="594360" y="2589580"/>
            <a:ext cx="502920" cy="50292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262626"/>
                </a:solidFill>
                <a:latin typeface="Calibri"/>
              </a:rPr>
              <a:t>Yüksek teknoloji</a:t>
            </a:r>
          </a:p>
        </p:txBody>
      </p:sp>
      <p:sp>
        <p:nvSpPr>
          <p:cNvPr id="10" name="Rounded Rectangle 9"/>
          <p:cNvSpPr/>
          <p:nvPr/>
        </p:nvSpPr>
        <p:spPr>
          <a:xfrm>
            <a:off x="502920" y="3158337"/>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1" name="Oval 10"/>
          <p:cNvSpPr/>
          <p:nvPr/>
        </p:nvSpPr>
        <p:spPr>
          <a:xfrm>
            <a:off x="594360" y="3114445"/>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15833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Geniş tarım alanları</a:t>
            </a:r>
          </a:p>
        </p:txBody>
      </p:sp>
      <p:sp>
        <p:nvSpPr>
          <p:cNvPr id="13" name="Rounded Rectangle 12"/>
          <p:cNvSpPr/>
          <p:nvPr/>
        </p:nvSpPr>
        <p:spPr>
          <a:xfrm>
            <a:off x="502920" y="368320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4" name="Oval 13"/>
          <p:cNvSpPr/>
          <p:nvPr/>
        </p:nvSpPr>
        <p:spPr>
          <a:xfrm>
            <a:off x="594360" y="363931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368320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Zengin taş kömürü yatakları</a:t>
            </a:r>
          </a:p>
        </p:txBody>
      </p:sp>
      <p:sp>
        <p:nvSpPr>
          <p:cNvPr id="16" name="Rounded Rectangle 15"/>
          <p:cNvSpPr/>
          <p:nvPr/>
        </p:nvSpPr>
        <p:spPr>
          <a:xfrm>
            <a:off x="502920" y="4208067"/>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164175"/>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20806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Sıcak ve yağışlı iklim</a:t>
            </a:r>
          </a:p>
        </p:txBody>
      </p:sp>
      <p:sp>
        <p:nvSpPr>
          <p:cNvPr id="19" name="Rounded Rectangle 18"/>
          <p:cNvSpPr/>
          <p:nvPr/>
        </p:nvSpPr>
        <p:spPr>
          <a:xfrm>
            <a:off x="502920" y="473293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468904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473293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Geniş ovalar</a:t>
            </a:r>
          </a:p>
        </p:txBody>
      </p:sp>
      <p:sp>
        <p:nvSpPr>
          <p:cNvPr id="22" name="Rounded Rectangle 21"/>
          <p:cNvSpPr/>
          <p:nvPr/>
        </p:nvSpPr>
        <p:spPr>
          <a:xfrm>
            <a:off x="502920" y="5266944"/>
            <a:ext cx="11185855" cy="1005840"/>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2000" b="0" i="0">
                <a:solidFill>
                  <a:srgbClr val="262626"/>
                </a:solidFill>
                <a:latin typeface="Calibri"/>
              </a:rPr>
              <a:t>Örneğin Japonya, sanayi üretiminde yeterli ham maddeye sahip olmamasına rağmen kullandığı yüksek teknoloji sayesinde sanayi faaliyetlerinin geliştiği önemli bir ülke hâline gelmiştir.</a:t>
            </a:r>
          </a:p>
        </p:txBody>
      </p:sp>
      <p:sp>
        <p:nvSpPr>
          <p:cNvPr id="23" name="TextBox 2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24" name="Rounded Rectangle 2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178</a:t>
            </a:r>
          </a:p>
        </p:txBody>
      </p:sp>
      <p:sp>
        <p:nvSpPr>
          <p:cNvPr id="25" name="TextBox 2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78 / 166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Gruplara geçiş: görevlerimiz</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8 GRUP · 2 dk</a:t>
            </a:r>
          </a:p>
        </p:txBody>
      </p:sp>
      <p:sp>
        <p:nvSpPr>
          <p:cNvPr id="6" name="Rounded Rectangle 5"/>
          <p:cNvSpPr/>
          <p:nvPr/>
        </p:nvSpPr>
        <p:spPr>
          <a:xfrm>
            <a:off x="502920" y="1261872"/>
            <a:ext cx="2076236" cy="3108960"/>
          </a:xfrm>
          <a:prstGeom prst="roundRect">
            <a:avLst>
              <a:gd name="adj" fmla="val 5000"/>
            </a:avLst>
          </a:prstGeom>
          <a:solidFill>
            <a:srgbClr val="F0F0F0"/>
          </a:solidFill>
          <a:ln>
            <a:noFill/>
          </a:ln>
          <a:effectLst/>
        </p:spPr>
        <p:txBody>
          <a:bodyPr rtlCol="0" anchor="ctr"/>
          <a:lstStyle/>
          <a:p/>
        </p:txBody>
      </p:sp>
      <p:sp>
        <p:nvSpPr>
          <p:cNvPr id="7" name="Rounded Rectangle 6"/>
          <p:cNvSpPr/>
          <p:nvPr/>
        </p:nvSpPr>
        <p:spPr>
          <a:xfrm>
            <a:off x="502920" y="1261872"/>
            <a:ext cx="2076236" cy="530352"/>
          </a:xfrm>
          <a:prstGeom prst="roundRect">
            <a:avLst>
              <a:gd name="adj" fmla="val 25000"/>
            </a:avLst>
          </a:prstGeom>
          <a:solidFill>
            <a:srgbClr val="2C6696"/>
          </a:solidFill>
          <a:ln>
            <a:noFill/>
          </a:ln>
          <a:effectLst/>
        </p:spPr>
        <p:txBody>
          <a:bodyPr rtlCol="0" anchor="ctr"/>
          <a:lstStyle/>
          <a:p/>
        </p:txBody>
      </p:sp>
      <p:sp>
        <p:nvSpPr>
          <p:cNvPr id="8" name="Rectangle 7"/>
          <p:cNvSpPr/>
          <p:nvPr/>
        </p:nvSpPr>
        <p:spPr>
          <a:xfrm>
            <a:off x="502920" y="1527048"/>
            <a:ext cx="2076236" cy="265176"/>
          </a:xfrm>
          <a:prstGeom prst="rect">
            <a:avLst/>
          </a:prstGeom>
          <a:solidFill>
            <a:srgbClr val="2C6696"/>
          </a:solidFill>
          <a:ln>
            <a:noFill/>
          </a:ln>
          <a:effectLst/>
        </p:spPr>
        <p:txBody>
          <a:bodyPr rtlCol="0" anchor="ctr"/>
          <a:lstStyle/>
          <a:p/>
        </p:txBody>
      </p:sp>
      <p:sp>
        <p:nvSpPr>
          <p:cNvPr id="9" name="TextBox 8"/>
          <p:cNvSpPr txBox="1"/>
          <p:nvPr/>
        </p:nvSpPr>
        <p:spPr>
          <a:xfrm>
            <a:off x="594360" y="1261872"/>
            <a:ext cx="1893356" cy="530352"/>
          </a:xfrm>
          <a:prstGeom prst="rect">
            <a:avLst/>
          </a:prstGeom>
          <a:noFill/>
        </p:spPr>
        <p:txBody>
          <a:bodyPr wrap="square" anchor="ctr" lIns="73152" rIns="73152" tIns="36576" bIns="36576">
            <a:noAutofit/>
          </a:bodyPr>
          <a:lstStyle/>
          <a:p>
            <a:pPr algn="l">
              <a:spcBef>
                <a:spcPts val="0"/>
              </a:spcBef>
              <a:spcAft>
                <a:spcPts val="0"/>
              </a:spcAft>
            </a:pPr>
            <a:r>
              <a:rPr lang="tr-TR" sz="1600" b="1" i="0">
                <a:solidFill>
                  <a:srgbClr val="FFFFFF"/>
                </a:solidFill>
                <a:latin typeface="Calibri"/>
              </a:rPr>
              <a:t>SÖZCÜ</a:t>
            </a:r>
          </a:p>
        </p:txBody>
      </p:sp>
      <p:sp>
        <p:nvSpPr>
          <p:cNvPr id="10" name="TextBox 9"/>
          <p:cNvSpPr txBox="1"/>
          <p:nvPr/>
        </p:nvSpPr>
        <p:spPr>
          <a:xfrm>
            <a:off x="612648" y="1865376"/>
            <a:ext cx="1856780" cy="2432304"/>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Grubun cevabını sınıfla paylaşır.</a:t>
            </a:r>
          </a:p>
        </p:txBody>
      </p:sp>
      <p:sp>
        <p:nvSpPr>
          <p:cNvPr id="11" name="Rounded Rectangle 10"/>
          <p:cNvSpPr/>
          <p:nvPr/>
        </p:nvSpPr>
        <p:spPr>
          <a:xfrm>
            <a:off x="2780324" y="1261872"/>
            <a:ext cx="2076236" cy="3108960"/>
          </a:xfrm>
          <a:prstGeom prst="roundRect">
            <a:avLst>
              <a:gd name="adj" fmla="val 5000"/>
            </a:avLst>
          </a:prstGeom>
          <a:solidFill>
            <a:srgbClr val="F0F0F0"/>
          </a:solidFill>
          <a:ln>
            <a:noFill/>
          </a:ln>
          <a:effectLst/>
        </p:spPr>
        <p:txBody>
          <a:bodyPr rtlCol="0" anchor="ctr"/>
          <a:lstStyle/>
          <a:p/>
        </p:txBody>
      </p:sp>
      <p:sp>
        <p:nvSpPr>
          <p:cNvPr id="12" name="Rounded Rectangle 11"/>
          <p:cNvSpPr/>
          <p:nvPr/>
        </p:nvSpPr>
        <p:spPr>
          <a:xfrm>
            <a:off x="2780324" y="1261872"/>
            <a:ext cx="2076236" cy="530352"/>
          </a:xfrm>
          <a:prstGeom prst="roundRect">
            <a:avLst>
              <a:gd name="adj" fmla="val 25000"/>
            </a:avLst>
          </a:prstGeom>
          <a:solidFill>
            <a:srgbClr val="4F4F4F"/>
          </a:solidFill>
          <a:ln>
            <a:noFill/>
          </a:ln>
          <a:effectLst/>
        </p:spPr>
        <p:txBody>
          <a:bodyPr rtlCol="0" anchor="ctr"/>
          <a:lstStyle/>
          <a:p/>
        </p:txBody>
      </p:sp>
      <p:sp>
        <p:nvSpPr>
          <p:cNvPr id="13" name="Rectangle 12"/>
          <p:cNvSpPr/>
          <p:nvPr/>
        </p:nvSpPr>
        <p:spPr>
          <a:xfrm>
            <a:off x="2780324" y="1527048"/>
            <a:ext cx="2076236" cy="265176"/>
          </a:xfrm>
          <a:prstGeom prst="rect">
            <a:avLst/>
          </a:prstGeom>
          <a:solidFill>
            <a:srgbClr val="4F4F4F"/>
          </a:solidFill>
          <a:ln>
            <a:noFill/>
          </a:ln>
          <a:effectLst/>
        </p:spPr>
        <p:txBody>
          <a:bodyPr rtlCol="0" anchor="ctr"/>
          <a:lstStyle/>
          <a:p/>
        </p:txBody>
      </p:sp>
      <p:sp>
        <p:nvSpPr>
          <p:cNvPr id="14" name="TextBox 13"/>
          <p:cNvSpPr txBox="1"/>
          <p:nvPr/>
        </p:nvSpPr>
        <p:spPr>
          <a:xfrm>
            <a:off x="2871764" y="1261872"/>
            <a:ext cx="1893356" cy="530352"/>
          </a:xfrm>
          <a:prstGeom prst="rect">
            <a:avLst/>
          </a:prstGeom>
          <a:noFill/>
        </p:spPr>
        <p:txBody>
          <a:bodyPr wrap="square" anchor="ctr" lIns="73152" rIns="73152" tIns="36576" bIns="36576">
            <a:noAutofit/>
          </a:bodyPr>
          <a:lstStyle/>
          <a:p>
            <a:pPr algn="l">
              <a:spcBef>
                <a:spcPts val="0"/>
              </a:spcBef>
              <a:spcAft>
                <a:spcPts val="0"/>
              </a:spcAft>
            </a:pPr>
            <a:r>
              <a:rPr lang="tr-TR" sz="1600" b="1" i="0">
                <a:solidFill>
                  <a:srgbClr val="FFFFFF"/>
                </a:solidFill>
                <a:latin typeface="Calibri"/>
              </a:rPr>
              <a:t>YAZICI</a:t>
            </a:r>
          </a:p>
        </p:txBody>
      </p:sp>
      <p:sp>
        <p:nvSpPr>
          <p:cNvPr id="15" name="TextBox 14"/>
          <p:cNvSpPr txBox="1"/>
          <p:nvPr/>
        </p:nvSpPr>
        <p:spPr>
          <a:xfrm>
            <a:off x="2890052" y="1865376"/>
            <a:ext cx="1856780" cy="2432304"/>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Ortak cevabı yazar, tabloyu doldurur.</a:t>
            </a:r>
          </a:p>
        </p:txBody>
      </p:sp>
      <p:sp>
        <p:nvSpPr>
          <p:cNvPr id="16" name="Rounded Rectangle 15"/>
          <p:cNvSpPr/>
          <p:nvPr/>
        </p:nvSpPr>
        <p:spPr>
          <a:xfrm>
            <a:off x="5057728" y="1261872"/>
            <a:ext cx="2076236" cy="3108960"/>
          </a:xfrm>
          <a:prstGeom prst="roundRect">
            <a:avLst>
              <a:gd name="adj" fmla="val 5000"/>
            </a:avLst>
          </a:prstGeom>
          <a:solidFill>
            <a:srgbClr val="F0F0F0"/>
          </a:solidFill>
          <a:ln>
            <a:noFill/>
          </a:ln>
          <a:effectLst/>
        </p:spPr>
        <p:txBody>
          <a:bodyPr rtlCol="0" anchor="ctr"/>
          <a:lstStyle/>
          <a:p/>
        </p:txBody>
      </p:sp>
      <p:sp>
        <p:nvSpPr>
          <p:cNvPr id="17" name="Rounded Rectangle 16"/>
          <p:cNvSpPr/>
          <p:nvPr/>
        </p:nvSpPr>
        <p:spPr>
          <a:xfrm>
            <a:off x="5057728" y="1261872"/>
            <a:ext cx="2076236" cy="530352"/>
          </a:xfrm>
          <a:prstGeom prst="roundRect">
            <a:avLst>
              <a:gd name="adj" fmla="val 25000"/>
            </a:avLst>
          </a:prstGeom>
          <a:solidFill>
            <a:srgbClr val="2C6696"/>
          </a:solidFill>
          <a:ln>
            <a:noFill/>
          </a:ln>
          <a:effectLst/>
        </p:spPr>
        <p:txBody>
          <a:bodyPr rtlCol="0" anchor="ctr"/>
          <a:lstStyle/>
          <a:p/>
        </p:txBody>
      </p:sp>
      <p:sp>
        <p:nvSpPr>
          <p:cNvPr id="18" name="Rectangle 17"/>
          <p:cNvSpPr/>
          <p:nvPr/>
        </p:nvSpPr>
        <p:spPr>
          <a:xfrm>
            <a:off x="5057728" y="1527048"/>
            <a:ext cx="2076236" cy="265176"/>
          </a:xfrm>
          <a:prstGeom prst="rect">
            <a:avLst/>
          </a:prstGeom>
          <a:solidFill>
            <a:srgbClr val="2C6696"/>
          </a:solidFill>
          <a:ln>
            <a:noFill/>
          </a:ln>
          <a:effectLst/>
        </p:spPr>
        <p:txBody>
          <a:bodyPr rtlCol="0" anchor="ctr"/>
          <a:lstStyle/>
          <a:p/>
        </p:txBody>
      </p:sp>
      <p:sp>
        <p:nvSpPr>
          <p:cNvPr id="19" name="TextBox 18"/>
          <p:cNvSpPr txBox="1"/>
          <p:nvPr/>
        </p:nvSpPr>
        <p:spPr>
          <a:xfrm>
            <a:off x="5149168" y="1261872"/>
            <a:ext cx="1893356" cy="530352"/>
          </a:xfrm>
          <a:prstGeom prst="rect">
            <a:avLst/>
          </a:prstGeom>
          <a:noFill/>
        </p:spPr>
        <p:txBody>
          <a:bodyPr wrap="square" anchor="ctr" lIns="73152" rIns="73152" tIns="36576" bIns="36576">
            <a:noAutofit/>
          </a:bodyPr>
          <a:lstStyle/>
          <a:p>
            <a:pPr algn="l">
              <a:spcBef>
                <a:spcPts val="0"/>
              </a:spcBef>
              <a:spcAft>
                <a:spcPts val="0"/>
              </a:spcAft>
            </a:pPr>
            <a:r>
              <a:rPr lang="tr-TR" sz="1450" b="1" i="0">
                <a:solidFill>
                  <a:srgbClr val="FFFFFF"/>
                </a:solidFill>
                <a:latin typeface="Calibri"/>
              </a:rPr>
              <a:t>ZAMAN VE MALZEME</a:t>
            </a:r>
          </a:p>
        </p:txBody>
      </p:sp>
      <p:sp>
        <p:nvSpPr>
          <p:cNvPr id="20" name="TextBox 19"/>
          <p:cNvSpPr txBox="1"/>
          <p:nvPr/>
        </p:nvSpPr>
        <p:spPr>
          <a:xfrm>
            <a:off x="5167456" y="1865376"/>
            <a:ext cx="1856780" cy="2432304"/>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Süreyi izler, 2 dk kala uyarır; malzemeyi alır, teslim eder.</a:t>
            </a:r>
          </a:p>
        </p:txBody>
      </p:sp>
      <p:sp>
        <p:nvSpPr>
          <p:cNvPr id="21" name="Rounded Rectangle 20"/>
          <p:cNvSpPr/>
          <p:nvPr/>
        </p:nvSpPr>
        <p:spPr>
          <a:xfrm>
            <a:off x="7335132" y="1261872"/>
            <a:ext cx="2076236" cy="3108960"/>
          </a:xfrm>
          <a:prstGeom prst="roundRect">
            <a:avLst>
              <a:gd name="adj" fmla="val 5000"/>
            </a:avLst>
          </a:prstGeom>
          <a:solidFill>
            <a:srgbClr val="F0F0F0"/>
          </a:solidFill>
          <a:ln>
            <a:noFill/>
          </a:ln>
          <a:effectLst/>
        </p:spPr>
        <p:txBody>
          <a:bodyPr rtlCol="0" anchor="ctr"/>
          <a:lstStyle/>
          <a:p/>
        </p:txBody>
      </p:sp>
      <p:sp>
        <p:nvSpPr>
          <p:cNvPr id="22" name="Rounded Rectangle 21"/>
          <p:cNvSpPr/>
          <p:nvPr/>
        </p:nvSpPr>
        <p:spPr>
          <a:xfrm>
            <a:off x="7335132" y="1261872"/>
            <a:ext cx="2076236" cy="530352"/>
          </a:xfrm>
          <a:prstGeom prst="roundRect">
            <a:avLst>
              <a:gd name="adj" fmla="val 25000"/>
            </a:avLst>
          </a:prstGeom>
          <a:solidFill>
            <a:srgbClr val="4F4F4F"/>
          </a:solidFill>
          <a:ln>
            <a:noFill/>
          </a:ln>
          <a:effectLst/>
        </p:spPr>
        <p:txBody>
          <a:bodyPr rtlCol="0" anchor="ctr"/>
          <a:lstStyle/>
          <a:p/>
        </p:txBody>
      </p:sp>
      <p:sp>
        <p:nvSpPr>
          <p:cNvPr id="23" name="Rectangle 22"/>
          <p:cNvSpPr/>
          <p:nvPr/>
        </p:nvSpPr>
        <p:spPr>
          <a:xfrm>
            <a:off x="7335132" y="1527048"/>
            <a:ext cx="2076236" cy="265176"/>
          </a:xfrm>
          <a:prstGeom prst="rect">
            <a:avLst/>
          </a:prstGeom>
          <a:solidFill>
            <a:srgbClr val="4F4F4F"/>
          </a:solidFill>
          <a:ln>
            <a:noFill/>
          </a:ln>
          <a:effectLst/>
        </p:spPr>
        <p:txBody>
          <a:bodyPr rtlCol="0" anchor="ctr"/>
          <a:lstStyle/>
          <a:p/>
        </p:txBody>
      </p:sp>
      <p:sp>
        <p:nvSpPr>
          <p:cNvPr id="24" name="TextBox 23"/>
          <p:cNvSpPr txBox="1"/>
          <p:nvPr/>
        </p:nvSpPr>
        <p:spPr>
          <a:xfrm>
            <a:off x="7426572" y="1261872"/>
            <a:ext cx="1893356" cy="530352"/>
          </a:xfrm>
          <a:prstGeom prst="rect">
            <a:avLst/>
          </a:prstGeom>
          <a:noFill/>
        </p:spPr>
        <p:txBody>
          <a:bodyPr wrap="square" anchor="ctr" lIns="73152" rIns="73152" tIns="36576" bIns="36576">
            <a:noAutofit/>
          </a:bodyPr>
          <a:lstStyle/>
          <a:p>
            <a:pPr algn="l">
              <a:spcBef>
                <a:spcPts val="0"/>
              </a:spcBef>
              <a:spcAft>
                <a:spcPts val="0"/>
              </a:spcAft>
            </a:pPr>
            <a:r>
              <a:rPr lang="tr-TR" sz="1450" b="1" i="0">
                <a:solidFill>
                  <a:srgbClr val="FFFFFF"/>
                </a:solidFill>
                <a:latin typeface="Calibri"/>
              </a:rPr>
              <a:t>HARİTA / VERİ OKUYUCU</a:t>
            </a:r>
          </a:p>
        </p:txBody>
      </p:sp>
      <p:sp>
        <p:nvSpPr>
          <p:cNvPr id="25" name="TextBox 24"/>
          <p:cNvSpPr txBox="1"/>
          <p:nvPr/>
        </p:nvSpPr>
        <p:spPr>
          <a:xfrm>
            <a:off x="7444860" y="1865376"/>
            <a:ext cx="1856780" cy="2432304"/>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Haritayı, tabloyu ve grafiği okur, gösterir.</a:t>
            </a:r>
          </a:p>
        </p:txBody>
      </p:sp>
      <p:sp>
        <p:nvSpPr>
          <p:cNvPr id="26" name="Rounded Rectangle 25"/>
          <p:cNvSpPr/>
          <p:nvPr/>
        </p:nvSpPr>
        <p:spPr>
          <a:xfrm>
            <a:off x="9612536" y="1261872"/>
            <a:ext cx="2076236" cy="3108960"/>
          </a:xfrm>
          <a:prstGeom prst="roundRect">
            <a:avLst>
              <a:gd name="adj" fmla="val 5000"/>
            </a:avLst>
          </a:prstGeom>
          <a:solidFill>
            <a:srgbClr val="F0F0F0"/>
          </a:solidFill>
          <a:ln>
            <a:noFill/>
          </a:ln>
          <a:effectLst/>
        </p:spPr>
        <p:txBody>
          <a:bodyPr rtlCol="0" anchor="ctr"/>
          <a:lstStyle/>
          <a:p/>
        </p:txBody>
      </p:sp>
      <p:sp>
        <p:nvSpPr>
          <p:cNvPr id="27" name="Rounded Rectangle 26"/>
          <p:cNvSpPr/>
          <p:nvPr/>
        </p:nvSpPr>
        <p:spPr>
          <a:xfrm>
            <a:off x="9612536" y="1261872"/>
            <a:ext cx="2076236" cy="530352"/>
          </a:xfrm>
          <a:prstGeom prst="roundRect">
            <a:avLst>
              <a:gd name="adj" fmla="val 25000"/>
            </a:avLst>
          </a:prstGeom>
          <a:solidFill>
            <a:srgbClr val="2C6696"/>
          </a:solidFill>
          <a:ln>
            <a:noFill/>
          </a:ln>
          <a:effectLst/>
        </p:spPr>
        <p:txBody>
          <a:bodyPr rtlCol="0" anchor="ctr"/>
          <a:lstStyle/>
          <a:p/>
        </p:txBody>
      </p:sp>
      <p:sp>
        <p:nvSpPr>
          <p:cNvPr id="28" name="Rectangle 27"/>
          <p:cNvSpPr/>
          <p:nvPr/>
        </p:nvSpPr>
        <p:spPr>
          <a:xfrm>
            <a:off x="9612536" y="1527048"/>
            <a:ext cx="2076236" cy="265176"/>
          </a:xfrm>
          <a:prstGeom prst="rect">
            <a:avLst/>
          </a:prstGeom>
          <a:solidFill>
            <a:srgbClr val="2C6696"/>
          </a:solidFill>
          <a:ln>
            <a:noFill/>
          </a:ln>
          <a:effectLst/>
        </p:spPr>
        <p:txBody>
          <a:bodyPr rtlCol="0" anchor="ctr"/>
          <a:lstStyle/>
          <a:p/>
        </p:txBody>
      </p:sp>
      <p:sp>
        <p:nvSpPr>
          <p:cNvPr id="29" name="TextBox 28"/>
          <p:cNvSpPr txBox="1"/>
          <p:nvPr/>
        </p:nvSpPr>
        <p:spPr>
          <a:xfrm>
            <a:off x="9703976" y="1261872"/>
            <a:ext cx="1893356" cy="530352"/>
          </a:xfrm>
          <a:prstGeom prst="rect">
            <a:avLst/>
          </a:prstGeom>
          <a:noFill/>
        </p:spPr>
        <p:txBody>
          <a:bodyPr wrap="square" anchor="ctr" lIns="73152" rIns="73152" tIns="36576" bIns="36576">
            <a:noAutofit/>
          </a:bodyPr>
          <a:lstStyle/>
          <a:p>
            <a:pPr algn="l">
              <a:spcBef>
                <a:spcPts val="0"/>
              </a:spcBef>
              <a:spcAft>
                <a:spcPts val="0"/>
              </a:spcAft>
            </a:pPr>
            <a:r>
              <a:rPr lang="tr-TR" sz="1600" b="1" i="0">
                <a:solidFill>
                  <a:srgbClr val="FFFFFF"/>
                </a:solidFill>
                <a:latin typeface="Calibri"/>
              </a:rPr>
              <a:t>KONTROLCÜ</a:t>
            </a:r>
          </a:p>
        </p:txBody>
      </p:sp>
      <p:sp>
        <p:nvSpPr>
          <p:cNvPr id="30" name="TextBox 29"/>
          <p:cNvSpPr txBox="1"/>
          <p:nvPr/>
        </p:nvSpPr>
        <p:spPr>
          <a:xfrm>
            <a:off x="9722264" y="1865376"/>
            <a:ext cx="1856780" cy="2432304"/>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5 kişilik grupta yazımı, kaynağı ve doğruluğu denetler.</a:t>
            </a:r>
          </a:p>
        </p:txBody>
      </p:sp>
      <p:sp>
        <p:nvSpPr>
          <p:cNvPr id="31" name="Rounded Rectangle 30"/>
          <p:cNvSpPr/>
          <p:nvPr/>
        </p:nvSpPr>
        <p:spPr>
          <a:xfrm>
            <a:off x="502920" y="4599432"/>
            <a:ext cx="11185855" cy="1645920"/>
          </a:xfrm>
          <a:prstGeom prst="roundRect">
            <a:avLst>
              <a:gd name="adj" fmla="val 8000"/>
            </a:avLst>
          </a:prstGeom>
          <a:solidFill>
            <a:srgbClr val="F0F0F0"/>
          </a:solidFill>
          <a:ln>
            <a:noFill/>
          </a:ln>
          <a:effectLst/>
        </p:spPr>
        <p:txBody>
          <a:bodyPr rtlCol="0" anchor="ctr" wrap="square" lIns="274320" rIns="274320" tIns="73152" bIns="73152">
            <a:noAutofit/>
          </a:bodyPr>
          <a:lstStyle/>
          <a:p>
            <a:pPr algn="l">
              <a:spcBef>
                <a:spcPts val="0"/>
              </a:spcBef>
              <a:spcAft>
                <a:spcPts val="600"/>
              </a:spcAft>
            </a:pPr>
            <a:r>
              <a:rPr lang="tr-TR" sz="2400" b="1" i="0">
                <a:solidFill>
                  <a:srgbClr val="2C6696"/>
                </a:solidFill>
                <a:latin typeface="Calibri"/>
              </a:rPr>
              <a:t>Malzeme sorumluları: s. 179 tablo kopyası ve TEKNOSAB çalışma yaprağı</a:t>
            </a:r>
          </a:p>
          <a:p>
            <a:pPr algn="l" marL="298344" indent="-298344">
              <a:spcBef>
                <a:spcPts val="0"/>
              </a:spcBef>
              <a:spcAft>
                <a:spcPts val="0"/>
              </a:spcAft>
            </a:pPr>
            <a:r>
              <a:rPr lang="tr-TR" sz="2400" b="1" i="0">
                <a:solidFill>
                  <a:srgbClr val="2C6696"/>
                </a:solidFill>
                <a:latin typeface="Calibri"/>
              </a:rPr>
              <a:t>•  </a:t>
            </a:r>
            <a:r>
              <a:rPr lang="tr-TR" sz="2400" b="0" i="0">
                <a:solidFill>
                  <a:srgbClr val="262626"/>
                </a:solidFill>
                <a:latin typeface="Calibri"/>
              </a:rPr>
              <a:t>Grupta “30 cm sesi” · söz hakkı isim kartıyla · farklı görüşlere saygı</a:t>
            </a:r>
          </a:p>
        </p:txBody>
      </p:sp>
      <p:sp>
        <p:nvSpPr>
          <p:cNvPr id="32" name="TextBox 3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33" name="TextBox 32"/>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79 / 166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Uygulama: sanayi, turizm ve ticaret</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8 GRUP · 6 dk</a:t>
            </a:r>
          </a:p>
        </p:txBody>
      </p:sp>
      <p:sp>
        <p:nvSpPr>
          <p:cNvPr id="6" name="TextBox 5"/>
          <p:cNvSpPr txBox="1"/>
          <p:nvPr/>
        </p:nvSpPr>
        <p:spPr>
          <a:xfrm>
            <a:off x="502920" y="1170432"/>
            <a:ext cx="11185855" cy="457200"/>
          </a:xfrm>
          <a:prstGeom prst="rect">
            <a:avLst/>
          </a:prstGeom>
          <a:noFill/>
        </p:spPr>
        <p:txBody>
          <a:bodyPr wrap="square" anchor="ctr" lIns="73152" rIns="73152" tIns="36576" bIns="36576">
            <a:noAutofit/>
          </a:bodyPr>
          <a:lstStyle/>
          <a:p>
            <a:pPr algn="l">
              <a:spcBef>
                <a:spcPts val="0"/>
              </a:spcBef>
              <a:spcAft>
                <a:spcPts val="0"/>
              </a:spcAft>
            </a:pPr>
            <a:r>
              <a:rPr lang="tr-TR" sz="1900" b="0" i="1">
                <a:solidFill>
                  <a:srgbClr val="767676"/>
                </a:solidFill>
                <a:latin typeface="Calibri"/>
              </a:rPr>
              <a:t>Aşağıda verilen harita ve karekoddaki haritalardan yararlanarak soruları cevaplayınız.</a:t>
            </a:r>
          </a:p>
        </p:txBody>
      </p:sp>
      <p:sp>
        <p:nvSpPr>
          <p:cNvPr id="7" name="Rounded Rectangle 6"/>
          <p:cNvSpPr/>
          <p:nvPr/>
        </p:nvSpPr>
        <p:spPr>
          <a:xfrm>
            <a:off x="502920" y="1719072"/>
            <a:ext cx="11185855" cy="1097280"/>
          </a:xfrm>
          <a:prstGeom prst="roundRect">
            <a:avLst>
              <a:gd name="adj" fmla="val 12000"/>
            </a:avLst>
          </a:prstGeom>
          <a:solidFill>
            <a:srgbClr val="F0F0F0"/>
          </a:solidFill>
          <a:ln>
            <a:noFill/>
          </a:ln>
          <a:effectLst/>
        </p:spPr>
        <p:txBody>
          <a:bodyPr rtlCol="0" anchor="ctr"/>
          <a:lstStyle/>
          <a:p/>
        </p:txBody>
      </p:sp>
      <p:sp>
        <p:nvSpPr>
          <p:cNvPr id="8" name="Oval 7"/>
          <p:cNvSpPr/>
          <p:nvPr/>
        </p:nvSpPr>
        <p:spPr>
          <a:xfrm>
            <a:off x="640080" y="1984248"/>
            <a:ext cx="566928" cy="566928"/>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200" b="1" i="0">
                <a:solidFill>
                  <a:srgbClr val="FFFFFF"/>
                </a:solidFill>
                <a:latin typeface="Calibri"/>
              </a:rPr>
              <a:t>1</a:t>
            </a:r>
          </a:p>
        </p:txBody>
      </p:sp>
      <p:sp>
        <p:nvSpPr>
          <p:cNvPr id="9" name="TextBox 8"/>
          <p:cNvSpPr txBox="1"/>
          <p:nvPr/>
        </p:nvSpPr>
        <p:spPr>
          <a:xfrm>
            <a:off x="1371600" y="1719072"/>
            <a:ext cx="7985455" cy="1097280"/>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Sanayi faaliyetlerinin yoğunlaştığı bölgeler ve bu faaliyetler üzerinde etkili olan beşerî faktörleri aşağıdaki tabloya yazınız.</a:t>
            </a:r>
          </a:p>
        </p:txBody>
      </p:sp>
      <p:sp>
        <p:nvSpPr>
          <p:cNvPr id="10" name="Rounded Rectangle 9"/>
          <p:cNvSpPr/>
          <p:nvPr/>
        </p:nvSpPr>
        <p:spPr>
          <a:xfrm>
            <a:off x="9448495" y="1984248"/>
            <a:ext cx="2103120" cy="566928"/>
          </a:xfrm>
          <a:prstGeom prst="roundRect">
            <a:avLst>
              <a:gd name="adj" fmla="val 30000"/>
            </a:avLst>
          </a:prstGeom>
          <a:solidFill>
            <a:srgbClr val="2C6696"/>
          </a:solidFill>
          <a:ln>
            <a:noFill/>
          </a:ln>
          <a:effectLst/>
        </p:spPr>
        <p:txBody>
          <a:bodyPr rtlCol="0" anchor="ctr" wrap="square" lIns="54864" rIns="54864" tIns="18288" bIns="18288">
            <a:noAutofit/>
          </a:bodyPr>
          <a:lstStyle/>
          <a:p>
            <a:pPr algn="ctr">
              <a:spcBef>
                <a:spcPts val="0"/>
              </a:spcBef>
              <a:spcAft>
                <a:spcPts val="0"/>
              </a:spcAft>
            </a:pPr>
            <a:r>
              <a:rPr lang="tr-TR" sz="1900" b="1" i="0">
                <a:solidFill>
                  <a:srgbClr val="FFFFFF"/>
                </a:solidFill>
                <a:latin typeface="Calibri"/>
              </a:rPr>
              <a:t>Bütün gruplar</a:t>
            </a:r>
          </a:p>
        </p:txBody>
      </p:sp>
      <p:sp>
        <p:nvSpPr>
          <p:cNvPr id="11" name="Rounded Rectangle 10"/>
          <p:cNvSpPr/>
          <p:nvPr/>
        </p:nvSpPr>
        <p:spPr>
          <a:xfrm>
            <a:off x="502920" y="2953512"/>
            <a:ext cx="11185855" cy="1097280"/>
          </a:xfrm>
          <a:prstGeom prst="roundRect">
            <a:avLst>
              <a:gd name="adj" fmla="val 12000"/>
            </a:avLst>
          </a:prstGeom>
          <a:solidFill>
            <a:srgbClr val="F0F0F0"/>
          </a:solidFill>
          <a:ln>
            <a:noFill/>
          </a:ln>
          <a:effectLst/>
        </p:spPr>
        <p:txBody>
          <a:bodyPr rtlCol="0" anchor="ctr"/>
          <a:lstStyle/>
          <a:p/>
        </p:txBody>
      </p:sp>
      <p:sp>
        <p:nvSpPr>
          <p:cNvPr id="12" name="Oval 11"/>
          <p:cNvSpPr/>
          <p:nvPr/>
        </p:nvSpPr>
        <p:spPr>
          <a:xfrm>
            <a:off x="640080" y="3218688"/>
            <a:ext cx="566928" cy="566928"/>
          </a:xfrm>
          <a:prstGeom prst="ellipse">
            <a:avLst/>
          </a:prstGeom>
          <a:solidFill>
            <a:srgbClr val="B85C12"/>
          </a:solidFill>
          <a:ln>
            <a:noFill/>
          </a:ln>
          <a:effectLst/>
        </p:spPr>
        <p:txBody>
          <a:bodyPr rtlCol="0" anchor="ctr" wrap="none" lIns="0" rIns="0" tIns="0" bIns="0">
            <a:noAutofit/>
          </a:bodyPr>
          <a:lstStyle/>
          <a:p>
            <a:pPr algn="ctr">
              <a:spcBef>
                <a:spcPts val="0"/>
              </a:spcBef>
              <a:spcAft>
                <a:spcPts val="0"/>
              </a:spcAft>
            </a:pPr>
            <a:r>
              <a:rPr lang="tr-TR" sz="2200" b="1" i="0">
                <a:solidFill>
                  <a:srgbClr val="FFFFFF"/>
                </a:solidFill>
                <a:latin typeface="Calibri"/>
              </a:rPr>
              <a:t>2</a:t>
            </a:r>
          </a:p>
        </p:txBody>
      </p:sp>
      <p:sp>
        <p:nvSpPr>
          <p:cNvPr id="13" name="TextBox 12"/>
          <p:cNvSpPr txBox="1"/>
          <p:nvPr/>
        </p:nvSpPr>
        <p:spPr>
          <a:xfrm>
            <a:off x="1371600" y="2953512"/>
            <a:ext cx="7985455" cy="1097280"/>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Turizm faaliyetlerinin yoğunlaştığı ülkelerde bu yoğunlaşmaya neden olan beşerî faktörler neler olabilir?</a:t>
            </a:r>
          </a:p>
        </p:txBody>
      </p:sp>
      <p:sp>
        <p:nvSpPr>
          <p:cNvPr id="14" name="Rounded Rectangle 13"/>
          <p:cNvSpPr/>
          <p:nvPr/>
        </p:nvSpPr>
        <p:spPr>
          <a:xfrm>
            <a:off x="9448495" y="3218688"/>
            <a:ext cx="2103120" cy="566928"/>
          </a:xfrm>
          <a:prstGeom prst="roundRect">
            <a:avLst>
              <a:gd name="adj" fmla="val 30000"/>
            </a:avLst>
          </a:prstGeom>
          <a:solidFill>
            <a:srgbClr val="B85C12"/>
          </a:solidFill>
          <a:ln>
            <a:noFill/>
          </a:ln>
          <a:effectLst/>
        </p:spPr>
        <p:txBody>
          <a:bodyPr rtlCol="0" anchor="ctr" wrap="square" lIns="54864" rIns="54864" tIns="18288" bIns="18288">
            <a:noAutofit/>
          </a:bodyPr>
          <a:lstStyle/>
          <a:p>
            <a:pPr algn="ctr">
              <a:spcBef>
                <a:spcPts val="0"/>
              </a:spcBef>
              <a:spcAft>
                <a:spcPts val="0"/>
              </a:spcAft>
            </a:pPr>
            <a:r>
              <a:rPr lang="tr-TR" sz="1900" b="1" i="0">
                <a:solidFill>
                  <a:srgbClr val="FFFFFF"/>
                </a:solidFill>
                <a:latin typeface="Calibri"/>
              </a:rPr>
              <a:t>1-4. gruplar</a:t>
            </a:r>
          </a:p>
        </p:txBody>
      </p:sp>
      <p:sp>
        <p:nvSpPr>
          <p:cNvPr id="15" name="Rounded Rectangle 14"/>
          <p:cNvSpPr/>
          <p:nvPr/>
        </p:nvSpPr>
        <p:spPr>
          <a:xfrm>
            <a:off x="502920" y="4187952"/>
            <a:ext cx="11185855" cy="1097280"/>
          </a:xfrm>
          <a:prstGeom prst="roundRect">
            <a:avLst>
              <a:gd name="adj" fmla="val 12000"/>
            </a:avLst>
          </a:prstGeom>
          <a:solidFill>
            <a:srgbClr val="F0F0F0"/>
          </a:solidFill>
          <a:ln>
            <a:noFill/>
          </a:ln>
          <a:effectLst/>
        </p:spPr>
        <p:txBody>
          <a:bodyPr rtlCol="0" anchor="ctr"/>
          <a:lstStyle/>
          <a:p/>
        </p:txBody>
      </p:sp>
      <p:sp>
        <p:nvSpPr>
          <p:cNvPr id="16" name="Oval 15"/>
          <p:cNvSpPr/>
          <p:nvPr/>
        </p:nvSpPr>
        <p:spPr>
          <a:xfrm>
            <a:off x="640080" y="4453128"/>
            <a:ext cx="566928" cy="566928"/>
          </a:xfrm>
          <a:prstGeom prst="ellipse">
            <a:avLst/>
          </a:prstGeom>
          <a:solidFill>
            <a:srgbClr val="1E7B6E"/>
          </a:solidFill>
          <a:ln>
            <a:noFill/>
          </a:ln>
          <a:effectLst/>
        </p:spPr>
        <p:txBody>
          <a:bodyPr rtlCol="0" anchor="ctr" wrap="none" lIns="0" rIns="0" tIns="0" bIns="0">
            <a:noAutofit/>
          </a:bodyPr>
          <a:lstStyle/>
          <a:p>
            <a:pPr algn="ctr">
              <a:spcBef>
                <a:spcPts val="0"/>
              </a:spcBef>
              <a:spcAft>
                <a:spcPts val="0"/>
              </a:spcAft>
            </a:pPr>
            <a:r>
              <a:rPr lang="tr-TR" sz="2200" b="1" i="0">
                <a:solidFill>
                  <a:srgbClr val="FFFFFF"/>
                </a:solidFill>
                <a:latin typeface="Calibri"/>
              </a:rPr>
              <a:t>3</a:t>
            </a:r>
          </a:p>
        </p:txBody>
      </p:sp>
      <p:sp>
        <p:nvSpPr>
          <p:cNvPr id="17" name="TextBox 16"/>
          <p:cNvSpPr txBox="1"/>
          <p:nvPr/>
        </p:nvSpPr>
        <p:spPr>
          <a:xfrm>
            <a:off x="1371600" y="4187952"/>
            <a:ext cx="7985455" cy="1097280"/>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Dünyadaki başlıca sanayi bölgeleriyle en büyük ticaret merkezleri arasında beşerî faktörlerin etkileri açısından ne tür benzerlikler görülmektedir?</a:t>
            </a:r>
          </a:p>
        </p:txBody>
      </p:sp>
      <p:sp>
        <p:nvSpPr>
          <p:cNvPr id="18" name="Rounded Rectangle 17"/>
          <p:cNvSpPr/>
          <p:nvPr/>
        </p:nvSpPr>
        <p:spPr>
          <a:xfrm>
            <a:off x="9448495" y="4453128"/>
            <a:ext cx="2103120" cy="566928"/>
          </a:xfrm>
          <a:prstGeom prst="roundRect">
            <a:avLst>
              <a:gd name="adj" fmla="val 30000"/>
            </a:avLst>
          </a:prstGeom>
          <a:solidFill>
            <a:srgbClr val="1E7B6E"/>
          </a:solidFill>
          <a:ln>
            <a:noFill/>
          </a:ln>
          <a:effectLst/>
        </p:spPr>
        <p:txBody>
          <a:bodyPr rtlCol="0" anchor="ctr" wrap="square" lIns="54864" rIns="54864" tIns="18288" bIns="18288">
            <a:noAutofit/>
          </a:bodyPr>
          <a:lstStyle/>
          <a:p>
            <a:pPr algn="ctr">
              <a:spcBef>
                <a:spcPts val="0"/>
              </a:spcBef>
              <a:spcAft>
                <a:spcPts val="0"/>
              </a:spcAft>
            </a:pPr>
            <a:r>
              <a:rPr lang="tr-TR" sz="1900" b="1" i="0">
                <a:solidFill>
                  <a:srgbClr val="FFFFFF"/>
                </a:solidFill>
                <a:latin typeface="Calibri"/>
              </a:rPr>
              <a:t>5-8. gruplar</a:t>
            </a:r>
          </a:p>
        </p:txBody>
      </p:sp>
      <p:sp>
        <p:nvSpPr>
          <p:cNvPr id="19" name="Rounded Rectangle 18"/>
          <p:cNvSpPr/>
          <p:nvPr/>
        </p:nvSpPr>
        <p:spPr>
          <a:xfrm>
            <a:off x="502920" y="5468112"/>
            <a:ext cx="11185855" cy="822960"/>
          </a:xfrm>
          <a:prstGeom prst="roundRect">
            <a:avLst>
              <a:gd name="adj" fmla="val 8000"/>
            </a:avLst>
          </a:prstGeom>
          <a:solidFill>
            <a:srgbClr val="FFF3D1"/>
          </a:solidFill>
          <a:ln>
            <a:noFill/>
          </a:ln>
          <a:effectLst/>
        </p:spPr>
        <p:txBody>
          <a:bodyPr rtlCol="0" anchor="ctr" wrap="square" lIns="201168" rIns="201168" tIns="73152" bIns="73152">
            <a:noAutofit/>
          </a:bodyPr>
          <a:lstStyle/>
          <a:p>
            <a:pPr algn="ctr">
              <a:spcBef>
                <a:spcPts val="0"/>
              </a:spcBef>
              <a:spcAft>
                <a:spcPts val="0"/>
              </a:spcAft>
            </a:pPr>
            <a:r>
              <a:rPr lang="tr-TR" sz="1800" b="0" i="0">
                <a:solidFill>
                  <a:srgbClr val="262626"/>
                </a:solidFill>
                <a:latin typeface="Calibri"/>
              </a:rPr>
              <a:t>Karekod haritaları tahtada: Dünya Turizm Haritası (DTrÖ, 2025) · Dünya Ticaret Ağı ve Hacmi Haritası (DTÖ, 2023) · </a:t>
            </a:r>
            <a:r>
              <a:rPr lang="tr-TR" sz="1800" b="1" i="0">
                <a:solidFill>
                  <a:srgbClr val="262626"/>
                </a:solidFill>
                <a:latin typeface="Calibri"/>
              </a:rPr>
              <a:t>6 dk çalışma + 3 dk paylaşım</a:t>
            </a:r>
          </a:p>
        </p:txBody>
      </p:sp>
      <p:sp>
        <p:nvSpPr>
          <p:cNvPr id="20" name="TextBox 19"/>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21" name="Rounded Rectangle 20"/>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179</a:t>
            </a:r>
          </a:p>
        </p:txBody>
      </p:sp>
      <p:sp>
        <p:nvSpPr>
          <p:cNvPr id="22" name="TextBox 21"/>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80 / 166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1. soru: birincil sanayi bölgeleri</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1. SORU</a:t>
            </a:r>
          </a:p>
        </p:txBody>
      </p:sp>
      <p:pic>
        <p:nvPicPr>
          <p:cNvPr id="6" name="Picture 5" descr="h29_sanayi_s179.jpg"/>
          <p:cNvPicPr>
            <a:picLocks noChangeAspect="1"/>
          </p:cNvPicPr>
          <p:nvPr/>
        </p:nvPicPr>
        <p:blipFill>
          <a:blip r:embed="rId3"/>
          <a:stretch>
            <a:fillRect/>
          </a:stretch>
        </p:blipFill>
        <p:spPr>
          <a:xfrm>
            <a:off x="502920" y="1216152"/>
            <a:ext cx="7406640" cy="3220720"/>
          </a:xfrm>
          <a:prstGeom prst="rect">
            <a:avLst/>
          </a:prstGeom>
          <a:ln w="9525">
            <a:solidFill>
              <a:srgbClr val="D9D9D9"/>
            </a:solidFill>
          </a:ln>
        </p:spPr>
      </p:pic>
      <p:sp>
        <p:nvSpPr>
          <p:cNvPr id="7" name="TextBox 6"/>
          <p:cNvSpPr txBox="1"/>
          <p:nvPr/>
        </p:nvSpPr>
        <p:spPr>
          <a:xfrm>
            <a:off x="502920" y="4482592"/>
            <a:ext cx="2514600" cy="347472"/>
          </a:xfrm>
          <a:prstGeom prst="rect">
            <a:avLst/>
          </a:prstGeom>
          <a:noFill/>
        </p:spPr>
        <p:txBody>
          <a:bodyPr wrap="square" anchor="ctr" lIns="73152" rIns="73152" tIns="36576" bIns="36576">
            <a:noAutofit/>
          </a:bodyPr>
          <a:lstStyle/>
          <a:p>
            <a:pPr algn="l">
              <a:spcBef>
                <a:spcPts val="0"/>
              </a:spcBef>
              <a:spcAft>
                <a:spcPts val="0"/>
              </a:spcAft>
            </a:pPr>
            <a:r>
              <a:rPr lang="tr-TR" sz="1500" b="1" i="0">
                <a:solidFill>
                  <a:srgbClr val="767676"/>
                </a:solidFill>
                <a:latin typeface="Calibri"/>
              </a:rPr>
              <a:t>Başlıca Sanayi Bölgeleri:</a:t>
            </a:r>
          </a:p>
        </p:txBody>
      </p:sp>
      <p:sp>
        <p:nvSpPr>
          <p:cNvPr id="8" name="Oval 7"/>
          <p:cNvSpPr/>
          <p:nvPr/>
        </p:nvSpPr>
        <p:spPr>
          <a:xfrm>
            <a:off x="3063240" y="4555744"/>
            <a:ext cx="384048" cy="201168"/>
          </a:xfrm>
          <a:prstGeom prst="ellipse">
            <a:avLst/>
          </a:prstGeom>
          <a:solidFill>
            <a:srgbClr val="F57D2E"/>
          </a:solidFill>
          <a:ln>
            <a:noFill/>
          </a:ln>
          <a:effectLst/>
        </p:spPr>
        <p:txBody>
          <a:bodyPr rtlCol="0" anchor="ctr"/>
          <a:lstStyle/>
          <a:p/>
        </p:txBody>
      </p:sp>
      <p:sp>
        <p:nvSpPr>
          <p:cNvPr id="9" name="TextBox 8"/>
          <p:cNvSpPr txBox="1"/>
          <p:nvPr/>
        </p:nvSpPr>
        <p:spPr>
          <a:xfrm>
            <a:off x="3502152" y="4482592"/>
            <a:ext cx="1097280" cy="347472"/>
          </a:xfrm>
          <a:prstGeom prst="rect">
            <a:avLst/>
          </a:prstGeom>
          <a:noFill/>
        </p:spPr>
        <p:txBody>
          <a:bodyPr wrap="square" anchor="ctr" lIns="73152" rIns="73152" tIns="36576" bIns="36576">
            <a:noAutofit/>
          </a:bodyPr>
          <a:lstStyle/>
          <a:p>
            <a:pPr algn="l">
              <a:spcBef>
                <a:spcPts val="0"/>
              </a:spcBef>
              <a:spcAft>
                <a:spcPts val="0"/>
              </a:spcAft>
            </a:pPr>
            <a:r>
              <a:rPr lang="tr-TR" sz="1500" b="0" i="0">
                <a:solidFill>
                  <a:srgbClr val="262626"/>
                </a:solidFill>
                <a:latin typeface="Calibri"/>
              </a:rPr>
              <a:t>Birincil</a:t>
            </a:r>
          </a:p>
        </p:txBody>
      </p:sp>
      <p:sp>
        <p:nvSpPr>
          <p:cNvPr id="10" name="Oval 9"/>
          <p:cNvSpPr/>
          <p:nvPr/>
        </p:nvSpPr>
        <p:spPr>
          <a:xfrm>
            <a:off x="4663440" y="4564888"/>
            <a:ext cx="182880" cy="182880"/>
          </a:xfrm>
          <a:prstGeom prst="ellipse">
            <a:avLst/>
          </a:prstGeom>
          <a:solidFill>
            <a:srgbClr val="6E6E6E"/>
          </a:solidFill>
          <a:ln>
            <a:noFill/>
          </a:ln>
          <a:effectLst/>
        </p:spPr>
        <p:txBody>
          <a:bodyPr rtlCol="0" anchor="ctr"/>
          <a:lstStyle/>
          <a:p/>
        </p:txBody>
      </p:sp>
      <p:sp>
        <p:nvSpPr>
          <p:cNvPr id="11" name="TextBox 10"/>
          <p:cNvSpPr txBox="1"/>
          <p:nvPr/>
        </p:nvSpPr>
        <p:spPr>
          <a:xfrm>
            <a:off x="4910328" y="4482592"/>
            <a:ext cx="914400" cy="347472"/>
          </a:xfrm>
          <a:prstGeom prst="rect">
            <a:avLst/>
          </a:prstGeom>
          <a:noFill/>
        </p:spPr>
        <p:txBody>
          <a:bodyPr wrap="square" anchor="ctr" lIns="73152" rIns="73152" tIns="36576" bIns="36576">
            <a:noAutofit/>
          </a:bodyPr>
          <a:lstStyle/>
          <a:p>
            <a:pPr algn="l">
              <a:spcBef>
                <a:spcPts val="0"/>
              </a:spcBef>
              <a:spcAft>
                <a:spcPts val="0"/>
              </a:spcAft>
            </a:pPr>
            <a:r>
              <a:rPr lang="tr-TR" sz="1500" b="0" i="0">
                <a:solidFill>
                  <a:srgbClr val="262626"/>
                </a:solidFill>
                <a:latin typeface="Calibri"/>
              </a:rPr>
              <a:t>Diğer</a:t>
            </a:r>
          </a:p>
        </p:txBody>
      </p:sp>
      <p:sp>
        <p:nvSpPr>
          <p:cNvPr id="12" name="TextBox 11"/>
          <p:cNvSpPr txBox="1"/>
          <p:nvPr/>
        </p:nvSpPr>
        <p:spPr>
          <a:xfrm>
            <a:off x="5715000" y="4482592"/>
            <a:ext cx="2194560" cy="347472"/>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OECD 2023 · Ders kitabı s. 179</a:t>
            </a:r>
          </a:p>
        </p:txBody>
      </p:sp>
      <p:sp>
        <p:nvSpPr>
          <p:cNvPr id="13" name="Rounded Rectangle 12"/>
          <p:cNvSpPr/>
          <p:nvPr/>
        </p:nvSpPr>
        <p:spPr>
          <a:xfrm>
            <a:off x="502920" y="4921504"/>
            <a:ext cx="7406640" cy="1369568"/>
          </a:xfrm>
          <a:prstGeom prst="roundRect">
            <a:avLst>
              <a:gd name="adj" fmla="val 8000"/>
            </a:avLst>
          </a:prstGeom>
          <a:solidFill>
            <a:srgbClr val="FFF3D1"/>
          </a:solidFill>
          <a:ln>
            <a:noFill/>
          </a:ln>
          <a:effectLst/>
        </p:spPr>
        <p:txBody>
          <a:bodyPr rtlCol="0" anchor="ctr" wrap="square" lIns="182880" rIns="182880" tIns="73152" bIns="73152">
            <a:noAutofit/>
          </a:bodyPr>
          <a:lstStyle/>
          <a:p>
            <a:pPr algn="l">
              <a:spcBef>
                <a:spcPts val="0"/>
              </a:spcBef>
              <a:spcAft>
                <a:spcPts val="0"/>
              </a:spcAft>
            </a:pPr>
            <a:r>
              <a:rPr lang="tr-TR" sz="1900" b="1" i="0">
                <a:solidFill>
                  <a:srgbClr val="262626"/>
                </a:solidFill>
                <a:latin typeface="Calibri"/>
              </a:rPr>
              <a:t>1. soru: Sanayi faaliyetlerinin yoğunlaştığı bölgeler ve bu faaliyetler üzerinde etkili olan beşerî faktörleri aşağıdaki tabloya yazınız.</a:t>
            </a:r>
          </a:p>
        </p:txBody>
      </p:sp>
      <p:sp>
        <p:nvSpPr>
          <p:cNvPr id="14" name="Rounded Rectangle 13"/>
          <p:cNvSpPr/>
          <p:nvPr/>
        </p:nvSpPr>
        <p:spPr>
          <a:xfrm>
            <a:off x="8138160" y="1216152"/>
            <a:ext cx="3550615" cy="914400"/>
          </a:xfrm>
          <a:prstGeom prst="roundRect">
            <a:avLst>
              <a:gd name="adj" fmla="val 8000"/>
            </a:avLst>
          </a:prstGeom>
          <a:solidFill>
            <a:srgbClr val="F0F0F0"/>
          </a:solidFill>
          <a:ln>
            <a:noFill/>
          </a:ln>
          <a:effectLst/>
        </p:spPr>
        <p:txBody>
          <a:bodyPr rtlCol="0" anchor="ctr" wrap="square" lIns="128016" rIns="128016" tIns="73152" bIns="73152">
            <a:noAutofit/>
          </a:bodyPr>
          <a:lstStyle/>
          <a:p>
            <a:pPr algn="l">
              <a:spcBef>
                <a:spcPts val="0"/>
              </a:spcBef>
              <a:spcAft>
                <a:spcPts val="0"/>
              </a:spcAft>
            </a:pPr>
            <a:r>
              <a:rPr lang="tr-TR" sz="2000" b="1" i="0">
                <a:solidFill>
                  <a:srgbClr val="262626"/>
                </a:solidFill>
                <a:latin typeface="Calibri"/>
              </a:rPr>
              <a:t>Haritada </a:t>
            </a:r>
            <a:r>
              <a:rPr lang="tr-TR" sz="2000" b="1" i="0">
                <a:solidFill>
                  <a:srgbClr val="262626"/>
                </a:solidFill>
                <a:latin typeface="Calibri"/>
              </a:rPr>
              <a:t>birincil</a:t>
            </a:r>
            <a:r>
              <a:rPr lang="tr-TR" sz="2000" b="1" i="0">
                <a:solidFill>
                  <a:srgbClr val="262626"/>
                </a:solidFill>
                <a:latin typeface="Calibri"/>
              </a:rPr>
              <a:t> gösterilen bölgeleri seç:</a:t>
            </a:r>
          </a:p>
        </p:txBody>
      </p:sp>
      <p:sp>
        <p:nvSpPr>
          <p:cNvPr id="15" name="Rounded Rectangle 14"/>
          <p:cNvSpPr/>
          <p:nvPr/>
        </p:nvSpPr>
        <p:spPr>
          <a:xfrm>
            <a:off x="8138160" y="2249424"/>
            <a:ext cx="3550615" cy="502920"/>
          </a:xfrm>
          <a:prstGeom prst="roundRect">
            <a:avLst>
              <a:gd name="adj" fmla="val 30000"/>
            </a:avLst>
          </a:prstGeom>
          <a:solidFill>
            <a:srgbClr val="FFFFFF"/>
          </a:solidFill>
          <a:ln w="12700">
            <a:solidFill>
              <a:srgbClr val="D9D9D9"/>
            </a:solidFill>
          </a:ln>
          <a:effectLst/>
        </p:spPr>
        <p:txBody>
          <a:bodyPr rtlCol="0" anchor="ctr"/>
          <a:lstStyle/>
          <a:p/>
        </p:txBody>
      </p:sp>
      <p:sp>
        <p:nvSpPr>
          <p:cNvPr id="16" name="Oval 15"/>
          <p:cNvSpPr/>
          <p:nvPr/>
        </p:nvSpPr>
        <p:spPr>
          <a:xfrm>
            <a:off x="8211312" y="2308860"/>
            <a:ext cx="384048" cy="384048"/>
          </a:xfrm>
          <a:prstGeom prst="ellipse">
            <a:avLst/>
          </a:prstGeom>
          <a:solidFill>
            <a:srgbClr val="F0F0F0"/>
          </a:solidFill>
          <a:ln>
            <a:noFill/>
          </a:ln>
          <a:effectLst/>
        </p:spPr>
        <p:txBody>
          <a:bodyPr rtlCol="0" anchor="ctr" wrap="none" lIns="0" rIns="0" tIns="0" bIns="0">
            <a:noAutofit/>
          </a:bodyPr>
          <a:lstStyle/>
          <a:p>
            <a:pPr algn="ctr">
              <a:spcBef>
                <a:spcPts val="0"/>
              </a:spcBef>
              <a:spcAft>
                <a:spcPts val="0"/>
              </a:spcAft>
            </a:pPr>
            <a:r>
              <a:rPr lang="tr-TR" sz="1600" b="1" i="0">
                <a:solidFill>
                  <a:srgbClr val="262626"/>
                </a:solidFill>
                <a:latin typeface="Calibri"/>
              </a:rPr>
              <a:t>☐</a:t>
            </a:r>
          </a:p>
        </p:txBody>
      </p:sp>
      <p:sp>
        <p:nvSpPr>
          <p:cNvPr id="17" name="TextBox 16"/>
          <p:cNvSpPr txBox="1"/>
          <p:nvPr/>
        </p:nvSpPr>
        <p:spPr>
          <a:xfrm>
            <a:off x="8668512" y="2249424"/>
            <a:ext cx="2947111" cy="502920"/>
          </a:xfrm>
          <a:prstGeom prst="rect">
            <a:avLst/>
          </a:prstGeom>
          <a:noFill/>
        </p:spPr>
        <p:txBody>
          <a:bodyPr wrap="square" anchor="ctr" lIns="73152" rIns="73152" tIns="36576" bIns="36576">
            <a:noAutofit/>
          </a:bodyPr>
          <a:lstStyle/>
          <a:p>
            <a:pPr algn="l">
              <a:spcBef>
                <a:spcPts val="0"/>
              </a:spcBef>
              <a:spcAft>
                <a:spcPts val="0"/>
              </a:spcAft>
            </a:pPr>
            <a:r>
              <a:rPr lang="tr-TR" sz="1900" b="0" i="0">
                <a:solidFill>
                  <a:srgbClr val="262626"/>
                </a:solidFill>
                <a:latin typeface="Calibri"/>
              </a:rPr>
              <a:t>ABD'nin kuzeydoğusu</a:t>
            </a:r>
          </a:p>
        </p:txBody>
      </p:sp>
      <p:sp>
        <p:nvSpPr>
          <p:cNvPr id="18" name="Rounded Rectangle 17"/>
          <p:cNvSpPr/>
          <p:nvPr/>
        </p:nvSpPr>
        <p:spPr>
          <a:xfrm>
            <a:off x="8138160" y="2816352"/>
            <a:ext cx="3550615" cy="502920"/>
          </a:xfrm>
          <a:prstGeom prst="roundRect">
            <a:avLst>
              <a:gd name="adj" fmla="val 30000"/>
            </a:avLst>
          </a:prstGeom>
          <a:solidFill>
            <a:srgbClr val="FFFFFF"/>
          </a:solidFill>
          <a:ln w="12700">
            <a:solidFill>
              <a:srgbClr val="D9D9D9"/>
            </a:solidFill>
          </a:ln>
          <a:effectLst/>
        </p:spPr>
        <p:txBody>
          <a:bodyPr rtlCol="0" anchor="ctr"/>
          <a:lstStyle/>
          <a:p/>
        </p:txBody>
      </p:sp>
      <p:sp>
        <p:nvSpPr>
          <p:cNvPr id="19" name="Oval 18"/>
          <p:cNvSpPr/>
          <p:nvPr/>
        </p:nvSpPr>
        <p:spPr>
          <a:xfrm>
            <a:off x="8211312" y="2875788"/>
            <a:ext cx="384048" cy="384048"/>
          </a:xfrm>
          <a:prstGeom prst="ellipse">
            <a:avLst/>
          </a:prstGeom>
          <a:solidFill>
            <a:srgbClr val="F0F0F0"/>
          </a:solidFill>
          <a:ln>
            <a:noFill/>
          </a:ln>
          <a:effectLst/>
        </p:spPr>
        <p:txBody>
          <a:bodyPr rtlCol="0" anchor="ctr" wrap="none" lIns="0" rIns="0" tIns="0" bIns="0">
            <a:noAutofit/>
          </a:bodyPr>
          <a:lstStyle/>
          <a:p>
            <a:pPr algn="ctr">
              <a:spcBef>
                <a:spcPts val="0"/>
              </a:spcBef>
              <a:spcAft>
                <a:spcPts val="0"/>
              </a:spcAft>
            </a:pPr>
            <a:r>
              <a:rPr lang="tr-TR" sz="1600" b="1" i="0">
                <a:solidFill>
                  <a:srgbClr val="262626"/>
                </a:solidFill>
                <a:latin typeface="Calibri"/>
              </a:rPr>
              <a:t>☐</a:t>
            </a:r>
          </a:p>
        </p:txBody>
      </p:sp>
      <p:sp>
        <p:nvSpPr>
          <p:cNvPr id="20" name="TextBox 19"/>
          <p:cNvSpPr txBox="1"/>
          <p:nvPr/>
        </p:nvSpPr>
        <p:spPr>
          <a:xfrm>
            <a:off x="8668512" y="2816352"/>
            <a:ext cx="2947111" cy="502920"/>
          </a:xfrm>
          <a:prstGeom prst="rect">
            <a:avLst/>
          </a:prstGeom>
          <a:noFill/>
        </p:spPr>
        <p:txBody>
          <a:bodyPr wrap="square" anchor="ctr" lIns="73152" rIns="73152" tIns="36576" bIns="36576">
            <a:noAutofit/>
          </a:bodyPr>
          <a:lstStyle/>
          <a:p>
            <a:pPr algn="l">
              <a:spcBef>
                <a:spcPts val="0"/>
              </a:spcBef>
              <a:spcAft>
                <a:spcPts val="0"/>
              </a:spcAft>
            </a:pPr>
            <a:r>
              <a:rPr lang="tr-TR" sz="1900" b="0" i="0">
                <a:solidFill>
                  <a:srgbClr val="262626"/>
                </a:solidFill>
                <a:latin typeface="Calibri"/>
              </a:rPr>
              <a:t>Orta Asya</a:t>
            </a:r>
          </a:p>
        </p:txBody>
      </p:sp>
      <p:sp>
        <p:nvSpPr>
          <p:cNvPr id="21" name="Rounded Rectangle 20"/>
          <p:cNvSpPr/>
          <p:nvPr/>
        </p:nvSpPr>
        <p:spPr>
          <a:xfrm>
            <a:off x="8138160" y="3383280"/>
            <a:ext cx="3550615" cy="502920"/>
          </a:xfrm>
          <a:prstGeom prst="roundRect">
            <a:avLst>
              <a:gd name="adj" fmla="val 30000"/>
            </a:avLst>
          </a:prstGeom>
          <a:solidFill>
            <a:srgbClr val="FFFFFF"/>
          </a:solidFill>
          <a:ln w="12700">
            <a:solidFill>
              <a:srgbClr val="D9D9D9"/>
            </a:solidFill>
          </a:ln>
          <a:effectLst/>
        </p:spPr>
        <p:txBody>
          <a:bodyPr rtlCol="0" anchor="ctr"/>
          <a:lstStyle/>
          <a:p/>
        </p:txBody>
      </p:sp>
      <p:sp>
        <p:nvSpPr>
          <p:cNvPr id="22" name="Oval 21"/>
          <p:cNvSpPr/>
          <p:nvPr/>
        </p:nvSpPr>
        <p:spPr>
          <a:xfrm>
            <a:off x="8211312" y="3442716"/>
            <a:ext cx="384048" cy="384048"/>
          </a:xfrm>
          <a:prstGeom prst="ellipse">
            <a:avLst/>
          </a:prstGeom>
          <a:solidFill>
            <a:srgbClr val="F0F0F0"/>
          </a:solidFill>
          <a:ln>
            <a:noFill/>
          </a:ln>
          <a:effectLst/>
        </p:spPr>
        <p:txBody>
          <a:bodyPr rtlCol="0" anchor="ctr" wrap="none" lIns="0" rIns="0" tIns="0" bIns="0">
            <a:noAutofit/>
          </a:bodyPr>
          <a:lstStyle/>
          <a:p>
            <a:pPr algn="ctr">
              <a:spcBef>
                <a:spcPts val="0"/>
              </a:spcBef>
              <a:spcAft>
                <a:spcPts val="0"/>
              </a:spcAft>
            </a:pPr>
            <a:r>
              <a:rPr lang="tr-TR" sz="1600" b="1" i="0">
                <a:solidFill>
                  <a:srgbClr val="262626"/>
                </a:solidFill>
                <a:latin typeface="Calibri"/>
              </a:rPr>
              <a:t>☐</a:t>
            </a:r>
          </a:p>
        </p:txBody>
      </p:sp>
      <p:sp>
        <p:nvSpPr>
          <p:cNvPr id="23" name="TextBox 22"/>
          <p:cNvSpPr txBox="1"/>
          <p:nvPr/>
        </p:nvSpPr>
        <p:spPr>
          <a:xfrm>
            <a:off x="8668512" y="3383280"/>
            <a:ext cx="2947111" cy="502920"/>
          </a:xfrm>
          <a:prstGeom prst="rect">
            <a:avLst/>
          </a:prstGeom>
          <a:noFill/>
        </p:spPr>
        <p:txBody>
          <a:bodyPr wrap="square" anchor="ctr" lIns="73152" rIns="73152" tIns="36576" bIns="36576">
            <a:noAutofit/>
          </a:bodyPr>
          <a:lstStyle/>
          <a:p>
            <a:pPr algn="l">
              <a:spcBef>
                <a:spcPts val="0"/>
              </a:spcBef>
              <a:spcAft>
                <a:spcPts val="0"/>
              </a:spcAft>
            </a:pPr>
            <a:r>
              <a:rPr lang="tr-TR" sz="1900" b="0" i="0">
                <a:solidFill>
                  <a:srgbClr val="262626"/>
                </a:solidFill>
                <a:latin typeface="Calibri"/>
              </a:rPr>
              <a:t>Batı Avrupa</a:t>
            </a:r>
          </a:p>
        </p:txBody>
      </p:sp>
      <p:sp>
        <p:nvSpPr>
          <p:cNvPr id="24" name="Rounded Rectangle 23"/>
          <p:cNvSpPr/>
          <p:nvPr/>
        </p:nvSpPr>
        <p:spPr>
          <a:xfrm>
            <a:off x="8138160" y="3950208"/>
            <a:ext cx="3550615" cy="502920"/>
          </a:xfrm>
          <a:prstGeom prst="roundRect">
            <a:avLst>
              <a:gd name="adj" fmla="val 30000"/>
            </a:avLst>
          </a:prstGeom>
          <a:solidFill>
            <a:srgbClr val="FFFFFF"/>
          </a:solidFill>
          <a:ln w="12700">
            <a:solidFill>
              <a:srgbClr val="D9D9D9"/>
            </a:solidFill>
          </a:ln>
          <a:effectLst/>
        </p:spPr>
        <p:txBody>
          <a:bodyPr rtlCol="0" anchor="ctr"/>
          <a:lstStyle/>
          <a:p/>
        </p:txBody>
      </p:sp>
      <p:sp>
        <p:nvSpPr>
          <p:cNvPr id="25" name="Oval 24"/>
          <p:cNvSpPr/>
          <p:nvPr/>
        </p:nvSpPr>
        <p:spPr>
          <a:xfrm>
            <a:off x="8211312" y="4009644"/>
            <a:ext cx="384048" cy="384048"/>
          </a:xfrm>
          <a:prstGeom prst="ellipse">
            <a:avLst/>
          </a:prstGeom>
          <a:solidFill>
            <a:srgbClr val="F0F0F0"/>
          </a:solidFill>
          <a:ln>
            <a:noFill/>
          </a:ln>
          <a:effectLst/>
        </p:spPr>
        <p:txBody>
          <a:bodyPr rtlCol="0" anchor="ctr" wrap="none" lIns="0" rIns="0" tIns="0" bIns="0">
            <a:noAutofit/>
          </a:bodyPr>
          <a:lstStyle/>
          <a:p>
            <a:pPr algn="ctr">
              <a:spcBef>
                <a:spcPts val="0"/>
              </a:spcBef>
              <a:spcAft>
                <a:spcPts val="0"/>
              </a:spcAft>
            </a:pPr>
            <a:r>
              <a:rPr lang="tr-TR" sz="1600" b="1" i="0">
                <a:solidFill>
                  <a:srgbClr val="262626"/>
                </a:solidFill>
                <a:latin typeface="Calibri"/>
              </a:rPr>
              <a:t>☐</a:t>
            </a:r>
          </a:p>
        </p:txBody>
      </p:sp>
      <p:sp>
        <p:nvSpPr>
          <p:cNvPr id="26" name="TextBox 25"/>
          <p:cNvSpPr txBox="1"/>
          <p:nvPr/>
        </p:nvSpPr>
        <p:spPr>
          <a:xfrm>
            <a:off x="8668512" y="3950208"/>
            <a:ext cx="2947111" cy="502920"/>
          </a:xfrm>
          <a:prstGeom prst="rect">
            <a:avLst/>
          </a:prstGeom>
          <a:noFill/>
        </p:spPr>
        <p:txBody>
          <a:bodyPr wrap="square" anchor="ctr" lIns="73152" rIns="73152" tIns="36576" bIns="36576">
            <a:noAutofit/>
          </a:bodyPr>
          <a:lstStyle/>
          <a:p>
            <a:pPr algn="l">
              <a:spcBef>
                <a:spcPts val="0"/>
              </a:spcBef>
              <a:spcAft>
                <a:spcPts val="0"/>
              </a:spcAft>
            </a:pPr>
            <a:r>
              <a:rPr lang="tr-TR" sz="1900" b="0" i="0">
                <a:solidFill>
                  <a:srgbClr val="262626"/>
                </a:solidFill>
                <a:latin typeface="Calibri"/>
              </a:rPr>
              <a:t>Okyanusya</a:t>
            </a:r>
          </a:p>
        </p:txBody>
      </p:sp>
      <p:sp>
        <p:nvSpPr>
          <p:cNvPr id="27" name="Rounded Rectangle 26"/>
          <p:cNvSpPr/>
          <p:nvPr/>
        </p:nvSpPr>
        <p:spPr>
          <a:xfrm>
            <a:off x="8138160" y="4517136"/>
            <a:ext cx="3550615" cy="502920"/>
          </a:xfrm>
          <a:prstGeom prst="roundRect">
            <a:avLst>
              <a:gd name="adj" fmla="val 30000"/>
            </a:avLst>
          </a:prstGeom>
          <a:solidFill>
            <a:srgbClr val="FFFFFF"/>
          </a:solidFill>
          <a:ln w="12700">
            <a:solidFill>
              <a:srgbClr val="D9D9D9"/>
            </a:solidFill>
          </a:ln>
          <a:effectLst/>
        </p:spPr>
        <p:txBody>
          <a:bodyPr rtlCol="0" anchor="ctr"/>
          <a:lstStyle/>
          <a:p/>
        </p:txBody>
      </p:sp>
      <p:sp>
        <p:nvSpPr>
          <p:cNvPr id="28" name="Oval 27"/>
          <p:cNvSpPr/>
          <p:nvPr/>
        </p:nvSpPr>
        <p:spPr>
          <a:xfrm>
            <a:off x="8211312" y="4576572"/>
            <a:ext cx="384048" cy="384048"/>
          </a:xfrm>
          <a:prstGeom prst="ellipse">
            <a:avLst/>
          </a:prstGeom>
          <a:solidFill>
            <a:srgbClr val="F0F0F0"/>
          </a:solidFill>
          <a:ln>
            <a:noFill/>
          </a:ln>
          <a:effectLst/>
        </p:spPr>
        <p:txBody>
          <a:bodyPr rtlCol="0" anchor="ctr" wrap="none" lIns="0" rIns="0" tIns="0" bIns="0">
            <a:noAutofit/>
          </a:bodyPr>
          <a:lstStyle/>
          <a:p>
            <a:pPr algn="ctr">
              <a:spcBef>
                <a:spcPts val="0"/>
              </a:spcBef>
              <a:spcAft>
                <a:spcPts val="0"/>
              </a:spcAft>
            </a:pPr>
            <a:r>
              <a:rPr lang="tr-TR" sz="1600" b="1" i="0">
                <a:solidFill>
                  <a:srgbClr val="262626"/>
                </a:solidFill>
                <a:latin typeface="Calibri"/>
              </a:rPr>
              <a:t>☐</a:t>
            </a:r>
          </a:p>
        </p:txBody>
      </p:sp>
      <p:sp>
        <p:nvSpPr>
          <p:cNvPr id="29" name="TextBox 28"/>
          <p:cNvSpPr txBox="1"/>
          <p:nvPr/>
        </p:nvSpPr>
        <p:spPr>
          <a:xfrm>
            <a:off x="8668512" y="4517136"/>
            <a:ext cx="2947111" cy="502920"/>
          </a:xfrm>
          <a:prstGeom prst="rect">
            <a:avLst/>
          </a:prstGeom>
          <a:noFill/>
        </p:spPr>
        <p:txBody>
          <a:bodyPr wrap="square" anchor="ctr" lIns="73152" rIns="73152" tIns="36576" bIns="36576">
            <a:noAutofit/>
          </a:bodyPr>
          <a:lstStyle/>
          <a:p>
            <a:pPr algn="l">
              <a:spcBef>
                <a:spcPts val="0"/>
              </a:spcBef>
              <a:spcAft>
                <a:spcPts val="0"/>
              </a:spcAft>
            </a:pPr>
            <a:r>
              <a:rPr lang="tr-TR" sz="1900" b="0" i="0">
                <a:solidFill>
                  <a:srgbClr val="262626"/>
                </a:solidFill>
                <a:latin typeface="Calibri"/>
              </a:rPr>
              <a:t>Rusya (Avrupa kesimi)</a:t>
            </a:r>
          </a:p>
        </p:txBody>
      </p:sp>
      <p:sp>
        <p:nvSpPr>
          <p:cNvPr id="30" name="Rounded Rectangle 29"/>
          <p:cNvSpPr/>
          <p:nvPr/>
        </p:nvSpPr>
        <p:spPr>
          <a:xfrm>
            <a:off x="8138160" y="5084064"/>
            <a:ext cx="3550615" cy="502920"/>
          </a:xfrm>
          <a:prstGeom prst="roundRect">
            <a:avLst>
              <a:gd name="adj" fmla="val 30000"/>
            </a:avLst>
          </a:prstGeom>
          <a:solidFill>
            <a:srgbClr val="FFFFFF"/>
          </a:solidFill>
          <a:ln w="12700">
            <a:solidFill>
              <a:srgbClr val="D9D9D9"/>
            </a:solidFill>
          </a:ln>
          <a:effectLst/>
        </p:spPr>
        <p:txBody>
          <a:bodyPr rtlCol="0" anchor="ctr"/>
          <a:lstStyle/>
          <a:p/>
        </p:txBody>
      </p:sp>
      <p:sp>
        <p:nvSpPr>
          <p:cNvPr id="31" name="Oval 30"/>
          <p:cNvSpPr/>
          <p:nvPr/>
        </p:nvSpPr>
        <p:spPr>
          <a:xfrm>
            <a:off x="8211312" y="5143500"/>
            <a:ext cx="384048" cy="384048"/>
          </a:xfrm>
          <a:prstGeom prst="ellipse">
            <a:avLst/>
          </a:prstGeom>
          <a:solidFill>
            <a:srgbClr val="F0F0F0"/>
          </a:solidFill>
          <a:ln>
            <a:noFill/>
          </a:ln>
          <a:effectLst/>
        </p:spPr>
        <p:txBody>
          <a:bodyPr rtlCol="0" anchor="ctr" wrap="none" lIns="0" rIns="0" tIns="0" bIns="0">
            <a:noAutofit/>
          </a:bodyPr>
          <a:lstStyle/>
          <a:p>
            <a:pPr algn="ctr">
              <a:spcBef>
                <a:spcPts val="0"/>
              </a:spcBef>
              <a:spcAft>
                <a:spcPts val="0"/>
              </a:spcAft>
            </a:pPr>
            <a:r>
              <a:rPr lang="tr-TR" sz="1600" b="1" i="0">
                <a:solidFill>
                  <a:srgbClr val="262626"/>
                </a:solidFill>
                <a:latin typeface="Calibri"/>
              </a:rPr>
              <a:t>☐</a:t>
            </a:r>
          </a:p>
        </p:txBody>
      </p:sp>
      <p:sp>
        <p:nvSpPr>
          <p:cNvPr id="32" name="TextBox 31"/>
          <p:cNvSpPr txBox="1"/>
          <p:nvPr/>
        </p:nvSpPr>
        <p:spPr>
          <a:xfrm>
            <a:off x="8668512" y="5084064"/>
            <a:ext cx="2947111" cy="502920"/>
          </a:xfrm>
          <a:prstGeom prst="rect">
            <a:avLst/>
          </a:prstGeom>
          <a:noFill/>
        </p:spPr>
        <p:txBody>
          <a:bodyPr wrap="square" anchor="ctr" lIns="73152" rIns="73152" tIns="36576" bIns="36576">
            <a:noAutofit/>
          </a:bodyPr>
          <a:lstStyle/>
          <a:p>
            <a:pPr algn="l">
              <a:spcBef>
                <a:spcPts val="0"/>
              </a:spcBef>
              <a:spcAft>
                <a:spcPts val="0"/>
              </a:spcAft>
            </a:pPr>
            <a:r>
              <a:rPr lang="tr-TR" sz="1900" b="0" i="0">
                <a:solidFill>
                  <a:srgbClr val="262626"/>
                </a:solidFill>
                <a:latin typeface="Calibri"/>
              </a:rPr>
              <a:t>Kuzey Afrika</a:t>
            </a:r>
          </a:p>
        </p:txBody>
      </p:sp>
      <p:sp>
        <p:nvSpPr>
          <p:cNvPr id="33" name="Rounded Rectangle 32"/>
          <p:cNvSpPr/>
          <p:nvPr/>
        </p:nvSpPr>
        <p:spPr>
          <a:xfrm>
            <a:off x="8138160" y="5650992"/>
            <a:ext cx="3550615" cy="502920"/>
          </a:xfrm>
          <a:prstGeom prst="roundRect">
            <a:avLst>
              <a:gd name="adj" fmla="val 30000"/>
            </a:avLst>
          </a:prstGeom>
          <a:solidFill>
            <a:srgbClr val="FFFFFF"/>
          </a:solidFill>
          <a:ln w="12700">
            <a:solidFill>
              <a:srgbClr val="D9D9D9"/>
            </a:solidFill>
          </a:ln>
          <a:effectLst/>
        </p:spPr>
        <p:txBody>
          <a:bodyPr rtlCol="0" anchor="ctr"/>
          <a:lstStyle/>
          <a:p/>
        </p:txBody>
      </p:sp>
      <p:sp>
        <p:nvSpPr>
          <p:cNvPr id="34" name="Oval 33"/>
          <p:cNvSpPr/>
          <p:nvPr/>
        </p:nvSpPr>
        <p:spPr>
          <a:xfrm>
            <a:off x="8211312" y="5710428"/>
            <a:ext cx="384048" cy="384048"/>
          </a:xfrm>
          <a:prstGeom prst="ellipse">
            <a:avLst/>
          </a:prstGeom>
          <a:solidFill>
            <a:srgbClr val="F0F0F0"/>
          </a:solidFill>
          <a:ln>
            <a:noFill/>
          </a:ln>
          <a:effectLst/>
        </p:spPr>
        <p:txBody>
          <a:bodyPr rtlCol="0" anchor="ctr" wrap="none" lIns="0" rIns="0" tIns="0" bIns="0">
            <a:noAutofit/>
          </a:bodyPr>
          <a:lstStyle/>
          <a:p>
            <a:pPr algn="ctr">
              <a:spcBef>
                <a:spcPts val="0"/>
              </a:spcBef>
              <a:spcAft>
                <a:spcPts val="0"/>
              </a:spcAft>
            </a:pPr>
            <a:r>
              <a:rPr lang="tr-TR" sz="1600" b="1" i="0">
                <a:solidFill>
                  <a:srgbClr val="262626"/>
                </a:solidFill>
                <a:latin typeface="Calibri"/>
              </a:rPr>
              <a:t>☐</a:t>
            </a:r>
          </a:p>
        </p:txBody>
      </p:sp>
      <p:sp>
        <p:nvSpPr>
          <p:cNvPr id="35" name="TextBox 34"/>
          <p:cNvSpPr txBox="1"/>
          <p:nvPr/>
        </p:nvSpPr>
        <p:spPr>
          <a:xfrm>
            <a:off x="8668512" y="5650992"/>
            <a:ext cx="2947111" cy="502920"/>
          </a:xfrm>
          <a:prstGeom prst="rect">
            <a:avLst/>
          </a:prstGeom>
          <a:noFill/>
        </p:spPr>
        <p:txBody>
          <a:bodyPr wrap="square" anchor="ctr" lIns="73152" rIns="73152" tIns="36576" bIns="36576">
            <a:noAutofit/>
          </a:bodyPr>
          <a:lstStyle/>
          <a:p>
            <a:pPr algn="l">
              <a:spcBef>
                <a:spcPts val="0"/>
              </a:spcBef>
              <a:spcAft>
                <a:spcPts val="0"/>
              </a:spcAft>
            </a:pPr>
            <a:r>
              <a:rPr lang="tr-TR" sz="1900" b="0" i="0">
                <a:solidFill>
                  <a:srgbClr val="262626"/>
                </a:solidFill>
                <a:latin typeface="Calibri"/>
              </a:rPr>
              <a:t>Doğu Asya</a:t>
            </a:r>
          </a:p>
        </p:txBody>
      </p:sp>
      <p:sp>
        <p:nvSpPr>
          <p:cNvPr id="36" name="TextBox 35"/>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37" name="Rounded Rectangle 36"/>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179</a:t>
            </a:r>
          </a:p>
        </p:txBody>
      </p:sp>
      <p:sp>
        <p:nvSpPr>
          <p:cNvPr id="38" name="TextBox 37"/>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81 / 166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1. soru: birincil sanayi bölgeleri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CEVAP</a:t>
            </a:r>
          </a:p>
        </p:txBody>
      </p:sp>
      <p:pic>
        <p:nvPicPr>
          <p:cNvPr id="6" name="Picture 5" descr="h29_sanayi_s179.jpg"/>
          <p:cNvPicPr>
            <a:picLocks noChangeAspect="1"/>
          </p:cNvPicPr>
          <p:nvPr/>
        </p:nvPicPr>
        <p:blipFill>
          <a:blip r:embed="rId3"/>
          <a:stretch>
            <a:fillRect/>
          </a:stretch>
        </p:blipFill>
        <p:spPr>
          <a:xfrm>
            <a:off x="502920" y="1216152"/>
            <a:ext cx="7406640" cy="3220720"/>
          </a:xfrm>
          <a:prstGeom prst="rect">
            <a:avLst/>
          </a:prstGeom>
          <a:ln w="9525">
            <a:solidFill>
              <a:srgbClr val="D9D9D9"/>
            </a:solidFill>
          </a:ln>
        </p:spPr>
      </p:pic>
      <p:sp>
        <p:nvSpPr>
          <p:cNvPr id="7" name="Oval 6"/>
          <p:cNvSpPr/>
          <p:nvPr/>
        </p:nvSpPr>
        <p:spPr>
          <a:xfrm>
            <a:off x="2449509" y="1921363"/>
            <a:ext cx="575169" cy="408145"/>
          </a:xfrm>
          <a:prstGeom prst="ellipse">
            <a:avLst/>
          </a:prstGeom>
          <a:noFill/>
          <a:ln w="38100">
            <a:solidFill>
              <a:srgbClr val="2E7D32"/>
            </a:solidFill>
          </a:ln>
          <a:effectLst/>
        </p:spPr>
        <p:txBody>
          <a:bodyPr rtlCol="0" anchor="ctr"/>
          <a:lstStyle/>
          <a:p/>
        </p:txBody>
      </p:sp>
      <p:sp>
        <p:nvSpPr>
          <p:cNvPr id="8" name="Oval 7"/>
          <p:cNvSpPr/>
          <p:nvPr/>
        </p:nvSpPr>
        <p:spPr>
          <a:xfrm>
            <a:off x="2572501" y="1573891"/>
            <a:ext cx="329184" cy="329184"/>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600" b="1" i="0">
                <a:solidFill>
                  <a:srgbClr val="FFFFFF"/>
                </a:solidFill>
                <a:latin typeface="Calibri"/>
              </a:rPr>
              <a:t>1</a:t>
            </a:r>
          </a:p>
        </p:txBody>
      </p:sp>
      <p:sp>
        <p:nvSpPr>
          <p:cNvPr id="9" name="Oval 8"/>
          <p:cNvSpPr/>
          <p:nvPr/>
        </p:nvSpPr>
        <p:spPr>
          <a:xfrm>
            <a:off x="4002304" y="1708275"/>
            <a:ext cx="529691" cy="491103"/>
          </a:xfrm>
          <a:prstGeom prst="ellipse">
            <a:avLst/>
          </a:prstGeom>
          <a:noFill/>
          <a:ln w="38100">
            <a:solidFill>
              <a:srgbClr val="2E7D32"/>
            </a:solidFill>
          </a:ln>
          <a:effectLst/>
        </p:spPr>
        <p:txBody>
          <a:bodyPr rtlCol="0" anchor="ctr"/>
          <a:lstStyle/>
          <a:p/>
        </p:txBody>
      </p:sp>
      <p:sp>
        <p:nvSpPr>
          <p:cNvPr id="10" name="Oval 9"/>
          <p:cNvSpPr/>
          <p:nvPr/>
        </p:nvSpPr>
        <p:spPr>
          <a:xfrm>
            <a:off x="4102557" y="1360803"/>
            <a:ext cx="329184" cy="329184"/>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600" b="1" i="0">
                <a:solidFill>
                  <a:srgbClr val="FFFFFF"/>
                </a:solidFill>
                <a:latin typeface="Calibri"/>
              </a:rPr>
              <a:t>2</a:t>
            </a:r>
          </a:p>
        </p:txBody>
      </p:sp>
      <p:sp>
        <p:nvSpPr>
          <p:cNvPr id="11" name="Oval 10"/>
          <p:cNvSpPr/>
          <p:nvPr/>
        </p:nvSpPr>
        <p:spPr>
          <a:xfrm>
            <a:off x="4661755" y="1672489"/>
            <a:ext cx="748966" cy="497610"/>
          </a:xfrm>
          <a:prstGeom prst="ellipse">
            <a:avLst/>
          </a:prstGeom>
          <a:noFill/>
          <a:ln w="38100">
            <a:solidFill>
              <a:srgbClr val="2E7D32"/>
            </a:solidFill>
          </a:ln>
          <a:effectLst/>
        </p:spPr>
        <p:txBody>
          <a:bodyPr rtlCol="0" anchor="ctr"/>
          <a:lstStyle/>
          <a:p/>
        </p:txBody>
      </p:sp>
      <p:sp>
        <p:nvSpPr>
          <p:cNvPr id="12" name="Oval 11"/>
          <p:cNvSpPr/>
          <p:nvPr/>
        </p:nvSpPr>
        <p:spPr>
          <a:xfrm>
            <a:off x="4871646" y="1325017"/>
            <a:ext cx="329184" cy="329184"/>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600" b="1" i="0">
                <a:solidFill>
                  <a:srgbClr val="FFFFFF"/>
                </a:solidFill>
                <a:latin typeface="Calibri"/>
              </a:rPr>
              <a:t>3</a:t>
            </a:r>
          </a:p>
        </p:txBody>
      </p:sp>
      <p:sp>
        <p:nvSpPr>
          <p:cNvPr id="13" name="Oval 12"/>
          <p:cNvSpPr/>
          <p:nvPr/>
        </p:nvSpPr>
        <p:spPr>
          <a:xfrm>
            <a:off x="6162574" y="1996188"/>
            <a:ext cx="532939" cy="525262"/>
          </a:xfrm>
          <a:prstGeom prst="ellipse">
            <a:avLst/>
          </a:prstGeom>
          <a:noFill/>
          <a:ln w="38100">
            <a:solidFill>
              <a:srgbClr val="2E7D32"/>
            </a:solidFill>
          </a:ln>
          <a:effectLst/>
        </p:spPr>
        <p:txBody>
          <a:bodyPr rtlCol="0" anchor="ctr"/>
          <a:lstStyle/>
          <a:p/>
        </p:txBody>
      </p:sp>
      <p:sp>
        <p:nvSpPr>
          <p:cNvPr id="14" name="Oval 13"/>
          <p:cNvSpPr/>
          <p:nvPr/>
        </p:nvSpPr>
        <p:spPr>
          <a:xfrm>
            <a:off x="6264451" y="1648716"/>
            <a:ext cx="329184" cy="329184"/>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600" b="1" i="0">
                <a:solidFill>
                  <a:srgbClr val="FFFFFF"/>
                </a:solidFill>
                <a:latin typeface="Calibri"/>
              </a:rPr>
              <a:t>4</a:t>
            </a:r>
          </a:p>
        </p:txBody>
      </p:sp>
      <p:sp>
        <p:nvSpPr>
          <p:cNvPr id="15" name="TextBox 14"/>
          <p:cNvSpPr txBox="1"/>
          <p:nvPr/>
        </p:nvSpPr>
        <p:spPr>
          <a:xfrm>
            <a:off x="502920" y="4482592"/>
            <a:ext cx="2514600" cy="347472"/>
          </a:xfrm>
          <a:prstGeom prst="rect">
            <a:avLst/>
          </a:prstGeom>
          <a:noFill/>
        </p:spPr>
        <p:txBody>
          <a:bodyPr wrap="square" anchor="ctr" lIns="73152" rIns="73152" tIns="36576" bIns="36576">
            <a:noAutofit/>
          </a:bodyPr>
          <a:lstStyle/>
          <a:p>
            <a:pPr algn="l">
              <a:spcBef>
                <a:spcPts val="0"/>
              </a:spcBef>
              <a:spcAft>
                <a:spcPts val="0"/>
              </a:spcAft>
            </a:pPr>
            <a:r>
              <a:rPr lang="tr-TR" sz="1500" b="1" i="0">
                <a:solidFill>
                  <a:srgbClr val="767676"/>
                </a:solidFill>
                <a:latin typeface="Calibri"/>
              </a:rPr>
              <a:t>Başlıca Sanayi Bölgeleri:</a:t>
            </a:r>
          </a:p>
        </p:txBody>
      </p:sp>
      <p:sp>
        <p:nvSpPr>
          <p:cNvPr id="16" name="Oval 15"/>
          <p:cNvSpPr/>
          <p:nvPr/>
        </p:nvSpPr>
        <p:spPr>
          <a:xfrm>
            <a:off x="3063240" y="4555744"/>
            <a:ext cx="384048" cy="201168"/>
          </a:xfrm>
          <a:prstGeom prst="ellipse">
            <a:avLst/>
          </a:prstGeom>
          <a:solidFill>
            <a:srgbClr val="F57D2E"/>
          </a:solidFill>
          <a:ln>
            <a:noFill/>
          </a:ln>
          <a:effectLst/>
        </p:spPr>
        <p:txBody>
          <a:bodyPr rtlCol="0" anchor="ctr"/>
          <a:lstStyle/>
          <a:p/>
        </p:txBody>
      </p:sp>
      <p:sp>
        <p:nvSpPr>
          <p:cNvPr id="17" name="TextBox 16"/>
          <p:cNvSpPr txBox="1"/>
          <p:nvPr/>
        </p:nvSpPr>
        <p:spPr>
          <a:xfrm>
            <a:off x="3502152" y="4482592"/>
            <a:ext cx="1097280" cy="347472"/>
          </a:xfrm>
          <a:prstGeom prst="rect">
            <a:avLst/>
          </a:prstGeom>
          <a:noFill/>
        </p:spPr>
        <p:txBody>
          <a:bodyPr wrap="square" anchor="ctr" lIns="73152" rIns="73152" tIns="36576" bIns="36576">
            <a:noAutofit/>
          </a:bodyPr>
          <a:lstStyle/>
          <a:p>
            <a:pPr algn="l">
              <a:spcBef>
                <a:spcPts val="0"/>
              </a:spcBef>
              <a:spcAft>
                <a:spcPts val="0"/>
              </a:spcAft>
            </a:pPr>
            <a:r>
              <a:rPr lang="tr-TR" sz="1500" b="0" i="0">
                <a:solidFill>
                  <a:srgbClr val="262626"/>
                </a:solidFill>
                <a:latin typeface="Calibri"/>
              </a:rPr>
              <a:t>Birincil</a:t>
            </a:r>
          </a:p>
        </p:txBody>
      </p:sp>
      <p:sp>
        <p:nvSpPr>
          <p:cNvPr id="18" name="Oval 17"/>
          <p:cNvSpPr/>
          <p:nvPr/>
        </p:nvSpPr>
        <p:spPr>
          <a:xfrm>
            <a:off x="4663440" y="4564888"/>
            <a:ext cx="182880" cy="182880"/>
          </a:xfrm>
          <a:prstGeom prst="ellipse">
            <a:avLst/>
          </a:prstGeom>
          <a:solidFill>
            <a:srgbClr val="6E6E6E"/>
          </a:solidFill>
          <a:ln>
            <a:noFill/>
          </a:ln>
          <a:effectLst/>
        </p:spPr>
        <p:txBody>
          <a:bodyPr rtlCol="0" anchor="ctr"/>
          <a:lstStyle/>
          <a:p/>
        </p:txBody>
      </p:sp>
      <p:sp>
        <p:nvSpPr>
          <p:cNvPr id="19" name="TextBox 18"/>
          <p:cNvSpPr txBox="1"/>
          <p:nvPr/>
        </p:nvSpPr>
        <p:spPr>
          <a:xfrm>
            <a:off x="4910328" y="4482592"/>
            <a:ext cx="914400" cy="347472"/>
          </a:xfrm>
          <a:prstGeom prst="rect">
            <a:avLst/>
          </a:prstGeom>
          <a:noFill/>
        </p:spPr>
        <p:txBody>
          <a:bodyPr wrap="square" anchor="ctr" lIns="73152" rIns="73152" tIns="36576" bIns="36576">
            <a:noAutofit/>
          </a:bodyPr>
          <a:lstStyle/>
          <a:p>
            <a:pPr algn="l">
              <a:spcBef>
                <a:spcPts val="0"/>
              </a:spcBef>
              <a:spcAft>
                <a:spcPts val="0"/>
              </a:spcAft>
            </a:pPr>
            <a:r>
              <a:rPr lang="tr-TR" sz="1500" b="0" i="0">
                <a:solidFill>
                  <a:srgbClr val="262626"/>
                </a:solidFill>
                <a:latin typeface="Calibri"/>
              </a:rPr>
              <a:t>Diğer</a:t>
            </a:r>
          </a:p>
        </p:txBody>
      </p:sp>
      <p:sp>
        <p:nvSpPr>
          <p:cNvPr id="20" name="TextBox 19"/>
          <p:cNvSpPr txBox="1"/>
          <p:nvPr/>
        </p:nvSpPr>
        <p:spPr>
          <a:xfrm>
            <a:off x="5715000" y="4482592"/>
            <a:ext cx="2194560" cy="347472"/>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OECD 2023 · Ders kitabı s. 179</a:t>
            </a:r>
          </a:p>
        </p:txBody>
      </p:sp>
      <p:sp>
        <p:nvSpPr>
          <p:cNvPr id="21" name="Rounded Rectangle 20"/>
          <p:cNvSpPr/>
          <p:nvPr/>
        </p:nvSpPr>
        <p:spPr>
          <a:xfrm>
            <a:off x="502920" y="4921504"/>
            <a:ext cx="7406640" cy="1369568"/>
          </a:xfrm>
          <a:prstGeom prst="roundRect">
            <a:avLst>
              <a:gd name="adj" fmla="val 8000"/>
            </a:avLst>
          </a:prstGeom>
          <a:solidFill>
            <a:srgbClr val="E3F1E4"/>
          </a:solidFill>
          <a:ln w="12700">
            <a:solidFill>
              <a:srgbClr val="2E7D32"/>
            </a:solidFill>
          </a:ln>
          <a:effectLst/>
        </p:spPr>
        <p:txBody>
          <a:bodyPr rtlCol="0" anchor="ctr" wrap="square" lIns="182880" rIns="182880" tIns="73152" bIns="73152">
            <a:noAutofit/>
          </a:bodyPr>
          <a:lstStyle/>
          <a:p>
            <a:pPr algn="l">
              <a:spcBef>
                <a:spcPts val="0"/>
              </a:spcBef>
              <a:spcAft>
                <a:spcPts val="0"/>
              </a:spcAft>
            </a:pPr>
            <a:r>
              <a:rPr lang="tr-TR" sz="1800" b="1" i="0">
                <a:solidFill>
                  <a:srgbClr val="262626"/>
                </a:solidFill>
                <a:latin typeface="Calibri"/>
              </a:rPr>
              <a:t>Birincil:</a:t>
            </a:r>
            <a:r>
              <a:rPr lang="tr-TR" sz="1800" b="0" i="0">
                <a:solidFill>
                  <a:srgbClr val="262626"/>
                </a:solidFill>
                <a:latin typeface="Calibri"/>
              </a:rPr>
              <a:t> ABD'nin kuzeydoğusu · Batı Avrupa · Rusya'nın Avrupa kesimi · Doğu Asya (Çin'in doğusu). Japonya ve diğer yerler gri noktayla “diğer” sanayi bölgesidir.</a:t>
            </a:r>
          </a:p>
        </p:txBody>
      </p:sp>
      <p:sp>
        <p:nvSpPr>
          <p:cNvPr id="22" name="Rounded Rectangle 21"/>
          <p:cNvSpPr/>
          <p:nvPr/>
        </p:nvSpPr>
        <p:spPr>
          <a:xfrm>
            <a:off x="8138160" y="1216152"/>
            <a:ext cx="3550615" cy="914400"/>
          </a:xfrm>
          <a:prstGeom prst="roundRect">
            <a:avLst>
              <a:gd name="adj" fmla="val 8000"/>
            </a:avLst>
          </a:prstGeom>
          <a:solidFill>
            <a:srgbClr val="F0F0F0"/>
          </a:solidFill>
          <a:ln>
            <a:noFill/>
          </a:ln>
          <a:effectLst/>
        </p:spPr>
        <p:txBody>
          <a:bodyPr rtlCol="0" anchor="ctr" wrap="square" lIns="128016" rIns="128016" tIns="73152" bIns="73152">
            <a:noAutofit/>
          </a:bodyPr>
          <a:lstStyle/>
          <a:p>
            <a:pPr algn="l">
              <a:spcBef>
                <a:spcPts val="0"/>
              </a:spcBef>
              <a:spcAft>
                <a:spcPts val="0"/>
              </a:spcAft>
            </a:pPr>
            <a:r>
              <a:rPr lang="tr-TR" sz="2000" b="1" i="0">
                <a:solidFill>
                  <a:srgbClr val="262626"/>
                </a:solidFill>
                <a:latin typeface="Calibri"/>
              </a:rPr>
              <a:t>Birincil sanayi bölgeleri:</a:t>
            </a:r>
          </a:p>
        </p:txBody>
      </p:sp>
      <p:sp>
        <p:nvSpPr>
          <p:cNvPr id="23" name="Rounded Rectangle 22"/>
          <p:cNvSpPr/>
          <p:nvPr/>
        </p:nvSpPr>
        <p:spPr>
          <a:xfrm>
            <a:off x="8138160" y="2249424"/>
            <a:ext cx="3550615" cy="502920"/>
          </a:xfrm>
          <a:prstGeom prst="roundRect">
            <a:avLst>
              <a:gd name="adj" fmla="val 30000"/>
            </a:avLst>
          </a:prstGeom>
          <a:solidFill>
            <a:srgbClr val="E3F1E4"/>
          </a:solidFill>
          <a:ln w="19050">
            <a:solidFill>
              <a:srgbClr val="2E7D32"/>
            </a:solidFill>
          </a:ln>
          <a:effectLst/>
        </p:spPr>
        <p:txBody>
          <a:bodyPr rtlCol="0" anchor="ctr"/>
          <a:lstStyle/>
          <a:p/>
        </p:txBody>
      </p:sp>
      <p:sp>
        <p:nvSpPr>
          <p:cNvPr id="24" name="Oval 23"/>
          <p:cNvSpPr/>
          <p:nvPr/>
        </p:nvSpPr>
        <p:spPr>
          <a:xfrm>
            <a:off x="8211312" y="2308860"/>
            <a:ext cx="384048" cy="384048"/>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600" b="1" i="0">
                <a:solidFill>
                  <a:srgbClr val="FFFFFF"/>
                </a:solidFill>
                <a:latin typeface="Calibri"/>
              </a:rPr>
              <a:t>✓</a:t>
            </a:r>
          </a:p>
        </p:txBody>
      </p:sp>
      <p:sp>
        <p:nvSpPr>
          <p:cNvPr id="25" name="TextBox 24"/>
          <p:cNvSpPr txBox="1"/>
          <p:nvPr/>
        </p:nvSpPr>
        <p:spPr>
          <a:xfrm>
            <a:off x="8668512" y="2249424"/>
            <a:ext cx="2489911" cy="502920"/>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262626"/>
                </a:solidFill>
                <a:latin typeface="Calibri"/>
              </a:rPr>
              <a:t>ABD'nin kuzeydoğusu</a:t>
            </a:r>
          </a:p>
        </p:txBody>
      </p:sp>
      <p:sp>
        <p:nvSpPr>
          <p:cNvPr id="26" name="Oval 25"/>
          <p:cNvSpPr/>
          <p:nvPr/>
        </p:nvSpPr>
        <p:spPr>
          <a:xfrm>
            <a:off x="11268151" y="2336292"/>
            <a:ext cx="329184" cy="329184"/>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1</a:t>
            </a:r>
          </a:p>
        </p:txBody>
      </p:sp>
      <p:sp>
        <p:nvSpPr>
          <p:cNvPr id="27" name="Rounded Rectangle 26"/>
          <p:cNvSpPr/>
          <p:nvPr/>
        </p:nvSpPr>
        <p:spPr>
          <a:xfrm>
            <a:off x="8138160" y="2816352"/>
            <a:ext cx="3550615" cy="502920"/>
          </a:xfrm>
          <a:prstGeom prst="roundRect">
            <a:avLst>
              <a:gd name="adj" fmla="val 30000"/>
            </a:avLst>
          </a:prstGeom>
          <a:solidFill>
            <a:srgbClr val="F9E1E1"/>
          </a:solidFill>
          <a:ln w="19050">
            <a:solidFill>
              <a:srgbClr val="D3373A"/>
            </a:solidFill>
          </a:ln>
          <a:effectLst/>
        </p:spPr>
        <p:txBody>
          <a:bodyPr rtlCol="0" anchor="ctr"/>
          <a:lstStyle/>
          <a:p/>
        </p:txBody>
      </p:sp>
      <p:sp>
        <p:nvSpPr>
          <p:cNvPr id="28" name="Oval 27"/>
          <p:cNvSpPr/>
          <p:nvPr/>
        </p:nvSpPr>
        <p:spPr>
          <a:xfrm>
            <a:off x="8211312" y="2875788"/>
            <a:ext cx="384048" cy="384048"/>
          </a:xfrm>
          <a:prstGeom prst="ellipse">
            <a:avLst/>
          </a:prstGeom>
          <a:solidFill>
            <a:srgbClr val="D3373A"/>
          </a:solidFill>
          <a:ln>
            <a:noFill/>
          </a:ln>
          <a:effectLst/>
        </p:spPr>
        <p:txBody>
          <a:bodyPr rtlCol="0" anchor="ctr" wrap="none" lIns="0" rIns="0" tIns="0" bIns="0">
            <a:noAutofit/>
          </a:bodyPr>
          <a:lstStyle/>
          <a:p>
            <a:pPr algn="ctr">
              <a:spcBef>
                <a:spcPts val="0"/>
              </a:spcBef>
              <a:spcAft>
                <a:spcPts val="0"/>
              </a:spcAft>
            </a:pPr>
            <a:r>
              <a:rPr lang="tr-TR" sz="1600" b="1" i="0">
                <a:solidFill>
                  <a:srgbClr val="FFFFFF"/>
                </a:solidFill>
                <a:latin typeface="Calibri"/>
              </a:rPr>
              <a:t>✗</a:t>
            </a:r>
          </a:p>
        </p:txBody>
      </p:sp>
      <p:sp>
        <p:nvSpPr>
          <p:cNvPr id="29" name="TextBox 28"/>
          <p:cNvSpPr txBox="1"/>
          <p:nvPr/>
        </p:nvSpPr>
        <p:spPr>
          <a:xfrm>
            <a:off x="8668512" y="2816352"/>
            <a:ext cx="2947111" cy="502920"/>
          </a:xfrm>
          <a:prstGeom prst="rect">
            <a:avLst/>
          </a:prstGeom>
          <a:noFill/>
        </p:spPr>
        <p:txBody>
          <a:bodyPr wrap="square" anchor="ctr" lIns="73152" rIns="73152" tIns="36576" bIns="36576">
            <a:noAutofit/>
          </a:bodyPr>
          <a:lstStyle/>
          <a:p>
            <a:pPr algn="l">
              <a:spcBef>
                <a:spcPts val="0"/>
              </a:spcBef>
              <a:spcAft>
                <a:spcPts val="0"/>
              </a:spcAft>
            </a:pPr>
            <a:r>
              <a:rPr lang="tr-TR" sz="1900" b="0" i="0">
                <a:solidFill>
                  <a:srgbClr val="262626"/>
                </a:solidFill>
                <a:latin typeface="Calibri"/>
              </a:rPr>
              <a:t>Orta Asya</a:t>
            </a:r>
          </a:p>
        </p:txBody>
      </p:sp>
      <p:sp>
        <p:nvSpPr>
          <p:cNvPr id="30" name="Rounded Rectangle 29"/>
          <p:cNvSpPr/>
          <p:nvPr/>
        </p:nvSpPr>
        <p:spPr>
          <a:xfrm>
            <a:off x="8138160" y="3383280"/>
            <a:ext cx="3550615" cy="502920"/>
          </a:xfrm>
          <a:prstGeom prst="roundRect">
            <a:avLst>
              <a:gd name="adj" fmla="val 30000"/>
            </a:avLst>
          </a:prstGeom>
          <a:solidFill>
            <a:srgbClr val="E3F1E4"/>
          </a:solidFill>
          <a:ln w="19050">
            <a:solidFill>
              <a:srgbClr val="2E7D32"/>
            </a:solidFill>
          </a:ln>
          <a:effectLst/>
        </p:spPr>
        <p:txBody>
          <a:bodyPr rtlCol="0" anchor="ctr"/>
          <a:lstStyle/>
          <a:p/>
        </p:txBody>
      </p:sp>
      <p:sp>
        <p:nvSpPr>
          <p:cNvPr id="31" name="Oval 30"/>
          <p:cNvSpPr/>
          <p:nvPr/>
        </p:nvSpPr>
        <p:spPr>
          <a:xfrm>
            <a:off x="8211312" y="3442716"/>
            <a:ext cx="384048" cy="384048"/>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600" b="1" i="0">
                <a:solidFill>
                  <a:srgbClr val="FFFFFF"/>
                </a:solidFill>
                <a:latin typeface="Calibri"/>
              </a:rPr>
              <a:t>✓</a:t>
            </a:r>
          </a:p>
        </p:txBody>
      </p:sp>
      <p:sp>
        <p:nvSpPr>
          <p:cNvPr id="32" name="TextBox 31"/>
          <p:cNvSpPr txBox="1"/>
          <p:nvPr/>
        </p:nvSpPr>
        <p:spPr>
          <a:xfrm>
            <a:off x="8668512" y="3383280"/>
            <a:ext cx="2489911" cy="502920"/>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262626"/>
                </a:solidFill>
                <a:latin typeface="Calibri"/>
              </a:rPr>
              <a:t>Batı Avrupa</a:t>
            </a:r>
          </a:p>
        </p:txBody>
      </p:sp>
      <p:sp>
        <p:nvSpPr>
          <p:cNvPr id="33" name="Oval 32"/>
          <p:cNvSpPr/>
          <p:nvPr/>
        </p:nvSpPr>
        <p:spPr>
          <a:xfrm>
            <a:off x="11268151" y="3470148"/>
            <a:ext cx="329184" cy="329184"/>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2</a:t>
            </a:r>
          </a:p>
        </p:txBody>
      </p:sp>
      <p:sp>
        <p:nvSpPr>
          <p:cNvPr id="34" name="Rounded Rectangle 33"/>
          <p:cNvSpPr/>
          <p:nvPr/>
        </p:nvSpPr>
        <p:spPr>
          <a:xfrm>
            <a:off x="8138160" y="3950208"/>
            <a:ext cx="3550615" cy="502920"/>
          </a:xfrm>
          <a:prstGeom prst="roundRect">
            <a:avLst>
              <a:gd name="adj" fmla="val 30000"/>
            </a:avLst>
          </a:prstGeom>
          <a:solidFill>
            <a:srgbClr val="F9E1E1"/>
          </a:solidFill>
          <a:ln w="19050">
            <a:solidFill>
              <a:srgbClr val="D3373A"/>
            </a:solidFill>
          </a:ln>
          <a:effectLst/>
        </p:spPr>
        <p:txBody>
          <a:bodyPr rtlCol="0" anchor="ctr"/>
          <a:lstStyle/>
          <a:p/>
        </p:txBody>
      </p:sp>
      <p:sp>
        <p:nvSpPr>
          <p:cNvPr id="35" name="Oval 34"/>
          <p:cNvSpPr/>
          <p:nvPr/>
        </p:nvSpPr>
        <p:spPr>
          <a:xfrm>
            <a:off x="8211312" y="4009644"/>
            <a:ext cx="384048" cy="384048"/>
          </a:xfrm>
          <a:prstGeom prst="ellipse">
            <a:avLst/>
          </a:prstGeom>
          <a:solidFill>
            <a:srgbClr val="D3373A"/>
          </a:solidFill>
          <a:ln>
            <a:noFill/>
          </a:ln>
          <a:effectLst/>
        </p:spPr>
        <p:txBody>
          <a:bodyPr rtlCol="0" anchor="ctr" wrap="none" lIns="0" rIns="0" tIns="0" bIns="0">
            <a:noAutofit/>
          </a:bodyPr>
          <a:lstStyle/>
          <a:p>
            <a:pPr algn="ctr">
              <a:spcBef>
                <a:spcPts val="0"/>
              </a:spcBef>
              <a:spcAft>
                <a:spcPts val="0"/>
              </a:spcAft>
            </a:pPr>
            <a:r>
              <a:rPr lang="tr-TR" sz="1600" b="1" i="0">
                <a:solidFill>
                  <a:srgbClr val="FFFFFF"/>
                </a:solidFill>
                <a:latin typeface="Calibri"/>
              </a:rPr>
              <a:t>✗</a:t>
            </a:r>
          </a:p>
        </p:txBody>
      </p:sp>
      <p:sp>
        <p:nvSpPr>
          <p:cNvPr id="36" name="TextBox 35"/>
          <p:cNvSpPr txBox="1"/>
          <p:nvPr/>
        </p:nvSpPr>
        <p:spPr>
          <a:xfrm>
            <a:off x="8668512" y="3950208"/>
            <a:ext cx="2947111" cy="502920"/>
          </a:xfrm>
          <a:prstGeom prst="rect">
            <a:avLst/>
          </a:prstGeom>
          <a:noFill/>
        </p:spPr>
        <p:txBody>
          <a:bodyPr wrap="square" anchor="ctr" lIns="73152" rIns="73152" tIns="36576" bIns="36576">
            <a:noAutofit/>
          </a:bodyPr>
          <a:lstStyle/>
          <a:p>
            <a:pPr algn="l">
              <a:spcBef>
                <a:spcPts val="0"/>
              </a:spcBef>
              <a:spcAft>
                <a:spcPts val="0"/>
              </a:spcAft>
            </a:pPr>
            <a:r>
              <a:rPr lang="tr-TR" sz="1900" b="0" i="0">
                <a:solidFill>
                  <a:srgbClr val="262626"/>
                </a:solidFill>
                <a:latin typeface="Calibri"/>
              </a:rPr>
              <a:t>Okyanusya</a:t>
            </a:r>
          </a:p>
        </p:txBody>
      </p:sp>
      <p:sp>
        <p:nvSpPr>
          <p:cNvPr id="37" name="Rounded Rectangle 36"/>
          <p:cNvSpPr/>
          <p:nvPr/>
        </p:nvSpPr>
        <p:spPr>
          <a:xfrm>
            <a:off x="8138160" y="4517136"/>
            <a:ext cx="3550615" cy="502920"/>
          </a:xfrm>
          <a:prstGeom prst="roundRect">
            <a:avLst>
              <a:gd name="adj" fmla="val 30000"/>
            </a:avLst>
          </a:prstGeom>
          <a:solidFill>
            <a:srgbClr val="E3F1E4"/>
          </a:solidFill>
          <a:ln w="19050">
            <a:solidFill>
              <a:srgbClr val="2E7D32"/>
            </a:solidFill>
          </a:ln>
          <a:effectLst/>
        </p:spPr>
        <p:txBody>
          <a:bodyPr rtlCol="0" anchor="ctr"/>
          <a:lstStyle/>
          <a:p/>
        </p:txBody>
      </p:sp>
      <p:sp>
        <p:nvSpPr>
          <p:cNvPr id="38" name="Oval 37"/>
          <p:cNvSpPr/>
          <p:nvPr/>
        </p:nvSpPr>
        <p:spPr>
          <a:xfrm>
            <a:off x="8211312" y="4576572"/>
            <a:ext cx="384048" cy="384048"/>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600" b="1" i="0">
                <a:solidFill>
                  <a:srgbClr val="FFFFFF"/>
                </a:solidFill>
                <a:latin typeface="Calibri"/>
              </a:rPr>
              <a:t>✓</a:t>
            </a:r>
          </a:p>
        </p:txBody>
      </p:sp>
      <p:sp>
        <p:nvSpPr>
          <p:cNvPr id="39" name="TextBox 38"/>
          <p:cNvSpPr txBox="1"/>
          <p:nvPr/>
        </p:nvSpPr>
        <p:spPr>
          <a:xfrm>
            <a:off x="8668512" y="4517136"/>
            <a:ext cx="2489911" cy="502920"/>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262626"/>
                </a:solidFill>
                <a:latin typeface="Calibri"/>
              </a:rPr>
              <a:t>Rusya (Avrupa kesimi)</a:t>
            </a:r>
          </a:p>
        </p:txBody>
      </p:sp>
      <p:sp>
        <p:nvSpPr>
          <p:cNvPr id="40" name="Oval 39"/>
          <p:cNvSpPr/>
          <p:nvPr/>
        </p:nvSpPr>
        <p:spPr>
          <a:xfrm>
            <a:off x="11268151" y="4604004"/>
            <a:ext cx="329184" cy="329184"/>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3</a:t>
            </a:r>
          </a:p>
        </p:txBody>
      </p:sp>
      <p:sp>
        <p:nvSpPr>
          <p:cNvPr id="41" name="Rounded Rectangle 40"/>
          <p:cNvSpPr/>
          <p:nvPr/>
        </p:nvSpPr>
        <p:spPr>
          <a:xfrm>
            <a:off x="8138160" y="5084064"/>
            <a:ext cx="3550615" cy="502920"/>
          </a:xfrm>
          <a:prstGeom prst="roundRect">
            <a:avLst>
              <a:gd name="adj" fmla="val 30000"/>
            </a:avLst>
          </a:prstGeom>
          <a:solidFill>
            <a:srgbClr val="F9E1E1"/>
          </a:solidFill>
          <a:ln w="19050">
            <a:solidFill>
              <a:srgbClr val="D3373A"/>
            </a:solidFill>
          </a:ln>
          <a:effectLst/>
        </p:spPr>
        <p:txBody>
          <a:bodyPr rtlCol="0" anchor="ctr"/>
          <a:lstStyle/>
          <a:p/>
        </p:txBody>
      </p:sp>
      <p:sp>
        <p:nvSpPr>
          <p:cNvPr id="42" name="Oval 41"/>
          <p:cNvSpPr/>
          <p:nvPr/>
        </p:nvSpPr>
        <p:spPr>
          <a:xfrm>
            <a:off x="8211312" y="5143500"/>
            <a:ext cx="384048" cy="384048"/>
          </a:xfrm>
          <a:prstGeom prst="ellipse">
            <a:avLst/>
          </a:prstGeom>
          <a:solidFill>
            <a:srgbClr val="D3373A"/>
          </a:solidFill>
          <a:ln>
            <a:noFill/>
          </a:ln>
          <a:effectLst/>
        </p:spPr>
        <p:txBody>
          <a:bodyPr rtlCol="0" anchor="ctr" wrap="none" lIns="0" rIns="0" tIns="0" bIns="0">
            <a:noAutofit/>
          </a:bodyPr>
          <a:lstStyle/>
          <a:p>
            <a:pPr algn="ctr">
              <a:spcBef>
                <a:spcPts val="0"/>
              </a:spcBef>
              <a:spcAft>
                <a:spcPts val="0"/>
              </a:spcAft>
            </a:pPr>
            <a:r>
              <a:rPr lang="tr-TR" sz="1600" b="1" i="0">
                <a:solidFill>
                  <a:srgbClr val="FFFFFF"/>
                </a:solidFill>
                <a:latin typeface="Calibri"/>
              </a:rPr>
              <a:t>✗</a:t>
            </a:r>
          </a:p>
        </p:txBody>
      </p:sp>
      <p:sp>
        <p:nvSpPr>
          <p:cNvPr id="43" name="TextBox 42"/>
          <p:cNvSpPr txBox="1"/>
          <p:nvPr/>
        </p:nvSpPr>
        <p:spPr>
          <a:xfrm>
            <a:off x="8668512" y="5084064"/>
            <a:ext cx="2947111" cy="502920"/>
          </a:xfrm>
          <a:prstGeom prst="rect">
            <a:avLst/>
          </a:prstGeom>
          <a:noFill/>
        </p:spPr>
        <p:txBody>
          <a:bodyPr wrap="square" anchor="ctr" lIns="73152" rIns="73152" tIns="36576" bIns="36576">
            <a:noAutofit/>
          </a:bodyPr>
          <a:lstStyle/>
          <a:p>
            <a:pPr algn="l">
              <a:spcBef>
                <a:spcPts val="0"/>
              </a:spcBef>
              <a:spcAft>
                <a:spcPts val="0"/>
              </a:spcAft>
            </a:pPr>
            <a:r>
              <a:rPr lang="tr-TR" sz="1900" b="0" i="0">
                <a:solidFill>
                  <a:srgbClr val="262626"/>
                </a:solidFill>
                <a:latin typeface="Calibri"/>
              </a:rPr>
              <a:t>Kuzey Afrika</a:t>
            </a:r>
          </a:p>
        </p:txBody>
      </p:sp>
      <p:sp>
        <p:nvSpPr>
          <p:cNvPr id="44" name="Rounded Rectangle 43"/>
          <p:cNvSpPr/>
          <p:nvPr/>
        </p:nvSpPr>
        <p:spPr>
          <a:xfrm>
            <a:off x="8138160" y="5650992"/>
            <a:ext cx="3550615" cy="502920"/>
          </a:xfrm>
          <a:prstGeom prst="roundRect">
            <a:avLst>
              <a:gd name="adj" fmla="val 30000"/>
            </a:avLst>
          </a:prstGeom>
          <a:solidFill>
            <a:srgbClr val="E3F1E4"/>
          </a:solidFill>
          <a:ln w="19050">
            <a:solidFill>
              <a:srgbClr val="2E7D32"/>
            </a:solidFill>
          </a:ln>
          <a:effectLst/>
        </p:spPr>
        <p:txBody>
          <a:bodyPr rtlCol="0" anchor="ctr"/>
          <a:lstStyle/>
          <a:p/>
        </p:txBody>
      </p:sp>
      <p:sp>
        <p:nvSpPr>
          <p:cNvPr id="45" name="Oval 44"/>
          <p:cNvSpPr/>
          <p:nvPr/>
        </p:nvSpPr>
        <p:spPr>
          <a:xfrm>
            <a:off x="8211312" y="5710428"/>
            <a:ext cx="384048" cy="384048"/>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600" b="1" i="0">
                <a:solidFill>
                  <a:srgbClr val="FFFFFF"/>
                </a:solidFill>
                <a:latin typeface="Calibri"/>
              </a:rPr>
              <a:t>✓</a:t>
            </a:r>
          </a:p>
        </p:txBody>
      </p:sp>
      <p:sp>
        <p:nvSpPr>
          <p:cNvPr id="46" name="TextBox 45"/>
          <p:cNvSpPr txBox="1"/>
          <p:nvPr/>
        </p:nvSpPr>
        <p:spPr>
          <a:xfrm>
            <a:off x="8668512" y="5650992"/>
            <a:ext cx="2489911" cy="502920"/>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262626"/>
                </a:solidFill>
                <a:latin typeface="Calibri"/>
              </a:rPr>
              <a:t>Doğu Asya</a:t>
            </a:r>
          </a:p>
        </p:txBody>
      </p:sp>
      <p:sp>
        <p:nvSpPr>
          <p:cNvPr id="47" name="Oval 46"/>
          <p:cNvSpPr/>
          <p:nvPr/>
        </p:nvSpPr>
        <p:spPr>
          <a:xfrm>
            <a:off x="11268151" y="5737860"/>
            <a:ext cx="329184" cy="329184"/>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4</a:t>
            </a:r>
          </a:p>
        </p:txBody>
      </p:sp>
      <p:sp>
        <p:nvSpPr>
          <p:cNvPr id="48" name="TextBox 47"/>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49" name="Rounded Rectangle 48"/>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179</a:t>
            </a:r>
          </a:p>
        </p:txBody>
      </p:sp>
      <p:sp>
        <p:nvSpPr>
          <p:cNvPr id="50" name="TextBox 49"/>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82 / 166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1. soru — örnek cevap: beşerî faktörler</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graphicFrame>
        <p:nvGraphicFramePr>
          <p:cNvPr id="6" name="Table 5"/>
          <p:cNvGraphicFramePr>
            <a:graphicFrameLocks noGrp="1"/>
          </p:cNvGraphicFramePr>
          <p:nvPr/>
        </p:nvGraphicFramePr>
        <p:xfrm>
          <a:off x="502920" y="1216152"/>
          <a:ext cx="11185855" cy="3968496"/>
        </p:xfrm>
        <a:graphic>
          <a:graphicData uri="http://schemas.openxmlformats.org/drawingml/2006/table">
            <a:tbl>
              <a:tblPr firstRow="1" bandRow="1">
                <a:tableStyleId>{5C22544A-7EE6-4342-B048-85BDC9FD1C3A}</a:tableStyleId>
              </a:tblPr>
              <a:tblGrid>
                <a:gridCol w="3108960"/>
                <a:gridCol w="8076895"/>
              </a:tblGrid>
              <a:tr h="603504">
                <a:tc>
                  <a:txBody>
                    <a:bodyPr wrap="square"/>
                    <a:lstStyle/>
                    <a:p>
                      <a:pPr algn="ctr">
                        <a:spcBef>
                          <a:spcPts val="0"/>
                        </a:spcBef>
                        <a:spcAft>
                          <a:spcPts val="0"/>
                        </a:spcAft>
                      </a:pPr>
                      <a:r>
                        <a:rPr lang="tr-TR" sz="1800" b="1" i="0">
                          <a:solidFill>
                            <a:srgbClr val="FFFFFF"/>
                          </a:solidFill>
                          <a:latin typeface="Calibri"/>
                        </a:rPr>
                        <a:t>Sanayi Faaliyetlerinin Yoğunlaştığı Yerler</a:t>
                      </a:r>
                    </a:p>
                  </a:txBody>
                  <a:tcPr marL="54864" marR="54864" marT="18288" marB="18288" anchor="ctr">
                    <a:solidFill>
                      <a:srgbClr val="2E7D32"/>
                    </a:solidFill>
                  </a:tcPr>
                </a:tc>
                <a:tc>
                  <a:txBody>
                    <a:bodyPr wrap="square"/>
                    <a:lstStyle/>
                    <a:p>
                      <a:pPr algn="ctr">
                        <a:spcBef>
                          <a:spcPts val="0"/>
                        </a:spcBef>
                        <a:spcAft>
                          <a:spcPts val="0"/>
                        </a:spcAft>
                      </a:pPr>
                      <a:r>
                        <a:rPr lang="tr-TR" sz="1800" b="1" i="0">
                          <a:solidFill>
                            <a:srgbClr val="FFFFFF"/>
                          </a:solidFill>
                          <a:latin typeface="Calibri"/>
                        </a:rPr>
                        <a:t>Sanayi Faaliyetlerini Etkileyen Beşerî Faktörler</a:t>
                      </a:r>
                    </a:p>
                  </a:txBody>
                  <a:tcPr marL="54864" marR="54864" marT="18288" marB="18288" anchor="ctr">
                    <a:solidFill>
                      <a:srgbClr val="2E7D32"/>
                    </a:solidFill>
                  </a:tcPr>
                </a:tc>
              </a:tr>
              <a:tr h="841248">
                <a:tc>
                  <a:txBody>
                    <a:bodyPr wrap="square"/>
                    <a:lstStyle/>
                    <a:p>
                      <a:pPr algn="l">
                        <a:spcBef>
                          <a:spcPts val="0"/>
                        </a:spcBef>
                        <a:spcAft>
                          <a:spcPts val="0"/>
                        </a:spcAft>
                      </a:pPr>
                      <a:r>
                        <a:rPr lang="tr-TR" sz="2000" b="1" i="0">
                          <a:solidFill>
                            <a:srgbClr val="262626"/>
                          </a:solidFill>
                          <a:latin typeface="Calibri"/>
                        </a:rPr>
                        <a:t>ABD'nin kuzeydoğusu</a:t>
                      </a:r>
                    </a:p>
                  </a:txBody>
                  <a:tcPr marL="54864" marR="54864" marT="18288" marB="18288" anchor="ctr">
                    <a:solidFill>
                      <a:srgbClr val="FFFFFF"/>
                    </a:solidFill>
                  </a:tcPr>
                </a:tc>
                <a:tc>
                  <a:txBody>
                    <a:bodyPr wrap="square"/>
                    <a:lstStyle/>
                    <a:p>
                      <a:pPr algn="l">
                        <a:spcBef>
                          <a:spcPts val="0"/>
                        </a:spcBef>
                        <a:spcAft>
                          <a:spcPts val="0"/>
                        </a:spcAft>
                      </a:pPr>
                      <a:r>
                        <a:rPr lang="tr-TR" sz="2000" b="0" i="0">
                          <a:solidFill>
                            <a:srgbClr val="262626"/>
                          </a:solidFill>
                          <a:latin typeface="Calibri"/>
                        </a:rPr>
                        <a:t>Sermaye ve ileri teknoloji · nitelikli iş gücü · Atlas Okyanusu kıyısındaki limanlar ve ulaşım ağı · büyük pazar</a:t>
                      </a:r>
                    </a:p>
                  </a:txBody>
                  <a:tcPr marL="54864" marR="54864" marT="18288" marB="18288" anchor="ctr">
                    <a:solidFill>
                      <a:srgbClr val="FFFFFF"/>
                    </a:solidFill>
                  </a:tcPr>
                </a:tc>
              </a:tr>
              <a:tr h="841248">
                <a:tc>
                  <a:txBody>
                    <a:bodyPr wrap="square"/>
                    <a:lstStyle/>
                    <a:p>
                      <a:pPr algn="l">
                        <a:spcBef>
                          <a:spcPts val="0"/>
                        </a:spcBef>
                        <a:spcAft>
                          <a:spcPts val="0"/>
                        </a:spcAft>
                      </a:pPr>
                      <a:r>
                        <a:rPr lang="tr-TR" sz="2000" b="1" i="0">
                          <a:solidFill>
                            <a:srgbClr val="262626"/>
                          </a:solidFill>
                          <a:latin typeface="Calibri"/>
                        </a:rPr>
                        <a:t>Batı Avrupa</a:t>
                      </a:r>
                    </a:p>
                  </a:txBody>
                  <a:tcPr marL="54864" marR="54864" marT="18288" marB="18288" anchor="ctr">
                    <a:solidFill>
                      <a:srgbClr val="E3F1E4"/>
                    </a:solidFill>
                  </a:tcPr>
                </a:tc>
                <a:tc>
                  <a:txBody>
                    <a:bodyPr wrap="square"/>
                    <a:lstStyle/>
                    <a:p>
                      <a:pPr algn="l">
                        <a:spcBef>
                          <a:spcPts val="0"/>
                        </a:spcBef>
                        <a:spcAft>
                          <a:spcPts val="0"/>
                        </a:spcAft>
                      </a:pPr>
                      <a:r>
                        <a:rPr lang="tr-TR" sz="2000" b="0" i="0">
                          <a:solidFill>
                            <a:srgbClr val="262626"/>
                          </a:solidFill>
                          <a:latin typeface="Calibri"/>
                        </a:rPr>
                        <a:t>Sermaye birikimi ve teknoloji · nitelikli iş gücü · büyük ve işlek limanlar (Harita 5.1) · kalabalık nüfus ve pazar</a:t>
                      </a:r>
                    </a:p>
                  </a:txBody>
                  <a:tcPr marL="54864" marR="54864" marT="18288" marB="18288" anchor="ctr">
                    <a:solidFill>
                      <a:srgbClr val="E3F1E4"/>
                    </a:solidFill>
                  </a:tcPr>
                </a:tc>
              </a:tr>
              <a:tr h="841248">
                <a:tc>
                  <a:txBody>
                    <a:bodyPr wrap="square"/>
                    <a:lstStyle/>
                    <a:p>
                      <a:pPr algn="l">
                        <a:spcBef>
                          <a:spcPts val="0"/>
                        </a:spcBef>
                        <a:spcAft>
                          <a:spcPts val="0"/>
                        </a:spcAft>
                      </a:pPr>
                      <a:r>
                        <a:rPr lang="tr-TR" sz="2000" b="1" i="0">
                          <a:solidFill>
                            <a:srgbClr val="262626"/>
                          </a:solidFill>
                          <a:latin typeface="Calibri"/>
                        </a:rPr>
                        <a:t>Rusya (Avrupa kesimi)</a:t>
                      </a:r>
                    </a:p>
                  </a:txBody>
                  <a:tcPr marL="54864" marR="54864" marT="18288" marB="18288" anchor="ctr">
                    <a:solidFill>
                      <a:srgbClr val="FFFFFF"/>
                    </a:solidFill>
                  </a:tcPr>
                </a:tc>
                <a:tc>
                  <a:txBody>
                    <a:bodyPr wrap="square"/>
                    <a:lstStyle/>
                    <a:p>
                      <a:pPr algn="l">
                        <a:spcBef>
                          <a:spcPts val="0"/>
                        </a:spcBef>
                        <a:spcAft>
                          <a:spcPts val="0"/>
                        </a:spcAft>
                      </a:pPr>
                      <a:r>
                        <a:rPr lang="tr-TR" sz="2000" b="0" i="0">
                          <a:solidFill>
                            <a:srgbClr val="262626"/>
                          </a:solidFill>
                          <a:latin typeface="Calibri"/>
                        </a:rPr>
                        <a:t>Sermaye · iş gücü · kalabalık nüfus ve pazar · ulaşım ağı</a:t>
                      </a:r>
                    </a:p>
                  </a:txBody>
                  <a:tcPr marL="54864" marR="54864" marT="18288" marB="18288" anchor="ctr">
                    <a:solidFill>
                      <a:srgbClr val="FFFFFF"/>
                    </a:solidFill>
                  </a:tcPr>
                </a:tc>
              </a:tr>
              <a:tr h="841248">
                <a:tc>
                  <a:txBody>
                    <a:bodyPr wrap="square"/>
                    <a:lstStyle/>
                    <a:p>
                      <a:pPr algn="l">
                        <a:spcBef>
                          <a:spcPts val="0"/>
                        </a:spcBef>
                        <a:spcAft>
                          <a:spcPts val="0"/>
                        </a:spcAft>
                      </a:pPr>
                      <a:r>
                        <a:rPr lang="tr-TR" sz="2000" b="1" i="0">
                          <a:solidFill>
                            <a:srgbClr val="262626"/>
                          </a:solidFill>
                          <a:latin typeface="Calibri"/>
                        </a:rPr>
                        <a:t>Doğu Asya</a:t>
                      </a:r>
                    </a:p>
                  </a:txBody>
                  <a:tcPr marL="54864" marR="54864" marT="18288" marB="18288" anchor="ctr">
                    <a:solidFill>
                      <a:srgbClr val="E3F1E4"/>
                    </a:solidFill>
                  </a:tcPr>
                </a:tc>
                <a:tc>
                  <a:txBody>
                    <a:bodyPr wrap="square"/>
                    <a:lstStyle/>
                    <a:p>
                      <a:pPr algn="l">
                        <a:spcBef>
                          <a:spcPts val="0"/>
                        </a:spcBef>
                        <a:spcAft>
                          <a:spcPts val="0"/>
                        </a:spcAft>
                      </a:pPr>
                      <a:r>
                        <a:rPr lang="tr-TR" sz="2000" b="0" i="0">
                          <a:solidFill>
                            <a:srgbClr val="262626"/>
                          </a:solidFill>
                          <a:latin typeface="Calibri"/>
                        </a:rPr>
                        <a:t>En büyük konteyner limanları (Harita 5.1) · geniş iş gücü · teknoloji ve sermaye · büyük pazar</a:t>
                      </a:r>
                    </a:p>
                  </a:txBody>
                  <a:tcPr marL="54864" marR="54864" marT="18288" marB="18288" anchor="ctr">
                    <a:solidFill>
                      <a:srgbClr val="E3F1E4"/>
                    </a:solidFill>
                  </a:tcPr>
                </a:tc>
              </a:tr>
            </a:tbl>
          </a:graphicData>
        </a:graphic>
      </p:graphicFrame>
      <p:sp>
        <p:nvSpPr>
          <p:cNvPr id="7" name="Rounded Rectangle 6"/>
          <p:cNvSpPr/>
          <p:nvPr/>
        </p:nvSpPr>
        <p:spPr>
          <a:xfrm>
            <a:off x="502920" y="5367528"/>
            <a:ext cx="11185855" cy="923544"/>
          </a:xfrm>
          <a:prstGeom prst="roundRect">
            <a:avLst>
              <a:gd name="adj" fmla="val 8000"/>
            </a:avLst>
          </a:prstGeom>
          <a:solidFill>
            <a:srgbClr val="E3F1E4"/>
          </a:solidFill>
          <a:ln w="19050">
            <a:solidFill>
              <a:srgbClr val="2E7D32"/>
            </a:solidFill>
          </a:ln>
          <a:effectLst/>
        </p:spPr>
        <p:txBody>
          <a:bodyPr rtlCol="0" anchor="ctr" wrap="square" lIns="201168" rIns="201168" tIns="73152" bIns="73152">
            <a:noAutofit/>
          </a:bodyPr>
          <a:lstStyle/>
          <a:p>
            <a:pPr algn="l">
              <a:spcBef>
                <a:spcPts val="0"/>
              </a:spcBef>
              <a:spcAft>
                <a:spcPts val="0"/>
              </a:spcAft>
            </a:pPr>
            <a:r>
              <a:rPr lang="tr-TR" sz="2000" b="1" i="0">
                <a:solidFill>
                  <a:srgbClr val="262626"/>
                </a:solidFill>
                <a:latin typeface="Calibri"/>
              </a:rPr>
              <a:t>Hepsinde ortak:</a:t>
            </a:r>
            <a:r>
              <a:rPr lang="tr-TR" sz="2000" b="0" i="0">
                <a:solidFill>
                  <a:srgbClr val="262626"/>
                </a:solidFill>
                <a:latin typeface="Calibri"/>
              </a:rPr>
              <a:t> sermaye · teknoloji · nitelikli iş gücü · ulaşım ve büyük limanlar · nüfus ve pazar · istikrarlı ekonomi politikaları</a:t>
            </a:r>
          </a:p>
        </p:txBody>
      </p:sp>
      <p:sp>
        <p:nvSpPr>
          <p:cNvPr id="8" name="TextBox 7"/>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9" name="Rounded Rectangle 8"/>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177-179</a:t>
            </a:r>
          </a:p>
        </p:txBody>
      </p:sp>
      <p:sp>
        <p:nvSpPr>
          <p:cNvPr id="10" name="TextBox 9"/>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83 / 166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2. soru: turizm neden buralarda yoğun?</a:t>
            </a:r>
          </a:p>
        </p:txBody>
      </p:sp>
      <p:sp>
        <p:nvSpPr>
          <p:cNvPr id="5" name="Rounded Rectangle 4"/>
          <p:cNvSpPr/>
          <p:nvPr/>
        </p:nvSpPr>
        <p:spPr>
          <a:xfrm>
            <a:off x="9555480" y="201168"/>
            <a:ext cx="2221992" cy="475488"/>
          </a:xfrm>
          <a:prstGeom prst="roundRect">
            <a:avLst>
              <a:gd name="adj" fmla="val 50000"/>
            </a:avLst>
          </a:prstGeom>
          <a:solidFill>
            <a:srgbClr val="B85C1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1-4. GRUPLAR</a:t>
            </a:r>
          </a:p>
        </p:txBody>
      </p:sp>
      <p:pic>
        <p:nvPicPr>
          <p:cNvPr id="6" name="Picture 5" descr="h29_eba_turizm.jpg"/>
          <p:cNvPicPr>
            <a:picLocks noChangeAspect="1"/>
          </p:cNvPicPr>
          <p:nvPr/>
        </p:nvPicPr>
        <p:blipFill>
          <a:blip r:embed="rId3"/>
          <a:stretch>
            <a:fillRect/>
          </a:stretch>
        </p:blipFill>
        <p:spPr>
          <a:xfrm>
            <a:off x="502920" y="1216152"/>
            <a:ext cx="7498079" cy="3886504"/>
          </a:xfrm>
          <a:prstGeom prst="rect">
            <a:avLst/>
          </a:prstGeom>
          <a:ln w="9525">
            <a:solidFill>
              <a:srgbClr val="D9D9D9"/>
            </a:solidFill>
          </a:ln>
        </p:spPr>
      </p:pic>
      <p:sp>
        <p:nvSpPr>
          <p:cNvPr id="7" name="TextBox 6"/>
          <p:cNvSpPr txBox="1"/>
          <p:nvPr/>
        </p:nvSpPr>
        <p:spPr>
          <a:xfrm>
            <a:off x="502920" y="5120944"/>
            <a:ext cx="7498079" cy="274320"/>
          </a:xfrm>
          <a:prstGeom prst="rect">
            <a:avLst/>
          </a:prstGeom>
          <a:noFill/>
        </p:spPr>
        <p:txBody>
          <a:bodyPr wrap="square" anchor="t" lIns="73152" rIns="73152" tIns="36576" bIns="36576">
            <a:noAutofit/>
          </a:bodyPr>
          <a:lstStyle/>
          <a:p>
            <a:pPr algn="r">
              <a:spcBef>
                <a:spcPts val="0"/>
              </a:spcBef>
              <a:spcAft>
                <a:spcPts val="0"/>
              </a:spcAft>
            </a:pPr>
            <a:r>
              <a:rPr lang="tr-TR" sz="1100" b="0" i="0">
                <a:solidFill>
                  <a:srgbClr val="767676"/>
                </a:solidFill>
                <a:latin typeface="Calibri"/>
              </a:rPr>
              <a:t>Kitabın karekod içeriği (EBA): Dünya Turizm Haritası (DTrÖ, 2025)</a:t>
            </a:r>
          </a:p>
        </p:txBody>
      </p:sp>
      <p:sp>
        <p:nvSpPr>
          <p:cNvPr id="8" name="Rounded Rectangle 7"/>
          <p:cNvSpPr/>
          <p:nvPr/>
        </p:nvSpPr>
        <p:spPr>
          <a:xfrm>
            <a:off x="502920" y="5468416"/>
            <a:ext cx="7498079" cy="822656"/>
          </a:xfrm>
          <a:prstGeom prst="roundRect">
            <a:avLst>
              <a:gd name="adj" fmla="val 8000"/>
            </a:avLst>
          </a:prstGeom>
          <a:solidFill>
            <a:srgbClr val="FFF3D1"/>
          </a:solidFill>
          <a:ln>
            <a:noFill/>
          </a:ln>
          <a:effectLst/>
        </p:spPr>
        <p:txBody>
          <a:bodyPr rtlCol="0" anchor="ctr" wrap="square" lIns="201168" rIns="201168" tIns="73152" bIns="73152">
            <a:noAutofit/>
          </a:bodyPr>
          <a:lstStyle/>
          <a:p>
            <a:pPr algn="l">
              <a:spcBef>
                <a:spcPts val="0"/>
              </a:spcBef>
              <a:spcAft>
                <a:spcPts val="0"/>
              </a:spcAft>
            </a:pPr>
            <a:r>
              <a:rPr lang="tr-TR" sz="1900" b="1" i="0">
                <a:solidFill>
                  <a:srgbClr val="262626"/>
                </a:solidFill>
                <a:latin typeface="Calibri"/>
              </a:rPr>
              <a:t>Önce:</a:t>
            </a:r>
            <a:r>
              <a:rPr lang="tr-TR" sz="1900" b="0" i="0">
                <a:solidFill>
                  <a:srgbClr val="262626"/>
                </a:solidFill>
                <a:latin typeface="Calibri"/>
              </a:rPr>
              <a:t> en koyu renkli ülkeler hangileri? </a:t>
            </a:r>
            <a:r>
              <a:rPr lang="tr-TR" sz="1900" b="1" i="0">
                <a:solidFill>
                  <a:srgbClr val="262626"/>
                </a:solidFill>
                <a:latin typeface="Calibri"/>
              </a:rPr>
              <a:t>Sonra:</a:t>
            </a:r>
            <a:r>
              <a:rPr lang="tr-TR" sz="1900" b="0" i="0">
                <a:solidFill>
                  <a:srgbClr val="262626"/>
                </a:solidFill>
                <a:latin typeface="Calibri"/>
              </a:rPr>
              <a:t> turisti oraya çeken beşerî faktörler neler?</a:t>
            </a:r>
          </a:p>
        </p:txBody>
      </p:sp>
      <p:sp>
        <p:nvSpPr>
          <p:cNvPr id="9" name="Rounded Rectangle 8"/>
          <p:cNvSpPr/>
          <p:nvPr/>
        </p:nvSpPr>
        <p:spPr>
          <a:xfrm>
            <a:off x="8229599" y="1216152"/>
            <a:ext cx="3459176" cy="1965960"/>
          </a:xfrm>
          <a:prstGeom prst="roundRect">
            <a:avLst>
              <a:gd name="adj" fmla="val 8000"/>
            </a:avLst>
          </a:prstGeom>
          <a:solidFill>
            <a:srgbClr val="FFF3D1"/>
          </a:solidFill>
          <a:ln>
            <a:noFill/>
          </a:ln>
          <a:effectLst/>
        </p:spPr>
        <p:txBody>
          <a:bodyPr rtlCol="0" anchor="ctr" wrap="square" lIns="164592" rIns="164592" tIns="73152" bIns="73152">
            <a:noAutofit/>
          </a:bodyPr>
          <a:lstStyle/>
          <a:p>
            <a:pPr algn="l">
              <a:spcBef>
                <a:spcPts val="0"/>
              </a:spcBef>
              <a:spcAft>
                <a:spcPts val="600"/>
              </a:spcAft>
            </a:pPr>
            <a:r>
              <a:rPr lang="tr-TR" sz="1900" b="1" i="0">
                <a:solidFill>
                  <a:srgbClr val="B85C12"/>
                </a:solidFill>
                <a:latin typeface="Calibri"/>
              </a:rPr>
              <a:t>2. soru</a:t>
            </a:r>
          </a:p>
          <a:p>
            <a:pPr algn="l">
              <a:spcBef>
                <a:spcPts val="0"/>
              </a:spcBef>
              <a:spcAft>
                <a:spcPts val="0"/>
              </a:spcAft>
            </a:pPr>
            <a:r>
              <a:rPr lang="tr-TR" sz="1900" b="0" i="0">
                <a:solidFill>
                  <a:srgbClr val="262626"/>
                </a:solidFill>
                <a:latin typeface="Calibri"/>
              </a:rPr>
              <a:t>Turizm faaliyetlerinin yoğunlaştığı ülkelerde bu yoğunlaşmaya neden olan beşerî faktörler neler olabilir?</a:t>
            </a:r>
          </a:p>
        </p:txBody>
      </p:sp>
      <p:sp>
        <p:nvSpPr>
          <p:cNvPr id="10" name="TextBox 9"/>
          <p:cNvSpPr txBox="1"/>
          <p:nvPr/>
        </p:nvSpPr>
        <p:spPr>
          <a:xfrm>
            <a:off x="8229599" y="3319272"/>
            <a:ext cx="3459176" cy="384048"/>
          </a:xfrm>
          <a:prstGeom prst="rect">
            <a:avLst/>
          </a:prstGeom>
          <a:noFill/>
        </p:spPr>
        <p:txBody>
          <a:bodyPr wrap="square" anchor="ctr" lIns="73152" rIns="73152" tIns="36576" bIns="36576">
            <a:noAutofit/>
          </a:bodyPr>
          <a:lstStyle/>
          <a:p>
            <a:pPr algn="l">
              <a:spcBef>
                <a:spcPts val="0"/>
              </a:spcBef>
              <a:spcAft>
                <a:spcPts val="0"/>
              </a:spcAft>
            </a:pPr>
            <a:r>
              <a:rPr lang="tr-TR" sz="1700" b="1" i="0">
                <a:solidFill>
                  <a:srgbClr val="262626"/>
                </a:solidFill>
                <a:latin typeface="Calibri"/>
              </a:rPr>
              <a:t>Gelen Turist Sayısı</a:t>
            </a:r>
          </a:p>
        </p:txBody>
      </p:sp>
      <p:sp>
        <p:nvSpPr>
          <p:cNvPr id="11" name="Rectangle 10"/>
          <p:cNvSpPr/>
          <p:nvPr/>
        </p:nvSpPr>
        <p:spPr>
          <a:xfrm>
            <a:off x="8275319" y="3813048"/>
            <a:ext cx="502920" cy="274320"/>
          </a:xfrm>
          <a:prstGeom prst="rect">
            <a:avLst/>
          </a:prstGeom>
          <a:solidFill>
            <a:srgbClr val="F36B2F"/>
          </a:solidFill>
          <a:ln w="9525">
            <a:solidFill>
              <a:srgbClr val="D9D9D9"/>
            </a:solidFill>
          </a:ln>
          <a:effectLst/>
        </p:spPr>
        <p:txBody>
          <a:bodyPr rtlCol="0" anchor="ctr"/>
          <a:lstStyle/>
          <a:p/>
        </p:txBody>
      </p:sp>
      <p:sp>
        <p:nvSpPr>
          <p:cNvPr id="12" name="TextBox 11"/>
          <p:cNvSpPr txBox="1"/>
          <p:nvPr/>
        </p:nvSpPr>
        <p:spPr>
          <a:xfrm>
            <a:off x="8887967" y="3758184"/>
            <a:ext cx="2773376" cy="384048"/>
          </a:xfrm>
          <a:prstGeom prst="rect">
            <a:avLst/>
          </a:prstGeom>
          <a:noFill/>
        </p:spPr>
        <p:txBody>
          <a:bodyPr wrap="square" anchor="ctr" lIns="73152" rIns="73152" tIns="36576" bIns="36576">
            <a:noAutofit/>
          </a:bodyPr>
          <a:lstStyle/>
          <a:p>
            <a:pPr algn="l">
              <a:spcBef>
                <a:spcPts val="0"/>
              </a:spcBef>
              <a:spcAft>
                <a:spcPts val="0"/>
              </a:spcAft>
            </a:pPr>
            <a:r>
              <a:rPr lang="tr-TR" sz="1700" b="0" i="0">
                <a:solidFill>
                  <a:srgbClr val="262626"/>
                </a:solidFill>
                <a:latin typeface="Calibri"/>
              </a:rPr>
              <a:t>&gt;25 Milyon</a:t>
            </a:r>
          </a:p>
        </p:txBody>
      </p:sp>
      <p:sp>
        <p:nvSpPr>
          <p:cNvPr id="13" name="Rectangle 12"/>
          <p:cNvSpPr/>
          <p:nvPr/>
        </p:nvSpPr>
        <p:spPr>
          <a:xfrm>
            <a:off x="8275319" y="4215384"/>
            <a:ext cx="502920" cy="274320"/>
          </a:xfrm>
          <a:prstGeom prst="rect">
            <a:avLst/>
          </a:prstGeom>
          <a:solidFill>
            <a:srgbClr val="F89745"/>
          </a:solidFill>
          <a:ln w="9525">
            <a:solidFill>
              <a:srgbClr val="D9D9D9"/>
            </a:solidFill>
          </a:ln>
          <a:effectLst/>
        </p:spPr>
        <p:txBody>
          <a:bodyPr rtlCol="0" anchor="ctr"/>
          <a:lstStyle/>
          <a:p/>
        </p:txBody>
      </p:sp>
      <p:sp>
        <p:nvSpPr>
          <p:cNvPr id="14" name="TextBox 13"/>
          <p:cNvSpPr txBox="1"/>
          <p:nvPr/>
        </p:nvSpPr>
        <p:spPr>
          <a:xfrm>
            <a:off x="8887967" y="4160520"/>
            <a:ext cx="2773376" cy="384048"/>
          </a:xfrm>
          <a:prstGeom prst="rect">
            <a:avLst/>
          </a:prstGeom>
          <a:noFill/>
        </p:spPr>
        <p:txBody>
          <a:bodyPr wrap="square" anchor="ctr" lIns="73152" rIns="73152" tIns="36576" bIns="36576">
            <a:noAutofit/>
          </a:bodyPr>
          <a:lstStyle/>
          <a:p>
            <a:pPr algn="l">
              <a:spcBef>
                <a:spcPts val="0"/>
              </a:spcBef>
              <a:spcAft>
                <a:spcPts val="0"/>
              </a:spcAft>
            </a:pPr>
            <a:r>
              <a:rPr lang="tr-TR" sz="1700" b="0" i="0">
                <a:solidFill>
                  <a:srgbClr val="262626"/>
                </a:solidFill>
                <a:latin typeface="Calibri"/>
              </a:rPr>
              <a:t>10-24,9 Milyon</a:t>
            </a:r>
          </a:p>
        </p:txBody>
      </p:sp>
      <p:sp>
        <p:nvSpPr>
          <p:cNvPr id="15" name="Rectangle 14"/>
          <p:cNvSpPr/>
          <p:nvPr/>
        </p:nvSpPr>
        <p:spPr>
          <a:xfrm>
            <a:off x="8275319" y="4617720"/>
            <a:ext cx="502920" cy="274320"/>
          </a:xfrm>
          <a:prstGeom prst="rect">
            <a:avLst/>
          </a:prstGeom>
          <a:solidFill>
            <a:srgbClr val="F8C66E"/>
          </a:solidFill>
          <a:ln w="9525">
            <a:solidFill>
              <a:srgbClr val="D9D9D9"/>
            </a:solidFill>
          </a:ln>
          <a:effectLst/>
        </p:spPr>
        <p:txBody>
          <a:bodyPr rtlCol="0" anchor="ctr"/>
          <a:lstStyle/>
          <a:p/>
        </p:txBody>
      </p:sp>
      <p:sp>
        <p:nvSpPr>
          <p:cNvPr id="16" name="TextBox 15"/>
          <p:cNvSpPr txBox="1"/>
          <p:nvPr/>
        </p:nvSpPr>
        <p:spPr>
          <a:xfrm>
            <a:off x="8887967" y="4562856"/>
            <a:ext cx="2773376" cy="384048"/>
          </a:xfrm>
          <a:prstGeom prst="rect">
            <a:avLst/>
          </a:prstGeom>
          <a:noFill/>
        </p:spPr>
        <p:txBody>
          <a:bodyPr wrap="square" anchor="ctr" lIns="73152" rIns="73152" tIns="36576" bIns="36576">
            <a:noAutofit/>
          </a:bodyPr>
          <a:lstStyle/>
          <a:p>
            <a:pPr algn="l">
              <a:spcBef>
                <a:spcPts val="0"/>
              </a:spcBef>
              <a:spcAft>
                <a:spcPts val="0"/>
              </a:spcAft>
            </a:pPr>
            <a:r>
              <a:rPr lang="tr-TR" sz="1700" b="0" i="0">
                <a:solidFill>
                  <a:srgbClr val="262626"/>
                </a:solidFill>
                <a:latin typeface="Calibri"/>
              </a:rPr>
              <a:t>5-9,9 Milyon</a:t>
            </a:r>
          </a:p>
        </p:txBody>
      </p:sp>
      <p:sp>
        <p:nvSpPr>
          <p:cNvPr id="17" name="Rectangle 16"/>
          <p:cNvSpPr/>
          <p:nvPr/>
        </p:nvSpPr>
        <p:spPr>
          <a:xfrm>
            <a:off x="8275319" y="5020056"/>
            <a:ext cx="502920" cy="274320"/>
          </a:xfrm>
          <a:prstGeom prst="rect">
            <a:avLst/>
          </a:prstGeom>
          <a:solidFill>
            <a:srgbClr val="D1C78A"/>
          </a:solidFill>
          <a:ln w="9525">
            <a:solidFill>
              <a:srgbClr val="D9D9D9"/>
            </a:solidFill>
          </a:ln>
          <a:effectLst/>
        </p:spPr>
        <p:txBody>
          <a:bodyPr rtlCol="0" anchor="ctr"/>
          <a:lstStyle/>
          <a:p/>
        </p:txBody>
      </p:sp>
      <p:sp>
        <p:nvSpPr>
          <p:cNvPr id="18" name="TextBox 17"/>
          <p:cNvSpPr txBox="1"/>
          <p:nvPr/>
        </p:nvSpPr>
        <p:spPr>
          <a:xfrm>
            <a:off x="8887967" y="4965192"/>
            <a:ext cx="2773376" cy="384048"/>
          </a:xfrm>
          <a:prstGeom prst="rect">
            <a:avLst/>
          </a:prstGeom>
          <a:noFill/>
        </p:spPr>
        <p:txBody>
          <a:bodyPr wrap="square" anchor="ctr" lIns="73152" rIns="73152" tIns="36576" bIns="36576">
            <a:noAutofit/>
          </a:bodyPr>
          <a:lstStyle/>
          <a:p>
            <a:pPr algn="l">
              <a:spcBef>
                <a:spcPts val="0"/>
              </a:spcBef>
              <a:spcAft>
                <a:spcPts val="0"/>
              </a:spcAft>
            </a:pPr>
            <a:r>
              <a:rPr lang="tr-TR" sz="1700" b="0" i="0">
                <a:solidFill>
                  <a:srgbClr val="262626"/>
                </a:solidFill>
                <a:latin typeface="Calibri"/>
              </a:rPr>
              <a:t>2-4,9 Milyon</a:t>
            </a:r>
          </a:p>
        </p:txBody>
      </p:sp>
      <p:sp>
        <p:nvSpPr>
          <p:cNvPr id="19" name="Rectangle 18"/>
          <p:cNvSpPr/>
          <p:nvPr/>
        </p:nvSpPr>
        <p:spPr>
          <a:xfrm>
            <a:off x="8275319" y="5422392"/>
            <a:ext cx="502920" cy="274320"/>
          </a:xfrm>
          <a:prstGeom prst="rect">
            <a:avLst/>
          </a:prstGeom>
          <a:solidFill>
            <a:srgbClr val="7A9475"/>
          </a:solidFill>
          <a:ln w="9525">
            <a:solidFill>
              <a:srgbClr val="D9D9D9"/>
            </a:solidFill>
          </a:ln>
          <a:effectLst/>
        </p:spPr>
        <p:txBody>
          <a:bodyPr rtlCol="0" anchor="ctr"/>
          <a:lstStyle/>
          <a:p/>
        </p:txBody>
      </p:sp>
      <p:sp>
        <p:nvSpPr>
          <p:cNvPr id="20" name="TextBox 19"/>
          <p:cNvSpPr txBox="1"/>
          <p:nvPr/>
        </p:nvSpPr>
        <p:spPr>
          <a:xfrm>
            <a:off x="8887967" y="5367528"/>
            <a:ext cx="2773376" cy="384048"/>
          </a:xfrm>
          <a:prstGeom prst="rect">
            <a:avLst/>
          </a:prstGeom>
          <a:noFill/>
        </p:spPr>
        <p:txBody>
          <a:bodyPr wrap="square" anchor="ctr" lIns="73152" rIns="73152" tIns="36576" bIns="36576">
            <a:noAutofit/>
          </a:bodyPr>
          <a:lstStyle/>
          <a:p>
            <a:pPr algn="l">
              <a:spcBef>
                <a:spcPts val="0"/>
              </a:spcBef>
              <a:spcAft>
                <a:spcPts val="0"/>
              </a:spcAft>
            </a:pPr>
            <a:r>
              <a:rPr lang="tr-TR" sz="1700" b="0" i="0">
                <a:solidFill>
                  <a:srgbClr val="262626"/>
                </a:solidFill>
                <a:latin typeface="Calibri"/>
              </a:rPr>
              <a:t>0-1,9 Milyon</a:t>
            </a:r>
          </a:p>
        </p:txBody>
      </p:sp>
      <p:sp>
        <p:nvSpPr>
          <p:cNvPr id="21" name="Rectangle 20"/>
          <p:cNvSpPr/>
          <p:nvPr/>
        </p:nvSpPr>
        <p:spPr>
          <a:xfrm>
            <a:off x="8275319" y="5824728"/>
            <a:ext cx="502920" cy="274320"/>
          </a:xfrm>
          <a:prstGeom prst="rect">
            <a:avLst/>
          </a:prstGeom>
          <a:solidFill>
            <a:srgbClr val="FFFFFF"/>
          </a:solidFill>
          <a:ln w="9525">
            <a:solidFill>
              <a:srgbClr val="D9D9D9"/>
            </a:solidFill>
          </a:ln>
          <a:effectLst/>
        </p:spPr>
        <p:txBody>
          <a:bodyPr rtlCol="0" anchor="ctr"/>
          <a:lstStyle/>
          <a:p/>
        </p:txBody>
      </p:sp>
      <p:sp>
        <p:nvSpPr>
          <p:cNvPr id="22" name="TextBox 21"/>
          <p:cNvSpPr txBox="1"/>
          <p:nvPr/>
        </p:nvSpPr>
        <p:spPr>
          <a:xfrm>
            <a:off x="8887967" y="5769864"/>
            <a:ext cx="2773376" cy="384048"/>
          </a:xfrm>
          <a:prstGeom prst="rect">
            <a:avLst/>
          </a:prstGeom>
          <a:noFill/>
        </p:spPr>
        <p:txBody>
          <a:bodyPr wrap="square" anchor="ctr" lIns="73152" rIns="73152" tIns="36576" bIns="36576">
            <a:noAutofit/>
          </a:bodyPr>
          <a:lstStyle/>
          <a:p>
            <a:pPr algn="l">
              <a:spcBef>
                <a:spcPts val="0"/>
              </a:spcBef>
              <a:spcAft>
                <a:spcPts val="0"/>
              </a:spcAft>
            </a:pPr>
            <a:r>
              <a:rPr lang="tr-TR" sz="1700" b="0" i="0">
                <a:solidFill>
                  <a:srgbClr val="262626"/>
                </a:solidFill>
                <a:latin typeface="Calibri"/>
              </a:rPr>
              <a:t>Veri yok</a:t>
            </a:r>
          </a:p>
        </p:txBody>
      </p:sp>
      <p:sp>
        <p:nvSpPr>
          <p:cNvPr id="23" name="TextBox 2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24" name="Rounded Rectangle 2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179</a:t>
            </a:r>
          </a:p>
        </p:txBody>
      </p:sp>
      <p:sp>
        <p:nvSpPr>
          <p:cNvPr id="25" name="TextBox 2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84 / 166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2. soru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pic>
        <p:nvPicPr>
          <p:cNvPr id="6" name="Picture 5" descr="h29_eba_turizm.jpg"/>
          <p:cNvPicPr>
            <a:picLocks noChangeAspect="1"/>
          </p:cNvPicPr>
          <p:nvPr/>
        </p:nvPicPr>
        <p:blipFill>
          <a:blip r:embed="rId3"/>
          <a:stretch>
            <a:fillRect/>
          </a:stretch>
        </p:blipFill>
        <p:spPr>
          <a:xfrm>
            <a:off x="502920" y="1216152"/>
            <a:ext cx="5486400" cy="2843784"/>
          </a:xfrm>
          <a:prstGeom prst="rect">
            <a:avLst/>
          </a:prstGeom>
          <a:ln w="9525">
            <a:solidFill>
              <a:srgbClr val="D9D9D9"/>
            </a:solidFill>
          </a:ln>
        </p:spPr>
      </p:pic>
      <p:sp>
        <p:nvSpPr>
          <p:cNvPr id="7" name="TextBox 6"/>
          <p:cNvSpPr txBox="1"/>
          <p:nvPr/>
        </p:nvSpPr>
        <p:spPr>
          <a:xfrm>
            <a:off x="502920" y="4078224"/>
            <a:ext cx="5486400" cy="274320"/>
          </a:xfrm>
          <a:prstGeom prst="rect">
            <a:avLst/>
          </a:prstGeom>
          <a:noFill/>
        </p:spPr>
        <p:txBody>
          <a:bodyPr wrap="square" anchor="t" lIns="73152" rIns="73152" tIns="36576" bIns="36576">
            <a:noAutofit/>
          </a:bodyPr>
          <a:lstStyle/>
          <a:p>
            <a:pPr algn="r">
              <a:spcBef>
                <a:spcPts val="0"/>
              </a:spcBef>
              <a:spcAft>
                <a:spcPts val="0"/>
              </a:spcAft>
            </a:pPr>
            <a:r>
              <a:rPr lang="tr-TR" sz="1100" b="0" i="0">
                <a:solidFill>
                  <a:srgbClr val="767676"/>
                </a:solidFill>
                <a:latin typeface="Calibri"/>
              </a:rPr>
              <a:t>Kitabın karekod içeriği (EBA): Dünya Turizm Haritası (DTrÖ, 2025)</a:t>
            </a:r>
          </a:p>
        </p:txBody>
      </p:sp>
      <p:sp>
        <p:nvSpPr>
          <p:cNvPr id="8" name="Rounded Rectangle 7"/>
          <p:cNvSpPr/>
          <p:nvPr/>
        </p:nvSpPr>
        <p:spPr>
          <a:xfrm>
            <a:off x="502920" y="4425696"/>
            <a:ext cx="5486400" cy="1865376"/>
          </a:xfrm>
          <a:prstGeom prst="roundRect">
            <a:avLst>
              <a:gd name="adj" fmla="val 8000"/>
            </a:avLst>
          </a:prstGeom>
          <a:solidFill>
            <a:srgbClr val="F0F0F0"/>
          </a:solidFill>
          <a:ln>
            <a:noFill/>
          </a:ln>
          <a:effectLst/>
        </p:spPr>
        <p:txBody>
          <a:bodyPr rtlCol="0" anchor="ctr" wrap="square" lIns="164592" rIns="164592" tIns="73152" bIns="73152">
            <a:noAutofit/>
          </a:bodyPr>
          <a:lstStyle/>
          <a:p>
            <a:pPr algn="l">
              <a:spcBef>
                <a:spcPts val="0"/>
              </a:spcBef>
              <a:spcAft>
                <a:spcPts val="600"/>
              </a:spcAft>
            </a:pPr>
            <a:r>
              <a:rPr lang="tr-TR" sz="1700" b="1" i="0">
                <a:solidFill>
                  <a:srgbClr val="B85C12"/>
                </a:solidFill>
                <a:latin typeface="Calibri"/>
              </a:rPr>
              <a:t>En koyu renk: &gt;25 Milyon gelen turist</a:t>
            </a:r>
          </a:p>
          <a:p>
            <a:pPr algn="l">
              <a:spcBef>
                <a:spcPts val="0"/>
              </a:spcBef>
              <a:spcAft>
                <a:spcPts val="0"/>
              </a:spcAft>
            </a:pPr>
            <a:r>
              <a:rPr lang="tr-TR" sz="1700" b="0" i="0">
                <a:solidFill>
                  <a:srgbClr val="262626"/>
                </a:solidFill>
                <a:latin typeface="Calibri"/>
              </a:rPr>
              <a:t>Kuzey Amerika (ABD, Kanada, Meksika) · Avrupa'nın batısı ve Akdeniz kıyısı (Fransa, İspanya, İtalya, Yunanistan, Türkiye) · Doğu Asya (Çin, Japonya)</a:t>
            </a:r>
          </a:p>
        </p:txBody>
      </p:sp>
      <p:sp>
        <p:nvSpPr>
          <p:cNvPr id="9" name="Rounded Rectangle 8"/>
          <p:cNvSpPr/>
          <p:nvPr/>
        </p:nvSpPr>
        <p:spPr>
          <a:xfrm>
            <a:off x="6217920" y="1216152"/>
            <a:ext cx="5470855" cy="5029200"/>
          </a:xfrm>
          <a:prstGeom prst="roundRect">
            <a:avLst>
              <a:gd name="adj" fmla="val 6000"/>
            </a:avLst>
          </a:prstGeom>
          <a:solidFill>
            <a:srgbClr val="E3F1E4"/>
          </a:solidFill>
          <a:ln>
            <a:noFill/>
          </a:ln>
          <a:effectLst/>
        </p:spPr>
        <p:txBody>
          <a:bodyPr rtlCol="0" anchor="ctr"/>
          <a:lstStyle/>
          <a:p/>
        </p:txBody>
      </p:sp>
      <p:sp>
        <p:nvSpPr>
          <p:cNvPr id="10" name="Rectangle 9"/>
          <p:cNvSpPr/>
          <p:nvPr/>
        </p:nvSpPr>
        <p:spPr>
          <a:xfrm>
            <a:off x="6217920" y="1216152"/>
            <a:ext cx="109728" cy="5029200"/>
          </a:xfrm>
          <a:prstGeom prst="rect">
            <a:avLst/>
          </a:prstGeom>
          <a:solidFill>
            <a:srgbClr val="2E7D32"/>
          </a:solidFill>
          <a:ln>
            <a:noFill/>
          </a:ln>
          <a:effectLst/>
        </p:spPr>
        <p:txBody>
          <a:bodyPr rtlCol="0" anchor="ctr"/>
          <a:lstStyle/>
          <a:p/>
        </p:txBody>
      </p:sp>
      <p:sp>
        <p:nvSpPr>
          <p:cNvPr id="11" name="TextBox 10"/>
          <p:cNvSpPr txBox="1"/>
          <p:nvPr/>
        </p:nvSpPr>
        <p:spPr>
          <a:xfrm>
            <a:off x="6446520" y="1271016"/>
            <a:ext cx="5150815" cy="4919472"/>
          </a:xfrm>
          <a:prstGeom prst="rect">
            <a:avLst/>
          </a:prstGeom>
          <a:noFill/>
        </p:spPr>
        <p:txBody>
          <a:bodyPr wrap="square" anchor="ctr" lIns="73152" rIns="73152" tIns="36576" bIns="36576">
            <a:noAutofit/>
          </a:bodyPr>
          <a:lstStyle/>
          <a:p>
            <a:pPr algn="l">
              <a:spcBef>
                <a:spcPts val="0"/>
              </a:spcBef>
              <a:spcAft>
                <a:spcPts val="400"/>
              </a:spcAft>
            </a:pPr>
            <a:r>
              <a:rPr lang="tr-TR" sz="2000" b="1" i="0">
                <a:solidFill>
                  <a:srgbClr val="2E7D32"/>
                </a:solidFill>
                <a:latin typeface="Calibri"/>
              </a:rPr>
              <a:t>Turizmi yoğunlaştıran beşerî faktörler</a:t>
            </a:r>
          </a:p>
          <a:p>
            <a:pPr algn="l" marL="248620" indent="-248620">
              <a:spcBef>
                <a:spcPts val="0"/>
              </a:spcBef>
              <a:spcAft>
                <a:spcPts val="500"/>
              </a:spcAft>
            </a:pPr>
            <a:r>
              <a:rPr lang="tr-TR" sz="2000" b="1" i="0">
                <a:solidFill>
                  <a:srgbClr val="2C6696"/>
                </a:solidFill>
                <a:latin typeface="Calibri"/>
              </a:rPr>
              <a:t>•  </a:t>
            </a:r>
            <a:r>
              <a:rPr lang="tr-TR" sz="2000" b="0" i="0">
                <a:solidFill>
                  <a:srgbClr val="262626"/>
                </a:solidFill>
                <a:latin typeface="Calibri"/>
              </a:rPr>
              <a:t>Gelişmiş ulaşım: havalimanı, otoyol, demir yolu, liman (s. 178)</a:t>
            </a:r>
          </a:p>
          <a:p>
            <a:pPr algn="l" marL="248620" indent="-248620">
              <a:spcBef>
                <a:spcPts val="0"/>
              </a:spcBef>
              <a:spcAft>
                <a:spcPts val="500"/>
              </a:spcAft>
            </a:pPr>
            <a:r>
              <a:rPr lang="tr-TR" sz="2000" b="1" i="0">
                <a:solidFill>
                  <a:srgbClr val="2C6696"/>
                </a:solidFill>
                <a:latin typeface="Calibri"/>
              </a:rPr>
              <a:t>•  </a:t>
            </a:r>
            <a:r>
              <a:rPr lang="tr-TR" sz="2000" b="0" i="0">
                <a:solidFill>
                  <a:srgbClr val="262626"/>
                </a:solidFill>
                <a:latin typeface="Calibri"/>
              </a:rPr>
              <a:t>Otel ve tesislere yatırılan sermaye; hizmet veren iş gücü</a:t>
            </a:r>
          </a:p>
          <a:p>
            <a:pPr algn="l" marL="248620" indent="-248620">
              <a:spcBef>
                <a:spcPts val="0"/>
              </a:spcBef>
              <a:spcAft>
                <a:spcPts val="500"/>
              </a:spcAft>
            </a:pPr>
            <a:r>
              <a:rPr lang="tr-TR" sz="2000" b="1" i="0">
                <a:solidFill>
                  <a:srgbClr val="2C6696"/>
                </a:solidFill>
                <a:latin typeface="Calibri"/>
              </a:rPr>
              <a:t>•  </a:t>
            </a:r>
            <a:r>
              <a:rPr lang="tr-TR" sz="2000" b="0" i="0">
                <a:solidFill>
                  <a:srgbClr val="262626"/>
                </a:solidFill>
                <a:latin typeface="Calibri"/>
              </a:rPr>
              <a:t>Tarihî ve kültürel miras, müzeler, büyük kentler</a:t>
            </a:r>
          </a:p>
          <a:p>
            <a:pPr algn="l" marL="248620" indent="-248620">
              <a:spcBef>
                <a:spcPts val="0"/>
              </a:spcBef>
              <a:spcAft>
                <a:spcPts val="500"/>
              </a:spcAft>
            </a:pPr>
            <a:r>
              <a:rPr lang="tr-TR" sz="2000" b="1" i="0">
                <a:solidFill>
                  <a:srgbClr val="2C6696"/>
                </a:solidFill>
                <a:latin typeface="Calibri"/>
              </a:rPr>
              <a:t>•  </a:t>
            </a:r>
            <a:r>
              <a:rPr lang="tr-TR" sz="2000" b="0" i="0">
                <a:solidFill>
                  <a:srgbClr val="262626"/>
                </a:solidFill>
                <a:latin typeface="Calibri"/>
              </a:rPr>
              <a:t>Ekonomik, hukuki ve siyasal istikrar; güvenlik ve tanıtım</a:t>
            </a:r>
          </a:p>
          <a:p>
            <a:pPr algn="l" marL="248620" indent="-248620">
              <a:spcBef>
                <a:spcPts val="0"/>
              </a:spcBef>
              <a:spcAft>
                <a:spcPts val="500"/>
              </a:spcAft>
            </a:pPr>
            <a:r>
              <a:rPr lang="tr-TR" sz="2000" b="1" i="0">
                <a:solidFill>
                  <a:srgbClr val="2C6696"/>
                </a:solidFill>
                <a:latin typeface="Calibri"/>
              </a:rPr>
              <a:t>•  </a:t>
            </a:r>
            <a:r>
              <a:rPr lang="tr-TR" sz="2000" b="0" i="0">
                <a:solidFill>
                  <a:srgbClr val="262626"/>
                </a:solidFill>
                <a:latin typeface="Calibri"/>
              </a:rPr>
              <a:t>Turist gönderen kalabalık ve geliri yüksek nüfusa yakınlık</a:t>
            </a:r>
          </a:p>
          <a:p>
            <a:pPr algn="l">
              <a:spcBef>
                <a:spcPts val="0"/>
              </a:spcBef>
              <a:spcAft>
                <a:spcPts val="0"/>
              </a:spcAft>
            </a:pPr>
            <a:r>
              <a:rPr lang="tr-TR" sz="2000" b="0" i="1">
                <a:solidFill>
                  <a:srgbClr val="767676"/>
                </a:solidFill>
                <a:latin typeface="Calibri"/>
              </a:rPr>
              <a:t>İklim, kıyılar ve doğal güzellikler ise doğal faktördür (s. 175).</a:t>
            </a:r>
          </a:p>
        </p:txBody>
      </p:sp>
      <p:sp>
        <p:nvSpPr>
          <p:cNvPr id="12" name="TextBox 1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13" name="Rounded Rectangle 1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175-179</a:t>
            </a:r>
          </a:p>
        </p:txBody>
      </p:sp>
      <p:sp>
        <p:nvSpPr>
          <p:cNvPr id="14" name="TextBox 1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85 / 166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3. soru: sanayi bölgeleri ve ticaret merkezleri</a:t>
            </a:r>
          </a:p>
        </p:txBody>
      </p:sp>
      <p:sp>
        <p:nvSpPr>
          <p:cNvPr id="5" name="Rounded Rectangle 4"/>
          <p:cNvSpPr/>
          <p:nvPr/>
        </p:nvSpPr>
        <p:spPr>
          <a:xfrm>
            <a:off x="9555480" y="201168"/>
            <a:ext cx="2221992" cy="475488"/>
          </a:xfrm>
          <a:prstGeom prst="roundRect">
            <a:avLst>
              <a:gd name="adj" fmla="val 50000"/>
            </a:avLst>
          </a:prstGeom>
          <a:solidFill>
            <a:srgbClr val="1E7B6E"/>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5-8. GRUPLAR</a:t>
            </a:r>
          </a:p>
        </p:txBody>
      </p:sp>
      <p:pic>
        <p:nvPicPr>
          <p:cNvPr id="6" name="Picture 5" descr="h29_eba_ticaret.jpg"/>
          <p:cNvPicPr>
            <a:picLocks noChangeAspect="1"/>
          </p:cNvPicPr>
          <p:nvPr/>
        </p:nvPicPr>
        <p:blipFill>
          <a:blip r:embed="rId3"/>
          <a:stretch>
            <a:fillRect/>
          </a:stretch>
        </p:blipFill>
        <p:spPr>
          <a:xfrm>
            <a:off x="502920" y="1216152"/>
            <a:ext cx="7498079" cy="3836517"/>
          </a:xfrm>
          <a:prstGeom prst="rect">
            <a:avLst/>
          </a:prstGeom>
          <a:ln w="9525">
            <a:solidFill>
              <a:srgbClr val="D9D9D9"/>
            </a:solidFill>
          </a:ln>
        </p:spPr>
      </p:pic>
      <p:sp>
        <p:nvSpPr>
          <p:cNvPr id="7" name="TextBox 6"/>
          <p:cNvSpPr txBox="1"/>
          <p:nvPr/>
        </p:nvSpPr>
        <p:spPr>
          <a:xfrm>
            <a:off x="502920" y="5070957"/>
            <a:ext cx="7498079" cy="274320"/>
          </a:xfrm>
          <a:prstGeom prst="rect">
            <a:avLst/>
          </a:prstGeom>
          <a:noFill/>
        </p:spPr>
        <p:txBody>
          <a:bodyPr wrap="square" anchor="t" lIns="73152" rIns="73152" tIns="36576" bIns="36576">
            <a:noAutofit/>
          </a:bodyPr>
          <a:lstStyle/>
          <a:p>
            <a:pPr algn="r">
              <a:spcBef>
                <a:spcPts val="0"/>
              </a:spcBef>
              <a:spcAft>
                <a:spcPts val="0"/>
              </a:spcAft>
            </a:pPr>
            <a:r>
              <a:rPr lang="tr-TR" sz="1100" b="0" i="0">
                <a:solidFill>
                  <a:srgbClr val="767676"/>
                </a:solidFill>
                <a:latin typeface="Calibri"/>
              </a:rPr>
              <a:t>Kitabın karekod içeriği (EBA): Dünya Ticaret Ağı ve Hacmi Haritası (DTÖ, 2023)</a:t>
            </a:r>
          </a:p>
        </p:txBody>
      </p:sp>
      <p:sp>
        <p:nvSpPr>
          <p:cNvPr id="8" name="Rounded Rectangle 7"/>
          <p:cNvSpPr/>
          <p:nvPr/>
        </p:nvSpPr>
        <p:spPr>
          <a:xfrm>
            <a:off x="502920" y="5418429"/>
            <a:ext cx="7498079" cy="872643"/>
          </a:xfrm>
          <a:prstGeom prst="roundRect">
            <a:avLst>
              <a:gd name="adj" fmla="val 8000"/>
            </a:avLst>
          </a:prstGeom>
          <a:solidFill>
            <a:srgbClr val="FFF3D1"/>
          </a:solidFill>
          <a:ln>
            <a:noFill/>
          </a:ln>
          <a:effectLst/>
        </p:spPr>
        <p:txBody>
          <a:bodyPr rtlCol="0" anchor="ctr" wrap="square" lIns="201168" rIns="201168" tIns="73152" bIns="73152">
            <a:noAutofit/>
          </a:bodyPr>
          <a:lstStyle/>
          <a:p>
            <a:pPr algn="l">
              <a:spcBef>
                <a:spcPts val="0"/>
              </a:spcBef>
              <a:spcAft>
                <a:spcPts val="0"/>
              </a:spcAft>
            </a:pPr>
            <a:r>
              <a:rPr lang="tr-TR" sz="1900" b="1" i="0">
                <a:solidFill>
                  <a:srgbClr val="262626"/>
                </a:solidFill>
                <a:latin typeface="Calibri"/>
              </a:rPr>
              <a:t>İpucu:</a:t>
            </a:r>
            <a:r>
              <a:rPr lang="tr-TR" sz="1900" b="0" i="0">
                <a:solidFill>
                  <a:srgbClr val="262626"/>
                </a:solidFill>
                <a:latin typeface="Calibri"/>
              </a:rPr>
              <a:t> s. 179 haritasındaki birincil sanayi bölgeleri hangi ticaret bölgelerinin içinde?</a:t>
            </a:r>
          </a:p>
        </p:txBody>
      </p:sp>
      <p:sp>
        <p:nvSpPr>
          <p:cNvPr id="9" name="Rounded Rectangle 8"/>
          <p:cNvSpPr/>
          <p:nvPr/>
        </p:nvSpPr>
        <p:spPr>
          <a:xfrm>
            <a:off x="8229599" y="1216152"/>
            <a:ext cx="3459176" cy="1828800"/>
          </a:xfrm>
          <a:prstGeom prst="roundRect">
            <a:avLst>
              <a:gd name="adj" fmla="val 8000"/>
            </a:avLst>
          </a:prstGeom>
          <a:solidFill>
            <a:srgbClr val="FFF3D1"/>
          </a:solidFill>
          <a:ln>
            <a:noFill/>
          </a:ln>
          <a:effectLst/>
        </p:spPr>
        <p:txBody>
          <a:bodyPr rtlCol="0" anchor="ctr" wrap="square" lIns="164592" rIns="164592" tIns="73152" bIns="73152">
            <a:noAutofit/>
          </a:bodyPr>
          <a:lstStyle/>
          <a:p>
            <a:pPr algn="l">
              <a:spcBef>
                <a:spcPts val="0"/>
              </a:spcBef>
              <a:spcAft>
                <a:spcPts val="505"/>
              </a:spcAft>
            </a:pPr>
            <a:r>
              <a:rPr lang="tr-TR" sz="1600" b="1" i="0">
                <a:solidFill>
                  <a:srgbClr val="1E7B6E"/>
                </a:solidFill>
                <a:latin typeface="Calibri"/>
              </a:rPr>
              <a:t>3. soru</a:t>
            </a:r>
          </a:p>
          <a:p>
            <a:pPr algn="l">
              <a:spcBef>
                <a:spcPts val="0"/>
              </a:spcBef>
              <a:spcAft>
                <a:spcPts val="0"/>
              </a:spcAft>
            </a:pPr>
            <a:r>
              <a:rPr lang="tr-TR" sz="1600" b="0" i="0">
                <a:solidFill>
                  <a:srgbClr val="262626"/>
                </a:solidFill>
                <a:latin typeface="Calibri"/>
              </a:rPr>
              <a:t>Dünyadaki başlıca sanayi bölgeleriyle en büyük ticaret merkezleri arasında beşerî faktörlerin etkileri açısından ne tür benzerlikler görülmektedir?</a:t>
            </a:r>
          </a:p>
        </p:txBody>
      </p:sp>
      <p:graphicFrame>
        <p:nvGraphicFramePr>
          <p:cNvPr id="10" name="Table 9"/>
          <p:cNvGraphicFramePr>
            <a:graphicFrameLocks noGrp="1"/>
          </p:cNvGraphicFramePr>
          <p:nvPr/>
        </p:nvGraphicFramePr>
        <p:xfrm>
          <a:off x="8229599" y="3154680"/>
          <a:ext cx="3459176" cy="3035808"/>
        </p:xfrm>
        <a:graphic>
          <a:graphicData uri="http://schemas.openxmlformats.org/drawingml/2006/table">
            <a:tbl>
              <a:tblPr firstRow="1" bandRow="1">
                <a:tableStyleId>{5C22544A-7EE6-4342-B048-85BDC9FD1C3A}</a:tableStyleId>
              </a:tblPr>
              <a:tblGrid>
                <a:gridCol w="2316176"/>
                <a:gridCol w="1143000"/>
              </a:tblGrid>
              <a:tr h="411480">
                <a:tc>
                  <a:txBody>
                    <a:bodyPr wrap="square"/>
                    <a:lstStyle/>
                    <a:p>
                      <a:pPr algn="ctr">
                        <a:spcBef>
                          <a:spcPts val="0"/>
                        </a:spcBef>
                        <a:spcAft>
                          <a:spcPts val="0"/>
                        </a:spcAft>
                      </a:pPr>
                      <a:r>
                        <a:rPr lang="tr-TR" sz="1500" b="1" i="0">
                          <a:solidFill>
                            <a:srgbClr val="FFFFFF"/>
                          </a:solidFill>
                          <a:latin typeface="Calibri"/>
                        </a:rPr>
                        <a:t>Ticaret bölgesi</a:t>
                      </a:r>
                    </a:p>
                  </a:txBody>
                  <a:tcPr marL="54864" marR="54864" marT="18288" marB="18288" anchor="ctr">
                    <a:solidFill>
                      <a:srgbClr val="1E7B6E"/>
                    </a:solidFill>
                  </a:tcPr>
                </a:tc>
                <a:tc>
                  <a:txBody>
                    <a:bodyPr wrap="square"/>
                    <a:lstStyle/>
                    <a:p>
                      <a:pPr algn="ctr">
                        <a:spcBef>
                          <a:spcPts val="0"/>
                        </a:spcBef>
                        <a:spcAft>
                          <a:spcPts val="0"/>
                        </a:spcAft>
                      </a:pPr>
                      <a:r>
                        <a:rPr lang="tr-TR" sz="1500" b="1" i="0">
                          <a:solidFill>
                            <a:srgbClr val="FFFFFF"/>
                          </a:solidFill>
                          <a:latin typeface="Calibri"/>
                        </a:rPr>
                        <a:t>Milyar $</a:t>
                      </a:r>
                    </a:p>
                  </a:txBody>
                  <a:tcPr marL="54864" marR="54864" marT="18288" marB="18288" anchor="ctr">
                    <a:solidFill>
                      <a:srgbClr val="1E7B6E"/>
                    </a:solidFill>
                  </a:tcPr>
                </a:tc>
              </a:tr>
              <a:tr h="374904">
                <a:tc>
                  <a:txBody>
                    <a:bodyPr wrap="square"/>
                    <a:lstStyle/>
                    <a:p>
                      <a:pPr algn="l">
                        <a:spcBef>
                          <a:spcPts val="0"/>
                        </a:spcBef>
                        <a:spcAft>
                          <a:spcPts val="0"/>
                        </a:spcAft>
                      </a:pPr>
                      <a:r>
                        <a:rPr lang="tr-TR" sz="1600" b="0" i="0">
                          <a:solidFill>
                            <a:srgbClr val="262626"/>
                          </a:solidFill>
                          <a:latin typeface="Calibri"/>
                        </a:rPr>
                        <a:t>Avrupa</a:t>
                      </a:r>
                    </a:p>
                  </a:txBody>
                  <a:tcPr marL="54864" marR="54864" marT="18288" marB="18288" anchor="ctr">
                    <a:solidFill>
                      <a:srgbClr val="FFFFFF"/>
                    </a:solidFill>
                  </a:tcPr>
                </a:tc>
                <a:tc>
                  <a:txBody>
                    <a:bodyPr wrap="square"/>
                    <a:lstStyle/>
                    <a:p>
                      <a:pPr algn="r">
                        <a:spcBef>
                          <a:spcPts val="0"/>
                        </a:spcBef>
                        <a:spcAft>
                          <a:spcPts val="0"/>
                        </a:spcAft>
                      </a:pPr>
                      <a:r>
                        <a:rPr lang="tr-TR" sz="1600" b="0" i="0">
                          <a:solidFill>
                            <a:srgbClr val="262626"/>
                          </a:solidFill>
                          <a:latin typeface="Calibri"/>
                        </a:rPr>
                        <a:t>12.220</a:t>
                      </a:r>
                    </a:p>
                  </a:txBody>
                  <a:tcPr marL="54864" marR="54864" marT="18288" marB="18288" anchor="ctr">
                    <a:solidFill>
                      <a:srgbClr val="FFFFFF"/>
                    </a:solidFill>
                  </a:tcPr>
                </a:tc>
              </a:tr>
              <a:tr h="374904">
                <a:tc>
                  <a:txBody>
                    <a:bodyPr wrap="square"/>
                    <a:lstStyle/>
                    <a:p>
                      <a:pPr algn="l">
                        <a:spcBef>
                          <a:spcPts val="0"/>
                        </a:spcBef>
                        <a:spcAft>
                          <a:spcPts val="0"/>
                        </a:spcAft>
                      </a:pPr>
                      <a:r>
                        <a:rPr lang="tr-TR" sz="1600" b="0" i="0">
                          <a:solidFill>
                            <a:srgbClr val="262626"/>
                          </a:solidFill>
                          <a:latin typeface="Calibri"/>
                        </a:rPr>
                        <a:t>Asya-Pasifik</a:t>
                      </a:r>
                    </a:p>
                  </a:txBody>
                  <a:tcPr marL="54864" marR="54864" marT="18288" marB="18288" anchor="ctr">
                    <a:solidFill>
                      <a:srgbClr val="E3ECF5"/>
                    </a:solidFill>
                  </a:tcPr>
                </a:tc>
                <a:tc>
                  <a:txBody>
                    <a:bodyPr wrap="square"/>
                    <a:lstStyle/>
                    <a:p>
                      <a:pPr algn="r">
                        <a:spcBef>
                          <a:spcPts val="0"/>
                        </a:spcBef>
                        <a:spcAft>
                          <a:spcPts val="0"/>
                        </a:spcAft>
                      </a:pPr>
                      <a:r>
                        <a:rPr lang="tr-TR" sz="1600" b="0" i="0">
                          <a:solidFill>
                            <a:srgbClr val="262626"/>
                          </a:solidFill>
                          <a:latin typeface="Calibri"/>
                        </a:rPr>
                        <a:t>10.831</a:t>
                      </a:r>
                    </a:p>
                  </a:txBody>
                  <a:tcPr marL="54864" marR="54864" marT="18288" marB="18288" anchor="ctr">
                    <a:solidFill>
                      <a:srgbClr val="E3ECF5"/>
                    </a:solidFill>
                  </a:tcPr>
                </a:tc>
              </a:tr>
              <a:tr h="374904">
                <a:tc>
                  <a:txBody>
                    <a:bodyPr wrap="square"/>
                    <a:lstStyle/>
                    <a:p>
                      <a:pPr algn="l">
                        <a:spcBef>
                          <a:spcPts val="0"/>
                        </a:spcBef>
                        <a:spcAft>
                          <a:spcPts val="0"/>
                        </a:spcAft>
                      </a:pPr>
                      <a:r>
                        <a:rPr lang="tr-TR" sz="1600" b="0" i="0">
                          <a:solidFill>
                            <a:srgbClr val="262626"/>
                          </a:solidFill>
                          <a:latin typeface="Calibri"/>
                        </a:rPr>
                        <a:t>Kuzey Amerika</a:t>
                      </a:r>
                    </a:p>
                  </a:txBody>
                  <a:tcPr marL="54864" marR="54864" marT="18288" marB="18288" anchor="ctr">
                    <a:solidFill>
                      <a:srgbClr val="FFFFFF"/>
                    </a:solidFill>
                  </a:tcPr>
                </a:tc>
                <a:tc>
                  <a:txBody>
                    <a:bodyPr wrap="square"/>
                    <a:lstStyle/>
                    <a:p>
                      <a:pPr algn="r">
                        <a:spcBef>
                          <a:spcPts val="0"/>
                        </a:spcBef>
                        <a:spcAft>
                          <a:spcPts val="0"/>
                        </a:spcAft>
                      </a:pPr>
                      <a:r>
                        <a:rPr lang="tr-TR" sz="1600" b="0" i="0">
                          <a:solidFill>
                            <a:srgbClr val="262626"/>
                          </a:solidFill>
                          <a:latin typeface="Calibri"/>
                        </a:rPr>
                        <a:t>4.299</a:t>
                      </a:r>
                    </a:p>
                  </a:txBody>
                  <a:tcPr marL="54864" marR="54864" marT="18288" marB="18288" anchor="ctr">
                    <a:solidFill>
                      <a:srgbClr val="FFFFFF"/>
                    </a:solidFill>
                  </a:tcPr>
                </a:tc>
              </a:tr>
              <a:tr h="374904">
                <a:tc>
                  <a:txBody>
                    <a:bodyPr wrap="square"/>
                    <a:lstStyle/>
                    <a:p>
                      <a:pPr algn="l">
                        <a:spcBef>
                          <a:spcPts val="0"/>
                        </a:spcBef>
                        <a:spcAft>
                          <a:spcPts val="0"/>
                        </a:spcAft>
                      </a:pPr>
                      <a:r>
                        <a:rPr lang="tr-TR" sz="1600" b="0" i="0">
                          <a:solidFill>
                            <a:srgbClr val="262626"/>
                          </a:solidFill>
                          <a:latin typeface="Calibri"/>
                        </a:rPr>
                        <a:t>Orta Doğu</a:t>
                      </a:r>
                    </a:p>
                  </a:txBody>
                  <a:tcPr marL="54864" marR="54864" marT="18288" marB="18288" anchor="ctr">
                    <a:solidFill>
                      <a:srgbClr val="E3ECF5"/>
                    </a:solidFill>
                  </a:tcPr>
                </a:tc>
                <a:tc>
                  <a:txBody>
                    <a:bodyPr wrap="square"/>
                    <a:lstStyle/>
                    <a:p>
                      <a:pPr algn="r">
                        <a:spcBef>
                          <a:spcPts val="0"/>
                        </a:spcBef>
                        <a:spcAft>
                          <a:spcPts val="0"/>
                        </a:spcAft>
                      </a:pPr>
                      <a:r>
                        <a:rPr lang="tr-TR" sz="1600" b="0" i="0">
                          <a:solidFill>
                            <a:srgbClr val="262626"/>
                          </a:solidFill>
                          <a:latin typeface="Calibri"/>
                        </a:rPr>
                        <a:t>1.996</a:t>
                      </a:r>
                    </a:p>
                  </a:txBody>
                  <a:tcPr marL="54864" marR="54864" marT="18288" marB="18288" anchor="ctr">
                    <a:solidFill>
                      <a:srgbClr val="E3ECF5"/>
                    </a:solidFill>
                  </a:tcPr>
                </a:tc>
              </a:tr>
              <a:tr h="374904">
                <a:tc>
                  <a:txBody>
                    <a:bodyPr wrap="square"/>
                    <a:lstStyle/>
                    <a:p>
                      <a:pPr algn="l">
                        <a:spcBef>
                          <a:spcPts val="0"/>
                        </a:spcBef>
                        <a:spcAft>
                          <a:spcPts val="0"/>
                        </a:spcAft>
                      </a:pPr>
                      <a:r>
                        <a:rPr lang="tr-TR" sz="1600" b="0" i="0">
                          <a:solidFill>
                            <a:srgbClr val="262626"/>
                          </a:solidFill>
                          <a:latin typeface="Calibri"/>
                        </a:rPr>
                        <a:t>Orta ve Güney Amerika</a:t>
                      </a:r>
                    </a:p>
                  </a:txBody>
                  <a:tcPr marL="54864" marR="54864" marT="18288" marB="18288" anchor="ctr">
                    <a:solidFill>
                      <a:srgbClr val="FFFFFF"/>
                    </a:solidFill>
                  </a:tcPr>
                </a:tc>
                <a:tc>
                  <a:txBody>
                    <a:bodyPr wrap="square"/>
                    <a:lstStyle/>
                    <a:p>
                      <a:pPr algn="r">
                        <a:spcBef>
                          <a:spcPts val="0"/>
                        </a:spcBef>
                        <a:spcAft>
                          <a:spcPts val="0"/>
                        </a:spcAft>
                      </a:pPr>
                      <a:r>
                        <a:rPr lang="tr-TR" sz="1600" b="0" i="0">
                          <a:solidFill>
                            <a:srgbClr val="262626"/>
                          </a:solidFill>
                          <a:latin typeface="Calibri"/>
                        </a:rPr>
                        <a:t>1.006</a:t>
                      </a:r>
                    </a:p>
                  </a:txBody>
                  <a:tcPr marL="54864" marR="54864" marT="18288" marB="18288" anchor="ctr">
                    <a:solidFill>
                      <a:srgbClr val="FFFFFF"/>
                    </a:solidFill>
                  </a:tcPr>
                </a:tc>
              </a:tr>
              <a:tr h="374904">
                <a:tc>
                  <a:txBody>
                    <a:bodyPr wrap="square"/>
                    <a:lstStyle/>
                    <a:p>
                      <a:pPr algn="l">
                        <a:spcBef>
                          <a:spcPts val="0"/>
                        </a:spcBef>
                        <a:spcAft>
                          <a:spcPts val="0"/>
                        </a:spcAft>
                      </a:pPr>
                      <a:r>
                        <a:rPr lang="tr-TR" sz="1600" b="0" i="0">
                          <a:solidFill>
                            <a:srgbClr val="262626"/>
                          </a:solidFill>
                          <a:latin typeface="Calibri"/>
                        </a:rPr>
                        <a:t>BDT</a:t>
                      </a:r>
                    </a:p>
                  </a:txBody>
                  <a:tcPr marL="54864" marR="54864" marT="18288" marB="18288" anchor="ctr">
                    <a:solidFill>
                      <a:srgbClr val="E3ECF5"/>
                    </a:solidFill>
                  </a:tcPr>
                </a:tc>
                <a:tc>
                  <a:txBody>
                    <a:bodyPr wrap="square"/>
                    <a:lstStyle/>
                    <a:p>
                      <a:pPr algn="r">
                        <a:spcBef>
                          <a:spcPts val="0"/>
                        </a:spcBef>
                        <a:spcAft>
                          <a:spcPts val="0"/>
                        </a:spcAft>
                      </a:pPr>
                      <a:r>
                        <a:rPr lang="tr-TR" sz="1600" b="0" i="0">
                          <a:solidFill>
                            <a:srgbClr val="262626"/>
                          </a:solidFill>
                          <a:latin typeface="Calibri"/>
                        </a:rPr>
                        <a:t>814</a:t>
                      </a:r>
                    </a:p>
                  </a:txBody>
                  <a:tcPr marL="54864" marR="54864" marT="18288" marB="18288" anchor="ctr">
                    <a:solidFill>
                      <a:srgbClr val="E3ECF5"/>
                    </a:solidFill>
                  </a:tcPr>
                </a:tc>
              </a:tr>
              <a:tr h="374904">
                <a:tc>
                  <a:txBody>
                    <a:bodyPr wrap="square"/>
                    <a:lstStyle/>
                    <a:p>
                      <a:pPr algn="l">
                        <a:spcBef>
                          <a:spcPts val="0"/>
                        </a:spcBef>
                        <a:spcAft>
                          <a:spcPts val="0"/>
                        </a:spcAft>
                      </a:pPr>
                      <a:r>
                        <a:rPr lang="tr-TR" sz="1600" b="0" i="0">
                          <a:solidFill>
                            <a:srgbClr val="262626"/>
                          </a:solidFill>
                          <a:latin typeface="Calibri"/>
                        </a:rPr>
                        <a:t>Afrika</a:t>
                      </a:r>
                    </a:p>
                  </a:txBody>
                  <a:tcPr marL="54864" marR="54864" marT="18288" marB="18288" anchor="ctr">
                    <a:solidFill>
                      <a:srgbClr val="FFFFFF"/>
                    </a:solidFill>
                  </a:tcPr>
                </a:tc>
                <a:tc>
                  <a:txBody>
                    <a:bodyPr wrap="square"/>
                    <a:lstStyle/>
                    <a:p>
                      <a:pPr algn="r">
                        <a:spcBef>
                          <a:spcPts val="0"/>
                        </a:spcBef>
                        <a:spcAft>
                          <a:spcPts val="0"/>
                        </a:spcAft>
                      </a:pPr>
                      <a:r>
                        <a:rPr lang="tr-TR" sz="1600" b="0" i="0">
                          <a:solidFill>
                            <a:srgbClr val="262626"/>
                          </a:solidFill>
                          <a:latin typeface="Calibri"/>
                        </a:rPr>
                        <a:t>780</a:t>
                      </a:r>
                    </a:p>
                  </a:txBody>
                  <a:tcPr marL="54864" marR="54864" marT="18288" marB="18288" anchor="ctr">
                    <a:solidFill>
                      <a:srgbClr val="FFFFFF"/>
                    </a:solidFill>
                  </a:tcPr>
                </a:tc>
              </a:tr>
            </a:tbl>
          </a:graphicData>
        </a:graphic>
      </p:graphicFrame>
      <p:sp>
        <p:nvSpPr>
          <p:cNvPr id="11" name="TextBox 10"/>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12" name="Rounded Rectangle 11"/>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179</a:t>
            </a:r>
          </a:p>
        </p:txBody>
      </p:sp>
      <p:sp>
        <p:nvSpPr>
          <p:cNvPr id="13" name="TextBox 12"/>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86 / 166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3. soru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graphicFrame>
        <p:nvGraphicFramePr>
          <p:cNvPr id="6" name="Table 5"/>
          <p:cNvGraphicFramePr>
            <a:graphicFrameLocks noGrp="1"/>
          </p:cNvGraphicFramePr>
          <p:nvPr/>
        </p:nvGraphicFramePr>
        <p:xfrm>
          <a:off x="502920" y="1216152"/>
          <a:ext cx="5760720" cy="3163824"/>
        </p:xfrm>
        <a:graphic>
          <a:graphicData uri="http://schemas.openxmlformats.org/drawingml/2006/table">
            <a:tbl>
              <a:tblPr firstRow="1" bandRow="1">
                <a:tableStyleId>{5C22544A-7EE6-4342-B048-85BDC9FD1C3A}</a:tableStyleId>
              </a:tblPr>
              <a:tblGrid>
                <a:gridCol w="2743200"/>
                <a:gridCol w="3017520"/>
              </a:tblGrid>
              <a:tr h="603504">
                <a:tc>
                  <a:txBody>
                    <a:bodyPr wrap="square"/>
                    <a:lstStyle/>
                    <a:p>
                      <a:pPr algn="ctr">
                        <a:spcBef>
                          <a:spcPts val="0"/>
                        </a:spcBef>
                        <a:spcAft>
                          <a:spcPts val="0"/>
                        </a:spcAft>
                      </a:pPr>
                      <a:r>
                        <a:rPr lang="tr-TR" sz="1700" b="1" i="0">
                          <a:solidFill>
                            <a:srgbClr val="FFFFFF"/>
                          </a:solidFill>
                          <a:latin typeface="Calibri"/>
                        </a:rPr>
                        <a:t>Birincil sanayi bölgesi</a:t>
                      </a:r>
                    </a:p>
                  </a:txBody>
                  <a:tcPr marL="54864" marR="54864" marT="18288" marB="18288" anchor="ctr">
                    <a:solidFill>
                      <a:srgbClr val="2E7D32"/>
                    </a:solidFill>
                  </a:tcPr>
                </a:tc>
                <a:tc>
                  <a:txBody>
                    <a:bodyPr wrap="square"/>
                    <a:lstStyle/>
                    <a:p>
                      <a:pPr algn="ctr">
                        <a:spcBef>
                          <a:spcPts val="0"/>
                        </a:spcBef>
                        <a:spcAft>
                          <a:spcPts val="0"/>
                        </a:spcAft>
                      </a:pPr>
                      <a:r>
                        <a:rPr lang="tr-TR" sz="1700" b="1" i="0">
                          <a:solidFill>
                            <a:srgbClr val="FFFFFF"/>
                          </a:solidFill>
                          <a:latin typeface="Calibri"/>
                        </a:rPr>
                        <a:t>Ticaret bölgesi · milyar $</a:t>
                      </a:r>
                    </a:p>
                  </a:txBody>
                  <a:tcPr marL="54864" marR="54864" marT="18288" marB="18288" anchor="ctr">
                    <a:solidFill>
                      <a:srgbClr val="2E7D32"/>
                    </a:solidFill>
                  </a:tcPr>
                </a:tc>
              </a:tr>
              <a:tr h="640080">
                <a:tc>
                  <a:txBody>
                    <a:bodyPr wrap="square"/>
                    <a:lstStyle/>
                    <a:p>
                      <a:pPr algn="l">
                        <a:spcBef>
                          <a:spcPts val="0"/>
                        </a:spcBef>
                        <a:spcAft>
                          <a:spcPts val="0"/>
                        </a:spcAft>
                      </a:pPr>
                      <a:r>
                        <a:rPr lang="tr-TR" sz="2000" b="0" i="0">
                          <a:solidFill>
                            <a:srgbClr val="262626"/>
                          </a:solidFill>
                          <a:latin typeface="Calibri"/>
                        </a:rPr>
                        <a:t>ABD'nin kuzeydoğusu</a:t>
                      </a:r>
                    </a:p>
                  </a:txBody>
                  <a:tcPr marL="54864" marR="54864" marT="18288" marB="18288" anchor="ctr">
                    <a:solidFill>
                      <a:srgbClr val="E3F1E4"/>
                    </a:solidFill>
                  </a:tcPr>
                </a:tc>
                <a:tc>
                  <a:txBody>
                    <a:bodyPr wrap="square"/>
                    <a:lstStyle/>
                    <a:p>
                      <a:pPr algn="l">
                        <a:spcBef>
                          <a:spcPts val="0"/>
                        </a:spcBef>
                        <a:spcAft>
                          <a:spcPts val="0"/>
                        </a:spcAft>
                      </a:pPr>
                      <a:r>
                        <a:rPr lang="tr-TR" sz="2000" b="0" i="0">
                          <a:solidFill>
                            <a:srgbClr val="262626"/>
                          </a:solidFill>
                          <a:latin typeface="Calibri"/>
                        </a:rPr>
                        <a:t>Kuzey Amerika · 4.299</a:t>
                      </a:r>
                    </a:p>
                  </a:txBody>
                  <a:tcPr marL="54864" marR="54864" marT="18288" marB="18288" anchor="ctr">
                    <a:solidFill>
                      <a:srgbClr val="E3F1E4"/>
                    </a:solidFill>
                  </a:tcPr>
                </a:tc>
              </a:tr>
              <a:tr h="640080">
                <a:tc>
                  <a:txBody>
                    <a:bodyPr wrap="square"/>
                    <a:lstStyle/>
                    <a:p>
                      <a:pPr algn="l">
                        <a:spcBef>
                          <a:spcPts val="0"/>
                        </a:spcBef>
                        <a:spcAft>
                          <a:spcPts val="0"/>
                        </a:spcAft>
                      </a:pPr>
                      <a:r>
                        <a:rPr lang="tr-TR" sz="2000" b="0" i="0">
                          <a:solidFill>
                            <a:srgbClr val="262626"/>
                          </a:solidFill>
                          <a:latin typeface="Calibri"/>
                        </a:rPr>
                        <a:t>Batı Avrupa</a:t>
                      </a:r>
                    </a:p>
                  </a:txBody>
                  <a:tcPr marL="54864" marR="54864" marT="18288" marB="18288" anchor="ctr">
                    <a:solidFill>
                      <a:srgbClr val="E3F1E4"/>
                    </a:solidFill>
                  </a:tcPr>
                </a:tc>
                <a:tc>
                  <a:txBody>
                    <a:bodyPr wrap="square"/>
                    <a:lstStyle/>
                    <a:p>
                      <a:pPr algn="l">
                        <a:spcBef>
                          <a:spcPts val="0"/>
                        </a:spcBef>
                        <a:spcAft>
                          <a:spcPts val="0"/>
                        </a:spcAft>
                      </a:pPr>
                      <a:r>
                        <a:rPr lang="tr-TR" sz="2000" b="0" i="0">
                          <a:solidFill>
                            <a:srgbClr val="262626"/>
                          </a:solidFill>
                          <a:latin typeface="Calibri"/>
                        </a:rPr>
                        <a:t>Avrupa · 12.220</a:t>
                      </a:r>
                    </a:p>
                  </a:txBody>
                  <a:tcPr marL="54864" marR="54864" marT="18288" marB="18288" anchor="ctr">
                    <a:solidFill>
                      <a:srgbClr val="E3F1E4"/>
                    </a:solidFill>
                  </a:tcPr>
                </a:tc>
              </a:tr>
              <a:tr h="640080">
                <a:tc>
                  <a:txBody>
                    <a:bodyPr wrap="square"/>
                    <a:lstStyle/>
                    <a:p>
                      <a:pPr algn="l">
                        <a:spcBef>
                          <a:spcPts val="0"/>
                        </a:spcBef>
                        <a:spcAft>
                          <a:spcPts val="0"/>
                        </a:spcAft>
                      </a:pPr>
                      <a:r>
                        <a:rPr lang="tr-TR" sz="2000" b="0" i="0">
                          <a:solidFill>
                            <a:srgbClr val="262626"/>
                          </a:solidFill>
                          <a:latin typeface="Calibri"/>
                        </a:rPr>
                        <a:t>Doğu Asya</a:t>
                      </a:r>
                    </a:p>
                  </a:txBody>
                  <a:tcPr marL="54864" marR="54864" marT="18288" marB="18288" anchor="ctr">
                    <a:solidFill>
                      <a:srgbClr val="E3F1E4"/>
                    </a:solidFill>
                  </a:tcPr>
                </a:tc>
                <a:tc>
                  <a:txBody>
                    <a:bodyPr wrap="square"/>
                    <a:lstStyle/>
                    <a:p>
                      <a:pPr algn="l">
                        <a:spcBef>
                          <a:spcPts val="0"/>
                        </a:spcBef>
                        <a:spcAft>
                          <a:spcPts val="0"/>
                        </a:spcAft>
                      </a:pPr>
                      <a:r>
                        <a:rPr lang="tr-TR" sz="2000" b="0" i="0">
                          <a:solidFill>
                            <a:srgbClr val="262626"/>
                          </a:solidFill>
                          <a:latin typeface="Calibri"/>
                        </a:rPr>
                        <a:t>Asya-Pasifik · 10.831</a:t>
                      </a:r>
                    </a:p>
                  </a:txBody>
                  <a:tcPr marL="54864" marR="54864" marT="18288" marB="18288" anchor="ctr">
                    <a:solidFill>
                      <a:srgbClr val="E3F1E4"/>
                    </a:solidFill>
                  </a:tcPr>
                </a:tc>
              </a:tr>
              <a:tr h="640080">
                <a:tc>
                  <a:txBody>
                    <a:bodyPr wrap="square"/>
                    <a:lstStyle/>
                    <a:p>
                      <a:pPr algn="l">
                        <a:spcBef>
                          <a:spcPts val="0"/>
                        </a:spcBef>
                        <a:spcAft>
                          <a:spcPts val="0"/>
                        </a:spcAft>
                      </a:pPr>
                      <a:r>
                        <a:rPr lang="tr-TR" sz="2000" b="0" i="0">
                          <a:solidFill>
                            <a:srgbClr val="262626"/>
                          </a:solidFill>
                          <a:latin typeface="Calibri"/>
                        </a:rPr>
                        <a:t>Rusya (Avrupa kesimi)</a:t>
                      </a:r>
                    </a:p>
                  </a:txBody>
                  <a:tcPr marL="54864" marR="54864" marT="18288" marB="18288" anchor="ctr">
                    <a:solidFill>
                      <a:srgbClr val="FFFFFF"/>
                    </a:solidFill>
                  </a:tcPr>
                </a:tc>
                <a:tc>
                  <a:txBody>
                    <a:bodyPr wrap="square"/>
                    <a:lstStyle/>
                    <a:p>
                      <a:pPr algn="l">
                        <a:spcBef>
                          <a:spcPts val="0"/>
                        </a:spcBef>
                        <a:spcAft>
                          <a:spcPts val="0"/>
                        </a:spcAft>
                      </a:pPr>
                      <a:r>
                        <a:rPr lang="tr-TR" sz="2000" b="0" i="0">
                          <a:solidFill>
                            <a:srgbClr val="262626"/>
                          </a:solidFill>
                          <a:latin typeface="Calibri"/>
                        </a:rPr>
                        <a:t>BDT · 814</a:t>
                      </a:r>
                    </a:p>
                  </a:txBody>
                  <a:tcPr marL="54864" marR="54864" marT="18288" marB="18288" anchor="ctr">
                    <a:solidFill>
                      <a:srgbClr val="FFFFFF"/>
                    </a:solidFill>
                  </a:tcPr>
                </a:tc>
              </a:tr>
            </a:tbl>
          </a:graphicData>
        </a:graphic>
      </p:graphicFrame>
      <p:sp>
        <p:nvSpPr>
          <p:cNvPr id="7" name="TextBox 6"/>
          <p:cNvSpPr txBox="1"/>
          <p:nvPr/>
        </p:nvSpPr>
        <p:spPr>
          <a:xfrm>
            <a:off x="502920" y="4416552"/>
            <a:ext cx="5760720" cy="274320"/>
          </a:xfrm>
          <a:prstGeom prst="rect">
            <a:avLst/>
          </a:prstGeom>
          <a:noFill/>
        </p:spPr>
        <p:txBody>
          <a:bodyPr wrap="square" anchor="t" lIns="73152" rIns="73152" tIns="36576" bIns="36576">
            <a:noAutofit/>
          </a:bodyPr>
          <a:lstStyle/>
          <a:p>
            <a:pPr algn="l">
              <a:spcBef>
                <a:spcPts val="0"/>
              </a:spcBef>
              <a:spcAft>
                <a:spcPts val="0"/>
              </a:spcAft>
            </a:pPr>
            <a:r>
              <a:rPr lang="tr-TR" sz="1100" b="0" i="0">
                <a:solidFill>
                  <a:srgbClr val="767676"/>
                </a:solidFill>
                <a:latin typeface="Calibri"/>
              </a:rPr>
              <a:t>Kitabın karekod içeriği (EBA): Dünya Ticaret Ağı ve Hacmi Haritası (DTÖ, 2023)</a:t>
            </a:r>
          </a:p>
        </p:txBody>
      </p:sp>
      <p:sp>
        <p:nvSpPr>
          <p:cNvPr id="8" name="Rounded Rectangle 7"/>
          <p:cNvSpPr/>
          <p:nvPr/>
        </p:nvSpPr>
        <p:spPr>
          <a:xfrm>
            <a:off x="502920" y="4791456"/>
            <a:ext cx="5760720" cy="1499616"/>
          </a:xfrm>
          <a:prstGeom prst="roundRect">
            <a:avLst>
              <a:gd name="adj" fmla="val 8000"/>
            </a:avLst>
          </a:prstGeom>
          <a:solidFill>
            <a:srgbClr val="FFF3D1"/>
          </a:solidFill>
          <a:ln>
            <a:noFill/>
          </a:ln>
          <a:effectLst/>
        </p:spPr>
        <p:txBody>
          <a:bodyPr rtlCol="0" anchor="ctr" wrap="square" lIns="164592" rIns="164592" tIns="73152" bIns="73152">
            <a:noAutofit/>
          </a:bodyPr>
          <a:lstStyle/>
          <a:p>
            <a:pPr algn="l">
              <a:spcBef>
                <a:spcPts val="0"/>
              </a:spcBef>
              <a:spcAft>
                <a:spcPts val="0"/>
              </a:spcAft>
            </a:pPr>
            <a:r>
              <a:rPr lang="tr-TR" sz="1800" b="1" i="0">
                <a:solidFill>
                  <a:srgbClr val="262626"/>
                </a:solidFill>
                <a:latin typeface="Calibri"/>
              </a:rPr>
              <a:t>Dikkat:</a:t>
            </a:r>
            <a:r>
              <a:rPr lang="tr-TR" sz="1800" b="0" i="0">
                <a:solidFill>
                  <a:srgbClr val="262626"/>
                </a:solidFill>
                <a:latin typeface="Calibri"/>
              </a:rPr>
              <a:t> Rusya'da birincil sanayi bölgesi var ama BDT'nin ticaret hacmi küçük; Harita 5.1'de bu bölgenin yakınında büyük konteyner limanı yok.</a:t>
            </a:r>
          </a:p>
        </p:txBody>
      </p:sp>
      <p:sp>
        <p:nvSpPr>
          <p:cNvPr id="9" name="Rounded Rectangle 8"/>
          <p:cNvSpPr/>
          <p:nvPr/>
        </p:nvSpPr>
        <p:spPr>
          <a:xfrm>
            <a:off x="6492240" y="1216152"/>
            <a:ext cx="5196535" cy="5029200"/>
          </a:xfrm>
          <a:prstGeom prst="roundRect">
            <a:avLst>
              <a:gd name="adj" fmla="val 6000"/>
            </a:avLst>
          </a:prstGeom>
          <a:solidFill>
            <a:srgbClr val="E3F1E4"/>
          </a:solidFill>
          <a:ln>
            <a:noFill/>
          </a:ln>
          <a:effectLst/>
        </p:spPr>
        <p:txBody>
          <a:bodyPr rtlCol="0" anchor="ctr"/>
          <a:lstStyle/>
          <a:p/>
        </p:txBody>
      </p:sp>
      <p:sp>
        <p:nvSpPr>
          <p:cNvPr id="10" name="Rectangle 9"/>
          <p:cNvSpPr/>
          <p:nvPr/>
        </p:nvSpPr>
        <p:spPr>
          <a:xfrm>
            <a:off x="6492240" y="1216152"/>
            <a:ext cx="109728" cy="5029200"/>
          </a:xfrm>
          <a:prstGeom prst="rect">
            <a:avLst/>
          </a:prstGeom>
          <a:solidFill>
            <a:srgbClr val="2E7D32"/>
          </a:solidFill>
          <a:ln>
            <a:noFill/>
          </a:ln>
          <a:effectLst/>
        </p:spPr>
        <p:txBody>
          <a:bodyPr rtlCol="0" anchor="ctr"/>
          <a:lstStyle/>
          <a:p/>
        </p:txBody>
      </p:sp>
      <p:sp>
        <p:nvSpPr>
          <p:cNvPr id="11" name="TextBox 10"/>
          <p:cNvSpPr txBox="1"/>
          <p:nvPr/>
        </p:nvSpPr>
        <p:spPr>
          <a:xfrm>
            <a:off x="6720840" y="1271016"/>
            <a:ext cx="4876495" cy="4919472"/>
          </a:xfrm>
          <a:prstGeom prst="rect">
            <a:avLst/>
          </a:prstGeom>
          <a:noFill/>
        </p:spPr>
        <p:txBody>
          <a:bodyPr wrap="square" anchor="ctr" lIns="73152" rIns="73152" tIns="36576" bIns="36576">
            <a:noAutofit/>
          </a:bodyPr>
          <a:lstStyle/>
          <a:p>
            <a:pPr algn="l">
              <a:spcBef>
                <a:spcPts val="0"/>
              </a:spcBef>
              <a:spcAft>
                <a:spcPts val="400"/>
              </a:spcAft>
            </a:pPr>
            <a:r>
              <a:rPr lang="tr-TR" sz="2000" b="1" i="0">
                <a:solidFill>
                  <a:srgbClr val="2E7D32"/>
                </a:solidFill>
                <a:latin typeface="Calibri"/>
              </a:rPr>
              <a:t>Benzerlik: aynı beşerî faktörler</a:t>
            </a:r>
          </a:p>
          <a:p>
            <a:pPr algn="l" marL="248620" indent="-248620">
              <a:spcBef>
                <a:spcPts val="0"/>
              </a:spcBef>
              <a:spcAft>
                <a:spcPts val="500"/>
              </a:spcAft>
            </a:pPr>
            <a:r>
              <a:rPr lang="tr-TR" sz="2000" b="1" i="0">
                <a:solidFill>
                  <a:srgbClr val="2C6696"/>
                </a:solidFill>
                <a:latin typeface="Calibri"/>
              </a:rPr>
              <a:t>•  </a:t>
            </a:r>
            <a:r>
              <a:rPr lang="tr-TR" sz="2000" b="0" i="0">
                <a:solidFill>
                  <a:srgbClr val="262626"/>
                </a:solidFill>
                <a:latin typeface="Calibri"/>
              </a:rPr>
              <a:t>Üç büyük sanayi bölgesi, ticaret hacmi en büyük üç bölgede.</a:t>
            </a:r>
          </a:p>
          <a:p>
            <a:pPr algn="l" marL="248620" indent="-248620">
              <a:spcBef>
                <a:spcPts val="0"/>
              </a:spcBef>
              <a:spcAft>
                <a:spcPts val="500"/>
              </a:spcAft>
            </a:pPr>
            <a:r>
              <a:rPr lang="tr-TR" sz="2000" b="1" i="0">
                <a:solidFill>
                  <a:srgbClr val="2C6696"/>
                </a:solidFill>
                <a:latin typeface="Calibri"/>
              </a:rPr>
              <a:t>•  </a:t>
            </a:r>
            <a:r>
              <a:rPr lang="tr-TR" sz="2000" b="0" i="0">
                <a:solidFill>
                  <a:srgbClr val="262626"/>
                </a:solidFill>
                <a:latin typeface="Calibri"/>
              </a:rPr>
              <a:t>Yeterli sermaye ve ileri teknoloji</a:t>
            </a:r>
          </a:p>
          <a:p>
            <a:pPr algn="l" marL="248620" indent="-248620">
              <a:spcBef>
                <a:spcPts val="0"/>
              </a:spcBef>
              <a:spcAft>
                <a:spcPts val="500"/>
              </a:spcAft>
            </a:pPr>
            <a:r>
              <a:rPr lang="tr-TR" sz="2000" b="1" i="0">
                <a:solidFill>
                  <a:srgbClr val="2C6696"/>
                </a:solidFill>
                <a:latin typeface="Calibri"/>
              </a:rPr>
              <a:t>•  </a:t>
            </a:r>
            <a:r>
              <a:rPr lang="tr-TR" sz="2000" b="0" i="0">
                <a:solidFill>
                  <a:srgbClr val="262626"/>
                </a:solidFill>
                <a:latin typeface="Calibri"/>
              </a:rPr>
              <a:t>Nitelikli iş gücü</a:t>
            </a:r>
          </a:p>
          <a:p>
            <a:pPr algn="l" marL="248620" indent="-248620">
              <a:spcBef>
                <a:spcPts val="0"/>
              </a:spcBef>
              <a:spcAft>
                <a:spcPts val="500"/>
              </a:spcAft>
            </a:pPr>
            <a:r>
              <a:rPr lang="tr-TR" sz="2000" b="1" i="0">
                <a:solidFill>
                  <a:srgbClr val="2C6696"/>
                </a:solidFill>
                <a:latin typeface="Calibri"/>
              </a:rPr>
              <a:t>•  </a:t>
            </a:r>
            <a:r>
              <a:rPr lang="tr-TR" sz="2000" b="0" i="0">
                <a:solidFill>
                  <a:srgbClr val="262626"/>
                </a:solidFill>
                <a:latin typeface="Calibri"/>
              </a:rPr>
              <a:t>Büyük ve işlek limanlar, gelişmiş ulaşım (s. 178)</a:t>
            </a:r>
          </a:p>
          <a:p>
            <a:pPr algn="l" marL="248620" indent="-248620">
              <a:spcBef>
                <a:spcPts val="0"/>
              </a:spcBef>
              <a:spcAft>
                <a:spcPts val="500"/>
              </a:spcAft>
            </a:pPr>
            <a:r>
              <a:rPr lang="tr-TR" sz="2000" b="1" i="0">
                <a:solidFill>
                  <a:srgbClr val="2C6696"/>
                </a:solidFill>
                <a:latin typeface="Calibri"/>
              </a:rPr>
              <a:t>•  </a:t>
            </a:r>
            <a:r>
              <a:rPr lang="tr-TR" sz="2000" b="0" i="0">
                <a:solidFill>
                  <a:srgbClr val="262626"/>
                </a:solidFill>
                <a:latin typeface="Calibri"/>
              </a:rPr>
              <a:t>Kalabalık nüfus ve büyük pazar</a:t>
            </a:r>
          </a:p>
          <a:p>
            <a:pPr algn="l" marL="248620" indent="-248620">
              <a:spcBef>
                <a:spcPts val="0"/>
              </a:spcBef>
              <a:spcAft>
                <a:spcPts val="0"/>
              </a:spcAft>
            </a:pPr>
            <a:r>
              <a:rPr lang="tr-TR" sz="2000" b="1" i="0">
                <a:solidFill>
                  <a:srgbClr val="2C6696"/>
                </a:solidFill>
                <a:latin typeface="Calibri"/>
              </a:rPr>
              <a:t>•  </a:t>
            </a:r>
            <a:r>
              <a:rPr lang="tr-TR" sz="2000" b="0" i="0">
                <a:solidFill>
                  <a:srgbClr val="262626"/>
                </a:solidFill>
                <a:latin typeface="Calibri"/>
              </a:rPr>
              <a:t>İstikrarlı ekonomi politikaları (s. 177)</a:t>
            </a:r>
          </a:p>
        </p:txBody>
      </p:sp>
      <p:sp>
        <p:nvSpPr>
          <p:cNvPr id="12" name="TextBox 1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13" name="Rounded Rectangle 1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177-179</a:t>
            </a:r>
          </a:p>
        </p:txBody>
      </p:sp>
      <p:sp>
        <p:nvSpPr>
          <p:cNvPr id="14" name="TextBox 1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87 / 166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7</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Sanayi bölgeleri haritası (s. 179) ile ticaret ağı haritası karşılaştırıldığında hangisi söylenebilir?</a:t>
            </a:r>
          </a:p>
        </p:txBody>
      </p:sp>
      <p:sp>
        <p:nvSpPr>
          <p:cNvPr id="7" name="Rounded Rectangle 6"/>
          <p:cNvSpPr/>
          <p:nvPr/>
        </p:nvSpPr>
        <p:spPr>
          <a:xfrm>
            <a:off x="502920" y="2633472"/>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694736"/>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Birincil sanayi bölgelerinin çoğu ticaret hacmi en büyük bölgelerdedir.</a:t>
            </a:r>
          </a:p>
        </p:txBody>
      </p:sp>
      <p:sp>
        <p:nvSpPr>
          <p:cNvPr id="10" name="Rounded Rectangle 9"/>
          <p:cNvSpPr/>
          <p:nvPr/>
        </p:nvSpPr>
        <p:spPr>
          <a:xfrm>
            <a:off x="502920" y="3368649"/>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1" name="Oval 10"/>
          <p:cNvSpPr/>
          <p:nvPr/>
        </p:nvSpPr>
        <p:spPr>
          <a:xfrm>
            <a:off x="594360" y="3429913"/>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368649"/>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Birincil sanayi bölgeleri en çok Afrika'dadır.</a:t>
            </a:r>
          </a:p>
        </p:txBody>
      </p:sp>
      <p:sp>
        <p:nvSpPr>
          <p:cNvPr id="13" name="Rounded Rectangle 12"/>
          <p:cNvSpPr/>
          <p:nvPr/>
        </p:nvSpPr>
        <p:spPr>
          <a:xfrm>
            <a:off x="502920" y="4103826"/>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4" name="Oval 13"/>
          <p:cNvSpPr/>
          <p:nvPr/>
        </p:nvSpPr>
        <p:spPr>
          <a:xfrm>
            <a:off x="594360" y="4165090"/>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4103826"/>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Ticaret hacmi en büyük bölge Afrika'dır.</a:t>
            </a:r>
          </a:p>
        </p:txBody>
      </p:sp>
      <p:sp>
        <p:nvSpPr>
          <p:cNvPr id="16" name="Rounded Rectangle 15"/>
          <p:cNvSpPr/>
          <p:nvPr/>
        </p:nvSpPr>
        <p:spPr>
          <a:xfrm>
            <a:off x="502920" y="4839003"/>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900267"/>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839003"/>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Sanayi bölgeleri yalnız kıyılarda kurulur.</a:t>
            </a:r>
          </a:p>
        </p:txBody>
      </p:sp>
      <p:sp>
        <p:nvSpPr>
          <p:cNvPr id="19" name="Rounded Rectangle 18"/>
          <p:cNvSpPr/>
          <p:nvPr/>
        </p:nvSpPr>
        <p:spPr>
          <a:xfrm>
            <a:off x="502920" y="5574180"/>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5635444"/>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5574180"/>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Güney Amerika'da birincil sanayi bölgesi vardır.</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179</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88 / 166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7</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Sanayi bölgeleri haritası (s. 179) ile ticaret ağı haritası karşılaştırıldığında hangisi söylenebilir?</a:t>
            </a:r>
          </a:p>
        </p:txBody>
      </p:sp>
      <p:sp>
        <p:nvSpPr>
          <p:cNvPr id="7" name="Rounded Rectangle 6"/>
          <p:cNvSpPr/>
          <p:nvPr/>
        </p:nvSpPr>
        <p:spPr>
          <a:xfrm>
            <a:off x="502920" y="2633472"/>
            <a:ext cx="11185855" cy="415137"/>
          </a:xfrm>
          <a:prstGeom prst="roundRect">
            <a:avLst>
              <a:gd name="adj" fmla="val 30000"/>
            </a:avLst>
          </a:prstGeom>
          <a:solidFill>
            <a:srgbClr val="E3F1E4"/>
          </a:solidFill>
          <a:ln w="31750">
            <a:solidFill>
              <a:srgbClr val="2E7D32"/>
            </a:solidFill>
          </a:ln>
          <a:effectLst/>
        </p:spPr>
        <p:txBody>
          <a:bodyPr rtlCol="0" anchor="ctr"/>
          <a:lstStyle/>
          <a:p/>
        </p:txBody>
      </p:sp>
      <p:sp>
        <p:nvSpPr>
          <p:cNvPr id="8" name="Oval 7"/>
          <p:cNvSpPr/>
          <p:nvPr/>
        </p:nvSpPr>
        <p:spPr>
          <a:xfrm>
            <a:off x="594360" y="2589580"/>
            <a:ext cx="502920" cy="50292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262626"/>
                </a:solidFill>
                <a:latin typeface="Calibri"/>
              </a:rPr>
              <a:t>Birincil sanayi bölgelerinin çoğu ticaret hacmi en büyük bölgelerdedir.</a:t>
            </a:r>
          </a:p>
        </p:txBody>
      </p:sp>
      <p:sp>
        <p:nvSpPr>
          <p:cNvPr id="10" name="Rounded Rectangle 9"/>
          <p:cNvSpPr/>
          <p:nvPr/>
        </p:nvSpPr>
        <p:spPr>
          <a:xfrm>
            <a:off x="502920" y="3158337"/>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1" name="Oval 10"/>
          <p:cNvSpPr/>
          <p:nvPr/>
        </p:nvSpPr>
        <p:spPr>
          <a:xfrm>
            <a:off x="594360" y="3114445"/>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15833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Birincil sanayi bölgeleri en çok Afrika'dadır.</a:t>
            </a:r>
          </a:p>
        </p:txBody>
      </p:sp>
      <p:sp>
        <p:nvSpPr>
          <p:cNvPr id="13" name="Rounded Rectangle 12"/>
          <p:cNvSpPr/>
          <p:nvPr/>
        </p:nvSpPr>
        <p:spPr>
          <a:xfrm>
            <a:off x="502920" y="368320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4" name="Oval 13"/>
          <p:cNvSpPr/>
          <p:nvPr/>
        </p:nvSpPr>
        <p:spPr>
          <a:xfrm>
            <a:off x="594360" y="363931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368320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Ticaret hacmi en büyük bölge Afrika'dır.</a:t>
            </a:r>
          </a:p>
        </p:txBody>
      </p:sp>
      <p:sp>
        <p:nvSpPr>
          <p:cNvPr id="16" name="Rounded Rectangle 15"/>
          <p:cNvSpPr/>
          <p:nvPr/>
        </p:nvSpPr>
        <p:spPr>
          <a:xfrm>
            <a:off x="502920" y="4208067"/>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164175"/>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20806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Sanayi bölgeleri yalnız kıyılarda kurulur.</a:t>
            </a:r>
          </a:p>
        </p:txBody>
      </p:sp>
      <p:sp>
        <p:nvSpPr>
          <p:cNvPr id="19" name="Rounded Rectangle 18"/>
          <p:cNvSpPr/>
          <p:nvPr/>
        </p:nvSpPr>
        <p:spPr>
          <a:xfrm>
            <a:off x="502920" y="473293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468904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473293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Güney Amerika'da birincil sanayi bölgesi vardır.</a:t>
            </a:r>
          </a:p>
        </p:txBody>
      </p:sp>
      <p:sp>
        <p:nvSpPr>
          <p:cNvPr id="22" name="Rounded Rectangle 21"/>
          <p:cNvSpPr/>
          <p:nvPr/>
        </p:nvSpPr>
        <p:spPr>
          <a:xfrm>
            <a:off x="502920" y="5266944"/>
            <a:ext cx="11185855" cy="1005840"/>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2000" b="0" i="0">
                <a:solidFill>
                  <a:srgbClr val="262626"/>
                </a:solidFill>
                <a:latin typeface="Calibri"/>
              </a:rPr>
              <a:t>ABD'nin kuzeydoğusu, Batı Avrupa ve Doğu Asya; Kuzey Amerika (4.299), Avrupa (12.220) ve Asya-Pasifik (10.831 milyar $) ticaret bölgelerindedir (DTÖ, 2023).</a:t>
            </a:r>
          </a:p>
        </p:txBody>
      </p:sp>
      <p:sp>
        <p:nvSpPr>
          <p:cNvPr id="23" name="TextBox 2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24" name="Rounded Rectangle 2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179</a:t>
            </a:r>
          </a:p>
        </p:txBody>
      </p:sp>
      <p:sp>
        <p:nvSpPr>
          <p:cNvPr id="25" name="TextBox 2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89 / 166</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Etkinlik: TEKNOSAB</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ETKİNLİK · 8 GRUP</a:t>
            </a:r>
          </a:p>
        </p:txBody>
      </p:sp>
      <p:sp>
        <p:nvSpPr>
          <p:cNvPr id="6" name="Rounded Rectangle 5"/>
          <p:cNvSpPr/>
          <p:nvPr/>
        </p:nvSpPr>
        <p:spPr>
          <a:xfrm>
            <a:off x="502920" y="1216152"/>
            <a:ext cx="11185855" cy="914400"/>
          </a:xfrm>
          <a:prstGeom prst="roundRect">
            <a:avLst>
              <a:gd name="adj" fmla="val 8000"/>
            </a:avLst>
          </a:prstGeom>
          <a:solidFill>
            <a:srgbClr val="FFF3D1"/>
          </a:solidFill>
          <a:ln>
            <a:noFill/>
          </a:ln>
          <a:effectLst/>
        </p:spPr>
        <p:txBody>
          <a:bodyPr rtlCol="0" anchor="ctr"/>
          <a:lstStyle/>
          <a:p/>
        </p:txBody>
      </p:sp>
      <p:sp>
        <p:nvSpPr>
          <p:cNvPr id="7" name="TextBox 6"/>
          <p:cNvSpPr txBox="1"/>
          <p:nvPr/>
        </p:nvSpPr>
        <p:spPr>
          <a:xfrm>
            <a:off x="640080" y="1271016"/>
            <a:ext cx="1143000" cy="429768"/>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D3373A"/>
                </a:solidFill>
                <a:latin typeface="Calibri"/>
              </a:rPr>
              <a:t>Amaç</a:t>
            </a:r>
          </a:p>
        </p:txBody>
      </p:sp>
      <p:sp>
        <p:nvSpPr>
          <p:cNvPr id="8" name="TextBox 7"/>
          <p:cNvSpPr txBox="1"/>
          <p:nvPr/>
        </p:nvSpPr>
        <p:spPr>
          <a:xfrm>
            <a:off x="1783080" y="1271016"/>
            <a:ext cx="9722815" cy="429768"/>
          </a:xfrm>
          <a:prstGeom prst="rect">
            <a:avLst/>
          </a:prstGeom>
          <a:noFill/>
        </p:spPr>
        <p:txBody>
          <a:bodyPr wrap="square" anchor="ctr" lIns="73152" rIns="73152" tIns="36576" bIns="36576">
            <a:noAutofit/>
          </a:bodyPr>
          <a:lstStyle/>
          <a:p>
            <a:pPr algn="l">
              <a:spcBef>
                <a:spcPts val="0"/>
              </a:spcBef>
              <a:spcAft>
                <a:spcPts val="0"/>
              </a:spcAft>
            </a:pPr>
            <a:r>
              <a:rPr lang="tr-TR" sz="1800" b="0" i="1">
                <a:solidFill>
                  <a:srgbClr val="262626"/>
                </a:solidFill>
                <a:latin typeface="Calibri"/>
              </a:rPr>
              <a:t>TEKNOSAB’ın kuruluş yeri seçiminde etkili olan coğrafi faktörleri sorgulayabilme</a:t>
            </a:r>
          </a:p>
        </p:txBody>
      </p:sp>
      <p:sp>
        <p:nvSpPr>
          <p:cNvPr id="9" name="TextBox 8"/>
          <p:cNvSpPr txBox="1"/>
          <p:nvPr/>
        </p:nvSpPr>
        <p:spPr>
          <a:xfrm>
            <a:off x="640080" y="1673352"/>
            <a:ext cx="1143000" cy="402336"/>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D3373A"/>
                </a:solidFill>
                <a:latin typeface="Calibri"/>
              </a:rPr>
              <a:t>Beceri</a:t>
            </a:r>
          </a:p>
        </p:txBody>
      </p:sp>
      <p:sp>
        <p:nvSpPr>
          <p:cNvPr id="10" name="TextBox 9"/>
          <p:cNvSpPr txBox="1"/>
          <p:nvPr/>
        </p:nvSpPr>
        <p:spPr>
          <a:xfrm>
            <a:off x="1783080" y="1673352"/>
            <a:ext cx="9722815" cy="402336"/>
          </a:xfrm>
          <a:prstGeom prst="rect">
            <a:avLst/>
          </a:prstGeom>
          <a:noFill/>
        </p:spPr>
        <p:txBody>
          <a:bodyPr wrap="square" anchor="ctr" lIns="73152" rIns="73152" tIns="36576" bIns="36576">
            <a:noAutofit/>
          </a:bodyPr>
          <a:lstStyle/>
          <a:p>
            <a:pPr algn="l">
              <a:spcBef>
                <a:spcPts val="0"/>
              </a:spcBef>
              <a:spcAft>
                <a:spcPts val="0"/>
              </a:spcAft>
            </a:pPr>
            <a:r>
              <a:rPr lang="tr-TR" sz="1800" b="0" i="1">
                <a:solidFill>
                  <a:srgbClr val="262626"/>
                </a:solidFill>
                <a:latin typeface="Calibri"/>
              </a:rPr>
              <a:t>Coğrafi Sorgulama; Tablo, Grafik, Şekil ve/veya Diyagram; İletişim, İş Birliği</a:t>
            </a:r>
          </a:p>
        </p:txBody>
      </p:sp>
      <p:sp>
        <p:nvSpPr>
          <p:cNvPr id="11" name="TextBox 10"/>
          <p:cNvSpPr txBox="1"/>
          <p:nvPr/>
        </p:nvSpPr>
        <p:spPr>
          <a:xfrm>
            <a:off x="502920" y="2185416"/>
            <a:ext cx="11185855" cy="603504"/>
          </a:xfrm>
          <a:prstGeom prst="rect">
            <a:avLst/>
          </a:prstGeom>
          <a:noFill/>
        </p:spPr>
        <p:txBody>
          <a:bodyPr wrap="square" anchor="ctr" lIns="73152" rIns="73152" tIns="36576" bIns="36576">
            <a:noAutofit/>
          </a:bodyPr>
          <a:lstStyle/>
          <a:p>
            <a:pPr algn="l">
              <a:spcBef>
                <a:spcPts val="0"/>
              </a:spcBef>
              <a:spcAft>
                <a:spcPts val="0"/>
              </a:spcAft>
            </a:pPr>
            <a:r>
              <a:rPr lang="tr-TR" sz="1700" b="0" i="1">
                <a:solidFill>
                  <a:srgbClr val="262626"/>
                </a:solidFill>
                <a:latin typeface="Calibri"/>
              </a:rPr>
              <a:t>Yönerge: TEKNOSAB ile ilgili verilen metin, coğrafi temsil ve e-içerikten yararlanarak aşağıdaki etkinlik adımlarını grup çalışması yoluyla uygulayınız.</a:t>
            </a:r>
          </a:p>
        </p:txBody>
      </p:sp>
      <p:sp>
        <p:nvSpPr>
          <p:cNvPr id="12" name="TextBox 11"/>
          <p:cNvSpPr txBox="1"/>
          <p:nvPr/>
        </p:nvSpPr>
        <p:spPr>
          <a:xfrm>
            <a:off x="502920" y="2843784"/>
            <a:ext cx="11185855" cy="502920"/>
          </a:xfrm>
          <a:prstGeom prst="rect">
            <a:avLst/>
          </a:prstGeom>
          <a:noFill/>
        </p:spPr>
        <p:txBody>
          <a:bodyPr wrap="square" anchor="ctr" lIns="73152" rIns="73152" tIns="36576" bIns="36576">
            <a:noAutofit/>
          </a:bodyPr>
          <a:lstStyle/>
          <a:p>
            <a:pPr algn="l">
              <a:spcBef>
                <a:spcPts val="0"/>
              </a:spcBef>
              <a:spcAft>
                <a:spcPts val="0"/>
              </a:spcAft>
            </a:pPr>
            <a:r>
              <a:rPr lang="tr-TR" sz="2700" b="1" i="0">
                <a:solidFill>
                  <a:srgbClr val="B85C12"/>
                </a:solidFill>
                <a:latin typeface="Calibri"/>
              </a:rPr>
              <a:t>Bursa Teknoloji Organize Sanayi Bölgesi (TEKNOSAB)</a:t>
            </a:r>
          </a:p>
        </p:txBody>
      </p:sp>
      <p:sp>
        <p:nvSpPr>
          <p:cNvPr id="13" name="Rounded Rectangle 12"/>
          <p:cNvSpPr/>
          <p:nvPr/>
        </p:nvSpPr>
        <p:spPr>
          <a:xfrm>
            <a:off x="502920" y="3438144"/>
            <a:ext cx="2645587" cy="1554480"/>
          </a:xfrm>
          <a:prstGeom prst="roundRect">
            <a:avLst>
              <a:gd name="adj" fmla="val 5000"/>
            </a:avLst>
          </a:prstGeom>
          <a:solidFill>
            <a:srgbClr val="F0F0F0"/>
          </a:solidFill>
          <a:ln>
            <a:noFill/>
          </a:ln>
          <a:effectLst/>
        </p:spPr>
        <p:txBody>
          <a:bodyPr rtlCol="0" anchor="ctr"/>
          <a:lstStyle/>
          <a:p/>
        </p:txBody>
      </p:sp>
      <p:sp>
        <p:nvSpPr>
          <p:cNvPr id="14" name="Rounded Rectangle 13"/>
          <p:cNvSpPr/>
          <p:nvPr/>
        </p:nvSpPr>
        <p:spPr>
          <a:xfrm>
            <a:off x="502920" y="3438144"/>
            <a:ext cx="2645587" cy="530352"/>
          </a:xfrm>
          <a:prstGeom prst="roundRect">
            <a:avLst>
              <a:gd name="adj" fmla="val 25000"/>
            </a:avLst>
          </a:prstGeom>
          <a:solidFill>
            <a:srgbClr val="B85C12"/>
          </a:solidFill>
          <a:ln>
            <a:noFill/>
          </a:ln>
          <a:effectLst/>
        </p:spPr>
        <p:txBody>
          <a:bodyPr rtlCol="0" anchor="ctr"/>
          <a:lstStyle/>
          <a:p/>
        </p:txBody>
      </p:sp>
      <p:sp>
        <p:nvSpPr>
          <p:cNvPr id="15" name="Rectangle 14"/>
          <p:cNvSpPr/>
          <p:nvPr/>
        </p:nvSpPr>
        <p:spPr>
          <a:xfrm>
            <a:off x="502920" y="3703320"/>
            <a:ext cx="2645587" cy="265176"/>
          </a:xfrm>
          <a:prstGeom prst="rect">
            <a:avLst/>
          </a:prstGeom>
          <a:solidFill>
            <a:srgbClr val="B85C12"/>
          </a:solidFill>
          <a:ln>
            <a:noFill/>
          </a:ln>
          <a:effectLst/>
        </p:spPr>
        <p:txBody>
          <a:bodyPr rtlCol="0" anchor="ctr"/>
          <a:lstStyle/>
          <a:p/>
        </p:txBody>
      </p:sp>
      <p:sp>
        <p:nvSpPr>
          <p:cNvPr id="16" name="TextBox 15"/>
          <p:cNvSpPr txBox="1"/>
          <p:nvPr/>
        </p:nvSpPr>
        <p:spPr>
          <a:xfrm>
            <a:off x="594360" y="3438144"/>
            <a:ext cx="2462707" cy="530352"/>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FFFFFF"/>
                </a:solidFill>
                <a:latin typeface="Calibri"/>
              </a:rPr>
              <a:t>Metin</a:t>
            </a:r>
          </a:p>
        </p:txBody>
      </p:sp>
      <p:sp>
        <p:nvSpPr>
          <p:cNvPr id="17" name="TextBox 16"/>
          <p:cNvSpPr txBox="1"/>
          <p:nvPr/>
        </p:nvSpPr>
        <p:spPr>
          <a:xfrm>
            <a:off x="612648" y="4041648"/>
            <a:ext cx="2426131" cy="877824"/>
          </a:xfrm>
          <a:prstGeom prst="rect">
            <a:avLst/>
          </a:prstGeom>
          <a:noFill/>
        </p:spPr>
        <p:txBody>
          <a:bodyPr wrap="square" anchor="t" lIns="73152" rIns="73152" tIns="36576" bIns="36576">
            <a:noAutofit/>
          </a:bodyPr>
          <a:lstStyle/>
          <a:p>
            <a:pPr algn="l">
              <a:spcBef>
                <a:spcPts val="0"/>
              </a:spcBef>
              <a:spcAft>
                <a:spcPts val="0"/>
              </a:spcAft>
            </a:pPr>
            <a:r>
              <a:rPr lang="tr-TR" sz="1800" b="0" i="0">
                <a:solidFill>
                  <a:srgbClr val="262626"/>
                </a:solidFill>
                <a:latin typeface="Calibri"/>
              </a:rPr>
              <a:t>Genel bilgiler ve coğrafi özellikler</a:t>
            </a:r>
          </a:p>
        </p:txBody>
      </p:sp>
      <p:sp>
        <p:nvSpPr>
          <p:cNvPr id="18" name="Rounded Rectangle 17"/>
          <p:cNvSpPr/>
          <p:nvPr/>
        </p:nvSpPr>
        <p:spPr>
          <a:xfrm>
            <a:off x="3349675" y="3438144"/>
            <a:ext cx="2645587" cy="1554480"/>
          </a:xfrm>
          <a:prstGeom prst="roundRect">
            <a:avLst>
              <a:gd name="adj" fmla="val 5000"/>
            </a:avLst>
          </a:prstGeom>
          <a:solidFill>
            <a:srgbClr val="F0F0F0"/>
          </a:solidFill>
          <a:ln>
            <a:noFill/>
          </a:ln>
          <a:effectLst/>
        </p:spPr>
        <p:txBody>
          <a:bodyPr rtlCol="0" anchor="ctr"/>
          <a:lstStyle/>
          <a:p/>
        </p:txBody>
      </p:sp>
      <p:sp>
        <p:nvSpPr>
          <p:cNvPr id="19" name="Rounded Rectangle 18"/>
          <p:cNvSpPr/>
          <p:nvPr/>
        </p:nvSpPr>
        <p:spPr>
          <a:xfrm>
            <a:off x="3349675" y="3438144"/>
            <a:ext cx="2645587" cy="530352"/>
          </a:xfrm>
          <a:prstGeom prst="roundRect">
            <a:avLst>
              <a:gd name="adj" fmla="val 25000"/>
            </a:avLst>
          </a:prstGeom>
          <a:solidFill>
            <a:srgbClr val="4F4F4F"/>
          </a:solidFill>
          <a:ln>
            <a:noFill/>
          </a:ln>
          <a:effectLst/>
        </p:spPr>
        <p:txBody>
          <a:bodyPr rtlCol="0" anchor="ctr"/>
          <a:lstStyle/>
          <a:p/>
        </p:txBody>
      </p:sp>
      <p:sp>
        <p:nvSpPr>
          <p:cNvPr id="20" name="Rectangle 19"/>
          <p:cNvSpPr/>
          <p:nvPr/>
        </p:nvSpPr>
        <p:spPr>
          <a:xfrm>
            <a:off x="3349675" y="3703320"/>
            <a:ext cx="2645587" cy="265176"/>
          </a:xfrm>
          <a:prstGeom prst="rect">
            <a:avLst/>
          </a:prstGeom>
          <a:solidFill>
            <a:srgbClr val="4F4F4F"/>
          </a:solidFill>
          <a:ln>
            <a:noFill/>
          </a:ln>
          <a:effectLst/>
        </p:spPr>
        <p:txBody>
          <a:bodyPr rtlCol="0" anchor="ctr"/>
          <a:lstStyle/>
          <a:p/>
        </p:txBody>
      </p:sp>
      <p:sp>
        <p:nvSpPr>
          <p:cNvPr id="21" name="TextBox 20"/>
          <p:cNvSpPr txBox="1"/>
          <p:nvPr/>
        </p:nvSpPr>
        <p:spPr>
          <a:xfrm>
            <a:off x="3441115" y="3438144"/>
            <a:ext cx="2462707" cy="530352"/>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FFFFFF"/>
                </a:solidFill>
                <a:latin typeface="Calibri"/>
              </a:rPr>
              <a:t>Uydu görüntüsü</a:t>
            </a:r>
          </a:p>
        </p:txBody>
      </p:sp>
      <p:sp>
        <p:nvSpPr>
          <p:cNvPr id="22" name="TextBox 21"/>
          <p:cNvSpPr txBox="1"/>
          <p:nvPr/>
        </p:nvSpPr>
        <p:spPr>
          <a:xfrm>
            <a:off x="3459403" y="4041648"/>
            <a:ext cx="2426131" cy="877824"/>
          </a:xfrm>
          <a:prstGeom prst="rect">
            <a:avLst/>
          </a:prstGeom>
          <a:noFill/>
        </p:spPr>
        <p:txBody>
          <a:bodyPr wrap="square" anchor="t" lIns="73152" rIns="73152" tIns="36576" bIns="36576">
            <a:noAutofit/>
          </a:bodyPr>
          <a:lstStyle/>
          <a:p>
            <a:pPr algn="l">
              <a:spcBef>
                <a:spcPts val="0"/>
              </a:spcBef>
              <a:spcAft>
                <a:spcPts val="0"/>
              </a:spcAft>
            </a:pPr>
            <a:r>
              <a:rPr lang="tr-TR" sz="1800" b="0" i="0">
                <a:solidFill>
                  <a:srgbClr val="262626"/>
                </a:solidFill>
                <a:latin typeface="Calibri"/>
              </a:rPr>
              <a:t>Coğrafi veriler işaretli</a:t>
            </a:r>
          </a:p>
        </p:txBody>
      </p:sp>
      <p:sp>
        <p:nvSpPr>
          <p:cNvPr id="23" name="Rounded Rectangle 22"/>
          <p:cNvSpPr/>
          <p:nvPr/>
        </p:nvSpPr>
        <p:spPr>
          <a:xfrm>
            <a:off x="6196430" y="3438144"/>
            <a:ext cx="2645587" cy="1554480"/>
          </a:xfrm>
          <a:prstGeom prst="roundRect">
            <a:avLst>
              <a:gd name="adj" fmla="val 5000"/>
            </a:avLst>
          </a:prstGeom>
          <a:solidFill>
            <a:srgbClr val="F0F0F0"/>
          </a:solidFill>
          <a:ln>
            <a:noFill/>
          </a:ln>
          <a:effectLst/>
        </p:spPr>
        <p:txBody>
          <a:bodyPr rtlCol="0" anchor="ctr"/>
          <a:lstStyle/>
          <a:p/>
        </p:txBody>
      </p:sp>
      <p:sp>
        <p:nvSpPr>
          <p:cNvPr id="24" name="Rounded Rectangle 23"/>
          <p:cNvSpPr/>
          <p:nvPr/>
        </p:nvSpPr>
        <p:spPr>
          <a:xfrm>
            <a:off x="6196430" y="3438144"/>
            <a:ext cx="2645587" cy="530352"/>
          </a:xfrm>
          <a:prstGeom prst="roundRect">
            <a:avLst>
              <a:gd name="adj" fmla="val 25000"/>
            </a:avLst>
          </a:prstGeom>
          <a:solidFill>
            <a:srgbClr val="B85C12"/>
          </a:solidFill>
          <a:ln>
            <a:noFill/>
          </a:ln>
          <a:effectLst/>
        </p:spPr>
        <p:txBody>
          <a:bodyPr rtlCol="0" anchor="ctr"/>
          <a:lstStyle/>
          <a:p/>
        </p:txBody>
      </p:sp>
      <p:sp>
        <p:nvSpPr>
          <p:cNvPr id="25" name="Rectangle 24"/>
          <p:cNvSpPr/>
          <p:nvPr/>
        </p:nvSpPr>
        <p:spPr>
          <a:xfrm>
            <a:off x="6196430" y="3703320"/>
            <a:ext cx="2645587" cy="265176"/>
          </a:xfrm>
          <a:prstGeom prst="rect">
            <a:avLst/>
          </a:prstGeom>
          <a:solidFill>
            <a:srgbClr val="B85C12"/>
          </a:solidFill>
          <a:ln>
            <a:noFill/>
          </a:ln>
          <a:effectLst/>
        </p:spPr>
        <p:txBody>
          <a:bodyPr rtlCol="0" anchor="ctr"/>
          <a:lstStyle/>
          <a:p/>
        </p:txBody>
      </p:sp>
      <p:sp>
        <p:nvSpPr>
          <p:cNvPr id="26" name="TextBox 25"/>
          <p:cNvSpPr txBox="1"/>
          <p:nvPr/>
        </p:nvSpPr>
        <p:spPr>
          <a:xfrm>
            <a:off x="6287870" y="3438144"/>
            <a:ext cx="2462707" cy="530352"/>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FFFFFF"/>
                </a:solidFill>
                <a:latin typeface="Calibri"/>
              </a:rPr>
              <a:t>Grafik</a:t>
            </a:r>
          </a:p>
        </p:txBody>
      </p:sp>
      <p:sp>
        <p:nvSpPr>
          <p:cNvPr id="27" name="TextBox 26"/>
          <p:cNvSpPr txBox="1"/>
          <p:nvPr/>
        </p:nvSpPr>
        <p:spPr>
          <a:xfrm>
            <a:off x="6306158" y="4041648"/>
            <a:ext cx="2426131" cy="877824"/>
          </a:xfrm>
          <a:prstGeom prst="rect">
            <a:avLst/>
          </a:prstGeom>
          <a:noFill/>
        </p:spPr>
        <p:txBody>
          <a:bodyPr wrap="square" anchor="t" lIns="73152" rIns="73152" tIns="36576" bIns="36576">
            <a:noAutofit/>
          </a:bodyPr>
          <a:lstStyle/>
          <a:p>
            <a:pPr algn="l">
              <a:spcBef>
                <a:spcPts val="0"/>
              </a:spcBef>
              <a:spcAft>
                <a:spcPts val="0"/>
              </a:spcAft>
            </a:pPr>
            <a:r>
              <a:rPr lang="tr-TR" sz="1800" b="0" i="0">
                <a:solidFill>
                  <a:srgbClr val="262626"/>
                </a:solidFill>
                <a:latin typeface="Calibri"/>
              </a:rPr>
              <a:t>Bursa'nın sıcaklık ve yağışı</a:t>
            </a:r>
          </a:p>
        </p:txBody>
      </p:sp>
      <p:sp>
        <p:nvSpPr>
          <p:cNvPr id="28" name="Rounded Rectangle 27"/>
          <p:cNvSpPr/>
          <p:nvPr/>
        </p:nvSpPr>
        <p:spPr>
          <a:xfrm>
            <a:off x="9043185" y="3438144"/>
            <a:ext cx="2645587" cy="1554480"/>
          </a:xfrm>
          <a:prstGeom prst="roundRect">
            <a:avLst>
              <a:gd name="adj" fmla="val 5000"/>
            </a:avLst>
          </a:prstGeom>
          <a:solidFill>
            <a:srgbClr val="F0F0F0"/>
          </a:solidFill>
          <a:ln>
            <a:noFill/>
          </a:ln>
          <a:effectLst/>
        </p:spPr>
        <p:txBody>
          <a:bodyPr rtlCol="0" anchor="ctr"/>
          <a:lstStyle/>
          <a:p/>
        </p:txBody>
      </p:sp>
      <p:sp>
        <p:nvSpPr>
          <p:cNvPr id="29" name="Rounded Rectangle 28"/>
          <p:cNvSpPr/>
          <p:nvPr/>
        </p:nvSpPr>
        <p:spPr>
          <a:xfrm>
            <a:off x="9043185" y="3438144"/>
            <a:ext cx="2645587" cy="530352"/>
          </a:xfrm>
          <a:prstGeom prst="roundRect">
            <a:avLst>
              <a:gd name="adj" fmla="val 25000"/>
            </a:avLst>
          </a:prstGeom>
          <a:solidFill>
            <a:srgbClr val="4F4F4F"/>
          </a:solidFill>
          <a:ln>
            <a:noFill/>
          </a:ln>
          <a:effectLst/>
        </p:spPr>
        <p:txBody>
          <a:bodyPr rtlCol="0" anchor="ctr"/>
          <a:lstStyle/>
          <a:p/>
        </p:txBody>
      </p:sp>
      <p:sp>
        <p:nvSpPr>
          <p:cNvPr id="30" name="Rectangle 29"/>
          <p:cNvSpPr/>
          <p:nvPr/>
        </p:nvSpPr>
        <p:spPr>
          <a:xfrm>
            <a:off x="9043185" y="3703320"/>
            <a:ext cx="2645587" cy="265176"/>
          </a:xfrm>
          <a:prstGeom prst="rect">
            <a:avLst/>
          </a:prstGeom>
          <a:solidFill>
            <a:srgbClr val="4F4F4F"/>
          </a:solidFill>
          <a:ln>
            <a:noFill/>
          </a:ln>
          <a:effectLst/>
        </p:spPr>
        <p:txBody>
          <a:bodyPr rtlCol="0" anchor="ctr"/>
          <a:lstStyle/>
          <a:p/>
        </p:txBody>
      </p:sp>
      <p:sp>
        <p:nvSpPr>
          <p:cNvPr id="31" name="TextBox 30"/>
          <p:cNvSpPr txBox="1"/>
          <p:nvPr/>
        </p:nvSpPr>
        <p:spPr>
          <a:xfrm>
            <a:off x="9134625" y="3438144"/>
            <a:ext cx="2462707" cy="530352"/>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FFFFFF"/>
                </a:solidFill>
                <a:latin typeface="Calibri"/>
              </a:rPr>
              <a:t>e-içerik</a:t>
            </a:r>
          </a:p>
        </p:txBody>
      </p:sp>
      <p:sp>
        <p:nvSpPr>
          <p:cNvPr id="32" name="TextBox 31"/>
          <p:cNvSpPr txBox="1"/>
          <p:nvPr/>
        </p:nvSpPr>
        <p:spPr>
          <a:xfrm>
            <a:off x="9152913" y="4041648"/>
            <a:ext cx="2426131" cy="877824"/>
          </a:xfrm>
          <a:prstGeom prst="rect">
            <a:avLst/>
          </a:prstGeom>
          <a:noFill/>
        </p:spPr>
        <p:txBody>
          <a:bodyPr wrap="square" anchor="t" lIns="73152" rIns="73152" tIns="36576" bIns="36576">
            <a:noAutofit/>
          </a:bodyPr>
          <a:lstStyle/>
          <a:p>
            <a:pPr algn="l">
              <a:spcBef>
                <a:spcPts val="0"/>
              </a:spcBef>
              <a:spcAft>
                <a:spcPts val="0"/>
              </a:spcAft>
            </a:pPr>
            <a:r>
              <a:rPr lang="tr-TR" sz="1600" b="0" i="0">
                <a:solidFill>
                  <a:srgbClr val="262626"/>
                </a:solidFill>
                <a:latin typeface="Calibri"/>
              </a:rPr>
              <a:t>Karekod: TEKNOSAB videosu · izlerken doğal ve beşerî faktörleri not alın</a:t>
            </a:r>
          </a:p>
        </p:txBody>
      </p:sp>
      <p:sp>
        <p:nvSpPr>
          <p:cNvPr id="33" name="Rounded Rectangle 32"/>
          <p:cNvSpPr/>
          <p:nvPr/>
        </p:nvSpPr>
        <p:spPr>
          <a:xfrm>
            <a:off x="502920" y="5175504"/>
            <a:ext cx="4861407" cy="1115568"/>
          </a:xfrm>
          <a:prstGeom prst="roundRect">
            <a:avLst>
              <a:gd name="adj" fmla="val 30000"/>
            </a:avLst>
          </a:prstGeom>
          <a:solidFill>
            <a:srgbClr val="B85C12"/>
          </a:solidFill>
          <a:ln>
            <a:noFill/>
          </a:ln>
          <a:effectLst/>
        </p:spPr>
        <p:txBody>
          <a:bodyPr rtlCol="0" anchor="ctr" wrap="square" lIns="54864" rIns="54864" tIns="18288" bIns="18288">
            <a:noAutofit/>
          </a:bodyPr>
          <a:lstStyle/>
          <a:p>
            <a:pPr algn="ctr">
              <a:spcBef>
                <a:spcPts val="0"/>
              </a:spcBef>
              <a:spcAft>
                <a:spcPts val="0"/>
              </a:spcAft>
            </a:pPr>
            <a:r>
              <a:rPr lang="tr-TR" sz="2100" b="1" i="0">
                <a:solidFill>
                  <a:srgbClr val="FFFFFF"/>
                </a:solidFill>
                <a:latin typeface="Calibri"/>
              </a:rPr>
              <a:t>Adım 1-3: soru · bilgi · tablo</a:t>
            </a:r>
          </a:p>
        </p:txBody>
      </p:sp>
      <p:sp>
        <p:nvSpPr>
          <p:cNvPr id="34" name="TextBox 33"/>
          <p:cNvSpPr txBox="1"/>
          <p:nvPr/>
        </p:nvSpPr>
        <p:spPr>
          <a:xfrm>
            <a:off x="5364327" y="5175504"/>
            <a:ext cx="1463040" cy="1115568"/>
          </a:xfrm>
          <a:prstGeom prst="rect">
            <a:avLst/>
          </a:prstGeom>
          <a:noFill/>
        </p:spPr>
        <p:txBody>
          <a:bodyPr wrap="square" anchor="ctr" lIns="73152" rIns="73152" tIns="36576" bIns="36576">
            <a:noAutofit/>
          </a:bodyPr>
          <a:lstStyle/>
          <a:p>
            <a:pPr algn="ctr">
              <a:spcBef>
                <a:spcPts val="0"/>
              </a:spcBef>
              <a:spcAft>
                <a:spcPts val="0"/>
              </a:spcAft>
            </a:pPr>
            <a:r>
              <a:rPr lang="tr-TR" sz="1800" b="1" i="0">
                <a:solidFill>
                  <a:srgbClr val="767676"/>
                </a:solidFill>
                <a:latin typeface="Calibri"/>
              </a:rPr>
              <a:t>40. dk</a:t>
            </a:r>
          </a:p>
        </p:txBody>
      </p:sp>
      <p:cxnSp>
        <p:nvCxnSpPr>
          <p:cNvPr id="35" name="Connector 34"/>
          <p:cNvCxnSpPr/>
          <p:nvPr/>
        </p:nvCxnSpPr>
        <p:spPr>
          <a:xfrm>
            <a:off x="5501487" y="6181344"/>
            <a:ext cx="1188720" cy="0"/>
          </a:xfrm>
          <a:prstGeom prst="line">
            <a:avLst/>
          </a:prstGeom>
          <a:ln w="50800">
            <a:solidFill>
              <a:srgbClr val="FCC021"/>
            </a:solidFill>
            <a:tailEnd type="triangle" w="med" len="med"/>
          </a:ln>
        </p:spPr>
      </p:cxnSp>
      <p:sp>
        <p:nvSpPr>
          <p:cNvPr id="36" name="Rounded Rectangle 35"/>
          <p:cNvSpPr/>
          <p:nvPr/>
        </p:nvSpPr>
        <p:spPr>
          <a:xfrm>
            <a:off x="6827367" y="5175504"/>
            <a:ext cx="4861407" cy="1115568"/>
          </a:xfrm>
          <a:prstGeom prst="roundRect">
            <a:avLst>
              <a:gd name="adj" fmla="val 30000"/>
            </a:avLst>
          </a:prstGeom>
          <a:solidFill>
            <a:srgbClr val="4F4F4F"/>
          </a:solidFill>
          <a:ln>
            <a:noFill/>
          </a:ln>
          <a:effectLst/>
        </p:spPr>
        <p:txBody>
          <a:bodyPr rtlCol="0" anchor="ctr" wrap="square" lIns="54864" rIns="54864" tIns="18288" bIns="18288">
            <a:noAutofit/>
          </a:bodyPr>
          <a:lstStyle/>
          <a:p>
            <a:pPr algn="ctr">
              <a:spcBef>
                <a:spcPts val="0"/>
              </a:spcBef>
              <a:spcAft>
                <a:spcPts val="0"/>
              </a:spcAft>
            </a:pPr>
            <a:r>
              <a:rPr lang="tr-TR" sz="2000" b="1" i="0">
                <a:solidFill>
                  <a:srgbClr val="FFFFFF"/>
                </a:solidFill>
                <a:latin typeface="Calibri"/>
              </a:rPr>
              <a:t>Adım 4-8: yeterlilik · önem sırası · cevap · görüş · paylaşım</a:t>
            </a:r>
          </a:p>
        </p:txBody>
      </p:sp>
      <p:sp>
        <p:nvSpPr>
          <p:cNvPr id="37" name="TextBox 36"/>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38" name="Rounded Rectangle 37"/>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180-181</a:t>
            </a:r>
          </a:p>
        </p:txBody>
      </p:sp>
      <p:sp>
        <p:nvSpPr>
          <p:cNvPr id="39" name="TextBox 38"/>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90 / 166</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TEKNOSAB nedir? Genel bilgiler</a:t>
            </a:r>
          </a:p>
        </p:txBody>
      </p:sp>
      <p:sp>
        <p:nvSpPr>
          <p:cNvPr id="5" name="Rounded Rectangle 4"/>
          <p:cNvSpPr/>
          <p:nvPr/>
        </p:nvSpPr>
        <p:spPr>
          <a:xfrm>
            <a:off x="9555480" y="201168"/>
            <a:ext cx="2221992" cy="475488"/>
          </a:xfrm>
          <a:prstGeom prst="roundRect">
            <a:avLst>
              <a:gd name="adj" fmla="val 50000"/>
            </a:avLst>
          </a:prstGeom>
          <a:solidFill>
            <a:srgbClr val="B85C1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GENEL BİLGİLER</a:t>
            </a:r>
          </a:p>
        </p:txBody>
      </p:sp>
      <p:sp>
        <p:nvSpPr>
          <p:cNvPr id="6" name="Rounded Rectangle 5"/>
          <p:cNvSpPr/>
          <p:nvPr/>
        </p:nvSpPr>
        <p:spPr>
          <a:xfrm>
            <a:off x="502920" y="1216152"/>
            <a:ext cx="11185855" cy="1143000"/>
          </a:xfrm>
          <a:prstGeom prst="roundRect">
            <a:avLst>
              <a:gd name="adj" fmla="val 8000"/>
            </a:avLst>
          </a:prstGeom>
          <a:solidFill>
            <a:srgbClr val="F0F0F0"/>
          </a:solidFill>
          <a:ln>
            <a:noFill/>
          </a:ln>
          <a:effectLst/>
        </p:spPr>
        <p:txBody>
          <a:bodyPr rtlCol="0" anchor="ctr"/>
          <a:lstStyle/>
          <a:p/>
        </p:txBody>
      </p:sp>
      <p:sp>
        <p:nvSpPr>
          <p:cNvPr id="7" name="Rectangle 6"/>
          <p:cNvSpPr/>
          <p:nvPr/>
        </p:nvSpPr>
        <p:spPr>
          <a:xfrm>
            <a:off x="502920" y="1216152"/>
            <a:ext cx="118872" cy="1143000"/>
          </a:xfrm>
          <a:prstGeom prst="rect">
            <a:avLst/>
          </a:prstGeom>
          <a:solidFill>
            <a:srgbClr val="B85C12"/>
          </a:solidFill>
          <a:ln>
            <a:noFill/>
          </a:ln>
          <a:effectLst/>
        </p:spPr>
        <p:txBody>
          <a:bodyPr rtlCol="0" anchor="ctr"/>
          <a:lstStyle/>
          <a:p/>
        </p:txBody>
      </p:sp>
      <p:sp>
        <p:nvSpPr>
          <p:cNvPr id="8" name="TextBox 7"/>
          <p:cNvSpPr txBox="1"/>
          <p:nvPr/>
        </p:nvSpPr>
        <p:spPr>
          <a:xfrm>
            <a:off x="777240" y="1216152"/>
            <a:ext cx="10774375" cy="1143000"/>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TEKNOSAB, Türkiye’nin teknoloji odaklı planlanmış yeni nesil bir organize sanayi bölgesidir. Ayrıca otoyol, demir yolu ve liman bağlantıları sayesinde lojistik kolaylıklar sağlanması hedeflenmektedir.</a:t>
            </a:r>
          </a:p>
        </p:txBody>
      </p:sp>
      <p:sp>
        <p:nvSpPr>
          <p:cNvPr id="9" name="Rounded Rectangle 8"/>
          <p:cNvSpPr/>
          <p:nvPr/>
        </p:nvSpPr>
        <p:spPr>
          <a:xfrm>
            <a:off x="502920" y="2496312"/>
            <a:ext cx="2103120" cy="1188720"/>
          </a:xfrm>
          <a:prstGeom prst="roundRect">
            <a:avLst>
              <a:gd name="adj" fmla="val 10000"/>
            </a:avLst>
          </a:prstGeom>
          <a:solidFill>
            <a:srgbClr val="B85C12"/>
          </a:solidFill>
          <a:ln>
            <a:noFill/>
          </a:ln>
          <a:effectLst/>
        </p:spPr>
        <p:txBody>
          <a:bodyPr rtlCol="0" anchor="ctr" wrap="square" lIns="128016" rIns="128016" tIns="73152" bIns="73152">
            <a:noAutofit/>
          </a:bodyPr>
          <a:lstStyle/>
          <a:p>
            <a:pPr algn="ctr">
              <a:spcBef>
                <a:spcPts val="0"/>
              </a:spcBef>
              <a:spcAft>
                <a:spcPts val="0"/>
              </a:spcAft>
            </a:pPr>
            <a:r>
              <a:rPr lang="tr-TR" sz="1900" b="1" i="0">
                <a:solidFill>
                  <a:srgbClr val="FFFFFF"/>
                </a:solidFill>
                <a:latin typeface="Calibri"/>
              </a:rPr>
              <a:t>Sanayi Tesisleri</a:t>
            </a:r>
          </a:p>
        </p:txBody>
      </p:sp>
      <p:sp>
        <p:nvSpPr>
          <p:cNvPr id="10" name="Rounded Rectangle 9"/>
          <p:cNvSpPr/>
          <p:nvPr/>
        </p:nvSpPr>
        <p:spPr>
          <a:xfrm>
            <a:off x="2715768" y="2496312"/>
            <a:ext cx="8973007" cy="1188720"/>
          </a:xfrm>
          <a:prstGeom prst="roundRect">
            <a:avLst>
              <a:gd name="adj" fmla="val 10000"/>
            </a:avLst>
          </a:prstGeom>
          <a:solidFill>
            <a:srgbClr val="FFF3D1"/>
          </a:solidFill>
          <a:ln>
            <a:noFill/>
          </a:ln>
          <a:effectLst/>
        </p:spPr>
        <p:txBody>
          <a:bodyPr rtlCol="0" anchor="ctr" wrap="square" lIns="164592" rIns="164592" tIns="73152" bIns="73152">
            <a:noAutofit/>
          </a:bodyPr>
          <a:lstStyle/>
          <a:p>
            <a:pPr algn="l">
              <a:spcBef>
                <a:spcPts val="0"/>
              </a:spcBef>
              <a:spcAft>
                <a:spcPts val="0"/>
              </a:spcAft>
            </a:pPr>
            <a:r>
              <a:rPr lang="tr-TR" sz="1750" b="0" i="0">
                <a:solidFill>
                  <a:srgbClr val="262626"/>
                </a:solidFill>
                <a:latin typeface="Calibri"/>
              </a:rPr>
              <a:t>Otomotiv ve taşıt sanayisi, makine sanayisi, teknik tekstil ve nanoteknoloji sanayisi, ilaç ve kimya sanayisi, savunma sanayisi, elektrik-elektronik sanayisi, uzay ve havacılık sanayisi, raylı sistemler teknoloji sanayisi, yenilenebilir enerji sanayisi, kompozit malzemeler sanayisi</a:t>
            </a:r>
          </a:p>
        </p:txBody>
      </p:sp>
      <p:sp>
        <p:nvSpPr>
          <p:cNvPr id="11" name="Rounded Rectangle 10"/>
          <p:cNvSpPr/>
          <p:nvPr/>
        </p:nvSpPr>
        <p:spPr>
          <a:xfrm>
            <a:off x="502920" y="3758184"/>
            <a:ext cx="2103120" cy="566928"/>
          </a:xfrm>
          <a:prstGeom prst="roundRect">
            <a:avLst>
              <a:gd name="adj" fmla="val 10000"/>
            </a:avLst>
          </a:prstGeom>
          <a:solidFill>
            <a:srgbClr val="B85C12"/>
          </a:solidFill>
          <a:ln>
            <a:noFill/>
          </a:ln>
          <a:effectLst/>
        </p:spPr>
        <p:txBody>
          <a:bodyPr rtlCol="0" anchor="ctr" wrap="square" lIns="128016" rIns="128016" tIns="73152" bIns="73152">
            <a:noAutofit/>
          </a:bodyPr>
          <a:lstStyle/>
          <a:p>
            <a:pPr algn="ctr">
              <a:spcBef>
                <a:spcPts val="0"/>
              </a:spcBef>
              <a:spcAft>
                <a:spcPts val="0"/>
              </a:spcAft>
            </a:pPr>
            <a:r>
              <a:rPr lang="tr-TR" sz="1900" b="1" i="0">
                <a:solidFill>
                  <a:srgbClr val="FFFFFF"/>
                </a:solidFill>
                <a:latin typeface="Calibri"/>
              </a:rPr>
              <a:t>Lojistik</a:t>
            </a:r>
          </a:p>
        </p:txBody>
      </p:sp>
      <p:sp>
        <p:nvSpPr>
          <p:cNvPr id="12" name="Rounded Rectangle 11"/>
          <p:cNvSpPr/>
          <p:nvPr/>
        </p:nvSpPr>
        <p:spPr>
          <a:xfrm>
            <a:off x="2715768" y="3758184"/>
            <a:ext cx="8973007" cy="566928"/>
          </a:xfrm>
          <a:prstGeom prst="roundRect">
            <a:avLst>
              <a:gd name="adj" fmla="val 10000"/>
            </a:avLst>
          </a:prstGeom>
          <a:solidFill>
            <a:srgbClr val="FFF3D1"/>
          </a:solidFill>
          <a:ln>
            <a:noFill/>
          </a:ln>
          <a:effectLst/>
        </p:spPr>
        <p:txBody>
          <a:bodyPr rtlCol="0" anchor="ctr" wrap="square" lIns="164592" rIns="164592" tIns="73152" bIns="73152">
            <a:noAutofit/>
          </a:bodyPr>
          <a:lstStyle/>
          <a:p>
            <a:pPr algn="l">
              <a:spcBef>
                <a:spcPts val="0"/>
              </a:spcBef>
              <a:spcAft>
                <a:spcPts val="0"/>
              </a:spcAft>
            </a:pPr>
            <a:r>
              <a:rPr lang="tr-TR" sz="1800" b="0" i="0">
                <a:solidFill>
                  <a:srgbClr val="262626"/>
                </a:solidFill>
                <a:latin typeface="Calibri"/>
              </a:rPr>
              <a:t>Lojistik merkezi, İstanbul-İzmir Otoyolu, Yüksek Hızlı Tren, Gemlik Limanı, Bandırma Limanı</a:t>
            </a:r>
          </a:p>
        </p:txBody>
      </p:sp>
      <p:sp>
        <p:nvSpPr>
          <p:cNvPr id="13" name="Rounded Rectangle 12"/>
          <p:cNvSpPr/>
          <p:nvPr/>
        </p:nvSpPr>
        <p:spPr>
          <a:xfrm>
            <a:off x="502920" y="4398264"/>
            <a:ext cx="2103120" cy="502920"/>
          </a:xfrm>
          <a:prstGeom prst="roundRect">
            <a:avLst>
              <a:gd name="adj" fmla="val 10000"/>
            </a:avLst>
          </a:prstGeom>
          <a:solidFill>
            <a:srgbClr val="B85C12"/>
          </a:solidFill>
          <a:ln>
            <a:noFill/>
          </a:ln>
          <a:effectLst/>
        </p:spPr>
        <p:txBody>
          <a:bodyPr rtlCol="0" anchor="ctr" wrap="square" lIns="128016" rIns="128016" tIns="73152" bIns="73152">
            <a:noAutofit/>
          </a:bodyPr>
          <a:lstStyle/>
          <a:p>
            <a:pPr algn="ctr">
              <a:spcBef>
                <a:spcPts val="0"/>
              </a:spcBef>
              <a:spcAft>
                <a:spcPts val="0"/>
              </a:spcAft>
            </a:pPr>
            <a:r>
              <a:rPr lang="tr-TR" sz="1900" b="1" i="0">
                <a:solidFill>
                  <a:srgbClr val="FFFFFF"/>
                </a:solidFill>
                <a:latin typeface="Calibri"/>
              </a:rPr>
              <a:t>Enerji</a:t>
            </a:r>
          </a:p>
        </p:txBody>
      </p:sp>
      <p:sp>
        <p:nvSpPr>
          <p:cNvPr id="14" name="Rounded Rectangle 13"/>
          <p:cNvSpPr/>
          <p:nvPr/>
        </p:nvSpPr>
        <p:spPr>
          <a:xfrm>
            <a:off x="2715768" y="4398264"/>
            <a:ext cx="8973007" cy="502920"/>
          </a:xfrm>
          <a:prstGeom prst="roundRect">
            <a:avLst>
              <a:gd name="adj" fmla="val 10000"/>
            </a:avLst>
          </a:prstGeom>
          <a:solidFill>
            <a:srgbClr val="FFF3D1"/>
          </a:solidFill>
          <a:ln>
            <a:noFill/>
          </a:ln>
          <a:effectLst/>
        </p:spPr>
        <p:txBody>
          <a:bodyPr rtlCol="0" anchor="ctr" wrap="square" lIns="164592" rIns="164592" tIns="73152" bIns="73152">
            <a:noAutofit/>
          </a:bodyPr>
          <a:lstStyle/>
          <a:p>
            <a:pPr algn="l">
              <a:spcBef>
                <a:spcPts val="0"/>
              </a:spcBef>
              <a:spcAft>
                <a:spcPts val="0"/>
              </a:spcAft>
            </a:pPr>
            <a:r>
              <a:rPr lang="tr-TR" sz="1900" b="0" i="0">
                <a:solidFill>
                  <a:srgbClr val="262626"/>
                </a:solidFill>
                <a:latin typeface="Calibri"/>
              </a:rPr>
              <a:t>Rüzgâr enerjisi, güneş enerjisi</a:t>
            </a:r>
          </a:p>
        </p:txBody>
      </p:sp>
      <p:sp>
        <p:nvSpPr>
          <p:cNvPr id="15" name="Rounded Rectangle 14"/>
          <p:cNvSpPr/>
          <p:nvPr/>
        </p:nvSpPr>
        <p:spPr>
          <a:xfrm>
            <a:off x="502920" y="4974336"/>
            <a:ext cx="2103120" cy="502920"/>
          </a:xfrm>
          <a:prstGeom prst="roundRect">
            <a:avLst>
              <a:gd name="adj" fmla="val 10000"/>
            </a:avLst>
          </a:prstGeom>
          <a:solidFill>
            <a:srgbClr val="B85C12"/>
          </a:solidFill>
          <a:ln>
            <a:noFill/>
          </a:ln>
          <a:effectLst/>
        </p:spPr>
        <p:txBody>
          <a:bodyPr rtlCol="0" anchor="ctr" wrap="square" lIns="128016" rIns="128016" tIns="73152" bIns="73152">
            <a:noAutofit/>
          </a:bodyPr>
          <a:lstStyle/>
          <a:p>
            <a:pPr algn="ctr">
              <a:spcBef>
                <a:spcPts val="0"/>
              </a:spcBef>
              <a:spcAft>
                <a:spcPts val="0"/>
              </a:spcAft>
            </a:pPr>
            <a:r>
              <a:rPr lang="tr-TR" sz="1900" b="1" i="0">
                <a:solidFill>
                  <a:srgbClr val="FFFFFF"/>
                </a:solidFill>
                <a:latin typeface="Calibri"/>
              </a:rPr>
              <a:t>Üniversite</a:t>
            </a:r>
          </a:p>
        </p:txBody>
      </p:sp>
      <p:sp>
        <p:nvSpPr>
          <p:cNvPr id="16" name="Rounded Rectangle 15"/>
          <p:cNvSpPr/>
          <p:nvPr/>
        </p:nvSpPr>
        <p:spPr>
          <a:xfrm>
            <a:off x="2715768" y="4974336"/>
            <a:ext cx="8973007" cy="502920"/>
          </a:xfrm>
          <a:prstGeom prst="roundRect">
            <a:avLst>
              <a:gd name="adj" fmla="val 10000"/>
            </a:avLst>
          </a:prstGeom>
          <a:solidFill>
            <a:srgbClr val="FFF3D1"/>
          </a:solidFill>
          <a:ln>
            <a:noFill/>
          </a:ln>
          <a:effectLst/>
        </p:spPr>
        <p:txBody>
          <a:bodyPr rtlCol="0" anchor="ctr" wrap="square" lIns="164592" rIns="164592" tIns="73152" bIns="73152">
            <a:noAutofit/>
          </a:bodyPr>
          <a:lstStyle/>
          <a:p>
            <a:pPr algn="l">
              <a:spcBef>
                <a:spcPts val="0"/>
              </a:spcBef>
              <a:spcAft>
                <a:spcPts val="0"/>
              </a:spcAft>
            </a:pPr>
            <a:r>
              <a:rPr lang="tr-TR" sz="1900" b="0" i="0">
                <a:solidFill>
                  <a:srgbClr val="262626"/>
                </a:solidFill>
                <a:latin typeface="Calibri"/>
              </a:rPr>
              <a:t>Teknoloji Üniversitesi</a:t>
            </a:r>
          </a:p>
        </p:txBody>
      </p:sp>
      <p:sp>
        <p:nvSpPr>
          <p:cNvPr id="17" name="Rounded Rectangle 16"/>
          <p:cNvSpPr/>
          <p:nvPr/>
        </p:nvSpPr>
        <p:spPr>
          <a:xfrm>
            <a:off x="2715768" y="5641848"/>
            <a:ext cx="8973007" cy="649224"/>
          </a:xfrm>
          <a:prstGeom prst="roundRect">
            <a:avLst>
              <a:gd name="adj" fmla="val 30000"/>
            </a:avLst>
          </a:prstGeom>
          <a:solidFill>
            <a:srgbClr val="FFFFFF"/>
          </a:solidFill>
          <a:ln w="19050">
            <a:solidFill>
              <a:srgbClr val="B85C12"/>
            </a:solidFill>
          </a:ln>
          <a:effectLst/>
        </p:spPr>
        <p:txBody>
          <a:bodyPr rtlCol="0" anchor="ctr" wrap="square" lIns="54864" rIns="54864" tIns="18288" bIns="18288">
            <a:noAutofit/>
          </a:bodyPr>
          <a:lstStyle/>
          <a:p>
            <a:pPr algn="ctr">
              <a:spcBef>
                <a:spcPts val="0"/>
              </a:spcBef>
              <a:spcAft>
                <a:spcPts val="0"/>
              </a:spcAft>
            </a:pPr>
            <a:r>
              <a:rPr lang="tr-TR" sz="2000" b="1" i="0">
                <a:solidFill>
                  <a:srgbClr val="B85C12"/>
                </a:solidFill>
                <a:latin typeface="Calibri"/>
              </a:rPr>
              <a:t>“Yerli, yenilikçi ve yeşil” ilkesiyle kurulan bölge</a:t>
            </a:r>
          </a:p>
        </p:txBody>
      </p:sp>
      <p:sp>
        <p:nvSpPr>
          <p:cNvPr id="18" name="TextBox 17"/>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19" name="Rounded Rectangle 18"/>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180</a:t>
            </a:r>
          </a:p>
        </p:txBody>
      </p:sp>
      <p:sp>
        <p:nvSpPr>
          <p:cNvPr id="20" name="TextBox 19"/>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91 / 166</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Adım 1: sorularımızı yazalım</a:t>
            </a:r>
          </a:p>
        </p:txBody>
      </p:sp>
      <p:sp>
        <p:nvSpPr>
          <p:cNvPr id="5" name="Rounded Rectangle 4"/>
          <p:cNvSpPr/>
          <p:nvPr/>
        </p:nvSpPr>
        <p:spPr>
          <a:xfrm>
            <a:off x="9555480" y="201168"/>
            <a:ext cx="2221992" cy="475488"/>
          </a:xfrm>
          <a:prstGeom prst="roundRect">
            <a:avLst>
              <a:gd name="adj" fmla="val 50000"/>
            </a:avLst>
          </a:prstGeom>
          <a:solidFill>
            <a:srgbClr val="B85C1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ADIM 1</a:t>
            </a:r>
          </a:p>
        </p:txBody>
      </p:sp>
      <p:sp>
        <p:nvSpPr>
          <p:cNvPr id="6" name="Rounded Rectangle 5"/>
          <p:cNvSpPr/>
          <p:nvPr/>
        </p:nvSpPr>
        <p:spPr>
          <a:xfrm>
            <a:off x="502920" y="1216152"/>
            <a:ext cx="11185855" cy="868680"/>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2150" b="1" i="0">
                <a:solidFill>
                  <a:srgbClr val="262626"/>
                </a:solidFill>
                <a:latin typeface="Calibri"/>
              </a:rPr>
              <a:t>1. Adım: TEKNOSAB’ın kuruluş yeri seçiminde etkili olan coğrafi faktörlerle ilgili araştırma yapmak için sorular geliştiriniz.</a:t>
            </a:r>
          </a:p>
        </p:txBody>
      </p:sp>
      <p:sp>
        <p:nvSpPr>
          <p:cNvPr id="7" name="Rounded Rectangle 6"/>
          <p:cNvSpPr/>
          <p:nvPr/>
        </p:nvSpPr>
        <p:spPr>
          <a:xfrm>
            <a:off x="502920" y="2221992"/>
            <a:ext cx="806284" cy="512064"/>
          </a:xfrm>
          <a:prstGeom prst="roundRect">
            <a:avLst>
              <a:gd name="adj" fmla="val 50000"/>
            </a:avLst>
          </a:prstGeom>
          <a:solidFill>
            <a:srgbClr val="FFFFFF"/>
          </a:solidFill>
          <a:ln w="25400">
            <a:solidFill>
              <a:srgbClr val="B85C12"/>
            </a:solidFill>
          </a:ln>
          <a:effectLst/>
        </p:spPr>
        <p:txBody>
          <a:bodyPr rtlCol="0" anchor="ctr" wrap="square" lIns="73152" rIns="73152" tIns="18288" bIns="18288">
            <a:noAutofit/>
          </a:bodyPr>
          <a:lstStyle/>
          <a:p>
            <a:pPr algn="ctr">
              <a:spcBef>
                <a:spcPts val="0"/>
              </a:spcBef>
              <a:spcAft>
                <a:spcPts val="0"/>
              </a:spcAft>
            </a:pPr>
            <a:r>
              <a:rPr lang="tr-TR" sz="2000" b="1" i="0">
                <a:solidFill>
                  <a:srgbClr val="262626"/>
                </a:solidFill>
                <a:latin typeface="Calibri"/>
              </a:rPr>
              <a:t>Ne?</a:t>
            </a:r>
          </a:p>
        </p:txBody>
      </p:sp>
      <p:sp>
        <p:nvSpPr>
          <p:cNvPr id="8" name="Rounded Rectangle 7"/>
          <p:cNvSpPr/>
          <p:nvPr/>
        </p:nvSpPr>
        <p:spPr>
          <a:xfrm>
            <a:off x="1437220" y="2221992"/>
            <a:ext cx="1310009" cy="512064"/>
          </a:xfrm>
          <a:prstGeom prst="roundRect">
            <a:avLst>
              <a:gd name="adj" fmla="val 50000"/>
            </a:avLst>
          </a:prstGeom>
          <a:solidFill>
            <a:srgbClr val="FFFFFF"/>
          </a:solidFill>
          <a:ln w="25400">
            <a:solidFill>
              <a:srgbClr val="B85C12"/>
            </a:solidFill>
          </a:ln>
          <a:effectLst/>
        </p:spPr>
        <p:txBody>
          <a:bodyPr rtlCol="0" anchor="ctr" wrap="square" lIns="73152" rIns="73152" tIns="18288" bIns="18288">
            <a:noAutofit/>
          </a:bodyPr>
          <a:lstStyle/>
          <a:p>
            <a:pPr algn="ctr">
              <a:spcBef>
                <a:spcPts val="0"/>
              </a:spcBef>
              <a:spcAft>
                <a:spcPts val="0"/>
              </a:spcAft>
            </a:pPr>
            <a:r>
              <a:rPr lang="tr-TR" sz="2000" b="1" i="0">
                <a:solidFill>
                  <a:srgbClr val="262626"/>
                </a:solidFill>
                <a:latin typeface="Calibri"/>
              </a:rPr>
              <a:t>Nerede?</a:t>
            </a:r>
          </a:p>
        </p:txBody>
      </p:sp>
      <p:sp>
        <p:nvSpPr>
          <p:cNvPr id="9" name="Rounded Rectangle 8"/>
          <p:cNvSpPr/>
          <p:nvPr/>
        </p:nvSpPr>
        <p:spPr>
          <a:xfrm>
            <a:off x="2875245" y="2221992"/>
            <a:ext cx="1592998" cy="512064"/>
          </a:xfrm>
          <a:prstGeom prst="roundRect">
            <a:avLst>
              <a:gd name="adj" fmla="val 50000"/>
            </a:avLst>
          </a:prstGeom>
          <a:solidFill>
            <a:srgbClr val="FFFFFF"/>
          </a:solidFill>
          <a:ln w="25400">
            <a:solidFill>
              <a:srgbClr val="B85C12"/>
            </a:solidFill>
          </a:ln>
          <a:effectLst/>
        </p:spPr>
        <p:txBody>
          <a:bodyPr rtlCol="0" anchor="ctr" wrap="square" lIns="73152" rIns="73152" tIns="18288" bIns="18288">
            <a:noAutofit/>
          </a:bodyPr>
          <a:lstStyle/>
          <a:p>
            <a:pPr algn="ctr">
              <a:spcBef>
                <a:spcPts val="0"/>
              </a:spcBef>
              <a:spcAft>
                <a:spcPts val="0"/>
              </a:spcAft>
            </a:pPr>
            <a:r>
              <a:rPr lang="tr-TR" sz="2000" b="1" i="0">
                <a:solidFill>
                  <a:srgbClr val="262626"/>
                </a:solidFill>
                <a:latin typeface="Calibri"/>
              </a:rPr>
              <a:t>Ne zaman?</a:t>
            </a:r>
          </a:p>
        </p:txBody>
      </p:sp>
      <p:sp>
        <p:nvSpPr>
          <p:cNvPr id="10" name="Rounded Rectangle 9"/>
          <p:cNvSpPr/>
          <p:nvPr/>
        </p:nvSpPr>
        <p:spPr>
          <a:xfrm>
            <a:off x="4596259" y="2221992"/>
            <a:ext cx="1926397" cy="512064"/>
          </a:xfrm>
          <a:prstGeom prst="roundRect">
            <a:avLst>
              <a:gd name="adj" fmla="val 50000"/>
            </a:avLst>
          </a:prstGeom>
          <a:solidFill>
            <a:srgbClr val="FFFFFF"/>
          </a:solidFill>
          <a:ln w="25400">
            <a:solidFill>
              <a:srgbClr val="B85C12"/>
            </a:solidFill>
          </a:ln>
          <a:effectLst/>
        </p:spPr>
        <p:txBody>
          <a:bodyPr rtlCol="0" anchor="ctr" wrap="square" lIns="73152" rIns="73152" tIns="18288" bIns="18288">
            <a:noAutofit/>
          </a:bodyPr>
          <a:lstStyle/>
          <a:p>
            <a:pPr algn="ctr">
              <a:spcBef>
                <a:spcPts val="0"/>
              </a:spcBef>
              <a:spcAft>
                <a:spcPts val="0"/>
              </a:spcAft>
            </a:pPr>
            <a:r>
              <a:rPr lang="tr-TR" sz="2000" b="1" i="0">
                <a:solidFill>
                  <a:srgbClr val="262626"/>
                </a:solidFill>
                <a:latin typeface="Calibri"/>
              </a:rPr>
              <a:t>Neden orada?</a:t>
            </a:r>
          </a:p>
        </p:txBody>
      </p:sp>
      <p:sp>
        <p:nvSpPr>
          <p:cNvPr id="11" name="Rounded Rectangle 10"/>
          <p:cNvSpPr/>
          <p:nvPr/>
        </p:nvSpPr>
        <p:spPr>
          <a:xfrm>
            <a:off x="6650672" y="2221992"/>
            <a:ext cx="4397158" cy="512064"/>
          </a:xfrm>
          <a:prstGeom prst="roundRect">
            <a:avLst>
              <a:gd name="adj" fmla="val 50000"/>
            </a:avLst>
          </a:prstGeom>
          <a:solidFill>
            <a:srgbClr val="FFFFFF"/>
          </a:solidFill>
          <a:ln w="25400">
            <a:solidFill>
              <a:srgbClr val="B85C12"/>
            </a:solidFill>
          </a:ln>
          <a:effectLst/>
        </p:spPr>
        <p:txBody>
          <a:bodyPr rtlCol="0" anchor="ctr" wrap="square" lIns="73152" rIns="73152" tIns="18288" bIns="18288">
            <a:noAutofit/>
          </a:bodyPr>
          <a:lstStyle/>
          <a:p>
            <a:pPr algn="ctr">
              <a:spcBef>
                <a:spcPts val="0"/>
              </a:spcBef>
              <a:spcAft>
                <a:spcPts val="0"/>
              </a:spcAft>
            </a:pPr>
            <a:r>
              <a:rPr lang="tr-TR" sz="2000" b="1" i="0">
                <a:solidFill>
                  <a:srgbClr val="262626"/>
                </a:solidFill>
                <a:latin typeface="Calibri"/>
              </a:rPr>
              <a:t>Bulunduğu ortamın özellikleri neler?</a:t>
            </a:r>
          </a:p>
        </p:txBody>
      </p:sp>
      <p:sp>
        <p:nvSpPr>
          <p:cNvPr id="12" name="Rounded Rectangle 11"/>
          <p:cNvSpPr/>
          <p:nvPr/>
        </p:nvSpPr>
        <p:spPr>
          <a:xfrm>
            <a:off x="502920" y="2825496"/>
            <a:ext cx="5116617" cy="512064"/>
          </a:xfrm>
          <a:prstGeom prst="roundRect">
            <a:avLst>
              <a:gd name="adj" fmla="val 50000"/>
            </a:avLst>
          </a:prstGeom>
          <a:solidFill>
            <a:srgbClr val="FFFFFF"/>
          </a:solidFill>
          <a:ln w="25400">
            <a:solidFill>
              <a:srgbClr val="B85C12"/>
            </a:solidFill>
          </a:ln>
          <a:effectLst/>
        </p:spPr>
        <p:txBody>
          <a:bodyPr rtlCol="0" anchor="ctr" wrap="square" lIns="73152" rIns="73152" tIns="18288" bIns="18288">
            <a:noAutofit/>
          </a:bodyPr>
          <a:lstStyle/>
          <a:p>
            <a:pPr algn="ctr">
              <a:spcBef>
                <a:spcPts val="0"/>
              </a:spcBef>
              <a:spcAft>
                <a:spcPts val="0"/>
              </a:spcAft>
            </a:pPr>
            <a:r>
              <a:rPr lang="tr-TR" sz="2000" b="1" i="0">
                <a:solidFill>
                  <a:srgbClr val="262626"/>
                </a:solidFill>
                <a:latin typeface="Calibri"/>
              </a:rPr>
              <a:t>Fiziki ve beşerî ortamla nasıl bir ilişkisi var?</a:t>
            </a:r>
          </a:p>
        </p:txBody>
      </p:sp>
      <p:sp>
        <p:nvSpPr>
          <p:cNvPr id="13" name="Rounded Rectangle 12"/>
          <p:cNvSpPr/>
          <p:nvPr/>
        </p:nvSpPr>
        <p:spPr>
          <a:xfrm>
            <a:off x="5747553" y="2825496"/>
            <a:ext cx="2056487" cy="512064"/>
          </a:xfrm>
          <a:prstGeom prst="roundRect">
            <a:avLst>
              <a:gd name="adj" fmla="val 50000"/>
            </a:avLst>
          </a:prstGeom>
          <a:solidFill>
            <a:srgbClr val="FFFFFF"/>
          </a:solidFill>
          <a:ln w="25400">
            <a:solidFill>
              <a:srgbClr val="B85C12"/>
            </a:solidFill>
          </a:ln>
          <a:effectLst/>
        </p:spPr>
        <p:txBody>
          <a:bodyPr rtlCol="0" anchor="ctr" wrap="square" lIns="73152" rIns="73152" tIns="18288" bIns="18288">
            <a:noAutofit/>
          </a:bodyPr>
          <a:lstStyle/>
          <a:p>
            <a:pPr algn="ctr">
              <a:spcBef>
                <a:spcPts val="0"/>
              </a:spcBef>
              <a:spcAft>
                <a:spcPts val="0"/>
              </a:spcAft>
            </a:pPr>
            <a:r>
              <a:rPr lang="tr-TR" sz="2000" b="1" i="0">
                <a:solidFill>
                  <a:srgbClr val="262626"/>
                </a:solidFill>
                <a:latin typeface="Calibri"/>
              </a:rPr>
              <a:t>Neden önemli?</a:t>
            </a:r>
          </a:p>
        </p:txBody>
      </p:sp>
      <p:sp>
        <p:nvSpPr>
          <p:cNvPr id="14" name="Rounded Rectangle 13"/>
          <p:cNvSpPr/>
          <p:nvPr/>
        </p:nvSpPr>
        <p:spPr>
          <a:xfrm>
            <a:off x="502920" y="3502152"/>
            <a:ext cx="5501487" cy="2770632"/>
          </a:xfrm>
          <a:prstGeom prst="roundRect">
            <a:avLst>
              <a:gd name="adj" fmla="val 5000"/>
            </a:avLst>
          </a:prstGeom>
          <a:solidFill>
            <a:srgbClr val="FFFFFF"/>
          </a:solidFill>
          <a:ln>
            <a:noFill/>
          </a:ln>
          <a:effectLst/>
        </p:spPr>
        <p:txBody>
          <a:bodyPr rtlCol="0" anchor="ctr"/>
          <a:lstStyle/>
          <a:p/>
        </p:txBody>
      </p:sp>
      <p:sp>
        <p:nvSpPr>
          <p:cNvPr id="15" name="Rounded Rectangle 14"/>
          <p:cNvSpPr/>
          <p:nvPr/>
        </p:nvSpPr>
        <p:spPr>
          <a:xfrm>
            <a:off x="502920" y="3502152"/>
            <a:ext cx="5501487" cy="685800"/>
          </a:xfrm>
          <a:prstGeom prst="roundRect">
            <a:avLst>
              <a:gd name="adj" fmla="val 25000"/>
            </a:avLst>
          </a:prstGeom>
          <a:solidFill>
            <a:srgbClr val="3E8E41"/>
          </a:solidFill>
          <a:ln>
            <a:noFill/>
          </a:ln>
          <a:effectLst/>
        </p:spPr>
        <p:txBody>
          <a:bodyPr rtlCol="0" anchor="ctr"/>
          <a:lstStyle/>
          <a:p/>
        </p:txBody>
      </p:sp>
      <p:sp>
        <p:nvSpPr>
          <p:cNvPr id="16" name="Rectangle 15"/>
          <p:cNvSpPr/>
          <p:nvPr/>
        </p:nvSpPr>
        <p:spPr>
          <a:xfrm>
            <a:off x="502920" y="3845052"/>
            <a:ext cx="5501487" cy="342900"/>
          </a:xfrm>
          <a:prstGeom prst="rect">
            <a:avLst/>
          </a:prstGeom>
          <a:solidFill>
            <a:srgbClr val="3E8E41"/>
          </a:solidFill>
          <a:ln>
            <a:noFill/>
          </a:ln>
          <a:effectLst/>
        </p:spPr>
        <p:txBody>
          <a:bodyPr rtlCol="0" anchor="ctr"/>
          <a:lstStyle/>
          <a:p/>
        </p:txBody>
      </p:sp>
      <p:sp>
        <p:nvSpPr>
          <p:cNvPr id="17" name="TextBox 16"/>
          <p:cNvSpPr txBox="1"/>
          <p:nvPr/>
        </p:nvSpPr>
        <p:spPr>
          <a:xfrm>
            <a:off x="594360" y="3502152"/>
            <a:ext cx="5318607" cy="685800"/>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Doğal Faktörlerle İlgili Sorular</a:t>
            </a:r>
          </a:p>
        </p:txBody>
      </p:sp>
      <p:sp>
        <p:nvSpPr>
          <p:cNvPr id="18" name="Rounded Rectangle 17"/>
          <p:cNvSpPr/>
          <p:nvPr/>
        </p:nvSpPr>
        <p:spPr>
          <a:xfrm>
            <a:off x="502920" y="3502152"/>
            <a:ext cx="5501487" cy="2770632"/>
          </a:xfrm>
          <a:prstGeom prst="roundRect">
            <a:avLst>
              <a:gd name="adj" fmla="val 5000"/>
            </a:avLst>
          </a:prstGeom>
          <a:noFill/>
          <a:ln w="12700">
            <a:solidFill>
              <a:srgbClr val="D9D9D9"/>
            </a:solidFill>
          </a:ln>
          <a:effectLst/>
        </p:spPr>
        <p:txBody>
          <a:bodyPr rtlCol="0" anchor="ctr"/>
          <a:lstStyle/>
          <a:p/>
        </p:txBody>
      </p:sp>
      <p:cxnSp>
        <p:nvCxnSpPr>
          <p:cNvPr id="19" name="Connector 18"/>
          <p:cNvCxnSpPr/>
          <p:nvPr/>
        </p:nvCxnSpPr>
        <p:spPr>
          <a:xfrm>
            <a:off x="685800" y="4709160"/>
            <a:ext cx="5135727" cy="0"/>
          </a:xfrm>
          <a:prstGeom prst="line">
            <a:avLst/>
          </a:prstGeom>
          <a:ln w="12700">
            <a:solidFill>
              <a:srgbClr val="D9D9D9"/>
            </a:solidFill>
            <a:prstDash val="dash"/>
          </a:ln>
        </p:spPr>
      </p:cxnSp>
      <p:cxnSp>
        <p:nvCxnSpPr>
          <p:cNvPr id="20" name="Connector 19"/>
          <p:cNvCxnSpPr/>
          <p:nvPr/>
        </p:nvCxnSpPr>
        <p:spPr>
          <a:xfrm>
            <a:off x="685800" y="5230368"/>
            <a:ext cx="5135727" cy="0"/>
          </a:xfrm>
          <a:prstGeom prst="line">
            <a:avLst/>
          </a:prstGeom>
          <a:ln w="12700">
            <a:solidFill>
              <a:srgbClr val="D9D9D9"/>
            </a:solidFill>
            <a:prstDash val="dash"/>
          </a:ln>
        </p:spPr>
      </p:cxnSp>
      <p:cxnSp>
        <p:nvCxnSpPr>
          <p:cNvPr id="21" name="Connector 20"/>
          <p:cNvCxnSpPr/>
          <p:nvPr/>
        </p:nvCxnSpPr>
        <p:spPr>
          <a:xfrm>
            <a:off x="685800" y="5751576"/>
            <a:ext cx="5135727" cy="0"/>
          </a:xfrm>
          <a:prstGeom prst="line">
            <a:avLst/>
          </a:prstGeom>
          <a:ln w="12700">
            <a:solidFill>
              <a:srgbClr val="D9D9D9"/>
            </a:solidFill>
            <a:prstDash val="dash"/>
          </a:ln>
        </p:spPr>
      </p:cxnSp>
      <p:sp>
        <p:nvSpPr>
          <p:cNvPr id="22" name="Rounded Rectangle 21"/>
          <p:cNvSpPr/>
          <p:nvPr/>
        </p:nvSpPr>
        <p:spPr>
          <a:xfrm>
            <a:off x="6187287" y="3502152"/>
            <a:ext cx="5501487" cy="2770632"/>
          </a:xfrm>
          <a:prstGeom prst="roundRect">
            <a:avLst>
              <a:gd name="adj" fmla="val 5000"/>
            </a:avLst>
          </a:prstGeom>
          <a:solidFill>
            <a:srgbClr val="FFFFFF"/>
          </a:solidFill>
          <a:ln>
            <a:noFill/>
          </a:ln>
          <a:effectLst/>
        </p:spPr>
        <p:txBody>
          <a:bodyPr rtlCol="0" anchor="ctr"/>
          <a:lstStyle/>
          <a:p/>
        </p:txBody>
      </p:sp>
      <p:sp>
        <p:nvSpPr>
          <p:cNvPr id="23" name="Rounded Rectangle 22"/>
          <p:cNvSpPr/>
          <p:nvPr/>
        </p:nvSpPr>
        <p:spPr>
          <a:xfrm>
            <a:off x="6187287" y="3502152"/>
            <a:ext cx="5501487" cy="685800"/>
          </a:xfrm>
          <a:prstGeom prst="roundRect">
            <a:avLst>
              <a:gd name="adj" fmla="val 25000"/>
            </a:avLst>
          </a:prstGeom>
          <a:solidFill>
            <a:srgbClr val="2C6696"/>
          </a:solidFill>
          <a:ln>
            <a:noFill/>
          </a:ln>
          <a:effectLst/>
        </p:spPr>
        <p:txBody>
          <a:bodyPr rtlCol="0" anchor="ctr"/>
          <a:lstStyle/>
          <a:p/>
        </p:txBody>
      </p:sp>
      <p:sp>
        <p:nvSpPr>
          <p:cNvPr id="24" name="Rectangle 23"/>
          <p:cNvSpPr/>
          <p:nvPr/>
        </p:nvSpPr>
        <p:spPr>
          <a:xfrm>
            <a:off x="6187287" y="3845052"/>
            <a:ext cx="5501487" cy="342900"/>
          </a:xfrm>
          <a:prstGeom prst="rect">
            <a:avLst/>
          </a:prstGeom>
          <a:solidFill>
            <a:srgbClr val="2C6696"/>
          </a:solidFill>
          <a:ln>
            <a:noFill/>
          </a:ln>
          <a:effectLst/>
        </p:spPr>
        <p:txBody>
          <a:bodyPr rtlCol="0" anchor="ctr"/>
          <a:lstStyle/>
          <a:p/>
        </p:txBody>
      </p:sp>
      <p:sp>
        <p:nvSpPr>
          <p:cNvPr id="25" name="TextBox 24"/>
          <p:cNvSpPr txBox="1"/>
          <p:nvPr/>
        </p:nvSpPr>
        <p:spPr>
          <a:xfrm>
            <a:off x="6278727" y="3502152"/>
            <a:ext cx="5318607" cy="685800"/>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Beşerî Faktörlerle İlgili Sorular</a:t>
            </a:r>
          </a:p>
        </p:txBody>
      </p:sp>
      <p:sp>
        <p:nvSpPr>
          <p:cNvPr id="26" name="Rounded Rectangle 25"/>
          <p:cNvSpPr/>
          <p:nvPr/>
        </p:nvSpPr>
        <p:spPr>
          <a:xfrm>
            <a:off x="6187287" y="3502152"/>
            <a:ext cx="5501487" cy="2770632"/>
          </a:xfrm>
          <a:prstGeom prst="roundRect">
            <a:avLst>
              <a:gd name="adj" fmla="val 5000"/>
            </a:avLst>
          </a:prstGeom>
          <a:noFill/>
          <a:ln w="12700">
            <a:solidFill>
              <a:srgbClr val="D9D9D9"/>
            </a:solidFill>
          </a:ln>
          <a:effectLst/>
        </p:spPr>
        <p:txBody>
          <a:bodyPr rtlCol="0" anchor="ctr"/>
          <a:lstStyle/>
          <a:p/>
        </p:txBody>
      </p:sp>
      <p:cxnSp>
        <p:nvCxnSpPr>
          <p:cNvPr id="27" name="Connector 26"/>
          <p:cNvCxnSpPr/>
          <p:nvPr/>
        </p:nvCxnSpPr>
        <p:spPr>
          <a:xfrm>
            <a:off x="6370167" y="4709160"/>
            <a:ext cx="5135727" cy="0"/>
          </a:xfrm>
          <a:prstGeom prst="line">
            <a:avLst/>
          </a:prstGeom>
          <a:ln w="12700">
            <a:solidFill>
              <a:srgbClr val="D9D9D9"/>
            </a:solidFill>
            <a:prstDash val="dash"/>
          </a:ln>
        </p:spPr>
      </p:cxnSp>
      <p:cxnSp>
        <p:nvCxnSpPr>
          <p:cNvPr id="28" name="Connector 27"/>
          <p:cNvCxnSpPr/>
          <p:nvPr/>
        </p:nvCxnSpPr>
        <p:spPr>
          <a:xfrm>
            <a:off x="6370167" y="5230368"/>
            <a:ext cx="5135727" cy="0"/>
          </a:xfrm>
          <a:prstGeom prst="line">
            <a:avLst/>
          </a:prstGeom>
          <a:ln w="12700">
            <a:solidFill>
              <a:srgbClr val="D9D9D9"/>
            </a:solidFill>
            <a:prstDash val="dash"/>
          </a:ln>
        </p:spPr>
      </p:cxnSp>
      <p:cxnSp>
        <p:nvCxnSpPr>
          <p:cNvPr id="29" name="Connector 28"/>
          <p:cNvCxnSpPr/>
          <p:nvPr/>
        </p:nvCxnSpPr>
        <p:spPr>
          <a:xfrm>
            <a:off x="6370167" y="5751576"/>
            <a:ext cx="5135727" cy="0"/>
          </a:xfrm>
          <a:prstGeom prst="line">
            <a:avLst/>
          </a:prstGeom>
          <a:ln w="12700">
            <a:solidFill>
              <a:srgbClr val="D9D9D9"/>
            </a:solidFill>
            <a:prstDash val="dash"/>
          </a:ln>
        </p:spPr>
      </p:cxnSp>
      <p:sp>
        <p:nvSpPr>
          <p:cNvPr id="30" name="TextBox 29"/>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31" name="Rounded Rectangle 30"/>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181</a:t>
            </a:r>
          </a:p>
        </p:txBody>
      </p:sp>
      <p:sp>
        <p:nvSpPr>
          <p:cNvPr id="32" name="TextBox 31"/>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92 / 166</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Adım 1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Rounded Rectangle 5"/>
          <p:cNvSpPr/>
          <p:nvPr/>
        </p:nvSpPr>
        <p:spPr>
          <a:xfrm>
            <a:off x="502920" y="1216152"/>
            <a:ext cx="5455767" cy="4206240"/>
          </a:xfrm>
          <a:prstGeom prst="roundRect">
            <a:avLst>
              <a:gd name="adj" fmla="val 5000"/>
            </a:avLst>
          </a:prstGeom>
          <a:solidFill>
            <a:srgbClr val="E3F1E4"/>
          </a:solidFill>
          <a:ln>
            <a:noFill/>
          </a:ln>
          <a:effectLst/>
        </p:spPr>
        <p:txBody>
          <a:bodyPr rtlCol="0" anchor="ctr"/>
          <a:lstStyle/>
          <a:p/>
        </p:txBody>
      </p:sp>
      <p:sp>
        <p:nvSpPr>
          <p:cNvPr id="7" name="Rounded Rectangle 6"/>
          <p:cNvSpPr/>
          <p:nvPr/>
        </p:nvSpPr>
        <p:spPr>
          <a:xfrm>
            <a:off x="502920" y="1216152"/>
            <a:ext cx="5455767" cy="548640"/>
          </a:xfrm>
          <a:prstGeom prst="roundRect">
            <a:avLst>
              <a:gd name="adj" fmla="val 25000"/>
            </a:avLst>
          </a:prstGeom>
          <a:solidFill>
            <a:srgbClr val="3E8E41"/>
          </a:solidFill>
          <a:ln>
            <a:noFill/>
          </a:ln>
          <a:effectLst/>
        </p:spPr>
        <p:txBody>
          <a:bodyPr rtlCol="0" anchor="ctr"/>
          <a:lstStyle/>
          <a:p/>
        </p:txBody>
      </p:sp>
      <p:sp>
        <p:nvSpPr>
          <p:cNvPr id="8" name="Rectangle 7"/>
          <p:cNvSpPr/>
          <p:nvPr/>
        </p:nvSpPr>
        <p:spPr>
          <a:xfrm>
            <a:off x="502920" y="1490472"/>
            <a:ext cx="5455767" cy="274320"/>
          </a:xfrm>
          <a:prstGeom prst="rect">
            <a:avLst/>
          </a:prstGeom>
          <a:solidFill>
            <a:srgbClr val="3E8E41"/>
          </a:solidFill>
          <a:ln>
            <a:noFill/>
          </a:ln>
          <a:effectLst/>
        </p:spPr>
        <p:txBody>
          <a:bodyPr rtlCol="0" anchor="ctr"/>
          <a:lstStyle/>
          <a:p/>
        </p:txBody>
      </p:sp>
      <p:sp>
        <p:nvSpPr>
          <p:cNvPr id="9" name="TextBox 8"/>
          <p:cNvSpPr txBox="1"/>
          <p:nvPr/>
        </p:nvSpPr>
        <p:spPr>
          <a:xfrm>
            <a:off x="594360" y="1216152"/>
            <a:ext cx="5272887" cy="548640"/>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FFFFFF"/>
                </a:solidFill>
                <a:latin typeface="Calibri"/>
              </a:rPr>
              <a:t>Doğal Faktörlerle İlgili Sorular</a:t>
            </a:r>
          </a:p>
        </p:txBody>
      </p:sp>
      <p:sp>
        <p:nvSpPr>
          <p:cNvPr id="10" name="Rounded Rectangle 9"/>
          <p:cNvSpPr/>
          <p:nvPr/>
        </p:nvSpPr>
        <p:spPr>
          <a:xfrm>
            <a:off x="640080" y="2165604"/>
            <a:ext cx="1737360" cy="502920"/>
          </a:xfrm>
          <a:prstGeom prst="roundRect">
            <a:avLst>
              <a:gd name="adj" fmla="val 30000"/>
            </a:avLst>
          </a:prstGeom>
          <a:solidFill>
            <a:srgbClr val="3E8E41"/>
          </a:solidFill>
          <a:ln>
            <a:noFill/>
          </a:ln>
          <a:effectLst/>
        </p:spPr>
        <p:txBody>
          <a:bodyPr rtlCol="0" anchor="ctr" wrap="square" lIns="54864" rIns="54864" tIns="18288" bIns="18288">
            <a:noAutofit/>
          </a:bodyPr>
          <a:lstStyle/>
          <a:p>
            <a:pPr algn="ctr">
              <a:spcBef>
                <a:spcPts val="0"/>
              </a:spcBef>
              <a:spcAft>
                <a:spcPts val="0"/>
              </a:spcAft>
            </a:pPr>
            <a:r>
              <a:rPr lang="tr-TR" sz="1700" b="1" i="0">
                <a:solidFill>
                  <a:srgbClr val="FFFFFF"/>
                </a:solidFill>
                <a:latin typeface="Calibri"/>
              </a:rPr>
              <a:t>Nerede?</a:t>
            </a:r>
          </a:p>
        </p:txBody>
      </p:sp>
      <p:sp>
        <p:nvSpPr>
          <p:cNvPr id="11" name="TextBox 10"/>
          <p:cNvSpPr txBox="1"/>
          <p:nvPr/>
        </p:nvSpPr>
        <p:spPr>
          <a:xfrm>
            <a:off x="2468880" y="1874520"/>
            <a:ext cx="3398367" cy="1085088"/>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TEKNOSAB nerede kurulmuş, çevresindeki yer şekilleri nasıl?</a:t>
            </a:r>
          </a:p>
        </p:txBody>
      </p:sp>
      <p:sp>
        <p:nvSpPr>
          <p:cNvPr id="12" name="Rounded Rectangle 11"/>
          <p:cNvSpPr/>
          <p:nvPr/>
        </p:nvSpPr>
        <p:spPr>
          <a:xfrm>
            <a:off x="640080" y="3360420"/>
            <a:ext cx="1737360" cy="502920"/>
          </a:xfrm>
          <a:prstGeom prst="roundRect">
            <a:avLst>
              <a:gd name="adj" fmla="val 30000"/>
            </a:avLst>
          </a:prstGeom>
          <a:solidFill>
            <a:srgbClr val="3E8E41"/>
          </a:solidFill>
          <a:ln>
            <a:noFill/>
          </a:ln>
          <a:effectLst/>
        </p:spPr>
        <p:txBody>
          <a:bodyPr rtlCol="0" anchor="ctr" wrap="square" lIns="54864" rIns="54864" tIns="18288" bIns="18288">
            <a:noAutofit/>
          </a:bodyPr>
          <a:lstStyle/>
          <a:p>
            <a:pPr algn="ctr">
              <a:spcBef>
                <a:spcPts val="0"/>
              </a:spcBef>
              <a:spcAft>
                <a:spcPts val="0"/>
              </a:spcAft>
            </a:pPr>
            <a:r>
              <a:rPr lang="tr-TR" sz="1700" b="1" i="0">
                <a:solidFill>
                  <a:srgbClr val="FFFFFF"/>
                </a:solidFill>
                <a:latin typeface="Calibri"/>
              </a:rPr>
              <a:t>Fiziki ortam</a:t>
            </a:r>
          </a:p>
        </p:txBody>
      </p:sp>
      <p:sp>
        <p:nvSpPr>
          <p:cNvPr id="13" name="TextBox 12"/>
          <p:cNvSpPr txBox="1"/>
          <p:nvPr/>
        </p:nvSpPr>
        <p:spPr>
          <a:xfrm>
            <a:off x="2468880" y="3069336"/>
            <a:ext cx="3398367" cy="1085088"/>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Bölgenin iklimi üretimi ve enerji santrallerini nasıl etkiler?</a:t>
            </a:r>
          </a:p>
        </p:txBody>
      </p:sp>
      <p:sp>
        <p:nvSpPr>
          <p:cNvPr id="14" name="Rounded Rectangle 13"/>
          <p:cNvSpPr/>
          <p:nvPr/>
        </p:nvSpPr>
        <p:spPr>
          <a:xfrm>
            <a:off x="640080" y="4555236"/>
            <a:ext cx="1737360" cy="502920"/>
          </a:xfrm>
          <a:prstGeom prst="roundRect">
            <a:avLst>
              <a:gd name="adj" fmla="val 30000"/>
            </a:avLst>
          </a:prstGeom>
          <a:solidFill>
            <a:srgbClr val="3E8E41"/>
          </a:solidFill>
          <a:ln>
            <a:noFill/>
          </a:ln>
          <a:effectLst/>
        </p:spPr>
        <p:txBody>
          <a:bodyPr rtlCol="0" anchor="ctr" wrap="square" lIns="54864" rIns="54864" tIns="18288" bIns="18288">
            <a:noAutofit/>
          </a:bodyPr>
          <a:lstStyle/>
          <a:p>
            <a:pPr algn="ctr">
              <a:spcBef>
                <a:spcPts val="0"/>
              </a:spcBef>
              <a:spcAft>
                <a:spcPts val="0"/>
              </a:spcAft>
            </a:pPr>
            <a:r>
              <a:rPr lang="tr-TR" sz="1700" b="1" i="0">
                <a:solidFill>
                  <a:srgbClr val="FFFFFF"/>
                </a:solidFill>
                <a:latin typeface="Calibri"/>
              </a:rPr>
              <a:t>Neden önemli?</a:t>
            </a:r>
          </a:p>
        </p:txBody>
      </p:sp>
      <p:sp>
        <p:nvSpPr>
          <p:cNvPr id="15" name="TextBox 14"/>
          <p:cNvSpPr txBox="1"/>
          <p:nvPr/>
        </p:nvSpPr>
        <p:spPr>
          <a:xfrm>
            <a:off x="2468880" y="4264152"/>
            <a:ext cx="3398367" cy="1085088"/>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Nilüfer Çayı Havzası'nda olması neden önemli?</a:t>
            </a:r>
          </a:p>
        </p:txBody>
      </p:sp>
      <p:sp>
        <p:nvSpPr>
          <p:cNvPr id="16" name="Rounded Rectangle 15"/>
          <p:cNvSpPr/>
          <p:nvPr/>
        </p:nvSpPr>
        <p:spPr>
          <a:xfrm>
            <a:off x="6233007" y="1216152"/>
            <a:ext cx="5455767" cy="4206240"/>
          </a:xfrm>
          <a:prstGeom prst="roundRect">
            <a:avLst>
              <a:gd name="adj" fmla="val 5000"/>
            </a:avLst>
          </a:prstGeom>
          <a:solidFill>
            <a:srgbClr val="E3F1E4"/>
          </a:solidFill>
          <a:ln>
            <a:noFill/>
          </a:ln>
          <a:effectLst/>
        </p:spPr>
        <p:txBody>
          <a:bodyPr rtlCol="0" anchor="ctr"/>
          <a:lstStyle/>
          <a:p/>
        </p:txBody>
      </p:sp>
      <p:sp>
        <p:nvSpPr>
          <p:cNvPr id="17" name="Rounded Rectangle 16"/>
          <p:cNvSpPr/>
          <p:nvPr/>
        </p:nvSpPr>
        <p:spPr>
          <a:xfrm>
            <a:off x="6233007" y="1216152"/>
            <a:ext cx="5455767" cy="548640"/>
          </a:xfrm>
          <a:prstGeom prst="roundRect">
            <a:avLst>
              <a:gd name="adj" fmla="val 25000"/>
            </a:avLst>
          </a:prstGeom>
          <a:solidFill>
            <a:srgbClr val="2C6696"/>
          </a:solidFill>
          <a:ln>
            <a:noFill/>
          </a:ln>
          <a:effectLst/>
        </p:spPr>
        <p:txBody>
          <a:bodyPr rtlCol="0" anchor="ctr"/>
          <a:lstStyle/>
          <a:p/>
        </p:txBody>
      </p:sp>
      <p:sp>
        <p:nvSpPr>
          <p:cNvPr id="18" name="Rectangle 17"/>
          <p:cNvSpPr/>
          <p:nvPr/>
        </p:nvSpPr>
        <p:spPr>
          <a:xfrm>
            <a:off x="6233007" y="1490472"/>
            <a:ext cx="5455767" cy="274320"/>
          </a:xfrm>
          <a:prstGeom prst="rect">
            <a:avLst/>
          </a:prstGeom>
          <a:solidFill>
            <a:srgbClr val="2C6696"/>
          </a:solidFill>
          <a:ln>
            <a:noFill/>
          </a:ln>
          <a:effectLst/>
        </p:spPr>
        <p:txBody>
          <a:bodyPr rtlCol="0" anchor="ctr"/>
          <a:lstStyle/>
          <a:p/>
        </p:txBody>
      </p:sp>
      <p:sp>
        <p:nvSpPr>
          <p:cNvPr id="19" name="TextBox 18"/>
          <p:cNvSpPr txBox="1"/>
          <p:nvPr/>
        </p:nvSpPr>
        <p:spPr>
          <a:xfrm>
            <a:off x="6324447" y="1216152"/>
            <a:ext cx="5272887" cy="548640"/>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FFFFFF"/>
                </a:solidFill>
                <a:latin typeface="Calibri"/>
              </a:rPr>
              <a:t>Beşerî Faktörlerle İlgili Sorular</a:t>
            </a:r>
          </a:p>
        </p:txBody>
      </p:sp>
      <p:sp>
        <p:nvSpPr>
          <p:cNvPr id="20" name="Rounded Rectangle 19"/>
          <p:cNvSpPr/>
          <p:nvPr/>
        </p:nvSpPr>
        <p:spPr>
          <a:xfrm>
            <a:off x="6370167" y="2165604"/>
            <a:ext cx="1737360" cy="502920"/>
          </a:xfrm>
          <a:prstGeom prst="roundRect">
            <a:avLst>
              <a:gd name="adj" fmla="val 30000"/>
            </a:avLst>
          </a:prstGeom>
          <a:solidFill>
            <a:srgbClr val="2C6696"/>
          </a:solidFill>
          <a:ln>
            <a:noFill/>
          </a:ln>
          <a:effectLst/>
        </p:spPr>
        <p:txBody>
          <a:bodyPr rtlCol="0" anchor="ctr" wrap="square" lIns="54864" rIns="54864" tIns="18288" bIns="18288">
            <a:noAutofit/>
          </a:bodyPr>
          <a:lstStyle/>
          <a:p>
            <a:pPr algn="ctr">
              <a:spcBef>
                <a:spcPts val="0"/>
              </a:spcBef>
              <a:spcAft>
                <a:spcPts val="0"/>
              </a:spcAft>
            </a:pPr>
            <a:r>
              <a:rPr lang="tr-TR" sz="1700" b="1" i="0">
                <a:solidFill>
                  <a:srgbClr val="FFFFFF"/>
                </a:solidFill>
                <a:latin typeface="Calibri"/>
              </a:rPr>
              <a:t>Neden orada?</a:t>
            </a:r>
          </a:p>
        </p:txBody>
      </p:sp>
      <p:sp>
        <p:nvSpPr>
          <p:cNvPr id="21" name="TextBox 20"/>
          <p:cNvSpPr txBox="1"/>
          <p:nvPr/>
        </p:nvSpPr>
        <p:spPr>
          <a:xfrm>
            <a:off x="8198967" y="1874520"/>
            <a:ext cx="3398367" cy="1085088"/>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TEKNOSAB neden bu kavşak noktasında kurulmuş?</a:t>
            </a:r>
          </a:p>
        </p:txBody>
      </p:sp>
      <p:sp>
        <p:nvSpPr>
          <p:cNvPr id="22" name="Rounded Rectangle 21"/>
          <p:cNvSpPr/>
          <p:nvPr/>
        </p:nvSpPr>
        <p:spPr>
          <a:xfrm>
            <a:off x="6370167" y="3360420"/>
            <a:ext cx="1737360" cy="502920"/>
          </a:xfrm>
          <a:prstGeom prst="roundRect">
            <a:avLst>
              <a:gd name="adj" fmla="val 30000"/>
            </a:avLst>
          </a:prstGeom>
          <a:solidFill>
            <a:srgbClr val="2C6696"/>
          </a:solidFill>
          <a:ln>
            <a:noFill/>
          </a:ln>
          <a:effectLst/>
        </p:spPr>
        <p:txBody>
          <a:bodyPr rtlCol="0" anchor="ctr" wrap="square" lIns="54864" rIns="54864" tIns="18288" bIns="18288">
            <a:noAutofit/>
          </a:bodyPr>
          <a:lstStyle/>
          <a:p>
            <a:pPr algn="ctr">
              <a:spcBef>
                <a:spcPts val="0"/>
              </a:spcBef>
              <a:spcAft>
                <a:spcPts val="0"/>
              </a:spcAft>
            </a:pPr>
            <a:r>
              <a:rPr lang="tr-TR" sz="1700" b="1" i="0">
                <a:solidFill>
                  <a:srgbClr val="FFFFFF"/>
                </a:solidFill>
                <a:latin typeface="Calibri"/>
              </a:rPr>
              <a:t>Beşerî ortam</a:t>
            </a:r>
          </a:p>
        </p:txBody>
      </p:sp>
      <p:sp>
        <p:nvSpPr>
          <p:cNvPr id="23" name="TextBox 22"/>
          <p:cNvSpPr txBox="1"/>
          <p:nvPr/>
        </p:nvSpPr>
        <p:spPr>
          <a:xfrm>
            <a:off x="8198967" y="3069336"/>
            <a:ext cx="3398367" cy="1085088"/>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Bursa'nın nüfusu ve sanayi sektörleri TEKNOSAB'ı nasıl etkiler?</a:t>
            </a:r>
          </a:p>
        </p:txBody>
      </p:sp>
      <p:sp>
        <p:nvSpPr>
          <p:cNvPr id="24" name="Rounded Rectangle 23"/>
          <p:cNvSpPr/>
          <p:nvPr/>
        </p:nvSpPr>
        <p:spPr>
          <a:xfrm>
            <a:off x="6370167" y="4555236"/>
            <a:ext cx="1737360" cy="502920"/>
          </a:xfrm>
          <a:prstGeom prst="roundRect">
            <a:avLst>
              <a:gd name="adj" fmla="val 30000"/>
            </a:avLst>
          </a:prstGeom>
          <a:solidFill>
            <a:srgbClr val="2C6696"/>
          </a:solidFill>
          <a:ln>
            <a:noFill/>
          </a:ln>
          <a:effectLst/>
        </p:spPr>
        <p:txBody>
          <a:bodyPr rtlCol="0" anchor="ctr" wrap="square" lIns="54864" rIns="54864" tIns="18288" bIns="18288">
            <a:noAutofit/>
          </a:bodyPr>
          <a:lstStyle/>
          <a:p>
            <a:pPr algn="ctr">
              <a:spcBef>
                <a:spcPts val="0"/>
              </a:spcBef>
              <a:spcAft>
                <a:spcPts val="0"/>
              </a:spcAft>
            </a:pPr>
            <a:r>
              <a:rPr lang="tr-TR" sz="1700" b="1" i="0">
                <a:solidFill>
                  <a:srgbClr val="FFFFFF"/>
                </a:solidFill>
                <a:latin typeface="Calibri"/>
              </a:rPr>
              <a:t>Ne zaman?</a:t>
            </a:r>
          </a:p>
        </p:txBody>
      </p:sp>
      <p:sp>
        <p:nvSpPr>
          <p:cNvPr id="25" name="TextBox 24"/>
          <p:cNvSpPr txBox="1"/>
          <p:nvPr/>
        </p:nvSpPr>
        <p:spPr>
          <a:xfrm>
            <a:off x="8198967" y="4264152"/>
            <a:ext cx="3398367" cy="1085088"/>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TEKNOSAB'ın kuruluşu ne zaman başladı?</a:t>
            </a:r>
          </a:p>
        </p:txBody>
      </p:sp>
      <p:sp>
        <p:nvSpPr>
          <p:cNvPr id="26" name="Rounded Rectangle 25"/>
          <p:cNvSpPr/>
          <p:nvPr/>
        </p:nvSpPr>
        <p:spPr>
          <a:xfrm>
            <a:off x="502920" y="5541264"/>
            <a:ext cx="11185855" cy="749808"/>
          </a:xfrm>
          <a:prstGeom prst="roundRect">
            <a:avLst>
              <a:gd name="adj" fmla="val 8000"/>
            </a:avLst>
          </a:prstGeom>
          <a:solidFill>
            <a:srgbClr val="E3F1E4"/>
          </a:solidFill>
          <a:ln w="19050">
            <a:solidFill>
              <a:srgbClr val="2E7D32"/>
            </a:solidFill>
          </a:ln>
          <a:effectLst/>
        </p:spPr>
        <p:txBody>
          <a:bodyPr rtlCol="0" anchor="ctr" wrap="square" lIns="201168" rIns="201168" tIns="73152" bIns="73152">
            <a:noAutofit/>
          </a:bodyPr>
          <a:lstStyle/>
          <a:p>
            <a:pPr algn="l">
              <a:spcBef>
                <a:spcPts val="0"/>
              </a:spcBef>
              <a:spcAft>
                <a:spcPts val="0"/>
              </a:spcAft>
            </a:pPr>
            <a:r>
              <a:rPr lang="tr-TR" sz="1900" b="1" i="0">
                <a:solidFill>
                  <a:srgbClr val="262626"/>
                </a:solidFill>
                <a:latin typeface="Calibri"/>
              </a:rPr>
              <a:t>Ölçüt:</a:t>
            </a:r>
            <a:r>
              <a:rPr lang="tr-TR" sz="1900" b="0" i="0">
                <a:solidFill>
                  <a:srgbClr val="262626"/>
                </a:solidFill>
                <a:latin typeface="Calibri"/>
              </a:rPr>
              <a:t> her soru bir temel soruya dayanır · en az ikişer doğal ve beşerî soru · cevabı kaynaklarda aranabilir</a:t>
            </a:r>
          </a:p>
        </p:txBody>
      </p:sp>
      <p:sp>
        <p:nvSpPr>
          <p:cNvPr id="27" name="TextBox 26"/>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28" name="Rounded Rectangle 27"/>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180-181</a:t>
            </a:r>
          </a:p>
        </p:txBody>
      </p:sp>
      <p:sp>
        <p:nvSpPr>
          <p:cNvPr id="29" name="TextBox 28"/>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93 / 166</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Adım 2 · Kaynak 1: metindeki coğrafi özellikler</a:t>
            </a:r>
          </a:p>
        </p:txBody>
      </p:sp>
      <p:sp>
        <p:nvSpPr>
          <p:cNvPr id="5" name="Rounded Rectangle 4"/>
          <p:cNvSpPr/>
          <p:nvPr/>
        </p:nvSpPr>
        <p:spPr>
          <a:xfrm>
            <a:off x="9555480" y="201168"/>
            <a:ext cx="2221992" cy="475488"/>
          </a:xfrm>
          <a:prstGeom prst="roundRect">
            <a:avLst>
              <a:gd name="adj" fmla="val 50000"/>
            </a:avLst>
          </a:prstGeom>
          <a:solidFill>
            <a:srgbClr val="B85C1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ADIM 2</a:t>
            </a:r>
          </a:p>
        </p:txBody>
      </p:sp>
      <p:sp>
        <p:nvSpPr>
          <p:cNvPr id="6" name="Rectangle 5"/>
          <p:cNvSpPr/>
          <p:nvPr/>
        </p:nvSpPr>
        <p:spPr>
          <a:xfrm>
            <a:off x="502920" y="1216152"/>
            <a:ext cx="2194560" cy="420624"/>
          </a:xfrm>
          <a:prstGeom prst="rect">
            <a:avLst/>
          </a:prstGeom>
          <a:solidFill>
            <a:srgbClr val="B85C12"/>
          </a:solidFill>
          <a:ln>
            <a:noFill/>
          </a:ln>
          <a:effectLst/>
        </p:spPr>
        <p:txBody>
          <a:bodyPr rtlCol="0" anchor="ctr" wrap="square" tIns="18288" bIns="18288">
            <a:noAutofit/>
          </a:bodyPr>
          <a:lstStyle/>
          <a:p>
            <a:pPr algn="ctr">
              <a:spcBef>
                <a:spcPts val="0"/>
              </a:spcBef>
              <a:spcAft>
                <a:spcPts val="0"/>
              </a:spcAft>
            </a:pPr>
            <a:r>
              <a:rPr lang="tr-TR" sz="1700" b="1" i="0">
                <a:solidFill>
                  <a:srgbClr val="FFFFFF"/>
                </a:solidFill>
                <a:latin typeface="Calibri"/>
              </a:rPr>
              <a:t>Ne?</a:t>
            </a:r>
          </a:p>
        </p:txBody>
      </p:sp>
      <p:sp>
        <p:nvSpPr>
          <p:cNvPr id="7" name="Rectangle 6"/>
          <p:cNvSpPr/>
          <p:nvPr/>
        </p:nvSpPr>
        <p:spPr>
          <a:xfrm>
            <a:off x="2697480" y="1216152"/>
            <a:ext cx="8991295" cy="420624"/>
          </a:xfrm>
          <a:prstGeom prst="rect">
            <a:avLst/>
          </a:prstGeom>
          <a:solidFill>
            <a:srgbClr val="B85C12"/>
          </a:solidFill>
          <a:ln>
            <a:noFill/>
          </a:ln>
          <a:effectLst/>
        </p:spPr>
        <p:txBody>
          <a:bodyPr rtlCol="0" anchor="ctr" wrap="square" tIns="18288" bIns="18288">
            <a:noAutofit/>
          </a:bodyPr>
          <a:lstStyle/>
          <a:p>
            <a:pPr algn="ctr">
              <a:spcBef>
                <a:spcPts val="0"/>
              </a:spcBef>
              <a:spcAft>
                <a:spcPts val="0"/>
              </a:spcAft>
            </a:pPr>
            <a:r>
              <a:rPr lang="tr-TR" sz="1700" b="1" i="0">
                <a:solidFill>
                  <a:srgbClr val="FFFFFF"/>
                </a:solidFill>
                <a:latin typeface="Calibri"/>
              </a:rPr>
              <a:t>Kitaptaki bilgi (s. 180)</a:t>
            </a:r>
          </a:p>
        </p:txBody>
      </p:sp>
      <p:sp>
        <p:nvSpPr>
          <p:cNvPr id="8" name="Rectangle 7"/>
          <p:cNvSpPr/>
          <p:nvPr/>
        </p:nvSpPr>
        <p:spPr>
          <a:xfrm>
            <a:off x="502920" y="1636776"/>
            <a:ext cx="2194560" cy="408101"/>
          </a:xfrm>
          <a:prstGeom prst="rect">
            <a:avLst/>
          </a:prstGeom>
          <a:solidFill>
            <a:srgbClr val="FFFFFF"/>
          </a:solidFill>
          <a:ln w="6350">
            <a:solidFill>
              <a:srgbClr val="D9D9D9"/>
            </a:solidFill>
          </a:ln>
          <a:effectLst/>
        </p:spPr>
        <p:txBody>
          <a:bodyPr rtlCol="0" anchor="ctr" wrap="square" tIns="27432" bIns="27432">
            <a:noAutofit/>
          </a:bodyPr>
          <a:lstStyle/>
          <a:p>
            <a:pPr algn="l">
              <a:spcBef>
                <a:spcPts val="0"/>
              </a:spcBef>
              <a:spcAft>
                <a:spcPts val="0"/>
              </a:spcAft>
            </a:pPr>
            <a:r>
              <a:rPr lang="tr-TR" sz="1850" b="1" i="0">
                <a:solidFill>
                  <a:srgbClr val="262626"/>
                </a:solidFill>
                <a:latin typeface="Calibri"/>
              </a:rPr>
              <a:t>Konum</a:t>
            </a:r>
          </a:p>
        </p:txBody>
      </p:sp>
      <p:sp>
        <p:nvSpPr>
          <p:cNvPr id="9" name="Rectangle 8"/>
          <p:cNvSpPr/>
          <p:nvPr/>
        </p:nvSpPr>
        <p:spPr>
          <a:xfrm>
            <a:off x="2697480" y="1636776"/>
            <a:ext cx="8991295" cy="408101"/>
          </a:xfrm>
          <a:prstGeom prst="rect">
            <a:avLst/>
          </a:prstGeom>
          <a:solidFill>
            <a:srgbClr val="FFFFFF"/>
          </a:solidFill>
          <a:ln w="6350">
            <a:solidFill>
              <a:srgbClr val="D9D9D9"/>
            </a:solidFill>
          </a:ln>
          <a:effectLst/>
        </p:spPr>
        <p:txBody>
          <a:bodyPr rtlCol="0" anchor="ctr" wrap="square" tIns="27432" bIns="27432">
            <a:noAutofit/>
          </a:bodyPr>
          <a:lstStyle/>
          <a:p>
            <a:pPr algn="l">
              <a:spcBef>
                <a:spcPts val="0"/>
              </a:spcBef>
              <a:spcAft>
                <a:spcPts val="0"/>
              </a:spcAft>
            </a:pPr>
            <a:r>
              <a:rPr lang="tr-TR" sz="1850" b="0" i="0">
                <a:solidFill>
                  <a:srgbClr val="262626"/>
                </a:solidFill>
                <a:latin typeface="Calibri"/>
              </a:rPr>
              <a:t>Bursa il merkezinin yaklaşık 30 km batısında Karacabey ilçesi sınırları içinde</a:t>
            </a:r>
          </a:p>
        </p:txBody>
      </p:sp>
      <p:sp>
        <p:nvSpPr>
          <p:cNvPr id="10" name="Rectangle 9"/>
          <p:cNvSpPr/>
          <p:nvPr/>
        </p:nvSpPr>
        <p:spPr>
          <a:xfrm>
            <a:off x="502920" y="2044877"/>
            <a:ext cx="2194560" cy="408101"/>
          </a:xfrm>
          <a:prstGeom prst="rect">
            <a:avLst/>
          </a:prstGeom>
          <a:solidFill>
            <a:srgbClr val="FFF3D1"/>
          </a:solidFill>
          <a:ln w="6350">
            <a:solidFill>
              <a:srgbClr val="D9D9D9"/>
            </a:solidFill>
          </a:ln>
          <a:effectLst/>
        </p:spPr>
        <p:txBody>
          <a:bodyPr rtlCol="0" anchor="ctr" wrap="square" tIns="27432" bIns="27432">
            <a:noAutofit/>
          </a:bodyPr>
          <a:lstStyle/>
          <a:p>
            <a:pPr algn="l">
              <a:spcBef>
                <a:spcPts val="0"/>
              </a:spcBef>
              <a:spcAft>
                <a:spcPts val="0"/>
              </a:spcAft>
            </a:pPr>
            <a:r>
              <a:rPr lang="tr-TR" sz="1850" b="1" i="0">
                <a:solidFill>
                  <a:srgbClr val="262626"/>
                </a:solidFill>
                <a:latin typeface="Calibri"/>
              </a:rPr>
              <a:t>Ulaşım düğümü</a:t>
            </a:r>
          </a:p>
        </p:txBody>
      </p:sp>
      <p:sp>
        <p:nvSpPr>
          <p:cNvPr id="11" name="Rectangle 10"/>
          <p:cNvSpPr/>
          <p:nvPr/>
        </p:nvSpPr>
        <p:spPr>
          <a:xfrm>
            <a:off x="2697480" y="2044877"/>
            <a:ext cx="8991295" cy="408101"/>
          </a:xfrm>
          <a:prstGeom prst="rect">
            <a:avLst/>
          </a:prstGeom>
          <a:solidFill>
            <a:srgbClr val="FFF3D1"/>
          </a:solidFill>
          <a:ln w="6350">
            <a:solidFill>
              <a:srgbClr val="D9D9D9"/>
            </a:solidFill>
          </a:ln>
          <a:effectLst/>
        </p:spPr>
        <p:txBody>
          <a:bodyPr rtlCol="0" anchor="ctr" wrap="square" tIns="27432" bIns="27432">
            <a:noAutofit/>
          </a:bodyPr>
          <a:lstStyle/>
          <a:p>
            <a:pPr algn="l">
              <a:spcBef>
                <a:spcPts val="0"/>
              </a:spcBef>
              <a:spcAft>
                <a:spcPts val="0"/>
              </a:spcAft>
            </a:pPr>
            <a:r>
              <a:rPr lang="tr-TR" sz="1850" b="0" i="0">
                <a:solidFill>
                  <a:srgbClr val="262626"/>
                </a:solidFill>
                <a:latin typeface="Calibri"/>
              </a:rPr>
              <a:t>Bir kavşak noktası niteliğinde</a:t>
            </a:r>
          </a:p>
        </p:txBody>
      </p:sp>
      <p:sp>
        <p:nvSpPr>
          <p:cNvPr id="12" name="Rectangle 11"/>
          <p:cNvSpPr/>
          <p:nvPr/>
        </p:nvSpPr>
        <p:spPr>
          <a:xfrm>
            <a:off x="502920" y="2452979"/>
            <a:ext cx="2194560" cy="408101"/>
          </a:xfrm>
          <a:prstGeom prst="rect">
            <a:avLst/>
          </a:prstGeom>
          <a:solidFill>
            <a:srgbClr val="FFFFFF"/>
          </a:solidFill>
          <a:ln w="6350">
            <a:solidFill>
              <a:srgbClr val="D9D9D9"/>
            </a:solidFill>
          </a:ln>
          <a:effectLst/>
        </p:spPr>
        <p:txBody>
          <a:bodyPr rtlCol="0" anchor="ctr" wrap="square" tIns="27432" bIns="27432">
            <a:noAutofit/>
          </a:bodyPr>
          <a:lstStyle/>
          <a:p>
            <a:pPr algn="l">
              <a:spcBef>
                <a:spcPts val="0"/>
              </a:spcBef>
              <a:spcAft>
                <a:spcPts val="0"/>
              </a:spcAft>
            </a:pPr>
            <a:r>
              <a:rPr lang="tr-TR" sz="1850" b="1" i="0">
                <a:solidFill>
                  <a:srgbClr val="262626"/>
                </a:solidFill>
                <a:latin typeface="Calibri"/>
              </a:rPr>
              <a:t>Kuzeyinden</a:t>
            </a:r>
          </a:p>
        </p:txBody>
      </p:sp>
      <p:sp>
        <p:nvSpPr>
          <p:cNvPr id="13" name="Rectangle 12"/>
          <p:cNvSpPr/>
          <p:nvPr/>
        </p:nvSpPr>
        <p:spPr>
          <a:xfrm>
            <a:off x="2697480" y="2452979"/>
            <a:ext cx="8991295" cy="408101"/>
          </a:xfrm>
          <a:prstGeom prst="rect">
            <a:avLst/>
          </a:prstGeom>
          <a:solidFill>
            <a:srgbClr val="FFFFFF"/>
          </a:solidFill>
          <a:ln w="6350">
            <a:solidFill>
              <a:srgbClr val="D9D9D9"/>
            </a:solidFill>
          </a:ln>
          <a:effectLst/>
        </p:spPr>
        <p:txBody>
          <a:bodyPr rtlCol="0" anchor="ctr" wrap="square" tIns="27432" bIns="27432">
            <a:noAutofit/>
          </a:bodyPr>
          <a:lstStyle/>
          <a:p>
            <a:pPr algn="l">
              <a:spcBef>
                <a:spcPts val="0"/>
              </a:spcBef>
              <a:spcAft>
                <a:spcPts val="0"/>
              </a:spcAft>
            </a:pPr>
            <a:r>
              <a:rPr lang="tr-TR" sz="1850" b="0" i="0">
                <a:solidFill>
                  <a:srgbClr val="262626"/>
                </a:solidFill>
                <a:latin typeface="Calibri"/>
              </a:rPr>
              <a:t>İstanbul-İzmir Otoyolu</a:t>
            </a:r>
          </a:p>
        </p:txBody>
      </p:sp>
      <p:sp>
        <p:nvSpPr>
          <p:cNvPr id="14" name="Rectangle 13"/>
          <p:cNvSpPr/>
          <p:nvPr/>
        </p:nvSpPr>
        <p:spPr>
          <a:xfrm>
            <a:off x="502920" y="2861081"/>
            <a:ext cx="2194560" cy="408101"/>
          </a:xfrm>
          <a:prstGeom prst="rect">
            <a:avLst/>
          </a:prstGeom>
          <a:solidFill>
            <a:srgbClr val="FFF3D1"/>
          </a:solidFill>
          <a:ln w="6350">
            <a:solidFill>
              <a:srgbClr val="D9D9D9"/>
            </a:solidFill>
          </a:ln>
          <a:effectLst/>
        </p:spPr>
        <p:txBody>
          <a:bodyPr rtlCol="0" anchor="ctr" wrap="square" tIns="27432" bIns="27432">
            <a:noAutofit/>
          </a:bodyPr>
          <a:lstStyle/>
          <a:p>
            <a:pPr algn="l">
              <a:spcBef>
                <a:spcPts val="0"/>
              </a:spcBef>
              <a:spcAft>
                <a:spcPts val="0"/>
              </a:spcAft>
            </a:pPr>
            <a:r>
              <a:rPr lang="tr-TR" sz="1850" b="1" i="0">
                <a:solidFill>
                  <a:srgbClr val="262626"/>
                </a:solidFill>
                <a:latin typeface="Calibri"/>
              </a:rPr>
              <a:t>Güneyinden</a:t>
            </a:r>
          </a:p>
        </p:txBody>
      </p:sp>
      <p:sp>
        <p:nvSpPr>
          <p:cNvPr id="15" name="Rectangle 14"/>
          <p:cNvSpPr/>
          <p:nvPr/>
        </p:nvSpPr>
        <p:spPr>
          <a:xfrm>
            <a:off x="2697480" y="2861081"/>
            <a:ext cx="8991295" cy="408101"/>
          </a:xfrm>
          <a:prstGeom prst="rect">
            <a:avLst/>
          </a:prstGeom>
          <a:solidFill>
            <a:srgbClr val="FFF3D1"/>
          </a:solidFill>
          <a:ln w="6350">
            <a:solidFill>
              <a:srgbClr val="D9D9D9"/>
            </a:solidFill>
          </a:ln>
          <a:effectLst/>
        </p:spPr>
        <p:txBody>
          <a:bodyPr rtlCol="0" anchor="ctr" wrap="square" tIns="27432" bIns="27432">
            <a:noAutofit/>
          </a:bodyPr>
          <a:lstStyle/>
          <a:p>
            <a:pPr algn="l">
              <a:spcBef>
                <a:spcPts val="0"/>
              </a:spcBef>
              <a:spcAft>
                <a:spcPts val="0"/>
              </a:spcAft>
            </a:pPr>
            <a:r>
              <a:rPr lang="tr-TR" sz="1850" b="0" i="0">
                <a:solidFill>
                  <a:srgbClr val="262626"/>
                </a:solidFill>
                <a:latin typeface="Calibri"/>
              </a:rPr>
              <a:t>Bursa-Karacabey Kara Yolu</a:t>
            </a:r>
          </a:p>
        </p:txBody>
      </p:sp>
      <p:sp>
        <p:nvSpPr>
          <p:cNvPr id="16" name="Rectangle 15"/>
          <p:cNvSpPr/>
          <p:nvPr/>
        </p:nvSpPr>
        <p:spPr>
          <a:xfrm>
            <a:off x="502920" y="3269183"/>
            <a:ext cx="2194560" cy="694740"/>
          </a:xfrm>
          <a:prstGeom prst="rect">
            <a:avLst/>
          </a:prstGeom>
          <a:solidFill>
            <a:srgbClr val="FFFFFF"/>
          </a:solidFill>
          <a:ln w="6350">
            <a:solidFill>
              <a:srgbClr val="D9D9D9"/>
            </a:solidFill>
          </a:ln>
          <a:effectLst/>
        </p:spPr>
        <p:txBody>
          <a:bodyPr rtlCol="0" anchor="ctr" wrap="square" tIns="27432" bIns="27432">
            <a:noAutofit/>
          </a:bodyPr>
          <a:lstStyle/>
          <a:p>
            <a:pPr algn="l">
              <a:spcBef>
                <a:spcPts val="0"/>
              </a:spcBef>
              <a:spcAft>
                <a:spcPts val="0"/>
              </a:spcAft>
            </a:pPr>
            <a:r>
              <a:rPr lang="tr-TR" sz="1850" b="1" i="0">
                <a:solidFill>
                  <a:srgbClr val="262626"/>
                </a:solidFill>
                <a:latin typeface="Calibri"/>
              </a:rPr>
              <a:t>Limanlar</a:t>
            </a:r>
          </a:p>
        </p:txBody>
      </p:sp>
      <p:sp>
        <p:nvSpPr>
          <p:cNvPr id="17" name="Rectangle 16"/>
          <p:cNvSpPr/>
          <p:nvPr/>
        </p:nvSpPr>
        <p:spPr>
          <a:xfrm>
            <a:off x="2697480" y="3269183"/>
            <a:ext cx="8991295" cy="694740"/>
          </a:xfrm>
          <a:prstGeom prst="rect">
            <a:avLst/>
          </a:prstGeom>
          <a:solidFill>
            <a:srgbClr val="FFFFFF"/>
          </a:solidFill>
          <a:ln w="6350">
            <a:solidFill>
              <a:srgbClr val="D9D9D9"/>
            </a:solidFill>
          </a:ln>
          <a:effectLst/>
        </p:spPr>
        <p:txBody>
          <a:bodyPr rtlCol="0" anchor="ctr" wrap="square" tIns="27432" bIns="27432">
            <a:noAutofit/>
          </a:bodyPr>
          <a:lstStyle/>
          <a:p>
            <a:pPr algn="l">
              <a:spcBef>
                <a:spcPts val="0"/>
              </a:spcBef>
              <a:spcAft>
                <a:spcPts val="0"/>
              </a:spcAft>
            </a:pPr>
            <a:r>
              <a:rPr lang="tr-TR" sz="1850" b="0" i="0">
                <a:solidFill>
                  <a:srgbClr val="262626"/>
                </a:solidFill>
                <a:latin typeface="Calibri"/>
              </a:rPr>
              <a:t>Gemlik Limanı’na 50 km, Bandırma Limanı’na ise 74 km mesafede; başka ulaşım altyapıları da planlanmaktadır</a:t>
            </a:r>
          </a:p>
        </p:txBody>
      </p:sp>
      <p:sp>
        <p:nvSpPr>
          <p:cNvPr id="18" name="Rectangle 17"/>
          <p:cNvSpPr/>
          <p:nvPr/>
        </p:nvSpPr>
        <p:spPr>
          <a:xfrm>
            <a:off x="502920" y="3963924"/>
            <a:ext cx="2194560" cy="408101"/>
          </a:xfrm>
          <a:prstGeom prst="rect">
            <a:avLst/>
          </a:prstGeom>
          <a:solidFill>
            <a:srgbClr val="FFF3D1"/>
          </a:solidFill>
          <a:ln w="6350">
            <a:solidFill>
              <a:srgbClr val="D9D9D9"/>
            </a:solidFill>
          </a:ln>
          <a:effectLst/>
        </p:spPr>
        <p:txBody>
          <a:bodyPr rtlCol="0" anchor="ctr" wrap="square" tIns="27432" bIns="27432">
            <a:noAutofit/>
          </a:bodyPr>
          <a:lstStyle/>
          <a:p>
            <a:pPr algn="l">
              <a:spcBef>
                <a:spcPts val="0"/>
              </a:spcBef>
              <a:spcAft>
                <a:spcPts val="0"/>
              </a:spcAft>
            </a:pPr>
            <a:r>
              <a:rPr lang="tr-TR" sz="1850" b="1" i="0">
                <a:solidFill>
                  <a:srgbClr val="262626"/>
                </a:solidFill>
                <a:latin typeface="Calibri"/>
              </a:rPr>
              <a:t>Yer şekli</a:t>
            </a:r>
          </a:p>
        </p:txBody>
      </p:sp>
      <p:sp>
        <p:nvSpPr>
          <p:cNvPr id="19" name="Rectangle 18"/>
          <p:cNvSpPr/>
          <p:nvPr/>
        </p:nvSpPr>
        <p:spPr>
          <a:xfrm>
            <a:off x="2697480" y="3963924"/>
            <a:ext cx="8991295" cy="408101"/>
          </a:xfrm>
          <a:prstGeom prst="rect">
            <a:avLst/>
          </a:prstGeom>
          <a:solidFill>
            <a:srgbClr val="FFF3D1"/>
          </a:solidFill>
          <a:ln w="6350">
            <a:solidFill>
              <a:srgbClr val="D9D9D9"/>
            </a:solidFill>
          </a:ln>
          <a:effectLst/>
        </p:spPr>
        <p:txBody>
          <a:bodyPr rtlCol="0" anchor="ctr" wrap="square" tIns="27432" bIns="27432">
            <a:noAutofit/>
          </a:bodyPr>
          <a:lstStyle/>
          <a:p>
            <a:pPr algn="l">
              <a:spcBef>
                <a:spcPts val="0"/>
              </a:spcBef>
              <a:spcAft>
                <a:spcPts val="0"/>
              </a:spcAft>
            </a:pPr>
            <a:r>
              <a:rPr lang="tr-TR" sz="1850" b="0" i="0">
                <a:solidFill>
                  <a:srgbClr val="262626"/>
                </a:solidFill>
                <a:latin typeface="Calibri"/>
              </a:rPr>
              <a:t>Hafif engebeli ve tepelik bir görünüm</a:t>
            </a:r>
          </a:p>
        </p:txBody>
      </p:sp>
      <p:sp>
        <p:nvSpPr>
          <p:cNvPr id="20" name="Rectangle 19"/>
          <p:cNvSpPr/>
          <p:nvPr/>
        </p:nvSpPr>
        <p:spPr>
          <a:xfrm>
            <a:off x="502920" y="4372025"/>
            <a:ext cx="2194560" cy="408101"/>
          </a:xfrm>
          <a:prstGeom prst="rect">
            <a:avLst/>
          </a:prstGeom>
          <a:solidFill>
            <a:srgbClr val="FFFFFF"/>
          </a:solidFill>
          <a:ln w="6350">
            <a:solidFill>
              <a:srgbClr val="D9D9D9"/>
            </a:solidFill>
          </a:ln>
          <a:effectLst/>
        </p:spPr>
        <p:txBody>
          <a:bodyPr rtlCol="0" anchor="ctr" wrap="square" tIns="27432" bIns="27432">
            <a:noAutofit/>
          </a:bodyPr>
          <a:lstStyle/>
          <a:p>
            <a:pPr algn="l">
              <a:spcBef>
                <a:spcPts val="0"/>
              </a:spcBef>
              <a:spcAft>
                <a:spcPts val="0"/>
              </a:spcAft>
            </a:pPr>
            <a:r>
              <a:rPr lang="tr-TR" sz="1850" b="1" i="0">
                <a:solidFill>
                  <a:srgbClr val="262626"/>
                </a:solidFill>
                <a:latin typeface="Calibri"/>
              </a:rPr>
              <a:t>Su</a:t>
            </a:r>
          </a:p>
        </p:txBody>
      </p:sp>
      <p:sp>
        <p:nvSpPr>
          <p:cNvPr id="21" name="Rectangle 20"/>
          <p:cNvSpPr/>
          <p:nvPr/>
        </p:nvSpPr>
        <p:spPr>
          <a:xfrm>
            <a:off x="2697480" y="4372025"/>
            <a:ext cx="8991295" cy="408101"/>
          </a:xfrm>
          <a:prstGeom prst="rect">
            <a:avLst/>
          </a:prstGeom>
          <a:solidFill>
            <a:srgbClr val="FFFFFF"/>
          </a:solidFill>
          <a:ln w="6350">
            <a:solidFill>
              <a:srgbClr val="D9D9D9"/>
            </a:solidFill>
          </a:ln>
          <a:effectLst/>
        </p:spPr>
        <p:txBody>
          <a:bodyPr rtlCol="0" anchor="ctr" wrap="square" tIns="27432" bIns="27432">
            <a:noAutofit/>
          </a:bodyPr>
          <a:lstStyle/>
          <a:p>
            <a:pPr algn="l">
              <a:spcBef>
                <a:spcPts val="0"/>
              </a:spcBef>
              <a:spcAft>
                <a:spcPts val="0"/>
              </a:spcAft>
            </a:pPr>
            <a:r>
              <a:rPr lang="tr-TR" sz="1850" b="0" i="0">
                <a:solidFill>
                  <a:srgbClr val="262626"/>
                </a:solidFill>
                <a:latin typeface="Calibri"/>
              </a:rPr>
              <a:t>Nilüfer Çayı Havzası</a:t>
            </a:r>
          </a:p>
        </p:txBody>
      </p:sp>
      <p:sp>
        <p:nvSpPr>
          <p:cNvPr id="22" name="Rectangle 21"/>
          <p:cNvSpPr/>
          <p:nvPr/>
        </p:nvSpPr>
        <p:spPr>
          <a:xfrm>
            <a:off x="502920" y="4780127"/>
            <a:ext cx="2194560" cy="408101"/>
          </a:xfrm>
          <a:prstGeom prst="rect">
            <a:avLst/>
          </a:prstGeom>
          <a:solidFill>
            <a:srgbClr val="FFF3D1"/>
          </a:solidFill>
          <a:ln w="6350">
            <a:solidFill>
              <a:srgbClr val="D9D9D9"/>
            </a:solidFill>
          </a:ln>
          <a:effectLst/>
        </p:spPr>
        <p:txBody>
          <a:bodyPr rtlCol="0" anchor="ctr" wrap="square" tIns="27432" bIns="27432">
            <a:noAutofit/>
          </a:bodyPr>
          <a:lstStyle/>
          <a:p>
            <a:pPr algn="l">
              <a:spcBef>
                <a:spcPts val="0"/>
              </a:spcBef>
              <a:spcAft>
                <a:spcPts val="0"/>
              </a:spcAft>
            </a:pPr>
            <a:r>
              <a:rPr lang="tr-TR" sz="1850" b="1" i="0">
                <a:solidFill>
                  <a:srgbClr val="262626"/>
                </a:solidFill>
                <a:latin typeface="Calibri"/>
              </a:rPr>
              <a:t>İklim</a:t>
            </a:r>
          </a:p>
        </p:txBody>
      </p:sp>
      <p:sp>
        <p:nvSpPr>
          <p:cNvPr id="23" name="Rectangle 22"/>
          <p:cNvSpPr/>
          <p:nvPr/>
        </p:nvSpPr>
        <p:spPr>
          <a:xfrm>
            <a:off x="2697480" y="4780127"/>
            <a:ext cx="8991295" cy="408101"/>
          </a:xfrm>
          <a:prstGeom prst="rect">
            <a:avLst/>
          </a:prstGeom>
          <a:solidFill>
            <a:srgbClr val="FFF3D1"/>
          </a:solidFill>
          <a:ln w="6350">
            <a:solidFill>
              <a:srgbClr val="D9D9D9"/>
            </a:solidFill>
          </a:ln>
          <a:effectLst/>
        </p:spPr>
        <p:txBody>
          <a:bodyPr rtlCol="0" anchor="ctr" wrap="square" tIns="27432" bIns="27432">
            <a:noAutofit/>
          </a:bodyPr>
          <a:lstStyle/>
          <a:p>
            <a:pPr algn="l">
              <a:spcBef>
                <a:spcPts val="0"/>
              </a:spcBef>
              <a:spcAft>
                <a:spcPts val="0"/>
              </a:spcAft>
            </a:pPr>
            <a:r>
              <a:rPr lang="tr-TR" sz="1850" b="0" i="0">
                <a:solidFill>
                  <a:srgbClr val="262626"/>
                </a:solidFill>
                <a:latin typeface="Calibri"/>
              </a:rPr>
              <a:t>Akdeniz ile Karadeniz iklimi arasında geçiş iklimi</a:t>
            </a:r>
          </a:p>
        </p:txBody>
      </p:sp>
      <p:sp>
        <p:nvSpPr>
          <p:cNvPr id="24" name="Rectangle 23"/>
          <p:cNvSpPr/>
          <p:nvPr/>
        </p:nvSpPr>
        <p:spPr>
          <a:xfrm>
            <a:off x="502920" y="5188229"/>
            <a:ext cx="2194560" cy="408101"/>
          </a:xfrm>
          <a:prstGeom prst="rect">
            <a:avLst/>
          </a:prstGeom>
          <a:solidFill>
            <a:srgbClr val="FFFFFF"/>
          </a:solidFill>
          <a:ln w="6350">
            <a:solidFill>
              <a:srgbClr val="D9D9D9"/>
            </a:solidFill>
          </a:ln>
          <a:effectLst/>
        </p:spPr>
        <p:txBody>
          <a:bodyPr rtlCol="0" anchor="ctr" wrap="square" tIns="27432" bIns="27432">
            <a:noAutofit/>
          </a:bodyPr>
          <a:lstStyle/>
          <a:p>
            <a:pPr algn="l">
              <a:spcBef>
                <a:spcPts val="0"/>
              </a:spcBef>
              <a:spcAft>
                <a:spcPts val="0"/>
              </a:spcAft>
            </a:pPr>
            <a:r>
              <a:rPr lang="tr-TR" sz="1850" b="1" i="0">
                <a:solidFill>
                  <a:srgbClr val="262626"/>
                </a:solidFill>
                <a:latin typeface="Calibri"/>
              </a:rPr>
              <a:t>Nüfus (Bursa)</a:t>
            </a:r>
          </a:p>
        </p:txBody>
      </p:sp>
      <p:sp>
        <p:nvSpPr>
          <p:cNvPr id="25" name="Rectangle 24"/>
          <p:cNvSpPr/>
          <p:nvPr/>
        </p:nvSpPr>
        <p:spPr>
          <a:xfrm>
            <a:off x="2697480" y="5188229"/>
            <a:ext cx="8991295" cy="408101"/>
          </a:xfrm>
          <a:prstGeom prst="rect">
            <a:avLst/>
          </a:prstGeom>
          <a:solidFill>
            <a:srgbClr val="FFFFFF"/>
          </a:solidFill>
          <a:ln w="6350">
            <a:solidFill>
              <a:srgbClr val="D9D9D9"/>
            </a:solidFill>
          </a:ln>
          <a:effectLst/>
        </p:spPr>
        <p:txBody>
          <a:bodyPr rtlCol="0" anchor="ctr" wrap="square" tIns="27432" bIns="27432">
            <a:noAutofit/>
          </a:bodyPr>
          <a:lstStyle/>
          <a:p>
            <a:pPr algn="l">
              <a:spcBef>
                <a:spcPts val="0"/>
              </a:spcBef>
              <a:spcAft>
                <a:spcPts val="0"/>
              </a:spcAft>
            </a:pPr>
            <a:r>
              <a:rPr lang="tr-TR" sz="1850" b="0" i="0">
                <a:solidFill>
                  <a:srgbClr val="262626"/>
                </a:solidFill>
                <a:latin typeface="Calibri"/>
              </a:rPr>
              <a:t>2024 yılı TÜİK verilerine göre yaklaşık 3,24 milyon</a:t>
            </a:r>
          </a:p>
        </p:txBody>
      </p:sp>
      <p:sp>
        <p:nvSpPr>
          <p:cNvPr id="26" name="Rectangle 25"/>
          <p:cNvSpPr/>
          <p:nvPr/>
        </p:nvSpPr>
        <p:spPr>
          <a:xfrm>
            <a:off x="502920" y="5596331"/>
            <a:ext cx="2194560" cy="694740"/>
          </a:xfrm>
          <a:prstGeom prst="rect">
            <a:avLst/>
          </a:prstGeom>
          <a:solidFill>
            <a:srgbClr val="FFF3D1"/>
          </a:solidFill>
          <a:ln w="6350">
            <a:solidFill>
              <a:srgbClr val="D9D9D9"/>
            </a:solidFill>
          </a:ln>
          <a:effectLst/>
        </p:spPr>
        <p:txBody>
          <a:bodyPr rtlCol="0" anchor="ctr" wrap="square" tIns="27432" bIns="27432">
            <a:noAutofit/>
          </a:bodyPr>
          <a:lstStyle/>
          <a:p>
            <a:pPr algn="l">
              <a:spcBef>
                <a:spcPts val="0"/>
              </a:spcBef>
              <a:spcAft>
                <a:spcPts val="0"/>
              </a:spcAft>
            </a:pPr>
            <a:r>
              <a:rPr lang="tr-TR" sz="1850" b="1" i="0">
                <a:solidFill>
                  <a:srgbClr val="262626"/>
                </a:solidFill>
                <a:latin typeface="Calibri"/>
              </a:rPr>
              <a:t>Sektörler</a:t>
            </a:r>
          </a:p>
        </p:txBody>
      </p:sp>
      <p:sp>
        <p:nvSpPr>
          <p:cNvPr id="27" name="Rectangle 26"/>
          <p:cNvSpPr/>
          <p:nvPr/>
        </p:nvSpPr>
        <p:spPr>
          <a:xfrm>
            <a:off x="2697480" y="5596331"/>
            <a:ext cx="8991295" cy="694740"/>
          </a:xfrm>
          <a:prstGeom prst="rect">
            <a:avLst/>
          </a:prstGeom>
          <a:solidFill>
            <a:srgbClr val="FFF3D1"/>
          </a:solidFill>
          <a:ln w="6350">
            <a:solidFill>
              <a:srgbClr val="D9D9D9"/>
            </a:solidFill>
          </a:ln>
          <a:effectLst/>
        </p:spPr>
        <p:txBody>
          <a:bodyPr rtlCol="0" anchor="ctr" wrap="square" tIns="27432" bIns="27432">
            <a:noAutofit/>
          </a:bodyPr>
          <a:lstStyle/>
          <a:p>
            <a:pPr algn="l">
              <a:spcBef>
                <a:spcPts val="0"/>
              </a:spcBef>
              <a:spcAft>
                <a:spcPts val="0"/>
              </a:spcAft>
            </a:pPr>
            <a:r>
              <a:rPr lang="tr-TR" sz="1850" b="0" i="0">
                <a:solidFill>
                  <a:srgbClr val="262626"/>
                </a:solidFill>
                <a:latin typeface="Calibri"/>
              </a:rPr>
              <a:t>tekstil, otomotiv, makine-metal imalatı, tarıma dayalı sanayi ile gıda ve mobilya; raylı sistemler, havacılık, savunma</a:t>
            </a:r>
          </a:p>
        </p:txBody>
      </p:sp>
      <p:sp>
        <p:nvSpPr>
          <p:cNvPr id="28" name="TextBox 27"/>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29" name="Rounded Rectangle 28"/>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180</a:t>
            </a:r>
          </a:p>
        </p:txBody>
      </p:sp>
      <p:sp>
        <p:nvSpPr>
          <p:cNvPr id="30" name="TextBox 29"/>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94 / 166</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Adım 2 · Kaynak 2: uydu görüntüsü</a:t>
            </a:r>
          </a:p>
        </p:txBody>
      </p:sp>
      <p:sp>
        <p:nvSpPr>
          <p:cNvPr id="5" name="Rounded Rectangle 4"/>
          <p:cNvSpPr/>
          <p:nvPr/>
        </p:nvSpPr>
        <p:spPr>
          <a:xfrm>
            <a:off x="9555480" y="201168"/>
            <a:ext cx="2221992" cy="475488"/>
          </a:xfrm>
          <a:prstGeom prst="roundRect">
            <a:avLst>
              <a:gd name="adj" fmla="val 50000"/>
            </a:avLst>
          </a:prstGeom>
          <a:solidFill>
            <a:srgbClr val="B85C1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ADIM 2</a:t>
            </a:r>
          </a:p>
        </p:txBody>
      </p:sp>
      <p:pic>
        <p:nvPicPr>
          <p:cNvPr id="6" name="Picture 5" descr="h29_uydu_s180.jpg"/>
          <p:cNvPicPr>
            <a:picLocks noChangeAspect="1"/>
          </p:cNvPicPr>
          <p:nvPr/>
        </p:nvPicPr>
        <p:blipFill>
          <a:blip r:embed="rId3"/>
          <a:stretch>
            <a:fillRect/>
          </a:stretch>
        </p:blipFill>
        <p:spPr>
          <a:xfrm>
            <a:off x="502920" y="1216152"/>
            <a:ext cx="8001000" cy="4231933"/>
          </a:xfrm>
          <a:prstGeom prst="rect">
            <a:avLst/>
          </a:prstGeom>
          <a:ln w="9525">
            <a:solidFill>
              <a:srgbClr val="D9D9D9"/>
            </a:solidFill>
          </a:ln>
        </p:spPr>
      </p:pic>
      <p:sp>
        <p:nvSpPr>
          <p:cNvPr id="7" name="TextBox 6"/>
          <p:cNvSpPr txBox="1"/>
          <p:nvPr/>
        </p:nvSpPr>
        <p:spPr>
          <a:xfrm>
            <a:off x="502920" y="5466373"/>
            <a:ext cx="8001000" cy="274320"/>
          </a:xfrm>
          <a:prstGeom prst="rect">
            <a:avLst/>
          </a:prstGeom>
          <a:noFill/>
        </p:spPr>
        <p:txBody>
          <a:bodyPr wrap="square" anchor="t" lIns="73152" rIns="73152" tIns="36576" bIns="36576">
            <a:noAutofit/>
          </a:bodyPr>
          <a:lstStyle/>
          <a:p>
            <a:pPr algn="l">
              <a:spcBef>
                <a:spcPts val="0"/>
              </a:spcBef>
              <a:spcAft>
                <a:spcPts val="0"/>
              </a:spcAft>
            </a:pPr>
            <a:r>
              <a:rPr lang="tr-TR" sz="1100" b="0" i="0">
                <a:solidFill>
                  <a:srgbClr val="767676"/>
                </a:solidFill>
                <a:latin typeface="Calibri"/>
              </a:rPr>
              <a:t>Uydu görüntüsü: TEKNOSAB ve çevresi — Ders kitabı s. 180</a:t>
            </a:r>
          </a:p>
        </p:txBody>
      </p:sp>
      <p:sp>
        <p:nvSpPr>
          <p:cNvPr id="8" name="TextBox 7"/>
          <p:cNvSpPr txBox="1"/>
          <p:nvPr/>
        </p:nvSpPr>
        <p:spPr>
          <a:xfrm>
            <a:off x="8732520" y="1216152"/>
            <a:ext cx="2956255" cy="502920"/>
          </a:xfrm>
          <a:prstGeom prst="rect">
            <a:avLst/>
          </a:prstGeom>
          <a:noFill/>
        </p:spPr>
        <p:txBody>
          <a:bodyPr wrap="square" anchor="ctr" lIns="73152" rIns="73152" tIns="36576" bIns="36576">
            <a:noAutofit/>
          </a:bodyPr>
          <a:lstStyle/>
          <a:p>
            <a:pPr algn="l">
              <a:spcBef>
                <a:spcPts val="0"/>
              </a:spcBef>
              <a:spcAft>
                <a:spcPts val="0"/>
              </a:spcAft>
            </a:pPr>
            <a:r>
              <a:rPr lang="tr-TR" sz="2100" b="1" i="0">
                <a:solidFill>
                  <a:srgbClr val="262626"/>
                </a:solidFill>
                <a:latin typeface="Calibri"/>
              </a:rPr>
              <a:t>Görüntüde bulun:</a:t>
            </a:r>
          </a:p>
        </p:txBody>
      </p:sp>
      <p:sp>
        <p:nvSpPr>
          <p:cNvPr id="9" name="Rounded Rectangle 8"/>
          <p:cNvSpPr/>
          <p:nvPr/>
        </p:nvSpPr>
        <p:spPr>
          <a:xfrm>
            <a:off x="8732520" y="1810512"/>
            <a:ext cx="2956255" cy="490347"/>
          </a:xfrm>
          <a:prstGeom prst="roundRect">
            <a:avLst>
              <a:gd name="adj" fmla="val 30000"/>
            </a:avLst>
          </a:prstGeom>
          <a:solidFill>
            <a:srgbClr val="F0F0F0"/>
          </a:solidFill>
          <a:ln>
            <a:noFill/>
          </a:ln>
          <a:effectLst/>
        </p:spPr>
        <p:txBody>
          <a:bodyPr rtlCol="0" anchor="ctr" wrap="square" lIns="137160" rIns="137160" tIns="73152" bIns="73152">
            <a:noAutofit/>
          </a:bodyPr>
          <a:lstStyle/>
          <a:p>
            <a:pPr algn="l">
              <a:spcBef>
                <a:spcPts val="0"/>
              </a:spcBef>
              <a:spcAft>
                <a:spcPts val="0"/>
              </a:spcAft>
            </a:pPr>
            <a:r>
              <a:rPr lang="tr-TR" sz="1650" b="0" i="0">
                <a:solidFill>
                  <a:srgbClr val="262626"/>
                </a:solidFill>
                <a:latin typeface="Calibri"/>
              </a:rPr>
              <a:t>☐  Marmara Denizi</a:t>
            </a:r>
          </a:p>
        </p:txBody>
      </p:sp>
      <p:sp>
        <p:nvSpPr>
          <p:cNvPr id="10" name="Rounded Rectangle 9"/>
          <p:cNvSpPr/>
          <p:nvPr/>
        </p:nvSpPr>
        <p:spPr>
          <a:xfrm>
            <a:off x="8732520" y="2374011"/>
            <a:ext cx="2956255" cy="490347"/>
          </a:xfrm>
          <a:prstGeom prst="roundRect">
            <a:avLst>
              <a:gd name="adj" fmla="val 30000"/>
            </a:avLst>
          </a:prstGeom>
          <a:solidFill>
            <a:srgbClr val="F0F0F0"/>
          </a:solidFill>
          <a:ln>
            <a:noFill/>
          </a:ln>
          <a:effectLst/>
        </p:spPr>
        <p:txBody>
          <a:bodyPr rtlCol="0" anchor="ctr" wrap="square" lIns="137160" rIns="137160" tIns="73152" bIns="73152">
            <a:noAutofit/>
          </a:bodyPr>
          <a:lstStyle/>
          <a:p>
            <a:pPr algn="l">
              <a:spcBef>
                <a:spcPts val="0"/>
              </a:spcBef>
              <a:spcAft>
                <a:spcPts val="0"/>
              </a:spcAft>
            </a:pPr>
            <a:r>
              <a:rPr lang="tr-TR" sz="1650" b="0" i="0">
                <a:solidFill>
                  <a:srgbClr val="262626"/>
                </a:solidFill>
                <a:latin typeface="Calibri"/>
              </a:rPr>
              <a:t>☐  İstanbul-İzmir Otoyolu</a:t>
            </a:r>
          </a:p>
        </p:txBody>
      </p:sp>
      <p:sp>
        <p:nvSpPr>
          <p:cNvPr id="11" name="Rounded Rectangle 10"/>
          <p:cNvSpPr/>
          <p:nvPr/>
        </p:nvSpPr>
        <p:spPr>
          <a:xfrm>
            <a:off x="8732520" y="2937510"/>
            <a:ext cx="2956255" cy="490347"/>
          </a:xfrm>
          <a:prstGeom prst="roundRect">
            <a:avLst>
              <a:gd name="adj" fmla="val 30000"/>
            </a:avLst>
          </a:prstGeom>
          <a:solidFill>
            <a:srgbClr val="F0F0F0"/>
          </a:solidFill>
          <a:ln>
            <a:noFill/>
          </a:ln>
          <a:effectLst/>
        </p:spPr>
        <p:txBody>
          <a:bodyPr rtlCol="0" anchor="ctr" wrap="square" lIns="137160" rIns="137160" tIns="73152" bIns="73152">
            <a:noAutofit/>
          </a:bodyPr>
          <a:lstStyle/>
          <a:p>
            <a:pPr algn="l">
              <a:spcBef>
                <a:spcPts val="0"/>
              </a:spcBef>
              <a:spcAft>
                <a:spcPts val="0"/>
              </a:spcAft>
            </a:pPr>
            <a:r>
              <a:rPr lang="tr-TR" sz="1650" b="0" i="0">
                <a:solidFill>
                  <a:srgbClr val="262626"/>
                </a:solidFill>
                <a:latin typeface="Calibri"/>
              </a:rPr>
              <a:t>☐  Kara yolu</a:t>
            </a:r>
          </a:p>
        </p:txBody>
      </p:sp>
      <p:sp>
        <p:nvSpPr>
          <p:cNvPr id="12" name="Rounded Rectangle 11"/>
          <p:cNvSpPr/>
          <p:nvPr/>
        </p:nvSpPr>
        <p:spPr>
          <a:xfrm>
            <a:off x="8732520" y="3501009"/>
            <a:ext cx="2956255" cy="490347"/>
          </a:xfrm>
          <a:prstGeom prst="roundRect">
            <a:avLst>
              <a:gd name="adj" fmla="val 30000"/>
            </a:avLst>
          </a:prstGeom>
          <a:solidFill>
            <a:srgbClr val="F0F0F0"/>
          </a:solidFill>
          <a:ln>
            <a:noFill/>
          </a:ln>
          <a:effectLst/>
        </p:spPr>
        <p:txBody>
          <a:bodyPr rtlCol="0" anchor="ctr" wrap="square" lIns="137160" rIns="137160" tIns="73152" bIns="73152">
            <a:noAutofit/>
          </a:bodyPr>
          <a:lstStyle/>
          <a:p>
            <a:pPr algn="l">
              <a:spcBef>
                <a:spcPts val="0"/>
              </a:spcBef>
              <a:spcAft>
                <a:spcPts val="0"/>
              </a:spcAft>
            </a:pPr>
            <a:r>
              <a:rPr lang="tr-TR" sz="1650" b="0" i="0">
                <a:solidFill>
                  <a:srgbClr val="262626"/>
                </a:solidFill>
                <a:latin typeface="Calibri"/>
              </a:rPr>
              <a:t>☐  Liman</a:t>
            </a:r>
          </a:p>
        </p:txBody>
      </p:sp>
      <p:sp>
        <p:nvSpPr>
          <p:cNvPr id="13" name="Rounded Rectangle 12"/>
          <p:cNvSpPr/>
          <p:nvPr/>
        </p:nvSpPr>
        <p:spPr>
          <a:xfrm>
            <a:off x="8732520" y="4064508"/>
            <a:ext cx="2956255" cy="490347"/>
          </a:xfrm>
          <a:prstGeom prst="roundRect">
            <a:avLst>
              <a:gd name="adj" fmla="val 30000"/>
            </a:avLst>
          </a:prstGeom>
          <a:solidFill>
            <a:srgbClr val="F0F0F0"/>
          </a:solidFill>
          <a:ln>
            <a:noFill/>
          </a:ln>
          <a:effectLst/>
        </p:spPr>
        <p:txBody>
          <a:bodyPr rtlCol="0" anchor="ctr" wrap="square" lIns="137160" rIns="137160" tIns="73152" bIns="73152">
            <a:noAutofit/>
          </a:bodyPr>
          <a:lstStyle/>
          <a:p>
            <a:pPr algn="l">
              <a:spcBef>
                <a:spcPts val="0"/>
              </a:spcBef>
              <a:spcAft>
                <a:spcPts val="0"/>
              </a:spcAft>
            </a:pPr>
            <a:r>
              <a:rPr lang="tr-TR" sz="1650" b="0" i="0">
                <a:solidFill>
                  <a:srgbClr val="262626"/>
                </a:solidFill>
                <a:latin typeface="Calibri"/>
              </a:rPr>
              <a:t>☐  Demir Yolu Projesi</a:t>
            </a:r>
          </a:p>
        </p:txBody>
      </p:sp>
      <p:sp>
        <p:nvSpPr>
          <p:cNvPr id="14" name="Rounded Rectangle 13"/>
          <p:cNvSpPr/>
          <p:nvPr/>
        </p:nvSpPr>
        <p:spPr>
          <a:xfrm>
            <a:off x="8732520" y="4628007"/>
            <a:ext cx="2956255" cy="490347"/>
          </a:xfrm>
          <a:prstGeom prst="roundRect">
            <a:avLst>
              <a:gd name="adj" fmla="val 30000"/>
            </a:avLst>
          </a:prstGeom>
          <a:solidFill>
            <a:srgbClr val="F0F0F0"/>
          </a:solidFill>
          <a:ln>
            <a:noFill/>
          </a:ln>
          <a:effectLst/>
        </p:spPr>
        <p:txBody>
          <a:bodyPr rtlCol="0" anchor="ctr" wrap="square" lIns="137160" rIns="137160" tIns="73152" bIns="73152">
            <a:noAutofit/>
          </a:bodyPr>
          <a:lstStyle/>
          <a:p>
            <a:pPr algn="l">
              <a:spcBef>
                <a:spcPts val="0"/>
              </a:spcBef>
              <a:spcAft>
                <a:spcPts val="0"/>
              </a:spcAft>
            </a:pPr>
            <a:r>
              <a:rPr lang="tr-TR" sz="1650" b="0" i="0">
                <a:solidFill>
                  <a:srgbClr val="262626"/>
                </a:solidFill>
                <a:latin typeface="Calibri"/>
              </a:rPr>
              <a:t>☐  Uluabat Gölü</a:t>
            </a:r>
          </a:p>
        </p:txBody>
      </p:sp>
      <p:sp>
        <p:nvSpPr>
          <p:cNvPr id="15" name="Rounded Rectangle 14"/>
          <p:cNvSpPr/>
          <p:nvPr/>
        </p:nvSpPr>
        <p:spPr>
          <a:xfrm>
            <a:off x="8732520" y="5191506"/>
            <a:ext cx="2956255" cy="490347"/>
          </a:xfrm>
          <a:prstGeom prst="roundRect">
            <a:avLst>
              <a:gd name="adj" fmla="val 30000"/>
            </a:avLst>
          </a:prstGeom>
          <a:solidFill>
            <a:srgbClr val="F0F0F0"/>
          </a:solidFill>
          <a:ln>
            <a:noFill/>
          </a:ln>
          <a:effectLst/>
        </p:spPr>
        <p:txBody>
          <a:bodyPr rtlCol="0" anchor="ctr" wrap="square" lIns="137160" rIns="137160" tIns="73152" bIns="73152">
            <a:noAutofit/>
          </a:bodyPr>
          <a:lstStyle/>
          <a:p>
            <a:pPr algn="l">
              <a:spcBef>
                <a:spcPts val="0"/>
              </a:spcBef>
              <a:spcAft>
                <a:spcPts val="0"/>
              </a:spcAft>
            </a:pPr>
            <a:r>
              <a:rPr lang="tr-TR" sz="1650" b="0" i="0">
                <a:solidFill>
                  <a:srgbClr val="262626"/>
                </a:solidFill>
                <a:latin typeface="Calibri"/>
              </a:rPr>
              <a:t>☐  Rüzgâr Türbini</a:t>
            </a:r>
          </a:p>
        </p:txBody>
      </p:sp>
      <p:sp>
        <p:nvSpPr>
          <p:cNvPr id="16" name="Rounded Rectangle 15"/>
          <p:cNvSpPr/>
          <p:nvPr/>
        </p:nvSpPr>
        <p:spPr>
          <a:xfrm>
            <a:off x="8732520" y="5755005"/>
            <a:ext cx="2956255" cy="490347"/>
          </a:xfrm>
          <a:prstGeom prst="roundRect">
            <a:avLst>
              <a:gd name="adj" fmla="val 30000"/>
            </a:avLst>
          </a:prstGeom>
          <a:solidFill>
            <a:srgbClr val="F0F0F0"/>
          </a:solidFill>
          <a:ln>
            <a:noFill/>
          </a:ln>
          <a:effectLst/>
        </p:spPr>
        <p:txBody>
          <a:bodyPr rtlCol="0" anchor="ctr" wrap="square" lIns="137160" rIns="137160" tIns="73152" bIns="73152">
            <a:noAutofit/>
          </a:bodyPr>
          <a:lstStyle/>
          <a:p>
            <a:pPr algn="l">
              <a:spcBef>
                <a:spcPts val="0"/>
              </a:spcBef>
              <a:spcAft>
                <a:spcPts val="0"/>
              </a:spcAft>
            </a:pPr>
            <a:r>
              <a:rPr lang="tr-TR" sz="1650" b="0" i="0">
                <a:solidFill>
                  <a:srgbClr val="262626"/>
                </a:solidFill>
                <a:latin typeface="Calibri"/>
              </a:rPr>
              <a:t>☐  Güneş Paneli</a:t>
            </a:r>
          </a:p>
        </p:txBody>
      </p:sp>
      <p:sp>
        <p:nvSpPr>
          <p:cNvPr id="17" name="TextBox 16"/>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18" name="Rounded Rectangle 17"/>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180</a:t>
            </a:r>
          </a:p>
        </p:txBody>
      </p:sp>
      <p:sp>
        <p:nvSpPr>
          <p:cNvPr id="19" name="TextBox 18"/>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95 / 166</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Adım 2 · Kaynak 3: Bursa'nın sıcaklık ve yağış grafiği</a:t>
            </a:r>
          </a:p>
        </p:txBody>
      </p:sp>
      <p:sp>
        <p:nvSpPr>
          <p:cNvPr id="5" name="Rounded Rectangle 4"/>
          <p:cNvSpPr/>
          <p:nvPr/>
        </p:nvSpPr>
        <p:spPr>
          <a:xfrm>
            <a:off x="9555480" y="201168"/>
            <a:ext cx="2221992" cy="475488"/>
          </a:xfrm>
          <a:prstGeom prst="roundRect">
            <a:avLst>
              <a:gd name="adj" fmla="val 50000"/>
            </a:avLst>
          </a:prstGeom>
          <a:solidFill>
            <a:srgbClr val="B85C1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ADIM 2</a:t>
            </a:r>
          </a:p>
        </p:txBody>
      </p:sp>
      <p:pic>
        <p:nvPicPr>
          <p:cNvPr id="6" name="Picture 5" descr="h29_grafik_s180.jpg"/>
          <p:cNvPicPr>
            <a:picLocks noChangeAspect="1"/>
          </p:cNvPicPr>
          <p:nvPr/>
        </p:nvPicPr>
        <p:blipFill>
          <a:blip r:embed="rId3"/>
          <a:stretch>
            <a:fillRect/>
          </a:stretch>
        </p:blipFill>
        <p:spPr>
          <a:xfrm>
            <a:off x="502920" y="1216152"/>
            <a:ext cx="7366131" cy="4709160"/>
          </a:xfrm>
          <a:prstGeom prst="rect">
            <a:avLst/>
          </a:prstGeom>
          <a:ln w="9525">
            <a:solidFill>
              <a:srgbClr val="D9D9D9"/>
            </a:solidFill>
          </a:ln>
        </p:spPr>
      </p:pic>
      <p:sp>
        <p:nvSpPr>
          <p:cNvPr id="7" name="TextBox 6"/>
          <p:cNvSpPr txBox="1"/>
          <p:nvPr/>
        </p:nvSpPr>
        <p:spPr>
          <a:xfrm>
            <a:off x="502920" y="5952744"/>
            <a:ext cx="7366131" cy="274320"/>
          </a:xfrm>
          <a:prstGeom prst="rect">
            <a:avLst/>
          </a:prstGeom>
          <a:noFill/>
        </p:spPr>
        <p:txBody>
          <a:bodyPr wrap="square" anchor="t" lIns="73152" rIns="73152" tIns="36576" bIns="36576">
            <a:noAutofit/>
          </a:bodyPr>
          <a:lstStyle/>
          <a:p>
            <a:pPr algn="l">
              <a:spcBef>
                <a:spcPts val="0"/>
              </a:spcBef>
              <a:spcAft>
                <a:spcPts val="0"/>
              </a:spcAft>
            </a:pPr>
            <a:r>
              <a:rPr lang="tr-TR" sz="1100" b="0" i="0">
                <a:solidFill>
                  <a:srgbClr val="767676"/>
                </a:solidFill>
                <a:latin typeface="Calibri"/>
              </a:rPr>
              <a:t>Bursa iline ait sıcaklık ve yağış grafiği — Ders kitabı s. 180</a:t>
            </a:r>
          </a:p>
        </p:txBody>
      </p:sp>
      <p:sp>
        <p:nvSpPr>
          <p:cNvPr id="8" name="Rounded Rectangle 7"/>
          <p:cNvSpPr/>
          <p:nvPr/>
        </p:nvSpPr>
        <p:spPr>
          <a:xfrm>
            <a:off x="8143371" y="1216152"/>
            <a:ext cx="3545404" cy="1584960"/>
          </a:xfrm>
          <a:prstGeom prst="roundRect">
            <a:avLst>
              <a:gd name="adj" fmla="val 10000"/>
            </a:avLst>
          </a:prstGeom>
          <a:solidFill>
            <a:srgbClr val="F0F0F0"/>
          </a:solidFill>
          <a:ln>
            <a:noFill/>
          </a:ln>
          <a:effectLst/>
        </p:spPr>
        <p:txBody>
          <a:bodyPr rtlCol="0" anchor="ctr"/>
          <a:lstStyle/>
          <a:p/>
        </p:txBody>
      </p:sp>
      <p:sp>
        <p:nvSpPr>
          <p:cNvPr id="9" name="Oval 8"/>
          <p:cNvSpPr/>
          <p:nvPr/>
        </p:nvSpPr>
        <p:spPr>
          <a:xfrm>
            <a:off x="8280531" y="1734312"/>
            <a:ext cx="548640" cy="548640"/>
          </a:xfrm>
          <a:prstGeom prst="ellipse">
            <a:avLst/>
          </a:prstGeom>
          <a:solidFill>
            <a:srgbClr val="B85C12"/>
          </a:solidFill>
          <a:ln>
            <a:noFill/>
          </a:ln>
          <a:effectLst/>
        </p:spPr>
        <p:txBody>
          <a:bodyPr rtlCol="0" anchor="ctr" wrap="none" lIns="0" rIns="0" tIns="0" bIns="0">
            <a:noAutofit/>
          </a:bodyPr>
          <a:lstStyle/>
          <a:p>
            <a:pPr algn="ctr">
              <a:spcBef>
                <a:spcPts val="0"/>
              </a:spcBef>
              <a:spcAft>
                <a:spcPts val="0"/>
              </a:spcAft>
            </a:pPr>
            <a:r>
              <a:rPr lang="tr-TR" sz="2200" b="1" i="0">
                <a:solidFill>
                  <a:srgbClr val="FFFFFF"/>
                </a:solidFill>
                <a:latin typeface="Calibri"/>
              </a:rPr>
              <a:t>1</a:t>
            </a:r>
          </a:p>
        </p:txBody>
      </p:sp>
      <p:sp>
        <p:nvSpPr>
          <p:cNvPr id="10" name="TextBox 9"/>
          <p:cNvSpPr txBox="1"/>
          <p:nvPr/>
        </p:nvSpPr>
        <p:spPr>
          <a:xfrm>
            <a:off x="8966331" y="1216152"/>
            <a:ext cx="2631004" cy="1584960"/>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262626"/>
                </a:solidFill>
                <a:latin typeface="Calibri"/>
              </a:rPr>
              <a:t>En sıcak ve en soğuk ay hangisi?</a:t>
            </a:r>
          </a:p>
        </p:txBody>
      </p:sp>
      <p:sp>
        <p:nvSpPr>
          <p:cNvPr id="11" name="Rounded Rectangle 10"/>
          <p:cNvSpPr/>
          <p:nvPr/>
        </p:nvSpPr>
        <p:spPr>
          <a:xfrm>
            <a:off x="8143371" y="2938272"/>
            <a:ext cx="3545404" cy="1584960"/>
          </a:xfrm>
          <a:prstGeom prst="roundRect">
            <a:avLst>
              <a:gd name="adj" fmla="val 10000"/>
            </a:avLst>
          </a:prstGeom>
          <a:solidFill>
            <a:srgbClr val="F0F0F0"/>
          </a:solidFill>
          <a:ln>
            <a:noFill/>
          </a:ln>
          <a:effectLst/>
        </p:spPr>
        <p:txBody>
          <a:bodyPr rtlCol="0" anchor="ctr"/>
          <a:lstStyle/>
          <a:p/>
        </p:txBody>
      </p:sp>
      <p:sp>
        <p:nvSpPr>
          <p:cNvPr id="12" name="Oval 11"/>
          <p:cNvSpPr/>
          <p:nvPr/>
        </p:nvSpPr>
        <p:spPr>
          <a:xfrm>
            <a:off x="8280531" y="3456432"/>
            <a:ext cx="548640" cy="548640"/>
          </a:xfrm>
          <a:prstGeom prst="ellipse">
            <a:avLst/>
          </a:prstGeom>
          <a:solidFill>
            <a:srgbClr val="B85C12"/>
          </a:solidFill>
          <a:ln>
            <a:noFill/>
          </a:ln>
          <a:effectLst/>
        </p:spPr>
        <p:txBody>
          <a:bodyPr rtlCol="0" anchor="ctr" wrap="none" lIns="0" rIns="0" tIns="0" bIns="0">
            <a:noAutofit/>
          </a:bodyPr>
          <a:lstStyle/>
          <a:p>
            <a:pPr algn="ctr">
              <a:spcBef>
                <a:spcPts val="0"/>
              </a:spcBef>
              <a:spcAft>
                <a:spcPts val="0"/>
              </a:spcAft>
            </a:pPr>
            <a:r>
              <a:rPr lang="tr-TR" sz="2200" b="1" i="0">
                <a:solidFill>
                  <a:srgbClr val="FFFFFF"/>
                </a:solidFill>
                <a:latin typeface="Calibri"/>
              </a:rPr>
              <a:t>2</a:t>
            </a:r>
          </a:p>
        </p:txBody>
      </p:sp>
      <p:sp>
        <p:nvSpPr>
          <p:cNvPr id="13" name="TextBox 12"/>
          <p:cNvSpPr txBox="1"/>
          <p:nvPr/>
        </p:nvSpPr>
        <p:spPr>
          <a:xfrm>
            <a:off x="8966331" y="2938272"/>
            <a:ext cx="2631004" cy="1584960"/>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262626"/>
                </a:solidFill>
                <a:latin typeface="Calibri"/>
              </a:rPr>
              <a:t>En yağışlı ve en az yağışlı ay hangisi?</a:t>
            </a:r>
          </a:p>
        </p:txBody>
      </p:sp>
      <p:sp>
        <p:nvSpPr>
          <p:cNvPr id="14" name="Rounded Rectangle 13"/>
          <p:cNvSpPr/>
          <p:nvPr/>
        </p:nvSpPr>
        <p:spPr>
          <a:xfrm>
            <a:off x="8143371" y="4660392"/>
            <a:ext cx="3545404" cy="1584960"/>
          </a:xfrm>
          <a:prstGeom prst="roundRect">
            <a:avLst>
              <a:gd name="adj" fmla="val 10000"/>
            </a:avLst>
          </a:prstGeom>
          <a:solidFill>
            <a:srgbClr val="F0F0F0"/>
          </a:solidFill>
          <a:ln>
            <a:noFill/>
          </a:ln>
          <a:effectLst/>
        </p:spPr>
        <p:txBody>
          <a:bodyPr rtlCol="0" anchor="ctr"/>
          <a:lstStyle/>
          <a:p/>
        </p:txBody>
      </p:sp>
      <p:sp>
        <p:nvSpPr>
          <p:cNvPr id="15" name="Oval 14"/>
          <p:cNvSpPr/>
          <p:nvPr/>
        </p:nvSpPr>
        <p:spPr>
          <a:xfrm>
            <a:off x="8280531" y="5178552"/>
            <a:ext cx="548640" cy="548640"/>
          </a:xfrm>
          <a:prstGeom prst="ellipse">
            <a:avLst/>
          </a:prstGeom>
          <a:solidFill>
            <a:srgbClr val="B85C12"/>
          </a:solidFill>
          <a:ln>
            <a:noFill/>
          </a:ln>
          <a:effectLst/>
        </p:spPr>
        <p:txBody>
          <a:bodyPr rtlCol="0" anchor="ctr" wrap="none" lIns="0" rIns="0" tIns="0" bIns="0">
            <a:noAutofit/>
          </a:bodyPr>
          <a:lstStyle/>
          <a:p>
            <a:pPr algn="ctr">
              <a:spcBef>
                <a:spcPts val="0"/>
              </a:spcBef>
              <a:spcAft>
                <a:spcPts val="0"/>
              </a:spcAft>
            </a:pPr>
            <a:r>
              <a:rPr lang="tr-TR" sz="2200" b="1" i="0">
                <a:solidFill>
                  <a:srgbClr val="FFFFFF"/>
                </a:solidFill>
                <a:latin typeface="Calibri"/>
              </a:rPr>
              <a:t>3</a:t>
            </a:r>
          </a:p>
        </p:txBody>
      </p:sp>
      <p:sp>
        <p:nvSpPr>
          <p:cNvPr id="16" name="TextBox 15"/>
          <p:cNvSpPr txBox="1"/>
          <p:nvPr/>
        </p:nvSpPr>
        <p:spPr>
          <a:xfrm>
            <a:off x="8966331" y="4660392"/>
            <a:ext cx="2631004" cy="1584960"/>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262626"/>
                </a:solidFill>
                <a:latin typeface="Calibri"/>
              </a:rPr>
              <a:t>Metindeki “geçiş iklimi” bilgisiyle uyumlu mu?</a:t>
            </a:r>
          </a:p>
        </p:txBody>
      </p:sp>
      <p:sp>
        <p:nvSpPr>
          <p:cNvPr id="17" name="TextBox 16"/>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18" name="Rounded Rectangle 17"/>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180</a:t>
            </a:r>
          </a:p>
        </p:txBody>
      </p:sp>
      <p:sp>
        <p:nvSpPr>
          <p:cNvPr id="19" name="TextBox 18"/>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96 / 166</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Adım 2 — örnek cevap: kaynakları karşılaştırdık</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graphicFrame>
        <p:nvGraphicFramePr>
          <p:cNvPr id="6" name="Table 5"/>
          <p:cNvGraphicFramePr>
            <a:graphicFrameLocks noGrp="1"/>
          </p:cNvGraphicFramePr>
          <p:nvPr/>
        </p:nvGraphicFramePr>
        <p:xfrm>
          <a:off x="502920" y="1216152"/>
          <a:ext cx="11185855" cy="4160520"/>
        </p:xfrm>
        <a:graphic>
          <a:graphicData uri="http://schemas.openxmlformats.org/drawingml/2006/table">
            <a:tbl>
              <a:tblPr firstRow="1" bandRow="1">
                <a:tableStyleId>{5C22544A-7EE6-4342-B048-85BDC9FD1C3A}</a:tableStyleId>
              </a:tblPr>
              <a:tblGrid>
                <a:gridCol w="1463040"/>
                <a:gridCol w="3246120"/>
                <a:gridCol w="3703320"/>
                <a:gridCol w="2773375"/>
              </a:tblGrid>
              <a:tr h="502920">
                <a:tc>
                  <a:txBody>
                    <a:bodyPr wrap="square"/>
                    <a:lstStyle/>
                    <a:p>
                      <a:pPr algn="ctr">
                        <a:spcBef>
                          <a:spcPts val="0"/>
                        </a:spcBef>
                        <a:spcAft>
                          <a:spcPts val="0"/>
                        </a:spcAft>
                      </a:pPr>
                      <a:r>
                        <a:rPr lang="tr-TR" sz="1700" b="1" i="0">
                          <a:solidFill>
                            <a:srgbClr val="FFFFFF"/>
                          </a:solidFill>
                          <a:latin typeface="Calibri"/>
                        </a:rPr>
                        <a:t>Bilgi</a:t>
                      </a:r>
                    </a:p>
                  </a:txBody>
                  <a:tcPr marL="54864" marR="54864" marT="18288" marB="18288" anchor="ctr">
                    <a:solidFill>
                      <a:srgbClr val="2E7D32"/>
                    </a:solidFill>
                  </a:tcPr>
                </a:tc>
                <a:tc>
                  <a:txBody>
                    <a:bodyPr wrap="square"/>
                    <a:lstStyle/>
                    <a:p>
                      <a:pPr algn="ctr">
                        <a:spcBef>
                          <a:spcPts val="0"/>
                        </a:spcBef>
                        <a:spcAft>
                          <a:spcPts val="0"/>
                        </a:spcAft>
                      </a:pPr>
                      <a:r>
                        <a:rPr lang="tr-TR" sz="1700" b="1" i="0">
                          <a:solidFill>
                            <a:srgbClr val="FFFFFF"/>
                          </a:solidFill>
                          <a:latin typeface="Calibri"/>
                        </a:rPr>
                        <a:t>Metin (s. 180)</a:t>
                      </a:r>
                    </a:p>
                  </a:txBody>
                  <a:tcPr marL="54864" marR="54864" marT="18288" marB="18288" anchor="ctr">
                    <a:solidFill>
                      <a:srgbClr val="2E7D32"/>
                    </a:solidFill>
                  </a:tcPr>
                </a:tc>
                <a:tc>
                  <a:txBody>
                    <a:bodyPr wrap="square"/>
                    <a:lstStyle/>
                    <a:p>
                      <a:pPr algn="ctr">
                        <a:spcBef>
                          <a:spcPts val="0"/>
                        </a:spcBef>
                        <a:spcAft>
                          <a:spcPts val="0"/>
                        </a:spcAft>
                      </a:pPr>
                      <a:r>
                        <a:rPr lang="tr-TR" sz="1700" b="1" i="0">
                          <a:solidFill>
                            <a:srgbClr val="FFFFFF"/>
                          </a:solidFill>
                          <a:latin typeface="Calibri"/>
                        </a:rPr>
                        <a:t>Uydu görüntüsü / grafik</a:t>
                      </a:r>
                    </a:p>
                  </a:txBody>
                  <a:tcPr marL="54864" marR="54864" marT="18288" marB="18288" anchor="ctr">
                    <a:solidFill>
                      <a:srgbClr val="2E7D32"/>
                    </a:solidFill>
                  </a:tcPr>
                </a:tc>
                <a:tc>
                  <a:txBody>
                    <a:bodyPr wrap="square"/>
                    <a:lstStyle/>
                    <a:p>
                      <a:pPr algn="ctr">
                        <a:spcBef>
                          <a:spcPts val="0"/>
                        </a:spcBef>
                        <a:spcAft>
                          <a:spcPts val="0"/>
                        </a:spcAft>
                      </a:pPr>
                      <a:r>
                        <a:rPr lang="tr-TR" sz="1700" b="1" i="0">
                          <a:solidFill>
                            <a:srgbClr val="FFFFFF"/>
                          </a:solidFill>
                          <a:latin typeface="Calibri"/>
                        </a:rPr>
                        <a:t>Sonuç</a:t>
                      </a:r>
                    </a:p>
                  </a:txBody>
                  <a:tcPr marL="54864" marR="54864" marT="18288" marB="18288" anchor="ctr">
                    <a:solidFill>
                      <a:srgbClr val="2E7D32"/>
                    </a:solidFill>
                  </a:tcPr>
                </a:tc>
              </a:tr>
              <a:tr h="914400">
                <a:tc>
                  <a:txBody>
                    <a:bodyPr wrap="square"/>
                    <a:lstStyle/>
                    <a:p>
                      <a:pPr algn="l">
                        <a:spcBef>
                          <a:spcPts val="0"/>
                        </a:spcBef>
                        <a:spcAft>
                          <a:spcPts val="0"/>
                        </a:spcAft>
                      </a:pPr>
                      <a:r>
                        <a:rPr lang="tr-TR" sz="1700" b="1" i="0">
                          <a:solidFill>
                            <a:srgbClr val="262626"/>
                          </a:solidFill>
                          <a:latin typeface="Calibri"/>
                        </a:rPr>
                        <a:t>Otoyol</a:t>
                      </a:r>
                    </a:p>
                  </a:txBody>
                  <a:tcPr marL="54864" marR="54864" marT="18288" marB="18288" anchor="ctr">
                    <a:solidFill>
                      <a:srgbClr val="FFFFFF"/>
                    </a:solidFill>
                  </a:tcPr>
                </a:tc>
                <a:tc>
                  <a:txBody>
                    <a:bodyPr wrap="square"/>
                    <a:lstStyle/>
                    <a:p>
                      <a:pPr algn="l">
                        <a:spcBef>
                          <a:spcPts val="0"/>
                        </a:spcBef>
                        <a:spcAft>
                          <a:spcPts val="0"/>
                        </a:spcAft>
                      </a:pPr>
                      <a:r>
                        <a:rPr lang="tr-TR" sz="1700" b="0" i="0">
                          <a:solidFill>
                            <a:srgbClr val="262626"/>
                          </a:solidFill>
                          <a:latin typeface="Calibri"/>
                        </a:rPr>
                        <a:t>“kuzeyinden İstanbul-İzmir Otoyolu”</a:t>
                      </a:r>
                    </a:p>
                  </a:txBody>
                  <a:tcPr marL="54864" marR="54864" marT="18288" marB="18288" anchor="ctr">
                    <a:solidFill>
                      <a:srgbClr val="FFFFFF"/>
                    </a:solidFill>
                  </a:tcPr>
                </a:tc>
                <a:tc>
                  <a:txBody>
                    <a:bodyPr wrap="square"/>
                    <a:lstStyle/>
                    <a:p>
                      <a:pPr algn="l">
                        <a:spcBef>
                          <a:spcPts val="0"/>
                        </a:spcBef>
                        <a:spcAft>
                          <a:spcPts val="0"/>
                        </a:spcAft>
                      </a:pPr>
                      <a:r>
                        <a:rPr lang="tr-TR" sz="1700" b="0" i="0">
                          <a:solidFill>
                            <a:srgbClr val="262626"/>
                          </a:solidFill>
                          <a:latin typeface="Calibri"/>
                        </a:rPr>
                        <a:t>Otoyol TEKNOSAB alanının kuzeyinden geçiyor.</a:t>
                      </a:r>
                    </a:p>
                  </a:txBody>
                  <a:tcPr marL="54864" marR="54864" marT="18288" marB="18288" anchor="ctr">
                    <a:solidFill>
                      <a:srgbClr val="FFFFFF"/>
                    </a:solidFill>
                  </a:tcPr>
                </a:tc>
                <a:tc>
                  <a:txBody>
                    <a:bodyPr wrap="square"/>
                    <a:lstStyle/>
                    <a:p>
                      <a:pPr algn="l">
                        <a:spcBef>
                          <a:spcPts val="0"/>
                        </a:spcBef>
                        <a:spcAft>
                          <a:spcPts val="0"/>
                        </a:spcAft>
                      </a:pPr>
                      <a:r>
                        <a:rPr lang="tr-TR" sz="1700" b="0" i="0">
                          <a:solidFill>
                            <a:srgbClr val="262626"/>
                          </a:solidFill>
                          <a:latin typeface="Calibri"/>
                        </a:rPr>
                        <a:t>✓ Uyumlu</a:t>
                      </a:r>
                    </a:p>
                  </a:txBody>
                  <a:tcPr marL="54864" marR="54864" marT="18288" marB="18288" anchor="ctr">
                    <a:solidFill>
                      <a:srgbClr val="FFFFFF"/>
                    </a:solidFill>
                  </a:tcPr>
                </a:tc>
              </a:tr>
              <a:tr h="914400">
                <a:tc>
                  <a:txBody>
                    <a:bodyPr wrap="square"/>
                    <a:lstStyle/>
                    <a:p>
                      <a:pPr algn="l">
                        <a:spcBef>
                          <a:spcPts val="0"/>
                        </a:spcBef>
                        <a:spcAft>
                          <a:spcPts val="0"/>
                        </a:spcAft>
                      </a:pPr>
                      <a:r>
                        <a:rPr lang="tr-TR" sz="1700" b="1" i="0">
                          <a:solidFill>
                            <a:srgbClr val="262626"/>
                          </a:solidFill>
                          <a:latin typeface="Calibri"/>
                        </a:rPr>
                        <a:t>Kara yolu</a:t>
                      </a:r>
                    </a:p>
                  </a:txBody>
                  <a:tcPr marL="54864" marR="54864" marT="18288" marB="18288" anchor="ctr">
                    <a:solidFill>
                      <a:srgbClr val="E3F1E4"/>
                    </a:solidFill>
                  </a:tcPr>
                </a:tc>
                <a:tc>
                  <a:txBody>
                    <a:bodyPr wrap="square"/>
                    <a:lstStyle/>
                    <a:p>
                      <a:pPr algn="l">
                        <a:spcBef>
                          <a:spcPts val="0"/>
                        </a:spcBef>
                        <a:spcAft>
                          <a:spcPts val="0"/>
                        </a:spcAft>
                      </a:pPr>
                      <a:r>
                        <a:rPr lang="tr-TR" sz="1700" b="0" i="0">
                          <a:solidFill>
                            <a:srgbClr val="262626"/>
                          </a:solidFill>
                          <a:latin typeface="Calibri"/>
                        </a:rPr>
                        <a:t>“güneyinden ise Bursa-Karacabey Kara Yolu”</a:t>
                      </a:r>
                    </a:p>
                  </a:txBody>
                  <a:tcPr marL="54864" marR="54864" marT="18288" marB="18288" anchor="ctr">
                    <a:solidFill>
                      <a:srgbClr val="E3F1E4"/>
                    </a:solidFill>
                  </a:tcPr>
                </a:tc>
                <a:tc>
                  <a:txBody>
                    <a:bodyPr wrap="square"/>
                    <a:lstStyle/>
                    <a:p>
                      <a:pPr algn="l">
                        <a:spcBef>
                          <a:spcPts val="0"/>
                        </a:spcBef>
                        <a:spcAft>
                          <a:spcPts val="0"/>
                        </a:spcAft>
                      </a:pPr>
                      <a:r>
                        <a:rPr lang="tr-TR" sz="1700" b="0" i="0">
                          <a:solidFill>
                            <a:srgbClr val="262626"/>
                          </a:solidFill>
                          <a:latin typeface="Calibri"/>
                        </a:rPr>
                        <a:t>Güneydeki yolun etiketi “Bursa-İzmir Kara Yolu”.</a:t>
                      </a:r>
                    </a:p>
                  </a:txBody>
                  <a:tcPr marL="54864" marR="54864" marT="18288" marB="18288" anchor="ctr">
                    <a:solidFill>
                      <a:srgbClr val="E3F1E4"/>
                    </a:solidFill>
                  </a:tcPr>
                </a:tc>
                <a:tc>
                  <a:txBody>
                    <a:bodyPr wrap="square"/>
                    <a:lstStyle/>
                    <a:p>
                      <a:pPr algn="l">
                        <a:spcBef>
                          <a:spcPts val="0"/>
                        </a:spcBef>
                        <a:spcAft>
                          <a:spcPts val="0"/>
                        </a:spcAft>
                      </a:pPr>
                      <a:r>
                        <a:rPr lang="tr-TR" sz="1700" b="0" i="0">
                          <a:solidFill>
                            <a:srgbClr val="262626"/>
                          </a:solidFill>
                          <a:latin typeface="Calibri"/>
                        </a:rPr>
                        <a:t>Konum aynı, ad farklı → atlasla kontrol</a:t>
                      </a:r>
                    </a:p>
                  </a:txBody>
                  <a:tcPr marL="54864" marR="54864" marT="18288" marB="18288" anchor="ctr">
                    <a:solidFill>
                      <a:srgbClr val="E3F1E4"/>
                    </a:solidFill>
                  </a:tcPr>
                </a:tc>
              </a:tr>
              <a:tr h="914400">
                <a:tc>
                  <a:txBody>
                    <a:bodyPr wrap="square"/>
                    <a:lstStyle/>
                    <a:p>
                      <a:pPr algn="l">
                        <a:spcBef>
                          <a:spcPts val="0"/>
                        </a:spcBef>
                        <a:spcAft>
                          <a:spcPts val="0"/>
                        </a:spcAft>
                      </a:pPr>
                      <a:r>
                        <a:rPr lang="tr-TR" sz="1700" b="1" i="0">
                          <a:solidFill>
                            <a:srgbClr val="262626"/>
                          </a:solidFill>
                          <a:latin typeface="Calibri"/>
                        </a:rPr>
                        <a:t>İklim</a:t>
                      </a:r>
                    </a:p>
                  </a:txBody>
                  <a:tcPr marL="54864" marR="54864" marT="18288" marB="18288" anchor="ctr">
                    <a:solidFill>
                      <a:srgbClr val="FFFFFF"/>
                    </a:solidFill>
                  </a:tcPr>
                </a:tc>
                <a:tc>
                  <a:txBody>
                    <a:bodyPr wrap="square"/>
                    <a:lstStyle/>
                    <a:p>
                      <a:pPr algn="l">
                        <a:spcBef>
                          <a:spcPts val="0"/>
                        </a:spcBef>
                        <a:spcAft>
                          <a:spcPts val="0"/>
                        </a:spcAft>
                      </a:pPr>
                      <a:r>
                        <a:rPr lang="tr-TR" sz="1700" b="0" i="0">
                          <a:solidFill>
                            <a:srgbClr val="262626"/>
                          </a:solidFill>
                          <a:latin typeface="Calibri"/>
                        </a:rPr>
                        <a:t>“Akdeniz ile Karadeniz iklimi arasında geçiş iklimi”</a:t>
                      </a:r>
                    </a:p>
                  </a:txBody>
                  <a:tcPr marL="54864" marR="54864" marT="18288" marB="18288" anchor="ctr">
                    <a:solidFill>
                      <a:srgbClr val="FFFFFF"/>
                    </a:solidFill>
                  </a:tcPr>
                </a:tc>
                <a:tc>
                  <a:txBody>
                    <a:bodyPr wrap="square"/>
                    <a:lstStyle/>
                    <a:p>
                      <a:pPr algn="l">
                        <a:spcBef>
                          <a:spcPts val="0"/>
                        </a:spcBef>
                        <a:spcAft>
                          <a:spcPts val="0"/>
                        </a:spcAft>
                      </a:pPr>
                      <a:r>
                        <a:rPr lang="tr-TR" sz="1700" b="0" i="0">
                          <a:solidFill>
                            <a:srgbClr val="262626"/>
                          </a:solidFill>
                          <a:latin typeface="Calibri"/>
                        </a:rPr>
                        <a:t>Grafik: yazın sıcak (≈ 24-25 °C), az yağışlı (≈ 18-22 mm); Aralık ≈ 100 mm.</a:t>
                      </a:r>
                    </a:p>
                  </a:txBody>
                  <a:tcPr marL="54864" marR="54864" marT="18288" marB="18288" anchor="ctr">
                    <a:solidFill>
                      <a:srgbClr val="FFFFFF"/>
                    </a:solidFill>
                  </a:tcPr>
                </a:tc>
                <a:tc>
                  <a:txBody>
                    <a:bodyPr wrap="square"/>
                    <a:lstStyle/>
                    <a:p>
                      <a:pPr algn="l">
                        <a:spcBef>
                          <a:spcPts val="0"/>
                        </a:spcBef>
                        <a:spcAft>
                          <a:spcPts val="0"/>
                        </a:spcAft>
                      </a:pPr>
                      <a:r>
                        <a:rPr lang="tr-TR" sz="1700" b="0" i="0">
                          <a:solidFill>
                            <a:srgbClr val="262626"/>
                          </a:solidFill>
                          <a:latin typeface="Calibri"/>
                        </a:rPr>
                        <a:t>✓ Uyumlu: yaz yağışı azalır, kesilmez</a:t>
                      </a:r>
                    </a:p>
                  </a:txBody>
                  <a:tcPr marL="54864" marR="54864" marT="18288" marB="18288" anchor="ctr">
                    <a:solidFill>
                      <a:srgbClr val="FFFFFF"/>
                    </a:solidFill>
                  </a:tcPr>
                </a:tc>
              </a:tr>
              <a:tr h="914400">
                <a:tc>
                  <a:txBody>
                    <a:bodyPr wrap="square"/>
                    <a:lstStyle/>
                    <a:p>
                      <a:pPr algn="l">
                        <a:spcBef>
                          <a:spcPts val="0"/>
                        </a:spcBef>
                        <a:spcAft>
                          <a:spcPts val="0"/>
                        </a:spcAft>
                      </a:pPr>
                      <a:r>
                        <a:rPr lang="tr-TR" sz="1700" b="1" i="0">
                          <a:solidFill>
                            <a:srgbClr val="262626"/>
                          </a:solidFill>
                          <a:latin typeface="Calibri"/>
                        </a:rPr>
                        <a:t>Enerji</a:t>
                      </a:r>
                    </a:p>
                  </a:txBody>
                  <a:tcPr marL="54864" marR="54864" marT="18288" marB="18288" anchor="ctr">
                    <a:solidFill>
                      <a:srgbClr val="E3F1E4"/>
                    </a:solidFill>
                  </a:tcPr>
                </a:tc>
                <a:tc>
                  <a:txBody>
                    <a:bodyPr wrap="square"/>
                    <a:lstStyle/>
                    <a:p>
                      <a:pPr algn="l">
                        <a:spcBef>
                          <a:spcPts val="0"/>
                        </a:spcBef>
                        <a:spcAft>
                          <a:spcPts val="0"/>
                        </a:spcAft>
                      </a:pPr>
                      <a:r>
                        <a:rPr lang="tr-TR" sz="1700" b="0" i="0">
                          <a:solidFill>
                            <a:srgbClr val="262626"/>
                          </a:solidFill>
                          <a:latin typeface="Calibri"/>
                        </a:rPr>
                        <a:t>Tablo: “Rüzgâr enerjisi, güneş enerjisi”</a:t>
                      </a:r>
                    </a:p>
                  </a:txBody>
                  <a:tcPr marL="54864" marR="54864" marT="18288" marB="18288" anchor="ctr">
                    <a:solidFill>
                      <a:srgbClr val="E3F1E4"/>
                    </a:solidFill>
                  </a:tcPr>
                </a:tc>
                <a:tc>
                  <a:txBody>
                    <a:bodyPr wrap="square"/>
                    <a:lstStyle/>
                    <a:p>
                      <a:pPr algn="l">
                        <a:spcBef>
                          <a:spcPts val="0"/>
                        </a:spcBef>
                        <a:spcAft>
                          <a:spcPts val="0"/>
                        </a:spcAft>
                      </a:pPr>
                      <a:r>
                        <a:rPr lang="tr-TR" sz="1700" b="0" i="0">
                          <a:solidFill>
                            <a:srgbClr val="262626"/>
                          </a:solidFill>
                          <a:latin typeface="Calibri"/>
                        </a:rPr>
                        <a:t>Rüzgâr türbini ve güneş paneli (planlanan çalışmalar).</a:t>
                      </a:r>
                    </a:p>
                  </a:txBody>
                  <a:tcPr marL="54864" marR="54864" marT="18288" marB="18288" anchor="ctr">
                    <a:solidFill>
                      <a:srgbClr val="E3F1E4"/>
                    </a:solidFill>
                  </a:tcPr>
                </a:tc>
                <a:tc>
                  <a:txBody>
                    <a:bodyPr wrap="square"/>
                    <a:lstStyle/>
                    <a:p>
                      <a:pPr algn="l">
                        <a:spcBef>
                          <a:spcPts val="0"/>
                        </a:spcBef>
                        <a:spcAft>
                          <a:spcPts val="0"/>
                        </a:spcAft>
                      </a:pPr>
                      <a:r>
                        <a:rPr lang="tr-TR" sz="1700" b="0" i="0">
                          <a:solidFill>
                            <a:srgbClr val="262626"/>
                          </a:solidFill>
                          <a:latin typeface="Calibri"/>
                        </a:rPr>
                        <a:t>✓ Uyumlu</a:t>
                      </a:r>
                    </a:p>
                  </a:txBody>
                  <a:tcPr marL="54864" marR="54864" marT="18288" marB="18288" anchor="ctr">
                    <a:solidFill>
                      <a:srgbClr val="E3F1E4"/>
                    </a:solidFill>
                  </a:tcPr>
                </a:tc>
              </a:tr>
            </a:tbl>
          </a:graphicData>
        </a:graphic>
      </p:graphicFrame>
      <p:sp>
        <p:nvSpPr>
          <p:cNvPr id="7" name="Rounded Rectangle 6"/>
          <p:cNvSpPr/>
          <p:nvPr/>
        </p:nvSpPr>
        <p:spPr>
          <a:xfrm>
            <a:off x="502920" y="5513832"/>
            <a:ext cx="11185855" cy="777240"/>
          </a:xfrm>
          <a:prstGeom prst="roundRect">
            <a:avLst>
              <a:gd name="adj" fmla="val 8000"/>
            </a:avLst>
          </a:prstGeom>
          <a:solidFill>
            <a:srgbClr val="E3F1E4"/>
          </a:solidFill>
          <a:ln w="19050">
            <a:solidFill>
              <a:srgbClr val="2E7D32"/>
            </a:solidFill>
          </a:ln>
          <a:effectLst/>
        </p:spPr>
        <p:txBody>
          <a:bodyPr rtlCol="0" anchor="ctr" wrap="square" lIns="201168" rIns="201168" tIns="73152" bIns="73152">
            <a:noAutofit/>
          </a:bodyPr>
          <a:lstStyle/>
          <a:p>
            <a:pPr algn="ctr">
              <a:spcBef>
                <a:spcPts val="0"/>
              </a:spcBef>
              <a:spcAft>
                <a:spcPts val="0"/>
              </a:spcAft>
            </a:pPr>
            <a:r>
              <a:rPr lang="tr-TR" sz="1800" b="1" i="0">
                <a:solidFill>
                  <a:srgbClr val="262626"/>
                </a:solidFill>
                <a:latin typeface="Calibri"/>
              </a:rPr>
              <a:t>Grafik (yaklaşık):</a:t>
            </a:r>
            <a:r>
              <a:rPr lang="tr-TR" sz="1800" b="0" i="0">
                <a:solidFill>
                  <a:srgbClr val="262626"/>
                </a:solidFill>
                <a:latin typeface="Calibri"/>
              </a:rPr>
              <a:t> en sıcak Temmuz-Ağustos ≈ 24-25 °C · en soğuk Ocak ≈ 5 °C · en yağışlı Aralık ≈ 100 mm · en az Ağustos ≈ 18 mm</a:t>
            </a:r>
          </a:p>
        </p:txBody>
      </p:sp>
      <p:sp>
        <p:nvSpPr>
          <p:cNvPr id="8" name="TextBox 7"/>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9" name="Rounded Rectangle 8"/>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180</a:t>
            </a:r>
          </a:p>
        </p:txBody>
      </p:sp>
      <p:sp>
        <p:nvSpPr>
          <p:cNvPr id="10" name="TextBox 9"/>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97 / 166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Adım 3: faktörleri tabloya yerleştirelim</a:t>
            </a:r>
          </a:p>
        </p:txBody>
      </p:sp>
      <p:sp>
        <p:nvSpPr>
          <p:cNvPr id="5" name="Rounded Rectangle 4"/>
          <p:cNvSpPr/>
          <p:nvPr/>
        </p:nvSpPr>
        <p:spPr>
          <a:xfrm>
            <a:off x="9555480" y="201168"/>
            <a:ext cx="2221992" cy="475488"/>
          </a:xfrm>
          <a:prstGeom prst="roundRect">
            <a:avLst>
              <a:gd name="adj" fmla="val 50000"/>
            </a:avLst>
          </a:prstGeom>
          <a:solidFill>
            <a:srgbClr val="B85C1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ADIM 3</a:t>
            </a:r>
          </a:p>
        </p:txBody>
      </p:sp>
      <p:sp>
        <p:nvSpPr>
          <p:cNvPr id="6" name="Rounded Rectangle 5"/>
          <p:cNvSpPr/>
          <p:nvPr/>
        </p:nvSpPr>
        <p:spPr>
          <a:xfrm>
            <a:off x="502920" y="1216152"/>
            <a:ext cx="11185855" cy="868680"/>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2150" b="1" i="0">
                <a:solidFill>
                  <a:srgbClr val="262626"/>
                </a:solidFill>
                <a:latin typeface="Calibri"/>
              </a:rPr>
              <a:t>3. Adım: TEKNOSAB’la ilgili araştırmanız kapsamında topladığınız bilgileri düzenleyerek aşağıdaki tabloda gösteriniz.</a:t>
            </a:r>
          </a:p>
        </p:txBody>
      </p:sp>
      <p:sp>
        <p:nvSpPr>
          <p:cNvPr id="7" name="Rounded Rectangle 6"/>
          <p:cNvSpPr/>
          <p:nvPr/>
        </p:nvSpPr>
        <p:spPr>
          <a:xfrm>
            <a:off x="502920" y="2249424"/>
            <a:ext cx="3606698" cy="548640"/>
          </a:xfrm>
          <a:prstGeom prst="roundRect">
            <a:avLst>
              <a:gd name="adj" fmla="val 30000"/>
            </a:avLst>
          </a:prstGeom>
          <a:solidFill>
            <a:srgbClr val="FFFFFF"/>
          </a:solidFill>
          <a:ln w="19050">
            <a:solidFill>
              <a:srgbClr val="B85C12"/>
            </a:solidFill>
          </a:ln>
          <a:effectLst/>
        </p:spPr>
        <p:txBody>
          <a:bodyPr rtlCol="0" anchor="ctr" wrap="square" lIns="54864" rIns="54864" tIns="18288" bIns="18288">
            <a:noAutofit/>
          </a:bodyPr>
          <a:lstStyle/>
          <a:p>
            <a:pPr algn="ctr">
              <a:spcBef>
                <a:spcPts val="0"/>
              </a:spcBef>
              <a:spcAft>
                <a:spcPts val="0"/>
              </a:spcAft>
            </a:pPr>
            <a:r>
              <a:rPr lang="tr-TR" sz="2000" b="1" i="0">
                <a:solidFill>
                  <a:srgbClr val="262626"/>
                </a:solidFill>
                <a:latin typeface="Calibri"/>
              </a:rPr>
              <a:t>Ulaşım</a:t>
            </a:r>
          </a:p>
        </p:txBody>
      </p:sp>
      <p:sp>
        <p:nvSpPr>
          <p:cNvPr id="8" name="Rounded Rectangle 7"/>
          <p:cNvSpPr/>
          <p:nvPr/>
        </p:nvSpPr>
        <p:spPr>
          <a:xfrm>
            <a:off x="4292498" y="2249424"/>
            <a:ext cx="3606698" cy="548640"/>
          </a:xfrm>
          <a:prstGeom prst="roundRect">
            <a:avLst>
              <a:gd name="adj" fmla="val 30000"/>
            </a:avLst>
          </a:prstGeom>
          <a:solidFill>
            <a:srgbClr val="FFFFFF"/>
          </a:solidFill>
          <a:ln w="19050">
            <a:solidFill>
              <a:srgbClr val="B85C12"/>
            </a:solidFill>
          </a:ln>
          <a:effectLst/>
        </p:spPr>
        <p:txBody>
          <a:bodyPr rtlCol="0" anchor="ctr" wrap="square" lIns="54864" rIns="54864" tIns="18288" bIns="18288">
            <a:noAutofit/>
          </a:bodyPr>
          <a:lstStyle/>
          <a:p>
            <a:pPr algn="ctr">
              <a:spcBef>
                <a:spcPts val="0"/>
              </a:spcBef>
              <a:spcAft>
                <a:spcPts val="0"/>
              </a:spcAft>
            </a:pPr>
            <a:r>
              <a:rPr lang="tr-TR" sz="2000" b="1" i="0">
                <a:solidFill>
                  <a:srgbClr val="262626"/>
                </a:solidFill>
                <a:latin typeface="Calibri"/>
              </a:rPr>
              <a:t>İklim</a:t>
            </a:r>
          </a:p>
        </p:txBody>
      </p:sp>
      <p:sp>
        <p:nvSpPr>
          <p:cNvPr id="9" name="Rounded Rectangle 8"/>
          <p:cNvSpPr/>
          <p:nvPr/>
        </p:nvSpPr>
        <p:spPr>
          <a:xfrm>
            <a:off x="8082076" y="2249424"/>
            <a:ext cx="3606698" cy="548640"/>
          </a:xfrm>
          <a:prstGeom prst="roundRect">
            <a:avLst>
              <a:gd name="adj" fmla="val 30000"/>
            </a:avLst>
          </a:prstGeom>
          <a:solidFill>
            <a:srgbClr val="FFFFFF"/>
          </a:solidFill>
          <a:ln w="19050">
            <a:solidFill>
              <a:srgbClr val="B85C12"/>
            </a:solidFill>
          </a:ln>
          <a:effectLst/>
        </p:spPr>
        <p:txBody>
          <a:bodyPr rtlCol="0" anchor="ctr" wrap="square" lIns="54864" rIns="54864" tIns="18288" bIns="18288">
            <a:noAutofit/>
          </a:bodyPr>
          <a:lstStyle/>
          <a:p>
            <a:pPr algn="ctr">
              <a:spcBef>
                <a:spcPts val="0"/>
              </a:spcBef>
              <a:spcAft>
                <a:spcPts val="0"/>
              </a:spcAft>
            </a:pPr>
            <a:r>
              <a:rPr lang="tr-TR" sz="2000" b="1" i="0">
                <a:solidFill>
                  <a:srgbClr val="262626"/>
                </a:solidFill>
                <a:latin typeface="Calibri"/>
              </a:rPr>
              <a:t>Eğitim (üniversite)</a:t>
            </a:r>
          </a:p>
        </p:txBody>
      </p:sp>
      <p:sp>
        <p:nvSpPr>
          <p:cNvPr id="10" name="Rounded Rectangle 9"/>
          <p:cNvSpPr/>
          <p:nvPr/>
        </p:nvSpPr>
        <p:spPr>
          <a:xfrm>
            <a:off x="502920" y="2889504"/>
            <a:ext cx="3606698" cy="548640"/>
          </a:xfrm>
          <a:prstGeom prst="roundRect">
            <a:avLst>
              <a:gd name="adj" fmla="val 30000"/>
            </a:avLst>
          </a:prstGeom>
          <a:solidFill>
            <a:srgbClr val="FFFFFF"/>
          </a:solidFill>
          <a:ln w="19050">
            <a:solidFill>
              <a:srgbClr val="B85C12"/>
            </a:solidFill>
          </a:ln>
          <a:effectLst/>
        </p:spPr>
        <p:txBody>
          <a:bodyPr rtlCol="0" anchor="ctr" wrap="square" lIns="54864" rIns="54864" tIns="18288" bIns="18288">
            <a:noAutofit/>
          </a:bodyPr>
          <a:lstStyle/>
          <a:p>
            <a:pPr algn="ctr">
              <a:spcBef>
                <a:spcPts val="0"/>
              </a:spcBef>
              <a:spcAft>
                <a:spcPts val="0"/>
              </a:spcAft>
            </a:pPr>
            <a:r>
              <a:rPr lang="tr-TR" sz="2000" b="1" i="0">
                <a:solidFill>
                  <a:srgbClr val="262626"/>
                </a:solidFill>
                <a:latin typeface="Calibri"/>
              </a:rPr>
              <a:t>Su kaynakları</a:t>
            </a:r>
          </a:p>
        </p:txBody>
      </p:sp>
      <p:sp>
        <p:nvSpPr>
          <p:cNvPr id="11" name="Rounded Rectangle 10"/>
          <p:cNvSpPr/>
          <p:nvPr/>
        </p:nvSpPr>
        <p:spPr>
          <a:xfrm>
            <a:off x="4292498" y="2889504"/>
            <a:ext cx="3606698" cy="548640"/>
          </a:xfrm>
          <a:prstGeom prst="roundRect">
            <a:avLst>
              <a:gd name="adj" fmla="val 30000"/>
            </a:avLst>
          </a:prstGeom>
          <a:solidFill>
            <a:srgbClr val="FFFFFF"/>
          </a:solidFill>
          <a:ln w="19050">
            <a:solidFill>
              <a:srgbClr val="B85C12"/>
            </a:solidFill>
          </a:ln>
          <a:effectLst/>
        </p:spPr>
        <p:txBody>
          <a:bodyPr rtlCol="0" anchor="ctr" wrap="square" lIns="54864" rIns="54864" tIns="18288" bIns="18288">
            <a:noAutofit/>
          </a:bodyPr>
          <a:lstStyle/>
          <a:p>
            <a:pPr algn="ctr">
              <a:spcBef>
                <a:spcPts val="0"/>
              </a:spcBef>
              <a:spcAft>
                <a:spcPts val="0"/>
              </a:spcAft>
            </a:pPr>
            <a:r>
              <a:rPr lang="tr-TR" sz="2000" b="1" i="0">
                <a:solidFill>
                  <a:srgbClr val="262626"/>
                </a:solidFill>
                <a:latin typeface="Calibri"/>
              </a:rPr>
              <a:t>İş gücü</a:t>
            </a:r>
          </a:p>
        </p:txBody>
      </p:sp>
      <p:sp>
        <p:nvSpPr>
          <p:cNvPr id="12" name="Rounded Rectangle 11"/>
          <p:cNvSpPr/>
          <p:nvPr/>
        </p:nvSpPr>
        <p:spPr>
          <a:xfrm>
            <a:off x="8082076" y="2889504"/>
            <a:ext cx="3606698" cy="548640"/>
          </a:xfrm>
          <a:prstGeom prst="roundRect">
            <a:avLst>
              <a:gd name="adj" fmla="val 30000"/>
            </a:avLst>
          </a:prstGeom>
          <a:solidFill>
            <a:srgbClr val="FFFFFF"/>
          </a:solidFill>
          <a:ln w="19050">
            <a:solidFill>
              <a:srgbClr val="B85C12"/>
            </a:solidFill>
          </a:ln>
          <a:effectLst/>
        </p:spPr>
        <p:txBody>
          <a:bodyPr rtlCol="0" anchor="ctr" wrap="square" lIns="54864" rIns="54864" tIns="18288" bIns="18288">
            <a:noAutofit/>
          </a:bodyPr>
          <a:lstStyle/>
          <a:p>
            <a:pPr algn="ctr">
              <a:spcBef>
                <a:spcPts val="0"/>
              </a:spcBef>
              <a:spcAft>
                <a:spcPts val="0"/>
              </a:spcAft>
            </a:pPr>
            <a:r>
              <a:rPr lang="tr-TR" sz="2000" b="1" i="0">
                <a:solidFill>
                  <a:srgbClr val="262626"/>
                </a:solidFill>
                <a:latin typeface="Calibri"/>
              </a:rPr>
              <a:t>Yer şekilleri</a:t>
            </a:r>
          </a:p>
        </p:txBody>
      </p:sp>
      <p:sp>
        <p:nvSpPr>
          <p:cNvPr id="13" name="Rounded Rectangle 12"/>
          <p:cNvSpPr/>
          <p:nvPr/>
        </p:nvSpPr>
        <p:spPr>
          <a:xfrm>
            <a:off x="502920" y="3529584"/>
            <a:ext cx="3606698" cy="548640"/>
          </a:xfrm>
          <a:prstGeom prst="roundRect">
            <a:avLst>
              <a:gd name="adj" fmla="val 30000"/>
            </a:avLst>
          </a:prstGeom>
          <a:solidFill>
            <a:srgbClr val="FFFFFF"/>
          </a:solidFill>
          <a:ln w="19050">
            <a:solidFill>
              <a:srgbClr val="B85C12"/>
            </a:solidFill>
          </a:ln>
          <a:effectLst/>
        </p:spPr>
        <p:txBody>
          <a:bodyPr rtlCol="0" anchor="ctr" wrap="square" lIns="54864" rIns="54864" tIns="18288" bIns="18288">
            <a:noAutofit/>
          </a:bodyPr>
          <a:lstStyle/>
          <a:p>
            <a:pPr algn="ctr">
              <a:spcBef>
                <a:spcPts val="0"/>
              </a:spcBef>
              <a:spcAft>
                <a:spcPts val="0"/>
              </a:spcAft>
            </a:pPr>
            <a:r>
              <a:rPr lang="tr-TR" sz="2000" b="1" i="0">
                <a:solidFill>
                  <a:srgbClr val="262626"/>
                </a:solidFill>
                <a:latin typeface="Calibri"/>
              </a:rPr>
              <a:t>Enerji tesisleri (türbin, panel)</a:t>
            </a:r>
          </a:p>
        </p:txBody>
      </p:sp>
      <p:sp>
        <p:nvSpPr>
          <p:cNvPr id="14" name="Rounded Rectangle 13"/>
          <p:cNvSpPr/>
          <p:nvPr/>
        </p:nvSpPr>
        <p:spPr>
          <a:xfrm>
            <a:off x="4292498" y="3529584"/>
            <a:ext cx="3606698" cy="548640"/>
          </a:xfrm>
          <a:prstGeom prst="roundRect">
            <a:avLst>
              <a:gd name="adj" fmla="val 30000"/>
            </a:avLst>
          </a:prstGeom>
          <a:solidFill>
            <a:srgbClr val="FFFFFF"/>
          </a:solidFill>
          <a:ln w="19050">
            <a:solidFill>
              <a:srgbClr val="B85C12"/>
            </a:solidFill>
          </a:ln>
          <a:effectLst/>
        </p:spPr>
        <p:txBody>
          <a:bodyPr rtlCol="0" anchor="ctr" wrap="square" lIns="54864" rIns="54864" tIns="18288" bIns="18288">
            <a:noAutofit/>
          </a:bodyPr>
          <a:lstStyle/>
          <a:p>
            <a:pPr algn="ctr">
              <a:spcBef>
                <a:spcPts val="0"/>
              </a:spcBef>
              <a:spcAft>
                <a:spcPts val="0"/>
              </a:spcAft>
            </a:pPr>
            <a:r>
              <a:rPr lang="tr-TR" sz="2000" b="1" i="0">
                <a:solidFill>
                  <a:srgbClr val="262626"/>
                </a:solidFill>
                <a:latin typeface="Calibri"/>
              </a:rPr>
              <a:t>Coğrafi konum</a:t>
            </a:r>
          </a:p>
        </p:txBody>
      </p:sp>
      <p:sp>
        <p:nvSpPr>
          <p:cNvPr id="15" name="Rounded Rectangle 14"/>
          <p:cNvSpPr/>
          <p:nvPr/>
        </p:nvSpPr>
        <p:spPr>
          <a:xfrm>
            <a:off x="8082076" y="3529584"/>
            <a:ext cx="3606698" cy="548640"/>
          </a:xfrm>
          <a:prstGeom prst="roundRect">
            <a:avLst>
              <a:gd name="adj" fmla="val 30000"/>
            </a:avLst>
          </a:prstGeom>
          <a:solidFill>
            <a:srgbClr val="FFFFFF"/>
          </a:solidFill>
          <a:ln w="19050">
            <a:solidFill>
              <a:srgbClr val="B85C12"/>
            </a:solidFill>
          </a:ln>
          <a:effectLst/>
        </p:spPr>
        <p:txBody>
          <a:bodyPr rtlCol="0" anchor="ctr" wrap="square" lIns="54864" rIns="54864" tIns="18288" bIns="18288">
            <a:noAutofit/>
          </a:bodyPr>
          <a:lstStyle/>
          <a:p>
            <a:pPr algn="ctr">
              <a:spcBef>
                <a:spcPts val="0"/>
              </a:spcBef>
              <a:spcAft>
                <a:spcPts val="0"/>
              </a:spcAft>
            </a:pPr>
            <a:r>
              <a:rPr lang="tr-TR" sz="2000" b="1" i="0">
                <a:solidFill>
                  <a:srgbClr val="262626"/>
                </a:solidFill>
                <a:latin typeface="Calibri"/>
              </a:rPr>
              <a:t>Rüzgâr ve güneş potansiyeli</a:t>
            </a:r>
          </a:p>
        </p:txBody>
      </p:sp>
      <p:sp>
        <p:nvSpPr>
          <p:cNvPr id="16" name="Rounded Rectangle 15"/>
          <p:cNvSpPr/>
          <p:nvPr/>
        </p:nvSpPr>
        <p:spPr>
          <a:xfrm>
            <a:off x="502920" y="4261104"/>
            <a:ext cx="5501487" cy="2029968"/>
          </a:xfrm>
          <a:prstGeom prst="roundRect">
            <a:avLst>
              <a:gd name="adj" fmla="val 5000"/>
            </a:avLst>
          </a:prstGeom>
          <a:solidFill>
            <a:srgbClr val="FFFFFF"/>
          </a:solidFill>
          <a:ln>
            <a:noFill/>
          </a:ln>
          <a:effectLst/>
        </p:spPr>
        <p:txBody>
          <a:bodyPr rtlCol="0" anchor="ctr"/>
          <a:lstStyle/>
          <a:p/>
        </p:txBody>
      </p:sp>
      <p:sp>
        <p:nvSpPr>
          <p:cNvPr id="17" name="Rounded Rectangle 16"/>
          <p:cNvSpPr/>
          <p:nvPr/>
        </p:nvSpPr>
        <p:spPr>
          <a:xfrm>
            <a:off x="502920" y="4261104"/>
            <a:ext cx="5501487" cy="685800"/>
          </a:xfrm>
          <a:prstGeom prst="roundRect">
            <a:avLst>
              <a:gd name="adj" fmla="val 25000"/>
            </a:avLst>
          </a:prstGeom>
          <a:solidFill>
            <a:srgbClr val="3E8E41"/>
          </a:solidFill>
          <a:ln>
            <a:noFill/>
          </a:ln>
          <a:effectLst/>
        </p:spPr>
        <p:txBody>
          <a:bodyPr rtlCol="0" anchor="ctr"/>
          <a:lstStyle/>
          <a:p/>
        </p:txBody>
      </p:sp>
      <p:sp>
        <p:nvSpPr>
          <p:cNvPr id="18" name="Rectangle 17"/>
          <p:cNvSpPr/>
          <p:nvPr/>
        </p:nvSpPr>
        <p:spPr>
          <a:xfrm>
            <a:off x="502920" y="4604004"/>
            <a:ext cx="5501487" cy="342900"/>
          </a:xfrm>
          <a:prstGeom prst="rect">
            <a:avLst/>
          </a:prstGeom>
          <a:solidFill>
            <a:srgbClr val="3E8E41"/>
          </a:solidFill>
          <a:ln>
            <a:noFill/>
          </a:ln>
          <a:effectLst/>
        </p:spPr>
        <p:txBody>
          <a:bodyPr rtlCol="0" anchor="ctr"/>
          <a:lstStyle/>
          <a:p/>
        </p:txBody>
      </p:sp>
      <p:sp>
        <p:nvSpPr>
          <p:cNvPr id="19" name="TextBox 18"/>
          <p:cNvSpPr txBox="1"/>
          <p:nvPr/>
        </p:nvSpPr>
        <p:spPr>
          <a:xfrm>
            <a:off x="594360" y="4261104"/>
            <a:ext cx="5318607" cy="685800"/>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TEKNOSAB’ın Kuruluş Yerini Etkileyen Doğal Faktörler</a:t>
            </a:r>
          </a:p>
        </p:txBody>
      </p:sp>
      <p:sp>
        <p:nvSpPr>
          <p:cNvPr id="20" name="Rounded Rectangle 19"/>
          <p:cNvSpPr/>
          <p:nvPr/>
        </p:nvSpPr>
        <p:spPr>
          <a:xfrm>
            <a:off x="502920" y="4261104"/>
            <a:ext cx="5501487" cy="2029968"/>
          </a:xfrm>
          <a:prstGeom prst="roundRect">
            <a:avLst>
              <a:gd name="adj" fmla="val 5000"/>
            </a:avLst>
          </a:prstGeom>
          <a:noFill/>
          <a:ln w="12700">
            <a:solidFill>
              <a:srgbClr val="D9D9D9"/>
            </a:solidFill>
          </a:ln>
          <a:effectLst/>
        </p:spPr>
        <p:txBody>
          <a:bodyPr rtlCol="0" anchor="ctr"/>
          <a:lstStyle/>
          <a:p/>
        </p:txBody>
      </p:sp>
      <p:cxnSp>
        <p:nvCxnSpPr>
          <p:cNvPr id="21" name="Connector 20"/>
          <p:cNvCxnSpPr/>
          <p:nvPr/>
        </p:nvCxnSpPr>
        <p:spPr>
          <a:xfrm>
            <a:off x="685800" y="5394960"/>
            <a:ext cx="5135727" cy="0"/>
          </a:xfrm>
          <a:prstGeom prst="line">
            <a:avLst/>
          </a:prstGeom>
          <a:ln w="12700">
            <a:solidFill>
              <a:srgbClr val="D9D9D9"/>
            </a:solidFill>
            <a:prstDash val="dash"/>
          </a:ln>
        </p:spPr>
      </p:cxnSp>
      <p:cxnSp>
        <p:nvCxnSpPr>
          <p:cNvPr id="22" name="Connector 21"/>
          <p:cNvCxnSpPr/>
          <p:nvPr/>
        </p:nvCxnSpPr>
        <p:spPr>
          <a:xfrm>
            <a:off x="685800" y="5843016"/>
            <a:ext cx="5135727" cy="0"/>
          </a:xfrm>
          <a:prstGeom prst="line">
            <a:avLst/>
          </a:prstGeom>
          <a:ln w="12700">
            <a:solidFill>
              <a:srgbClr val="D9D9D9"/>
            </a:solidFill>
            <a:prstDash val="dash"/>
          </a:ln>
        </p:spPr>
      </p:cxnSp>
      <p:sp>
        <p:nvSpPr>
          <p:cNvPr id="23" name="Rounded Rectangle 22"/>
          <p:cNvSpPr/>
          <p:nvPr/>
        </p:nvSpPr>
        <p:spPr>
          <a:xfrm>
            <a:off x="6187287" y="4261104"/>
            <a:ext cx="5501487" cy="2029968"/>
          </a:xfrm>
          <a:prstGeom prst="roundRect">
            <a:avLst>
              <a:gd name="adj" fmla="val 5000"/>
            </a:avLst>
          </a:prstGeom>
          <a:solidFill>
            <a:srgbClr val="FFFFFF"/>
          </a:solidFill>
          <a:ln>
            <a:noFill/>
          </a:ln>
          <a:effectLst/>
        </p:spPr>
        <p:txBody>
          <a:bodyPr rtlCol="0" anchor="ctr"/>
          <a:lstStyle/>
          <a:p/>
        </p:txBody>
      </p:sp>
      <p:sp>
        <p:nvSpPr>
          <p:cNvPr id="24" name="Rounded Rectangle 23"/>
          <p:cNvSpPr/>
          <p:nvPr/>
        </p:nvSpPr>
        <p:spPr>
          <a:xfrm>
            <a:off x="6187287" y="4261104"/>
            <a:ext cx="5501487" cy="685800"/>
          </a:xfrm>
          <a:prstGeom prst="roundRect">
            <a:avLst>
              <a:gd name="adj" fmla="val 25000"/>
            </a:avLst>
          </a:prstGeom>
          <a:solidFill>
            <a:srgbClr val="2C6696"/>
          </a:solidFill>
          <a:ln>
            <a:noFill/>
          </a:ln>
          <a:effectLst/>
        </p:spPr>
        <p:txBody>
          <a:bodyPr rtlCol="0" anchor="ctr"/>
          <a:lstStyle/>
          <a:p/>
        </p:txBody>
      </p:sp>
      <p:sp>
        <p:nvSpPr>
          <p:cNvPr id="25" name="Rectangle 24"/>
          <p:cNvSpPr/>
          <p:nvPr/>
        </p:nvSpPr>
        <p:spPr>
          <a:xfrm>
            <a:off x="6187287" y="4604004"/>
            <a:ext cx="5501487" cy="342900"/>
          </a:xfrm>
          <a:prstGeom prst="rect">
            <a:avLst/>
          </a:prstGeom>
          <a:solidFill>
            <a:srgbClr val="2C6696"/>
          </a:solidFill>
          <a:ln>
            <a:noFill/>
          </a:ln>
          <a:effectLst/>
        </p:spPr>
        <p:txBody>
          <a:bodyPr rtlCol="0" anchor="ctr"/>
          <a:lstStyle/>
          <a:p/>
        </p:txBody>
      </p:sp>
      <p:sp>
        <p:nvSpPr>
          <p:cNvPr id="26" name="TextBox 25"/>
          <p:cNvSpPr txBox="1"/>
          <p:nvPr/>
        </p:nvSpPr>
        <p:spPr>
          <a:xfrm>
            <a:off x="6278727" y="4261104"/>
            <a:ext cx="5318607" cy="685800"/>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TEKNOSAB’ın Kuruluş Yerini Etkileyen Beşerî Faktörler</a:t>
            </a:r>
          </a:p>
        </p:txBody>
      </p:sp>
      <p:sp>
        <p:nvSpPr>
          <p:cNvPr id="27" name="Rounded Rectangle 26"/>
          <p:cNvSpPr/>
          <p:nvPr/>
        </p:nvSpPr>
        <p:spPr>
          <a:xfrm>
            <a:off x="6187287" y="4261104"/>
            <a:ext cx="5501487" cy="2029968"/>
          </a:xfrm>
          <a:prstGeom prst="roundRect">
            <a:avLst>
              <a:gd name="adj" fmla="val 5000"/>
            </a:avLst>
          </a:prstGeom>
          <a:noFill/>
          <a:ln w="12700">
            <a:solidFill>
              <a:srgbClr val="D9D9D9"/>
            </a:solidFill>
          </a:ln>
          <a:effectLst/>
        </p:spPr>
        <p:txBody>
          <a:bodyPr rtlCol="0" anchor="ctr"/>
          <a:lstStyle/>
          <a:p/>
        </p:txBody>
      </p:sp>
      <p:cxnSp>
        <p:nvCxnSpPr>
          <p:cNvPr id="28" name="Connector 27"/>
          <p:cNvCxnSpPr/>
          <p:nvPr/>
        </p:nvCxnSpPr>
        <p:spPr>
          <a:xfrm>
            <a:off x="6370167" y="5394960"/>
            <a:ext cx="5135727" cy="0"/>
          </a:xfrm>
          <a:prstGeom prst="line">
            <a:avLst/>
          </a:prstGeom>
          <a:ln w="12700">
            <a:solidFill>
              <a:srgbClr val="D9D9D9"/>
            </a:solidFill>
            <a:prstDash val="dash"/>
          </a:ln>
        </p:spPr>
      </p:cxnSp>
      <p:cxnSp>
        <p:nvCxnSpPr>
          <p:cNvPr id="29" name="Connector 28"/>
          <p:cNvCxnSpPr/>
          <p:nvPr/>
        </p:nvCxnSpPr>
        <p:spPr>
          <a:xfrm>
            <a:off x="6370167" y="5843016"/>
            <a:ext cx="5135727" cy="0"/>
          </a:xfrm>
          <a:prstGeom prst="line">
            <a:avLst/>
          </a:prstGeom>
          <a:ln w="12700">
            <a:solidFill>
              <a:srgbClr val="D9D9D9"/>
            </a:solidFill>
            <a:prstDash val="dash"/>
          </a:ln>
        </p:spPr>
      </p:cxnSp>
      <p:sp>
        <p:nvSpPr>
          <p:cNvPr id="30" name="TextBox 29"/>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31" name="Rounded Rectangle 30"/>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181</a:t>
            </a:r>
          </a:p>
        </p:txBody>
      </p:sp>
      <p:sp>
        <p:nvSpPr>
          <p:cNvPr id="32" name="TextBox 31"/>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98 / 166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Adım 3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Rounded Rectangle 5"/>
          <p:cNvSpPr/>
          <p:nvPr/>
        </p:nvSpPr>
        <p:spPr>
          <a:xfrm>
            <a:off x="502920" y="1216152"/>
            <a:ext cx="5455767" cy="4251960"/>
          </a:xfrm>
          <a:prstGeom prst="roundRect">
            <a:avLst>
              <a:gd name="adj" fmla="val 5000"/>
            </a:avLst>
          </a:prstGeom>
          <a:solidFill>
            <a:srgbClr val="E3F1E4"/>
          </a:solidFill>
          <a:ln>
            <a:noFill/>
          </a:ln>
          <a:effectLst/>
        </p:spPr>
        <p:txBody>
          <a:bodyPr rtlCol="0" anchor="ctr"/>
          <a:lstStyle/>
          <a:p/>
        </p:txBody>
      </p:sp>
      <p:sp>
        <p:nvSpPr>
          <p:cNvPr id="7" name="Rounded Rectangle 6"/>
          <p:cNvSpPr/>
          <p:nvPr/>
        </p:nvSpPr>
        <p:spPr>
          <a:xfrm>
            <a:off x="502920" y="1216152"/>
            <a:ext cx="5455767" cy="548640"/>
          </a:xfrm>
          <a:prstGeom prst="roundRect">
            <a:avLst>
              <a:gd name="adj" fmla="val 25000"/>
            </a:avLst>
          </a:prstGeom>
          <a:solidFill>
            <a:srgbClr val="3E8E41"/>
          </a:solidFill>
          <a:ln>
            <a:noFill/>
          </a:ln>
          <a:effectLst/>
        </p:spPr>
        <p:txBody>
          <a:bodyPr rtlCol="0" anchor="ctr"/>
          <a:lstStyle/>
          <a:p/>
        </p:txBody>
      </p:sp>
      <p:sp>
        <p:nvSpPr>
          <p:cNvPr id="8" name="Rectangle 7"/>
          <p:cNvSpPr/>
          <p:nvPr/>
        </p:nvSpPr>
        <p:spPr>
          <a:xfrm>
            <a:off x="502920" y="1490472"/>
            <a:ext cx="5455767" cy="274320"/>
          </a:xfrm>
          <a:prstGeom prst="rect">
            <a:avLst/>
          </a:prstGeom>
          <a:solidFill>
            <a:srgbClr val="3E8E41"/>
          </a:solidFill>
          <a:ln>
            <a:noFill/>
          </a:ln>
          <a:effectLst/>
        </p:spPr>
        <p:txBody>
          <a:bodyPr rtlCol="0" anchor="ctr"/>
          <a:lstStyle/>
          <a:p/>
        </p:txBody>
      </p:sp>
      <p:sp>
        <p:nvSpPr>
          <p:cNvPr id="9" name="TextBox 8"/>
          <p:cNvSpPr txBox="1"/>
          <p:nvPr/>
        </p:nvSpPr>
        <p:spPr>
          <a:xfrm>
            <a:off x="594360" y="1216152"/>
            <a:ext cx="5272887" cy="548640"/>
          </a:xfrm>
          <a:prstGeom prst="rect">
            <a:avLst/>
          </a:prstGeom>
          <a:noFill/>
        </p:spPr>
        <p:txBody>
          <a:bodyPr wrap="square" anchor="ctr" lIns="73152" rIns="73152" tIns="36576" bIns="36576">
            <a:noAutofit/>
          </a:bodyPr>
          <a:lstStyle/>
          <a:p>
            <a:pPr algn="l">
              <a:spcBef>
                <a:spcPts val="0"/>
              </a:spcBef>
              <a:spcAft>
                <a:spcPts val="0"/>
              </a:spcAft>
            </a:pPr>
            <a:r>
              <a:rPr lang="tr-TR" sz="1750" b="1" i="0">
                <a:solidFill>
                  <a:srgbClr val="FFFFFF"/>
                </a:solidFill>
                <a:latin typeface="Calibri"/>
              </a:rPr>
              <a:t>TEKNOSAB’ın Kuruluş Yerini Etkileyen Doğal Faktörler</a:t>
            </a:r>
          </a:p>
        </p:txBody>
      </p:sp>
      <p:sp>
        <p:nvSpPr>
          <p:cNvPr id="10" name="TextBox 9"/>
          <p:cNvSpPr txBox="1"/>
          <p:nvPr/>
        </p:nvSpPr>
        <p:spPr>
          <a:xfrm>
            <a:off x="640080" y="1837944"/>
            <a:ext cx="5181447" cy="640080"/>
          </a:xfrm>
          <a:prstGeom prst="rect">
            <a:avLst/>
          </a:prstGeom>
          <a:noFill/>
        </p:spPr>
        <p:txBody>
          <a:bodyPr wrap="square" anchor="ctr" lIns="73152" rIns="73152" tIns="18288" bIns="18288">
            <a:noAutofit/>
          </a:bodyPr>
          <a:lstStyle/>
          <a:p>
            <a:pPr algn="l">
              <a:spcBef>
                <a:spcPts val="0"/>
              </a:spcBef>
              <a:spcAft>
                <a:spcPts val="0"/>
              </a:spcAft>
            </a:pPr>
            <a:r>
              <a:rPr lang="tr-TR" sz="1900" b="1" i="0">
                <a:solidFill>
                  <a:srgbClr val="262626"/>
                </a:solidFill>
                <a:latin typeface="Calibri"/>
              </a:rPr>
              <a:t>Coğrafi konum:</a:t>
            </a:r>
            <a:r>
              <a:rPr lang="tr-TR" sz="1900" b="0" i="0">
                <a:solidFill>
                  <a:srgbClr val="262626"/>
                </a:solidFill>
                <a:latin typeface="Calibri"/>
              </a:rPr>
              <a:t> Bursa'nın yaklaşık 30 km batısı; kavşak noktası</a:t>
            </a:r>
          </a:p>
        </p:txBody>
      </p:sp>
      <p:sp>
        <p:nvSpPr>
          <p:cNvPr id="11" name="TextBox 10"/>
          <p:cNvSpPr txBox="1"/>
          <p:nvPr/>
        </p:nvSpPr>
        <p:spPr>
          <a:xfrm>
            <a:off x="640080" y="2551176"/>
            <a:ext cx="5181447" cy="640080"/>
          </a:xfrm>
          <a:prstGeom prst="rect">
            <a:avLst/>
          </a:prstGeom>
          <a:noFill/>
        </p:spPr>
        <p:txBody>
          <a:bodyPr wrap="square" anchor="ctr" lIns="73152" rIns="73152" tIns="18288" bIns="18288">
            <a:noAutofit/>
          </a:bodyPr>
          <a:lstStyle/>
          <a:p>
            <a:pPr algn="l">
              <a:spcBef>
                <a:spcPts val="0"/>
              </a:spcBef>
              <a:spcAft>
                <a:spcPts val="0"/>
              </a:spcAft>
            </a:pPr>
            <a:r>
              <a:rPr lang="tr-TR" sz="1900" b="1" i="0">
                <a:solidFill>
                  <a:srgbClr val="262626"/>
                </a:solidFill>
                <a:latin typeface="Calibri"/>
              </a:rPr>
              <a:t>Yer şekilleri:</a:t>
            </a:r>
            <a:r>
              <a:rPr lang="tr-TR" sz="1900" b="0" i="0">
                <a:solidFill>
                  <a:srgbClr val="262626"/>
                </a:solidFill>
                <a:latin typeface="Calibri"/>
              </a:rPr>
              <a:t> hafif engebeli ve tepelik</a:t>
            </a:r>
          </a:p>
        </p:txBody>
      </p:sp>
      <p:sp>
        <p:nvSpPr>
          <p:cNvPr id="12" name="TextBox 11"/>
          <p:cNvSpPr txBox="1"/>
          <p:nvPr/>
        </p:nvSpPr>
        <p:spPr>
          <a:xfrm>
            <a:off x="640080" y="3264408"/>
            <a:ext cx="5181447" cy="640080"/>
          </a:xfrm>
          <a:prstGeom prst="rect">
            <a:avLst/>
          </a:prstGeom>
          <a:noFill/>
        </p:spPr>
        <p:txBody>
          <a:bodyPr wrap="square" anchor="ctr" lIns="73152" rIns="73152" tIns="18288" bIns="18288">
            <a:noAutofit/>
          </a:bodyPr>
          <a:lstStyle/>
          <a:p>
            <a:pPr algn="l">
              <a:spcBef>
                <a:spcPts val="0"/>
              </a:spcBef>
              <a:spcAft>
                <a:spcPts val="0"/>
              </a:spcAft>
            </a:pPr>
            <a:r>
              <a:rPr lang="tr-TR" sz="1900" b="1" i="0">
                <a:solidFill>
                  <a:srgbClr val="262626"/>
                </a:solidFill>
                <a:latin typeface="Calibri"/>
              </a:rPr>
              <a:t>Su kaynakları:</a:t>
            </a:r>
            <a:r>
              <a:rPr lang="tr-TR" sz="1900" b="0" i="0">
                <a:solidFill>
                  <a:srgbClr val="262626"/>
                </a:solidFill>
                <a:latin typeface="Calibri"/>
              </a:rPr>
              <a:t> Nilüfer Çayı Havzası</a:t>
            </a:r>
          </a:p>
        </p:txBody>
      </p:sp>
      <p:sp>
        <p:nvSpPr>
          <p:cNvPr id="13" name="TextBox 12"/>
          <p:cNvSpPr txBox="1"/>
          <p:nvPr/>
        </p:nvSpPr>
        <p:spPr>
          <a:xfrm>
            <a:off x="640080" y="3977640"/>
            <a:ext cx="5181447" cy="640080"/>
          </a:xfrm>
          <a:prstGeom prst="rect">
            <a:avLst/>
          </a:prstGeom>
          <a:noFill/>
        </p:spPr>
        <p:txBody>
          <a:bodyPr wrap="square" anchor="ctr" lIns="73152" rIns="73152" tIns="18288" bIns="18288">
            <a:noAutofit/>
          </a:bodyPr>
          <a:lstStyle/>
          <a:p>
            <a:pPr algn="l">
              <a:spcBef>
                <a:spcPts val="0"/>
              </a:spcBef>
              <a:spcAft>
                <a:spcPts val="0"/>
              </a:spcAft>
            </a:pPr>
            <a:r>
              <a:rPr lang="tr-TR" sz="1900" b="1" i="0">
                <a:solidFill>
                  <a:srgbClr val="262626"/>
                </a:solidFill>
                <a:latin typeface="Calibri"/>
              </a:rPr>
              <a:t>İklim:</a:t>
            </a:r>
            <a:r>
              <a:rPr lang="tr-TR" sz="1900" b="0" i="0">
                <a:solidFill>
                  <a:srgbClr val="262626"/>
                </a:solidFill>
                <a:latin typeface="Calibri"/>
              </a:rPr>
              <a:t> Akdeniz ile Karadeniz arası geçiş iklimi</a:t>
            </a:r>
          </a:p>
        </p:txBody>
      </p:sp>
      <p:sp>
        <p:nvSpPr>
          <p:cNvPr id="14" name="TextBox 13"/>
          <p:cNvSpPr txBox="1"/>
          <p:nvPr/>
        </p:nvSpPr>
        <p:spPr>
          <a:xfrm>
            <a:off x="640080" y="4690872"/>
            <a:ext cx="5181447" cy="640080"/>
          </a:xfrm>
          <a:prstGeom prst="rect">
            <a:avLst/>
          </a:prstGeom>
          <a:noFill/>
        </p:spPr>
        <p:txBody>
          <a:bodyPr wrap="square" anchor="ctr" lIns="73152" rIns="73152" tIns="18288" bIns="18288">
            <a:noAutofit/>
          </a:bodyPr>
          <a:lstStyle/>
          <a:p>
            <a:pPr algn="l">
              <a:spcBef>
                <a:spcPts val="0"/>
              </a:spcBef>
              <a:spcAft>
                <a:spcPts val="0"/>
              </a:spcAft>
            </a:pPr>
            <a:r>
              <a:rPr lang="tr-TR" sz="1900" b="1" i="0">
                <a:solidFill>
                  <a:srgbClr val="262626"/>
                </a:solidFill>
                <a:latin typeface="Calibri"/>
              </a:rPr>
              <a:t>Rüzgâr ve güneş potansiyeli:</a:t>
            </a:r>
            <a:r>
              <a:rPr lang="tr-TR" sz="1900" b="0" i="0">
                <a:solidFill>
                  <a:srgbClr val="262626"/>
                </a:solidFill>
                <a:latin typeface="Calibri"/>
              </a:rPr>
              <a:t> iklime bağlı (s. 174)</a:t>
            </a:r>
          </a:p>
        </p:txBody>
      </p:sp>
      <p:sp>
        <p:nvSpPr>
          <p:cNvPr id="15" name="Rounded Rectangle 14"/>
          <p:cNvSpPr/>
          <p:nvPr/>
        </p:nvSpPr>
        <p:spPr>
          <a:xfrm>
            <a:off x="6233007" y="1216152"/>
            <a:ext cx="5455767" cy="4251960"/>
          </a:xfrm>
          <a:prstGeom prst="roundRect">
            <a:avLst>
              <a:gd name="adj" fmla="val 5000"/>
            </a:avLst>
          </a:prstGeom>
          <a:solidFill>
            <a:srgbClr val="E3F1E4"/>
          </a:solidFill>
          <a:ln>
            <a:noFill/>
          </a:ln>
          <a:effectLst/>
        </p:spPr>
        <p:txBody>
          <a:bodyPr rtlCol="0" anchor="ctr"/>
          <a:lstStyle/>
          <a:p/>
        </p:txBody>
      </p:sp>
      <p:sp>
        <p:nvSpPr>
          <p:cNvPr id="16" name="Rounded Rectangle 15"/>
          <p:cNvSpPr/>
          <p:nvPr/>
        </p:nvSpPr>
        <p:spPr>
          <a:xfrm>
            <a:off x="6233007" y="1216152"/>
            <a:ext cx="5455767" cy="548640"/>
          </a:xfrm>
          <a:prstGeom prst="roundRect">
            <a:avLst>
              <a:gd name="adj" fmla="val 25000"/>
            </a:avLst>
          </a:prstGeom>
          <a:solidFill>
            <a:srgbClr val="2C6696"/>
          </a:solidFill>
          <a:ln>
            <a:noFill/>
          </a:ln>
          <a:effectLst/>
        </p:spPr>
        <p:txBody>
          <a:bodyPr rtlCol="0" anchor="ctr"/>
          <a:lstStyle/>
          <a:p/>
        </p:txBody>
      </p:sp>
      <p:sp>
        <p:nvSpPr>
          <p:cNvPr id="17" name="Rectangle 16"/>
          <p:cNvSpPr/>
          <p:nvPr/>
        </p:nvSpPr>
        <p:spPr>
          <a:xfrm>
            <a:off x="6233007" y="1490472"/>
            <a:ext cx="5455767" cy="274320"/>
          </a:xfrm>
          <a:prstGeom prst="rect">
            <a:avLst/>
          </a:prstGeom>
          <a:solidFill>
            <a:srgbClr val="2C6696"/>
          </a:solidFill>
          <a:ln>
            <a:noFill/>
          </a:ln>
          <a:effectLst/>
        </p:spPr>
        <p:txBody>
          <a:bodyPr rtlCol="0" anchor="ctr"/>
          <a:lstStyle/>
          <a:p/>
        </p:txBody>
      </p:sp>
      <p:sp>
        <p:nvSpPr>
          <p:cNvPr id="18" name="TextBox 17"/>
          <p:cNvSpPr txBox="1"/>
          <p:nvPr/>
        </p:nvSpPr>
        <p:spPr>
          <a:xfrm>
            <a:off x="6324447" y="1216152"/>
            <a:ext cx="5272887" cy="548640"/>
          </a:xfrm>
          <a:prstGeom prst="rect">
            <a:avLst/>
          </a:prstGeom>
          <a:noFill/>
        </p:spPr>
        <p:txBody>
          <a:bodyPr wrap="square" anchor="ctr" lIns="73152" rIns="73152" tIns="36576" bIns="36576">
            <a:noAutofit/>
          </a:bodyPr>
          <a:lstStyle/>
          <a:p>
            <a:pPr algn="l">
              <a:spcBef>
                <a:spcPts val="0"/>
              </a:spcBef>
              <a:spcAft>
                <a:spcPts val="0"/>
              </a:spcAft>
            </a:pPr>
            <a:r>
              <a:rPr lang="tr-TR" sz="1750" b="1" i="0">
                <a:solidFill>
                  <a:srgbClr val="FFFFFF"/>
                </a:solidFill>
                <a:latin typeface="Calibri"/>
              </a:rPr>
              <a:t>TEKNOSAB’ın Kuruluş Yerini Etkileyen Beşerî Faktörler</a:t>
            </a:r>
          </a:p>
        </p:txBody>
      </p:sp>
      <p:sp>
        <p:nvSpPr>
          <p:cNvPr id="19" name="TextBox 18"/>
          <p:cNvSpPr txBox="1"/>
          <p:nvPr/>
        </p:nvSpPr>
        <p:spPr>
          <a:xfrm>
            <a:off x="6370167" y="1837944"/>
            <a:ext cx="5181447" cy="640080"/>
          </a:xfrm>
          <a:prstGeom prst="rect">
            <a:avLst/>
          </a:prstGeom>
          <a:noFill/>
        </p:spPr>
        <p:txBody>
          <a:bodyPr wrap="square" anchor="ctr" lIns="73152" rIns="73152" tIns="18288" bIns="18288">
            <a:noAutofit/>
          </a:bodyPr>
          <a:lstStyle/>
          <a:p>
            <a:pPr algn="l">
              <a:spcBef>
                <a:spcPts val="0"/>
              </a:spcBef>
              <a:spcAft>
                <a:spcPts val="0"/>
              </a:spcAft>
            </a:pPr>
            <a:r>
              <a:rPr lang="tr-TR" sz="1900" b="1" i="0">
                <a:solidFill>
                  <a:srgbClr val="262626"/>
                </a:solidFill>
                <a:latin typeface="Calibri"/>
              </a:rPr>
              <a:t>Ulaşım:</a:t>
            </a:r>
            <a:r>
              <a:rPr lang="tr-TR" sz="1900" b="0" i="0">
                <a:solidFill>
                  <a:srgbClr val="262626"/>
                </a:solidFill>
                <a:latin typeface="Calibri"/>
              </a:rPr>
              <a:t> otoyol, kara yolu, Gemlik 50 km, Bandırma 74 km, Yüksek Hızlı Tren</a:t>
            </a:r>
          </a:p>
        </p:txBody>
      </p:sp>
      <p:sp>
        <p:nvSpPr>
          <p:cNvPr id="20" name="TextBox 19"/>
          <p:cNvSpPr txBox="1"/>
          <p:nvPr/>
        </p:nvSpPr>
        <p:spPr>
          <a:xfrm>
            <a:off x="6370167" y="2551176"/>
            <a:ext cx="5181447" cy="640080"/>
          </a:xfrm>
          <a:prstGeom prst="rect">
            <a:avLst/>
          </a:prstGeom>
          <a:noFill/>
        </p:spPr>
        <p:txBody>
          <a:bodyPr wrap="square" anchor="ctr" lIns="73152" rIns="73152" tIns="18288" bIns="18288">
            <a:noAutofit/>
          </a:bodyPr>
          <a:lstStyle/>
          <a:p>
            <a:pPr algn="l">
              <a:spcBef>
                <a:spcPts val="0"/>
              </a:spcBef>
              <a:spcAft>
                <a:spcPts val="0"/>
              </a:spcAft>
            </a:pPr>
            <a:r>
              <a:rPr lang="tr-TR" sz="1900" b="1" i="0">
                <a:solidFill>
                  <a:srgbClr val="262626"/>
                </a:solidFill>
                <a:latin typeface="Calibri"/>
              </a:rPr>
              <a:t>Eğitim:</a:t>
            </a:r>
            <a:r>
              <a:rPr lang="tr-TR" sz="1900" b="0" i="0">
                <a:solidFill>
                  <a:srgbClr val="262626"/>
                </a:solidFill>
                <a:latin typeface="Calibri"/>
              </a:rPr>
              <a:t> Teknoloji Üniversitesi</a:t>
            </a:r>
          </a:p>
        </p:txBody>
      </p:sp>
      <p:sp>
        <p:nvSpPr>
          <p:cNvPr id="21" name="TextBox 20"/>
          <p:cNvSpPr txBox="1"/>
          <p:nvPr/>
        </p:nvSpPr>
        <p:spPr>
          <a:xfrm>
            <a:off x="6370167" y="3264408"/>
            <a:ext cx="5181447" cy="640080"/>
          </a:xfrm>
          <a:prstGeom prst="rect">
            <a:avLst/>
          </a:prstGeom>
          <a:noFill/>
        </p:spPr>
        <p:txBody>
          <a:bodyPr wrap="square" anchor="ctr" lIns="73152" rIns="73152" tIns="18288" bIns="18288">
            <a:noAutofit/>
          </a:bodyPr>
          <a:lstStyle/>
          <a:p>
            <a:pPr algn="l">
              <a:spcBef>
                <a:spcPts val="0"/>
              </a:spcBef>
              <a:spcAft>
                <a:spcPts val="0"/>
              </a:spcAft>
            </a:pPr>
            <a:r>
              <a:rPr lang="tr-TR" sz="1900" b="1" i="0">
                <a:solidFill>
                  <a:srgbClr val="262626"/>
                </a:solidFill>
                <a:latin typeface="Calibri"/>
              </a:rPr>
              <a:t>İş gücü:</a:t>
            </a:r>
            <a:r>
              <a:rPr lang="tr-TR" sz="1900" b="0" i="0">
                <a:solidFill>
                  <a:srgbClr val="262626"/>
                </a:solidFill>
                <a:latin typeface="Calibri"/>
              </a:rPr>
              <a:t> Bursa ≈ 3,24 milyon nüfus (2024 TÜİK) ve sanayi sektörleri</a:t>
            </a:r>
          </a:p>
        </p:txBody>
      </p:sp>
      <p:sp>
        <p:nvSpPr>
          <p:cNvPr id="22" name="TextBox 21"/>
          <p:cNvSpPr txBox="1"/>
          <p:nvPr/>
        </p:nvSpPr>
        <p:spPr>
          <a:xfrm>
            <a:off x="6370167" y="3977640"/>
            <a:ext cx="5181447" cy="640080"/>
          </a:xfrm>
          <a:prstGeom prst="rect">
            <a:avLst/>
          </a:prstGeom>
          <a:noFill/>
        </p:spPr>
        <p:txBody>
          <a:bodyPr wrap="square" anchor="ctr" lIns="73152" rIns="73152" tIns="18288" bIns="18288">
            <a:noAutofit/>
          </a:bodyPr>
          <a:lstStyle/>
          <a:p>
            <a:pPr algn="l">
              <a:spcBef>
                <a:spcPts val="0"/>
              </a:spcBef>
              <a:spcAft>
                <a:spcPts val="0"/>
              </a:spcAft>
            </a:pPr>
            <a:r>
              <a:rPr lang="tr-TR" sz="1900" b="1" i="0">
                <a:solidFill>
                  <a:srgbClr val="262626"/>
                </a:solidFill>
                <a:latin typeface="Calibri"/>
              </a:rPr>
              <a:t>Enerji tesisleri:</a:t>
            </a:r>
            <a:r>
              <a:rPr lang="tr-TR" sz="1900" b="0" i="0">
                <a:solidFill>
                  <a:srgbClr val="262626"/>
                </a:solidFill>
                <a:latin typeface="Calibri"/>
              </a:rPr>
              <a:t> rüzgâr türbini, güneş paneli</a:t>
            </a:r>
          </a:p>
        </p:txBody>
      </p:sp>
      <p:sp>
        <p:nvSpPr>
          <p:cNvPr id="23" name="Rounded Rectangle 22"/>
          <p:cNvSpPr/>
          <p:nvPr/>
        </p:nvSpPr>
        <p:spPr>
          <a:xfrm>
            <a:off x="502920" y="5577840"/>
            <a:ext cx="11185855" cy="713232"/>
          </a:xfrm>
          <a:prstGeom prst="roundRect">
            <a:avLst>
              <a:gd name="adj" fmla="val 8000"/>
            </a:avLst>
          </a:prstGeom>
          <a:solidFill>
            <a:srgbClr val="E3F1E4"/>
          </a:solidFill>
          <a:ln w="19050">
            <a:solidFill>
              <a:srgbClr val="2E7D32"/>
            </a:solidFill>
          </a:ln>
          <a:effectLst/>
        </p:spPr>
        <p:txBody>
          <a:bodyPr rtlCol="0" anchor="ctr" wrap="square" lIns="201168" rIns="201168" tIns="73152" bIns="73152">
            <a:noAutofit/>
          </a:bodyPr>
          <a:lstStyle/>
          <a:p>
            <a:pPr algn="ctr">
              <a:spcBef>
                <a:spcPts val="0"/>
              </a:spcBef>
              <a:spcAft>
                <a:spcPts val="0"/>
              </a:spcAft>
            </a:pPr>
            <a:r>
              <a:rPr lang="tr-TR" sz="1900" b="1" i="0">
                <a:solidFill>
                  <a:srgbClr val="262626"/>
                </a:solidFill>
                <a:latin typeface="Calibri"/>
              </a:rPr>
              <a:t>Dikkat:</a:t>
            </a:r>
            <a:r>
              <a:rPr lang="tr-TR" sz="1900" b="0" i="0">
                <a:solidFill>
                  <a:srgbClr val="262626"/>
                </a:solidFill>
                <a:latin typeface="Calibri"/>
              </a:rPr>
              <a:t> rüzgâr ve güneş (kaynak) doğaldır; rüzgâr türbini ve güneş paneli (tesis) insan yapımıdır.</a:t>
            </a:r>
          </a:p>
        </p:txBody>
      </p:sp>
      <p:sp>
        <p:nvSpPr>
          <p:cNvPr id="24" name="TextBox 23"/>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25" name="Rounded Rectangle 24"/>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174-181</a:t>
            </a:r>
          </a:p>
        </p:txBody>
      </p:sp>
      <p:sp>
        <p:nvSpPr>
          <p:cNvPr id="26" name="TextBox 25"/>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99 / 166</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Adım 4-5: bilgilerimiz yeterli mi? Önem sırası</a:t>
            </a:r>
          </a:p>
        </p:txBody>
      </p:sp>
      <p:sp>
        <p:nvSpPr>
          <p:cNvPr id="5" name="Rounded Rectangle 4"/>
          <p:cNvSpPr/>
          <p:nvPr/>
        </p:nvSpPr>
        <p:spPr>
          <a:xfrm>
            <a:off x="9555480" y="201168"/>
            <a:ext cx="2221992" cy="475488"/>
          </a:xfrm>
          <a:prstGeom prst="roundRect">
            <a:avLst>
              <a:gd name="adj" fmla="val 50000"/>
            </a:avLst>
          </a:prstGeom>
          <a:solidFill>
            <a:srgbClr val="B85C1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ADIM 4-5</a:t>
            </a:r>
          </a:p>
        </p:txBody>
      </p:sp>
      <p:sp>
        <p:nvSpPr>
          <p:cNvPr id="6" name="Rounded Rectangle 5"/>
          <p:cNvSpPr/>
          <p:nvPr/>
        </p:nvSpPr>
        <p:spPr>
          <a:xfrm>
            <a:off x="502920" y="1216152"/>
            <a:ext cx="11185855" cy="749808"/>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2000" b="1" i="0">
                <a:solidFill>
                  <a:srgbClr val="262626"/>
                </a:solidFill>
                <a:latin typeface="Calibri"/>
              </a:rPr>
              <a:t>4. Adım: Topladığınız bilgilerin oluşturduğunuz soruları cevaplamadaki yeterliliğini değerlendiriniz.</a:t>
            </a:r>
          </a:p>
        </p:txBody>
      </p:sp>
      <p:sp>
        <p:nvSpPr>
          <p:cNvPr id="7" name="Rounded Rectangle 6"/>
          <p:cNvSpPr/>
          <p:nvPr/>
        </p:nvSpPr>
        <p:spPr>
          <a:xfrm>
            <a:off x="502920" y="2066544"/>
            <a:ext cx="5455767" cy="502920"/>
          </a:xfrm>
          <a:prstGeom prst="roundRect">
            <a:avLst>
              <a:gd name="adj" fmla="val 30000"/>
            </a:avLst>
          </a:prstGeom>
          <a:solidFill>
            <a:srgbClr val="E3F1E4"/>
          </a:solidFill>
          <a:ln w="19050">
            <a:solidFill>
              <a:srgbClr val="2E7D32"/>
            </a:solidFill>
          </a:ln>
          <a:effectLst/>
        </p:spPr>
        <p:txBody>
          <a:bodyPr rtlCol="0" anchor="ctr" wrap="square" lIns="54864" rIns="54864" tIns="18288" bIns="18288">
            <a:noAutofit/>
          </a:bodyPr>
          <a:lstStyle/>
          <a:p>
            <a:pPr algn="ctr">
              <a:spcBef>
                <a:spcPts val="0"/>
              </a:spcBef>
              <a:spcAft>
                <a:spcPts val="0"/>
              </a:spcAft>
            </a:pPr>
            <a:r>
              <a:rPr lang="tr-TR" sz="1900" b="1" i="0">
                <a:solidFill>
                  <a:srgbClr val="2E7D32"/>
                </a:solidFill>
                <a:latin typeface="Calibri"/>
              </a:rPr>
              <a:t>✓  cevabını bulduk</a:t>
            </a:r>
          </a:p>
        </p:txBody>
      </p:sp>
      <p:sp>
        <p:nvSpPr>
          <p:cNvPr id="8" name="Rounded Rectangle 7"/>
          <p:cNvSpPr/>
          <p:nvPr/>
        </p:nvSpPr>
        <p:spPr>
          <a:xfrm>
            <a:off x="6233007" y="2066544"/>
            <a:ext cx="5455767" cy="502920"/>
          </a:xfrm>
          <a:prstGeom prst="roundRect">
            <a:avLst>
              <a:gd name="adj" fmla="val 30000"/>
            </a:avLst>
          </a:prstGeom>
          <a:solidFill>
            <a:srgbClr val="F9E1E1"/>
          </a:solidFill>
          <a:ln w="19050">
            <a:solidFill>
              <a:srgbClr val="D3373A"/>
            </a:solidFill>
          </a:ln>
          <a:effectLst/>
        </p:spPr>
        <p:txBody>
          <a:bodyPr rtlCol="0" anchor="ctr" wrap="square" lIns="54864" rIns="54864" tIns="18288" bIns="18288">
            <a:noAutofit/>
          </a:bodyPr>
          <a:lstStyle/>
          <a:p>
            <a:pPr algn="ctr">
              <a:spcBef>
                <a:spcPts val="0"/>
              </a:spcBef>
              <a:spcAft>
                <a:spcPts val="0"/>
              </a:spcAft>
            </a:pPr>
            <a:r>
              <a:rPr lang="tr-TR" sz="1900" b="1" i="0">
                <a:solidFill>
                  <a:srgbClr val="D3373A"/>
                </a:solidFill>
                <a:latin typeface="Calibri"/>
              </a:rPr>
              <a:t>?  eksik: başka kaynakta ara</a:t>
            </a:r>
          </a:p>
        </p:txBody>
      </p:sp>
      <p:sp>
        <p:nvSpPr>
          <p:cNvPr id="9" name="Rounded Rectangle 8"/>
          <p:cNvSpPr/>
          <p:nvPr/>
        </p:nvSpPr>
        <p:spPr>
          <a:xfrm>
            <a:off x="502920" y="2724912"/>
            <a:ext cx="11185855" cy="749808"/>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1900" b="1" i="0">
                <a:solidFill>
                  <a:srgbClr val="262626"/>
                </a:solidFill>
                <a:latin typeface="Calibri"/>
              </a:rPr>
              <a:t>5. Adım: TEKNOSAB’ın kurulacağı yerin seçimini etkileyen coğrafi faktörleri önem sırasına göre yazınız.</a:t>
            </a:r>
          </a:p>
        </p:txBody>
      </p:sp>
      <p:sp>
        <p:nvSpPr>
          <p:cNvPr id="10" name="Rounded Rectangle 9"/>
          <p:cNvSpPr/>
          <p:nvPr/>
        </p:nvSpPr>
        <p:spPr>
          <a:xfrm>
            <a:off x="502920" y="3593592"/>
            <a:ext cx="11185855" cy="480974"/>
          </a:xfrm>
          <a:prstGeom prst="roundRect">
            <a:avLst>
              <a:gd name="adj" fmla="val 20000"/>
            </a:avLst>
          </a:prstGeom>
          <a:solidFill>
            <a:srgbClr val="FFFFFF"/>
          </a:solidFill>
          <a:ln w="12700">
            <a:solidFill>
              <a:srgbClr val="D9D9D9"/>
            </a:solidFill>
          </a:ln>
          <a:effectLst/>
        </p:spPr>
        <p:txBody>
          <a:bodyPr rtlCol="0" anchor="ctr"/>
          <a:lstStyle/>
          <a:p/>
        </p:txBody>
      </p:sp>
      <p:sp>
        <p:nvSpPr>
          <p:cNvPr id="11" name="Oval 10"/>
          <p:cNvSpPr/>
          <p:nvPr/>
        </p:nvSpPr>
        <p:spPr>
          <a:xfrm>
            <a:off x="594360" y="3642055"/>
            <a:ext cx="384048" cy="384048"/>
          </a:xfrm>
          <a:prstGeom prst="ellipse">
            <a:avLst/>
          </a:prstGeom>
          <a:solidFill>
            <a:srgbClr val="B85C12"/>
          </a:solidFill>
          <a:ln>
            <a:noFill/>
          </a:ln>
          <a:effectLst/>
        </p:spPr>
        <p:txBody>
          <a:bodyPr rtlCol="0" anchor="ctr" wrap="none" lIns="0" rIns="0" tIns="0" bIns="0">
            <a:noAutofit/>
          </a:bodyPr>
          <a:lstStyle/>
          <a:p>
            <a:pPr algn="ctr">
              <a:spcBef>
                <a:spcPts val="0"/>
              </a:spcBef>
              <a:spcAft>
                <a:spcPts val="0"/>
              </a:spcAft>
            </a:pPr>
            <a:r>
              <a:rPr lang="tr-TR" sz="1600" b="1" i="0">
                <a:solidFill>
                  <a:srgbClr val="FFFFFF"/>
                </a:solidFill>
                <a:latin typeface="Calibri"/>
              </a:rPr>
              <a:t>1</a:t>
            </a:r>
          </a:p>
        </p:txBody>
      </p:sp>
      <p:sp>
        <p:nvSpPr>
          <p:cNvPr id="12" name="TextBox 11"/>
          <p:cNvSpPr txBox="1"/>
          <p:nvPr/>
        </p:nvSpPr>
        <p:spPr>
          <a:xfrm>
            <a:off x="1143000" y="3593592"/>
            <a:ext cx="10454335" cy="480974"/>
          </a:xfrm>
          <a:prstGeom prst="rect">
            <a:avLst/>
          </a:prstGeom>
          <a:noFill/>
        </p:spPr>
        <p:txBody>
          <a:bodyPr wrap="square" anchor="ctr" lIns="73152" rIns="73152" tIns="36576" bIns="36576">
            <a:noAutofit/>
          </a:bodyPr>
          <a:lstStyle/>
          <a:p>
            <a:pPr algn="l">
              <a:spcBef>
                <a:spcPts val="0"/>
              </a:spcBef>
              <a:spcAft>
                <a:spcPts val="0"/>
              </a:spcAft>
            </a:pPr>
            <a:r>
              <a:rPr lang="tr-TR" sz="1800" b="0" i="0">
                <a:solidFill>
                  <a:srgbClr val="767676"/>
                </a:solidFill>
                <a:latin typeface="Calibri"/>
              </a:rPr>
              <a:t>…………………………  çünkü  ……………………………………………</a:t>
            </a:r>
          </a:p>
        </p:txBody>
      </p:sp>
      <p:sp>
        <p:nvSpPr>
          <p:cNvPr id="13" name="Rounded Rectangle 12"/>
          <p:cNvSpPr/>
          <p:nvPr/>
        </p:nvSpPr>
        <p:spPr>
          <a:xfrm>
            <a:off x="502920" y="4147718"/>
            <a:ext cx="11185855" cy="480974"/>
          </a:xfrm>
          <a:prstGeom prst="roundRect">
            <a:avLst>
              <a:gd name="adj" fmla="val 20000"/>
            </a:avLst>
          </a:prstGeom>
          <a:solidFill>
            <a:srgbClr val="FFFFFF"/>
          </a:solidFill>
          <a:ln w="12700">
            <a:solidFill>
              <a:srgbClr val="D9D9D9"/>
            </a:solidFill>
          </a:ln>
          <a:effectLst/>
        </p:spPr>
        <p:txBody>
          <a:bodyPr rtlCol="0" anchor="ctr"/>
          <a:lstStyle/>
          <a:p/>
        </p:txBody>
      </p:sp>
      <p:sp>
        <p:nvSpPr>
          <p:cNvPr id="14" name="Oval 13"/>
          <p:cNvSpPr/>
          <p:nvPr/>
        </p:nvSpPr>
        <p:spPr>
          <a:xfrm>
            <a:off x="594360" y="4196181"/>
            <a:ext cx="384048" cy="384048"/>
          </a:xfrm>
          <a:prstGeom prst="ellipse">
            <a:avLst/>
          </a:prstGeom>
          <a:solidFill>
            <a:srgbClr val="B85C12"/>
          </a:solidFill>
          <a:ln>
            <a:noFill/>
          </a:ln>
          <a:effectLst/>
        </p:spPr>
        <p:txBody>
          <a:bodyPr rtlCol="0" anchor="ctr" wrap="none" lIns="0" rIns="0" tIns="0" bIns="0">
            <a:noAutofit/>
          </a:bodyPr>
          <a:lstStyle/>
          <a:p>
            <a:pPr algn="ctr">
              <a:spcBef>
                <a:spcPts val="0"/>
              </a:spcBef>
              <a:spcAft>
                <a:spcPts val="0"/>
              </a:spcAft>
            </a:pPr>
            <a:r>
              <a:rPr lang="tr-TR" sz="1600" b="1" i="0">
                <a:solidFill>
                  <a:srgbClr val="FFFFFF"/>
                </a:solidFill>
                <a:latin typeface="Calibri"/>
              </a:rPr>
              <a:t>2</a:t>
            </a:r>
          </a:p>
        </p:txBody>
      </p:sp>
      <p:sp>
        <p:nvSpPr>
          <p:cNvPr id="15" name="TextBox 14"/>
          <p:cNvSpPr txBox="1"/>
          <p:nvPr/>
        </p:nvSpPr>
        <p:spPr>
          <a:xfrm>
            <a:off x="1143000" y="4147718"/>
            <a:ext cx="10454335" cy="480974"/>
          </a:xfrm>
          <a:prstGeom prst="rect">
            <a:avLst/>
          </a:prstGeom>
          <a:noFill/>
        </p:spPr>
        <p:txBody>
          <a:bodyPr wrap="square" anchor="ctr" lIns="73152" rIns="73152" tIns="36576" bIns="36576">
            <a:noAutofit/>
          </a:bodyPr>
          <a:lstStyle/>
          <a:p>
            <a:pPr algn="l">
              <a:spcBef>
                <a:spcPts val="0"/>
              </a:spcBef>
              <a:spcAft>
                <a:spcPts val="0"/>
              </a:spcAft>
            </a:pPr>
            <a:r>
              <a:rPr lang="tr-TR" sz="1800" b="0" i="0">
                <a:solidFill>
                  <a:srgbClr val="767676"/>
                </a:solidFill>
                <a:latin typeface="Calibri"/>
              </a:rPr>
              <a:t>…………………………  çünkü  ……………………………………………</a:t>
            </a:r>
          </a:p>
        </p:txBody>
      </p:sp>
      <p:sp>
        <p:nvSpPr>
          <p:cNvPr id="16" name="Rounded Rectangle 15"/>
          <p:cNvSpPr/>
          <p:nvPr/>
        </p:nvSpPr>
        <p:spPr>
          <a:xfrm>
            <a:off x="502920" y="4701844"/>
            <a:ext cx="11185855" cy="480974"/>
          </a:xfrm>
          <a:prstGeom prst="roundRect">
            <a:avLst>
              <a:gd name="adj" fmla="val 2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750308"/>
            <a:ext cx="384048" cy="384048"/>
          </a:xfrm>
          <a:prstGeom prst="ellipse">
            <a:avLst/>
          </a:prstGeom>
          <a:solidFill>
            <a:srgbClr val="B85C12"/>
          </a:solidFill>
          <a:ln>
            <a:noFill/>
          </a:ln>
          <a:effectLst/>
        </p:spPr>
        <p:txBody>
          <a:bodyPr rtlCol="0" anchor="ctr" wrap="none" lIns="0" rIns="0" tIns="0" bIns="0">
            <a:noAutofit/>
          </a:bodyPr>
          <a:lstStyle/>
          <a:p>
            <a:pPr algn="ctr">
              <a:spcBef>
                <a:spcPts val="0"/>
              </a:spcBef>
              <a:spcAft>
                <a:spcPts val="0"/>
              </a:spcAft>
            </a:pPr>
            <a:r>
              <a:rPr lang="tr-TR" sz="1600" b="1" i="0">
                <a:solidFill>
                  <a:srgbClr val="FFFFFF"/>
                </a:solidFill>
                <a:latin typeface="Calibri"/>
              </a:rPr>
              <a:t>3</a:t>
            </a:r>
          </a:p>
        </p:txBody>
      </p:sp>
      <p:sp>
        <p:nvSpPr>
          <p:cNvPr id="18" name="TextBox 17"/>
          <p:cNvSpPr txBox="1"/>
          <p:nvPr/>
        </p:nvSpPr>
        <p:spPr>
          <a:xfrm>
            <a:off x="1143000" y="4701844"/>
            <a:ext cx="10454335" cy="480974"/>
          </a:xfrm>
          <a:prstGeom prst="rect">
            <a:avLst/>
          </a:prstGeom>
          <a:noFill/>
        </p:spPr>
        <p:txBody>
          <a:bodyPr wrap="square" anchor="ctr" lIns="73152" rIns="73152" tIns="36576" bIns="36576">
            <a:noAutofit/>
          </a:bodyPr>
          <a:lstStyle/>
          <a:p>
            <a:pPr algn="l">
              <a:spcBef>
                <a:spcPts val="0"/>
              </a:spcBef>
              <a:spcAft>
                <a:spcPts val="0"/>
              </a:spcAft>
            </a:pPr>
            <a:r>
              <a:rPr lang="tr-TR" sz="1800" b="0" i="0">
                <a:solidFill>
                  <a:srgbClr val="767676"/>
                </a:solidFill>
                <a:latin typeface="Calibri"/>
              </a:rPr>
              <a:t>…………………………  çünkü  ……………………………………………</a:t>
            </a:r>
          </a:p>
        </p:txBody>
      </p:sp>
      <p:sp>
        <p:nvSpPr>
          <p:cNvPr id="19" name="Rounded Rectangle 18"/>
          <p:cNvSpPr/>
          <p:nvPr/>
        </p:nvSpPr>
        <p:spPr>
          <a:xfrm>
            <a:off x="502920" y="5255971"/>
            <a:ext cx="11185855" cy="480974"/>
          </a:xfrm>
          <a:prstGeom prst="roundRect">
            <a:avLst>
              <a:gd name="adj" fmla="val 2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5304434"/>
            <a:ext cx="384048" cy="384048"/>
          </a:xfrm>
          <a:prstGeom prst="ellipse">
            <a:avLst/>
          </a:prstGeom>
          <a:solidFill>
            <a:srgbClr val="B85C12"/>
          </a:solidFill>
          <a:ln>
            <a:noFill/>
          </a:ln>
          <a:effectLst/>
        </p:spPr>
        <p:txBody>
          <a:bodyPr rtlCol="0" anchor="ctr" wrap="none" lIns="0" rIns="0" tIns="0" bIns="0">
            <a:noAutofit/>
          </a:bodyPr>
          <a:lstStyle/>
          <a:p>
            <a:pPr algn="ctr">
              <a:spcBef>
                <a:spcPts val="0"/>
              </a:spcBef>
              <a:spcAft>
                <a:spcPts val="0"/>
              </a:spcAft>
            </a:pPr>
            <a:r>
              <a:rPr lang="tr-TR" sz="1600" b="1" i="0">
                <a:solidFill>
                  <a:srgbClr val="FFFFFF"/>
                </a:solidFill>
                <a:latin typeface="Calibri"/>
              </a:rPr>
              <a:t>4</a:t>
            </a:r>
          </a:p>
        </p:txBody>
      </p:sp>
      <p:sp>
        <p:nvSpPr>
          <p:cNvPr id="21" name="TextBox 20"/>
          <p:cNvSpPr txBox="1"/>
          <p:nvPr/>
        </p:nvSpPr>
        <p:spPr>
          <a:xfrm>
            <a:off x="1143000" y="5255971"/>
            <a:ext cx="10454335" cy="480974"/>
          </a:xfrm>
          <a:prstGeom prst="rect">
            <a:avLst/>
          </a:prstGeom>
          <a:noFill/>
        </p:spPr>
        <p:txBody>
          <a:bodyPr wrap="square" anchor="ctr" lIns="73152" rIns="73152" tIns="36576" bIns="36576">
            <a:noAutofit/>
          </a:bodyPr>
          <a:lstStyle/>
          <a:p>
            <a:pPr algn="l">
              <a:spcBef>
                <a:spcPts val="0"/>
              </a:spcBef>
              <a:spcAft>
                <a:spcPts val="0"/>
              </a:spcAft>
            </a:pPr>
            <a:r>
              <a:rPr lang="tr-TR" sz="1800" b="0" i="0">
                <a:solidFill>
                  <a:srgbClr val="767676"/>
                </a:solidFill>
                <a:latin typeface="Calibri"/>
              </a:rPr>
              <a:t>…………………………  çünkü  ……………………………………………</a:t>
            </a:r>
          </a:p>
        </p:txBody>
      </p:sp>
      <p:sp>
        <p:nvSpPr>
          <p:cNvPr id="22" name="Rounded Rectangle 21"/>
          <p:cNvSpPr/>
          <p:nvPr/>
        </p:nvSpPr>
        <p:spPr>
          <a:xfrm>
            <a:off x="502920" y="5810097"/>
            <a:ext cx="11185855" cy="480974"/>
          </a:xfrm>
          <a:prstGeom prst="roundRect">
            <a:avLst>
              <a:gd name="adj" fmla="val 20000"/>
            </a:avLst>
          </a:prstGeom>
          <a:solidFill>
            <a:srgbClr val="FFFFFF"/>
          </a:solidFill>
          <a:ln w="12700">
            <a:solidFill>
              <a:srgbClr val="D9D9D9"/>
            </a:solidFill>
          </a:ln>
          <a:effectLst/>
        </p:spPr>
        <p:txBody>
          <a:bodyPr rtlCol="0" anchor="ctr"/>
          <a:lstStyle/>
          <a:p/>
        </p:txBody>
      </p:sp>
      <p:sp>
        <p:nvSpPr>
          <p:cNvPr id="23" name="Oval 22"/>
          <p:cNvSpPr/>
          <p:nvPr/>
        </p:nvSpPr>
        <p:spPr>
          <a:xfrm>
            <a:off x="594360" y="5858560"/>
            <a:ext cx="384048" cy="384048"/>
          </a:xfrm>
          <a:prstGeom prst="ellipse">
            <a:avLst/>
          </a:prstGeom>
          <a:solidFill>
            <a:srgbClr val="B85C12"/>
          </a:solidFill>
          <a:ln>
            <a:noFill/>
          </a:ln>
          <a:effectLst/>
        </p:spPr>
        <p:txBody>
          <a:bodyPr rtlCol="0" anchor="ctr" wrap="none" lIns="0" rIns="0" tIns="0" bIns="0">
            <a:noAutofit/>
          </a:bodyPr>
          <a:lstStyle/>
          <a:p>
            <a:pPr algn="ctr">
              <a:spcBef>
                <a:spcPts val="0"/>
              </a:spcBef>
              <a:spcAft>
                <a:spcPts val="0"/>
              </a:spcAft>
            </a:pPr>
            <a:r>
              <a:rPr lang="tr-TR" sz="1600" b="1" i="0">
                <a:solidFill>
                  <a:srgbClr val="FFFFFF"/>
                </a:solidFill>
                <a:latin typeface="Calibri"/>
              </a:rPr>
              <a:t>5</a:t>
            </a:r>
          </a:p>
        </p:txBody>
      </p:sp>
      <p:sp>
        <p:nvSpPr>
          <p:cNvPr id="24" name="TextBox 23"/>
          <p:cNvSpPr txBox="1"/>
          <p:nvPr/>
        </p:nvSpPr>
        <p:spPr>
          <a:xfrm>
            <a:off x="1143000" y="5810097"/>
            <a:ext cx="10454335" cy="480974"/>
          </a:xfrm>
          <a:prstGeom prst="rect">
            <a:avLst/>
          </a:prstGeom>
          <a:noFill/>
        </p:spPr>
        <p:txBody>
          <a:bodyPr wrap="square" anchor="ctr" lIns="73152" rIns="73152" tIns="36576" bIns="36576">
            <a:noAutofit/>
          </a:bodyPr>
          <a:lstStyle/>
          <a:p>
            <a:pPr algn="l">
              <a:spcBef>
                <a:spcPts val="0"/>
              </a:spcBef>
              <a:spcAft>
                <a:spcPts val="0"/>
              </a:spcAft>
            </a:pPr>
            <a:r>
              <a:rPr lang="tr-TR" sz="1800" b="0" i="0">
                <a:solidFill>
                  <a:srgbClr val="767676"/>
                </a:solidFill>
                <a:latin typeface="Calibri"/>
              </a:rPr>
              <a:t>…………………………  çünkü  ……………………………………………</a:t>
            </a:r>
          </a:p>
        </p:txBody>
      </p:sp>
      <p:sp>
        <p:nvSpPr>
          <p:cNvPr id="25" name="TextBox 24"/>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26" name="Rounded Rectangle 25"/>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181</a:t>
            </a:r>
          </a:p>
        </p:txBody>
      </p:sp>
      <p:sp>
        <p:nvSpPr>
          <p:cNvPr id="27" name="TextBox 26"/>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100 / 166</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Adım 5 — örnek cevap: önem sırası</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Rounded Rectangle 5"/>
          <p:cNvSpPr/>
          <p:nvPr/>
        </p:nvSpPr>
        <p:spPr>
          <a:xfrm>
            <a:off x="502920" y="1216152"/>
            <a:ext cx="11185855" cy="810158"/>
          </a:xfrm>
          <a:prstGeom prst="roundRect">
            <a:avLst>
              <a:gd name="adj" fmla="val 15000"/>
            </a:avLst>
          </a:prstGeom>
          <a:solidFill>
            <a:srgbClr val="E3F1E4"/>
          </a:solidFill>
          <a:ln w="12700">
            <a:solidFill>
              <a:srgbClr val="2E7D32"/>
            </a:solidFill>
          </a:ln>
          <a:effectLst/>
        </p:spPr>
        <p:txBody>
          <a:bodyPr rtlCol="0" anchor="ctr"/>
          <a:lstStyle/>
          <a:p/>
        </p:txBody>
      </p:sp>
      <p:sp>
        <p:nvSpPr>
          <p:cNvPr id="7" name="Oval 6"/>
          <p:cNvSpPr/>
          <p:nvPr/>
        </p:nvSpPr>
        <p:spPr>
          <a:xfrm>
            <a:off x="594360" y="1401775"/>
            <a:ext cx="438912" cy="438912"/>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1</a:t>
            </a:r>
          </a:p>
        </p:txBody>
      </p:sp>
      <p:sp>
        <p:nvSpPr>
          <p:cNvPr id="8" name="TextBox 7"/>
          <p:cNvSpPr txBox="1"/>
          <p:nvPr/>
        </p:nvSpPr>
        <p:spPr>
          <a:xfrm>
            <a:off x="1161288" y="1216152"/>
            <a:ext cx="2834640" cy="810158"/>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262626"/>
                </a:solidFill>
                <a:latin typeface="Calibri"/>
              </a:rPr>
              <a:t>Ulaşım ve konum</a:t>
            </a:r>
          </a:p>
        </p:txBody>
      </p:sp>
      <p:sp>
        <p:nvSpPr>
          <p:cNvPr id="9" name="TextBox 8"/>
          <p:cNvSpPr txBox="1"/>
          <p:nvPr/>
        </p:nvSpPr>
        <p:spPr>
          <a:xfrm>
            <a:off x="4069080" y="1216152"/>
            <a:ext cx="7528255" cy="810158"/>
          </a:xfrm>
          <a:prstGeom prst="rect">
            <a:avLst/>
          </a:prstGeom>
          <a:noFill/>
        </p:spPr>
        <p:txBody>
          <a:bodyPr wrap="square" anchor="ctr" lIns="73152" rIns="73152" tIns="18288" bIns="18288">
            <a:noAutofit/>
          </a:bodyPr>
          <a:lstStyle/>
          <a:p>
            <a:pPr algn="l">
              <a:spcBef>
                <a:spcPts val="0"/>
              </a:spcBef>
              <a:spcAft>
                <a:spcPts val="0"/>
              </a:spcAft>
            </a:pPr>
            <a:r>
              <a:rPr lang="tr-TR" sz="1900" b="0" i="0">
                <a:solidFill>
                  <a:srgbClr val="262626"/>
                </a:solidFill>
                <a:latin typeface="Calibri"/>
              </a:rPr>
              <a:t>Kavşak noktası: kuzeyde otoyol, güneyde kara yolu; Gemlik (50 km) ve Bandırma (74 km) limanları. Ham madde gelir, ürün pazara kolay gider.</a:t>
            </a:r>
          </a:p>
        </p:txBody>
      </p:sp>
      <p:sp>
        <p:nvSpPr>
          <p:cNvPr id="10" name="Rounded Rectangle 9"/>
          <p:cNvSpPr/>
          <p:nvPr/>
        </p:nvSpPr>
        <p:spPr>
          <a:xfrm>
            <a:off x="502920" y="2099462"/>
            <a:ext cx="11185855" cy="810158"/>
          </a:xfrm>
          <a:prstGeom prst="roundRect">
            <a:avLst>
              <a:gd name="adj" fmla="val 15000"/>
            </a:avLst>
          </a:prstGeom>
          <a:solidFill>
            <a:srgbClr val="E3F1E4"/>
          </a:solidFill>
          <a:ln w="12700">
            <a:solidFill>
              <a:srgbClr val="2E7D32"/>
            </a:solidFill>
          </a:ln>
          <a:effectLst/>
        </p:spPr>
        <p:txBody>
          <a:bodyPr rtlCol="0" anchor="ctr"/>
          <a:lstStyle/>
          <a:p/>
        </p:txBody>
      </p:sp>
      <p:sp>
        <p:nvSpPr>
          <p:cNvPr id="11" name="Oval 10"/>
          <p:cNvSpPr/>
          <p:nvPr/>
        </p:nvSpPr>
        <p:spPr>
          <a:xfrm>
            <a:off x="594360" y="2285085"/>
            <a:ext cx="438912" cy="438912"/>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2</a:t>
            </a:r>
          </a:p>
        </p:txBody>
      </p:sp>
      <p:sp>
        <p:nvSpPr>
          <p:cNvPr id="12" name="TextBox 11"/>
          <p:cNvSpPr txBox="1"/>
          <p:nvPr/>
        </p:nvSpPr>
        <p:spPr>
          <a:xfrm>
            <a:off x="1161288" y="2099462"/>
            <a:ext cx="2834640" cy="810158"/>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262626"/>
                </a:solidFill>
                <a:latin typeface="Calibri"/>
              </a:rPr>
              <a:t>İş gücü ve sanayi birikimi</a:t>
            </a:r>
          </a:p>
        </p:txBody>
      </p:sp>
      <p:sp>
        <p:nvSpPr>
          <p:cNvPr id="13" name="TextBox 12"/>
          <p:cNvSpPr txBox="1"/>
          <p:nvPr/>
        </p:nvSpPr>
        <p:spPr>
          <a:xfrm>
            <a:off x="4069080" y="2099462"/>
            <a:ext cx="7528255" cy="810158"/>
          </a:xfrm>
          <a:prstGeom prst="rect">
            <a:avLst/>
          </a:prstGeom>
          <a:noFill/>
        </p:spPr>
        <p:txBody>
          <a:bodyPr wrap="square" anchor="ctr" lIns="73152" rIns="73152" tIns="18288" bIns="18288">
            <a:noAutofit/>
          </a:bodyPr>
          <a:lstStyle/>
          <a:p>
            <a:pPr algn="l">
              <a:spcBef>
                <a:spcPts val="0"/>
              </a:spcBef>
              <a:spcAft>
                <a:spcPts val="0"/>
              </a:spcAft>
            </a:pPr>
            <a:r>
              <a:rPr lang="tr-TR" sz="1900" b="0" i="0">
                <a:solidFill>
                  <a:srgbClr val="262626"/>
                </a:solidFill>
                <a:latin typeface="Calibri"/>
              </a:rPr>
              <a:t>Bursa ≈ 3,24 milyon nüfus; otomotiv, tekstil, makine-metal gibi sektörler iş gücü ve deneyim sağlar.</a:t>
            </a:r>
          </a:p>
        </p:txBody>
      </p:sp>
      <p:sp>
        <p:nvSpPr>
          <p:cNvPr id="14" name="Rounded Rectangle 13"/>
          <p:cNvSpPr/>
          <p:nvPr/>
        </p:nvSpPr>
        <p:spPr>
          <a:xfrm>
            <a:off x="502920" y="2982772"/>
            <a:ext cx="11185855" cy="810158"/>
          </a:xfrm>
          <a:prstGeom prst="roundRect">
            <a:avLst>
              <a:gd name="adj" fmla="val 15000"/>
            </a:avLst>
          </a:prstGeom>
          <a:solidFill>
            <a:srgbClr val="E3F1E4"/>
          </a:solidFill>
          <a:ln w="12700">
            <a:solidFill>
              <a:srgbClr val="2E7D32"/>
            </a:solidFill>
          </a:ln>
          <a:effectLst/>
        </p:spPr>
        <p:txBody>
          <a:bodyPr rtlCol="0" anchor="ctr"/>
          <a:lstStyle/>
          <a:p/>
        </p:txBody>
      </p:sp>
      <p:sp>
        <p:nvSpPr>
          <p:cNvPr id="15" name="Oval 14"/>
          <p:cNvSpPr/>
          <p:nvPr/>
        </p:nvSpPr>
        <p:spPr>
          <a:xfrm>
            <a:off x="594360" y="3168396"/>
            <a:ext cx="438912" cy="438912"/>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3</a:t>
            </a:r>
          </a:p>
        </p:txBody>
      </p:sp>
      <p:sp>
        <p:nvSpPr>
          <p:cNvPr id="16" name="TextBox 15"/>
          <p:cNvSpPr txBox="1"/>
          <p:nvPr/>
        </p:nvSpPr>
        <p:spPr>
          <a:xfrm>
            <a:off x="1161288" y="2982772"/>
            <a:ext cx="2834640" cy="810158"/>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262626"/>
                </a:solidFill>
                <a:latin typeface="Calibri"/>
              </a:rPr>
              <a:t>Eğitim ve teknoloji</a:t>
            </a:r>
          </a:p>
        </p:txBody>
      </p:sp>
      <p:sp>
        <p:nvSpPr>
          <p:cNvPr id="17" name="TextBox 16"/>
          <p:cNvSpPr txBox="1"/>
          <p:nvPr/>
        </p:nvSpPr>
        <p:spPr>
          <a:xfrm>
            <a:off x="4069080" y="2982772"/>
            <a:ext cx="7528255" cy="810158"/>
          </a:xfrm>
          <a:prstGeom prst="rect">
            <a:avLst/>
          </a:prstGeom>
          <a:noFill/>
        </p:spPr>
        <p:txBody>
          <a:bodyPr wrap="square" anchor="ctr" lIns="73152" rIns="73152" tIns="18288" bIns="18288">
            <a:noAutofit/>
          </a:bodyPr>
          <a:lstStyle/>
          <a:p>
            <a:pPr algn="l">
              <a:spcBef>
                <a:spcPts val="0"/>
              </a:spcBef>
              <a:spcAft>
                <a:spcPts val="0"/>
              </a:spcAft>
            </a:pPr>
            <a:r>
              <a:rPr lang="tr-TR" sz="1900" b="0" i="0">
                <a:solidFill>
                  <a:srgbClr val="262626"/>
                </a:solidFill>
                <a:latin typeface="Calibri"/>
              </a:rPr>
              <a:t>Teknoloji Üniversitesi: teknoloji odaklı sanayiye nitelikli iş gücü.</a:t>
            </a:r>
          </a:p>
        </p:txBody>
      </p:sp>
      <p:sp>
        <p:nvSpPr>
          <p:cNvPr id="18" name="Rounded Rectangle 17"/>
          <p:cNvSpPr/>
          <p:nvPr/>
        </p:nvSpPr>
        <p:spPr>
          <a:xfrm>
            <a:off x="502920" y="3866083"/>
            <a:ext cx="11185855" cy="810158"/>
          </a:xfrm>
          <a:prstGeom prst="roundRect">
            <a:avLst>
              <a:gd name="adj" fmla="val 15000"/>
            </a:avLst>
          </a:prstGeom>
          <a:solidFill>
            <a:srgbClr val="E3F1E4"/>
          </a:solidFill>
          <a:ln w="12700">
            <a:solidFill>
              <a:srgbClr val="2E7D32"/>
            </a:solidFill>
          </a:ln>
          <a:effectLst/>
        </p:spPr>
        <p:txBody>
          <a:bodyPr rtlCol="0" anchor="ctr"/>
          <a:lstStyle/>
          <a:p/>
        </p:txBody>
      </p:sp>
      <p:sp>
        <p:nvSpPr>
          <p:cNvPr id="19" name="Oval 18"/>
          <p:cNvSpPr/>
          <p:nvPr/>
        </p:nvSpPr>
        <p:spPr>
          <a:xfrm>
            <a:off x="594360" y="4051706"/>
            <a:ext cx="438912" cy="438912"/>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4</a:t>
            </a:r>
          </a:p>
        </p:txBody>
      </p:sp>
      <p:sp>
        <p:nvSpPr>
          <p:cNvPr id="20" name="TextBox 19"/>
          <p:cNvSpPr txBox="1"/>
          <p:nvPr/>
        </p:nvSpPr>
        <p:spPr>
          <a:xfrm>
            <a:off x="1161288" y="3866083"/>
            <a:ext cx="2834640" cy="810158"/>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262626"/>
                </a:solidFill>
                <a:latin typeface="Calibri"/>
              </a:rPr>
              <a:t>Yer şekilleri</a:t>
            </a:r>
          </a:p>
        </p:txBody>
      </p:sp>
      <p:sp>
        <p:nvSpPr>
          <p:cNvPr id="21" name="TextBox 20"/>
          <p:cNvSpPr txBox="1"/>
          <p:nvPr/>
        </p:nvSpPr>
        <p:spPr>
          <a:xfrm>
            <a:off x="4069080" y="3866083"/>
            <a:ext cx="7528255" cy="810158"/>
          </a:xfrm>
          <a:prstGeom prst="rect">
            <a:avLst/>
          </a:prstGeom>
          <a:noFill/>
        </p:spPr>
        <p:txBody>
          <a:bodyPr wrap="square" anchor="ctr" lIns="73152" rIns="73152" tIns="18288" bIns="18288">
            <a:noAutofit/>
          </a:bodyPr>
          <a:lstStyle/>
          <a:p>
            <a:pPr algn="l">
              <a:spcBef>
                <a:spcPts val="0"/>
              </a:spcBef>
              <a:spcAft>
                <a:spcPts val="0"/>
              </a:spcAft>
            </a:pPr>
            <a:r>
              <a:rPr lang="tr-TR" sz="1900" b="0" i="0">
                <a:solidFill>
                  <a:srgbClr val="262626"/>
                </a:solidFill>
                <a:latin typeface="Calibri"/>
              </a:rPr>
              <a:t>Hafif engebeli arazi: tesis ve yol yapımı dağlık alana göre kolay (s. 175).</a:t>
            </a:r>
          </a:p>
        </p:txBody>
      </p:sp>
      <p:sp>
        <p:nvSpPr>
          <p:cNvPr id="22" name="Rounded Rectangle 21"/>
          <p:cNvSpPr/>
          <p:nvPr/>
        </p:nvSpPr>
        <p:spPr>
          <a:xfrm>
            <a:off x="502920" y="4749393"/>
            <a:ext cx="11185855" cy="810158"/>
          </a:xfrm>
          <a:prstGeom prst="roundRect">
            <a:avLst>
              <a:gd name="adj" fmla="val 15000"/>
            </a:avLst>
          </a:prstGeom>
          <a:solidFill>
            <a:srgbClr val="E3F1E4"/>
          </a:solidFill>
          <a:ln w="12700">
            <a:solidFill>
              <a:srgbClr val="2E7D32"/>
            </a:solidFill>
          </a:ln>
          <a:effectLst/>
        </p:spPr>
        <p:txBody>
          <a:bodyPr rtlCol="0" anchor="ctr"/>
          <a:lstStyle/>
          <a:p/>
        </p:txBody>
      </p:sp>
      <p:sp>
        <p:nvSpPr>
          <p:cNvPr id="23" name="Oval 22"/>
          <p:cNvSpPr/>
          <p:nvPr/>
        </p:nvSpPr>
        <p:spPr>
          <a:xfrm>
            <a:off x="594360" y="4935016"/>
            <a:ext cx="438912" cy="438912"/>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5</a:t>
            </a:r>
          </a:p>
        </p:txBody>
      </p:sp>
      <p:sp>
        <p:nvSpPr>
          <p:cNvPr id="24" name="TextBox 23"/>
          <p:cNvSpPr txBox="1"/>
          <p:nvPr/>
        </p:nvSpPr>
        <p:spPr>
          <a:xfrm>
            <a:off x="1161288" y="4749393"/>
            <a:ext cx="2834640" cy="810158"/>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262626"/>
                </a:solidFill>
                <a:latin typeface="Calibri"/>
              </a:rPr>
              <a:t>Su ve iklim</a:t>
            </a:r>
          </a:p>
        </p:txBody>
      </p:sp>
      <p:sp>
        <p:nvSpPr>
          <p:cNvPr id="25" name="TextBox 24"/>
          <p:cNvSpPr txBox="1"/>
          <p:nvPr/>
        </p:nvSpPr>
        <p:spPr>
          <a:xfrm>
            <a:off x="4069080" y="4749393"/>
            <a:ext cx="7528255" cy="810158"/>
          </a:xfrm>
          <a:prstGeom prst="rect">
            <a:avLst/>
          </a:prstGeom>
          <a:noFill/>
        </p:spPr>
        <p:txBody>
          <a:bodyPr wrap="square" anchor="ctr" lIns="73152" rIns="73152" tIns="18288" bIns="18288">
            <a:noAutofit/>
          </a:bodyPr>
          <a:lstStyle/>
          <a:p>
            <a:pPr algn="l">
              <a:spcBef>
                <a:spcPts val="0"/>
              </a:spcBef>
              <a:spcAft>
                <a:spcPts val="0"/>
              </a:spcAft>
            </a:pPr>
            <a:r>
              <a:rPr lang="tr-TR" sz="1900" b="0" i="0">
                <a:solidFill>
                  <a:srgbClr val="262626"/>
                </a:solidFill>
                <a:latin typeface="Calibri"/>
              </a:rPr>
              <a:t>Nilüfer Çayı Havzası su sağlar; iklim rüzgâr ve güneş santrallerinin verimini etkiler.</a:t>
            </a:r>
          </a:p>
        </p:txBody>
      </p:sp>
      <p:sp>
        <p:nvSpPr>
          <p:cNvPr id="26" name="Rounded Rectangle 25"/>
          <p:cNvSpPr/>
          <p:nvPr/>
        </p:nvSpPr>
        <p:spPr>
          <a:xfrm>
            <a:off x="502920" y="5632704"/>
            <a:ext cx="11185855" cy="658368"/>
          </a:xfrm>
          <a:prstGeom prst="roundRect">
            <a:avLst>
              <a:gd name="adj" fmla="val 8000"/>
            </a:avLst>
          </a:prstGeom>
          <a:solidFill>
            <a:srgbClr val="E3F1E4"/>
          </a:solidFill>
          <a:ln w="19050">
            <a:solidFill>
              <a:srgbClr val="2E7D32"/>
            </a:solidFill>
          </a:ln>
          <a:effectLst/>
        </p:spPr>
        <p:txBody>
          <a:bodyPr rtlCol="0" anchor="ctr" wrap="square" lIns="201168" rIns="201168" tIns="73152" bIns="73152">
            <a:noAutofit/>
          </a:bodyPr>
          <a:lstStyle/>
          <a:p>
            <a:pPr algn="ctr">
              <a:spcBef>
                <a:spcPts val="0"/>
              </a:spcBef>
              <a:spcAft>
                <a:spcPts val="0"/>
              </a:spcAft>
            </a:pPr>
            <a:r>
              <a:rPr lang="tr-TR" sz="2000" b="0" i="0">
                <a:solidFill>
                  <a:srgbClr val="262626"/>
                </a:solidFill>
                <a:latin typeface="Calibri"/>
              </a:rPr>
              <a:t>Gerekçesi kitaba dayanan farklı bir sıralama da doğrudur.</a:t>
            </a:r>
          </a:p>
        </p:txBody>
      </p:sp>
      <p:sp>
        <p:nvSpPr>
          <p:cNvPr id="27" name="TextBox 26"/>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28" name="Rounded Rectangle 27"/>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174-180</a:t>
            </a:r>
          </a:p>
        </p:txBody>
      </p:sp>
      <p:sp>
        <p:nvSpPr>
          <p:cNvPr id="29" name="TextBox 28"/>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101 / 166</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Adım 6: sorularımızı cevaplayalım</a:t>
            </a:r>
          </a:p>
        </p:txBody>
      </p:sp>
      <p:sp>
        <p:nvSpPr>
          <p:cNvPr id="5" name="Rounded Rectangle 4"/>
          <p:cNvSpPr/>
          <p:nvPr/>
        </p:nvSpPr>
        <p:spPr>
          <a:xfrm>
            <a:off x="9555480" y="201168"/>
            <a:ext cx="2221992" cy="475488"/>
          </a:xfrm>
          <a:prstGeom prst="roundRect">
            <a:avLst>
              <a:gd name="adj" fmla="val 50000"/>
            </a:avLst>
          </a:prstGeom>
          <a:solidFill>
            <a:srgbClr val="B85C1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ADIM 6</a:t>
            </a:r>
          </a:p>
        </p:txBody>
      </p:sp>
      <p:sp>
        <p:nvSpPr>
          <p:cNvPr id="6" name="Rounded Rectangle 5"/>
          <p:cNvSpPr/>
          <p:nvPr/>
        </p:nvSpPr>
        <p:spPr>
          <a:xfrm>
            <a:off x="502920" y="1216152"/>
            <a:ext cx="11185855" cy="658368"/>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1800" b="1" i="0">
                <a:solidFill>
                  <a:srgbClr val="262626"/>
                </a:solidFill>
                <a:latin typeface="Calibri"/>
              </a:rPr>
              <a:t>6. Adım: TEKNOSAB’la ilgili elde ettiğiniz bilgilerden yararlanarak hazırladığınız coğrafi soruları cevaplayınız.</a:t>
            </a:r>
          </a:p>
        </p:txBody>
      </p:sp>
      <p:sp>
        <p:nvSpPr>
          <p:cNvPr id="7" name="Oval 6"/>
          <p:cNvSpPr/>
          <p:nvPr/>
        </p:nvSpPr>
        <p:spPr>
          <a:xfrm>
            <a:off x="502920" y="2153412"/>
            <a:ext cx="347472" cy="347472"/>
          </a:xfrm>
          <a:prstGeom prst="ellipse">
            <a:avLst/>
          </a:prstGeom>
          <a:solidFill>
            <a:srgbClr val="3E8E41"/>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1</a:t>
            </a:r>
          </a:p>
        </p:txBody>
      </p:sp>
      <p:sp>
        <p:nvSpPr>
          <p:cNvPr id="8" name="TextBox 7"/>
          <p:cNvSpPr txBox="1"/>
          <p:nvPr/>
        </p:nvSpPr>
        <p:spPr>
          <a:xfrm>
            <a:off x="914400" y="2011680"/>
            <a:ext cx="5044287" cy="630936"/>
          </a:xfrm>
          <a:prstGeom prst="rect">
            <a:avLst/>
          </a:prstGeom>
          <a:noFill/>
        </p:spPr>
        <p:txBody>
          <a:bodyPr wrap="square" anchor="ctr" lIns="73152" rIns="73152" tIns="36576" bIns="36576">
            <a:noAutofit/>
          </a:bodyPr>
          <a:lstStyle/>
          <a:p>
            <a:pPr algn="l">
              <a:spcBef>
                <a:spcPts val="0"/>
              </a:spcBef>
              <a:spcAft>
                <a:spcPts val="0"/>
              </a:spcAft>
            </a:pPr>
            <a:r>
              <a:rPr lang="tr-TR" sz="1600" b="1" i="0">
                <a:solidFill>
                  <a:srgbClr val="262626"/>
                </a:solidFill>
                <a:latin typeface="Calibri"/>
              </a:rPr>
              <a:t>TEKNOSAB nerede kurulmuş, çevresindeki yer şekilleri nasıl?</a:t>
            </a:r>
          </a:p>
        </p:txBody>
      </p:sp>
      <p:sp>
        <p:nvSpPr>
          <p:cNvPr id="9" name="Rounded Rectangle 8"/>
          <p:cNvSpPr/>
          <p:nvPr/>
        </p:nvSpPr>
        <p:spPr>
          <a:xfrm>
            <a:off x="914400" y="2715768"/>
            <a:ext cx="5044287" cy="756242"/>
          </a:xfrm>
          <a:prstGeom prst="roundRect">
            <a:avLst>
              <a:gd name="adj" fmla="val 8000"/>
            </a:avLst>
          </a:prstGeom>
          <a:solidFill>
            <a:srgbClr val="FFFFFF"/>
          </a:solidFill>
          <a:ln w="12700">
            <a:solidFill>
              <a:srgbClr val="D9D9D9"/>
            </a:solidFill>
          </a:ln>
          <a:effectLst/>
        </p:spPr>
        <p:txBody>
          <a:bodyPr rtlCol="0" anchor="ctr"/>
          <a:lstStyle/>
          <a:p/>
        </p:txBody>
      </p:sp>
      <p:cxnSp>
        <p:nvCxnSpPr>
          <p:cNvPr id="10" name="Connector 9"/>
          <p:cNvCxnSpPr/>
          <p:nvPr/>
        </p:nvCxnSpPr>
        <p:spPr>
          <a:xfrm>
            <a:off x="1097280" y="2967848"/>
            <a:ext cx="4678527" cy="0"/>
          </a:xfrm>
          <a:prstGeom prst="line">
            <a:avLst/>
          </a:prstGeom>
          <a:ln w="12700">
            <a:solidFill>
              <a:srgbClr val="D9D9D9"/>
            </a:solidFill>
            <a:prstDash val="dash"/>
          </a:ln>
        </p:spPr>
      </p:cxnSp>
      <p:cxnSp>
        <p:nvCxnSpPr>
          <p:cNvPr id="11" name="Connector 10"/>
          <p:cNvCxnSpPr/>
          <p:nvPr/>
        </p:nvCxnSpPr>
        <p:spPr>
          <a:xfrm>
            <a:off x="1097280" y="3219929"/>
            <a:ext cx="4678527" cy="0"/>
          </a:xfrm>
          <a:prstGeom prst="line">
            <a:avLst/>
          </a:prstGeom>
          <a:ln w="12700">
            <a:solidFill>
              <a:srgbClr val="D9D9D9"/>
            </a:solidFill>
            <a:prstDash val="dash"/>
          </a:ln>
        </p:spPr>
      </p:cxnSp>
      <p:sp>
        <p:nvSpPr>
          <p:cNvPr id="12" name="Oval 11"/>
          <p:cNvSpPr/>
          <p:nvPr/>
        </p:nvSpPr>
        <p:spPr>
          <a:xfrm>
            <a:off x="502920" y="3686894"/>
            <a:ext cx="347472" cy="347472"/>
          </a:xfrm>
          <a:prstGeom prst="ellipse">
            <a:avLst/>
          </a:prstGeom>
          <a:solidFill>
            <a:srgbClr val="3E8E41"/>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2</a:t>
            </a:r>
          </a:p>
        </p:txBody>
      </p:sp>
      <p:sp>
        <p:nvSpPr>
          <p:cNvPr id="13" name="TextBox 12"/>
          <p:cNvSpPr txBox="1"/>
          <p:nvPr/>
        </p:nvSpPr>
        <p:spPr>
          <a:xfrm>
            <a:off x="914400" y="3545162"/>
            <a:ext cx="5044287" cy="630936"/>
          </a:xfrm>
          <a:prstGeom prst="rect">
            <a:avLst/>
          </a:prstGeom>
          <a:noFill/>
        </p:spPr>
        <p:txBody>
          <a:bodyPr wrap="square" anchor="ctr" lIns="73152" rIns="73152" tIns="36576" bIns="36576">
            <a:noAutofit/>
          </a:bodyPr>
          <a:lstStyle/>
          <a:p>
            <a:pPr algn="l">
              <a:spcBef>
                <a:spcPts val="0"/>
              </a:spcBef>
              <a:spcAft>
                <a:spcPts val="0"/>
              </a:spcAft>
            </a:pPr>
            <a:r>
              <a:rPr lang="tr-TR" sz="1600" b="1" i="0">
                <a:solidFill>
                  <a:srgbClr val="262626"/>
                </a:solidFill>
                <a:latin typeface="Calibri"/>
              </a:rPr>
              <a:t>Bölgenin iklimi üretimi ve enerji santrallerini nasıl etkiler?</a:t>
            </a:r>
          </a:p>
        </p:txBody>
      </p:sp>
      <p:sp>
        <p:nvSpPr>
          <p:cNvPr id="14" name="Rounded Rectangle 13"/>
          <p:cNvSpPr/>
          <p:nvPr/>
        </p:nvSpPr>
        <p:spPr>
          <a:xfrm>
            <a:off x="914400" y="4249250"/>
            <a:ext cx="5044287" cy="756242"/>
          </a:xfrm>
          <a:prstGeom prst="roundRect">
            <a:avLst>
              <a:gd name="adj" fmla="val 8000"/>
            </a:avLst>
          </a:prstGeom>
          <a:solidFill>
            <a:srgbClr val="FFFFFF"/>
          </a:solidFill>
          <a:ln w="12700">
            <a:solidFill>
              <a:srgbClr val="D9D9D9"/>
            </a:solidFill>
          </a:ln>
          <a:effectLst/>
        </p:spPr>
        <p:txBody>
          <a:bodyPr rtlCol="0" anchor="ctr"/>
          <a:lstStyle/>
          <a:p/>
        </p:txBody>
      </p:sp>
      <p:cxnSp>
        <p:nvCxnSpPr>
          <p:cNvPr id="15" name="Connector 14"/>
          <p:cNvCxnSpPr/>
          <p:nvPr/>
        </p:nvCxnSpPr>
        <p:spPr>
          <a:xfrm>
            <a:off x="1097280" y="4501330"/>
            <a:ext cx="4678527" cy="0"/>
          </a:xfrm>
          <a:prstGeom prst="line">
            <a:avLst/>
          </a:prstGeom>
          <a:ln w="12700">
            <a:solidFill>
              <a:srgbClr val="D9D9D9"/>
            </a:solidFill>
            <a:prstDash val="dash"/>
          </a:ln>
        </p:spPr>
      </p:cxnSp>
      <p:cxnSp>
        <p:nvCxnSpPr>
          <p:cNvPr id="16" name="Connector 15"/>
          <p:cNvCxnSpPr/>
          <p:nvPr/>
        </p:nvCxnSpPr>
        <p:spPr>
          <a:xfrm>
            <a:off x="1097280" y="4753411"/>
            <a:ext cx="4678527" cy="0"/>
          </a:xfrm>
          <a:prstGeom prst="line">
            <a:avLst/>
          </a:prstGeom>
          <a:ln w="12700">
            <a:solidFill>
              <a:srgbClr val="D9D9D9"/>
            </a:solidFill>
            <a:prstDash val="dash"/>
          </a:ln>
        </p:spPr>
      </p:cxnSp>
      <p:sp>
        <p:nvSpPr>
          <p:cNvPr id="17" name="Oval 16"/>
          <p:cNvSpPr/>
          <p:nvPr/>
        </p:nvSpPr>
        <p:spPr>
          <a:xfrm>
            <a:off x="502920" y="5096424"/>
            <a:ext cx="347472" cy="347472"/>
          </a:xfrm>
          <a:prstGeom prst="ellipse">
            <a:avLst/>
          </a:prstGeom>
          <a:solidFill>
            <a:srgbClr val="3E8E41"/>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3</a:t>
            </a:r>
          </a:p>
        </p:txBody>
      </p:sp>
      <p:sp>
        <p:nvSpPr>
          <p:cNvPr id="18" name="TextBox 17"/>
          <p:cNvSpPr txBox="1"/>
          <p:nvPr/>
        </p:nvSpPr>
        <p:spPr>
          <a:xfrm>
            <a:off x="914400" y="5078644"/>
            <a:ext cx="5044287" cy="383032"/>
          </a:xfrm>
          <a:prstGeom prst="rect">
            <a:avLst/>
          </a:prstGeom>
          <a:noFill/>
        </p:spPr>
        <p:txBody>
          <a:bodyPr wrap="square" anchor="ctr" lIns="73152" rIns="73152" tIns="36576" bIns="36576">
            <a:noAutofit/>
          </a:bodyPr>
          <a:lstStyle/>
          <a:p>
            <a:pPr algn="l">
              <a:spcBef>
                <a:spcPts val="0"/>
              </a:spcBef>
              <a:spcAft>
                <a:spcPts val="0"/>
              </a:spcAft>
            </a:pPr>
            <a:r>
              <a:rPr lang="tr-TR" sz="1600" b="1" i="0">
                <a:solidFill>
                  <a:srgbClr val="262626"/>
                </a:solidFill>
                <a:latin typeface="Calibri"/>
              </a:rPr>
              <a:t>Nilüfer Çayı Havzası'nda olması neden önemli?</a:t>
            </a:r>
          </a:p>
        </p:txBody>
      </p:sp>
      <p:sp>
        <p:nvSpPr>
          <p:cNvPr id="19" name="Rounded Rectangle 18"/>
          <p:cNvSpPr/>
          <p:nvPr/>
        </p:nvSpPr>
        <p:spPr>
          <a:xfrm>
            <a:off x="914400" y="5534828"/>
            <a:ext cx="5044287" cy="756242"/>
          </a:xfrm>
          <a:prstGeom prst="roundRect">
            <a:avLst>
              <a:gd name="adj" fmla="val 8000"/>
            </a:avLst>
          </a:prstGeom>
          <a:solidFill>
            <a:srgbClr val="FFFFFF"/>
          </a:solidFill>
          <a:ln w="12700">
            <a:solidFill>
              <a:srgbClr val="D9D9D9"/>
            </a:solidFill>
          </a:ln>
          <a:effectLst/>
        </p:spPr>
        <p:txBody>
          <a:bodyPr rtlCol="0" anchor="ctr"/>
          <a:lstStyle/>
          <a:p/>
        </p:txBody>
      </p:sp>
      <p:cxnSp>
        <p:nvCxnSpPr>
          <p:cNvPr id="20" name="Connector 19"/>
          <p:cNvCxnSpPr/>
          <p:nvPr/>
        </p:nvCxnSpPr>
        <p:spPr>
          <a:xfrm>
            <a:off x="1097280" y="5786908"/>
            <a:ext cx="4678527" cy="0"/>
          </a:xfrm>
          <a:prstGeom prst="line">
            <a:avLst/>
          </a:prstGeom>
          <a:ln w="12700">
            <a:solidFill>
              <a:srgbClr val="D9D9D9"/>
            </a:solidFill>
            <a:prstDash val="dash"/>
          </a:ln>
        </p:spPr>
      </p:cxnSp>
      <p:cxnSp>
        <p:nvCxnSpPr>
          <p:cNvPr id="21" name="Connector 20"/>
          <p:cNvCxnSpPr/>
          <p:nvPr/>
        </p:nvCxnSpPr>
        <p:spPr>
          <a:xfrm>
            <a:off x="1097280" y="6038989"/>
            <a:ext cx="4678527" cy="0"/>
          </a:xfrm>
          <a:prstGeom prst="line">
            <a:avLst/>
          </a:prstGeom>
          <a:ln w="12700">
            <a:solidFill>
              <a:srgbClr val="D9D9D9"/>
            </a:solidFill>
            <a:prstDash val="dash"/>
          </a:ln>
        </p:spPr>
      </p:cxnSp>
      <p:sp>
        <p:nvSpPr>
          <p:cNvPr id="22" name="Oval 21"/>
          <p:cNvSpPr/>
          <p:nvPr/>
        </p:nvSpPr>
        <p:spPr>
          <a:xfrm>
            <a:off x="6233007" y="2029460"/>
            <a:ext cx="347472" cy="347472"/>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1</a:t>
            </a:r>
          </a:p>
        </p:txBody>
      </p:sp>
      <p:sp>
        <p:nvSpPr>
          <p:cNvPr id="23" name="TextBox 22"/>
          <p:cNvSpPr txBox="1"/>
          <p:nvPr/>
        </p:nvSpPr>
        <p:spPr>
          <a:xfrm>
            <a:off x="6644487" y="2011680"/>
            <a:ext cx="5044287" cy="383032"/>
          </a:xfrm>
          <a:prstGeom prst="rect">
            <a:avLst/>
          </a:prstGeom>
          <a:noFill/>
        </p:spPr>
        <p:txBody>
          <a:bodyPr wrap="square" anchor="ctr" lIns="73152" rIns="73152" tIns="36576" bIns="36576">
            <a:noAutofit/>
          </a:bodyPr>
          <a:lstStyle/>
          <a:p>
            <a:pPr algn="l">
              <a:spcBef>
                <a:spcPts val="0"/>
              </a:spcBef>
              <a:spcAft>
                <a:spcPts val="0"/>
              </a:spcAft>
            </a:pPr>
            <a:r>
              <a:rPr lang="tr-TR" sz="1600" b="1" i="0">
                <a:solidFill>
                  <a:srgbClr val="262626"/>
                </a:solidFill>
                <a:latin typeface="Calibri"/>
              </a:rPr>
              <a:t>TEKNOSAB neden bu kavşak noktasında kurulmuş?</a:t>
            </a:r>
          </a:p>
        </p:txBody>
      </p:sp>
      <p:sp>
        <p:nvSpPr>
          <p:cNvPr id="24" name="Rounded Rectangle 23"/>
          <p:cNvSpPr/>
          <p:nvPr/>
        </p:nvSpPr>
        <p:spPr>
          <a:xfrm>
            <a:off x="6644487" y="2467864"/>
            <a:ext cx="5044287" cy="1012046"/>
          </a:xfrm>
          <a:prstGeom prst="roundRect">
            <a:avLst>
              <a:gd name="adj" fmla="val 8000"/>
            </a:avLst>
          </a:prstGeom>
          <a:solidFill>
            <a:srgbClr val="FFFFFF"/>
          </a:solidFill>
          <a:ln w="12700">
            <a:solidFill>
              <a:srgbClr val="D9D9D9"/>
            </a:solidFill>
          </a:ln>
          <a:effectLst/>
        </p:spPr>
        <p:txBody>
          <a:bodyPr rtlCol="0" anchor="ctr"/>
          <a:lstStyle/>
          <a:p/>
        </p:txBody>
      </p:sp>
      <p:cxnSp>
        <p:nvCxnSpPr>
          <p:cNvPr id="25" name="Connector 24"/>
          <p:cNvCxnSpPr/>
          <p:nvPr/>
        </p:nvCxnSpPr>
        <p:spPr>
          <a:xfrm>
            <a:off x="6827367" y="2805212"/>
            <a:ext cx="4678528" cy="0"/>
          </a:xfrm>
          <a:prstGeom prst="line">
            <a:avLst/>
          </a:prstGeom>
          <a:ln w="12700">
            <a:solidFill>
              <a:srgbClr val="D9D9D9"/>
            </a:solidFill>
            <a:prstDash val="dash"/>
          </a:ln>
        </p:spPr>
      </p:cxnSp>
      <p:cxnSp>
        <p:nvCxnSpPr>
          <p:cNvPr id="26" name="Connector 25"/>
          <p:cNvCxnSpPr/>
          <p:nvPr/>
        </p:nvCxnSpPr>
        <p:spPr>
          <a:xfrm>
            <a:off x="6827367" y="3142561"/>
            <a:ext cx="4678528" cy="0"/>
          </a:xfrm>
          <a:prstGeom prst="line">
            <a:avLst/>
          </a:prstGeom>
          <a:ln w="12700">
            <a:solidFill>
              <a:srgbClr val="D9D9D9"/>
            </a:solidFill>
            <a:prstDash val="dash"/>
          </a:ln>
        </p:spPr>
      </p:cxnSp>
      <p:sp>
        <p:nvSpPr>
          <p:cNvPr id="27" name="Oval 26"/>
          <p:cNvSpPr/>
          <p:nvPr/>
        </p:nvSpPr>
        <p:spPr>
          <a:xfrm>
            <a:off x="6233007" y="3694794"/>
            <a:ext cx="347472" cy="347472"/>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2</a:t>
            </a:r>
          </a:p>
        </p:txBody>
      </p:sp>
      <p:sp>
        <p:nvSpPr>
          <p:cNvPr id="28" name="TextBox 27"/>
          <p:cNvSpPr txBox="1"/>
          <p:nvPr/>
        </p:nvSpPr>
        <p:spPr>
          <a:xfrm>
            <a:off x="6644487" y="3553062"/>
            <a:ext cx="5044287" cy="630936"/>
          </a:xfrm>
          <a:prstGeom prst="rect">
            <a:avLst/>
          </a:prstGeom>
          <a:noFill/>
        </p:spPr>
        <p:txBody>
          <a:bodyPr wrap="square" anchor="ctr" lIns="73152" rIns="73152" tIns="36576" bIns="36576">
            <a:noAutofit/>
          </a:bodyPr>
          <a:lstStyle/>
          <a:p>
            <a:pPr algn="l">
              <a:spcBef>
                <a:spcPts val="0"/>
              </a:spcBef>
              <a:spcAft>
                <a:spcPts val="0"/>
              </a:spcAft>
            </a:pPr>
            <a:r>
              <a:rPr lang="tr-TR" sz="1600" b="1" i="0">
                <a:solidFill>
                  <a:srgbClr val="262626"/>
                </a:solidFill>
                <a:latin typeface="Calibri"/>
              </a:rPr>
              <a:t>Bursa'nın nüfusu ve sanayi sektörleri TEKNOSAB'ı nasıl etkiler?</a:t>
            </a:r>
          </a:p>
        </p:txBody>
      </p:sp>
      <p:sp>
        <p:nvSpPr>
          <p:cNvPr id="29" name="Rounded Rectangle 28"/>
          <p:cNvSpPr/>
          <p:nvPr/>
        </p:nvSpPr>
        <p:spPr>
          <a:xfrm>
            <a:off x="6644487" y="4257150"/>
            <a:ext cx="5044287" cy="752292"/>
          </a:xfrm>
          <a:prstGeom prst="roundRect">
            <a:avLst>
              <a:gd name="adj" fmla="val 8000"/>
            </a:avLst>
          </a:prstGeom>
          <a:solidFill>
            <a:srgbClr val="FFFFFF"/>
          </a:solidFill>
          <a:ln w="12700">
            <a:solidFill>
              <a:srgbClr val="D9D9D9"/>
            </a:solidFill>
          </a:ln>
          <a:effectLst/>
        </p:spPr>
        <p:txBody>
          <a:bodyPr rtlCol="0" anchor="ctr"/>
          <a:lstStyle/>
          <a:p/>
        </p:txBody>
      </p:sp>
      <p:cxnSp>
        <p:nvCxnSpPr>
          <p:cNvPr id="30" name="Connector 29"/>
          <p:cNvCxnSpPr/>
          <p:nvPr/>
        </p:nvCxnSpPr>
        <p:spPr>
          <a:xfrm>
            <a:off x="6827367" y="4507914"/>
            <a:ext cx="4678528" cy="0"/>
          </a:xfrm>
          <a:prstGeom prst="line">
            <a:avLst/>
          </a:prstGeom>
          <a:ln w="12700">
            <a:solidFill>
              <a:srgbClr val="D9D9D9"/>
            </a:solidFill>
            <a:prstDash val="dash"/>
          </a:ln>
        </p:spPr>
      </p:cxnSp>
      <p:cxnSp>
        <p:nvCxnSpPr>
          <p:cNvPr id="31" name="Connector 30"/>
          <p:cNvCxnSpPr/>
          <p:nvPr/>
        </p:nvCxnSpPr>
        <p:spPr>
          <a:xfrm>
            <a:off x="6827367" y="4758678"/>
            <a:ext cx="4678528" cy="0"/>
          </a:xfrm>
          <a:prstGeom prst="line">
            <a:avLst/>
          </a:prstGeom>
          <a:ln w="12700">
            <a:solidFill>
              <a:srgbClr val="D9D9D9"/>
            </a:solidFill>
            <a:prstDash val="dash"/>
          </a:ln>
        </p:spPr>
      </p:cxnSp>
      <p:sp>
        <p:nvSpPr>
          <p:cNvPr id="32" name="Oval 31"/>
          <p:cNvSpPr/>
          <p:nvPr/>
        </p:nvSpPr>
        <p:spPr>
          <a:xfrm>
            <a:off x="6233007" y="5100374"/>
            <a:ext cx="347472" cy="347472"/>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3</a:t>
            </a:r>
          </a:p>
        </p:txBody>
      </p:sp>
      <p:sp>
        <p:nvSpPr>
          <p:cNvPr id="33" name="TextBox 32"/>
          <p:cNvSpPr txBox="1"/>
          <p:nvPr/>
        </p:nvSpPr>
        <p:spPr>
          <a:xfrm>
            <a:off x="6644487" y="5082594"/>
            <a:ext cx="5044287" cy="383032"/>
          </a:xfrm>
          <a:prstGeom prst="rect">
            <a:avLst/>
          </a:prstGeom>
          <a:noFill/>
        </p:spPr>
        <p:txBody>
          <a:bodyPr wrap="square" anchor="ctr" lIns="73152" rIns="73152" tIns="36576" bIns="36576">
            <a:noAutofit/>
          </a:bodyPr>
          <a:lstStyle/>
          <a:p>
            <a:pPr algn="l">
              <a:spcBef>
                <a:spcPts val="0"/>
              </a:spcBef>
              <a:spcAft>
                <a:spcPts val="0"/>
              </a:spcAft>
            </a:pPr>
            <a:r>
              <a:rPr lang="tr-TR" sz="1600" b="1" i="0">
                <a:solidFill>
                  <a:srgbClr val="262626"/>
                </a:solidFill>
                <a:latin typeface="Calibri"/>
              </a:rPr>
              <a:t>TEKNOSAB'ın kuruluşu ne zaman başladı?</a:t>
            </a:r>
          </a:p>
        </p:txBody>
      </p:sp>
      <p:sp>
        <p:nvSpPr>
          <p:cNvPr id="34" name="Rounded Rectangle 33"/>
          <p:cNvSpPr/>
          <p:nvPr/>
        </p:nvSpPr>
        <p:spPr>
          <a:xfrm>
            <a:off x="6644487" y="5538778"/>
            <a:ext cx="5044287" cy="752292"/>
          </a:xfrm>
          <a:prstGeom prst="roundRect">
            <a:avLst>
              <a:gd name="adj" fmla="val 8000"/>
            </a:avLst>
          </a:prstGeom>
          <a:solidFill>
            <a:srgbClr val="FFFFFF"/>
          </a:solidFill>
          <a:ln w="12700">
            <a:solidFill>
              <a:srgbClr val="D9D9D9"/>
            </a:solidFill>
          </a:ln>
          <a:effectLst/>
        </p:spPr>
        <p:txBody>
          <a:bodyPr rtlCol="0" anchor="ctr"/>
          <a:lstStyle/>
          <a:p/>
        </p:txBody>
      </p:sp>
      <p:cxnSp>
        <p:nvCxnSpPr>
          <p:cNvPr id="35" name="Connector 34"/>
          <p:cNvCxnSpPr/>
          <p:nvPr/>
        </p:nvCxnSpPr>
        <p:spPr>
          <a:xfrm>
            <a:off x="6827367" y="5789542"/>
            <a:ext cx="4678528" cy="0"/>
          </a:xfrm>
          <a:prstGeom prst="line">
            <a:avLst/>
          </a:prstGeom>
          <a:ln w="12700">
            <a:solidFill>
              <a:srgbClr val="D9D9D9"/>
            </a:solidFill>
            <a:prstDash val="dash"/>
          </a:ln>
        </p:spPr>
      </p:cxnSp>
      <p:cxnSp>
        <p:nvCxnSpPr>
          <p:cNvPr id="36" name="Connector 35"/>
          <p:cNvCxnSpPr/>
          <p:nvPr/>
        </p:nvCxnSpPr>
        <p:spPr>
          <a:xfrm>
            <a:off x="6827367" y="6040306"/>
            <a:ext cx="4678528" cy="0"/>
          </a:xfrm>
          <a:prstGeom prst="line">
            <a:avLst/>
          </a:prstGeom>
          <a:ln w="12700">
            <a:solidFill>
              <a:srgbClr val="D9D9D9"/>
            </a:solidFill>
            <a:prstDash val="dash"/>
          </a:ln>
        </p:spPr>
      </p:cxnSp>
      <p:sp>
        <p:nvSpPr>
          <p:cNvPr id="37" name="TextBox 36"/>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38" name="Rounded Rectangle 37"/>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180-181</a:t>
            </a:r>
          </a:p>
        </p:txBody>
      </p:sp>
      <p:sp>
        <p:nvSpPr>
          <p:cNvPr id="39" name="TextBox 38"/>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102 / 166</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Adım 6: sorularımızı cevaplayalım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Rounded Rectangle 5"/>
          <p:cNvSpPr/>
          <p:nvPr/>
        </p:nvSpPr>
        <p:spPr>
          <a:xfrm>
            <a:off x="502920" y="1216152"/>
            <a:ext cx="11185855" cy="658368"/>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1800" b="1" i="0">
                <a:solidFill>
                  <a:srgbClr val="262626"/>
                </a:solidFill>
                <a:latin typeface="Calibri"/>
              </a:rPr>
              <a:t>6. Adım: TEKNOSAB’la ilgili elde ettiğiniz bilgilerden yararlanarak hazırladığınız coğrafi soruları cevaplayınız.</a:t>
            </a:r>
          </a:p>
        </p:txBody>
      </p:sp>
      <p:sp>
        <p:nvSpPr>
          <p:cNvPr id="7" name="Oval 6"/>
          <p:cNvSpPr/>
          <p:nvPr/>
        </p:nvSpPr>
        <p:spPr>
          <a:xfrm>
            <a:off x="502920" y="2153412"/>
            <a:ext cx="347472" cy="347472"/>
          </a:xfrm>
          <a:prstGeom prst="ellipse">
            <a:avLst/>
          </a:prstGeom>
          <a:solidFill>
            <a:srgbClr val="3E8E41"/>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1</a:t>
            </a:r>
          </a:p>
        </p:txBody>
      </p:sp>
      <p:sp>
        <p:nvSpPr>
          <p:cNvPr id="8" name="TextBox 7"/>
          <p:cNvSpPr txBox="1"/>
          <p:nvPr/>
        </p:nvSpPr>
        <p:spPr>
          <a:xfrm>
            <a:off x="914400" y="2011680"/>
            <a:ext cx="5044287" cy="630936"/>
          </a:xfrm>
          <a:prstGeom prst="rect">
            <a:avLst/>
          </a:prstGeom>
          <a:noFill/>
        </p:spPr>
        <p:txBody>
          <a:bodyPr wrap="square" anchor="ctr" lIns="73152" rIns="73152" tIns="36576" bIns="36576">
            <a:noAutofit/>
          </a:bodyPr>
          <a:lstStyle/>
          <a:p>
            <a:pPr algn="l">
              <a:spcBef>
                <a:spcPts val="0"/>
              </a:spcBef>
              <a:spcAft>
                <a:spcPts val="0"/>
              </a:spcAft>
            </a:pPr>
            <a:r>
              <a:rPr lang="tr-TR" sz="1600" b="1" i="0">
                <a:solidFill>
                  <a:srgbClr val="262626"/>
                </a:solidFill>
                <a:latin typeface="Calibri"/>
              </a:rPr>
              <a:t>TEKNOSAB nerede kurulmuş, çevresindeki yer şekilleri nasıl?</a:t>
            </a:r>
          </a:p>
        </p:txBody>
      </p:sp>
      <p:sp>
        <p:nvSpPr>
          <p:cNvPr id="9" name="Rounded Rectangle 8"/>
          <p:cNvSpPr/>
          <p:nvPr/>
        </p:nvSpPr>
        <p:spPr>
          <a:xfrm>
            <a:off x="914400" y="2715768"/>
            <a:ext cx="5044287" cy="756242"/>
          </a:xfrm>
          <a:prstGeom prst="roundRect">
            <a:avLst>
              <a:gd name="adj" fmla="val 8000"/>
            </a:avLst>
          </a:prstGeom>
          <a:solidFill>
            <a:srgbClr val="E3F1E4"/>
          </a:solidFill>
          <a:ln w="12700">
            <a:solidFill>
              <a:srgbClr val="2E7D32"/>
            </a:solidFill>
          </a:ln>
          <a:effectLst/>
        </p:spPr>
        <p:txBody>
          <a:bodyPr rtlCol="0" anchor="ctr" wrap="square" lIns="137160" rIns="137160" tIns="73152" bIns="73152">
            <a:noAutofit/>
          </a:bodyPr>
          <a:lstStyle/>
          <a:p>
            <a:pPr algn="l">
              <a:spcBef>
                <a:spcPts val="0"/>
              </a:spcBef>
              <a:spcAft>
                <a:spcPts val="0"/>
              </a:spcAft>
            </a:pPr>
            <a:r>
              <a:rPr lang="tr-TR" sz="1650" b="0" i="0">
                <a:solidFill>
                  <a:srgbClr val="262626"/>
                </a:solidFill>
                <a:latin typeface="Calibri"/>
              </a:rPr>
              <a:t>Bursa'nın yaklaşık 30 km batısında, Karacabey'de; arazi hafif engebeli ve tepelik.</a:t>
            </a:r>
          </a:p>
        </p:txBody>
      </p:sp>
      <p:sp>
        <p:nvSpPr>
          <p:cNvPr id="10" name="Oval 9"/>
          <p:cNvSpPr/>
          <p:nvPr/>
        </p:nvSpPr>
        <p:spPr>
          <a:xfrm>
            <a:off x="502920" y="3686894"/>
            <a:ext cx="347472" cy="347472"/>
          </a:xfrm>
          <a:prstGeom prst="ellipse">
            <a:avLst/>
          </a:prstGeom>
          <a:solidFill>
            <a:srgbClr val="3E8E41"/>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2</a:t>
            </a:r>
          </a:p>
        </p:txBody>
      </p:sp>
      <p:sp>
        <p:nvSpPr>
          <p:cNvPr id="11" name="TextBox 10"/>
          <p:cNvSpPr txBox="1"/>
          <p:nvPr/>
        </p:nvSpPr>
        <p:spPr>
          <a:xfrm>
            <a:off x="914400" y="3545162"/>
            <a:ext cx="5044287" cy="630936"/>
          </a:xfrm>
          <a:prstGeom prst="rect">
            <a:avLst/>
          </a:prstGeom>
          <a:noFill/>
        </p:spPr>
        <p:txBody>
          <a:bodyPr wrap="square" anchor="ctr" lIns="73152" rIns="73152" tIns="36576" bIns="36576">
            <a:noAutofit/>
          </a:bodyPr>
          <a:lstStyle/>
          <a:p>
            <a:pPr algn="l">
              <a:spcBef>
                <a:spcPts val="0"/>
              </a:spcBef>
              <a:spcAft>
                <a:spcPts val="0"/>
              </a:spcAft>
            </a:pPr>
            <a:r>
              <a:rPr lang="tr-TR" sz="1600" b="1" i="0">
                <a:solidFill>
                  <a:srgbClr val="262626"/>
                </a:solidFill>
                <a:latin typeface="Calibri"/>
              </a:rPr>
              <a:t>Bölgenin iklimi üretimi ve enerji santrallerini nasıl etkiler?</a:t>
            </a:r>
          </a:p>
        </p:txBody>
      </p:sp>
      <p:sp>
        <p:nvSpPr>
          <p:cNvPr id="12" name="Rounded Rectangle 11"/>
          <p:cNvSpPr/>
          <p:nvPr/>
        </p:nvSpPr>
        <p:spPr>
          <a:xfrm>
            <a:off x="914400" y="4249250"/>
            <a:ext cx="5044287" cy="756242"/>
          </a:xfrm>
          <a:prstGeom prst="roundRect">
            <a:avLst>
              <a:gd name="adj" fmla="val 8000"/>
            </a:avLst>
          </a:prstGeom>
          <a:solidFill>
            <a:srgbClr val="E3F1E4"/>
          </a:solidFill>
          <a:ln w="12700">
            <a:solidFill>
              <a:srgbClr val="2E7D32"/>
            </a:solidFill>
          </a:ln>
          <a:effectLst/>
        </p:spPr>
        <p:txBody>
          <a:bodyPr rtlCol="0" anchor="ctr" wrap="square" lIns="137160" rIns="137160" tIns="73152" bIns="73152">
            <a:noAutofit/>
          </a:bodyPr>
          <a:lstStyle/>
          <a:p>
            <a:pPr algn="l">
              <a:spcBef>
                <a:spcPts val="0"/>
              </a:spcBef>
              <a:spcAft>
                <a:spcPts val="0"/>
              </a:spcAft>
            </a:pPr>
            <a:r>
              <a:rPr lang="tr-TR" sz="1650" b="0" i="0">
                <a:solidFill>
                  <a:srgbClr val="262626"/>
                </a:solidFill>
                <a:latin typeface="Calibri"/>
              </a:rPr>
              <a:t>Geçiş iklimi: yaz sıcak ve az yağışlı, kış yağışlı; iklim güneş ve rüzgâr santrallerinin verimini etkiler (s. 174).</a:t>
            </a:r>
          </a:p>
        </p:txBody>
      </p:sp>
      <p:sp>
        <p:nvSpPr>
          <p:cNvPr id="13" name="Oval 12"/>
          <p:cNvSpPr/>
          <p:nvPr/>
        </p:nvSpPr>
        <p:spPr>
          <a:xfrm>
            <a:off x="502920" y="5096424"/>
            <a:ext cx="347472" cy="347472"/>
          </a:xfrm>
          <a:prstGeom prst="ellipse">
            <a:avLst/>
          </a:prstGeom>
          <a:solidFill>
            <a:srgbClr val="3E8E41"/>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3</a:t>
            </a:r>
          </a:p>
        </p:txBody>
      </p:sp>
      <p:sp>
        <p:nvSpPr>
          <p:cNvPr id="14" name="TextBox 13"/>
          <p:cNvSpPr txBox="1"/>
          <p:nvPr/>
        </p:nvSpPr>
        <p:spPr>
          <a:xfrm>
            <a:off x="914400" y="5078644"/>
            <a:ext cx="5044287" cy="383032"/>
          </a:xfrm>
          <a:prstGeom prst="rect">
            <a:avLst/>
          </a:prstGeom>
          <a:noFill/>
        </p:spPr>
        <p:txBody>
          <a:bodyPr wrap="square" anchor="ctr" lIns="73152" rIns="73152" tIns="36576" bIns="36576">
            <a:noAutofit/>
          </a:bodyPr>
          <a:lstStyle/>
          <a:p>
            <a:pPr algn="l">
              <a:spcBef>
                <a:spcPts val="0"/>
              </a:spcBef>
              <a:spcAft>
                <a:spcPts val="0"/>
              </a:spcAft>
            </a:pPr>
            <a:r>
              <a:rPr lang="tr-TR" sz="1600" b="1" i="0">
                <a:solidFill>
                  <a:srgbClr val="262626"/>
                </a:solidFill>
                <a:latin typeface="Calibri"/>
              </a:rPr>
              <a:t>Nilüfer Çayı Havzası'nda olması neden önemli?</a:t>
            </a:r>
          </a:p>
        </p:txBody>
      </p:sp>
      <p:sp>
        <p:nvSpPr>
          <p:cNvPr id="15" name="Rounded Rectangle 14"/>
          <p:cNvSpPr/>
          <p:nvPr/>
        </p:nvSpPr>
        <p:spPr>
          <a:xfrm>
            <a:off x="914400" y="5534828"/>
            <a:ext cx="5044287" cy="756242"/>
          </a:xfrm>
          <a:prstGeom prst="roundRect">
            <a:avLst>
              <a:gd name="adj" fmla="val 8000"/>
            </a:avLst>
          </a:prstGeom>
          <a:solidFill>
            <a:srgbClr val="E3F1E4"/>
          </a:solidFill>
          <a:ln w="12700">
            <a:solidFill>
              <a:srgbClr val="2E7D32"/>
            </a:solidFill>
          </a:ln>
          <a:effectLst/>
        </p:spPr>
        <p:txBody>
          <a:bodyPr rtlCol="0" anchor="ctr" wrap="square" lIns="137160" rIns="137160" tIns="73152" bIns="73152">
            <a:noAutofit/>
          </a:bodyPr>
          <a:lstStyle/>
          <a:p>
            <a:pPr algn="l">
              <a:spcBef>
                <a:spcPts val="0"/>
              </a:spcBef>
              <a:spcAft>
                <a:spcPts val="0"/>
              </a:spcAft>
            </a:pPr>
            <a:r>
              <a:rPr lang="tr-TR" sz="1650" b="0" i="0">
                <a:solidFill>
                  <a:srgbClr val="262626"/>
                </a:solidFill>
                <a:latin typeface="Calibri"/>
              </a:rPr>
              <a:t>Su kaynağı sağlar; su kaynakları bazı sanayi tesislerinin kurulmasına zemin hazırlar (s. 175).</a:t>
            </a:r>
          </a:p>
        </p:txBody>
      </p:sp>
      <p:sp>
        <p:nvSpPr>
          <p:cNvPr id="16" name="Oval 15"/>
          <p:cNvSpPr/>
          <p:nvPr/>
        </p:nvSpPr>
        <p:spPr>
          <a:xfrm>
            <a:off x="6233007" y="2029460"/>
            <a:ext cx="347472" cy="347472"/>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1</a:t>
            </a:r>
          </a:p>
        </p:txBody>
      </p:sp>
      <p:sp>
        <p:nvSpPr>
          <p:cNvPr id="17" name="TextBox 16"/>
          <p:cNvSpPr txBox="1"/>
          <p:nvPr/>
        </p:nvSpPr>
        <p:spPr>
          <a:xfrm>
            <a:off x="6644487" y="2011680"/>
            <a:ext cx="5044287" cy="383032"/>
          </a:xfrm>
          <a:prstGeom prst="rect">
            <a:avLst/>
          </a:prstGeom>
          <a:noFill/>
        </p:spPr>
        <p:txBody>
          <a:bodyPr wrap="square" anchor="ctr" lIns="73152" rIns="73152" tIns="36576" bIns="36576">
            <a:noAutofit/>
          </a:bodyPr>
          <a:lstStyle/>
          <a:p>
            <a:pPr algn="l">
              <a:spcBef>
                <a:spcPts val="0"/>
              </a:spcBef>
              <a:spcAft>
                <a:spcPts val="0"/>
              </a:spcAft>
            </a:pPr>
            <a:r>
              <a:rPr lang="tr-TR" sz="1600" b="1" i="0">
                <a:solidFill>
                  <a:srgbClr val="262626"/>
                </a:solidFill>
                <a:latin typeface="Calibri"/>
              </a:rPr>
              <a:t>TEKNOSAB neden bu kavşak noktasında kurulmuş?</a:t>
            </a:r>
          </a:p>
        </p:txBody>
      </p:sp>
      <p:sp>
        <p:nvSpPr>
          <p:cNvPr id="18" name="Rounded Rectangle 17"/>
          <p:cNvSpPr/>
          <p:nvPr/>
        </p:nvSpPr>
        <p:spPr>
          <a:xfrm>
            <a:off x="6644487" y="2467864"/>
            <a:ext cx="5044287" cy="1012046"/>
          </a:xfrm>
          <a:prstGeom prst="roundRect">
            <a:avLst>
              <a:gd name="adj" fmla="val 8000"/>
            </a:avLst>
          </a:prstGeom>
          <a:solidFill>
            <a:srgbClr val="E3F1E4"/>
          </a:solidFill>
          <a:ln w="12700">
            <a:solidFill>
              <a:srgbClr val="2E7D32"/>
            </a:solidFill>
          </a:ln>
          <a:effectLst/>
        </p:spPr>
        <p:txBody>
          <a:bodyPr rtlCol="0" anchor="ctr" wrap="square" lIns="137160" rIns="137160" tIns="73152" bIns="73152">
            <a:noAutofit/>
          </a:bodyPr>
          <a:lstStyle/>
          <a:p>
            <a:pPr algn="l">
              <a:spcBef>
                <a:spcPts val="0"/>
              </a:spcBef>
              <a:spcAft>
                <a:spcPts val="0"/>
              </a:spcAft>
            </a:pPr>
            <a:r>
              <a:rPr lang="tr-TR" sz="1500" b="0" i="0">
                <a:solidFill>
                  <a:srgbClr val="262626"/>
                </a:solidFill>
                <a:latin typeface="Calibri"/>
              </a:rPr>
              <a:t>Kuzeyde otoyol, güneyde kara yolu; Gemlik (50 km) ve Bandırma (74 km) limanları yakın: ham madde ve ürün kolay taşınır.</a:t>
            </a:r>
          </a:p>
        </p:txBody>
      </p:sp>
      <p:sp>
        <p:nvSpPr>
          <p:cNvPr id="19" name="Oval 18"/>
          <p:cNvSpPr/>
          <p:nvPr/>
        </p:nvSpPr>
        <p:spPr>
          <a:xfrm>
            <a:off x="6233007" y="3694794"/>
            <a:ext cx="347472" cy="347472"/>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2</a:t>
            </a:r>
          </a:p>
        </p:txBody>
      </p:sp>
      <p:sp>
        <p:nvSpPr>
          <p:cNvPr id="20" name="TextBox 19"/>
          <p:cNvSpPr txBox="1"/>
          <p:nvPr/>
        </p:nvSpPr>
        <p:spPr>
          <a:xfrm>
            <a:off x="6644487" y="3553062"/>
            <a:ext cx="5044287" cy="630936"/>
          </a:xfrm>
          <a:prstGeom prst="rect">
            <a:avLst/>
          </a:prstGeom>
          <a:noFill/>
        </p:spPr>
        <p:txBody>
          <a:bodyPr wrap="square" anchor="ctr" lIns="73152" rIns="73152" tIns="36576" bIns="36576">
            <a:noAutofit/>
          </a:bodyPr>
          <a:lstStyle/>
          <a:p>
            <a:pPr algn="l">
              <a:spcBef>
                <a:spcPts val="0"/>
              </a:spcBef>
              <a:spcAft>
                <a:spcPts val="0"/>
              </a:spcAft>
            </a:pPr>
            <a:r>
              <a:rPr lang="tr-TR" sz="1600" b="1" i="0">
                <a:solidFill>
                  <a:srgbClr val="262626"/>
                </a:solidFill>
                <a:latin typeface="Calibri"/>
              </a:rPr>
              <a:t>Bursa'nın nüfusu ve sanayi sektörleri TEKNOSAB'ı nasıl etkiler?</a:t>
            </a:r>
          </a:p>
        </p:txBody>
      </p:sp>
      <p:sp>
        <p:nvSpPr>
          <p:cNvPr id="21" name="Rounded Rectangle 20"/>
          <p:cNvSpPr/>
          <p:nvPr/>
        </p:nvSpPr>
        <p:spPr>
          <a:xfrm>
            <a:off x="6644487" y="4257150"/>
            <a:ext cx="5044287" cy="752292"/>
          </a:xfrm>
          <a:prstGeom prst="roundRect">
            <a:avLst>
              <a:gd name="adj" fmla="val 8000"/>
            </a:avLst>
          </a:prstGeom>
          <a:solidFill>
            <a:srgbClr val="E3F1E4"/>
          </a:solidFill>
          <a:ln w="12700">
            <a:solidFill>
              <a:srgbClr val="2E7D32"/>
            </a:solidFill>
          </a:ln>
          <a:effectLst/>
        </p:spPr>
        <p:txBody>
          <a:bodyPr rtlCol="0" anchor="ctr" wrap="square" lIns="137160" rIns="137160" tIns="73152" bIns="73152">
            <a:noAutofit/>
          </a:bodyPr>
          <a:lstStyle/>
          <a:p>
            <a:pPr algn="l">
              <a:spcBef>
                <a:spcPts val="0"/>
              </a:spcBef>
              <a:spcAft>
                <a:spcPts val="0"/>
              </a:spcAft>
            </a:pPr>
            <a:r>
              <a:rPr lang="tr-TR" sz="1500" b="0" i="0">
                <a:solidFill>
                  <a:srgbClr val="262626"/>
                </a:solidFill>
                <a:latin typeface="Calibri"/>
              </a:rPr>
              <a:t>≈ 3,24 milyon nüfus (2024 TÜİK) iş gücü ve pazar sağlar; otomotiv, tekstil, makine-metal sektörleri sanayi birikimidir.</a:t>
            </a:r>
          </a:p>
        </p:txBody>
      </p:sp>
      <p:sp>
        <p:nvSpPr>
          <p:cNvPr id="22" name="Oval 21"/>
          <p:cNvSpPr/>
          <p:nvPr/>
        </p:nvSpPr>
        <p:spPr>
          <a:xfrm>
            <a:off x="6233007" y="5100374"/>
            <a:ext cx="347472" cy="347472"/>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3</a:t>
            </a:r>
          </a:p>
        </p:txBody>
      </p:sp>
      <p:sp>
        <p:nvSpPr>
          <p:cNvPr id="23" name="TextBox 22"/>
          <p:cNvSpPr txBox="1"/>
          <p:nvPr/>
        </p:nvSpPr>
        <p:spPr>
          <a:xfrm>
            <a:off x="6644487" y="5082594"/>
            <a:ext cx="5044287" cy="383032"/>
          </a:xfrm>
          <a:prstGeom prst="rect">
            <a:avLst/>
          </a:prstGeom>
          <a:noFill/>
        </p:spPr>
        <p:txBody>
          <a:bodyPr wrap="square" anchor="ctr" lIns="73152" rIns="73152" tIns="36576" bIns="36576">
            <a:noAutofit/>
          </a:bodyPr>
          <a:lstStyle/>
          <a:p>
            <a:pPr algn="l">
              <a:spcBef>
                <a:spcPts val="0"/>
              </a:spcBef>
              <a:spcAft>
                <a:spcPts val="0"/>
              </a:spcAft>
            </a:pPr>
            <a:r>
              <a:rPr lang="tr-TR" sz="1600" b="1" i="0">
                <a:solidFill>
                  <a:srgbClr val="262626"/>
                </a:solidFill>
                <a:latin typeface="Calibri"/>
              </a:rPr>
              <a:t>TEKNOSAB'ın kuruluşu ne zaman başladı?</a:t>
            </a:r>
          </a:p>
        </p:txBody>
      </p:sp>
      <p:sp>
        <p:nvSpPr>
          <p:cNvPr id="24" name="Rounded Rectangle 23"/>
          <p:cNvSpPr/>
          <p:nvPr/>
        </p:nvSpPr>
        <p:spPr>
          <a:xfrm>
            <a:off x="6644487" y="5538778"/>
            <a:ext cx="5044287" cy="752292"/>
          </a:xfrm>
          <a:prstGeom prst="roundRect">
            <a:avLst>
              <a:gd name="adj" fmla="val 8000"/>
            </a:avLst>
          </a:prstGeom>
          <a:solidFill>
            <a:srgbClr val="E3F1E4"/>
          </a:solidFill>
          <a:ln w="12700">
            <a:solidFill>
              <a:srgbClr val="2E7D32"/>
            </a:solidFill>
          </a:ln>
          <a:effectLst/>
        </p:spPr>
        <p:txBody>
          <a:bodyPr rtlCol="0" anchor="ctr" wrap="square" lIns="137160" rIns="137160" tIns="73152" bIns="73152">
            <a:noAutofit/>
          </a:bodyPr>
          <a:lstStyle/>
          <a:p>
            <a:pPr algn="l">
              <a:spcBef>
                <a:spcPts val="0"/>
              </a:spcBef>
              <a:spcAft>
                <a:spcPts val="0"/>
              </a:spcAft>
            </a:pPr>
            <a:r>
              <a:rPr lang="tr-TR" sz="1500" b="0" i="0">
                <a:solidFill>
                  <a:srgbClr val="262626"/>
                </a:solidFill>
                <a:latin typeface="Calibri"/>
              </a:rPr>
              <a:t>Metinde yok (“kurulması planlanan” der): e-içerikte ya da güvenilir bir kaynakta aranır (4. adımda “eksik”).</a:t>
            </a:r>
          </a:p>
        </p:txBody>
      </p:sp>
      <p:sp>
        <p:nvSpPr>
          <p:cNvPr id="25" name="TextBox 24"/>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26" name="Rounded Rectangle 25"/>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180-181</a:t>
            </a:r>
          </a:p>
        </p:txBody>
      </p:sp>
      <p:sp>
        <p:nvSpPr>
          <p:cNvPr id="27" name="TextBox 26"/>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103 / 166</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Adım 7: TEKNOSAB çevresini nasıl değiştirir?</a:t>
            </a:r>
          </a:p>
        </p:txBody>
      </p:sp>
      <p:sp>
        <p:nvSpPr>
          <p:cNvPr id="5" name="Rounded Rectangle 4"/>
          <p:cNvSpPr/>
          <p:nvPr/>
        </p:nvSpPr>
        <p:spPr>
          <a:xfrm>
            <a:off x="9555480" y="201168"/>
            <a:ext cx="2221992" cy="475488"/>
          </a:xfrm>
          <a:prstGeom prst="roundRect">
            <a:avLst>
              <a:gd name="adj" fmla="val 50000"/>
            </a:avLst>
          </a:prstGeom>
          <a:solidFill>
            <a:srgbClr val="B85C1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ADIM 7</a:t>
            </a:r>
          </a:p>
        </p:txBody>
      </p:sp>
      <p:sp>
        <p:nvSpPr>
          <p:cNvPr id="6" name="Rounded Rectangle 5"/>
          <p:cNvSpPr/>
          <p:nvPr/>
        </p:nvSpPr>
        <p:spPr>
          <a:xfrm>
            <a:off x="502920" y="1216152"/>
            <a:ext cx="11185855" cy="914400"/>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2100" b="1" i="0">
                <a:solidFill>
                  <a:srgbClr val="262626"/>
                </a:solidFill>
                <a:latin typeface="Calibri"/>
              </a:rPr>
              <a:t>7. Adım: TEKNOSAB’da yürütülen ekonomik faaliyetlerin TEKNOSAB’ın kurulduğu yer ile çevresindeki doğal ve beşerî ortamları nasıl değiştireceğine ilişkin görüşlerinizi yazınız.</a:t>
            </a:r>
          </a:p>
        </p:txBody>
      </p:sp>
      <p:sp>
        <p:nvSpPr>
          <p:cNvPr id="7" name="Rounded Rectangle 6"/>
          <p:cNvSpPr/>
          <p:nvPr/>
        </p:nvSpPr>
        <p:spPr>
          <a:xfrm>
            <a:off x="502920" y="2313432"/>
            <a:ext cx="5501487" cy="3246121"/>
          </a:xfrm>
          <a:prstGeom prst="roundRect">
            <a:avLst>
              <a:gd name="adj" fmla="val 5000"/>
            </a:avLst>
          </a:prstGeom>
          <a:solidFill>
            <a:srgbClr val="FFFFFF"/>
          </a:solidFill>
          <a:ln>
            <a:noFill/>
          </a:ln>
          <a:effectLst/>
        </p:spPr>
        <p:txBody>
          <a:bodyPr rtlCol="0" anchor="ctr"/>
          <a:lstStyle/>
          <a:p/>
        </p:txBody>
      </p:sp>
      <p:sp>
        <p:nvSpPr>
          <p:cNvPr id="8" name="Rounded Rectangle 7"/>
          <p:cNvSpPr/>
          <p:nvPr/>
        </p:nvSpPr>
        <p:spPr>
          <a:xfrm>
            <a:off x="502920" y="2313432"/>
            <a:ext cx="5501487" cy="685800"/>
          </a:xfrm>
          <a:prstGeom prst="roundRect">
            <a:avLst>
              <a:gd name="adj" fmla="val 25000"/>
            </a:avLst>
          </a:prstGeom>
          <a:solidFill>
            <a:srgbClr val="3E8E41"/>
          </a:solidFill>
          <a:ln>
            <a:noFill/>
          </a:ln>
          <a:effectLst/>
        </p:spPr>
        <p:txBody>
          <a:bodyPr rtlCol="0" anchor="ctr"/>
          <a:lstStyle/>
          <a:p/>
        </p:txBody>
      </p:sp>
      <p:sp>
        <p:nvSpPr>
          <p:cNvPr id="9" name="Rectangle 8"/>
          <p:cNvSpPr/>
          <p:nvPr/>
        </p:nvSpPr>
        <p:spPr>
          <a:xfrm>
            <a:off x="502920" y="2656332"/>
            <a:ext cx="5501487" cy="342900"/>
          </a:xfrm>
          <a:prstGeom prst="rect">
            <a:avLst/>
          </a:prstGeom>
          <a:solidFill>
            <a:srgbClr val="3E8E41"/>
          </a:solidFill>
          <a:ln>
            <a:noFill/>
          </a:ln>
          <a:effectLst/>
        </p:spPr>
        <p:txBody>
          <a:bodyPr rtlCol="0" anchor="ctr"/>
          <a:lstStyle/>
          <a:p/>
        </p:txBody>
      </p:sp>
      <p:sp>
        <p:nvSpPr>
          <p:cNvPr id="10" name="TextBox 9"/>
          <p:cNvSpPr txBox="1"/>
          <p:nvPr/>
        </p:nvSpPr>
        <p:spPr>
          <a:xfrm>
            <a:off x="594360" y="2313432"/>
            <a:ext cx="5318607" cy="685800"/>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Doğal ortam nasıl değişir?</a:t>
            </a:r>
          </a:p>
        </p:txBody>
      </p:sp>
      <p:sp>
        <p:nvSpPr>
          <p:cNvPr id="11" name="Rounded Rectangle 10"/>
          <p:cNvSpPr/>
          <p:nvPr/>
        </p:nvSpPr>
        <p:spPr>
          <a:xfrm>
            <a:off x="502920" y="2313432"/>
            <a:ext cx="5501487" cy="3246121"/>
          </a:xfrm>
          <a:prstGeom prst="roundRect">
            <a:avLst>
              <a:gd name="adj" fmla="val 5000"/>
            </a:avLst>
          </a:prstGeom>
          <a:noFill/>
          <a:ln w="12700">
            <a:solidFill>
              <a:srgbClr val="D9D9D9"/>
            </a:solidFill>
          </a:ln>
          <a:effectLst/>
        </p:spPr>
        <p:txBody>
          <a:bodyPr rtlCol="0" anchor="ctr"/>
          <a:lstStyle/>
          <a:p/>
        </p:txBody>
      </p:sp>
      <p:cxnSp>
        <p:nvCxnSpPr>
          <p:cNvPr id="12" name="Connector 11"/>
          <p:cNvCxnSpPr/>
          <p:nvPr/>
        </p:nvCxnSpPr>
        <p:spPr>
          <a:xfrm>
            <a:off x="685800" y="3639312"/>
            <a:ext cx="5135727" cy="0"/>
          </a:xfrm>
          <a:prstGeom prst="line">
            <a:avLst/>
          </a:prstGeom>
          <a:ln w="12700">
            <a:solidFill>
              <a:srgbClr val="D9D9D9"/>
            </a:solidFill>
            <a:prstDash val="dash"/>
          </a:ln>
        </p:spPr>
      </p:cxnSp>
      <p:cxnSp>
        <p:nvCxnSpPr>
          <p:cNvPr id="13" name="Connector 12"/>
          <p:cNvCxnSpPr/>
          <p:nvPr/>
        </p:nvCxnSpPr>
        <p:spPr>
          <a:xfrm>
            <a:off x="685800" y="4279392"/>
            <a:ext cx="5135727" cy="0"/>
          </a:xfrm>
          <a:prstGeom prst="line">
            <a:avLst/>
          </a:prstGeom>
          <a:ln w="12700">
            <a:solidFill>
              <a:srgbClr val="D9D9D9"/>
            </a:solidFill>
            <a:prstDash val="dash"/>
          </a:ln>
        </p:spPr>
      </p:cxnSp>
      <p:cxnSp>
        <p:nvCxnSpPr>
          <p:cNvPr id="14" name="Connector 13"/>
          <p:cNvCxnSpPr/>
          <p:nvPr/>
        </p:nvCxnSpPr>
        <p:spPr>
          <a:xfrm>
            <a:off x="685800" y="4919472"/>
            <a:ext cx="5135727" cy="0"/>
          </a:xfrm>
          <a:prstGeom prst="line">
            <a:avLst/>
          </a:prstGeom>
          <a:ln w="12700">
            <a:solidFill>
              <a:srgbClr val="D9D9D9"/>
            </a:solidFill>
            <a:prstDash val="dash"/>
          </a:ln>
        </p:spPr>
      </p:cxnSp>
      <p:sp>
        <p:nvSpPr>
          <p:cNvPr id="15" name="Rounded Rectangle 14"/>
          <p:cNvSpPr/>
          <p:nvPr/>
        </p:nvSpPr>
        <p:spPr>
          <a:xfrm>
            <a:off x="6187287" y="2313432"/>
            <a:ext cx="5501487" cy="3246121"/>
          </a:xfrm>
          <a:prstGeom prst="roundRect">
            <a:avLst>
              <a:gd name="adj" fmla="val 5000"/>
            </a:avLst>
          </a:prstGeom>
          <a:solidFill>
            <a:srgbClr val="FFFFFF"/>
          </a:solidFill>
          <a:ln>
            <a:noFill/>
          </a:ln>
          <a:effectLst/>
        </p:spPr>
        <p:txBody>
          <a:bodyPr rtlCol="0" anchor="ctr"/>
          <a:lstStyle/>
          <a:p/>
        </p:txBody>
      </p:sp>
      <p:sp>
        <p:nvSpPr>
          <p:cNvPr id="16" name="Rounded Rectangle 15"/>
          <p:cNvSpPr/>
          <p:nvPr/>
        </p:nvSpPr>
        <p:spPr>
          <a:xfrm>
            <a:off x="6187287" y="2313432"/>
            <a:ext cx="5501487" cy="685800"/>
          </a:xfrm>
          <a:prstGeom prst="roundRect">
            <a:avLst>
              <a:gd name="adj" fmla="val 25000"/>
            </a:avLst>
          </a:prstGeom>
          <a:solidFill>
            <a:srgbClr val="2C6696"/>
          </a:solidFill>
          <a:ln>
            <a:noFill/>
          </a:ln>
          <a:effectLst/>
        </p:spPr>
        <p:txBody>
          <a:bodyPr rtlCol="0" anchor="ctr"/>
          <a:lstStyle/>
          <a:p/>
        </p:txBody>
      </p:sp>
      <p:sp>
        <p:nvSpPr>
          <p:cNvPr id="17" name="Rectangle 16"/>
          <p:cNvSpPr/>
          <p:nvPr/>
        </p:nvSpPr>
        <p:spPr>
          <a:xfrm>
            <a:off x="6187287" y="2656332"/>
            <a:ext cx="5501487" cy="342900"/>
          </a:xfrm>
          <a:prstGeom prst="rect">
            <a:avLst/>
          </a:prstGeom>
          <a:solidFill>
            <a:srgbClr val="2C6696"/>
          </a:solidFill>
          <a:ln>
            <a:noFill/>
          </a:ln>
          <a:effectLst/>
        </p:spPr>
        <p:txBody>
          <a:bodyPr rtlCol="0" anchor="ctr"/>
          <a:lstStyle/>
          <a:p/>
        </p:txBody>
      </p:sp>
      <p:sp>
        <p:nvSpPr>
          <p:cNvPr id="18" name="TextBox 17"/>
          <p:cNvSpPr txBox="1"/>
          <p:nvPr/>
        </p:nvSpPr>
        <p:spPr>
          <a:xfrm>
            <a:off x="6278727" y="2313432"/>
            <a:ext cx="5318607" cy="685800"/>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Beşerî ortam nasıl değişir?</a:t>
            </a:r>
          </a:p>
        </p:txBody>
      </p:sp>
      <p:sp>
        <p:nvSpPr>
          <p:cNvPr id="19" name="Rounded Rectangle 18"/>
          <p:cNvSpPr/>
          <p:nvPr/>
        </p:nvSpPr>
        <p:spPr>
          <a:xfrm>
            <a:off x="6187287" y="2313432"/>
            <a:ext cx="5501487" cy="3246121"/>
          </a:xfrm>
          <a:prstGeom prst="roundRect">
            <a:avLst>
              <a:gd name="adj" fmla="val 5000"/>
            </a:avLst>
          </a:prstGeom>
          <a:noFill/>
          <a:ln w="12700">
            <a:solidFill>
              <a:srgbClr val="D9D9D9"/>
            </a:solidFill>
          </a:ln>
          <a:effectLst/>
        </p:spPr>
        <p:txBody>
          <a:bodyPr rtlCol="0" anchor="ctr"/>
          <a:lstStyle/>
          <a:p/>
        </p:txBody>
      </p:sp>
      <p:cxnSp>
        <p:nvCxnSpPr>
          <p:cNvPr id="20" name="Connector 19"/>
          <p:cNvCxnSpPr/>
          <p:nvPr/>
        </p:nvCxnSpPr>
        <p:spPr>
          <a:xfrm>
            <a:off x="6370167" y="3639312"/>
            <a:ext cx="5135727" cy="0"/>
          </a:xfrm>
          <a:prstGeom prst="line">
            <a:avLst/>
          </a:prstGeom>
          <a:ln w="12700">
            <a:solidFill>
              <a:srgbClr val="D9D9D9"/>
            </a:solidFill>
            <a:prstDash val="dash"/>
          </a:ln>
        </p:spPr>
      </p:cxnSp>
      <p:cxnSp>
        <p:nvCxnSpPr>
          <p:cNvPr id="21" name="Connector 20"/>
          <p:cNvCxnSpPr/>
          <p:nvPr/>
        </p:nvCxnSpPr>
        <p:spPr>
          <a:xfrm>
            <a:off x="6370167" y="4279392"/>
            <a:ext cx="5135727" cy="0"/>
          </a:xfrm>
          <a:prstGeom prst="line">
            <a:avLst/>
          </a:prstGeom>
          <a:ln w="12700">
            <a:solidFill>
              <a:srgbClr val="D9D9D9"/>
            </a:solidFill>
            <a:prstDash val="dash"/>
          </a:ln>
        </p:spPr>
      </p:cxnSp>
      <p:cxnSp>
        <p:nvCxnSpPr>
          <p:cNvPr id="22" name="Connector 21"/>
          <p:cNvCxnSpPr/>
          <p:nvPr/>
        </p:nvCxnSpPr>
        <p:spPr>
          <a:xfrm>
            <a:off x="6370167" y="4919472"/>
            <a:ext cx="5135727" cy="0"/>
          </a:xfrm>
          <a:prstGeom prst="line">
            <a:avLst/>
          </a:prstGeom>
          <a:ln w="12700">
            <a:solidFill>
              <a:srgbClr val="D9D9D9"/>
            </a:solidFill>
            <a:prstDash val="dash"/>
          </a:ln>
        </p:spPr>
      </p:cxnSp>
      <p:sp>
        <p:nvSpPr>
          <p:cNvPr id="23" name="Rounded Rectangle 22"/>
          <p:cNvSpPr/>
          <p:nvPr/>
        </p:nvSpPr>
        <p:spPr>
          <a:xfrm>
            <a:off x="502920" y="5696712"/>
            <a:ext cx="11185855" cy="594360"/>
          </a:xfrm>
          <a:prstGeom prst="roundRect">
            <a:avLst>
              <a:gd name="adj" fmla="val 8000"/>
            </a:avLst>
          </a:prstGeom>
          <a:solidFill>
            <a:srgbClr val="FFF3D1"/>
          </a:solidFill>
          <a:ln>
            <a:noFill/>
          </a:ln>
          <a:effectLst/>
        </p:spPr>
        <p:txBody>
          <a:bodyPr rtlCol="0" anchor="ctr" wrap="square" lIns="201168" rIns="201168" tIns="73152" bIns="73152">
            <a:noAutofit/>
          </a:bodyPr>
          <a:lstStyle/>
          <a:p>
            <a:pPr algn="ctr">
              <a:spcBef>
                <a:spcPts val="0"/>
              </a:spcBef>
              <a:spcAft>
                <a:spcPts val="0"/>
              </a:spcAft>
            </a:pPr>
            <a:r>
              <a:rPr lang="tr-TR" sz="1900" b="1" i="0">
                <a:solidFill>
                  <a:srgbClr val="262626"/>
                </a:solidFill>
                <a:latin typeface="Calibri"/>
              </a:rPr>
              <a:t>İpucu:</a:t>
            </a:r>
            <a:r>
              <a:rPr lang="tr-TR" sz="1900" b="0" i="0">
                <a:solidFill>
                  <a:srgbClr val="262626"/>
                </a:solidFill>
                <a:latin typeface="Calibri"/>
              </a:rPr>
              <a:t> “Yerli, yenilikçi ve yeşil” ilkesi · yenilenebilir enerji · olumlu ve olumsuz yönler</a:t>
            </a:r>
          </a:p>
        </p:txBody>
      </p:sp>
      <p:sp>
        <p:nvSpPr>
          <p:cNvPr id="24" name="TextBox 23"/>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25" name="Rounded Rectangle 24"/>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180-181</a:t>
            </a:r>
          </a:p>
        </p:txBody>
      </p:sp>
      <p:sp>
        <p:nvSpPr>
          <p:cNvPr id="26" name="TextBox 25"/>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104 / 166</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Adım 7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Rounded Rectangle 5"/>
          <p:cNvSpPr/>
          <p:nvPr/>
        </p:nvSpPr>
        <p:spPr>
          <a:xfrm>
            <a:off x="502920" y="1216152"/>
            <a:ext cx="5455767" cy="4251960"/>
          </a:xfrm>
          <a:prstGeom prst="roundRect">
            <a:avLst>
              <a:gd name="adj" fmla="val 6000"/>
            </a:avLst>
          </a:prstGeom>
          <a:solidFill>
            <a:srgbClr val="E3ECF5"/>
          </a:solidFill>
          <a:ln>
            <a:noFill/>
          </a:ln>
          <a:effectLst/>
        </p:spPr>
        <p:txBody>
          <a:bodyPr rtlCol="0" anchor="ctr"/>
          <a:lstStyle/>
          <a:p/>
        </p:txBody>
      </p:sp>
      <p:sp>
        <p:nvSpPr>
          <p:cNvPr id="7" name="Rectangle 6"/>
          <p:cNvSpPr/>
          <p:nvPr/>
        </p:nvSpPr>
        <p:spPr>
          <a:xfrm>
            <a:off x="502920" y="1216152"/>
            <a:ext cx="109728" cy="4251960"/>
          </a:xfrm>
          <a:prstGeom prst="rect">
            <a:avLst/>
          </a:prstGeom>
          <a:solidFill>
            <a:srgbClr val="2C6696"/>
          </a:solidFill>
          <a:ln>
            <a:noFill/>
          </a:ln>
          <a:effectLst/>
        </p:spPr>
        <p:txBody>
          <a:bodyPr rtlCol="0" anchor="ctr"/>
          <a:lstStyle/>
          <a:p/>
        </p:txBody>
      </p:sp>
      <p:sp>
        <p:nvSpPr>
          <p:cNvPr id="8" name="TextBox 7"/>
          <p:cNvSpPr txBox="1"/>
          <p:nvPr/>
        </p:nvSpPr>
        <p:spPr>
          <a:xfrm>
            <a:off x="731520" y="1271016"/>
            <a:ext cx="5135727" cy="4142232"/>
          </a:xfrm>
          <a:prstGeom prst="rect">
            <a:avLst/>
          </a:prstGeom>
          <a:noFill/>
        </p:spPr>
        <p:txBody>
          <a:bodyPr wrap="square" anchor="ctr" lIns="73152" rIns="73152" tIns="36576" bIns="36576">
            <a:noAutofit/>
          </a:bodyPr>
          <a:lstStyle/>
          <a:p>
            <a:pPr algn="l">
              <a:spcBef>
                <a:spcPts val="0"/>
              </a:spcBef>
              <a:spcAft>
                <a:spcPts val="400"/>
              </a:spcAft>
            </a:pPr>
            <a:r>
              <a:rPr lang="tr-TR" sz="2400" b="1" i="0">
                <a:solidFill>
                  <a:srgbClr val="2C6696"/>
                </a:solidFill>
                <a:latin typeface="Calibri"/>
              </a:rPr>
              <a:t>Beşerî ortam</a:t>
            </a:r>
          </a:p>
          <a:p>
            <a:pPr algn="l" marL="298344" indent="-298344">
              <a:spcBef>
                <a:spcPts val="0"/>
              </a:spcBef>
              <a:spcAft>
                <a:spcPts val="500"/>
              </a:spcAft>
            </a:pPr>
            <a:r>
              <a:rPr lang="tr-TR" sz="2400" b="1" i="0">
                <a:solidFill>
                  <a:srgbClr val="2C6696"/>
                </a:solidFill>
                <a:latin typeface="Calibri"/>
              </a:rPr>
              <a:t>•  </a:t>
            </a:r>
            <a:r>
              <a:rPr lang="tr-TR" sz="2400" b="0" i="0">
                <a:solidFill>
                  <a:srgbClr val="262626"/>
                </a:solidFill>
                <a:latin typeface="Calibri"/>
              </a:rPr>
              <a:t>Yeni iş olanakları → çevreden göç, nüfus artışı</a:t>
            </a:r>
          </a:p>
          <a:p>
            <a:pPr algn="l" marL="298344" indent="-298344">
              <a:spcBef>
                <a:spcPts val="0"/>
              </a:spcBef>
              <a:spcAft>
                <a:spcPts val="500"/>
              </a:spcAft>
            </a:pPr>
            <a:r>
              <a:rPr lang="tr-TR" sz="2400" b="1" i="0">
                <a:solidFill>
                  <a:srgbClr val="2C6696"/>
                </a:solidFill>
                <a:latin typeface="Calibri"/>
              </a:rPr>
              <a:t>•  </a:t>
            </a:r>
            <a:r>
              <a:rPr lang="tr-TR" sz="2400" b="0" i="0">
                <a:solidFill>
                  <a:srgbClr val="262626"/>
                </a:solidFill>
                <a:latin typeface="Calibri"/>
              </a:rPr>
              <a:t>Konut, okul, sağlık ve ulaşım ihtiyacı artar</a:t>
            </a:r>
          </a:p>
          <a:p>
            <a:pPr algn="l" marL="298344" indent="-298344">
              <a:spcBef>
                <a:spcPts val="0"/>
              </a:spcBef>
              <a:spcAft>
                <a:spcPts val="500"/>
              </a:spcAft>
            </a:pPr>
            <a:r>
              <a:rPr lang="tr-TR" sz="2400" b="1" i="0">
                <a:solidFill>
                  <a:srgbClr val="2C6696"/>
                </a:solidFill>
                <a:latin typeface="Calibri"/>
              </a:rPr>
              <a:t>•  </a:t>
            </a:r>
            <a:r>
              <a:rPr lang="tr-TR" sz="2400" b="0" i="0">
                <a:solidFill>
                  <a:srgbClr val="262626"/>
                </a:solidFill>
                <a:latin typeface="Calibri"/>
              </a:rPr>
              <a:t>Yeni yollar, demir yolu ve liman bağlantıları</a:t>
            </a:r>
          </a:p>
          <a:p>
            <a:pPr algn="l" marL="298344" indent="-298344">
              <a:spcBef>
                <a:spcPts val="0"/>
              </a:spcBef>
              <a:spcAft>
                <a:spcPts val="0"/>
              </a:spcAft>
            </a:pPr>
            <a:r>
              <a:rPr lang="tr-TR" sz="2400" b="1" i="0">
                <a:solidFill>
                  <a:srgbClr val="2C6696"/>
                </a:solidFill>
                <a:latin typeface="Calibri"/>
              </a:rPr>
              <a:t>•  </a:t>
            </a:r>
            <a:r>
              <a:rPr lang="tr-TR" sz="2400" b="0" i="0">
                <a:solidFill>
                  <a:srgbClr val="262626"/>
                </a:solidFill>
                <a:latin typeface="Calibri"/>
              </a:rPr>
              <a:t>Ticaret ve hizmetler gelişir</a:t>
            </a:r>
          </a:p>
        </p:txBody>
      </p:sp>
      <p:sp>
        <p:nvSpPr>
          <p:cNvPr id="9" name="Rounded Rectangle 8"/>
          <p:cNvSpPr/>
          <p:nvPr/>
        </p:nvSpPr>
        <p:spPr>
          <a:xfrm>
            <a:off x="6233007" y="1216152"/>
            <a:ext cx="5455767" cy="4251960"/>
          </a:xfrm>
          <a:prstGeom prst="roundRect">
            <a:avLst>
              <a:gd name="adj" fmla="val 6000"/>
            </a:avLst>
          </a:prstGeom>
          <a:solidFill>
            <a:srgbClr val="E3F1E4"/>
          </a:solidFill>
          <a:ln>
            <a:noFill/>
          </a:ln>
          <a:effectLst/>
        </p:spPr>
        <p:txBody>
          <a:bodyPr rtlCol="0" anchor="ctr"/>
          <a:lstStyle/>
          <a:p/>
        </p:txBody>
      </p:sp>
      <p:sp>
        <p:nvSpPr>
          <p:cNvPr id="10" name="Rectangle 9"/>
          <p:cNvSpPr/>
          <p:nvPr/>
        </p:nvSpPr>
        <p:spPr>
          <a:xfrm>
            <a:off x="6233007" y="1216152"/>
            <a:ext cx="109728" cy="4251960"/>
          </a:xfrm>
          <a:prstGeom prst="rect">
            <a:avLst/>
          </a:prstGeom>
          <a:solidFill>
            <a:srgbClr val="3E8E41"/>
          </a:solidFill>
          <a:ln>
            <a:noFill/>
          </a:ln>
          <a:effectLst/>
        </p:spPr>
        <p:txBody>
          <a:bodyPr rtlCol="0" anchor="ctr"/>
          <a:lstStyle/>
          <a:p/>
        </p:txBody>
      </p:sp>
      <p:sp>
        <p:nvSpPr>
          <p:cNvPr id="11" name="TextBox 10"/>
          <p:cNvSpPr txBox="1"/>
          <p:nvPr/>
        </p:nvSpPr>
        <p:spPr>
          <a:xfrm>
            <a:off x="6461607" y="1271016"/>
            <a:ext cx="5135727" cy="4142232"/>
          </a:xfrm>
          <a:prstGeom prst="rect">
            <a:avLst/>
          </a:prstGeom>
          <a:noFill/>
        </p:spPr>
        <p:txBody>
          <a:bodyPr wrap="square" anchor="ctr" lIns="73152" rIns="73152" tIns="36576" bIns="36576">
            <a:noAutofit/>
          </a:bodyPr>
          <a:lstStyle/>
          <a:p>
            <a:pPr algn="l">
              <a:spcBef>
                <a:spcPts val="0"/>
              </a:spcBef>
              <a:spcAft>
                <a:spcPts val="400"/>
              </a:spcAft>
            </a:pPr>
            <a:r>
              <a:rPr lang="tr-TR" sz="2400" b="1" i="0">
                <a:solidFill>
                  <a:srgbClr val="3E8E41"/>
                </a:solidFill>
                <a:latin typeface="Calibri"/>
              </a:rPr>
              <a:t>Doğal ortam</a:t>
            </a:r>
          </a:p>
          <a:p>
            <a:pPr algn="l" marL="298344" indent="-298344">
              <a:spcBef>
                <a:spcPts val="0"/>
              </a:spcBef>
              <a:spcAft>
                <a:spcPts val="500"/>
              </a:spcAft>
            </a:pPr>
            <a:r>
              <a:rPr lang="tr-TR" sz="2400" b="1" i="0">
                <a:solidFill>
                  <a:srgbClr val="2C6696"/>
                </a:solidFill>
                <a:latin typeface="Calibri"/>
              </a:rPr>
              <a:t>•  </a:t>
            </a:r>
            <a:r>
              <a:rPr lang="tr-TR" sz="2400" b="0" i="0">
                <a:solidFill>
                  <a:srgbClr val="262626"/>
                </a:solidFill>
                <a:latin typeface="Calibri"/>
              </a:rPr>
              <a:t>Tarım alanı ve doğal bitki örtüsü azalabilir</a:t>
            </a:r>
          </a:p>
          <a:p>
            <a:pPr algn="l" marL="298344" indent="-298344">
              <a:spcBef>
                <a:spcPts val="0"/>
              </a:spcBef>
              <a:spcAft>
                <a:spcPts val="500"/>
              </a:spcAft>
            </a:pPr>
            <a:r>
              <a:rPr lang="tr-TR" sz="2400" b="1" i="0">
                <a:solidFill>
                  <a:srgbClr val="2C6696"/>
                </a:solidFill>
                <a:latin typeface="Calibri"/>
              </a:rPr>
              <a:t>•  </a:t>
            </a:r>
            <a:r>
              <a:rPr lang="tr-TR" sz="2400" b="0" i="0">
                <a:solidFill>
                  <a:srgbClr val="262626"/>
                </a:solidFill>
                <a:latin typeface="Calibri"/>
              </a:rPr>
              <a:t>Hava, su ve toprak kirliliği riski (Nilüfer Çayı Havzası)</a:t>
            </a:r>
          </a:p>
          <a:p>
            <a:pPr algn="l" marL="298344" indent="-298344">
              <a:spcBef>
                <a:spcPts val="0"/>
              </a:spcBef>
              <a:spcAft>
                <a:spcPts val="0"/>
              </a:spcAft>
            </a:pPr>
            <a:r>
              <a:rPr lang="tr-TR" sz="2400" b="1" i="0">
                <a:solidFill>
                  <a:srgbClr val="2C6696"/>
                </a:solidFill>
                <a:latin typeface="Calibri"/>
              </a:rPr>
              <a:t>•  </a:t>
            </a:r>
            <a:r>
              <a:rPr lang="tr-TR" sz="2400" b="0" i="0">
                <a:solidFill>
                  <a:srgbClr val="262626"/>
                </a:solidFill>
                <a:latin typeface="Calibri"/>
              </a:rPr>
              <a:t>Yenilenebilir enerji ve “yeşil” ilke bu etkileri azaltmayı hedefler</a:t>
            </a:r>
          </a:p>
        </p:txBody>
      </p:sp>
      <p:sp>
        <p:nvSpPr>
          <p:cNvPr id="12" name="Rounded Rectangle 11"/>
          <p:cNvSpPr/>
          <p:nvPr/>
        </p:nvSpPr>
        <p:spPr>
          <a:xfrm>
            <a:off x="502920" y="5605272"/>
            <a:ext cx="11185855" cy="685800"/>
          </a:xfrm>
          <a:prstGeom prst="roundRect">
            <a:avLst>
              <a:gd name="adj" fmla="val 8000"/>
            </a:avLst>
          </a:prstGeom>
          <a:solidFill>
            <a:srgbClr val="E3F1E4"/>
          </a:solidFill>
          <a:ln w="19050">
            <a:solidFill>
              <a:srgbClr val="2E7D32"/>
            </a:solidFill>
          </a:ln>
          <a:effectLst/>
        </p:spPr>
        <p:txBody>
          <a:bodyPr rtlCol="0" anchor="ctr" wrap="square" lIns="201168" rIns="201168" tIns="73152" bIns="73152">
            <a:noAutofit/>
          </a:bodyPr>
          <a:lstStyle/>
          <a:p>
            <a:pPr algn="ctr">
              <a:spcBef>
                <a:spcPts val="0"/>
              </a:spcBef>
              <a:spcAft>
                <a:spcPts val="0"/>
              </a:spcAft>
            </a:pPr>
            <a:r>
              <a:rPr lang="tr-TR" sz="1900" b="1" i="0">
                <a:solidFill>
                  <a:srgbClr val="262626"/>
                </a:solidFill>
                <a:latin typeface="Calibri"/>
              </a:rPr>
              <a:t>Ölçüt:</a:t>
            </a:r>
            <a:r>
              <a:rPr lang="tr-TR" sz="1900" b="0" i="0">
                <a:solidFill>
                  <a:srgbClr val="262626"/>
                </a:solidFill>
                <a:latin typeface="Calibri"/>
              </a:rPr>
              <a:t> iki ortam · olumlu ve olumsuz yön · “olabilir” dili · kitaptan bir kanıt</a:t>
            </a:r>
          </a:p>
        </p:txBody>
      </p:sp>
      <p:sp>
        <p:nvSpPr>
          <p:cNvPr id="13" name="TextBox 1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14" name="Rounded Rectangle 1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180-181</a:t>
            </a:r>
          </a:p>
        </p:txBody>
      </p:sp>
      <p:sp>
        <p:nvSpPr>
          <p:cNvPr id="15" name="TextBox 1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105 / 166</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Adım 8: bulgularımızı paylaşalım</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2 SÖZCÜ · 2 dk</a:t>
            </a:r>
          </a:p>
        </p:txBody>
      </p:sp>
      <p:sp>
        <p:nvSpPr>
          <p:cNvPr id="6" name="Rounded Rectangle 5"/>
          <p:cNvSpPr/>
          <p:nvPr/>
        </p:nvSpPr>
        <p:spPr>
          <a:xfrm>
            <a:off x="502920" y="1216152"/>
            <a:ext cx="11185855" cy="685800"/>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1950" b="1" i="0">
                <a:solidFill>
                  <a:srgbClr val="262626"/>
                </a:solidFill>
                <a:latin typeface="Calibri"/>
              </a:rPr>
              <a:t>8. Adım: Yaptığınız çalışma sonucunda elde ettiğiniz bulguları grup sözcüsü seçerek sınıfta paylaşınız.</a:t>
            </a:r>
          </a:p>
        </p:txBody>
      </p:sp>
      <p:sp>
        <p:nvSpPr>
          <p:cNvPr id="7" name="Rounded Rectangle 6"/>
          <p:cNvSpPr/>
          <p:nvPr/>
        </p:nvSpPr>
        <p:spPr>
          <a:xfrm>
            <a:off x="502920" y="2130552"/>
            <a:ext cx="3454298" cy="1508760"/>
          </a:xfrm>
          <a:prstGeom prst="roundRect">
            <a:avLst>
              <a:gd name="adj" fmla="val 8000"/>
            </a:avLst>
          </a:prstGeom>
          <a:solidFill>
            <a:srgbClr val="FFFFFF"/>
          </a:solidFill>
          <a:ln w="25400">
            <a:solidFill>
              <a:srgbClr val="B85C12"/>
            </a:solidFill>
          </a:ln>
          <a:effectLst/>
        </p:spPr>
        <p:txBody>
          <a:bodyPr rtlCol="0" anchor="ctr" wrap="square" lIns="128016" rIns="128016" tIns="73152" bIns="73152">
            <a:noAutofit/>
          </a:bodyPr>
          <a:lstStyle/>
          <a:p>
            <a:pPr algn="ctr">
              <a:spcBef>
                <a:spcPts val="0"/>
              </a:spcBef>
              <a:spcAft>
                <a:spcPts val="400"/>
              </a:spcAft>
            </a:pPr>
            <a:r>
              <a:rPr lang="tr-TR" sz="2200" b="1" i="0">
                <a:solidFill>
                  <a:srgbClr val="B85C12"/>
                </a:solidFill>
                <a:latin typeface="Calibri"/>
              </a:rPr>
              <a:t>En önemli faktör</a:t>
            </a:r>
          </a:p>
          <a:p>
            <a:pPr algn="ctr">
              <a:spcBef>
                <a:spcPts val="0"/>
              </a:spcBef>
              <a:spcAft>
                <a:spcPts val="0"/>
              </a:spcAft>
            </a:pPr>
            <a:r>
              <a:rPr lang="tr-TR" sz="2200" b="0" i="1">
                <a:solidFill>
                  <a:srgbClr val="767676"/>
                </a:solidFill>
                <a:latin typeface="Calibri"/>
              </a:rPr>
              <a:t>… bence</a:t>
            </a:r>
          </a:p>
        </p:txBody>
      </p:sp>
      <p:cxnSp>
        <p:nvCxnSpPr>
          <p:cNvPr id="8" name="Connector 7"/>
          <p:cNvCxnSpPr/>
          <p:nvPr/>
        </p:nvCxnSpPr>
        <p:spPr>
          <a:xfrm>
            <a:off x="4012082" y="2884932"/>
            <a:ext cx="301752" cy="0"/>
          </a:xfrm>
          <a:prstGeom prst="line">
            <a:avLst/>
          </a:prstGeom>
          <a:ln w="38100">
            <a:solidFill>
              <a:srgbClr val="4F4F4F"/>
            </a:solidFill>
            <a:tailEnd type="triangle" w="med" len="med"/>
          </a:ln>
        </p:spPr>
      </p:cxnSp>
      <p:sp>
        <p:nvSpPr>
          <p:cNvPr id="9" name="Rounded Rectangle 8"/>
          <p:cNvSpPr/>
          <p:nvPr/>
        </p:nvSpPr>
        <p:spPr>
          <a:xfrm>
            <a:off x="4368698" y="2130552"/>
            <a:ext cx="3454298" cy="1508760"/>
          </a:xfrm>
          <a:prstGeom prst="roundRect">
            <a:avLst>
              <a:gd name="adj" fmla="val 8000"/>
            </a:avLst>
          </a:prstGeom>
          <a:solidFill>
            <a:srgbClr val="FFFFFF"/>
          </a:solidFill>
          <a:ln w="25400">
            <a:solidFill>
              <a:srgbClr val="B85C12"/>
            </a:solidFill>
          </a:ln>
          <a:effectLst/>
        </p:spPr>
        <p:txBody>
          <a:bodyPr rtlCol="0" anchor="ctr" wrap="square" lIns="128016" rIns="128016" tIns="73152" bIns="73152">
            <a:noAutofit/>
          </a:bodyPr>
          <a:lstStyle/>
          <a:p>
            <a:pPr algn="ctr">
              <a:spcBef>
                <a:spcPts val="0"/>
              </a:spcBef>
              <a:spcAft>
                <a:spcPts val="400"/>
              </a:spcAft>
            </a:pPr>
            <a:r>
              <a:rPr lang="tr-TR" sz="2200" b="1" i="0">
                <a:solidFill>
                  <a:srgbClr val="B85C12"/>
                </a:solidFill>
                <a:latin typeface="Calibri"/>
              </a:rPr>
              <a:t>Çünkü</a:t>
            </a:r>
          </a:p>
          <a:p>
            <a:pPr algn="ctr">
              <a:spcBef>
                <a:spcPts val="0"/>
              </a:spcBef>
              <a:spcAft>
                <a:spcPts val="0"/>
              </a:spcAft>
            </a:pPr>
            <a:r>
              <a:rPr lang="tr-TR" sz="2200" b="0" i="1">
                <a:solidFill>
                  <a:srgbClr val="767676"/>
                </a:solidFill>
                <a:latin typeface="Calibri"/>
              </a:rPr>
              <a:t>… (kanıt: s. 180)</a:t>
            </a:r>
          </a:p>
        </p:txBody>
      </p:sp>
      <p:cxnSp>
        <p:nvCxnSpPr>
          <p:cNvPr id="10" name="Connector 9"/>
          <p:cNvCxnSpPr/>
          <p:nvPr/>
        </p:nvCxnSpPr>
        <p:spPr>
          <a:xfrm>
            <a:off x="7877860" y="2884932"/>
            <a:ext cx="301752" cy="0"/>
          </a:xfrm>
          <a:prstGeom prst="line">
            <a:avLst/>
          </a:prstGeom>
          <a:ln w="38100">
            <a:solidFill>
              <a:srgbClr val="4F4F4F"/>
            </a:solidFill>
            <a:tailEnd type="triangle" w="med" len="med"/>
          </a:ln>
        </p:spPr>
      </p:cxnSp>
      <p:sp>
        <p:nvSpPr>
          <p:cNvPr id="11" name="Rounded Rectangle 10"/>
          <p:cNvSpPr/>
          <p:nvPr/>
        </p:nvSpPr>
        <p:spPr>
          <a:xfrm>
            <a:off x="8234476" y="2130552"/>
            <a:ext cx="3454298" cy="1508760"/>
          </a:xfrm>
          <a:prstGeom prst="roundRect">
            <a:avLst>
              <a:gd name="adj" fmla="val 8000"/>
            </a:avLst>
          </a:prstGeom>
          <a:solidFill>
            <a:srgbClr val="FFFFFF"/>
          </a:solidFill>
          <a:ln w="25400">
            <a:solidFill>
              <a:srgbClr val="B85C12"/>
            </a:solidFill>
          </a:ln>
          <a:effectLst/>
        </p:spPr>
        <p:txBody>
          <a:bodyPr rtlCol="0" anchor="ctr" wrap="square" lIns="128016" rIns="128016" tIns="73152" bIns="73152">
            <a:noAutofit/>
          </a:bodyPr>
          <a:lstStyle/>
          <a:p>
            <a:pPr algn="ctr">
              <a:spcBef>
                <a:spcPts val="0"/>
              </a:spcBef>
              <a:spcAft>
                <a:spcPts val="400"/>
              </a:spcAft>
            </a:pPr>
            <a:r>
              <a:rPr lang="tr-TR" sz="2200" b="1" i="0">
                <a:solidFill>
                  <a:srgbClr val="B85C12"/>
                </a:solidFill>
                <a:latin typeface="Calibri"/>
              </a:rPr>
              <a:t>TEKNOSAB çevresini</a:t>
            </a:r>
          </a:p>
          <a:p>
            <a:pPr algn="ctr">
              <a:spcBef>
                <a:spcPts val="0"/>
              </a:spcBef>
              <a:spcAft>
                <a:spcPts val="0"/>
              </a:spcAft>
            </a:pPr>
            <a:r>
              <a:rPr lang="tr-TR" sz="2200" b="0" i="1">
                <a:solidFill>
                  <a:srgbClr val="767676"/>
                </a:solidFill>
                <a:latin typeface="Calibri"/>
              </a:rPr>
              <a:t>… değiştirecek</a:t>
            </a:r>
          </a:p>
        </p:txBody>
      </p:sp>
      <p:sp>
        <p:nvSpPr>
          <p:cNvPr id="12" name="Rounded Rectangle 11"/>
          <p:cNvSpPr/>
          <p:nvPr/>
        </p:nvSpPr>
        <p:spPr>
          <a:xfrm>
            <a:off x="502920" y="3867912"/>
            <a:ext cx="11185855" cy="2423160"/>
          </a:xfrm>
          <a:prstGeom prst="roundRect">
            <a:avLst>
              <a:gd name="adj" fmla="val 8000"/>
            </a:avLst>
          </a:prstGeom>
          <a:solidFill>
            <a:srgbClr val="E3ECF5"/>
          </a:solidFill>
          <a:ln>
            <a:noFill/>
          </a:ln>
          <a:effectLst/>
        </p:spPr>
        <p:txBody>
          <a:bodyPr rtlCol="0" anchor="ctr" wrap="square" lIns="228600" rIns="228600" tIns="73152" bIns="73152">
            <a:noAutofit/>
          </a:bodyPr>
          <a:lstStyle/>
          <a:p>
            <a:pPr algn="l">
              <a:spcBef>
                <a:spcPts val="0"/>
              </a:spcBef>
              <a:spcAft>
                <a:spcPts val="600"/>
              </a:spcAft>
            </a:pPr>
            <a:r>
              <a:rPr lang="tr-TR" sz="2000" b="1" i="0">
                <a:solidFill>
                  <a:srgbClr val="2C6696"/>
                </a:solidFill>
                <a:latin typeface="Calibri"/>
              </a:rPr>
              <a:t>Değerlendirme (dinleyen gruplar)</a:t>
            </a:r>
          </a:p>
          <a:p>
            <a:pPr algn="l" marL="320770" indent="-320770">
              <a:spcBef>
                <a:spcPts val="0"/>
              </a:spcBef>
              <a:spcAft>
                <a:spcPts val="600"/>
              </a:spcAft>
            </a:pPr>
            <a:r>
              <a:rPr lang="tr-TR" sz="2000" b="1" i="0">
                <a:solidFill>
                  <a:srgbClr val="2C6696"/>
                </a:solidFill>
                <a:latin typeface="Calibri"/>
              </a:rPr>
              <a:t>1.  </a:t>
            </a:r>
            <a:r>
              <a:rPr lang="tr-TR" sz="2000" b="0" i="0">
                <a:solidFill>
                  <a:srgbClr val="262626"/>
                </a:solidFill>
                <a:latin typeface="Calibri"/>
              </a:rPr>
              <a:t>Arkadaşlarınızın yapmış olduğu çalışmalar ile sizin çalışmalarınızın ortak ve farklı yönlerini belirleyiniz.</a:t>
            </a:r>
          </a:p>
          <a:p>
            <a:pPr algn="l" marL="320770" indent="-320770">
              <a:spcBef>
                <a:spcPts val="0"/>
              </a:spcBef>
              <a:spcAft>
                <a:spcPts val="0"/>
              </a:spcAft>
            </a:pPr>
            <a:r>
              <a:rPr lang="tr-TR" sz="2000" b="1" i="0">
                <a:solidFill>
                  <a:srgbClr val="2C6696"/>
                </a:solidFill>
                <a:latin typeface="Calibri"/>
              </a:rPr>
              <a:t>2.  </a:t>
            </a:r>
            <a:r>
              <a:rPr lang="tr-TR" sz="2000" b="0" i="0">
                <a:solidFill>
                  <a:srgbClr val="262626"/>
                </a:solidFill>
                <a:latin typeface="Calibri"/>
              </a:rPr>
              <a:t>Öğretmeninizin rehberliği ve arkadaşlarınızın verdiği dönütler doğrultusunda, kendi çalışmanızı değerlendirip yeniden düzenleyiniz.</a:t>
            </a:r>
          </a:p>
        </p:txBody>
      </p:sp>
      <p:sp>
        <p:nvSpPr>
          <p:cNvPr id="13" name="TextBox 1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14" name="Rounded Rectangle 1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181</a:t>
            </a:r>
          </a:p>
        </p:txBody>
      </p:sp>
      <p:sp>
        <p:nvSpPr>
          <p:cNvPr id="15" name="TextBox 1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106 / 166</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8</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Aşağıdakilerden hangisi TEKNOSAB'ın kuruluş yerini etkileyen beşerî bir faktördür?</a:t>
            </a:r>
          </a:p>
        </p:txBody>
      </p:sp>
      <p:sp>
        <p:nvSpPr>
          <p:cNvPr id="7" name="Rounded Rectangle 6"/>
          <p:cNvSpPr/>
          <p:nvPr/>
        </p:nvSpPr>
        <p:spPr>
          <a:xfrm>
            <a:off x="502920" y="2633472"/>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694736"/>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Gemlik ve Bandırma limanlarına yakın olması</a:t>
            </a:r>
          </a:p>
        </p:txBody>
      </p:sp>
      <p:sp>
        <p:nvSpPr>
          <p:cNvPr id="10" name="Rounded Rectangle 9"/>
          <p:cNvSpPr/>
          <p:nvPr/>
        </p:nvSpPr>
        <p:spPr>
          <a:xfrm>
            <a:off x="502920" y="3368649"/>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1" name="Oval 10"/>
          <p:cNvSpPr/>
          <p:nvPr/>
        </p:nvSpPr>
        <p:spPr>
          <a:xfrm>
            <a:off x="594360" y="3429913"/>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368649"/>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Hafif engebeli ve tepelik bir araziye sahip olması</a:t>
            </a:r>
          </a:p>
        </p:txBody>
      </p:sp>
      <p:sp>
        <p:nvSpPr>
          <p:cNvPr id="13" name="Rounded Rectangle 12"/>
          <p:cNvSpPr/>
          <p:nvPr/>
        </p:nvSpPr>
        <p:spPr>
          <a:xfrm>
            <a:off x="502920" y="4103826"/>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4" name="Oval 13"/>
          <p:cNvSpPr/>
          <p:nvPr/>
        </p:nvSpPr>
        <p:spPr>
          <a:xfrm>
            <a:off x="594360" y="4165090"/>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4103826"/>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Nilüfer Çayı Havzası'nda yer alması</a:t>
            </a:r>
          </a:p>
        </p:txBody>
      </p:sp>
      <p:sp>
        <p:nvSpPr>
          <p:cNvPr id="16" name="Rounded Rectangle 15"/>
          <p:cNvSpPr/>
          <p:nvPr/>
        </p:nvSpPr>
        <p:spPr>
          <a:xfrm>
            <a:off x="502920" y="4839003"/>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900267"/>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839003"/>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Akdeniz ile Karadeniz arasında geçiş iklimi göstermesi</a:t>
            </a:r>
          </a:p>
        </p:txBody>
      </p:sp>
      <p:sp>
        <p:nvSpPr>
          <p:cNvPr id="19" name="Rounded Rectangle 18"/>
          <p:cNvSpPr/>
          <p:nvPr/>
        </p:nvSpPr>
        <p:spPr>
          <a:xfrm>
            <a:off x="502920" y="5574180"/>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5635444"/>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5574180"/>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Marmara Denizi'ne yakın olması</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180</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107 / 166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8</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Aşağıdakilerden hangisi TEKNOSAB'ın kuruluş yerini etkileyen beşerî bir faktördür?</a:t>
            </a:r>
          </a:p>
        </p:txBody>
      </p:sp>
      <p:sp>
        <p:nvSpPr>
          <p:cNvPr id="7" name="Rounded Rectangle 6"/>
          <p:cNvSpPr/>
          <p:nvPr/>
        </p:nvSpPr>
        <p:spPr>
          <a:xfrm>
            <a:off x="502920" y="2633472"/>
            <a:ext cx="11185855" cy="415137"/>
          </a:xfrm>
          <a:prstGeom prst="roundRect">
            <a:avLst>
              <a:gd name="adj" fmla="val 30000"/>
            </a:avLst>
          </a:prstGeom>
          <a:solidFill>
            <a:srgbClr val="E3F1E4"/>
          </a:solidFill>
          <a:ln w="31750">
            <a:solidFill>
              <a:srgbClr val="2E7D32"/>
            </a:solidFill>
          </a:ln>
          <a:effectLst/>
        </p:spPr>
        <p:txBody>
          <a:bodyPr rtlCol="0" anchor="ctr"/>
          <a:lstStyle/>
          <a:p/>
        </p:txBody>
      </p:sp>
      <p:sp>
        <p:nvSpPr>
          <p:cNvPr id="8" name="Oval 7"/>
          <p:cNvSpPr/>
          <p:nvPr/>
        </p:nvSpPr>
        <p:spPr>
          <a:xfrm>
            <a:off x="594360" y="2589580"/>
            <a:ext cx="502920" cy="50292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262626"/>
                </a:solidFill>
                <a:latin typeface="Calibri"/>
              </a:rPr>
              <a:t>Gemlik ve Bandırma limanlarına yakın olması</a:t>
            </a:r>
          </a:p>
        </p:txBody>
      </p:sp>
      <p:sp>
        <p:nvSpPr>
          <p:cNvPr id="10" name="Rounded Rectangle 9"/>
          <p:cNvSpPr/>
          <p:nvPr/>
        </p:nvSpPr>
        <p:spPr>
          <a:xfrm>
            <a:off x="502920" y="3158337"/>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1" name="Oval 10"/>
          <p:cNvSpPr/>
          <p:nvPr/>
        </p:nvSpPr>
        <p:spPr>
          <a:xfrm>
            <a:off x="594360" y="3114445"/>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15833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Hafif engebeli ve tepelik bir araziye sahip olması</a:t>
            </a:r>
          </a:p>
        </p:txBody>
      </p:sp>
      <p:sp>
        <p:nvSpPr>
          <p:cNvPr id="13" name="Rounded Rectangle 12"/>
          <p:cNvSpPr/>
          <p:nvPr/>
        </p:nvSpPr>
        <p:spPr>
          <a:xfrm>
            <a:off x="502920" y="368320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4" name="Oval 13"/>
          <p:cNvSpPr/>
          <p:nvPr/>
        </p:nvSpPr>
        <p:spPr>
          <a:xfrm>
            <a:off x="594360" y="363931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368320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Nilüfer Çayı Havzası'nda yer alması</a:t>
            </a:r>
          </a:p>
        </p:txBody>
      </p:sp>
      <p:sp>
        <p:nvSpPr>
          <p:cNvPr id="16" name="Rounded Rectangle 15"/>
          <p:cNvSpPr/>
          <p:nvPr/>
        </p:nvSpPr>
        <p:spPr>
          <a:xfrm>
            <a:off x="502920" y="4208067"/>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164175"/>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20806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Akdeniz ile Karadeniz arasında geçiş iklimi göstermesi</a:t>
            </a:r>
          </a:p>
        </p:txBody>
      </p:sp>
      <p:sp>
        <p:nvSpPr>
          <p:cNvPr id="19" name="Rounded Rectangle 18"/>
          <p:cNvSpPr/>
          <p:nvPr/>
        </p:nvSpPr>
        <p:spPr>
          <a:xfrm>
            <a:off x="502920" y="473293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468904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473293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Marmara Denizi'ne yakın olması</a:t>
            </a:r>
          </a:p>
        </p:txBody>
      </p:sp>
      <p:sp>
        <p:nvSpPr>
          <p:cNvPr id="22" name="Rounded Rectangle 21"/>
          <p:cNvSpPr/>
          <p:nvPr/>
        </p:nvSpPr>
        <p:spPr>
          <a:xfrm>
            <a:off x="502920" y="5266944"/>
            <a:ext cx="11185855" cy="1005840"/>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2000" b="0" i="0">
                <a:solidFill>
                  <a:srgbClr val="262626"/>
                </a:solidFill>
                <a:latin typeface="Calibri"/>
              </a:rPr>
              <a:t>Limanlar insan yapımıdır, ulaşım beşerî bir faktördür; yer şekli, su, iklim ve denize yakınlık doğal faktörlerdir (s. 174-175, 180).</a:t>
            </a:r>
          </a:p>
        </p:txBody>
      </p:sp>
      <p:sp>
        <p:nvSpPr>
          <p:cNvPr id="23" name="TextBox 2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24" name="Rounded Rectangle 2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180</a:t>
            </a:r>
          </a:p>
        </p:txBody>
      </p:sp>
      <p:sp>
        <p:nvSpPr>
          <p:cNvPr id="25" name="TextBox 2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108 / 166</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Sanal saha: yakın çevremizdeki bir işletme</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SANAL SAHA · 4 dk</a:t>
            </a:r>
          </a:p>
        </p:txBody>
      </p:sp>
      <p:sp>
        <p:nvSpPr>
          <p:cNvPr id="6" name="Rounded Rectangle 5"/>
          <p:cNvSpPr/>
          <p:nvPr/>
        </p:nvSpPr>
        <p:spPr>
          <a:xfrm>
            <a:off x="502920" y="1216152"/>
            <a:ext cx="6035040" cy="3977639"/>
          </a:xfrm>
          <a:prstGeom prst="roundRect">
            <a:avLst>
              <a:gd name="adj" fmla="val 4000"/>
            </a:avLst>
          </a:prstGeom>
          <a:solidFill>
            <a:srgbClr val="F0F0F0"/>
          </a:solidFill>
          <a:ln w="19050">
            <a:solidFill>
              <a:srgbClr val="D9D9D9"/>
            </a:solidFill>
          </a:ln>
          <a:effectLst/>
        </p:spPr>
        <p:txBody>
          <a:bodyPr rtlCol="0" anchor="ctr"/>
          <a:lstStyle/>
          <a:p/>
        </p:txBody>
      </p:sp>
      <p:sp>
        <p:nvSpPr>
          <p:cNvPr id="7" name="TextBox 6"/>
          <p:cNvSpPr txBox="1"/>
          <p:nvPr/>
        </p:nvSpPr>
        <p:spPr>
          <a:xfrm>
            <a:off x="777240" y="2267712"/>
            <a:ext cx="5486400" cy="822960"/>
          </a:xfrm>
          <a:prstGeom prst="rect">
            <a:avLst/>
          </a:prstGeom>
          <a:noFill/>
        </p:spPr>
        <p:txBody>
          <a:bodyPr wrap="square" anchor="ctr" lIns="73152" rIns="73152" tIns="36576" bIns="36576">
            <a:noAutofit/>
          </a:bodyPr>
          <a:lstStyle/>
          <a:p>
            <a:pPr algn="ctr">
              <a:spcBef>
                <a:spcPts val="0"/>
              </a:spcBef>
              <a:spcAft>
                <a:spcPts val="0"/>
              </a:spcAft>
            </a:pPr>
            <a:r>
              <a:rPr lang="tr-TR" sz="3000" b="1" i="0">
                <a:solidFill>
                  <a:srgbClr val="B85C12"/>
                </a:solidFill>
                <a:latin typeface="Calibri"/>
              </a:rPr>
              <a:t>[yakın çevredeki işletme]</a:t>
            </a:r>
          </a:p>
        </p:txBody>
      </p:sp>
      <p:sp>
        <p:nvSpPr>
          <p:cNvPr id="8" name="TextBox 7"/>
          <p:cNvSpPr txBox="1"/>
          <p:nvPr/>
        </p:nvSpPr>
        <p:spPr>
          <a:xfrm>
            <a:off x="868680" y="3182112"/>
            <a:ext cx="5303520" cy="1097280"/>
          </a:xfrm>
          <a:prstGeom prst="rect">
            <a:avLst/>
          </a:prstGeom>
          <a:noFill/>
        </p:spPr>
        <p:txBody>
          <a:bodyPr wrap="square" anchor="ctr" lIns="73152" rIns="73152" tIns="36576" bIns="36576">
            <a:noAutofit/>
          </a:bodyPr>
          <a:lstStyle/>
          <a:p>
            <a:pPr algn="ctr">
              <a:spcBef>
                <a:spcPts val="0"/>
              </a:spcBef>
              <a:spcAft>
                <a:spcPts val="0"/>
              </a:spcAft>
            </a:pPr>
            <a:r>
              <a:rPr lang="tr-TR" sz="2100" b="0" i="0">
                <a:solidFill>
                  <a:srgbClr val="767676"/>
                </a:solidFill>
                <a:latin typeface="Calibri"/>
              </a:rPr>
              <a:t>Harita ve uydu görüntüsü öğretmenimizin bilgisayarından açılır.</a:t>
            </a:r>
          </a:p>
        </p:txBody>
      </p:sp>
      <p:sp>
        <p:nvSpPr>
          <p:cNvPr id="9" name="TextBox 8"/>
          <p:cNvSpPr txBox="1"/>
          <p:nvPr/>
        </p:nvSpPr>
        <p:spPr>
          <a:xfrm>
            <a:off x="502920" y="5285232"/>
            <a:ext cx="6035040" cy="1005840"/>
          </a:xfrm>
          <a:prstGeom prst="rect">
            <a:avLst/>
          </a:prstGeom>
          <a:noFill/>
        </p:spPr>
        <p:txBody>
          <a:bodyPr wrap="square" anchor="ctr" lIns="73152" rIns="73152" tIns="36576" bIns="36576">
            <a:noAutofit/>
          </a:bodyPr>
          <a:lstStyle/>
          <a:p>
            <a:pPr algn="l">
              <a:spcBef>
                <a:spcPts val="0"/>
              </a:spcBef>
              <a:spcAft>
                <a:spcPts val="0"/>
              </a:spcAft>
            </a:pPr>
            <a:r>
              <a:rPr lang="tr-TR" sz="1600" b="0" i="1">
                <a:solidFill>
                  <a:srgbClr val="767676"/>
                </a:solidFill>
                <a:latin typeface="Calibri"/>
              </a:rPr>
              <a:t>Program: Yakın çevrede yer alan bir işletmenin kuruluş yeri şartlarının incelenebilmesi için coğrafi gözlem, saha/sanal saha çalışması yapılabilir.</a:t>
            </a:r>
          </a:p>
        </p:txBody>
      </p:sp>
      <p:sp>
        <p:nvSpPr>
          <p:cNvPr id="10" name="Rounded Rectangle 9"/>
          <p:cNvSpPr/>
          <p:nvPr/>
        </p:nvSpPr>
        <p:spPr>
          <a:xfrm>
            <a:off x="6812280" y="1216152"/>
            <a:ext cx="4876495" cy="960120"/>
          </a:xfrm>
          <a:prstGeom prst="roundRect">
            <a:avLst>
              <a:gd name="adj" fmla="val 12000"/>
            </a:avLst>
          </a:prstGeom>
          <a:solidFill>
            <a:srgbClr val="F0F0F0"/>
          </a:solidFill>
          <a:ln>
            <a:noFill/>
          </a:ln>
          <a:effectLst/>
        </p:spPr>
        <p:txBody>
          <a:bodyPr rtlCol="0" anchor="ctr"/>
          <a:lstStyle/>
          <a:p/>
        </p:txBody>
      </p:sp>
      <p:sp>
        <p:nvSpPr>
          <p:cNvPr id="11" name="Oval 10"/>
          <p:cNvSpPr/>
          <p:nvPr/>
        </p:nvSpPr>
        <p:spPr>
          <a:xfrm>
            <a:off x="6922008" y="1431036"/>
            <a:ext cx="530352" cy="530352"/>
          </a:xfrm>
          <a:prstGeom prst="ellipse">
            <a:avLst/>
          </a:prstGeom>
          <a:solidFill>
            <a:srgbClr val="B85C12"/>
          </a:solidFill>
          <a:ln>
            <a:noFill/>
          </a:ln>
          <a:effectLst/>
        </p:spPr>
        <p:txBody>
          <a:bodyPr rtlCol="0" anchor="ctr" wrap="none" lIns="0" rIns="0" tIns="0" bIns="0">
            <a:noAutofit/>
          </a:bodyPr>
          <a:lstStyle/>
          <a:p>
            <a:pPr algn="ctr">
              <a:spcBef>
                <a:spcPts val="0"/>
              </a:spcBef>
              <a:spcAft>
                <a:spcPts val="0"/>
              </a:spcAft>
            </a:pPr>
            <a:r>
              <a:rPr lang="tr-TR" sz="2100" b="1" i="0">
                <a:solidFill>
                  <a:srgbClr val="FFFFFF"/>
                </a:solidFill>
                <a:latin typeface="Calibri"/>
              </a:rPr>
              <a:t>1</a:t>
            </a:r>
          </a:p>
        </p:txBody>
      </p:sp>
      <p:sp>
        <p:nvSpPr>
          <p:cNvPr id="12" name="TextBox 11"/>
          <p:cNvSpPr txBox="1"/>
          <p:nvPr/>
        </p:nvSpPr>
        <p:spPr>
          <a:xfrm>
            <a:off x="7589520" y="1216152"/>
            <a:ext cx="4007815" cy="960120"/>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262626"/>
                </a:solidFill>
                <a:latin typeface="Calibri"/>
              </a:rPr>
              <a:t>Neden orada kurulmuş?</a:t>
            </a:r>
          </a:p>
        </p:txBody>
      </p:sp>
      <p:sp>
        <p:nvSpPr>
          <p:cNvPr id="13" name="Rounded Rectangle 12"/>
          <p:cNvSpPr/>
          <p:nvPr/>
        </p:nvSpPr>
        <p:spPr>
          <a:xfrm>
            <a:off x="6812280" y="2313432"/>
            <a:ext cx="4876495" cy="960120"/>
          </a:xfrm>
          <a:prstGeom prst="roundRect">
            <a:avLst>
              <a:gd name="adj" fmla="val 12000"/>
            </a:avLst>
          </a:prstGeom>
          <a:solidFill>
            <a:srgbClr val="F0F0F0"/>
          </a:solidFill>
          <a:ln>
            <a:noFill/>
          </a:ln>
          <a:effectLst/>
        </p:spPr>
        <p:txBody>
          <a:bodyPr rtlCol="0" anchor="ctr"/>
          <a:lstStyle/>
          <a:p/>
        </p:txBody>
      </p:sp>
      <p:sp>
        <p:nvSpPr>
          <p:cNvPr id="14" name="Oval 13"/>
          <p:cNvSpPr/>
          <p:nvPr/>
        </p:nvSpPr>
        <p:spPr>
          <a:xfrm>
            <a:off x="6922008" y="2528316"/>
            <a:ext cx="530352" cy="530352"/>
          </a:xfrm>
          <a:prstGeom prst="ellipse">
            <a:avLst/>
          </a:prstGeom>
          <a:solidFill>
            <a:srgbClr val="B85C12"/>
          </a:solidFill>
          <a:ln>
            <a:noFill/>
          </a:ln>
          <a:effectLst/>
        </p:spPr>
        <p:txBody>
          <a:bodyPr rtlCol="0" anchor="ctr" wrap="none" lIns="0" rIns="0" tIns="0" bIns="0">
            <a:noAutofit/>
          </a:bodyPr>
          <a:lstStyle/>
          <a:p>
            <a:pPr algn="ctr">
              <a:spcBef>
                <a:spcPts val="0"/>
              </a:spcBef>
              <a:spcAft>
                <a:spcPts val="0"/>
              </a:spcAft>
            </a:pPr>
            <a:r>
              <a:rPr lang="tr-TR" sz="2100" b="1" i="0">
                <a:solidFill>
                  <a:srgbClr val="FFFFFF"/>
                </a:solidFill>
                <a:latin typeface="Calibri"/>
              </a:rPr>
              <a:t>2</a:t>
            </a:r>
          </a:p>
        </p:txBody>
      </p:sp>
      <p:sp>
        <p:nvSpPr>
          <p:cNvPr id="15" name="TextBox 14"/>
          <p:cNvSpPr txBox="1"/>
          <p:nvPr/>
        </p:nvSpPr>
        <p:spPr>
          <a:xfrm>
            <a:off x="7589520" y="2313432"/>
            <a:ext cx="4007815" cy="960120"/>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262626"/>
                </a:solidFill>
                <a:latin typeface="Calibri"/>
              </a:rPr>
              <a:t>Hangi ulaşım bağlantısı var?</a:t>
            </a:r>
          </a:p>
        </p:txBody>
      </p:sp>
      <p:sp>
        <p:nvSpPr>
          <p:cNvPr id="16" name="Rounded Rectangle 15"/>
          <p:cNvSpPr/>
          <p:nvPr/>
        </p:nvSpPr>
        <p:spPr>
          <a:xfrm>
            <a:off x="6812280" y="3410712"/>
            <a:ext cx="4876495" cy="960120"/>
          </a:xfrm>
          <a:prstGeom prst="roundRect">
            <a:avLst>
              <a:gd name="adj" fmla="val 12000"/>
            </a:avLst>
          </a:prstGeom>
          <a:solidFill>
            <a:srgbClr val="F0F0F0"/>
          </a:solidFill>
          <a:ln>
            <a:noFill/>
          </a:ln>
          <a:effectLst/>
        </p:spPr>
        <p:txBody>
          <a:bodyPr rtlCol="0" anchor="ctr"/>
          <a:lstStyle/>
          <a:p/>
        </p:txBody>
      </p:sp>
      <p:sp>
        <p:nvSpPr>
          <p:cNvPr id="17" name="Oval 16"/>
          <p:cNvSpPr/>
          <p:nvPr/>
        </p:nvSpPr>
        <p:spPr>
          <a:xfrm>
            <a:off x="6922008" y="3625596"/>
            <a:ext cx="530352" cy="530352"/>
          </a:xfrm>
          <a:prstGeom prst="ellipse">
            <a:avLst/>
          </a:prstGeom>
          <a:solidFill>
            <a:srgbClr val="B85C12"/>
          </a:solidFill>
          <a:ln>
            <a:noFill/>
          </a:ln>
          <a:effectLst/>
        </p:spPr>
        <p:txBody>
          <a:bodyPr rtlCol="0" anchor="ctr" wrap="none" lIns="0" rIns="0" tIns="0" bIns="0">
            <a:noAutofit/>
          </a:bodyPr>
          <a:lstStyle/>
          <a:p>
            <a:pPr algn="ctr">
              <a:spcBef>
                <a:spcPts val="0"/>
              </a:spcBef>
              <a:spcAft>
                <a:spcPts val="0"/>
              </a:spcAft>
            </a:pPr>
            <a:r>
              <a:rPr lang="tr-TR" sz="2100" b="1" i="0">
                <a:solidFill>
                  <a:srgbClr val="FFFFFF"/>
                </a:solidFill>
                <a:latin typeface="Calibri"/>
              </a:rPr>
              <a:t>3</a:t>
            </a:r>
          </a:p>
        </p:txBody>
      </p:sp>
      <p:sp>
        <p:nvSpPr>
          <p:cNvPr id="18" name="TextBox 17"/>
          <p:cNvSpPr txBox="1"/>
          <p:nvPr/>
        </p:nvSpPr>
        <p:spPr>
          <a:xfrm>
            <a:off x="7589520" y="3410712"/>
            <a:ext cx="4007815" cy="960120"/>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262626"/>
                </a:solidFill>
                <a:latin typeface="Calibri"/>
              </a:rPr>
              <a:t>Hangi doğal ve beşerî faktörler etkili?</a:t>
            </a:r>
          </a:p>
        </p:txBody>
      </p:sp>
      <p:sp>
        <p:nvSpPr>
          <p:cNvPr id="19" name="Rounded Rectangle 18"/>
          <p:cNvSpPr/>
          <p:nvPr/>
        </p:nvSpPr>
        <p:spPr>
          <a:xfrm>
            <a:off x="6812280" y="4553712"/>
            <a:ext cx="4876495" cy="1737360"/>
          </a:xfrm>
          <a:prstGeom prst="roundRect">
            <a:avLst>
              <a:gd name="adj" fmla="val 8000"/>
            </a:avLst>
          </a:prstGeom>
          <a:solidFill>
            <a:srgbClr val="FFF3D1"/>
          </a:solidFill>
          <a:ln>
            <a:noFill/>
          </a:ln>
          <a:effectLst/>
        </p:spPr>
        <p:txBody>
          <a:bodyPr rtlCol="0" anchor="ctr" wrap="square" lIns="201168" rIns="201168" tIns="73152" bIns="73152">
            <a:noAutofit/>
          </a:bodyPr>
          <a:lstStyle/>
          <a:p>
            <a:pPr algn="l">
              <a:spcBef>
                <a:spcPts val="0"/>
              </a:spcBef>
              <a:spcAft>
                <a:spcPts val="0"/>
              </a:spcAft>
            </a:pPr>
            <a:r>
              <a:rPr lang="tr-TR" sz="2000" b="1" i="0">
                <a:solidFill>
                  <a:srgbClr val="262626"/>
                </a:solidFill>
                <a:latin typeface="Calibri"/>
              </a:rPr>
              <a:t>Gözlem notu:</a:t>
            </a:r>
            <a:r>
              <a:rPr lang="tr-TR" sz="2000" b="0" i="0">
                <a:solidFill>
                  <a:srgbClr val="262626"/>
                </a:solidFill>
                <a:latin typeface="Calibri"/>
              </a:rPr>
              <a:t> iki cümle yaz — biri yerin özelliği, biri insanın yaptığı bir şey.</a:t>
            </a:r>
          </a:p>
        </p:txBody>
      </p:sp>
      <p:sp>
        <p:nvSpPr>
          <p:cNvPr id="20" name="TextBox 19"/>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21" name="TextBox 20"/>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109 / 166</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Sanal saha — örnek gözlem notu</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Rounded Rectangle 5"/>
          <p:cNvSpPr/>
          <p:nvPr/>
        </p:nvSpPr>
        <p:spPr>
          <a:xfrm>
            <a:off x="502920" y="1216152"/>
            <a:ext cx="5455767" cy="5029200"/>
          </a:xfrm>
          <a:prstGeom prst="roundRect">
            <a:avLst>
              <a:gd name="adj" fmla="val 6000"/>
            </a:avLst>
          </a:prstGeom>
          <a:solidFill>
            <a:srgbClr val="E3F1E4"/>
          </a:solidFill>
          <a:ln>
            <a:noFill/>
          </a:ln>
          <a:effectLst/>
        </p:spPr>
        <p:txBody>
          <a:bodyPr rtlCol="0" anchor="ctr"/>
          <a:lstStyle/>
          <a:p/>
        </p:txBody>
      </p:sp>
      <p:sp>
        <p:nvSpPr>
          <p:cNvPr id="7" name="Rectangle 6"/>
          <p:cNvSpPr/>
          <p:nvPr/>
        </p:nvSpPr>
        <p:spPr>
          <a:xfrm>
            <a:off x="502920" y="1216152"/>
            <a:ext cx="109728" cy="5029200"/>
          </a:xfrm>
          <a:prstGeom prst="rect">
            <a:avLst/>
          </a:prstGeom>
          <a:solidFill>
            <a:srgbClr val="2E7D32"/>
          </a:solidFill>
          <a:ln>
            <a:noFill/>
          </a:ln>
          <a:effectLst/>
        </p:spPr>
        <p:txBody>
          <a:bodyPr rtlCol="0" anchor="ctr"/>
          <a:lstStyle/>
          <a:p/>
        </p:txBody>
      </p:sp>
      <p:sp>
        <p:nvSpPr>
          <p:cNvPr id="8" name="TextBox 7"/>
          <p:cNvSpPr txBox="1"/>
          <p:nvPr/>
        </p:nvSpPr>
        <p:spPr>
          <a:xfrm>
            <a:off x="731520" y="1271016"/>
            <a:ext cx="5135727" cy="4919472"/>
          </a:xfrm>
          <a:prstGeom prst="rect">
            <a:avLst/>
          </a:prstGeom>
          <a:noFill/>
        </p:spPr>
        <p:txBody>
          <a:bodyPr wrap="square" anchor="ctr" lIns="73152" rIns="73152" tIns="36576" bIns="36576">
            <a:noAutofit/>
          </a:bodyPr>
          <a:lstStyle/>
          <a:p>
            <a:pPr algn="l">
              <a:spcBef>
                <a:spcPts val="0"/>
              </a:spcBef>
              <a:spcAft>
                <a:spcPts val="400"/>
              </a:spcAft>
            </a:pPr>
            <a:r>
              <a:rPr lang="tr-TR" sz="2300" b="1" i="0">
                <a:solidFill>
                  <a:srgbClr val="2E7D32"/>
                </a:solidFill>
                <a:latin typeface="Calibri"/>
              </a:rPr>
              <a:t>Ölçütler</a:t>
            </a:r>
          </a:p>
          <a:p>
            <a:pPr algn="l" marL="285913" indent="-285913">
              <a:spcBef>
                <a:spcPts val="0"/>
              </a:spcBef>
              <a:spcAft>
                <a:spcPts val="500"/>
              </a:spcAft>
            </a:pPr>
            <a:r>
              <a:rPr lang="tr-TR" sz="2300" b="1" i="0">
                <a:solidFill>
                  <a:srgbClr val="2C6696"/>
                </a:solidFill>
                <a:latin typeface="Calibri"/>
              </a:rPr>
              <a:t>•  </a:t>
            </a:r>
            <a:r>
              <a:rPr lang="tr-TR" sz="2300" b="0" i="0">
                <a:solidFill>
                  <a:srgbClr val="262626"/>
                </a:solidFill>
                <a:latin typeface="Calibri"/>
              </a:rPr>
              <a:t>Konum: neye yakın?</a:t>
            </a:r>
          </a:p>
          <a:p>
            <a:pPr algn="l" marL="285913" indent="-285913">
              <a:spcBef>
                <a:spcPts val="0"/>
              </a:spcBef>
              <a:spcAft>
                <a:spcPts val="500"/>
              </a:spcAft>
            </a:pPr>
            <a:r>
              <a:rPr lang="tr-TR" sz="2300" b="1" i="0">
                <a:solidFill>
                  <a:srgbClr val="2C6696"/>
                </a:solidFill>
                <a:latin typeface="Calibri"/>
              </a:rPr>
              <a:t>•  </a:t>
            </a:r>
            <a:r>
              <a:rPr lang="tr-TR" sz="2300" b="0" i="0">
                <a:solidFill>
                  <a:srgbClr val="262626"/>
                </a:solidFill>
                <a:latin typeface="Calibri"/>
              </a:rPr>
              <a:t>Ulaşım: hangi yol, demir yolu ya da liman?</a:t>
            </a:r>
          </a:p>
          <a:p>
            <a:pPr algn="l" marL="285913" indent="-285913">
              <a:spcBef>
                <a:spcPts val="0"/>
              </a:spcBef>
              <a:spcAft>
                <a:spcPts val="500"/>
              </a:spcAft>
            </a:pPr>
            <a:r>
              <a:rPr lang="tr-TR" sz="2300" b="1" i="0">
                <a:solidFill>
                  <a:srgbClr val="2C6696"/>
                </a:solidFill>
                <a:latin typeface="Calibri"/>
              </a:rPr>
              <a:t>•  </a:t>
            </a:r>
            <a:r>
              <a:rPr lang="tr-TR" sz="2300" b="0" i="0">
                <a:solidFill>
                  <a:srgbClr val="262626"/>
                </a:solidFill>
                <a:latin typeface="Calibri"/>
              </a:rPr>
              <a:t>Bir doğal faktör: yer şekli, su, iklim</a:t>
            </a:r>
          </a:p>
          <a:p>
            <a:pPr algn="l" marL="285913" indent="-285913">
              <a:spcBef>
                <a:spcPts val="0"/>
              </a:spcBef>
              <a:spcAft>
                <a:spcPts val="500"/>
              </a:spcAft>
            </a:pPr>
            <a:r>
              <a:rPr lang="tr-TR" sz="2300" b="1" i="0">
                <a:solidFill>
                  <a:srgbClr val="2C6696"/>
                </a:solidFill>
                <a:latin typeface="Calibri"/>
              </a:rPr>
              <a:t>•  </a:t>
            </a:r>
            <a:r>
              <a:rPr lang="tr-TR" sz="2300" b="0" i="0">
                <a:solidFill>
                  <a:srgbClr val="262626"/>
                </a:solidFill>
                <a:latin typeface="Calibri"/>
              </a:rPr>
              <a:t>Bir beşerî faktör: iş gücü, pazar, sermaye</a:t>
            </a:r>
          </a:p>
          <a:p>
            <a:pPr algn="l" marL="285913" indent="-285913">
              <a:spcBef>
                <a:spcPts val="0"/>
              </a:spcBef>
              <a:spcAft>
                <a:spcPts val="0"/>
              </a:spcAft>
            </a:pPr>
            <a:r>
              <a:rPr lang="tr-TR" sz="2300" b="1" i="0">
                <a:solidFill>
                  <a:srgbClr val="2C6696"/>
                </a:solidFill>
                <a:latin typeface="Calibri"/>
              </a:rPr>
              <a:t>•  </a:t>
            </a:r>
            <a:r>
              <a:rPr lang="tr-TR" sz="2300" b="0" i="0">
                <a:solidFill>
                  <a:srgbClr val="262626"/>
                </a:solidFill>
                <a:latin typeface="Calibri"/>
              </a:rPr>
              <a:t>İki cümle; kanıt görüntüden</a:t>
            </a:r>
          </a:p>
        </p:txBody>
      </p:sp>
      <p:sp>
        <p:nvSpPr>
          <p:cNvPr id="9" name="Rounded Rectangle 8"/>
          <p:cNvSpPr/>
          <p:nvPr/>
        </p:nvSpPr>
        <p:spPr>
          <a:xfrm>
            <a:off x="6233007" y="1216152"/>
            <a:ext cx="5455767" cy="5029200"/>
          </a:xfrm>
          <a:prstGeom prst="roundRect">
            <a:avLst>
              <a:gd name="adj" fmla="val 6000"/>
            </a:avLst>
          </a:prstGeom>
          <a:solidFill>
            <a:srgbClr val="E3F1E4"/>
          </a:solidFill>
          <a:ln>
            <a:noFill/>
          </a:ln>
          <a:effectLst/>
        </p:spPr>
        <p:txBody>
          <a:bodyPr rtlCol="0" anchor="ctr"/>
          <a:lstStyle/>
          <a:p/>
        </p:txBody>
      </p:sp>
      <p:sp>
        <p:nvSpPr>
          <p:cNvPr id="10" name="Rectangle 9"/>
          <p:cNvSpPr/>
          <p:nvPr/>
        </p:nvSpPr>
        <p:spPr>
          <a:xfrm>
            <a:off x="6233007" y="1216152"/>
            <a:ext cx="109728" cy="5029200"/>
          </a:xfrm>
          <a:prstGeom prst="rect">
            <a:avLst/>
          </a:prstGeom>
          <a:solidFill>
            <a:srgbClr val="2E7D32"/>
          </a:solidFill>
          <a:ln>
            <a:noFill/>
          </a:ln>
          <a:effectLst/>
        </p:spPr>
        <p:txBody>
          <a:bodyPr rtlCol="0" anchor="ctr"/>
          <a:lstStyle/>
          <a:p/>
        </p:txBody>
      </p:sp>
      <p:sp>
        <p:nvSpPr>
          <p:cNvPr id="11" name="TextBox 10"/>
          <p:cNvSpPr txBox="1"/>
          <p:nvPr/>
        </p:nvSpPr>
        <p:spPr>
          <a:xfrm>
            <a:off x="6461607" y="1271016"/>
            <a:ext cx="5135727" cy="4919472"/>
          </a:xfrm>
          <a:prstGeom prst="rect">
            <a:avLst/>
          </a:prstGeom>
          <a:noFill/>
        </p:spPr>
        <p:txBody>
          <a:bodyPr wrap="square" anchor="ctr" lIns="73152" rIns="73152" tIns="36576" bIns="36576">
            <a:noAutofit/>
          </a:bodyPr>
          <a:lstStyle/>
          <a:p>
            <a:pPr algn="l">
              <a:spcBef>
                <a:spcPts val="0"/>
              </a:spcBef>
              <a:spcAft>
                <a:spcPts val="400"/>
              </a:spcAft>
            </a:pPr>
            <a:r>
              <a:rPr lang="tr-TR" sz="2300" b="1" i="0">
                <a:solidFill>
                  <a:srgbClr val="2E7D32"/>
                </a:solidFill>
                <a:latin typeface="Calibri"/>
              </a:rPr>
              <a:t>Örnek gözlem notu</a:t>
            </a:r>
          </a:p>
          <a:p>
            <a:pPr algn="l">
              <a:spcBef>
                <a:spcPts val="0"/>
              </a:spcBef>
              <a:spcAft>
                <a:spcPts val="500"/>
              </a:spcAft>
            </a:pPr>
            <a:r>
              <a:rPr lang="tr-TR" sz="2300" b="0" i="1">
                <a:solidFill>
                  <a:srgbClr val="262626"/>
                </a:solidFill>
                <a:latin typeface="Calibri"/>
              </a:rPr>
              <a:t>“[yakın çevredeki işletme] ana yola yakın, düz bir alanda kurulmuş; ham madde ve ürün kolayca taşınıyor. Çevresindeki kalabalık yerleşmeler hem iş gücü hem müşteri sağlıyor.”</a:t>
            </a:r>
          </a:p>
          <a:p>
            <a:pPr algn="l">
              <a:spcBef>
                <a:spcPts val="0"/>
              </a:spcBef>
              <a:spcAft>
                <a:spcPts val="0"/>
              </a:spcAft>
            </a:pPr>
            <a:r>
              <a:rPr lang="tr-TR" sz="2300" b="1" i="0">
                <a:solidFill>
                  <a:srgbClr val="262626"/>
                </a:solidFill>
                <a:latin typeface="Calibri"/>
              </a:rPr>
              <a:t>Doğal: düz arazi · Beşerî: ana yol, iş gücü, müşteri (pazar)</a:t>
            </a:r>
          </a:p>
        </p:txBody>
      </p:sp>
      <p:sp>
        <p:nvSpPr>
          <p:cNvPr id="12" name="TextBox 1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13" name="TextBox 12"/>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110 / 166</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Değerlendirme 2: Düşün-Eşleş-Paylaş</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İKİLİ · 4 dk</a:t>
            </a:r>
          </a:p>
        </p:txBody>
      </p:sp>
      <p:sp>
        <p:nvSpPr>
          <p:cNvPr id="6" name="Rounded Rectangle 5"/>
          <p:cNvSpPr/>
          <p:nvPr/>
        </p:nvSpPr>
        <p:spPr>
          <a:xfrm>
            <a:off x="502920" y="1216152"/>
            <a:ext cx="11185855" cy="1097280"/>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1950" b="1" i="0">
                <a:solidFill>
                  <a:srgbClr val="262626"/>
                </a:solidFill>
                <a:latin typeface="Calibri"/>
              </a:rPr>
              <a:t>2. Türkiye’deki kaynakları verimli kullanma konusunda yapılabilecekler ve bunun ülke ekonomisine sağlayacağı katkılar konusundaki düşüncelerinizi Düşün-Eşleş-Paylaş tekniğini kullanarak paylaşınız.</a:t>
            </a:r>
          </a:p>
        </p:txBody>
      </p:sp>
      <p:sp>
        <p:nvSpPr>
          <p:cNvPr id="7" name="Rounded Rectangle 6"/>
          <p:cNvSpPr/>
          <p:nvPr/>
        </p:nvSpPr>
        <p:spPr>
          <a:xfrm>
            <a:off x="502920" y="2496312"/>
            <a:ext cx="11185855" cy="874776"/>
          </a:xfrm>
          <a:prstGeom prst="roundRect">
            <a:avLst>
              <a:gd name="adj" fmla="val 8000"/>
            </a:avLst>
          </a:prstGeom>
          <a:solidFill>
            <a:srgbClr val="F0F0F0"/>
          </a:solidFill>
          <a:ln>
            <a:noFill/>
          </a:ln>
          <a:effectLst/>
        </p:spPr>
        <p:txBody>
          <a:bodyPr rtlCol="0" anchor="ctr"/>
          <a:lstStyle/>
          <a:p/>
        </p:txBody>
      </p:sp>
      <p:sp>
        <p:nvSpPr>
          <p:cNvPr id="8" name="Rounded Rectangle 7"/>
          <p:cNvSpPr/>
          <p:nvPr/>
        </p:nvSpPr>
        <p:spPr>
          <a:xfrm>
            <a:off x="502920" y="2496312"/>
            <a:ext cx="1600200" cy="874776"/>
          </a:xfrm>
          <a:prstGeom prst="roundRect">
            <a:avLst>
              <a:gd name="adj" fmla="val 8000"/>
            </a:avLst>
          </a:prstGeom>
          <a:solidFill>
            <a:srgbClr val="B85C12"/>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DÜŞÜN</a:t>
            </a:r>
          </a:p>
        </p:txBody>
      </p:sp>
      <p:sp>
        <p:nvSpPr>
          <p:cNvPr id="9" name="TextBox 8"/>
          <p:cNvSpPr txBox="1"/>
          <p:nvPr/>
        </p:nvSpPr>
        <p:spPr>
          <a:xfrm>
            <a:off x="2240280" y="2496312"/>
            <a:ext cx="8122615" cy="874776"/>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Verilen konu hakkındaki duygu ve düşüncelerinizi ana başlıklar hâlinde yazınız.</a:t>
            </a:r>
          </a:p>
        </p:txBody>
      </p:sp>
      <p:sp>
        <p:nvSpPr>
          <p:cNvPr id="10" name="Rounded Rectangle 9"/>
          <p:cNvSpPr/>
          <p:nvPr/>
        </p:nvSpPr>
        <p:spPr>
          <a:xfrm>
            <a:off x="10545775" y="2659380"/>
            <a:ext cx="1005840" cy="548640"/>
          </a:xfrm>
          <a:prstGeom prst="roundRect">
            <a:avLst>
              <a:gd name="adj" fmla="val 30000"/>
            </a:avLst>
          </a:prstGeom>
          <a:solidFill>
            <a:srgbClr val="FCC021"/>
          </a:solidFill>
          <a:ln>
            <a:noFill/>
          </a:ln>
          <a:effectLst/>
        </p:spPr>
        <p:txBody>
          <a:bodyPr rtlCol="0" anchor="ctr" wrap="square" lIns="27432" rIns="27432" tIns="0" bIns="0">
            <a:noAutofit/>
          </a:bodyPr>
          <a:lstStyle/>
          <a:p>
            <a:pPr algn="ctr">
              <a:spcBef>
                <a:spcPts val="0"/>
              </a:spcBef>
              <a:spcAft>
                <a:spcPts val="0"/>
              </a:spcAft>
            </a:pPr>
            <a:r>
              <a:rPr lang="tr-TR" sz="1800" b="1" i="0">
                <a:solidFill>
                  <a:srgbClr val="262626"/>
                </a:solidFill>
                <a:latin typeface="Calibri"/>
              </a:rPr>
              <a:t>1 dk</a:t>
            </a:r>
          </a:p>
        </p:txBody>
      </p:sp>
      <p:sp>
        <p:nvSpPr>
          <p:cNvPr id="11" name="Rounded Rectangle 10"/>
          <p:cNvSpPr/>
          <p:nvPr/>
        </p:nvSpPr>
        <p:spPr>
          <a:xfrm>
            <a:off x="502920" y="3499104"/>
            <a:ext cx="11185855" cy="874776"/>
          </a:xfrm>
          <a:prstGeom prst="roundRect">
            <a:avLst>
              <a:gd name="adj" fmla="val 8000"/>
            </a:avLst>
          </a:prstGeom>
          <a:solidFill>
            <a:srgbClr val="F0F0F0"/>
          </a:solidFill>
          <a:ln>
            <a:noFill/>
          </a:ln>
          <a:effectLst/>
        </p:spPr>
        <p:txBody>
          <a:bodyPr rtlCol="0" anchor="ctr"/>
          <a:lstStyle/>
          <a:p/>
        </p:txBody>
      </p:sp>
      <p:sp>
        <p:nvSpPr>
          <p:cNvPr id="12" name="Rounded Rectangle 11"/>
          <p:cNvSpPr/>
          <p:nvPr/>
        </p:nvSpPr>
        <p:spPr>
          <a:xfrm>
            <a:off x="502920" y="3499104"/>
            <a:ext cx="1600200" cy="874776"/>
          </a:xfrm>
          <a:prstGeom prst="roundRect">
            <a:avLst>
              <a:gd name="adj" fmla="val 8000"/>
            </a:avLst>
          </a:prstGeom>
          <a:solidFill>
            <a:srgbClr val="B85C12"/>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EŞLEŞ</a:t>
            </a:r>
          </a:p>
        </p:txBody>
      </p:sp>
      <p:sp>
        <p:nvSpPr>
          <p:cNvPr id="13" name="TextBox 12"/>
          <p:cNvSpPr txBox="1"/>
          <p:nvPr/>
        </p:nvSpPr>
        <p:spPr>
          <a:xfrm>
            <a:off x="2240280" y="3499104"/>
            <a:ext cx="8122615" cy="874776"/>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Ana başlıklar hâlinde yazdığınız duygu ve düşüncelerinizi bir arkadaşınızla tartışarak ortak bir düşünce oluşturunuz.</a:t>
            </a:r>
          </a:p>
        </p:txBody>
      </p:sp>
      <p:sp>
        <p:nvSpPr>
          <p:cNvPr id="14" name="Rounded Rectangle 13"/>
          <p:cNvSpPr/>
          <p:nvPr/>
        </p:nvSpPr>
        <p:spPr>
          <a:xfrm>
            <a:off x="10545775" y="3662172"/>
            <a:ext cx="1005840" cy="548640"/>
          </a:xfrm>
          <a:prstGeom prst="roundRect">
            <a:avLst>
              <a:gd name="adj" fmla="val 30000"/>
            </a:avLst>
          </a:prstGeom>
          <a:solidFill>
            <a:srgbClr val="FCC021"/>
          </a:solidFill>
          <a:ln>
            <a:noFill/>
          </a:ln>
          <a:effectLst/>
        </p:spPr>
        <p:txBody>
          <a:bodyPr rtlCol="0" anchor="ctr" wrap="square" lIns="27432" rIns="27432" tIns="0" bIns="0">
            <a:noAutofit/>
          </a:bodyPr>
          <a:lstStyle/>
          <a:p>
            <a:pPr algn="ctr">
              <a:spcBef>
                <a:spcPts val="0"/>
              </a:spcBef>
              <a:spcAft>
                <a:spcPts val="0"/>
              </a:spcAft>
            </a:pPr>
            <a:r>
              <a:rPr lang="tr-TR" sz="1800" b="1" i="0">
                <a:solidFill>
                  <a:srgbClr val="262626"/>
                </a:solidFill>
                <a:latin typeface="Calibri"/>
              </a:rPr>
              <a:t>1,5 dk</a:t>
            </a:r>
          </a:p>
        </p:txBody>
      </p:sp>
      <p:sp>
        <p:nvSpPr>
          <p:cNvPr id="15" name="Rounded Rectangle 14"/>
          <p:cNvSpPr/>
          <p:nvPr/>
        </p:nvSpPr>
        <p:spPr>
          <a:xfrm>
            <a:off x="502920" y="4501896"/>
            <a:ext cx="11185855" cy="874776"/>
          </a:xfrm>
          <a:prstGeom prst="roundRect">
            <a:avLst>
              <a:gd name="adj" fmla="val 8000"/>
            </a:avLst>
          </a:prstGeom>
          <a:solidFill>
            <a:srgbClr val="F0F0F0"/>
          </a:solidFill>
          <a:ln>
            <a:noFill/>
          </a:ln>
          <a:effectLst/>
        </p:spPr>
        <p:txBody>
          <a:bodyPr rtlCol="0" anchor="ctr"/>
          <a:lstStyle/>
          <a:p/>
        </p:txBody>
      </p:sp>
      <p:sp>
        <p:nvSpPr>
          <p:cNvPr id="16" name="Rounded Rectangle 15"/>
          <p:cNvSpPr/>
          <p:nvPr/>
        </p:nvSpPr>
        <p:spPr>
          <a:xfrm>
            <a:off x="502920" y="4501896"/>
            <a:ext cx="1600200" cy="874776"/>
          </a:xfrm>
          <a:prstGeom prst="roundRect">
            <a:avLst>
              <a:gd name="adj" fmla="val 8000"/>
            </a:avLst>
          </a:prstGeom>
          <a:solidFill>
            <a:srgbClr val="B85C12"/>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PAYLAŞ</a:t>
            </a:r>
          </a:p>
        </p:txBody>
      </p:sp>
      <p:sp>
        <p:nvSpPr>
          <p:cNvPr id="17" name="TextBox 16"/>
          <p:cNvSpPr txBox="1"/>
          <p:nvPr/>
        </p:nvSpPr>
        <p:spPr>
          <a:xfrm>
            <a:off x="2240280" y="4501896"/>
            <a:ext cx="8122615" cy="874776"/>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Ortak çıkarımlarınızı sınıfla paylaşınız.</a:t>
            </a:r>
          </a:p>
        </p:txBody>
      </p:sp>
      <p:sp>
        <p:nvSpPr>
          <p:cNvPr id="18" name="Rounded Rectangle 17"/>
          <p:cNvSpPr/>
          <p:nvPr/>
        </p:nvSpPr>
        <p:spPr>
          <a:xfrm>
            <a:off x="10545775" y="4664964"/>
            <a:ext cx="1005840" cy="548640"/>
          </a:xfrm>
          <a:prstGeom prst="roundRect">
            <a:avLst>
              <a:gd name="adj" fmla="val 30000"/>
            </a:avLst>
          </a:prstGeom>
          <a:solidFill>
            <a:srgbClr val="FCC021"/>
          </a:solidFill>
          <a:ln>
            <a:noFill/>
          </a:ln>
          <a:effectLst/>
        </p:spPr>
        <p:txBody>
          <a:bodyPr rtlCol="0" anchor="ctr" wrap="square" lIns="27432" rIns="27432" tIns="0" bIns="0">
            <a:noAutofit/>
          </a:bodyPr>
          <a:lstStyle/>
          <a:p>
            <a:pPr algn="ctr">
              <a:spcBef>
                <a:spcPts val="0"/>
              </a:spcBef>
              <a:spcAft>
                <a:spcPts val="0"/>
              </a:spcAft>
            </a:pPr>
            <a:r>
              <a:rPr lang="tr-TR" sz="1800" b="1" i="0">
                <a:solidFill>
                  <a:srgbClr val="262626"/>
                </a:solidFill>
                <a:latin typeface="Calibri"/>
              </a:rPr>
              <a:t>1,5 dk</a:t>
            </a:r>
          </a:p>
        </p:txBody>
      </p:sp>
      <p:sp>
        <p:nvSpPr>
          <p:cNvPr id="19" name="Rounded Rectangle 18"/>
          <p:cNvSpPr/>
          <p:nvPr/>
        </p:nvSpPr>
        <p:spPr>
          <a:xfrm>
            <a:off x="502920" y="5559552"/>
            <a:ext cx="11185855" cy="731520"/>
          </a:xfrm>
          <a:prstGeom prst="roundRect">
            <a:avLst>
              <a:gd name="adj" fmla="val 8000"/>
            </a:avLst>
          </a:prstGeom>
          <a:solidFill>
            <a:srgbClr val="FFF3D1"/>
          </a:solidFill>
          <a:ln>
            <a:noFill/>
          </a:ln>
          <a:effectLst/>
        </p:spPr>
        <p:txBody>
          <a:bodyPr rtlCol="0" anchor="ctr" wrap="square" lIns="201168" rIns="201168" tIns="73152" bIns="73152">
            <a:noAutofit/>
          </a:bodyPr>
          <a:lstStyle/>
          <a:p>
            <a:pPr algn="ctr">
              <a:spcBef>
                <a:spcPts val="0"/>
              </a:spcBef>
              <a:spcAft>
                <a:spcPts val="0"/>
              </a:spcAft>
            </a:pPr>
            <a:r>
              <a:rPr lang="tr-TR" sz="2100" b="1" i="0">
                <a:solidFill>
                  <a:srgbClr val="262626"/>
                </a:solidFill>
                <a:latin typeface="Calibri"/>
              </a:rPr>
              <a:t>Kartın son satırı:</a:t>
            </a:r>
            <a:r>
              <a:rPr lang="tr-TR" sz="2100" b="0" i="0">
                <a:solidFill>
                  <a:srgbClr val="262626"/>
                </a:solidFill>
                <a:latin typeface="Calibri"/>
              </a:rPr>
              <a:t> okulda ya da evde atacağım somut adım → bir hafta uygulayacağım (UYGULA)</a:t>
            </a:r>
          </a:p>
        </p:txBody>
      </p:sp>
      <p:sp>
        <p:nvSpPr>
          <p:cNvPr id="20" name="TextBox 19"/>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21" name="Rounded Rectangle 20"/>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181</a:t>
            </a:r>
          </a:p>
        </p:txBody>
      </p:sp>
      <p:sp>
        <p:nvSpPr>
          <p:cNvPr id="22" name="TextBox 21"/>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111 / 166</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Düşün-Eşleş-Paylaş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Rounded Rectangle 5"/>
          <p:cNvSpPr/>
          <p:nvPr/>
        </p:nvSpPr>
        <p:spPr>
          <a:xfrm>
            <a:off x="502920" y="1216152"/>
            <a:ext cx="5989320" cy="5029200"/>
          </a:xfrm>
          <a:prstGeom prst="roundRect">
            <a:avLst>
              <a:gd name="adj" fmla="val 5000"/>
            </a:avLst>
          </a:prstGeom>
          <a:solidFill>
            <a:srgbClr val="E3F1E4"/>
          </a:solidFill>
          <a:ln>
            <a:noFill/>
          </a:ln>
          <a:effectLst/>
        </p:spPr>
        <p:txBody>
          <a:bodyPr rtlCol="0" anchor="ctr"/>
          <a:lstStyle/>
          <a:p/>
        </p:txBody>
      </p:sp>
      <p:sp>
        <p:nvSpPr>
          <p:cNvPr id="7" name="Rounded Rectangle 6"/>
          <p:cNvSpPr/>
          <p:nvPr/>
        </p:nvSpPr>
        <p:spPr>
          <a:xfrm>
            <a:off x="502920" y="1216152"/>
            <a:ext cx="5989320" cy="548640"/>
          </a:xfrm>
          <a:prstGeom prst="roundRect">
            <a:avLst>
              <a:gd name="adj" fmla="val 25000"/>
            </a:avLst>
          </a:prstGeom>
          <a:solidFill>
            <a:srgbClr val="2E7D32"/>
          </a:solidFill>
          <a:ln>
            <a:noFill/>
          </a:ln>
          <a:effectLst/>
        </p:spPr>
        <p:txBody>
          <a:bodyPr rtlCol="0" anchor="ctr"/>
          <a:lstStyle/>
          <a:p/>
        </p:txBody>
      </p:sp>
      <p:sp>
        <p:nvSpPr>
          <p:cNvPr id="8" name="Rectangle 7"/>
          <p:cNvSpPr/>
          <p:nvPr/>
        </p:nvSpPr>
        <p:spPr>
          <a:xfrm>
            <a:off x="502920" y="1490472"/>
            <a:ext cx="5989320" cy="274320"/>
          </a:xfrm>
          <a:prstGeom prst="rect">
            <a:avLst/>
          </a:prstGeom>
          <a:solidFill>
            <a:srgbClr val="2E7D32"/>
          </a:solidFill>
          <a:ln>
            <a:noFill/>
          </a:ln>
          <a:effectLst/>
        </p:spPr>
        <p:txBody>
          <a:bodyPr rtlCol="0" anchor="ctr"/>
          <a:lstStyle/>
          <a:p/>
        </p:txBody>
      </p:sp>
      <p:sp>
        <p:nvSpPr>
          <p:cNvPr id="9" name="TextBox 8"/>
          <p:cNvSpPr txBox="1"/>
          <p:nvPr/>
        </p:nvSpPr>
        <p:spPr>
          <a:xfrm>
            <a:off x="594360" y="1216152"/>
            <a:ext cx="5806440" cy="548640"/>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FFFFFF"/>
                </a:solidFill>
                <a:latin typeface="Calibri"/>
              </a:rPr>
              <a:t>DÜŞÜN: ana başlıklar</a:t>
            </a:r>
          </a:p>
        </p:txBody>
      </p:sp>
      <p:sp>
        <p:nvSpPr>
          <p:cNvPr id="10" name="Rounded Rectangle 9"/>
          <p:cNvSpPr/>
          <p:nvPr/>
        </p:nvSpPr>
        <p:spPr>
          <a:xfrm>
            <a:off x="640080" y="2011680"/>
            <a:ext cx="1920240" cy="548640"/>
          </a:xfrm>
          <a:prstGeom prst="roundRect">
            <a:avLst>
              <a:gd name="adj" fmla="val 30000"/>
            </a:avLst>
          </a:prstGeom>
          <a:solidFill>
            <a:srgbClr val="2E7D32"/>
          </a:solidFill>
          <a:ln>
            <a:noFill/>
          </a:ln>
          <a:effectLst/>
        </p:spPr>
        <p:txBody>
          <a:bodyPr rtlCol="0" anchor="ctr" wrap="square" lIns="54864" rIns="54864" tIns="18288" bIns="18288">
            <a:noAutofit/>
          </a:bodyPr>
          <a:lstStyle/>
          <a:p>
            <a:pPr algn="ctr">
              <a:spcBef>
                <a:spcPts val="0"/>
              </a:spcBef>
              <a:spcAft>
                <a:spcPts val="0"/>
              </a:spcAft>
            </a:pPr>
            <a:r>
              <a:rPr lang="tr-TR" sz="1800" b="1" i="0">
                <a:solidFill>
                  <a:srgbClr val="FFFFFF"/>
                </a:solidFill>
                <a:latin typeface="Calibri"/>
              </a:rPr>
              <a:t>Su</a:t>
            </a:r>
          </a:p>
        </p:txBody>
      </p:sp>
      <p:sp>
        <p:nvSpPr>
          <p:cNvPr id="11" name="TextBox 10"/>
          <p:cNvSpPr txBox="1"/>
          <p:nvPr/>
        </p:nvSpPr>
        <p:spPr>
          <a:xfrm>
            <a:off x="2697480" y="1856232"/>
            <a:ext cx="3703320" cy="859536"/>
          </a:xfrm>
          <a:prstGeom prst="rect">
            <a:avLst/>
          </a:prstGeom>
          <a:noFill/>
        </p:spPr>
        <p:txBody>
          <a:bodyPr wrap="square" anchor="ctr" lIns="73152" rIns="73152" tIns="36576" bIns="36576">
            <a:noAutofit/>
          </a:bodyPr>
          <a:lstStyle/>
          <a:p>
            <a:pPr algn="l">
              <a:spcBef>
                <a:spcPts val="0"/>
              </a:spcBef>
              <a:spcAft>
                <a:spcPts val="0"/>
              </a:spcAft>
            </a:pPr>
            <a:r>
              <a:rPr lang="tr-TR" sz="2000" b="0" i="0">
                <a:solidFill>
                  <a:srgbClr val="262626"/>
                </a:solidFill>
                <a:latin typeface="Calibri"/>
              </a:rPr>
              <a:t>musluğu kapatmak, sızıntıyı onarmak, damla sulama</a:t>
            </a:r>
          </a:p>
        </p:txBody>
      </p:sp>
      <p:sp>
        <p:nvSpPr>
          <p:cNvPr id="12" name="Rounded Rectangle 11"/>
          <p:cNvSpPr/>
          <p:nvPr/>
        </p:nvSpPr>
        <p:spPr>
          <a:xfrm>
            <a:off x="640080" y="2871216"/>
            <a:ext cx="1920240" cy="548640"/>
          </a:xfrm>
          <a:prstGeom prst="roundRect">
            <a:avLst>
              <a:gd name="adj" fmla="val 30000"/>
            </a:avLst>
          </a:prstGeom>
          <a:solidFill>
            <a:srgbClr val="2E7D32"/>
          </a:solidFill>
          <a:ln>
            <a:noFill/>
          </a:ln>
          <a:effectLst/>
        </p:spPr>
        <p:txBody>
          <a:bodyPr rtlCol="0" anchor="ctr" wrap="square" lIns="54864" rIns="54864" tIns="18288" bIns="18288">
            <a:noAutofit/>
          </a:bodyPr>
          <a:lstStyle/>
          <a:p>
            <a:pPr algn="ctr">
              <a:spcBef>
                <a:spcPts val="0"/>
              </a:spcBef>
              <a:spcAft>
                <a:spcPts val="0"/>
              </a:spcAft>
            </a:pPr>
            <a:r>
              <a:rPr lang="tr-TR" sz="1800" b="1" i="0">
                <a:solidFill>
                  <a:srgbClr val="FFFFFF"/>
                </a:solidFill>
                <a:latin typeface="Calibri"/>
              </a:rPr>
              <a:t>Enerji</a:t>
            </a:r>
          </a:p>
        </p:txBody>
      </p:sp>
      <p:sp>
        <p:nvSpPr>
          <p:cNvPr id="13" name="TextBox 12"/>
          <p:cNvSpPr txBox="1"/>
          <p:nvPr/>
        </p:nvSpPr>
        <p:spPr>
          <a:xfrm>
            <a:off x="2697480" y="2715768"/>
            <a:ext cx="3703320" cy="859536"/>
          </a:xfrm>
          <a:prstGeom prst="rect">
            <a:avLst/>
          </a:prstGeom>
          <a:noFill/>
        </p:spPr>
        <p:txBody>
          <a:bodyPr wrap="square" anchor="ctr" lIns="73152" rIns="73152" tIns="36576" bIns="36576">
            <a:noAutofit/>
          </a:bodyPr>
          <a:lstStyle/>
          <a:p>
            <a:pPr algn="l">
              <a:spcBef>
                <a:spcPts val="0"/>
              </a:spcBef>
              <a:spcAft>
                <a:spcPts val="0"/>
              </a:spcAft>
            </a:pPr>
            <a:r>
              <a:rPr lang="tr-TR" sz="2000" b="0" i="0">
                <a:solidFill>
                  <a:srgbClr val="262626"/>
                </a:solidFill>
                <a:latin typeface="Calibri"/>
              </a:rPr>
              <a:t>boş odada ışığı söndürmek, yalıtım, güneş ve rüzgâr</a:t>
            </a:r>
          </a:p>
        </p:txBody>
      </p:sp>
      <p:sp>
        <p:nvSpPr>
          <p:cNvPr id="14" name="Rounded Rectangle 13"/>
          <p:cNvSpPr/>
          <p:nvPr/>
        </p:nvSpPr>
        <p:spPr>
          <a:xfrm>
            <a:off x="640080" y="3730752"/>
            <a:ext cx="1920240" cy="548640"/>
          </a:xfrm>
          <a:prstGeom prst="roundRect">
            <a:avLst>
              <a:gd name="adj" fmla="val 30000"/>
            </a:avLst>
          </a:prstGeom>
          <a:solidFill>
            <a:srgbClr val="2E7D32"/>
          </a:solidFill>
          <a:ln>
            <a:noFill/>
          </a:ln>
          <a:effectLst/>
        </p:spPr>
        <p:txBody>
          <a:bodyPr rtlCol="0" anchor="ctr" wrap="square" lIns="54864" rIns="54864" tIns="18288" bIns="18288">
            <a:noAutofit/>
          </a:bodyPr>
          <a:lstStyle/>
          <a:p>
            <a:pPr algn="ctr">
              <a:spcBef>
                <a:spcPts val="0"/>
              </a:spcBef>
              <a:spcAft>
                <a:spcPts val="0"/>
              </a:spcAft>
            </a:pPr>
            <a:r>
              <a:rPr lang="tr-TR" sz="1800" b="1" i="0">
                <a:solidFill>
                  <a:srgbClr val="FFFFFF"/>
                </a:solidFill>
                <a:latin typeface="Calibri"/>
              </a:rPr>
              <a:t>Gıda</a:t>
            </a:r>
          </a:p>
        </p:txBody>
      </p:sp>
      <p:sp>
        <p:nvSpPr>
          <p:cNvPr id="15" name="TextBox 14"/>
          <p:cNvSpPr txBox="1"/>
          <p:nvPr/>
        </p:nvSpPr>
        <p:spPr>
          <a:xfrm>
            <a:off x="2697480" y="3575304"/>
            <a:ext cx="3703320" cy="859536"/>
          </a:xfrm>
          <a:prstGeom prst="rect">
            <a:avLst/>
          </a:prstGeom>
          <a:noFill/>
        </p:spPr>
        <p:txBody>
          <a:bodyPr wrap="square" anchor="ctr" lIns="73152" rIns="73152" tIns="36576" bIns="36576">
            <a:noAutofit/>
          </a:bodyPr>
          <a:lstStyle/>
          <a:p>
            <a:pPr algn="l">
              <a:spcBef>
                <a:spcPts val="0"/>
              </a:spcBef>
              <a:spcAft>
                <a:spcPts val="0"/>
              </a:spcAft>
            </a:pPr>
            <a:r>
              <a:rPr lang="tr-TR" sz="2000" b="0" i="0">
                <a:solidFill>
                  <a:srgbClr val="262626"/>
                </a:solidFill>
                <a:latin typeface="Calibri"/>
              </a:rPr>
              <a:t>tabağa yiyeceği kadar almak, israfı önlemek</a:t>
            </a:r>
          </a:p>
        </p:txBody>
      </p:sp>
      <p:sp>
        <p:nvSpPr>
          <p:cNvPr id="16" name="Rounded Rectangle 15"/>
          <p:cNvSpPr/>
          <p:nvPr/>
        </p:nvSpPr>
        <p:spPr>
          <a:xfrm>
            <a:off x="640080" y="4590288"/>
            <a:ext cx="1920240" cy="548640"/>
          </a:xfrm>
          <a:prstGeom prst="roundRect">
            <a:avLst>
              <a:gd name="adj" fmla="val 30000"/>
            </a:avLst>
          </a:prstGeom>
          <a:solidFill>
            <a:srgbClr val="2E7D32"/>
          </a:solidFill>
          <a:ln>
            <a:noFill/>
          </a:ln>
          <a:effectLst/>
        </p:spPr>
        <p:txBody>
          <a:bodyPr rtlCol="0" anchor="ctr" wrap="square" lIns="54864" rIns="54864" tIns="18288" bIns="18288">
            <a:noAutofit/>
          </a:bodyPr>
          <a:lstStyle/>
          <a:p>
            <a:pPr algn="ctr">
              <a:spcBef>
                <a:spcPts val="0"/>
              </a:spcBef>
              <a:spcAft>
                <a:spcPts val="0"/>
              </a:spcAft>
            </a:pPr>
            <a:r>
              <a:rPr lang="tr-TR" sz="1800" b="1" i="0">
                <a:solidFill>
                  <a:srgbClr val="FFFFFF"/>
                </a:solidFill>
                <a:latin typeface="Calibri"/>
              </a:rPr>
              <a:t>Kâğıt ve malzeme</a:t>
            </a:r>
          </a:p>
        </p:txBody>
      </p:sp>
      <p:sp>
        <p:nvSpPr>
          <p:cNvPr id="17" name="TextBox 16"/>
          <p:cNvSpPr txBox="1"/>
          <p:nvPr/>
        </p:nvSpPr>
        <p:spPr>
          <a:xfrm>
            <a:off x="2697480" y="4434840"/>
            <a:ext cx="3703320" cy="859536"/>
          </a:xfrm>
          <a:prstGeom prst="rect">
            <a:avLst/>
          </a:prstGeom>
          <a:noFill/>
        </p:spPr>
        <p:txBody>
          <a:bodyPr wrap="square" anchor="ctr" lIns="73152" rIns="73152" tIns="36576" bIns="36576">
            <a:noAutofit/>
          </a:bodyPr>
          <a:lstStyle/>
          <a:p>
            <a:pPr algn="l">
              <a:spcBef>
                <a:spcPts val="0"/>
              </a:spcBef>
              <a:spcAft>
                <a:spcPts val="0"/>
              </a:spcAft>
            </a:pPr>
            <a:r>
              <a:rPr lang="tr-TR" sz="2000" b="0" i="0">
                <a:solidFill>
                  <a:srgbClr val="262626"/>
                </a:solidFill>
                <a:latin typeface="Calibri"/>
              </a:rPr>
              <a:t>iki yüzü kullanmak, geri dönüşüm</a:t>
            </a:r>
          </a:p>
        </p:txBody>
      </p:sp>
      <p:sp>
        <p:nvSpPr>
          <p:cNvPr id="18" name="Rounded Rectangle 17"/>
          <p:cNvSpPr/>
          <p:nvPr/>
        </p:nvSpPr>
        <p:spPr>
          <a:xfrm>
            <a:off x="640080" y="5449824"/>
            <a:ext cx="1920240" cy="548640"/>
          </a:xfrm>
          <a:prstGeom prst="roundRect">
            <a:avLst>
              <a:gd name="adj" fmla="val 30000"/>
            </a:avLst>
          </a:prstGeom>
          <a:solidFill>
            <a:srgbClr val="2E7D32"/>
          </a:solidFill>
          <a:ln>
            <a:noFill/>
          </a:ln>
          <a:effectLst/>
        </p:spPr>
        <p:txBody>
          <a:bodyPr rtlCol="0" anchor="ctr" wrap="square" lIns="54864" rIns="54864" tIns="18288" bIns="18288">
            <a:noAutofit/>
          </a:bodyPr>
          <a:lstStyle/>
          <a:p>
            <a:pPr algn="ctr">
              <a:spcBef>
                <a:spcPts val="0"/>
              </a:spcBef>
              <a:spcAft>
                <a:spcPts val="0"/>
              </a:spcAft>
            </a:pPr>
            <a:r>
              <a:rPr lang="tr-TR" sz="1800" b="1" i="0">
                <a:solidFill>
                  <a:srgbClr val="FFFFFF"/>
                </a:solidFill>
                <a:latin typeface="Calibri"/>
              </a:rPr>
              <a:t>Toprak</a:t>
            </a:r>
          </a:p>
        </p:txBody>
      </p:sp>
      <p:sp>
        <p:nvSpPr>
          <p:cNvPr id="19" name="TextBox 18"/>
          <p:cNvSpPr txBox="1"/>
          <p:nvPr/>
        </p:nvSpPr>
        <p:spPr>
          <a:xfrm>
            <a:off x="2697480" y="5294376"/>
            <a:ext cx="3703320" cy="859536"/>
          </a:xfrm>
          <a:prstGeom prst="rect">
            <a:avLst/>
          </a:prstGeom>
          <a:noFill/>
        </p:spPr>
        <p:txBody>
          <a:bodyPr wrap="square" anchor="ctr" lIns="73152" rIns="73152" tIns="36576" bIns="36576">
            <a:noAutofit/>
          </a:bodyPr>
          <a:lstStyle/>
          <a:p>
            <a:pPr algn="l">
              <a:spcBef>
                <a:spcPts val="0"/>
              </a:spcBef>
              <a:spcAft>
                <a:spcPts val="0"/>
              </a:spcAft>
            </a:pPr>
            <a:r>
              <a:rPr lang="tr-TR" sz="2000" b="0" i="0">
                <a:solidFill>
                  <a:srgbClr val="262626"/>
                </a:solidFill>
                <a:latin typeface="Calibri"/>
              </a:rPr>
              <a:t>verimli tarım alanlarını korumak</a:t>
            </a:r>
          </a:p>
        </p:txBody>
      </p:sp>
      <p:sp>
        <p:nvSpPr>
          <p:cNvPr id="20" name="Rounded Rectangle 19"/>
          <p:cNvSpPr/>
          <p:nvPr/>
        </p:nvSpPr>
        <p:spPr>
          <a:xfrm>
            <a:off x="6720840" y="1216152"/>
            <a:ext cx="4967935" cy="5029200"/>
          </a:xfrm>
          <a:prstGeom prst="roundRect">
            <a:avLst>
              <a:gd name="adj" fmla="val 6000"/>
            </a:avLst>
          </a:prstGeom>
          <a:solidFill>
            <a:srgbClr val="E3F1E4"/>
          </a:solidFill>
          <a:ln>
            <a:noFill/>
          </a:ln>
          <a:effectLst/>
        </p:spPr>
        <p:txBody>
          <a:bodyPr rtlCol="0" anchor="ctr"/>
          <a:lstStyle/>
          <a:p/>
        </p:txBody>
      </p:sp>
      <p:sp>
        <p:nvSpPr>
          <p:cNvPr id="21" name="Rectangle 20"/>
          <p:cNvSpPr/>
          <p:nvPr/>
        </p:nvSpPr>
        <p:spPr>
          <a:xfrm>
            <a:off x="6720840" y="1216152"/>
            <a:ext cx="109728" cy="5029200"/>
          </a:xfrm>
          <a:prstGeom prst="rect">
            <a:avLst/>
          </a:prstGeom>
          <a:solidFill>
            <a:srgbClr val="2E7D32"/>
          </a:solidFill>
          <a:ln>
            <a:noFill/>
          </a:ln>
          <a:effectLst/>
        </p:spPr>
        <p:txBody>
          <a:bodyPr rtlCol="0" anchor="ctr"/>
          <a:lstStyle/>
          <a:p/>
        </p:txBody>
      </p:sp>
      <p:sp>
        <p:nvSpPr>
          <p:cNvPr id="22" name="TextBox 21"/>
          <p:cNvSpPr txBox="1"/>
          <p:nvPr/>
        </p:nvSpPr>
        <p:spPr>
          <a:xfrm>
            <a:off x="6949440" y="1271016"/>
            <a:ext cx="4647895" cy="4919472"/>
          </a:xfrm>
          <a:prstGeom prst="rect">
            <a:avLst/>
          </a:prstGeom>
          <a:noFill/>
        </p:spPr>
        <p:txBody>
          <a:bodyPr wrap="square" anchor="ctr" lIns="73152" rIns="73152" tIns="36576" bIns="36576">
            <a:noAutofit/>
          </a:bodyPr>
          <a:lstStyle/>
          <a:p>
            <a:pPr algn="l">
              <a:spcBef>
                <a:spcPts val="0"/>
              </a:spcBef>
              <a:spcAft>
                <a:spcPts val="400"/>
              </a:spcAft>
            </a:pPr>
            <a:r>
              <a:rPr lang="tr-TR" sz="2100" b="1" i="0">
                <a:solidFill>
                  <a:srgbClr val="2E7D32"/>
                </a:solidFill>
                <a:latin typeface="Calibri"/>
              </a:rPr>
              <a:t>EŞLEŞ-PAYLAŞ: ülke ekonomisine katkısı</a:t>
            </a:r>
          </a:p>
          <a:p>
            <a:pPr algn="l" marL="261051" indent="-261051">
              <a:spcBef>
                <a:spcPts val="0"/>
              </a:spcBef>
              <a:spcAft>
                <a:spcPts val="500"/>
              </a:spcAft>
            </a:pPr>
            <a:r>
              <a:rPr lang="tr-TR" sz="2100" b="1" i="0">
                <a:solidFill>
                  <a:srgbClr val="2C6696"/>
                </a:solidFill>
                <a:latin typeface="Calibri"/>
              </a:rPr>
              <a:t>•  </a:t>
            </a:r>
            <a:r>
              <a:rPr lang="tr-TR" sz="2100" b="0" i="0">
                <a:solidFill>
                  <a:srgbClr val="262626"/>
                </a:solidFill>
                <a:latin typeface="Calibri"/>
              </a:rPr>
              <a:t>Aynı kaynakla daha çok üretim: maliyet düşer</a:t>
            </a:r>
          </a:p>
          <a:p>
            <a:pPr algn="l" marL="261051" indent="-261051">
              <a:spcBef>
                <a:spcPts val="0"/>
              </a:spcBef>
              <a:spcAft>
                <a:spcPts val="500"/>
              </a:spcAft>
            </a:pPr>
            <a:r>
              <a:rPr lang="tr-TR" sz="2100" b="1" i="0">
                <a:solidFill>
                  <a:srgbClr val="2C6696"/>
                </a:solidFill>
                <a:latin typeface="Calibri"/>
              </a:rPr>
              <a:t>•  </a:t>
            </a:r>
            <a:r>
              <a:rPr lang="tr-TR" sz="2100" b="0" i="0">
                <a:solidFill>
                  <a:srgbClr val="262626"/>
                </a:solidFill>
                <a:latin typeface="Calibri"/>
              </a:rPr>
              <a:t>Enerji ve su giderleri azalır; tasarruf yatırıma dönüşebilir</a:t>
            </a:r>
          </a:p>
          <a:p>
            <a:pPr algn="l" marL="261051" indent="-261051">
              <a:spcBef>
                <a:spcPts val="0"/>
              </a:spcBef>
              <a:spcAft>
                <a:spcPts val="500"/>
              </a:spcAft>
            </a:pPr>
            <a:r>
              <a:rPr lang="tr-TR" sz="2100" b="1" i="0">
                <a:solidFill>
                  <a:srgbClr val="2C6696"/>
                </a:solidFill>
                <a:latin typeface="Calibri"/>
              </a:rPr>
              <a:t>•  </a:t>
            </a:r>
            <a:r>
              <a:rPr lang="tr-TR" sz="2100" b="0" i="0">
                <a:solidFill>
                  <a:srgbClr val="262626"/>
                </a:solidFill>
                <a:latin typeface="Calibri"/>
              </a:rPr>
              <a:t>Geri dönüşüm ham madde ihtiyacını azaltır</a:t>
            </a:r>
          </a:p>
          <a:p>
            <a:pPr algn="l" marL="261051" indent="-261051">
              <a:spcBef>
                <a:spcPts val="0"/>
              </a:spcBef>
              <a:spcAft>
                <a:spcPts val="500"/>
              </a:spcAft>
            </a:pPr>
            <a:r>
              <a:rPr lang="tr-TR" sz="2100" b="1" i="0">
                <a:solidFill>
                  <a:srgbClr val="2C6696"/>
                </a:solidFill>
                <a:latin typeface="Calibri"/>
              </a:rPr>
              <a:t>•  </a:t>
            </a:r>
            <a:r>
              <a:rPr lang="tr-TR" sz="2100" b="0" i="0">
                <a:solidFill>
                  <a:srgbClr val="262626"/>
                </a:solidFill>
                <a:latin typeface="Calibri"/>
              </a:rPr>
              <a:t>Kaynaklar gelecek kuşaklara kalır</a:t>
            </a:r>
          </a:p>
          <a:p>
            <a:pPr algn="l">
              <a:spcBef>
                <a:spcPts val="0"/>
              </a:spcBef>
              <a:spcAft>
                <a:spcPts val="0"/>
              </a:spcAft>
            </a:pPr>
            <a:r>
              <a:rPr lang="tr-TR" sz="2100" b="0" i="1">
                <a:solidFill>
                  <a:srgbClr val="262626"/>
                </a:solidFill>
                <a:latin typeface="Calibri"/>
              </a:rPr>
              <a:t>Ülkemizin kaynaklarını korumak, ülkemize katkıdır.</a:t>
            </a:r>
          </a:p>
        </p:txBody>
      </p:sp>
      <p:sp>
        <p:nvSpPr>
          <p:cNvPr id="23" name="TextBox 2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24" name="Rounded Rectangle 2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181</a:t>
            </a:r>
          </a:p>
        </p:txBody>
      </p:sp>
      <p:sp>
        <p:nvSpPr>
          <p:cNvPr id="25" name="TextBox 2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112 / 166</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UYGULA: bir hafta boyunca deneyelim</a:t>
            </a:r>
          </a:p>
        </p:txBody>
      </p:sp>
      <p:sp>
        <p:nvSpPr>
          <p:cNvPr id="5" name="Rounded Rectangle 4"/>
          <p:cNvSpPr/>
          <p:nvPr/>
        </p:nvSpPr>
        <p:spPr>
          <a:xfrm>
            <a:off x="9555480" y="201168"/>
            <a:ext cx="2221992" cy="475488"/>
          </a:xfrm>
          <a:prstGeom prst="roundRect">
            <a:avLst>
              <a:gd name="adj" fmla="val 50000"/>
            </a:avLst>
          </a:prstGeom>
          <a:solidFill>
            <a:srgbClr val="B85C1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UYGULA · 1 HAFTA</a:t>
            </a:r>
          </a:p>
        </p:txBody>
      </p:sp>
      <p:sp>
        <p:nvSpPr>
          <p:cNvPr id="6" name="Rounded Rectangle 5"/>
          <p:cNvSpPr/>
          <p:nvPr/>
        </p:nvSpPr>
        <p:spPr>
          <a:xfrm>
            <a:off x="502920" y="1216152"/>
            <a:ext cx="11185855" cy="960120"/>
          </a:xfrm>
          <a:prstGeom prst="roundRect">
            <a:avLst>
              <a:gd name="adj" fmla="val 8000"/>
            </a:avLst>
          </a:prstGeom>
          <a:solidFill>
            <a:srgbClr val="F0F0F0"/>
          </a:solidFill>
          <a:ln>
            <a:noFill/>
          </a:ln>
          <a:effectLst/>
        </p:spPr>
        <p:txBody>
          <a:bodyPr rtlCol="0" anchor="ctr"/>
          <a:lstStyle/>
          <a:p/>
        </p:txBody>
      </p:sp>
      <p:sp>
        <p:nvSpPr>
          <p:cNvPr id="7" name="Rectangle 6"/>
          <p:cNvSpPr/>
          <p:nvPr/>
        </p:nvSpPr>
        <p:spPr>
          <a:xfrm>
            <a:off x="502920" y="1216152"/>
            <a:ext cx="118872" cy="960120"/>
          </a:xfrm>
          <a:prstGeom prst="rect">
            <a:avLst/>
          </a:prstGeom>
          <a:solidFill>
            <a:srgbClr val="B85C12"/>
          </a:solidFill>
          <a:ln>
            <a:noFill/>
          </a:ln>
          <a:effectLst/>
        </p:spPr>
        <p:txBody>
          <a:bodyPr rtlCol="0" anchor="ctr"/>
          <a:lstStyle/>
          <a:p/>
        </p:txBody>
      </p:sp>
      <p:sp>
        <p:nvSpPr>
          <p:cNvPr id="8" name="TextBox 7"/>
          <p:cNvSpPr txBox="1"/>
          <p:nvPr/>
        </p:nvSpPr>
        <p:spPr>
          <a:xfrm>
            <a:off x="777240" y="1216152"/>
            <a:ext cx="10774375" cy="960120"/>
          </a:xfrm>
          <a:prstGeom prst="rect">
            <a:avLst/>
          </a:prstGeom>
          <a:noFill/>
        </p:spPr>
        <p:txBody>
          <a:bodyPr wrap="square" anchor="ctr" lIns="73152" rIns="73152" tIns="36576" bIns="36576">
            <a:noAutofit/>
          </a:bodyPr>
          <a:lstStyle/>
          <a:p>
            <a:pPr algn="l">
              <a:spcBef>
                <a:spcPts val="0"/>
              </a:spcBef>
              <a:spcAft>
                <a:spcPts val="0"/>
              </a:spcAft>
            </a:pPr>
            <a:r>
              <a:rPr lang="tr-TR" sz="2400" b="0" i="0">
                <a:solidFill>
                  <a:srgbClr val="262626"/>
                </a:solidFill>
                <a:latin typeface="Calibri"/>
              </a:rPr>
              <a:t>Belirlediğiniz ortak çözüm önerilerinden en az birini okul ve aile yaşamınızda uygulayınız.</a:t>
            </a:r>
          </a:p>
        </p:txBody>
      </p:sp>
      <p:sp>
        <p:nvSpPr>
          <p:cNvPr id="9" name="Rounded Rectangle 8"/>
          <p:cNvSpPr/>
          <p:nvPr/>
        </p:nvSpPr>
        <p:spPr>
          <a:xfrm>
            <a:off x="502920" y="2313432"/>
            <a:ext cx="11185855" cy="2377440"/>
          </a:xfrm>
          <a:prstGeom prst="roundRect">
            <a:avLst>
              <a:gd name="adj" fmla="val 8000"/>
            </a:avLst>
          </a:prstGeom>
          <a:solidFill>
            <a:srgbClr val="F0F0F0"/>
          </a:solidFill>
          <a:ln>
            <a:noFill/>
          </a:ln>
          <a:effectLst/>
        </p:spPr>
        <p:txBody>
          <a:bodyPr rtlCol="0" anchor="ctr" wrap="square" lIns="274320" rIns="274320" tIns="73152" bIns="73152">
            <a:noAutofit/>
          </a:bodyPr>
          <a:lstStyle/>
          <a:p>
            <a:pPr algn="l">
              <a:spcBef>
                <a:spcPts val="0"/>
              </a:spcBef>
              <a:spcAft>
                <a:spcPts val="800"/>
              </a:spcAft>
            </a:pPr>
            <a:r>
              <a:rPr lang="tr-TR" sz="2200" b="1" i="0">
                <a:solidFill>
                  <a:srgbClr val="B85C12"/>
                </a:solidFill>
                <a:latin typeface="Calibri"/>
              </a:rPr>
              <a:t>Bu kapsamda</a:t>
            </a:r>
          </a:p>
          <a:p>
            <a:pPr algn="l" marL="273482" indent="-273482">
              <a:spcBef>
                <a:spcPts val="0"/>
              </a:spcBef>
              <a:spcAft>
                <a:spcPts val="800"/>
              </a:spcAft>
            </a:pPr>
            <a:r>
              <a:rPr lang="tr-TR" sz="2200" b="1" i="0">
                <a:solidFill>
                  <a:srgbClr val="B85C12"/>
                </a:solidFill>
                <a:latin typeface="Calibri"/>
              </a:rPr>
              <a:t>•  </a:t>
            </a:r>
            <a:r>
              <a:rPr lang="tr-TR" sz="2200" b="0" i="0">
                <a:solidFill>
                  <a:srgbClr val="262626"/>
                </a:solidFill>
                <a:latin typeface="Calibri"/>
              </a:rPr>
              <a:t>Evde veya okulda kaynak kullanımına yönelik (su, enerji, gıda, kâğıt vb.) somut bir tasarruf davranışı belirleyiniz.</a:t>
            </a:r>
          </a:p>
          <a:p>
            <a:pPr algn="l" marL="273482" indent="-273482">
              <a:spcBef>
                <a:spcPts val="0"/>
              </a:spcBef>
              <a:spcAft>
                <a:spcPts val="800"/>
              </a:spcAft>
            </a:pPr>
            <a:r>
              <a:rPr lang="tr-TR" sz="2200" b="1" i="0">
                <a:solidFill>
                  <a:srgbClr val="B85C12"/>
                </a:solidFill>
                <a:latin typeface="Calibri"/>
              </a:rPr>
              <a:t>•  </a:t>
            </a:r>
            <a:r>
              <a:rPr lang="tr-TR" sz="2200" b="0" i="0">
                <a:solidFill>
                  <a:srgbClr val="262626"/>
                </a:solidFill>
                <a:latin typeface="Calibri"/>
              </a:rPr>
              <a:t>Bu davranışı en az 1 hafta boyunca uygulayınız.</a:t>
            </a:r>
          </a:p>
          <a:p>
            <a:pPr algn="l" marL="273482" indent="-273482">
              <a:spcBef>
                <a:spcPts val="0"/>
              </a:spcBef>
              <a:spcAft>
                <a:spcPts val="0"/>
              </a:spcAft>
            </a:pPr>
            <a:r>
              <a:rPr lang="tr-TR" sz="2200" b="1" i="0">
                <a:solidFill>
                  <a:srgbClr val="B85C12"/>
                </a:solidFill>
                <a:latin typeface="Calibri"/>
              </a:rPr>
              <a:t>•  </a:t>
            </a:r>
            <a:r>
              <a:rPr lang="tr-TR" sz="2200" b="0" i="0">
                <a:solidFill>
                  <a:srgbClr val="262626"/>
                </a:solidFill>
                <a:latin typeface="Calibri"/>
              </a:rPr>
              <a:t>Uygulama sürecini kısa notlar, fotoğraflar veya gözlem kayıtları ile belgelendiriniz.</a:t>
            </a:r>
          </a:p>
        </p:txBody>
      </p:sp>
      <p:sp>
        <p:nvSpPr>
          <p:cNvPr id="10" name="Rounded Rectangle 9"/>
          <p:cNvSpPr/>
          <p:nvPr/>
        </p:nvSpPr>
        <p:spPr>
          <a:xfrm>
            <a:off x="502920" y="4828032"/>
            <a:ext cx="11185855" cy="1463040"/>
          </a:xfrm>
          <a:prstGeom prst="roundRect">
            <a:avLst>
              <a:gd name="adj" fmla="val 8000"/>
            </a:avLst>
          </a:prstGeom>
          <a:solidFill>
            <a:srgbClr val="FFF3D1"/>
          </a:solidFill>
          <a:ln>
            <a:noFill/>
          </a:ln>
          <a:effectLst/>
        </p:spPr>
        <p:txBody>
          <a:bodyPr rtlCol="0" anchor="ctr" wrap="square" lIns="201168" rIns="201168" tIns="73152" bIns="73152">
            <a:noAutofit/>
          </a:bodyPr>
          <a:lstStyle/>
          <a:p>
            <a:pPr algn="l">
              <a:spcBef>
                <a:spcPts val="0"/>
              </a:spcBef>
              <a:spcAft>
                <a:spcPts val="0"/>
              </a:spcAft>
            </a:pPr>
            <a:r>
              <a:rPr lang="tr-TR" sz="2100" b="1" i="0">
                <a:solidFill>
                  <a:srgbClr val="262626"/>
                </a:solidFill>
                <a:latin typeface="Calibri"/>
              </a:rPr>
              <a:t>Bizde:</a:t>
            </a:r>
            <a:r>
              <a:rPr lang="tr-TR" sz="2100" b="0" i="0">
                <a:solidFill>
                  <a:srgbClr val="262626"/>
                </a:solidFill>
                <a:latin typeface="Calibri"/>
              </a:rPr>
              <a:t> gözlem kaydı = çalışma kâğıdının 11. maddesi · fotoğraf zorunlu değil, kimsenin fotoğrafı çekilmez · kişisel bilgi yazılmaz</a:t>
            </a:r>
          </a:p>
        </p:txBody>
      </p:sp>
      <p:sp>
        <p:nvSpPr>
          <p:cNvPr id="11" name="TextBox 10"/>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12" name="Rounded Rectangle 11"/>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181</a:t>
            </a:r>
          </a:p>
        </p:txBody>
      </p:sp>
      <p:sp>
        <p:nvSpPr>
          <p:cNvPr id="13" name="TextBox 12"/>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113 / 166</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UYGULA — örnek gözlem kaydı</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Rounded Rectangle 5"/>
          <p:cNvSpPr/>
          <p:nvPr/>
        </p:nvSpPr>
        <p:spPr>
          <a:xfrm>
            <a:off x="502920" y="1216152"/>
            <a:ext cx="11185855" cy="685800"/>
          </a:xfrm>
          <a:prstGeom prst="roundRect">
            <a:avLst>
              <a:gd name="adj" fmla="val 8000"/>
            </a:avLst>
          </a:prstGeom>
          <a:solidFill>
            <a:srgbClr val="E3F1E4"/>
          </a:solidFill>
          <a:ln w="12700">
            <a:solidFill>
              <a:srgbClr val="2E7D32"/>
            </a:solidFill>
          </a:ln>
          <a:effectLst/>
        </p:spPr>
        <p:txBody>
          <a:bodyPr rtlCol="0" anchor="ctr" wrap="square" lIns="228600" rIns="228600" tIns="73152" bIns="73152">
            <a:noAutofit/>
          </a:bodyPr>
          <a:lstStyle/>
          <a:p>
            <a:pPr algn="l">
              <a:spcBef>
                <a:spcPts val="0"/>
              </a:spcBef>
              <a:spcAft>
                <a:spcPts val="0"/>
              </a:spcAft>
            </a:pPr>
            <a:r>
              <a:rPr lang="tr-TR" sz="2200" b="1" i="0">
                <a:solidFill>
                  <a:srgbClr val="262626"/>
                </a:solidFill>
                <a:latin typeface="Calibri"/>
              </a:rPr>
              <a:t>Davranışım:</a:t>
            </a:r>
            <a:r>
              <a:rPr lang="tr-TR" sz="2200" b="0" i="0">
                <a:solidFill>
                  <a:srgbClr val="262626"/>
                </a:solidFill>
                <a:latin typeface="Calibri"/>
              </a:rPr>
              <a:t> Dişimi fırçalarken musluğu kapatırım. (su)</a:t>
            </a:r>
          </a:p>
        </p:txBody>
      </p:sp>
      <p:graphicFrame>
        <p:nvGraphicFramePr>
          <p:cNvPr id="7" name="Table 6"/>
          <p:cNvGraphicFramePr>
            <a:graphicFrameLocks noGrp="1"/>
          </p:cNvGraphicFramePr>
          <p:nvPr/>
        </p:nvGraphicFramePr>
        <p:xfrm>
          <a:off x="502920" y="2084832"/>
          <a:ext cx="11185853" cy="1828800"/>
        </p:xfrm>
        <a:graphic>
          <a:graphicData uri="http://schemas.openxmlformats.org/drawingml/2006/table">
            <a:tbl>
              <a:tblPr firstRow="1" bandRow="1">
                <a:tableStyleId>{5C22544A-7EE6-4342-B048-85BDC9FD1C3A}</a:tableStyleId>
              </a:tblPr>
              <a:tblGrid>
                <a:gridCol w="1600200"/>
                <a:gridCol w="1369379"/>
                <a:gridCol w="1369379"/>
                <a:gridCol w="1369379"/>
                <a:gridCol w="1369379"/>
                <a:gridCol w="1369379"/>
                <a:gridCol w="1369379"/>
                <a:gridCol w="1369379"/>
              </a:tblGrid>
              <a:tr h="457200">
                <a:tc>
                  <a:txBody>
                    <a:bodyPr wrap="square"/>
                    <a:lstStyle/>
                    <a:p>
                      <a:pPr algn="ctr">
                        <a:spcBef>
                          <a:spcPts val="0"/>
                        </a:spcBef>
                        <a:spcAft>
                          <a:spcPts val="0"/>
                        </a:spcAft>
                      </a:pPr>
                    </a:p>
                  </a:txBody>
                  <a:tcPr marL="54864" marR="54864" marT="18288" marB="18288" anchor="ctr">
                    <a:solidFill>
                      <a:srgbClr val="2E7D32"/>
                    </a:solidFill>
                  </a:tcPr>
                </a:tc>
                <a:tc>
                  <a:txBody>
                    <a:bodyPr wrap="square"/>
                    <a:lstStyle/>
                    <a:p>
                      <a:pPr algn="ctr">
                        <a:spcBef>
                          <a:spcPts val="0"/>
                        </a:spcBef>
                        <a:spcAft>
                          <a:spcPts val="0"/>
                        </a:spcAft>
                      </a:pPr>
                      <a:r>
                        <a:rPr lang="tr-TR" sz="1700" b="1" i="0">
                          <a:solidFill>
                            <a:srgbClr val="FFFFFF"/>
                          </a:solidFill>
                          <a:latin typeface="Calibri"/>
                        </a:rPr>
                        <a:t>1. gün</a:t>
                      </a:r>
                    </a:p>
                  </a:txBody>
                  <a:tcPr marL="54864" marR="54864" marT="18288" marB="18288" anchor="ctr">
                    <a:solidFill>
                      <a:srgbClr val="2E7D32"/>
                    </a:solidFill>
                  </a:tcPr>
                </a:tc>
                <a:tc>
                  <a:txBody>
                    <a:bodyPr wrap="square"/>
                    <a:lstStyle/>
                    <a:p>
                      <a:pPr algn="ctr">
                        <a:spcBef>
                          <a:spcPts val="0"/>
                        </a:spcBef>
                        <a:spcAft>
                          <a:spcPts val="0"/>
                        </a:spcAft>
                      </a:pPr>
                      <a:r>
                        <a:rPr lang="tr-TR" sz="1700" b="1" i="0">
                          <a:solidFill>
                            <a:srgbClr val="FFFFFF"/>
                          </a:solidFill>
                          <a:latin typeface="Calibri"/>
                        </a:rPr>
                        <a:t>2. gün</a:t>
                      </a:r>
                    </a:p>
                  </a:txBody>
                  <a:tcPr marL="54864" marR="54864" marT="18288" marB="18288" anchor="ctr">
                    <a:solidFill>
                      <a:srgbClr val="2E7D32"/>
                    </a:solidFill>
                  </a:tcPr>
                </a:tc>
                <a:tc>
                  <a:txBody>
                    <a:bodyPr wrap="square"/>
                    <a:lstStyle/>
                    <a:p>
                      <a:pPr algn="ctr">
                        <a:spcBef>
                          <a:spcPts val="0"/>
                        </a:spcBef>
                        <a:spcAft>
                          <a:spcPts val="0"/>
                        </a:spcAft>
                      </a:pPr>
                      <a:r>
                        <a:rPr lang="tr-TR" sz="1700" b="1" i="0">
                          <a:solidFill>
                            <a:srgbClr val="FFFFFF"/>
                          </a:solidFill>
                          <a:latin typeface="Calibri"/>
                        </a:rPr>
                        <a:t>3. gün</a:t>
                      </a:r>
                    </a:p>
                  </a:txBody>
                  <a:tcPr marL="54864" marR="54864" marT="18288" marB="18288" anchor="ctr">
                    <a:solidFill>
                      <a:srgbClr val="2E7D32"/>
                    </a:solidFill>
                  </a:tcPr>
                </a:tc>
                <a:tc>
                  <a:txBody>
                    <a:bodyPr wrap="square"/>
                    <a:lstStyle/>
                    <a:p>
                      <a:pPr algn="ctr">
                        <a:spcBef>
                          <a:spcPts val="0"/>
                        </a:spcBef>
                        <a:spcAft>
                          <a:spcPts val="0"/>
                        </a:spcAft>
                      </a:pPr>
                      <a:r>
                        <a:rPr lang="tr-TR" sz="1700" b="1" i="0">
                          <a:solidFill>
                            <a:srgbClr val="FFFFFF"/>
                          </a:solidFill>
                          <a:latin typeface="Calibri"/>
                        </a:rPr>
                        <a:t>4. gün</a:t>
                      </a:r>
                    </a:p>
                  </a:txBody>
                  <a:tcPr marL="54864" marR="54864" marT="18288" marB="18288" anchor="ctr">
                    <a:solidFill>
                      <a:srgbClr val="2E7D32"/>
                    </a:solidFill>
                  </a:tcPr>
                </a:tc>
                <a:tc>
                  <a:txBody>
                    <a:bodyPr wrap="square"/>
                    <a:lstStyle/>
                    <a:p>
                      <a:pPr algn="ctr">
                        <a:spcBef>
                          <a:spcPts val="0"/>
                        </a:spcBef>
                        <a:spcAft>
                          <a:spcPts val="0"/>
                        </a:spcAft>
                      </a:pPr>
                      <a:r>
                        <a:rPr lang="tr-TR" sz="1700" b="1" i="0">
                          <a:solidFill>
                            <a:srgbClr val="FFFFFF"/>
                          </a:solidFill>
                          <a:latin typeface="Calibri"/>
                        </a:rPr>
                        <a:t>5. gün</a:t>
                      </a:r>
                    </a:p>
                  </a:txBody>
                  <a:tcPr marL="54864" marR="54864" marT="18288" marB="18288" anchor="ctr">
                    <a:solidFill>
                      <a:srgbClr val="2E7D32"/>
                    </a:solidFill>
                  </a:tcPr>
                </a:tc>
                <a:tc>
                  <a:txBody>
                    <a:bodyPr wrap="square"/>
                    <a:lstStyle/>
                    <a:p>
                      <a:pPr algn="ctr">
                        <a:spcBef>
                          <a:spcPts val="0"/>
                        </a:spcBef>
                        <a:spcAft>
                          <a:spcPts val="0"/>
                        </a:spcAft>
                      </a:pPr>
                      <a:r>
                        <a:rPr lang="tr-TR" sz="1700" b="1" i="0">
                          <a:solidFill>
                            <a:srgbClr val="FFFFFF"/>
                          </a:solidFill>
                          <a:latin typeface="Calibri"/>
                        </a:rPr>
                        <a:t>6. gün</a:t>
                      </a:r>
                    </a:p>
                  </a:txBody>
                  <a:tcPr marL="54864" marR="54864" marT="18288" marB="18288" anchor="ctr">
                    <a:solidFill>
                      <a:srgbClr val="2E7D32"/>
                    </a:solidFill>
                  </a:tcPr>
                </a:tc>
                <a:tc>
                  <a:txBody>
                    <a:bodyPr wrap="square"/>
                    <a:lstStyle/>
                    <a:p>
                      <a:pPr algn="ctr">
                        <a:spcBef>
                          <a:spcPts val="0"/>
                        </a:spcBef>
                        <a:spcAft>
                          <a:spcPts val="0"/>
                        </a:spcAft>
                      </a:pPr>
                      <a:r>
                        <a:rPr lang="tr-TR" sz="1700" b="1" i="0">
                          <a:solidFill>
                            <a:srgbClr val="FFFFFF"/>
                          </a:solidFill>
                          <a:latin typeface="Calibri"/>
                        </a:rPr>
                        <a:t>7. gün</a:t>
                      </a:r>
                    </a:p>
                  </a:txBody>
                  <a:tcPr marL="54864" marR="54864" marT="18288" marB="18288" anchor="ctr">
                    <a:solidFill>
                      <a:srgbClr val="2E7D32"/>
                    </a:solidFill>
                  </a:tcPr>
                </a:tc>
              </a:tr>
              <a:tr h="685800">
                <a:tc>
                  <a:txBody>
                    <a:bodyPr wrap="square"/>
                    <a:lstStyle/>
                    <a:p>
                      <a:pPr algn="l">
                        <a:spcBef>
                          <a:spcPts val="0"/>
                        </a:spcBef>
                        <a:spcAft>
                          <a:spcPts val="0"/>
                        </a:spcAft>
                      </a:pPr>
                      <a:r>
                        <a:rPr lang="tr-TR" sz="1700" b="1" i="0">
                          <a:solidFill>
                            <a:srgbClr val="262626"/>
                          </a:solidFill>
                          <a:latin typeface="Calibri"/>
                        </a:rPr>
                        <a:t>Uyguladım</a:t>
                      </a:r>
                    </a:p>
                  </a:txBody>
                  <a:tcPr marL="54864" marR="54864" marT="18288" marB="18288" anchor="ctr">
                    <a:solidFill>
                      <a:srgbClr val="FFFFFF"/>
                    </a:solidFill>
                  </a:tcPr>
                </a:tc>
                <a:tc>
                  <a:txBody>
                    <a:bodyPr wrap="square"/>
                    <a:lstStyle/>
                    <a:p>
                      <a:pPr algn="ctr">
                        <a:spcBef>
                          <a:spcPts val="0"/>
                        </a:spcBef>
                        <a:spcAft>
                          <a:spcPts val="0"/>
                        </a:spcAft>
                      </a:pPr>
                      <a:r>
                        <a:rPr lang="tr-TR" sz="1700" b="0" i="0">
                          <a:solidFill>
                            <a:srgbClr val="262626"/>
                          </a:solidFill>
                          <a:latin typeface="Calibri"/>
                        </a:rPr>
                        <a:t>✓</a:t>
                      </a:r>
                    </a:p>
                  </a:txBody>
                  <a:tcPr marL="54864" marR="54864" marT="18288" marB="18288" anchor="ctr">
                    <a:solidFill>
                      <a:srgbClr val="FFFFFF"/>
                    </a:solidFill>
                  </a:tcPr>
                </a:tc>
                <a:tc>
                  <a:txBody>
                    <a:bodyPr wrap="square"/>
                    <a:lstStyle/>
                    <a:p>
                      <a:pPr algn="ctr">
                        <a:spcBef>
                          <a:spcPts val="0"/>
                        </a:spcBef>
                        <a:spcAft>
                          <a:spcPts val="0"/>
                        </a:spcAft>
                      </a:pPr>
                      <a:r>
                        <a:rPr lang="tr-TR" sz="1700" b="0" i="0">
                          <a:solidFill>
                            <a:srgbClr val="262626"/>
                          </a:solidFill>
                          <a:latin typeface="Calibri"/>
                        </a:rPr>
                        <a:t>–</a:t>
                      </a:r>
                    </a:p>
                  </a:txBody>
                  <a:tcPr marL="54864" marR="54864" marT="18288" marB="18288" anchor="ctr">
                    <a:solidFill>
                      <a:srgbClr val="FFFFFF"/>
                    </a:solidFill>
                  </a:tcPr>
                </a:tc>
                <a:tc>
                  <a:txBody>
                    <a:bodyPr wrap="square"/>
                    <a:lstStyle/>
                    <a:p>
                      <a:pPr algn="ctr">
                        <a:spcBef>
                          <a:spcPts val="0"/>
                        </a:spcBef>
                        <a:spcAft>
                          <a:spcPts val="0"/>
                        </a:spcAft>
                      </a:pPr>
                      <a:r>
                        <a:rPr lang="tr-TR" sz="1700" b="0" i="0">
                          <a:solidFill>
                            <a:srgbClr val="262626"/>
                          </a:solidFill>
                          <a:latin typeface="Calibri"/>
                        </a:rPr>
                        <a:t>✓</a:t>
                      </a:r>
                    </a:p>
                  </a:txBody>
                  <a:tcPr marL="54864" marR="54864" marT="18288" marB="18288" anchor="ctr">
                    <a:solidFill>
                      <a:srgbClr val="FFFFFF"/>
                    </a:solidFill>
                  </a:tcPr>
                </a:tc>
                <a:tc>
                  <a:txBody>
                    <a:bodyPr wrap="square"/>
                    <a:lstStyle/>
                    <a:p>
                      <a:pPr algn="ctr">
                        <a:spcBef>
                          <a:spcPts val="0"/>
                        </a:spcBef>
                        <a:spcAft>
                          <a:spcPts val="0"/>
                        </a:spcAft>
                      </a:pPr>
                      <a:r>
                        <a:rPr lang="tr-TR" sz="1700" b="0" i="0">
                          <a:solidFill>
                            <a:srgbClr val="262626"/>
                          </a:solidFill>
                          <a:latin typeface="Calibri"/>
                        </a:rPr>
                        <a:t>✓</a:t>
                      </a:r>
                    </a:p>
                  </a:txBody>
                  <a:tcPr marL="54864" marR="54864" marT="18288" marB="18288" anchor="ctr">
                    <a:solidFill>
                      <a:srgbClr val="FFFFFF"/>
                    </a:solidFill>
                  </a:tcPr>
                </a:tc>
                <a:tc>
                  <a:txBody>
                    <a:bodyPr wrap="square"/>
                    <a:lstStyle/>
                    <a:p>
                      <a:pPr algn="ctr">
                        <a:spcBef>
                          <a:spcPts val="0"/>
                        </a:spcBef>
                        <a:spcAft>
                          <a:spcPts val="0"/>
                        </a:spcAft>
                      </a:pPr>
                      <a:r>
                        <a:rPr lang="tr-TR" sz="1700" b="0" i="0">
                          <a:solidFill>
                            <a:srgbClr val="262626"/>
                          </a:solidFill>
                          <a:latin typeface="Calibri"/>
                        </a:rPr>
                        <a:t>✓</a:t>
                      </a:r>
                    </a:p>
                  </a:txBody>
                  <a:tcPr marL="54864" marR="54864" marT="18288" marB="18288" anchor="ctr">
                    <a:solidFill>
                      <a:srgbClr val="FFFFFF"/>
                    </a:solidFill>
                  </a:tcPr>
                </a:tc>
                <a:tc>
                  <a:txBody>
                    <a:bodyPr wrap="square"/>
                    <a:lstStyle/>
                    <a:p>
                      <a:pPr algn="ctr">
                        <a:spcBef>
                          <a:spcPts val="0"/>
                        </a:spcBef>
                        <a:spcAft>
                          <a:spcPts val="0"/>
                        </a:spcAft>
                      </a:pPr>
                      <a:r>
                        <a:rPr lang="tr-TR" sz="1700" b="0" i="0">
                          <a:solidFill>
                            <a:srgbClr val="262626"/>
                          </a:solidFill>
                          <a:latin typeface="Calibri"/>
                        </a:rPr>
                        <a:t>✓</a:t>
                      </a:r>
                    </a:p>
                  </a:txBody>
                  <a:tcPr marL="54864" marR="54864" marT="18288" marB="18288" anchor="ctr">
                    <a:solidFill>
                      <a:srgbClr val="FFFFFF"/>
                    </a:solidFill>
                  </a:tcPr>
                </a:tc>
                <a:tc>
                  <a:txBody>
                    <a:bodyPr wrap="square"/>
                    <a:lstStyle/>
                    <a:p>
                      <a:pPr algn="ctr">
                        <a:spcBef>
                          <a:spcPts val="0"/>
                        </a:spcBef>
                        <a:spcAft>
                          <a:spcPts val="0"/>
                        </a:spcAft>
                      </a:pPr>
                      <a:r>
                        <a:rPr lang="tr-TR" sz="1700" b="0" i="0">
                          <a:solidFill>
                            <a:srgbClr val="262626"/>
                          </a:solidFill>
                          <a:latin typeface="Calibri"/>
                        </a:rPr>
                        <a:t>✓</a:t>
                      </a:r>
                    </a:p>
                  </a:txBody>
                  <a:tcPr marL="54864" marR="54864" marT="18288" marB="18288" anchor="ctr">
                    <a:solidFill>
                      <a:srgbClr val="FFFFFF"/>
                    </a:solidFill>
                  </a:tcPr>
                </a:tc>
              </a:tr>
              <a:tr h="685800">
                <a:tc>
                  <a:txBody>
                    <a:bodyPr wrap="square"/>
                    <a:lstStyle/>
                    <a:p>
                      <a:pPr algn="l">
                        <a:spcBef>
                          <a:spcPts val="0"/>
                        </a:spcBef>
                        <a:spcAft>
                          <a:spcPts val="0"/>
                        </a:spcAft>
                      </a:pPr>
                      <a:r>
                        <a:rPr lang="tr-TR" sz="1700" b="1" i="0">
                          <a:solidFill>
                            <a:srgbClr val="262626"/>
                          </a:solidFill>
                          <a:latin typeface="Calibri"/>
                        </a:rPr>
                        <a:t>Kısa not</a:t>
                      </a:r>
                    </a:p>
                  </a:txBody>
                  <a:tcPr marL="54864" marR="54864" marT="18288" marB="18288" anchor="ctr">
                    <a:solidFill>
                      <a:srgbClr val="E3F1E4"/>
                    </a:solidFill>
                  </a:tcPr>
                </a:tc>
                <a:tc>
                  <a:txBody>
                    <a:bodyPr wrap="square"/>
                    <a:lstStyle/>
                    <a:p>
                      <a:pPr algn="ctr">
                        <a:spcBef>
                          <a:spcPts val="0"/>
                        </a:spcBef>
                        <a:spcAft>
                          <a:spcPts val="0"/>
                        </a:spcAft>
                      </a:pPr>
                      <a:r>
                        <a:rPr lang="tr-TR" sz="1700" b="0" i="0">
                          <a:solidFill>
                            <a:srgbClr val="262626"/>
                          </a:solidFill>
                          <a:latin typeface="Calibri"/>
                        </a:rPr>
                        <a:t>ilk gün</a:t>
                      </a:r>
                    </a:p>
                  </a:txBody>
                  <a:tcPr marL="54864" marR="54864" marT="18288" marB="18288" anchor="ctr">
                    <a:solidFill>
                      <a:srgbClr val="E3F1E4"/>
                    </a:solidFill>
                  </a:tcPr>
                </a:tc>
                <a:tc>
                  <a:txBody>
                    <a:bodyPr wrap="square"/>
                    <a:lstStyle/>
                    <a:p>
                      <a:pPr algn="ctr">
                        <a:spcBef>
                          <a:spcPts val="0"/>
                        </a:spcBef>
                        <a:spcAft>
                          <a:spcPts val="0"/>
                        </a:spcAft>
                      </a:pPr>
                      <a:r>
                        <a:rPr lang="tr-TR" sz="1700" b="0" i="0">
                          <a:solidFill>
                            <a:srgbClr val="262626"/>
                          </a:solidFill>
                          <a:latin typeface="Calibri"/>
                        </a:rPr>
                        <a:t>unuttum</a:t>
                      </a:r>
                    </a:p>
                  </a:txBody>
                  <a:tcPr marL="54864" marR="54864" marT="18288" marB="18288" anchor="ctr">
                    <a:solidFill>
                      <a:srgbClr val="E3F1E4"/>
                    </a:solidFill>
                  </a:tcPr>
                </a:tc>
                <a:tc>
                  <a:txBody>
                    <a:bodyPr wrap="square"/>
                    <a:lstStyle/>
                    <a:p>
                      <a:pPr algn="ctr">
                        <a:spcBef>
                          <a:spcPts val="0"/>
                        </a:spcBef>
                        <a:spcAft>
                          <a:spcPts val="0"/>
                        </a:spcAft>
                      </a:pPr>
                      <a:r>
                        <a:rPr lang="tr-TR" sz="1700" b="0" i="0">
                          <a:solidFill>
                            <a:srgbClr val="262626"/>
                          </a:solidFill>
                          <a:latin typeface="Calibri"/>
                        </a:rPr>
                        <a:t>lavaboya not koydum</a:t>
                      </a:r>
                    </a:p>
                  </a:txBody>
                  <a:tcPr marL="54864" marR="54864" marT="18288" marB="18288" anchor="ctr">
                    <a:solidFill>
                      <a:srgbClr val="E3F1E4"/>
                    </a:solidFill>
                  </a:tcPr>
                </a:tc>
                <a:tc>
                  <a:txBody>
                    <a:bodyPr wrap="square"/>
                    <a:lstStyle/>
                    <a:p>
                      <a:pPr algn="ctr">
                        <a:spcBef>
                          <a:spcPts val="0"/>
                        </a:spcBef>
                        <a:spcAft>
                          <a:spcPts val="0"/>
                        </a:spcAft>
                      </a:pPr>
                      <a:r>
                        <a:rPr lang="tr-TR" sz="1700" b="0" i="0">
                          <a:solidFill>
                            <a:srgbClr val="262626"/>
                          </a:solidFill>
                          <a:latin typeface="Calibri"/>
                        </a:rPr>
                        <a:t>kolaylaştı</a:t>
                      </a:r>
                    </a:p>
                  </a:txBody>
                  <a:tcPr marL="54864" marR="54864" marT="18288" marB="18288" anchor="ctr">
                    <a:solidFill>
                      <a:srgbClr val="E3F1E4"/>
                    </a:solidFill>
                  </a:tcPr>
                </a:tc>
                <a:tc>
                  <a:txBody>
                    <a:bodyPr wrap="square"/>
                    <a:lstStyle/>
                    <a:p>
                      <a:pPr algn="ctr">
                        <a:spcBef>
                          <a:spcPts val="0"/>
                        </a:spcBef>
                        <a:spcAft>
                          <a:spcPts val="0"/>
                        </a:spcAft>
                      </a:pPr>
                      <a:r>
                        <a:rPr lang="tr-TR" sz="1700" b="0" i="0">
                          <a:solidFill>
                            <a:srgbClr val="262626"/>
                          </a:solidFill>
                          <a:latin typeface="Calibri"/>
                        </a:rPr>
                        <a:t>hatırladım</a:t>
                      </a:r>
                    </a:p>
                  </a:txBody>
                  <a:tcPr marL="54864" marR="54864" marT="18288" marB="18288" anchor="ctr">
                    <a:solidFill>
                      <a:srgbClr val="E3F1E4"/>
                    </a:solidFill>
                  </a:tcPr>
                </a:tc>
                <a:tc>
                  <a:txBody>
                    <a:bodyPr wrap="square"/>
                    <a:lstStyle/>
                    <a:p>
                      <a:pPr algn="ctr">
                        <a:spcBef>
                          <a:spcPts val="0"/>
                        </a:spcBef>
                        <a:spcAft>
                          <a:spcPts val="0"/>
                        </a:spcAft>
                      </a:pPr>
                      <a:r>
                        <a:rPr lang="tr-TR" sz="1700" b="0" i="0">
                          <a:solidFill>
                            <a:srgbClr val="262626"/>
                          </a:solidFill>
                          <a:latin typeface="Calibri"/>
                        </a:rPr>
                        <a:t>alıştım</a:t>
                      </a:r>
                    </a:p>
                  </a:txBody>
                  <a:tcPr marL="54864" marR="54864" marT="18288" marB="18288" anchor="ctr">
                    <a:solidFill>
                      <a:srgbClr val="E3F1E4"/>
                    </a:solidFill>
                  </a:tcPr>
                </a:tc>
                <a:tc>
                  <a:txBody>
                    <a:bodyPr wrap="square"/>
                    <a:lstStyle/>
                    <a:p>
                      <a:pPr algn="ctr">
                        <a:spcBef>
                          <a:spcPts val="0"/>
                        </a:spcBef>
                        <a:spcAft>
                          <a:spcPts val="0"/>
                        </a:spcAft>
                      </a:pPr>
                      <a:r>
                        <a:rPr lang="tr-TR" sz="1700" b="0" i="0">
                          <a:solidFill>
                            <a:srgbClr val="262626"/>
                          </a:solidFill>
                          <a:latin typeface="Calibri"/>
                        </a:rPr>
                        <a:t>alışkanlık oldu</a:t>
                      </a:r>
                    </a:p>
                  </a:txBody>
                  <a:tcPr marL="54864" marR="54864" marT="18288" marB="18288" anchor="ctr">
                    <a:solidFill>
                      <a:srgbClr val="E3F1E4"/>
                    </a:solidFill>
                  </a:tcPr>
                </a:tc>
              </a:tr>
            </a:tbl>
          </a:graphicData>
        </a:graphic>
      </p:graphicFrame>
      <p:sp>
        <p:nvSpPr>
          <p:cNvPr id="8" name="Rounded Rectangle 7"/>
          <p:cNvSpPr/>
          <p:nvPr/>
        </p:nvSpPr>
        <p:spPr>
          <a:xfrm>
            <a:off x="502920" y="4096512"/>
            <a:ext cx="11185855" cy="2194560"/>
          </a:xfrm>
          <a:prstGeom prst="roundRect">
            <a:avLst>
              <a:gd name="adj" fmla="val 6000"/>
            </a:avLst>
          </a:prstGeom>
          <a:solidFill>
            <a:srgbClr val="E3F1E4"/>
          </a:solidFill>
          <a:ln>
            <a:noFill/>
          </a:ln>
          <a:effectLst/>
        </p:spPr>
        <p:txBody>
          <a:bodyPr rtlCol="0" anchor="ctr"/>
          <a:lstStyle/>
          <a:p/>
        </p:txBody>
      </p:sp>
      <p:sp>
        <p:nvSpPr>
          <p:cNvPr id="9" name="Rectangle 8"/>
          <p:cNvSpPr/>
          <p:nvPr/>
        </p:nvSpPr>
        <p:spPr>
          <a:xfrm>
            <a:off x="502920" y="4096512"/>
            <a:ext cx="109728" cy="2194560"/>
          </a:xfrm>
          <a:prstGeom prst="rect">
            <a:avLst/>
          </a:prstGeom>
          <a:solidFill>
            <a:srgbClr val="2E7D32"/>
          </a:solidFill>
          <a:ln>
            <a:noFill/>
          </a:ln>
          <a:effectLst/>
        </p:spPr>
        <p:txBody>
          <a:bodyPr rtlCol="0" anchor="ctr"/>
          <a:lstStyle/>
          <a:p/>
        </p:txBody>
      </p:sp>
      <p:sp>
        <p:nvSpPr>
          <p:cNvPr id="10" name="TextBox 9"/>
          <p:cNvSpPr txBox="1"/>
          <p:nvPr/>
        </p:nvSpPr>
        <p:spPr>
          <a:xfrm>
            <a:off x="731520" y="4151376"/>
            <a:ext cx="10865815" cy="2084832"/>
          </a:xfrm>
          <a:prstGeom prst="rect">
            <a:avLst/>
          </a:prstGeom>
          <a:noFill/>
        </p:spPr>
        <p:txBody>
          <a:bodyPr wrap="square" anchor="ctr" lIns="73152" rIns="73152" tIns="36576" bIns="36576">
            <a:noAutofit/>
          </a:bodyPr>
          <a:lstStyle/>
          <a:p>
            <a:pPr algn="l">
              <a:spcBef>
                <a:spcPts val="0"/>
              </a:spcBef>
              <a:spcAft>
                <a:spcPts val="400"/>
              </a:spcAft>
            </a:pPr>
            <a:r>
              <a:rPr lang="tr-TR" sz="2100" b="1" i="0">
                <a:solidFill>
                  <a:srgbClr val="2E7D32"/>
                </a:solidFill>
                <a:latin typeface="Calibri"/>
              </a:rPr>
              <a:t>Hafta sonu</a:t>
            </a:r>
          </a:p>
          <a:p>
            <a:pPr algn="l">
              <a:spcBef>
                <a:spcPts val="0"/>
              </a:spcBef>
              <a:spcAft>
                <a:spcPts val="500"/>
              </a:spcAft>
            </a:pPr>
            <a:r>
              <a:rPr lang="tr-TR" sz="2100" b="0" i="0">
                <a:solidFill>
                  <a:srgbClr val="262626"/>
                </a:solidFill>
                <a:latin typeface="Calibri"/>
              </a:rPr>
              <a:t>7 günün 6'sında uyguladım. İlk günler unuttum; lavabonun yanına not koyunca alıştım. Bundan sonra da sürdüreceğim.</a:t>
            </a:r>
          </a:p>
          <a:p>
            <a:pPr algn="l">
              <a:spcBef>
                <a:spcPts val="0"/>
              </a:spcBef>
              <a:spcAft>
                <a:spcPts val="0"/>
              </a:spcAft>
            </a:pPr>
            <a:r>
              <a:rPr lang="tr-TR" sz="2100" b="0" i="1">
                <a:solidFill>
                  <a:srgbClr val="262626"/>
                </a:solidFill>
                <a:latin typeface="Calibri"/>
              </a:rPr>
              <a:t>Başka örnekler: boş odada ışığı söndürmek (enerji) · tabağa yiyeceği kadar almak (gıda) · kâğıdın iki yüzünü kullanmak (kâğıt)</a:t>
            </a:r>
          </a:p>
        </p:txBody>
      </p:sp>
      <p:sp>
        <p:nvSpPr>
          <p:cNvPr id="11" name="TextBox 10"/>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12" name="Rounded Rectangle 11"/>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181</a:t>
            </a:r>
          </a:p>
        </p:txBody>
      </p:sp>
      <p:sp>
        <p:nvSpPr>
          <p:cNvPr id="13" name="TextBox 12"/>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114 / 166</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Performans görevi: diyagram</a:t>
            </a:r>
          </a:p>
        </p:txBody>
      </p:sp>
      <p:sp>
        <p:nvSpPr>
          <p:cNvPr id="5" name="Rounded Rectangle 4"/>
          <p:cNvSpPr/>
          <p:nvPr/>
        </p:nvSpPr>
        <p:spPr>
          <a:xfrm>
            <a:off x="9555480" y="201168"/>
            <a:ext cx="2221992" cy="475488"/>
          </a:xfrm>
          <a:prstGeom prst="roundRect">
            <a:avLst>
              <a:gd name="adj" fmla="val 50000"/>
            </a:avLst>
          </a:prstGeom>
          <a:solidFill>
            <a:srgbClr val="B85C1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PERFORMANS GÖREVİ</a:t>
            </a:r>
          </a:p>
        </p:txBody>
      </p:sp>
      <p:sp>
        <p:nvSpPr>
          <p:cNvPr id="6" name="TextBox 5"/>
          <p:cNvSpPr txBox="1"/>
          <p:nvPr/>
        </p:nvSpPr>
        <p:spPr>
          <a:xfrm>
            <a:off x="502920" y="1170432"/>
            <a:ext cx="11185855" cy="411480"/>
          </a:xfrm>
          <a:prstGeom prst="rect">
            <a:avLst/>
          </a:prstGeom>
          <a:noFill/>
        </p:spPr>
        <p:txBody>
          <a:bodyPr wrap="square" anchor="ctr" lIns="73152" rIns="73152" tIns="36576" bIns="36576">
            <a:noAutofit/>
          </a:bodyPr>
          <a:lstStyle/>
          <a:p>
            <a:pPr algn="l">
              <a:spcBef>
                <a:spcPts val="0"/>
              </a:spcBef>
              <a:spcAft>
                <a:spcPts val="0"/>
              </a:spcAft>
            </a:pPr>
            <a:r>
              <a:rPr lang="tr-TR" sz="1700" b="1" i="0">
                <a:solidFill>
                  <a:srgbClr val="767676"/>
                </a:solidFill>
                <a:latin typeface="Calibri"/>
              </a:rPr>
              <a:t>Beceri:</a:t>
            </a:r>
            <a:r>
              <a:rPr lang="tr-TR" sz="1700" b="0" i="0">
                <a:solidFill>
                  <a:srgbClr val="767676"/>
                </a:solidFill>
                <a:latin typeface="Calibri"/>
              </a:rPr>
              <a:t> Coğrafi Sorgulama; Tablo, Grafik, Şekil ve/veya Diyagram</a:t>
            </a:r>
          </a:p>
        </p:txBody>
      </p:sp>
      <p:sp>
        <p:nvSpPr>
          <p:cNvPr id="7" name="Rounded Rectangle 6"/>
          <p:cNvSpPr/>
          <p:nvPr/>
        </p:nvSpPr>
        <p:spPr>
          <a:xfrm>
            <a:off x="502920" y="1627632"/>
            <a:ext cx="11185855" cy="914400"/>
          </a:xfrm>
          <a:prstGeom prst="roundRect">
            <a:avLst>
              <a:gd name="adj" fmla="val 8000"/>
            </a:avLst>
          </a:prstGeom>
          <a:solidFill>
            <a:srgbClr val="F0F0F0"/>
          </a:solidFill>
          <a:ln>
            <a:noFill/>
          </a:ln>
          <a:effectLst/>
        </p:spPr>
        <p:txBody>
          <a:bodyPr rtlCol="0" anchor="ctr"/>
          <a:lstStyle/>
          <a:p/>
        </p:txBody>
      </p:sp>
      <p:sp>
        <p:nvSpPr>
          <p:cNvPr id="8" name="Rectangle 7"/>
          <p:cNvSpPr/>
          <p:nvPr/>
        </p:nvSpPr>
        <p:spPr>
          <a:xfrm>
            <a:off x="502920" y="1627632"/>
            <a:ext cx="118872" cy="914400"/>
          </a:xfrm>
          <a:prstGeom prst="rect">
            <a:avLst/>
          </a:prstGeom>
          <a:solidFill>
            <a:srgbClr val="B85C12"/>
          </a:solidFill>
          <a:ln>
            <a:noFill/>
          </a:ln>
          <a:effectLst/>
        </p:spPr>
        <p:txBody>
          <a:bodyPr rtlCol="0" anchor="ctr"/>
          <a:lstStyle/>
          <a:p/>
        </p:txBody>
      </p:sp>
      <p:sp>
        <p:nvSpPr>
          <p:cNvPr id="9" name="TextBox 8"/>
          <p:cNvSpPr txBox="1"/>
          <p:nvPr/>
        </p:nvSpPr>
        <p:spPr>
          <a:xfrm>
            <a:off x="777240" y="1627632"/>
            <a:ext cx="10774375" cy="914400"/>
          </a:xfrm>
          <a:prstGeom prst="rect">
            <a:avLst/>
          </a:prstGeom>
          <a:noFill/>
        </p:spPr>
        <p:txBody>
          <a:bodyPr wrap="square" anchor="ctr" lIns="73152" rIns="73152" tIns="36576" bIns="36576">
            <a:noAutofit/>
          </a:bodyPr>
          <a:lstStyle/>
          <a:p>
            <a:pPr algn="l">
              <a:spcBef>
                <a:spcPts val="0"/>
              </a:spcBef>
              <a:spcAft>
                <a:spcPts val="0"/>
              </a:spcAft>
            </a:pPr>
            <a:r>
              <a:rPr lang="tr-TR" sz="2100" b="1" i="0">
                <a:solidFill>
                  <a:srgbClr val="262626"/>
                </a:solidFill>
                <a:latin typeface="Calibri"/>
              </a:rPr>
              <a:t>Ekonomik Faaliyetleri Etkileyen Coğrafi Faktörler:</a:t>
            </a:r>
            <a:r>
              <a:rPr lang="tr-TR" sz="2100" b="0" i="0">
                <a:solidFill>
                  <a:srgbClr val="262626"/>
                </a:solidFill>
                <a:latin typeface="Calibri"/>
              </a:rPr>
              <a:t> Doğal ve beşerî faktörlerin ekonomik faaliyetler üzerindeki etkilerini gösteren bir diyagram hazırlayınız.</a:t>
            </a:r>
          </a:p>
        </p:txBody>
      </p:sp>
      <p:sp>
        <p:nvSpPr>
          <p:cNvPr id="10" name="Rounded Rectangle 9"/>
          <p:cNvSpPr/>
          <p:nvPr/>
        </p:nvSpPr>
        <p:spPr>
          <a:xfrm>
            <a:off x="502920" y="2679192"/>
            <a:ext cx="11185855" cy="555498"/>
          </a:xfrm>
          <a:prstGeom prst="roundRect">
            <a:avLst>
              <a:gd name="adj" fmla="val 8000"/>
            </a:avLst>
          </a:prstGeom>
          <a:solidFill>
            <a:srgbClr val="F0F0F0"/>
          </a:solidFill>
          <a:ln>
            <a:noFill/>
          </a:ln>
          <a:effectLst/>
        </p:spPr>
        <p:txBody>
          <a:bodyPr rtlCol="0" anchor="ctr"/>
          <a:lstStyle/>
          <a:p/>
        </p:txBody>
      </p:sp>
      <p:sp>
        <p:nvSpPr>
          <p:cNvPr id="11" name="Rounded Rectangle 10"/>
          <p:cNvSpPr/>
          <p:nvPr/>
        </p:nvSpPr>
        <p:spPr>
          <a:xfrm>
            <a:off x="502920" y="2679192"/>
            <a:ext cx="1600200" cy="555498"/>
          </a:xfrm>
          <a:prstGeom prst="roundRect">
            <a:avLst>
              <a:gd name="adj" fmla="val 8000"/>
            </a:avLst>
          </a:prstGeom>
          <a:solidFill>
            <a:srgbClr val="B85C12"/>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1. Adım</a:t>
            </a:r>
          </a:p>
        </p:txBody>
      </p:sp>
      <p:sp>
        <p:nvSpPr>
          <p:cNvPr id="12" name="TextBox 11"/>
          <p:cNvSpPr txBox="1"/>
          <p:nvPr/>
        </p:nvSpPr>
        <p:spPr>
          <a:xfrm>
            <a:off x="2240280" y="2679192"/>
            <a:ext cx="8122615" cy="555498"/>
          </a:xfrm>
          <a:prstGeom prst="rect">
            <a:avLst/>
          </a:prstGeom>
          <a:noFill/>
        </p:spPr>
        <p:txBody>
          <a:bodyPr wrap="square" anchor="ctr" lIns="73152" rIns="73152" tIns="36576" bIns="36576">
            <a:noAutofit/>
          </a:bodyPr>
          <a:lstStyle/>
          <a:p>
            <a:pPr algn="l">
              <a:spcBef>
                <a:spcPts val="0"/>
              </a:spcBef>
              <a:spcAft>
                <a:spcPts val="0"/>
              </a:spcAft>
            </a:pPr>
            <a:r>
              <a:rPr lang="tr-TR" sz="2000" b="0" i="0">
                <a:solidFill>
                  <a:srgbClr val="262626"/>
                </a:solidFill>
                <a:latin typeface="Calibri"/>
              </a:rPr>
              <a:t>Çalışma planı yaparak ders öncesi hazırlıklarınızı tamamlayınız.</a:t>
            </a:r>
          </a:p>
        </p:txBody>
      </p:sp>
      <p:sp>
        <p:nvSpPr>
          <p:cNvPr id="13" name="Rounded Rectangle 12"/>
          <p:cNvSpPr/>
          <p:nvPr/>
        </p:nvSpPr>
        <p:spPr>
          <a:xfrm>
            <a:off x="10545775" y="2724912"/>
            <a:ext cx="1005840" cy="464058"/>
          </a:xfrm>
          <a:prstGeom prst="roundRect">
            <a:avLst>
              <a:gd name="adj" fmla="val 30000"/>
            </a:avLst>
          </a:prstGeom>
          <a:solidFill>
            <a:srgbClr val="FCC021"/>
          </a:solidFill>
          <a:ln>
            <a:noFill/>
          </a:ln>
          <a:effectLst/>
        </p:spPr>
        <p:txBody>
          <a:bodyPr rtlCol="0" anchor="ctr" wrap="square" lIns="27432" rIns="27432" tIns="0" bIns="0">
            <a:noAutofit/>
          </a:bodyPr>
          <a:lstStyle/>
          <a:p>
            <a:pPr algn="ctr">
              <a:spcBef>
                <a:spcPts val="0"/>
              </a:spcBef>
              <a:spcAft>
                <a:spcPts val="0"/>
              </a:spcAft>
            </a:pPr>
            <a:r>
              <a:rPr lang="tr-TR" sz="1800" b="1" i="0">
                <a:solidFill>
                  <a:srgbClr val="262626"/>
                </a:solidFill>
                <a:latin typeface="Calibri"/>
              </a:rPr>
              <a:t>evde</a:t>
            </a:r>
          </a:p>
        </p:txBody>
      </p:sp>
      <p:sp>
        <p:nvSpPr>
          <p:cNvPr id="14" name="Rounded Rectangle 13"/>
          <p:cNvSpPr/>
          <p:nvPr/>
        </p:nvSpPr>
        <p:spPr>
          <a:xfrm>
            <a:off x="502920" y="3362706"/>
            <a:ext cx="11185855" cy="555498"/>
          </a:xfrm>
          <a:prstGeom prst="roundRect">
            <a:avLst>
              <a:gd name="adj" fmla="val 8000"/>
            </a:avLst>
          </a:prstGeom>
          <a:solidFill>
            <a:srgbClr val="F0F0F0"/>
          </a:solidFill>
          <a:ln>
            <a:noFill/>
          </a:ln>
          <a:effectLst/>
        </p:spPr>
        <p:txBody>
          <a:bodyPr rtlCol="0" anchor="ctr"/>
          <a:lstStyle/>
          <a:p/>
        </p:txBody>
      </p:sp>
      <p:sp>
        <p:nvSpPr>
          <p:cNvPr id="15" name="Rounded Rectangle 14"/>
          <p:cNvSpPr/>
          <p:nvPr/>
        </p:nvSpPr>
        <p:spPr>
          <a:xfrm>
            <a:off x="502920" y="3362706"/>
            <a:ext cx="1600200" cy="555498"/>
          </a:xfrm>
          <a:prstGeom prst="roundRect">
            <a:avLst>
              <a:gd name="adj" fmla="val 8000"/>
            </a:avLst>
          </a:prstGeom>
          <a:solidFill>
            <a:srgbClr val="B85C12"/>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2. Adım</a:t>
            </a:r>
          </a:p>
        </p:txBody>
      </p:sp>
      <p:sp>
        <p:nvSpPr>
          <p:cNvPr id="16" name="TextBox 15"/>
          <p:cNvSpPr txBox="1"/>
          <p:nvPr/>
        </p:nvSpPr>
        <p:spPr>
          <a:xfrm>
            <a:off x="2240280" y="3362706"/>
            <a:ext cx="8122615" cy="555498"/>
          </a:xfrm>
          <a:prstGeom prst="rect">
            <a:avLst/>
          </a:prstGeom>
          <a:noFill/>
        </p:spPr>
        <p:txBody>
          <a:bodyPr wrap="square" anchor="ctr" lIns="73152" rIns="73152" tIns="36576" bIns="36576">
            <a:noAutofit/>
          </a:bodyPr>
          <a:lstStyle/>
          <a:p>
            <a:pPr algn="l">
              <a:spcBef>
                <a:spcPts val="0"/>
              </a:spcBef>
              <a:spcAft>
                <a:spcPts val="0"/>
              </a:spcAft>
            </a:pPr>
            <a:r>
              <a:rPr lang="tr-TR" sz="2000" b="0" i="0">
                <a:solidFill>
                  <a:srgbClr val="262626"/>
                </a:solidFill>
                <a:latin typeface="Calibri"/>
              </a:rPr>
              <a:t>Çalışmanızı örnek coğrafi temsillerle destekleyiniz.</a:t>
            </a:r>
          </a:p>
        </p:txBody>
      </p:sp>
      <p:sp>
        <p:nvSpPr>
          <p:cNvPr id="17" name="Rounded Rectangle 16"/>
          <p:cNvSpPr/>
          <p:nvPr/>
        </p:nvSpPr>
        <p:spPr>
          <a:xfrm>
            <a:off x="10545775" y="3408426"/>
            <a:ext cx="1005840" cy="464058"/>
          </a:xfrm>
          <a:prstGeom prst="roundRect">
            <a:avLst>
              <a:gd name="adj" fmla="val 30000"/>
            </a:avLst>
          </a:prstGeom>
          <a:solidFill>
            <a:srgbClr val="FCC021"/>
          </a:solidFill>
          <a:ln>
            <a:noFill/>
          </a:ln>
          <a:effectLst/>
        </p:spPr>
        <p:txBody>
          <a:bodyPr rtlCol="0" anchor="ctr" wrap="square" lIns="27432" rIns="27432" tIns="0" bIns="0">
            <a:noAutofit/>
          </a:bodyPr>
          <a:lstStyle/>
          <a:p>
            <a:pPr algn="ctr">
              <a:spcBef>
                <a:spcPts val="0"/>
              </a:spcBef>
              <a:spcAft>
                <a:spcPts val="0"/>
              </a:spcAft>
            </a:pPr>
            <a:r>
              <a:rPr lang="tr-TR" sz="1800" b="1" i="0">
                <a:solidFill>
                  <a:srgbClr val="262626"/>
                </a:solidFill>
                <a:latin typeface="Calibri"/>
              </a:rPr>
              <a:t>bugün</a:t>
            </a:r>
          </a:p>
        </p:txBody>
      </p:sp>
      <p:sp>
        <p:nvSpPr>
          <p:cNvPr id="18" name="Rounded Rectangle 17"/>
          <p:cNvSpPr/>
          <p:nvPr/>
        </p:nvSpPr>
        <p:spPr>
          <a:xfrm>
            <a:off x="502920" y="4046220"/>
            <a:ext cx="11185855" cy="555498"/>
          </a:xfrm>
          <a:prstGeom prst="roundRect">
            <a:avLst>
              <a:gd name="adj" fmla="val 8000"/>
            </a:avLst>
          </a:prstGeom>
          <a:solidFill>
            <a:srgbClr val="F0F0F0"/>
          </a:solidFill>
          <a:ln>
            <a:noFill/>
          </a:ln>
          <a:effectLst/>
        </p:spPr>
        <p:txBody>
          <a:bodyPr rtlCol="0" anchor="ctr"/>
          <a:lstStyle/>
          <a:p/>
        </p:txBody>
      </p:sp>
      <p:sp>
        <p:nvSpPr>
          <p:cNvPr id="19" name="Rounded Rectangle 18"/>
          <p:cNvSpPr/>
          <p:nvPr/>
        </p:nvSpPr>
        <p:spPr>
          <a:xfrm>
            <a:off x="502920" y="4046220"/>
            <a:ext cx="1600200" cy="555498"/>
          </a:xfrm>
          <a:prstGeom prst="roundRect">
            <a:avLst>
              <a:gd name="adj" fmla="val 8000"/>
            </a:avLst>
          </a:prstGeom>
          <a:solidFill>
            <a:srgbClr val="B85C12"/>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3. Adım</a:t>
            </a:r>
          </a:p>
        </p:txBody>
      </p:sp>
      <p:sp>
        <p:nvSpPr>
          <p:cNvPr id="20" name="TextBox 19"/>
          <p:cNvSpPr txBox="1"/>
          <p:nvPr/>
        </p:nvSpPr>
        <p:spPr>
          <a:xfrm>
            <a:off x="2240280" y="4046220"/>
            <a:ext cx="8122615" cy="555498"/>
          </a:xfrm>
          <a:prstGeom prst="rect">
            <a:avLst/>
          </a:prstGeom>
          <a:noFill/>
        </p:spPr>
        <p:txBody>
          <a:bodyPr wrap="square" anchor="ctr" lIns="73152" rIns="73152" tIns="36576" bIns="36576">
            <a:noAutofit/>
          </a:bodyPr>
          <a:lstStyle/>
          <a:p>
            <a:pPr algn="l">
              <a:spcBef>
                <a:spcPts val="0"/>
              </a:spcBef>
              <a:spcAft>
                <a:spcPts val="0"/>
              </a:spcAft>
            </a:pPr>
            <a:r>
              <a:rPr lang="tr-TR" sz="2000" b="0" i="0">
                <a:solidFill>
                  <a:srgbClr val="262626"/>
                </a:solidFill>
                <a:latin typeface="Calibri"/>
              </a:rPr>
              <a:t>Çalışmanızın sonunda hangi kaynaklardan yararlandığınızı belirtiniz.</a:t>
            </a:r>
          </a:p>
        </p:txBody>
      </p:sp>
      <p:sp>
        <p:nvSpPr>
          <p:cNvPr id="21" name="Rounded Rectangle 20"/>
          <p:cNvSpPr/>
          <p:nvPr/>
        </p:nvSpPr>
        <p:spPr>
          <a:xfrm>
            <a:off x="10545775" y="4091940"/>
            <a:ext cx="1005840" cy="464058"/>
          </a:xfrm>
          <a:prstGeom prst="roundRect">
            <a:avLst>
              <a:gd name="adj" fmla="val 30000"/>
            </a:avLst>
          </a:prstGeom>
          <a:solidFill>
            <a:srgbClr val="FCC021"/>
          </a:solidFill>
          <a:ln>
            <a:noFill/>
          </a:ln>
          <a:effectLst/>
        </p:spPr>
        <p:txBody>
          <a:bodyPr rtlCol="0" anchor="ctr" wrap="square" lIns="27432" rIns="27432" tIns="0" bIns="0">
            <a:noAutofit/>
          </a:bodyPr>
          <a:lstStyle/>
          <a:p>
            <a:pPr algn="ctr">
              <a:spcBef>
                <a:spcPts val="0"/>
              </a:spcBef>
              <a:spcAft>
                <a:spcPts val="0"/>
              </a:spcAft>
            </a:pPr>
            <a:r>
              <a:rPr lang="tr-TR" sz="1800" b="1" i="0">
                <a:solidFill>
                  <a:srgbClr val="262626"/>
                </a:solidFill>
                <a:latin typeface="Calibri"/>
              </a:rPr>
              <a:t>bugün</a:t>
            </a:r>
          </a:p>
        </p:txBody>
      </p:sp>
      <p:sp>
        <p:nvSpPr>
          <p:cNvPr id="22" name="Rounded Rectangle 21"/>
          <p:cNvSpPr/>
          <p:nvPr/>
        </p:nvSpPr>
        <p:spPr>
          <a:xfrm>
            <a:off x="502920" y="4729734"/>
            <a:ext cx="11185855" cy="555498"/>
          </a:xfrm>
          <a:prstGeom prst="roundRect">
            <a:avLst>
              <a:gd name="adj" fmla="val 8000"/>
            </a:avLst>
          </a:prstGeom>
          <a:solidFill>
            <a:srgbClr val="F0F0F0"/>
          </a:solidFill>
          <a:ln>
            <a:noFill/>
          </a:ln>
          <a:effectLst/>
        </p:spPr>
        <p:txBody>
          <a:bodyPr rtlCol="0" anchor="ctr"/>
          <a:lstStyle/>
          <a:p/>
        </p:txBody>
      </p:sp>
      <p:sp>
        <p:nvSpPr>
          <p:cNvPr id="23" name="Rounded Rectangle 22"/>
          <p:cNvSpPr/>
          <p:nvPr/>
        </p:nvSpPr>
        <p:spPr>
          <a:xfrm>
            <a:off x="502920" y="4729734"/>
            <a:ext cx="1600200" cy="555498"/>
          </a:xfrm>
          <a:prstGeom prst="roundRect">
            <a:avLst>
              <a:gd name="adj" fmla="val 8000"/>
            </a:avLst>
          </a:prstGeom>
          <a:solidFill>
            <a:srgbClr val="B85C12"/>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4. Adım</a:t>
            </a:r>
          </a:p>
        </p:txBody>
      </p:sp>
      <p:sp>
        <p:nvSpPr>
          <p:cNvPr id="24" name="TextBox 23"/>
          <p:cNvSpPr txBox="1"/>
          <p:nvPr/>
        </p:nvSpPr>
        <p:spPr>
          <a:xfrm>
            <a:off x="2240280" y="4729734"/>
            <a:ext cx="8122615" cy="555498"/>
          </a:xfrm>
          <a:prstGeom prst="rect">
            <a:avLst/>
          </a:prstGeom>
          <a:noFill/>
        </p:spPr>
        <p:txBody>
          <a:bodyPr wrap="square" anchor="ctr" lIns="73152" rIns="73152" tIns="36576" bIns="36576">
            <a:noAutofit/>
          </a:bodyPr>
          <a:lstStyle/>
          <a:p>
            <a:pPr algn="l">
              <a:spcBef>
                <a:spcPts val="0"/>
              </a:spcBef>
              <a:spcAft>
                <a:spcPts val="0"/>
              </a:spcAft>
            </a:pPr>
            <a:r>
              <a:rPr lang="tr-TR" sz="1850" b="0" i="0">
                <a:solidFill>
                  <a:srgbClr val="262626"/>
                </a:solidFill>
                <a:latin typeface="Calibri"/>
              </a:rPr>
              <a:t>Çalışmanızı dijital ortamda veya A4 kâğıdına yazarak öğretmeninize teslim ediniz.</a:t>
            </a:r>
          </a:p>
        </p:txBody>
      </p:sp>
      <p:sp>
        <p:nvSpPr>
          <p:cNvPr id="25" name="Rounded Rectangle 24"/>
          <p:cNvSpPr/>
          <p:nvPr/>
        </p:nvSpPr>
        <p:spPr>
          <a:xfrm>
            <a:off x="10545775" y="4775454"/>
            <a:ext cx="1005840" cy="464058"/>
          </a:xfrm>
          <a:prstGeom prst="roundRect">
            <a:avLst>
              <a:gd name="adj" fmla="val 30000"/>
            </a:avLst>
          </a:prstGeom>
          <a:solidFill>
            <a:srgbClr val="FCC021"/>
          </a:solidFill>
          <a:ln>
            <a:noFill/>
          </a:ln>
          <a:effectLst/>
        </p:spPr>
        <p:txBody>
          <a:bodyPr rtlCol="0" anchor="ctr" wrap="square" lIns="27432" rIns="27432" tIns="0" bIns="0">
            <a:noAutofit/>
          </a:bodyPr>
          <a:lstStyle/>
          <a:p>
            <a:pPr algn="ctr">
              <a:spcBef>
                <a:spcPts val="0"/>
              </a:spcBef>
              <a:spcAft>
                <a:spcPts val="0"/>
              </a:spcAft>
            </a:pPr>
            <a:r>
              <a:rPr lang="tr-TR" sz="1800" b="1" i="0">
                <a:solidFill>
                  <a:srgbClr val="262626"/>
                </a:solidFill>
                <a:latin typeface="Calibri"/>
              </a:rPr>
              <a:t>bugün</a:t>
            </a:r>
          </a:p>
        </p:txBody>
      </p:sp>
      <p:sp>
        <p:nvSpPr>
          <p:cNvPr id="26" name="Rounded Rectangle 25"/>
          <p:cNvSpPr/>
          <p:nvPr/>
        </p:nvSpPr>
        <p:spPr>
          <a:xfrm>
            <a:off x="502920" y="5422392"/>
            <a:ext cx="11185855" cy="868680"/>
          </a:xfrm>
          <a:prstGeom prst="roundRect">
            <a:avLst>
              <a:gd name="adj" fmla="val 8000"/>
            </a:avLst>
          </a:prstGeom>
          <a:solidFill>
            <a:srgbClr val="FFF3D1"/>
          </a:solidFill>
          <a:ln>
            <a:noFill/>
          </a:ln>
          <a:effectLst/>
        </p:spPr>
        <p:txBody>
          <a:bodyPr rtlCol="0" anchor="ctr" wrap="square" lIns="201168" rIns="201168" tIns="73152" bIns="73152">
            <a:noAutofit/>
          </a:bodyPr>
          <a:lstStyle/>
          <a:p>
            <a:pPr algn="ctr">
              <a:spcBef>
                <a:spcPts val="0"/>
              </a:spcBef>
              <a:spcAft>
                <a:spcPts val="0"/>
              </a:spcAft>
            </a:pPr>
            <a:r>
              <a:rPr lang="tr-TR" sz="2000" b="1" i="0">
                <a:solidFill>
                  <a:srgbClr val="262626"/>
                </a:solidFill>
                <a:latin typeface="Calibri"/>
              </a:rPr>
              <a:t>Malzemeyi okul sağlar:</a:t>
            </a:r>
            <a:r>
              <a:rPr lang="tr-TR" sz="2000" b="0" i="0">
                <a:solidFill>
                  <a:srgbClr val="262626"/>
                </a:solidFill>
                <a:latin typeface="Calibri"/>
              </a:rPr>
              <a:t> A4, yapıştırıcı, kitaptan görsel ve harita kesitleri · </a:t>
            </a:r>
            <a:r>
              <a:rPr lang="tr-TR" sz="2000" b="1" i="0">
                <a:solidFill>
                  <a:srgbClr val="262626"/>
                </a:solidFill>
                <a:latin typeface="Calibri"/>
              </a:rPr>
              <a:t>10 dk üretim</a:t>
            </a:r>
          </a:p>
        </p:txBody>
      </p:sp>
      <p:sp>
        <p:nvSpPr>
          <p:cNvPr id="27" name="TextBox 26"/>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28" name="Rounded Rectangle 27"/>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183</a:t>
            </a:r>
          </a:p>
        </p:txBody>
      </p:sp>
      <p:sp>
        <p:nvSpPr>
          <p:cNvPr id="29" name="TextBox 28"/>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115 / 166</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Örnek ürün: diyagram iskeleti</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Rounded Rectangle 5"/>
          <p:cNvSpPr/>
          <p:nvPr/>
        </p:nvSpPr>
        <p:spPr>
          <a:xfrm>
            <a:off x="502920" y="1216152"/>
            <a:ext cx="3703320" cy="502920"/>
          </a:xfrm>
          <a:prstGeom prst="roundRect">
            <a:avLst>
              <a:gd name="adj" fmla="val 8000"/>
            </a:avLst>
          </a:prstGeom>
          <a:solidFill>
            <a:srgbClr val="3E8E41"/>
          </a:solidFill>
          <a:ln>
            <a:noFill/>
          </a:ln>
          <a:effectLst/>
        </p:spPr>
        <p:txBody>
          <a:bodyPr rtlCol="0" anchor="ctr" wrap="square" lIns="128016" rIns="128016" tIns="73152" bIns="73152">
            <a:noAutofit/>
          </a:bodyPr>
          <a:lstStyle/>
          <a:p>
            <a:pPr algn="ctr">
              <a:spcBef>
                <a:spcPts val="0"/>
              </a:spcBef>
              <a:spcAft>
                <a:spcPts val="0"/>
              </a:spcAft>
            </a:pPr>
            <a:r>
              <a:rPr lang="tr-TR" sz="2000" b="1" i="0">
                <a:solidFill>
                  <a:srgbClr val="FFFFFF"/>
                </a:solidFill>
                <a:latin typeface="Calibri"/>
              </a:rPr>
              <a:t>DOĞAL FAKTÖRLER</a:t>
            </a:r>
          </a:p>
        </p:txBody>
      </p:sp>
      <p:sp>
        <p:nvSpPr>
          <p:cNvPr id="7" name="Rounded Rectangle 6"/>
          <p:cNvSpPr/>
          <p:nvPr/>
        </p:nvSpPr>
        <p:spPr>
          <a:xfrm>
            <a:off x="502920" y="1828800"/>
            <a:ext cx="3703320" cy="822960"/>
          </a:xfrm>
          <a:prstGeom prst="roundRect">
            <a:avLst>
              <a:gd name="adj" fmla="val 8000"/>
            </a:avLst>
          </a:prstGeom>
          <a:solidFill>
            <a:srgbClr val="E3F1E4"/>
          </a:solidFill>
          <a:ln w="19050">
            <a:solidFill>
              <a:srgbClr val="3E8E41"/>
            </a:solidFill>
          </a:ln>
          <a:effectLst/>
        </p:spPr>
        <p:txBody>
          <a:bodyPr rtlCol="0" anchor="ctr" wrap="square" lIns="137160" rIns="137160" tIns="73152" bIns="73152">
            <a:noAutofit/>
          </a:bodyPr>
          <a:lstStyle/>
          <a:p>
            <a:pPr algn="l">
              <a:spcBef>
                <a:spcPts val="0"/>
              </a:spcBef>
              <a:spcAft>
                <a:spcPts val="200"/>
              </a:spcAft>
            </a:pPr>
            <a:r>
              <a:rPr lang="tr-TR" sz="1900" b="1" i="0">
                <a:solidFill>
                  <a:srgbClr val="262626"/>
                </a:solidFill>
                <a:latin typeface="Calibri"/>
              </a:rPr>
              <a:t>İklim</a:t>
            </a:r>
            <a:r>
              <a:rPr lang="tr-TR" sz="1900" b="0" i="0">
                <a:solidFill>
                  <a:srgbClr val="262626"/>
                </a:solidFill>
                <a:latin typeface="Calibri"/>
              </a:rPr>
              <a:t> → tarım ürünü seçimi</a:t>
            </a:r>
          </a:p>
          <a:p>
            <a:pPr algn="l">
              <a:spcBef>
                <a:spcPts val="0"/>
              </a:spcBef>
              <a:spcAft>
                <a:spcPts val="0"/>
              </a:spcAft>
            </a:pPr>
            <a:r>
              <a:rPr lang="tr-TR" sz="1500" b="0" i="0">
                <a:solidFill>
                  <a:srgbClr val="767676"/>
                </a:solidFill>
                <a:latin typeface="Calibri"/>
              </a:rPr>
              <a:t>Görsel 5.1 · s. 174</a:t>
            </a:r>
          </a:p>
        </p:txBody>
      </p:sp>
      <p:cxnSp>
        <p:nvCxnSpPr>
          <p:cNvPr id="8" name="Connector 7"/>
          <p:cNvCxnSpPr/>
          <p:nvPr/>
        </p:nvCxnSpPr>
        <p:spPr>
          <a:xfrm>
            <a:off x="4206240" y="2240280"/>
            <a:ext cx="518007" cy="1261872"/>
          </a:xfrm>
          <a:prstGeom prst="line">
            <a:avLst/>
          </a:prstGeom>
          <a:ln w="25400">
            <a:solidFill>
              <a:srgbClr val="3E8E41"/>
            </a:solidFill>
          </a:ln>
        </p:spPr>
      </p:cxnSp>
      <p:sp>
        <p:nvSpPr>
          <p:cNvPr id="9" name="Rounded Rectangle 8"/>
          <p:cNvSpPr/>
          <p:nvPr/>
        </p:nvSpPr>
        <p:spPr>
          <a:xfrm>
            <a:off x="502920" y="2743200"/>
            <a:ext cx="3703320" cy="822960"/>
          </a:xfrm>
          <a:prstGeom prst="roundRect">
            <a:avLst>
              <a:gd name="adj" fmla="val 8000"/>
            </a:avLst>
          </a:prstGeom>
          <a:solidFill>
            <a:srgbClr val="E3F1E4"/>
          </a:solidFill>
          <a:ln w="19050">
            <a:solidFill>
              <a:srgbClr val="3E8E41"/>
            </a:solidFill>
          </a:ln>
          <a:effectLst/>
        </p:spPr>
        <p:txBody>
          <a:bodyPr rtlCol="0" anchor="ctr" wrap="square" lIns="137160" rIns="137160" tIns="73152" bIns="73152">
            <a:noAutofit/>
          </a:bodyPr>
          <a:lstStyle/>
          <a:p>
            <a:pPr algn="l">
              <a:spcBef>
                <a:spcPts val="0"/>
              </a:spcBef>
              <a:spcAft>
                <a:spcPts val="194"/>
              </a:spcAft>
            </a:pPr>
            <a:r>
              <a:rPr lang="tr-TR" sz="1850" b="1" i="0">
                <a:solidFill>
                  <a:srgbClr val="262626"/>
                </a:solidFill>
                <a:latin typeface="Calibri"/>
              </a:rPr>
              <a:t>Topoğrafya</a:t>
            </a:r>
            <a:r>
              <a:rPr lang="tr-TR" sz="1850" b="0" i="0">
                <a:solidFill>
                  <a:srgbClr val="262626"/>
                </a:solidFill>
                <a:latin typeface="Calibri"/>
              </a:rPr>
              <a:t> → liman yeri ve turizm</a:t>
            </a:r>
          </a:p>
          <a:p>
            <a:pPr algn="l">
              <a:spcBef>
                <a:spcPts val="0"/>
              </a:spcBef>
              <a:spcAft>
                <a:spcPts val="0"/>
              </a:spcAft>
            </a:pPr>
            <a:r>
              <a:rPr lang="tr-TR" sz="1460" b="0" i="0">
                <a:solidFill>
                  <a:srgbClr val="767676"/>
                </a:solidFill>
                <a:latin typeface="Calibri"/>
              </a:rPr>
              <a:t>Görsel 5.2-5.3 · s. 175</a:t>
            </a:r>
          </a:p>
        </p:txBody>
      </p:sp>
      <p:cxnSp>
        <p:nvCxnSpPr>
          <p:cNvPr id="10" name="Connector 9"/>
          <p:cNvCxnSpPr/>
          <p:nvPr/>
        </p:nvCxnSpPr>
        <p:spPr>
          <a:xfrm>
            <a:off x="4206240" y="3154680"/>
            <a:ext cx="518007" cy="347472"/>
          </a:xfrm>
          <a:prstGeom prst="line">
            <a:avLst/>
          </a:prstGeom>
          <a:ln w="25400">
            <a:solidFill>
              <a:srgbClr val="3E8E41"/>
            </a:solidFill>
          </a:ln>
        </p:spPr>
      </p:cxnSp>
      <p:sp>
        <p:nvSpPr>
          <p:cNvPr id="11" name="Rounded Rectangle 10"/>
          <p:cNvSpPr/>
          <p:nvPr/>
        </p:nvSpPr>
        <p:spPr>
          <a:xfrm>
            <a:off x="502920" y="3657600"/>
            <a:ext cx="3703320" cy="822960"/>
          </a:xfrm>
          <a:prstGeom prst="roundRect">
            <a:avLst>
              <a:gd name="adj" fmla="val 8000"/>
            </a:avLst>
          </a:prstGeom>
          <a:solidFill>
            <a:srgbClr val="E3F1E4"/>
          </a:solidFill>
          <a:ln w="19050">
            <a:solidFill>
              <a:srgbClr val="3E8E41"/>
            </a:solidFill>
          </a:ln>
          <a:effectLst/>
        </p:spPr>
        <p:txBody>
          <a:bodyPr rtlCol="0" anchor="ctr" wrap="square" lIns="137160" rIns="137160" tIns="73152" bIns="73152">
            <a:noAutofit/>
          </a:bodyPr>
          <a:lstStyle/>
          <a:p>
            <a:pPr algn="l">
              <a:spcBef>
                <a:spcPts val="0"/>
              </a:spcBef>
              <a:spcAft>
                <a:spcPts val="200"/>
              </a:spcAft>
            </a:pPr>
            <a:r>
              <a:rPr lang="tr-TR" sz="1900" b="1" i="0">
                <a:solidFill>
                  <a:srgbClr val="262626"/>
                </a:solidFill>
                <a:latin typeface="Calibri"/>
              </a:rPr>
              <a:t>Toprak</a:t>
            </a:r>
            <a:r>
              <a:rPr lang="tr-TR" sz="1900" b="0" i="0">
                <a:solidFill>
                  <a:srgbClr val="262626"/>
                </a:solidFill>
                <a:latin typeface="Calibri"/>
              </a:rPr>
              <a:t> → seramik ham maddesi</a:t>
            </a:r>
          </a:p>
          <a:p>
            <a:pPr algn="l">
              <a:spcBef>
                <a:spcPts val="0"/>
              </a:spcBef>
              <a:spcAft>
                <a:spcPts val="0"/>
              </a:spcAft>
            </a:pPr>
            <a:r>
              <a:rPr lang="tr-TR" sz="1500" b="0" i="0">
                <a:solidFill>
                  <a:srgbClr val="767676"/>
                </a:solidFill>
                <a:latin typeface="Calibri"/>
              </a:rPr>
              <a:t>Görsel 5.4 · s. 175</a:t>
            </a:r>
          </a:p>
        </p:txBody>
      </p:sp>
      <p:cxnSp>
        <p:nvCxnSpPr>
          <p:cNvPr id="12" name="Connector 11"/>
          <p:cNvCxnSpPr/>
          <p:nvPr/>
        </p:nvCxnSpPr>
        <p:spPr>
          <a:xfrm flipV="1">
            <a:off x="4206240" y="3502152"/>
            <a:ext cx="518007" cy="566928"/>
          </a:xfrm>
          <a:prstGeom prst="line">
            <a:avLst/>
          </a:prstGeom>
          <a:ln w="25400">
            <a:solidFill>
              <a:srgbClr val="3E8E41"/>
            </a:solidFill>
          </a:ln>
        </p:spPr>
      </p:cxnSp>
      <p:sp>
        <p:nvSpPr>
          <p:cNvPr id="13" name="Rounded Rectangle 12"/>
          <p:cNvSpPr/>
          <p:nvPr/>
        </p:nvSpPr>
        <p:spPr>
          <a:xfrm>
            <a:off x="502920" y="4572000"/>
            <a:ext cx="3703320" cy="822960"/>
          </a:xfrm>
          <a:prstGeom prst="roundRect">
            <a:avLst>
              <a:gd name="adj" fmla="val 8000"/>
            </a:avLst>
          </a:prstGeom>
          <a:solidFill>
            <a:srgbClr val="E3F1E4"/>
          </a:solidFill>
          <a:ln w="19050">
            <a:solidFill>
              <a:srgbClr val="3E8E41"/>
            </a:solidFill>
          </a:ln>
          <a:effectLst/>
        </p:spPr>
        <p:txBody>
          <a:bodyPr rtlCol="0" anchor="ctr" wrap="square" lIns="137160" rIns="137160" tIns="73152" bIns="73152">
            <a:noAutofit/>
          </a:bodyPr>
          <a:lstStyle/>
          <a:p>
            <a:pPr algn="l">
              <a:spcBef>
                <a:spcPts val="0"/>
              </a:spcBef>
              <a:spcAft>
                <a:spcPts val="194"/>
              </a:spcAft>
            </a:pPr>
            <a:r>
              <a:rPr lang="tr-TR" sz="1850" b="1" i="0">
                <a:solidFill>
                  <a:srgbClr val="262626"/>
                </a:solidFill>
                <a:latin typeface="Calibri"/>
              </a:rPr>
              <a:t>Bitki örtüsü</a:t>
            </a:r>
            <a:r>
              <a:rPr lang="tr-TR" sz="1850" b="0" i="0">
                <a:solidFill>
                  <a:srgbClr val="262626"/>
                </a:solidFill>
                <a:latin typeface="Calibri"/>
              </a:rPr>
              <a:t> → kâğıt ham maddesi</a:t>
            </a:r>
          </a:p>
          <a:p>
            <a:pPr algn="l">
              <a:spcBef>
                <a:spcPts val="0"/>
              </a:spcBef>
              <a:spcAft>
                <a:spcPts val="0"/>
              </a:spcAft>
            </a:pPr>
            <a:r>
              <a:rPr lang="tr-TR" sz="1460" b="0" i="0">
                <a:solidFill>
                  <a:srgbClr val="767676"/>
                </a:solidFill>
                <a:latin typeface="Calibri"/>
              </a:rPr>
              <a:t>Görsel 5.5 · s. 175</a:t>
            </a:r>
          </a:p>
        </p:txBody>
      </p:sp>
      <p:cxnSp>
        <p:nvCxnSpPr>
          <p:cNvPr id="14" name="Connector 13"/>
          <p:cNvCxnSpPr/>
          <p:nvPr/>
        </p:nvCxnSpPr>
        <p:spPr>
          <a:xfrm flipV="1">
            <a:off x="4206240" y="3502152"/>
            <a:ext cx="518007" cy="1481328"/>
          </a:xfrm>
          <a:prstGeom prst="line">
            <a:avLst/>
          </a:prstGeom>
          <a:ln w="25400">
            <a:solidFill>
              <a:srgbClr val="3E8E41"/>
            </a:solidFill>
          </a:ln>
        </p:spPr>
      </p:cxnSp>
      <p:sp>
        <p:nvSpPr>
          <p:cNvPr id="15" name="Rounded Rectangle 14"/>
          <p:cNvSpPr/>
          <p:nvPr/>
        </p:nvSpPr>
        <p:spPr>
          <a:xfrm>
            <a:off x="7985455" y="1216152"/>
            <a:ext cx="3703320" cy="502920"/>
          </a:xfrm>
          <a:prstGeom prst="roundRect">
            <a:avLst>
              <a:gd name="adj" fmla="val 8000"/>
            </a:avLst>
          </a:prstGeom>
          <a:solidFill>
            <a:srgbClr val="2C6696"/>
          </a:solidFill>
          <a:ln>
            <a:noFill/>
          </a:ln>
          <a:effectLst/>
        </p:spPr>
        <p:txBody>
          <a:bodyPr rtlCol="0" anchor="ctr" wrap="square" lIns="128016" rIns="128016" tIns="73152" bIns="73152">
            <a:noAutofit/>
          </a:bodyPr>
          <a:lstStyle/>
          <a:p>
            <a:pPr algn="ctr">
              <a:spcBef>
                <a:spcPts val="0"/>
              </a:spcBef>
              <a:spcAft>
                <a:spcPts val="0"/>
              </a:spcAft>
            </a:pPr>
            <a:r>
              <a:rPr lang="tr-TR" sz="2000" b="1" i="0">
                <a:solidFill>
                  <a:srgbClr val="FFFFFF"/>
                </a:solidFill>
                <a:latin typeface="Calibri"/>
              </a:rPr>
              <a:t>BEŞERÎ FAKTÖRLER</a:t>
            </a:r>
          </a:p>
        </p:txBody>
      </p:sp>
      <p:sp>
        <p:nvSpPr>
          <p:cNvPr id="16" name="Rounded Rectangle 15"/>
          <p:cNvSpPr/>
          <p:nvPr/>
        </p:nvSpPr>
        <p:spPr>
          <a:xfrm>
            <a:off x="7985455" y="1828800"/>
            <a:ext cx="3703320" cy="822960"/>
          </a:xfrm>
          <a:prstGeom prst="roundRect">
            <a:avLst>
              <a:gd name="adj" fmla="val 8000"/>
            </a:avLst>
          </a:prstGeom>
          <a:solidFill>
            <a:srgbClr val="E3ECF5"/>
          </a:solidFill>
          <a:ln w="19050">
            <a:solidFill>
              <a:srgbClr val="2C6696"/>
            </a:solidFill>
          </a:ln>
          <a:effectLst/>
        </p:spPr>
        <p:txBody>
          <a:bodyPr rtlCol="0" anchor="ctr" wrap="square" lIns="137160" rIns="137160" tIns="73152" bIns="73152">
            <a:noAutofit/>
          </a:bodyPr>
          <a:lstStyle/>
          <a:p>
            <a:pPr algn="l">
              <a:spcBef>
                <a:spcPts val="0"/>
              </a:spcBef>
              <a:spcAft>
                <a:spcPts val="200"/>
              </a:spcAft>
            </a:pPr>
            <a:r>
              <a:rPr lang="tr-TR" sz="1900" b="1" i="0">
                <a:solidFill>
                  <a:srgbClr val="262626"/>
                </a:solidFill>
                <a:latin typeface="Calibri"/>
              </a:rPr>
              <a:t>İş gücü</a:t>
            </a:r>
            <a:r>
              <a:rPr lang="tr-TR" sz="1900" b="0" i="0">
                <a:solidFill>
                  <a:srgbClr val="262626"/>
                </a:solidFill>
                <a:latin typeface="Calibri"/>
              </a:rPr>
              <a:t> → vasıflı iş gücü ihtiyacı</a:t>
            </a:r>
          </a:p>
          <a:p>
            <a:pPr algn="l">
              <a:spcBef>
                <a:spcPts val="0"/>
              </a:spcBef>
              <a:spcAft>
                <a:spcPts val="0"/>
              </a:spcAft>
            </a:pPr>
            <a:r>
              <a:rPr lang="tr-TR" sz="1500" b="0" i="0">
                <a:solidFill>
                  <a:srgbClr val="767676"/>
                </a:solidFill>
                <a:latin typeface="Calibri"/>
              </a:rPr>
              <a:t>Görsel 5.6 · s. 177</a:t>
            </a:r>
          </a:p>
        </p:txBody>
      </p:sp>
      <p:cxnSp>
        <p:nvCxnSpPr>
          <p:cNvPr id="17" name="Connector 16"/>
          <p:cNvCxnSpPr/>
          <p:nvPr/>
        </p:nvCxnSpPr>
        <p:spPr>
          <a:xfrm flipH="1">
            <a:off x="7467447" y="2240280"/>
            <a:ext cx="518008" cy="1261872"/>
          </a:xfrm>
          <a:prstGeom prst="line">
            <a:avLst/>
          </a:prstGeom>
          <a:ln w="25400">
            <a:solidFill>
              <a:srgbClr val="2C6696"/>
            </a:solidFill>
          </a:ln>
        </p:spPr>
      </p:cxnSp>
      <p:sp>
        <p:nvSpPr>
          <p:cNvPr id="18" name="Rounded Rectangle 17"/>
          <p:cNvSpPr/>
          <p:nvPr/>
        </p:nvSpPr>
        <p:spPr>
          <a:xfrm>
            <a:off x="7985455" y="2743200"/>
            <a:ext cx="3703320" cy="822960"/>
          </a:xfrm>
          <a:prstGeom prst="roundRect">
            <a:avLst>
              <a:gd name="adj" fmla="val 8000"/>
            </a:avLst>
          </a:prstGeom>
          <a:solidFill>
            <a:srgbClr val="E3ECF5"/>
          </a:solidFill>
          <a:ln w="19050">
            <a:solidFill>
              <a:srgbClr val="2C6696"/>
            </a:solidFill>
          </a:ln>
          <a:effectLst/>
        </p:spPr>
        <p:txBody>
          <a:bodyPr rtlCol="0" anchor="ctr" wrap="square" lIns="137160" rIns="137160" tIns="73152" bIns="73152">
            <a:noAutofit/>
          </a:bodyPr>
          <a:lstStyle/>
          <a:p>
            <a:pPr algn="l">
              <a:spcBef>
                <a:spcPts val="0"/>
              </a:spcBef>
              <a:spcAft>
                <a:spcPts val="184"/>
              </a:spcAft>
            </a:pPr>
            <a:r>
              <a:rPr lang="tr-TR" sz="1750" b="1" i="0">
                <a:solidFill>
                  <a:srgbClr val="262626"/>
                </a:solidFill>
                <a:latin typeface="Calibri"/>
              </a:rPr>
              <a:t>Sermaye</a:t>
            </a:r>
            <a:r>
              <a:rPr lang="tr-TR" sz="1750" b="0" i="0">
                <a:solidFill>
                  <a:srgbClr val="262626"/>
                </a:solidFill>
                <a:latin typeface="Calibri"/>
              </a:rPr>
              <a:t> → sanayi tesisinin kuruluşu</a:t>
            </a:r>
          </a:p>
          <a:p>
            <a:pPr algn="l">
              <a:spcBef>
                <a:spcPts val="0"/>
              </a:spcBef>
              <a:spcAft>
                <a:spcPts val="0"/>
              </a:spcAft>
            </a:pPr>
            <a:r>
              <a:rPr lang="tr-TR" sz="1381" b="0" i="0">
                <a:solidFill>
                  <a:srgbClr val="767676"/>
                </a:solidFill>
                <a:latin typeface="Calibri"/>
              </a:rPr>
              <a:t>Görsel 5.7 · s. 177</a:t>
            </a:r>
          </a:p>
        </p:txBody>
      </p:sp>
      <p:cxnSp>
        <p:nvCxnSpPr>
          <p:cNvPr id="19" name="Connector 18"/>
          <p:cNvCxnSpPr/>
          <p:nvPr/>
        </p:nvCxnSpPr>
        <p:spPr>
          <a:xfrm flipH="1">
            <a:off x="7467447" y="3154680"/>
            <a:ext cx="518008" cy="347472"/>
          </a:xfrm>
          <a:prstGeom prst="line">
            <a:avLst/>
          </a:prstGeom>
          <a:ln w="25400">
            <a:solidFill>
              <a:srgbClr val="2C6696"/>
            </a:solidFill>
          </a:ln>
        </p:spPr>
      </p:cxnSp>
      <p:sp>
        <p:nvSpPr>
          <p:cNvPr id="20" name="Rounded Rectangle 19"/>
          <p:cNvSpPr/>
          <p:nvPr/>
        </p:nvSpPr>
        <p:spPr>
          <a:xfrm>
            <a:off x="7985455" y="3657600"/>
            <a:ext cx="3703320" cy="822960"/>
          </a:xfrm>
          <a:prstGeom prst="roundRect">
            <a:avLst>
              <a:gd name="adj" fmla="val 8000"/>
            </a:avLst>
          </a:prstGeom>
          <a:solidFill>
            <a:srgbClr val="E3ECF5"/>
          </a:solidFill>
          <a:ln w="19050">
            <a:solidFill>
              <a:srgbClr val="2C6696"/>
            </a:solidFill>
          </a:ln>
          <a:effectLst/>
        </p:spPr>
        <p:txBody>
          <a:bodyPr rtlCol="0" anchor="ctr" wrap="square" lIns="137160" rIns="137160" tIns="73152" bIns="73152">
            <a:noAutofit/>
          </a:bodyPr>
          <a:lstStyle/>
          <a:p>
            <a:pPr algn="l">
              <a:spcBef>
                <a:spcPts val="0"/>
              </a:spcBef>
              <a:spcAft>
                <a:spcPts val="200"/>
              </a:spcAft>
            </a:pPr>
            <a:r>
              <a:rPr lang="tr-TR" sz="1900" b="1" i="0">
                <a:solidFill>
                  <a:srgbClr val="262626"/>
                </a:solidFill>
                <a:latin typeface="Calibri"/>
              </a:rPr>
              <a:t>Teknoloji</a:t>
            </a:r>
            <a:r>
              <a:rPr lang="tr-TR" sz="1900" b="0" i="0">
                <a:solidFill>
                  <a:srgbClr val="262626"/>
                </a:solidFill>
                <a:latin typeface="Calibri"/>
              </a:rPr>
              <a:t> → dört sanayi devrimi</a:t>
            </a:r>
          </a:p>
          <a:p>
            <a:pPr algn="l">
              <a:spcBef>
                <a:spcPts val="0"/>
              </a:spcBef>
              <a:spcAft>
                <a:spcPts val="0"/>
              </a:spcAft>
            </a:pPr>
            <a:r>
              <a:rPr lang="tr-TR" sz="1500" b="0" i="0">
                <a:solidFill>
                  <a:srgbClr val="767676"/>
                </a:solidFill>
                <a:latin typeface="Calibri"/>
              </a:rPr>
              <a:t>Görsel 5.8 · s. 178</a:t>
            </a:r>
          </a:p>
        </p:txBody>
      </p:sp>
      <p:cxnSp>
        <p:nvCxnSpPr>
          <p:cNvPr id="21" name="Connector 20"/>
          <p:cNvCxnSpPr/>
          <p:nvPr/>
        </p:nvCxnSpPr>
        <p:spPr>
          <a:xfrm flipH="1" flipV="1">
            <a:off x="7467447" y="3502152"/>
            <a:ext cx="518008" cy="566928"/>
          </a:xfrm>
          <a:prstGeom prst="line">
            <a:avLst/>
          </a:prstGeom>
          <a:ln w="25400">
            <a:solidFill>
              <a:srgbClr val="2C6696"/>
            </a:solidFill>
          </a:ln>
        </p:spPr>
      </p:cxnSp>
      <p:sp>
        <p:nvSpPr>
          <p:cNvPr id="22" name="Rounded Rectangle 21"/>
          <p:cNvSpPr/>
          <p:nvPr/>
        </p:nvSpPr>
        <p:spPr>
          <a:xfrm>
            <a:off x="7985455" y="4572000"/>
            <a:ext cx="3703320" cy="822960"/>
          </a:xfrm>
          <a:prstGeom prst="roundRect">
            <a:avLst>
              <a:gd name="adj" fmla="val 8000"/>
            </a:avLst>
          </a:prstGeom>
          <a:solidFill>
            <a:srgbClr val="E3ECF5"/>
          </a:solidFill>
          <a:ln w="19050">
            <a:solidFill>
              <a:srgbClr val="2C6696"/>
            </a:solidFill>
          </a:ln>
          <a:effectLst/>
        </p:spPr>
        <p:txBody>
          <a:bodyPr rtlCol="0" anchor="ctr" wrap="square" lIns="137160" rIns="137160" tIns="73152" bIns="73152">
            <a:noAutofit/>
          </a:bodyPr>
          <a:lstStyle/>
          <a:p>
            <a:pPr algn="l">
              <a:spcBef>
                <a:spcPts val="0"/>
              </a:spcBef>
              <a:spcAft>
                <a:spcPts val="189"/>
              </a:spcAft>
            </a:pPr>
            <a:r>
              <a:rPr lang="tr-TR" sz="1800" b="1" i="0">
                <a:solidFill>
                  <a:srgbClr val="262626"/>
                </a:solidFill>
                <a:latin typeface="Calibri"/>
              </a:rPr>
              <a:t>Ulaşım</a:t>
            </a:r>
            <a:r>
              <a:rPr lang="tr-TR" sz="1800" b="0" i="0">
                <a:solidFill>
                  <a:srgbClr val="262626"/>
                </a:solidFill>
                <a:latin typeface="Calibri"/>
              </a:rPr>
              <a:t> → büyük limanlar ve ticaret</a:t>
            </a:r>
          </a:p>
          <a:p>
            <a:pPr algn="l">
              <a:spcBef>
                <a:spcPts val="0"/>
              </a:spcBef>
              <a:spcAft>
                <a:spcPts val="0"/>
              </a:spcAft>
            </a:pPr>
            <a:r>
              <a:rPr lang="tr-TR" sz="1421" b="0" i="0">
                <a:solidFill>
                  <a:srgbClr val="767676"/>
                </a:solidFill>
                <a:latin typeface="Calibri"/>
              </a:rPr>
              <a:t>Harita 5.1 · s. 178</a:t>
            </a:r>
          </a:p>
        </p:txBody>
      </p:sp>
      <p:cxnSp>
        <p:nvCxnSpPr>
          <p:cNvPr id="23" name="Connector 22"/>
          <p:cNvCxnSpPr/>
          <p:nvPr/>
        </p:nvCxnSpPr>
        <p:spPr>
          <a:xfrm flipH="1" flipV="1">
            <a:off x="7467447" y="3502152"/>
            <a:ext cx="518008" cy="1481328"/>
          </a:xfrm>
          <a:prstGeom prst="line">
            <a:avLst/>
          </a:prstGeom>
          <a:ln w="25400">
            <a:solidFill>
              <a:srgbClr val="2C6696"/>
            </a:solidFill>
          </a:ln>
        </p:spPr>
      </p:cxnSp>
      <p:sp>
        <p:nvSpPr>
          <p:cNvPr id="24" name="Rounded Rectangle 23"/>
          <p:cNvSpPr/>
          <p:nvPr/>
        </p:nvSpPr>
        <p:spPr>
          <a:xfrm>
            <a:off x="4724247" y="2770632"/>
            <a:ext cx="2743200" cy="1463040"/>
          </a:xfrm>
          <a:prstGeom prst="roundRect">
            <a:avLst>
              <a:gd name="adj" fmla="val 8000"/>
            </a:avLst>
          </a:prstGeom>
          <a:solidFill>
            <a:srgbClr val="B85C12"/>
          </a:solidFill>
          <a:ln>
            <a:noFill/>
          </a:ln>
          <a:effectLst/>
        </p:spPr>
        <p:txBody>
          <a:bodyPr rtlCol="0" anchor="ctr" wrap="square" lIns="128016" rIns="128016" tIns="73152" bIns="73152">
            <a:noAutofit/>
          </a:bodyPr>
          <a:lstStyle/>
          <a:p>
            <a:pPr algn="ctr">
              <a:spcBef>
                <a:spcPts val="0"/>
              </a:spcBef>
              <a:spcAft>
                <a:spcPts val="400"/>
              </a:spcAft>
            </a:pPr>
            <a:r>
              <a:rPr lang="tr-TR" sz="2300" b="1" i="0">
                <a:solidFill>
                  <a:srgbClr val="FFFFFF"/>
                </a:solidFill>
                <a:latin typeface="Calibri"/>
              </a:rPr>
              <a:t>EKONOMİK FAALİYET</a:t>
            </a:r>
          </a:p>
          <a:p>
            <a:pPr algn="ctr">
              <a:spcBef>
                <a:spcPts val="0"/>
              </a:spcBef>
              <a:spcAft>
                <a:spcPts val="0"/>
              </a:spcAft>
            </a:pPr>
            <a:r>
              <a:rPr lang="tr-TR" sz="1700" b="0" i="0">
                <a:solidFill>
                  <a:srgbClr val="FFFFFF"/>
                </a:solidFill>
                <a:latin typeface="Calibri"/>
              </a:rPr>
              <a:t>üretim · dağıtım · tüketim</a:t>
            </a:r>
          </a:p>
        </p:txBody>
      </p:sp>
      <p:sp>
        <p:nvSpPr>
          <p:cNvPr id="25" name="Rounded Rectangle 24"/>
          <p:cNvSpPr/>
          <p:nvPr/>
        </p:nvSpPr>
        <p:spPr>
          <a:xfrm>
            <a:off x="502920" y="5532120"/>
            <a:ext cx="11185855" cy="758952"/>
          </a:xfrm>
          <a:prstGeom prst="roundRect">
            <a:avLst>
              <a:gd name="adj" fmla="val 8000"/>
            </a:avLst>
          </a:prstGeom>
          <a:solidFill>
            <a:srgbClr val="E3F1E4"/>
          </a:solidFill>
          <a:ln w="19050">
            <a:solidFill>
              <a:srgbClr val="2E7D32"/>
            </a:solidFill>
          </a:ln>
          <a:effectLst/>
        </p:spPr>
        <p:txBody>
          <a:bodyPr rtlCol="0" anchor="ctr" wrap="square" lIns="201168" rIns="201168" tIns="73152" bIns="73152">
            <a:noAutofit/>
          </a:bodyPr>
          <a:lstStyle/>
          <a:p>
            <a:pPr algn="ctr">
              <a:spcBef>
                <a:spcPts val="0"/>
              </a:spcBef>
              <a:spcAft>
                <a:spcPts val="0"/>
              </a:spcAft>
            </a:pPr>
            <a:r>
              <a:rPr lang="tr-TR" sz="2000" b="1" i="0">
                <a:solidFill>
                  <a:srgbClr val="262626"/>
                </a:solidFill>
                <a:latin typeface="Calibri"/>
              </a:rPr>
              <a:t>Ölçüt:</a:t>
            </a:r>
            <a:r>
              <a:rPr lang="tr-TR" sz="2000" b="0" i="0">
                <a:solidFill>
                  <a:srgbClr val="262626"/>
                </a:solidFill>
                <a:latin typeface="Calibri"/>
              </a:rPr>
              <a:t> iki kol (doğal · beşerî) · alt dallar · her dalda bir görsel ve bir cümle · kaynak satırı</a:t>
            </a:r>
          </a:p>
        </p:txBody>
      </p:sp>
      <p:sp>
        <p:nvSpPr>
          <p:cNvPr id="26" name="TextBox 25"/>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27" name="Rounded Rectangle 26"/>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174-178</a:t>
            </a:r>
          </a:p>
        </p:txBody>
      </p:sp>
      <p:sp>
        <p:nvSpPr>
          <p:cNvPr id="28" name="TextBox 27"/>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116 / 166</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Değerlendirme: puanlama anahtarı</a:t>
            </a:r>
          </a:p>
        </p:txBody>
      </p:sp>
      <p:sp>
        <p:nvSpPr>
          <p:cNvPr id="5" name="Rounded Rectangle 4"/>
          <p:cNvSpPr/>
          <p:nvPr/>
        </p:nvSpPr>
        <p:spPr>
          <a:xfrm>
            <a:off x="9555480" y="201168"/>
            <a:ext cx="2221992" cy="475488"/>
          </a:xfrm>
          <a:prstGeom prst="roundRect">
            <a:avLst>
              <a:gd name="adj" fmla="val 50000"/>
            </a:avLst>
          </a:prstGeom>
          <a:solidFill>
            <a:srgbClr val="B85C1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ÖLÇÜTLER</a:t>
            </a:r>
          </a:p>
        </p:txBody>
      </p:sp>
      <p:sp>
        <p:nvSpPr>
          <p:cNvPr id="6" name="Rounded Rectangle 5"/>
          <p:cNvSpPr/>
          <p:nvPr/>
        </p:nvSpPr>
        <p:spPr>
          <a:xfrm>
            <a:off x="502920" y="1216152"/>
            <a:ext cx="11185855" cy="868680"/>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1900" b="0" i="0">
                <a:solidFill>
                  <a:srgbClr val="262626"/>
                </a:solidFill>
                <a:latin typeface="Calibri"/>
              </a:rPr>
              <a:t>Performans göreviniz; çalışma planı hazırlama, bilgi toplama, bilgileri düzenleme, görsel materyal kullanımı ve diyagram hazırlama ölçütlerine göre dereceli puanlama anahtarıyla değerlendirilecektir.</a:t>
            </a:r>
          </a:p>
        </p:txBody>
      </p:sp>
      <p:graphicFrame>
        <p:nvGraphicFramePr>
          <p:cNvPr id="7" name="Table 6"/>
          <p:cNvGraphicFramePr>
            <a:graphicFrameLocks noGrp="1"/>
          </p:cNvGraphicFramePr>
          <p:nvPr/>
        </p:nvGraphicFramePr>
        <p:xfrm>
          <a:off x="502920" y="2221992"/>
          <a:ext cx="11185855" cy="3474720"/>
        </p:xfrm>
        <a:graphic>
          <a:graphicData uri="http://schemas.openxmlformats.org/drawingml/2006/table">
            <a:tbl>
              <a:tblPr firstRow="1" bandRow="1">
                <a:tableStyleId>{5C22544A-7EE6-4342-B048-85BDC9FD1C3A}</a:tableStyleId>
              </a:tblPr>
              <a:tblGrid>
                <a:gridCol w="3017520"/>
                <a:gridCol w="868680"/>
                <a:gridCol w="7299655"/>
              </a:tblGrid>
              <a:tr h="457200">
                <a:tc>
                  <a:txBody>
                    <a:bodyPr wrap="square"/>
                    <a:lstStyle/>
                    <a:p>
                      <a:pPr algn="ctr">
                        <a:spcBef>
                          <a:spcPts val="0"/>
                        </a:spcBef>
                        <a:spcAft>
                          <a:spcPts val="0"/>
                        </a:spcAft>
                      </a:pPr>
                      <a:r>
                        <a:rPr lang="tr-TR" sz="1700" b="1" i="0">
                          <a:solidFill>
                            <a:srgbClr val="FFFFFF"/>
                          </a:solidFill>
                          <a:latin typeface="Calibri"/>
                        </a:rPr>
                        <a:t>Ölçüt</a:t>
                      </a:r>
                    </a:p>
                  </a:txBody>
                  <a:tcPr marL="54864" marR="54864" marT="18288" marB="18288" anchor="ctr">
                    <a:solidFill>
                      <a:srgbClr val="B85C12"/>
                    </a:solidFill>
                  </a:tcPr>
                </a:tc>
                <a:tc>
                  <a:txBody>
                    <a:bodyPr wrap="square"/>
                    <a:lstStyle/>
                    <a:p>
                      <a:pPr algn="ctr">
                        <a:spcBef>
                          <a:spcPts val="0"/>
                        </a:spcBef>
                        <a:spcAft>
                          <a:spcPts val="0"/>
                        </a:spcAft>
                      </a:pPr>
                      <a:r>
                        <a:rPr lang="tr-TR" sz="1700" b="1" i="0">
                          <a:solidFill>
                            <a:srgbClr val="FFFFFF"/>
                          </a:solidFill>
                          <a:latin typeface="Calibri"/>
                        </a:rPr>
                        <a:t>Puan</a:t>
                      </a:r>
                    </a:p>
                  </a:txBody>
                  <a:tcPr marL="54864" marR="54864" marT="18288" marB="18288" anchor="ctr">
                    <a:solidFill>
                      <a:srgbClr val="B85C12"/>
                    </a:solidFill>
                  </a:tcPr>
                </a:tc>
                <a:tc>
                  <a:txBody>
                    <a:bodyPr wrap="square"/>
                    <a:lstStyle/>
                    <a:p>
                      <a:pPr algn="ctr">
                        <a:spcBef>
                          <a:spcPts val="0"/>
                        </a:spcBef>
                        <a:spcAft>
                          <a:spcPts val="0"/>
                        </a:spcAft>
                      </a:pPr>
                      <a:r>
                        <a:rPr lang="tr-TR" sz="1700" b="1" i="0">
                          <a:solidFill>
                            <a:srgbClr val="FFFFFF"/>
                          </a:solidFill>
                          <a:latin typeface="Calibri"/>
                        </a:rPr>
                        <a:t>Çok iyi düzey (en yüksek puan)</a:t>
                      </a:r>
                    </a:p>
                  </a:txBody>
                  <a:tcPr marL="54864" marR="54864" marT="18288" marB="18288" anchor="ctr">
                    <a:solidFill>
                      <a:srgbClr val="B85C12"/>
                    </a:solidFill>
                  </a:tcPr>
                </a:tc>
              </a:tr>
              <a:tr h="603504">
                <a:tc>
                  <a:txBody>
                    <a:bodyPr wrap="square"/>
                    <a:lstStyle/>
                    <a:p>
                      <a:pPr algn="l">
                        <a:spcBef>
                          <a:spcPts val="0"/>
                        </a:spcBef>
                        <a:spcAft>
                          <a:spcPts val="0"/>
                        </a:spcAft>
                      </a:pPr>
                      <a:r>
                        <a:rPr lang="tr-TR" sz="1800" b="1" i="0">
                          <a:solidFill>
                            <a:srgbClr val="262626"/>
                          </a:solidFill>
                          <a:latin typeface="Calibri"/>
                        </a:rPr>
                        <a:t>Çalışma Planı Hazırlama</a:t>
                      </a:r>
                    </a:p>
                  </a:txBody>
                  <a:tcPr marL="54864" marR="54864" marT="18288" marB="18288" anchor="ctr">
                    <a:solidFill>
                      <a:srgbClr val="FFFFFF"/>
                    </a:solidFill>
                  </a:tcPr>
                </a:tc>
                <a:tc>
                  <a:txBody>
                    <a:bodyPr wrap="square"/>
                    <a:lstStyle/>
                    <a:p>
                      <a:pPr algn="ctr">
                        <a:spcBef>
                          <a:spcPts val="0"/>
                        </a:spcBef>
                        <a:spcAft>
                          <a:spcPts val="0"/>
                        </a:spcAft>
                      </a:pPr>
                      <a:r>
                        <a:rPr lang="tr-TR" sz="1800" b="0" i="0">
                          <a:solidFill>
                            <a:srgbClr val="262626"/>
                          </a:solidFill>
                          <a:latin typeface="Calibri"/>
                        </a:rPr>
                        <a:t>16</a:t>
                      </a:r>
                    </a:p>
                  </a:txBody>
                  <a:tcPr marL="54864" marR="54864" marT="18288" marB="18288" anchor="ctr">
                    <a:solidFill>
                      <a:srgbClr val="FFFFFF"/>
                    </a:solidFill>
                  </a:tcPr>
                </a:tc>
                <a:tc>
                  <a:txBody>
                    <a:bodyPr wrap="square"/>
                    <a:lstStyle/>
                    <a:p>
                      <a:pPr algn="l">
                        <a:spcBef>
                          <a:spcPts val="0"/>
                        </a:spcBef>
                        <a:spcAft>
                          <a:spcPts val="0"/>
                        </a:spcAft>
                      </a:pPr>
                      <a:r>
                        <a:rPr lang="tr-TR" sz="1800" b="0" i="0">
                          <a:solidFill>
                            <a:srgbClr val="262626"/>
                          </a:solidFill>
                          <a:latin typeface="Calibri"/>
                        </a:rPr>
                        <a:t>Çalışma planı detaylı bir şekilde hazırlanmıştır.</a:t>
                      </a:r>
                    </a:p>
                  </a:txBody>
                  <a:tcPr marL="54864" marR="54864" marT="18288" marB="18288" anchor="ctr">
                    <a:solidFill>
                      <a:srgbClr val="FFFFFF"/>
                    </a:solidFill>
                  </a:tcPr>
                </a:tc>
              </a:tr>
              <a:tr h="603504">
                <a:tc>
                  <a:txBody>
                    <a:bodyPr wrap="square"/>
                    <a:lstStyle/>
                    <a:p>
                      <a:pPr algn="l">
                        <a:spcBef>
                          <a:spcPts val="0"/>
                        </a:spcBef>
                        <a:spcAft>
                          <a:spcPts val="0"/>
                        </a:spcAft>
                      </a:pPr>
                      <a:r>
                        <a:rPr lang="tr-TR" sz="1800" b="1" i="0">
                          <a:solidFill>
                            <a:srgbClr val="262626"/>
                          </a:solidFill>
                          <a:latin typeface="Calibri"/>
                        </a:rPr>
                        <a:t>Bilgi Toplama</a:t>
                      </a:r>
                    </a:p>
                  </a:txBody>
                  <a:tcPr marL="54864" marR="54864" marT="18288" marB="18288" anchor="ctr">
                    <a:solidFill>
                      <a:srgbClr val="FFF3D1"/>
                    </a:solidFill>
                  </a:tcPr>
                </a:tc>
                <a:tc>
                  <a:txBody>
                    <a:bodyPr wrap="square"/>
                    <a:lstStyle/>
                    <a:p>
                      <a:pPr algn="ctr">
                        <a:spcBef>
                          <a:spcPts val="0"/>
                        </a:spcBef>
                        <a:spcAft>
                          <a:spcPts val="0"/>
                        </a:spcAft>
                      </a:pPr>
                      <a:r>
                        <a:rPr lang="tr-TR" sz="1800" b="0" i="0">
                          <a:solidFill>
                            <a:srgbClr val="262626"/>
                          </a:solidFill>
                          <a:latin typeface="Calibri"/>
                        </a:rPr>
                        <a:t>20</a:t>
                      </a:r>
                    </a:p>
                  </a:txBody>
                  <a:tcPr marL="54864" marR="54864" marT="18288" marB="18288" anchor="ctr">
                    <a:solidFill>
                      <a:srgbClr val="FFF3D1"/>
                    </a:solidFill>
                  </a:tcPr>
                </a:tc>
                <a:tc>
                  <a:txBody>
                    <a:bodyPr wrap="square"/>
                    <a:lstStyle/>
                    <a:p>
                      <a:pPr algn="l">
                        <a:spcBef>
                          <a:spcPts val="0"/>
                        </a:spcBef>
                        <a:spcAft>
                          <a:spcPts val="0"/>
                        </a:spcAft>
                      </a:pPr>
                      <a:r>
                        <a:rPr lang="tr-TR" sz="1800" b="0" i="0">
                          <a:solidFill>
                            <a:srgbClr val="262626"/>
                          </a:solidFill>
                          <a:latin typeface="Calibri"/>
                        </a:rPr>
                        <a:t>Tüm bilgiler eksiksiz toplanmıştır.</a:t>
                      </a:r>
                    </a:p>
                  </a:txBody>
                  <a:tcPr marL="54864" marR="54864" marT="18288" marB="18288" anchor="ctr">
                    <a:solidFill>
                      <a:srgbClr val="FFF3D1"/>
                    </a:solidFill>
                  </a:tcPr>
                </a:tc>
              </a:tr>
              <a:tr h="603504">
                <a:tc>
                  <a:txBody>
                    <a:bodyPr wrap="square"/>
                    <a:lstStyle/>
                    <a:p>
                      <a:pPr algn="l">
                        <a:spcBef>
                          <a:spcPts val="0"/>
                        </a:spcBef>
                        <a:spcAft>
                          <a:spcPts val="0"/>
                        </a:spcAft>
                      </a:pPr>
                      <a:r>
                        <a:rPr lang="tr-TR" sz="1800" b="1" i="0">
                          <a:solidFill>
                            <a:srgbClr val="262626"/>
                          </a:solidFill>
                          <a:latin typeface="Calibri"/>
                        </a:rPr>
                        <a:t>Bilgileri Düzenleme</a:t>
                      </a:r>
                    </a:p>
                  </a:txBody>
                  <a:tcPr marL="54864" marR="54864" marT="18288" marB="18288" anchor="ctr">
                    <a:solidFill>
                      <a:srgbClr val="FFFFFF"/>
                    </a:solidFill>
                  </a:tcPr>
                </a:tc>
                <a:tc>
                  <a:txBody>
                    <a:bodyPr wrap="square"/>
                    <a:lstStyle/>
                    <a:p>
                      <a:pPr algn="ctr">
                        <a:spcBef>
                          <a:spcPts val="0"/>
                        </a:spcBef>
                        <a:spcAft>
                          <a:spcPts val="0"/>
                        </a:spcAft>
                      </a:pPr>
                      <a:r>
                        <a:rPr lang="tr-TR" sz="1800" b="0" i="0">
                          <a:solidFill>
                            <a:srgbClr val="262626"/>
                          </a:solidFill>
                          <a:latin typeface="Calibri"/>
                        </a:rPr>
                        <a:t>20</a:t>
                      </a:r>
                    </a:p>
                  </a:txBody>
                  <a:tcPr marL="54864" marR="54864" marT="18288" marB="18288" anchor="ctr">
                    <a:solidFill>
                      <a:srgbClr val="FFFFFF"/>
                    </a:solidFill>
                  </a:tcPr>
                </a:tc>
                <a:tc>
                  <a:txBody>
                    <a:bodyPr wrap="square"/>
                    <a:lstStyle/>
                    <a:p>
                      <a:pPr algn="l">
                        <a:spcBef>
                          <a:spcPts val="0"/>
                        </a:spcBef>
                        <a:spcAft>
                          <a:spcPts val="0"/>
                        </a:spcAft>
                      </a:pPr>
                      <a:r>
                        <a:rPr lang="tr-TR" sz="1800" b="0" i="0">
                          <a:solidFill>
                            <a:srgbClr val="262626"/>
                          </a:solidFill>
                          <a:latin typeface="Calibri"/>
                        </a:rPr>
                        <a:t>Bilgiler genelden özele doğru gruplanmış, birimler arasında anlam bütünlüğü kuralı gözetilmiştir.</a:t>
                      </a:r>
                    </a:p>
                  </a:txBody>
                  <a:tcPr marL="54864" marR="54864" marT="18288" marB="18288" anchor="ctr">
                    <a:solidFill>
                      <a:srgbClr val="FFFFFF"/>
                    </a:solidFill>
                  </a:tcPr>
                </a:tc>
              </a:tr>
              <a:tr h="603504">
                <a:tc>
                  <a:txBody>
                    <a:bodyPr wrap="square"/>
                    <a:lstStyle/>
                    <a:p>
                      <a:pPr algn="l">
                        <a:spcBef>
                          <a:spcPts val="0"/>
                        </a:spcBef>
                        <a:spcAft>
                          <a:spcPts val="0"/>
                        </a:spcAft>
                      </a:pPr>
                      <a:r>
                        <a:rPr lang="tr-TR" sz="1800" b="1" i="0">
                          <a:solidFill>
                            <a:srgbClr val="262626"/>
                          </a:solidFill>
                          <a:latin typeface="Calibri"/>
                        </a:rPr>
                        <a:t>Görsel Materyal Kullanımı</a:t>
                      </a:r>
                    </a:p>
                  </a:txBody>
                  <a:tcPr marL="54864" marR="54864" marT="18288" marB="18288" anchor="ctr">
                    <a:solidFill>
                      <a:srgbClr val="FFF3D1"/>
                    </a:solidFill>
                  </a:tcPr>
                </a:tc>
                <a:tc>
                  <a:txBody>
                    <a:bodyPr wrap="square"/>
                    <a:lstStyle/>
                    <a:p>
                      <a:pPr algn="ctr">
                        <a:spcBef>
                          <a:spcPts val="0"/>
                        </a:spcBef>
                        <a:spcAft>
                          <a:spcPts val="0"/>
                        </a:spcAft>
                      </a:pPr>
                      <a:r>
                        <a:rPr lang="tr-TR" sz="1800" b="0" i="0">
                          <a:solidFill>
                            <a:srgbClr val="262626"/>
                          </a:solidFill>
                          <a:latin typeface="Calibri"/>
                        </a:rPr>
                        <a:t>16</a:t>
                      </a:r>
                    </a:p>
                  </a:txBody>
                  <a:tcPr marL="54864" marR="54864" marT="18288" marB="18288" anchor="ctr">
                    <a:solidFill>
                      <a:srgbClr val="FFF3D1"/>
                    </a:solidFill>
                  </a:tcPr>
                </a:tc>
                <a:tc>
                  <a:txBody>
                    <a:bodyPr wrap="square"/>
                    <a:lstStyle/>
                    <a:p>
                      <a:pPr algn="l">
                        <a:spcBef>
                          <a:spcPts val="0"/>
                        </a:spcBef>
                        <a:spcAft>
                          <a:spcPts val="0"/>
                        </a:spcAft>
                      </a:pPr>
                      <a:r>
                        <a:rPr lang="tr-TR" sz="1800" b="0" i="0">
                          <a:solidFill>
                            <a:srgbClr val="262626"/>
                          </a:solidFill>
                          <a:latin typeface="Calibri"/>
                        </a:rPr>
                        <a:t>Kullanılan görsel materyaller, toplanan bilgileri destekliyor ve çalışmanın anlaşılmasını kolaylaştırıyor.</a:t>
                      </a:r>
                    </a:p>
                  </a:txBody>
                  <a:tcPr marL="54864" marR="54864" marT="18288" marB="18288" anchor="ctr">
                    <a:solidFill>
                      <a:srgbClr val="FFF3D1"/>
                    </a:solidFill>
                  </a:tcPr>
                </a:tc>
              </a:tr>
              <a:tr h="603504">
                <a:tc>
                  <a:txBody>
                    <a:bodyPr wrap="square"/>
                    <a:lstStyle/>
                    <a:p>
                      <a:pPr algn="l">
                        <a:spcBef>
                          <a:spcPts val="0"/>
                        </a:spcBef>
                        <a:spcAft>
                          <a:spcPts val="0"/>
                        </a:spcAft>
                      </a:pPr>
                      <a:r>
                        <a:rPr lang="tr-TR" sz="1800" b="1" i="0">
                          <a:solidFill>
                            <a:srgbClr val="262626"/>
                          </a:solidFill>
                          <a:latin typeface="Calibri"/>
                        </a:rPr>
                        <a:t>Diyagram Hazırlama</a:t>
                      </a:r>
                    </a:p>
                  </a:txBody>
                  <a:tcPr marL="54864" marR="54864" marT="18288" marB="18288" anchor="ctr">
                    <a:solidFill>
                      <a:srgbClr val="FFFFFF"/>
                    </a:solidFill>
                  </a:tcPr>
                </a:tc>
                <a:tc>
                  <a:txBody>
                    <a:bodyPr wrap="square"/>
                    <a:lstStyle/>
                    <a:p>
                      <a:pPr algn="ctr">
                        <a:spcBef>
                          <a:spcPts val="0"/>
                        </a:spcBef>
                        <a:spcAft>
                          <a:spcPts val="0"/>
                        </a:spcAft>
                      </a:pPr>
                      <a:r>
                        <a:rPr lang="tr-TR" sz="1800" b="0" i="0">
                          <a:solidFill>
                            <a:srgbClr val="262626"/>
                          </a:solidFill>
                          <a:latin typeface="Calibri"/>
                        </a:rPr>
                        <a:t>28</a:t>
                      </a:r>
                    </a:p>
                  </a:txBody>
                  <a:tcPr marL="54864" marR="54864" marT="18288" marB="18288" anchor="ctr">
                    <a:solidFill>
                      <a:srgbClr val="FFFFFF"/>
                    </a:solidFill>
                  </a:tcPr>
                </a:tc>
                <a:tc>
                  <a:txBody>
                    <a:bodyPr wrap="square"/>
                    <a:lstStyle/>
                    <a:p>
                      <a:pPr algn="l">
                        <a:spcBef>
                          <a:spcPts val="0"/>
                        </a:spcBef>
                        <a:spcAft>
                          <a:spcPts val="0"/>
                        </a:spcAft>
                      </a:pPr>
                      <a:r>
                        <a:rPr lang="tr-TR" sz="1800" b="0" i="0">
                          <a:solidFill>
                            <a:srgbClr val="262626"/>
                          </a:solidFill>
                          <a:latin typeface="Calibri"/>
                        </a:rPr>
                        <a:t>Ekonomik faaliyetleri etkileyen doğal ve beşerî faktörler ve alt bölümleri, doğru olarak gösterilmiştir.</a:t>
                      </a:r>
                    </a:p>
                  </a:txBody>
                  <a:tcPr marL="54864" marR="54864" marT="18288" marB="18288" anchor="ctr">
                    <a:solidFill>
                      <a:srgbClr val="FFFFFF"/>
                    </a:solidFill>
                  </a:tcPr>
                </a:tc>
              </a:tr>
            </a:tbl>
          </a:graphicData>
        </a:graphic>
      </p:graphicFrame>
      <p:sp>
        <p:nvSpPr>
          <p:cNvPr id="8" name="Rounded Rectangle 7"/>
          <p:cNvSpPr/>
          <p:nvPr/>
        </p:nvSpPr>
        <p:spPr>
          <a:xfrm>
            <a:off x="502920" y="5806440"/>
            <a:ext cx="11185855" cy="484632"/>
          </a:xfrm>
          <a:prstGeom prst="roundRect">
            <a:avLst>
              <a:gd name="adj" fmla="val 8000"/>
            </a:avLst>
          </a:prstGeom>
          <a:solidFill>
            <a:srgbClr val="FFF3D1"/>
          </a:solidFill>
          <a:ln>
            <a:noFill/>
          </a:ln>
          <a:effectLst/>
        </p:spPr>
        <p:txBody>
          <a:bodyPr rtlCol="0" anchor="ctr" wrap="square" lIns="201168" rIns="201168" tIns="73152" bIns="73152">
            <a:noAutofit/>
          </a:bodyPr>
          <a:lstStyle/>
          <a:p>
            <a:pPr algn="ctr">
              <a:spcBef>
                <a:spcPts val="0"/>
              </a:spcBef>
              <a:spcAft>
                <a:spcPts val="0"/>
              </a:spcAft>
            </a:pPr>
            <a:r>
              <a:rPr lang="tr-TR" sz="2000" b="1" i="0">
                <a:solidFill>
                  <a:srgbClr val="262626"/>
                </a:solidFill>
                <a:latin typeface="Calibri"/>
              </a:rPr>
              <a:t>Toplam 100 puan</a:t>
            </a:r>
            <a:r>
              <a:rPr lang="tr-TR" sz="2000" b="0" i="0">
                <a:solidFill>
                  <a:srgbClr val="262626"/>
                </a:solidFill>
                <a:latin typeface="Calibri"/>
              </a:rPr>
              <a:t> · 75 ve üzeri puan: yeterli · Ayrıca “Öz Değerlendirme Formu” (dersin sonunda)</a:t>
            </a:r>
          </a:p>
        </p:txBody>
      </p:sp>
      <p:sp>
        <p:nvSpPr>
          <p:cNvPr id="9" name="TextBox 8"/>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10" name="Rounded Rectangle 9"/>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183</a:t>
            </a:r>
          </a:p>
        </p:txBody>
      </p:sp>
      <p:sp>
        <p:nvSpPr>
          <p:cNvPr id="11" name="TextBox 10"/>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117 / 166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KWL: Ne öğrendim?</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KWL · 2 dk</a:t>
            </a:r>
          </a:p>
        </p:txBody>
      </p:sp>
      <p:sp>
        <p:nvSpPr>
          <p:cNvPr id="6" name="Rounded Rectangle 5"/>
          <p:cNvSpPr/>
          <p:nvPr/>
        </p:nvSpPr>
        <p:spPr>
          <a:xfrm>
            <a:off x="502920" y="1216152"/>
            <a:ext cx="11185855" cy="1325880"/>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1850" b="0" i="0">
                <a:solidFill>
                  <a:srgbClr val="262626"/>
                </a:solidFill>
                <a:latin typeface="Calibri"/>
              </a:rPr>
              <a:t>Ekonomik faaliyetleri etkileyen doğal ve beşerî faktörler hakkında öğrendiklerinizi formun ilgili alanına yazınız. Yazdıklarınızı, ünitenin başında “Ne biliyorum?” ve “Ne bilmek istiyorum?” alanlarına yazdıklarınızla karşılaştırarak öğrenme durumunuzu değerlendiriniz. Değerlendirmelerinizi arkadaşlarınızla paylaşınız.</a:t>
            </a:r>
          </a:p>
        </p:txBody>
      </p:sp>
      <p:sp>
        <p:nvSpPr>
          <p:cNvPr id="7" name="Rounded Rectangle 6"/>
          <p:cNvSpPr/>
          <p:nvPr/>
        </p:nvSpPr>
        <p:spPr>
          <a:xfrm>
            <a:off x="502920" y="2724912"/>
            <a:ext cx="3594506" cy="2377440"/>
          </a:xfrm>
          <a:prstGeom prst="roundRect">
            <a:avLst>
              <a:gd name="adj" fmla="val 5000"/>
            </a:avLst>
          </a:prstGeom>
          <a:solidFill>
            <a:srgbClr val="F0F0F0"/>
          </a:solidFill>
          <a:ln>
            <a:noFill/>
          </a:ln>
          <a:effectLst/>
        </p:spPr>
        <p:txBody>
          <a:bodyPr rtlCol="0" anchor="ctr"/>
          <a:lstStyle/>
          <a:p/>
        </p:txBody>
      </p:sp>
      <p:sp>
        <p:nvSpPr>
          <p:cNvPr id="8" name="Rounded Rectangle 7"/>
          <p:cNvSpPr/>
          <p:nvPr/>
        </p:nvSpPr>
        <p:spPr>
          <a:xfrm>
            <a:off x="502920" y="2724912"/>
            <a:ext cx="3594506" cy="530352"/>
          </a:xfrm>
          <a:prstGeom prst="roundRect">
            <a:avLst>
              <a:gd name="adj" fmla="val 25000"/>
            </a:avLst>
          </a:prstGeom>
          <a:solidFill>
            <a:srgbClr val="4F4F4F"/>
          </a:solidFill>
          <a:ln>
            <a:noFill/>
          </a:ln>
          <a:effectLst/>
        </p:spPr>
        <p:txBody>
          <a:bodyPr rtlCol="0" anchor="ctr"/>
          <a:lstStyle/>
          <a:p/>
        </p:txBody>
      </p:sp>
      <p:sp>
        <p:nvSpPr>
          <p:cNvPr id="9" name="Rectangle 8"/>
          <p:cNvSpPr/>
          <p:nvPr/>
        </p:nvSpPr>
        <p:spPr>
          <a:xfrm>
            <a:off x="502920" y="2990088"/>
            <a:ext cx="3594506" cy="265176"/>
          </a:xfrm>
          <a:prstGeom prst="rect">
            <a:avLst/>
          </a:prstGeom>
          <a:solidFill>
            <a:srgbClr val="4F4F4F"/>
          </a:solidFill>
          <a:ln>
            <a:noFill/>
          </a:ln>
          <a:effectLst/>
        </p:spPr>
        <p:txBody>
          <a:bodyPr rtlCol="0" anchor="ctr"/>
          <a:lstStyle/>
          <a:p/>
        </p:txBody>
      </p:sp>
      <p:sp>
        <p:nvSpPr>
          <p:cNvPr id="10" name="TextBox 9"/>
          <p:cNvSpPr txBox="1"/>
          <p:nvPr/>
        </p:nvSpPr>
        <p:spPr>
          <a:xfrm>
            <a:off x="594360" y="272491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FFFFFF"/>
                </a:solidFill>
                <a:latin typeface="Calibri"/>
              </a:rPr>
              <a:t>Ne Biliyorum?</a:t>
            </a:r>
          </a:p>
        </p:txBody>
      </p:sp>
      <p:sp>
        <p:nvSpPr>
          <p:cNvPr id="11" name="TextBox 10"/>
          <p:cNvSpPr txBox="1"/>
          <p:nvPr/>
        </p:nvSpPr>
        <p:spPr>
          <a:xfrm>
            <a:off x="612648" y="3328416"/>
            <a:ext cx="3375050" cy="1700784"/>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28. hafta: geçen hafta yazdın</a:t>
            </a:r>
          </a:p>
        </p:txBody>
      </p:sp>
      <p:sp>
        <p:nvSpPr>
          <p:cNvPr id="12" name="Rounded Rectangle 11"/>
          <p:cNvSpPr/>
          <p:nvPr/>
        </p:nvSpPr>
        <p:spPr>
          <a:xfrm>
            <a:off x="4298594" y="2724912"/>
            <a:ext cx="3594506" cy="2377440"/>
          </a:xfrm>
          <a:prstGeom prst="roundRect">
            <a:avLst>
              <a:gd name="adj" fmla="val 5000"/>
            </a:avLst>
          </a:prstGeom>
          <a:solidFill>
            <a:srgbClr val="F0F0F0"/>
          </a:solidFill>
          <a:ln>
            <a:noFill/>
          </a:ln>
          <a:effectLst/>
        </p:spPr>
        <p:txBody>
          <a:bodyPr rtlCol="0" anchor="ctr"/>
          <a:lstStyle/>
          <a:p/>
        </p:txBody>
      </p:sp>
      <p:sp>
        <p:nvSpPr>
          <p:cNvPr id="13" name="Rounded Rectangle 12"/>
          <p:cNvSpPr/>
          <p:nvPr/>
        </p:nvSpPr>
        <p:spPr>
          <a:xfrm>
            <a:off x="4298594" y="2724912"/>
            <a:ext cx="3594506" cy="530352"/>
          </a:xfrm>
          <a:prstGeom prst="roundRect">
            <a:avLst>
              <a:gd name="adj" fmla="val 25000"/>
            </a:avLst>
          </a:prstGeom>
          <a:solidFill>
            <a:srgbClr val="4F4F4F"/>
          </a:solidFill>
          <a:ln>
            <a:noFill/>
          </a:ln>
          <a:effectLst/>
        </p:spPr>
        <p:txBody>
          <a:bodyPr rtlCol="0" anchor="ctr"/>
          <a:lstStyle/>
          <a:p/>
        </p:txBody>
      </p:sp>
      <p:sp>
        <p:nvSpPr>
          <p:cNvPr id="14" name="Rectangle 13"/>
          <p:cNvSpPr/>
          <p:nvPr/>
        </p:nvSpPr>
        <p:spPr>
          <a:xfrm>
            <a:off x="4298594" y="2990088"/>
            <a:ext cx="3594506" cy="265176"/>
          </a:xfrm>
          <a:prstGeom prst="rect">
            <a:avLst/>
          </a:prstGeom>
          <a:solidFill>
            <a:srgbClr val="4F4F4F"/>
          </a:solidFill>
          <a:ln>
            <a:noFill/>
          </a:ln>
          <a:effectLst/>
        </p:spPr>
        <p:txBody>
          <a:bodyPr rtlCol="0" anchor="ctr"/>
          <a:lstStyle/>
          <a:p/>
        </p:txBody>
      </p:sp>
      <p:sp>
        <p:nvSpPr>
          <p:cNvPr id="15" name="TextBox 14"/>
          <p:cNvSpPr txBox="1"/>
          <p:nvPr/>
        </p:nvSpPr>
        <p:spPr>
          <a:xfrm>
            <a:off x="4390034" y="272491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FFFFFF"/>
                </a:solidFill>
                <a:latin typeface="Calibri"/>
              </a:rPr>
              <a:t>Ne Bilmek İstiyorum?</a:t>
            </a:r>
          </a:p>
        </p:txBody>
      </p:sp>
      <p:sp>
        <p:nvSpPr>
          <p:cNvPr id="16" name="TextBox 15"/>
          <p:cNvSpPr txBox="1"/>
          <p:nvPr/>
        </p:nvSpPr>
        <p:spPr>
          <a:xfrm>
            <a:off x="4408322" y="3328416"/>
            <a:ext cx="3375050" cy="1700784"/>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28. hafta: soru duvarındaki sorun</a:t>
            </a:r>
          </a:p>
        </p:txBody>
      </p:sp>
      <p:sp>
        <p:nvSpPr>
          <p:cNvPr id="17" name="Rounded Rectangle 16"/>
          <p:cNvSpPr/>
          <p:nvPr/>
        </p:nvSpPr>
        <p:spPr>
          <a:xfrm>
            <a:off x="8094268" y="2724912"/>
            <a:ext cx="3594506" cy="2377440"/>
          </a:xfrm>
          <a:prstGeom prst="roundRect">
            <a:avLst>
              <a:gd name="adj" fmla="val 5000"/>
            </a:avLst>
          </a:prstGeom>
          <a:solidFill>
            <a:srgbClr val="F0F0F0"/>
          </a:solidFill>
          <a:ln>
            <a:noFill/>
          </a:ln>
          <a:effectLst/>
        </p:spPr>
        <p:txBody>
          <a:bodyPr rtlCol="0" anchor="ctr"/>
          <a:lstStyle/>
          <a:p/>
        </p:txBody>
      </p:sp>
      <p:sp>
        <p:nvSpPr>
          <p:cNvPr id="18" name="Rounded Rectangle 17"/>
          <p:cNvSpPr/>
          <p:nvPr/>
        </p:nvSpPr>
        <p:spPr>
          <a:xfrm>
            <a:off x="8094268" y="2724912"/>
            <a:ext cx="3594506" cy="530352"/>
          </a:xfrm>
          <a:prstGeom prst="roundRect">
            <a:avLst>
              <a:gd name="adj" fmla="val 25000"/>
            </a:avLst>
          </a:prstGeom>
          <a:solidFill>
            <a:srgbClr val="B85C12"/>
          </a:solidFill>
          <a:ln>
            <a:noFill/>
          </a:ln>
          <a:effectLst/>
        </p:spPr>
        <p:txBody>
          <a:bodyPr rtlCol="0" anchor="ctr"/>
          <a:lstStyle/>
          <a:p/>
        </p:txBody>
      </p:sp>
      <p:sp>
        <p:nvSpPr>
          <p:cNvPr id="19" name="Rectangle 18"/>
          <p:cNvSpPr/>
          <p:nvPr/>
        </p:nvSpPr>
        <p:spPr>
          <a:xfrm>
            <a:off x="8094268" y="2990088"/>
            <a:ext cx="3594506" cy="265176"/>
          </a:xfrm>
          <a:prstGeom prst="rect">
            <a:avLst/>
          </a:prstGeom>
          <a:solidFill>
            <a:srgbClr val="B85C12"/>
          </a:solidFill>
          <a:ln>
            <a:noFill/>
          </a:ln>
          <a:effectLst/>
        </p:spPr>
        <p:txBody>
          <a:bodyPr rtlCol="0" anchor="ctr"/>
          <a:lstStyle/>
          <a:p/>
        </p:txBody>
      </p:sp>
      <p:sp>
        <p:nvSpPr>
          <p:cNvPr id="20" name="TextBox 19"/>
          <p:cNvSpPr txBox="1"/>
          <p:nvPr/>
        </p:nvSpPr>
        <p:spPr>
          <a:xfrm>
            <a:off x="8185708" y="272491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FFFFFF"/>
                </a:solidFill>
                <a:latin typeface="Calibri"/>
              </a:rPr>
              <a:t>Öğrendiklerim/Ne öğrendim?</a:t>
            </a:r>
          </a:p>
        </p:txBody>
      </p:sp>
      <p:sp>
        <p:nvSpPr>
          <p:cNvPr id="21" name="TextBox 20"/>
          <p:cNvSpPr txBox="1"/>
          <p:nvPr/>
        </p:nvSpPr>
        <p:spPr>
          <a:xfrm>
            <a:off x="8203996" y="3328416"/>
            <a:ext cx="3375050" cy="1700784"/>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Bugün: en az üç madde yaz, K ile karşılaştır</a:t>
            </a:r>
          </a:p>
        </p:txBody>
      </p:sp>
      <p:sp>
        <p:nvSpPr>
          <p:cNvPr id="22" name="Rounded Rectangle 21"/>
          <p:cNvSpPr/>
          <p:nvPr/>
        </p:nvSpPr>
        <p:spPr>
          <a:xfrm>
            <a:off x="502920" y="5285232"/>
            <a:ext cx="11185855" cy="1005840"/>
          </a:xfrm>
          <a:prstGeom prst="roundRect">
            <a:avLst>
              <a:gd name="adj" fmla="val 8000"/>
            </a:avLst>
          </a:prstGeom>
          <a:solidFill>
            <a:srgbClr val="FFF3D1"/>
          </a:solidFill>
          <a:ln>
            <a:noFill/>
          </a:ln>
          <a:effectLst/>
        </p:spPr>
        <p:txBody>
          <a:bodyPr rtlCol="0" anchor="ctr" wrap="square" lIns="201168" rIns="201168" tIns="73152" bIns="73152">
            <a:noAutofit/>
          </a:bodyPr>
          <a:lstStyle/>
          <a:p>
            <a:pPr algn="ctr">
              <a:spcBef>
                <a:spcPts val="0"/>
              </a:spcBef>
              <a:spcAft>
                <a:spcPts val="0"/>
              </a:spcAft>
            </a:pPr>
            <a:r>
              <a:rPr lang="tr-TR" sz="2000" b="1" i="0">
                <a:solidFill>
                  <a:srgbClr val="262626"/>
                </a:solidFill>
                <a:latin typeface="Calibri"/>
              </a:rPr>
              <a:t>Soru duvarı:</a:t>
            </a:r>
            <a:r>
              <a:rPr lang="tr-TR" sz="2000" b="0" i="0">
                <a:solidFill>
                  <a:srgbClr val="262626"/>
                </a:solidFill>
                <a:latin typeface="Calibri"/>
              </a:rPr>
              <a:t> cevabını bulduğumuz soruya ✓ · kalan sorular “araştırma sorusu” olarak duvarda kalır</a:t>
            </a:r>
          </a:p>
        </p:txBody>
      </p:sp>
      <p:sp>
        <p:nvSpPr>
          <p:cNvPr id="23" name="TextBox 2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24" name="Rounded Rectangle 2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174, 182</a:t>
            </a:r>
          </a:p>
        </p:txBody>
      </p:sp>
      <p:sp>
        <p:nvSpPr>
          <p:cNvPr id="25" name="TextBox 2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118 / 166</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Ne öğrendim? — örnek</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Rounded Rectangle 5"/>
          <p:cNvSpPr/>
          <p:nvPr/>
        </p:nvSpPr>
        <p:spPr>
          <a:xfrm>
            <a:off x="502920" y="1216152"/>
            <a:ext cx="6583680" cy="5029200"/>
          </a:xfrm>
          <a:prstGeom prst="roundRect">
            <a:avLst>
              <a:gd name="adj" fmla="val 6000"/>
            </a:avLst>
          </a:prstGeom>
          <a:solidFill>
            <a:srgbClr val="E3F1E4"/>
          </a:solidFill>
          <a:ln>
            <a:noFill/>
          </a:ln>
          <a:effectLst/>
        </p:spPr>
        <p:txBody>
          <a:bodyPr rtlCol="0" anchor="ctr"/>
          <a:lstStyle/>
          <a:p/>
        </p:txBody>
      </p:sp>
      <p:sp>
        <p:nvSpPr>
          <p:cNvPr id="7" name="Rectangle 6"/>
          <p:cNvSpPr/>
          <p:nvPr/>
        </p:nvSpPr>
        <p:spPr>
          <a:xfrm>
            <a:off x="502920" y="1216152"/>
            <a:ext cx="109728" cy="5029200"/>
          </a:xfrm>
          <a:prstGeom prst="rect">
            <a:avLst/>
          </a:prstGeom>
          <a:solidFill>
            <a:srgbClr val="2E7D32"/>
          </a:solidFill>
          <a:ln>
            <a:noFill/>
          </a:ln>
          <a:effectLst/>
        </p:spPr>
        <p:txBody>
          <a:bodyPr rtlCol="0" anchor="ctr"/>
          <a:lstStyle/>
          <a:p/>
        </p:txBody>
      </p:sp>
      <p:sp>
        <p:nvSpPr>
          <p:cNvPr id="8" name="TextBox 7"/>
          <p:cNvSpPr txBox="1"/>
          <p:nvPr/>
        </p:nvSpPr>
        <p:spPr>
          <a:xfrm>
            <a:off x="731520" y="1271016"/>
            <a:ext cx="6263640" cy="4919472"/>
          </a:xfrm>
          <a:prstGeom prst="rect">
            <a:avLst/>
          </a:prstGeom>
          <a:noFill/>
        </p:spPr>
        <p:txBody>
          <a:bodyPr wrap="square" anchor="ctr" lIns="73152" rIns="73152" tIns="36576" bIns="36576">
            <a:noAutofit/>
          </a:bodyPr>
          <a:lstStyle/>
          <a:p>
            <a:pPr algn="l">
              <a:spcBef>
                <a:spcPts val="0"/>
              </a:spcBef>
              <a:spcAft>
                <a:spcPts val="400"/>
              </a:spcAft>
            </a:pPr>
            <a:r>
              <a:rPr lang="tr-TR" sz="2200" b="1" i="0">
                <a:solidFill>
                  <a:srgbClr val="2E7D32"/>
                </a:solidFill>
                <a:latin typeface="Calibri"/>
              </a:rPr>
              <a:t>Ne öğrendim? (örnek maddeler)</a:t>
            </a:r>
          </a:p>
          <a:p>
            <a:pPr algn="l" marL="273482" indent="-273482">
              <a:spcBef>
                <a:spcPts val="0"/>
              </a:spcBef>
              <a:spcAft>
                <a:spcPts val="500"/>
              </a:spcAft>
            </a:pPr>
            <a:r>
              <a:rPr lang="tr-TR" sz="2200" b="1" i="0">
                <a:solidFill>
                  <a:srgbClr val="2C6696"/>
                </a:solidFill>
                <a:latin typeface="Calibri"/>
              </a:rPr>
              <a:t>•  </a:t>
            </a:r>
            <a:r>
              <a:rPr lang="tr-TR" sz="2200" b="0" i="0">
                <a:solidFill>
                  <a:srgbClr val="262626"/>
                </a:solidFill>
                <a:latin typeface="Calibri"/>
              </a:rPr>
              <a:t>Ekonomik faaliyetin yerini doğal ve beşerî faktörler birlikte belirler.</a:t>
            </a:r>
          </a:p>
          <a:p>
            <a:pPr algn="l" marL="273482" indent="-273482">
              <a:spcBef>
                <a:spcPts val="0"/>
              </a:spcBef>
              <a:spcAft>
                <a:spcPts val="500"/>
              </a:spcAft>
            </a:pPr>
            <a:r>
              <a:rPr lang="tr-TR" sz="2200" b="1" i="0">
                <a:solidFill>
                  <a:srgbClr val="2C6696"/>
                </a:solidFill>
                <a:latin typeface="Calibri"/>
              </a:rPr>
              <a:t>•  </a:t>
            </a:r>
            <a:r>
              <a:rPr lang="tr-TR" sz="2200" b="0" i="0">
                <a:solidFill>
                  <a:srgbClr val="262626"/>
                </a:solidFill>
                <a:latin typeface="Calibri"/>
              </a:rPr>
              <a:t>Japonya ham madde azlığını yüksek teknolojiyle aşmış.</a:t>
            </a:r>
          </a:p>
          <a:p>
            <a:pPr algn="l" marL="273482" indent="-273482">
              <a:spcBef>
                <a:spcPts val="0"/>
              </a:spcBef>
              <a:spcAft>
                <a:spcPts val="500"/>
              </a:spcAft>
            </a:pPr>
            <a:r>
              <a:rPr lang="tr-TR" sz="2200" b="1" i="0">
                <a:solidFill>
                  <a:srgbClr val="2C6696"/>
                </a:solidFill>
                <a:latin typeface="Calibri"/>
              </a:rPr>
              <a:t>•  </a:t>
            </a:r>
            <a:r>
              <a:rPr lang="tr-TR" sz="2200" b="0" i="0">
                <a:solidFill>
                  <a:srgbClr val="262626"/>
                </a:solidFill>
                <a:latin typeface="Calibri"/>
              </a:rPr>
              <a:t>Büyük limanların olduğu yerlerde sanayi ve ticaret de büyük.</a:t>
            </a:r>
          </a:p>
          <a:p>
            <a:pPr algn="l" marL="273482" indent="-273482">
              <a:spcBef>
                <a:spcPts val="0"/>
              </a:spcBef>
              <a:spcAft>
                <a:spcPts val="500"/>
              </a:spcAft>
            </a:pPr>
            <a:r>
              <a:rPr lang="tr-TR" sz="2200" b="1" i="0">
                <a:solidFill>
                  <a:srgbClr val="2C6696"/>
                </a:solidFill>
                <a:latin typeface="Calibri"/>
              </a:rPr>
              <a:t>•  </a:t>
            </a:r>
            <a:r>
              <a:rPr lang="tr-TR" sz="2200" b="0" i="0">
                <a:solidFill>
                  <a:srgbClr val="262626"/>
                </a:solidFill>
                <a:latin typeface="Calibri"/>
              </a:rPr>
              <a:t>TEKNOSAB'ın yerini en çok ulaşım ve iş gücü belirlemiş.</a:t>
            </a:r>
          </a:p>
          <a:p>
            <a:pPr algn="l" marL="273482" indent="-273482">
              <a:spcBef>
                <a:spcPts val="0"/>
              </a:spcBef>
              <a:spcAft>
                <a:spcPts val="0"/>
              </a:spcAft>
            </a:pPr>
            <a:r>
              <a:rPr lang="tr-TR" sz="2200" b="1" i="0">
                <a:solidFill>
                  <a:srgbClr val="2C6696"/>
                </a:solidFill>
                <a:latin typeface="Calibri"/>
              </a:rPr>
              <a:t>•  </a:t>
            </a:r>
            <a:r>
              <a:rPr lang="tr-TR" sz="2200" b="0" i="0">
                <a:solidFill>
                  <a:srgbClr val="262626"/>
                </a:solidFill>
                <a:latin typeface="Calibri"/>
              </a:rPr>
              <a:t>Kaynakları verimli kullanmak ülke ekonomisine katkıdır.</a:t>
            </a:r>
          </a:p>
        </p:txBody>
      </p:sp>
      <p:sp>
        <p:nvSpPr>
          <p:cNvPr id="9" name="Rounded Rectangle 8"/>
          <p:cNvSpPr/>
          <p:nvPr/>
        </p:nvSpPr>
        <p:spPr>
          <a:xfrm>
            <a:off x="7315200" y="1216152"/>
            <a:ext cx="4373575" cy="1828800"/>
          </a:xfrm>
          <a:prstGeom prst="roundRect">
            <a:avLst>
              <a:gd name="adj" fmla="val 8000"/>
            </a:avLst>
          </a:prstGeom>
          <a:solidFill>
            <a:srgbClr val="F0F0F0"/>
          </a:solidFill>
          <a:ln>
            <a:noFill/>
          </a:ln>
          <a:effectLst/>
        </p:spPr>
        <p:txBody>
          <a:bodyPr rtlCol="0" anchor="ctr" wrap="square" lIns="182880" rIns="182880" tIns="73152" bIns="73152">
            <a:noAutofit/>
          </a:bodyPr>
          <a:lstStyle/>
          <a:p>
            <a:pPr algn="l">
              <a:spcBef>
                <a:spcPts val="0"/>
              </a:spcBef>
              <a:spcAft>
                <a:spcPts val="600"/>
              </a:spcAft>
            </a:pPr>
            <a:r>
              <a:rPr lang="tr-TR" sz="2000" b="1" i="0">
                <a:solidFill>
                  <a:srgbClr val="4F4F4F"/>
                </a:solidFill>
                <a:latin typeface="Calibri"/>
              </a:rPr>
              <a:t>K (28. hafta)</a:t>
            </a:r>
          </a:p>
          <a:p>
            <a:pPr algn="l">
              <a:spcBef>
                <a:spcPts val="0"/>
              </a:spcBef>
              <a:spcAft>
                <a:spcPts val="0"/>
              </a:spcAft>
            </a:pPr>
            <a:r>
              <a:rPr lang="tr-TR" sz="2000" b="0" i="1">
                <a:solidFill>
                  <a:srgbClr val="262626"/>
                </a:solidFill>
                <a:latin typeface="Calibri"/>
              </a:rPr>
              <a:t>“Fabrikalar şehirlere yakın kurulur.”</a:t>
            </a:r>
          </a:p>
        </p:txBody>
      </p:sp>
      <p:cxnSp>
        <p:nvCxnSpPr>
          <p:cNvPr id="10" name="Connector 9"/>
          <p:cNvCxnSpPr/>
          <p:nvPr/>
        </p:nvCxnSpPr>
        <p:spPr>
          <a:xfrm>
            <a:off x="9501987" y="3090672"/>
            <a:ext cx="0" cy="411480"/>
          </a:xfrm>
          <a:prstGeom prst="line">
            <a:avLst/>
          </a:prstGeom>
          <a:ln w="50800">
            <a:solidFill>
              <a:srgbClr val="FCC021"/>
            </a:solidFill>
            <a:tailEnd type="triangle" w="med" len="med"/>
          </a:ln>
        </p:spPr>
      </p:cxnSp>
      <p:sp>
        <p:nvSpPr>
          <p:cNvPr id="11" name="Rounded Rectangle 10"/>
          <p:cNvSpPr/>
          <p:nvPr/>
        </p:nvSpPr>
        <p:spPr>
          <a:xfrm>
            <a:off x="7315200" y="3547872"/>
            <a:ext cx="4373575" cy="2697480"/>
          </a:xfrm>
          <a:prstGeom prst="roundRect">
            <a:avLst>
              <a:gd name="adj" fmla="val 8000"/>
            </a:avLst>
          </a:prstGeom>
          <a:solidFill>
            <a:srgbClr val="E3F1E4"/>
          </a:solidFill>
          <a:ln w="12700">
            <a:solidFill>
              <a:srgbClr val="2E7D32"/>
            </a:solidFill>
          </a:ln>
          <a:effectLst/>
        </p:spPr>
        <p:txBody>
          <a:bodyPr rtlCol="0" anchor="ctr" wrap="square" lIns="182880" rIns="182880" tIns="73152" bIns="73152">
            <a:noAutofit/>
          </a:bodyPr>
          <a:lstStyle/>
          <a:p>
            <a:pPr algn="l">
              <a:spcBef>
                <a:spcPts val="0"/>
              </a:spcBef>
              <a:spcAft>
                <a:spcPts val="600"/>
              </a:spcAft>
            </a:pPr>
            <a:r>
              <a:rPr lang="tr-TR" sz="2000" b="1" i="0">
                <a:solidFill>
                  <a:srgbClr val="2E7D32"/>
                </a:solidFill>
                <a:latin typeface="Calibri"/>
              </a:rPr>
              <a:t>L (bugün)</a:t>
            </a:r>
          </a:p>
          <a:p>
            <a:pPr algn="l">
              <a:spcBef>
                <a:spcPts val="0"/>
              </a:spcBef>
              <a:spcAft>
                <a:spcPts val="0"/>
              </a:spcAft>
            </a:pPr>
            <a:r>
              <a:rPr lang="tr-TR" sz="2000" b="0" i="1">
                <a:solidFill>
                  <a:srgbClr val="262626"/>
                </a:solidFill>
                <a:latin typeface="Calibri"/>
              </a:rPr>
              <a:t>“Fabrikanın yerini ulaşım, iş gücü, sermaye ve pazar ile ham madde, enerji ve su birlikte belirler.”</a:t>
            </a:r>
          </a:p>
        </p:txBody>
      </p:sp>
      <p:sp>
        <p:nvSpPr>
          <p:cNvPr id="12" name="TextBox 1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13" name="Rounded Rectangle 1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174-182</a:t>
            </a:r>
          </a:p>
        </p:txBody>
      </p:sp>
      <p:sp>
        <p:nvSpPr>
          <p:cNvPr id="14" name="TextBox 1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119 / 166</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Öz değerlendirme formu</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ÖZ DEĞERLENDİRME</a:t>
            </a:r>
          </a:p>
        </p:txBody>
      </p:sp>
      <p:sp>
        <p:nvSpPr>
          <p:cNvPr id="6" name="TextBox 5"/>
          <p:cNvSpPr txBox="1"/>
          <p:nvPr/>
        </p:nvSpPr>
        <p:spPr>
          <a:xfrm>
            <a:off x="502920" y="1170432"/>
            <a:ext cx="11185855" cy="457200"/>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262626"/>
                </a:solidFill>
                <a:latin typeface="Calibri"/>
              </a:rPr>
              <a:t>Etkinliğin adı:</a:t>
            </a:r>
            <a:r>
              <a:rPr lang="tr-TR" sz="1900" b="0" i="0">
                <a:solidFill>
                  <a:srgbClr val="262626"/>
                </a:solidFill>
                <a:latin typeface="Calibri"/>
              </a:rPr>
              <a:t> Diyagram Hazırlama Çalışması</a:t>
            </a:r>
          </a:p>
        </p:txBody>
      </p:sp>
      <p:graphicFrame>
        <p:nvGraphicFramePr>
          <p:cNvPr id="7" name="Table 6"/>
          <p:cNvGraphicFramePr>
            <a:graphicFrameLocks noGrp="1"/>
          </p:cNvGraphicFramePr>
          <p:nvPr/>
        </p:nvGraphicFramePr>
        <p:xfrm>
          <a:off x="502920" y="1673352"/>
          <a:ext cx="11185855" cy="2542032"/>
        </p:xfrm>
        <a:graphic>
          <a:graphicData uri="http://schemas.openxmlformats.org/drawingml/2006/table">
            <a:tbl>
              <a:tblPr firstRow="1" bandRow="1">
                <a:tableStyleId>{5C22544A-7EE6-4342-B048-85BDC9FD1C3A}</a:tableStyleId>
              </a:tblPr>
              <a:tblGrid>
                <a:gridCol w="7345375"/>
                <a:gridCol w="1280160"/>
                <a:gridCol w="1280160"/>
                <a:gridCol w="1280160"/>
              </a:tblGrid>
              <a:tr h="438912">
                <a:tc>
                  <a:txBody>
                    <a:bodyPr wrap="square"/>
                    <a:lstStyle/>
                    <a:p>
                      <a:pPr algn="ctr">
                        <a:spcBef>
                          <a:spcPts val="0"/>
                        </a:spcBef>
                        <a:spcAft>
                          <a:spcPts val="0"/>
                        </a:spcAft>
                      </a:pPr>
                      <a:r>
                        <a:rPr lang="tr-TR" sz="1700" b="1" i="0">
                          <a:solidFill>
                            <a:srgbClr val="FFFFFF"/>
                          </a:solidFill>
                          <a:latin typeface="Calibri"/>
                        </a:rPr>
                        <a:t>Değerlendirme ölçütleri</a:t>
                      </a:r>
                    </a:p>
                  </a:txBody>
                  <a:tcPr marL="54864" marR="54864" marT="18288" marB="18288" anchor="ctr">
                    <a:solidFill>
                      <a:srgbClr val="B85C12"/>
                    </a:solidFill>
                  </a:tcPr>
                </a:tc>
                <a:tc>
                  <a:txBody>
                    <a:bodyPr wrap="square"/>
                    <a:lstStyle/>
                    <a:p>
                      <a:pPr algn="ctr">
                        <a:spcBef>
                          <a:spcPts val="0"/>
                        </a:spcBef>
                        <a:spcAft>
                          <a:spcPts val="0"/>
                        </a:spcAft>
                      </a:pPr>
                      <a:r>
                        <a:rPr lang="tr-TR" sz="1700" b="1" i="0">
                          <a:solidFill>
                            <a:srgbClr val="FFFFFF"/>
                          </a:solidFill>
                          <a:latin typeface="Calibri"/>
                        </a:rPr>
                        <a:t>EVET</a:t>
                      </a:r>
                    </a:p>
                  </a:txBody>
                  <a:tcPr marL="54864" marR="54864" marT="18288" marB="18288" anchor="ctr">
                    <a:solidFill>
                      <a:srgbClr val="B85C12"/>
                    </a:solidFill>
                  </a:tcPr>
                </a:tc>
                <a:tc>
                  <a:txBody>
                    <a:bodyPr wrap="square"/>
                    <a:lstStyle/>
                    <a:p>
                      <a:pPr algn="ctr">
                        <a:spcBef>
                          <a:spcPts val="0"/>
                        </a:spcBef>
                        <a:spcAft>
                          <a:spcPts val="0"/>
                        </a:spcAft>
                      </a:pPr>
                      <a:r>
                        <a:rPr lang="tr-TR" sz="1700" b="1" i="0">
                          <a:solidFill>
                            <a:srgbClr val="FFFFFF"/>
                          </a:solidFill>
                          <a:latin typeface="Calibri"/>
                        </a:rPr>
                        <a:t>KISMEN</a:t>
                      </a:r>
                    </a:p>
                  </a:txBody>
                  <a:tcPr marL="54864" marR="54864" marT="18288" marB="18288" anchor="ctr">
                    <a:solidFill>
                      <a:srgbClr val="B85C12"/>
                    </a:solidFill>
                  </a:tcPr>
                </a:tc>
                <a:tc>
                  <a:txBody>
                    <a:bodyPr wrap="square"/>
                    <a:lstStyle/>
                    <a:p>
                      <a:pPr algn="ctr">
                        <a:spcBef>
                          <a:spcPts val="0"/>
                        </a:spcBef>
                        <a:spcAft>
                          <a:spcPts val="0"/>
                        </a:spcAft>
                      </a:pPr>
                      <a:r>
                        <a:rPr lang="tr-TR" sz="1700" b="1" i="0">
                          <a:solidFill>
                            <a:srgbClr val="FFFFFF"/>
                          </a:solidFill>
                          <a:latin typeface="Calibri"/>
                        </a:rPr>
                        <a:t>HAYIR</a:t>
                      </a:r>
                    </a:p>
                  </a:txBody>
                  <a:tcPr marL="54864" marR="54864" marT="18288" marB="18288" anchor="ctr">
                    <a:solidFill>
                      <a:srgbClr val="B85C12"/>
                    </a:solidFill>
                  </a:tcPr>
                </a:tc>
              </a:tr>
              <a:tr h="420624">
                <a:tc>
                  <a:txBody>
                    <a:bodyPr wrap="square"/>
                    <a:lstStyle/>
                    <a:p>
                      <a:pPr algn="l">
                        <a:spcBef>
                          <a:spcPts val="0"/>
                        </a:spcBef>
                        <a:spcAft>
                          <a:spcPts val="0"/>
                        </a:spcAft>
                      </a:pPr>
                      <a:r>
                        <a:rPr lang="tr-TR" sz="1800" b="0" i="0">
                          <a:solidFill>
                            <a:srgbClr val="262626"/>
                          </a:solidFill>
                          <a:latin typeface="Calibri"/>
                        </a:rPr>
                        <a:t>Hazırladığım çalışma planını uyguladım.</a:t>
                      </a:r>
                    </a:p>
                  </a:txBody>
                  <a:tcPr marL="54864" marR="54864" marT="18288" marB="18288" anchor="ctr">
                    <a:solidFill>
                      <a:srgbClr val="FFFFFF"/>
                    </a:solidFill>
                  </a:tcPr>
                </a:tc>
                <a:tc>
                  <a:txBody>
                    <a:bodyPr wrap="square"/>
                    <a:lstStyle/>
                    <a:p>
                      <a:pPr algn="ctr">
                        <a:spcBef>
                          <a:spcPts val="0"/>
                        </a:spcBef>
                        <a:spcAft>
                          <a:spcPts val="0"/>
                        </a:spcAft>
                      </a:pPr>
                    </a:p>
                  </a:txBody>
                  <a:tcPr marL="54864" marR="54864" marT="18288" marB="18288" anchor="ctr">
                    <a:solidFill>
                      <a:srgbClr val="FFFFFF"/>
                    </a:solidFill>
                  </a:tcPr>
                </a:tc>
                <a:tc>
                  <a:txBody>
                    <a:bodyPr wrap="square"/>
                    <a:lstStyle/>
                    <a:p>
                      <a:pPr algn="ctr">
                        <a:spcBef>
                          <a:spcPts val="0"/>
                        </a:spcBef>
                        <a:spcAft>
                          <a:spcPts val="0"/>
                        </a:spcAft>
                      </a:pPr>
                    </a:p>
                  </a:txBody>
                  <a:tcPr marL="54864" marR="54864" marT="18288" marB="18288" anchor="ctr">
                    <a:solidFill>
                      <a:srgbClr val="FFFFFF"/>
                    </a:solidFill>
                  </a:tcPr>
                </a:tc>
                <a:tc>
                  <a:txBody>
                    <a:bodyPr wrap="square"/>
                    <a:lstStyle/>
                    <a:p>
                      <a:pPr algn="ctr">
                        <a:spcBef>
                          <a:spcPts val="0"/>
                        </a:spcBef>
                        <a:spcAft>
                          <a:spcPts val="0"/>
                        </a:spcAft>
                      </a:pPr>
                    </a:p>
                  </a:txBody>
                  <a:tcPr marL="54864" marR="54864" marT="18288" marB="18288" anchor="ctr">
                    <a:solidFill>
                      <a:srgbClr val="FFFFFF"/>
                    </a:solidFill>
                  </a:tcPr>
                </a:tc>
              </a:tr>
              <a:tr h="420624">
                <a:tc>
                  <a:txBody>
                    <a:bodyPr wrap="square"/>
                    <a:lstStyle/>
                    <a:p>
                      <a:pPr algn="l">
                        <a:spcBef>
                          <a:spcPts val="0"/>
                        </a:spcBef>
                        <a:spcAft>
                          <a:spcPts val="0"/>
                        </a:spcAft>
                      </a:pPr>
                      <a:r>
                        <a:rPr lang="tr-TR" sz="1800" b="0" i="0">
                          <a:solidFill>
                            <a:srgbClr val="262626"/>
                          </a:solidFill>
                          <a:latin typeface="Calibri"/>
                        </a:rPr>
                        <a:t>Çalışmamla ilgili bilgileri eksiksiz topladım.</a:t>
                      </a:r>
                    </a:p>
                  </a:txBody>
                  <a:tcPr marL="54864" marR="54864" marT="18288" marB="18288" anchor="ctr">
                    <a:solidFill>
                      <a:srgbClr val="FFF3D1"/>
                    </a:solidFill>
                  </a:tcPr>
                </a:tc>
                <a:tc>
                  <a:txBody>
                    <a:bodyPr wrap="square"/>
                    <a:lstStyle/>
                    <a:p>
                      <a:pPr algn="ctr">
                        <a:spcBef>
                          <a:spcPts val="0"/>
                        </a:spcBef>
                        <a:spcAft>
                          <a:spcPts val="0"/>
                        </a:spcAft>
                      </a:pPr>
                    </a:p>
                  </a:txBody>
                  <a:tcPr marL="54864" marR="54864" marT="18288" marB="18288" anchor="ctr">
                    <a:solidFill>
                      <a:srgbClr val="FFF3D1"/>
                    </a:solidFill>
                  </a:tcPr>
                </a:tc>
                <a:tc>
                  <a:txBody>
                    <a:bodyPr wrap="square"/>
                    <a:lstStyle/>
                    <a:p>
                      <a:pPr algn="ctr">
                        <a:spcBef>
                          <a:spcPts val="0"/>
                        </a:spcBef>
                        <a:spcAft>
                          <a:spcPts val="0"/>
                        </a:spcAft>
                      </a:pPr>
                    </a:p>
                  </a:txBody>
                  <a:tcPr marL="54864" marR="54864" marT="18288" marB="18288" anchor="ctr">
                    <a:solidFill>
                      <a:srgbClr val="FFF3D1"/>
                    </a:solidFill>
                  </a:tcPr>
                </a:tc>
                <a:tc>
                  <a:txBody>
                    <a:bodyPr wrap="square"/>
                    <a:lstStyle/>
                    <a:p>
                      <a:pPr algn="ctr">
                        <a:spcBef>
                          <a:spcPts val="0"/>
                        </a:spcBef>
                        <a:spcAft>
                          <a:spcPts val="0"/>
                        </a:spcAft>
                      </a:pPr>
                    </a:p>
                  </a:txBody>
                  <a:tcPr marL="54864" marR="54864" marT="18288" marB="18288" anchor="ctr">
                    <a:solidFill>
                      <a:srgbClr val="FFF3D1"/>
                    </a:solidFill>
                  </a:tcPr>
                </a:tc>
              </a:tr>
              <a:tr h="420624">
                <a:tc>
                  <a:txBody>
                    <a:bodyPr wrap="square"/>
                    <a:lstStyle/>
                    <a:p>
                      <a:pPr algn="l">
                        <a:spcBef>
                          <a:spcPts val="0"/>
                        </a:spcBef>
                        <a:spcAft>
                          <a:spcPts val="0"/>
                        </a:spcAft>
                      </a:pPr>
                      <a:r>
                        <a:rPr lang="tr-TR" sz="1800" b="0" i="0">
                          <a:solidFill>
                            <a:srgbClr val="262626"/>
                          </a:solidFill>
                          <a:latin typeface="Calibri"/>
                        </a:rPr>
                        <a:t>Bilgi toplama aşamasında farklı kaynaklardan yararlandım.</a:t>
                      </a:r>
                    </a:p>
                  </a:txBody>
                  <a:tcPr marL="54864" marR="54864" marT="18288" marB="18288" anchor="ctr">
                    <a:solidFill>
                      <a:srgbClr val="FFFFFF"/>
                    </a:solidFill>
                  </a:tcPr>
                </a:tc>
                <a:tc>
                  <a:txBody>
                    <a:bodyPr wrap="square"/>
                    <a:lstStyle/>
                    <a:p>
                      <a:pPr algn="ctr">
                        <a:spcBef>
                          <a:spcPts val="0"/>
                        </a:spcBef>
                        <a:spcAft>
                          <a:spcPts val="0"/>
                        </a:spcAft>
                      </a:pPr>
                    </a:p>
                  </a:txBody>
                  <a:tcPr marL="54864" marR="54864" marT="18288" marB="18288" anchor="ctr">
                    <a:solidFill>
                      <a:srgbClr val="FFFFFF"/>
                    </a:solidFill>
                  </a:tcPr>
                </a:tc>
                <a:tc>
                  <a:txBody>
                    <a:bodyPr wrap="square"/>
                    <a:lstStyle/>
                    <a:p>
                      <a:pPr algn="ctr">
                        <a:spcBef>
                          <a:spcPts val="0"/>
                        </a:spcBef>
                        <a:spcAft>
                          <a:spcPts val="0"/>
                        </a:spcAft>
                      </a:pPr>
                    </a:p>
                  </a:txBody>
                  <a:tcPr marL="54864" marR="54864" marT="18288" marB="18288" anchor="ctr">
                    <a:solidFill>
                      <a:srgbClr val="FFFFFF"/>
                    </a:solidFill>
                  </a:tcPr>
                </a:tc>
                <a:tc>
                  <a:txBody>
                    <a:bodyPr wrap="square"/>
                    <a:lstStyle/>
                    <a:p>
                      <a:pPr algn="ctr">
                        <a:spcBef>
                          <a:spcPts val="0"/>
                        </a:spcBef>
                        <a:spcAft>
                          <a:spcPts val="0"/>
                        </a:spcAft>
                      </a:pPr>
                    </a:p>
                  </a:txBody>
                  <a:tcPr marL="54864" marR="54864" marT="18288" marB="18288" anchor="ctr">
                    <a:solidFill>
                      <a:srgbClr val="FFFFFF"/>
                    </a:solidFill>
                  </a:tcPr>
                </a:tc>
              </a:tr>
              <a:tr h="420624">
                <a:tc>
                  <a:txBody>
                    <a:bodyPr wrap="square"/>
                    <a:lstStyle/>
                    <a:p>
                      <a:pPr algn="l">
                        <a:spcBef>
                          <a:spcPts val="0"/>
                        </a:spcBef>
                        <a:spcAft>
                          <a:spcPts val="0"/>
                        </a:spcAft>
                      </a:pPr>
                      <a:r>
                        <a:rPr lang="tr-TR" sz="1800" b="0" i="0">
                          <a:solidFill>
                            <a:srgbClr val="262626"/>
                          </a:solidFill>
                          <a:latin typeface="Calibri"/>
                        </a:rPr>
                        <a:t>Çalışmamı görsel materyallerle destekledim.</a:t>
                      </a:r>
                    </a:p>
                  </a:txBody>
                  <a:tcPr marL="54864" marR="54864" marT="18288" marB="18288" anchor="ctr">
                    <a:solidFill>
                      <a:srgbClr val="FFF3D1"/>
                    </a:solidFill>
                  </a:tcPr>
                </a:tc>
                <a:tc>
                  <a:txBody>
                    <a:bodyPr wrap="square"/>
                    <a:lstStyle/>
                    <a:p>
                      <a:pPr algn="ctr">
                        <a:spcBef>
                          <a:spcPts val="0"/>
                        </a:spcBef>
                        <a:spcAft>
                          <a:spcPts val="0"/>
                        </a:spcAft>
                      </a:pPr>
                    </a:p>
                  </a:txBody>
                  <a:tcPr marL="54864" marR="54864" marT="18288" marB="18288" anchor="ctr">
                    <a:solidFill>
                      <a:srgbClr val="FFF3D1"/>
                    </a:solidFill>
                  </a:tcPr>
                </a:tc>
                <a:tc>
                  <a:txBody>
                    <a:bodyPr wrap="square"/>
                    <a:lstStyle/>
                    <a:p>
                      <a:pPr algn="ctr">
                        <a:spcBef>
                          <a:spcPts val="0"/>
                        </a:spcBef>
                        <a:spcAft>
                          <a:spcPts val="0"/>
                        </a:spcAft>
                      </a:pPr>
                    </a:p>
                  </a:txBody>
                  <a:tcPr marL="54864" marR="54864" marT="18288" marB="18288" anchor="ctr">
                    <a:solidFill>
                      <a:srgbClr val="FFF3D1"/>
                    </a:solidFill>
                  </a:tcPr>
                </a:tc>
                <a:tc>
                  <a:txBody>
                    <a:bodyPr wrap="square"/>
                    <a:lstStyle/>
                    <a:p>
                      <a:pPr algn="ctr">
                        <a:spcBef>
                          <a:spcPts val="0"/>
                        </a:spcBef>
                        <a:spcAft>
                          <a:spcPts val="0"/>
                        </a:spcAft>
                      </a:pPr>
                    </a:p>
                  </a:txBody>
                  <a:tcPr marL="54864" marR="54864" marT="18288" marB="18288" anchor="ctr">
                    <a:solidFill>
                      <a:srgbClr val="FFF3D1"/>
                    </a:solidFill>
                  </a:tcPr>
                </a:tc>
              </a:tr>
              <a:tr h="420624">
                <a:tc>
                  <a:txBody>
                    <a:bodyPr wrap="square"/>
                    <a:lstStyle/>
                    <a:p>
                      <a:pPr algn="l">
                        <a:spcBef>
                          <a:spcPts val="0"/>
                        </a:spcBef>
                        <a:spcAft>
                          <a:spcPts val="0"/>
                        </a:spcAft>
                      </a:pPr>
                      <a:r>
                        <a:rPr lang="tr-TR" sz="1800" b="0" i="0">
                          <a:solidFill>
                            <a:srgbClr val="262626"/>
                          </a:solidFill>
                          <a:latin typeface="Calibri"/>
                        </a:rPr>
                        <a:t>Çalışmanın bütününü kendim yaptım.</a:t>
                      </a:r>
                    </a:p>
                  </a:txBody>
                  <a:tcPr marL="54864" marR="54864" marT="18288" marB="18288" anchor="ctr">
                    <a:solidFill>
                      <a:srgbClr val="FFFFFF"/>
                    </a:solidFill>
                  </a:tcPr>
                </a:tc>
                <a:tc>
                  <a:txBody>
                    <a:bodyPr wrap="square"/>
                    <a:lstStyle/>
                    <a:p>
                      <a:pPr algn="ctr">
                        <a:spcBef>
                          <a:spcPts val="0"/>
                        </a:spcBef>
                        <a:spcAft>
                          <a:spcPts val="0"/>
                        </a:spcAft>
                      </a:pPr>
                    </a:p>
                  </a:txBody>
                  <a:tcPr marL="54864" marR="54864" marT="18288" marB="18288" anchor="ctr">
                    <a:solidFill>
                      <a:srgbClr val="FFFFFF"/>
                    </a:solidFill>
                  </a:tcPr>
                </a:tc>
                <a:tc>
                  <a:txBody>
                    <a:bodyPr wrap="square"/>
                    <a:lstStyle/>
                    <a:p>
                      <a:pPr algn="ctr">
                        <a:spcBef>
                          <a:spcPts val="0"/>
                        </a:spcBef>
                        <a:spcAft>
                          <a:spcPts val="0"/>
                        </a:spcAft>
                      </a:pPr>
                    </a:p>
                  </a:txBody>
                  <a:tcPr marL="54864" marR="54864" marT="18288" marB="18288" anchor="ctr">
                    <a:solidFill>
                      <a:srgbClr val="FFFFFF"/>
                    </a:solidFill>
                  </a:tcPr>
                </a:tc>
                <a:tc>
                  <a:txBody>
                    <a:bodyPr wrap="square"/>
                    <a:lstStyle/>
                    <a:p>
                      <a:pPr algn="ctr">
                        <a:spcBef>
                          <a:spcPts val="0"/>
                        </a:spcBef>
                        <a:spcAft>
                          <a:spcPts val="0"/>
                        </a:spcAft>
                      </a:pPr>
                    </a:p>
                  </a:txBody>
                  <a:tcPr marL="54864" marR="54864" marT="18288" marB="18288" anchor="ctr">
                    <a:solidFill>
                      <a:srgbClr val="FFFFFF"/>
                    </a:solidFill>
                  </a:tcPr>
                </a:tc>
              </a:tr>
            </a:tbl>
          </a:graphicData>
        </a:graphic>
      </p:graphicFrame>
      <p:sp>
        <p:nvSpPr>
          <p:cNvPr id="8" name="Rounded Rectangle 7"/>
          <p:cNvSpPr/>
          <p:nvPr/>
        </p:nvSpPr>
        <p:spPr>
          <a:xfrm>
            <a:off x="502920" y="4352544"/>
            <a:ext cx="11185855" cy="597408"/>
          </a:xfrm>
          <a:prstGeom prst="roundRect">
            <a:avLst>
              <a:gd name="adj" fmla="val 15000"/>
            </a:avLst>
          </a:prstGeom>
          <a:solidFill>
            <a:srgbClr val="F0F0F0"/>
          </a:solidFill>
          <a:ln>
            <a:noFill/>
          </a:ln>
          <a:effectLst/>
        </p:spPr>
        <p:txBody>
          <a:bodyPr rtlCol="0" anchor="ctr" wrap="square" lIns="182880" rIns="182880" tIns="73152" bIns="73152">
            <a:noAutofit/>
          </a:bodyPr>
          <a:lstStyle/>
          <a:p>
            <a:pPr algn="l">
              <a:spcBef>
                <a:spcPts val="0"/>
              </a:spcBef>
              <a:spcAft>
                <a:spcPts val="0"/>
              </a:spcAft>
            </a:pPr>
            <a:r>
              <a:rPr lang="tr-TR" sz="1800" b="0" i="0">
                <a:solidFill>
                  <a:srgbClr val="262626"/>
                </a:solidFill>
                <a:latin typeface="Calibri"/>
              </a:rPr>
              <a:t>Çalışmam sırasında şu bilgileri öğrendim:  ……………………………………………</a:t>
            </a:r>
          </a:p>
        </p:txBody>
      </p:sp>
      <p:sp>
        <p:nvSpPr>
          <p:cNvPr id="9" name="Rounded Rectangle 8"/>
          <p:cNvSpPr/>
          <p:nvPr/>
        </p:nvSpPr>
        <p:spPr>
          <a:xfrm>
            <a:off x="502920" y="5023104"/>
            <a:ext cx="11185855" cy="597408"/>
          </a:xfrm>
          <a:prstGeom prst="roundRect">
            <a:avLst>
              <a:gd name="adj" fmla="val 15000"/>
            </a:avLst>
          </a:prstGeom>
          <a:solidFill>
            <a:srgbClr val="F0F0F0"/>
          </a:solidFill>
          <a:ln>
            <a:noFill/>
          </a:ln>
          <a:effectLst/>
        </p:spPr>
        <p:txBody>
          <a:bodyPr rtlCol="0" anchor="ctr" wrap="square" lIns="182880" rIns="182880" tIns="73152" bIns="73152">
            <a:noAutofit/>
          </a:bodyPr>
          <a:lstStyle/>
          <a:p>
            <a:pPr algn="l">
              <a:spcBef>
                <a:spcPts val="0"/>
              </a:spcBef>
              <a:spcAft>
                <a:spcPts val="0"/>
              </a:spcAft>
            </a:pPr>
            <a:r>
              <a:rPr lang="tr-TR" sz="1800" b="0" i="0">
                <a:solidFill>
                  <a:srgbClr val="262626"/>
                </a:solidFill>
                <a:latin typeface="Calibri"/>
              </a:rPr>
              <a:t>Çalışmam sırasında şu noktalarda zorlandım:  ……………………………………………</a:t>
            </a:r>
          </a:p>
        </p:txBody>
      </p:sp>
      <p:sp>
        <p:nvSpPr>
          <p:cNvPr id="10" name="Rounded Rectangle 9"/>
          <p:cNvSpPr/>
          <p:nvPr/>
        </p:nvSpPr>
        <p:spPr>
          <a:xfrm>
            <a:off x="502920" y="5693664"/>
            <a:ext cx="11185855" cy="597408"/>
          </a:xfrm>
          <a:prstGeom prst="roundRect">
            <a:avLst>
              <a:gd name="adj" fmla="val 15000"/>
            </a:avLst>
          </a:prstGeom>
          <a:solidFill>
            <a:srgbClr val="F0F0F0"/>
          </a:solidFill>
          <a:ln>
            <a:noFill/>
          </a:ln>
          <a:effectLst/>
        </p:spPr>
        <p:txBody>
          <a:bodyPr rtlCol="0" anchor="ctr" wrap="square" lIns="182880" rIns="182880" tIns="73152" bIns="73152">
            <a:noAutofit/>
          </a:bodyPr>
          <a:lstStyle/>
          <a:p>
            <a:pPr algn="l">
              <a:spcBef>
                <a:spcPts val="0"/>
              </a:spcBef>
              <a:spcAft>
                <a:spcPts val="0"/>
              </a:spcAft>
            </a:pPr>
            <a:r>
              <a:rPr lang="tr-TR" sz="1800" b="0" i="0">
                <a:solidFill>
                  <a:srgbClr val="262626"/>
                </a:solidFill>
                <a:latin typeface="Calibri"/>
              </a:rPr>
              <a:t>Çalışmamı yeniden yapacak olsaydım şunlara dikkat ederdim:  ……………………………………………</a:t>
            </a:r>
          </a:p>
        </p:txBody>
      </p:sp>
      <p:sp>
        <p:nvSpPr>
          <p:cNvPr id="11" name="TextBox 10"/>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12" name="Rounded Rectangle 11"/>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183</a:t>
            </a:r>
          </a:p>
        </p:txBody>
      </p:sp>
      <p:sp>
        <p:nvSpPr>
          <p:cNvPr id="13" name="TextBox 12"/>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120 / 166</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Ünitenin özeti: ekonomik faaliyetin yerini ne belirler?</a:t>
            </a:r>
          </a:p>
        </p:txBody>
      </p:sp>
      <p:sp>
        <p:nvSpPr>
          <p:cNvPr id="5" name="Rounded Rectangle 4"/>
          <p:cNvSpPr/>
          <p:nvPr/>
        </p:nvSpPr>
        <p:spPr>
          <a:xfrm>
            <a:off x="9555480" y="201168"/>
            <a:ext cx="2221992" cy="475488"/>
          </a:xfrm>
          <a:prstGeom prst="roundRect">
            <a:avLst>
              <a:gd name="adj" fmla="val 50000"/>
            </a:avLst>
          </a:prstGeom>
          <a:solidFill>
            <a:srgbClr val="B85C1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ÖZET</a:t>
            </a:r>
          </a:p>
        </p:txBody>
      </p:sp>
      <p:sp>
        <p:nvSpPr>
          <p:cNvPr id="6" name="Rounded Rectangle 5"/>
          <p:cNvSpPr/>
          <p:nvPr/>
        </p:nvSpPr>
        <p:spPr>
          <a:xfrm>
            <a:off x="502920" y="1216152"/>
            <a:ext cx="11185855" cy="1143000"/>
          </a:xfrm>
          <a:prstGeom prst="roundRect">
            <a:avLst>
              <a:gd name="adj" fmla="val 8000"/>
            </a:avLst>
          </a:prstGeom>
          <a:solidFill>
            <a:srgbClr val="F0F0F0"/>
          </a:solidFill>
          <a:ln>
            <a:noFill/>
          </a:ln>
          <a:effectLst/>
        </p:spPr>
        <p:txBody>
          <a:bodyPr rtlCol="0" anchor="ctr"/>
          <a:lstStyle/>
          <a:p/>
        </p:txBody>
      </p:sp>
      <p:sp>
        <p:nvSpPr>
          <p:cNvPr id="7" name="Rectangle 6"/>
          <p:cNvSpPr/>
          <p:nvPr/>
        </p:nvSpPr>
        <p:spPr>
          <a:xfrm>
            <a:off x="502920" y="1216152"/>
            <a:ext cx="118872" cy="1143000"/>
          </a:xfrm>
          <a:prstGeom prst="rect">
            <a:avLst/>
          </a:prstGeom>
          <a:solidFill>
            <a:srgbClr val="B85C12"/>
          </a:solidFill>
          <a:ln>
            <a:noFill/>
          </a:ln>
          <a:effectLst/>
        </p:spPr>
        <p:txBody>
          <a:bodyPr rtlCol="0" anchor="ctr"/>
          <a:lstStyle/>
          <a:p/>
        </p:txBody>
      </p:sp>
      <p:sp>
        <p:nvSpPr>
          <p:cNvPr id="8" name="TextBox 7"/>
          <p:cNvSpPr txBox="1"/>
          <p:nvPr/>
        </p:nvSpPr>
        <p:spPr>
          <a:xfrm>
            <a:off x="777240" y="1216152"/>
            <a:ext cx="10774375" cy="1143000"/>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Ekonomik faaliyetlerin yeryüzündeki dağılışı çok değişkenli ve karmaşık bir yapıya sahiptir. Ekonomik faaliyetleri etkileyen coğrafi faktörler yerelden küresele doğru değişebilmektedir.</a:t>
            </a:r>
          </a:p>
        </p:txBody>
      </p:sp>
      <p:sp>
        <p:nvSpPr>
          <p:cNvPr id="9" name="Rounded Rectangle 8"/>
          <p:cNvSpPr/>
          <p:nvPr/>
        </p:nvSpPr>
        <p:spPr>
          <a:xfrm>
            <a:off x="502920" y="2542032"/>
            <a:ext cx="3594506" cy="2697480"/>
          </a:xfrm>
          <a:prstGeom prst="roundRect">
            <a:avLst>
              <a:gd name="adj" fmla="val 5000"/>
            </a:avLst>
          </a:prstGeom>
          <a:solidFill>
            <a:srgbClr val="F0F0F0"/>
          </a:solidFill>
          <a:ln>
            <a:noFill/>
          </a:ln>
          <a:effectLst/>
        </p:spPr>
        <p:txBody>
          <a:bodyPr rtlCol="0" anchor="ctr"/>
          <a:lstStyle/>
          <a:p/>
        </p:txBody>
      </p:sp>
      <p:sp>
        <p:nvSpPr>
          <p:cNvPr id="10" name="Rounded Rectangle 9"/>
          <p:cNvSpPr/>
          <p:nvPr/>
        </p:nvSpPr>
        <p:spPr>
          <a:xfrm>
            <a:off x="502920" y="2542032"/>
            <a:ext cx="3594506" cy="530352"/>
          </a:xfrm>
          <a:prstGeom prst="roundRect">
            <a:avLst>
              <a:gd name="adj" fmla="val 25000"/>
            </a:avLst>
          </a:prstGeom>
          <a:solidFill>
            <a:srgbClr val="3E8E41"/>
          </a:solidFill>
          <a:ln>
            <a:noFill/>
          </a:ln>
          <a:effectLst/>
        </p:spPr>
        <p:txBody>
          <a:bodyPr rtlCol="0" anchor="ctr"/>
          <a:lstStyle/>
          <a:p/>
        </p:txBody>
      </p:sp>
      <p:sp>
        <p:nvSpPr>
          <p:cNvPr id="11" name="Rectangle 10"/>
          <p:cNvSpPr/>
          <p:nvPr/>
        </p:nvSpPr>
        <p:spPr>
          <a:xfrm>
            <a:off x="502920" y="2807208"/>
            <a:ext cx="3594506" cy="265176"/>
          </a:xfrm>
          <a:prstGeom prst="rect">
            <a:avLst/>
          </a:prstGeom>
          <a:solidFill>
            <a:srgbClr val="3E8E41"/>
          </a:solidFill>
          <a:ln>
            <a:noFill/>
          </a:ln>
          <a:effectLst/>
        </p:spPr>
        <p:txBody>
          <a:bodyPr rtlCol="0" anchor="ctr"/>
          <a:lstStyle/>
          <a:p/>
        </p:txBody>
      </p:sp>
      <p:sp>
        <p:nvSpPr>
          <p:cNvPr id="12" name="TextBox 11"/>
          <p:cNvSpPr txBox="1"/>
          <p:nvPr/>
        </p:nvSpPr>
        <p:spPr>
          <a:xfrm>
            <a:off x="594360" y="254203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FFFFFF"/>
                </a:solidFill>
                <a:latin typeface="Calibri"/>
              </a:rPr>
              <a:t>Doğal faktör öne çıkar</a:t>
            </a:r>
          </a:p>
        </p:txBody>
      </p:sp>
      <p:sp>
        <p:nvSpPr>
          <p:cNvPr id="13" name="TextBox 12"/>
          <p:cNvSpPr txBox="1"/>
          <p:nvPr/>
        </p:nvSpPr>
        <p:spPr>
          <a:xfrm>
            <a:off x="612648" y="3145536"/>
            <a:ext cx="3375050" cy="2020824"/>
          </a:xfrm>
          <a:prstGeom prst="rect">
            <a:avLst/>
          </a:prstGeom>
          <a:noFill/>
        </p:spPr>
        <p:txBody>
          <a:bodyPr wrap="square" anchor="t" lIns="73152" rIns="73152" tIns="36576" bIns="36576">
            <a:noAutofit/>
          </a:bodyPr>
          <a:lstStyle/>
          <a:p>
            <a:pPr algn="l">
              <a:spcBef>
                <a:spcPts val="0"/>
              </a:spcBef>
              <a:spcAft>
                <a:spcPts val="0"/>
              </a:spcAft>
            </a:pPr>
            <a:r>
              <a:rPr lang="tr-TR" sz="2200" b="0" i="0">
                <a:solidFill>
                  <a:srgbClr val="262626"/>
                </a:solidFill>
                <a:latin typeface="Calibri"/>
              </a:rPr>
              <a:t>Demir-çelik tesisleri, taş kömürünün çıkarıldığı alanların yakınında kurulur (s. 175).</a:t>
            </a:r>
          </a:p>
        </p:txBody>
      </p:sp>
      <p:sp>
        <p:nvSpPr>
          <p:cNvPr id="14" name="Rounded Rectangle 13"/>
          <p:cNvSpPr/>
          <p:nvPr/>
        </p:nvSpPr>
        <p:spPr>
          <a:xfrm>
            <a:off x="4298594" y="2542032"/>
            <a:ext cx="3594506" cy="2697480"/>
          </a:xfrm>
          <a:prstGeom prst="roundRect">
            <a:avLst>
              <a:gd name="adj" fmla="val 5000"/>
            </a:avLst>
          </a:prstGeom>
          <a:solidFill>
            <a:srgbClr val="F0F0F0"/>
          </a:solidFill>
          <a:ln>
            <a:noFill/>
          </a:ln>
          <a:effectLst/>
        </p:spPr>
        <p:txBody>
          <a:bodyPr rtlCol="0" anchor="ctr"/>
          <a:lstStyle/>
          <a:p/>
        </p:txBody>
      </p:sp>
      <p:sp>
        <p:nvSpPr>
          <p:cNvPr id="15" name="Rounded Rectangle 14"/>
          <p:cNvSpPr/>
          <p:nvPr/>
        </p:nvSpPr>
        <p:spPr>
          <a:xfrm>
            <a:off x="4298594" y="2542032"/>
            <a:ext cx="3594506" cy="530352"/>
          </a:xfrm>
          <a:prstGeom prst="roundRect">
            <a:avLst>
              <a:gd name="adj" fmla="val 25000"/>
            </a:avLst>
          </a:prstGeom>
          <a:solidFill>
            <a:srgbClr val="2C6696"/>
          </a:solidFill>
          <a:ln>
            <a:noFill/>
          </a:ln>
          <a:effectLst/>
        </p:spPr>
        <p:txBody>
          <a:bodyPr rtlCol="0" anchor="ctr"/>
          <a:lstStyle/>
          <a:p/>
        </p:txBody>
      </p:sp>
      <p:sp>
        <p:nvSpPr>
          <p:cNvPr id="16" name="Rectangle 15"/>
          <p:cNvSpPr/>
          <p:nvPr/>
        </p:nvSpPr>
        <p:spPr>
          <a:xfrm>
            <a:off x="4298594" y="2807208"/>
            <a:ext cx="3594506" cy="265176"/>
          </a:xfrm>
          <a:prstGeom prst="rect">
            <a:avLst/>
          </a:prstGeom>
          <a:solidFill>
            <a:srgbClr val="2C6696"/>
          </a:solidFill>
          <a:ln>
            <a:noFill/>
          </a:ln>
          <a:effectLst/>
        </p:spPr>
        <p:txBody>
          <a:bodyPr rtlCol="0" anchor="ctr"/>
          <a:lstStyle/>
          <a:p/>
        </p:txBody>
      </p:sp>
      <p:sp>
        <p:nvSpPr>
          <p:cNvPr id="17" name="TextBox 16"/>
          <p:cNvSpPr txBox="1"/>
          <p:nvPr/>
        </p:nvSpPr>
        <p:spPr>
          <a:xfrm>
            <a:off x="4390034" y="254203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FFFFFF"/>
                </a:solidFill>
                <a:latin typeface="Calibri"/>
              </a:rPr>
              <a:t>Beşerî faktör öne çıkar</a:t>
            </a:r>
          </a:p>
        </p:txBody>
      </p:sp>
      <p:sp>
        <p:nvSpPr>
          <p:cNvPr id="18" name="TextBox 17"/>
          <p:cNvSpPr txBox="1"/>
          <p:nvPr/>
        </p:nvSpPr>
        <p:spPr>
          <a:xfrm>
            <a:off x="4408322" y="3145536"/>
            <a:ext cx="3375050" cy="2020824"/>
          </a:xfrm>
          <a:prstGeom prst="rect">
            <a:avLst/>
          </a:prstGeom>
          <a:noFill/>
        </p:spPr>
        <p:txBody>
          <a:bodyPr wrap="square" anchor="t" lIns="73152" rIns="73152" tIns="36576" bIns="36576">
            <a:noAutofit/>
          </a:bodyPr>
          <a:lstStyle/>
          <a:p>
            <a:pPr algn="l">
              <a:spcBef>
                <a:spcPts val="0"/>
              </a:spcBef>
              <a:spcAft>
                <a:spcPts val="0"/>
              </a:spcAft>
            </a:pPr>
            <a:r>
              <a:rPr lang="tr-TR" sz="2200" b="0" i="0">
                <a:solidFill>
                  <a:srgbClr val="262626"/>
                </a:solidFill>
                <a:latin typeface="Calibri"/>
              </a:rPr>
              <a:t>Japonya, ham maddesi yetersiz olsa da yüksek teknolojiyle sanayileşti (s. 178).</a:t>
            </a:r>
          </a:p>
        </p:txBody>
      </p:sp>
      <p:sp>
        <p:nvSpPr>
          <p:cNvPr id="19" name="Rounded Rectangle 18"/>
          <p:cNvSpPr/>
          <p:nvPr/>
        </p:nvSpPr>
        <p:spPr>
          <a:xfrm>
            <a:off x="8094268" y="2542032"/>
            <a:ext cx="3594506" cy="2697480"/>
          </a:xfrm>
          <a:prstGeom prst="roundRect">
            <a:avLst>
              <a:gd name="adj" fmla="val 5000"/>
            </a:avLst>
          </a:prstGeom>
          <a:solidFill>
            <a:srgbClr val="F0F0F0"/>
          </a:solidFill>
          <a:ln>
            <a:noFill/>
          </a:ln>
          <a:effectLst/>
        </p:spPr>
        <p:txBody>
          <a:bodyPr rtlCol="0" anchor="ctr"/>
          <a:lstStyle/>
          <a:p/>
        </p:txBody>
      </p:sp>
      <p:sp>
        <p:nvSpPr>
          <p:cNvPr id="20" name="Rounded Rectangle 19"/>
          <p:cNvSpPr/>
          <p:nvPr/>
        </p:nvSpPr>
        <p:spPr>
          <a:xfrm>
            <a:off x="8094268" y="2542032"/>
            <a:ext cx="3594506" cy="530352"/>
          </a:xfrm>
          <a:prstGeom prst="roundRect">
            <a:avLst>
              <a:gd name="adj" fmla="val 25000"/>
            </a:avLst>
          </a:prstGeom>
          <a:solidFill>
            <a:srgbClr val="B85C12"/>
          </a:solidFill>
          <a:ln>
            <a:noFill/>
          </a:ln>
          <a:effectLst/>
        </p:spPr>
        <p:txBody>
          <a:bodyPr rtlCol="0" anchor="ctr"/>
          <a:lstStyle/>
          <a:p/>
        </p:txBody>
      </p:sp>
      <p:sp>
        <p:nvSpPr>
          <p:cNvPr id="21" name="Rectangle 20"/>
          <p:cNvSpPr/>
          <p:nvPr/>
        </p:nvSpPr>
        <p:spPr>
          <a:xfrm>
            <a:off x="8094268" y="2807208"/>
            <a:ext cx="3594506" cy="265176"/>
          </a:xfrm>
          <a:prstGeom prst="rect">
            <a:avLst/>
          </a:prstGeom>
          <a:solidFill>
            <a:srgbClr val="B85C12"/>
          </a:solidFill>
          <a:ln>
            <a:noFill/>
          </a:ln>
          <a:effectLst/>
        </p:spPr>
        <p:txBody>
          <a:bodyPr rtlCol="0" anchor="ctr"/>
          <a:lstStyle/>
          <a:p/>
        </p:txBody>
      </p:sp>
      <p:sp>
        <p:nvSpPr>
          <p:cNvPr id="22" name="TextBox 21"/>
          <p:cNvSpPr txBox="1"/>
          <p:nvPr/>
        </p:nvSpPr>
        <p:spPr>
          <a:xfrm>
            <a:off x="8185708" y="254203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FFFFFF"/>
                </a:solidFill>
                <a:latin typeface="Calibri"/>
              </a:rPr>
              <a:t>İkisi birlikte</a:t>
            </a:r>
          </a:p>
        </p:txBody>
      </p:sp>
      <p:sp>
        <p:nvSpPr>
          <p:cNvPr id="23" name="TextBox 22"/>
          <p:cNvSpPr txBox="1"/>
          <p:nvPr/>
        </p:nvSpPr>
        <p:spPr>
          <a:xfrm>
            <a:off x="8203996" y="3145536"/>
            <a:ext cx="3375050" cy="2020824"/>
          </a:xfrm>
          <a:prstGeom prst="rect">
            <a:avLst/>
          </a:prstGeom>
          <a:noFill/>
        </p:spPr>
        <p:txBody>
          <a:bodyPr wrap="square" anchor="t" lIns="73152" rIns="73152" tIns="36576" bIns="36576">
            <a:noAutofit/>
          </a:bodyPr>
          <a:lstStyle/>
          <a:p>
            <a:pPr algn="l">
              <a:spcBef>
                <a:spcPts val="0"/>
              </a:spcBef>
              <a:spcAft>
                <a:spcPts val="0"/>
              </a:spcAft>
            </a:pPr>
            <a:r>
              <a:rPr lang="tr-TR" sz="2200" b="0" i="0">
                <a:solidFill>
                  <a:srgbClr val="262626"/>
                </a:solidFill>
                <a:latin typeface="Calibri"/>
              </a:rPr>
              <a:t>TEKNOSAB: ulaşım, iş gücü, üniversite + hafif engebeli arazi, su ve iklim (s. 180).</a:t>
            </a:r>
          </a:p>
        </p:txBody>
      </p:sp>
      <p:sp>
        <p:nvSpPr>
          <p:cNvPr id="24" name="Rounded Rectangle 23"/>
          <p:cNvSpPr/>
          <p:nvPr/>
        </p:nvSpPr>
        <p:spPr>
          <a:xfrm>
            <a:off x="502920" y="5422392"/>
            <a:ext cx="11185855" cy="868680"/>
          </a:xfrm>
          <a:prstGeom prst="roundRect">
            <a:avLst>
              <a:gd name="adj" fmla="val 8000"/>
            </a:avLst>
          </a:prstGeom>
          <a:solidFill>
            <a:srgbClr val="FFF3D1"/>
          </a:solidFill>
          <a:ln>
            <a:noFill/>
          </a:ln>
          <a:effectLst/>
        </p:spPr>
        <p:txBody>
          <a:bodyPr rtlCol="0" anchor="ctr" wrap="square" lIns="201168" rIns="201168" tIns="73152" bIns="73152">
            <a:noAutofit/>
          </a:bodyPr>
          <a:lstStyle/>
          <a:p>
            <a:pPr algn="ctr">
              <a:spcBef>
                <a:spcPts val="0"/>
              </a:spcBef>
              <a:spcAft>
                <a:spcPts val="0"/>
              </a:spcAft>
            </a:pPr>
            <a:r>
              <a:rPr lang="tr-TR" sz="2200" b="1" i="0">
                <a:solidFill>
                  <a:srgbClr val="262626"/>
                </a:solidFill>
                <a:latin typeface="Calibri"/>
              </a:rPr>
              <a:t>Ekonomik faaliyet</a:t>
            </a:r>
            <a:r>
              <a:rPr lang="tr-TR" sz="2200" b="0" i="0">
                <a:solidFill>
                  <a:srgbClr val="262626"/>
                </a:solidFill>
                <a:latin typeface="Calibri"/>
              </a:rPr>
              <a:t> (üretim · dağıtım · tüketim) ← </a:t>
            </a:r>
            <a:r>
              <a:rPr lang="tr-TR" sz="2200" b="1" i="0">
                <a:solidFill>
                  <a:srgbClr val="262626"/>
                </a:solidFill>
                <a:latin typeface="Calibri"/>
              </a:rPr>
              <a:t>doğal + beşerî faktörler</a:t>
            </a:r>
            <a:r>
              <a:rPr lang="tr-TR" sz="2200" b="0" i="0">
                <a:solidFill>
                  <a:srgbClr val="262626"/>
                </a:solidFill>
                <a:latin typeface="Calibri"/>
              </a:rPr>
              <a:t> birlikte</a:t>
            </a:r>
          </a:p>
        </p:txBody>
      </p:sp>
      <p:sp>
        <p:nvSpPr>
          <p:cNvPr id="25" name="TextBox 24"/>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26" name="Rounded Rectangle 25"/>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174-180</a:t>
            </a:r>
          </a:p>
        </p:txBody>
      </p:sp>
      <p:sp>
        <p:nvSpPr>
          <p:cNvPr id="27" name="TextBox 26"/>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121 / 166</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Çıkış Kartı</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29. HAFTA</a:t>
            </a:r>
          </a:p>
        </p:txBody>
      </p:sp>
      <p:sp>
        <p:nvSpPr>
          <p:cNvPr id="6" name="TextBox 5"/>
          <p:cNvSpPr txBox="1"/>
          <p:nvPr/>
        </p:nvSpPr>
        <p:spPr>
          <a:xfrm>
            <a:off x="502920" y="1170432"/>
            <a:ext cx="11185855" cy="502920"/>
          </a:xfrm>
          <a:prstGeom prst="rect">
            <a:avLst/>
          </a:prstGeom>
          <a:noFill/>
        </p:spPr>
        <p:txBody>
          <a:bodyPr wrap="square" anchor="t" lIns="73152" rIns="73152" tIns="36576" bIns="36576">
            <a:noAutofit/>
          </a:bodyPr>
          <a:lstStyle/>
          <a:p>
            <a:pPr algn="l">
              <a:spcBef>
                <a:spcPts val="0"/>
              </a:spcBef>
              <a:spcAft>
                <a:spcPts val="0"/>
              </a:spcAft>
            </a:pPr>
            <a:r>
              <a:rPr lang="tr-TR" sz="2200" b="0" i="0">
                <a:solidFill>
                  <a:srgbClr val="767676"/>
                </a:solidFill>
                <a:latin typeface="Calibri"/>
              </a:rPr>
              <a:t>Çıkmadan önce kâğıdına yaz:</a:t>
            </a:r>
          </a:p>
        </p:txBody>
      </p:sp>
      <p:sp>
        <p:nvSpPr>
          <p:cNvPr id="7" name="Rounded Rectangle 6"/>
          <p:cNvSpPr/>
          <p:nvPr/>
        </p:nvSpPr>
        <p:spPr>
          <a:xfrm>
            <a:off x="502920" y="1764792"/>
            <a:ext cx="11185855" cy="1399032"/>
          </a:xfrm>
          <a:prstGeom prst="roundRect">
            <a:avLst>
              <a:gd name="adj" fmla="val 10000"/>
            </a:avLst>
          </a:prstGeom>
          <a:solidFill>
            <a:srgbClr val="F0F0F0"/>
          </a:solidFill>
          <a:ln>
            <a:noFill/>
          </a:ln>
          <a:effectLst/>
        </p:spPr>
        <p:txBody>
          <a:bodyPr rtlCol="0" anchor="ctr"/>
          <a:lstStyle/>
          <a:p/>
        </p:txBody>
      </p:sp>
      <p:sp>
        <p:nvSpPr>
          <p:cNvPr id="8" name="Oval 7"/>
          <p:cNvSpPr/>
          <p:nvPr/>
        </p:nvSpPr>
        <p:spPr>
          <a:xfrm>
            <a:off x="667512" y="2144268"/>
            <a:ext cx="640080" cy="64008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2600" b="1" i="0">
                <a:solidFill>
                  <a:srgbClr val="262626"/>
                </a:solidFill>
                <a:latin typeface="Calibri"/>
              </a:rPr>
              <a:t>1</a:t>
            </a:r>
          </a:p>
        </p:txBody>
      </p:sp>
      <p:sp>
        <p:nvSpPr>
          <p:cNvPr id="9" name="TextBox 8"/>
          <p:cNvSpPr txBox="1"/>
          <p:nvPr/>
        </p:nvSpPr>
        <p:spPr>
          <a:xfrm>
            <a:off x="1508760" y="1764792"/>
            <a:ext cx="9997135" cy="1399032"/>
          </a:xfrm>
          <a:prstGeom prst="rect">
            <a:avLst/>
          </a:prstGeom>
          <a:noFill/>
        </p:spPr>
        <p:txBody>
          <a:bodyPr wrap="square" anchor="ctr" lIns="73152" rIns="73152" tIns="36576" bIns="36576">
            <a:noAutofit/>
          </a:bodyPr>
          <a:lstStyle/>
          <a:p>
            <a:pPr algn="l">
              <a:spcBef>
                <a:spcPts val="0"/>
              </a:spcBef>
              <a:spcAft>
                <a:spcPts val="0"/>
              </a:spcAft>
            </a:pPr>
            <a:r>
              <a:rPr lang="tr-TR" sz="2600" b="0" i="0">
                <a:solidFill>
                  <a:srgbClr val="262626"/>
                </a:solidFill>
                <a:latin typeface="Calibri"/>
              </a:rPr>
              <a:t>TEKNOSAB'ın kuruluş yerini etkileyen bir doğal ve iki beşerî faktör yazınız.</a:t>
            </a:r>
          </a:p>
        </p:txBody>
      </p:sp>
      <p:sp>
        <p:nvSpPr>
          <p:cNvPr id="10" name="Rounded Rectangle 9"/>
          <p:cNvSpPr/>
          <p:nvPr/>
        </p:nvSpPr>
        <p:spPr>
          <a:xfrm>
            <a:off x="502920" y="3328416"/>
            <a:ext cx="11185855" cy="1399032"/>
          </a:xfrm>
          <a:prstGeom prst="roundRect">
            <a:avLst>
              <a:gd name="adj" fmla="val 10000"/>
            </a:avLst>
          </a:prstGeom>
          <a:solidFill>
            <a:srgbClr val="F0F0F0"/>
          </a:solidFill>
          <a:ln>
            <a:noFill/>
          </a:ln>
          <a:effectLst/>
        </p:spPr>
        <p:txBody>
          <a:bodyPr rtlCol="0" anchor="ctr"/>
          <a:lstStyle/>
          <a:p/>
        </p:txBody>
      </p:sp>
      <p:sp>
        <p:nvSpPr>
          <p:cNvPr id="11" name="Oval 10"/>
          <p:cNvSpPr/>
          <p:nvPr/>
        </p:nvSpPr>
        <p:spPr>
          <a:xfrm>
            <a:off x="667512" y="3707892"/>
            <a:ext cx="640080" cy="64008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2600" b="1" i="0">
                <a:solidFill>
                  <a:srgbClr val="262626"/>
                </a:solidFill>
                <a:latin typeface="Calibri"/>
              </a:rPr>
              <a:t>2</a:t>
            </a:r>
          </a:p>
        </p:txBody>
      </p:sp>
      <p:sp>
        <p:nvSpPr>
          <p:cNvPr id="12" name="TextBox 11"/>
          <p:cNvSpPr txBox="1"/>
          <p:nvPr/>
        </p:nvSpPr>
        <p:spPr>
          <a:xfrm>
            <a:off x="1508760" y="3328416"/>
            <a:ext cx="9997135" cy="1399032"/>
          </a:xfrm>
          <a:prstGeom prst="rect">
            <a:avLst/>
          </a:prstGeom>
          <a:noFill/>
        </p:spPr>
        <p:txBody>
          <a:bodyPr wrap="square" anchor="ctr" lIns="73152" rIns="73152" tIns="36576" bIns="36576">
            <a:noAutofit/>
          </a:bodyPr>
          <a:lstStyle/>
          <a:p>
            <a:pPr algn="l">
              <a:spcBef>
                <a:spcPts val="0"/>
              </a:spcBef>
              <a:spcAft>
                <a:spcPts val="0"/>
              </a:spcAft>
            </a:pPr>
            <a:r>
              <a:rPr lang="tr-TR" sz="2600" b="0" i="0">
                <a:solidFill>
                  <a:srgbClr val="262626"/>
                </a:solidFill>
                <a:latin typeface="Calibri"/>
              </a:rPr>
              <a:t>Gelişmiş ülkelerin üretimin bir kısmını iş gücü maliyeti düşük ülkelere kaydırmasına kitaptan bir örnek çifti yazınız.</a:t>
            </a:r>
          </a:p>
        </p:txBody>
      </p:sp>
      <p:sp>
        <p:nvSpPr>
          <p:cNvPr id="13" name="Rounded Rectangle 12"/>
          <p:cNvSpPr/>
          <p:nvPr/>
        </p:nvSpPr>
        <p:spPr>
          <a:xfrm>
            <a:off x="502920" y="4892040"/>
            <a:ext cx="11185855" cy="1399032"/>
          </a:xfrm>
          <a:prstGeom prst="roundRect">
            <a:avLst>
              <a:gd name="adj" fmla="val 10000"/>
            </a:avLst>
          </a:prstGeom>
          <a:solidFill>
            <a:srgbClr val="F0F0F0"/>
          </a:solidFill>
          <a:ln>
            <a:noFill/>
          </a:ln>
          <a:effectLst/>
        </p:spPr>
        <p:txBody>
          <a:bodyPr rtlCol="0" anchor="ctr"/>
          <a:lstStyle/>
          <a:p/>
        </p:txBody>
      </p:sp>
      <p:sp>
        <p:nvSpPr>
          <p:cNvPr id="14" name="Oval 13"/>
          <p:cNvSpPr/>
          <p:nvPr/>
        </p:nvSpPr>
        <p:spPr>
          <a:xfrm>
            <a:off x="667512" y="5271516"/>
            <a:ext cx="640080" cy="64008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2600" b="1" i="0">
                <a:solidFill>
                  <a:srgbClr val="262626"/>
                </a:solidFill>
                <a:latin typeface="Calibri"/>
              </a:rPr>
              <a:t>3</a:t>
            </a:r>
          </a:p>
        </p:txBody>
      </p:sp>
      <p:sp>
        <p:nvSpPr>
          <p:cNvPr id="15" name="TextBox 14"/>
          <p:cNvSpPr txBox="1"/>
          <p:nvPr/>
        </p:nvSpPr>
        <p:spPr>
          <a:xfrm>
            <a:off x="1508760" y="4892040"/>
            <a:ext cx="9997135" cy="1399032"/>
          </a:xfrm>
          <a:prstGeom prst="rect">
            <a:avLst/>
          </a:prstGeom>
          <a:noFill/>
        </p:spPr>
        <p:txBody>
          <a:bodyPr wrap="square" anchor="ctr" lIns="73152" rIns="73152" tIns="36576" bIns="36576">
            <a:noAutofit/>
          </a:bodyPr>
          <a:lstStyle/>
          <a:p>
            <a:pPr algn="l">
              <a:spcBef>
                <a:spcPts val="0"/>
              </a:spcBef>
              <a:spcAft>
                <a:spcPts val="0"/>
              </a:spcAft>
            </a:pPr>
            <a:r>
              <a:rPr lang="tr-TR" sz="2600" b="0" i="0">
                <a:solidFill>
                  <a:srgbClr val="262626"/>
                </a:solidFill>
                <a:latin typeface="Calibri"/>
              </a:rPr>
              <a:t>UYGULA için seçtiğiniz tasarruf davranışını ve bunun ülke ekonomisine bir katkısını yazınız.</a:t>
            </a:r>
          </a:p>
        </p:txBody>
      </p:sp>
      <p:sp>
        <p:nvSpPr>
          <p:cNvPr id="16" name="TextBox 15"/>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17" name="Rounded Rectangle 16"/>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177-181</a:t>
            </a:r>
          </a:p>
        </p:txBody>
      </p:sp>
      <p:sp>
        <p:nvSpPr>
          <p:cNvPr id="18" name="TextBox 17"/>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122 / 166</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Bu hafta evde</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29. HAFTA</a:t>
            </a:r>
          </a:p>
        </p:txBody>
      </p:sp>
      <p:sp>
        <p:nvSpPr>
          <p:cNvPr id="6" name="TextBox 5"/>
          <p:cNvSpPr txBox="1"/>
          <p:nvPr/>
        </p:nvSpPr>
        <p:spPr>
          <a:xfrm>
            <a:off x="594360" y="1307592"/>
            <a:ext cx="11002975" cy="4846320"/>
          </a:xfrm>
          <a:prstGeom prst="rect">
            <a:avLst/>
          </a:prstGeom>
          <a:noFill/>
        </p:spPr>
        <p:txBody>
          <a:bodyPr wrap="square" anchor="t" lIns="73152" rIns="73152" tIns="36576" bIns="36576">
            <a:noAutofit/>
          </a:bodyPr>
          <a:lstStyle/>
          <a:p>
            <a:pPr algn="l" marL="323206" indent="-323206">
              <a:spcBef>
                <a:spcPts val="0"/>
              </a:spcBef>
              <a:spcAft>
                <a:spcPts val="1200"/>
              </a:spcAft>
            </a:pPr>
            <a:r>
              <a:rPr lang="tr-TR" sz="2600" b="1" i="0">
                <a:solidFill>
                  <a:srgbClr val="B85C12"/>
                </a:solidFill>
                <a:latin typeface="Calibri"/>
              </a:rPr>
              <a:t>•  </a:t>
            </a:r>
            <a:r>
              <a:rPr lang="tr-TR" sz="2600" b="0" i="0">
                <a:solidFill>
                  <a:srgbClr val="262626"/>
                </a:solidFill>
                <a:latin typeface="Calibri"/>
              </a:rPr>
              <a:t>Çalışma kâğıdı Bölüm 2: 7-10. maddeler ve 12. madde (öz değerlendirme).</a:t>
            </a:r>
          </a:p>
          <a:p>
            <a:pPr algn="l" marL="323206" indent="-323206">
              <a:spcBef>
                <a:spcPts val="0"/>
              </a:spcBef>
              <a:spcAft>
                <a:spcPts val="1200"/>
              </a:spcAft>
            </a:pPr>
            <a:r>
              <a:rPr lang="tr-TR" sz="2600" b="1" i="0">
                <a:solidFill>
                  <a:srgbClr val="B85C12"/>
                </a:solidFill>
                <a:latin typeface="Calibri"/>
              </a:rPr>
              <a:t>•  </a:t>
            </a:r>
            <a:r>
              <a:rPr lang="tr-TR" sz="2600" b="0" i="0">
                <a:solidFill>
                  <a:srgbClr val="262626"/>
                </a:solidFill>
                <a:latin typeface="Calibri"/>
              </a:rPr>
              <a:t>11. madde (UYGULA): tasarruf davranışını bir hafta uygula, her gün kısa not al — fotoğraf gerekmez.</a:t>
            </a:r>
          </a:p>
          <a:p>
            <a:pPr algn="l" marL="323206" indent="-323206">
              <a:spcBef>
                <a:spcPts val="0"/>
              </a:spcBef>
              <a:spcAft>
                <a:spcPts val="1200"/>
              </a:spcAft>
            </a:pPr>
            <a:r>
              <a:rPr lang="tr-TR" sz="2600" b="1" i="0">
                <a:solidFill>
                  <a:srgbClr val="B85C12"/>
                </a:solidFill>
                <a:latin typeface="Calibri"/>
              </a:rPr>
              <a:t>•  </a:t>
            </a:r>
            <a:r>
              <a:rPr lang="tr-TR" sz="2600" b="0" i="0">
                <a:solidFill>
                  <a:srgbClr val="262626"/>
                </a:solidFill>
                <a:latin typeface="Calibri"/>
              </a:rPr>
              <a:t>Ünite ölçme soruları (s. 184-185): 1, 3 ve 5 deftere; 2, 4 ve 6 isteğe bağlı.</a:t>
            </a:r>
          </a:p>
          <a:p>
            <a:pPr algn="l" marL="323206" indent="-323206">
              <a:spcBef>
                <a:spcPts val="0"/>
              </a:spcBef>
              <a:spcAft>
                <a:spcPts val="1200"/>
              </a:spcAft>
            </a:pPr>
            <a:r>
              <a:rPr lang="tr-TR" sz="2600" b="1" i="0">
                <a:solidFill>
                  <a:srgbClr val="B85C12"/>
                </a:solidFill>
                <a:latin typeface="Calibri"/>
              </a:rPr>
              <a:t>•  </a:t>
            </a:r>
            <a:r>
              <a:rPr lang="tr-TR" sz="2600" b="0" i="0">
                <a:solidFill>
                  <a:srgbClr val="262626"/>
                </a:solidFill>
                <a:latin typeface="Calibri"/>
              </a:rPr>
              <a:t>MEBİ ve EBA: 5. ünite konu tekrarı (erişimin yoksa okul laboratuvarında).</a:t>
            </a:r>
          </a:p>
          <a:p>
            <a:pPr algn="l" marL="323206" indent="-323206">
              <a:spcBef>
                <a:spcPts val="0"/>
              </a:spcBef>
              <a:spcAft>
                <a:spcPts val="1200"/>
              </a:spcAft>
            </a:pPr>
            <a:r>
              <a:rPr lang="tr-TR" sz="2600" b="1" i="0">
                <a:solidFill>
                  <a:srgbClr val="B85C12"/>
                </a:solidFill>
                <a:latin typeface="Calibri"/>
              </a:rPr>
              <a:t>•  </a:t>
            </a:r>
            <a:r>
              <a:rPr lang="tr-TR" sz="2600" b="0" i="0">
                <a:solidFill>
                  <a:srgbClr val="262626"/>
                </a:solidFill>
                <a:latin typeface="Calibri"/>
              </a:rPr>
              <a:t>Diyagram bitmediyse grubunla tamamla; 30. haftanın başında teslim (ek malzeme gerekmez).</a:t>
            </a:r>
          </a:p>
          <a:p>
            <a:pPr algn="l" marL="323206" indent="-323206">
              <a:spcBef>
                <a:spcPts val="0"/>
              </a:spcBef>
              <a:spcAft>
                <a:spcPts val="0"/>
              </a:spcAft>
            </a:pPr>
            <a:r>
              <a:rPr lang="tr-TR" sz="2600" b="1" i="0">
                <a:solidFill>
                  <a:srgbClr val="B85C12"/>
                </a:solidFill>
                <a:latin typeface="Calibri"/>
              </a:rPr>
              <a:t>•  </a:t>
            </a:r>
            <a:r>
              <a:rPr lang="tr-TR" sz="2600" b="0" i="0">
                <a:solidFill>
                  <a:srgbClr val="262626"/>
                </a:solidFill>
                <a:latin typeface="Calibri"/>
              </a:rPr>
              <a:t>6. üniteye hazırlık: Bildiğin ya da duyduğun bir afeti düşün — nerede, ne zaman oldu, kimleri nasıl etkiledi? İki cümle yaz.</a:t>
            </a:r>
          </a:p>
        </p:txBody>
      </p:sp>
      <p:sp>
        <p:nvSpPr>
          <p:cNvPr id="7" name="TextBox 6"/>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8" name="Rounded Rectangle 7"/>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181-185</a:t>
            </a:r>
          </a:p>
        </p:txBody>
      </p:sp>
      <p:sp>
        <p:nvSpPr>
          <p:cNvPr id="9" name="TextBox 8"/>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123 / 166</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Kaynaklar ve Haklar</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KAYNAKÇA</a:t>
            </a:r>
          </a:p>
        </p:txBody>
      </p:sp>
      <p:sp>
        <p:nvSpPr>
          <p:cNvPr id="6" name="Rounded Rectangle 5"/>
          <p:cNvSpPr/>
          <p:nvPr/>
        </p:nvSpPr>
        <p:spPr>
          <a:xfrm>
            <a:off x="502920" y="1280160"/>
            <a:ext cx="11185855" cy="1508760"/>
          </a:xfrm>
          <a:prstGeom prst="roundRect">
            <a:avLst>
              <a:gd name="adj" fmla="val 8000"/>
            </a:avLst>
          </a:prstGeom>
          <a:solidFill>
            <a:srgbClr val="F0F0F0"/>
          </a:solidFill>
          <a:ln>
            <a:noFill/>
          </a:ln>
          <a:effectLst/>
        </p:spPr>
        <p:txBody>
          <a:bodyPr rtlCol="0" anchor="t" wrap="square" lIns="128016" rIns="128016" tIns="73152" bIns="73152">
            <a:noAutofit/>
          </a:bodyPr>
          <a:lstStyle/>
          <a:p>
            <a:pPr algn="l">
              <a:spcBef>
                <a:spcPts val="0"/>
              </a:spcBef>
              <a:spcAft>
                <a:spcPts val="0"/>
              </a:spcAft>
            </a:pPr>
            <a:r>
              <a:rPr lang="tr-TR" sz="1650" b="1" i="0">
                <a:solidFill>
                  <a:srgbClr val="262626"/>
                </a:solidFill>
                <a:latin typeface="Calibri"/>
              </a:rPr>
              <a:t>Ders kitabı.</a:t>
            </a:r>
            <a:r>
              <a:rPr lang="tr-TR" sz="1650" b="0" i="0">
                <a:solidFill>
                  <a:srgbClr val="262626"/>
                </a:solidFill>
                <a:latin typeface="Calibri"/>
              </a:rPr>
              <a:t> Coğrafya 9. Sınıf Ders Kitabı (Ortaöğretim), 2026-2027 baskısı. </a:t>
            </a:r>
            <a:r>
              <a:rPr lang="tr-TR" sz="1650" b="1" i="0">
                <a:solidFill>
                  <a:srgbClr val="262626"/>
                </a:solidFill>
                <a:latin typeface="Calibri"/>
              </a:rPr>
              <a:t>Yazarlar:</a:t>
            </a:r>
            <a:r>
              <a:rPr lang="tr-TR" sz="1650" b="0" i="0">
                <a:solidFill>
                  <a:srgbClr val="262626"/>
                </a:solidFill>
                <a:latin typeface="Calibri"/>
              </a:rPr>
              <a:t> Dr. Gülten İçel, Alper Soyatlar, Beyhan Polat, Bülent Akça, Cem Erdebil, Kenan Türkez, Mehmet Ekici, Mutlu Karakoç, Nihal Öztürk, Nurullah Balşen, Orhan Ekin, Ramazan Bıçaklı, Raşit Düzgün, Soner Cırık, Tuba Dirim. Millî Eğitim Bakanlığı Yayınları No 9606 · Ders Kitapları Dizisi No 2027 · Devlet Kitapları, 2026 · ISBN 978-975-11-8046-9. Slaytlardaki “Kitap s. …” etiketleri bu baskının sayfalarıdır.</a:t>
            </a:r>
          </a:p>
        </p:txBody>
      </p:sp>
      <p:sp>
        <p:nvSpPr>
          <p:cNvPr id="7" name="Rounded Rectangle 6"/>
          <p:cNvSpPr/>
          <p:nvPr/>
        </p:nvSpPr>
        <p:spPr>
          <a:xfrm>
            <a:off x="502920" y="2916936"/>
            <a:ext cx="11185855" cy="1143000"/>
          </a:xfrm>
          <a:prstGeom prst="roundRect">
            <a:avLst>
              <a:gd name="adj" fmla="val 8000"/>
            </a:avLst>
          </a:prstGeom>
          <a:solidFill>
            <a:srgbClr val="F0F0F0"/>
          </a:solidFill>
          <a:ln>
            <a:noFill/>
          </a:ln>
          <a:effectLst/>
        </p:spPr>
        <p:txBody>
          <a:bodyPr rtlCol="0" anchor="t" wrap="square" lIns="128016" rIns="128016" tIns="73152" bIns="73152">
            <a:noAutofit/>
          </a:bodyPr>
          <a:lstStyle/>
          <a:p>
            <a:pPr algn="l">
              <a:spcBef>
                <a:spcPts val="0"/>
              </a:spcBef>
              <a:spcAft>
                <a:spcPts val="0"/>
              </a:spcAft>
            </a:pPr>
            <a:r>
              <a:rPr lang="tr-TR" sz="1500" b="1" i="0">
                <a:solidFill>
                  <a:srgbClr val="262626"/>
                </a:solidFill>
                <a:latin typeface="Calibri"/>
              </a:rPr>
              <a:t>Öğretim programı ve etkinlikler.</a:t>
            </a:r>
            <a:r>
              <a:rPr lang="tr-TR" sz="1500" b="0" i="0">
                <a:solidFill>
                  <a:srgbClr val="262626"/>
                </a:solidFill>
                <a:latin typeface="Calibri"/>
              </a:rPr>
              <a:t> Coğrafya dersi öğretim programı (2026 nüshası): Talim ve Terbiye Kurulunun 23.05.2024 tarihli ve 20 sayılı kararıyla kabul edilen, 13.05.2026 tarihli ve 53 sayılı kararıyla güncellenen program. Etkinliklerin bir bölümü MEB Ortaöğretim Genel Müdürlüğünün OGM Materyal platformundaki etkileşimli etkinliklerle paralel kurulmuştur. Bazı görseller ve sorular ders kitabının karekod içeriklerinden (EBA: ölçme araçları, tema sonu soruları, harita ve bilgi görselleri) alınmıştır.</a:t>
            </a:r>
          </a:p>
        </p:txBody>
      </p:sp>
      <p:sp>
        <p:nvSpPr>
          <p:cNvPr id="8" name="Rounded Rectangle 7"/>
          <p:cNvSpPr/>
          <p:nvPr/>
        </p:nvSpPr>
        <p:spPr>
          <a:xfrm>
            <a:off x="502920" y="4187952"/>
            <a:ext cx="11185855" cy="1371600"/>
          </a:xfrm>
          <a:prstGeom prst="roundRect">
            <a:avLst>
              <a:gd name="adj" fmla="val 8000"/>
            </a:avLst>
          </a:prstGeom>
          <a:solidFill>
            <a:srgbClr val="F0F0F0"/>
          </a:solidFill>
          <a:ln>
            <a:noFill/>
          </a:ln>
          <a:effectLst/>
        </p:spPr>
        <p:txBody>
          <a:bodyPr rtlCol="0" anchor="t" wrap="square" lIns="128016" rIns="128016" tIns="73152" bIns="73152">
            <a:noAutofit/>
          </a:bodyPr>
          <a:lstStyle/>
          <a:p>
            <a:pPr algn="l">
              <a:spcBef>
                <a:spcPts val="0"/>
              </a:spcBef>
              <a:spcAft>
                <a:spcPts val="0"/>
              </a:spcAft>
            </a:pPr>
            <a:r>
              <a:rPr lang="tr-TR" sz="1650" b="1" i="0">
                <a:solidFill>
                  <a:srgbClr val="262626"/>
                </a:solidFill>
                <a:latin typeface="Calibri"/>
              </a:rPr>
              <a:t>Haklar ve lisans.</a:t>
            </a:r>
            <a:r>
              <a:rPr lang="tr-TR" sz="1650" b="0" i="0">
                <a:solidFill>
                  <a:srgbClr val="262626"/>
                </a:solidFill>
                <a:latin typeface="Calibri"/>
              </a:rPr>
              <a:t> Ders kitabından, kitabın karekod içeriklerinden (EBA) ve OGM Materyal'den alınan metin, soru ve görsellerin hakları Millî Eğitim Bakanlığına aittir; eğitim ve öğretim amacıyla, kaynak gösterilerek alıntılanmıştır (5846 sayılı Fikir ve Sanat Eserleri Kanunu md. 34). Sunumun tasarımı, ders akışı, etkinlik kurgusu, örnek cevaplar ve öğretmen notları okulapp.org'un özgün katkısıdır; yalnız bu katkılar CC BY 4.0 lisansıyla paylaşılır. Resmî bir Bakanlık materyali değildir.</a:t>
            </a:r>
          </a:p>
        </p:txBody>
      </p:sp>
      <p:sp>
        <p:nvSpPr>
          <p:cNvPr id="9" name="TextBox 8"/>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5. Ünite: Ekonomik Faaliyetler ve Etkileri</a:t>
            </a:r>
          </a:p>
        </p:txBody>
      </p:sp>
      <p:sp>
        <p:nvSpPr>
          <p:cNvPr id="10" name="TextBox 9"/>
          <p:cNvSpPr txBox="1"/>
          <p:nvPr/>
        </p:nvSpPr>
        <p:spPr>
          <a:xfrm>
            <a:off x="8503920" y="6437376"/>
            <a:ext cx="32918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okulapp.org/cografya · sürüm 2026.10.2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GNL-COG9-SN-U5 — 29. hafta · Beşerî Faktörler, TEKNOSAB ve Performans Görevi (slayt 62-123)</dc:title>
  <dc:subject>9. Sınıf Coğrafya ders sunumu. Kaynak: Coğrafya 9. Sınıf Ders Kitabı (MEB, 2026-2027 baskısı) ve 2026 öğretim programı. okulapp.org/cografya</dc:subject>
  <dc:creator>okulapp.org</dc:creator>
  <cp:keywords/>
  <dc:description>Kitaptan, karekod içeriklerinden (EBA) ve OGM Materyal'den alınan metin, soru ve görsellerin hakları MEB'e aittir (5846 sayılı Kanun md. 34 kapsamında kaynak gösterilerek alıntı). Özgün katkılar CC BY 4.0 — okulapp.org</dc:description>
  <cp:lastModifiedBy>okulapp.org</cp:lastModifiedBy>
  <cp:revision>1</cp:revision>
  <dcterms:created xsi:type="dcterms:W3CDTF">2013-01-27T09:14:16Z</dcterms:created>
  <dcterms:modified xsi:type="dcterms:W3CDTF">2013-01-27T09:15:58Z</dcterms:modified>
  <cp:category>Ders materyali</cp:category>
  <dc:language>tr-TR</dc:language>
</cp:coreProperties>
</file>