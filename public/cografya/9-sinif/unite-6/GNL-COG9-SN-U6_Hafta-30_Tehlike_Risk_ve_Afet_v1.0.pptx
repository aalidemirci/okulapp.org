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lang="tr-TR" sz="1200"/>
            </a:lvl1pPr>
          </a:lstStyle>
          <a:p>
            <a:endParaRPr lang="tr-T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lang="tr-TR" sz="1200"/>
            </a:lvl1pPr>
          </a:lstStyle>
          <a:p>
            <a:fld id="{0F89C1C7-3DCD-1040-A9CF-14679D8B5DDD}" type="datetimeFigureOut">
              <a:rPr lang="tr-TR" smtClean="0"/>
              <a:t>10/17/16</a:t>
            </a:fld>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lang="tr-TR" sz="1200"/>
            </a:lvl1pPr>
          </a:lstStyle>
          <a:p>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lang="tr-TR" sz="1200"/>
            </a:lvl1pPr>
          </a:lstStyle>
          <a:p>
            <a:fld id="{BB5E49A5-4136-284D-997B-48E1D791AD67}" type="slidenum">
              <a:rPr lang="tr-TR" smtClean="0"/>
              <a:t>‹#›</a:t>
            </a:fld>
            <a:endParaRPr lang="tr-TR"/>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lang="tr-TR" sz="1200" kern="1200">
        <a:solidFill>
          <a:schemeClr val="tx1"/>
        </a:solidFill>
        <a:latin typeface="+mn-lt"/>
        <a:ea typeface="+mn-ea"/>
        <a:cs typeface="+mn-cs"/>
      </a:defRPr>
    </a:lvl1pPr>
    <a:lvl2pPr marL="457200" algn="l" defTabSz="457200" rtl="0" eaLnBrk="1" latinLnBrk="0" hangingPunct="1">
      <a:defRPr lang="tr-TR" sz="1200" kern="1200">
        <a:solidFill>
          <a:schemeClr val="tx1"/>
        </a:solidFill>
        <a:latin typeface="+mn-lt"/>
        <a:ea typeface="+mn-ea"/>
        <a:cs typeface="+mn-cs"/>
      </a:defRPr>
    </a:lvl2pPr>
    <a:lvl3pPr marL="914400" algn="l" defTabSz="457200" rtl="0" eaLnBrk="1" latinLnBrk="0" hangingPunct="1">
      <a:defRPr lang="tr-TR" sz="1200" kern="1200">
        <a:solidFill>
          <a:schemeClr val="tx1"/>
        </a:solidFill>
        <a:latin typeface="+mn-lt"/>
        <a:ea typeface="+mn-ea"/>
        <a:cs typeface="+mn-cs"/>
      </a:defRPr>
    </a:lvl3pPr>
    <a:lvl4pPr marL="1371600" algn="l" defTabSz="457200" rtl="0" eaLnBrk="1" latinLnBrk="0" hangingPunct="1">
      <a:defRPr lang="tr-TR" sz="1200" kern="1200">
        <a:solidFill>
          <a:schemeClr val="tx1"/>
        </a:solidFill>
        <a:latin typeface="+mn-lt"/>
        <a:ea typeface="+mn-ea"/>
        <a:cs typeface="+mn-cs"/>
      </a:defRPr>
    </a:lvl4pPr>
    <a:lvl5pPr marL="1828800" algn="l" defTabSz="457200" rtl="0" eaLnBrk="1" latinLnBrk="0" hangingPunct="1">
      <a:defRPr lang="tr-TR" sz="1200" kern="1200">
        <a:solidFill>
          <a:schemeClr val="tx1"/>
        </a:solidFill>
        <a:latin typeface="+mn-lt"/>
        <a:ea typeface="+mn-ea"/>
        <a:cs typeface="+mn-cs"/>
      </a:defRPr>
    </a:lvl5pPr>
    <a:lvl6pPr marL="2286000" algn="l" defTabSz="457200" rtl="0" eaLnBrk="1" latinLnBrk="0" hangingPunct="1">
      <a:defRPr lang="tr-TR" sz="1200" kern="1200">
        <a:solidFill>
          <a:schemeClr val="tx1"/>
        </a:solidFill>
        <a:latin typeface="+mn-lt"/>
        <a:ea typeface="+mn-ea"/>
        <a:cs typeface="+mn-cs"/>
      </a:defRPr>
    </a:lvl6pPr>
    <a:lvl7pPr marL="2743200" algn="l" defTabSz="457200" rtl="0" eaLnBrk="1" latinLnBrk="0" hangingPunct="1">
      <a:defRPr lang="tr-TR" sz="1200" kern="1200">
        <a:solidFill>
          <a:schemeClr val="tx1"/>
        </a:solidFill>
        <a:latin typeface="+mn-lt"/>
        <a:ea typeface="+mn-ea"/>
        <a:cs typeface="+mn-cs"/>
      </a:defRPr>
    </a:lvl7pPr>
    <a:lvl8pPr marL="3200400" algn="l" defTabSz="457200" rtl="0" eaLnBrk="1" latinLnBrk="0" hangingPunct="1">
      <a:defRPr lang="tr-TR" sz="1200" kern="1200">
        <a:solidFill>
          <a:schemeClr val="tx1"/>
        </a:solidFill>
        <a:latin typeface="+mn-lt"/>
        <a:ea typeface="+mn-ea"/>
        <a:cs typeface="+mn-cs"/>
      </a:defRPr>
    </a:lvl8pPr>
    <a:lvl9pPr marL="3657600" algn="l" defTabSz="457200" rtl="0" eaLnBrk="1" latinLnBrk="0" hangingPunct="1">
      <a:defRPr lang="tr-T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Üniteyi tanıtmak; kapak fotoğrafıyla ünitenin ilk sorusunu açmak: bir olay ne zaman afettir?</a:t>
            </a:r>
          </a:p>
          <a:p/>
          <a:p>
            <a:r>
              <a:t>SÜRE: Giriş aşamasının (30. hafta 1. aşama, 6 dk) ilk dakikası; aşamanın slaytları 1-9.</a:t>
            </a:r>
          </a:p>
          <a:p/>
          <a:p>
            <a:r>
              <a:t>NASIL: Fotoğrafı 15 saniye inceletin: 'Bu fotoğrafta ne görüyorsunuz? Bu olay insanların hayatını nasıl etkilemiş olabilir?' İki-üç kısa cevap alın; cevapları ünitenin sorusuna bağlayın: bir doğa olayı insanları, canlıları ve çevreyi etkilediğinde afet olabilir (30. hafta). Fotoğrafın çekildiği yer ve olayın adı kitapta yazmaz; yer adı söylemeyin, tahmin ettirmeyin.</a:t>
            </a:r>
          </a:p>
          <a:p/>
          <a:p>
            <a:r>
              <a:t>BEKLENEN CEVAP: Su baskını (sel, taşkın): yerleşim alanları, sanayi tesisleri, yollar ve tarım alanları sular altında; insanların evleri, işleri ve ulaşım etkilenmiş — olağan hayat durmuş olabilir.</a:t>
            </a:r>
          </a:p>
          <a:p/>
          <a:p>
            <a:r>
              <a:t>KAYNAK: Ders kitabı s. 186-187 ünite açılış görseli (kitap fotoğrafı adlandırmaz).</a:t>
            </a:r>
          </a:p>
          <a:p/>
          <a:p>
            <a:r>
              <a:t>NOT: Hassasiyet: sınıfta afet yaşamış ya da yakınını kaybetmiş öğrenci bulunabilir; kişisel anlatım istenmez, isteyen dinlenir (DP-U6 sınıf yönetimi notu). Bu sunum yalnız okul içi ders kullanımı içindir: harita, grafik ve fotoğraflar MEB ders kitabındandır; dosya okul dışında paylaşılmaz.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üç öğrenme çıktısını haftalarıyla göstermek.</a:t>
            </a:r>
          </a:p>
          <a:p/>
          <a:p>
            <a:r>
              <a:t>NASIL: Üç kartı soldan sağa okuyun: önce kavramlar (tehlike, risk, afet), sonra afetlerin türleri, en sonda afetlerle baş etmenin yolu olan bütüncül afet yönetimi. Ünite dört haftadır (8 ders saati); 32. hafta Kurban Bayramı nedeniyle kısadır. Alttaki cümle kitabın ünite amacıdır.</a:t>
            </a:r>
          </a:p>
          <a:p/>
          <a:p>
            <a:r>
              <a:t>KAYNAK: Program (2026): COĞ.9.6.1, 9.6.2, 9.6.3; kitap s. 186 'Bu ünitede … amaçlanmaktadır.'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Ünitede kullanılacak ölçme araçlarını öğrencinin diliyle duyurmak.</a:t>
            </a:r>
          </a:p>
          <a:p/>
          <a:p>
            <a:r>
              <a:t>NASIL: Üç kartı kısaca tanıtın; alttaki çipler ne zaman yapılacağını gösterir. Çalışma yaprakları: kitabın etkinlik sayfaları (s. 193 şeması, s. 196 tablosu, s. 208 şeması) ve ünitenin tek yapraklık çalışma kâğıdı; 31. haftada ayrıca bireysel bir 'yapılandırılmış grid' yaprağı vardır. Performans görevi 33. haftada sınıfta yapılan bir deprem senaryosu sunumudur (s. 209); analitik dereceli puanlama anahtarı ve öz değerlendirme formu kitabın karekodundadır (EBA) — çıktılarını öğretmen getirir, öğrenci telefonu kullanılmaz. Ünite sonunda 9 soruluk ölçme bölümü vardır (s. 210-213).</a:t>
            </a:r>
          </a:p>
          <a:p/>
          <a:p>
            <a:r>
              <a:t>KAYNAK: Kitap s. 186: 'Ünitede sizden … beklenmektedir.' Program, Öğrenme Kanıtları: çalışma yaprağı, yapılandırılmış grid, performans görevi, analitik dereceli puanlama anahtarı, öz değerlendirme formu.</a:t>
            </a:r>
          </a:p>
          <a:p/>
          <a:p>
            <a:r>
              <a:t>NOT: Karekod içerikleri (EBA) bu sunum hazırlanırken indirilemedi (EBA içerik sunucusu dosya vermiyordu); puanlama anahtarının ölçütleri programdan alınmıştır: bilgi inceleme, içerik, sonuç çıkarma, rapor hazırlama ve sunma.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Ünitenin sekiz anahtar kavramını üç grupta göstermek; ön bilgiyi yoklamak.</a:t>
            </a:r>
          </a:p>
          <a:p/>
          <a:p>
            <a:r>
              <a:t>NASIL: Kavramları sesli okutun; 'Hangilerini ortaokulda ya da haberlerde duydunuz? Tehlike ile afet aynı şey mi?' sorusuyla ön bilgiyi yoklayın (ön değerlendirmeye köprü; cevap bu hafta netleşecek). Gruplama sunum içindir; kavram listesi kitapla ve programla aynıdır. 'Yeşil Vatan' bu baskıda listeye eklendi: kitapta tanımı yoktur, s. 205'te orman yangınları haberinde ve 2. soruda geçer; programda slogan çalışmasının konusudur (33. hafta).</a:t>
            </a:r>
          </a:p>
          <a:p/>
          <a:p>
            <a:r>
              <a:t>BEKLENEN CEVAP: Tehlike ile afet aynı değildir: tehlike zarar verme ihtimali olan olay ya da durumdur; afet, bu tehlikeye maruz kalınmasıyla hayatı durduran, dış yardım gerektiren olaydır (30. hafta, s. 190-191).</a:t>
            </a:r>
          </a:p>
          <a:p/>
          <a:p>
            <a:r>
              <a:t>KAYNAK: Kitap s. 187 Anahtar Kavramlar; program (2026) Anahtar Kavramlar (aynı sekiz kavram).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öğrenme çıktısını ve iki süreç bileşenini (a kavramların özellikleri, b kavramlar arasındaki ilişkiler) tanıtmak.</a:t>
            </a:r>
          </a:p>
          <a:p/>
          <a:p>
            <a:r>
              <a:t>SÜRE: 80 dakikalık akış (ders planı, 30. hafta): giriş ve ön değerlendirme 6 · köprü kurma (s. 189) 7 · kavramlar 12 · Harita 6.1 ve faylar 10 · kavram kontrolü ve geçiş 5 (40. dk) · 17 Ağustos 1999 etkinliği 15 · görsel içerikli örnek (E) 12 · paylaşım ve özet 7 · çıkış kartı ve ev 6. Bu aşama (6 dk): ünite açılışı ve ayraç 1 dk · ön değerlendirme yaprağı 3 dk · toplama ve örnek cevaplar 2 dk.</a:t>
            </a:r>
          </a:p>
          <a:p/>
          <a:p>
            <a:r>
              <a:t>NASIL: Çıktıyı öğrencinin diliyle söyleyin: 'Bu hafta tehlike, risk ve afetin ne olduğunu ve bunların birbirine nasıl bağlandığını çözeceğiz; sonunda 17 Ağustos 1999 depremini bu kavramlarla inceleyeceğiz.' 1. aşamanın slaytları 1-9: ilk dördü ünite açılışıdır; ayraç, yol haritası ve Başlarken slaytları aşamanın kalanıdır. Gruplar bu ünitede yeniden karıldı (6 × 4 + 2 × 5); grup listesini öğretmen bilgisayarından yansıtın (sunuma öğrenci adı yazılmaz).</a:t>
            </a:r>
          </a:p>
          <a:p/>
          <a:p>
            <a:r>
              <a:t>KAYNAK: Program (2026) COĞ.9.6.1 a-b; ders planı 30. hafta; kitap 6.1.1 (s. 188-193).</a:t>
            </a:r>
          </a:p>
          <a:p/>
          <a:p>
            <a:r>
              <a:t>NOT: Hassasiyet: bu hafta depremler ve afet kayıpları konuşulur. Sınıfta afet yaşamış ya da yakınını kaybetmiş öğrenci bulunabilir: kişisel deprem/afet anlatımı istenmez, isteyen dinlenir; gerekirse rehberlik servisiyle eşgüdüm kurulur. İş Sağlığı ve Güvenliği Haftası (4-10 Mayıs) bu haftadadır: okulun toplanma alanı ve son tatbikat köprü kurma aşamasında hatırlatılır. Kitap 2026-2027 baskısı: s. 188-193 önceki baskıyla aynıdır.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Dersin yol haritasını göstermek (30 sn).</a:t>
            </a:r>
          </a:p>
          <a:p/>
          <a:p>
            <a:r>
              <a:t>NASIL: Her istasyonu bir cümleyle söyleyin; 4. istasyondan (Harita 6.1) sonra dersin ilk yarısı biter. 17 Ağustos 1999 etkinliği ve kendi örneğimiz grup düzeninde yapılır.</a:t>
            </a:r>
          </a:p>
          <a:p/>
          <a:p>
            <a:r>
              <a:t>KAYNAK: Ders planı 30. hafta akışı.</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ön değerlendirme süreci (not amaçlı değil): s. 188 'Başlarken' — üç görseldeki tedbirlerin yararı.</a:t>
            </a:r>
          </a:p>
          <a:p/>
          <a:p>
            <a:r>
              <a:t>NASIL: Yaprağı dağıtın: 'Sınav değil; nereden başlayacağımızı görmek için.' Üç görsel yaprakta küçük baskıdır, burada büyük. Her görsel için 'Bu tedbir neye yarar?' kutusunu doldururlar (3 dk, bireysel). Bitiren yaprağı ters çevirir; sıra başları toplar. Sonra örnek cevapları açın (cevaplar yaprakta değiştirilmez). Afişteki simgelerin adı yazmaz; öğrencilerden adlandırmalarını isteyin. Afişteki '12 Kasım' tarihinin anlamı kitapta açıklanmaz; sunumda tarih ya da olay bilgisi verilmedi.</a:t>
            </a:r>
          </a:p>
          <a:p/>
          <a:p>
            <a:r>
              <a:t>BEKLENEN CEVAP: Örnek cevaplar izleyen iki slaytta.</a:t>
            </a:r>
          </a:p>
          <a:p/>
          <a:p>
            <a:r>
              <a:t>KAYNAK: Kitap s. 188 BAŞLARKEN (yönerge birebir) ve üç görseli. Program, Ön Değerlendirme Süreci: Öğrencilere konuya ilişkin görseller üzerinden afetlerden korunma hakkında temel bilgi ve aşamalar içeren sorular yöneltilebilir.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ve 2 numaralı görsellerin örnek cevabı: afet eğitimi ve afet-acil durum çantasının yararı.</a:t>
            </a:r>
          </a:p>
          <a:p/>
          <a:p>
            <a:r>
              <a:t>NASIL: Yapraklar toplandıktan sonra açın. Çantanın içindekileri görselden öğrencilere saydırın; 'Bunlardan hangisi sizce en önemli, neden?' sorusuyla kısa bir tartışma yapılabilir. Aile ile çanta konuşması ev çalışmasıdır (yalnız evet/hayır beyanı; kişisel bilgi istenmez).</a:t>
            </a:r>
          </a:p>
          <a:p/>
          <a:p>
            <a:r>
              <a:t>BEKLENEN CEVAP: Afiş: afet eğitimi ve tatbikatla afet anında doğru davranmayı öğrenmek; afişteki çeşitli tehlikelere hazırlıklı olmak; can ve mal kaybını azaltmak. Çanta: yardım ulaşana kadar temel ihtiyaçları karşılamak; görselde su, konserve, el feneri, pilli radyo, ilk yardım çantası, çakı, kıyafet, kimlik ve belgeler, not defteri ve kalem; hızlı ve güvenli tahliye.</a:t>
            </a:r>
          </a:p>
          <a:p/>
          <a:p>
            <a:r>
              <a:t>KAYNAK: Kitap s. 188 görselleri (çantanın içindekiler görselden okunmuştur). Yararlar: bilimsel; kitapta yok (9. sınıf düzeyi). Gerekçeli farklı cevaplar kabul edilir.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3 numaralı görselin örnek cevabı: çoklu tehlike erken uyarı sisteminin dört bileşeni ve yararı (programın 'aşamalar içeren sorular' önerisi).</a:t>
            </a:r>
          </a:p>
          <a:p/>
          <a:p>
            <a:r>
              <a:t>NASIL: Şemayı saat yönünde okutun: risk bilinir → tehlike izlenir ve tahmin edilir → uyarı yayımlanır → insanlar hazırdır ve harekete geçer; ortada 'İnsan odaklı' yazar: sistem insanları korumak içindir. Dış halkadaki 'Ortaklar, Gelişim, İletişim' bileşenlerin birlikte çalıştığını gösterir. Erken uyarı sistemlerini 32. haftada bütüncül afet yönetiminin 'hazırlıklı olma' aşamasında yeniden göreceğiz.</a:t>
            </a:r>
          </a:p>
          <a:p/>
          <a:p>
            <a:r>
              <a:t>BEKLENEN CEVAP: Erken uyarı sistemi tehlike gelmeden önce haber verir: insanlar zaman kazanır, tahliye edilir, can kaybı azalır. Dört bileşen: afet risk bilgisi · gözlem, izleme, analiz öngörünümü · uyarı yayımlama · hazırlık ve müdahale yetenekleri.</a:t>
            </a:r>
          </a:p>
          <a:p/>
          <a:p>
            <a:r>
              <a:t>KAYNAK: Kitap s. 188 şeması (bileşen adları birebir); s. 202 hazırlıklı olma: 'erken uyarı sistemlerinin kurulması, kontrol edilmesi, işletilmesi ve güncellenmesi bu aşamada yapılması gerekenler arasındadır'; s. 206: 'Uzaktan algılama verileri doğrultusunda afetlere karşı erken uyarı sistemleri hazırlanarak önlem alma ve kurtarma çalışmaları yapılabilmektedir.' Bileşenlerin öğrenci diliyle açıklamaları: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Köprü kurma (s. 189 'Konuya Başlarken' 1. soru): dünyanın farklı yerlerinde yaşanan altı afeti görselleriyle eşleştirmek.</a:t>
            </a:r>
          </a:p>
          <a:p/>
          <a:p>
            <a:r>
              <a:t>SÜRE: Köprü kurma 7 dk: eşleştirme 2 dk · 2. soru 2 dk · 3. soru ve toplanma alanı 3 dk.</a:t>
            </a:r>
          </a:p>
          <a:p/>
          <a:p>
            <a:r>
              <a:t>NASIL: Yönerge: 'Aşağıdaki tabloda açıklanan afetlerin başına ilgili olduğu görselin numarasını yazınız.' İkililer 2 dakikada tablodaki her olayın başına görsel numarasını yazar (deftere: 1. satır …, 2. satır …). Görseller kitabın sayfa düzenindeki numaralarıyladır. Yaralı ya da enkaz ayrıntısına girmeyin; olayın türü yeterlidir.</a:t>
            </a:r>
          </a:p>
          <a:p/>
          <a:p>
            <a:r>
              <a:t>BEKLENEN CEVAP: Merapi → 5 · Bahçesaray çığı → 2 · Kahramanmaraş depremleri → 1 · Hindistan tren kazası → 4 · İtalya selleri → 6 · Avustralya orman yangınları → 3.</a:t>
            </a:r>
          </a:p>
          <a:p/>
          <a:p>
            <a:r>
              <a:t>KAYNAK: Kitap s. 189 KONUYA BAŞLARKEN (yönerge, altı görsel ve tablo birebir). Can kaybı sayıları kitabın cümleleridir; sayılar üzerinde durulmaz (hassasiyet).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Eşleştirmenin cevabı: görsel numaraları.</a:t>
            </a:r>
          </a:p>
          <a:p/>
          <a:p>
            <a:r>
              <a:t>NASIL: Satır satır okuyun; numarayı bir ikiliye söyletin, 'Görselde neye bakarak buldunuz?' diye sorun (lav, kar, alev, tren, yıkılmış bina, su basmış sokak).</a:t>
            </a:r>
          </a:p>
          <a:p/>
          <a:p>
            <a:r>
              <a:t>BEKLENEN CEVAP: Merapi → 5 · Bahçesaray çığı → 2 · Kahramanmaraş depremleri → 1 · Hindistan tren kazası → 4 · İtalya selleri → 6 · Avustralya orman yangınları → 3.</a:t>
            </a:r>
          </a:p>
          <a:p/>
          <a:p>
            <a:r>
              <a:t>KAYNAK: Kitap s. 189 KONUYA BAŞLARKEN (yönerge, altı görsel ve tablo birebir). Can kaybı sayıları kitabın cümleleridir; sayılar üzerinde durulmaz (hassasiyet).</a:t>
            </a:r>
          </a:p>
          <a:p/>
          <a:p>
            <a:r>
              <a:t>OGM MATERYAL: OGM Materyal 168 (görsel–olay eşleştirme) aynı etkinliktir: görsel numaraları kitapla aynıdır, yalnız dizilim farklıdır (OGM'de 3 × 2); kitabın tablo sırasıyla cevap 5-2-1-4-6-3. OGM yalnız 1. soruyu kapsar.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189 2. soru: altı örnek olaydan afetler hakkında genellemeler (çıkarımlar) yapmak — programın 'Bir olayın hangi durumda afet kabul edilebileceği' tartışmasının girişi.</a:t>
            </a:r>
          </a:p>
          <a:p/>
          <a:p>
            <a:r>
              <a:t>NASIL: İkililer dört ipucu sorusundan yararlanarak iki çıkarım yazar (1 dk); üç ikiliden cevap alın.</a:t>
            </a:r>
          </a:p>
          <a:p/>
          <a:p>
            <a:r>
              <a:t>BEKLENEN CEVAP: Afetler dünyanın farklı yerlerinde görülür: Endonezya, Türkiye, Hindistan, İtalya, Avustralya. · Bazıları doğa olaylarından (volkan, çığ, deprem, sel), bazıları insan faaliyetlerinden (tren kazası) kaynaklanır. · Can kaybına, yaralanmalara, evlerin yıkılmasına ya da yanmasına ve tahliyeye yol açarlar. · Etkilerin büyüklüğü farklıdır: bazı afetlerde çok sayıda insan hayatını kaybeder. · Kurtarma ve tahliye kaybı azaltır: Merapi'de dağcılar kurtarıldı, Avustralya'da insanlar tahliye edildi. · Sıra dışı doğa olayları afete dönüşebilir: İtalya'da altı aylık yağmur bir buçuk günde yağdı.</a:t>
            </a:r>
          </a:p>
          <a:p/>
          <a:p>
            <a:r>
              <a:t>KAYNAK: Kitap s. 189 tablosu (olaylar); çıkarımlar tablodaki bilgilerden türetildi (bilimsel; kitapta yok). Program COĞ.9.6.1: Bir olayın hangi durumda afet kabul edilebileceğine ilişkin Türkiye ve dünyada yaşanan örnek olaylar üzerinden bir tartışma yapılandırılabilir.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Çıkarımlar için örnek cevap.</a:t>
            </a:r>
          </a:p>
          <a:p/>
          <a:p>
            <a:r>
              <a:t>NASIL: Öğrenci çıkarımlarını kartlarla karşılaştırın; 'sıra dışı' kartını kavramlar bölümündeki ekstrem doğa olayına köprü yapın (16-29). Can kaybı karşılaştırması yapılmaz, sayılar tekrar edilmez.</a:t>
            </a:r>
          </a:p>
          <a:p/>
          <a:p>
            <a:r>
              <a:t>BEKLENEN CEVAP: Afetler dünyanın farklı yerlerinde görülür: Endonezya, Türkiye, Hindistan, İtalya, Avustralya. · Bazıları doğa olaylarından (volkan, çığ, deprem, sel), bazıları insan faaliyetlerinden (tren kazası) kaynaklanır. · Can kaybına, yaralanmalara, evlerin yıkılmasına ya da yanmasına ve tahliyeye yol açarlar. · Etkilerin büyüklüğü farklıdır: bazı afetlerde çok sayıda insan hayatını kaybeder. · Kurtarma ve tahliye kaybı azaltır: Merapi'de dağcılar kurtarıldı, Avustralya'da insanlar tahliye edildi. · Sıra dışı doğa olayları afete dönüşebilir: İtalya'da altı aylık yağmur bir buçuk günde yağdı.</a:t>
            </a:r>
          </a:p>
          <a:p/>
          <a:p>
            <a:r>
              <a:t>KAYNAK: Kitap s. 189 tablosu (olaylar); çıkarımlar tablodaki bilgilerden türetildi (bilimsel; kitapta yok). Program COĞ.9.6.1: Bir olayın hangi durumda afet kabul edilebileceğine ilişkin Türkiye ve dünyada yaşanan örnek olaylar üzerinden bir tartışma yapılandırılabilir.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köprü kurma süreci (s. 189 3. soru): yakın çevreden afete dönüşebilecek tehlike örnekleri; İş Sağlığı ve Güvenliği Haftası ile okulun toplanma alanı.</a:t>
            </a:r>
          </a:p>
          <a:p/>
          <a:p>
            <a:r>
              <a:t>NASIL: Önce sınıftan başlayın: 'Bu sınıfta deprem olsa bizi ne tehlikeye sokar?' Tespitleri tahtaya iki sütunla yazın (tehlike · olası etki); sonra okul, sokak, mahalle. Sınıfa ait tespitler okul iş sağlığı ve güvenliği sorumlusuna yazılı bildirilir. Okulun toplanma alanını ve son tatbikatı hatırlatın (İSG Haftası 4-10 Mayıs). Kişisel ev ve aile durumu sorulmaz.</a:t>
            </a:r>
          </a:p>
          <a:p/>
          <a:p>
            <a:r>
              <a:t>BEKLENEN CEVAP: Sınıfta sabitlenmemiş dolap ya da raf → Depremde devrilir; yaralanma, çıkışın kapanması · Kapı önünde ve sıra aralarında bırakılan çantalar → Tahliyede takılıp düşme, çıkışta gecikme · Açıkta kalan ya da hasarlı kablo, aşırı yüklenmiş priz → Elektrik çarpması, yangın · Dere yatağına ya da kenarına yapılan binalar → Aşırı yağışta sel ve taşkın (s. 191) · Depreme dirençli olmayan binalar → Depremde yıkılma; can ve mal kaybı (s. 190) · İstanbul'un güneyinde, Marmara Denizi'nden geçen diri fay → Depremde dirençsiz binalarda can ve mal kaybı (Harita 6.1)</a:t>
            </a:r>
          </a:p>
          <a:p/>
          <a:p>
            <a:r>
              <a:t>KAYNAK: Kitap s. 189 3. soru (birebir), s. 190-191 (dirençsiz yapılar, sel), Harita 6.1. Program, Köprü Kurma: Öğrencilerden afet türlerine yakın çevreleri veya basılı-dijital kaynaklardan örnekler vermeleri istenerek günlük hayatla bağlantı kurmaları sağlanabilir. Sınıf ve okul örnekleri ile deprem anı davranışları: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Yakın çevreden tehlike örnekleri ve olası etkileri: örnek cevap.</a:t>
            </a:r>
          </a:p>
          <a:p/>
          <a:p>
            <a:r>
              <a:t>NASIL: Tahtadaki listeyle karşılaştırın. Son satır örnek bir ildir (İstanbul; kendi ilinizle değiştirebilirsiniz): haritada göreceğiz (30-37). Toplanma alanını sözlü söyleyin (sunuma yazılmadı: okulun tahliye planından). Deprem anında okulda: sıra yanında çök-kapan-tutun; sarsıntı bitince öğretmenin yönlendirmesiyle, koşmadan ve merdivenleri kullanarak toplanma alanına.</a:t>
            </a:r>
          </a:p>
          <a:p/>
          <a:p>
            <a:r>
              <a:t>BEKLENEN CEVAP: Sınıfta sabitlenmemiş dolap ya da raf → Depremde devrilir; yaralanma, çıkışın kapanması · Kapı önünde ve sıra aralarında bırakılan çantalar → Tahliyede takılıp düşme, çıkışta gecikme · Açıkta kalan ya da hasarlı kablo, aşırı yüklenmiş priz → Elektrik çarpması, yangın · Dere yatağına ya da kenarına yapılan binalar → Aşırı yağışta sel ve taşkın (s. 191) · Depreme dirençli olmayan binalar → Depremde yıkılma; can ve mal kaybı (s. 190) · İstanbul'un güneyinde, Marmara Denizi'nden geçen diri fay → Depremde dirençsiz binalarda can ve mal kaybı (Harita 6.1)</a:t>
            </a:r>
          </a:p>
          <a:p/>
          <a:p>
            <a:r>
              <a:t>KAYNAK: Kitap s. 189 3. soru (birebir), s. 190-191 (dirençsiz yapılar, sel), Harita 6.1. Program, Köprü Kurma: Öğrencilerden afet türlerine yakın çevreleri veya basılı-dijital kaynaklardan örnekler vermeleri istenerek günlük hayatla bağlantı kurmaları sağlanabilir. Sınıf ve okul örnekleri ile deprem anı davranışları: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Afetin ölçütünü kurmak: insanlar, diğer canlılar ve çevre üzerinde etki.</a:t>
            </a:r>
          </a:p>
          <a:p/>
          <a:p>
            <a:r>
              <a:t>SÜRE: Kavramlar 12 dk: bu slayt ve tehlike 2 dk · ekstrem doğa olayı 1,5 dk · risk, maruziyet ve güvenlik açığı 2,5 dk · afet ve YOKLAMA 1 2 dk · Görsel 6.4 ve sel örneği 3 dk · YOKLAMA 2 1 dk.</a:t>
            </a:r>
          </a:p>
          <a:p/>
          <a:p>
            <a:r>
              <a:t>NASIL: Üstteki kitap cümlesini sesli okutun. 'Issız bir dağda olan bir doğa olayı ile bir şehrin yanında olan aynı olay arasındaki fark ne?' diye sorun: ölçüt, insanlar, diğer canlılar ve çevre üzerindeki etkidir. Alttaki cümleyle Türkiye'de yaşanan afet türlerini sayın; deprem örneğini haritada göreceğiz (30-37).</a:t>
            </a:r>
          </a:p>
          <a:p/>
          <a:p>
            <a:r>
              <a:t>BEKLENEN CEVAP: Bir olay insanlar, diğer canlılar ve çevre üzerinde etki meydana getirirse afet kabul edilebilir; etki yoksa yalnız bir doğa olayıdır.</a:t>
            </a:r>
          </a:p>
          <a:p/>
          <a:p>
            <a:r>
              <a:t>KAYNAK: Kitap s. 190 ilk paragraf (birebir). Kartlardaki örnekler: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Tehlike kavramının özelliklerini belirlemek (süreç bileşeni a): zarar verme potansiyeli; tehlikeler birbirinden farklıdır.</a:t>
            </a:r>
          </a:p>
          <a:p/>
          <a:p>
            <a:r>
              <a:t>NASIL: Tanımdaki 'potansiyel' kelimesinin altını çizin: tehlike henüz zarar vermemiş, ama zarar verebilecek olay ya da durumdur. Beş farklılık çipini Görsel 6.1 üzerinden örnekleyin: bir orman yangını küçük ya da büyük olabilir (büyüklük), bazı yerlerde her yaz görülür (sıklık), ormanlık alanlarda olur (coğrafi konum), yıldırımla ya da aşırı sıcakla başlar (oluş şekli), bir köyü ya da bir bölgeyi etkiler (etki düzeyi).</a:t>
            </a:r>
          </a:p>
          <a:p/>
          <a:p>
            <a:r>
              <a:t>BEKLENEN CEVAP: Tehlike: insan hayatını, mal varlıklarını, beşerî faaliyetleri ve doğal çevreyi olumsuz etkileyebilecek potansiyeli olan olay ya da durum.</a:t>
            </a:r>
          </a:p>
          <a:p/>
          <a:p>
            <a:r>
              <a:t>KAYNAK: Kitap s. 190 ikinci sütun (tanım ve farklılıklar birebir: 'Ancak tehlikeler; büyüklüğü, meydana gelme sıklığı, coğrafi konumu, oluş şekli ve etki düzeyi bakımından birbirinden farklıdır.'), Görsel 6.1. Orman yangını üzerindeki örnekleme: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Tehlikelerin iki kaynağını ve 'önlem alınmazsa afete dönüşür' fikrini göstermek.</a:t>
            </a:r>
          </a:p>
          <a:p/>
          <a:p>
            <a:r>
              <a:t>NASIL: Alttaki kitap cümlesini okutun; iki kartı gösterin. Son cümleye dikkat çekin: önlem alınmazsa her iki tür de afete dönüşebilir; demek ki afeti önlemenin yolu önlem almaktır (Görsel 6.4'te 'güvenlik açığı' olarak göreceğiz).</a:t>
            </a:r>
          </a:p>
          <a:p/>
          <a:p>
            <a:r>
              <a:t>BEKLENEN CEVAP: Doğa olayları: deprem, sel, taşkın, volkanik patlama, tsunami, çığ, fırtına, tayfun · insan kaynaklı olaylar: yangın, patlama, kaza, salgın hastalık, savaş.</a:t>
            </a:r>
          </a:p>
          <a:p/>
          <a:p>
            <a:r>
              <a:t>KAYNAK: Kitap s. 190 (cümle birebir).</a:t>
            </a:r>
          </a:p>
          <a:p/>
          <a:p>
            <a:r>
              <a:t>NOT: Kitap içi fark: s. 190 bu cümlede salgın hastalığı insan kaynaklı olaylar arasında sayar; s. 196 ise afetleri oluşum kaynağına göre sınıflandırırken salgınları doğa kaynaklı BİYOLOJİK afetler arasında sayar. 31. hafta s. 196'yı esas alır; bu hafta sınıflandırmaya girilmez, öğrenci sorarsa 'gelecek hafta afet türlerinde ayrıntısıyla göreceğiz' denir.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Ekstrem doğa olayını tehlike kavramının içinde tanıtmak (program).</a:t>
            </a:r>
          </a:p>
          <a:p/>
          <a:p>
            <a:r>
              <a:t>NASIL: Tanımı okutun: 'aşırı veya sıra dışı'. Şili örneğinde 9,5 büyüklüğü, bugüne kadar ölçülen en büyük deprem olmasıyla 'sıra dışı'dır. Kısa soru: 's. 189'daki olaylardan hangisi aşırı ya da sıra dışı bir doğa olayına örnektir?' Son kart: aynı olay bir yerde doğa olayı, başka bir yerde ekstrem doğa olayı sayılabilir; etkiler gelişmişlik ve nüfus yoğunluğuna bağlıdır (paylaşım aşamasında bu soruya döneceğiz, 56-60).</a:t>
            </a:r>
          </a:p>
          <a:p/>
          <a:p>
            <a:r>
              <a:t>BEKLENEN CEVAP: s. 189: İtalya'da altı aylık yağmurun bir buçuk günde yağması aşırı (sıra dışı) bir doğa olayıdır.</a:t>
            </a:r>
          </a:p>
          <a:p/>
          <a:p>
            <a:r>
              <a:t>KAYNAK: Kitap s. 191 ilk paragraf (cümleler birebir), Görsel 6.2. Program: tehlike kavramı içerisinde ekstrem doğa olayı kavramına yer verilir. İtalya örneğinin ekstrem doğa olayı diye yorumlanması: bilimsel; kitapta yok.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Riskin iki parçasını (olayın ihtimali + kayıp olasılığı) ve riski belirleyen unsurları göstermek.</a:t>
            </a:r>
          </a:p>
          <a:p/>
          <a:p>
            <a:r>
              <a:t>NASIL: Tanımı iki parçaya bölün: 1) olayın meydana gelme ihtimali, 2) can, mal, ekonomik ve çevresel kayıp olasılığı. Görsel 6.3'te sorun: 'Bu evlerde risk neden yüksek?' Dere kenarındadırlar: aşırı yağışta sel olabilir ve evler, insanlar zarar görebilir.</a:t>
            </a:r>
          </a:p>
          <a:p/>
          <a:p>
            <a:r>
              <a:t>BEKLENEN CEVAP: Görsel 6.3: evler dere kenarına kurulmuş; aşırı yağış ya da selde zarar görme olasılığı yüksektir — risk altındadırlar.</a:t>
            </a:r>
          </a:p>
          <a:p/>
          <a:p>
            <a:r>
              <a:t>KAYNAK: Kitap s. 191 (tanım ve riski belirleyen unsurlar birebir), Görsel 6.3 ve altyazısı.</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Görsel 6.4'ün iki dairesini (maruziyet, güvenlik açığı) öğrencinin diliyle tanıtmak.</a:t>
            </a:r>
          </a:p>
          <a:p/>
          <a:p>
            <a:r>
              <a:t>NASIL: İki kartı Görsel 6.3 ile örnekleyin: dere kenarındaki evler ve insanlar tehlikenin yolundadır (maruziyet); evlerin sele dirençli olmaması, tahliye planının olmaması eksikliktir (güvenlik açığı). 'Hangisini azaltabiliriz?' Güvenlik açığını önlemlerle, maruziyeti güvenli yerleşim alanı seçerek.</a:t>
            </a:r>
          </a:p>
          <a:p/>
          <a:p>
            <a:r>
              <a:t>BEKLENEN CEVAP: Maruziyet: insanların ve varlıklarının tehlikenin etki alanında bulunması. Güvenlik açığı: önlem alınmamasından doğan zayıflıklar ve eksiklikler (dirençsiz yapılar, plansız yerleşme, tahliye planının olmaması).</a:t>
            </a:r>
          </a:p>
          <a:p/>
          <a:p>
            <a:r>
              <a:t>KAYNAK: Kitap iki kavramı ayrıca tanımlamaz: anlamlar s. 191 cümlelerinden ve Görsel 6.4 altyazısından, örnekler s. 190-191'den (bilimsel açıklama, 9. sınıf düzeyi). Kitap s. 190: 'Afetler; tehlike, maruziyet ve risk kavramlarıyla doğrudan ilişkilidir.'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Afetin özelliklerini kitabın tanımından çıkarmak (süreç bileşeni a).</a:t>
            </a:r>
          </a:p>
          <a:p/>
          <a:p>
            <a:r>
              <a:t>NASIL: Tanımı okutun, sonra beş çipi tek tek tanımla eşleştirin. Son satırla tehlike-afet farkını netleştirin: tehlike ihtimaldir; afet, zararın gerçekleştiği ve toplumun tek başına baş edemediği durumdur.</a:t>
            </a:r>
          </a:p>
          <a:p/>
          <a:p>
            <a:r>
              <a:t>BEKLENEN CEVAP: Afetin özellikleri: tehlikeye maruz kalınır · olağan hayat düzeni bozulur · can ve mal kaybı olur · insanların uyum sağlama kapasitesi aşılır · dış yardım gerekir.</a:t>
            </a:r>
          </a:p>
          <a:p/>
          <a:p>
            <a:r>
              <a:t>KAYNAK: Kitap s. 191 (tanım birebir); çipler tanımın parçalarıdır.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kâğıtla cevap gösterir; dağılıma bakıp cevap slaytına geçin. Yanlış çoğunluktaysa 'Bir olay ne zaman afettir?' slaytına dönün.</a:t>
            </a:r>
          </a:p>
          <a:p/>
          <a:p>
            <a:r>
              <a:t>BEKLENEN CEVAP: C) İnsanlar, diğer canlılar ve çevre üzerinde etki meydana getirmesi</a:t>
            </a:r>
          </a:p>
          <a:p/>
          <a:p>
            <a:r>
              <a:t>KAYNAK: Kitap s. 190.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Bir olayın afet kabul edilebilmesi için insanlar, diğer canlılar ve çevre üzerinde etkiler meydana getirmesi gerekmektedir. İnsan kaynaklı olaylar da afete dönüşebilir.</a:t>
            </a:r>
          </a:p>
          <a:p/>
          <a:p>
            <a:r>
              <a:t>BEKLENEN CEVAP: C) İnsanlar, diğer canlılar ve çevre üzerinde etki meydana getirmesi</a:t>
            </a:r>
          </a:p>
          <a:p/>
          <a:p>
            <a:r>
              <a:t>KAYNAK: Kitap s. 190.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Tehlike, risk ve afet arasındaki ilişkiyi (süreç bileşeni b) kitabın şemasıyla kurmak.</a:t>
            </a:r>
          </a:p>
          <a:p/>
          <a:p>
            <a:r>
              <a:t>NASIL: Şema bir ZİNCİR değil, kesişen dairelerdir (Venn şeması). Tahtaya çizin: büyük ÇEVRE çemberi; içinde üç daire — üstte maruziyet, solda tehlike, sağda güvenlik açığı. Tehlike ile güvenlik açığının kesiştiği yer RİSK; üç dairenin kesiştiği ortadaki yer AFET. Altyazıyı okutun. Soru: 'Önlem alırsak hangi daire küçülür?' — güvenlik açığı; risk alanı daralır, afetin olasılığı azalır.</a:t>
            </a:r>
          </a:p>
          <a:p/>
          <a:p>
            <a:r>
              <a:t>BEKLENEN CEVAP: Önlem alınırsa güvenlik açığı küçülür; tehlikeyle kesişimi (risk) daralır, afet olasılığı azalır. İnsanlar tehlikeli alandan uzak yaşarsa maruziyet de küçülür.</a:t>
            </a:r>
          </a:p>
          <a:p/>
          <a:p>
            <a:r>
              <a:t>KAYNAK: Kitap s. 191 Görsel 6.4 (şema ve altyazı birebir). Önlem-daire yorumu: altyazıdan ('önlem alınmazsa güvenlik açığına neden olarak risk oluşturur').</a:t>
            </a:r>
          </a:p>
          <a:p/>
          <a:p>
            <a:r>
              <a:t>NOT: Eski ders planında şema 'tehlike → güvenlik açığı → risk → maruziyet → AFET zinciri' diye anlatılıyordu; bu yanlıştır, ders planı düzeltildi (05.10.2026).</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sel örneğini (s. 191) Görsel 6.4'ün alanlarına yerleştirerek kavramlar arasındaki ilişkiyi çözümlemek (süreç bileşeni b).</a:t>
            </a:r>
          </a:p>
          <a:p/>
          <a:p>
            <a:r>
              <a:t>NASIL: Dört ifade kitabın paragrafındandır (sıraları karıştırıldı). İkililer şemayı deftere çizer ve her harfi uygun alana yazar (1,5 dk). 'Risk alanına hangi harfler gelir?' diye sorun.</a:t>
            </a:r>
          </a:p>
          <a:p/>
          <a:p>
            <a:r>
              <a:t>BEKLENEN CEVAP: A → Tehlike · B → Maruziyet · C → Güvenlik açığı · D → AFET · Risk: A ile C'nin kesişimi.</a:t>
            </a:r>
          </a:p>
          <a:p/>
          <a:p>
            <a:r>
              <a:t>KAYNAK: Kitap s. 191 son paragraf (ifadeler birebir) ve Görsel 6.4. Alan eşlemesi Görsel 6.4 altyazısına göredir.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Sel örneğinin şemadaki yerleri: cevap.</a:t>
            </a:r>
          </a:p>
          <a:p/>
          <a:p>
            <a:r>
              <a:t>NASIL: A tehlike, C güvenlik açığı (riski artıran eksiklikler), B maruziyet (insanlar ve yapılar selin yolunda), D AFET. Risk, A ile C'nin kesiştiği yerdir: eksiklikler varken akarsu taşarsa can ve mal kaybı olasılığı. Kitap B için 'risk oluşturur' der: vadi tabanına yerleşen insanlar ve yapılar tehlikeye maruz kalınca risk afete dönüşebilir. B'yi risk alanına yazan öğrencinin gerekçesi kabul edilir.</a:t>
            </a:r>
          </a:p>
          <a:p/>
          <a:p>
            <a:r>
              <a:t>BEKLENEN CEVAP: A → Tehlike · B → Maruziyet · C → Güvenlik açığı · D → AFET · Risk: A ile C'nin kesişimi.</a:t>
            </a:r>
          </a:p>
          <a:p/>
          <a:p>
            <a:r>
              <a:t>KAYNAK: Kitap s. 191 son paragraf (ifadeler birebir) ve Görsel 6.4. Alan eşlemesi Görsel 6.4 altyazısına göredir.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kâğıtla cevap gösterir; dağılıma bakıp cevap slaytına geçin. E seçeneğini seçen öğrenciye: 'plan hazırsa bu bir eksiklik mi, önlem mi?'</a:t>
            </a:r>
          </a:p>
          <a:p/>
          <a:p>
            <a:r>
              <a:t>BEKLENEN CEVAP: B) Yapıların sele dirençli olmaması</a:t>
            </a:r>
          </a:p>
          <a:p/>
          <a:p>
            <a:r>
              <a:t>KAYNAK: Kitap s. 191.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Akarsu yatağının daraltılması, yapıların sele dirençli olmaması, tahliye planının yapılmaması gibi eksiklikler riski artırır. A ve C tehlikeyi, D afeti anlatır; E bir önlemdir.</a:t>
            </a:r>
          </a:p>
          <a:p/>
          <a:p>
            <a:r>
              <a:t>BEKLENEN CEVAP: B) Yapıların sele dirençli olmaması</a:t>
            </a:r>
          </a:p>
          <a:p/>
          <a:p>
            <a:r>
              <a:t>KAYNAK: Kitap s. 191.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Kavramları Türkiye'deki deprem örneğine uygulamak (program, D5.3): fay hattı → tehlike, dirençsiz yerleşim → risk, can ve mal kaybı → afet.</a:t>
            </a:r>
          </a:p>
          <a:p/>
          <a:p>
            <a:r>
              <a:t>SÜRE: Harita 10 dk: Türkiye örneği 1,5 dk · Harita 6.1 ve lejant 2 dk · fay izleme 3 dk · İstanbul 1,5 dk · kilit soru 2 dk.</a:t>
            </a:r>
          </a:p>
          <a:p/>
          <a:p>
            <a:r>
              <a:t>NASIL: Üç kartı soldan sağa okutun; her kartın başlığını sınıfa söyletin (kartlar kitabın üç ardışık cümlesidir). Sonra haritaya geçin: 'Aktif fay hatları nerelerde?'</a:t>
            </a:r>
          </a:p>
          <a:p/>
          <a:p>
            <a:r>
              <a:t>BEKLENEN CEVAP: Tehlike: aktif fay hatlarının geçtiği bölgeler · Risk: bu bölgelerde depreme dirençli olmayan yerleşim alanları kurulması · Afet: depremde sağlam olmayan yapıların zarar görmesiyle can ve mal kayıpları.</a:t>
            </a:r>
          </a:p>
          <a:p/>
          <a:p>
            <a:r>
              <a:t>KAYNAK: Kitap s. 190 ilk paragraf (cümleler birebir). Program COĞ.9.6.1: Bu fay hatlarının geçtiği bölgelerin deprem tehlikesi taşıdığı, bu bölgelerde depreme dirençli olmayan yerleşim alanları kurulmasının risk oluşturduğu ve deprem yaşanması durumunda can ve mal kaybı olmasının ise afet olarak nitelendirildiği bilgisi paylaşılır (D5.3).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Harita 6.1'in lejantını okumak (SBAB10.2 haritayı çözümleme).</a:t>
            </a:r>
          </a:p>
          <a:p/>
          <a:p>
            <a:r>
              <a:t>NASIL: Lejantı birlikte okuyun: sarıdan mora renkler deprem tehlikesini düşükten yükseğe gösterir; siyah çizgiler diri faylardır; noktalar il merkezleri. 'En açık renkler nerede? En koyu renkler nerede?' Sonra sağdaki bilgi kutusunu okutun.</a:t>
            </a:r>
          </a:p>
          <a:p/>
          <a:p>
            <a:r>
              <a:t>BEKLENEN CEVAP: Renkler: deprem tehlikesi (sarı düşük, mor yüksek) · siyah çizgiler: diri faylar · noktalar: il merkezleri. Haritaya göre en açık renkler İç Anadolu'nun ortasında; en koyu renkler kuzeyde uzanan bir kuşakta, doğuda ve batıda.</a:t>
            </a:r>
          </a:p>
          <a:p/>
          <a:p>
            <a:r>
              <a:t>KAYNAK: Kitap s. 190 Harita 6.1 (AFAD) ve kenar bilgi kutusu (birebir). Renk okumaları haritadan.</a:t>
            </a:r>
          </a:p>
          <a:p/>
          <a:p>
            <a:r>
              <a:t>NOT: Kitapta yazım hatası: Harita 6.1'de il adı 'Şirnak' yazılmıştır, doğrusu Şırnak (haritanın kendisidir, sunumda düzeltilemez; öğrenci sorarsa söyleyin).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andığı üç fay alanını Harita 6.1'in diri fay çizgileri üzerinde bulmak (SBAB10.2) ve tehlike kuşaklarının fayları izlediğini görmek.</a:t>
            </a:r>
          </a:p>
          <a:p/>
          <a:p>
            <a:r>
              <a:t>NASIL: Fay adları haritada yazmaz. 1 ve 3 numaralı işaretler haritanın siyah diri fay çizgilerinin üzerinde, 2 numara çizginin hemen altındadır (il adlarını örtmesin diye). Harita okuyucular duvar haritasında, diğerleri kitapta çizgileri parmakla izler; sağdaki üç adı numaralarla eşleştirir.</a:t>
            </a:r>
          </a:p>
          <a:p/>
          <a:p>
            <a:r>
              <a:t>BEKLENEN CEVAP: 1 Kuzey Anadolu Fay Sistemi · 2 Doğu Anadolu Fay Sistemi · 3 Batı Anadolu'daki fay hatları. Yüksek tehlike (kırmızı-mor) kuşakları diri fay çizgilerini izler.</a:t>
            </a:r>
          </a:p>
          <a:p/>
          <a:p>
            <a:r>
              <a:t>KAYNAK: Harita 6.1 (s. 190; fay adları haritada yok). Adlar programdan: Bu kapsamda örnek olarak Türkiye'den Kuzey Anadolu Fay Sistemi, Doğu Anadolu Fay Sistemi ve Batı Anadolu'daki fay hatları incelenebilir. Kitap KAF'ı s. 192'de (17 Ağustos 1999), DAF'ı s. 211'de anar: 'Türkiye’nin en etkin diri fay sistemlerinden biri olan, Anadolu ve Arap levhaları arasındaki sınırı oluşturan, DAF üzerinde Kahramanmaraş (Pazarcık-Elbistan) depremleri meydana gelmiştir.'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Üç fay alanı ve tehlike kuşaklarıyla ilişkisi: cevap.</a:t>
            </a:r>
          </a:p>
          <a:p/>
          <a:p>
            <a:r>
              <a:t>NASIL: Vurgulanan çizgiler haritanın kendi diri fay çizgileridir (kitap PDF'inden). 1: kuzeyde Marmara'dan doğuya uzanan uzun çizgi; 2: Bingöl çevresinden güneybatıya uzanan çizgi (çizgi Kahramanmaraş yönünde kısa parçalarla sürer); 3: Ege'de çok sayıda kısa diri fay. 'Kırmızı-mor kuşaklar nerede?' — bu fayların boyunca.</a:t>
            </a:r>
          </a:p>
          <a:p/>
          <a:p>
            <a:r>
              <a:t>BEKLENEN CEVAP: 1 Kuzey Anadolu Fay Sistemi · 2 Doğu Anadolu Fay Sistemi · 3 Batı Anadolu'daki fay hatları. Yüksek tehlike (kırmızı-mor) kuşakları diri fay çizgilerini izler.</a:t>
            </a:r>
          </a:p>
          <a:p/>
          <a:p>
            <a:r>
              <a:t>KAYNAK: Harita 6.1 (s. 190; fay adları haritada yok). Adlar programdan: Bu kapsamda örnek olarak Türkiye'den Kuzey Anadolu Fay Sistemi, Doğu Anadolu Fay Sistemi ve Batı Anadolu'daki fay hatları incelenebilir. Kitap KAF'ı s. 192'de (17 Ağustos 1999), DAF'ı s. 211'de anar: 'Türkiye’nin en etkin diri fay sistemlerinden biri olan, Anadolu ve Arap levhaları arasındaki sınırı oluşturan, DAF üzerinde Kahramanmaraş (Pazarcık-Elbistan) depremleri meydana gelmiştir.'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Yaşanılan ilin deprem tehlikesi tonunu Harita 6.1'den okumak (ders planı: ikililer ilinin tehlike rengini okur).</a:t>
            </a:r>
          </a:p>
          <a:p/>
          <a:p>
            <a:r>
              <a:t>NASIL: Görsel Harita 6.1'in Marmara bölümünün büyütülmüş hâlidir; sarı nokta İstanbul il merkezini gösterir. İkililer kitapta aynı yeri bulur, rengi lejantla karşılaştırır (1 dk). Haritayı il düzeyinde okuyun: haritada ilçe ayrımı yoktur.</a:t>
            </a:r>
          </a:p>
          <a:p/>
          <a:p>
            <a:r>
              <a:t>BEKLENEN CEVAP: Haritaya göre İstanbul'un Marmara Denizi kıyısı turuncu-kırmızı (yüksek tehlikeye yakın), kuzeye, Karadeniz'e doğru ton açılır (turuncu). İstanbul'un güneyinde Marmara Denizi'nin içinden uzun bir diri fay geçer (haritada Bolu'dan gelen çizginin devamı).</a:t>
            </a:r>
          </a:p>
          <a:p/>
          <a:p>
            <a:r>
              <a:t>KAYNAK: Kitap s. 190 Harita 6.1 (büyütülmüş bölüm ve lejant); okumalar haritadan.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İstanbul'un tehlike tonu: cevap.</a:t>
            </a:r>
          </a:p>
          <a:p/>
          <a:p>
            <a:r>
              <a:t>NASIL: Renk tonunu lejanttaki şeritle karşılaştırın. 'Bu harita bize ne söyler, ne söylemez?' sorusu kilit soruya köprüdür: harita tehlikeyi gösterir; binalarımızın ve mahallemizin durumunu göstermez.</a:t>
            </a:r>
          </a:p>
          <a:p/>
          <a:p>
            <a:r>
              <a:t>BEKLENEN CEVAP: Haritaya göre İstanbul'un Marmara Denizi kıyısı turuncu-kırmızı (yüksek tehlikeye yakın), kuzeye, Karadeniz'e doğru ton açılır (turuncu). İstanbul'un güneyinde Marmara Denizi'nin içinden uzun bir diri fay geçer (haritada Bolu'dan gelen çizginin devamı).</a:t>
            </a:r>
          </a:p>
          <a:p/>
          <a:p>
            <a:r>
              <a:t>KAYNAK: Kitap s. 190 Harita 6.1 (büyütülmüş bölüm ve lejant); okumalar haritadan.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Tehlike ile risk arasındaki farkı harita üzerinden çözümlemek (süreç bileşeni b, D5.3).</a:t>
            </a:r>
          </a:p>
          <a:p/>
          <a:p>
            <a:r>
              <a:t>NASIL: İkililer üç ipucu sorusunu tartışır, deftere 'harita neyi göstermiyor?' cevabını yazar (1,5 dk); iki ikiliden cevap alın.</a:t>
            </a:r>
          </a:p>
          <a:p/>
          <a:p>
            <a:r>
              <a:t>BEKLENEN CEVAP: Hayır, tek başına göstermez: harita depremin nerede beklendiğini (tehlike) ve diri fayları gösterir. Risk için orada kaç kişinin yaşadığı, binaların depreme dayanıklılığı ve zemin durumu da bilinmelidir; 'İnsanların yaşadığı çevrenin fiziki ve beşerî koşulları risk faktörünü doğrudan etkilemektedir' (s. 191).</a:t>
            </a:r>
          </a:p>
          <a:p/>
          <a:p>
            <a:r>
              <a:t>KAYNAK: Kitap s. 190 Harita 6.1, s. 191 (risk). Program: Bu süreçte diri fay haritası, afet risk haritası ve yerleşme haritaları incelenebilir (SBAB10.2).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Kilit sorunun örnek cevabı.</a:t>
            </a:r>
          </a:p>
          <a:p/>
          <a:p>
            <a:r>
              <a:t>NASIL: Cevabı Görsel 6.4'e bağlayın: harita yalnız 'tehlike' dairesini gösterir. Risk için güvenlik açığı (binalar, zemin) ve maruziyet (nüfus, yerleşme) bilgisi gerekir: program bu yüzden diri fay, afet risk ve yerleşme haritalarının birlikte incelenmesini önerir; etkinlikte yerleşme haritasını kullanacağız (45-53).</a:t>
            </a:r>
          </a:p>
          <a:p/>
          <a:p>
            <a:r>
              <a:t>BEKLENEN CEVAP: Hayır, tek başına göstermez: harita depremin nerede beklendiğini (tehlike) ve diri fayları gösterir. Risk için orada kaç kişinin yaşadığı, binaların depreme dayanıklılığı ve zemin durumu da bilinmelidir; 'İnsanların yaşadığı çevrenin fiziki ve beşerî koşulları risk faktörünü doğrudan etkilemektedir' (s. 191).</a:t>
            </a:r>
          </a:p>
          <a:p/>
          <a:p>
            <a:r>
              <a:t>KAYNAK: Kitap s. 190 Harita 6.1, s. 191 (risk). Program: Bu süreçte diri fay haritası, afet risk haritası ve yerleşme haritaları incelenebilir (SBAB10.2).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Kavram kontrolü: işlenen dört kavramın kitaptaki tanım cümlelerini kelime bankasıyla tamamlamak.</a:t>
            </a:r>
          </a:p>
          <a:p/>
          <a:p>
            <a:r>
              <a:t>SÜRE: Kavram kontrolü ve geçiş 5 dk: kelime bankası 1 dk · YOKLAMA 3 ve 4 2 dk · gruplara geçiş 2 dk.</a:t>
            </a:r>
          </a:p>
          <a:p/>
          <a:p>
            <a:r>
              <a:t>NASIL: Tüm sınıf, sözlü: her cümleyi bir öğrenci boşluklu okur, sınıf sözcüğü söyler. Bankada beş sözcük, dört cümle vardır; 1. cümlede iki boşluk.</a:t>
            </a:r>
          </a:p>
          <a:p/>
          <a:p>
            <a:r>
              <a:t>BEKLENEN CEVAP: 1 doğa olayları · insan kaynaklı olaylar; 2 ekstrem doğa olayı; 3 Risk; 4 Afet.</a:t>
            </a:r>
          </a:p>
          <a:p/>
          <a:p>
            <a:r>
              <a:t>KAYNAK: Kitap s. 190-191 (dört cümle birebir). OGM Materyal 166 ('Tehlike, Risk ve Afet' boşluk doldurması) ile paralel: aynı beş sözcük. OGM'nin risk cümlesi kitaptan farklı yazılmıştır ('… can, mal, ekonomik ve çevresel gibi değerlerin kaybının gerçekleşme olasılığıdır'); burada kitabın s. 191 cümlesi kullanıldı.</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Kelime bankasının cevabı.</a:t>
            </a:r>
          </a:p>
          <a:p/>
          <a:p>
            <a:r>
              <a:t>NASIL: Doğru sözcükler kalın. 'Afet' ile 'tehlike' karışırsa: tehlike zarar verme potansiyelidir; afet, olayın olağan hayatı bozup uyum kapasitesini aştığı durumdur (s. 191).</a:t>
            </a:r>
          </a:p>
          <a:p/>
          <a:p>
            <a:r>
              <a:t>BEKLENEN CEVAP: 1 doğa olayları · insan kaynaklı olaylar; 2 ekstrem doğa olayı; 3 Risk; 4 Afet.</a:t>
            </a:r>
          </a:p>
          <a:p/>
          <a:p>
            <a:r>
              <a:t>KAYNAK: Kitap s. 190-191 (dört cümle birebir). OGM Materyal 166 ('Tehlike, Risk ve Afet' boşluk doldurması) ile paralel: aynı beş sözcük. OGM'nin risk cümlesi kitaptan farklı yazılmıştır ('… can, mal, ekonomik ve çevresel gibi değerlerin kaybının gerçekleşme olasılığıdır'); burada kitabın s. 191 cümlesi kullanıldı.</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kâğıtla cevap gösterir; dağılıma bakıp cevap slaytına geçin. Mini kâğıtla: harfi yazıp kaldırırlar. Yanlış çoğunluktaysa fay izleme cevap slaytına dönün.</a:t>
            </a:r>
          </a:p>
          <a:p/>
          <a:p>
            <a:r>
              <a:t>BEKLENEN CEVAP: C) Yüksek tehlike kuşakları diri fay çizgilerini izler.</a:t>
            </a:r>
          </a:p>
          <a:p/>
          <a:p>
            <a:r>
              <a:t>KAYNAK: Kitap s. 190 Harita 6.1 (okumalar haritadan). OGM Materyal 169 aynı haritayla çoklu seçim sorar. Doğru maddeleri: aktif fay hatlarının geçtiği bölgeler deprem tehlikesi olan yerlerdir · yüksek tehlikeli bölgelerde depreme dirençli olmayan yerleşim alanlarının kurulması afet riskini artırır · nüfusun çoğunluğu deprem riskinin yüksek olduğu alanlarda yaşar (bu madde haritadan okunmaz, kaynağı s. 190'daki %75 kutusudur). Yanlışları: bazı bölgelerde hiç deprem yaşanmaz · fay hatları birbirine bağlı değildir · orta kesimler en fazla tehlikededir. Zaman kalırsa bu altı madde sözlü doğru/yanlış olarak sorulur.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Kırmızı-mor kuşaklar kuzeyde, doğuda ve batıda diri fay çizgileri boyunca uzanır; İç Anadolu'nun ortası sarıdır (düşük tehlike). Renkler deprem tehlikesini gösterir; fay adları haritada yazmaz.</a:t>
            </a:r>
          </a:p>
          <a:p/>
          <a:p>
            <a:r>
              <a:t>BEKLENEN CEVAP: C) Yüksek tehlike kuşakları diri fay çizgilerini izler.</a:t>
            </a:r>
          </a:p>
          <a:p/>
          <a:p>
            <a:r>
              <a:t>KAYNAK: Kitap s. 190 Harita 6.1 (okumalar haritadan). OGM Materyal 169 aynı haritayla çoklu seçim sorar. Doğru maddeleri: aktif fay hatlarının geçtiği bölgeler deprem tehlikesi olan yerlerdir · yüksek tehlikeli bölgelerde depreme dirençli olmayan yerleşim alanlarının kurulması afet riskini artırır · nüfusun çoğunluğu deprem riskinin yüksek olduğu alanlarda yaşar (bu madde haritadan okunmaz, kaynağı s. 190'daki %75 kutusudur). Yanlışları: bazı bölgelerde hiç deprem yaşanmaz · fay hatları birbirine bağlı değildir · orta kesimler en fazla tehlikededir. Zaman kalırsa bu altı madde sözlü doğru/yanlış olarak sorulur.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Ara yoklama: bu bölümün temel sonucunu tek soruyla yoklamak.</a:t>
            </a:r>
          </a:p>
          <a:p/>
          <a:p>
            <a:r>
              <a:t>NASIL: Öğrenciler 20 saniye düşünür, parmakla (1-5 = A-E) ya da mini kâğıtla cevap gösterir; dağılıma bakıp cevap slaytına geçin. C'yi seçen çoksa: 'Risk ile afet aynı şey mi?' diye sorun.</a:t>
            </a:r>
          </a:p>
          <a:p/>
          <a:p>
            <a:r>
              <a:t>BEKLENEN CEVAP: D) Üç dairenin kesiştiği yerde</a:t>
            </a:r>
          </a:p>
          <a:p/>
          <a:p>
            <a:r>
              <a:t>KAYNAK: Kitap s. 191 Görsel 6.4 ve altyazısı.</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Doğru seçeneği gerekçesiyle göstermek.</a:t>
            </a:r>
          </a:p>
          <a:p/>
          <a:p>
            <a:r>
              <a:t>NASIL: Gerekçeyi bir öğrenciye okutun; yanlış seçeneklerden birinin neden yanlış olduğunu sorun.</a:t>
            </a:r>
          </a:p>
          <a:p/>
          <a:p>
            <a:r>
              <a:t>SÖYLENEBİLİR: Tehlike ile güvenlik açığının kesiştiği yer risktir (C). İnsanların bu risklere maruz kalmasıyla da afetler meydana gelebilir. AFET üç dairenin ortasındadır.</a:t>
            </a:r>
          </a:p>
          <a:p/>
          <a:p>
            <a:r>
              <a:t>BEKLENEN CEVAP: D) Üç dairenin kesiştiği yerde</a:t>
            </a:r>
          </a:p>
          <a:p/>
          <a:p>
            <a:r>
              <a:t>KAYNAK: Kitap s. 191 Görsel 6.4 ve altyazısı.</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çalışmasına geçiş: rolleri ve kuralları hatırlatmak.</a:t>
            </a:r>
          </a:p>
          <a:p/>
          <a:p>
            <a:r>
              <a:t>SÜRE: Gruplara geçiş 2 dk (YOKLAMA 3-4'ten sonra).</a:t>
            </a:r>
          </a:p>
          <a:p/>
          <a:p>
            <a:r>
              <a:t>NASIL: Ayağa kalkma molası; sıralar adalara çevrilir, malzeme sorumluları grup setlerini alır. Roller her hafta döner. Ünite başında gruplar yeniden karıldı (6 × 4 + 2 × 5); grup listesi tahtada. Malzeme sorumluları s. 192 haritalarının renkli baskısını ve A3 şemayı alır; harita okuyucu haritaları, yazıcı şemayı tutar.</a:t>
            </a:r>
          </a:p>
          <a:p/>
          <a:p>
            <a:r>
              <a:t>KAYNAK: Ders planı (34 kişilik sınıf için grup düzeni: 6 × 4 + 2 × 5; sınıf mevcuduna göre uyarlanır).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Kitabın 'Tehlike, Risk ve Afet' etkinliğini başlatmak: metin ve iki harita ile kavramları çözümlemek.</a:t>
            </a:r>
          </a:p>
          <a:p/>
          <a:p>
            <a:r>
              <a:t>SÜRE: Etkinlik 15 dk: metin 3 dk · iki harita 5 dk · şema ve yazılı ilişki 7 dk.</a:t>
            </a:r>
          </a:p>
          <a:p/>
          <a:p>
            <a:r>
              <a:t>NASIL: Künyeyi ve yönergeyi okuyun; üç adımın süresini tahtaya yazın. Dolaşım turunda takılan gruba ipucu: 'Kurallara uygun yapılan binalarda hasar nasıldı?' (metnin son cümlesi). Kişisel deprem anlatımı istenmez; isteyen öğrenci dinlenir (SDB2.1, D5.3).</a:t>
            </a:r>
          </a:p>
          <a:p/>
          <a:p>
            <a:r>
              <a:t>KAYNAK: Kitap s. 192 ETKİNLİK künyesi ve yönergesi (birebir).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metnini okumak; kavramlara kanıt olacak cümleleri bulmak.</a:t>
            </a:r>
          </a:p>
          <a:p/>
          <a:p>
            <a:r>
              <a:t>NASIL: Gruplar metni kitaptan sessizce okur; sözcüler her kartta 'hangi kavrama kanıt?' diye işaret koyar: 1. kart tehlike (7,4 büyüklüğünde deprem), 2. kart maruziyet (sanayi, şehirleşme, nüfus) ve tehlikenin kaynağı (KAF), 3. kart güvenlik açığı (zemin ve tehlike dikkate alınmadan inşa) ve önlemin etkisi (kurallara uygun binalarda asgari hasar).</a:t>
            </a:r>
          </a:p>
          <a:p/>
          <a:p>
            <a:r>
              <a:t>BEKLENEN CEVAP: Tehlike: Kuzey Anadolu Fay Sistemi'nde 7,4 büyüklüğünde deprem · maruziyet: sanayi, şehirleşme ve nüfus yoğunluğu · güvenlik açığı: deprem tehlikesi ve zemin durumu dikkate alınmadan inşa · afet: can ve mal kaybı arttı.</a:t>
            </a:r>
          </a:p>
          <a:p/>
          <a:p>
            <a:r>
              <a:t>KAYNAK: Kitap s. 192 metin (birebir).</a:t>
            </a:r>
          </a:p>
          <a:p/>
          <a:p>
            <a:r>
              <a:t>NOT: Kitabın s. 197 tablosunda bu depremin can kaybı yazılıdır (31. haftada tablo işlenir); bu hafta sayı üzerinde durulmaz.</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1. haritasını çözümlemek: yüksek tehlike kuşağı ve iller (tehlike dairesine kanıt).</a:t>
            </a:r>
          </a:p>
          <a:p/>
          <a:p>
            <a:r>
              <a:t>NASIL: Harita okuyucu lejantı okur, en koyu kuşağı bulur ve kuşaktaki illeri sayar; yazıcı not eder (2,5 dk).</a:t>
            </a:r>
          </a:p>
          <a:p/>
          <a:p>
            <a:r>
              <a:t>BEKLENEN CEVAP: Haritaya göre en koyu (yüksek tehlike) kuşak İzmit Körfezi'nden doğuya, Kocaeli, Sakarya, Düzce ve Bolu boyunca uzanır; Yalova da yüksek tehlike tonundadır. İstanbul'un Marmara kıyısı ve Bursa çevresi kırmızı-turuncu; Zonguldak ve Eskişehir daha açık tondadır (daha düşük tehlike). Doğu-batı uzanışlı kuşak Kuzey Anadolu Fay Sistemi'ni izler.</a:t>
            </a:r>
          </a:p>
          <a:p/>
          <a:p>
            <a:r>
              <a:t>KAYNAK: Kitap s. 192 1. harita (okumalar haritadan); metin: Kuzey Anadolu Fay Sistemi.</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haritanın okunması: cevap.</a:t>
            </a:r>
          </a:p>
          <a:p/>
          <a:p>
            <a:r>
              <a:t>NASIL: Halka en koyu kuşağı gösterir. 'Bu kuşak Harita 6.1'de hangi fay sistemini izliyordu?' — Kuzey Anadolu Fay Sistemi (kitap s. 192 metni).</a:t>
            </a:r>
          </a:p>
          <a:p/>
          <a:p>
            <a:r>
              <a:t>BEKLENEN CEVAP: Haritaya göre en koyu (yüksek tehlike) kuşak İzmit Körfezi'nden doğuya, Kocaeli, Sakarya, Düzce ve Bolu boyunca uzanır; Yalova da yüksek tehlike tonundadır. İstanbul'un Marmara kıyısı ve Bursa çevresi kırmızı-turuncu; Zonguldak ve Eskişehir daha açık tondadır (daha düşük tehlike). Doğu-batı uzanışlı kuşak Kuzey Anadolu Fay Sistemi'ni izler.</a:t>
            </a:r>
          </a:p>
          <a:p/>
          <a:p>
            <a:r>
              <a:t>KAYNAK: Kitap s. 192 1. harita (okumalar haritadan); metin: Kuzey Anadolu Fay Sistemi.</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2. haritasını çözümlemek: yerleşme alanlarının alüvyon ve diri faya göre konumu, merkez üssü (maruziyet ve güvenlik açığına kanıt).</a:t>
            </a:r>
          </a:p>
          <a:p/>
          <a:p>
            <a:r>
              <a:t>NASIL: Lejantı okutun: turuncu yerleşme alanı, gri noktalı alüvyon, kırmızı çizgi diri fay, yıldız merkez üssü. Harita okuyucu fayın yerleşmelere göre yerini gösterir (2,5 dk).</a:t>
            </a:r>
          </a:p>
          <a:p/>
          <a:p>
            <a:r>
              <a:t>BEKLENEN CEVAP: Haritaya göre diri fay İzmit Körfezi boyunca doğu-batı uzanır; Gölcük'te ve körfezin doğu ucundaki yerleşmelerde fay, yerleşme alanının içinden ya da hemen yanından geçer. Altınova alüvyon üzerine kurulmuştur. Merkez üssü (yıldız) körfezin doğu ucunda, diri fayın üzerindedir. Kuzey kıyıdaki yerleşmeler (Gebze, Dilovası, Hereke, İzmit) kıyı boyunca uzanır.</a:t>
            </a:r>
          </a:p>
          <a:p/>
          <a:p>
            <a:r>
              <a:t>KAYNAK: Kitap s. 192 2. harita (okumalar haritadan). Alüvyon zeminde sarsıntının artması: bilimsel; kitapta 'zemin durumu' ifadesiyle geçer.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2. haritanın okunması: cevap.</a:t>
            </a:r>
          </a:p>
          <a:p/>
          <a:p>
            <a:r>
              <a:t>NASIL: Halkalar: merkez üssü, Gölcük (fay yerleşme alanının içinden geçiyor), Altınova (alüvyon üzerinde). 'Alüvyon neden önemli?' — gevşek zeminde sarsıntı binaları daha çok etkiler; kitap 'zemin durumu dikkate alınmadan inşa' diyor.</a:t>
            </a:r>
          </a:p>
          <a:p/>
          <a:p>
            <a:r>
              <a:t>BEKLENEN CEVAP: Haritaya göre diri fay İzmit Körfezi boyunca doğu-batı uzanır; Gölcük'te ve körfezin doğu ucundaki yerleşmelerde fay, yerleşme alanının içinden ya da hemen yanından geçer. Altınova alüvyon üzerine kurulmuştur. Merkez üssü (yıldız) körfezin doğu ucunda, diri fayın üzerindedir. Kuzey kıyıdaki yerleşmeler (Gebze, Dilovası, Hereke, İzmit) kıyı boyunca uzanır.</a:t>
            </a:r>
          </a:p>
          <a:p/>
          <a:p>
            <a:r>
              <a:t>KAYNAK: Kitap s. 192 2. harita (okumalar haritadan). Alüvyon zeminde sarsıntının artması: bilimsel; kitapta 'zemin durumu' ifadesiyle geçer.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Etkinliğin 1. sorusu: 17 Ağustos 1999 depreminde kavramları s. 193'teki şemaya (Görsel 6.4'ün düzeni) yerleştirmek.</a:t>
            </a:r>
          </a:p>
          <a:p/>
          <a:p>
            <a:r>
              <a:t>NASIL: Yazıcı A3 şemayı doldurur; kitaptaki şemanın noktalı yerleri tehlike, güvenlik açığı, maruziyet ve risk alanlarındadır, AFET ortadadır. Kontrolcü her alanın metne ya da haritaya dayandığını denetler (7 dk; yazılı ilişki dâhil).</a:t>
            </a:r>
          </a:p>
          <a:p/>
          <a:p>
            <a:r>
              <a:t>BEKLENEN CEVAP: Tehlike: Kuzey Anadolu Fay Sistemi'nde Gölcük merkezli 7,4 büyüklüğünde deprem; bölge yüksek tehlike kuşağında (1. harita) · Güvenlik açığı: yerleşmelerin deprem tehlikesi ve zemin durumu dikkate alınmadan inşa edilmesi; kuralların göz ardı edildiği binalar · Maruziyet: sanayi merkezleri, yoğun şehirleşme ve nüfus; alüvyon ve diri fay üzerindeki yerleşmeler (2. harita) · Risk: tehlike ile güvenlik açığının kesişimi — can ve mal kaybı olasılığı çok yüksek · AFET: üçü bir araya geldi; deprem can ve mal kaybını artırdı, olağan hayat durdu.</a:t>
            </a:r>
          </a:p>
          <a:p/>
          <a:p>
            <a:r>
              <a:t>KAYNAK: Kitap s. 192 metni ve iki haritası, s. 193 şeması (Görsel 6.4 düzeni). Çalışma kâğıdı COG9-CK-U6 5. madde aynı eşlemedir.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 193 şemasının örnek cevabı (alan alan, metin ve haritalardan).</a:t>
            </a:r>
          </a:p>
          <a:p/>
          <a:p>
            <a:r>
              <a:t>NASIL: Alan alan okuyun; her alanın kanıtını sorun: 'Bunu metnin hangi cümlesinden ya da hangi haritadan çıkardınız?' Gerekçeli farklı yerleştirme kabul: ör. alüvyon üzerindeki yerleşmeler zemin durumu dikkate alınmadığı için güvenlik açığına da yazılabilir.</a:t>
            </a:r>
          </a:p>
          <a:p/>
          <a:p>
            <a:r>
              <a:t>BEKLENEN CEVAP: Tehlike: Kuzey Anadolu Fay Sistemi'nde Gölcük merkezli 7,4 büyüklüğünde deprem; bölge yüksek tehlike kuşağında (1. harita) · Güvenlik açığı: yerleşmelerin deprem tehlikesi ve zemin durumu dikkate alınmadan inşa edilmesi; kuralların göz ardı edildiği binalar · Maruziyet: sanayi merkezleri, yoğun şehirleşme ve nüfus; alüvyon ve diri fay üzerindeki yerleşmeler (2. harita) · Risk: tehlike ile güvenlik açığının kesişimi — can ve mal kaybı olasılığı çok yüksek · AFET: üçü bir araya geldi; deprem can ve mal kaybını artırdı, olağan hayat durdu.</a:t>
            </a:r>
          </a:p>
          <a:p/>
          <a:p>
            <a:r>
              <a:t>KAYNAK: Kitap s. 192 metni ve iki haritası, s. 193 şeması (Görsel 6.4 düzeni). Çalışma kâğıdı COG9-CK-U6 5. madde aynı eşlemedir.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1. sorunun yazılı kısmı (noktalı yerler): kavramlar arasındaki ilişkinin örnek cümleleri.</a:t>
            </a:r>
          </a:p>
          <a:p/>
          <a:p>
            <a:r>
              <a:t>NASIL: Örnek paragrafı grubun cümleleriyle karşılaştırın; alttaki kart önlemin şemadaki etkisini gösterir: kurallara uygun binalarda hasar asgari düzeydeydi, yani güvenlik açığı küçüldükçe risk ve afet de küçülür.</a:t>
            </a:r>
          </a:p>
          <a:p/>
          <a:p>
            <a:r>
              <a:t>BEKLENEN CEVAP: Kuzey Anadolu Fay Sistemi'nde oluşan 7,4 büyüklüğündeki deprem tehlikedir. Yerleşmelerin deprem tehlikesi ve zemin durumu dikkate alınmadan inşa edilmesi güvenlik açığıdır; tehlike ile birleşince can ve mal kaybı riski çok yükselmiştir. Sanayi, şehirleşme ve nüfusun yoğun olduğu bölgede insanlar bu riske maruz kalınca deprem afete dönüşmüştür.</a:t>
            </a:r>
          </a:p>
          <a:p/>
          <a:p>
            <a:r>
              <a:t>KAYNAK: Kitap s. 192 metni (son cümle birebir); ilişki cümleleri Görsel 6.4 altyazısına göre.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'görsel içerikli örnek' önerisi (s. 193, 2. soru): seçilen bir afet üzerinden tehlike, risk ve afet ilişkisini gösteren grup ürünü.</a:t>
            </a:r>
          </a:p>
          <a:p/>
          <a:p>
            <a:r>
              <a:t>SÜRE: Görsel içerikli örnek 12 dk (esnek): kart çekme 0,5 dk · üretim 9,5 dk · panoya asma 2 dk (tek yönlü yürüyüş). Zaman daralırsa üretim 6 dk'ya iner, ürünler paylaşımda gösterilir.</a:t>
            </a:r>
          </a:p>
          <a:p/>
          <a:p>
            <a:r>
              <a:t>NASIL: Her grup bir afet kartı çeker. A4'e şema, resim ya da kısa metinle beş alanı (tehlike, güvenlik açığı, maruziyet, risk, afet) gösterir; zorunlu kutu: 'Önlem alınsaydı ne değişirdi?' Dolaşımda: 'Risk alanında insan faaliyeti var mı?' (OB1, OB4). Sel ve deprem derste işlendiği için kartlarda yoktur. Kâğıt ve kalem okuldan.</a:t>
            </a:r>
          </a:p>
          <a:p/>
          <a:p>
            <a:r>
              <a:t>KAYNAK: Kitap s. 193 2. soru (birebir). Program: Öğrencilerden tehlike, risk ve afet kavramları arasındaki ilişkiyi açıklayabilmeleri için bu kavramlara ilişkin görsel içerikli örnekler oluşturmaları istenebilir. Kartlar kitabın s. 189-190 afetlerinden (kuraklık s. 196) seçildi.</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Görsel içerikli ürün için ölçütlü örnek: ne içermeli + bir örnek ('doğru cevap' değildir).</a:t>
            </a:r>
          </a:p>
          <a:p/>
          <a:p>
            <a:r>
              <a:t>NASIL: Ürünler asıldıktan sonra açın. Ölçütler: beş alan dolu mu · kesişimler doğru mu (risk tehlike ile güvenlik açığının kesişiminde, afet ortada) · 'önlem' kutusu bir daireyi küçültüyor mu. Grupların farklı ama gerekçeli ürünleri kabul edilir; orman yangını kartı dağıtılmadı (örnek ürün olsun diye).</a:t>
            </a:r>
          </a:p>
          <a:p/>
          <a:p>
            <a:r>
              <a:t>BEKLENEN CEVAP: Tehlike: Yıldırım düşmesi ya da aşırı sıcakla çıkan orman yangını (Görsel 6.1) · Güvenlik açığı: Orman kenarına plansız yapılaşma; yangın yolu, su ve erken uyarı eksik · Maruziyet: Orman kenarındaki köyler, evler ve orada yaşayanlar · Risk: Yangının yerleşmeye ulaşması; can ve mal kaybı olasılığı · AFET: Evler yanar, insanlar tahliye edilir, orman ve canlılar zarar görür (s. 189: Avustralya'da onlarca ev yandı, çok sayıda kişi tahliye edildi) · Önlem: yangın yolu, orman ile yerleşme arasında boşluk, gözetleme ve erken uyarı → güvenlik açığı küçülür, risk ve afet olasılığı azalır.</a:t>
            </a:r>
          </a:p>
          <a:p/>
          <a:p>
            <a:r>
              <a:t>KAYNAK: Kitap s. 190 Görsel 6.1 (orman yangını doğa kaynaklı tehlike), s. 189 (Avustralya: evler yandı, tahliye), s. 191 Görsel 6.4. Güvenlik açığı ve önlem maddeleri: bilimsel; kitapta yok.</a:t>
            </a:r>
          </a:p>
          <a:p/>
          <a:p>
            <a:r>
              <a:t>OGM MATERYAL: OGM Materyal 167 aynı soruyu (s. 193, 2. soru) deprem ve sel örnekleriyle çözer. Çözümdeki üç kavram kayması burada düzeltilmiştir: 'deprem olursa risk yüksek olur' denmez — risk olaydan önce vardır (s. 190: depreme dirençli olmayan yerleşim riski artırır); 'sel olasılığı tehlikedir' denmez — olasılık riskin tanımındadır, tehlike zarar verme potansiyelidir (s. 191); 'baraj taşmaları' doğa olayı sayılmaz. OGM çözümünde maruziyet ve güvenlik açığı yoktur; buradaki örnek ürün Görsel 6.4'ün halkalarıyla kurulur. Deprem ya da sel kartı alan grup OGM'nin örneğini bu düzeltmelerle kullanabilir.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Grup ürünlerinden kavramların özelliklerini ve ilişkilerini özetlemek.</a:t>
            </a:r>
          </a:p>
          <a:p/>
          <a:p>
            <a:r>
              <a:t>SÜRE: Paylaşım ve özet 7 dk: dört sözcü 4 dk · özet tablo 2 dk · son soru 1 dk.</a:t>
            </a:r>
          </a:p>
          <a:p/>
          <a:p>
            <a:r>
              <a:t>NASIL: İsim kartıyla dört grup sözcüsü (1'er dk): şemasından bir alanı ve 'önlem' kutusunu anlatır. Dinleyenler sağdaki soruyu düşünür; cevabı bir öğrenciden alın.</a:t>
            </a:r>
          </a:p>
          <a:p/>
          <a:p>
            <a:r>
              <a:t>BEKLENEN CEVAP: Güvenlik açığı (önlemle) ya da maruziyet (güvenli yerleşim alanı seçerek) küçülürse risk ve afet alanı da küçülür; tehlikenin kendisi çoğu zaman önlenemez (deprem, yıldırım).</a:t>
            </a:r>
          </a:p>
          <a:p/>
          <a:p>
            <a:r>
              <a:t>KAYNAK: Ders planı 30. hafta 8. aşama; kitap s. 191 Görsel 6.4.</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Tehlike, risk ve afetin özelliklerini (süreç bileşeni a) tek tabloda özetlemek; program: örnekler üzerinden kavramların özellikleri özetlenir.</a:t>
            </a:r>
          </a:p>
          <a:p/>
          <a:p>
            <a:r>
              <a:t>NASIL: Tahtada üç sütunu sınıfla birlikte doldurun; öğrenciler deftere geçirir (2 dk).</a:t>
            </a:r>
          </a:p>
          <a:p/>
          <a:p>
            <a:r>
              <a:t>BEKLENEN CEVAP: Tehlike: Zarar verme potansiyeli olan olay ya da durum / büyüklük, sıklık, coğrafi konum, oluş şekli, etki düzeyi / aşırı yağışla taşan akarsu; diri fay · Risk: Olayın meydana gelme ihtimali + can, mal, ekonomik ve çevresel kayıp olasılığı / insan ve faaliyetleri; doğa ve insan kaynaklı tehlikeler / dere kenarındaki evler (Görsel 6.3) · Afet: Olağan hayatı bozan, can ve mal kaybına neden olan, dış yardım gerektiren olay / tehlikeye maruz kalınması; uyum sağlama kapasitesinin aşılması / 17 Ağustos 1999 depremi</a:t>
            </a:r>
          </a:p>
          <a:p/>
          <a:p>
            <a:r>
              <a:t>KAYNAK: Kitap s. 190-191 (tanımlar, kısaltılmış), s. 192. Program: Örnekler üzerinden tehlike, risk ve afet kavramlarının özellikleri özetlenebilir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Özet tablonun örnek cevabı.</a:t>
            </a:r>
          </a:p>
          <a:p/>
          <a:p>
            <a:r>
              <a:t>NASIL: Tabloyu tahtadakiyle karşılaştırın; satırları deftere geçirmeleri için birkaç saniye verin.</a:t>
            </a:r>
          </a:p>
          <a:p/>
          <a:p>
            <a:r>
              <a:t>BEKLENEN CEVAP: Tehlike: Zarar verme potansiyeli olan olay ya da durum / büyüklük, sıklık, coğrafi konum, oluş şekli, etki düzeyi / aşırı yağışla taşan akarsu; diri fay · Risk: Olayın meydana gelme ihtimali + can, mal, ekonomik ve çevresel kayıp olasılığı / insan ve faaliyetleri; doğa ve insan kaynaklı tehlikeler / dere kenarındaki evler (Görsel 6.3) · Afet: Olağan hayatı bozan, can ve mal kaybına neden olan, dış yardım gerektiren olay / tehlikeye maruz kalınması; uyum sağlama kapasitesinin aşılması / 17 Ağustos 1999 depremi</a:t>
            </a:r>
          </a:p>
          <a:p/>
          <a:p>
            <a:r>
              <a:t>KAYNAK: Kitap s. 190-191 (tanımlar, kısaltılmış), s. 192. Program: Örnekler üzerinden tehlike, risk ve afet kavramlarının özellikleri özetlenebilir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Kavramlar arasındaki ilişkiyi (süreç bileşeni b) genellemek: aynı tehlike, farklı risk ve sonuç.</a:t>
            </a:r>
          </a:p>
          <a:p/>
          <a:p>
            <a:r>
              <a:t>NASIL: Bir dakika: iki öğrenciden cevap alın; kavramlar bölümündeki (16-29) ekstrem doğa olayı slaytının son kitap cümlesini hatırlatın.</a:t>
            </a:r>
          </a:p>
          <a:p/>
          <a:p>
            <a:r>
              <a:t>BEKLENEN CEVAP: Etkiler bölgenin ya da ülkenin gelişmişlik seviyesine ve nüfus yoğunluğuna göre değişir (s. 191); kurallara uygun binalarda hasar asgari düzeydedir (s. 192); zemin, önlem ve hazırlık da sonucu değiştirir.</a:t>
            </a:r>
          </a:p>
          <a:p/>
          <a:p>
            <a:r>
              <a:t>KAYNAK: Kitap s. 191 ve s. 192 son cümle (birebir). Zemin, önlem ve hazırlık maddesi: s. 192 metni ve Görsel 6.4'e göre.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Son sorunun örnek cevabı.</a:t>
            </a:r>
          </a:p>
          <a:p/>
          <a:p>
            <a:r>
              <a:t>NASIL: Dört kartı Görsel 6.4'ün dairelerine bağlayın: gelişmişlik ve yapı kalitesi güvenlik açığını, nüfus yoğunluğu maruziyeti belirler.</a:t>
            </a:r>
          </a:p>
          <a:p/>
          <a:p>
            <a:r>
              <a:t>BEKLENEN CEVAP: Etkiler bölgenin ya da ülkenin gelişmişlik seviyesine ve nüfus yoğunluğuna göre değişir (s. 191); kurallara uygun binalarda hasar asgari düzeydedir (s. 192); zemin, önlem ve hazırlık da sonucu değiştirir.</a:t>
            </a:r>
          </a:p>
          <a:p/>
          <a:p>
            <a:r>
              <a:t>KAYNAK: Kitap s. 191 ve s. 192 son cümle (birebir). Zemin, önlem ve hazırlık maddesi: s. 192 metni ve Görsel 6.4'e göre.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Haftanın üç çıkış sorusu (ders planı).</a:t>
            </a:r>
          </a:p>
          <a:p/>
          <a:p>
            <a:r>
              <a:t>SÜRE: Toparlama 6 dk: çıkış kartı 3 dk · ev ve gelecek hafta 2 dk · araştırma görevi 1 dk.</a:t>
            </a:r>
          </a:p>
          <a:p/>
          <a:p>
            <a:r>
              <a:t>NASIL: Öğrenciler kâğıda yazar (3 dk); yazıcılar kartları ve A3 şemaları toplar. Kartlar P2 katılım gözlemine işlenir.</a:t>
            </a:r>
          </a:p>
          <a:p/>
          <a:p>
            <a:r>
              <a:t>BEKLENEN CEVAP: 1) tehlike, can-mal ve çevreye zarar verme potansiyeli taşıyan olay/durumdur; afet, bu tehlikeye maruz kalınmasıyla olağan hayatı bozan, can ve mal kaybına yol açan ve dış yardım gerektiren olaydır. · 2) akarsu yatağının daraltılması, yapıların sele dirençli olmaması, tahliye planının yapılmaması (ikisi yeterli; vadi tabanının yerleşime açılması riski oluşturan unsur olarak kabul edilir). · 3) Kuzey Anadolu Fay Sistemi; sanayi, şehirleşme ve nüfus yoğunluğunun fazla olduğu bölge / yerleşmelerin tehlike ve zemin durumu dikkate alınmadan inşa edilmesi.</a:t>
            </a:r>
          </a:p>
          <a:p/>
          <a:p>
            <a:r>
              <a:t>KAYNAK: Ders planı 30. hafta ölçme bölümü; kitap s. 190-193.</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Ev çalışmasını ve gelecek haftanın hazırlığını duyurmak.</a:t>
            </a:r>
          </a:p>
          <a:p/>
          <a:p>
            <a:r>
              <a:t>NASIL: Tahtaya da yazın. Haber seçiminde: yaralı, cenaze ya da enkaz görüntüsü ve kişisel bilgi (ad, adres) içeren haber seçilmez; telefon gerekmez, okul kütüphanesi kullanılabilir. Çanta konuşmasında yalnız evet/hayır beyanı gelir; çantanın içeriği ya da adres sorulmaz.</a:t>
            </a:r>
          </a:p>
          <a:p/>
          <a:p>
            <a:r>
              <a:t>KAYNAK: Ders planı 30. hafta ev çalışması (COG9-CK-U6 Bölüm 1, 1-5); program COĞ.9.6.2 (gazete haberi ve fotoğraf inceleme) — 31. hafta.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Programın zenginleştirme önerisi: isteyen öğrencilere araştırma görevi (33. haftada sunum).</a:t>
            </a:r>
          </a:p>
          <a:p/>
          <a:p>
            <a:r>
              <a:t>NASIL: Üç konu kartını isteklilere dağıtın; sonuç raporu 33. haftanın esnek aşamasında 2 dakikalık sunumdur. Kaynak: okul kütüphanesi, EBA (evde bilgisayar ya da okul kütüphanesi; telefon gerekmez). Kişisel veri içeren röportaj ya da görüntü sınıfa getirilmez.</a:t>
            </a:r>
          </a:p>
          <a:p/>
          <a:p>
            <a:r>
              <a:t>KAYNAK: Program, Zenginleştirme: Öğrencilerin araştırma görevlerine ilişkin sonuç raporlarını sınıfta sunmaları sağlanabilir.</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AMAÇ: Kaynak gösterimi — 5846 sayılı Kanun md. 34 eğitim amaçlı seçme ve toplama eserlerde eserin ve eser sahibinin adının belirtilmesini ister. Derste gösterilmesi gerekmez; dosyayı paylaşırken bu slaytı silmeyin.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tr-TR"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lang="tr-TR">
                <a:solidFill>
                  <a:schemeClr val="tx1">
                    <a:tint val="75000"/>
                  </a:schemeClr>
                </a:solidFill>
              </a:defRPr>
            </a:lvl1pPr>
            <a:lvl2pPr marL="457200" indent="0" algn="ctr">
              <a:buNone/>
              <a:defRPr lang="tr-TR">
                <a:solidFill>
                  <a:schemeClr val="tx1">
                    <a:tint val="75000"/>
                  </a:schemeClr>
                </a:solidFill>
              </a:defRPr>
            </a:lvl2pPr>
            <a:lvl3pPr marL="914400" indent="0" algn="ctr">
              <a:buNone/>
              <a:defRPr lang="tr-TR">
                <a:solidFill>
                  <a:schemeClr val="tx1">
                    <a:tint val="75000"/>
                  </a:schemeClr>
                </a:solidFill>
              </a:defRPr>
            </a:lvl3pPr>
            <a:lvl4pPr marL="1371600" indent="0" algn="ctr">
              <a:buNone/>
              <a:defRPr lang="tr-TR">
                <a:solidFill>
                  <a:schemeClr val="tx1">
                    <a:tint val="75000"/>
                  </a:schemeClr>
                </a:solidFill>
              </a:defRPr>
            </a:lvl4pPr>
            <a:lvl5pPr marL="1828800" indent="0" algn="ctr">
              <a:buNone/>
              <a:defRPr lang="tr-TR">
                <a:solidFill>
                  <a:schemeClr val="tx1">
                    <a:tint val="75000"/>
                  </a:schemeClr>
                </a:solidFill>
              </a:defRPr>
            </a:lvl5pPr>
            <a:lvl6pPr marL="2286000" indent="0" algn="ctr">
              <a:buNone/>
              <a:defRPr lang="tr-TR">
                <a:solidFill>
                  <a:schemeClr val="tx1">
                    <a:tint val="75000"/>
                  </a:schemeClr>
                </a:solidFill>
              </a:defRPr>
            </a:lvl6pPr>
            <a:lvl7pPr marL="2743200" indent="0" algn="ctr">
              <a:buNone/>
              <a:defRPr lang="tr-TR">
                <a:solidFill>
                  <a:schemeClr val="tx1">
                    <a:tint val="75000"/>
                  </a:schemeClr>
                </a:solidFill>
              </a:defRPr>
            </a:lvl7pPr>
            <a:lvl8pPr marL="3200400" indent="0" algn="ctr">
              <a:buNone/>
              <a:defRPr lang="tr-TR">
                <a:solidFill>
                  <a:schemeClr val="tx1">
                    <a:tint val="75000"/>
                  </a:schemeClr>
                </a:solidFill>
              </a:defRPr>
            </a:lvl8pPr>
            <a:lvl9pPr marL="3657600" indent="0" algn="ctr">
              <a:buNone/>
              <a:defRPr lang="tr-TR">
                <a:solidFill>
                  <a:schemeClr val="tx1">
                    <a:tint val="75000"/>
                  </a:schemeClr>
                </a:solidFill>
              </a:defRPr>
            </a:lvl9pPr>
          </a:lstStyle>
          <a:p>
            <a:r>
              <a:rPr lang="tr-TR" smtClean="0"/>
              <a:t>Click to edit Master subtitle style</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idx="1"/>
          </p:nvPr>
        </p:nvSpPr>
        <p:spPr/>
        <p:txBody>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lang="tr-TR" sz="4000" b="1" cap="all"/>
            </a:lvl1pPr>
          </a:lstStyle>
          <a:p>
            <a:r>
              <a:rPr lang="tr-TR"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lang="tr-TR" sz="2000">
                <a:solidFill>
                  <a:schemeClr val="tx1">
                    <a:tint val="75000"/>
                  </a:schemeClr>
                </a:solidFill>
              </a:defRPr>
            </a:lvl1pPr>
            <a:lvl2pPr marL="457200" indent="0">
              <a:buNone/>
              <a:defRPr lang="tr-TR" sz="1800">
                <a:solidFill>
                  <a:schemeClr val="tx1">
                    <a:tint val="75000"/>
                  </a:schemeClr>
                </a:solidFill>
              </a:defRPr>
            </a:lvl2pPr>
            <a:lvl3pPr marL="914400" indent="0">
              <a:buNone/>
              <a:defRPr lang="tr-TR" sz="1600">
                <a:solidFill>
                  <a:schemeClr val="tx1">
                    <a:tint val="75000"/>
                  </a:schemeClr>
                </a:solidFill>
              </a:defRPr>
            </a:lvl3pPr>
            <a:lvl4pPr marL="1371600" indent="0">
              <a:buNone/>
              <a:defRPr lang="tr-TR" sz="1400">
                <a:solidFill>
                  <a:schemeClr val="tx1">
                    <a:tint val="75000"/>
                  </a:schemeClr>
                </a:solidFill>
              </a:defRPr>
            </a:lvl4pPr>
            <a:lvl5pPr marL="1828800" indent="0">
              <a:buNone/>
              <a:defRPr lang="tr-TR" sz="1400">
                <a:solidFill>
                  <a:schemeClr val="tx1">
                    <a:tint val="75000"/>
                  </a:schemeClr>
                </a:solidFill>
              </a:defRPr>
            </a:lvl5pPr>
            <a:lvl6pPr marL="2286000" indent="0">
              <a:buNone/>
              <a:defRPr lang="tr-TR" sz="1400">
                <a:solidFill>
                  <a:schemeClr val="tx1">
                    <a:tint val="75000"/>
                  </a:schemeClr>
                </a:solidFill>
              </a:defRPr>
            </a:lvl6pPr>
            <a:lvl7pPr marL="2743200" indent="0">
              <a:buNone/>
              <a:defRPr lang="tr-TR" sz="1400">
                <a:solidFill>
                  <a:schemeClr val="tx1">
                    <a:tint val="75000"/>
                  </a:schemeClr>
                </a:solidFill>
              </a:defRPr>
            </a:lvl7pPr>
            <a:lvl8pPr marL="3200400" indent="0">
              <a:buNone/>
              <a:defRPr lang="tr-TR" sz="1400">
                <a:solidFill>
                  <a:schemeClr val="tx1">
                    <a:tint val="75000"/>
                  </a:schemeClr>
                </a:solidFill>
              </a:defRPr>
            </a:lvl8pPr>
            <a:lvl9pPr marL="3657600" indent="0">
              <a:buNone/>
              <a:defRPr lang="tr-TR" sz="1400">
                <a:solidFill>
                  <a:schemeClr val="tx1">
                    <a:tint val="75000"/>
                  </a:schemeClr>
                </a:solidFill>
              </a:defRPr>
            </a:lvl9pPr>
          </a:lstStyle>
          <a:p>
            <a:pPr lvl="0"/>
            <a:r>
              <a:rPr lang="tr-TR"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lang="tr-TR" sz="2800"/>
            </a:lvl1pPr>
            <a:lvl2pPr>
              <a:defRPr lang="tr-TR" sz="2400"/>
            </a:lvl2pPr>
            <a:lvl3pPr>
              <a:defRPr lang="tr-TR" sz="2000"/>
            </a:lvl3pPr>
            <a:lvl4pPr>
              <a:defRPr lang="tr-TR" sz="1800"/>
            </a:lvl4pPr>
            <a:lvl5pPr>
              <a:defRPr lang="tr-TR" sz="1800"/>
            </a:lvl5pPr>
            <a:lvl6pPr>
              <a:defRPr lang="tr-TR" sz="1800"/>
            </a:lvl6pPr>
            <a:lvl7pPr>
              <a:defRPr lang="tr-TR" sz="1800"/>
            </a:lvl7pPr>
            <a:lvl8pPr>
              <a:defRPr lang="tr-TR" sz="1800"/>
            </a:lvl8pPr>
            <a:lvl9pPr>
              <a:defRPr lang="tr-TR" sz="18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lang="tr-TR"/>
            </a:lvl1pPr>
          </a:lstStyle>
          <a:p>
            <a:r>
              <a:rPr lang="tr-TR"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lang="tr-TR" sz="2400" b="1"/>
            </a:lvl1pPr>
            <a:lvl2pPr marL="457200" indent="0">
              <a:buNone/>
              <a:defRPr lang="tr-TR" sz="2000" b="1"/>
            </a:lvl2pPr>
            <a:lvl3pPr marL="914400" indent="0">
              <a:buNone/>
              <a:defRPr lang="tr-TR" sz="1800" b="1"/>
            </a:lvl3pPr>
            <a:lvl4pPr marL="1371600" indent="0">
              <a:buNone/>
              <a:defRPr lang="tr-TR" sz="1600" b="1"/>
            </a:lvl4pPr>
            <a:lvl5pPr marL="1828800" indent="0">
              <a:buNone/>
              <a:defRPr lang="tr-TR" sz="1600" b="1"/>
            </a:lvl5pPr>
            <a:lvl6pPr marL="2286000" indent="0">
              <a:buNone/>
              <a:defRPr lang="tr-TR" sz="1600" b="1"/>
            </a:lvl6pPr>
            <a:lvl7pPr marL="2743200" indent="0">
              <a:buNone/>
              <a:defRPr lang="tr-TR" sz="1600" b="1"/>
            </a:lvl7pPr>
            <a:lvl8pPr marL="3200400" indent="0">
              <a:buNone/>
              <a:defRPr lang="tr-TR" sz="1600" b="1"/>
            </a:lvl8pPr>
            <a:lvl9pPr marL="3657600" indent="0">
              <a:buNone/>
              <a:defRPr lang="tr-TR" sz="1600" b="1"/>
            </a:lvl9pPr>
          </a:lstStyle>
          <a:p>
            <a:pPr lvl="0"/>
            <a:r>
              <a:rPr lang="tr-TR"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lang="tr-TR" sz="2400"/>
            </a:lvl1pPr>
            <a:lvl2pPr>
              <a:defRPr lang="tr-TR" sz="2000"/>
            </a:lvl2pPr>
            <a:lvl3pPr>
              <a:defRPr lang="tr-TR" sz="1800"/>
            </a:lvl3pPr>
            <a:lvl4pPr>
              <a:defRPr lang="tr-TR" sz="1600"/>
            </a:lvl4pPr>
            <a:lvl5pPr>
              <a:defRPr lang="tr-TR" sz="1600"/>
            </a:lvl5pPr>
            <a:lvl6pPr>
              <a:defRPr lang="tr-TR" sz="1600"/>
            </a:lvl6pPr>
            <a:lvl7pPr>
              <a:defRPr lang="tr-TR" sz="1600"/>
            </a:lvl7pPr>
            <a:lvl8pPr>
              <a:defRPr lang="tr-TR" sz="1600"/>
            </a:lvl8pPr>
            <a:lvl9pPr>
              <a:defRPr lang="tr-TR" sz="16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7" name="Date Placeholder 6"/>
          <p:cNvSpPr>
            <a:spLocks noGrp="1"/>
          </p:cNvSpPr>
          <p:nvPr>
            <p:ph type="dt" sz="half" idx="10"/>
          </p:nvPr>
        </p:nvSpPr>
        <p:spPr/>
        <p:txBody>
          <a:bodyPr/>
          <a:lstStyle/>
          <a:p>
            <a:fld id="{5BCAD085-E8A6-8845-BD4E-CB4CCA059FC4}" type="datetimeFigureOut">
              <a:rPr lang="tr-TR" smtClean="0"/>
              <a:t>1/27/13</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Date Placeholder 2"/>
          <p:cNvSpPr>
            <a:spLocks noGrp="1"/>
          </p:cNvSpPr>
          <p:nvPr>
            <p:ph type="dt" sz="half" idx="10"/>
          </p:nvPr>
        </p:nvSpPr>
        <p:spPr/>
        <p:txBody>
          <a:bodyPr/>
          <a:lstStyle/>
          <a:p>
            <a:fld id="{5BCAD085-E8A6-8845-BD4E-CB4CCA059FC4}" type="datetimeFigureOut">
              <a:rPr lang="tr-TR" smtClean="0"/>
              <a:t>1/27/13</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lang="tr-TR" sz="2000" b="1"/>
            </a:lvl1pPr>
          </a:lstStyle>
          <a:p>
            <a:r>
              <a:rPr lang="tr-TR"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lang="tr-TR" sz="3200"/>
            </a:lvl1pPr>
            <a:lvl2pPr>
              <a:defRPr lang="tr-TR" sz="2800"/>
            </a:lvl2pPr>
            <a:lvl3pPr>
              <a:defRPr lang="tr-TR" sz="2400"/>
            </a:lvl3pPr>
            <a:lvl4pPr>
              <a:defRPr lang="tr-TR" sz="2000"/>
            </a:lvl4pPr>
            <a:lvl5pPr>
              <a:defRPr lang="tr-TR" sz="2000"/>
            </a:lvl5pPr>
            <a:lvl6pPr>
              <a:defRPr lang="tr-TR" sz="2000"/>
            </a:lvl6pPr>
            <a:lvl7pPr>
              <a:defRPr lang="tr-TR" sz="2000"/>
            </a:lvl7pPr>
            <a:lvl8pPr>
              <a:defRPr lang="tr-TR" sz="2000"/>
            </a:lvl8pPr>
            <a:lvl9pPr>
              <a:defRPr lang="tr-TR" sz="2000"/>
            </a:lvl9p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lang="tr-TR" sz="2000" b="1"/>
            </a:lvl1pPr>
          </a:lstStyle>
          <a:p>
            <a:r>
              <a:rPr lang="tr-TR"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lang="tr-TR" sz="3200"/>
            </a:lvl1pPr>
            <a:lvl2pPr marL="457200" indent="0">
              <a:buNone/>
              <a:defRPr lang="tr-TR" sz="2800"/>
            </a:lvl2pPr>
            <a:lvl3pPr marL="914400" indent="0">
              <a:buNone/>
              <a:defRPr lang="tr-TR" sz="2400"/>
            </a:lvl3pPr>
            <a:lvl4pPr marL="1371600" indent="0">
              <a:buNone/>
              <a:defRPr lang="tr-TR" sz="2000"/>
            </a:lvl4pPr>
            <a:lvl5pPr marL="1828800" indent="0">
              <a:buNone/>
              <a:defRPr lang="tr-TR" sz="2000"/>
            </a:lvl5pPr>
            <a:lvl6pPr marL="2286000" indent="0">
              <a:buNone/>
              <a:defRPr lang="tr-TR" sz="2000"/>
            </a:lvl6pPr>
            <a:lvl7pPr marL="2743200" indent="0">
              <a:buNone/>
              <a:defRPr lang="tr-TR" sz="2000"/>
            </a:lvl7pPr>
            <a:lvl8pPr marL="3200400" indent="0">
              <a:buNone/>
              <a:defRPr lang="tr-TR" sz="2000"/>
            </a:lvl8pPr>
            <a:lvl9pPr marL="3657600" indent="0">
              <a:buNone/>
              <a:defRPr lang="tr-T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lang="tr-TR" sz="1400"/>
            </a:lvl1pPr>
            <a:lvl2pPr marL="457200" indent="0">
              <a:buNone/>
              <a:defRPr lang="tr-TR" sz="1200"/>
            </a:lvl2pPr>
            <a:lvl3pPr marL="914400" indent="0">
              <a:buNone/>
              <a:defRPr lang="tr-TR" sz="1000"/>
            </a:lvl3pPr>
            <a:lvl4pPr marL="1371600" indent="0">
              <a:buNone/>
              <a:defRPr lang="tr-TR" sz="900"/>
            </a:lvl4pPr>
            <a:lvl5pPr marL="1828800" indent="0">
              <a:buNone/>
              <a:defRPr lang="tr-TR" sz="900"/>
            </a:lvl5pPr>
            <a:lvl6pPr marL="2286000" indent="0">
              <a:buNone/>
              <a:defRPr lang="tr-TR" sz="900"/>
            </a:lvl6pPr>
            <a:lvl7pPr marL="2743200" indent="0">
              <a:buNone/>
              <a:defRPr lang="tr-TR" sz="900"/>
            </a:lvl7pPr>
            <a:lvl8pPr marL="3200400" indent="0">
              <a:buNone/>
              <a:defRPr lang="tr-TR" sz="900"/>
            </a:lvl8pPr>
            <a:lvl9pPr marL="3657600" indent="0">
              <a:buNone/>
              <a:defRPr lang="tr-TR" sz="900"/>
            </a:lvl9pPr>
          </a:lstStyle>
          <a:p>
            <a:pPr lvl="0"/>
            <a:r>
              <a:rPr lang="tr-TR"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tr-TR" smtClean="0"/>
              <a:t>1/27/13</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tr-TR"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10"/>
          </p:nvPr>
        </p:nvSpPr>
        <p:spPr/>
        <p:txBody>
          <a:bodyPr/>
          <a:lstStyle/>
          <a:p>
            <a:fld id="{5BCAD085-E8A6-8845-BD4E-CB4CCA059FC4}" type="datetimeFigureOut">
              <a:rPr lang="tr-TR" smtClean="0"/>
              <a:t>1/27/13</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F6DA9-008F-8B48-92A6-B652298478BF}" type="slidenum">
              <a:rPr lang="tr-TR" smtClean="0"/>
              <a:t>‹#›</a:t>
            </a:fld>
            <a:endParaRPr lang="tr-T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Click to edit Master text styles</a:t>
            </a:r>
          </a:p>
          <a:p>
            <a:pPr lvl="1"/>
            <a:r>
              <a:rPr lang="tr-TR" smtClean="0"/>
              <a:t>Second level</a:t>
            </a:r>
          </a:p>
          <a:p>
            <a:pPr lvl="2"/>
            <a:r>
              <a:rPr lang="tr-TR" smtClean="0"/>
              <a:t>Third level</a:t>
            </a:r>
          </a:p>
          <a:p>
            <a:pPr lvl="3"/>
            <a:r>
              <a:rPr lang="tr-TR" smtClean="0"/>
              <a:t>Fourth level</a:t>
            </a:r>
          </a:p>
          <a:p>
            <a:pPr lvl="4"/>
            <a:r>
              <a:rPr lang="tr-TR"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tr-TR" sz="1200">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tr-T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tr-TR" sz="1200">
                <a:solidFill>
                  <a:schemeClr val="tx1">
                    <a:tint val="75000"/>
                  </a:schemeClr>
                </a:solidFill>
              </a:defRPr>
            </a:lvl1pPr>
          </a:lstStyle>
          <a:p>
            <a:fld id="{C1FF6DA9-008F-8B48-92A6-B652298478BF}" type="slidenum">
              <a:rPr lang="tr-TR" smtClean="0"/>
              <a:t>‹#›</a:t>
            </a:fld>
            <a:endParaRPr lang="tr-T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lang="tr-T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tr-T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tr-T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tr-T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tr-TR" sz="2000" kern="1200">
          <a:solidFill>
            <a:schemeClr val="tx1"/>
          </a:solidFill>
          <a:latin typeface="+mn-lt"/>
          <a:ea typeface="+mn-ea"/>
          <a:cs typeface="+mn-cs"/>
        </a:defRPr>
      </a:lvl9pPr>
    </p:bodyStyle>
    <p:otherStyle>
      <a:defPPr>
        <a:defRPr lang="tr-TR"/>
      </a:defPPr>
      <a:lvl1pPr marL="0" algn="l" defTabSz="457200" rtl="0" eaLnBrk="1" latinLnBrk="0" hangingPunct="1">
        <a:defRPr lang="tr-TR" sz="1800" kern="1200">
          <a:solidFill>
            <a:schemeClr val="tx1"/>
          </a:solidFill>
          <a:latin typeface="+mn-lt"/>
          <a:ea typeface="+mn-ea"/>
          <a:cs typeface="+mn-cs"/>
        </a:defRPr>
      </a:lvl1pPr>
      <a:lvl2pPr marL="457200" algn="l" defTabSz="457200" rtl="0" eaLnBrk="1" latinLnBrk="0" hangingPunct="1">
        <a:defRPr lang="tr-TR" sz="1800" kern="1200">
          <a:solidFill>
            <a:schemeClr val="tx1"/>
          </a:solidFill>
          <a:latin typeface="+mn-lt"/>
          <a:ea typeface="+mn-ea"/>
          <a:cs typeface="+mn-cs"/>
        </a:defRPr>
      </a:lvl2pPr>
      <a:lvl3pPr marL="914400" algn="l" defTabSz="457200" rtl="0" eaLnBrk="1" latinLnBrk="0" hangingPunct="1">
        <a:defRPr lang="tr-TR" sz="1800" kern="1200">
          <a:solidFill>
            <a:schemeClr val="tx1"/>
          </a:solidFill>
          <a:latin typeface="+mn-lt"/>
          <a:ea typeface="+mn-ea"/>
          <a:cs typeface="+mn-cs"/>
        </a:defRPr>
      </a:lvl3pPr>
      <a:lvl4pPr marL="1371600" algn="l" defTabSz="457200" rtl="0" eaLnBrk="1" latinLnBrk="0" hangingPunct="1">
        <a:defRPr lang="tr-TR" sz="1800" kern="1200">
          <a:solidFill>
            <a:schemeClr val="tx1"/>
          </a:solidFill>
          <a:latin typeface="+mn-lt"/>
          <a:ea typeface="+mn-ea"/>
          <a:cs typeface="+mn-cs"/>
        </a:defRPr>
      </a:lvl4pPr>
      <a:lvl5pPr marL="1828800" algn="l" defTabSz="457200" rtl="0" eaLnBrk="1" latinLnBrk="0" hangingPunct="1">
        <a:defRPr lang="tr-TR" sz="1800" kern="1200">
          <a:solidFill>
            <a:schemeClr val="tx1"/>
          </a:solidFill>
          <a:latin typeface="+mn-lt"/>
          <a:ea typeface="+mn-ea"/>
          <a:cs typeface="+mn-cs"/>
        </a:defRPr>
      </a:lvl5pPr>
      <a:lvl6pPr marL="2286000" algn="l" defTabSz="457200" rtl="0" eaLnBrk="1" latinLnBrk="0" hangingPunct="1">
        <a:defRPr lang="tr-TR" sz="1800" kern="1200">
          <a:solidFill>
            <a:schemeClr val="tx1"/>
          </a:solidFill>
          <a:latin typeface="+mn-lt"/>
          <a:ea typeface="+mn-ea"/>
          <a:cs typeface="+mn-cs"/>
        </a:defRPr>
      </a:lvl6pPr>
      <a:lvl7pPr marL="2743200" algn="l" defTabSz="457200" rtl="0" eaLnBrk="1" latinLnBrk="0" hangingPunct="1">
        <a:defRPr lang="tr-TR" sz="1800" kern="1200">
          <a:solidFill>
            <a:schemeClr val="tx1"/>
          </a:solidFill>
          <a:latin typeface="+mn-lt"/>
          <a:ea typeface="+mn-ea"/>
          <a:cs typeface="+mn-cs"/>
        </a:defRPr>
      </a:lvl7pPr>
      <a:lvl8pPr marL="3200400" algn="l" defTabSz="457200" rtl="0" eaLnBrk="1" latinLnBrk="0" hangingPunct="1">
        <a:defRPr lang="tr-TR" sz="1800" kern="1200">
          <a:solidFill>
            <a:schemeClr val="tx1"/>
          </a:solidFill>
          <a:latin typeface="+mn-lt"/>
          <a:ea typeface="+mn-ea"/>
          <a:cs typeface="+mn-cs"/>
        </a:defRPr>
      </a:lvl8pPr>
      <a:lvl9pPr marL="3657600" algn="l" defTabSz="457200" rtl="0" eaLnBrk="1" latinLnBrk="0" hangingPunct="1">
        <a:defRPr lang="tr-T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 Id="rId7" Type="http://schemas.openxmlformats.org/officeDocument/2006/relationships/image" Target="../media/image9.jpg"/><Relationship Id="rId8"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 Id="rId7" Type="http://schemas.openxmlformats.org/officeDocument/2006/relationships/image" Target="../media/image9.jpg"/><Relationship Id="rId8"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6.jpg"/><Relationship Id="rId4" Type="http://schemas.openxmlformats.org/officeDocument/2006/relationships/image" Target="../media/image1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6.jpg"/><Relationship Id="rId4" Type="http://schemas.openxmlformats.org/officeDocument/2006/relationships/image" Target="../media/image17.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1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1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9.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19.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apak_s186-187.jpg"/>
          <p:cNvPicPr>
            <a:picLocks noChangeAspect="1"/>
          </p:cNvPicPr>
          <p:nvPr/>
        </p:nvPicPr>
        <p:blipFill>
          <a:blip r:embed="rId2"/>
          <a:srcRect l="1" r="1"/>
          <a:stretch>
            <a:fillRect/>
          </a:stretch>
        </p:blipFill>
        <p:spPr>
          <a:xfrm>
            <a:off x="0" y="0"/>
            <a:ext cx="12191695" cy="6858000"/>
          </a:xfrm>
          <a:prstGeom prst="rect">
            <a:avLst/>
          </a:prstGeom>
        </p:spPr>
      </p:pic>
      <p:sp>
        <p:nvSpPr>
          <p:cNvPr id="3" name="Rectangle 2"/>
          <p:cNvSpPr/>
          <p:nvPr/>
        </p:nvSpPr>
        <p:spPr>
          <a:xfrm>
            <a:off x="0" y="3886200"/>
            <a:ext cx="12191695" cy="2971800"/>
          </a:xfrm>
          <a:prstGeom prst="rect">
            <a:avLst/>
          </a:prstGeom>
          <a:solidFill>
            <a:srgbClr val="4F4F4F">
              <a:alpha val="86000"/>
            </a:srgbClr>
          </a:solidFill>
          <a:ln>
            <a:noFill/>
          </a:ln>
          <a:effectLst/>
        </p:spPr>
        <p:txBody>
          <a:bodyPr rtlCol="0" anchor="ctr"/>
          <a:lstStyle/>
          <a:p/>
        </p:txBody>
      </p:sp>
      <p:sp>
        <p:nvSpPr>
          <p:cNvPr id="4" name="Rectangle 3"/>
          <p:cNvSpPr/>
          <p:nvPr/>
        </p:nvSpPr>
        <p:spPr>
          <a:xfrm>
            <a:off x="0" y="3886200"/>
            <a:ext cx="12191695" cy="73152"/>
          </a:xfrm>
          <a:prstGeom prst="rect">
            <a:avLst/>
          </a:prstGeom>
          <a:solidFill>
            <a:srgbClr val="FCC021"/>
          </a:solidFill>
          <a:ln>
            <a:noFill/>
          </a:ln>
          <a:effectLst/>
        </p:spPr>
        <p:txBody>
          <a:bodyPr rtlCol="0" anchor="ctr"/>
          <a:lstStyle/>
          <a:p/>
        </p:txBody>
      </p:sp>
      <p:sp>
        <p:nvSpPr>
          <p:cNvPr id="5" name="TextBox 4"/>
          <p:cNvSpPr txBox="1"/>
          <p:nvPr/>
        </p:nvSpPr>
        <p:spPr>
          <a:xfrm>
            <a:off x="685800" y="4069080"/>
            <a:ext cx="10789920" cy="457200"/>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FCC021"/>
                </a:solidFill>
                <a:latin typeface="Calibri"/>
              </a:rPr>
              <a:t>9. SINIF COĞRAFYA · 6. ÜNİTE</a:t>
            </a:r>
          </a:p>
        </p:txBody>
      </p:sp>
      <p:sp>
        <p:nvSpPr>
          <p:cNvPr id="6" name="TextBox 5"/>
          <p:cNvSpPr txBox="1"/>
          <p:nvPr/>
        </p:nvSpPr>
        <p:spPr>
          <a:xfrm>
            <a:off x="685800" y="4498848"/>
            <a:ext cx="10789920" cy="1051560"/>
          </a:xfrm>
          <a:prstGeom prst="rect">
            <a:avLst/>
          </a:prstGeom>
          <a:noFill/>
        </p:spPr>
        <p:txBody>
          <a:bodyPr wrap="square" anchor="ctr" lIns="73152" rIns="73152" tIns="36576" bIns="36576">
            <a:noAutofit/>
          </a:bodyPr>
          <a:lstStyle/>
          <a:p>
            <a:pPr algn="l">
              <a:spcBef>
                <a:spcPts val="0"/>
              </a:spcBef>
              <a:spcAft>
                <a:spcPts val="0"/>
              </a:spcAft>
            </a:pPr>
            <a:r>
              <a:rPr lang="tr-TR" sz="5350" b="1" i="0">
                <a:solidFill>
                  <a:srgbClr val="FFFFFF"/>
                </a:solidFill>
                <a:latin typeface="Calibri"/>
              </a:rPr>
              <a:t>AFETLER VE SÜRDÜRÜLEBİLİR ÇEVRE</a:t>
            </a:r>
          </a:p>
        </p:txBody>
      </p:sp>
      <p:sp>
        <p:nvSpPr>
          <p:cNvPr id="7" name="TextBox 6"/>
          <p:cNvSpPr txBox="1"/>
          <p:nvPr/>
        </p:nvSpPr>
        <p:spPr>
          <a:xfrm>
            <a:off x="685800" y="5577840"/>
            <a:ext cx="8778240" cy="1051560"/>
          </a:xfrm>
          <a:prstGeom prst="rect">
            <a:avLst/>
          </a:prstGeom>
          <a:noFill/>
        </p:spPr>
        <p:txBody>
          <a:bodyPr wrap="square" anchor="t" lIns="73152" rIns="73152" tIns="36576" bIns="36576">
            <a:noAutofit/>
          </a:bodyPr>
          <a:lstStyle/>
          <a:p>
            <a:pPr algn="l">
              <a:spcBef>
                <a:spcPts val="0"/>
              </a:spcBef>
              <a:spcAft>
                <a:spcPts val="200"/>
              </a:spcAft>
            </a:pPr>
            <a:r>
              <a:rPr lang="tr-TR" sz="1800" b="0" i="0">
                <a:solidFill>
                  <a:srgbClr val="FFFFFF"/>
                </a:solidFill>
                <a:latin typeface="Calibri"/>
              </a:rPr>
              <a:t>6.1. Afetler · 30-33. haftalar</a:t>
            </a:r>
          </a:p>
          <a:p>
            <a:pPr algn="l">
              <a:spcBef>
                <a:spcPts val="0"/>
              </a:spcBef>
              <a:spcAft>
                <a:spcPts val="0"/>
              </a:spcAft>
            </a:pPr>
            <a:r>
              <a:rPr lang="tr-TR" sz="1800" b="0" i="0">
                <a:solidFill>
                  <a:srgbClr val="FFFFFF"/>
                </a:solidFill>
                <a:latin typeface="Calibri"/>
              </a:rPr>
              <a:t>2026-2027 Eğitim ve Öğretim Yılı</a:t>
            </a:r>
          </a:p>
        </p:txBody>
      </p:sp>
      <p:sp>
        <p:nvSpPr>
          <p:cNvPr id="8" name="TextBox 7"/>
          <p:cNvSpPr txBox="1"/>
          <p:nvPr/>
        </p:nvSpPr>
        <p:spPr>
          <a:xfrm>
            <a:off x="8229600" y="6446520"/>
            <a:ext cx="3794760" cy="320040"/>
          </a:xfrm>
          <a:prstGeom prst="rect">
            <a:avLst/>
          </a:prstGeom>
          <a:noFill/>
        </p:spPr>
        <p:txBody>
          <a:bodyPr wrap="square" anchor="t" lIns="73152" rIns="73152" tIns="36576" bIns="36576">
            <a:noAutofit/>
          </a:bodyPr>
          <a:lstStyle/>
          <a:p>
            <a:pPr algn="r">
              <a:spcBef>
                <a:spcPts val="0"/>
              </a:spcBef>
              <a:spcAft>
                <a:spcPts val="0"/>
              </a:spcAft>
            </a:pPr>
            <a:r>
              <a:rPr lang="tr-TR" sz="1000" b="0" i="0">
                <a:solidFill>
                  <a:srgbClr val="F0F0F0"/>
                </a:solidFill>
                <a:latin typeface="Calibri"/>
              </a:rPr>
              <a:t>Görsel: 9. Sınıf Coğrafya Ders Kitabı, s. 186-187 (ünite açılışı)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ünitede neler öğreneceğiz?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6. ÜNİTE</a:t>
            </a:r>
          </a:p>
        </p:txBody>
      </p:sp>
      <p:sp>
        <p:nvSpPr>
          <p:cNvPr id="6" name="Rounded Rectangle 5"/>
          <p:cNvSpPr/>
          <p:nvPr/>
        </p:nvSpPr>
        <p:spPr>
          <a:xfrm>
            <a:off x="502920" y="1280160"/>
            <a:ext cx="3576218" cy="4325112"/>
          </a:xfrm>
          <a:prstGeom prst="roundRect">
            <a:avLst>
              <a:gd name="adj" fmla="val 4000"/>
            </a:avLst>
          </a:prstGeom>
          <a:solidFill>
            <a:srgbClr val="F0F0F0"/>
          </a:solidFill>
          <a:ln>
            <a:noFill/>
          </a:ln>
          <a:effectLst/>
        </p:spPr>
        <p:txBody>
          <a:bodyPr rtlCol="0" anchor="ctr"/>
          <a:lstStyle/>
          <a:p/>
        </p:txBody>
      </p:sp>
      <p:sp>
        <p:nvSpPr>
          <p:cNvPr id="7" name="Rounded Rectangle 6"/>
          <p:cNvSpPr/>
          <p:nvPr/>
        </p:nvSpPr>
        <p:spPr>
          <a:xfrm>
            <a:off x="502920" y="1280160"/>
            <a:ext cx="3576218" cy="530352"/>
          </a:xfrm>
          <a:prstGeom prst="roundRect">
            <a:avLst>
              <a:gd name="adj" fmla="val 15000"/>
            </a:avLst>
          </a:prstGeom>
          <a:solidFill>
            <a:srgbClr val="A63A32"/>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30. hafta · s. 188-193</a:t>
            </a:r>
          </a:p>
        </p:txBody>
      </p:sp>
      <p:sp>
        <p:nvSpPr>
          <p:cNvPr id="8" name="TextBox 7"/>
          <p:cNvSpPr txBox="1"/>
          <p:nvPr/>
        </p:nvSpPr>
        <p:spPr>
          <a:xfrm>
            <a:off x="667512" y="1901952"/>
            <a:ext cx="3247034" cy="86868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A63A32"/>
                </a:solidFill>
                <a:latin typeface="Calibri"/>
              </a:rPr>
              <a:t>6.1.1. Tehlike, Risk ve Afet</a:t>
            </a:r>
          </a:p>
        </p:txBody>
      </p:sp>
      <p:sp>
        <p:nvSpPr>
          <p:cNvPr id="9" name="TextBox 8"/>
          <p:cNvSpPr txBox="1"/>
          <p:nvPr/>
        </p:nvSpPr>
        <p:spPr>
          <a:xfrm>
            <a:off x="667512" y="2816352"/>
            <a:ext cx="3247034" cy="1417320"/>
          </a:xfrm>
          <a:prstGeom prst="rect">
            <a:avLst/>
          </a:prstGeom>
          <a:noFill/>
        </p:spPr>
        <p:txBody>
          <a:bodyPr wrap="square" anchor="t" lIns="73152" rIns="73152" tIns="36576" bIns="36576">
            <a:noAutofit/>
          </a:bodyPr>
          <a:lstStyle/>
          <a:p>
            <a:pPr algn="l">
              <a:spcBef>
                <a:spcPts val="0"/>
              </a:spcBef>
              <a:spcAft>
                <a:spcPts val="200"/>
              </a:spcAft>
            </a:pPr>
            <a:r>
              <a:rPr lang="tr-TR" sz="1900" b="1" i="0">
                <a:solidFill>
                  <a:srgbClr val="D3373A"/>
                </a:solidFill>
                <a:latin typeface="Calibri"/>
              </a:rPr>
              <a:t>COĞ.9.6.1</a:t>
            </a:r>
          </a:p>
          <a:p>
            <a:pPr algn="l">
              <a:spcBef>
                <a:spcPts val="0"/>
              </a:spcBef>
              <a:spcAft>
                <a:spcPts val="0"/>
              </a:spcAft>
            </a:pPr>
            <a:r>
              <a:rPr lang="tr-TR" sz="1900" b="0" i="0">
                <a:solidFill>
                  <a:srgbClr val="262626"/>
                </a:solidFill>
                <a:latin typeface="Calibri"/>
              </a:rPr>
              <a:t>Tehlike, risk ve afet kavramlarını çözümleyebilme</a:t>
            </a:r>
          </a:p>
        </p:txBody>
      </p:sp>
      <p:sp>
        <p:nvSpPr>
          <p:cNvPr id="10" name="TextBox 9"/>
          <p:cNvSpPr txBox="1"/>
          <p:nvPr/>
        </p:nvSpPr>
        <p:spPr>
          <a:xfrm>
            <a:off x="667512" y="4297680"/>
            <a:ext cx="3247034" cy="1216152"/>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767676"/>
                </a:solidFill>
                <a:latin typeface="Calibri"/>
              </a:rPr>
              <a:t>Tehlike, ekstrem doğa olayı, risk, maruziyet, afet · 17 Ağustos 1999 depremi</a:t>
            </a:r>
          </a:p>
        </p:txBody>
      </p:sp>
      <p:sp>
        <p:nvSpPr>
          <p:cNvPr id="11" name="Rounded Rectangle 10"/>
          <p:cNvSpPr/>
          <p:nvPr/>
        </p:nvSpPr>
        <p:spPr>
          <a:xfrm>
            <a:off x="4307738" y="1280160"/>
            <a:ext cx="3576218" cy="4325112"/>
          </a:xfrm>
          <a:prstGeom prst="roundRect">
            <a:avLst>
              <a:gd name="adj" fmla="val 4000"/>
            </a:avLst>
          </a:prstGeom>
          <a:solidFill>
            <a:srgbClr val="F0F0F0"/>
          </a:solidFill>
          <a:ln>
            <a:noFill/>
          </a:ln>
          <a:effectLst/>
        </p:spPr>
        <p:txBody>
          <a:bodyPr rtlCol="0" anchor="ctr"/>
          <a:lstStyle/>
          <a:p/>
        </p:txBody>
      </p:sp>
      <p:sp>
        <p:nvSpPr>
          <p:cNvPr id="12" name="Rounded Rectangle 11"/>
          <p:cNvSpPr/>
          <p:nvPr/>
        </p:nvSpPr>
        <p:spPr>
          <a:xfrm>
            <a:off x="4307738" y="1280160"/>
            <a:ext cx="3576218" cy="530352"/>
          </a:xfrm>
          <a:prstGeom prst="roundRect">
            <a:avLst>
              <a:gd name="adj" fmla="val 15000"/>
            </a:avLst>
          </a:prstGeom>
          <a:solidFill>
            <a:srgbClr val="6A4C93"/>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31. hafta · s. 194-201</a:t>
            </a:r>
          </a:p>
        </p:txBody>
      </p:sp>
      <p:sp>
        <p:nvSpPr>
          <p:cNvPr id="13" name="TextBox 12"/>
          <p:cNvSpPr txBox="1"/>
          <p:nvPr/>
        </p:nvSpPr>
        <p:spPr>
          <a:xfrm>
            <a:off x="4472330" y="1901952"/>
            <a:ext cx="3247034" cy="86868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6A4C93"/>
                </a:solidFill>
                <a:latin typeface="Calibri"/>
              </a:rPr>
              <a:t>6.1.2. Afet Türleri</a:t>
            </a:r>
          </a:p>
        </p:txBody>
      </p:sp>
      <p:sp>
        <p:nvSpPr>
          <p:cNvPr id="14" name="TextBox 13"/>
          <p:cNvSpPr txBox="1"/>
          <p:nvPr/>
        </p:nvSpPr>
        <p:spPr>
          <a:xfrm>
            <a:off x="4472330" y="2816352"/>
            <a:ext cx="3247034" cy="1417320"/>
          </a:xfrm>
          <a:prstGeom prst="rect">
            <a:avLst/>
          </a:prstGeom>
          <a:noFill/>
        </p:spPr>
        <p:txBody>
          <a:bodyPr wrap="square" anchor="t" lIns="73152" rIns="73152" tIns="36576" bIns="36576">
            <a:noAutofit/>
          </a:bodyPr>
          <a:lstStyle/>
          <a:p>
            <a:pPr algn="l">
              <a:spcBef>
                <a:spcPts val="0"/>
              </a:spcBef>
              <a:spcAft>
                <a:spcPts val="200"/>
              </a:spcAft>
            </a:pPr>
            <a:r>
              <a:rPr lang="tr-TR" sz="1900" b="1" i="0">
                <a:solidFill>
                  <a:srgbClr val="D3373A"/>
                </a:solidFill>
                <a:latin typeface="Calibri"/>
              </a:rPr>
              <a:t>COĞ.9.6.2</a:t>
            </a:r>
          </a:p>
          <a:p>
            <a:pPr algn="l">
              <a:spcBef>
                <a:spcPts val="0"/>
              </a:spcBef>
              <a:spcAft>
                <a:spcPts val="0"/>
              </a:spcAft>
            </a:pPr>
            <a:r>
              <a:rPr lang="tr-TR" sz="1900" b="0" i="0">
                <a:solidFill>
                  <a:srgbClr val="262626"/>
                </a:solidFill>
                <a:latin typeface="Calibri"/>
              </a:rPr>
              <a:t>Afetleri sınıflandırabilme</a:t>
            </a:r>
          </a:p>
        </p:txBody>
      </p:sp>
      <p:sp>
        <p:nvSpPr>
          <p:cNvPr id="15" name="TextBox 14"/>
          <p:cNvSpPr txBox="1"/>
          <p:nvPr/>
        </p:nvSpPr>
        <p:spPr>
          <a:xfrm>
            <a:off x="4472330" y="4297680"/>
            <a:ext cx="3247034" cy="1216152"/>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767676"/>
                </a:solidFill>
                <a:latin typeface="Calibri"/>
              </a:rPr>
              <a:t>Oluşum kaynağına göre beş afet türü · Türkiye'de yıkıcı afetler ve dağılışları</a:t>
            </a:r>
          </a:p>
        </p:txBody>
      </p:sp>
      <p:sp>
        <p:nvSpPr>
          <p:cNvPr id="16" name="Rounded Rectangle 15"/>
          <p:cNvSpPr/>
          <p:nvPr/>
        </p:nvSpPr>
        <p:spPr>
          <a:xfrm>
            <a:off x="8112556" y="1280160"/>
            <a:ext cx="3576218" cy="4325112"/>
          </a:xfrm>
          <a:prstGeom prst="roundRect">
            <a:avLst>
              <a:gd name="adj" fmla="val 4000"/>
            </a:avLst>
          </a:prstGeom>
          <a:solidFill>
            <a:srgbClr val="F0F0F0"/>
          </a:solidFill>
          <a:ln>
            <a:noFill/>
          </a:ln>
          <a:effectLst/>
        </p:spPr>
        <p:txBody>
          <a:bodyPr rtlCol="0" anchor="ctr"/>
          <a:lstStyle/>
          <a:p/>
        </p:txBody>
      </p:sp>
      <p:sp>
        <p:nvSpPr>
          <p:cNvPr id="17" name="Rounded Rectangle 16"/>
          <p:cNvSpPr/>
          <p:nvPr/>
        </p:nvSpPr>
        <p:spPr>
          <a:xfrm>
            <a:off x="8112556" y="1280160"/>
            <a:ext cx="3576218" cy="530352"/>
          </a:xfrm>
          <a:prstGeom prst="roundRect">
            <a:avLst>
              <a:gd name="adj" fmla="val 15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1700" b="1" i="0">
                <a:solidFill>
                  <a:srgbClr val="FFFFFF"/>
                </a:solidFill>
                <a:latin typeface="Calibri"/>
              </a:rPr>
              <a:t>32-33. hafta · s. 202-209</a:t>
            </a:r>
          </a:p>
        </p:txBody>
      </p:sp>
      <p:sp>
        <p:nvSpPr>
          <p:cNvPr id="18" name="TextBox 17"/>
          <p:cNvSpPr txBox="1"/>
          <p:nvPr/>
        </p:nvSpPr>
        <p:spPr>
          <a:xfrm>
            <a:off x="8277148" y="1901952"/>
            <a:ext cx="3247034" cy="86868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1E7B6E"/>
                </a:solidFill>
                <a:latin typeface="Calibri"/>
              </a:rPr>
              <a:t>6.1.3. Bütüncül Afet Yönetimi</a:t>
            </a:r>
          </a:p>
        </p:txBody>
      </p:sp>
      <p:sp>
        <p:nvSpPr>
          <p:cNvPr id="19" name="TextBox 18"/>
          <p:cNvSpPr txBox="1"/>
          <p:nvPr/>
        </p:nvSpPr>
        <p:spPr>
          <a:xfrm>
            <a:off x="8277148" y="2816352"/>
            <a:ext cx="3247034" cy="1417320"/>
          </a:xfrm>
          <a:prstGeom prst="rect">
            <a:avLst/>
          </a:prstGeom>
          <a:noFill/>
        </p:spPr>
        <p:txBody>
          <a:bodyPr wrap="square" anchor="t" lIns="73152" rIns="73152" tIns="36576" bIns="36576">
            <a:noAutofit/>
          </a:bodyPr>
          <a:lstStyle/>
          <a:p>
            <a:pPr algn="l">
              <a:spcBef>
                <a:spcPts val="0"/>
              </a:spcBef>
              <a:spcAft>
                <a:spcPts val="178"/>
              </a:spcAft>
            </a:pPr>
            <a:r>
              <a:rPr lang="tr-TR" sz="1700" b="1" i="0">
                <a:solidFill>
                  <a:srgbClr val="D3373A"/>
                </a:solidFill>
                <a:latin typeface="Calibri"/>
              </a:rPr>
              <a:t>COĞ.9.6.3</a:t>
            </a:r>
          </a:p>
          <a:p>
            <a:pPr algn="l">
              <a:spcBef>
                <a:spcPts val="0"/>
              </a:spcBef>
              <a:spcAft>
                <a:spcPts val="0"/>
              </a:spcAft>
            </a:pPr>
            <a:r>
              <a:rPr lang="tr-TR" sz="1700" b="0" i="0">
                <a:solidFill>
                  <a:srgbClr val="262626"/>
                </a:solidFill>
                <a:latin typeface="Calibri"/>
              </a:rPr>
              <a:t>Bütüncül afet yönetimi uygulamalarını tablo, grafik, şekil ve/veya diyagramlar aracılığıyla yorumlayabilme</a:t>
            </a:r>
          </a:p>
        </p:txBody>
      </p:sp>
      <p:sp>
        <p:nvSpPr>
          <p:cNvPr id="20" name="TextBox 19"/>
          <p:cNvSpPr txBox="1"/>
          <p:nvPr/>
        </p:nvSpPr>
        <p:spPr>
          <a:xfrm>
            <a:off x="8277148" y="4297680"/>
            <a:ext cx="3247034" cy="1216152"/>
          </a:xfrm>
          <a:prstGeom prst="rect">
            <a:avLst/>
          </a:prstGeom>
          <a:noFill/>
        </p:spPr>
        <p:txBody>
          <a:bodyPr wrap="square" anchor="t" lIns="73152" rIns="73152" tIns="36576" bIns="36576">
            <a:noAutofit/>
          </a:bodyPr>
          <a:lstStyle/>
          <a:p>
            <a:pPr algn="l">
              <a:spcBef>
                <a:spcPts val="0"/>
              </a:spcBef>
              <a:spcAft>
                <a:spcPts val="0"/>
              </a:spcAft>
            </a:pPr>
            <a:r>
              <a:rPr lang="tr-TR" sz="1700" b="0" i="0">
                <a:solidFill>
                  <a:srgbClr val="767676"/>
                </a:solidFill>
                <a:latin typeface="Calibri"/>
              </a:rPr>
              <a:t>Döngünün dört aşaması · istasyon çalışması · deprem senaryosu (performans görevi)</a:t>
            </a:r>
          </a:p>
        </p:txBody>
      </p:sp>
      <p:sp>
        <p:nvSpPr>
          <p:cNvPr id="21" name="TextBox 20"/>
          <p:cNvSpPr txBox="1"/>
          <p:nvPr/>
        </p:nvSpPr>
        <p:spPr>
          <a:xfrm>
            <a:off x="502920" y="5724144"/>
            <a:ext cx="11185855" cy="548640"/>
          </a:xfrm>
          <a:prstGeom prst="rect">
            <a:avLst/>
          </a:prstGeom>
          <a:noFill/>
        </p:spPr>
        <p:txBody>
          <a:bodyPr wrap="square" anchor="t" lIns="73152" rIns="73152" tIns="36576" bIns="36576">
            <a:noAutofit/>
          </a:bodyPr>
          <a:lstStyle/>
          <a:p>
            <a:pPr algn="ctr">
              <a:spcBef>
                <a:spcPts val="0"/>
              </a:spcBef>
              <a:spcAft>
                <a:spcPts val="0"/>
              </a:spcAft>
            </a:pPr>
            <a:r>
              <a:rPr lang="tr-TR" sz="1500" b="0" i="1">
                <a:solidFill>
                  <a:srgbClr val="767676"/>
                </a:solidFill>
                <a:latin typeface="Calibri"/>
              </a:rPr>
              <a:t>Kitap: Bu ünitede tehlike, risk ve afet kavramlarının çözümlenebilmesi; afetlerin sınıflandırılabilmesi, bütüncül afet yönetimi uygulamalarının şekil ve diyagramlar aracılığıyla yorumlanabilmesi amaçlanmaktadır.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186</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 / 250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Ünitede sizden beklenenler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6. ÜNİTE</a:t>
            </a:r>
          </a:p>
        </p:txBody>
      </p:sp>
      <p:sp>
        <p:nvSpPr>
          <p:cNvPr id="6" name="Rounded Rectangle 5"/>
          <p:cNvSpPr/>
          <p:nvPr/>
        </p:nvSpPr>
        <p:spPr>
          <a:xfrm>
            <a:off x="502920" y="1399032"/>
            <a:ext cx="3545738" cy="4480560"/>
          </a:xfrm>
          <a:prstGeom prst="roundRect">
            <a:avLst>
              <a:gd name="adj" fmla="val 6000"/>
            </a:avLst>
          </a:prstGeom>
          <a:solidFill>
            <a:srgbClr val="F0F0F0"/>
          </a:solidFill>
          <a:ln>
            <a:noFill/>
          </a:ln>
          <a:effectLst/>
        </p:spPr>
        <p:txBody>
          <a:bodyPr rtlCol="0" anchor="ctr"/>
          <a:lstStyle/>
          <a:p/>
        </p:txBody>
      </p:sp>
      <p:sp>
        <p:nvSpPr>
          <p:cNvPr id="7" name="Oval 6"/>
          <p:cNvSpPr/>
          <p:nvPr/>
        </p:nvSpPr>
        <p:spPr>
          <a:xfrm>
            <a:off x="1818589"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1</a:t>
            </a:r>
          </a:p>
        </p:txBody>
      </p:sp>
      <p:sp>
        <p:nvSpPr>
          <p:cNvPr id="8" name="TextBox 7"/>
          <p:cNvSpPr txBox="1"/>
          <p:nvPr/>
        </p:nvSpPr>
        <p:spPr>
          <a:xfrm>
            <a:off x="685800" y="2770632"/>
            <a:ext cx="3179978" cy="2240280"/>
          </a:xfrm>
          <a:prstGeom prst="rect">
            <a:avLst/>
          </a:prstGeom>
          <a:noFill/>
        </p:spPr>
        <p:txBody>
          <a:bodyPr wrap="square" anchor="ctr" lIns="73152" rIns="73152" tIns="36576" bIns="36576">
            <a:noAutofit/>
          </a:bodyPr>
          <a:lstStyle/>
          <a:p>
            <a:pPr algn="ctr">
              <a:spcBef>
                <a:spcPts val="0"/>
              </a:spcBef>
              <a:spcAft>
                <a:spcPts val="0"/>
              </a:spcAft>
            </a:pPr>
            <a:r>
              <a:rPr lang="tr-TR" sz="2400" b="0" i="0">
                <a:solidFill>
                  <a:srgbClr val="262626"/>
                </a:solidFill>
                <a:latin typeface="Calibri"/>
              </a:rPr>
              <a:t>Çalışma yapraklarındaki soruları cevaplamanız</a:t>
            </a:r>
          </a:p>
        </p:txBody>
      </p:sp>
      <p:sp>
        <p:nvSpPr>
          <p:cNvPr id="9" name="Rounded Rectangle 8"/>
          <p:cNvSpPr/>
          <p:nvPr/>
        </p:nvSpPr>
        <p:spPr>
          <a:xfrm>
            <a:off x="685800" y="5148071"/>
            <a:ext cx="3179978" cy="502920"/>
          </a:xfrm>
          <a:prstGeom prst="roundRect">
            <a:avLst>
              <a:gd name="adj" fmla="val 50000"/>
            </a:avLst>
          </a:prstGeom>
          <a:solidFill>
            <a:srgbClr val="FFFFFF"/>
          </a:solidFill>
          <a:ln w="12700">
            <a:solidFill>
              <a:srgbClr val="A63A32"/>
            </a:solidFill>
          </a:ln>
          <a:effectLst/>
        </p:spPr>
        <p:txBody>
          <a:bodyPr rtlCol="0" anchor="ctr" wrap="square" lIns="36576" rIns="36576" tIns="73152" bIns="73152">
            <a:noAutofit/>
          </a:bodyPr>
          <a:lstStyle/>
          <a:p>
            <a:pPr algn="ctr">
              <a:spcBef>
                <a:spcPts val="0"/>
              </a:spcBef>
              <a:spcAft>
                <a:spcPts val="0"/>
              </a:spcAft>
            </a:pPr>
            <a:r>
              <a:rPr lang="tr-TR" sz="1350" b="1" i="0">
                <a:solidFill>
                  <a:srgbClr val="A63A32"/>
                </a:solidFill>
                <a:latin typeface="Calibri"/>
              </a:rPr>
              <a:t>her hafta · kitap etkinlikleri ve CK</a:t>
            </a:r>
          </a:p>
        </p:txBody>
      </p:sp>
      <p:sp>
        <p:nvSpPr>
          <p:cNvPr id="10" name="Rounded Rectangle 9"/>
          <p:cNvSpPr/>
          <p:nvPr/>
        </p:nvSpPr>
        <p:spPr>
          <a:xfrm>
            <a:off x="4322978" y="1399032"/>
            <a:ext cx="3545738" cy="4480560"/>
          </a:xfrm>
          <a:prstGeom prst="roundRect">
            <a:avLst>
              <a:gd name="adj" fmla="val 6000"/>
            </a:avLst>
          </a:prstGeom>
          <a:solidFill>
            <a:srgbClr val="F0F0F0"/>
          </a:solidFill>
          <a:ln>
            <a:noFill/>
          </a:ln>
          <a:effectLst/>
        </p:spPr>
        <p:txBody>
          <a:bodyPr rtlCol="0" anchor="ctr"/>
          <a:lstStyle/>
          <a:p/>
        </p:txBody>
      </p:sp>
      <p:sp>
        <p:nvSpPr>
          <p:cNvPr id="11" name="Oval 10"/>
          <p:cNvSpPr/>
          <p:nvPr/>
        </p:nvSpPr>
        <p:spPr>
          <a:xfrm>
            <a:off x="5638647"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2</a:t>
            </a:r>
          </a:p>
        </p:txBody>
      </p:sp>
      <p:sp>
        <p:nvSpPr>
          <p:cNvPr id="12" name="TextBox 11"/>
          <p:cNvSpPr txBox="1"/>
          <p:nvPr/>
        </p:nvSpPr>
        <p:spPr>
          <a:xfrm>
            <a:off x="4505858" y="2770632"/>
            <a:ext cx="3179978" cy="2240280"/>
          </a:xfrm>
          <a:prstGeom prst="rect">
            <a:avLst/>
          </a:prstGeom>
          <a:noFill/>
        </p:spPr>
        <p:txBody>
          <a:bodyPr wrap="square" anchor="ctr" lIns="73152" rIns="73152" tIns="36576" bIns="36576">
            <a:noAutofit/>
          </a:bodyPr>
          <a:lstStyle/>
          <a:p>
            <a:pPr algn="ctr">
              <a:spcBef>
                <a:spcPts val="0"/>
              </a:spcBef>
              <a:spcAft>
                <a:spcPts val="0"/>
              </a:spcAft>
            </a:pPr>
            <a:r>
              <a:rPr lang="tr-TR" sz="2400" b="0" i="0">
                <a:solidFill>
                  <a:srgbClr val="262626"/>
                </a:solidFill>
                <a:latin typeface="Calibri"/>
              </a:rPr>
              <a:t>Üniteyle ilgili performans görevini yaparak öz değerlendirme formunu doldurmanız</a:t>
            </a:r>
          </a:p>
        </p:txBody>
      </p:sp>
      <p:sp>
        <p:nvSpPr>
          <p:cNvPr id="13" name="Rounded Rectangle 12"/>
          <p:cNvSpPr/>
          <p:nvPr/>
        </p:nvSpPr>
        <p:spPr>
          <a:xfrm>
            <a:off x="4505858" y="5148071"/>
            <a:ext cx="3179978" cy="502920"/>
          </a:xfrm>
          <a:prstGeom prst="roundRect">
            <a:avLst>
              <a:gd name="adj" fmla="val 50000"/>
            </a:avLst>
          </a:prstGeom>
          <a:solidFill>
            <a:srgbClr val="FFFFFF"/>
          </a:solidFill>
          <a:ln w="12700">
            <a:solidFill>
              <a:srgbClr val="A63A32"/>
            </a:solidFill>
          </a:ln>
          <a:effectLst/>
        </p:spPr>
        <p:txBody>
          <a:bodyPr rtlCol="0" anchor="ctr" wrap="square" lIns="36576" rIns="36576" tIns="73152" bIns="73152">
            <a:noAutofit/>
          </a:bodyPr>
          <a:lstStyle/>
          <a:p>
            <a:pPr algn="ctr">
              <a:spcBef>
                <a:spcPts val="0"/>
              </a:spcBef>
              <a:spcAft>
                <a:spcPts val="0"/>
              </a:spcAft>
            </a:pPr>
            <a:r>
              <a:rPr lang="tr-TR" sz="1350" b="1" i="0">
                <a:solidFill>
                  <a:srgbClr val="A63A32"/>
                </a:solidFill>
                <a:latin typeface="Calibri"/>
              </a:rPr>
              <a:t>33. hafta · s. 209</a:t>
            </a:r>
          </a:p>
        </p:txBody>
      </p:sp>
      <p:sp>
        <p:nvSpPr>
          <p:cNvPr id="14" name="Rounded Rectangle 13"/>
          <p:cNvSpPr/>
          <p:nvPr/>
        </p:nvSpPr>
        <p:spPr>
          <a:xfrm>
            <a:off x="8143036" y="1399032"/>
            <a:ext cx="3545738" cy="4480560"/>
          </a:xfrm>
          <a:prstGeom prst="roundRect">
            <a:avLst>
              <a:gd name="adj" fmla="val 6000"/>
            </a:avLst>
          </a:prstGeom>
          <a:solidFill>
            <a:srgbClr val="F0F0F0"/>
          </a:solidFill>
          <a:ln>
            <a:noFill/>
          </a:ln>
          <a:effectLst/>
        </p:spPr>
        <p:txBody>
          <a:bodyPr rtlCol="0" anchor="ctr"/>
          <a:lstStyle/>
          <a:p/>
        </p:txBody>
      </p:sp>
      <p:sp>
        <p:nvSpPr>
          <p:cNvPr id="15" name="Oval 14"/>
          <p:cNvSpPr/>
          <p:nvPr/>
        </p:nvSpPr>
        <p:spPr>
          <a:xfrm>
            <a:off x="9458705" y="1673352"/>
            <a:ext cx="914400" cy="91440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3400" b="1" i="0">
                <a:solidFill>
                  <a:srgbClr val="262626"/>
                </a:solidFill>
                <a:latin typeface="Calibri"/>
              </a:rPr>
              <a:t>3</a:t>
            </a:r>
          </a:p>
        </p:txBody>
      </p:sp>
      <p:sp>
        <p:nvSpPr>
          <p:cNvPr id="16" name="TextBox 15"/>
          <p:cNvSpPr txBox="1"/>
          <p:nvPr/>
        </p:nvSpPr>
        <p:spPr>
          <a:xfrm>
            <a:off x="8325916" y="2770632"/>
            <a:ext cx="3179978" cy="2240280"/>
          </a:xfrm>
          <a:prstGeom prst="rect">
            <a:avLst/>
          </a:prstGeom>
          <a:noFill/>
        </p:spPr>
        <p:txBody>
          <a:bodyPr wrap="square" anchor="ctr" lIns="73152" rIns="73152" tIns="36576" bIns="36576">
            <a:noAutofit/>
          </a:bodyPr>
          <a:lstStyle/>
          <a:p>
            <a:pPr algn="ctr">
              <a:spcBef>
                <a:spcPts val="0"/>
              </a:spcBef>
              <a:spcAft>
                <a:spcPts val="0"/>
              </a:spcAft>
            </a:pPr>
            <a:r>
              <a:rPr lang="tr-TR" sz="2400" b="0" i="0">
                <a:solidFill>
                  <a:srgbClr val="262626"/>
                </a:solidFill>
                <a:latin typeface="Calibri"/>
              </a:rPr>
              <a:t>Ölçme ve değerlendirme sorularını cevaplamanız</a:t>
            </a:r>
          </a:p>
        </p:txBody>
      </p:sp>
      <p:sp>
        <p:nvSpPr>
          <p:cNvPr id="17" name="Rounded Rectangle 16"/>
          <p:cNvSpPr/>
          <p:nvPr/>
        </p:nvSpPr>
        <p:spPr>
          <a:xfrm>
            <a:off x="8325916" y="5148071"/>
            <a:ext cx="3179978" cy="502920"/>
          </a:xfrm>
          <a:prstGeom prst="roundRect">
            <a:avLst>
              <a:gd name="adj" fmla="val 50000"/>
            </a:avLst>
          </a:prstGeom>
          <a:solidFill>
            <a:srgbClr val="FFFFFF"/>
          </a:solidFill>
          <a:ln w="12700">
            <a:solidFill>
              <a:srgbClr val="A63A32"/>
            </a:solidFill>
          </a:ln>
          <a:effectLst/>
        </p:spPr>
        <p:txBody>
          <a:bodyPr rtlCol="0" anchor="ctr" wrap="square" lIns="36576" rIns="36576" tIns="73152" bIns="73152">
            <a:noAutofit/>
          </a:bodyPr>
          <a:lstStyle/>
          <a:p>
            <a:pPr algn="ctr">
              <a:spcBef>
                <a:spcPts val="0"/>
              </a:spcBef>
              <a:spcAft>
                <a:spcPts val="0"/>
              </a:spcAft>
            </a:pPr>
            <a:r>
              <a:rPr lang="tr-TR" sz="1350" b="1" i="0">
                <a:solidFill>
                  <a:srgbClr val="A63A32"/>
                </a:solidFill>
                <a:latin typeface="Calibri"/>
              </a:rPr>
              <a:t>33. hafta ve ev · s. 210-213</a:t>
            </a:r>
          </a:p>
        </p:txBody>
      </p:sp>
      <p:sp>
        <p:nvSpPr>
          <p:cNvPr id="18" name="TextBox 17"/>
          <p:cNvSpPr txBox="1"/>
          <p:nvPr/>
        </p:nvSpPr>
        <p:spPr>
          <a:xfrm>
            <a:off x="502920" y="6016752"/>
            <a:ext cx="11185855" cy="365760"/>
          </a:xfrm>
          <a:prstGeom prst="rect">
            <a:avLst/>
          </a:prstGeom>
          <a:noFill/>
        </p:spPr>
        <p:txBody>
          <a:bodyPr wrap="square" anchor="t" lIns="73152" rIns="73152" tIns="36576" bIns="36576">
            <a:noAutofit/>
          </a:bodyPr>
          <a:lstStyle/>
          <a:p>
            <a:pPr algn="r">
              <a:spcBef>
                <a:spcPts val="0"/>
              </a:spcBef>
              <a:spcAft>
                <a:spcPts val="0"/>
              </a:spcAft>
            </a:pPr>
            <a:r>
              <a:rPr lang="tr-TR" sz="1400" b="0" i="0">
                <a:solidFill>
                  <a:srgbClr val="767676"/>
                </a:solidFill>
                <a:latin typeface="Calibri"/>
              </a:rPr>
              <a:t>…beklenmektedir. (Ders kitabı, ünite açılışı)</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186</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 / 250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Anahtar kavramlar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6. ÜNİTE</a:t>
            </a:r>
          </a:p>
        </p:txBody>
      </p:sp>
      <p:sp>
        <p:nvSpPr>
          <p:cNvPr id="6" name="Rounded Rectangle 5"/>
          <p:cNvSpPr/>
          <p:nvPr/>
        </p:nvSpPr>
        <p:spPr>
          <a:xfrm>
            <a:off x="502920" y="1700784"/>
            <a:ext cx="2377440" cy="896112"/>
          </a:xfrm>
          <a:prstGeom prst="roundRect">
            <a:avLst>
              <a:gd name="adj" fmla="val 8000"/>
            </a:avLst>
          </a:prstGeom>
          <a:solidFill>
            <a:srgbClr val="A63A3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Tehlike, risk ve afet</a:t>
            </a:r>
          </a:p>
        </p:txBody>
      </p:sp>
      <p:sp>
        <p:nvSpPr>
          <p:cNvPr id="7" name="Rounded Rectangle 6"/>
          <p:cNvSpPr/>
          <p:nvPr/>
        </p:nvSpPr>
        <p:spPr>
          <a:xfrm>
            <a:off x="3063240" y="1792224"/>
            <a:ext cx="1304360" cy="713232"/>
          </a:xfrm>
          <a:prstGeom prst="roundRect">
            <a:avLst>
              <a:gd name="adj" fmla="val 50000"/>
            </a:avLst>
          </a:prstGeom>
          <a:solidFill>
            <a:srgbClr val="FFFFFF"/>
          </a:solidFill>
          <a:ln w="25400">
            <a:solidFill>
              <a:srgbClr val="A63A32"/>
            </a:solidFill>
          </a:ln>
          <a:effectLst/>
        </p:spPr>
        <p:txBody>
          <a:bodyPr rtlCol="0" anchor="ctr" wrap="square" lIns="73152" rIns="73152" tIns="18288" bIns="18288">
            <a:noAutofit/>
          </a:bodyPr>
          <a:lstStyle/>
          <a:p>
            <a:pPr algn="ctr">
              <a:spcBef>
                <a:spcPts val="0"/>
              </a:spcBef>
              <a:spcAft>
                <a:spcPts val="0"/>
              </a:spcAft>
            </a:pPr>
            <a:r>
              <a:rPr lang="tr-TR" sz="2400" b="0" i="0">
                <a:solidFill>
                  <a:srgbClr val="262626"/>
                </a:solidFill>
                <a:latin typeface="Calibri"/>
              </a:rPr>
              <a:t>tehlike</a:t>
            </a:r>
          </a:p>
        </p:txBody>
      </p:sp>
      <p:sp>
        <p:nvSpPr>
          <p:cNvPr id="8" name="Rounded Rectangle 7"/>
          <p:cNvSpPr/>
          <p:nvPr/>
        </p:nvSpPr>
        <p:spPr>
          <a:xfrm>
            <a:off x="4532192" y="1792224"/>
            <a:ext cx="2873202" cy="713232"/>
          </a:xfrm>
          <a:prstGeom prst="roundRect">
            <a:avLst>
              <a:gd name="adj" fmla="val 50000"/>
            </a:avLst>
          </a:prstGeom>
          <a:solidFill>
            <a:srgbClr val="FFFFFF"/>
          </a:solidFill>
          <a:ln w="25400">
            <a:solidFill>
              <a:srgbClr val="A63A32"/>
            </a:solidFill>
          </a:ln>
          <a:effectLst/>
        </p:spPr>
        <p:txBody>
          <a:bodyPr rtlCol="0" anchor="ctr" wrap="square" lIns="73152" rIns="73152" tIns="18288" bIns="18288">
            <a:noAutofit/>
          </a:bodyPr>
          <a:lstStyle/>
          <a:p>
            <a:pPr algn="ctr">
              <a:spcBef>
                <a:spcPts val="0"/>
              </a:spcBef>
              <a:spcAft>
                <a:spcPts val="0"/>
              </a:spcAft>
            </a:pPr>
            <a:r>
              <a:rPr lang="tr-TR" sz="2400" b="0" i="0">
                <a:solidFill>
                  <a:srgbClr val="262626"/>
                </a:solidFill>
                <a:latin typeface="Calibri"/>
              </a:rPr>
              <a:t>ekstrem doğa olayı</a:t>
            </a:r>
          </a:p>
        </p:txBody>
      </p:sp>
      <p:sp>
        <p:nvSpPr>
          <p:cNvPr id="9" name="Rounded Rectangle 8"/>
          <p:cNvSpPr/>
          <p:nvPr/>
        </p:nvSpPr>
        <p:spPr>
          <a:xfrm>
            <a:off x="7569986" y="1792224"/>
            <a:ext cx="887319" cy="713232"/>
          </a:xfrm>
          <a:prstGeom prst="roundRect">
            <a:avLst>
              <a:gd name="adj" fmla="val 50000"/>
            </a:avLst>
          </a:prstGeom>
          <a:solidFill>
            <a:srgbClr val="FFFFFF"/>
          </a:solidFill>
          <a:ln w="25400">
            <a:solidFill>
              <a:srgbClr val="A63A32"/>
            </a:solidFill>
          </a:ln>
          <a:effectLst/>
        </p:spPr>
        <p:txBody>
          <a:bodyPr rtlCol="0" anchor="ctr" wrap="square" lIns="73152" rIns="73152" tIns="18288" bIns="18288">
            <a:noAutofit/>
          </a:bodyPr>
          <a:lstStyle/>
          <a:p>
            <a:pPr algn="ctr">
              <a:spcBef>
                <a:spcPts val="0"/>
              </a:spcBef>
              <a:spcAft>
                <a:spcPts val="0"/>
              </a:spcAft>
            </a:pPr>
            <a:r>
              <a:rPr lang="tr-TR" sz="2400" b="0" i="0">
                <a:solidFill>
                  <a:srgbClr val="262626"/>
                </a:solidFill>
                <a:latin typeface="Calibri"/>
              </a:rPr>
              <a:t>risk</a:t>
            </a:r>
          </a:p>
        </p:txBody>
      </p:sp>
      <p:sp>
        <p:nvSpPr>
          <p:cNvPr id="10" name="Rounded Rectangle 9"/>
          <p:cNvSpPr/>
          <p:nvPr/>
        </p:nvSpPr>
        <p:spPr>
          <a:xfrm>
            <a:off x="8621897" y="1792224"/>
            <a:ext cx="1726453" cy="713232"/>
          </a:xfrm>
          <a:prstGeom prst="roundRect">
            <a:avLst>
              <a:gd name="adj" fmla="val 50000"/>
            </a:avLst>
          </a:prstGeom>
          <a:solidFill>
            <a:srgbClr val="FFFFFF"/>
          </a:solidFill>
          <a:ln w="25400">
            <a:solidFill>
              <a:srgbClr val="A63A32"/>
            </a:solidFill>
          </a:ln>
          <a:effectLst/>
        </p:spPr>
        <p:txBody>
          <a:bodyPr rtlCol="0" anchor="ctr" wrap="square" lIns="73152" rIns="73152" tIns="18288" bIns="18288">
            <a:noAutofit/>
          </a:bodyPr>
          <a:lstStyle/>
          <a:p>
            <a:pPr algn="ctr">
              <a:spcBef>
                <a:spcPts val="0"/>
              </a:spcBef>
              <a:spcAft>
                <a:spcPts val="0"/>
              </a:spcAft>
            </a:pPr>
            <a:r>
              <a:rPr lang="tr-TR" sz="2400" b="0" i="0">
                <a:solidFill>
                  <a:srgbClr val="262626"/>
                </a:solidFill>
                <a:latin typeface="Calibri"/>
              </a:rPr>
              <a:t>maruziyet</a:t>
            </a:r>
          </a:p>
        </p:txBody>
      </p:sp>
      <p:sp>
        <p:nvSpPr>
          <p:cNvPr id="11" name="Rounded Rectangle 10"/>
          <p:cNvSpPr/>
          <p:nvPr/>
        </p:nvSpPr>
        <p:spPr>
          <a:xfrm>
            <a:off x="10512942" y="1792224"/>
            <a:ext cx="937604" cy="713232"/>
          </a:xfrm>
          <a:prstGeom prst="roundRect">
            <a:avLst>
              <a:gd name="adj" fmla="val 50000"/>
            </a:avLst>
          </a:prstGeom>
          <a:solidFill>
            <a:srgbClr val="FFFFFF"/>
          </a:solidFill>
          <a:ln w="25400">
            <a:solidFill>
              <a:srgbClr val="A63A32"/>
            </a:solidFill>
          </a:ln>
          <a:effectLst/>
        </p:spPr>
        <p:txBody>
          <a:bodyPr rtlCol="0" anchor="ctr" wrap="square" lIns="73152" rIns="73152" tIns="18288" bIns="18288">
            <a:noAutofit/>
          </a:bodyPr>
          <a:lstStyle/>
          <a:p>
            <a:pPr algn="ctr">
              <a:spcBef>
                <a:spcPts val="0"/>
              </a:spcBef>
              <a:spcAft>
                <a:spcPts val="0"/>
              </a:spcAft>
            </a:pPr>
            <a:r>
              <a:rPr lang="tr-TR" sz="2400" b="0" i="0">
                <a:solidFill>
                  <a:srgbClr val="262626"/>
                </a:solidFill>
                <a:latin typeface="Calibri"/>
              </a:rPr>
              <a:t>afet</a:t>
            </a:r>
          </a:p>
        </p:txBody>
      </p:sp>
      <p:sp>
        <p:nvSpPr>
          <p:cNvPr id="12" name="Rounded Rectangle 11"/>
          <p:cNvSpPr/>
          <p:nvPr/>
        </p:nvSpPr>
        <p:spPr>
          <a:xfrm>
            <a:off x="502920" y="3282696"/>
            <a:ext cx="2377440" cy="896112"/>
          </a:xfrm>
          <a:prstGeom prst="roundRect">
            <a:avLst>
              <a:gd name="adj" fmla="val 8000"/>
            </a:avLst>
          </a:prstGeom>
          <a:solidFill>
            <a:srgbClr val="1E7B6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Afet yönetimi</a:t>
            </a:r>
          </a:p>
        </p:txBody>
      </p:sp>
      <p:sp>
        <p:nvSpPr>
          <p:cNvPr id="13" name="Rounded Rectangle 12"/>
          <p:cNvSpPr/>
          <p:nvPr/>
        </p:nvSpPr>
        <p:spPr>
          <a:xfrm>
            <a:off x="3063240" y="3374136"/>
            <a:ext cx="3383607" cy="713232"/>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2400" b="0" i="0">
                <a:solidFill>
                  <a:srgbClr val="262626"/>
                </a:solidFill>
                <a:latin typeface="Calibri"/>
              </a:rPr>
              <a:t>bütüncül afet yönetimi</a:t>
            </a:r>
          </a:p>
        </p:txBody>
      </p:sp>
      <p:sp>
        <p:nvSpPr>
          <p:cNvPr id="14" name="Rounded Rectangle 13"/>
          <p:cNvSpPr/>
          <p:nvPr/>
        </p:nvSpPr>
        <p:spPr>
          <a:xfrm>
            <a:off x="6611439" y="3374136"/>
            <a:ext cx="2869699" cy="713232"/>
          </a:xfrm>
          <a:prstGeom prst="roundRect">
            <a:avLst>
              <a:gd name="adj" fmla="val 50000"/>
            </a:avLst>
          </a:prstGeom>
          <a:solidFill>
            <a:srgbClr val="FFFFFF"/>
          </a:solidFill>
          <a:ln w="25400">
            <a:solidFill>
              <a:srgbClr val="1E7B6E"/>
            </a:solidFill>
          </a:ln>
          <a:effectLst/>
        </p:spPr>
        <p:txBody>
          <a:bodyPr rtlCol="0" anchor="ctr" wrap="square" lIns="73152" rIns="73152" tIns="18288" bIns="18288">
            <a:noAutofit/>
          </a:bodyPr>
          <a:lstStyle/>
          <a:p>
            <a:pPr algn="ctr">
              <a:spcBef>
                <a:spcPts val="0"/>
              </a:spcBef>
              <a:spcAft>
                <a:spcPts val="0"/>
              </a:spcAft>
            </a:pPr>
            <a:r>
              <a:rPr lang="tr-TR" sz="2400" b="0" i="0">
                <a:solidFill>
                  <a:srgbClr val="262626"/>
                </a:solidFill>
                <a:latin typeface="Calibri"/>
              </a:rPr>
              <a:t>erken uyarı sistemi</a:t>
            </a:r>
          </a:p>
        </p:txBody>
      </p:sp>
      <p:sp>
        <p:nvSpPr>
          <p:cNvPr id="15" name="Rounded Rectangle 14"/>
          <p:cNvSpPr/>
          <p:nvPr/>
        </p:nvSpPr>
        <p:spPr>
          <a:xfrm>
            <a:off x="502920" y="4864608"/>
            <a:ext cx="2377440" cy="896112"/>
          </a:xfrm>
          <a:prstGeom prst="roundRect">
            <a:avLst>
              <a:gd name="adj" fmla="val 8000"/>
            </a:avLst>
          </a:prstGeom>
          <a:solidFill>
            <a:srgbClr val="4E8A2E"/>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Dayanışma ve çevre</a:t>
            </a:r>
          </a:p>
        </p:txBody>
      </p:sp>
      <p:sp>
        <p:nvSpPr>
          <p:cNvPr id="16" name="Rounded Rectangle 15"/>
          <p:cNvSpPr/>
          <p:nvPr/>
        </p:nvSpPr>
        <p:spPr>
          <a:xfrm>
            <a:off x="3063240" y="4956048"/>
            <a:ext cx="1807810" cy="713232"/>
          </a:xfrm>
          <a:prstGeom prst="roundRect">
            <a:avLst>
              <a:gd name="adj" fmla="val 50000"/>
            </a:avLst>
          </a:prstGeom>
          <a:solidFill>
            <a:srgbClr val="FFFFFF"/>
          </a:solidFill>
          <a:ln w="25400">
            <a:solidFill>
              <a:srgbClr val="4E8A2E"/>
            </a:solidFill>
          </a:ln>
          <a:effectLst/>
        </p:spPr>
        <p:txBody>
          <a:bodyPr rtlCol="0" anchor="ctr" wrap="square" lIns="73152" rIns="73152" tIns="18288" bIns="18288">
            <a:noAutofit/>
          </a:bodyPr>
          <a:lstStyle/>
          <a:p>
            <a:pPr algn="ctr">
              <a:spcBef>
                <a:spcPts val="0"/>
              </a:spcBef>
              <a:spcAft>
                <a:spcPts val="0"/>
              </a:spcAft>
            </a:pPr>
            <a:r>
              <a:rPr lang="tr-TR" sz="2400" b="0" i="0">
                <a:solidFill>
                  <a:srgbClr val="262626"/>
                </a:solidFill>
                <a:latin typeface="Calibri"/>
              </a:rPr>
              <a:t>Yeşil Vatan</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187</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 / 250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63A32"/>
          </a:solidFill>
          <a:ln>
            <a:noFill/>
          </a:ln>
          <a:effectLst/>
        </p:spPr>
        <p:txBody>
          <a:bodyPr rtlCol="0" anchor="ctr"/>
          <a:lstStyle/>
          <a:p/>
        </p:txBody>
      </p:sp>
      <p:sp>
        <p:nvSpPr>
          <p:cNvPr id="3" name="Rectangle 2"/>
          <p:cNvSpPr/>
          <p:nvPr/>
        </p:nvSpPr>
        <p:spPr>
          <a:xfrm>
            <a:off x="0" y="6199632"/>
            <a:ext cx="12191695" cy="73152"/>
          </a:xfrm>
          <a:prstGeom prst="rect">
            <a:avLst/>
          </a:prstGeom>
          <a:solidFill>
            <a:srgbClr val="FCC021"/>
          </a:solidFill>
          <a:ln>
            <a:noFill/>
          </a:ln>
          <a:effectLst/>
        </p:spPr>
        <p:txBody>
          <a:bodyPr rtlCol="0" anchor="ctr"/>
          <a:lstStyle/>
          <a:p/>
        </p:txBody>
      </p:sp>
      <p:sp>
        <p:nvSpPr>
          <p:cNvPr id="4" name="TextBox 3"/>
          <p:cNvSpPr txBox="1"/>
          <p:nvPr/>
        </p:nvSpPr>
        <p:spPr>
          <a:xfrm>
            <a:off x="548640" y="320040"/>
            <a:ext cx="2377440" cy="502920"/>
          </a:xfrm>
          <a:prstGeom prst="rect">
            <a:avLst/>
          </a:prstGeom>
          <a:noFill/>
        </p:spPr>
        <p:txBody>
          <a:bodyPr wrap="square" anchor="t" lIns="73152" rIns="73152" tIns="36576" bIns="36576">
            <a:noAutofit/>
          </a:bodyPr>
          <a:lstStyle/>
          <a:p>
            <a:pPr algn="l">
              <a:spcBef>
                <a:spcPts val="0"/>
              </a:spcBef>
              <a:spcAft>
                <a:spcPts val="0"/>
              </a:spcAft>
            </a:pPr>
            <a:r>
              <a:rPr lang="tr-TR" sz="2400" b="1" i="0">
                <a:solidFill>
                  <a:srgbClr val="FCC021"/>
                </a:solidFill>
                <a:latin typeface="Calibri"/>
              </a:rPr>
              <a:t>30. HAFTA</a:t>
            </a:r>
          </a:p>
        </p:txBody>
      </p:sp>
      <p:sp>
        <p:nvSpPr>
          <p:cNvPr id="5" name="TextBox 4"/>
          <p:cNvSpPr txBox="1"/>
          <p:nvPr/>
        </p:nvSpPr>
        <p:spPr>
          <a:xfrm>
            <a:off x="411480" y="731520"/>
            <a:ext cx="2377440" cy="2514600"/>
          </a:xfrm>
          <a:prstGeom prst="rect">
            <a:avLst/>
          </a:prstGeom>
          <a:noFill/>
        </p:spPr>
        <p:txBody>
          <a:bodyPr wrap="square" anchor="t" lIns="73152" rIns="73152" tIns="0" bIns="0">
            <a:noAutofit/>
          </a:bodyPr>
          <a:lstStyle/>
          <a:p>
            <a:pPr algn="l">
              <a:spcBef>
                <a:spcPts val="0"/>
              </a:spcBef>
              <a:spcAft>
                <a:spcPts val="0"/>
              </a:spcAft>
            </a:pPr>
            <a:r>
              <a:rPr lang="tr-TR" sz="16000" b="1" i="0">
                <a:solidFill>
                  <a:srgbClr val="FCC021"/>
                </a:solidFill>
                <a:latin typeface="Calibri"/>
              </a:rPr>
              <a:t>30</a:t>
            </a:r>
          </a:p>
        </p:txBody>
      </p:sp>
      <p:sp>
        <p:nvSpPr>
          <p:cNvPr id="6" name="TextBox 5"/>
          <p:cNvSpPr txBox="1"/>
          <p:nvPr/>
        </p:nvSpPr>
        <p:spPr>
          <a:xfrm>
            <a:off x="2834640" y="411480"/>
            <a:ext cx="8869680" cy="1051560"/>
          </a:xfrm>
          <a:prstGeom prst="rect">
            <a:avLst/>
          </a:prstGeom>
          <a:noFill/>
        </p:spPr>
        <p:txBody>
          <a:bodyPr wrap="square" anchor="ctr" lIns="73152" rIns="73152" tIns="36576" bIns="36576">
            <a:noAutofit/>
          </a:bodyPr>
          <a:lstStyle/>
          <a:p>
            <a:pPr algn="l">
              <a:spcBef>
                <a:spcPts val="0"/>
              </a:spcBef>
              <a:spcAft>
                <a:spcPts val="0"/>
              </a:spcAft>
            </a:pPr>
            <a:r>
              <a:rPr lang="tr-TR" sz="4000" b="1" i="0">
                <a:solidFill>
                  <a:srgbClr val="FFFFFF"/>
                </a:solidFill>
                <a:latin typeface="Calibri"/>
              </a:rPr>
              <a:t>Tehlike, Risk ve Afet</a:t>
            </a:r>
          </a:p>
        </p:txBody>
      </p:sp>
      <p:sp>
        <p:nvSpPr>
          <p:cNvPr id="7" name="TextBox 6"/>
          <p:cNvSpPr txBox="1"/>
          <p:nvPr/>
        </p:nvSpPr>
        <p:spPr>
          <a:xfrm>
            <a:off x="2834640" y="1481328"/>
            <a:ext cx="8869680" cy="411480"/>
          </a:xfrm>
          <a:prstGeom prst="rect">
            <a:avLst/>
          </a:prstGeom>
          <a:noFill/>
        </p:spPr>
        <p:txBody>
          <a:bodyPr wrap="square" anchor="t" lIns="73152" rIns="73152" tIns="36576" bIns="36576">
            <a:noAutofit/>
          </a:bodyPr>
          <a:lstStyle/>
          <a:p>
            <a:pPr algn="l">
              <a:spcBef>
                <a:spcPts val="0"/>
              </a:spcBef>
              <a:spcAft>
                <a:spcPts val="0"/>
              </a:spcAft>
            </a:pPr>
            <a:r>
              <a:rPr lang="tr-TR" sz="1800" b="0" i="0">
                <a:solidFill>
                  <a:srgbClr val="E3ECF5"/>
                </a:solidFill>
                <a:latin typeface="Calibri"/>
              </a:rPr>
              <a:t>3-7 Mayıs 2027 · 2 ders saati · Kitap s. 188-193</a:t>
            </a:r>
          </a:p>
        </p:txBody>
      </p:sp>
      <p:sp>
        <p:nvSpPr>
          <p:cNvPr id="8" name="Rounded Rectangle 7"/>
          <p:cNvSpPr/>
          <p:nvPr/>
        </p:nvSpPr>
        <p:spPr>
          <a:xfrm>
            <a:off x="2834640" y="2011680"/>
            <a:ext cx="8869680" cy="4023360"/>
          </a:xfrm>
          <a:prstGeom prst="roundRect">
            <a:avLst>
              <a:gd name="adj" fmla="val 5000"/>
            </a:avLst>
          </a:prstGeom>
          <a:solidFill>
            <a:srgbClr val="FFFFFF">
              <a:alpha val="12000"/>
            </a:srgbClr>
          </a:solidFill>
          <a:ln>
            <a:noFill/>
          </a:ln>
          <a:effectLst/>
        </p:spPr>
        <p:txBody>
          <a:bodyPr rtlCol="0" anchor="ctr"/>
          <a:lstStyle/>
          <a:p/>
        </p:txBody>
      </p:sp>
      <p:sp>
        <p:nvSpPr>
          <p:cNvPr id="9" name="TextBox 8"/>
          <p:cNvSpPr txBox="1"/>
          <p:nvPr/>
        </p:nvSpPr>
        <p:spPr>
          <a:xfrm>
            <a:off x="3063240" y="2148840"/>
            <a:ext cx="8412480" cy="365760"/>
          </a:xfrm>
          <a:prstGeom prst="rect">
            <a:avLst/>
          </a:prstGeom>
          <a:noFill/>
        </p:spPr>
        <p:txBody>
          <a:bodyPr wrap="square" anchor="t" lIns="73152" rIns="73152" tIns="36576" bIns="36576">
            <a:noAutofit/>
          </a:bodyPr>
          <a:lstStyle/>
          <a:p>
            <a:pPr algn="l">
              <a:spcBef>
                <a:spcPts val="0"/>
              </a:spcBef>
              <a:spcAft>
                <a:spcPts val="0"/>
              </a:spcAft>
            </a:pPr>
            <a:r>
              <a:rPr lang="tr-TR" sz="1600" b="1" i="0">
                <a:solidFill>
                  <a:srgbClr val="FCC021"/>
                </a:solidFill>
                <a:latin typeface="Calibri"/>
              </a:rPr>
              <a:t>ÖĞRENME ÇIKTISI · COĞ.9.6.1</a:t>
            </a:r>
          </a:p>
        </p:txBody>
      </p:sp>
      <p:sp>
        <p:nvSpPr>
          <p:cNvPr id="10" name="TextBox 9"/>
          <p:cNvSpPr txBox="1"/>
          <p:nvPr/>
        </p:nvSpPr>
        <p:spPr>
          <a:xfrm>
            <a:off x="3063240" y="2532888"/>
            <a:ext cx="8412480" cy="485902"/>
          </a:xfrm>
          <a:prstGeom prst="rect">
            <a:avLst/>
          </a:prstGeom>
          <a:noFill/>
        </p:spPr>
        <p:txBody>
          <a:bodyPr wrap="square" anchor="t" lIns="73152" rIns="73152" tIns="36576" bIns="36576">
            <a:noAutofit/>
          </a:bodyPr>
          <a:lstStyle/>
          <a:p>
            <a:pPr algn="l">
              <a:spcBef>
                <a:spcPts val="0"/>
              </a:spcBef>
              <a:spcAft>
                <a:spcPts val="0"/>
              </a:spcAft>
            </a:pPr>
            <a:r>
              <a:rPr lang="tr-TR" sz="2500" b="1" i="0">
                <a:solidFill>
                  <a:srgbClr val="FFFFFF"/>
                </a:solidFill>
                <a:latin typeface="Calibri"/>
              </a:rPr>
              <a:t>Tehlike, risk ve afet kavramlarını çözümleyebilme</a:t>
            </a:r>
          </a:p>
        </p:txBody>
      </p:sp>
      <p:sp>
        <p:nvSpPr>
          <p:cNvPr id="11" name="TextBox 10"/>
          <p:cNvSpPr txBox="1"/>
          <p:nvPr/>
        </p:nvSpPr>
        <p:spPr>
          <a:xfrm>
            <a:off x="3063240" y="3128518"/>
            <a:ext cx="8412480" cy="347472"/>
          </a:xfrm>
          <a:prstGeom prst="rect">
            <a:avLst/>
          </a:prstGeom>
          <a:noFill/>
        </p:spPr>
        <p:txBody>
          <a:bodyPr wrap="square" anchor="t" lIns="73152" rIns="73152" tIns="36576" bIns="36576">
            <a:noAutofit/>
          </a:bodyPr>
          <a:lstStyle/>
          <a:p>
            <a:pPr algn="l">
              <a:spcBef>
                <a:spcPts val="0"/>
              </a:spcBef>
              <a:spcAft>
                <a:spcPts val="0"/>
              </a:spcAft>
            </a:pPr>
            <a:r>
              <a:rPr lang="tr-TR" sz="1500" b="1" i="0">
                <a:solidFill>
                  <a:srgbClr val="FCC021"/>
                </a:solidFill>
                <a:latin typeface="Calibri"/>
              </a:rPr>
              <a:t>Süreç bileşenleri</a:t>
            </a:r>
          </a:p>
        </p:txBody>
      </p:sp>
      <p:sp>
        <p:nvSpPr>
          <p:cNvPr id="12" name="TextBox 11"/>
          <p:cNvSpPr txBox="1"/>
          <p:nvPr/>
        </p:nvSpPr>
        <p:spPr>
          <a:xfrm>
            <a:off x="3063240" y="3494278"/>
            <a:ext cx="8412480" cy="2431034"/>
          </a:xfrm>
          <a:prstGeom prst="rect">
            <a:avLst/>
          </a:prstGeom>
          <a:noFill/>
        </p:spPr>
        <p:txBody>
          <a:bodyPr wrap="square" anchor="t" lIns="73152" rIns="73152" tIns="36576" bIns="36576">
            <a:noAutofit/>
          </a:bodyPr>
          <a:lstStyle/>
          <a:p>
            <a:pPr algn="l" marL="328946" indent="-328946">
              <a:spcBef>
                <a:spcPts val="0"/>
              </a:spcBef>
              <a:spcAft>
                <a:spcPts val="500"/>
              </a:spcAft>
            </a:pPr>
            <a:r>
              <a:rPr lang="tr-TR" sz="2000" b="1" i="0">
                <a:solidFill>
                  <a:srgbClr val="FCC021"/>
                </a:solidFill>
                <a:latin typeface="Calibri"/>
              </a:rPr>
              <a:t>a)  </a:t>
            </a:r>
            <a:r>
              <a:rPr lang="tr-TR" sz="2000" b="0" i="0">
                <a:solidFill>
                  <a:srgbClr val="FFFFFF"/>
                </a:solidFill>
                <a:latin typeface="Calibri"/>
              </a:rPr>
              <a:t>Tehlike, risk ve afet kavramlarının özelliklerini belirler.</a:t>
            </a:r>
          </a:p>
          <a:p>
            <a:pPr algn="l" marL="340187" indent="-340187">
              <a:spcBef>
                <a:spcPts val="0"/>
              </a:spcBef>
              <a:spcAft>
                <a:spcPts val="0"/>
              </a:spcAft>
            </a:pPr>
            <a:r>
              <a:rPr lang="tr-TR" sz="2000" b="1" i="0">
                <a:solidFill>
                  <a:srgbClr val="FCC021"/>
                </a:solidFill>
                <a:latin typeface="Calibri"/>
              </a:rPr>
              <a:t>b)  </a:t>
            </a:r>
            <a:r>
              <a:rPr lang="tr-TR" sz="2000" b="0" i="0">
                <a:solidFill>
                  <a:srgbClr val="FFFFFF"/>
                </a:solidFill>
                <a:latin typeface="Calibri"/>
              </a:rPr>
              <a:t>Tehlike, risk ve afet kavramları arasındaki ilişkileri belirler.</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F0F0F0"/>
                </a:solidFill>
                <a:latin typeface="Calibri"/>
              </a:rPr>
              <a:t>9. Sınıf Coğrafya · 6. Ünite: Afetler ve Sürdürülebilir Çevre</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F0F0F0"/>
                </a:solidFill>
                <a:latin typeface="Calibri"/>
              </a:rPr>
              <a:t>5 / 250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Bugün neler yapacağız?</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30. HAFTA</a:t>
            </a:r>
          </a:p>
        </p:txBody>
      </p:sp>
      <p:cxnSp>
        <p:nvCxnSpPr>
          <p:cNvPr id="6" name="Connector 5"/>
          <p:cNvCxnSpPr/>
          <p:nvPr/>
        </p:nvCxnSpPr>
        <p:spPr>
          <a:xfrm>
            <a:off x="1351254" y="2212848"/>
            <a:ext cx="9489185" cy="0"/>
          </a:xfrm>
          <a:prstGeom prst="line">
            <a:avLst/>
          </a:prstGeom>
          <a:ln w="50800">
            <a:solidFill>
              <a:srgbClr val="D9D9D9"/>
            </a:solidFill>
          </a:ln>
        </p:spPr>
      </p:cxnSp>
      <p:sp>
        <p:nvSpPr>
          <p:cNvPr id="7" name="Oval 6"/>
          <p:cNvSpPr/>
          <p:nvPr/>
        </p:nvSpPr>
        <p:spPr>
          <a:xfrm>
            <a:off x="967206" y="1828800"/>
            <a:ext cx="768096" cy="768096"/>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1</a:t>
            </a:r>
          </a:p>
        </p:txBody>
      </p:sp>
      <p:sp>
        <p:nvSpPr>
          <p:cNvPr id="8" name="Rounded Rectangle 7"/>
          <p:cNvSpPr/>
          <p:nvPr/>
        </p:nvSpPr>
        <p:spPr>
          <a:xfrm>
            <a:off x="502920"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Nereden başlıyoruz?</a:t>
            </a:r>
          </a:p>
        </p:txBody>
      </p:sp>
      <p:sp>
        <p:nvSpPr>
          <p:cNvPr id="9" name="TextBox 8"/>
          <p:cNvSpPr txBox="1"/>
          <p:nvPr/>
        </p:nvSpPr>
        <p:spPr>
          <a:xfrm>
            <a:off x="502920"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Afetlerden korunmak: üç görsel</a:t>
            </a:r>
          </a:p>
        </p:txBody>
      </p:sp>
      <p:sp>
        <p:nvSpPr>
          <p:cNvPr id="10" name="Oval 9"/>
          <p:cNvSpPr/>
          <p:nvPr/>
        </p:nvSpPr>
        <p:spPr>
          <a:xfrm>
            <a:off x="2865043"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2</a:t>
            </a:r>
          </a:p>
        </p:txBody>
      </p:sp>
      <p:sp>
        <p:nvSpPr>
          <p:cNvPr id="11" name="Rounded Rectangle 10"/>
          <p:cNvSpPr/>
          <p:nvPr/>
        </p:nvSpPr>
        <p:spPr>
          <a:xfrm>
            <a:off x="2400757"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Dünyadan afetler</a:t>
            </a:r>
          </a:p>
        </p:txBody>
      </p:sp>
      <p:sp>
        <p:nvSpPr>
          <p:cNvPr id="12" name="TextBox 11"/>
          <p:cNvSpPr txBox="1"/>
          <p:nvPr/>
        </p:nvSpPr>
        <p:spPr>
          <a:xfrm>
            <a:off x="2400757"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Altı olay, altı görsel</a:t>
            </a:r>
          </a:p>
        </p:txBody>
      </p:sp>
      <p:sp>
        <p:nvSpPr>
          <p:cNvPr id="13" name="Oval 12"/>
          <p:cNvSpPr/>
          <p:nvPr/>
        </p:nvSpPr>
        <p:spPr>
          <a:xfrm>
            <a:off x="4762880" y="1828800"/>
            <a:ext cx="768096" cy="768096"/>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3</a:t>
            </a:r>
          </a:p>
        </p:txBody>
      </p:sp>
      <p:sp>
        <p:nvSpPr>
          <p:cNvPr id="14" name="Rounded Rectangle 13"/>
          <p:cNvSpPr/>
          <p:nvPr/>
        </p:nvSpPr>
        <p:spPr>
          <a:xfrm>
            <a:off x="4298594"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Kavramlar</a:t>
            </a:r>
          </a:p>
        </p:txBody>
      </p:sp>
      <p:sp>
        <p:nvSpPr>
          <p:cNvPr id="15" name="TextBox 14"/>
          <p:cNvSpPr txBox="1"/>
          <p:nvPr/>
        </p:nvSpPr>
        <p:spPr>
          <a:xfrm>
            <a:off x="4298594"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Tehlike, risk, maruziyet, afet</a:t>
            </a:r>
          </a:p>
        </p:txBody>
      </p:sp>
      <p:sp>
        <p:nvSpPr>
          <p:cNvPr id="16" name="Oval 15"/>
          <p:cNvSpPr/>
          <p:nvPr/>
        </p:nvSpPr>
        <p:spPr>
          <a:xfrm>
            <a:off x="6660717"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4</a:t>
            </a:r>
          </a:p>
        </p:txBody>
      </p:sp>
      <p:sp>
        <p:nvSpPr>
          <p:cNvPr id="17" name="Rounded Rectangle 16"/>
          <p:cNvSpPr/>
          <p:nvPr/>
        </p:nvSpPr>
        <p:spPr>
          <a:xfrm>
            <a:off x="6196431"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Harita 6.1</a:t>
            </a:r>
          </a:p>
        </p:txBody>
      </p:sp>
      <p:sp>
        <p:nvSpPr>
          <p:cNvPr id="18" name="TextBox 17"/>
          <p:cNvSpPr txBox="1"/>
          <p:nvPr/>
        </p:nvSpPr>
        <p:spPr>
          <a:xfrm>
            <a:off x="6196431"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Deprem tehlikesi ve diri faylar</a:t>
            </a:r>
          </a:p>
        </p:txBody>
      </p:sp>
      <p:sp>
        <p:nvSpPr>
          <p:cNvPr id="19" name="Oval 18"/>
          <p:cNvSpPr/>
          <p:nvPr/>
        </p:nvSpPr>
        <p:spPr>
          <a:xfrm>
            <a:off x="8558554" y="1828800"/>
            <a:ext cx="768096" cy="768096"/>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5</a:t>
            </a:r>
          </a:p>
        </p:txBody>
      </p:sp>
      <p:sp>
        <p:nvSpPr>
          <p:cNvPr id="20" name="Rounded Rectangle 19"/>
          <p:cNvSpPr/>
          <p:nvPr/>
        </p:nvSpPr>
        <p:spPr>
          <a:xfrm>
            <a:off x="8094268"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17 Ağustos 1999</a:t>
            </a:r>
          </a:p>
        </p:txBody>
      </p:sp>
      <p:sp>
        <p:nvSpPr>
          <p:cNvPr id="21" name="TextBox 20"/>
          <p:cNvSpPr txBox="1"/>
          <p:nvPr/>
        </p:nvSpPr>
        <p:spPr>
          <a:xfrm>
            <a:off x="8094268"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Kavramları bir depremde çözümlemek</a:t>
            </a:r>
          </a:p>
        </p:txBody>
      </p:sp>
      <p:sp>
        <p:nvSpPr>
          <p:cNvPr id="22" name="Oval 21"/>
          <p:cNvSpPr/>
          <p:nvPr/>
        </p:nvSpPr>
        <p:spPr>
          <a:xfrm>
            <a:off x="10456391" y="1828800"/>
            <a:ext cx="768096" cy="768096"/>
          </a:xfrm>
          <a:prstGeom prst="ellipse">
            <a:avLst/>
          </a:prstGeom>
          <a:solidFill>
            <a:srgbClr val="4F4F4F"/>
          </a:solidFill>
          <a:ln>
            <a:noFill/>
          </a:ln>
          <a:effectLst/>
        </p:spPr>
        <p:txBody>
          <a:bodyPr rtlCol="0" anchor="ctr" wrap="none" lIns="0" rIns="0" tIns="0" bIns="0">
            <a:noAutofit/>
          </a:bodyPr>
          <a:lstStyle/>
          <a:p>
            <a:pPr algn="ctr">
              <a:spcBef>
                <a:spcPts val="0"/>
              </a:spcBef>
              <a:spcAft>
                <a:spcPts val="0"/>
              </a:spcAft>
            </a:pPr>
            <a:r>
              <a:rPr lang="tr-TR" sz="2800" b="1" i="0">
                <a:solidFill>
                  <a:srgbClr val="FFFFFF"/>
                </a:solidFill>
                <a:latin typeface="Calibri"/>
              </a:rPr>
              <a:t>6</a:t>
            </a:r>
          </a:p>
        </p:txBody>
      </p:sp>
      <p:sp>
        <p:nvSpPr>
          <p:cNvPr id="23" name="Rounded Rectangle 22"/>
          <p:cNvSpPr/>
          <p:nvPr/>
        </p:nvSpPr>
        <p:spPr>
          <a:xfrm>
            <a:off x="9992105" y="2788920"/>
            <a:ext cx="1696669" cy="1143000"/>
          </a:xfrm>
          <a:prstGeom prst="roundRect">
            <a:avLst>
              <a:gd name="adj" fmla="val 8000"/>
            </a:avLst>
          </a:prstGeom>
          <a:solidFill>
            <a:srgbClr val="F0F0F0"/>
          </a:solidFill>
          <a:ln>
            <a:noFill/>
          </a:ln>
          <a:effectLst/>
        </p:spPr>
        <p:txBody>
          <a:bodyPr rtlCol="0" anchor="ctr" wrap="square" lIns="73152" rIns="73152" tIns="73152" bIns="73152">
            <a:noAutofit/>
          </a:bodyPr>
          <a:lstStyle/>
          <a:p>
            <a:pPr algn="ctr">
              <a:spcBef>
                <a:spcPts val="0"/>
              </a:spcBef>
              <a:spcAft>
                <a:spcPts val="0"/>
              </a:spcAft>
            </a:pPr>
            <a:r>
              <a:rPr lang="tr-TR" sz="2000" b="1" i="0">
                <a:solidFill>
                  <a:srgbClr val="262626"/>
                </a:solidFill>
                <a:latin typeface="Calibri"/>
              </a:rPr>
              <a:t>Sıra sizde</a:t>
            </a:r>
          </a:p>
        </p:txBody>
      </p:sp>
      <p:sp>
        <p:nvSpPr>
          <p:cNvPr id="24" name="TextBox 23"/>
          <p:cNvSpPr txBox="1"/>
          <p:nvPr/>
        </p:nvSpPr>
        <p:spPr>
          <a:xfrm>
            <a:off x="9992105" y="4041648"/>
            <a:ext cx="1696669" cy="1737360"/>
          </a:xfrm>
          <a:prstGeom prst="rect">
            <a:avLst/>
          </a:prstGeom>
          <a:noFill/>
        </p:spPr>
        <p:txBody>
          <a:bodyPr wrap="square" anchor="t" lIns="73152" rIns="73152" tIns="36576" bIns="36576">
            <a:noAutofit/>
          </a:bodyPr>
          <a:lstStyle/>
          <a:p>
            <a:pPr algn="ctr">
              <a:spcBef>
                <a:spcPts val="0"/>
              </a:spcBef>
              <a:spcAft>
                <a:spcPts val="0"/>
              </a:spcAft>
            </a:pPr>
            <a:r>
              <a:rPr lang="tr-TR" sz="1600" b="0" i="0">
                <a:solidFill>
                  <a:srgbClr val="767676"/>
                </a:solidFill>
                <a:latin typeface="Calibri"/>
              </a:rPr>
              <a:t>Kendi afet örneğimizin şeması</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 / 250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afetlerden korunmak için alınan tedbirler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ÖN DEĞERLENDİRME</a:t>
            </a:r>
          </a:p>
        </p:txBody>
      </p:sp>
      <p:sp>
        <p:nvSpPr>
          <p:cNvPr id="6" name="Rounded Rectangle 5"/>
          <p:cNvSpPr/>
          <p:nvPr/>
        </p:nvSpPr>
        <p:spPr>
          <a:xfrm>
            <a:off x="502920" y="1207008"/>
            <a:ext cx="11185855" cy="713232"/>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700" b="1" i="0">
                <a:solidFill>
                  <a:srgbClr val="262626"/>
                </a:solidFill>
                <a:latin typeface="Calibri"/>
              </a:rPr>
              <a:t>Görsellerdeki bilgilerden yararlanarak afetlerden korunmak için alınan tedbirlerin yararlarını noktalı yerlere yazınız.</a:t>
            </a:r>
          </a:p>
        </p:txBody>
      </p:sp>
      <p:pic>
        <p:nvPicPr>
          <p:cNvPr id="7" name="Picture 6" descr="h30_s188_afis.jpg"/>
          <p:cNvPicPr>
            <a:picLocks noChangeAspect="1"/>
          </p:cNvPicPr>
          <p:nvPr/>
        </p:nvPicPr>
        <p:blipFill>
          <a:blip r:embed="rId3"/>
          <a:stretch>
            <a:fillRect/>
          </a:stretch>
        </p:blipFill>
        <p:spPr>
          <a:xfrm>
            <a:off x="827084" y="2039112"/>
            <a:ext cx="2927889" cy="2697480"/>
          </a:xfrm>
          <a:prstGeom prst="rect">
            <a:avLst/>
          </a:prstGeom>
          <a:ln w="9525">
            <a:solidFill>
              <a:srgbClr val="D9D9D9"/>
            </a:solidFill>
          </a:ln>
        </p:spPr>
      </p:pic>
      <p:sp>
        <p:nvSpPr>
          <p:cNvPr id="8" name="Rounded Rectangle 7"/>
          <p:cNvSpPr/>
          <p:nvPr/>
        </p:nvSpPr>
        <p:spPr>
          <a:xfrm>
            <a:off x="502920" y="4809744"/>
            <a:ext cx="3576218" cy="457200"/>
          </a:xfrm>
          <a:prstGeom prst="roundRect">
            <a:avLst>
              <a:gd name="adj" fmla="val 20000"/>
            </a:avLst>
          </a:prstGeom>
          <a:solidFill>
            <a:srgbClr val="A63A32"/>
          </a:solidFill>
          <a:ln>
            <a:noFill/>
          </a:ln>
          <a:effectLst/>
        </p:spPr>
        <p:txBody>
          <a:bodyPr rtlCol="0" anchor="ctr" wrap="square" lIns="54864" rIns="54864" tIns="18288" bIns="18288">
            <a:noAutofit/>
          </a:bodyPr>
          <a:lstStyle/>
          <a:p>
            <a:pPr algn="ctr">
              <a:spcBef>
                <a:spcPts val="0"/>
              </a:spcBef>
              <a:spcAft>
                <a:spcPts val="0"/>
              </a:spcAft>
            </a:pPr>
            <a:r>
              <a:rPr lang="tr-TR" sz="1650" b="1" i="0">
                <a:solidFill>
                  <a:srgbClr val="FFFFFF"/>
                </a:solidFill>
                <a:latin typeface="Calibri"/>
              </a:rPr>
              <a:t>1 · 12 Kasım Afet Eğitimi Hazırlık Günü</a:t>
            </a:r>
          </a:p>
        </p:txBody>
      </p:sp>
      <p:sp>
        <p:nvSpPr>
          <p:cNvPr id="9" name="TextBox 8"/>
          <p:cNvSpPr txBox="1"/>
          <p:nvPr/>
        </p:nvSpPr>
        <p:spPr>
          <a:xfrm>
            <a:off x="502920" y="5340096"/>
            <a:ext cx="3576218" cy="36576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A63A32"/>
                </a:solidFill>
                <a:latin typeface="Calibri"/>
              </a:rPr>
              <a:t>Yararı:</a:t>
            </a:r>
          </a:p>
        </p:txBody>
      </p:sp>
      <p:sp>
        <p:nvSpPr>
          <p:cNvPr id="10" name="Rounded Rectangle 9"/>
          <p:cNvSpPr/>
          <p:nvPr/>
        </p:nvSpPr>
        <p:spPr>
          <a:xfrm>
            <a:off x="502920" y="5705856"/>
            <a:ext cx="3576218" cy="585216"/>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1" name="Connector 10"/>
          <p:cNvCxnSpPr/>
          <p:nvPr/>
        </p:nvCxnSpPr>
        <p:spPr>
          <a:xfrm>
            <a:off x="685800" y="5998464"/>
            <a:ext cx="3210458" cy="0"/>
          </a:xfrm>
          <a:prstGeom prst="line">
            <a:avLst/>
          </a:prstGeom>
          <a:ln w="12700">
            <a:solidFill>
              <a:srgbClr val="D9D9D9"/>
            </a:solidFill>
            <a:prstDash val="dash"/>
          </a:ln>
        </p:spPr>
      </p:cxnSp>
      <p:pic>
        <p:nvPicPr>
          <p:cNvPr id="12" name="Picture 11" descr="h30_s188_canta.jpg"/>
          <p:cNvPicPr>
            <a:picLocks noChangeAspect="1"/>
          </p:cNvPicPr>
          <p:nvPr/>
        </p:nvPicPr>
        <p:blipFill>
          <a:blip r:embed="rId4"/>
          <a:stretch>
            <a:fillRect/>
          </a:stretch>
        </p:blipFill>
        <p:spPr>
          <a:xfrm>
            <a:off x="4574491" y="2039112"/>
            <a:ext cx="3042710" cy="2697480"/>
          </a:xfrm>
          <a:prstGeom prst="rect">
            <a:avLst/>
          </a:prstGeom>
          <a:ln w="9525">
            <a:solidFill>
              <a:srgbClr val="D9D9D9"/>
            </a:solidFill>
          </a:ln>
        </p:spPr>
      </p:pic>
      <p:sp>
        <p:nvSpPr>
          <p:cNvPr id="13" name="Rounded Rectangle 12"/>
          <p:cNvSpPr/>
          <p:nvPr/>
        </p:nvSpPr>
        <p:spPr>
          <a:xfrm>
            <a:off x="4307738" y="4809744"/>
            <a:ext cx="3576218" cy="457200"/>
          </a:xfrm>
          <a:prstGeom prst="roundRect">
            <a:avLst>
              <a:gd name="adj" fmla="val 20000"/>
            </a:avLst>
          </a:prstGeom>
          <a:solidFill>
            <a:srgbClr val="A63A32"/>
          </a:solidFill>
          <a:ln>
            <a:noFill/>
          </a:ln>
          <a:effectLst/>
        </p:spPr>
        <p:txBody>
          <a:bodyPr rtlCol="0" anchor="ctr" wrap="square" lIns="54864" rIns="54864" tIns="18288" bIns="18288">
            <a:noAutofit/>
          </a:bodyPr>
          <a:lstStyle/>
          <a:p>
            <a:pPr algn="ctr">
              <a:spcBef>
                <a:spcPts val="0"/>
              </a:spcBef>
              <a:spcAft>
                <a:spcPts val="0"/>
              </a:spcAft>
            </a:pPr>
            <a:r>
              <a:rPr lang="tr-TR" sz="1700" b="1" i="0">
                <a:solidFill>
                  <a:srgbClr val="FFFFFF"/>
                </a:solidFill>
                <a:latin typeface="Calibri"/>
              </a:rPr>
              <a:t>2 · Afet ve Acil Durum Çantası</a:t>
            </a:r>
          </a:p>
        </p:txBody>
      </p:sp>
      <p:sp>
        <p:nvSpPr>
          <p:cNvPr id="14" name="TextBox 13"/>
          <p:cNvSpPr txBox="1"/>
          <p:nvPr/>
        </p:nvSpPr>
        <p:spPr>
          <a:xfrm>
            <a:off x="4307738" y="5340096"/>
            <a:ext cx="3576218" cy="36576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A63A32"/>
                </a:solidFill>
                <a:latin typeface="Calibri"/>
              </a:rPr>
              <a:t>Yararı:</a:t>
            </a:r>
          </a:p>
        </p:txBody>
      </p:sp>
      <p:sp>
        <p:nvSpPr>
          <p:cNvPr id="15" name="Rounded Rectangle 14"/>
          <p:cNvSpPr/>
          <p:nvPr/>
        </p:nvSpPr>
        <p:spPr>
          <a:xfrm>
            <a:off x="4307738" y="5705856"/>
            <a:ext cx="3576218" cy="585216"/>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6" name="Connector 15"/>
          <p:cNvCxnSpPr/>
          <p:nvPr/>
        </p:nvCxnSpPr>
        <p:spPr>
          <a:xfrm>
            <a:off x="4490618" y="5998464"/>
            <a:ext cx="3210458" cy="0"/>
          </a:xfrm>
          <a:prstGeom prst="line">
            <a:avLst/>
          </a:prstGeom>
          <a:ln w="12700">
            <a:solidFill>
              <a:srgbClr val="D9D9D9"/>
            </a:solidFill>
            <a:prstDash val="dash"/>
          </a:ln>
        </p:spPr>
      </p:cxnSp>
      <p:pic>
        <p:nvPicPr>
          <p:cNvPr id="17" name="Picture 16" descr="h30_s188_erken_uyari.jpg"/>
          <p:cNvPicPr>
            <a:picLocks noChangeAspect="1"/>
          </p:cNvPicPr>
          <p:nvPr/>
        </p:nvPicPr>
        <p:blipFill>
          <a:blip r:embed="rId5"/>
          <a:stretch>
            <a:fillRect/>
          </a:stretch>
        </p:blipFill>
        <p:spPr>
          <a:xfrm>
            <a:off x="8503807" y="2039112"/>
            <a:ext cx="2793714" cy="2697480"/>
          </a:xfrm>
          <a:prstGeom prst="rect">
            <a:avLst/>
          </a:prstGeom>
          <a:ln w="9525">
            <a:solidFill>
              <a:srgbClr val="D9D9D9"/>
            </a:solidFill>
          </a:ln>
        </p:spPr>
      </p:pic>
      <p:sp>
        <p:nvSpPr>
          <p:cNvPr id="18" name="Rounded Rectangle 17"/>
          <p:cNvSpPr/>
          <p:nvPr/>
        </p:nvSpPr>
        <p:spPr>
          <a:xfrm>
            <a:off x="8112556" y="4809744"/>
            <a:ext cx="3576218" cy="457200"/>
          </a:xfrm>
          <a:prstGeom prst="roundRect">
            <a:avLst>
              <a:gd name="adj" fmla="val 20000"/>
            </a:avLst>
          </a:prstGeom>
          <a:solidFill>
            <a:srgbClr val="A63A32"/>
          </a:solidFill>
          <a:ln>
            <a:noFill/>
          </a:ln>
          <a:effectLst/>
        </p:spPr>
        <p:txBody>
          <a:bodyPr rtlCol="0" anchor="ctr" wrap="square" lIns="54864" rIns="54864" tIns="18288" bIns="18288">
            <a:noAutofit/>
          </a:bodyPr>
          <a:lstStyle/>
          <a:p>
            <a:pPr algn="ctr">
              <a:spcBef>
                <a:spcPts val="0"/>
              </a:spcBef>
              <a:spcAft>
                <a:spcPts val="0"/>
              </a:spcAft>
            </a:pPr>
            <a:r>
              <a:rPr lang="tr-TR" sz="1700" b="1" i="0">
                <a:solidFill>
                  <a:srgbClr val="FFFFFF"/>
                </a:solidFill>
                <a:latin typeface="Calibri"/>
              </a:rPr>
              <a:t>3 · Çoklu Tehlike Erken Uyarı Sistemi</a:t>
            </a:r>
          </a:p>
        </p:txBody>
      </p:sp>
      <p:sp>
        <p:nvSpPr>
          <p:cNvPr id="19" name="TextBox 18"/>
          <p:cNvSpPr txBox="1"/>
          <p:nvPr/>
        </p:nvSpPr>
        <p:spPr>
          <a:xfrm>
            <a:off x="8112556" y="5340096"/>
            <a:ext cx="3576218" cy="36576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A63A32"/>
                </a:solidFill>
                <a:latin typeface="Calibri"/>
              </a:rPr>
              <a:t>Yararı:</a:t>
            </a:r>
          </a:p>
        </p:txBody>
      </p:sp>
      <p:sp>
        <p:nvSpPr>
          <p:cNvPr id="20" name="Rounded Rectangle 19"/>
          <p:cNvSpPr/>
          <p:nvPr/>
        </p:nvSpPr>
        <p:spPr>
          <a:xfrm>
            <a:off x="8112556" y="5705856"/>
            <a:ext cx="3576218" cy="585216"/>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1" name="Connector 20"/>
          <p:cNvCxnSpPr/>
          <p:nvPr/>
        </p:nvCxnSpPr>
        <p:spPr>
          <a:xfrm>
            <a:off x="8295436" y="5998464"/>
            <a:ext cx="3210458" cy="0"/>
          </a:xfrm>
          <a:prstGeom prst="line">
            <a:avLst/>
          </a:prstGeom>
          <a:ln w="12700">
            <a:solidFill>
              <a:srgbClr val="D9D9D9"/>
            </a:solidFill>
            <a:prstDash val="dash"/>
          </a:ln>
        </p:spPr>
      </p:cxn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188</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7 / 250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 örnek cevap: eğitim ve çanta</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0_s188_afis.jpg"/>
          <p:cNvPicPr>
            <a:picLocks noChangeAspect="1"/>
          </p:cNvPicPr>
          <p:nvPr/>
        </p:nvPicPr>
        <p:blipFill>
          <a:blip r:embed="rId3"/>
          <a:stretch>
            <a:fillRect/>
          </a:stretch>
        </p:blipFill>
        <p:spPr>
          <a:xfrm>
            <a:off x="502920" y="1216152"/>
            <a:ext cx="2282761" cy="2103120"/>
          </a:xfrm>
          <a:prstGeom prst="rect">
            <a:avLst/>
          </a:prstGeom>
          <a:ln w="9525">
            <a:solidFill>
              <a:srgbClr val="D9D9D9"/>
            </a:solidFill>
          </a:ln>
        </p:spPr>
      </p:pic>
      <p:sp>
        <p:nvSpPr>
          <p:cNvPr id="7" name="TextBox 6"/>
          <p:cNvSpPr txBox="1"/>
          <p:nvPr/>
        </p:nvSpPr>
        <p:spPr>
          <a:xfrm>
            <a:off x="2968561" y="1216152"/>
            <a:ext cx="2990125" cy="2103120"/>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A63A32"/>
                </a:solidFill>
                <a:latin typeface="Calibri"/>
              </a:rPr>
              <a:t>1 · 12 Kasım Afet Eğitimi Hazırlık Günü</a:t>
            </a:r>
          </a:p>
        </p:txBody>
      </p:sp>
      <p:sp>
        <p:nvSpPr>
          <p:cNvPr id="8" name="Rounded Rectangle 7"/>
          <p:cNvSpPr/>
          <p:nvPr/>
        </p:nvSpPr>
        <p:spPr>
          <a:xfrm>
            <a:off x="502920" y="3456432"/>
            <a:ext cx="5455767" cy="2834640"/>
          </a:xfrm>
          <a:prstGeom prst="roundRect">
            <a:avLst>
              <a:gd name="adj" fmla="val 6000"/>
            </a:avLst>
          </a:prstGeom>
          <a:solidFill>
            <a:srgbClr val="E3F1E4"/>
          </a:solidFill>
          <a:ln>
            <a:noFill/>
          </a:ln>
          <a:effectLst/>
        </p:spPr>
        <p:txBody>
          <a:bodyPr rtlCol="0" anchor="ctr"/>
          <a:lstStyle/>
          <a:p/>
        </p:txBody>
      </p:sp>
      <p:sp>
        <p:nvSpPr>
          <p:cNvPr id="9" name="Rectangle 8"/>
          <p:cNvSpPr/>
          <p:nvPr/>
        </p:nvSpPr>
        <p:spPr>
          <a:xfrm>
            <a:off x="502920" y="3456432"/>
            <a:ext cx="109728" cy="2834640"/>
          </a:xfrm>
          <a:prstGeom prst="rect">
            <a:avLst/>
          </a:prstGeom>
          <a:solidFill>
            <a:srgbClr val="2E7D32"/>
          </a:solidFill>
          <a:ln>
            <a:noFill/>
          </a:ln>
          <a:effectLst/>
        </p:spPr>
        <p:txBody>
          <a:bodyPr rtlCol="0" anchor="ctr"/>
          <a:lstStyle/>
          <a:p/>
        </p:txBody>
      </p:sp>
      <p:sp>
        <p:nvSpPr>
          <p:cNvPr id="10" name="TextBox 9"/>
          <p:cNvSpPr txBox="1"/>
          <p:nvPr/>
        </p:nvSpPr>
        <p:spPr>
          <a:xfrm>
            <a:off x="731520" y="3511296"/>
            <a:ext cx="5135727" cy="2724912"/>
          </a:xfrm>
          <a:prstGeom prst="rect">
            <a:avLst/>
          </a:prstGeom>
          <a:noFill/>
        </p:spPr>
        <p:txBody>
          <a:bodyPr wrap="square" anchor="ctr" lIns="73152" rIns="73152" tIns="36576" bIns="36576">
            <a:noAutofit/>
          </a:bodyPr>
          <a:lstStyle/>
          <a:p>
            <a:pPr algn="l">
              <a:spcBef>
                <a:spcPts val="0"/>
              </a:spcBef>
              <a:spcAft>
                <a:spcPts val="390"/>
              </a:spcAft>
            </a:pPr>
            <a:r>
              <a:rPr lang="tr-TR" sz="1950" b="1" i="0">
                <a:solidFill>
                  <a:srgbClr val="2E7D32"/>
                </a:solidFill>
                <a:latin typeface="Calibri"/>
              </a:rPr>
              <a:t>Yararı</a:t>
            </a:r>
          </a:p>
          <a:p>
            <a:pPr algn="l" marL="242405" indent="-242405">
              <a:spcBef>
                <a:spcPts val="0"/>
              </a:spcBef>
              <a:spcAft>
                <a:spcPts val="487"/>
              </a:spcAft>
            </a:pPr>
            <a:r>
              <a:rPr lang="tr-TR" sz="1950" b="1" i="0">
                <a:solidFill>
                  <a:srgbClr val="2E7D32"/>
                </a:solidFill>
                <a:latin typeface="Calibri"/>
              </a:rPr>
              <a:t>•  </a:t>
            </a:r>
            <a:r>
              <a:rPr lang="tr-TR" sz="1950" b="0" i="0">
                <a:solidFill>
                  <a:srgbClr val="262626"/>
                </a:solidFill>
                <a:latin typeface="Calibri"/>
              </a:rPr>
              <a:t>Afet eğitimi ve tatbikatla afet anında ne yapacağımızı öğreniriz.</a:t>
            </a:r>
          </a:p>
          <a:p>
            <a:pPr algn="l" marL="242405" indent="-242405">
              <a:spcBef>
                <a:spcPts val="0"/>
              </a:spcBef>
              <a:spcAft>
                <a:spcPts val="487"/>
              </a:spcAft>
            </a:pPr>
            <a:r>
              <a:rPr lang="tr-TR" sz="1950" b="1" i="0">
                <a:solidFill>
                  <a:srgbClr val="2E7D32"/>
                </a:solidFill>
                <a:latin typeface="Calibri"/>
              </a:rPr>
              <a:t>•  </a:t>
            </a:r>
            <a:r>
              <a:rPr lang="tr-TR" sz="1950" b="0" i="0">
                <a:solidFill>
                  <a:srgbClr val="262626"/>
                </a:solidFill>
                <a:latin typeface="Calibri"/>
              </a:rPr>
              <a:t>Afişteki tehlikeleri (deprem, volkan, orman yangını, sel, fırtına, hortum, heyelan) tanır, hazırlıklı oluruz.</a:t>
            </a:r>
          </a:p>
          <a:p>
            <a:pPr algn="l" marL="242405" indent="-242405">
              <a:spcBef>
                <a:spcPts val="0"/>
              </a:spcBef>
              <a:spcAft>
                <a:spcPts val="0"/>
              </a:spcAft>
            </a:pPr>
            <a:r>
              <a:rPr lang="tr-TR" sz="1950" b="1" i="0">
                <a:solidFill>
                  <a:srgbClr val="2E7D32"/>
                </a:solidFill>
                <a:latin typeface="Calibri"/>
              </a:rPr>
              <a:t>•  </a:t>
            </a:r>
            <a:r>
              <a:rPr lang="tr-TR" sz="1950" b="0" i="0">
                <a:solidFill>
                  <a:srgbClr val="262626"/>
                </a:solidFill>
                <a:latin typeface="Calibri"/>
              </a:rPr>
              <a:t>Bilinçli ve hazırlıklı bir toplumda can ve mal kaybı azalır.</a:t>
            </a:r>
          </a:p>
        </p:txBody>
      </p:sp>
      <p:pic>
        <p:nvPicPr>
          <p:cNvPr id="11" name="Picture 10" descr="h30_s188_canta.jpg"/>
          <p:cNvPicPr>
            <a:picLocks noChangeAspect="1"/>
          </p:cNvPicPr>
          <p:nvPr/>
        </p:nvPicPr>
        <p:blipFill>
          <a:blip r:embed="rId4"/>
          <a:stretch>
            <a:fillRect/>
          </a:stretch>
        </p:blipFill>
        <p:spPr>
          <a:xfrm>
            <a:off x="6233007" y="1216152"/>
            <a:ext cx="2372282" cy="2103120"/>
          </a:xfrm>
          <a:prstGeom prst="rect">
            <a:avLst/>
          </a:prstGeom>
          <a:ln w="9525">
            <a:solidFill>
              <a:srgbClr val="D9D9D9"/>
            </a:solidFill>
          </a:ln>
        </p:spPr>
      </p:pic>
      <p:sp>
        <p:nvSpPr>
          <p:cNvPr id="12" name="TextBox 11"/>
          <p:cNvSpPr txBox="1"/>
          <p:nvPr/>
        </p:nvSpPr>
        <p:spPr>
          <a:xfrm>
            <a:off x="8788169" y="1216152"/>
            <a:ext cx="2900604" cy="2103120"/>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A63A32"/>
                </a:solidFill>
                <a:latin typeface="Calibri"/>
              </a:rPr>
              <a:t>2 · Afet ve Acil Durum Çantası</a:t>
            </a:r>
          </a:p>
        </p:txBody>
      </p:sp>
      <p:sp>
        <p:nvSpPr>
          <p:cNvPr id="13" name="Rounded Rectangle 12"/>
          <p:cNvSpPr/>
          <p:nvPr/>
        </p:nvSpPr>
        <p:spPr>
          <a:xfrm>
            <a:off x="6233007" y="3456432"/>
            <a:ext cx="5455767" cy="2834640"/>
          </a:xfrm>
          <a:prstGeom prst="roundRect">
            <a:avLst>
              <a:gd name="adj" fmla="val 6000"/>
            </a:avLst>
          </a:prstGeom>
          <a:solidFill>
            <a:srgbClr val="E3F1E4"/>
          </a:solidFill>
          <a:ln>
            <a:noFill/>
          </a:ln>
          <a:effectLst/>
        </p:spPr>
        <p:txBody>
          <a:bodyPr rtlCol="0" anchor="ctr"/>
          <a:lstStyle/>
          <a:p/>
        </p:txBody>
      </p:sp>
      <p:sp>
        <p:nvSpPr>
          <p:cNvPr id="14" name="Rectangle 13"/>
          <p:cNvSpPr/>
          <p:nvPr/>
        </p:nvSpPr>
        <p:spPr>
          <a:xfrm>
            <a:off x="6233007" y="3456432"/>
            <a:ext cx="109728" cy="2834640"/>
          </a:xfrm>
          <a:prstGeom prst="rect">
            <a:avLst/>
          </a:prstGeom>
          <a:solidFill>
            <a:srgbClr val="2E7D32"/>
          </a:solidFill>
          <a:ln>
            <a:noFill/>
          </a:ln>
          <a:effectLst/>
        </p:spPr>
        <p:txBody>
          <a:bodyPr rtlCol="0" anchor="ctr"/>
          <a:lstStyle/>
          <a:p/>
        </p:txBody>
      </p:sp>
      <p:sp>
        <p:nvSpPr>
          <p:cNvPr id="15" name="TextBox 14"/>
          <p:cNvSpPr txBox="1"/>
          <p:nvPr/>
        </p:nvSpPr>
        <p:spPr>
          <a:xfrm>
            <a:off x="6461607" y="3511296"/>
            <a:ext cx="5135727" cy="2724912"/>
          </a:xfrm>
          <a:prstGeom prst="rect">
            <a:avLst/>
          </a:prstGeom>
          <a:noFill/>
        </p:spPr>
        <p:txBody>
          <a:bodyPr wrap="square" anchor="ctr" lIns="73152" rIns="73152" tIns="36576" bIns="36576">
            <a:noAutofit/>
          </a:bodyPr>
          <a:lstStyle/>
          <a:p>
            <a:pPr algn="l">
              <a:spcBef>
                <a:spcPts val="0"/>
              </a:spcBef>
              <a:spcAft>
                <a:spcPts val="390"/>
              </a:spcAft>
            </a:pPr>
            <a:r>
              <a:rPr lang="tr-TR" sz="1950" b="1" i="0">
                <a:solidFill>
                  <a:srgbClr val="2E7D32"/>
                </a:solidFill>
                <a:latin typeface="Calibri"/>
              </a:rPr>
              <a:t>Yararı</a:t>
            </a:r>
          </a:p>
          <a:p>
            <a:pPr algn="l" marL="242405" indent="-242405">
              <a:spcBef>
                <a:spcPts val="0"/>
              </a:spcBef>
              <a:spcAft>
                <a:spcPts val="487"/>
              </a:spcAft>
            </a:pPr>
            <a:r>
              <a:rPr lang="tr-TR" sz="1950" b="1" i="0">
                <a:solidFill>
                  <a:srgbClr val="2E7D32"/>
                </a:solidFill>
                <a:latin typeface="Calibri"/>
              </a:rPr>
              <a:t>•  </a:t>
            </a:r>
            <a:r>
              <a:rPr lang="tr-TR" sz="1950" b="0" i="0">
                <a:solidFill>
                  <a:srgbClr val="262626"/>
                </a:solidFill>
                <a:latin typeface="Calibri"/>
              </a:rPr>
              <a:t>Afetten sonra yardım ulaşana kadar temel ihtiyaçlarımızı karşılar.</a:t>
            </a:r>
          </a:p>
          <a:p>
            <a:pPr algn="l" marL="242405" indent="-242405">
              <a:spcBef>
                <a:spcPts val="0"/>
              </a:spcBef>
              <a:spcAft>
                <a:spcPts val="487"/>
              </a:spcAft>
            </a:pPr>
            <a:r>
              <a:rPr lang="tr-TR" sz="1950" b="1" i="0">
                <a:solidFill>
                  <a:srgbClr val="2E7D32"/>
                </a:solidFill>
                <a:latin typeface="Calibri"/>
              </a:rPr>
              <a:t>•  </a:t>
            </a:r>
            <a:r>
              <a:rPr lang="tr-TR" sz="1950" b="0" i="0">
                <a:solidFill>
                  <a:srgbClr val="262626"/>
                </a:solidFill>
                <a:latin typeface="Calibri"/>
              </a:rPr>
              <a:t>Görselde: su, konserve, el feneri, pilli radyo, ilk yardım çantası, çakı, kıyafet, kimlik ve belgeler, not defteri ve kalem.</a:t>
            </a:r>
          </a:p>
          <a:p>
            <a:pPr algn="l" marL="242405" indent="-242405">
              <a:spcBef>
                <a:spcPts val="0"/>
              </a:spcBef>
              <a:spcAft>
                <a:spcPts val="0"/>
              </a:spcAft>
            </a:pPr>
            <a:r>
              <a:rPr lang="tr-TR" sz="1950" b="1" i="0">
                <a:solidFill>
                  <a:srgbClr val="2E7D32"/>
                </a:solidFill>
                <a:latin typeface="Calibri"/>
              </a:rPr>
              <a:t>•  </a:t>
            </a:r>
            <a:r>
              <a:rPr lang="tr-TR" sz="1950" b="0" i="0">
                <a:solidFill>
                  <a:srgbClr val="262626"/>
                </a:solidFill>
                <a:latin typeface="Calibri"/>
              </a:rPr>
              <a:t>Hazır bir çanta, hızlı ve güvenli tahliyeye yardım eder.</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188</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8 / 250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Başlarken — örnek cevap: erken uyarı sistemi</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pic>
        <p:nvPicPr>
          <p:cNvPr id="6" name="Picture 5" descr="h30_s188_erken_uyari.jpg"/>
          <p:cNvPicPr>
            <a:picLocks noChangeAspect="1"/>
          </p:cNvPicPr>
          <p:nvPr/>
        </p:nvPicPr>
        <p:blipFill>
          <a:blip r:embed="rId3"/>
          <a:stretch>
            <a:fillRect/>
          </a:stretch>
        </p:blipFill>
        <p:spPr>
          <a:xfrm>
            <a:off x="510358" y="1216152"/>
            <a:ext cx="4877162" cy="4709160"/>
          </a:xfrm>
          <a:prstGeom prst="rect">
            <a:avLst/>
          </a:prstGeom>
          <a:ln w="9525">
            <a:solidFill>
              <a:srgbClr val="D9D9D9"/>
            </a:solidFill>
          </a:ln>
        </p:spPr>
      </p:pic>
      <p:sp>
        <p:nvSpPr>
          <p:cNvPr id="7" name="TextBox 6"/>
          <p:cNvSpPr txBox="1"/>
          <p:nvPr/>
        </p:nvSpPr>
        <p:spPr>
          <a:xfrm>
            <a:off x="502920" y="5943600"/>
            <a:ext cx="4892040"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3 · Çoklu Tehlike Erken Uyarı Sistemi Süreç ve Bileşenleri</a:t>
            </a:r>
          </a:p>
        </p:txBody>
      </p:sp>
      <p:sp>
        <p:nvSpPr>
          <p:cNvPr id="8" name="Rounded Rectangle 7"/>
          <p:cNvSpPr/>
          <p:nvPr/>
        </p:nvSpPr>
        <p:spPr>
          <a:xfrm>
            <a:off x="5623560" y="1216152"/>
            <a:ext cx="6065215" cy="731520"/>
          </a:xfrm>
          <a:prstGeom prst="roundRect">
            <a:avLst>
              <a:gd name="adj" fmla="val 12000"/>
            </a:avLst>
          </a:prstGeom>
          <a:solidFill>
            <a:srgbClr val="F0F0F0"/>
          </a:solidFill>
          <a:ln>
            <a:noFill/>
          </a:ln>
          <a:effectLst/>
        </p:spPr>
        <p:txBody>
          <a:bodyPr rtlCol="0" anchor="ctr"/>
          <a:lstStyle/>
          <a:p/>
        </p:txBody>
      </p:sp>
      <p:sp>
        <p:nvSpPr>
          <p:cNvPr id="9" name="Rounded Rectangle 8"/>
          <p:cNvSpPr/>
          <p:nvPr/>
        </p:nvSpPr>
        <p:spPr>
          <a:xfrm>
            <a:off x="5623560" y="1216152"/>
            <a:ext cx="2240280" cy="731520"/>
          </a:xfrm>
          <a:prstGeom prst="roundRect">
            <a:avLst>
              <a:gd name="adj" fmla="val 12000"/>
            </a:avLst>
          </a:prstGeom>
          <a:solidFill>
            <a:srgbClr val="1688B0"/>
          </a:solidFill>
          <a:ln>
            <a:noFill/>
          </a:ln>
          <a:effectLst/>
        </p:spPr>
        <p:txBody>
          <a:bodyPr rtlCol="0" anchor="ctr" wrap="square" lIns="54864" rIns="54864" tIns="73152" bIns="73152">
            <a:noAutofit/>
          </a:bodyPr>
          <a:lstStyle/>
          <a:p>
            <a:pPr algn="ctr">
              <a:spcBef>
                <a:spcPts val="0"/>
              </a:spcBef>
              <a:spcAft>
                <a:spcPts val="0"/>
              </a:spcAft>
            </a:pPr>
            <a:r>
              <a:rPr lang="tr-TR" sz="1700" b="1" i="0">
                <a:solidFill>
                  <a:srgbClr val="FFFFFF"/>
                </a:solidFill>
                <a:latin typeface="Calibri"/>
              </a:rPr>
              <a:t>Afet Risk Bilgisi</a:t>
            </a:r>
          </a:p>
        </p:txBody>
      </p:sp>
      <p:sp>
        <p:nvSpPr>
          <p:cNvPr id="10" name="TextBox 9"/>
          <p:cNvSpPr txBox="1"/>
          <p:nvPr/>
        </p:nvSpPr>
        <p:spPr>
          <a:xfrm>
            <a:off x="7909560" y="1216152"/>
            <a:ext cx="3733495" cy="73152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Hangi tehlike, nerede, kimi etkileyebilir? Önce risk bilinir.</a:t>
            </a:r>
          </a:p>
        </p:txBody>
      </p:sp>
      <p:sp>
        <p:nvSpPr>
          <p:cNvPr id="11" name="Rounded Rectangle 10"/>
          <p:cNvSpPr/>
          <p:nvPr/>
        </p:nvSpPr>
        <p:spPr>
          <a:xfrm>
            <a:off x="5623560" y="2020824"/>
            <a:ext cx="6065215" cy="731520"/>
          </a:xfrm>
          <a:prstGeom prst="roundRect">
            <a:avLst>
              <a:gd name="adj" fmla="val 12000"/>
            </a:avLst>
          </a:prstGeom>
          <a:solidFill>
            <a:srgbClr val="F0F0F0"/>
          </a:solidFill>
          <a:ln>
            <a:noFill/>
          </a:ln>
          <a:effectLst/>
        </p:spPr>
        <p:txBody>
          <a:bodyPr rtlCol="0" anchor="ctr"/>
          <a:lstStyle/>
          <a:p/>
        </p:txBody>
      </p:sp>
      <p:sp>
        <p:nvSpPr>
          <p:cNvPr id="12" name="Rounded Rectangle 11"/>
          <p:cNvSpPr/>
          <p:nvPr/>
        </p:nvSpPr>
        <p:spPr>
          <a:xfrm>
            <a:off x="5623560" y="2020824"/>
            <a:ext cx="2240280" cy="731520"/>
          </a:xfrm>
          <a:prstGeom prst="roundRect">
            <a:avLst>
              <a:gd name="adj" fmla="val 12000"/>
            </a:avLst>
          </a:prstGeom>
          <a:solidFill>
            <a:srgbClr val="1F5FA8"/>
          </a:solidFill>
          <a:ln>
            <a:noFill/>
          </a:ln>
          <a:effectLst/>
        </p:spPr>
        <p:txBody>
          <a:bodyPr rtlCol="0" anchor="ctr" wrap="square" lIns="54864" rIns="54864" tIns="73152" bIns="73152">
            <a:noAutofit/>
          </a:bodyPr>
          <a:lstStyle/>
          <a:p>
            <a:pPr algn="ctr">
              <a:spcBef>
                <a:spcPts val="0"/>
              </a:spcBef>
              <a:spcAft>
                <a:spcPts val="0"/>
              </a:spcAft>
            </a:pPr>
            <a:r>
              <a:rPr lang="tr-TR" sz="1700" b="1" i="0">
                <a:solidFill>
                  <a:srgbClr val="FFFFFF"/>
                </a:solidFill>
                <a:latin typeface="Calibri"/>
              </a:rPr>
              <a:t>Gözlem, İzleme, Analiz Öngörünümü</a:t>
            </a:r>
          </a:p>
        </p:txBody>
      </p:sp>
      <p:sp>
        <p:nvSpPr>
          <p:cNvPr id="13" name="TextBox 12"/>
          <p:cNvSpPr txBox="1"/>
          <p:nvPr/>
        </p:nvSpPr>
        <p:spPr>
          <a:xfrm>
            <a:off x="7909560" y="2020824"/>
            <a:ext cx="3733495" cy="73152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Tehlike sürekli izlenir, ölçülür ve önceden tahmin edilir.</a:t>
            </a:r>
          </a:p>
        </p:txBody>
      </p:sp>
      <p:sp>
        <p:nvSpPr>
          <p:cNvPr id="14" name="Rounded Rectangle 13"/>
          <p:cNvSpPr/>
          <p:nvPr/>
        </p:nvSpPr>
        <p:spPr>
          <a:xfrm>
            <a:off x="5623560" y="2825496"/>
            <a:ext cx="6065215" cy="731520"/>
          </a:xfrm>
          <a:prstGeom prst="roundRect">
            <a:avLst>
              <a:gd name="adj" fmla="val 12000"/>
            </a:avLst>
          </a:prstGeom>
          <a:solidFill>
            <a:srgbClr val="F0F0F0"/>
          </a:solidFill>
          <a:ln>
            <a:noFill/>
          </a:ln>
          <a:effectLst/>
        </p:spPr>
        <p:txBody>
          <a:bodyPr rtlCol="0" anchor="ctr"/>
          <a:lstStyle/>
          <a:p/>
        </p:txBody>
      </p:sp>
      <p:sp>
        <p:nvSpPr>
          <p:cNvPr id="15" name="Rounded Rectangle 14"/>
          <p:cNvSpPr/>
          <p:nvPr/>
        </p:nvSpPr>
        <p:spPr>
          <a:xfrm>
            <a:off x="5623560" y="2825496"/>
            <a:ext cx="2240280" cy="731520"/>
          </a:xfrm>
          <a:prstGeom prst="roundRect">
            <a:avLst>
              <a:gd name="adj" fmla="val 12000"/>
            </a:avLst>
          </a:prstGeom>
          <a:solidFill>
            <a:srgbClr val="C86E14"/>
          </a:solidFill>
          <a:ln>
            <a:noFill/>
          </a:ln>
          <a:effectLst/>
        </p:spPr>
        <p:txBody>
          <a:bodyPr rtlCol="0" anchor="ctr" wrap="square" lIns="54864" rIns="54864" tIns="73152" bIns="73152">
            <a:noAutofit/>
          </a:bodyPr>
          <a:lstStyle/>
          <a:p>
            <a:pPr algn="ctr">
              <a:spcBef>
                <a:spcPts val="0"/>
              </a:spcBef>
              <a:spcAft>
                <a:spcPts val="0"/>
              </a:spcAft>
            </a:pPr>
            <a:r>
              <a:rPr lang="tr-TR" sz="1700" b="1" i="0">
                <a:solidFill>
                  <a:srgbClr val="FFFFFF"/>
                </a:solidFill>
                <a:latin typeface="Calibri"/>
              </a:rPr>
              <a:t>Uyarı Yayımlama</a:t>
            </a:r>
          </a:p>
        </p:txBody>
      </p:sp>
      <p:sp>
        <p:nvSpPr>
          <p:cNvPr id="16" name="TextBox 15"/>
          <p:cNvSpPr txBox="1"/>
          <p:nvPr/>
        </p:nvSpPr>
        <p:spPr>
          <a:xfrm>
            <a:off x="7909560" y="2825496"/>
            <a:ext cx="3733495" cy="73152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Uyarı zamanında ve anlaşılır biçimde herkese ulaştırılır.</a:t>
            </a:r>
          </a:p>
        </p:txBody>
      </p:sp>
      <p:sp>
        <p:nvSpPr>
          <p:cNvPr id="17" name="Rounded Rectangle 16"/>
          <p:cNvSpPr/>
          <p:nvPr/>
        </p:nvSpPr>
        <p:spPr>
          <a:xfrm>
            <a:off x="5623560" y="3630168"/>
            <a:ext cx="6065215" cy="731520"/>
          </a:xfrm>
          <a:prstGeom prst="roundRect">
            <a:avLst>
              <a:gd name="adj" fmla="val 12000"/>
            </a:avLst>
          </a:prstGeom>
          <a:solidFill>
            <a:srgbClr val="F0F0F0"/>
          </a:solidFill>
          <a:ln>
            <a:noFill/>
          </a:ln>
          <a:effectLst/>
        </p:spPr>
        <p:txBody>
          <a:bodyPr rtlCol="0" anchor="ctr"/>
          <a:lstStyle/>
          <a:p/>
        </p:txBody>
      </p:sp>
      <p:sp>
        <p:nvSpPr>
          <p:cNvPr id="18" name="Rounded Rectangle 17"/>
          <p:cNvSpPr/>
          <p:nvPr/>
        </p:nvSpPr>
        <p:spPr>
          <a:xfrm>
            <a:off x="5623560" y="3630168"/>
            <a:ext cx="2240280" cy="731520"/>
          </a:xfrm>
          <a:prstGeom prst="roundRect">
            <a:avLst>
              <a:gd name="adj" fmla="val 12000"/>
            </a:avLst>
          </a:prstGeom>
          <a:solidFill>
            <a:srgbClr val="3E9142"/>
          </a:solidFill>
          <a:ln>
            <a:noFill/>
          </a:ln>
          <a:effectLst/>
        </p:spPr>
        <p:txBody>
          <a:bodyPr rtlCol="0" anchor="ctr" wrap="square" lIns="54864" rIns="54864" tIns="73152" bIns="73152">
            <a:noAutofit/>
          </a:bodyPr>
          <a:lstStyle/>
          <a:p>
            <a:pPr algn="ctr">
              <a:spcBef>
                <a:spcPts val="0"/>
              </a:spcBef>
              <a:spcAft>
                <a:spcPts val="0"/>
              </a:spcAft>
            </a:pPr>
            <a:r>
              <a:rPr lang="tr-TR" sz="1700" b="1" i="0">
                <a:solidFill>
                  <a:srgbClr val="FFFFFF"/>
                </a:solidFill>
                <a:latin typeface="Calibri"/>
              </a:rPr>
              <a:t>Hazırlık ve Müdahale Yetenekleri</a:t>
            </a:r>
          </a:p>
        </p:txBody>
      </p:sp>
      <p:sp>
        <p:nvSpPr>
          <p:cNvPr id="19" name="TextBox 18"/>
          <p:cNvSpPr txBox="1"/>
          <p:nvPr/>
        </p:nvSpPr>
        <p:spPr>
          <a:xfrm>
            <a:off x="7909560" y="3630168"/>
            <a:ext cx="3733495" cy="731520"/>
          </a:xfrm>
          <a:prstGeom prst="rect">
            <a:avLst/>
          </a:prstGeom>
          <a:noFill/>
        </p:spPr>
        <p:txBody>
          <a:bodyPr wrap="square" anchor="ctr" lIns="73152" rIns="73152" tIns="36576" bIns="36576">
            <a:noAutofit/>
          </a:bodyPr>
          <a:lstStyle/>
          <a:p>
            <a:pPr algn="l">
              <a:spcBef>
                <a:spcPts val="0"/>
              </a:spcBef>
              <a:spcAft>
                <a:spcPts val="0"/>
              </a:spcAft>
            </a:pPr>
            <a:r>
              <a:rPr lang="tr-TR" sz="1800" b="0" i="0">
                <a:solidFill>
                  <a:srgbClr val="262626"/>
                </a:solidFill>
                <a:latin typeface="Calibri"/>
              </a:rPr>
              <a:t>Uyarıyı alan insanlar ne yapacağını bilir: tahliye, toplanma.</a:t>
            </a:r>
          </a:p>
        </p:txBody>
      </p:sp>
      <p:sp>
        <p:nvSpPr>
          <p:cNvPr id="20" name="Rounded Rectangle 19"/>
          <p:cNvSpPr/>
          <p:nvPr/>
        </p:nvSpPr>
        <p:spPr>
          <a:xfrm>
            <a:off x="5623560" y="4489704"/>
            <a:ext cx="6065215" cy="1801368"/>
          </a:xfrm>
          <a:prstGeom prst="roundRect">
            <a:avLst>
              <a:gd name="adj" fmla="val 6000"/>
            </a:avLst>
          </a:prstGeom>
          <a:solidFill>
            <a:srgbClr val="E3F1E4"/>
          </a:solidFill>
          <a:ln>
            <a:noFill/>
          </a:ln>
          <a:effectLst/>
        </p:spPr>
        <p:txBody>
          <a:bodyPr rtlCol="0" anchor="ctr"/>
          <a:lstStyle/>
          <a:p/>
        </p:txBody>
      </p:sp>
      <p:sp>
        <p:nvSpPr>
          <p:cNvPr id="21" name="Rectangle 20"/>
          <p:cNvSpPr/>
          <p:nvPr/>
        </p:nvSpPr>
        <p:spPr>
          <a:xfrm>
            <a:off x="5623560" y="4489704"/>
            <a:ext cx="109728" cy="1801368"/>
          </a:xfrm>
          <a:prstGeom prst="rect">
            <a:avLst/>
          </a:prstGeom>
          <a:solidFill>
            <a:srgbClr val="2E7D32"/>
          </a:solidFill>
          <a:ln>
            <a:noFill/>
          </a:ln>
          <a:effectLst/>
        </p:spPr>
        <p:txBody>
          <a:bodyPr rtlCol="0" anchor="ctr"/>
          <a:lstStyle/>
          <a:p/>
        </p:txBody>
      </p:sp>
      <p:sp>
        <p:nvSpPr>
          <p:cNvPr id="22" name="TextBox 21"/>
          <p:cNvSpPr txBox="1"/>
          <p:nvPr/>
        </p:nvSpPr>
        <p:spPr>
          <a:xfrm>
            <a:off x="5852160" y="4544568"/>
            <a:ext cx="5745175" cy="1691640"/>
          </a:xfrm>
          <a:prstGeom prst="rect">
            <a:avLst/>
          </a:prstGeom>
          <a:noFill/>
        </p:spPr>
        <p:txBody>
          <a:bodyPr wrap="square" anchor="ctr" lIns="73152" rIns="73152" tIns="36576" bIns="36576">
            <a:noAutofit/>
          </a:bodyPr>
          <a:lstStyle/>
          <a:p>
            <a:pPr algn="l">
              <a:spcBef>
                <a:spcPts val="0"/>
              </a:spcBef>
              <a:spcAft>
                <a:spcPts val="400"/>
              </a:spcAft>
            </a:pPr>
            <a:r>
              <a:rPr lang="tr-TR" sz="1900" b="1" i="0">
                <a:solidFill>
                  <a:srgbClr val="2E7D32"/>
                </a:solidFill>
                <a:latin typeface="Calibri"/>
              </a:rPr>
              <a:t>Yararı</a:t>
            </a:r>
          </a:p>
          <a:p>
            <a:pPr algn="l" marL="236189" indent="-236189">
              <a:spcBef>
                <a:spcPts val="0"/>
              </a:spcBef>
              <a:spcAft>
                <a:spcPts val="500"/>
              </a:spcAft>
            </a:pPr>
            <a:r>
              <a:rPr lang="tr-TR" sz="1900" b="1" i="0">
                <a:solidFill>
                  <a:srgbClr val="2E7D32"/>
                </a:solidFill>
                <a:latin typeface="Calibri"/>
              </a:rPr>
              <a:t>•  </a:t>
            </a:r>
            <a:r>
              <a:rPr lang="tr-TR" sz="1900" b="0" i="0">
                <a:solidFill>
                  <a:srgbClr val="262626"/>
                </a:solidFill>
                <a:latin typeface="Calibri"/>
              </a:rPr>
              <a:t>Tehlike gelmeden haber verir: insanlar zaman kazanır, tahliye edilir, can kaybı azalır.</a:t>
            </a:r>
          </a:p>
          <a:p>
            <a:pPr algn="l" marL="236189" indent="-236189">
              <a:spcBef>
                <a:spcPts val="0"/>
              </a:spcBef>
              <a:spcAft>
                <a:spcPts val="0"/>
              </a:spcAft>
            </a:pPr>
            <a:r>
              <a:rPr lang="tr-TR" sz="1900" b="1" i="0">
                <a:solidFill>
                  <a:srgbClr val="2E7D32"/>
                </a:solidFill>
                <a:latin typeface="Calibri"/>
              </a:rPr>
              <a:t>•  </a:t>
            </a:r>
            <a:r>
              <a:rPr lang="tr-TR" sz="1900" b="0" i="0">
                <a:solidFill>
                  <a:srgbClr val="262626"/>
                </a:solidFill>
                <a:latin typeface="Calibri"/>
              </a:rPr>
              <a:t>Kitap s. 202: erken uyarı sistemleri afete hazırlıklı olma aşamasındadır.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188</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9 / 250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Konuya başlarken: hangi afet hangi görselde?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KONUYA BAŞLARKEN · 1</a:t>
            </a:r>
          </a:p>
        </p:txBody>
      </p:sp>
      <p:pic>
        <p:nvPicPr>
          <p:cNvPr id="6" name="Picture 5" descr="h30_s189_1.jpg"/>
          <p:cNvPicPr>
            <a:picLocks noChangeAspect="1"/>
          </p:cNvPicPr>
          <p:nvPr/>
        </p:nvPicPr>
        <p:blipFill>
          <a:blip r:embed="rId3"/>
          <a:srcRect t="6018" b="6018"/>
          <a:stretch>
            <a:fillRect/>
          </a:stretch>
        </p:blipFill>
        <p:spPr>
          <a:xfrm>
            <a:off x="502920" y="1216152"/>
            <a:ext cx="1788109" cy="1051560"/>
          </a:xfrm>
          <a:prstGeom prst="rect">
            <a:avLst/>
          </a:prstGeom>
          <a:ln w="9525">
            <a:solidFill>
              <a:srgbClr val="D9D9D9"/>
            </a:solidFill>
          </a:ln>
        </p:spPr>
      </p:pic>
      <p:sp>
        <p:nvSpPr>
          <p:cNvPr id="7" name="Oval 6"/>
          <p:cNvSpPr/>
          <p:nvPr/>
        </p:nvSpPr>
        <p:spPr>
          <a:xfrm>
            <a:off x="548640"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1</a:t>
            </a:r>
          </a:p>
        </p:txBody>
      </p:sp>
      <p:pic>
        <p:nvPicPr>
          <p:cNvPr id="8" name="Picture 7" descr="h30_s189_2.jpg"/>
          <p:cNvPicPr>
            <a:picLocks noChangeAspect="1"/>
          </p:cNvPicPr>
          <p:nvPr/>
        </p:nvPicPr>
        <p:blipFill>
          <a:blip r:embed="rId4"/>
          <a:srcRect t="6031" b="6031"/>
          <a:stretch>
            <a:fillRect/>
          </a:stretch>
        </p:blipFill>
        <p:spPr>
          <a:xfrm>
            <a:off x="2382469" y="1216152"/>
            <a:ext cx="1788109" cy="1051560"/>
          </a:xfrm>
          <a:prstGeom prst="rect">
            <a:avLst/>
          </a:prstGeom>
          <a:ln w="9525">
            <a:solidFill>
              <a:srgbClr val="D9D9D9"/>
            </a:solidFill>
          </a:ln>
        </p:spPr>
      </p:pic>
      <p:sp>
        <p:nvSpPr>
          <p:cNvPr id="9" name="Oval 8"/>
          <p:cNvSpPr/>
          <p:nvPr/>
        </p:nvSpPr>
        <p:spPr>
          <a:xfrm>
            <a:off x="2428189"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2</a:t>
            </a:r>
          </a:p>
        </p:txBody>
      </p:sp>
      <p:pic>
        <p:nvPicPr>
          <p:cNvPr id="10" name="Picture 9" descr="h30_s189_3.jpg"/>
          <p:cNvPicPr>
            <a:picLocks noChangeAspect="1"/>
          </p:cNvPicPr>
          <p:nvPr/>
        </p:nvPicPr>
        <p:blipFill>
          <a:blip r:embed="rId5"/>
          <a:srcRect t="6018" b="6018"/>
          <a:stretch>
            <a:fillRect/>
          </a:stretch>
        </p:blipFill>
        <p:spPr>
          <a:xfrm>
            <a:off x="4262018" y="1216152"/>
            <a:ext cx="1788109" cy="1051560"/>
          </a:xfrm>
          <a:prstGeom prst="rect">
            <a:avLst/>
          </a:prstGeom>
          <a:ln w="9525">
            <a:solidFill>
              <a:srgbClr val="D9D9D9"/>
            </a:solidFill>
          </a:ln>
        </p:spPr>
      </p:pic>
      <p:sp>
        <p:nvSpPr>
          <p:cNvPr id="11" name="Oval 10"/>
          <p:cNvSpPr/>
          <p:nvPr/>
        </p:nvSpPr>
        <p:spPr>
          <a:xfrm>
            <a:off x="4307738"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3</a:t>
            </a:r>
          </a:p>
        </p:txBody>
      </p:sp>
      <p:pic>
        <p:nvPicPr>
          <p:cNvPr id="12" name="Picture 11" descr="h30_s189_4.jpg"/>
          <p:cNvPicPr>
            <a:picLocks noChangeAspect="1"/>
          </p:cNvPicPr>
          <p:nvPr/>
        </p:nvPicPr>
        <p:blipFill>
          <a:blip r:embed="rId6"/>
          <a:srcRect t="5349" b="5349"/>
          <a:stretch>
            <a:fillRect/>
          </a:stretch>
        </p:blipFill>
        <p:spPr>
          <a:xfrm>
            <a:off x="6141567" y="1216152"/>
            <a:ext cx="1788109" cy="1051560"/>
          </a:xfrm>
          <a:prstGeom prst="rect">
            <a:avLst/>
          </a:prstGeom>
          <a:ln w="9525">
            <a:solidFill>
              <a:srgbClr val="D9D9D9"/>
            </a:solidFill>
          </a:ln>
        </p:spPr>
      </p:pic>
      <p:sp>
        <p:nvSpPr>
          <p:cNvPr id="13" name="Oval 12"/>
          <p:cNvSpPr/>
          <p:nvPr/>
        </p:nvSpPr>
        <p:spPr>
          <a:xfrm>
            <a:off x="6187287"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4</a:t>
            </a:r>
          </a:p>
        </p:txBody>
      </p:sp>
      <p:pic>
        <p:nvPicPr>
          <p:cNvPr id="14" name="Picture 13" descr="h30_s189_5.jpg"/>
          <p:cNvPicPr>
            <a:picLocks noChangeAspect="1"/>
          </p:cNvPicPr>
          <p:nvPr/>
        </p:nvPicPr>
        <p:blipFill>
          <a:blip r:embed="rId7"/>
          <a:srcRect t="5925" b="5925"/>
          <a:stretch>
            <a:fillRect/>
          </a:stretch>
        </p:blipFill>
        <p:spPr>
          <a:xfrm>
            <a:off x="8021116" y="1216152"/>
            <a:ext cx="1788109" cy="1051560"/>
          </a:xfrm>
          <a:prstGeom prst="rect">
            <a:avLst/>
          </a:prstGeom>
          <a:ln w="9525">
            <a:solidFill>
              <a:srgbClr val="D9D9D9"/>
            </a:solidFill>
          </a:ln>
        </p:spPr>
      </p:pic>
      <p:sp>
        <p:nvSpPr>
          <p:cNvPr id="15" name="Oval 14"/>
          <p:cNvSpPr/>
          <p:nvPr/>
        </p:nvSpPr>
        <p:spPr>
          <a:xfrm>
            <a:off x="8066836"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5</a:t>
            </a:r>
          </a:p>
        </p:txBody>
      </p:sp>
      <p:pic>
        <p:nvPicPr>
          <p:cNvPr id="16" name="Picture 15" descr="h30_s189_6.jpg"/>
          <p:cNvPicPr>
            <a:picLocks noChangeAspect="1"/>
          </p:cNvPicPr>
          <p:nvPr/>
        </p:nvPicPr>
        <p:blipFill>
          <a:blip r:embed="rId8"/>
          <a:srcRect t="5925" b="5925"/>
          <a:stretch>
            <a:fillRect/>
          </a:stretch>
        </p:blipFill>
        <p:spPr>
          <a:xfrm>
            <a:off x="9900665" y="1216152"/>
            <a:ext cx="1788109" cy="1051560"/>
          </a:xfrm>
          <a:prstGeom prst="rect">
            <a:avLst/>
          </a:prstGeom>
          <a:ln w="9525">
            <a:solidFill>
              <a:srgbClr val="D9D9D9"/>
            </a:solidFill>
          </a:ln>
        </p:spPr>
      </p:pic>
      <p:sp>
        <p:nvSpPr>
          <p:cNvPr id="17" name="Oval 16"/>
          <p:cNvSpPr/>
          <p:nvPr/>
        </p:nvSpPr>
        <p:spPr>
          <a:xfrm>
            <a:off x="9946385"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6</a:t>
            </a:r>
          </a:p>
        </p:txBody>
      </p:sp>
      <p:sp>
        <p:nvSpPr>
          <p:cNvPr id="18" name="Rounded Rectangle 17"/>
          <p:cNvSpPr/>
          <p:nvPr/>
        </p:nvSpPr>
        <p:spPr>
          <a:xfrm>
            <a:off x="502920" y="2377440"/>
            <a:ext cx="1508760" cy="365760"/>
          </a:xfrm>
          <a:prstGeom prst="roundRect">
            <a:avLst>
              <a:gd name="adj" fmla="val 15000"/>
            </a:avLst>
          </a:prstGeom>
          <a:solidFill>
            <a:srgbClr val="A63A32"/>
          </a:solidFill>
          <a:ln>
            <a:noFill/>
          </a:ln>
          <a:effectLst/>
        </p:spPr>
        <p:txBody>
          <a:bodyPr rtlCol="0" anchor="ctr" wrap="square" lIns="36576" rIns="36576" tIns="73152" bIns="73152">
            <a:noAutofit/>
          </a:bodyPr>
          <a:lstStyle/>
          <a:p>
            <a:pPr algn="ctr">
              <a:spcBef>
                <a:spcPts val="0"/>
              </a:spcBef>
              <a:spcAft>
                <a:spcPts val="0"/>
              </a:spcAft>
            </a:pPr>
            <a:r>
              <a:rPr lang="tr-TR" sz="1200" b="1" i="0">
                <a:solidFill>
                  <a:srgbClr val="FFFFFF"/>
                </a:solidFill>
                <a:latin typeface="Calibri"/>
              </a:rPr>
              <a:t>Görsel Numarası</a:t>
            </a:r>
          </a:p>
        </p:txBody>
      </p:sp>
      <p:sp>
        <p:nvSpPr>
          <p:cNvPr id="19" name="Rounded Rectangle 18"/>
          <p:cNvSpPr/>
          <p:nvPr/>
        </p:nvSpPr>
        <p:spPr>
          <a:xfrm>
            <a:off x="2084832" y="2377440"/>
            <a:ext cx="9603943" cy="365760"/>
          </a:xfrm>
          <a:prstGeom prst="roundRect">
            <a:avLst>
              <a:gd name="adj" fmla="val 15000"/>
            </a:avLst>
          </a:prstGeom>
          <a:solidFill>
            <a:srgbClr val="A63A32"/>
          </a:solidFill>
          <a:ln>
            <a:noFill/>
          </a:ln>
          <a:effectLst/>
        </p:spPr>
        <p:txBody>
          <a:bodyPr rtlCol="0" anchor="ctr" wrap="square" lIns="128016" rIns="128016" tIns="73152" bIns="73152">
            <a:noAutofit/>
          </a:bodyPr>
          <a:lstStyle/>
          <a:p>
            <a:pPr algn="ctr">
              <a:spcBef>
                <a:spcPts val="0"/>
              </a:spcBef>
              <a:spcAft>
                <a:spcPts val="0"/>
              </a:spcAft>
            </a:pPr>
            <a:r>
              <a:rPr lang="tr-TR" sz="1200" b="1" i="0">
                <a:solidFill>
                  <a:srgbClr val="FFFFFF"/>
                </a:solidFill>
                <a:latin typeface="Calibri"/>
              </a:rPr>
              <a:t>Dünyanın Farklı Yerlerinde Meydana Gelen Afetler</a:t>
            </a:r>
          </a:p>
        </p:txBody>
      </p:sp>
      <p:sp>
        <p:nvSpPr>
          <p:cNvPr id="20" name="Rounded Rectangle 19"/>
          <p:cNvSpPr/>
          <p:nvPr/>
        </p:nvSpPr>
        <p:spPr>
          <a:xfrm>
            <a:off x="502920" y="2798064"/>
            <a:ext cx="11185855" cy="542544"/>
          </a:xfrm>
          <a:prstGeom prst="roundRect">
            <a:avLst>
              <a:gd name="adj" fmla="val 10000"/>
            </a:avLst>
          </a:prstGeom>
          <a:solidFill>
            <a:srgbClr val="F0F0F0"/>
          </a:solidFill>
          <a:ln w="9525">
            <a:solidFill>
              <a:srgbClr val="D9D9D9"/>
            </a:solidFill>
          </a:ln>
          <a:effectLst/>
        </p:spPr>
        <p:txBody>
          <a:bodyPr rtlCol="0" anchor="ctr"/>
          <a:lstStyle/>
          <a:p/>
        </p:txBody>
      </p:sp>
      <p:sp>
        <p:nvSpPr>
          <p:cNvPr id="21" name="TextBox 20"/>
          <p:cNvSpPr txBox="1"/>
          <p:nvPr/>
        </p:nvSpPr>
        <p:spPr>
          <a:xfrm>
            <a:off x="502920" y="2798064"/>
            <a:ext cx="1508760" cy="542544"/>
          </a:xfrm>
          <a:prstGeom prst="rect">
            <a:avLst/>
          </a:prstGeom>
          <a:noFill/>
        </p:spPr>
        <p:txBody>
          <a:bodyPr wrap="square" anchor="ctr" lIns="73152" rIns="73152" tIns="36576" bIns="36576">
            <a:noAutofit/>
          </a:bodyPr>
          <a:lstStyle/>
          <a:p>
            <a:pPr algn="ctr">
              <a:spcBef>
                <a:spcPts val="0"/>
              </a:spcBef>
              <a:spcAft>
                <a:spcPts val="0"/>
              </a:spcAft>
            </a:pPr>
            <a:r>
              <a:rPr lang="tr-TR" sz="1800" b="0" i="0">
                <a:solidFill>
                  <a:srgbClr val="767676"/>
                </a:solidFill>
                <a:latin typeface="Calibri"/>
              </a:rPr>
              <a:t>……</a:t>
            </a:r>
          </a:p>
        </p:txBody>
      </p:sp>
      <p:sp>
        <p:nvSpPr>
          <p:cNvPr id="22" name="TextBox 21"/>
          <p:cNvSpPr txBox="1"/>
          <p:nvPr/>
        </p:nvSpPr>
        <p:spPr>
          <a:xfrm>
            <a:off x="2084832" y="279806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Endonezya’daki Merapi Dağı, yeniden lav püskürtmeye başladı. Meydana gelen patlamada en az 23 kişi hayatını kaybetti, 50’den fazla dağcı da kurtarıldı.</a:t>
            </a:r>
          </a:p>
        </p:txBody>
      </p:sp>
      <p:sp>
        <p:nvSpPr>
          <p:cNvPr id="23" name="Rounded Rectangle 22"/>
          <p:cNvSpPr/>
          <p:nvPr/>
        </p:nvSpPr>
        <p:spPr>
          <a:xfrm>
            <a:off x="502920" y="3377184"/>
            <a:ext cx="11185855" cy="542544"/>
          </a:xfrm>
          <a:prstGeom prst="roundRect">
            <a:avLst>
              <a:gd name="adj" fmla="val 10000"/>
            </a:avLst>
          </a:prstGeom>
          <a:solidFill>
            <a:srgbClr val="FFFFFF"/>
          </a:solidFill>
          <a:ln w="9525">
            <a:solidFill>
              <a:srgbClr val="D9D9D9"/>
            </a:solidFill>
          </a:ln>
          <a:effectLst/>
        </p:spPr>
        <p:txBody>
          <a:bodyPr rtlCol="0" anchor="ctr"/>
          <a:lstStyle/>
          <a:p/>
        </p:txBody>
      </p:sp>
      <p:sp>
        <p:nvSpPr>
          <p:cNvPr id="24" name="TextBox 23"/>
          <p:cNvSpPr txBox="1"/>
          <p:nvPr/>
        </p:nvSpPr>
        <p:spPr>
          <a:xfrm>
            <a:off x="502920" y="3377184"/>
            <a:ext cx="1508760" cy="542544"/>
          </a:xfrm>
          <a:prstGeom prst="rect">
            <a:avLst/>
          </a:prstGeom>
          <a:noFill/>
        </p:spPr>
        <p:txBody>
          <a:bodyPr wrap="square" anchor="ctr" lIns="73152" rIns="73152" tIns="36576" bIns="36576">
            <a:noAutofit/>
          </a:bodyPr>
          <a:lstStyle/>
          <a:p>
            <a:pPr algn="ctr">
              <a:spcBef>
                <a:spcPts val="0"/>
              </a:spcBef>
              <a:spcAft>
                <a:spcPts val="0"/>
              </a:spcAft>
            </a:pPr>
            <a:r>
              <a:rPr lang="tr-TR" sz="1800" b="0" i="0">
                <a:solidFill>
                  <a:srgbClr val="767676"/>
                </a:solidFill>
                <a:latin typeface="Calibri"/>
              </a:rPr>
              <a:t>……</a:t>
            </a:r>
          </a:p>
        </p:txBody>
      </p:sp>
      <p:sp>
        <p:nvSpPr>
          <p:cNvPr id="25" name="TextBox 24"/>
          <p:cNvSpPr txBox="1"/>
          <p:nvPr/>
        </p:nvSpPr>
        <p:spPr>
          <a:xfrm>
            <a:off x="2084832" y="337718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Van’ın Bahçesaray ilçesinde 4-5 Şubat 2020 tarihlerinde meydana gelen çığ sonucu 42 kişi hayatını kaybetti.</a:t>
            </a:r>
          </a:p>
        </p:txBody>
      </p:sp>
      <p:sp>
        <p:nvSpPr>
          <p:cNvPr id="26" name="Rounded Rectangle 25"/>
          <p:cNvSpPr/>
          <p:nvPr/>
        </p:nvSpPr>
        <p:spPr>
          <a:xfrm>
            <a:off x="502920" y="3956304"/>
            <a:ext cx="11185855" cy="542544"/>
          </a:xfrm>
          <a:prstGeom prst="roundRect">
            <a:avLst>
              <a:gd name="adj" fmla="val 10000"/>
            </a:avLst>
          </a:prstGeom>
          <a:solidFill>
            <a:srgbClr val="F0F0F0"/>
          </a:solidFill>
          <a:ln w="9525">
            <a:solidFill>
              <a:srgbClr val="D9D9D9"/>
            </a:solidFill>
          </a:ln>
          <a:effectLst/>
        </p:spPr>
        <p:txBody>
          <a:bodyPr rtlCol="0" anchor="ctr"/>
          <a:lstStyle/>
          <a:p/>
        </p:txBody>
      </p:sp>
      <p:sp>
        <p:nvSpPr>
          <p:cNvPr id="27" name="TextBox 26"/>
          <p:cNvSpPr txBox="1"/>
          <p:nvPr/>
        </p:nvSpPr>
        <p:spPr>
          <a:xfrm>
            <a:off x="502920" y="3956304"/>
            <a:ext cx="1508760" cy="542544"/>
          </a:xfrm>
          <a:prstGeom prst="rect">
            <a:avLst/>
          </a:prstGeom>
          <a:noFill/>
        </p:spPr>
        <p:txBody>
          <a:bodyPr wrap="square" anchor="ctr" lIns="73152" rIns="73152" tIns="36576" bIns="36576">
            <a:noAutofit/>
          </a:bodyPr>
          <a:lstStyle/>
          <a:p>
            <a:pPr algn="ctr">
              <a:spcBef>
                <a:spcPts val="0"/>
              </a:spcBef>
              <a:spcAft>
                <a:spcPts val="0"/>
              </a:spcAft>
            </a:pPr>
            <a:r>
              <a:rPr lang="tr-TR" sz="1800" b="0" i="0">
                <a:solidFill>
                  <a:srgbClr val="767676"/>
                </a:solidFill>
                <a:latin typeface="Calibri"/>
              </a:rPr>
              <a:t>……</a:t>
            </a:r>
          </a:p>
        </p:txBody>
      </p:sp>
      <p:sp>
        <p:nvSpPr>
          <p:cNvPr id="28" name="TextBox 27"/>
          <p:cNvSpPr txBox="1"/>
          <p:nvPr/>
        </p:nvSpPr>
        <p:spPr>
          <a:xfrm>
            <a:off x="2084832" y="395630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Kahramanmaraş merkezli depremlerde 53.537 kişinin hayatını kaybettiği, 107.213 kişinin yaralandığı bildirildi.</a:t>
            </a:r>
          </a:p>
        </p:txBody>
      </p:sp>
      <p:sp>
        <p:nvSpPr>
          <p:cNvPr id="29" name="Rounded Rectangle 28"/>
          <p:cNvSpPr/>
          <p:nvPr/>
        </p:nvSpPr>
        <p:spPr>
          <a:xfrm>
            <a:off x="502920" y="4535424"/>
            <a:ext cx="11185855" cy="542544"/>
          </a:xfrm>
          <a:prstGeom prst="roundRect">
            <a:avLst>
              <a:gd name="adj" fmla="val 10000"/>
            </a:avLst>
          </a:prstGeom>
          <a:solidFill>
            <a:srgbClr val="FFFFFF"/>
          </a:solidFill>
          <a:ln w="9525">
            <a:solidFill>
              <a:srgbClr val="D9D9D9"/>
            </a:solidFill>
          </a:ln>
          <a:effectLst/>
        </p:spPr>
        <p:txBody>
          <a:bodyPr rtlCol="0" anchor="ctr"/>
          <a:lstStyle/>
          <a:p/>
        </p:txBody>
      </p:sp>
      <p:sp>
        <p:nvSpPr>
          <p:cNvPr id="30" name="TextBox 29"/>
          <p:cNvSpPr txBox="1"/>
          <p:nvPr/>
        </p:nvSpPr>
        <p:spPr>
          <a:xfrm>
            <a:off x="502920" y="4535424"/>
            <a:ext cx="1508760" cy="542544"/>
          </a:xfrm>
          <a:prstGeom prst="rect">
            <a:avLst/>
          </a:prstGeom>
          <a:noFill/>
        </p:spPr>
        <p:txBody>
          <a:bodyPr wrap="square" anchor="ctr" lIns="73152" rIns="73152" tIns="36576" bIns="36576">
            <a:noAutofit/>
          </a:bodyPr>
          <a:lstStyle/>
          <a:p>
            <a:pPr algn="ctr">
              <a:spcBef>
                <a:spcPts val="0"/>
              </a:spcBef>
              <a:spcAft>
                <a:spcPts val="0"/>
              </a:spcAft>
            </a:pPr>
            <a:r>
              <a:rPr lang="tr-TR" sz="1800" b="0" i="0">
                <a:solidFill>
                  <a:srgbClr val="767676"/>
                </a:solidFill>
                <a:latin typeface="Calibri"/>
              </a:rPr>
              <a:t>……</a:t>
            </a:r>
          </a:p>
        </p:txBody>
      </p:sp>
      <p:sp>
        <p:nvSpPr>
          <p:cNvPr id="31" name="TextBox 30"/>
          <p:cNvSpPr txBox="1"/>
          <p:nvPr/>
        </p:nvSpPr>
        <p:spPr>
          <a:xfrm>
            <a:off x="2084832" y="453542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Hindistan’da yaşanan tren kazası, 288 kişinin hayatını kaybetmesi ve 800’den fazla kişinin yaralanmasıyla sonuçlandı.</a:t>
            </a:r>
          </a:p>
        </p:txBody>
      </p:sp>
      <p:sp>
        <p:nvSpPr>
          <p:cNvPr id="32" name="Rounded Rectangle 31"/>
          <p:cNvSpPr/>
          <p:nvPr/>
        </p:nvSpPr>
        <p:spPr>
          <a:xfrm>
            <a:off x="502920" y="5114544"/>
            <a:ext cx="11185855" cy="542544"/>
          </a:xfrm>
          <a:prstGeom prst="roundRect">
            <a:avLst>
              <a:gd name="adj" fmla="val 10000"/>
            </a:avLst>
          </a:prstGeom>
          <a:solidFill>
            <a:srgbClr val="F0F0F0"/>
          </a:solidFill>
          <a:ln w="9525">
            <a:solidFill>
              <a:srgbClr val="D9D9D9"/>
            </a:solidFill>
          </a:ln>
          <a:effectLst/>
        </p:spPr>
        <p:txBody>
          <a:bodyPr rtlCol="0" anchor="ctr"/>
          <a:lstStyle/>
          <a:p/>
        </p:txBody>
      </p:sp>
      <p:sp>
        <p:nvSpPr>
          <p:cNvPr id="33" name="TextBox 32"/>
          <p:cNvSpPr txBox="1"/>
          <p:nvPr/>
        </p:nvSpPr>
        <p:spPr>
          <a:xfrm>
            <a:off x="502920" y="5114544"/>
            <a:ext cx="1508760" cy="542544"/>
          </a:xfrm>
          <a:prstGeom prst="rect">
            <a:avLst/>
          </a:prstGeom>
          <a:noFill/>
        </p:spPr>
        <p:txBody>
          <a:bodyPr wrap="square" anchor="ctr" lIns="73152" rIns="73152" tIns="36576" bIns="36576">
            <a:noAutofit/>
          </a:bodyPr>
          <a:lstStyle/>
          <a:p>
            <a:pPr algn="ctr">
              <a:spcBef>
                <a:spcPts val="0"/>
              </a:spcBef>
              <a:spcAft>
                <a:spcPts val="0"/>
              </a:spcAft>
            </a:pPr>
            <a:r>
              <a:rPr lang="tr-TR" sz="1800" b="0" i="0">
                <a:solidFill>
                  <a:srgbClr val="767676"/>
                </a:solidFill>
                <a:latin typeface="Calibri"/>
              </a:rPr>
              <a:t>……</a:t>
            </a:r>
          </a:p>
        </p:txBody>
      </p:sp>
      <p:sp>
        <p:nvSpPr>
          <p:cNvPr id="34" name="TextBox 33"/>
          <p:cNvSpPr txBox="1"/>
          <p:nvPr/>
        </p:nvSpPr>
        <p:spPr>
          <a:xfrm>
            <a:off x="2084832" y="511454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İtalya’da altı aylık yağmurun bir buçuk günde yağması sonucu 20’den fazla nehir taştı, sokaklar göle döndü. Yaşanan bu afette 13 kişi hayatını kaybetti.</a:t>
            </a:r>
          </a:p>
        </p:txBody>
      </p:sp>
      <p:sp>
        <p:nvSpPr>
          <p:cNvPr id="35" name="Rounded Rectangle 34"/>
          <p:cNvSpPr/>
          <p:nvPr/>
        </p:nvSpPr>
        <p:spPr>
          <a:xfrm>
            <a:off x="502920" y="5693664"/>
            <a:ext cx="11185855" cy="542544"/>
          </a:xfrm>
          <a:prstGeom prst="roundRect">
            <a:avLst>
              <a:gd name="adj" fmla="val 10000"/>
            </a:avLst>
          </a:prstGeom>
          <a:solidFill>
            <a:srgbClr val="FFFFFF"/>
          </a:solidFill>
          <a:ln w="9525">
            <a:solidFill>
              <a:srgbClr val="D9D9D9"/>
            </a:solidFill>
          </a:ln>
          <a:effectLst/>
        </p:spPr>
        <p:txBody>
          <a:bodyPr rtlCol="0" anchor="ctr"/>
          <a:lstStyle/>
          <a:p/>
        </p:txBody>
      </p:sp>
      <p:sp>
        <p:nvSpPr>
          <p:cNvPr id="36" name="TextBox 35"/>
          <p:cNvSpPr txBox="1"/>
          <p:nvPr/>
        </p:nvSpPr>
        <p:spPr>
          <a:xfrm>
            <a:off x="502920" y="5693664"/>
            <a:ext cx="1508760" cy="542544"/>
          </a:xfrm>
          <a:prstGeom prst="rect">
            <a:avLst/>
          </a:prstGeom>
          <a:noFill/>
        </p:spPr>
        <p:txBody>
          <a:bodyPr wrap="square" anchor="ctr" lIns="73152" rIns="73152" tIns="36576" bIns="36576">
            <a:noAutofit/>
          </a:bodyPr>
          <a:lstStyle/>
          <a:p>
            <a:pPr algn="ctr">
              <a:spcBef>
                <a:spcPts val="0"/>
              </a:spcBef>
              <a:spcAft>
                <a:spcPts val="0"/>
              </a:spcAft>
            </a:pPr>
            <a:r>
              <a:rPr lang="tr-TR" sz="1800" b="0" i="0">
                <a:solidFill>
                  <a:srgbClr val="767676"/>
                </a:solidFill>
                <a:latin typeface="Calibri"/>
              </a:rPr>
              <a:t>……</a:t>
            </a:r>
          </a:p>
        </p:txBody>
      </p:sp>
      <p:sp>
        <p:nvSpPr>
          <p:cNvPr id="37" name="TextBox 36"/>
          <p:cNvSpPr txBox="1"/>
          <p:nvPr/>
        </p:nvSpPr>
        <p:spPr>
          <a:xfrm>
            <a:off x="2084832" y="569366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Avustralya’nın çeşitli bölgelerinde başlayan orman yangınlarında onlarca ev yandı, çok sayıda kişi bölgeden tahliye edildi.</a:t>
            </a:r>
          </a:p>
        </p:txBody>
      </p:sp>
      <p:sp>
        <p:nvSpPr>
          <p:cNvPr id="38" name="TextBox 3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9" name="Rounded Rectangle 3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189</a:t>
            </a:r>
          </a:p>
        </p:txBody>
      </p:sp>
      <p:sp>
        <p:nvSpPr>
          <p:cNvPr id="40" name="TextBox 3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10 / 250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950" b="1" i="0">
                <a:solidFill>
                  <a:srgbClr val="FFFFFF"/>
                </a:solidFill>
                <a:latin typeface="Calibri"/>
              </a:rPr>
              <a:t>Konuya başlarken: hangi afet hangi görselde?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30_s189_1.jpg"/>
          <p:cNvPicPr>
            <a:picLocks noChangeAspect="1"/>
          </p:cNvPicPr>
          <p:nvPr/>
        </p:nvPicPr>
        <p:blipFill>
          <a:blip r:embed="rId3"/>
          <a:srcRect t="6018" b="6018"/>
          <a:stretch>
            <a:fillRect/>
          </a:stretch>
        </p:blipFill>
        <p:spPr>
          <a:xfrm>
            <a:off x="502920" y="1216152"/>
            <a:ext cx="1788109" cy="1051560"/>
          </a:xfrm>
          <a:prstGeom prst="rect">
            <a:avLst/>
          </a:prstGeom>
          <a:ln w="9525">
            <a:solidFill>
              <a:srgbClr val="D9D9D9"/>
            </a:solidFill>
          </a:ln>
        </p:spPr>
      </p:pic>
      <p:sp>
        <p:nvSpPr>
          <p:cNvPr id="7" name="Oval 6"/>
          <p:cNvSpPr/>
          <p:nvPr/>
        </p:nvSpPr>
        <p:spPr>
          <a:xfrm>
            <a:off x="548640"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1</a:t>
            </a:r>
          </a:p>
        </p:txBody>
      </p:sp>
      <p:pic>
        <p:nvPicPr>
          <p:cNvPr id="8" name="Picture 7" descr="h30_s189_2.jpg"/>
          <p:cNvPicPr>
            <a:picLocks noChangeAspect="1"/>
          </p:cNvPicPr>
          <p:nvPr/>
        </p:nvPicPr>
        <p:blipFill>
          <a:blip r:embed="rId4"/>
          <a:srcRect t="6031" b="6031"/>
          <a:stretch>
            <a:fillRect/>
          </a:stretch>
        </p:blipFill>
        <p:spPr>
          <a:xfrm>
            <a:off x="2382469" y="1216152"/>
            <a:ext cx="1788109" cy="1051560"/>
          </a:xfrm>
          <a:prstGeom prst="rect">
            <a:avLst/>
          </a:prstGeom>
          <a:ln w="9525">
            <a:solidFill>
              <a:srgbClr val="D9D9D9"/>
            </a:solidFill>
          </a:ln>
        </p:spPr>
      </p:pic>
      <p:sp>
        <p:nvSpPr>
          <p:cNvPr id="9" name="Oval 8"/>
          <p:cNvSpPr/>
          <p:nvPr/>
        </p:nvSpPr>
        <p:spPr>
          <a:xfrm>
            <a:off x="2428189"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2</a:t>
            </a:r>
          </a:p>
        </p:txBody>
      </p:sp>
      <p:pic>
        <p:nvPicPr>
          <p:cNvPr id="10" name="Picture 9" descr="h30_s189_3.jpg"/>
          <p:cNvPicPr>
            <a:picLocks noChangeAspect="1"/>
          </p:cNvPicPr>
          <p:nvPr/>
        </p:nvPicPr>
        <p:blipFill>
          <a:blip r:embed="rId5"/>
          <a:srcRect t="6018" b="6018"/>
          <a:stretch>
            <a:fillRect/>
          </a:stretch>
        </p:blipFill>
        <p:spPr>
          <a:xfrm>
            <a:off x="4262018" y="1216152"/>
            <a:ext cx="1788109" cy="1051560"/>
          </a:xfrm>
          <a:prstGeom prst="rect">
            <a:avLst/>
          </a:prstGeom>
          <a:ln w="9525">
            <a:solidFill>
              <a:srgbClr val="D9D9D9"/>
            </a:solidFill>
          </a:ln>
        </p:spPr>
      </p:pic>
      <p:sp>
        <p:nvSpPr>
          <p:cNvPr id="11" name="Oval 10"/>
          <p:cNvSpPr/>
          <p:nvPr/>
        </p:nvSpPr>
        <p:spPr>
          <a:xfrm>
            <a:off x="4307738"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3</a:t>
            </a:r>
          </a:p>
        </p:txBody>
      </p:sp>
      <p:pic>
        <p:nvPicPr>
          <p:cNvPr id="12" name="Picture 11" descr="h30_s189_4.jpg"/>
          <p:cNvPicPr>
            <a:picLocks noChangeAspect="1"/>
          </p:cNvPicPr>
          <p:nvPr/>
        </p:nvPicPr>
        <p:blipFill>
          <a:blip r:embed="rId6"/>
          <a:srcRect t="5349" b="5349"/>
          <a:stretch>
            <a:fillRect/>
          </a:stretch>
        </p:blipFill>
        <p:spPr>
          <a:xfrm>
            <a:off x="6141567" y="1216152"/>
            <a:ext cx="1788109" cy="1051560"/>
          </a:xfrm>
          <a:prstGeom prst="rect">
            <a:avLst/>
          </a:prstGeom>
          <a:ln w="9525">
            <a:solidFill>
              <a:srgbClr val="D9D9D9"/>
            </a:solidFill>
          </a:ln>
        </p:spPr>
      </p:pic>
      <p:sp>
        <p:nvSpPr>
          <p:cNvPr id="13" name="Oval 12"/>
          <p:cNvSpPr/>
          <p:nvPr/>
        </p:nvSpPr>
        <p:spPr>
          <a:xfrm>
            <a:off x="6187287"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4</a:t>
            </a:r>
          </a:p>
        </p:txBody>
      </p:sp>
      <p:pic>
        <p:nvPicPr>
          <p:cNvPr id="14" name="Picture 13" descr="h30_s189_5.jpg"/>
          <p:cNvPicPr>
            <a:picLocks noChangeAspect="1"/>
          </p:cNvPicPr>
          <p:nvPr/>
        </p:nvPicPr>
        <p:blipFill>
          <a:blip r:embed="rId7"/>
          <a:srcRect t="5925" b="5925"/>
          <a:stretch>
            <a:fillRect/>
          </a:stretch>
        </p:blipFill>
        <p:spPr>
          <a:xfrm>
            <a:off x="8021116" y="1216152"/>
            <a:ext cx="1788109" cy="1051560"/>
          </a:xfrm>
          <a:prstGeom prst="rect">
            <a:avLst/>
          </a:prstGeom>
          <a:ln w="9525">
            <a:solidFill>
              <a:srgbClr val="D9D9D9"/>
            </a:solidFill>
          </a:ln>
        </p:spPr>
      </p:pic>
      <p:sp>
        <p:nvSpPr>
          <p:cNvPr id="15" name="Oval 14"/>
          <p:cNvSpPr/>
          <p:nvPr/>
        </p:nvSpPr>
        <p:spPr>
          <a:xfrm>
            <a:off x="8066836"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5</a:t>
            </a:r>
          </a:p>
        </p:txBody>
      </p:sp>
      <p:pic>
        <p:nvPicPr>
          <p:cNvPr id="16" name="Picture 15" descr="h30_s189_6.jpg"/>
          <p:cNvPicPr>
            <a:picLocks noChangeAspect="1"/>
          </p:cNvPicPr>
          <p:nvPr/>
        </p:nvPicPr>
        <p:blipFill>
          <a:blip r:embed="rId8"/>
          <a:srcRect t="5925" b="5925"/>
          <a:stretch>
            <a:fillRect/>
          </a:stretch>
        </p:blipFill>
        <p:spPr>
          <a:xfrm>
            <a:off x="9900665" y="1216152"/>
            <a:ext cx="1788109" cy="1051560"/>
          </a:xfrm>
          <a:prstGeom prst="rect">
            <a:avLst/>
          </a:prstGeom>
          <a:ln w="9525">
            <a:solidFill>
              <a:srgbClr val="D9D9D9"/>
            </a:solidFill>
          </a:ln>
        </p:spPr>
      </p:pic>
      <p:sp>
        <p:nvSpPr>
          <p:cNvPr id="17" name="Oval 16"/>
          <p:cNvSpPr/>
          <p:nvPr/>
        </p:nvSpPr>
        <p:spPr>
          <a:xfrm>
            <a:off x="9946385" y="1261872"/>
            <a:ext cx="365760" cy="36576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600" b="1" i="0">
                <a:solidFill>
                  <a:srgbClr val="FFFFFF"/>
                </a:solidFill>
                <a:latin typeface="Calibri"/>
              </a:rPr>
              <a:t>6</a:t>
            </a:r>
          </a:p>
        </p:txBody>
      </p:sp>
      <p:sp>
        <p:nvSpPr>
          <p:cNvPr id="18" name="Rounded Rectangle 17"/>
          <p:cNvSpPr/>
          <p:nvPr/>
        </p:nvSpPr>
        <p:spPr>
          <a:xfrm>
            <a:off x="502920" y="2377440"/>
            <a:ext cx="1508760" cy="365760"/>
          </a:xfrm>
          <a:prstGeom prst="roundRect">
            <a:avLst>
              <a:gd name="adj" fmla="val 15000"/>
            </a:avLst>
          </a:prstGeom>
          <a:solidFill>
            <a:srgbClr val="A63A32"/>
          </a:solidFill>
          <a:ln>
            <a:noFill/>
          </a:ln>
          <a:effectLst/>
        </p:spPr>
        <p:txBody>
          <a:bodyPr rtlCol="0" anchor="ctr" wrap="square" lIns="36576" rIns="36576" tIns="73152" bIns="73152">
            <a:noAutofit/>
          </a:bodyPr>
          <a:lstStyle/>
          <a:p>
            <a:pPr algn="ctr">
              <a:spcBef>
                <a:spcPts val="0"/>
              </a:spcBef>
              <a:spcAft>
                <a:spcPts val="0"/>
              </a:spcAft>
            </a:pPr>
            <a:r>
              <a:rPr lang="tr-TR" sz="1200" b="1" i="0">
                <a:solidFill>
                  <a:srgbClr val="FFFFFF"/>
                </a:solidFill>
                <a:latin typeface="Calibri"/>
              </a:rPr>
              <a:t>Görsel Numarası</a:t>
            </a:r>
          </a:p>
        </p:txBody>
      </p:sp>
      <p:sp>
        <p:nvSpPr>
          <p:cNvPr id="19" name="Rounded Rectangle 18"/>
          <p:cNvSpPr/>
          <p:nvPr/>
        </p:nvSpPr>
        <p:spPr>
          <a:xfrm>
            <a:off x="2084832" y="2377440"/>
            <a:ext cx="9603943" cy="365760"/>
          </a:xfrm>
          <a:prstGeom prst="roundRect">
            <a:avLst>
              <a:gd name="adj" fmla="val 15000"/>
            </a:avLst>
          </a:prstGeom>
          <a:solidFill>
            <a:srgbClr val="A63A32"/>
          </a:solidFill>
          <a:ln>
            <a:noFill/>
          </a:ln>
          <a:effectLst/>
        </p:spPr>
        <p:txBody>
          <a:bodyPr rtlCol="0" anchor="ctr" wrap="square" lIns="128016" rIns="128016" tIns="73152" bIns="73152">
            <a:noAutofit/>
          </a:bodyPr>
          <a:lstStyle/>
          <a:p>
            <a:pPr algn="ctr">
              <a:spcBef>
                <a:spcPts val="0"/>
              </a:spcBef>
              <a:spcAft>
                <a:spcPts val="0"/>
              </a:spcAft>
            </a:pPr>
            <a:r>
              <a:rPr lang="tr-TR" sz="1200" b="1" i="0">
                <a:solidFill>
                  <a:srgbClr val="FFFFFF"/>
                </a:solidFill>
                <a:latin typeface="Calibri"/>
              </a:rPr>
              <a:t>Dünyanın Farklı Yerlerinde Meydana Gelen Afetler</a:t>
            </a:r>
          </a:p>
        </p:txBody>
      </p:sp>
      <p:sp>
        <p:nvSpPr>
          <p:cNvPr id="20" name="Rounded Rectangle 19"/>
          <p:cNvSpPr/>
          <p:nvPr/>
        </p:nvSpPr>
        <p:spPr>
          <a:xfrm>
            <a:off x="502920" y="2798064"/>
            <a:ext cx="11185855" cy="542544"/>
          </a:xfrm>
          <a:prstGeom prst="roundRect">
            <a:avLst>
              <a:gd name="adj" fmla="val 10000"/>
            </a:avLst>
          </a:prstGeom>
          <a:solidFill>
            <a:srgbClr val="F0F0F0"/>
          </a:solidFill>
          <a:ln w="9525">
            <a:solidFill>
              <a:srgbClr val="D9D9D9"/>
            </a:solidFill>
          </a:ln>
          <a:effectLst/>
        </p:spPr>
        <p:txBody>
          <a:bodyPr rtlCol="0" anchor="ctr"/>
          <a:lstStyle/>
          <a:p/>
        </p:txBody>
      </p:sp>
      <p:sp>
        <p:nvSpPr>
          <p:cNvPr id="21" name="Oval 20"/>
          <p:cNvSpPr/>
          <p:nvPr/>
        </p:nvSpPr>
        <p:spPr>
          <a:xfrm>
            <a:off x="1037844" y="2849880"/>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5</a:t>
            </a:r>
          </a:p>
        </p:txBody>
      </p:sp>
      <p:sp>
        <p:nvSpPr>
          <p:cNvPr id="22" name="TextBox 21"/>
          <p:cNvSpPr txBox="1"/>
          <p:nvPr/>
        </p:nvSpPr>
        <p:spPr>
          <a:xfrm>
            <a:off x="2084832" y="279806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Endonezya’daki Merapi Dağı, yeniden lav püskürtmeye başladı. Meydana gelen patlamada en az 23 kişi hayatını kaybetti, 50’den fazla dağcı da kurtarıldı.</a:t>
            </a:r>
          </a:p>
        </p:txBody>
      </p:sp>
      <p:sp>
        <p:nvSpPr>
          <p:cNvPr id="23" name="Rounded Rectangle 22"/>
          <p:cNvSpPr/>
          <p:nvPr/>
        </p:nvSpPr>
        <p:spPr>
          <a:xfrm>
            <a:off x="502920" y="3377184"/>
            <a:ext cx="11185855" cy="542544"/>
          </a:xfrm>
          <a:prstGeom prst="roundRect">
            <a:avLst>
              <a:gd name="adj" fmla="val 10000"/>
            </a:avLst>
          </a:prstGeom>
          <a:solidFill>
            <a:srgbClr val="FFFFFF"/>
          </a:solidFill>
          <a:ln w="9525">
            <a:solidFill>
              <a:srgbClr val="D9D9D9"/>
            </a:solidFill>
          </a:ln>
          <a:effectLst/>
        </p:spPr>
        <p:txBody>
          <a:bodyPr rtlCol="0" anchor="ctr"/>
          <a:lstStyle/>
          <a:p/>
        </p:txBody>
      </p:sp>
      <p:sp>
        <p:nvSpPr>
          <p:cNvPr id="24" name="Oval 23"/>
          <p:cNvSpPr/>
          <p:nvPr/>
        </p:nvSpPr>
        <p:spPr>
          <a:xfrm>
            <a:off x="1037844" y="3429000"/>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2</a:t>
            </a:r>
          </a:p>
        </p:txBody>
      </p:sp>
      <p:sp>
        <p:nvSpPr>
          <p:cNvPr id="25" name="TextBox 24"/>
          <p:cNvSpPr txBox="1"/>
          <p:nvPr/>
        </p:nvSpPr>
        <p:spPr>
          <a:xfrm>
            <a:off x="2084832" y="337718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Van’ın Bahçesaray ilçesinde 4-5 Şubat 2020 tarihlerinde meydana gelen çığ sonucu 42 kişi hayatını kaybetti.</a:t>
            </a:r>
          </a:p>
        </p:txBody>
      </p:sp>
      <p:sp>
        <p:nvSpPr>
          <p:cNvPr id="26" name="Rounded Rectangle 25"/>
          <p:cNvSpPr/>
          <p:nvPr/>
        </p:nvSpPr>
        <p:spPr>
          <a:xfrm>
            <a:off x="502920" y="3956304"/>
            <a:ext cx="11185855" cy="542544"/>
          </a:xfrm>
          <a:prstGeom prst="roundRect">
            <a:avLst>
              <a:gd name="adj" fmla="val 10000"/>
            </a:avLst>
          </a:prstGeom>
          <a:solidFill>
            <a:srgbClr val="F0F0F0"/>
          </a:solidFill>
          <a:ln w="9525">
            <a:solidFill>
              <a:srgbClr val="D9D9D9"/>
            </a:solidFill>
          </a:ln>
          <a:effectLst/>
        </p:spPr>
        <p:txBody>
          <a:bodyPr rtlCol="0" anchor="ctr"/>
          <a:lstStyle/>
          <a:p/>
        </p:txBody>
      </p:sp>
      <p:sp>
        <p:nvSpPr>
          <p:cNvPr id="27" name="Oval 26"/>
          <p:cNvSpPr/>
          <p:nvPr/>
        </p:nvSpPr>
        <p:spPr>
          <a:xfrm>
            <a:off x="1037844" y="4008120"/>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1</a:t>
            </a:r>
          </a:p>
        </p:txBody>
      </p:sp>
      <p:sp>
        <p:nvSpPr>
          <p:cNvPr id="28" name="TextBox 27"/>
          <p:cNvSpPr txBox="1"/>
          <p:nvPr/>
        </p:nvSpPr>
        <p:spPr>
          <a:xfrm>
            <a:off x="2084832" y="395630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Kahramanmaraş merkezli depremlerde 53.537 kişinin hayatını kaybettiği, 107.213 kişinin yaralandığı bildirildi.</a:t>
            </a:r>
          </a:p>
        </p:txBody>
      </p:sp>
      <p:sp>
        <p:nvSpPr>
          <p:cNvPr id="29" name="Rounded Rectangle 28"/>
          <p:cNvSpPr/>
          <p:nvPr/>
        </p:nvSpPr>
        <p:spPr>
          <a:xfrm>
            <a:off x="502920" y="4535424"/>
            <a:ext cx="11185855" cy="542544"/>
          </a:xfrm>
          <a:prstGeom prst="roundRect">
            <a:avLst>
              <a:gd name="adj" fmla="val 10000"/>
            </a:avLst>
          </a:prstGeom>
          <a:solidFill>
            <a:srgbClr val="FFFFFF"/>
          </a:solidFill>
          <a:ln w="9525">
            <a:solidFill>
              <a:srgbClr val="D9D9D9"/>
            </a:solidFill>
          </a:ln>
          <a:effectLst/>
        </p:spPr>
        <p:txBody>
          <a:bodyPr rtlCol="0" anchor="ctr"/>
          <a:lstStyle/>
          <a:p/>
        </p:txBody>
      </p:sp>
      <p:sp>
        <p:nvSpPr>
          <p:cNvPr id="30" name="Oval 29"/>
          <p:cNvSpPr/>
          <p:nvPr/>
        </p:nvSpPr>
        <p:spPr>
          <a:xfrm>
            <a:off x="1037844" y="4587240"/>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4</a:t>
            </a:r>
          </a:p>
        </p:txBody>
      </p:sp>
      <p:sp>
        <p:nvSpPr>
          <p:cNvPr id="31" name="TextBox 30"/>
          <p:cNvSpPr txBox="1"/>
          <p:nvPr/>
        </p:nvSpPr>
        <p:spPr>
          <a:xfrm>
            <a:off x="2084832" y="453542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Hindistan’da yaşanan tren kazası, 288 kişinin hayatını kaybetmesi ve 800’den fazla kişinin yaralanmasıyla sonuçlandı.</a:t>
            </a:r>
          </a:p>
        </p:txBody>
      </p:sp>
      <p:sp>
        <p:nvSpPr>
          <p:cNvPr id="32" name="Rounded Rectangle 31"/>
          <p:cNvSpPr/>
          <p:nvPr/>
        </p:nvSpPr>
        <p:spPr>
          <a:xfrm>
            <a:off x="502920" y="5114544"/>
            <a:ext cx="11185855" cy="542544"/>
          </a:xfrm>
          <a:prstGeom prst="roundRect">
            <a:avLst>
              <a:gd name="adj" fmla="val 10000"/>
            </a:avLst>
          </a:prstGeom>
          <a:solidFill>
            <a:srgbClr val="F0F0F0"/>
          </a:solidFill>
          <a:ln w="9525">
            <a:solidFill>
              <a:srgbClr val="D9D9D9"/>
            </a:solidFill>
          </a:ln>
          <a:effectLst/>
        </p:spPr>
        <p:txBody>
          <a:bodyPr rtlCol="0" anchor="ctr"/>
          <a:lstStyle/>
          <a:p/>
        </p:txBody>
      </p:sp>
      <p:sp>
        <p:nvSpPr>
          <p:cNvPr id="33" name="Oval 32"/>
          <p:cNvSpPr/>
          <p:nvPr/>
        </p:nvSpPr>
        <p:spPr>
          <a:xfrm>
            <a:off x="1037844" y="5166360"/>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6</a:t>
            </a:r>
          </a:p>
        </p:txBody>
      </p:sp>
      <p:sp>
        <p:nvSpPr>
          <p:cNvPr id="34" name="TextBox 33"/>
          <p:cNvSpPr txBox="1"/>
          <p:nvPr/>
        </p:nvSpPr>
        <p:spPr>
          <a:xfrm>
            <a:off x="2084832" y="511454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İtalya’da altı aylık yağmurun bir buçuk günde yağması sonucu 20’den fazla nehir taştı, sokaklar göle döndü. Yaşanan bu afette 13 kişi hayatını kaybetti.</a:t>
            </a:r>
          </a:p>
        </p:txBody>
      </p:sp>
      <p:sp>
        <p:nvSpPr>
          <p:cNvPr id="35" name="Rounded Rectangle 34"/>
          <p:cNvSpPr/>
          <p:nvPr/>
        </p:nvSpPr>
        <p:spPr>
          <a:xfrm>
            <a:off x="502920" y="5693664"/>
            <a:ext cx="11185855" cy="542544"/>
          </a:xfrm>
          <a:prstGeom prst="roundRect">
            <a:avLst>
              <a:gd name="adj" fmla="val 10000"/>
            </a:avLst>
          </a:prstGeom>
          <a:solidFill>
            <a:srgbClr val="FFFFFF"/>
          </a:solidFill>
          <a:ln w="9525">
            <a:solidFill>
              <a:srgbClr val="D9D9D9"/>
            </a:solidFill>
          </a:ln>
          <a:effectLst/>
        </p:spPr>
        <p:txBody>
          <a:bodyPr rtlCol="0" anchor="ctr"/>
          <a:lstStyle/>
          <a:p/>
        </p:txBody>
      </p:sp>
      <p:sp>
        <p:nvSpPr>
          <p:cNvPr id="36" name="Oval 35"/>
          <p:cNvSpPr/>
          <p:nvPr/>
        </p:nvSpPr>
        <p:spPr>
          <a:xfrm>
            <a:off x="1037844" y="5745480"/>
            <a:ext cx="438912" cy="438912"/>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00" b="1" i="0">
                <a:solidFill>
                  <a:srgbClr val="FFFFFF"/>
                </a:solidFill>
                <a:latin typeface="Calibri"/>
              </a:rPr>
              <a:t>3</a:t>
            </a:r>
          </a:p>
        </p:txBody>
      </p:sp>
      <p:sp>
        <p:nvSpPr>
          <p:cNvPr id="37" name="TextBox 36"/>
          <p:cNvSpPr txBox="1"/>
          <p:nvPr/>
        </p:nvSpPr>
        <p:spPr>
          <a:xfrm>
            <a:off x="2084832" y="5693664"/>
            <a:ext cx="9603943" cy="542544"/>
          </a:xfrm>
          <a:prstGeom prst="rect">
            <a:avLst/>
          </a:prstGeom>
          <a:noFill/>
        </p:spPr>
        <p:txBody>
          <a:bodyPr wrap="square" anchor="ctr" lIns="137160" rIns="137160" tIns="27432" bIns="27432">
            <a:noAutofit/>
          </a:bodyPr>
          <a:lstStyle/>
          <a:p>
            <a:pPr algn="l">
              <a:spcBef>
                <a:spcPts val="0"/>
              </a:spcBef>
              <a:spcAft>
                <a:spcPts val="0"/>
              </a:spcAft>
            </a:pPr>
            <a:r>
              <a:rPr lang="tr-TR" sz="1550" b="0" i="0">
                <a:solidFill>
                  <a:srgbClr val="262626"/>
                </a:solidFill>
                <a:latin typeface="Calibri"/>
              </a:rPr>
              <a:t>Avustralya’nın çeşitli bölgelerinde başlayan orman yangınlarında onlarca ev yandı, çok sayıda kişi bölgeden tahliye edildi.</a:t>
            </a:r>
          </a:p>
        </p:txBody>
      </p:sp>
      <p:sp>
        <p:nvSpPr>
          <p:cNvPr id="38" name="TextBox 3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9" name="Rounded Rectangle 3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189</a:t>
            </a:r>
          </a:p>
        </p:txBody>
      </p:sp>
      <p:sp>
        <p:nvSpPr>
          <p:cNvPr id="40" name="TextBox 3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11 / 250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örnek olaylardan çıkarımlar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KONUYA BAŞLARKEN · 2</a:t>
            </a:r>
          </a:p>
        </p:txBody>
      </p:sp>
      <p:sp>
        <p:nvSpPr>
          <p:cNvPr id="6" name="Rounded Rectangle 5"/>
          <p:cNvSpPr/>
          <p:nvPr/>
        </p:nvSpPr>
        <p:spPr>
          <a:xfrm>
            <a:off x="502920" y="1207008"/>
            <a:ext cx="11185855" cy="6400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200" b="1" i="0">
                <a:solidFill>
                  <a:srgbClr val="262626"/>
                </a:solidFill>
                <a:latin typeface="Calibri"/>
              </a:rPr>
              <a:t>Verilen örnek olayları inceleyerek afetlerle ilgili çıkarımlarda bulununuz.</a:t>
            </a:r>
          </a:p>
        </p:txBody>
      </p:sp>
      <p:sp>
        <p:nvSpPr>
          <p:cNvPr id="7" name="TextBox 6"/>
          <p:cNvSpPr txBox="1"/>
          <p:nvPr/>
        </p:nvSpPr>
        <p:spPr>
          <a:xfrm>
            <a:off x="502920" y="1975104"/>
            <a:ext cx="11185855"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A63A32"/>
                </a:solidFill>
                <a:latin typeface="Calibri"/>
              </a:rPr>
              <a:t>İpucu soruları</a:t>
            </a:r>
          </a:p>
        </p:txBody>
      </p:sp>
      <p:sp>
        <p:nvSpPr>
          <p:cNvPr id="8" name="Rounded Rectangle 7"/>
          <p:cNvSpPr/>
          <p:nvPr/>
        </p:nvSpPr>
        <p:spPr>
          <a:xfrm>
            <a:off x="502920" y="2432304"/>
            <a:ext cx="1759577" cy="475488"/>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Nerede oldu?</a:t>
            </a:r>
          </a:p>
        </p:txBody>
      </p:sp>
      <p:sp>
        <p:nvSpPr>
          <p:cNvPr id="9" name="Rounded Rectangle 8"/>
          <p:cNvSpPr/>
          <p:nvPr/>
        </p:nvSpPr>
        <p:spPr>
          <a:xfrm>
            <a:off x="2372225" y="2432304"/>
            <a:ext cx="3538922" cy="475488"/>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Kaynağı ne: doğa mı, insan mı?</a:t>
            </a:r>
          </a:p>
        </p:txBody>
      </p:sp>
      <p:sp>
        <p:nvSpPr>
          <p:cNvPr id="10" name="Rounded Rectangle 9"/>
          <p:cNvSpPr/>
          <p:nvPr/>
        </p:nvSpPr>
        <p:spPr>
          <a:xfrm>
            <a:off x="6020875" y="2432304"/>
            <a:ext cx="2028116" cy="475488"/>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Sonuçları neler?</a:t>
            </a:r>
          </a:p>
        </p:txBody>
      </p:sp>
      <p:sp>
        <p:nvSpPr>
          <p:cNvPr id="11" name="Rounded Rectangle 10"/>
          <p:cNvSpPr/>
          <p:nvPr/>
        </p:nvSpPr>
        <p:spPr>
          <a:xfrm>
            <a:off x="502920" y="3017520"/>
            <a:ext cx="4066291" cy="475488"/>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Neden bazılarında kayıp daha fazla?</a:t>
            </a:r>
          </a:p>
        </p:txBody>
      </p:sp>
      <p:sp>
        <p:nvSpPr>
          <p:cNvPr id="12" name="Rounded Rectangle 11"/>
          <p:cNvSpPr/>
          <p:nvPr/>
        </p:nvSpPr>
        <p:spPr>
          <a:xfrm>
            <a:off x="502920" y="3675888"/>
            <a:ext cx="11185855" cy="2615184"/>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3" name="Connector 12"/>
          <p:cNvCxnSpPr/>
          <p:nvPr/>
        </p:nvCxnSpPr>
        <p:spPr>
          <a:xfrm>
            <a:off x="685800" y="4049485"/>
            <a:ext cx="10820095" cy="0"/>
          </a:xfrm>
          <a:prstGeom prst="line">
            <a:avLst/>
          </a:prstGeom>
          <a:ln w="12700">
            <a:solidFill>
              <a:srgbClr val="D9D9D9"/>
            </a:solidFill>
            <a:prstDash val="dash"/>
          </a:ln>
        </p:spPr>
      </p:cxnSp>
      <p:cxnSp>
        <p:nvCxnSpPr>
          <p:cNvPr id="14" name="Connector 13"/>
          <p:cNvCxnSpPr/>
          <p:nvPr/>
        </p:nvCxnSpPr>
        <p:spPr>
          <a:xfrm>
            <a:off x="685800" y="4423083"/>
            <a:ext cx="10820095" cy="0"/>
          </a:xfrm>
          <a:prstGeom prst="line">
            <a:avLst/>
          </a:prstGeom>
          <a:ln w="12700">
            <a:solidFill>
              <a:srgbClr val="D9D9D9"/>
            </a:solidFill>
            <a:prstDash val="dash"/>
          </a:ln>
        </p:spPr>
      </p:cxnSp>
      <p:cxnSp>
        <p:nvCxnSpPr>
          <p:cNvPr id="15" name="Connector 14"/>
          <p:cNvCxnSpPr/>
          <p:nvPr/>
        </p:nvCxnSpPr>
        <p:spPr>
          <a:xfrm>
            <a:off x="685800" y="4796681"/>
            <a:ext cx="10820095" cy="0"/>
          </a:xfrm>
          <a:prstGeom prst="line">
            <a:avLst/>
          </a:prstGeom>
          <a:ln w="12700">
            <a:solidFill>
              <a:srgbClr val="D9D9D9"/>
            </a:solidFill>
            <a:prstDash val="dash"/>
          </a:ln>
        </p:spPr>
      </p:cxnSp>
      <p:cxnSp>
        <p:nvCxnSpPr>
          <p:cNvPr id="16" name="Connector 15"/>
          <p:cNvCxnSpPr/>
          <p:nvPr/>
        </p:nvCxnSpPr>
        <p:spPr>
          <a:xfrm>
            <a:off x="685800" y="5170278"/>
            <a:ext cx="10820095" cy="0"/>
          </a:xfrm>
          <a:prstGeom prst="line">
            <a:avLst/>
          </a:prstGeom>
          <a:ln w="12700">
            <a:solidFill>
              <a:srgbClr val="D9D9D9"/>
            </a:solidFill>
            <a:prstDash val="dash"/>
          </a:ln>
        </p:spPr>
      </p:cxnSp>
      <p:cxnSp>
        <p:nvCxnSpPr>
          <p:cNvPr id="17" name="Connector 16"/>
          <p:cNvCxnSpPr/>
          <p:nvPr/>
        </p:nvCxnSpPr>
        <p:spPr>
          <a:xfrm>
            <a:off x="685800" y="5543876"/>
            <a:ext cx="10820095" cy="0"/>
          </a:xfrm>
          <a:prstGeom prst="line">
            <a:avLst/>
          </a:prstGeom>
          <a:ln w="12700">
            <a:solidFill>
              <a:srgbClr val="D9D9D9"/>
            </a:solidFill>
            <a:prstDash val="dash"/>
          </a:ln>
        </p:spPr>
      </p:cxnSp>
      <p:cxnSp>
        <p:nvCxnSpPr>
          <p:cNvPr id="18" name="Connector 17"/>
          <p:cNvCxnSpPr/>
          <p:nvPr/>
        </p:nvCxnSpPr>
        <p:spPr>
          <a:xfrm>
            <a:off x="685800" y="5917474"/>
            <a:ext cx="10820095" cy="0"/>
          </a:xfrm>
          <a:prstGeom prst="line">
            <a:avLst/>
          </a:prstGeom>
          <a:ln w="12700">
            <a:solidFill>
              <a:srgbClr val="D9D9D9"/>
            </a:solidFill>
            <a:prstDash val="dash"/>
          </a:ln>
        </p:spPr>
      </p:cxn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189</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12 / 250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örnek olaylardan çıkarımlar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6400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200" b="1" i="0">
                <a:solidFill>
                  <a:srgbClr val="262626"/>
                </a:solidFill>
                <a:latin typeface="Calibri"/>
              </a:rPr>
              <a:t>Verilen örnek olayları inceleyerek afetlerle ilgili çıkarımlarda bulununuz.</a:t>
            </a:r>
          </a:p>
        </p:txBody>
      </p:sp>
      <p:sp>
        <p:nvSpPr>
          <p:cNvPr id="7" name="Rounded Rectangle 6"/>
          <p:cNvSpPr/>
          <p:nvPr/>
        </p:nvSpPr>
        <p:spPr>
          <a:xfrm>
            <a:off x="502920" y="1975104"/>
            <a:ext cx="5524347" cy="1347216"/>
          </a:xfrm>
          <a:prstGeom prst="roundRect">
            <a:avLst>
              <a:gd name="adj" fmla="val 10000"/>
            </a:avLst>
          </a:prstGeom>
          <a:solidFill>
            <a:srgbClr val="E3F1E4"/>
          </a:solidFill>
          <a:ln>
            <a:noFill/>
          </a:ln>
          <a:effectLst/>
        </p:spPr>
        <p:txBody>
          <a:bodyPr rtlCol="0" anchor="ctr"/>
          <a:lstStyle/>
          <a:p/>
        </p:txBody>
      </p:sp>
      <p:sp>
        <p:nvSpPr>
          <p:cNvPr id="8" name="Rounded Rectangle 7"/>
          <p:cNvSpPr/>
          <p:nvPr/>
        </p:nvSpPr>
        <p:spPr>
          <a:xfrm>
            <a:off x="502920" y="1975104"/>
            <a:ext cx="1554480" cy="1347216"/>
          </a:xfrm>
          <a:prstGeom prst="roundRect">
            <a:avLst>
              <a:gd name="adj" fmla="val 10000"/>
            </a:avLst>
          </a:prstGeom>
          <a:solidFill>
            <a:srgbClr val="2E7D32"/>
          </a:solidFill>
          <a:ln>
            <a:noFill/>
          </a:ln>
          <a:effectLst/>
        </p:spPr>
        <p:txBody>
          <a:bodyPr rtlCol="0" anchor="ctr" wrap="square" lIns="45720" rIns="45720" tIns="73152" bIns="73152">
            <a:noAutofit/>
          </a:bodyPr>
          <a:lstStyle/>
          <a:p>
            <a:pPr algn="ctr">
              <a:spcBef>
                <a:spcPts val="0"/>
              </a:spcBef>
              <a:spcAft>
                <a:spcPts val="0"/>
              </a:spcAft>
            </a:pPr>
            <a:r>
              <a:rPr lang="tr-TR" sz="1800" b="1" i="0">
                <a:solidFill>
                  <a:srgbClr val="FFFFFF"/>
                </a:solidFill>
                <a:latin typeface="Calibri"/>
              </a:rPr>
              <a:t>Her yerde</a:t>
            </a:r>
          </a:p>
        </p:txBody>
      </p:sp>
      <p:sp>
        <p:nvSpPr>
          <p:cNvPr id="9" name="TextBox 8"/>
          <p:cNvSpPr txBox="1"/>
          <p:nvPr/>
        </p:nvSpPr>
        <p:spPr>
          <a:xfrm>
            <a:off x="2148840" y="1975104"/>
            <a:ext cx="3832707" cy="134721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Afetler dünyanın farklı yerlerinde görülür: Endonezya, Türkiye, Hindistan, İtalya, Avustralya.</a:t>
            </a:r>
          </a:p>
        </p:txBody>
      </p:sp>
      <p:sp>
        <p:nvSpPr>
          <p:cNvPr id="10" name="Rounded Rectangle 9"/>
          <p:cNvSpPr/>
          <p:nvPr/>
        </p:nvSpPr>
        <p:spPr>
          <a:xfrm>
            <a:off x="6164427" y="1975104"/>
            <a:ext cx="5524347" cy="1347216"/>
          </a:xfrm>
          <a:prstGeom prst="roundRect">
            <a:avLst>
              <a:gd name="adj" fmla="val 10000"/>
            </a:avLst>
          </a:prstGeom>
          <a:solidFill>
            <a:srgbClr val="E3F1E4"/>
          </a:solidFill>
          <a:ln>
            <a:noFill/>
          </a:ln>
          <a:effectLst/>
        </p:spPr>
        <p:txBody>
          <a:bodyPr rtlCol="0" anchor="ctr"/>
          <a:lstStyle/>
          <a:p/>
        </p:txBody>
      </p:sp>
      <p:sp>
        <p:nvSpPr>
          <p:cNvPr id="11" name="Rounded Rectangle 10"/>
          <p:cNvSpPr/>
          <p:nvPr/>
        </p:nvSpPr>
        <p:spPr>
          <a:xfrm>
            <a:off x="6164427" y="1975104"/>
            <a:ext cx="1554480" cy="1347216"/>
          </a:xfrm>
          <a:prstGeom prst="roundRect">
            <a:avLst>
              <a:gd name="adj" fmla="val 10000"/>
            </a:avLst>
          </a:prstGeom>
          <a:solidFill>
            <a:srgbClr val="2E7D32"/>
          </a:solidFill>
          <a:ln>
            <a:noFill/>
          </a:ln>
          <a:effectLst/>
        </p:spPr>
        <p:txBody>
          <a:bodyPr rtlCol="0" anchor="ctr" wrap="square" lIns="45720" rIns="45720" tIns="73152" bIns="73152">
            <a:noAutofit/>
          </a:bodyPr>
          <a:lstStyle/>
          <a:p>
            <a:pPr algn="ctr">
              <a:spcBef>
                <a:spcPts val="0"/>
              </a:spcBef>
              <a:spcAft>
                <a:spcPts val="0"/>
              </a:spcAft>
            </a:pPr>
            <a:r>
              <a:rPr lang="tr-TR" sz="1800" b="1" i="0">
                <a:solidFill>
                  <a:srgbClr val="FFFFFF"/>
                </a:solidFill>
                <a:latin typeface="Calibri"/>
              </a:rPr>
              <a:t>Kaynak</a:t>
            </a:r>
          </a:p>
        </p:txBody>
      </p:sp>
      <p:sp>
        <p:nvSpPr>
          <p:cNvPr id="12" name="TextBox 11"/>
          <p:cNvSpPr txBox="1"/>
          <p:nvPr/>
        </p:nvSpPr>
        <p:spPr>
          <a:xfrm>
            <a:off x="7810347" y="1975104"/>
            <a:ext cx="3832707" cy="134721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Bazıları doğa olaylarından (volkan, çığ, deprem, sel), bazıları insan faaliyetlerinden (tren kazası) kaynaklanır.</a:t>
            </a:r>
          </a:p>
        </p:txBody>
      </p:sp>
      <p:sp>
        <p:nvSpPr>
          <p:cNvPr id="13" name="Rounded Rectangle 12"/>
          <p:cNvSpPr/>
          <p:nvPr/>
        </p:nvSpPr>
        <p:spPr>
          <a:xfrm>
            <a:off x="502920" y="3459480"/>
            <a:ext cx="5524347" cy="1347216"/>
          </a:xfrm>
          <a:prstGeom prst="roundRect">
            <a:avLst>
              <a:gd name="adj" fmla="val 10000"/>
            </a:avLst>
          </a:prstGeom>
          <a:solidFill>
            <a:srgbClr val="E3F1E4"/>
          </a:solidFill>
          <a:ln>
            <a:noFill/>
          </a:ln>
          <a:effectLst/>
        </p:spPr>
        <p:txBody>
          <a:bodyPr rtlCol="0" anchor="ctr"/>
          <a:lstStyle/>
          <a:p/>
        </p:txBody>
      </p:sp>
      <p:sp>
        <p:nvSpPr>
          <p:cNvPr id="14" name="Rounded Rectangle 13"/>
          <p:cNvSpPr/>
          <p:nvPr/>
        </p:nvSpPr>
        <p:spPr>
          <a:xfrm>
            <a:off x="502920" y="3459480"/>
            <a:ext cx="1554480" cy="1347216"/>
          </a:xfrm>
          <a:prstGeom prst="roundRect">
            <a:avLst>
              <a:gd name="adj" fmla="val 10000"/>
            </a:avLst>
          </a:prstGeom>
          <a:solidFill>
            <a:srgbClr val="2E7D32"/>
          </a:solidFill>
          <a:ln>
            <a:noFill/>
          </a:ln>
          <a:effectLst/>
        </p:spPr>
        <p:txBody>
          <a:bodyPr rtlCol="0" anchor="ctr" wrap="square" lIns="45720" rIns="45720" tIns="73152" bIns="73152">
            <a:noAutofit/>
          </a:bodyPr>
          <a:lstStyle/>
          <a:p>
            <a:pPr algn="ctr">
              <a:spcBef>
                <a:spcPts val="0"/>
              </a:spcBef>
              <a:spcAft>
                <a:spcPts val="0"/>
              </a:spcAft>
            </a:pPr>
            <a:r>
              <a:rPr lang="tr-TR" sz="1800" b="1" i="0">
                <a:solidFill>
                  <a:srgbClr val="FFFFFF"/>
                </a:solidFill>
                <a:latin typeface="Calibri"/>
              </a:rPr>
              <a:t>Sonuç</a:t>
            </a:r>
          </a:p>
        </p:txBody>
      </p:sp>
      <p:sp>
        <p:nvSpPr>
          <p:cNvPr id="15" name="TextBox 14"/>
          <p:cNvSpPr txBox="1"/>
          <p:nvPr/>
        </p:nvSpPr>
        <p:spPr>
          <a:xfrm>
            <a:off x="2148840" y="3459480"/>
            <a:ext cx="3832707" cy="134721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Can kaybına, yaralanmalara, evlerin yıkılmasına ya da yanmasına ve tahliyeye yol açarlar.</a:t>
            </a:r>
          </a:p>
        </p:txBody>
      </p:sp>
      <p:sp>
        <p:nvSpPr>
          <p:cNvPr id="16" name="Rounded Rectangle 15"/>
          <p:cNvSpPr/>
          <p:nvPr/>
        </p:nvSpPr>
        <p:spPr>
          <a:xfrm>
            <a:off x="6164427" y="3459480"/>
            <a:ext cx="5524347" cy="1347216"/>
          </a:xfrm>
          <a:prstGeom prst="roundRect">
            <a:avLst>
              <a:gd name="adj" fmla="val 10000"/>
            </a:avLst>
          </a:prstGeom>
          <a:solidFill>
            <a:srgbClr val="E3F1E4"/>
          </a:solidFill>
          <a:ln>
            <a:noFill/>
          </a:ln>
          <a:effectLst/>
        </p:spPr>
        <p:txBody>
          <a:bodyPr rtlCol="0" anchor="ctr"/>
          <a:lstStyle/>
          <a:p/>
        </p:txBody>
      </p:sp>
      <p:sp>
        <p:nvSpPr>
          <p:cNvPr id="17" name="Rounded Rectangle 16"/>
          <p:cNvSpPr/>
          <p:nvPr/>
        </p:nvSpPr>
        <p:spPr>
          <a:xfrm>
            <a:off x="6164427" y="3459480"/>
            <a:ext cx="1554480" cy="1347216"/>
          </a:xfrm>
          <a:prstGeom prst="roundRect">
            <a:avLst>
              <a:gd name="adj" fmla="val 10000"/>
            </a:avLst>
          </a:prstGeom>
          <a:solidFill>
            <a:srgbClr val="2E7D32"/>
          </a:solidFill>
          <a:ln>
            <a:noFill/>
          </a:ln>
          <a:effectLst/>
        </p:spPr>
        <p:txBody>
          <a:bodyPr rtlCol="0" anchor="ctr" wrap="square" lIns="45720" rIns="45720" tIns="73152" bIns="73152">
            <a:noAutofit/>
          </a:bodyPr>
          <a:lstStyle/>
          <a:p>
            <a:pPr algn="ctr">
              <a:spcBef>
                <a:spcPts val="0"/>
              </a:spcBef>
              <a:spcAft>
                <a:spcPts val="0"/>
              </a:spcAft>
            </a:pPr>
            <a:r>
              <a:rPr lang="tr-TR" sz="1800" b="1" i="0">
                <a:solidFill>
                  <a:srgbClr val="FFFFFF"/>
                </a:solidFill>
                <a:latin typeface="Calibri"/>
              </a:rPr>
              <a:t>Etki</a:t>
            </a:r>
          </a:p>
        </p:txBody>
      </p:sp>
      <p:sp>
        <p:nvSpPr>
          <p:cNvPr id="18" name="TextBox 17"/>
          <p:cNvSpPr txBox="1"/>
          <p:nvPr/>
        </p:nvSpPr>
        <p:spPr>
          <a:xfrm>
            <a:off x="7810347" y="3459480"/>
            <a:ext cx="3832707" cy="134721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Etkilerin büyüklüğü farklıdır: bazı afetlerde çok sayıda insan hayatını kaybeder.</a:t>
            </a:r>
          </a:p>
        </p:txBody>
      </p:sp>
      <p:sp>
        <p:nvSpPr>
          <p:cNvPr id="19" name="Rounded Rectangle 18"/>
          <p:cNvSpPr/>
          <p:nvPr/>
        </p:nvSpPr>
        <p:spPr>
          <a:xfrm>
            <a:off x="502920" y="4943856"/>
            <a:ext cx="5524347" cy="1347216"/>
          </a:xfrm>
          <a:prstGeom prst="roundRect">
            <a:avLst>
              <a:gd name="adj" fmla="val 10000"/>
            </a:avLst>
          </a:prstGeom>
          <a:solidFill>
            <a:srgbClr val="E3F1E4"/>
          </a:solidFill>
          <a:ln>
            <a:noFill/>
          </a:ln>
          <a:effectLst/>
        </p:spPr>
        <p:txBody>
          <a:bodyPr rtlCol="0" anchor="ctr"/>
          <a:lstStyle/>
          <a:p/>
        </p:txBody>
      </p:sp>
      <p:sp>
        <p:nvSpPr>
          <p:cNvPr id="20" name="Rounded Rectangle 19"/>
          <p:cNvSpPr/>
          <p:nvPr/>
        </p:nvSpPr>
        <p:spPr>
          <a:xfrm>
            <a:off x="502920" y="4943856"/>
            <a:ext cx="1554480" cy="1347216"/>
          </a:xfrm>
          <a:prstGeom prst="roundRect">
            <a:avLst>
              <a:gd name="adj" fmla="val 10000"/>
            </a:avLst>
          </a:prstGeom>
          <a:solidFill>
            <a:srgbClr val="2E7D32"/>
          </a:solidFill>
          <a:ln>
            <a:noFill/>
          </a:ln>
          <a:effectLst/>
        </p:spPr>
        <p:txBody>
          <a:bodyPr rtlCol="0" anchor="ctr" wrap="square" lIns="45720" rIns="45720" tIns="73152" bIns="73152">
            <a:noAutofit/>
          </a:bodyPr>
          <a:lstStyle/>
          <a:p>
            <a:pPr algn="ctr">
              <a:spcBef>
                <a:spcPts val="0"/>
              </a:spcBef>
              <a:spcAft>
                <a:spcPts val="0"/>
              </a:spcAft>
            </a:pPr>
            <a:r>
              <a:rPr lang="tr-TR" sz="1800" b="1" i="0">
                <a:solidFill>
                  <a:srgbClr val="FFFFFF"/>
                </a:solidFill>
                <a:latin typeface="Calibri"/>
              </a:rPr>
              <a:t>Önlem</a:t>
            </a:r>
          </a:p>
        </p:txBody>
      </p:sp>
      <p:sp>
        <p:nvSpPr>
          <p:cNvPr id="21" name="TextBox 20"/>
          <p:cNvSpPr txBox="1"/>
          <p:nvPr/>
        </p:nvSpPr>
        <p:spPr>
          <a:xfrm>
            <a:off x="2148840" y="4943856"/>
            <a:ext cx="3832707" cy="134721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Kurtarma ve tahliye kaybı azaltır: Merapi'de dağcılar kurtarıldı, Avustralya'da insanlar tahliye edildi.</a:t>
            </a:r>
          </a:p>
        </p:txBody>
      </p:sp>
      <p:sp>
        <p:nvSpPr>
          <p:cNvPr id="22" name="Rounded Rectangle 21"/>
          <p:cNvSpPr/>
          <p:nvPr/>
        </p:nvSpPr>
        <p:spPr>
          <a:xfrm>
            <a:off x="6164427" y="4943856"/>
            <a:ext cx="5524347" cy="1347216"/>
          </a:xfrm>
          <a:prstGeom prst="roundRect">
            <a:avLst>
              <a:gd name="adj" fmla="val 10000"/>
            </a:avLst>
          </a:prstGeom>
          <a:solidFill>
            <a:srgbClr val="E3F1E4"/>
          </a:solidFill>
          <a:ln>
            <a:noFill/>
          </a:ln>
          <a:effectLst/>
        </p:spPr>
        <p:txBody>
          <a:bodyPr rtlCol="0" anchor="ctr"/>
          <a:lstStyle/>
          <a:p/>
        </p:txBody>
      </p:sp>
      <p:sp>
        <p:nvSpPr>
          <p:cNvPr id="23" name="Rounded Rectangle 22"/>
          <p:cNvSpPr/>
          <p:nvPr/>
        </p:nvSpPr>
        <p:spPr>
          <a:xfrm>
            <a:off x="6164427" y="4943856"/>
            <a:ext cx="1554480" cy="1347216"/>
          </a:xfrm>
          <a:prstGeom prst="roundRect">
            <a:avLst>
              <a:gd name="adj" fmla="val 10000"/>
            </a:avLst>
          </a:prstGeom>
          <a:solidFill>
            <a:srgbClr val="2E7D32"/>
          </a:solidFill>
          <a:ln>
            <a:noFill/>
          </a:ln>
          <a:effectLst/>
        </p:spPr>
        <p:txBody>
          <a:bodyPr rtlCol="0" anchor="ctr" wrap="square" lIns="45720" rIns="45720" tIns="73152" bIns="73152">
            <a:noAutofit/>
          </a:bodyPr>
          <a:lstStyle/>
          <a:p>
            <a:pPr algn="ctr">
              <a:spcBef>
                <a:spcPts val="0"/>
              </a:spcBef>
              <a:spcAft>
                <a:spcPts val="0"/>
              </a:spcAft>
            </a:pPr>
            <a:r>
              <a:rPr lang="tr-TR" sz="1800" b="1" i="0">
                <a:solidFill>
                  <a:srgbClr val="FFFFFF"/>
                </a:solidFill>
                <a:latin typeface="Calibri"/>
              </a:rPr>
              <a:t>Sıra dışı</a:t>
            </a:r>
          </a:p>
        </p:txBody>
      </p:sp>
      <p:sp>
        <p:nvSpPr>
          <p:cNvPr id="24" name="TextBox 23"/>
          <p:cNvSpPr txBox="1"/>
          <p:nvPr/>
        </p:nvSpPr>
        <p:spPr>
          <a:xfrm>
            <a:off x="7810347" y="4943856"/>
            <a:ext cx="3832707" cy="1347216"/>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Sıra dışı doğa olayları afete dönüşebilir: İtalya'da altı aylık yağmur bir buçuk günde yağdı.</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189</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13 / 250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soru: yakın çevremizdeki tehlikeler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KONUYA BAŞLARKEN · 3</a:t>
            </a:r>
          </a:p>
        </p:txBody>
      </p:sp>
      <p:sp>
        <p:nvSpPr>
          <p:cNvPr id="6" name="Rounded Rectangle 5"/>
          <p:cNvSpPr/>
          <p:nvPr/>
        </p:nvSpPr>
        <p:spPr>
          <a:xfrm>
            <a:off x="502920" y="1207008"/>
            <a:ext cx="11185855" cy="6400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200" b="1" i="0">
                <a:solidFill>
                  <a:srgbClr val="262626"/>
                </a:solidFill>
                <a:latin typeface="Calibri"/>
              </a:rPr>
              <a:t>Afete dönüşebilecek tehlikelere yakın çevrenizden örnekler veriniz.</a:t>
            </a:r>
          </a:p>
        </p:txBody>
      </p:sp>
      <p:sp>
        <p:nvSpPr>
          <p:cNvPr id="7" name="Rounded Rectangle 6"/>
          <p:cNvSpPr/>
          <p:nvPr/>
        </p:nvSpPr>
        <p:spPr>
          <a:xfrm>
            <a:off x="502920" y="1975104"/>
            <a:ext cx="5501487" cy="3749040"/>
          </a:xfrm>
          <a:prstGeom prst="roundRect">
            <a:avLst>
              <a:gd name="adj" fmla="val 5000"/>
            </a:avLst>
          </a:prstGeom>
          <a:solidFill>
            <a:srgbClr val="FFFFFF"/>
          </a:solidFill>
          <a:ln>
            <a:noFill/>
          </a:ln>
          <a:effectLst/>
        </p:spPr>
        <p:txBody>
          <a:bodyPr rtlCol="0" anchor="ctr"/>
          <a:lstStyle/>
          <a:p/>
        </p:txBody>
      </p:sp>
      <p:sp>
        <p:nvSpPr>
          <p:cNvPr id="8" name="Rounded Rectangle 7"/>
          <p:cNvSpPr/>
          <p:nvPr/>
        </p:nvSpPr>
        <p:spPr>
          <a:xfrm>
            <a:off x="502920" y="1975104"/>
            <a:ext cx="5501487" cy="685800"/>
          </a:xfrm>
          <a:prstGeom prst="roundRect">
            <a:avLst>
              <a:gd name="adj" fmla="val 25000"/>
            </a:avLst>
          </a:prstGeom>
          <a:solidFill>
            <a:srgbClr val="A63A32"/>
          </a:solidFill>
          <a:ln>
            <a:noFill/>
          </a:ln>
          <a:effectLst/>
        </p:spPr>
        <p:txBody>
          <a:bodyPr rtlCol="0" anchor="ctr"/>
          <a:lstStyle/>
          <a:p/>
        </p:txBody>
      </p:sp>
      <p:sp>
        <p:nvSpPr>
          <p:cNvPr id="9" name="Rectangle 8"/>
          <p:cNvSpPr/>
          <p:nvPr/>
        </p:nvSpPr>
        <p:spPr>
          <a:xfrm>
            <a:off x="502920" y="2318004"/>
            <a:ext cx="5501487" cy="342900"/>
          </a:xfrm>
          <a:prstGeom prst="rect">
            <a:avLst/>
          </a:prstGeom>
          <a:solidFill>
            <a:srgbClr val="A63A32"/>
          </a:solidFill>
          <a:ln>
            <a:noFill/>
          </a:ln>
          <a:effectLst/>
        </p:spPr>
        <p:txBody>
          <a:bodyPr rtlCol="0" anchor="ctr"/>
          <a:lstStyle/>
          <a:p/>
        </p:txBody>
      </p:sp>
      <p:sp>
        <p:nvSpPr>
          <p:cNvPr id="10" name="TextBox 9"/>
          <p:cNvSpPr txBox="1"/>
          <p:nvPr/>
        </p:nvSpPr>
        <p:spPr>
          <a:xfrm>
            <a:off x="594360" y="1975104"/>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Tehlike: olay ya da durum</a:t>
            </a:r>
          </a:p>
        </p:txBody>
      </p:sp>
      <p:sp>
        <p:nvSpPr>
          <p:cNvPr id="11" name="Rounded Rectangle 10"/>
          <p:cNvSpPr/>
          <p:nvPr/>
        </p:nvSpPr>
        <p:spPr>
          <a:xfrm>
            <a:off x="502920" y="1975104"/>
            <a:ext cx="5501487" cy="3749040"/>
          </a:xfrm>
          <a:prstGeom prst="roundRect">
            <a:avLst>
              <a:gd name="adj" fmla="val 5000"/>
            </a:avLst>
          </a:prstGeom>
          <a:noFill/>
          <a:ln w="12700">
            <a:solidFill>
              <a:srgbClr val="D9D9D9"/>
            </a:solidFill>
          </a:ln>
          <a:effectLst/>
        </p:spPr>
        <p:txBody>
          <a:bodyPr rtlCol="0" anchor="ctr"/>
          <a:lstStyle/>
          <a:p/>
        </p:txBody>
      </p:sp>
      <p:cxnSp>
        <p:nvCxnSpPr>
          <p:cNvPr id="12" name="Connector 11"/>
          <p:cNvCxnSpPr/>
          <p:nvPr/>
        </p:nvCxnSpPr>
        <p:spPr>
          <a:xfrm>
            <a:off x="685800" y="3273552"/>
            <a:ext cx="5135727" cy="0"/>
          </a:xfrm>
          <a:prstGeom prst="line">
            <a:avLst/>
          </a:prstGeom>
          <a:ln w="12700">
            <a:solidFill>
              <a:srgbClr val="D9D9D9"/>
            </a:solidFill>
            <a:prstDash val="dash"/>
          </a:ln>
        </p:spPr>
      </p:cxnSp>
      <p:cxnSp>
        <p:nvCxnSpPr>
          <p:cNvPr id="13" name="Connector 12"/>
          <p:cNvCxnSpPr/>
          <p:nvPr/>
        </p:nvCxnSpPr>
        <p:spPr>
          <a:xfrm>
            <a:off x="685800" y="3886200"/>
            <a:ext cx="5135727" cy="0"/>
          </a:xfrm>
          <a:prstGeom prst="line">
            <a:avLst/>
          </a:prstGeom>
          <a:ln w="12700">
            <a:solidFill>
              <a:srgbClr val="D9D9D9"/>
            </a:solidFill>
            <a:prstDash val="dash"/>
          </a:ln>
        </p:spPr>
      </p:cxnSp>
      <p:cxnSp>
        <p:nvCxnSpPr>
          <p:cNvPr id="14" name="Connector 13"/>
          <p:cNvCxnSpPr/>
          <p:nvPr/>
        </p:nvCxnSpPr>
        <p:spPr>
          <a:xfrm>
            <a:off x="685800" y="4498848"/>
            <a:ext cx="5135727" cy="0"/>
          </a:xfrm>
          <a:prstGeom prst="line">
            <a:avLst/>
          </a:prstGeom>
          <a:ln w="12700">
            <a:solidFill>
              <a:srgbClr val="D9D9D9"/>
            </a:solidFill>
            <a:prstDash val="dash"/>
          </a:ln>
        </p:spPr>
      </p:cxnSp>
      <p:cxnSp>
        <p:nvCxnSpPr>
          <p:cNvPr id="15" name="Connector 14"/>
          <p:cNvCxnSpPr/>
          <p:nvPr/>
        </p:nvCxnSpPr>
        <p:spPr>
          <a:xfrm>
            <a:off x="685800" y="5111496"/>
            <a:ext cx="5135727" cy="0"/>
          </a:xfrm>
          <a:prstGeom prst="line">
            <a:avLst/>
          </a:prstGeom>
          <a:ln w="12700">
            <a:solidFill>
              <a:srgbClr val="D9D9D9"/>
            </a:solidFill>
            <a:prstDash val="dash"/>
          </a:ln>
        </p:spPr>
      </p:cxnSp>
      <p:sp>
        <p:nvSpPr>
          <p:cNvPr id="16" name="Rounded Rectangle 15"/>
          <p:cNvSpPr/>
          <p:nvPr/>
        </p:nvSpPr>
        <p:spPr>
          <a:xfrm>
            <a:off x="6187287" y="1975104"/>
            <a:ext cx="5501487" cy="3749040"/>
          </a:xfrm>
          <a:prstGeom prst="roundRect">
            <a:avLst>
              <a:gd name="adj" fmla="val 5000"/>
            </a:avLst>
          </a:prstGeom>
          <a:solidFill>
            <a:srgbClr val="FFFFFF"/>
          </a:solidFill>
          <a:ln>
            <a:noFill/>
          </a:ln>
          <a:effectLst/>
        </p:spPr>
        <p:txBody>
          <a:bodyPr rtlCol="0" anchor="ctr"/>
          <a:lstStyle/>
          <a:p/>
        </p:txBody>
      </p:sp>
      <p:sp>
        <p:nvSpPr>
          <p:cNvPr id="17" name="Rounded Rectangle 16"/>
          <p:cNvSpPr/>
          <p:nvPr/>
        </p:nvSpPr>
        <p:spPr>
          <a:xfrm>
            <a:off x="6187287" y="1975104"/>
            <a:ext cx="5501487" cy="685800"/>
          </a:xfrm>
          <a:prstGeom prst="roundRect">
            <a:avLst>
              <a:gd name="adj" fmla="val 25000"/>
            </a:avLst>
          </a:prstGeom>
          <a:solidFill>
            <a:srgbClr val="4F4F4F"/>
          </a:solidFill>
          <a:ln>
            <a:noFill/>
          </a:ln>
          <a:effectLst/>
        </p:spPr>
        <p:txBody>
          <a:bodyPr rtlCol="0" anchor="ctr"/>
          <a:lstStyle/>
          <a:p/>
        </p:txBody>
      </p:sp>
      <p:sp>
        <p:nvSpPr>
          <p:cNvPr id="18" name="Rectangle 17"/>
          <p:cNvSpPr/>
          <p:nvPr/>
        </p:nvSpPr>
        <p:spPr>
          <a:xfrm>
            <a:off x="6187287" y="2318004"/>
            <a:ext cx="5501487" cy="342900"/>
          </a:xfrm>
          <a:prstGeom prst="rect">
            <a:avLst/>
          </a:prstGeom>
          <a:solidFill>
            <a:srgbClr val="4F4F4F"/>
          </a:solidFill>
          <a:ln>
            <a:noFill/>
          </a:ln>
          <a:effectLst/>
        </p:spPr>
        <p:txBody>
          <a:bodyPr rtlCol="0" anchor="ctr"/>
          <a:lstStyle/>
          <a:p/>
        </p:txBody>
      </p:sp>
      <p:sp>
        <p:nvSpPr>
          <p:cNvPr id="19" name="TextBox 18"/>
          <p:cNvSpPr txBox="1"/>
          <p:nvPr/>
        </p:nvSpPr>
        <p:spPr>
          <a:xfrm>
            <a:off x="6278727" y="1975104"/>
            <a:ext cx="5318607" cy="68580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Afete nasıl dönüşebilir?</a:t>
            </a:r>
          </a:p>
        </p:txBody>
      </p:sp>
      <p:sp>
        <p:nvSpPr>
          <p:cNvPr id="20" name="Rounded Rectangle 19"/>
          <p:cNvSpPr/>
          <p:nvPr/>
        </p:nvSpPr>
        <p:spPr>
          <a:xfrm>
            <a:off x="6187287" y="1975104"/>
            <a:ext cx="5501487" cy="3749040"/>
          </a:xfrm>
          <a:prstGeom prst="roundRect">
            <a:avLst>
              <a:gd name="adj" fmla="val 5000"/>
            </a:avLst>
          </a:prstGeom>
          <a:noFill/>
          <a:ln w="12700">
            <a:solidFill>
              <a:srgbClr val="D9D9D9"/>
            </a:solidFill>
          </a:ln>
          <a:effectLst/>
        </p:spPr>
        <p:txBody>
          <a:bodyPr rtlCol="0" anchor="ctr"/>
          <a:lstStyle/>
          <a:p/>
        </p:txBody>
      </p:sp>
      <p:cxnSp>
        <p:nvCxnSpPr>
          <p:cNvPr id="21" name="Connector 20"/>
          <p:cNvCxnSpPr/>
          <p:nvPr/>
        </p:nvCxnSpPr>
        <p:spPr>
          <a:xfrm>
            <a:off x="6370167" y="3273552"/>
            <a:ext cx="5135727" cy="0"/>
          </a:xfrm>
          <a:prstGeom prst="line">
            <a:avLst/>
          </a:prstGeom>
          <a:ln w="12700">
            <a:solidFill>
              <a:srgbClr val="D9D9D9"/>
            </a:solidFill>
            <a:prstDash val="dash"/>
          </a:ln>
        </p:spPr>
      </p:cxnSp>
      <p:cxnSp>
        <p:nvCxnSpPr>
          <p:cNvPr id="22" name="Connector 21"/>
          <p:cNvCxnSpPr/>
          <p:nvPr/>
        </p:nvCxnSpPr>
        <p:spPr>
          <a:xfrm>
            <a:off x="6370167" y="3886200"/>
            <a:ext cx="5135727" cy="0"/>
          </a:xfrm>
          <a:prstGeom prst="line">
            <a:avLst/>
          </a:prstGeom>
          <a:ln w="12700">
            <a:solidFill>
              <a:srgbClr val="D9D9D9"/>
            </a:solidFill>
            <a:prstDash val="dash"/>
          </a:ln>
        </p:spPr>
      </p:cxnSp>
      <p:cxnSp>
        <p:nvCxnSpPr>
          <p:cNvPr id="23" name="Connector 22"/>
          <p:cNvCxnSpPr/>
          <p:nvPr/>
        </p:nvCxnSpPr>
        <p:spPr>
          <a:xfrm>
            <a:off x="6370167" y="4498848"/>
            <a:ext cx="5135727" cy="0"/>
          </a:xfrm>
          <a:prstGeom prst="line">
            <a:avLst/>
          </a:prstGeom>
          <a:ln w="12700">
            <a:solidFill>
              <a:srgbClr val="D9D9D9"/>
            </a:solidFill>
            <a:prstDash val="dash"/>
          </a:ln>
        </p:spPr>
      </p:cxnSp>
      <p:cxnSp>
        <p:nvCxnSpPr>
          <p:cNvPr id="24" name="Connector 23"/>
          <p:cNvCxnSpPr/>
          <p:nvPr/>
        </p:nvCxnSpPr>
        <p:spPr>
          <a:xfrm>
            <a:off x="6370167" y="5111496"/>
            <a:ext cx="5135727" cy="0"/>
          </a:xfrm>
          <a:prstGeom prst="line">
            <a:avLst/>
          </a:prstGeom>
          <a:ln w="12700">
            <a:solidFill>
              <a:srgbClr val="D9D9D9"/>
            </a:solidFill>
            <a:prstDash val="dash"/>
          </a:ln>
        </p:spPr>
      </p:cxnSp>
      <p:sp>
        <p:nvSpPr>
          <p:cNvPr id="25" name="Rounded Rectangle 24"/>
          <p:cNvSpPr/>
          <p:nvPr/>
        </p:nvSpPr>
        <p:spPr>
          <a:xfrm>
            <a:off x="502920" y="5815584"/>
            <a:ext cx="11185855" cy="4572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262626"/>
                </a:solidFill>
                <a:latin typeface="Calibri"/>
              </a:rPr>
              <a:t>Önce sınıfımıza, sonra okulumuza ve mahallemize bakalım · Toplanma alanımız neresi?</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189</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14 / 250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3. soru: yakın çevremizdeki tehlikeler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6400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200" b="1" i="0">
                <a:solidFill>
                  <a:srgbClr val="262626"/>
                </a:solidFill>
                <a:latin typeface="Calibri"/>
              </a:rPr>
              <a:t>Afete dönüşebilecek tehlikelere yakın çevrenizden örnekler veriniz.</a:t>
            </a:r>
          </a:p>
        </p:txBody>
      </p:sp>
      <p:sp>
        <p:nvSpPr>
          <p:cNvPr id="7" name="Rounded Rectangle 6"/>
          <p:cNvSpPr/>
          <p:nvPr/>
        </p:nvSpPr>
        <p:spPr>
          <a:xfrm>
            <a:off x="502920" y="1975104"/>
            <a:ext cx="5120640" cy="569976"/>
          </a:xfrm>
          <a:prstGeom prst="roundRect">
            <a:avLst>
              <a:gd name="adj" fmla="val 8000"/>
            </a:avLst>
          </a:prstGeom>
          <a:solidFill>
            <a:srgbClr val="E3F1E4"/>
          </a:solidFill>
          <a:ln w="12700">
            <a:solidFill>
              <a:srgbClr val="2E7D32"/>
            </a:solidFill>
          </a:ln>
          <a:effectLst/>
        </p:spPr>
        <p:txBody>
          <a:bodyPr rtlCol="0" anchor="ctr" wrap="square" lIns="109728" rIns="109728" tIns="73152" bIns="73152">
            <a:noAutofit/>
          </a:bodyPr>
          <a:lstStyle/>
          <a:p>
            <a:pPr algn="l">
              <a:spcBef>
                <a:spcPts val="0"/>
              </a:spcBef>
              <a:spcAft>
                <a:spcPts val="0"/>
              </a:spcAft>
            </a:pPr>
            <a:r>
              <a:rPr lang="tr-TR" sz="1700" b="1" i="0">
                <a:solidFill>
                  <a:srgbClr val="262626"/>
                </a:solidFill>
                <a:latin typeface="Calibri"/>
              </a:rPr>
              <a:t>Sınıfta sabitlenmemiş dolap ya da raf</a:t>
            </a:r>
          </a:p>
        </p:txBody>
      </p:sp>
      <p:cxnSp>
        <p:nvCxnSpPr>
          <p:cNvPr id="8" name="Connector 7"/>
          <p:cNvCxnSpPr/>
          <p:nvPr/>
        </p:nvCxnSpPr>
        <p:spPr>
          <a:xfrm>
            <a:off x="5678424" y="2260092"/>
            <a:ext cx="365760" cy="0"/>
          </a:xfrm>
          <a:prstGeom prst="line">
            <a:avLst/>
          </a:prstGeom>
          <a:ln w="38100">
            <a:solidFill>
              <a:srgbClr val="2E7D32"/>
            </a:solidFill>
            <a:tailEnd type="triangle" w="med" len="med"/>
          </a:ln>
        </p:spPr>
      </p:cxnSp>
      <p:sp>
        <p:nvSpPr>
          <p:cNvPr id="9" name="Rounded Rectangle 8"/>
          <p:cNvSpPr/>
          <p:nvPr/>
        </p:nvSpPr>
        <p:spPr>
          <a:xfrm>
            <a:off x="6099048" y="1975104"/>
            <a:ext cx="5589727" cy="569976"/>
          </a:xfrm>
          <a:prstGeom prst="roundRect">
            <a:avLst>
              <a:gd name="adj" fmla="val 8000"/>
            </a:avLst>
          </a:prstGeom>
          <a:solidFill>
            <a:srgbClr val="FFFFFF"/>
          </a:solidFill>
          <a:ln w="12700">
            <a:solidFill>
              <a:srgbClr val="D9D9D9"/>
            </a:solid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Depremde devrilir; yaralanma, çıkışın kapanması</a:t>
            </a:r>
          </a:p>
        </p:txBody>
      </p:sp>
      <p:sp>
        <p:nvSpPr>
          <p:cNvPr id="10" name="Rounded Rectangle 9"/>
          <p:cNvSpPr/>
          <p:nvPr/>
        </p:nvSpPr>
        <p:spPr>
          <a:xfrm>
            <a:off x="502920" y="2599944"/>
            <a:ext cx="5120640" cy="569976"/>
          </a:xfrm>
          <a:prstGeom prst="roundRect">
            <a:avLst>
              <a:gd name="adj" fmla="val 8000"/>
            </a:avLst>
          </a:prstGeom>
          <a:solidFill>
            <a:srgbClr val="E3F1E4"/>
          </a:solidFill>
          <a:ln w="12700">
            <a:solidFill>
              <a:srgbClr val="2E7D32"/>
            </a:solidFill>
          </a:ln>
          <a:effectLst/>
        </p:spPr>
        <p:txBody>
          <a:bodyPr rtlCol="0" anchor="ctr" wrap="square" lIns="109728" rIns="109728" tIns="73152" bIns="73152">
            <a:noAutofit/>
          </a:bodyPr>
          <a:lstStyle/>
          <a:p>
            <a:pPr algn="l">
              <a:spcBef>
                <a:spcPts val="0"/>
              </a:spcBef>
              <a:spcAft>
                <a:spcPts val="0"/>
              </a:spcAft>
            </a:pPr>
            <a:r>
              <a:rPr lang="tr-TR" sz="1700" b="1" i="0">
                <a:solidFill>
                  <a:srgbClr val="262626"/>
                </a:solidFill>
                <a:latin typeface="Calibri"/>
              </a:rPr>
              <a:t>Kapı önünde ve sıra aralarında bırakılan çantalar</a:t>
            </a:r>
          </a:p>
        </p:txBody>
      </p:sp>
      <p:cxnSp>
        <p:nvCxnSpPr>
          <p:cNvPr id="11" name="Connector 10"/>
          <p:cNvCxnSpPr/>
          <p:nvPr/>
        </p:nvCxnSpPr>
        <p:spPr>
          <a:xfrm>
            <a:off x="5678424" y="2884932"/>
            <a:ext cx="365760" cy="0"/>
          </a:xfrm>
          <a:prstGeom prst="line">
            <a:avLst/>
          </a:prstGeom>
          <a:ln w="38100">
            <a:solidFill>
              <a:srgbClr val="2E7D32"/>
            </a:solidFill>
            <a:tailEnd type="triangle" w="med" len="med"/>
          </a:ln>
        </p:spPr>
      </p:cxnSp>
      <p:sp>
        <p:nvSpPr>
          <p:cNvPr id="12" name="Rounded Rectangle 11"/>
          <p:cNvSpPr/>
          <p:nvPr/>
        </p:nvSpPr>
        <p:spPr>
          <a:xfrm>
            <a:off x="6099048" y="2599944"/>
            <a:ext cx="5589727" cy="569976"/>
          </a:xfrm>
          <a:prstGeom prst="roundRect">
            <a:avLst>
              <a:gd name="adj" fmla="val 8000"/>
            </a:avLst>
          </a:prstGeom>
          <a:solidFill>
            <a:srgbClr val="FFFFFF"/>
          </a:solidFill>
          <a:ln w="12700">
            <a:solidFill>
              <a:srgbClr val="D9D9D9"/>
            </a:solid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Tahliyede takılıp düşme, çıkışta gecikme</a:t>
            </a:r>
          </a:p>
        </p:txBody>
      </p:sp>
      <p:sp>
        <p:nvSpPr>
          <p:cNvPr id="13" name="Rounded Rectangle 12"/>
          <p:cNvSpPr/>
          <p:nvPr/>
        </p:nvSpPr>
        <p:spPr>
          <a:xfrm>
            <a:off x="502920" y="3224784"/>
            <a:ext cx="5120640" cy="569976"/>
          </a:xfrm>
          <a:prstGeom prst="roundRect">
            <a:avLst>
              <a:gd name="adj" fmla="val 8000"/>
            </a:avLst>
          </a:prstGeom>
          <a:solidFill>
            <a:srgbClr val="E3F1E4"/>
          </a:solidFill>
          <a:ln w="12700">
            <a:solidFill>
              <a:srgbClr val="2E7D32"/>
            </a:solidFill>
          </a:ln>
          <a:effectLst/>
        </p:spPr>
        <p:txBody>
          <a:bodyPr rtlCol="0" anchor="ctr" wrap="square" lIns="109728" rIns="109728" tIns="73152" bIns="73152">
            <a:noAutofit/>
          </a:bodyPr>
          <a:lstStyle/>
          <a:p>
            <a:pPr algn="l">
              <a:spcBef>
                <a:spcPts val="0"/>
              </a:spcBef>
              <a:spcAft>
                <a:spcPts val="0"/>
              </a:spcAft>
            </a:pPr>
            <a:r>
              <a:rPr lang="tr-TR" sz="1700" b="1" i="0">
                <a:solidFill>
                  <a:srgbClr val="262626"/>
                </a:solidFill>
                <a:latin typeface="Calibri"/>
              </a:rPr>
              <a:t>Açıkta kalan ya da hasarlı kablo, aşırı yüklenmiş priz</a:t>
            </a:r>
          </a:p>
        </p:txBody>
      </p:sp>
      <p:cxnSp>
        <p:nvCxnSpPr>
          <p:cNvPr id="14" name="Connector 13"/>
          <p:cNvCxnSpPr/>
          <p:nvPr/>
        </p:nvCxnSpPr>
        <p:spPr>
          <a:xfrm>
            <a:off x="5678424" y="3509772"/>
            <a:ext cx="365760" cy="0"/>
          </a:xfrm>
          <a:prstGeom prst="line">
            <a:avLst/>
          </a:prstGeom>
          <a:ln w="38100">
            <a:solidFill>
              <a:srgbClr val="2E7D32"/>
            </a:solidFill>
            <a:tailEnd type="triangle" w="med" len="med"/>
          </a:ln>
        </p:spPr>
      </p:cxnSp>
      <p:sp>
        <p:nvSpPr>
          <p:cNvPr id="15" name="Rounded Rectangle 14"/>
          <p:cNvSpPr/>
          <p:nvPr/>
        </p:nvSpPr>
        <p:spPr>
          <a:xfrm>
            <a:off x="6099048" y="3224784"/>
            <a:ext cx="5589727" cy="569976"/>
          </a:xfrm>
          <a:prstGeom prst="roundRect">
            <a:avLst>
              <a:gd name="adj" fmla="val 8000"/>
            </a:avLst>
          </a:prstGeom>
          <a:solidFill>
            <a:srgbClr val="FFFFFF"/>
          </a:solidFill>
          <a:ln w="12700">
            <a:solidFill>
              <a:srgbClr val="D9D9D9"/>
            </a:solid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Elektrik çarpması, yangın</a:t>
            </a:r>
          </a:p>
        </p:txBody>
      </p:sp>
      <p:sp>
        <p:nvSpPr>
          <p:cNvPr id="16" name="Rounded Rectangle 15"/>
          <p:cNvSpPr/>
          <p:nvPr/>
        </p:nvSpPr>
        <p:spPr>
          <a:xfrm>
            <a:off x="502920" y="3849624"/>
            <a:ext cx="5120640" cy="569976"/>
          </a:xfrm>
          <a:prstGeom prst="roundRect">
            <a:avLst>
              <a:gd name="adj" fmla="val 8000"/>
            </a:avLst>
          </a:prstGeom>
          <a:solidFill>
            <a:srgbClr val="E3F1E4"/>
          </a:solidFill>
          <a:ln w="12700">
            <a:solidFill>
              <a:srgbClr val="2E7D32"/>
            </a:solidFill>
          </a:ln>
          <a:effectLst/>
        </p:spPr>
        <p:txBody>
          <a:bodyPr rtlCol="0" anchor="ctr" wrap="square" lIns="109728" rIns="109728" tIns="73152" bIns="73152">
            <a:noAutofit/>
          </a:bodyPr>
          <a:lstStyle/>
          <a:p>
            <a:pPr algn="l">
              <a:spcBef>
                <a:spcPts val="0"/>
              </a:spcBef>
              <a:spcAft>
                <a:spcPts val="0"/>
              </a:spcAft>
            </a:pPr>
            <a:r>
              <a:rPr lang="tr-TR" sz="1700" b="1" i="0">
                <a:solidFill>
                  <a:srgbClr val="262626"/>
                </a:solidFill>
                <a:latin typeface="Calibri"/>
              </a:rPr>
              <a:t>Dere yatağına ya da kenarına yapılan binalar</a:t>
            </a:r>
          </a:p>
        </p:txBody>
      </p:sp>
      <p:cxnSp>
        <p:nvCxnSpPr>
          <p:cNvPr id="17" name="Connector 16"/>
          <p:cNvCxnSpPr/>
          <p:nvPr/>
        </p:nvCxnSpPr>
        <p:spPr>
          <a:xfrm>
            <a:off x="5678424" y="4134612"/>
            <a:ext cx="365760" cy="0"/>
          </a:xfrm>
          <a:prstGeom prst="line">
            <a:avLst/>
          </a:prstGeom>
          <a:ln w="38100">
            <a:solidFill>
              <a:srgbClr val="2E7D32"/>
            </a:solidFill>
            <a:tailEnd type="triangle" w="med" len="med"/>
          </a:ln>
        </p:spPr>
      </p:cxnSp>
      <p:sp>
        <p:nvSpPr>
          <p:cNvPr id="18" name="Rounded Rectangle 17"/>
          <p:cNvSpPr/>
          <p:nvPr/>
        </p:nvSpPr>
        <p:spPr>
          <a:xfrm>
            <a:off x="6099048" y="3849624"/>
            <a:ext cx="5589727" cy="569976"/>
          </a:xfrm>
          <a:prstGeom prst="roundRect">
            <a:avLst>
              <a:gd name="adj" fmla="val 8000"/>
            </a:avLst>
          </a:prstGeom>
          <a:solidFill>
            <a:srgbClr val="FFFFFF"/>
          </a:solidFill>
          <a:ln w="12700">
            <a:solidFill>
              <a:srgbClr val="D9D9D9"/>
            </a:solid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Aşırı yağışta sel ve taşkın (s. 191)</a:t>
            </a:r>
          </a:p>
        </p:txBody>
      </p:sp>
      <p:sp>
        <p:nvSpPr>
          <p:cNvPr id="19" name="Rounded Rectangle 18"/>
          <p:cNvSpPr/>
          <p:nvPr/>
        </p:nvSpPr>
        <p:spPr>
          <a:xfrm>
            <a:off x="502920" y="4474464"/>
            <a:ext cx="5120640" cy="569976"/>
          </a:xfrm>
          <a:prstGeom prst="roundRect">
            <a:avLst>
              <a:gd name="adj" fmla="val 8000"/>
            </a:avLst>
          </a:prstGeom>
          <a:solidFill>
            <a:srgbClr val="E3F1E4"/>
          </a:solidFill>
          <a:ln w="12700">
            <a:solidFill>
              <a:srgbClr val="2E7D32"/>
            </a:solidFill>
          </a:ln>
          <a:effectLst/>
        </p:spPr>
        <p:txBody>
          <a:bodyPr rtlCol="0" anchor="ctr" wrap="square" lIns="109728" rIns="109728" tIns="73152" bIns="73152">
            <a:noAutofit/>
          </a:bodyPr>
          <a:lstStyle/>
          <a:p>
            <a:pPr algn="l">
              <a:spcBef>
                <a:spcPts val="0"/>
              </a:spcBef>
              <a:spcAft>
                <a:spcPts val="0"/>
              </a:spcAft>
            </a:pPr>
            <a:r>
              <a:rPr lang="tr-TR" sz="1700" b="1" i="0">
                <a:solidFill>
                  <a:srgbClr val="262626"/>
                </a:solidFill>
                <a:latin typeface="Calibri"/>
              </a:rPr>
              <a:t>Depreme dirençli olmayan binalar</a:t>
            </a:r>
          </a:p>
        </p:txBody>
      </p:sp>
      <p:cxnSp>
        <p:nvCxnSpPr>
          <p:cNvPr id="20" name="Connector 19"/>
          <p:cNvCxnSpPr/>
          <p:nvPr/>
        </p:nvCxnSpPr>
        <p:spPr>
          <a:xfrm>
            <a:off x="5678424" y="4759452"/>
            <a:ext cx="365760" cy="0"/>
          </a:xfrm>
          <a:prstGeom prst="line">
            <a:avLst/>
          </a:prstGeom>
          <a:ln w="38100">
            <a:solidFill>
              <a:srgbClr val="2E7D32"/>
            </a:solidFill>
            <a:tailEnd type="triangle" w="med" len="med"/>
          </a:ln>
        </p:spPr>
      </p:cxnSp>
      <p:sp>
        <p:nvSpPr>
          <p:cNvPr id="21" name="Rounded Rectangle 20"/>
          <p:cNvSpPr/>
          <p:nvPr/>
        </p:nvSpPr>
        <p:spPr>
          <a:xfrm>
            <a:off x="6099048" y="4474464"/>
            <a:ext cx="5589727" cy="569976"/>
          </a:xfrm>
          <a:prstGeom prst="roundRect">
            <a:avLst>
              <a:gd name="adj" fmla="val 8000"/>
            </a:avLst>
          </a:prstGeom>
          <a:solidFill>
            <a:srgbClr val="FFFFFF"/>
          </a:solidFill>
          <a:ln w="12700">
            <a:solidFill>
              <a:srgbClr val="D9D9D9"/>
            </a:solid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Depremde yıkılma; can ve mal kaybı (s. 190)</a:t>
            </a:r>
          </a:p>
        </p:txBody>
      </p:sp>
      <p:sp>
        <p:nvSpPr>
          <p:cNvPr id="22" name="Rounded Rectangle 21"/>
          <p:cNvSpPr/>
          <p:nvPr/>
        </p:nvSpPr>
        <p:spPr>
          <a:xfrm>
            <a:off x="502920" y="5099304"/>
            <a:ext cx="5120640" cy="569976"/>
          </a:xfrm>
          <a:prstGeom prst="roundRect">
            <a:avLst>
              <a:gd name="adj" fmla="val 8000"/>
            </a:avLst>
          </a:prstGeom>
          <a:solidFill>
            <a:srgbClr val="E3F1E4"/>
          </a:solidFill>
          <a:ln w="12700">
            <a:solidFill>
              <a:srgbClr val="2E7D32"/>
            </a:solidFill>
          </a:ln>
          <a:effectLst/>
        </p:spPr>
        <p:txBody>
          <a:bodyPr rtlCol="0" anchor="ctr" wrap="square" lIns="109728" rIns="109728" tIns="73152" bIns="73152">
            <a:noAutofit/>
          </a:bodyPr>
          <a:lstStyle/>
          <a:p>
            <a:pPr algn="l">
              <a:spcBef>
                <a:spcPts val="0"/>
              </a:spcBef>
              <a:spcAft>
                <a:spcPts val="0"/>
              </a:spcAft>
            </a:pPr>
            <a:r>
              <a:rPr lang="tr-TR" sz="1500" b="1" i="0">
                <a:solidFill>
                  <a:srgbClr val="262626"/>
                </a:solidFill>
                <a:latin typeface="Calibri"/>
              </a:rPr>
              <a:t>İstanbul'un güneyinde, Marmara Denizi'nden geçen diri fay</a:t>
            </a:r>
          </a:p>
        </p:txBody>
      </p:sp>
      <p:cxnSp>
        <p:nvCxnSpPr>
          <p:cNvPr id="23" name="Connector 22"/>
          <p:cNvCxnSpPr/>
          <p:nvPr/>
        </p:nvCxnSpPr>
        <p:spPr>
          <a:xfrm>
            <a:off x="5678424" y="5384292"/>
            <a:ext cx="365760" cy="0"/>
          </a:xfrm>
          <a:prstGeom prst="line">
            <a:avLst/>
          </a:prstGeom>
          <a:ln w="38100">
            <a:solidFill>
              <a:srgbClr val="2E7D32"/>
            </a:solidFill>
            <a:tailEnd type="triangle" w="med" len="med"/>
          </a:ln>
        </p:spPr>
      </p:cxnSp>
      <p:sp>
        <p:nvSpPr>
          <p:cNvPr id="24" name="Rounded Rectangle 23"/>
          <p:cNvSpPr/>
          <p:nvPr/>
        </p:nvSpPr>
        <p:spPr>
          <a:xfrm>
            <a:off x="6099048" y="5099304"/>
            <a:ext cx="5589727" cy="569976"/>
          </a:xfrm>
          <a:prstGeom prst="roundRect">
            <a:avLst>
              <a:gd name="adj" fmla="val 8000"/>
            </a:avLst>
          </a:prstGeom>
          <a:solidFill>
            <a:srgbClr val="FFFFFF"/>
          </a:solidFill>
          <a:ln w="12700">
            <a:solidFill>
              <a:srgbClr val="D9D9D9"/>
            </a:solidFill>
          </a:ln>
          <a:effectLst/>
        </p:spPr>
        <p:txBody>
          <a:bodyPr rtlCol="0" anchor="ctr" wrap="square" lIns="109728" rIns="109728" tIns="73152" bIns="73152">
            <a:noAutofit/>
          </a:bodyPr>
          <a:lstStyle/>
          <a:p>
            <a:pPr algn="l">
              <a:spcBef>
                <a:spcPts val="0"/>
              </a:spcBef>
              <a:spcAft>
                <a:spcPts val="0"/>
              </a:spcAft>
            </a:pPr>
            <a:r>
              <a:rPr lang="tr-TR" sz="1700" b="0" i="0">
                <a:solidFill>
                  <a:srgbClr val="262626"/>
                </a:solidFill>
                <a:latin typeface="Calibri"/>
              </a:rPr>
              <a:t>Depremde dirençsiz binalarda can ve mal kaybı (Harita 6.1)</a:t>
            </a:r>
          </a:p>
        </p:txBody>
      </p:sp>
      <p:sp>
        <p:nvSpPr>
          <p:cNvPr id="25" name="Rounded Rectangle 24"/>
          <p:cNvSpPr/>
          <p:nvPr/>
        </p:nvSpPr>
        <p:spPr>
          <a:xfrm>
            <a:off x="502920" y="5815584"/>
            <a:ext cx="11185855" cy="45720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262626"/>
                </a:solidFill>
                <a:latin typeface="Calibri"/>
              </a:rPr>
              <a:t>Toplanma alanımız: öğretmenimiz söyler · İş Sağlığı ve Güvenliği Haftası: 4-10 Mayıs</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189</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15 / 250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Bir olay ne zaman afettir?</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6.1.1</a:t>
            </a:r>
          </a:p>
        </p:txBody>
      </p:sp>
      <p:sp>
        <p:nvSpPr>
          <p:cNvPr id="6" name="Rounded Rectangle 5"/>
          <p:cNvSpPr/>
          <p:nvPr/>
        </p:nvSpPr>
        <p:spPr>
          <a:xfrm>
            <a:off x="502920" y="1216152"/>
            <a:ext cx="11185855" cy="1143000"/>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143000"/>
          </a:xfrm>
          <a:prstGeom prst="rect">
            <a:avLst/>
          </a:prstGeom>
          <a:solidFill>
            <a:srgbClr val="A63A32"/>
          </a:solidFill>
          <a:ln>
            <a:noFill/>
          </a:ln>
          <a:effectLst/>
        </p:spPr>
        <p:txBody>
          <a:bodyPr rtlCol="0" anchor="ctr"/>
          <a:lstStyle/>
          <a:p/>
        </p:txBody>
      </p:sp>
      <p:sp>
        <p:nvSpPr>
          <p:cNvPr id="8" name="TextBox 7"/>
          <p:cNvSpPr txBox="1"/>
          <p:nvPr/>
        </p:nvSpPr>
        <p:spPr>
          <a:xfrm>
            <a:off x="777240" y="1216152"/>
            <a:ext cx="10774375" cy="1143000"/>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Bir olayın afet kabul edilebilmesi için insanlar, diğer canlılar ve çevre üzerinde etkiler meydana getirmesi gerekmektedir.</a:t>
            </a:r>
          </a:p>
        </p:txBody>
      </p:sp>
      <p:sp>
        <p:nvSpPr>
          <p:cNvPr id="9" name="Rounded Rectangle 8"/>
          <p:cNvSpPr/>
          <p:nvPr/>
        </p:nvSpPr>
        <p:spPr>
          <a:xfrm>
            <a:off x="502920" y="2542032"/>
            <a:ext cx="3594506" cy="1874519"/>
          </a:xfrm>
          <a:prstGeom prst="roundRect">
            <a:avLst>
              <a:gd name="adj" fmla="val 5000"/>
            </a:avLst>
          </a:prstGeom>
          <a:solidFill>
            <a:srgbClr val="F0F0F0"/>
          </a:solidFill>
          <a:ln>
            <a:noFill/>
          </a:ln>
          <a:effectLst/>
        </p:spPr>
        <p:txBody>
          <a:bodyPr rtlCol="0" anchor="ctr"/>
          <a:lstStyle/>
          <a:p/>
        </p:txBody>
      </p:sp>
      <p:sp>
        <p:nvSpPr>
          <p:cNvPr id="10" name="Rounded Rectangle 9"/>
          <p:cNvSpPr/>
          <p:nvPr/>
        </p:nvSpPr>
        <p:spPr>
          <a:xfrm>
            <a:off x="502920" y="2542032"/>
            <a:ext cx="3594506" cy="530352"/>
          </a:xfrm>
          <a:prstGeom prst="roundRect">
            <a:avLst>
              <a:gd name="adj" fmla="val 25000"/>
            </a:avLst>
          </a:prstGeom>
          <a:solidFill>
            <a:srgbClr val="A63A32"/>
          </a:solidFill>
          <a:ln>
            <a:noFill/>
          </a:ln>
          <a:effectLst/>
        </p:spPr>
        <p:txBody>
          <a:bodyPr rtlCol="0" anchor="ctr"/>
          <a:lstStyle/>
          <a:p/>
        </p:txBody>
      </p:sp>
      <p:sp>
        <p:nvSpPr>
          <p:cNvPr id="11" name="Rectangle 10"/>
          <p:cNvSpPr/>
          <p:nvPr/>
        </p:nvSpPr>
        <p:spPr>
          <a:xfrm>
            <a:off x="502920" y="2807208"/>
            <a:ext cx="3594506" cy="265176"/>
          </a:xfrm>
          <a:prstGeom prst="rect">
            <a:avLst/>
          </a:prstGeom>
          <a:solidFill>
            <a:srgbClr val="A63A32"/>
          </a:solidFill>
          <a:ln>
            <a:noFill/>
          </a:ln>
          <a:effectLst/>
        </p:spPr>
        <p:txBody>
          <a:bodyPr rtlCol="0" anchor="ctr"/>
          <a:lstStyle/>
          <a:p/>
        </p:txBody>
      </p:sp>
      <p:sp>
        <p:nvSpPr>
          <p:cNvPr id="12" name="TextBox 11"/>
          <p:cNvSpPr txBox="1"/>
          <p:nvPr/>
        </p:nvSpPr>
        <p:spPr>
          <a:xfrm>
            <a:off x="594360"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İnsanlar</a:t>
            </a:r>
          </a:p>
        </p:txBody>
      </p:sp>
      <p:sp>
        <p:nvSpPr>
          <p:cNvPr id="13" name="TextBox 12"/>
          <p:cNvSpPr txBox="1"/>
          <p:nvPr/>
        </p:nvSpPr>
        <p:spPr>
          <a:xfrm>
            <a:off x="612648" y="3145536"/>
            <a:ext cx="3375050" cy="1197863"/>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can kaybı, yaralanma, evini ve işini kaybetme</a:t>
            </a:r>
          </a:p>
        </p:txBody>
      </p:sp>
      <p:sp>
        <p:nvSpPr>
          <p:cNvPr id="14" name="Rounded Rectangle 13"/>
          <p:cNvSpPr/>
          <p:nvPr/>
        </p:nvSpPr>
        <p:spPr>
          <a:xfrm>
            <a:off x="4298594" y="2542032"/>
            <a:ext cx="3594506" cy="1874519"/>
          </a:xfrm>
          <a:prstGeom prst="roundRect">
            <a:avLst>
              <a:gd name="adj" fmla="val 5000"/>
            </a:avLst>
          </a:prstGeom>
          <a:solidFill>
            <a:srgbClr val="F0F0F0"/>
          </a:solidFill>
          <a:ln>
            <a:noFill/>
          </a:ln>
          <a:effectLst/>
        </p:spPr>
        <p:txBody>
          <a:bodyPr rtlCol="0" anchor="ctr"/>
          <a:lstStyle/>
          <a:p/>
        </p:txBody>
      </p:sp>
      <p:sp>
        <p:nvSpPr>
          <p:cNvPr id="15" name="Rounded Rectangle 14"/>
          <p:cNvSpPr/>
          <p:nvPr/>
        </p:nvSpPr>
        <p:spPr>
          <a:xfrm>
            <a:off x="4298594" y="2542032"/>
            <a:ext cx="3594506" cy="530352"/>
          </a:xfrm>
          <a:prstGeom prst="roundRect">
            <a:avLst>
              <a:gd name="adj" fmla="val 25000"/>
            </a:avLst>
          </a:prstGeom>
          <a:solidFill>
            <a:srgbClr val="4F4F4F"/>
          </a:solidFill>
          <a:ln>
            <a:noFill/>
          </a:ln>
          <a:effectLst/>
        </p:spPr>
        <p:txBody>
          <a:bodyPr rtlCol="0" anchor="ctr"/>
          <a:lstStyle/>
          <a:p/>
        </p:txBody>
      </p:sp>
      <p:sp>
        <p:nvSpPr>
          <p:cNvPr id="16" name="Rectangle 15"/>
          <p:cNvSpPr/>
          <p:nvPr/>
        </p:nvSpPr>
        <p:spPr>
          <a:xfrm>
            <a:off x="4298594" y="2807208"/>
            <a:ext cx="3594506" cy="265176"/>
          </a:xfrm>
          <a:prstGeom prst="rect">
            <a:avLst/>
          </a:prstGeom>
          <a:solidFill>
            <a:srgbClr val="4F4F4F"/>
          </a:solidFill>
          <a:ln>
            <a:noFill/>
          </a:ln>
          <a:effectLst/>
        </p:spPr>
        <p:txBody>
          <a:bodyPr rtlCol="0" anchor="ctr"/>
          <a:lstStyle/>
          <a:p/>
        </p:txBody>
      </p:sp>
      <p:sp>
        <p:nvSpPr>
          <p:cNvPr id="17" name="TextBox 16"/>
          <p:cNvSpPr txBox="1"/>
          <p:nvPr/>
        </p:nvSpPr>
        <p:spPr>
          <a:xfrm>
            <a:off x="4390034"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Diğer canlılar</a:t>
            </a:r>
          </a:p>
        </p:txBody>
      </p:sp>
      <p:sp>
        <p:nvSpPr>
          <p:cNvPr id="18" name="TextBox 17"/>
          <p:cNvSpPr txBox="1"/>
          <p:nvPr/>
        </p:nvSpPr>
        <p:spPr>
          <a:xfrm>
            <a:off x="4408322" y="3145536"/>
            <a:ext cx="3375050" cy="1197863"/>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hayvanlar ve bitkiler zarar görür</a:t>
            </a:r>
          </a:p>
        </p:txBody>
      </p:sp>
      <p:sp>
        <p:nvSpPr>
          <p:cNvPr id="19" name="Rounded Rectangle 18"/>
          <p:cNvSpPr/>
          <p:nvPr/>
        </p:nvSpPr>
        <p:spPr>
          <a:xfrm>
            <a:off x="8094268" y="2542032"/>
            <a:ext cx="3594506" cy="1874519"/>
          </a:xfrm>
          <a:prstGeom prst="roundRect">
            <a:avLst>
              <a:gd name="adj" fmla="val 5000"/>
            </a:avLst>
          </a:prstGeom>
          <a:solidFill>
            <a:srgbClr val="F0F0F0"/>
          </a:solidFill>
          <a:ln>
            <a:noFill/>
          </a:ln>
          <a:effectLst/>
        </p:spPr>
        <p:txBody>
          <a:bodyPr rtlCol="0" anchor="ctr"/>
          <a:lstStyle/>
          <a:p/>
        </p:txBody>
      </p:sp>
      <p:sp>
        <p:nvSpPr>
          <p:cNvPr id="20" name="Rounded Rectangle 19"/>
          <p:cNvSpPr/>
          <p:nvPr/>
        </p:nvSpPr>
        <p:spPr>
          <a:xfrm>
            <a:off x="8094268" y="2542032"/>
            <a:ext cx="3594506" cy="530352"/>
          </a:xfrm>
          <a:prstGeom prst="roundRect">
            <a:avLst>
              <a:gd name="adj" fmla="val 25000"/>
            </a:avLst>
          </a:prstGeom>
          <a:solidFill>
            <a:srgbClr val="4E8A2E"/>
          </a:solidFill>
          <a:ln>
            <a:noFill/>
          </a:ln>
          <a:effectLst/>
        </p:spPr>
        <p:txBody>
          <a:bodyPr rtlCol="0" anchor="ctr"/>
          <a:lstStyle/>
          <a:p/>
        </p:txBody>
      </p:sp>
      <p:sp>
        <p:nvSpPr>
          <p:cNvPr id="21" name="Rectangle 20"/>
          <p:cNvSpPr/>
          <p:nvPr/>
        </p:nvSpPr>
        <p:spPr>
          <a:xfrm>
            <a:off x="8094268" y="2807208"/>
            <a:ext cx="3594506" cy="265176"/>
          </a:xfrm>
          <a:prstGeom prst="rect">
            <a:avLst/>
          </a:prstGeom>
          <a:solidFill>
            <a:srgbClr val="4E8A2E"/>
          </a:solidFill>
          <a:ln>
            <a:noFill/>
          </a:ln>
          <a:effectLst/>
        </p:spPr>
        <p:txBody>
          <a:bodyPr rtlCol="0" anchor="ctr"/>
          <a:lstStyle/>
          <a:p/>
        </p:txBody>
      </p:sp>
      <p:sp>
        <p:nvSpPr>
          <p:cNvPr id="22" name="TextBox 21"/>
          <p:cNvSpPr txBox="1"/>
          <p:nvPr/>
        </p:nvSpPr>
        <p:spPr>
          <a:xfrm>
            <a:off x="8185708" y="254203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Çevre</a:t>
            </a:r>
          </a:p>
        </p:txBody>
      </p:sp>
      <p:sp>
        <p:nvSpPr>
          <p:cNvPr id="23" name="TextBox 22"/>
          <p:cNvSpPr txBox="1"/>
          <p:nvPr/>
        </p:nvSpPr>
        <p:spPr>
          <a:xfrm>
            <a:off x="8203996" y="3145536"/>
            <a:ext cx="3375050" cy="1197863"/>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262626"/>
                </a:solidFill>
                <a:latin typeface="Calibri"/>
              </a:rPr>
              <a:t>su, toprak, orman ve yerleşmeler zarar görür</a:t>
            </a:r>
          </a:p>
        </p:txBody>
      </p:sp>
      <p:sp>
        <p:nvSpPr>
          <p:cNvPr id="24" name="Rounded Rectangle 23"/>
          <p:cNvSpPr/>
          <p:nvPr/>
        </p:nvSpPr>
        <p:spPr>
          <a:xfrm>
            <a:off x="502920" y="4599432"/>
            <a:ext cx="11185855" cy="1645920"/>
          </a:xfrm>
          <a:prstGeom prst="roundRect">
            <a:avLst>
              <a:gd name="adj" fmla="val 8000"/>
            </a:avLst>
          </a:prstGeom>
          <a:solidFill>
            <a:srgbClr val="F0F0F0"/>
          </a:solidFill>
          <a:ln>
            <a:noFill/>
          </a:ln>
          <a:effectLst/>
        </p:spPr>
        <p:txBody>
          <a:bodyPr rtlCol="0" anchor="ctr"/>
          <a:lstStyle/>
          <a:p/>
        </p:txBody>
      </p:sp>
      <p:sp>
        <p:nvSpPr>
          <p:cNvPr id="25" name="Rectangle 24"/>
          <p:cNvSpPr/>
          <p:nvPr/>
        </p:nvSpPr>
        <p:spPr>
          <a:xfrm>
            <a:off x="502920" y="4599432"/>
            <a:ext cx="118872" cy="1645920"/>
          </a:xfrm>
          <a:prstGeom prst="rect">
            <a:avLst/>
          </a:prstGeom>
          <a:solidFill>
            <a:srgbClr val="4F4F4F"/>
          </a:solidFill>
          <a:ln>
            <a:noFill/>
          </a:ln>
          <a:effectLst/>
        </p:spPr>
        <p:txBody>
          <a:bodyPr rtlCol="0" anchor="ctr"/>
          <a:lstStyle/>
          <a:p/>
        </p:txBody>
      </p:sp>
      <p:sp>
        <p:nvSpPr>
          <p:cNvPr id="26" name="TextBox 25"/>
          <p:cNvSpPr txBox="1"/>
          <p:nvPr/>
        </p:nvSpPr>
        <p:spPr>
          <a:xfrm>
            <a:off x="777240" y="4599432"/>
            <a:ext cx="10774375" cy="1645920"/>
          </a:xfrm>
          <a:prstGeom prst="rect">
            <a:avLst/>
          </a:prstGeom>
          <a:noFill/>
        </p:spPr>
        <p:txBody>
          <a:bodyPr wrap="square" anchor="ctr" lIns="73152" rIns="73152" tIns="36576" bIns="36576">
            <a:noAutofit/>
          </a:bodyPr>
          <a:lstStyle/>
          <a:p>
            <a:pPr algn="l">
              <a:spcBef>
                <a:spcPts val="0"/>
              </a:spcBef>
              <a:spcAft>
                <a:spcPts val="0"/>
              </a:spcAft>
            </a:pPr>
            <a:r>
              <a:rPr lang="tr-TR" sz="2400" b="0" i="0">
                <a:solidFill>
                  <a:srgbClr val="262626"/>
                </a:solidFill>
                <a:latin typeface="Calibri"/>
              </a:rPr>
              <a:t>Bu açıdan Türkiye; söz konusu etkilere neden olan deprem, sel ve taşkın, heyelan, maden kazası gibi afetlerin yaşandığı bir ülkedir.</a:t>
            </a:r>
          </a:p>
        </p:txBody>
      </p:sp>
      <p:sp>
        <p:nvSpPr>
          <p:cNvPr id="27" name="TextBox 2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8" name="Rounded Rectangle 2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29" name="TextBox 2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16 / 250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Tehlike</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KAVRAM 1</a:t>
            </a:r>
          </a:p>
        </p:txBody>
      </p:sp>
      <p:sp>
        <p:nvSpPr>
          <p:cNvPr id="6" name="Rounded Rectangle 5"/>
          <p:cNvSpPr/>
          <p:nvPr/>
        </p:nvSpPr>
        <p:spPr>
          <a:xfrm>
            <a:off x="502920" y="1216152"/>
            <a:ext cx="6355080" cy="25146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46304" cy="2514600"/>
          </a:xfrm>
          <a:prstGeom prst="rect">
            <a:avLst/>
          </a:prstGeom>
          <a:solidFill>
            <a:srgbClr val="C94F5A"/>
          </a:solidFill>
          <a:ln>
            <a:noFill/>
          </a:ln>
          <a:effectLst/>
        </p:spPr>
        <p:txBody>
          <a:bodyPr rtlCol="0" anchor="ctr"/>
          <a:lstStyle/>
          <a:p/>
        </p:txBody>
      </p:sp>
      <p:sp>
        <p:nvSpPr>
          <p:cNvPr id="8" name="TextBox 7"/>
          <p:cNvSpPr txBox="1"/>
          <p:nvPr/>
        </p:nvSpPr>
        <p:spPr>
          <a:xfrm>
            <a:off x="868680" y="1325880"/>
            <a:ext cx="5806440"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C94F5A"/>
                </a:solidFill>
                <a:latin typeface="Calibri"/>
              </a:rPr>
              <a:t>TEHLİKE</a:t>
            </a:r>
          </a:p>
        </p:txBody>
      </p:sp>
      <p:sp>
        <p:nvSpPr>
          <p:cNvPr id="9" name="TextBox 8"/>
          <p:cNvSpPr txBox="1"/>
          <p:nvPr/>
        </p:nvSpPr>
        <p:spPr>
          <a:xfrm>
            <a:off x="868680" y="1719072"/>
            <a:ext cx="5806440" cy="187452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Afetlerin kaynağını oluşturan tehlikelerin belli bir zaman ve yerde ortaya çıkarak insan hayatını, mal varlıklarını, beşerî faaliyetleri ve doğal çevreyi olumsuz etkileyebilecek potansiyeli vardır.</a:t>
            </a:r>
          </a:p>
        </p:txBody>
      </p:sp>
      <p:sp>
        <p:nvSpPr>
          <p:cNvPr id="10" name="TextBox 9"/>
          <p:cNvSpPr txBox="1"/>
          <p:nvPr/>
        </p:nvSpPr>
        <p:spPr>
          <a:xfrm>
            <a:off x="502920" y="3867912"/>
            <a:ext cx="6355080" cy="420624"/>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C94F5A"/>
                </a:solidFill>
                <a:latin typeface="Calibri"/>
              </a:rPr>
              <a:t>Tehlikeler birbirinden farklıdır:</a:t>
            </a:r>
          </a:p>
        </p:txBody>
      </p:sp>
      <p:sp>
        <p:nvSpPr>
          <p:cNvPr id="11" name="Rounded Rectangle 10"/>
          <p:cNvSpPr/>
          <p:nvPr/>
        </p:nvSpPr>
        <p:spPr>
          <a:xfrm>
            <a:off x="502920" y="4325112"/>
            <a:ext cx="1476727" cy="493776"/>
          </a:xfrm>
          <a:prstGeom prst="roundRect">
            <a:avLst>
              <a:gd name="adj" fmla="val 50000"/>
            </a:avLst>
          </a:prstGeom>
          <a:solidFill>
            <a:srgbClr val="FFFFFF"/>
          </a:solidFill>
          <a:ln w="19050">
            <a:solidFill>
              <a:srgbClr val="C94F5A"/>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büyüklüğü</a:t>
            </a:r>
          </a:p>
        </p:txBody>
      </p:sp>
      <p:sp>
        <p:nvSpPr>
          <p:cNvPr id="12" name="Rounded Rectangle 11"/>
          <p:cNvSpPr/>
          <p:nvPr/>
        </p:nvSpPr>
        <p:spPr>
          <a:xfrm>
            <a:off x="2089375" y="4325112"/>
            <a:ext cx="2700537" cy="493776"/>
          </a:xfrm>
          <a:prstGeom prst="roundRect">
            <a:avLst>
              <a:gd name="adj" fmla="val 50000"/>
            </a:avLst>
          </a:prstGeom>
          <a:solidFill>
            <a:srgbClr val="FFFFFF"/>
          </a:solidFill>
          <a:ln w="19050">
            <a:solidFill>
              <a:srgbClr val="C94F5A"/>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meydana gelme sıklığı</a:t>
            </a:r>
          </a:p>
        </p:txBody>
      </p:sp>
      <p:sp>
        <p:nvSpPr>
          <p:cNvPr id="13" name="Rounded Rectangle 12"/>
          <p:cNvSpPr/>
          <p:nvPr/>
        </p:nvSpPr>
        <p:spPr>
          <a:xfrm>
            <a:off x="502920" y="4928616"/>
            <a:ext cx="2015174" cy="493776"/>
          </a:xfrm>
          <a:prstGeom prst="roundRect">
            <a:avLst>
              <a:gd name="adj" fmla="val 50000"/>
            </a:avLst>
          </a:prstGeom>
          <a:solidFill>
            <a:srgbClr val="FFFFFF"/>
          </a:solidFill>
          <a:ln w="19050">
            <a:solidFill>
              <a:srgbClr val="C94F5A"/>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coğrafi konumu</a:t>
            </a:r>
          </a:p>
        </p:txBody>
      </p:sp>
      <p:sp>
        <p:nvSpPr>
          <p:cNvPr id="14" name="Rounded Rectangle 13"/>
          <p:cNvSpPr/>
          <p:nvPr/>
        </p:nvSpPr>
        <p:spPr>
          <a:xfrm>
            <a:off x="2627822" y="4928616"/>
            <a:ext cx="1337251" cy="493776"/>
          </a:xfrm>
          <a:prstGeom prst="roundRect">
            <a:avLst>
              <a:gd name="adj" fmla="val 50000"/>
            </a:avLst>
          </a:prstGeom>
          <a:solidFill>
            <a:srgbClr val="FFFFFF"/>
          </a:solidFill>
          <a:ln w="19050">
            <a:solidFill>
              <a:srgbClr val="C94F5A"/>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oluş şekli</a:t>
            </a:r>
          </a:p>
        </p:txBody>
      </p:sp>
      <p:sp>
        <p:nvSpPr>
          <p:cNvPr id="15" name="Rounded Rectangle 14"/>
          <p:cNvSpPr/>
          <p:nvPr/>
        </p:nvSpPr>
        <p:spPr>
          <a:xfrm>
            <a:off x="4074801" y="4928616"/>
            <a:ext cx="1502685" cy="493776"/>
          </a:xfrm>
          <a:prstGeom prst="roundRect">
            <a:avLst>
              <a:gd name="adj" fmla="val 50000"/>
            </a:avLst>
          </a:prstGeom>
          <a:solidFill>
            <a:srgbClr val="FFFFFF"/>
          </a:solidFill>
          <a:ln w="19050">
            <a:solidFill>
              <a:srgbClr val="C94F5A"/>
            </a:solidFill>
          </a:ln>
          <a:effectLst/>
        </p:spPr>
        <p:txBody>
          <a:bodyPr rtlCol="0" anchor="ctr" wrap="square" lIns="54864" rIns="54864" tIns="0" bIns="0">
            <a:noAutofit/>
          </a:bodyPr>
          <a:lstStyle/>
          <a:p>
            <a:pPr algn="ctr">
              <a:spcBef>
                <a:spcPts val="0"/>
              </a:spcBef>
              <a:spcAft>
                <a:spcPts val="0"/>
              </a:spcAft>
            </a:pPr>
            <a:r>
              <a:rPr lang="tr-TR" sz="2000" b="0" i="0">
                <a:solidFill>
                  <a:srgbClr val="262626"/>
                </a:solidFill>
                <a:latin typeface="Calibri"/>
              </a:rPr>
              <a:t>etki düzeyi</a:t>
            </a:r>
          </a:p>
        </p:txBody>
      </p:sp>
      <p:sp>
        <p:nvSpPr>
          <p:cNvPr id="16" name="Rounded Rectangle 15"/>
          <p:cNvSpPr/>
          <p:nvPr/>
        </p:nvSpPr>
        <p:spPr>
          <a:xfrm>
            <a:off x="502920" y="5650992"/>
            <a:ext cx="6355080" cy="64008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200" b="0" i="0">
                <a:solidFill>
                  <a:srgbClr val="262626"/>
                </a:solidFill>
                <a:latin typeface="Calibri"/>
              </a:rPr>
              <a:t>Tehlike = zarar verme </a:t>
            </a:r>
            <a:r>
              <a:rPr lang="tr-TR" sz="2200" b="1" i="0">
                <a:solidFill>
                  <a:srgbClr val="262626"/>
                </a:solidFill>
                <a:latin typeface="Calibri"/>
              </a:rPr>
              <a:t>ihtimali</a:t>
            </a:r>
            <a:r>
              <a:rPr lang="tr-TR" sz="2200" b="0" i="0">
                <a:solidFill>
                  <a:srgbClr val="262626"/>
                </a:solidFill>
                <a:latin typeface="Calibri"/>
              </a:rPr>
              <a:t> (potansiyel)</a:t>
            </a:r>
          </a:p>
        </p:txBody>
      </p:sp>
      <p:pic>
        <p:nvPicPr>
          <p:cNvPr id="17" name="Picture 16" descr="h30_g61_orman_yangini_s190.jpg"/>
          <p:cNvPicPr>
            <a:picLocks noChangeAspect="1"/>
          </p:cNvPicPr>
          <p:nvPr/>
        </p:nvPicPr>
        <p:blipFill>
          <a:blip r:embed="rId3"/>
          <a:stretch>
            <a:fillRect/>
          </a:stretch>
        </p:blipFill>
        <p:spPr>
          <a:xfrm>
            <a:off x="7086600" y="1328013"/>
            <a:ext cx="4602175" cy="3068116"/>
          </a:xfrm>
          <a:prstGeom prst="rect">
            <a:avLst/>
          </a:prstGeom>
          <a:ln w="9525">
            <a:solidFill>
              <a:srgbClr val="D9D9D9"/>
            </a:solidFill>
          </a:ln>
        </p:spPr>
      </p:pic>
      <p:sp>
        <p:nvSpPr>
          <p:cNvPr id="18" name="TextBox 17"/>
          <p:cNvSpPr txBox="1"/>
          <p:nvPr/>
        </p:nvSpPr>
        <p:spPr>
          <a:xfrm>
            <a:off x="7086600" y="4487570"/>
            <a:ext cx="4602175" cy="1803501"/>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Görsel 6.1: Yıldırım düşmesi veya aşırı sıcaklara bağlı meydana gelen orman yangınları, doğa kaynaklı tehlikeler arasındadır.</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17 / 250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Tehlikenin kaynağı: doğa ve insan</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KAVRAM 1</a:t>
            </a:r>
          </a:p>
        </p:txBody>
      </p:sp>
      <p:sp>
        <p:nvSpPr>
          <p:cNvPr id="6" name="Rounded Rectangle 5"/>
          <p:cNvSpPr/>
          <p:nvPr/>
        </p:nvSpPr>
        <p:spPr>
          <a:xfrm>
            <a:off x="502920" y="1216152"/>
            <a:ext cx="5455767" cy="269748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55767" cy="566928"/>
          </a:xfrm>
          <a:prstGeom prst="roundRect">
            <a:avLst>
              <a:gd name="adj" fmla="val 25000"/>
            </a:avLst>
          </a:prstGeom>
          <a:solidFill>
            <a:srgbClr val="2F6F8F"/>
          </a:solidFill>
          <a:ln>
            <a:noFill/>
          </a:ln>
          <a:effectLst/>
        </p:spPr>
        <p:txBody>
          <a:bodyPr rtlCol="0" anchor="ctr"/>
          <a:lstStyle/>
          <a:p/>
        </p:txBody>
      </p:sp>
      <p:sp>
        <p:nvSpPr>
          <p:cNvPr id="8" name="Rectangle 7"/>
          <p:cNvSpPr/>
          <p:nvPr/>
        </p:nvSpPr>
        <p:spPr>
          <a:xfrm>
            <a:off x="502920" y="1499616"/>
            <a:ext cx="5455767" cy="283464"/>
          </a:xfrm>
          <a:prstGeom prst="rect">
            <a:avLst/>
          </a:prstGeom>
          <a:solidFill>
            <a:srgbClr val="2F6F8F"/>
          </a:solidFill>
          <a:ln>
            <a:noFill/>
          </a:ln>
          <a:effectLst/>
        </p:spPr>
        <p:txBody>
          <a:bodyPr rtlCol="0" anchor="ctr"/>
          <a:lstStyle/>
          <a:p/>
        </p:txBody>
      </p:sp>
      <p:sp>
        <p:nvSpPr>
          <p:cNvPr id="9" name="TextBox 8"/>
          <p:cNvSpPr txBox="1"/>
          <p:nvPr/>
        </p:nvSpPr>
        <p:spPr>
          <a:xfrm>
            <a:off x="594360" y="1216152"/>
            <a:ext cx="5272887" cy="566928"/>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Doğa olayları</a:t>
            </a:r>
          </a:p>
        </p:txBody>
      </p:sp>
      <p:sp>
        <p:nvSpPr>
          <p:cNvPr id="10" name="Rounded Rectangle 9"/>
          <p:cNvSpPr/>
          <p:nvPr/>
        </p:nvSpPr>
        <p:spPr>
          <a:xfrm>
            <a:off x="685800" y="1947672"/>
            <a:ext cx="1242443" cy="512064"/>
          </a:xfrm>
          <a:prstGeom prst="roundRect">
            <a:avLst>
              <a:gd name="adj" fmla="val 50000"/>
            </a:avLst>
          </a:prstGeom>
          <a:solidFill>
            <a:srgbClr val="FFFFFF"/>
          </a:solidFill>
          <a:ln w="19050">
            <a:solidFill>
              <a:srgbClr val="2F6F8F"/>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deprem</a:t>
            </a:r>
          </a:p>
        </p:txBody>
      </p:sp>
      <p:sp>
        <p:nvSpPr>
          <p:cNvPr id="11" name="Rounded Rectangle 10"/>
          <p:cNvSpPr/>
          <p:nvPr/>
        </p:nvSpPr>
        <p:spPr>
          <a:xfrm>
            <a:off x="2037971" y="1947672"/>
            <a:ext cx="675958" cy="512064"/>
          </a:xfrm>
          <a:prstGeom prst="roundRect">
            <a:avLst>
              <a:gd name="adj" fmla="val 50000"/>
            </a:avLst>
          </a:prstGeom>
          <a:solidFill>
            <a:srgbClr val="FFFFFF"/>
          </a:solidFill>
          <a:ln w="19050">
            <a:solidFill>
              <a:srgbClr val="2F6F8F"/>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sel</a:t>
            </a:r>
          </a:p>
        </p:txBody>
      </p:sp>
      <p:sp>
        <p:nvSpPr>
          <p:cNvPr id="12" name="Rounded Rectangle 11"/>
          <p:cNvSpPr/>
          <p:nvPr/>
        </p:nvSpPr>
        <p:spPr>
          <a:xfrm>
            <a:off x="2823657" y="1947672"/>
            <a:ext cx="1028777" cy="512064"/>
          </a:xfrm>
          <a:prstGeom prst="roundRect">
            <a:avLst>
              <a:gd name="adj" fmla="val 50000"/>
            </a:avLst>
          </a:prstGeom>
          <a:solidFill>
            <a:srgbClr val="FFFFFF"/>
          </a:solidFill>
          <a:ln w="19050">
            <a:solidFill>
              <a:srgbClr val="2F6F8F"/>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taşkın</a:t>
            </a:r>
          </a:p>
        </p:txBody>
      </p:sp>
      <p:sp>
        <p:nvSpPr>
          <p:cNvPr id="13" name="Rounded Rectangle 12"/>
          <p:cNvSpPr/>
          <p:nvPr/>
        </p:nvSpPr>
        <p:spPr>
          <a:xfrm>
            <a:off x="685800" y="2587752"/>
            <a:ext cx="2255574" cy="512064"/>
          </a:xfrm>
          <a:prstGeom prst="roundRect">
            <a:avLst>
              <a:gd name="adj" fmla="val 50000"/>
            </a:avLst>
          </a:prstGeom>
          <a:solidFill>
            <a:srgbClr val="FFFFFF"/>
          </a:solidFill>
          <a:ln w="19050">
            <a:solidFill>
              <a:srgbClr val="2F6F8F"/>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volkanik patlama</a:t>
            </a:r>
          </a:p>
        </p:txBody>
      </p:sp>
      <p:sp>
        <p:nvSpPr>
          <p:cNvPr id="14" name="Rounded Rectangle 13"/>
          <p:cNvSpPr/>
          <p:nvPr/>
        </p:nvSpPr>
        <p:spPr>
          <a:xfrm>
            <a:off x="3051102" y="2587752"/>
            <a:ext cx="1271072" cy="512064"/>
          </a:xfrm>
          <a:prstGeom prst="roundRect">
            <a:avLst>
              <a:gd name="adj" fmla="val 50000"/>
            </a:avLst>
          </a:prstGeom>
          <a:solidFill>
            <a:srgbClr val="FFFFFF"/>
          </a:solidFill>
          <a:ln w="19050">
            <a:solidFill>
              <a:srgbClr val="2F6F8F"/>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tsunami</a:t>
            </a:r>
          </a:p>
        </p:txBody>
      </p:sp>
      <p:sp>
        <p:nvSpPr>
          <p:cNvPr id="15" name="Rounded Rectangle 14"/>
          <p:cNvSpPr/>
          <p:nvPr/>
        </p:nvSpPr>
        <p:spPr>
          <a:xfrm>
            <a:off x="4431902" y="2587752"/>
            <a:ext cx="677331" cy="512064"/>
          </a:xfrm>
          <a:prstGeom prst="roundRect">
            <a:avLst>
              <a:gd name="adj" fmla="val 50000"/>
            </a:avLst>
          </a:prstGeom>
          <a:solidFill>
            <a:srgbClr val="FFFFFF"/>
          </a:solidFill>
          <a:ln w="19050">
            <a:solidFill>
              <a:srgbClr val="2F6F8F"/>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çığ</a:t>
            </a:r>
          </a:p>
        </p:txBody>
      </p:sp>
      <p:sp>
        <p:nvSpPr>
          <p:cNvPr id="16" name="Rounded Rectangle 15"/>
          <p:cNvSpPr/>
          <p:nvPr/>
        </p:nvSpPr>
        <p:spPr>
          <a:xfrm>
            <a:off x="685800" y="3227832"/>
            <a:ext cx="1038992" cy="512064"/>
          </a:xfrm>
          <a:prstGeom prst="roundRect">
            <a:avLst>
              <a:gd name="adj" fmla="val 50000"/>
            </a:avLst>
          </a:prstGeom>
          <a:solidFill>
            <a:srgbClr val="FFFFFF"/>
          </a:solidFill>
          <a:ln w="19050">
            <a:solidFill>
              <a:srgbClr val="2F6F8F"/>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fırtına</a:t>
            </a:r>
          </a:p>
        </p:txBody>
      </p:sp>
      <p:sp>
        <p:nvSpPr>
          <p:cNvPr id="17" name="Rounded Rectangle 16"/>
          <p:cNvSpPr/>
          <p:nvPr/>
        </p:nvSpPr>
        <p:spPr>
          <a:xfrm>
            <a:off x="1834520" y="3227832"/>
            <a:ext cx="1082172" cy="512064"/>
          </a:xfrm>
          <a:prstGeom prst="roundRect">
            <a:avLst>
              <a:gd name="adj" fmla="val 50000"/>
            </a:avLst>
          </a:prstGeom>
          <a:solidFill>
            <a:srgbClr val="FFFFFF"/>
          </a:solidFill>
          <a:ln w="19050">
            <a:solidFill>
              <a:srgbClr val="2F6F8F"/>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tayfun</a:t>
            </a:r>
          </a:p>
        </p:txBody>
      </p:sp>
      <p:sp>
        <p:nvSpPr>
          <p:cNvPr id="18" name="Rounded Rectangle 17"/>
          <p:cNvSpPr/>
          <p:nvPr/>
        </p:nvSpPr>
        <p:spPr>
          <a:xfrm>
            <a:off x="6233007" y="1216152"/>
            <a:ext cx="5455767" cy="2697480"/>
          </a:xfrm>
          <a:prstGeom prst="roundRect">
            <a:avLst>
              <a:gd name="adj" fmla="val 5000"/>
            </a:avLst>
          </a:prstGeom>
          <a:solidFill>
            <a:srgbClr val="F0F0F0"/>
          </a:solidFill>
          <a:ln>
            <a:noFill/>
          </a:ln>
          <a:effectLst/>
        </p:spPr>
        <p:txBody>
          <a:bodyPr rtlCol="0" anchor="ctr"/>
          <a:lstStyle/>
          <a:p/>
        </p:txBody>
      </p:sp>
      <p:sp>
        <p:nvSpPr>
          <p:cNvPr id="19" name="Rounded Rectangle 18"/>
          <p:cNvSpPr/>
          <p:nvPr/>
        </p:nvSpPr>
        <p:spPr>
          <a:xfrm>
            <a:off x="6233007" y="1216152"/>
            <a:ext cx="5455767" cy="566928"/>
          </a:xfrm>
          <a:prstGeom prst="roundRect">
            <a:avLst>
              <a:gd name="adj" fmla="val 25000"/>
            </a:avLst>
          </a:prstGeom>
          <a:solidFill>
            <a:srgbClr val="A0521A"/>
          </a:solidFill>
          <a:ln>
            <a:noFill/>
          </a:ln>
          <a:effectLst/>
        </p:spPr>
        <p:txBody>
          <a:bodyPr rtlCol="0" anchor="ctr"/>
          <a:lstStyle/>
          <a:p/>
        </p:txBody>
      </p:sp>
      <p:sp>
        <p:nvSpPr>
          <p:cNvPr id="20" name="Rectangle 19"/>
          <p:cNvSpPr/>
          <p:nvPr/>
        </p:nvSpPr>
        <p:spPr>
          <a:xfrm>
            <a:off x="6233007" y="1499616"/>
            <a:ext cx="5455767" cy="283464"/>
          </a:xfrm>
          <a:prstGeom prst="rect">
            <a:avLst/>
          </a:prstGeom>
          <a:solidFill>
            <a:srgbClr val="A0521A"/>
          </a:solidFill>
          <a:ln>
            <a:noFill/>
          </a:ln>
          <a:effectLst/>
        </p:spPr>
        <p:txBody>
          <a:bodyPr rtlCol="0" anchor="ctr"/>
          <a:lstStyle/>
          <a:p/>
        </p:txBody>
      </p:sp>
      <p:sp>
        <p:nvSpPr>
          <p:cNvPr id="21" name="TextBox 20"/>
          <p:cNvSpPr txBox="1"/>
          <p:nvPr/>
        </p:nvSpPr>
        <p:spPr>
          <a:xfrm>
            <a:off x="6324447" y="1216152"/>
            <a:ext cx="5272887" cy="566928"/>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İnsan kaynaklı olaylar</a:t>
            </a:r>
          </a:p>
        </p:txBody>
      </p:sp>
      <p:sp>
        <p:nvSpPr>
          <p:cNvPr id="22" name="Rounded Rectangle 21"/>
          <p:cNvSpPr/>
          <p:nvPr/>
        </p:nvSpPr>
        <p:spPr>
          <a:xfrm>
            <a:off x="6415887" y="1947672"/>
            <a:ext cx="1101658" cy="512064"/>
          </a:xfrm>
          <a:prstGeom prst="roundRect">
            <a:avLst>
              <a:gd name="adj" fmla="val 50000"/>
            </a:avLst>
          </a:prstGeom>
          <a:solidFill>
            <a:srgbClr val="FFFFFF"/>
          </a:solidFill>
          <a:ln w="19050">
            <a:solidFill>
              <a:srgbClr val="A0521A"/>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yangın</a:t>
            </a:r>
          </a:p>
        </p:txBody>
      </p:sp>
      <p:sp>
        <p:nvSpPr>
          <p:cNvPr id="23" name="Rounded Rectangle 22"/>
          <p:cNvSpPr/>
          <p:nvPr/>
        </p:nvSpPr>
        <p:spPr>
          <a:xfrm>
            <a:off x="7627273" y="1947672"/>
            <a:ext cx="1279956" cy="512064"/>
          </a:xfrm>
          <a:prstGeom prst="roundRect">
            <a:avLst>
              <a:gd name="adj" fmla="val 50000"/>
            </a:avLst>
          </a:prstGeom>
          <a:solidFill>
            <a:srgbClr val="FFFFFF"/>
          </a:solidFill>
          <a:ln w="19050">
            <a:solidFill>
              <a:srgbClr val="A0521A"/>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patlama</a:t>
            </a:r>
          </a:p>
        </p:txBody>
      </p:sp>
      <p:sp>
        <p:nvSpPr>
          <p:cNvPr id="24" name="Rounded Rectangle 23"/>
          <p:cNvSpPr/>
          <p:nvPr/>
        </p:nvSpPr>
        <p:spPr>
          <a:xfrm>
            <a:off x="9016957" y="1947672"/>
            <a:ext cx="856144" cy="512064"/>
          </a:xfrm>
          <a:prstGeom prst="roundRect">
            <a:avLst>
              <a:gd name="adj" fmla="val 50000"/>
            </a:avLst>
          </a:prstGeom>
          <a:solidFill>
            <a:srgbClr val="FFFFFF"/>
          </a:solidFill>
          <a:ln w="19050">
            <a:solidFill>
              <a:srgbClr val="A0521A"/>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kaza</a:t>
            </a:r>
          </a:p>
        </p:txBody>
      </p:sp>
      <p:sp>
        <p:nvSpPr>
          <p:cNvPr id="25" name="Rounded Rectangle 24"/>
          <p:cNvSpPr/>
          <p:nvPr/>
        </p:nvSpPr>
        <p:spPr>
          <a:xfrm>
            <a:off x="6415887" y="2587752"/>
            <a:ext cx="1921254" cy="512064"/>
          </a:xfrm>
          <a:prstGeom prst="roundRect">
            <a:avLst>
              <a:gd name="adj" fmla="val 50000"/>
            </a:avLst>
          </a:prstGeom>
          <a:solidFill>
            <a:srgbClr val="FFFFFF"/>
          </a:solidFill>
          <a:ln w="19050">
            <a:solidFill>
              <a:srgbClr val="A0521A"/>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salgın hastalık</a:t>
            </a:r>
          </a:p>
        </p:txBody>
      </p:sp>
      <p:sp>
        <p:nvSpPr>
          <p:cNvPr id="26" name="Rounded Rectangle 25"/>
          <p:cNvSpPr/>
          <p:nvPr/>
        </p:nvSpPr>
        <p:spPr>
          <a:xfrm>
            <a:off x="8446869" y="2587752"/>
            <a:ext cx="962376" cy="512064"/>
          </a:xfrm>
          <a:prstGeom prst="roundRect">
            <a:avLst>
              <a:gd name="adj" fmla="val 50000"/>
            </a:avLst>
          </a:prstGeom>
          <a:solidFill>
            <a:srgbClr val="FFFFFF"/>
          </a:solidFill>
          <a:ln w="19050">
            <a:solidFill>
              <a:srgbClr val="A0521A"/>
            </a:solidFill>
          </a:ln>
          <a:effectLst/>
        </p:spPr>
        <p:txBody>
          <a:bodyPr rtlCol="0" anchor="ctr" wrap="square" lIns="54864" rIns="54864" tIns="0" bIns="0">
            <a:noAutofit/>
          </a:bodyPr>
          <a:lstStyle/>
          <a:p>
            <a:pPr algn="ctr">
              <a:spcBef>
                <a:spcPts val="0"/>
              </a:spcBef>
              <a:spcAft>
                <a:spcPts val="0"/>
              </a:spcAft>
            </a:pPr>
            <a:r>
              <a:rPr lang="tr-TR" sz="2100" b="0" i="0">
                <a:solidFill>
                  <a:srgbClr val="262626"/>
                </a:solidFill>
                <a:latin typeface="Calibri"/>
              </a:rPr>
              <a:t>savaş</a:t>
            </a:r>
          </a:p>
        </p:txBody>
      </p:sp>
      <p:sp>
        <p:nvSpPr>
          <p:cNvPr id="27" name="Rounded Rectangle 26"/>
          <p:cNvSpPr/>
          <p:nvPr/>
        </p:nvSpPr>
        <p:spPr>
          <a:xfrm>
            <a:off x="502920" y="4096512"/>
            <a:ext cx="11185855" cy="2148840"/>
          </a:xfrm>
          <a:prstGeom prst="roundRect">
            <a:avLst>
              <a:gd name="adj" fmla="val 8000"/>
            </a:avLst>
          </a:prstGeom>
          <a:solidFill>
            <a:srgbClr val="F0F0F0"/>
          </a:solidFill>
          <a:ln>
            <a:noFill/>
          </a:ln>
          <a:effectLst/>
        </p:spPr>
        <p:txBody>
          <a:bodyPr rtlCol="0" anchor="ctr"/>
          <a:lstStyle/>
          <a:p/>
        </p:txBody>
      </p:sp>
      <p:sp>
        <p:nvSpPr>
          <p:cNvPr id="28" name="Rectangle 27"/>
          <p:cNvSpPr/>
          <p:nvPr/>
        </p:nvSpPr>
        <p:spPr>
          <a:xfrm>
            <a:off x="502920" y="4096512"/>
            <a:ext cx="118872" cy="2148840"/>
          </a:xfrm>
          <a:prstGeom prst="rect">
            <a:avLst/>
          </a:prstGeom>
          <a:solidFill>
            <a:srgbClr val="A63A32"/>
          </a:solidFill>
          <a:ln>
            <a:noFill/>
          </a:ln>
          <a:effectLst/>
        </p:spPr>
        <p:txBody>
          <a:bodyPr rtlCol="0" anchor="ctr"/>
          <a:lstStyle/>
          <a:p/>
        </p:txBody>
      </p:sp>
      <p:sp>
        <p:nvSpPr>
          <p:cNvPr id="29" name="TextBox 28"/>
          <p:cNvSpPr txBox="1"/>
          <p:nvPr/>
        </p:nvSpPr>
        <p:spPr>
          <a:xfrm>
            <a:off x="777240" y="4096512"/>
            <a:ext cx="10774375" cy="2148840"/>
          </a:xfrm>
          <a:prstGeom prst="rect">
            <a:avLst/>
          </a:prstGeom>
          <a:noFill/>
        </p:spPr>
        <p:txBody>
          <a:bodyPr wrap="square" anchor="ctr" lIns="73152" rIns="73152" tIns="36576" bIns="36576">
            <a:noAutofit/>
          </a:bodyPr>
          <a:lstStyle/>
          <a:p>
            <a:pPr algn="l">
              <a:spcBef>
                <a:spcPts val="0"/>
              </a:spcBef>
              <a:spcAft>
                <a:spcPts val="0"/>
              </a:spcAft>
            </a:pPr>
            <a:r>
              <a:rPr lang="tr-TR" sz="2300" b="0" i="0">
                <a:solidFill>
                  <a:srgbClr val="262626"/>
                </a:solidFill>
                <a:latin typeface="Calibri"/>
              </a:rPr>
              <a:t>Deprem, sel, taşkın, volkanik patlama, tsunami, çığ, fırtına, tayfun vb. doğa olayları ile yangın, patlama, kaza, salgın hastalık, savaş vb. insan kaynaklı olaylar; yeterli önlemler alınmadığı takdirde afete dönüşmektedir.</a:t>
            </a:r>
          </a:p>
        </p:txBody>
      </p: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18 / 250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Ekstrem doğa olayı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KAVRAM 2</a:t>
            </a:r>
          </a:p>
        </p:txBody>
      </p:sp>
      <p:sp>
        <p:nvSpPr>
          <p:cNvPr id="6" name="Rounded Rectangle 5"/>
          <p:cNvSpPr/>
          <p:nvPr/>
        </p:nvSpPr>
        <p:spPr>
          <a:xfrm>
            <a:off x="502920" y="1216152"/>
            <a:ext cx="6537960" cy="160020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46304" cy="1600200"/>
          </a:xfrm>
          <a:prstGeom prst="rect">
            <a:avLst/>
          </a:prstGeom>
          <a:solidFill>
            <a:srgbClr val="C94F5A"/>
          </a:solidFill>
          <a:ln>
            <a:noFill/>
          </a:ln>
          <a:effectLst/>
        </p:spPr>
        <p:txBody>
          <a:bodyPr rtlCol="0" anchor="ctr"/>
          <a:lstStyle/>
          <a:p/>
        </p:txBody>
      </p:sp>
      <p:sp>
        <p:nvSpPr>
          <p:cNvPr id="8" name="TextBox 7"/>
          <p:cNvSpPr txBox="1"/>
          <p:nvPr/>
        </p:nvSpPr>
        <p:spPr>
          <a:xfrm>
            <a:off x="868680" y="1325880"/>
            <a:ext cx="5989320" cy="411480"/>
          </a:xfrm>
          <a:prstGeom prst="rect">
            <a:avLst/>
          </a:prstGeom>
          <a:noFill/>
        </p:spPr>
        <p:txBody>
          <a:bodyPr wrap="square" anchor="t" lIns="73152" rIns="73152" tIns="36576" bIns="36576">
            <a:noAutofit/>
          </a:bodyPr>
          <a:lstStyle/>
          <a:p>
            <a:pPr algn="l">
              <a:spcBef>
                <a:spcPts val="0"/>
              </a:spcBef>
              <a:spcAft>
                <a:spcPts val="0"/>
              </a:spcAft>
            </a:pPr>
            <a:r>
              <a:rPr lang="tr-TR" sz="1700" b="1" i="0">
                <a:solidFill>
                  <a:srgbClr val="C94F5A"/>
                </a:solidFill>
                <a:latin typeface="Calibri"/>
              </a:rPr>
              <a:t>EKSTREM DOĞA OLAYI</a:t>
            </a:r>
          </a:p>
        </p:txBody>
      </p:sp>
      <p:sp>
        <p:nvSpPr>
          <p:cNvPr id="9" name="TextBox 8"/>
          <p:cNvSpPr txBox="1"/>
          <p:nvPr/>
        </p:nvSpPr>
        <p:spPr>
          <a:xfrm>
            <a:off x="868680" y="1719072"/>
            <a:ext cx="5989320" cy="96012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Doğanın akışı içinde gerçekleşen bir olayın aşırı veya sıra dışı şekilde meydana gelmesi ekstrem doğa olayı olarak adlandırılmaktadır.</a:t>
            </a:r>
          </a:p>
        </p:txBody>
      </p:sp>
      <p:sp>
        <p:nvSpPr>
          <p:cNvPr id="10" name="Rounded Rectangle 9"/>
          <p:cNvSpPr/>
          <p:nvPr/>
        </p:nvSpPr>
        <p:spPr>
          <a:xfrm>
            <a:off x="502920" y="2926080"/>
            <a:ext cx="6537960" cy="749808"/>
          </a:xfrm>
          <a:prstGeom prst="roundRect">
            <a:avLst>
              <a:gd name="adj" fmla="val 30000"/>
            </a:avLst>
          </a:prstGeom>
          <a:solidFill>
            <a:srgbClr val="F9E1E1"/>
          </a:solidFill>
          <a:ln w="25400">
            <a:solidFill>
              <a:srgbClr val="C94F5A"/>
            </a:solidFill>
          </a:ln>
          <a:effectLst/>
        </p:spPr>
        <p:txBody>
          <a:bodyPr rtlCol="0" anchor="ctr"/>
          <a:lstStyle/>
          <a:p/>
        </p:txBody>
      </p:sp>
      <p:sp>
        <p:nvSpPr>
          <p:cNvPr id="11" name="TextBox 10"/>
          <p:cNvSpPr txBox="1"/>
          <p:nvPr/>
        </p:nvSpPr>
        <p:spPr>
          <a:xfrm>
            <a:off x="685800" y="2926080"/>
            <a:ext cx="1645920" cy="749808"/>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C94F5A"/>
                </a:solidFill>
                <a:latin typeface="Calibri"/>
              </a:rPr>
              <a:t>TEHLİKE</a:t>
            </a:r>
          </a:p>
        </p:txBody>
      </p:sp>
      <p:sp>
        <p:nvSpPr>
          <p:cNvPr id="12" name="Rounded Rectangle 11"/>
          <p:cNvSpPr/>
          <p:nvPr/>
        </p:nvSpPr>
        <p:spPr>
          <a:xfrm>
            <a:off x="2423160" y="3044952"/>
            <a:ext cx="2834640" cy="512064"/>
          </a:xfrm>
          <a:prstGeom prst="roundRect">
            <a:avLst>
              <a:gd name="adj" fmla="val 50000"/>
            </a:avLst>
          </a:prstGeom>
          <a:solidFill>
            <a:srgbClr val="C94F5A"/>
          </a:solidFill>
          <a:ln>
            <a:noFill/>
          </a:ln>
          <a:effectLst/>
        </p:spPr>
        <p:txBody>
          <a:bodyPr rtlCol="0" anchor="ctr" wrap="square" lIns="45720" rIns="45720" tIns="0" bIns="0">
            <a:noAutofit/>
          </a:bodyPr>
          <a:lstStyle/>
          <a:p>
            <a:pPr algn="ctr">
              <a:spcBef>
                <a:spcPts val="0"/>
              </a:spcBef>
              <a:spcAft>
                <a:spcPts val="0"/>
              </a:spcAft>
            </a:pPr>
            <a:r>
              <a:rPr lang="tr-TR" sz="2000" b="1" i="0">
                <a:solidFill>
                  <a:srgbClr val="FFFFFF"/>
                </a:solidFill>
                <a:latin typeface="Calibri"/>
              </a:rPr>
              <a:t>ekstrem doğa olayı</a:t>
            </a:r>
          </a:p>
        </p:txBody>
      </p:sp>
      <p:sp>
        <p:nvSpPr>
          <p:cNvPr id="13" name="TextBox 12"/>
          <p:cNvSpPr txBox="1"/>
          <p:nvPr/>
        </p:nvSpPr>
        <p:spPr>
          <a:xfrm>
            <a:off x="5349240" y="2926080"/>
            <a:ext cx="1600200" cy="749808"/>
          </a:xfrm>
          <a:prstGeom prst="rect">
            <a:avLst/>
          </a:prstGeom>
          <a:noFill/>
        </p:spPr>
        <p:txBody>
          <a:bodyPr wrap="square" anchor="ctr" lIns="73152" rIns="73152" tIns="36576" bIns="36576">
            <a:noAutofit/>
          </a:bodyPr>
          <a:lstStyle/>
          <a:p>
            <a:pPr algn="l">
              <a:spcBef>
                <a:spcPts val="0"/>
              </a:spcBef>
              <a:spcAft>
                <a:spcPts val="0"/>
              </a:spcAft>
            </a:pPr>
            <a:r>
              <a:rPr lang="tr-TR" sz="1600" b="0" i="1">
                <a:solidFill>
                  <a:srgbClr val="767676"/>
                </a:solidFill>
                <a:latin typeface="Calibri"/>
              </a:rPr>
              <a:t>tehlikenin içinde</a:t>
            </a:r>
          </a:p>
        </p:txBody>
      </p:sp>
      <p:sp>
        <p:nvSpPr>
          <p:cNvPr id="14" name="Rounded Rectangle 13"/>
          <p:cNvSpPr/>
          <p:nvPr/>
        </p:nvSpPr>
        <p:spPr>
          <a:xfrm>
            <a:off x="502920" y="3794760"/>
            <a:ext cx="6537960" cy="1184148"/>
          </a:xfrm>
          <a:prstGeom prst="roundRect">
            <a:avLst>
              <a:gd name="adj" fmla="val 8000"/>
            </a:avLst>
          </a:prstGeom>
          <a:solidFill>
            <a:srgbClr val="F0F0F0"/>
          </a:solidFill>
          <a:ln>
            <a:noFill/>
          </a:ln>
          <a:effectLst/>
        </p:spPr>
        <p:txBody>
          <a:bodyPr rtlCol="0" anchor="ctr"/>
          <a:lstStyle/>
          <a:p/>
        </p:txBody>
      </p:sp>
      <p:sp>
        <p:nvSpPr>
          <p:cNvPr id="15" name="Rectangle 14"/>
          <p:cNvSpPr/>
          <p:nvPr/>
        </p:nvSpPr>
        <p:spPr>
          <a:xfrm>
            <a:off x="502920" y="3794760"/>
            <a:ext cx="118872" cy="1184148"/>
          </a:xfrm>
          <a:prstGeom prst="rect">
            <a:avLst/>
          </a:prstGeom>
          <a:solidFill>
            <a:srgbClr val="4F4F4F"/>
          </a:solidFill>
          <a:ln>
            <a:noFill/>
          </a:ln>
          <a:effectLst/>
        </p:spPr>
        <p:txBody>
          <a:bodyPr rtlCol="0" anchor="ctr"/>
          <a:lstStyle/>
          <a:p/>
        </p:txBody>
      </p:sp>
      <p:sp>
        <p:nvSpPr>
          <p:cNvPr id="16" name="TextBox 15"/>
          <p:cNvSpPr txBox="1"/>
          <p:nvPr/>
        </p:nvSpPr>
        <p:spPr>
          <a:xfrm>
            <a:off x="777240" y="3794760"/>
            <a:ext cx="6126480" cy="118414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Örneğin 1960 yılında Şili’de meydana gelen 9,5 büyüklüğündeki deprem, bugüne kadar ölçülebilen en büyük yer sarsıntısı olup ekstrem bir özelliğe sahiptir.</a:t>
            </a:r>
          </a:p>
        </p:txBody>
      </p:sp>
      <p:sp>
        <p:nvSpPr>
          <p:cNvPr id="17" name="Rounded Rectangle 16"/>
          <p:cNvSpPr/>
          <p:nvPr/>
        </p:nvSpPr>
        <p:spPr>
          <a:xfrm>
            <a:off x="502920" y="5106924"/>
            <a:ext cx="6537960" cy="1184148"/>
          </a:xfrm>
          <a:prstGeom prst="roundRect">
            <a:avLst>
              <a:gd name="adj" fmla="val 8000"/>
            </a:avLst>
          </a:prstGeom>
          <a:solidFill>
            <a:srgbClr val="F0F0F0"/>
          </a:solidFill>
          <a:ln>
            <a:noFill/>
          </a:ln>
          <a:effectLst/>
        </p:spPr>
        <p:txBody>
          <a:bodyPr rtlCol="0" anchor="ctr"/>
          <a:lstStyle/>
          <a:p/>
        </p:txBody>
      </p:sp>
      <p:sp>
        <p:nvSpPr>
          <p:cNvPr id="18" name="Rectangle 17"/>
          <p:cNvSpPr/>
          <p:nvPr/>
        </p:nvSpPr>
        <p:spPr>
          <a:xfrm>
            <a:off x="502920" y="5106924"/>
            <a:ext cx="118872" cy="1184148"/>
          </a:xfrm>
          <a:prstGeom prst="rect">
            <a:avLst/>
          </a:prstGeom>
          <a:solidFill>
            <a:srgbClr val="4F4F4F"/>
          </a:solidFill>
          <a:ln>
            <a:noFill/>
          </a:ln>
          <a:effectLst/>
        </p:spPr>
        <p:txBody>
          <a:bodyPr rtlCol="0" anchor="ctr"/>
          <a:lstStyle/>
          <a:p/>
        </p:txBody>
      </p:sp>
      <p:sp>
        <p:nvSpPr>
          <p:cNvPr id="19" name="TextBox 18"/>
          <p:cNvSpPr txBox="1"/>
          <p:nvPr/>
        </p:nvSpPr>
        <p:spPr>
          <a:xfrm>
            <a:off x="777240" y="5106924"/>
            <a:ext cx="6126480" cy="1184148"/>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Ekstrem doğa olaylarının beşerî unsurlar üzerindeki etkileri, meydana geldiği bölge veya ülkenin gelişmişlik seviyesi ve nüfus yoğunluğuna göre farklılık gösterir.</a:t>
            </a:r>
          </a:p>
        </p:txBody>
      </p:sp>
      <p:pic>
        <p:nvPicPr>
          <p:cNvPr id="20" name="Picture 19" descr="h30_g62_sili_s191.jpg"/>
          <p:cNvPicPr>
            <a:picLocks noChangeAspect="1"/>
          </p:cNvPicPr>
          <p:nvPr/>
        </p:nvPicPr>
        <p:blipFill>
          <a:blip r:embed="rId3"/>
          <a:stretch>
            <a:fillRect/>
          </a:stretch>
        </p:blipFill>
        <p:spPr>
          <a:xfrm>
            <a:off x="7269480" y="1307020"/>
            <a:ext cx="4419295" cy="2927223"/>
          </a:xfrm>
          <a:prstGeom prst="rect">
            <a:avLst/>
          </a:prstGeom>
          <a:ln w="9525">
            <a:solidFill>
              <a:srgbClr val="D9D9D9"/>
            </a:solidFill>
          </a:ln>
        </p:spPr>
      </p:pic>
      <p:sp>
        <p:nvSpPr>
          <p:cNvPr id="21" name="TextBox 20"/>
          <p:cNvSpPr txBox="1"/>
          <p:nvPr/>
        </p:nvSpPr>
        <p:spPr>
          <a:xfrm>
            <a:off x="7269480" y="4325683"/>
            <a:ext cx="4419295" cy="640080"/>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Görsel 6.2: Şili’de meydana gelen depremin etkileri (1960)</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19 / 250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Risk</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KAVRAM 3</a:t>
            </a:r>
          </a:p>
        </p:txBody>
      </p:sp>
      <p:sp>
        <p:nvSpPr>
          <p:cNvPr id="6" name="Rounded Rectangle 5"/>
          <p:cNvSpPr/>
          <p:nvPr/>
        </p:nvSpPr>
        <p:spPr>
          <a:xfrm>
            <a:off x="502920" y="1216152"/>
            <a:ext cx="6355080" cy="233172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46304" cy="2331720"/>
          </a:xfrm>
          <a:prstGeom prst="rect">
            <a:avLst/>
          </a:prstGeom>
          <a:solidFill>
            <a:srgbClr val="4A6B78"/>
          </a:solidFill>
          <a:ln>
            <a:noFill/>
          </a:ln>
          <a:effectLst/>
        </p:spPr>
        <p:txBody>
          <a:bodyPr rtlCol="0" anchor="ctr"/>
          <a:lstStyle/>
          <a:p/>
        </p:txBody>
      </p:sp>
      <p:sp>
        <p:nvSpPr>
          <p:cNvPr id="8" name="TextBox 7"/>
          <p:cNvSpPr txBox="1"/>
          <p:nvPr/>
        </p:nvSpPr>
        <p:spPr>
          <a:xfrm>
            <a:off x="868680" y="1325880"/>
            <a:ext cx="5806440"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4A6B78"/>
                </a:solidFill>
                <a:latin typeface="Calibri"/>
              </a:rPr>
              <a:t>RİSK</a:t>
            </a:r>
          </a:p>
        </p:txBody>
      </p:sp>
      <p:sp>
        <p:nvSpPr>
          <p:cNvPr id="9" name="TextBox 8"/>
          <p:cNvSpPr txBox="1"/>
          <p:nvPr/>
        </p:nvSpPr>
        <p:spPr>
          <a:xfrm>
            <a:off x="868680" y="1719072"/>
            <a:ext cx="5806440" cy="1691640"/>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Risk, bir olayın belirli koşul ve ortamlarda meydana gelme ihtimali ve bu olayın doğurabileceği can ve mal kaybının yanında ekonomik ve çevresel değerlerin de kaybedilme olasılığıdır.</a:t>
            </a:r>
          </a:p>
        </p:txBody>
      </p:sp>
      <p:sp>
        <p:nvSpPr>
          <p:cNvPr id="10" name="TextBox 9"/>
          <p:cNvSpPr txBox="1"/>
          <p:nvPr/>
        </p:nvSpPr>
        <p:spPr>
          <a:xfrm>
            <a:off x="502920" y="3685032"/>
            <a:ext cx="6355080" cy="420624"/>
          </a:xfrm>
          <a:prstGeom prst="rect">
            <a:avLst/>
          </a:prstGeom>
          <a:noFill/>
        </p:spPr>
        <p:txBody>
          <a:bodyPr wrap="square" anchor="t" lIns="73152" rIns="73152" tIns="36576" bIns="36576">
            <a:noAutofit/>
          </a:bodyPr>
          <a:lstStyle/>
          <a:p>
            <a:pPr algn="l">
              <a:spcBef>
                <a:spcPts val="0"/>
              </a:spcBef>
              <a:spcAft>
                <a:spcPts val="0"/>
              </a:spcAft>
            </a:pPr>
            <a:r>
              <a:rPr lang="tr-TR" sz="2000" b="1" i="0">
                <a:solidFill>
                  <a:srgbClr val="4A6B78"/>
                </a:solidFill>
                <a:latin typeface="Calibri"/>
              </a:rPr>
              <a:t>Riski belirleyen ana unsurlar:</a:t>
            </a:r>
          </a:p>
        </p:txBody>
      </p:sp>
      <p:sp>
        <p:nvSpPr>
          <p:cNvPr id="11" name="Rounded Rectangle 10"/>
          <p:cNvSpPr/>
          <p:nvPr/>
        </p:nvSpPr>
        <p:spPr>
          <a:xfrm>
            <a:off x="502920" y="4160520"/>
            <a:ext cx="3086100" cy="914400"/>
          </a:xfrm>
          <a:prstGeom prst="roundRect">
            <a:avLst>
              <a:gd name="adj" fmla="val 8000"/>
            </a:avLst>
          </a:prstGeom>
          <a:solidFill>
            <a:srgbClr val="FFFFFF"/>
          </a:solidFill>
          <a:ln w="25400">
            <a:solidFill>
              <a:srgbClr val="4A6B78"/>
            </a:solid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İnsan ve onun faaliyetleri</a:t>
            </a:r>
          </a:p>
        </p:txBody>
      </p:sp>
      <p:sp>
        <p:nvSpPr>
          <p:cNvPr id="12" name="Rounded Rectangle 11"/>
          <p:cNvSpPr/>
          <p:nvPr/>
        </p:nvSpPr>
        <p:spPr>
          <a:xfrm>
            <a:off x="3771900" y="4160520"/>
            <a:ext cx="3086100" cy="914400"/>
          </a:xfrm>
          <a:prstGeom prst="roundRect">
            <a:avLst>
              <a:gd name="adj" fmla="val 8000"/>
            </a:avLst>
          </a:prstGeom>
          <a:solidFill>
            <a:srgbClr val="FFFFFF"/>
          </a:solidFill>
          <a:ln w="25400">
            <a:solidFill>
              <a:srgbClr val="4A6B78"/>
            </a:solidFill>
          </a:ln>
          <a:effectLst/>
        </p:spPr>
        <p:txBody>
          <a:bodyPr rtlCol="0" anchor="ctr" wrap="square" lIns="128016" rIns="128016" tIns="73152" bIns="73152">
            <a:noAutofit/>
          </a:bodyPr>
          <a:lstStyle/>
          <a:p>
            <a:pPr algn="ctr">
              <a:spcBef>
                <a:spcPts val="0"/>
              </a:spcBef>
              <a:spcAft>
                <a:spcPts val="0"/>
              </a:spcAft>
            </a:pPr>
            <a:r>
              <a:rPr lang="tr-TR" sz="2000" b="1" i="0">
                <a:solidFill>
                  <a:srgbClr val="262626"/>
                </a:solidFill>
                <a:latin typeface="Calibri"/>
              </a:rPr>
              <a:t>Doğa ve insan kaynaklı meydana gelen tehlikeler</a:t>
            </a:r>
          </a:p>
        </p:txBody>
      </p:sp>
      <p:sp>
        <p:nvSpPr>
          <p:cNvPr id="13" name="Rounded Rectangle 12"/>
          <p:cNvSpPr/>
          <p:nvPr/>
        </p:nvSpPr>
        <p:spPr>
          <a:xfrm>
            <a:off x="502920" y="5239512"/>
            <a:ext cx="6355080" cy="1005840"/>
          </a:xfrm>
          <a:prstGeom prst="roundRect">
            <a:avLst>
              <a:gd name="adj" fmla="val 8000"/>
            </a:avLst>
          </a:prstGeom>
          <a:solidFill>
            <a:srgbClr val="F0F0F0"/>
          </a:solidFill>
          <a:ln>
            <a:noFill/>
          </a:ln>
          <a:effectLst/>
        </p:spPr>
        <p:txBody>
          <a:bodyPr rtlCol="0" anchor="ctr"/>
          <a:lstStyle/>
          <a:p/>
        </p:txBody>
      </p:sp>
      <p:sp>
        <p:nvSpPr>
          <p:cNvPr id="14" name="Rectangle 13"/>
          <p:cNvSpPr/>
          <p:nvPr/>
        </p:nvSpPr>
        <p:spPr>
          <a:xfrm>
            <a:off x="502920" y="5239512"/>
            <a:ext cx="118872" cy="1005840"/>
          </a:xfrm>
          <a:prstGeom prst="rect">
            <a:avLst/>
          </a:prstGeom>
          <a:solidFill>
            <a:srgbClr val="4A6B78"/>
          </a:solidFill>
          <a:ln>
            <a:noFill/>
          </a:ln>
          <a:effectLst/>
        </p:spPr>
        <p:txBody>
          <a:bodyPr rtlCol="0" anchor="ctr"/>
          <a:lstStyle/>
          <a:p/>
        </p:txBody>
      </p:sp>
      <p:sp>
        <p:nvSpPr>
          <p:cNvPr id="15" name="TextBox 14"/>
          <p:cNvSpPr txBox="1"/>
          <p:nvPr/>
        </p:nvSpPr>
        <p:spPr>
          <a:xfrm>
            <a:off x="777240" y="5239512"/>
            <a:ext cx="5943600" cy="1005840"/>
          </a:xfrm>
          <a:prstGeom prst="rect">
            <a:avLst/>
          </a:prstGeom>
          <a:noFill/>
        </p:spPr>
        <p:txBody>
          <a:bodyPr wrap="square" anchor="ctr" lIns="73152" rIns="73152" tIns="36576" bIns="36576">
            <a:noAutofit/>
          </a:bodyPr>
          <a:lstStyle/>
          <a:p>
            <a:pPr algn="l">
              <a:spcBef>
                <a:spcPts val="0"/>
              </a:spcBef>
              <a:spcAft>
                <a:spcPts val="0"/>
              </a:spcAft>
            </a:pPr>
            <a:r>
              <a:rPr lang="tr-TR" sz="2000" b="0" i="0">
                <a:solidFill>
                  <a:srgbClr val="262626"/>
                </a:solidFill>
                <a:latin typeface="Calibri"/>
              </a:rPr>
              <a:t>Bir alandaki risk, tehlike ve insanların bu tehlikeye maruz kalmasıyla doğrudan ilişkilidir.</a:t>
            </a:r>
          </a:p>
        </p:txBody>
      </p:sp>
      <p:pic>
        <p:nvPicPr>
          <p:cNvPr id="16" name="Picture 15" descr="h30_g63_java_s191.jpg"/>
          <p:cNvPicPr>
            <a:picLocks noChangeAspect="1"/>
          </p:cNvPicPr>
          <p:nvPr/>
        </p:nvPicPr>
        <p:blipFill>
          <a:blip r:embed="rId3"/>
          <a:stretch>
            <a:fillRect/>
          </a:stretch>
        </p:blipFill>
        <p:spPr>
          <a:xfrm>
            <a:off x="7086600" y="1246874"/>
            <a:ext cx="4602175" cy="3047514"/>
          </a:xfrm>
          <a:prstGeom prst="rect">
            <a:avLst/>
          </a:prstGeom>
          <a:ln w="9525">
            <a:solidFill>
              <a:srgbClr val="D9D9D9"/>
            </a:solidFill>
          </a:ln>
        </p:spPr>
      </p:pic>
      <p:sp>
        <p:nvSpPr>
          <p:cNvPr id="17" name="TextBox 16"/>
          <p:cNvSpPr txBox="1"/>
          <p:nvPr/>
        </p:nvSpPr>
        <p:spPr>
          <a:xfrm>
            <a:off x="7086600" y="4385829"/>
            <a:ext cx="4602175" cy="1905242"/>
          </a:xfrm>
          <a:prstGeom prst="rect">
            <a:avLst/>
          </a:prstGeom>
          <a:noFill/>
        </p:spPr>
        <p:txBody>
          <a:bodyPr wrap="square" anchor="t" lIns="73152" rIns="73152" tIns="36576" bIns="36576">
            <a:noAutofit/>
          </a:bodyPr>
          <a:lstStyle/>
          <a:p>
            <a:pPr algn="l">
              <a:spcBef>
                <a:spcPts val="0"/>
              </a:spcBef>
              <a:spcAft>
                <a:spcPts val="0"/>
              </a:spcAft>
            </a:pPr>
            <a:r>
              <a:rPr lang="tr-TR" sz="1700" b="0" i="1">
                <a:solidFill>
                  <a:srgbClr val="767676"/>
                </a:solidFill>
                <a:latin typeface="Calibri"/>
              </a:rPr>
              <a:t>Görsel 6.3: Dere kenarına kurulan yerleşim alanları, aşırı yağış veya sele bağlı olarak risk altındadır (Java / Endonezya).</a:t>
            </a:r>
          </a:p>
        </p:txBody>
      </p:sp>
      <p:sp>
        <p:nvSpPr>
          <p:cNvPr id="18" name="TextBox 1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9" name="Rounded Rectangle 1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20" name="TextBox 1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20 / 250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Maruziyet ve güvenlik açığı</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KAVRAM 3</a:t>
            </a:r>
          </a:p>
        </p:txBody>
      </p:sp>
      <p:sp>
        <p:nvSpPr>
          <p:cNvPr id="6" name="Rounded Rectangle 5"/>
          <p:cNvSpPr/>
          <p:nvPr/>
        </p:nvSpPr>
        <p:spPr>
          <a:xfrm>
            <a:off x="502920" y="1216152"/>
            <a:ext cx="5455767" cy="35204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55767" cy="603504"/>
          </a:xfrm>
          <a:prstGeom prst="roundRect">
            <a:avLst>
              <a:gd name="adj" fmla="val 25000"/>
            </a:avLst>
          </a:prstGeom>
          <a:solidFill>
            <a:srgbClr val="7558A8"/>
          </a:solidFill>
          <a:ln>
            <a:noFill/>
          </a:ln>
          <a:effectLst/>
        </p:spPr>
        <p:txBody>
          <a:bodyPr rtlCol="0" anchor="ctr"/>
          <a:lstStyle/>
          <a:p/>
        </p:txBody>
      </p:sp>
      <p:sp>
        <p:nvSpPr>
          <p:cNvPr id="8" name="Rectangle 7"/>
          <p:cNvSpPr/>
          <p:nvPr/>
        </p:nvSpPr>
        <p:spPr>
          <a:xfrm>
            <a:off x="502920" y="1517904"/>
            <a:ext cx="5455767" cy="301752"/>
          </a:xfrm>
          <a:prstGeom prst="rect">
            <a:avLst/>
          </a:prstGeom>
          <a:solidFill>
            <a:srgbClr val="7558A8"/>
          </a:solidFill>
          <a:ln>
            <a:noFill/>
          </a:ln>
          <a:effectLst/>
        </p:spPr>
        <p:txBody>
          <a:bodyPr rtlCol="0" anchor="ctr"/>
          <a:lstStyle/>
          <a:p/>
        </p:txBody>
      </p:sp>
      <p:sp>
        <p:nvSpPr>
          <p:cNvPr id="9" name="TextBox 8"/>
          <p:cNvSpPr txBox="1"/>
          <p:nvPr/>
        </p:nvSpPr>
        <p:spPr>
          <a:xfrm>
            <a:off x="594360" y="1216152"/>
            <a:ext cx="5272887" cy="603504"/>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Maruziyet</a:t>
            </a:r>
          </a:p>
        </p:txBody>
      </p:sp>
      <p:sp>
        <p:nvSpPr>
          <p:cNvPr id="10" name="TextBox 9"/>
          <p:cNvSpPr txBox="1"/>
          <p:nvPr/>
        </p:nvSpPr>
        <p:spPr>
          <a:xfrm>
            <a:off x="667512" y="1901952"/>
            <a:ext cx="5126583" cy="100584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262626"/>
                </a:solidFill>
                <a:latin typeface="Calibri"/>
              </a:rPr>
              <a:t>İnsanların ve varlıklarının tehlikenin etki alanında bulunması</a:t>
            </a:r>
          </a:p>
        </p:txBody>
      </p:sp>
      <p:sp>
        <p:nvSpPr>
          <p:cNvPr id="11" name="TextBox 10"/>
          <p:cNvSpPr txBox="1"/>
          <p:nvPr/>
        </p:nvSpPr>
        <p:spPr>
          <a:xfrm>
            <a:off x="667512" y="2953512"/>
            <a:ext cx="5126583" cy="868680"/>
          </a:xfrm>
          <a:prstGeom prst="rect">
            <a:avLst/>
          </a:prstGeom>
          <a:noFill/>
        </p:spPr>
        <p:txBody>
          <a:bodyPr wrap="square" anchor="ctr" lIns="73152" rIns="73152" tIns="36576" bIns="36576">
            <a:noAutofit/>
          </a:bodyPr>
          <a:lstStyle/>
          <a:p>
            <a:pPr algn="l">
              <a:spcBef>
                <a:spcPts val="0"/>
              </a:spcBef>
              <a:spcAft>
                <a:spcPts val="0"/>
              </a:spcAft>
            </a:pPr>
            <a:r>
              <a:rPr lang="tr-TR" sz="1900" b="0" i="1">
                <a:solidFill>
                  <a:srgbClr val="767676"/>
                </a:solidFill>
                <a:latin typeface="Calibri"/>
              </a:rPr>
              <a:t>Kitap: “… insanların bu tehlikeye maruz kalması …”</a:t>
            </a:r>
          </a:p>
        </p:txBody>
      </p:sp>
      <p:sp>
        <p:nvSpPr>
          <p:cNvPr id="12" name="Rounded Rectangle 11"/>
          <p:cNvSpPr/>
          <p:nvPr/>
        </p:nvSpPr>
        <p:spPr>
          <a:xfrm>
            <a:off x="667512" y="3895344"/>
            <a:ext cx="5126583" cy="731520"/>
          </a:xfrm>
          <a:prstGeom prst="roundRect">
            <a:avLst>
              <a:gd name="adj" fmla="val 8000"/>
            </a:avLst>
          </a:prstGeom>
          <a:solidFill>
            <a:srgbClr val="FFFFFF"/>
          </a:solidFill>
          <a:ln w="19050">
            <a:solidFill>
              <a:srgbClr val="7558A8"/>
            </a:solidFill>
          </a:ln>
          <a:effectLst/>
        </p:spPr>
        <p:txBody>
          <a:bodyPr rtlCol="0" anchor="ctr" wrap="square" lIns="128016" rIns="128016" tIns="73152" bIns="73152">
            <a:noAutofit/>
          </a:bodyPr>
          <a:lstStyle/>
          <a:p>
            <a:pPr algn="ctr">
              <a:spcBef>
                <a:spcPts val="0"/>
              </a:spcBef>
              <a:spcAft>
                <a:spcPts val="0"/>
              </a:spcAft>
            </a:pPr>
            <a:r>
              <a:rPr lang="tr-TR" sz="1800" b="0" i="0">
                <a:solidFill>
                  <a:srgbClr val="262626"/>
                </a:solidFill>
                <a:latin typeface="Calibri"/>
              </a:rPr>
              <a:t>Örnek: Dere kenarındaki evler ve orada yaşayanlar</a:t>
            </a:r>
          </a:p>
        </p:txBody>
      </p:sp>
      <p:sp>
        <p:nvSpPr>
          <p:cNvPr id="13" name="Rounded Rectangle 12"/>
          <p:cNvSpPr/>
          <p:nvPr/>
        </p:nvSpPr>
        <p:spPr>
          <a:xfrm>
            <a:off x="6233007" y="1216152"/>
            <a:ext cx="5455767" cy="3520440"/>
          </a:xfrm>
          <a:prstGeom prst="roundRect">
            <a:avLst>
              <a:gd name="adj" fmla="val 5000"/>
            </a:avLst>
          </a:prstGeom>
          <a:solidFill>
            <a:srgbClr val="F0F0F0"/>
          </a:solidFill>
          <a:ln>
            <a:noFill/>
          </a:ln>
          <a:effectLst/>
        </p:spPr>
        <p:txBody>
          <a:bodyPr rtlCol="0" anchor="ctr"/>
          <a:lstStyle/>
          <a:p/>
        </p:txBody>
      </p:sp>
      <p:sp>
        <p:nvSpPr>
          <p:cNvPr id="14" name="Rounded Rectangle 13"/>
          <p:cNvSpPr/>
          <p:nvPr/>
        </p:nvSpPr>
        <p:spPr>
          <a:xfrm>
            <a:off x="6233007" y="1216152"/>
            <a:ext cx="5455767" cy="603504"/>
          </a:xfrm>
          <a:prstGeom prst="roundRect">
            <a:avLst>
              <a:gd name="adj" fmla="val 25000"/>
            </a:avLst>
          </a:prstGeom>
          <a:solidFill>
            <a:srgbClr val="1E8C9C"/>
          </a:solidFill>
          <a:ln>
            <a:noFill/>
          </a:ln>
          <a:effectLst/>
        </p:spPr>
        <p:txBody>
          <a:bodyPr rtlCol="0" anchor="ctr"/>
          <a:lstStyle/>
          <a:p/>
        </p:txBody>
      </p:sp>
      <p:sp>
        <p:nvSpPr>
          <p:cNvPr id="15" name="Rectangle 14"/>
          <p:cNvSpPr/>
          <p:nvPr/>
        </p:nvSpPr>
        <p:spPr>
          <a:xfrm>
            <a:off x="6233007" y="1517904"/>
            <a:ext cx="5455767" cy="301752"/>
          </a:xfrm>
          <a:prstGeom prst="rect">
            <a:avLst/>
          </a:prstGeom>
          <a:solidFill>
            <a:srgbClr val="1E8C9C"/>
          </a:solidFill>
          <a:ln>
            <a:noFill/>
          </a:ln>
          <a:effectLst/>
        </p:spPr>
        <p:txBody>
          <a:bodyPr rtlCol="0" anchor="ctr"/>
          <a:lstStyle/>
          <a:p/>
        </p:txBody>
      </p:sp>
      <p:sp>
        <p:nvSpPr>
          <p:cNvPr id="16" name="TextBox 15"/>
          <p:cNvSpPr txBox="1"/>
          <p:nvPr/>
        </p:nvSpPr>
        <p:spPr>
          <a:xfrm>
            <a:off x="6324447" y="1216152"/>
            <a:ext cx="5272887" cy="603504"/>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Güvenlik açığı</a:t>
            </a:r>
          </a:p>
        </p:txBody>
      </p:sp>
      <p:sp>
        <p:nvSpPr>
          <p:cNvPr id="17" name="TextBox 16"/>
          <p:cNvSpPr txBox="1"/>
          <p:nvPr/>
        </p:nvSpPr>
        <p:spPr>
          <a:xfrm>
            <a:off x="6397599" y="1901952"/>
            <a:ext cx="5126583" cy="1005840"/>
          </a:xfrm>
          <a:prstGeom prst="rect">
            <a:avLst/>
          </a:prstGeom>
          <a:noFill/>
        </p:spPr>
        <p:txBody>
          <a:bodyPr wrap="square" anchor="ctr" lIns="73152" rIns="73152" tIns="36576" bIns="36576">
            <a:noAutofit/>
          </a:bodyPr>
          <a:lstStyle/>
          <a:p>
            <a:pPr algn="l">
              <a:spcBef>
                <a:spcPts val="0"/>
              </a:spcBef>
              <a:spcAft>
                <a:spcPts val="0"/>
              </a:spcAft>
            </a:pPr>
            <a:r>
              <a:rPr lang="tr-TR" sz="2300" b="1" i="0">
                <a:solidFill>
                  <a:srgbClr val="262626"/>
                </a:solidFill>
                <a:latin typeface="Calibri"/>
              </a:rPr>
              <a:t>Önlem alınmamasından doğan zayıflık ve eksiklikler</a:t>
            </a:r>
          </a:p>
        </p:txBody>
      </p:sp>
      <p:sp>
        <p:nvSpPr>
          <p:cNvPr id="18" name="TextBox 17"/>
          <p:cNvSpPr txBox="1"/>
          <p:nvPr/>
        </p:nvSpPr>
        <p:spPr>
          <a:xfrm>
            <a:off x="6397599" y="2953512"/>
            <a:ext cx="5126583" cy="868680"/>
          </a:xfrm>
          <a:prstGeom prst="rect">
            <a:avLst/>
          </a:prstGeom>
          <a:noFill/>
        </p:spPr>
        <p:txBody>
          <a:bodyPr wrap="square" anchor="ctr" lIns="73152" rIns="73152" tIns="36576" bIns="36576">
            <a:noAutofit/>
          </a:bodyPr>
          <a:lstStyle/>
          <a:p>
            <a:pPr algn="l">
              <a:spcBef>
                <a:spcPts val="0"/>
              </a:spcBef>
              <a:spcAft>
                <a:spcPts val="0"/>
              </a:spcAft>
            </a:pPr>
            <a:r>
              <a:rPr lang="tr-TR" sz="1900" b="0" i="1">
                <a:solidFill>
                  <a:srgbClr val="767676"/>
                </a:solidFill>
                <a:latin typeface="Calibri"/>
              </a:rPr>
              <a:t>Kitap: “… önlem alınmazsa güvenlik açığına neden olarak risk oluşturur …”</a:t>
            </a:r>
          </a:p>
        </p:txBody>
      </p:sp>
      <p:sp>
        <p:nvSpPr>
          <p:cNvPr id="19" name="Rounded Rectangle 18"/>
          <p:cNvSpPr/>
          <p:nvPr/>
        </p:nvSpPr>
        <p:spPr>
          <a:xfrm>
            <a:off x="6397599" y="3895344"/>
            <a:ext cx="5126583" cy="731520"/>
          </a:xfrm>
          <a:prstGeom prst="roundRect">
            <a:avLst>
              <a:gd name="adj" fmla="val 8000"/>
            </a:avLst>
          </a:prstGeom>
          <a:solidFill>
            <a:srgbClr val="FFFFFF"/>
          </a:solidFill>
          <a:ln w="19050">
            <a:solidFill>
              <a:srgbClr val="1E8C9C"/>
            </a:solidFill>
          </a:ln>
          <a:effectLst/>
        </p:spPr>
        <p:txBody>
          <a:bodyPr rtlCol="0" anchor="ctr" wrap="square" lIns="128016" rIns="128016" tIns="73152" bIns="73152">
            <a:noAutofit/>
          </a:bodyPr>
          <a:lstStyle/>
          <a:p>
            <a:pPr algn="ctr">
              <a:spcBef>
                <a:spcPts val="0"/>
              </a:spcBef>
              <a:spcAft>
                <a:spcPts val="0"/>
              </a:spcAft>
            </a:pPr>
            <a:r>
              <a:rPr lang="tr-TR" sz="1750" b="0" i="0">
                <a:solidFill>
                  <a:srgbClr val="262626"/>
                </a:solidFill>
                <a:latin typeface="Calibri"/>
              </a:rPr>
              <a:t>Örnek: Depreme dirençli olmayan yerleşim alanlarının kurulması</a:t>
            </a:r>
          </a:p>
        </p:txBody>
      </p:sp>
      <p:sp>
        <p:nvSpPr>
          <p:cNvPr id="20" name="Rounded Rectangle 19"/>
          <p:cNvSpPr/>
          <p:nvPr/>
        </p:nvSpPr>
        <p:spPr>
          <a:xfrm>
            <a:off x="502920" y="4919471"/>
            <a:ext cx="11185855" cy="1325880"/>
          </a:xfrm>
          <a:prstGeom prst="roundRect">
            <a:avLst>
              <a:gd name="adj" fmla="val 8000"/>
            </a:avLst>
          </a:prstGeom>
          <a:solidFill>
            <a:srgbClr val="F0F0F0"/>
          </a:solidFill>
          <a:ln>
            <a:noFill/>
          </a:ln>
          <a:effectLst/>
        </p:spPr>
        <p:txBody>
          <a:bodyPr rtlCol="0" anchor="ctr"/>
          <a:lstStyle/>
          <a:p/>
        </p:txBody>
      </p:sp>
      <p:sp>
        <p:nvSpPr>
          <p:cNvPr id="21" name="Rectangle 20"/>
          <p:cNvSpPr/>
          <p:nvPr/>
        </p:nvSpPr>
        <p:spPr>
          <a:xfrm>
            <a:off x="502920" y="4919471"/>
            <a:ext cx="118872" cy="1325880"/>
          </a:xfrm>
          <a:prstGeom prst="rect">
            <a:avLst/>
          </a:prstGeom>
          <a:solidFill>
            <a:srgbClr val="4A6B78"/>
          </a:solidFill>
          <a:ln>
            <a:noFill/>
          </a:ln>
          <a:effectLst/>
        </p:spPr>
        <p:txBody>
          <a:bodyPr rtlCol="0" anchor="ctr"/>
          <a:lstStyle/>
          <a:p/>
        </p:txBody>
      </p:sp>
      <p:sp>
        <p:nvSpPr>
          <p:cNvPr id="22" name="TextBox 21"/>
          <p:cNvSpPr txBox="1"/>
          <p:nvPr/>
        </p:nvSpPr>
        <p:spPr>
          <a:xfrm>
            <a:off x="777240" y="4919471"/>
            <a:ext cx="10774375" cy="132588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İnsanların yaşadığı çevrenin fiziki ve beşerî koşulları risk faktörünü doğrudan etkilemektedir.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190-191</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21 / 250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Afet</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KAVRAM 4</a:t>
            </a:r>
          </a:p>
        </p:txBody>
      </p:sp>
      <p:sp>
        <p:nvSpPr>
          <p:cNvPr id="6" name="Rounded Rectangle 5"/>
          <p:cNvSpPr/>
          <p:nvPr/>
        </p:nvSpPr>
        <p:spPr>
          <a:xfrm>
            <a:off x="502920" y="1216152"/>
            <a:ext cx="11185855" cy="2148840"/>
          </a:xfrm>
          <a:prstGeom prst="roundRect">
            <a:avLst>
              <a:gd name="adj" fmla="val 6000"/>
            </a:avLst>
          </a:prstGeom>
          <a:solidFill>
            <a:srgbClr val="F0F0F0"/>
          </a:solidFill>
          <a:ln>
            <a:noFill/>
          </a:ln>
          <a:effectLst/>
        </p:spPr>
        <p:txBody>
          <a:bodyPr rtlCol="0" anchor="ctr"/>
          <a:lstStyle/>
          <a:p/>
        </p:txBody>
      </p:sp>
      <p:sp>
        <p:nvSpPr>
          <p:cNvPr id="7" name="Rectangle 6"/>
          <p:cNvSpPr/>
          <p:nvPr/>
        </p:nvSpPr>
        <p:spPr>
          <a:xfrm>
            <a:off x="502920" y="1216152"/>
            <a:ext cx="146304" cy="2148840"/>
          </a:xfrm>
          <a:prstGeom prst="rect">
            <a:avLst/>
          </a:prstGeom>
          <a:solidFill>
            <a:srgbClr val="4F4F4F"/>
          </a:solidFill>
          <a:ln>
            <a:noFill/>
          </a:ln>
          <a:effectLst/>
        </p:spPr>
        <p:txBody>
          <a:bodyPr rtlCol="0" anchor="ctr"/>
          <a:lstStyle/>
          <a:p/>
        </p:txBody>
      </p:sp>
      <p:sp>
        <p:nvSpPr>
          <p:cNvPr id="8" name="TextBox 7"/>
          <p:cNvSpPr txBox="1"/>
          <p:nvPr/>
        </p:nvSpPr>
        <p:spPr>
          <a:xfrm>
            <a:off x="868680" y="1325880"/>
            <a:ext cx="10637215"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4F4F4F"/>
                </a:solidFill>
                <a:latin typeface="Calibri"/>
              </a:rPr>
              <a:t>AFET</a:t>
            </a:r>
          </a:p>
        </p:txBody>
      </p:sp>
      <p:sp>
        <p:nvSpPr>
          <p:cNvPr id="9" name="TextBox 8"/>
          <p:cNvSpPr txBox="1"/>
          <p:nvPr/>
        </p:nvSpPr>
        <p:spPr>
          <a:xfrm>
            <a:off x="868680" y="1719072"/>
            <a:ext cx="10637215" cy="1508760"/>
          </a:xfrm>
          <a:prstGeom prst="rect">
            <a:avLst/>
          </a:prstGeom>
          <a:noFill/>
        </p:spPr>
        <p:txBody>
          <a:bodyPr wrap="square" anchor="ctr" lIns="73152" rIns="73152" tIns="36576" bIns="36576">
            <a:noAutofit/>
          </a:bodyPr>
          <a:lstStyle/>
          <a:p>
            <a:pPr algn="l">
              <a:spcBef>
                <a:spcPts val="0"/>
              </a:spcBef>
              <a:spcAft>
                <a:spcPts val="0"/>
              </a:spcAft>
            </a:pPr>
            <a:r>
              <a:rPr lang="tr-TR" sz="2500" b="0" i="0">
                <a:solidFill>
                  <a:srgbClr val="262626"/>
                </a:solidFill>
                <a:latin typeface="Calibri"/>
              </a:rPr>
              <a:t>Afet; tehlike arz eden doğal veya beşerî kaynaklı olaylara maruz kalınmasıyla olağan hayat düzenini bozan, can ve mal kaybına neden olan, insanların uyum sağlama kapasitesini aşarak dış yardıma gereksinim duyulan olaylardır.</a:t>
            </a:r>
          </a:p>
        </p:txBody>
      </p:sp>
      <p:sp>
        <p:nvSpPr>
          <p:cNvPr id="10" name="Rounded Rectangle 9"/>
          <p:cNvSpPr/>
          <p:nvPr/>
        </p:nvSpPr>
        <p:spPr>
          <a:xfrm>
            <a:off x="502920" y="3547872"/>
            <a:ext cx="2955804" cy="530352"/>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2100" b="1" i="0">
                <a:solidFill>
                  <a:srgbClr val="262626"/>
                </a:solidFill>
                <a:latin typeface="Calibri"/>
              </a:rPr>
              <a:t>tehlikeye maruz kalınır</a:t>
            </a:r>
          </a:p>
        </p:txBody>
      </p:sp>
      <p:sp>
        <p:nvSpPr>
          <p:cNvPr id="11" name="Rounded Rectangle 10"/>
          <p:cNvSpPr/>
          <p:nvPr/>
        </p:nvSpPr>
        <p:spPr>
          <a:xfrm>
            <a:off x="3568452" y="3547872"/>
            <a:ext cx="3558730" cy="530352"/>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2100" b="1" i="0">
                <a:solidFill>
                  <a:srgbClr val="262626"/>
                </a:solidFill>
                <a:latin typeface="Calibri"/>
              </a:rPr>
              <a:t>olağan hayat düzeni bozulur</a:t>
            </a:r>
          </a:p>
        </p:txBody>
      </p:sp>
      <p:sp>
        <p:nvSpPr>
          <p:cNvPr id="12" name="Rounded Rectangle 11"/>
          <p:cNvSpPr/>
          <p:nvPr/>
        </p:nvSpPr>
        <p:spPr>
          <a:xfrm>
            <a:off x="7236910" y="3547872"/>
            <a:ext cx="2770123" cy="530352"/>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2100" b="1" i="0">
                <a:solidFill>
                  <a:srgbClr val="262626"/>
                </a:solidFill>
                <a:latin typeface="Calibri"/>
              </a:rPr>
              <a:t>can ve mal kaybı olur</a:t>
            </a:r>
          </a:p>
        </p:txBody>
      </p:sp>
      <p:sp>
        <p:nvSpPr>
          <p:cNvPr id="13" name="Rounded Rectangle 12"/>
          <p:cNvSpPr/>
          <p:nvPr/>
        </p:nvSpPr>
        <p:spPr>
          <a:xfrm>
            <a:off x="502920" y="4224528"/>
            <a:ext cx="3817593" cy="530352"/>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2100" b="1" i="0">
                <a:solidFill>
                  <a:srgbClr val="262626"/>
                </a:solidFill>
                <a:latin typeface="Calibri"/>
              </a:rPr>
              <a:t>uyum sağlama kapasitesi aşılır</a:t>
            </a:r>
          </a:p>
        </p:txBody>
      </p:sp>
      <p:sp>
        <p:nvSpPr>
          <p:cNvPr id="14" name="Rounded Rectangle 13"/>
          <p:cNvSpPr/>
          <p:nvPr/>
        </p:nvSpPr>
        <p:spPr>
          <a:xfrm>
            <a:off x="4430241" y="4224528"/>
            <a:ext cx="2407003" cy="530352"/>
          </a:xfrm>
          <a:prstGeom prst="roundRect">
            <a:avLst>
              <a:gd name="adj" fmla="val 50000"/>
            </a:avLst>
          </a:prstGeom>
          <a:solidFill>
            <a:srgbClr val="FFFFFF"/>
          </a:solidFill>
          <a:ln w="19050">
            <a:solidFill>
              <a:srgbClr val="4F4F4F"/>
            </a:solidFill>
          </a:ln>
          <a:effectLst/>
        </p:spPr>
        <p:txBody>
          <a:bodyPr rtlCol="0" anchor="ctr" wrap="square" lIns="54864" rIns="54864" tIns="0" bIns="0">
            <a:noAutofit/>
          </a:bodyPr>
          <a:lstStyle/>
          <a:p>
            <a:pPr algn="ctr">
              <a:spcBef>
                <a:spcPts val="0"/>
              </a:spcBef>
              <a:spcAft>
                <a:spcPts val="0"/>
              </a:spcAft>
            </a:pPr>
            <a:r>
              <a:rPr lang="tr-TR" sz="2100" b="1" i="0">
                <a:solidFill>
                  <a:srgbClr val="262626"/>
                </a:solidFill>
                <a:latin typeface="Calibri"/>
              </a:rPr>
              <a:t>dış yardım gerekir</a:t>
            </a:r>
          </a:p>
        </p:txBody>
      </p:sp>
      <p:sp>
        <p:nvSpPr>
          <p:cNvPr id="15" name="Rounded Rectangle 14"/>
          <p:cNvSpPr/>
          <p:nvPr/>
        </p:nvSpPr>
        <p:spPr>
          <a:xfrm>
            <a:off x="502920" y="5029200"/>
            <a:ext cx="5455767" cy="1261872"/>
          </a:xfrm>
          <a:prstGeom prst="roundRect">
            <a:avLst>
              <a:gd name="adj" fmla="val 8000"/>
            </a:avLst>
          </a:prstGeom>
          <a:solidFill>
            <a:srgbClr val="F9E1E1"/>
          </a:solidFill>
          <a:ln>
            <a:noFill/>
          </a:ln>
          <a:effectLst/>
        </p:spPr>
        <p:txBody>
          <a:bodyPr rtlCol="0" anchor="ctr" wrap="square" lIns="128016" rIns="128016" tIns="73152" bIns="73152">
            <a:noAutofit/>
          </a:bodyPr>
          <a:lstStyle/>
          <a:p>
            <a:pPr algn="l">
              <a:spcBef>
                <a:spcPts val="0"/>
              </a:spcBef>
              <a:spcAft>
                <a:spcPts val="400"/>
              </a:spcAft>
            </a:pPr>
            <a:r>
              <a:rPr lang="tr-TR" sz="2200" b="1" i="0">
                <a:solidFill>
                  <a:srgbClr val="C94F5A"/>
                </a:solidFill>
                <a:latin typeface="Calibri"/>
              </a:rPr>
              <a:t>Tehlike</a:t>
            </a:r>
          </a:p>
          <a:p>
            <a:pPr algn="l">
              <a:spcBef>
                <a:spcPts val="0"/>
              </a:spcBef>
              <a:spcAft>
                <a:spcPts val="0"/>
              </a:spcAft>
            </a:pPr>
            <a:r>
              <a:rPr lang="tr-TR" sz="2200" b="0" i="0">
                <a:solidFill>
                  <a:srgbClr val="262626"/>
                </a:solidFill>
                <a:latin typeface="Calibri"/>
              </a:rPr>
              <a:t>zarar verme </a:t>
            </a:r>
            <a:r>
              <a:rPr lang="tr-TR" sz="2200" b="1" i="0">
                <a:solidFill>
                  <a:srgbClr val="262626"/>
                </a:solidFill>
                <a:latin typeface="Calibri"/>
              </a:rPr>
              <a:t>ihtimali</a:t>
            </a:r>
            <a:r>
              <a:rPr lang="tr-TR" sz="2200" b="0" i="0">
                <a:solidFill>
                  <a:srgbClr val="262626"/>
                </a:solidFill>
                <a:latin typeface="Calibri"/>
              </a:rPr>
              <a:t>; henüz zarar yok</a:t>
            </a:r>
          </a:p>
        </p:txBody>
      </p:sp>
      <p:sp>
        <p:nvSpPr>
          <p:cNvPr id="16" name="Rounded Rectangle 15"/>
          <p:cNvSpPr/>
          <p:nvPr/>
        </p:nvSpPr>
        <p:spPr>
          <a:xfrm>
            <a:off x="6233007" y="5029200"/>
            <a:ext cx="5455767" cy="1261872"/>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390"/>
              </a:spcAft>
            </a:pPr>
            <a:r>
              <a:rPr lang="tr-TR" sz="2150" b="1" i="0">
                <a:solidFill>
                  <a:srgbClr val="4F4F4F"/>
                </a:solidFill>
                <a:latin typeface="Calibri"/>
              </a:rPr>
              <a:t>Afet</a:t>
            </a:r>
          </a:p>
          <a:p>
            <a:pPr algn="l">
              <a:spcBef>
                <a:spcPts val="0"/>
              </a:spcBef>
              <a:spcAft>
                <a:spcPts val="0"/>
              </a:spcAft>
            </a:pPr>
            <a:r>
              <a:rPr lang="tr-TR" sz="2150" b="0" i="0">
                <a:solidFill>
                  <a:srgbClr val="262626"/>
                </a:solidFill>
                <a:latin typeface="Calibri"/>
              </a:rPr>
              <a:t>zarar </a:t>
            </a:r>
            <a:r>
              <a:rPr lang="tr-TR" sz="2150" b="1" i="0">
                <a:solidFill>
                  <a:srgbClr val="262626"/>
                </a:solidFill>
                <a:latin typeface="Calibri"/>
              </a:rPr>
              <a:t>gerçekleşti</a:t>
            </a:r>
            <a:r>
              <a:rPr lang="tr-TR" sz="2150" b="0" i="0">
                <a:solidFill>
                  <a:srgbClr val="262626"/>
                </a:solidFill>
                <a:latin typeface="Calibri"/>
              </a:rPr>
              <a:t>; toplum tek başına baş edemiyor</a:t>
            </a:r>
          </a:p>
        </p:txBody>
      </p:sp>
      <p:sp>
        <p:nvSpPr>
          <p:cNvPr id="17" name="TextBox 1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8" name="Rounded Rectangle 1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19" name="TextBox 1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22 / 250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bir olayın afet kabul edilebilmesi için hangisi gerekir?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Olayın deprem olması</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Olayın doğa kaynaklı olması</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İnsanlar, diğer canlılar ve çevre üzerinde etki meydana getirmesi</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Olayın önceden tahmin edilememesi</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Olayın ekstrem doğa olayı olması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23 / 250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1</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Kitaba göre bir olayın afet kabul edilebilmesi için hangisi gerekir?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Olayın deprem olması</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Olayın doğa kaynaklı olması</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İnsanlar, diğer canlılar ve çevre üzerinde etki meydana getirmesi</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Olayın önceden tahmin edilememesi</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Olayın ekstrem doğa olayı olması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Bir olayın afet kabul edilebilmesi için insanlar, diğer canlılar ve çevre üzerinde etkiler meydana getirmesi gerekmektedir. İnsan kaynaklı olaylar da afete dönüşebilir.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24 / 250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Görsel 6.4: kavramlar nasıl ilişkili?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VENN ŞEMASI</a:t>
            </a:r>
          </a:p>
        </p:txBody>
      </p:sp>
      <p:pic>
        <p:nvPicPr>
          <p:cNvPr id="6" name="Picture 5" descr="h30_g64_venn_s191.jpg"/>
          <p:cNvPicPr>
            <a:picLocks noChangeAspect="1"/>
          </p:cNvPicPr>
          <p:nvPr/>
        </p:nvPicPr>
        <p:blipFill>
          <a:blip r:embed="rId3"/>
          <a:stretch>
            <a:fillRect/>
          </a:stretch>
        </p:blipFill>
        <p:spPr>
          <a:xfrm>
            <a:off x="502920" y="1327122"/>
            <a:ext cx="4754880" cy="4807259"/>
          </a:xfrm>
          <a:prstGeom prst="rect">
            <a:avLst/>
          </a:prstGeom>
          <a:ln w="9525">
            <a:solidFill>
              <a:srgbClr val="D9D9D9"/>
            </a:solidFill>
          </a:ln>
        </p:spPr>
      </p:pic>
      <p:sp>
        <p:nvSpPr>
          <p:cNvPr id="7" name="Rounded Rectangle 6"/>
          <p:cNvSpPr/>
          <p:nvPr/>
        </p:nvSpPr>
        <p:spPr>
          <a:xfrm>
            <a:off x="5532120" y="1216152"/>
            <a:ext cx="6156655" cy="1600200"/>
          </a:xfrm>
          <a:prstGeom prst="roundRect">
            <a:avLst>
              <a:gd name="adj" fmla="val 8000"/>
            </a:avLst>
          </a:prstGeom>
          <a:solidFill>
            <a:srgbClr val="F0F0F0"/>
          </a:solidFill>
          <a:ln>
            <a:noFill/>
          </a:ln>
          <a:effectLst/>
        </p:spPr>
        <p:txBody>
          <a:bodyPr rtlCol="0" anchor="ctr"/>
          <a:lstStyle/>
          <a:p/>
        </p:txBody>
      </p:sp>
      <p:sp>
        <p:nvSpPr>
          <p:cNvPr id="8" name="Rectangle 7"/>
          <p:cNvSpPr/>
          <p:nvPr/>
        </p:nvSpPr>
        <p:spPr>
          <a:xfrm>
            <a:off x="5532120" y="1216152"/>
            <a:ext cx="118872" cy="1600200"/>
          </a:xfrm>
          <a:prstGeom prst="rect">
            <a:avLst/>
          </a:prstGeom>
          <a:solidFill>
            <a:srgbClr val="4E8A2E"/>
          </a:solidFill>
          <a:ln>
            <a:noFill/>
          </a:ln>
          <a:effectLst/>
        </p:spPr>
        <p:txBody>
          <a:bodyPr rtlCol="0" anchor="ctr"/>
          <a:lstStyle/>
          <a:p/>
        </p:txBody>
      </p:sp>
      <p:sp>
        <p:nvSpPr>
          <p:cNvPr id="9" name="TextBox 8"/>
          <p:cNvSpPr txBox="1"/>
          <p:nvPr/>
        </p:nvSpPr>
        <p:spPr>
          <a:xfrm>
            <a:off x="5806440" y="1216152"/>
            <a:ext cx="5745175" cy="1600200"/>
          </a:xfrm>
          <a:prstGeom prst="rect">
            <a:avLst/>
          </a:prstGeom>
          <a:noFill/>
        </p:spPr>
        <p:txBody>
          <a:bodyPr wrap="square" anchor="ctr" lIns="73152" rIns="73152" tIns="36576" bIns="36576">
            <a:noAutofit/>
          </a:bodyPr>
          <a:lstStyle/>
          <a:p>
            <a:pPr algn="l">
              <a:spcBef>
                <a:spcPts val="0"/>
              </a:spcBef>
              <a:spcAft>
                <a:spcPts val="0"/>
              </a:spcAft>
            </a:pPr>
            <a:r>
              <a:rPr lang="tr-TR" sz="2000" b="0" i="1">
                <a:solidFill>
                  <a:srgbClr val="262626"/>
                </a:solidFill>
                <a:latin typeface="Calibri"/>
              </a:rPr>
              <a:t>Görsel 6.4: Doğa ve insan kaynaklı tehlikeler, önlem alınmazsa güvenlik açığına neden olarak risk oluşturur. İnsanların bu risklere maruz kalmasıyla da afetler meydana gelebilir.</a:t>
            </a:r>
          </a:p>
        </p:txBody>
      </p:sp>
      <p:sp>
        <p:nvSpPr>
          <p:cNvPr id="10" name="Rounded Rectangle 9"/>
          <p:cNvSpPr/>
          <p:nvPr/>
        </p:nvSpPr>
        <p:spPr>
          <a:xfrm>
            <a:off x="5532120" y="2953512"/>
            <a:ext cx="6156655" cy="1039368"/>
          </a:xfrm>
          <a:prstGeom prst="roundRect">
            <a:avLst>
              <a:gd name="adj" fmla="val 12000"/>
            </a:avLst>
          </a:prstGeom>
          <a:solidFill>
            <a:srgbClr val="F0F0F0"/>
          </a:solidFill>
          <a:ln>
            <a:noFill/>
          </a:ln>
          <a:effectLst/>
        </p:spPr>
        <p:txBody>
          <a:bodyPr rtlCol="0" anchor="ctr"/>
          <a:lstStyle/>
          <a:p/>
        </p:txBody>
      </p:sp>
      <p:sp>
        <p:nvSpPr>
          <p:cNvPr id="11" name="Rounded Rectangle 10"/>
          <p:cNvSpPr/>
          <p:nvPr/>
        </p:nvSpPr>
        <p:spPr>
          <a:xfrm>
            <a:off x="5532120" y="2953512"/>
            <a:ext cx="1463040" cy="1039368"/>
          </a:xfrm>
          <a:prstGeom prst="roundRect">
            <a:avLst>
              <a:gd name="adj" fmla="val 12000"/>
            </a:avLst>
          </a:prstGeom>
          <a:solidFill>
            <a:srgbClr val="4E8A2E"/>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ÇEVRE</a:t>
            </a:r>
          </a:p>
        </p:txBody>
      </p:sp>
      <p:sp>
        <p:nvSpPr>
          <p:cNvPr id="12" name="TextBox 11"/>
          <p:cNvSpPr txBox="1"/>
          <p:nvPr/>
        </p:nvSpPr>
        <p:spPr>
          <a:xfrm>
            <a:off x="7086600" y="2953512"/>
            <a:ext cx="4510735" cy="1039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Bütün daireler çevrenin içindedir.</a:t>
            </a:r>
          </a:p>
        </p:txBody>
      </p:sp>
      <p:sp>
        <p:nvSpPr>
          <p:cNvPr id="13" name="Rounded Rectangle 12"/>
          <p:cNvSpPr/>
          <p:nvPr/>
        </p:nvSpPr>
        <p:spPr>
          <a:xfrm>
            <a:off x="5532120" y="4102608"/>
            <a:ext cx="6156655" cy="1039368"/>
          </a:xfrm>
          <a:prstGeom prst="roundRect">
            <a:avLst>
              <a:gd name="adj" fmla="val 12000"/>
            </a:avLst>
          </a:prstGeom>
          <a:solidFill>
            <a:srgbClr val="F0F0F0"/>
          </a:solidFill>
          <a:ln>
            <a:noFill/>
          </a:ln>
          <a:effectLst/>
        </p:spPr>
        <p:txBody>
          <a:bodyPr rtlCol="0" anchor="ctr"/>
          <a:lstStyle/>
          <a:p/>
        </p:txBody>
      </p:sp>
      <p:sp>
        <p:nvSpPr>
          <p:cNvPr id="14" name="Rounded Rectangle 13"/>
          <p:cNvSpPr/>
          <p:nvPr/>
        </p:nvSpPr>
        <p:spPr>
          <a:xfrm>
            <a:off x="5532120" y="4102608"/>
            <a:ext cx="1463040" cy="1039368"/>
          </a:xfrm>
          <a:prstGeom prst="roundRect">
            <a:avLst>
              <a:gd name="adj" fmla="val 12000"/>
            </a:avLst>
          </a:prstGeom>
          <a:solidFill>
            <a:srgbClr val="4A6B78"/>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Risk</a:t>
            </a:r>
          </a:p>
        </p:txBody>
      </p:sp>
      <p:sp>
        <p:nvSpPr>
          <p:cNvPr id="15" name="TextBox 14"/>
          <p:cNvSpPr txBox="1"/>
          <p:nvPr/>
        </p:nvSpPr>
        <p:spPr>
          <a:xfrm>
            <a:off x="7086600" y="4102608"/>
            <a:ext cx="4510735" cy="1039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Tehlike ile güvenlik açığının kesiştiği yer</a:t>
            </a:r>
          </a:p>
        </p:txBody>
      </p:sp>
      <p:sp>
        <p:nvSpPr>
          <p:cNvPr id="16" name="Rounded Rectangle 15"/>
          <p:cNvSpPr/>
          <p:nvPr/>
        </p:nvSpPr>
        <p:spPr>
          <a:xfrm>
            <a:off x="5532120" y="5251704"/>
            <a:ext cx="6156655" cy="1039368"/>
          </a:xfrm>
          <a:prstGeom prst="roundRect">
            <a:avLst>
              <a:gd name="adj" fmla="val 12000"/>
            </a:avLst>
          </a:prstGeom>
          <a:solidFill>
            <a:srgbClr val="F0F0F0"/>
          </a:solidFill>
          <a:ln>
            <a:noFill/>
          </a:ln>
          <a:effectLst/>
        </p:spPr>
        <p:txBody>
          <a:bodyPr rtlCol="0" anchor="ctr"/>
          <a:lstStyle/>
          <a:p/>
        </p:txBody>
      </p:sp>
      <p:sp>
        <p:nvSpPr>
          <p:cNvPr id="17" name="Rounded Rectangle 16"/>
          <p:cNvSpPr/>
          <p:nvPr/>
        </p:nvSpPr>
        <p:spPr>
          <a:xfrm>
            <a:off x="5532120" y="5251704"/>
            <a:ext cx="1463040" cy="1039368"/>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FFFFFF"/>
                </a:solidFill>
                <a:latin typeface="Calibri"/>
              </a:rPr>
              <a:t>AFET</a:t>
            </a:r>
          </a:p>
        </p:txBody>
      </p:sp>
      <p:sp>
        <p:nvSpPr>
          <p:cNvPr id="18" name="TextBox 17"/>
          <p:cNvSpPr txBox="1"/>
          <p:nvPr/>
        </p:nvSpPr>
        <p:spPr>
          <a:xfrm>
            <a:off x="7086600" y="5251704"/>
            <a:ext cx="4510735" cy="1039368"/>
          </a:xfrm>
          <a:prstGeom prst="rect">
            <a:avLst/>
          </a:prstGeom>
          <a:noFill/>
        </p:spPr>
        <p:txBody>
          <a:bodyPr wrap="square" anchor="ctr" lIns="73152" rIns="73152" tIns="36576" bIns="36576">
            <a:noAutofit/>
          </a:bodyPr>
          <a:lstStyle/>
          <a:p>
            <a:pPr algn="l">
              <a:spcBef>
                <a:spcPts val="0"/>
              </a:spcBef>
              <a:spcAft>
                <a:spcPts val="0"/>
              </a:spcAft>
            </a:pPr>
            <a:r>
              <a:rPr lang="tr-TR" sz="2100" b="0" i="0">
                <a:solidFill>
                  <a:srgbClr val="262626"/>
                </a:solidFill>
                <a:latin typeface="Calibri"/>
              </a:rPr>
              <a:t>Üç dairenin kesiştiği yer: risk + maruziyet</a:t>
            </a:r>
          </a:p>
        </p:txBody>
      </p:sp>
      <p:sp>
        <p:nvSpPr>
          <p:cNvPr id="19" name="TextBox 1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0" name="Rounded Rectangle 1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21" name="TextBox 2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25 / 250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Sel örneğini şemaya yerleştir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İKİLİ · ŞEMA</a:t>
            </a:r>
          </a:p>
        </p:txBody>
      </p:sp>
      <p:sp>
        <p:nvSpPr>
          <p:cNvPr id="6" name="Oval 5"/>
          <p:cNvSpPr/>
          <p:nvPr/>
        </p:nvSpPr>
        <p:spPr>
          <a:xfrm>
            <a:off x="987552" y="2157984"/>
            <a:ext cx="3511296" cy="3511296"/>
          </a:xfrm>
          <a:prstGeom prst="ellipse">
            <a:avLst/>
          </a:prstGeom>
          <a:solidFill>
            <a:srgbClr val="FFFFFF"/>
          </a:solidFill>
          <a:ln w="44450">
            <a:solidFill>
              <a:srgbClr val="4E8A2E"/>
            </a:solidFill>
          </a:ln>
          <a:effectLst/>
        </p:spPr>
        <p:txBody>
          <a:bodyPr rtlCol="0" anchor="ctr"/>
          <a:lstStyle/>
          <a:p/>
        </p:txBody>
      </p:sp>
      <p:sp>
        <p:nvSpPr>
          <p:cNvPr id="7" name="Oval 6"/>
          <p:cNvSpPr/>
          <p:nvPr/>
        </p:nvSpPr>
        <p:spPr>
          <a:xfrm>
            <a:off x="1719072" y="2304288"/>
            <a:ext cx="2048256" cy="2048256"/>
          </a:xfrm>
          <a:prstGeom prst="ellipse">
            <a:avLst/>
          </a:prstGeom>
          <a:solidFill>
            <a:srgbClr val="7558A8">
              <a:alpha val="72000"/>
            </a:srgbClr>
          </a:solidFill>
          <a:ln w="19050">
            <a:solidFill>
              <a:srgbClr val="7558A8"/>
            </a:solidFill>
          </a:ln>
          <a:effectLst/>
        </p:spPr>
        <p:txBody>
          <a:bodyPr rtlCol="0" anchor="ctr"/>
          <a:lstStyle/>
          <a:p/>
        </p:txBody>
      </p:sp>
      <p:sp>
        <p:nvSpPr>
          <p:cNvPr id="8" name="Oval 7"/>
          <p:cNvSpPr/>
          <p:nvPr/>
        </p:nvSpPr>
        <p:spPr>
          <a:xfrm>
            <a:off x="1212274" y="3182112"/>
            <a:ext cx="2048256" cy="2048256"/>
          </a:xfrm>
          <a:prstGeom prst="ellipse">
            <a:avLst/>
          </a:prstGeom>
          <a:solidFill>
            <a:srgbClr val="C94F5A">
              <a:alpha val="72000"/>
            </a:srgbClr>
          </a:solidFill>
          <a:ln w="19050">
            <a:solidFill>
              <a:srgbClr val="C94F5A"/>
            </a:solidFill>
          </a:ln>
          <a:effectLst/>
        </p:spPr>
        <p:txBody>
          <a:bodyPr rtlCol="0" anchor="ctr"/>
          <a:lstStyle/>
          <a:p/>
        </p:txBody>
      </p:sp>
      <p:sp>
        <p:nvSpPr>
          <p:cNvPr id="9" name="Oval 8"/>
          <p:cNvSpPr/>
          <p:nvPr/>
        </p:nvSpPr>
        <p:spPr>
          <a:xfrm>
            <a:off x="2225869" y="3182112"/>
            <a:ext cx="2048256" cy="2048256"/>
          </a:xfrm>
          <a:prstGeom prst="ellipse">
            <a:avLst/>
          </a:prstGeom>
          <a:solidFill>
            <a:srgbClr val="1E8C9C">
              <a:alpha val="72000"/>
            </a:srgbClr>
          </a:solidFill>
          <a:ln w="19050">
            <a:solidFill>
              <a:srgbClr val="1E8C9C"/>
            </a:solidFill>
          </a:ln>
          <a:effectLst/>
        </p:spPr>
        <p:txBody>
          <a:bodyPr rtlCol="0" anchor="ctr"/>
          <a:lstStyle/>
          <a:p/>
        </p:txBody>
      </p:sp>
      <p:sp>
        <p:nvSpPr>
          <p:cNvPr id="10" name="TextBox 9"/>
          <p:cNvSpPr txBox="1"/>
          <p:nvPr/>
        </p:nvSpPr>
        <p:spPr>
          <a:xfrm>
            <a:off x="1975104" y="2498872"/>
            <a:ext cx="1536192" cy="430133"/>
          </a:xfrm>
          <a:prstGeom prst="rect">
            <a:avLst/>
          </a:prstGeom>
          <a:noFill/>
        </p:spPr>
        <p:txBody>
          <a:bodyPr wrap="square" anchor="ctr" lIns="18288" rIns="18288" tIns="0" bIns="0">
            <a:noAutofit/>
          </a:bodyPr>
          <a:lstStyle/>
          <a:p>
            <a:pPr algn="ctr">
              <a:spcBef>
                <a:spcPts val="0"/>
              </a:spcBef>
              <a:spcAft>
                <a:spcPts val="0"/>
              </a:spcAft>
            </a:pPr>
            <a:r>
              <a:rPr lang="tr-TR" sz="1900" b="1" i="0">
                <a:solidFill>
                  <a:srgbClr val="FFFFFF"/>
                </a:solidFill>
                <a:latin typeface="Calibri"/>
              </a:rPr>
              <a:t>Maruziyet</a:t>
            </a:r>
          </a:p>
        </p:txBody>
      </p:sp>
      <p:sp>
        <p:nvSpPr>
          <p:cNvPr id="11" name="TextBox 10"/>
          <p:cNvSpPr txBox="1"/>
          <p:nvPr/>
        </p:nvSpPr>
        <p:spPr>
          <a:xfrm>
            <a:off x="1350839" y="4221601"/>
            <a:ext cx="972921" cy="430133"/>
          </a:xfrm>
          <a:prstGeom prst="rect">
            <a:avLst/>
          </a:prstGeom>
          <a:noFill/>
        </p:spPr>
        <p:txBody>
          <a:bodyPr wrap="square" anchor="ctr" lIns="18288" rIns="18288" tIns="0" bIns="0">
            <a:noAutofit/>
          </a:bodyPr>
          <a:lstStyle/>
          <a:p>
            <a:pPr algn="ctr">
              <a:spcBef>
                <a:spcPts val="0"/>
              </a:spcBef>
              <a:spcAft>
                <a:spcPts val="0"/>
              </a:spcAft>
            </a:pPr>
            <a:r>
              <a:rPr lang="tr-TR" sz="1900" b="1" i="0">
                <a:solidFill>
                  <a:srgbClr val="FFFFFF"/>
                </a:solidFill>
                <a:latin typeface="Calibri"/>
              </a:rPr>
              <a:t>Tehlike</a:t>
            </a:r>
          </a:p>
        </p:txBody>
      </p:sp>
      <p:sp>
        <p:nvSpPr>
          <p:cNvPr id="12" name="TextBox 11"/>
          <p:cNvSpPr txBox="1"/>
          <p:nvPr/>
        </p:nvSpPr>
        <p:spPr>
          <a:xfrm>
            <a:off x="3162638" y="4119189"/>
            <a:ext cx="972921" cy="634959"/>
          </a:xfrm>
          <a:prstGeom prst="rect">
            <a:avLst/>
          </a:prstGeom>
          <a:noFill/>
        </p:spPr>
        <p:txBody>
          <a:bodyPr wrap="square" anchor="ctr" lIns="18288" rIns="18288" tIns="0" bIns="0">
            <a:noAutofit/>
          </a:bodyPr>
          <a:lstStyle/>
          <a:p>
            <a:pPr algn="ctr">
              <a:spcBef>
                <a:spcPts val="0"/>
              </a:spcBef>
              <a:spcAft>
                <a:spcPts val="0"/>
              </a:spcAft>
            </a:pPr>
            <a:r>
              <a:rPr lang="tr-TR" sz="1900" b="1" i="0">
                <a:solidFill>
                  <a:srgbClr val="FFFFFF"/>
                </a:solidFill>
                <a:latin typeface="Calibri"/>
              </a:rPr>
              <a:t>Güvenlik açığı</a:t>
            </a:r>
          </a:p>
        </p:txBody>
      </p:sp>
      <p:sp>
        <p:nvSpPr>
          <p:cNvPr id="13" name="Rounded Rectangle 12"/>
          <p:cNvSpPr/>
          <p:nvPr/>
        </p:nvSpPr>
        <p:spPr>
          <a:xfrm>
            <a:off x="2425720" y="4550256"/>
            <a:ext cx="634959" cy="348203"/>
          </a:xfrm>
          <a:prstGeom prst="roundRect">
            <a:avLst>
              <a:gd name="adj" fmla="val 40000"/>
            </a:avLst>
          </a:prstGeom>
          <a:solidFill>
            <a:srgbClr val="4A6B78"/>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98" b="1" i="0">
                <a:solidFill>
                  <a:srgbClr val="FFFFFF"/>
                </a:solidFill>
                <a:latin typeface="Calibri"/>
              </a:rPr>
              <a:t>Risk</a:t>
            </a:r>
          </a:p>
        </p:txBody>
      </p:sp>
      <p:sp>
        <p:nvSpPr>
          <p:cNvPr id="14" name="Rounded Rectangle 13"/>
          <p:cNvSpPr/>
          <p:nvPr/>
        </p:nvSpPr>
        <p:spPr>
          <a:xfrm>
            <a:off x="2343790" y="3660323"/>
            <a:ext cx="798819" cy="348203"/>
          </a:xfrm>
          <a:prstGeom prst="roundRect">
            <a:avLst>
              <a:gd name="adj" fmla="val 40000"/>
            </a:avLst>
          </a:prstGeom>
          <a:solidFill>
            <a:srgbClr val="4F4F4F"/>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98" b="1" i="0">
                <a:solidFill>
                  <a:srgbClr val="FFFFFF"/>
                </a:solidFill>
                <a:latin typeface="Calibri"/>
              </a:rPr>
              <a:t>AFET</a:t>
            </a:r>
          </a:p>
        </p:txBody>
      </p:sp>
      <p:sp>
        <p:nvSpPr>
          <p:cNvPr id="15" name="Rounded Rectangle 14"/>
          <p:cNvSpPr/>
          <p:nvPr/>
        </p:nvSpPr>
        <p:spPr>
          <a:xfrm>
            <a:off x="2103120" y="1973640"/>
            <a:ext cx="1280160" cy="368686"/>
          </a:xfrm>
          <a:prstGeom prst="roundRect">
            <a:avLst>
              <a:gd name="adj" fmla="val 40000"/>
            </a:avLst>
          </a:prstGeom>
          <a:solidFill>
            <a:srgbClr val="FFFFFF"/>
          </a:solidFill>
          <a:ln w="25400">
            <a:solidFill>
              <a:srgbClr val="4E8A2E"/>
            </a:solidFill>
          </a:ln>
          <a:effectLst/>
        </p:spPr>
        <p:txBody>
          <a:bodyPr rtlCol="0" anchor="ctr" wrap="square" lIns="18288" rIns="18288" tIns="0" bIns="0">
            <a:noAutofit/>
          </a:bodyPr>
          <a:lstStyle/>
          <a:p>
            <a:pPr algn="ctr">
              <a:spcBef>
                <a:spcPts val="0"/>
              </a:spcBef>
              <a:spcAft>
                <a:spcPts val="0"/>
              </a:spcAft>
            </a:pPr>
            <a:r>
              <a:rPr lang="tr-TR" sz="1748" b="1" i="0">
                <a:solidFill>
                  <a:srgbClr val="4E8A2E"/>
                </a:solidFill>
                <a:latin typeface="Calibri"/>
              </a:rPr>
              <a:t>ÇEVRE</a:t>
            </a:r>
          </a:p>
        </p:txBody>
      </p:sp>
      <p:sp>
        <p:nvSpPr>
          <p:cNvPr id="16" name="Rounded Rectangle 15"/>
          <p:cNvSpPr/>
          <p:nvPr/>
        </p:nvSpPr>
        <p:spPr>
          <a:xfrm>
            <a:off x="5074920" y="1216152"/>
            <a:ext cx="6613855" cy="1008126"/>
          </a:xfrm>
          <a:prstGeom prst="roundRect">
            <a:avLst>
              <a:gd name="adj" fmla="val 10000"/>
            </a:avLst>
          </a:prstGeom>
          <a:solidFill>
            <a:srgbClr val="F0F0F0"/>
          </a:solidFill>
          <a:ln>
            <a:noFill/>
          </a:ln>
          <a:effectLst/>
        </p:spPr>
        <p:txBody>
          <a:bodyPr rtlCol="0" anchor="ctr"/>
          <a:lstStyle/>
          <a:p/>
        </p:txBody>
      </p:sp>
      <p:sp>
        <p:nvSpPr>
          <p:cNvPr id="17" name="Oval 16"/>
          <p:cNvSpPr/>
          <p:nvPr/>
        </p:nvSpPr>
        <p:spPr>
          <a:xfrm>
            <a:off x="5193792" y="1491615"/>
            <a:ext cx="457200" cy="457200"/>
          </a:xfrm>
          <a:prstGeom prst="ellipse">
            <a:avLst/>
          </a:prstGeom>
          <a:solidFill>
            <a:srgbClr val="FCC021"/>
          </a:solidFill>
          <a:ln w="19050">
            <a:solidFill>
              <a:srgbClr val="262626"/>
            </a:solid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C</a:t>
            </a:r>
          </a:p>
        </p:txBody>
      </p:sp>
      <p:sp>
        <p:nvSpPr>
          <p:cNvPr id="18" name="TextBox 17"/>
          <p:cNvSpPr txBox="1"/>
          <p:nvPr/>
        </p:nvSpPr>
        <p:spPr>
          <a:xfrm>
            <a:off x="5733288" y="1216152"/>
            <a:ext cx="5882335" cy="1008126"/>
          </a:xfrm>
          <a:prstGeom prst="rect">
            <a:avLst/>
          </a:prstGeom>
          <a:noFill/>
        </p:spPr>
        <p:txBody>
          <a:bodyPr wrap="square" anchor="ctr" tIns="36576" bIns="36576">
            <a:noAutofit/>
          </a:bodyPr>
          <a:lstStyle/>
          <a:p>
            <a:pPr algn="l">
              <a:spcBef>
                <a:spcPts val="0"/>
              </a:spcBef>
              <a:spcAft>
                <a:spcPts val="0"/>
              </a:spcAft>
            </a:pPr>
            <a:r>
              <a:rPr lang="tr-TR" sz="1700" b="0" i="0">
                <a:solidFill>
                  <a:srgbClr val="262626"/>
                </a:solidFill>
                <a:latin typeface="Calibri"/>
              </a:rPr>
              <a:t>Akarsu yatağının daraltılması, yapıların sele dirençli olmaması, tahliye planının yapılmaması gibi eksiklikler riski artırır.</a:t>
            </a:r>
          </a:p>
        </p:txBody>
      </p:sp>
      <p:sp>
        <p:nvSpPr>
          <p:cNvPr id="19" name="Rounded Rectangle 18"/>
          <p:cNvSpPr/>
          <p:nvPr/>
        </p:nvSpPr>
        <p:spPr>
          <a:xfrm>
            <a:off x="5074920" y="2315718"/>
            <a:ext cx="6613855" cy="1008126"/>
          </a:xfrm>
          <a:prstGeom prst="roundRect">
            <a:avLst>
              <a:gd name="adj" fmla="val 10000"/>
            </a:avLst>
          </a:prstGeom>
          <a:solidFill>
            <a:srgbClr val="F0F0F0"/>
          </a:solidFill>
          <a:ln>
            <a:noFill/>
          </a:ln>
          <a:effectLst/>
        </p:spPr>
        <p:txBody>
          <a:bodyPr rtlCol="0" anchor="ctr"/>
          <a:lstStyle/>
          <a:p/>
        </p:txBody>
      </p:sp>
      <p:sp>
        <p:nvSpPr>
          <p:cNvPr id="20" name="Oval 19"/>
          <p:cNvSpPr/>
          <p:nvPr/>
        </p:nvSpPr>
        <p:spPr>
          <a:xfrm>
            <a:off x="5193792" y="2591181"/>
            <a:ext cx="457200" cy="457200"/>
          </a:xfrm>
          <a:prstGeom prst="ellipse">
            <a:avLst/>
          </a:prstGeom>
          <a:solidFill>
            <a:srgbClr val="FCC021"/>
          </a:solidFill>
          <a:ln w="19050">
            <a:solidFill>
              <a:srgbClr val="262626"/>
            </a:solid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A</a:t>
            </a:r>
          </a:p>
        </p:txBody>
      </p:sp>
      <p:sp>
        <p:nvSpPr>
          <p:cNvPr id="21" name="TextBox 20"/>
          <p:cNvSpPr txBox="1"/>
          <p:nvPr/>
        </p:nvSpPr>
        <p:spPr>
          <a:xfrm>
            <a:off x="5733288" y="2315718"/>
            <a:ext cx="5882335" cy="1008126"/>
          </a:xfrm>
          <a:prstGeom prst="rect">
            <a:avLst/>
          </a:prstGeom>
          <a:noFill/>
        </p:spPr>
        <p:txBody>
          <a:bodyPr wrap="square" anchor="ctr" tIns="36576" bIns="36576">
            <a:noAutofit/>
          </a:bodyPr>
          <a:lstStyle/>
          <a:p>
            <a:pPr algn="l">
              <a:spcBef>
                <a:spcPts val="0"/>
              </a:spcBef>
              <a:spcAft>
                <a:spcPts val="0"/>
              </a:spcAft>
            </a:pPr>
            <a:r>
              <a:rPr lang="tr-TR" sz="1700" b="0" i="0">
                <a:solidFill>
                  <a:srgbClr val="262626"/>
                </a:solidFill>
                <a:latin typeface="Calibri"/>
              </a:rPr>
              <a:t>Aşırı yağışların etkisiyle taşan bir akarsu, sel tehlikesi meydana getirme potansiyeline sahiptir.</a:t>
            </a:r>
          </a:p>
        </p:txBody>
      </p:sp>
      <p:sp>
        <p:nvSpPr>
          <p:cNvPr id="22" name="Rounded Rectangle 21"/>
          <p:cNvSpPr/>
          <p:nvPr/>
        </p:nvSpPr>
        <p:spPr>
          <a:xfrm>
            <a:off x="5074920" y="3415284"/>
            <a:ext cx="6613855" cy="1008126"/>
          </a:xfrm>
          <a:prstGeom prst="roundRect">
            <a:avLst>
              <a:gd name="adj" fmla="val 10000"/>
            </a:avLst>
          </a:prstGeom>
          <a:solidFill>
            <a:srgbClr val="F0F0F0"/>
          </a:solidFill>
          <a:ln>
            <a:noFill/>
          </a:ln>
          <a:effectLst/>
        </p:spPr>
        <p:txBody>
          <a:bodyPr rtlCol="0" anchor="ctr"/>
          <a:lstStyle/>
          <a:p/>
        </p:txBody>
      </p:sp>
      <p:sp>
        <p:nvSpPr>
          <p:cNvPr id="23" name="Oval 22"/>
          <p:cNvSpPr/>
          <p:nvPr/>
        </p:nvSpPr>
        <p:spPr>
          <a:xfrm>
            <a:off x="5193792" y="3690747"/>
            <a:ext cx="457200" cy="457200"/>
          </a:xfrm>
          <a:prstGeom prst="ellipse">
            <a:avLst/>
          </a:prstGeom>
          <a:solidFill>
            <a:srgbClr val="FCC021"/>
          </a:solidFill>
          <a:ln w="19050">
            <a:solidFill>
              <a:srgbClr val="262626"/>
            </a:solid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D</a:t>
            </a:r>
          </a:p>
        </p:txBody>
      </p:sp>
      <p:sp>
        <p:nvSpPr>
          <p:cNvPr id="24" name="TextBox 23"/>
          <p:cNvSpPr txBox="1"/>
          <p:nvPr/>
        </p:nvSpPr>
        <p:spPr>
          <a:xfrm>
            <a:off x="5733288" y="3415284"/>
            <a:ext cx="5882335" cy="1008126"/>
          </a:xfrm>
          <a:prstGeom prst="rect">
            <a:avLst/>
          </a:prstGeom>
          <a:noFill/>
        </p:spPr>
        <p:txBody>
          <a:bodyPr wrap="square" anchor="ctr" tIns="36576" bIns="36576">
            <a:noAutofit/>
          </a:bodyPr>
          <a:lstStyle/>
          <a:p>
            <a:pPr algn="l">
              <a:spcBef>
                <a:spcPts val="0"/>
              </a:spcBef>
              <a:spcAft>
                <a:spcPts val="0"/>
              </a:spcAft>
            </a:pPr>
            <a:r>
              <a:rPr lang="tr-TR" sz="1700" b="0" i="0">
                <a:solidFill>
                  <a:srgbClr val="262626"/>
                </a:solidFill>
                <a:latin typeface="Calibri"/>
              </a:rPr>
              <a:t>Bu sel nedeniyle yerleşim alanında can ve mal kayıplarının yaşanması ise afet olarak nitelendirilir.</a:t>
            </a:r>
          </a:p>
        </p:txBody>
      </p:sp>
      <p:sp>
        <p:nvSpPr>
          <p:cNvPr id="25" name="Rounded Rectangle 24"/>
          <p:cNvSpPr/>
          <p:nvPr/>
        </p:nvSpPr>
        <p:spPr>
          <a:xfrm>
            <a:off x="5074920" y="4514850"/>
            <a:ext cx="6613855" cy="1008126"/>
          </a:xfrm>
          <a:prstGeom prst="roundRect">
            <a:avLst>
              <a:gd name="adj" fmla="val 10000"/>
            </a:avLst>
          </a:prstGeom>
          <a:solidFill>
            <a:srgbClr val="F0F0F0"/>
          </a:solidFill>
          <a:ln>
            <a:noFill/>
          </a:ln>
          <a:effectLst/>
        </p:spPr>
        <p:txBody>
          <a:bodyPr rtlCol="0" anchor="ctr"/>
          <a:lstStyle/>
          <a:p/>
        </p:txBody>
      </p:sp>
      <p:sp>
        <p:nvSpPr>
          <p:cNvPr id="26" name="Oval 25"/>
          <p:cNvSpPr/>
          <p:nvPr/>
        </p:nvSpPr>
        <p:spPr>
          <a:xfrm>
            <a:off x="5193792" y="4790313"/>
            <a:ext cx="457200" cy="457200"/>
          </a:xfrm>
          <a:prstGeom prst="ellipse">
            <a:avLst/>
          </a:prstGeom>
          <a:solidFill>
            <a:srgbClr val="FCC021"/>
          </a:solidFill>
          <a:ln w="19050">
            <a:solidFill>
              <a:srgbClr val="262626"/>
            </a:solidFill>
          </a:ln>
          <a:effectLst/>
        </p:spPr>
        <p:txBody>
          <a:bodyPr rtlCol="0" anchor="ctr" wrap="none" lIns="0" rIns="0" tIns="0" bIns="0">
            <a:noAutofit/>
          </a:bodyPr>
          <a:lstStyle/>
          <a:p>
            <a:pPr algn="ctr">
              <a:spcBef>
                <a:spcPts val="0"/>
              </a:spcBef>
              <a:spcAft>
                <a:spcPts val="0"/>
              </a:spcAft>
            </a:pPr>
            <a:r>
              <a:rPr lang="tr-TR" sz="2000" b="1" i="0">
                <a:solidFill>
                  <a:srgbClr val="262626"/>
                </a:solidFill>
                <a:latin typeface="Calibri"/>
              </a:rPr>
              <a:t>B</a:t>
            </a:r>
          </a:p>
        </p:txBody>
      </p:sp>
      <p:sp>
        <p:nvSpPr>
          <p:cNvPr id="27" name="TextBox 26"/>
          <p:cNvSpPr txBox="1"/>
          <p:nvPr/>
        </p:nvSpPr>
        <p:spPr>
          <a:xfrm>
            <a:off x="5733288" y="4514850"/>
            <a:ext cx="5882335" cy="1008126"/>
          </a:xfrm>
          <a:prstGeom prst="rect">
            <a:avLst/>
          </a:prstGeom>
          <a:noFill/>
        </p:spPr>
        <p:txBody>
          <a:bodyPr wrap="square" anchor="ctr" tIns="36576" bIns="36576">
            <a:noAutofit/>
          </a:bodyPr>
          <a:lstStyle/>
          <a:p>
            <a:pPr algn="l">
              <a:spcBef>
                <a:spcPts val="0"/>
              </a:spcBef>
              <a:spcAft>
                <a:spcPts val="0"/>
              </a:spcAft>
            </a:pPr>
            <a:r>
              <a:rPr lang="tr-TR" sz="1700" b="0" i="0">
                <a:solidFill>
                  <a:srgbClr val="262626"/>
                </a:solidFill>
                <a:latin typeface="Calibri"/>
              </a:rPr>
              <a:t>Vadi tabanının yerleşime açılması, beşerî yapılar ve nüfus üzerinde risk oluşturur.</a:t>
            </a:r>
          </a:p>
        </p:txBody>
      </p:sp>
      <p:sp>
        <p:nvSpPr>
          <p:cNvPr id="28" name="Rounded Rectangle 27"/>
          <p:cNvSpPr/>
          <p:nvPr/>
        </p:nvSpPr>
        <p:spPr>
          <a:xfrm>
            <a:off x="5074920" y="5632704"/>
            <a:ext cx="6613855" cy="658368"/>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800" b="1" i="0">
                <a:solidFill>
                  <a:srgbClr val="262626"/>
                </a:solidFill>
                <a:latin typeface="Calibri"/>
              </a:rPr>
              <a:t>Her harf şemanın hangi alanına? Risk alanına hangi harfler gelir?</a:t>
            </a:r>
          </a:p>
        </p:txBody>
      </p:sp>
      <p:sp>
        <p:nvSpPr>
          <p:cNvPr id="29" name="TextBox 2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0" name="Rounded Rectangle 29"/>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31" name="TextBox 30"/>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26 / 250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Sel örneğini şemaya yerleştir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Oval 5"/>
          <p:cNvSpPr/>
          <p:nvPr/>
        </p:nvSpPr>
        <p:spPr>
          <a:xfrm>
            <a:off x="987552" y="2157984"/>
            <a:ext cx="3511296" cy="3511296"/>
          </a:xfrm>
          <a:prstGeom prst="ellipse">
            <a:avLst/>
          </a:prstGeom>
          <a:solidFill>
            <a:srgbClr val="FFFFFF"/>
          </a:solidFill>
          <a:ln w="44450">
            <a:solidFill>
              <a:srgbClr val="4E8A2E"/>
            </a:solidFill>
          </a:ln>
          <a:effectLst/>
        </p:spPr>
        <p:txBody>
          <a:bodyPr rtlCol="0" anchor="ctr"/>
          <a:lstStyle/>
          <a:p/>
        </p:txBody>
      </p:sp>
      <p:sp>
        <p:nvSpPr>
          <p:cNvPr id="7" name="Oval 6"/>
          <p:cNvSpPr/>
          <p:nvPr/>
        </p:nvSpPr>
        <p:spPr>
          <a:xfrm>
            <a:off x="1719072" y="2304288"/>
            <a:ext cx="2048256" cy="2048256"/>
          </a:xfrm>
          <a:prstGeom prst="ellipse">
            <a:avLst/>
          </a:prstGeom>
          <a:solidFill>
            <a:srgbClr val="7558A8">
              <a:alpha val="72000"/>
            </a:srgbClr>
          </a:solidFill>
          <a:ln w="19050">
            <a:solidFill>
              <a:srgbClr val="7558A8"/>
            </a:solidFill>
          </a:ln>
          <a:effectLst/>
        </p:spPr>
        <p:txBody>
          <a:bodyPr rtlCol="0" anchor="ctr"/>
          <a:lstStyle/>
          <a:p/>
        </p:txBody>
      </p:sp>
      <p:sp>
        <p:nvSpPr>
          <p:cNvPr id="8" name="Oval 7"/>
          <p:cNvSpPr/>
          <p:nvPr/>
        </p:nvSpPr>
        <p:spPr>
          <a:xfrm>
            <a:off x="1212274" y="3182112"/>
            <a:ext cx="2048256" cy="2048256"/>
          </a:xfrm>
          <a:prstGeom prst="ellipse">
            <a:avLst/>
          </a:prstGeom>
          <a:solidFill>
            <a:srgbClr val="C94F5A">
              <a:alpha val="72000"/>
            </a:srgbClr>
          </a:solidFill>
          <a:ln w="19050">
            <a:solidFill>
              <a:srgbClr val="C94F5A"/>
            </a:solidFill>
          </a:ln>
          <a:effectLst/>
        </p:spPr>
        <p:txBody>
          <a:bodyPr rtlCol="0" anchor="ctr"/>
          <a:lstStyle/>
          <a:p/>
        </p:txBody>
      </p:sp>
      <p:sp>
        <p:nvSpPr>
          <p:cNvPr id="9" name="Oval 8"/>
          <p:cNvSpPr/>
          <p:nvPr/>
        </p:nvSpPr>
        <p:spPr>
          <a:xfrm>
            <a:off x="2225869" y="3182112"/>
            <a:ext cx="2048256" cy="2048256"/>
          </a:xfrm>
          <a:prstGeom prst="ellipse">
            <a:avLst/>
          </a:prstGeom>
          <a:solidFill>
            <a:srgbClr val="1E8C9C">
              <a:alpha val="72000"/>
            </a:srgbClr>
          </a:solidFill>
          <a:ln w="19050">
            <a:solidFill>
              <a:srgbClr val="1E8C9C"/>
            </a:solidFill>
          </a:ln>
          <a:effectLst/>
        </p:spPr>
        <p:txBody>
          <a:bodyPr rtlCol="0" anchor="ctr"/>
          <a:lstStyle/>
          <a:p/>
        </p:txBody>
      </p:sp>
      <p:sp>
        <p:nvSpPr>
          <p:cNvPr id="10" name="TextBox 9"/>
          <p:cNvSpPr txBox="1"/>
          <p:nvPr/>
        </p:nvSpPr>
        <p:spPr>
          <a:xfrm>
            <a:off x="1975104" y="2498872"/>
            <a:ext cx="1536192" cy="430133"/>
          </a:xfrm>
          <a:prstGeom prst="rect">
            <a:avLst/>
          </a:prstGeom>
          <a:noFill/>
        </p:spPr>
        <p:txBody>
          <a:bodyPr wrap="square" anchor="ctr" lIns="18288" rIns="18288" tIns="0" bIns="0">
            <a:noAutofit/>
          </a:bodyPr>
          <a:lstStyle/>
          <a:p>
            <a:pPr algn="ctr">
              <a:spcBef>
                <a:spcPts val="0"/>
              </a:spcBef>
              <a:spcAft>
                <a:spcPts val="0"/>
              </a:spcAft>
            </a:pPr>
            <a:r>
              <a:rPr lang="tr-TR" sz="1900" b="1" i="0">
                <a:solidFill>
                  <a:srgbClr val="FFFFFF"/>
                </a:solidFill>
                <a:latin typeface="Calibri"/>
              </a:rPr>
              <a:t>Maruziyet</a:t>
            </a:r>
          </a:p>
        </p:txBody>
      </p:sp>
      <p:sp>
        <p:nvSpPr>
          <p:cNvPr id="11" name="TextBox 10"/>
          <p:cNvSpPr txBox="1"/>
          <p:nvPr/>
        </p:nvSpPr>
        <p:spPr>
          <a:xfrm>
            <a:off x="1350839" y="4221601"/>
            <a:ext cx="972921" cy="430133"/>
          </a:xfrm>
          <a:prstGeom prst="rect">
            <a:avLst/>
          </a:prstGeom>
          <a:noFill/>
        </p:spPr>
        <p:txBody>
          <a:bodyPr wrap="square" anchor="ctr" lIns="18288" rIns="18288" tIns="0" bIns="0">
            <a:noAutofit/>
          </a:bodyPr>
          <a:lstStyle/>
          <a:p>
            <a:pPr algn="ctr">
              <a:spcBef>
                <a:spcPts val="0"/>
              </a:spcBef>
              <a:spcAft>
                <a:spcPts val="0"/>
              </a:spcAft>
            </a:pPr>
            <a:r>
              <a:rPr lang="tr-TR" sz="1900" b="1" i="0">
                <a:solidFill>
                  <a:srgbClr val="FFFFFF"/>
                </a:solidFill>
                <a:latin typeface="Calibri"/>
              </a:rPr>
              <a:t>Tehlike</a:t>
            </a:r>
          </a:p>
        </p:txBody>
      </p:sp>
      <p:sp>
        <p:nvSpPr>
          <p:cNvPr id="12" name="TextBox 11"/>
          <p:cNvSpPr txBox="1"/>
          <p:nvPr/>
        </p:nvSpPr>
        <p:spPr>
          <a:xfrm>
            <a:off x="3162638" y="4119189"/>
            <a:ext cx="972921" cy="634959"/>
          </a:xfrm>
          <a:prstGeom prst="rect">
            <a:avLst/>
          </a:prstGeom>
          <a:noFill/>
        </p:spPr>
        <p:txBody>
          <a:bodyPr wrap="square" anchor="ctr" lIns="18288" rIns="18288" tIns="0" bIns="0">
            <a:noAutofit/>
          </a:bodyPr>
          <a:lstStyle/>
          <a:p>
            <a:pPr algn="ctr">
              <a:spcBef>
                <a:spcPts val="0"/>
              </a:spcBef>
              <a:spcAft>
                <a:spcPts val="0"/>
              </a:spcAft>
            </a:pPr>
            <a:r>
              <a:rPr lang="tr-TR" sz="1900" b="1" i="0">
                <a:solidFill>
                  <a:srgbClr val="FFFFFF"/>
                </a:solidFill>
                <a:latin typeface="Calibri"/>
              </a:rPr>
              <a:t>Güvenlik açığı</a:t>
            </a:r>
          </a:p>
        </p:txBody>
      </p:sp>
      <p:sp>
        <p:nvSpPr>
          <p:cNvPr id="13" name="Rounded Rectangle 12"/>
          <p:cNvSpPr/>
          <p:nvPr/>
        </p:nvSpPr>
        <p:spPr>
          <a:xfrm>
            <a:off x="2425720" y="4550256"/>
            <a:ext cx="634959" cy="348203"/>
          </a:xfrm>
          <a:prstGeom prst="roundRect">
            <a:avLst>
              <a:gd name="adj" fmla="val 40000"/>
            </a:avLst>
          </a:prstGeom>
          <a:solidFill>
            <a:srgbClr val="4A6B78"/>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98" b="1" i="0">
                <a:solidFill>
                  <a:srgbClr val="FFFFFF"/>
                </a:solidFill>
                <a:latin typeface="Calibri"/>
              </a:rPr>
              <a:t>Risk</a:t>
            </a:r>
          </a:p>
        </p:txBody>
      </p:sp>
      <p:sp>
        <p:nvSpPr>
          <p:cNvPr id="14" name="Rounded Rectangle 13"/>
          <p:cNvSpPr/>
          <p:nvPr/>
        </p:nvSpPr>
        <p:spPr>
          <a:xfrm>
            <a:off x="2343790" y="3660323"/>
            <a:ext cx="798819" cy="348203"/>
          </a:xfrm>
          <a:prstGeom prst="roundRect">
            <a:avLst>
              <a:gd name="adj" fmla="val 40000"/>
            </a:avLst>
          </a:prstGeom>
          <a:solidFill>
            <a:srgbClr val="4F4F4F"/>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98" b="1" i="0">
                <a:solidFill>
                  <a:srgbClr val="FFFFFF"/>
                </a:solidFill>
                <a:latin typeface="Calibri"/>
              </a:rPr>
              <a:t>AFET</a:t>
            </a:r>
          </a:p>
        </p:txBody>
      </p:sp>
      <p:sp>
        <p:nvSpPr>
          <p:cNvPr id="15" name="Rounded Rectangle 14"/>
          <p:cNvSpPr/>
          <p:nvPr/>
        </p:nvSpPr>
        <p:spPr>
          <a:xfrm>
            <a:off x="2103120" y="1973640"/>
            <a:ext cx="1280160" cy="368686"/>
          </a:xfrm>
          <a:prstGeom prst="roundRect">
            <a:avLst>
              <a:gd name="adj" fmla="val 40000"/>
            </a:avLst>
          </a:prstGeom>
          <a:solidFill>
            <a:srgbClr val="FFFFFF"/>
          </a:solidFill>
          <a:ln w="25400">
            <a:solidFill>
              <a:srgbClr val="4E8A2E"/>
            </a:solidFill>
          </a:ln>
          <a:effectLst/>
        </p:spPr>
        <p:txBody>
          <a:bodyPr rtlCol="0" anchor="ctr" wrap="square" lIns="18288" rIns="18288" tIns="0" bIns="0">
            <a:noAutofit/>
          </a:bodyPr>
          <a:lstStyle/>
          <a:p>
            <a:pPr algn="ctr">
              <a:spcBef>
                <a:spcPts val="0"/>
              </a:spcBef>
              <a:spcAft>
                <a:spcPts val="0"/>
              </a:spcAft>
            </a:pPr>
            <a:r>
              <a:rPr lang="tr-TR" sz="1748" b="1" i="0">
                <a:solidFill>
                  <a:srgbClr val="4E8A2E"/>
                </a:solidFill>
                <a:latin typeface="Calibri"/>
              </a:rPr>
              <a:t>ÇEVRE</a:t>
            </a:r>
          </a:p>
        </p:txBody>
      </p:sp>
      <p:sp>
        <p:nvSpPr>
          <p:cNvPr id="16" name="Oval 15"/>
          <p:cNvSpPr/>
          <p:nvPr/>
        </p:nvSpPr>
        <p:spPr>
          <a:xfrm>
            <a:off x="1673439" y="4702942"/>
            <a:ext cx="327720" cy="327720"/>
          </a:xfrm>
          <a:prstGeom prst="ellipse">
            <a:avLst/>
          </a:prstGeom>
          <a:solidFill>
            <a:srgbClr val="FCC021"/>
          </a:solidFill>
          <a:ln w="19050">
            <a:solidFill>
              <a:srgbClr val="262626"/>
            </a:solidFill>
          </a:ln>
          <a:effectLst/>
        </p:spPr>
        <p:txBody>
          <a:bodyPr rtlCol="0" anchor="ctr" wrap="none" lIns="0" rIns="0" tIns="0" bIns="0">
            <a:noAutofit/>
          </a:bodyPr>
          <a:lstStyle/>
          <a:p>
            <a:pPr algn="ctr">
              <a:spcBef>
                <a:spcPts val="0"/>
              </a:spcBef>
              <a:spcAft>
                <a:spcPts val="0"/>
              </a:spcAft>
            </a:pPr>
            <a:r>
              <a:rPr lang="tr-TR" sz="1290" b="1" i="0">
                <a:solidFill>
                  <a:srgbClr val="262626"/>
                </a:solidFill>
                <a:latin typeface="Calibri"/>
              </a:rPr>
              <a:t>A</a:t>
            </a:r>
          </a:p>
        </p:txBody>
      </p:sp>
      <p:sp>
        <p:nvSpPr>
          <p:cNvPr id="17" name="Oval 16"/>
          <p:cNvSpPr/>
          <p:nvPr/>
        </p:nvSpPr>
        <p:spPr>
          <a:xfrm>
            <a:off x="2579339" y="2959729"/>
            <a:ext cx="327720" cy="327720"/>
          </a:xfrm>
          <a:prstGeom prst="ellipse">
            <a:avLst/>
          </a:prstGeom>
          <a:solidFill>
            <a:srgbClr val="FCC021"/>
          </a:solidFill>
          <a:ln w="19050">
            <a:solidFill>
              <a:srgbClr val="262626"/>
            </a:solidFill>
          </a:ln>
          <a:effectLst/>
        </p:spPr>
        <p:txBody>
          <a:bodyPr rtlCol="0" anchor="ctr" wrap="none" lIns="0" rIns="0" tIns="0" bIns="0">
            <a:noAutofit/>
          </a:bodyPr>
          <a:lstStyle/>
          <a:p>
            <a:pPr algn="ctr">
              <a:spcBef>
                <a:spcPts val="0"/>
              </a:spcBef>
              <a:spcAft>
                <a:spcPts val="0"/>
              </a:spcAft>
            </a:pPr>
            <a:r>
              <a:rPr lang="tr-TR" sz="1290" b="1" i="0">
                <a:solidFill>
                  <a:srgbClr val="262626"/>
                </a:solidFill>
                <a:latin typeface="Calibri"/>
              </a:rPr>
              <a:t>B</a:t>
            </a:r>
          </a:p>
        </p:txBody>
      </p:sp>
      <p:sp>
        <p:nvSpPr>
          <p:cNvPr id="18" name="Oval 17"/>
          <p:cNvSpPr/>
          <p:nvPr/>
        </p:nvSpPr>
        <p:spPr>
          <a:xfrm>
            <a:off x="3485239" y="4805354"/>
            <a:ext cx="327720" cy="327720"/>
          </a:xfrm>
          <a:prstGeom prst="ellipse">
            <a:avLst/>
          </a:prstGeom>
          <a:solidFill>
            <a:srgbClr val="FCC021"/>
          </a:solidFill>
          <a:ln w="19050">
            <a:solidFill>
              <a:srgbClr val="262626"/>
            </a:solidFill>
          </a:ln>
          <a:effectLst/>
        </p:spPr>
        <p:txBody>
          <a:bodyPr rtlCol="0" anchor="ctr" wrap="none" lIns="0" rIns="0" tIns="0" bIns="0">
            <a:noAutofit/>
          </a:bodyPr>
          <a:lstStyle/>
          <a:p>
            <a:pPr algn="ctr">
              <a:spcBef>
                <a:spcPts val="0"/>
              </a:spcBef>
              <a:spcAft>
                <a:spcPts val="0"/>
              </a:spcAft>
            </a:pPr>
            <a:r>
              <a:rPr lang="tr-TR" sz="1290" b="1" i="0">
                <a:solidFill>
                  <a:srgbClr val="262626"/>
                </a:solidFill>
                <a:latin typeface="Calibri"/>
              </a:rPr>
              <a:t>C</a:t>
            </a:r>
          </a:p>
        </p:txBody>
      </p:sp>
      <p:sp>
        <p:nvSpPr>
          <p:cNvPr id="19" name="Oval 18"/>
          <p:cNvSpPr/>
          <p:nvPr/>
        </p:nvSpPr>
        <p:spPr>
          <a:xfrm>
            <a:off x="2579339" y="4018768"/>
            <a:ext cx="327720" cy="327720"/>
          </a:xfrm>
          <a:prstGeom prst="ellipse">
            <a:avLst/>
          </a:prstGeom>
          <a:solidFill>
            <a:srgbClr val="FCC021"/>
          </a:solidFill>
          <a:ln w="19050">
            <a:solidFill>
              <a:srgbClr val="262626"/>
            </a:solidFill>
          </a:ln>
          <a:effectLst/>
        </p:spPr>
        <p:txBody>
          <a:bodyPr rtlCol="0" anchor="ctr" wrap="none" lIns="0" rIns="0" tIns="0" bIns="0">
            <a:noAutofit/>
          </a:bodyPr>
          <a:lstStyle/>
          <a:p>
            <a:pPr algn="ctr">
              <a:spcBef>
                <a:spcPts val="0"/>
              </a:spcBef>
              <a:spcAft>
                <a:spcPts val="0"/>
              </a:spcAft>
            </a:pPr>
            <a:r>
              <a:rPr lang="tr-TR" sz="1290" b="1" i="0">
                <a:solidFill>
                  <a:srgbClr val="262626"/>
                </a:solidFill>
                <a:latin typeface="Calibri"/>
              </a:rPr>
              <a:t>D</a:t>
            </a:r>
          </a:p>
        </p:txBody>
      </p:sp>
      <p:sp>
        <p:nvSpPr>
          <p:cNvPr id="20" name="Rounded Rectangle 19"/>
          <p:cNvSpPr/>
          <p:nvPr/>
        </p:nvSpPr>
        <p:spPr>
          <a:xfrm>
            <a:off x="5074920" y="1216152"/>
            <a:ext cx="6613855" cy="1008126"/>
          </a:xfrm>
          <a:prstGeom prst="roundRect">
            <a:avLst>
              <a:gd name="adj" fmla="val 10000"/>
            </a:avLst>
          </a:prstGeom>
          <a:solidFill>
            <a:srgbClr val="E3F1E4"/>
          </a:solidFill>
          <a:ln w="19050">
            <a:solidFill>
              <a:srgbClr val="1E8C9C"/>
            </a:solidFill>
          </a:ln>
          <a:effectLst/>
        </p:spPr>
        <p:txBody>
          <a:bodyPr rtlCol="0" anchor="ctr"/>
          <a:lstStyle/>
          <a:p/>
        </p:txBody>
      </p:sp>
      <p:sp>
        <p:nvSpPr>
          <p:cNvPr id="21" name="Oval 20"/>
          <p:cNvSpPr/>
          <p:nvPr/>
        </p:nvSpPr>
        <p:spPr>
          <a:xfrm>
            <a:off x="5193792" y="1491615"/>
            <a:ext cx="457200" cy="457200"/>
          </a:xfrm>
          <a:prstGeom prst="ellipse">
            <a:avLst/>
          </a:prstGeom>
          <a:solidFill>
            <a:srgbClr val="1E8C9C"/>
          </a:solidFill>
          <a:ln w="19050">
            <a:solidFill>
              <a:srgbClr val="FFFFFF"/>
            </a:solid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22" name="TextBox 21"/>
          <p:cNvSpPr txBox="1"/>
          <p:nvPr/>
        </p:nvSpPr>
        <p:spPr>
          <a:xfrm>
            <a:off x="5733288" y="1216152"/>
            <a:ext cx="5882335" cy="1008126"/>
          </a:xfrm>
          <a:prstGeom prst="rect">
            <a:avLst/>
          </a:prstGeom>
          <a:noFill/>
        </p:spPr>
        <p:txBody>
          <a:bodyPr wrap="square" anchor="ctr" tIns="36576" bIns="36576">
            <a:noAutofit/>
          </a:bodyPr>
          <a:lstStyle/>
          <a:p>
            <a:pPr algn="l">
              <a:spcBef>
                <a:spcPts val="0"/>
              </a:spcBef>
              <a:spcAft>
                <a:spcPts val="200"/>
              </a:spcAft>
            </a:pPr>
            <a:r>
              <a:rPr lang="tr-TR" sz="1700" b="1" i="0">
                <a:solidFill>
                  <a:srgbClr val="1E8C9C"/>
                </a:solidFill>
                <a:latin typeface="Calibri"/>
              </a:rPr>
              <a:t>→ Güvenlik açığı</a:t>
            </a:r>
          </a:p>
          <a:p>
            <a:pPr algn="l">
              <a:spcBef>
                <a:spcPts val="0"/>
              </a:spcBef>
              <a:spcAft>
                <a:spcPts val="0"/>
              </a:spcAft>
            </a:pPr>
            <a:r>
              <a:rPr lang="tr-TR" sz="1700" b="0" i="0">
                <a:solidFill>
                  <a:srgbClr val="262626"/>
                </a:solidFill>
                <a:latin typeface="Calibri"/>
              </a:rPr>
              <a:t>Akarsu yatağının daraltılması, yapıların sele dirençli olmaması, tahliye planının yapılmaması gibi eksiklikler riski artırır.</a:t>
            </a:r>
          </a:p>
        </p:txBody>
      </p:sp>
      <p:sp>
        <p:nvSpPr>
          <p:cNvPr id="23" name="Rounded Rectangle 22"/>
          <p:cNvSpPr/>
          <p:nvPr/>
        </p:nvSpPr>
        <p:spPr>
          <a:xfrm>
            <a:off x="5074920" y="2315718"/>
            <a:ext cx="6613855" cy="1008126"/>
          </a:xfrm>
          <a:prstGeom prst="roundRect">
            <a:avLst>
              <a:gd name="adj" fmla="val 10000"/>
            </a:avLst>
          </a:prstGeom>
          <a:solidFill>
            <a:srgbClr val="E3F1E4"/>
          </a:solidFill>
          <a:ln w="19050">
            <a:solidFill>
              <a:srgbClr val="C94F5A"/>
            </a:solidFill>
          </a:ln>
          <a:effectLst/>
        </p:spPr>
        <p:txBody>
          <a:bodyPr rtlCol="0" anchor="ctr"/>
          <a:lstStyle/>
          <a:p/>
        </p:txBody>
      </p:sp>
      <p:sp>
        <p:nvSpPr>
          <p:cNvPr id="24" name="Oval 23"/>
          <p:cNvSpPr/>
          <p:nvPr/>
        </p:nvSpPr>
        <p:spPr>
          <a:xfrm>
            <a:off x="5193792" y="2591181"/>
            <a:ext cx="457200" cy="457200"/>
          </a:xfrm>
          <a:prstGeom prst="ellipse">
            <a:avLst/>
          </a:prstGeom>
          <a:solidFill>
            <a:srgbClr val="C94F5A"/>
          </a:solidFill>
          <a:ln w="19050">
            <a:solidFill>
              <a:srgbClr val="FFFFFF"/>
            </a:solid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25" name="TextBox 24"/>
          <p:cNvSpPr txBox="1"/>
          <p:nvPr/>
        </p:nvSpPr>
        <p:spPr>
          <a:xfrm>
            <a:off x="5733288" y="2315718"/>
            <a:ext cx="5882335" cy="1008126"/>
          </a:xfrm>
          <a:prstGeom prst="rect">
            <a:avLst/>
          </a:prstGeom>
          <a:noFill/>
        </p:spPr>
        <p:txBody>
          <a:bodyPr wrap="square" anchor="ctr" tIns="36576" bIns="36576">
            <a:noAutofit/>
          </a:bodyPr>
          <a:lstStyle/>
          <a:p>
            <a:pPr algn="l">
              <a:spcBef>
                <a:spcPts val="0"/>
              </a:spcBef>
              <a:spcAft>
                <a:spcPts val="200"/>
              </a:spcAft>
            </a:pPr>
            <a:r>
              <a:rPr lang="tr-TR" sz="1700" b="1" i="0">
                <a:solidFill>
                  <a:srgbClr val="C94F5A"/>
                </a:solidFill>
                <a:latin typeface="Calibri"/>
              </a:rPr>
              <a:t>→ Tehlike</a:t>
            </a:r>
          </a:p>
          <a:p>
            <a:pPr algn="l">
              <a:spcBef>
                <a:spcPts val="0"/>
              </a:spcBef>
              <a:spcAft>
                <a:spcPts val="0"/>
              </a:spcAft>
            </a:pPr>
            <a:r>
              <a:rPr lang="tr-TR" sz="1700" b="0" i="0">
                <a:solidFill>
                  <a:srgbClr val="262626"/>
                </a:solidFill>
                <a:latin typeface="Calibri"/>
              </a:rPr>
              <a:t>Aşırı yağışların etkisiyle taşan bir akarsu, sel tehlikesi meydana getirme potansiyeline sahiptir.</a:t>
            </a:r>
          </a:p>
        </p:txBody>
      </p:sp>
      <p:sp>
        <p:nvSpPr>
          <p:cNvPr id="26" name="Rounded Rectangle 25"/>
          <p:cNvSpPr/>
          <p:nvPr/>
        </p:nvSpPr>
        <p:spPr>
          <a:xfrm>
            <a:off x="5074920" y="3415284"/>
            <a:ext cx="6613855" cy="1008126"/>
          </a:xfrm>
          <a:prstGeom prst="roundRect">
            <a:avLst>
              <a:gd name="adj" fmla="val 10000"/>
            </a:avLst>
          </a:prstGeom>
          <a:solidFill>
            <a:srgbClr val="E3F1E4"/>
          </a:solidFill>
          <a:ln w="19050">
            <a:solidFill>
              <a:srgbClr val="4F4F4F"/>
            </a:solidFill>
          </a:ln>
          <a:effectLst/>
        </p:spPr>
        <p:txBody>
          <a:bodyPr rtlCol="0" anchor="ctr"/>
          <a:lstStyle/>
          <a:p/>
        </p:txBody>
      </p:sp>
      <p:sp>
        <p:nvSpPr>
          <p:cNvPr id="27" name="Oval 26"/>
          <p:cNvSpPr/>
          <p:nvPr/>
        </p:nvSpPr>
        <p:spPr>
          <a:xfrm>
            <a:off x="5193792" y="3690747"/>
            <a:ext cx="457200" cy="457200"/>
          </a:xfrm>
          <a:prstGeom prst="ellipse">
            <a:avLst/>
          </a:prstGeom>
          <a:solidFill>
            <a:srgbClr val="4F4F4F"/>
          </a:solidFill>
          <a:ln w="19050">
            <a:solidFill>
              <a:srgbClr val="FFFFFF"/>
            </a:solid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28" name="TextBox 27"/>
          <p:cNvSpPr txBox="1"/>
          <p:nvPr/>
        </p:nvSpPr>
        <p:spPr>
          <a:xfrm>
            <a:off x="5733288" y="3415284"/>
            <a:ext cx="5882335" cy="1008126"/>
          </a:xfrm>
          <a:prstGeom prst="rect">
            <a:avLst/>
          </a:prstGeom>
          <a:noFill/>
        </p:spPr>
        <p:txBody>
          <a:bodyPr wrap="square" anchor="ctr" tIns="36576" bIns="36576">
            <a:noAutofit/>
          </a:bodyPr>
          <a:lstStyle/>
          <a:p>
            <a:pPr algn="l">
              <a:spcBef>
                <a:spcPts val="0"/>
              </a:spcBef>
              <a:spcAft>
                <a:spcPts val="200"/>
              </a:spcAft>
            </a:pPr>
            <a:r>
              <a:rPr lang="tr-TR" sz="1700" b="1" i="0">
                <a:solidFill>
                  <a:srgbClr val="4F4F4F"/>
                </a:solidFill>
                <a:latin typeface="Calibri"/>
              </a:rPr>
              <a:t>→ AFET</a:t>
            </a:r>
          </a:p>
          <a:p>
            <a:pPr algn="l">
              <a:spcBef>
                <a:spcPts val="0"/>
              </a:spcBef>
              <a:spcAft>
                <a:spcPts val="0"/>
              </a:spcAft>
            </a:pPr>
            <a:r>
              <a:rPr lang="tr-TR" sz="1700" b="0" i="0">
                <a:solidFill>
                  <a:srgbClr val="262626"/>
                </a:solidFill>
                <a:latin typeface="Calibri"/>
              </a:rPr>
              <a:t>Bu sel nedeniyle yerleşim alanında can ve mal kayıplarının yaşanması ise afet olarak nitelendirilir.</a:t>
            </a:r>
          </a:p>
        </p:txBody>
      </p:sp>
      <p:sp>
        <p:nvSpPr>
          <p:cNvPr id="29" name="Rounded Rectangle 28"/>
          <p:cNvSpPr/>
          <p:nvPr/>
        </p:nvSpPr>
        <p:spPr>
          <a:xfrm>
            <a:off x="5074920" y="4514850"/>
            <a:ext cx="6613855" cy="1008126"/>
          </a:xfrm>
          <a:prstGeom prst="roundRect">
            <a:avLst>
              <a:gd name="adj" fmla="val 10000"/>
            </a:avLst>
          </a:prstGeom>
          <a:solidFill>
            <a:srgbClr val="E3F1E4"/>
          </a:solidFill>
          <a:ln w="19050">
            <a:solidFill>
              <a:srgbClr val="7558A8"/>
            </a:solidFill>
          </a:ln>
          <a:effectLst/>
        </p:spPr>
        <p:txBody>
          <a:bodyPr rtlCol="0" anchor="ctr"/>
          <a:lstStyle/>
          <a:p/>
        </p:txBody>
      </p:sp>
      <p:sp>
        <p:nvSpPr>
          <p:cNvPr id="30" name="Oval 29"/>
          <p:cNvSpPr/>
          <p:nvPr/>
        </p:nvSpPr>
        <p:spPr>
          <a:xfrm>
            <a:off x="5193792" y="4790313"/>
            <a:ext cx="457200" cy="457200"/>
          </a:xfrm>
          <a:prstGeom prst="ellipse">
            <a:avLst/>
          </a:prstGeom>
          <a:solidFill>
            <a:srgbClr val="7558A8"/>
          </a:solidFill>
          <a:ln w="19050">
            <a:solidFill>
              <a:srgbClr val="FFFFFF"/>
            </a:solid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31" name="TextBox 30"/>
          <p:cNvSpPr txBox="1"/>
          <p:nvPr/>
        </p:nvSpPr>
        <p:spPr>
          <a:xfrm>
            <a:off x="5733288" y="4514850"/>
            <a:ext cx="5882335" cy="1008126"/>
          </a:xfrm>
          <a:prstGeom prst="rect">
            <a:avLst/>
          </a:prstGeom>
          <a:noFill/>
        </p:spPr>
        <p:txBody>
          <a:bodyPr wrap="square" anchor="ctr" tIns="36576" bIns="36576">
            <a:noAutofit/>
          </a:bodyPr>
          <a:lstStyle/>
          <a:p>
            <a:pPr algn="l">
              <a:spcBef>
                <a:spcPts val="0"/>
              </a:spcBef>
              <a:spcAft>
                <a:spcPts val="200"/>
              </a:spcAft>
            </a:pPr>
            <a:r>
              <a:rPr lang="tr-TR" sz="1700" b="1" i="0">
                <a:solidFill>
                  <a:srgbClr val="7558A8"/>
                </a:solidFill>
                <a:latin typeface="Calibri"/>
              </a:rPr>
              <a:t>→ Maruziyet</a:t>
            </a:r>
          </a:p>
          <a:p>
            <a:pPr algn="l">
              <a:spcBef>
                <a:spcPts val="0"/>
              </a:spcBef>
              <a:spcAft>
                <a:spcPts val="0"/>
              </a:spcAft>
            </a:pPr>
            <a:r>
              <a:rPr lang="tr-TR" sz="1700" b="0" i="0">
                <a:solidFill>
                  <a:srgbClr val="262626"/>
                </a:solidFill>
                <a:latin typeface="Calibri"/>
              </a:rPr>
              <a:t>Vadi tabanının yerleşime açılması, beşerî yapılar ve nüfus üzerinde risk oluşturur.</a:t>
            </a:r>
          </a:p>
        </p:txBody>
      </p:sp>
      <p:sp>
        <p:nvSpPr>
          <p:cNvPr id="32" name="Rounded Rectangle 31"/>
          <p:cNvSpPr/>
          <p:nvPr/>
        </p:nvSpPr>
        <p:spPr>
          <a:xfrm>
            <a:off x="5074920" y="5632704"/>
            <a:ext cx="6613855" cy="658368"/>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ctr">
              <a:spcBef>
                <a:spcPts val="0"/>
              </a:spcBef>
              <a:spcAft>
                <a:spcPts val="0"/>
              </a:spcAft>
            </a:pPr>
            <a:r>
              <a:rPr lang="tr-TR" sz="1550" b="1" i="0">
                <a:solidFill>
                  <a:srgbClr val="262626"/>
                </a:solidFill>
                <a:latin typeface="Calibri"/>
              </a:rPr>
              <a:t>Risk</a:t>
            </a:r>
            <a:r>
              <a:rPr lang="tr-TR" sz="1550" b="0" i="0">
                <a:solidFill>
                  <a:srgbClr val="262626"/>
                </a:solidFill>
                <a:latin typeface="Calibri"/>
              </a:rPr>
              <a:t> = A ile C'nin kesişimi: eksiklikler varken akarsu taşarsa can ve mal kaybı olasılığı</a:t>
            </a:r>
          </a:p>
        </p:txBody>
      </p:sp>
      <p:sp>
        <p:nvSpPr>
          <p:cNvPr id="33" name="TextBox 3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4" name="Rounded Rectangle 3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35" name="TextBox 3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27 / 250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Kitaptaki sel örneğinde hangisi riski ARTIRAN eksikliklerden biridir?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Aşırı yağışların düşmesi</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Yapıların sele dirençli olmaması</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Akarsuyun taşması</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Yerleşim alanında can kaybı yaşanması</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Tahliye planının hazırlanmış olması</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28 / 250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2</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Kitaptaki sel örneğinde hangisi riski ARTIRAN eksikliklerden biridir?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Aşırı yağışların düşmesi</a:t>
            </a:r>
          </a:p>
        </p:txBody>
      </p:sp>
      <p:sp>
        <p:nvSpPr>
          <p:cNvPr id="10" name="Rounded Rectangle 9"/>
          <p:cNvSpPr/>
          <p:nvPr/>
        </p:nvSpPr>
        <p:spPr>
          <a:xfrm>
            <a:off x="502920" y="315833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1" name="Oval 10"/>
          <p:cNvSpPr/>
          <p:nvPr/>
        </p:nvSpPr>
        <p:spPr>
          <a:xfrm>
            <a:off x="594360" y="311444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Yapıların sele dirençli olmaması</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Akarsuyun taşması</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Yerleşim alanında can kaybı yaşanması</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Tahliye planının hazırlanmış olması</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Akarsu yatağının daraltılması, yapıların sele dirençli olmaması, tahliye planının yapılmaması gibi eksiklikler riski artırır. A ve C tehlikeyi, D afeti anlatır; E bir önlemdir.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29 / 250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Türkiye örneği: fay, yerleşme, deprem</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6.1.1</a:t>
            </a:r>
          </a:p>
        </p:txBody>
      </p:sp>
      <p:sp>
        <p:nvSpPr>
          <p:cNvPr id="6" name="Rounded Rectangle 5"/>
          <p:cNvSpPr/>
          <p:nvPr/>
        </p:nvSpPr>
        <p:spPr>
          <a:xfrm>
            <a:off x="502920" y="1261872"/>
            <a:ext cx="3594506" cy="37947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3594506" cy="530352"/>
          </a:xfrm>
          <a:prstGeom prst="roundRect">
            <a:avLst>
              <a:gd name="adj" fmla="val 25000"/>
            </a:avLst>
          </a:prstGeom>
          <a:solidFill>
            <a:srgbClr val="C94F5A"/>
          </a:solidFill>
          <a:ln>
            <a:noFill/>
          </a:ln>
          <a:effectLst/>
        </p:spPr>
        <p:txBody>
          <a:bodyPr rtlCol="0" anchor="ctr"/>
          <a:lstStyle/>
          <a:p/>
        </p:txBody>
      </p:sp>
      <p:sp>
        <p:nvSpPr>
          <p:cNvPr id="8" name="Rectangle 7"/>
          <p:cNvSpPr/>
          <p:nvPr/>
        </p:nvSpPr>
        <p:spPr>
          <a:xfrm>
            <a:off x="502920" y="1527048"/>
            <a:ext cx="3594506" cy="265176"/>
          </a:xfrm>
          <a:prstGeom prst="rect">
            <a:avLst/>
          </a:prstGeom>
          <a:solidFill>
            <a:srgbClr val="C94F5A"/>
          </a:solidFill>
          <a:ln>
            <a:noFill/>
          </a:ln>
          <a:effectLst/>
        </p:spPr>
        <p:txBody>
          <a:bodyPr rtlCol="0" anchor="ctr"/>
          <a:lstStyle/>
          <a:p/>
        </p:txBody>
      </p:sp>
      <p:sp>
        <p:nvSpPr>
          <p:cNvPr id="9" name="TextBox 8"/>
          <p:cNvSpPr txBox="1"/>
          <p:nvPr/>
        </p:nvSpPr>
        <p:spPr>
          <a:xfrm>
            <a:off x="594360"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Tehlike</a:t>
            </a:r>
          </a:p>
        </p:txBody>
      </p:sp>
      <p:sp>
        <p:nvSpPr>
          <p:cNvPr id="10" name="TextBox 9"/>
          <p:cNvSpPr txBox="1"/>
          <p:nvPr/>
        </p:nvSpPr>
        <p:spPr>
          <a:xfrm>
            <a:off x="612648" y="1865376"/>
            <a:ext cx="3375050" cy="3118104"/>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Örneğin Türkiye’de aktif fay hatlarının geçtiği bölgeler deprem tehlikesi olan yerlerdir.</a:t>
            </a:r>
          </a:p>
        </p:txBody>
      </p:sp>
      <p:sp>
        <p:nvSpPr>
          <p:cNvPr id="11" name="Rounded Rectangle 10"/>
          <p:cNvSpPr/>
          <p:nvPr/>
        </p:nvSpPr>
        <p:spPr>
          <a:xfrm>
            <a:off x="4298594" y="1261872"/>
            <a:ext cx="3594506" cy="37947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61872"/>
            <a:ext cx="3594506" cy="530352"/>
          </a:xfrm>
          <a:prstGeom prst="roundRect">
            <a:avLst>
              <a:gd name="adj" fmla="val 25000"/>
            </a:avLst>
          </a:prstGeom>
          <a:solidFill>
            <a:srgbClr val="4A6B78"/>
          </a:solidFill>
          <a:ln>
            <a:noFill/>
          </a:ln>
          <a:effectLst/>
        </p:spPr>
        <p:txBody>
          <a:bodyPr rtlCol="0" anchor="ctr"/>
          <a:lstStyle/>
          <a:p/>
        </p:txBody>
      </p:sp>
      <p:sp>
        <p:nvSpPr>
          <p:cNvPr id="13" name="Rectangle 12"/>
          <p:cNvSpPr/>
          <p:nvPr/>
        </p:nvSpPr>
        <p:spPr>
          <a:xfrm>
            <a:off x="4298594" y="1527048"/>
            <a:ext cx="3594506" cy="265176"/>
          </a:xfrm>
          <a:prstGeom prst="rect">
            <a:avLst/>
          </a:prstGeom>
          <a:solidFill>
            <a:srgbClr val="4A6B78"/>
          </a:solidFill>
          <a:ln>
            <a:noFill/>
          </a:ln>
          <a:effectLst/>
        </p:spPr>
        <p:txBody>
          <a:bodyPr rtlCol="0" anchor="ctr"/>
          <a:lstStyle/>
          <a:p/>
        </p:txBody>
      </p:sp>
      <p:sp>
        <p:nvSpPr>
          <p:cNvPr id="14" name="TextBox 13"/>
          <p:cNvSpPr txBox="1"/>
          <p:nvPr/>
        </p:nvSpPr>
        <p:spPr>
          <a:xfrm>
            <a:off x="4390034"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Risk</a:t>
            </a:r>
          </a:p>
        </p:txBody>
      </p:sp>
      <p:sp>
        <p:nvSpPr>
          <p:cNvPr id="15" name="TextBox 14"/>
          <p:cNvSpPr txBox="1"/>
          <p:nvPr/>
        </p:nvSpPr>
        <p:spPr>
          <a:xfrm>
            <a:off x="4408322" y="1865376"/>
            <a:ext cx="3375050" cy="3118104"/>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Bu bölgelerde depreme dirençli olmayan yerleşim alanlarının kurulması afet riskini artırmaktadır.</a:t>
            </a:r>
          </a:p>
        </p:txBody>
      </p:sp>
      <p:sp>
        <p:nvSpPr>
          <p:cNvPr id="16" name="Rounded Rectangle 15"/>
          <p:cNvSpPr/>
          <p:nvPr/>
        </p:nvSpPr>
        <p:spPr>
          <a:xfrm>
            <a:off x="8094268" y="1261872"/>
            <a:ext cx="3594506" cy="37947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61872"/>
            <a:ext cx="3594506" cy="530352"/>
          </a:xfrm>
          <a:prstGeom prst="roundRect">
            <a:avLst>
              <a:gd name="adj" fmla="val 25000"/>
            </a:avLst>
          </a:prstGeom>
          <a:solidFill>
            <a:srgbClr val="4F4F4F"/>
          </a:solidFill>
          <a:ln>
            <a:noFill/>
          </a:ln>
          <a:effectLst/>
        </p:spPr>
        <p:txBody>
          <a:bodyPr rtlCol="0" anchor="ctr"/>
          <a:lstStyle/>
          <a:p/>
        </p:txBody>
      </p:sp>
      <p:sp>
        <p:nvSpPr>
          <p:cNvPr id="18" name="Rectangle 17"/>
          <p:cNvSpPr/>
          <p:nvPr/>
        </p:nvSpPr>
        <p:spPr>
          <a:xfrm>
            <a:off x="8094268" y="1527048"/>
            <a:ext cx="3594506" cy="265176"/>
          </a:xfrm>
          <a:prstGeom prst="rect">
            <a:avLst/>
          </a:prstGeom>
          <a:solidFill>
            <a:srgbClr val="4F4F4F"/>
          </a:solidFill>
          <a:ln>
            <a:noFill/>
          </a:ln>
          <a:effectLst/>
        </p:spPr>
        <p:txBody>
          <a:bodyPr rtlCol="0" anchor="ctr"/>
          <a:lstStyle/>
          <a:p/>
        </p:txBody>
      </p:sp>
      <p:sp>
        <p:nvSpPr>
          <p:cNvPr id="19" name="TextBox 18"/>
          <p:cNvSpPr txBox="1"/>
          <p:nvPr/>
        </p:nvSpPr>
        <p:spPr>
          <a:xfrm>
            <a:off x="8185708"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Afet</a:t>
            </a:r>
          </a:p>
        </p:txBody>
      </p:sp>
      <p:sp>
        <p:nvSpPr>
          <p:cNvPr id="20" name="TextBox 19"/>
          <p:cNvSpPr txBox="1"/>
          <p:nvPr/>
        </p:nvSpPr>
        <p:spPr>
          <a:xfrm>
            <a:off x="8203996" y="1865376"/>
            <a:ext cx="3375050" cy="3118104"/>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Söz konusu bölgelerde meydana gelebilecek bir deprem sonucu sağlam olmayan yapıların zarar görmesiyle ciddi can ve mal kayıpları yaşanabilmektedir.</a:t>
            </a:r>
          </a:p>
        </p:txBody>
      </p:sp>
      <p:sp>
        <p:nvSpPr>
          <p:cNvPr id="21" name="Rounded Rectangle 20"/>
          <p:cNvSpPr/>
          <p:nvPr/>
        </p:nvSpPr>
        <p:spPr>
          <a:xfrm>
            <a:off x="502920" y="5239512"/>
            <a:ext cx="11185855" cy="100584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Kitap s. 190: üç cümle, üç kavram · Aktif fay hatları nerede? → Harita 6.1</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30 / 250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Harita 6.1: Türkiye deprem tehlike haritası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HARİTA</a:t>
            </a:r>
          </a:p>
        </p:txBody>
      </p:sp>
      <p:pic>
        <p:nvPicPr>
          <p:cNvPr id="6" name="Picture 5" descr="h30_harita61_s190.jpg"/>
          <p:cNvPicPr>
            <a:picLocks noChangeAspect="1"/>
          </p:cNvPicPr>
          <p:nvPr/>
        </p:nvPicPr>
        <p:blipFill>
          <a:blip r:embed="rId3"/>
          <a:stretch>
            <a:fillRect/>
          </a:stretch>
        </p:blipFill>
        <p:spPr>
          <a:xfrm>
            <a:off x="502920" y="1216152"/>
            <a:ext cx="8092440" cy="4101304"/>
          </a:xfrm>
          <a:prstGeom prst="rect">
            <a:avLst/>
          </a:prstGeom>
          <a:ln w="9525">
            <a:solidFill>
              <a:srgbClr val="D9D9D9"/>
            </a:solidFill>
          </a:ln>
        </p:spPr>
      </p:pic>
      <p:sp>
        <p:nvSpPr>
          <p:cNvPr id="7" name="TextBox 6"/>
          <p:cNvSpPr txBox="1"/>
          <p:nvPr/>
        </p:nvSpPr>
        <p:spPr>
          <a:xfrm>
            <a:off x="502920" y="5344888"/>
            <a:ext cx="8092440"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Harita 6.1: Türkiye deprem tehlike haritası (AFAD)</a:t>
            </a:r>
          </a:p>
        </p:txBody>
      </p:sp>
      <p:sp>
        <p:nvSpPr>
          <p:cNvPr id="8" name="Rounded Rectangle 7"/>
          <p:cNvSpPr/>
          <p:nvPr/>
        </p:nvSpPr>
        <p:spPr>
          <a:xfrm>
            <a:off x="8823960" y="1216152"/>
            <a:ext cx="2864815" cy="2514600"/>
          </a:xfrm>
          <a:prstGeom prst="roundRect">
            <a:avLst>
              <a:gd name="adj" fmla="val 5000"/>
            </a:avLst>
          </a:prstGeom>
          <a:solidFill>
            <a:srgbClr val="F0F0F0"/>
          </a:solidFill>
          <a:ln>
            <a:noFill/>
          </a:ln>
          <a:effectLst/>
        </p:spPr>
        <p:txBody>
          <a:bodyPr rtlCol="0" anchor="ctr"/>
          <a:lstStyle/>
          <a:p/>
        </p:txBody>
      </p:sp>
      <p:sp>
        <p:nvSpPr>
          <p:cNvPr id="9" name="Rounded Rectangle 8"/>
          <p:cNvSpPr/>
          <p:nvPr/>
        </p:nvSpPr>
        <p:spPr>
          <a:xfrm>
            <a:off x="8823960" y="1216152"/>
            <a:ext cx="2864815" cy="530352"/>
          </a:xfrm>
          <a:prstGeom prst="roundRect">
            <a:avLst>
              <a:gd name="adj" fmla="val 25000"/>
            </a:avLst>
          </a:prstGeom>
          <a:solidFill>
            <a:srgbClr val="A63A32"/>
          </a:solidFill>
          <a:ln>
            <a:noFill/>
          </a:ln>
          <a:effectLst/>
        </p:spPr>
        <p:txBody>
          <a:bodyPr rtlCol="0" anchor="ctr"/>
          <a:lstStyle/>
          <a:p/>
        </p:txBody>
      </p:sp>
      <p:sp>
        <p:nvSpPr>
          <p:cNvPr id="10" name="Rectangle 9"/>
          <p:cNvSpPr/>
          <p:nvPr/>
        </p:nvSpPr>
        <p:spPr>
          <a:xfrm>
            <a:off x="8823960" y="1481328"/>
            <a:ext cx="2864815" cy="265176"/>
          </a:xfrm>
          <a:prstGeom prst="rect">
            <a:avLst/>
          </a:prstGeom>
          <a:solidFill>
            <a:srgbClr val="A63A32"/>
          </a:solidFill>
          <a:ln>
            <a:noFill/>
          </a:ln>
          <a:effectLst/>
        </p:spPr>
        <p:txBody>
          <a:bodyPr rtlCol="0" anchor="ctr"/>
          <a:lstStyle/>
          <a:p/>
        </p:txBody>
      </p:sp>
      <p:sp>
        <p:nvSpPr>
          <p:cNvPr id="11" name="TextBox 10"/>
          <p:cNvSpPr txBox="1"/>
          <p:nvPr/>
        </p:nvSpPr>
        <p:spPr>
          <a:xfrm>
            <a:off x="8915400" y="1216152"/>
            <a:ext cx="2681935"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Lejantı oku</a:t>
            </a:r>
          </a:p>
        </p:txBody>
      </p:sp>
      <p:sp>
        <p:nvSpPr>
          <p:cNvPr id="12" name="TextBox 11"/>
          <p:cNvSpPr txBox="1"/>
          <p:nvPr/>
        </p:nvSpPr>
        <p:spPr>
          <a:xfrm>
            <a:off x="8933688" y="1819656"/>
            <a:ext cx="2645359" cy="1837944"/>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Renkler neyi gösteriyor?</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Siyah çizgiler ne?</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En koyu renkler nerede?</a:t>
            </a:r>
          </a:p>
        </p:txBody>
      </p:sp>
      <p:sp>
        <p:nvSpPr>
          <p:cNvPr id="13" name="Rounded Rectangle 12"/>
          <p:cNvSpPr/>
          <p:nvPr/>
        </p:nvSpPr>
        <p:spPr>
          <a:xfrm>
            <a:off x="8823960" y="3867912"/>
            <a:ext cx="2864815" cy="2377440"/>
          </a:xfrm>
          <a:prstGeom prst="roundRect">
            <a:avLst>
              <a:gd name="adj" fmla="val 8000"/>
            </a:avLst>
          </a:prstGeom>
          <a:solidFill>
            <a:srgbClr val="F9E1E1"/>
          </a:solidFill>
          <a:ln>
            <a:noFill/>
          </a:ln>
          <a:effectLst/>
        </p:spPr>
        <p:txBody>
          <a:bodyPr rtlCol="0" anchor="ctr" wrap="square" lIns="128016" rIns="128016" tIns="73152" bIns="73152">
            <a:noAutofit/>
          </a:bodyPr>
          <a:lstStyle/>
          <a:p>
            <a:pPr algn="ctr">
              <a:spcBef>
                <a:spcPts val="0"/>
              </a:spcBef>
              <a:spcAft>
                <a:spcPts val="200"/>
              </a:spcAft>
            </a:pPr>
            <a:r>
              <a:rPr lang="tr-TR" sz="4000" b="1" i="0">
                <a:solidFill>
                  <a:srgbClr val="A63A32"/>
                </a:solidFill>
                <a:latin typeface="Calibri"/>
              </a:rPr>
              <a:t>%75</a:t>
            </a:r>
          </a:p>
          <a:p>
            <a:pPr algn="ctr">
              <a:spcBef>
                <a:spcPts val="0"/>
              </a:spcBef>
              <a:spcAft>
                <a:spcPts val="0"/>
              </a:spcAft>
            </a:pPr>
            <a:r>
              <a:rPr lang="tr-TR" sz="1900" b="0" i="0">
                <a:solidFill>
                  <a:srgbClr val="262626"/>
                </a:solidFill>
                <a:latin typeface="Calibri"/>
              </a:rPr>
              <a:t>Türkiye nüfusunun yaklaşık %75’i deprem riskinin yüksek olduğu alanlarda yaşamaktadır.</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31 / 250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Diri fay çizgilerini izleyelim</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HARİTA · İZLE</a:t>
            </a:r>
          </a:p>
        </p:txBody>
      </p:sp>
      <p:pic>
        <p:nvPicPr>
          <p:cNvPr id="6" name="Picture 5" descr="h30_harita61_s190.jpg"/>
          <p:cNvPicPr>
            <a:picLocks noChangeAspect="1"/>
          </p:cNvPicPr>
          <p:nvPr/>
        </p:nvPicPr>
        <p:blipFill>
          <a:blip r:embed="rId3"/>
          <a:stretch>
            <a:fillRect/>
          </a:stretch>
        </p:blipFill>
        <p:spPr>
          <a:xfrm>
            <a:off x="502920" y="1216152"/>
            <a:ext cx="8549640" cy="4333016"/>
          </a:xfrm>
          <a:prstGeom prst="rect">
            <a:avLst/>
          </a:prstGeom>
          <a:ln w="9525">
            <a:solidFill>
              <a:srgbClr val="D9D9D9"/>
            </a:solidFill>
          </a:ln>
        </p:spPr>
      </p:pic>
      <p:sp>
        <p:nvSpPr>
          <p:cNvPr id="7" name="Oval 6"/>
          <p:cNvSpPr/>
          <p:nvPr/>
        </p:nvSpPr>
        <p:spPr>
          <a:xfrm>
            <a:off x="5560141" y="2416893"/>
            <a:ext cx="365760" cy="365760"/>
          </a:xfrm>
          <a:prstGeom prst="ellipse">
            <a:avLst/>
          </a:prstGeom>
          <a:solidFill>
            <a:srgbClr val="4F4F4F"/>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8" name="Oval 7"/>
          <p:cNvSpPr/>
          <p:nvPr/>
        </p:nvSpPr>
        <p:spPr>
          <a:xfrm>
            <a:off x="6488651" y="3379172"/>
            <a:ext cx="365760" cy="365760"/>
          </a:xfrm>
          <a:prstGeom prst="ellipse">
            <a:avLst/>
          </a:prstGeom>
          <a:solidFill>
            <a:srgbClr val="4F4F4F"/>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9" name="Oval 8"/>
          <p:cNvSpPr/>
          <p:nvPr/>
        </p:nvSpPr>
        <p:spPr>
          <a:xfrm>
            <a:off x="1763366" y="3007508"/>
            <a:ext cx="365760" cy="365760"/>
          </a:xfrm>
          <a:prstGeom prst="ellipse">
            <a:avLst/>
          </a:prstGeom>
          <a:solidFill>
            <a:srgbClr val="4F4F4F"/>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10" name="TextBox 9"/>
          <p:cNvSpPr txBox="1"/>
          <p:nvPr/>
        </p:nvSpPr>
        <p:spPr>
          <a:xfrm>
            <a:off x="502920" y="5576600"/>
            <a:ext cx="8549640"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Harita 6.1 (s. 190) · 1-2-3: diri fay çizgilerinin üzerinde ya da hemen yanında</a:t>
            </a:r>
          </a:p>
        </p:txBody>
      </p:sp>
      <p:sp>
        <p:nvSpPr>
          <p:cNvPr id="11" name="TextBox 10"/>
          <p:cNvSpPr txBox="1"/>
          <p:nvPr/>
        </p:nvSpPr>
        <p:spPr>
          <a:xfrm>
            <a:off x="9281160" y="1216152"/>
            <a:ext cx="2407615" cy="7315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A63A32"/>
                </a:solidFill>
                <a:latin typeface="Calibri"/>
              </a:rPr>
              <a:t>Hangi numara hangi fay alanı?</a:t>
            </a:r>
          </a:p>
        </p:txBody>
      </p:sp>
      <p:sp>
        <p:nvSpPr>
          <p:cNvPr id="12" name="Rounded Rectangle 11"/>
          <p:cNvSpPr/>
          <p:nvPr/>
        </p:nvSpPr>
        <p:spPr>
          <a:xfrm>
            <a:off x="9281160" y="2039112"/>
            <a:ext cx="2407615" cy="868680"/>
          </a:xfrm>
          <a:prstGeom prst="roundRect">
            <a:avLst>
              <a:gd name="adj" fmla="val 15000"/>
            </a:avLst>
          </a:prstGeom>
          <a:solidFill>
            <a:srgbClr val="F0F0F0"/>
          </a:solidFill>
          <a:ln>
            <a:noFill/>
          </a:ln>
          <a:effectLst/>
        </p:spPr>
        <p:txBody>
          <a:bodyPr rtlCol="0" anchor="ctr"/>
          <a:lstStyle/>
          <a:p/>
        </p:txBody>
      </p:sp>
      <p:sp>
        <p:nvSpPr>
          <p:cNvPr id="13" name="Oval 12"/>
          <p:cNvSpPr/>
          <p:nvPr/>
        </p:nvSpPr>
        <p:spPr>
          <a:xfrm>
            <a:off x="9372600" y="2272284"/>
            <a:ext cx="402336" cy="402336"/>
          </a:xfrm>
          <a:prstGeom prst="ellipse">
            <a:avLst/>
          </a:prstGeom>
          <a:solidFill>
            <a:srgbClr val="FFFFFF"/>
          </a:solidFill>
          <a:ln w="19050">
            <a:solidFill>
              <a:srgbClr val="D9D9D9"/>
            </a:solidFill>
          </a:ln>
          <a:effectLst/>
        </p:spPr>
        <p:txBody>
          <a:bodyPr rtlCol="0" anchor="ctr"/>
          <a:lstStyle/>
          <a:p/>
        </p:txBody>
      </p:sp>
      <p:sp>
        <p:nvSpPr>
          <p:cNvPr id="14" name="TextBox 13"/>
          <p:cNvSpPr txBox="1"/>
          <p:nvPr/>
        </p:nvSpPr>
        <p:spPr>
          <a:xfrm>
            <a:off x="9848088" y="2039112"/>
            <a:ext cx="1767535" cy="868680"/>
          </a:xfrm>
          <a:prstGeom prst="rect">
            <a:avLst/>
          </a:prstGeom>
          <a:noFill/>
        </p:spPr>
        <p:txBody>
          <a:bodyPr wrap="square" anchor="ctr" lIns="73152" rIns="73152" tIns="36576" bIns="36576">
            <a:noAutofit/>
          </a:bodyPr>
          <a:lstStyle/>
          <a:p>
            <a:pPr algn="l">
              <a:spcBef>
                <a:spcPts val="0"/>
              </a:spcBef>
              <a:spcAft>
                <a:spcPts val="0"/>
              </a:spcAft>
            </a:pPr>
            <a:r>
              <a:rPr lang="tr-TR" sz="1700" b="0" i="0">
                <a:solidFill>
                  <a:srgbClr val="262626"/>
                </a:solidFill>
                <a:latin typeface="Calibri"/>
              </a:rPr>
              <a:t>Batı Anadolu'daki fay hatları</a:t>
            </a:r>
          </a:p>
        </p:txBody>
      </p:sp>
      <p:sp>
        <p:nvSpPr>
          <p:cNvPr id="15" name="Rounded Rectangle 14"/>
          <p:cNvSpPr/>
          <p:nvPr/>
        </p:nvSpPr>
        <p:spPr>
          <a:xfrm>
            <a:off x="9281160" y="3017520"/>
            <a:ext cx="2407615" cy="868680"/>
          </a:xfrm>
          <a:prstGeom prst="roundRect">
            <a:avLst>
              <a:gd name="adj" fmla="val 15000"/>
            </a:avLst>
          </a:prstGeom>
          <a:solidFill>
            <a:srgbClr val="F0F0F0"/>
          </a:solidFill>
          <a:ln>
            <a:noFill/>
          </a:ln>
          <a:effectLst/>
        </p:spPr>
        <p:txBody>
          <a:bodyPr rtlCol="0" anchor="ctr"/>
          <a:lstStyle/>
          <a:p/>
        </p:txBody>
      </p:sp>
      <p:sp>
        <p:nvSpPr>
          <p:cNvPr id="16" name="Oval 15"/>
          <p:cNvSpPr/>
          <p:nvPr/>
        </p:nvSpPr>
        <p:spPr>
          <a:xfrm>
            <a:off x="9372600" y="3250692"/>
            <a:ext cx="402336" cy="402336"/>
          </a:xfrm>
          <a:prstGeom prst="ellipse">
            <a:avLst/>
          </a:prstGeom>
          <a:solidFill>
            <a:srgbClr val="FFFFFF"/>
          </a:solidFill>
          <a:ln w="19050">
            <a:solidFill>
              <a:srgbClr val="D9D9D9"/>
            </a:solidFill>
          </a:ln>
          <a:effectLst/>
        </p:spPr>
        <p:txBody>
          <a:bodyPr rtlCol="0" anchor="ctr"/>
          <a:lstStyle/>
          <a:p/>
        </p:txBody>
      </p:sp>
      <p:sp>
        <p:nvSpPr>
          <p:cNvPr id="17" name="TextBox 16"/>
          <p:cNvSpPr txBox="1"/>
          <p:nvPr/>
        </p:nvSpPr>
        <p:spPr>
          <a:xfrm>
            <a:off x="9848088" y="3017520"/>
            <a:ext cx="1767535" cy="86868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Kuzey Anadolu Fay Sistemi</a:t>
            </a:r>
          </a:p>
        </p:txBody>
      </p:sp>
      <p:sp>
        <p:nvSpPr>
          <p:cNvPr id="18" name="Rounded Rectangle 17"/>
          <p:cNvSpPr/>
          <p:nvPr/>
        </p:nvSpPr>
        <p:spPr>
          <a:xfrm>
            <a:off x="9281160" y="3995928"/>
            <a:ext cx="2407615" cy="868680"/>
          </a:xfrm>
          <a:prstGeom prst="roundRect">
            <a:avLst>
              <a:gd name="adj" fmla="val 15000"/>
            </a:avLst>
          </a:prstGeom>
          <a:solidFill>
            <a:srgbClr val="F0F0F0"/>
          </a:solidFill>
          <a:ln>
            <a:noFill/>
          </a:ln>
          <a:effectLst/>
        </p:spPr>
        <p:txBody>
          <a:bodyPr rtlCol="0" anchor="ctr"/>
          <a:lstStyle/>
          <a:p/>
        </p:txBody>
      </p:sp>
      <p:sp>
        <p:nvSpPr>
          <p:cNvPr id="19" name="Oval 18"/>
          <p:cNvSpPr/>
          <p:nvPr/>
        </p:nvSpPr>
        <p:spPr>
          <a:xfrm>
            <a:off x="9372600" y="4229100"/>
            <a:ext cx="402336" cy="402336"/>
          </a:xfrm>
          <a:prstGeom prst="ellipse">
            <a:avLst/>
          </a:prstGeom>
          <a:solidFill>
            <a:srgbClr val="FFFFFF"/>
          </a:solidFill>
          <a:ln w="19050">
            <a:solidFill>
              <a:srgbClr val="D9D9D9"/>
            </a:solidFill>
          </a:ln>
          <a:effectLst/>
        </p:spPr>
        <p:txBody>
          <a:bodyPr rtlCol="0" anchor="ctr"/>
          <a:lstStyle/>
          <a:p/>
        </p:txBody>
      </p:sp>
      <p:sp>
        <p:nvSpPr>
          <p:cNvPr id="20" name="TextBox 19"/>
          <p:cNvSpPr txBox="1"/>
          <p:nvPr/>
        </p:nvSpPr>
        <p:spPr>
          <a:xfrm>
            <a:off x="9848088" y="3995928"/>
            <a:ext cx="1767535" cy="868680"/>
          </a:xfrm>
          <a:prstGeom prst="rect">
            <a:avLst/>
          </a:prstGeom>
          <a:noFill/>
        </p:spPr>
        <p:txBody>
          <a:bodyPr wrap="square" anchor="ctr" lIns="73152" rIns="73152" tIns="36576" bIns="36576">
            <a:noAutofit/>
          </a:bodyPr>
          <a:lstStyle/>
          <a:p>
            <a:pPr algn="l">
              <a:spcBef>
                <a:spcPts val="0"/>
              </a:spcBef>
              <a:spcAft>
                <a:spcPts val="0"/>
              </a:spcAft>
            </a:pPr>
            <a:r>
              <a:rPr lang="tr-TR" sz="1900" b="0" i="0">
                <a:solidFill>
                  <a:srgbClr val="262626"/>
                </a:solidFill>
                <a:latin typeface="Calibri"/>
              </a:rPr>
              <a:t>Doğu Anadolu Fay Sistemi</a:t>
            </a:r>
          </a:p>
        </p:txBody>
      </p:sp>
      <p:sp>
        <p:nvSpPr>
          <p:cNvPr id="21" name="Rounded Rectangle 20"/>
          <p:cNvSpPr/>
          <p:nvPr/>
        </p:nvSpPr>
        <p:spPr>
          <a:xfrm>
            <a:off x="9281160" y="5020056"/>
            <a:ext cx="2407615" cy="1271016"/>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1900" b="1" i="0">
                <a:solidFill>
                  <a:srgbClr val="262626"/>
                </a:solidFill>
                <a:latin typeface="Calibri"/>
              </a:rPr>
              <a:t>Kırmızı-mor kuşaklar hangi çizgileri izliyor?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32 / 250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Diri fay çizgilerini izleyelim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30_harita61_s190.jpg"/>
          <p:cNvPicPr>
            <a:picLocks noChangeAspect="1"/>
          </p:cNvPicPr>
          <p:nvPr/>
        </p:nvPicPr>
        <p:blipFill>
          <a:blip r:embed="rId3"/>
          <a:stretch>
            <a:fillRect/>
          </a:stretch>
        </p:blipFill>
        <p:spPr>
          <a:xfrm>
            <a:off x="502920" y="1216152"/>
            <a:ext cx="8549640" cy="4333016"/>
          </a:xfrm>
          <a:prstGeom prst="rect">
            <a:avLst/>
          </a:prstGeom>
          <a:ln w="9525">
            <a:solidFill>
              <a:srgbClr val="D9D9D9"/>
            </a:solidFill>
          </a:ln>
        </p:spPr>
      </p:pic>
      <p:sp>
        <p:nvSpPr>
          <p:cNvPr id="7" name="Freeform 6"/>
          <p:cNvSpPr/>
          <p:nvPr/>
        </p:nvSpPr>
        <p:spPr>
          <a:xfrm>
            <a:off x="647340" y="2113850"/>
            <a:ext cx="4548574" cy="291660"/>
          </a:xfrm>
          <a:custGeom>
            <a:avLst/>
            <a:gdLst/>
            <a:ahLst/>
            <a:cxnLst/>
            <a:rect l="l" t="t" r="r" b="b"/>
            <a:pathLst>
              <a:path w="4548574" h="291660">
                <a:moveTo>
                  <a:pt x="4548574" y="251437"/>
                </a:moveTo>
                <a:lnTo>
                  <a:pt x="4527602" y="245375"/>
                </a:lnTo>
                <a:lnTo>
                  <a:pt x="4507311" y="237534"/>
                </a:lnTo>
                <a:lnTo>
                  <a:pt x="4487585" y="228240"/>
                </a:lnTo>
                <a:lnTo>
                  <a:pt x="4468309" y="217815"/>
                </a:lnTo>
                <a:lnTo>
                  <a:pt x="4449368" y="206584"/>
                </a:lnTo>
                <a:lnTo>
                  <a:pt x="4430646" y="194870"/>
                </a:lnTo>
                <a:lnTo>
                  <a:pt x="4412029" y="182997"/>
                </a:lnTo>
                <a:lnTo>
                  <a:pt x="4393401" y="171288"/>
                </a:lnTo>
                <a:lnTo>
                  <a:pt x="4320770" y="130667"/>
                </a:lnTo>
                <a:lnTo>
                  <a:pt x="4245203" y="96199"/>
                </a:lnTo>
                <a:lnTo>
                  <a:pt x="4167161" y="67560"/>
                </a:lnTo>
                <a:lnTo>
                  <a:pt x="4087106" y="44425"/>
                </a:lnTo>
                <a:lnTo>
                  <a:pt x="4005500" y="26472"/>
                </a:lnTo>
                <a:lnTo>
                  <a:pt x="3922805" y="13376"/>
                </a:lnTo>
                <a:lnTo>
                  <a:pt x="3839481" y="4813"/>
                </a:lnTo>
                <a:lnTo>
                  <a:pt x="3755990" y="461"/>
                </a:lnTo>
                <a:lnTo>
                  <a:pt x="3665685" y="0"/>
                </a:lnTo>
                <a:lnTo>
                  <a:pt x="3575514" y="3446"/>
                </a:lnTo>
                <a:lnTo>
                  <a:pt x="3485511" y="10378"/>
                </a:lnTo>
                <a:lnTo>
                  <a:pt x="3395712" y="20377"/>
                </a:lnTo>
                <a:lnTo>
                  <a:pt x="3306151" y="33023"/>
                </a:lnTo>
                <a:lnTo>
                  <a:pt x="3216863" y="47895"/>
                </a:lnTo>
                <a:lnTo>
                  <a:pt x="3127883" y="64572"/>
                </a:lnTo>
                <a:lnTo>
                  <a:pt x="3039245" y="82636"/>
                </a:lnTo>
                <a:lnTo>
                  <a:pt x="2940258" y="104108"/>
                </a:lnTo>
                <a:lnTo>
                  <a:pt x="2841546" y="126806"/>
                </a:lnTo>
                <a:lnTo>
                  <a:pt x="2743123" y="150725"/>
                </a:lnTo>
                <a:lnTo>
                  <a:pt x="2645005" y="175860"/>
                </a:lnTo>
                <a:lnTo>
                  <a:pt x="2547206" y="202209"/>
                </a:lnTo>
                <a:lnTo>
                  <a:pt x="2449741" y="229767"/>
                </a:lnTo>
                <a:lnTo>
                  <a:pt x="2352626" y="258529"/>
                </a:lnTo>
                <a:lnTo>
                  <a:pt x="2255875" y="288493"/>
                </a:lnTo>
                <a:lnTo>
                  <a:pt x="2224777" y="283782"/>
                </a:lnTo>
                <a:lnTo>
                  <a:pt x="2193330" y="279506"/>
                </a:lnTo>
                <a:lnTo>
                  <a:pt x="2161651" y="275519"/>
                </a:lnTo>
                <a:lnTo>
                  <a:pt x="2129855" y="271678"/>
                </a:lnTo>
                <a:lnTo>
                  <a:pt x="2098060" y="267836"/>
                </a:lnTo>
                <a:lnTo>
                  <a:pt x="2066380" y="263850"/>
                </a:lnTo>
                <a:lnTo>
                  <a:pt x="2034934" y="259573"/>
                </a:lnTo>
                <a:lnTo>
                  <a:pt x="2003835" y="254863"/>
                </a:lnTo>
                <a:lnTo>
                  <a:pt x="1981021" y="251163"/>
                </a:lnTo>
                <a:lnTo>
                  <a:pt x="1958212" y="247329"/>
                </a:lnTo>
                <a:lnTo>
                  <a:pt x="1935449" y="243237"/>
                </a:lnTo>
                <a:lnTo>
                  <a:pt x="1912774" y="238761"/>
                </a:lnTo>
                <a:lnTo>
                  <a:pt x="1890229" y="233777"/>
                </a:lnTo>
                <a:lnTo>
                  <a:pt x="1867857" y="228160"/>
                </a:lnTo>
                <a:lnTo>
                  <a:pt x="1845699" y="221786"/>
                </a:lnTo>
                <a:lnTo>
                  <a:pt x="1823796" y="214530"/>
                </a:lnTo>
                <a:lnTo>
                  <a:pt x="1811014" y="209813"/>
                </a:lnTo>
                <a:lnTo>
                  <a:pt x="1798307" y="204875"/>
                </a:lnTo>
                <a:lnTo>
                  <a:pt x="1785633" y="199839"/>
                </a:lnTo>
                <a:lnTo>
                  <a:pt x="1772954" y="194832"/>
                </a:lnTo>
                <a:lnTo>
                  <a:pt x="1760227" y="189976"/>
                </a:lnTo>
                <a:lnTo>
                  <a:pt x="1747415" y="185398"/>
                </a:lnTo>
                <a:lnTo>
                  <a:pt x="1734475" y="181221"/>
                </a:lnTo>
                <a:lnTo>
                  <a:pt x="1721369" y="177570"/>
                </a:lnTo>
                <a:lnTo>
                  <a:pt x="1709341" y="174797"/>
                </a:lnTo>
                <a:lnTo>
                  <a:pt x="1697221" y="172501"/>
                </a:lnTo>
                <a:lnTo>
                  <a:pt x="1685026" y="170609"/>
                </a:lnTo>
                <a:lnTo>
                  <a:pt x="1672772" y="169045"/>
                </a:lnTo>
                <a:lnTo>
                  <a:pt x="1660476" y="167736"/>
                </a:lnTo>
                <a:lnTo>
                  <a:pt x="1648154" y="166607"/>
                </a:lnTo>
                <a:lnTo>
                  <a:pt x="1635823" y="165583"/>
                </a:lnTo>
                <a:lnTo>
                  <a:pt x="1623498" y="164591"/>
                </a:lnTo>
                <a:lnTo>
                  <a:pt x="1593049" y="161957"/>
                </a:lnTo>
                <a:lnTo>
                  <a:pt x="1562624" y="158956"/>
                </a:lnTo>
                <a:lnTo>
                  <a:pt x="1532248" y="155509"/>
                </a:lnTo>
                <a:lnTo>
                  <a:pt x="1501946" y="151536"/>
                </a:lnTo>
                <a:lnTo>
                  <a:pt x="1471744" y="146955"/>
                </a:lnTo>
                <a:lnTo>
                  <a:pt x="1441665" y="141687"/>
                </a:lnTo>
                <a:lnTo>
                  <a:pt x="1411737" y="135651"/>
                </a:lnTo>
                <a:lnTo>
                  <a:pt x="1381982" y="128768"/>
                </a:lnTo>
                <a:lnTo>
                  <a:pt x="1368300" y="125293"/>
                </a:lnTo>
                <a:lnTo>
                  <a:pt x="1354645" y="121698"/>
                </a:lnTo>
                <a:lnTo>
                  <a:pt x="1341001" y="118060"/>
                </a:lnTo>
                <a:lnTo>
                  <a:pt x="1327350" y="114457"/>
                </a:lnTo>
                <a:lnTo>
                  <a:pt x="1313675" y="110965"/>
                </a:lnTo>
                <a:lnTo>
                  <a:pt x="1299960" y="107662"/>
                </a:lnTo>
                <a:lnTo>
                  <a:pt x="1286188" y="104624"/>
                </a:lnTo>
                <a:lnTo>
                  <a:pt x="1272341" y="101930"/>
                </a:lnTo>
                <a:lnTo>
                  <a:pt x="1252555" y="98798"/>
                </a:lnTo>
                <a:lnTo>
                  <a:pt x="1232675" y="96437"/>
                </a:lnTo>
                <a:lnTo>
                  <a:pt x="1212721" y="94754"/>
                </a:lnTo>
                <a:lnTo>
                  <a:pt x="1192709" y="93658"/>
                </a:lnTo>
                <a:lnTo>
                  <a:pt x="1172658" y="93058"/>
                </a:lnTo>
                <a:lnTo>
                  <a:pt x="1152587" y="92863"/>
                </a:lnTo>
                <a:lnTo>
                  <a:pt x="1132512" y="92981"/>
                </a:lnTo>
                <a:lnTo>
                  <a:pt x="1112454" y="93322"/>
                </a:lnTo>
                <a:lnTo>
                  <a:pt x="1002296" y="97591"/>
                </a:lnTo>
                <a:lnTo>
                  <a:pt x="892358" y="105745"/>
                </a:lnTo>
                <a:lnTo>
                  <a:pt x="782776" y="117761"/>
                </a:lnTo>
                <a:lnTo>
                  <a:pt x="673683" y="133617"/>
                </a:lnTo>
                <a:lnTo>
                  <a:pt x="565214" y="153292"/>
                </a:lnTo>
                <a:lnTo>
                  <a:pt x="457506" y="176763"/>
                </a:lnTo>
                <a:lnTo>
                  <a:pt x="350691" y="204010"/>
                </a:lnTo>
                <a:lnTo>
                  <a:pt x="244906" y="235009"/>
                </a:lnTo>
                <a:lnTo>
                  <a:pt x="240576" y="236325"/>
                </a:lnTo>
                <a:lnTo>
                  <a:pt x="235774" y="237722"/>
                </a:lnTo>
                <a:lnTo>
                  <a:pt x="230654" y="239157"/>
                </a:lnTo>
                <a:lnTo>
                  <a:pt x="225369" y="240592"/>
                </a:lnTo>
                <a:lnTo>
                  <a:pt x="220073" y="241984"/>
                </a:lnTo>
                <a:lnTo>
                  <a:pt x="214919" y="243294"/>
                </a:lnTo>
                <a:lnTo>
                  <a:pt x="210061" y="244481"/>
                </a:lnTo>
                <a:lnTo>
                  <a:pt x="205652" y="245504"/>
                </a:lnTo>
                <a:lnTo>
                  <a:pt x="179945" y="251273"/>
                </a:lnTo>
                <a:lnTo>
                  <a:pt x="154238" y="257041"/>
                </a:lnTo>
                <a:lnTo>
                  <a:pt x="128531" y="262811"/>
                </a:lnTo>
                <a:lnTo>
                  <a:pt x="102824" y="268580"/>
                </a:lnTo>
                <a:lnTo>
                  <a:pt x="77118" y="274350"/>
                </a:lnTo>
                <a:lnTo>
                  <a:pt x="51412" y="280120"/>
                </a:lnTo>
                <a:lnTo>
                  <a:pt x="25706" y="285890"/>
                </a:lnTo>
                <a:lnTo>
                  <a:pt x="0" y="291660"/>
                </a:lnTo>
              </a:path>
            </a:pathLst>
          </a:custGeom>
          <a:noFill/>
          <a:ln w="82550">
            <a:solidFill>
              <a:srgbClr val="FFFFFF"/>
            </a:solidFill>
          </a:ln>
        </p:spPr>
        <p:txBody>
          <a:bodyPr rtlCol="0" anchor="ctr"/>
          <a:lstStyle/>
          <a:p>
            <a:pPr algn="ctr"/>
          </a:p>
        </p:txBody>
      </p:sp>
      <p:sp>
        <p:nvSpPr>
          <p:cNvPr id="8" name="Freeform 7"/>
          <p:cNvSpPr/>
          <p:nvPr/>
        </p:nvSpPr>
        <p:spPr>
          <a:xfrm>
            <a:off x="647340" y="2113850"/>
            <a:ext cx="4548574" cy="291660"/>
          </a:xfrm>
          <a:custGeom>
            <a:avLst/>
            <a:gdLst/>
            <a:ahLst/>
            <a:cxnLst/>
            <a:rect l="l" t="t" r="r" b="b"/>
            <a:pathLst>
              <a:path w="4548574" h="291660">
                <a:moveTo>
                  <a:pt x="4548574" y="251437"/>
                </a:moveTo>
                <a:lnTo>
                  <a:pt x="4527602" y="245375"/>
                </a:lnTo>
                <a:lnTo>
                  <a:pt x="4507311" y="237534"/>
                </a:lnTo>
                <a:lnTo>
                  <a:pt x="4487585" y="228240"/>
                </a:lnTo>
                <a:lnTo>
                  <a:pt x="4468309" y="217815"/>
                </a:lnTo>
                <a:lnTo>
                  <a:pt x="4449368" y="206584"/>
                </a:lnTo>
                <a:lnTo>
                  <a:pt x="4430646" y="194870"/>
                </a:lnTo>
                <a:lnTo>
                  <a:pt x="4412029" y="182997"/>
                </a:lnTo>
                <a:lnTo>
                  <a:pt x="4393401" y="171288"/>
                </a:lnTo>
                <a:lnTo>
                  <a:pt x="4320770" y="130667"/>
                </a:lnTo>
                <a:lnTo>
                  <a:pt x="4245203" y="96199"/>
                </a:lnTo>
                <a:lnTo>
                  <a:pt x="4167161" y="67560"/>
                </a:lnTo>
                <a:lnTo>
                  <a:pt x="4087106" y="44425"/>
                </a:lnTo>
                <a:lnTo>
                  <a:pt x="4005500" y="26472"/>
                </a:lnTo>
                <a:lnTo>
                  <a:pt x="3922805" y="13376"/>
                </a:lnTo>
                <a:lnTo>
                  <a:pt x="3839481" y="4813"/>
                </a:lnTo>
                <a:lnTo>
                  <a:pt x="3755990" y="461"/>
                </a:lnTo>
                <a:lnTo>
                  <a:pt x="3665685" y="0"/>
                </a:lnTo>
                <a:lnTo>
                  <a:pt x="3575514" y="3446"/>
                </a:lnTo>
                <a:lnTo>
                  <a:pt x="3485511" y="10378"/>
                </a:lnTo>
                <a:lnTo>
                  <a:pt x="3395712" y="20377"/>
                </a:lnTo>
                <a:lnTo>
                  <a:pt x="3306151" y="33023"/>
                </a:lnTo>
                <a:lnTo>
                  <a:pt x="3216863" y="47895"/>
                </a:lnTo>
                <a:lnTo>
                  <a:pt x="3127883" y="64572"/>
                </a:lnTo>
                <a:lnTo>
                  <a:pt x="3039245" y="82636"/>
                </a:lnTo>
                <a:lnTo>
                  <a:pt x="2940258" y="104108"/>
                </a:lnTo>
                <a:lnTo>
                  <a:pt x="2841546" y="126806"/>
                </a:lnTo>
                <a:lnTo>
                  <a:pt x="2743123" y="150725"/>
                </a:lnTo>
                <a:lnTo>
                  <a:pt x="2645005" y="175860"/>
                </a:lnTo>
                <a:lnTo>
                  <a:pt x="2547206" y="202209"/>
                </a:lnTo>
                <a:lnTo>
                  <a:pt x="2449741" y="229767"/>
                </a:lnTo>
                <a:lnTo>
                  <a:pt x="2352626" y="258529"/>
                </a:lnTo>
                <a:lnTo>
                  <a:pt x="2255875" y="288493"/>
                </a:lnTo>
                <a:lnTo>
                  <a:pt x="2224777" y="283782"/>
                </a:lnTo>
                <a:lnTo>
                  <a:pt x="2193330" y="279506"/>
                </a:lnTo>
                <a:lnTo>
                  <a:pt x="2161651" y="275519"/>
                </a:lnTo>
                <a:lnTo>
                  <a:pt x="2129855" y="271678"/>
                </a:lnTo>
                <a:lnTo>
                  <a:pt x="2098060" y="267836"/>
                </a:lnTo>
                <a:lnTo>
                  <a:pt x="2066380" y="263850"/>
                </a:lnTo>
                <a:lnTo>
                  <a:pt x="2034934" y="259573"/>
                </a:lnTo>
                <a:lnTo>
                  <a:pt x="2003835" y="254863"/>
                </a:lnTo>
                <a:lnTo>
                  <a:pt x="1981021" y="251163"/>
                </a:lnTo>
                <a:lnTo>
                  <a:pt x="1958212" y="247329"/>
                </a:lnTo>
                <a:lnTo>
                  <a:pt x="1935449" y="243237"/>
                </a:lnTo>
                <a:lnTo>
                  <a:pt x="1912774" y="238761"/>
                </a:lnTo>
                <a:lnTo>
                  <a:pt x="1890229" y="233777"/>
                </a:lnTo>
                <a:lnTo>
                  <a:pt x="1867857" y="228160"/>
                </a:lnTo>
                <a:lnTo>
                  <a:pt x="1845699" y="221786"/>
                </a:lnTo>
                <a:lnTo>
                  <a:pt x="1823796" y="214530"/>
                </a:lnTo>
                <a:lnTo>
                  <a:pt x="1811014" y="209813"/>
                </a:lnTo>
                <a:lnTo>
                  <a:pt x="1798307" y="204875"/>
                </a:lnTo>
                <a:lnTo>
                  <a:pt x="1785633" y="199839"/>
                </a:lnTo>
                <a:lnTo>
                  <a:pt x="1772954" y="194832"/>
                </a:lnTo>
                <a:lnTo>
                  <a:pt x="1760227" y="189976"/>
                </a:lnTo>
                <a:lnTo>
                  <a:pt x="1747415" y="185398"/>
                </a:lnTo>
                <a:lnTo>
                  <a:pt x="1734475" y="181221"/>
                </a:lnTo>
                <a:lnTo>
                  <a:pt x="1721369" y="177570"/>
                </a:lnTo>
                <a:lnTo>
                  <a:pt x="1709341" y="174797"/>
                </a:lnTo>
                <a:lnTo>
                  <a:pt x="1697221" y="172501"/>
                </a:lnTo>
                <a:lnTo>
                  <a:pt x="1685026" y="170609"/>
                </a:lnTo>
                <a:lnTo>
                  <a:pt x="1672772" y="169045"/>
                </a:lnTo>
                <a:lnTo>
                  <a:pt x="1660476" y="167736"/>
                </a:lnTo>
                <a:lnTo>
                  <a:pt x="1648154" y="166607"/>
                </a:lnTo>
                <a:lnTo>
                  <a:pt x="1635823" y="165583"/>
                </a:lnTo>
                <a:lnTo>
                  <a:pt x="1623498" y="164591"/>
                </a:lnTo>
                <a:lnTo>
                  <a:pt x="1593049" y="161957"/>
                </a:lnTo>
                <a:lnTo>
                  <a:pt x="1562624" y="158956"/>
                </a:lnTo>
                <a:lnTo>
                  <a:pt x="1532248" y="155509"/>
                </a:lnTo>
                <a:lnTo>
                  <a:pt x="1501946" y="151536"/>
                </a:lnTo>
                <a:lnTo>
                  <a:pt x="1471744" y="146955"/>
                </a:lnTo>
                <a:lnTo>
                  <a:pt x="1441665" y="141687"/>
                </a:lnTo>
                <a:lnTo>
                  <a:pt x="1411737" y="135651"/>
                </a:lnTo>
                <a:lnTo>
                  <a:pt x="1381982" y="128768"/>
                </a:lnTo>
                <a:lnTo>
                  <a:pt x="1368300" y="125293"/>
                </a:lnTo>
                <a:lnTo>
                  <a:pt x="1354645" y="121698"/>
                </a:lnTo>
                <a:lnTo>
                  <a:pt x="1341001" y="118060"/>
                </a:lnTo>
                <a:lnTo>
                  <a:pt x="1327350" y="114457"/>
                </a:lnTo>
                <a:lnTo>
                  <a:pt x="1313675" y="110965"/>
                </a:lnTo>
                <a:lnTo>
                  <a:pt x="1299960" y="107662"/>
                </a:lnTo>
                <a:lnTo>
                  <a:pt x="1286188" y="104624"/>
                </a:lnTo>
                <a:lnTo>
                  <a:pt x="1272341" y="101930"/>
                </a:lnTo>
                <a:lnTo>
                  <a:pt x="1252555" y="98798"/>
                </a:lnTo>
                <a:lnTo>
                  <a:pt x="1232675" y="96437"/>
                </a:lnTo>
                <a:lnTo>
                  <a:pt x="1212721" y="94754"/>
                </a:lnTo>
                <a:lnTo>
                  <a:pt x="1192709" y="93658"/>
                </a:lnTo>
                <a:lnTo>
                  <a:pt x="1172658" y="93058"/>
                </a:lnTo>
                <a:lnTo>
                  <a:pt x="1152587" y="92863"/>
                </a:lnTo>
                <a:lnTo>
                  <a:pt x="1132512" y="92981"/>
                </a:lnTo>
                <a:lnTo>
                  <a:pt x="1112454" y="93322"/>
                </a:lnTo>
                <a:lnTo>
                  <a:pt x="1002296" y="97591"/>
                </a:lnTo>
                <a:lnTo>
                  <a:pt x="892358" y="105745"/>
                </a:lnTo>
                <a:lnTo>
                  <a:pt x="782776" y="117761"/>
                </a:lnTo>
                <a:lnTo>
                  <a:pt x="673683" y="133617"/>
                </a:lnTo>
                <a:lnTo>
                  <a:pt x="565214" y="153292"/>
                </a:lnTo>
                <a:lnTo>
                  <a:pt x="457506" y="176763"/>
                </a:lnTo>
                <a:lnTo>
                  <a:pt x="350691" y="204010"/>
                </a:lnTo>
                <a:lnTo>
                  <a:pt x="244906" y="235009"/>
                </a:lnTo>
                <a:lnTo>
                  <a:pt x="240576" y="236325"/>
                </a:lnTo>
                <a:lnTo>
                  <a:pt x="235774" y="237722"/>
                </a:lnTo>
                <a:lnTo>
                  <a:pt x="230654" y="239157"/>
                </a:lnTo>
                <a:lnTo>
                  <a:pt x="225369" y="240592"/>
                </a:lnTo>
                <a:lnTo>
                  <a:pt x="220073" y="241984"/>
                </a:lnTo>
                <a:lnTo>
                  <a:pt x="214919" y="243294"/>
                </a:lnTo>
                <a:lnTo>
                  <a:pt x="210061" y="244481"/>
                </a:lnTo>
                <a:lnTo>
                  <a:pt x="205652" y="245504"/>
                </a:lnTo>
                <a:lnTo>
                  <a:pt x="179945" y="251273"/>
                </a:lnTo>
                <a:lnTo>
                  <a:pt x="154238" y="257041"/>
                </a:lnTo>
                <a:lnTo>
                  <a:pt x="128531" y="262811"/>
                </a:lnTo>
                <a:lnTo>
                  <a:pt x="102824" y="268580"/>
                </a:lnTo>
                <a:lnTo>
                  <a:pt x="77118" y="274350"/>
                </a:lnTo>
                <a:lnTo>
                  <a:pt x="51412" y="280120"/>
                </a:lnTo>
                <a:lnTo>
                  <a:pt x="25706" y="285890"/>
                </a:lnTo>
                <a:lnTo>
                  <a:pt x="0" y="291660"/>
                </a:lnTo>
              </a:path>
            </a:pathLst>
          </a:custGeom>
          <a:noFill/>
          <a:ln w="44450">
            <a:solidFill>
              <a:srgbClr val="1F5FA8"/>
            </a:solidFill>
          </a:ln>
        </p:spPr>
        <p:txBody>
          <a:bodyPr rtlCol="0" anchor="ctr"/>
          <a:lstStyle/>
          <a:p>
            <a:pPr algn="ctr"/>
          </a:p>
        </p:txBody>
      </p:sp>
      <p:sp>
        <p:nvSpPr>
          <p:cNvPr id="9" name="Freeform 8"/>
          <p:cNvSpPr/>
          <p:nvPr/>
        </p:nvSpPr>
        <p:spPr>
          <a:xfrm>
            <a:off x="5198535" y="2428314"/>
            <a:ext cx="1391167" cy="507509"/>
          </a:xfrm>
          <a:custGeom>
            <a:avLst/>
            <a:gdLst/>
            <a:ahLst/>
            <a:cxnLst/>
            <a:rect l="l" t="t" r="r" b="b"/>
            <a:pathLst>
              <a:path w="1391167" h="507509">
                <a:moveTo>
                  <a:pt x="1391167" y="507509"/>
                </a:moveTo>
                <a:lnTo>
                  <a:pt x="1352404" y="470912"/>
                </a:lnTo>
                <a:lnTo>
                  <a:pt x="1310709" y="437699"/>
                </a:lnTo>
                <a:lnTo>
                  <a:pt x="1266406" y="408033"/>
                </a:lnTo>
                <a:lnTo>
                  <a:pt x="1219820" y="382078"/>
                </a:lnTo>
                <a:lnTo>
                  <a:pt x="1171274" y="359997"/>
                </a:lnTo>
                <a:lnTo>
                  <a:pt x="1121092" y="341954"/>
                </a:lnTo>
                <a:lnTo>
                  <a:pt x="1069598" y="328111"/>
                </a:lnTo>
                <a:lnTo>
                  <a:pt x="1017117" y="318634"/>
                </a:lnTo>
                <a:lnTo>
                  <a:pt x="1003423" y="316887"/>
                </a:lnTo>
                <a:lnTo>
                  <a:pt x="989696" y="315300"/>
                </a:lnTo>
                <a:lnTo>
                  <a:pt x="975962" y="313747"/>
                </a:lnTo>
                <a:lnTo>
                  <a:pt x="962249" y="312098"/>
                </a:lnTo>
                <a:lnTo>
                  <a:pt x="948581" y="310226"/>
                </a:lnTo>
                <a:lnTo>
                  <a:pt x="934984" y="308003"/>
                </a:lnTo>
                <a:lnTo>
                  <a:pt x="921486" y="305300"/>
                </a:lnTo>
                <a:lnTo>
                  <a:pt x="908112" y="301990"/>
                </a:lnTo>
                <a:lnTo>
                  <a:pt x="891474" y="296836"/>
                </a:lnTo>
                <a:lnTo>
                  <a:pt x="875171" y="290764"/>
                </a:lnTo>
                <a:lnTo>
                  <a:pt x="859127" y="283984"/>
                </a:lnTo>
                <a:lnTo>
                  <a:pt x="843261" y="276707"/>
                </a:lnTo>
                <a:lnTo>
                  <a:pt x="827496" y="269144"/>
                </a:lnTo>
                <a:lnTo>
                  <a:pt x="811754" y="261503"/>
                </a:lnTo>
                <a:lnTo>
                  <a:pt x="795956" y="253997"/>
                </a:lnTo>
                <a:lnTo>
                  <a:pt x="780024" y="246835"/>
                </a:lnTo>
                <a:lnTo>
                  <a:pt x="751320" y="235376"/>
                </a:lnTo>
                <a:lnTo>
                  <a:pt x="722121" y="225281"/>
                </a:lnTo>
                <a:lnTo>
                  <a:pt x="692567" y="216157"/>
                </a:lnTo>
                <a:lnTo>
                  <a:pt x="662798" y="207614"/>
                </a:lnTo>
                <a:lnTo>
                  <a:pt x="632954" y="199260"/>
                </a:lnTo>
                <a:lnTo>
                  <a:pt x="603173" y="190703"/>
                </a:lnTo>
                <a:lnTo>
                  <a:pt x="573595" y="181552"/>
                </a:lnTo>
                <a:lnTo>
                  <a:pt x="544360" y="171415"/>
                </a:lnTo>
                <a:lnTo>
                  <a:pt x="521581" y="162522"/>
                </a:lnTo>
                <a:lnTo>
                  <a:pt x="499055" y="153002"/>
                </a:lnTo>
                <a:lnTo>
                  <a:pt x="476695" y="143071"/>
                </a:lnTo>
                <a:lnTo>
                  <a:pt x="454413" y="132949"/>
                </a:lnTo>
                <a:lnTo>
                  <a:pt x="432121" y="122853"/>
                </a:lnTo>
                <a:lnTo>
                  <a:pt x="409732" y="113001"/>
                </a:lnTo>
                <a:lnTo>
                  <a:pt x="387158" y="103613"/>
                </a:lnTo>
                <a:lnTo>
                  <a:pt x="364311" y="94905"/>
                </a:lnTo>
                <a:lnTo>
                  <a:pt x="349343" y="89718"/>
                </a:lnTo>
                <a:lnTo>
                  <a:pt x="334265" y="84869"/>
                </a:lnTo>
                <a:lnTo>
                  <a:pt x="319095" y="80310"/>
                </a:lnTo>
                <a:lnTo>
                  <a:pt x="303848" y="75993"/>
                </a:lnTo>
                <a:lnTo>
                  <a:pt x="288543" y="71870"/>
                </a:lnTo>
                <a:lnTo>
                  <a:pt x="273195" y="67893"/>
                </a:lnTo>
                <a:lnTo>
                  <a:pt x="257822" y="64014"/>
                </a:lnTo>
                <a:lnTo>
                  <a:pt x="242439" y="60186"/>
                </a:lnTo>
                <a:lnTo>
                  <a:pt x="212135" y="52662"/>
                </a:lnTo>
                <a:lnTo>
                  <a:pt x="181830" y="45139"/>
                </a:lnTo>
                <a:lnTo>
                  <a:pt x="151525" y="37616"/>
                </a:lnTo>
                <a:lnTo>
                  <a:pt x="121220" y="30093"/>
                </a:lnTo>
                <a:lnTo>
                  <a:pt x="90915" y="22570"/>
                </a:lnTo>
                <a:lnTo>
                  <a:pt x="60610" y="15047"/>
                </a:lnTo>
                <a:lnTo>
                  <a:pt x="30305" y="7524"/>
                </a:lnTo>
                <a:lnTo>
                  <a:pt x="0" y="0"/>
                </a:lnTo>
              </a:path>
            </a:pathLst>
          </a:custGeom>
          <a:noFill/>
          <a:ln w="82550">
            <a:solidFill>
              <a:srgbClr val="FFFFFF"/>
            </a:solidFill>
          </a:ln>
        </p:spPr>
        <p:txBody>
          <a:bodyPr rtlCol="0" anchor="ctr"/>
          <a:lstStyle/>
          <a:p>
            <a:pPr algn="ctr"/>
          </a:p>
        </p:txBody>
      </p:sp>
      <p:sp>
        <p:nvSpPr>
          <p:cNvPr id="10" name="Freeform 9"/>
          <p:cNvSpPr/>
          <p:nvPr/>
        </p:nvSpPr>
        <p:spPr>
          <a:xfrm>
            <a:off x="5198535" y="2428314"/>
            <a:ext cx="1391167" cy="507509"/>
          </a:xfrm>
          <a:custGeom>
            <a:avLst/>
            <a:gdLst/>
            <a:ahLst/>
            <a:cxnLst/>
            <a:rect l="l" t="t" r="r" b="b"/>
            <a:pathLst>
              <a:path w="1391167" h="507509">
                <a:moveTo>
                  <a:pt x="1391167" y="507509"/>
                </a:moveTo>
                <a:lnTo>
                  <a:pt x="1352404" y="470912"/>
                </a:lnTo>
                <a:lnTo>
                  <a:pt x="1310709" y="437699"/>
                </a:lnTo>
                <a:lnTo>
                  <a:pt x="1266406" y="408033"/>
                </a:lnTo>
                <a:lnTo>
                  <a:pt x="1219820" y="382078"/>
                </a:lnTo>
                <a:lnTo>
                  <a:pt x="1171274" y="359997"/>
                </a:lnTo>
                <a:lnTo>
                  <a:pt x="1121092" y="341954"/>
                </a:lnTo>
                <a:lnTo>
                  <a:pt x="1069598" y="328111"/>
                </a:lnTo>
                <a:lnTo>
                  <a:pt x="1017117" y="318634"/>
                </a:lnTo>
                <a:lnTo>
                  <a:pt x="1003423" y="316887"/>
                </a:lnTo>
                <a:lnTo>
                  <a:pt x="989696" y="315300"/>
                </a:lnTo>
                <a:lnTo>
                  <a:pt x="975962" y="313747"/>
                </a:lnTo>
                <a:lnTo>
                  <a:pt x="962249" y="312098"/>
                </a:lnTo>
                <a:lnTo>
                  <a:pt x="948581" y="310226"/>
                </a:lnTo>
                <a:lnTo>
                  <a:pt x="934984" y="308003"/>
                </a:lnTo>
                <a:lnTo>
                  <a:pt x="921486" y="305300"/>
                </a:lnTo>
                <a:lnTo>
                  <a:pt x="908112" y="301990"/>
                </a:lnTo>
                <a:lnTo>
                  <a:pt x="891474" y="296836"/>
                </a:lnTo>
                <a:lnTo>
                  <a:pt x="875171" y="290764"/>
                </a:lnTo>
                <a:lnTo>
                  <a:pt x="859127" y="283984"/>
                </a:lnTo>
                <a:lnTo>
                  <a:pt x="843261" y="276707"/>
                </a:lnTo>
                <a:lnTo>
                  <a:pt x="827496" y="269144"/>
                </a:lnTo>
                <a:lnTo>
                  <a:pt x="811754" y="261503"/>
                </a:lnTo>
                <a:lnTo>
                  <a:pt x="795956" y="253997"/>
                </a:lnTo>
                <a:lnTo>
                  <a:pt x="780024" y="246835"/>
                </a:lnTo>
                <a:lnTo>
                  <a:pt x="751320" y="235376"/>
                </a:lnTo>
                <a:lnTo>
                  <a:pt x="722121" y="225281"/>
                </a:lnTo>
                <a:lnTo>
                  <a:pt x="692567" y="216157"/>
                </a:lnTo>
                <a:lnTo>
                  <a:pt x="662798" y="207614"/>
                </a:lnTo>
                <a:lnTo>
                  <a:pt x="632954" y="199260"/>
                </a:lnTo>
                <a:lnTo>
                  <a:pt x="603173" y="190703"/>
                </a:lnTo>
                <a:lnTo>
                  <a:pt x="573595" y="181552"/>
                </a:lnTo>
                <a:lnTo>
                  <a:pt x="544360" y="171415"/>
                </a:lnTo>
                <a:lnTo>
                  <a:pt x="521581" y="162522"/>
                </a:lnTo>
                <a:lnTo>
                  <a:pt x="499055" y="153002"/>
                </a:lnTo>
                <a:lnTo>
                  <a:pt x="476695" y="143071"/>
                </a:lnTo>
                <a:lnTo>
                  <a:pt x="454413" y="132949"/>
                </a:lnTo>
                <a:lnTo>
                  <a:pt x="432121" y="122853"/>
                </a:lnTo>
                <a:lnTo>
                  <a:pt x="409732" y="113001"/>
                </a:lnTo>
                <a:lnTo>
                  <a:pt x="387158" y="103613"/>
                </a:lnTo>
                <a:lnTo>
                  <a:pt x="364311" y="94905"/>
                </a:lnTo>
                <a:lnTo>
                  <a:pt x="349343" y="89718"/>
                </a:lnTo>
                <a:lnTo>
                  <a:pt x="334265" y="84869"/>
                </a:lnTo>
                <a:lnTo>
                  <a:pt x="319095" y="80310"/>
                </a:lnTo>
                <a:lnTo>
                  <a:pt x="303848" y="75993"/>
                </a:lnTo>
                <a:lnTo>
                  <a:pt x="288543" y="71870"/>
                </a:lnTo>
                <a:lnTo>
                  <a:pt x="273195" y="67893"/>
                </a:lnTo>
                <a:lnTo>
                  <a:pt x="257822" y="64014"/>
                </a:lnTo>
                <a:lnTo>
                  <a:pt x="242439" y="60186"/>
                </a:lnTo>
                <a:lnTo>
                  <a:pt x="212135" y="52662"/>
                </a:lnTo>
                <a:lnTo>
                  <a:pt x="181830" y="45139"/>
                </a:lnTo>
                <a:lnTo>
                  <a:pt x="151525" y="37616"/>
                </a:lnTo>
                <a:lnTo>
                  <a:pt x="121220" y="30093"/>
                </a:lnTo>
                <a:lnTo>
                  <a:pt x="90915" y="22570"/>
                </a:lnTo>
                <a:lnTo>
                  <a:pt x="60610" y="15047"/>
                </a:lnTo>
                <a:lnTo>
                  <a:pt x="30305" y="7524"/>
                </a:lnTo>
                <a:lnTo>
                  <a:pt x="0" y="0"/>
                </a:lnTo>
              </a:path>
            </a:pathLst>
          </a:custGeom>
          <a:noFill/>
          <a:ln w="44450">
            <a:solidFill>
              <a:srgbClr val="1F5FA8"/>
            </a:solidFill>
          </a:ln>
        </p:spPr>
        <p:txBody>
          <a:bodyPr rtlCol="0" anchor="ctr"/>
          <a:lstStyle/>
          <a:p>
            <a:pPr algn="ctr"/>
          </a:p>
        </p:txBody>
      </p:sp>
      <p:sp>
        <p:nvSpPr>
          <p:cNvPr id="11" name="Freeform 10"/>
          <p:cNvSpPr/>
          <p:nvPr/>
        </p:nvSpPr>
        <p:spPr>
          <a:xfrm>
            <a:off x="5976965" y="3318110"/>
            <a:ext cx="808152" cy="505120"/>
          </a:xfrm>
          <a:custGeom>
            <a:avLst/>
            <a:gdLst/>
            <a:ahLst/>
            <a:cxnLst/>
            <a:rect l="l" t="t" r="r" b="b"/>
            <a:pathLst>
              <a:path w="808152" h="505120">
                <a:moveTo>
                  <a:pt x="0" y="505120"/>
                </a:moveTo>
                <a:lnTo>
                  <a:pt x="11920" y="499693"/>
                </a:lnTo>
                <a:lnTo>
                  <a:pt x="23811" y="494151"/>
                </a:lnTo>
                <a:lnTo>
                  <a:pt x="35602" y="488406"/>
                </a:lnTo>
                <a:lnTo>
                  <a:pt x="47224" y="482370"/>
                </a:lnTo>
                <a:lnTo>
                  <a:pt x="58606" y="475954"/>
                </a:lnTo>
                <a:lnTo>
                  <a:pt x="69678" y="469071"/>
                </a:lnTo>
                <a:lnTo>
                  <a:pt x="80369" y="461631"/>
                </a:lnTo>
                <a:lnTo>
                  <a:pt x="90608" y="453547"/>
                </a:lnTo>
                <a:lnTo>
                  <a:pt x="97429" y="447521"/>
                </a:lnTo>
                <a:lnTo>
                  <a:pt x="104016" y="441245"/>
                </a:lnTo>
                <a:lnTo>
                  <a:pt x="110434" y="434787"/>
                </a:lnTo>
                <a:lnTo>
                  <a:pt x="116745" y="428214"/>
                </a:lnTo>
                <a:lnTo>
                  <a:pt x="123016" y="421595"/>
                </a:lnTo>
                <a:lnTo>
                  <a:pt x="129311" y="414999"/>
                </a:lnTo>
                <a:lnTo>
                  <a:pt x="135694" y="408493"/>
                </a:lnTo>
                <a:lnTo>
                  <a:pt x="142230" y="402146"/>
                </a:lnTo>
                <a:lnTo>
                  <a:pt x="164461" y="383261"/>
                </a:lnTo>
                <a:lnTo>
                  <a:pt x="188197" y="366299"/>
                </a:lnTo>
                <a:lnTo>
                  <a:pt x="212945" y="350626"/>
                </a:lnTo>
                <a:lnTo>
                  <a:pt x="238210" y="335611"/>
                </a:lnTo>
                <a:lnTo>
                  <a:pt x="263500" y="320621"/>
                </a:lnTo>
                <a:lnTo>
                  <a:pt x="288318" y="305024"/>
                </a:lnTo>
                <a:lnTo>
                  <a:pt x="312172" y="288187"/>
                </a:lnTo>
                <a:lnTo>
                  <a:pt x="334567" y="269478"/>
                </a:lnTo>
                <a:lnTo>
                  <a:pt x="340836" y="263538"/>
                </a:lnTo>
                <a:lnTo>
                  <a:pt x="347044" y="257487"/>
                </a:lnTo>
                <a:lnTo>
                  <a:pt x="353270" y="251451"/>
                </a:lnTo>
                <a:lnTo>
                  <a:pt x="359594" y="245554"/>
                </a:lnTo>
                <a:lnTo>
                  <a:pt x="366098" y="239919"/>
                </a:lnTo>
                <a:lnTo>
                  <a:pt x="372862" y="234673"/>
                </a:lnTo>
                <a:lnTo>
                  <a:pt x="379965" y="229938"/>
                </a:lnTo>
                <a:lnTo>
                  <a:pt x="387490" y="225840"/>
                </a:lnTo>
                <a:lnTo>
                  <a:pt x="392129" y="223770"/>
                </a:lnTo>
                <a:lnTo>
                  <a:pt x="396863" y="221931"/>
                </a:lnTo>
                <a:lnTo>
                  <a:pt x="401664" y="220261"/>
                </a:lnTo>
                <a:lnTo>
                  <a:pt x="406509" y="218694"/>
                </a:lnTo>
                <a:lnTo>
                  <a:pt x="411371" y="217166"/>
                </a:lnTo>
                <a:lnTo>
                  <a:pt x="416225" y="215614"/>
                </a:lnTo>
                <a:lnTo>
                  <a:pt x="421047" y="213974"/>
                </a:lnTo>
                <a:lnTo>
                  <a:pt x="425811" y="212182"/>
                </a:lnTo>
                <a:lnTo>
                  <a:pt x="435703" y="207696"/>
                </a:lnTo>
                <a:lnTo>
                  <a:pt x="445195" y="202462"/>
                </a:lnTo>
                <a:lnTo>
                  <a:pt x="454389" y="196666"/>
                </a:lnTo>
                <a:lnTo>
                  <a:pt x="463388" y="190495"/>
                </a:lnTo>
                <a:lnTo>
                  <a:pt x="472295" y="184137"/>
                </a:lnTo>
                <a:lnTo>
                  <a:pt x="481213" y="177778"/>
                </a:lnTo>
                <a:lnTo>
                  <a:pt x="490243" y="171605"/>
                </a:lnTo>
                <a:lnTo>
                  <a:pt x="499489" y="165806"/>
                </a:lnTo>
                <a:lnTo>
                  <a:pt x="509929" y="160029"/>
                </a:lnTo>
                <a:lnTo>
                  <a:pt x="520639" y="154672"/>
                </a:lnTo>
                <a:lnTo>
                  <a:pt x="531466" y="149511"/>
                </a:lnTo>
                <a:lnTo>
                  <a:pt x="542259" y="144324"/>
                </a:lnTo>
                <a:lnTo>
                  <a:pt x="552866" y="138888"/>
                </a:lnTo>
                <a:lnTo>
                  <a:pt x="563136" y="132979"/>
                </a:lnTo>
                <a:lnTo>
                  <a:pt x="572918" y="126373"/>
                </a:lnTo>
                <a:lnTo>
                  <a:pt x="582059" y="118848"/>
                </a:lnTo>
                <a:lnTo>
                  <a:pt x="586897" y="114123"/>
                </a:lnTo>
                <a:lnTo>
                  <a:pt x="591487" y="109161"/>
                </a:lnTo>
                <a:lnTo>
                  <a:pt x="595910" y="104036"/>
                </a:lnTo>
                <a:lnTo>
                  <a:pt x="600242" y="98822"/>
                </a:lnTo>
                <a:lnTo>
                  <a:pt x="604561" y="93595"/>
                </a:lnTo>
                <a:lnTo>
                  <a:pt x="608945" y="88430"/>
                </a:lnTo>
                <a:lnTo>
                  <a:pt x="613472" y="83400"/>
                </a:lnTo>
                <a:lnTo>
                  <a:pt x="618219" y="78582"/>
                </a:lnTo>
                <a:lnTo>
                  <a:pt x="638336" y="63024"/>
                </a:lnTo>
                <a:lnTo>
                  <a:pt x="660829" y="51468"/>
                </a:lnTo>
                <a:lnTo>
                  <a:pt x="685027" y="42733"/>
                </a:lnTo>
                <a:lnTo>
                  <a:pt x="710261" y="35637"/>
                </a:lnTo>
                <a:lnTo>
                  <a:pt x="735861" y="28997"/>
                </a:lnTo>
                <a:lnTo>
                  <a:pt x="761156" y="21632"/>
                </a:lnTo>
                <a:lnTo>
                  <a:pt x="785476" y="12360"/>
                </a:lnTo>
                <a:lnTo>
                  <a:pt x="808152" y="0"/>
                </a:lnTo>
              </a:path>
            </a:pathLst>
          </a:custGeom>
          <a:noFill/>
          <a:ln w="82550">
            <a:solidFill>
              <a:srgbClr val="FFFFFF"/>
            </a:solidFill>
          </a:ln>
        </p:spPr>
        <p:txBody>
          <a:bodyPr rtlCol="0" anchor="ctr"/>
          <a:lstStyle/>
          <a:p>
            <a:pPr algn="ctr"/>
          </a:p>
        </p:txBody>
      </p:sp>
      <p:sp>
        <p:nvSpPr>
          <p:cNvPr id="12" name="Freeform 11"/>
          <p:cNvSpPr/>
          <p:nvPr/>
        </p:nvSpPr>
        <p:spPr>
          <a:xfrm>
            <a:off x="5976965" y="3318110"/>
            <a:ext cx="808152" cy="505120"/>
          </a:xfrm>
          <a:custGeom>
            <a:avLst/>
            <a:gdLst/>
            <a:ahLst/>
            <a:cxnLst/>
            <a:rect l="l" t="t" r="r" b="b"/>
            <a:pathLst>
              <a:path w="808152" h="505120">
                <a:moveTo>
                  <a:pt x="0" y="505120"/>
                </a:moveTo>
                <a:lnTo>
                  <a:pt x="11920" y="499693"/>
                </a:lnTo>
                <a:lnTo>
                  <a:pt x="23811" y="494151"/>
                </a:lnTo>
                <a:lnTo>
                  <a:pt x="35602" y="488406"/>
                </a:lnTo>
                <a:lnTo>
                  <a:pt x="47224" y="482370"/>
                </a:lnTo>
                <a:lnTo>
                  <a:pt x="58606" y="475954"/>
                </a:lnTo>
                <a:lnTo>
                  <a:pt x="69678" y="469071"/>
                </a:lnTo>
                <a:lnTo>
                  <a:pt x="80369" y="461631"/>
                </a:lnTo>
                <a:lnTo>
                  <a:pt x="90608" y="453547"/>
                </a:lnTo>
                <a:lnTo>
                  <a:pt x="97429" y="447521"/>
                </a:lnTo>
                <a:lnTo>
                  <a:pt x="104016" y="441245"/>
                </a:lnTo>
                <a:lnTo>
                  <a:pt x="110434" y="434787"/>
                </a:lnTo>
                <a:lnTo>
                  <a:pt x="116745" y="428214"/>
                </a:lnTo>
                <a:lnTo>
                  <a:pt x="123016" y="421595"/>
                </a:lnTo>
                <a:lnTo>
                  <a:pt x="129311" y="414999"/>
                </a:lnTo>
                <a:lnTo>
                  <a:pt x="135694" y="408493"/>
                </a:lnTo>
                <a:lnTo>
                  <a:pt x="142230" y="402146"/>
                </a:lnTo>
                <a:lnTo>
                  <a:pt x="164461" y="383261"/>
                </a:lnTo>
                <a:lnTo>
                  <a:pt x="188197" y="366299"/>
                </a:lnTo>
                <a:lnTo>
                  <a:pt x="212945" y="350626"/>
                </a:lnTo>
                <a:lnTo>
                  <a:pt x="238210" y="335611"/>
                </a:lnTo>
                <a:lnTo>
                  <a:pt x="263500" y="320621"/>
                </a:lnTo>
                <a:lnTo>
                  <a:pt x="288318" y="305024"/>
                </a:lnTo>
                <a:lnTo>
                  <a:pt x="312172" y="288187"/>
                </a:lnTo>
                <a:lnTo>
                  <a:pt x="334567" y="269478"/>
                </a:lnTo>
                <a:lnTo>
                  <a:pt x="340836" y="263538"/>
                </a:lnTo>
                <a:lnTo>
                  <a:pt x="347044" y="257487"/>
                </a:lnTo>
                <a:lnTo>
                  <a:pt x="353270" y="251451"/>
                </a:lnTo>
                <a:lnTo>
                  <a:pt x="359594" y="245554"/>
                </a:lnTo>
                <a:lnTo>
                  <a:pt x="366098" y="239919"/>
                </a:lnTo>
                <a:lnTo>
                  <a:pt x="372862" y="234673"/>
                </a:lnTo>
                <a:lnTo>
                  <a:pt x="379965" y="229938"/>
                </a:lnTo>
                <a:lnTo>
                  <a:pt x="387490" y="225840"/>
                </a:lnTo>
                <a:lnTo>
                  <a:pt x="392129" y="223770"/>
                </a:lnTo>
                <a:lnTo>
                  <a:pt x="396863" y="221931"/>
                </a:lnTo>
                <a:lnTo>
                  <a:pt x="401664" y="220261"/>
                </a:lnTo>
                <a:lnTo>
                  <a:pt x="406509" y="218694"/>
                </a:lnTo>
                <a:lnTo>
                  <a:pt x="411371" y="217166"/>
                </a:lnTo>
                <a:lnTo>
                  <a:pt x="416225" y="215614"/>
                </a:lnTo>
                <a:lnTo>
                  <a:pt x="421047" y="213974"/>
                </a:lnTo>
                <a:lnTo>
                  <a:pt x="425811" y="212182"/>
                </a:lnTo>
                <a:lnTo>
                  <a:pt x="435703" y="207696"/>
                </a:lnTo>
                <a:lnTo>
                  <a:pt x="445195" y="202462"/>
                </a:lnTo>
                <a:lnTo>
                  <a:pt x="454389" y="196666"/>
                </a:lnTo>
                <a:lnTo>
                  <a:pt x="463388" y="190495"/>
                </a:lnTo>
                <a:lnTo>
                  <a:pt x="472295" y="184137"/>
                </a:lnTo>
                <a:lnTo>
                  <a:pt x="481213" y="177778"/>
                </a:lnTo>
                <a:lnTo>
                  <a:pt x="490243" y="171605"/>
                </a:lnTo>
                <a:lnTo>
                  <a:pt x="499489" y="165806"/>
                </a:lnTo>
                <a:lnTo>
                  <a:pt x="509929" y="160029"/>
                </a:lnTo>
                <a:lnTo>
                  <a:pt x="520639" y="154672"/>
                </a:lnTo>
                <a:lnTo>
                  <a:pt x="531466" y="149511"/>
                </a:lnTo>
                <a:lnTo>
                  <a:pt x="542259" y="144324"/>
                </a:lnTo>
                <a:lnTo>
                  <a:pt x="552866" y="138888"/>
                </a:lnTo>
                <a:lnTo>
                  <a:pt x="563136" y="132979"/>
                </a:lnTo>
                <a:lnTo>
                  <a:pt x="572918" y="126373"/>
                </a:lnTo>
                <a:lnTo>
                  <a:pt x="582059" y="118848"/>
                </a:lnTo>
                <a:lnTo>
                  <a:pt x="586897" y="114123"/>
                </a:lnTo>
                <a:lnTo>
                  <a:pt x="591487" y="109161"/>
                </a:lnTo>
                <a:lnTo>
                  <a:pt x="595910" y="104036"/>
                </a:lnTo>
                <a:lnTo>
                  <a:pt x="600242" y="98822"/>
                </a:lnTo>
                <a:lnTo>
                  <a:pt x="604561" y="93595"/>
                </a:lnTo>
                <a:lnTo>
                  <a:pt x="608945" y="88430"/>
                </a:lnTo>
                <a:lnTo>
                  <a:pt x="613472" y="83400"/>
                </a:lnTo>
                <a:lnTo>
                  <a:pt x="618219" y="78582"/>
                </a:lnTo>
                <a:lnTo>
                  <a:pt x="638336" y="63024"/>
                </a:lnTo>
                <a:lnTo>
                  <a:pt x="660829" y="51468"/>
                </a:lnTo>
                <a:lnTo>
                  <a:pt x="685027" y="42733"/>
                </a:lnTo>
                <a:lnTo>
                  <a:pt x="710261" y="35637"/>
                </a:lnTo>
                <a:lnTo>
                  <a:pt x="735861" y="28997"/>
                </a:lnTo>
                <a:lnTo>
                  <a:pt x="761156" y="21632"/>
                </a:lnTo>
                <a:lnTo>
                  <a:pt x="785476" y="12360"/>
                </a:lnTo>
                <a:lnTo>
                  <a:pt x="808152" y="0"/>
                </a:lnTo>
              </a:path>
            </a:pathLst>
          </a:custGeom>
          <a:noFill/>
          <a:ln w="44450">
            <a:solidFill>
              <a:srgbClr val="007C80"/>
            </a:solidFill>
          </a:ln>
        </p:spPr>
        <p:txBody>
          <a:bodyPr rtlCol="0" anchor="ctr"/>
          <a:lstStyle/>
          <a:p>
            <a:pPr algn="ctr"/>
          </a:p>
        </p:txBody>
      </p:sp>
      <p:sp>
        <p:nvSpPr>
          <p:cNvPr id="13" name="Oval 12"/>
          <p:cNvSpPr/>
          <p:nvPr/>
        </p:nvSpPr>
        <p:spPr>
          <a:xfrm>
            <a:off x="797101" y="2964077"/>
            <a:ext cx="1838632" cy="1361542"/>
          </a:xfrm>
          <a:prstGeom prst="ellipse">
            <a:avLst/>
          </a:prstGeom>
          <a:noFill/>
          <a:ln w="73025">
            <a:solidFill>
              <a:srgbClr val="FFFFFF"/>
            </a:solidFill>
          </a:ln>
          <a:effectLst/>
        </p:spPr>
        <p:txBody>
          <a:bodyPr rtlCol="0" anchor="ctr"/>
          <a:lstStyle/>
          <a:p/>
        </p:txBody>
      </p:sp>
      <p:sp>
        <p:nvSpPr>
          <p:cNvPr id="14" name="Oval 13"/>
          <p:cNvSpPr/>
          <p:nvPr/>
        </p:nvSpPr>
        <p:spPr>
          <a:xfrm>
            <a:off x="797101" y="2964077"/>
            <a:ext cx="1838632" cy="1361542"/>
          </a:xfrm>
          <a:prstGeom prst="ellipse">
            <a:avLst/>
          </a:prstGeom>
          <a:noFill/>
          <a:ln w="34925">
            <a:solidFill>
              <a:srgbClr val="262626"/>
            </a:solidFill>
            <a:prstDash val="dash"/>
          </a:ln>
          <a:effectLst/>
        </p:spPr>
        <p:txBody>
          <a:bodyPr rtlCol="0" anchor="ctr"/>
          <a:lstStyle/>
          <a:p/>
        </p:txBody>
      </p:sp>
      <p:sp>
        <p:nvSpPr>
          <p:cNvPr id="15" name="Oval 14"/>
          <p:cNvSpPr/>
          <p:nvPr/>
        </p:nvSpPr>
        <p:spPr>
          <a:xfrm>
            <a:off x="5560141" y="2416893"/>
            <a:ext cx="365760" cy="365760"/>
          </a:xfrm>
          <a:prstGeom prst="ellipse">
            <a:avLst/>
          </a:prstGeom>
          <a:solidFill>
            <a:srgbClr val="1F5FA8"/>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16" name="Oval 15"/>
          <p:cNvSpPr/>
          <p:nvPr/>
        </p:nvSpPr>
        <p:spPr>
          <a:xfrm>
            <a:off x="6488651" y="3379172"/>
            <a:ext cx="365760" cy="365760"/>
          </a:xfrm>
          <a:prstGeom prst="ellipse">
            <a:avLst/>
          </a:prstGeom>
          <a:solidFill>
            <a:srgbClr val="007C80"/>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17" name="Oval 16"/>
          <p:cNvSpPr/>
          <p:nvPr/>
        </p:nvSpPr>
        <p:spPr>
          <a:xfrm>
            <a:off x="1763366" y="3007508"/>
            <a:ext cx="365760" cy="365760"/>
          </a:xfrm>
          <a:prstGeom prst="ellipse">
            <a:avLst/>
          </a:prstGeom>
          <a:solidFill>
            <a:srgbClr val="262626"/>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18" name="TextBox 17"/>
          <p:cNvSpPr txBox="1"/>
          <p:nvPr/>
        </p:nvSpPr>
        <p:spPr>
          <a:xfrm>
            <a:off x="502920" y="5576600"/>
            <a:ext cx="8549640"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Harita 6.1 (s. 190) · 1-2-3: diri fay çizgilerinin üzerinde ya da hemen yanında</a:t>
            </a:r>
          </a:p>
        </p:txBody>
      </p:sp>
      <p:sp>
        <p:nvSpPr>
          <p:cNvPr id="19" name="TextBox 18"/>
          <p:cNvSpPr txBox="1"/>
          <p:nvPr/>
        </p:nvSpPr>
        <p:spPr>
          <a:xfrm>
            <a:off x="9281160" y="1216152"/>
            <a:ext cx="2407615" cy="731520"/>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A63A32"/>
                </a:solidFill>
                <a:latin typeface="Calibri"/>
              </a:rPr>
              <a:t>Programın andığı üç fay alanı</a:t>
            </a:r>
          </a:p>
        </p:txBody>
      </p:sp>
      <p:sp>
        <p:nvSpPr>
          <p:cNvPr id="20" name="Rounded Rectangle 19"/>
          <p:cNvSpPr/>
          <p:nvPr/>
        </p:nvSpPr>
        <p:spPr>
          <a:xfrm>
            <a:off x="9281160" y="2039112"/>
            <a:ext cx="2407615" cy="868680"/>
          </a:xfrm>
          <a:prstGeom prst="roundRect">
            <a:avLst>
              <a:gd name="adj" fmla="val 15000"/>
            </a:avLst>
          </a:prstGeom>
          <a:solidFill>
            <a:srgbClr val="E3F1E4"/>
          </a:solidFill>
          <a:ln>
            <a:noFill/>
          </a:ln>
          <a:effectLst/>
        </p:spPr>
        <p:txBody>
          <a:bodyPr rtlCol="0" anchor="ctr"/>
          <a:lstStyle/>
          <a:p/>
        </p:txBody>
      </p:sp>
      <p:sp>
        <p:nvSpPr>
          <p:cNvPr id="21" name="Oval 20"/>
          <p:cNvSpPr/>
          <p:nvPr/>
        </p:nvSpPr>
        <p:spPr>
          <a:xfrm>
            <a:off x="9372600" y="2272284"/>
            <a:ext cx="402336" cy="402336"/>
          </a:xfrm>
          <a:prstGeom prst="ellipse">
            <a:avLst/>
          </a:prstGeom>
          <a:solidFill>
            <a:srgbClr val="1F5FA8"/>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1</a:t>
            </a:r>
          </a:p>
        </p:txBody>
      </p:sp>
      <p:sp>
        <p:nvSpPr>
          <p:cNvPr id="22" name="TextBox 21"/>
          <p:cNvSpPr txBox="1"/>
          <p:nvPr/>
        </p:nvSpPr>
        <p:spPr>
          <a:xfrm>
            <a:off x="9848088" y="2039112"/>
            <a:ext cx="1767535" cy="8686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Kuzey Anadolu Fay Sistemi</a:t>
            </a:r>
          </a:p>
        </p:txBody>
      </p:sp>
      <p:sp>
        <p:nvSpPr>
          <p:cNvPr id="23" name="Rounded Rectangle 22"/>
          <p:cNvSpPr/>
          <p:nvPr/>
        </p:nvSpPr>
        <p:spPr>
          <a:xfrm>
            <a:off x="9281160" y="3017520"/>
            <a:ext cx="2407615" cy="868680"/>
          </a:xfrm>
          <a:prstGeom prst="roundRect">
            <a:avLst>
              <a:gd name="adj" fmla="val 15000"/>
            </a:avLst>
          </a:prstGeom>
          <a:solidFill>
            <a:srgbClr val="E3F1E4"/>
          </a:solidFill>
          <a:ln>
            <a:noFill/>
          </a:ln>
          <a:effectLst/>
        </p:spPr>
        <p:txBody>
          <a:bodyPr rtlCol="0" anchor="ctr"/>
          <a:lstStyle/>
          <a:p/>
        </p:txBody>
      </p:sp>
      <p:sp>
        <p:nvSpPr>
          <p:cNvPr id="24" name="Oval 23"/>
          <p:cNvSpPr/>
          <p:nvPr/>
        </p:nvSpPr>
        <p:spPr>
          <a:xfrm>
            <a:off x="9372600" y="3250692"/>
            <a:ext cx="402336" cy="402336"/>
          </a:xfrm>
          <a:prstGeom prst="ellipse">
            <a:avLst/>
          </a:prstGeom>
          <a:solidFill>
            <a:srgbClr val="007C80"/>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2</a:t>
            </a:r>
          </a:p>
        </p:txBody>
      </p:sp>
      <p:sp>
        <p:nvSpPr>
          <p:cNvPr id="25" name="TextBox 24"/>
          <p:cNvSpPr txBox="1"/>
          <p:nvPr/>
        </p:nvSpPr>
        <p:spPr>
          <a:xfrm>
            <a:off x="9848088" y="3017520"/>
            <a:ext cx="1767535" cy="868680"/>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262626"/>
                </a:solidFill>
                <a:latin typeface="Calibri"/>
              </a:rPr>
              <a:t>Doğu Anadolu Fay Sistemi</a:t>
            </a:r>
          </a:p>
        </p:txBody>
      </p:sp>
      <p:sp>
        <p:nvSpPr>
          <p:cNvPr id="26" name="Rounded Rectangle 25"/>
          <p:cNvSpPr/>
          <p:nvPr/>
        </p:nvSpPr>
        <p:spPr>
          <a:xfrm>
            <a:off x="9281160" y="3995928"/>
            <a:ext cx="2407615" cy="868680"/>
          </a:xfrm>
          <a:prstGeom prst="roundRect">
            <a:avLst>
              <a:gd name="adj" fmla="val 15000"/>
            </a:avLst>
          </a:prstGeom>
          <a:solidFill>
            <a:srgbClr val="E3F1E4"/>
          </a:solidFill>
          <a:ln>
            <a:noFill/>
          </a:ln>
          <a:effectLst/>
        </p:spPr>
        <p:txBody>
          <a:bodyPr rtlCol="0" anchor="ctr"/>
          <a:lstStyle/>
          <a:p/>
        </p:txBody>
      </p:sp>
      <p:sp>
        <p:nvSpPr>
          <p:cNvPr id="27" name="Oval 26"/>
          <p:cNvSpPr/>
          <p:nvPr/>
        </p:nvSpPr>
        <p:spPr>
          <a:xfrm>
            <a:off x="9372600" y="4229100"/>
            <a:ext cx="402336" cy="402336"/>
          </a:xfrm>
          <a:prstGeom prst="ellipse">
            <a:avLst/>
          </a:prstGeom>
          <a:solidFill>
            <a:srgbClr val="262626"/>
          </a:solidFill>
          <a:ln w="19050">
            <a:solidFill>
              <a:srgbClr val="FFFFFF"/>
            </a:solidFill>
          </a:ln>
          <a:effectLst/>
        </p:spPr>
        <p:txBody>
          <a:bodyPr rtlCol="0" anchor="ctr" wrap="none" lIns="0" rIns="0" tIns="0" bIns="0">
            <a:noAutofit/>
          </a:bodyPr>
          <a:lstStyle/>
          <a:p>
            <a:pPr algn="ctr">
              <a:spcBef>
                <a:spcPts val="0"/>
              </a:spcBef>
              <a:spcAft>
                <a:spcPts val="0"/>
              </a:spcAft>
            </a:pPr>
            <a:r>
              <a:rPr lang="tr-TR" sz="1700" b="1" i="0">
                <a:solidFill>
                  <a:srgbClr val="FFFFFF"/>
                </a:solidFill>
                <a:latin typeface="Calibri"/>
              </a:rPr>
              <a:t>3</a:t>
            </a:r>
          </a:p>
        </p:txBody>
      </p:sp>
      <p:sp>
        <p:nvSpPr>
          <p:cNvPr id="28" name="TextBox 27"/>
          <p:cNvSpPr txBox="1"/>
          <p:nvPr/>
        </p:nvSpPr>
        <p:spPr>
          <a:xfrm>
            <a:off x="9848088" y="3995928"/>
            <a:ext cx="1767535" cy="868680"/>
          </a:xfrm>
          <a:prstGeom prst="rect">
            <a:avLst/>
          </a:prstGeom>
          <a:noFill/>
        </p:spPr>
        <p:txBody>
          <a:bodyPr wrap="square" anchor="ctr" lIns="73152" rIns="73152" tIns="36576" bIns="36576">
            <a:noAutofit/>
          </a:bodyPr>
          <a:lstStyle/>
          <a:p>
            <a:pPr algn="l">
              <a:spcBef>
                <a:spcPts val="0"/>
              </a:spcBef>
              <a:spcAft>
                <a:spcPts val="0"/>
              </a:spcAft>
            </a:pPr>
            <a:r>
              <a:rPr lang="tr-TR" sz="1700" b="1" i="0">
                <a:solidFill>
                  <a:srgbClr val="262626"/>
                </a:solidFill>
                <a:latin typeface="Calibri"/>
              </a:rPr>
              <a:t>Batı Anadolu'daki fay hatları</a:t>
            </a:r>
          </a:p>
        </p:txBody>
      </p:sp>
      <p:sp>
        <p:nvSpPr>
          <p:cNvPr id="29" name="Rounded Rectangle 28"/>
          <p:cNvSpPr/>
          <p:nvPr/>
        </p:nvSpPr>
        <p:spPr>
          <a:xfrm>
            <a:off x="9281160" y="5020056"/>
            <a:ext cx="2407615" cy="1271016"/>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ctr">
              <a:spcBef>
                <a:spcPts val="0"/>
              </a:spcBef>
              <a:spcAft>
                <a:spcPts val="0"/>
              </a:spcAft>
            </a:pPr>
            <a:r>
              <a:rPr lang="tr-TR" sz="1700" b="1" i="0">
                <a:solidFill>
                  <a:srgbClr val="2E7D32"/>
                </a:solidFill>
                <a:latin typeface="Calibri"/>
              </a:rPr>
              <a:t>Kırmızı-mor (yüksek tehlike) kuşaklar diri fay çizgileri boyunca uzanır.</a:t>
            </a:r>
          </a:p>
        </p:txBody>
      </p:sp>
      <p:sp>
        <p:nvSpPr>
          <p:cNvPr id="30" name="TextBox 29"/>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1" name="Rounded Rectangle 30"/>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32" name="TextBox 31"/>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33 / 250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Örnek il: İstanbul</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İKİLİ</a:t>
            </a:r>
          </a:p>
        </p:txBody>
      </p:sp>
      <p:pic>
        <p:nvPicPr>
          <p:cNvPr id="6" name="Picture 5" descr="h30_harita61_marmara_s190.jpg"/>
          <p:cNvPicPr>
            <a:picLocks noChangeAspect="1"/>
          </p:cNvPicPr>
          <p:nvPr/>
        </p:nvPicPr>
        <p:blipFill>
          <a:blip r:embed="rId3"/>
          <a:stretch>
            <a:fillRect/>
          </a:stretch>
        </p:blipFill>
        <p:spPr>
          <a:xfrm>
            <a:off x="502920" y="1216152"/>
            <a:ext cx="7223760" cy="3038621"/>
          </a:xfrm>
          <a:prstGeom prst="rect">
            <a:avLst/>
          </a:prstGeom>
          <a:ln w="9525">
            <a:solidFill>
              <a:srgbClr val="D9D9D9"/>
            </a:solidFill>
          </a:ln>
        </p:spPr>
      </p:pic>
      <p:sp>
        <p:nvSpPr>
          <p:cNvPr id="7" name="Oval 6"/>
          <p:cNvSpPr/>
          <p:nvPr/>
        </p:nvSpPr>
        <p:spPr>
          <a:xfrm>
            <a:off x="3655080" y="2530169"/>
            <a:ext cx="201168" cy="201168"/>
          </a:xfrm>
          <a:prstGeom prst="ellipse">
            <a:avLst/>
          </a:prstGeom>
          <a:solidFill>
            <a:srgbClr val="FCC021"/>
          </a:solidFill>
          <a:ln w="25400">
            <a:solidFill>
              <a:srgbClr val="262626"/>
            </a:solidFill>
          </a:ln>
          <a:effectLst/>
        </p:spPr>
        <p:txBody>
          <a:bodyPr rtlCol="0" anchor="ctr"/>
          <a:lstStyle/>
          <a:p/>
        </p:txBody>
      </p:sp>
      <p:sp>
        <p:nvSpPr>
          <p:cNvPr id="8" name="TextBox 7"/>
          <p:cNvSpPr txBox="1"/>
          <p:nvPr/>
        </p:nvSpPr>
        <p:spPr>
          <a:xfrm>
            <a:off x="502920" y="4346213"/>
            <a:ext cx="1371600" cy="45720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767676"/>
                </a:solidFill>
                <a:latin typeface="Calibri"/>
              </a:rPr>
              <a:t>Lejant:</a:t>
            </a:r>
          </a:p>
        </p:txBody>
      </p:sp>
      <p:pic>
        <p:nvPicPr>
          <p:cNvPr id="9" name="Picture 8" descr="h30_harita61_lejant_s190.jpg"/>
          <p:cNvPicPr>
            <a:picLocks noChangeAspect="1"/>
          </p:cNvPicPr>
          <p:nvPr/>
        </p:nvPicPr>
        <p:blipFill>
          <a:blip r:embed="rId4"/>
          <a:stretch>
            <a:fillRect/>
          </a:stretch>
        </p:blipFill>
        <p:spPr>
          <a:xfrm>
            <a:off x="1783080" y="4346213"/>
            <a:ext cx="3875046" cy="566928"/>
          </a:xfrm>
          <a:prstGeom prst="rect">
            <a:avLst/>
          </a:prstGeom>
        </p:spPr>
      </p:pic>
      <p:sp>
        <p:nvSpPr>
          <p:cNvPr id="10" name="TextBox 9"/>
          <p:cNvSpPr txBox="1"/>
          <p:nvPr/>
        </p:nvSpPr>
        <p:spPr>
          <a:xfrm>
            <a:off x="502920" y="5925312"/>
            <a:ext cx="7223760"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Harita 6.1'in Marmara bölümü (s. 190) · sarı nokta: İstanbul il merkezi</a:t>
            </a:r>
          </a:p>
        </p:txBody>
      </p:sp>
      <p:sp>
        <p:nvSpPr>
          <p:cNvPr id="11" name="Rounded Rectangle 10"/>
          <p:cNvSpPr/>
          <p:nvPr/>
        </p:nvSpPr>
        <p:spPr>
          <a:xfrm>
            <a:off x="7955280" y="1216152"/>
            <a:ext cx="3733495" cy="161848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1" i="0">
                <a:solidFill>
                  <a:srgbClr val="262626"/>
                </a:solidFill>
                <a:latin typeface="Calibri"/>
              </a:rPr>
              <a:t>İstanbul'un Marmara kıyısı hangi tonda?</a:t>
            </a:r>
          </a:p>
        </p:txBody>
      </p:sp>
      <p:sp>
        <p:nvSpPr>
          <p:cNvPr id="12" name="Rounded Rectangle 11"/>
          <p:cNvSpPr/>
          <p:nvPr/>
        </p:nvSpPr>
        <p:spPr>
          <a:xfrm>
            <a:off x="7955280" y="2944368"/>
            <a:ext cx="3733495" cy="161848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1" i="0">
                <a:solidFill>
                  <a:srgbClr val="262626"/>
                </a:solidFill>
                <a:latin typeface="Calibri"/>
              </a:rPr>
              <a:t>Kuzeye, Karadeniz'e doğru ton nasıl değişiyor?</a:t>
            </a:r>
          </a:p>
        </p:txBody>
      </p:sp>
      <p:sp>
        <p:nvSpPr>
          <p:cNvPr id="13" name="Rounded Rectangle 12"/>
          <p:cNvSpPr/>
          <p:nvPr/>
        </p:nvSpPr>
        <p:spPr>
          <a:xfrm>
            <a:off x="7955280" y="4672584"/>
            <a:ext cx="3733495" cy="161848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000" b="1" i="0">
                <a:solidFill>
                  <a:srgbClr val="262626"/>
                </a:solidFill>
                <a:latin typeface="Calibri"/>
              </a:rPr>
              <a:t>İstanbul'un güneyinden geçen çizgi ne?</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34 / 250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Örnek il: İstanbul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30_harita61_marmara_s190.jpg"/>
          <p:cNvPicPr>
            <a:picLocks noChangeAspect="1"/>
          </p:cNvPicPr>
          <p:nvPr/>
        </p:nvPicPr>
        <p:blipFill>
          <a:blip r:embed="rId3"/>
          <a:stretch>
            <a:fillRect/>
          </a:stretch>
        </p:blipFill>
        <p:spPr>
          <a:xfrm>
            <a:off x="502920" y="1216152"/>
            <a:ext cx="7223760" cy="3038621"/>
          </a:xfrm>
          <a:prstGeom prst="rect">
            <a:avLst/>
          </a:prstGeom>
          <a:ln w="9525">
            <a:solidFill>
              <a:srgbClr val="D9D9D9"/>
            </a:solidFill>
          </a:ln>
        </p:spPr>
      </p:pic>
      <p:sp>
        <p:nvSpPr>
          <p:cNvPr id="7" name="Freeform 6"/>
          <p:cNvSpPr/>
          <p:nvPr/>
        </p:nvSpPr>
        <p:spPr>
          <a:xfrm>
            <a:off x="661136" y="2747762"/>
            <a:ext cx="6982424" cy="506804"/>
          </a:xfrm>
          <a:custGeom>
            <a:avLst/>
            <a:gdLst/>
            <a:ahLst/>
            <a:cxnLst/>
            <a:rect l="l" t="t" r="r" b="b"/>
            <a:pathLst>
              <a:path w="6982424" h="506804">
                <a:moveTo>
                  <a:pt x="6982424" y="0"/>
                </a:moveTo>
                <a:lnTo>
                  <a:pt x="6784557" y="40313"/>
                </a:lnTo>
                <a:lnTo>
                  <a:pt x="6563587" y="88235"/>
                </a:lnTo>
                <a:lnTo>
                  <a:pt x="6343230" y="138890"/>
                </a:lnTo>
                <a:lnTo>
                  <a:pt x="6123519" y="192271"/>
                </a:lnTo>
                <a:lnTo>
                  <a:pt x="5904488" y="248367"/>
                </a:lnTo>
                <a:lnTo>
                  <a:pt x="5686169" y="307171"/>
                </a:lnTo>
                <a:lnTo>
                  <a:pt x="5468597" y="368672"/>
                </a:lnTo>
                <a:lnTo>
                  <a:pt x="5251805" y="432863"/>
                </a:lnTo>
                <a:lnTo>
                  <a:pt x="5035826" y="499735"/>
                </a:lnTo>
                <a:lnTo>
                  <a:pt x="4966405" y="489222"/>
                </a:lnTo>
                <a:lnTo>
                  <a:pt x="4896206" y="479678"/>
                </a:lnTo>
                <a:lnTo>
                  <a:pt x="4825488" y="470781"/>
                </a:lnTo>
                <a:lnTo>
                  <a:pt x="4754510" y="462208"/>
                </a:lnTo>
                <a:lnTo>
                  <a:pt x="4683533" y="453634"/>
                </a:lnTo>
                <a:lnTo>
                  <a:pt x="4612815" y="444737"/>
                </a:lnTo>
                <a:lnTo>
                  <a:pt x="4542615" y="435194"/>
                </a:lnTo>
                <a:lnTo>
                  <a:pt x="4473194" y="424680"/>
                </a:lnTo>
                <a:lnTo>
                  <a:pt x="4422266" y="416424"/>
                </a:lnTo>
                <a:lnTo>
                  <a:pt x="4371347" y="407868"/>
                </a:lnTo>
                <a:lnTo>
                  <a:pt x="4320533" y="398735"/>
                </a:lnTo>
                <a:lnTo>
                  <a:pt x="4269916" y="388746"/>
                </a:lnTo>
                <a:lnTo>
                  <a:pt x="4219590" y="377623"/>
                </a:lnTo>
                <a:lnTo>
                  <a:pt x="4169647" y="365088"/>
                </a:lnTo>
                <a:lnTo>
                  <a:pt x="4120183" y="350862"/>
                </a:lnTo>
                <a:lnTo>
                  <a:pt x="4071289" y="334668"/>
                </a:lnTo>
                <a:lnTo>
                  <a:pt x="4042756" y="324141"/>
                </a:lnTo>
                <a:lnTo>
                  <a:pt x="4014389" y="313120"/>
                </a:lnTo>
                <a:lnTo>
                  <a:pt x="3986098" y="301882"/>
                </a:lnTo>
                <a:lnTo>
                  <a:pt x="3957793" y="290706"/>
                </a:lnTo>
                <a:lnTo>
                  <a:pt x="3929384" y="279870"/>
                </a:lnTo>
                <a:lnTo>
                  <a:pt x="3900782" y="269652"/>
                </a:lnTo>
                <a:lnTo>
                  <a:pt x="3871897" y="260330"/>
                </a:lnTo>
                <a:lnTo>
                  <a:pt x="3842639" y="252182"/>
                </a:lnTo>
                <a:lnTo>
                  <a:pt x="3815789" y="245994"/>
                </a:lnTo>
                <a:lnTo>
                  <a:pt x="3788734" y="240871"/>
                </a:lnTo>
                <a:lnTo>
                  <a:pt x="3761511" y="236647"/>
                </a:lnTo>
                <a:lnTo>
                  <a:pt x="3734157" y="233158"/>
                </a:lnTo>
                <a:lnTo>
                  <a:pt x="3706708" y="230235"/>
                </a:lnTo>
                <a:lnTo>
                  <a:pt x="3679201" y="227715"/>
                </a:lnTo>
                <a:lnTo>
                  <a:pt x="3651674" y="225431"/>
                </a:lnTo>
                <a:lnTo>
                  <a:pt x="3624161" y="223216"/>
                </a:lnTo>
                <a:lnTo>
                  <a:pt x="3556188" y="217338"/>
                </a:lnTo>
                <a:lnTo>
                  <a:pt x="3488270" y="210642"/>
                </a:lnTo>
                <a:lnTo>
                  <a:pt x="3420461" y="202949"/>
                </a:lnTo>
                <a:lnTo>
                  <a:pt x="3352818" y="194081"/>
                </a:lnTo>
                <a:lnTo>
                  <a:pt x="3285397" y="183857"/>
                </a:lnTo>
                <a:lnTo>
                  <a:pt x="3218253" y="172100"/>
                </a:lnTo>
                <a:lnTo>
                  <a:pt x="3151442" y="158630"/>
                </a:lnTo>
                <a:lnTo>
                  <a:pt x="3085021" y="143268"/>
                </a:lnTo>
                <a:lnTo>
                  <a:pt x="3054478" y="135513"/>
                </a:lnTo>
                <a:lnTo>
                  <a:pt x="3023996" y="127490"/>
                </a:lnTo>
                <a:lnTo>
                  <a:pt x="2993537" y="119371"/>
                </a:lnTo>
                <a:lnTo>
                  <a:pt x="2963064" y="111330"/>
                </a:lnTo>
                <a:lnTo>
                  <a:pt x="2932538" y="103537"/>
                </a:lnTo>
                <a:lnTo>
                  <a:pt x="2901922" y="96165"/>
                </a:lnTo>
                <a:lnTo>
                  <a:pt x="2871177" y="89386"/>
                </a:lnTo>
                <a:lnTo>
                  <a:pt x="2840266" y="83373"/>
                </a:lnTo>
                <a:lnTo>
                  <a:pt x="2796098" y="76384"/>
                </a:lnTo>
                <a:lnTo>
                  <a:pt x="2751721" y="71114"/>
                </a:lnTo>
                <a:lnTo>
                  <a:pt x="2707176" y="67358"/>
                </a:lnTo>
                <a:lnTo>
                  <a:pt x="2662504" y="64912"/>
                </a:lnTo>
                <a:lnTo>
                  <a:pt x="2617744" y="63574"/>
                </a:lnTo>
                <a:lnTo>
                  <a:pt x="2572938" y="63138"/>
                </a:lnTo>
                <a:lnTo>
                  <a:pt x="2528126" y="63402"/>
                </a:lnTo>
                <a:lnTo>
                  <a:pt x="2483348" y="64162"/>
                </a:lnTo>
                <a:lnTo>
                  <a:pt x="2237441" y="73690"/>
                </a:lnTo>
                <a:lnTo>
                  <a:pt x="1992026" y="91887"/>
                </a:lnTo>
                <a:lnTo>
                  <a:pt x="1747402" y="118703"/>
                </a:lnTo>
                <a:lnTo>
                  <a:pt x="1503873" y="154091"/>
                </a:lnTo>
                <a:lnTo>
                  <a:pt x="1261737" y="198000"/>
                </a:lnTo>
                <a:lnTo>
                  <a:pt x="1021297" y="250383"/>
                </a:lnTo>
                <a:lnTo>
                  <a:pt x="782853" y="311190"/>
                </a:lnTo>
                <a:lnTo>
                  <a:pt x="546706" y="380372"/>
                </a:lnTo>
                <a:lnTo>
                  <a:pt x="537040" y="383310"/>
                </a:lnTo>
                <a:lnTo>
                  <a:pt x="526321" y="386426"/>
                </a:lnTo>
                <a:lnTo>
                  <a:pt x="514891" y="389630"/>
                </a:lnTo>
                <a:lnTo>
                  <a:pt x="503094" y="392831"/>
                </a:lnTo>
                <a:lnTo>
                  <a:pt x="491271" y="395939"/>
                </a:lnTo>
                <a:lnTo>
                  <a:pt x="479767" y="398862"/>
                </a:lnTo>
                <a:lnTo>
                  <a:pt x="468922" y="401511"/>
                </a:lnTo>
                <a:lnTo>
                  <a:pt x="459081" y="403794"/>
                </a:lnTo>
                <a:lnTo>
                  <a:pt x="401694" y="416668"/>
                </a:lnTo>
                <a:lnTo>
                  <a:pt x="344308" y="429543"/>
                </a:lnTo>
                <a:lnTo>
                  <a:pt x="286922" y="442419"/>
                </a:lnTo>
                <a:lnTo>
                  <a:pt x="229536" y="455295"/>
                </a:lnTo>
                <a:lnTo>
                  <a:pt x="172151" y="468172"/>
                </a:lnTo>
                <a:lnTo>
                  <a:pt x="114766" y="481049"/>
                </a:lnTo>
                <a:lnTo>
                  <a:pt x="57382" y="493926"/>
                </a:lnTo>
                <a:lnTo>
                  <a:pt x="0" y="506804"/>
                </a:lnTo>
              </a:path>
            </a:pathLst>
          </a:custGeom>
          <a:noFill/>
          <a:ln w="88900">
            <a:solidFill>
              <a:srgbClr val="FFFFFF"/>
            </a:solidFill>
          </a:ln>
        </p:spPr>
        <p:txBody>
          <a:bodyPr rtlCol="0" anchor="ctr"/>
          <a:lstStyle/>
          <a:p>
            <a:pPr algn="ctr"/>
          </a:p>
        </p:txBody>
      </p:sp>
      <p:sp>
        <p:nvSpPr>
          <p:cNvPr id="8" name="Freeform 7"/>
          <p:cNvSpPr/>
          <p:nvPr/>
        </p:nvSpPr>
        <p:spPr>
          <a:xfrm>
            <a:off x="661136" y="2747762"/>
            <a:ext cx="6982424" cy="506804"/>
          </a:xfrm>
          <a:custGeom>
            <a:avLst/>
            <a:gdLst/>
            <a:ahLst/>
            <a:cxnLst/>
            <a:rect l="l" t="t" r="r" b="b"/>
            <a:pathLst>
              <a:path w="6982424" h="506804">
                <a:moveTo>
                  <a:pt x="6982424" y="0"/>
                </a:moveTo>
                <a:lnTo>
                  <a:pt x="6784557" y="40313"/>
                </a:lnTo>
                <a:lnTo>
                  <a:pt x="6563587" y="88235"/>
                </a:lnTo>
                <a:lnTo>
                  <a:pt x="6343230" y="138890"/>
                </a:lnTo>
                <a:lnTo>
                  <a:pt x="6123519" y="192271"/>
                </a:lnTo>
                <a:lnTo>
                  <a:pt x="5904488" y="248367"/>
                </a:lnTo>
                <a:lnTo>
                  <a:pt x="5686169" y="307171"/>
                </a:lnTo>
                <a:lnTo>
                  <a:pt x="5468597" y="368672"/>
                </a:lnTo>
                <a:lnTo>
                  <a:pt x="5251805" y="432863"/>
                </a:lnTo>
                <a:lnTo>
                  <a:pt x="5035826" y="499735"/>
                </a:lnTo>
                <a:lnTo>
                  <a:pt x="4966405" y="489222"/>
                </a:lnTo>
                <a:lnTo>
                  <a:pt x="4896206" y="479678"/>
                </a:lnTo>
                <a:lnTo>
                  <a:pt x="4825488" y="470781"/>
                </a:lnTo>
                <a:lnTo>
                  <a:pt x="4754510" y="462208"/>
                </a:lnTo>
                <a:lnTo>
                  <a:pt x="4683533" y="453634"/>
                </a:lnTo>
                <a:lnTo>
                  <a:pt x="4612815" y="444737"/>
                </a:lnTo>
                <a:lnTo>
                  <a:pt x="4542615" y="435194"/>
                </a:lnTo>
                <a:lnTo>
                  <a:pt x="4473194" y="424680"/>
                </a:lnTo>
                <a:lnTo>
                  <a:pt x="4422266" y="416424"/>
                </a:lnTo>
                <a:lnTo>
                  <a:pt x="4371347" y="407868"/>
                </a:lnTo>
                <a:lnTo>
                  <a:pt x="4320533" y="398735"/>
                </a:lnTo>
                <a:lnTo>
                  <a:pt x="4269916" y="388746"/>
                </a:lnTo>
                <a:lnTo>
                  <a:pt x="4219590" y="377623"/>
                </a:lnTo>
                <a:lnTo>
                  <a:pt x="4169647" y="365088"/>
                </a:lnTo>
                <a:lnTo>
                  <a:pt x="4120183" y="350862"/>
                </a:lnTo>
                <a:lnTo>
                  <a:pt x="4071289" y="334668"/>
                </a:lnTo>
                <a:lnTo>
                  <a:pt x="4042756" y="324141"/>
                </a:lnTo>
                <a:lnTo>
                  <a:pt x="4014389" y="313120"/>
                </a:lnTo>
                <a:lnTo>
                  <a:pt x="3986098" y="301882"/>
                </a:lnTo>
                <a:lnTo>
                  <a:pt x="3957793" y="290706"/>
                </a:lnTo>
                <a:lnTo>
                  <a:pt x="3929384" y="279870"/>
                </a:lnTo>
                <a:lnTo>
                  <a:pt x="3900782" y="269652"/>
                </a:lnTo>
                <a:lnTo>
                  <a:pt x="3871897" y="260330"/>
                </a:lnTo>
                <a:lnTo>
                  <a:pt x="3842639" y="252182"/>
                </a:lnTo>
                <a:lnTo>
                  <a:pt x="3815789" y="245994"/>
                </a:lnTo>
                <a:lnTo>
                  <a:pt x="3788734" y="240871"/>
                </a:lnTo>
                <a:lnTo>
                  <a:pt x="3761511" y="236647"/>
                </a:lnTo>
                <a:lnTo>
                  <a:pt x="3734157" y="233158"/>
                </a:lnTo>
                <a:lnTo>
                  <a:pt x="3706708" y="230235"/>
                </a:lnTo>
                <a:lnTo>
                  <a:pt x="3679201" y="227715"/>
                </a:lnTo>
                <a:lnTo>
                  <a:pt x="3651674" y="225431"/>
                </a:lnTo>
                <a:lnTo>
                  <a:pt x="3624161" y="223216"/>
                </a:lnTo>
                <a:lnTo>
                  <a:pt x="3556188" y="217338"/>
                </a:lnTo>
                <a:lnTo>
                  <a:pt x="3488270" y="210642"/>
                </a:lnTo>
                <a:lnTo>
                  <a:pt x="3420461" y="202949"/>
                </a:lnTo>
                <a:lnTo>
                  <a:pt x="3352818" y="194081"/>
                </a:lnTo>
                <a:lnTo>
                  <a:pt x="3285397" y="183857"/>
                </a:lnTo>
                <a:lnTo>
                  <a:pt x="3218253" y="172100"/>
                </a:lnTo>
                <a:lnTo>
                  <a:pt x="3151442" y="158630"/>
                </a:lnTo>
                <a:lnTo>
                  <a:pt x="3085021" y="143268"/>
                </a:lnTo>
                <a:lnTo>
                  <a:pt x="3054478" y="135513"/>
                </a:lnTo>
                <a:lnTo>
                  <a:pt x="3023996" y="127490"/>
                </a:lnTo>
                <a:lnTo>
                  <a:pt x="2993537" y="119371"/>
                </a:lnTo>
                <a:lnTo>
                  <a:pt x="2963064" y="111330"/>
                </a:lnTo>
                <a:lnTo>
                  <a:pt x="2932538" y="103537"/>
                </a:lnTo>
                <a:lnTo>
                  <a:pt x="2901922" y="96165"/>
                </a:lnTo>
                <a:lnTo>
                  <a:pt x="2871177" y="89386"/>
                </a:lnTo>
                <a:lnTo>
                  <a:pt x="2840266" y="83373"/>
                </a:lnTo>
                <a:lnTo>
                  <a:pt x="2796098" y="76384"/>
                </a:lnTo>
                <a:lnTo>
                  <a:pt x="2751721" y="71114"/>
                </a:lnTo>
                <a:lnTo>
                  <a:pt x="2707176" y="67358"/>
                </a:lnTo>
                <a:lnTo>
                  <a:pt x="2662504" y="64912"/>
                </a:lnTo>
                <a:lnTo>
                  <a:pt x="2617744" y="63574"/>
                </a:lnTo>
                <a:lnTo>
                  <a:pt x="2572938" y="63138"/>
                </a:lnTo>
                <a:lnTo>
                  <a:pt x="2528126" y="63402"/>
                </a:lnTo>
                <a:lnTo>
                  <a:pt x="2483348" y="64162"/>
                </a:lnTo>
                <a:lnTo>
                  <a:pt x="2237441" y="73690"/>
                </a:lnTo>
                <a:lnTo>
                  <a:pt x="1992026" y="91887"/>
                </a:lnTo>
                <a:lnTo>
                  <a:pt x="1747402" y="118703"/>
                </a:lnTo>
                <a:lnTo>
                  <a:pt x="1503873" y="154091"/>
                </a:lnTo>
                <a:lnTo>
                  <a:pt x="1261737" y="198000"/>
                </a:lnTo>
                <a:lnTo>
                  <a:pt x="1021297" y="250383"/>
                </a:lnTo>
                <a:lnTo>
                  <a:pt x="782853" y="311190"/>
                </a:lnTo>
                <a:lnTo>
                  <a:pt x="546706" y="380372"/>
                </a:lnTo>
                <a:lnTo>
                  <a:pt x="537040" y="383310"/>
                </a:lnTo>
                <a:lnTo>
                  <a:pt x="526321" y="386426"/>
                </a:lnTo>
                <a:lnTo>
                  <a:pt x="514891" y="389630"/>
                </a:lnTo>
                <a:lnTo>
                  <a:pt x="503094" y="392831"/>
                </a:lnTo>
                <a:lnTo>
                  <a:pt x="491271" y="395939"/>
                </a:lnTo>
                <a:lnTo>
                  <a:pt x="479767" y="398862"/>
                </a:lnTo>
                <a:lnTo>
                  <a:pt x="468922" y="401511"/>
                </a:lnTo>
                <a:lnTo>
                  <a:pt x="459081" y="403794"/>
                </a:lnTo>
                <a:lnTo>
                  <a:pt x="401694" y="416668"/>
                </a:lnTo>
                <a:lnTo>
                  <a:pt x="344308" y="429543"/>
                </a:lnTo>
                <a:lnTo>
                  <a:pt x="286922" y="442419"/>
                </a:lnTo>
                <a:lnTo>
                  <a:pt x="229536" y="455295"/>
                </a:lnTo>
                <a:lnTo>
                  <a:pt x="172151" y="468172"/>
                </a:lnTo>
                <a:lnTo>
                  <a:pt x="114766" y="481049"/>
                </a:lnTo>
                <a:lnTo>
                  <a:pt x="57382" y="493926"/>
                </a:lnTo>
                <a:lnTo>
                  <a:pt x="0" y="506804"/>
                </a:lnTo>
              </a:path>
            </a:pathLst>
          </a:custGeom>
          <a:noFill/>
          <a:ln w="50800">
            <a:solidFill>
              <a:srgbClr val="1F5FA8"/>
            </a:solidFill>
          </a:ln>
        </p:spPr>
        <p:txBody>
          <a:bodyPr rtlCol="0" anchor="ctr"/>
          <a:lstStyle/>
          <a:p>
            <a:pPr algn="ctr"/>
          </a:p>
        </p:txBody>
      </p:sp>
      <p:sp>
        <p:nvSpPr>
          <p:cNvPr id="9" name="Oval 8"/>
          <p:cNvSpPr/>
          <p:nvPr/>
        </p:nvSpPr>
        <p:spPr>
          <a:xfrm>
            <a:off x="3655080" y="2530169"/>
            <a:ext cx="201168" cy="201168"/>
          </a:xfrm>
          <a:prstGeom prst="ellipse">
            <a:avLst/>
          </a:prstGeom>
          <a:solidFill>
            <a:srgbClr val="FCC021"/>
          </a:solidFill>
          <a:ln w="25400">
            <a:solidFill>
              <a:srgbClr val="262626"/>
            </a:solidFill>
          </a:ln>
          <a:effectLst/>
        </p:spPr>
        <p:txBody>
          <a:bodyPr rtlCol="0" anchor="ctr"/>
          <a:lstStyle/>
          <a:p/>
        </p:txBody>
      </p:sp>
      <p:sp>
        <p:nvSpPr>
          <p:cNvPr id="10" name="TextBox 9"/>
          <p:cNvSpPr txBox="1"/>
          <p:nvPr/>
        </p:nvSpPr>
        <p:spPr>
          <a:xfrm>
            <a:off x="502920" y="4346213"/>
            <a:ext cx="1371600" cy="457200"/>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767676"/>
                </a:solidFill>
                <a:latin typeface="Calibri"/>
              </a:rPr>
              <a:t>Lejant:</a:t>
            </a:r>
          </a:p>
        </p:txBody>
      </p:sp>
      <p:pic>
        <p:nvPicPr>
          <p:cNvPr id="11" name="Picture 10" descr="h30_harita61_lejant_s190.jpg"/>
          <p:cNvPicPr>
            <a:picLocks noChangeAspect="1"/>
          </p:cNvPicPr>
          <p:nvPr/>
        </p:nvPicPr>
        <p:blipFill>
          <a:blip r:embed="rId4"/>
          <a:stretch>
            <a:fillRect/>
          </a:stretch>
        </p:blipFill>
        <p:spPr>
          <a:xfrm>
            <a:off x="1783080" y="4346213"/>
            <a:ext cx="3875046" cy="566928"/>
          </a:xfrm>
          <a:prstGeom prst="rect">
            <a:avLst/>
          </a:prstGeom>
        </p:spPr>
      </p:pic>
      <p:sp>
        <p:nvSpPr>
          <p:cNvPr id="12" name="TextBox 11"/>
          <p:cNvSpPr txBox="1"/>
          <p:nvPr/>
        </p:nvSpPr>
        <p:spPr>
          <a:xfrm>
            <a:off x="502920" y="5925312"/>
            <a:ext cx="7223760" cy="310896"/>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Harita 6.1'in Marmara bölümü (s. 190) · sarı nokta: İstanbul il merkezi</a:t>
            </a:r>
          </a:p>
        </p:txBody>
      </p:sp>
      <p:sp>
        <p:nvSpPr>
          <p:cNvPr id="13" name="Rounded Rectangle 12"/>
          <p:cNvSpPr/>
          <p:nvPr/>
        </p:nvSpPr>
        <p:spPr>
          <a:xfrm>
            <a:off x="7955280" y="1216152"/>
            <a:ext cx="3733495" cy="1618488"/>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400"/>
              </a:spcAft>
            </a:pPr>
            <a:r>
              <a:rPr lang="tr-TR" sz="1700" b="1" i="0">
                <a:solidFill>
                  <a:srgbClr val="262626"/>
                </a:solidFill>
                <a:latin typeface="Calibri"/>
              </a:rPr>
              <a:t>İstanbul'un Marmara kıyısı hangi tonda?</a:t>
            </a:r>
          </a:p>
          <a:p>
            <a:pPr algn="l">
              <a:spcBef>
                <a:spcPts val="0"/>
              </a:spcBef>
              <a:spcAft>
                <a:spcPts val="0"/>
              </a:spcAft>
            </a:pPr>
            <a:r>
              <a:rPr lang="tr-TR" sz="1900" b="1" i="0">
                <a:solidFill>
                  <a:srgbClr val="2E7D32"/>
                </a:solidFill>
                <a:latin typeface="Calibri"/>
              </a:rPr>
              <a:t>Turuncu-kırmızı: yüksek tehlikeye yakın.</a:t>
            </a:r>
          </a:p>
        </p:txBody>
      </p:sp>
      <p:sp>
        <p:nvSpPr>
          <p:cNvPr id="14" name="Rounded Rectangle 13"/>
          <p:cNvSpPr/>
          <p:nvPr/>
        </p:nvSpPr>
        <p:spPr>
          <a:xfrm>
            <a:off x="7955280" y="2944368"/>
            <a:ext cx="3733495" cy="1618488"/>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400"/>
              </a:spcAft>
            </a:pPr>
            <a:r>
              <a:rPr lang="tr-TR" sz="1700" b="1" i="0">
                <a:solidFill>
                  <a:srgbClr val="262626"/>
                </a:solidFill>
                <a:latin typeface="Calibri"/>
              </a:rPr>
              <a:t>Kuzeye, Karadeniz'e doğru ton nasıl değişiyor?</a:t>
            </a:r>
          </a:p>
          <a:p>
            <a:pPr algn="l">
              <a:spcBef>
                <a:spcPts val="0"/>
              </a:spcBef>
              <a:spcAft>
                <a:spcPts val="0"/>
              </a:spcAft>
            </a:pPr>
            <a:r>
              <a:rPr lang="tr-TR" sz="1900" b="1" i="0">
                <a:solidFill>
                  <a:srgbClr val="2E7D32"/>
                </a:solidFill>
                <a:latin typeface="Calibri"/>
              </a:rPr>
              <a:t>Ton açılır: turuncu.</a:t>
            </a:r>
          </a:p>
        </p:txBody>
      </p:sp>
      <p:sp>
        <p:nvSpPr>
          <p:cNvPr id="15" name="Rounded Rectangle 14"/>
          <p:cNvSpPr/>
          <p:nvPr/>
        </p:nvSpPr>
        <p:spPr>
          <a:xfrm>
            <a:off x="7955280" y="4672584"/>
            <a:ext cx="3733495" cy="1618488"/>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400"/>
              </a:spcAft>
            </a:pPr>
            <a:r>
              <a:rPr lang="tr-TR" sz="1700" b="1" i="0">
                <a:solidFill>
                  <a:srgbClr val="262626"/>
                </a:solidFill>
                <a:latin typeface="Calibri"/>
              </a:rPr>
              <a:t>İstanbul'un güneyinden geçen çizgi ne?</a:t>
            </a:r>
          </a:p>
          <a:p>
            <a:pPr algn="l">
              <a:spcBef>
                <a:spcPts val="0"/>
              </a:spcBef>
              <a:spcAft>
                <a:spcPts val="0"/>
              </a:spcAft>
            </a:pPr>
            <a:r>
              <a:rPr lang="tr-TR" sz="1900" b="1" i="0">
                <a:solidFill>
                  <a:srgbClr val="2E7D32"/>
                </a:solidFill>
                <a:latin typeface="Calibri"/>
              </a:rPr>
              <a:t>Uzun bir diri fay: Bolu'dan gelen çizginin devamı.</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35 / 250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700" b="1" i="0">
                <a:solidFill>
                  <a:srgbClr val="FFFFFF"/>
                </a:solidFill>
                <a:latin typeface="Calibri"/>
              </a:rPr>
              <a:t>Kilit soru: tehlike haritası riski gösterir mi?</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KİLİT SORU</a:t>
            </a:r>
          </a:p>
        </p:txBody>
      </p:sp>
      <p:sp>
        <p:nvSpPr>
          <p:cNvPr id="6" name="Rounded Rectangle 5"/>
          <p:cNvSpPr/>
          <p:nvPr/>
        </p:nvSpPr>
        <p:spPr>
          <a:xfrm>
            <a:off x="502920" y="1207008"/>
            <a:ext cx="11185855" cy="8686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150" b="1" i="0">
                <a:solidFill>
                  <a:srgbClr val="262626"/>
                </a:solidFill>
                <a:latin typeface="Calibri"/>
              </a:rPr>
              <a:t>Harita 6.1 bir deprem TEHLİKE haritasıdır. Bir yerdeki can ve mal kaybı RİSKİNİ tek başına gösterir mi?</a:t>
            </a:r>
          </a:p>
        </p:txBody>
      </p:sp>
      <p:sp>
        <p:nvSpPr>
          <p:cNvPr id="7" name="Rounded Rectangle 6"/>
          <p:cNvSpPr/>
          <p:nvPr/>
        </p:nvSpPr>
        <p:spPr>
          <a:xfrm>
            <a:off x="502920" y="2221992"/>
            <a:ext cx="3594506" cy="406908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2221992"/>
            <a:ext cx="3594506" cy="530352"/>
          </a:xfrm>
          <a:prstGeom prst="roundRect">
            <a:avLst>
              <a:gd name="adj" fmla="val 25000"/>
            </a:avLst>
          </a:prstGeom>
          <a:solidFill>
            <a:srgbClr val="A63A32"/>
          </a:solidFill>
          <a:ln>
            <a:noFill/>
          </a:ln>
          <a:effectLst/>
        </p:spPr>
        <p:txBody>
          <a:bodyPr rtlCol="0" anchor="ctr"/>
          <a:lstStyle/>
          <a:p/>
        </p:txBody>
      </p:sp>
      <p:sp>
        <p:nvSpPr>
          <p:cNvPr id="9" name="Rectangle 8"/>
          <p:cNvSpPr/>
          <p:nvPr/>
        </p:nvSpPr>
        <p:spPr>
          <a:xfrm>
            <a:off x="502920" y="2487168"/>
            <a:ext cx="3594506" cy="265176"/>
          </a:xfrm>
          <a:prstGeom prst="rect">
            <a:avLst/>
          </a:prstGeom>
          <a:solidFill>
            <a:srgbClr val="A63A32"/>
          </a:solidFill>
          <a:ln>
            <a:noFill/>
          </a:ln>
          <a:effectLst/>
        </p:spPr>
        <p:txBody>
          <a:bodyPr rtlCol="0" anchor="ctr"/>
          <a:lstStyle/>
          <a:p/>
        </p:txBody>
      </p:sp>
      <p:sp>
        <p:nvSpPr>
          <p:cNvPr id="10" name="TextBox 9"/>
          <p:cNvSpPr txBox="1"/>
          <p:nvPr/>
        </p:nvSpPr>
        <p:spPr>
          <a:xfrm>
            <a:off x="594360" y="222199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Harita neyi gösteriyor?</a:t>
            </a:r>
          </a:p>
        </p:txBody>
      </p:sp>
      <p:sp>
        <p:nvSpPr>
          <p:cNvPr id="11" name="Rounded Rectangle 10"/>
          <p:cNvSpPr/>
          <p:nvPr/>
        </p:nvSpPr>
        <p:spPr>
          <a:xfrm>
            <a:off x="4298594" y="2221992"/>
            <a:ext cx="3594506" cy="406908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222199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248716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222199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900" b="1" i="0">
                <a:solidFill>
                  <a:srgbClr val="FFFFFF"/>
                </a:solidFill>
                <a:latin typeface="Calibri"/>
              </a:rPr>
              <a:t>Neyi göstermiyor?</a:t>
            </a:r>
          </a:p>
        </p:txBody>
      </p:sp>
      <p:sp>
        <p:nvSpPr>
          <p:cNvPr id="15" name="Rounded Rectangle 14"/>
          <p:cNvSpPr/>
          <p:nvPr/>
        </p:nvSpPr>
        <p:spPr>
          <a:xfrm>
            <a:off x="8094268" y="2221992"/>
            <a:ext cx="3594506" cy="4069080"/>
          </a:xfrm>
          <a:prstGeom prst="roundRect">
            <a:avLst>
              <a:gd name="adj" fmla="val 5000"/>
            </a:avLst>
          </a:prstGeom>
          <a:solidFill>
            <a:srgbClr val="F0F0F0"/>
          </a:solidFill>
          <a:ln>
            <a:noFill/>
          </a:ln>
          <a:effectLst/>
        </p:spPr>
        <p:txBody>
          <a:bodyPr rtlCol="0" anchor="ctr"/>
          <a:lstStyle/>
          <a:p/>
        </p:txBody>
      </p:sp>
      <p:sp>
        <p:nvSpPr>
          <p:cNvPr id="16" name="Rounded Rectangle 15"/>
          <p:cNvSpPr/>
          <p:nvPr/>
        </p:nvSpPr>
        <p:spPr>
          <a:xfrm>
            <a:off x="8094268" y="2221992"/>
            <a:ext cx="3594506" cy="530352"/>
          </a:xfrm>
          <a:prstGeom prst="roundRect">
            <a:avLst>
              <a:gd name="adj" fmla="val 25000"/>
            </a:avLst>
          </a:prstGeom>
          <a:solidFill>
            <a:srgbClr val="4A6B78"/>
          </a:solidFill>
          <a:ln>
            <a:noFill/>
          </a:ln>
          <a:effectLst/>
        </p:spPr>
        <p:txBody>
          <a:bodyPr rtlCol="0" anchor="ctr"/>
          <a:lstStyle/>
          <a:p/>
        </p:txBody>
      </p:sp>
      <p:sp>
        <p:nvSpPr>
          <p:cNvPr id="17" name="Rectangle 16"/>
          <p:cNvSpPr/>
          <p:nvPr/>
        </p:nvSpPr>
        <p:spPr>
          <a:xfrm>
            <a:off x="8094268" y="2487168"/>
            <a:ext cx="3594506" cy="265176"/>
          </a:xfrm>
          <a:prstGeom prst="rect">
            <a:avLst/>
          </a:prstGeom>
          <a:solidFill>
            <a:srgbClr val="4A6B78"/>
          </a:solidFill>
          <a:ln>
            <a:noFill/>
          </a:ln>
          <a:effectLst/>
        </p:spPr>
        <p:txBody>
          <a:bodyPr rtlCol="0" anchor="ctr"/>
          <a:lstStyle/>
          <a:p/>
        </p:txBody>
      </p:sp>
      <p:sp>
        <p:nvSpPr>
          <p:cNvPr id="18" name="TextBox 17"/>
          <p:cNvSpPr txBox="1"/>
          <p:nvPr/>
        </p:nvSpPr>
        <p:spPr>
          <a:xfrm>
            <a:off x="8185708" y="222199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1750" b="1" i="0">
                <a:solidFill>
                  <a:srgbClr val="FFFFFF"/>
                </a:solidFill>
                <a:latin typeface="Calibri"/>
              </a:rPr>
              <a:t>Risk için başka hangi bilgi gerekir?</a:t>
            </a:r>
          </a:p>
        </p:txBody>
      </p:sp>
      <p:sp>
        <p:nvSpPr>
          <p:cNvPr id="19" name="Rounded Rectangle 18"/>
          <p:cNvSpPr/>
          <p:nvPr/>
        </p:nvSpPr>
        <p:spPr>
          <a:xfrm>
            <a:off x="612648" y="2907792"/>
            <a:ext cx="3375050" cy="324612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0" name="Connector 19"/>
          <p:cNvCxnSpPr/>
          <p:nvPr/>
        </p:nvCxnSpPr>
        <p:spPr>
          <a:xfrm>
            <a:off x="795528" y="3268472"/>
            <a:ext cx="3009290" cy="0"/>
          </a:xfrm>
          <a:prstGeom prst="line">
            <a:avLst/>
          </a:prstGeom>
          <a:ln w="12700">
            <a:solidFill>
              <a:srgbClr val="D9D9D9"/>
            </a:solidFill>
            <a:prstDash val="dash"/>
          </a:ln>
        </p:spPr>
      </p:cxnSp>
      <p:cxnSp>
        <p:nvCxnSpPr>
          <p:cNvPr id="21" name="Connector 20"/>
          <p:cNvCxnSpPr/>
          <p:nvPr/>
        </p:nvCxnSpPr>
        <p:spPr>
          <a:xfrm>
            <a:off x="795528" y="3629152"/>
            <a:ext cx="3009290" cy="0"/>
          </a:xfrm>
          <a:prstGeom prst="line">
            <a:avLst/>
          </a:prstGeom>
          <a:ln w="12700">
            <a:solidFill>
              <a:srgbClr val="D9D9D9"/>
            </a:solidFill>
            <a:prstDash val="dash"/>
          </a:ln>
        </p:spPr>
      </p:cxnSp>
      <p:cxnSp>
        <p:nvCxnSpPr>
          <p:cNvPr id="22" name="Connector 21"/>
          <p:cNvCxnSpPr/>
          <p:nvPr/>
        </p:nvCxnSpPr>
        <p:spPr>
          <a:xfrm>
            <a:off x="795528" y="3989832"/>
            <a:ext cx="3009290" cy="0"/>
          </a:xfrm>
          <a:prstGeom prst="line">
            <a:avLst/>
          </a:prstGeom>
          <a:ln w="12700">
            <a:solidFill>
              <a:srgbClr val="D9D9D9"/>
            </a:solidFill>
            <a:prstDash val="dash"/>
          </a:ln>
        </p:spPr>
      </p:cxnSp>
      <p:cxnSp>
        <p:nvCxnSpPr>
          <p:cNvPr id="23" name="Connector 22"/>
          <p:cNvCxnSpPr/>
          <p:nvPr/>
        </p:nvCxnSpPr>
        <p:spPr>
          <a:xfrm>
            <a:off x="795528" y="4350512"/>
            <a:ext cx="3009290" cy="0"/>
          </a:xfrm>
          <a:prstGeom prst="line">
            <a:avLst/>
          </a:prstGeom>
          <a:ln w="12700">
            <a:solidFill>
              <a:srgbClr val="D9D9D9"/>
            </a:solidFill>
            <a:prstDash val="dash"/>
          </a:ln>
        </p:spPr>
      </p:cxnSp>
      <p:cxnSp>
        <p:nvCxnSpPr>
          <p:cNvPr id="24" name="Connector 23"/>
          <p:cNvCxnSpPr/>
          <p:nvPr/>
        </p:nvCxnSpPr>
        <p:spPr>
          <a:xfrm>
            <a:off x="795528" y="4711192"/>
            <a:ext cx="3009290" cy="0"/>
          </a:xfrm>
          <a:prstGeom prst="line">
            <a:avLst/>
          </a:prstGeom>
          <a:ln w="12700">
            <a:solidFill>
              <a:srgbClr val="D9D9D9"/>
            </a:solidFill>
            <a:prstDash val="dash"/>
          </a:ln>
        </p:spPr>
      </p:cxnSp>
      <p:cxnSp>
        <p:nvCxnSpPr>
          <p:cNvPr id="25" name="Connector 24"/>
          <p:cNvCxnSpPr/>
          <p:nvPr/>
        </p:nvCxnSpPr>
        <p:spPr>
          <a:xfrm>
            <a:off x="795528" y="5071872"/>
            <a:ext cx="3009290" cy="0"/>
          </a:xfrm>
          <a:prstGeom prst="line">
            <a:avLst/>
          </a:prstGeom>
          <a:ln w="12700">
            <a:solidFill>
              <a:srgbClr val="D9D9D9"/>
            </a:solidFill>
            <a:prstDash val="dash"/>
          </a:ln>
        </p:spPr>
      </p:cxnSp>
      <p:cxnSp>
        <p:nvCxnSpPr>
          <p:cNvPr id="26" name="Connector 25"/>
          <p:cNvCxnSpPr/>
          <p:nvPr/>
        </p:nvCxnSpPr>
        <p:spPr>
          <a:xfrm>
            <a:off x="795528" y="5432552"/>
            <a:ext cx="3009290" cy="0"/>
          </a:xfrm>
          <a:prstGeom prst="line">
            <a:avLst/>
          </a:prstGeom>
          <a:ln w="12700">
            <a:solidFill>
              <a:srgbClr val="D9D9D9"/>
            </a:solidFill>
            <a:prstDash val="dash"/>
          </a:ln>
        </p:spPr>
      </p:cxnSp>
      <p:cxnSp>
        <p:nvCxnSpPr>
          <p:cNvPr id="27" name="Connector 26"/>
          <p:cNvCxnSpPr/>
          <p:nvPr/>
        </p:nvCxnSpPr>
        <p:spPr>
          <a:xfrm>
            <a:off x="795528" y="5793232"/>
            <a:ext cx="3009290" cy="0"/>
          </a:xfrm>
          <a:prstGeom prst="line">
            <a:avLst/>
          </a:prstGeom>
          <a:ln w="12700">
            <a:solidFill>
              <a:srgbClr val="D9D9D9"/>
            </a:solidFill>
            <a:prstDash val="dash"/>
          </a:ln>
        </p:spPr>
      </p:cxnSp>
      <p:sp>
        <p:nvSpPr>
          <p:cNvPr id="28" name="Rounded Rectangle 27"/>
          <p:cNvSpPr/>
          <p:nvPr/>
        </p:nvSpPr>
        <p:spPr>
          <a:xfrm>
            <a:off x="4408322" y="2907792"/>
            <a:ext cx="3375050" cy="324612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9" name="Connector 28"/>
          <p:cNvCxnSpPr/>
          <p:nvPr/>
        </p:nvCxnSpPr>
        <p:spPr>
          <a:xfrm>
            <a:off x="4591202" y="3268472"/>
            <a:ext cx="3009290" cy="0"/>
          </a:xfrm>
          <a:prstGeom prst="line">
            <a:avLst/>
          </a:prstGeom>
          <a:ln w="12700">
            <a:solidFill>
              <a:srgbClr val="D9D9D9"/>
            </a:solidFill>
            <a:prstDash val="dash"/>
          </a:ln>
        </p:spPr>
      </p:cxnSp>
      <p:cxnSp>
        <p:nvCxnSpPr>
          <p:cNvPr id="30" name="Connector 29"/>
          <p:cNvCxnSpPr/>
          <p:nvPr/>
        </p:nvCxnSpPr>
        <p:spPr>
          <a:xfrm>
            <a:off x="4591202" y="3629152"/>
            <a:ext cx="3009290" cy="0"/>
          </a:xfrm>
          <a:prstGeom prst="line">
            <a:avLst/>
          </a:prstGeom>
          <a:ln w="12700">
            <a:solidFill>
              <a:srgbClr val="D9D9D9"/>
            </a:solidFill>
            <a:prstDash val="dash"/>
          </a:ln>
        </p:spPr>
      </p:cxnSp>
      <p:cxnSp>
        <p:nvCxnSpPr>
          <p:cNvPr id="31" name="Connector 30"/>
          <p:cNvCxnSpPr/>
          <p:nvPr/>
        </p:nvCxnSpPr>
        <p:spPr>
          <a:xfrm>
            <a:off x="4591202" y="3989832"/>
            <a:ext cx="3009290" cy="0"/>
          </a:xfrm>
          <a:prstGeom prst="line">
            <a:avLst/>
          </a:prstGeom>
          <a:ln w="12700">
            <a:solidFill>
              <a:srgbClr val="D9D9D9"/>
            </a:solidFill>
            <a:prstDash val="dash"/>
          </a:ln>
        </p:spPr>
      </p:cxnSp>
      <p:cxnSp>
        <p:nvCxnSpPr>
          <p:cNvPr id="32" name="Connector 31"/>
          <p:cNvCxnSpPr/>
          <p:nvPr/>
        </p:nvCxnSpPr>
        <p:spPr>
          <a:xfrm>
            <a:off x="4591202" y="4350512"/>
            <a:ext cx="3009290" cy="0"/>
          </a:xfrm>
          <a:prstGeom prst="line">
            <a:avLst/>
          </a:prstGeom>
          <a:ln w="12700">
            <a:solidFill>
              <a:srgbClr val="D9D9D9"/>
            </a:solidFill>
            <a:prstDash val="dash"/>
          </a:ln>
        </p:spPr>
      </p:cxnSp>
      <p:cxnSp>
        <p:nvCxnSpPr>
          <p:cNvPr id="33" name="Connector 32"/>
          <p:cNvCxnSpPr/>
          <p:nvPr/>
        </p:nvCxnSpPr>
        <p:spPr>
          <a:xfrm>
            <a:off x="4591202" y="4711192"/>
            <a:ext cx="3009290" cy="0"/>
          </a:xfrm>
          <a:prstGeom prst="line">
            <a:avLst/>
          </a:prstGeom>
          <a:ln w="12700">
            <a:solidFill>
              <a:srgbClr val="D9D9D9"/>
            </a:solidFill>
            <a:prstDash val="dash"/>
          </a:ln>
        </p:spPr>
      </p:cxnSp>
      <p:cxnSp>
        <p:nvCxnSpPr>
          <p:cNvPr id="34" name="Connector 33"/>
          <p:cNvCxnSpPr/>
          <p:nvPr/>
        </p:nvCxnSpPr>
        <p:spPr>
          <a:xfrm>
            <a:off x="4591202" y="5071872"/>
            <a:ext cx="3009290" cy="0"/>
          </a:xfrm>
          <a:prstGeom prst="line">
            <a:avLst/>
          </a:prstGeom>
          <a:ln w="12700">
            <a:solidFill>
              <a:srgbClr val="D9D9D9"/>
            </a:solidFill>
            <a:prstDash val="dash"/>
          </a:ln>
        </p:spPr>
      </p:cxnSp>
      <p:cxnSp>
        <p:nvCxnSpPr>
          <p:cNvPr id="35" name="Connector 34"/>
          <p:cNvCxnSpPr/>
          <p:nvPr/>
        </p:nvCxnSpPr>
        <p:spPr>
          <a:xfrm>
            <a:off x="4591202" y="5432552"/>
            <a:ext cx="3009290" cy="0"/>
          </a:xfrm>
          <a:prstGeom prst="line">
            <a:avLst/>
          </a:prstGeom>
          <a:ln w="12700">
            <a:solidFill>
              <a:srgbClr val="D9D9D9"/>
            </a:solidFill>
            <a:prstDash val="dash"/>
          </a:ln>
        </p:spPr>
      </p:cxnSp>
      <p:cxnSp>
        <p:nvCxnSpPr>
          <p:cNvPr id="36" name="Connector 35"/>
          <p:cNvCxnSpPr/>
          <p:nvPr/>
        </p:nvCxnSpPr>
        <p:spPr>
          <a:xfrm>
            <a:off x="4591202" y="5793232"/>
            <a:ext cx="3009290" cy="0"/>
          </a:xfrm>
          <a:prstGeom prst="line">
            <a:avLst/>
          </a:prstGeom>
          <a:ln w="12700">
            <a:solidFill>
              <a:srgbClr val="D9D9D9"/>
            </a:solidFill>
            <a:prstDash val="dash"/>
          </a:ln>
        </p:spPr>
      </p:cxnSp>
      <p:sp>
        <p:nvSpPr>
          <p:cNvPr id="37" name="Rounded Rectangle 36"/>
          <p:cNvSpPr/>
          <p:nvPr/>
        </p:nvSpPr>
        <p:spPr>
          <a:xfrm>
            <a:off x="8203996" y="2907792"/>
            <a:ext cx="3375050" cy="324612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8" name="Connector 37"/>
          <p:cNvCxnSpPr/>
          <p:nvPr/>
        </p:nvCxnSpPr>
        <p:spPr>
          <a:xfrm>
            <a:off x="8386876" y="3268472"/>
            <a:ext cx="3009290" cy="0"/>
          </a:xfrm>
          <a:prstGeom prst="line">
            <a:avLst/>
          </a:prstGeom>
          <a:ln w="12700">
            <a:solidFill>
              <a:srgbClr val="D9D9D9"/>
            </a:solidFill>
            <a:prstDash val="dash"/>
          </a:ln>
        </p:spPr>
      </p:cxnSp>
      <p:cxnSp>
        <p:nvCxnSpPr>
          <p:cNvPr id="39" name="Connector 38"/>
          <p:cNvCxnSpPr/>
          <p:nvPr/>
        </p:nvCxnSpPr>
        <p:spPr>
          <a:xfrm>
            <a:off x="8386876" y="3629152"/>
            <a:ext cx="3009290" cy="0"/>
          </a:xfrm>
          <a:prstGeom prst="line">
            <a:avLst/>
          </a:prstGeom>
          <a:ln w="12700">
            <a:solidFill>
              <a:srgbClr val="D9D9D9"/>
            </a:solidFill>
            <a:prstDash val="dash"/>
          </a:ln>
        </p:spPr>
      </p:cxnSp>
      <p:cxnSp>
        <p:nvCxnSpPr>
          <p:cNvPr id="40" name="Connector 39"/>
          <p:cNvCxnSpPr/>
          <p:nvPr/>
        </p:nvCxnSpPr>
        <p:spPr>
          <a:xfrm>
            <a:off x="8386876" y="3989832"/>
            <a:ext cx="3009290" cy="0"/>
          </a:xfrm>
          <a:prstGeom prst="line">
            <a:avLst/>
          </a:prstGeom>
          <a:ln w="12700">
            <a:solidFill>
              <a:srgbClr val="D9D9D9"/>
            </a:solidFill>
            <a:prstDash val="dash"/>
          </a:ln>
        </p:spPr>
      </p:cxnSp>
      <p:cxnSp>
        <p:nvCxnSpPr>
          <p:cNvPr id="41" name="Connector 40"/>
          <p:cNvCxnSpPr/>
          <p:nvPr/>
        </p:nvCxnSpPr>
        <p:spPr>
          <a:xfrm>
            <a:off x="8386876" y="4350512"/>
            <a:ext cx="3009290" cy="0"/>
          </a:xfrm>
          <a:prstGeom prst="line">
            <a:avLst/>
          </a:prstGeom>
          <a:ln w="12700">
            <a:solidFill>
              <a:srgbClr val="D9D9D9"/>
            </a:solidFill>
            <a:prstDash val="dash"/>
          </a:ln>
        </p:spPr>
      </p:cxnSp>
      <p:cxnSp>
        <p:nvCxnSpPr>
          <p:cNvPr id="42" name="Connector 41"/>
          <p:cNvCxnSpPr/>
          <p:nvPr/>
        </p:nvCxnSpPr>
        <p:spPr>
          <a:xfrm>
            <a:off x="8386876" y="4711192"/>
            <a:ext cx="3009290" cy="0"/>
          </a:xfrm>
          <a:prstGeom prst="line">
            <a:avLst/>
          </a:prstGeom>
          <a:ln w="12700">
            <a:solidFill>
              <a:srgbClr val="D9D9D9"/>
            </a:solidFill>
            <a:prstDash val="dash"/>
          </a:ln>
        </p:spPr>
      </p:cxnSp>
      <p:cxnSp>
        <p:nvCxnSpPr>
          <p:cNvPr id="43" name="Connector 42"/>
          <p:cNvCxnSpPr/>
          <p:nvPr/>
        </p:nvCxnSpPr>
        <p:spPr>
          <a:xfrm>
            <a:off x="8386876" y="5071872"/>
            <a:ext cx="3009290" cy="0"/>
          </a:xfrm>
          <a:prstGeom prst="line">
            <a:avLst/>
          </a:prstGeom>
          <a:ln w="12700">
            <a:solidFill>
              <a:srgbClr val="D9D9D9"/>
            </a:solidFill>
            <a:prstDash val="dash"/>
          </a:ln>
        </p:spPr>
      </p:cxnSp>
      <p:cxnSp>
        <p:nvCxnSpPr>
          <p:cNvPr id="44" name="Connector 43"/>
          <p:cNvCxnSpPr/>
          <p:nvPr/>
        </p:nvCxnSpPr>
        <p:spPr>
          <a:xfrm>
            <a:off x="8386876" y="5432552"/>
            <a:ext cx="3009290" cy="0"/>
          </a:xfrm>
          <a:prstGeom prst="line">
            <a:avLst/>
          </a:prstGeom>
          <a:ln w="12700">
            <a:solidFill>
              <a:srgbClr val="D9D9D9"/>
            </a:solidFill>
            <a:prstDash val="dash"/>
          </a:ln>
        </p:spPr>
      </p:cxnSp>
      <p:cxnSp>
        <p:nvCxnSpPr>
          <p:cNvPr id="45" name="Connector 44"/>
          <p:cNvCxnSpPr/>
          <p:nvPr/>
        </p:nvCxnSpPr>
        <p:spPr>
          <a:xfrm>
            <a:off x="8386876" y="5793232"/>
            <a:ext cx="3009290" cy="0"/>
          </a:xfrm>
          <a:prstGeom prst="line">
            <a:avLst/>
          </a:prstGeom>
          <a:ln w="12700">
            <a:solidFill>
              <a:srgbClr val="D9D9D9"/>
            </a:solidFill>
            <a:prstDash val="dash"/>
          </a:ln>
        </p:spPr>
      </p:cxnSp>
      <p:sp>
        <p:nvSpPr>
          <p:cNvPr id="46" name="TextBox 4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7" name="Rounded Rectangle 4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190-191</a:t>
            </a:r>
          </a:p>
        </p:txBody>
      </p:sp>
      <p:sp>
        <p:nvSpPr>
          <p:cNvPr id="48" name="TextBox 4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36 / 250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700" b="1" i="0">
                <a:solidFill>
                  <a:srgbClr val="FFFFFF"/>
                </a:solidFill>
                <a:latin typeface="Calibri"/>
              </a:rPr>
              <a:t>Kilit soru: tehlike haritası riski gösterir mi?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8686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150" b="1" i="0">
                <a:solidFill>
                  <a:srgbClr val="262626"/>
                </a:solidFill>
                <a:latin typeface="Calibri"/>
              </a:rPr>
              <a:t>Harita 6.1 bir deprem TEHLİKE haritasıdır. Bir yerdeki can ve mal kaybı RİSKİNİ tek başına gösterir mi?</a:t>
            </a:r>
          </a:p>
        </p:txBody>
      </p:sp>
      <p:sp>
        <p:nvSpPr>
          <p:cNvPr id="7" name="Rounded Rectangle 6"/>
          <p:cNvSpPr/>
          <p:nvPr/>
        </p:nvSpPr>
        <p:spPr>
          <a:xfrm>
            <a:off x="502920" y="2221992"/>
            <a:ext cx="3594506" cy="2606040"/>
          </a:xfrm>
          <a:prstGeom prst="roundRect">
            <a:avLst>
              <a:gd name="adj" fmla="val 5000"/>
            </a:avLst>
          </a:prstGeom>
          <a:solidFill>
            <a:srgbClr val="F0F0F0"/>
          </a:solidFill>
          <a:ln>
            <a:noFill/>
          </a:ln>
          <a:effectLst/>
        </p:spPr>
        <p:txBody>
          <a:bodyPr rtlCol="0" anchor="ctr"/>
          <a:lstStyle/>
          <a:p/>
        </p:txBody>
      </p:sp>
      <p:sp>
        <p:nvSpPr>
          <p:cNvPr id="8" name="Rounded Rectangle 7"/>
          <p:cNvSpPr/>
          <p:nvPr/>
        </p:nvSpPr>
        <p:spPr>
          <a:xfrm>
            <a:off x="502920" y="2221992"/>
            <a:ext cx="3594506" cy="530352"/>
          </a:xfrm>
          <a:prstGeom prst="roundRect">
            <a:avLst>
              <a:gd name="adj" fmla="val 25000"/>
            </a:avLst>
          </a:prstGeom>
          <a:solidFill>
            <a:srgbClr val="A63A32"/>
          </a:solidFill>
          <a:ln>
            <a:noFill/>
          </a:ln>
          <a:effectLst/>
        </p:spPr>
        <p:txBody>
          <a:bodyPr rtlCol="0" anchor="ctr"/>
          <a:lstStyle/>
          <a:p/>
        </p:txBody>
      </p:sp>
      <p:sp>
        <p:nvSpPr>
          <p:cNvPr id="9" name="Rectangle 8"/>
          <p:cNvSpPr/>
          <p:nvPr/>
        </p:nvSpPr>
        <p:spPr>
          <a:xfrm>
            <a:off x="502920" y="2487168"/>
            <a:ext cx="3594506" cy="265176"/>
          </a:xfrm>
          <a:prstGeom prst="rect">
            <a:avLst/>
          </a:prstGeom>
          <a:solidFill>
            <a:srgbClr val="A63A32"/>
          </a:solidFill>
          <a:ln>
            <a:noFill/>
          </a:ln>
          <a:effectLst/>
        </p:spPr>
        <p:txBody>
          <a:bodyPr rtlCol="0" anchor="ctr"/>
          <a:lstStyle/>
          <a:p/>
        </p:txBody>
      </p:sp>
      <p:sp>
        <p:nvSpPr>
          <p:cNvPr id="10" name="TextBox 9"/>
          <p:cNvSpPr txBox="1"/>
          <p:nvPr/>
        </p:nvSpPr>
        <p:spPr>
          <a:xfrm>
            <a:off x="594360" y="222199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Gösterir</a:t>
            </a:r>
          </a:p>
        </p:txBody>
      </p:sp>
      <p:sp>
        <p:nvSpPr>
          <p:cNvPr id="11" name="TextBox 10"/>
          <p:cNvSpPr txBox="1"/>
          <p:nvPr/>
        </p:nvSpPr>
        <p:spPr>
          <a:xfrm>
            <a:off x="612648" y="2825496"/>
            <a:ext cx="3375050" cy="1929384"/>
          </a:xfrm>
          <a:prstGeom prst="rect">
            <a:avLst/>
          </a:prstGeom>
          <a:noFill/>
        </p:spPr>
        <p:txBody>
          <a:bodyPr wrap="square" anchor="t"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depremin nerede beklendiği: </a:t>
            </a:r>
            <a:r>
              <a:rPr lang="tr-TR" sz="2000" b="1" i="0">
                <a:solidFill>
                  <a:srgbClr val="262626"/>
                </a:solidFill>
                <a:latin typeface="Calibri"/>
              </a:rPr>
              <a:t>tehlike</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diri faylar</a:t>
            </a:r>
          </a:p>
        </p:txBody>
      </p:sp>
      <p:sp>
        <p:nvSpPr>
          <p:cNvPr id="12" name="Rounded Rectangle 11"/>
          <p:cNvSpPr/>
          <p:nvPr/>
        </p:nvSpPr>
        <p:spPr>
          <a:xfrm>
            <a:off x="4298594" y="2221992"/>
            <a:ext cx="3594506" cy="2606040"/>
          </a:xfrm>
          <a:prstGeom prst="roundRect">
            <a:avLst>
              <a:gd name="adj" fmla="val 5000"/>
            </a:avLst>
          </a:prstGeom>
          <a:solidFill>
            <a:srgbClr val="F0F0F0"/>
          </a:solidFill>
          <a:ln>
            <a:noFill/>
          </a:ln>
          <a:effectLst/>
        </p:spPr>
        <p:txBody>
          <a:bodyPr rtlCol="0" anchor="ctr"/>
          <a:lstStyle/>
          <a:p/>
        </p:txBody>
      </p:sp>
      <p:sp>
        <p:nvSpPr>
          <p:cNvPr id="13" name="Rounded Rectangle 12"/>
          <p:cNvSpPr/>
          <p:nvPr/>
        </p:nvSpPr>
        <p:spPr>
          <a:xfrm>
            <a:off x="4298594" y="2221992"/>
            <a:ext cx="3594506" cy="530352"/>
          </a:xfrm>
          <a:prstGeom prst="roundRect">
            <a:avLst>
              <a:gd name="adj" fmla="val 25000"/>
            </a:avLst>
          </a:prstGeom>
          <a:solidFill>
            <a:srgbClr val="4F4F4F"/>
          </a:solidFill>
          <a:ln>
            <a:noFill/>
          </a:ln>
          <a:effectLst/>
        </p:spPr>
        <p:txBody>
          <a:bodyPr rtlCol="0" anchor="ctr"/>
          <a:lstStyle/>
          <a:p/>
        </p:txBody>
      </p:sp>
      <p:sp>
        <p:nvSpPr>
          <p:cNvPr id="14" name="Rectangle 13"/>
          <p:cNvSpPr/>
          <p:nvPr/>
        </p:nvSpPr>
        <p:spPr>
          <a:xfrm>
            <a:off x="4298594" y="2487168"/>
            <a:ext cx="3594506" cy="265176"/>
          </a:xfrm>
          <a:prstGeom prst="rect">
            <a:avLst/>
          </a:prstGeom>
          <a:solidFill>
            <a:srgbClr val="4F4F4F"/>
          </a:solidFill>
          <a:ln>
            <a:noFill/>
          </a:ln>
          <a:effectLst/>
        </p:spPr>
        <p:txBody>
          <a:bodyPr rtlCol="0" anchor="ctr"/>
          <a:lstStyle/>
          <a:p/>
        </p:txBody>
      </p:sp>
      <p:sp>
        <p:nvSpPr>
          <p:cNvPr id="15" name="TextBox 14"/>
          <p:cNvSpPr txBox="1"/>
          <p:nvPr/>
        </p:nvSpPr>
        <p:spPr>
          <a:xfrm>
            <a:off x="4390034" y="222199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Göstermez</a:t>
            </a:r>
          </a:p>
        </p:txBody>
      </p:sp>
      <p:sp>
        <p:nvSpPr>
          <p:cNvPr id="16" name="TextBox 15"/>
          <p:cNvSpPr txBox="1"/>
          <p:nvPr/>
        </p:nvSpPr>
        <p:spPr>
          <a:xfrm>
            <a:off x="4408322" y="2825496"/>
            <a:ext cx="3375050" cy="1929384"/>
          </a:xfrm>
          <a:prstGeom prst="rect">
            <a:avLst/>
          </a:prstGeom>
          <a:noFill/>
        </p:spPr>
        <p:txBody>
          <a:bodyPr wrap="square" anchor="t"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orada kaç kişi yaşadığı: </a:t>
            </a:r>
            <a:r>
              <a:rPr lang="tr-TR" sz="2000" b="1" i="0">
                <a:solidFill>
                  <a:srgbClr val="262626"/>
                </a:solidFill>
                <a:latin typeface="Calibri"/>
              </a:rPr>
              <a:t>maruziyet</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binaların ve zeminin durumu: </a:t>
            </a:r>
            <a:r>
              <a:rPr lang="tr-TR" sz="2000" b="1" i="0">
                <a:solidFill>
                  <a:srgbClr val="262626"/>
                </a:solidFill>
                <a:latin typeface="Calibri"/>
              </a:rPr>
              <a:t>güvenlik açığı</a:t>
            </a:r>
          </a:p>
        </p:txBody>
      </p:sp>
      <p:sp>
        <p:nvSpPr>
          <p:cNvPr id="17" name="Rounded Rectangle 16"/>
          <p:cNvSpPr/>
          <p:nvPr/>
        </p:nvSpPr>
        <p:spPr>
          <a:xfrm>
            <a:off x="8094268" y="2221992"/>
            <a:ext cx="3594506" cy="2606040"/>
          </a:xfrm>
          <a:prstGeom prst="roundRect">
            <a:avLst>
              <a:gd name="adj" fmla="val 5000"/>
            </a:avLst>
          </a:prstGeom>
          <a:solidFill>
            <a:srgbClr val="F0F0F0"/>
          </a:solidFill>
          <a:ln>
            <a:noFill/>
          </a:ln>
          <a:effectLst/>
        </p:spPr>
        <p:txBody>
          <a:bodyPr rtlCol="0" anchor="ctr"/>
          <a:lstStyle/>
          <a:p/>
        </p:txBody>
      </p:sp>
      <p:sp>
        <p:nvSpPr>
          <p:cNvPr id="18" name="Rounded Rectangle 17"/>
          <p:cNvSpPr/>
          <p:nvPr/>
        </p:nvSpPr>
        <p:spPr>
          <a:xfrm>
            <a:off x="8094268" y="2221992"/>
            <a:ext cx="3594506" cy="530352"/>
          </a:xfrm>
          <a:prstGeom prst="roundRect">
            <a:avLst>
              <a:gd name="adj" fmla="val 25000"/>
            </a:avLst>
          </a:prstGeom>
          <a:solidFill>
            <a:srgbClr val="4A6B78"/>
          </a:solidFill>
          <a:ln>
            <a:noFill/>
          </a:ln>
          <a:effectLst/>
        </p:spPr>
        <p:txBody>
          <a:bodyPr rtlCol="0" anchor="ctr"/>
          <a:lstStyle/>
          <a:p/>
        </p:txBody>
      </p:sp>
      <p:sp>
        <p:nvSpPr>
          <p:cNvPr id="19" name="Rectangle 18"/>
          <p:cNvSpPr/>
          <p:nvPr/>
        </p:nvSpPr>
        <p:spPr>
          <a:xfrm>
            <a:off x="8094268" y="2487168"/>
            <a:ext cx="3594506" cy="265176"/>
          </a:xfrm>
          <a:prstGeom prst="rect">
            <a:avLst/>
          </a:prstGeom>
          <a:solidFill>
            <a:srgbClr val="4A6B78"/>
          </a:solidFill>
          <a:ln>
            <a:noFill/>
          </a:ln>
          <a:effectLst/>
        </p:spPr>
        <p:txBody>
          <a:bodyPr rtlCol="0" anchor="ctr"/>
          <a:lstStyle/>
          <a:p/>
        </p:txBody>
      </p:sp>
      <p:sp>
        <p:nvSpPr>
          <p:cNvPr id="20" name="TextBox 19"/>
          <p:cNvSpPr txBox="1"/>
          <p:nvPr/>
        </p:nvSpPr>
        <p:spPr>
          <a:xfrm>
            <a:off x="8185708" y="222199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Risk için</a:t>
            </a:r>
          </a:p>
        </p:txBody>
      </p:sp>
      <p:sp>
        <p:nvSpPr>
          <p:cNvPr id="21" name="TextBox 20"/>
          <p:cNvSpPr txBox="1"/>
          <p:nvPr/>
        </p:nvSpPr>
        <p:spPr>
          <a:xfrm>
            <a:off x="8203996" y="2825496"/>
            <a:ext cx="3375050" cy="1929384"/>
          </a:xfrm>
          <a:prstGeom prst="rect">
            <a:avLst/>
          </a:prstGeom>
          <a:noFill/>
        </p:spPr>
        <p:txBody>
          <a:bodyPr wrap="square" anchor="t"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tehlike + insanların ve yapıların durumu</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yerleşme haritası, bina bilgisi</a:t>
            </a:r>
          </a:p>
        </p:txBody>
      </p:sp>
      <p:sp>
        <p:nvSpPr>
          <p:cNvPr id="22" name="Rounded Rectangle 21"/>
          <p:cNvSpPr/>
          <p:nvPr/>
        </p:nvSpPr>
        <p:spPr>
          <a:xfrm>
            <a:off x="502920" y="5010912"/>
            <a:ext cx="11185855" cy="1280160"/>
          </a:xfrm>
          <a:prstGeom prst="roundRect">
            <a:avLst>
              <a:gd name="adj" fmla="val 8000"/>
            </a:avLst>
          </a:prstGeom>
          <a:solidFill>
            <a:srgbClr val="F0F0F0"/>
          </a:solidFill>
          <a:ln>
            <a:noFill/>
          </a:ln>
          <a:effectLst/>
        </p:spPr>
        <p:txBody>
          <a:bodyPr rtlCol="0" anchor="ctr"/>
          <a:lstStyle/>
          <a:p/>
        </p:txBody>
      </p:sp>
      <p:sp>
        <p:nvSpPr>
          <p:cNvPr id="23" name="Rectangle 22"/>
          <p:cNvSpPr/>
          <p:nvPr/>
        </p:nvSpPr>
        <p:spPr>
          <a:xfrm>
            <a:off x="502920" y="5010912"/>
            <a:ext cx="118872" cy="1280160"/>
          </a:xfrm>
          <a:prstGeom prst="rect">
            <a:avLst/>
          </a:prstGeom>
          <a:solidFill>
            <a:srgbClr val="2E7D32"/>
          </a:solidFill>
          <a:ln>
            <a:noFill/>
          </a:ln>
          <a:effectLst/>
        </p:spPr>
        <p:txBody>
          <a:bodyPr rtlCol="0" anchor="ctr"/>
          <a:lstStyle/>
          <a:p/>
        </p:txBody>
      </p:sp>
      <p:sp>
        <p:nvSpPr>
          <p:cNvPr id="24" name="TextBox 23"/>
          <p:cNvSpPr txBox="1"/>
          <p:nvPr/>
        </p:nvSpPr>
        <p:spPr>
          <a:xfrm>
            <a:off x="777240" y="5010912"/>
            <a:ext cx="10774375" cy="128016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İnsanların yaşadığı çevrenin fiziki ve beşerî koşulları risk faktörünü doğrudan etkilemektedir.</a:t>
            </a:r>
          </a:p>
        </p:txBody>
      </p:sp>
      <p:sp>
        <p:nvSpPr>
          <p:cNvPr id="25" name="TextBox 2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6" name="Rounded Rectangle 2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190-191</a:t>
            </a:r>
          </a:p>
        </p:txBody>
      </p:sp>
      <p:sp>
        <p:nvSpPr>
          <p:cNvPr id="27" name="TextBox 2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37 / 250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Kelime bankası: boşlukları doldur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KAVRAM KONTROLÜ</a:t>
            </a:r>
          </a:p>
        </p:txBody>
      </p:sp>
      <p:sp>
        <p:nvSpPr>
          <p:cNvPr id="6" name="Rounded Rectangle 5"/>
          <p:cNvSpPr/>
          <p:nvPr/>
        </p:nvSpPr>
        <p:spPr>
          <a:xfrm>
            <a:off x="502920" y="1207008"/>
            <a:ext cx="2103120" cy="658368"/>
          </a:xfrm>
          <a:prstGeom prst="roundRect">
            <a:avLst>
              <a:gd name="adj" fmla="val 8000"/>
            </a:avLst>
          </a:prstGeom>
          <a:solidFill>
            <a:srgbClr val="A63A3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Kelime bankası</a:t>
            </a:r>
          </a:p>
        </p:txBody>
      </p:sp>
      <p:sp>
        <p:nvSpPr>
          <p:cNvPr id="7" name="Rounded Rectangle 6"/>
          <p:cNvSpPr/>
          <p:nvPr/>
        </p:nvSpPr>
        <p:spPr>
          <a:xfrm>
            <a:off x="2715768" y="1207008"/>
            <a:ext cx="8973007" cy="658368"/>
          </a:xfrm>
          <a:prstGeom prst="roundRect">
            <a:avLst>
              <a:gd name="adj" fmla="val 20000"/>
            </a:avLst>
          </a:prstGeom>
          <a:solidFill>
            <a:srgbClr val="FFF3D1"/>
          </a:solidFill>
          <a:ln>
            <a:noFill/>
          </a:ln>
          <a:effectLst/>
        </p:spPr>
        <p:txBody>
          <a:bodyPr rtlCol="0" anchor="ctr"/>
          <a:lstStyle/>
          <a:p/>
        </p:txBody>
      </p:sp>
      <p:sp>
        <p:nvSpPr>
          <p:cNvPr id="8" name="Rounded Rectangle 7"/>
          <p:cNvSpPr/>
          <p:nvPr/>
        </p:nvSpPr>
        <p:spPr>
          <a:xfrm>
            <a:off x="2880360" y="1307592"/>
            <a:ext cx="1691928" cy="457200"/>
          </a:xfrm>
          <a:prstGeom prst="roundRect">
            <a:avLst>
              <a:gd name="adj" fmla="val 50000"/>
            </a:avLst>
          </a:prstGeom>
          <a:solidFill>
            <a:srgbClr val="FFFFFF"/>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doğa olayları</a:t>
            </a:r>
          </a:p>
        </p:txBody>
      </p:sp>
      <p:sp>
        <p:nvSpPr>
          <p:cNvPr id="9" name="Rounded Rectangle 8"/>
          <p:cNvSpPr/>
          <p:nvPr/>
        </p:nvSpPr>
        <p:spPr>
          <a:xfrm>
            <a:off x="4682016" y="1307592"/>
            <a:ext cx="2582979" cy="457200"/>
          </a:xfrm>
          <a:prstGeom prst="roundRect">
            <a:avLst>
              <a:gd name="adj" fmla="val 50000"/>
            </a:avLst>
          </a:prstGeom>
          <a:solidFill>
            <a:srgbClr val="FFFFFF"/>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insan kaynaklı olaylar</a:t>
            </a:r>
          </a:p>
        </p:txBody>
      </p:sp>
      <p:sp>
        <p:nvSpPr>
          <p:cNvPr id="10" name="Rounded Rectangle 9"/>
          <p:cNvSpPr/>
          <p:nvPr/>
        </p:nvSpPr>
        <p:spPr>
          <a:xfrm>
            <a:off x="7374723" y="1307592"/>
            <a:ext cx="2313781" cy="457200"/>
          </a:xfrm>
          <a:prstGeom prst="roundRect">
            <a:avLst>
              <a:gd name="adj" fmla="val 50000"/>
            </a:avLst>
          </a:prstGeom>
          <a:solidFill>
            <a:srgbClr val="FFFFFF"/>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ekstrem doğa olayı</a:t>
            </a:r>
          </a:p>
        </p:txBody>
      </p:sp>
      <p:sp>
        <p:nvSpPr>
          <p:cNvPr id="11" name="Rounded Rectangle 10"/>
          <p:cNvSpPr/>
          <p:nvPr/>
        </p:nvSpPr>
        <p:spPr>
          <a:xfrm>
            <a:off x="9798232" y="1307592"/>
            <a:ext cx="788217" cy="457200"/>
          </a:xfrm>
          <a:prstGeom prst="roundRect">
            <a:avLst>
              <a:gd name="adj" fmla="val 50000"/>
            </a:avLst>
          </a:prstGeom>
          <a:solidFill>
            <a:srgbClr val="FFFFFF"/>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Risk</a:t>
            </a:r>
          </a:p>
        </p:txBody>
      </p:sp>
      <p:sp>
        <p:nvSpPr>
          <p:cNvPr id="12" name="Rounded Rectangle 11"/>
          <p:cNvSpPr/>
          <p:nvPr/>
        </p:nvSpPr>
        <p:spPr>
          <a:xfrm>
            <a:off x="10696177" y="1307592"/>
            <a:ext cx="803285" cy="457200"/>
          </a:xfrm>
          <a:prstGeom prst="roundRect">
            <a:avLst>
              <a:gd name="adj" fmla="val 50000"/>
            </a:avLst>
          </a:prstGeom>
          <a:solidFill>
            <a:srgbClr val="FFFFFF"/>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Afet</a:t>
            </a:r>
          </a:p>
        </p:txBody>
      </p:sp>
      <p:sp>
        <p:nvSpPr>
          <p:cNvPr id="13" name="Oval 12"/>
          <p:cNvSpPr/>
          <p:nvPr/>
        </p:nvSpPr>
        <p:spPr>
          <a:xfrm>
            <a:off x="502920" y="2284857"/>
            <a:ext cx="502920" cy="50292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980" b="1" i="0">
                <a:solidFill>
                  <a:srgbClr val="FFFFFF"/>
                </a:solidFill>
                <a:latin typeface="Calibri"/>
              </a:rPr>
              <a:t>1</a:t>
            </a:r>
          </a:p>
        </p:txBody>
      </p:sp>
      <p:sp>
        <p:nvSpPr>
          <p:cNvPr id="14" name="Rounded Rectangle 13"/>
          <p:cNvSpPr/>
          <p:nvPr/>
        </p:nvSpPr>
        <p:spPr>
          <a:xfrm>
            <a:off x="1143000" y="2039112"/>
            <a:ext cx="10545775" cy="994410"/>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Deprem, sel, taşkın, volkanik patlama, tsunami, çığ, fırtına, tayfun vb. ……………… ile yangın, patlama, kaza, salgın hastalık, savaş vb. ………………; yeterli önlemler alınmadığı takdirde afete dönüşmektedir.</a:t>
            </a:r>
          </a:p>
        </p:txBody>
      </p:sp>
      <p:sp>
        <p:nvSpPr>
          <p:cNvPr id="15" name="Oval 14"/>
          <p:cNvSpPr/>
          <p:nvPr/>
        </p:nvSpPr>
        <p:spPr>
          <a:xfrm>
            <a:off x="502920" y="3370707"/>
            <a:ext cx="502920" cy="50292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980" b="1" i="0">
                <a:solidFill>
                  <a:srgbClr val="FFFFFF"/>
                </a:solidFill>
                <a:latin typeface="Calibri"/>
              </a:rPr>
              <a:t>2</a:t>
            </a:r>
          </a:p>
        </p:txBody>
      </p:sp>
      <p:sp>
        <p:nvSpPr>
          <p:cNvPr id="16" name="Rounded Rectangle 15"/>
          <p:cNvSpPr/>
          <p:nvPr/>
        </p:nvSpPr>
        <p:spPr>
          <a:xfrm>
            <a:off x="1143000" y="3124962"/>
            <a:ext cx="10545775" cy="994410"/>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Doğanın akışı içinde gerçekleşen bir olayın aşırı veya sıra dışı şekilde meydana gelmesi ……………… olarak adlandırılmaktadır.</a:t>
            </a:r>
          </a:p>
        </p:txBody>
      </p:sp>
      <p:sp>
        <p:nvSpPr>
          <p:cNvPr id="17" name="Oval 16"/>
          <p:cNvSpPr/>
          <p:nvPr/>
        </p:nvSpPr>
        <p:spPr>
          <a:xfrm>
            <a:off x="502920" y="4456557"/>
            <a:ext cx="502920" cy="50292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980" b="1" i="0">
                <a:solidFill>
                  <a:srgbClr val="FFFFFF"/>
                </a:solidFill>
                <a:latin typeface="Calibri"/>
              </a:rPr>
              <a:t>3</a:t>
            </a:r>
          </a:p>
        </p:txBody>
      </p:sp>
      <p:sp>
        <p:nvSpPr>
          <p:cNvPr id="18" name="Rounded Rectangle 17"/>
          <p:cNvSpPr/>
          <p:nvPr/>
        </p:nvSpPr>
        <p:spPr>
          <a:xfrm>
            <a:off x="1143000" y="4210812"/>
            <a:ext cx="10545775" cy="994410"/>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 bir olayın belirli koşul ve ortamlarda meydana gelme ihtimali ve bu olayın doğurabileceği can ve mal kaybının yanında ekonomik ve çevresel değerlerin de kaybedilme olasılığıdır.</a:t>
            </a:r>
          </a:p>
        </p:txBody>
      </p:sp>
      <p:sp>
        <p:nvSpPr>
          <p:cNvPr id="19" name="Oval 18"/>
          <p:cNvSpPr/>
          <p:nvPr/>
        </p:nvSpPr>
        <p:spPr>
          <a:xfrm>
            <a:off x="502920" y="5542407"/>
            <a:ext cx="502920" cy="502920"/>
          </a:xfrm>
          <a:prstGeom prst="ellipse">
            <a:avLst/>
          </a:prstGeom>
          <a:solidFill>
            <a:srgbClr val="A63A32"/>
          </a:solidFill>
          <a:ln>
            <a:noFill/>
          </a:ln>
          <a:effectLst/>
        </p:spPr>
        <p:txBody>
          <a:bodyPr rtlCol="0" anchor="ctr" wrap="none" lIns="0" rIns="0" tIns="0" bIns="0">
            <a:noAutofit/>
          </a:bodyPr>
          <a:lstStyle/>
          <a:p>
            <a:pPr algn="ctr">
              <a:spcBef>
                <a:spcPts val="0"/>
              </a:spcBef>
              <a:spcAft>
                <a:spcPts val="0"/>
              </a:spcAft>
            </a:pPr>
            <a:r>
              <a:rPr lang="tr-TR" sz="1980" b="1" i="0">
                <a:solidFill>
                  <a:srgbClr val="FFFFFF"/>
                </a:solidFill>
                <a:latin typeface="Calibri"/>
              </a:rPr>
              <a:t>4</a:t>
            </a:r>
          </a:p>
        </p:txBody>
      </p:sp>
      <p:sp>
        <p:nvSpPr>
          <p:cNvPr id="20" name="Rounded Rectangle 19"/>
          <p:cNvSpPr/>
          <p:nvPr/>
        </p:nvSpPr>
        <p:spPr>
          <a:xfrm>
            <a:off x="1143000" y="5296662"/>
            <a:ext cx="10545775" cy="994410"/>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 tehlike arz eden doğal veya beşerî kaynaklı olaylara maruz kalınmasıyla olağan hayat düzenini bozan, can ve mal kaybına neden olan, insanların uyum sağlama kapasitesini aşarak dış yardıma gereksinim duyulan olaylardır.</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190-191</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38 / 250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Kelime bankası: boşlukları doldur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502920" y="1207008"/>
            <a:ext cx="2103120" cy="658368"/>
          </a:xfrm>
          <a:prstGeom prst="roundRect">
            <a:avLst>
              <a:gd name="adj" fmla="val 8000"/>
            </a:avLst>
          </a:prstGeom>
          <a:solidFill>
            <a:srgbClr val="A63A32"/>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Kelime bankası</a:t>
            </a:r>
          </a:p>
        </p:txBody>
      </p:sp>
      <p:sp>
        <p:nvSpPr>
          <p:cNvPr id="7" name="Rounded Rectangle 6"/>
          <p:cNvSpPr/>
          <p:nvPr/>
        </p:nvSpPr>
        <p:spPr>
          <a:xfrm>
            <a:off x="2715768" y="1207008"/>
            <a:ext cx="8973007" cy="658368"/>
          </a:xfrm>
          <a:prstGeom prst="roundRect">
            <a:avLst>
              <a:gd name="adj" fmla="val 20000"/>
            </a:avLst>
          </a:prstGeom>
          <a:solidFill>
            <a:srgbClr val="FFF3D1"/>
          </a:solidFill>
          <a:ln>
            <a:noFill/>
          </a:ln>
          <a:effectLst/>
        </p:spPr>
        <p:txBody>
          <a:bodyPr rtlCol="0" anchor="ctr"/>
          <a:lstStyle/>
          <a:p/>
        </p:txBody>
      </p:sp>
      <p:sp>
        <p:nvSpPr>
          <p:cNvPr id="8" name="Rounded Rectangle 7"/>
          <p:cNvSpPr/>
          <p:nvPr/>
        </p:nvSpPr>
        <p:spPr>
          <a:xfrm>
            <a:off x="2880360" y="1307592"/>
            <a:ext cx="1691928" cy="457200"/>
          </a:xfrm>
          <a:prstGeom prst="roundRect">
            <a:avLst>
              <a:gd name="adj" fmla="val 50000"/>
            </a:avLst>
          </a:prstGeom>
          <a:solidFill>
            <a:srgbClr val="E3F1E4"/>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doğa olayları</a:t>
            </a:r>
          </a:p>
        </p:txBody>
      </p:sp>
      <p:sp>
        <p:nvSpPr>
          <p:cNvPr id="9" name="Rounded Rectangle 8"/>
          <p:cNvSpPr/>
          <p:nvPr/>
        </p:nvSpPr>
        <p:spPr>
          <a:xfrm>
            <a:off x="4682016" y="1307592"/>
            <a:ext cx="2582979" cy="457200"/>
          </a:xfrm>
          <a:prstGeom prst="roundRect">
            <a:avLst>
              <a:gd name="adj" fmla="val 50000"/>
            </a:avLst>
          </a:prstGeom>
          <a:solidFill>
            <a:srgbClr val="E3F1E4"/>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insan kaynaklı olaylar</a:t>
            </a:r>
          </a:p>
        </p:txBody>
      </p:sp>
      <p:sp>
        <p:nvSpPr>
          <p:cNvPr id="10" name="Rounded Rectangle 9"/>
          <p:cNvSpPr/>
          <p:nvPr/>
        </p:nvSpPr>
        <p:spPr>
          <a:xfrm>
            <a:off x="7374723" y="1307592"/>
            <a:ext cx="2313781" cy="457200"/>
          </a:xfrm>
          <a:prstGeom prst="roundRect">
            <a:avLst>
              <a:gd name="adj" fmla="val 50000"/>
            </a:avLst>
          </a:prstGeom>
          <a:solidFill>
            <a:srgbClr val="E3F1E4"/>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ekstrem doğa olayı</a:t>
            </a:r>
          </a:p>
        </p:txBody>
      </p:sp>
      <p:sp>
        <p:nvSpPr>
          <p:cNvPr id="11" name="Rounded Rectangle 10"/>
          <p:cNvSpPr/>
          <p:nvPr/>
        </p:nvSpPr>
        <p:spPr>
          <a:xfrm>
            <a:off x="9798232" y="1307592"/>
            <a:ext cx="788217" cy="457200"/>
          </a:xfrm>
          <a:prstGeom prst="roundRect">
            <a:avLst>
              <a:gd name="adj" fmla="val 50000"/>
            </a:avLst>
          </a:prstGeom>
          <a:solidFill>
            <a:srgbClr val="E3F1E4"/>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Risk</a:t>
            </a:r>
          </a:p>
        </p:txBody>
      </p:sp>
      <p:sp>
        <p:nvSpPr>
          <p:cNvPr id="12" name="Rounded Rectangle 11"/>
          <p:cNvSpPr/>
          <p:nvPr/>
        </p:nvSpPr>
        <p:spPr>
          <a:xfrm>
            <a:off x="10696177" y="1307592"/>
            <a:ext cx="803285" cy="457200"/>
          </a:xfrm>
          <a:prstGeom prst="roundRect">
            <a:avLst>
              <a:gd name="adj" fmla="val 50000"/>
            </a:avLst>
          </a:prstGeom>
          <a:solidFill>
            <a:srgbClr val="E3F1E4"/>
          </a:solidFill>
          <a:ln w="19050">
            <a:solidFill>
              <a:srgbClr val="2E7D32"/>
            </a:solidFill>
          </a:ln>
          <a:effectLst/>
        </p:spPr>
        <p:txBody>
          <a:bodyPr rtlCol="0" anchor="ctr" wrap="square" lIns="54864" rIns="54864" tIns="0" bIns="0">
            <a:noAutofit/>
          </a:bodyPr>
          <a:lstStyle/>
          <a:p>
            <a:pPr algn="ctr">
              <a:spcBef>
                <a:spcPts val="0"/>
              </a:spcBef>
              <a:spcAft>
                <a:spcPts val="0"/>
              </a:spcAft>
            </a:pPr>
            <a:r>
              <a:rPr lang="tr-TR" sz="1900" b="1" i="0">
                <a:solidFill>
                  <a:srgbClr val="262626"/>
                </a:solidFill>
                <a:latin typeface="Calibri"/>
              </a:rPr>
              <a:t>Afet</a:t>
            </a:r>
          </a:p>
        </p:txBody>
      </p:sp>
      <p:sp>
        <p:nvSpPr>
          <p:cNvPr id="13" name="Oval 12"/>
          <p:cNvSpPr/>
          <p:nvPr/>
        </p:nvSpPr>
        <p:spPr>
          <a:xfrm>
            <a:off x="502920" y="2284857"/>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80" b="1" i="0">
                <a:solidFill>
                  <a:srgbClr val="FFFFFF"/>
                </a:solidFill>
                <a:latin typeface="Calibri"/>
              </a:rPr>
              <a:t>1</a:t>
            </a:r>
          </a:p>
        </p:txBody>
      </p:sp>
      <p:sp>
        <p:nvSpPr>
          <p:cNvPr id="14" name="Rounded Rectangle 13"/>
          <p:cNvSpPr/>
          <p:nvPr/>
        </p:nvSpPr>
        <p:spPr>
          <a:xfrm>
            <a:off x="1143000" y="2039112"/>
            <a:ext cx="10545775" cy="994410"/>
          </a:xfrm>
          <a:prstGeom prst="roundRect">
            <a:avLst>
              <a:gd name="adj" fmla="val 8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Deprem, sel, taşkın, volkanik patlama, tsunami, çığ, fırtına, tayfun vb. </a:t>
            </a:r>
            <a:r>
              <a:rPr lang="tr-TR" sz="1700" b="1" i="0">
                <a:solidFill>
                  <a:srgbClr val="262626"/>
                </a:solidFill>
                <a:latin typeface="Calibri"/>
              </a:rPr>
              <a:t>doğa olayları</a:t>
            </a:r>
            <a:r>
              <a:rPr lang="tr-TR" sz="1700" b="0" i="0">
                <a:solidFill>
                  <a:srgbClr val="262626"/>
                </a:solidFill>
                <a:latin typeface="Calibri"/>
              </a:rPr>
              <a:t> ile yangın, patlama, kaza, salgın hastalık, savaş vb. </a:t>
            </a:r>
            <a:r>
              <a:rPr lang="tr-TR" sz="1700" b="1" i="0">
                <a:solidFill>
                  <a:srgbClr val="262626"/>
                </a:solidFill>
                <a:latin typeface="Calibri"/>
              </a:rPr>
              <a:t>insan kaynaklı olaylar</a:t>
            </a:r>
            <a:r>
              <a:rPr lang="tr-TR" sz="1700" b="0" i="0">
                <a:solidFill>
                  <a:srgbClr val="262626"/>
                </a:solidFill>
                <a:latin typeface="Calibri"/>
              </a:rPr>
              <a:t>; yeterli önlemler alınmadığı takdirde afete dönüşmektedir.</a:t>
            </a:r>
          </a:p>
        </p:txBody>
      </p:sp>
      <p:sp>
        <p:nvSpPr>
          <p:cNvPr id="15" name="Oval 14"/>
          <p:cNvSpPr/>
          <p:nvPr/>
        </p:nvSpPr>
        <p:spPr>
          <a:xfrm>
            <a:off x="502920" y="3370707"/>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80" b="1" i="0">
                <a:solidFill>
                  <a:srgbClr val="FFFFFF"/>
                </a:solidFill>
                <a:latin typeface="Calibri"/>
              </a:rPr>
              <a:t>2</a:t>
            </a:r>
          </a:p>
        </p:txBody>
      </p:sp>
      <p:sp>
        <p:nvSpPr>
          <p:cNvPr id="16" name="Rounded Rectangle 15"/>
          <p:cNvSpPr/>
          <p:nvPr/>
        </p:nvSpPr>
        <p:spPr>
          <a:xfrm>
            <a:off x="1143000" y="3124962"/>
            <a:ext cx="10545775" cy="994410"/>
          </a:xfrm>
          <a:prstGeom prst="roundRect">
            <a:avLst>
              <a:gd name="adj" fmla="val 8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700" b="0" i="0">
                <a:solidFill>
                  <a:srgbClr val="262626"/>
                </a:solidFill>
                <a:latin typeface="Calibri"/>
              </a:rPr>
              <a:t>Doğanın akışı içinde gerçekleşen bir olayın aşırı veya sıra dışı şekilde meydana gelmesi </a:t>
            </a:r>
            <a:r>
              <a:rPr lang="tr-TR" sz="1700" b="1" i="0">
                <a:solidFill>
                  <a:srgbClr val="262626"/>
                </a:solidFill>
                <a:latin typeface="Calibri"/>
              </a:rPr>
              <a:t>ekstrem doğa olayı</a:t>
            </a:r>
            <a:r>
              <a:rPr lang="tr-TR" sz="1700" b="0" i="0">
                <a:solidFill>
                  <a:srgbClr val="262626"/>
                </a:solidFill>
                <a:latin typeface="Calibri"/>
              </a:rPr>
              <a:t> olarak adlandırılmaktadır.</a:t>
            </a:r>
          </a:p>
        </p:txBody>
      </p:sp>
      <p:sp>
        <p:nvSpPr>
          <p:cNvPr id="17" name="Oval 16"/>
          <p:cNvSpPr/>
          <p:nvPr/>
        </p:nvSpPr>
        <p:spPr>
          <a:xfrm>
            <a:off x="502920" y="4456557"/>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80" b="1" i="0">
                <a:solidFill>
                  <a:srgbClr val="FFFFFF"/>
                </a:solidFill>
                <a:latin typeface="Calibri"/>
              </a:rPr>
              <a:t>3</a:t>
            </a:r>
          </a:p>
        </p:txBody>
      </p:sp>
      <p:sp>
        <p:nvSpPr>
          <p:cNvPr id="18" name="Rounded Rectangle 17"/>
          <p:cNvSpPr/>
          <p:nvPr/>
        </p:nvSpPr>
        <p:spPr>
          <a:xfrm>
            <a:off x="1143000" y="4210812"/>
            <a:ext cx="10545775" cy="994410"/>
          </a:xfrm>
          <a:prstGeom prst="roundRect">
            <a:avLst>
              <a:gd name="adj" fmla="val 8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700" b="1" i="0">
                <a:solidFill>
                  <a:srgbClr val="262626"/>
                </a:solidFill>
                <a:latin typeface="Calibri"/>
              </a:rPr>
              <a:t>Risk</a:t>
            </a:r>
            <a:r>
              <a:rPr lang="tr-TR" sz="1700" b="0" i="0">
                <a:solidFill>
                  <a:srgbClr val="262626"/>
                </a:solidFill>
                <a:latin typeface="Calibri"/>
              </a:rPr>
              <a:t>, bir olayın belirli koşul ve ortamlarda meydana gelme ihtimali ve bu olayın doğurabileceği can ve mal kaybının yanında ekonomik ve çevresel değerlerin de kaybedilme olasılığıdır.</a:t>
            </a:r>
          </a:p>
        </p:txBody>
      </p:sp>
      <p:sp>
        <p:nvSpPr>
          <p:cNvPr id="19" name="Oval 18"/>
          <p:cNvSpPr/>
          <p:nvPr/>
        </p:nvSpPr>
        <p:spPr>
          <a:xfrm>
            <a:off x="502920" y="5542407"/>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1980" b="1" i="0">
                <a:solidFill>
                  <a:srgbClr val="FFFFFF"/>
                </a:solidFill>
                <a:latin typeface="Calibri"/>
              </a:rPr>
              <a:t>4</a:t>
            </a:r>
          </a:p>
        </p:txBody>
      </p:sp>
      <p:sp>
        <p:nvSpPr>
          <p:cNvPr id="20" name="Rounded Rectangle 19"/>
          <p:cNvSpPr/>
          <p:nvPr/>
        </p:nvSpPr>
        <p:spPr>
          <a:xfrm>
            <a:off x="1143000" y="5296662"/>
            <a:ext cx="10545775" cy="994410"/>
          </a:xfrm>
          <a:prstGeom prst="roundRect">
            <a:avLst>
              <a:gd name="adj" fmla="val 8000"/>
            </a:avLst>
          </a:prstGeom>
          <a:solidFill>
            <a:srgbClr val="E3F1E4"/>
          </a:solidFill>
          <a:ln>
            <a:noFill/>
          </a:ln>
          <a:effectLst/>
        </p:spPr>
        <p:txBody>
          <a:bodyPr rtlCol="0" anchor="ctr" wrap="square" lIns="182880" rIns="182880" tIns="73152" bIns="73152">
            <a:noAutofit/>
          </a:bodyPr>
          <a:lstStyle/>
          <a:p>
            <a:pPr algn="l">
              <a:spcBef>
                <a:spcPts val="0"/>
              </a:spcBef>
              <a:spcAft>
                <a:spcPts val="0"/>
              </a:spcAft>
            </a:pPr>
            <a:r>
              <a:rPr lang="tr-TR" sz="1700" b="1" i="0">
                <a:solidFill>
                  <a:srgbClr val="262626"/>
                </a:solidFill>
                <a:latin typeface="Calibri"/>
              </a:rPr>
              <a:t>Afet</a:t>
            </a:r>
            <a:r>
              <a:rPr lang="tr-TR" sz="1700" b="0" i="0">
                <a:solidFill>
                  <a:srgbClr val="262626"/>
                </a:solidFill>
                <a:latin typeface="Calibri"/>
              </a:rPr>
              <a:t>; tehlike arz eden doğal veya beşerî kaynaklı olaylara maruz kalınmasıyla olağan hayat düzenini bozan, can ve mal kaybına neden olan, insanların uyum sağlama kapasitesini aşarak dış yardıma gereksinim duyulan olaylardır.</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190-191</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39 / 250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Harita 6.1'e göre hangisi doğrudur?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Diri faylar yalnız Doğu Anadolu'dadır.</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Renkler nüfus yoğunluğunu gösterir.</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Yüksek tehlike kuşakları diri fay çizgilerini izler.</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İç Anadolu'nun ortası en yüksek tehlikededir.</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Fay sistemlerinin adları haritada yazılıdır.</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40 / 250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3</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Harita 6.1'e göre hangisi doğrudur?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Diri faylar yalnız Doğu Anadolu'dadır.</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Renkler nüfus yoğunluğunu gösterir.</a:t>
            </a:r>
          </a:p>
        </p:txBody>
      </p:sp>
      <p:sp>
        <p:nvSpPr>
          <p:cNvPr id="13" name="Rounded Rectangle 12"/>
          <p:cNvSpPr/>
          <p:nvPr/>
        </p:nvSpPr>
        <p:spPr>
          <a:xfrm>
            <a:off x="502920" y="3683202"/>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4" name="Oval 13"/>
          <p:cNvSpPr/>
          <p:nvPr/>
        </p:nvSpPr>
        <p:spPr>
          <a:xfrm>
            <a:off x="594360" y="3639310"/>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Yüksek tehlike kuşakları diri fay çizgilerini izler.</a:t>
            </a:r>
          </a:p>
        </p:txBody>
      </p:sp>
      <p:sp>
        <p:nvSpPr>
          <p:cNvPr id="16" name="Rounded Rectangle 15"/>
          <p:cNvSpPr/>
          <p:nvPr/>
        </p:nvSpPr>
        <p:spPr>
          <a:xfrm>
            <a:off x="502920" y="420806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16417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İç Anadolu'nun ortası en yüksek tehlikededir.</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Fay sistemlerinin adları haritada yazılıdır.</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Kırmızı-mor kuşaklar kuzeyde, doğuda ve batıda diri fay çizgileri boyunca uzanır; İç Anadolu'nun ortası sarıdır (düşük tehlike). Renkler deprem tehlikesini gösterir; fay adları haritada yazmaz.</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41 / 250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Görsel 6.4'e göre AFET şemanın neresindedir?</a:t>
            </a:r>
          </a:p>
        </p:txBody>
      </p:sp>
      <p:sp>
        <p:nvSpPr>
          <p:cNvPr id="7" name="Rounded Rectangle 6"/>
          <p:cNvSpPr/>
          <p:nvPr/>
        </p:nvSpPr>
        <p:spPr>
          <a:xfrm>
            <a:off x="502920" y="2633472"/>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694736"/>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tehlike dairesinde</a:t>
            </a:r>
          </a:p>
        </p:txBody>
      </p:sp>
      <p:sp>
        <p:nvSpPr>
          <p:cNvPr id="10" name="Rounded Rectangle 9"/>
          <p:cNvSpPr/>
          <p:nvPr/>
        </p:nvSpPr>
        <p:spPr>
          <a:xfrm>
            <a:off x="502920" y="3368649"/>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429913"/>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368649"/>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Yalnız maruziyet dairesinde</a:t>
            </a:r>
          </a:p>
        </p:txBody>
      </p:sp>
      <p:sp>
        <p:nvSpPr>
          <p:cNvPr id="13" name="Rounded Rectangle 12"/>
          <p:cNvSpPr/>
          <p:nvPr/>
        </p:nvSpPr>
        <p:spPr>
          <a:xfrm>
            <a:off x="502920" y="4103826"/>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4165090"/>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4103826"/>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Tehlike ile güvenlik açığının kesiştiği yerde</a:t>
            </a:r>
          </a:p>
        </p:txBody>
      </p:sp>
      <p:sp>
        <p:nvSpPr>
          <p:cNvPr id="16" name="Rounded Rectangle 15"/>
          <p:cNvSpPr/>
          <p:nvPr/>
        </p:nvSpPr>
        <p:spPr>
          <a:xfrm>
            <a:off x="502920" y="4839003"/>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17" name="Oval 16"/>
          <p:cNvSpPr/>
          <p:nvPr/>
        </p:nvSpPr>
        <p:spPr>
          <a:xfrm>
            <a:off x="594360" y="4900267"/>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839003"/>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Üç dairenin kesiştiği yerde</a:t>
            </a:r>
          </a:p>
        </p:txBody>
      </p:sp>
      <p:sp>
        <p:nvSpPr>
          <p:cNvPr id="19" name="Rounded Rectangle 18"/>
          <p:cNvSpPr/>
          <p:nvPr/>
        </p:nvSpPr>
        <p:spPr>
          <a:xfrm>
            <a:off x="502920" y="5574180"/>
            <a:ext cx="11185855" cy="625449"/>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5635444"/>
            <a:ext cx="502920" cy="502920"/>
          </a:xfrm>
          <a:prstGeom prst="ellipse">
            <a:avLst/>
          </a:prstGeom>
          <a:solidFill>
            <a:srgbClr val="2C6696"/>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5574180"/>
            <a:ext cx="10271455" cy="625449"/>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ÇEVRE çemberinin dışında</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Rounded Rectangle 2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24" name="TextBox 2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42 / 250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Bilgimizi Yoklayalım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YOKLAMA 4</a:t>
            </a:r>
          </a:p>
        </p:txBody>
      </p:sp>
      <p:sp>
        <p:nvSpPr>
          <p:cNvPr id="6" name="Rounded Rectangle 5"/>
          <p:cNvSpPr/>
          <p:nvPr/>
        </p:nvSpPr>
        <p:spPr>
          <a:xfrm>
            <a:off x="502920" y="1261872"/>
            <a:ext cx="11185855" cy="1234440"/>
          </a:xfrm>
          <a:prstGeom prst="roundRect">
            <a:avLst>
              <a:gd name="adj" fmla="val 8000"/>
            </a:avLst>
          </a:prstGeom>
          <a:solidFill>
            <a:srgbClr val="F0F0F0"/>
          </a:solidFill>
          <a:ln>
            <a:noFill/>
          </a:ln>
          <a:effectLst/>
        </p:spPr>
        <p:txBody>
          <a:bodyPr rtlCol="0" anchor="ctr" wrap="square" lIns="228600" rIns="228600" tIns="73152" bIns="73152">
            <a:noAutofit/>
          </a:bodyPr>
          <a:lstStyle/>
          <a:p>
            <a:pPr algn="l">
              <a:spcBef>
                <a:spcPts val="0"/>
              </a:spcBef>
              <a:spcAft>
                <a:spcPts val="0"/>
              </a:spcAft>
            </a:pPr>
            <a:r>
              <a:rPr lang="tr-TR" sz="2600" b="1" i="0">
                <a:solidFill>
                  <a:srgbClr val="262626"/>
                </a:solidFill>
                <a:latin typeface="Calibri"/>
              </a:rPr>
              <a:t>Görsel 6.4'e göre AFET şemanın neresindedir?</a:t>
            </a:r>
          </a:p>
        </p:txBody>
      </p:sp>
      <p:sp>
        <p:nvSpPr>
          <p:cNvPr id="7" name="Rounded Rectangle 6"/>
          <p:cNvSpPr/>
          <p:nvPr/>
        </p:nvSpPr>
        <p:spPr>
          <a:xfrm>
            <a:off x="502920" y="263347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8" name="Oval 7"/>
          <p:cNvSpPr/>
          <p:nvPr/>
        </p:nvSpPr>
        <p:spPr>
          <a:xfrm>
            <a:off x="594360" y="258958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A</a:t>
            </a:r>
          </a:p>
        </p:txBody>
      </p:sp>
      <p:sp>
        <p:nvSpPr>
          <p:cNvPr id="9" name="TextBox 8"/>
          <p:cNvSpPr txBox="1"/>
          <p:nvPr/>
        </p:nvSpPr>
        <p:spPr>
          <a:xfrm>
            <a:off x="1234440" y="263347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tehlike dairesinde</a:t>
            </a:r>
          </a:p>
        </p:txBody>
      </p:sp>
      <p:sp>
        <p:nvSpPr>
          <p:cNvPr id="10" name="Rounded Rectangle 9"/>
          <p:cNvSpPr/>
          <p:nvPr/>
        </p:nvSpPr>
        <p:spPr>
          <a:xfrm>
            <a:off x="502920" y="3158337"/>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1" name="Oval 10"/>
          <p:cNvSpPr/>
          <p:nvPr/>
        </p:nvSpPr>
        <p:spPr>
          <a:xfrm>
            <a:off x="594360" y="3114445"/>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B</a:t>
            </a:r>
          </a:p>
        </p:txBody>
      </p:sp>
      <p:sp>
        <p:nvSpPr>
          <p:cNvPr id="12" name="TextBox 11"/>
          <p:cNvSpPr txBox="1"/>
          <p:nvPr/>
        </p:nvSpPr>
        <p:spPr>
          <a:xfrm>
            <a:off x="1234440" y="315833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Yalnız maruziyet dairesinde</a:t>
            </a:r>
          </a:p>
        </p:txBody>
      </p:sp>
      <p:sp>
        <p:nvSpPr>
          <p:cNvPr id="13" name="Rounded Rectangle 12"/>
          <p:cNvSpPr/>
          <p:nvPr/>
        </p:nvSpPr>
        <p:spPr>
          <a:xfrm>
            <a:off x="502920" y="368320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14" name="Oval 13"/>
          <p:cNvSpPr/>
          <p:nvPr/>
        </p:nvSpPr>
        <p:spPr>
          <a:xfrm>
            <a:off x="594360" y="363931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C</a:t>
            </a:r>
          </a:p>
        </p:txBody>
      </p:sp>
      <p:sp>
        <p:nvSpPr>
          <p:cNvPr id="15" name="TextBox 14"/>
          <p:cNvSpPr txBox="1"/>
          <p:nvPr/>
        </p:nvSpPr>
        <p:spPr>
          <a:xfrm>
            <a:off x="1234440" y="368320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Tehlike ile güvenlik açığının kesiştiği yerde</a:t>
            </a:r>
          </a:p>
        </p:txBody>
      </p:sp>
      <p:sp>
        <p:nvSpPr>
          <p:cNvPr id="16" name="Rounded Rectangle 15"/>
          <p:cNvSpPr/>
          <p:nvPr/>
        </p:nvSpPr>
        <p:spPr>
          <a:xfrm>
            <a:off x="502920" y="4208067"/>
            <a:ext cx="11185855" cy="415137"/>
          </a:xfrm>
          <a:prstGeom prst="roundRect">
            <a:avLst>
              <a:gd name="adj" fmla="val 30000"/>
            </a:avLst>
          </a:prstGeom>
          <a:solidFill>
            <a:srgbClr val="E3F1E4"/>
          </a:solidFill>
          <a:ln w="31750">
            <a:solidFill>
              <a:srgbClr val="2E7D32"/>
            </a:solidFill>
          </a:ln>
          <a:effectLst/>
        </p:spPr>
        <p:txBody>
          <a:bodyPr rtlCol="0" anchor="ctr"/>
          <a:lstStyle/>
          <a:p/>
        </p:txBody>
      </p:sp>
      <p:sp>
        <p:nvSpPr>
          <p:cNvPr id="17" name="Oval 16"/>
          <p:cNvSpPr/>
          <p:nvPr/>
        </p:nvSpPr>
        <p:spPr>
          <a:xfrm>
            <a:off x="594360" y="4164175"/>
            <a:ext cx="502920" cy="502920"/>
          </a:xfrm>
          <a:prstGeom prst="ellipse">
            <a:avLst/>
          </a:prstGeom>
          <a:solidFill>
            <a:srgbClr val="2E7D32"/>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D</a:t>
            </a:r>
          </a:p>
        </p:txBody>
      </p:sp>
      <p:sp>
        <p:nvSpPr>
          <p:cNvPr id="18" name="TextBox 17"/>
          <p:cNvSpPr txBox="1"/>
          <p:nvPr/>
        </p:nvSpPr>
        <p:spPr>
          <a:xfrm>
            <a:off x="1234440" y="4208067"/>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262626"/>
                </a:solidFill>
                <a:latin typeface="Calibri"/>
              </a:rPr>
              <a:t>Üç dairenin kesiştiği yerde</a:t>
            </a:r>
          </a:p>
        </p:txBody>
      </p:sp>
      <p:sp>
        <p:nvSpPr>
          <p:cNvPr id="19" name="Rounded Rectangle 18"/>
          <p:cNvSpPr/>
          <p:nvPr/>
        </p:nvSpPr>
        <p:spPr>
          <a:xfrm>
            <a:off x="502920" y="4732932"/>
            <a:ext cx="11185855" cy="415137"/>
          </a:xfrm>
          <a:prstGeom prst="roundRect">
            <a:avLst>
              <a:gd name="adj" fmla="val 30000"/>
            </a:avLst>
          </a:prstGeom>
          <a:solidFill>
            <a:srgbClr val="FFFFFF"/>
          </a:solidFill>
          <a:ln w="12700">
            <a:solidFill>
              <a:srgbClr val="D9D9D9"/>
            </a:solidFill>
          </a:ln>
          <a:effectLst/>
        </p:spPr>
        <p:txBody>
          <a:bodyPr rtlCol="0" anchor="ctr"/>
          <a:lstStyle/>
          <a:p/>
        </p:txBody>
      </p:sp>
      <p:sp>
        <p:nvSpPr>
          <p:cNvPr id="20" name="Oval 19"/>
          <p:cNvSpPr/>
          <p:nvPr/>
        </p:nvSpPr>
        <p:spPr>
          <a:xfrm>
            <a:off x="594360" y="4689040"/>
            <a:ext cx="502920" cy="502920"/>
          </a:xfrm>
          <a:prstGeom prst="ellipse">
            <a:avLst/>
          </a:prstGeom>
          <a:solidFill>
            <a:srgbClr val="D9D9D9"/>
          </a:solidFill>
          <a:ln>
            <a:noFill/>
          </a:ln>
          <a:effectLst/>
        </p:spPr>
        <p:txBody>
          <a:bodyPr rtlCol="0" anchor="ctr" wrap="none" lIns="0" rIns="0" tIns="0" bIns="0">
            <a:noAutofit/>
          </a:bodyPr>
          <a:lstStyle/>
          <a:p>
            <a:pPr algn="ctr">
              <a:spcBef>
                <a:spcPts val="0"/>
              </a:spcBef>
              <a:spcAft>
                <a:spcPts val="0"/>
              </a:spcAft>
            </a:pPr>
            <a:r>
              <a:rPr lang="tr-TR" sz="2000" b="1" i="0">
                <a:solidFill>
                  <a:srgbClr val="FFFFFF"/>
                </a:solidFill>
                <a:latin typeface="Calibri"/>
              </a:rPr>
              <a:t>E</a:t>
            </a:r>
          </a:p>
        </p:txBody>
      </p:sp>
      <p:sp>
        <p:nvSpPr>
          <p:cNvPr id="21" name="TextBox 20"/>
          <p:cNvSpPr txBox="1"/>
          <p:nvPr/>
        </p:nvSpPr>
        <p:spPr>
          <a:xfrm>
            <a:off x="1234440" y="4732932"/>
            <a:ext cx="10271455" cy="415137"/>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767676"/>
                </a:solidFill>
                <a:latin typeface="Calibri"/>
              </a:rPr>
              <a:t>ÇEVRE çemberinin dışında</a:t>
            </a:r>
          </a:p>
        </p:txBody>
      </p:sp>
      <p:sp>
        <p:nvSpPr>
          <p:cNvPr id="22" name="Rounded Rectangle 21"/>
          <p:cNvSpPr/>
          <p:nvPr/>
        </p:nvSpPr>
        <p:spPr>
          <a:xfrm>
            <a:off x="502920" y="5266944"/>
            <a:ext cx="11185855" cy="10058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000" b="0" i="0">
                <a:solidFill>
                  <a:srgbClr val="262626"/>
                </a:solidFill>
                <a:latin typeface="Calibri"/>
              </a:rPr>
              <a:t>Tehlike ile güvenlik açığının kesiştiği yer risktir (C). İnsanların bu risklere maruz kalmasıyla da afetler meydana gelebilir. AFET üç dairenin ortasındadır.</a:t>
            </a:r>
          </a:p>
        </p:txBody>
      </p:sp>
      <p:sp>
        <p:nvSpPr>
          <p:cNvPr id="23" name="TextBox 2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4" name="Rounded Rectangle 2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a:t>
            </a:r>
          </a:p>
        </p:txBody>
      </p:sp>
      <p:sp>
        <p:nvSpPr>
          <p:cNvPr id="25" name="TextBox 2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43 / 250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Gruplara geçiş: görevlerimiz</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a:t>
            </a:r>
          </a:p>
        </p:txBody>
      </p:sp>
      <p:sp>
        <p:nvSpPr>
          <p:cNvPr id="6" name="Rounded Rectangle 5"/>
          <p:cNvSpPr/>
          <p:nvPr/>
        </p:nvSpPr>
        <p:spPr>
          <a:xfrm>
            <a:off x="502920" y="1261872"/>
            <a:ext cx="2076236" cy="310896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2076236" cy="530352"/>
          </a:xfrm>
          <a:prstGeom prst="roundRect">
            <a:avLst>
              <a:gd name="adj" fmla="val 25000"/>
            </a:avLst>
          </a:prstGeom>
          <a:solidFill>
            <a:srgbClr val="A63A32"/>
          </a:solidFill>
          <a:ln>
            <a:noFill/>
          </a:ln>
          <a:effectLst/>
        </p:spPr>
        <p:txBody>
          <a:bodyPr rtlCol="0" anchor="ctr"/>
          <a:lstStyle/>
          <a:p/>
        </p:txBody>
      </p:sp>
      <p:sp>
        <p:nvSpPr>
          <p:cNvPr id="8" name="Rectangle 7"/>
          <p:cNvSpPr/>
          <p:nvPr/>
        </p:nvSpPr>
        <p:spPr>
          <a:xfrm>
            <a:off x="502920" y="1527048"/>
            <a:ext cx="2076236" cy="265176"/>
          </a:xfrm>
          <a:prstGeom prst="rect">
            <a:avLst/>
          </a:prstGeom>
          <a:solidFill>
            <a:srgbClr val="A63A32"/>
          </a:solidFill>
          <a:ln>
            <a:noFill/>
          </a:ln>
          <a:effectLst/>
        </p:spPr>
        <p:txBody>
          <a:bodyPr rtlCol="0" anchor="ctr"/>
          <a:lstStyle/>
          <a:p/>
        </p:txBody>
      </p:sp>
      <p:sp>
        <p:nvSpPr>
          <p:cNvPr id="9" name="TextBox 8"/>
          <p:cNvSpPr txBox="1"/>
          <p:nvPr/>
        </p:nvSpPr>
        <p:spPr>
          <a:xfrm>
            <a:off x="594360"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SÖZCÜ</a:t>
            </a:r>
          </a:p>
        </p:txBody>
      </p:sp>
      <p:sp>
        <p:nvSpPr>
          <p:cNvPr id="10" name="TextBox 9"/>
          <p:cNvSpPr txBox="1"/>
          <p:nvPr/>
        </p:nvSpPr>
        <p:spPr>
          <a:xfrm>
            <a:off x="612648"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Grubun cevabını sınıfla paylaşır.</a:t>
            </a:r>
          </a:p>
        </p:txBody>
      </p:sp>
      <p:sp>
        <p:nvSpPr>
          <p:cNvPr id="11" name="Rounded Rectangle 10"/>
          <p:cNvSpPr/>
          <p:nvPr/>
        </p:nvSpPr>
        <p:spPr>
          <a:xfrm>
            <a:off x="2780324" y="1261872"/>
            <a:ext cx="2076236" cy="310896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2780324" y="1261872"/>
            <a:ext cx="207623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2780324" y="1527048"/>
            <a:ext cx="2076236" cy="265176"/>
          </a:xfrm>
          <a:prstGeom prst="rect">
            <a:avLst/>
          </a:prstGeom>
          <a:solidFill>
            <a:srgbClr val="4F4F4F"/>
          </a:solidFill>
          <a:ln>
            <a:noFill/>
          </a:ln>
          <a:effectLst/>
        </p:spPr>
        <p:txBody>
          <a:bodyPr rtlCol="0" anchor="ctr"/>
          <a:lstStyle/>
          <a:p/>
        </p:txBody>
      </p:sp>
      <p:sp>
        <p:nvSpPr>
          <p:cNvPr id="14" name="TextBox 13"/>
          <p:cNvSpPr txBox="1"/>
          <p:nvPr/>
        </p:nvSpPr>
        <p:spPr>
          <a:xfrm>
            <a:off x="2871764"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YAZICI</a:t>
            </a:r>
          </a:p>
        </p:txBody>
      </p:sp>
      <p:sp>
        <p:nvSpPr>
          <p:cNvPr id="15" name="TextBox 14"/>
          <p:cNvSpPr txBox="1"/>
          <p:nvPr/>
        </p:nvSpPr>
        <p:spPr>
          <a:xfrm>
            <a:off x="2890052"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Ortak cevabı yazar, tabloyu doldurur.</a:t>
            </a:r>
          </a:p>
        </p:txBody>
      </p:sp>
      <p:sp>
        <p:nvSpPr>
          <p:cNvPr id="16" name="Rounded Rectangle 15"/>
          <p:cNvSpPr/>
          <p:nvPr/>
        </p:nvSpPr>
        <p:spPr>
          <a:xfrm>
            <a:off x="5057728" y="1261872"/>
            <a:ext cx="2076236" cy="310896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57728" y="1261872"/>
            <a:ext cx="2076236" cy="530352"/>
          </a:xfrm>
          <a:prstGeom prst="roundRect">
            <a:avLst>
              <a:gd name="adj" fmla="val 25000"/>
            </a:avLst>
          </a:prstGeom>
          <a:solidFill>
            <a:srgbClr val="A63A32"/>
          </a:solidFill>
          <a:ln>
            <a:noFill/>
          </a:ln>
          <a:effectLst/>
        </p:spPr>
        <p:txBody>
          <a:bodyPr rtlCol="0" anchor="ctr"/>
          <a:lstStyle/>
          <a:p/>
        </p:txBody>
      </p:sp>
      <p:sp>
        <p:nvSpPr>
          <p:cNvPr id="18" name="Rectangle 17"/>
          <p:cNvSpPr/>
          <p:nvPr/>
        </p:nvSpPr>
        <p:spPr>
          <a:xfrm>
            <a:off x="5057728" y="1527048"/>
            <a:ext cx="2076236" cy="265176"/>
          </a:xfrm>
          <a:prstGeom prst="rect">
            <a:avLst/>
          </a:prstGeom>
          <a:solidFill>
            <a:srgbClr val="A63A32"/>
          </a:solidFill>
          <a:ln>
            <a:noFill/>
          </a:ln>
          <a:effectLst/>
        </p:spPr>
        <p:txBody>
          <a:bodyPr rtlCol="0" anchor="ctr"/>
          <a:lstStyle/>
          <a:p/>
        </p:txBody>
      </p:sp>
      <p:sp>
        <p:nvSpPr>
          <p:cNvPr id="19" name="TextBox 18"/>
          <p:cNvSpPr txBox="1"/>
          <p:nvPr/>
        </p:nvSpPr>
        <p:spPr>
          <a:xfrm>
            <a:off x="5149168"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ZAMAN VE MALZEME</a:t>
            </a:r>
          </a:p>
        </p:txBody>
      </p:sp>
      <p:sp>
        <p:nvSpPr>
          <p:cNvPr id="20" name="TextBox 19"/>
          <p:cNvSpPr txBox="1"/>
          <p:nvPr/>
        </p:nvSpPr>
        <p:spPr>
          <a:xfrm>
            <a:off x="5167456"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Süreyi izler, 2 dk kala uyarır; malzemeyi alır, teslim eder.</a:t>
            </a:r>
          </a:p>
        </p:txBody>
      </p:sp>
      <p:sp>
        <p:nvSpPr>
          <p:cNvPr id="21" name="Rounded Rectangle 20"/>
          <p:cNvSpPr/>
          <p:nvPr/>
        </p:nvSpPr>
        <p:spPr>
          <a:xfrm>
            <a:off x="7335132" y="1261872"/>
            <a:ext cx="2076236" cy="310896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7335132" y="1261872"/>
            <a:ext cx="2076236"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7335132" y="1527048"/>
            <a:ext cx="2076236" cy="265176"/>
          </a:xfrm>
          <a:prstGeom prst="rect">
            <a:avLst/>
          </a:prstGeom>
          <a:solidFill>
            <a:srgbClr val="4F4F4F"/>
          </a:solidFill>
          <a:ln>
            <a:noFill/>
          </a:ln>
          <a:effectLst/>
        </p:spPr>
        <p:txBody>
          <a:bodyPr rtlCol="0" anchor="ctr"/>
          <a:lstStyle/>
          <a:p/>
        </p:txBody>
      </p:sp>
      <p:sp>
        <p:nvSpPr>
          <p:cNvPr id="24" name="TextBox 23"/>
          <p:cNvSpPr txBox="1"/>
          <p:nvPr/>
        </p:nvSpPr>
        <p:spPr>
          <a:xfrm>
            <a:off x="7426572"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450" b="1" i="0">
                <a:solidFill>
                  <a:srgbClr val="FFFFFF"/>
                </a:solidFill>
                <a:latin typeface="Calibri"/>
              </a:rPr>
              <a:t>HARİTA / VERİ OKUYUCU</a:t>
            </a:r>
          </a:p>
        </p:txBody>
      </p:sp>
      <p:sp>
        <p:nvSpPr>
          <p:cNvPr id="25" name="TextBox 24"/>
          <p:cNvSpPr txBox="1"/>
          <p:nvPr/>
        </p:nvSpPr>
        <p:spPr>
          <a:xfrm>
            <a:off x="7444860"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Haritayı, tabloyu ve grafiği okur, gösterir.</a:t>
            </a:r>
          </a:p>
        </p:txBody>
      </p:sp>
      <p:sp>
        <p:nvSpPr>
          <p:cNvPr id="26" name="Rounded Rectangle 25"/>
          <p:cNvSpPr/>
          <p:nvPr/>
        </p:nvSpPr>
        <p:spPr>
          <a:xfrm>
            <a:off x="9612536" y="1261872"/>
            <a:ext cx="2076236" cy="3108960"/>
          </a:xfrm>
          <a:prstGeom prst="roundRect">
            <a:avLst>
              <a:gd name="adj" fmla="val 5000"/>
            </a:avLst>
          </a:prstGeom>
          <a:solidFill>
            <a:srgbClr val="F0F0F0"/>
          </a:solidFill>
          <a:ln>
            <a:noFill/>
          </a:ln>
          <a:effectLst/>
        </p:spPr>
        <p:txBody>
          <a:bodyPr rtlCol="0" anchor="ctr"/>
          <a:lstStyle/>
          <a:p/>
        </p:txBody>
      </p:sp>
      <p:sp>
        <p:nvSpPr>
          <p:cNvPr id="27" name="Rounded Rectangle 26"/>
          <p:cNvSpPr/>
          <p:nvPr/>
        </p:nvSpPr>
        <p:spPr>
          <a:xfrm>
            <a:off x="9612536" y="1261872"/>
            <a:ext cx="2076236" cy="530352"/>
          </a:xfrm>
          <a:prstGeom prst="roundRect">
            <a:avLst>
              <a:gd name="adj" fmla="val 25000"/>
            </a:avLst>
          </a:prstGeom>
          <a:solidFill>
            <a:srgbClr val="A63A32"/>
          </a:solidFill>
          <a:ln>
            <a:noFill/>
          </a:ln>
          <a:effectLst/>
        </p:spPr>
        <p:txBody>
          <a:bodyPr rtlCol="0" anchor="ctr"/>
          <a:lstStyle/>
          <a:p/>
        </p:txBody>
      </p:sp>
      <p:sp>
        <p:nvSpPr>
          <p:cNvPr id="28" name="Rectangle 27"/>
          <p:cNvSpPr/>
          <p:nvPr/>
        </p:nvSpPr>
        <p:spPr>
          <a:xfrm>
            <a:off x="9612536" y="1527048"/>
            <a:ext cx="2076236" cy="265176"/>
          </a:xfrm>
          <a:prstGeom prst="rect">
            <a:avLst/>
          </a:prstGeom>
          <a:solidFill>
            <a:srgbClr val="A63A32"/>
          </a:solidFill>
          <a:ln>
            <a:noFill/>
          </a:ln>
          <a:effectLst/>
        </p:spPr>
        <p:txBody>
          <a:bodyPr rtlCol="0" anchor="ctr"/>
          <a:lstStyle/>
          <a:p/>
        </p:txBody>
      </p:sp>
      <p:sp>
        <p:nvSpPr>
          <p:cNvPr id="29" name="TextBox 28"/>
          <p:cNvSpPr txBox="1"/>
          <p:nvPr/>
        </p:nvSpPr>
        <p:spPr>
          <a:xfrm>
            <a:off x="9703976" y="1261872"/>
            <a:ext cx="1893356" cy="530352"/>
          </a:xfrm>
          <a:prstGeom prst="rect">
            <a:avLst/>
          </a:prstGeom>
          <a:noFill/>
        </p:spPr>
        <p:txBody>
          <a:bodyPr wrap="square" anchor="ctr" lIns="73152" rIns="73152" tIns="36576" bIns="36576">
            <a:noAutofit/>
          </a:bodyPr>
          <a:lstStyle/>
          <a:p>
            <a:pPr algn="l">
              <a:spcBef>
                <a:spcPts val="0"/>
              </a:spcBef>
              <a:spcAft>
                <a:spcPts val="0"/>
              </a:spcAft>
            </a:pPr>
            <a:r>
              <a:rPr lang="tr-TR" sz="1600" b="1" i="0">
                <a:solidFill>
                  <a:srgbClr val="FFFFFF"/>
                </a:solidFill>
                <a:latin typeface="Calibri"/>
              </a:rPr>
              <a:t>KONTROLCÜ</a:t>
            </a:r>
          </a:p>
        </p:txBody>
      </p:sp>
      <p:sp>
        <p:nvSpPr>
          <p:cNvPr id="30" name="TextBox 29"/>
          <p:cNvSpPr txBox="1"/>
          <p:nvPr/>
        </p:nvSpPr>
        <p:spPr>
          <a:xfrm>
            <a:off x="9722264" y="1865376"/>
            <a:ext cx="1856780" cy="243230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5 kişilik grupta yazımı, kaynağı ve doğruluğu denetler.</a:t>
            </a:r>
          </a:p>
        </p:txBody>
      </p:sp>
      <p:sp>
        <p:nvSpPr>
          <p:cNvPr id="31" name="Rounded Rectangle 30"/>
          <p:cNvSpPr/>
          <p:nvPr/>
        </p:nvSpPr>
        <p:spPr>
          <a:xfrm>
            <a:off x="502920" y="4599432"/>
            <a:ext cx="11185855" cy="1645920"/>
          </a:xfrm>
          <a:prstGeom prst="roundRect">
            <a:avLst>
              <a:gd name="adj" fmla="val 8000"/>
            </a:avLst>
          </a:prstGeom>
          <a:solidFill>
            <a:srgbClr val="F0F0F0"/>
          </a:solidFill>
          <a:ln>
            <a:noFill/>
          </a:ln>
          <a:effectLst/>
        </p:spPr>
        <p:txBody>
          <a:bodyPr rtlCol="0" anchor="ctr" wrap="square" lIns="274320" rIns="274320" tIns="73152" bIns="73152">
            <a:noAutofit/>
          </a:bodyPr>
          <a:lstStyle/>
          <a:p>
            <a:pPr algn="l">
              <a:spcBef>
                <a:spcPts val="0"/>
              </a:spcBef>
              <a:spcAft>
                <a:spcPts val="600"/>
              </a:spcAft>
            </a:pPr>
            <a:r>
              <a:rPr lang="tr-TR" sz="2400" b="1" i="0">
                <a:solidFill>
                  <a:srgbClr val="A63A32"/>
                </a:solidFill>
                <a:latin typeface="Calibri"/>
              </a:rPr>
              <a:t>17 Ağustos 1999 depremi: metin, iki harita ve şema</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Grupta “30 cm sesi” · söz hakkı isim kartıyla · farklı görüşlere saygı</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44 / 250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Etkinlik: Tehlike, Risk ve Afet</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15 dk</a:t>
            </a:r>
          </a:p>
        </p:txBody>
      </p:sp>
      <p:sp>
        <p:nvSpPr>
          <p:cNvPr id="6" name="Rounded Rectangle 5"/>
          <p:cNvSpPr/>
          <p:nvPr/>
        </p:nvSpPr>
        <p:spPr>
          <a:xfrm>
            <a:off x="502920" y="1216152"/>
            <a:ext cx="11185855" cy="960120"/>
          </a:xfrm>
          <a:prstGeom prst="roundRect">
            <a:avLst>
              <a:gd name="adj" fmla="val 8000"/>
            </a:avLst>
          </a:prstGeom>
          <a:solidFill>
            <a:srgbClr val="FFF3D1"/>
          </a:solidFill>
          <a:ln>
            <a:noFill/>
          </a:ln>
          <a:effectLst/>
        </p:spPr>
        <p:txBody>
          <a:bodyPr rtlCol="0" anchor="ctr"/>
          <a:lstStyle/>
          <a:p/>
        </p:txBody>
      </p:sp>
      <p:sp>
        <p:nvSpPr>
          <p:cNvPr id="7" name="TextBox 6"/>
          <p:cNvSpPr txBox="1"/>
          <p:nvPr/>
        </p:nvSpPr>
        <p:spPr>
          <a:xfrm>
            <a:off x="640080" y="1271016"/>
            <a:ext cx="1143000" cy="452628"/>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Amaç</a:t>
            </a:r>
          </a:p>
        </p:txBody>
      </p:sp>
      <p:sp>
        <p:nvSpPr>
          <p:cNvPr id="8" name="TextBox 7"/>
          <p:cNvSpPr txBox="1"/>
          <p:nvPr/>
        </p:nvSpPr>
        <p:spPr>
          <a:xfrm>
            <a:off x="1783080" y="1271016"/>
            <a:ext cx="9722815" cy="452628"/>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Tehlike, risk ve afet kavramlarını çözümleyebilme</a:t>
            </a:r>
          </a:p>
        </p:txBody>
      </p:sp>
      <p:sp>
        <p:nvSpPr>
          <p:cNvPr id="9" name="TextBox 8"/>
          <p:cNvSpPr txBox="1"/>
          <p:nvPr/>
        </p:nvSpPr>
        <p:spPr>
          <a:xfrm>
            <a:off x="640080" y="1696212"/>
            <a:ext cx="1143000" cy="425196"/>
          </a:xfrm>
          <a:prstGeom prst="rect">
            <a:avLst/>
          </a:prstGeom>
          <a:noFill/>
        </p:spPr>
        <p:txBody>
          <a:bodyPr wrap="square" anchor="ctr" lIns="73152" rIns="73152" tIns="36576" bIns="36576">
            <a:noAutofit/>
          </a:bodyPr>
          <a:lstStyle/>
          <a:p>
            <a:pPr algn="l">
              <a:spcBef>
                <a:spcPts val="0"/>
              </a:spcBef>
              <a:spcAft>
                <a:spcPts val="0"/>
              </a:spcAft>
            </a:pPr>
            <a:r>
              <a:rPr lang="tr-TR" sz="1800" b="1" i="0">
                <a:solidFill>
                  <a:srgbClr val="D3373A"/>
                </a:solidFill>
                <a:latin typeface="Calibri"/>
              </a:rPr>
              <a:t>Beceri</a:t>
            </a:r>
          </a:p>
        </p:txBody>
      </p:sp>
      <p:sp>
        <p:nvSpPr>
          <p:cNvPr id="10" name="TextBox 9"/>
          <p:cNvSpPr txBox="1"/>
          <p:nvPr/>
        </p:nvSpPr>
        <p:spPr>
          <a:xfrm>
            <a:off x="1783080" y="1696212"/>
            <a:ext cx="9722815" cy="425196"/>
          </a:xfrm>
          <a:prstGeom prst="rect">
            <a:avLst/>
          </a:prstGeom>
          <a:noFill/>
        </p:spPr>
        <p:txBody>
          <a:bodyPr wrap="square" anchor="ctr" lIns="73152" rIns="73152" tIns="36576" bIns="36576">
            <a:noAutofit/>
          </a:bodyPr>
          <a:lstStyle/>
          <a:p>
            <a:pPr algn="l">
              <a:spcBef>
                <a:spcPts val="0"/>
              </a:spcBef>
              <a:spcAft>
                <a:spcPts val="0"/>
              </a:spcAft>
            </a:pPr>
            <a:r>
              <a:rPr lang="tr-TR" sz="1800" b="0" i="1">
                <a:solidFill>
                  <a:srgbClr val="262626"/>
                </a:solidFill>
                <a:latin typeface="Calibri"/>
              </a:rPr>
              <a:t>Çözümleme, Harita, İletişim, Bilgi Okuryazarlığı, Görsel Okuryazarlık</a:t>
            </a:r>
          </a:p>
        </p:txBody>
      </p:sp>
      <p:sp>
        <p:nvSpPr>
          <p:cNvPr id="11" name="Rounded Rectangle 10"/>
          <p:cNvSpPr/>
          <p:nvPr/>
        </p:nvSpPr>
        <p:spPr>
          <a:xfrm>
            <a:off x="502920" y="2286000"/>
            <a:ext cx="11185855" cy="86868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100" b="1" i="0">
                <a:solidFill>
                  <a:srgbClr val="262626"/>
                </a:solidFill>
                <a:latin typeface="Calibri"/>
              </a:rPr>
              <a:t>Öğretmen rehberliğinde gruplar oluşturup metin ve coğrafi temsillerde yer alan bilgilerden yararlanarak tehlike, risk ve afet kavramlarını çözümleyiniz.</a:t>
            </a:r>
          </a:p>
        </p:txBody>
      </p:sp>
      <p:sp>
        <p:nvSpPr>
          <p:cNvPr id="12" name="Rounded Rectangle 11"/>
          <p:cNvSpPr/>
          <p:nvPr/>
        </p:nvSpPr>
        <p:spPr>
          <a:xfrm>
            <a:off x="502920" y="3273552"/>
            <a:ext cx="11185855" cy="920496"/>
          </a:xfrm>
          <a:prstGeom prst="roundRect">
            <a:avLst>
              <a:gd name="adj" fmla="val 8000"/>
            </a:avLst>
          </a:prstGeom>
          <a:solidFill>
            <a:srgbClr val="F0F0F0"/>
          </a:solidFill>
          <a:ln>
            <a:noFill/>
          </a:ln>
          <a:effectLst/>
        </p:spPr>
        <p:txBody>
          <a:bodyPr rtlCol="0" anchor="ctr"/>
          <a:lstStyle/>
          <a:p/>
        </p:txBody>
      </p:sp>
      <p:sp>
        <p:nvSpPr>
          <p:cNvPr id="13" name="Rounded Rectangle 12"/>
          <p:cNvSpPr/>
          <p:nvPr/>
        </p:nvSpPr>
        <p:spPr>
          <a:xfrm>
            <a:off x="502920" y="3273552"/>
            <a:ext cx="1600200" cy="920496"/>
          </a:xfrm>
          <a:prstGeom prst="roundRect">
            <a:avLst>
              <a:gd name="adj" fmla="val 8000"/>
            </a:avLst>
          </a:prstGeom>
          <a:solidFill>
            <a:srgbClr val="A63A3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METİN</a:t>
            </a:r>
          </a:p>
        </p:txBody>
      </p:sp>
      <p:sp>
        <p:nvSpPr>
          <p:cNvPr id="14" name="TextBox 13"/>
          <p:cNvSpPr txBox="1"/>
          <p:nvPr/>
        </p:nvSpPr>
        <p:spPr>
          <a:xfrm>
            <a:off x="2240280" y="3273552"/>
            <a:ext cx="8122615" cy="92049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17 Ağustos 1999 Depremi metnini sessizce okuyun.</a:t>
            </a:r>
          </a:p>
        </p:txBody>
      </p:sp>
      <p:sp>
        <p:nvSpPr>
          <p:cNvPr id="15" name="Rounded Rectangle 14"/>
          <p:cNvSpPr/>
          <p:nvPr/>
        </p:nvSpPr>
        <p:spPr>
          <a:xfrm>
            <a:off x="10545775" y="3459480"/>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3 dk</a:t>
            </a:r>
          </a:p>
        </p:txBody>
      </p:sp>
      <p:sp>
        <p:nvSpPr>
          <p:cNvPr id="16" name="Rounded Rectangle 15"/>
          <p:cNvSpPr/>
          <p:nvPr/>
        </p:nvSpPr>
        <p:spPr>
          <a:xfrm>
            <a:off x="502920" y="4322064"/>
            <a:ext cx="11185855" cy="920496"/>
          </a:xfrm>
          <a:prstGeom prst="roundRect">
            <a:avLst>
              <a:gd name="adj" fmla="val 8000"/>
            </a:avLst>
          </a:prstGeom>
          <a:solidFill>
            <a:srgbClr val="F0F0F0"/>
          </a:solidFill>
          <a:ln>
            <a:noFill/>
          </a:ln>
          <a:effectLst/>
        </p:spPr>
        <p:txBody>
          <a:bodyPr rtlCol="0" anchor="ctr"/>
          <a:lstStyle/>
          <a:p/>
        </p:txBody>
      </p:sp>
      <p:sp>
        <p:nvSpPr>
          <p:cNvPr id="17" name="Rounded Rectangle 16"/>
          <p:cNvSpPr/>
          <p:nvPr/>
        </p:nvSpPr>
        <p:spPr>
          <a:xfrm>
            <a:off x="502920" y="4322064"/>
            <a:ext cx="1600200" cy="920496"/>
          </a:xfrm>
          <a:prstGeom prst="roundRect">
            <a:avLst>
              <a:gd name="adj" fmla="val 8000"/>
            </a:avLst>
          </a:prstGeom>
          <a:solidFill>
            <a:srgbClr val="A63A3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HARİTALAR</a:t>
            </a:r>
          </a:p>
        </p:txBody>
      </p:sp>
      <p:sp>
        <p:nvSpPr>
          <p:cNvPr id="18" name="TextBox 17"/>
          <p:cNvSpPr txBox="1"/>
          <p:nvPr/>
        </p:nvSpPr>
        <p:spPr>
          <a:xfrm>
            <a:off x="2240280" y="4322064"/>
            <a:ext cx="8122615" cy="92049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Tehlike haritasını ve yerleşme-diri fay haritasını çözümleyin.</a:t>
            </a:r>
          </a:p>
        </p:txBody>
      </p:sp>
      <p:sp>
        <p:nvSpPr>
          <p:cNvPr id="19" name="Rounded Rectangle 18"/>
          <p:cNvSpPr/>
          <p:nvPr/>
        </p:nvSpPr>
        <p:spPr>
          <a:xfrm>
            <a:off x="10545775" y="4507992"/>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5 dk</a:t>
            </a:r>
          </a:p>
        </p:txBody>
      </p:sp>
      <p:sp>
        <p:nvSpPr>
          <p:cNvPr id="20" name="Rounded Rectangle 19"/>
          <p:cNvSpPr/>
          <p:nvPr/>
        </p:nvSpPr>
        <p:spPr>
          <a:xfrm>
            <a:off x="502920" y="5370576"/>
            <a:ext cx="11185855" cy="920496"/>
          </a:xfrm>
          <a:prstGeom prst="roundRect">
            <a:avLst>
              <a:gd name="adj" fmla="val 8000"/>
            </a:avLst>
          </a:prstGeom>
          <a:solidFill>
            <a:srgbClr val="F0F0F0"/>
          </a:solidFill>
          <a:ln>
            <a:noFill/>
          </a:ln>
          <a:effectLst/>
        </p:spPr>
        <p:txBody>
          <a:bodyPr rtlCol="0" anchor="ctr"/>
          <a:lstStyle/>
          <a:p/>
        </p:txBody>
      </p:sp>
      <p:sp>
        <p:nvSpPr>
          <p:cNvPr id="21" name="Rounded Rectangle 20"/>
          <p:cNvSpPr/>
          <p:nvPr/>
        </p:nvSpPr>
        <p:spPr>
          <a:xfrm>
            <a:off x="502920" y="5370576"/>
            <a:ext cx="1600200" cy="920496"/>
          </a:xfrm>
          <a:prstGeom prst="roundRect">
            <a:avLst>
              <a:gd name="adj" fmla="val 8000"/>
            </a:avLst>
          </a:prstGeom>
          <a:solidFill>
            <a:srgbClr val="A63A32"/>
          </a:solidFill>
          <a:ln>
            <a:noFill/>
          </a:ln>
          <a:effectLst/>
        </p:spPr>
        <p:txBody>
          <a:bodyPr rtlCol="0" anchor="ctr" wrap="square" lIns="54864" rIns="54864" tIns="73152" bIns="73152">
            <a:noAutofit/>
          </a:bodyPr>
          <a:lstStyle/>
          <a:p>
            <a:pPr algn="ctr">
              <a:spcBef>
                <a:spcPts val="0"/>
              </a:spcBef>
              <a:spcAft>
                <a:spcPts val="0"/>
              </a:spcAft>
            </a:pPr>
            <a:r>
              <a:rPr lang="tr-TR" sz="2000" b="1" i="0">
                <a:solidFill>
                  <a:srgbClr val="FFFFFF"/>
                </a:solidFill>
                <a:latin typeface="Calibri"/>
              </a:rPr>
              <a:t>ŞEMA</a:t>
            </a:r>
          </a:p>
        </p:txBody>
      </p:sp>
      <p:sp>
        <p:nvSpPr>
          <p:cNvPr id="22" name="TextBox 21"/>
          <p:cNvSpPr txBox="1"/>
          <p:nvPr/>
        </p:nvSpPr>
        <p:spPr>
          <a:xfrm>
            <a:off x="2240280" y="5370576"/>
            <a:ext cx="8122615" cy="920496"/>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1. soru: kavramları şemaya ve noktalı yerlere yazın.</a:t>
            </a:r>
          </a:p>
        </p:txBody>
      </p:sp>
      <p:sp>
        <p:nvSpPr>
          <p:cNvPr id="23" name="Rounded Rectangle 22"/>
          <p:cNvSpPr/>
          <p:nvPr/>
        </p:nvSpPr>
        <p:spPr>
          <a:xfrm>
            <a:off x="10545775" y="5556504"/>
            <a:ext cx="1005840" cy="548640"/>
          </a:xfrm>
          <a:prstGeom prst="roundRect">
            <a:avLst>
              <a:gd name="adj" fmla="val 30000"/>
            </a:avLst>
          </a:prstGeom>
          <a:solidFill>
            <a:srgbClr val="FCC021"/>
          </a:solidFill>
          <a:ln>
            <a:noFill/>
          </a:ln>
          <a:effectLst/>
        </p:spPr>
        <p:txBody>
          <a:bodyPr rtlCol="0" anchor="ctr" wrap="square" lIns="27432" rIns="27432" tIns="0" bIns="0">
            <a:noAutofit/>
          </a:bodyPr>
          <a:lstStyle/>
          <a:p>
            <a:pPr algn="ctr">
              <a:spcBef>
                <a:spcPts val="0"/>
              </a:spcBef>
              <a:spcAft>
                <a:spcPts val="0"/>
              </a:spcAft>
            </a:pPr>
            <a:r>
              <a:rPr lang="tr-TR" sz="1800" b="1" i="0">
                <a:solidFill>
                  <a:srgbClr val="262626"/>
                </a:solidFill>
                <a:latin typeface="Calibri"/>
              </a:rPr>
              <a:t>7 dk</a:t>
            </a:r>
          </a:p>
        </p:txBody>
      </p:sp>
      <p:sp>
        <p:nvSpPr>
          <p:cNvPr id="24" name="TextBox 2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5" name="Rounded Rectangle 2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192-193</a:t>
            </a:r>
          </a:p>
        </p:txBody>
      </p:sp>
      <p:sp>
        <p:nvSpPr>
          <p:cNvPr id="26" name="TextBox 2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45 / 250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17 Ağustos 1999 Depremi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METİN · 3 dk</a:t>
            </a:r>
          </a:p>
        </p:txBody>
      </p:sp>
      <p:sp>
        <p:nvSpPr>
          <p:cNvPr id="6" name="Rounded Rectangle 5"/>
          <p:cNvSpPr/>
          <p:nvPr/>
        </p:nvSpPr>
        <p:spPr>
          <a:xfrm>
            <a:off x="502920" y="1216152"/>
            <a:ext cx="11185855" cy="1482734"/>
          </a:xfrm>
          <a:prstGeom prst="roundRect">
            <a:avLst>
              <a:gd name="adj" fmla="val 8000"/>
            </a:avLst>
          </a:prstGeom>
          <a:solidFill>
            <a:srgbClr val="F0F0F0"/>
          </a:solidFill>
          <a:ln>
            <a:noFill/>
          </a:ln>
          <a:effectLst/>
        </p:spPr>
        <p:txBody>
          <a:bodyPr rtlCol="0" anchor="ctr"/>
          <a:lstStyle/>
          <a:p/>
        </p:txBody>
      </p:sp>
      <p:sp>
        <p:nvSpPr>
          <p:cNvPr id="7" name="Rectangle 6"/>
          <p:cNvSpPr/>
          <p:nvPr/>
        </p:nvSpPr>
        <p:spPr>
          <a:xfrm>
            <a:off x="502920" y="1216152"/>
            <a:ext cx="118872" cy="1482734"/>
          </a:xfrm>
          <a:prstGeom prst="rect">
            <a:avLst/>
          </a:prstGeom>
          <a:solidFill>
            <a:srgbClr val="A63A32"/>
          </a:solidFill>
          <a:ln>
            <a:noFill/>
          </a:ln>
          <a:effectLst/>
        </p:spPr>
        <p:txBody>
          <a:bodyPr rtlCol="0" anchor="ctr"/>
          <a:lstStyle/>
          <a:p/>
        </p:txBody>
      </p:sp>
      <p:sp>
        <p:nvSpPr>
          <p:cNvPr id="8" name="TextBox 7"/>
          <p:cNvSpPr txBox="1"/>
          <p:nvPr/>
        </p:nvSpPr>
        <p:spPr>
          <a:xfrm>
            <a:off x="777240" y="1216152"/>
            <a:ext cx="10774375" cy="148273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Türkiye’de 17 Ağustos 1999 tarihinde Gölcük (Kocaeli) merkezli 7,4 büyüklüğünde bir deprem meydana gelmiştir. Bu sarsıntı; Bolu, Bursa, Eskişehir, İstanbul, Kocaeli, Sakarya, Yalova ve Zonguldak’ta çok şiddetli hissedilmiştir.</a:t>
            </a:r>
          </a:p>
        </p:txBody>
      </p:sp>
      <p:sp>
        <p:nvSpPr>
          <p:cNvPr id="9" name="Rounded Rectangle 8"/>
          <p:cNvSpPr/>
          <p:nvPr/>
        </p:nvSpPr>
        <p:spPr>
          <a:xfrm>
            <a:off x="502920" y="2826902"/>
            <a:ext cx="11185855" cy="1482734"/>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2826902"/>
            <a:ext cx="118872" cy="1482734"/>
          </a:xfrm>
          <a:prstGeom prst="rect">
            <a:avLst/>
          </a:prstGeom>
          <a:solidFill>
            <a:srgbClr val="A63A32"/>
          </a:solidFill>
          <a:ln>
            <a:noFill/>
          </a:ln>
          <a:effectLst/>
        </p:spPr>
        <p:txBody>
          <a:bodyPr rtlCol="0" anchor="ctr"/>
          <a:lstStyle/>
          <a:p/>
        </p:txBody>
      </p:sp>
      <p:sp>
        <p:nvSpPr>
          <p:cNvPr id="11" name="TextBox 10"/>
          <p:cNvSpPr txBox="1"/>
          <p:nvPr/>
        </p:nvSpPr>
        <p:spPr>
          <a:xfrm>
            <a:off x="777240" y="2826902"/>
            <a:ext cx="10774375" cy="1482734"/>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Depremin Türkiye’nin önemli sanayi merkezlerinin bulunduğu, şehirleşme ve nüfus yoğunluğunun fazla olduğu bir bölgede yaşanması can ve mal kaybını artırmıştır. Bu deprem, Türkiye’nin en etkin fay sistemlerinden biri olan Kuzey Anadolu Fay Sistemi’nde meydana gelmiştir.</a:t>
            </a:r>
          </a:p>
        </p:txBody>
      </p:sp>
      <p:sp>
        <p:nvSpPr>
          <p:cNvPr id="12" name="Rounded Rectangle 11"/>
          <p:cNvSpPr/>
          <p:nvPr/>
        </p:nvSpPr>
        <p:spPr>
          <a:xfrm>
            <a:off x="502920" y="4437652"/>
            <a:ext cx="11185855" cy="1853418"/>
          </a:xfrm>
          <a:prstGeom prst="roundRect">
            <a:avLst>
              <a:gd name="adj" fmla="val 8000"/>
            </a:avLst>
          </a:prstGeom>
          <a:solidFill>
            <a:srgbClr val="F0F0F0"/>
          </a:solidFill>
          <a:ln>
            <a:noFill/>
          </a:ln>
          <a:effectLst/>
        </p:spPr>
        <p:txBody>
          <a:bodyPr rtlCol="0" anchor="ctr"/>
          <a:lstStyle/>
          <a:p/>
        </p:txBody>
      </p:sp>
      <p:sp>
        <p:nvSpPr>
          <p:cNvPr id="13" name="Rectangle 12"/>
          <p:cNvSpPr/>
          <p:nvPr/>
        </p:nvSpPr>
        <p:spPr>
          <a:xfrm>
            <a:off x="502920" y="4437652"/>
            <a:ext cx="118872" cy="1853418"/>
          </a:xfrm>
          <a:prstGeom prst="rect">
            <a:avLst/>
          </a:prstGeom>
          <a:solidFill>
            <a:srgbClr val="A63A32"/>
          </a:solidFill>
          <a:ln>
            <a:noFill/>
          </a:ln>
          <a:effectLst/>
        </p:spPr>
        <p:txBody>
          <a:bodyPr rtlCol="0" anchor="ctr"/>
          <a:lstStyle/>
          <a:p/>
        </p:txBody>
      </p:sp>
      <p:sp>
        <p:nvSpPr>
          <p:cNvPr id="14" name="TextBox 13"/>
          <p:cNvSpPr txBox="1"/>
          <p:nvPr/>
        </p:nvSpPr>
        <p:spPr>
          <a:xfrm>
            <a:off x="777240" y="4437652"/>
            <a:ext cx="10774375" cy="1853418"/>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Yaşanan afet, sonuçları göz önüne alındığında bölgedeki yerleşmelerin deprem tehlikesi ve zemin durumu dikkate alınmadan inşa edildiğini gözler önüne sermiştir. Geçmişten bugüne Türkiye’de meydana gelen yıkıcı depremlerin kurallara uygun inşa edilen binalarda asgari düzeyde hasar oluşturduğu, kuralların göz ardı edildiği binalarda ise daha fazla hasara neden olduğu görülmüştür.</a:t>
            </a:r>
          </a:p>
        </p:txBody>
      </p:sp>
      <p:sp>
        <p:nvSpPr>
          <p:cNvPr id="15" name="TextBox 14"/>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6" name="Rounded Rectangle 15"/>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192</a:t>
            </a:r>
          </a:p>
        </p:txBody>
      </p:sp>
      <p:sp>
        <p:nvSpPr>
          <p:cNvPr id="17" name="TextBox 16"/>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46 / 250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700" b="1" i="0">
                <a:solidFill>
                  <a:srgbClr val="FFFFFF"/>
                </a:solidFill>
                <a:latin typeface="Calibri"/>
              </a:rPr>
              <a:t>1. harita: Gölcük merkezli bölgenin deprem tehlikesi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HARİTA OKUYUCU</a:t>
            </a:r>
          </a:p>
        </p:txBody>
      </p:sp>
      <p:pic>
        <p:nvPicPr>
          <p:cNvPr id="6" name="Picture 5" descr="h30_s192_tehlike_haritasi.jpg"/>
          <p:cNvPicPr>
            <a:picLocks noChangeAspect="1"/>
          </p:cNvPicPr>
          <p:nvPr/>
        </p:nvPicPr>
        <p:blipFill>
          <a:blip r:embed="rId3"/>
          <a:stretch>
            <a:fillRect/>
          </a:stretch>
        </p:blipFill>
        <p:spPr>
          <a:xfrm>
            <a:off x="502920" y="1216152"/>
            <a:ext cx="6035040" cy="4245045"/>
          </a:xfrm>
          <a:prstGeom prst="rect">
            <a:avLst/>
          </a:prstGeom>
          <a:ln w="9525">
            <a:solidFill>
              <a:srgbClr val="D9D9D9"/>
            </a:solidFill>
          </a:ln>
        </p:spPr>
      </p:pic>
      <p:sp>
        <p:nvSpPr>
          <p:cNvPr id="7" name="TextBox 6"/>
          <p:cNvSpPr txBox="1"/>
          <p:nvPr/>
        </p:nvSpPr>
        <p:spPr>
          <a:xfrm>
            <a:off x="502920" y="5506917"/>
            <a:ext cx="6035040" cy="566928"/>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Aşağıda Gölcük merkezli afet bölgesinin deprem tehlikesi haritası verilmiştir.</a:t>
            </a:r>
          </a:p>
        </p:txBody>
      </p:sp>
      <p:sp>
        <p:nvSpPr>
          <p:cNvPr id="8" name="Rounded Rectangle 7"/>
          <p:cNvSpPr/>
          <p:nvPr/>
        </p:nvSpPr>
        <p:spPr>
          <a:xfrm>
            <a:off x="6812280" y="1216152"/>
            <a:ext cx="4876495" cy="161848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En koyu (yüksek tehlike) kuşak hangi illerden geçiyor?</a:t>
            </a:r>
          </a:p>
        </p:txBody>
      </p:sp>
      <p:sp>
        <p:nvSpPr>
          <p:cNvPr id="9" name="Rounded Rectangle 8"/>
          <p:cNvSpPr/>
          <p:nvPr/>
        </p:nvSpPr>
        <p:spPr>
          <a:xfrm>
            <a:off x="6812280" y="2944368"/>
            <a:ext cx="4876495" cy="161848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Kuşak hangi yönde uzanıyor?</a:t>
            </a:r>
          </a:p>
        </p:txBody>
      </p:sp>
      <p:sp>
        <p:nvSpPr>
          <p:cNvPr id="10" name="Rounded Rectangle 9"/>
          <p:cNvSpPr/>
          <p:nvPr/>
        </p:nvSpPr>
        <p:spPr>
          <a:xfrm>
            <a:off x="6812280" y="4672584"/>
            <a:ext cx="4876495" cy="1618488"/>
          </a:xfrm>
          <a:prstGeom prst="roundRect">
            <a:avLst>
              <a:gd name="adj" fmla="val 8000"/>
            </a:avLst>
          </a:prstGeom>
          <a:solidFill>
            <a:srgbClr val="F0F0F0"/>
          </a:solidFill>
          <a:ln>
            <a:noFill/>
          </a:ln>
          <a:effectLst/>
        </p:spPr>
        <p:txBody>
          <a:bodyPr rtlCol="0" anchor="ctr" wrap="square" lIns="128016" rIns="128016" tIns="73152" bIns="73152">
            <a:noAutofit/>
          </a:bodyPr>
          <a:lstStyle/>
          <a:p>
            <a:pPr algn="l">
              <a:spcBef>
                <a:spcPts val="0"/>
              </a:spcBef>
              <a:spcAft>
                <a:spcPts val="0"/>
              </a:spcAft>
            </a:pPr>
            <a:r>
              <a:rPr lang="tr-TR" sz="2100" b="1" i="0">
                <a:solidFill>
                  <a:srgbClr val="262626"/>
                </a:solidFill>
                <a:latin typeface="Calibri"/>
              </a:rPr>
              <a:t>Hangi iller daha açık tonda?</a:t>
            </a:r>
          </a:p>
        </p:txBody>
      </p:sp>
      <p:sp>
        <p:nvSpPr>
          <p:cNvPr id="11" name="TextBox 1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2" name="Rounded Rectangle 1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192</a:t>
            </a:r>
          </a:p>
        </p:txBody>
      </p:sp>
      <p:sp>
        <p:nvSpPr>
          <p:cNvPr id="13" name="TextBox 1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47 / 250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600" b="1" i="0">
                <a:solidFill>
                  <a:srgbClr val="FFFFFF"/>
                </a:solidFill>
                <a:latin typeface="Calibri"/>
              </a:rPr>
              <a:t>1. harita: Gölcük merkezli bölgenin deprem tehlikesi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30_s192_tehlike_haritasi.jpg"/>
          <p:cNvPicPr>
            <a:picLocks noChangeAspect="1"/>
          </p:cNvPicPr>
          <p:nvPr/>
        </p:nvPicPr>
        <p:blipFill>
          <a:blip r:embed="rId3"/>
          <a:stretch>
            <a:fillRect/>
          </a:stretch>
        </p:blipFill>
        <p:spPr>
          <a:xfrm>
            <a:off x="502920" y="1216152"/>
            <a:ext cx="6035040" cy="4245045"/>
          </a:xfrm>
          <a:prstGeom prst="rect">
            <a:avLst/>
          </a:prstGeom>
          <a:ln w="9525">
            <a:solidFill>
              <a:srgbClr val="D9D9D9"/>
            </a:solidFill>
          </a:ln>
        </p:spPr>
      </p:pic>
      <p:sp>
        <p:nvSpPr>
          <p:cNvPr id="7" name="Oval 6"/>
          <p:cNvSpPr/>
          <p:nvPr/>
        </p:nvSpPr>
        <p:spPr>
          <a:xfrm>
            <a:off x="2305760" y="2162336"/>
            <a:ext cx="4219413" cy="1227483"/>
          </a:xfrm>
          <a:prstGeom prst="ellipse">
            <a:avLst/>
          </a:prstGeom>
          <a:noFill/>
          <a:ln w="69850">
            <a:solidFill>
              <a:srgbClr val="FFFFFF"/>
            </a:solidFill>
          </a:ln>
          <a:effectLst/>
        </p:spPr>
        <p:txBody>
          <a:bodyPr rtlCol="0" anchor="ctr"/>
          <a:lstStyle/>
          <a:p/>
        </p:txBody>
      </p:sp>
      <p:sp>
        <p:nvSpPr>
          <p:cNvPr id="8" name="Oval 7"/>
          <p:cNvSpPr/>
          <p:nvPr/>
        </p:nvSpPr>
        <p:spPr>
          <a:xfrm>
            <a:off x="2305760" y="2162336"/>
            <a:ext cx="4219413" cy="1227483"/>
          </a:xfrm>
          <a:prstGeom prst="ellipse">
            <a:avLst/>
          </a:prstGeom>
          <a:noFill/>
          <a:ln w="31750">
            <a:solidFill>
              <a:srgbClr val="2E7D32"/>
            </a:solidFill>
          </a:ln>
          <a:effectLst/>
        </p:spPr>
        <p:txBody>
          <a:bodyPr rtlCol="0" anchor="ctr"/>
          <a:lstStyle/>
          <a:p/>
        </p:txBody>
      </p:sp>
      <p:sp>
        <p:nvSpPr>
          <p:cNvPr id="9" name="TextBox 8"/>
          <p:cNvSpPr txBox="1"/>
          <p:nvPr/>
        </p:nvSpPr>
        <p:spPr>
          <a:xfrm>
            <a:off x="502920" y="5506917"/>
            <a:ext cx="6035040" cy="566928"/>
          </a:xfrm>
          <a:prstGeom prst="rect">
            <a:avLst/>
          </a:prstGeom>
          <a:noFill/>
        </p:spPr>
        <p:txBody>
          <a:bodyPr wrap="square" anchor="t" lIns="73152" rIns="73152" tIns="36576" bIns="36576">
            <a:noAutofit/>
          </a:bodyPr>
          <a:lstStyle/>
          <a:p>
            <a:pPr algn="ctr">
              <a:spcBef>
                <a:spcPts val="0"/>
              </a:spcBef>
              <a:spcAft>
                <a:spcPts val="0"/>
              </a:spcAft>
            </a:pPr>
            <a:r>
              <a:rPr lang="tr-TR" sz="1400" b="0" i="1">
                <a:solidFill>
                  <a:srgbClr val="767676"/>
                </a:solidFill>
                <a:latin typeface="Calibri"/>
              </a:rPr>
              <a:t>Aşağıda Gölcük merkezli afet bölgesinin deprem tehlikesi haritası verilmiştir.</a:t>
            </a:r>
          </a:p>
        </p:txBody>
      </p:sp>
      <p:sp>
        <p:nvSpPr>
          <p:cNvPr id="10" name="Rounded Rectangle 9"/>
          <p:cNvSpPr/>
          <p:nvPr/>
        </p:nvSpPr>
        <p:spPr>
          <a:xfrm>
            <a:off x="6812280" y="1216152"/>
            <a:ext cx="4876495" cy="1618488"/>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400"/>
              </a:spcAft>
            </a:pPr>
            <a:r>
              <a:rPr lang="tr-TR" sz="1700" b="1" i="0">
                <a:solidFill>
                  <a:srgbClr val="262626"/>
                </a:solidFill>
                <a:latin typeface="Calibri"/>
              </a:rPr>
              <a:t>En koyu (yüksek tehlike) kuşak hangi illerden geçiyor?</a:t>
            </a:r>
          </a:p>
          <a:p>
            <a:pPr algn="l">
              <a:spcBef>
                <a:spcPts val="0"/>
              </a:spcBef>
              <a:spcAft>
                <a:spcPts val="0"/>
              </a:spcAft>
            </a:pPr>
            <a:r>
              <a:rPr lang="tr-TR" sz="2000" b="1" i="0">
                <a:solidFill>
                  <a:srgbClr val="2E7D32"/>
                </a:solidFill>
                <a:latin typeface="Calibri"/>
              </a:rPr>
              <a:t>Kocaeli, Sakarya, Düzce, Bolu; Yalova da yüksek tehlikede.</a:t>
            </a:r>
          </a:p>
        </p:txBody>
      </p:sp>
      <p:sp>
        <p:nvSpPr>
          <p:cNvPr id="11" name="Rounded Rectangle 10"/>
          <p:cNvSpPr/>
          <p:nvPr/>
        </p:nvSpPr>
        <p:spPr>
          <a:xfrm>
            <a:off x="6812280" y="2944368"/>
            <a:ext cx="4876495" cy="1618488"/>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400"/>
              </a:spcAft>
            </a:pPr>
            <a:r>
              <a:rPr lang="tr-TR" sz="1700" b="1" i="0">
                <a:solidFill>
                  <a:srgbClr val="262626"/>
                </a:solidFill>
                <a:latin typeface="Calibri"/>
              </a:rPr>
              <a:t>Kuşak hangi yönde uzanıyor?</a:t>
            </a:r>
          </a:p>
          <a:p>
            <a:pPr algn="l">
              <a:spcBef>
                <a:spcPts val="0"/>
              </a:spcBef>
              <a:spcAft>
                <a:spcPts val="0"/>
              </a:spcAft>
            </a:pPr>
            <a:r>
              <a:rPr lang="tr-TR" sz="2000" b="1" i="0">
                <a:solidFill>
                  <a:srgbClr val="2E7D32"/>
                </a:solidFill>
                <a:latin typeface="Calibri"/>
              </a:rPr>
              <a:t>Doğu-batı: İzmit Körfezi'nden doğuya (Kuzey Anadolu Fay Sistemi).</a:t>
            </a:r>
          </a:p>
        </p:txBody>
      </p:sp>
      <p:sp>
        <p:nvSpPr>
          <p:cNvPr id="12" name="Rounded Rectangle 11"/>
          <p:cNvSpPr/>
          <p:nvPr/>
        </p:nvSpPr>
        <p:spPr>
          <a:xfrm>
            <a:off x="6812280" y="4672584"/>
            <a:ext cx="4876495" cy="1618488"/>
          </a:xfrm>
          <a:prstGeom prst="roundRect">
            <a:avLst>
              <a:gd name="adj" fmla="val 8000"/>
            </a:avLst>
          </a:prstGeom>
          <a:solidFill>
            <a:srgbClr val="E3F1E4"/>
          </a:solidFill>
          <a:ln w="12700">
            <a:solidFill>
              <a:srgbClr val="2E7D32"/>
            </a:solidFill>
          </a:ln>
          <a:effectLst/>
        </p:spPr>
        <p:txBody>
          <a:bodyPr rtlCol="0" anchor="ctr" wrap="square" lIns="128016" rIns="128016" tIns="73152" bIns="73152">
            <a:noAutofit/>
          </a:bodyPr>
          <a:lstStyle/>
          <a:p>
            <a:pPr algn="l">
              <a:spcBef>
                <a:spcPts val="0"/>
              </a:spcBef>
              <a:spcAft>
                <a:spcPts val="400"/>
              </a:spcAft>
            </a:pPr>
            <a:r>
              <a:rPr lang="tr-TR" sz="1700" b="1" i="0">
                <a:solidFill>
                  <a:srgbClr val="262626"/>
                </a:solidFill>
                <a:latin typeface="Calibri"/>
              </a:rPr>
              <a:t>Hangi iller daha açık tonda?</a:t>
            </a:r>
          </a:p>
          <a:p>
            <a:pPr algn="l">
              <a:spcBef>
                <a:spcPts val="0"/>
              </a:spcBef>
              <a:spcAft>
                <a:spcPts val="0"/>
              </a:spcAft>
            </a:pPr>
            <a:r>
              <a:rPr lang="tr-TR" sz="2000" b="1" i="0">
                <a:solidFill>
                  <a:srgbClr val="2E7D32"/>
                </a:solidFill>
                <a:latin typeface="Calibri"/>
              </a:rPr>
              <a:t>Zonguldak ve Eskişehir (daha düşük tehlike).</a:t>
            </a:r>
          </a:p>
        </p:txBody>
      </p:sp>
      <p:sp>
        <p:nvSpPr>
          <p:cNvPr id="13" name="TextBox 12"/>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4" name="Rounded Rectangle 13"/>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192</a:t>
            </a:r>
          </a:p>
        </p:txBody>
      </p:sp>
      <p:sp>
        <p:nvSpPr>
          <p:cNvPr id="15" name="TextBox 14"/>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48 / 250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harita: yerleşme ve diri fay</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HARİTA OKUYUCU</a:t>
            </a:r>
          </a:p>
        </p:txBody>
      </p:sp>
      <p:pic>
        <p:nvPicPr>
          <p:cNvPr id="6" name="Picture 5" descr="h30_s192_yerlesme_fay.jpg"/>
          <p:cNvPicPr>
            <a:picLocks noChangeAspect="1"/>
          </p:cNvPicPr>
          <p:nvPr/>
        </p:nvPicPr>
        <p:blipFill>
          <a:blip r:embed="rId3"/>
          <a:stretch>
            <a:fillRect/>
          </a:stretch>
        </p:blipFill>
        <p:spPr>
          <a:xfrm>
            <a:off x="1523847" y="1216152"/>
            <a:ext cx="9144000" cy="4165970"/>
          </a:xfrm>
          <a:prstGeom prst="rect">
            <a:avLst/>
          </a:prstGeom>
          <a:ln w="9525">
            <a:solidFill>
              <a:srgbClr val="D9D9D9"/>
            </a:solidFill>
          </a:ln>
        </p:spPr>
      </p:pic>
      <p:sp>
        <p:nvSpPr>
          <p:cNvPr id="7" name="Rounded Rectangle 6"/>
          <p:cNvSpPr/>
          <p:nvPr/>
        </p:nvSpPr>
        <p:spPr>
          <a:xfrm>
            <a:off x="502920" y="5446130"/>
            <a:ext cx="11185855" cy="844942"/>
          </a:xfrm>
          <a:prstGeom prst="roundRect">
            <a:avLst>
              <a:gd name="adj" fmla="val 8000"/>
            </a:avLst>
          </a:prstGeom>
          <a:solidFill>
            <a:srgbClr val="F0F0F0"/>
          </a:solidFill>
          <a:ln>
            <a:noFill/>
          </a:ln>
          <a:effectLst/>
        </p:spPr>
        <p:txBody>
          <a:bodyPr rtlCol="0" anchor="ctr" wrap="square" lIns="182880" rIns="182880" tIns="73152" bIns="73152">
            <a:noAutofit/>
          </a:bodyPr>
          <a:lstStyle/>
          <a:p>
            <a:pPr algn="ctr">
              <a:spcBef>
                <a:spcPts val="0"/>
              </a:spcBef>
              <a:spcAft>
                <a:spcPts val="0"/>
              </a:spcAft>
            </a:pPr>
            <a:r>
              <a:rPr lang="tr-TR" sz="1900" b="1" i="0">
                <a:solidFill>
                  <a:srgbClr val="262626"/>
                </a:solidFill>
                <a:latin typeface="Calibri"/>
              </a:rPr>
              <a:t>Diri fay yerleşmelere göre nerede? Hangi yerleşme alüvyon üzerinde? Merkez üssü nerede?</a:t>
            </a:r>
          </a:p>
        </p:txBody>
      </p:sp>
      <p:sp>
        <p:nvSpPr>
          <p:cNvPr id="8" name="TextBox 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9" name="Rounded Rectangle 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192</a:t>
            </a:r>
          </a:p>
        </p:txBody>
      </p:sp>
      <p:sp>
        <p:nvSpPr>
          <p:cNvPr id="10" name="TextBox 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49 / 250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harita: yerleşme ve diri fay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pic>
        <p:nvPicPr>
          <p:cNvPr id="6" name="Picture 5" descr="h30_s192_yerlesme_fay.jpg"/>
          <p:cNvPicPr>
            <a:picLocks noChangeAspect="1"/>
          </p:cNvPicPr>
          <p:nvPr/>
        </p:nvPicPr>
        <p:blipFill>
          <a:blip r:embed="rId3"/>
          <a:stretch>
            <a:fillRect/>
          </a:stretch>
        </p:blipFill>
        <p:spPr>
          <a:xfrm>
            <a:off x="1523847" y="1216152"/>
            <a:ext cx="9144000" cy="4165970"/>
          </a:xfrm>
          <a:prstGeom prst="rect">
            <a:avLst/>
          </a:prstGeom>
          <a:ln w="9525">
            <a:solidFill>
              <a:srgbClr val="D9D9D9"/>
            </a:solidFill>
          </a:ln>
        </p:spPr>
      </p:pic>
      <p:sp>
        <p:nvSpPr>
          <p:cNvPr id="7" name="Oval 6"/>
          <p:cNvSpPr/>
          <p:nvPr/>
        </p:nvSpPr>
        <p:spPr>
          <a:xfrm>
            <a:off x="9778366" y="3093768"/>
            <a:ext cx="585216" cy="438912"/>
          </a:xfrm>
          <a:prstGeom prst="ellipse">
            <a:avLst/>
          </a:prstGeom>
          <a:noFill/>
          <a:ln w="76200">
            <a:solidFill>
              <a:srgbClr val="FFFFFF"/>
            </a:solidFill>
          </a:ln>
          <a:effectLst/>
        </p:spPr>
        <p:txBody>
          <a:bodyPr rtlCol="0" anchor="ctr"/>
          <a:lstStyle/>
          <a:p/>
        </p:txBody>
      </p:sp>
      <p:sp>
        <p:nvSpPr>
          <p:cNvPr id="8" name="Oval 7"/>
          <p:cNvSpPr/>
          <p:nvPr/>
        </p:nvSpPr>
        <p:spPr>
          <a:xfrm>
            <a:off x="9778366" y="3093768"/>
            <a:ext cx="585216" cy="438912"/>
          </a:xfrm>
          <a:prstGeom prst="ellipse">
            <a:avLst/>
          </a:prstGeom>
          <a:noFill/>
          <a:ln w="38100">
            <a:solidFill>
              <a:srgbClr val="2E7D32"/>
            </a:solidFill>
          </a:ln>
          <a:effectLst/>
        </p:spPr>
        <p:txBody>
          <a:bodyPr rtlCol="0" anchor="ctr"/>
          <a:lstStyle/>
          <a:p/>
        </p:txBody>
      </p:sp>
      <p:sp>
        <p:nvSpPr>
          <p:cNvPr id="9" name="Oval 8"/>
          <p:cNvSpPr/>
          <p:nvPr/>
        </p:nvSpPr>
        <p:spPr>
          <a:xfrm>
            <a:off x="7705090" y="3173515"/>
            <a:ext cx="1005840" cy="754380"/>
          </a:xfrm>
          <a:prstGeom prst="ellipse">
            <a:avLst/>
          </a:prstGeom>
          <a:noFill/>
          <a:ln w="76200">
            <a:solidFill>
              <a:srgbClr val="FFFFFF"/>
            </a:solidFill>
          </a:ln>
          <a:effectLst/>
        </p:spPr>
        <p:txBody>
          <a:bodyPr rtlCol="0" anchor="ctr"/>
          <a:lstStyle/>
          <a:p/>
        </p:txBody>
      </p:sp>
      <p:sp>
        <p:nvSpPr>
          <p:cNvPr id="10" name="Oval 9"/>
          <p:cNvSpPr/>
          <p:nvPr/>
        </p:nvSpPr>
        <p:spPr>
          <a:xfrm>
            <a:off x="7705090" y="3173515"/>
            <a:ext cx="1005840" cy="754380"/>
          </a:xfrm>
          <a:prstGeom prst="ellipse">
            <a:avLst/>
          </a:prstGeom>
          <a:noFill/>
          <a:ln w="38100">
            <a:solidFill>
              <a:srgbClr val="2E7D32"/>
            </a:solidFill>
          </a:ln>
          <a:effectLst/>
        </p:spPr>
        <p:txBody>
          <a:bodyPr rtlCol="0" anchor="ctr"/>
          <a:lstStyle/>
          <a:p/>
        </p:txBody>
      </p:sp>
      <p:sp>
        <p:nvSpPr>
          <p:cNvPr id="11" name="Oval 10"/>
          <p:cNvSpPr/>
          <p:nvPr/>
        </p:nvSpPr>
        <p:spPr>
          <a:xfrm>
            <a:off x="3542560" y="3336608"/>
            <a:ext cx="914400" cy="685800"/>
          </a:xfrm>
          <a:prstGeom prst="ellipse">
            <a:avLst/>
          </a:prstGeom>
          <a:noFill/>
          <a:ln w="76200">
            <a:solidFill>
              <a:srgbClr val="FFFFFF"/>
            </a:solidFill>
          </a:ln>
          <a:effectLst/>
        </p:spPr>
        <p:txBody>
          <a:bodyPr rtlCol="0" anchor="ctr"/>
          <a:lstStyle/>
          <a:p/>
        </p:txBody>
      </p:sp>
      <p:sp>
        <p:nvSpPr>
          <p:cNvPr id="12" name="Oval 11"/>
          <p:cNvSpPr/>
          <p:nvPr/>
        </p:nvSpPr>
        <p:spPr>
          <a:xfrm>
            <a:off x="3542560" y="3336608"/>
            <a:ext cx="914400" cy="685800"/>
          </a:xfrm>
          <a:prstGeom prst="ellipse">
            <a:avLst/>
          </a:prstGeom>
          <a:noFill/>
          <a:ln w="38100">
            <a:solidFill>
              <a:srgbClr val="2E7D32"/>
            </a:solidFill>
          </a:ln>
          <a:effectLst/>
        </p:spPr>
        <p:txBody>
          <a:bodyPr rtlCol="0" anchor="ctr"/>
          <a:lstStyle/>
          <a:p/>
        </p:txBody>
      </p:sp>
      <p:sp>
        <p:nvSpPr>
          <p:cNvPr id="13" name="Rounded Rectangle 12"/>
          <p:cNvSpPr/>
          <p:nvPr/>
        </p:nvSpPr>
        <p:spPr>
          <a:xfrm>
            <a:off x="502920" y="5446130"/>
            <a:ext cx="11185855" cy="844942"/>
          </a:xfrm>
          <a:prstGeom prst="roundRect">
            <a:avLst>
              <a:gd name="adj" fmla="val 8000"/>
            </a:avLst>
          </a:prstGeom>
          <a:solidFill>
            <a:srgbClr val="E3F1E4"/>
          </a:solidFill>
          <a:ln w="12700">
            <a:solidFill>
              <a:srgbClr val="2E7D32"/>
            </a:solidFill>
          </a:ln>
          <a:effectLst/>
        </p:spPr>
        <p:txBody>
          <a:bodyPr rtlCol="0" anchor="ctr" wrap="square" lIns="182880" rIns="182880" tIns="73152" bIns="73152">
            <a:noAutofit/>
          </a:bodyPr>
          <a:lstStyle/>
          <a:p>
            <a:pPr algn="l">
              <a:spcBef>
                <a:spcPts val="0"/>
              </a:spcBef>
              <a:spcAft>
                <a:spcPts val="0"/>
              </a:spcAft>
            </a:pPr>
            <a:r>
              <a:rPr lang="tr-TR" sz="1800" b="0" i="0">
                <a:solidFill>
                  <a:srgbClr val="262626"/>
                </a:solidFill>
                <a:latin typeface="Calibri"/>
              </a:rPr>
              <a:t>Fay körfez boyunca uzanır; </a:t>
            </a:r>
            <a:r>
              <a:rPr lang="tr-TR" sz="1800" b="1" i="0">
                <a:solidFill>
                  <a:srgbClr val="262626"/>
                </a:solidFill>
                <a:latin typeface="Calibri"/>
              </a:rPr>
              <a:t>Gölcük</a:t>
            </a:r>
            <a:r>
              <a:rPr lang="tr-TR" sz="1800" b="0" i="0">
                <a:solidFill>
                  <a:srgbClr val="262626"/>
                </a:solidFill>
                <a:latin typeface="Calibri"/>
              </a:rPr>
              <a:t>’te ve körfezin doğu ucunda yerleşmelerin içinden ya da yanından geçer · </a:t>
            </a:r>
            <a:r>
              <a:rPr lang="tr-TR" sz="1800" b="1" i="0">
                <a:solidFill>
                  <a:srgbClr val="262626"/>
                </a:solidFill>
                <a:latin typeface="Calibri"/>
              </a:rPr>
              <a:t>Altınova</a:t>
            </a:r>
            <a:r>
              <a:rPr lang="tr-TR" sz="1800" b="0" i="0">
                <a:solidFill>
                  <a:srgbClr val="262626"/>
                </a:solidFill>
                <a:latin typeface="Calibri"/>
              </a:rPr>
              <a:t> alüvyon üzerinde · </a:t>
            </a:r>
            <a:r>
              <a:rPr lang="tr-TR" sz="1800" b="1" i="0">
                <a:solidFill>
                  <a:srgbClr val="262626"/>
                </a:solidFill>
                <a:latin typeface="Calibri"/>
              </a:rPr>
              <a:t>merkez üssü</a:t>
            </a:r>
            <a:r>
              <a:rPr lang="tr-TR" sz="1800" b="0" i="0">
                <a:solidFill>
                  <a:srgbClr val="262626"/>
                </a:solidFill>
                <a:latin typeface="Calibri"/>
              </a:rPr>
              <a:t> körfezin doğu ucunda, fayın üzerinde.</a:t>
            </a:r>
          </a:p>
        </p:txBody>
      </p:sp>
      <p:sp>
        <p:nvSpPr>
          <p:cNvPr id="14" name="TextBox 13"/>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5" name="Rounded Rectangle 14"/>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192</a:t>
            </a:r>
          </a:p>
        </p:txBody>
      </p:sp>
      <p:sp>
        <p:nvSpPr>
          <p:cNvPr id="16" name="TextBox 15"/>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50 / 250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şemayı doldur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1. SORU · A3 ŞEMA</a:t>
            </a:r>
          </a:p>
        </p:txBody>
      </p:sp>
      <p:sp>
        <p:nvSpPr>
          <p:cNvPr id="6" name="Rounded Rectangle 5"/>
          <p:cNvSpPr/>
          <p:nvPr/>
        </p:nvSpPr>
        <p:spPr>
          <a:xfrm>
            <a:off x="502920" y="1207008"/>
            <a:ext cx="11185855" cy="7772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00" b="1" i="0">
                <a:solidFill>
                  <a:srgbClr val="262626"/>
                </a:solidFill>
                <a:latin typeface="Calibri"/>
              </a:rPr>
              <a:t>Bu depremde yaşanan olaylardaki tehlike, risk ve afet kavramları ile bu kavramlar arasındaki ilişkiyi belirleyerek noktalı yerlere yazınız. Bu ilişkiyi aşağıdaki şemayı doldurarak gösteriniz.</a:t>
            </a:r>
          </a:p>
        </p:txBody>
      </p:sp>
      <p:sp>
        <p:nvSpPr>
          <p:cNvPr id="7" name="Oval 6"/>
          <p:cNvSpPr/>
          <p:nvPr/>
        </p:nvSpPr>
        <p:spPr>
          <a:xfrm>
            <a:off x="996696" y="2395728"/>
            <a:ext cx="3310128" cy="3310128"/>
          </a:xfrm>
          <a:prstGeom prst="ellipse">
            <a:avLst/>
          </a:prstGeom>
          <a:solidFill>
            <a:srgbClr val="FFFFFF"/>
          </a:solidFill>
          <a:ln w="44450">
            <a:solidFill>
              <a:srgbClr val="4E8A2E"/>
            </a:solidFill>
          </a:ln>
          <a:effectLst/>
        </p:spPr>
        <p:txBody>
          <a:bodyPr rtlCol="0" anchor="ctr"/>
          <a:lstStyle/>
          <a:p/>
        </p:txBody>
      </p:sp>
      <p:sp>
        <p:nvSpPr>
          <p:cNvPr id="8" name="Oval 7"/>
          <p:cNvSpPr/>
          <p:nvPr/>
        </p:nvSpPr>
        <p:spPr>
          <a:xfrm>
            <a:off x="1691640" y="2542032"/>
            <a:ext cx="1920240" cy="1920240"/>
          </a:xfrm>
          <a:prstGeom prst="ellipse">
            <a:avLst/>
          </a:prstGeom>
          <a:solidFill>
            <a:srgbClr val="7558A8">
              <a:alpha val="72000"/>
            </a:srgbClr>
          </a:solidFill>
          <a:ln w="19050">
            <a:solidFill>
              <a:srgbClr val="7558A8"/>
            </a:solidFill>
          </a:ln>
          <a:effectLst/>
        </p:spPr>
        <p:txBody>
          <a:bodyPr rtlCol="0" anchor="ctr"/>
          <a:lstStyle/>
          <a:p/>
        </p:txBody>
      </p:sp>
      <p:sp>
        <p:nvSpPr>
          <p:cNvPr id="9" name="Oval 8"/>
          <p:cNvSpPr/>
          <p:nvPr/>
        </p:nvSpPr>
        <p:spPr>
          <a:xfrm>
            <a:off x="1216517" y="3364992"/>
            <a:ext cx="1920240" cy="1920240"/>
          </a:xfrm>
          <a:prstGeom prst="ellipse">
            <a:avLst/>
          </a:prstGeom>
          <a:solidFill>
            <a:srgbClr val="C94F5A">
              <a:alpha val="72000"/>
            </a:srgbClr>
          </a:solidFill>
          <a:ln w="19050">
            <a:solidFill>
              <a:srgbClr val="C94F5A"/>
            </a:solidFill>
          </a:ln>
          <a:effectLst/>
        </p:spPr>
        <p:txBody>
          <a:bodyPr rtlCol="0" anchor="ctr"/>
          <a:lstStyle/>
          <a:p/>
        </p:txBody>
      </p:sp>
      <p:sp>
        <p:nvSpPr>
          <p:cNvPr id="10" name="Oval 9"/>
          <p:cNvSpPr/>
          <p:nvPr/>
        </p:nvSpPr>
        <p:spPr>
          <a:xfrm>
            <a:off x="2166762" y="3364992"/>
            <a:ext cx="1920240" cy="1920240"/>
          </a:xfrm>
          <a:prstGeom prst="ellipse">
            <a:avLst/>
          </a:prstGeom>
          <a:solidFill>
            <a:srgbClr val="1E8C9C">
              <a:alpha val="72000"/>
            </a:srgbClr>
          </a:solidFill>
          <a:ln w="19050">
            <a:solidFill>
              <a:srgbClr val="1E8C9C"/>
            </a:solidFill>
          </a:ln>
          <a:effectLst/>
        </p:spPr>
        <p:txBody>
          <a:bodyPr rtlCol="0" anchor="ctr"/>
          <a:lstStyle/>
          <a:p/>
        </p:txBody>
      </p:sp>
      <p:sp>
        <p:nvSpPr>
          <p:cNvPr id="11" name="TextBox 10"/>
          <p:cNvSpPr txBox="1"/>
          <p:nvPr/>
        </p:nvSpPr>
        <p:spPr>
          <a:xfrm>
            <a:off x="1931670" y="2724454"/>
            <a:ext cx="1440180" cy="403250"/>
          </a:xfrm>
          <a:prstGeom prst="rect">
            <a:avLst/>
          </a:prstGeom>
          <a:noFill/>
        </p:spPr>
        <p:txBody>
          <a:bodyPr wrap="square" anchor="ctr" lIns="18288" rIns="18288" tIns="0" bIns="0">
            <a:noAutofit/>
          </a:bodyPr>
          <a:lstStyle/>
          <a:p>
            <a:pPr algn="ctr">
              <a:spcBef>
                <a:spcPts val="0"/>
              </a:spcBef>
              <a:spcAft>
                <a:spcPts val="0"/>
              </a:spcAft>
            </a:pPr>
            <a:r>
              <a:rPr lang="tr-TR" sz="1800" b="1" i="0">
                <a:solidFill>
                  <a:srgbClr val="FFFFFF"/>
                </a:solidFill>
                <a:latin typeface="Calibri"/>
              </a:rPr>
              <a:t>Maruziyet</a:t>
            </a:r>
          </a:p>
        </p:txBody>
      </p:sp>
      <p:sp>
        <p:nvSpPr>
          <p:cNvPr id="12" name="TextBox 11"/>
          <p:cNvSpPr txBox="1"/>
          <p:nvPr/>
        </p:nvSpPr>
        <p:spPr>
          <a:xfrm>
            <a:off x="1346421" y="4339513"/>
            <a:ext cx="912114" cy="403250"/>
          </a:xfrm>
          <a:prstGeom prst="rect">
            <a:avLst/>
          </a:prstGeom>
          <a:noFill/>
        </p:spPr>
        <p:txBody>
          <a:bodyPr wrap="square" anchor="ctr" lIns="18288" rIns="18288" tIns="0" bIns="0">
            <a:noAutofit/>
          </a:bodyPr>
          <a:lstStyle/>
          <a:p>
            <a:pPr algn="ctr">
              <a:spcBef>
                <a:spcPts val="0"/>
              </a:spcBef>
              <a:spcAft>
                <a:spcPts val="0"/>
              </a:spcAft>
            </a:pPr>
            <a:r>
              <a:rPr lang="tr-TR" sz="1800" b="1" i="0">
                <a:solidFill>
                  <a:srgbClr val="FFFFFF"/>
                </a:solidFill>
                <a:latin typeface="Calibri"/>
              </a:rPr>
              <a:t>Tehlike</a:t>
            </a:r>
          </a:p>
        </p:txBody>
      </p:sp>
      <p:sp>
        <p:nvSpPr>
          <p:cNvPr id="13" name="TextBox 12"/>
          <p:cNvSpPr txBox="1"/>
          <p:nvPr/>
        </p:nvSpPr>
        <p:spPr>
          <a:xfrm>
            <a:off x="3044984" y="4243501"/>
            <a:ext cx="912114" cy="595274"/>
          </a:xfrm>
          <a:prstGeom prst="rect">
            <a:avLst/>
          </a:prstGeom>
          <a:noFill/>
        </p:spPr>
        <p:txBody>
          <a:bodyPr wrap="square" anchor="ctr" lIns="18288" rIns="18288" tIns="0" bIns="0">
            <a:noAutofit/>
          </a:bodyPr>
          <a:lstStyle/>
          <a:p>
            <a:pPr algn="ctr">
              <a:spcBef>
                <a:spcPts val="0"/>
              </a:spcBef>
              <a:spcAft>
                <a:spcPts val="0"/>
              </a:spcAft>
            </a:pPr>
            <a:r>
              <a:rPr lang="tr-TR" sz="1800" b="1" i="0">
                <a:solidFill>
                  <a:srgbClr val="FFFFFF"/>
                </a:solidFill>
                <a:latin typeface="Calibri"/>
              </a:rPr>
              <a:t>Güvenlik açığı</a:t>
            </a:r>
          </a:p>
        </p:txBody>
      </p:sp>
      <p:sp>
        <p:nvSpPr>
          <p:cNvPr id="14" name="Rounded Rectangle 13"/>
          <p:cNvSpPr/>
          <p:nvPr/>
        </p:nvSpPr>
        <p:spPr>
          <a:xfrm>
            <a:off x="2354122" y="4647627"/>
            <a:ext cx="595274" cy="326440"/>
          </a:xfrm>
          <a:prstGeom prst="roundRect">
            <a:avLst>
              <a:gd name="adj" fmla="val 40000"/>
            </a:avLst>
          </a:prstGeom>
          <a:solidFill>
            <a:srgbClr val="4A6B78"/>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06" b="1" i="0">
                <a:solidFill>
                  <a:srgbClr val="FFFFFF"/>
                </a:solidFill>
                <a:latin typeface="Calibri"/>
              </a:rPr>
              <a:t>Risk</a:t>
            </a:r>
          </a:p>
        </p:txBody>
      </p:sp>
      <p:sp>
        <p:nvSpPr>
          <p:cNvPr id="15" name="Rounded Rectangle 14"/>
          <p:cNvSpPr/>
          <p:nvPr/>
        </p:nvSpPr>
        <p:spPr>
          <a:xfrm>
            <a:off x="2277313" y="3813315"/>
            <a:ext cx="748893" cy="326440"/>
          </a:xfrm>
          <a:prstGeom prst="roundRect">
            <a:avLst>
              <a:gd name="adj" fmla="val 40000"/>
            </a:avLst>
          </a:prstGeom>
          <a:solidFill>
            <a:srgbClr val="4F4F4F"/>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06" b="1" i="0">
                <a:solidFill>
                  <a:srgbClr val="FFFFFF"/>
                </a:solidFill>
                <a:latin typeface="Calibri"/>
              </a:rPr>
              <a:t>AFET</a:t>
            </a:r>
          </a:p>
        </p:txBody>
      </p:sp>
      <p:sp>
        <p:nvSpPr>
          <p:cNvPr id="16" name="Rounded Rectangle 15"/>
          <p:cNvSpPr/>
          <p:nvPr/>
        </p:nvSpPr>
        <p:spPr>
          <a:xfrm>
            <a:off x="2051685" y="2222906"/>
            <a:ext cx="1200150" cy="345643"/>
          </a:xfrm>
          <a:prstGeom prst="roundRect">
            <a:avLst>
              <a:gd name="adj" fmla="val 40000"/>
            </a:avLst>
          </a:prstGeom>
          <a:solidFill>
            <a:srgbClr val="FFFFFF"/>
          </a:solidFill>
          <a:ln w="25400">
            <a:solidFill>
              <a:srgbClr val="4E8A2E"/>
            </a:solidFill>
          </a:ln>
          <a:effectLst/>
        </p:spPr>
        <p:txBody>
          <a:bodyPr rtlCol="0" anchor="ctr" wrap="square" lIns="18288" rIns="18288" tIns="0" bIns="0">
            <a:noAutofit/>
          </a:bodyPr>
          <a:lstStyle/>
          <a:p>
            <a:pPr algn="ctr">
              <a:spcBef>
                <a:spcPts val="0"/>
              </a:spcBef>
              <a:spcAft>
                <a:spcPts val="0"/>
              </a:spcAft>
            </a:pPr>
            <a:r>
              <a:rPr lang="tr-TR" sz="1656" b="1" i="0">
                <a:solidFill>
                  <a:srgbClr val="4E8A2E"/>
                </a:solidFill>
                <a:latin typeface="Calibri"/>
              </a:rPr>
              <a:t>ÇEVRE</a:t>
            </a:r>
          </a:p>
        </p:txBody>
      </p:sp>
      <p:sp>
        <p:nvSpPr>
          <p:cNvPr id="17" name="Rounded Rectangle 16"/>
          <p:cNvSpPr/>
          <p:nvPr/>
        </p:nvSpPr>
        <p:spPr>
          <a:xfrm>
            <a:off x="4937760" y="2130552"/>
            <a:ext cx="6751015" cy="773582"/>
          </a:xfrm>
          <a:prstGeom prst="roundRect">
            <a:avLst>
              <a:gd name="adj" fmla="val 12000"/>
            </a:avLst>
          </a:prstGeom>
          <a:solidFill>
            <a:srgbClr val="FFFFFF"/>
          </a:solidFill>
          <a:ln w="12700">
            <a:solidFill>
              <a:srgbClr val="D9D9D9"/>
            </a:solidFill>
          </a:ln>
          <a:effectLst/>
        </p:spPr>
        <p:txBody>
          <a:bodyPr rtlCol="0" anchor="ctr"/>
          <a:lstStyle/>
          <a:p/>
        </p:txBody>
      </p:sp>
      <p:sp>
        <p:nvSpPr>
          <p:cNvPr id="18" name="Rounded Rectangle 17"/>
          <p:cNvSpPr/>
          <p:nvPr/>
        </p:nvSpPr>
        <p:spPr>
          <a:xfrm>
            <a:off x="4937760" y="2130552"/>
            <a:ext cx="1600200" cy="773582"/>
          </a:xfrm>
          <a:prstGeom prst="roundRect">
            <a:avLst>
              <a:gd name="adj" fmla="val 12000"/>
            </a:avLst>
          </a:prstGeom>
          <a:solidFill>
            <a:srgbClr val="C94F5A"/>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Tehlike</a:t>
            </a:r>
          </a:p>
        </p:txBody>
      </p:sp>
      <p:cxnSp>
        <p:nvCxnSpPr>
          <p:cNvPr id="19" name="Connector 18"/>
          <p:cNvCxnSpPr/>
          <p:nvPr/>
        </p:nvCxnSpPr>
        <p:spPr>
          <a:xfrm>
            <a:off x="6720840" y="2388412"/>
            <a:ext cx="4785055" cy="0"/>
          </a:xfrm>
          <a:prstGeom prst="line">
            <a:avLst/>
          </a:prstGeom>
          <a:ln w="12700">
            <a:solidFill>
              <a:srgbClr val="D9D9D9"/>
            </a:solidFill>
            <a:prstDash val="dash"/>
          </a:ln>
        </p:spPr>
      </p:cxnSp>
      <p:cxnSp>
        <p:nvCxnSpPr>
          <p:cNvPr id="20" name="Connector 19"/>
          <p:cNvCxnSpPr/>
          <p:nvPr/>
        </p:nvCxnSpPr>
        <p:spPr>
          <a:xfrm>
            <a:off x="6720840" y="2646273"/>
            <a:ext cx="4785055" cy="0"/>
          </a:xfrm>
          <a:prstGeom prst="line">
            <a:avLst/>
          </a:prstGeom>
          <a:ln w="12700">
            <a:solidFill>
              <a:srgbClr val="D9D9D9"/>
            </a:solidFill>
            <a:prstDash val="dash"/>
          </a:ln>
        </p:spPr>
      </p:cxnSp>
      <p:sp>
        <p:nvSpPr>
          <p:cNvPr id="21" name="Rounded Rectangle 20"/>
          <p:cNvSpPr/>
          <p:nvPr/>
        </p:nvSpPr>
        <p:spPr>
          <a:xfrm>
            <a:off x="4937760" y="2977286"/>
            <a:ext cx="6751015" cy="773582"/>
          </a:xfrm>
          <a:prstGeom prst="roundRect">
            <a:avLst>
              <a:gd name="adj" fmla="val 12000"/>
            </a:avLst>
          </a:prstGeom>
          <a:solidFill>
            <a:srgbClr val="FFFFFF"/>
          </a:solidFill>
          <a:ln w="12700">
            <a:solidFill>
              <a:srgbClr val="D9D9D9"/>
            </a:solidFill>
          </a:ln>
          <a:effectLst/>
        </p:spPr>
        <p:txBody>
          <a:bodyPr rtlCol="0" anchor="ctr"/>
          <a:lstStyle/>
          <a:p/>
        </p:txBody>
      </p:sp>
      <p:sp>
        <p:nvSpPr>
          <p:cNvPr id="22" name="Rounded Rectangle 21"/>
          <p:cNvSpPr/>
          <p:nvPr/>
        </p:nvSpPr>
        <p:spPr>
          <a:xfrm>
            <a:off x="4937760" y="2977286"/>
            <a:ext cx="1600200" cy="773582"/>
          </a:xfrm>
          <a:prstGeom prst="roundRect">
            <a:avLst>
              <a:gd name="adj" fmla="val 12000"/>
            </a:avLst>
          </a:prstGeom>
          <a:solidFill>
            <a:srgbClr val="1E8C9C"/>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Güvenlik açığı</a:t>
            </a:r>
          </a:p>
        </p:txBody>
      </p:sp>
      <p:cxnSp>
        <p:nvCxnSpPr>
          <p:cNvPr id="23" name="Connector 22"/>
          <p:cNvCxnSpPr/>
          <p:nvPr/>
        </p:nvCxnSpPr>
        <p:spPr>
          <a:xfrm>
            <a:off x="6720840" y="3235146"/>
            <a:ext cx="4785055" cy="0"/>
          </a:xfrm>
          <a:prstGeom prst="line">
            <a:avLst/>
          </a:prstGeom>
          <a:ln w="12700">
            <a:solidFill>
              <a:srgbClr val="D9D9D9"/>
            </a:solidFill>
            <a:prstDash val="dash"/>
          </a:ln>
        </p:spPr>
      </p:cxnSp>
      <p:cxnSp>
        <p:nvCxnSpPr>
          <p:cNvPr id="24" name="Connector 23"/>
          <p:cNvCxnSpPr/>
          <p:nvPr/>
        </p:nvCxnSpPr>
        <p:spPr>
          <a:xfrm>
            <a:off x="6720840" y="3493007"/>
            <a:ext cx="4785055" cy="0"/>
          </a:xfrm>
          <a:prstGeom prst="line">
            <a:avLst/>
          </a:prstGeom>
          <a:ln w="12700">
            <a:solidFill>
              <a:srgbClr val="D9D9D9"/>
            </a:solidFill>
            <a:prstDash val="dash"/>
          </a:ln>
        </p:spPr>
      </p:cxnSp>
      <p:sp>
        <p:nvSpPr>
          <p:cNvPr id="25" name="Rounded Rectangle 24"/>
          <p:cNvSpPr/>
          <p:nvPr/>
        </p:nvSpPr>
        <p:spPr>
          <a:xfrm>
            <a:off x="4937760" y="3824020"/>
            <a:ext cx="6751015" cy="773582"/>
          </a:xfrm>
          <a:prstGeom prst="roundRect">
            <a:avLst>
              <a:gd name="adj" fmla="val 12000"/>
            </a:avLst>
          </a:prstGeom>
          <a:solidFill>
            <a:srgbClr val="FFFFFF"/>
          </a:solidFill>
          <a:ln w="12700">
            <a:solidFill>
              <a:srgbClr val="D9D9D9"/>
            </a:solidFill>
          </a:ln>
          <a:effectLst/>
        </p:spPr>
        <p:txBody>
          <a:bodyPr rtlCol="0" anchor="ctr"/>
          <a:lstStyle/>
          <a:p/>
        </p:txBody>
      </p:sp>
      <p:sp>
        <p:nvSpPr>
          <p:cNvPr id="26" name="Rounded Rectangle 25"/>
          <p:cNvSpPr/>
          <p:nvPr/>
        </p:nvSpPr>
        <p:spPr>
          <a:xfrm>
            <a:off x="4937760" y="3824020"/>
            <a:ext cx="1600200" cy="773582"/>
          </a:xfrm>
          <a:prstGeom prst="roundRect">
            <a:avLst>
              <a:gd name="adj" fmla="val 12000"/>
            </a:avLst>
          </a:prstGeom>
          <a:solidFill>
            <a:srgbClr val="7558A8"/>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Maruziyet</a:t>
            </a:r>
          </a:p>
        </p:txBody>
      </p:sp>
      <p:cxnSp>
        <p:nvCxnSpPr>
          <p:cNvPr id="27" name="Connector 26"/>
          <p:cNvCxnSpPr/>
          <p:nvPr/>
        </p:nvCxnSpPr>
        <p:spPr>
          <a:xfrm>
            <a:off x="6720840" y="4081880"/>
            <a:ext cx="4785055" cy="0"/>
          </a:xfrm>
          <a:prstGeom prst="line">
            <a:avLst/>
          </a:prstGeom>
          <a:ln w="12700">
            <a:solidFill>
              <a:srgbClr val="D9D9D9"/>
            </a:solidFill>
            <a:prstDash val="dash"/>
          </a:ln>
        </p:spPr>
      </p:cxnSp>
      <p:cxnSp>
        <p:nvCxnSpPr>
          <p:cNvPr id="28" name="Connector 27"/>
          <p:cNvCxnSpPr/>
          <p:nvPr/>
        </p:nvCxnSpPr>
        <p:spPr>
          <a:xfrm>
            <a:off x="6720840" y="4339741"/>
            <a:ext cx="4785055" cy="0"/>
          </a:xfrm>
          <a:prstGeom prst="line">
            <a:avLst/>
          </a:prstGeom>
          <a:ln w="12700">
            <a:solidFill>
              <a:srgbClr val="D9D9D9"/>
            </a:solidFill>
            <a:prstDash val="dash"/>
          </a:ln>
        </p:spPr>
      </p:cxnSp>
      <p:sp>
        <p:nvSpPr>
          <p:cNvPr id="29" name="Rounded Rectangle 28"/>
          <p:cNvSpPr/>
          <p:nvPr/>
        </p:nvSpPr>
        <p:spPr>
          <a:xfrm>
            <a:off x="4937760" y="4670754"/>
            <a:ext cx="6751015" cy="773582"/>
          </a:xfrm>
          <a:prstGeom prst="roundRect">
            <a:avLst>
              <a:gd name="adj" fmla="val 12000"/>
            </a:avLst>
          </a:prstGeom>
          <a:solidFill>
            <a:srgbClr val="FFFFFF"/>
          </a:solidFill>
          <a:ln w="12700">
            <a:solidFill>
              <a:srgbClr val="D9D9D9"/>
            </a:solidFill>
          </a:ln>
          <a:effectLst/>
        </p:spPr>
        <p:txBody>
          <a:bodyPr rtlCol="0" anchor="ctr"/>
          <a:lstStyle/>
          <a:p/>
        </p:txBody>
      </p:sp>
      <p:sp>
        <p:nvSpPr>
          <p:cNvPr id="30" name="Rounded Rectangle 29"/>
          <p:cNvSpPr/>
          <p:nvPr/>
        </p:nvSpPr>
        <p:spPr>
          <a:xfrm>
            <a:off x="4937760" y="4670754"/>
            <a:ext cx="1600200" cy="773582"/>
          </a:xfrm>
          <a:prstGeom prst="roundRect">
            <a:avLst>
              <a:gd name="adj" fmla="val 12000"/>
            </a:avLst>
          </a:prstGeom>
          <a:solidFill>
            <a:srgbClr val="4A6B78"/>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Risk</a:t>
            </a:r>
          </a:p>
        </p:txBody>
      </p:sp>
      <p:cxnSp>
        <p:nvCxnSpPr>
          <p:cNvPr id="31" name="Connector 30"/>
          <p:cNvCxnSpPr/>
          <p:nvPr/>
        </p:nvCxnSpPr>
        <p:spPr>
          <a:xfrm>
            <a:off x="6720840" y="4928614"/>
            <a:ext cx="4785055" cy="0"/>
          </a:xfrm>
          <a:prstGeom prst="line">
            <a:avLst/>
          </a:prstGeom>
          <a:ln w="12700">
            <a:solidFill>
              <a:srgbClr val="D9D9D9"/>
            </a:solidFill>
            <a:prstDash val="dash"/>
          </a:ln>
        </p:spPr>
      </p:cxnSp>
      <p:cxnSp>
        <p:nvCxnSpPr>
          <p:cNvPr id="32" name="Connector 31"/>
          <p:cNvCxnSpPr/>
          <p:nvPr/>
        </p:nvCxnSpPr>
        <p:spPr>
          <a:xfrm>
            <a:off x="6720840" y="5186475"/>
            <a:ext cx="4785055" cy="0"/>
          </a:xfrm>
          <a:prstGeom prst="line">
            <a:avLst/>
          </a:prstGeom>
          <a:ln w="12700">
            <a:solidFill>
              <a:srgbClr val="D9D9D9"/>
            </a:solidFill>
            <a:prstDash val="dash"/>
          </a:ln>
        </p:spPr>
      </p:cxnSp>
      <p:sp>
        <p:nvSpPr>
          <p:cNvPr id="33" name="Rounded Rectangle 32"/>
          <p:cNvSpPr/>
          <p:nvPr/>
        </p:nvSpPr>
        <p:spPr>
          <a:xfrm>
            <a:off x="4937760" y="5517488"/>
            <a:ext cx="6751015" cy="773582"/>
          </a:xfrm>
          <a:prstGeom prst="roundRect">
            <a:avLst>
              <a:gd name="adj" fmla="val 12000"/>
            </a:avLst>
          </a:prstGeom>
          <a:solidFill>
            <a:srgbClr val="FFFFFF"/>
          </a:solidFill>
          <a:ln w="12700">
            <a:solidFill>
              <a:srgbClr val="D9D9D9"/>
            </a:solidFill>
          </a:ln>
          <a:effectLst/>
        </p:spPr>
        <p:txBody>
          <a:bodyPr rtlCol="0" anchor="ctr"/>
          <a:lstStyle/>
          <a:p/>
        </p:txBody>
      </p:sp>
      <p:sp>
        <p:nvSpPr>
          <p:cNvPr id="34" name="Rounded Rectangle 33"/>
          <p:cNvSpPr/>
          <p:nvPr/>
        </p:nvSpPr>
        <p:spPr>
          <a:xfrm>
            <a:off x="4937760" y="5517488"/>
            <a:ext cx="1600200" cy="773582"/>
          </a:xfrm>
          <a:prstGeom prst="roundRect">
            <a:avLst>
              <a:gd name="adj" fmla="val 12000"/>
            </a:avLst>
          </a:prstGeom>
          <a:solidFill>
            <a:srgbClr val="4F4F4F"/>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AFET</a:t>
            </a:r>
          </a:p>
        </p:txBody>
      </p:sp>
      <p:cxnSp>
        <p:nvCxnSpPr>
          <p:cNvPr id="35" name="Connector 34"/>
          <p:cNvCxnSpPr/>
          <p:nvPr/>
        </p:nvCxnSpPr>
        <p:spPr>
          <a:xfrm>
            <a:off x="6720840" y="5775348"/>
            <a:ext cx="4785055" cy="0"/>
          </a:xfrm>
          <a:prstGeom prst="line">
            <a:avLst/>
          </a:prstGeom>
          <a:ln w="12700">
            <a:solidFill>
              <a:srgbClr val="D9D9D9"/>
            </a:solidFill>
            <a:prstDash val="dash"/>
          </a:ln>
        </p:spPr>
      </p:cxnSp>
      <p:cxnSp>
        <p:nvCxnSpPr>
          <p:cNvPr id="36" name="Connector 35"/>
          <p:cNvCxnSpPr/>
          <p:nvPr/>
        </p:nvCxnSpPr>
        <p:spPr>
          <a:xfrm>
            <a:off x="6720840" y="6033209"/>
            <a:ext cx="4785055" cy="0"/>
          </a:xfrm>
          <a:prstGeom prst="line">
            <a:avLst/>
          </a:prstGeom>
          <a:ln w="12700">
            <a:solidFill>
              <a:srgbClr val="D9D9D9"/>
            </a:solidFill>
            <a:prstDash val="dash"/>
          </a:ln>
        </p:spPr>
      </p:cxnSp>
      <p:sp>
        <p:nvSpPr>
          <p:cNvPr id="37" name="TextBox 3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8" name="Rounded Rectangle 3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193</a:t>
            </a:r>
          </a:p>
        </p:txBody>
      </p:sp>
      <p:sp>
        <p:nvSpPr>
          <p:cNvPr id="39" name="TextBox 3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51 / 250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şemayı doldur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7772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00" b="1" i="0">
                <a:solidFill>
                  <a:srgbClr val="262626"/>
                </a:solidFill>
                <a:latin typeface="Calibri"/>
              </a:rPr>
              <a:t>Bu depremde yaşanan olaylardaki tehlike, risk ve afet kavramları ile bu kavramlar arasındaki ilişkiyi belirleyerek noktalı yerlere yazınız. Bu ilişkiyi aşağıdaki şemayı doldurarak gösteriniz.</a:t>
            </a:r>
          </a:p>
        </p:txBody>
      </p:sp>
      <p:sp>
        <p:nvSpPr>
          <p:cNvPr id="7" name="Oval 6"/>
          <p:cNvSpPr/>
          <p:nvPr/>
        </p:nvSpPr>
        <p:spPr>
          <a:xfrm>
            <a:off x="996696" y="2395728"/>
            <a:ext cx="3310128" cy="3310128"/>
          </a:xfrm>
          <a:prstGeom prst="ellipse">
            <a:avLst/>
          </a:prstGeom>
          <a:solidFill>
            <a:srgbClr val="FFFFFF"/>
          </a:solidFill>
          <a:ln w="44450">
            <a:solidFill>
              <a:srgbClr val="4E8A2E"/>
            </a:solidFill>
          </a:ln>
          <a:effectLst/>
        </p:spPr>
        <p:txBody>
          <a:bodyPr rtlCol="0" anchor="ctr"/>
          <a:lstStyle/>
          <a:p/>
        </p:txBody>
      </p:sp>
      <p:sp>
        <p:nvSpPr>
          <p:cNvPr id="8" name="Oval 7"/>
          <p:cNvSpPr/>
          <p:nvPr/>
        </p:nvSpPr>
        <p:spPr>
          <a:xfrm>
            <a:off x="1691640" y="2542032"/>
            <a:ext cx="1920240" cy="1920240"/>
          </a:xfrm>
          <a:prstGeom prst="ellipse">
            <a:avLst/>
          </a:prstGeom>
          <a:solidFill>
            <a:srgbClr val="7558A8">
              <a:alpha val="72000"/>
            </a:srgbClr>
          </a:solidFill>
          <a:ln w="19050">
            <a:solidFill>
              <a:srgbClr val="7558A8"/>
            </a:solidFill>
          </a:ln>
          <a:effectLst/>
        </p:spPr>
        <p:txBody>
          <a:bodyPr rtlCol="0" anchor="ctr"/>
          <a:lstStyle/>
          <a:p/>
        </p:txBody>
      </p:sp>
      <p:sp>
        <p:nvSpPr>
          <p:cNvPr id="9" name="Oval 8"/>
          <p:cNvSpPr/>
          <p:nvPr/>
        </p:nvSpPr>
        <p:spPr>
          <a:xfrm>
            <a:off x="1216517" y="3364992"/>
            <a:ext cx="1920240" cy="1920240"/>
          </a:xfrm>
          <a:prstGeom prst="ellipse">
            <a:avLst/>
          </a:prstGeom>
          <a:solidFill>
            <a:srgbClr val="C94F5A">
              <a:alpha val="72000"/>
            </a:srgbClr>
          </a:solidFill>
          <a:ln w="19050">
            <a:solidFill>
              <a:srgbClr val="C94F5A"/>
            </a:solidFill>
          </a:ln>
          <a:effectLst/>
        </p:spPr>
        <p:txBody>
          <a:bodyPr rtlCol="0" anchor="ctr"/>
          <a:lstStyle/>
          <a:p/>
        </p:txBody>
      </p:sp>
      <p:sp>
        <p:nvSpPr>
          <p:cNvPr id="10" name="Oval 9"/>
          <p:cNvSpPr/>
          <p:nvPr/>
        </p:nvSpPr>
        <p:spPr>
          <a:xfrm>
            <a:off x="2166762" y="3364992"/>
            <a:ext cx="1920240" cy="1920240"/>
          </a:xfrm>
          <a:prstGeom prst="ellipse">
            <a:avLst/>
          </a:prstGeom>
          <a:solidFill>
            <a:srgbClr val="1E8C9C">
              <a:alpha val="72000"/>
            </a:srgbClr>
          </a:solidFill>
          <a:ln w="19050">
            <a:solidFill>
              <a:srgbClr val="1E8C9C"/>
            </a:solidFill>
          </a:ln>
          <a:effectLst/>
        </p:spPr>
        <p:txBody>
          <a:bodyPr rtlCol="0" anchor="ctr"/>
          <a:lstStyle/>
          <a:p/>
        </p:txBody>
      </p:sp>
      <p:sp>
        <p:nvSpPr>
          <p:cNvPr id="11" name="TextBox 10"/>
          <p:cNvSpPr txBox="1"/>
          <p:nvPr/>
        </p:nvSpPr>
        <p:spPr>
          <a:xfrm>
            <a:off x="1931670" y="2724454"/>
            <a:ext cx="1440180" cy="403250"/>
          </a:xfrm>
          <a:prstGeom prst="rect">
            <a:avLst/>
          </a:prstGeom>
          <a:noFill/>
        </p:spPr>
        <p:txBody>
          <a:bodyPr wrap="square" anchor="ctr" lIns="18288" rIns="18288" tIns="0" bIns="0">
            <a:noAutofit/>
          </a:bodyPr>
          <a:lstStyle/>
          <a:p>
            <a:pPr algn="ctr">
              <a:spcBef>
                <a:spcPts val="0"/>
              </a:spcBef>
              <a:spcAft>
                <a:spcPts val="0"/>
              </a:spcAft>
            </a:pPr>
            <a:r>
              <a:rPr lang="tr-TR" sz="1800" b="1" i="0">
                <a:solidFill>
                  <a:srgbClr val="FFFFFF"/>
                </a:solidFill>
                <a:latin typeface="Calibri"/>
              </a:rPr>
              <a:t>Maruziyet</a:t>
            </a:r>
          </a:p>
        </p:txBody>
      </p:sp>
      <p:sp>
        <p:nvSpPr>
          <p:cNvPr id="12" name="TextBox 11"/>
          <p:cNvSpPr txBox="1"/>
          <p:nvPr/>
        </p:nvSpPr>
        <p:spPr>
          <a:xfrm>
            <a:off x="1346421" y="4339513"/>
            <a:ext cx="912114" cy="403250"/>
          </a:xfrm>
          <a:prstGeom prst="rect">
            <a:avLst/>
          </a:prstGeom>
          <a:noFill/>
        </p:spPr>
        <p:txBody>
          <a:bodyPr wrap="square" anchor="ctr" lIns="18288" rIns="18288" tIns="0" bIns="0">
            <a:noAutofit/>
          </a:bodyPr>
          <a:lstStyle/>
          <a:p>
            <a:pPr algn="ctr">
              <a:spcBef>
                <a:spcPts val="0"/>
              </a:spcBef>
              <a:spcAft>
                <a:spcPts val="0"/>
              </a:spcAft>
            </a:pPr>
            <a:r>
              <a:rPr lang="tr-TR" sz="1800" b="1" i="0">
                <a:solidFill>
                  <a:srgbClr val="FFFFFF"/>
                </a:solidFill>
                <a:latin typeface="Calibri"/>
              </a:rPr>
              <a:t>Tehlike</a:t>
            </a:r>
          </a:p>
        </p:txBody>
      </p:sp>
      <p:sp>
        <p:nvSpPr>
          <p:cNvPr id="13" name="TextBox 12"/>
          <p:cNvSpPr txBox="1"/>
          <p:nvPr/>
        </p:nvSpPr>
        <p:spPr>
          <a:xfrm>
            <a:off x="3044984" y="4243501"/>
            <a:ext cx="912114" cy="595274"/>
          </a:xfrm>
          <a:prstGeom prst="rect">
            <a:avLst/>
          </a:prstGeom>
          <a:noFill/>
        </p:spPr>
        <p:txBody>
          <a:bodyPr wrap="square" anchor="ctr" lIns="18288" rIns="18288" tIns="0" bIns="0">
            <a:noAutofit/>
          </a:bodyPr>
          <a:lstStyle/>
          <a:p>
            <a:pPr algn="ctr">
              <a:spcBef>
                <a:spcPts val="0"/>
              </a:spcBef>
              <a:spcAft>
                <a:spcPts val="0"/>
              </a:spcAft>
            </a:pPr>
            <a:r>
              <a:rPr lang="tr-TR" sz="1800" b="1" i="0">
                <a:solidFill>
                  <a:srgbClr val="FFFFFF"/>
                </a:solidFill>
                <a:latin typeface="Calibri"/>
              </a:rPr>
              <a:t>Güvenlik açığı</a:t>
            </a:r>
          </a:p>
        </p:txBody>
      </p:sp>
      <p:sp>
        <p:nvSpPr>
          <p:cNvPr id="14" name="Rounded Rectangle 13"/>
          <p:cNvSpPr/>
          <p:nvPr/>
        </p:nvSpPr>
        <p:spPr>
          <a:xfrm>
            <a:off x="2354122" y="4647627"/>
            <a:ext cx="595274" cy="326440"/>
          </a:xfrm>
          <a:prstGeom prst="roundRect">
            <a:avLst>
              <a:gd name="adj" fmla="val 40000"/>
            </a:avLst>
          </a:prstGeom>
          <a:solidFill>
            <a:srgbClr val="4A6B78"/>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06" b="1" i="0">
                <a:solidFill>
                  <a:srgbClr val="FFFFFF"/>
                </a:solidFill>
                <a:latin typeface="Calibri"/>
              </a:rPr>
              <a:t>Risk</a:t>
            </a:r>
          </a:p>
        </p:txBody>
      </p:sp>
      <p:sp>
        <p:nvSpPr>
          <p:cNvPr id="15" name="Rounded Rectangle 14"/>
          <p:cNvSpPr/>
          <p:nvPr/>
        </p:nvSpPr>
        <p:spPr>
          <a:xfrm>
            <a:off x="2277313" y="3813315"/>
            <a:ext cx="748893" cy="326440"/>
          </a:xfrm>
          <a:prstGeom prst="roundRect">
            <a:avLst>
              <a:gd name="adj" fmla="val 40000"/>
            </a:avLst>
          </a:prstGeom>
          <a:solidFill>
            <a:srgbClr val="4F4F4F"/>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06" b="1" i="0">
                <a:solidFill>
                  <a:srgbClr val="FFFFFF"/>
                </a:solidFill>
                <a:latin typeface="Calibri"/>
              </a:rPr>
              <a:t>AFET</a:t>
            </a:r>
          </a:p>
        </p:txBody>
      </p:sp>
      <p:sp>
        <p:nvSpPr>
          <p:cNvPr id="16" name="Rounded Rectangle 15"/>
          <p:cNvSpPr/>
          <p:nvPr/>
        </p:nvSpPr>
        <p:spPr>
          <a:xfrm>
            <a:off x="2051685" y="2222906"/>
            <a:ext cx="1200150" cy="345643"/>
          </a:xfrm>
          <a:prstGeom prst="roundRect">
            <a:avLst>
              <a:gd name="adj" fmla="val 40000"/>
            </a:avLst>
          </a:prstGeom>
          <a:solidFill>
            <a:srgbClr val="FFFFFF"/>
          </a:solidFill>
          <a:ln w="25400">
            <a:solidFill>
              <a:srgbClr val="4E8A2E"/>
            </a:solidFill>
          </a:ln>
          <a:effectLst/>
        </p:spPr>
        <p:txBody>
          <a:bodyPr rtlCol="0" anchor="ctr" wrap="square" lIns="18288" rIns="18288" tIns="0" bIns="0">
            <a:noAutofit/>
          </a:bodyPr>
          <a:lstStyle/>
          <a:p>
            <a:pPr algn="ctr">
              <a:spcBef>
                <a:spcPts val="0"/>
              </a:spcBef>
              <a:spcAft>
                <a:spcPts val="0"/>
              </a:spcAft>
            </a:pPr>
            <a:r>
              <a:rPr lang="tr-TR" sz="1656" b="1" i="0">
                <a:solidFill>
                  <a:srgbClr val="4E8A2E"/>
                </a:solidFill>
                <a:latin typeface="Calibri"/>
              </a:rPr>
              <a:t>ÇEVRE</a:t>
            </a:r>
          </a:p>
        </p:txBody>
      </p:sp>
      <p:sp>
        <p:nvSpPr>
          <p:cNvPr id="17" name="Rounded Rectangle 16"/>
          <p:cNvSpPr/>
          <p:nvPr/>
        </p:nvSpPr>
        <p:spPr>
          <a:xfrm>
            <a:off x="4937760" y="2130552"/>
            <a:ext cx="6751015" cy="773582"/>
          </a:xfrm>
          <a:prstGeom prst="roundRect">
            <a:avLst>
              <a:gd name="adj" fmla="val 12000"/>
            </a:avLst>
          </a:prstGeom>
          <a:solidFill>
            <a:srgbClr val="F0F0F0"/>
          </a:solidFill>
          <a:ln>
            <a:noFill/>
          </a:ln>
          <a:effectLst/>
        </p:spPr>
        <p:txBody>
          <a:bodyPr rtlCol="0" anchor="ctr"/>
          <a:lstStyle/>
          <a:p/>
        </p:txBody>
      </p:sp>
      <p:sp>
        <p:nvSpPr>
          <p:cNvPr id="18" name="Rounded Rectangle 17"/>
          <p:cNvSpPr/>
          <p:nvPr/>
        </p:nvSpPr>
        <p:spPr>
          <a:xfrm>
            <a:off x="4937760" y="2130552"/>
            <a:ext cx="1600200" cy="773582"/>
          </a:xfrm>
          <a:prstGeom prst="roundRect">
            <a:avLst>
              <a:gd name="adj" fmla="val 12000"/>
            </a:avLst>
          </a:prstGeom>
          <a:solidFill>
            <a:srgbClr val="C94F5A"/>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Tehlike</a:t>
            </a:r>
          </a:p>
        </p:txBody>
      </p:sp>
      <p:sp>
        <p:nvSpPr>
          <p:cNvPr id="19" name="TextBox 18"/>
          <p:cNvSpPr txBox="1"/>
          <p:nvPr/>
        </p:nvSpPr>
        <p:spPr>
          <a:xfrm>
            <a:off x="6583680" y="2130552"/>
            <a:ext cx="5059375" cy="773582"/>
          </a:xfrm>
          <a:prstGeom prst="rect">
            <a:avLst/>
          </a:prstGeom>
          <a:noFill/>
        </p:spPr>
        <p:txBody>
          <a:bodyPr wrap="square" anchor="ctr" lIns="109728" rIns="109728">
            <a:noAutofit/>
          </a:bodyPr>
          <a:lstStyle/>
          <a:p>
            <a:pPr algn="l">
              <a:spcBef>
                <a:spcPts val="0"/>
              </a:spcBef>
              <a:spcAft>
                <a:spcPts val="0"/>
              </a:spcAft>
            </a:pPr>
            <a:r>
              <a:rPr lang="tr-TR" sz="1850" b="0" i="0">
                <a:solidFill>
                  <a:srgbClr val="262626"/>
                </a:solidFill>
                <a:latin typeface="Calibri"/>
              </a:rPr>
              <a:t>Kuzey Anadolu Fay Sistemi’nde 7,4 büyüklüğünde deprem (1. harita: yüksek tehlike)</a:t>
            </a:r>
          </a:p>
        </p:txBody>
      </p:sp>
      <p:sp>
        <p:nvSpPr>
          <p:cNvPr id="20" name="Rounded Rectangle 19"/>
          <p:cNvSpPr/>
          <p:nvPr/>
        </p:nvSpPr>
        <p:spPr>
          <a:xfrm>
            <a:off x="4937760" y="2977286"/>
            <a:ext cx="6751015" cy="773582"/>
          </a:xfrm>
          <a:prstGeom prst="roundRect">
            <a:avLst>
              <a:gd name="adj" fmla="val 12000"/>
            </a:avLst>
          </a:prstGeom>
          <a:solidFill>
            <a:srgbClr val="F0F0F0"/>
          </a:solidFill>
          <a:ln>
            <a:noFill/>
          </a:ln>
          <a:effectLst/>
        </p:spPr>
        <p:txBody>
          <a:bodyPr rtlCol="0" anchor="ctr"/>
          <a:lstStyle/>
          <a:p/>
        </p:txBody>
      </p:sp>
      <p:sp>
        <p:nvSpPr>
          <p:cNvPr id="21" name="Rounded Rectangle 20"/>
          <p:cNvSpPr/>
          <p:nvPr/>
        </p:nvSpPr>
        <p:spPr>
          <a:xfrm>
            <a:off x="4937760" y="2977286"/>
            <a:ext cx="1600200" cy="773582"/>
          </a:xfrm>
          <a:prstGeom prst="roundRect">
            <a:avLst>
              <a:gd name="adj" fmla="val 12000"/>
            </a:avLst>
          </a:prstGeom>
          <a:solidFill>
            <a:srgbClr val="1E8C9C"/>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Güvenlik açığı</a:t>
            </a:r>
          </a:p>
        </p:txBody>
      </p:sp>
      <p:sp>
        <p:nvSpPr>
          <p:cNvPr id="22" name="TextBox 21"/>
          <p:cNvSpPr txBox="1"/>
          <p:nvPr/>
        </p:nvSpPr>
        <p:spPr>
          <a:xfrm>
            <a:off x="6583680" y="2977286"/>
            <a:ext cx="5059375" cy="773582"/>
          </a:xfrm>
          <a:prstGeom prst="rect">
            <a:avLst/>
          </a:prstGeom>
          <a:noFill/>
        </p:spPr>
        <p:txBody>
          <a:bodyPr wrap="square" anchor="ctr" lIns="109728" rIns="109728">
            <a:noAutofit/>
          </a:bodyPr>
          <a:lstStyle/>
          <a:p>
            <a:pPr algn="l">
              <a:spcBef>
                <a:spcPts val="0"/>
              </a:spcBef>
              <a:spcAft>
                <a:spcPts val="0"/>
              </a:spcAft>
            </a:pPr>
            <a:r>
              <a:rPr lang="tr-TR" sz="1850" b="0" i="0">
                <a:solidFill>
                  <a:srgbClr val="262626"/>
                </a:solidFill>
                <a:latin typeface="Calibri"/>
              </a:rPr>
              <a:t>Deprem tehlikesi ve zemin durumu dikkate alınmadan yapılan yerleşmeler, binalar</a:t>
            </a:r>
          </a:p>
        </p:txBody>
      </p:sp>
      <p:sp>
        <p:nvSpPr>
          <p:cNvPr id="23" name="Rounded Rectangle 22"/>
          <p:cNvSpPr/>
          <p:nvPr/>
        </p:nvSpPr>
        <p:spPr>
          <a:xfrm>
            <a:off x="4937760" y="3824020"/>
            <a:ext cx="6751015" cy="773582"/>
          </a:xfrm>
          <a:prstGeom prst="roundRect">
            <a:avLst>
              <a:gd name="adj" fmla="val 12000"/>
            </a:avLst>
          </a:prstGeom>
          <a:solidFill>
            <a:srgbClr val="F0F0F0"/>
          </a:solidFill>
          <a:ln>
            <a:noFill/>
          </a:ln>
          <a:effectLst/>
        </p:spPr>
        <p:txBody>
          <a:bodyPr rtlCol="0" anchor="ctr"/>
          <a:lstStyle/>
          <a:p/>
        </p:txBody>
      </p:sp>
      <p:sp>
        <p:nvSpPr>
          <p:cNvPr id="24" name="Rounded Rectangle 23"/>
          <p:cNvSpPr/>
          <p:nvPr/>
        </p:nvSpPr>
        <p:spPr>
          <a:xfrm>
            <a:off x="4937760" y="3824020"/>
            <a:ext cx="1600200" cy="773582"/>
          </a:xfrm>
          <a:prstGeom prst="roundRect">
            <a:avLst>
              <a:gd name="adj" fmla="val 12000"/>
            </a:avLst>
          </a:prstGeom>
          <a:solidFill>
            <a:srgbClr val="7558A8"/>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Maruziyet</a:t>
            </a:r>
          </a:p>
        </p:txBody>
      </p:sp>
      <p:sp>
        <p:nvSpPr>
          <p:cNvPr id="25" name="TextBox 24"/>
          <p:cNvSpPr txBox="1"/>
          <p:nvPr/>
        </p:nvSpPr>
        <p:spPr>
          <a:xfrm>
            <a:off x="6583680" y="3824020"/>
            <a:ext cx="5059375" cy="773582"/>
          </a:xfrm>
          <a:prstGeom prst="rect">
            <a:avLst/>
          </a:prstGeom>
          <a:noFill/>
        </p:spPr>
        <p:txBody>
          <a:bodyPr wrap="square" anchor="ctr" lIns="109728" rIns="109728">
            <a:noAutofit/>
          </a:bodyPr>
          <a:lstStyle/>
          <a:p>
            <a:pPr algn="l">
              <a:spcBef>
                <a:spcPts val="0"/>
              </a:spcBef>
              <a:spcAft>
                <a:spcPts val="0"/>
              </a:spcAft>
            </a:pPr>
            <a:r>
              <a:rPr lang="tr-TR" sz="1850" b="0" i="0">
                <a:solidFill>
                  <a:srgbClr val="262626"/>
                </a:solidFill>
                <a:latin typeface="Calibri"/>
              </a:rPr>
              <a:t>Sanayi merkezleri, yoğun şehir ve nüfus; alüvyon ve fay üzerindeki yerleşmeler</a:t>
            </a:r>
          </a:p>
        </p:txBody>
      </p:sp>
      <p:sp>
        <p:nvSpPr>
          <p:cNvPr id="26" name="Rounded Rectangle 25"/>
          <p:cNvSpPr/>
          <p:nvPr/>
        </p:nvSpPr>
        <p:spPr>
          <a:xfrm>
            <a:off x="4937760" y="4670754"/>
            <a:ext cx="6751015" cy="773582"/>
          </a:xfrm>
          <a:prstGeom prst="roundRect">
            <a:avLst>
              <a:gd name="adj" fmla="val 12000"/>
            </a:avLst>
          </a:prstGeom>
          <a:solidFill>
            <a:srgbClr val="F0F0F0"/>
          </a:solidFill>
          <a:ln>
            <a:noFill/>
          </a:ln>
          <a:effectLst/>
        </p:spPr>
        <p:txBody>
          <a:bodyPr rtlCol="0" anchor="ctr"/>
          <a:lstStyle/>
          <a:p/>
        </p:txBody>
      </p:sp>
      <p:sp>
        <p:nvSpPr>
          <p:cNvPr id="27" name="Rounded Rectangle 26"/>
          <p:cNvSpPr/>
          <p:nvPr/>
        </p:nvSpPr>
        <p:spPr>
          <a:xfrm>
            <a:off x="4937760" y="4670754"/>
            <a:ext cx="1600200" cy="773582"/>
          </a:xfrm>
          <a:prstGeom prst="roundRect">
            <a:avLst>
              <a:gd name="adj" fmla="val 12000"/>
            </a:avLst>
          </a:prstGeom>
          <a:solidFill>
            <a:srgbClr val="4A6B78"/>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Risk</a:t>
            </a:r>
          </a:p>
        </p:txBody>
      </p:sp>
      <p:sp>
        <p:nvSpPr>
          <p:cNvPr id="28" name="TextBox 27"/>
          <p:cNvSpPr txBox="1"/>
          <p:nvPr/>
        </p:nvSpPr>
        <p:spPr>
          <a:xfrm>
            <a:off x="6583680" y="4670754"/>
            <a:ext cx="5059375" cy="773582"/>
          </a:xfrm>
          <a:prstGeom prst="rect">
            <a:avLst/>
          </a:prstGeom>
          <a:noFill/>
        </p:spPr>
        <p:txBody>
          <a:bodyPr wrap="square" anchor="ctr" lIns="109728" rIns="109728">
            <a:noAutofit/>
          </a:bodyPr>
          <a:lstStyle/>
          <a:p>
            <a:pPr algn="l">
              <a:spcBef>
                <a:spcPts val="0"/>
              </a:spcBef>
              <a:spcAft>
                <a:spcPts val="0"/>
              </a:spcAft>
            </a:pPr>
            <a:r>
              <a:rPr lang="tr-TR" sz="1850" b="0" i="0">
                <a:solidFill>
                  <a:srgbClr val="262626"/>
                </a:solidFill>
                <a:latin typeface="Calibri"/>
              </a:rPr>
              <a:t>Tehlike ile güvenlik açığı birleşir: can ve mal kaybı olasılığı çok yüksek</a:t>
            </a:r>
          </a:p>
        </p:txBody>
      </p:sp>
      <p:sp>
        <p:nvSpPr>
          <p:cNvPr id="29" name="Rounded Rectangle 28"/>
          <p:cNvSpPr/>
          <p:nvPr/>
        </p:nvSpPr>
        <p:spPr>
          <a:xfrm>
            <a:off x="4937760" y="5517488"/>
            <a:ext cx="6751015" cy="773582"/>
          </a:xfrm>
          <a:prstGeom prst="roundRect">
            <a:avLst>
              <a:gd name="adj" fmla="val 12000"/>
            </a:avLst>
          </a:prstGeom>
          <a:solidFill>
            <a:srgbClr val="F0F0F0"/>
          </a:solidFill>
          <a:ln>
            <a:noFill/>
          </a:ln>
          <a:effectLst/>
        </p:spPr>
        <p:txBody>
          <a:bodyPr rtlCol="0" anchor="ctr"/>
          <a:lstStyle/>
          <a:p/>
        </p:txBody>
      </p:sp>
      <p:sp>
        <p:nvSpPr>
          <p:cNvPr id="30" name="Rounded Rectangle 29"/>
          <p:cNvSpPr/>
          <p:nvPr/>
        </p:nvSpPr>
        <p:spPr>
          <a:xfrm>
            <a:off x="4937760" y="5517488"/>
            <a:ext cx="1600200" cy="773582"/>
          </a:xfrm>
          <a:prstGeom prst="roundRect">
            <a:avLst>
              <a:gd name="adj" fmla="val 12000"/>
            </a:avLst>
          </a:prstGeom>
          <a:solidFill>
            <a:srgbClr val="4F4F4F"/>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AFET</a:t>
            </a:r>
          </a:p>
        </p:txBody>
      </p:sp>
      <p:sp>
        <p:nvSpPr>
          <p:cNvPr id="31" name="TextBox 30"/>
          <p:cNvSpPr txBox="1"/>
          <p:nvPr/>
        </p:nvSpPr>
        <p:spPr>
          <a:xfrm>
            <a:off x="6583680" y="5517488"/>
            <a:ext cx="5059375" cy="773582"/>
          </a:xfrm>
          <a:prstGeom prst="rect">
            <a:avLst/>
          </a:prstGeom>
          <a:noFill/>
        </p:spPr>
        <p:txBody>
          <a:bodyPr wrap="square" anchor="ctr" lIns="109728" rIns="109728">
            <a:noAutofit/>
          </a:bodyPr>
          <a:lstStyle/>
          <a:p>
            <a:pPr algn="l">
              <a:spcBef>
                <a:spcPts val="0"/>
              </a:spcBef>
              <a:spcAft>
                <a:spcPts val="0"/>
              </a:spcAft>
            </a:pPr>
            <a:r>
              <a:rPr lang="tr-TR" sz="1850" b="0" i="0">
                <a:solidFill>
                  <a:srgbClr val="262626"/>
                </a:solidFill>
                <a:latin typeface="Calibri"/>
              </a:rPr>
              <a:t>Üçü bir araya geldi: can ve mal kaybı arttı, olağan hayat durdu</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3" name="Rounded Rectangle 3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193</a:t>
            </a:r>
          </a:p>
        </p:txBody>
      </p:sp>
      <p:sp>
        <p:nvSpPr>
          <p:cNvPr id="34" name="TextBox 3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52 / 250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1. soru — noktalı yerler: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16152"/>
            <a:ext cx="11185855" cy="3154680"/>
          </a:xfrm>
          <a:prstGeom prst="roundRect">
            <a:avLst>
              <a:gd name="adj" fmla="val 6000"/>
            </a:avLst>
          </a:prstGeom>
          <a:solidFill>
            <a:srgbClr val="E3F1E4"/>
          </a:solidFill>
          <a:ln>
            <a:noFill/>
          </a:ln>
          <a:effectLst/>
        </p:spPr>
        <p:txBody>
          <a:bodyPr rtlCol="0" anchor="ctr"/>
          <a:lstStyle/>
          <a:p/>
        </p:txBody>
      </p:sp>
      <p:sp>
        <p:nvSpPr>
          <p:cNvPr id="7" name="Rectangle 6"/>
          <p:cNvSpPr/>
          <p:nvPr/>
        </p:nvSpPr>
        <p:spPr>
          <a:xfrm>
            <a:off x="502920" y="1216152"/>
            <a:ext cx="109728" cy="3154680"/>
          </a:xfrm>
          <a:prstGeom prst="rect">
            <a:avLst/>
          </a:prstGeom>
          <a:solidFill>
            <a:srgbClr val="2E7D32"/>
          </a:solidFill>
          <a:ln>
            <a:noFill/>
          </a:ln>
          <a:effectLst/>
        </p:spPr>
        <p:txBody>
          <a:bodyPr rtlCol="0" anchor="ctr"/>
          <a:lstStyle/>
          <a:p/>
        </p:txBody>
      </p:sp>
      <p:sp>
        <p:nvSpPr>
          <p:cNvPr id="8" name="TextBox 7"/>
          <p:cNvSpPr txBox="1"/>
          <p:nvPr/>
        </p:nvSpPr>
        <p:spPr>
          <a:xfrm>
            <a:off x="731520" y="1271016"/>
            <a:ext cx="10865815" cy="3044952"/>
          </a:xfrm>
          <a:prstGeom prst="rect">
            <a:avLst/>
          </a:prstGeom>
          <a:noFill/>
        </p:spPr>
        <p:txBody>
          <a:bodyPr wrap="square" anchor="ctr" lIns="73152" rIns="73152" tIns="36576" bIns="36576">
            <a:noAutofit/>
          </a:bodyPr>
          <a:lstStyle/>
          <a:p>
            <a:pPr algn="l">
              <a:spcBef>
                <a:spcPts val="0"/>
              </a:spcBef>
              <a:spcAft>
                <a:spcPts val="400"/>
              </a:spcAft>
            </a:pPr>
            <a:r>
              <a:rPr lang="tr-TR" sz="2200" b="1" i="0">
                <a:solidFill>
                  <a:srgbClr val="2E7D32"/>
                </a:solidFill>
                <a:latin typeface="Calibri"/>
              </a:rPr>
              <a:t>Örnek cevap</a:t>
            </a:r>
          </a:p>
          <a:p>
            <a:pPr algn="l">
              <a:spcBef>
                <a:spcPts val="0"/>
              </a:spcBef>
              <a:spcAft>
                <a:spcPts val="800"/>
              </a:spcAft>
            </a:pPr>
            <a:r>
              <a:rPr lang="tr-TR" sz="2200" b="1" i="0">
                <a:solidFill>
                  <a:srgbClr val="262626"/>
                </a:solidFill>
                <a:latin typeface="Calibri"/>
              </a:rPr>
              <a:t>Tehlike:</a:t>
            </a:r>
            <a:r>
              <a:rPr lang="tr-TR" sz="2200" b="0" i="0">
                <a:solidFill>
                  <a:srgbClr val="262626"/>
                </a:solidFill>
                <a:latin typeface="Calibri"/>
              </a:rPr>
              <a:t> Kuzey Anadolu Fay Sistemi’nde oluşan 7,4 büyüklüğündeki deprem.</a:t>
            </a:r>
          </a:p>
          <a:p>
            <a:pPr algn="l">
              <a:spcBef>
                <a:spcPts val="0"/>
              </a:spcBef>
              <a:spcAft>
                <a:spcPts val="800"/>
              </a:spcAft>
            </a:pPr>
            <a:r>
              <a:rPr lang="tr-TR" sz="2200" b="1" i="0">
                <a:solidFill>
                  <a:srgbClr val="262626"/>
                </a:solidFill>
                <a:latin typeface="Calibri"/>
              </a:rPr>
              <a:t>Güvenlik açığı → risk:</a:t>
            </a:r>
            <a:r>
              <a:rPr lang="tr-TR" sz="2200" b="0" i="0">
                <a:solidFill>
                  <a:srgbClr val="262626"/>
                </a:solidFill>
                <a:latin typeface="Calibri"/>
              </a:rPr>
              <a:t> Yerleşmeler deprem tehlikesi ve zemin durumu dikkate alınmadan inşa edilmiş; tehlikeyle birleşince can ve mal kaybı riski çok yükselmiş.</a:t>
            </a:r>
          </a:p>
          <a:p>
            <a:pPr algn="l">
              <a:spcBef>
                <a:spcPts val="0"/>
              </a:spcBef>
              <a:spcAft>
                <a:spcPts val="0"/>
              </a:spcAft>
            </a:pPr>
            <a:r>
              <a:rPr lang="tr-TR" sz="2200" b="1" i="0">
                <a:solidFill>
                  <a:srgbClr val="262626"/>
                </a:solidFill>
                <a:latin typeface="Calibri"/>
              </a:rPr>
              <a:t>Maruziyet → afet:</a:t>
            </a:r>
            <a:r>
              <a:rPr lang="tr-TR" sz="2200" b="0" i="0">
                <a:solidFill>
                  <a:srgbClr val="262626"/>
                </a:solidFill>
                <a:latin typeface="Calibri"/>
              </a:rPr>
              <a:t> Sanayi, şehirleşme ve nüfusun yoğun olduğu bölgede insanlar bu riske maruz kalınca deprem afete dönüşmüş, can ve mal kaybı artmış.</a:t>
            </a:r>
          </a:p>
        </p:txBody>
      </p:sp>
      <p:sp>
        <p:nvSpPr>
          <p:cNvPr id="9" name="Rounded Rectangle 8"/>
          <p:cNvSpPr/>
          <p:nvPr/>
        </p:nvSpPr>
        <p:spPr>
          <a:xfrm>
            <a:off x="502920" y="4553712"/>
            <a:ext cx="11185855" cy="1691640"/>
          </a:xfrm>
          <a:prstGeom prst="roundRect">
            <a:avLst>
              <a:gd name="adj" fmla="val 8000"/>
            </a:avLst>
          </a:prstGeom>
          <a:solidFill>
            <a:srgbClr val="F0F0F0"/>
          </a:solidFill>
          <a:ln>
            <a:noFill/>
          </a:ln>
          <a:effectLst/>
        </p:spPr>
        <p:txBody>
          <a:bodyPr rtlCol="0" anchor="ctr"/>
          <a:lstStyle/>
          <a:p/>
        </p:txBody>
      </p:sp>
      <p:sp>
        <p:nvSpPr>
          <p:cNvPr id="10" name="Rectangle 9"/>
          <p:cNvSpPr/>
          <p:nvPr/>
        </p:nvSpPr>
        <p:spPr>
          <a:xfrm>
            <a:off x="502920" y="4553712"/>
            <a:ext cx="118872" cy="1691640"/>
          </a:xfrm>
          <a:prstGeom prst="rect">
            <a:avLst/>
          </a:prstGeom>
          <a:solidFill>
            <a:srgbClr val="2E7D32"/>
          </a:solidFill>
          <a:ln>
            <a:noFill/>
          </a:ln>
          <a:effectLst/>
        </p:spPr>
        <p:txBody>
          <a:bodyPr rtlCol="0" anchor="ctr"/>
          <a:lstStyle/>
          <a:p/>
        </p:txBody>
      </p:sp>
      <p:sp>
        <p:nvSpPr>
          <p:cNvPr id="11" name="TextBox 10"/>
          <p:cNvSpPr txBox="1"/>
          <p:nvPr/>
        </p:nvSpPr>
        <p:spPr>
          <a:xfrm>
            <a:off x="777240" y="4553712"/>
            <a:ext cx="10774375" cy="1691640"/>
          </a:xfrm>
          <a:prstGeom prst="rect">
            <a:avLst/>
          </a:prstGeom>
          <a:noFill/>
        </p:spPr>
        <p:txBody>
          <a:bodyPr wrap="square" anchor="ctr" lIns="73152" rIns="73152" tIns="36576" bIns="36576">
            <a:noAutofit/>
          </a:bodyPr>
          <a:lstStyle/>
          <a:p>
            <a:pPr algn="l">
              <a:spcBef>
                <a:spcPts val="0"/>
              </a:spcBef>
              <a:spcAft>
                <a:spcPts val="0"/>
              </a:spcAft>
            </a:pPr>
            <a:r>
              <a:rPr lang="tr-TR" sz="2200" b="0" i="0">
                <a:solidFill>
                  <a:srgbClr val="262626"/>
                </a:solidFill>
                <a:latin typeface="Calibri"/>
              </a:rPr>
              <a:t>Önlemin etkisi: kurallara uygun inşa edilen binalarda asgari düzeyde hasar → güvenlik açığı küçülürse risk ve afet de küçülür.</a:t>
            </a:r>
          </a:p>
        </p:txBody>
      </p:sp>
      <p:sp>
        <p:nvSpPr>
          <p:cNvPr id="12" name="TextBox 1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3" name="Rounded Rectangle 1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192-193</a:t>
            </a:r>
          </a:p>
        </p:txBody>
      </p:sp>
      <p:sp>
        <p:nvSpPr>
          <p:cNvPr id="14" name="TextBox 1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53 / 250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kendi afet örneğimizin şeması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8 GRUP · 12 dk</a:t>
            </a:r>
          </a:p>
        </p:txBody>
      </p:sp>
      <p:sp>
        <p:nvSpPr>
          <p:cNvPr id="6" name="Rounded Rectangle 5"/>
          <p:cNvSpPr/>
          <p:nvPr/>
        </p:nvSpPr>
        <p:spPr>
          <a:xfrm>
            <a:off x="502920" y="1207008"/>
            <a:ext cx="11185855" cy="7772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1900" b="1" i="0">
                <a:solidFill>
                  <a:srgbClr val="262626"/>
                </a:solidFill>
                <a:latin typeface="Calibri"/>
              </a:rPr>
              <a:t>Aşağıda verilen boş alana farklı afet örnekleri üzerinden tehlike, risk ve afet kavramları arasındaki ilişkiyi çözümleyen bir çalışma (metin, şema, resim vb.) hazırlayınız.</a:t>
            </a:r>
          </a:p>
        </p:txBody>
      </p:sp>
      <p:sp>
        <p:nvSpPr>
          <p:cNvPr id="7" name="TextBox 6"/>
          <p:cNvSpPr txBox="1"/>
          <p:nvPr/>
        </p:nvSpPr>
        <p:spPr>
          <a:xfrm>
            <a:off x="502920" y="2130552"/>
            <a:ext cx="11185855" cy="411480"/>
          </a:xfrm>
          <a:prstGeom prst="rect">
            <a:avLst/>
          </a:prstGeom>
          <a:noFill/>
        </p:spPr>
        <p:txBody>
          <a:bodyPr wrap="square" anchor="t" lIns="73152" rIns="73152" tIns="36576" bIns="36576">
            <a:noAutofit/>
          </a:bodyPr>
          <a:lstStyle/>
          <a:p>
            <a:pPr algn="l">
              <a:spcBef>
                <a:spcPts val="0"/>
              </a:spcBef>
              <a:spcAft>
                <a:spcPts val="0"/>
              </a:spcAft>
            </a:pPr>
            <a:r>
              <a:rPr lang="tr-TR" sz="1900" b="1" i="0">
                <a:solidFill>
                  <a:srgbClr val="A63A32"/>
                </a:solidFill>
                <a:latin typeface="Calibri"/>
              </a:rPr>
              <a:t>Afet kartları (her gruba bir kart):</a:t>
            </a:r>
          </a:p>
        </p:txBody>
      </p:sp>
      <p:sp>
        <p:nvSpPr>
          <p:cNvPr id="8" name="Rounded Rectangle 7"/>
          <p:cNvSpPr/>
          <p:nvPr/>
        </p:nvSpPr>
        <p:spPr>
          <a:xfrm>
            <a:off x="502920" y="2587752"/>
            <a:ext cx="1250835" cy="493776"/>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2000" b="1" i="0">
                <a:solidFill>
                  <a:srgbClr val="262626"/>
                </a:solidFill>
                <a:latin typeface="Calibri"/>
              </a:rPr>
              <a:t>tsunami</a:t>
            </a:r>
          </a:p>
        </p:txBody>
      </p:sp>
      <p:sp>
        <p:nvSpPr>
          <p:cNvPr id="9" name="Rounded Rectangle 8"/>
          <p:cNvSpPr/>
          <p:nvPr/>
        </p:nvSpPr>
        <p:spPr>
          <a:xfrm>
            <a:off x="1863483" y="2587752"/>
            <a:ext cx="1224918" cy="493776"/>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2000" b="1" i="0">
                <a:solidFill>
                  <a:srgbClr val="262626"/>
                </a:solidFill>
                <a:latin typeface="Calibri"/>
              </a:rPr>
              <a:t>heyelan</a:t>
            </a:r>
          </a:p>
        </p:txBody>
      </p:sp>
      <p:sp>
        <p:nvSpPr>
          <p:cNvPr id="10" name="Rounded Rectangle 9"/>
          <p:cNvSpPr/>
          <p:nvPr/>
        </p:nvSpPr>
        <p:spPr>
          <a:xfrm>
            <a:off x="3198129" y="2587752"/>
            <a:ext cx="666564" cy="493776"/>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2000" b="1" i="0">
                <a:solidFill>
                  <a:srgbClr val="262626"/>
                </a:solidFill>
                <a:latin typeface="Calibri"/>
              </a:rPr>
              <a:t>çığ</a:t>
            </a:r>
          </a:p>
        </p:txBody>
      </p:sp>
      <p:sp>
        <p:nvSpPr>
          <p:cNvPr id="11" name="Rounded Rectangle 10"/>
          <p:cNvSpPr/>
          <p:nvPr/>
        </p:nvSpPr>
        <p:spPr>
          <a:xfrm>
            <a:off x="3974421" y="2587752"/>
            <a:ext cx="1227616" cy="493776"/>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2000" b="1" i="0">
                <a:solidFill>
                  <a:srgbClr val="262626"/>
                </a:solidFill>
                <a:latin typeface="Calibri"/>
              </a:rPr>
              <a:t>kuraklık</a:t>
            </a:r>
          </a:p>
        </p:txBody>
      </p:sp>
      <p:sp>
        <p:nvSpPr>
          <p:cNvPr id="12" name="Rounded Rectangle 11"/>
          <p:cNvSpPr/>
          <p:nvPr/>
        </p:nvSpPr>
        <p:spPr>
          <a:xfrm>
            <a:off x="5311765" y="2587752"/>
            <a:ext cx="1029480" cy="493776"/>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2000" b="1" i="0">
                <a:solidFill>
                  <a:srgbClr val="262626"/>
                </a:solidFill>
                <a:latin typeface="Calibri"/>
              </a:rPr>
              <a:t>fırtına</a:t>
            </a:r>
          </a:p>
        </p:txBody>
      </p:sp>
      <p:sp>
        <p:nvSpPr>
          <p:cNvPr id="13" name="Rounded Rectangle 12"/>
          <p:cNvSpPr/>
          <p:nvPr/>
        </p:nvSpPr>
        <p:spPr>
          <a:xfrm>
            <a:off x="6450973" y="2587752"/>
            <a:ext cx="2142918" cy="493776"/>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2000" b="1" i="0">
                <a:solidFill>
                  <a:srgbClr val="262626"/>
                </a:solidFill>
                <a:latin typeface="Calibri"/>
              </a:rPr>
              <a:t>volkanik faaliyet</a:t>
            </a:r>
          </a:p>
        </p:txBody>
      </p:sp>
      <p:sp>
        <p:nvSpPr>
          <p:cNvPr id="14" name="Rounded Rectangle 13"/>
          <p:cNvSpPr/>
          <p:nvPr/>
        </p:nvSpPr>
        <p:spPr>
          <a:xfrm>
            <a:off x="8703619" y="2587752"/>
            <a:ext cx="1832326" cy="493776"/>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2000" b="1" i="0">
                <a:solidFill>
                  <a:srgbClr val="262626"/>
                </a:solidFill>
                <a:latin typeface="Calibri"/>
              </a:rPr>
              <a:t>maden kazası</a:t>
            </a:r>
          </a:p>
        </p:txBody>
      </p:sp>
      <p:sp>
        <p:nvSpPr>
          <p:cNvPr id="15" name="Rounded Rectangle 14"/>
          <p:cNvSpPr/>
          <p:nvPr/>
        </p:nvSpPr>
        <p:spPr>
          <a:xfrm>
            <a:off x="502920" y="3191256"/>
            <a:ext cx="1793124" cy="493776"/>
          </a:xfrm>
          <a:prstGeom prst="roundRect">
            <a:avLst>
              <a:gd name="adj" fmla="val 50000"/>
            </a:avLst>
          </a:prstGeom>
          <a:solidFill>
            <a:srgbClr val="F0F0F0"/>
          </a:solidFill>
          <a:ln w="19050">
            <a:solidFill>
              <a:srgbClr val="A63A32"/>
            </a:solidFill>
          </a:ln>
          <a:effectLst/>
        </p:spPr>
        <p:txBody>
          <a:bodyPr rtlCol="0" anchor="ctr" wrap="square" lIns="54864" rIns="54864" tIns="0" bIns="0">
            <a:noAutofit/>
          </a:bodyPr>
          <a:lstStyle/>
          <a:p>
            <a:pPr algn="ctr">
              <a:spcBef>
                <a:spcPts val="0"/>
              </a:spcBef>
              <a:spcAft>
                <a:spcPts val="0"/>
              </a:spcAft>
            </a:pPr>
            <a:r>
              <a:rPr lang="tr-TR" sz="2000" b="1" i="0">
                <a:solidFill>
                  <a:srgbClr val="262626"/>
                </a:solidFill>
                <a:latin typeface="Calibri"/>
              </a:rPr>
              <a:t>ulaşım kazası</a:t>
            </a:r>
          </a:p>
        </p:txBody>
      </p:sp>
      <p:sp>
        <p:nvSpPr>
          <p:cNvPr id="16" name="Rounded Rectangle 15"/>
          <p:cNvSpPr/>
          <p:nvPr/>
        </p:nvSpPr>
        <p:spPr>
          <a:xfrm>
            <a:off x="502920" y="3913632"/>
            <a:ext cx="5455767" cy="237744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502920" y="3913632"/>
            <a:ext cx="5455767" cy="530352"/>
          </a:xfrm>
          <a:prstGeom prst="roundRect">
            <a:avLst>
              <a:gd name="adj" fmla="val 25000"/>
            </a:avLst>
          </a:prstGeom>
          <a:solidFill>
            <a:srgbClr val="A63A32"/>
          </a:solidFill>
          <a:ln>
            <a:noFill/>
          </a:ln>
          <a:effectLst/>
        </p:spPr>
        <p:txBody>
          <a:bodyPr rtlCol="0" anchor="ctr"/>
          <a:lstStyle/>
          <a:p/>
        </p:txBody>
      </p:sp>
      <p:sp>
        <p:nvSpPr>
          <p:cNvPr id="18" name="Rectangle 17"/>
          <p:cNvSpPr/>
          <p:nvPr/>
        </p:nvSpPr>
        <p:spPr>
          <a:xfrm>
            <a:off x="502920" y="4178808"/>
            <a:ext cx="5455767" cy="265176"/>
          </a:xfrm>
          <a:prstGeom prst="rect">
            <a:avLst/>
          </a:prstGeom>
          <a:solidFill>
            <a:srgbClr val="A63A32"/>
          </a:solidFill>
          <a:ln>
            <a:noFill/>
          </a:ln>
          <a:effectLst/>
        </p:spPr>
        <p:txBody>
          <a:bodyPr rtlCol="0" anchor="ctr"/>
          <a:lstStyle/>
          <a:p/>
        </p:txBody>
      </p:sp>
      <p:sp>
        <p:nvSpPr>
          <p:cNvPr id="19" name="TextBox 18"/>
          <p:cNvSpPr txBox="1"/>
          <p:nvPr/>
        </p:nvSpPr>
        <p:spPr>
          <a:xfrm>
            <a:off x="594360" y="391363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Çalışmanızda olmalı</a:t>
            </a:r>
          </a:p>
        </p:txBody>
      </p:sp>
      <p:sp>
        <p:nvSpPr>
          <p:cNvPr id="20" name="TextBox 19"/>
          <p:cNvSpPr txBox="1"/>
          <p:nvPr/>
        </p:nvSpPr>
        <p:spPr>
          <a:xfrm>
            <a:off x="612648" y="4517136"/>
            <a:ext cx="5236311" cy="1700784"/>
          </a:xfrm>
          <a:prstGeom prst="rect">
            <a:avLst/>
          </a:prstGeom>
          <a:noFill/>
        </p:spPr>
        <p:txBody>
          <a:bodyPr wrap="square" anchor="ctr" lIns="73152" rIns="73152" tIns="36576" bIns="36576">
            <a:noAutofit/>
          </a:bodyPr>
          <a:lstStyle/>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Tehlike · güvenlik açığı · maruziyet</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Risk (kesişim) · AFET (ortada)</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Kısa metin, şema ya da resim</a:t>
            </a:r>
          </a:p>
        </p:txBody>
      </p:sp>
      <p:sp>
        <p:nvSpPr>
          <p:cNvPr id="21" name="Rounded Rectangle 20"/>
          <p:cNvSpPr/>
          <p:nvPr/>
        </p:nvSpPr>
        <p:spPr>
          <a:xfrm>
            <a:off x="6233007" y="3913632"/>
            <a:ext cx="5455767" cy="2377440"/>
          </a:xfrm>
          <a:prstGeom prst="roundRect">
            <a:avLst>
              <a:gd name="adj" fmla="val 5000"/>
            </a:avLst>
          </a:prstGeom>
          <a:solidFill>
            <a:srgbClr val="F0F0F0"/>
          </a:solidFill>
          <a:ln>
            <a:noFill/>
          </a:ln>
          <a:effectLst/>
        </p:spPr>
        <p:txBody>
          <a:bodyPr rtlCol="0" anchor="ctr"/>
          <a:lstStyle/>
          <a:p/>
        </p:txBody>
      </p:sp>
      <p:sp>
        <p:nvSpPr>
          <p:cNvPr id="22" name="Rounded Rectangle 21"/>
          <p:cNvSpPr/>
          <p:nvPr/>
        </p:nvSpPr>
        <p:spPr>
          <a:xfrm>
            <a:off x="6233007" y="3913632"/>
            <a:ext cx="5455767" cy="530352"/>
          </a:xfrm>
          <a:prstGeom prst="roundRect">
            <a:avLst>
              <a:gd name="adj" fmla="val 25000"/>
            </a:avLst>
          </a:prstGeom>
          <a:solidFill>
            <a:srgbClr val="4F4F4F"/>
          </a:solidFill>
          <a:ln>
            <a:noFill/>
          </a:ln>
          <a:effectLst/>
        </p:spPr>
        <p:txBody>
          <a:bodyPr rtlCol="0" anchor="ctr"/>
          <a:lstStyle/>
          <a:p/>
        </p:txBody>
      </p:sp>
      <p:sp>
        <p:nvSpPr>
          <p:cNvPr id="23" name="Rectangle 22"/>
          <p:cNvSpPr/>
          <p:nvPr/>
        </p:nvSpPr>
        <p:spPr>
          <a:xfrm>
            <a:off x="6233007" y="4178808"/>
            <a:ext cx="5455767" cy="265176"/>
          </a:xfrm>
          <a:prstGeom prst="rect">
            <a:avLst/>
          </a:prstGeom>
          <a:solidFill>
            <a:srgbClr val="4F4F4F"/>
          </a:solidFill>
          <a:ln>
            <a:noFill/>
          </a:ln>
          <a:effectLst/>
        </p:spPr>
        <p:txBody>
          <a:bodyPr rtlCol="0" anchor="ctr"/>
          <a:lstStyle/>
          <a:p/>
        </p:txBody>
      </p:sp>
      <p:sp>
        <p:nvSpPr>
          <p:cNvPr id="24" name="TextBox 23"/>
          <p:cNvSpPr txBox="1"/>
          <p:nvPr/>
        </p:nvSpPr>
        <p:spPr>
          <a:xfrm>
            <a:off x="6324447" y="391363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000" b="1" i="0">
                <a:solidFill>
                  <a:srgbClr val="FFFFFF"/>
                </a:solidFill>
                <a:latin typeface="Calibri"/>
              </a:rPr>
              <a:t>Zorunlu kutu</a:t>
            </a:r>
          </a:p>
        </p:txBody>
      </p:sp>
      <p:sp>
        <p:nvSpPr>
          <p:cNvPr id="25" name="TextBox 24"/>
          <p:cNvSpPr txBox="1"/>
          <p:nvPr/>
        </p:nvSpPr>
        <p:spPr>
          <a:xfrm>
            <a:off x="6342735" y="4517136"/>
            <a:ext cx="5236311" cy="1700784"/>
          </a:xfrm>
          <a:prstGeom prst="rect">
            <a:avLst/>
          </a:prstGeom>
          <a:noFill/>
        </p:spPr>
        <p:txBody>
          <a:bodyPr wrap="square" anchor="ctr" lIns="73152" rIns="73152" tIns="36576" bIns="36576">
            <a:noAutofit/>
          </a:bodyPr>
          <a:lstStyle/>
          <a:p>
            <a:pPr algn="l">
              <a:spcBef>
                <a:spcPts val="0"/>
              </a:spcBef>
              <a:spcAft>
                <a:spcPts val="600"/>
              </a:spcAft>
            </a:pPr>
            <a:r>
              <a:rPr lang="tr-TR" sz="2000" b="1" i="0">
                <a:solidFill>
                  <a:srgbClr val="262626"/>
                </a:solidFill>
                <a:latin typeface="Calibri"/>
              </a:rPr>
              <a:t>Önlem alınsaydı ne değişirdi?</a:t>
            </a:r>
          </a:p>
          <a:p>
            <a:pPr algn="l" marL="248620" indent="-248620">
              <a:spcBef>
                <a:spcPts val="0"/>
              </a:spcBef>
              <a:spcAft>
                <a:spcPts val="600"/>
              </a:spcAft>
            </a:pPr>
            <a:r>
              <a:rPr lang="tr-TR" sz="2000" b="1" i="0">
                <a:solidFill>
                  <a:srgbClr val="2C6696"/>
                </a:solidFill>
                <a:latin typeface="Calibri"/>
              </a:rPr>
              <a:t>•  </a:t>
            </a:r>
            <a:r>
              <a:rPr lang="tr-TR" sz="2000" b="0" i="0">
                <a:solidFill>
                  <a:srgbClr val="262626"/>
                </a:solidFill>
                <a:latin typeface="Calibri"/>
              </a:rPr>
              <a:t>Hangi daire küçülürdü?</a:t>
            </a:r>
          </a:p>
          <a:p>
            <a:pPr algn="l" marL="248620" indent="-248620">
              <a:spcBef>
                <a:spcPts val="0"/>
              </a:spcBef>
              <a:spcAft>
                <a:spcPts val="0"/>
              </a:spcAft>
            </a:pPr>
            <a:r>
              <a:rPr lang="tr-TR" sz="2000" b="1" i="0">
                <a:solidFill>
                  <a:srgbClr val="2C6696"/>
                </a:solidFill>
                <a:latin typeface="Calibri"/>
              </a:rPr>
              <a:t>•  </a:t>
            </a:r>
            <a:r>
              <a:rPr lang="tr-TR" sz="2000" b="0" i="0">
                <a:solidFill>
                  <a:srgbClr val="262626"/>
                </a:solidFill>
                <a:latin typeface="Calibri"/>
              </a:rPr>
              <a:t>10 dk üretim · 2 dk panoya asma</a:t>
            </a:r>
          </a:p>
        </p:txBody>
      </p:sp>
      <p:sp>
        <p:nvSpPr>
          <p:cNvPr id="26" name="TextBox 2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7" name="Rounded Rectangle 2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193</a:t>
            </a:r>
          </a:p>
        </p:txBody>
      </p:sp>
      <p:sp>
        <p:nvSpPr>
          <p:cNvPr id="28" name="TextBox 2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54 / 250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2. soru — örnek ürün: orman yangını</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Oval 5"/>
          <p:cNvSpPr/>
          <p:nvPr/>
        </p:nvSpPr>
        <p:spPr>
          <a:xfrm>
            <a:off x="996696" y="1847088"/>
            <a:ext cx="3310128" cy="3310128"/>
          </a:xfrm>
          <a:prstGeom prst="ellipse">
            <a:avLst/>
          </a:prstGeom>
          <a:solidFill>
            <a:srgbClr val="FFFFFF"/>
          </a:solidFill>
          <a:ln w="44450">
            <a:solidFill>
              <a:srgbClr val="4E8A2E"/>
            </a:solidFill>
          </a:ln>
          <a:effectLst/>
        </p:spPr>
        <p:txBody>
          <a:bodyPr rtlCol="0" anchor="ctr"/>
          <a:lstStyle/>
          <a:p/>
        </p:txBody>
      </p:sp>
      <p:sp>
        <p:nvSpPr>
          <p:cNvPr id="7" name="Oval 6"/>
          <p:cNvSpPr/>
          <p:nvPr/>
        </p:nvSpPr>
        <p:spPr>
          <a:xfrm>
            <a:off x="1691640" y="1993392"/>
            <a:ext cx="1920240" cy="1920240"/>
          </a:xfrm>
          <a:prstGeom prst="ellipse">
            <a:avLst/>
          </a:prstGeom>
          <a:solidFill>
            <a:srgbClr val="7558A8">
              <a:alpha val="72000"/>
            </a:srgbClr>
          </a:solidFill>
          <a:ln w="19050">
            <a:solidFill>
              <a:srgbClr val="7558A8"/>
            </a:solidFill>
          </a:ln>
          <a:effectLst/>
        </p:spPr>
        <p:txBody>
          <a:bodyPr rtlCol="0" anchor="ctr"/>
          <a:lstStyle/>
          <a:p/>
        </p:txBody>
      </p:sp>
      <p:sp>
        <p:nvSpPr>
          <p:cNvPr id="8" name="Oval 7"/>
          <p:cNvSpPr/>
          <p:nvPr/>
        </p:nvSpPr>
        <p:spPr>
          <a:xfrm>
            <a:off x="1216517" y="2816352"/>
            <a:ext cx="1920240" cy="1920240"/>
          </a:xfrm>
          <a:prstGeom prst="ellipse">
            <a:avLst/>
          </a:prstGeom>
          <a:solidFill>
            <a:srgbClr val="C94F5A">
              <a:alpha val="72000"/>
            </a:srgbClr>
          </a:solidFill>
          <a:ln w="19050">
            <a:solidFill>
              <a:srgbClr val="C94F5A"/>
            </a:solidFill>
          </a:ln>
          <a:effectLst/>
        </p:spPr>
        <p:txBody>
          <a:bodyPr rtlCol="0" anchor="ctr"/>
          <a:lstStyle/>
          <a:p/>
        </p:txBody>
      </p:sp>
      <p:sp>
        <p:nvSpPr>
          <p:cNvPr id="9" name="Oval 8"/>
          <p:cNvSpPr/>
          <p:nvPr/>
        </p:nvSpPr>
        <p:spPr>
          <a:xfrm>
            <a:off x="2166762" y="2816352"/>
            <a:ext cx="1920240" cy="1920240"/>
          </a:xfrm>
          <a:prstGeom prst="ellipse">
            <a:avLst/>
          </a:prstGeom>
          <a:solidFill>
            <a:srgbClr val="1E8C9C">
              <a:alpha val="72000"/>
            </a:srgbClr>
          </a:solidFill>
          <a:ln w="19050">
            <a:solidFill>
              <a:srgbClr val="1E8C9C"/>
            </a:solidFill>
          </a:ln>
          <a:effectLst/>
        </p:spPr>
        <p:txBody>
          <a:bodyPr rtlCol="0" anchor="ctr"/>
          <a:lstStyle/>
          <a:p/>
        </p:txBody>
      </p:sp>
      <p:sp>
        <p:nvSpPr>
          <p:cNvPr id="10" name="TextBox 9"/>
          <p:cNvSpPr txBox="1"/>
          <p:nvPr/>
        </p:nvSpPr>
        <p:spPr>
          <a:xfrm>
            <a:off x="1931670" y="2175814"/>
            <a:ext cx="1440180" cy="403250"/>
          </a:xfrm>
          <a:prstGeom prst="rect">
            <a:avLst/>
          </a:prstGeom>
          <a:noFill/>
        </p:spPr>
        <p:txBody>
          <a:bodyPr wrap="square" anchor="ctr" lIns="18288" rIns="18288" tIns="0" bIns="0">
            <a:noAutofit/>
          </a:bodyPr>
          <a:lstStyle/>
          <a:p>
            <a:pPr algn="ctr">
              <a:spcBef>
                <a:spcPts val="0"/>
              </a:spcBef>
              <a:spcAft>
                <a:spcPts val="0"/>
              </a:spcAft>
            </a:pPr>
            <a:r>
              <a:rPr lang="tr-TR" sz="1800" b="1" i="0">
                <a:solidFill>
                  <a:srgbClr val="FFFFFF"/>
                </a:solidFill>
                <a:latin typeface="Calibri"/>
              </a:rPr>
              <a:t>Maruziyet</a:t>
            </a:r>
          </a:p>
        </p:txBody>
      </p:sp>
      <p:sp>
        <p:nvSpPr>
          <p:cNvPr id="11" name="TextBox 10"/>
          <p:cNvSpPr txBox="1"/>
          <p:nvPr/>
        </p:nvSpPr>
        <p:spPr>
          <a:xfrm>
            <a:off x="1346421" y="3790873"/>
            <a:ext cx="912114" cy="403250"/>
          </a:xfrm>
          <a:prstGeom prst="rect">
            <a:avLst/>
          </a:prstGeom>
          <a:noFill/>
        </p:spPr>
        <p:txBody>
          <a:bodyPr wrap="square" anchor="ctr" lIns="18288" rIns="18288" tIns="0" bIns="0">
            <a:noAutofit/>
          </a:bodyPr>
          <a:lstStyle/>
          <a:p>
            <a:pPr algn="ctr">
              <a:spcBef>
                <a:spcPts val="0"/>
              </a:spcBef>
              <a:spcAft>
                <a:spcPts val="0"/>
              </a:spcAft>
            </a:pPr>
            <a:r>
              <a:rPr lang="tr-TR" sz="1800" b="1" i="0">
                <a:solidFill>
                  <a:srgbClr val="FFFFFF"/>
                </a:solidFill>
                <a:latin typeface="Calibri"/>
              </a:rPr>
              <a:t>Tehlike</a:t>
            </a:r>
          </a:p>
        </p:txBody>
      </p:sp>
      <p:sp>
        <p:nvSpPr>
          <p:cNvPr id="12" name="TextBox 11"/>
          <p:cNvSpPr txBox="1"/>
          <p:nvPr/>
        </p:nvSpPr>
        <p:spPr>
          <a:xfrm>
            <a:off x="3044984" y="3694861"/>
            <a:ext cx="912114" cy="595274"/>
          </a:xfrm>
          <a:prstGeom prst="rect">
            <a:avLst/>
          </a:prstGeom>
          <a:noFill/>
        </p:spPr>
        <p:txBody>
          <a:bodyPr wrap="square" anchor="ctr" lIns="18288" rIns="18288" tIns="0" bIns="0">
            <a:noAutofit/>
          </a:bodyPr>
          <a:lstStyle/>
          <a:p>
            <a:pPr algn="ctr">
              <a:spcBef>
                <a:spcPts val="0"/>
              </a:spcBef>
              <a:spcAft>
                <a:spcPts val="0"/>
              </a:spcAft>
            </a:pPr>
            <a:r>
              <a:rPr lang="tr-TR" sz="1800" b="1" i="0">
                <a:solidFill>
                  <a:srgbClr val="FFFFFF"/>
                </a:solidFill>
                <a:latin typeface="Calibri"/>
              </a:rPr>
              <a:t>Güvenlik açığı</a:t>
            </a:r>
          </a:p>
        </p:txBody>
      </p:sp>
      <p:sp>
        <p:nvSpPr>
          <p:cNvPr id="13" name="Rounded Rectangle 12"/>
          <p:cNvSpPr/>
          <p:nvPr/>
        </p:nvSpPr>
        <p:spPr>
          <a:xfrm>
            <a:off x="2354122" y="4098987"/>
            <a:ext cx="595274" cy="326440"/>
          </a:xfrm>
          <a:prstGeom prst="roundRect">
            <a:avLst>
              <a:gd name="adj" fmla="val 40000"/>
            </a:avLst>
          </a:prstGeom>
          <a:solidFill>
            <a:srgbClr val="4A6B78"/>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06" b="1" i="0">
                <a:solidFill>
                  <a:srgbClr val="FFFFFF"/>
                </a:solidFill>
                <a:latin typeface="Calibri"/>
              </a:rPr>
              <a:t>Risk</a:t>
            </a:r>
          </a:p>
        </p:txBody>
      </p:sp>
      <p:sp>
        <p:nvSpPr>
          <p:cNvPr id="14" name="Rounded Rectangle 13"/>
          <p:cNvSpPr/>
          <p:nvPr/>
        </p:nvSpPr>
        <p:spPr>
          <a:xfrm>
            <a:off x="2277313" y="3264675"/>
            <a:ext cx="748893" cy="326440"/>
          </a:xfrm>
          <a:prstGeom prst="roundRect">
            <a:avLst>
              <a:gd name="adj" fmla="val 40000"/>
            </a:avLst>
          </a:prstGeom>
          <a:solidFill>
            <a:srgbClr val="4F4F4F"/>
          </a:solidFill>
          <a:ln w="19050">
            <a:solidFill>
              <a:srgbClr val="FFFFFF"/>
            </a:solidFill>
          </a:ln>
          <a:effectLst/>
        </p:spPr>
        <p:txBody>
          <a:bodyPr rtlCol="0" anchor="ctr" wrap="square" lIns="18288" rIns="18288" tIns="0" bIns="0">
            <a:noAutofit/>
          </a:bodyPr>
          <a:lstStyle/>
          <a:p>
            <a:pPr algn="ctr">
              <a:spcBef>
                <a:spcPts val="0"/>
              </a:spcBef>
              <a:spcAft>
                <a:spcPts val="0"/>
              </a:spcAft>
            </a:pPr>
            <a:r>
              <a:rPr lang="tr-TR" sz="1606" b="1" i="0">
                <a:solidFill>
                  <a:srgbClr val="FFFFFF"/>
                </a:solidFill>
                <a:latin typeface="Calibri"/>
              </a:rPr>
              <a:t>AFET</a:t>
            </a:r>
          </a:p>
        </p:txBody>
      </p:sp>
      <p:sp>
        <p:nvSpPr>
          <p:cNvPr id="15" name="Rounded Rectangle 14"/>
          <p:cNvSpPr/>
          <p:nvPr/>
        </p:nvSpPr>
        <p:spPr>
          <a:xfrm>
            <a:off x="2051685" y="1674266"/>
            <a:ext cx="1200150" cy="345643"/>
          </a:xfrm>
          <a:prstGeom prst="roundRect">
            <a:avLst>
              <a:gd name="adj" fmla="val 40000"/>
            </a:avLst>
          </a:prstGeom>
          <a:solidFill>
            <a:srgbClr val="FFFFFF"/>
          </a:solidFill>
          <a:ln w="25400">
            <a:solidFill>
              <a:srgbClr val="4E8A2E"/>
            </a:solidFill>
          </a:ln>
          <a:effectLst/>
        </p:spPr>
        <p:txBody>
          <a:bodyPr rtlCol="0" anchor="ctr" wrap="square" lIns="18288" rIns="18288" tIns="0" bIns="0">
            <a:noAutofit/>
          </a:bodyPr>
          <a:lstStyle/>
          <a:p>
            <a:pPr algn="ctr">
              <a:spcBef>
                <a:spcPts val="0"/>
              </a:spcBef>
              <a:spcAft>
                <a:spcPts val="0"/>
              </a:spcAft>
            </a:pPr>
            <a:r>
              <a:rPr lang="tr-TR" sz="1656" b="1" i="0">
                <a:solidFill>
                  <a:srgbClr val="4E8A2E"/>
                </a:solidFill>
                <a:latin typeface="Calibri"/>
              </a:rPr>
              <a:t>ÇEVRE</a:t>
            </a:r>
          </a:p>
        </p:txBody>
      </p:sp>
      <p:sp>
        <p:nvSpPr>
          <p:cNvPr id="16" name="Rounded Rectangle 15"/>
          <p:cNvSpPr/>
          <p:nvPr/>
        </p:nvSpPr>
        <p:spPr>
          <a:xfrm>
            <a:off x="4937760" y="1216152"/>
            <a:ext cx="6751015" cy="737006"/>
          </a:xfrm>
          <a:prstGeom prst="roundRect">
            <a:avLst>
              <a:gd name="adj" fmla="val 12000"/>
            </a:avLst>
          </a:prstGeom>
          <a:solidFill>
            <a:srgbClr val="F0F0F0"/>
          </a:solidFill>
          <a:ln>
            <a:noFill/>
          </a:ln>
          <a:effectLst/>
        </p:spPr>
        <p:txBody>
          <a:bodyPr rtlCol="0" anchor="ctr"/>
          <a:lstStyle/>
          <a:p/>
        </p:txBody>
      </p:sp>
      <p:sp>
        <p:nvSpPr>
          <p:cNvPr id="17" name="Rounded Rectangle 16"/>
          <p:cNvSpPr/>
          <p:nvPr/>
        </p:nvSpPr>
        <p:spPr>
          <a:xfrm>
            <a:off x="4937760" y="1216152"/>
            <a:ext cx="1600200" cy="737006"/>
          </a:xfrm>
          <a:prstGeom prst="roundRect">
            <a:avLst>
              <a:gd name="adj" fmla="val 12000"/>
            </a:avLst>
          </a:prstGeom>
          <a:solidFill>
            <a:srgbClr val="C94F5A"/>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Tehlike</a:t>
            </a:r>
          </a:p>
        </p:txBody>
      </p:sp>
      <p:sp>
        <p:nvSpPr>
          <p:cNvPr id="18" name="TextBox 17"/>
          <p:cNvSpPr txBox="1"/>
          <p:nvPr/>
        </p:nvSpPr>
        <p:spPr>
          <a:xfrm>
            <a:off x="6583680" y="1216152"/>
            <a:ext cx="5059375" cy="737006"/>
          </a:xfrm>
          <a:prstGeom prst="rect">
            <a:avLst/>
          </a:prstGeom>
          <a:noFill/>
        </p:spPr>
        <p:txBody>
          <a:bodyPr wrap="square" anchor="ctr" lIns="109728" rIns="109728">
            <a:noAutofit/>
          </a:bodyPr>
          <a:lstStyle/>
          <a:p>
            <a:pPr algn="l">
              <a:spcBef>
                <a:spcPts val="0"/>
              </a:spcBef>
              <a:spcAft>
                <a:spcPts val="0"/>
              </a:spcAft>
            </a:pPr>
            <a:r>
              <a:rPr lang="tr-TR" sz="2000" b="0" i="0">
                <a:solidFill>
                  <a:srgbClr val="262626"/>
                </a:solidFill>
                <a:latin typeface="Calibri"/>
              </a:rPr>
              <a:t>Yıldırım düşmesi ya da aşırı sıcakla çıkan orman yangını (Görsel 6.1)</a:t>
            </a:r>
          </a:p>
        </p:txBody>
      </p:sp>
      <p:sp>
        <p:nvSpPr>
          <p:cNvPr id="19" name="Rounded Rectangle 18"/>
          <p:cNvSpPr/>
          <p:nvPr/>
        </p:nvSpPr>
        <p:spPr>
          <a:xfrm>
            <a:off x="4937760" y="2026310"/>
            <a:ext cx="6751015" cy="737006"/>
          </a:xfrm>
          <a:prstGeom prst="roundRect">
            <a:avLst>
              <a:gd name="adj" fmla="val 12000"/>
            </a:avLst>
          </a:prstGeom>
          <a:solidFill>
            <a:srgbClr val="F0F0F0"/>
          </a:solidFill>
          <a:ln>
            <a:noFill/>
          </a:ln>
          <a:effectLst/>
        </p:spPr>
        <p:txBody>
          <a:bodyPr rtlCol="0" anchor="ctr"/>
          <a:lstStyle/>
          <a:p/>
        </p:txBody>
      </p:sp>
      <p:sp>
        <p:nvSpPr>
          <p:cNvPr id="20" name="Rounded Rectangle 19"/>
          <p:cNvSpPr/>
          <p:nvPr/>
        </p:nvSpPr>
        <p:spPr>
          <a:xfrm>
            <a:off x="4937760" y="2026310"/>
            <a:ext cx="1600200" cy="737006"/>
          </a:xfrm>
          <a:prstGeom prst="roundRect">
            <a:avLst>
              <a:gd name="adj" fmla="val 12000"/>
            </a:avLst>
          </a:prstGeom>
          <a:solidFill>
            <a:srgbClr val="1E8C9C"/>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Güvenlik açığı</a:t>
            </a:r>
          </a:p>
        </p:txBody>
      </p:sp>
      <p:sp>
        <p:nvSpPr>
          <p:cNvPr id="21" name="TextBox 20"/>
          <p:cNvSpPr txBox="1"/>
          <p:nvPr/>
        </p:nvSpPr>
        <p:spPr>
          <a:xfrm>
            <a:off x="6583680" y="2026310"/>
            <a:ext cx="5059375" cy="737006"/>
          </a:xfrm>
          <a:prstGeom prst="rect">
            <a:avLst/>
          </a:prstGeom>
          <a:noFill/>
        </p:spPr>
        <p:txBody>
          <a:bodyPr wrap="square" anchor="ctr" lIns="109728" rIns="109728">
            <a:noAutofit/>
          </a:bodyPr>
          <a:lstStyle/>
          <a:p>
            <a:pPr algn="l">
              <a:spcBef>
                <a:spcPts val="0"/>
              </a:spcBef>
              <a:spcAft>
                <a:spcPts val="0"/>
              </a:spcAft>
            </a:pPr>
            <a:r>
              <a:rPr lang="tr-TR" sz="2000" b="0" i="0">
                <a:solidFill>
                  <a:srgbClr val="262626"/>
                </a:solidFill>
                <a:latin typeface="Calibri"/>
              </a:rPr>
              <a:t>Orman kenarına plansız yapılaşma; yangın yolu, su ve erken uyarı eksik</a:t>
            </a:r>
          </a:p>
        </p:txBody>
      </p:sp>
      <p:sp>
        <p:nvSpPr>
          <p:cNvPr id="22" name="Rounded Rectangle 21"/>
          <p:cNvSpPr/>
          <p:nvPr/>
        </p:nvSpPr>
        <p:spPr>
          <a:xfrm>
            <a:off x="4937760" y="2836468"/>
            <a:ext cx="6751015" cy="737006"/>
          </a:xfrm>
          <a:prstGeom prst="roundRect">
            <a:avLst>
              <a:gd name="adj" fmla="val 12000"/>
            </a:avLst>
          </a:prstGeom>
          <a:solidFill>
            <a:srgbClr val="F0F0F0"/>
          </a:solidFill>
          <a:ln>
            <a:noFill/>
          </a:ln>
          <a:effectLst/>
        </p:spPr>
        <p:txBody>
          <a:bodyPr rtlCol="0" anchor="ctr"/>
          <a:lstStyle/>
          <a:p/>
        </p:txBody>
      </p:sp>
      <p:sp>
        <p:nvSpPr>
          <p:cNvPr id="23" name="Rounded Rectangle 22"/>
          <p:cNvSpPr/>
          <p:nvPr/>
        </p:nvSpPr>
        <p:spPr>
          <a:xfrm>
            <a:off x="4937760" y="2836468"/>
            <a:ext cx="1600200" cy="737006"/>
          </a:xfrm>
          <a:prstGeom prst="roundRect">
            <a:avLst>
              <a:gd name="adj" fmla="val 12000"/>
            </a:avLst>
          </a:prstGeom>
          <a:solidFill>
            <a:srgbClr val="7558A8"/>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Maruziyet</a:t>
            </a:r>
          </a:p>
        </p:txBody>
      </p:sp>
      <p:sp>
        <p:nvSpPr>
          <p:cNvPr id="24" name="TextBox 23"/>
          <p:cNvSpPr txBox="1"/>
          <p:nvPr/>
        </p:nvSpPr>
        <p:spPr>
          <a:xfrm>
            <a:off x="6583680" y="2836468"/>
            <a:ext cx="5059375" cy="737006"/>
          </a:xfrm>
          <a:prstGeom prst="rect">
            <a:avLst/>
          </a:prstGeom>
          <a:noFill/>
        </p:spPr>
        <p:txBody>
          <a:bodyPr wrap="square" anchor="ctr" lIns="109728" rIns="109728">
            <a:noAutofit/>
          </a:bodyPr>
          <a:lstStyle/>
          <a:p>
            <a:pPr algn="l">
              <a:spcBef>
                <a:spcPts val="0"/>
              </a:spcBef>
              <a:spcAft>
                <a:spcPts val="0"/>
              </a:spcAft>
            </a:pPr>
            <a:r>
              <a:rPr lang="tr-TR" sz="2000" b="0" i="0">
                <a:solidFill>
                  <a:srgbClr val="262626"/>
                </a:solidFill>
                <a:latin typeface="Calibri"/>
              </a:rPr>
              <a:t>Orman kenarındaki köyler, evler ve orada yaşayanlar</a:t>
            </a:r>
          </a:p>
        </p:txBody>
      </p:sp>
      <p:sp>
        <p:nvSpPr>
          <p:cNvPr id="25" name="Rounded Rectangle 24"/>
          <p:cNvSpPr/>
          <p:nvPr/>
        </p:nvSpPr>
        <p:spPr>
          <a:xfrm>
            <a:off x="4937760" y="3646626"/>
            <a:ext cx="6751015" cy="737006"/>
          </a:xfrm>
          <a:prstGeom prst="roundRect">
            <a:avLst>
              <a:gd name="adj" fmla="val 12000"/>
            </a:avLst>
          </a:prstGeom>
          <a:solidFill>
            <a:srgbClr val="F0F0F0"/>
          </a:solidFill>
          <a:ln>
            <a:noFill/>
          </a:ln>
          <a:effectLst/>
        </p:spPr>
        <p:txBody>
          <a:bodyPr rtlCol="0" anchor="ctr"/>
          <a:lstStyle/>
          <a:p/>
        </p:txBody>
      </p:sp>
      <p:sp>
        <p:nvSpPr>
          <p:cNvPr id="26" name="Rounded Rectangle 25"/>
          <p:cNvSpPr/>
          <p:nvPr/>
        </p:nvSpPr>
        <p:spPr>
          <a:xfrm>
            <a:off x="4937760" y="3646626"/>
            <a:ext cx="1600200" cy="737006"/>
          </a:xfrm>
          <a:prstGeom prst="roundRect">
            <a:avLst>
              <a:gd name="adj" fmla="val 12000"/>
            </a:avLst>
          </a:prstGeom>
          <a:solidFill>
            <a:srgbClr val="4A6B78"/>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Risk</a:t>
            </a:r>
          </a:p>
        </p:txBody>
      </p:sp>
      <p:sp>
        <p:nvSpPr>
          <p:cNvPr id="27" name="TextBox 26"/>
          <p:cNvSpPr txBox="1"/>
          <p:nvPr/>
        </p:nvSpPr>
        <p:spPr>
          <a:xfrm>
            <a:off x="6583680" y="3646626"/>
            <a:ext cx="5059375" cy="737006"/>
          </a:xfrm>
          <a:prstGeom prst="rect">
            <a:avLst/>
          </a:prstGeom>
          <a:noFill/>
        </p:spPr>
        <p:txBody>
          <a:bodyPr wrap="square" anchor="ctr" lIns="109728" rIns="109728">
            <a:noAutofit/>
          </a:bodyPr>
          <a:lstStyle/>
          <a:p>
            <a:pPr algn="l">
              <a:spcBef>
                <a:spcPts val="0"/>
              </a:spcBef>
              <a:spcAft>
                <a:spcPts val="0"/>
              </a:spcAft>
            </a:pPr>
            <a:r>
              <a:rPr lang="tr-TR" sz="2000" b="0" i="0">
                <a:solidFill>
                  <a:srgbClr val="262626"/>
                </a:solidFill>
                <a:latin typeface="Calibri"/>
              </a:rPr>
              <a:t>Yangının yerleşmeye ulaşması; can ve mal kaybı olasılığı</a:t>
            </a:r>
          </a:p>
        </p:txBody>
      </p:sp>
      <p:sp>
        <p:nvSpPr>
          <p:cNvPr id="28" name="Rounded Rectangle 27"/>
          <p:cNvSpPr/>
          <p:nvPr/>
        </p:nvSpPr>
        <p:spPr>
          <a:xfrm>
            <a:off x="4937760" y="4456784"/>
            <a:ext cx="6751015" cy="737006"/>
          </a:xfrm>
          <a:prstGeom prst="roundRect">
            <a:avLst>
              <a:gd name="adj" fmla="val 12000"/>
            </a:avLst>
          </a:prstGeom>
          <a:solidFill>
            <a:srgbClr val="F0F0F0"/>
          </a:solidFill>
          <a:ln>
            <a:noFill/>
          </a:ln>
          <a:effectLst/>
        </p:spPr>
        <p:txBody>
          <a:bodyPr rtlCol="0" anchor="ctr"/>
          <a:lstStyle/>
          <a:p/>
        </p:txBody>
      </p:sp>
      <p:sp>
        <p:nvSpPr>
          <p:cNvPr id="29" name="Rounded Rectangle 28"/>
          <p:cNvSpPr/>
          <p:nvPr/>
        </p:nvSpPr>
        <p:spPr>
          <a:xfrm>
            <a:off x="4937760" y="4456784"/>
            <a:ext cx="1600200" cy="737006"/>
          </a:xfrm>
          <a:prstGeom prst="roundRect">
            <a:avLst>
              <a:gd name="adj" fmla="val 12000"/>
            </a:avLst>
          </a:prstGeom>
          <a:solidFill>
            <a:srgbClr val="4F4F4F"/>
          </a:solidFill>
          <a:ln>
            <a:noFill/>
          </a:ln>
          <a:effectLst/>
        </p:spPr>
        <p:txBody>
          <a:bodyPr rtlCol="0" anchor="ctr" wrap="square" lIns="54864" rIns="54864" tIns="73152" bIns="73152">
            <a:noAutofit/>
          </a:bodyPr>
          <a:lstStyle/>
          <a:p>
            <a:pPr algn="ctr">
              <a:spcBef>
                <a:spcPts val="0"/>
              </a:spcBef>
              <a:spcAft>
                <a:spcPts val="0"/>
              </a:spcAft>
            </a:pPr>
            <a:r>
              <a:rPr lang="tr-TR" sz="1900" b="1" i="0">
                <a:solidFill>
                  <a:srgbClr val="FFFFFF"/>
                </a:solidFill>
                <a:latin typeface="Calibri"/>
              </a:rPr>
              <a:t>AFET</a:t>
            </a:r>
          </a:p>
        </p:txBody>
      </p:sp>
      <p:sp>
        <p:nvSpPr>
          <p:cNvPr id="30" name="TextBox 29"/>
          <p:cNvSpPr txBox="1"/>
          <p:nvPr/>
        </p:nvSpPr>
        <p:spPr>
          <a:xfrm>
            <a:off x="6583680" y="4456784"/>
            <a:ext cx="5059375" cy="737006"/>
          </a:xfrm>
          <a:prstGeom prst="rect">
            <a:avLst/>
          </a:prstGeom>
          <a:noFill/>
        </p:spPr>
        <p:txBody>
          <a:bodyPr wrap="square" anchor="ctr" lIns="109728" rIns="109728">
            <a:noAutofit/>
          </a:bodyPr>
          <a:lstStyle/>
          <a:p>
            <a:pPr algn="l">
              <a:spcBef>
                <a:spcPts val="0"/>
              </a:spcBef>
              <a:spcAft>
                <a:spcPts val="0"/>
              </a:spcAft>
            </a:pPr>
            <a:r>
              <a:rPr lang="tr-TR" sz="2000" b="0" i="0">
                <a:solidFill>
                  <a:srgbClr val="262626"/>
                </a:solidFill>
                <a:latin typeface="Calibri"/>
              </a:rPr>
              <a:t>Evler yanar, insanlar tahliye edilir, orman ve canlılar zarar görür</a:t>
            </a:r>
          </a:p>
        </p:txBody>
      </p:sp>
      <p:sp>
        <p:nvSpPr>
          <p:cNvPr id="31" name="Rounded Rectangle 30"/>
          <p:cNvSpPr/>
          <p:nvPr/>
        </p:nvSpPr>
        <p:spPr>
          <a:xfrm>
            <a:off x="502920" y="5330952"/>
            <a:ext cx="11185855" cy="960120"/>
          </a:xfrm>
          <a:prstGeom prst="roundRect">
            <a:avLst>
              <a:gd name="adj" fmla="val 8000"/>
            </a:avLst>
          </a:prstGeom>
          <a:solidFill>
            <a:srgbClr val="E3F1E4"/>
          </a:solidFill>
          <a:ln w="12700">
            <a:solidFill>
              <a:srgbClr val="2E7D32"/>
            </a:solidFill>
          </a:ln>
          <a:effectLst/>
        </p:spPr>
        <p:txBody>
          <a:bodyPr rtlCol="0" anchor="ctr" wrap="square" lIns="182880" rIns="182880" tIns="73152" bIns="73152">
            <a:noAutofit/>
          </a:bodyPr>
          <a:lstStyle/>
          <a:p>
            <a:pPr algn="ctr">
              <a:spcBef>
                <a:spcPts val="0"/>
              </a:spcBef>
              <a:spcAft>
                <a:spcPts val="0"/>
              </a:spcAft>
            </a:pPr>
            <a:r>
              <a:rPr lang="tr-TR" sz="1900" b="1" i="0">
                <a:solidFill>
                  <a:srgbClr val="262626"/>
                </a:solidFill>
                <a:latin typeface="Calibri"/>
              </a:rPr>
              <a:t>Önlem alınsaydı:</a:t>
            </a:r>
            <a:r>
              <a:rPr lang="tr-TR" sz="1900" b="0" i="0">
                <a:solidFill>
                  <a:srgbClr val="262626"/>
                </a:solidFill>
                <a:latin typeface="Calibri"/>
              </a:rPr>
              <a:t> yangın yolu, orman ile yerleşme arasında boşluk, gözetleme ve erken uyarı → güvenlik açığı küçülür, risk ve afet olasılığı azalır.</a:t>
            </a:r>
          </a:p>
        </p:txBody>
      </p:sp>
      <p:sp>
        <p:nvSpPr>
          <p:cNvPr id="32" name="TextBox 3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3" name="Rounded Rectangle 32"/>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189-193</a:t>
            </a:r>
          </a:p>
        </p:txBody>
      </p:sp>
      <p:sp>
        <p:nvSpPr>
          <p:cNvPr id="34" name="TextBox 33"/>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55 / 250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Paylaşım: grupların şemaları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4 SÖZCÜ · 7 dk</a:t>
            </a:r>
          </a:p>
        </p:txBody>
      </p:sp>
      <p:sp>
        <p:nvSpPr>
          <p:cNvPr id="6" name="Rounded Rectangle 5"/>
          <p:cNvSpPr/>
          <p:nvPr/>
        </p:nvSpPr>
        <p:spPr>
          <a:xfrm>
            <a:off x="502920" y="1216152"/>
            <a:ext cx="5455767" cy="502920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16152"/>
            <a:ext cx="5455767" cy="530352"/>
          </a:xfrm>
          <a:prstGeom prst="roundRect">
            <a:avLst>
              <a:gd name="adj" fmla="val 25000"/>
            </a:avLst>
          </a:prstGeom>
          <a:solidFill>
            <a:srgbClr val="A63A32"/>
          </a:solidFill>
          <a:ln>
            <a:noFill/>
          </a:ln>
          <a:effectLst/>
        </p:spPr>
        <p:txBody>
          <a:bodyPr rtlCol="0" anchor="ctr"/>
          <a:lstStyle/>
          <a:p/>
        </p:txBody>
      </p:sp>
      <p:sp>
        <p:nvSpPr>
          <p:cNvPr id="8" name="Rectangle 7"/>
          <p:cNvSpPr/>
          <p:nvPr/>
        </p:nvSpPr>
        <p:spPr>
          <a:xfrm>
            <a:off x="502920" y="1481328"/>
            <a:ext cx="5455767" cy="265176"/>
          </a:xfrm>
          <a:prstGeom prst="rect">
            <a:avLst/>
          </a:prstGeom>
          <a:solidFill>
            <a:srgbClr val="A63A32"/>
          </a:solidFill>
          <a:ln>
            <a:noFill/>
          </a:ln>
          <a:effectLst/>
        </p:spPr>
        <p:txBody>
          <a:bodyPr rtlCol="0" anchor="ctr"/>
          <a:lstStyle/>
          <a:p/>
        </p:txBody>
      </p:sp>
      <p:sp>
        <p:nvSpPr>
          <p:cNvPr id="9" name="TextBox 8"/>
          <p:cNvSpPr txBox="1"/>
          <p:nvPr/>
        </p:nvSpPr>
        <p:spPr>
          <a:xfrm>
            <a:off x="594360" y="121615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Sözcü anlatır</a:t>
            </a:r>
          </a:p>
        </p:txBody>
      </p:sp>
      <p:sp>
        <p:nvSpPr>
          <p:cNvPr id="10" name="TextBox 9"/>
          <p:cNvSpPr txBox="1"/>
          <p:nvPr/>
        </p:nvSpPr>
        <p:spPr>
          <a:xfrm>
            <a:off x="612648" y="1819656"/>
            <a:ext cx="5236311" cy="4352544"/>
          </a:xfrm>
          <a:prstGeom prst="rect">
            <a:avLst/>
          </a:prstGeom>
          <a:noFill/>
        </p:spPr>
        <p:txBody>
          <a:bodyPr wrap="square" anchor="ctr" lIns="73152" rIns="73152" tIns="36576" bIns="36576">
            <a:noAutofit/>
          </a:bodyPr>
          <a:lstStyle/>
          <a:p>
            <a:pPr algn="l" marL="384924" indent="-384924">
              <a:spcBef>
                <a:spcPts val="0"/>
              </a:spcBef>
              <a:spcAft>
                <a:spcPts val="600"/>
              </a:spcAft>
            </a:pPr>
            <a:r>
              <a:rPr lang="tr-TR" sz="2400" b="1" i="0">
                <a:solidFill>
                  <a:srgbClr val="2C6696"/>
                </a:solidFill>
                <a:latin typeface="Calibri"/>
              </a:rPr>
              <a:t>1.  </a:t>
            </a:r>
            <a:r>
              <a:rPr lang="tr-TR" sz="2400" b="0" i="0">
                <a:solidFill>
                  <a:srgbClr val="262626"/>
                </a:solidFill>
                <a:latin typeface="Calibri"/>
              </a:rPr>
              <a:t>Afet kartımız</a:t>
            </a:r>
          </a:p>
          <a:p>
            <a:pPr algn="l" marL="384924" indent="-384924">
              <a:spcBef>
                <a:spcPts val="0"/>
              </a:spcBef>
              <a:spcAft>
                <a:spcPts val="600"/>
              </a:spcAft>
            </a:pPr>
            <a:r>
              <a:rPr lang="tr-TR" sz="2400" b="1" i="0">
                <a:solidFill>
                  <a:srgbClr val="2C6696"/>
                </a:solidFill>
                <a:latin typeface="Calibri"/>
              </a:rPr>
              <a:t>2.  </a:t>
            </a:r>
            <a:r>
              <a:rPr lang="tr-TR" sz="2400" b="0" i="0">
                <a:solidFill>
                  <a:srgbClr val="262626"/>
                </a:solidFill>
                <a:latin typeface="Calibri"/>
              </a:rPr>
              <a:t>Şemamızdan bir alan ve kanıtı</a:t>
            </a:r>
          </a:p>
          <a:p>
            <a:pPr algn="l" marL="384924" indent="-384924">
              <a:spcBef>
                <a:spcPts val="0"/>
              </a:spcBef>
              <a:spcAft>
                <a:spcPts val="0"/>
              </a:spcAft>
            </a:pPr>
            <a:r>
              <a:rPr lang="tr-TR" sz="2400" b="1" i="0">
                <a:solidFill>
                  <a:srgbClr val="2C6696"/>
                </a:solidFill>
                <a:latin typeface="Calibri"/>
              </a:rPr>
              <a:t>3.  </a:t>
            </a:r>
            <a:r>
              <a:rPr lang="tr-TR" sz="2400" b="0" i="0">
                <a:solidFill>
                  <a:srgbClr val="262626"/>
                </a:solidFill>
                <a:latin typeface="Calibri"/>
              </a:rPr>
              <a:t>Önlem alınsaydı ne değişirdi?</a:t>
            </a:r>
          </a:p>
        </p:txBody>
      </p:sp>
      <p:sp>
        <p:nvSpPr>
          <p:cNvPr id="11" name="Rounded Rectangle 10"/>
          <p:cNvSpPr/>
          <p:nvPr/>
        </p:nvSpPr>
        <p:spPr>
          <a:xfrm>
            <a:off x="6233007" y="1216152"/>
            <a:ext cx="5455767" cy="502920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6233007" y="1216152"/>
            <a:ext cx="5455767"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6233007" y="1481328"/>
            <a:ext cx="5455767" cy="265176"/>
          </a:xfrm>
          <a:prstGeom prst="rect">
            <a:avLst/>
          </a:prstGeom>
          <a:solidFill>
            <a:srgbClr val="4F4F4F"/>
          </a:solidFill>
          <a:ln>
            <a:noFill/>
          </a:ln>
          <a:effectLst/>
        </p:spPr>
        <p:txBody>
          <a:bodyPr rtlCol="0" anchor="ctr"/>
          <a:lstStyle/>
          <a:p/>
        </p:txBody>
      </p:sp>
      <p:sp>
        <p:nvSpPr>
          <p:cNvPr id="14" name="TextBox 13"/>
          <p:cNvSpPr txBox="1"/>
          <p:nvPr/>
        </p:nvSpPr>
        <p:spPr>
          <a:xfrm>
            <a:off x="6324447" y="1216152"/>
            <a:ext cx="5272887" cy="530352"/>
          </a:xfrm>
          <a:prstGeom prst="rect">
            <a:avLst/>
          </a:prstGeom>
          <a:noFill/>
        </p:spPr>
        <p:txBody>
          <a:bodyPr wrap="square" anchor="ctr" lIns="73152" rIns="73152" tIns="36576" bIns="36576">
            <a:noAutofit/>
          </a:bodyPr>
          <a:lstStyle/>
          <a:p>
            <a:pPr algn="l">
              <a:spcBef>
                <a:spcPts val="0"/>
              </a:spcBef>
              <a:spcAft>
                <a:spcPts val="0"/>
              </a:spcAft>
            </a:pPr>
            <a:r>
              <a:rPr lang="tr-TR" sz="2200" b="1" i="0">
                <a:solidFill>
                  <a:srgbClr val="FFFFFF"/>
                </a:solidFill>
                <a:latin typeface="Calibri"/>
              </a:rPr>
              <a:t>Dinleyenler düşünür</a:t>
            </a:r>
          </a:p>
        </p:txBody>
      </p:sp>
      <p:sp>
        <p:nvSpPr>
          <p:cNvPr id="15" name="TextBox 14"/>
          <p:cNvSpPr txBox="1"/>
          <p:nvPr/>
        </p:nvSpPr>
        <p:spPr>
          <a:xfrm>
            <a:off x="6342735" y="1819656"/>
            <a:ext cx="5236311" cy="4352544"/>
          </a:xfrm>
          <a:prstGeom prst="rect">
            <a:avLst/>
          </a:prstGeom>
          <a:noFill/>
        </p:spPr>
        <p:txBody>
          <a:bodyPr wrap="square" anchor="ctr" lIns="73152" rIns="73152" tIns="36576" bIns="36576">
            <a:noAutofit/>
          </a:bodyPr>
          <a:lstStyle/>
          <a:p>
            <a:pPr algn="l">
              <a:spcBef>
                <a:spcPts val="0"/>
              </a:spcBef>
              <a:spcAft>
                <a:spcPts val="600"/>
              </a:spcAft>
            </a:pPr>
            <a:r>
              <a:rPr lang="tr-TR" sz="2400" b="1" i="0">
                <a:solidFill>
                  <a:srgbClr val="262626"/>
                </a:solidFill>
                <a:latin typeface="Calibri"/>
              </a:rPr>
              <a:t>Hangi daire küçülürse afet önlenebilir?</a:t>
            </a:r>
          </a:p>
          <a:p>
            <a:pPr algn="l" marL="298344" indent="-298344">
              <a:spcBef>
                <a:spcPts val="0"/>
              </a:spcBef>
              <a:spcAft>
                <a:spcPts val="0"/>
              </a:spcAft>
            </a:pPr>
            <a:r>
              <a:rPr lang="tr-TR" sz="2400" b="1" i="0">
                <a:solidFill>
                  <a:srgbClr val="2C6696"/>
                </a:solidFill>
                <a:latin typeface="Calibri"/>
              </a:rPr>
              <a:t>•  </a:t>
            </a:r>
            <a:r>
              <a:rPr lang="tr-TR" sz="2400" b="0" i="0">
                <a:solidFill>
                  <a:srgbClr val="262626"/>
                </a:solidFill>
                <a:latin typeface="Calibri"/>
              </a:rPr>
              <a:t>Hangi daireyi küçültmek elimizde değil?</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193</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56 / 250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Üç kavramın özeti</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TAHTADA</a:t>
            </a:r>
          </a:p>
        </p:txBody>
      </p:sp>
      <p:sp>
        <p:nvSpPr>
          <p:cNvPr id="6" name="Rounded Rectangle 5"/>
          <p:cNvSpPr/>
          <p:nvPr/>
        </p:nvSpPr>
        <p:spPr>
          <a:xfrm>
            <a:off x="2633472" y="1216152"/>
            <a:ext cx="2969666" cy="566928"/>
          </a:xfrm>
          <a:prstGeom prst="roundRect">
            <a:avLst>
              <a:gd name="adj" fmla="val 15000"/>
            </a:avLst>
          </a:prstGeom>
          <a:solidFill>
            <a:srgbClr val="C94F5A"/>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Tehlike</a:t>
            </a:r>
          </a:p>
        </p:txBody>
      </p:sp>
      <p:sp>
        <p:nvSpPr>
          <p:cNvPr id="7" name="Rounded Rectangle 6"/>
          <p:cNvSpPr/>
          <p:nvPr/>
        </p:nvSpPr>
        <p:spPr>
          <a:xfrm>
            <a:off x="5676290" y="1216152"/>
            <a:ext cx="2969666" cy="566928"/>
          </a:xfrm>
          <a:prstGeom prst="roundRect">
            <a:avLst>
              <a:gd name="adj" fmla="val 15000"/>
            </a:avLst>
          </a:prstGeom>
          <a:solidFill>
            <a:srgbClr val="4A6B78"/>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Risk</a:t>
            </a:r>
          </a:p>
        </p:txBody>
      </p:sp>
      <p:sp>
        <p:nvSpPr>
          <p:cNvPr id="8" name="Rounded Rectangle 7"/>
          <p:cNvSpPr/>
          <p:nvPr/>
        </p:nvSpPr>
        <p:spPr>
          <a:xfrm>
            <a:off x="8719108" y="1216152"/>
            <a:ext cx="2969666" cy="566928"/>
          </a:xfrm>
          <a:prstGeom prst="roundRect">
            <a:avLst>
              <a:gd name="adj" fmla="val 15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Afet</a:t>
            </a:r>
          </a:p>
        </p:txBody>
      </p:sp>
      <p:sp>
        <p:nvSpPr>
          <p:cNvPr id="9" name="Rounded Rectangle 8"/>
          <p:cNvSpPr/>
          <p:nvPr/>
        </p:nvSpPr>
        <p:spPr>
          <a:xfrm>
            <a:off x="502920" y="1856232"/>
            <a:ext cx="2057400" cy="1429512"/>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Tanım</a:t>
            </a:r>
          </a:p>
        </p:txBody>
      </p:sp>
      <p:sp>
        <p:nvSpPr>
          <p:cNvPr id="10" name="Rounded Rectangle 9"/>
          <p:cNvSpPr/>
          <p:nvPr/>
        </p:nvSpPr>
        <p:spPr>
          <a:xfrm>
            <a:off x="2633472" y="1856232"/>
            <a:ext cx="2969666" cy="14295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1" name="Connector 10"/>
          <p:cNvCxnSpPr/>
          <p:nvPr/>
        </p:nvCxnSpPr>
        <p:spPr>
          <a:xfrm>
            <a:off x="2816352" y="2213610"/>
            <a:ext cx="2603906" cy="0"/>
          </a:xfrm>
          <a:prstGeom prst="line">
            <a:avLst/>
          </a:prstGeom>
          <a:ln w="12700">
            <a:solidFill>
              <a:srgbClr val="D9D9D9"/>
            </a:solidFill>
            <a:prstDash val="dash"/>
          </a:ln>
        </p:spPr>
      </p:cxnSp>
      <p:cxnSp>
        <p:nvCxnSpPr>
          <p:cNvPr id="12" name="Connector 11"/>
          <p:cNvCxnSpPr/>
          <p:nvPr/>
        </p:nvCxnSpPr>
        <p:spPr>
          <a:xfrm>
            <a:off x="2816352" y="2570988"/>
            <a:ext cx="2603906" cy="0"/>
          </a:xfrm>
          <a:prstGeom prst="line">
            <a:avLst/>
          </a:prstGeom>
          <a:ln w="12700">
            <a:solidFill>
              <a:srgbClr val="D9D9D9"/>
            </a:solidFill>
            <a:prstDash val="dash"/>
          </a:ln>
        </p:spPr>
      </p:cxnSp>
      <p:cxnSp>
        <p:nvCxnSpPr>
          <p:cNvPr id="13" name="Connector 12"/>
          <p:cNvCxnSpPr/>
          <p:nvPr/>
        </p:nvCxnSpPr>
        <p:spPr>
          <a:xfrm>
            <a:off x="2816352" y="2928366"/>
            <a:ext cx="2603906" cy="0"/>
          </a:xfrm>
          <a:prstGeom prst="line">
            <a:avLst/>
          </a:prstGeom>
          <a:ln w="12700">
            <a:solidFill>
              <a:srgbClr val="D9D9D9"/>
            </a:solidFill>
            <a:prstDash val="dash"/>
          </a:ln>
        </p:spPr>
      </p:cxnSp>
      <p:sp>
        <p:nvSpPr>
          <p:cNvPr id="14" name="Rounded Rectangle 13"/>
          <p:cNvSpPr/>
          <p:nvPr/>
        </p:nvSpPr>
        <p:spPr>
          <a:xfrm>
            <a:off x="5676290" y="1856232"/>
            <a:ext cx="2969666" cy="14295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5" name="Connector 14"/>
          <p:cNvCxnSpPr/>
          <p:nvPr/>
        </p:nvCxnSpPr>
        <p:spPr>
          <a:xfrm>
            <a:off x="5859170" y="2213610"/>
            <a:ext cx="2603906" cy="0"/>
          </a:xfrm>
          <a:prstGeom prst="line">
            <a:avLst/>
          </a:prstGeom>
          <a:ln w="12700">
            <a:solidFill>
              <a:srgbClr val="D9D9D9"/>
            </a:solidFill>
            <a:prstDash val="dash"/>
          </a:ln>
        </p:spPr>
      </p:cxnSp>
      <p:cxnSp>
        <p:nvCxnSpPr>
          <p:cNvPr id="16" name="Connector 15"/>
          <p:cNvCxnSpPr/>
          <p:nvPr/>
        </p:nvCxnSpPr>
        <p:spPr>
          <a:xfrm>
            <a:off x="5859170" y="2570988"/>
            <a:ext cx="2603906" cy="0"/>
          </a:xfrm>
          <a:prstGeom prst="line">
            <a:avLst/>
          </a:prstGeom>
          <a:ln w="12700">
            <a:solidFill>
              <a:srgbClr val="D9D9D9"/>
            </a:solidFill>
            <a:prstDash val="dash"/>
          </a:ln>
        </p:spPr>
      </p:cxnSp>
      <p:cxnSp>
        <p:nvCxnSpPr>
          <p:cNvPr id="17" name="Connector 16"/>
          <p:cNvCxnSpPr/>
          <p:nvPr/>
        </p:nvCxnSpPr>
        <p:spPr>
          <a:xfrm>
            <a:off x="5859170" y="2928366"/>
            <a:ext cx="2603906" cy="0"/>
          </a:xfrm>
          <a:prstGeom prst="line">
            <a:avLst/>
          </a:prstGeom>
          <a:ln w="12700">
            <a:solidFill>
              <a:srgbClr val="D9D9D9"/>
            </a:solidFill>
            <a:prstDash val="dash"/>
          </a:ln>
        </p:spPr>
      </p:cxnSp>
      <p:sp>
        <p:nvSpPr>
          <p:cNvPr id="18" name="Rounded Rectangle 17"/>
          <p:cNvSpPr/>
          <p:nvPr/>
        </p:nvSpPr>
        <p:spPr>
          <a:xfrm>
            <a:off x="8719108" y="1856232"/>
            <a:ext cx="2969666" cy="14295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19" name="Connector 18"/>
          <p:cNvCxnSpPr/>
          <p:nvPr/>
        </p:nvCxnSpPr>
        <p:spPr>
          <a:xfrm>
            <a:off x="8901988" y="2213610"/>
            <a:ext cx="2603906" cy="0"/>
          </a:xfrm>
          <a:prstGeom prst="line">
            <a:avLst/>
          </a:prstGeom>
          <a:ln w="12700">
            <a:solidFill>
              <a:srgbClr val="D9D9D9"/>
            </a:solidFill>
            <a:prstDash val="dash"/>
          </a:ln>
        </p:spPr>
      </p:cxnSp>
      <p:cxnSp>
        <p:nvCxnSpPr>
          <p:cNvPr id="20" name="Connector 19"/>
          <p:cNvCxnSpPr/>
          <p:nvPr/>
        </p:nvCxnSpPr>
        <p:spPr>
          <a:xfrm>
            <a:off x="8901988" y="2570988"/>
            <a:ext cx="2603906" cy="0"/>
          </a:xfrm>
          <a:prstGeom prst="line">
            <a:avLst/>
          </a:prstGeom>
          <a:ln w="12700">
            <a:solidFill>
              <a:srgbClr val="D9D9D9"/>
            </a:solidFill>
            <a:prstDash val="dash"/>
          </a:ln>
        </p:spPr>
      </p:cxnSp>
      <p:cxnSp>
        <p:nvCxnSpPr>
          <p:cNvPr id="21" name="Connector 20"/>
          <p:cNvCxnSpPr/>
          <p:nvPr/>
        </p:nvCxnSpPr>
        <p:spPr>
          <a:xfrm>
            <a:off x="8901988" y="2928366"/>
            <a:ext cx="2603906" cy="0"/>
          </a:xfrm>
          <a:prstGeom prst="line">
            <a:avLst/>
          </a:prstGeom>
          <a:ln w="12700">
            <a:solidFill>
              <a:srgbClr val="D9D9D9"/>
            </a:solidFill>
            <a:prstDash val="dash"/>
          </a:ln>
        </p:spPr>
      </p:cxnSp>
      <p:sp>
        <p:nvSpPr>
          <p:cNvPr id="22" name="Rounded Rectangle 21"/>
          <p:cNvSpPr/>
          <p:nvPr/>
        </p:nvSpPr>
        <p:spPr>
          <a:xfrm>
            <a:off x="502920" y="3358896"/>
            <a:ext cx="2057400" cy="1429512"/>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Belirleyen</a:t>
            </a:r>
          </a:p>
        </p:txBody>
      </p:sp>
      <p:sp>
        <p:nvSpPr>
          <p:cNvPr id="23" name="Rounded Rectangle 22"/>
          <p:cNvSpPr/>
          <p:nvPr/>
        </p:nvSpPr>
        <p:spPr>
          <a:xfrm>
            <a:off x="2633472" y="3358896"/>
            <a:ext cx="2969666" cy="14295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4" name="Connector 23"/>
          <p:cNvCxnSpPr/>
          <p:nvPr/>
        </p:nvCxnSpPr>
        <p:spPr>
          <a:xfrm>
            <a:off x="2816352" y="3716274"/>
            <a:ext cx="2603906" cy="0"/>
          </a:xfrm>
          <a:prstGeom prst="line">
            <a:avLst/>
          </a:prstGeom>
          <a:ln w="12700">
            <a:solidFill>
              <a:srgbClr val="D9D9D9"/>
            </a:solidFill>
            <a:prstDash val="dash"/>
          </a:ln>
        </p:spPr>
      </p:cxnSp>
      <p:cxnSp>
        <p:nvCxnSpPr>
          <p:cNvPr id="25" name="Connector 24"/>
          <p:cNvCxnSpPr/>
          <p:nvPr/>
        </p:nvCxnSpPr>
        <p:spPr>
          <a:xfrm>
            <a:off x="2816352" y="4073652"/>
            <a:ext cx="2603906" cy="0"/>
          </a:xfrm>
          <a:prstGeom prst="line">
            <a:avLst/>
          </a:prstGeom>
          <a:ln w="12700">
            <a:solidFill>
              <a:srgbClr val="D9D9D9"/>
            </a:solidFill>
            <a:prstDash val="dash"/>
          </a:ln>
        </p:spPr>
      </p:cxnSp>
      <p:cxnSp>
        <p:nvCxnSpPr>
          <p:cNvPr id="26" name="Connector 25"/>
          <p:cNvCxnSpPr/>
          <p:nvPr/>
        </p:nvCxnSpPr>
        <p:spPr>
          <a:xfrm>
            <a:off x="2816352" y="4431030"/>
            <a:ext cx="2603906" cy="0"/>
          </a:xfrm>
          <a:prstGeom prst="line">
            <a:avLst/>
          </a:prstGeom>
          <a:ln w="12700">
            <a:solidFill>
              <a:srgbClr val="D9D9D9"/>
            </a:solidFill>
            <a:prstDash val="dash"/>
          </a:ln>
        </p:spPr>
      </p:cxnSp>
      <p:sp>
        <p:nvSpPr>
          <p:cNvPr id="27" name="Rounded Rectangle 26"/>
          <p:cNvSpPr/>
          <p:nvPr/>
        </p:nvSpPr>
        <p:spPr>
          <a:xfrm>
            <a:off x="5676290" y="3358896"/>
            <a:ext cx="2969666" cy="14295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28" name="Connector 27"/>
          <p:cNvCxnSpPr/>
          <p:nvPr/>
        </p:nvCxnSpPr>
        <p:spPr>
          <a:xfrm>
            <a:off x="5859170" y="3716274"/>
            <a:ext cx="2603906" cy="0"/>
          </a:xfrm>
          <a:prstGeom prst="line">
            <a:avLst/>
          </a:prstGeom>
          <a:ln w="12700">
            <a:solidFill>
              <a:srgbClr val="D9D9D9"/>
            </a:solidFill>
            <a:prstDash val="dash"/>
          </a:ln>
        </p:spPr>
      </p:cxnSp>
      <p:cxnSp>
        <p:nvCxnSpPr>
          <p:cNvPr id="29" name="Connector 28"/>
          <p:cNvCxnSpPr/>
          <p:nvPr/>
        </p:nvCxnSpPr>
        <p:spPr>
          <a:xfrm>
            <a:off x="5859170" y="4073652"/>
            <a:ext cx="2603906" cy="0"/>
          </a:xfrm>
          <a:prstGeom prst="line">
            <a:avLst/>
          </a:prstGeom>
          <a:ln w="12700">
            <a:solidFill>
              <a:srgbClr val="D9D9D9"/>
            </a:solidFill>
            <a:prstDash val="dash"/>
          </a:ln>
        </p:spPr>
      </p:cxnSp>
      <p:cxnSp>
        <p:nvCxnSpPr>
          <p:cNvPr id="30" name="Connector 29"/>
          <p:cNvCxnSpPr/>
          <p:nvPr/>
        </p:nvCxnSpPr>
        <p:spPr>
          <a:xfrm>
            <a:off x="5859170" y="4431030"/>
            <a:ext cx="2603906" cy="0"/>
          </a:xfrm>
          <a:prstGeom prst="line">
            <a:avLst/>
          </a:prstGeom>
          <a:ln w="12700">
            <a:solidFill>
              <a:srgbClr val="D9D9D9"/>
            </a:solidFill>
            <a:prstDash val="dash"/>
          </a:ln>
        </p:spPr>
      </p:cxnSp>
      <p:sp>
        <p:nvSpPr>
          <p:cNvPr id="31" name="Rounded Rectangle 30"/>
          <p:cNvSpPr/>
          <p:nvPr/>
        </p:nvSpPr>
        <p:spPr>
          <a:xfrm>
            <a:off x="8719108" y="3358896"/>
            <a:ext cx="2969666" cy="14295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2" name="Connector 31"/>
          <p:cNvCxnSpPr/>
          <p:nvPr/>
        </p:nvCxnSpPr>
        <p:spPr>
          <a:xfrm>
            <a:off x="8901988" y="3716274"/>
            <a:ext cx="2603906" cy="0"/>
          </a:xfrm>
          <a:prstGeom prst="line">
            <a:avLst/>
          </a:prstGeom>
          <a:ln w="12700">
            <a:solidFill>
              <a:srgbClr val="D9D9D9"/>
            </a:solidFill>
            <a:prstDash val="dash"/>
          </a:ln>
        </p:spPr>
      </p:cxnSp>
      <p:cxnSp>
        <p:nvCxnSpPr>
          <p:cNvPr id="33" name="Connector 32"/>
          <p:cNvCxnSpPr/>
          <p:nvPr/>
        </p:nvCxnSpPr>
        <p:spPr>
          <a:xfrm>
            <a:off x="8901988" y="4073652"/>
            <a:ext cx="2603906" cy="0"/>
          </a:xfrm>
          <a:prstGeom prst="line">
            <a:avLst/>
          </a:prstGeom>
          <a:ln w="12700">
            <a:solidFill>
              <a:srgbClr val="D9D9D9"/>
            </a:solidFill>
            <a:prstDash val="dash"/>
          </a:ln>
        </p:spPr>
      </p:cxnSp>
      <p:cxnSp>
        <p:nvCxnSpPr>
          <p:cNvPr id="34" name="Connector 33"/>
          <p:cNvCxnSpPr/>
          <p:nvPr/>
        </p:nvCxnSpPr>
        <p:spPr>
          <a:xfrm>
            <a:off x="8901988" y="4431030"/>
            <a:ext cx="2603906" cy="0"/>
          </a:xfrm>
          <a:prstGeom prst="line">
            <a:avLst/>
          </a:prstGeom>
          <a:ln w="12700">
            <a:solidFill>
              <a:srgbClr val="D9D9D9"/>
            </a:solidFill>
            <a:prstDash val="dash"/>
          </a:ln>
        </p:spPr>
      </p:cxnSp>
      <p:sp>
        <p:nvSpPr>
          <p:cNvPr id="35" name="Rounded Rectangle 34"/>
          <p:cNvSpPr/>
          <p:nvPr/>
        </p:nvSpPr>
        <p:spPr>
          <a:xfrm>
            <a:off x="502920" y="4861560"/>
            <a:ext cx="2057400" cy="1429512"/>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Örnek</a:t>
            </a:r>
          </a:p>
        </p:txBody>
      </p:sp>
      <p:sp>
        <p:nvSpPr>
          <p:cNvPr id="36" name="Rounded Rectangle 35"/>
          <p:cNvSpPr/>
          <p:nvPr/>
        </p:nvSpPr>
        <p:spPr>
          <a:xfrm>
            <a:off x="2633472" y="4861560"/>
            <a:ext cx="2969666" cy="14295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37" name="Connector 36"/>
          <p:cNvCxnSpPr/>
          <p:nvPr/>
        </p:nvCxnSpPr>
        <p:spPr>
          <a:xfrm>
            <a:off x="2816352" y="5218938"/>
            <a:ext cx="2603906" cy="0"/>
          </a:xfrm>
          <a:prstGeom prst="line">
            <a:avLst/>
          </a:prstGeom>
          <a:ln w="12700">
            <a:solidFill>
              <a:srgbClr val="D9D9D9"/>
            </a:solidFill>
            <a:prstDash val="dash"/>
          </a:ln>
        </p:spPr>
      </p:cxnSp>
      <p:cxnSp>
        <p:nvCxnSpPr>
          <p:cNvPr id="38" name="Connector 37"/>
          <p:cNvCxnSpPr/>
          <p:nvPr/>
        </p:nvCxnSpPr>
        <p:spPr>
          <a:xfrm>
            <a:off x="2816352" y="5576316"/>
            <a:ext cx="2603906" cy="0"/>
          </a:xfrm>
          <a:prstGeom prst="line">
            <a:avLst/>
          </a:prstGeom>
          <a:ln w="12700">
            <a:solidFill>
              <a:srgbClr val="D9D9D9"/>
            </a:solidFill>
            <a:prstDash val="dash"/>
          </a:ln>
        </p:spPr>
      </p:cxnSp>
      <p:cxnSp>
        <p:nvCxnSpPr>
          <p:cNvPr id="39" name="Connector 38"/>
          <p:cNvCxnSpPr/>
          <p:nvPr/>
        </p:nvCxnSpPr>
        <p:spPr>
          <a:xfrm>
            <a:off x="2816352" y="5933694"/>
            <a:ext cx="2603906" cy="0"/>
          </a:xfrm>
          <a:prstGeom prst="line">
            <a:avLst/>
          </a:prstGeom>
          <a:ln w="12700">
            <a:solidFill>
              <a:srgbClr val="D9D9D9"/>
            </a:solidFill>
            <a:prstDash val="dash"/>
          </a:ln>
        </p:spPr>
      </p:cxnSp>
      <p:sp>
        <p:nvSpPr>
          <p:cNvPr id="40" name="Rounded Rectangle 39"/>
          <p:cNvSpPr/>
          <p:nvPr/>
        </p:nvSpPr>
        <p:spPr>
          <a:xfrm>
            <a:off x="5676290" y="4861560"/>
            <a:ext cx="2969666" cy="14295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41" name="Connector 40"/>
          <p:cNvCxnSpPr/>
          <p:nvPr/>
        </p:nvCxnSpPr>
        <p:spPr>
          <a:xfrm>
            <a:off x="5859170" y="5218938"/>
            <a:ext cx="2603906" cy="0"/>
          </a:xfrm>
          <a:prstGeom prst="line">
            <a:avLst/>
          </a:prstGeom>
          <a:ln w="12700">
            <a:solidFill>
              <a:srgbClr val="D9D9D9"/>
            </a:solidFill>
            <a:prstDash val="dash"/>
          </a:ln>
        </p:spPr>
      </p:cxnSp>
      <p:cxnSp>
        <p:nvCxnSpPr>
          <p:cNvPr id="42" name="Connector 41"/>
          <p:cNvCxnSpPr/>
          <p:nvPr/>
        </p:nvCxnSpPr>
        <p:spPr>
          <a:xfrm>
            <a:off x="5859170" y="5576316"/>
            <a:ext cx="2603906" cy="0"/>
          </a:xfrm>
          <a:prstGeom prst="line">
            <a:avLst/>
          </a:prstGeom>
          <a:ln w="12700">
            <a:solidFill>
              <a:srgbClr val="D9D9D9"/>
            </a:solidFill>
            <a:prstDash val="dash"/>
          </a:ln>
        </p:spPr>
      </p:cxnSp>
      <p:cxnSp>
        <p:nvCxnSpPr>
          <p:cNvPr id="43" name="Connector 42"/>
          <p:cNvCxnSpPr/>
          <p:nvPr/>
        </p:nvCxnSpPr>
        <p:spPr>
          <a:xfrm>
            <a:off x="5859170" y="5933694"/>
            <a:ext cx="2603906" cy="0"/>
          </a:xfrm>
          <a:prstGeom prst="line">
            <a:avLst/>
          </a:prstGeom>
          <a:ln w="12700">
            <a:solidFill>
              <a:srgbClr val="D9D9D9"/>
            </a:solidFill>
            <a:prstDash val="dash"/>
          </a:ln>
        </p:spPr>
      </p:cxnSp>
      <p:sp>
        <p:nvSpPr>
          <p:cNvPr id="44" name="Rounded Rectangle 43"/>
          <p:cNvSpPr/>
          <p:nvPr/>
        </p:nvSpPr>
        <p:spPr>
          <a:xfrm>
            <a:off x="8719108" y="4861560"/>
            <a:ext cx="2969666" cy="1429512"/>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45" name="Connector 44"/>
          <p:cNvCxnSpPr/>
          <p:nvPr/>
        </p:nvCxnSpPr>
        <p:spPr>
          <a:xfrm>
            <a:off x="8901988" y="5218938"/>
            <a:ext cx="2603906" cy="0"/>
          </a:xfrm>
          <a:prstGeom prst="line">
            <a:avLst/>
          </a:prstGeom>
          <a:ln w="12700">
            <a:solidFill>
              <a:srgbClr val="D9D9D9"/>
            </a:solidFill>
            <a:prstDash val="dash"/>
          </a:ln>
        </p:spPr>
      </p:cxnSp>
      <p:cxnSp>
        <p:nvCxnSpPr>
          <p:cNvPr id="46" name="Connector 45"/>
          <p:cNvCxnSpPr/>
          <p:nvPr/>
        </p:nvCxnSpPr>
        <p:spPr>
          <a:xfrm>
            <a:off x="8901988" y="5576316"/>
            <a:ext cx="2603906" cy="0"/>
          </a:xfrm>
          <a:prstGeom prst="line">
            <a:avLst/>
          </a:prstGeom>
          <a:ln w="12700">
            <a:solidFill>
              <a:srgbClr val="D9D9D9"/>
            </a:solidFill>
            <a:prstDash val="dash"/>
          </a:ln>
        </p:spPr>
      </p:cxnSp>
      <p:cxnSp>
        <p:nvCxnSpPr>
          <p:cNvPr id="47" name="Connector 46"/>
          <p:cNvCxnSpPr/>
          <p:nvPr/>
        </p:nvCxnSpPr>
        <p:spPr>
          <a:xfrm>
            <a:off x="8901988" y="5933694"/>
            <a:ext cx="2603906" cy="0"/>
          </a:xfrm>
          <a:prstGeom prst="line">
            <a:avLst/>
          </a:prstGeom>
          <a:ln w="12700">
            <a:solidFill>
              <a:srgbClr val="D9D9D9"/>
            </a:solidFill>
            <a:prstDash val="dash"/>
          </a:ln>
        </p:spPr>
      </p:cxnSp>
      <p:sp>
        <p:nvSpPr>
          <p:cNvPr id="48" name="TextBox 47"/>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49" name="Rounded Rectangle 48"/>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190-192</a:t>
            </a:r>
          </a:p>
        </p:txBody>
      </p:sp>
      <p:sp>
        <p:nvSpPr>
          <p:cNvPr id="50" name="TextBox 49"/>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57 / 250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Üç kavramın özeti —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CEVAP</a:t>
            </a:r>
          </a:p>
        </p:txBody>
      </p:sp>
      <p:sp>
        <p:nvSpPr>
          <p:cNvPr id="6" name="Rounded Rectangle 5"/>
          <p:cNvSpPr/>
          <p:nvPr/>
        </p:nvSpPr>
        <p:spPr>
          <a:xfrm>
            <a:off x="2633472" y="1216152"/>
            <a:ext cx="2969666" cy="566928"/>
          </a:xfrm>
          <a:prstGeom prst="roundRect">
            <a:avLst>
              <a:gd name="adj" fmla="val 15000"/>
            </a:avLst>
          </a:prstGeom>
          <a:solidFill>
            <a:srgbClr val="C94F5A"/>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Tehlike</a:t>
            </a:r>
          </a:p>
        </p:txBody>
      </p:sp>
      <p:sp>
        <p:nvSpPr>
          <p:cNvPr id="7" name="Rounded Rectangle 6"/>
          <p:cNvSpPr/>
          <p:nvPr/>
        </p:nvSpPr>
        <p:spPr>
          <a:xfrm>
            <a:off x="5676290" y="1216152"/>
            <a:ext cx="2969666" cy="566928"/>
          </a:xfrm>
          <a:prstGeom prst="roundRect">
            <a:avLst>
              <a:gd name="adj" fmla="val 15000"/>
            </a:avLst>
          </a:prstGeom>
          <a:solidFill>
            <a:srgbClr val="4A6B78"/>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Risk</a:t>
            </a:r>
          </a:p>
        </p:txBody>
      </p:sp>
      <p:sp>
        <p:nvSpPr>
          <p:cNvPr id="8" name="Rounded Rectangle 7"/>
          <p:cNvSpPr/>
          <p:nvPr/>
        </p:nvSpPr>
        <p:spPr>
          <a:xfrm>
            <a:off x="8719108" y="1216152"/>
            <a:ext cx="2969666" cy="566928"/>
          </a:xfrm>
          <a:prstGeom prst="roundRect">
            <a:avLst>
              <a:gd name="adj" fmla="val 15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200" b="1" i="0">
                <a:solidFill>
                  <a:srgbClr val="FFFFFF"/>
                </a:solidFill>
                <a:latin typeface="Calibri"/>
              </a:rPr>
              <a:t>Afet</a:t>
            </a:r>
          </a:p>
        </p:txBody>
      </p:sp>
      <p:sp>
        <p:nvSpPr>
          <p:cNvPr id="9" name="Rounded Rectangle 8"/>
          <p:cNvSpPr/>
          <p:nvPr/>
        </p:nvSpPr>
        <p:spPr>
          <a:xfrm>
            <a:off x="502920" y="1856232"/>
            <a:ext cx="2057400" cy="1429512"/>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Tanım</a:t>
            </a:r>
          </a:p>
        </p:txBody>
      </p:sp>
      <p:sp>
        <p:nvSpPr>
          <p:cNvPr id="10" name="Rounded Rectangle 9"/>
          <p:cNvSpPr/>
          <p:nvPr/>
        </p:nvSpPr>
        <p:spPr>
          <a:xfrm>
            <a:off x="2633472" y="1856232"/>
            <a:ext cx="2969666" cy="14295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Zarar verme potansiyeli olan olay ya da durum</a:t>
            </a:r>
          </a:p>
        </p:txBody>
      </p:sp>
      <p:sp>
        <p:nvSpPr>
          <p:cNvPr id="11" name="Rounded Rectangle 10"/>
          <p:cNvSpPr/>
          <p:nvPr/>
        </p:nvSpPr>
        <p:spPr>
          <a:xfrm>
            <a:off x="5676290" y="1856232"/>
            <a:ext cx="2969666" cy="14295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1950" b="0" i="0">
                <a:solidFill>
                  <a:srgbClr val="262626"/>
                </a:solidFill>
                <a:latin typeface="Calibri"/>
              </a:rPr>
              <a:t>Olayın meydana gelme ihtimali + can, mal, ekonomik ve çevresel kayıp olasılığı</a:t>
            </a:r>
          </a:p>
        </p:txBody>
      </p:sp>
      <p:sp>
        <p:nvSpPr>
          <p:cNvPr id="12" name="Rounded Rectangle 11"/>
          <p:cNvSpPr/>
          <p:nvPr/>
        </p:nvSpPr>
        <p:spPr>
          <a:xfrm>
            <a:off x="8719108" y="1856232"/>
            <a:ext cx="2969666" cy="14295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1950" b="0" i="0">
                <a:solidFill>
                  <a:srgbClr val="262626"/>
                </a:solidFill>
                <a:latin typeface="Calibri"/>
              </a:rPr>
              <a:t>Olağan hayatı bozan, can ve mal kaybına neden olan, dış yardım gerektiren olay</a:t>
            </a:r>
          </a:p>
        </p:txBody>
      </p:sp>
      <p:sp>
        <p:nvSpPr>
          <p:cNvPr id="13" name="Rounded Rectangle 12"/>
          <p:cNvSpPr/>
          <p:nvPr/>
        </p:nvSpPr>
        <p:spPr>
          <a:xfrm>
            <a:off x="502920" y="3358896"/>
            <a:ext cx="2057400" cy="1429512"/>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Belirleyen</a:t>
            </a:r>
          </a:p>
        </p:txBody>
      </p:sp>
      <p:sp>
        <p:nvSpPr>
          <p:cNvPr id="14" name="Rounded Rectangle 13"/>
          <p:cNvSpPr/>
          <p:nvPr/>
        </p:nvSpPr>
        <p:spPr>
          <a:xfrm>
            <a:off x="2633472" y="3358896"/>
            <a:ext cx="2969666" cy="1429512"/>
          </a:xfrm>
          <a:prstGeom prst="roundRect">
            <a:avLst>
              <a:gd name="adj" fmla="val 8000"/>
            </a:avLst>
          </a:prstGeom>
          <a:solidFill>
            <a:srgbClr val="FFFFFF"/>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büyüklük, sıklık, coğrafi konum, oluş şekli, etki düzeyi</a:t>
            </a:r>
          </a:p>
        </p:txBody>
      </p:sp>
      <p:sp>
        <p:nvSpPr>
          <p:cNvPr id="15" name="Rounded Rectangle 14"/>
          <p:cNvSpPr/>
          <p:nvPr/>
        </p:nvSpPr>
        <p:spPr>
          <a:xfrm>
            <a:off x="5676290" y="3358896"/>
            <a:ext cx="2969666" cy="1429512"/>
          </a:xfrm>
          <a:prstGeom prst="roundRect">
            <a:avLst>
              <a:gd name="adj" fmla="val 8000"/>
            </a:avLst>
          </a:prstGeom>
          <a:solidFill>
            <a:srgbClr val="FFFFFF"/>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insan ve faaliyetleri; doğa ve insan kaynaklı tehlikeler</a:t>
            </a:r>
          </a:p>
        </p:txBody>
      </p:sp>
      <p:sp>
        <p:nvSpPr>
          <p:cNvPr id="16" name="Rounded Rectangle 15"/>
          <p:cNvSpPr/>
          <p:nvPr/>
        </p:nvSpPr>
        <p:spPr>
          <a:xfrm>
            <a:off x="8719108" y="3358896"/>
            <a:ext cx="2969666" cy="1429512"/>
          </a:xfrm>
          <a:prstGeom prst="roundRect">
            <a:avLst>
              <a:gd name="adj" fmla="val 8000"/>
            </a:avLst>
          </a:prstGeom>
          <a:solidFill>
            <a:srgbClr val="FFFFFF"/>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1950" b="0" i="0">
                <a:solidFill>
                  <a:srgbClr val="262626"/>
                </a:solidFill>
                <a:latin typeface="Calibri"/>
              </a:rPr>
              <a:t>tehlikeye maruz kalınması; uyum sağlama kapasitesinin aşılması</a:t>
            </a:r>
          </a:p>
        </p:txBody>
      </p:sp>
      <p:sp>
        <p:nvSpPr>
          <p:cNvPr id="17" name="Rounded Rectangle 16"/>
          <p:cNvSpPr/>
          <p:nvPr/>
        </p:nvSpPr>
        <p:spPr>
          <a:xfrm>
            <a:off x="502920" y="4861560"/>
            <a:ext cx="2057400" cy="1429512"/>
          </a:xfrm>
          <a:prstGeom prst="roundRect">
            <a:avLst>
              <a:gd name="adj" fmla="val 12000"/>
            </a:avLst>
          </a:prstGeom>
          <a:solidFill>
            <a:srgbClr val="4F4F4F"/>
          </a:solidFill>
          <a:ln>
            <a:noFill/>
          </a:ln>
          <a:effectLst/>
        </p:spPr>
        <p:txBody>
          <a:bodyPr rtlCol="0" anchor="ctr" wrap="square" lIns="128016" rIns="128016" tIns="73152" bIns="73152">
            <a:noAutofit/>
          </a:bodyPr>
          <a:lstStyle/>
          <a:p>
            <a:pPr algn="ctr">
              <a:spcBef>
                <a:spcPts val="0"/>
              </a:spcBef>
              <a:spcAft>
                <a:spcPts val="0"/>
              </a:spcAft>
            </a:pPr>
            <a:r>
              <a:rPr lang="tr-TR" sz="2000" b="1" i="0">
                <a:solidFill>
                  <a:srgbClr val="FFFFFF"/>
                </a:solidFill>
                <a:latin typeface="Calibri"/>
              </a:rPr>
              <a:t>Örnek</a:t>
            </a:r>
          </a:p>
        </p:txBody>
      </p:sp>
      <p:sp>
        <p:nvSpPr>
          <p:cNvPr id="18" name="Rounded Rectangle 17"/>
          <p:cNvSpPr/>
          <p:nvPr/>
        </p:nvSpPr>
        <p:spPr>
          <a:xfrm>
            <a:off x="2633472" y="4861560"/>
            <a:ext cx="2969666" cy="14295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aşırı yağışla taşan akarsu; diri fay</a:t>
            </a:r>
          </a:p>
        </p:txBody>
      </p:sp>
      <p:sp>
        <p:nvSpPr>
          <p:cNvPr id="19" name="Rounded Rectangle 18"/>
          <p:cNvSpPr/>
          <p:nvPr/>
        </p:nvSpPr>
        <p:spPr>
          <a:xfrm>
            <a:off x="5676290" y="4861560"/>
            <a:ext cx="2969666" cy="14295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dere kenarındaki evler (Görsel 6.3)</a:t>
            </a:r>
          </a:p>
        </p:txBody>
      </p:sp>
      <p:sp>
        <p:nvSpPr>
          <p:cNvPr id="20" name="Rounded Rectangle 19"/>
          <p:cNvSpPr/>
          <p:nvPr/>
        </p:nvSpPr>
        <p:spPr>
          <a:xfrm>
            <a:off x="8719108" y="4861560"/>
            <a:ext cx="2969666" cy="1429512"/>
          </a:xfrm>
          <a:prstGeom prst="roundRect">
            <a:avLst>
              <a:gd name="adj" fmla="val 8000"/>
            </a:avLst>
          </a:prstGeom>
          <a:solidFill>
            <a:srgbClr val="E3F1E4"/>
          </a:solidFill>
          <a:ln w="9525">
            <a:solidFill>
              <a:srgbClr val="2E7D32"/>
            </a:solidFill>
          </a:ln>
          <a:effectLst/>
        </p:spPr>
        <p:txBody>
          <a:bodyPr rtlCol="0" anchor="ctr" wrap="square" lIns="128016" rIns="128016" tIns="73152" bIns="73152">
            <a:noAutofit/>
          </a:bodyPr>
          <a:lstStyle/>
          <a:p>
            <a:pPr algn="l">
              <a:spcBef>
                <a:spcPts val="0"/>
              </a:spcBef>
              <a:spcAft>
                <a:spcPts val="0"/>
              </a:spcAft>
            </a:pPr>
            <a:r>
              <a:rPr lang="tr-TR" sz="2000" b="0" i="0">
                <a:solidFill>
                  <a:srgbClr val="262626"/>
                </a:solidFill>
                <a:latin typeface="Calibri"/>
              </a:rPr>
              <a:t>17 Ağustos 1999 depremi</a:t>
            </a:r>
          </a:p>
        </p:txBody>
      </p:sp>
      <p:sp>
        <p:nvSpPr>
          <p:cNvPr id="21" name="TextBox 2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2" name="Rounded Rectangle 2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190-192</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58 / 250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700" b="1" i="0">
                <a:solidFill>
                  <a:srgbClr val="FFFFFF"/>
                </a:solidFill>
                <a:latin typeface="Calibri"/>
              </a:rPr>
              <a:t>Aynı büyüklükteki olay neden farklı sonuç doğurur?</a:t>
            </a:r>
          </a:p>
        </p:txBody>
      </p:sp>
      <p:sp>
        <p:nvSpPr>
          <p:cNvPr id="5" name="Rounded Rectangle 4"/>
          <p:cNvSpPr/>
          <p:nvPr/>
        </p:nvSpPr>
        <p:spPr>
          <a:xfrm>
            <a:off x="9555480" y="201168"/>
            <a:ext cx="2221992" cy="475488"/>
          </a:xfrm>
          <a:prstGeom prst="roundRect">
            <a:avLst>
              <a:gd name="adj" fmla="val 50000"/>
            </a:avLst>
          </a:prstGeom>
          <a:solidFill>
            <a:srgbClr val="D3373A"/>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SON SORU</a:t>
            </a:r>
          </a:p>
        </p:txBody>
      </p:sp>
      <p:sp>
        <p:nvSpPr>
          <p:cNvPr id="6" name="Rounded Rectangle 5"/>
          <p:cNvSpPr/>
          <p:nvPr/>
        </p:nvSpPr>
        <p:spPr>
          <a:xfrm>
            <a:off x="502920" y="1207008"/>
            <a:ext cx="11185855" cy="7772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400" b="1" i="0">
                <a:solidFill>
                  <a:srgbClr val="262626"/>
                </a:solidFill>
                <a:latin typeface="Calibri"/>
              </a:rPr>
              <a:t>Aynı büyüklükteki bir deprem iki farklı yerde neden farklı sonuç doğurabilir?</a:t>
            </a:r>
          </a:p>
        </p:txBody>
      </p:sp>
      <p:sp>
        <p:nvSpPr>
          <p:cNvPr id="7" name="Rounded Rectangle 6"/>
          <p:cNvSpPr/>
          <p:nvPr/>
        </p:nvSpPr>
        <p:spPr>
          <a:xfrm>
            <a:off x="502920" y="2130552"/>
            <a:ext cx="11185855" cy="4160520"/>
          </a:xfrm>
          <a:prstGeom prst="roundRect">
            <a:avLst>
              <a:gd name="adj" fmla="val 6000"/>
            </a:avLst>
          </a:prstGeom>
          <a:solidFill>
            <a:srgbClr val="FFFFFF"/>
          </a:solidFill>
          <a:ln w="12700">
            <a:solidFill>
              <a:srgbClr val="D9D9D9"/>
            </a:solidFill>
          </a:ln>
          <a:effectLst/>
        </p:spPr>
        <p:txBody>
          <a:bodyPr rtlCol="0" anchor="ctr"/>
          <a:lstStyle/>
          <a:p/>
        </p:txBody>
      </p:sp>
      <p:cxnSp>
        <p:nvCxnSpPr>
          <p:cNvPr id="8" name="Connector 7"/>
          <p:cNvCxnSpPr/>
          <p:nvPr/>
        </p:nvCxnSpPr>
        <p:spPr>
          <a:xfrm>
            <a:off x="685800" y="2592832"/>
            <a:ext cx="10820095" cy="0"/>
          </a:xfrm>
          <a:prstGeom prst="line">
            <a:avLst/>
          </a:prstGeom>
          <a:ln w="12700">
            <a:solidFill>
              <a:srgbClr val="D9D9D9"/>
            </a:solidFill>
            <a:prstDash val="dash"/>
          </a:ln>
        </p:spPr>
      </p:cxnSp>
      <p:cxnSp>
        <p:nvCxnSpPr>
          <p:cNvPr id="9" name="Connector 8"/>
          <p:cNvCxnSpPr/>
          <p:nvPr/>
        </p:nvCxnSpPr>
        <p:spPr>
          <a:xfrm>
            <a:off x="685800" y="3055112"/>
            <a:ext cx="10820095" cy="0"/>
          </a:xfrm>
          <a:prstGeom prst="line">
            <a:avLst/>
          </a:prstGeom>
          <a:ln w="12700">
            <a:solidFill>
              <a:srgbClr val="D9D9D9"/>
            </a:solidFill>
            <a:prstDash val="dash"/>
          </a:ln>
        </p:spPr>
      </p:cxnSp>
      <p:cxnSp>
        <p:nvCxnSpPr>
          <p:cNvPr id="10" name="Connector 9"/>
          <p:cNvCxnSpPr/>
          <p:nvPr/>
        </p:nvCxnSpPr>
        <p:spPr>
          <a:xfrm>
            <a:off x="685800" y="3517392"/>
            <a:ext cx="10820095" cy="0"/>
          </a:xfrm>
          <a:prstGeom prst="line">
            <a:avLst/>
          </a:prstGeom>
          <a:ln w="12700">
            <a:solidFill>
              <a:srgbClr val="D9D9D9"/>
            </a:solidFill>
            <a:prstDash val="dash"/>
          </a:ln>
        </p:spPr>
      </p:cxnSp>
      <p:cxnSp>
        <p:nvCxnSpPr>
          <p:cNvPr id="11" name="Connector 10"/>
          <p:cNvCxnSpPr/>
          <p:nvPr/>
        </p:nvCxnSpPr>
        <p:spPr>
          <a:xfrm>
            <a:off x="685800" y="3979672"/>
            <a:ext cx="10820095" cy="0"/>
          </a:xfrm>
          <a:prstGeom prst="line">
            <a:avLst/>
          </a:prstGeom>
          <a:ln w="12700">
            <a:solidFill>
              <a:srgbClr val="D9D9D9"/>
            </a:solidFill>
            <a:prstDash val="dash"/>
          </a:ln>
        </p:spPr>
      </p:cxnSp>
      <p:cxnSp>
        <p:nvCxnSpPr>
          <p:cNvPr id="12" name="Connector 11"/>
          <p:cNvCxnSpPr/>
          <p:nvPr/>
        </p:nvCxnSpPr>
        <p:spPr>
          <a:xfrm>
            <a:off x="685800" y="4441952"/>
            <a:ext cx="10820095" cy="0"/>
          </a:xfrm>
          <a:prstGeom prst="line">
            <a:avLst/>
          </a:prstGeom>
          <a:ln w="12700">
            <a:solidFill>
              <a:srgbClr val="D9D9D9"/>
            </a:solidFill>
            <a:prstDash val="dash"/>
          </a:ln>
        </p:spPr>
      </p:cxnSp>
      <p:cxnSp>
        <p:nvCxnSpPr>
          <p:cNvPr id="13" name="Connector 12"/>
          <p:cNvCxnSpPr/>
          <p:nvPr/>
        </p:nvCxnSpPr>
        <p:spPr>
          <a:xfrm>
            <a:off x="685800" y="4904232"/>
            <a:ext cx="10820095" cy="0"/>
          </a:xfrm>
          <a:prstGeom prst="line">
            <a:avLst/>
          </a:prstGeom>
          <a:ln w="12700">
            <a:solidFill>
              <a:srgbClr val="D9D9D9"/>
            </a:solidFill>
            <a:prstDash val="dash"/>
          </a:ln>
        </p:spPr>
      </p:cxnSp>
      <p:cxnSp>
        <p:nvCxnSpPr>
          <p:cNvPr id="14" name="Connector 13"/>
          <p:cNvCxnSpPr/>
          <p:nvPr/>
        </p:nvCxnSpPr>
        <p:spPr>
          <a:xfrm>
            <a:off x="685800" y="5366512"/>
            <a:ext cx="10820095" cy="0"/>
          </a:xfrm>
          <a:prstGeom prst="line">
            <a:avLst/>
          </a:prstGeom>
          <a:ln w="12700">
            <a:solidFill>
              <a:srgbClr val="D9D9D9"/>
            </a:solidFill>
            <a:prstDash val="dash"/>
          </a:ln>
        </p:spPr>
      </p:cxnSp>
      <p:cxnSp>
        <p:nvCxnSpPr>
          <p:cNvPr id="15" name="Connector 14"/>
          <p:cNvCxnSpPr/>
          <p:nvPr/>
        </p:nvCxnSpPr>
        <p:spPr>
          <a:xfrm>
            <a:off x="685800" y="5828792"/>
            <a:ext cx="10820095" cy="0"/>
          </a:xfrm>
          <a:prstGeom prst="line">
            <a:avLst/>
          </a:prstGeom>
          <a:ln w="12700">
            <a:solidFill>
              <a:srgbClr val="D9D9D9"/>
            </a:solidFill>
            <a:prstDash val="dash"/>
          </a:ln>
        </p:spPr>
      </p:cxn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191-192</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59 / 250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2400" b="1" i="0">
                <a:solidFill>
                  <a:srgbClr val="FFFFFF"/>
                </a:solidFill>
                <a:latin typeface="Calibri"/>
              </a:rPr>
              <a:t>Aynı büyüklükteki olay neden farklı sonuç doğurur? — örnek cevap</a:t>
            </a:r>
          </a:p>
        </p:txBody>
      </p:sp>
      <p:sp>
        <p:nvSpPr>
          <p:cNvPr id="5" name="Rounded Rectangle 4"/>
          <p:cNvSpPr/>
          <p:nvPr/>
        </p:nvSpPr>
        <p:spPr>
          <a:xfrm>
            <a:off x="9555480" y="201168"/>
            <a:ext cx="2221992" cy="475488"/>
          </a:xfrm>
          <a:prstGeom prst="roundRect">
            <a:avLst>
              <a:gd name="adj" fmla="val 50000"/>
            </a:avLst>
          </a:prstGeom>
          <a:solidFill>
            <a:srgbClr val="2E7D32"/>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ÖRNEK CEVAP</a:t>
            </a:r>
          </a:p>
        </p:txBody>
      </p:sp>
      <p:sp>
        <p:nvSpPr>
          <p:cNvPr id="6" name="Rounded Rectangle 5"/>
          <p:cNvSpPr/>
          <p:nvPr/>
        </p:nvSpPr>
        <p:spPr>
          <a:xfrm>
            <a:off x="502920" y="1207008"/>
            <a:ext cx="11185855" cy="777240"/>
          </a:xfrm>
          <a:prstGeom prst="roundRect">
            <a:avLst>
              <a:gd name="adj" fmla="val 8000"/>
            </a:avLst>
          </a:prstGeom>
          <a:solidFill>
            <a:srgbClr val="FFF3D1"/>
          </a:solidFill>
          <a:ln>
            <a:noFill/>
          </a:ln>
          <a:effectLst/>
        </p:spPr>
        <p:txBody>
          <a:bodyPr rtlCol="0" anchor="ctr" wrap="square" lIns="228600" rIns="228600" tIns="73152" bIns="73152">
            <a:noAutofit/>
          </a:bodyPr>
          <a:lstStyle/>
          <a:p>
            <a:pPr algn="l">
              <a:spcBef>
                <a:spcPts val="0"/>
              </a:spcBef>
              <a:spcAft>
                <a:spcPts val="0"/>
              </a:spcAft>
            </a:pPr>
            <a:r>
              <a:rPr lang="tr-TR" sz="2400" b="1" i="0">
                <a:solidFill>
                  <a:srgbClr val="262626"/>
                </a:solidFill>
                <a:latin typeface="Calibri"/>
              </a:rPr>
              <a:t>Aynı büyüklükteki bir deprem iki farklı yerde neden farklı sonuç doğurabilir?</a:t>
            </a:r>
          </a:p>
        </p:txBody>
      </p:sp>
      <p:sp>
        <p:nvSpPr>
          <p:cNvPr id="7" name="Rounded Rectangle 6"/>
          <p:cNvSpPr/>
          <p:nvPr/>
        </p:nvSpPr>
        <p:spPr>
          <a:xfrm>
            <a:off x="502920" y="2130552"/>
            <a:ext cx="5501487" cy="1988820"/>
          </a:xfrm>
          <a:prstGeom prst="roundRect">
            <a:avLst>
              <a:gd name="adj" fmla="val 5000"/>
            </a:avLst>
          </a:prstGeom>
          <a:solidFill>
            <a:srgbClr val="E3F1E4"/>
          </a:solidFill>
          <a:ln>
            <a:noFill/>
          </a:ln>
          <a:effectLst/>
        </p:spPr>
        <p:txBody>
          <a:bodyPr rtlCol="0" anchor="ctr"/>
          <a:lstStyle/>
          <a:p/>
        </p:txBody>
      </p:sp>
      <p:sp>
        <p:nvSpPr>
          <p:cNvPr id="8" name="Rounded Rectangle 7"/>
          <p:cNvSpPr/>
          <p:nvPr/>
        </p:nvSpPr>
        <p:spPr>
          <a:xfrm>
            <a:off x="502920" y="2130552"/>
            <a:ext cx="5501487" cy="530352"/>
          </a:xfrm>
          <a:prstGeom prst="roundRect">
            <a:avLst>
              <a:gd name="adj" fmla="val 25000"/>
            </a:avLst>
          </a:prstGeom>
          <a:solidFill>
            <a:srgbClr val="2E7D32"/>
          </a:solidFill>
          <a:ln>
            <a:noFill/>
          </a:ln>
          <a:effectLst/>
        </p:spPr>
        <p:txBody>
          <a:bodyPr rtlCol="0" anchor="ctr"/>
          <a:lstStyle/>
          <a:p/>
        </p:txBody>
      </p:sp>
      <p:sp>
        <p:nvSpPr>
          <p:cNvPr id="9" name="Rectangle 8"/>
          <p:cNvSpPr/>
          <p:nvPr/>
        </p:nvSpPr>
        <p:spPr>
          <a:xfrm>
            <a:off x="502920" y="2395728"/>
            <a:ext cx="5501487" cy="265176"/>
          </a:xfrm>
          <a:prstGeom prst="rect">
            <a:avLst/>
          </a:prstGeom>
          <a:solidFill>
            <a:srgbClr val="2E7D32"/>
          </a:solidFill>
          <a:ln>
            <a:noFill/>
          </a:ln>
          <a:effectLst/>
        </p:spPr>
        <p:txBody>
          <a:bodyPr rtlCol="0" anchor="ctr"/>
          <a:lstStyle/>
          <a:p/>
        </p:txBody>
      </p:sp>
      <p:sp>
        <p:nvSpPr>
          <p:cNvPr id="10" name="TextBox 9"/>
          <p:cNvSpPr txBox="1"/>
          <p:nvPr/>
        </p:nvSpPr>
        <p:spPr>
          <a:xfrm>
            <a:off x="594360" y="2130552"/>
            <a:ext cx="531860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Gelişmişlik seviyesi</a:t>
            </a:r>
          </a:p>
        </p:txBody>
      </p:sp>
      <p:sp>
        <p:nvSpPr>
          <p:cNvPr id="11" name="TextBox 10"/>
          <p:cNvSpPr txBox="1"/>
          <p:nvPr/>
        </p:nvSpPr>
        <p:spPr>
          <a:xfrm>
            <a:off x="612648" y="2734056"/>
            <a:ext cx="5282031" cy="131216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Etkiler bölgenin ya da ülkenin gelişmişlik seviyesine göre değişir.</a:t>
            </a:r>
          </a:p>
        </p:txBody>
      </p:sp>
      <p:sp>
        <p:nvSpPr>
          <p:cNvPr id="12" name="Rounded Rectangle 11"/>
          <p:cNvSpPr/>
          <p:nvPr/>
        </p:nvSpPr>
        <p:spPr>
          <a:xfrm>
            <a:off x="4147744" y="3616452"/>
            <a:ext cx="1719503" cy="384048"/>
          </a:xfrm>
          <a:prstGeom prst="roundRect">
            <a:avLst>
              <a:gd name="adj" fmla="val 50000"/>
            </a:avLst>
          </a:prstGeom>
          <a:solidFill>
            <a:srgbClr val="1E8C9C"/>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 Güvenlik açığı</a:t>
            </a:r>
          </a:p>
        </p:txBody>
      </p:sp>
      <p:sp>
        <p:nvSpPr>
          <p:cNvPr id="13" name="Rounded Rectangle 12"/>
          <p:cNvSpPr/>
          <p:nvPr/>
        </p:nvSpPr>
        <p:spPr>
          <a:xfrm>
            <a:off x="6187287" y="2130552"/>
            <a:ext cx="5501487" cy="1988820"/>
          </a:xfrm>
          <a:prstGeom prst="roundRect">
            <a:avLst>
              <a:gd name="adj" fmla="val 5000"/>
            </a:avLst>
          </a:prstGeom>
          <a:solidFill>
            <a:srgbClr val="E3F1E4"/>
          </a:solidFill>
          <a:ln>
            <a:noFill/>
          </a:ln>
          <a:effectLst/>
        </p:spPr>
        <p:txBody>
          <a:bodyPr rtlCol="0" anchor="ctr"/>
          <a:lstStyle/>
          <a:p/>
        </p:txBody>
      </p:sp>
      <p:sp>
        <p:nvSpPr>
          <p:cNvPr id="14" name="Rounded Rectangle 13"/>
          <p:cNvSpPr/>
          <p:nvPr/>
        </p:nvSpPr>
        <p:spPr>
          <a:xfrm>
            <a:off x="6187287" y="2130552"/>
            <a:ext cx="5501487" cy="530352"/>
          </a:xfrm>
          <a:prstGeom prst="roundRect">
            <a:avLst>
              <a:gd name="adj" fmla="val 25000"/>
            </a:avLst>
          </a:prstGeom>
          <a:solidFill>
            <a:srgbClr val="2E7D32"/>
          </a:solidFill>
          <a:ln>
            <a:noFill/>
          </a:ln>
          <a:effectLst/>
        </p:spPr>
        <p:txBody>
          <a:bodyPr rtlCol="0" anchor="ctr"/>
          <a:lstStyle/>
          <a:p/>
        </p:txBody>
      </p:sp>
      <p:sp>
        <p:nvSpPr>
          <p:cNvPr id="15" name="Rectangle 14"/>
          <p:cNvSpPr/>
          <p:nvPr/>
        </p:nvSpPr>
        <p:spPr>
          <a:xfrm>
            <a:off x="6187287" y="2395728"/>
            <a:ext cx="5501487" cy="265176"/>
          </a:xfrm>
          <a:prstGeom prst="rect">
            <a:avLst/>
          </a:prstGeom>
          <a:solidFill>
            <a:srgbClr val="2E7D32"/>
          </a:solidFill>
          <a:ln>
            <a:noFill/>
          </a:ln>
          <a:effectLst/>
        </p:spPr>
        <p:txBody>
          <a:bodyPr rtlCol="0" anchor="ctr"/>
          <a:lstStyle/>
          <a:p/>
        </p:txBody>
      </p:sp>
      <p:sp>
        <p:nvSpPr>
          <p:cNvPr id="16" name="TextBox 15"/>
          <p:cNvSpPr txBox="1"/>
          <p:nvPr/>
        </p:nvSpPr>
        <p:spPr>
          <a:xfrm>
            <a:off x="6278727" y="2130552"/>
            <a:ext cx="531860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Nüfus yoğunluğu</a:t>
            </a:r>
          </a:p>
        </p:txBody>
      </p:sp>
      <p:sp>
        <p:nvSpPr>
          <p:cNvPr id="17" name="TextBox 16"/>
          <p:cNvSpPr txBox="1"/>
          <p:nvPr/>
        </p:nvSpPr>
        <p:spPr>
          <a:xfrm>
            <a:off x="6297015" y="2734056"/>
            <a:ext cx="5282031" cy="131216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Etkiler nüfus yoğunluğuna göre farklılık gösterir.</a:t>
            </a:r>
          </a:p>
        </p:txBody>
      </p:sp>
      <p:sp>
        <p:nvSpPr>
          <p:cNvPr id="18" name="Rounded Rectangle 17"/>
          <p:cNvSpPr/>
          <p:nvPr/>
        </p:nvSpPr>
        <p:spPr>
          <a:xfrm>
            <a:off x="10135049" y="3616452"/>
            <a:ext cx="1416565" cy="384048"/>
          </a:xfrm>
          <a:prstGeom prst="roundRect">
            <a:avLst>
              <a:gd name="adj" fmla="val 50000"/>
            </a:avLst>
          </a:prstGeom>
          <a:solidFill>
            <a:srgbClr val="7558A8"/>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 Maruziyet</a:t>
            </a:r>
          </a:p>
        </p:txBody>
      </p:sp>
      <p:sp>
        <p:nvSpPr>
          <p:cNvPr id="19" name="Rounded Rectangle 18"/>
          <p:cNvSpPr/>
          <p:nvPr/>
        </p:nvSpPr>
        <p:spPr>
          <a:xfrm>
            <a:off x="502920" y="4302252"/>
            <a:ext cx="5501487" cy="1988820"/>
          </a:xfrm>
          <a:prstGeom prst="roundRect">
            <a:avLst>
              <a:gd name="adj" fmla="val 5000"/>
            </a:avLst>
          </a:prstGeom>
          <a:solidFill>
            <a:srgbClr val="E3F1E4"/>
          </a:solidFill>
          <a:ln>
            <a:noFill/>
          </a:ln>
          <a:effectLst/>
        </p:spPr>
        <p:txBody>
          <a:bodyPr rtlCol="0" anchor="ctr"/>
          <a:lstStyle/>
          <a:p/>
        </p:txBody>
      </p:sp>
      <p:sp>
        <p:nvSpPr>
          <p:cNvPr id="20" name="Rounded Rectangle 19"/>
          <p:cNvSpPr/>
          <p:nvPr/>
        </p:nvSpPr>
        <p:spPr>
          <a:xfrm>
            <a:off x="502920" y="4302252"/>
            <a:ext cx="5501487" cy="530352"/>
          </a:xfrm>
          <a:prstGeom prst="roundRect">
            <a:avLst>
              <a:gd name="adj" fmla="val 25000"/>
            </a:avLst>
          </a:prstGeom>
          <a:solidFill>
            <a:srgbClr val="2E7D32"/>
          </a:solidFill>
          <a:ln>
            <a:noFill/>
          </a:ln>
          <a:effectLst/>
        </p:spPr>
        <p:txBody>
          <a:bodyPr rtlCol="0" anchor="ctr"/>
          <a:lstStyle/>
          <a:p/>
        </p:txBody>
      </p:sp>
      <p:sp>
        <p:nvSpPr>
          <p:cNvPr id="21" name="Rectangle 20"/>
          <p:cNvSpPr/>
          <p:nvPr/>
        </p:nvSpPr>
        <p:spPr>
          <a:xfrm>
            <a:off x="502920" y="4567428"/>
            <a:ext cx="5501487" cy="265176"/>
          </a:xfrm>
          <a:prstGeom prst="rect">
            <a:avLst/>
          </a:prstGeom>
          <a:solidFill>
            <a:srgbClr val="2E7D32"/>
          </a:solidFill>
          <a:ln>
            <a:noFill/>
          </a:ln>
          <a:effectLst/>
        </p:spPr>
        <p:txBody>
          <a:bodyPr rtlCol="0" anchor="ctr"/>
          <a:lstStyle/>
          <a:p/>
        </p:txBody>
      </p:sp>
      <p:sp>
        <p:nvSpPr>
          <p:cNvPr id="22" name="TextBox 21"/>
          <p:cNvSpPr txBox="1"/>
          <p:nvPr/>
        </p:nvSpPr>
        <p:spPr>
          <a:xfrm>
            <a:off x="594360" y="4302252"/>
            <a:ext cx="531860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Yapı kalitesi</a:t>
            </a:r>
          </a:p>
        </p:txBody>
      </p:sp>
      <p:sp>
        <p:nvSpPr>
          <p:cNvPr id="23" name="TextBox 22"/>
          <p:cNvSpPr txBox="1"/>
          <p:nvPr/>
        </p:nvSpPr>
        <p:spPr>
          <a:xfrm>
            <a:off x="612648" y="4905756"/>
            <a:ext cx="5282031" cy="131216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Kurallara uygun inşa edilen binalarda asgari düzeyde hasar olur.</a:t>
            </a:r>
          </a:p>
        </p:txBody>
      </p:sp>
      <p:sp>
        <p:nvSpPr>
          <p:cNvPr id="24" name="Rounded Rectangle 23"/>
          <p:cNvSpPr/>
          <p:nvPr/>
        </p:nvSpPr>
        <p:spPr>
          <a:xfrm>
            <a:off x="4147744" y="5788152"/>
            <a:ext cx="1719503" cy="384048"/>
          </a:xfrm>
          <a:prstGeom prst="roundRect">
            <a:avLst>
              <a:gd name="adj" fmla="val 50000"/>
            </a:avLst>
          </a:prstGeom>
          <a:solidFill>
            <a:srgbClr val="1E8C9C"/>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 Güvenlik açığı</a:t>
            </a:r>
          </a:p>
        </p:txBody>
      </p:sp>
      <p:sp>
        <p:nvSpPr>
          <p:cNvPr id="25" name="Rounded Rectangle 24"/>
          <p:cNvSpPr/>
          <p:nvPr/>
        </p:nvSpPr>
        <p:spPr>
          <a:xfrm>
            <a:off x="6187287" y="4302252"/>
            <a:ext cx="5501487" cy="1988820"/>
          </a:xfrm>
          <a:prstGeom prst="roundRect">
            <a:avLst>
              <a:gd name="adj" fmla="val 5000"/>
            </a:avLst>
          </a:prstGeom>
          <a:solidFill>
            <a:srgbClr val="E3F1E4"/>
          </a:solidFill>
          <a:ln>
            <a:noFill/>
          </a:ln>
          <a:effectLst/>
        </p:spPr>
        <p:txBody>
          <a:bodyPr rtlCol="0" anchor="ctr"/>
          <a:lstStyle/>
          <a:p/>
        </p:txBody>
      </p:sp>
      <p:sp>
        <p:nvSpPr>
          <p:cNvPr id="26" name="Rounded Rectangle 25"/>
          <p:cNvSpPr/>
          <p:nvPr/>
        </p:nvSpPr>
        <p:spPr>
          <a:xfrm>
            <a:off x="6187287" y="4302252"/>
            <a:ext cx="5501487" cy="530352"/>
          </a:xfrm>
          <a:prstGeom prst="roundRect">
            <a:avLst>
              <a:gd name="adj" fmla="val 25000"/>
            </a:avLst>
          </a:prstGeom>
          <a:solidFill>
            <a:srgbClr val="2E7D32"/>
          </a:solidFill>
          <a:ln>
            <a:noFill/>
          </a:ln>
          <a:effectLst/>
        </p:spPr>
        <p:txBody>
          <a:bodyPr rtlCol="0" anchor="ctr"/>
          <a:lstStyle/>
          <a:p/>
        </p:txBody>
      </p:sp>
      <p:sp>
        <p:nvSpPr>
          <p:cNvPr id="27" name="Rectangle 26"/>
          <p:cNvSpPr/>
          <p:nvPr/>
        </p:nvSpPr>
        <p:spPr>
          <a:xfrm>
            <a:off x="6187287" y="4567428"/>
            <a:ext cx="5501487" cy="265176"/>
          </a:xfrm>
          <a:prstGeom prst="rect">
            <a:avLst/>
          </a:prstGeom>
          <a:solidFill>
            <a:srgbClr val="2E7D32"/>
          </a:solidFill>
          <a:ln>
            <a:noFill/>
          </a:ln>
          <a:effectLst/>
        </p:spPr>
        <p:txBody>
          <a:bodyPr rtlCol="0" anchor="ctr"/>
          <a:lstStyle/>
          <a:p/>
        </p:txBody>
      </p:sp>
      <p:sp>
        <p:nvSpPr>
          <p:cNvPr id="28" name="TextBox 27"/>
          <p:cNvSpPr txBox="1"/>
          <p:nvPr/>
        </p:nvSpPr>
        <p:spPr>
          <a:xfrm>
            <a:off x="6278727" y="4302252"/>
            <a:ext cx="5318607"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Zemin ve önlem</a:t>
            </a:r>
          </a:p>
        </p:txBody>
      </p:sp>
      <p:sp>
        <p:nvSpPr>
          <p:cNvPr id="29" name="TextBox 28"/>
          <p:cNvSpPr txBox="1"/>
          <p:nvPr/>
        </p:nvSpPr>
        <p:spPr>
          <a:xfrm>
            <a:off x="6297015" y="4905756"/>
            <a:ext cx="5282031" cy="1312164"/>
          </a:xfrm>
          <a:prstGeom prst="rect">
            <a:avLst/>
          </a:prstGeom>
          <a:noFill/>
        </p:spPr>
        <p:txBody>
          <a:bodyPr wrap="square" anchor="t" lIns="73152" rIns="73152" tIns="36576" bIns="36576">
            <a:noAutofit/>
          </a:bodyPr>
          <a:lstStyle/>
          <a:p>
            <a:pPr algn="l">
              <a:spcBef>
                <a:spcPts val="0"/>
              </a:spcBef>
              <a:spcAft>
                <a:spcPts val="0"/>
              </a:spcAft>
            </a:pPr>
            <a:r>
              <a:rPr lang="tr-TR" sz="2100" b="0" i="0">
                <a:solidFill>
                  <a:srgbClr val="262626"/>
                </a:solidFill>
                <a:latin typeface="Calibri"/>
              </a:rPr>
              <a:t>Zemin durumu, hazırlık ve tahliye planı sonucu değiştirir.</a:t>
            </a:r>
          </a:p>
        </p:txBody>
      </p:sp>
      <p:sp>
        <p:nvSpPr>
          <p:cNvPr id="30" name="Rounded Rectangle 29"/>
          <p:cNvSpPr/>
          <p:nvPr/>
        </p:nvSpPr>
        <p:spPr>
          <a:xfrm>
            <a:off x="9832111" y="5788152"/>
            <a:ext cx="1719503" cy="384048"/>
          </a:xfrm>
          <a:prstGeom prst="roundRect">
            <a:avLst>
              <a:gd name="adj" fmla="val 50000"/>
            </a:avLst>
          </a:prstGeom>
          <a:solidFill>
            <a:srgbClr val="1E8C9C"/>
          </a:solidFill>
          <a:ln>
            <a:noFill/>
          </a:ln>
          <a:effectLst/>
        </p:spPr>
        <p:txBody>
          <a:bodyPr rtlCol="0" anchor="ctr" wrap="square" lIns="54864" rIns="54864" tIns="0" bIns="0">
            <a:noAutofit/>
          </a:bodyPr>
          <a:lstStyle/>
          <a:p>
            <a:pPr algn="ctr">
              <a:spcBef>
                <a:spcPts val="0"/>
              </a:spcBef>
              <a:spcAft>
                <a:spcPts val="0"/>
              </a:spcAft>
            </a:pPr>
            <a:r>
              <a:rPr lang="tr-TR" sz="1500" b="1" i="0">
                <a:solidFill>
                  <a:srgbClr val="FFFFFF"/>
                </a:solidFill>
                <a:latin typeface="Calibri"/>
              </a:rPr>
              <a:t>→ Güvenlik açığı</a:t>
            </a:r>
          </a:p>
        </p:txBody>
      </p:sp>
      <p:sp>
        <p:nvSpPr>
          <p:cNvPr id="31" name="TextBox 30"/>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32" name="Rounded Rectangle 31"/>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191-192</a:t>
            </a:r>
          </a:p>
        </p:txBody>
      </p:sp>
      <p:sp>
        <p:nvSpPr>
          <p:cNvPr id="33" name="TextBox 3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60 / 250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Çıkış Kartı</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30. HAFTA</a:t>
            </a:r>
          </a:p>
        </p:txBody>
      </p:sp>
      <p:sp>
        <p:nvSpPr>
          <p:cNvPr id="6" name="TextBox 5"/>
          <p:cNvSpPr txBox="1"/>
          <p:nvPr/>
        </p:nvSpPr>
        <p:spPr>
          <a:xfrm>
            <a:off x="502920" y="1170432"/>
            <a:ext cx="11185855" cy="502920"/>
          </a:xfrm>
          <a:prstGeom prst="rect">
            <a:avLst/>
          </a:prstGeom>
          <a:noFill/>
        </p:spPr>
        <p:txBody>
          <a:bodyPr wrap="square" anchor="t" lIns="73152" rIns="73152" tIns="36576" bIns="36576">
            <a:noAutofit/>
          </a:bodyPr>
          <a:lstStyle/>
          <a:p>
            <a:pPr algn="l">
              <a:spcBef>
                <a:spcPts val="0"/>
              </a:spcBef>
              <a:spcAft>
                <a:spcPts val="0"/>
              </a:spcAft>
            </a:pPr>
            <a:r>
              <a:rPr lang="tr-TR" sz="2200" b="0" i="0">
                <a:solidFill>
                  <a:srgbClr val="767676"/>
                </a:solidFill>
                <a:latin typeface="Calibri"/>
              </a:rPr>
              <a:t>Çıkmadan önce kâğıdına yaz:</a:t>
            </a:r>
          </a:p>
        </p:txBody>
      </p:sp>
      <p:sp>
        <p:nvSpPr>
          <p:cNvPr id="7" name="Rounded Rectangle 6"/>
          <p:cNvSpPr/>
          <p:nvPr/>
        </p:nvSpPr>
        <p:spPr>
          <a:xfrm>
            <a:off x="502920" y="1764792"/>
            <a:ext cx="11185855" cy="1399032"/>
          </a:xfrm>
          <a:prstGeom prst="roundRect">
            <a:avLst>
              <a:gd name="adj" fmla="val 10000"/>
            </a:avLst>
          </a:prstGeom>
          <a:solidFill>
            <a:srgbClr val="F0F0F0"/>
          </a:solidFill>
          <a:ln>
            <a:noFill/>
          </a:ln>
          <a:effectLst/>
        </p:spPr>
        <p:txBody>
          <a:bodyPr rtlCol="0" anchor="ctr"/>
          <a:lstStyle/>
          <a:p/>
        </p:txBody>
      </p:sp>
      <p:sp>
        <p:nvSpPr>
          <p:cNvPr id="8" name="Oval 7"/>
          <p:cNvSpPr/>
          <p:nvPr/>
        </p:nvSpPr>
        <p:spPr>
          <a:xfrm>
            <a:off x="667512" y="2144268"/>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1</a:t>
            </a:r>
          </a:p>
        </p:txBody>
      </p:sp>
      <p:sp>
        <p:nvSpPr>
          <p:cNvPr id="9" name="TextBox 8"/>
          <p:cNvSpPr txBox="1"/>
          <p:nvPr/>
        </p:nvSpPr>
        <p:spPr>
          <a:xfrm>
            <a:off x="1508760" y="1764792"/>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Tehlike ile afet arasındaki farkı bir cümleyle yazınız.</a:t>
            </a:r>
          </a:p>
        </p:txBody>
      </p:sp>
      <p:sp>
        <p:nvSpPr>
          <p:cNvPr id="10" name="Rounded Rectangle 9"/>
          <p:cNvSpPr/>
          <p:nvPr/>
        </p:nvSpPr>
        <p:spPr>
          <a:xfrm>
            <a:off x="502920" y="3328416"/>
            <a:ext cx="11185855" cy="1399032"/>
          </a:xfrm>
          <a:prstGeom prst="roundRect">
            <a:avLst>
              <a:gd name="adj" fmla="val 10000"/>
            </a:avLst>
          </a:prstGeom>
          <a:solidFill>
            <a:srgbClr val="F0F0F0"/>
          </a:solidFill>
          <a:ln>
            <a:noFill/>
          </a:ln>
          <a:effectLst/>
        </p:spPr>
        <p:txBody>
          <a:bodyPr rtlCol="0" anchor="ctr"/>
          <a:lstStyle/>
          <a:p/>
        </p:txBody>
      </p:sp>
      <p:sp>
        <p:nvSpPr>
          <p:cNvPr id="11" name="Oval 10"/>
          <p:cNvSpPr/>
          <p:nvPr/>
        </p:nvSpPr>
        <p:spPr>
          <a:xfrm>
            <a:off x="667512" y="3707892"/>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2</a:t>
            </a:r>
          </a:p>
        </p:txBody>
      </p:sp>
      <p:sp>
        <p:nvSpPr>
          <p:cNvPr id="12" name="TextBox 11"/>
          <p:cNvSpPr txBox="1"/>
          <p:nvPr/>
        </p:nvSpPr>
        <p:spPr>
          <a:xfrm>
            <a:off x="1508760" y="3328416"/>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Kitaptaki sel örneğinde riski artıran iki eksikliği yazınız.</a:t>
            </a:r>
          </a:p>
        </p:txBody>
      </p:sp>
      <p:sp>
        <p:nvSpPr>
          <p:cNvPr id="13" name="Rounded Rectangle 12"/>
          <p:cNvSpPr/>
          <p:nvPr/>
        </p:nvSpPr>
        <p:spPr>
          <a:xfrm>
            <a:off x="502920" y="4892040"/>
            <a:ext cx="11185855" cy="1399032"/>
          </a:xfrm>
          <a:prstGeom prst="roundRect">
            <a:avLst>
              <a:gd name="adj" fmla="val 10000"/>
            </a:avLst>
          </a:prstGeom>
          <a:solidFill>
            <a:srgbClr val="F0F0F0"/>
          </a:solidFill>
          <a:ln>
            <a:noFill/>
          </a:ln>
          <a:effectLst/>
        </p:spPr>
        <p:txBody>
          <a:bodyPr rtlCol="0" anchor="ctr"/>
          <a:lstStyle/>
          <a:p/>
        </p:txBody>
      </p:sp>
      <p:sp>
        <p:nvSpPr>
          <p:cNvPr id="14" name="Oval 13"/>
          <p:cNvSpPr/>
          <p:nvPr/>
        </p:nvSpPr>
        <p:spPr>
          <a:xfrm>
            <a:off x="667512" y="5271516"/>
            <a:ext cx="640080" cy="640080"/>
          </a:xfrm>
          <a:prstGeom prst="ellipse">
            <a:avLst/>
          </a:prstGeom>
          <a:solidFill>
            <a:srgbClr val="FCC021"/>
          </a:solidFill>
          <a:ln>
            <a:noFill/>
          </a:ln>
          <a:effectLst/>
        </p:spPr>
        <p:txBody>
          <a:bodyPr rtlCol="0" anchor="ctr" wrap="none" lIns="0" rIns="0" tIns="0" bIns="0">
            <a:noAutofit/>
          </a:bodyPr>
          <a:lstStyle/>
          <a:p>
            <a:pPr algn="ctr">
              <a:spcBef>
                <a:spcPts val="0"/>
              </a:spcBef>
              <a:spcAft>
                <a:spcPts val="0"/>
              </a:spcAft>
            </a:pPr>
            <a:r>
              <a:rPr lang="tr-TR" sz="2600" b="1" i="0">
                <a:solidFill>
                  <a:srgbClr val="262626"/>
                </a:solidFill>
                <a:latin typeface="Calibri"/>
              </a:rPr>
              <a:t>3</a:t>
            </a:r>
          </a:p>
        </p:txBody>
      </p:sp>
      <p:sp>
        <p:nvSpPr>
          <p:cNvPr id="15" name="TextBox 14"/>
          <p:cNvSpPr txBox="1"/>
          <p:nvPr/>
        </p:nvSpPr>
        <p:spPr>
          <a:xfrm>
            <a:off x="1508760" y="4892040"/>
            <a:ext cx="9997135" cy="1399032"/>
          </a:xfrm>
          <a:prstGeom prst="rect">
            <a:avLst/>
          </a:prstGeom>
          <a:noFill/>
        </p:spPr>
        <p:txBody>
          <a:bodyPr wrap="square" anchor="ctr" lIns="73152" rIns="73152" tIns="36576" bIns="36576">
            <a:noAutofit/>
          </a:bodyPr>
          <a:lstStyle/>
          <a:p>
            <a:pPr algn="l">
              <a:spcBef>
                <a:spcPts val="0"/>
              </a:spcBef>
              <a:spcAft>
                <a:spcPts val="0"/>
              </a:spcAft>
            </a:pPr>
            <a:r>
              <a:rPr lang="tr-TR" sz="2600" b="0" i="0">
                <a:solidFill>
                  <a:srgbClr val="262626"/>
                </a:solidFill>
                <a:latin typeface="Calibri"/>
              </a:rPr>
              <a:t>17 Ağustos 1999 depremi hangi fay sisteminde olmuştur; kaybı artıran bir etken yazınız.</a:t>
            </a:r>
          </a:p>
        </p:txBody>
      </p:sp>
      <p:sp>
        <p:nvSpPr>
          <p:cNvPr id="16" name="TextBox 15"/>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7" name="Rounded Rectangle 16"/>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189-193</a:t>
            </a:r>
          </a:p>
        </p:txBody>
      </p:sp>
      <p:sp>
        <p:nvSpPr>
          <p:cNvPr id="18" name="TextBox 17"/>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61 / 250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Bu hafta evde</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30. HAFTA</a:t>
            </a:r>
          </a:p>
        </p:txBody>
      </p:sp>
      <p:sp>
        <p:nvSpPr>
          <p:cNvPr id="6" name="TextBox 5"/>
          <p:cNvSpPr txBox="1"/>
          <p:nvPr/>
        </p:nvSpPr>
        <p:spPr>
          <a:xfrm>
            <a:off x="594360" y="1307592"/>
            <a:ext cx="11002975" cy="4846320"/>
          </a:xfrm>
          <a:prstGeom prst="rect">
            <a:avLst/>
          </a:prstGeom>
          <a:noFill/>
        </p:spPr>
        <p:txBody>
          <a:bodyPr wrap="square" anchor="t" lIns="73152" rIns="73152" tIns="36576" bIns="36576">
            <a:noAutofit/>
          </a:bodyPr>
          <a:lstStyle/>
          <a:p>
            <a:pPr algn="l" marL="323206" indent="-323206">
              <a:spcBef>
                <a:spcPts val="0"/>
              </a:spcBef>
              <a:spcAft>
                <a:spcPts val="1200"/>
              </a:spcAft>
            </a:pPr>
            <a:r>
              <a:rPr lang="tr-TR" sz="2600" b="1" i="0">
                <a:solidFill>
                  <a:srgbClr val="A63A32"/>
                </a:solidFill>
                <a:latin typeface="Calibri"/>
              </a:rPr>
              <a:t>•  </a:t>
            </a:r>
            <a:r>
              <a:rPr lang="tr-TR" sz="2600" b="0" i="0">
                <a:solidFill>
                  <a:srgbClr val="262626"/>
                </a:solidFill>
                <a:latin typeface="Calibri"/>
              </a:rPr>
              <a:t>Çalışma kâğıdı Bölüm 1: 1-5. sorular (kitap s. 188-193).</a:t>
            </a:r>
          </a:p>
          <a:p>
            <a:pPr algn="l" marL="323206" indent="-323206">
              <a:spcBef>
                <a:spcPts val="0"/>
              </a:spcBef>
              <a:spcAft>
                <a:spcPts val="1200"/>
              </a:spcAft>
            </a:pPr>
            <a:r>
              <a:rPr lang="tr-TR" sz="2600" b="1" i="0">
                <a:solidFill>
                  <a:srgbClr val="A63A32"/>
                </a:solidFill>
                <a:latin typeface="Calibri"/>
              </a:rPr>
              <a:t>•  </a:t>
            </a:r>
            <a:r>
              <a:rPr lang="tr-TR" sz="2600" b="0" i="0">
                <a:solidFill>
                  <a:srgbClr val="262626"/>
                </a:solidFill>
                <a:latin typeface="Calibri"/>
              </a:rPr>
              <a:t>Kitap s. 189, 3. soru: yakın çevrenden iki tehlike örneğini defterine iki cümleyle yaz.</a:t>
            </a:r>
          </a:p>
          <a:p>
            <a:pPr algn="l" marL="323206" indent="-323206">
              <a:spcBef>
                <a:spcPts val="0"/>
              </a:spcBef>
              <a:spcAft>
                <a:spcPts val="1200"/>
              </a:spcAft>
            </a:pPr>
            <a:r>
              <a:rPr lang="tr-TR" sz="2600" b="1" i="0">
                <a:solidFill>
                  <a:srgbClr val="A63A32"/>
                </a:solidFill>
                <a:latin typeface="Calibri"/>
              </a:rPr>
              <a:t>•  </a:t>
            </a:r>
            <a:r>
              <a:rPr lang="tr-TR" sz="2600" b="0" i="0">
                <a:solidFill>
                  <a:srgbClr val="262626"/>
                </a:solidFill>
                <a:latin typeface="Calibri"/>
              </a:rPr>
              <a:t>Gelecek hafta: basılı kaynaktan (gazete, dergi, kütüphane) bir afet haberi ya da fotoğrafı getir; kaynağın adını ve tarihini yaz. El yazısı özet de olur.</a:t>
            </a:r>
          </a:p>
          <a:p>
            <a:pPr algn="l" marL="323206" indent="-323206">
              <a:spcBef>
                <a:spcPts val="0"/>
              </a:spcBef>
              <a:spcAft>
                <a:spcPts val="0"/>
              </a:spcAft>
            </a:pPr>
            <a:r>
              <a:rPr lang="tr-TR" sz="2600" b="1" i="0">
                <a:solidFill>
                  <a:srgbClr val="A63A32"/>
                </a:solidFill>
                <a:latin typeface="Calibri"/>
              </a:rPr>
              <a:t>•  </a:t>
            </a:r>
            <a:r>
              <a:rPr lang="tr-TR" sz="2600" b="0" i="0">
                <a:solidFill>
                  <a:srgbClr val="262626"/>
                </a:solidFill>
                <a:latin typeface="Calibri"/>
              </a:rPr>
              <a:t>Ailenle konuş: evimizde afet ve acil durum çantası var mı? Sınıfa yalnız “evet” ya da “hayır” getir.</a:t>
            </a:r>
          </a:p>
        </p:txBody>
      </p:sp>
      <p:sp>
        <p:nvSpPr>
          <p:cNvPr id="7" name="TextBox 6"/>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8" name="Rounded Rectangle 7"/>
          <p:cNvSpPr/>
          <p:nvPr/>
        </p:nvSpPr>
        <p:spPr>
          <a:xfrm>
            <a:off x="7543800" y="6473952"/>
            <a:ext cx="1600200" cy="274320"/>
          </a:xfrm>
          <a:prstGeom prst="roundRect">
            <a:avLst>
              <a:gd name="adj" fmla="val 50000"/>
            </a:avLst>
          </a:prstGeom>
          <a:solidFill>
            <a:srgbClr val="FFF3D1"/>
          </a:solidFill>
          <a:ln>
            <a:noFill/>
          </a:ln>
          <a:effectLst/>
        </p:spPr>
        <p:txBody>
          <a:bodyPr rtlCol="0" anchor="ctr" wrap="square" lIns="36576" rIns="36576" tIns="0" bIns="0">
            <a:noAutofit/>
          </a:bodyPr>
          <a:lstStyle/>
          <a:p>
            <a:pPr algn="ctr">
              <a:spcBef>
                <a:spcPts val="0"/>
              </a:spcBef>
              <a:spcAft>
                <a:spcPts val="0"/>
              </a:spcAft>
            </a:pPr>
            <a:r>
              <a:rPr lang="tr-TR" sz="1100" b="1" i="0">
                <a:solidFill>
                  <a:srgbClr val="262626"/>
                </a:solidFill>
                <a:latin typeface="Calibri"/>
              </a:rPr>
              <a:t>Kitap s. 188-193</a:t>
            </a:r>
          </a:p>
        </p:txBody>
      </p:sp>
      <p:sp>
        <p:nvSpPr>
          <p:cNvPr id="9" name="TextBox 8"/>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62 / 250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İsteyenlere araştırma görevi</a:t>
            </a:r>
          </a:p>
        </p:txBody>
      </p:sp>
      <p:sp>
        <p:nvSpPr>
          <p:cNvPr id="5" name="Rounded Rectangle 4"/>
          <p:cNvSpPr/>
          <p:nvPr/>
        </p:nvSpPr>
        <p:spPr>
          <a:xfrm>
            <a:off x="9555480" y="201168"/>
            <a:ext cx="2221992" cy="475488"/>
          </a:xfrm>
          <a:prstGeom prst="roundRect">
            <a:avLst>
              <a:gd name="adj" fmla="val 50000"/>
            </a:avLst>
          </a:prstGeom>
          <a:solidFill>
            <a:srgbClr val="2C6696"/>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FFFFFF"/>
                </a:solidFill>
                <a:latin typeface="Calibri"/>
              </a:rPr>
              <a:t>ZENGİNLEŞTİRME</a:t>
            </a:r>
          </a:p>
        </p:txBody>
      </p:sp>
      <p:sp>
        <p:nvSpPr>
          <p:cNvPr id="6" name="Rounded Rectangle 5"/>
          <p:cNvSpPr/>
          <p:nvPr/>
        </p:nvSpPr>
        <p:spPr>
          <a:xfrm>
            <a:off x="502920" y="1261872"/>
            <a:ext cx="3594506" cy="3291840"/>
          </a:xfrm>
          <a:prstGeom prst="roundRect">
            <a:avLst>
              <a:gd name="adj" fmla="val 5000"/>
            </a:avLst>
          </a:prstGeom>
          <a:solidFill>
            <a:srgbClr val="F0F0F0"/>
          </a:solidFill>
          <a:ln>
            <a:noFill/>
          </a:ln>
          <a:effectLst/>
        </p:spPr>
        <p:txBody>
          <a:bodyPr rtlCol="0" anchor="ctr"/>
          <a:lstStyle/>
          <a:p/>
        </p:txBody>
      </p:sp>
      <p:sp>
        <p:nvSpPr>
          <p:cNvPr id="7" name="Rounded Rectangle 6"/>
          <p:cNvSpPr/>
          <p:nvPr/>
        </p:nvSpPr>
        <p:spPr>
          <a:xfrm>
            <a:off x="502920" y="1261872"/>
            <a:ext cx="3594506" cy="530352"/>
          </a:xfrm>
          <a:prstGeom prst="roundRect">
            <a:avLst>
              <a:gd name="adj" fmla="val 25000"/>
            </a:avLst>
          </a:prstGeom>
          <a:solidFill>
            <a:srgbClr val="A63A32"/>
          </a:solidFill>
          <a:ln>
            <a:noFill/>
          </a:ln>
          <a:effectLst/>
        </p:spPr>
        <p:txBody>
          <a:bodyPr rtlCol="0" anchor="ctr"/>
          <a:lstStyle/>
          <a:p/>
        </p:txBody>
      </p:sp>
      <p:sp>
        <p:nvSpPr>
          <p:cNvPr id="8" name="Rectangle 7"/>
          <p:cNvSpPr/>
          <p:nvPr/>
        </p:nvSpPr>
        <p:spPr>
          <a:xfrm>
            <a:off x="502920" y="1527048"/>
            <a:ext cx="3594506" cy="265176"/>
          </a:xfrm>
          <a:prstGeom prst="rect">
            <a:avLst/>
          </a:prstGeom>
          <a:solidFill>
            <a:srgbClr val="A63A32"/>
          </a:solidFill>
          <a:ln>
            <a:noFill/>
          </a:ln>
          <a:effectLst/>
        </p:spPr>
        <p:txBody>
          <a:bodyPr rtlCol="0" anchor="ctr"/>
          <a:lstStyle/>
          <a:p/>
        </p:txBody>
      </p:sp>
      <p:sp>
        <p:nvSpPr>
          <p:cNvPr id="9" name="TextBox 8"/>
          <p:cNvSpPr txBox="1"/>
          <p:nvPr/>
        </p:nvSpPr>
        <p:spPr>
          <a:xfrm>
            <a:off x="594360"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1. konu</a:t>
            </a:r>
          </a:p>
        </p:txBody>
      </p:sp>
      <p:sp>
        <p:nvSpPr>
          <p:cNvPr id="10" name="TextBox 9"/>
          <p:cNvSpPr txBox="1"/>
          <p:nvPr/>
        </p:nvSpPr>
        <p:spPr>
          <a:xfrm>
            <a:off x="612648" y="1865376"/>
            <a:ext cx="3375050" cy="2615184"/>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Türkiye'de afetlerle mücadelede faaliyet gösteren kurum ve kuruluşlar</a:t>
            </a:r>
          </a:p>
        </p:txBody>
      </p:sp>
      <p:sp>
        <p:nvSpPr>
          <p:cNvPr id="11" name="Rounded Rectangle 10"/>
          <p:cNvSpPr/>
          <p:nvPr/>
        </p:nvSpPr>
        <p:spPr>
          <a:xfrm>
            <a:off x="4298594" y="1261872"/>
            <a:ext cx="3594506" cy="3291840"/>
          </a:xfrm>
          <a:prstGeom prst="roundRect">
            <a:avLst>
              <a:gd name="adj" fmla="val 5000"/>
            </a:avLst>
          </a:prstGeom>
          <a:solidFill>
            <a:srgbClr val="F0F0F0"/>
          </a:solidFill>
          <a:ln>
            <a:noFill/>
          </a:ln>
          <a:effectLst/>
        </p:spPr>
        <p:txBody>
          <a:bodyPr rtlCol="0" anchor="ctr"/>
          <a:lstStyle/>
          <a:p/>
        </p:txBody>
      </p:sp>
      <p:sp>
        <p:nvSpPr>
          <p:cNvPr id="12" name="Rounded Rectangle 11"/>
          <p:cNvSpPr/>
          <p:nvPr/>
        </p:nvSpPr>
        <p:spPr>
          <a:xfrm>
            <a:off x="4298594" y="1261872"/>
            <a:ext cx="3594506" cy="530352"/>
          </a:xfrm>
          <a:prstGeom prst="roundRect">
            <a:avLst>
              <a:gd name="adj" fmla="val 25000"/>
            </a:avLst>
          </a:prstGeom>
          <a:solidFill>
            <a:srgbClr val="4F4F4F"/>
          </a:solidFill>
          <a:ln>
            <a:noFill/>
          </a:ln>
          <a:effectLst/>
        </p:spPr>
        <p:txBody>
          <a:bodyPr rtlCol="0" anchor="ctr"/>
          <a:lstStyle/>
          <a:p/>
        </p:txBody>
      </p:sp>
      <p:sp>
        <p:nvSpPr>
          <p:cNvPr id="13" name="Rectangle 12"/>
          <p:cNvSpPr/>
          <p:nvPr/>
        </p:nvSpPr>
        <p:spPr>
          <a:xfrm>
            <a:off x="4298594" y="1527048"/>
            <a:ext cx="3594506" cy="265176"/>
          </a:xfrm>
          <a:prstGeom prst="rect">
            <a:avLst/>
          </a:prstGeom>
          <a:solidFill>
            <a:srgbClr val="4F4F4F"/>
          </a:solidFill>
          <a:ln>
            <a:noFill/>
          </a:ln>
          <a:effectLst/>
        </p:spPr>
        <p:txBody>
          <a:bodyPr rtlCol="0" anchor="ctr"/>
          <a:lstStyle/>
          <a:p/>
        </p:txBody>
      </p:sp>
      <p:sp>
        <p:nvSpPr>
          <p:cNvPr id="14" name="TextBox 13"/>
          <p:cNvSpPr txBox="1"/>
          <p:nvPr/>
        </p:nvSpPr>
        <p:spPr>
          <a:xfrm>
            <a:off x="4390034"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2. konu</a:t>
            </a:r>
          </a:p>
        </p:txBody>
      </p:sp>
      <p:sp>
        <p:nvSpPr>
          <p:cNvPr id="15" name="TextBox 14"/>
          <p:cNvSpPr txBox="1"/>
          <p:nvPr/>
        </p:nvSpPr>
        <p:spPr>
          <a:xfrm>
            <a:off x="4408322" y="1865376"/>
            <a:ext cx="3375050" cy="2615184"/>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13 Ekim Dünya Afet Risklerinin Azaltılması Günü</a:t>
            </a:r>
          </a:p>
        </p:txBody>
      </p:sp>
      <p:sp>
        <p:nvSpPr>
          <p:cNvPr id="16" name="Rounded Rectangle 15"/>
          <p:cNvSpPr/>
          <p:nvPr/>
        </p:nvSpPr>
        <p:spPr>
          <a:xfrm>
            <a:off x="8094268" y="1261872"/>
            <a:ext cx="3594506" cy="3291840"/>
          </a:xfrm>
          <a:prstGeom prst="roundRect">
            <a:avLst>
              <a:gd name="adj" fmla="val 5000"/>
            </a:avLst>
          </a:prstGeom>
          <a:solidFill>
            <a:srgbClr val="F0F0F0"/>
          </a:solidFill>
          <a:ln>
            <a:noFill/>
          </a:ln>
          <a:effectLst/>
        </p:spPr>
        <p:txBody>
          <a:bodyPr rtlCol="0" anchor="ctr"/>
          <a:lstStyle/>
          <a:p/>
        </p:txBody>
      </p:sp>
      <p:sp>
        <p:nvSpPr>
          <p:cNvPr id="17" name="Rounded Rectangle 16"/>
          <p:cNvSpPr/>
          <p:nvPr/>
        </p:nvSpPr>
        <p:spPr>
          <a:xfrm>
            <a:off x="8094268" y="1261872"/>
            <a:ext cx="3594506" cy="530352"/>
          </a:xfrm>
          <a:prstGeom prst="roundRect">
            <a:avLst>
              <a:gd name="adj" fmla="val 25000"/>
            </a:avLst>
          </a:prstGeom>
          <a:solidFill>
            <a:srgbClr val="A63A32"/>
          </a:solidFill>
          <a:ln>
            <a:noFill/>
          </a:ln>
          <a:effectLst/>
        </p:spPr>
        <p:txBody>
          <a:bodyPr rtlCol="0" anchor="ctr"/>
          <a:lstStyle/>
          <a:p/>
        </p:txBody>
      </p:sp>
      <p:sp>
        <p:nvSpPr>
          <p:cNvPr id="18" name="Rectangle 17"/>
          <p:cNvSpPr/>
          <p:nvPr/>
        </p:nvSpPr>
        <p:spPr>
          <a:xfrm>
            <a:off x="8094268" y="1527048"/>
            <a:ext cx="3594506" cy="265176"/>
          </a:xfrm>
          <a:prstGeom prst="rect">
            <a:avLst/>
          </a:prstGeom>
          <a:solidFill>
            <a:srgbClr val="A63A32"/>
          </a:solidFill>
          <a:ln>
            <a:noFill/>
          </a:ln>
          <a:effectLst/>
        </p:spPr>
        <p:txBody>
          <a:bodyPr rtlCol="0" anchor="ctr"/>
          <a:lstStyle/>
          <a:p/>
        </p:txBody>
      </p:sp>
      <p:sp>
        <p:nvSpPr>
          <p:cNvPr id="19" name="TextBox 18"/>
          <p:cNvSpPr txBox="1"/>
          <p:nvPr/>
        </p:nvSpPr>
        <p:spPr>
          <a:xfrm>
            <a:off x="8185708" y="1261872"/>
            <a:ext cx="3411626" cy="530352"/>
          </a:xfrm>
          <a:prstGeom prst="rect">
            <a:avLst/>
          </a:prstGeom>
          <a:noFill/>
        </p:spPr>
        <p:txBody>
          <a:bodyPr wrap="square" anchor="ctr" lIns="73152" rIns="73152" tIns="36576" bIns="36576">
            <a:noAutofit/>
          </a:bodyPr>
          <a:lstStyle/>
          <a:p>
            <a:pPr algn="l">
              <a:spcBef>
                <a:spcPts val="0"/>
              </a:spcBef>
              <a:spcAft>
                <a:spcPts val="0"/>
              </a:spcAft>
            </a:pPr>
            <a:r>
              <a:rPr lang="tr-TR" sz="2100" b="1" i="0">
                <a:solidFill>
                  <a:srgbClr val="FFFFFF"/>
                </a:solidFill>
                <a:latin typeface="Calibri"/>
              </a:rPr>
              <a:t>3. konu</a:t>
            </a:r>
          </a:p>
        </p:txBody>
      </p:sp>
      <p:sp>
        <p:nvSpPr>
          <p:cNvPr id="20" name="TextBox 19"/>
          <p:cNvSpPr txBox="1"/>
          <p:nvPr/>
        </p:nvSpPr>
        <p:spPr>
          <a:xfrm>
            <a:off x="8203996" y="1865376"/>
            <a:ext cx="3375050" cy="2615184"/>
          </a:xfrm>
          <a:prstGeom prst="rect">
            <a:avLst/>
          </a:prstGeom>
          <a:noFill/>
        </p:spPr>
        <p:txBody>
          <a:bodyPr wrap="square" anchor="t" lIns="73152" rIns="73152" tIns="36576" bIns="36576">
            <a:noAutofit/>
          </a:bodyPr>
          <a:lstStyle/>
          <a:p>
            <a:pPr algn="l">
              <a:spcBef>
                <a:spcPts val="0"/>
              </a:spcBef>
              <a:spcAft>
                <a:spcPts val="0"/>
              </a:spcAft>
            </a:pPr>
            <a:r>
              <a:rPr lang="tr-TR" sz="2300" b="0" i="0">
                <a:solidFill>
                  <a:srgbClr val="262626"/>
                </a:solidFill>
                <a:latin typeface="Calibri"/>
              </a:rPr>
              <a:t>Farklı ülkelerde (Japonya, İzlanda, Endonezya vb.) yaşanmış afetler ve bu afetlere karşı geliştirilen korunma uygulamaları</a:t>
            </a:r>
          </a:p>
        </p:txBody>
      </p:sp>
      <p:sp>
        <p:nvSpPr>
          <p:cNvPr id="21" name="Rounded Rectangle 20"/>
          <p:cNvSpPr/>
          <p:nvPr/>
        </p:nvSpPr>
        <p:spPr>
          <a:xfrm>
            <a:off x="502920" y="4736592"/>
            <a:ext cx="11185855" cy="1508760"/>
          </a:xfrm>
          <a:prstGeom prst="roundRect">
            <a:avLst>
              <a:gd name="adj" fmla="val 8000"/>
            </a:avLst>
          </a:prstGeom>
          <a:solidFill>
            <a:srgbClr val="FFF3D1"/>
          </a:solidFill>
          <a:ln>
            <a:noFill/>
          </a:ln>
          <a:effectLst/>
        </p:spPr>
        <p:txBody>
          <a:bodyPr rtlCol="0" anchor="ctr" wrap="square" lIns="128016" rIns="128016" tIns="73152" bIns="73152">
            <a:noAutofit/>
          </a:bodyPr>
          <a:lstStyle/>
          <a:p>
            <a:pPr algn="ctr">
              <a:spcBef>
                <a:spcPts val="0"/>
              </a:spcBef>
              <a:spcAft>
                <a:spcPts val="0"/>
              </a:spcAft>
            </a:pPr>
            <a:r>
              <a:rPr lang="tr-TR" sz="2100" b="1" i="0">
                <a:solidFill>
                  <a:srgbClr val="262626"/>
                </a:solidFill>
                <a:latin typeface="Calibri"/>
              </a:rPr>
              <a:t>Sonuç raporunu 33. haftada sınıfta 2 dakikada sunarsın · kaynak: okul kütüphanesi, EBA</a:t>
            </a:r>
          </a:p>
        </p:txBody>
      </p:sp>
      <p:sp>
        <p:nvSpPr>
          <p:cNvPr id="22" name="TextBox 21"/>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23" name="TextBox 22"/>
          <p:cNvSpPr txBox="1"/>
          <p:nvPr/>
        </p:nvSpPr>
        <p:spPr>
          <a:xfrm>
            <a:off x="10332720" y="6437376"/>
            <a:ext cx="14630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63 / 250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4F4F4F"/>
          </a:solidFill>
          <a:ln>
            <a:noFill/>
          </a:ln>
          <a:effectLst/>
        </p:spPr>
        <p:txBody>
          <a:bodyPr rtlCol="0" anchor="ctr"/>
          <a:lstStyle/>
          <a:p/>
        </p:txBody>
      </p:sp>
      <p:sp>
        <p:nvSpPr>
          <p:cNvPr id="3" name="Rectangle 2"/>
          <p:cNvSpPr/>
          <p:nvPr/>
        </p:nvSpPr>
        <p:spPr>
          <a:xfrm>
            <a:off x="0" y="868680"/>
            <a:ext cx="12191695" cy="64008"/>
          </a:xfrm>
          <a:prstGeom prst="rect">
            <a:avLst/>
          </a:prstGeom>
          <a:solidFill>
            <a:srgbClr val="FCC021"/>
          </a:solidFill>
          <a:ln>
            <a:noFill/>
          </a:ln>
          <a:effectLst/>
        </p:spPr>
        <p:txBody>
          <a:bodyPr rtlCol="0" anchor="ctr"/>
          <a:lstStyle/>
          <a:p/>
        </p:txBody>
      </p:sp>
      <p:sp>
        <p:nvSpPr>
          <p:cNvPr id="4" name="TextBox 3"/>
          <p:cNvSpPr txBox="1"/>
          <p:nvPr/>
        </p:nvSpPr>
        <p:spPr>
          <a:xfrm>
            <a:off x="457200" y="64008"/>
            <a:ext cx="8915400" cy="749808"/>
          </a:xfrm>
          <a:prstGeom prst="rect">
            <a:avLst/>
          </a:prstGeom>
          <a:noFill/>
        </p:spPr>
        <p:txBody>
          <a:bodyPr wrap="square" anchor="ctr" lIns="73152" rIns="73152" tIns="36576" bIns="36576">
            <a:noAutofit/>
          </a:bodyPr>
          <a:lstStyle/>
          <a:p>
            <a:pPr algn="l">
              <a:spcBef>
                <a:spcPts val="0"/>
              </a:spcBef>
              <a:spcAft>
                <a:spcPts val="0"/>
              </a:spcAft>
            </a:pPr>
            <a:r>
              <a:rPr lang="tr-TR" sz="3000" b="1" i="0">
                <a:solidFill>
                  <a:srgbClr val="FFFFFF"/>
                </a:solidFill>
                <a:latin typeface="Calibri"/>
              </a:rPr>
              <a:t>Kaynaklar ve Haklar</a:t>
            </a:r>
          </a:p>
        </p:txBody>
      </p:sp>
      <p:sp>
        <p:nvSpPr>
          <p:cNvPr id="5" name="Rounded Rectangle 4"/>
          <p:cNvSpPr/>
          <p:nvPr/>
        </p:nvSpPr>
        <p:spPr>
          <a:xfrm>
            <a:off x="9555480" y="201168"/>
            <a:ext cx="2221992" cy="475488"/>
          </a:xfrm>
          <a:prstGeom prst="roundRect">
            <a:avLst>
              <a:gd name="adj" fmla="val 50000"/>
            </a:avLst>
          </a:prstGeom>
          <a:solidFill>
            <a:srgbClr val="FCC021"/>
          </a:solidFill>
          <a:ln>
            <a:noFill/>
          </a:ln>
          <a:effectLst/>
        </p:spPr>
        <p:txBody>
          <a:bodyPr rtlCol="0" anchor="ctr" wrap="square" lIns="45720" rIns="45720" tIns="18288" bIns="18288">
            <a:noAutofit/>
          </a:bodyPr>
          <a:lstStyle/>
          <a:p>
            <a:pPr algn="ctr">
              <a:spcBef>
                <a:spcPts val="0"/>
              </a:spcBef>
              <a:spcAft>
                <a:spcPts val="0"/>
              </a:spcAft>
            </a:pPr>
            <a:r>
              <a:rPr lang="tr-TR" sz="1500" b="1" i="0">
                <a:solidFill>
                  <a:srgbClr val="262626"/>
                </a:solidFill>
                <a:latin typeface="Calibri"/>
              </a:rPr>
              <a:t>KAYNAKÇA</a:t>
            </a:r>
          </a:p>
        </p:txBody>
      </p:sp>
      <p:sp>
        <p:nvSpPr>
          <p:cNvPr id="6" name="Rounded Rectangle 5"/>
          <p:cNvSpPr/>
          <p:nvPr/>
        </p:nvSpPr>
        <p:spPr>
          <a:xfrm>
            <a:off x="502920" y="1280160"/>
            <a:ext cx="11185855" cy="150876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Ders kitabı.</a:t>
            </a:r>
            <a:r>
              <a:rPr lang="tr-TR" sz="1650" b="0" i="0">
                <a:solidFill>
                  <a:srgbClr val="262626"/>
                </a:solidFill>
                <a:latin typeface="Calibri"/>
              </a:rPr>
              <a:t> Coğrafya 9. Sınıf Ders Kitabı (Ortaöğretim), 2026-2027 baskısı. </a:t>
            </a:r>
            <a:r>
              <a:rPr lang="tr-TR" sz="1650" b="1" i="0">
                <a:solidFill>
                  <a:srgbClr val="262626"/>
                </a:solidFill>
                <a:latin typeface="Calibri"/>
              </a:rPr>
              <a:t>Yazarlar:</a:t>
            </a:r>
            <a:r>
              <a:rPr lang="tr-TR" sz="1650" b="0" i="0">
                <a:solidFill>
                  <a:srgbClr val="262626"/>
                </a:solidFill>
                <a:latin typeface="Calibri"/>
              </a:rPr>
              <a:t> Dr. Gülten İçel, Alper Soyatlar, Beyhan Polat, Bülent Akça, Cem Erdebil, Kenan Türkez, Mehmet Ekici, Mutlu Karakoç, Nihal Öztürk, Nurullah Balşen, Orhan Ekin, Ramazan Bıçaklı, Raşit Düzgün, Soner Cırık, Tuba Dirim. Millî Eğitim Bakanlığı Yayınları No 9606 · Ders Kitapları Dizisi No 2027 · Devlet Kitapları, 2026 · ISBN 978-975-11-8046-9. Slaytlardaki “Kitap s. …” etiketleri bu baskının sayfalarıdır.</a:t>
            </a:r>
          </a:p>
        </p:txBody>
      </p:sp>
      <p:sp>
        <p:nvSpPr>
          <p:cNvPr id="7" name="Rounded Rectangle 6"/>
          <p:cNvSpPr/>
          <p:nvPr/>
        </p:nvSpPr>
        <p:spPr>
          <a:xfrm>
            <a:off x="502920" y="2916936"/>
            <a:ext cx="11185855" cy="11430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Öğretim programı ve etkinlikler.</a:t>
            </a:r>
            <a:r>
              <a:rPr lang="tr-TR" sz="1650" b="0" i="0">
                <a:solidFill>
                  <a:srgbClr val="262626"/>
                </a:solidFill>
                <a:latin typeface="Calibri"/>
              </a:rPr>
              <a:t> Coğrafya dersi öğretim programı (2026 nüshası): Talim ve Terbiye Kurulunun 23.05.2024 tarihli ve 20 sayılı kararıyla kabul edilen, 13.05.2026 tarihli ve 53 sayılı kararıyla güncellenen program. Etkinliklerin bir bölümü MEB Ortaöğretim Genel Müdürlüğünün OGM Materyal platformundaki etkileşimli etkinliklerle paralel kurulmuştur.</a:t>
            </a:r>
          </a:p>
        </p:txBody>
      </p:sp>
      <p:sp>
        <p:nvSpPr>
          <p:cNvPr id="8" name="Rounded Rectangle 7"/>
          <p:cNvSpPr/>
          <p:nvPr/>
        </p:nvSpPr>
        <p:spPr>
          <a:xfrm>
            <a:off x="502920" y="4187952"/>
            <a:ext cx="11185855" cy="1371600"/>
          </a:xfrm>
          <a:prstGeom prst="roundRect">
            <a:avLst>
              <a:gd name="adj" fmla="val 8000"/>
            </a:avLst>
          </a:prstGeom>
          <a:solidFill>
            <a:srgbClr val="F0F0F0"/>
          </a:solidFill>
          <a:ln>
            <a:noFill/>
          </a:ln>
          <a:effectLst/>
        </p:spPr>
        <p:txBody>
          <a:bodyPr rtlCol="0" anchor="t" wrap="square" lIns="128016" rIns="128016" tIns="73152" bIns="73152">
            <a:noAutofit/>
          </a:bodyPr>
          <a:lstStyle/>
          <a:p>
            <a:pPr algn="l">
              <a:spcBef>
                <a:spcPts val="0"/>
              </a:spcBef>
              <a:spcAft>
                <a:spcPts val="0"/>
              </a:spcAft>
            </a:pPr>
            <a:r>
              <a:rPr lang="tr-TR" sz="1650" b="1" i="0">
                <a:solidFill>
                  <a:srgbClr val="262626"/>
                </a:solidFill>
                <a:latin typeface="Calibri"/>
              </a:rPr>
              <a:t>Haklar ve lisans.</a:t>
            </a:r>
            <a:r>
              <a:rPr lang="tr-TR" sz="1650" b="0" i="0">
                <a:solidFill>
                  <a:srgbClr val="262626"/>
                </a:solidFill>
                <a:latin typeface="Calibri"/>
              </a:rPr>
              <a:t> Ders kitabından, kitabın karekod içeriklerinden (EBA) ve OGM Materyal'den alınan metin, soru ve görsellerin hakları Millî Eğitim Bakanlığına aittir; eğitim ve öğretim amacıyla, kaynak gösterilerek alıntılanmıştır (5846 sayılı Fikir ve Sanat Eserleri Kanunu md. 34). Sunumun tasarımı, ders akışı, etkinlik kurgusu, örnek cevaplar ve öğretmen notları okulapp.org'un özgün katkısıdır; yalnız bu katkılar CC BY 4.0 lisansıyla paylaşılır. Resmî bir Bakanlık materyali değildir.</a:t>
            </a:r>
          </a:p>
        </p:txBody>
      </p:sp>
      <p:sp>
        <p:nvSpPr>
          <p:cNvPr id="9" name="TextBox 8"/>
          <p:cNvSpPr txBox="1"/>
          <p:nvPr/>
        </p:nvSpPr>
        <p:spPr>
          <a:xfrm>
            <a:off x="411480" y="6437376"/>
            <a:ext cx="6949440" cy="329184"/>
          </a:xfrm>
          <a:prstGeom prst="rect">
            <a:avLst/>
          </a:prstGeom>
          <a:noFill/>
        </p:spPr>
        <p:txBody>
          <a:bodyPr wrap="square" anchor="ctr" lIns="73152" rIns="73152" tIns="36576" bIns="36576">
            <a:noAutofit/>
          </a:bodyPr>
          <a:lstStyle/>
          <a:p>
            <a:pPr algn="l">
              <a:spcBef>
                <a:spcPts val="0"/>
              </a:spcBef>
              <a:spcAft>
                <a:spcPts val="0"/>
              </a:spcAft>
            </a:pPr>
            <a:r>
              <a:rPr lang="tr-TR" sz="1100" b="0" i="0">
                <a:solidFill>
                  <a:srgbClr val="767676"/>
                </a:solidFill>
                <a:latin typeface="Calibri"/>
              </a:rPr>
              <a:t>9. Sınıf Coğrafya · 6. Ünite: Afetler ve Sürdürülebilir Çevre</a:t>
            </a:r>
          </a:p>
        </p:txBody>
      </p:sp>
      <p:sp>
        <p:nvSpPr>
          <p:cNvPr id="10" name="TextBox 9"/>
          <p:cNvSpPr txBox="1"/>
          <p:nvPr/>
        </p:nvSpPr>
        <p:spPr>
          <a:xfrm>
            <a:off x="8503920" y="6437376"/>
            <a:ext cx="3291840" cy="329184"/>
          </a:xfrm>
          <a:prstGeom prst="rect">
            <a:avLst/>
          </a:prstGeom>
          <a:noFill/>
        </p:spPr>
        <p:txBody>
          <a:bodyPr wrap="square" anchor="ctr" lIns="73152" rIns="73152" tIns="36576" bIns="36576">
            <a:noAutofit/>
          </a:bodyPr>
          <a:lstStyle/>
          <a:p>
            <a:pPr algn="r">
              <a:spcBef>
                <a:spcPts val="0"/>
              </a:spcBef>
              <a:spcAft>
                <a:spcPts val="0"/>
              </a:spcAft>
            </a:pPr>
            <a:r>
              <a:rPr lang="tr-TR" sz="1100" b="0" i="0">
                <a:solidFill>
                  <a:srgbClr val="767676"/>
                </a:solidFill>
                <a:latin typeface="Calibri"/>
              </a:rPr>
              <a:t>okulapp.org/cografya · sürüm 2026.10.2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GNL-COG9-SN-U6 — 30. hafta · Tehlike, Risk ve Afet (slayt 1-63)</dc:title>
  <dc:subject>9. Sınıf Coğrafya ders sunumu. Kaynak: Coğrafya 9. Sınıf Ders Kitabı (MEB, 2026-2027 baskısı) ve 2026 öğretim programı. okulapp.org/cografya</dc:subject>
  <dc:creator>okulapp.org</dc:creator>
  <cp:keywords/>
  <dc:description>Kitaptan, karekod içeriklerinden (EBA) ve OGM Materyal'den alınan metin, soru ve görsellerin hakları MEB'e aittir (5846 sayılı Kanun md. 34 kapsamında kaynak gösterilerek alıntı). Özgün katkılar CC BY 4.0 — okulapp.org</dc:description>
  <cp:lastModifiedBy>okulapp.org</cp:lastModifiedBy>
  <cp:revision>1</cp:revision>
  <dcterms:created xsi:type="dcterms:W3CDTF">2013-01-27T09:14:16Z</dcterms:created>
  <dcterms:modified xsi:type="dcterms:W3CDTF">2013-01-27T09:15:58Z</dcterms:modified>
  <cp:category>Ders materyali</cp:category>
  <dc:language>tr-TR</dc:language>
</cp:coreProperties>
</file>