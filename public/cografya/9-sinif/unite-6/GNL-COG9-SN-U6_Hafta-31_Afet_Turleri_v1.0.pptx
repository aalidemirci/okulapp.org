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57.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64"/>
  </p:sldIdLst>
  <p:sldSz cx="12191695" cy="6858000" type="screen4x3"/>
  <p:notesSz cx="6858000" cy="9144000"/>
  <p:defaultTextStyle>
    <a:defPPr>
      <a:defRPr lang="tr-TR"/>
    </a:defPPr>
    <a:lvl1pPr marL="0" algn="l" defTabSz="457200" rtl="0" eaLnBrk="1" latinLnBrk="0" hangingPunct="1">
      <a:defRPr lang="tr-TR" sz="1800" kern="1200">
        <a:solidFill>
          <a:schemeClr val="tx1"/>
        </a:solidFill>
        <a:latin typeface="+mn-lt"/>
        <a:ea typeface="+mn-ea"/>
        <a:cs typeface="+mn-cs"/>
      </a:defRPr>
    </a:lvl1pPr>
    <a:lvl2pPr marL="457200" algn="l" defTabSz="457200" rtl="0" eaLnBrk="1" latinLnBrk="0" hangingPunct="1">
      <a:defRPr lang="tr-TR" sz="1800" kern="1200">
        <a:solidFill>
          <a:schemeClr val="tx1"/>
        </a:solidFill>
        <a:latin typeface="+mn-lt"/>
        <a:ea typeface="+mn-ea"/>
        <a:cs typeface="+mn-cs"/>
      </a:defRPr>
    </a:lvl2pPr>
    <a:lvl3pPr marL="914400" algn="l" defTabSz="457200" rtl="0" eaLnBrk="1" latinLnBrk="0" hangingPunct="1">
      <a:defRPr lang="tr-TR" sz="1800" kern="1200">
        <a:solidFill>
          <a:schemeClr val="tx1"/>
        </a:solidFill>
        <a:latin typeface="+mn-lt"/>
        <a:ea typeface="+mn-ea"/>
        <a:cs typeface="+mn-cs"/>
      </a:defRPr>
    </a:lvl3pPr>
    <a:lvl4pPr marL="1371600" algn="l" defTabSz="457200" rtl="0" eaLnBrk="1" latinLnBrk="0" hangingPunct="1">
      <a:defRPr lang="tr-TR" sz="1800" kern="1200">
        <a:solidFill>
          <a:schemeClr val="tx1"/>
        </a:solidFill>
        <a:latin typeface="+mn-lt"/>
        <a:ea typeface="+mn-ea"/>
        <a:cs typeface="+mn-cs"/>
      </a:defRPr>
    </a:lvl4pPr>
    <a:lvl5pPr marL="1828800" algn="l" defTabSz="457200" rtl="0" eaLnBrk="1" latinLnBrk="0" hangingPunct="1">
      <a:defRPr lang="tr-TR" sz="1800" kern="1200">
        <a:solidFill>
          <a:schemeClr val="tx1"/>
        </a:solidFill>
        <a:latin typeface="+mn-lt"/>
        <a:ea typeface="+mn-ea"/>
        <a:cs typeface="+mn-cs"/>
      </a:defRPr>
    </a:lvl5pPr>
    <a:lvl6pPr marL="2286000" algn="l" defTabSz="457200" rtl="0" eaLnBrk="1" latinLnBrk="0" hangingPunct="1">
      <a:defRPr lang="tr-TR" sz="1800" kern="1200">
        <a:solidFill>
          <a:schemeClr val="tx1"/>
        </a:solidFill>
        <a:latin typeface="+mn-lt"/>
        <a:ea typeface="+mn-ea"/>
        <a:cs typeface="+mn-cs"/>
      </a:defRPr>
    </a:lvl6pPr>
    <a:lvl7pPr marL="2743200" algn="l" defTabSz="457200" rtl="0" eaLnBrk="1" latinLnBrk="0" hangingPunct="1">
      <a:defRPr lang="tr-TR" sz="1800" kern="1200">
        <a:solidFill>
          <a:schemeClr val="tx1"/>
        </a:solidFill>
        <a:latin typeface="+mn-lt"/>
        <a:ea typeface="+mn-ea"/>
        <a:cs typeface="+mn-cs"/>
      </a:defRPr>
    </a:lvl7pPr>
    <a:lvl8pPr marL="3200400" algn="l" defTabSz="457200" rtl="0" eaLnBrk="1" latinLnBrk="0" hangingPunct="1">
      <a:defRPr lang="tr-TR" sz="1800" kern="1200">
        <a:solidFill>
          <a:schemeClr val="tx1"/>
        </a:solidFill>
        <a:latin typeface="+mn-lt"/>
        <a:ea typeface="+mn-ea"/>
        <a:cs typeface="+mn-cs"/>
      </a:defRPr>
    </a:lvl8pPr>
    <a:lvl9pPr marL="3657600" algn="l" defTabSz="457200" rtl="0" eaLnBrk="1" latinLnBrk="0" hangingPunct="1">
      <a:defRPr lang="tr-T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8" Type="http://schemas.openxmlformats.org/officeDocument/2006/relationships/notesMaster" Target="notesMasters/notesMaster1.xml"/><Relationship Id="rId64" Type="http://schemas.openxmlformats.org/officeDocument/2006/relationships/slide" Target="slides/slide57.xml"/><Relationship Id="rId71" Type="http://schemas.openxmlformats.org/officeDocument/2006/relationships/slide" Target="slides/slide1.xml"/><Relationship Id="rId72" Type="http://schemas.openxmlformats.org/officeDocument/2006/relationships/slide" Target="slides/slide2.xml"/><Relationship Id="rId73" Type="http://schemas.openxmlformats.org/officeDocument/2006/relationships/slide" Target="slides/slide3.xml"/><Relationship Id="rId74" Type="http://schemas.openxmlformats.org/officeDocument/2006/relationships/slide" Target="slides/slide4.xml"/><Relationship Id="rId75" Type="http://schemas.openxmlformats.org/officeDocument/2006/relationships/slide" Target="slides/slide5.xml"/><Relationship Id="rId76" Type="http://schemas.openxmlformats.org/officeDocument/2006/relationships/slide" Target="slides/slide6.xml"/><Relationship Id="rId77" Type="http://schemas.openxmlformats.org/officeDocument/2006/relationships/slide" Target="slides/slide7.xml"/><Relationship Id="rId78" Type="http://schemas.openxmlformats.org/officeDocument/2006/relationships/slide" Target="slides/slide8.xml"/><Relationship Id="rId79" Type="http://schemas.openxmlformats.org/officeDocument/2006/relationships/slide" Target="slides/slide9.xml"/><Relationship Id="rId80" Type="http://schemas.openxmlformats.org/officeDocument/2006/relationships/slide" Target="slides/slide10.xml"/><Relationship Id="rId81" Type="http://schemas.openxmlformats.org/officeDocument/2006/relationships/slide" Target="slides/slide11.xml"/><Relationship Id="rId82" Type="http://schemas.openxmlformats.org/officeDocument/2006/relationships/slide" Target="slides/slide12.xml"/><Relationship Id="rId83" Type="http://schemas.openxmlformats.org/officeDocument/2006/relationships/slide" Target="slides/slide13.xml"/><Relationship Id="rId84" Type="http://schemas.openxmlformats.org/officeDocument/2006/relationships/slide" Target="slides/slide14.xml"/><Relationship Id="rId85" Type="http://schemas.openxmlformats.org/officeDocument/2006/relationships/slide" Target="slides/slide15.xml"/><Relationship Id="rId86" Type="http://schemas.openxmlformats.org/officeDocument/2006/relationships/slide" Target="slides/slide16.xml"/><Relationship Id="rId87" Type="http://schemas.openxmlformats.org/officeDocument/2006/relationships/slide" Target="slides/slide17.xml"/><Relationship Id="rId88" Type="http://schemas.openxmlformats.org/officeDocument/2006/relationships/slide" Target="slides/slide18.xml"/><Relationship Id="rId89" Type="http://schemas.openxmlformats.org/officeDocument/2006/relationships/slide" Target="slides/slide19.xml"/><Relationship Id="rId90" Type="http://schemas.openxmlformats.org/officeDocument/2006/relationships/slide" Target="slides/slide20.xml"/><Relationship Id="rId91" Type="http://schemas.openxmlformats.org/officeDocument/2006/relationships/slide" Target="slides/slide21.xml"/><Relationship Id="rId92" Type="http://schemas.openxmlformats.org/officeDocument/2006/relationships/slide" Target="slides/slide22.xml"/><Relationship Id="rId93" Type="http://schemas.openxmlformats.org/officeDocument/2006/relationships/slide" Target="slides/slide23.xml"/><Relationship Id="rId94" Type="http://schemas.openxmlformats.org/officeDocument/2006/relationships/slide" Target="slides/slide24.xml"/><Relationship Id="rId95" Type="http://schemas.openxmlformats.org/officeDocument/2006/relationships/slide" Target="slides/slide25.xml"/><Relationship Id="rId96" Type="http://schemas.openxmlformats.org/officeDocument/2006/relationships/slide" Target="slides/slide26.xml"/><Relationship Id="rId97" Type="http://schemas.openxmlformats.org/officeDocument/2006/relationships/slide" Target="slides/slide27.xml"/><Relationship Id="rId98" Type="http://schemas.openxmlformats.org/officeDocument/2006/relationships/slide" Target="slides/slide28.xml"/><Relationship Id="rId99" Type="http://schemas.openxmlformats.org/officeDocument/2006/relationships/slide" Target="slides/slide29.xml"/><Relationship Id="rId100" Type="http://schemas.openxmlformats.org/officeDocument/2006/relationships/slide" Target="slides/slide30.xml"/><Relationship Id="rId101" Type="http://schemas.openxmlformats.org/officeDocument/2006/relationships/slide" Target="slides/slide31.xml"/><Relationship Id="rId102" Type="http://schemas.openxmlformats.org/officeDocument/2006/relationships/slide" Target="slides/slide32.xml"/><Relationship Id="rId103" Type="http://schemas.openxmlformats.org/officeDocument/2006/relationships/slide" Target="slides/slide33.xml"/><Relationship Id="rId104" Type="http://schemas.openxmlformats.org/officeDocument/2006/relationships/slide" Target="slides/slide34.xml"/><Relationship Id="rId105" Type="http://schemas.openxmlformats.org/officeDocument/2006/relationships/slide" Target="slides/slide35.xml"/><Relationship Id="rId106" Type="http://schemas.openxmlformats.org/officeDocument/2006/relationships/slide" Target="slides/slide36.xml"/><Relationship Id="rId107" Type="http://schemas.openxmlformats.org/officeDocument/2006/relationships/slide" Target="slides/slide37.xml"/><Relationship Id="rId108" Type="http://schemas.openxmlformats.org/officeDocument/2006/relationships/slide" Target="slides/slide38.xml"/><Relationship Id="rId109" Type="http://schemas.openxmlformats.org/officeDocument/2006/relationships/slide" Target="slides/slide39.xml"/><Relationship Id="rId110" Type="http://schemas.openxmlformats.org/officeDocument/2006/relationships/slide" Target="slides/slide40.xml"/><Relationship Id="rId111" Type="http://schemas.openxmlformats.org/officeDocument/2006/relationships/slide" Target="slides/slide41.xml"/><Relationship Id="rId112" Type="http://schemas.openxmlformats.org/officeDocument/2006/relationships/slide" Target="slides/slide42.xml"/><Relationship Id="rId113" Type="http://schemas.openxmlformats.org/officeDocument/2006/relationships/slide" Target="slides/slide43.xml"/><Relationship Id="rId114" Type="http://schemas.openxmlformats.org/officeDocument/2006/relationships/slide" Target="slides/slide44.xml"/><Relationship Id="rId115" Type="http://schemas.openxmlformats.org/officeDocument/2006/relationships/slide" Target="slides/slide45.xml"/><Relationship Id="rId116" Type="http://schemas.openxmlformats.org/officeDocument/2006/relationships/slide" Target="slides/slide46.xml"/><Relationship Id="rId117" Type="http://schemas.openxmlformats.org/officeDocument/2006/relationships/slide" Target="slides/slide47.xml"/><Relationship Id="rId118" Type="http://schemas.openxmlformats.org/officeDocument/2006/relationships/slide" Target="slides/slide48.xml"/><Relationship Id="rId119" Type="http://schemas.openxmlformats.org/officeDocument/2006/relationships/slide" Target="slides/slide49.xml"/><Relationship Id="rId120" Type="http://schemas.openxmlformats.org/officeDocument/2006/relationships/slide" Target="slides/slide50.xml"/><Relationship Id="rId121" Type="http://schemas.openxmlformats.org/officeDocument/2006/relationships/slide" Target="slides/slide51.xml"/><Relationship Id="rId122" Type="http://schemas.openxmlformats.org/officeDocument/2006/relationships/slide" Target="slides/slide52.xml"/><Relationship Id="rId123" Type="http://schemas.openxmlformats.org/officeDocument/2006/relationships/slide" Target="slides/slide53.xml"/><Relationship Id="rId124" Type="http://schemas.openxmlformats.org/officeDocument/2006/relationships/slide" Target="slides/slide54.xml"/><Relationship Id="rId125" Type="http://schemas.openxmlformats.org/officeDocument/2006/relationships/slide" Target="slides/slide55.xml"/><Relationship Id="rId126"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lang="tr-TR" sz="1200"/>
            </a:lvl1pPr>
          </a:lstStyle>
          <a:p>
            <a:endParaRPr lang="tr-T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lang="tr-TR" sz="1200"/>
            </a:lvl1pPr>
          </a:lstStyle>
          <a:p>
            <a:fld id="{0F89C1C7-3DCD-1040-A9CF-14679D8B5DDD}" type="datetimeFigureOut">
              <a:rPr lang="tr-TR" smtClean="0"/>
              <a:t>10/17/16</a:t>
            </a:fld>
            <a:endParaRPr lang="tr-T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tr-T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lang="tr-TR" sz="1200"/>
            </a:lvl1pPr>
          </a:lstStyle>
          <a:p>
            <a:endParaRPr lang="tr-T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lang="tr-TR" sz="1200"/>
            </a:lvl1pPr>
          </a:lstStyle>
          <a:p>
            <a:fld id="{BB5E49A5-4136-284D-997B-48E1D791AD67}" type="slidenum">
              <a:rPr lang="tr-TR" smtClean="0"/>
              <a:t>‹#›</a:t>
            </a:fld>
            <a:endParaRPr lang="tr-TR"/>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lang="tr-TR" sz="1200" kern="1200">
        <a:solidFill>
          <a:schemeClr val="tx1"/>
        </a:solidFill>
        <a:latin typeface="+mn-lt"/>
        <a:ea typeface="+mn-ea"/>
        <a:cs typeface="+mn-cs"/>
      </a:defRPr>
    </a:lvl1pPr>
    <a:lvl2pPr marL="457200" algn="l" defTabSz="457200" rtl="0" eaLnBrk="1" latinLnBrk="0" hangingPunct="1">
      <a:defRPr lang="tr-TR" sz="1200" kern="1200">
        <a:solidFill>
          <a:schemeClr val="tx1"/>
        </a:solidFill>
        <a:latin typeface="+mn-lt"/>
        <a:ea typeface="+mn-ea"/>
        <a:cs typeface="+mn-cs"/>
      </a:defRPr>
    </a:lvl2pPr>
    <a:lvl3pPr marL="914400" algn="l" defTabSz="457200" rtl="0" eaLnBrk="1" latinLnBrk="0" hangingPunct="1">
      <a:defRPr lang="tr-TR" sz="1200" kern="1200">
        <a:solidFill>
          <a:schemeClr val="tx1"/>
        </a:solidFill>
        <a:latin typeface="+mn-lt"/>
        <a:ea typeface="+mn-ea"/>
        <a:cs typeface="+mn-cs"/>
      </a:defRPr>
    </a:lvl3pPr>
    <a:lvl4pPr marL="1371600" algn="l" defTabSz="457200" rtl="0" eaLnBrk="1" latinLnBrk="0" hangingPunct="1">
      <a:defRPr lang="tr-TR" sz="1200" kern="1200">
        <a:solidFill>
          <a:schemeClr val="tx1"/>
        </a:solidFill>
        <a:latin typeface="+mn-lt"/>
        <a:ea typeface="+mn-ea"/>
        <a:cs typeface="+mn-cs"/>
      </a:defRPr>
    </a:lvl4pPr>
    <a:lvl5pPr marL="1828800" algn="l" defTabSz="457200" rtl="0" eaLnBrk="1" latinLnBrk="0" hangingPunct="1">
      <a:defRPr lang="tr-TR" sz="1200" kern="1200">
        <a:solidFill>
          <a:schemeClr val="tx1"/>
        </a:solidFill>
        <a:latin typeface="+mn-lt"/>
        <a:ea typeface="+mn-ea"/>
        <a:cs typeface="+mn-cs"/>
      </a:defRPr>
    </a:lvl5pPr>
    <a:lvl6pPr marL="2286000" algn="l" defTabSz="457200" rtl="0" eaLnBrk="1" latinLnBrk="0" hangingPunct="1">
      <a:defRPr lang="tr-TR" sz="1200" kern="1200">
        <a:solidFill>
          <a:schemeClr val="tx1"/>
        </a:solidFill>
        <a:latin typeface="+mn-lt"/>
        <a:ea typeface="+mn-ea"/>
        <a:cs typeface="+mn-cs"/>
      </a:defRPr>
    </a:lvl6pPr>
    <a:lvl7pPr marL="2743200" algn="l" defTabSz="457200" rtl="0" eaLnBrk="1" latinLnBrk="0" hangingPunct="1">
      <a:defRPr lang="tr-TR" sz="1200" kern="1200">
        <a:solidFill>
          <a:schemeClr val="tx1"/>
        </a:solidFill>
        <a:latin typeface="+mn-lt"/>
        <a:ea typeface="+mn-ea"/>
        <a:cs typeface="+mn-cs"/>
      </a:defRPr>
    </a:lvl7pPr>
    <a:lvl8pPr marL="3200400" algn="l" defTabSz="457200" rtl="0" eaLnBrk="1" latinLnBrk="0" hangingPunct="1">
      <a:defRPr lang="tr-TR" sz="1200" kern="1200">
        <a:solidFill>
          <a:schemeClr val="tx1"/>
        </a:solidFill>
        <a:latin typeface="+mn-lt"/>
        <a:ea typeface="+mn-ea"/>
        <a:cs typeface="+mn-cs"/>
      </a:defRPr>
    </a:lvl8pPr>
    <a:lvl9pPr marL="3657600" algn="l" defTabSz="457200" rtl="0" eaLnBrk="1" latinLnBrk="0" hangingPunct="1">
      <a:defRPr lang="tr-TR" sz="1200" kern="1200">
        <a:solidFill>
          <a:schemeClr val="tx1"/>
        </a:solidFill>
        <a:latin typeface="+mn-lt"/>
        <a:ea typeface="+mn-ea"/>
        <a:cs typeface="+mn-cs"/>
      </a:defRPr>
    </a:lvl9pPr>
  </p:notesStyle>
</p:notesMaster>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Kaynak gösterimi — 5846 sayılı Kanun md. 34 eğitim amaçlı seçme ve toplama eserlerde eserin ve eser sahibinin adının belirtilmesini ister. Derste gösterilmesi gerekmez; dosyayı paylaşırken bu slaytı silmeyin.</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Haftanın öğrenme çıktısını ve dört süreç bileşenini (a belirler, b ayrıştırır, c tasnif eder, ç etiketler) tanıtmak.</a:t>
            </a:r>
          </a:p>
          <a:p/>
          <a:p>
            <a:r>
              <a:t>SÜRE: 80 dakikalık akış (ders planı, 31. hafta): haberler (E) 6 · 1. tur: kendi ölçütümüz 10 · ölçütler 6 · beş tür 11 · 2. tur: s. 196 etkinliği 7 (40. dk) · paylaşım ve tartışmalı kartlar 8 · Türkiye'de afetler: uzman grupları 14 · ortak tablo ve INFORM 6 · grid 8 · kapanış 4.</a:t>
            </a:r>
          </a:p>
          <a:p/>
          <a:p>
            <a:r>
              <a:t>NASIL: Çıktıyı öğrencinin diliyle söyleyin: 'Bu hafta afetleri sınıflandırıyoruz. Önce afetleri belirleyeceğiz (a), sonra birbirinden ayıracağız (b), gruplara yerleştireceğiz (c), en sonunda her gruba adını koyacağız (ç).' Ölçüt bu hafta OLUŞUM KAYNAĞIDIR. Öğrenciler girişte grup düzenine oturmuştur (30. haftanın grupları). Giriş aşaması esnektir (E): zaman daralırsa haber paylaşımı kısaltılır, sınıflandırma turları kısaltılmaz.</a:t>
            </a:r>
          </a:p>
          <a:p/>
          <a:p>
            <a:r>
              <a:t>KAYNAK: Program (2026) COĞ.9.6.2 a-ç; ders planı 31. hafta; kitap 6.1.2 Afet Türleri (s. 194-201).</a:t>
            </a:r>
          </a:p>
          <a:p/>
          <a:p>
            <a:r>
              <a:t>NOT: Kitap 2026-2027 baskısı: s. 194-201 önceki baskıyla aynıdır. Hassasiyet: sınıfta afet yaşamış ya da yakınını kaybetmiş öğrenci bulunabilir; kişisel afet anlatımı istenmez, isteyen dinlenir; gerekirse rehberlik servisiyle eşgüdüm (DP sınıf yönetimi notu).</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Dersin yol haritasını göstermek (30 sn).</a:t>
            </a:r>
          </a:p>
          <a:p/>
          <a:p>
            <a:r>
              <a:t>NASIL: Her istasyonu bir cümleyle söyleyin; 4. istasyondan (2. tur) sonra dersin ilk yarısı biter. Türkiye'de afetler kısmında gruplar 'uzman' olur: her iki grup bir afeti inceler.</a:t>
            </a:r>
          </a:p>
          <a:p/>
          <a:p>
            <a:r>
              <a:t>KAYNAK: Ders planı 31. hafta akışı.</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Grup çalışmasına geçiş: rolleri ve kuralları hatırlatmak.</a:t>
            </a:r>
          </a:p>
          <a:p/>
          <a:p>
            <a:r>
              <a:t>SÜRE: Giriş aşamasının içinde 30 sn: roller hatırlatılır (aşamanın süre dağılımı haber slaytında).</a:t>
            </a:r>
          </a:p>
          <a:p/>
          <a:p>
            <a:r>
              <a:t>NASIL: Ayağa kalkma molası; sıralar adalara çevrilir, malzeme sorumluları grup setlerini alır. Roller her hafta döner. Gruplar 30. haftanın gruplarıdır (6 × 4 + 2 × 5); roller bu hafta döner. Zaman sorumlusu grup içinde 30 saniyeyi tutar; sınıfa yalnız sözcü konuşur.</a:t>
            </a:r>
          </a:p>
          <a:p/>
          <a:p>
            <a:r>
              <a:t>KAYNAK: Ders planı (34 kişilik sınıf için grup düzeni: 6 × 4 + 2 × 5; sınıf mevcuduna göre uyarlanır).</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Programın 9.6.2 giriş önerisi: öğrencilerin getirdiği haber ve fotoğraflarla derse başlamak; afet adlarından ham bir liste çıkarmak (sınıflandırma yapılmaz).</a:t>
            </a:r>
          </a:p>
          <a:p/>
          <a:p>
            <a:r>
              <a:t>SÜRE: Giriş 6 dk (esnek): ayraç, yol haritası ve gruplar 1 dk · grup içi tanıtım 2,5 dk · sözcüler 2,5 dk (8 × 20 sn).</a:t>
            </a:r>
          </a:p>
          <a:p/>
          <a:p>
            <a:r>
              <a:t>NASIL: Her öğrenci haberini grubuna 30 saniyede tanıtır; grup en çarpıcı bulduğu birini seçer, sözcü 20-30 saniyede sınıfa söyler. Siz anılan afetleri tahtaya HAM LİSTE olarak yazarsınız (sıra yok, grup yok) — liste 1. turda kartlarla karşılaştırılır. Haber getirmeyen öğrenci grubundaki bir haberi dinler; haber getirenler derse hazırlık kaydına (P2) işlenir. Haberler ders sonunda panoya asılır. Kişisel kayıp anlatımı istenmez; haberdeki kişinin adı ve görüntüsü sınıfa taşınmaz.</a:t>
            </a:r>
          </a:p>
          <a:p/>
          <a:p>
            <a:r>
              <a:t>BEKLENEN CEVAP: Örnek ham liste (haberlere göre değişir): deprem, sel, orman yangını, heyelan, çığ, salgın, kuraklık, maden kazası, tren kazası, savaş, göç, hava kirliliği.</a:t>
            </a:r>
          </a:p>
          <a:p/>
          <a:p>
            <a:r>
              <a:t>KAYNAK: Program (2026) COĞ.9.6.2: Bu kapsamda öğrencilere afetlerle ilgili gazete haberi ve makale okuma, fotoğraf ve harita inceleme, sayısal veriler içeren tablo yorumlama gibi çalışmalar yaptırılabilir. Bu çalışmalar öğrenciler tarafından sunulabilir ve öğrencilerin seçtiği materyallerin incelenmesiyle derse başlanabilir. Destekleme önerisi: Öğrencilerden farklı zamanlarda yaşanmış afetlerden etkilenen kişilerle röportaj yaparak bu röportajı sınıfta sunmaları istenebilir. — kişinin adı, adresi, görüntüsü ve sesi sınıfa getirilmez (DP farklılaştırma).</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Süreç bileşenleri a (belirler) ve b (ayrıştırır): öğrenciler afetleri KENDİ belirledikleri bir ölçütle gruplar; programın sınıflandırma önerisi.</a:t>
            </a:r>
          </a:p>
          <a:p/>
          <a:p>
            <a:r>
              <a:t>SÜRE: 1. tur 10 dk: yönerge 1 dk · gruplama 7 dk · dolaşım ve kilit soru 2 dk.</a:t>
            </a:r>
          </a:p>
          <a:p/>
          <a:p>
            <a:r>
              <a:t>NASIL: Malzeme sorumlusu numaralı zarfı sayarak alır: 31 kart (s. 196 Afet Listesi) ve başlıksız A3 tablo. Yönerge: 'Kartları sizce anlamlı gruplara ayırın; ölçütünüzü tablonun başına yazın.' Ölçüt serbesttir; çiplerdeki örnekler yalnız fikir verir. Dolaşımda kilit soruyu sorun: 'Ölçütünüz her kartı bir yere koyabiliyor mu, dışarıda kalan var mı?' (E3.7 sistematiklik). Tartışma grup içinde kalır; kartlar masada, yere düşen kart hemen toplanır.</a:t>
            </a:r>
          </a:p>
          <a:p/>
          <a:p>
            <a:r>
              <a:t>KAYNAK: Program (2026) COĞ.9.6.2: Tüm sınıfa bir afet listesi (kuraklık, deprem, tsunami, çığ, sel, taşkın, erozyon, salgın hastalık, yangın, savaş, nükleer santral kazaları, heyelan, kaya düşmesi vb.) verilerek afet sınıflandırma çalışması yapılabilir. Bu kapsamda öğrencilerden verilen afet listesinde yer alan afetleri, belirledikleri özelliklere göre sınıflandırmaları ve küçük gruplar içinde tartışmaları istenebilir. Kart takımı: kitap s. 196 Afet Listesi (31 kalem).</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Kart takımının içeriğini göstermek: kitabın Afet Listesi (31 kalem, s. 196).</a:t>
            </a:r>
          </a:p>
          <a:p/>
          <a:p>
            <a:r>
              <a:t>NASIL: Gruplar çalışırken bu slayt açık kalır; eksik ya da kayıp kartı buradan kontrol ederler. 'Biyolojik, nükleer ve kimyasal silahların kullanımı' TEK karttır (kitapta tek kalem). 'Sel' ile 'taşkınlar' ayrı kartlardır.</a:t>
            </a:r>
          </a:p>
          <a:p/>
          <a:p>
            <a:r>
              <a:t>KAYNAK: Kitap s. 196 ETKİNLİK 'Afet Türleri' — Afet Listesi (birebir, 31 kalem).</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1. turun ölçütlü örnek ürünü: bir ölçüt bütün kartları yerleştirebilmeli; bazı ölçütler yerleştiremez.</a:t>
            </a:r>
          </a:p>
          <a:p/>
          <a:p>
            <a:r>
              <a:t>NASIL: Grupların tabloları masadayken açın; 'doğru cevap' değil, bir örnektir. Ölçüt 'oluşum hızı': kartların çoğu dakikalar ya da günler içinde gelişir, bir kısmı haftalar ve yıllar sürer. Sınır durumlar tartışmaya açıktır (savaş ani başlar ama uzun sürer; sıcak hava dalgası günler-haftalar; heyelan bazen yavaş ilerler) — gerekçeli her yerleştirme kabul. Sağdaki kutu kilit sorunun cevabıdır: 'kaç kişiyi etkiler?' ölçütü kartları yerleştiremez, çünkü aynı afet bazen birkaç, bazen binlerce kişiyi etkiler. Bu yüzden kitap başka ölçütler kullanır (sonraki aşama).</a:t>
            </a:r>
          </a:p>
          <a:p/>
          <a:p>
            <a:r>
              <a:t>BEKLENEN CEVAP: Ölçüt: oluşum hızı. Ani (dakikalar-günler): deprem, volkanik faaliyetler, tsunami, çığ, heyelan, kaya düşmesi, çamur akıntısı, sel, taşkınlar, aşırı yağışlar, hortum, kasırga, dolu, yıldırım düşmesi, buzlanma, orman yangınları, yangınlar, sanayi, maden, nükleer santral ve ulaşım kazaları, terör saldırıları, silahların kullanımı. Yavaş (haftalar-yıllar): kuraklık, erozyon, salgınlar, böcek istilaları, hava kirliliği, göçler, savaşlar, sıcak-soğuk hava dalgası.</a:t>
            </a:r>
          </a:p>
          <a:p/>
          <a:p>
            <a:r>
              <a:t>KAYNAK: Kart listesi kitap s. 196; 'oluşum hızı' ölçütü kitap s. 194. Kartların hız sınıfı: bilimsel; kitapta yok.</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Grupların ölçütlerini toplamak, benzerleri birleştirmek; kitabın ölçütlerine köprü.</a:t>
            </a:r>
          </a:p>
          <a:p/>
          <a:p>
            <a:r>
              <a:t>SÜRE: Bu aşama 6 dk: dört grubun ölçütü 3 dk · kitabın ölçütleri 2 dk · 'bugünkü ölçüt' 1 dk.</a:t>
            </a:r>
          </a:p>
          <a:p/>
          <a:p>
            <a:r>
              <a:t>NASIL: Dört grubun sözcüsü ölçütünü söyler; tahtaya yazın, benzerleri tek satırda birleştirin (ör. 'nerede olur?' ile 'yerde mi havada mı?'). Soru: 'Hangi ölçütte dışarıda kart kaldı?' Kalan gruplar yalnız farklı bir ölçüt varsa söz alır.</a:t>
            </a:r>
          </a:p>
          <a:p/>
          <a:p>
            <a:r>
              <a:t>BEKLENEN CEVAP: Beklenen ölçütler: nerede olur (yer altı, hava, su, canlılar, insan faaliyeti) · ne kadar hızlı olur · doğa mı insan mı · ne kadar geniş bir alanı etkiler · ne kadar zarar verir. Son ölçüt ('ne kadar zarar') kartları yerleştirmekte zorlanır.</a:t>
            </a:r>
          </a:p>
          <a:p/>
          <a:p>
            <a:r>
              <a:t>KAYNAK: Ders planı 31. hafta 3. aşama; ölçütler kitap s. 194 (sonraki slayt).</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Kitabın üç sınıflandırma ölçütünü vermek; bugünün ölçütünü (oluşum kaynağı) duyurmak.</a:t>
            </a:r>
          </a:p>
          <a:p/>
          <a:p>
            <a:r>
              <a:t>NASIL: Alıntıyı bir öğrenciye okutun. Grupların ölçütlerini kartlara bağlayın: 'Ne kadar hızlı' → oluşum hızı; 'Nerede olur, doğa mı insan mı' → oluşum nedeni; 'Ne kadar geniş alan' → etki alanı. 'Bugün oluşum kaynağını esas alacağız: kitap afetleri buna göre beş türe ayırır.' Kart altındaki örnekler 2023 afetlerinden ve listeden seçilmiştir (bilimsel, 9. sınıf düzeyi).</a:t>
            </a:r>
          </a:p>
          <a:p/>
          <a:p>
            <a:r>
              <a:t>BEKLENEN CEVAP: Kitabın ölçütleri: oluşum nedeni (başta), oluşum hızı, etki alanı.</a:t>
            </a:r>
          </a:p>
          <a:p/>
          <a:p>
            <a:r>
              <a:t>KAYNAK: Kitap s. 194 (birebir). Ani-yavaş ve dar-geniş örnekleri: bilimsel; kitapta yok.</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Beş afet türünü iki ana grup altında tek şemada göstermek (defter şeması).</a:t>
            </a:r>
          </a:p>
          <a:p/>
          <a:p>
            <a:r>
              <a:t>SÜRE: Bu aşama 11 dk: şema 2 dk · doğa ve insan kaynaklı türler 3 dk · 2023 haritası 3 dk · artış nedenleri 1 dk · iki yoklama 2 dk.</a:t>
            </a:r>
          </a:p>
          <a:p/>
          <a:p>
            <a:r>
              <a:t>NASIL: Öğrenciler şemayı deftere çizer (ağaç). Önce iki ana dal: kaynağı doğa mı, insan faaliyeti mi? Sonra doğa dalında üç kaynak: yer kabuğu (jeolojik), atmosfer ve su (klimatik-hidrolojik), canlı organizmalar (biyolojik); insan dalında iki kaynak: ihtiyaçları karşılama faaliyetleri (sosyal), teknoloji (teknolojik). Örnekler kitabın parantez içindeki örnekleridir.</a:t>
            </a:r>
          </a:p>
          <a:p/>
          <a:p>
            <a:r>
              <a:t>KAYNAK: Kitap s. 196 ilk paragraf (beş tür ve örnekleri birebir); defter şeması ders planı 31. hafta 4. aşama.</a:t>
            </a:r>
          </a:p>
          <a:p/>
          <a:p>
            <a:r>
              <a:t>NOT: Kitap erozyonu biyolojik afetler arasında sayar (s. 196). Erozyon farklı kaynaklarda jeolojik ya da hidrometeorolojik bir süreç olarak da ele alınır; sınıfta kitabın sınıflandırması esastır, tartışmaya açılmaz (DP notu). Salgın hastalık s. 190'da 'insan kaynaklı olaylar' arasında sayılır, s. 196'da biyolojik (doğa kaynaklı) afettir — bu hafta s. 196 esastır.</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Üç doğa kaynaklı türü kitabın tanımlarıyla vermek: kaynak yer kabuğu, atmosfer, canlılar.</a:t>
            </a:r>
          </a:p>
          <a:p/>
          <a:p>
            <a:r>
              <a:t>NASIL: Üç kartı üç öğrenciye okutun. Her kartta 'kaynağı nerede?' sorusunu sorun: yer kabuğu ve yerin derinlikleri · atmosfer olayları · canlı organizmalar. Erozyon biyolojik başlığında kitabın sınıflandırmasıyla verilir (alttaki not); öğrenci sorarsa 'kitap böyle sınıflandırır, biz de kitabı esas alıyoruz' deyin.</a:t>
            </a:r>
          </a:p>
          <a:p/>
          <a:p>
            <a:r>
              <a:t>KAYNAK: Kitap s. 196 (birebir).</a:t>
            </a:r>
          </a:p>
          <a:p/>
          <a:p>
            <a:r>
              <a:t>NOT: Erozyonun biyolojik afet sayılması kitabın tercihidir; farklı kaynaklarda jeolojik ya da hidrometeorolojik süreç olarak da ele alınır — sınıfta tartışmaya açılmaz (DP notu).</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İki insan kaynaklı türü kitabın tanımlarıyla vermek: sosyal ve teknolojik.</a:t>
            </a:r>
          </a:p>
          <a:p/>
          <a:p>
            <a:r>
              <a:t>NASIL: Üstteki cümleyi okutun, sonra iki kartı. Ayrım: sosyal afetlerde insanların ihtiyaçlarını karşılamaya yönelik faaliyetler (savaş, terör, göç); teknolojik afetlerde beşerî faaliyetler ve teknolojinin amaç dışı kullanımı (kazalar). Siyasi yorum yapılmaz; örnekler kitabın örnekleridir.</a:t>
            </a:r>
          </a:p>
          <a:p/>
          <a:p>
            <a:r>
              <a:t>KAYNAK: Kitap s. 196 (birebir).</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Harita 6.2'deki 2023 afetlerini beş türe bağlamak (süreç bileşeni ç: etiketler).</a:t>
            </a:r>
          </a:p>
          <a:p/>
          <a:p>
            <a:r>
              <a:t>NASIL: Harita kitapta iki sayfaya bölünmüştür (s. 194 batı, s. 195 doğu); etiketlerin yerine numara konmuştur, kılavuz çizgiler olayın yerini gösterir. Gruplar 2 dakikada her numaranın türünü defterdeki ağaç şemasının dalına yazar. Sağdaki listeyi okutun.</a:t>
            </a:r>
          </a:p>
          <a:p/>
          <a:p>
            <a:r>
              <a:t>BEKLENEN CEVAP: 1 Kanada orman yangınları, 2 Hawaii yangını, 5 Mati orman yangını → klimatik-hidrolojik (ya da insan kaynaklı) · 3 Fas depremi, 8 Kahramanmaraş depremleri → jeolojik · 4 Brezilya, 9 Libya, 11 Japonya, 12 Hindistan, 13 Malavi, 14 Yeni Zelanda (kasırga, fırtına, sel) → klimatik-hidrolojik · 6 Larisa tren kazası, 10 Çin maden kazası → teknolojik · 7 Rusya-Ukrayna savaşı → sosyal.</a:t>
            </a:r>
          </a:p>
          <a:p/>
          <a:p>
            <a:r>
              <a:t>KAYNAK: Kitap s. 194-195 Harita 6.2 ve metin kutuları; s. 190 Görsel 6.1 alt yazısı. Etiketler sayfadan silinip numaralandı (yazım: kitapta 'Yeni Zelenda' ve 'Malawi'; s. 194 metninde 'Yeni Zelanda', s. 206'da 'Malavi').</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2023 afetlerinin türleri: örnek cevap.</a:t>
            </a:r>
          </a:p>
          <a:p/>
          <a:p>
            <a:r>
              <a:t>NASIL: Rozetlerin rengi türü gösterir. Kitabın açık ifadeleri: maden kazası ve Larisa tren kazası 'teknoloji kökenli' (s. 195); savaş sosyal, deprem jeolojik, sel klimatik-hidrolojik (s. 196). Orman yangınları: kitap s. 190'da yıldırım ya da aşırı sıcakla çıkan orman yangınlarını doğa kaynaklı tehlike sayar → klimatik-hidrolojik; yangını insan çıkarmışsa insan kaynaklıdır — 2023 yangınlarının nedeni kitapta yazmaz, iki gerekçe de kabul. Rakamlar: Kahramanmaraş depremlerinde Türkiye ve Suriye'de yaklaşık 58 bin, Fas'ta yaklaşık 3 bin can kaybı (s. 194); Çin'de 12 madenci (s. 195) — kitabın cümlesiyle, abartısız.</a:t>
            </a:r>
          </a:p>
          <a:p/>
          <a:p>
            <a:r>
              <a:t>BEKLENEN CEVAP: 1 Kanada orman yangınları, 2 Hawaii yangını, 5 Mati orman yangını → klimatik-hidrolojik (ya da insan kaynaklı) · 3 Fas depremi, 8 Kahramanmaraş depremleri → jeolojik · 4 Brezilya, 9 Libya, 11 Japonya, 12 Hindistan, 13 Malavi, 14 Yeni Zelanda (kasırga, fırtına, sel) → klimatik-hidrolojik · 6 Larisa tren kazası, 10 Çin maden kazası → teknolojik · 7 Rusya-Ukrayna savaşı → sosyal.</a:t>
            </a:r>
          </a:p>
          <a:p/>
          <a:p>
            <a:r>
              <a:t>KAYNAK: Kitap s. 194-195 Harita 6.2 ve metin kutuları; s. 190 Görsel 6.1 alt yazısı. Etiketler sayfadan silinip numaralandı (yazım: kitapta 'Yeni Zelenda' ve 'Malawi'; s. 194 metninde 'Yeni Zelanda', s. 206'da 'Malavi').</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Afetlerin artış nedenlerini kitabın cümlesiyle vermek; 'teknoloji kökenli afetler de arttı' bilgisiyle insan kaynaklı türlere bağ kurmak.</a:t>
            </a:r>
          </a:p>
          <a:p/>
          <a:p>
            <a:r>
              <a:t>NASIL: Önce soruyu sorun (20 sn), iki tahmin alın; sonra kartları okutun. 'Küresel iklim değişikliği hangi türü artırır?' → klimatik-hidrolojik (sel, kuraklık, sıcak hava dalgası). 'Nüfus hareketleri' → afet bölgelerine daha çok insan yerleşir, maruziyet artar (30. hafta).</a:t>
            </a:r>
          </a:p>
          <a:p/>
          <a:p>
            <a:r>
              <a:t>BEKLENEN CEVAP: Kitaba göre: küresel iklim değişikliği, doğal kaynakların aşırı kullanımı, nüfus hareketleri; ayrıca 2023'te teknoloji kökenli afetler de artmıştır.</a:t>
            </a:r>
          </a:p>
          <a:p/>
          <a:p>
            <a:r>
              <a:t>KAYNAK: Kitap s. 195 (birebir). 'Maruziyet artar' bağlantısı: 30. hafta (s. 191).</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Ara yoklama: bu bölümün temel sonucunu tek soruyla yoklamak.</a:t>
            </a:r>
          </a:p>
          <a:p/>
          <a:p>
            <a:r>
              <a:t>NASIL: Öğrenciler 20 saniye düşünür, parmakla (1-5 = A-E) ya da mini kâğıtla cevap gösterir; dağılıma bakıp cevap slaytına geçin. Yanlış çoğunluktaysa 'kaynağı nerede?' sorusuna dönün: kuraklık ve sel atmosfer olaylarına bağlıdır.</a:t>
            </a:r>
          </a:p>
          <a:p/>
          <a:p>
            <a:r>
              <a:t>BEKLENEN CEVAP: B) Klimatik-hidrolojik</a:t>
            </a:r>
          </a:p>
          <a:p/>
          <a:p>
            <a:r>
              <a:t>KAYNAK: Kitap s. 196.</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Doğru seçeneği gerekçesiyle göstermek.</a:t>
            </a:r>
          </a:p>
          <a:p/>
          <a:p>
            <a:r>
              <a:t>NASIL: Gerekçeyi bir öğrenciye okutun; yanlış seçeneklerden birinin neden yanlış olduğunu sorun.</a:t>
            </a:r>
          </a:p>
          <a:p/>
          <a:p>
            <a:r>
              <a:t>SÖYLENEBİLİR: Doğa kaynaklı afetlerin önemli bir bölümü atmosfer olaylarına bağlı oluşur ve bunlar klimatik-hidrolojik afetler (kuraklık, sel vb.) olarak adlandırılır.</a:t>
            </a:r>
          </a:p>
          <a:p/>
          <a:p>
            <a:r>
              <a:t>BEKLENEN CEVAP: B) Klimatik-hidrolojik</a:t>
            </a:r>
          </a:p>
          <a:p/>
          <a:p>
            <a:r>
              <a:t>KAYNAK: Kitap s. 196.</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Ara yoklama: bu bölümün temel sonucunu tek soruyla yoklamak.</a:t>
            </a:r>
          </a:p>
          <a:p/>
          <a:p>
            <a:r>
              <a:t>NASIL: Öğrenciler 20 saniye düşünür, parmakla (1-5 = A-E) ya da mini kâğıtla cevap gösterir; dağılıma bakıp cevap slaytına geçin. D seçeneğini seçen olursa: sosyal afetler ihtiyaçları karşılama faaliyetlerinden (savaş, terör, göç) doğar; kaza teknolojinin amaç dışı sonucudur.</a:t>
            </a:r>
          </a:p>
          <a:p/>
          <a:p>
            <a:r>
              <a:t>BEKLENEN CEVAP: E) Teknolojik</a:t>
            </a:r>
          </a:p>
          <a:p/>
          <a:p>
            <a:r>
              <a:t>KAYNAK: Kitap s. 195-196.</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Doğru seçeneği gerekçesiyle göstermek.</a:t>
            </a:r>
          </a:p>
          <a:p/>
          <a:p>
            <a:r>
              <a:t>NASIL: Gerekçeyi bir öğrenciye okutun; yanlış seçeneklerden birinin neden yanlış olduğunu sorun.</a:t>
            </a:r>
          </a:p>
          <a:p/>
          <a:p>
            <a:r>
              <a:t>SÖYLENEBİLİR: Yunanistan’ın Larisa kentinde meydana gelen tren kazası teknoloji kökenli afet türüne örnek verilebilir (s. 195). Ulaşım kazaları teknolojik afettir (s. 196).</a:t>
            </a:r>
          </a:p>
          <a:p/>
          <a:p>
            <a:r>
              <a:t>BEKLENEN CEVAP: E) Teknolojik</a:t>
            </a:r>
          </a:p>
          <a:p/>
          <a:p>
            <a:r>
              <a:t>KAYNAK: Kitap s. 195-196.</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Kitabın s. 196 etkinliği; süreç bileşenleri c (tasnif eder) ve ç (etiketler): kartlar beş sütuna yeniden dağıtılır, sütunların adı yazılır.</a:t>
            </a:r>
          </a:p>
          <a:p/>
          <a:p>
            <a:r>
              <a:t>SÜRE: 2. tur 7 dk: yönerge 1 dk · tasnif ve etiket 5 dk · dolaşım 1 dk.</a:t>
            </a:r>
          </a:p>
          <a:p/>
          <a:p>
            <a:r>
              <a:t>NASIL: A3 tablonun ikinci yüzü beş sütunludur; başlıklar boştur (etiketi grup yazar). Kitabın açıkça sınıflandırdığı kartlar doğrudan yerleşir; açıkça sınıflandırılmayanlar (çığ, tsunami, heyelan, kaya düşmesi, hava kirliliği, yangınlar vb.) 'tartışılacak' alanına ayrılır ve grup her biri için KAYNAĞINA dayanan bir öneri yazar. Dolaşımda yalnız soru sorun: 'Kaynağı yer kabuğu mu, atmosfer mi, canlı organizma mı, insan faaliyeti mi?'</a:t>
            </a:r>
          </a:p>
          <a:p/>
          <a:p>
            <a:r>
              <a:t>KAYNAK: Kitap s. 196 ETKİNLİK 'Afet Türleri' (künye ve yönerge birebir). Program: Afetler, oluşum türlerine göre tasnif edilir ve etiketlenir (E3.7, SDB2.2).</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Grupların doldurduğu tablonun düzenini göstermek (kitabın tablosu + 'tartışılacak' alanı).</a:t>
            </a:r>
          </a:p>
          <a:p/>
          <a:p>
            <a:r>
              <a:t>NASIL: Gruplar çalışırken açık kalır. Alttaki dört soru tartışmalı kartlar içindir; doğru-yanlış aramayın, gerekçe isteyin. Bitiren grup sözcüsüyle paylaşıma hazırlanır.</a:t>
            </a:r>
          </a:p>
          <a:p/>
          <a:p>
            <a:r>
              <a:t>KAYNAK: Kitap s. 196 tablo başlığı 'OLUŞUM TÜRÜNE GÖRE AFETLER' ve beş boş sütun (birebir düzen); 'tartışılacak' alanı ders planı 31. hafta 5. aşama.</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s. 196 'diğer gruplarla sözlü paylaşınız' adımı; tartışmalı kartları kaynağına göre çözmek (E3.5 açık fikirlilik).</a:t>
            </a:r>
          </a:p>
          <a:p/>
          <a:p>
            <a:r>
              <a:t>SÜRE: Bu aşama 8 dk: beş sütun 3 dk · kitabın sınıflandırması 1 dk · tartışmalı kartlar 3 dk · özet 1 dk.</a:t>
            </a:r>
          </a:p>
          <a:p/>
          <a:p>
            <a:r>
              <a:t>NASIL: 1-5. grupların sözcüleri birer sütun okur (sütunun etiketi + kartları); 6-8. gruplar yalnız farklı yerleştirdikleri kartı söyler. Kitabın açıkça sınıflandırdığı kalemlerde kitap esastır (sonraki slayt). Tartışmalı kartlarda sınıfa tek soru: 'Kaynağı yer kabuğu mu, atmosfer mi, canlı organizma mı, insan faaliyeti mi?' Kaynağa dayalı tutarlı gerekçe yeterli sayılır; iki kaynağa da bağlanabilen kart not edilir.</a:t>
            </a:r>
          </a:p>
          <a:p/>
          <a:p>
            <a:r>
              <a:t>KAYNAK: Kitap s. 196 yönergesi; ders planı 31. hafta 6. aşama.</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s. 196 tablosunun etiketleri ve kitabın metninde açıkça sınıflandırılan 12 kalem.</a:t>
            </a:r>
          </a:p>
          <a:p/>
          <a:p>
            <a:r>
              <a:t>NASIL: Gruplar tablolarını kontrol eder (kitabın 'DEĞERLENDİRME' adımı): etiketler ve bu 12 kalem kitaptaki gibi olmalı. Erozyon kitabın sınıflandırmasıyla biyolojik sütundadır. Alttaki iki ana grup, ağaç şemasıyla aynıdır.</a:t>
            </a:r>
          </a:p>
          <a:p/>
          <a:p>
            <a:r>
              <a:t>BEKLENEN CEVAP: Jeolojik: deprem, volkanik faaliyetler · Klimatik-hidrolojik: kuraklık, sel · Biyolojik: erozyon, salgınlar · Sosyal: savaşlar, terör saldırıları, göçler · Teknolojik: maden kazaları, nükleer santral kazaları, ulaşım kazaları.</a:t>
            </a:r>
          </a:p>
          <a:p/>
          <a:p>
            <a:r>
              <a:t>KAYNAK: Kitap s. 196 ilk paragraf (beş tür ve örnekleri) ve 'DEĞERLENDİRME': Öğretmeninizin rehberliğinde çalışmanızı kontrol edip varsa eksik cevaplarınızı düzenleyiniz.</a:t>
            </a:r>
          </a:p>
          <a:p/>
          <a:p>
            <a:r>
              <a:t>NOT: Salgın hastalık s. 190'da 'insan kaynaklı olaylar' arasında, s. 196'da biyolojik (doğa kaynaklı) afetler arasındadır; bu etkinlikte s. 196'nın sınıflandırması esastır.</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Kitabın açıkça sınıflandırmadığı 19 kalem için kaynağa dayalı gerekçeli öneri.</a:t>
            </a:r>
          </a:p>
          <a:p/>
          <a:p>
            <a:r>
              <a:t>NASIL: Bir 'doğru tablo' sunmayın: bunlar kaynağına göre önerilerdir. Çift oklu (↔) kartlar iki gerekçeyle de yerleşebilir; öğrencinin gerekçesi kaynağa dayanıyorsa kabul edin. Örnekler: tsunami su dalgasıdır ama kaynağı deniz tabanındaki deprem ya da volkandır → jeolojik; çığın kaynağı kar örtüsüdür (atmosfer), dik yamaç da gerekir; orman yangınını yıldırım ya da aşırı sıcak çıkarırsa doğa kaynaklıdır (kitap s. 190), insan çıkarırsa insan kaynaklı; hava kirliliğinin kaynağı sanayi, ısınma ve trafiktir, durgun hava artırır; 'biyolojik, nükleer ve kimyasal silahların kullanımı' kartındaki 'biyolojik' kelimesi yanıltmasın — kaynak insan faaliyetidir (teknolojik; savaşın aracı olarak sosyal).</a:t>
            </a:r>
          </a:p>
          <a:p/>
          <a:p>
            <a:r>
              <a:t>BEKLENEN CEVAP: Jeolojik: tsunami, heyelan↔, kaya düşmesi↔, çamur akıntısı↔ · Klimatik-hidrolojik: taşkınlar, aşırı yağışlar, dolu, hortum, kasırga, yıldırım düşmesi, sıcak-soğuk hava dalgası, buzlanma, çığ↔, orman yangınları↔ · Biyolojik: böcek istilaları · Teknolojik: sanayi kazaları, yangınlar↔, hava kirliliği↔, silahların kullanımı↔ (sosyal).</a:t>
            </a:r>
          </a:p>
          <a:p/>
          <a:p>
            <a:r>
              <a:t>KAYNAK: Gerekçeli öneri: bilimsel; kitapta yok. Kitabın ipuçları: s. 196 tanımları (kaynak), s. 190 Görsel 6.1 (yıldırım ve aşırı sıcakla çıkan orman yangını doğa kaynaklı tehlikedir), s. 201 başlığı (orman yangını, heyelan, çığ 'doğa kaynaklı tehlikeler').</a:t>
            </a:r>
          </a:p>
          <a:p/>
          <a:p>
            <a:r>
              <a:t>OGM MATERYAL: OGM Materyal 174 (afet türleri sınıflandırması, 20 kalem) bu etkinlikle paraleldir; kitabın açıkça sınıflandırdığı kalemlerde OGM ile kitap aynıdır. OGM 'kütle hareketleri'ni (heyelan, kaya düşmesi, çamur akıntısı) ve tsunamiyi jeolojik, çığ ile doluyu klimatik-hidrolojik sayar. Orman yangınlarını biyolojik, yangınları sosyal sınıfa koyar: ilki kitabın biyolojik afet tanımına (hastalık yapıcı, zehirleyici ya da ölümcül özellikli canlı organizmalar) ve s. 190 Görsel 6.1'e (yıldırım ya da aşırı sıcakla doğa kaynaklı tehlike) uymaz, ikincisi kitapta yoktur. Bu yüzden ikisi de gerekçeli tartışmalı karttır; OGM'deki yerleşimi söyleyen öğrenciden gerekçe istenir.</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Doğa/insan kaynaklı ayrımını karar sorularıyla özetlemek (yeni karta uygulanabilir yöntem).</a:t>
            </a:r>
          </a:p>
          <a:p/>
          <a:p>
            <a:r>
              <a:t>NASIL: Okları soldan sağa okuyun: önce 'kaynak insan faaliyeti mi?' Sonra doğa dalında üç soru, insan dalında iki soru. Sınama: 'Dolu?' (atmosfer → klimatik-hidrolojik) · 'Böcek istilası?' (canlı → biyolojik) · 'Sanayi kazası?' (teknoloji → teknolojik).</a:t>
            </a:r>
          </a:p>
          <a:p/>
          <a:p>
            <a:r>
              <a:t>BEKLENEN CEVAP: Dolu → klimatik-hidrolojik · böcek istilası → biyolojik · sanayi kazası → teknolojik.</a:t>
            </a:r>
          </a:p>
          <a:p/>
          <a:p>
            <a:r>
              <a:t>KAYNAK: Kitap s. 196 tanımlarındaki kaynak ifadeleri (yer kabuğu, atmosfer olayları, canlı organizmalar, ihtiyaçların karşılanması, teknolojinin amaç dışı kullanımı).</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Kitabın s. 197 uygulaması: 1990-2023 tablosundan en yıkıcı afetleri ve can kaybı farklarının nedenlerini çıkarmak (SBAB11.1 tablo okuma).</a:t>
            </a:r>
          </a:p>
          <a:p/>
          <a:p>
            <a:r>
              <a:t>SÜRE: Bu aşama 14 dk: tablo 3 dk · uzman görevi ve çalışma 6 dk · uzman sayfalarının kontrolü 5 dk (çift başına ~1 dk).</a:t>
            </a:r>
          </a:p>
          <a:p/>
          <a:p>
            <a:r>
              <a:t>NASIL: Tabloyu tüm sınıfa yansıtın; iki soruyu sorun, 1 dakika ikili düşünme, üç cevap alın. Tabloda depremlerin sayısına da dikkat çekin (12 satırın 5'i). Sayılar kitabın tablosundandır; kişisel kayıp anlatımı istenmez.</a:t>
            </a:r>
          </a:p>
          <a:p/>
          <a:p>
            <a:r>
              <a:t>BEKLENEN CEVAP: En çok can kaybı: salgın hastalık (COVID-19) 102.174; depremler toplam 72.408 (beş deprem). Farkların nedenleri: afetin büyüklüğü ve etki alanı, etkilenen yerin nüfus yoğunluğu, yapıların depreme dayanıklılığı ve zemin, afete hazırlık ve erken uyarı, gelişmişlik düzeyi.</a:t>
            </a:r>
          </a:p>
          <a:p/>
          <a:p>
            <a:r>
              <a:t>KAYNAK: Kitap s. 197 tablo ve soru (birebir). Toplamlar tablodan hesaplandı. Nedenler: kitap s. 191 (gelişmişlik seviyesi ve nüfus yoğunluğuna göre farklılık gösterir), s. 190 (dayanıksız yapılar riski artırır); diğerleri bilimsel, 9. sınıf düzeyi.</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s. 197 uygulamasının örnek cevabı.</a:t>
            </a:r>
          </a:p>
          <a:p/>
          <a:p>
            <a:r>
              <a:t>NASIL: Vurgulu satırlar en çok can kaybına yol açanlardır. Toplamları birlikte hesaplayın: depremler 653 + 94 + 17.480 + 644 + 53.537 = 72.408; sel ve taşkın 63 + 31 + 97 = 191; çığ 328 + 42 = 370. Tek olay olarak en büyük kayıp COVID-19 salgınıdır (102.174), sonra Kahramanmaraş depremleri (53.537) ve İzmit Körfezi depremi (17.480). Nedenler sorusunda gerekçeli her cevap kabul; kitabın 30. haftadaki cümlesine bağlayın (s. 191).</a:t>
            </a:r>
          </a:p>
          <a:p/>
          <a:p>
            <a:r>
              <a:t>BEKLENEN CEVAP: En çok can kaybı: salgın hastalık (COVID-19) 102.174; depremler toplam 72.408 (beş deprem). Farkların nedenleri: afetin büyüklüğü ve etki alanı, etkilenen yerin nüfus yoğunluğu, yapıların depreme dayanıklılığı ve zemin, afete hazırlık ve erken uyarı, gelişmişlik düzeyi.</a:t>
            </a:r>
          </a:p>
          <a:p/>
          <a:p>
            <a:r>
              <a:t>KAYNAK: Kitap s. 197 tablo ve soru (birebir). Toplamlar tablodan hesaplandı. Nedenler: kitap s. 191 (gelişmişlik seviyesi ve nüfus yoğunluğuna göre farklılık gösterir), s. 190 (dayanıksız yapılar riski artırır); diğerleri bilimsel, 9. sınıf düzeyi.</a:t>
            </a:r>
          </a:p>
          <a:p/>
          <a:p>
            <a:r>
              <a:t>OGM MATERYAL: OGM Materyal 172 aynı tabloyla iki soru sorar: 'Hangi afet türünün zararları daha fazladır?' ve 'Hangilerinin etki düzeyi daha düşüktür?'. İkisi de kitapta yoktur. Tablo yalnız can kaybı verdiği için burada 'zarar' yerine 'can kaybı' sorulur. İkinci soru isteğe bağlı sözlü uzatmadır; tablodan cevap: Siirt (Şirvan) heyelanı 16, İstanbul ve Tekirdağ seli 31, Bahçesaray çığı 42 can kaybı (dar etki alanı).</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Programın 'Türkiye'de en yıkıcı etkiye sahip afetlerin nedenleri ve dağılışı' çalışması: uzman grup çiftleri (D5.3, SBAB10.3).</a:t>
            </a:r>
          </a:p>
          <a:p/>
          <a:p>
            <a:r>
              <a:t>NASIL: İki grup aynı sayfayı inceler ama ayrı satır doldurur. Her grup 'afet · örnek (s. 197 tablosundan yer-tarih-kayıp) · neden · en sık görüldüğü yerler' satırını yazar; harita okuyucu yerleri duvar haritasında gösterir (yalnız harita okuyucular kalkar). Dolaşım iki tur: 1. turda sayfayı buldular mı, 2. turda satırda neden ve yer var mı? 6 dakika sonra her çiftin sayfası iki slaytla kontrol edilir (sözcü kenar sorusunun cevabını söyler, örnek cevap açılır); satırlar 8. aşamada tahtadaki ortak tabloya geçer.</a:t>
            </a:r>
          </a:p>
          <a:p/>
          <a:p>
            <a:r>
              <a:t>KAYNAK: Program (2026) COĞ.9.6.2: Sonuçları itibarıyla Türkiye'de en yıkıcı etkiye sahip afetler, ilgili kaynaklardan incelenerek bu afetlerin nedenleri ve dağılışları tespit edilir (D5.3, SBAB10.3). Ders planı 31. hafta 7. aşama.</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1-2. grupların uzman sayfası: Türkiye'de depremlerin nedeni ve dağılışı; kenar sorusu.</a:t>
            </a:r>
          </a:p>
          <a:p/>
          <a:p>
            <a:r>
              <a:t>NASIL: Sözcü satırını okur (neden: Akdeniz-Himalaya Deprem Kuşağı ve aktif faylar). Haritada renk deprem tehlikesini gösterir: açık sarı düşük, koyu kırmızı-mor yüksek; halkalar son 100 yılın 7 ve üzeri depremleridir. Sayılar kitabın cümlesiyle, abartısız okunur; kişisel deprem anlatımı istenmez (gerekirse rehberlik servisiyle eşgüdüm).</a:t>
            </a:r>
          </a:p>
          <a:p/>
          <a:p>
            <a:r>
              <a:t>KAYNAK: Kitap s. 198 (birebir), Harita 6.4-6.5.</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s. 198 kenar sorusunun örnek cevabı Harita 6.5'ten.</a:t>
            </a:r>
          </a:p>
          <a:p/>
          <a:p>
            <a:r>
              <a:t>NASIL: Kırmızı rozetler koyu kırmızı-mor kuşaklardır: 1 kuzeyde Marmara'dan Erzincan'a uzanan kuşak (1999 Kocaeli ve Düzce, 1939 Erzincan depremleri bu kuşaktadır), 2 Erzincan-Bingöl'den Malatya, Kahramanmaraş ve Hatay'a uzanan kuşak (2023 depremleri), 3 Ege Bölgesi'ndeki fay hatları, 4 Van ve Hakkâri çevresi. Mavi harfler açık sarı alanlardır: A İç Anadolu'nun orta kesimi (Tuz Gölü-Konya çevresi), B Güneydoğu Anadolu'nun güneyi (Şanlıurfa-Mardin çevresi), C Karadeniz kıyısının bir bölümü. Fay sistemlerinin adları kitapta yer alır: Kuzey Anadolu Fay Sistemi (s. 192, 1999 Gölcük depremi) ve DAF (s. 211, 2023 depremleri); program Batı Anadolu'daki fay hatlarını da sayar — adları sözlü verin. Dikkat: soru 'risk' der, harita TEHLİKEYİ gösterir; risk, dayanıksız yapılar ve kalabalık nüfusla artar (s. 190, 30. hafta).</a:t>
            </a:r>
          </a:p>
          <a:p/>
          <a:p>
            <a:r>
              <a:t>BEKLENEN CEVAP: Haritaya göre en çok: kuzeyde Marmara'dan Erzincan'a uzanan kuşak, doğuda Erzincan-Malatya-Kahramanmaraş-Hatay kuşağı, Ege Bölgesi'ndeki fay hatları, Van-Hakkâri çevresi. En az: İç Anadolu'nun orta kesimi (Tuz Gölü-Konya çevresi), Güneydoğu Anadolu'nun güneyi (Şanlıurfa-Mardin çevresi), Karadeniz kıyısının bir bölümü.</a:t>
            </a:r>
          </a:p>
          <a:p/>
          <a:p>
            <a:r>
              <a:t>KAYNAK: Kitap s. 198 Harita 6.5 (bölgeler haritanın renginden okundu); s. 190 (Bu bölgelerde depreme dirençli olmayan yerleşim alanlarının kurulması afet riskini artırmaktadır.); fay sistemi adları s. 192 ve s. 211; program COĞ.9.6.1 uygulamaları.</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3-4. grupların uzman sayfası: sel ve taşkının afete dönüşmesinde beşerî etken (Dereli) ve kenar sorusu.</a:t>
            </a:r>
          </a:p>
          <a:p/>
          <a:p>
            <a:r>
              <a:t>NASIL: Sözcü satırını okur: neden şiddetli yağış ama ASIL belirleyici faktör dere yatağının daraltılarak yerleşime açılması; dar menfezli iki köprü tıkanmış. Görsel 6.5'te yerleşmenin dere yatağının içine kadar uzandığını gösterin.</a:t>
            </a:r>
          </a:p>
          <a:p/>
          <a:p>
            <a:r>
              <a:t>KAYNAK: Kitap s. 199 (birebir), Görsel 6.5.</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s. 199 kenar sorusunun örnek cevabı ve sel-taşkınların dağılışı (Harita 6.6).</a:t>
            </a:r>
          </a:p>
          <a:p/>
          <a:p>
            <a:r>
              <a:t>NASIL: Önlemleri Dereli örneğine bağlayın: daraltılan yatak ve dar menfezler ters çevrildiğinde önlem olur. Alttaki iki önlem kitabın 32. haftadaki etkinliğinden (s. 208) gelir. Haritada halkalı iller 200 ve üzeri sel-taşkın görülen illerdir; kitap 'Türkiye'nin hemen her yerinde, akarsu yataklarına yakın yerleşmelerde daha sık' der.</a:t>
            </a:r>
          </a:p>
          <a:p/>
          <a:p>
            <a:r>
              <a:t>BEKLENEN CEVAP: Dere yataklarına ve taşkın alanlarına yerleşmemek, yatakları daraltmamak; köprü ve menfezleri yeterli açıklıkta yapmak, yatakları temiz tutmak; havzada ağaçlandırma ve bitki örtüsünü korumak; sel ve taşkın risk haritası hazırlamak, yasal düzenleme yapmak; halkı eğitmek ve uyarıları takip etmek. Haritaya göre 200+: Sivas, Kayseri, Adana, Giresun, Erzurum, Van, Bitlis.</a:t>
            </a:r>
          </a:p>
          <a:p/>
          <a:p>
            <a:r>
              <a:t>KAYNAK: Kitap s. 199 (Dereli; Türkiye’nin hemen her yerinde görülebilen bu olaylar, akarsu yataklarına yakın yerleşmelerde daha sık meydana gelmektedir), s. 208 etkinlik ifadeleri (birebir); ağaçlandırma ve yatak temizliği: bilimsel; kitapta yok. Harita 6.6 sınıfları PDF çizim dolgusundan (lejant kutusuyla aynı renk) okundu.</a:t>
            </a:r>
          </a:p>
          <a:p/>
          <a:p>
            <a:r>
              <a:t>OGM MATERYAL: OGM Materyal 173 aynı kenar sorusunun önlem listesini verir; burada kitapla bağlı olanlar alındı. OGM'deki iki madde düzeltildi: 'taşkın setleri gibi su tutma yapıları' — taşkın seti suyu tutmaz, akarsuyu yatağında tutar (taşkın koruma yapısı); 'tarım alanlarında suyun verimli kullanılması' sel önlemi değildir, alınmadı.</a:t>
            </a:r>
          </a:p>
          <a:p/>
          <a:p>
            <a:r>
              <a:t>OGM MATERYAL: OGM Materyal 176 Harita 6.6'dan on iki il içinden en sık sel görülenleri seçtirir: doğru yedi il Sivas, Giresun, Adana, Erzurum, Van, Kayseri ve Bitlis'tir (haritada 200+ sınıfı); yanlış seçenekler Isparta, Uşak, Kırıkkale, Batman ve Siirt'tir. OGM 'şehir' der, harita il bazındadır.</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5-6. grupların uzman sayfası (1): salgının hızlı yayılmasının ve Türkiye'de salgınların görülmesinin nedenleri; kenar sorusu.</a:t>
            </a:r>
          </a:p>
          <a:p/>
          <a:p>
            <a:r>
              <a:t>NASIL: Sözcü satırını okur: neden kalabalık şehirler, gelişen ulaşım; Türkiye için geçiş güzergâhında olması. Salgın sırasında kayıp yaşamış öğrenci olabilir: kişisel anlatım istenmez; sayı yalnız tablodaki gibi okunur.</a:t>
            </a:r>
          </a:p>
          <a:p/>
          <a:p>
            <a:r>
              <a:t>KAYNAK: Kitap s. 200 (birebir), Görsel 6.6 (COVID-19 salgınının yayılmasını önlemek amacıyla Ortaköy Camii çevresinin dezenfekte edilmesi (23 Mart 2020, İstanbul)).</a:t>
            </a:r>
          </a:p>
          <a:p/>
          <a:p>
            <a:r>
              <a:t>OGM MATERYAL: OGM Materyal 170 aynı s. 200 metnini yedi sözcüklü kelime bankasıyla sorar: Çin'de, COVID-19, pandemiye, şehirlerde, ülke ekonomilerini, coğrafi konumundan, salgın hastalıkların. Uzman grubu metni okurken bu sözcüklerin geçtiği cümleleri işaretleyebilir.</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s. 200 kenar sorusunun (COVID-19 tedbirleri) örnek cevabı.</a:t>
            </a:r>
          </a:p>
          <a:p/>
          <a:p>
            <a:r>
              <a:t>NASIL: Öğrencilerin hatırladıklarını alın; liste örnektir. Görsel 6.6 kitaptaki tek örnektir (kamusal alanların dezenfeksiyonu). Tarih ve sayı vermeyin; kurum adı geçirmeyin.</a:t>
            </a:r>
          </a:p>
          <a:p/>
          <a:p>
            <a:r>
              <a:t>BEKLENEN CEVAP: Maske ve fiziksel mesafe; el yıkama ve temizlik; kalabalık ortamların sınırlandırılması; hastaların ve temaslıların ayrılması (izolasyon, karantina); aşılama; uzaktan eğitim ve çalışma; seyahat kısıtlamaları; kamusal alanların dezenfeksiyonu (Görsel 6.6).</a:t>
            </a:r>
          </a:p>
          <a:p/>
          <a:p>
            <a:r>
              <a:t>KAYNAK: Kitap s. 200 kenar sorusu ve Görsel 6.6; tedbirler: bilimsel; kitapta yok (genel bilgi, tarih ve sayı içermez).</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5-6. grupların uzman sayfası (2): erozyonun sonuçları ve çölleşme riskinin dağılışı; kenar sorusu.</a:t>
            </a:r>
          </a:p>
          <a:p/>
          <a:p>
            <a:r>
              <a:t>NASIL: Sözcü satırını okur: sonuçlar toprak kaybı, baraj ömrünün kısalması, çölleşme ve kırsalda sosyal sorunlar. Haritada yeşil düşük, kırmızı-kahve yüksek risktir; beyaz alanlarda veri yoktur. Erozyon kitapta biyolojik afettir (s. 196) — tartışmaya açılmaz.</a:t>
            </a:r>
          </a:p>
          <a:p/>
          <a:p>
            <a:r>
              <a:t>KAYNAK: Kitap s. 200 (birebir), Harita 6.7 (Çölleşme ve Erozyonla Mücadele Genel Müdürlüğü ve TÜBİTAK-BİLGEM).</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s. 200 kenar sorusunun (çölleşme riski) örnek cevabı Harita 6.7'den.</a:t>
            </a:r>
          </a:p>
          <a:p/>
          <a:p>
            <a:r>
              <a:t>NASIL: Harfleri gösterin: A İç Anadolu'nun orta kesimi (Tuz Gölü ve Konya Ovası çevresi), B Güneydoğu Anadolu'nun güneyi (Suriye sınırı boyunca), C Doğu Anadolu'da Iğdır çevresi. Ortak özellik: az yağış, kurak yazlar, seyrek bitki örtüsü (bilimsel). Kıyı bölgeleri ve Karadeniz yeşildir (düşük risk).</a:t>
            </a:r>
          </a:p>
          <a:p/>
          <a:p>
            <a:r>
              <a:t>BEKLENEN CEVAP: Haritaya göre çölleşme riski yüksek: İç Anadolu'nun orta kesimi (Tuz Gölü-Konya çevresi), Güneydoğu Anadolu'nun güneyi, Doğu Anadolu'da Iğdır çevresi.</a:t>
            </a:r>
          </a:p>
          <a:p/>
          <a:p>
            <a:r>
              <a:t>KAYNAK: Kitap s. 200 Harita 6.7 (bölgeler haritanın renginden okundu; raster harita). Az yağış ve seyrek bitki örtüsü bağlantısı: bilimsel; kitapta yok.</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7-8. grupların uzman sayfası: kitabın s. 201 uygulaması (üç harita, 1. soru) — haritadan çıkarım (SBAB10.3).</a:t>
            </a:r>
          </a:p>
          <a:p/>
          <a:p>
            <a:r>
              <a:t>NASIL: Sözcü her harita için en koyu renkli illerin bulunduğu yeri söyler; harita okuyucu duvar haritasında gösterir. Kitaptaki haritada lejantın en koyu kutusu en sık görülen sınıftır (orman yangını ve heyelanda 1000+, çığda 100+). Cevaplar izleyen üç slaytta, haritalar büyük. Haritalar AFAD ve MGM'nin 1950-2022 verileridir.</a:t>
            </a:r>
          </a:p>
          <a:p/>
          <a:p>
            <a:r>
              <a:t>KAYNAK: Kitap s. 201 UYGULAMA (başlık, yönerge ve 1. soru birebir).</a:t>
            </a:r>
          </a:p>
          <a:p/>
          <a:p>
            <a:r>
              <a:t>OGM MATERYAL: OGM Materyal 175 aynı üç haritayı lejant başlıklarını kapatarak 'hangi harita hangi tehlike?' diye eşleştirir (1 orman yangını · 2 heyelan ve kaya düşmesi · 3 çığ). İsterseniz ilk açılışta başlıkları kapatıp önce bunu sorun. Kitabın iki sorusu OGM'de yoktur.</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s. 201 1. sorunun örnek cevabı — orman yangını haritası.</a:t>
            </a:r>
          </a:p>
          <a:p/>
          <a:p>
            <a:r>
              <a:t>NASIL: Halkalı iller lejantın en koyu sınıfındadır (1000+). Öğrenciler kitapta bu illeri işaretler; sonra 'Bu iller hangi kıyıda ya da bölgede toplanmış?' sorusuyla genellemeye geçin. İstanbul iki parçadır (Avrupa ve Asya yakası); ikisi de en koyu sınıftadır.</a:t>
            </a:r>
          </a:p>
          <a:p/>
          <a:p>
            <a:r>
              <a:t>BEKLENEN CEVAP: Haritaya göre en sık (1000+): İstanbul, İzmir, Muğla, Antalya, Adana — Ege, Akdeniz ve Marmara kıyıları. Ayrıca 500-999: Çanakkale, Balıkesir, Bursa, Aydın, Manisa, Mersin, Hatay, Kahramanmaraş….</a:t>
            </a:r>
          </a:p>
          <a:p/>
          <a:p>
            <a:r>
              <a:t>KAYNAK: Kitap s. 201 haritası (Türkiye’de İller Bazında Gerçekleşen Orman Yangınları Haritası (AFAD, MGM, 1950-2022)). İllerin sınıfı PDF çizim dolgusundan lejant kutusuyla eşlendi; iller, harita izdüşümüne il merkezleri bindirilerek teşhis edildi (modül başı notu; _harita_kilidi her üretimde sınar).</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s. 201 1. sorunun örnek cevabı — heyelan ve kaya düşmesi haritası.</a:t>
            </a:r>
          </a:p>
          <a:p/>
          <a:p>
            <a:r>
              <a:t>NASIL: Halkalı iller lejantın en koyu sınıfındadır (1000+). Öğrenciler kitapta bu illeri işaretler; sonra 'Bu iller hangi kıyıda ya da bölgede toplanmış?' sorusuyla genellemeye geçin. En koyu iki il yan yanadır: Trabzon ve Rize.</a:t>
            </a:r>
          </a:p>
          <a:p/>
          <a:p>
            <a:r>
              <a:t>BEKLENEN CEVAP: Haritaya göre en sık (1000+): Trabzon, Rize — Doğu Karadeniz kıyısı. Ayrıca 500-999: Artvin, Giresun, Zonguldak, Kastamonu; Sivas, Erzincan, Erzurum, Tunceli, Bingöl, Malatya, Kahramanmaraş, Kayseri.</a:t>
            </a:r>
          </a:p>
          <a:p/>
          <a:p>
            <a:r>
              <a:t>KAYNAK: Kitap s. 201 haritası (Türkiye’de İller Bazında Gerçekleşen Heyelan ve Kaya Düşmesi Haritası (AFAD, MGM, 1950-2022)). İllerin sınıfı PDF çizim dolgusundan lejant kutusuyla eşlendi; iller, harita izdüşümüne il merkezleri bindirilerek teşhis edildi (modül başı notu; _harita_kilidi her üretimde sınar).</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s. 201 1. sorunun örnek cevabı — çığ haritası.</a:t>
            </a:r>
          </a:p>
          <a:p/>
          <a:p>
            <a:r>
              <a:t>NASIL: Halkalı iller lejantın en koyu sınıfındadır (100+). Öğrenciler kitapta bu illeri işaretler; sonra 'Bu iller hangi kıyıda ya da bölgede toplanmış?' sorusuyla genellemeye geçin. Dikkat: haritada Van en açık sınıftadır ('0'); oysa kitap s. 189 ve s. 197 tablosu Bahçesaray (Van) çığını (4-5 Şubat 2020, 42 can kaybı) verir — haritanın verisi ile tablo çelişir. Sınıfta haritanın okunuşu esastır; öğrenci sorarsa çelişkiyi açıkça söyleyin.</a:t>
            </a:r>
          </a:p>
          <a:p/>
          <a:p>
            <a:r>
              <a:t>BEKLENEN CEVAP: Haritaya göre en sık (100+): Tunceli, Bingöl, Bitlis — Doğu Anadolu'nun yüksek kesimleri. Ayrıca 50-99: Erzurum, Bayburt, Trabzon, Elazığ, Malatya, Hakkâri.</a:t>
            </a:r>
          </a:p>
          <a:p/>
          <a:p>
            <a:r>
              <a:t>KAYNAK: Kitap s. 201 haritası (Türkiye’de İller Bazında Gerçekleşen Çığ Olayları Haritası (AFAD, MGM, 1950-2022)). İllerin sınıfı PDF çizim dolgusundan lejant kutusuyla eşlendi; iller, harita izdüşümüne il merkezleri bindirilerek teşhis edildi (modül başı notu; _harita_kilidi her üretimde sınar).</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s. 201 2. soru: olayların sık görüldüğü yerlerle o yerlerin coğrafi özellikleri arasındaki ilişkiyi kurmak.</a:t>
            </a:r>
          </a:p>
          <a:p/>
          <a:p>
            <a:r>
              <a:t>NASIL: Halkalı illeri gösterin: 'Bu illerde iklim, yer şekilleri ve bitki örtüsü nasıl?' İkili düşünme 1 dk, üç cevap. 3. ünitenin iklim ve yer şekilleri bilgisine bağlayın.</a:t>
            </a:r>
          </a:p>
          <a:p/>
          <a:p>
            <a:r>
              <a:t>KAYNAK: Kitap s. 201 2. soru (birebir).</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s. 201 2. sorunun örnek cevabı: üç olayın coğrafi özelliklerle ilişkisi.</a:t>
            </a:r>
          </a:p>
          <a:p/>
          <a:p>
            <a:r>
              <a:t>NASIL: Her kartı halkalı bölgeye bağlayın. Orman yangınında insan etkisini de söyleyin: yangınların bir kısmını insan çıkarır (dikkatsizlik, ihmal) ve kıyılarda nüfus, tarım ve turizm yoğundur. Gerekçeli her cevap kabul.</a:t>
            </a:r>
          </a:p>
          <a:p/>
          <a:p>
            <a:r>
              <a:t>BEKLENEN CEVAP: Orman yangını: yazları sıcak ve kurak Akdeniz iklimi, geniş ve kolay tutuşan çam ormanları, rüzgâr; kıyılarda nüfus ve turizm yoğunluğu. Heyelan: Doğu Karadeniz'de dik ve eğimli yamaçlar, her mevsim bol yağış, suya doygun kalın toprak; yamaçlarda yerleşme ve yol yapımı. Çığ: Doğu Anadolu'da yükselti fazla, kışlar uzun ve karlı, kar örtüsü kalın ve uzun süre kalır; dik ve bitki örtüsü zayıf yamaçlar.</a:t>
            </a:r>
          </a:p>
          <a:p/>
          <a:p>
            <a:r>
              <a:t>KAYNAK: Kitap s. 201 2. soru; ilişkiler bilimsel, 9. sınıf düzeyi (kitap ilişkiyi soru olarak bırakır; iklim ve yer şekilleri 3. ünite).</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Dört uzman alanının satırlarını tahtada tek tabloda birleştirmek; deftere geçirmek.</a:t>
            </a:r>
          </a:p>
          <a:p/>
          <a:p>
            <a:r>
              <a:t>SÜRE: Bu aşama 6 dk: ortak tablo 2 dk · INFORM 2 dk · iki yoklama 2 dk.</a:t>
            </a:r>
          </a:p>
          <a:p/>
          <a:p>
            <a:r>
              <a:t>NASIL: Dört alandan birer sözcü satırını okur; tahtadaki tabloya yazın, diğerleri deftere geçirir.</a:t>
            </a:r>
          </a:p>
          <a:p/>
          <a:p>
            <a:r>
              <a:t>BEKLENEN CEVAP: Deprem: Kahramanmaraş 2023 (53.537), İzmit Körfezi 1999 (17.480); neden Akdeniz-Himalaya Deprem Kuşağı, aktif faylar; dayanıksız yapılar; dağılış Fay hatları boyunca: kuzey, doğu ve batı kuşakları · Sel ve taşkın: Batı Karadeniz 2021 (97), İzmir 1995 (63); neden Şiddetli yağış; dere yatağının daraltılması, dar menfezler; dağılış Hemen her yer; akarsu yataklarına yakın yerleşmeler · Salgın hastalık: COVID-19, Mart 2020-Mart 2023 (102.174); neden Kalabalık şehirler, gelişen ulaşım, geçiş güzergâhı; dağılış Ülkenin tamamı · Erozyon: Tabloda yok; neden Toprak örtüsünün taşınması; çölleşme; dağılış Çölleşme riski: İç Anadolu, Güneydoğu'nun güneyi, Iğdır · Çığ, heyelan, orman yangını: Çığ: Güneydoğu Anadolu 1992 (328); heyelan: Şirvan 2016 (16); neden Yükselti ve kar; dik yamaç ve bol yağış; kurak yaz ve orman; dağılış Doğu Anadolu; Doğu Karadeniz; Ege-Akdeniz kıyıları</a:t>
            </a:r>
          </a:p>
          <a:p/>
          <a:p>
            <a:r>
              <a:t>KAYNAK: Kitap s. 197 tablosu, s. 198-201 metinleri ve haritaları (uzman sayfaları).</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Dört uzman alanının satırlarını tahtada tek tabloda birleştirmek; deftere geçirmek.</a:t>
            </a:r>
          </a:p>
          <a:p/>
          <a:p>
            <a:r>
              <a:t>NASIL: Tablo tahtadakiyle karşılaştırılır; eksik hücreler tamamlanır. 'En yıkıcı' ölçütü can kaybıdır (s. 197 tablosu); erozyon tabloda yer almaz ama uzun vadede toprak ve su kaynaklarını yok eder.</a:t>
            </a:r>
          </a:p>
          <a:p/>
          <a:p>
            <a:r>
              <a:t>BEKLENEN CEVAP: Deprem: Kahramanmaraş 2023 (53.537), İzmit Körfezi 1999 (17.480); neden Akdeniz-Himalaya Deprem Kuşağı, aktif faylar; dayanıksız yapılar; dağılış Fay hatları boyunca: kuzey, doğu ve batı kuşakları · Sel ve taşkın: Batı Karadeniz 2021 (97), İzmir 1995 (63); neden Şiddetli yağış; dere yatağının daraltılması, dar menfezler; dağılış Hemen her yer; akarsu yataklarına yakın yerleşmeler · Salgın hastalık: COVID-19, Mart 2020-Mart 2023 (102.174); neden Kalabalık şehirler, gelişen ulaşım, geçiş güzergâhı; dağılış Ülkenin tamamı · Erozyon: Tabloda yok; neden Toprak örtüsünün taşınması; çölleşme; dağılış Çölleşme riski: İç Anadolu, Güneydoğu'nun güneyi, Iğdır · Çığ, heyelan, orman yangını: Çığ: Güneydoğu Anadolu 1992 (328); heyelan: Şirvan 2016 (16); neden Yükselti ve kar; dik yamaç ve bol yağış; kurak yaz ve orman; dağılış Doğu Anadolu; Doğu Karadeniz; Ege-Akdeniz kıyıları</a:t>
            </a:r>
          </a:p>
          <a:p/>
          <a:p>
            <a:r>
              <a:t>KAYNAK: Kitap s. 197 tablosu, s. 198-201 metinleri ve haritaları (uzman sayfaları).</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s. 197 kenar sorusu: Harita 6.3'ten Türkiye'nin INFORM risk sınıfını okumak (SBAB10.3).</a:t>
            </a:r>
          </a:p>
          <a:p/>
          <a:p>
            <a:r>
              <a:t>NASIL: Lejantı birlikte okuyun: beş sınıf, 0-10 puan. Öğrenciler Türkiye'nin rengini lejantla karşılaştırır, mini kâğıda sınıfı yazar.</a:t>
            </a:r>
          </a:p>
          <a:p/>
          <a:p>
            <a:r>
              <a:t>KAYNAK: Kitap s. 197 metni ve kenar sorusu (birebir), Harita 6.3.</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s. 197 kenar sorusunun cevabı.</a:t>
            </a:r>
          </a:p>
          <a:p/>
          <a:p>
            <a:r>
              <a:t>NASIL: Halkalı ülke Türkiye'dir; rengi lejantın üçüncü kutusuyla (Orta, 3,5-5) aynıdır. INFORM bir ülkenin tehlikelere maruziyetini, savunmasızlığını ve baş etme kapasitesinin eksikliğini birlikte değerlendirir — 30. haftanın tehlike, maruziyet ve güvenlik açığı kavramlarına bağlayın. Türkiye'nin yakın çevresinde daha yüksek sınıfta ülkeler bulunduğunu haritada gösterin (kitabın 'insani krizler' cümlesi); ülke adı ve siyasi yorum vermeyin.</a:t>
            </a:r>
          </a:p>
          <a:p/>
          <a:p>
            <a:r>
              <a:t>BEKLENEN CEVAP: Haritaya göre Türkiye 'Orta' risk grubundadır (INFORM puanı 3,5-5 aralığı).</a:t>
            </a:r>
          </a:p>
          <a:p/>
          <a:p>
            <a:r>
              <a:t>KAYNAK: Kitap s. 197 Harita 6.3 (Türkiye'nin dolgu rengi PDF'te lejantın 'Orta' kutusuyla aynı; _harita_kilidi sınar). INFORM'un bileşenleri: bilimsel; kitapta yok.</a:t>
            </a:r>
          </a:p>
          <a:p/>
          <a:p>
            <a:r>
              <a:t>OGM MATERYAL: OGM Materyal 171 aynı soruyu sorar ve aynı cevabı verir: Türkiye 3,5-5 aralığında, orta riskli. OGM'nin soru cümlesinde 'göre' iki kez geçer; burada kitabın kenar sorusu kullanıldı.</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Ara yoklama: bu bölümün temel sonucunu tek soruyla yoklamak.</a:t>
            </a:r>
          </a:p>
          <a:p/>
          <a:p>
            <a:r>
              <a:t>NASIL: Öğrenciler 20 saniye düşünür, parmakla (1-5 = A-E) ya da mini kâğıtla cevap gösterir; dağılıma bakıp cevap slaytına geçin. B'yi seçen olursa: nüfus depremi oluşturmaz, can kaybını artırır (maruziyet).</a:t>
            </a:r>
          </a:p>
          <a:p/>
          <a:p>
            <a:r>
              <a:t>BEKLENEN CEVAP: C) Akdeniz-Himalaya Deprem Kuşağı'nda yer alması</a:t>
            </a:r>
          </a:p>
          <a:p/>
          <a:p>
            <a:r>
              <a:t>KAYNAK: Kitap s. 198.</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Doğru seçeneği gerekçesiyle göstermek.</a:t>
            </a:r>
          </a:p>
          <a:p/>
          <a:p>
            <a:r>
              <a:t>NASIL: Gerekçeyi bir öğrenciye okutun; yanlış seçeneklerden birinin neden yanlış olduğunu sorun.</a:t>
            </a:r>
          </a:p>
          <a:p/>
          <a:p>
            <a:r>
              <a:t>SÖYLENEBİLİR: Türkiye, Akdeniz-Himalaya Deprem Kuşağı’nda yer aldığından ülkenin hemen her bölgesinde çok sayıda fay hattı oluşmuştur.</a:t>
            </a:r>
          </a:p>
          <a:p/>
          <a:p>
            <a:r>
              <a:t>BEKLENEN CEVAP: C) Akdeniz-Himalaya Deprem Kuşağı'nda yer alması</a:t>
            </a:r>
          </a:p>
          <a:p/>
          <a:p>
            <a:r>
              <a:t>KAYNAK: Kitap s. 198.</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Ara yoklama: bu bölümün temel sonucunu tek soruyla yoklamak.</a:t>
            </a:r>
          </a:p>
          <a:p/>
          <a:p>
            <a:r>
              <a:t>NASIL: Öğrenciler 20 saniye düşünür, parmakla (1-5 = A-E) ya da mini kâğıtla cevap gösterir; dağılıma bakıp cevap slaytına geçin. Yanlış çoğunluktaysa çığ cevap slaytına dönün (89-105).</a:t>
            </a:r>
          </a:p>
          <a:p/>
          <a:p>
            <a:r>
              <a:t>BEKLENEN CEVAP: A) Doğu Anadolu</a:t>
            </a:r>
          </a:p>
          <a:p/>
          <a:p>
            <a:r>
              <a:t>KAYNAK: Kitap s. 201 çığ haritası (sınıflar PDF çizim dolgusundan okundu).</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Doğru seçeneği gerekçesiyle göstermek.</a:t>
            </a:r>
          </a:p>
          <a:p/>
          <a:p>
            <a:r>
              <a:t>NASIL: Gerekçeyi bir öğrenciye okutun; yanlış seçeneklerden birinin neden yanlış olduğunu sorun.</a:t>
            </a:r>
          </a:p>
          <a:p/>
          <a:p>
            <a:r>
              <a:t>SÖYLENEBİLİR: Haritaya göre en koyu sınıf (100+) Tunceli, Bingöl ve Bitlis'tir: Doğu Anadolu'nun yüksek ve karlı kesimleri.</a:t>
            </a:r>
          </a:p>
          <a:p/>
          <a:p>
            <a:r>
              <a:t>BEKLENEN CEVAP: A) Doğu Anadolu</a:t>
            </a:r>
          </a:p>
          <a:p/>
          <a:p>
            <a:r>
              <a:t>KAYNAK: Kitap s. 201 çığ haritası (sınıflar PDF çizim dolgusundan okundu).</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Programın öğrenme kanıtı: yapılandırılmış grid (P2 beceri temelli kısa görev; bireysel).</a:t>
            </a:r>
          </a:p>
          <a:p/>
          <a:p>
            <a:r>
              <a:t>SÜRE: Bu aşama 8 dk: yönerge 1 dk · bireysel 5 dk · eş kontrolü 1 dk (yalnız işaret, düzeltme yok) · toplama ve cevap slaytı 1 dk.</a:t>
            </a:r>
          </a:p>
          <a:p/>
          <a:p>
            <a:r>
              <a:t>NASIL: Grid yaprağını dağıtın: 12 kutu ve 8 soru (sonraki slayt). Cevaplar kutu NUMARASIYLA yazılır; 6 ve 7. soruda bir cümle gerekçe istenir. Kitap açık değildir; 7 ve 8. soru için s. 197 ve s. 211 tabloları yansıtılabilir (8. soru ünite sonu ölçme sayfasındaki tablodandır). Yazıcılar yaprakları toplar; cevap slaytı yapraklar toplandıktan sonra açılır.</a:t>
            </a:r>
          </a:p>
          <a:p/>
          <a:p>
            <a:r>
              <a:t>KAYNAK: Program (2026) COĞ.9.6.2: Öğrencilerin bu süreçteki öğrenmeleri yapılandırılmış gridle değerlendirilebilir. Kutular ve cevaplar yalnız kitaptan (s. 196-197, 211).</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Gridin sekiz sorusu.</a:t>
            </a:r>
          </a:p>
          <a:p/>
          <a:p>
            <a:r>
              <a:t>NASIL: Soruları bir kez okuyun; öğrenciler yaprağa kutu numarasını yazar. Bu slayt 5 dakika açık kalır. 6. soru 'doğa kaynaklı afetlerin TÜMÜ' der: biyolojikler de girer (kitabın sınıflandırması).</a:t>
            </a:r>
          </a:p>
          <a:p/>
          <a:p>
            <a:r>
              <a:t>KAYNAK: Ders planı 31. hafta materyal listesi (grid yaprağı).</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Gridin cevapları (yapraklar toplandıktan sonra).</a:t>
            </a:r>
          </a:p>
          <a:p/>
          <a:p>
            <a:r>
              <a:t>NASIL: Kutuların rengi türü gösterir. 7. soruda tek olay olarak da cevap aynıdır: COVID-19 (102.174) ve Kahramanmaraş depremleri (53.537). 8. soruda 'afet sayısı' ile 'etkilenen insan sayısı' karıştırılmamalı: en çok afet ulaşım kazasıdır (3.548), en çok insanı etkileyen seldir. Gerekçe cümleleri açık fikirlilik ve sistematiklik gözlemine girer.</a:t>
            </a:r>
          </a:p>
          <a:p/>
          <a:p>
            <a:r>
              <a:t>BEKLENEN CEVAP: (1) 1, 2 · (2) 3, 4 · (3) 5, 6 · (4) 7, 8, 9 · (5) 10, 11, 12 · (6) 1-6 · (7) 1, 6 · (8) 4. Gerekçeler: (6) Kaynakları yer kabuğu, atmosfer ve canlı organizmalardır; insan faaliyetinden doğmazlar. (7) Salgın hastalık (COVID-19) 102.174; depremler toplam 72.408. (8) Sel: 1.650 milyon kişi (kuraklık 1.430, fırtına 727).</a:t>
            </a:r>
          </a:p>
          <a:p/>
          <a:p>
            <a:r>
              <a:t>KAYNAK: Kitap s. 196 (türler), s. 197 tablosu (toplamlar hesaplandı), s. 211 tablosu (2000-2019 Yılları Arasında Meydana Gelen Afet Sayısı ve Etkilenen Kişi Sayısı; ulaşım kazaları 3.548).</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Engelliler Haftası (10-16 Mayıs) ile 33. haftanın savunmasız gruplar konusuna köprü.</a:t>
            </a:r>
          </a:p>
          <a:p/>
          <a:p>
            <a:r>
              <a:t>SÜRE: Kapanış 4 dk: soru 1 dk · çıkış kartı 2 dk · ev ve duyuru 1 dk.</a:t>
            </a:r>
          </a:p>
          <a:p/>
          <a:p>
            <a:r>
              <a:t>NASIL: Soruyu sorun, iki cevap alın. Kitabın cümlesi 33. haftada işlenecek (s. 203): savunmasız gruplar afetlerin olumsuz etkilerine daha fazla maruz kalır. Kişisel örnek istemeyin.</a:t>
            </a:r>
          </a:p>
          <a:p/>
          <a:p>
            <a:r>
              <a:t>BEKLENEN CEVAP: Hayır. Afetlerin oluşturduğu bu etki, afete maruz kalan herkeste aynı şekilde gerçekleşmemektedir. Örneğin savunmasız gruplar (yaşlılar, kadınlar, çocuklar, özel gereksinimi olan bireyler vb.) afetlerin olumsuz etkilerine daha fazla maruz kalmaktadır.</a:t>
            </a:r>
          </a:p>
          <a:p/>
          <a:p>
            <a:r>
              <a:t>KAYNAK: Kitap s. 203 (birebir; 33. hafta); Engelliler Haftası 10-16 Mayıs (SEY EK-8; ders planı notları).</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Haftanın üç çıkış sorusu (ders planı).</a:t>
            </a:r>
          </a:p>
          <a:p/>
          <a:p>
            <a:r>
              <a:t>NASIL: Öğrenciler kâğıda yazar (2 dk); yazıcılar kartları ve grid yapraklarını teslim eder. Kartlar P2 katılım gözlemine işlenir.</a:t>
            </a:r>
          </a:p>
          <a:p/>
          <a:p>
            <a:r>
              <a:t>BEKLENEN CEVAP: 1) jeolojik (deprem, volkanik faaliyet), klimatik-hidrolojik (kuraklık, sel), biyolojik (salgın hastalık; kitap erozyonu da bu başlıkta sayar). · 2) sosyal (savaş, terör saldırısı, göç), teknolojik (maden kazası, nükleer santral kazası, ulaşım kazası). · 3) dere yatağının daraltılarak yerleşime açılması; akarsu yataklarına yakın yerleşme; menfez açıklığı dar köprüler (Dereli örneği).</a:t>
            </a:r>
          </a:p>
          <a:p/>
          <a:p>
            <a:r>
              <a:t>KAYNAK: Ders planı 31. hafta ölçme bölümü; kitap s. 196, 199.</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Ev çalışmasını ve kısa haftayı duyurmak.</a:t>
            </a:r>
          </a:p>
          <a:p/>
          <a:p>
            <a:r>
              <a:t>NASIL: Tahtaya da yazın. Ev çalışması hafiftir: yalnız çalışma kâğıdının 2. bölümü (beş soru); bayram haftası ailenindir. Kontrol 33. haftada cevap anahtarıyla yapılır (32. hafta kısa). Getirilen haberler panoya asılır; malzeme sorumluları zarfları sayarak teslim eder.</a:t>
            </a:r>
          </a:p>
          <a:p/>
          <a:p>
            <a:r>
              <a:t>KAYNAK: Ders planı 31. hafta ev çalışması (COG9-CK-U6 Bölüm 2, 6-10) ve notlar (Kurban Bayramı 15-19 Mayıs 2027; bayram öncesi ek ödev verilmez).</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tr-TR" smtClean="0"/>
              <a:t>Click to edit Master title style</a:t>
            </a:r>
            <a:endParaRPr lang="tr-TR"/>
          </a:p>
        </p:txBody>
      </p:sp>
      <p:sp>
        <p:nvSpPr>
          <p:cNvPr id="3" name="Subtitle 2"/>
          <p:cNvSpPr>
            <a:spLocks noGrp="1"/>
          </p:cNvSpPr>
          <p:nvPr>
            <p:ph type="subTitle" idx="1"/>
          </p:nvPr>
        </p:nvSpPr>
        <p:spPr>
          <a:xfrm>
            <a:off x="1371600" y="3886200"/>
            <a:ext cx="6400800" cy="1752600"/>
          </a:xfrm>
        </p:spPr>
        <p:txBody>
          <a:bodyPr/>
          <a:lstStyle>
            <a:lvl1pPr marL="0" indent="0" algn="ctr">
              <a:buNone/>
              <a:defRPr lang="tr-TR">
                <a:solidFill>
                  <a:schemeClr val="tx1">
                    <a:tint val="75000"/>
                  </a:schemeClr>
                </a:solidFill>
              </a:defRPr>
            </a:lvl1pPr>
            <a:lvl2pPr marL="457200" indent="0" algn="ctr">
              <a:buNone/>
              <a:defRPr lang="tr-TR">
                <a:solidFill>
                  <a:schemeClr val="tx1">
                    <a:tint val="75000"/>
                  </a:schemeClr>
                </a:solidFill>
              </a:defRPr>
            </a:lvl2pPr>
            <a:lvl3pPr marL="914400" indent="0" algn="ctr">
              <a:buNone/>
              <a:defRPr lang="tr-TR">
                <a:solidFill>
                  <a:schemeClr val="tx1">
                    <a:tint val="75000"/>
                  </a:schemeClr>
                </a:solidFill>
              </a:defRPr>
            </a:lvl3pPr>
            <a:lvl4pPr marL="1371600" indent="0" algn="ctr">
              <a:buNone/>
              <a:defRPr lang="tr-TR">
                <a:solidFill>
                  <a:schemeClr val="tx1">
                    <a:tint val="75000"/>
                  </a:schemeClr>
                </a:solidFill>
              </a:defRPr>
            </a:lvl4pPr>
            <a:lvl5pPr marL="1828800" indent="0" algn="ctr">
              <a:buNone/>
              <a:defRPr lang="tr-TR">
                <a:solidFill>
                  <a:schemeClr val="tx1">
                    <a:tint val="75000"/>
                  </a:schemeClr>
                </a:solidFill>
              </a:defRPr>
            </a:lvl5pPr>
            <a:lvl6pPr marL="2286000" indent="0" algn="ctr">
              <a:buNone/>
              <a:defRPr lang="tr-TR">
                <a:solidFill>
                  <a:schemeClr val="tx1">
                    <a:tint val="75000"/>
                  </a:schemeClr>
                </a:solidFill>
              </a:defRPr>
            </a:lvl6pPr>
            <a:lvl7pPr marL="2743200" indent="0" algn="ctr">
              <a:buNone/>
              <a:defRPr lang="tr-TR">
                <a:solidFill>
                  <a:schemeClr val="tx1">
                    <a:tint val="75000"/>
                  </a:schemeClr>
                </a:solidFill>
              </a:defRPr>
            </a:lvl7pPr>
            <a:lvl8pPr marL="3200400" indent="0" algn="ctr">
              <a:buNone/>
              <a:defRPr lang="tr-TR">
                <a:solidFill>
                  <a:schemeClr val="tx1">
                    <a:tint val="75000"/>
                  </a:schemeClr>
                </a:solidFill>
              </a:defRPr>
            </a:lvl8pPr>
            <a:lvl9pPr marL="3657600" indent="0" algn="ctr">
              <a:buNone/>
              <a:defRPr lang="tr-TR">
                <a:solidFill>
                  <a:schemeClr val="tx1">
                    <a:tint val="75000"/>
                  </a:schemeClr>
                </a:solidFill>
              </a:defRPr>
            </a:lvl9pPr>
          </a:lstStyle>
          <a:p>
            <a:r>
              <a:rPr lang="tr-TR" smtClean="0"/>
              <a:t>Click to edit Master subtitle style</a:t>
            </a:r>
            <a:endParaRPr lang="tr-T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Click to edit Master title style</a:t>
            </a:r>
            <a:endParaRPr lang="tr-TR"/>
          </a:p>
        </p:txBody>
      </p:sp>
      <p:sp>
        <p:nvSpPr>
          <p:cNvPr id="3" name="Content Placeholder 2"/>
          <p:cNvSpPr>
            <a:spLocks noGrp="1"/>
          </p:cNvSpPr>
          <p:nvPr>
            <p:ph idx="1"/>
          </p:nvPr>
        </p:nvSpPr>
        <p:spPr/>
        <p:txBody>
          <a:body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lang="tr-TR" sz="4000" b="1" cap="all"/>
            </a:lvl1pPr>
          </a:lstStyle>
          <a:p>
            <a:r>
              <a:rPr lang="tr-TR" smtClean="0"/>
              <a:t>Click to edit Master title style</a:t>
            </a:r>
            <a:endParaRPr lang="tr-TR"/>
          </a:p>
        </p:txBody>
      </p:sp>
      <p:sp>
        <p:nvSpPr>
          <p:cNvPr id="3" name="Text Placeholder 2"/>
          <p:cNvSpPr>
            <a:spLocks noGrp="1"/>
          </p:cNvSpPr>
          <p:nvPr>
            <p:ph type="body" idx="1"/>
          </p:nvPr>
        </p:nvSpPr>
        <p:spPr>
          <a:xfrm>
            <a:off x="722313" y="2906713"/>
            <a:ext cx="7772400" cy="1500187"/>
          </a:xfrm>
        </p:spPr>
        <p:txBody>
          <a:bodyPr anchor="b"/>
          <a:lstStyle>
            <a:lvl1pPr marL="0" indent="0">
              <a:buNone/>
              <a:defRPr lang="tr-TR" sz="2000">
                <a:solidFill>
                  <a:schemeClr val="tx1">
                    <a:tint val="75000"/>
                  </a:schemeClr>
                </a:solidFill>
              </a:defRPr>
            </a:lvl1pPr>
            <a:lvl2pPr marL="457200" indent="0">
              <a:buNone/>
              <a:defRPr lang="tr-TR" sz="1800">
                <a:solidFill>
                  <a:schemeClr val="tx1">
                    <a:tint val="75000"/>
                  </a:schemeClr>
                </a:solidFill>
              </a:defRPr>
            </a:lvl2pPr>
            <a:lvl3pPr marL="914400" indent="0">
              <a:buNone/>
              <a:defRPr lang="tr-TR" sz="1600">
                <a:solidFill>
                  <a:schemeClr val="tx1">
                    <a:tint val="75000"/>
                  </a:schemeClr>
                </a:solidFill>
              </a:defRPr>
            </a:lvl3pPr>
            <a:lvl4pPr marL="1371600" indent="0">
              <a:buNone/>
              <a:defRPr lang="tr-TR" sz="1400">
                <a:solidFill>
                  <a:schemeClr val="tx1">
                    <a:tint val="75000"/>
                  </a:schemeClr>
                </a:solidFill>
              </a:defRPr>
            </a:lvl4pPr>
            <a:lvl5pPr marL="1828800" indent="0">
              <a:buNone/>
              <a:defRPr lang="tr-TR" sz="1400">
                <a:solidFill>
                  <a:schemeClr val="tx1">
                    <a:tint val="75000"/>
                  </a:schemeClr>
                </a:solidFill>
              </a:defRPr>
            </a:lvl5pPr>
            <a:lvl6pPr marL="2286000" indent="0">
              <a:buNone/>
              <a:defRPr lang="tr-TR" sz="1400">
                <a:solidFill>
                  <a:schemeClr val="tx1">
                    <a:tint val="75000"/>
                  </a:schemeClr>
                </a:solidFill>
              </a:defRPr>
            </a:lvl6pPr>
            <a:lvl7pPr marL="2743200" indent="0">
              <a:buNone/>
              <a:defRPr lang="tr-TR" sz="1400">
                <a:solidFill>
                  <a:schemeClr val="tx1">
                    <a:tint val="75000"/>
                  </a:schemeClr>
                </a:solidFill>
              </a:defRPr>
            </a:lvl7pPr>
            <a:lvl8pPr marL="3200400" indent="0">
              <a:buNone/>
              <a:defRPr lang="tr-TR" sz="1400">
                <a:solidFill>
                  <a:schemeClr val="tx1">
                    <a:tint val="75000"/>
                  </a:schemeClr>
                </a:solidFill>
              </a:defRPr>
            </a:lvl8pPr>
            <a:lvl9pPr marL="3657600" indent="0">
              <a:buNone/>
              <a:defRPr lang="tr-TR" sz="1400">
                <a:solidFill>
                  <a:schemeClr val="tx1">
                    <a:tint val="75000"/>
                  </a:schemeClr>
                </a:solidFill>
              </a:defRPr>
            </a:lvl9pPr>
          </a:lstStyle>
          <a:p>
            <a:pPr lvl="0"/>
            <a:r>
              <a:rPr lang="tr-TR"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Click to edit Master title style</a:t>
            </a:r>
            <a:endParaRPr lang="tr-TR"/>
          </a:p>
        </p:txBody>
      </p:sp>
      <p:sp>
        <p:nvSpPr>
          <p:cNvPr id="3" name="Content Placeholder 2"/>
          <p:cNvSpPr>
            <a:spLocks noGrp="1"/>
          </p:cNvSpPr>
          <p:nvPr>
            <p:ph sz="half" idx="1"/>
          </p:nvPr>
        </p:nvSpPr>
        <p:spPr>
          <a:xfrm>
            <a:off x="457200" y="1600200"/>
            <a:ext cx="4038600" cy="4525963"/>
          </a:xfrm>
        </p:spPr>
        <p:txBody>
          <a:bodyPr/>
          <a:lstStyle>
            <a:lvl1pPr>
              <a:defRPr lang="tr-TR" sz="2800"/>
            </a:lvl1pPr>
            <a:lvl2pPr>
              <a:defRPr lang="tr-TR" sz="2400"/>
            </a:lvl2pPr>
            <a:lvl3pPr>
              <a:defRPr lang="tr-TR" sz="2000"/>
            </a:lvl3pPr>
            <a:lvl4pPr>
              <a:defRPr lang="tr-TR" sz="1800"/>
            </a:lvl4pPr>
            <a:lvl5pPr>
              <a:defRPr lang="tr-TR" sz="1800"/>
            </a:lvl5pPr>
            <a:lvl6pPr>
              <a:defRPr lang="tr-TR" sz="1800"/>
            </a:lvl6pPr>
            <a:lvl7pPr>
              <a:defRPr lang="tr-TR" sz="1800"/>
            </a:lvl7pPr>
            <a:lvl8pPr>
              <a:defRPr lang="tr-TR" sz="1800"/>
            </a:lvl8pPr>
            <a:lvl9pPr>
              <a:defRPr lang="tr-TR" sz="18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Content Placeholder 3"/>
          <p:cNvSpPr>
            <a:spLocks noGrp="1"/>
          </p:cNvSpPr>
          <p:nvPr>
            <p:ph sz="half" idx="2"/>
          </p:nvPr>
        </p:nvSpPr>
        <p:spPr>
          <a:xfrm>
            <a:off x="4648200" y="1600200"/>
            <a:ext cx="4038600" cy="4525963"/>
          </a:xfrm>
        </p:spPr>
        <p:txBody>
          <a:bodyPr/>
          <a:lstStyle>
            <a:lvl1pPr>
              <a:defRPr lang="tr-TR" sz="2800"/>
            </a:lvl1pPr>
            <a:lvl2pPr>
              <a:defRPr lang="tr-TR" sz="2400"/>
            </a:lvl2pPr>
            <a:lvl3pPr>
              <a:defRPr lang="tr-TR" sz="2000"/>
            </a:lvl3pPr>
            <a:lvl4pPr>
              <a:defRPr lang="tr-TR" sz="1800"/>
            </a:lvl4pPr>
            <a:lvl5pPr>
              <a:defRPr lang="tr-TR" sz="1800"/>
            </a:lvl5pPr>
            <a:lvl6pPr>
              <a:defRPr lang="tr-TR" sz="1800"/>
            </a:lvl6pPr>
            <a:lvl7pPr>
              <a:defRPr lang="tr-TR" sz="1800"/>
            </a:lvl7pPr>
            <a:lvl8pPr>
              <a:defRPr lang="tr-TR" sz="1800"/>
            </a:lvl8pPr>
            <a:lvl9pPr>
              <a:defRPr lang="tr-TR" sz="18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5" name="Date Placeholder 4"/>
          <p:cNvSpPr>
            <a:spLocks noGrp="1"/>
          </p:cNvSpPr>
          <p:nvPr>
            <p:ph type="dt" sz="half" idx="10"/>
          </p:nvPr>
        </p:nvSpPr>
        <p:spPr/>
        <p:txBody>
          <a:bodyPr/>
          <a:lstStyle/>
          <a:p>
            <a:fld id="{5BCAD085-E8A6-8845-BD4E-CB4CCA059FC4}" type="datetimeFigureOut">
              <a:rPr lang="tr-TR" smtClean="0"/>
              <a:t>1/27/13</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lang="tr-TR"/>
            </a:lvl1pPr>
          </a:lstStyle>
          <a:p>
            <a:r>
              <a:rPr lang="tr-TR" smtClean="0"/>
              <a:t>Click to edit Master title style</a:t>
            </a:r>
            <a:endParaRPr lang="tr-TR"/>
          </a:p>
        </p:txBody>
      </p:sp>
      <p:sp>
        <p:nvSpPr>
          <p:cNvPr id="3" name="Text Placeholder 2"/>
          <p:cNvSpPr>
            <a:spLocks noGrp="1"/>
          </p:cNvSpPr>
          <p:nvPr>
            <p:ph type="body" idx="1"/>
          </p:nvPr>
        </p:nvSpPr>
        <p:spPr>
          <a:xfrm>
            <a:off x="457200" y="1535113"/>
            <a:ext cx="4040188" cy="639762"/>
          </a:xfrm>
        </p:spPr>
        <p:txBody>
          <a:bodyPr anchor="b"/>
          <a:lstStyle>
            <a:lvl1pPr marL="0" indent="0">
              <a:buNone/>
              <a:defRPr lang="tr-TR" sz="2400" b="1"/>
            </a:lvl1pPr>
            <a:lvl2pPr marL="457200" indent="0">
              <a:buNone/>
              <a:defRPr lang="tr-TR" sz="2000" b="1"/>
            </a:lvl2pPr>
            <a:lvl3pPr marL="914400" indent="0">
              <a:buNone/>
              <a:defRPr lang="tr-TR" sz="1800" b="1"/>
            </a:lvl3pPr>
            <a:lvl4pPr marL="1371600" indent="0">
              <a:buNone/>
              <a:defRPr lang="tr-TR" sz="1600" b="1"/>
            </a:lvl4pPr>
            <a:lvl5pPr marL="1828800" indent="0">
              <a:buNone/>
              <a:defRPr lang="tr-TR" sz="1600" b="1"/>
            </a:lvl5pPr>
            <a:lvl6pPr marL="2286000" indent="0">
              <a:buNone/>
              <a:defRPr lang="tr-TR" sz="1600" b="1"/>
            </a:lvl6pPr>
            <a:lvl7pPr marL="2743200" indent="0">
              <a:buNone/>
              <a:defRPr lang="tr-TR" sz="1600" b="1"/>
            </a:lvl7pPr>
            <a:lvl8pPr marL="3200400" indent="0">
              <a:buNone/>
              <a:defRPr lang="tr-TR" sz="1600" b="1"/>
            </a:lvl8pPr>
            <a:lvl9pPr marL="3657600" indent="0">
              <a:buNone/>
              <a:defRPr lang="tr-TR" sz="1600" b="1"/>
            </a:lvl9pPr>
          </a:lstStyle>
          <a:p>
            <a:pPr lvl="0"/>
            <a:r>
              <a:rPr lang="tr-TR"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lang="tr-TR" sz="2400"/>
            </a:lvl1pPr>
            <a:lvl2pPr>
              <a:defRPr lang="tr-TR" sz="2000"/>
            </a:lvl2pPr>
            <a:lvl3pPr>
              <a:defRPr lang="tr-TR" sz="1800"/>
            </a:lvl3pPr>
            <a:lvl4pPr>
              <a:defRPr lang="tr-TR" sz="1600"/>
            </a:lvl4pPr>
            <a:lvl5pPr>
              <a:defRPr lang="tr-TR" sz="1600"/>
            </a:lvl5pPr>
            <a:lvl6pPr>
              <a:defRPr lang="tr-TR" sz="1600"/>
            </a:lvl6pPr>
            <a:lvl7pPr>
              <a:defRPr lang="tr-TR" sz="1600"/>
            </a:lvl7pPr>
            <a:lvl8pPr>
              <a:defRPr lang="tr-TR" sz="1600"/>
            </a:lvl8pPr>
            <a:lvl9pPr>
              <a:defRPr lang="tr-TR" sz="16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lang="tr-TR" sz="2400" b="1"/>
            </a:lvl1pPr>
            <a:lvl2pPr marL="457200" indent="0">
              <a:buNone/>
              <a:defRPr lang="tr-TR" sz="2000" b="1"/>
            </a:lvl2pPr>
            <a:lvl3pPr marL="914400" indent="0">
              <a:buNone/>
              <a:defRPr lang="tr-TR" sz="1800" b="1"/>
            </a:lvl3pPr>
            <a:lvl4pPr marL="1371600" indent="0">
              <a:buNone/>
              <a:defRPr lang="tr-TR" sz="1600" b="1"/>
            </a:lvl4pPr>
            <a:lvl5pPr marL="1828800" indent="0">
              <a:buNone/>
              <a:defRPr lang="tr-TR" sz="1600" b="1"/>
            </a:lvl5pPr>
            <a:lvl6pPr marL="2286000" indent="0">
              <a:buNone/>
              <a:defRPr lang="tr-TR" sz="1600" b="1"/>
            </a:lvl6pPr>
            <a:lvl7pPr marL="2743200" indent="0">
              <a:buNone/>
              <a:defRPr lang="tr-TR" sz="1600" b="1"/>
            </a:lvl7pPr>
            <a:lvl8pPr marL="3200400" indent="0">
              <a:buNone/>
              <a:defRPr lang="tr-TR" sz="1600" b="1"/>
            </a:lvl8pPr>
            <a:lvl9pPr marL="3657600" indent="0">
              <a:buNone/>
              <a:defRPr lang="tr-TR" sz="1600" b="1"/>
            </a:lvl9pPr>
          </a:lstStyle>
          <a:p>
            <a:pPr lvl="0"/>
            <a:r>
              <a:rPr lang="tr-TR"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lang="tr-TR" sz="2400"/>
            </a:lvl1pPr>
            <a:lvl2pPr>
              <a:defRPr lang="tr-TR" sz="2000"/>
            </a:lvl2pPr>
            <a:lvl3pPr>
              <a:defRPr lang="tr-TR" sz="1800"/>
            </a:lvl3pPr>
            <a:lvl4pPr>
              <a:defRPr lang="tr-TR" sz="1600"/>
            </a:lvl4pPr>
            <a:lvl5pPr>
              <a:defRPr lang="tr-TR" sz="1600"/>
            </a:lvl5pPr>
            <a:lvl6pPr>
              <a:defRPr lang="tr-TR" sz="1600"/>
            </a:lvl6pPr>
            <a:lvl7pPr>
              <a:defRPr lang="tr-TR" sz="1600"/>
            </a:lvl7pPr>
            <a:lvl8pPr>
              <a:defRPr lang="tr-TR" sz="1600"/>
            </a:lvl8pPr>
            <a:lvl9pPr>
              <a:defRPr lang="tr-TR" sz="16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7" name="Date Placeholder 6"/>
          <p:cNvSpPr>
            <a:spLocks noGrp="1"/>
          </p:cNvSpPr>
          <p:nvPr>
            <p:ph type="dt" sz="half" idx="10"/>
          </p:nvPr>
        </p:nvSpPr>
        <p:spPr/>
        <p:txBody>
          <a:bodyPr/>
          <a:lstStyle/>
          <a:p>
            <a:fld id="{5BCAD085-E8A6-8845-BD4E-CB4CCA059FC4}" type="datetimeFigureOut">
              <a:rPr lang="tr-TR" smtClean="0"/>
              <a:t>1/27/13</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Click to edit Master title style</a:t>
            </a:r>
            <a:endParaRPr lang="tr-TR"/>
          </a:p>
        </p:txBody>
      </p:sp>
      <p:sp>
        <p:nvSpPr>
          <p:cNvPr id="3" name="Date Placeholder 2"/>
          <p:cNvSpPr>
            <a:spLocks noGrp="1"/>
          </p:cNvSpPr>
          <p:nvPr>
            <p:ph type="dt" sz="half" idx="10"/>
          </p:nvPr>
        </p:nvSpPr>
        <p:spPr/>
        <p:txBody>
          <a:bodyPr/>
          <a:lstStyle/>
          <a:p>
            <a:fld id="{5BCAD085-E8A6-8845-BD4E-CB4CCA059FC4}" type="datetimeFigureOut">
              <a:rPr lang="tr-TR" smtClean="0"/>
              <a:t>1/27/13</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tr-TR" smtClean="0"/>
              <a:t>1/27/13</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lang="tr-TR" sz="2000" b="1"/>
            </a:lvl1pPr>
          </a:lstStyle>
          <a:p>
            <a:r>
              <a:rPr lang="tr-TR" smtClean="0"/>
              <a:t>Click to edit Master title style</a:t>
            </a:r>
            <a:endParaRPr lang="tr-TR"/>
          </a:p>
        </p:txBody>
      </p:sp>
      <p:sp>
        <p:nvSpPr>
          <p:cNvPr id="3" name="Content Placeholder 2"/>
          <p:cNvSpPr>
            <a:spLocks noGrp="1"/>
          </p:cNvSpPr>
          <p:nvPr>
            <p:ph idx="1"/>
          </p:nvPr>
        </p:nvSpPr>
        <p:spPr>
          <a:xfrm>
            <a:off x="3575050" y="273050"/>
            <a:ext cx="5111750" cy="5853113"/>
          </a:xfrm>
        </p:spPr>
        <p:txBody>
          <a:bodyPr/>
          <a:lstStyle>
            <a:lvl1pPr>
              <a:defRPr lang="tr-TR" sz="3200"/>
            </a:lvl1pPr>
            <a:lvl2pPr>
              <a:defRPr lang="tr-TR" sz="2800"/>
            </a:lvl2pPr>
            <a:lvl3pPr>
              <a:defRPr lang="tr-TR" sz="2400"/>
            </a:lvl3pPr>
            <a:lvl4pPr>
              <a:defRPr lang="tr-TR" sz="2000"/>
            </a:lvl4pPr>
            <a:lvl5pPr>
              <a:defRPr lang="tr-TR" sz="2000"/>
            </a:lvl5pPr>
            <a:lvl6pPr>
              <a:defRPr lang="tr-TR" sz="2000"/>
            </a:lvl6pPr>
            <a:lvl7pPr>
              <a:defRPr lang="tr-TR" sz="2000"/>
            </a:lvl7pPr>
            <a:lvl8pPr>
              <a:defRPr lang="tr-TR" sz="2000"/>
            </a:lvl8pPr>
            <a:lvl9pPr>
              <a:defRPr lang="tr-TR" sz="20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Text Placeholder 3"/>
          <p:cNvSpPr>
            <a:spLocks noGrp="1"/>
          </p:cNvSpPr>
          <p:nvPr>
            <p:ph type="body" sz="half" idx="2"/>
          </p:nvPr>
        </p:nvSpPr>
        <p:spPr>
          <a:xfrm>
            <a:off x="457200" y="1435100"/>
            <a:ext cx="3008313" cy="4691063"/>
          </a:xfrm>
        </p:spPr>
        <p:txBody>
          <a:bodyPr/>
          <a:lstStyle>
            <a:lvl1pPr marL="0" indent="0">
              <a:buNone/>
              <a:defRPr lang="tr-TR" sz="1400"/>
            </a:lvl1pPr>
            <a:lvl2pPr marL="457200" indent="0">
              <a:buNone/>
              <a:defRPr lang="tr-TR" sz="1200"/>
            </a:lvl2pPr>
            <a:lvl3pPr marL="914400" indent="0">
              <a:buNone/>
              <a:defRPr lang="tr-TR" sz="1000"/>
            </a:lvl3pPr>
            <a:lvl4pPr marL="1371600" indent="0">
              <a:buNone/>
              <a:defRPr lang="tr-TR" sz="900"/>
            </a:lvl4pPr>
            <a:lvl5pPr marL="1828800" indent="0">
              <a:buNone/>
              <a:defRPr lang="tr-TR" sz="900"/>
            </a:lvl5pPr>
            <a:lvl6pPr marL="2286000" indent="0">
              <a:buNone/>
              <a:defRPr lang="tr-TR" sz="900"/>
            </a:lvl6pPr>
            <a:lvl7pPr marL="2743200" indent="0">
              <a:buNone/>
              <a:defRPr lang="tr-TR" sz="900"/>
            </a:lvl7pPr>
            <a:lvl8pPr marL="3200400" indent="0">
              <a:buNone/>
              <a:defRPr lang="tr-TR" sz="900"/>
            </a:lvl8pPr>
            <a:lvl9pPr marL="3657600" indent="0">
              <a:buNone/>
              <a:defRPr lang="tr-TR" sz="900"/>
            </a:lvl9pPr>
          </a:lstStyle>
          <a:p>
            <a:pPr lvl="0"/>
            <a:r>
              <a:rPr lang="tr-TR"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tr-TR" smtClean="0"/>
              <a:t>1/27/13</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lang="tr-TR" sz="2000" b="1"/>
            </a:lvl1pPr>
          </a:lstStyle>
          <a:p>
            <a:r>
              <a:rPr lang="tr-TR" smtClean="0"/>
              <a:t>Click to edit Master title style</a:t>
            </a:r>
            <a:endParaRPr lang="tr-TR"/>
          </a:p>
        </p:txBody>
      </p:sp>
      <p:sp>
        <p:nvSpPr>
          <p:cNvPr id="3" name="Picture Placeholder 2"/>
          <p:cNvSpPr>
            <a:spLocks noGrp="1"/>
          </p:cNvSpPr>
          <p:nvPr>
            <p:ph type="pic" idx="1"/>
          </p:nvPr>
        </p:nvSpPr>
        <p:spPr>
          <a:xfrm>
            <a:off x="1792288" y="612775"/>
            <a:ext cx="5486400" cy="4114800"/>
          </a:xfrm>
        </p:spPr>
        <p:txBody>
          <a:bodyPr/>
          <a:lstStyle>
            <a:lvl1pPr marL="0" indent="0">
              <a:buNone/>
              <a:defRPr lang="tr-TR" sz="3200"/>
            </a:lvl1pPr>
            <a:lvl2pPr marL="457200" indent="0">
              <a:buNone/>
              <a:defRPr lang="tr-TR" sz="2800"/>
            </a:lvl2pPr>
            <a:lvl3pPr marL="914400" indent="0">
              <a:buNone/>
              <a:defRPr lang="tr-TR" sz="2400"/>
            </a:lvl3pPr>
            <a:lvl4pPr marL="1371600" indent="0">
              <a:buNone/>
              <a:defRPr lang="tr-TR" sz="2000"/>
            </a:lvl4pPr>
            <a:lvl5pPr marL="1828800" indent="0">
              <a:buNone/>
              <a:defRPr lang="tr-TR" sz="2000"/>
            </a:lvl5pPr>
            <a:lvl6pPr marL="2286000" indent="0">
              <a:buNone/>
              <a:defRPr lang="tr-TR" sz="2000"/>
            </a:lvl6pPr>
            <a:lvl7pPr marL="2743200" indent="0">
              <a:buNone/>
              <a:defRPr lang="tr-TR" sz="2000"/>
            </a:lvl7pPr>
            <a:lvl8pPr marL="3200400" indent="0">
              <a:buNone/>
              <a:defRPr lang="tr-TR" sz="2000"/>
            </a:lvl8pPr>
            <a:lvl9pPr marL="3657600" indent="0">
              <a:buNone/>
              <a:defRPr lang="tr-TR" sz="2000"/>
            </a:lvl9pPr>
          </a:lstStyle>
          <a:p>
            <a:endParaRPr lang="tr-TR"/>
          </a:p>
        </p:txBody>
      </p:sp>
      <p:sp>
        <p:nvSpPr>
          <p:cNvPr id="4" name="Text Placeholder 3"/>
          <p:cNvSpPr>
            <a:spLocks noGrp="1"/>
          </p:cNvSpPr>
          <p:nvPr>
            <p:ph type="body" sz="half" idx="2"/>
          </p:nvPr>
        </p:nvSpPr>
        <p:spPr>
          <a:xfrm>
            <a:off x="1792288" y="5367338"/>
            <a:ext cx="5486400" cy="804862"/>
          </a:xfrm>
        </p:spPr>
        <p:txBody>
          <a:bodyPr/>
          <a:lstStyle>
            <a:lvl1pPr marL="0" indent="0">
              <a:buNone/>
              <a:defRPr lang="tr-TR" sz="1400"/>
            </a:lvl1pPr>
            <a:lvl2pPr marL="457200" indent="0">
              <a:buNone/>
              <a:defRPr lang="tr-TR" sz="1200"/>
            </a:lvl2pPr>
            <a:lvl3pPr marL="914400" indent="0">
              <a:buNone/>
              <a:defRPr lang="tr-TR" sz="1000"/>
            </a:lvl3pPr>
            <a:lvl4pPr marL="1371600" indent="0">
              <a:buNone/>
              <a:defRPr lang="tr-TR" sz="900"/>
            </a:lvl4pPr>
            <a:lvl5pPr marL="1828800" indent="0">
              <a:buNone/>
              <a:defRPr lang="tr-TR" sz="900"/>
            </a:lvl5pPr>
            <a:lvl6pPr marL="2286000" indent="0">
              <a:buNone/>
              <a:defRPr lang="tr-TR" sz="900"/>
            </a:lvl6pPr>
            <a:lvl7pPr marL="2743200" indent="0">
              <a:buNone/>
              <a:defRPr lang="tr-TR" sz="900"/>
            </a:lvl7pPr>
            <a:lvl8pPr marL="3200400" indent="0">
              <a:buNone/>
              <a:defRPr lang="tr-TR" sz="900"/>
            </a:lvl8pPr>
            <a:lvl9pPr marL="3657600" indent="0">
              <a:buNone/>
              <a:defRPr lang="tr-TR" sz="900"/>
            </a:lvl9pPr>
          </a:lstStyle>
          <a:p>
            <a:pPr lvl="0"/>
            <a:r>
              <a:rPr lang="tr-TR"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tr-TR" smtClean="0"/>
              <a:t>1/27/13</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Click to edit Master title style</a:t>
            </a:r>
            <a:endParaRPr lang="tr-TR"/>
          </a:p>
        </p:txBody>
      </p:sp>
      <p:sp>
        <p:nvSpPr>
          <p:cNvPr id="3" name="Vertical Text Placeholder 2"/>
          <p:cNvSpPr>
            <a:spLocks noGrp="1"/>
          </p:cNvSpPr>
          <p:nvPr>
            <p:ph type="body" orient="vert" idx="1"/>
          </p:nvPr>
        </p:nvSpPr>
        <p:spPr/>
        <p:txBody>
          <a:bodyPr vert="eaVert"/>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tr-TR" smtClean="0"/>
              <a:t>Click to edit Master title style</a:t>
            </a:r>
            <a:endParaRPr lang="tr-T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tr-TR" smtClean="0"/>
              <a:t>Click to edit Master title style</a:t>
            </a:r>
            <a:endParaRPr lang="tr-T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lang="tr-TR" sz="1200">
                <a:solidFill>
                  <a:schemeClr val="tx1">
                    <a:tint val="75000"/>
                  </a:schemeClr>
                </a:solidFill>
              </a:defRPr>
            </a:lvl1pPr>
          </a:lstStyle>
          <a:p>
            <a:fld id="{5BCAD085-E8A6-8845-BD4E-CB4CCA059FC4}" type="datetimeFigureOut">
              <a:rPr lang="tr-TR" smtClean="0"/>
              <a:t>1/27/13</a:t>
            </a:fld>
            <a:endParaRPr lang="tr-T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lang="tr-TR" sz="1200">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lang="tr-TR" sz="1200">
                <a:solidFill>
                  <a:schemeClr val="tx1">
                    <a:tint val="75000"/>
                  </a:schemeClr>
                </a:solidFill>
              </a:defRPr>
            </a:lvl1pPr>
          </a:lstStyle>
          <a:p>
            <a:fld id="{C1FF6DA9-008F-8B48-92A6-B652298478BF}" type="slidenum">
              <a:rPr lang="tr-TR" smtClean="0"/>
              <a:t>‹#›</a:t>
            </a:fld>
            <a:endParaRPr lang="tr-T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lang="tr-T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lang="tr-T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lang="tr-T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lang="tr-T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9pPr>
    </p:bodyStyle>
    <p:otherStyle>
      <a:defPPr>
        <a:defRPr lang="tr-TR"/>
      </a:defPPr>
      <a:lvl1pPr marL="0" algn="l" defTabSz="457200" rtl="0" eaLnBrk="1" latinLnBrk="0" hangingPunct="1">
        <a:defRPr lang="tr-TR" sz="1800" kern="1200">
          <a:solidFill>
            <a:schemeClr val="tx1"/>
          </a:solidFill>
          <a:latin typeface="+mn-lt"/>
          <a:ea typeface="+mn-ea"/>
          <a:cs typeface="+mn-cs"/>
        </a:defRPr>
      </a:lvl1pPr>
      <a:lvl2pPr marL="457200" algn="l" defTabSz="457200" rtl="0" eaLnBrk="1" latinLnBrk="0" hangingPunct="1">
        <a:defRPr lang="tr-TR" sz="1800" kern="1200">
          <a:solidFill>
            <a:schemeClr val="tx1"/>
          </a:solidFill>
          <a:latin typeface="+mn-lt"/>
          <a:ea typeface="+mn-ea"/>
          <a:cs typeface="+mn-cs"/>
        </a:defRPr>
      </a:lvl2pPr>
      <a:lvl3pPr marL="914400" algn="l" defTabSz="457200" rtl="0" eaLnBrk="1" latinLnBrk="0" hangingPunct="1">
        <a:defRPr lang="tr-TR" sz="1800" kern="1200">
          <a:solidFill>
            <a:schemeClr val="tx1"/>
          </a:solidFill>
          <a:latin typeface="+mn-lt"/>
          <a:ea typeface="+mn-ea"/>
          <a:cs typeface="+mn-cs"/>
        </a:defRPr>
      </a:lvl3pPr>
      <a:lvl4pPr marL="1371600" algn="l" defTabSz="457200" rtl="0" eaLnBrk="1" latinLnBrk="0" hangingPunct="1">
        <a:defRPr lang="tr-TR" sz="1800" kern="1200">
          <a:solidFill>
            <a:schemeClr val="tx1"/>
          </a:solidFill>
          <a:latin typeface="+mn-lt"/>
          <a:ea typeface="+mn-ea"/>
          <a:cs typeface="+mn-cs"/>
        </a:defRPr>
      </a:lvl4pPr>
      <a:lvl5pPr marL="1828800" algn="l" defTabSz="457200" rtl="0" eaLnBrk="1" latinLnBrk="0" hangingPunct="1">
        <a:defRPr lang="tr-TR" sz="1800" kern="1200">
          <a:solidFill>
            <a:schemeClr val="tx1"/>
          </a:solidFill>
          <a:latin typeface="+mn-lt"/>
          <a:ea typeface="+mn-ea"/>
          <a:cs typeface="+mn-cs"/>
        </a:defRPr>
      </a:lvl5pPr>
      <a:lvl6pPr marL="2286000" algn="l" defTabSz="457200" rtl="0" eaLnBrk="1" latinLnBrk="0" hangingPunct="1">
        <a:defRPr lang="tr-TR" sz="1800" kern="1200">
          <a:solidFill>
            <a:schemeClr val="tx1"/>
          </a:solidFill>
          <a:latin typeface="+mn-lt"/>
          <a:ea typeface="+mn-ea"/>
          <a:cs typeface="+mn-cs"/>
        </a:defRPr>
      </a:lvl6pPr>
      <a:lvl7pPr marL="2743200" algn="l" defTabSz="457200" rtl="0" eaLnBrk="1" latinLnBrk="0" hangingPunct="1">
        <a:defRPr lang="tr-TR" sz="1800" kern="1200">
          <a:solidFill>
            <a:schemeClr val="tx1"/>
          </a:solidFill>
          <a:latin typeface="+mn-lt"/>
          <a:ea typeface="+mn-ea"/>
          <a:cs typeface="+mn-cs"/>
        </a:defRPr>
      </a:lvl7pPr>
      <a:lvl8pPr marL="3200400" algn="l" defTabSz="457200" rtl="0" eaLnBrk="1" latinLnBrk="0" hangingPunct="1">
        <a:defRPr lang="tr-TR" sz="1800" kern="1200">
          <a:solidFill>
            <a:schemeClr val="tx1"/>
          </a:solidFill>
          <a:latin typeface="+mn-lt"/>
          <a:ea typeface="+mn-ea"/>
          <a:cs typeface="+mn-cs"/>
        </a:defRPr>
      </a:lvl8pPr>
      <a:lvl9pPr marL="3657600" algn="l" defTabSz="457200" rtl="0" eaLnBrk="1" latinLnBrk="0" hangingPunct="1">
        <a:defRPr lang="tr-T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 Id="rId3" Type="http://schemas.openxmlformats.org/officeDocument/2006/relationships/image" Target="../media/image20.jpg"/><Relationship Id="rId4" Type="http://schemas.openxmlformats.org/officeDocument/2006/relationships/image" Target="../media/image2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 Id="rId3" Type="http://schemas.openxmlformats.org/officeDocument/2006/relationships/image" Target="../media/image20.jpg"/><Relationship Id="rId4" Type="http://schemas.openxmlformats.org/officeDocument/2006/relationships/image" Target="../media/image2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 Id="rId3" Type="http://schemas.openxmlformats.org/officeDocument/2006/relationships/image" Target="../media/image22.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 Id="rId3" Type="http://schemas.openxmlformats.org/officeDocument/2006/relationships/image" Target="../media/image22.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 Id="rId3" Type="http://schemas.openxmlformats.org/officeDocument/2006/relationships/image" Target="../media/image23.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 Id="rId3" Type="http://schemas.openxmlformats.org/officeDocument/2006/relationships/image" Target="../media/image24.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 Id="rId3" Type="http://schemas.openxmlformats.org/officeDocument/2006/relationships/image" Target="../media/image25.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 Id="rId3" Type="http://schemas.openxmlformats.org/officeDocument/2006/relationships/image" Target="../media/image26.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 Id="rId3" Type="http://schemas.openxmlformats.org/officeDocument/2006/relationships/image" Target="../media/image26.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 Id="rId3" Type="http://schemas.openxmlformats.org/officeDocument/2006/relationships/image" Target="../media/image27.jpg"/><Relationship Id="rId4" Type="http://schemas.openxmlformats.org/officeDocument/2006/relationships/image" Target="../media/image28.jpg"/><Relationship Id="rId5" Type="http://schemas.openxmlformats.org/officeDocument/2006/relationships/image" Target="../media/image29.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 Id="rId3" Type="http://schemas.openxmlformats.org/officeDocument/2006/relationships/image" Target="../media/image27.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 Id="rId3" Type="http://schemas.openxmlformats.org/officeDocument/2006/relationships/image" Target="../media/image28.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 Id="rId3" Type="http://schemas.openxmlformats.org/officeDocument/2006/relationships/image" Target="../media/image29.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 Id="rId3" Type="http://schemas.openxmlformats.org/officeDocument/2006/relationships/image" Target="../media/image27.jpg"/><Relationship Id="rId4" Type="http://schemas.openxmlformats.org/officeDocument/2006/relationships/image" Target="../media/image28.jpg"/><Relationship Id="rId5" Type="http://schemas.openxmlformats.org/officeDocument/2006/relationships/image" Target="../media/image29.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8.xml"/><Relationship Id="rId3" Type="http://schemas.openxmlformats.org/officeDocument/2006/relationships/image" Target="../media/image30.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 Id="rId3" Type="http://schemas.openxmlformats.org/officeDocument/2006/relationships/image" Target="../media/image30.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6A4C93"/>
          </a:solidFill>
          <a:ln>
            <a:noFill/>
          </a:ln>
          <a:effectLst/>
        </p:spPr>
        <p:txBody>
          <a:bodyPr rtlCol="0" anchor="ctr"/>
          <a:lstStyle/>
          <a:p/>
        </p:txBody>
      </p:sp>
      <p:sp>
        <p:nvSpPr>
          <p:cNvPr id="3" name="Rectangle 2"/>
          <p:cNvSpPr/>
          <p:nvPr/>
        </p:nvSpPr>
        <p:spPr>
          <a:xfrm>
            <a:off x="0" y="6199632"/>
            <a:ext cx="12191695" cy="73152"/>
          </a:xfrm>
          <a:prstGeom prst="rect">
            <a:avLst/>
          </a:prstGeom>
          <a:solidFill>
            <a:srgbClr val="FCC021"/>
          </a:solidFill>
          <a:ln>
            <a:noFill/>
          </a:ln>
          <a:effectLst/>
        </p:spPr>
        <p:txBody>
          <a:bodyPr rtlCol="0" anchor="ctr"/>
          <a:lstStyle/>
          <a:p/>
        </p:txBody>
      </p:sp>
      <p:sp>
        <p:nvSpPr>
          <p:cNvPr id="4" name="TextBox 3"/>
          <p:cNvSpPr txBox="1"/>
          <p:nvPr/>
        </p:nvSpPr>
        <p:spPr>
          <a:xfrm>
            <a:off x="548640" y="320040"/>
            <a:ext cx="2377440" cy="502920"/>
          </a:xfrm>
          <a:prstGeom prst="rect">
            <a:avLst/>
          </a:prstGeom>
          <a:noFill/>
        </p:spPr>
        <p:txBody>
          <a:bodyPr wrap="square" anchor="t" lIns="73152" rIns="73152" tIns="36576" bIns="36576">
            <a:noAutofit/>
          </a:bodyPr>
          <a:lstStyle/>
          <a:p>
            <a:pPr algn="l">
              <a:spcBef>
                <a:spcPts val="0"/>
              </a:spcBef>
              <a:spcAft>
                <a:spcPts val="0"/>
              </a:spcAft>
            </a:pPr>
            <a:r>
              <a:rPr lang="tr-TR" sz="2400" b="1" i="0">
                <a:solidFill>
                  <a:srgbClr val="FCC021"/>
                </a:solidFill>
                <a:latin typeface="Calibri"/>
              </a:rPr>
              <a:t>31. HAFTA</a:t>
            </a:r>
          </a:p>
        </p:txBody>
      </p:sp>
      <p:sp>
        <p:nvSpPr>
          <p:cNvPr id="5" name="TextBox 4"/>
          <p:cNvSpPr txBox="1"/>
          <p:nvPr/>
        </p:nvSpPr>
        <p:spPr>
          <a:xfrm>
            <a:off x="411480" y="731520"/>
            <a:ext cx="2377440" cy="2514600"/>
          </a:xfrm>
          <a:prstGeom prst="rect">
            <a:avLst/>
          </a:prstGeom>
          <a:noFill/>
        </p:spPr>
        <p:txBody>
          <a:bodyPr wrap="square" anchor="t" lIns="73152" rIns="73152" tIns="0" bIns="0">
            <a:noAutofit/>
          </a:bodyPr>
          <a:lstStyle/>
          <a:p>
            <a:pPr algn="l">
              <a:spcBef>
                <a:spcPts val="0"/>
              </a:spcBef>
              <a:spcAft>
                <a:spcPts val="0"/>
              </a:spcAft>
            </a:pPr>
            <a:r>
              <a:rPr lang="tr-TR" sz="16000" b="1" i="0">
                <a:solidFill>
                  <a:srgbClr val="FCC021"/>
                </a:solidFill>
                <a:latin typeface="Calibri"/>
              </a:rPr>
              <a:t>31</a:t>
            </a:r>
          </a:p>
        </p:txBody>
      </p:sp>
      <p:sp>
        <p:nvSpPr>
          <p:cNvPr id="6" name="TextBox 5"/>
          <p:cNvSpPr txBox="1"/>
          <p:nvPr/>
        </p:nvSpPr>
        <p:spPr>
          <a:xfrm>
            <a:off x="2834640" y="411480"/>
            <a:ext cx="8869680" cy="1051560"/>
          </a:xfrm>
          <a:prstGeom prst="rect">
            <a:avLst/>
          </a:prstGeom>
          <a:noFill/>
        </p:spPr>
        <p:txBody>
          <a:bodyPr wrap="square" anchor="ctr" lIns="73152" rIns="73152" tIns="36576" bIns="36576">
            <a:noAutofit/>
          </a:bodyPr>
          <a:lstStyle/>
          <a:p>
            <a:pPr algn="l">
              <a:spcBef>
                <a:spcPts val="0"/>
              </a:spcBef>
              <a:spcAft>
                <a:spcPts val="0"/>
              </a:spcAft>
            </a:pPr>
            <a:r>
              <a:rPr lang="tr-TR" sz="4000" b="1" i="0">
                <a:solidFill>
                  <a:srgbClr val="FFFFFF"/>
                </a:solidFill>
                <a:latin typeface="Calibri"/>
              </a:rPr>
              <a:t>Afet Türleri</a:t>
            </a:r>
          </a:p>
        </p:txBody>
      </p:sp>
      <p:sp>
        <p:nvSpPr>
          <p:cNvPr id="7" name="TextBox 6"/>
          <p:cNvSpPr txBox="1"/>
          <p:nvPr/>
        </p:nvSpPr>
        <p:spPr>
          <a:xfrm>
            <a:off x="2834640" y="1481328"/>
            <a:ext cx="8869680" cy="411480"/>
          </a:xfrm>
          <a:prstGeom prst="rect">
            <a:avLst/>
          </a:prstGeom>
          <a:noFill/>
        </p:spPr>
        <p:txBody>
          <a:bodyPr wrap="square" anchor="t" lIns="73152" rIns="73152" tIns="36576" bIns="36576">
            <a:noAutofit/>
          </a:bodyPr>
          <a:lstStyle/>
          <a:p>
            <a:pPr algn="l">
              <a:spcBef>
                <a:spcPts val="0"/>
              </a:spcBef>
              <a:spcAft>
                <a:spcPts val="0"/>
              </a:spcAft>
            </a:pPr>
            <a:r>
              <a:rPr lang="tr-TR" sz="1800" b="0" i="0">
                <a:solidFill>
                  <a:srgbClr val="E3ECF5"/>
                </a:solidFill>
                <a:latin typeface="Calibri"/>
              </a:rPr>
              <a:t>10-14 Mayıs 2027 · 2 ders saati · Kitap s. 194-201</a:t>
            </a:r>
          </a:p>
        </p:txBody>
      </p:sp>
      <p:sp>
        <p:nvSpPr>
          <p:cNvPr id="8" name="Rounded Rectangle 7"/>
          <p:cNvSpPr/>
          <p:nvPr/>
        </p:nvSpPr>
        <p:spPr>
          <a:xfrm>
            <a:off x="2834640" y="2011680"/>
            <a:ext cx="8869680" cy="4023360"/>
          </a:xfrm>
          <a:prstGeom prst="roundRect">
            <a:avLst>
              <a:gd name="adj" fmla="val 5000"/>
            </a:avLst>
          </a:prstGeom>
          <a:solidFill>
            <a:srgbClr val="FFFFFF">
              <a:alpha val="12000"/>
            </a:srgbClr>
          </a:solidFill>
          <a:ln>
            <a:noFill/>
          </a:ln>
          <a:effectLst/>
        </p:spPr>
        <p:txBody>
          <a:bodyPr rtlCol="0" anchor="ctr"/>
          <a:lstStyle/>
          <a:p/>
        </p:txBody>
      </p:sp>
      <p:sp>
        <p:nvSpPr>
          <p:cNvPr id="9" name="TextBox 8"/>
          <p:cNvSpPr txBox="1"/>
          <p:nvPr/>
        </p:nvSpPr>
        <p:spPr>
          <a:xfrm>
            <a:off x="3063240" y="2148840"/>
            <a:ext cx="8412480" cy="365760"/>
          </a:xfrm>
          <a:prstGeom prst="rect">
            <a:avLst/>
          </a:prstGeom>
          <a:noFill/>
        </p:spPr>
        <p:txBody>
          <a:bodyPr wrap="square" anchor="t" lIns="73152" rIns="73152" tIns="36576" bIns="36576">
            <a:noAutofit/>
          </a:bodyPr>
          <a:lstStyle/>
          <a:p>
            <a:pPr algn="l">
              <a:spcBef>
                <a:spcPts val="0"/>
              </a:spcBef>
              <a:spcAft>
                <a:spcPts val="0"/>
              </a:spcAft>
            </a:pPr>
            <a:r>
              <a:rPr lang="tr-TR" sz="1600" b="1" i="0">
                <a:solidFill>
                  <a:srgbClr val="FCC021"/>
                </a:solidFill>
                <a:latin typeface="Calibri"/>
              </a:rPr>
              <a:t>ÖĞRENME ÇIKTISI · COĞ.9.6.2</a:t>
            </a:r>
          </a:p>
        </p:txBody>
      </p:sp>
      <p:sp>
        <p:nvSpPr>
          <p:cNvPr id="10" name="TextBox 9"/>
          <p:cNvSpPr txBox="1"/>
          <p:nvPr/>
        </p:nvSpPr>
        <p:spPr>
          <a:xfrm>
            <a:off x="3063240" y="2532888"/>
            <a:ext cx="8412480" cy="485902"/>
          </a:xfrm>
          <a:prstGeom prst="rect">
            <a:avLst/>
          </a:prstGeom>
          <a:noFill/>
        </p:spPr>
        <p:txBody>
          <a:bodyPr wrap="square" anchor="t" lIns="73152" rIns="73152" tIns="36576" bIns="36576">
            <a:noAutofit/>
          </a:bodyPr>
          <a:lstStyle/>
          <a:p>
            <a:pPr algn="l">
              <a:spcBef>
                <a:spcPts val="0"/>
              </a:spcBef>
              <a:spcAft>
                <a:spcPts val="0"/>
              </a:spcAft>
            </a:pPr>
            <a:r>
              <a:rPr lang="tr-TR" sz="2500" b="1" i="0">
                <a:solidFill>
                  <a:srgbClr val="FFFFFF"/>
                </a:solidFill>
                <a:latin typeface="Calibri"/>
              </a:rPr>
              <a:t>Afetleri sınıflandırabilme</a:t>
            </a:r>
          </a:p>
        </p:txBody>
      </p:sp>
      <p:sp>
        <p:nvSpPr>
          <p:cNvPr id="11" name="TextBox 10"/>
          <p:cNvSpPr txBox="1"/>
          <p:nvPr/>
        </p:nvSpPr>
        <p:spPr>
          <a:xfrm>
            <a:off x="3063240" y="3128518"/>
            <a:ext cx="8412480" cy="347472"/>
          </a:xfrm>
          <a:prstGeom prst="rect">
            <a:avLst/>
          </a:prstGeom>
          <a:noFill/>
        </p:spPr>
        <p:txBody>
          <a:bodyPr wrap="square" anchor="t" lIns="73152" rIns="73152" tIns="36576" bIns="36576">
            <a:noAutofit/>
          </a:bodyPr>
          <a:lstStyle/>
          <a:p>
            <a:pPr algn="l">
              <a:spcBef>
                <a:spcPts val="0"/>
              </a:spcBef>
              <a:spcAft>
                <a:spcPts val="0"/>
              </a:spcAft>
            </a:pPr>
            <a:r>
              <a:rPr lang="tr-TR" sz="1500" b="1" i="0">
                <a:solidFill>
                  <a:srgbClr val="FCC021"/>
                </a:solidFill>
                <a:latin typeface="Calibri"/>
              </a:rPr>
              <a:t>Süreç bileşenleri</a:t>
            </a:r>
          </a:p>
        </p:txBody>
      </p:sp>
      <p:sp>
        <p:nvSpPr>
          <p:cNvPr id="12" name="TextBox 11"/>
          <p:cNvSpPr txBox="1"/>
          <p:nvPr/>
        </p:nvSpPr>
        <p:spPr>
          <a:xfrm>
            <a:off x="3063240" y="3494278"/>
            <a:ext cx="8412480" cy="2431034"/>
          </a:xfrm>
          <a:prstGeom prst="rect">
            <a:avLst/>
          </a:prstGeom>
          <a:noFill/>
        </p:spPr>
        <p:txBody>
          <a:bodyPr wrap="square" anchor="t" lIns="73152" rIns="73152" tIns="36576" bIns="36576">
            <a:noAutofit/>
          </a:bodyPr>
          <a:lstStyle/>
          <a:p>
            <a:pPr algn="l" marL="328946" indent="-328946">
              <a:spcBef>
                <a:spcPts val="0"/>
              </a:spcBef>
              <a:spcAft>
                <a:spcPts val="500"/>
              </a:spcAft>
            </a:pPr>
            <a:r>
              <a:rPr lang="tr-TR" sz="2000" b="1" i="0">
                <a:solidFill>
                  <a:srgbClr val="FCC021"/>
                </a:solidFill>
                <a:latin typeface="Calibri"/>
              </a:rPr>
              <a:t>a)  </a:t>
            </a:r>
            <a:r>
              <a:rPr lang="tr-TR" sz="2000" b="0" i="0">
                <a:solidFill>
                  <a:srgbClr val="FFFFFF"/>
                </a:solidFill>
                <a:latin typeface="Calibri"/>
              </a:rPr>
              <a:t>Oluşum kaynağına göre afetleri belirler.</a:t>
            </a:r>
          </a:p>
          <a:p>
            <a:pPr algn="l" marL="340187" indent="-340187">
              <a:spcBef>
                <a:spcPts val="0"/>
              </a:spcBef>
              <a:spcAft>
                <a:spcPts val="500"/>
              </a:spcAft>
            </a:pPr>
            <a:r>
              <a:rPr lang="tr-TR" sz="2000" b="1" i="0">
                <a:solidFill>
                  <a:srgbClr val="FCC021"/>
                </a:solidFill>
                <a:latin typeface="Calibri"/>
              </a:rPr>
              <a:t>b)  </a:t>
            </a:r>
            <a:r>
              <a:rPr lang="tr-TR" sz="2000" b="0" i="0">
                <a:solidFill>
                  <a:srgbClr val="FFFFFF"/>
                </a:solidFill>
                <a:latin typeface="Calibri"/>
              </a:rPr>
              <a:t>Oluşum kaynağına göre afetleri ayrıştırır.</a:t>
            </a:r>
          </a:p>
          <a:p>
            <a:pPr algn="l" marL="309283" indent="-309283">
              <a:spcBef>
                <a:spcPts val="0"/>
              </a:spcBef>
              <a:spcAft>
                <a:spcPts val="500"/>
              </a:spcAft>
            </a:pPr>
            <a:r>
              <a:rPr lang="tr-TR" sz="2000" b="1" i="0">
                <a:solidFill>
                  <a:srgbClr val="FCC021"/>
                </a:solidFill>
                <a:latin typeface="Calibri"/>
              </a:rPr>
              <a:t>c)  </a:t>
            </a:r>
            <a:r>
              <a:rPr lang="tr-TR" sz="2000" b="0" i="0">
                <a:solidFill>
                  <a:srgbClr val="FFFFFF"/>
                </a:solidFill>
                <a:latin typeface="Calibri"/>
              </a:rPr>
              <a:t>Oluşum kaynağına göre afetleri tasnif eder.</a:t>
            </a:r>
          </a:p>
          <a:p>
            <a:pPr algn="l" marL="309283" indent="-309283">
              <a:spcBef>
                <a:spcPts val="0"/>
              </a:spcBef>
              <a:spcAft>
                <a:spcPts val="0"/>
              </a:spcAft>
            </a:pPr>
            <a:r>
              <a:rPr lang="tr-TR" sz="2000" b="1" i="0">
                <a:solidFill>
                  <a:srgbClr val="FCC021"/>
                </a:solidFill>
                <a:latin typeface="Calibri"/>
              </a:rPr>
              <a:t>ç)  </a:t>
            </a:r>
            <a:r>
              <a:rPr lang="tr-TR" sz="2000" b="0" i="0">
                <a:solidFill>
                  <a:srgbClr val="FFFFFF"/>
                </a:solidFill>
                <a:latin typeface="Calibri"/>
              </a:rPr>
              <a:t>Oluşum kaynağına göre afetleri etiketler.</a:t>
            </a:r>
          </a:p>
        </p:txBody>
      </p:sp>
      <p:sp>
        <p:nvSpPr>
          <p:cNvPr id="13" name="TextBox 1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F0F0F0"/>
                </a:solidFill>
                <a:latin typeface="Calibri"/>
              </a:rPr>
              <a:t>9. Sınıf Coğrafya · 6. Ünite: Afetler ve Sürdürülebilir Çevre</a:t>
            </a:r>
          </a:p>
        </p:txBody>
      </p:sp>
      <p:sp>
        <p:nvSpPr>
          <p:cNvPr id="14" name="TextBox 1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F0F0F0"/>
                </a:solidFill>
                <a:latin typeface="Calibri"/>
              </a:rPr>
              <a:t>64 / 250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Bugün neler yapacağız?</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31. HAFTA</a:t>
            </a:r>
          </a:p>
        </p:txBody>
      </p:sp>
      <p:cxnSp>
        <p:nvCxnSpPr>
          <p:cNvPr id="6" name="Connector 5"/>
          <p:cNvCxnSpPr/>
          <p:nvPr/>
        </p:nvCxnSpPr>
        <p:spPr>
          <a:xfrm>
            <a:off x="1351254" y="2212848"/>
            <a:ext cx="9489185" cy="0"/>
          </a:xfrm>
          <a:prstGeom prst="line">
            <a:avLst/>
          </a:prstGeom>
          <a:ln w="50800">
            <a:solidFill>
              <a:srgbClr val="D9D9D9"/>
            </a:solidFill>
          </a:ln>
        </p:spPr>
      </p:cxnSp>
      <p:sp>
        <p:nvSpPr>
          <p:cNvPr id="7" name="Oval 6"/>
          <p:cNvSpPr/>
          <p:nvPr/>
        </p:nvSpPr>
        <p:spPr>
          <a:xfrm>
            <a:off x="967206" y="1828800"/>
            <a:ext cx="768096" cy="768096"/>
          </a:xfrm>
          <a:prstGeom prst="ellipse">
            <a:avLst/>
          </a:prstGeom>
          <a:solidFill>
            <a:srgbClr val="6A4C93"/>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1</a:t>
            </a:r>
          </a:p>
        </p:txBody>
      </p:sp>
      <p:sp>
        <p:nvSpPr>
          <p:cNvPr id="8" name="Rounded Rectangle 7"/>
          <p:cNvSpPr/>
          <p:nvPr/>
        </p:nvSpPr>
        <p:spPr>
          <a:xfrm>
            <a:off x="502920" y="2788920"/>
            <a:ext cx="1696669"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Getirdiğimiz haberler</a:t>
            </a:r>
          </a:p>
        </p:txBody>
      </p:sp>
      <p:sp>
        <p:nvSpPr>
          <p:cNvPr id="9" name="TextBox 8"/>
          <p:cNvSpPr txBox="1"/>
          <p:nvPr/>
        </p:nvSpPr>
        <p:spPr>
          <a:xfrm>
            <a:off x="502920" y="4041648"/>
            <a:ext cx="1696669"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Hangi afetleri biliyoruz?</a:t>
            </a:r>
          </a:p>
        </p:txBody>
      </p:sp>
      <p:sp>
        <p:nvSpPr>
          <p:cNvPr id="10" name="Oval 9"/>
          <p:cNvSpPr/>
          <p:nvPr/>
        </p:nvSpPr>
        <p:spPr>
          <a:xfrm>
            <a:off x="2865043" y="1828800"/>
            <a:ext cx="768096" cy="768096"/>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2</a:t>
            </a:r>
          </a:p>
        </p:txBody>
      </p:sp>
      <p:sp>
        <p:nvSpPr>
          <p:cNvPr id="11" name="Rounded Rectangle 10"/>
          <p:cNvSpPr/>
          <p:nvPr/>
        </p:nvSpPr>
        <p:spPr>
          <a:xfrm>
            <a:off x="2400757" y="2788920"/>
            <a:ext cx="1696669"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1. tur: kendi ölçütümüz</a:t>
            </a:r>
          </a:p>
        </p:txBody>
      </p:sp>
      <p:sp>
        <p:nvSpPr>
          <p:cNvPr id="12" name="TextBox 11"/>
          <p:cNvSpPr txBox="1"/>
          <p:nvPr/>
        </p:nvSpPr>
        <p:spPr>
          <a:xfrm>
            <a:off x="2400757" y="4041648"/>
            <a:ext cx="1696669"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31 kart, serbest gruplama</a:t>
            </a:r>
          </a:p>
        </p:txBody>
      </p:sp>
      <p:sp>
        <p:nvSpPr>
          <p:cNvPr id="13" name="Oval 12"/>
          <p:cNvSpPr/>
          <p:nvPr/>
        </p:nvSpPr>
        <p:spPr>
          <a:xfrm>
            <a:off x="4762880" y="1828800"/>
            <a:ext cx="768096" cy="768096"/>
          </a:xfrm>
          <a:prstGeom prst="ellipse">
            <a:avLst/>
          </a:prstGeom>
          <a:solidFill>
            <a:srgbClr val="6A4C93"/>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3</a:t>
            </a:r>
          </a:p>
        </p:txBody>
      </p:sp>
      <p:sp>
        <p:nvSpPr>
          <p:cNvPr id="14" name="Rounded Rectangle 13"/>
          <p:cNvSpPr/>
          <p:nvPr/>
        </p:nvSpPr>
        <p:spPr>
          <a:xfrm>
            <a:off x="4298594" y="2788920"/>
            <a:ext cx="1696669"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Beş afet türü</a:t>
            </a:r>
          </a:p>
        </p:txBody>
      </p:sp>
      <p:sp>
        <p:nvSpPr>
          <p:cNvPr id="15" name="TextBox 14"/>
          <p:cNvSpPr txBox="1"/>
          <p:nvPr/>
        </p:nvSpPr>
        <p:spPr>
          <a:xfrm>
            <a:off x="4298594" y="4041648"/>
            <a:ext cx="1696669"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Oluşum kaynağına göre</a:t>
            </a:r>
          </a:p>
        </p:txBody>
      </p:sp>
      <p:sp>
        <p:nvSpPr>
          <p:cNvPr id="16" name="Oval 15"/>
          <p:cNvSpPr/>
          <p:nvPr/>
        </p:nvSpPr>
        <p:spPr>
          <a:xfrm>
            <a:off x="6660717" y="1828800"/>
            <a:ext cx="768096" cy="768096"/>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4</a:t>
            </a:r>
          </a:p>
        </p:txBody>
      </p:sp>
      <p:sp>
        <p:nvSpPr>
          <p:cNvPr id="17" name="Rounded Rectangle 16"/>
          <p:cNvSpPr/>
          <p:nvPr/>
        </p:nvSpPr>
        <p:spPr>
          <a:xfrm>
            <a:off x="6196431" y="2788920"/>
            <a:ext cx="1696669"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2. tur: kitabın tablosu</a:t>
            </a:r>
          </a:p>
        </p:txBody>
      </p:sp>
      <p:sp>
        <p:nvSpPr>
          <p:cNvPr id="18" name="TextBox 17"/>
          <p:cNvSpPr txBox="1"/>
          <p:nvPr/>
        </p:nvSpPr>
        <p:spPr>
          <a:xfrm>
            <a:off x="6196431" y="4041648"/>
            <a:ext cx="1696669"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Tasnif et, etiketle</a:t>
            </a:r>
          </a:p>
        </p:txBody>
      </p:sp>
      <p:sp>
        <p:nvSpPr>
          <p:cNvPr id="19" name="Oval 18"/>
          <p:cNvSpPr/>
          <p:nvPr/>
        </p:nvSpPr>
        <p:spPr>
          <a:xfrm>
            <a:off x="8558554" y="1828800"/>
            <a:ext cx="768096" cy="768096"/>
          </a:xfrm>
          <a:prstGeom prst="ellipse">
            <a:avLst/>
          </a:prstGeom>
          <a:solidFill>
            <a:srgbClr val="6A4C93"/>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5</a:t>
            </a:r>
          </a:p>
        </p:txBody>
      </p:sp>
      <p:sp>
        <p:nvSpPr>
          <p:cNvPr id="20" name="Rounded Rectangle 19"/>
          <p:cNvSpPr/>
          <p:nvPr/>
        </p:nvSpPr>
        <p:spPr>
          <a:xfrm>
            <a:off x="8094268" y="2788920"/>
            <a:ext cx="1696669"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Türkiye'de afetler</a:t>
            </a:r>
          </a:p>
        </p:txBody>
      </p:sp>
      <p:sp>
        <p:nvSpPr>
          <p:cNvPr id="21" name="TextBox 20"/>
          <p:cNvSpPr txBox="1"/>
          <p:nvPr/>
        </p:nvSpPr>
        <p:spPr>
          <a:xfrm>
            <a:off x="8094268" y="4041648"/>
            <a:ext cx="1696669"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Nedenleri ve dağılışı</a:t>
            </a:r>
          </a:p>
        </p:txBody>
      </p:sp>
      <p:sp>
        <p:nvSpPr>
          <p:cNvPr id="22" name="Oval 21"/>
          <p:cNvSpPr/>
          <p:nvPr/>
        </p:nvSpPr>
        <p:spPr>
          <a:xfrm>
            <a:off x="10456391" y="1828800"/>
            <a:ext cx="768096" cy="768096"/>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6</a:t>
            </a:r>
          </a:p>
        </p:txBody>
      </p:sp>
      <p:sp>
        <p:nvSpPr>
          <p:cNvPr id="23" name="Rounded Rectangle 22"/>
          <p:cNvSpPr/>
          <p:nvPr/>
        </p:nvSpPr>
        <p:spPr>
          <a:xfrm>
            <a:off x="9992105" y="2788920"/>
            <a:ext cx="1696669"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Grid</a:t>
            </a:r>
          </a:p>
        </p:txBody>
      </p:sp>
      <p:sp>
        <p:nvSpPr>
          <p:cNvPr id="24" name="TextBox 23"/>
          <p:cNvSpPr txBox="1"/>
          <p:nvPr/>
        </p:nvSpPr>
        <p:spPr>
          <a:xfrm>
            <a:off x="9992105" y="4041648"/>
            <a:ext cx="1696669"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Bireysel kontrol</a:t>
            </a:r>
          </a:p>
        </p:txBody>
      </p:sp>
      <p:sp>
        <p:nvSpPr>
          <p:cNvPr id="25" name="TextBox 24"/>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6" name="TextBox 2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65 / 250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Gruplarımız ve haber paylaşımı</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8 GRUP</a:t>
            </a:r>
          </a:p>
        </p:txBody>
      </p:sp>
      <p:sp>
        <p:nvSpPr>
          <p:cNvPr id="6" name="Rounded Rectangle 5"/>
          <p:cNvSpPr/>
          <p:nvPr/>
        </p:nvSpPr>
        <p:spPr>
          <a:xfrm>
            <a:off x="502920" y="1261872"/>
            <a:ext cx="2076236" cy="3108960"/>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261872"/>
            <a:ext cx="2076236" cy="530352"/>
          </a:xfrm>
          <a:prstGeom prst="roundRect">
            <a:avLst>
              <a:gd name="adj" fmla="val 25000"/>
            </a:avLst>
          </a:prstGeom>
          <a:solidFill>
            <a:srgbClr val="6A4C93"/>
          </a:solidFill>
          <a:ln>
            <a:noFill/>
          </a:ln>
          <a:effectLst/>
        </p:spPr>
        <p:txBody>
          <a:bodyPr rtlCol="0" anchor="ctr"/>
          <a:lstStyle/>
          <a:p/>
        </p:txBody>
      </p:sp>
      <p:sp>
        <p:nvSpPr>
          <p:cNvPr id="8" name="Rectangle 7"/>
          <p:cNvSpPr/>
          <p:nvPr/>
        </p:nvSpPr>
        <p:spPr>
          <a:xfrm>
            <a:off x="502920" y="1527048"/>
            <a:ext cx="2076236" cy="265176"/>
          </a:xfrm>
          <a:prstGeom prst="rect">
            <a:avLst/>
          </a:prstGeom>
          <a:solidFill>
            <a:srgbClr val="6A4C93"/>
          </a:solidFill>
          <a:ln>
            <a:noFill/>
          </a:ln>
          <a:effectLst/>
        </p:spPr>
        <p:txBody>
          <a:bodyPr rtlCol="0" anchor="ctr"/>
          <a:lstStyle/>
          <a:p/>
        </p:txBody>
      </p:sp>
      <p:sp>
        <p:nvSpPr>
          <p:cNvPr id="9" name="TextBox 8"/>
          <p:cNvSpPr txBox="1"/>
          <p:nvPr/>
        </p:nvSpPr>
        <p:spPr>
          <a:xfrm>
            <a:off x="594360" y="1261872"/>
            <a:ext cx="1893356" cy="530352"/>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FFFFFF"/>
                </a:solidFill>
                <a:latin typeface="Calibri"/>
              </a:rPr>
              <a:t>SÖZCÜ</a:t>
            </a:r>
          </a:p>
        </p:txBody>
      </p:sp>
      <p:sp>
        <p:nvSpPr>
          <p:cNvPr id="10" name="TextBox 9"/>
          <p:cNvSpPr txBox="1"/>
          <p:nvPr/>
        </p:nvSpPr>
        <p:spPr>
          <a:xfrm>
            <a:off x="612648" y="1865376"/>
            <a:ext cx="1856780" cy="243230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Grubun cevabını sınıfla paylaşır.</a:t>
            </a:r>
          </a:p>
        </p:txBody>
      </p:sp>
      <p:sp>
        <p:nvSpPr>
          <p:cNvPr id="11" name="Rounded Rectangle 10"/>
          <p:cNvSpPr/>
          <p:nvPr/>
        </p:nvSpPr>
        <p:spPr>
          <a:xfrm>
            <a:off x="2780324" y="1261872"/>
            <a:ext cx="2076236" cy="3108960"/>
          </a:xfrm>
          <a:prstGeom prst="roundRect">
            <a:avLst>
              <a:gd name="adj" fmla="val 5000"/>
            </a:avLst>
          </a:prstGeom>
          <a:solidFill>
            <a:srgbClr val="F0F0F0"/>
          </a:solidFill>
          <a:ln>
            <a:noFill/>
          </a:ln>
          <a:effectLst/>
        </p:spPr>
        <p:txBody>
          <a:bodyPr rtlCol="0" anchor="ctr"/>
          <a:lstStyle/>
          <a:p/>
        </p:txBody>
      </p:sp>
      <p:sp>
        <p:nvSpPr>
          <p:cNvPr id="12" name="Rounded Rectangle 11"/>
          <p:cNvSpPr/>
          <p:nvPr/>
        </p:nvSpPr>
        <p:spPr>
          <a:xfrm>
            <a:off x="2780324" y="1261872"/>
            <a:ext cx="2076236" cy="530352"/>
          </a:xfrm>
          <a:prstGeom prst="roundRect">
            <a:avLst>
              <a:gd name="adj" fmla="val 25000"/>
            </a:avLst>
          </a:prstGeom>
          <a:solidFill>
            <a:srgbClr val="4F4F4F"/>
          </a:solidFill>
          <a:ln>
            <a:noFill/>
          </a:ln>
          <a:effectLst/>
        </p:spPr>
        <p:txBody>
          <a:bodyPr rtlCol="0" anchor="ctr"/>
          <a:lstStyle/>
          <a:p/>
        </p:txBody>
      </p:sp>
      <p:sp>
        <p:nvSpPr>
          <p:cNvPr id="13" name="Rectangle 12"/>
          <p:cNvSpPr/>
          <p:nvPr/>
        </p:nvSpPr>
        <p:spPr>
          <a:xfrm>
            <a:off x="2780324" y="1527048"/>
            <a:ext cx="2076236" cy="265176"/>
          </a:xfrm>
          <a:prstGeom prst="rect">
            <a:avLst/>
          </a:prstGeom>
          <a:solidFill>
            <a:srgbClr val="4F4F4F"/>
          </a:solidFill>
          <a:ln>
            <a:noFill/>
          </a:ln>
          <a:effectLst/>
        </p:spPr>
        <p:txBody>
          <a:bodyPr rtlCol="0" anchor="ctr"/>
          <a:lstStyle/>
          <a:p/>
        </p:txBody>
      </p:sp>
      <p:sp>
        <p:nvSpPr>
          <p:cNvPr id="14" name="TextBox 13"/>
          <p:cNvSpPr txBox="1"/>
          <p:nvPr/>
        </p:nvSpPr>
        <p:spPr>
          <a:xfrm>
            <a:off x="2871764" y="1261872"/>
            <a:ext cx="1893356" cy="530352"/>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FFFFFF"/>
                </a:solidFill>
                <a:latin typeface="Calibri"/>
              </a:rPr>
              <a:t>YAZICI</a:t>
            </a:r>
          </a:p>
        </p:txBody>
      </p:sp>
      <p:sp>
        <p:nvSpPr>
          <p:cNvPr id="15" name="TextBox 14"/>
          <p:cNvSpPr txBox="1"/>
          <p:nvPr/>
        </p:nvSpPr>
        <p:spPr>
          <a:xfrm>
            <a:off x="2890052" y="1865376"/>
            <a:ext cx="1856780" cy="243230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Ortak cevabı yazar, tabloyu doldurur.</a:t>
            </a:r>
          </a:p>
        </p:txBody>
      </p:sp>
      <p:sp>
        <p:nvSpPr>
          <p:cNvPr id="16" name="Rounded Rectangle 15"/>
          <p:cNvSpPr/>
          <p:nvPr/>
        </p:nvSpPr>
        <p:spPr>
          <a:xfrm>
            <a:off x="5057728" y="1261872"/>
            <a:ext cx="2076236" cy="3108960"/>
          </a:xfrm>
          <a:prstGeom prst="roundRect">
            <a:avLst>
              <a:gd name="adj" fmla="val 5000"/>
            </a:avLst>
          </a:prstGeom>
          <a:solidFill>
            <a:srgbClr val="F0F0F0"/>
          </a:solidFill>
          <a:ln>
            <a:noFill/>
          </a:ln>
          <a:effectLst/>
        </p:spPr>
        <p:txBody>
          <a:bodyPr rtlCol="0" anchor="ctr"/>
          <a:lstStyle/>
          <a:p/>
        </p:txBody>
      </p:sp>
      <p:sp>
        <p:nvSpPr>
          <p:cNvPr id="17" name="Rounded Rectangle 16"/>
          <p:cNvSpPr/>
          <p:nvPr/>
        </p:nvSpPr>
        <p:spPr>
          <a:xfrm>
            <a:off x="5057728" y="1261872"/>
            <a:ext cx="2076236" cy="530352"/>
          </a:xfrm>
          <a:prstGeom prst="roundRect">
            <a:avLst>
              <a:gd name="adj" fmla="val 25000"/>
            </a:avLst>
          </a:prstGeom>
          <a:solidFill>
            <a:srgbClr val="6A4C93"/>
          </a:solidFill>
          <a:ln>
            <a:noFill/>
          </a:ln>
          <a:effectLst/>
        </p:spPr>
        <p:txBody>
          <a:bodyPr rtlCol="0" anchor="ctr"/>
          <a:lstStyle/>
          <a:p/>
        </p:txBody>
      </p:sp>
      <p:sp>
        <p:nvSpPr>
          <p:cNvPr id="18" name="Rectangle 17"/>
          <p:cNvSpPr/>
          <p:nvPr/>
        </p:nvSpPr>
        <p:spPr>
          <a:xfrm>
            <a:off x="5057728" y="1527048"/>
            <a:ext cx="2076236" cy="265176"/>
          </a:xfrm>
          <a:prstGeom prst="rect">
            <a:avLst/>
          </a:prstGeom>
          <a:solidFill>
            <a:srgbClr val="6A4C93"/>
          </a:solidFill>
          <a:ln>
            <a:noFill/>
          </a:ln>
          <a:effectLst/>
        </p:spPr>
        <p:txBody>
          <a:bodyPr rtlCol="0" anchor="ctr"/>
          <a:lstStyle/>
          <a:p/>
        </p:txBody>
      </p:sp>
      <p:sp>
        <p:nvSpPr>
          <p:cNvPr id="19" name="TextBox 18"/>
          <p:cNvSpPr txBox="1"/>
          <p:nvPr/>
        </p:nvSpPr>
        <p:spPr>
          <a:xfrm>
            <a:off x="5149168" y="1261872"/>
            <a:ext cx="1893356" cy="530352"/>
          </a:xfrm>
          <a:prstGeom prst="rect">
            <a:avLst/>
          </a:prstGeom>
          <a:noFill/>
        </p:spPr>
        <p:txBody>
          <a:bodyPr wrap="square" anchor="ctr" lIns="73152" rIns="73152" tIns="36576" bIns="36576">
            <a:noAutofit/>
          </a:bodyPr>
          <a:lstStyle/>
          <a:p>
            <a:pPr algn="l">
              <a:spcBef>
                <a:spcPts val="0"/>
              </a:spcBef>
              <a:spcAft>
                <a:spcPts val="0"/>
              </a:spcAft>
            </a:pPr>
            <a:r>
              <a:rPr lang="tr-TR" sz="1450" b="1" i="0">
                <a:solidFill>
                  <a:srgbClr val="FFFFFF"/>
                </a:solidFill>
                <a:latin typeface="Calibri"/>
              </a:rPr>
              <a:t>ZAMAN VE MALZEME</a:t>
            </a:r>
          </a:p>
        </p:txBody>
      </p:sp>
      <p:sp>
        <p:nvSpPr>
          <p:cNvPr id="20" name="TextBox 19"/>
          <p:cNvSpPr txBox="1"/>
          <p:nvPr/>
        </p:nvSpPr>
        <p:spPr>
          <a:xfrm>
            <a:off x="5167456" y="1865376"/>
            <a:ext cx="1856780" cy="243230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Süreyi izler, 2 dk kala uyarır; malzemeyi alır, teslim eder.</a:t>
            </a:r>
          </a:p>
        </p:txBody>
      </p:sp>
      <p:sp>
        <p:nvSpPr>
          <p:cNvPr id="21" name="Rounded Rectangle 20"/>
          <p:cNvSpPr/>
          <p:nvPr/>
        </p:nvSpPr>
        <p:spPr>
          <a:xfrm>
            <a:off x="7335132" y="1261872"/>
            <a:ext cx="2076236" cy="3108960"/>
          </a:xfrm>
          <a:prstGeom prst="roundRect">
            <a:avLst>
              <a:gd name="adj" fmla="val 5000"/>
            </a:avLst>
          </a:prstGeom>
          <a:solidFill>
            <a:srgbClr val="F0F0F0"/>
          </a:solidFill>
          <a:ln>
            <a:noFill/>
          </a:ln>
          <a:effectLst/>
        </p:spPr>
        <p:txBody>
          <a:bodyPr rtlCol="0" anchor="ctr"/>
          <a:lstStyle/>
          <a:p/>
        </p:txBody>
      </p:sp>
      <p:sp>
        <p:nvSpPr>
          <p:cNvPr id="22" name="Rounded Rectangle 21"/>
          <p:cNvSpPr/>
          <p:nvPr/>
        </p:nvSpPr>
        <p:spPr>
          <a:xfrm>
            <a:off x="7335132" y="1261872"/>
            <a:ext cx="2076236" cy="530352"/>
          </a:xfrm>
          <a:prstGeom prst="roundRect">
            <a:avLst>
              <a:gd name="adj" fmla="val 25000"/>
            </a:avLst>
          </a:prstGeom>
          <a:solidFill>
            <a:srgbClr val="4F4F4F"/>
          </a:solidFill>
          <a:ln>
            <a:noFill/>
          </a:ln>
          <a:effectLst/>
        </p:spPr>
        <p:txBody>
          <a:bodyPr rtlCol="0" anchor="ctr"/>
          <a:lstStyle/>
          <a:p/>
        </p:txBody>
      </p:sp>
      <p:sp>
        <p:nvSpPr>
          <p:cNvPr id="23" name="Rectangle 22"/>
          <p:cNvSpPr/>
          <p:nvPr/>
        </p:nvSpPr>
        <p:spPr>
          <a:xfrm>
            <a:off x="7335132" y="1527048"/>
            <a:ext cx="2076236" cy="265176"/>
          </a:xfrm>
          <a:prstGeom prst="rect">
            <a:avLst/>
          </a:prstGeom>
          <a:solidFill>
            <a:srgbClr val="4F4F4F"/>
          </a:solidFill>
          <a:ln>
            <a:noFill/>
          </a:ln>
          <a:effectLst/>
        </p:spPr>
        <p:txBody>
          <a:bodyPr rtlCol="0" anchor="ctr"/>
          <a:lstStyle/>
          <a:p/>
        </p:txBody>
      </p:sp>
      <p:sp>
        <p:nvSpPr>
          <p:cNvPr id="24" name="TextBox 23"/>
          <p:cNvSpPr txBox="1"/>
          <p:nvPr/>
        </p:nvSpPr>
        <p:spPr>
          <a:xfrm>
            <a:off x="7426572" y="1261872"/>
            <a:ext cx="1893356" cy="530352"/>
          </a:xfrm>
          <a:prstGeom prst="rect">
            <a:avLst/>
          </a:prstGeom>
          <a:noFill/>
        </p:spPr>
        <p:txBody>
          <a:bodyPr wrap="square" anchor="ctr" lIns="73152" rIns="73152" tIns="36576" bIns="36576">
            <a:noAutofit/>
          </a:bodyPr>
          <a:lstStyle/>
          <a:p>
            <a:pPr algn="l">
              <a:spcBef>
                <a:spcPts val="0"/>
              </a:spcBef>
              <a:spcAft>
                <a:spcPts val="0"/>
              </a:spcAft>
            </a:pPr>
            <a:r>
              <a:rPr lang="tr-TR" sz="1450" b="1" i="0">
                <a:solidFill>
                  <a:srgbClr val="FFFFFF"/>
                </a:solidFill>
                <a:latin typeface="Calibri"/>
              </a:rPr>
              <a:t>HARİTA / VERİ OKUYUCU</a:t>
            </a:r>
          </a:p>
        </p:txBody>
      </p:sp>
      <p:sp>
        <p:nvSpPr>
          <p:cNvPr id="25" name="TextBox 24"/>
          <p:cNvSpPr txBox="1"/>
          <p:nvPr/>
        </p:nvSpPr>
        <p:spPr>
          <a:xfrm>
            <a:off x="7444860" y="1865376"/>
            <a:ext cx="1856780" cy="243230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Haritayı, tabloyu ve grafiği okur, gösterir.</a:t>
            </a:r>
          </a:p>
        </p:txBody>
      </p:sp>
      <p:sp>
        <p:nvSpPr>
          <p:cNvPr id="26" name="Rounded Rectangle 25"/>
          <p:cNvSpPr/>
          <p:nvPr/>
        </p:nvSpPr>
        <p:spPr>
          <a:xfrm>
            <a:off x="9612536" y="1261872"/>
            <a:ext cx="2076236" cy="3108960"/>
          </a:xfrm>
          <a:prstGeom prst="roundRect">
            <a:avLst>
              <a:gd name="adj" fmla="val 5000"/>
            </a:avLst>
          </a:prstGeom>
          <a:solidFill>
            <a:srgbClr val="F0F0F0"/>
          </a:solidFill>
          <a:ln>
            <a:noFill/>
          </a:ln>
          <a:effectLst/>
        </p:spPr>
        <p:txBody>
          <a:bodyPr rtlCol="0" anchor="ctr"/>
          <a:lstStyle/>
          <a:p/>
        </p:txBody>
      </p:sp>
      <p:sp>
        <p:nvSpPr>
          <p:cNvPr id="27" name="Rounded Rectangle 26"/>
          <p:cNvSpPr/>
          <p:nvPr/>
        </p:nvSpPr>
        <p:spPr>
          <a:xfrm>
            <a:off x="9612536" y="1261872"/>
            <a:ext cx="2076236" cy="530352"/>
          </a:xfrm>
          <a:prstGeom prst="roundRect">
            <a:avLst>
              <a:gd name="adj" fmla="val 25000"/>
            </a:avLst>
          </a:prstGeom>
          <a:solidFill>
            <a:srgbClr val="6A4C93"/>
          </a:solidFill>
          <a:ln>
            <a:noFill/>
          </a:ln>
          <a:effectLst/>
        </p:spPr>
        <p:txBody>
          <a:bodyPr rtlCol="0" anchor="ctr"/>
          <a:lstStyle/>
          <a:p/>
        </p:txBody>
      </p:sp>
      <p:sp>
        <p:nvSpPr>
          <p:cNvPr id="28" name="Rectangle 27"/>
          <p:cNvSpPr/>
          <p:nvPr/>
        </p:nvSpPr>
        <p:spPr>
          <a:xfrm>
            <a:off x="9612536" y="1527048"/>
            <a:ext cx="2076236" cy="265176"/>
          </a:xfrm>
          <a:prstGeom prst="rect">
            <a:avLst/>
          </a:prstGeom>
          <a:solidFill>
            <a:srgbClr val="6A4C93"/>
          </a:solidFill>
          <a:ln>
            <a:noFill/>
          </a:ln>
          <a:effectLst/>
        </p:spPr>
        <p:txBody>
          <a:bodyPr rtlCol="0" anchor="ctr"/>
          <a:lstStyle/>
          <a:p/>
        </p:txBody>
      </p:sp>
      <p:sp>
        <p:nvSpPr>
          <p:cNvPr id="29" name="TextBox 28"/>
          <p:cNvSpPr txBox="1"/>
          <p:nvPr/>
        </p:nvSpPr>
        <p:spPr>
          <a:xfrm>
            <a:off x="9703976" y="1261872"/>
            <a:ext cx="1893356" cy="530352"/>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FFFFFF"/>
                </a:solidFill>
                <a:latin typeface="Calibri"/>
              </a:rPr>
              <a:t>KONTROLCÜ</a:t>
            </a:r>
          </a:p>
        </p:txBody>
      </p:sp>
      <p:sp>
        <p:nvSpPr>
          <p:cNvPr id="30" name="TextBox 29"/>
          <p:cNvSpPr txBox="1"/>
          <p:nvPr/>
        </p:nvSpPr>
        <p:spPr>
          <a:xfrm>
            <a:off x="9722264" y="1865376"/>
            <a:ext cx="1856780" cy="243230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5 kişilik grupta yazımı, kaynağı ve doğruluğu denetler.</a:t>
            </a:r>
          </a:p>
        </p:txBody>
      </p:sp>
      <p:sp>
        <p:nvSpPr>
          <p:cNvPr id="31" name="Rounded Rectangle 30"/>
          <p:cNvSpPr/>
          <p:nvPr/>
        </p:nvSpPr>
        <p:spPr>
          <a:xfrm>
            <a:off x="502920" y="4599432"/>
            <a:ext cx="11185855" cy="1645920"/>
          </a:xfrm>
          <a:prstGeom prst="roundRect">
            <a:avLst>
              <a:gd name="adj" fmla="val 8000"/>
            </a:avLst>
          </a:prstGeom>
          <a:solidFill>
            <a:srgbClr val="F0F0F0"/>
          </a:solidFill>
          <a:ln>
            <a:noFill/>
          </a:ln>
          <a:effectLst/>
        </p:spPr>
        <p:txBody>
          <a:bodyPr rtlCol="0" anchor="ctr" wrap="square" lIns="274320" rIns="274320" tIns="73152" bIns="73152">
            <a:noAutofit/>
          </a:bodyPr>
          <a:lstStyle/>
          <a:p>
            <a:pPr algn="l">
              <a:spcBef>
                <a:spcPts val="0"/>
              </a:spcBef>
              <a:spcAft>
                <a:spcPts val="600"/>
              </a:spcAft>
            </a:pPr>
            <a:r>
              <a:rPr lang="tr-TR" sz="2400" b="1" i="0">
                <a:solidFill>
                  <a:srgbClr val="6A4C93"/>
                </a:solidFill>
                <a:latin typeface="Calibri"/>
              </a:rPr>
              <a:t>Herkes getirdiği haberi 30 saniyede tanıtır; grup birini seçer, sözcü sınıfa söyler.</a:t>
            </a:r>
          </a:p>
          <a:p>
            <a:pPr algn="l" marL="298344" indent="-298344">
              <a:spcBef>
                <a:spcPts val="0"/>
              </a:spcBef>
              <a:spcAft>
                <a:spcPts val="0"/>
              </a:spcAft>
            </a:pPr>
            <a:r>
              <a:rPr lang="tr-TR" sz="2400" b="1" i="0">
                <a:solidFill>
                  <a:srgbClr val="2C6696"/>
                </a:solidFill>
                <a:latin typeface="Calibri"/>
              </a:rPr>
              <a:t>•  </a:t>
            </a:r>
            <a:r>
              <a:rPr lang="tr-TR" sz="2400" b="0" i="0">
                <a:solidFill>
                  <a:srgbClr val="262626"/>
                </a:solidFill>
                <a:latin typeface="Calibri"/>
              </a:rPr>
              <a:t>Grupta “30 cm sesi” · söz hakkı isim kartıyla · farklı görüşlere saygı</a:t>
            </a:r>
          </a:p>
        </p:txBody>
      </p:sp>
      <p:sp>
        <p:nvSpPr>
          <p:cNvPr id="32" name="TextBox 3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33" name="TextBox 3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66 / 250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Getirdiğiniz afet haberleri</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HABERLER · 6 dk</a:t>
            </a:r>
          </a:p>
        </p:txBody>
      </p:sp>
      <p:sp>
        <p:nvSpPr>
          <p:cNvPr id="6" name="Rounded Rectangle 5"/>
          <p:cNvSpPr/>
          <p:nvPr/>
        </p:nvSpPr>
        <p:spPr>
          <a:xfrm>
            <a:off x="502920" y="1261872"/>
            <a:ext cx="5455767" cy="1240536"/>
          </a:xfrm>
          <a:prstGeom prst="roundRect">
            <a:avLst>
              <a:gd name="adj" fmla="val 8000"/>
            </a:avLst>
          </a:prstGeom>
          <a:solidFill>
            <a:srgbClr val="F0F0F0"/>
          </a:solidFill>
          <a:ln>
            <a:noFill/>
          </a:ln>
          <a:effectLst/>
        </p:spPr>
        <p:txBody>
          <a:bodyPr rtlCol="0" anchor="ctr"/>
          <a:lstStyle/>
          <a:p/>
        </p:txBody>
      </p:sp>
      <p:sp>
        <p:nvSpPr>
          <p:cNvPr id="7" name="Rounded Rectangle 6"/>
          <p:cNvSpPr/>
          <p:nvPr/>
        </p:nvSpPr>
        <p:spPr>
          <a:xfrm>
            <a:off x="502920" y="1261872"/>
            <a:ext cx="1600200" cy="1240536"/>
          </a:xfrm>
          <a:prstGeom prst="roundRect">
            <a:avLst>
              <a:gd name="adj" fmla="val 8000"/>
            </a:avLst>
          </a:prstGeom>
          <a:solidFill>
            <a:srgbClr val="6A4C93"/>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30 sn</a:t>
            </a:r>
          </a:p>
        </p:txBody>
      </p:sp>
      <p:sp>
        <p:nvSpPr>
          <p:cNvPr id="8" name="TextBox 7"/>
          <p:cNvSpPr txBox="1"/>
          <p:nvPr/>
        </p:nvSpPr>
        <p:spPr>
          <a:xfrm>
            <a:off x="2240280" y="1261872"/>
            <a:ext cx="3626967" cy="1240536"/>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Haberini grubuna tanıt: ne oldu, nerede, ne zaman?</a:t>
            </a:r>
          </a:p>
        </p:txBody>
      </p:sp>
      <p:sp>
        <p:nvSpPr>
          <p:cNvPr id="9" name="Rounded Rectangle 8"/>
          <p:cNvSpPr/>
          <p:nvPr/>
        </p:nvSpPr>
        <p:spPr>
          <a:xfrm>
            <a:off x="502920" y="2630424"/>
            <a:ext cx="5455767" cy="1240536"/>
          </a:xfrm>
          <a:prstGeom prst="roundRect">
            <a:avLst>
              <a:gd name="adj" fmla="val 8000"/>
            </a:avLst>
          </a:prstGeom>
          <a:solidFill>
            <a:srgbClr val="F0F0F0"/>
          </a:solidFill>
          <a:ln>
            <a:noFill/>
          </a:ln>
          <a:effectLst/>
        </p:spPr>
        <p:txBody>
          <a:bodyPr rtlCol="0" anchor="ctr"/>
          <a:lstStyle/>
          <a:p/>
        </p:txBody>
      </p:sp>
      <p:sp>
        <p:nvSpPr>
          <p:cNvPr id="10" name="Rounded Rectangle 9"/>
          <p:cNvSpPr/>
          <p:nvPr/>
        </p:nvSpPr>
        <p:spPr>
          <a:xfrm>
            <a:off x="502920" y="2630424"/>
            <a:ext cx="1600200" cy="1240536"/>
          </a:xfrm>
          <a:prstGeom prst="roundRect">
            <a:avLst>
              <a:gd name="adj" fmla="val 8000"/>
            </a:avLst>
          </a:prstGeom>
          <a:solidFill>
            <a:srgbClr val="6A4C93"/>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SEÇ</a:t>
            </a:r>
          </a:p>
        </p:txBody>
      </p:sp>
      <p:sp>
        <p:nvSpPr>
          <p:cNvPr id="11" name="TextBox 10"/>
          <p:cNvSpPr txBox="1"/>
          <p:nvPr/>
        </p:nvSpPr>
        <p:spPr>
          <a:xfrm>
            <a:off x="2240280" y="2630424"/>
            <a:ext cx="3626967" cy="1240536"/>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Grup en çarpıcı haberi seçer.</a:t>
            </a:r>
          </a:p>
        </p:txBody>
      </p:sp>
      <p:sp>
        <p:nvSpPr>
          <p:cNvPr id="12" name="Rounded Rectangle 11"/>
          <p:cNvSpPr/>
          <p:nvPr/>
        </p:nvSpPr>
        <p:spPr>
          <a:xfrm>
            <a:off x="502920" y="3998976"/>
            <a:ext cx="5455767" cy="1240536"/>
          </a:xfrm>
          <a:prstGeom prst="roundRect">
            <a:avLst>
              <a:gd name="adj" fmla="val 8000"/>
            </a:avLst>
          </a:prstGeom>
          <a:solidFill>
            <a:srgbClr val="F0F0F0"/>
          </a:solidFill>
          <a:ln>
            <a:noFill/>
          </a:ln>
          <a:effectLst/>
        </p:spPr>
        <p:txBody>
          <a:bodyPr rtlCol="0" anchor="ctr"/>
          <a:lstStyle/>
          <a:p/>
        </p:txBody>
      </p:sp>
      <p:sp>
        <p:nvSpPr>
          <p:cNvPr id="13" name="Rounded Rectangle 12"/>
          <p:cNvSpPr/>
          <p:nvPr/>
        </p:nvSpPr>
        <p:spPr>
          <a:xfrm>
            <a:off x="502920" y="3998976"/>
            <a:ext cx="1600200" cy="1240536"/>
          </a:xfrm>
          <a:prstGeom prst="roundRect">
            <a:avLst>
              <a:gd name="adj" fmla="val 8000"/>
            </a:avLst>
          </a:prstGeom>
          <a:solidFill>
            <a:srgbClr val="6A4C93"/>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SÖZCÜ</a:t>
            </a:r>
          </a:p>
        </p:txBody>
      </p:sp>
      <p:sp>
        <p:nvSpPr>
          <p:cNvPr id="14" name="TextBox 13"/>
          <p:cNvSpPr txBox="1"/>
          <p:nvPr/>
        </p:nvSpPr>
        <p:spPr>
          <a:xfrm>
            <a:off x="2240280" y="3998976"/>
            <a:ext cx="3626967" cy="1240536"/>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Sınıfa söyler; öğretmen afetin adını tahtaya yazar.</a:t>
            </a:r>
          </a:p>
        </p:txBody>
      </p:sp>
      <p:sp>
        <p:nvSpPr>
          <p:cNvPr id="15" name="Rounded Rectangle 14"/>
          <p:cNvSpPr/>
          <p:nvPr/>
        </p:nvSpPr>
        <p:spPr>
          <a:xfrm>
            <a:off x="502920" y="5376672"/>
            <a:ext cx="5455767" cy="868680"/>
          </a:xfrm>
          <a:prstGeom prst="roundRect">
            <a:avLst>
              <a:gd name="adj" fmla="val 8000"/>
            </a:avLst>
          </a:prstGeom>
          <a:solidFill>
            <a:srgbClr val="F9E1E1"/>
          </a:solidFill>
          <a:ln>
            <a:noFill/>
          </a:ln>
          <a:effectLst/>
        </p:spPr>
        <p:txBody>
          <a:bodyPr rtlCol="0" anchor="ctr" wrap="square" lIns="182880" rIns="182880" tIns="73152" bIns="73152">
            <a:noAutofit/>
          </a:bodyPr>
          <a:lstStyle/>
          <a:p>
            <a:pPr algn="l">
              <a:spcBef>
                <a:spcPts val="0"/>
              </a:spcBef>
              <a:spcAft>
                <a:spcPts val="0"/>
              </a:spcAft>
            </a:pPr>
            <a:r>
              <a:rPr lang="tr-TR" sz="1800" b="0" i="0">
                <a:solidFill>
                  <a:srgbClr val="262626"/>
                </a:solidFill>
                <a:latin typeface="Calibri"/>
              </a:rPr>
              <a:t>Kişisel kayıplar anlatılmaz; haberdeki kişinin adı ve görüntüsü sınıfa taşınmaz.</a:t>
            </a:r>
          </a:p>
        </p:txBody>
      </p:sp>
      <p:sp>
        <p:nvSpPr>
          <p:cNvPr id="16" name="Rounded Rectangle 15"/>
          <p:cNvSpPr/>
          <p:nvPr/>
        </p:nvSpPr>
        <p:spPr>
          <a:xfrm>
            <a:off x="6233007" y="1261872"/>
            <a:ext cx="5455767" cy="4983480"/>
          </a:xfrm>
          <a:prstGeom prst="roundRect">
            <a:avLst>
              <a:gd name="adj" fmla="val 5000"/>
            </a:avLst>
          </a:prstGeom>
          <a:solidFill>
            <a:srgbClr val="F0F0F0"/>
          </a:solidFill>
          <a:ln>
            <a:noFill/>
          </a:ln>
          <a:effectLst/>
        </p:spPr>
        <p:txBody>
          <a:bodyPr rtlCol="0" anchor="ctr"/>
          <a:lstStyle/>
          <a:p/>
        </p:txBody>
      </p:sp>
      <p:sp>
        <p:nvSpPr>
          <p:cNvPr id="17" name="Rounded Rectangle 16"/>
          <p:cNvSpPr/>
          <p:nvPr/>
        </p:nvSpPr>
        <p:spPr>
          <a:xfrm>
            <a:off x="6233007" y="1261872"/>
            <a:ext cx="5455767" cy="530352"/>
          </a:xfrm>
          <a:prstGeom prst="roundRect">
            <a:avLst>
              <a:gd name="adj" fmla="val 25000"/>
            </a:avLst>
          </a:prstGeom>
          <a:solidFill>
            <a:srgbClr val="4F4F4F"/>
          </a:solidFill>
          <a:ln>
            <a:noFill/>
          </a:ln>
          <a:effectLst/>
        </p:spPr>
        <p:txBody>
          <a:bodyPr rtlCol="0" anchor="ctr"/>
          <a:lstStyle/>
          <a:p/>
        </p:txBody>
      </p:sp>
      <p:sp>
        <p:nvSpPr>
          <p:cNvPr id="18" name="Rectangle 17"/>
          <p:cNvSpPr/>
          <p:nvPr/>
        </p:nvSpPr>
        <p:spPr>
          <a:xfrm>
            <a:off x="6233007" y="1527048"/>
            <a:ext cx="5455767" cy="265176"/>
          </a:xfrm>
          <a:prstGeom prst="rect">
            <a:avLst/>
          </a:prstGeom>
          <a:solidFill>
            <a:srgbClr val="4F4F4F"/>
          </a:solidFill>
          <a:ln>
            <a:noFill/>
          </a:ln>
          <a:effectLst/>
        </p:spPr>
        <p:txBody>
          <a:bodyPr rtlCol="0" anchor="ctr"/>
          <a:lstStyle/>
          <a:p/>
        </p:txBody>
      </p:sp>
      <p:sp>
        <p:nvSpPr>
          <p:cNvPr id="19" name="TextBox 18"/>
          <p:cNvSpPr txBox="1"/>
          <p:nvPr/>
        </p:nvSpPr>
        <p:spPr>
          <a:xfrm>
            <a:off x="6324447" y="1261872"/>
            <a:ext cx="5272887" cy="530352"/>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FFFFFF"/>
                </a:solidFill>
                <a:latin typeface="Calibri"/>
              </a:rPr>
              <a:t>Tahtada: ham liste</a:t>
            </a:r>
          </a:p>
        </p:txBody>
      </p:sp>
      <p:cxnSp>
        <p:nvCxnSpPr>
          <p:cNvPr id="20" name="Connector 19"/>
          <p:cNvCxnSpPr/>
          <p:nvPr/>
        </p:nvCxnSpPr>
        <p:spPr>
          <a:xfrm>
            <a:off x="6553047" y="2221992"/>
            <a:ext cx="4815687" cy="0"/>
          </a:xfrm>
          <a:prstGeom prst="line">
            <a:avLst/>
          </a:prstGeom>
          <a:ln w="12700">
            <a:solidFill>
              <a:srgbClr val="D9D9D9"/>
            </a:solidFill>
            <a:prstDash val="dash"/>
          </a:ln>
        </p:spPr>
      </p:cxnSp>
      <p:cxnSp>
        <p:nvCxnSpPr>
          <p:cNvPr id="21" name="Connector 20"/>
          <p:cNvCxnSpPr/>
          <p:nvPr/>
        </p:nvCxnSpPr>
        <p:spPr>
          <a:xfrm>
            <a:off x="6553047" y="2935224"/>
            <a:ext cx="4815687" cy="0"/>
          </a:xfrm>
          <a:prstGeom prst="line">
            <a:avLst/>
          </a:prstGeom>
          <a:ln w="12700">
            <a:solidFill>
              <a:srgbClr val="D9D9D9"/>
            </a:solidFill>
            <a:prstDash val="dash"/>
          </a:ln>
        </p:spPr>
      </p:cxnSp>
      <p:cxnSp>
        <p:nvCxnSpPr>
          <p:cNvPr id="22" name="Connector 21"/>
          <p:cNvCxnSpPr/>
          <p:nvPr/>
        </p:nvCxnSpPr>
        <p:spPr>
          <a:xfrm>
            <a:off x="6553047" y="3648456"/>
            <a:ext cx="4815687" cy="0"/>
          </a:xfrm>
          <a:prstGeom prst="line">
            <a:avLst/>
          </a:prstGeom>
          <a:ln w="12700">
            <a:solidFill>
              <a:srgbClr val="D9D9D9"/>
            </a:solidFill>
            <a:prstDash val="dash"/>
          </a:ln>
        </p:spPr>
      </p:cxnSp>
      <p:cxnSp>
        <p:nvCxnSpPr>
          <p:cNvPr id="23" name="Connector 22"/>
          <p:cNvCxnSpPr/>
          <p:nvPr/>
        </p:nvCxnSpPr>
        <p:spPr>
          <a:xfrm>
            <a:off x="6553047" y="4361688"/>
            <a:ext cx="4815687" cy="0"/>
          </a:xfrm>
          <a:prstGeom prst="line">
            <a:avLst/>
          </a:prstGeom>
          <a:ln w="12700">
            <a:solidFill>
              <a:srgbClr val="D9D9D9"/>
            </a:solidFill>
            <a:prstDash val="dash"/>
          </a:ln>
        </p:spPr>
      </p:cxnSp>
      <p:cxnSp>
        <p:nvCxnSpPr>
          <p:cNvPr id="24" name="Connector 23"/>
          <p:cNvCxnSpPr/>
          <p:nvPr/>
        </p:nvCxnSpPr>
        <p:spPr>
          <a:xfrm>
            <a:off x="6553047" y="5074920"/>
            <a:ext cx="4815687" cy="0"/>
          </a:xfrm>
          <a:prstGeom prst="line">
            <a:avLst/>
          </a:prstGeom>
          <a:ln w="12700">
            <a:solidFill>
              <a:srgbClr val="D9D9D9"/>
            </a:solidFill>
            <a:prstDash val="dash"/>
          </a:ln>
        </p:spPr>
      </p:cxnSp>
      <p:cxnSp>
        <p:nvCxnSpPr>
          <p:cNvPr id="25" name="Connector 24"/>
          <p:cNvCxnSpPr/>
          <p:nvPr/>
        </p:nvCxnSpPr>
        <p:spPr>
          <a:xfrm>
            <a:off x="6553047" y="5788152"/>
            <a:ext cx="4815687" cy="0"/>
          </a:xfrm>
          <a:prstGeom prst="line">
            <a:avLst/>
          </a:prstGeom>
          <a:ln w="12700">
            <a:solidFill>
              <a:srgbClr val="D9D9D9"/>
            </a:solidFill>
            <a:prstDash val="dash"/>
          </a:ln>
        </p:spPr>
      </p:cxnSp>
      <p:sp>
        <p:nvSpPr>
          <p:cNvPr id="26" name="TextBox 25"/>
          <p:cNvSpPr txBox="1"/>
          <p:nvPr/>
        </p:nvSpPr>
        <p:spPr>
          <a:xfrm>
            <a:off x="6415887" y="5513832"/>
            <a:ext cx="5090007" cy="640080"/>
          </a:xfrm>
          <a:prstGeom prst="rect">
            <a:avLst/>
          </a:prstGeom>
          <a:noFill/>
        </p:spPr>
        <p:txBody>
          <a:bodyPr wrap="square" anchor="ctr" lIns="73152" rIns="73152" tIns="36576" bIns="36576">
            <a:noAutofit/>
          </a:bodyPr>
          <a:lstStyle/>
          <a:p>
            <a:pPr algn="ctr">
              <a:spcBef>
                <a:spcPts val="0"/>
              </a:spcBef>
              <a:spcAft>
                <a:spcPts val="0"/>
              </a:spcAft>
            </a:pPr>
            <a:r>
              <a:rPr lang="tr-TR" sz="1700" b="0" i="1">
                <a:solidFill>
                  <a:srgbClr val="767676"/>
                </a:solidFill>
                <a:latin typeface="Calibri"/>
              </a:rPr>
              <a:t>Sıra yok, grup yok: yalnız afetin adı</a:t>
            </a:r>
          </a:p>
        </p:txBody>
      </p:sp>
      <p:sp>
        <p:nvSpPr>
          <p:cNvPr id="27" name="TextBox 2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8" name="TextBox 2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67 / 250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1. tur: kartları kendi ölçütünüzle gruplayın</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8 GRUP · 10 dk</a:t>
            </a:r>
          </a:p>
        </p:txBody>
      </p:sp>
      <p:sp>
        <p:nvSpPr>
          <p:cNvPr id="6" name="Rounded Rectangle 5"/>
          <p:cNvSpPr/>
          <p:nvPr/>
        </p:nvSpPr>
        <p:spPr>
          <a:xfrm>
            <a:off x="502920" y="1261872"/>
            <a:ext cx="6309360" cy="1149858"/>
          </a:xfrm>
          <a:prstGeom prst="roundRect">
            <a:avLst>
              <a:gd name="adj" fmla="val 8000"/>
            </a:avLst>
          </a:prstGeom>
          <a:solidFill>
            <a:srgbClr val="F0F0F0"/>
          </a:solidFill>
          <a:ln>
            <a:noFill/>
          </a:ln>
          <a:effectLst/>
        </p:spPr>
        <p:txBody>
          <a:bodyPr rtlCol="0" anchor="ctr"/>
          <a:lstStyle/>
          <a:p/>
        </p:txBody>
      </p:sp>
      <p:sp>
        <p:nvSpPr>
          <p:cNvPr id="7" name="Rounded Rectangle 6"/>
          <p:cNvSpPr/>
          <p:nvPr/>
        </p:nvSpPr>
        <p:spPr>
          <a:xfrm>
            <a:off x="502920" y="1261872"/>
            <a:ext cx="1600200" cy="1149858"/>
          </a:xfrm>
          <a:prstGeom prst="roundRect">
            <a:avLst>
              <a:gd name="adj" fmla="val 8000"/>
            </a:avLst>
          </a:prstGeom>
          <a:solidFill>
            <a:srgbClr val="6A4C93"/>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1</a:t>
            </a:r>
          </a:p>
        </p:txBody>
      </p:sp>
      <p:sp>
        <p:nvSpPr>
          <p:cNvPr id="8" name="TextBox 7"/>
          <p:cNvSpPr txBox="1"/>
          <p:nvPr/>
        </p:nvSpPr>
        <p:spPr>
          <a:xfrm>
            <a:off x="2240280" y="1261872"/>
            <a:ext cx="4480560" cy="1149858"/>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Zarfı açın: 31 afet kartı.</a:t>
            </a:r>
          </a:p>
        </p:txBody>
      </p:sp>
      <p:sp>
        <p:nvSpPr>
          <p:cNvPr id="9" name="Rounded Rectangle 8"/>
          <p:cNvSpPr/>
          <p:nvPr/>
        </p:nvSpPr>
        <p:spPr>
          <a:xfrm>
            <a:off x="502920" y="2539746"/>
            <a:ext cx="6309360" cy="1149858"/>
          </a:xfrm>
          <a:prstGeom prst="roundRect">
            <a:avLst>
              <a:gd name="adj" fmla="val 8000"/>
            </a:avLst>
          </a:prstGeom>
          <a:solidFill>
            <a:srgbClr val="F0F0F0"/>
          </a:solidFill>
          <a:ln>
            <a:noFill/>
          </a:ln>
          <a:effectLst/>
        </p:spPr>
        <p:txBody>
          <a:bodyPr rtlCol="0" anchor="ctr"/>
          <a:lstStyle/>
          <a:p/>
        </p:txBody>
      </p:sp>
      <p:sp>
        <p:nvSpPr>
          <p:cNvPr id="10" name="Rounded Rectangle 9"/>
          <p:cNvSpPr/>
          <p:nvPr/>
        </p:nvSpPr>
        <p:spPr>
          <a:xfrm>
            <a:off x="502920" y="2539746"/>
            <a:ext cx="1600200" cy="1149858"/>
          </a:xfrm>
          <a:prstGeom prst="roundRect">
            <a:avLst>
              <a:gd name="adj" fmla="val 8000"/>
            </a:avLst>
          </a:prstGeom>
          <a:solidFill>
            <a:srgbClr val="6A4C93"/>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2</a:t>
            </a:r>
          </a:p>
        </p:txBody>
      </p:sp>
      <p:sp>
        <p:nvSpPr>
          <p:cNvPr id="11" name="TextBox 10"/>
          <p:cNvSpPr txBox="1"/>
          <p:nvPr/>
        </p:nvSpPr>
        <p:spPr>
          <a:xfrm>
            <a:off x="2240280" y="2539746"/>
            <a:ext cx="4480560" cy="1149858"/>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Sizce anlamlı gruplara ayırın.</a:t>
            </a:r>
          </a:p>
        </p:txBody>
      </p:sp>
      <p:sp>
        <p:nvSpPr>
          <p:cNvPr id="12" name="Rounded Rectangle 11"/>
          <p:cNvSpPr/>
          <p:nvPr/>
        </p:nvSpPr>
        <p:spPr>
          <a:xfrm>
            <a:off x="502920" y="3817620"/>
            <a:ext cx="6309360" cy="1149858"/>
          </a:xfrm>
          <a:prstGeom prst="roundRect">
            <a:avLst>
              <a:gd name="adj" fmla="val 8000"/>
            </a:avLst>
          </a:prstGeom>
          <a:solidFill>
            <a:srgbClr val="F0F0F0"/>
          </a:solidFill>
          <a:ln>
            <a:noFill/>
          </a:ln>
          <a:effectLst/>
        </p:spPr>
        <p:txBody>
          <a:bodyPr rtlCol="0" anchor="ctr"/>
          <a:lstStyle/>
          <a:p/>
        </p:txBody>
      </p:sp>
      <p:sp>
        <p:nvSpPr>
          <p:cNvPr id="13" name="Rounded Rectangle 12"/>
          <p:cNvSpPr/>
          <p:nvPr/>
        </p:nvSpPr>
        <p:spPr>
          <a:xfrm>
            <a:off x="502920" y="3817620"/>
            <a:ext cx="1600200" cy="1149858"/>
          </a:xfrm>
          <a:prstGeom prst="roundRect">
            <a:avLst>
              <a:gd name="adj" fmla="val 8000"/>
            </a:avLst>
          </a:prstGeom>
          <a:solidFill>
            <a:srgbClr val="6A4C93"/>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3</a:t>
            </a:r>
          </a:p>
        </p:txBody>
      </p:sp>
      <p:sp>
        <p:nvSpPr>
          <p:cNvPr id="14" name="TextBox 13"/>
          <p:cNvSpPr txBox="1"/>
          <p:nvPr/>
        </p:nvSpPr>
        <p:spPr>
          <a:xfrm>
            <a:off x="2240280" y="3817620"/>
            <a:ext cx="4480560" cy="1149858"/>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Ölçütünüzü tablonun başına yazın.</a:t>
            </a:r>
          </a:p>
        </p:txBody>
      </p:sp>
      <p:sp>
        <p:nvSpPr>
          <p:cNvPr id="15" name="Rounded Rectangle 14"/>
          <p:cNvSpPr/>
          <p:nvPr/>
        </p:nvSpPr>
        <p:spPr>
          <a:xfrm>
            <a:off x="502920" y="5095494"/>
            <a:ext cx="6309360" cy="1149858"/>
          </a:xfrm>
          <a:prstGeom prst="roundRect">
            <a:avLst>
              <a:gd name="adj" fmla="val 8000"/>
            </a:avLst>
          </a:prstGeom>
          <a:solidFill>
            <a:srgbClr val="F0F0F0"/>
          </a:solidFill>
          <a:ln>
            <a:noFill/>
          </a:ln>
          <a:effectLst/>
        </p:spPr>
        <p:txBody>
          <a:bodyPr rtlCol="0" anchor="ctr"/>
          <a:lstStyle/>
          <a:p/>
        </p:txBody>
      </p:sp>
      <p:sp>
        <p:nvSpPr>
          <p:cNvPr id="16" name="Rounded Rectangle 15"/>
          <p:cNvSpPr/>
          <p:nvPr/>
        </p:nvSpPr>
        <p:spPr>
          <a:xfrm>
            <a:off x="502920" y="5095494"/>
            <a:ext cx="1600200" cy="1149858"/>
          </a:xfrm>
          <a:prstGeom prst="roundRect">
            <a:avLst>
              <a:gd name="adj" fmla="val 8000"/>
            </a:avLst>
          </a:prstGeom>
          <a:solidFill>
            <a:srgbClr val="6A4C93"/>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4</a:t>
            </a:r>
          </a:p>
        </p:txBody>
      </p:sp>
      <p:sp>
        <p:nvSpPr>
          <p:cNvPr id="17" name="TextBox 16"/>
          <p:cNvSpPr txBox="1"/>
          <p:nvPr/>
        </p:nvSpPr>
        <p:spPr>
          <a:xfrm>
            <a:off x="2240280" y="5095494"/>
            <a:ext cx="4480560" cy="1149858"/>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Dışarıda kalan kart var mı? Kenara koyun.</a:t>
            </a:r>
          </a:p>
        </p:txBody>
      </p:sp>
      <p:sp>
        <p:nvSpPr>
          <p:cNvPr id="18" name="Rounded Rectangle 17"/>
          <p:cNvSpPr/>
          <p:nvPr/>
        </p:nvSpPr>
        <p:spPr>
          <a:xfrm>
            <a:off x="7086600" y="1261872"/>
            <a:ext cx="4602175" cy="2788920"/>
          </a:xfrm>
          <a:prstGeom prst="roundRect">
            <a:avLst>
              <a:gd name="adj" fmla="val 5000"/>
            </a:avLst>
          </a:prstGeom>
          <a:solidFill>
            <a:srgbClr val="F0F0F0"/>
          </a:solidFill>
          <a:ln>
            <a:noFill/>
          </a:ln>
          <a:effectLst/>
        </p:spPr>
        <p:txBody>
          <a:bodyPr rtlCol="0" anchor="ctr"/>
          <a:lstStyle/>
          <a:p/>
        </p:txBody>
      </p:sp>
      <p:sp>
        <p:nvSpPr>
          <p:cNvPr id="19" name="Rounded Rectangle 18"/>
          <p:cNvSpPr/>
          <p:nvPr/>
        </p:nvSpPr>
        <p:spPr>
          <a:xfrm>
            <a:off x="7086600" y="1261872"/>
            <a:ext cx="4602175" cy="530352"/>
          </a:xfrm>
          <a:prstGeom prst="roundRect">
            <a:avLst>
              <a:gd name="adj" fmla="val 25000"/>
            </a:avLst>
          </a:prstGeom>
          <a:solidFill>
            <a:srgbClr val="4F4F4F"/>
          </a:solidFill>
          <a:ln>
            <a:noFill/>
          </a:ln>
          <a:effectLst/>
        </p:spPr>
        <p:txBody>
          <a:bodyPr rtlCol="0" anchor="ctr"/>
          <a:lstStyle/>
          <a:p/>
        </p:txBody>
      </p:sp>
      <p:sp>
        <p:nvSpPr>
          <p:cNvPr id="20" name="Rectangle 19"/>
          <p:cNvSpPr/>
          <p:nvPr/>
        </p:nvSpPr>
        <p:spPr>
          <a:xfrm>
            <a:off x="7086600" y="1527048"/>
            <a:ext cx="4602175" cy="265176"/>
          </a:xfrm>
          <a:prstGeom prst="rect">
            <a:avLst/>
          </a:prstGeom>
          <a:solidFill>
            <a:srgbClr val="4F4F4F"/>
          </a:solidFill>
          <a:ln>
            <a:noFill/>
          </a:ln>
          <a:effectLst/>
        </p:spPr>
        <p:txBody>
          <a:bodyPr rtlCol="0" anchor="ctr"/>
          <a:lstStyle/>
          <a:p/>
        </p:txBody>
      </p:sp>
      <p:sp>
        <p:nvSpPr>
          <p:cNvPr id="21" name="TextBox 20"/>
          <p:cNvSpPr txBox="1"/>
          <p:nvPr/>
        </p:nvSpPr>
        <p:spPr>
          <a:xfrm>
            <a:off x="7178040" y="1261872"/>
            <a:ext cx="4419295" cy="530352"/>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Ölçüt fikirleri</a:t>
            </a:r>
          </a:p>
        </p:txBody>
      </p:sp>
      <p:sp>
        <p:nvSpPr>
          <p:cNvPr id="22" name="Rounded Rectangle 21"/>
          <p:cNvSpPr/>
          <p:nvPr/>
        </p:nvSpPr>
        <p:spPr>
          <a:xfrm>
            <a:off x="7315200" y="1947672"/>
            <a:ext cx="1643739" cy="420624"/>
          </a:xfrm>
          <a:prstGeom prst="roundRect">
            <a:avLst>
              <a:gd name="adj" fmla="val 50000"/>
            </a:avLst>
          </a:prstGeom>
          <a:solidFill>
            <a:srgbClr val="FFFFFF"/>
          </a:solidFill>
          <a:ln w="19050">
            <a:solidFill>
              <a:srgbClr val="6A4C93"/>
            </a:solidFill>
          </a:ln>
          <a:effectLst/>
        </p:spPr>
        <p:txBody>
          <a:bodyPr rtlCol="0" anchor="ctr" wrap="square" lIns="54864" rIns="54864" tIns="0" bIns="0">
            <a:noAutofit/>
          </a:bodyPr>
          <a:lstStyle/>
          <a:p>
            <a:pPr algn="ctr">
              <a:spcBef>
                <a:spcPts val="0"/>
              </a:spcBef>
              <a:spcAft>
                <a:spcPts val="0"/>
              </a:spcAft>
            </a:pPr>
            <a:r>
              <a:rPr lang="tr-TR" sz="1800" b="1" i="0">
                <a:solidFill>
                  <a:srgbClr val="262626"/>
                </a:solidFill>
                <a:latin typeface="Calibri"/>
              </a:rPr>
              <a:t>Nerede olur?</a:t>
            </a:r>
          </a:p>
        </p:txBody>
      </p:sp>
      <p:sp>
        <p:nvSpPr>
          <p:cNvPr id="23" name="Rounded Rectangle 22"/>
          <p:cNvSpPr/>
          <p:nvPr/>
        </p:nvSpPr>
        <p:spPr>
          <a:xfrm>
            <a:off x="7315200" y="2450592"/>
            <a:ext cx="2251809" cy="420624"/>
          </a:xfrm>
          <a:prstGeom prst="roundRect">
            <a:avLst>
              <a:gd name="adj" fmla="val 50000"/>
            </a:avLst>
          </a:prstGeom>
          <a:solidFill>
            <a:srgbClr val="FFFFFF"/>
          </a:solidFill>
          <a:ln w="19050">
            <a:solidFill>
              <a:srgbClr val="6A4C93"/>
            </a:solidFill>
          </a:ln>
          <a:effectLst/>
        </p:spPr>
        <p:txBody>
          <a:bodyPr rtlCol="0" anchor="ctr" wrap="square" lIns="54864" rIns="54864" tIns="0" bIns="0">
            <a:noAutofit/>
          </a:bodyPr>
          <a:lstStyle/>
          <a:p>
            <a:pPr algn="ctr">
              <a:spcBef>
                <a:spcPts val="0"/>
              </a:spcBef>
              <a:spcAft>
                <a:spcPts val="0"/>
              </a:spcAft>
            </a:pPr>
            <a:r>
              <a:rPr lang="tr-TR" sz="1800" b="1" i="0">
                <a:solidFill>
                  <a:srgbClr val="262626"/>
                </a:solidFill>
                <a:latin typeface="Calibri"/>
              </a:rPr>
              <a:t>Ne kadar hızlı olur?</a:t>
            </a:r>
          </a:p>
        </p:txBody>
      </p:sp>
      <p:sp>
        <p:nvSpPr>
          <p:cNvPr id="24" name="Rounded Rectangle 23"/>
          <p:cNvSpPr/>
          <p:nvPr/>
        </p:nvSpPr>
        <p:spPr>
          <a:xfrm>
            <a:off x="7315200" y="2953512"/>
            <a:ext cx="2216564" cy="420624"/>
          </a:xfrm>
          <a:prstGeom prst="roundRect">
            <a:avLst>
              <a:gd name="adj" fmla="val 50000"/>
            </a:avLst>
          </a:prstGeom>
          <a:solidFill>
            <a:srgbClr val="FFFFFF"/>
          </a:solidFill>
          <a:ln w="19050">
            <a:solidFill>
              <a:srgbClr val="6A4C93"/>
            </a:solidFill>
          </a:ln>
          <a:effectLst/>
        </p:spPr>
        <p:txBody>
          <a:bodyPr rtlCol="0" anchor="ctr" wrap="square" lIns="54864" rIns="54864" tIns="0" bIns="0">
            <a:noAutofit/>
          </a:bodyPr>
          <a:lstStyle/>
          <a:p>
            <a:pPr algn="ctr">
              <a:spcBef>
                <a:spcPts val="0"/>
              </a:spcBef>
              <a:spcAft>
                <a:spcPts val="0"/>
              </a:spcAft>
            </a:pPr>
            <a:r>
              <a:rPr lang="tr-TR" sz="1800" b="1" i="0">
                <a:solidFill>
                  <a:srgbClr val="262626"/>
                </a:solidFill>
                <a:latin typeface="Calibri"/>
              </a:rPr>
              <a:t>Doğa mı, insan mı?</a:t>
            </a:r>
          </a:p>
        </p:txBody>
      </p:sp>
      <p:sp>
        <p:nvSpPr>
          <p:cNvPr id="25" name="Rounded Rectangle 24"/>
          <p:cNvSpPr/>
          <p:nvPr/>
        </p:nvSpPr>
        <p:spPr>
          <a:xfrm>
            <a:off x="7315200" y="3456432"/>
            <a:ext cx="2046372" cy="420624"/>
          </a:xfrm>
          <a:prstGeom prst="roundRect">
            <a:avLst>
              <a:gd name="adj" fmla="val 50000"/>
            </a:avLst>
          </a:prstGeom>
          <a:solidFill>
            <a:srgbClr val="FFFFFF"/>
          </a:solidFill>
          <a:ln w="19050">
            <a:solidFill>
              <a:srgbClr val="6A4C93"/>
            </a:solidFill>
          </a:ln>
          <a:effectLst/>
        </p:spPr>
        <p:txBody>
          <a:bodyPr rtlCol="0" anchor="ctr" wrap="square" lIns="54864" rIns="54864" tIns="0" bIns="0">
            <a:noAutofit/>
          </a:bodyPr>
          <a:lstStyle/>
          <a:p>
            <a:pPr algn="ctr">
              <a:spcBef>
                <a:spcPts val="0"/>
              </a:spcBef>
              <a:spcAft>
                <a:spcPts val="0"/>
              </a:spcAft>
            </a:pPr>
            <a:r>
              <a:rPr lang="tr-TR" sz="1800" b="1" i="0">
                <a:solidFill>
                  <a:srgbClr val="262626"/>
                </a:solidFill>
                <a:latin typeface="Calibri"/>
              </a:rPr>
              <a:t>Kaç kişiyi etkiler?</a:t>
            </a:r>
          </a:p>
        </p:txBody>
      </p:sp>
      <p:sp>
        <p:nvSpPr>
          <p:cNvPr id="26" name="Rounded Rectangle 25"/>
          <p:cNvSpPr/>
          <p:nvPr/>
        </p:nvSpPr>
        <p:spPr>
          <a:xfrm>
            <a:off x="7086600" y="4187952"/>
            <a:ext cx="4602175" cy="2057400"/>
          </a:xfrm>
          <a:prstGeom prst="roundRect">
            <a:avLst>
              <a:gd name="adj" fmla="val 8000"/>
            </a:avLst>
          </a:prstGeom>
          <a:solidFill>
            <a:srgbClr val="FFF3D1"/>
          </a:solidFill>
          <a:ln>
            <a:noFill/>
          </a:ln>
          <a:effectLst/>
        </p:spPr>
        <p:txBody>
          <a:bodyPr rtlCol="0" anchor="ctr" wrap="square" lIns="128016" rIns="128016" tIns="73152" bIns="73152">
            <a:noAutofit/>
          </a:bodyPr>
          <a:lstStyle/>
          <a:p>
            <a:pPr algn="l">
              <a:spcBef>
                <a:spcPts val="0"/>
              </a:spcBef>
              <a:spcAft>
                <a:spcPts val="600"/>
              </a:spcAft>
            </a:pPr>
            <a:r>
              <a:rPr lang="tr-TR" sz="2100" b="1" i="0">
                <a:solidFill>
                  <a:srgbClr val="6A4C93"/>
                </a:solidFill>
                <a:latin typeface="Calibri"/>
              </a:rPr>
              <a:t>Kilit soru</a:t>
            </a:r>
          </a:p>
          <a:p>
            <a:pPr algn="l">
              <a:spcBef>
                <a:spcPts val="0"/>
              </a:spcBef>
              <a:spcAft>
                <a:spcPts val="0"/>
              </a:spcAft>
            </a:pPr>
            <a:r>
              <a:rPr lang="tr-TR" sz="2100" b="0" i="0">
                <a:solidFill>
                  <a:srgbClr val="262626"/>
                </a:solidFill>
                <a:latin typeface="Calibri"/>
              </a:rPr>
              <a:t>Ölçütünüz her kartı bir yere koyabiliyor mu?</a:t>
            </a:r>
          </a:p>
        </p:txBody>
      </p:sp>
      <p:sp>
        <p:nvSpPr>
          <p:cNvPr id="27" name="TextBox 2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8" name="Rounded Rectangle 2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196</a:t>
            </a:r>
          </a:p>
        </p:txBody>
      </p:sp>
      <p:sp>
        <p:nvSpPr>
          <p:cNvPr id="29" name="TextBox 2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68 / 250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Zarfınızdaki 31 kart</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AFET LİSTESİ</a:t>
            </a:r>
          </a:p>
        </p:txBody>
      </p:sp>
      <p:sp>
        <p:nvSpPr>
          <p:cNvPr id="6" name="TextBox 5"/>
          <p:cNvSpPr txBox="1"/>
          <p:nvPr/>
        </p:nvSpPr>
        <p:spPr>
          <a:xfrm>
            <a:off x="502920" y="1216152"/>
            <a:ext cx="11185855" cy="457200"/>
          </a:xfrm>
          <a:prstGeom prst="rect">
            <a:avLst/>
          </a:prstGeom>
          <a:noFill/>
        </p:spPr>
        <p:txBody>
          <a:bodyPr wrap="square" anchor="t" lIns="73152" rIns="73152" tIns="36576" bIns="36576">
            <a:noAutofit/>
          </a:bodyPr>
          <a:lstStyle/>
          <a:p>
            <a:pPr algn="l">
              <a:spcBef>
                <a:spcPts val="0"/>
              </a:spcBef>
              <a:spcAft>
                <a:spcPts val="0"/>
              </a:spcAft>
            </a:pPr>
            <a:r>
              <a:rPr lang="tr-TR" sz="2000" b="1" i="0">
                <a:solidFill>
                  <a:srgbClr val="6A4C93"/>
                </a:solidFill>
                <a:latin typeface="Calibri"/>
              </a:rPr>
              <a:t>Afet Listesi (kitap s. 196)</a:t>
            </a:r>
          </a:p>
        </p:txBody>
      </p:sp>
      <p:sp>
        <p:nvSpPr>
          <p:cNvPr id="7" name="Rounded Rectangle 6"/>
          <p:cNvSpPr/>
          <p:nvPr/>
        </p:nvSpPr>
        <p:spPr>
          <a:xfrm>
            <a:off x="502920" y="1764792"/>
            <a:ext cx="1167860" cy="457200"/>
          </a:xfrm>
          <a:prstGeom prst="roundRect">
            <a:avLst>
              <a:gd name="adj" fmla="val 50000"/>
            </a:avLst>
          </a:prstGeom>
          <a:solidFill>
            <a:srgbClr val="FFFFFF"/>
          </a:solidFill>
          <a:ln w="19050">
            <a:solidFill>
              <a:srgbClr val="4F4F4F"/>
            </a:solidFill>
          </a:ln>
          <a:effectLst/>
        </p:spPr>
        <p:txBody>
          <a:bodyPr rtlCol="0" anchor="ctr" wrap="square" lIns="54864" rIns="54864" tIns="0" bIns="0">
            <a:noAutofit/>
          </a:bodyPr>
          <a:lstStyle/>
          <a:p>
            <a:pPr algn="ctr">
              <a:spcBef>
                <a:spcPts val="0"/>
              </a:spcBef>
              <a:spcAft>
                <a:spcPts val="0"/>
              </a:spcAft>
            </a:pPr>
            <a:r>
              <a:rPr lang="tr-TR" sz="1900" b="0" i="0">
                <a:solidFill>
                  <a:srgbClr val="262626"/>
                </a:solidFill>
                <a:latin typeface="Calibri"/>
              </a:rPr>
              <a:t>Erozyon</a:t>
            </a:r>
          </a:p>
        </p:txBody>
      </p:sp>
      <p:sp>
        <p:nvSpPr>
          <p:cNvPr id="8" name="Rounded Rectangle 7"/>
          <p:cNvSpPr/>
          <p:nvPr/>
        </p:nvSpPr>
        <p:spPr>
          <a:xfrm>
            <a:off x="1780508" y="1764792"/>
            <a:ext cx="675404" cy="457200"/>
          </a:xfrm>
          <a:prstGeom prst="roundRect">
            <a:avLst>
              <a:gd name="adj" fmla="val 50000"/>
            </a:avLst>
          </a:prstGeom>
          <a:solidFill>
            <a:srgbClr val="FFFFFF"/>
          </a:solidFill>
          <a:ln w="19050">
            <a:solidFill>
              <a:srgbClr val="4F4F4F"/>
            </a:solidFill>
          </a:ln>
          <a:effectLst/>
        </p:spPr>
        <p:txBody>
          <a:bodyPr rtlCol="0" anchor="ctr" wrap="square" lIns="54864" rIns="54864" tIns="0" bIns="0">
            <a:noAutofit/>
          </a:bodyPr>
          <a:lstStyle/>
          <a:p>
            <a:pPr algn="ctr">
              <a:spcBef>
                <a:spcPts val="0"/>
              </a:spcBef>
              <a:spcAft>
                <a:spcPts val="0"/>
              </a:spcAft>
            </a:pPr>
            <a:r>
              <a:rPr lang="tr-TR" sz="1900" b="0" i="0">
                <a:solidFill>
                  <a:srgbClr val="262626"/>
                </a:solidFill>
                <a:latin typeface="Calibri"/>
              </a:rPr>
              <a:t>Çığ</a:t>
            </a:r>
          </a:p>
        </p:txBody>
      </p:sp>
      <p:sp>
        <p:nvSpPr>
          <p:cNvPr id="9" name="Rounded Rectangle 8"/>
          <p:cNvSpPr/>
          <p:nvPr/>
        </p:nvSpPr>
        <p:spPr>
          <a:xfrm>
            <a:off x="2565640" y="1764792"/>
            <a:ext cx="1204442" cy="457200"/>
          </a:xfrm>
          <a:prstGeom prst="roundRect">
            <a:avLst>
              <a:gd name="adj" fmla="val 50000"/>
            </a:avLst>
          </a:prstGeom>
          <a:solidFill>
            <a:srgbClr val="FFFFFF"/>
          </a:solidFill>
          <a:ln w="19050">
            <a:solidFill>
              <a:srgbClr val="4F4F4F"/>
            </a:solidFill>
          </a:ln>
          <a:effectLst/>
        </p:spPr>
        <p:txBody>
          <a:bodyPr rtlCol="0" anchor="ctr" wrap="square" lIns="54864" rIns="54864" tIns="0" bIns="0">
            <a:noAutofit/>
          </a:bodyPr>
          <a:lstStyle/>
          <a:p>
            <a:pPr algn="ctr">
              <a:spcBef>
                <a:spcPts val="0"/>
              </a:spcBef>
              <a:spcAft>
                <a:spcPts val="0"/>
              </a:spcAft>
            </a:pPr>
            <a:r>
              <a:rPr lang="tr-TR" sz="1900" b="0" i="0">
                <a:solidFill>
                  <a:srgbClr val="262626"/>
                </a:solidFill>
                <a:latin typeface="Calibri"/>
              </a:rPr>
              <a:t>Tsunami</a:t>
            </a:r>
          </a:p>
        </p:txBody>
      </p:sp>
      <p:sp>
        <p:nvSpPr>
          <p:cNvPr id="10" name="Rounded Rectangle 9"/>
          <p:cNvSpPr/>
          <p:nvPr/>
        </p:nvSpPr>
        <p:spPr>
          <a:xfrm>
            <a:off x="3879810" y="1764792"/>
            <a:ext cx="1165297" cy="457200"/>
          </a:xfrm>
          <a:prstGeom prst="roundRect">
            <a:avLst>
              <a:gd name="adj" fmla="val 50000"/>
            </a:avLst>
          </a:prstGeom>
          <a:solidFill>
            <a:srgbClr val="FFFFFF"/>
          </a:solidFill>
          <a:ln w="19050">
            <a:solidFill>
              <a:srgbClr val="4F4F4F"/>
            </a:solidFill>
          </a:ln>
          <a:effectLst/>
        </p:spPr>
        <p:txBody>
          <a:bodyPr rtlCol="0" anchor="ctr" wrap="square" lIns="54864" rIns="54864" tIns="0" bIns="0">
            <a:noAutofit/>
          </a:bodyPr>
          <a:lstStyle/>
          <a:p>
            <a:pPr algn="ctr">
              <a:spcBef>
                <a:spcPts val="0"/>
              </a:spcBef>
              <a:spcAft>
                <a:spcPts val="0"/>
              </a:spcAft>
            </a:pPr>
            <a:r>
              <a:rPr lang="tr-TR" sz="1900" b="0" i="0">
                <a:solidFill>
                  <a:srgbClr val="262626"/>
                </a:solidFill>
                <a:latin typeface="Calibri"/>
              </a:rPr>
              <a:t>Kuraklık</a:t>
            </a:r>
          </a:p>
        </p:txBody>
      </p:sp>
      <p:sp>
        <p:nvSpPr>
          <p:cNvPr id="11" name="Rounded Rectangle 10"/>
          <p:cNvSpPr/>
          <p:nvPr/>
        </p:nvSpPr>
        <p:spPr>
          <a:xfrm>
            <a:off x="5154835" y="1764792"/>
            <a:ext cx="2722394" cy="457200"/>
          </a:xfrm>
          <a:prstGeom prst="roundRect">
            <a:avLst>
              <a:gd name="adj" fmla="val 50000"/>
            </a:avLst>
          </a:prstGeom>
          <a:solidFill>
            <a:srgbClr val="FFFFFF"/>
          </a:solidFill>
          <a:ln w="19050">
            <a:solidFill>
              <a:srgbClr val="4F4F4F"/>
            </a:solidFill>
          </a:ln>
          <a:effectLst/>
        </p:spPr>
        <p:txBody>
          <a:bodyPr rtlCol="0" anchor="ctr" wrap="square" lIns="54864" rIns="54864" tIns="0" bIns="0">
            <a:noAutofit/>
          </a:bodyPr>
          <a:lstStyle/>
          <a:p>
            <a:pPr algn="ctr">
              <a:spcBef>
                <a:spcPts val="0"/>
              </a:spcBef>
              <a:spcAft>
                <a:spcPts val="0"/>
              </a:spcAft>
            </a:pPr>
            <a:r>
              <a:rPr lang="tr-TR" sz="1900" b="0" i="0">
                <a:solidFill>
                  <a:srgbClr val="262626"/>
                </a:solidFill>
                <a:latin typeface="Calibri"/>
              </a:rPr>
              <a:t>Nükleer santral kazaları</a:t>
            </a:r>
          </a:p>
        </p:txBody>
      </p:sp>
      <p:sp>
        <p:nvSpPr>
          <p:cNvPr id="12" name="Rounded Rectangle 11"/>
          <p:cNvSpPr/>
          <p:nvPr/>
        </p:nvSpPr>
        <p:spPr>
          <a:xfrm>
            <a:off x="7986957" y="1764792"/>
            <a:ext cx="2808723" cy="457200"/>
          </a:xfrm>
          <a:prstGeom prst="roundRect">
            <a:avLst>
              <a:gd name="adj" fmla="val 50000"/>
            </a:avLst>
          </a:prstGeom>
          <a:solidFill>
            <a:srgbClr val="FFFFFF"/>
          </a:solidFill>
          <a:ln w="19050">
            <a:solidFill>
              <a:srgbClr val="4F4F4F"/>
            </a:solidFill>
          </a:ln>
          <a:effectLst/>
        </p:spPr>
        <p:txBody>
          <a:bodyPr rtlCol="0" anchor="ctr" wrap="square" lIns="54864" rIns="54864" tIns="0" bIns="0">
            <a:noAutofit/>
          </a:bodyPr>
          <a:lstStyle/>
          <a:p>
            <a:pPr algn="ctr">
              <a:spcBef>
                <a:spcPts val="0"/>
              </a:spcBef>
              <a:spcAft>
                <a:spcPts val="0"/>
              </a:spcAft>
            </a:pPr>
            <a:r>
              <a:rPr lang="tr-TR" sz="1900" b="0" i="0">
                <a:solidFill>
                  <a:srgbClr val="262626"/>
                </a:solidFill>
                <a:latin typeface="Calibri"/>
              </a:rPr>
              <a:t>Sıcak-soğuk hava dalgası</a:t>
            </a:r>
          </a:p>
        </p:txBody>
      </p:sp>
      <p:sp>
        <p:nvSpPr>
          <p:cNvPr id="13" name="Rounded Rectangle 12"/>
          <p:cNvSpPr/>
          <p:nvPr/>
        </p:nvSpPr>
        <p:spPr>
          <a:xfrm>
            <a:off x="502920" y="2359152"/>
            <a:ext cx="840449" cy="457200"/>
          </a:xfrm>
          <a:prstGeom prst="roundRect">
            <a:avLst>
              <a:gd name="adj" fmla="val 50000"/>
            </a:avLst>
          </a:prstGeom>
          <a:solidFill>
            <a:srgbClr val="FFFFFF"/>
          </a:solidFill>
          <a:ln w="19050">
            <a:solidFill>
              <a:srgbClr val="4F4F4F"/>
            </a:solidFill>
          </a:ln>
          <a:effectLst/>
        </p:spPr>
        <p:txBody>
          <a:bodyPr rtlCol="0" anchor="ctr" wrap="square" lIns="54864" rIns="54864" tIns="0" bIns="0">
            <a:noAutofit/>
          </a:bodyPr>
          <a:lstStyle/>
          <a:p>
            <a:pPr algn="ctr">
              <a:spcBef>
                <a:spcPts val="0"/>
              </a:spcBef>
              <a:spcAft>
                <a:spcPts val="0"/>
              </a:spcAft>
            </a:pPr>
            <a:r>
              <a:rPr lang="tr-TR" sz="1900" b="0" i="0">
                <a:solidFill>
                  <a:srgbClr val="262626"/>
                </a:solidFill>
                <a:latin typeface="Calibri"/>
              </a:rPr>
              <a:t>Dolu</a:t>
            </a:r>
          </a:p>
        </p:txBody>
      </p:sp>
      <p:sp>
        <p:nvSpPr>
          <p:cNvPr id="14" name="Rounded Rectangle 13"/>
          <p:cNvSpPr/>
          <p:nvPr/>
        </p:nvSpPr>
        <p:spPr>
          <a:xfrm>
            <a:off x="1453097" y="2359152"/>
            <a:ext cx="1185569" cy="457200"/>
          </a:xfrm>
          <a:prstGeom prst="roundRect">
            <a:avLst>
              <a:gd name="adj" fmla="val 50000"/>
            </a:avLst>
          </a:prstGeom>
          <a:solidFill>
            <a:srgbClr val="FFFFFF"/>
          </a:solidFill>
          <a:ln w="19050">
            <a:solidFill>
              <a:srgbClr val="4F4F4F"/>
            </a:solidFill>
          </a:ln>
          <a:effectLst/>
        </p:spPr>
        <p:txBody>
          <a:bodyPr rtlCol="0" anchor="ctr" wrap="square" lIns="54864" rIns="54864" tIns="0" bIns="0">
            <a:noAutofit/>
          </a:bodyPr>
          <a:lstStyle/>
          <a:p>
            <a:pPr algn="ctr">
              <a:spcBef>
                <a:spcPts val="0"/>
              </a:spcBef>
              <a:spcAft>
                <a:spcPts val="0"/>
              </a:spcAft>
            </a:pPr>
            <a:r>
              <a:rPr lang="tr-TR" sz="1900" b="0" i="0">
                <a:solidFill>
                  <a:srgbClr val="262626"/>
                </a:solidFill>
                <a:latin typeface="Calibri"/>
              </a:rPr>
              <a:t>Heyelan</a:t>
            </a:r>
          </a:p>
        </p:txBody>
      </p:sp>
      <p:sp>
        <p:nvSpPr>
          <p:cNvPr id="15" name="Rounded Rectangle 14"/>
          <p:cNvSpPr/>
          <p:nvPr/>
        </p:nvSpPr>
        <p:spPr>
          <a:xfrm>
            <a:off x="2748394" y="2359152"/>
            <a:ext cx="1818800" cy="457200"/>
          </a:xfrm>
          <a:prstGeom prst="roundRect">
            <a:avLst>
              <a:gd name="adj" fmla="val 50000"/>
            </a:avLst>
          </a:prstGeom>
          <a:solidFill>
            <a:srgbClr val="FFFFFF"/>
          </a:solidFill>
          <a:ln w="19050">
            <a:solidFill>
              <a:srgbClr val="4F4F4F"/>
            </a:solidFill>
          </a:ln>
          <a:effectLst/>
        </p:spPr>
        <p:txBody>
          <a:bodyPr rtlCol="0" anchor="ctr" wrap="square" lIns="54864" rIns="54864" tIns="0" bIns="0">
            <a:noAutofit/>
          </a:bodyPr>
          <a:lstStyle/>
          <a:p>
            <a:pPr algn="ctr">
              <a:spcBef>
                <a:spcPts val="0"/>
              </a:spcBef>
              <a:spcAft>
                <a:spcPts val="0"/>
              </a:spcAft>
            </a:pPr>
            <a:r>
              <a:rPr lang="tr-TR" sz="1900" b="0" i="0">
                <a:solidFill>
                  <a:srgbClr val="262626"/>
                </a:solidFill>
                <a:latin typeface="Calibri"/>
              </a:rPr>
              <a:t>Böcek istilaları</a:t>
            </a:r>
          </a:p>
        </p:txBody>
      </p:sp>
      <p:sp>
        <p:nvSpPr>
          <p:cNvPr id="16" name="Rounded Rectangle 15"/>
          <p:cNvSpPr/>
          <p:nvPr/>
        </p:nvSpPr>
        <p:spPr>
          <a:xfrm>
            <a:off x="4676922" y="2359152"/>
            <a:ext cx="1833595" cy="457200"/>
          </a:xfrm>
          <a:prstGeom prst="roundRect">
            <a:avLst>
              <a:gd name="adj" fmla="val 50000"/>
            </a:avLst>
          </a:prstGeom>
          <a:solidFill>
            <a:srgbClr val="FFFFFF"/>
          </a:solidFill>
          <a:ln w="19050">
            <a:solidFill>
              <a:srgbClr val="4F4F4F"/>
            </a:solidFill>
          </a:ln>
          <a:effectLst/>
        </p:spPr>
        <p:txBody>
          <a:bodyPr rtlCol="0" anchor="ctr" wrap="square" lIns="54864" rIns="54864" tIns="0" bIns="0">
            <a:noAutofit/>
          </a:bodyPr>
          <a:lstStyle/>
          <a:p>
            <a:pPr algn="ctr">
              <a:spcBef>
                <a:spcPts val="0"/>
              </a:spcBef>
              <a:spcAft>
                <a:spcPts val="0"/>
              </a:spcAft>
            </a:pPr>
            <a:r>
              <a:rPr lang="tr-TR" sz="1900" b="0" i="0">
                <a:solidFill>
                  <a:srgbClr val="262626"/>
                </a:solidFill>
                <a:latin typeface="Calibri"/>
              </a:rPr>
              <a:t>Sanayi kazaları</a:t>
            </a:r>
          </a:p>
        </p:txBody>
      </p:sp>
      <p:sp>
        <p:nvSpPr>
          <p:cNvPr id="17" name="Rounded Rectangle 16"/>
          <p:cNvSpPr/>
          <p:nvPr/>
        </p:nvSpPr>
        <p:spPr>
          <a:xfrm>
            <a:off x="6620245" y="2359152"/>
            <a:ext cx="2277704" cy="457200"/>
          </a:xfrm>
          <a:prstGeom prst="roundRect">
            <a:avLst>
              <a:gd name="adj" fmla="val 50000"/>
            </a:avLst>
          </a:prstGeom>
          <a:solidFill>
            <a:srgbClr val="FFFFFF"/>
          </a:solidFill>
          <a:ln w="19050">
            <a:solidFill>
              <a:srgbClr val="4F4F4F"/>
            </a:solidFill>
          </a:ln>
          <a:effectLst/>
        </p:spPr>
        <p:txBody>
          <a:bodyPr rtlCol="0" anchor="ctr" wrap="square" lIns="54864" rIns="54864" tIns="0" bIns="0">
            <a:noAutofit/>
          </a:bodyPr>
          <a:lstStyle/>
          <a:p>
            <a:pPr algn="ctr">
              <a:spcBef>
                <a:spcPts val="0"/>
              </a:spcBef>
              <a:spcAft>
                <a:spcPts val="0"/>
              </a:spcAft>
            </a:pPr>
            <a:r>
              <a:rPr lang="tr-TR" sz="1900" b="0" i="0">
                <a:solidFill>
                  <a:srgbClr val="262626"/>
                </a:solidFill>
                <a:latin typeface="Calibri"/>
              </a:rPr>
              <a:t>Volkanik faaliyetler</a:t>
            </a:r>
          </a:p>
        </p:txBody>
      </p:sp>
      <p:sp>
        <p:nvSpPr>
          <p:cNvPr id="18" name="Rounded Rectangle 17"/>
          <p:cNvSpPr/>
          <p:nvPr/>
        </p:nvSpPr>
        <p:spPr>
          <a:xfrm>
            <a:off x="9007677" y="2359152"/>
            <a:ext cx="663715" cy="457200"/>
          </a:xfrm>
          <a:prstGeom prst="roundRect">
            <a:avLst>
              <a:gd name="adj" fmla="val 50000"/>
            </a:avLst>
          </a:prstGeom>
          <a:solidFill>
            <a:srgbClr val="FFFFFF"/>
          </a:solidFill>
          <a:ln w="19050">
            <a:solidFill>
              <a:srgbClr val="4F4F4F"/>
            </a:solidFill>
          </a:ln>
          <a:effectLst/>
        </p:spPr>
        <p:txBody>
          <a:bodyPr rtlCol="0" anchor="ctr" wrap="square" lIns="54864" rIns="54864" tIns="0" bIns="0">
            <a:noAutofit/>
          </a:bodyPr>
          <a:lstStyle/>
          <a:p>
            <a:pPr algn="ctr">
              <a:spcBef>
                <a:spcPts val="0"/>
              </a:spcBef>
              <a:spcAft>
                <a:spcPts val="0"/>
              </a:spcAft>
            </a:pPr>
            <a:r>
              <a:rPr lang="tr-TR" sz="1900" b="0" i="0">
                <a:solidFill>
                  <a:srgbClr val="262626"/>
                </a:solidFill>
                <a:latin typeface="Calibri"/>
              </a:rPr>
              <a:t>Sel</a:t>
            </a:r>
          </a:p>
        </p:txBody>
      </p:sp>
      <p:sp>
        <p:nvSpPr>
          <p:cNvPr id="19" name="Rounded Rectangle 18"/>
          <p:cNvSpPr/>
          <p:nvPr/>
        </p:nvSpPr>
        <p:spPr>
          <a:xfrm>
            <a:off x="9781120" y="2359152"/>
            <a:ext cx="1250150" cy="457200"/>
          </a:xfrm>
          <a:prstGeom prst="roundRect">
            <a:avLst>
              <a:gd name="adj" fmla="val 50000"/>
            </a:avLst>
          </a:prstGeom>
          <a:solidFill>
            <a:srgbClr val="FFFFFF"/>
          </a:solidFill>
          <a:ln w="19050">
            <a:solidFill>
              <a:srgbClr val="4F4F4F"/>
            </a:solidFill>
          </a:ln>
          <a:effectLst/>
        </p:spPr>
        <p:txBody>
          <a:bodyPr rtlCol="0" anchor="ctr" wrap="square" lIns="54864" rIns="54864" tIns="0" bIns="0">
            <a:noAutofit/>
          </a:bodyPr>
          <a:lstStyle/>
          <a:p>
            <a:pPr algn="ctr">
              <a:spcBef>
                <a:spcPts val="0"/>
              </a:spcBef>
              <a:spcAft>
                <a:spcPts val="0"/>
              </a:spcAft>
            </a:pPr>
            <a:r>
              <a:rPr lang="tr-TR" sz="1900" b="0" i="0">
                <a:solidFill>
                  <a:srgbClr val="262626"/>
                </a:solidFill>
                <a:latin typeface="Calibri"/>
              </a:rPr>
              <a:t>Taşkınlar</a:t>
            </a:r>
          </a:p>
        </p:txBody>
      </p:sp>
      <p:sp>
        <p:nvSpPr>
          <p:cNvPr id="20" name="Rounded Rectangle 19"/>
          <p:cNvSpPr/>
          <p:nvPr/>
        </p:nvSpPr>
        <p:spPr>
          <a:xfrm>
            <a:off x="502920" y="2953512"/>
            <a:ext cx="1153802" cy="457200"/>
          </a:xfrm>
          <a:prstGeom prst="roundRect">
            <a:avLst>
              <a:gd name="adj" fmla="val 50000"/>
            </a:avLst>
          </a:prstGeom>
          <a:solidFill>
            <a:srgbClr val="FFFFFF"/>
          </a:solidFill>
          <a:ln w="19050">
            <a:solidFill>
              <a:srgbClr val="4F4F4F"/>
            </a:solidFill>
          </a:ln>
          <a:effectLst/>
        </p:spPr>
        <p:txBody>
          <a:bodyPr rtlCol="0" anchor="ctr" wrap="square" lIns="54864" rIns="54864" tIns="0" bIns="0">
            <a:noAutofit/>
          </a:bodyPr>
          <a:lstStyle/>
          <a:p>
            <a:pPr algn="ctr">
              <a:spcBef>
                <a:spcPts val="0"/>
              </a:spcBef>
              <a:spcAft>
                <a:spcPts val="0"/>
              </a:spcAft>
            </a:pPr>
            <a:r>
              <a:rPr lang="tr-TR" sz="1900" b="0" i="0">
                <a:solidFill>
                  <a:srgbClr val="262626"/>
                </a:solidFill>
                <a:latin typeface="Calibri"/>
              </a:rPr>
              <a:t>Hortum</a:t>
            </a:r>
          </a:p>
        </p:txBody>
      </p:sp>
      <p:sp>
        <p:nvSpPr>
          <p:cNvPr id="21" name="Rounded Rectangle 20"/>
          <p:cNvSpPr/>
          <p:nvPr/>
        </p:nvSpPr>
        <p:spPr>
          <a:xfrm>
            <a:off x="1766450" y="2953512"/>
            <a:ext cx="1727112" cy="457200"/>
          </a:xfrm>
          <a:prstGeom prst="roundRect">
            <a:avLst>
              <a:gd name="adj" fmla="val 50000"/>
            </a:avLst>
          </a:prstGeom>
          <a:solidFill>
            <a:srgbClr val="FFFFFF"/>
          </a:solidFill>
          <a:ln w="19050">
            <a:solidFill>
              <a:srgbClr val="4F4F4F"/>
            </a:solidFill>
          </a:ln>
          <a:effectLst/>
        </p:spPr>
        <p:txBody>
          <a:bodyPr rtlCol="0" anchor="ctr" wrap="square" lIns="54864" rIns="54864" tIns="0" bIns="0">
            <a:noAutofit/>
          </a:bodyPr>
          <a:lstStyle/>
          <a:p>
            <a:pPr algn="ctr">
              <a:spcBef>
                <a:spcPts val="0"/>
              </a:spcBef>
              <a:spcAft>
                <a:spcPts val="0"/>
              </a:spcAft>
            </a:pPr>
            <a:r>
              <a:rPr lang="tr-TR" sz="1900" b="0" i="0">
                <a:solidFill>
                  <a:srgbClr val="262626"/>
                </a:solidFill>
                <a:latin typeface="Calibri"/>
              </a:rPr>
              <a:t>Kaya düşmesi</a:t>
            </a:r>
          </a:p>
        </p:txBody>
      </p:sp>
      <p:sp>
        <p:nvSpPr>
          <p:cNvPr id="22" name="Rounded Rectangle 21"/>
          <p:cNvSpPr/>
          <p:nvPr/>
        </p:nvSpPr>
        <p:spPr>
          <a:xfrm>
            <a:off x="3603290" y="2953512"/>
            <a:ext cx="1874099" cy="457200"/>
          </a:xfrm>
          <a:prstGeom prst="roundRect">
            <a:avLst>
              <a:gd name="adj" fmla="val 50000"/>
            </a:avLst>
          </a:prstGeom>
          <a:solidFill>
            <a:srgbClr val="FFFFFF"/>
          </a:solidFill>
          <a:ln w="19050">
            <a:solidFill>
              <a:srgbClr val="4F4F4F"/>
            </a:solidFill>
          </a:ln>
          <a:effectLst/>
        </p:spPr>
        <p:txBody>
          <a:bodyPr rtlCol="0" anchor="ctr" wrap="square" lIns="54864" rIns="54864" tIns="0" bIns="0">
            <a:noAutofit/>
          </a:bodyPr>
          <a:lstStyle/>
          <a:p>
            <a:pPr algn="ctr">
              <a:spcBef>
                <a:spcPts val="0"/>
              </a:spcBef>
              <a:spcAft>
                <a:spcPts val="0"/>
              </a:spcAft>
            </a:pPr>
            <a:r>
              <a:rPr lang="tr-TR" sz="1900" b="0" i="0">
                <a:solidFill>
                  <a:srgbClr val="262626"/>
                </a:solidFill>
                <a:latin typeface="Calibri"/>
              </a:rPr>
              <a:t>Ulaşım kazaları</a:t>
            </a:r>
          </a:p>
        </p:txBody>
      </p:sp>
      <p:sp>
        <p:nvSpPr>
          <p:cNvPr id="23" name="Rounded Rectangle 22"/>
          <p:cNvSpPr/>
          <p:nvPr/>
        </p:nvSpPr>
        <p:spPr>
          <a:xfrm>
            <a:off x="5587117" y="2953512"/>
            <a:ext cx="2013553" cy="457200"/>
          </a:xfrm>
          <a:prstGeom prst="roundRect">
            <a:avLst>
              <a:gd name="adj" fmla="val 50000"/>
            </a:avLst>
          </a:prstGeom>
          <a:solidFill>
            <a:srgbClr val="FFFFFF"/>
          </a:solidFill>
          <a:ln w="19050">
            <a:solidFill>
              <a:srgbClr val="4F4F4F"/>
            </a:solidFill>
          </a:ln>
          <a:effectLst/>
        </p:spPr>
        <p:txBody>
          <a:bodyPr rtlCol="0" anchor="ctr" wrap="square" lIns="54864" rIns="54864" tIns="0" bIns="0">
            <a:noAutofit/>
          </a:bodyPr>
          <a:lstStyle/>
          <a:p>
            <a:pPr algn="ctr">
              <a:spcBef>
                <a:spcPts val="0"/>
              </a:spcBef>
              <a:spcAft>
                <a:spcPts val="0"/>
              </a:spcAft>
            </a:pPr>
            <a:r>
              <a:rPr lang="tr-TR" sz="1900" b="0" i="0">
                <a:solidFill>
                  <a:srgbClr val="262626"/>
                </a:solidFill>
                <a:latin typeface="Calibri"/>
              </a:rPr>
              <a:t>Yıldırım düşmesi</a:t>
            </a:r>
          </a:p>
        </p:txBody>
      </p:sp>
      <p:sp>
        <p:nvSpPr>
          <p:cNvPr id="24" name="Rounded Rectangle 23"/>
          <p:cNvSpPr/>
          <p:nvPr/>
        </p:nvSpPr>
        <p:spPr>
          <a:xfrm>
            <a:off x="7710398" y="2953512"/>
            <a:ext cx="1185608" cy="457200"/>
          </a:xfrm>
          <a:prstGeom prst="roundRect">
            <a:avLst>
              <a:gd name="adj" fmla="val 50000"/>
            </a:avLst>
          </a:prstGeom>
          <a:solidFill>
            <a:srgbClr val="FFFFFF"/>
          </a:solidFill>
          <a:ln w="19050">
            <a:solidFill>
              <a:srgbClr val="4F4F4F"/>
            </a:solidFill>
          </a:ln>
          <a:effectLst/>
        </p:spPr>
        <p:txBody>
          <a:bodyPr rtlCol="0" anchor="ctr" wrap="square" lIns="54864" rIns="54864" tIns="0" bIns="0">
            <a:noAutofit/>
          </a:bodyPr>
          <a:lstStyle/>
          <a:p>
            <a:pPr algn="ctr">
              <a:spcBef>
                <a:spcPts val="0"/>
              </a:spcBef>
              <a:spcAft>
                <a:spcPts val="0"/>
              </a:spcAft>
            </a:pPr>
            <a:r>
              <a:rPr lang="tr-TR" sz="1900" b="0" i="0">
                <a:solidFill>
                  <a:srgbClr val="262626"/>
                </a:solidFill>
                <a:latin typeface="Calibri"/>
              </a:rPr>
              <a:t>Savaşlar</a:t>
            </a:r>
          </a:p>
        </p:txBody>
      </p:sp>
      <p:sp>
        <p:nvSpPr>
          <p:cNvPr id="25" name="Rounded Rectangle 24"/>
          <p:cNvSpPr/>
          <p:nvPr/>
        </p:nvSpPr>
        <p:spPr>
          <a:xfrm>
            <a:off x="9005734" y="2953512"/>
            <a:ext cx="1872468" cy="457200"/>
          </a:xfrm>
          <a:prstGeom prst="roundRect">
            <a:avLst>
              <a:gd name="adj" fmla="val 50000"/>
            </a:avLst>
          </a:prstGeom>
          <a:solidFill>
            <a:srgbClr val="FFFFFF"/>
          </a:solidFill>
          <a:ln w="19050">
            <a:solidFill>
              <a:srgbClr val="4F4F4F"/>
            </a:solidFill>
          </a:ln>
          <a:effectLst/>
        </p:spPr>
        <p:txBody>
          <a:bodyPr rtlCol="0" anchor="ctr" wrap="square" lIns="54864" rIns="54864" tIns="0" bIns="0">
            <a:noAutofit/>
          </a:bodyPr>
          <a:lstStyle/>
          <a:p>
            <a:pPr algn="ctr">
              <a:spcBef>
                <a:spcPts val="0"/>
              </a:spcBef>
              <a:spcAft>
                <a:spcPts val="0"/>
              </a:spcAft>
            </a:pPr>
            <a:r>
              <a:rPr lang="tr-TR" sz="1900" b="0" i="0">
                <a:solidFill>
                  <a:srgbClr val="262626"/>
                </a:solidFill>
                <a:latin typeface="Calibri"/>
              </a:rPr>
              <a:t>Terör saldırıları</a:t>
            </a:r>
          </a:p>
        </p:txBody>
      </p:sp>
      <p:sp>
        <p:nvSpPr>
          <p:cNvPr id="26" name="Rounded Rectangle 25"/>
          <p:cNvSpPr/>
          <p:nvPr/>
        </p:nvSpPr>
        <p:spPr>
          <a:xfrm>
            <a:off x="502920" y="3547872"/>
            <a:ext cx="1081843" cy="457200"/>
          </a:xfrm>
          <a:prstGeom prst="roundRect">
            <a:avLst>
              <a:gd name="adj" fmla="val 50000"/>
            </a:avLst>
          </a:prstGeom>
          <a:solidFill>
            <a:srgbClr val="FFFFFF"/>
          </a:solidFill>
          <a:ln w="19050">
            <a:solidFill>
              <a:srgbClr val="4F4F4F"/>
            </a:solidFill>
          </a:ln>
          <a:effectLst/>
        </p:spPr>
        <p:txBody>
          <a:bodyPr rtlCol="0" anchor="ctr" wrap="square" lIns="54864" rIns="54864" tIns="0" bIns="0">
            <a:noAutofit/>
          </a:bodyPr>
          <a:lstStyle/>
          <a:p>
            <a:pPr algn="ctr">
              <a:spcBef>
                <a:spcPts val="0"/>
              </a:spcBef>
              <a:spcAft>
                <a:spcPts val="0"/>
              </a:spcAft>
            </a:pPr>
            <a:r>
              <a:rPr lang="tr-TR" sz="1900" b="0" i="0">
                <a:solidFill>
                  <a:srgbClr val="262626"/>
                </a:solidFill>
                <a:latin typeface="Calibri"/>
              </a:rPr>
              <a:t>Kasırga</a:t>
            </a:r>
          </a:p>
        </p:txBody>
      </p:sp>
      <p:sp>
        <p:nvSpPr>
          <p:cNvPr id="27" name="Rounded Rectangle 26"/>
          <p:cNvSpPr/>
          <p:nvPr/>
        </p:nvSpPr>
        <p:spPr>
          <a:xfrm>
            <a:off x="1694491" y="3547872"/>
            <a:ext cx="1628551" cy="457200"/>
          </a:xfrm>
          <a:prstGeom prst="roundRect">
            <a:avLst>
              <a:gd name="adj" fmla="val 50000"/>
            </a:avLst>
          </a:prstGeom>
          <a:solidFill>
            <a:srgbClr val="FFFFFF"/>
          </a:solidFill>
          <a:ln w="19050">
            <a:solidFill>
              <a:srgbClr val="4F4F4F"/>
            </a:solidFill>
          </a:ln>
          <a:effectLst/>
        </p:spPr>
        <p:txBody>
          <a:bodyPr rtlCol="0" anchor="ctr" wrap="square" lIns="54864" rIns="54864" tIns="0" bIns="0">
            <a:noAutofit/>
          </a:bodyPr>
          <a:lstStyle/>
          <a:p>
            <a:pPr algn="ctr">
              <a:spcBef>
                <a:spcPts val="0"/>
              </a:spcBef>
              <a:spcAft>
                <a:spcPts val="0"/>
              </a:spcAft>
            </a:pPr>
            <a:r>
              <a:rPr lang="tr-TR" sz="1900" b="0" i="0">
                <a:solidFill>
                  <a:srgbClr val="262626"/>
                </a:solidFill>
                <a:latin typeface="Calibri"/>
              </a:rPr>
              <a:t>Aşırı yağışlar</a:t>
            </a:r>
          </a:p>
        </p:txBody>
      </p:sp>
      <p:sp>
        <p:nvSpPr>
          <p:cNvPr id="28" name="Rounded Rectangle 27"/>
          <p:cNvSpPr/>
          <p:nvPr/>
        </p:nvSpPr>
        <p:spPr>
          <a:xfrm>
            <a:off x="3432770" y="3547872"/>
            <a:ext cx="1357100" cy="457200"/>
          </a:xfrm>
          <a:prstGeom prst="roundRect">
            <a:avLst>
              <a:gd name="adj" fmla="val 50000"/>
            </a:avLst>
          </a:prstGeom>
          <a:solidFill>
            <a:srgbClr val="FFFFFF"/>
          </a:solidFill>
          <a:ln w="19050">
            <a:solidFill>
              <a:srgbClr val="4F4F4F"/>
            </a:solidFill>
          </a:ln>
          <a:effectLst/>
        </p:spPr>
        <p:txBody>
          <a:bodyPr rtlCol="0" anchor="ctr" wrap="square" lIns="54864" rIns="54864" tIns="0" bIns="0">
            <a:noAutofit/>
          </a:bodyPr>
          <a:lstStyle/>
          <a:p>
            <a:pPr algn="ctr">
              <a:spcBef>
                <a:spcPts val="0"/>
              </a:spcBef>
              <a:spcAft>
                <a:spcPts val="0"/>
              </a:spcAft>
            </a:pPr>
            <a:r>
              <a:rPr lang="tr-TR" sz="1900" b="0" i="0">
                <a:solidFill>
                  <a:srgbClr val="262626"/>
                </a:solidFill>
                <a:latin typeface="Calibri"/>
              </a:rPr>
              <a:t>Buzlanma</a:t>
            </a:r>
          </a:p>
        </p:txBody>
      </p:sp>
      <p:sp>
        <p:nvSpPr>
          <p:cNvPr id="29" name="Rounded Rectangle 28"/>
          <p:cNvSpPr/>
          <p:nvPr/>
        </p:nvSpPr>
        <p:spPr>
          <a:xfrm>
            <a:off x="4899598" y="3547872"/>
            <a:ext cx="1802528" cy="457200"/>
          </a:xfrm>
          <a:prstGeom prst="roundRect">
            <a:avLst>
              <a:gd name="adj" fmla="val 50000"/>
            </a:avLst>
          </a:prstGeom>
          <a:solidFill>
            <a:srgbClr val="FFFFFF"/>
          </a:solidFill>
          <a:ln w="19050">
            <a:solidFill>
              <a:srgbClr val="4F4F4F"/>
            </a:solidFill>
          </a:ln>
          <a:effectLst/>
        </p:spPr>
        <p:txBody>
          <a:bodyPr rtlCol="0" anchor="ctr" wrap="square" lIns="54864" rIns="54864" tIns="0" bIns="0">
            <a:noAutofit/>
          </a:bodyPr>
          <a:lstStyle/>
          <a:p>
            <a:pPr algn="ctr">
              <a:spcBef>
                <a:spcPts val="0"/>
              </a:spcBef>
              <a:spcAft>
                <a:spcPts val="0"/>
              </a:spcAft>
            </a:pPr>
            <a:r>
              <a:rPr lang="tr-TR" sz="1900" b="0" i="0">
                <a:solidFill>
                  <a:srgbClr val="262626"/>
                </a:solidFill>
                <a:latin typeface="Calibri"/>
              </a:rPr>
              <a:t>Çamur akıntısı</a:t>
            </a:r>
          </a:p>
        </p:txBody>
      </p:sp>
      <p:sp>
        <p:nvSpPr>
          <p:cNvPr id="30" name="Rounded Rectangle 29"/>
          <p:cNvSpPr/>
          <p:nvPr/>
        </p:nvSpPr>
        <p:spPr>
          <a:xfrm>
            <a:off x="6811854" y="3547872"/>
            <a:ext cx="1902138" cy="457200"/>
          </a:xfrm>
          <a:prstGeom prst="roundRect">
            <a:avLst>
              <a:gd name="adj" fmla="val 50000"/>
            </a:avLst>
          </a:prstGeom>
          <a:solidFill>
            <a:srgbClr val="FFFFFF"/>
          </a:solidFill>
          <a:ln w="19050">
            <a:solidFill>
              <a:srgbClr val="4F4F4F"/>
            </a:solidFill>
          </a:ln>
          <a:effectLst/>
        </p:spPr>
        <p:txBody>
          <a:bodyPr rtlCol="0" anchor="ctr" wrap="square" lIns="54864" rIns="54864" tIns="0" bIns="0">
            <a:noAutofit/>
          </a:bodyPr>
          <a:lstStyle/>
          <a:p>
            <a:pPr algn="ctr">
              <a:spcBef>
                <a:spcPts val="0"/>
              </a:spcBef>
              <a:spcAft>
                <a:spcPts val="0"/>
              </a:spcAft>
            </a:pPr>
            <a:r>
              <a:rPr lang="tr-TR" sz="1900" b="0" i="0">
                <a:solidFill>
                  <a:srgbClr val="262626"/>
                </a:solidFill>
                <a:latin typeface="Calibri"/>
              </a:rPr>
              <a:t>Maden kazaları</a:t>
            </a:r>
          </a:p>
        </p:txBody>
      </p:sp>
      <p:sp>
        <p:nvSpPr>
          <p:cNvPr id="31" name="Rounded Rectangle 30"/>
          <p:cNvSpPr/>
          <p:nvPr/>
        </p:nvSpPr>
        <p:spPr>
          <a:xfrm>
            <a:off x="8823720" y="3547872"/>
            <a:ext cx="2107299" cy="457200"/>
          </a:xfrm>
          <a:prstGeom prst="roundRect">
            <a:avLst>
              <a:gd name="adj" fmla="val 50000"/>
            </a:avLst>
          </a:prstGeom>
          <a:solidFill>
            <a:srgbClr val="FFFFFF"/>
          </a:solidFill>
          <a:ln w="19050">
            <a:solidFill>
              <a:srgbClr val="4F4F4F"/>
            </a:solidFill>
          </a:ln>
          <a:effectLst/>
        </p:spPr>
        <p:txBody>
          <a:bodyPr rtlCol="0" anchor="ctr" wrap="square" lIns="54864" rIns="54864" tIns="0" bIns="0">
            <a:noAutofit/>
          </a:bodyPr>
          <a:lstStyle/>
          <a:p>
            <a:pPr algn="ctr">
              <a:spcBef>
                <a:spcPts val="0"/>
              </a:spcBef>
              <a:spcAft>
                <a:spcPts val="0"/>
              </a:spcAft>
            </a:pPr>
            <a:r>
              <a:rPr lang="tr-TR" sz="1900" b="0" i="0">
                <a:solidFill>
                  <a:srgbClr val="262626"/>
                </a:solidFill>
                <a:latin typeface="Calibri"/>
              </a:rPr>
              <a:t>Orman yangınları</a:t>
            </a:r>
          </a:p>
        </p:txBody>
      </p:sp>
      <p:sp>
        <p:nvSpPr>
          <p:cNvPr id="32" name="Rounded Rectangle 31"/>
          <p:cNvSpPr/>
          <p:nvPr/>
        </p:nvSpPr>
        <p:spPr>
          <a:xfrm>
            <a:off x="502920" y="4142232"/>
            <a:ext cx="1290732" cy="457200"/>
          </a:xfrm>
          <a:prstGeom prst="roundRect">
            <a:avLst>
              <a:gd name="adj" fmla="val 50000"/>
            </a:avLst>
          </a:prstGeom>
          <a:solidFill>
            <a:srgbClr val="FFFFFF"/>
          </a:solidFill>
          <a:ln w="19050">
            <a:solidFill>
              <a:srgbClr val="4F4F4F"/>
            </a:solidFill>
          </a:ln>
          <a:effectLst/>
        </p:spPr>
        <p:txBody>
          <a:bodyPr rtlCol="0" anchor="ctr" wrap="square" lIns="54864" rIns="54864" tIns="0" bIns="0">
            <a:noAutofit/>
          </a:bodyPr>
          <a:lstStyle/>
          <a:p>
            <a:pPr algn="ctr">
              <a:spcBef>
                <a:spcPts val="0"/>
              </a:spcBef>
              <a:spcAft>
                <a:spcPts val="0"/>
              </a:spcAft>
            </a:pPr>
            <a:r>
              <a:rPr lang="tr-TR" sz="1900" b="0" i="0">
                <a:solidFill>
                  <a:srgbClr val="262626"/>
                </a:solidFill>
                <a:latin typeface="Calibri"/>
              </a:rPr>
              <a:t>Yangınlar</a:t>
            </a:r>
          </a:p>
        </p:txBody>
      </p:sp>
      <p:sp>
        <p:nvSpPr>
          <p:cNvPr id="33" name="Rounded Rectangle 32"/>
          <p:cNvSpPr/>
          <p:nvPr/>
        </p:nvSpPr>
        <p:spPr>
          <a:xfrm>
            <a:off x="1903380" y="4142232"/>
            <a:ext cx="1581406" cy="457200"/>
          </a:xfrm>
          <a:prstGeom prst="roundRect">
            <a:avLst>
              <a:gd name="adj" fmla="val 50000"/>
            </a:avLst>
          </a:prstGeom>
          <a:solidFill>
            <a:srgbClr val="FFFFFF"/>
          </a:solidFill>
          <a:ln w="19050">
            <a:solidFill>
              <a:srgbClr val="4F4F4F"/>
            </a:solidFill>
          </a:ln>
          <a:effectLst/>
        </p:spPr>
        <p:txBody>
          <a:bodyPr rtlCol="0" anchor="ctr" wrap="square" lIns="54864" rIns="54864" tIns="0" bIns="0">
            <a:noAutofit/>
          </a:bodyPr>
          <a:lstStyle/>
          <a:p>
            <a:pPr algn="ctr">
              <a:spcBef>
                <a:spcPts val="0"/>
              </a:spcBef>
              <a:spcAft>
                <a:spcPts val="0"/>
              </a:spcAft>
            </a:pPr>
            <a:r>
              <a:rPr lang="tr-TR" sz="1900" b="0" i="0">
                <a:solidFill>
                  <a:srgbClr val="262626"/>
                </a:solidFill>
                <a:latin typeface="Calibri"/>
              </a:rPr>
              <a:t>Hava kirliliği</a:t>
            </a:r>
          </a:p>
        </p:txBody>
      </p:sp>
      <p:sp>
        <p:nvSpPr>
          <p:cNvPr id="34" name="Rounded Rectangle 33"/>
          <p:cNvSpPr/>
          <p:nvPr/>
        </p:nvSpPr>
        <p:spPr>
          <a:xfrm>
            <a:off x="3594514" y="4142232"/>
            <a:ext cx="1226539" cy="457200"/>
          </a:xfrm>
          <a:prstGeom prst="roundRect">
            <a:avLst>
              <a:gd name="adj" fmla="val 50000"/>
            </a:avLst>
          </a:prstGeom>
          <a:solidFill>
            <a:srgbClr val="FFFFFF"/>
          </a:solidFill>
          <a:ln w="19050">
            <a:solidFill>
              <a:srgbClr val="4F4F4F"/>
            </a:solidFill>
          </a:ln>
          <a:effectLst/>
        </p:spPr>
        <p:txBody>
          <a:bodyPr rtlCol="0" anchor="ctr" wrap="square" lIns="54864" rIns="54864" tIns="0" bIns="0">
            <a:noAutofit/>
          </a:bodyPr>
          <a:lstStyle/>
          <a:p>
            <a:pPr algn="ctr">
              <a:spcBef>
                <a:spcPts val="0"/>
              </a:spcBef>
              <a:spcAft>
                <a:spcPts val="0"/>
              </a:spcAft>
            </a:pPr>
            <a:r>
              <a:rPr lang="tr-TR" sz="1900" b="0" i="0">
                <a:solidFill>
                  <a:srgbClr val="262626"/>
                </a:solidFill>
                <a:latin typeface="Calibri"/>
              </a:rPr>
              <a:t>Salgınlar</a:t>
            </a:r>
          </a:p>
        </p:txBody>
      </p:sp>
      <p:sp>
        <p:nvSpPr>
          <p:cNvPr id="35" name="Rounded Rectangle 34"/>
          <p:cNvSpPr/>
          <p:nvPr/>
        </p:nvSpPr>
        <p:spPr>
          <a:xfrm>
            <a:off x="4930781" y="4142232"/>
            <a:ext cx="1181569" cy="457200"/>
          </a:xfrm>
          <a:prstGeom prst="roundRect">
            <a:avLst>
              <a:gd name="adj" fmla="val 50000"/>
            </a:avLst>
          </a:prstGeom>
          <a:solidFill>
            <a:srgbClr val="FFFFFF"/>
          </a:solidFill>
          <a:ln w="19050">
            <a:solidFill>
              <a:srgbClr val="4F4F4F"/>
            </a:solidFill>
          </a:ln>
          <a:effectLst/>
        </p:spPr>
        <p:txBody>
          <a:bodyPr rtlCol="0" anchor="ctr" wrap="square" lIns="54864" rIns="54864" tIns="0" bIns="0">
            <a:noAutofit/>
          </a:bodyPr>
          <a:lstStyle/>
          <a:p>
            <a:pPr algn="ctr">
              <a:spcBef>
                <a:spcPts val="0"/>
              </a:spcBef>
              <a:spcAft>
                <a:spcPts val="0"/>
              </a:spcAft>
            </a:pPr>
            <a:r>
              <a:rPr lang="tr-TR" sz="1900" b="0" i="0">
                <a:solidFill>
                  <a:srgbClr val="262626"/>
                </a:solidFill>
                <a:latin typeface="Calibri"/>
              </a:rPr>
              <a:t>Deprem</a:t>
            </a:r>
          </a:p>
        </p:txBody>
      </p:sp>
      <p:sp>
        <p:nvSpPr>
          <p:cNvPr id="36" name="Rounded Rectangle 35"/>
          <p:cNvSpPr/>
          <p:nvPr/>
        </p:nvSpPr>
        <p:spPr>
          <a:xfrm>
            <a:off x="6222078" y="4142232"/>
            <a:ext cx="1029106" cy="457200"/>
          </a:xfrm>
          <a:prstGeom prst="roundRect">
            <a:avLst>
              <a:gd name="adj" fmla="val 50000"/>
            </a:avLst>
          </a:prstGeom>
          <a:solidFill>
            <a:srgbClr val="FFFFFF"/>
          </a:solidFill>
          <a:ln w="19050">
            <a:solidFill>
              <a:srgbClr val="4F4F4F"/>
            </a:solidFill>
          </a:ln>
          <a:effectLst/>
        </p:spPr>
        <p:txBody>
          <a:bodyPr rtlCol="0" anchor="ctr" wrap="square" lIns="54864" rIns="54864" tIns="0" bIns="0">
            <a:noAutofit/>
          </a:bodyPr>
          <a:lstStyle/>
          <a:p>
            <a:pPr algn="ctr">
              <a:spcBef>
                <a:spcPts val="0"/>
              </a:spcBef>
              <a:spcAft>
                <a:spcPts val="0"/>
              </a:spcAft>
            </a:pPr>
            <a:r>
              <a:rPr lang="tr-TR" sz="1900" b="0" i="0">
                <a:solidFill>
                  <a:srgbClr val="262626"/>
                </a:solidFill>
                <a:latin typeface="Calibri"/>
              </a:rPr>
              <a:t>Göçler</a:t>
            </a:r>
          </a:p>
        </p:txBody>
      </p:sp>
      <p:sp>
        <p:nvSpPr>
          <p:cNvPr id="37" name="Rounded Rectangle 36"/>
          <p:cNvSpPr/>
          <p:nvPr/>
        </p:nvSpPr>
        <p:spPr>
          <a:xfrm>
            <a:off x="502920" y="4736592"/>
            <a:ext cx="5254191" cy="457200"/>
          </a:xfrm>
          <a:prstGeom prst="roundRect">
            <a:avLst>
              <a:gd name="adj" fmla="val 50000"/>
            </a:avLst>
          </a:prstGeom>
          <a:solidFill>
            <a:srgbClr val="FFFFFF"/>
          </a:solidFill>
          <a:ln w="19050">
            <a:solidFill>
              <a:srgbClr val="4F4F4F"/>
            </a:solidFill>
          </a:ln>
          <a:effectLst/>
        </p:spPr>
        <p:txBody>
          <a:bodyPr rtlCol="0" anchor="ctr" wrap="square" lIns="54864" rIns="54864" tIns="0" bIns="0">
            <a:noAutofit/>
          </a:bodyPr>
          <a:lstStyle/>
          <a:p>
            <a:pPr algn="ctr">
              <a:spcBef>
                <a:spcPts val="0"/>
              </a:spcBef>
              <a:spcAft>
                <a:spcPts val="0"/>
              </a:spcAft>
            </a:pPr>
            <a:r>
              <a:rPr lang="tr-TR" sz="1900" b="0" i="0">
                <a:solidFill>
                  <a:srgbClr val="262626"/>
                </a:solidFill>
                <a:latin typeface="Calibri"/>
              </a:rPr>
              <a:t>Biyolojik, nükleer ve kimyasal silahların kullanımı</a:t>
            </a:r>
          </a:p>
        </p:txBody>
      </p:sp>
      <p:sp>
        <p:nvSpPr>
          <p:cNvPr id="38" name="TextBox 37"/>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39" name="Rounded Rectangle 38"/>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196</a:t>
            </a:r>
          </a:p>
        </p:txBody>
      </p:sp>
      <p:sp>
        <p:nvSpPr>
          <p:cNvPr id="40" name="TextBox 39"/>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69 / 250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1. tur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16152"/>
            <a:ext cx="7863840" cy="457200"/>
          </a:xfrm>
          <a:prstGeom prst="roundRect">
            <a:avLst>
              <a:gd name="adj" fmla="val 20000"/>
            </a:avLst>
          </a:prstGeom>
          <a:solidFill>
            <a:srgbClr val="6A4C93"/>
          </a:solidFill>
          <a:ln>
            <a:noFill/>
          </a:ln>
          <a:effectLst/>
        </p:spPr>
        <p:txBody>
          <a:bodyPr rtlCol="0" anchor="ctr" wrap="square" lIns="128016" rIns="128016" tIns="73152" bIns="73152">
            <a:noAutofit/>
          </a:bodyPr>
          <a:lstStyle/>
          <a:p>
            <a:pPr algn="ctr">
              <a:spcBef>
                <a:spcPts val="0"/>
              </a:spcBef>
              <a:spcAft>
                <a:spcPts val="0"/>
              </a:spcAft>
            </a:pPr>
            <a:r>
              <a:rPr lang="tr-TR" sz="1650" b="1" i="0">
                <a:solidFill>
                  <a:srgbClr val="FFFFFF"/>
                </a:solidFill>
                <a:latin typeface="Calibri"/>
              </a:rPr>
              <a:t>Örnek ölçüt: Ne kadar hızlı olur? (oluşum hızı)</a:t>
            </a:r>
          </a:p>
        </p:txBody>
      </p:sp>
      <p:sp>
        <p:nvSpPr>
          <p:cNvPr id="7" name="TextBox 6"/>
          <p:cNvSpPr txBox="1"/>
          <p:nvPr/>
        </p:nvSpPr>
        <p:spPr>
          <a:xfrm>
            <a:off x="502920" y="1783080"/>
            <a:ext cx="7863840" cy="365760"/>
          </a:xfrm>
          <a:prstGeom prst="rect">
            <a:avLst/>
          </a:prstGeom>
          <a:noFill/>
        </p:spPr>
        <p:txBody>
          <a:bodyPr wrap="square" anchor="t" lIns="73152" rIns="73152" tIns="36576" bIns="36576">
            <a:noAutofit/>
          </a:bodyPr>
          <a:lstStyle/>
          <a:p>
            <a:pPr algn="l">
              <a:spcBef>
                <a:spcPts val="0"/>
              </a:spcBef>
              <a:spcAft>
                <a:spcPts val="0"/>
              </a:spcAft>
            </a:pPr>
            <a:r>
              <a:rPr lang="tr-TR" sz="1700" b="1" i="0">
                <a:solidFill>
                  <a:srgbClr val="D3373A"/>
                </a:solidFill>
                <a:latin typeface="Calibri"/>
              </a:rPr>
              <a:t>ANİ · dakikalar-günler</a:t>
            </a:r>
          </a:p>
        </p:txBody>
      </p:sp>
      <p:sp>
        <p:nvSpPr>
          <p:cNvPr id="8" name="Rounded Rectangle 7"/>
          <p:cNvSpPr/>
          <p:nvPr/>
        </p:nvSpPr>
        <p:spPr>
          <a:xfrm>
            <a:off x="502920" y="2167128"/>
            <a:ext cx="1010461" cy="365760"/>
          </a:xfrm>
          <a:prstGeom prst="roundRect">
            <a:avLst>
              <a:gd name="adj" fmla="val 50000"/>
            </a:avLst>
          </a:prstGeom>
          <a:solidFill>
            <a:srgbClr val="FFFFFF"/>
          </a:solidFill>
          <a:ln w="19050">
            <a:solidFill>
              <a:srgbClr val="D3373A"/>
            </a:solidFill>
          </a:ln>
          <a:effectLst/>
        </p:spPr>
        <p:txBody>
          <a:bodyPr rtlCol="0" anchor="ctr" wrap="square" lIns="54864" rIns="54864" tIns="0" bIns="0">
            <a:noAutofit/>
          </a:bodyPr>
          <a:lstStyle/>
          <a:p>
            <a:pPr algn="ctr">
              <a:spcBef>
                <a:spcPts val="0"/>
              </a:spcBef>
              <a:spcAft>
                <a:spcPts val="0"/>
              </a:spcAft>
            </a:pPr>
            <a:r>
              <a:rPr lang="tr-TR" sz="1500" b="0" i="0">
                <a:solidFill>
                  <a:srgbClr val="262626"/>
                </a:solidFill>
                <a:latin typeface="Calibri"/>
              </a:rPr>
              <a:t>Deprem</a:t>
            </a:r>
          </a:p>
        </p:txBody>
      </p:sp>
      <p:sp>
        <p:nvSpPr>
          <p:cNvPr id="9" name="Rounded Rectangle 8"/>
          <p:cNvSpPr/>
          <p:nvPr/>
        </p:nvSpPr>
        <p:spPr>
          <a:xfrm>
            <a:off x="1586533" y="2167128"/>
            <a:ext cx="1875831" cy="365760"/>
          </a:xfrm>
          <a:prstGeom prst="roundRect">
            <a:avLst>
              <a:gd name="adj" fmla="val 50000"/>
            </a:avLst>
          </a:prstGeom>
          <a:solidFill>
            <a:srgbClr val="FFFFFF"/>
          </a:solidFill>
          <a:ln w="19050">
            <a:solidFill>
              <a:srgbClr val="D3373A"/>
            </a:solidFill>
          </a:ln>
          <a:effectLst/>
        </p:spPr>
        <p:txBody>
          <a:bodyPr rtlCol="0" anchor="ctr" wrap="square" lIns="54864" rIns="54864" tIns="0" bIns="0">
            <a:noAutofit/>
          </a:bodyPr>
          <a:lstStyle/>
          <a:p>
            <a:pPr algn="ctr">
              <a:spcBef>
                <a:spcPts val="0"/>
              </a:spcBef>
              <a:spcAft>
                <a:spcPts val="0"/>
              </a:spcAft>
            </a:pPr>
            <a:r>
              <a:rPr lang="tr-TR" sz="1500" b="0" i="0">
                <a:solidFill>
                  <a:srgbClr val="262626"/>
                </a:solidFill>
                <a:latin typeface="Calibri"/>
              </a:rPr>
              <a:t>Volkanik faaliyetler</a:t>
            </a:r>
          </a:p>
        </p:txBody>
      </p:sp>
      <p:sp>
        <p:nvSpPr>
          <p:cNvPr id="10" name="Rounded Rectangle 9"/>
          <p:cNvSpPr/>
          <p:nvPr/>
        </p:nvSpPr>
        <p:spPr>
          <a:xfrm>
            <a:off x="3535516" y="2167128"/>
            <a:ext cx="1028519" cy="365760"/>
          </a:xfrm>
          <a:prstGeom prst="roundRect">
            <a:avLst>
              <a:gd name="adj" fmla="val 50000"/>
            </a:avLst>
          </a:prstGeom>
          <a:solidFill>
            <a:srgbClr val="FFFFFF"/>
          </a:solidFill>
          <a:ln w="19050">
            <a:solidFill>
              <a:srgbClr val="D3373A"/>
            </a:solidFill>
          </a:ln>
          <a:effectLst/>
        </p:spPr>
        <p:txBody>
          <a:bodyPr rtlCol="0" anchor="ctr" wrap="square" lIns="54864" rIns="54864" tIns="0" bIns="0">
            <a:noAutofit/>
          </a:bodyPr>
          <a:lstStyle/>
          <a:p>
            <a:pPr algn="ctr">
              <a:spcBef>
                <a:spcPts val="0"/>
              </a:spcBef>
              <a:spcAft>
                <a:spcPts val="0"/>
              </a:spcAft>
            </a:pPr>
            <a:r>
              <a:rPr lang="tr-TR" sz="1500" b="0" i="0">
                <a:solidFill>
                  <a:srgbClr val="262626"/>
                </a:solidFill>
                <a:latin typeface="Calibri"/>
              </a:rPr>
              <a:t>Tsunami</a:t>
            </a:r>
          </a:p>
        </p:txBody>
      </p:sp>
      <p:sp>
        <p:nvSpPr>
          <p:cNvPr id="11" name="Rounded Rectangle 10"/>
          <p:cNvSpPr/>
          <p:nvPr/>
        </p:nvSpPr>
        <p:spPr>
          <a:xfrm>
            <a:off x="4637187" y="2167128"/>
            <a:ext cx="610857" cy="365760"/>
          </a:xfrm>
          <a:prstGeom prst="roundRect">
            <a:avLst>
              <a:gd name="adj" fmla="val 50000"/>
            </a:avLst>
          </a:prstGeom>
          <a:solidFill>
            <a:srgbClr val="FFFFFF"/>
          </a:solidFill>
          <a:ln w="19050">
            <a:solidFill>
              <a:srgbClr val="D3373A"/>
            </a:solidFill>
          </a:ln>
          <a:effectLst/>
        </p:spPr>
        <p:txBody>
          <a:bodyPr rtlCol="0" anchor="ctr" wrap="square" lIns="54864" rIns="54864" tIns="0" bIns="0">
            <a:noAutofit/>
          </a:bodyPr>
          <a:lstStyle/>
          <a:p>
            <a:pPr algn="ctr">
              <a:spcBef>
                <a:spcPts val="0"/>
              </a:spcBef>
              <a:spcAft>
                <a:spcPts val="0"/>
              </a:spcAft>
            </a:pPr>
            <a:r>
              <a:rPr lang="tr-TR" sz="1500" b="0" i="0">
                <a:solidFill>
                  <a:srgbClr val="262626"/>
                </a:solidFill>
                <a:latin typeface="Calibri"/>
              </a:rPr>
              <a:t>Çığ</a:t>
            </a:r>
          </a:p>
        </p:txBody>
      </p:sp>
      <p:sp>
        <p:nvSpPr>
          <p:cNvPr id="12" name="Rounded Rectangle 11"/>
          <p:cNvSpPr/>
          <p:nvPr/>
        </p:nvSpPr>
        <p:spPr>
          <a:xfrm>
            <a:off x="5321196" y="2167128"/>
            <a:ext cx="1013619" cy="365760"/>
          </a:xfrm>
          <a:prstGeom prst="roundRect">
            <a:avLst>
              <a:gd name="adj" fmla="val 50000"/>
            </a:avLst>
          </a:prstGeom>
          <a:solidFill>
            <a:srgbClr val="FFFFFF"/>
          </a:solidFill>
          <a:ln w="19050">
            <a:solidFill>
              <a:srgbClr val="D3373A"/>
            </a:solidFill>
          </a:ln>
          <a:effectLst/>
        </p:spPr>
        <p:txBody>
          <a:bodyPr rtlCol="0" anchor="ctr" wrap="square" lIns="54864" rIns="54864" tIns="0" bIns="0">
            <a:noAutofit/>
          </a:bodyPr>
          <a:lstStyle/>
          <a:p>
            <a:pPr algn="ctr">
              <a:spcBef>
                <a:spcPts val="0"/>
              </a:spcBef>
              <a:spcAft>
                <a:spcPts val="0"/>
              </a:spcAft>
            </a:pPr>
            <a:r>
              <a:rPr lang="tr-TR" sz="1500" b="0" i="0">
                <a:solidFill>
                  <a:srgbClr val="262626"/>
                </a:solidFill>
                <a:latin typeface="Calibri"/>
              </a:rPr>
              <a:t>Heyelan</a:t>
            </a:r>
          </a:p>
        </p:txBody>
      </p:sp>
      <p:sp>
        <p:nvSpPr>
          <p:cNvPr id="13" name="Rounded Rectangle 12"/>
          <p:cNvSpPr/>
          <p:nvPr/>
        </p:nvSpPr>
        <p:spPr>
          <a:xfrm>
            <a:off x="6407967" y="2167128"/>
            <a:ext cx="1441153" cy="365760"/>
          </a:xfrm>
          <a:prstGeom prst="roundRect">
            <a:avLst>
              <a:gd name="adj" fmla="val 50000"/>
            </a:avLst>
          </a:prstGeom>
          <a:solidFill>
            <a:srgbClr val="FFFFFF"/>
          </a:solidFill>
          <a:ln w="19050">
            <a:solidFill>
              <a:srgbClr val="D3373A"/>
            </a:solidFill>
          </a:ln>
          <a:effectLst/>
        </p:spPr>
        <p:txBody>
          <a:bodyPr rtlCol="0" anchor="ctr" wrap="square" lIns="54864" rIns="54864" tIns="0" bIns="0">
            <a:noAutofit/>
          </a:bodyPr>
          <a:lstStyle/>
          <a:p>
            <a:pPr algn="ctr">
              <a:spcBef>
                <a:spcPts val="0"/>
              </a:spcBef>
              <a:spcAft>
                <a:spcPts val="0"/>
              </a:spcAft>
            </a:pPr>
            <a:r>
              <a:rPr lang="tr-TR" sz="1500" b="0" i="0">
                <a:solidFill>
                  <a:srgbClr val="262626"/>
                </a:solidFill>
                <a:latin typeface="Calibri"/>
              </a:rPr>
              <a:t>Kaya düşmesi</a:t>
            </a:r>
          </a:p>
        </p:txBody>
      </p:sp>
      <p:sp>
        <p:nvSpPr>
          <p:cNvPr id="14" name="Rounded Rectangle 13"/>
          <p:cNvSpPr/>
          <p:nvPr/>
        </p:nvSpPr>
        <p:spPr>
          <a:xfrm>
            <a:off x="502920" y="2606040"/>
            <a:ext cx="1500692" cy="365760"/>
          </a:xfrm>
          <a:prstGeom prst="roundRect">
            <a:avLst>
              <a:gd name="adj" fmla="val 50000"/>
            </a:avLst>
          </a:prstGeom>
          <a:solidFill>
            <a:srgbClr val="FFFFFF"/>
          </a:solidFill>
          <a:ln w="19050">
            <a:solidFill>
              <a:srgbClr val="D3373A"/>
            </a:solidFill>
          </a:ln>
          <a:effectLst/>
        </p:spPr>
        <p:txBody>
          <a:bodyPr rtlCol="0" anchor="ctr" wrap="square" lIns="54864" rIns="54864" tIns="0" bIns="0">
            <a:noAutofit/>
          </a:bodyPr>
          <a:lstStyle/>
          <a:p>
            <a:pPr algn="ctr">
              <a:spcBef>
                <a:spcPts val="0"/>
              </a:spcBef>
              <a:spcAft>
                <a:spcPts val="0"/>
              </a:spcAft>
            </a:pPr>
            <a:r>
              <a:rPr lang="tr-TR" sz="1500" b="0" i="0">
                <a:solidFill>
                  <a:srgbClr val="262626"/>
                </a:solidFill>
                <a:latin typeface="Calibri"/>
              </a:rPr>
              <a:t>Çamur akıntısı</a:t>
            </a:r>
          </a:p>
        </p:txBody>
      </p:sp>
      <p:sp>
        <p:nvSpPr>
          <p:cNvPr id="15" name="Rounded Rectangle 14"/>
          <p:cNvSpPr/>
          <p:nvPr/>
        </p:nvSpPr>
        <p:spPr>
          <a:xfrm>
            <a:off x="2076764" y="2606040"/>
            <a:ext cx="601629" cy="365760"/>
          </a:xfrm>
          <a:prstGeom prst="roundRect">
            <a:avLst>
              <a:gd name="adj" fmla="val 50000"/>
            </a:avLst>
          </a:prstGeom>
          <a:solidFill>
            <a:srgbClr val="FFFFFF"/>
          </a:solidFill>
          <a:ln w="19050">
            <a:solidFill>
              <a:srgbClr val="D3373A"/>
            </a:solidFill>
          </a:ln>
          <a:effectLst/>
        </p:spPr>
        <p:txBody>
          <a:bodyPr rtlCol="0" anchor="ctr" wrap="square" lIns="54864" rIns="54864" tIns="0" bIns="0">
            <a:noAutofit/>
          </a:bodyPr>
          <a:lstStyle/>
          <a:p>
            <a:pPr algn="ctr">
              <a:spcBef>
                <a:spcPts val="0"/>
              </a:spcBef>
              <a:spcAft>
                <a:spcPts val="0"/>
              </a:spcAft>
            </a:pPr>
            <a:r>
              <a:rPr lang="tr-TR" sz="1500" b="0" i="0">
                <a:solidFill>
                  <a:srgbClr val="262626"/>
                </a:solidFill>
                <a:latin typeface="Calibri"/>
              </a:rPr>
              <a:t>Sel</a:t>
            </a:r>
          </a:p>
        </p:txBody>
      </p:sp>
      <p:sp>
        <p:nvSpPr>
          <p:cNvPr id="16" name="Rounded Rectangle 15"/>
          <p:cNvSpPr/>
          <p:nvPr/>
        </p:nvSpPr>
        <p:spPr>
          <a:xfrm>
            <a:off x="2751545" y="2606040"/>
            <a:ext cx="1064604" cy="365760"/>
          </a:xfrm>
          <a:prstGeom prst="roundRect">
            <a:avLst>
              <a:gd name="adj" fmla="val 50000"/>
            </a:avLst>
          </a:prstGeom>
          <a:solidFill>
            <a:srgbClr val="FFFFFF"/>
          </a:solidFill>
          <a:ln w="19050">
            <a:solidFill>
              <a:srgbClr val="D3373A"/>
            </a:solidFill>
          </a:ln>
          <a:effectLst/>
        </p:spPr>
        <p:txBody>
          <a:bodyPr rtlCol="0" anchor="ctr" wrap="square" lIns="54864" rIns="54864" tIns="0" bIns="0">
            <a:noAutofit/>
          </a:bodyPr>
          <a:lstStyle/>
          <a:p>
            <a:pPr algn="ctr">
              <a:spcBef>
                <a:spcPts val="0"/>
              </a:spcBef>
              <a:spcAft>
                <a:spcPts val="0"/>
              </a:spcAft>
            </a:pPr>
            <a:r>
              <a:rPr lang="tr-TR" sz="1500" b="0" i="0">
                <a:solidFill>
                  <a:srgbClr val="262626"/>
                </a:solidFill>
                <a:latin typeface="Calibri"/>
              </a:rPr>
              <a:t>Taşkınlar</a:t>
            </a:r>
          </a:p>
        </p:txBody>
      </p:sp>
      <p:sp>
        <p:nvSpPr>
          <p:cNvPr id="17" name="Rounded Rectangle 16"/>
          <p:cNvSpPr/>
          <p:nvPr/>
        </p:nvSpPr>
        <p:spPr>
          <a:xfrm>
            <a:off x="3889301" y="2606040"/>
            <a:ext cx="1363342" cy="365760"/>
          </a:xfrm>
          <a:prstGeom prst="roundRect">
            <a:avLst>
              <a:gd name="adj" fmla="val 50000"/>
            </a:avLst>
          </a:prstGeom>
          <a:solidFill>
            <a:srgbClr val="FFFFFF"/>
          </a:solidFill>
          <a:ln w="19050">
            <a:solidFill>
              <a:srgbClr val="D3373A"/>
            </a:solidFill>
          </a:ln>
          <a:effectLst/>
        </p:spPr>
        <p:txBody>
          <a:bodyPr rtlCol="0" anchor="ctr" wrap="square" lIns="54864" rIns="54864" tIns="0" bIns="0">
            <a:noAutofit/>
          </a:bodyPr>
          <a:lstStyle/>
          <a:p>
            <a:pPr algn="ctr">
              <a:spcBef>
                <a:spcPts val="0"/>
              </a:spcBef>
              <a:spcAft>
                <a:spcPts val="0"/>
              </a:spcAft>
            </a:pPr>
            <a:r>
              <a:rPr lang="tr-TR" sz="1500" b="0" i="0">
                <a:solidFill>
                  <a:srgbClr val="262626"/>
                </a:solidFill>
                <a:latin typeface="Calibri"/>
              </a:rPr>
              <a:t>Aşırı yağışlar</a:t>
            </a:r>
          </a:p>
        </p:txBody>
      </p:sp>
      <p:sp>
        <p:nvSpPr>
          <p:cNvPr id="18" name="Rounded Rectangle 17"/>
          <p:cNvSpPr/>
          <p:nvPr/>
        </p:nvSpPr>
        <p:spPr>
          <a:xfrm>
            <a:off x="5325795" y="2606040"/>
            <a:ext cx="988540" cy="365760"/>
          </a:xfrm>
          <a:prstGeom prst="roundRect">
            <a:avLst>
              <a:gd name="adj" fmla="val 50000"/>
            </a:avLst>
          </a:prstGeom>
          <a:solidFill>
            <a:srgbClr val="FFFFFF"/>
          </a:solidFill>
          <a:ln w="19050">
            <a:solidFill>
              <a:srgbClr val="D3373A"/>
            </a:solidFill>
          </a:ln>
          <a:effectLst/>
        </p:spPr>
        <p:txBody>
          <a:bodyPr rtlCol="0" anchor="ctr" wrap="square" lIns="54864" rIns="54864" tIns="0" bIns="0">
            <a:noAutofit/>
          </a:bodyPr>
          <a:lstStyle/>
          <a:p>
            <a:pPr algn="ctr">
              <a:spcBef>
                <a:spcPts val="0"/>
              </a:spcBef>
              <a:spcAft>
                <a:spcPts val="0"/>
              </a:spcAft>
            </a:pPr>
            <a:r>
              <a:rPr lang="tr-TR" sz="1500" b="0" i="0">
                <a:solidFill>
                  <a:srgbClr val="262626"/>
                </a:solidFill>
                <a:latin typeface="Calibri"/>
              </a:rPr>
              <a:t>Hortum</a:t>
            </a:r>
          </a:p>
        </p:txBody>
      </p:sp>
      <p:sp>
        <p:nvSpPr>
          <p:cNvPr id="19" name="Rounded Rectangle 18"/>
          <p:cNvSpPr/>
          <p:nvPr/>
        </p:nvSpPr>
        <p:spPr>
          <a:xfrm>
            <a:off x="6387487" y="2606040"/>
            <a:ext cx="931730" cy="365760"/>
          </a:xfrm>
          <a:prstGeom prst="roundRect">
            <a:avLst>
              <a:gd name="adj" fmla="val 50000"/>
            </a:avLst>
          </a:prstGeom>
          <a:solidFill>
            <a:srgbClr val="FFFFFF"/>
          </a:solidFill>
          <a:ln w="19050">
            <a:solidFill>
              <a:srgbClr val="D3373A"/>
            </a:solidFill>
          </a:ln>
          <a:effectLst/>
        </p:spPr>
        <p:txBody>
          <a:bodyPr rtlCol="0" anchor="ctr" wrap="square" lIns="54864" rIns="54864" tIns="0" bIns="0">
            <a:noAutofit/>
          </a:bodyPr>
          <a:lstStyle/>
          <a:p>
            <a:pPr algn="ctr">
              <a:spcBef>
                <a:spcPts val="0"/>
              </a:spcBef>
              <a:spcAft>
                <a:spcPts val="0"/>
              </a:spcAft>
            </a:pPr>
            <a:r>
              <a:rPr lang="tr-TR" sz="1500" b="0" i="0">
                <a:solidFill>
                  <a:srgbClr val="262626"/>
                </a:solidFill>
                <a:latin typeface="Calibri"/>
              </a:rPr>
              <a:t>Kasırga</a:t>
            </a:r>
          </a:p>
        </p:txBody>
      </p:sp>
      <p:sp>
        <p:nvSpPr>
          <p:cNvPr id="20" name="Rounded Rectangle 19"/>
          <p:cNvSpPr/>
          <p:nvPr/>
        </p:nvSpPr>
        <p:spPr>
          <a:xfrm>
            <a:off x="7392369" y="2606040"/>
            <a:ext cx="741156" cy="365760"/>
          </a:xfrm>
          <a:prstGeom prst="roundRect">
            <a:avLst>
              <a:gd name="adj" fmla="val 50000"/>
            </a:avLst>
          </a:prstGeom>
          <a:solidFill>
            <a:srgbClr val="FFFFFF"/>
          </a:solidFill>
          <a:ln w="19050">
            <a:solidFill>
              <a:srgbClr val="D3373A"/>
            </a:solidFill>
          </a:ln>
          <a:effectLst/>
        </p:spPr>
        <p:txBody>
          <a:bodyPr rtlCol="0" anchor="ctr" wrap="square" lIns="54864" rIns="54864" tIns="0" bIns="0">
            <a:noAutofit/>
          </a:bodyPr>
          <a:lstStyle/>
          <a:p>
            <a:pPr algn="ctr">
              <a:spcBef>
                <a:spcPts val="0"/>
              </a:spcBef>
              <a:spcAft>
                <a:spcPts val="0"/>
              </a:spcAft>
            </a:pPr>
            <a:r>
              <a:rPr lang="tr-TR" sz="1500" b="0" i="0">
                <a:solidFill>
                  <a:srgbClr val="262626"/>
                </a:solidFill>
                <a:latin typeface="Calibri"/>
              </a:rPr>
              <a:t>Dolu</a:t>
            </a:r>
          </a:p>
        </p:txBody>
      </p:sp>
      <p:sp>
        <p:nvSpPr>
          <p:cNvPr id="21" name="Rounded Rectangle 20"/>
          <p:cNvSpPr/>
          <p:nvPr/>
        </p:nvSpPr>
        <p:spPr>
          <a:xfrm>
            <a:off x="502920" y="3044952"/>
            <a:ext cx="1667291" cy="365760"/>
          </a:xfrm>
          <a:prstGeom prst="roundRect">
            <a:avLst>
              <a:gd name="adj" fmla="val 50000"/>
            </a:avLst>
          </a:prstGeom>
          <a:solidFill>
            <a:srgbClr val="FFFFFF"/>
          </a:solidFill>
          <a:ln w="19050">
            <a:solidFill>
              <a:srgbClr val="D3373A"/>
            </a:solidFill>
          </a:ln>
          <a:effectLst/>
        </p:spPr>
        <p:txBody>
          <a:bodyPr rtlCol="0" anchor="ctr" wrap="square" lIns="54864" rIns="54864" tIns="0" bIns="0">
            <a:noAutofit/>
          </a:bodyPr>
          <a:lstStyle/>
          <a:p>
            <a:pPr algn="ctr">
              <a:spcBef>
                <a:spcPts val="0"/>
              </a:spcBef>
              <a:spcAft>
                <a:spcPts val="0"/>
              </a:spcAft>
            </a:pPr>
            <a:r>
              <a:rPr lang="tr-TR" sz="1500" b="0" i="0">
                <a:solidFill>
                  <a:srgbClr val="262626"/>
                </a:solidFill>
                <a:latin typeface="Calibri"/>
              </a:rPr>
              <a:t>Yıldırım düşmesi</a:t>
            </a:r>
          </a:p>
        </p:txBody>
      </p:sp>
      <p:sp>
        <p:nvSpPr>
          <p:cNvPr id="22" name="Rounded Rectangle 21"/>
          <p:cNvSpPr/>
          <p:nvPr/>
        </p:nvSpPr>
        <p:spPr>
          <a:xfrm>
            <a:off x="2243363" y="3044952"/>
            <a:ext cx="1149038" cy="365760"/>
          </a:xfrm>
          <a:prstGeom prst="roundRect">
            <a:avLst>
              <a:gd name="adj" fmla="val 50000"/>
            </a:avLst>
          </a:prstGeom>
          <a:solidFill>
            <a:srgbClr val="FFFFFF"/>
          </a:solidFill>
          <a:ln w="19050">
            <a:solidFill>
              <a:srgbClr val="D3373A"/>
            </a:solidFill>
          </a:ln>
          <a:effectLst/>
        </p:spPr>
        <p:txBody>
          <a:bodyPr rtlCol="0" anchor="ctr" wrap="square" lIns="54864" rIns="54864" tIns="0" bIns="0">
            <a:noAutofit/>
          </a:bodyPr>
          <a:lstStyle/>
          <a:p>
            <a:pPr algn="ctr">
              <a:spcBef>
                <a:spcPts val="0"/>
              </a:spcBef>
              <a:spcAft>
                <a:spcPts val="0"/>
              </a:spcAft>
            </a:pPr>
            <a:r>
              <a:rPr lang="tr-TR" sz="1500" b="0" i="0">
                <a:solidFill>
                  <a:srgbClr val="262626"/>
                </a:solidFill>
                <a:latin typeface="Calibri"/>
              </a:rPr>
              <a:t>Buzlanma</a:t>
            </a:r>
          </a:p>
        </p:txBody>
      </p:sp>
      <p:sp>
        <p:nvSpPr>
          <p:cNvPr id="23" name="Rounded Rectangle 22"/>
          <p:cNvSpPr/>
          <p:nvPr/>
        </p:nvSpPr>
        <p:spPr>
          <a:xfrm>
            <a:off x="3465553" y="3044952"/>
            <a:ext cx="1741301" cy="365760"/>
          </a:xfrm>
          <a:prstGeom prst="roundRect">
            <a:avLst>
              <a:gd name="adj" fmla="val 50000"/>
            </a:avLst>
          </a:prstGeom>
          <a:solidFill>
            <a:srgbClr val="FFFFFF"/>
          </a:solidFill>
          <a:ln w="19050">
            <a:solidFill>
              <a:srgbClr val="D3373A"/>
            </a:solidFill>
          </a:ln>
          <a:effectLst/>
        </p:spPr>
        <p:txBody>
          <a:bodyPr rtlCol="0" anchor="ctr" wrap="square" lIns="54864" rIns="54864" tIns="0" bIns="0">
            <a:noAutofit/>
          </a:bodyPr>
          <a:lstStyle/>
          <a:p>
            <a:pPr algn="ctr">
              <a:spcBef>
                <a:spcPts val="0"/>
              </a:spcBef>
              <a:spcAft>
                <a:spcPts val="0"/>
              </a:spcAft>
            </a:pPr>
            <a:r>
              <a:rPr lang="tr-TR" sz="1500" b="0" i="0">
                <a:solidFill>
                  <a:srgbClr val="262626"/>
                </a:solidFill>
                <a:latin typeface="Calibri"/>
              </a:rPr>
              <a:t>Orman yangınları</a:t>
            </a:r>
          </a:p>
        </p:txBody>
      </p:sp>
      <p:sp>
        <p:nvSpPr>
          <p:cNvPr id="24" name="Rounded Rectangle 23"/>
          <p:cNvSpPr/>
          <p:nvPr/>
        </p:nvSpPr>
        <p:spPr>
          <a:xfrm>
            <a:off x="5280006" y="3044952"/>
            <a:ext cx="1096643" cy="365760"/>
          </a:xfrm>
          <a:prstGeom prst="roundRect">
            <a:avLst>
              <a:gd name="adj" fmla="val 50000"/>
            </a:avLst>
          </a:prstGeom>
          <a:solidFill>
            <a:srgbClr val="FFFFFF"/>
          </a:solidFill>
          <a:ln w="19050">
            <a:solidFill>
              <a:srgbClr val="D3373A"/>
            </a:solidFill>
          </a:ln>
          <a:effectLst/>
        </p:spPr>
        <p:txBody>
          <a:bodyPr rtlCol="0" anchor="ctr" wrap="square" lIns="54864" rIns="54864" tIns="0" bIns="0">
            <a:noAutofit/>
          </a:bodyPr>
          <a:lstStyle/>
          <a:p>
            <a:pPr algn="ctr">
              <a:spcBef>
                <a:spcPts val="0"/>
              </a:spcBef>
              <a:spcAft>
                <a:spcPts val="0"/>
              </a:spcAft>
            </a:pPr>
            <a:r>
              <a:rPr lang="tr-TR" sz="1500" b="0" i="0">
                <a:solidFill>
                  <a:srgbClr val="262626"/>
                </a:solidFill>
                <a:latin typeface="Calibri"/>
              </a:rPr>
              <a:t>Yangınlar</a:t>
            </a:r>
          </a:p>
        </p:txBody>
      </p:sp>
      <p:sp>
        <p:nvSpPr>
          <p:cNvPr id="25" name="Rounded Rectangle 24"/>
          <p:cNvSpPr/>
          <p:nvPr/>
        </p:nvSpPr>
        <p:spPr>
          <a:xfrm>
            <a:off x="6449801" y="3044952"/>
            <a:ext cx="1525219" cy="365760"/>
          </a:xfrm>
          <a:prstGeom prst="roundRect">
            <a:avLst>
              <a:gd name="adj" fmla="val 50000"/>
            </a:avLst>
          </a:prstGeom>
          <a:solidFill>
            <a:srgbClr val="FFFFFF"/>
          </a:solidFill>
          <a:ln w="19050">
            <a:solidFill>
              <a:srgbClr val="D3373A"/>
            </a:solidFill>
          </a:ln>
          <a:effectLst/>
        </p:spPr>
        <p:txBody>
          <a:bodyPr rtlCol="0" anchor="ctr" wrap="square" lIns="54864" rIns="54864" tIns="0" bIns="0">
            <a:noAutofit/>
          </a:bodyPr>
          <a:lstStyle/>
          <a:p>
            <a:pPr algn="ctr">
              <a:spcBef>
                <a:spcPts val="0"/>
              </a:spcBef>
              <a:spcAft>
                <a:spcPts val="0"/>
              </a:spcAft>
            </a:pPr>
            <a:r>
              <a:rPr lang="tr-TR" sz="1500" b="0" i="0">
                <a:solidFill>
                  <a:srgbClr val="262626"/>
                </a:solidFill>
                <a:latin typeface="Calibri"/>
              </a:rPr>
              <a:t>Sanayi kazaları</a:t>
            </a:r>
          </a:p>
        </p:txBody>
      </p:sp>
      <p:sp>
        <p:nvSpPr>
          <p:cNvPr id="26" name="Rounded Rectangle 25"/>
          <p:cNvSpPr/>
          <p:nvPr/>
        </p:nvSpPr>
        <p:spPr>
          <a:xfrm>
            <a:off x="502920" y="3483864"/>
            <a:ext cx="1579331" cy="365760"/>
          </a:xfrm>
          <a:prstGeom prst="roundRect">
            <a:avLst>
              <a:gd name="adj" fmla="val 50000"/>
            </a:avLst>
          </a:prstGeom>
          <a:solidFill>
            <a:srgbClr val="FFFFFF"/>
          </a:solidFill>
          <a:ln w="19050">
            <a:solidFill>
              <a:srgbClr val="D3373A"/>
            </a:solidFill>
          </a:ln>
          <a:effectLst/>
        </p:spPr>
        <p:txBody>
          <a:bodyPr rtlCol="0" anchor="ctr" wrap="square" lIns="54864" rIns="54864" tIns="0" bIns="0">
            <a:noAutofit/>
          </a:bodyPr>
          <a:lstStyle/>
          <a:p>
            <a:pPr algn="ctr">
              <a:spcBef>
                <a:spcPts val="0"/>
              </a:spcBef>
              <a:spcAft>
                <a:spcPts val="0"/>
              </a:spcAft>
            </a:pPr>
            <a:r>
              <a:rPr lang="tr-TR" sz="1500" b="0" i="0">
                <a:solidFill>
                  <a:srgbClr val="262626"/>
                </a:solidFill>
                <a:latin typeface="Calibri"/>
              </a:rPr>
              <a:t>Maden kazaları</a:t>
            </a:r>
          </a:p>
        </p:txBody>
      </p:sp>
      <p:sp>
        <p:nvSpPr>
          <p:cNvPr id="27" name="Rounded Rectangle 26"/>
          <p:cNvSpPr/>
          <p:nvPr/>
        </p:nvSpPr>
        <p:spPr>
          <a:xfrm>
            <a:off x="2155403" y="3483864"/>
            <a:ext cx="2226902" cy="365760"/>
          </a:xfrm>
          <a:prstGeom prst="roundRect">
            <a:avLst>
              <a:gd name="adj" fmla="val 50000"/>
            </a:avLst>
          </a:prstGeom>
          <a:solidFill>
            <a:srgbClr val="FFFFFF"/>
          </a:solidFill>
          <a:ln w="19050">
            <a:solidFill>
              <a:srgbClr val="D3373A"/>
            </a:solidFill>
          </a:ln>
          <a:effectLst/>
        </p:spPr>
        <p:txBody>
          <a:bodyPr rtlCol="0" anchor="ctr" wrap="square" lIns="54864" rIns="54864" tIns="0" bIns="0">
            <a:noAutofit/>
          </a:bodyPr>
          <a:lstStyle/>
          <a:p>
            <a:pPr algn="ctr">
              <a:spcBef>
                <a:spcPts val="0"/>
              </a:spcBef>
              <a:spcAft>
                <a:spcPts val="0"/>
              </a:spcAft>
            </a:pPr>
            <a:r>
              <a:rPr lang="tr-TR" sz="1500" b="0" i="0">
                <a:solidFill>
                  <a:srgbClr val="262626"/>
                </a:solidFill>
                <a:latin typeface="Calibri"/>
              </a:rPr>
              <a:t>Nükleer santral kazaları</a:t>
            </a:r>
          </a:p>
        </p:txBody>
      </p:sp>
      <p:sp>
        <p:nvSpPr>
          <p:cNvPr id="28" name="Rounded Rectangle 27"/>
          <p:cNvSpPr/>
          <p:nvPr/>
        </p:nvSpPr>
        <p:spPr>
          <a:xfrm>
            <a:off x="4455457" y="3483864"/>
            <a:ext cx="1557196" cy="365760"/>
          </a:xfrm>
          <a:prstGeom prst="roundRect">
            <a:avLst>
              <a:gd name="adj" fmla="val 50000"/>
            </a:avLst>
          </a:prstGeom>
          <a:solidFill>
            <a:srgbClr val="FFFFFF"/>
          </a:solidFill>
          <a:ln w="19050">
            <a:solidFill>
              <a:srgbClr val="D3373A"/>
            </a:solidFill>
          </a:ln>
          <a:effectLst/>
        </p:spPr>
        <p:txBody>
          <a:bodyPr rtlCol="0" anchor="ctr" wrap="square" lIns="54864" rIns="54864" tIns="0" bIns="0">
            <a:noAutofit/>
          </a:bodyPr>
          <a:lstStyle/>
          <a:p>
            <a:pPr algn="ctr">
              <a:spcBef>
                <a:spcPts val="0"/>
              </a:spcBef>
              <a:spcAft>
                <a:spcPts val="0"/>
              </a:spcAft>
            </a:pPr>
            <a:r>
              <a:rPr lang="tr-TR" sz="1500" b="0" i="0">
                <a:solidFill>
                  <a:srgbClr val="262626"/>
                </a:solidFill>
                <a:latin typeface="Calibri"/>
              </a:rPr>
              <a:t>Ulaşım kazaları</a:t>
            </a:r>
          </a:p>
        </p:txBody>
      </p:sp>
      <p:sp>
        <p:nvSpPr>
          <p:cNvPr id="29" name="Rounded Rectangle 28"/>
          <p:cNvSpPr/>
          <p:nvPr/>
        </p:nvSpPr>
        <p:spPr>
          <a:xfrm>
            <a:off x="6085805" y="3483864"/>
            <a:ext cx="1555908" cy="365760"/>
          </a:xfrm>
          <a:prstGeom prst="roundRect">
            <a:avLst>
              <a:gd name="adj" fmla="val 50000"/>
            </a:avLst>
          </a:prstGeom>
          <a:solidFill>
            <a:srgbClr val="FFFFFF"/>
          </a:solidFill>
          <a:ln w="19050">
            <a:solidFill>
              <a:srgbClr val="D3373A"/>
            </a:solidFill>
          </a:ln>
          <a:effectLst/>
        </p:spPr>
        <p:txBody>
          <a:bodyPr rtlCol="0" anchor="ctr" wrap="square" lIns="54864" rIns="54864" tIns="0" bIns="0">
            <a:noAutofit/>
          </a:bodyPr>
          <a:lstStyle/>
          <a:p>
            <a:pPr algn="ctr">
              <a:spcBef>
                <a:spcPts val="0"/>
              </a:spcBef>
              <a:spcAft>
                <a:spcPts val="0"/>
              </a:spcAft>
            </a:pPr>
            <a:r>
              <a:rPr lang="tr-TR" sz="1500" b="0" i="0">
                <a:solidFill>
                  <a:srgbClr val="262626"/>
                </a:solidFill>
                <a:latin typeface="Calibri"/>
              </a:rPr>
              <a:t>Terör saldırıları</a:t>
            </a:r>
          </a:p>
        </p:txBody>
      </p:sp>
      <p:sp>
        <p:nvSpPr>
          <p:cNvPr id="30" name="Rounded Rectangle 29"/>
          <p:cNvSpPr/>
          <p:nvPr/>
        </p:nvSpPr>
        <p:spPr>
          <a:xfrm>
            <a:off x="502920" y="3922776"/>
            <a:ext cx="4225689" cy="365760"/>
          </a:xfrm>
          <a:prstGeom prst="roundRect">
            <a:avLst>
              <a:gd name="adj" fmla="val 50000"/>
            </a:avLst>
          </a:prstGeom>
          <a:solidFill>
            <a:srgbClr val="FFFFFF"/>
          </a:solidFill>
          <a:ln w="19050">
            <a:solidFill>
              <a:srgbClr val="D3373A"/>
            </a:solidFill>
          </a:ln>
          <a:effectLst/>
        </p:spPr>
        <p:txBody>
          <a:bodyPr rtlCol="0" anchor="ctr" wrap="square" lIns="54864" rIns="54864" tIns="0" bIns="0">
            <a:noAutofit/>
          </a:bodyPr>
          <a:lstStyle/>
          <a:p>
            <a:pPr algn="ctr">
              <a:spcBef>
                <a:spcPts val="0"/>
              </a:spcBef>
              <a:spcAft>
                <a:spcPts val="0"/>
              </a:spcAft>
            </a:pPr>
            <a:r>
              <a:rPr lang="tr-TR" sz="1500" b="0" i="0">
                <a:solidFill>
                  <a:srgbClr val="262626"/>
                </a:solidFill>
                <a:latin typeface="Calibri"/>
              </a:rPr>
              <a:t>Biyolojik, nükleer ve kimyasal silahların kullanımı</a:t>
            </a:r>
          </a:p>
        </p:txBody>
      </p:sp>
      <p:sp>
        <p:nvSpPr>
          <p:cNvPr id="31" name="TextBox 30"/>
          <p:cNvSpPr txBox="1"/>
          <p:nvPr/>
        </p:nvSpPr>
        <p:spPr>
          <a:xfrm>
            <a:off x="502920" y="4398264"/>
            <a:ext cx="7863840" cy="365760"/>
          </a:xfrm>
          <a:prstGeom prst="rect">
            <a:avLst/>
          </a:prstGeom>
          <a:noFill/>
        </p:spPr>
        <p:txBody>
          <a:bodyPr wrap="square" anchor="t" lIns="73152" rIns="73152" tIns="36576" bIns="36576">
            <a:noAutofit/>
          </a:bodyPr>
          <a:lstStyle/>
          <a:p>
            <a:pPr algn="l">
              <a:spcBef>
                <a:spcPts val="0"/>
              </a:spcBef>
              <a:spcAft>
                <a:spcPts val="0"/>
              </a:spcAft>
            </a:pPr>
            <a:r>
              <a:rPr lang="tr-TR" sz="1700" b="1" i="0">
                <a:solidFill>
                  <a:srgbClr val="2C6696"/>
                </a:solidFill>
                <a:latin typeface="Calibri"/>
              </a:rPr>
              <a:t>YAVAŞ · haftalar-yıllar</a:t>
            </a:r>
          </a:p>
        </p:txBody>
      </p:sp>
      <p:sp>
        <p:nvSpPr>
          <p:cNvPr id="32" name="Rounded Rectangle 31"/>
          <p:cNvSpPr/>
          <p:nvPr/>
        </p:nvSpPr>
        <p:spPr>
          <a:xfrm>
            <a:off x="502920" y="4782312"/>
            <a:ext cx="997615" cy="365760"/>
          </a:xfrm>
          <a:prstGeom prst="roundRect">
            <a:avLst>
              <a:gd name="adj" fmla="val 50000"/>
            </a:avLst>
          </a:prstGeom>
          <a:solidFill>
            <a:srgbClr val="FFFFFF"/>
          </a:solidFill>
          <a:ln w="19050">
            <a:solidFill>
              <a:srgbClr val="2C6696"/>
            </a:solidFill>
          </a:ln>
          <a:effectLst/>
        </p:spPr>
        <p:txBody>
          <a:bodyPr rtlCol="0" anchor="ctr" wrap="square" lIns="54864" rIns="54864" tIns="0" bIns="0">
            <a:noAutofit/>
          </a:bodyPr>
          <a:lstStyle/>
          <a:p>
            <a:pPr algn="ctr">
              <a:spcBef>
                <a:spcPts val="0"/>
              </a:spcBef>
              <a:spcAft>
                <a:spcPts val="0"/>
              </a:spcAft>
            </a:pPr>
            <a:r>
              <a:rPr lang="tr-TR" sz="1500" b="0" i="0">
                <a:solidFill>
                  <a:srgbClr val="262626"/>
                </a:solidFill>
                <a:latin typeface="Calibri"/>
              </a:rPr>
              <a:t>Kuraklık</a:t>
            </a:r>
          </a:p>
        </p:txBody>
      </p:sp>
      <p:sp>
        <p:nvSpPr>
          <p:cNvPr id="33" name="Rounded Rectangle 32"/>
          <p:cNvSpPr/>
          <p:nvPr/>
        </p:nvSpPr>
        <p:spPr>
          <a:xfrm>
            <a:off x="1573687" y="4782312"/>
            <a:ext cx="999639" cy="365760"/>
          </a:xfrm>
          <a:prstGeom prst="roundRect">
            <a:avLst>
              <a:gd name="adj" fmla="val 50000"/>
            </a:avLst>
          </a:prstGeom>
          <a:solidFill>
            <a:srgbClr val="FFFFFF"/>
          </a:solidFill>
          <a:ln w="19050">
            <a:solidFill>
              <a:srgbClr val="2C6696"/>
            </a:solidFill>
          </a:ln>
          <a:effectLst/>
        </p:spPr>
        <p:txBody>
          <a:bodyPr rtlCol="0" anchor="ctr" wrap="square" lIns="54864" rIns="54864" tIns="0" bIns="0">
            <a:noAutofit/>
          </a:bodyPr>
          <a:lstStyle/>
          <a:p>
            <a:pPr algn="ctr">
              <a:spcBef>
                <a:spcPts val="0"/>
              </a:spcBef>
              <a:spcAft>
                <a:spcPts val="0"/>
              </a:spcAft>
            </a:pPr>
            <a:r>
              <a:rPr lang="tr-TR" sz="1500" b="0" i="0">
                <a:solidFill>
                  <a:srgbClr val="262626"/>
                </a:solidFill>
                <a:latin typeface="Calibri"/>
              </a:rPr>
              <a:t>Erozyon</a:t>
            </a:r>
          </a:p>
        </p:txBody>
      </p:sp>
      <p:sp>
        <p:nvSpPr>
          <p:cNvPr id="34" name="Rounded Rectangle 33"/>
          <p:cNvSpPr/>
          <p:nvPr/>
        </p:nvSpPr>
        <p:spPr>
          <a:xfrm>
            <a:off x="2646478" y="4782312"/>
            <a:ext cx="1045964" cy="365760"/>
          </a:xfrm>
          <a:prstGeom prst="roundRect">
            <a:avLst>
              <a:gd name="adj" fmla="val 50000"/>
            </a:avLst>
          </a:prstGeom>
          <a:solidFill>
            <a:srgbClr val="FFFFFF"/>
          </a:solidFill>
          <a:ln w="19050">
            <a:solidFill>
              <a:srgbClr val="2C6696"/>
            </a:solidFill>
          </a:ln>
          <a:effectLst/>
        </p:spPr>
        <p:txBody>
          <a:bodyPr rtlCol="0" anchor="ctr" wrap="square" lIns="54864" rIns="54864" tIns="0" bIns="0">
            <a:noAutofit/>
          </a:bodyPr>
          <a:lstStyle/>
          <a:p>
            <a:pPr algn="ctr">
              <a:spcBef>
                <a:spcPts val="0"/>
              </a:spcBef>
              <a:spcAft>
                <a:spcPts val="0"/>
              </a:spcAft>
            </a:pPr>
            <a:r>
              <a:rPr lang="tr-TR" sz="1500" b="0" i="0">
                <a:solidFill>
                  <a:srgbClr val="262626"/>
                </a:solidFill>
                <a:latin typeface="Calibri"/>
              </a:rPr>
              <a:t>Salgınlar</a:t>
            </a:r>
          </a:p>
        </p:txBody>
      </p:sp>
      <p:sp>
        <p:nvSpPr>
          <p:cNvPr id="35" name="Rounded Rectangle 34"/>
          <p:cNvSpPr/>
          <p:nvPr/>
        </p:nvSpPr>
        <p:spPr>
          <a:xfrm>
            <a:off x="3765594" y="4782312"/>
            <a:ext cx="1513538" cy="365760"/>
          </a:xfrm>
          <a:prstGeom prst="roundRect">
            <a:avLst>
              <a:gd name="adj" fmla="val 50000"/>
            </a:avLst>
          </a:prstGeom>
          <a:solidFill>
            <a:srgbClr val="FFFFFF"/>
          </a:solidFill>
          <a:ln w="19050">
            <a:solidFill>
              <a:srgbClr val="2C6696"/>
            </a:solidFill>
          </a:ln>
          <a:effectLst/>
        </p:spPr>
        <p:txBody>
          <a:bodyPr rtlCol="0" anchor="ctr" wrap="square" lIns="54864" rIns="54864" tIns="0" bIns="0">
            <a:noAutofit/>
          </a:bodyPr>
          <a:lstStyle/>
          <a:p>
            <a:pPr algn="ctr">
              <a:spcBef>
                <a:spcPts val="0"/>
              </a:spcBef>
              <a:spcAft>
                <a:spcPts val="0"/>
              </a:spcAft>
            </a:pPr>
            <a:r>
              <a:rPr lang="tr-TR" sz="1500" b="0" i="0">
                <a:solidFill>
                  <a:srgbClr val="262626"/>
                </a:solidFill>
                <a:latin typeface="Calibri"/>
              </a:rPr>
              <a:t>Böcek istilaları</a:t>
            </a:r>
          </a:p>
        </p:txBody>
      </p:sp>
      <p:sp>
        <p:nvSpPr>
          <p:cNvPr id="36" name="Rounded Rectangle 35"/>
          <p:cNvSpPr/>
          <p:nvPr/>
        </p:nvSpPr>
        <p:spPr>
          <a:xfrm>
            <a:off x="5352284" y="4782312"/>
            <a:ext cx="1326122" cy="365760"/>
          </a:xfrm>
          <a:prstGeom prst="roundRect">
            <a:avLst>
              <a:gd name="adj" fmla="val 50000"/>
            </a:avLst>
          </a:prstGeom>
          <a:solidFill>
            <a:srgbClr val="FFFFFF"/>
          </a:solidFill>
          <a:ln w="19050">
            <a:solidFill>
              <a:srgbClr val="2C6696"/>
            </a:solidFill>
          </a:ln>
          <a:effectLst/>
        </p:spPr>
        <p:txBody>
          <a:bodyPr rtlCol="0" anchor="ctr" wrap="square" lIns="54864" rIns="54864" tIns="0" bIns="0">
            <a:noAutofit/>
          </a:bodyPr>
          <a:lstStyle/>
          <a:p>
            <a:pPr algn="ctr">
              <a:spcBef>
                <a:spcPts val="0"/>
              </a:spcBef>
              <a:spcAft>
                <a:spcPts val="0"/>
              </a:spcAft>
            </a:pPr>
            <a:r>
              <a:rPr lang="tr-TR" sz="1500" b="0" i="0">
                <a:solidFill>
                  <a:srgbClr val="262626"/>
                </a:solidFill>
                <a:latin typeface="Calibri"/>
              </a:rPr>
              <a:t>Hava kirliliği</a:t>
            </a:r>
          </a:p>
        </p:txBody>
      </p:sp>
      <p:sp>
        <p:nvSpPr>
          <p:cNvPr id="37" name="Rounded Rectangle 36"/>
          <p:cNvSpPr/>
          <p:nvPr/>
        </p:nvSpPr>
        <p:spPr>
          <a:xfrm>
            <a:off x="6751558" y="4782312"/>
            <a:ext cx="890096" cy="365760"/>
          </a:xfrm>
          <a:prstGeom prst="roundRect">
            <a:avLst>
              <a:gd name="adj" fmla="val 50000"/>
            </a:avLst>
          </a:prstGeom>
          <a:solidFill>
            <a:srgbClr val="FFFFFF"/>
          </a:solidFill>
          <a:ln w="19050">
            <a:solidFill>
              <a:srgbClr val="2C6696"/>
            </a:solidFill>
          </a:ln>
          <a:effectLst/>
        </p:spPr>
        <p:txBody>
          <a:bodyPr rtlCol="0" anchor="ctr" wrap="square" lIns="54864" rIns="54864" tIns="0" bIns="0">
            <a:noAutofit/>
          </a:bodyPr>
          <a:lstStyle/>
          <a:p>
            <a:pPr algn="ctr">
              <a:spcBef>
                <a:spcPts val="0"/>
              </a:spcBef>
              <a:spcAft>
                <a:spcPts val="0"/>
              </a:spcAft>
            </a:pPr>
            <a:r>
              <a:rPr lang="tr-TR" sz="1500" b="0" i="0">
                <a:solidFill>
                  <a:srgbClr val="262626"/>
                </a:solidFill>
                <a:latin typeface="Calibri"/>
              </a:rPr>
              <a:t>Göçler</a:t>
            </a:r>
          </a:p>
        </p:txBody>
      </p:sp>
      <p:sp>
        <p:nvSpPr>
          <p:cNvPr id="38" name="Rounded Rectangle 37"/>
          <p:cNvSpPr/>
          <p:nvPr/>
        </p:nvSpPr>
        <p:spPr>
          <a:xfrm>
            <a:off x="502920" y="5221224"/>
            <a:ext cx="1013650" cy="365760"/>
          </a:xfrm>
          <a:prstGeom prst="roundRect">
            <a:avLst>
              <a:gd name="adj" fmla="val 50000"/>
            </a:avLst>
          </a:prstGeom>
          <a:solidFill>
            <a:srgbClr val="FFFFFF"/>
          </a:solidFill>
          <a:ln w="19050">
            <a:solidFill>
              <a:srgbClr val="2C6696"/>
            </a:solidFill>
          </a:ln>
          <a:effectLst/>
        </p:spPr>
        <p:txBody>
          <a:bodyPr rtlCol="0" anchor="ctr" wrap="square" lIns="54864" rIns="54864" tIns="0" bIns="0">
            <a:noAutofit/>
          </a:bodyPr>
          <a:lstStyle/>
          <a:p>
            <a:pPr algn="ctr">
              <a:spcBef>
                <a:spcPts val="0"/>
              </a:spcBef>
              <a:spcAft>
                <a:spcPts val="0"/>
              </a:spcAft>
            </a:pPr>
            <a:r>
              <a:rPr lang="tr-TR" sz="1500" b="0" i="0">
                <a:solidFill>
                  <a:srgbClr val="262626"/>
                </a:solidFill>
                <a:latin typeface="Calibri"/>
              </a:rPr>
              <a:t>Savaşlar</a:t>
            </a:r>
          </a:p>
        </p:txBody>
      </p:sp>
      <p:sp>
        <p:nvSpPr>
          <p:cNvPr id="39" name="Rounded Rectangle 38"/>
          <p:cNvSpPr/>
          <p:nvPr/>
        </p:nvSpPr>
        <p:spPr>
          <a:xfrm>
            <a:off x="1589722" y="5221224"/>
            <a:ext cx="2295056" cy="365760"/>
          </a:xfrm>
          <a:prstGeom prst="roundRect">
            <a:avLst>
              <a:gd name="adj" fmla="val 50000"/>
            </a:avLst>
          </a:prstGeom>
          <a:solidFill>
            <a:srgbClr val="FFFFFF"/>
          </a:solidFill>
          <a:ln w="19050">
            <a:solidFill>
              <a:srgbClr val="2C6696"/>
            </a:solidFill>
          </a:ln>
          <a:effectLst/>
        </p:spPr>
        <p:txBody>
          <a:bodyPr rtlCol="0" anchor="ctr" wrap="square" lIns="54864" rIns="54864" tIns="0" bIns="0">
            <a:noAutofit/>
          </a:bodyPr>
          <a:lstStyle/>
          <a:p>
            <a:pPr algn="ctr">
              <a:spcBef>
                <a:spcPts val="0"/>
              </a:spcBef>
              <a:spcAft>
                <a:spcPts val="0"/>
              </a:spcAft>
            </a:pPr>
            <a:r>
              <a:rPr lang="tr-TR" sz="1500" b="0" i="0">
                <a:solidFill>
                  <a:srgbClr val="262626"/>
                </a:solidFill>
                <a:latin typeface="Calibri"/>
              </a:rPr>
              <a:t>Sıcak-soğuk hava dalgası</a:t>
            </a:r>
          </a:p>
        </p:txBody>
      </p:sp>
      <p:sp>
        <p:nvSpPr>
          <p:cNvPr id="40" name="Rounded Rectangle 39"/>
          <p:cNvSpPr/>
          <p:nvPr/>
        </p:nvSpPr>
        <p:spPr>
          <a:xfrm>
            <a:off x="8595360" y="1216152"/>
            <a:ext cx="3093415" cy="2377440"/>
          </a:xfrm>
          <a:prstGeom prst="roundRect">
            <a:avLst>
              <a:gd name="adj" fmla="val 6000"/>
            </a:avLst>
          </a:prstGeom>
          <a:solidFill>
            <a:srgbClr val="E3F1E4"/>
          </a:solidFill>
          <a:ln>
            <a:noFill/>
          </a:ln>
          <a:effectLst/>
        </p:spPr>
        <p:txBody>
          <a:bodyPr rtlCol="0" anchor="ctr"/>
          <a:lstStyle/>
          <a:p/>
        </p:txBody>
      </p:sp>
      <p:sp>
        <p:nvSpPr>
          <p:cNvPr id="41" name="Rectangle 40"/>
          <p:cNvSpPr/>
          <p:nvPr/>
        </p:nvSpPr>
        <p:spPr>
          <a:xfrm>
            <a:off x="8595360" y="1216152"/>
            <a:ext cx="109728" cy="2377440"/>
          </a:xfrm>
          <a:prstGeom prst="rect">
            <a:avLst/>
          </a:prstGeom>
          <a:solidFill>
            <a:srgbClr val="2E7D32"/>
          </a:solidFill>
          <a:ln>
            <a:noFill/>
          </a:ln>
          <a:effectLst/>
        </p:spPr>
        <p:txBody>
          <a:bodyPr rtlCol="0" anchor="ctr"/>
          <a:lstStyle/>
          <a:p/>
        </p:txBody>
      </p:sp>
      <p:sp>
        <p:nvSpPr>
          <p:cNvPr id="42" name="TextBox 41"/>
          <p:cNvSpPr txBox="1"/>
          <p:nvPr/>
        </p:nvSpPr>
        <p:spPr>
          <a:xfrm>
            <a:off x="8823960" y="1271016"/>
            <a:ext cx="2773375" cy="2267712"/>
          </a:xfrm>
          <a:prstGeom prst="rect">
            <a:avLst/>
          </a:prstGeom>
          <a:noFill/>
        </p:spPr>
        <p:txBody>
          <a:bodyPr wrap="square" anchor="ctr" lIns="73152" rIns="73152" tIns="36576" bIns="36576">
            <a:noAutofit/>
          </a:bodyPr>
          <a:lstStyle/>
          <a:p>
            <a:pPr algn="l">
              <a:spcBef>
                <a:spcPts val="0"/>
              </a:spcBef>
              <a:spcAft>
                <a:spcPts val="400"/>
              </a:spcAft>
            </a:pPr>
            <a:r>
              <a:rPr lang="tr-TR" sz="1800" b="1" i="0">
                <a:solidFill>
                  <a:srgbClr val="2E7D32"/>
                </a:solidFill>
                <a:latin typeface="Calibri"/>
              </a:rPr>
              <a:t>Ölçüt işe yaradı</a:t>
            </a:r>
          </a:p>
          <a:p>
            <a:pPr algn="l" marL="223758" indent="-223758">
              <a:spcBef>
                <a:spcPts val="0"/>
              </a:spcBef>
              <a:spcAft>
                <a:spcPts val="500"/>
              </a:spcAft>
            </a:pPr>
            <a:r>
              <a:rPr lang="tr-TR" sz="1800" b="1" i="0">
                <a:solidFill>
                  <a:srgbClr val="2C6696"/>
                </a:solidFill>
                <a:latin typeface="Calibri"/>
              </a:rPr>
              <a:t>•  </a:t>
            </a:r>
            <a:r>
              <a:rPr lang="tr-TR" sz="1800" b="0" i="0">
                <a:solidFill>
                  <a:srgbClr val="262626"/>
                </a:solidFill>
                <a:latin typeface="Calibri"/>
              </a:rPr>
              <a:t>Her kart bir yere kondu.</a:t>
            </a:r>
          </a:p>
          <a:p>
            <a:pPr algn="l" marL="223758" indent="-223758">
              <a:spcBef>
                <a:spcPts val="0"/>
              </a:spcBef>
              <a:spcAft>
                <a:spcPts val="0"/>
              </a:spcAft>
            </a:pPr>
            <a:r>
              <a:rPr lang="tr-TR" sz="1800" b="1" i="0">
                <a:solidFill>
                  <a:srgbClr val="2C6696"/>
                </a:solidFill>
                <a:latin typeface="Calibri"/>
              </a:rPr>
              <a:t>•  </a:t>
            </a:r>
            <a:r>
              <a:rPr lang="tr-TR" sz="1800" b="0" i="0">
                <a:solidFill>
                  <a:srgbClr val="262626"/>
                </a:solidFill>
                <a:latin typeface="Calibri"/>
              </a:rPr>
              <a:t>Sınır durumlar gerekçeyle yerleşir.</a:t>
            </a:r>
          </a:p>
        </p:txBody>
      </p:sp>
      <p:sp>
        <p:nvSpPr>
          <p:cNvPr id="43" name="Rounded Rectangle 42"/>
          <p:cNvSpPr/>
          <p:nvPr/>
        </p:nvSpPr>
        <p:spPr>
          <a:xfrm>
            <a:off x="8595360" y="3730752"/>
            <a:ext cx="3093415" cy="2514600"/>
          </a:xfrm>
          <a:prstGeom prst="roundRect">
            <a:avLst>
              <a:gd name="adj" fmla="val 8000"/>
            </a:avLst>
          </a:prstGeom>
          <a:solidFill>
            <a:srgbClr val="F9E1E1"/>
          </a:solidFill>
          <a:ln>
            <a:noFill/>
          </a:ln>
          <a:effectLst/>
        </p:spPr>
        <p:txBody>
          <a:bodyPr rtlCol="0" anchor="ctr" wrap="square" lIns="128016" rIns="128016" tIns="73152" bIns="73152">
            <a:noAutofit/>
          </a:bodyPr>
          <a:lstStyle/>
          <a:p>
            <a:pPr algn="l">
              <a:spcBef>
                <a:spcPts val="0"/>
              </a:spcBef>
              <a:spcAft>
                <a:spcPts val="600"/>
              </a:spcAft>
            </a:pPr>
            <a:r>
              <a:rPr lang="tr-TR" sz="1800" b="1" i="0">
                <a:solidFill>
                  <a:srgbClr val="D3373A"/>
                </a:solidFill>
                <a:latin typeface="Calibri"/>
              </a:rPr>
              <a:t>İşe yaramayan ölçüt</a:t>
            </a:r>
          </a:p>
          <a:p>
            <a:pPr algn="l">
              <a:spcBef>
                <a:spcPts val="0"/>
              </a:spcBef>
              <a:spcAft>
                <a:spcPts val="0"/>
              </a:spcAft>
            </a:pPr>
            <a:r>
              <a:rPr lang="tr-TR" sz="1800" b="0" i="0">
                <a:solidFill>
                  <a:srgbClr val="262626"/>
                </a:solidFill>
                <a:latin typeface="Calibri"/>
              </a:rPr>
              <a:t>“Kaç kişiyi etkiler?” — aynı afet bazen birkaç, bazen binlerce kişiyi etkiler; kart yerleşmez.</a:t>
            </a:r>
          </a:p>
        </p:txBody>
      </p:sp>
      <p:sp>
        <p:nvSpPr>
          <p:cNvPr id="44" name="TextBox 43"/>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45" name="Rounded Rectangle 44"/>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194, 196</a:t>
            </a:r>
          </a:p>
        </p:txBody>
      </p:sp>
      <p:sp>
        <p:nvSpPr>
          <p:cNvPr id="46" name="TextBox 4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70 / 250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Ölçütlerimizi paylaşalım</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TAHTA</a:t>
            </a:r>
          </a:p>
        </p:txBody>
      </p:sp>
      <p:sp>
        <p:nvSpPr>
          <p:cNvPr id="6" name="TextBox 5"/>
          <p:cNvSpPr txBox="1"/>
          <p:nvPr/>
        </p:nvSpPr>
        <p:spPr>
          <a:xfrm>
            <a:off x="502920" y="1261872"/>
            <a:ext cx="11185855" cy="548640"/>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262626"/>
                </a:solidFill>
                <a:latin typeface="Calibri"/>
              </a:rPr>
              <a:t>Sözcüler ölçütünü söyler; benzer ölçütleri birleştiririz.</a:t>
            </a:r>
          </a:p>
        </p:txBody>
      </p:sp>
      <p:sp>
        <p:nvSpPr>
          <p:cNvPr id="7" name="Rounded Rectangle 6"/>
          <p:cNvSpPr/>
          <p:nvPr/>
        </p:nvSpPr>
        <p:spPr>
          <a:xfrm>
            <a:off x="502920" y="1901952"/>
            <a:ext cx="3606698" cy="4389120"/>
          </a:xfrm>
          <a:prstGeom prst="roundRect">
            <a:avLst>
              <a:gd name="adj" fmla="val 5000"/>
            </a:avLst>
          </a:prstGeom>
          <a:solidFill>
            <a:srgbClr val="FFFFFF"/>
          </a:solidFill>
          <a:ln>
            <a:noFill/>
          </a:ln>
          <a:effectLst/>
        </p:spPr>
        <p:txBody>
          <a:bodyPr rtlCol="0" anchor="ctr"/>
          <a:lstStyle/>
          <a:p/>
        </p:txBody>
      </p:sp>
      <p:sp>
        <p:nvSpPr>
          <p:cNvPr id="8" name="Rounded Rectangle 7"/>
          <p:cNvSpPr/>
          <p:nvPr/>
        </p:nvSpPr>
        <p:spPr>
          <a:xfrm>
            <a:off x="502920" y="1901952"/>
            <a:ext cx="3606698" cy="685800"/>
          </a:xfrm>
          <a:prstGeom prst="roundRect">
            <a:avLst>
              <a:gd name="adj" fmla="val 25000"/>
            </a:avLst>
          </a:prstGeom>
          <a:solidFill>
            <a:srgbClr val="6A4C93"/>
          </a:solidFill>
          <a:ln>
            <a:noFill/>
          </a:ln>
          <a:effectLst/>
        </p:spPr>
        <p:txBody>
          <a:bodyPr rtlCol="0" anchor="ctr"/>
          <a:lstStyle/>
          <a:p/>
        </p:txBody>
      </p:sp>
      <p:sp>
        <p:nvSpPr>
          <p:cNvPr id="9" name="Rectangle 8"/>
          <p:cNvSpPr/>
          <p:nvPr/>
        </p:nvSpPr>
        <p:spPr>
          <a:xfrm>
            <a:off x="502920" y="2244852"/>
            <a:ext cx="3606698" cy="342900"/>
          </a:xfrm>
          <a:prstGeom prst="rect">
            <a:avLst/>
          </a:prstGeom>
          <a:solidFill>
            <a:srgbClr val="6A4C93"/>
          </a:solidFill>
          <a:ln>
            <a:noFill/>
          </a:ln>
          <a:effectLst/>
        </p:spPr>
        <p:txBody>
          <a:bodyPr rtlCol="0" anchor="ctr"/>
          <a:lstStyle/>
          <a:p/>
        </p:txBody>
      </p:sp>
      <p:sp>
        <p:nvSpPr>
          <p:cNvPr id="10" name="TextBox 9"/>
          <p:cNvSpPr txBox="1"/>
          <p:nvPr/>
        </p:nvSpPr>
        <p:spPr>
          <a:xfrm>
            <a:off x="594360" y="1901952"/>
            <a:ext cx="3423818" cy="68580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Grubun ölçütü</a:t>
            </a:r>
          </a:p>
        </p:txBody>
      </p:sp>
      <p:sp>
        <p:nvSpPr>
          <p:cNvPr id="11" name="Rounded Rectangle 10"/>
          <p:cNvSpPr/>
          <p:nvPr/>
        </p:nvSpPr>
        <p:spPr>
          <a:xfrm>
            <a:off x="502920" y="1901952"/>
            <a:ext cx="3606698" cy="4389120"/>
          </a:xfrm>
          <a:prstGeom prst="roundRect">
            <a:avLst>
              <a:gd name="adj" fmla="val 5000"/>
            </a:avLst>
          </a:prstGeom>
          <a:noFill/>
          <a:ln w="12700">
            <a:solidFill>
              <a:srgbClr val="D9D9D9"/>
            </a:solidFill>
          </a:ln>
          <a:effectLst/>
        </p:spPr>
        <p:txBody>
          <a:bodyPr rtlCol="0" anchor="ctr"/>
          <a:lstStyle/>
          <a:p/>
        </p:txBody>
      </p:sp>
      <p:cxnSp>
        <p:nvCxnSpPr>
          <p:cNvPr id="12" name="Connector 11"/>
          <p:cNvCxnSpPr/>
          <p:nvPr/>
        </p:nvCxnSpPr>
        <p:spPr>
          <a:xfrm>
            <a:off x="685800" y="3328416"/>
            <a:ext cx="3240938" cy="0"/>
          </a:xfrm>
          <a:prstGeom prst="line">
            <a:avLst/>
          </a:prstGeom>
          <a:ln w="12700">
            <a:solidFill>
              <a:srgbClr val="D9D9D9"/>
            </a:solidFill>
            <a:prstDash val="dash"/>
          </a:ln>
        </p:spPr>
      </p:cxnSp>
      <p:cxnSp>
        <p:nvCxnSpPr>
          <p:cNvPr id="13" name="Connector 12"/>
          <p:cNvCxnSpPr/>
          <p:nvPr/>
        </p:nvCxnSpPr>
        <p:spPr>
          <a:xfrm>
            <a:off x="685800" y="4069080"/>
            <a:ext cx="3240938" cy="0"/>
          </a:xfrm>
          <a:prstGeom prst="line">
            <a:avLst/>
          </a:prstGeom>
          <a:ln w="12700">
            <a:solidFill>
              <a:srgbClr val="D9D9D9"/>
            </a:solidFill>
            <a:prstDash val="dash"/>
          </a:ln>
        </p:spPr>
      </p:cxnSp>
      <p:cxnSp>
        <p:nvCxnSpPr>
          <p:cNvPr id="14" name="Connector 13"/>
          <p:cNvCxnSpPr/>
          <p:nvPr/>
        </p:nvCxnSpPr>
        <p:spPr>
          <a:xfrm>
            <a:off x="685800" y="4809744"/>
            <a:ext cx="3240938" cy="0"/>
          </a:xfrm>
          <a:prstGeom prst="line">
            <a:avLst/>
          </a:prstGeom>
          <a:ln w="12700">
            <a:solidFill>
              <a:srgbClr val="D9D9D9"/>
            </a:solidFill>
            <a:prstDash val="dash"/>
          </a:ln>
        </p:spPr>
      </p:cxnSp>
      <p:cxnSp>
        <p:nvCxnSpPr>
          <p:cNvPr id="15" name="Connector 14"/>
          <p:cNvCxnSpPr/>
          <p:nvPr/>
        </p:nvCxnSpPr>
        <p:spPr>
          <a:xfrm>
            <a:off x="685800" y="5550408"/>
            <a:ext cx="3240938" cy="0"/>
          </a:xfrm>
          <a:prstGeom prst="line">
            <a:avLst/>
          </a:prstGeom>
          <a:ln w="12700">
            <a:solidFill>
              <a:srgbClr val="D9D9D9"/>
            </a:solidFill>
            <a:prstDash val="dash"/>
          </a:ln>
        </p:spPr>
      </p:cxnSp>
      <p:sp>
        <p:nvSpPr>
          <p:cNvPr id="16" name="Rounded Rectangle 15"/>
          <p:cNvSpPr/>
          <p:nvPr/>
        </p:nvSpPr>
        <p:spPr>
          <a:xfrm>
            <a:off x="4292498" y="1901952"/>
            <a:ext cx="3606698" cy="4389120"/>
          </a:xfrm>
          <a:prstGeom prst="roundRect">
            <a:avLst>
              <a:gd name="adj" fmla="val 5000"/>
            </a:avLst>
          </a:prstGeom>
          <a:solidFill>
            <a:srgbClr val="FFFFFF"/>
          </a:solidFill>
          <a:ln>
            <a:noFill/>
          </a:ln>
          <a:effectLst/>
        </p:spPr>
        <p:txBody>
          <a:bodyPr rtlCol="0" anchor="ctr"/>
          <a:lstStyle/>
          <a:p/>
        </p:txBody>
      </p:sp>
      <p:sp>
        <p:nvSpPr>
          <p:cNvPr id="17" name="Rounded Rectangle 16"/>
          <p:cNvSpPr/>
          <p:nvPr/>
        </p:nvSpPr>
        <p:spPr>
          <a:xfrm>
            <a:off x="4292498" y="1901952"/>
            <a:ext cx="3606698" cy="685800"/>
          </a:xfrm>
          <a:prstGeom prst="roundRect">
            <a:avLst>
              <a:gd name="adj" fmla="val 25000"/>
            </a:avLst>
          </a:prstGeom>
          <a:solidFill>
            <a:srgbClr val="4F4F4F"/>
          </a:solidFill>
          <a:ln>
            <a:noFill/>
          </a:ln>
          <a:effectLst/>
        </p:spPr>
        <p:txBody>
          <a:bodyPr rtlCol="0" anchor="ctr"/>
          <a:lstStyle/>
          <a:p/>
        </p:txBody>
      </p:sp>
      <p:sp>
        <p:nvSpPr>
          <p:cNvPr id="18" name="Rectangle 17"/>
          <p:cNvSpPr/>
          <p:nvPr/>
        </p:nvSpPr>
        <p:spPr>
          <a:xfrm>
            <a:off x="4292498" y="2244852"/>
            <a:ext cx="3606698" cy="342900"/>
          </a:xfrm>
          <a:prstGeom prst="rect">
            <a:avLst/>
          </a:prstGeom>
          <a:solidFill>
            <a:srgbClr val="4F4F4F"/>
          </a:solidFill>
          <a:ln>
            <a:noFill/>
          </a:ln>
          <a:effectLst/>
        </p:spPr>
        <p:txBody>
          <a:bodyPr rtlCol="0" anchor="ctr"/>
          <a:lstStyle/>
          <a:p/>
        </p:txBody>
      </p:sp>
      <p:sp>
        <p:nvSpPr>
          <p:cNvPr id="19" name="TextBox 18"/>
          <p:cNvSpPr txBox="1"/>
          <p:nvPr/>
        </p:nvSpPr>
        <p:spPr>
          <a:xfrm>
            <a:off x="4383938" y="1901952"/>
            <a:ext cx="3423818" cy="68580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Benzer ölçütler</a:t>
            </a:r>
          </a:p>
        </p:txBody>
      </p:sp>
      <p:sp>
        <p:nvSpPr>
          <p:cNvPr id="20" name="Rounded Rectangle 19"/>
          <p:cNvSpPr/>
          <p:nvPr/>
        </p:nvSpPr>
        <p:spPr>
          <a:xfrm>
            <a:off x="4292498" y="1901952"/>
            <a:ext cx="3606698" cy="4389120"/>
          </a:xfrm>
          <a:prstGeom prst="roundRect">
            <a:avLst>
              <a:gd name="adj" fmla="val 5000"/>
            </a:avLst>
          </a:prstGeom>
          <a:noFill/>
          <a:ln w="12700">
            <a:solidFill>
              <a:srgbClr val="D9D9D9"/>
            </a:solidFill>
          </a:ln>
          <a:effectLst/>
        </p:spPr>
        <p:txBody>
          <a:bodyPr rtlCol="0" anchor="ctr"/>
          <a:lstStyle/>
          <a:p/>
        </p:txBody>
      </p:sp>
      <p:cxnSp>
        <p:nvCxnSpPr>
          <p:cNvPr id="21" name="Connector 20"/>
          <p:cNvCxnSpPr/>
          <p:nvPr/>
        </p:nvCxnSpPr>
        <p:spPr>
          <a:xfrm>
            <a:off x="4475378" y="3328416"/>
            <a:ext cx="3240938" cy="0"/>
          </a:xfrm>
          <a:prstGeom prst="line">
            <a:avLst/>
          </a:prstGeom>
          <a:ln w="12700">
            <a:solidFill>
              <a:srgbClr val="D9D9D9"/>
            </a:solidFill>
            <a:prstDash val="dash"/>
          </a:ln>
        </p:spPr>
      </p:cxnSp>
      <p:cxnSp>
        <p:nvCxnSpPr>
          <p:cNvPr id="22" name="Connector 21"/>
          <p:cNvCxnSpPr/>
          <p:nvPr/>
        </p:nvCxnSpPr>
        <p:spPr>
          <a:xfrm>
            <a:off x="4475378" y="4069080"/>
            <a:ext cx="3240938" cy="0"/>
          </a:xfrm>
          <a:prstGeom prst="line">
            <a:avLst/>
          </a:prstGeom>
          <a:ln w="12700">
            <a:solidFill>
              <a:srgbClr val="D9D9D9"/>
            </a:solidFill>
            <a:prstDash val="dash"/>
          </a:ln>
        </p:spPr>
      </p:cxnSp>
      <p:cxnSp>
        <p:nvCxnSpPr>
          <p:cNvPr id="23" name="Connector 22"/>
          <p:cNvCxnSpPr/>
          <p:nvPr/>
        </p:nvCxnSpPr>
        <p:spPr>
          <a:xfrm>
            <a:off x="4475378" y="4809744"/>
            <a:ext cx="3240938" cy="0"/>
          </a:xfrm>
          <a:prstGeom prst="line">
            <a:avLst/>
          </a:prstGeom>
          <a:ln w="12700">
            <a:solidFill>
              <a:srgbClr val="D9D9D9"/>
            </a:solidFill>
            <a:prstDash val="dash"/>
          </a:ln>
        </p:spPr>
      </p:cxnSp>
      <p:cxnSp>
        <p:nvCxnSpPr>
          <p:cNvPr id="24" name="Connector 23"/>
          <p:cNvCxnSpPr/>
          <p:nvPr/>
        </p:nvCxnSpPr>
        <p:spPr>
          <a:xfrm>
            <a:off x="4475378" y="5550408"/>
            <a:ext cx="3240938" cy="0"/>
          </a:xfrm>
          <a:prstGeom prst="line">
            <a:avLst/>
          </a:prstGeom>
          <a:ln w="12700">
            <a:solidFill>
              <a:srgbClr val="D9D9D9"/>
            </a:solidFill>
            <a:prstDash val="dash"/>
          </a:ln>
        </p:spPr>
      </p:cxnSp>
      <p:sp>
        <p:nvSpPr>
          <p:cNvPr id="25" name="Rounded Rectangle 24"/>
          <p:cNvSpPr/>
          <p:nvPr/>
        </p:nvSpPr>
        <p:spPr>
          <a:xfrm>
            <a:off x="8082076" y="1901952"/>
            <a:ext cx="3606698" cy="4389120"/>
          </a:xfrm>
          <a:prstGeom prst="roundRect">
            <a:avLst>
              <a:gd name="adj" fmla="val 5000"/>
            </a:avLst>
          </a:prstGeom>
          <a:solidFill>
            <a:srgbClr val="FFFFFF"/>
          </a:solidFill>
          <a:ln>
            <a:noFill/>
          </a:ln>
          <a:effectLst/>
        </p:spPr>
        <p:txBody>
          <a:bodyPr rtlCol="0" anchor="ctr"/>
          <a:lstStyle/>
          <a:p/>
        </p:txBody>
      </p:sp>
      <p:sp>
        <p:nvSpPr>
          <p:cNvPr id="26" name="Rounded Rectangle 25"/>
          <p:cNvSpPr/>
          <p:nvPr/>
        </p:nvSpPr>
        <p:spPr>
          <a:xfrm>
            <a:off x="8082076" y="1901952"/>
            <a:ext cx="3606698" cy="685800"/>
          </a:xfrm>
          <a:prstGeom prst="roundRect">
            <a:avLst>
              <a:gd name="adj" fmla="val 25000"/>
            </a:avLst>
          </a:prstGeom>
          <a:solidFill>
            <a:srgbClr val="D3373A"/>
          </a:solidFill>
          <a:ln>
            <a:noFill/>
          </a:ln>
          <a:effectLst/>
        </p:spPr>
        <p:txBody>
          <a:bodyPr rtlCol="0" anchor="ctr"/>
          <a:lstStyle/>
          <a:p/>
        </p:txBody>
      </p:sp>
      <p:sp>
        <p:nvSpPr>
          <p:cNvPr id="27" name="Rectangle 26"/>
          <p:cNvSpPr/>
          <p:nvPr/>
        </p:nvSpPr>
        <p:spPr>
          <a:xfrm>
            <a:off x="8082076" y="2244852"/>
            <a:ext cx="3606698" cy="342900"/>
          </a:xfrm>
          <a:prstGeom prst="rect">
            <a:avLst/>
          </a:prstGeom>
          <a:solidFill>
            <a:srgbClr val="D3373A"/>
          </a:solidFill>
          <a:ln>
            <a:noFill/>
          </a:ln>
          <a:effectLst/>
        </p:spPr>
        <p:txBody>
          <a:bodyPr rtlCol="0" anchor="ctr"/>
          <a:lstStyle/>
          <a:p/>
        </p:txBody>
      </p:sp>
      <p:sp>
        <p:nvSpPr>
          <p:cNvPr id="28" name="TextBox 27"/>
          <p:cNvSpPr txBox="1"/>
          <p:nvPr/>
        </p:nvSpPr>
        <p:spPr>
          <a:xfrm>
            <a:off x="8173516" y="1901952"/>
            <a:ext cx="3423818" cy="68580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Dışarıda kalan kart</a:t>
            </a:r>
          </a:p>
        </p:txBody>
      </p:sp>
      <p:sp>
        <p:nvSpPr>
          <p:cNvPr id="29" name="Rounded Rectangle 28"/>
          <p:cNvSpPr/>
          <p:nvPr/>
        </p:nvSpPr>
        <p:spPr>
          <a:xfrm>
            <a:off x="8082076" y="1901952"/>
            <a:ext cx="3606698" cy="4389120"/>
          </a:xfrm>
          <a:prstGeom prst="roundRect">
            <a:avLst>
              <a:gd name="adj" fmla="val 5000"/>
            </a:avLst>
          </a:prstGeom>
          <a:noFill/>
          <a:ln w="12700">
            <a:solidFill>
              <a:srgbClr val="D9D9D9"/>
            </a:solidFill>
          </a:ln>
          <a:effectLst/>
        </p:spPr>
        <p:txBody>
          <a:bodyPr rtlCol="0" anchor="ctr"/>
          <a:lstStyle/>
          <a:p/>
        </p:txBody>
      </p:sp>
      <p:cxnSp>
        <p:nvCxnSpPr>
          <p:cNvPr id="30" name="Connector 29"/>
          <p:cNvCxnSpPr/>
          <p:nvPr/>
        </p:nvCxnSpPr>
        <p:spPr>
          <a:xfrm>
            <a:off x="8264956" y="3328416"/>
            <a:ext cx="3240938" cy="0"/>
          </a:xfrm>
          <a:prstGeom prst="line">
            <a:avLst/>
          </a:prstGeom>
          <a:ln w="12700">
            <a:solidFill>
              <a:srgbClr val="D9D9D9"/>
            </a:solidFill>
            <a:prstDash val="dash"/>
          </a:ln>
        </p:spPr>
      </p:cxnSp>
      <p:cxnSp>
        <p:nvCxnSpPr>
          <p:cNvPr id="31" name="Connector 30"/>
          <p:cNvCxnSpPr/>
          <p:nvPr/>
        </p:nvCxnSpPr>
        <p:spPr>
          <a:xfrm>
            <a:off x="8264956" y="4069080"/>
            <a:ext cx="3240938" cy="0"/>
          </a:xfrm>
          <a:prstGeom prst="line">
            <a:avLst/>
          </a:prstGeom>
          <a:ln w="12700">
            <a:solidFill>
              <a:srgbClr val="D9D9D9"/>
            </a:solidFill>
            <a:prstDash val="dash"/>
          </a:ln>
        </p:spPr>
      </p:cxnSp>
      <p:cxnSp>
        <p:nvCxnSpPr>
          <p:cNvPr id="32" name="Connector 31"/>
          <p:cNvCxnSpPr/>
          <p:nvPr/>
        </p:nvCxnSpPr>
        <p:spPr>
          <a:xfrm>
            <a:off x="8264956" y="4809744"/>
            <a:ext cx="3240938" cy="0"/>
          </a:xfrm>
          <a:prstGeom prst="line">
            <a:avLst/>
          </a:prstGeom>
          <a:ln w="12700">
            <a:solidFill>
              <a:srgbClr val="D9D9D9"/>
            </a:solidFill>
            <a:prstDash val="dash"/>
          </a:ln>
        </p:spPr>
      </p:cxnSp>
      <p:cxnSp>
        <p:nvCxnSpPr>
          <p:cNvPr id="33" name="Connector 32"/>
          <p:cNvCxnSpPr/>
          <p:nvPr/>
        </p:nvCxnSpPr>
        <p:spPr>
          <a:xfrm>
            <a:off x="8264956" y="5550408"/>
            <a:ext cx="3240938" cy="0"/>
          </a:xfrm>
          <a:prstGeom prst="line">
            <a:avLst/>
          </a:prstGeom>
          <a:ln w="12700">
            <a:solidFill>
              <a:srgbClr val="D9D9D9"/>
            </a:solidFill>
            <a:prstDash val="dash"/>
          </a:ln>
        </p:spPr>
      </p:cxnSp>
      <p:sp>
        <p:nvSpPr>
          <p:cNvPr id="34" name="TextBox 33"/>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35" name="TextBox 3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71 / 250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Kitap: afetler nasıl sınıflandırılır?</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KİTAP</a:t>
            </a:r>
          </a:p>
        </p:txBody>
      </p:sp>
      <p:sp>
        <p:nvSpPr>
          <p:cNvPr id="6" name="Rounded Rectangle 5"/>
          <p:cNvSpPr/>
          <p:nvPr/>
        </p:nvSpPr>
        <p:spPr>
          <a:xfrm>
            <a:off x="502920" y="1216152"/>
            <a:ext cx="11185855" cy="1143000"/>
          </a:xfrm>
          <a:prstGeom prst="roundRect">
            <a:avLst>
              <a:gd name="adj" fmla="val 8000"/>
            </a:avLst>
          </a:prstGeom>
          <a:solidFill>
            <a:srgbClr val="F0F0F0"/>
          </a:solidFill>
          <a:ln>
            <a:noFill/>
          </a:ln>
          <a:effectLst/>
        </p:spPr>
        <p:txBody>
          <a:bodyPr rtlCol="0" anchor="ctr"/>
          <a:lstStyle/>
          <a:p/>
        </p:txBody>
      </p:sp>
      <p:sp>
        <p:nvSpPr>
          <p:cNvPr id="7" name="Rectangle 6"/>
          <p:cNvSpPr/>
          <p:nvPr/>
        </p:nvSpPr>
        <p:spPr>
          <a:xfrm>
            <a:off x="502920" y="1216152"/>
            <a:ext cx="118872" cy="1143000"/>
          </a:xfrm>
          <a:prstGeom prst="rect">
            <a:avLst/>
          </a:prstGeom>
          <a:solidFill>
            <a:srgbClr val="6A4C93"/>
          </a:solidFill>
          <a:ln>
            <a:noFill/>
          </a:ln>
          <a:effectLst/>
        </p:spPr>
        <p:txBody>
          <a:bodyPr rtlCol="0" anchor="ctr"/>
          <a:lstStyle/>
          <a:p/>
        </p:txBody>
      </p:sp>
      <p:sp>
        <p:nvSpPr>
          <p:cNvPr id="8" name="TextBox 7"/>
          <p:cNvSpPr txBox="1"/>
          <p:nvPr/>
        </p:nvSpPr>
        <p:spPr>
          <a:xfrm>
            <a:off x="777240" y="1216152"/>
            <a:ext cx="10774375" cy="1143000"/>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Afetler, sınıflandırılırken çeşitli ölçütler dikkate alınmaktadır. Bu sınıflandırma, afetlerin oluşum nedeni başta olmak üzere oluşum hızı ve etki alanına göre yapılmaktadır.</a:t>
            </a:r>
          </a:p>
        </p:txBody>
      </p:sp>
      <p:sp>
        <p:nvSpPr>
          <p:cNvPr id="9" name="Rounded Rectangle 8"/>
          <p:cNvSpPr/>
          <p:nvPr/>
        </p:nvSpPr>
        <p:spPr>
          <a:xfrm>
            <a:off x="502920" y="2542032"/>
            <a:ext cx="3594506" cy="2514600"/>
          </a:xfrm>
          <a:prstGeom prst="roundRect">
            <a:avLst>
              <a:gd name="adj" fmla="val 5000"/>
            </a:avLst>
          </a:prstGeom>
          <a:solidFill>
            <a:srgbClr val="F0F0F0"/>
          </a:solidFill>
          <a:ln>
            <a:noFill/>
          </a:ln>
          <a:effectLst/>
        </p:spPr>
        <p:txBody>
          <a:bodyPr rtlCol="0" anchor="ctr"/>
          <a:lstStyle/>
          <a:p/>
        </p:txBody>
      </p:sp>
      <p:sp>
        <p:nvSpPr>
          <p:cNvPr id="10" name="Rounded Rectangle 9"/>
          <p:cNvSpPr/>
          <p:nvPr/>
        </p:nvSpPr>
        <p:spPr>
          <a:xfrm>
            <a:off x="502920" y="2542032"/>
            <a:ext cx="3594506" cy="530352"/>
          </a:xfrm>
          <a:prstGeom prst="roundRect">
            <a:avLst>
              <a:gd name="adj" fmla="val 25000"/>
            </a:avLst>
          </a:prstGeom>
          <a:solidFill>
            <a:srgbClr val="6A4C93"/>
          </a:solidFill>
          <a:ln>
            <a:noFill/>
          </a:ln>
          <a:effectLst/>
        </p:spPr>
        <p:txBody>
          <a:bodyPr rtlCol="0" anchor="ctr"/>
          <a:lstStyle/>
          <a:p/>
        </p:txBody>
      </p:sp>
      <p:sp>
        <p:nvSpPr>
          <p:cNvPr id="11" name="Rectangle 10"/>
          <p:cNvSpPr/>
          <p:nvPr/>
        </p:nvSpPr>
        <p:spPr>
          <a:xfrm>
            <a:off x="502920" y="2807208"/>
            <a:ext cx="3594506" cy="265176"/>
          </a:xfrm>
          <a:prstGeom prst="rect">
            <a:avLst/>
          </a:prstGeom>
          <a:solidFill>
            <a:srgbClr val="6A4C93"/>
          </a:solidFill>
          <a:ln>
            <a:noFill/>
          </a:ln>
          <a:effectLst/>
        </p:spPr>
        <p:txBody>
          <a:bodyPr rtlCol="0" anchor="ctr"/>
          <a:lstStyle/>
          <a:p/>
        </p:txBody>
      </p:sp>
      <p:sp>
        <p:nvSpPr>
          <p:cNvPr id="12" name="TextBox 11"/>
          <p:cNvSpPr txBox="1"/>
          <p:nvPr/>
        </p:nvSpPr>
        <p:spPr>
          <a:xfrm>
            <a:off x="594360" y="254203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FFFFFF"/>
                </a:solidFill>
                <a:latin typeface="Calibri"/>
              </a:rPr>
              <a:t>Oluşum nedeni · başta</a:t>
            </a:r>
          </a:p>
        </p:txBody>
      </p:sp>
      <p:sp>
        <p:nvSpPr>
          <p:cNvPr id="13" name="TextBox 12"/>
          <p:cNvSpPr txBox="1"/>
          <p:nvPr/>
        </p:nvSpPr>
        <p:spPr>
          <a:xfrm>
            <a:off x="612648" y="3145536"/>
            <a:ext cx="3375050" cy="1837944"/>
          </a:xfrm>
          <a:prstGeom prst="rect">
            <a:avLst/>
          </a:prstGeom>
          <a:noFill/>
        </p:spPr>
        <p:txBody>
          <a:bodyPr wrap="square" anchor="t" lIns="73152" rIns="73152" tIns="36576" bIns="36576">
            <a:noAutofit/>
          </a:bodyPr>
          <a:lstStyle/>
          <a:p>
            <a:pPr algn="l" marL="273482" indent="-273482">
              <a:spcBef>
                <a:spcPts val="0"/>
              </a:spcBef>
              <a:spcAft>
                <a:spcPts val="600"/>
              </a:spcAft>
            </a:pPr>
            <a:r>
              <a:rPr lang="tr-TR" sz="2200" b="1" i="0">
                <a:solidFill>
                  <a:srgbClr val="2C6696"/>
                </a:solidFill>
                <a:latin typeface="Calibri"/>
              </a:rPr>
              <a:t>•  </a:t>
            </a:r>
            <a:r>
              <a:rPr lang="tr-TR" sz="2200" b="0" i="0">
                <a:solidFill>
                  <a:srgbClr val="262626"/>
                </a:solidFill>
                <a:latin typeface="Calibri"/>
              </a:rPr>
              <a:t>Doğa mı, insan mı?</a:t>
            </a:r>
          </a:p>
          <a:p>
            <a:pPr algn="l" marL="273482" indent="-273482">
              <a:spcBef>
                <a:spcPts val="0"/>
              </a:spcBef>
              <a:spcAft>
                <a:spcPts val="0"/>
              </a:spcAft>
            </a:pPr>
            <a:r>
              <a:rPr lang="tr-TR" sz="2200" b="1" i="0">
                <a:solidFill>
                  <a:srgbClr val="2C6696"/>
                </a:solidFill>
                <a:latin typeface="Calibri"/>
              </a:rPr>
              <a:t>•  </a:t>
            </a:r>
            <a:r>
              <a:rPr lang="tr-TR" sz="2200" b="0" i="0">
                <a:solidFill>
                  <a:srgbClr val="262626"/>
                </a:solidFill>
                <a:latin typeface="Calibri"/>
              </a:rPr>
              <a:t>Kaynağı ne?</a:t>
            </a:r>
          </a:p>
        </p:txBody>
      </p:sp>
      <p:sp>
        <p:nvSpPr>
          <p:cNvPr id="14" name="Rounded Rectangle 13"/>
          <p:cNvSpPr/>
          <p:nvPr/>
        </p:nvSpPr>
        <p:spPr>
          <a:xfrm>
            <a:off x="4298594" y="2542032"/>
            <a:ext cx="3594506" cy="2514600"/>
          </a:xfrm>
          <a:prstGeom prst="roundRect">
            <a:avLst>
              <a:gd name="adj" fmla="val 5000"/>
            </a:avLst>
          </a:prstGeom>
          <a:solidFill>
            <a:srgbClr val="F0F0F0"/>
          </a:solidFill>
          <a:ln>
            <a:noFill/>
          </a:ln>
          <a:effectLst/>
        </p:spPr>
        <p:txBody>
          <a:bodyPr rtlCol="0" anchor="ctr"/>
          <a:lstStyle/>
          <a:p/>
        </p:txBody>
      </p:sp>
      <p:sp>
        <p:nvSpPr>
          <p:cNvPr id="15" name="Rounded Rectangle 14"/>
          <p:cNvSpPr/>
          <p:nvPr/>
        </p:nvSpPr>
        <p:spPr>
          <a:xfrm>
            <a:off x="4298594" y="2542032"/>
            <a:ext cx="3594506" cy="530352"/>
          </a:xfrm>
          <a:prstGeom prst="roundRect">
            <a:avLst>
              <a:gd name="adj" fmla="val 25000"/>
            </a:avLst>
          </a:prstGeom>
          <a:solidFill>
            <a:srgbClr val="4F4F4F"/>
          </a:solidFill>
          <a:ln>
            <a:noFill/>
          </a:ln>
          <a:effectLst/>
        </p:spPr>
        <p:txBody>
          <a:bodyPr rtlCol="0" anchor="ctr"/>
          <a:lstStyle/>
          <a:p/>
        </p:txBody>
      </p:sp>
      <p:sp>
        <p:nvSpPr>
          <p:cNvPr id="16" name="Rectangle 15"/>
          <p:cNvSpPr/>
          <p:nvPr/>
        </p:nvSpPr>
        <p:spPr>
          <a:xfrm>
            <a:off x="4298594" y="2807208"/>
            <a:ext cx="3594506" cy="265176"/>
          </a:xfrm>
          <a:prstGeom prst="rect">
            <a:avLst/>
          </a:prstGeom>
          <a:solidFill>
            <a:srgbClr val="4F4F4F"/>
          </a:solidFill>
          <a:ln>
            <a:noFill/>
          </a:ln>
          <a:effectLst/>
        </p:spPr>
        <p:txBody>
          <a:bodyPr rtlCol="0" anchor="ctr"/>
          <a:lstStyle/>
          <a:p/>
        </p:txBody>
      </p:sp>
      <p:sp>
        <p:nvSpPr>
          <p:cNvPr id="17" name="TextBox 16"/>
          <p:cNvSpPr txBox="1"/>
          <p:nvPr/>
        </p:nvSpPr>
        <p:spPr>
          <a:xfrm>
            <a:off x="4390034" y="254203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FFFFFF"/>
                </a:solidFill>
                <a:latin typeface="Calibri"/>
              </a:rPr>
              <a:t>Oluşum hızı</a:t>
            </a:r>
          </a:p>
        </p:txBody>
      </p:sp>
      <p:sp>
        <p:nvSpPr>
          <p:cNvPr id="18" name="TextBox 17"/>
          <p:cNvSpPr txBox="1"/>
          <p:nvPr/>
        </p:nvSpPr>
        <p:spPr>
          <a:xfrm>
            <a:off x="4408322" y="3145536"/>
            <a:ext cx="3375050" cy="1837944"/>
          </a:xfrm>
          <a:prstGeom prst="rect">
            <a:avLst/>
          </a:prstGeom>
          <a:noFill/>
        </p:spPr>
        <p:txBody>
          <a:bodyPr wrap="square" anchor="t" lIns="73152" rIns="73152" tIns="36576" bIns="36576">
            <a:noAutofit/>
          </a:bodyPr>
          <a:lstStyle/>
          <a:p>
            <a:pPr algn="l" marL="273482" indent="-273482">
              <a:spcBef>
                <a:spcPts val="0"/>
              </a:spcBef>
              <a:spcAft>
                <a:spcPts val="600"/>
              </a:spcAft>
            </a:pPr>
            <a:r>
              <a:rPr lang="tr-TR" sz="2200" b="1" i="0">
                <a:solidFill>
                  <a:srgbClr val="2C6696"/>
                </a:solidFill>
                <a:latin typeface="Calibri"/>
              </a:rPr>
              <a:t>•  </a:t>
            </a:r>
            <a:r>
              <a:rPr lang="tr-TR" sz="2200" b="0" i="0">
                <a:solidFill>
                  <a:srgbClr val="262626"/>
                </a:solidFill>
                <a:latin typeface="Calibri"/>
              </a:rPr>
              <a:t>Ani: deprem, sel</a:t>
            </a:r>
          </a:p>
          <a:p>
            <a:pPr algn="l" marL="273482" indent="-273482">
              <a:spcBef>
                <a:spcPts val="0"/>
              </a:spcBef>
              <a:spcAft>
                <a:spcPts val="0"/>
              </a:spcAft>
            </a:pPr>
            <a:r>
              <a:rPr lang="tr-TR" sz="2200" b="1" i="0">
                <a:solidFill>
                  <a:srgbClr val="2C6696"/>
                </a:solidFill>
                <a:latin typeface="Calibri"/>
              </a:rPr>
              <a:t>•  </a:t>
            </a:r>
            <a:r>
              <a:rPr lang="tr-TR" sz="2200" b="0" i="0">
                <a:solidFill>
                  <a:srgbClr val="262626"/>
                </a:solidFill>
                <a:latin typeface="Calibri"/>
              </a:rPr>
              <a:t>Yavaş: kuraklık, erozyon</a:t>
            </a:r>
          </a:p>
        </p:txBody>
      </p:sp>
      <p:sp>
        <p:nvSpPr>
          <p:cNvPr id="19" name="Rounded Rectangle 18"/>
          <p:cNvSpPr/>
          <p:nvPr/>
        </p:nvSpPr>
        <p:spPr>
          <a:xfrm>
            <a:off x="8094268" y="2542032"/>
            <a:ext cx="3594506" cy="2514600"/>
          </a:xfrm>
          <a:prstGeom prst="roundRect">
            <a:avLst>
              <a:gd name="adj" fmla="val 5000"/>
            </a:avLst>
          </a:prstGeom>
          <a:solidFill>
            <a:srgbClr val="F0F0F0"/>
          </a:solidFill>
          <a:ln>
            <a:noFill/>
          </a:ln>
          <a:effectLst/>
        </p:spPr>
        <p:txBody>
          <a:bodyPr rtlCol="0" anchor="ctr"/>
          <a:lstStyle/>
          <a:p/>
        </p:txBody>
      </p:sp>
      <p:sp>
        <p:nvSpPr>
          <p:cNvPr id="20" name="Rounded Rectangle 19"/>
          <p:cNvSpPr/>
          <p:nvPr/>
        </p:nvSpPr>
        <p:spPr>
          <a:xfrm>
            <a:off x="8094268" y="2542032"/>
            <a:ext cx="3594506" cy="530352"/>
          </a:xfrm>
          <a:prstGeom prst="roundRect">
            <a:avLst>
              <a:gd name="adj" fmla="val 25000"/>
            </a:avLst>
          </a:prstGeom>
          <a:solidFill>
            <a:srgbClr val="4F4F4F"/>
          </a:solidFill>
          <a:ln>
            <a:noFill/>
          </a:ln>
          <a:effectLst/>
        </p:spPr>
        <p:txBody>
          <a:bodyPr rtlCol="0" anchor="ctr"/>
          <a:lstStyle/>
          <a:p/>
        </p:txBody>
      </p:sp>
      <p:sp>
        <p:nvSpPr>
          <p:cNvPr id="21" name="Rectangle 20"/>
          <p:cNvSpPr/>
          <p:nvPr/>
        </p:nvSpPr>
        <p:spPr>
          <a:xfrm>
            <a:off x="8094268" y="2807208"/>
            <a:ext cx="3594506" cy="265176"/>
          </a:xfrm>
          <a:prstGeom prst="rect">
            <a:avLst/>
          </a:prstGeom>
          <a:solidFill>
            <a:srgbClr val="4F4F4F"/>
          </a:solidFill>
          <a:ln>
            <a:noFill/>
          </a:ln>
          <a:effectLst/>
        </p:spPr>
        <p:txBody>
          <a:bodyPr rtlCol="0" anchor="ctr"/>
          <a:lstStyle/>
          <a:p/>
        </p:txBody>
      </p:sp>
      <p:sp>
        <p:nvSpPr>
          <p:cNvPr id="22" name="TextBox 21"/>
          <p:cNvSpPr txBox="1"/>
          <p:nvPr/>
        </p:nvSpPr>
        <p:spPr>
          <a:xfrm>
            <a:off x="8185708" y="254203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FFFFFF"/>
                </a:solidFill>
                <a:latin typeface="Calibri"/>
              </a:rPr>
              <a:t>Etki alanı</a:t>
            </a:r>
          </a:p>
        </p:txBody>
      </p:sp>
      <p:sp>
        <p:nvSpPr>
          <p:cNvPr id="23" name="TextBox 22"/>
          <p:cNvSpPr txBox="1"/>
          <p:nvPr/>
        </p:nvSpPr>
        <p:spPr>
          <a:xfrm>
            <a:off x="8203996" y="3145536"/>
            <a:ext cx="3375050" cy="1837944"/>
          </a:xfrm>
          <a:prstGeom prst="rect">
            <a:avLst/>
          </a:prstGeom>
          <a:noFill/>
        </p:spPr>
        <p:txBody>
          <a:bodyPr wrap="square" anchor="t" lIns="73152" rIns="73152" tIns="36576" bIns="36576">
            <a:noAutofit/>
          </a:bodyPr>
          <a:lstStyle/>
          <a:p>
            <a:pPr algn="l" marL="273482" indent="-273482">
              <a:spcBef>
                <a:spcPts val="0"/>
              </a:spcBef>
              <a:spcAft>
                <a:spcPts val="600"/>
              </a:spcAft>
            </a:pPr>
            <a:r>
              <a:rPr lang="tr-TR" sz="2200" b="1" i="0">
                <a:solidFill>
                  <a:srgbClr val="2C6696"/>
                </a:solidFill>
                <a:latin typeface="Calibri"/>
              </a:rPr>
              <a:t>•  </a:t>
            </a:r>
            <a:r>
              <a:rPr lang="tr-TR" sz="2200" b="0" i="0">
                <a:solidFill>
                  <a:srgbClr val="262626"/>
                </a:solidFill>
                <a:latin typeface="Calibri"/>
              </a:rPr>
              <a:t>Dar: heyelan</a:t>
            </a:r>
          </a:p>
          <a:p>
            <a:pPr algn="l" marL="273482" indent="-273482">
              <a:spcBef>
                <a:spcPts val="0"/>
              </a:spcBef>
              <a:spcAft>
                <a:spcPts val="0"/>
              </a:spcAft>
            </a:pPr>
            <a:r>
              <a:rPr lang="tr-TR" sz="2200" b="1" i="0">
                <a:solidFill>
                  <a:srgbClr val="2C6696"/>
                </a:solidFill>
                <a:latin typeface="Calibri"/>
              </a:rPr>
              <a:t>•  </a:t>
            </a:r>
            <a:r>
              <a:rPr lang="tr-TR" sz="2200" b="0" i="0">
                <a:solidFill>
                  <a:srgbClr val="262626"/>
                </a:solidFill>
                <a:latin typeface="Calibri"/>
              </a:rPr>
              <a:t>Geniş: kuraklık, salgın</a:t>
            </a:r>
          </a:p>
        </p:txBody>
      </p:sp>
      <p:sp>
        <p:nvSpPr>
          <p:cNvPr id="24" name="Rounded Rectangle 23"/>
          <p:cNvSpPr/>
          <p:nvPr/>
        </p:nvSpPr>
        <p:spPr>
          <a:xfrm>
            <a:off x="502920" y="5239512"/>
            <a:ext cx="11185855" cy="1005840"/>
          </a:xfrm>
          <a:prstGeom prst="roundRect">
            <a:avLst>
              <a:gd name="adj" fmla="val 8000"/>
            </a:avLst>
          </a:prstGeom>
          <a:solidFill>
            <a:srgbClr val="FFF3D1"/>
          </a:solidFill>
          <a:ln>
            <a:noFill/>
          </a:ln>
          <a:effectLst/>
        </p:spPr>
        <p:txBody>
          <a:bodyPr rtlCol="0" anchor="ctr" wrap="square" lIns="128016" rIns="128016" tIns="73152" bIns="73152">
            <a:noAutofit/>
          </a:bodyPr>
          <a:lstStyle/>
          <a:p>
            <a:pPr algn="ctr">
              <a:spcBef>
                <a:spcPts val="0"/>
              </a:spcBef>
              <a:spcAft>
                <a:spcPts val="0"/>
              </a:spcAft>
            </a:pPr>
            <a:r>
              <a:rPr lang="tr-TR" sz="2200" b="1" i="0">
                <a:solidFill>
                  <a:srgbClr val="262626"/>
                </a:solidFill>
                <a:latin typeface="Calibri"/>
              </a:rPr>
              <a:t>Bugün: oluşum kaynağına (nedenine) göre beş afet türü</a:t>
            </a:r>
          </a:p>
        </p:txBody>
      </p:sp>
      <p:sp>
        <p:nvSpPr>
          <p:cNvPr id="25" name="TextBox 24"/>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6" name="Rounded Rectangle 25"/>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194</a:t>
            </a:r>
          </a:p>
        </p:txBody>
      </p:sp>
      <p:sp>
        <p:nvSpPr>
          <p:cNvPr id="27" name="TextBox 26"/>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72 / 250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Oluşum kaynağına göre afetler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KİTAP</a:t>
            </a:r>
          </a:p>
        </p:txBody>
      </p:sp>
      <p:sp>
        <p:nvSpPr>
          <p:cNvPr id="6" name="Rounded Rectangle 5"/>
          <p:cNvSpPr/>
          <p:nvPr/>
        </p:nvSpPr>
        <p:spPr>
          <a:xfrm>
            <a:off x="4724247" y="1261872"/>
            <a:ext cx="2743200" cy="566928"/>
          </a:xfrm>
          <a:prstGeom prst="roundRect">
            <a:avLst>
              <a:gd name="adj" fmla="val 20000"/>
            </a:avLst>
          </a:prstGeom>
          <a:solidFill>
            <a:srgbClr val="4F4F4F"/>
          </a:solidFill>
          <a:ln>
            <a:noFill/>
          </a:ln>
          <a:effectLst/>
        </p:spPr>
        <p:txBody>
          <a:bodyPr rtlCol="0" anchor="ctr" wrap="square" lIns="128016" rIns="128016" tIns="73152" bIns="73152">
            <a:noAutofit/>
          </a:bodyPr>
          <a:lstStyle/>
          <a:p>
            <a:pPr algn="ctr">
              <a:spcBef>
                <a:spcPts val="0"/>
              </a:spcBef>
              <a:spcAft>
                <a:spcPts val="0"/>
              </a:spcAft>
            </a:pPr>
            <a:r>
              <a:rPr lang="tr-TR" sz="2250" b="1" i="0">
                <a:solidFill>
                  <a:srgbClr val="FFFFFF"/>
                </a:solidFill>
                <a:latin typeface="Calibri"/>
              </a:rPr>
              <a:t>AFETLER</a:t>
            </a:r>
          </a:p>
        </p:txBody>
      </p:sp>
      <p:cxnSp>
        <p:nvCxnSpPr>
          <p:cNvPr id="7" name="Connector 6"/>
          <p:cNvCxnSpPr/>
          <p:nvPr/>
        </p:nvCxnSpPr>
        <p:spPr>
          <a:xfrm flipH="1">
            <a:off x="3822100" y="1828800"/>
            <a:ext cx="2273747" cy="393192"/>
          </a:xfrm>
          <a:prstGeom prst="line">
            <a:avLst/>
          </a:prstGeom>
          <a:ln w="31750">
            <a:solidFill>
              <a:srgbClr val="D9D9D9"/>
            </a:solidFill>
          </a:ln>
        </p:spPr>
      </p:cxnSp>
      <p:sp>
        <p:nvSpPr>
          <p:cNvPr id="8" name="Rounded Rectangle 7"/>
          <p:cNvSpPr/>
          <p:nvPr/>
        </p:nvSpPr>
        <p:spPr>
          <a:xfrm>
            <a:off x="2267620" y="2221992"/>
            <a:ext cx="3108960" cy="566928"/>
          </a:xfrm>
          <a:prstGeom prst="roundRect">
            <a:avLst>
              <a:gd name="adj" fmla="val 20000"/>
            </a:avLst>
          </a:prstGeom>
          <a:solidFill>
            <a:srgbClr val="2F6F8F"/>
          </a:solidFill>
          <a:ln>
            <a:noFill/>
          </a:ln>
          <a:effectLst/>
        </p:spPr>
        <p:txBody>
          <a:bodyPr rtlCol="0" anchor="ctr" wrap="square" lIns="128016" rIns="128016" tIns="73152" bIns="73152">
            <a:noAutofit/>
          </a:bodyPr>
          <a:lstStyle/>
          <a:p>
            <a:pPr algn="ctr">
              <a:spcBef>
                <a:spcPts val="0"/>
              </a:spcBef>
              <a:spcAft>
                <a:spcPts val="0"/>
              </a:spcAft>
            </a:pPr>
            <a:r>
              <a:rPr lang="tr-TR" sz="2200" b="1" i="0">
                <a:solidFill>
                  <a:srgbClr val="FFFFFF"/>
                </a:solidFill>
                <a:latin typeface="Calibri"/>
              </a:rPr>
              <a:t>Doğa kaynaklı</a:t>
            </a:r>
          </a:p>
        </p:txBody>
      </p:sp>
      <p:cxnSp>
        <p:nvCxnSpPr>
          <p:cNvPr id="9" name="Connector 8"/>
          <p:cNvCxnSpPr/>
          <p:nvPr/>
        </p:nvCxnSpPr>
        <p:spPr>
          <a:xfrm>
            <a:off x="6095847" y="1828800"/>
            <a:ext cx="3410621" cy="393192"/>
          </a:xfrm>
          <a:prstGeom prst="line">
            <a:avLst/>
          </a:prstGeom>
          <a:ln w="31750">
            <a:solidFill>
              <a:srgbClr val="D9D9D9"/>
            </a:solidFill>
          </a:ln>
        </p:spPr>
      </p:cxnSp>
      <p:sp>
        <p:nvSpPr>
          <p:cNvPr id="10" name="Rounded Rectangle 9"/>
          <p:cNvSpPr/>
          <p:nvPr/>
        </p:nvSpPr>
        <p:spPr>
          <a:xfrm>
            <a:off x="7951988" y="2221992"/>
            <a:ext cx="3108960" cy="566928"/>
          </a:xfrm>
          <a:prstGeom prst="roundRect">
            <a:avLst>
              <a:gd name="adj" fmla="val 20000"/>
            </a:avLst>
          </a:prstGeom>
          <a:solidFill>
            <a:srgbClr val="A0521A"/>
          </a:solidFill>
          <a:ln>
            <a:noFill/>
          </a:ln>
          <a:effectLst/>
        </p:spPr>
        <p:txBody>
          <a:bodyPr rtlCol="0" anchor="ctr" wrap="square" lIns="128016" rIns="128016" tIns="73152" bIns="73152">
            <a:noAutofit/>
          </a:bodyPr>
          <a:lstStyle/>
          <a:p>
            <a:pPr algn="ctr">
              <a:spcBef>
                <a:spcPts val="0"/>
              </a:spcBef>
              <a:spcAft>
                <a:spcPts val="0"/>
              </a:spcAft>
            </a:pPr>
            <a:r>
              <a:rPr lang="tr-TR" sz="2200" b="1" i="0">
                <a:solidFill>
                  <a:srgbClr val="FFFFFF"/>
                </a:solidFill>
                <a:latin typeface="Calibri"/>
              </a:rPr>
              <a:t>İnsan kaynaklı</a:t>
            </a:r>
          </a:p>
        </p:txBody>
      </p:sp>
      <p:cxnSp>
        <p:nvCxnSpPr>
          <p:cNvPr id="11" name="Connector 10"/>
          <p:cNvCxnSpPr/>
          <p:nvPr/>
        </p:nvCxnSpPr>
        <p:spPr>
          <a:xfrm flipH="1">
            <a:off x="1548353" y="2788920"/>
            <a:ext cx="2273747" cy="438912"/>
          </a:xfrm>
          <a:prstGeom prst="line">
            <a:avLst/>
          </a:prstGeom>
          <a:ln w="25400">
            <a:solidFill>
              <a:srgbClr val="D9D9D9"/>
            </a:solidFill>
          </a:ln>
        </p:spPr>
      </p:cxnSp>
      <p:sp>
        <p:nvSpPr>
          <p:cNvPr id="12" name="Rounded Rectangle 11"/>
          <p:cNvSpPr/>
          <p:nvPr/>
        </p:nvSpPr>
        <p:spPr>
          <a:xfrm>
            <a:off x="502920" y="3227832"/>
            <a:ext cx="2090867" cy="2468880"/>
          </a:xfrm>
          <a:prstGeom prst="roundRect">
            <a:avLst>
              <a:gd name="adj" fmla="val 5000"/>
            </a:avLst>
          </a:prstGeom>
          <a:solidFill>
            <a:srgbClr val="F0F0F0"/>
          </a:solidFill>
          <a:ln>
            <a:noFill/>
          </a:ln>
          <a:effectLst/>
        </p:spPr>
        <p:txBody>
          <a:bodyPr rtlCol="0" anchor="ctr"/>
          <a:lstStyle/>
          <a:p/>
        </p:txBody>
      </p:sp>
      <p:sp>
        <p:nvSpPr>
          <p:cNvPr id="13" name="Rounded Rectangle 12"/>
          <p:cNvSpPr/>
          <p:nvPr/>
        </p:nvSpPr>
        <p:spPr>
          <a:xfrm>
            <a:off x="502920" y="3227832"/>
            <a:ext cx="2090867" cy="530352"/>
          </a:xfrm>
          <a:prstGeom prst="roundRect">
            <a:avLst>
              <a:gd name="adj" fmla="val 25000"/>
            </a:avLst>
          </a:prstGeom>
          <a:solidFill>
            <a:srgbClr val="8B5A2B"/>
          </a:solidFill>
          <a:ln>
            <a:noFill/>
          </a:ln>
          <a:effectLst/>
        </p:spPr>
        <p:txBody>
          <a:bodyPr rtlCol="0" anchor="ctr"/>
          <a:lstStyle/>
          <a:p/>
        </p:txBody>
      </p:sp>
      <p:sp>
        <p:nvSpPr>
          <p:cNvPr id="14" name="Rectangle 13"/>
          <p:cNvSpPr/>
          <p:nvPr/>
        </p:nvSpPr>
        <p:spPr>
          <a:xfrm>
            <a:off x="502920" y="3493008"/>
            <a:ext cx="2090867" cy="265176"/>
          </a:xfrm>
          <a:prstGeom prst="rect">
            <a:avLst/>
          </a:prstGeom>
          <a:solidFill>
            <a:srgbClr val="8B5A2B"/>
          </a:solidFill>
          <a:ln>
            <a:noFill/>
          </a:ln>
          <a:effectLst/>
        </p:spPr>
        <p:txBody>
          <a:bodyPr rtlCol="0" anchor="ctr"/>
          <a:lstStyle/>
          <a:p/>
        </p:txBody>
      </p:sp>
      <p:sp>
        <p:nvSpPr>
          <p:cNvPr id="15" name="TextBox 14"/>
          <p:cNvSpPr txBox="1"/>
          <p:nvPr/>
        </p:nvSpPr>
        <p:spPr>
          <a:xfrm>
            <a:off x="594360" y="3227832"/>
            <a:ext cx="1907987" cy="530352"/>
          </a:xfrm>
          <a:prstGeom prst="rect">
            <a:avLst/>
          </a:prstGeom>
          <a:noFill/>
        </p:spPr>
        <p:txBody>
          <a:bodyPr wrap="square" anchor="ctr" lIns="73152" rIns="73152" tIns="36576" bIns="36576">
            <a:noAutofit/>
          </a:bodyPr>
          <a:lstStyle/>
          <a:p>
            <a:pPr algn="ctr">
              <a:spcBef>
                <a:spcPts val="0"/>
              </a:spcBef>
              <a:spcAft>
                <a:spcPts val="0"/>
              </a:spcAft>
            </a:pPr>
            <a:r>
              <a:rPr lang="tr-TR" sz="1700" b="1" i="0">
                <a:solidFill>
                  <a:srgbClr val="FFFFFF"/>
                </a:solidFill>
                <a:latin typeface="Calibri"/>
              </a:rPr>
              <a:t>Jeolojik</a:t>
            </a:r>
          </a:p>
        </p:txBody>
      </p:sp>
      <p:sp>
        <p:nvSpPr>
          <p:cNvPr id="16" name="TextBox 15"/>
          <p:cNvSpPr txBox="1"/>
          <p:nvPr/>
        </p:nvSpPr>
        <p:spPr>
          <a:xfrm>
            <a:off x="612648" y="3831336"/>
            <a:ext cx="1871411" cy="1792224"/>
          </a:xfrm>
          <a:prstGeom prst="rect">
            <a:avLst/>
          </a:prstGeom>
          <a:noFill/>
        </p:spPr>
        <p:txBody>
          <a:bodyPr wrap="square" anchor="ctr" lIns="73152" rIns="73152" tIns="36576" bIns="36576">
            <a:noAutofit/>
          </a:bodyPr>
          <a:lstStyle/>
          <a:p>
            <a:pPr algn="ctr">
              <a:spcBef>
                <a:spcPts val="0"/>
              </a:spcBef>
              <a:spcAft>
                <a:spcPts val="0"/>
              </a:spcAft>
            </a:pPr>
            <a:r>
              <a:rPr lang="tr-TR" sz="1900" b="0" i="0">
                <a:solidFill>
                  <a:srgbClr val="262626"/>
                </a:solidFill>
                <a:latin typeface="Calibri"/>
              </a:rPr>
              <a:t>deprem, volkanik faaliyetler</a:t>
            </a:r>
          </a:p>
        </p:txBody>
      </p:sp>
      <p:cxnSp>
        <p:nvCxnSpPr>
          <p:cNvPr id="17" name="Connector 16"/>
          <p:cNvCxnSpPr/>
          <p:nvPr/>
        </p:nvCxnSpPr>
        <p:spPr>
          <a:xfrm>
            <a:off x="3822100" y="2788920"/>
            <a:ext cx="0" cy="438912"/>
          </a:xfrm>
          <a:prstGeom prst="line">
            <a:avLst/>
          </a:prstGeom>
          <a:ln w="25400">
            <a:solidFill>
              <a:srgbClr val="D9D9D9"/>
            </a:solidFill>
          </a:ln>
        </p:spPr>
      </p:cxnSp>
      <p:sp>
        <p:nvSpPr>
          <p:cNvPr id="18" name="Rounded Rectangle 17"/>
          <p:cNvSpPr/>
          <p:nvPr/>
        </p:nvSpPr>
        <p:spPr>
          <a:xfrm>
            <a:off x="2776667" y="3227832"/>
            <a:ext cx="2090867" cy="2468880"/>
          </a:xfrm>
          <a:prstGeom prst="roundRect">
            <a:avLst>
              <a:gd name="adj" fmla="val 5000"/>
            </a:avLst>
          </a:prstGeom>
          <a:solidFill>
            <a:srgbClr val="F0F0F0"/>
          </a:solidFill>
          <a:ln>
            <a:noFill/>
          </a:ln>
          <a:effectLst/>
        </p:spPr>
        <p:txBody>
          <a:bodyPr rtlCol="0" anchor="ctr"/>
          <a:lstStyle/>
          <a:p/>
        </p:txBody>
      </p:sp>
      <p:sp>
        <p:nvSpPr>
          <p:cNvPr id="19" name="Rounded Rectangle 18"/>
          <p:cNvSpPr/>
          <p:nvPr/>
        </p:nvSpPr>
        <p:spPr>
          <a:xfrm>
            <a:off x="2776667" y="3227832"/>
            <a:ext cx="2090867" cy="530352"/>
          </a:xfrm>
          <a:prstGeom prst="roundRect">
            <a:avLst>
              <a:gd name="adj" fmla="val 25000"/>
            </a:avLst>
          </a:prstGeom>
          <a:solidFill>
            <a:srgbClr val="2C6696"/>
          </a:solidFill>
          <a:ln>
            <a:noFill/>
          </a:ln>
          <a:effectLst/>
        </p:spPr>
        <p:txBody>
          <a:bodyPr rtlCol="0" anchor="ctr"/>
          <a:lstStyle/>
          <a:p/>
        </p:txBody>
      </p:sp>
      <p:sp>
        <p:nvSpPr>
          <p:cNvPr id="20" name="Rectangle 19"/>
          <p:cNvSpPr/>
          <p:nvPr/>
        </p:nvSpPr>
        <p:spPr>
          <a:xfrm>
            <a:off x="2776667" y="3493008"/>
            <a:ext cx="2090867" cy="265176"/>
          </a:xfrm>
          <a:prstGeom prst="rect">
            <a:avLst/>
          </a:prstGeom>
          <a:solidFill>
            <a:srgbClr val="2C6696"/>
          </a:solidFill>
          <a:ln>
            <a:noFill/>
          </a:ln>
          <a:effectLst/>
        </p:spPr>
        <p:txBody>
          <a:bodyPr rtlCol="0" anchor="ctr"/>
          <a:lstStyle/>
          <a:p/>
        </p:txBody>
      </p:sp>
      <p:sp>
        <p:nvSpPr>
          <p:cNvPr id="21" name="TextBox 20"/>
          <p:cNvSpPr txBox="1"/>
          <p:nvPr/>
        </p:nvSpPr>
        <p:spPr>
          <a:xfrm>
            <a:off x="2868107" y="3227832"/>
            <a:ext cx="1907987" cy="530352"/>
          </a:xfrm>
          <a:prstGeom prst="rect">
            <a:avLst/>
          </a:prstGeom>
          <a:noFill/>
        </p:spPr>
        <p:txBody>
          <a:bodyPr wrap="square" anchor="ctr" lIns="73152" rIns="73152" tIns="36576" bIns="36576">
            <a:noAutofit/>
          </a:bodyPr>
          <a:lstStyle/>
          <a:p>
            <a:pPr algn="ctr">
              <a:spcBef>
                <a:spcPts val="0"/>
              </a:spcBef>
              <a:spcAft>
                <a:spcPts val="0"/>
              </a:spcAft>
            </a:pPr>
            <a:r>
              <a:rPr lang="tr-TR" sz="1700" b="1" i="0">
                <a:solidFill>
                  <a:srgbClr val="FFFFFF"/>
                </a:solidFill>
                <a:latin typeface="Calibri"/>
              </a:rPr>
              <a:t>Klimatik-hidrolojik</a:t>
            </a:r>
          </a:p>
        </p:txBody>
      </p:sp>
      <p:sp>
        <p:nvSpPr>
          <p:cNvPr id="22" name="TextBox 21"/>
          <p:cNvSpPr txBox="1"/>
          <p:nvPr/>
        </p:nvSpPr>
        <p:spPr>
          <a:xfrm>
            <a:off x="2886395" y="3831336"/>
            <a:ext cx="1871411" cy="1792224"/>
          </a:xfrm>
          <a:prstGeom prst="rect">
            <a:avLst/>
          </a:prstGeom>
          <a:noFill/>
        </p:spPr>
        <p:txBody>
          <a:bodyPr wrap="square" anchor="ctr" lIns="73152" rIns="73152" tIns="36576" bIns="36576">
            <a:noAutofit/>
          </a:bodyPr>
          <a:lstStyle/>
          <a:p>
            <a:pPr algn="ctr">
              <a:spcBef>
                <a:spcPts val="0"/>
              </a:spcBef>
              <a:spcAft>
                <a:spcPts val="0"/>
              </a:spcAft>
            </a:pPr>
            <a:r>
              <a:rPr lang="tr-TR" sz="1900" b="0" i="0">
                <a:solidFill>
                  <a:srgbClr val="262626"/>
                </a:solidFill>
                <a:latin typeface="Calibri"/>
              </a:rPr>
              <a:t>kuraklık, sel</a:t>
            </a:r>
          </a:p>
        </p:txBody>
      </p:sp>
      <p:cxnSp>
        <p:nvCxnSpPr>
          <p:cNvPr id="23" name="Connector 22"/>
          <p:cNvCxnSpPr/>
          <p:nvPr/>
        </p:nvCxnSpPr>
        <p:spPr>
          <a:xfrm>
            <a:off x="3822100" y="2788920"/>
            <a:ext cx="2273747" cy="438912"/>
          </a:xfrm>
          <a:prstGeom prst="line">
            <a:avLst/>
          </a:prstGeom>
          <a:ln w="25400">
            <a:solidFill>
              <a:srgbClr val="D9D9D9"/>
            </a:solidFill>
          </a:ln>
        </p:spPr>
      </p:cxnSp>
      <p:sp>
        <p:nvSpPr>
          <p:cNvPr id="24" name="Rounded Rectangle 23"/>
          <p:cNvSpPr/>
          <p:nvPr/>
        </p:nvSpPr>
        <p:spPr>
          <a:xfrm>
            <a:off x="5050414" y="3227832"/>
            <a:ext cx="2090867" cy="2468880"/>
          </a:xfrm>
          <a:prstGeom prst="roundRect">
            <a:avLst>
              <a:gd name="adj" fmla="val 5000"/>
            </a:avLst>
          </a:prstGeom>
          <a:solidFill>
            <a:srgbClr val="F0F0F0"/>
          </a:solidFill>
          <a:ln>
            <a:noFill/>
          </a:ln>
          <a:effectLst/>
        </p:spPr>
        <p:txBody>
          <a:bodyPr rtlCol="0" anchor="ctr"/>
          <a:lstStyle/>
          <a:p/>
        </p:txBody>
      </p:sp>
      <p:sp>
        <p:nvSpPr>
          <p:cNvPr id="25" name="Rounded Rectangle 24"/>
          <p:cNvSpPr/>
          <p:nvPr/>
        </p:nvSpPr>
        <p:spPr>
          <a:xfrm>
            <a:off x="5050414" y="3227832"/>
            <a:ext cx="2090867" cy="530352"/>
          </a:xfrm>
          <a:prstGeom prst="roundRect">
            <a:avLst>
              <a:gd name="adj" fmla="val 25000"/>
            </a:avLst>
          </a:prstGeom>
          <a:solidFill>
            <a:srgbClr val="3E8E41"/>
          </a:solidFill>
          <a:ln>
            <a:noFill/>
          </a:ln>
          <a:effectLst/>
        </p:spPr>
        <p:txBody>
          <a:bodyPr rtlCol="0" anchor="ctr"/>
          <a:lstStyle/>
          <a:p/>
        </p:txBody>
      </p:sp>
      <p:sp>
        <p:nvSpPr>
          <p:cNvPr id="26" name="Rectangle 25"/>
          <p:cNvSpPr/>
          <p:nvPr/>
        </p:nvSpPr>
        <p:spPr>
          <a:xfrm>
            <a:off x="5050414" y="3493008"/>
            <a:ext cx="2090867" cy="265176"/>
          </a:xfrm>
          <a:prstGeom prst="rect">
            <a:avLst/>
          </a:prstGeom>
          <a:solidFill>
            <a:srgbClr val="3E8E41"/>
          </a:solidFill>
          <a:ln>
            <a:noFill/>
          </a:ln>
          <a:effectLst/>
        </p:spPr>
        <p:txBody>
          <a:bodyPr rtlCol="0" anchor="ctr"/>
          <a:lstStyle/>
          <a:p/>
        </p:txBody>
      </p:sp>
      <p:sp>
        <p:nvSpPr>
          <p:cNvPr id="27" name="TextBox 26"/>
          <p:cNvSpPr txBox="1"/>
          <p:nvPr/>
        </p:nvSpPr>
        <p:spPr>
          <a:xfrm>
            <a:off x="5141854" y="3227832"/>
            <a:ext cx="1907987" cy="530352"/>
          </a:xfrm>
          <a:prstGeom prst="rect">
            <a:avLst/>
          </a:prstGeom>
          <a:noFill/>
        </p:spPr>
        <p:txBody>
          <a:bodyPr wrap="square" anchor="ctr" lIns="73152" rIns="73152" tIns="36576" bIns="36576">
            <a:noAutofit/>
          </a:bodyPr>
          <a:lstStyle/>
          <a:p>
            <a:pPr algn="ctr">
              <a:spcBef>
                <a:spcPts val="0"/>
              </a:spcBef>
              <a:spcAft>
                <a:spcPts val="0"/>
              </a:spcAft>
            </a:pPr>
            <a:r>
              <a:rPr lang="tr-TR" sz="1700" b="1" i="0">
                <a:solidFill>
                  <a:srgbClr val="FFFFFF"/>
                </a:solidFill>
                <a:latin typeface="Calibri"/>
              </a:rPr>
              <a:t>Biyolojik</a:t>
            </a:r>
          </a:p>
        </p:txBody>
      </p:sp>
      <p:sp>
        <p:nvSpPr>
          <p:cNvPr id="28" name="TextBox 27"/>
          <p:cNvSpPr txBox="1"/>
          <p:nvPr/>
        </p:nvSpPr>
        <p:spPr>
          <a:xfrm>
            <a:off x="5160142" y="3831336"/>
            <a:ext cx="1871411" cy="1792224"/>
          </a:xfrm>
          <a:prstGeom prst="rect">
            <a:avLst/>
          </a:prstGeom>
          <a:noFill/>
        </p:spPr>
        <p:txBody>
          <a:bodyPr wrap="square" anchor="ctr" lIns="73152" rIns="73152" tIns="36576" bIns="36576">
            <a:noAutofit/>
          </a:bodyPr>
          <a:lstStyle/>
          <a:p>
            <a:pPr algn="ctr">
              <a:spcBef>
                <a:spcPts val="0"/>
              </a:spcBef>
              <a:spcAft>
                <a:spcPts val="0"/>
              </a:spcAft>
            </a:pPr>
            <a:r>
              <a:rPr lang="tr-TR" sz="1900" b="0" i="0">
                <a:solidFill>
                  <a:srgbClr val="262626"/>
                </a:solidFill>
                <a:latin typeface="Calibri"/>
              </a:rPr>
              <a:t>erozyon, salgınlar</a:t>
            </a:r>
          </a:p>
        </p:txBody>
      </p:sp>
      <p:cxnSp>
        <p:nvCxnSpPr>
          <p:cNvPr id="29" name="Connector 28"/>
          <p:cNvCxnSpPr/>
          <p:nvPr/>
        </p:nvCxnSpPr>
        <p:spPr>
          <a:xfrm flipH="1">
            <a:off x="8369594" y="2788920"/>
            <a:ext cx="1136874" cy="438912"/>
          </a:xfrm>
          <a:prstGeom prst="line">
            <a:avLst/>
          </a:prstGeom>
          <a:ln w="25400">
            <a:solidFill>
              <a:srgbClr val="D9D9D9"/>
            </a:solidFill>
          </a:ln>
        </p:spPr>
      </p:cxnSp>
      <p:sp>
        <p:nvSpPr>
          <p:cNvPr id="30" name="Rounded Rectangle 29"/>
          <p:cNvSpPr/>
          <p:nvPr/>
        </p:nvSpPr>
        <p:spPr>
          <a:xfrm>
            <a:off x="7324161" y="3227832"/>
            <a:ext cx="2090867" cy="2468880"/>
          </a:xfrm>
          <a:prstGeom prst="roundRect">
            <a:avLst>
              <a:gd name="adj" fmla="val 5000"/>
            </a:avLst>
          </a:prstGeom>
          <a:solidFill>
            <a:srgbClr val="F0F0F0"/>
          </a:solidFill>
          <a:ln>
            <a:noFill/>
          </a:ln>
          <a:effectLst/>
        </p:spPr>
        <p:txBody>
          <a:bodyPr rtlCol="0" anchor="ctr"/>
          <a:lstStyle/>
          <a:p/>
        </p:txBody>
      </p:sp>
      <p:sp>
        <p:nvSpPr>
          <p:cNvPr id="31" name="Rounded Rectangle 30"/>
          <p:cNvSpPr/>
          <p:nvPr/>
        </p:nvSpPr>
        <p:spPr>
          <a:xfrm>
            <a:off x="7324161" y="3227832"/>
            <a:ext cx="2090867" cy="530352"/>
          </a:xfrm>
          <a:prstGeom prst="roundRect">
            <a:avLst>
              <a:gd name="adj" fmla="val 25000"/>
            </a:avLst>
          </a:prstGeom>
          <a:solidFill>
            <a:srgbClr val="7A4EA0"/>
          </a:solidFill>
          <a:ln>
            <a:noFill/>
          </a:ln>
          <a:effectLst/>
        </p:spPr>
        <p:txBody>
          <a:bodyPr rtlCol="0" anchor="ctr"/>
          <a:lstStyle/>
          <a:p/>
        </p:txBody>
      </p:sp>
      <p:sp>
        <p:nvSpPr>
          <p:cNvPr id="32" name="Rectangle 31"/>
          <p:cNvSpPr/>
          <p:nvPr/>
        </p:nvSpPr>
        <p:spPr>
          <a:xfrm>
            <a:off x="7324161" y="3493008"/>
            <a:ext cx="2090867" cy="265176"/>
          </a:xfrm>
          <a:prstGeom prst="rect">
            <a:avLst/>
          </a:prstGeom>
          <a:solidFill>
            <a:srgbClr val="7A4EA0"/>
          </a:solidFill>
          <a:ln>
            <a:noFill/>
          </a:ln>
          <a:effectLst/>
        </p:spPr>
        <p:txBody>
          <a:bodyPr rtlCol="0" anchor="ctr"/>
          <a:lstStyle/>
          <a:p/>
        </p:txBody>
      </p:sp>
      <p:sp>
        <p:nvSpPr>
          <p:cNvPr id="33" name="TextBox 32"/>
          <p:cNvSpPr txBox="1"/>
          <p:nvPr/>
        </p:nvSpPr>
        <p:spPr>
          <a:xfrm>
            <a:off x="7415601" y="3227832"/>
            <a:ext cx="1907987" cy="530352"/>
          </a:xfrm>
          <a:prstGeom prst="rect">
            <a:avLst/>
          </a:prstGeom>
          <a:noFill/>
        </p:spPr>
        <p:txBody>
          <a:bodyPr wrap="square" anchor="ctr" lIns="73152" rIns="73152" tIns="36576" bIns="36576">
            <a:noAutofit/>
          </a:bodyPr>
          <a:lstStyle/>
          <a:p>
            <a:pPr algn="ctr">
              <a:spcBef>
                <a:spcPts val="0"/>
              </a:spcBef>
              <a:spcAft>
                <a:spcPts val="0"/>
              </a:spcAft>
            </a:pPr>
            <a:r>
              <a:rPr lang="tr-TR" sz="1700" b="1" i="0">
                <a:solidFill>
                  <a:srgbClr val="FFFFFF"/>
                </a:solidFill>
                <a:latin typeface="Calibri"/>
              </a:rPr>
              <a:t>Sosyal</a:t>
            </a:r>
          </a:p>
        </p:txBody>
      </p:sp>
      <p:sp>
        <p:nvSpPr>
          <p:cNvPr id="34" name="TextBox 33"/>
          <p:cNvSpPr txBox="1"/>
          <p:nvPr/>
        </p:nvSpPr>
        <p:spPr>
          <a:xfrm>
            <a:off x="7433889" y="3831336"/>
            <a:ext cx="1871411" cy="1792224"/>
          </a:xfrm>
          <a:prstGeom prst="rect">
            <a:avLst/>
          </a:prstGeom>
          <a:noFill/>
        </p:spPr>
        <p:txBody>
          <a:bodyPr wrap="square" anchor="ctr" lIns="73152" rIns="73152" tIns="36576" bIns="36576">
            <a:noAutofit/>
          </a:bodyPr>
          <a:lstStyle/>
          <a:p>
            <a:pPr algn="ctr">
              <a:spcBef>
                <a:spcPts val="0"/>
              </a:spcBef>
              <a:spcAft>
                <a:spcPts val="0"/>
              </a:spcAft>
            </a:pPr>
            <a:r>
              <a:rPr lang="tr-TR" sz="1900" b="0" i="0">
                <a:solidFill>
                  <a:srgbClr val="262626"/>
                </a:solidFill>
                <a:latin typeface="Calibri"/>
              </a:rPr>
              <a:t>savaşlar, terör saldırıları ve göçler</a:t>
            </a:r>
          </a:p>
        </p:txBody>
      </p:sp>
      <p:cxnSp>
        <p:nvCxnSpPr>
          <p:cNvPr id="35" name="Connector 34"/>
          <p:cNvCxnSpPr/>
          <p:nvPr/>
        </p:nvCxnSpPr>
        <p:spPr>
          <a:xfrm>
            <a:off x="9506468" y="2788920"/>
            <a:ext cx="1136873" cy="438912"/>
          </a:xfrm>
          <a:prstGeom prst="line">
            <a:avLst/>
          </a:prstGeom>
          <a:ln w="25400">
            <a:solidFill>
              <a:srgbClr val="D9D9D9"/>
            </a:solidFill>
          </a:ln>
        </p:spPr>
      </p:cxnSp>
      <p:sp>
        <p:nvSpPr>
          <p:cNvPr id="36" name="Rounded Rectangle 35"/>
          <p:cNvSpPr/>
          <p:nvPr/>
        </p:nvSpPr>
        <p:spPr>
          <a:xfrm>
            <a:off x="9597908" y="3227832"/>
            <a:ext cx="2090867" cy="2468880"/>
          </a:xfrm>
          <a:prstGeom prst="roundRect">
            <a:avLst>
              <a:gd name="adj" fmla="val 5000"/>
            </a:avLst>
          </a:prstGeom>
          <a:solidFill>
            <a:srgbClr val="F0F0F0"/>
          </a:solidFill>
          <a:ln>
            <a:noFill/>
          </a:ln>
          <a:effectLst/>
        </p:spPr>
        <p:txBody>
          <a:bodyPr rtlCol="0" anchor="ctr"/>
          <a:lstStyle/>
          <a:p/>
        </p:txBody>
      </p:sp>
      <p:sp>
        <p:nvSpPr>
          <p:cNvPr id="37" name="Rounded Rectangle 36"/>
          <p:cNvSpPr/>
          <p:nvPr/>
        </p:nvSpPr>
        <p:spPr>
          <a:xfrm>
            <a:off x="9597908" y="3227832"/>
            <a:ext cx="2090867" cy="530352"/>
          </a:xfrm>
          <a:prstGeom prst="roundRect">
            <a:avLst>
              <a:gd name="adj" fmla="val 25000"/>
            </a:avLst>
          </a:prstGeom>
          <a:solidFill>
            <a:srgbClr val="5A6470"/>
          </a:solidFill>
          <a:ln>
            <a:noFill/>
          </a:ln>
          <a:effectLst/>
        </p:spPr>
        <p:txBody>
          <a:bodyPr rtlCol="0" anchor="ctr"/>
          <a:lstStyle/>
          <a:p/>
        </p:txBody>
      </p:sp>
      <p:sp>
        <p:nvSpPr>
          <p:cNvPr id="38" name="Rectangle 37"/>
          <p:cNvSpPr/>
          <p:nvPr/>
        </p:nvSpPr>
        <p:spPr>
          <a:xfrm>
            <a:off x="9597908" y="3493008"/>
            <a:ext cx="2090867" cy="265176"/>
          </a:xfrm>
          <a:prstGeom prst="rect">
            <a:avLst/>
          </a:prstGeom>
          <a:solidFill>
            <a:srgbClr val="5A6470"/>
          </a:solidFill>
          <a:ln>
            <a:noFill/>
          </a:ln>
          <a:effectLst/>
        </p:spPr>
        <p:txBody>
          <a:bodyPr rtlCol="0" anchor="ctr"/>
          <a:lstStyle/>
          <a:p/>
        </p:txBody>
      </p:sp>
      <p:sp>
        <p:nvSpPr>
          <p:cNvPr id="39" name="TextBox 38"/>
          <p:cNvSpPr txBox="1"/>
          <p:nvPr/>
        </p:nvSpPr>
        <p:spPr>
          <a:xfrm>
            <a:off x="9689348" y="3227832"/>
            <a:ext cx="1907987" cy="530352"/>
          </a:xfrm>
          <a:prstGeom prst="rect">
            <a:avLst/>
          </a:prstGeom>
          <a:noFill/>
        </p:spPr>
        <p:txBody>
          <a:bodyPr wrap="square" anchor="ctr" lIns="73152" rIns="73152" tIns="36576" bIns="36576">
            <a:noAutofit/>
          </a:bodyPr>
          <a:lstStyle/>
          <a:p>
            <a:pPr algn="ctr">
              <a:spcBef>
                <a:spcPts val="0"/>
              </a:spcBef>
              <a:spcAft>
                <a:spcPts val="0"/>
              </a:spcAft>
            </a:pPr>
            <a:r>
              <a:rPr lang="tr-TR" sz="1700" b="1" i="0">
                <a:solidFill>
                  <a:srgbClr val="FFFFFF"/>
                </a:solidFill>
                <a:latin typeface="Calibri"/>
              </a:rPr>
              <a:t>Teknolojik</a:t>
            </a:r>
          </a:p>
        </p:txBody>
      </p:sp>
      <p:sp>
        <p:nvSpPr>
          <p:cNvPr id="40" name="TextBox 39"/>
          <p:cNvSpPr txBox="1"/>
          <p:nvPr/>
        </p:nvSpPr>
        <p:spPr>
          <a:xfrm>
            <a:off x="9707636" y="3831336"/>
            <a:ext cx="1871411" cy="1792224"/>
          </a:xfrm>
          <a:prstGeom prst="rect">
            <a:avLst/>
          </a:prstGeom>
          <a:noFill/>
        </p:spPr>
        <p:txBody>
          <a:bodyPr wrap="square" anchor="ctr" lIns="73152" rIns="73152" tIns="36576" bIns="36576">
            <a:noAutofit/>
          </a:bodyPr>
          <a:lstStyle/>
          <a:p>
            <a:pPr algn="ctr">
              <a:spcBef>
                <a:spcPts val="0"/>
              </a:spcBef>
              <a:spcAft>
                <a:spcPts val="0"/>
              </a:spcAft>
            </a:pPr>
            <a:r>
              <a:rPr lang="tr-TR" sz="1900" b="0" i="0">
                <a:solidFill>
                  <a:srgbClr val="262626"/>
                </a:solidFill>
                <a:latin typeface="Calibri"/>
              </a:rPr>
              <a:t>maden, nükleer santral ve ulaşım kazaları</a:t>
            </a:r>
          </a:p>
        </p:txBody>
      </p:sp>
      <p:sp>
        <p:nvSpPr>
          <p:cNvPr id="41" name="TextBox 40"/>
          <p:cNvSpPr txBox="1"/>
          <p:nvPr/>
        </p:nvSpPr>
        <p:spPr>
          <a:xfrm>
            <a:off x="502920" y="5788152"/>
            <a:ext cx="11185855" cy="457200"/>
          </a:xfrm>
          <a:prstGeom prst="rect">
            <a:avLst/>
          </a:prstGeom>
          <a:noFill/>
        </p:spPr>
        <p:txBody>
          <a:bodyPr wrap="square" anchor="ctr" lIns="73152" rIns="73152" tIns="36576" bIns="36576">
            <a:noAutofit/>
          </a:bodyPr>
          <a:lstStyle/>
          <a:p>
            <a:pPr algn="ctr">
              <a:spcBef>
                <a:spcPts val="0"/>
              </a:spcBef>
              <a:spcAft>
                <a:spcPts val="0"/>
              </a:spcAft>
            </a:pPr>
            <a:r>
              <a:rPr lang="tr-TR" sz="1700" b="0" i="1">
                <a:solidFill>
                  <a:srgbClr val="767676"/>
                </a:solidFill>
                <a:latin typeface="Calibri"/>
              </a:rPr>
              <a:t>Kitap: “Afetler, oluşum nedenlerine göre doğa kaynaklı ve insan kaynaklı olabilmektedir.”</a:t>
            </a:r>
          </a:p>
        </p:txBody>
      </p:sp>
      <p:sp>
        <p:nvSpPr>
          <p:cNvPr id="42" name="TextBox 4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43" name="Rounded Rectangle 4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196</a:t>
            </a:r>
          </a:p>
        </p:txBody>
      </p:sp>
      <p:sp>
        <p:nvSpPr>
          <p:cNvPr id="44" name="TextBox 4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73 / 250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Doğa kaynaklı afetler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KİTAP</a:t>
            </a:r>
          </a:p>
        </p:txBody>
      </p:sp>
      <p:sp>
        <p:nvSpPr>
          <p:cNvPr id="6" name="Rounded Rectangle 5"/>
          <p:cNvSpPr/>
          <p:nvPr/>
        </p:nvSpPr>
        <p:spPr>
          <a:xfrm>
            <a:off x="502920" y="1216152"/>
            <a:ext cx="3594506" cy="4434840"/>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216152"/>
            <a:ext cx="3594506" cy="530352"/>
          </a:xfrm>
          <a:prstGeom prst="roundRect">
            <a:avLst>
              <a:gd name="adj" fmla="val 25000"/>
            </a:avLst>
          </a:prstGeom>
          <a:solidFill>
            <a:srgbClr val="8B5A2B"/>
          </a:solidFill>
          <a:ln>
            <a:noFill/>
          </a:ln>
          <a:effectLst/>
        </p:spPr>
        <p:txBody>
          <a:bodyPr rtlCol="0" anchor="ctr"/>
          <a:lstStyle/>
          <a:p/>
        </p:txBody>
      </p:sp>
      <p:sp>
        <p:nvSpPr>
          <p:cNvPr id="8" name="Rectangle 7"/>
          <p:cNvSpPr/>
          <p:nvPr/>
        </p:nvSpPr>
        <p:spPr>
          <a:xfrm>
            <a:off x="502920" y="1481328"/>
            <a:ext cx="3594506" cy="265176"/>
          </a:xfrm>
          <a:prstGeom prst="rect">
            <a:avLst/>
          </a:prstGeom>
          <a:solidFill>
            <a:srgbClr val="8B5A2B"/>
          </a:solidFill>
          <a:ln>
            <a:noFill/>
          </a:ln>
          <a:effectLst/>
        </p:spPr>
        <p:txBody>
          <a:bodyPr rtlCol="0" anchor="ctr"/>
          <a:lstStyle/>
          <a:p/>
        </p:txBody>
      </p:sp>
      <p:sp>
        <p:nvSpPr>
          <p:cNvPr id="9" name="TextBox 8"/>
          <p:cNvSpPr txBox="1"/>
          <p:nvPr/>
        </p:nvSpPr>
        <p:spPr>
          <a:xfrm>
            <a:off x="594360" y="121615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Jeolojik</a:t>
            </a:r>
          </a:p>
        </p:txBody>
      </p:sp>
      <p:sp>
        <p:nvSpPr>
          <p:cNvPr id="10" name="TextBox 9"/>
          <p:cNvSpPr txBox="1"/>
          <p:nvPr/>
        </p:nvSpPr>
        <p:spPr>
          <a:xfrm>
            <a:off x="612648" y="1819656"/>
            <a:ext cx="3375050" cy="3758184"/>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Kaynağını yer kabuğu veya yerin derinliklerinden alan doğa olayları jeolojik afetlere (deprem, volkanik faaliyetler vb.) neden olur.</a:t>
            </a:r>
          </a:p>
        </p:txBody>
      </p:sp>
      <p:sp>
        <p:nvSpPr>
          <p:cNvPr id="11" name="Rounded Rectangle 10"/>
          <p:cNvSpPr/>
          <p:nvPr/>
        </p:nvSpPr>
        <p:spPr>
          <a:xfrm>
            <a:off x="4298594" y="1216152"/>
            <a:ext cx="3594506" cy="4434840"/>
          </a:xfrm>
          <a:prstGeom prst="roundRect">
            <a:avLst>
              <a:gd name="adj" fmla="val 5000"/>
            </a:avLst>
          </a:prstGeom>
          <a:solidFill>
            <a:srgbClr val="F0F0F0"/>
          </a:solidFill>
          <a:ln>
            <a:noFill/>
          </a:ln>
          <a:effectLst/>
        </p:spPr>
        <p:txBody>
          <a:bodyPr rtlCol="0" anchor="ctr"/>
          <a:lstStyle/>
          <a:p/>
        </p:txBody>
      </p:sp>
      <p:sp>
        <p:nvSpPr>
          <p:cNvPr id="12" name="Rounded Rectangle 11"/>
          <p:cNvSpPr/>
          <p:nvPr/>
        </p:nvSpPr>
        <p:spPr>
          <a:xfrm>
            <a:off x="4298594" y="1216152"/>
            <a:ext cx="3594506" cy="530352"/>
          </a:xfrm>
          <a:prstGeom prst="roundRect">
            <a:avLst>
              <a:gd name="adj" fmla="val 25000"/>
            </a:avLst>
          </a:prstGeom>
          <a:solidFill>
            <a:srgbClr val="2C6696"/>
          </a:solidFill>
          <a:ln>
            <a:noFill/>
          </a:ln>
          <a:effectLst/>
        </p:spPr>
        <p:txBody>
          <a:bodyPr rtlCol="0" anchor="ctr"/>
          <a:lstStyle/>
          <a:p/>
        </p:txBody>
      </p:sp>
      <p:sp>
        <p:nvSpPr>
          <p:cNvPr id="13" name="Rectangle 12"/>
          <p:cNvSpPr/>
          <p:nvPr/>
        </p:nvSpPr>
        <p:spPr>
          <a:xfrm>
            <a:off x="4298594" y="1481328"/>
            <a:ext cx="3594506" cy="265176"/>
          </a:xfrm>
          <a:prstGeom prst="rect">
            <a:avLst/>
          </a:prstGeom>
          <a:solidFill>
            <a:srgbClr val="2C6696"/>
          </a:solidFill>
          <a:ln>
            <a:noFill/>
          </a:ln>
          <a:effectLst/>
        </p:spPr>
        <p:txBody>
          <a:bodyPr rtlCol="0" anchor="ctr"/>
          <a:lstStyle/>
          <a:p/>
        </p:txBody>
      </p:sp>
      <p:sp>
        <p:nvSpPr>
          <p:cNvPr id="14" name="TextBox 13"/>
          <p:cNvSpPr txBox="1"/>
          <p:nvPr/>
        </p:nvSpPr>
        <p:spPr>
          <a:xfrm>
            <a:off x="4390034" y="121615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Klimatik-hidrolojik</a:t>
            </a:r>
          </a:p>
        </p:txBody>
      </p:sp>
      <p:sp>
        <p:nvSpPr>
          <p:cNvPr id="15" name="TextBox 14"/>
          <p:cNvSpPr txBox="1"/>
          <p:nvPr/>
        </p:nvSpPr>
        <p:spPr>
          <a:xfrm>
            <a:off x="4408322" y="1819656"/>
            <a:ext cx="3375050" cy="3758184"/>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Doğa kaynaklı afetlerin önemli bir bölümü atmosfer olaylarına bağlı oluşur ve bunlar klimatik-hidrolojik afetler (kuraklık, sel vb.) olarak adlandırılır.</a:t>
            </a:r>
          </a:p>
        </p:txBody>
      </p:sp>
      <p:sp>
        <p:nvSpPr>
          <p:cNvPr id="16" name="Rounded Rectangle 15"/>
          <p:cNvSpPr/>
          <p:nvPr/>
        </p:nvSpPr>
        <p:spPr>
          <a:xfrm>
            <a:off x="8094268" y="1216152"/>
            <a:ext cx="3594506" cy="4434840"/>
          </a:xfrm>
          <a:prstGeom prst="roundRect">
            <a:avLst>
              <a:gd name="adj" fmla="val 5000"/>
            </a:avLst>
          </a:prstGeom>
          <a:solidFill>
            <a:srgbClr val="F0F0F0"/>
          </a:solidFill>
          <a:ln>
            <a:noFill/>
          </a:ln>
          <a:effectLst/>
        </p:spPr>
        <p:txBody>
          <a:bodyPr rtlCol="0" anchor="ctr"/>
          <a:lstStyle/>
          <a:p/>
        </p:txBody>
      </p:sp>
      <p:sp>
        <p:nvSpPr>
          <p:cNvPr id="17" name="Rounded Rectangle 16"/>
          <p:cNvSpPr/>
          <p:nvPr/>
        </p:nvSpPr>
        <p:spPr>
          <a:xfrm>
            <a:off x="8094268" y="1216152"/>
            <a:ext cx="3594506" cy="530352"/>
          </a:xfrm>
          <a:prstGeom prst="roundRect">
            <a:avLst>
              <a:gd name="adj" fmla="val 25000"/>
            </a:avLst>
          </a:prstGeom>
          <a:solidFill>
            <a:srgbClr val="3E8E41"/>
          </a:solidFill>
          <a:ln>
            <a:noFill/>
          </a:ln>
          <a:effectLst/>
        </p:spPr>
        <p:txBody>
          <a:bodyPr rtlCol="0" anchor="ctr"/>
          <a:lstStyle/>
          <a:p/>
        </p:txBody>
      </p:sp>
      <p:sp>
        <p:nvSpPr>
          <p:cNvPr id="18" name="Rectangle 17"/>
          <p:cNvSpPr/>
          <p:nvPr/>
        </p:nvSpPr>
        <p:spPr>
          <a:xfrm>
            <a:off x="8094268" y="1481328"/>
            <a:ext cx="3594506" cy="265176"/>
          </a:xfrm>
          <a:prstGeom prst="rect">
            <a:avLst/>
          </a:prstGeom>
          <a:solidFill>
            <a:srgbClr val="3E8E41"/>
          </a:solidFill>
          <a:ln>
            <a:noFill/>
          </a:ln>
          <a:effectLst/>
        </p:spPr>
        <p:txBody>
          <a:bodyPr rtlCol="0" anchor="ctr"/>
          <a:lstStyle/>
          <a:p/>
        </p:txBody>
      </p:sp>
      <p:sp>
        <p:nvSpPr>
          <p:cNvPr id="19" name="TextBox 18"/>
          <p:cNvSpPr txBox="1"/>
          <p:nvPr/>
        </p:nvSpPr>
        <p:spPr>
          <a:xfrm>
            <a:off x="8185708" y="121615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Biyolojik</a:t>
            </a:r>
          </a:p>
        </p:txBody>
      </p:sp>
      <p:sp>
        <p:nvSpPr>
          <p:cNvPr id="20" name="TextBox 19"/>
          <p:cNvSpPr txBox="1"/>
          <p:nvPr/>
        </p:nvSpPr>
        <p:spPr>
          <a:xfrm>
            <a:off x="8203996" y="1819656"/>
            <a:ext cx="3375050" cy="3758184"/>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İnsan, hayvan ve bitkiler üzerinde hastalık yapıcı, zehirleyici veya ölümcül özellikleri bulunan canlı organizmalar veya bu organizmaların ürettiği biyolojik maddelerden oluşan afetler ise biyolojik afetler (erozyon, salgınlar vb.) olarak adlandırılır.</a:t>
            </a:r>
          </a:p>
        </p:txBody>
      </p:sp>
      <p:sp>
        <p:nvSpPr>
          <p:cNvPr id="21" name="Rounded Rectangle 20"/>
          <p:cNvSpPr/>
          <p:nvPr/>
        </p:nvSpPr>
        <p:spPr>
          <a:xfrm>
            <a:off x="502920" y="5742432"/>
            <a:ext cx="11185855" cy="502920"/>
          </a:xfrm>
          <a:prstGeom prst="roundRect">
            <a:avLst>
              <a:gd name="adj" fmla="val 8000"/>
            </a:avLst>
          </a:prstGeom>
          <a:solidFill>
            <a:srgbClr val="E3ECF5"/>
          </a:solidFill>
          <a:ln>
            <a:noFill/>
          </a:ln>
          <a:effectLst/>
        </p:spPr>
        <p:txBody>
          <a:bodyPr rtlCol="0" anchor="ctr" wrap="square" lIns="128016" rIns="128016" tIns="73152" bIns="73152">
            <a:noAutofit/>
          </a:bodyPr>
          <a:lstStyle/>
          <a:p>
            <a:pPr algn="ctr">
              <a:spcBef>
                <a:spcPts val="0"/>
              </a:spcBef>
              <a:spcAft>
                <a:spcPts val="0"/>
              </a:spcAft>
            </a:pPr>
            <a:r>
              <a:rPr lang="tr-TR" sz="1900" b="1" i="0">
                <a:solidFill>
                  <a:srgbClr val="262626"/>
                </a:solidFill>
                <a:latin typeface="Calibri"/>
              </a:rPr>
              <a:t>Kaynağı: yer kabuğu · atmosfer ve su · canlı organizmalar</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196</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74 / 250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İnsan kaynaklı afetler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KİTAP</a:t>
            </a:r>
          </a:p>
        </p:txBody>
      </p:sp>
      <p:sp>
        <p:nvSpPr>
          <p:cNvPr id="6" name="Rounded Rectangle 5"/>
          <p:cNvSpPr/>
          <p:nvPr/>
        </p:nvSpPr>
        <p:spPr>
          <a:xfrm>
            <a:off x="502920" y="1216152"/>
            <a:ext cx="11185855" cy="777240"/>
          </a:xfrm>
          <a:prstGeom prst="roundRect">
            <a:avLst>
              <a:gd name="adj" fmla="val 8000"/>
            </a:avLst>
          </a:prstGeom>
          <a:solidFill>
            <a:srgbClr val="F0F0F0"/>
          </a:solidFill>
          <a:ln>
            <a:noFill/>
          </a:ln>
          <a:effectLst/>
        </p:spPr>
        <p:txBody>
          <a:bodyPr rtlCol="0" anchor="ctr"/>
          <a:lstStyle/>
          <a:p/>
        </p:txBody>
      </p:sp>
      <p:sp>
        <p:nvSpPr>
          <p:cNvPr id="7" name="Rectangle 6"/>
          <p:cNvSpPr/>
          <p:nvPr/>
        </p:nvSpPr>
        <p:spPr>
          <a:xfrm>
            <a:off x="502920" y="1216152"/>
            <a:ext cx="118872" cy="777240"/>
          </a:xfrm>
          <a:prstGeom prst="rect">
            <a:avLst/>
          </a:prstGeom>
          <a:solidFill>
            <a:srgbClr val="A0521A"/>
          </a:solidFill>
          <a:ln>
            <a:noFill/>
          </a:ln>
          <a:effectLst/>
        </p:spPr>
        <p:txBody>
          <a:bodyPr rtlCol="0" anchor="ctr"/>
          <a:lstStyle/>
          <a:p/>
        </p:txBody>
      </p:sp>
      <p:sp>
        <p:nvSpPr>
          <p:cNvPr id="8" name="TextBox 7"/>
          <p:cNvSpPr txBox="1"/>
          <p:nvPr/>
        </p:nvSpPr>
        <p:spPr>
          <a:xfrm>
            <a:off x="777240" y="1216152"/>
            <a:ext cx="10774375" cy="777240"/>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İnsan kaynaklı afetler, beşerî faaliyetlerin etkisiyle meydana gelmektedir. Bu afetler, sosyal afet ve teknolojik afet olarak isimlendirilir.</a:t>
            </a:r>
          </a:p>
        </p:txBody>
      </p:sp>
      <p:sp>
        <p:nvSpPr>
          <p:cNvPr id="9" name="Rounded Rectangle 8"/>
          <p:cNvSpPr/>
          <p:nvPr/>
        </p:nvSpPr>
        <p:spPr>
          <a:xfrm>
            <a:off x="502920" y="2176272"/>
            <a:ext cx="5455767" cy="4069080"/>
          </a:xfrm>
          <a:prstGeom prst="roundRect">
            <a:avLst>
              <a:gd name="adj" fmla="val 5000"/>
            </a:avLst>
          </a:prstGeom>
          <a:solidFill>
            <a:srgbClr val="F0F0F0"/>
          </a:solidFill>
          <a:ln>
            <a:noFill/>
          </a:ln>
          <a:effectLst/>
        </p:spPr>
        <p:txBody>
          <a:bodyPr rtlCol="0" anchor="ctr"/>
          <a:lstStyle/>
          <a:p/>
        </p:txBody>
      </p:sp>
      <p:sp>
        <p:nvSpPr>
          <p:cNvPr id="10" name="Rounded Rectangle 9"/>
          <p:cNvSpPr/>
          <p:nvPr/>
        </p:nvSpPr>
        <p:spPr>
          <a:xfrm>
            <a:off x="502920" y="2176272"/>
            <a:ext cx="5455767" cy="530352"/>
          </a:xfrm>
          <a:prstGeom prst="roundRect">
            <a:avLst>
              <a:gd name="adj" fmla="val 25000"/>
            </a:avLst>
          </a:prstGeom>
          <a:solidFill>
            <a:srgbClr val="7A4EA0"/>
          </a:solidFill>
          <a:ln>
            <a:noFill/>
          </a:ln>
          <a:effectLst/>
        </p:spPr>
        <p:txBody>
          <a:bodyPr rtlCol="0" anchor="ctr"/>
          <a:lstStyle/>
          <a:p/>
        </p:txBody>
      </p:sp>
      <p:sp>
        <p:nvSpPr>
          <p:cNvPr id="11" name="Rectangle 10"/>
          <p:cNvSpPr/>
          <p:nvPr/>
        </p:nvSpPr>
        <p:spPr>
          <a:xfrm>
            <a:off x="502920" y="2441448"/>
            <a:ext cx="5455767" cy="265176"/>
          </a:xfrm>
          <a:prstGeom prst="rect">
            <a:avLst/>
          </a:prstGeom>
          <a:solidFill>
            <a:srgbClr val="7A4EA0"/>
          </a:solidFill>
          <a:ln>
            <a:noFill/>
          </a:ln>
          <a:effectLst/>
        </p:spPr>
        <p:txBody>
          <a:bodyPr rtlCol="0" anchor="ctr"/>
          <a:lstStyle/>
          <a:p/>
        </p:txBody>
      </p:sp>
      <p:sp>
        <p:nvSpPr>
          <p:cNvPr id="12" name="TextBox 11"/>
          <p:cNvSpPr txBox="1"/>
          <p:nvPr/>
        </p:nvSpPr>
        <p:spPr>
          <a:xfrm>
            <a:off x="594360" y="2176272"/>
            <a:ext cx="5272887" cy="530352"/>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FFFFFF"/>
                </a:solidFill>
                <a:latin typeface="Calibri"/>
              </a:rPr>
              <a:t>Sosyal</a:t>
            </a:r>
          </a:p>
        </p:txBody>
      </p:sp>
      <p:sp>
        <p:nvSpPr>
          <p:cNvPr id="13" name="TextBox 12"/>
          <p:cNvSpPr txBox="1"/>
          <p:nvPr/>
        </p:nvSpPr>
        <p:spPr>
          <a:xfrm>
            <a:off x="612648" y="2779776"/>
            <a:ext cx="5236311" cy="3392424"/>
          </a:xfrm>
          <a:prstGeom prst="rect">
            <a:avLst/>
          </a:prstGeom>
          <a:noFill/>
        </p:spPr>
        <p:txBody>
          <a:bodyPr wrap="square" anchor="ctr" lIns="73152" rIns="73152" tIns="36576" bIns="36576">
            <a:noAutofit/>
          </a:bodyPr>
          <a:lstStyle/>
          <a:p>
            <a:pPr algn="l">
              <a:spcBef>
                <a:spcPts val="0"/>
              </a:spcBef>
              <a:spcAft>
                <a:spcPts val="600"/>
              </a:spcAft>
            </a:pPr>
            <a:r>
              <a:rPr lang="tr-TR" sz="2200" b="0" i="0">
                <a:solidFill>
                  <a:srgbClr val="262626"/>
                </a:solidFill>
                <a:latin typeface="Calibri"/>
              </a:rPr>
              <a:t>Sosyal afetler insanların yiyecek, içecek, barınma, konaklama gibi ihtiyaçlarının karşılanmasına yönelik faaliyetlerden oluşur.</a:t>
            </a:r>
          </a:p>
          <a:p>
            <a:pPr algn="l">
              <a:spcBef>
                <a:spcPts val="0"/>
              </a:spcBef>
              <a:spcAft>
                <a:spcPts val="0"/>
              </a:spcAft>
            </a:pPr>
            <a:r>
              <a:rPr lang="tr-TR" sz="2200" b="0" i="0">
                <a:solidFill>
                  <a:srgbClr val="262626"/>
                </a:solidFill>
                <a:latin typeface="Calibri"/>
              </a:rPr>
              <a:t>Bu afetlere savaşlar, terör saldırıları ve göçler örnek gösterilebilir.</a:t>
            </a:r>
          </a:p>
        </p:txBody>
      </p:sp>
      <p:sp>
        <p:nvSpPr>
          <p:cNvPr id="14" name="Rounded Rectangle 13"/>
          <p:cNvSpPr/>
          <p:nvPr/>
        </p:nvSpPr>
        <p:spPr>
          <a:xfrm>
            <a:off x="6233007" y="2176272"/>
            <a:ext cx="5455767" cy="4069080"/>
          </a:xfrm>
          <a:prstGeom prst="roundRect">
            <a:avLst>
              <a:gd name="adj" fmla="val 5000"/>
            </a:avLst>
          </a:prstGeom>
          <a:solidFill>
            <a:srgbClr val="F0F0F0"/>
          </a:solidFill>
          <a:ln>
            <a:noFill/>
          </a:ln>
          <a:effectLst/>
        </p:spPr>
        <p:txBody>
          <a:bodyPr rtlCol="0" anchor="ctr"/>
          <a:lstStyle/>
          <a:p/>
        </p:txBody>
      </p:sp>
      <p:sp>
        <p:nvSpPr>
          <p:cNvPr id="15" name="Rounded Rectangle 14"/>
          <p:cNvSpPr/>
          <p:nvPr/>
        </p:nvSpPr>
        <p:spPr>
          <a:xfrm>
            <a:off x="6233007" y="2176272"/>
            <a:ext cx="5455767" cy="530352"/>
          </a:xfrm>
          <a:prstGeom prst="roundRect">
            <a:avLst>
              <a:gd name="adj" fmla="val 25000"/>
            </a:avLst>
          </a:prstGeom>
          <a:solidFill>
            <a:srgbClr val="5A6470"/>
          </a:solidFill>
          <a:ln>
            <a:noFill/>
          </a:ln>
          <a:effectLst/>
        </p:spPr>
        <p:txBody>
          <a:bodyPr rtlCol="0" anchor="ctr"/>
          <a:lstStyle/>
          <a:p/>
        </p:txBody>
      </p:sp>
      <p:sp>
        <p:nvSpPr>
          <p:cNvPr id="16" name="Rectangle 15"/>
          <p:cNvSpPr/>
          <p:nvPr/>
        </p:nvSpPr>
        <p:spPr>
          <a:xfrm>
            <a:off x="6233007" y="2441448"/>
            <a:ext cx="5455767" cy="265176"/>
          </a:xfrm>
          <a:prstGeom prst="rect">
            <a:avLst/>
          </a:prstGeom>
          <a:solidFill>
            <a:srgbClr val="5A6470"/>
          </a:solidFill>
          <a:ln>
            <a:noFill/>
          </a:ln>
          <a:effectLst/>
        </p:spPr>
        <p:txBody>
          <a:bodyPr rtlCol="0" anchor="ctr"/>
          <a:lstStyle/>
          <a:p/>
        </p:txBody>
      </p:sp>
      <p:sp>
        <p:nvSpPr>
          <p:cNvPr id="17" name="TextBox 16"/>
          <p:cNvSpPr txBox="1"/>
          <p:nvPr/>
        </p:nvSpPr>
        <p:spPr>
          <a:xfrm>
            <a:off x="6324447" y="2176272"/>
            <a:ext cx="5272887" cy="530352"/>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FFFFFF"/>
                </a:solidFill>
                <a:latin typeface="Calibri"/>
              </a:rPr>
              <a:t>Teknolojik</a:t>
            </a:r>
          </a:p>
        </p:txBody>
      </p:sp>
      <p:sp>
        <p:nvSpPr>
          <p:cNvPr id="18" name="TextBox 17"/>
          <p:cNvSpPr txBox="1"/>
          <p:nvPr/>
        </p:nvSpPr>
        <p:spPr>
          <a:xfrm>
            <a:off x="6342735" y="2779776"/>
            <a:ext cx="5236311" cy="3392424"/>
          </a:xfrm>
          <a:prstGeom prst="rect">
            <a:avLst/>
          </a:prstGeom>
          <a:noFill/>
        </p:spPr>
        <p:txBody>
          <a:bodyPr wrap="square" anchor="ctr" lIns="73152" rIns="73152" tIns="36576" bIns="36576">
            <a:noAutofit/>
          </a:bodyPr>
          <a:lstStyle/>
          <a:p>
            <a:pPr algn="l">
              <a:spcBef>
                <a:spcPts val="0"/>
              </a:spcBef>
              <a:spcAft>
                <a:spcPts val="600"/>
              </a:spcAft>
            </a:pPr>
            <a:r>
              <a:rPr lang="tr-TR" sz="2200" b="0" i="0">
                <a:solidFill>
                  <a:srgbClr val="262626"/>
                </a:solidFill>
                <a:latin typeface="Calibri"/>
              </a:rPr>
              <a:t>Teknolojik afetler ise beşerî faaliyetler ve teknolojik gelişmelerin amaç dışı kullanımından kaynaklanmaktadır.</a:t>
            </a:r>
          </a:p>
          <a:p>
            <a:pPr algn="l">
              <a:spcBef>
                <a:spcPts val="0"/>
              </a:spcBef>
              <a:spcAft>
                <a:spcPts val="0"/>
              </a:spcAft>
            </a:pPr>
            <a:r>
              <a:rPr lang="tr-TR" sz="2200" b="0" i="0">
                <a:solidFill>
                  <a:srgbClr val="262626"/>
                </a:solidFill>
                <a:latin typeface="Calibri"/>
              </a:rPr>
              <a:t>Bu afetlere maden kazaları, nükleer santral kazaları ve ulaşım kazaları örnek verilebilir.</a:t>
            </a:r>
          </a:p>
        </p:txBody>
      </p:sp>
      <p:sp>
        <p:nvSpPr>
          <p:cNvPr id="19" name="TextBox 1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0" name="Rounded Rectangle 19"/>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196</a:t>
            </a:r>
          </a:p>
        </p:txBody>
      </p:sp>
      <p:sp>
        <p:nvSpPr>
          <p:cNvPr id="21" name="TextBox 20"/>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75 / 250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2023'te dünyada bazı afetler: hangi türe girer?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HARİTA 6.2</a:t>
            </a:r>
          </a:p>
        </p:txBody>
      </p:sp>
      <p:pic>
        <p:nvPicPr>
          <p:cNvPr id="6" name="Picture 5" descr="h31_h62_s194.jpg"/>
          <p:cNvPicPr>
            <a:picLocks noChangeAspect="1"/>
          </p:cNvPicPr>
          <p:nvPr/>
        </p:nvPicPr>
        <p:blipFill>
          <a:blip r:embed="rId3"/>
          <a:stretch>
            <a:fillRect/>
          </a:stretch>
        </p:blipFill>
        <p:spPr>
          <a:xfrm>
            <a:off x="503245" y="1216152"/>
            <a:ext cx="3779149" cy="3840480"/>
          </a:xfrm>
          <a:prstGeom prst="rect">
            <a:avLst/>
          </a:prstGeom>
          <a:ln w="9525">
            <a:solidFill>
              <a:srgbClr val="D9D9D9"/>
            </a:solidFill>
          </a:ln>
        </p:spPr>
      </p:pic>
      <p:sp>
        <p:nvSpPr>
          <p:cNvPr id="7" name="Oval 6"/>
          <p:cNvSpPr/>
          <p:nvPr/>
        </p:nvSpPr>
        <p:spPr>
          <a:xfrm>
            <a:off x="1217405" y="2136304"/>
            <a:ext cx="329184" cy="329184"/>
          </a:xfrm>
          <a:prstGeom prst="ellipse">
            <a:avLst/>
          </a:prstGeom>
          <a:solidFill>
            <a:srgbClr val="FFFFFF"/>
          </a:solidFill>
          <a:ln w="22225">
            <a:solidFill>
              <a:srgbClr val="4F4F4F"/>
            </a:solidFill>
          </a:ln>
          <a:effectLst/>
        </p:spPr>
        <p:txBody>
          <a:bodyPr rtlCol="0" anchor="ctr" wrap="none" lIns="0" rIns="0" tIns="0" bIns="0">
            <a:noAutofit/>
          </a:bodyPr>
          <a:lstStyle/>
          <a:p>
            <a:pPr algn="ctr">
              <a:spcBef>
                <a:spcPts val="0"/>
              </a:spcBef>
              <a:spcAft>
                <a:spcPts val="0"/>
              </a:spcAft>
            </a:pPr>
            <a:r>
              <a:rPr lang="tr-TR" sz="1244" b="1" i="0">
                <a:solidFill>
                  <a:srgbClr val="262626"/>
                </a:solidFill>
                <a:latin typeface="Calibri"/>
              </a:rPr>
              <a:t>1</a:t>
            </a:r>
          </a:p>
        </p:txBody>
      </p:sp>
      <p:sp>
        <p:nvSpPr>
          <p:cNvPr id="8" name="Oval 7"/>
          <p:cNvSpPr/>
          <p:nvPr/>
        </p:nvSpPr>
        <p:spPr>
          <a:xfrm>
            <a:off x="1563679" y="2811702"/>
            <a:ext cx="329184" cy="329184"/>
          </a:xfrm>
          <a:prstGeom prst="ellipse">
            <a:avLst/>
          </a:prstGeom>
          <a:solidFill>
            <a:srgbClr val="FFFFFF"/>
          </a:solidFill>
          <a:ln w="22225">
            <a:solidFill>
              <a:srgbClr val="4F4F4F"/>
            </a:solidFill>
          </a:ln>
          <a:effectLst/>
        </p:spPr>
        <p:txBody>
          <a:bodyPr rtlCol="0" anchor="ctr" wrap="none" lIns="0" rIns="0" tIns="0" bIns="0">
            <a:noAutofit/>
          </a:bodyPr>
          <a:lstStyle/>
          <a:p>
            <a:pPr algn="ctr">
              <a:spcBef>
                <a:spcPts val="0"/>
              </a:spcBef>
              <a:spcAft>
                <a:spcPts val="0"/>
              </a:spcAft>
            </a:pPr>
            <a:r>
              <a:rPr lang="tr-TR" sz="1244" b="1" i="0">
                <a:solidFill>
                  <a:srgbClr val="262626"/>
                </a:solidFill>
                <a:latin typeface="Calibri"/>
              </a:rPr>
              <a:t>2</a:t>
            </a:r>
          </a:p>
        </p:txBody>
      </p:sp>
      <p:sp>
        <p:nvSpPr>
          <p:cNvPr id="9" name="Oval 8"/>
          <p:cNvSpPr/>
          <p:nvPr/>
        </p:nvSpPr>
        <p:spPr>
          <a:xfrm>
            <a:off x="3385119" y="2628733"/>
            <a:ext cx="329184" cy="329184"/>
          </a:xfrm>
          <a:prstGeom prst="ellipse">
            <a:avLst/>
          </a:prstGeom>
          <a:solidFill>
            <a:srgbClr val="FFFFFF"/>
          </a:solidFill>
          <a:ln w="22225">
            <a:solidFill>
              <a:srgbClr val="4F4F4F"/>
            </a:solidFill>
          </a:ln>
          <a:effectLst/>
        </p:spPr>
        <p:txBody>
          <a:bodyPr rtlCol="0" anchor="ctr" wrap="none" lIns="0" rIns="0" tIns="0" bIns="0">
            <a:noAutofit/>
          </a:bodyPr>
          <a:lstStyle/>
          <a:p>
            <a:pPr algn="ctr">
              <a:spcBef>
                <a:spcPts val="0"/>
              </a:spcBef>
              <a:spcAft>
                <a:spcPts val="0"/>
              </a:spcAft>
            </a:pPr>
            <a:r>
              <a:rPr lang="tr-TR" sz="1244" b="1" i="0">
                <a:solidFill>
                  <a:srgbClr val="262626"/>
                </a:solidFill>
                <a:latin typeface="Calibri"/>
              </a:rPr>
              <a:t>3</a:t>
            </a:r>
          </a:p>
        </p:txBody>
      </p:sp>
      <p:sp>
        <p:nvSpPr>
          <p:cNvPr id="10" name="Oval 9"/>
          <p:cNvSpPr/>
          <p:nvPr/>
        </p:nvSpPr>
        <p:spPr>
          <a:xfrm>
            <a:off x="3685192" y="3641596"/>
            <a:ext cx="329184" cy="329184"/>
          </a:xfrm>
          <a:prstGeom prst="ellipse">
            <a:avLst/>
          </a:prstGeom>
          <a:solidFill>
            <a:srgbClr val="FFFFFF"/>
          </a:solidFill>
          <a:ln w="22225">
            <a:solidFill>
              <a:srgbClr val="4F4F4F"/>
            </a:solidFill>
          </a:ln>
          <a:effectLst/>
        </p:spPr>
        <p:txBody>
          <a:bodyPr rtlCol="0" anchor="ctr" wrap="none" lIns="0" rIns="0" tIns="0" bIns="0">
            <a:noAutofit/>
          </a:bodyPr>
          <a:lstStyle/>
          <a:p>
            <a:pPr algn="ctr">
              <a:spcBef>
                <a:spcPts val="0"/>
              </a:spcBef>
              <a:spcAft>
                <a:spcPts val="0"/>
              </a:spcAft>
            </a:pPr>
            <a:r>
              <a:rPr lang="tr-TR" sz="1244" b="1" i="0">
                <a:solidFill>
                  <a:srgbClr val="262626"/>
                </a:solidFill>
                <a:latin typeface="Calibri"/>
              </a:rPr>
              <a:t>4</a:t>
            </a:r>
          </a:p>
        </p:txBody>
      </p:sp>
      <p:sp>
        <p:nvSpPr>
          <p:cNvPr id="11" name="TextBox 10"/>
          <p:cNvSpPr txBox="1"/>
          <p:nvPr/>
        </p:nvSpPr>
        <p:spPr>
          <a:xfrm>
            <a:off x="502920" y="5074920"/>
            <a:ext cx="3779801" cy="274320"/>
          </a:xfrm>
          <a:prstGeom prst="rect">
            <a:avLst/>
          </a:prstGeom>
          <a:noFill/>
        </p:spPr>
        <p:txBody>
          <a:bodyPr wrap="square" anchor="t" lIns="73152" rIns="73152" tIns="36576" bIns="36576">
            <a:noAutofit/>
          </a:bodyPr>
          <a:lstStyle/>
          <a:p>
            <a:pPr algn="ctr">
              <a:spcBef>
                <a:spcPts val="0"/>
              </a:spcBef>
              <a:spcAft>
                <a:spcPts val="0"/>
              </a:spcAft>
            </a:pPr>
            <a:r>
              <a:rPr lang="tr-TR" sz="1200" b="0" i="1">
                <a:solidFill>
                  <a:srgbClr val="767676"/>
                </a:solidFill>
                <a:latin typeface="Calibri"/>
              </a:rPr>
              <a:t>Kitap s. 194</a:t>
            </a:r>
          </a:p>
        </p:txBody>
      </p:sp>
      <p:pic>
        <p:nvPicPr>
          <p:cNvPr id="12" name="Picture 11" descr="h31_h62_s195.jpg"/>
          <p:cNvPicPr>
            <a:picLocks noChangeAspect="1"/>
          </p:cNvPicPr>
          <p:nvPr/>
        </p:nvPicPr>
        <p:blipFill>
          <a:blip r:embed="rId4"/>
          <a:stretch>
            <a:fillRect/>
          </a:stretch>
        </p:blipFill>
        <p:spPr>
          <a:xfrm>
            <a:off x="4392449" y="1216465"/>
            <a:ext cx="3763931" cy="3839852"/>
          </a:xfrm>
          <a:prstGeom prst="rect">
            <a:avLst/>
          </a:prstGeom>
          <a:ln w="9525">
            <a:solidFill>
              <a:srgbClr val="D9D9D9"/>
            </a:solidFill>
          </a:ln>
        </p:spPr>
      </p:pic>
      <p:sp>
        <p:nvSpPr>
          <p:cNvPr id="13" name="Oval 12"/>
          <p:cNvSpPr/>
          <p:nvPr/>
        </p:nvSpPr>
        <p:spPr>
          <a:xfrm>
            <a:off x="4548986" y="1204011"/>
            <a:ext cx="329184" cy="329184"/>
          </a:xfrm>
          <a:prstGeom prst="ellipse">
            <a:avLst/>
          </a:prstGeom>
          <a:solidFill>
            <a:srgbClr val="FFFFFF"/>
          </a:solidFill>
          <a:ln w="22225">
            <a:solidFill>
              <a:srgbClr val="4F4F4F"/>
            </a:solidFill>
          </a:ln>
          <a:effectLst/>
        </p:spPr>
        <p:txBody>
          <a:bodyPr rtlCol="0" anchor="ctr" wrap="none" lIns="0" rIns="0" tIns="0" bIns="0">
            <a:noAutofit/>
          </a:bodyPr>
          <a:lstStyle/>
          <a:p>
            <a:pPr algn="ctr">
              <a:spcBef>
                <a:spcPts val="0"/>
              </a:spcBef>
              <a:spcAft>
                <a:spcPts val="0"/>
              </a:spcAft>
            </a:pPr>
            <a:r>
              <a:rPr lang="tr-TR" sz="1244" b="1" i="0">
                <a:solidFill>
                  <a:srgbClr val="262626"/>
                </a:solidFill>
                <a:latin typeface="Calibri"/>
              </a:rPr>
              <a:t>5</a:t>
            </a:r>
          </a:p>
        </p:txBody>
      </p:sp>
      <p:sp>
        <p:nvSpPr>
          <p:cNvPr id="14" name="Oval 13"/>
          <p:cNvSpPr/>
          <p:nvPr/>
        </p:nvSpPr>
        <p:spPr>
          <a:xfrm>
            <a:off x="5233252" y="1571289"/>
            <a:ext cx="329184" cy="329184"/>
          </a:xfrm>
          <a:prstGeom prst="ellipse">
            <a:avLst/>
          </a:prstGeom>
          <a:solidFill>
            <a:srgbClr val="FFFFFF"/>
          </a:solidFill>
          <a:ln w="22225">
            <a:solidFill>
              <a:srgbClr val="4F4F4F"/>
            </a:solidFill>
          </a:ln>
          <a:effectLst/>
        </p:spPr>
        <p:txBody>
          <a:bodyPr rtlCol="0" anchor="ctr" wrap="none" lIns="0" rIns="0" tIns="0" bIns="0">
            <a:noAutofit/>
          </a:bodyPr>
          <a:lstStyle/>
          <a:p>
            <a:pPr algn="ctr">
              <a:spcBef>
                <a:spcPts val="0"/>
              </a:spcBef>
              <a:spcAft>
                <a:spcPts val="0"/>
              </a:spcAft>
            </a:pPr>
            <a:r>
              <a:rPr lang="tr-TR" sz="1244" b="1" i="0">
                <a:solidFill>
                  <a:srgbClr val="262626"/>
                </a:solidFill>
                <a:latin typeface="Calibri"/>
              </a:rPr>
              <a:t>6</a:t>
            </a:r>
          </a:p>
        </p:txBody>
      </p:sp>
      <p:sp>
        <p:nvSpPr>
          <p:cNvPr id="15" name="Oval 14"/>
          <p:cNvSpPr/>
          <p:nvPr/>
        </p:nvSpPr>
        <p:spPr>
          <a:xfrm>
            <a:off x="5973062" y="2167707"/>
            <a:ext cx="329184" cy="329184"/>
          </a:xfrm>
          <a:prstGeom prst="ellipse">
            <a:avLst/>
          </a:prstGeom>
          <a:solidFill>
            <a:srgbClr val="FFFFFF"/>
          </a:solidFill>
          <a:ln w="22225">
            <a:solidFill>
              <a:srgbClr val="4F4F4F"/>
            </a:solidFill>
          </a:ln>
          <a:effectLst/>
        </p:spPr>
        <p:txBody>
          <a:bodyPr rtlCol="0" anchor="ctr" wrap="none" lIns="0" rIns="0" tIns="0" bIns="0">
            <a:noAutofit/>
          </a:bodyPr>
          <a:lstStyle/>
          <a:p>
            <a:pPr algn="ctr">
              <a:spcBef>
                <a:spcPts val="0"/>
              </a:spcBef>
              <a:spcAft>
                <a:spcPts val="0"/>
              </a:spcAft>
            </a:pPr>
            <a:r>
              <a:rPr lang="tr-TR" sz="1244" b="1" i="0">
                <a:solidFill>
                  <a:srgbClr val="262626"/>
                </a:solidFill>
                <a:latin typeface="Calibri"/>
              </a:rPr>
              <a:t>7</a:t>
            </a:r>
          </a:p>
        </p:txBody>
      </p:sp>
      <p:sp>
        <p:nvSpPr>
          <p:cNvPr id="16" name="Oval 15"/>
          <p:cNvSpPr/>
          <p:nvPr/>
        </p:nvSpPr>
        <p:spPr>
          <a:xfrm>
            <a:off x="5536644" y="2951731"/>
            <a:ext cx="329184" cy="329184"/>
          </a:xfrm>
          <a:prstGeom prst="ellipse">
            <a:avLst/>
          </a:prstGeom>
          <a:solidFill>
            <a:srgbClr val="FFFFFF"/>
          </a:solidFill>
          <a:ln w="22225">
            <a:solidFill>
              <a:srgbClr val="4F4F4F"/>
            </a:solidFill>
          </a:ln>
          <a:effectLst/>
        </p:spPr>
        <p:txBody>
          <a:bodyPr rtlCol="0" anchor="ctr" wrap="none" lIns="0" rIns="0" tIns="0" bIns="0">
            <a:noAutofit/>
          </a:bodyPr>
          <a:lstStyle/>
          <a:p>
            <a:pPr algn="ctr">
              <a:spcBef>
                <a:spcPts val="0"/>
              </a:spcBef>
              <a:spcAft>
                <a:spcPts val="0"/>
              </a:spcAft>
            </a:pPr>
            <a:r>
              <a:rPr lang="tr-TR" sz="1244" b="1" i="0">
                <a:solidFill>
                  <a:srgbClr val="262626"/>
                </a:solidFill>
                <a:latin typeface="Calibri"/>
              </a:rPr>
              <a:t>8</a:t>
            </a:r>
          </a:p>
        </p:txBody>
      </p:sp>
      <p:sp>
        <p:nvSpPr>
          <p:cNvPr id="17" name="Oval 16"/>
          <p:cNvSpPr/>
          <p:nvPr/>
        </p:nvSpPr>
        <p:spPr>
          <a:xfrm>
            <a:off x="4675944" y="4291573"/>
            <a:ext cx="329184" cy="329184"/>
          </a:xfrm>
          <a:prstGeom prst="ellipse">
            <a:avLst/>
          </a:prstGeom>
          <a:solidFill>
            <a:srgbClr val="FFFFFF"/>
          </a:solidFill>
          <a:ln w="22225">
            <a:solidFill>
              <a:srgbClr val="4F4F4F"/>
            </a:solidFill>
          </a:ln>
          <a:effectLst/>
        </p:spPr>
        <p:txBody>
          <a:bodyPr rtlCol="0" anchor="ctr" wrap="none" lIns="0" rIns="0" tIns="0" bIns="0">
            <a:noAutofit/>
          </a:bodyPr>
          <a:lstStyle/>
          <a:p>
            <a:pPr algn="ctr">
              <a:spcBef>
                <a:spcPts val="0"/>
              </a:spcBef>
              <a:spcAft>
                <a:spcPts val="0"/>
              </a:spcAft>
            </a:pPr>
            <a:r>
              <a:rPr lang="tr-TR" sz="1244" b="1" i="0">
                <a:solidFill>
                  <a:srgbClr val="262626"/>
                </a:solidFill>
                <a:latin typeface="Calibri"/>
              </a:rPr>
              <a:t>9</a:t>
            </a:r>
          </a:p>
        </p:txBody>
      </p:sp>
      <p:sp>
        <p:nvSpPr>
          <p:cNvPr id="18" name="Oval 17"/>
          <p:cNvSpPr/>
          <p:nvPr/>
        </p:nvSpPr>
        <p:spPr>
          <a:xfrm>
            <a:off x="6444954" y="1480752"/>
            <a:ext cx="329184" cy="329184"/>
          </a:xfrm>
          <a:prstGeom prst="ellipse">
            <a:avLst/>
          </a:prstGeom>
          <a:solidFill>
            <a:srgbClr val="FFFFFF"/>
          </a:solidFill>
          <a:ln w="22225">
            <a:solidFill>
              <a:srgbClr val="4F4F4F"/>
            </a:solidFill>
          </a:ln>
          <a:effectLst/>
        </p:spPr>
        <p:txBody>
          <a:bodyPr rtlCol="0" anchor="ctr" wrap="none" lIns="0" rIns="0" tIns="0" bIns="0">
            <a:noAutofit/>
          </a:bodyPr>
          <a:lstStyle/>
          <a:p>
            <a:pPr algn="ctr">
              <a:spcBef>
                <a:spcPts val="0"/>
              </a:spcBef>
              <a:spcAft>
                <a:spcPts val="0"/>
              </a:spcAft>
            </a:pPr>
            <a:r>
              <a:rPr lang="tr-TR" sz="1244" b="1" i="0">
                <a:solidFill>
                  <a:srgbClr val="262626"/>
                </a:solidFill>
                <a:latin typeface="Calibri"/>
              </a:rPr>
              <a:t>10</a:t>
            </a:r>
          </a:p>
        </p:txBody>
      </p:sp>
      <p:sp>
        <p:nvSpPr>
          <p:cNvPr id="19" name="Oval 18"/>
          <p:cNvSpPr/>
          <p:nvPr/>
        </p:nvSpPr>
        <p:spPr>
          <a:xfrm>
            <a:off x="7535299" y="2737991"/>
            <a:ext cx="329184" cy="329184"/>
          </a:xfrm>
          <a:prstGeom prst="ellipse">
            <a:avLst/>
          </a:prstGeom>
          <a:solidFill>
            <a:srgbClr val="FFFFFF"/>
          </a:solidFill>
          <a:ln w="22225">
            <a:solidFill>
              <a:srgbClr val="4F4F4F"/>
            </a:solidFill>
          </a:ln>
          <a:effectLst/>
        </p:spPr>
        <p:txBody>
          <a:bodyPr rtlCol="0" anchor="ctr" wrap="none" lIns="0" rIns="0" tIns="0" bIns="0">
            <a:noAutofit/>
          </a:bodyPr>
          <a:lstStyle/>
          <a:p>
            <a:pPr algn="ctr">
              <a:spcBef>
                <a:spcPts val="0"/>
              </a:spcBef>
              <a:spcAft>
                <a:spcPts val="0"/>
              </a:spcAft>
            </a:pPr>
            <a:r>
              <a:rPr lang="tr-TR" sz="1244" b="1" i="0">
                <a:solidFill>
                  <a:srgbClr val="262626"/>
                </a:solidFill>
                <a:latin typeface="Calibri"/>
              </a:rPr>
              <a:t>11</a:t>
            </a:r>
          </a:p>
        </p:txBody>
      </p:sp>
      <p:sp>
        <p:nvSpPr>
          <p:cNvPr id="20" name="Oval 19"/>
          <p:cNvSpPr/>
          <p:nvPr/>
        </p:nvSpPr>
        <p:spPr>
          <a:xfrm>
            <a:off x="6129893" y="3483281"/>
            <a:ext cx="329184" cy="329184"/>
          </a:xfrm>
          <a:prstGeom prst="ellipse">
            <a:avLst/>
          </a:prstGeom>
          <a:solidFill>
            <a:srgbClr val="FFFFFF"/>
          </a:solidFill>
          <a:ln w="22225">
            <a:solidFill>
              <a:srgbClr val="4F4F4F"/>
            </a:solidFill>
          </a:ln>
          <a:effectLst/>
        </p:spPr>
        <p:txBody>
          <a:bodyPr rtlCol="0" anchor="ctr" wrap="none" lIns="0" rIns="0" tIns="0" bIns="0">
            <a:noAutofit/>
          </a:bodyPr>
          <a:lstStyle/>
          <a:p>
            <a:pPr algn="ctr">
              <a:spcBef>
                <a:spcPts val="0"/>
              </a:spcBef>
              <a:spcAft>
                <a:spcPts val="0"/>
              </a:spcAft>
            </a:pPr>
            <a:r>
              <a:rPr lang="tr-TR" sz="1244" b="1" i="0">
                <a:solidFill>
                  <a:srgbClr val="262626"/>
                </a:solidFill>
                <a:latin typeface="Calibri"/>
              </a:rPr>
              <a:t>12</a:t>
            </a:r>
          </a:p>
        </p:txBody>
      </p:sp>
      <p:sp>
        <p:nvSpPr>
          <p:cNvPr id="21" name="Oval 20"/>
          <p:cNvSpPr/>
          <p:nvPr/>
        </p:nvSpPr>
        <p:spPr>
          <a:xfrm>
            <a:off x="5842837" y="3915428"/>
            <a:ext cx="329184" cy="329184"/>
          </a:xfrm>
          <a:prstGeom prst="ellipse">
            <a:avLst/>
          </a:prstGeom>
          <a:solidFill>
            <a:srgbClr val="FFFFFF"/>
          </a:solidFill>
          <a:ln w="22225">
            <a:solidFill>
              <a:srgbClr val="4F4F4F"/>
            </a:solidFill>
          </a:ln>
          <a:effectLst/>
        </p:spPr>
        <p:txBody>
          <a:bodyPr rtlCol="0" anchor="ctr" wrap="none" lIns="0" rIns="0" tIns="0" bIns="0">
            <a:noAutofit/>
          </a:bodyPr>
          <a:lstStyle/>
          <a:p>
            <a:pPr algn="ctr">
              <a:spcBef>
                <a:spcPts val="0"/>
              </a:spcBef>
              <a:spcAft>
                <a:spcPts val="0"/>
              </a:spcAft>
            </a:pPr>
            <a:r>
              <a:rPr lang="tr-TR" sz="1244" b="1" i="0">
                <a:solidFill>
                  <a:srgbClr val="262626"/>
                </a:solidFill>
                <a:latin typeface="Calibri"/>
              </a:rPr>
              <a:t>13</a:t>
            </a:r>
          </a:p>
        </p:txBody>
      </p:sp>
      <p:sp>
        <p:nvSpPr>
          <p:cNvPr id="22" name="Oval 21"/>
          <p:cNvSpPr/>
          <p:nvPr/>
        </p:nvSpPr>
        <p:spPr>
          <a:xfrm>
            <a:off x="6661062" y="4129634"/>
            <a:ext cx="329184" cy="329184"/>
          </a:xfrm>
          <a:prstGeom prst="ellipse">
            <a:avLst/>
          </a:prstGeom>
          <a:solidFill>
            <a:srgbClr val="FFFFFF"/>
          </a:solidFill>
          <a:ln w="22225">
            <a:solidFill>
              <a:srgbClr val="4F4F4F"/>
            </a:solidFill>
          </a:ln>
          <a:effectLst/>
        </p:spPr>
        <p:txBody>
          <a:bodyPr rtlCol="0" anchor="ctr" wrap="none" lIns="0" rIns="0" tIns="0" bIns="0">
            <a:noAutofit/>
          </a:bodyPr>
          <a:lstStyle/>
          <a:p>
            <a:pPr algn="ctr">
              <a:spcBef>
                <a:spcPts val="0"/>
              </a:spcBef>
              <a:spcAft>
                <a:spcPts val="0"/>
              </a:spcAft>
            </a:pPr>
            <a:r>
              <a:rPr lang="tr-TR" sz="1244" b="1" i="0">
                <a:solidFill>
                  <a:srgbClr val="262626"/>
                </a:solidFill>
                <a:latin typeface="Calibri"/>
              </a:rPr>
              <a:t>14</a:t>
            </a:r>
          </a:p>
        </p:txBody>
      </p:sp>
      <p:sp>
        <p:nvSpPr>
          <p:cNvPr id="23" name="TextBox 22"/>
          <p:cNvSpPr txBox="1"/>
          <p:nvPr/>
        </p:nvSpPr>
        <p:spPr>
          <a:xfrm>
            <a:off x="4392449" y="5074920"/>
            <a:ext cx="3763931" cy="274320"/>
          </a:xfrm>
          <a:prstGeom prst="rect">
            <a:avLst/>
          </a:prstGeom>
          <a:noFill/>
        </p:spPr>
        <p:txBody>
          <a:bodyPr wrap="square" anchor="t" lIns="73152" rIns="73152" tIns="36576" bIns="36576">
            <a:noAutofit/>
          </a:bodyPr>
          <a:lstStyle/>
          <a:p>
            <a:pPr algn="ctr">
              <a:spcBef>
                <a:spcPts val="0"/>
              </a:spcBef>
              <a:spcAft>
                <a:spcPts val="0"/>
              </a:spcAft>
            </a:pPr>
            <a:r>
              <a:rPr lang="tr-TR" sz="1200" b="0" i="1">
                <a:solidFill>
                  <a:srgbClr val="767676"/>
                </a:solidFill>
                <a:latin typeface="Calibri"/>
              </a:rPr>
              <a:t>Kitap s. 195</a:t>
            </a:r>
          </a:p>
        </p:txBody>
      </p:sp>
      <p:sp>
        <p:nvSpPr>
          <p:cNvPr id="24" name="Oval 23"/>
          <p:cNvSpPr/>
          <p:nvPr/>
        </p:nvSpPr>
        <p:spPr>
          <a:xfrm>
            <a:off x="8412412" y="1258606"/>
            <a:ext cx="274320" cy="274320"/>
          </a:xfrm>
          <a:prstGeom prst="ellipse">
            <a:avLst/>
          </a:prstGeom>
          <a:solidFill>
            <a:srgbClr val="FFFFFF"/>
          </a:solidFill>
          <a:ln w="22225">
            <a:solidFill>
              <a:srgbClr val="4F4F4F"/>
            </a:solidFill>
          </a:ln>
          <a:effectLst/>
        </p:spPr>
        <p:txBody>
          <a:bodyPr rtlCol="0" anchor="ctr" wrap="none" lIns="0" rIns="0" tIns="0" bIns="0">
            <a:noAutofit/>
          </a:bodyPr>
          <a:lstStyle/>
          <a:p>
            <a:pPr algn="ctr">
              <a:spcBef>
                <a:spcPts val="0"/>
              </a:spcBef>
              <a:spcAft>
                <a:spcPts val="0"/>
              </a:spcAft>
            </a:pPr>
            <a:r>
              <a:rPr lang="tr-TR" sz="1036" b="1" i="0">
                <a:solidFill>
                  <a:srgbClr val="262626"/>
                </a:solidFill>
                <a:latin typeface="Calibri"/>
              </a:rPr>
              <a:t>1</a:t>
            </a:r>
          </a:p>
        </p:txBody>
      </p:sp>
      <p:sp>
        <p:nvSpPr>
          <p:cNvPr id="25" name="TextBox 24"/>
          <p:cNvSpPr txBox="1"/>
          <p:nvPr/>
        </p:nvSpPr>
        <p:spPr>
          <a:xfrm>
            <a:off x="8750740" y="1216152"/>
            <a:ext cx="2938035" cy="359228"/>
          </a:xfrm>
          <a:prstGeom prst="rect">
            <a:avLst/>
          </a:prstGeom>
          <a:noFill/>
        </p:spPr>
        <p:txBody>
          <a:bodyPr wrap="square" anchor="ctr" lIns="73152" rIns="73152" tIns="36576" bIns="36576">
            <a:noAutofit/>
          </a:bodyPr>
          <a:lstStyle/>
          <a:p>
            <a:pPr algn="l">
              <a:spcBef>
                <a:spcPts val="0"/>
              </a:spcBef>
              <a:spcAft>
                <a:spcPts val="0"/>
              </a:spcAft>
            </a:pPr>
            <a:r>
              <a:rPr lang="tr-TR" sz="1500" b="1" i="0">
                <a:solidFill>
                  <a:srgbClr val="262626"/>
                </a:solidFill>
                <a:latin typeface="Calibri"/>
              </a:rPr>
              <a:t>Kanada</a:t>
            </a:r>
            <a:r>
              <a:rPr lang="tr-TR" sz="1500" b="0" i="0">
                <a:solidFill>
                  <a:srgbClr val="262626"/>
                </a:solidFill>
                <a:latin typeface="Calibri"/>
              </a:rPr>
              <a:t> · orman yangınları</a:t>
            </a:r>
          </a:p>
        </p:txBody>
      </p:sp>
      <p:sp>
        <p:nvSpPr>
          <p:cNvPr id="26" name="Oval 25"/>
          <p:cNvSpPr/>
          <p:nvPr/>
        </p:nvSpPr>
        <p:spPr>
          <a:xfrm>
            <a:off x="8412412" y="1617834"/>
            <a:ext cx="274320" cy="274320"/>
          </a:xfrm>
          <a:prstGeom prst="ellipse">
            <a:avLst/>
          </a:prstGeom>
          <a:solidFill>
            <a:srgbClr val="FFFFFF"/>
          </a:solidFill>
          <a:ln w="22225">
            <a:solidFill>
              <a:srgbClr val="4F4F4F"/>
            </a:solidFill>
          </a:ln>
          <a:effectLst/>
        </p:spPr>
        <p:txBody>
          <a:bodyPr rtlCol="0" anchor="ctr" wrap="none" lIns="0" rIns="0" tIns="0" bIns="0">
            <a:noAutofit/>
          </a:bodyPr>
          <a:lstStyle/>
          <a:p>
            <a:pPr algn="ctr">
              <a:spcBef>
                <a:spcPts val="0"/>
              </a:spcBef>
              <a:spcAft>
                <a:spcPts val="0"/>
              </a:spcAft>
            </a:pPr>
            <a:r>
              <a:rPr lang="tr-TR" sz="1036" b="1" i="0">
                <a:solidFill>
                  <a:srgbClr val="262626"/>
                </a:solidFill>
                <a:latin typeface="Calibri"/>
              </a:rPr>
              <a:t>2</a:t>
            </a:r>
          </a:p>
        </p:txBody>
      </p:sp>
      <p:sp>
        <p:nvSpPr>
          <p:cNvPr id="27" name="TextBox 26"/>
          <p:cNvSpPr txBox="1"/>
          <p:nvPr/>
        </p:nvSpPr>
        <p:spPr>
          <a:xfrm>
            <a:off x="8750740" y="1575380"/>
            <a:ext cx="2938035" cy="359228"/>
          </a:xfrm>
          <a:prstGeom prst="rect">
            <a:avLst/>
          </a:prstGeom>
          <a:noFill/>
        </p:spPr>
        <p:txBody>
          <a:bodyPr wrap="square" anchor="ctr" lIns="73152" rIns="73152" tIns="36576" bIns="36576">
            <a:noAutofit/>
          </a:bodyPr>
          <a:lstStyle/>
          <a:p>
            <a:pPr algn="l">
              <a:spcBef>
                <a:spcPts val="0"/>
              </a:spcBef>
              <a:spcAft>
                <a:spcPts val="0"/>
              </a:spcAft>
            </a:pPr>
            <a:r>
              <a:rPr lang="tr-TR" sz="1500" b="1" i="0">
                <a:solidFill>
                  <a:srgbClr val="262626"/>
                </a:solidFill>
                <a:latin typeface="Calibri"/>
              </a:rPr>
              <a:t>Hawaii-ABD</a:t>
            </a:r>
            <a:r>
              <a:rPr lang="tr-TR" sz="1500" b="0" i="0">
                <a:solidFill>
                  <a:srgbClr val="262626"/>
                </a:solidFill>
                <a:latin typeface="Calibri"/>
              </a:rPr>
              <a:t> · Maui yangını</a:t>
            </a:r>
          </a:p>
        </p:txBody>
      </p:sp>
      <p:sp>
        <p:nvSpPr>
          <p:cNvPr id="28" name="Oval 27"/>
          <p:cNvSpPr/>
          <p:nvPr/>
        </p:nvSpPr>
        <p:spPr>
          <a:xfrm>
            <a:off x="8412412" y="1977063"/>
            <a:ext cx="274320" cy="274320"/>
          </a:xfrm>
          <a:prstGeom prst="ellipse">
            <a:avLst/>
          </a:prstGeom>
          <a:solidFill>
            <a:srgbClr val="FFFFFF"/>
          </a:solidFill>
          <a:ln w="22225">
            <a:solidFill>
              <a:srgbClr val="4F4F4F"/>
            </a:solidFill>
          </a:ln>
          <a:effectLst/>
        </p:spPr>
        <p:txBody>
          <a:bodyPr rtlCol="0" anchor="ctr" wrap="none" lIns="0" rIns="0" tIns="0" bIns="0">
            <a:noAutofit/>
          </a:bodyPr>
          <a:lstStyle/>
          <a:p>
            <a:pPr algn="ctr">
              <a:spcBef>
                <a:spcPts val="0"/>
              </a:spcBef>
              <a:spcAft>
                <a:spcPts val="0"/>
              </a:spcAft>
            </a:pPr>
            <a:r>
              <a:rPr lang="tr-TR" sz="1036" b="1" i="0">
                <a:solidFill>
                  <a:srgbClr val="262626"/>
                </a:solidFill>
                <a:latin typeface="Calibri"/>
              </a:rPr>
              <a:t>3</a:t>
            </a:r>
          </a:p>
        </p:txBody>
      </p:sp>
      <p:sp>
        <p:nvSpPr>
          <p:cNvPr id="29" name="TextBox 28"/>
          <p:cNvSpPr txBox="1"/>
          <p:nvPr/>
        </p:nvSpPr>
        <p:spPr>
          <a:xfrm>
            <a:off x="8750740" y="1934609"/>
            <a:ext cx="2938035" cy="359228"/>
          </a:xfrm>
          <a:prstGeom prst="rect">
            <a:avLst/>
          </a:prstGeom>
          <a:noFill/>
        </p:spPr>
        <p:txBody>
          <a:bodyPr wrap="square" anchor="ctr" lIns="73152" rIns="73152" tIns="36576" bIns="36576">
            <a:noAutofit/>
          </a:bodyPr>
          <a:lstStyle/>
          <a:p>
            <a:pPr algn="l">
              <a:spcBef>
                <a:spcPts val="0"/>
              </a:spcBef>
              <a:spcAft>
                <a:spcPts val="0"/>
              </a:spcAft>
            </a:pPr>
            <a:r>
              <a:rPr lang="tr-TR" sz="1500" b="1" i="0">
                <a:solidFill>
                  <a:srgbClr val="262626"/>
                </a:solidFill>
                <a:latin typeface="Calibri"/>
              </a:rPr>
              <a:t>Fas</a:t>
            </a:r>
            <a:r>
              <a:rPr lang="tr-TR" sz="1500" b="0" i="0">
                <a:solidFill>
                  <a:srgbClr val="262626"/>
                </a:solidFill>
                <a:latin typeface="Calibri"/>
              </a:rPr>
              <a:t> · deprem</a:t>
            </a:r>
          </a:p>
        </p:txBody>
      </p:sp>
      <p:sp>
        <p:nvSpPr>
          <p:cNvPr id="30" name="Oval 29"/>
          <p:cNvSpPr/>
          <p:nvPr/>
        </p:nvSpPr>
        <p:spPr>
          <a:xfrm>
            <a:off x="8412412" y="2336292"/>
            <a:ext cx="274320" cy="274320"/>
          </a:xfrm>
          <a:prstGeom prst="ellipse">
            <a:avLst/>
          </a:prstGeom>
          <a:solidFill>
            <a:srgbClr val="FFFFFF"/>
          </a:solidFill>
          <a:ln w="22225">
            <a:solidFill>
              <a:srgbClr val="4F4F4F"/>
            </a:solidFill>
          </a:ln>
          <a:effectLst/>
        </p:spPr>
        <p:txBody>
          <a:bodyPr rtlCol="0" anchor="ctr" wrap="none" lIns="0" rIns="0" tIns="0" bIns="0">
            <a:noAutofit/>
          </a:bodyPr>
          <a:lstStyle/>
          <a:p>
            <a:pPr algn="ctr">
              <a:spcBef>
                <a:spcPts val="0"/>
              </a:spcBef>
              <a:spcAft>
                <a:spcPts val="0"/>
              </a:spcAft>
            </a:pPr>
            <a:r>
              <a:rPr lang="tr-TR" sz="1036" b="1" i="0">
                <a:solidFill>
                  <a:srgbClr val="262626"/>
                </a:solidFill>
                <a:latin typeface="Calibri"/>
              </a:rPr>
              <a:t>4</a:t>
            </a:r>
          </a:p>
        </p:txBody>
      </p:sp>
      <p:sp>
        <p:nvSpPr>
          <p:cNvPr id="31" name="TextBox 30"/>
          <p:cNvSpPr txBox="1"/>
          <p:nvPr/>
        </p:nvSpPr>
        <p:spPr>
          <a:xfrm>
            <a:off x="8750740" y="2293837"/>
            <a:ext cx="2938035" cy="359228"/>
          </a:xfrm>
          <a:prstGeom prst="rect">
            <a:avLst/>
          </a:prstGeom>
          <a:noFill/>
        </p:spPr>
        <p:txBody>
          <a:bodyPr wrap="square" anchor="ctr" lIns="73152" rIns="73152" tIns="36576" bIns="36576">
            <a:noAutofit/>
          </a:bodyPr>
          <a:lstStyle/>
          <a:p>
            <a:pPr algn="l">
              <a:spcBef>
                <a:spcPts val="0"/>
              </a:spcBef>
              <a:spcAft>
                <a:spcPts val="0"/>
              </a:spcAft>
            </a:pPr>
            <a:r>
              <a:rPr lang="tr-TR" sz="1500" b="1" i="0">
                <a:solidFill>
                  <a:srgbClr val="262626"/>
                </a:solidFill>
                <a:latin typeface="Calibri"/>
              </a:rPr>
              <a:t>Brezilya</a:t>
            </a:r>
            <a:r>
              <a:rPr lang="tr-TR" sz="1500" b="0" i="0">
                <a:solidFill>
                  <a:srgbClr val="262626"/>
                </a:solidFill>
                <a:latin typeface="Calibri"/>
              </a:rPr>
              <a:t> · kasırga ve sel</a:t>
            </a:r>
          </a:p>
        </p:txBody>
      </p:sp>
      <p:sp>
        <p:nvSpPr>
          <p:cNvPr id="32" name="Oval 31"/>
          <p:cNvSpPr/>
          <p:nvPr/>
        </p:nvSpPr>
        <p:spPr>
          <a:xfrm>
            <a:off x="8412412" y="2695520"/>
            <a:ext cx="274320" cy="274320"/>
          </a:xfrm>
          <a:prstGeom prst="ellipse">
            <a:avLst/>
          </a:prstGeom>
          <a:solidFill>
            <a:srgbClr val="FFFFFF"/>
          </a:solidFill>
          <a:ln w="22225">
            <a:solidFill>
              <a:srgbClr val="4F4F4F"/>
            </a:solidFill>
          </a:ln>
          <a:effectLst/>
        </p:spPr>
        <p:txBody>
          <a:bodyPr rtlCol="0" anchor="ctr" wrap="none" lIns="0" rIns="0" tIns="0" bIns="0">
            <a:noAutofit/>
          </a:bodyPr>
          <a:lstStyle/>
          <a:p>
            <a:pPr algn="ctr">
              <a:spcBef>
                <a:spcPts val="0"/>
              </a:spcBef>
              <a:spcAft>
                <a:spcPts val="0"/>
              </a:spcAft>
            </a:pPr>
            <a:r>
              <a:rPr lang="tr-TR" sz="1036" b="1" i="0">
                <a:solidFill>
                  <a:srgbClr val="262626"/>
                </a:solidFill>
                <a:latin typeface="Calibri"/>
              </a:rPr>
              <a:t>5</a:t>
            </a:r>
          </a:p>
        </p:txBody>
      </p:sp>
      <p:sp>
        <p:nvSpPr>
          <p:cNvPr id="33" name="TextBox 32"/>
          <p:cNvSpPr txBox="1"/>
          <p:nvPr/>
        </p:nvSpPr>
        <p:spPr>
          <a:xfrm>
            <a:off x="8750740" y="2653066"/>
            <a:ext cx="2938035" cy="359228"/>
          </a:xfrm>
          <a:prstGeom prst="rect">
            <a:avLst/>
          </a:prstGeom>
          <a:noFill/>
        </p:spPr>
        <p:txBody>
          <a:bodyPr wrap="square" anchor="ctr" lIns="73152" rIns="73152" tIns="36576" bIns="36576">
            <a:noAutofit/>
          </a:bodyPr>
          <a:lstStyle/>
          <a:p>
            <a:pPr algn="l">
              <a:spcBef>
                <a:spcPts val="0"/>
              </a:spcBef>
              <a:spcAft>
                <a:spcPts val="0"/>
              </a:spcAft>
            </a:pPr>
            <a:r>
              <a:rPr lang="tr-TR" sz="1500" b="1" i="0">
                <a:solidFill>
                  <a:srgbClr val="262626"/>
                </a:solidFill>
                <a:latin typeface="Calibri"/>
              </a:rPr>
              <a:t>Yunanistan</a:t>
            </a:r>
            <a:r>
              <a:rPr lang="tr-TR" sz="1500" b="0" i="0">
                <a:solidFill>
                  <a:srgbClr val="262626"/>
                </a:solidFill>
                <a:latin typeface="Calibri"/>
              </a:rPr>
              <a:t> · Mati orman yangını</a:t>
            </a:r>
          </a:p>
        </p:txBody>
      </p:sp>
      <p:sp>
        <p:nvSpPr>
          <p:cNvPr id="34" name="Oval 33"/>
          <p:cNvSpPr/>
          <p:nvPr/>
        </p:nvSpPr>
        <p:spPr>
          <a:xfrm>
            <a:off x="8412412" y="3054749"/>
            <a:ext cx="274320" cy="274320"/>
          </a:xfrm>
          <a:prstGeom prst="ellipse">
            <a:avLst/>
          </a:prstGeom>
          <a:solidFill>
            <a:srgbClr val="FFFFFF"/>
          </a:solidFill>
          <a:ln w="22225">
            <a:solidFill>
              <a:srgbClr val="4F4F4F"/>
            </a:solidFill>
          </a:ln>
          <a:effectLst/>
        </p:spPr>
        <p:txBody>
          <a:bodyPr rtlCol="0" anchor="ctr" wrap="none" lIns="0" rIns="0" tIns="0" bIns="0">
            <a:noAutofit/>
          </a:bodyPr>
          <a:lstStyle/>
          <a:p>
            <a:pPr algn="ctr">
              <a:spcBef>
                <a:spcPts val="0"/>
              </a:spcBef>
              <a:spcAft>
                <a:spcPts val="0"/>
              </a:spcAft>
            </a:pPr>
            <a:r>
              <a:rPr lang="tr-TR" sz="1036" b="1" i="0">
                <a:solidFill>
                  <a:srgbClr val="262626"/>
                </a:solidFill>
                <a:latin typeface="Calibri"/>
              </a:rPr>
              <a:t>6</a:t>
            </a:r>
          </a:p>
        </p:txBody>
      </p:sp>
      <p:sp>
        <p:nvSpPr>
          <p:cNvPr id="35" name="TextBox 34"/>
          <p:cNvSpPr txBox="1"/>
          <p:nvPr/>
        </p:nvSpPr>
        <p:spPr>
          <a:xfrm>
            <a:off x="8750740" y="3012294"/>
            <a:ext cx="2938035" cy="359228"/>
          </a:xfrm>
          <a:prstGeom prst="rect">
            <a:avLst/>
          </a:prstGeom>
          <a:noFill/>
        </p:spPr>
        <p:txBody>
          <a:bodyPr wrap="square" anchor="ctr" lIns="73152" rIns="73152" tIns="36576" bIns="36576">
            <a:noAutofit/>
          </a:bodyPr>
          <a:lstStyle/>
          <a:p>
            <a:pPr algn="l">
              <a:spcBef>
                <a:spcPts val="0"/>
              </a:spcBef>
              <a:spcAft>
                <a:spcPts val="0"/>
              </a:spcAft>
            </a:pPr>
            <a:r>
              <a:rPr lang="tr-TR" sz="1500" b="1" i="0">
                <a:solidFill>
                  <a:srgbClr val="262626"/>
                </a:solidFill>
                <a:latin typeface="Calibri"/>
              </a:rPr>
              <a:t>Yunanistan</a:t>
            </a:r>
            <a:r>
              <a:rPr lang="tr-TR" sz="1500" b="0" i="0">
                <a:solidFill>
                  <a:srgbClr val="262626"/>
                </a:solidFill>
                <a:latin typeface="Calibri"/>
              </a:rPr>
              <a:t> · Larisa tren kazası</a:t>
            </a:r>
          </a:p>
        </p:txBody>
      </p:sp>
      <p:sp>
        <p:nvSpPr>
          <p:cNvPr id="36" name="Oval 35"/>
          <p:cNvSpPr/>
          <p:nvPr/>
        </p:nvSpPr>
        <p:spPr>
          <a:xfrm>
            <a:off x="8412412" y="3413977"/>
            <a:ext cx="274320" cy="274320"/>
          </a:xfrm>
          <a:prstGeom prst="ellipse">
            <a:avLst/>
          </a:prstGeom>
          <a:solidFill>
            <a:srgbClr val="FFFFFF"/>
          </a:solidFill>
          <a:ln w="22225">
            <a:solidFill>
              <a:srgbClr val="4F4F4F"/>
            </a:solidFill>
          </a:ln>
          <a:effectLst/>
        </p:spPr>
        <p:txBody>
          <a:bodyPr rtlCol="0" anchor="ctr" wrap="none" lIns="0" rIns="0" tIns="0" bIns="0">
            <a:noAutofit/>
          </a:bodyPr>
          <a:lstStyle/>
          <a:p>
            <a:pPr algn="ctr">
              <a:spcBef>
                <a:spcPts val="0"/>
              </a:spcBef>
              <a:spcAft>
                <a:spcPts val="0"/>
              </a:spcAft>
            </a:pPr>
            <a:r>
              <a:rPr lang="tr-TR" sz="1036" b="1" i="0">
                <a:solidFill>
                  <a:srgbClr val="262626"/>
                </a:solidFill>
                <a:latin typeface="Calibri"/>
              </a:rPr>
              <a:t>7</a:t>
            </a:r>
          </a:p>
        </p:txBody>
      </p:sp>
      <p:sp>
        <p:nvSpPr>
          <p:cNvPr id="37" name="TextBox 36"/>
          <p:cNvSpPr txBox="1"/>
          <p:nvPr/>
        </p:nvSpPr>
        <p:spPr>
          <a:xfrm>
            <a:off x="8750740" y="3371523"/>
            <a:ext cx="2938035" cy="359228"/>
          </a:xfrm>
          <a:prstGeom prst="rect">
            <a:avLst/>
          </a:prstGeom>
          <a:noFill/>
        </p:spPr>
        <p:txBody>
          <a:bodyPr wrap="square" anchor="ctr" lIns="73152" rIns="73152" tIns="36576" bIns="36576">
            <a:noAutofit/>
          </a:bodyPr>
          <a:lstStyle/>
          <a:p>
            <a:pPr algn="l">
              <a:spcBef>
                <a:spcPts val="0"/>
              </a:spcBef>
              <a:spcAft>
                <a:spcPts val="0"/>
              </a:spcAft>
            </a:pPr>
            <a:r>
              <a:rPr lang="tr-TR" sz="1500" b="1" i="0">
                <a:solidFill>
                  <a:srgbClr val="262626"/>
                </a:solidFill>
                <a:latin typeface="Calibri"/>
              </a:rPr>
              <a:t>Rusya-Ukrayna</a:t>
            </a:r>
            <a:r>
              <a:rPr lang="tr-TR" sz="1500" b="0" i="0">
                <a:solidFill>
                  <a:srgbClr val="262626"/>
                </a:solidFill>
                <a:latin typeface="Calibri"/>
              </a:rPr>
              <a:t> · savaş</a:t>
            </a:r>
          </a:p>
        </p:txBody>
      </p:sp>
      <p:sp>
        <p:nvSpPr>
          <p:cNvPr id="38" name="Oval 37"/>
          <p:cNvSpPr/>
          <p:nvPr/>
        </p:nvSpPr>
        <p:spPr>
          <a:xfrm>
            <a:off x="8412412" y="3773206"/>
            <a:ext cx="274320" cy="274320"/>
          </a:xfrm>
          <a:prstGeom prst="ellipse">
            <a:avLst/>
          </a:prstGeom>
          <a:solidFill>
            <a:srgbClr val="FFFFFF"/>
          </a:solidFill>
          <a:ln w="22225">
            <a:solidFill>
              <a:srgbClr val="4F4F4F"/>
            </a:solidFill>
          </a:ln>
          <a:effectLst/>
        </p:spPr>
        <p:txBody>
          <a:bodyPr rtlCol="0" anchor="ctr" wrap="none" lIns="0" rIns="0" tIns="0" bIns="0">
            <a:noAutofit/>
          </a:bodyPr>
          <a:lstStyle/>
          <a:p>
            <a:pPr algn="ctr">
              <a:spcBef>
                <a:spcPts val="0"/>
              </a:spcBef>
              <a:spcAft>
                <a:spcPts val="0"/>
              </a:spcAft>
            </a:pPr>
            <a:r>
              <a:rPr lang="tr-TR" sz="1036" b="1" i="0">
                <a:solidFill>
                  <a:srgbClr val="262626"/>
                </a:solidFill>
                <a:latin typeface="Calibri"/>
              </a:rPr>
              <a:t>8</a:t>
            </a:r>
          </a:p>
        </p:txBody>
      </p:sp>
      <p:sp>
        <p:nvSpPr>
          <p:cNvPr id="39" name="TextBox 38"/>
          <p:cNvSpPr txBox="1"/>
          <p:nvPr/>
        </p:nvSpPr>
        <p:spPr>
          <a:xfrm>
            <a:off x="8750740" y="3730752"/>
            <a:ext cx="2938035" cy="359228"/>
          </a:xfrm>
          <a:prstGeom prst="rect">
            <a:avLst/>
          </a:prstGeom>
          <a:noFill/>
        </p:spPr>
        <p:txBody>
          <a:bodyPr wrap="square" anchor="ctr" lIns="73152" rIns="73152" tIns="36576" bIns="36576">
            <a:noAutofit/>
          </a:bodyPr>
          <a:lstStyle/>
          <a:p>
            <a:pPr algn="l">
              <a:spcBef>
                <a:spcPts val="0"/>
              </a:spcBef>
              <a:spcAft>
                <a:spcPts val="0"/>
              </a:spcAft>
            </a:pPr>
            <a:r>
              <a:rPr lang="tr-TR" sz="1400" b="1" i="0">
                <a:solidFill>
                  <a:srgbClr val="262626"/>
                </a:solidFill>
                <a:latin typeface="Calibri"/>
              </a:rPr>
              <a:t>Türkiye</a:t>
            </a:r>
            <a:r>
              <a:rPr lang="tr-TR" sz="1400" b="0" i="0">
                <a:solidFill>
                  <a:srgbClr val="262626"/>
                </a:solidFill>
                <a:latin typeface="Calibri"/>
              </a:rPr>
              <a:t> · Kahramanmaraş depremleri</a:t>
            </a:r>
          </a:p>
        </p:txBody>
      </p:sp>
      <p:sp>
        <p:nvSpPr>
          <p:cNvPr id="40" name="Oval 39"/>
          <p:cNvSpPr/>
          <p:nvPr/>
        </p:nvSpPr>
        <p:spPr>
          <a:xfrm>
            <a:off x="8412412" y="4132434"/>
            <a:ext cx="274320" cy="274320"/>
          </a:xfrm>
          <a:prstGeom prst="ellipse">
            <a:avLst/>
          </a:prstGeom>
          <a:solidFill>
            <a:srgbClr val="FFFFFF"/>
          </a:solidFill>
          <a:ln w="22225">
            <a:solidFill>
              <a:srgbClr val="4F4F4F"/>
            </a:solidFill>
          </a:ln>
          <a:effectLst/>
        </p:spPr>
        <p:txBody>
          <a:bodyPr rtlCol="0" anchor="ctr" wrap="none" lIns="0" rIns="0" tIns="0" bIns="0">
            <a:noAutofit/>
          </a:bodyPr>
          <a:lstStyle/>
          <a:p>
            <a:pPr algn="ctr">
              <a:spcBef>
                <a:spcPts val="0"/>
              </a:spcBef>
              <a:spcAft>
                <a:spcPts val="0"/>
              </a:spcAft>
            </a:pPr>
            <a:r>
              <a:rPr lang="tr-TR" sz="1036" b="1" i="0">
                <a:solidFill>
                  <a:srgbClr val="262626"/>
                </a:solidFill>
                <a:latin typeface="Calibri"/>
              </a:rPr>
              <a:t>9</a:t>
            </a:r>
          </a:p>
        </p:txBody>
      </p:sp>
      <p:sp>
        <p:nvSpPr>
          <p:cNvPr id="41" name="TextBox 40"/>
          <p:cNvSpPr txBox="1"/>
          <p:nvPr/>
        </p:nvSpPr>
        <p:spPr>
          <a:xfrm>
            <a:off x="8750740" y="4089980"/>
            <a:ext cx="2938035" cy="359228"/>
          </a:xfrm>
          <a:prstGeom prst="rect">
            <a:avLst/>
          </a:prstGeom>
          <a:noFill/>
        </p:spPr>
        <p:txBody>
          <a:bodyPr wrap="square" anchor="ctr" lIns="73152" rIns="73152" tIns="36576" bIns="36576">
            <a:noAutofit/>
          </a:bodyPr>
          <a:lstStyle/>
          <a:p>
            <a:pPr algn="l">
              <a:spcBef>
                <a:spcPts val="0"/>
              </a:spcBef>
              <a:spcAft>
                <a:spcPts val="0"/>
              </a:spcAft>
            </a:pPr>
            <a:r>
              <a:rPr lang="tr-TR" sz="1500" b="1" i="0">
                <a:solidFill>
                  <a:srgbClr val="262626"/>
                </a:solidFill>
                <a:latin typeface="Calibri"/>
              </a:rPr>
              <a:t>Libya</a:t>
            </a:r>
            <a:r>
              <a:rPr lang="tr-TR" sz="1500" b="0" i="0">
                <a:solidFill>
                  <a:srgbClr val="262626"/>
                </a:solidFill>
                <a:latin typeface="Calibri"/>
              </a:rPr>
              <a:t> · Daniel Fırtınası, sel</a:t>
            </a:r>
          </a:p>
        </p:txBody>
      </p:sp>
      <p:sp>
        <p:nvSpPr>
          <p:cNvPr id="42" name="Oval 41"/>
          <p:cNvSpPr/>
          <p:nvPr/>
        </p:nvSpPr>
        <p:spPr>
          <a:xfrm>
            <a:off x="8412412" y="4491663"/>
            <a:ext cx="274320" cy="274320"/>
          </a:xfrm>
          <a:prstGeom prst="ellipse">
            <a:avLst/>
          </a:prstGeom>
          <a:solidFill>
            <a:srgbClr val="FFFFFF"/>
          </a:solidFill>
          <a:ln w="22225">
            <a:solidFill>
              <a:srgbClr val="4F4F4F"/>
            </a:solidFill>
          </a:ln>
          <a:effectLst/>
        </p:spPr>
        <p:txBody>
          <a:bodyPr rtlCol="0" anchor="ctr" wrap="none" lIns="0" rIns="0" tIns="0" bIns="0">
            <a:noAutofit/>
          </a:bodyPr>
          <a:lstStyle/>
          <a:p>
            <a:pPr algn="ctr">
              <a:spcBef>
                <a:spcPts val="0"/>
              </a:spcBef>
              <a:spcAft>
                <a:spcPts val="0"/>
              </a:spcAft>
            </a:pPr>
            <a:r>
              <a:rPr lang="tr-TR" sz="1036" b="1" i="0">
                <a:solidFill>
                  <a:srgbClr val="262626"/>
                </a:solidFill>
                <a:latin typeface="Calibri"/>
              </a:rPr>
              <a:t>10</a:t>
            </a:r>
          </a:p>
        </p:txBody>
      </p:sp>
      <p:sp>
        <p:nvSpPr>
          <p:cNvPr id="43" name="TextBox 42"/>
          <p:cNvSpPr txBox="1"/>
          <p:nvPr/>
        </p:nvSpPr>
        <p:spPr>
          <a:xfrm>
            <a:off x="8750740" y="4449209"/>
            <a:ext cx="2938035" cy="359228"/>
          </a:xfrm>
          <a:prstGeom prst="rect">
            <a:avLst/>
          </a:prstGeom>
          <a:noFill/>
        </p:spPr>
        <p:txBody>
          <a:bodyPr wrap="square" anchor="ctr" lIns="73152" rIns="73152" tIns="36576" bIns="36576">
            <a:noAutofit/>
          </a:bodyPr>
          <a:lstStyle/>
          <a:p>
            <a:pPr algn="l">
              <a:spcBef>
                <a:spcPts val="0"/>
              </a:spcBef>
              <a:spcAft>
                <a:spcPts val="0"/>
              </a:spcAft>
            </a:pPr>
            <a:r>
              <a:rPr lang="tr-TR" sz="1500" b="1" i="0">
                <a:solidFill>
                  <a:srgbClr val="262626"/>
                </a:solidFill>
                <a:latin typeface="Calibri"/>
              </a:rPr>
              <a:t>Çin</a:t>
            </a:r>
            <a:r>
              <a:rPr lang="tr-TR" sz="1500" b="0" i="0">
                <a:solidFill>
                  <a:srgbClr val="262626"/>
                </a:solidFill>
                <a:latin typeface="Calibri"/>
              </a:rPr>
              <a:t> · maden kazası</a:t>
            </a:r>
          </a:p>
        </p:txBody>
      </p:sp>
      <p:sp>
        <p:nvSpPr>
          <p:cNvPr id="44" name="Oval 43"/>
          <p:cNvSpPr/>
          <p:nvPr/>
        </p:nvSpPr>
        <p:spPr>
          <a:xfrm>
            <a:off x="8412412" y="4850892"/>
            <a:ext cx="274320" cy="274320"/>
          </a:xfrm>
          <a:prstGeom prst="ellipse">
            <a:avLst/>
          </a:prstGeom>
          <a:solidFill>
            <a:srgbClr val="FFFFFF"/>
          </a:solidFill>
          <a:ln w="22225">
            <a:solidFill>
              <a:srgbClr val="4F4F4F"/>
            </a:solidFill>
          </a:ln>
          <a:effectLst/>
        </p:spPr>
        <p:txBody>
          <a:bodyPr rtlCol="0" anchor="ctr" wrap="none" lIns="0" rIns="0" tIns="0" bIns="0">
            <a:noAutofit/>
          </a:bodyPr>
          <a:lstStyle/>
          <a:p>
            <a:pPr algn="ctr">
              <a:spcBef>
                <a:spcPts val="0"/>
              </a:spcBef>
              <a:spcAft>
                <a:spcPts val="0"/>
              </a:spcAft>
            </a:pPr>
            <a:r>
              <a:rPr lang="tr-TR" sz="1036" b="1" i="0">
                <a:solidFill>
                  <a:srgbClr val="262626"/>
                </a:solidFill>
                <a:latin typeface="Calibri"/>
              </a:rPr>
              <a:t>11</a:t>
            </a:r>
          </a:p>
        </p:txBody>
      </p:sp>
      <p:sp>
        <p:nvSpPr>
          <p:cNvPr id="45" name="TextBox 44"/>
          <p:cNvSpPr txBox="1"/>
          <p:nvPr/>
        </p:nvSpPr>
        <p:spPr>
          <a:xfrm>
            <a:off x="8750740" y="4808437"/>
            <a:ext cx="2938035" cy="359228"/>
          </a:xfrm>
          <a:prstGeom prst="rect">
            <a:avLst/>
          </a:prstGeom>
          <a:noFill/>
        </p:spPr>
        <p:txBody>
          <a:bodyPr wrap="square" anchor="ctr" lIns="73152" rIns="73152" tIns="36576" bIns="36576">
            <a:noAutofit/>
          </a:bodyPr>
          <a:lstStyle/>
          <a:p>
            <a:pPr algn="l">
              <a:spcBef>
                <a:spcPts val="0"/>
              </a:spcBef>
              <a:spcAft>
                <a:spcPts val="0"/>
              </a:spcAft>
            </a:pPr>
            <a:r>
              <a:rPr lang="tr-TR" sz="1500" b="1" i="0">
                <a:solidFill>
                  <a:srgbClr val="262626"/>
                </a:solidFill>
                <a:latin typeface="Calibri"/>
              </a:rPr>
              <a:t>Japonya</a:t>
            </a:r>
            <a:r>
              <a:rPr lang="tr-TR" sz="1500" b="0" i="0">
                <a:solidFill>
                  <a:srgbClr val="262626"/>
                </a:solidFill>
                <a:latin typeface="Calibri"/>
              </a:rPr>
              <a:t> · tropik fırtına, sel</a:t>
            </a:r>
          </a:p>
        </p:txBody>
      </p:sp>
      <p:sp>
        <p:nvSpPr>
          <p:cNvPr id="46" name="Oval 45"/>
          <p:cNvSpPr/>
          <p:nvPr/>
        </p:nvSpPr>
        <p:spPr>
          <a:xfrm>
            <a:off x="8412412" y="5210120"/>
            <a:ext cx="274320" cy="274320"/>
          </a:xfrm>
          <a:prstGeom prst="ellipse">
            <a:avLst/>
          </a:prstGeom>
          <a:solidFill>
            <a:srgbClr val="FFFFFF"/>
          </a:solidFill>
          <a:ln w="22225">
            <a:solidFill>
              <a:srgbClr val="4F4F4F"/>
            </a:solidFill>
          </a:ln>
          <a:effectLst/>
        </p:spPr>
        <p:txBody>
          <a:bodyPr rtlCol="0" anchor="ctr" wrap="none" lIns="0" rIns="0" tIns="0" bIns="0">
            <a:noAutofit/>
          </a:bodyPr>
          <a:lstStyle/>
          <a:p>
            <a:pPr algn="ctr">
              <a:spcBef>
                <a:spcPts val="0"/>
              </a:spcBef>
              <a:spcAft>
                <a:spcPts val="0"/>
              </a:spcAft>
            </a:pPr>
            <a:r>
              <a:rPr lang="tr-TR" sz="1036" b="1" i="0">
                <a:solidFill>
                  <a:srgbClr val="262626"/>
                </a:solidFill>
                <a:latin typeface="Calibri"/>
              </a:rPr>
              <a:t>12</a:t>
            </a:r>
          </a:p>
        </p:txBody>
      </p:sp>
      <p:sp>
        <p:nvSpPr>
          <p:cNvPr id="47" name="TextBox 46"/>
          <p:cNvSpPr txBox="1"/>
          <p:nvPr/>
        </p:nvSpPr>
        <p:spPr>
          <a:xfrm>
            <a:off x="8750740" y="5167666"/>
            <a:ext cx="2938035" cy="359228"/>
          </a:xfrm>
          <a:prstGeom prst="rect">
            <a:avLst/>
          </a:prstGeom>
          <a:noFill/>
        </p:spPr>
        <p:txBody>
          <a:bodyPr wrap="square" anchor="ctr" lIns="73152" rIns="73152" tIns="36576" bIns="36576">
            <a:noAutofit/>
          </a:bodyPr>
          <a:lstStyle/>
          <a:p>
            <a:pPr algn="l">
              <a:spcBef>
                <a:spcPts val="0"/>
              </a:spcBef>
              <a:spcAft>
                <a:spcPts val="0"/>
              </a:spcAft>
            </a:pPr>
            <a:r>
              <a:rPr lang="tr-TR" sz="1500" b="1" i="0">
                <a:solidFill>
                  <a:srgbClr val="262626"/>
                </a:solidFill>
                <a:latin typeface="Calibri"/>
              </a:rPr>
              <a:t>Hindistan</a:t>
            </a:r>
            <a:r>
              <a:rPr lang="tr-TR" sz="1500" b="0" i="0">
                <a:solidFill>
                  <a:srgbClr val="262626"/>
                </a:solidFill>
                <a:latin typeface="Calibri"/>
              </a:rPr>
              <a:t> · Assam seli</a:t>
            </a:r>
          </a:p>
        </p:txBody>
      </p:sp>
      <p:sp>
        <p:nvSpPr>
          <p:cNvPr id="48" name="Oval 47"/>
          <p:cNvSpPr/>
          <p:nvPr/>
        </p:nvSpPr>
        <p:spPr>
          <a:xfrm>
            <a:off x="8412412" y="5569349"/>
            <a:ext cx="274320" cy="274320"/>
          </a:xfrm>
          <a:prstGeom prst="ellipse">
            <a:avLst/>
          </a:prstGeom>
          <a:solidFill>
            <a:srgbClr val="FFFFFF"/>
          </a:solidFill>
          <a:ln w="22225">
            <a:solidFill>
              <a:srgbClr val="4F4F4F"/>
            </a:solidFill>
          </a:ln>
          <a:effectLst/>
        </p:spPr>
        <p:txBody>
          <a:bodyPr rtlCol="0" anchor="ctr" wrap="none" lIns="0" rIns="0" tIns="0" bIns="0">
            <a:noAutofit/>
          </a:bodyPr>
          <a:lstStyle/>
          <a:p>
            <a:pPr algn="ctr">
              <a:spcBef>
                <a:spcPts val="0"/>
              </a:spcBef>
              <a:spcAft>
                <a:spcPts val="0"/>
              </a:spcAft>
            </a:pPr>
            <a:r>
              <a:rPr lang="tr-TR" sz="1036" b="1" i="0">
                <a:solidFill>
                  <a:srgbClr val="262626"/>
                </a:solidFill>
                <a:latin typeface="Calibri"/>
              </a:rPr>
              <a:t>13</a:t>
            </a:r>
          </a:p>
        </p:txBody>
      </p:sp>
      <p:sp>
        <p:nvSpPr>
          <p:cNvPr id="49" name="TextBox 48"/>
          <p:cNvSpPr txBox="1"/>
          <p:nvPr/>
        </p:nvSpPr>
        <p:spPr>
          <a:xfrm>
            <a:off x="8750740" y="5526894"/>
            <a:ext cx="2938035" cy="359228"/>
          </a:xfrm>
          <a:prstGeom prst="rect">
            <a:avLst/>
          </a:prstGeom>
          <a:noFill/>
        </p:spPr>
        <p:txBody>
          <a:bodyPr wrap="square" anchor="ctr" lIns="73152" rIns="73152" tIns="36576" bIns="36576">
            <a:noAutofit/>
          </a:bodyPr>
          <a:lstStyle/>
          <a:p>
            <a:pPr algn="l">
              <a:spcBef>
                <a:spcPts val="0"/>
              </a:spcBef>
              <a:spcAft>
                <a:spcPts val="0"/>
              </a:spcAft>
            </a:pPr>
            <a:r>
              <a:rPr lang="tr-TR" sz="1500" b="1" i="0">
                <a:solidFill>
                  <a:srgbClr val="262626"/>
                </a:solidFill>
                <a:latin typeface="Calibri"/>
              </a:rPr>
              <a:t>Malavi</a:t>
            </a:r>
            <a:r>
              <a:rPr lang="tr-TR" sz="1500" b="0" i="0">
                <a:solidFill>
                  <a:srgbClr val="262626"/>
                </a:solidFill>
                <a:latin typeface="Calibri"/>
              </a:rPr>
              <a:t> · Freddy Kasırgası, sel</a:t>
            </a:r>
          </a:p>
        </p:txBody>
      </p:sp>
      <p:sp>
        <p:nvSpPr>
          <p:cNvPr id="50" name="Oval 49"/>
          <p:cNvSpPr/>
          <p:nvPr/>
        </p:nvSpPr>
        <p:spPr>
          <a:xfrm>
            <a:off x="8412412" y="5928577"/>
            <a:ext cx="274320" cy="274320"/>
          </a:xfrm>
          <a:prstGeom prst="ellipse">
            <a:avLst/>
          </a:prstGeom>
          <a:solidFill>
            <a:srgbClr val="FFFFFF"/>
          </a:solidFill>
          <a:ln w="22225">
            <a:solidFill>
              <a:srgbClr val="4F4F4F"/>
            </a:solidFill>
          </a:ln>
          <a:effectLst/>
        </p:spPr>
        <p:txBody>
          <a:bodyPr rtlCol="0" anchor="ctr" wrap="none" lIns="0" rIns="0" tIns="0" bIns="0">
            <a:noAutofit/>
          </a:bodyPr>
          <a:lstStyle/>
          <a:p>
            <a:pPr algn="ctr">
              <a:spcBef>
                <a:spcPts val="0"/>
              </a:spcBef>
              <a:spcAft>
                <a:spcPts val="0"/>
              </a:spcAft>
            </a:pPr>
            <a:r>
              <a:rPr lang="tr-TR" sz="1036" b="1" i="0">
                <a:solidFill>
                  <a:srgbClr val="262626"/>
                </a:solidFill>
                <a:latin typeface="Calibri"/>
              </a:rPr>
              <a:t>14</a:t>
            </a:r>
          </a:p>
        </p:txBody>
      </p:sp>
      <p:sp>
        <p:nvSpPr>
          <p:cNvPr id="51" name="TextBox 50"/>
          <p:cNvSpPr txBox="1"/>
          <p:nvPr/>
        </p:nvSpPr>
        <p:spPr>
          <a:xfrm>
            <a:off x="8750740" y="5886123"/>
            <a:ext cx="2938035" cy="359228"/>
          </a:xfrm>
          <a:prstGeom prst="rect">
            <a:avLst/>
          </a:prstGeom>
          <a:noFill/>
        </p:spPr>
        <p:txBody>
          <a:bodyPr wrap="square" anchor="ctr" lIns="73152" rIns="73152" tIns="36576" bIns="36576">
            <a:noAutofit/>
          </a:bodyPr>
          <a:lstStyle/>
          <a:p>
            <a:pPr algn="l">
              <a:spcBef>
                <a:spcPts val="0"/>
              </a:spcBef>
              <a:spcAft>
                <a:spcPts val="0"/>
              </a:spcAft>
            </a:pPr>
            <a:r>
              <a:rPr lang="tr-TR" sz="1400" b="1" i="0">
                <a:solidFill>
                  <a:srgbClr val="262626"/>
                </a:solidFill>
                <a:latin typeface="Calibri"/>
              </a:rPr>
              <a:t>Yeni Zelanda</a:t>
            </a:r>
            <a:r>
              <a:rPr lang="tr-TR" sz="1400" b="0" i="0">
                <a:solidFill>
                  <a:srgbClr val="262626"/>
                </a:solidFill>
                <a:latin typeface="Calibri"/>
              </a:rPr>
              <a:t> · Gabrielle Kasırgası, sel</a:t>
            </a:r>
          </a:p>
        </p:txBody>
      </p:sp>
      <p:sp>
        <p:nvSpPr>
          <p:cNvPr id="52" name="Rounded Rectangle 51"/>
          <p:cNvSpPr/>
          <p:nvPr/>
        </p:nvSpPr>
        <p:spPr>
          <a:xfrm>
            <a:off x="502920" y="5367528"/>
            <a:ext cx="7653460" cy="905256"/>
          </a:xfrm>
          <a:prstGeom prst="roundRect">
            <a:avLst>
              <a:gd name="adj" fmla="val 8000"/>
            </a:avLst>
          </a:prstGeom>
          <a:solidFill>
            <a:srgbClr val="FFF3D1"/>
          </a:solidFill>
          <a:ln>
            <a:noFill/>
          </a:ln>
          <a:effectLst/>
        </p:spPr>
        <p:txBody>
          <a:bodyPr rtlCol="0" anchor="ctr" wrap="square" lIns="137160" rIns="137160" tIns="73152" bIns="73152">
            <a:noAutofit/>
          </a:bodyPr>
          <a:lstStyle/>
          <a:p>
            <a:pPr algn="l">
              <a:spcBef>
                <a:spcPts val="0"/>
              </a:spcBef>
              <a:spcAft>
                <a:spcPts val="0"/>
              </a:spcAft>
            </a:pPr>
            <a:r>
              <a:rPr lang="tr-TR" sz="1600" b="0" i="0">
                <a:solidFill>
                  <a:srgbClr val="262626"/>
                </a:solidFill>
                <a:latin typeface="Calibri"/>
              </a:rPr>
              <a:t>Görev (2 dk): her numaranın türünü ağaç şemanızın dalına yazın. İpucu: kaynağı yer kabuğu mu, atmosfer mi, insan faaliyeti mi?</a:t>
            </a:r>
          </a:p>
        </p:txBody>
      </p:sp>
      <p:sp>
        <p:nvSpPr>
          <p:cNvPr id="53" name="TextBox 5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54" name="Rounded Rectangle 5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194-195</a:t>
            </a:r>
          </a:p>
        </p:txBody>
      </p:sp>
      <p:sp>
        <p:nvSpPr>
          <p:cNvPr id="55" name="TextBox 5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76 / 250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2023'te dünyada bazı afetler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pic>
        <p:nvPicPr>
          <p:cNvPr id="6" name="Picture 5" descr="h31_h62_s194.jpg"/>
          <p:cNvPicPr>
            <a:picLocks noChangeAspect="1"/>
          </p:cNvPicPr>
          <p:nvPr/>
        </p:nvPicPr>
        <p:blipFill>
          <a:blip r:embed="rId3"/>
          <a:stretch>
            <a:fillRect/>
          </a:stretch>
        </p:blipFill>
        <p:spPr>
          <a:xfrm>
            <a:off x="503245" y="1216152"/>
            <a:ext cx="3779149" cy="3840480"/>
          </a:xfrm>
          <a:prstGeom prst="rect">
            <a:avLst/>
          </a:prstGeom>
          <a:ln w="9525">
            <a:solidFill>
              <a:srgbClr val="D9D9D9"/>
            </a:solidFill>
          </a:ln>
        </p:spPr>
      </p:pic>
      <p:sp>
        <p:nvSpPr>
          <p:cNvPr id="7" name="Oval 6"/>
          <p:cNvSpPr/>
          <p:nvPr/>
        </p:nvSpPr>
        <p:spPr>
          <a:xfrm>
            <a:off x="1217405" y="2136304"/>
            <a:ext cx="329184" cy="329184"/>
          </a:xfrm>
          <a:prstGeom prst="ellipse">
            <a:avLst/>
          </a:prstGeom>
          <a:solidFill>
            <a:srgbClr val="2C6696"/>
          </a:solidFill>
          <a:ln w="22225">
            <a:solidFill>
              <a:srgbClr val="FFFFFF"/>
            </a:solidFill>
          </a:ln>
          <a:effectLst/>
        </p:spPr>
        <p:txBody>
          <a:bodyPr rtlCol="0" anchor="ctr" wrap="none" lIns="0" rIns="0" tIns="0" bIns="0">
            <a:noAutofit/>
          </a:bodyPr>
          <a:lstStyle/>
          <a:p>
            <a:pPr algn="ctr">
              <a:spcBef>
                <a:spcPts val="0"/>
              </a:spcBef>
              <a:spcAft>
                <a:spcPts val="0"/>
              </a:spcAft>
            </a:pPr>
            <a:r>
              <a:rPr lang="tr-TR" sz="1244" b="1" i="0">
                <a:solidFill>
                  <a:srgbClr val="FFFFFF"/>
                </a:solidFill>
                <a:latin typeface="Calibri"/>
              </a:rPr>
              <a:t>1</a:t>
            </a:r>
          </a:p>
        </p:txBody>
      </p:sp>
      <p:sp>
        <p:nvSpPr>
          <p:cNvPr id="8" name="Oval 7"/>
          <p:cNvSpPr/>
          <p:nvPr/>
        </p:nvSpPr>
        <p:spPr>
          <a:xfrm>
            <a:off x="1563679" y="2811702"/>
            <a:ext cx="329184" cy="329184"/>
          </a:xfrm>
          <a:prstGeom prst="ellipse">
            <a:avLst/>
          </a:prstGeom>
          <a:solidFill>
            <a:srgbClr val="2C6696"/>
          </a:solidFill>
          <a:ln w="22225">
            <a:solidFill>
              <a:srgbClr val="FFFFFF"/>
            </a:solidFill>
          </a:ln>
          <a:effectLst/>
        </p:spPr>
        <p:txBody>
          <a:bodyPr rtlCol="0" anchor="ctr" wrap="none" lIns="0" rIns="0" tIns="0" bIns="0">
            <a:noAutofit/>
          </a:bodyPr>
          <a:lstStyle/>
          <a:p>
            <a:pPr algn="ctr">
              <a:spcBef>
                <a:spcPts val="0"/>
              </a:spcBef>
              <a:spcAft>
                <a:spcPts val="0"/>
              </a:spcAft>
            </a:pPr>
            <a:r>
              <a:rPr lang="tr-TR" sz="1244" b="1" i="0">
                <a:solidFill>
                  <a:srgbClr val="FFFFFF"/>
                </a:solidFill>
                <a:latin typeface="Calibri"/>
              </a:rPr>
              <a:t>2</a:t>
            </a:r>
          </a:p>
        </p:txBody>
      </p:sp>
      <p:sp>
        <p:nvSpPr>
          <p:cNvPr id="9" name="Oval 8"/>
          <p:cNvSpPr/>
          <p:nvPr/>
        </p:nvSpPr>
        <p:spPr>
          <a:xfrm>
            <a:off x="3385119" y="2628733"/>
            <a:ext cx="329184" cy="329184"/>
          </a:xfrm>
          <a:prstGeom prst="ellipse">
            <a:avLst/>
          </a:prstGeom>
          <a:solidFill>
            <a:srgbClr val="8B5A2B"/>
          </a:solidFill>
          <a:ln w="22225">
            <a:solidFill>
              <a:srgbClr val="FFFFFF"/>
            </a:solidFill>
          </a:ln>
          <a:effectLst/>
        </p:spPr>
        <p:txBody>
          <a:bodyPr rtlCol="0" anchor="ctr" wrap="none" lIns="0" rIns="0" tIns="0" bIns="0">
            <a:noAutofit/>
          </a:bodyPr>
          <a:lstStyle/>
          <a:p>
            <a:pPr algn="ctr">
              <a:spcBef>
                <a:spcPts val="0"/>
              </a:spcBef>
              <a:spcAft>
                <a:spcPts val="0"/>
              </a:spcAft>
            </a:pPr>
            <a:r>
              <a:rPr lang="tr-TR" sz="1244" b="1" i="0">
                <a:solidFill>
                  <a:srgbClr val="FFFFFF"/>
                </a:solidFill>
                <a:latin typeface="Calibri"/>
              </a:rPr>
              <a:t>3</a:t>
            </a:r>
          </a:p>
        </p:txBody>
      </p:sp>
      <p:sp>
        <p:nvSpPr>
          <p:cNvPr id="10" name="Oval 9"/>
          <p:cNvSpPr/>
          <p:nvPr/>
        </p:nvSpPr>
        <p:spPr>
          <a:xfrm>
            <a:off x="3685192" y="3641596"/>
            <a:ext cx="329184" cy="329184"/>
          </a:xfrm>
          <a:prstGeom prst="ellipse">
            <a:avLst/>
          </a:prstGeom>
          <a:solidFill>
            <a:srgbClr val="2C6696"/>
          </a:solidFill>
          <a:ln w="22225">
            <a:solidFill>
              <a:srgbClr val="FFFFFF"/>
            </a:solidFill>
          </a:ln>
          <a:effectLst/>
        </p:spPr>
        <p:txBody>
          <a:bodyPr rtlCol="0" anchor="ctr" wrap="none" lIns="0" rIns="0" tIns="0" bIns="0">
            <a:noAutofit/>
          </a:bodyPr>
          <a:lstStyle/>
          <a:p>
            <a:pPr algn="ctr">
              <a:spcBef>
                <a:spcPts val="0"/>
              </a:spcBef>
              <a:spcAft>
                <a:spcPts val="0"/>
              </a:spcAft>
            </a:pPr>
            <a:r>
              <a:rPr lang="tr-TR" sz="1244" b="1" i="0">
                <a:solidFill>
                  <a:srgbClr val="FFFFFF"/>
                </a:solidFill>
                <a:latin typeface="Calibri"/>
              </a:rPr>
              <a:t>4</a:t>
            </a:r>
          </a:p>
        </p:txBody>
      </p:sp>
      <p:sp>
        <p:nvSpPr>
          <p:cNvPr id="11" name="TextBox 10"/>
          <p:cNvSpPr txBox="1"/>
          <p:nvPr/>
        </p:nvSpPr>
        <p:spPr>
          <a:xfrm>
            <a:off x="502920" y="5074920"/>
            <a:ext cx="3779801" cy="274320"/>
          </a:xfrm>
          <a:prstGeom prst="rect">
            <a:avLst/>
          </a:prstGeom>
          <a:noFill/>
        </p:spPr>
        <p:txBody>
          <a:bodyPr wrap="square" anchor="t" lIns="73152" rIns="73152" tIns="36576" bIns="36576">
            <a:noAutofit/>
          </a:bodyPr>
          <a:lstStyle/>
          <a:p>
            <a:pPr algn="ctr">
              <a:spcBef>
                <a:spcPts val="0"/>
              </a:spcBef>
              <a:spcAft>
                <a:spcPts val="0"/>
              </a:spcAft>
            </a:pPr>
            <a:r>
              <a:rPr lang="tr-TR" sz="1200" b="0" i="1">
                <a:solidFill>
                  <a:srgbClr val="767676"/>
                </a:solidFill>
                <a:latin typeface="Calibri"/>
              </a:rPr>
              <a:t>Kitap s. 194</a:t>
            </a:r>
          </a:p>
        </p:txBody>
      </p:sp>
      <p:pic>
        <p:nvPicPr>
          <p:cNvPr id="12" name="Picture 11" descr="h31_h62_s195.jpg"/>
          <p:cNvPicPr>
            <a:picLocks noChangeAspect="1"/>
          </p:cNvPicPr>
          <p:nvPr/>
        </p:nvPicPr>
        <p:blipFill>
          <a:blip r:embed="rId4"/>
          <a:stretch>
            <a:fillRect/>
          </a:stretch>
        </p:blipFill>
        <p:spPr>
          <a:xfrm>
            <a:off x="4392449" y="1216465"/>
            <a:ext cx="3763931" cy="3839852"/>
          </a:xfrm>
          <a:prstGeom prst="rect">
            <a:avLst/>
          </a:prstGeom>
          <a:ln w="9525">
            <a:solidFill>
              <a:srgbClr val="D9D9D9"/>
            </a:solidFill>
          </a:ln>
        </p:spPr>
      </p:pic>
      <p:sp>
        <p:nvSpPr>
          <p:cNvPr id="13" name="Oval 12"/>
          <p:cNvSpPr/>
          <p:nvPr/>
        </p:nvSpPr>
        <p:spPr>
          <a:xfrm>
            <a:off x="4548986" y="1204011"/>
            <a:ext cx="329184" cy="329184"/>
          </a:xfrm>
          <a:prstGeom prst="ellipse">
            <a:avLst/>
          </a:prstGeom>
          <a:solidFill>
            <a:srgbClr val="2C6696"/>
          </a:solidFill>
          <a:ln w="22225">
            <a:solidFill>
              <a:srgbClr val="FFFFFF"/>
            </a:solidFill>
          </a:ln>
          <a:effectLst/>
        </p:spPr>
        <p:txBody>
          <a:bodyPr rtlCol="0" anchor="ctr" wrap="none" lIns="0" rIns="0" tIns="0" bIns="0">
            <a:noAutofit/>
          </a:bodyPr>
          <a:lstStyle/>
          <a:p>
            <a:pPr algn="ctr">
              <a:spcBef>
                <a:spcPts val="0"/>
              </a:spcBef>
              <a:spcAft>
                <a:spcPts val="0"/>
              </a:spcAft>
            </a:pPr>
            <a:r>
              <a:rPr lang="tr-TR" sz="1244" b="1" i="0">
                <a:solidFill>
                  <a:srgbClr val="FFFFFF"/>
                </a:solidFill>
                <a:latin typeface="Calibri"/>
              </a:rPr>
              <a:t>5</a:t>
            </a:r>
          </a:p>
        </p:txBody>
      </p:sp>
      <p:sp>
        <p:nvSpPr>
          <p:cNvPr id="14" name="Oval 13"/>
          <p:cNvSpPr/>
          <p:nvPr/>
        </p:nvSpPr>
        <p:spPr>
          <a:xfrm>
            <a:off x="5233252" y="1571289"/>
            <a:ext cx="329184" cy="329184"/>
          </a:xfrm>
          <a:prstGeom prst="ellipse">
            <a:avLst/>
          </a:prstGeom>
          <a:solidFill>
            <a:srgbClr val="5A6470"/>
          </a:solidFill>
          <a:ln w="22225">
            <a:solidFill>
              <a:srgbClr val="FFFFFF"/>
            </a:solidFill>
          </a:ln>
          <a:effectLst/>
        </p:spPr>
        <p:txBody>
          <a:bodyPr rtlCol="0" anchor="ctr" wrap="none" lIns="0" rIns="0" tIns="0" bIns="0">
            <a:noAutofit/>
          </a:bodyPr>
          <a:lstStyle/>
          <a:p>
            <a:pPr algn="ctr">
              <a:spcBef>
                <a:spcPts val="0"/>
              </a:spcBef>
              <a:spcAft>
                <a:spcPts val="0"/>
              </a:spcAft>
            </a:pPr>
            <a:r>
              <a:rPr lang="tr-TR" sz="1244" b="1" i="0">
                <a:solidFill>
                  <a:srgbClr val="FFFFFF"/>
                </a:solidFill>
                <a:latin typeface="Calibri"/>
              </a:rPr>
              <a:t>6</a:t>
            </a:r>
          </a:p>
        </p:txBody>
      </p:sp>
      <p:sp>
        <p:nvSpPr>
          <p:cNvPr id="15" name="Oval 14"/>
          <p:cNvSpPr/>
          <p:nvPr/>
        </p:nvSpPr>
        <p:spPr>
          <a:xfrm>
            <a:off x="5973062" y="2167707"/>
            <a:ext cx="329184" cy="329184"/>
          </a:xfrm>
          <a:prstGeom prst="ellipse">
            <a:avLst/>
          </a:prstGeom>
          <a:solidFill>
            <a:srgbClr val="7A4EA0"/>
          </a:solidFill>
          <a:ln w="22225">
            <a:solidFill>
              <a:srgbClr val="FFFFFF"/>
            </a:solidFill>
          </a:ln>
          <a:effectLst/>
        </p:spPr>
        <p:txBody>
          <a:bodyPr rtlCol="0" anchor="ctr" wrap="none" lIns="0" rIns="0" tIns="0" bIns="0">
            <a:noAutofit/>
          </a:bodyPr>
          <a:lstStyle/>
          <a:p>
            <a:pPr algn="ctr">
              <a:spcBef>
                <a:spcPts val="0"/>
              </a:spcBef>
              <a:spcAft>
                <a:spcPts val="0"/>
              </a:spcAft>
            </a:pPr>
            <a:r>
              <a:rPr lang="tr-TR" sz="1244" b="1" i="0">
                <a:solidFill>
                  <a:srgbClr val="FFFFFF"/>
                </a:solidFill>
                <a:latin typeface="Calibri"/>
              </a:rPr>
              <a:t>7</a:t>
            </a:r>
          </a:p>
        </p:txBody>
      </p:sp>
      <p:sp>
        <p:nvSpPr>
          <p:cNvPr id="16" name="Oval 15"/>
          <p:cNvSpPr/>
          <p:nvPr/>
        </p:nvSpPr>
        <p:spPr>
          <a:xfrm>
            <a:off x="5536644" y="2951731"/>
            <a:ext cx="329184" cy="329184"/>
          </a:xfrm>
          <a:prstGeom prst="ellipse">
            <a:avLst/>
          </a:prstGeom>
          <a:solidFill>
            <a:srgbClr val="8B5A2B"/>
          </a:solidFill>
          <a:ln w="22225">
            <a:solidFill>
              <a:srgbClr val="FFFFFF"/>
            </a:solidFill>
          </a:ln>
          <a:effectLst/>
        </p:spPr>
        <p:txBody>
          <a:bodyPr rtlCol="0" anchor="ctr" wrap="none" lIns="0" rIns="0" tIns="0" bIns="0">
            <a:noAutofit/>
          </a:bodyPr>
          <a:lstStyle/>
          <a:p>
            <a:pPr algn="ctr">
              <a:spcBef>
                <a:spcPts val="0"/>
              </a:spcBef>
              <a:spcAft>
                <a:spcPts val="0"/>
              </a:spcAft>
            </a:pPr>
            <a:r>
              <a:rPr lang="tr-TR" sz="1244" b="1" i="0">
                <a:solidFill>
                  <a:srgbClr val="FFFFFF"/>
                </a:solidFill>
                <a:latin typeface="Calibri"/>
              </a:rPr>
              <a:t>8</a:t>
            </a:r>
          </a:p>
        </p:txBody>
      </p:sp>
      <p:sp>
        <p:nvSpPr>
          <p:cNvPr id="17" name="Oval 16"/>
          <p:cNvSpPr/>
          <p:nvPr/>
        </p:nvSpPr>
        <p:spPr>
          <a:xfrm>
            <a:off x="4675944" y="4291573"/>
            <a:ext cx="329184" cy="329184"/>
          </a:xfrm>
          <a:prstGeom prst="ellipse">
            <a:avLst/>
          </a:prstGeom>
          <a:solidFill>
            <a:srgbClr val="2C6696"/>
          </a:solidFill>
          <a:ln w="22225">
            <a:solidFill>
              <a:srgbClr val="FFFFFF"/>
            </a:solidFill>
          </a:ln>
          <a:effectLst/>
        </p:spPr>
        <p:txBody>
          <a:bodyPr rtlCol="0" anchor="ctr" wrap="none" lIns="0" rIns="0" tIns="0" bIns="0">
            <a:noAutofit/>
          </a:bodyPr>
          <a:lstStyle/>
          <a:p>
            <a:pPr algn="ctr">
              <a:spcBef>
                <a:spcPts val="0"/>
              </a:spcBef>
              <a:spcAft>
                <a:spcPts val="0"/>
              </a:spcAft>
            </a:pPr>
            <a:r>
              <a:rPr lang="tr-TR" sz="1244" b="1" i="0">
                <a:solidFill>
                  <a:srgbClr val="FFFFFF"/>
                </a:solidFill>
                <a:latin typeface="Calibri"/>
              </a:rPr>
              <a:t>9</a:t>
            </a:r>
          </a:p>
        </p:txBody>
      </p:sp>
      <p:sp>
        <p:nvSpPr>
          <p:cNvPr id="18" name="Oval 17"/>
          <p:cNvSpPr/>
          <p:nvPr/>
        </p:nvSpPr>
        <p:spPr>
          <a:xfrm>
            <a:off x="6444954" y="1480752"/>
            <a:ext cx="329184" cy="329184"/>
          </a:xfrm>
          <a:prstGeom prst="ellipse">
            <a:avLst/>
          </a:prstGeom>
          <a:solidFill>
            <a:srgbClr val="5A6470"/>
          </a:solidFill>
          <a:ln w="22225">
            <a:solidFill>
              <a:srgbClr val="FFFFFF"/>
            </a:solidFill>
          </a:ln>
          <a:effectLst/>
        </p:spPr>
        <p:txBody>
          <a:bodyPr rtlCol="0" anchor="ctr" wrap="none" lIns="0" rIns="0" tIns="0" bIns="0">
            <a:noAutofit/>
          </a:bodyPr>
          <a:lstStyle/>
          <a:p>
            <a:pPr algn="ctr">
              <a:spcBef>
                <a:spcPts val="0"/>
              </a:spcBef>
              <a:spcAft>
                <a:spcPts val="0"/>
              </a:spcAft>
            </a:pPr>
            <a:r>
              <a:rPr lang="tr-TR" sz="1244" b="1" i="0">
                <a:solidFill>
                  <a:srgbClr val="FFFFFF"/>
                </a:solidFill>
                <a:latin typeface="Calibri"/>
              </a:rPr>
              <a:t>10</a:t>
            </a:r>
          </a:p>
        </p:txBody>
      </p:sp>
      <p:sp>
        <p:nvSpPr>
          <p:cNvPr id="19" name="Oval 18"/>
          <p:cNvSpPr/>
          <p:nvPr/>
        </p:nvSpPr>
        <p:spPr>
          <a:xfrm>
            <a:off x="7535299" y="2737991"/>
            <a:ext cx="329184" cy="329184"/>
          </a:xfrm>
          <a:prstGeom prst="ellipse">
            <a:avLst/>
          </a:prstGeom>
          <a:solidFill>
            <a:srgbClr val="2C6696"/>
          </a:solidFill>
          <a:ln w="22225">
            <a:solidFill>
              <a:srgbClr val="FFFFFF"/>
            </a:solidFill>
          </a:ln>
          <a:effectLst/>
        </p:spPr>
        <p:txBody>
          <a:bodyPr rtlCol="0" anchor="ctr" wrap="none" lIns="0" rIns="0" tIns="0" bIns="0">
            <a:noAutofit/>
          </a:bodyPr>
          <a:lstStyle/>
          <a:p>
            <a:pPr algn="ctr">
              <a:spcBef>
                <a:spcPts val="0"/>
              </a:spcBef>
              <a:spcAft>
                <a:spcPts val="0"/>
              </a:spcAft>
            </a:pPr>
            <a:r>
              <a:rPr lang="tr-TR" sz="1244" b="1" i="0">
                <a:solidFill>
                  <a:srgbClr val="FFFFFF"/>
                </a:solidFill>
                <a:latin typeface="Calibri"/>
              </a:rPr>
              <a:t>11</a:t>
            </a:r>
          </a:p>
        </p:txBody>
      </p:sp>
      <p:sp>
        <p:nvSpPr>
          <p:cNvPr id="20" name="Oval 19"/>
          <p:cNvSpPr/>
          <p:nvPr/>
        </p:nvSpPr>
        <p:spPr>
          <a:xfrm>
            <a:off x="6129893" y="3483281"/>
            <a:ext cx="329184" cy="329184"/>
          </a:xfrm>
          <a:prstGeom prst="ellipse">
            <a:avLst/>
          </a:prstGeom>
          <a:solidFill>
            <a:srgbClr val="2C6696"/>
          </a:solidFill>
          <a:ln w="22225">
            <a:solidFill>
              <a:srgbClr val="FFFFFF"/>
            </a:solidFill>
          </a:ln>
          <a:effectLst/>
        </p:spPr>
        <p:txBody>
          <a:bodyPr rtlCol="0" anchor="ctr" wrap="none" lIns="0" rIns="0" tIns="0" bIns="0">
            <a:noAutofit/>
          </a:bodyPr>
          <a:lstStyle/>
          <a:p>
            <a:pPr algn="ctr">
              <a:spcBef>
                <a:spcPts val="0"/>
              </a:spcBef>
              <a:spcAft>
                <a:spcPts val="0"/>
              </a:spcAft>
            </a:pPr>
            <a:r>
              <a:rPr lang="tr-TR" sz="1244" b="1" i="0">
                <a:solidFill>
                  <a:srgbClr val="FFFFFF"/>
                </a:solidFill>
                <a:latin typeface="Calibri"/>
              </a:rPr>
              <a:t>12</a:t>
            </a:r>
          </a:p>
        </p:txBody>
      </p:sp>
      <p:sp>
        <p:nvSpPr>
          <p:cNvPr id="21" name="Oval 20"/>
          <p:cNvSpPr/>
          <p:nvPr/>
        </p:nvSpPr>
        <p:spPr>
          <a:xfrm>
            <a:off x="5842837" y="3915428"/>
            <a:ext cx="329184" cy="329184"/>
          </a:xfrm>
          <a:prstGeom prst="ellipse">
            <a:avLst/>
          </a:prstGeom>
          <a:solidFill>
            <a:srgbClr val="2C6696"/>
          </a:solidFill>
          <a:ln w="22225">
            <a:solidFill>
              <a:srgbClr val="FFFFFF"/>
            </a:solidFill>
          </a:ln>
          <a:effectLst/>
        </p:spPr>
        <p:txBody>
          <a:bodyPr rtlCol="0" anchor="ctr" wrap="none" lIns="0" rIns="0" tIns="0" bIns="0">
            <a:noAutofit/>
          </a:bodyPr>
          <a:lstStyle/>
          <a:p>
            <a:pPr algn="ctr">
              <a:spcBef>
                <a:spcPts val="0"/>
              </a:spcBef>
              <a:spcAft>
                <a:spcPts val="0"/>
              </a:spcAft>
            </a:pPr>
            <a:r>
              <a:rPr lang="tr-TR" sz="1244" b="1" i="0">
                <a:solidFill>
                  <a:srgbClr val="FFFFFF"/>
                </a:solidFill>
                <a:latin typeface="Calibri"/>
              </a:rPr>
              <a:t>13</a:t>
            </a:r>
          </a:p>
        </p:txBody>
      </p:sp>
      <p:sp>
        <p:nvSpPr>
          <p:cNvPr id="22" name="Oval 21"/>
          <p:cNvSpPr/>
          <p:nvPr/>
        </p:nvSpPr>
        <p:spPr>
          <a:xfrm>
            <a:off x="6661062" y="4129634"/>
            <a:ext cx="329184" cy="329184"/>
          </a:xfrm>
          <a:prstGeom prst="ellipse">
            <a:avLst/>
          </a:prstGeom>
          <a:solidFill>
            <a:srgbClr val="2C6696"/>
          </a:solidFill>
          <a:ln w="22225">
            <a:solidFill>
              <a:srgbClr val="FFFFFF"/>
            </a:solidFill>
          </a:ln>
          <a:effectLst/>
        </p:spPr>
        <p:txBody>
          <a:bodyPr rtlCol="0" anchor="ctr" wrap="none" lIns="0" rIns="0" tIns="0" bIns="0">
            <a:noAutofit/>
          </a:bodyPr>
          <a:lstStyle/>
          <a:p>
            <a:pPr algn="ctr">
              <a:spcBef>
                <a:spcPts val="0"/>
              </a:spcBef>
              <a:spcAft>
                <a:spcPts val="0"/>
              </a:spcAft>
            </a:pPr>
            <a:r>
              <a:rPr lang="tr-TR" sz="1244" b="1" i="0">
                <a:solidFill>
                  <a:srgbClr val="FFFFFF"/>
                </a:solidFill>
                <a:latin typeface="Calibri"/>
              </a:rPr>
              <a:t>14</a:t>
            </a:r>
          </a:p>
        </p:txBody>
      </p:sp>
      <p:sp>
        <p:nvSpPr>
          <p:cNvPr id="23" name="TextBox 22"/>
          <p:cNvSpPr txBox="1"/>
          <p:nvPr/>
        </p:nvSpPr>
        <p:spPr>
          <a:xfrm>
            <a:off x="4392449" y="5074920"/>
            <a:ext cx="3763931" cy="274320"/>
          </a:xfrm>
          <a:prstGeom prst="rect">
            <a:avLst/>
          </a:prstGeom>
          <a:noFill/>
        </p:spPr>
        <p:txBody>
          <a:bodyPr wrap="square" anchor="t" lIns="73152" rIns="73152" tIns="36576" bIns="36576">
            <a:noAutofit/>
          </a:bodyPr>
          <a:lstStyle/>
          <a:p>
            <a:pPr algn="ctr">
              <a:spcBef>
                <a:spcPts val="0"/>
              </a:spcBef>
              <a:spcAft>
                <a:spcPts val="0"/>
              </a:spcAft>
            </a:pPr>
            <a:r>
              <a:rPr lang="tr-TR" sz="1200" b="0" i="1">
                <a:solidFill>
                  <a:srgbClr val="767676"/>
                </a:solidFill>
                <a:latin typeface="Calibri"/>
              </a:rPr>
              <a:t>Kitap s. 195</a:t>
            </a:r>
          </a:p>
        </p:txBody>
      </p:sp>
      <p:sp>
        <p:nvSpPr>
          <p:cNvPr id="24" name="Oval 23"/>
          <p:cNvSpPr/>
          <p:nvPr/>
        </p:nvSpPr>
        <p:spPr>
          <a:xfrm>
            <a:off x="8412412" y="1258606"/>
            <a:ext cx="274320" cy="274320"/>
          </a:xfrm>
          <a:prstGeom prst="ellipse">
            <a:avLst/>
          </a:prstGeom>
          <a:solidFill>
            <a:srgbClr val="2C6696"/>
          </a:solidFill>
          <a:ln w="22225">
            <a:solidFill>
              <a:srgbClr val="FFFFFF"/>
            </a:solidFill>
          </a:ln>
          <a:effectLst/>
        </p:spPr>
        <p:txBody>
          <a:bodyPr rtlCol="0" anchor="ctr" wrap="none" lIns="0" rIns="0" tIns="0" bIns="0">
            <a:noAutofit/>
          </a:bodyPr>
          <a:lstStyle/>
          <a:p>
            <a:pPr algn="ctr">
              <a:spcBef>
                <a:spcPts val="0"/>
              </a:spcBef>
              <a:spcAft>
                <a:spcPts val="0"/>
              </a:spcAft>
            </a:pPr>
            <a:r>
              <a:rPr lang="tr-TR" sz="1036" b="1" i="0">
                <a:solidFill>
                  <a:srgbClr val="FFFFFF"/>
                </a:solidFill>
                <a:latin typeface="Calibri"/>
              </a:rPr>
              <a:t>1</a:t>
            </a:r>
          </a:p>
        </p:txBody>
      </p:sp>
      <p:sp>
        <p:nvSpPr>
          <p:cNvPr id="25" name="TextBox 24"/>
          <p:cNvSpPr txBox="1"/>
          <p:nvPr/>
        </p:nvSpPr>
        <p:spPr>
          <a:xfrm>
            <a:off x="8750740" y="1216152"/>
            <a:ext cx="2938035" cy="359228"/>
          </a:xfrm>
          <a:prstGeom prst="rect">
            <a:avLst/>
          </a:prstGeom>
          <a:noFill/>
        </p:spPr>
        <p:txBody>
          <a:bodyPr wrap="square" anchor="ctr" lIns="73152" rIns="73152" tIns="36576" bIns="36576">
            <a:noAutofit/>
          </a:bodyPr>
          <a:lstStyle/>
          <a:p>
            <a:pPr algn="l">
              <a:spcBef>
                <a:spcPts val="0"/>
              </a:spcBef>
              <a:spcAft>
                <a:spcPts val="0"/>
              </a:spcAft>
            </a:pPr>
            <a:r>
              <a:rPr lang="tr-TR" sz="1500" b="1" i="0">
                <a:solidFill>
                  <a:srgbClr val="262626"/>
                </a:solidFill>
                <a:latin typeface="Calibri"/>
              </a:rPr>
              <a:t>Kanada</a:t>
            </a:r>
            <a:r>
              <a:rPr lang="tr-TR" sz="1500" b="0" i="0">
                <a:solidFill>
                  <a:srgbClr val="262626"/>
                </a:solidFill>
                <a:latin typeface="Calibri"/>
              </a:rPr>
              <a:t> · Klimatik-hidr. / insan</a:t>
            </a:r>
          </a:p>
        </p:txBody>
      </p:sp>
      <p:sp>
        <p:nvSpPr>
          <p:cNvPr id="26" name="Oval 25"/>
          <p:cNvSpPr/>
          <p:nvPr/>
        </p:nvSpPr>
        <p:spPr>
          <a:xfrm>
            <a:off x="8412412" y="1617834"/>
            <a:ext cx="274320" cy="274320"/>
          </a:xfrm>
          <a:prstGeom prst="ellipse">
            <a:avLst/>
          </a:prstGeom>
          <a:solidFill>
            <a:srgbClr val="2C6696"/>
          </a:solidFill>
          <a:ln w="22225">
            <a:solidFill>
              <a:srgbClr val="FFFFFF"/>
            </a:solidFill>
          </a:ln>
          <a:effectLst/>
        </p:spPr>
        <p:txBody>
          <a:bodyPr rtlCol="0" anchor="ctr" wrap="none" lIns="0" rIns="0" tIns="0" bIns="0">
            <a:noAutofit/>
          </a:bodyPr>
          <a:lstStyle/>
          <a:p>
            <a:pPr algn="ctr">
              <a:spcBef>
                <a:spcPts val="0"/>
              </a:spcBef>
              <a:spcAft>
                <a:spcPts val="0"/>
              </a:spcAft>
            </a:pPr>
            <a:r>
              <a:rPr lang="tr-TR" sz="1036" b="1" i="0">
                <a:solidFill>
                  <a:srgbClr val="FFFFFF"/>
                </a:solidFill>
                <a:latin typeface="Calibri"/>
              </a:rPr>
              <a:t>2</a:t>
            </a:r>
          </a:p>
        </p:txBody>
      </p:sp>
      <p:sp>
        <p:nvSpPr>
          <p:cNvPr id="27" name="TextBox 26"/>
          <p:cNvSpPr txBox="1"/>
          <p:nvPr/>
        </p:nvSpPr>
        <p:spPr>
          <a:xfrm>
            <a:off x="8750740" y="1575380"/>
            <a:ext cx="2938035" cy="359228"/>
          </a:xfrm>
          <a:prstGeom prst="rect">
            <a:avLst/>
          </a:prstGeom>
          <a:noFill/>
        </p:spPr>
        <p:txBody>
          <a:bodyPr wrap="square" anchor="ctr" lIns="73152" rIns="73152" tIns="36576" bIns="36576">
            <a:noAutofit/>
          </a:bodyPr>
          <a:lstStyle/>
          <a:p>
            <a:pPr algn="l">
              <a:spcBef>
                <a:spcPts val="0"/>
              </a:spcBef>
              <a:spcAft>
                <a:spcPts val="0"/>
              </a:spcAft>
            </a:pPr>
            <a:r>
              <a:rPr lang="tr-TR" sz="1500" b="1" i="0">
                <a:solidFill>
                  <a:srgbClr val="262626"/>
                </a:solidFill>
                <a:latin typeface="Calibri"/>
              </a:rPr>
              <a:t>Hawaii-ABD</a:t>
            </a:r>
            <a:r>
              <a:rPr lang="tr-TR" sz="1500" b="0" i="0">
                <a:solidFill>
                  <a:srgbClr val="262626"/>
                </a:solidFill>
                <a:latin typeface="Calibri"/>
              </a:rPr>
              <a:t> · Klimatik-hidr. / insan</a:t>
            </a:r>
          </a:p>
        </p:txBody>
      </p:sp>
      <p:sp>
        <p:nvSpPr>
          <p:cNvPr id="28" name="Oval 27"/>
          <p:cNvSpPr/>
          <p:nvPr/>
        </p:nvSpPr>
        <p:spPr>
          <a:xfrm>
            <a:off x="8412412" y="1977063"/>
            <a:ext cx="274320" cy="274320"/>
          </a:xfrm>
          <a:prstGeom prst="ellipse">
            <a:avLst/>
          </a:prstGeom>
          <a:solidFill>
            <a:srgbClr val="8B5A2B"/>
          </a:solidFill>
          <a:ln w="22225">
            <a:solidFill>
              <a:srgbClr val="FFFFFF"/>
            </a:solidFill>
          </a:ln>
          <a:effectLst/>
        </p:spPr>
        <p:txBody>
          <a:bodyPr rtlCol="0" anchor="ctr" wrap="none" lIns="0" rIns="0" tIns="0" bIns="0">
            <a:noAutofit/>
          </a:bodyPr>
          <a:lstStyle/>
          <a:p>
            <a:pPr algn="ctr">
              <a:spcBef>
                <a:spcPts val="0"/>
              </a:spcBef>
              <a:spcAft>
                <a:spcPts val="0"/>
              </a:spcAft>
            </a:pPr>
            <a:r>
              <a:rPr lang="tr-TR" sz="1036" b="1" i="0">
                <a:solidFill>
                  <a:srgbClr val="FFFFFF"/>
                </a:solidFill>
                <a:latin typeface="Calibri"/>
              </a:rPr>
              <a:t>3</a:t>
            </a:r>
          </a:p>
        </p:txBody>
      </p:sp>
      <p:sp>
        <p:nvSpPr>
          <p:cNvPr id="29" name="TextBox 28"/>
          <p:cNvSpPr txBox="1"/>
          <p:nvPr/>
        </p:nvSpPr>
        <p:spPr>
          <a:xfrm>
            <a:off x="8750740" y="1934609"/>
            <a:ext cx="2938035" cy="359228"/>
          </a:xfrm>
          <a:prstGeom prst="rect">
            <a:avLst/>
          </a:prstGeom>
          <a:noFill/>
        </p:spPr>
        <p:txBody>
          <a:bodyPr wrap="square" anchor="ctr" lIns="73152" rIns="73152" tIns="36576" bIns="36576">
            <a:noAutofit/>
          </a:bodyPr>
          <a:lstStyle/>
          <a:p>
            <a:pPr algn="l">
              <a:spcBef>
                <a:spcPts val="0"/>
              </a:spcBef>
              <a:spcAft>
                <a:spcPts val="0"/>
              </a:spcAft>
            </a:pPr>
            <a:r>
              <a:rPr lang="tr-TR" sz="1500" b="1" i="0">
                <a:solidFill>
                  <a:srgbClr val="262626"/>
                </a:solidFill>
                <a:latin typeface="Calibri"/>
              </a:rPr>
              <a:t>Fas</a:t>
            </a:r>
            <a:r>
              <a:rPr lang="tr-TR" sz="1500" b="0" i="0">
                <a:solidFill>
                  <a:srgbClr val="262626"/>
                </a:solidFill>
                <a:latin typeface="Calibri"/>
              </a:rPr>
              <a:t> · Jeolojik</a:t>
            </a:r>
          </a:p>
        </p:txBody>
      </p:sp>
      <p:sp>
        <p:nvSpPr>
          <p:cNvPr id="30" name="Oval 29"/>
          <p:cNvSpPr/>
          <p:nvPr/>
        </p:nvSpPr>
        <p:spPr>
          <a:xfrm>
            <a:off x="8412412" y="2336292"/>
            <a:ext cx="274320" cy="274320"/>
          </a:xfrm>
          <a:prstGeom prst="ellipse">
            <a:avLst/>
          </a:prstGeom>
          <a:solidFill>
            <a:srgbClr val="2C6696"/>
          </a:solidFill>
          <a:ln w="22225">
            <a:solidFill>
              <a:srgbClr val="FFFFFF"/>
            </a:solidFill>
          </a:ln>
          <a:effectLst/>
        </p:spPr>
        <p:txBody>
          <a:bodyPr rtlCol="0" anchor="ctr" wrap="none" lIns="0" rIns="0" tIns="0" bIns="0">
            <a:noAutofit/>
          </a:bodyPr>
          <a:lstStyle/>
          <a:p>
            <a:pPr algn="ctr">
              <a:spcBef>
                <a:spcPts val="0"/>
              </a:spcBef>
              <a:spcAft>
                <a:spcPts val="0"/>
              </a:spcAft>
            </a:pPr>
            <a:r>
              <a:rPr lang="tr-TR" sz="1036" b="1" i="0">
                <a:solidFill>
                  <a:srgbClr val="FFFFFF"/>
                </a:solidFill>
                <a:latin typeface="Calibri"/>
              </a:rPr>
              <a:t>4</a:t>
            </a:r>
          </a:p>
        </p:txBody>
      </p:sp>
      <p:sp>
        <p:nvSpPr>
          <p:cNvPr id="31" name="TextBox 30"/>
          <p:cNvSpPr txBox="1"/>
          <p:nvPr/>
        </p:nvSpPr>
        <p:spPr>
          <a:xfrm>
            <a:off x="8750740" y="2293837"/>
            <a:ext cx="2938035" cy="359228"/>
          </a:xfrm>
          <a:prstGeom prst="rect">
            <a:avLst/>
          </a:prstGeom>
          <a:noFill/>
        </p:spPr>
        <p:txBody>
          <a:bodyPr wrap="square" anchor="ctr" lIns="73152" rIns="73152" tIns="36576" bIns="36576">
            <a:noAutofit/>
          </a:bodyPr>
          <a:lstStyle/>
          <a:p>
            <a:pPr algn="l">
              <a:spcBef>
                <a:spcPts val="0"/>
              </a:spcBef>
              <a:spcAft>
                <a:spcPts val="0"/>
              </a:spcAft>
            </a:pPr>
            <a:r>
              <a:rPr lang="tr-TR" sz="1500" b="1" i="0">
                <a:solidFill>
                  <a:srgbClr val="262626"/>
                </a:solidFill>
                <a:latin typeface="Calibri"/>
              </a:rPr>
              <a:t>Brezilya</a:t>
            </a:r>
            <a:r>
              <a:rPr lang="tr-TR" sz="1500" b="0" i="0">
                <a:solidFill>
                  <a:srgbClr val="262626"/>
                </a:solidFill>
                <a:latin typeface="Calibri"/>
              </a:rPr>
              <a:t> · Klimatik-hidr.</a:t>
            </a:r>
          </a:p>
        </p:txBody>
      </p:sp>
      <p:sp>
        <p:nvSpPr>
          <p:cNvPr id="32" name="Oval 31"/>
          <p:cNvSpPr/>
          <p:nvPr/>
        </p:nvSpPr>
        <p:spPr>
          <a:xfrm>
            <a:off x="8412412" y="2695520"/>
            <a:ext cx="274320" cy="274320"/>
          </a:xfrm>
          <a:prstGeom prst="ellipse">
            <a:avLst/>
          </a:prstGeom>
          <a:solidFill>
            <a:srgbClr val="2C6696"/>
          </a:solidFill>
          <a:ln w="22225">
            <a:solidFill>
              <a:srgbClr val="FFFFFF"/>
            </a:solidFill>
          </a:ln>
          <a:effectLst/>
        </p:spPr>
        <p:txBody>
          <a:bodyPr rtlCol="0" anchor="ctr" wrap="none" lIns="0" rIns="0" tIns="0" bIns="0">
            <a:noAutofit/>
          </a:bodyPr>
          <a:lstStyle/>
          <a:p>
            <a:pPr algn="ctr">
              <a:spcBef>
                <a:spcPts val="0"/>
              </a:spcBef>
              <a:spcAft>
                <a:spcPts val="0"/>
              </a:spcAft>
            </a:pPr>
            <a:r>
              <a:rPr lang="tr-TR" sz="1036" b="1" i="0">
                <a:solidFill>
                  <a:srgbClr val="FFFFFF"/>
                </a:solidFill>
                <a:latin typeface="Calibri"/>
              </a:rPr>
              <a:t>5</a:t>
            </a:r>
          </a:p>
        </p:txBody>
      </p:sp>
      <p:sp>
        <p:nvSpPr>
          <p:cNvPr id="33" name="TextBox 32"/>
          <p:cNvSpPr txBox="1"/>
          <p:nvPr/>
        </p:nvSpPr>
        <p:spPr>
          <a:xfrm>
            <a:off x="8750740" y="2653066"/>
            <a:ext cx="2938035" cy="359228"/>
          </a:xfrm>
          <a:prstGeom prst="rect">
            <a:avLst/>
          </a:prstGeom>
          <a:noFill/>
        </p:spPr>
        <p:txBody>
          <a:bodyPr wrap="square" anchor="ctr" lIns="73152" rIns="73152" tIns="36576" bIns="36576">
            <a:noAutofit/>
          </a:bodyPr>
          <a:lstStyle/>
          <a:p>
            <a:pPr algn="l">
              <a:spcBef>
                <a:spcPts val="0"/>
              </a:spcBef>
              <a:spcAft>
                <a:spcPts val="0"/>
              </a:spcAft>
            </a:pPr>
            <a:r>
              <a:rPr lang="tr-TR" sz="1500" b="1" i="0">
                <a:solidFill>
                  <a:srgbClr val="262626"/>
                </a:solidFill>
                <a:latin typeface="Calibri"/>
              </a:rPr>
              <a:t>Yunanistan</a:t>
            </a:r>
            <a:r>
              <a:rPr lang="tr-TR" sz="1500" b="0" i="0">
                <a:solidFill>
                  <a:srgbClr val="262626"/>
                </a:solidFill>
                <a:latin typeface="Calibri"/>
              </a:rPr>
              <a:t> · Klimatik-hidr. / insan</a:t>
            </a:r>
          </a:p>
        </p:txBody>
      </p:sp>
      <p:sp>
        <p:nvSpPr>
          <p:cNvPr id="34" name="Oval 33"/>
          <p:cNvSpPr/>
          <p:nvPr/>
        </p:nvSpPr>
        <p:spPr>
          <a:xfrm>
            <a:off x="8412412" y="3054749"/>
            <a:ext cx="274320" cy="274320"/>
          </a:xfrm>
          <a:prstGeom prst="ellipse">
            <a:avLst/>
          </a:prstGeom>
          <a:solidFill>
            <a:srgbClr val="5A6470"/>
          </a:solidFill>
          <a:ln w="22225">
            <a:solidFill>
              <a:srgbClr val="FFFFFF"/>
            </a:solidFill>
          </a:ln>
          <a:effectLst/>
        </p:spPr>
        <p:txBody>
          <a:bodyPr rtlCol="0" anchor="ctr" wrap="none" lIns="0" rIns="0" tIns="0" bIns="0">
            <a:noAutofit/>
          </a:bodyPr>
          <a:lstStyle/>
          <a:p>
            <a:pPr algn="ctr">
              <a:spcBef>
                <a:spcPts val="0"/>
              </a:spcBef>
              <a:spcAft>
                <a:spcPts val="0"/>
              </a:spcAft>
            </a:pPr>
            <a:r>
              <a:rPr lang="tr-TR" sz="1036" b="1" i="0">
                <a:solidFill>
                  <a:srgbClr val="FFFFFF"/>
                </a:solidFill>
                <a:latin typeface="Calibri"/>
              </a:rPr>
              <a:t>6</a:t>
            </a:r>
          </a:p>
        </p:txBody>
      </p:sp>
      <p:sp>
        <p:nvSpPr>
          <p:cNvPr id="35" name="TextBox 34"/>
          <p:cNvSpPr txBox="1"/>
          <p:nvPr/>
        </p:nvSpPr>
        <p:spPr>
          <a:xfrm>
            <a:off x="8750740" y="3012294"/>
            <a:ext cx="2938035" cy="359228"/>
          </a:xfrm>
          <a:prstGeom prst="rect">
            <a:avLst/>
          </a:prstGeom>
          <a:noFill/>
        </p:spPr>
        <p:txBody>
          <a:bodyPr wrap="square" anchor="ctr" lIns="73152" rIns="73152" tIns="36576" bIns="36576">
            <a:noAutofit/>
          </a:bodyPr>
          <a:lstStyle/>
          <a:p>
            <a:pPr algn="l">
              <a:spcBef>
                <a:spcPts val="0"/>
              </a:spcBef>
              <a:spcAft>
                <a:spcPts val="0"/>
              </a:spcAft>
            </a:pPr>
            <a:r>
              <a:rPr lang="tr-TR" sz="1500" b="1" i="0">
                <a:solidFill>
                  <a:srgbClr val="262626"/>
                </a:solidFill>
                <a:latin typeface="Calibri"/>
              </a:rPr>
              <a:t>Yunanistan</a:t>
            </a:r>
            <a:r>
              <a:rPr lang="tr-TR" sz="1500" b="0" i="0">
                <a:solidFill>
                  <a:srgbClr val="262626"/>
                </a:solidFill>
                <a:latin typeface="Calibri"/>
              </a:rPr>
              <a:t> · Teknolojik</a:t>
            </a:r>
          </a:p>
        </p:txBody>
      </p:sp>
      <p:sp>
        <p:nvSpPr>
          <p:cNvPr id="36" name="Oval 35"/>
          <p:cNvSpPr/>
          <p:nvPr/>
        </p:nvSpPr>
        <p:spPr>
          <a:xfrm>
            <a:off x="8412412" y="3413977"/>
            <a:ext cx="274320" cy="274320"/>
          </a:xfrm>
          <a:prstGeom prst="ellipse">
            <a:avLst/>
          </a:prstGeom>
          <a:solidFill>
            <a:srgbClr val="7A4EA0"/>
          </a:solidFill>
          <a:ln w="22225">
            <a:solidFill>
              <a:srgbClr val="FFFFFF"/>
            </a:solidFill>
          </a:ln>
          <a:effectLst/>
        </p:spPr>
        <p:txBody>
          <a:bodyPr rtlCol="0" anchor="ctr" wrap="none" lIns="0" rIns="0" tIns="0" bIns="0">
            <a:noAutofit/>
          </a:bodyPr>
          <a:lstStyle/>
          <a:p>
            <a:pPr algn="ctr">
              <a:spcBef>
                <a:spcPts val="0"/>
              </a:spcBef>
              <a:spcAft>
                <a:spcPts val="0"/>
              </a:spcAft>
            </a:pPr>
            <a:r>
              <a:rPr lang="tr-TR" sz="1036" b="1" i="0">
                <a:solidFill>
                  <a:srgbClr val="FFFFFF"/>
                </a:solidFill>
                <a:latin typeface="Calibri"/>
              </a:rPr>
              <a:t>7</a:t>
            </a:r>
          </a:p>
        </p:txBody>
      </p:sp>
      <p:sp>
        <p:nvSpPr>
          <p:cNvPr id="37" name="TextBox 36"/>
          <p:cNvSpPr txBox="1"/>
          <p:nvPr/>
        </p:nvSpPr>
        <p:spPr>
          <a:xfrm>
            <a:off x="8750740" y="3371523"/>
            <a:ext cx="2938035" cy="359228"/>
          </a:xfrm>
          <a:prstGeom prst="rect">
            <a:avLst/>
          </a:prstGeom>
          <a:noFill/>
        </p:spPr>
        <p:txBody>
          <a:bodyPr wrap="square" anchor="ctr" lIns="73152" rIns="73152" tIns="36576" bIns="36576">
            <a:noAutofit/>
          </a:bodyPr>
          <a:lstStyle/>
          <a:p>
            <a:pPr algn="l">
              <a:spcBef>
                <a:spcPts val="0"/>
              </a:spcBef>
              <a:spcAft>
                <a:spcPts val="0"/>
              </a:spcAft>
            </a:pPr>
            <a:r>
              <a:rPr lang="tr-TR" sz="1500" b="1" i="0">
                <a:solidFill>
                  <a:srgbClr val="262626"/>
                </a:solidFill>
                <a:latin typeface="Calibri"/>
              </a:rPr>
              <a:t>Rusya-Ukrayna</a:t>
            </a:r>
            <a:r>
              <a:rPr lang="tr-TR" sz="1500" b="0" i="0">
                <a:solidFill>
                  <a:srgbClr val="262626"/>
                </a:solidFill>
                <a:latin typeface="Calibri"/>
              </a:rPr>
              <a:t> · Sosyal</a:t>
            </a:r>
          </a:p>
        </p:txBody>
      </p:sp>
      <p:sp>
        <p:nvSpPr>
          <p:cNvPr id="38" name="Oval 37"/>
          <p:cNvSpPr/>
          <p:nvPr/>
        </p:nvSpPr>
        <p:spPr>
          <a:xfrm>
            <a:off x="8412412" y="3773206"/>
            <a:ext cx="274320" cy="274320"/>
          </a:xfrm>
          <a:prstGeom prst="ellipse">
            <a:avLst/>
          </a:prstGeom>
          <a:solidFill>
            <a:srgbClr val="8B5A2B"/>
          </a:solidFill>
          <a:ln w="22225">
            <a:solidFill>
              <a:srgbClr val="FFFFFF"/>
            </a:solidFill>
          </a:ln>
          <a:effectLst/>
        </p:spPr>
        <p:txBody>
          <a:bodyPr rtlCol="0" anchor="ctr" wrap="none" lIns="0" rIns="0" tIns="0" bIns="0">
            <a:noAutofit/>
          </a:bodyPr>
          <a:lstStyle/>
          <a:p>
            <a:pPr algn="ctr">
              <a:spcBef>
                <a:spcPts val="0"/>
              </a:spcBef>
              <a:spcAft>
                <a:spcPts val="0"/>
              </a:spcAft>
            </a:pPr>
            <a:r>
              <a:rPr lang="tr-TR" sz="1036" b="1" i="0">
                <a:solidFill>
                  <a:srgbClr val="FFFFFF"/>
                </a:solidFill>
                <a:latin typeface="Calibri"/>
              </a:rPr>
              <a:t>8</a:t>
            </a:r>
          </a:p>
        </p:txBody>
      </p:sp>
      <p:sp>
        <p:nvSpPr>
          <p:cNvPr id="39" name="TextBox 38"/>
          <p:cNvSpPr txBox="1"/>
          <p:nvPr/>
        </p:nvSpPr>
        <p:spPr>
          <a:xfrm>
            <a:off x="8750740" y="3730752"/>
            <a:ext cx="2938035" cy="359228"/>
          </a:xfrm>
          <a:prstGeom prst="rect">
            <a:avLst/>
          </a:prstGeom>
          <a:noFill/>
        </p:spPr>
        <p:txBody>
          <a:bodyPr wrap="square" anchor="ctr" lIns="73152" rIns="73152" tIns="36576" bIns="36576">
            <a:noAutofit/>
          </a:bodyPr>
          <a:lstStyle/>
          <a:p>
            <a:pPr algn="l">
              <a:spcBef>
                <a:spcPts val="0"/>
              </a:spcBef>
              <a:spcAft>
                <a:spcPts val="0"/>
              </a:spcAft>
            </a:pPr>
            <a:r>
              <a:rPr lang="tr-TR" sz="1500" b="1" i="0">
                <a:solidFill>
                  <a:srgbClr val="262626"/>
                </a:solidFill>
                <a:latin typeface="Calibri"/>
              </a:rPr>
              <a:t>Türkiye</a:t>
            </a:r>
            <a:r>
              <a:rPr lang="tr-TR" sz="1500" b="0" i="0">
                <a:solidFill>
                  <a:srgbClr val="262626"/>
                </a:solidFill>
                <a:latin typeface="Calibri"/>
              </a:rPr>
              <a:t> · Jeolojik</a:t>
            </a:r>
          </a:p>
        </p:txBody>
      </p:sp>
      <p:sp>
        <p:nvSpPr>
          <p:cNvPr id="40" name="Oval 39"/>
          <p:cNvSpPr/>
          <p:nvPr/>
        </p:nvSpPr>
        <p:spPr>
          <a:xfrm>
            <a:off x="8412412" y="4132434"/>
            <a:ext cx="274320" cy="274320"/>
          </a:xfrm>
          <a:prstGeom prst="ellipse">
            <a:avLst/>
          </a:prstGeom>
          <a:solidFill>
            <a:srgbClr val="2C6696"/>
          </a:solidFill>
          <a:ln w="22225">
            <a:solidFill>
              <a:srgbClr val="FFFFFF"/>
            </a:solidFill>
          </a:ln>
          <a:effectLst/>
        </p:spPr>
        <p:txBody>
          <a:bodyPr rtlCol="0" anchor="ctr" wrap="none" lIns="0" rIns="0" tIns="0" bIns="0">
            <a:noAutofit/>
          </a:bodyPr>
          <a:lstStyle/>
          <a:p>
            <a:pPr algn="ctr">
              <a:spcBef>
                <a:spcPts val="0"/>
              </a:spcBef>
              <a:spcAft>
                <a:spcPts val="0"/>
              </a:spcAft>
            </a:pPr>
            <a:r>
              <a:rPr lang="tr-TR" sz="1036" b="1" i="0">
                <a:solidFill>
                  <a:srgbClr val="FFFFFF"/>
                </a:solidFill>
                <a:latin typeface="Calibri"/>
              </a:rPr>
              <a:t>9</a:t>
            </a:r>
          </a:p>
        </p:txBody>
      </p:sp>
      <p:sp>
        <p:nvSpPr>
          <p:cNvPr id="41" name="TextBox 40"/>
          <p:cNvSpPr txBox="1"/>
          <p:nvPr/>
        </p:nvSpPr>
        <p:spPr>
          <a:xfrm>
            <a:off x="8750740" y="4089980"/>
            <a:ext cx="2938035" cy="359228"/>
          </a:xfrm>
          <a:prstGeom prst="rect">
            <a:avLst/>
          </a:prstGeom>
          <a:noFill/>
        </p:spPr>
        <p:txBody>
          <a:bodyPr wrap="square" anchor="ctr" lIns="73152" rIns="73152" tIns="36576" bIns="36576">
            <a:noAutofit/>
          </a:bodyPr>
          <a:lstStyle/>
          <a:p>
            <a:pPr algn="l">
              <a:spcBef>
                <a:spcPts val="0"/>
              </a:spcBef>
              <a:spcAft>
                <a:spcPts val="0"/>
              </a:spcAft>
            </a:pPr>
            <a:r>
              <a:rPr lang="tr-TR" sz="1500" b="1" i="0">
                <a:solidFill>
                  <a:srgbClr val="262626"/>
                </a:solidFill>
                <a:latin typeface="Calibri"/>
              </a:rPr>
              <a:t>Libya</a:t>
            </a:r>
            <a:r>
              <a:rPr lang="tr-TR" sz="1500" b="0" i="0">
                <a:solidFill>
                  <a:srgbClr val="262626"/>
                </a:solidFill>
                <a:latin typeface="Calibri"/>
              </a:rPr>
              <a:t> · Klimatik-hidr.</a:t>
            </a:r>
          </a:p>
        </p:txBody>
      </p:sp>
      <p:sp>
        <p:nvSpPr>
          <p:cNvPr id="42" name="Oval 41"/>
          <p:cNvSpPr/>
          <p:nvPr/>
        </p:nvSpPr>
        <p:spPr>
          <a:xfrm>
            <a:off x="8412412" y="4491663"/>
            <a:ext cx="274320" cy="274320"/>
          </a:xfrm>
          <a:prstGeom prst="ellipse">
            <a:avLst/>
          </a:prstGeom>
          <a:solidFill>
            <a:srgbClr val="5A6470"/>
          </a:solidFill>
          <a:ln w="22225">
            <a:solidFill>
              <a:srgbClr val="FFFFFF"/>
            </a:solidFill>
          </a:ln>
          <a:effectLst/>
        </p:spPr>
        <p:txBody>
          <a:bodyPr rtlCol="0" anchor="ctr" wrap="none" lIns="0" rIns="0" tIns="0" bIns="0">
            <a:noAutofit/>
          </a:bodyPr>
          <a:lstStyle/>
          <a:p>
            <a:pPr algn="ctr">
              <a:spcBef>
                <a:spcPts val="0"/>
              </a:spcBef>
              <a:spcAft>
                <a:spcPts val="0"/>
              </a:spcAft>
            </a:pPr>
            <a:r>
              <a:rPr lang="tr-TR" sz="1036" b="1" i="0">
                <a:solidFill>
                  <a:srgbClr val="FFFFFF"/>
                </a:solidFill>
                <a:latin typeface="Calibri"/>
              </a:rPr>
              <a:t>10</a:t>
            </a:r>
          </a:p>
        </p:txBody>
      </p:sp>
      <p:sp>
        <p:nvSpPr>
          <p:cNvPr id="43" name="TextBox 42"/>
          <p:cNvSpPr txBox="1"/>
          <p:nvPr/>
        </p:nvSpPr>
        <p:spPr>
          <a:xfrm>
            <a:off x="8750740" y="4449209"/>
            <a:ext cx="2938035" cy="359228"/>
          </a:xfrm>
          <a:prstGeom prst="rect">
            <a:avLst/>
          </a:prstGeom>
          <a:noFill/>
        </p:spPr>
        <p:txBody>
          <a:bodyPr wrap="square" anchor="ctr" lIns="73152" rIns="73152" tIns="36576" bIns="36576">
            <a:noAutofit/>
          </a:bodyPr>
          <a:lstStyle/>
          <a:p>
            <a:pPr algn="l">
              <a:spcBef>
                <a:spcPts val="0"/>
              </a:spcBef>
              <a:spcAft>
                <a:spcPts val="0"/>
              </a:spcAft>
            </a:pPr>
            <a:r>
              <a:rPr lang="tr-TR" sz="1500" b="1" i="0">
                <a:solidFill>
                  <a:srgbClr val="262626"/>
                </a:solidFill>
                <a:latin typeface="Calibri"/>
              </a:rPr>
              <a:t>Çin</a:t>
            </a:r>
            <a:r>
              <a:rPr lang="tr-TR" sz="1500" b="0" i="0">
                <a:solidFill>
                  <a:srgbClr val="262626"/>
                </a:solidFill>
                <a:latin typeface="Calibri"/>
              </a:rPr>
              <a:t> · Teknolojik</a:t>
            </a:r>
          </a:p>
        </p:txBody>
      </p:sp>
      <p:sp>
        <p:nvSpPr>
          <p:cNvPr id="44" name="Oval 43"/>
          <p:cNvSpPr/>
          <p:nvPr/>
        </p:nvSpPr>
        <p:spPr>
          <a:xfrm>
            <a:off x="8412412" y="4850892"/>
            <a:ext cx="274320" cy="274320"/>
          </a:xfrm>
          <a:prstGeom prst="ellipse">
            <a:avLst/>
          </a:prstGeom>
          <a:solidFill>
            <a:srgbClr val="2C6696"/>
          </a:solidFill>
          <a:ln w="22225">
            <a:solidFill>
              <a:srgbClr val="FFFFFF"/>
            </a:solidFill>
          </a:ln>
          <a:effectLst/>
        </p:spPr>
        <p:txBody>
          <a:bodyPr rtlCol="0" anchor="ctr" wrap="none" lIns="0" rIns="0" tIns="0" bIns="0">
            <a:noAutofit/>
          </a:bodyPr>
          <a:lstStyle/>
          <a:p>
            <a:pPr algn="ctr">
              <a:spcBef>
                <a:spcPts val="0"/>
              </a:spcBef>
              <a:spcAft>
                <a:spcPts val="0"/>
              </a:spcAft>
            </a:pPr>
            <a:r>
              <a:rPr lang="tr-TR" sz="1036" b="1" i="0">
                <a:solidFill>
                  <a:srgbClr val="FFFFFF"/>
                </a:solidFill>
                <a:latin typeface="Calibri"/>
              </a:rPr>
              <a:t>11</a:t>
            </a:r>
          </a:p>
        </p:txBody>
      </p:sp>
      <p:sp>
        <p:nvSpPr>
          <p:cNvPr id="45" name="TextBox 44"/>
          <p:cNvSpPr txBox="1"/>
          <p:nvPr/>
        </p:nvSpPr>
        <p:spPr>
          <a:xfrm>
            <a:off x="8750740" y="4808437"/>
            <a:ext cx="2938035" cy="359228"/>
          </a:xfrm>
          <a:prstGeom prst="rect">
            <a:avLst/>
          </a:prstGeom>
          <a:noFill/>
        </p:spPr>
        <p:txBody>
          <a:bodyPr wrap="square" anchor="ctr" lIns="73152" rIns="73152" tIns="36576" bIns="36576">
            <a:noAutofit/>
          </a:bodyPr>
          <a:lstStyle/>
          <a:p>
            <a:pPr algn="l">
              <a:spcBef>
                <a:spcPts val="0"/>
              </a:spcBef>
              <a:spcAft>
                <a:spcPts val="0"/>
              </a:spcAft>
            </a:pPr>
            <a:r>
              <a:rPr lang="tr-TR" sz="1500" b="1" i="0">
                <a:solidFill>
                  <a:srgbClr val="262626"/>
                </a:solidFill>
                <a:latin typeface="Calibri"/>
              </a:rPr>
              <a:t>Japonya</a:t>
            </a:r>
            <a:r>
              <a:rPr lang="tr-TR" sz="1500" b="0" i="0">
                <a:solidFill>
                  <a:srgbClr val="262626"/>
                </a:solidFill>
                <a:latin typeface="Calibri"/>
              </a:rPr>
              <a:t> · Klimatik-hidr.</a:t>
            </a:r>
          </a:p>
        </p:txBody>
      </p:sp>
      <p:sp>
        <p:nvSpPr>
          <p:cNvPr id="46" name="Oval 45"/>
          <p:cNvSpPr/>
          <p:nvPr/>
        </p:nvSpPr>
        <p:spPr>
          <a:xfrm>
            <a:off x="8412412" y="5210120"/>
            <a:ext cx="274320" cy="274320"/>
          </a:xfrm>
          <a:prstGeom prst="ellipse">
            <a:avLst/>
          </a:prstGeom>
          <a:solidFill>
            <a:srgbClr val="2C6696"/>
          </a:solidFill>
          <a:ln w="22225">
            <a:solidFill>
              <a:srgbClr val="FFFFFF"/>
            </a:solidFill>
          </a:ln>
          <a:effectLst/>
        </p:spPr>
        <p:txBody>
          <a:bodyPr rtlCol="0" anchor="ctr" wrap="none" lIns="0" rIns="0" tIns="0" bIns="0">
            <a:noAutofit/>
          </a:bodyPr>
          <a:lstStyle/>
          <a:p>
            <a:pPr algn="ctr">
              <a:spcBef>
                <a:spcPts val="0"/>
              </a:spcBef>
              <a:spcAft>
                <a:spcPts val="0"/>
              </a:spcAft>
            </a:pPr>
            <a:r>
              <a:rPr lang="tr-TR" sz="1036" b="1" i="0">
                <a:solidFill>
                  <a:srgbClr val="FFFFFF"/>
                </a:solidFill>
                <a:latin typeface="Calibri"/>
              </a:rPr>
              <a:t>12</a:t>
            </a:r>
          </a:p>
        </p:txBody>
      </p:sp>
      <p:sp>
        <p:nvSpPr>
          <p:cNvPr id="47" name="TextBox 46"/>
          <p:cNvSpPr txBox="1"/>
          <p:nvPr/>
        </p:nvSpPr>
        <p:spPr>
          <a:xfrm>
            <a:off x="8750740" y="5167666"/>
            <a:ext cx="2938035" cy="359228"/>
          </a:xfrm>
          <a:prstGeom prst="rect">
            <a:avLst/>
          </a:prstGeom>
          <a:noFill/>
        </p:spPr>
        <p:txBody>
          <a:bodyPr wrap="square" anchor="ctr" lIns="73152" rIns="73152" tIns="36576" bIns="36576">
            <a:noAutofit/>
          </a:bodyPr>
          <a:lstStyle/>
          <a:p>
            <a:pPr algn="l">
              <a:spcBef>
                <a:spcPts val="0"/>
              </a:spcBef>
              <a:spcAft>
                <a:spcPts val="0"/>
              </a:spcAft>
            </a:pPr>
            <a:r>
              <a:rPr lang="tr-TR" sz="1500" b="1" i="0">
                <a:solidFill>
                  <a:srgbClr val="262626"/>
                </a:solidFill>
                <a:latin typeface="Calibri"/>
              </a:rPr>
              <a:t>Hindistan</a:t>
            </a:r>
            <a:r>
              <a:rPr lang="tr-TR" sz="1500" b="0" i="0">
                <a:solidFill>
                  <a:srgbClr val="262626"/>
                </a:solidFill>
                <a:latin typeface="Calibri"/>
              </a:rPr>
              <a:t> · Klimatik-hidr.</a:t>
            </a:r>
          </a:p>
        </p:txBody>
      </p:sp>
      <p:sp>
        <p:nvSpPr>
          <p:cNvPr id="48" name="Oval 47"/>
          <p:cNvSpPr/>
          <p:nvPr/>
        </p:nvSpPr>
        <p:spPr>
          <a:xfrm>
            <a:off x="8412412" y="5569349"/>
            <a:ext cx="274320" cy="274320"/>
          </a:xfrm>
          <a:prstGeom prst="ellipse">
            <a:avLst/>
          </a:prstGeom>
          <a:solidFill>
            <a:srgbClr val="2C6696"/>
          </a:solidFill>
          <a:ln w="22225">
            <a:solidFill>
              <a:srgbClr val="FFFFFF"/>
            </a:solidFill>
          </a:ln>
          <a:effectLst/>
        </p:spPr>
        <p:txBody>
          <a:bodyPr rtlCol="0" anchor="ctr" wrap="none" lIns="0" rIns="0" tIns="0" bIns="0">
            <a:noAutofit/>
          </a:bodyPr>
          <a:lstStyle/>
          <a:p>
            <a:pPr algn="ctr">
              <a:spcBef>
                <a:spcPts val="0"/>
              </a:spcBef>
              <a:spcAft>
                <a:spcPts val="0"/>
              </a:spcAft>
            </a:pPr>
            <a:r>
              <a:rPr lang="tr-TR" sz="1036" b="1" i="0">
                <a:solidFill>
                  <a:srgbClr val="FFFFFF"/>
                </a:solidFill>
                <a:latin typeface="Calibri"/>
              </a:rPr>
              <a:t>13</a:t>
            </a:r>
          </a:p>
        </p:txBody>
      </p:sp>
      <p:sp>
        <p:nvSpPr>
          <p:cNvPr id="49" name="TextBox 48"/>
          <p:cNvSpPr txBox="1"/>
          <p:nvPr/>
        </p:nvSpPr>
        <p:spPr>
          <a:xfrm>
            <a:off x="8750740" y="5526894"/>
            <a:ext cx="2938035" cy="359228"/>
          </a:xfrm>
          <a:prstGeom prst="rect">
            <a:avLst/>
          </a:prstGeom>
          <a:noFill/>
        </p:spPr>
        <p:txBody>
          <a:bodyPr wrap="square" anchor="ctr" lIns="73152" rIns="73152" tIns="36576" bIns="36576">
            <a:noAutofit/>
          </a:bodyPr>
          <a:lstStyle/>
          <a:p>
            <a:pPr algn="l">
              <a:spcBef>
                <a:spcPts val="0"/>
              </a:spcBef>
              <a:spcAft>
                <a:spcPts val="0"/>
              </a:spcAft>
            </a:pPr>
            <a:r>
              <a:rPr lang="tr-TR" sz="1500" b="1" i="0">
                <a:solidFill>
                  <a:srgbClr val="262626"/>
                </a:solidFill>
                <a:latin typeface="Calibri"/>
              </a:rPr>
              <a:t>Malavi</a:t>
            </a:r>
            <a:r>
              <a:rPr lang="tr-TR" sz="1500" b="0" i="0">
                <a:solidFill>
                  <a:srgbClr val="262626"/>
                </a:solidFill>
                <a:latin typeface="Calibri"/>
              </a:rPr>
              <a:t> · Klimatik-hidr.</a:t>
            </a:r>
          </a:p>
        </p:txBody>
      </p:sp>
      <p:sp>
        <p:nvSpPr>
          <p:cNvPr id="50" name="Oval 49"/>
          <p:cNvSpPr/>
          <p:nvPr/>
        </p:nvSpPr>
        <p:spPr>
          <a:xfrm>
            <a:off x="8412412" y="5928577"/>
            <a:ext cx="274320" cy="274320"/>
          </a:xfrm>
          <a:prstGeom prst="ellipse">
            <a:avLst/>
          </a:prstGeom>
          <a:solidFill>
            <a:srgbClr val="2C6696"/>
          </a:solidFill>
          <a:ln w="22225">
            <a:solidFill>
              <a:srgbClr val="FFFFFF"/>
            </a:solidFill>
          </a:ln>
          <a:effectLst/>
        </p:spPr>
        <p:txBody>
          <a:bodyPr rtlCol="0" anchor="ctr" wrap="none" lIns="0" rIns="0" tIns="0" bIns="0">
            <a:noAutofit/>
          </a:bodyPr>
          <a:lstStyle/>
          <a:p>
            <a:pPr algn="ctr">
              <a:spcBef>
                <a:spcPts val="0"/>
              </a:spcBef>
              <a:spcAft>
                <a:spcPts val="0"/>
              </a:spcAft>
            </a:pPr>
            <a:r>
              <a:rPr lang="tr-TR" sz="1036" b="1" i="0">
                <a:solidFill>
                  <a:srgbClr val="FFFFFF"/>
                </a:solidFill>
                <a:latin typeface="Calibri"/>
              </a:rPr>
              <a:t>14</a:t>
            </a:r>
          </a:p>
        </p:txBody>
      </p:sp>
      <p:sp>
        <p:nvSpPr>
          <p:cNvPr id="51" name="TextBox 50"/>
          <p:cNvSpPr txBox="1"/>
          <p:nvPr/>
        </p:nvSpPr>
        <p:spPr>
          <a:xfrm>
            <a:off x="8750740" y="5886123"/>
            <a:ext cx="2938035" cy="359228"/>
          </a:xfrm>
          <a:prstGeom prst="rect">
            <a:avLst/>
          </a:prstGeom>
          <a:noFill/>
        </p:spPr>
        <p:txBody>
          <a:bodyPr wrap="square" anchor="ctr" lIns="73152" rIns="73152" tIns="36576" bIns="36576">
            <a:noAutofit/>
          </a:bodyPr>
          <a:lstStyle/>
          <a:p>
            <a:pPr algn="l">
              <a:spcBef>
                <a:spcPts val="0"/>
              </a:spcBef>
              <a:spcAft>
                <a:spcPts val="0"/>
              </a:spcAft>
            </a:pPr>
            <a:r>
              <a:rPr lang="tr-TR" sz="1500" b="1" i="0">
                <a:solidFill>
                  <a:srgbClr val="262626"/>
                </a:solidFill>
                <a:latin typeface="Calibri"/>
              </a:rPr>
              <a:t>Yeni Zelanda</a:t>
            </a:r>
            <a:r>
              <a:rPr lang="tr-TR" sz="1500" b="0" i="0">
                <a:solidFill>
                  <a:srgbClr val="262626"/>
                </a:solidFill>
                <a:latin typeface="Calibri"/>
              </a:rPr>
              <a:t> · Klimatik-hidr.</a:t>
            </a:r>
          </a:p>
        </p:txBody>
      </p:sp>
      <p:sp>
        <p:nvSpPr>
          <p:cNvPr id="52" name="Rounded Rectangle 51"/>
          <p:cNvSpPr/>
          <p:nvPr/>
        </p:nvSpPr>
        <p:spPr>
          <a:xfrm>
            <a:off x="502920" y="5367528"/>
            <a:ext cx="943190" cy="329184"/>
          </a:xfrm>
          <a:prstGeom prst="roundRect">
            <a:avLst>
              <a:gd name="adj" fmla="val 50000"/>
            </a:avLst>
          </a:prstGeom>
          <a:solidFill>
            <a:srgbClr val="8B5A2B"/>
          </a:solidFill>
          <a:ln>
            <a:noFill/>
          </a:ln>
          <a:effectLst/>
        </p:spPr>
        <p:txBody>
          <a:bodyPr rtlCol="0" anchor="ctr" wrap="square" lIns="54864" rIns="54864" tIns="0" bIns="0">
            <a:noAutofit/>
          </a:bodyPr>
          <a:lstStyle/>
          <a:p>
            <a:pPr algn="ctr">
              <a:spcBef>
                <a:spcPts val="0"/>
              </a:spcBef>
              <a:spcAft>
                <a:spcPts val="0"/>
              </a:spcAft>
            </a:pPr>
            <a:r>
              <a:rPr lang="tr-TR" sz="1400" b="1" i="0">
                <a:solidFill>
                  <a:srgbClr val="FFFFFF"/>
                </a:solidFill>
                <a:latin typeface="Calibri"/>
              </a:rPr>
              <a:t>Jeolojik</a:t>
            </a:r>
          </a:p>
        </p:txBody>
      </p:sp>
      <p:sp>
        <p:nvSpPr>
          <p:cNvPr id="53" name="Rounded Rectangle 52"/>
          <p:cNvSpPr/>
          <p:nvPr/>
        </p:nvSpPr>
        <p:spPr>
          <a:xfrm>
            <a:off x="1519262" y="5367528"/>
            <a:ext cx="1380938" cy="329184"/>
          </a:xfrm>
          <a:prstGeom prst="roundRect">
            <a:avLst>
              <a:gd name="adj" fmla="val 50000"/>
            </a:avLst>
          </a:prstGeom>
          <a:solidFill>
            <a:srgbClr val="2C6696"/>
          </a:solidFill>
          <a:ln>
            <a:noFill/>
          </a:ln>
          <a:effectLst/>
        </p:spPr>
        <p:txBody>
          <a:bodyPr rtlCol="0" anchor="ctr" wrap="square" lIns="54864" rIns="54864" tIns="0" bIns="0">
            <a:noAutofit/>
          </a:bodyPr>
          <a:lstStyle/>
          <a:p>
            <a:pPr algn="ctr">
              <a:spcBef>
                <a:spcPts val="0"/>
              </a:spcBef>
              <a:spcAft>
                <a:spcPts val="0"/>
              </a:spcAft>
            </a:pPr>
            <a:r>
              <a:rPr lang="tr-TR" sz="1400" b="1" i="0">
                <a:solidFill>
                  <a:srgbClr val="FFFFFF"/>
                </a:solidFill>
                <a:latin typeface="Calibri"/>
              </a:rPr>
              <a:t>Klimatik-hidr.</a:t>
            </a:r>
          </a:p>
        </p:txBody>
      </p:sp>
      <p:sp>
        <p:nvSpPr>
          <p:cNvPr id="54" name="Rounded Rectangle 53"/>
          <p:cNvSpPr/>
          <p:nvPr/>
        </p:nvSpPr>
        <p:spPr>
          <a:xfrm>
            <a:off x="2973352" y="5367528"/>
            <a:ext cx="1022768" cy="329184"/>
          </a:xfrm>
          <a:prstGeom prst="roundRect">
            <a:avLst>
              <a:gd name="adj" fmla="val 50000"/>
            </a:avLst>
          </a:prstGeom>
          <a:solidFill>
            <a:srgbClr val="3E8E41"/>
          </a:solidFill>
          <a:ln>
            <a:noFill/>
          </a:ln>
          <a:effectLst/>
        </p:spPr>
        <p:txBody>
          <a:bodyPr rtlCol="0" anchor="ctr" wrap="square" lIns="54864" rIns="54864" tIns="0" bIns="0">
            <a:noAutofit/>
          </a:bodyPr>
          <a:lstStyle/>
          <a:p>
            <a:pPr algn="ctr">
              <a:spcBef>
                <a:spcPts val="0"/>
              </a:spcBef>
              <a:spcAft>
                <a:spcPts val="0"/>
              </a:spcAft>
            </a:pPr>
            <a:r>
              <a:rPr lang="tr-TR" sz="1400" b="1" i="0">
                <a:solidFill>
                  <a:srgbClr val="FFFFFF"/>
                </a:solidFill>
                <a:latin typeface="Calibri"/>
              </a:rPr>
              <a:t>Biyolojik</a:t>
            </a:r>
          </a:p>
        </p:txBody>
      </p:sp>
      <p:sp>
        <p:nvSpPr>
          <p:cNvPr id="55" name="Rounded Rectangle 54"/>
          <p:cNvSpPr/>
          <p:nvPr/>
        </p:nvSpPr>
        <p:spPr>
          <a:xfrm>
            <a:off x="4069272" y="5367528"/>
            <a:ext cx="843439" cy="329184"/>
          </a:xfrm>
          <a:prstGeom prst="roundRect">
            <a:avLst>
              <a:gd name="adj" fmla="val 50000"/>
            </a:avLst>
          </a:prstGeom>
          <a:solidFill>
            <a:srgbClr val="7A4EA0"/>
          </a:solidFill>
          <a:ln>
            <a:noFill/>
          </a:ln>
          <a:effectLst/>
        </p:spPr>
        <p:txBody>
          <a:bodyPr rtlCol="0" anchor="ctr" wrap="square" lIns="54864" rIns="54864" tIns="0" bIns="0">
            <a:noAutofit/>
          </a:bodyPr>
          <a:lstStyle/>
          <a:p>
            <a:pPr algn="ctr">
              <a:spcBef>
                <a:spcPts val="0"/>
              </a:spcBef>
              <a:spcAft>
                <a:spcPts val="0"/>
              </a:spcAft>
            </a:pPr>
            <a:r>
              <a:rPr lang="tr-TR" sz="1400" b="1" i="0">
                <a:solidFill>
                  <a:srgbClr val="FFFFFF"/>
                </a:solidFill>
                <a:latin typeface="Calibri"/>
              </a:rPr>
              <a:t>Sosyal</a:t>
            </a:r>
          </a:p>
        </p:txBody>
      </p:sp>
      <p:sp>
        <p:nvSpPr>
          <p:cNvPr id="56" name="Rounded Rectangle 55"/>
          <p:cNvSpPr/>
          <p:nvPr/>
        </p:nvSpPr>
        <p:spPr>
          <a:xfrm>
            <a:off x="4985863" y="5367528"/>
            <a:ext cx="1143579" cy="329184"/>
          </a:xfrm>
          <a:prstGeom prst="roundRect">
            <a:avLst>
              <a:gd name="adj" fmla="val 50000"/>
            </a:avLst>
          </a:prstGeom>
          <a:solidFill>
            <a:srgbClr val="5A6470"/>
          </a:solidFill>
          <a:ln>
            <a:noFill/>
          </a:ln>
          <a:effectLst/>
        </p:spPr>
        <p:txBody>
          <a:bodyPr rtlCol="0" anchor="ctr" wrap="square" lIns="54864" rIns="54864" tIns="0" bIns="0">
            <a:noAutofit/>
          </a:bodyPr>
          <a:lstStyle/>
          <a:p>
            <a:pPr algn="ctr">
              <a:spcBef>
                <a:spcPts val="0"/>
              </a:spcBef>
              <a:spcAft>
                <a:spcPts val="0"/>
              </a:spcAft>
            </a:pPr>
            <a:r>
              <a:rPr lang="tr-TR" sz="1400" b="1" i="0">
                <a:solidFill>
                  <a:srgbClr val="FFFFFF"/>
                </a:solidFill>
                <a:latin typeface="Calibri"/>
              </a:rPr>
              <a:t>Teknolojik</a:t>
            </a:r>
          </a:p>
        </p:txBody>
      </p:sp>
      <p:sp>
        <p:nvSpPr>
          <p:cNvPr id="57" name="TextBox 56"/>
          <p:cNvSpPr txBox="1"/>
          <p:nvPr/>
        </p:nvSpPr>
        <p:spPr>
          <a:xfrm>
            <a:off x="502920" y="5751576"/>
            <a:ext cx="7653460" cy="539496"/>
          </a:xfrm>
          <a:prstGeom prst="rect">
            <a:avLst/>
          </a:prstGeom>
          <a:noFill/>
        </p:spPr>
        <p:txBody>
          <a:bodyPr wrap="square" anchor="ctr" lIns="73152" rIns="73152" tIns="36576" bIns="36576">
            <a:noAutofit/>
          </a:bodyPr>
          <a:lstStyle/>
          <a:p>
            <a:pPr algn="l">
              <a:spcBef>
                <a:spcPts val="0"/>
              </a:spcBef>
              <a:spcAft>
                <a:spcPts val="0"/>
              </a:spcAft>
            </a:pPr>
            <a:r>
              <a:rPr lang="tr-TR" sz="1500" b="0" i="1">
                <a:solidFill>
                  <a:srgbClr val="262626"/>
                </a:solidFill>
                <a:latin typeface="Calibri"/>
              </a:rPr>
              <a:t>Orman yangını: yıldırım ya da aşırı sıcakla çıkarsa doğa kaynaklı (kitap s. 190), insan çıkarırsa insan kaynaklı.</a:t>
            </a:r>
          </a:p>
        </p:txBody>
      </p:sp>
      <p:sp>
        <p:nvSpPr>
          <p:cNvPr id="58" name="TextBox 57"/>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59" name="Rounded Rectangle 58"/>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194-195</a:t>
            </a:r>
          </a:p>
        </p:txBody>
      </p:sp>
      <p:sp>
        <p:nvSpPr>
          <p:cNvPr id="60" name="TextBox 59"/>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77 / 250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Afetler neden daha sık yaşanıyor?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KİTAP</a:t>
            </a:r>
          </a:p>
        </p:txBody>
      </p:sp>
      <p:sp>
        <p:nvSpPr>
          <p:cNvPr id="6" name="Rounded Rectangle 5"/>
          <p:cNvSpPr/>
          <p:nvPr/>
        </p:nvSpPr>
        <p:spPr>
          <a:xfrm>
            <a:off x="502920" y="1216152"/>
            <a:ext cx="11185855" cy="1143000"/>
          </a:xfrm>
          <a:prstGeom prst="roundRect">
            <a:avLst>
              <a:gd name="adj" fmla="val 8000"/>
            </a:avLst>
          </a:prstGeom>
          <a:solidFill>
            <a:srgbClr val="F0F0F0"/>
          </a:solidFill>
          <a:ln>
            <a:noFill/>
          </a:ln>
          <a:effectLst/>
        </p:spPr>
        <p:txBody>
          <a:bodyPr rtlCol="0" anchor="ctr"/>
          <a:lstStyle/>
          <a:p/>
        </p:txBody>
      </p:sp>
      <p:sp>
        <p:nvSpPr>
          <p:cNvPr id="7" name="Rectangle 6"/>
          <p:cNvSpPr/>
          <p:nvPr/>
        </p:nvSpPr>
        <p:spPr>
          <a:xfrm>
            <a:off x="502920" y="1216152"/>
            <a:ext cx="118872" cy="1143000"/>
          </a:xfrm>
          <a:prstGeom prst="rect">
            <a:avLst/>
          </a:prstGeom>
          <a:solidFill>
            <a:srgbClr val="6A4C93"/>
          </a:solidFill>
          <a:ln>
            <a:noFill/>
          </a:ln>
          <a:effectLst/>
        </p:spPr>
        <p:txBody>
          <a:bodyPr rtlCol="0" anchor="ctr"/>
          <a:lstStyle/>
          <a:p/>
        </p:txBody>
      </p:sp>
      <p:sp>
        <p:nvSpPr>
          <p:cNvPr id="8" name="TextBox 7"/>
          <p:cNvSpPr txBox="1"/>
          <p:nvPr/>
        </p:nvSpPr>
        <p:spPr>
          <a:xfrm>
            <a:off x="777240" y="1216152"/>
            <a:ext cx="10774375" cy="1143000"/>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Dünya genelinde afetler; son yıllarda görülen küresel iklim değişikliği, doğal kaynakların aşırı kullanımı, nüfus hareketleri gibi nedenlerle daha fazla yaşanmaktadır.</a:t>
            </a:r>
          </a:p>
        </p:txBody>
      </p:sp>
      <p:sp>
        <p:nvSpPr>
          <p:cNvPr id="9" name="Rounded Rectangle 8"/>
          <p:cNvSpPr/>
          <p:nvPr/>
        </p:nvSpPr>
        <p:spPr>
          <a:xfrm>
            <a:off x="502920" y="2542032"/>
            <a:ext cx="3594506" cy="2377440"/>
          </a:xfrm>
          <a:prstGeom prst="roundRect">
            <a:avLst>
              <a:gd name="adj" fmla="val 5000"/>
            </a:avLst>
          </a:prstGeom>
          <a:solidFill>
            <a:srgbClr val="F0F0F0"/>
          </a:solidFill>
          <a:ln>
            <a:noFill/>
          </a:ln>
          <a:effectLst/>
        </p:spPr>
        <p:txBody>
          <a:bodyPr rtlCol="0" anchor="ctr"/>
          <a:lstStyle/>
          <a:p/>
        </p:txBody>
      </p:sp>
      <p:sp>
        <p:nvSpPr>
          <p:cNvPr id="10" name="Rounded Rectangle 9"/>
          <p:cNvSpPr/>
          <p:nvPr/>
        </p:nvSpPr>
        <p:spPr>
          <a:xfrm>
            <a:off x="502920" y="2542032"/>
            <a:ext cx="3594506" cy="530352"/>
          </a:xfrm>
          <a:prstGeom prst="roundRect">
            <a:avLst>
              <a:gd name="adj" fmla="val 25000"/>
            </a:avLst>
          </a:prstGeom>
          <a:solidFill>
            <a:srgbClr val="2C6696"/>
          </a:solidFill>
          <a:ln>
            <a:noFill/>
          </a:ln>
          <a:effectLst/>
        </p:spPr>
        <p:txBody>
          <a:bodyPr rtlCol="0" anchor="ctr"/>
          <a:lstStyle/>
          <a:p/>
        </p:txBody>
      </p:sp>
      <p:sp>
        <p:nvSpPr>
          <p:cNvPr id="11" name="Rectangle 10"/>
          <p:cNvSpPr/>
          <p:nvPr/>
        </p:nvSpPr>
        <p:spPr>
          <a:xfrm>
            <a:off x="502920" y="2807208"/>
            <a:ext cx="3594506" cy="265176"/>
          </a:xfrm>
          <a:prstGeom prst="rect">
            <a:avLst/>
          </a:prstGeom>
          <a:solidFill>
            <a:srgbClr val="2C6696"/>
          </a:solidFill>
          <a:ln>
            <a:noFill/>
          </a:ln>
          <a:effectLst/>
        </p:spPr>
        <p:txBody>
          <a:bodyPr rtlCol="0" anchor="ctr"/>
          <a:lstStyle/>
          <a:p/>
        </p:txBody>
      </p:sp>
      <p:sp>
        <p:nvSpPr>
          <p:cNvPr id="12" name="TextBox 11"/>
          <p:cNvSpPr txBox="1"/>
          <p:nvPr/>
        </p:nvSpPr>
        <p:spPr>
          <a:xfrm>
            <a:off x="594360" y="254203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Küresel iklim değişikliği</a:t>
            </a:r>
          </a:p>
        </p:txBody>
      </p:sp>
      <p:sp>
        <p:nvSpPr>
          <p:cNvPr id="13" name="TextBox 12"/>
          <p:cNvSpPr txBox="1"/>
          <p:nvPr/>
        </p:nvSpPr>
        <p:spPr>
          <a:xfrm>
            <a:off x="612648" y="3145536"/>
            <a:ext cx="3375050" cy="170078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Sel, kuraklık, sıcak hava dalgası</a:t>
            </a:r>
          </a:p>
        </p:txBody>
      </p:sp>
      <p:sp>
        <p:nvSpPr>
          <p:cNvPr id="14" name="Rounded Rectangle 13"/>
          <p:cNvSpPr/>
          <p:nvPr/>
        </p:nvSpPr>
        <p:spPr>
          <a:xfrm>
            <a:off x="4298594" y="2542032"/>
            <a:ext cx="3594506" cy="2377440"/>
          </a:xfrm>
          <a:prstGeom prst="roundRect">
            <a:avLst>
              <a:gd name="adj" fmla="val 5000"/>
            </a:avLst>
          </a:prstGeom>
          <a:solidFill>
            <a:srgbClr val="F0F0F0"/>
          </a:solidFill>
          <a:ln>
            <a:noFill/>
          </a:ln>
          <a:effectLst/>
        </p:spPr>
        <p:txBody>
          <a:bodyPr rtlCol="0" anchor="ctr"/>
          <a:lstStyle/>
          <a:p/>
        </p:txBody>
      </p:sp>
      <p:sp>
        <p:nvSpPr>
          <p:cNvPr id="15" name="Rounded Rectangle 14"/>
          <p:cNvSpPr/>
          <p:nvPr/>
        </p:nvSpPr>
        <p:spPr>
          <a:xfrm>
            <a:off x="4298594" y="2542032"/>
            <a:ext cx="3594506" cy="530352"/>
          </a:xfrm>
          <a:prstGeom prst="roundRect">
            <a:avLst>
              <a:gd name="adj" fmla="val 25000"/>
            </a:avLst>
          </a:prstGeom>
          <a:solidFill>
            <a:srgbClr val="3E8E41"/>
          </a:solidFill>
          <a:ln>
            <a:noFill/>
          </a:ln>
          <a:effectLst/>
        </p:spPr>
        <p:txBody>
          <a:bodyPr rtlCol="0" anchor="ctr"/>
          <a:lstStyle/>
          <a:p/>
        </p:txBody>
      </p:sp>
      <p:sp>
        <p:nvSpPr>
          <p:cNvPr id="16" name="Rectangle 15"/>
          <p:cNvSpPr/>
          <p:nvPr/>
        </p:nvSpPr>
        <p:spPr>
          <a:xfrm>
            <a:off x="4298594" y="2807208"/>
            <a:ext cx="3594506" cy="265176"/>
          </a:xfrm>
          <a:prstGeom prst="rect">
            <a:avLst/>
          </a:prstGeom>
          <a:solidFill>
            <a:srgbClr val="3E8E41"/>
          </a:solidFill>
          <a:ln>
            <a:noFill/>
          </a:ln>
          <a:effectLst/>
        </p:spPr>
        <p:txBody>
          <a:bodyPr rtlCol="0" anchor="ctr"/>
          <a:lstStyle/>
          <a:p/>
        </p:txBody>
      </p:sp>
      <p:sp>
        <p:nvSpPr>
          <p:cNvPr id="17" name="TextBox 16"/>
          <p:cNvSpPr txBox="1"/>
          <p:nvPr/>
        </p:nvSpPr>
        <p:spPr>
          <a:xfrm>
            <a:off x="4390034" y="254203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1850" b="1" i="0">
                <a:solidFill>
                  <a:srgbClr val="FFFFFF"/>
                </a:solidFill>
                <a:latin typeface="Calibri"/>
              </a:rPr>
              <a:t>Doğal kaynakların aşırı kullanımı</a:t>
            </a:r>
          </a:p>
        </p:txBody>
      </p:sp>
      <p:sp>
        <p:nvSpPr>
          <p:cNvPr id="18" name="TextBox 17"/>
          <p:cNvSpPr txBox="1"/>
          <p:nvPr/>
        </p:nvSpPr>
        <p:spPr>
          <a:xfrm>
            <a:off x="4408322" y="3145536"/>
            <a:ext cx="3375050" cy="170078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Toprak, orman ve su kaynakları</a:t>
            </a:r>
          </a:p>
        </p:txBody>
      </p:sp>
      <p:sp>
        <p:nvSpPr>
          <p:cNvPr id="19" name="Rounded Rectangle 18"/>
          <p:cNvSpPr/>
          <p:nvPr/>
        </p:nvSpPr>
        <p:spPr>
          <a:xfrm>
            <a:off x="8094268" y="2542032"/>
            <a:ext cx="3594506" cy="2377440"/>
          </a:xfrm>
          <a:prstGeom prst="roundRect">
            <a:avLst>
              <a:gd name="adj" fmla="val 5000"/>
            </a:avLst>
          </a:prstGeom>
          <a:solidFill>
            <a:srgbClr val="F0F0F0"/>
          </a:solidFill>
          <a:ln>
            <a:noFill/>
          </a:ln>
          <a:effectLst/>
        </p:spPr>
        <p:txBody>
          <a:bodyPr rtlCol="0" anchor="ctr"/>
          <a:lstStyle/>
          <a:p/>
        </p:txBody>
      </p:sp>
      <p:sp>
        <p:nvSpPr>
          <p:cNvPr id="20" name="Rounded Rectangle 19"/>
          <p:cNvSpPr/>
          <p:nvPr/>
        </p:nvSpPr>
        <p:spPr>
          <a:xfrm>
            <a:off x="8094268" y="2542032"/>
            <a:ext cx="3594506" cy="530352"/>
          </a:xfrm>
          <a:prstGeom prst="roundRect">
            <a:avLst>
              <a:gd name="adj" fmla="val 25000"/>
            </a:avLst>
          </a:prstGeom>
          <a:solidFill>
            <a:srgbClr val="7A4EA0"/>
          </a:solidFill>
          <a:ln>
            <a:noFill/>
          </a:ln>
          <a:effectLst/>
        </p:spPr>
        <p:txBody>
          <a:bodyPr rtlCol="0" anchor="ctr"/>
          <a:lstStyle/>
          <a:p/>
        </p:txBody>
      </p:sp>
      <p:sp>
        <p:nvSpPr>
          <p:cNvPr id="21" name="Rectangle 20"/>
          <p:cNvSpPr/>
          <p:nvPr/>
        </p:nvSpPr>
        <p:spPr>
          <a:xfrm>
            <a:off x="8094268" y="2807208"/>
            <a:ext cx="3594506" cy="265176"/>
          </a:xfrm>
          <a:prstGeom prst="rect">
            <a:avLst/>
          </a:prstGeom>
          <a:solidFill>
            <a:srgbClr val="7A4EA0"/>
          </a:solidFill>
          <a:ln>
            <a:noFill/>
          </a:ln>
          <a:effectLst/>
        </p:spPr>
        <p:txBody>
          <a:bodyPr rtlCol="0" anchor="ctr"/>
          <a:lstStyle/>
          <a:p/>
        </p:txBody>
      </p:sp>
      <p:sp>
        <p:nvSpPr>
          <p:cNvPr id="22" name="TextBox 21"/>
          <p:cNvSpPr txBox="1"/>
          <p:nvPr/>
        </p:nvSpPr>
        <p:spPr>
          <a:xfrm>
            <a:off x="8185708" y="254203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Nüfus hareketleri</a:t>
            </a:r>
          </a:p>
        </p:txBody>
      </p:sp>
      <p:sp>
        <p:nvSpPr>
          <p:cNvPr id="23" name="TextBox 22"/>
          <p:cNvSpPr txBox="1"/>
          <p:nvPr/>
        </p:nvSpPr>
        <p:spPr>
          <a:xfrm>
            <a:off x="8203996" y="3145536"/>
            <a:ext cx="3375050" cy="170078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Afet alanlarına daha çok insan</a:t>
            </a:r>
          </a:p>
        </p:txBody>
      </p:sp>
      <p:sp>
        <p:nvSpPr>
          <p:cNvPr id="24" name="Rounded Rectangle 23"/>
          <p:cNvSpPr/>
          <p:nvPr/>
        </p:nvSpPr>
        <p:spPr>
          <a:xfrm>
            <a:off x="502920" y="5102352"/>
            <a:ext cx="11185855" cy="1143001"/>
          </a:xfrm>
          <a:prstGeom prst="roundRect">
            <a:avLst>
              <a:gd name="adj" fmla="val 8000"/>
            </a:avLst>
          </a:prstGeom>
          <a:solidFill>
            <a:srgbClr val="F0F0F0"/>
          </a:solidFill>
          <a:ln>
            <a:noFill/>
          </a:ln>
          <a:effectLst/>
        </p:spPr>
        <p:txBody>
          <a:bodyPr rtlCol="0" anchor="ctr"/>
          <a:lstStyle/>
          <a:p/>
        </p:txBody>
      </p:sp>
      <p:sp>
        <p:nvSpPr>
          <p:cNvPr id="25" name="Rectangle 24"/>
          <p:cNvSpPr/>
          <p:nvPr/>
        </p:nvSpPr>
        <p:spPr>
          <a:xfrm>
            <a:off x="502920" y="5102352"/>
            <a:ext cx="118872" cy="1143001"/>
          </a:xfrm>
          <a:prstGeom prst="rect">
            <a:avLst/>
          </a:prstGeom>
          <a:solidFill>
            <a:srgbClr val="5A6470"/>
          </a:solidFill>
          <a:ln>
            <a:noFill/>
          </a:ln>
          <a:effectLst/>
        </p:spPr>
        <p:txBody>
          <a:bodyPr rtlCol="0" anchor="ctr"/>
          <a:lstStyle/>
          <a:p/>
        </p:txBody>
      </p:sp>
      <p:sp>
        <p:nvSpPr>
          <p:cNvPr id="26" name="TextBox 25"/>
          <p:cNvSpPr txBox="1"/>
          <p:nvPr/>
        </p:nvSpPr>
        <p:spPr>
          <a:xfrm>
            <a:off x="777240" y="5102352"/>
            <a:ext cx="10774375" cy="1143001"/>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Dünyada 2023 yılında meydana gelen afetlerin teknoloji kökenli olanlarında da artış yaşanmıştır.</a:t>
            </a:r>
          </a:p>
        </p:txBody>
      </p:sp>
      <p:sp>
        <p:nvSpPr>
          <p:cNvPr id="27" name="TextBox 2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8" name="Rounded Rectangle 2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195</a:t>
            </a:r>
          </a:p>
        </p:txBody>
      </p:sp>
      <p:sp>
        <p:nvSpPr>
          <p:cNvPr id="29" name="TextBox 2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78 / 250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5</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Kitaba göre kuraklık ve sel hangi afet türüne girer?</a:t>
            </a:r>
          </a:p>
        </p:txBody>
      </p:sp>
      <p:sp>
        <p:nvSpPr>
          <p:cNvPr id="7" name="Rounded Rectangle 6"/>
          <p:cNvSpPr/>
          <p:nvPr/>
        </p:nvSpPr>
        <p:spPr>
          <a:xfrm>
            <a:off x="502920" y="2633472"/>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694736"/>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Jeolojik</a:t>
            </a:r>
          </a:p>
        </p:txBody>
      </p:sp>
      <p:sp>
        <p:nvSpPr>
          <p:cNvPr id="10" name="Rounded Rectangle 9"/>
          <p:cNvSpPr/>
          <p:nvPr/>
        </p:nvSpPr>
        <p:spPr>
          <a:xfrm>
            <a:off x="502920" y="3368649"/>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429913"/>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368649"/>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Klimatik-hidrolojik</a:t>
            </a:r>
          </a:p>
        </p:txBody>
      </p:sp>
      <p:sp>
        <p:nvSpPr>
          <p:cNvPr id="13" name="Rounded Rectangle 12"/>
          <p:cNvSpPr/>
          <p:nvPr/>
        </p:nvSpPr>
        <p:spPr>
          <a:xfrm>
            <a:off x="502920" y="4103826"/>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4165090"/>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4103826"/>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Biyolojik</a:t>
            </a:r>
          </a:p>
        </p:txBody>
      </p:sp>
      <p:sp>
        <p:nvSpPr>
          <p:cNvPr id="16" name="Rounded Rectangle 15"/>
          <p:cNvSpPr/>
          <p:nvPr/>
        </p:nvSpPr>
        <p:spPr>
          <a:xfrm>
            <a:off x="502920" y="4839003"/>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900267"/>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839003"/>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Sosyal</a:t>
            </a:r>
          </a:p>
        </p:txBody>
      </p:sp>
      <p:sp>
        <p:nvSpPr>
          <p:cNvPr id="19" name="Rounded Rectangle 18"/>
          <p:cNvSpPr/>
          <p:nvPr/>
        </p:nvSpPr>
        <p:spPr>
          <a:xfrm>
            <a:off x="502920" y="5574180"/>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5635444"/>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5574180"/>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Teknolojik</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196</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79 / 250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5</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Kitaba göre kuraklık ve sel hangi afet türüne girer?</a:t>
            </a:r>
          </a:p>
        </p:txBody>
      </p:sp>
      <p:sp>
        <p:nvSpPr>
          <p:cNvPr id="7" name="Rounded Rectangle 6"/>
          <p:cNvSpPr/>
          <p:nvPr/>
        </p:nvSpPr>
        <p:spPr>
          <a:xfrm>
            <a:off x="502920" y="263347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58958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Jeolojik</a:t>
            </a:r>
          </a:p>
        </p:txBody>
      </p:sp>
      <p:sp>
        <p:nvSpPr>
          <p:cNvPr id="10" name="Rounded Rectangle 9"/>
          <p:cNvSpPr/>
          <p:nvPr/>
        </p:nvSpPr>
        <p:spPr>
          <a:xfrm>
            <a:off x="502920" y="3158337"/>
            <a:ext cx="11185855" cy="415137"/>
          </a:xfrm>
          <a:prstGeom prst="roundRect">
            <a:avLst>
              <a:gd name="adj" fmla="val 30000"/>
            </a:avLst>
          </a:prstGeom>
          <a:solidFill>
            <a:srgbClr val="E3F1E4"/>
          </a:solidFill>
          <a:ln w="31750">
            <a:solidFill>
              <a:srgbClr val="2E7D32"/>
            </a:solidFill>
          </a:ln>
          <a:effectLst/>
        </p:spPr>
        <p:txBody>
          <a:bodyPr rtlCol="0" anchor="ctr"/>
          <a:lstStyle/>
          <a:p/>
        </p:txBody>
      </p:sp>
      <p:sp>
        <p:nvSpPr>
          <p:cNvPr id="11" name="Oval 10"/>
          <p:cNvSpPr/>
          <p:nvPr/>
        </p:nvSpPr>
        <p:spPr>
          <a:xfrm>
            <a:off x="594360" y="3114445"/>
            <a:ext cx="502920" cy="50292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15833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262626"/>
                </a:solidFill>
                <a:latin typeface="Calibri"/>
              </a:rPr>
              <a:t>Klimatik-hidrolojik</a:t>
            </a:r>
          </a:p>
        </p:txBody>
      </p:sp>
      <p:sp>
        <p:nvSpPr>
          <p:cNvPr id="13" name="Rounded Rectangle 12"/>
          <p:cNvSpPr/>
          <p:nvPr/>
        </p:nvSpPr>
        <p:spPr>
          <a:xfrm>
            <a:off x="502920" y="368320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363931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368320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Biyolojik</a:t>
            </a:r>
          </a:p>
        </p:txBody>
      </p:sp>
      <p:sp>
        <p:nvSpPr>
          <p:cNvPr id="16" name="Rounded Rectangle 15"/>
          <p:cNvSpPr/>
          <p:nvPr/>
        </p:nvSpPr>
        <p:spPr>
          <a:xfrm>
            <a:off x="502920" y="420806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16417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20806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Sosyal</a:t>
            </a:r>
          </a:p>
        </p:txBody>
      </p:sp>
      <p:sp>
        <p:nvSpPr>
          <p:cNvPr id="19" name="Rounded Rectangle 18"/>
          <p:cNvSpPr/>
          <p:nvPr/>
        </p:nvSpPr>
        <p:spPr>
          <a:xfrm>
            <a:off x="502920" y="473293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468904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473293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Teknolojik</a:t>
            </a:r>
          </a:p>
        </p:txBody>
      </p:sp>
      <p:sp>
        <p:nvSpPr>
          <p:cNvPr id="22" name="Rounded Rectangle 21"/>
          <p:cNvSpPr/>
          <p:nvPr/>
        </p:nvSpPr>
        <p:spPr>
          <a:xfrm>
            <a:off x="502920" y="5266944"/>
            <a:ext cx="11185855" cy="100584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000" b="0" i="0">
                <a:solidFill>
                  <a:srgbClr val="262626"/>
                </a:solidFill>
                <a:latin typeface="Calibri"/>
              </a:rPr>
              <a:t>Doğa kaynaklı afetlerin önemli bir bölümü atmosfer olaylarına bağlı oluşur ve bunlar klimatik-hidrolojik afetler (kuraklık, sel vb.) olarak adlandırılır.</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196</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80 / 250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6</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Yunanistan'ın Larisa kentindeki tren kazası hangi afet türüne örnektir?</a:t>
            </a:r>
          </a:p>
        </p:txBody>
      </p:sp>
      <p:sp>
        <p:nvSpPr>
          <p:cNvPr id="7" name="Rounded Rectangle 6"/>
          <p:cNvSpPr/>
          <p:nvPr/>
        </p:nvSpPr>
        <p:spPr>
          <a:xfrm>
            <a:off x="502920" y="2633472"/>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694736"/>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Jeolojik</a:t>
            </a:r>
          </a:p>
        </p:txBody>
      </p:sp>
      <p:sp>
        <p:nvSpPr>
          <p:cNvPr id="10" name="Rounded Rectangle 9"/>
          <p:cNvSpPr/>
          <p:nvPr/>
        </p:nvSpPr>
        <p:spPr>
          <a:xfrm>
            <a:off x="502920" y="3368649"/>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429913"/>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368649"/>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Klimatik-hidrolojik</a:t>
            </a:r>
          </a:p>
        </p:txBody>
      </p:sp>
      <p:sp>
        <p:nvSpPr>
          <p:cNvPr id="13" name="Rounded Rectangle 12"/>
          <p:cNvSpPr/>
          <p:nvPr/>
        </p:nvSpPr>
        <p:spPr>
          <a:xfrm>
            <a:off x="502920" y="4103826"/>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4165090"/>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4103826"/>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Biyolojik</a:t>
            </a:r>
          </a:p>
        </p:txBody>
      </p:sp>
      <p:sp>
        <p:nvSpPr>
          <p:cNvPr id="16" name="Rounded Rectangle 15"/>
          <p:cNvSpPr/>
          <p:nvPr/>
        </p:nvSpPr>
        <p:spPr>
          <a:xfrm>
            <a:off x="502920" y="4839003"/>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900267"/>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839003"/>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Sosyal</a:t>
            </a:r>
          </a:p>
        </p:txBody>
      </p:sp>
      <p:sp>
        <p:nvSpPr>
          <p:cNvPr id="19" name="Rounded Rectangle 18"/>
          <p:cNvSpPr/>
          <p:nvPr/>
        </p:nvSpPr>
        <p:spPr>
          <a:xfrm>
            <a:off x="502920" y="5574180"/>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5635444"/>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5574180"/>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Teknolojik</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195-196</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81 / 250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6</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Yunanistan'ın Larisa kentindeki tren kazası hangi afet türüne örnektir?</a:t>
            </a:r>
          </a:p>
        </p:txBody>
      </p:sp>
      <p:sp>
        <p:nvSpPr>
          <p:cNvPr id="7" name="Rounded Rectangle 6"/>
          <p:cNvSpPr/>
          <p:nvPr/>
        </p:nvSpPr>
        <p:spPr>
          <a:xfrm>
            <a:off x="502920" y="263347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58958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Jeolojik</a:t>
            </a:r>
          </a:p>
        </p:txBody>
      </p:sp>
      <p:sp>
        <p:nvSpPr>
          <p:cNvPr id="10" name="Rounded Rectangle 9"/>
          <p:cNvSpPr/>
          <p:nvPr/>
        </p:nvSpPr>
        <p:spPr>
          <a:xfrm>
            <a:off x="502920" y="315833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11444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15833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Klimatik-hidrolojik</a:t>
            </a:r>
          </a:p>
        </p:txBody>
      </p:sp>
      <p:sp>
        <p:nvSpPr>
          <p:cNvPr id="13" name="Rounded Rectangle 12"/>
          <p:cNvSpPr/>
          <p:nvPr/>
        </p:nvSpPr>
        <p:spPr>
          <a:xfrm>
            <a:off x="502920" y="368320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363931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368320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Biyolojik</a:t>
            </a:r>
          </a:p>
        </p:txBody>
      </p:sp>
      <p:sp>
        <p:nvSpPr>
          <p:cNvPr id="16" name="Rounded Rectangle 15"/>
          <p:cNvSpPr/>
          <p:nvPr/>
        </p:nvSpPr>
        <p:spPr>
          <a:xfrm>
            <a:off x="502920" y="420806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16417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20806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Sosyal</a:t>
            </a:r>
          </a:p>
        </p:txBody>
      </p:sp>
      <p:sp>
        <p:nvSpPr>
          <p:cNvPr id="19" name="Rounded Rectangle 18"/>
          <p:cNvSpPr/>
          <p:nvPr/>
        </p:nvSpPr>
        <p:spPr>
          <a:xfrm>
            <a:off x="502920" y="4732932"/>
            <a:ext cx="11185855" cy="415137"/>
          </a:xfrm>
          <a:prstGeom prst="roundRect">
            <a:avLst>
              <a:gd name="adj" fmla="val 30000"/>
            </a:avLst>
          </a:prstGeom>
          <a:solidFill>
            <a:srgbClr val="E3F1E4"/>
          </a:solidFill>
          <a:ln w="31750">
            <a:solidFill>
              <a:srgbClr val="2E7D32"/>
            </a:solidFill>
          </a:ln>
          <a:effectLst/>
        </p:spPr>
        <p:txBody>
          <a:bodyPr rtlCol="0" anchor="ctr"/>
          <a:lstStyle/>
          <a:p/>
        </p:txBody>
      </p:sp>
      <p:sp>
        <p:nvSpPr>
          <p:cNvPr id="20" name="Oval 19"/>
          <p:cNvSpPr/>
          <p:nvPr/>
        </p:nvSpPr>
        <p:spPr>
          <a:xfrm>
            <a:off x="594360" y="4689040"/>
            <a:ext cx="502920" cy="50292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473293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262626"/>
                </a:solidFill>
                <a:latin typeface="Calibri"/>
              </a:rPr>
              <a:t>Teknolojik</a:t>
            </a:r>
          </a:p>
        </p:txBody>
      </p:sp>
      <p:sp>
        <p:nvSpPr>
          <p:cNvPr id="22" name="Rounded Rectangle 21"/>
          <p:cNvSpPr/>
          <p:nvPr/>
        </p:nvSpPr>
        <p:spPr>
          <a:xfrm>
            <a:off x="502920" y="5266944"/>
            <a:ext cx="11185855" cy="100584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000" b="0" i="0">
                <a:solidFill>
                  <a:srgbClr val="262626"/>
                </a:solidFill>
                <a:latin typeface="Calibri"/>
              </a:rPr>
              <a:t>Yunanistan’ın Larisa kentinde meydana gelen tren kazası teknoloji kökenli afet türüne örnek verilebilir (s. 195). Ulaşım kazaları teknolojik afettir (s. 196).</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195-196</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82 / 250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ETKİNLİK: Afet Türleri</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8 GRUP · 7 dk</a:t>
            </a:r>
          </a:p>
        </p:txBody>
      </p:sp>
      <p:sp>
        <p:nvSpPr>
          <p:cNvPr id="6" name="Rounded Rectangle 5"/>
          <p:cNvSpPr/>
          <p:nvPr/>
        </p:nvSpPr>
        <p:spPr>
          <a:xfrm>
            <a:off x="502920" y="1216152"/>
            <a:ext cx="11185855" cy="960120"/>
          </a:xfrm>
          <a:prstGeom prst="roundRect">
            <a:avLst>
              <a:gd name="adj" fmla="val 8000"/>
            </a:avLst>
          </a:prstGeom>
          <a:solidFill>
            <a:srgbClr val="FFF3D1"/>
          </a:solidFill>
          <a:ln>
            <a:noFill/>
          </a:ln>
          <a:effectLst/>
        </p:spPr>
        <p:txBody>
          <a:bodyPr rtlCol="0" anchor="ctr"/>
          <a:lstStyle/>
          <a:p/>
        </p:txBody>
      </p:sp>
      <p:sp>
        <p:nvSpPr>
          <p:cNvPr id="7" name="TextBox 6"/>
          <p:cNvSpPr txBox="1"/>
          <p:nvPr/>
        </p:nvSpPr>
        <p:spPr>
          <a:xfrm>
            <a:off x="640080" y="1271016"/>
            <a:ext cx="1143000" cy="452628"/>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D3373A"/>
                </a:solidFill>
                <a:latin typeface="Calibri"/>
              </a:rPr>
              <a:t>Amaç</a:t>
            </a:r>
          </a:p>
        </p:txBody>
      </p:sp>
      <p:sp>
        <p:nvSpPr>
          <p:cNvPr id="8" name="TextBox 7"/>
          <p:cNvSpPr txBox="1"/>
          <p:nvPr/>
        </p:nvSpPr>
        <p:spPr>
          <a:xfrm>
            <a:off x="1783080" y="1271016"/>
            <a:ext cx="9722815" cy="452628"/>
          </a:xfrm>
          <a:prstGeom prst="rect">
            <a:avLst/>
          </a:prstGeom>
          <a:noFill/>
        </p:spPr>
        <p:txBody>
          <a:bodyPr wrap="square" anchor="ctr" lIns="73152" rIns="73152" tIns="36576" bIns="36576">
            <a:noAutofit/>
          </a:bodyPr>
          <a:lstStyle/>
          <a:p>
            <a:pPr algn="l">
              <a:spcBef>
                <a:spcPts val="0"/>
              </a:spcBef>
              <a:spcAft>
                <a:spcPts val="0"/>
              </a:spcAft>
            </a:pPr>
            <a:r>
              <a:rPr lang="tr-TR" sz="1800" b="0" i="1">
                <a:solidFill>
                  <a:srgbClr val="262626"/>
                </a:solidFill>
                <a:latin typeface="Calibri"/>
              </a:rPr>
              <a:t>Afetleri oluşum kökenlerine göre sınıflandırabilme</a:t>
            </a:r>
          </a:p>
        </p:txBody>
      </p:sp>
      <p:sp>
        <p:nvSpPr>
          <p:cNvPr id="9" name="TextBox 8"/>
          <p:cNvSpPr txBox="1"/>
          <p:nvPr/>
        </p:nvSpPr>
        <p:spPr>
          <a:xfrm>
            <a:off x="640080" y="1696212"/>
            <a:ext cx="1143000" cy="425196"/>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D3373A"/>
                </a:solidFill>
                <a:latin typeface="Calibri"/>
              </a:rPr>
              <a:t>Beceri</a:t>
            </a:r>
          </a:p>
        </p:txBody>
      </p:sp>
      <p:sp>
        <p:nvSpPr>
          <p:cNvPr id="10" name="TextBox 9"/>
          <p:cNvSpPr txBox="1"/>
          <p:nvPr/>
        </p:nvSpPr>
        <p:spPr>
          <a:xfrm>
            <a:off x="1783080" y="1696212"/>
            <a:ext cx="9722815" cy="425196"/>
          </a:xfrm>
          <a:prstGeom prst="rect">
            <a:avLst/>
          </a:prstGeom>
          <a:noFill/>
        </p:spPr>
        <p:txBody>
          <a:bodyPr wrap="square" anchor="ctr" lIns="73152" rIns="73152" tIns="36576" bIns="36576">
            <a:noAutofit/>
          </a:bodyPr>
          <a:lstStyle/>
          <a:p>
            <a:pPr algn="l">
              <a:spcBef>
                <a:spcPts val="0"/>
              </a:spcBef>
              <a:spcAft>
                <a:spcPts val="0"/>
              </a:spcAft>
            </a:pPr>
            <a:r>
              <a:rPr lang="tr-TR" sz="1800" b="0" i="1">
                <a:solidFill>
                  <a:srgbClr val="262626"/>
                </a:solidFill>
                <a:latin typeface="Calibri"/>
              </a:rPr>
              <a:t>Sınıflandırma, İletişim, İş Birliği, Sistematik Olma</a:t>
            </a:r>
          </a:p>
        </p:txBody>
      </p:sp>
      <p:sp>
        <p:nvSpPr>
          <p:cNvPr id="11" name="Rounded Rectangle 10"/>
          <p:cNvSpPr/>
          <p:nvPr/>
        </p:nvSpPr>
        <p:spPr>
          <a:xfrm>
            <a:off x="502920" y="2313432"/>
            <a:ext cx="11185855" cy="105156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000" b="1" i="1">
                <a:solidFill>
                  <a:srgbClr val="262626"/>
                </a:solidFill>
                <a:latin typeface="Calibri"/>
              </a:rPr>
              <a:t>Öğretmen rehberliğinde gruplar oluşturup aşağıdaki listede verilen afetleri oluşumlarına göre sınıflandırarak tabloyu doldurunuz. Yazdığınız bilgileri diğer gruplarla sözlü olarak paylaşınız.</a:t>
            </a:r>
          </a:p>
        </p:txBody>
      </p:sp>
      <p:sp>
        <p:nvSpPr>
          <p:cNvPr id="12" name="Rounded Rectangle 11"/>
          <p:cNvSpPr/>
          <p:nvPr/>
        </p:nvSpPr>
        <p:spPr>
          <a:xfrm>
            <a:off x="502920" y="3502152"/>
            <a:ext cx="11185855" cy="829056"/>
          </a:xfrm>
          <a:prstGeom prst="roundRect">
            <a:avLst>
              <a:gd name="adj" fmla="val 8000"/>
            </a:avLst>
          </a:prstGeom>
          <a:solidFill>
            <a:srgbClr val="F0F0F0"/>
          </a:solidFill>
          <a:ln>
            <a:noFill/>
          </a:ln>
          <a:effectLst/>
        </p:spPr>
        <p:txBody>
          <a:bodyPr rtlCol="0" anchor="ctr"/>
          <a:lstStyle/>
          <a:p/>
        </p:txBody>
      </p:sp>
      <p:sp>
        <p:nvSpPr>
          <p:cNvPr id="13" name="Rounded Rectangle 12"/>
          <p:cNvSpPr/>
          <p:nvPr/>
        </p:nvSpPr>
        <p:spPr>
          <a:xfrm>
            <a:off x="502920" y="3502152"/>
            <a:ext cx="1600200" cy="829056"/>
          </a:xfrm>
          <a:prstGeom prst="roundRect">
            <a:avLst>
              <a:gd name="adj" fmla="val 8000"/>
            </a:avLst>
          </a:prstGeom>
          <a:solidFill>
            <a:srgbClr val="6A4C93"/>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TASNİF</a:t>
            </a:r>
          </a:p>
        </p:txBody>
      </p:sp>
      <p:sp>
        <p:nvSpPr>
          <p:cNvPr id="14" name="TextBox 13"/>
          <p:cNvSpPr txBox="1"/>
          <p:nvPr/>
        </p:nvSpPr>
        <p:spPr>
          <a:xfrm>
            <a:off x="2240280" y="3502152"/>
            <a:ext cx="9357055" cy="829056"/>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262626"/>
                </a:solidFill>
                <a:latin typeface="Calibri"/>
              </a:rPr>
              <a:t>Kartları kitabın beş sütununa yeniden dağıtın.</a:t>
            </a:r>
          </a:p>
        </p:txBody>
      </p:sp>
      <p:sp>
        <p:nvSpPr>
          <p:cNvPr id="15" name="Rounded Rectangle 14"/>
          <p:cNvSpPr/>
          <p:nvPr/>
        </p:nvSpPr>
        <p:spPr>
          <a:xfrm>
            <a:off x="502920" y="4459224"/>
            <a:ext cx="11185855" cy="829056"/>
          </a:xfrm>
          <a:prstGeom prst="roundRect">
            <a:avLst>
              <a:gd name="adj" fmla="val 8000"/>
            </a:avLst>
          </a:prstGeom>
          <a:solidFill>
            <a:srgbClr val="F0F0F0"/>
          </a:solidFill>
          <a:ln>
            <a:noFill/>
          </a:ln>
          <a:effectLst/>
        </p:spPr>
        <p:txBody>
          <a:bodyPr rtlCol="0" anchor="ctr"/>
          <a:lstStyle/>
          <a:p/>
        </p:txBody>
      </p:sp>
      <p:sp>
        <p:nvSpPr>
          <p:cNvPr id="16" name="Rounded Rectangle 15"/>
          <p:cNvSpPr/>
          <p:nvPr/>
        </p:nvSpPr>
        <p:spPr>
          <a:xfrm>
            <a:off x="502920" y="4459224"/>
            <a:ext cx="1600200" cy="829056"/>
          </a:xfrm>
          <a:prstGeom prst="roundRect">
            <a:avLst>
              <a:gd name="adj" fmla="val 8000"/>
            </a:avLst>
          </a:prstGeom>
          <a:solidFill>
            <a:srgbClr val="6A4C93"/>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ETİKET</a:t>
            </a:r>
          </a:p>
        </p:txBody>
      </p:sp>
      <p:sp>
        <p:nvSpPr>
          <p:cNvPr id="17" name="TextBox 16"/>
          <p:cNvSpPr txBox="1"/>
          <p:nvPr/>
        </p:nvSpPr>
        <p:spPr>
          <a:xfrm>
            <a:off x="2240280" y="4459224"/>
            <a:ext cx="9357055" cy="829056"/>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262626"/>
                </a:solidFill>
                <a:latin typeface="Calibri"/>
              </a:rPr>
              <a:t>Her sütunun başına türün adını yazın.</a:t>
            </a:r>
          </a:p>
        </p:txBody>
      </p:sp>
      <p:sp>
        <p:nvSpPr>
          <p:cNvPr id="18" name="Rounded Rectangle 17"/>
          <p:cNvSpPr/>
          <p:nvPr/>
        </p:nvSpPr>
        <p:spPr>
          <a:xfrm>
            <a:off x="502920" y="5416296"/>
            <a:ext cx="11185855" cy="829056"/>
          </a:xfrm>
          <a:prstGeom prst="roundRect">
            <a:avLst>
              <a:gd name="adj" fmla="val 8000"/>
            </a:avLst>
          </a:prstGeom>
          <a:solidFill>
            <a:srgbClr val="F0F0F0"/>
          </a:solidFill>
          <a:ln>
            <a:noFill/>
          </a:ln>
          <a:effectLst/>
        </p:spPr>
        <p:txBody>
          <a:bodyPr rtlCol="0" anchor="ctr"/>
          <a:lstStyle/>
          <a:p/>
        </p:txBody>
      </p:sp>
      <p:sp>
        <p:nvSpPr>
          <p:cNvPr id="19" name="Rounded Rectangle 18"/>
          <p:cNvSpPr/>
          <p:nvPr/>
        </p:nvSpPr>
        <p:spPr>
          <a:xfrm>
            <a:off x="502920" y="5416296"/>
            <a:ext cx="1600200" cy="829056"/>
          </a:xfrm>
          <a:prstGeom prst="roundRect">
            <a:avLst>
              <a:gd name="adj" fmla="val 8000"/>
            </a:avLst>
          </a:prstGeom>
          <a:solidFill>
            <a:srgbClr val="6A4C93"/>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TARTIŞ</a:t>
            </a:r>
          </a:p>
        </p:txBody>
      </p:sp>
      <p:sp>
        <p:nvSpPr>
          <p:cNvPr id="20" name="TextBox 19"/>
          <p:cNvSpPr txBox="1"/>
          <p:nvPr/>
        </p:nvSpPr>
        <p:spPr>
          <a:xfrm>
            <a:off x="2240280" y="5416296"/>
            <a:ext cx="9357055" cy="829056"/>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262626"/>
                </a:solidFill>
                <a:latin typeface="Calibri"/>
              </a:rPr>
              <a:t>Kitabın açıkça saymadığı kartlar: 'tartışılacak' alanına; kaynağına göre öneri yazın.</a:t>
            </a:r>
          </a:p>
        </p:txBody>
      </p:sp>
      <p:sp>
        <p:nvSpPr>
          <p:cNvPr id="21" name="TextBox 20"/>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2" name="Rounded Rectangle 21"/>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196</a:t>
            </a:r>
          </a:p>
        </p:txBody>
      </p:sp>
      <p:sp>
        <p:nvSpPr>
          <p:cNvPr id="23" name="TextBox 2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83 / 250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Oluşum türüne göre afetler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A3 TABLO</a:t>
            </a:r>
          </a:p>
        </p:txBody>
      </p:sp>
      <p:sp>
        <p:nvSpPr>
          <p:cNvPr id="6" name="Rounded Rectangle 5"/>
          <p:cNvSpPr/>
          <p:nvPr/>
        </p:nvSpPr>
        <p:spPr>
          <a:xfrm>
            <a:off x="502920" y="1216152"/>
            <a:ext cx="11185855" cy="457200"/>
          </a:xfrm>
          <a:prstGeom prst="roundRect">
            <a:avLst>
              <a:gd name="adj" fmla="val 10000"/>
            </a:avLst>
          </a:prstGeom>
          <a:solidFill>
            <a:srgbClr val="E0803A"/>
          </a:solidFill>
          <a:ln>
            <a:noFill/>
          </a:ln>
          <a:effectLst/>
        </p:spPr>
        <p:txBody>
          <a:bodyPr rtlCol="0" anchor="ctr" wrap="square" lIns="128016" rIns="128016" tIns="73152" bIns="73152">
            <a:noAutofit/>
          </a:bodyPr>
          <a:lstStyle/>
          <a:p>
            <a:pPr algn="ctr">
              <a:spcBef>
                <a:spcPts val="0"/>
              </a:spcBef>
              <a:spcAft>
                <a:spcPts val="0"/>
              </a:spcAft>
            </a:pPr>
            <a:r>
              <a:rPr lang="tr-TR" sz="1800" b="1" i="0">
                <a:solidFill>
                  <a:srgbClr val="FFFFFF"/>
                </a:solidFill>
                <a:latin typeface="Calibri"/>
              </a:rPr>
              <a:t>OLUŞUM TÜRÜNE GÖRE AFETLER</a:t>
            </a:r>
          </a:p>
        </p:txBody>
      </p:sp>
      <p:sp>
        <p:nvSpPr>
          <p:cNvPr id="7" name="Rounded Rectangle 6"/>
          <p:cNvSpPr/>
          <p:nvPr/>
        </p:nvSpPr>
        <p:spPr>
          <a:xfrm>
            <a:off x="502920" y="1764792"/>
            <a:ext cx="1673900" cy="2880360"/>
          </a:xfrm>
          <a:prstGeom prst="roundRect">
            <a:avLst>
              <a:gd name="adj" fmla="val 5000"/>
            </a:avLst>
          </a:prstGeom>
          <a:solidFill>
            <a:srgbClr val="FFFFFF"/>
          </a:solidFill>
          <a:ln>
            <a:noFill/>
          </a:ln>
          <a:effectLst/>
        </p:spPr>
        <p:txBody>
          <a:bodyPr rtlCol="0" anchor="ctr"/>
          <a:lstStyle/>
          <a:p/>
        </p:txBody>
      </p:sp>
      <p:sp>
        <p:nvSpPr>
          <p:cNvPr id="8" name="Rounded Rectangle 7"/>
          <p:cNvSpPr/>
          <p:nvPr/>
        </p:nvSpPr>
        <p:spPr>
          <a:xfrm>
            <a:off x="502920" y="1764792"/>
            <a:ext cx="1673900" cy="530352"/>
          </a:xfrm>
          <a:prstGeom prst="roundRect">
            <a:avLst>
              <a:gd name="adj" fmla="val 25000"/>
            </a:avLst>
          </a:prstGeom>
          <a:solidFill>
            <a:srgbClr val="4F4F4F"/>
          </a:solidFill>
          <a:ln>
            <a:noFill/>
          </a:ln>
          <a:effectLst/>
        </p:spPr>
        <p:txBody>
          <a:bodyPr rtlCol="0" anchor="ctr"/>
          <a:lstStyle/>
          <a:p/>
        </p:txBody>
      </p:sp>
      <p:sp>
        <p:nvSpPr>
          <p:cNvPr id="9" name="Rectangle 8"/>
          <p:cNvSpPr/>
          <p:nvPr/>
        </p:nvSpPr>
        <p:spPr>
          <a:xfrm>
            <a:off x="502920" y="2029968"/>
            <a:ext cx="1673900" cy="265176"/>
          </a:xfrm>
          <a:prstGeom prst="rect">
            <a:avLst/>
          </a:prstGeom>
          <a:solidFill>
            <a:srgbClr val="4F4F4F"/>
          </a:solidFill>
          <a:ln>
            <a:noFill/>
          </a:ln>
          <a:effectLst/>
        </p:spPr>
        <p:txBody>
          <a:bodyPr rtlCol="0" anchor="ctr"/>
          <a:lstStyle/>
          <a:p/>
        </p:txBody>
      </p:sp>
      <p:sp>
        <p:nvSpPr>
          <p:cNvPr id="10" name="TextBox 9"/>
          <p:cNvSpPr txBox="1"/>
          <p:nvPr/>
        </p:nvSpPr>
        <p:spPr>
          <a:xfrm>
            <a:off x="594360" y="1764792"/>
            <a:ext cx="1491020" cy="530352"/>
          </a:xfrm>
          <a:prstGeom prst="rect">
            <a:avLst/>
          </a:prstGeom>
          <a:noFill/>
        </p:spPr>
        <p:txBody>
          <a:bodyPr wrap="square" anchor="ctr" lIns="73152" rIns="73152" tIns="36576" bIns="36576">
            <a:noAutofit/>
          </a:bodyPr>
          <a:lstStyle/>
          <a:p>
            <a:pPr algn="l">
              <a:spcBef>
                <a:spcPts val="0"/>
              </a:spcBef>
              <a:spcAft>
                <a:spcPts val="0"/>
              </a:spcAft>
            </a:pPr>
            <a:r>
              <a:rPr lang="tr-TR" sz="1700" b="1" i="0">
                <a:solidFill>
                  <a:srgbClr val="FFFFFF"/>
                </a:solidFill>
                <a:latin typeface="Calibri"/>
              </a:rPr>
              <a:t>………… Afetler</a:t>
            </a:r>
          </a:p>
        </p:txBody>
      </p:sp>
      <p:sp>
        <p:nvSpPr>
          <p:cNvPr id="11" name="Rounded Rectangle 10"/>
          <p:cNvSpPr/>
          <p:nvPr/>
        </p:nvSpPr>
        <p:spPr>
          <a:xfrm>
            <a:off x="502920" y="1764792"/>
            <a:ext cx="1673900" cy="2880360"/>
          </a:xfrm>
          <a:prstGeom prst="roundRect">
            <a:avLst>
              <a:gd name="adj" fmla="val 5000"/>
            </a:avLst>
          </a:prstGeom>
          <a:noFill/>
          <a:ln w="12700">
            <a:solidFill>
              <a:srgbClr val="D9D9D9"/>
            </a:solidFill>
          </a:ln>
          <a:effectLst/>
        </p:spPr>
        <p:txBody>
          <a:bodyPr rtlCol="0" anchor="ctr"/>
          <a:lstStyle/>
          <a:p/>
        </p:txBody>
      </p:sp>
      <p:cxnSp>
        <p:nvCxnSpPr>
          <p:cNvPr id="12" name="Connector 11"/>
          <p:cNvCxnSpPr/>
          <p:nvPr/>
        </p:nvCxnSpPr>
        <p:spPr>
          <a:xfrm>
            <a:off x="640080" y="2765145"/>
            <a:ext cx="1399580" cy="0"/>
          </a:xfrm>
          <a:prstGeom prst="line">
            <a:avLst/>
          </a:prstGeom>
          <a:ln w="12700">
            <a:solidFill>
              <a:srgbClr val="D9D9D9"/>
            </a:solidFill>
            <a:prstDash val="dash"/>
          </a:ln>
        </p:spPr>
      </p:cxnSp>
      <p:cxnSp>
        <p:nvCxnSpPr>
          <p:cNvPr id="13" name="Connector 12"/>
          <p:cNvCxnSpPr/>
          <p:nvPr/>
        </p:nvCxnSpPr>
        <p:spPr>
          <a:xfrm>
            <a:off x="640080" y="3235147"/>
            <a:ext cx="1399580" cy="0"/>
          </a:xfrm>
          <a:prstGeom prst="line">
            <a:avLst/>
          </a:prstGeom>
          <a:ln w="12700">
            <a:solidFill>
              <a:srgbClr val="D9D9D9"/>
            </a:solidFill>
            <a:prstDash val="dash"/>
          </a:ln>
        </p:spPr>
      </p:cxnSp>
      <p:cxnSp>
        <p:nvCxnSpPr>
          <p:cNvPr id="14" name="Connector 13"/>
          <p:cNvCxnSpPr/>
          <p:nvPr/>
        </p:nvCxnSpPr>
        <p:spPr>
          <a:xfrm>
            <a:off x="640080" y="3705148"/>
            <a:ext cx="1399580" cy="0"/>
          </a:xfrm>
          <a:prstGeom prst="line">
            <a:avLst/>
          </a:prstGeom>
          <a:ln w="12700">
            <a:solidFill>
              <a:srgbClr val="D9D9D9"/>
            </a:solidFill>
            <a:prstDash val="dash"/>
          </a:ln>
        </p:spPr>
      </p:cxnSp>
      <p:cxnSp>
        <p:nvCxnSpPr>
          <p:cNvPr id="15" name="Connector 14"/>
          <p:cNvCxnSpPr/>
          <p:nvPr/>
        </p:nvCxnSpPr>
        <p:spPr>
          <a:xfrm>
            <a:off x="640080" y="4175150"/>
            <a:ext cx="1399580" cy="0"/>
          </a:xfrm>
          <a:prstGeom prst="line">
            <a:avLst/>
          </a:prstGeom>
          <a:ln w="12700">
            <a:solidFill>
              <a:srgbClr val="D9D9D9"/>
            </a:solidFill>
            <a:prstDash val="dash"/>
          </a:ln>
        </p:spPr>
      </p:cxnSp>
      <p:sp>
        <p:nvSpPr>
          <p:cNvPr id="16" name="Rounded Rectangle 15"/>
          <p:cNvSpPr/>
          <p:nvPr/>
        </p:nvSpPr>
        <p:spPr>
          <a:xfrm>
            <a:off x="2286548" y="1764792"/>
            <a:ext cx="1673900" cy="2880360"/>
          </a:xfrm>
          <a:prstGeom prst="roundRect">
            <a:avLst>
              <a:gd name="adj" fmla="val 5000"/>
            </a:avLst>
          </a:prstGeom>
          <a:solidFill>
            <a:srgbClr val="FFFFFF"/>
          </a:solidFill>
          <a:ln>
            <a:noFill/>
          </a:ln>
          <a:effectLst/>
        </p:spPr>
        <p:txBody>
          <a:bodyPr rtlCol="0" anchor="ctr"/>
          <a:lstStyle/>
          <a:p/>
        </p:txBody>
      </p:sp>
      <p:sp>
        <p:nvSpPr>
          <p:cNvPr id="17" name="Rounded Rectangle 16"/>
          <p:cNvSpPr/>
          <p:nvPr/>
        </p:nvSpPr>
        <p:spPr>
          <a:xfrm>
            <a:off x="2286548" y="1764792"/>
            <a:ext cx="1673900" cy="530352"/>
          </a:xfrm>
          <a:prstGeom prst="roundRect">
            <a:avLst>
              <a:gd name="adj" fmla="val 25000"/>
            </a:avLst>
          </a:prstGeom>
          <a:solidFill>
            <a:srgbClr val="4F4F4F"/>
          </a:solidFill>
          <a:ln>
            <a:noFill/>
          </a:ln>
          <a:effectLst/>
        </p:spPr>
        <p:txBody>
          <a:bodyPr rtlCol="0" anchor="ctr"/>
          <a:lstStyle/>
          <a:p/>
        </p:txBody>
      </p:sp>
      <p:sp>
        <p:nvSpPr>
          <p:cNvPr id="18" name="Rectangle 17"/>
          <p:cNvSpPr/>
          <p:nvPr/>
        </p:nvSpPr>
        <p:spPr>
          <a:xfrm>
            <a:off x="2286548" y="2029968"/>
            <a:ext cx="1673900" cy="265176"/>
          </a:xfrm>
          <a:prstGeom prst="rect">
            <a:avLst/>
          </a:prstGeom>
          <a:solidFill>
            <a:srgbClr val="4F4F4F"/>
          </a:solidFill>
          <a:ln>
            <a:noFill/>
          </a:ln>
          <a:effectLst/>
        </p:spPr>
        <p:txBody>
          <a:bodyPr rtlCol="0" anchor="ctr"/>
          <a:lstStyle/>
          <a:p/>
        </p:txBody>
      </p:sp>
      <p:sp>
        <p:nvSpPr>
          <p:cNvPr id="19" name="TextBox 18"/>
          <p:cNvSpPr txBox="1"/>
          <p:nvPr/>
        </p:nvSpPr>
        <p:spPr>
          <a:xfrm>
            <a:off x="2377988" y="1764792"/>
            <a:ext cx="1491020" cy="530352"/>
          </a:xfrm>
          <a:prstGeom prst="rect">
            <a:avLst/>
          </a:prstGeom>
          <a:noFill/>
        </p:spPr>
        <p:txBody>
          <a:bodyPr wrap="square" anchor="ctr" lIns="73152" rIns="73152" tIns="36576" bIns="36576">
            <a:noAutofit/>
          </a:bodyPr>
          <a:lstStyle/>
          <a:p>
            <a:pPr algn="l">
              <a:spcBef>
                <a:spcPts val="0"/>
              </a:spcBef>
              <a:spcAft>
                <a:spcPts val="0"/>
              </a:spcAft>
            </a:pPr>
            <a:r>
              <a:rPr lang="tr-TR" sz="1700" b="1" i="0">
                <a:solidFill>
                  <a:srgbClr val="FFFFFF"/>
                </a:solidFill>
                <a:latin typeface="Calibri"/>
              </a:rPr>
              <a:t>………… Afetler</a:t>
            </a:r>
          </a:p>
        </p:txBody>
      </p:sp>
      <p:sp>
        <p:nvSpPr>
          <p:cNvPr id="20" name="Rounded Rectangle 19"/>
          <p:cNvSpPr/>
          <p:nvPr/>
        </p:nvSpPr>
        <p:spPr>
          <a:xfrm>
            <a:off x="2286548" y="1764792"/>
            <a:ext cx="1673900" cy="2880360"/>
          </a:xfrm>
          <a:prstGeom prst="roundRect">
            <a:avLst>
              <a:gd name="adj" fmla="val 5000"/>
            </a:avLst>
          </a:prstGeom>
          <a:noFill/>
          <a:ln w="12700">
            <a:solidFill>
              <a:srgbClr val="D9D9D9"/>
            </a:solidFill>
          </a:ln>
          <a:effectLst/>
        </p:spPr>
        <p:txBody>
          <a:bodyPr rtlCol="0" anchor="ctr"/>
          <a:lstStyle/>
          <a:p/>
        </p:txBody>
      </p:sp>
      <p:cxnSp>
        <p:nvCxnSpPr>
          <p:cNvPr id="21" name="Connector 20"/>
          <p:cNvCxnSpPr/>
          <p:nvPr/>
        </p:nvCxnSpPr>
        <p:spPr>
          <a:xfrm>
            <a:off x="2423708" y="2765145"/>
            <a:ext cx="1399580" cy="0"/>
          </a:xfrm>
          <a:prstGeom prst="line">
            <a:avLst/>
          </a:prstGeom>
          <a:ln w="12700">
            <a:solidFill>
              <a:srgbClr val="D9D9D9"/>
            </a:solidFill>
            <a:prstDash val="dash"/>
          </a:ln>
        </p:spPr>
      </p:cxnSp>
      <p:cxnSp>
        <p:nvCxnSpPr>
          <p:cNvPr id="22" name="Connector 21"/>
          <p:cNvCxnSpPr/>
          <p:nvPr/>
        </p:nvCxnSpPr>
        <p:spPr>
          <a:xfrm>
            <a:off x="2423708" y="3235147"/>
            <a:ext cx="1399580" cy="0"/>
          </a:xfrm>
          <a:prstGeom prst="line">
            <a:avLst/>
          </a:prstGeom>
          <a:ln w="12700">
            <a:solidFill>
              <a:srgbClr val="D9D9D9"/>
            </a:solidFill>
            <a:prstDash val="dash"/>
          </a:ln>
        </p:spPr>
      </p:cxnSp>
      <p:cxnSp>
        <p:nvCxnSpPr>
          <p:cNvPr id="23" name="Connector 22"/>
          <p:cNvCxnSpPr/>
          <p:nvPr/>
        </p:nvCxnSpPr>
        <p:spPr>
          <a:xfrm>
            <a:off x="2423708" y="3705148"/>
            <a:ext cx="1399580" cy="0"/>
          </a:xfrm>
          <a:prstGeom prst="line">
            <a:avLst/>
          </a:prstGeom>
          <a:ln w="12700">
            <a:solidFill>
              <a:srgbClr val="D9D9D9"/>
            </a:solidFill>
            <a:prstDash val="dash"/>
          </a:ln>
        </p:spPr>
      </p:cxnSp>
      <p:cxnSp>
        <p:nvCxnSpPr>
          <p:cNvPr id="24" name="Connector 23"/>
          <p:cNvCxnSpPr/>
          <p:nvPr/>
        </p:nvCxnSpPr>
        <p:spPr>
          <a:xfrm>
            <a:off x="2423708" y="4175150"/>
            <a:ext cx="1399580" cy="0"/>
          </a:xfrm>
          <a:prstGeom prst="line">
            <a:avLst/>
          </a:prstGeom>
          <a:ln w="12700">
            <a:solidFill>
              <a:srgbClr val="D9D9D9"/>
            </a:solidFill>
            <a:prstDash val="dash"/>
          </a:ln>
        </p:spPr>
      </p:cxnSp>
      <p:sp>
        <p:nvSpPr>
          <p:cNvPr id="25" name="Rounded Rectangle 24"/>
          <p:cNvSpPr/>
          <p:nvPr/>
        </p:nvSpPr>
        <p:spPr>
          <a:xfrm>
            <a:off x="4070176" y="1764792"/>
            <a:ext cx="1673900" cy="2880360"/>
          </a:xfrm>
          <a:prstGeom prst="roundRect">
            <a:avLst>
              <a:gd name="adj" fmla="val 5000"/>
            </a:avLst>
          </a:prstGeom>
          <a:solidFill>
            <a:srgbClr val="FFFFFF"/>
          </a:solidFill>
          <a:ln>
            <a:noFill/>
          </a:ln>
          <a:effectLst/>
        </p:spPr>
        <p:txBody>
          <a:bodyPr rtlCol="0" anchor="ctr"/>
          <a:lstStyle/>
          <a:p/>
        </p:txBody>
      </p:sp>
      <p:sp>
        <p:nvSpPr>
          <p:cNvPr id="26" name="Rounded Rectangle 25"/>
          <p:cNvSpPr/>
          <p:nvPr/>
        </p:nvSpPr>
        <p:spPr>
          <a:xfrm>
            <a:off x="4070176" y="1764792"/>
            <a:ext cx="1673900" cy="530352"/>
          </a:xfrm>
          <a:prstGeom prst="roundRect">
            <a:avLst>
              <a:gd name="adj" fmla="val 25000"/>
            </a:avLst>
          </a:prstGeom>
          <a:solidFill>
            <a:srgbClr val="4F4F4F"/>
          </a:solidFill>
          <a:ln>
            <a:noFill/>
          </a:ln>
          <a:effectLst/>
        </p:spPr>
        <p:txBody>
          <a:bodyPr rtlCol="0" anchor="ctr"/>
          <a:lstStyle/>
          <a:p/>
        </p:txBody>
      </p:sp>
      <p:sp>
        <p:nvSpPr>
          <p:cNvPr id="27" name="Rectangle 26"/>
          <p:cNvSpPr/>
          <p:nvPr/>
        </p:nvSpPr>
        <p:spPr>
          <a:xfrm>
            <a:off x="4070176" y="2029968"/>
            <a:ext cx="1673900" cy="265176"/>
          </a:xfrm>
          <a:prstGeom prst="rect">
            <a:avLst/>
          </a:prstGeom>
          <a:solidFill>
            <a:srgbClr val="4F4F4F"/>
          </a:solidFill>
          <a:ln>
            <a:noFill/>
          </a:ln>
          <a:effectLst/>
        </p:spPr>
        <p:txBody>
          <a:bodyPr rtlCol="0" anchor="ctr"/>
          <a:lstStyle/>
          <a:p/>
        </p:txBody>
      </p:sp>
      <p:sp>
        <p:nvSpPr>
          <p:cNvPr id="28" name="TextBox 27"/>
          <p:cNvSpPr txBox="1"/>
          <p:nvPr/>
        </p:nvSpPr>
        <p:spPr>
          <a:xfrm>
            <a:off x="4161616" y="1764792"/>
            <a:ext cx="1491020" cy="530352"/>
          </a:xfrm>
          <a:prstGeom prst="rect">
            <a:avLst/>
          </a:prstGeom>
          <a:noFill/>
        </p:spPr>
        <p:txBody>
          <a:bodyPr wrap="square" anchor="ctr" lIns="73152" rIns="73152" tIns="36576" bIns="36576">
            <a:noAutofit/>
          </a:bodyPr>
          <a:lstStyle/>
          <a:p>
            <a:pPr algn="l">
              <a:spcBef>
                <a:spcPts val="0"/>
              </a:spcBef>
              <a:spcAft>
                <a:spcPts val="0"/>
              </a:spcAft>
            </a:pPr>
            <a:r>
              <a:rPr lang="tr-TR" sz="1700" b="1" i="0">
                <a:solidFill>
                  <a:srgbClr val="FFFFFF"/>
                </a:solidFill>
                <a:latin typeface="Calibri"/>
              </a:rPr>
              <a:t>………… Afetler</a:t>
            </a:r>
          </a:p>
        </p:txBody>
      </p:sp>
      <p:sp>
        <p:nvSpPr>
          <p:cNvPr id="29" name="Rounded Rectangle 28"/>
          <p:cNvSpPr/>
          <p:nvPr/>
        </p:nvSpPr>
        <p:spPr>
          <a:xfrm>
            <a:off x="4070176" y="1764792"/>
            <a:ext cx="1673900" cy="2880360"/>
          </a:xfrm>
          <a:prstGeom prst="roundRect">
            <a:avLst>
              <a:gd name="adj" fmla="val 5000"/>
            </a:avLst>
          </a:prstGeom>
          <a:noFill/>
          <a:ln w="12700">
            <a:solidFill>
              <a:srgbClr val="D9D9D9"/>
            </a:solidFill>
          </a:ln>
          <a:effectLst/>
        </p:spPr>
        <p:txBody>
          <a:bodyPr rtlCol="0" anchor="ctr"/>
          <a:lstStyle/>
          <a:p/>
        </p:txBody>
      </p:sp>
      <p:cxnSp>
        <p:nvCxnSpPr>
          <p:cNvPr id="30" name="Connector 29"/>
          <p:cNvCxnSpPr/>
          <p:nvPr/>
        </p:nvCxnSpPr>
        <p:spPr>
          <a:xfrm>
            <a:off x="4207336" y="2765145"/>
            <a:ext cx="1399580" cy="0"/>
          </a:xfrm>
          <a:prstGeom prst="line">
            <a:avLst/>
          </a:prstGeom>
          <a:ln w="12700">
            <a:solidFill>
              <a:srgbClr val="D9D9D9"/>
            </a:solidFill>
            <a:prstDash val="dash"/>
          </a:ln>
        </p:spPr>
      </p:cxnSp>
      <p:cxnSp>
        <p:nvCxnSpPr>
          <p:cNvPr id="31" name="Connector 30"/>
          <p:cNvCxnSpPr/>
          <p:nvPr/>
        </p:nvCxnSpPr>
        <p:spPr>
          <a:xfrm>
            <a:off x="4207336" y="3235147"/>
            <a:ext cx="1399580" cy="0"/>
          </a:xfrm>
          <a:prstGeom prst="line">
            <a:avLst/>
          </a:prstGeom>
          <a:ln w="12700">
            <a:solidFill>
              <a:srgbClr val="D9D9D9"/>
            </a:solidFill>
            <a:prstDash val="dash"/>
          </a:ln>
        </p:spPr>
      </p:cxnSp>
      <p:cxnSp>
        <p:nvCxnSpPr>
          <p:cNvPr id="32" name="Connector 31"/>
          <p:cNvCxnSpPr/>
          <p:nvPr/>
        </p:nvCxnSpPr>
        <p:spPr>
          <a:xfrm>
            <a:off x="4207336" y="3705148"/>
            <a:ext cx="1399580" cy="0"/>
          </a:xfrm>
          <a:prstGeom prst="line">
            <a:avLst/>
          </a:prstGeom>
          <a:ln w="12700">
            <a:solidFill>
              <a:srgbClr val="D9D9D9"/>
            </a:solidFill>
            <a:prstDash val="dash"/>
          </a:ln>
        </p:spPr>
      </p:cxnSp>
      <p:cxnSp>
        <p:nvCxnSpPr>
          <p:cNvPr id="33" name="Connector 32"/>
          <p:cNvCxnSpPr/>
          <p:nvPr/>
        </p:nvCxnSpPr>
        <p:spPr>
          <a:xfrm>
            <a:off x="4207336" y="4175150"/>
            <a:ext cx="1399580" cy="0"/>
          </a:xfrm>
          <a:prstGeom prst="line">
            <a:avLst/>
          </a:prstGeom>
          <a:ln w="12700">
            <a:solidFill>
              <a:srgbClr val="D9D9D9"/>
            </a:solidFill>
            <a:prstDash val="dash"/>
          </a:ln>
        </p:spPr>
      </p:cxnSp>
      <p:sp>
        <p:nvSpPr>
          <p:cNvPr id="34" name="Rounded Rectangle 33"/>
          <p:cNvSpPr/>
          <p:nvPr/>
        </p:nvSpPr>
        <p:spPr>
          <a:xfrm>
            <a:off x="5853804" y="1764792"/>
            <a:ext cx="1673900" cy="2880360"/>
          </a:xfrm>
          <a:prstGeom prst="roundRect">
            <a:avLst>
              <a:gd name="adj" fmla="val 5000"/>
            </a:avLst>
          </a:prstGeom>
          <a:solidFill>
            <a:srgbClr val="FFFFFF"/>
          </a:solidFill>
          <a:ln>
            <a:noFill/>
          </a:ln>
          <a:effectLst/>
        </p:spPr>
        <p:txBody>
          <a:bodyPr rtlCol="0" anchor="ctr"/>
          <a:lstStyle/>
          <a:p/>
        </p:txBody>
      </p:sp>
      <p:sp>
        <p:nvSpPr>
          <p:cNvPr id="35" name="Rounded Rectangle 34"/>
          <p:cNvSpPr/>
          <p:nvPr/>
        </p:nvSpPr>
        <p:spPr>
          <a:xfrm>
            <a:off x="5853804" y="1764792"/>
            <a:ext cx="1673900" cy="530352"/>
          </a:xfrm>
          <a:prstGeom prst="roundRect">
            <a:avLst>
              <a:gd name="adj" fmla="val 25000"/>
            </a:avLst>
          </a:prstGeom>
          <a:solidFill>
            <a:srgbClr val="4F4F4F"/>
          </a:solidFill>
          <a:ln>
            <a:noFill/>
          </a:ln>
          <a:effectLst/>
        </p:spPr>
        <p:txBody>
          <a:bodyPr rtlCol="0" anchor="ctr"/>
          <a:lstStyle/>
          <a:p/>
        </p:txBody>
      </p:sp>
      <p:sp>
        <p:nvSpPr>
          <p:cNvPr id="36" name="Rectangle 35"/>
          <p:cNvSpPr/>
          <p:nvPr/>
        </p:nvSpPr>
        <p:spPr>
          <a:xfrm>
            <a:off x="5853804" y="2029968"/>
            <a:ext cx="1673900" cy="265176"/>
          </a:xfrm>
          <a:prstGeom prst="rect">
            <a:avLst/>
          </a:prstGeom>
          <a:solidFill>
            <a:srgbClr val="4F4F4F"/>
          </a:solidFill>
          <a:ln>
            <a:noFill/>
          </a:ln>
          <a:effectLst/>
        </p:spPr>
        <p:txBody>
          <a:bodyPr rtlCol="0" anchor="ctr"/>
          <a:lstStyle/>
          <a:p/>
        </p:txBody>
      </p:sp>
      <p:sp>
        <p:nvSpPr>
          <p:cNvPr id="37" name="TextBox 36"/>
          <p:cNvSpPr txBox="1"/>
          <p:nvPr/>
        </p:nvSpPr>
        <p:spPr>
          <a:xfrm>
            <a:off x="5945244" y="1764792"/>
            <a:ext cx="1491020" cy="530352"/>
          </a:xfrm>
          <a:prstGeom prst="rect">
            <a:avLst/>
          </a:prstGeom>
          <a:noFill/>
        </p:spPr>
        <p:txBody>
          <a:bodyPr wrap="square" anchor="ctr" lIns="73152" rIns="73152" tIns="36576" bIns="36576">
            <a:noAutofit/>
          </a:bodyPr>
          <a:lstStyle/>
          <a:p>
            <a:pPr algn="l">
              <a:spcBef>
                <a:spcPts val="0"/>
              </a:spcBef>
              <a:spcAft>
                <a:spcPts val="0"/>
              </a:spcAft>
            </a:pPr>
            <a:r>
              <a:rPr lang="tr-TR" sz="1700" b="1" i="0">
                <a:solidFill>
                  <a:srgbClr val="FFFFFF"/>
                </a:solidFill>
                <a:latin typeface="Calibri"/>
              </a:rPr>
              <a:t>………… Afetler</a:t>
            </a:r>
          </a:p>
        </p:txBody>
      </p:sp>
      <p:sp>
        <p:nvSpPr>
          <p:cNvPr id="38" name="Rounded Rectangle 37"/>
          <p:cNvSpPr/>
          <p:nvPr/>
        </p:nvSpPr>
        <p:spPr>
          <a:xfrm>
            <a:off x="5853804" y="1764792"/>
            <a:ext cx="1673900" cy="2880360"/>
          </a:xfrm>
          <a:prstGeom prst="roundRect">
            <a:avLst>
              <a:gd name="adj" fmla="val 5000"/>
            </a:avLst>
          </a:prstGeom>
          <a:noFill/>
          <a:ln w="12700">
            <a:solidFill>
              <a:srgbClr val="D9D9D9"/>
            </a:solidFill>
          </a:ln>
          <a:effectLst/>
        </p:spPr>
        <p:txBody>
          <a:bodyPr rtlCol="0" anchor="ctr"/>
          <a:lstStyle/>
          <a:p/>
        </p:txBody>
      </p:sp>
      <p:cxnSp>
        <p:nvCxnSpPr>
          <p:cNvPr id="39" name="Connector 38"/>
          <p:cNvCxnSpPr/>
          <p:nvPr/>
        </p:nvCxnSpPr>
        <p:spPr>
          <a:xfrm>
            <a:off x="5990964" y="2765145"/>
            <a:ext cx="1399580" cy="0"/>
          </a:xfrm>
          <a:prstGeom prst="line">
            <a:avLst/>
          </a:prstGeom>
          <a:ln w="12700">
            <a:solidFill>
              <a:srgbClr val="D9D9D9"/>
            </a:solidFill>
            <a:prstDash val="dash"/>
          </a:ln>
        </p:spPr>
      </p:cxnSp>
      <p:cxnSp>
        <p:nvCxnSpPr>
          <p:cNvPr id="40" name="Connector 39"/>
          <p:cNvCxnSpPr/>
          <p:nvPr/>
        </p:nvCxnSpPr>
        <p:spPr>
          <a:xfrm>
            <a:off x="5990964" y="3235147"/>
            <a:ext cx="1399580" cy="0"/>
          </a:xfrm>
          <a:prstGeom prst="line">
            <a:avLst/>
          </a:prstGeom>
          <a:ln w="12700">
            <a:solidFill>
              <a:srgbClr val="D9D9D9"/>
            </a:solidFill>
            <a:prstDash val="dash"/>
          </a:ln>
        </p:spPr>
      </p:cxnSp>
      <p:cxnSp>
        <p:nvCxnSpPr>
          <p:cNvPr id="41" name="Connector 40"/>
          <p:cNvCxnSpPr/>
          <p:nvPr/>
        </p:nvCxnSpPr>
        <p:spPr>
          <a:xfrm>
            <a:off x="5990964" y="3705148"/>
            <a:ext cx="1399580" cy="0"/>
          </a:xfrm>
          <a:prstGeom prst="line">
            <a:avLst/>
          </a:prstGeom>
          <a:ln w="12700">
            <a:solidFill>
              <a:srgbClr val="D9D9D9"/>
            </a:solidFill>
            <a:prstDash val="dash"/>
          </a:ln>
        </p:spPr>
      </p:cxnSp>
      <p:cxnSp>
        <p:nvCxnSpPr>
          <p:cNvPr id="42" name="Connector 41"/>
          <p:cNvCxnSpPr/>
          <p:nvPr/>
        </p:nvCxnSpPr>
        <p:spPr>
          <a:xfrm>
            <a:off x="5990964" y="4175150"/>
            <a:ext cx="1399580" cy="0"/>
          </a:xfrm>
          <a:prstGeom prst="line">
            <a:avLst/>
          </a:prstGeom>
          <a:ln w="12700">
            <a:solidFill>
              <a:srgbClr val="D9D9D9"/>
            </a:solidFill>
            <a:prstDash val="dash"/>
          </a:ln>
        </p:spPr>
      </p:cxnSp>
      <p:sp>
        <p:nvSpPr>
          <p:cNvPr id="43" name="Rounded Rectangle 42"/>
          <p:cNvSpPr/>
          <p:nvPr/>
        </p:nvSpPr>
        <p:spPr>
          <a:xfrm>
            <a:off x="7637432" y="1764792"/>
            <a:ext cx="1673900" cy="2880360"/>
          </a:xfrm>
          <a:prstGeom prst="roundRect">
            <a:avLst>
              <a:gd name="adj" fmla="val 5000"/>
            </a:avLst>
          </a:prstGeom>
          <a:solidFill>
            <a:srgbClr val="FFFFFF"/>
          </a:solidFill>
          <a:ln>
            <a:noFill/>
          </a:ln>
          <a:effectLst/>
        </p:spPr>
        <p:txBody>
          <a:bodyPr rtlCol="0" anchor="ctr"/>
          <a:lstStyle/>
          <a:p/>
        </p:txBody>
      </p:sp>
      <p:sp>
        <p:nvSpPr>
          <p:cNvPr id="44" name="Rounded Rectangle 43"/>
          <p:cNvSpPr/>
          <p:nvPr/>
        </p:nvSpPr>
        <p:spPr>
          <a:xfrm>
            <a:off x="7637432" y="1764792"/>
            <a:ext cx="1673900" cy="530352"/>
          </a:xfrm>
          <a:prstGeom prst="roundRect">
            <a:avLst>
              <a:gd name="adj" fmla="val 25000"/>
            </a:avLst>
          </a:prstGeom>
          <a:solidFill>
            <a:srgbClr val="4F4F4F"/>
          </a:solidFill>
          <a:ln>
            <a:noFill/>
          </a:ln>
          <a:effectLst/>
        </p:spPr>
        <p:txBody>
          <a:bodyPr rtlCol="0" anchor="ctr"/>
          <a:lstStyle/>
          <a:p/>
        </p:txBody>
      </p:sp>
      <p:sp>
        <p:nvSpPr>
          <p:cNvPr id="45" name="Rectangle 44"/>
          <p:cNvSpPr/>
          <p:nvPr/>
        </p:nvSpPr>
        <p:spPr>
          <a:xfrm>
            <a:off x="7637432" y="2029968"/>
            <a:ext cx="1673900" cy="265176"/>
          </a:xfrm>
          <a:prstGeom prst="rect">
            <a:avLst/>
          </a:prstGeom>
          <a:solidFill>
            <a:srgbClr val="4F4F4F"/>
          </a:solidFill>
          <a:ln>
            <a:noFill/>
          </a:ln>
          <a:effectLst/>
        </p:spPr>
        <p:txBody>
          <a:bodyPr rtlCol="0" anchor="ctr"/>
          <a:lstStyle/>
          <a:p/>
        </p:txBody>
      </p:sp>
      <p:sp>
        <p:nvSpPr>
          <p:cNvPr id="46" name="TextBox 45"/>
          <p:cNvSpPr txBox="1"/>
          <p:nvPr/>
        </p:nvSpPr>
        <p:spPr>
          <a:xfrm>
            <a:off x="7728872" y="1764792"/>
            <a:ext cx="1491020" cy="530352"/>
          </a:xfrm>
          <a:prstGeom prst="rect">
            <a:avLst/>
          </a:prstGeom>
          <a:noFill/>
        </p:spPr>
        <p:txBody>
          <a:bodyPr wrap="square" anchor="ctr" lIns="73152" rIns="73152" tIns="36576" bIns="36576">
            <a:noAutofit/>
          </a:bodyPr>
          <a:lstStyle/>
          <a:p>
            <a:pPr algn="l">
              <a:spcBef>
                <a:spcPts val="0"/>
              </a:spcBef>
              <a:spcAft>
                <a:spcPts val="0"/>
              </a:spcAft>
            </a:pPr>
            <a:r>
              <a:rPr lang="tr-TR" sz="1700" b="1" i="0">
                <a:solidFill>
                  <a:srgbClr val="FFFFFF"/>
                </a:solidFill>
                <a:latin typeface="Calibri"/>
              </a:rPr>
              <a:t>………… Afetler</a:t>
            </a:r>
          </a:p>
        </p:txBody>
      </p:sp>
      <p:sp>
        <p:nvSpPr>
          <p:cNvPr id="47" name="Rounded Rectangle 46"/>
          <p:cNvSpPr/>
          <p:nvPr/>
        </p:nvSpPr>
        <p:spPr>
          <a:xfrm>
            <a:off x="7637432" y="1764792"/>
            <a:ext cx="1673900" cy="2880360"/>
          </a:xfrm>
          <a:prstGeom prst="roundRect">
            <a:avLst>
              <a:gd name="adj" fmla="val 5000"/>
            </a:avLst>
          </a:prstGeom>
          <a:noFill/>
          <a:ln w="12700">
            <a:solidFill>
              <a:srgbClr val="D9D9D9"/>
            </a:solidFill>
          </a:ln>
          <a:effectLst/>
        </p:spPr>
        <p:txBody>
          <a:bodyPr rtlCol="0" anchor="ctr"/>
          <a:lstStyle/>
          <a:p/>
        </p:txBody>
      </p:sp>
      <p:cxnSp>
        <p:nvCxnSpPr>
          <p:cNvPr id="48" name="Connector 47"/>
          <p:cNvCxnSpPr/>
          <p:nvPr/>
        </p:nvCxnSpPr>
        <p:spPr>
          <a:xfrm>
            <a:off x="7774592" y="2765145"/>
            <a:ext cx="1399580" cy="0"/>
          </a:xfrm>
          <a:prstGeom prst="line">
            <a:avLst/>
          </a:prstGeom>
          <a:ln w="12700">
            <a:solidFill>
              <a:srgbClr val="D9D9D9"/>
            </a:solidFill>
            <a:prstDash val="dash"/>
          </a:ln>
        </p:spPr>
      </p:cxnSp>
      <p:cxnSp>
        <p:nvCxnSpPr>
          <p:cNvPr id="49" name="Connector 48"/>
          <p:cNvCxnSpPr/>
          <p:nvPr/>
        </p:nvCxnSpPr>
        <p:spPr>
          <a:xfrm>
            <a:off x="7774592" y="3235147"/>
            <a:ext cx="1399580" cy="0"/>
          </a:xfrm>
          <a:prstGeom prst="line">
            <a:avLst/>
          </a:prstGeom>
          <a:ln w="12700">
            <a:solidFill>
              <a:srgbClr val="D9D9D9"/>
            </a:solidFill>
            <a:prstDash val="dash"/>
          </a:ln>
        </p:spPr>
      </p:cxnSp>
      <p:cxnSp>
        <p:nvCxnSpPr>
          <p:cNvPr id="50" name="Connector 49"/>
          <p:cNvCxnSpPr/>
          <p:nvPr/>
        </p:nvCxnSpPr>
        <p:spPr>
          <a:xfrm>
            <a:off x="7774592" y="3705148"/>
            <a:ext cx="1399580" cy="0"/>
          </a:xfrm>
          <a:prstGeom prst="line">
            <a:avLst/>
          </a:prstGeom>
          <a:ln w="12700">
            <a:solidFill>
              <a:srgbClr val="D9D9D9"/>
            </a:solidFill>
            <a:prstDash val="dash"/>
          </a:ln>
        </p:spPr>
      </p:cxnSp>
      <p:cxnSp>
        <p:nvCxnSpPr>
          <p:cNvPr id="51" name="Connector 50"/>
          <p:cNvCxnSpPr/>
          <p:nvPr/>
        </p:nvCxnSpPr>
        <p:spPr>
          <a:xfrm>
            <a:off x="7774592" y="4175150"/>
            <a:ext cx="1399580" cy="0"/>
          </a:xfrm>
          <a:prstGeom prst="line">
            <a:avLst/>
          </a:prstGeom>
          <a:ln w="12700">
            <a:solidFill>
              <a:srgbClr val="D9D9D9"/>
            </a:solidFill>
            <a:prstDash val="dash"/>
          </a:ln>
        </p:spPr>
      </p:cxnSp>
      <p:sp>
        <p:nvSpPr>
          <p:cNvPr id="52" name="Rounded Rectangle 51"/>
          <p:cNvSpPr/>
          <p:nvPr/>
        </p:nvSpPr>
        <p:spPr>
          <a:xfrm>
            <a:off x="9494212" y="1764792"/>
            <a:ext cx="2194563" cy="2880360"/>
          </a:xfrm>
          <a:prstGeom prst="roundRect">
            <a:avLst>
              <a:gd name="adj" fmla="val 5000"/>
            </a:avLst>
          </a:prstGeom>
          <a:solidFill>
            <a:srgbClr val="F9E1E1"/>
          </a:solidFill>
          <a:ln>
            <a:noFill/>
          </a:ln>
          <a:effectLst/>
        </p:spPr>
        <p:txBody>
          <a:bodyPr rtlCol="0" anchor="ctr"/>
          <a:lstStyle/>
          <a:p/>
        </p:txBody>
      </p:sp>
      <p:sp>
        <p:nvSpPr>
          <p:cNvPr id="53" name="Rounded Rectangle 52"/>
          <p:cNvSpPr/>
          <p:nvPr/>
        </p:nvSpPr>
        <p:spPr>
          <a:xfrm>
            <a:off x="9494212" y="1764792"/>
            <a:ext cx="2194563" cy="530352"/>
          </a:xfrm>
          <a:prstGeom prst="roundRect">
            <a:avLst>
              <a:gd name="adj" fmla="val 25000"/>
            </a:avLst>
          </a:prstGeom>
          <a:solidFill>
            <a:srgbClr val="D3373A"/>
          </a:solidFill>
          <a:ln>
            <a:noFill/>
          </a:ln>
          <a:effectLst/>
        </p:spPr>
        <p:txBody>
          <a:bodyPr rtlCol="0" anchor="ctr"/>
          <a:lstStyle/>
          <a:p/>
        </p:txBody>
      </p:sp>
      <p:sp>
        <p:nvSpPr>
          <p:cNvPr id="54" name="Rectangle 53"/>
          <p:cNvSpPr/>
          <p:nvPr/>
        </p:nvSpPr>
        <p:spPr>
          <a:xfrm>
            <a:off x="9494212" y="2029968"/>
            <a:ext cx="2194563" cy="265176"/>
          </a:xfrm>
          <a:prstGeom prst="rect">
            <a:avLst/>
          </a:prstGeom>
          <a:solidFill>
            <a:srgbClr val="D3373A"/>
          </a:solidFill>
          <a:ln>
            <a:noFill/>
          </a:ln>
          <a:effectLst/>
        </p:spPr>
        <p:txBody>
          <a:bodyPr rtlCol="0" anchor="ctr"/>
          <a:lstStyle/>
          <a:p/>
        </p:txBody>
      </p:sp>
      <p:sp>
        <p:nvSpPr>
          <p:cNvPr id="55" name="TextBox 54"/>
          <p:cNvSpPr txBox="1"/>
          <p:nvPr/>
        </p:nvSpPr>
        <p:spPr>
          <a:xfrm>
            <a:off x="9585652" y="1764792"/>
            <a:ext cx="2011683" cy="530352"/>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FFFFFF"/>
                </a:solidFill>
                <a:latin typeface="Calibri"/>
              </a:rPr>
              <a:t>Tartışılacak</a:t>
            </a:r>
          </a:p>
        </p:txBody>
      </p:sp>
      <p:sp>
        <p:nvSpPr>
          <p:cNvPr id="56" name="TextBox 55"/>
          <p:cNvSpPr txBox="1"/>
          <p:nvPr/>
        </p:nvSpPr>
        <p:spPr>
          <a:xfrm>
            <a:off x="9603940" y="2368296"/>
            <a:ext cx="1975107" cy="2203704"/>
          </a:xfrm>
          <a:prstGeom prst="rect">
            <a:avLst/>
          </a:prstGeom>
          <a:noFill/>
        </p:spPr>
        <p:txBody>
          <a:bodyPr wrap="square" anchor="t" lIns="73152" rIns="73152" tIns="36576" bIns="36576">
            <a:noAutofit/>
          </a:bodyPr>
          <a:lstStyle/>
          <a:p>
            <a:pPr algn="l">
              <a:spcBef>
                <a:spcPts val="0"/>
              </a:spcBef>
              <a:spcAft>
                <a:spcPts val="0"/>
              </a:spcAft>
            </a:pPr>
            <a:r>
              <a:rPr lang="tr-TR" sz="1600" b="0" i="0">
                <a:solidFill>
                  <a:srgbClr val="262626"/>
                </a:solidFill>
                <a:latin typeface="Calibri"/>
              </a:rPr>
              <a:t>Kart · önerilen tür · gerekçe</a:t>
            </a:r>
          </a:p>
        </p:txBody>
      </p:sp>
      <p:sp>
        <p:nvSpPr>
          <p:cNvPr id="57" name="TextBox 56"/>
          <p:cNvSpPr txBox="1"/>
          <p:nvPr/>
        </p:nvSpPr>
        <p:spPr>
          <a:xfrm>
            <a:off x="502920" y="4782312"/>
            <a:ext cx="11185855" cy="384048"/>
          </a:xfrm>
          <a:prstGeom prst="rect">
            <a:avLst/>
          </a:prstGeom>
          <a:noFill/>
        </p:spPr>
        <p:txBody>
          <a:bodyPr wrap="square" anchor="t" lIns="73152" rIns="73152" tIns="36576" bIns="36576">
            <a:noAutofit/>
          </a:bodyPr>
          <a:lstStyle/>
          <a:p>
            <a:pPr algn="l">
              <a:spcBef>
                <a:spcPts val="0"/>
              </a:spcBef>
              <a:spcAft>
                <a:spcPts val="0"/>
              </a:spcAft>
            </a:pPr>
            <a:r>
              <a:rPr lang="tr-TR" sz="1800" b="1" i="0">
                <a:solidFill>
                  <a:srgbClr val="6A4C93"/>
                </a:solidFill>
                <a:latin typeface="Calibri"/>
              </a:rPr>
              <a:t>Tartışmalı kart için dört soru: kaynağı nerede?</a:t>
            </a:r>
          </a:p>
        </p:txBody>
      </p:sp>
      <p:sp>
        <p:nvSpPr>
          <p:cNvPr id="58" name="Rounded Rectangle 57"/>
          <p:cNvSpPr/>
          <p:nvPr/>
        </p:nvSpPr>
        <p:spPr>
          <a:xfrm>
            <a:off x="502920" y="5239512"/>
            <a:ext cx="2693593" cy="1005840"/>
          </a:xfrm>
          <a:prstGeom prst="roundRect">
            <a:avLst>
              <a:gd name="adj" fmla="val 15000"/>
            </a:avLst>
          </a:prstGeom>
          <a:solidFill>
            <a:srgbClr val="8B5A2B"/>
          </a:solidFill>
          <a:ln>
            <a:noFill/>
          </a:ln>
          <a:effectLst/>
        </p:spPr>
        <p:txBody>
          <a:bodyPr rtlCol="0" anchor="ctr" wrap="square" lIns="128016" rIns="128016" tIns="73152" bIns="73152">
            <a:noAutofit/>
          </a:bodyPr>
          <a:lstStyle/>
          <a:p>
            <a:pPr algn="ctr">
              <a:spcBef>
                <a:spcPts val="0"/>
              </a:spcBef>
              <a:spcAft>
                <a:spcPts val="0"/>
              </a:spcAft>
            </a:pPr>
            <a:r>
              <a:rPr lang="tr-TR" sz="1900" b="1" i="0">
                <a:solidFill>
                  <a:srgbClr val="FFFFFF"/>
                </a:solidFill>
                <a:latin typeface="Calibri"/>
              </a:rPr>
              <a:t>Yer kabuğu mu?</a:t>
            </a:r>
          </a:p>
        </p:txBody>
      </p:sp>
      <p:sp>
        <p:nvSpPr>
          <p:cNvPr id="59" name="Rounded Rectangle 58"/>
          <p:cNvSpPr/>
          <p:nvPr/>
        </p:nvSpPr>
        <p:spPr>
          <a:xfrm>
            <a:off x="3333673" y="5239512"/>
            <a:ext cx="2693593" cy="1005840"/>
          </a:xfrm>
          <a:prstGeom prst="roundRect">
            <a:avLst>
              <a:gd name="adj" fmla="val 15000"/>
            </a:avLst>
          </a:prstGeom>
          <a:solidFill>
            <a:srgbClr val="2C6696"/>
          </a:solidFill>
          <a:ln>
            <a:noFill/>
          </a:ln>
          <a:effectLst/>
        </p:spPr>
        <p:txBody>
          <a:bodyPr rtlCol="0" anchor="ctr" wrap="square" lIns="128016" rIns="128016" tIns="73152" bIns="73152">
            <a:noAutofit/>
          </a:bodyPr>
          <a:lstStyle/>
          <a:p>
            <a:pPr algn="ctr">
              <a:spcBef>
                <a:spcPts val="0"/>
              </a:spcBef>
              <a:spcAft>
                <a:spcPts val="0"/>
              </a:spcAft>
            </a:pPr>
            <a:r>
              <a:rPr lang="tr-TR" sz="1900" b="1" i="0">
                <a:solidFill>
                  <a:srgbClr val="FFFFFF"/>
                </a:solidFill>
                <a:latin typeface="Calibri"/>
              </a:rPr>
              <a:t>Atmosfer ya da su mu?</a:t>
            </a:r>
          </a:p>
        </p:txBody>
      </p:sp>
      <p:sp>
        <p:nvSpPr>
          <p:cNvPr id="60" name="Rounded Rectangle 59"/>
          <p:cNvSpPr/>
          <p:nvPr/>
        </p:nvSpPr>
        <p:spPr>
          <a:xfrm>
            <a:off x="6164426" y="5239512"/>
            <a:ext cx="2693593" cy="1005840"/>
          </a:xfrm>
          <a:prstGeom prst="roundRect">
            <a:avLst>
              <a:gd name="adj" fmla="val 15000"/>
            </a:avLst>
          </a:prstGeom>
          <a:solidFill>
            <a:srgbClr val="3E8E41"/>
          </a:solidFill>
          <a:ln>
            <a:noFill/>
          </a:ln>
          <a:effectLst/>
        </p:spPr>
        <p:txBody>
          <a:bodyPr rtlCol="0" anchor="ctr" wrap="square" lIns="128016" rIns="128016" tIns="73152" bIns="73152">
            <a:noAutofit/>
          </a:bodyPr>
          <a:lstStyle/>
          <a:p>
            <a:pPr algn="ctr">
              <a:spcBef>
                <a:spcPts val="0"/>
              </a:spcBef>
              <a:spcAft>
                <a:spcPts val="0"/>
              </a:spcAft>
            </a:pPr>
            <a:r>
              <a:rPr lang="tr-TR" sz="1900" b="1" i="0">
                <a:solidFill>
                  <a:srgbClr val="FFFFFF"/>
                </a:solidFill>
                <a:latin typeface="Calibri"/>
              </a:rPr>
              <a:t>Canlı organizma mı?</a:t>
            </a:r>
          </a:p>
        </p:txBody>
      </p:sp>
      <p:sp>
        <p:nvSpPr>
          <p:cNvPr id="61" name="Rounded Rectangle 60"/>
          <p:cNvSpPr/>
          <p:nvPr/>
        </p:nvSpPr>
        <p:spPr>
          <a:xfrm>
            <a:off x="8995179" y="5239512"/>
            <a:ext cx="2693593" cy="1005840"/>
          </a:xfrm>
          <a:prstGeom prst="roundRect">
            <a:avLst>
              <a:gd name="adj" fmla="val 15000"/>
            </a:avLst>
          </a:prstGeom>
          <a:solidFill>
            <a:srgbClr val="A0521A"/>
          </a:solidFill>
          <a:ln>
            <a:noFill/>
          </a:ln>
          <a:effectLst/>
        </p:spPr>
        <p:txBody>
          <a:bodyPr rtlCol="0" anchor="ctr" wrap="square" lIns="128016" rIns="128016" tIns="73152" bIns="73152">
            <a:noAutofit/>
          </a:bodyPr>
          <a:lstStyle/>
          <a:p>
            <a:pPr algn="ctr">
              <a:spcBef>
                <a:spcPts val="0"/>
              </a:spcBef>
              <a:spcAft>
                <a:spcPts val="0"/>
              </a:spcAft>
            </a:pPr>
            <a:r>
              <a:rPr lang="tr-TR" sz="1900" b="1" i="0">
                <a:solidFill>
                  <a:srgbClr val="FFFFFF"/>
                </a:solidFill>
                <a:latin typeface="Calibri"/>
              </a:rPr>
              <a:t>İnsan faaliyeti mi?</a:t>
            </a:r>
          </a:p>
        </p:txBody>
      </p:sp>
      <p:sp>
        <p:nvSpPr>
          <p:cNvPr id="62" name="TextBox 6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63" name="Rounded Rectangle 6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196</a:t>
            </a:r>
          </a:p>
        </p:txBody>
      </p:sp>
      <p:sp>
        <p:nvSpPr>
          <p:cNvPr id="64" name="TextBox 6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84 / 250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Sözlü paylaşım: her grup bir sütun</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SÖZCÜLER</a:t>
            </a:r>
          </a:p>
        </p:txBody>
      </p:sp>
      <p:sp>
        <p:nvSpPr>
          <p:cNvPr id="6" name="Rounded Rectangle 5"/>
          <p:cNvSpPr/>
          <p:nvPr/>
        </p:nvSpPr>
        <p:spPr>
          <a:xfrm>
            <a:off x="502920" y="1216152"/>
            <a:ext cx="2127443" cy="1417320"/>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216152"/>
            <a:ext cx="2127443" cy="530352"/>
          </a:xfrm>
          <a:prstGeom prst="roundRect">
            <a:avLst>
              <a:gd name="adj" fmla="val 25000"/>
            </a:avLst>
          </a:prstGeom>
          <a:solidFill>
            <a:srgbClr val="4F4F4F"/>
          </a:solidFill>
          <a:ln>
            <a:noFill/>
          </a:ln>
          <a:effectLst/>
        </p:spPr>
        <p:txBody>
          <a:bodyPr rtlCol="0" anchor="ctr"/>
          <a:lstStyle/>
          <a:p/>
        </p:txBody>
      </p:sp>
      <p:sp>
        <p:nvSpPr>
          <p:cNvPr id="8" name="Rectangle 7"/>
          <p:cNvSpPr/>
          <p:nvPr/>
        </p:nvSpPr>
        <p:spPr>
          <a:xfrm>
            <a:off x="502920" y="1481328"/>
            <a:ext cx="2127443" cy="265176"/>
          </a:xfrm>
          <a:prstGeom prst="rect">
            <a:avLst/>
          </a:prstGeom>
          <a:solidFill>
            <a:srgbClr val="4F4F4F"/>
          </a:solidFill>
          <a:ln>
            <a:noFill/>
          </a:ln>
          <a:effectLst/>
        </p:spPr>
        <p:txBody>
          <a:bodyPr rtlCol="0" anchor="ctr"/>
          <a:lstStyle/>
          <a:p/>
        </p:txBody>
      </p:sp>
      <p:sp>
        <p:nvSpPr>
          <p:cNvPr id="9" name="TextBox 8"/>
          <p:cNvSpPr txBox="1"/>
          <p:nvPr/>
        </p:nvSpPr>
        <p:spPr>
          <a:xfrm>
            <a:off x="594360" y="1216152"/>
            <a:ext cx="1944563" cy="530352"/>
          </a:xfrm>
          <a:prstGeom prst="rect">
            <a:avLst/>
          </a:prstGeom>
          <a:noFill/>
        </p:spPr>
        <p:txBody>
          <a:bodyPr wrap="square" anchor="ctr" lIns="73152" rIns="73152" tIns="36576" bIns="36576">
            <a:noAutofit/>
          </a:bodyPr>
          <a:lstStyle/>
          <a:p>
            <a:pPr algn="ctr">
              <a:spcBef>
                <a:spcPts val="0"/>
              </a:spcBef>
              <a:spcAft>
                <a:spcPts val="0"/>
              </a:spcAft>
            </a:pPr>
            <a:r>
              <a:rPr lang="tr-TR" sz="1800" b="1" i="0">
                <a:solidFill>
                  <a:srgbClr val="FFFFFF"/>
                </a:solidFill>
                <a:latin typeface="Calibri"/>
              </a:rPr>
              <a:t>1. grup</a:t>
            </a:r>
          </a:p>
        </p:txBody>
      </p:sp>
      <p:sp>
        <p:nvSpPr>
          <p:cNvPr id="10" name="TextBox 9"/>
          <p:cNvSpPr txBox="1"/>
          <p:nvPr/>
        </p:nvSpPr>
        <p:spPr>
          <a:xfrm>
            <a:off x="612648" y="1819656"/>
            <a:ext cx="1907987" cy="740664"/>
          </a:xfrm>
          <a:prstGeom prst="rect">
            <a:avLst/>
          </a:prstGeom>
          <a:noFill/>
        </p:spPr>
        <p:txBody>
          <a:bodyPr wrap="square" anchor="ctr" lIns="73152" rIns="73152" tIns="36576" bIns="36576">
            <a:noAutofit/>
          </a:bodyPr>
          <a:lstStyle/>
          <a:p>
            <a:pPr algn="ctr">
              <a:spcBef>
                <a:spcPts val="0"/>
              </a:spcBef>
              <a:spcAft>
                <a:spcPts val="0"/>
              </a:spcAft>
            </a:pPr>
            <a:r>
              <a:rPr lang="tr-TR" sz="1700" b="0" i="0">
                <a:solidFill>
                  <a:srgbClr val="262626"/>
                </a:solidFill>
                <a:latin typeface="Calibri"/>
              </a:rPr>
              <a:t>Sütununu okur: etiket + kartlar</a:t>
            </a:r>
          </a:p>
        </p:txBody>
      </p:sp>
      <p:sp>
        <p:nvSpPr>
          <p:cNvPr id="11" name="Rounded Rectangle 10"/>
          <p:cNvSpPr/>
          <p:nvPr/>
        </p:nvSpPr>
        <p:spPr>
          <a:xfrm>
            <a:off x="2767523" y="1216152"/>
            <a:ext cx="2127443" cy="1417320"/>
          </a:xfrm>
          <a:prstGeom prst="roundRect">
            <a:avLst>
              <a:gd name="adj" fmla="val 5000"/>
            </a:avLst>
          </a:prstGeom>
          <a:solidFill>
            <a:srgbClr val="F0F0F0"/>
          </a:solidFill>
          <a:ln>
            <a:noFill/>
          </a:ln>
          <a:effectLst/>
        </p:spPr>
        <p:txBody>
          <a:bodyPr rtlCol="0" anchor="ctr"/>
          <a:lstStyle/>
          <a:p/>
        </p:txBody>
      </p:sp>
      <p:sp>
        <p:nvSpPr>
          <p:cNvPr id="12" name="Rounded Rectangle 11"/>
          <p:cNvSpPr/>
          <p:nvPr/>
        </p:nvSpPr>
        <p:spPr>
          <a:xfrm>
            <a:off x="2767523" y="1216152"/>
            <a:ext cx="2127443" cy="530352"/>
          </a:xfrm>
          <a:prstGeom prst="roundRect">
            <a:avLst>
              <a:gd name="adj" fmla="val 25000"/>
            </a:avLst>
          </a:prstGeom>
          <a:solidFill>
            <a:srgbClr val="4F4F4F"/>
          </a:solidFill>
          <a:ln>
            <a:noFill/>
          </a:ln>
          <a:effectLst/>
        </p:spPr>
        <p:txBody>
          <a:bodyPr rtlCol="0" anchor="ctr"/>
          <a:lstStyle/>
          <a:p/>
        </p:txBody>
      </p:sp>
      <p:sp>
        <p:nvSpPr>
          <p:cNvPr id="13" name="Rectangle 12"/>
          <p:cNvSpPr/>
          <p:nvPr/>
        </p:nvSpPr>
        <p:spPr>
          <a:xfrm>
            <a:off x="2767523" y="1481328"/>
            <a:ext cx="2127443" cy="265176"/>
          </a:xfrm>
          <a:prstGeom prst="rect">
            <a:avLst/>
          </a:prstGeom>
          <a:solidFill>
            <a:srgbClr val="4F4F4F"/>
          </a:solidFill>
          <a:ln>
            <a:noFill/>
          </a:ln>
          <a:effectLst/>
        </p:spPr>
        <p:txBody>
          <a:bodyPr rtlCol="0" anchor="ctr"/>
          <a:lstStyle/>
          <a:p/>
        </p:txBody>
      </p:sp>
      <p:sp>
        <p:nvSpPr>
          <p:cNvPr id="14" name="TextBox 13"/>
          <p:cNvSpPr txBox="1"/>
          <p:nvPr/>
        </p:nvSpPr>
        <p:spPr>
          <a:xfrm>
            <a:off x="2858963" y="1216152"/>
            <a:ext cx="1944563" cy="530352"/>
          </a:xfrm>
          <a:prstGeom prst="rect">
            <a:avLst/>
          </a:prstGeom>
          <a:noFill/>
        </p:spPr>
        <p:txBody>
          <a:bodyPr wrap="square" anchor="ctr" lIns="73152" rIns="73152" tIns="36576" bIns="36576">
            <a:noAutofit/>
          </a:bodyPr>
          <a:lstStyle/>
          <a:p>
            <a:pPr algn="ctr">
              <a:spcBef>
                <a:spcPts val="0"/>
              </a:spcBef>
              <a:spcAft>
                <a:spcPts val="0"/>
              </a:spcAft>
            </a:pPr>
            <a:r>
              <a:rPr lang="tr-TR" sz="1800" b="1" i="0">
                <a:solidFill>
                  <a:srgbClr val="FFFFFF"/>
                </a:solidFill>
                <a:latin typeface="Calibri"/>
              </a:rPr>
              <a:t>2. grup</a:t>
            </a:r>
          </a:p>
        </p:txBody>
      </p:sp>
      <p:sp>
        <p:nvSpPr>
          <p:cNvPr id="15" name="TextBox 14"/>
          <p:cNvSpPr txBox="1"/>
          <p:nvPr/>
        </p:nvSpPr>
        <p:spPr>
          <a:xfrm>
            <a:off x="2877251" y="1819656"/>
            <a:ext cx="1907987" cy="740664"/>
          </a:xfrm>
          <a:prstGeom prst="rect">
            <a:avLst/>
          </a:prstGeom>
          <a:noFill/>
        </p:spPr>
        <p:txBody>
          <a:bodyPr wrap="square" anchor="ctr" lIns="73152" rIns="73152" tIns="36576" bIns="36576">
            <a:noAutofit/>
          </a:bodyPr>
          <a:lstStyle/>
          <a:p>
            <a:pPr algn="ctr">
              <a:spcBef>
                <a:spcPts val="0"/>
              </a:spcBef>
              <a:spcAft>
                <a:spcPts val="0"/>
              </a:spcAft>
            </a:pPr>
            <a:r>
              <a:rPr lang="tr-TR" sz="1700" b="0" i="0">
                <a:solidFill>
                  <a:srgbClr val="262626"/>
                </a:solidFill>
                <a:latin typeface="Calibri"/>
              </a:rPr>
              <a:t>Sütununu okur: etiket + kartlar</a:t>
            </a:r>
          </a:p>
        </p:txBody>
      </p:sp>
      <p:sp>
        <p:nvSpPr>
          <p:cNvPr id="16" name="Rounded Rectangle 15"/>
          <p:cNvSpPr/>
          <p:nvPr/>
        </p:nvSpPr>
        <p:spPr>
          <a:xfrm>
            <a:off x="5032126" y="1216152"/>
            <a:ext cx="2127443" cy="1417320"/>
          </a:xfrm>
          <a:prstGeom prst="roundRect">
            <a:avLst>
              <a:gd name="adj" fmla="val 5000"/>
            </a:avLst>
          </a:prstGeom>
          <a:solidFill>
            <a:srgbClr val="F0F0F0"/>
          </a:solidFill>
          <a:ln>
            <a:noFill/>
          </a:ln>
          <a:effectLst/>
        </p:spPr>
        <p:txBody>
          <a:bodyPr rtlCol="0" anchor="ctr"/>
          <a:lstStyle/>
          <a:p/>
        </p:txBody>
      </p:sp>
      <p:sp>
        <p:nvSpPr>
          <p:cNvPr id="17" name="Rounded Rectangle 16"/>
          <p:cNvSpPr/>
          <p:nvPr/>
        </p:nvSpPr>
        <p:spPr>
          <a:xfrm>
            <a:off x="5032126" y="1216152"/>
            <a:ext cx="2127443" cy="530352"/>
          </a:xfrm>
          <a:prstGeom prst="roundRect">
            <a:avLst>
              <a:gd name="adj" fmla="val 25000"/>
            </a:avLst>
          </a:prstGeom>
          <a:solidFill>
            <a:srgbClr val="4F4F4F"/>
          </a:solidFill>
          <a:ln>
            <a:noFill/>
          </a:ln>
          <a:effectLst/>
        </p:spPr>
        <p:txBody>
          <a:bodyPr rtlCol="0" anchor="ctr"/>
          <a:lstStyle/>
          <a:p/>
        </p:txBody>
      </p:sp>
      <p:sp>
        <p:nvSpPr>
          <p:cNvPr id="18" name="Rectangle 17"/>
          <p:cNvSpPr/>
          <p:nvPr/>
        </p:nvSpPr>
        <p:spPr>
          <a:xfrm>
            <a:off x="5032126" y="1481328"/>
            <a:ext cx="2127443" cy="265176"/>
          </a:xfrm>
          <a:prstGeom prst="rect">
            <a:avLst/>
          </a:prstGeom>
          <a:solidFill>
            <a:srgbClr val="4F4F4F"/>
          </a:solidFill>
          <a:ln>
            <a:noFill/>
          </a:ln>
          <a:effectLst/>
        </p:spPr>
        <p:txBody>
          <a:bodyPr rtlCol="0" anchor="ctr"/>
          <a:lstStyle/>
          <a:p/>
        </p:txBody>
      </p:sp>
      <p:sp>
        <p:nvSpPr>
          <p:cNvPr id="19" name="TextBox 18"/>
          <p:cNvSpPr txBox="1"/>
          <p:nvPr/>
        </p:nvSpPr>
        <p:spPr>
          <a:xfrm>
            <a:off x="5123566" y="1216152"/>
            <a:ext cx="1944563" cy="530352"/>
          </a:xfrm>
          <a:prstGeom prst="rect">
            <a:avLst/>
          </a:prstGeom>
          <a:noFill/>
        </p:spPr>
        <p:txBody>
          <a:bodyPr wrap="square" anchor="ctr" lIns="73152" rIns="73152" tIns="36576" bIns="36576">
            <a:noAutofit/>
          </a:bodyPr>
          <a:lstStyle/>
          <a:p>
            <a:pPr algn="ctr">
              <a:spcBef>
                <a:spcPts val="0"/>
              </a:spcBef>
              <a:spcAft>
                <a:spcPts val="0"/>
              </a:spcAft>
            </a:pPr>
            <a:r>
              <a:rPr lang="tr-TR" sz="1800" b="1" i="0">
                <a:solidFill>
                  <a:srgbClr val="FFFFFF"/>
                </a:solidFill>
                <a:latin typeface="Calibri"/>
              </a:rPr>
              <a:t>3. grup</a:t>
            </a:r>
          </a:p>
        </p:txBody>
      </p:sp>
      <p:sp>
        <p:nvSpPr>
          <p:cNvPr id="20" name="TextBox 19"/>
          <p:cNvSpPr txBox="1"/>
          <p:nvPr/>
        </p:nvSpPr>
        <p:spPr>
          <a:xfrm>
            <a:off x="5141854" y="1819656"/>
            <a:ext cx="1907987" cy="740664"/>
          </a:xfrm>
          <a:prstGeom prst="rect">
            <a:avLst/>
          </a:prstGeom>
          <a:noFill/>
        </p:spPr>
        <p:txBody>
          <a:bodyPr wrap="square" anchor="ctr" lIns="73152" rIns="73152" tIns="36576" bIns="36576">
            <a:noAutofit/>
          </a:bodyPr>
          <a:lstStyle/>
          <a:p>
            <a:pPr algn="ctr">
              <a:spcBef>
                <a:spcPts val="0"/>
              </a:spcBef>
              <a:spcAft>
                <a:spcPts val="0"/>
              </a:spcAft>
            </a:pPr>
            <a:r>
              <a:rPr lang="tr-TR" sz="1700" b="0" i="0">
                <a:solidFill>
                  <a:srgbClr val="262626"/>
                </a:solidFill>
                <a:latin typeface="Calibri"/>
              </a:rPr>
              <a:t>Sütununu okur: etiket + kartlar</a:t>
            </a:r>
          </a:p>
        </p:txBody>
      </p:sp>
      <p:sp>
        <p:nvSpPr>
          <p:cNvPr id="21" name="Rounded Rectangle 20"/>
          <p:cNvSpPr/>
          <p:nvPr/>
        </p:nvSpPr>
        <p:spPr>
          <a:xfrm>
            <a:off x="7296729" y="1216152"/>
            <a:ext cx="2127443" cy="1417320"/>
          </a:xfrm>
          <a:prstGeom prst="roundRect">
            <a:avLst>
              <a:gd name="adj" fmla="val 5000"/>
            </a:avLst>
          </a:prstGeom>
          <a:solidFill>
            <a:srgbClr val="F0F0F0"/>
          </a:solidFill>
          <a:ln>
            <a:noFill/>
          </a:ln>
          <a:effectLst/>
        </p:spPr>
        <p:txBody>
          <a:bodyPr rtlCol="0" anchor="ctr"/>
          <a:lstStyle/>
          <a:p/>
        </p:txBody>
      </p:sp>
      <p:sp>
        <p:nvSpPr>
          <p:cNvPr id="22" name="Rounded Rectangle 21"/>
          <p:cNvSpPr/>
          <p:nvPr/>
        </p:nvSpPr>
        <p:spPr>
          <a:xfrm>
            <a:off x="7296729" y="1216152"/>
            <a:ext cx="2127443" cy="530352"/>
          </a:xfrm>
          <a:prstGeom prst="roundRect">
            <a:avLst>
              <a:gd name="adj" fmla="val 25000"/>
            </a:avLst>
          </a:prstGeom>
          <a:solidFill>
            <a:srgbClr val="4F4F4F"/>
          </a:solidFill>
          <a:ln>
            <a:noFill/>
          </a:ln>
          <a:effectLst/>
        </p:spPr>
        <p:txBody>
          <a:bodyPr rtlCol="0" anchor="ctr"/>
          <a:lstStyle/>
          <a:p/>
        </p:txBody>
      </p:sp>
      <p:sp>
        <p:nvSpPr>
          <p:cNvPr id="23" name="Rectangle 22"/>
          <p:cNvSpPr/>
          <p:nvPr/>
        </p:nvSpPr>
        <p:spPr>
          <a:xfrm>
            <a:off x="7296729" y="1481328"/>
            <a:ext cx="2127443" cy="265176"/>
          </a:xfrm>
          <a:prstGeom prst="rect">
            <a:avLst/>
          </a:prstGeom>
          <a:solidFill>
            <a:srgbClr val="4F4F4F"/>
          </a:solidFill>
          <a:ln>
            <a:noFill/>
          </a:ln>
          <a:effectLst/>
        </p:spPr>
        <p:txBody>
          <a:bodyPr rtlCol="0" anchor="ctr"/>
          <a:lstStyle/>
          <a:p/>
        </p:txBody>
      </p:sp>
      <p:sp>
        <p:nvSpPr>
          <p:cNvPr id="24" name="TextBox 23"/>
          <p:cNvSpPr txBox="1"/>
          <p:nvPr/>
        </p:nvSpPr>
        <p:spPr>
          <a:xfrm>
            <a:off x="7388169" y="1216152"/>
            <a:ext cx="1944563" cy="530352"/>
          </a:xfrm>
          <a:prstGeom prst="rect">
            <a:avLst/>
          </a:prstGeom>
          <a:noFill/>
        </p:spPr>
        <p:txBody>
          <a:bodyPr wrap="square" anchor="ctr" lIns="73152" rIns="73152" tIns="36576" bIns="36576">
            <a:noAutofit/>
          </a:bodyPr>
          <a:lstStyle/>
          <a:p>
            <a:pPr algn="ctr">
              <a:spcBef>
                <a:spcPts val="0"/>
              </a:spcBef>
              <a:spcAft>
                <a:spcPts val="0"/>
              </a:spcAft>
            </a:pPr>
            <a:r>
              <a:rPr lang="tr-TR" sz="1800" b="1" i="0">
                <a:solidFill>
                  <a:srgbClr val="FFFFFF"/>
                </a:solidFill>
                <a:latin typeface="Calibri"/>
              </a:rPr>
              <a:t>4. grup</a:t>
            </a:r>
          </a:p>
        </p:txBody>
      </p:sp>
      <p:sp>
        <p:nvSpPr>
          <p:cNvPr id="25" name="TextBox 24"/>
          <p:cNvSpPr txBox="1"/>
          <p:nvPr/>
        </p:nvSpPr>
        <p:spPr>
          <a:xfrm>
            <a:off x="7406457" y="1819656"/>
            <a:ext cx="1907987" cy="740664"/>
          </a:xfrm>
          <a:prstGeom prst="rect">
            <a:avLst/>
          </a:prstGeom>
          <a:noFill/>
        </p:spPr>
        <p:txBody>
          <a:bodyPr wrap="square" anchor="ctr" lIns="73152" rIns="73152" tIns="36576" bIns="36576">
            <a:noAutofit/>
          </a:bodyPr>
          <a:lstStyle/>
          <a:p>
            <a:pPr algn="ctr">
              <a:spcBef>
                <a:spcPts val="0"/>
              </a:spcBef>
              <a:spcAft>
                <a:spcPts val="0"/>
              </a:spcAft>
            </a:pPr>
            <a:r>
              <a:rPr lang="tr-TR" sz="1700" b="0" i="0">
                <a:solidFill>
                  <a:srgbClr val="262626"/>
                </a:solidFill>
                <a:latin typeface="Calibri"/>
              </a:rPr>
              <a:t>Sütununu okur: etiket + kartlar</a:t>
            </a:r>
          </a:p>
        </p:txBody>
      </p:sp>
      <p:sp>
        <p:nvSpPr>
          <p:cNvPr id="26" name="Rounded Rectangle 25"/>
          <p:cNvSpPr/>
          <p:nvPr/>
        </p:nvSpPr>
        <p:spPr>
          <a:xfrm>
            <a:off x="9561332" y="1216152"/>
            <a:ext cx="2127443" cy="1417320"/>
          </a:xfrm>
          <a:prstGeom prst="roundRect">
            <a:avLst>
              <a:gd name="adj" fmla="val 5000"/>
            </a:avLst>
          </a:prstGeom>
          <a:solidFill>
            <a:srgbClr val="F0F0F0"/>
          </a:solidFill>
          <a:ln>
            <a:noFill/>
          </a:ln>
          <a:effectLst/>
        </p:spPr>
        <p:txBody>
          <a:bodyPr rtlCol="0" anchor="ctr"/>
          <a:lstStyle/>
          <a:p/>
        </p:txBody>
      </p:sp>
      <p:sp>
        <p:nvSpPr>
          <p:cNvPr id="27" name="Rounded Rectangle 26"/>
          <p:cNvSpPr/>
          <p:nvPr/>
        </p:nvSpPr>
        <p:spPr>
          <a:xfrm>
            <a:off x="9561332" y="1216152"/>
            <a:ext cx="2127443" cy="530352"/>
          </a:xfrm>
          <a:prstGeom prst="roundRect">
            <a:avLst>
              <a:gd name="adj" fmla="val 25000"/>
            </a:avLst>
          </a:prstGeom>
          <a:solidFill>
            <a:srgbClr val="4F4F4F"/>
          </a:solidFill>
          <a:ln>
            <a:noFill/>
          </a:ln>
          <a:effectLst/>
        </p:spPr>
        <p:txBody>
          <a:bodyPr rtlCol="0" anchor="ctr"/>
          <a:lstStyle/>
          <a:p/>
        </p:txBody>
      </p:sp>
      <p:sp>
        <p:nvSpPr>
          <p:cNvPr id="28" name="Rectangle 27"/>
          <p:cNvSpPr/>
          <p:nvPr/>
        </p:nvSpPr>
        <p:spPr>
          <a:xfrm>
            <a:off x="9561332" y="1481328"/>
            <a:ext cx="2127443" cy="265176"/>
          </a:xfrm>
          <a:prstGeom prst="rect">
            <a:avLst/>
          </a:prstGeom>
          <a:solidFill>
            <a:srgbClr val="4F4F4F"/>
          </a:solidFill>
          <a:ln>
            <a:noFill/>
          </a:ln>
          <a:effectLst/>
        </p:spPr>
        <p:txBody>
          <a:bodyPr rtlCol="0" anchor="ctr"/>
          <a:lstStyle/>
          <a:p/>
        </p:txBody>
      </p:sp>
      <p:sp>
        <p:nvSpPr>
          <p:cNvPr id="29" name="TextBox 28"/>
          <p:cNvSpPr txBox="1"/>
          <p:nvPr/>
        </p:nvSpPr>
        <p:spPr>
          <a:xfrm>
            <a:off x="9652772" y="1216152"/>
            <a:ext cx="1944563" cy="530352"/>
          </a:xfrm>
          <a:prstGeom prst="rect">
            <a:avLst/>
          </a:prstGeom>
          <a:noFill/>
        </p:spPr>
        <p:txBody>
          <a:bodyPr wrap="square" anchor="ctr" lIns="73152" rIns="73152" tIns="36576" bIns="36576">
            <a:noAutofit/>
          </a:bodyPr>
          <a:lstStyle/>
          <a:p>
            <a:pPr algn="ctr">
              <a:spcBef>
                <a:spcPts val="0"/>
              </a:spcBef>
              <a:spcAft>
                <a:spcPts val="0"/>
              </a:spcAft>
            </a:pPr>
            <a:r>
              <a:rPr lang="tr-TR" sz="1800" b="1" i="0">
                <a:solidFill>
                  <a:srgbClr val="FFFFFF"/>
                </a:solidFill>
                <a:latin typeface="Calibri"/>
              </a:rPr>
              <a:t>5. grup</a:t>
            </a:r>
          </a:p>
        </p:txBody>
      </p:sp>
      <p:sp>
        <p:nvSpPr>
          <p:cNvPr id="30" name="TextBox 29"/>
          <p:cNvSpPr txBox="1"/>
          <p:nvPr/>
        </p:nvSpPr>
        <p:spPr>
          <a:xfrm>
            <a:off x="9671060" y="1819656"/>
            <a:ext cx="1907987" cy="740664"/>
          </a:xfrm>
          <a:prstGeom prst="rect">
            <a:avLst/>
          </a:prstGeom>
          <a:noFill/>
        </p:spPr>
        <p:txBody>
          <a:bodyPr wrap="square" anchor="ctr" lIns="73152" rIns="73152" tIns="36576" bIns="36576">
            <a:noAutofit/>
          </a:bodyPr>
          <a:lstStyle/>
          <a:p>
            <a:pPr algn="ctr">
              <a:spcBef>
                <a:spcPts val="0"/>
              </a:spcBef>
              <a:spcAft>
                <a:spcPts val="0"/>
              </a:spcAft>
            </a:pPr>
            <a:r>
              <a:rPr lang="tr-TR" sz="1700" b="0" i="0">
                <a:solidFill>
                  <a:srgbClr val="262626"/>
                </a:solidFill>
                <a:latin typeface="Calibri"/>
              </a:rPr>
              <a:t>Sütununu okur: etiket + kartlar</a:t>
            </a:r>
          </a:p>
        </p:txBody>
      </p:sp>
      <p:sp>
        <p:nvSpPr>
          <p:cNvPr id="31" name="Rounded Rectangle 30"/>
          <p:cNvSpPr/>
          <p:nvPr/>
        </p:nvSpPr>
        <p:spPr>
          <a:xfrm>
            <a:off x="502920" y="2770632"/>
            <a:ext cx="11185855" cy="594360"/>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ctr">
              <a:spcBef>
                <a:spcPts val="0"/>
              </a:spcBef>
              <a:spcAft>
                <a:spcPts val="0"/>
              </a:spcAft>
            </a:pPr>
            <a:r>
              <a:rPr lang="tr-TR" sz="1900" b="1" i="0">
                <a:solidFill>
                  <a:srgbClr val="262626"/>
                </a:solidFill>
                <a:latin typeface="Calibri"/>
              </a:rPr>
              <a:t>6-8. gruplar: farklı yerleştirdiğiniz kartı söyleyin.</a:t>
            </a:r>
          </a:p>
        </p:txBody>
      </p:sp>
      <p:sp>
        <p:nvSpPr>
          <p:cNvPr id="32" name="Rounded Rectangle 31"/>
          <p:cNvSpPr/>
          <p:nvPr/>
        </p:nvSpPr>
        <p:spPr>
          <a:xfrm>
            <a:off x="502920" y="3547872"/>
            <a:ext cx="11185855" cy="2697480"/>
          </a:xfrm>
          <a:prstGeom prst="roundRect">
            <a:avLst>
              <a:gd name="adj" fmla="val 8000"/>
            </a:avLst>
          </a:prstGeom>
          <a:solidFill>
            <a:srgbClr val="F9E1E1"/>
          </a:solidFill>
          <a:ln>
            <a:noFill/>
          </a:ln>
          <a:effectLst/>
        </p:spPr>
        <p:txBody>
          <a:bodyPr rtlCol="0" anchor="ctr" wrap="square" lIns="274320" rIns="274320" tIns="73152" bIns="73152">
            <a:noAutofit/>
          </a:bodyPr>
          <a:lstStyle/>
          <a:p>
            <a:pPr algn="l">
              <a:spcBef>
                <a:spcPts val="0"/>
              </a:spcBef>
              <a:spcAft>
                <a:spcPts val="800"/>
              </a:spcAft>
            </a:pPr>
            <a:r>
              <a:rPr lang="tr-TR" sz="2200" b="1" i="0">
                <a:solidFill>
                  <a:srgbClr val="D3373A"/>
                </a:solidFill>
                <a:latin typeface="Calibri"/>
              </a:rPr>
              <a:t>Tartışmalı kartlar</a:t>
            </a:r>
          </a:p>
          <a:p>
            <a:pPr algn="l">
              <a:spcBef>
                <a:spcPts val="0"/>
              </a:spcBef>
              <a:spcAft>
                <a:spcPts val="800"/>
              </a:spcAft>
            </a:pPr>
            <a:r>
              <a:rPr lang="tr-TR" sz="2200" b="0" i="1">
                <a:solidFill>
                  <a:srgbClr val="262626"/>
                </a:solidFill>
                <a:latin typeface="Calibri"/>
              </a:rPr>
              <a:t>Çığ, tsunami, heyelan, kaya düşmesi, hava kirliliği, yangınlar…</a:t>
            </a:r>
          </a:p>
          <a:p>
            <a:pPr algn="l">
              <a:spcBef>
                <a:spcPts val="0"/>
              </a:spcBef>
              <a:spcAft>
                <a:spcPts val="0"/>
              </a:spcAft>
            </a:pPr>
            <a:r>
              <a:rPr lang="tr-TR" sz="2200" b="1" i="0">
                <a:solidFill>
                  <a:srgbClr val="262626"/>
                </a:solidFill>
                <a:latin typeface="Calibri"/>
              </a:rPr>
              <a:t>Kaynağı yer kabuğu mu, atmosfer mi, canlı organizma mı, insan faaliyeti mi?</a:t>
            </a:r>
          </a:p>
        </p:txBody>
      </p:sp>
      <p:sp>
        <p:nvSpPr>
          <p:cNvPr id="33" name="TextBox 3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34" name="Rounded Rectangle 3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196</a:t>
            </a:r>
          </a:p>
        </p:txBody>
      </p:sp>
      <p:sp>
        <p:nvSpPr>
          <p:cNvPr id="35" name="TextBox 3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85 / 250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2900" b="1" i="0">
                <a:solidFill>
                  <a:srgbClr val="FFFFFF"/>
                </a:solidFill>
                <a:latin typeface="Calibri"/>
              </a:rPr>
              <a:t>Afet Türleri — örnek cevap (1): kitabın sınıflandırdıkları</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16152"/>
            <a:ext cx="2127443" cy="502920"/>
          </a:xfrm>
          <a:prstGeom prst="roundRect">
            <a:avLst>
              <a:gd name="adj" fmla="val 15000"/>
            </a:avLst>
          </a:prstGeom>
          <a:solidFill>
            <a:srgbClr val="8B5A2B"/>
          </a:solidFill>
          <a:ln>
            <a:noFill/>
          </a:ln>
          <a:effectLst/>
        </p:spPr>
        <p:txBody>
          <a:bodyPr rtlCol="0" anchor="ctr" wrap="square" lIns="45720" rIns="45720" tIns="73152" bIns="73152">
            <a:noAutofit/>
          </a:bodyPr>
          <a:lstStyle/>
          <a:p>
            <a:pPr algn="ctr">
              <a:spcBef>
                <a:spcPts val="0"/>
              </a:spcBef>
              <a:spcAft>
                <a:spcPts val="0"/>
              </a:spcAft>
            </a:pPr>
            <a:r>
              <a:rPr lang="tr-TR" sz="1700" b="1" i="0">
                <a:solidFill>
                  <a:srgbClr val="FFFFFF"/>
                </a:solidFill>
                <a:latin typeface="Calibri"/>
              </a:rPr>
              <a:t>Jeolojik</a:t>
            </a:r>
          </a:p>
        </p:txBody>
      </p:sp>
      <p:sp>
        <p:nvSpPr>
          <p:cNvPr id="7" name="Rounded Rectangle 6"/>
          <p:cNvSpPr/>
          <p:nvPr/>
        </p:nvSpPr>
        <p:spPr>
          <a:xfrm>
            <a:off x="502920" y="1783080"/>
            <a:ext cx="2127443" cy="4507992"/>
          </a:xfrm>
          <a:prstGeom prst="roundRect">
            <a:avLst>
              <a:gd name="adj" fmla="val 4000"/>
            </a:avLst>
          </a:prstGeom>
          <a:solidFill>
            <a:srgbClr val="EEE8F5"/>
          </a:solidFill>
          <a:ln>
            <a:noFill/>
          </a:ln>
          <a:effectLst/>
        </p:spPr>
        <p:txBody>
          <a:bodyPr rtlCol="0" anchor="ctr"/>
          <a:lstStyle/>
          <a:p/>
        </p:txBody>
      </p:sp>
      <p:sp>
        <p:nvSpPr>
          <p:cNvPr id="8" name="Rounded Rectangle 7"/>
          <p:cNvSpPr/>
          <p:nvPr/>
        </p:nvSpPr>
        <p:spPr>
          <a:xfrm>
            <a:off x="576072" y="1874520"/>
            <a:ext cx="1981139" cy="457200"/>
          </a:xfrm>
          <a:prstGeom prst="roundRect">
            <a:avLst>
              <a:gd name="adj" fmla="val 20000"/>
            </a:avLst>
          </a:prstGeom>
          <a:solidFill>
            <a:srgbClr val="FFFFFF"/>
          </a:solidFill>
          <a:ln w="19050">
            <a:solidFill>
              <a:srgbClr val="8B5A2B"/>
            </a:solidFill>
          </a:ln>
          <a:effectLst/>
        </p:spPr>
        <p:txBody>
          <a:bodyPr rtlCol="0" anchor="ctr" wrap="square" lIns="54864" rIns="54864" tIns="18288" bIns="18288">
            <a:noAutofit/>
          </a:bodyPr>
          <a:lstStyle/>
          <a:p>
            <a:pPr algn="ctr">
              <a:spcBef>
                <a:spcPts val="0"/>
              </a:spcBef>
              <a:spcAft>
                <a:spcPts val="0"/>
              </a:spcAft>
            </a:pPr>
            <a:r>
              <a:rPr lang="tr-TR" sz="1900" b="0" i="0">
                <a:solidFill>
                  <a:srgbClr val="262626"/>
                </a:solidFill>
                <a:latin typeface="Calibri"/>
              </a:rPr>
              <a:t>Deprem</a:t>
            </a:r>
          </a:p>
        </p:txBody>
      </p:sp>
      <p:sp>
        <p:nvSpPr>
          <p:cNvPr id="9" name="Rounded Rectangle 8"/>
          <p:cNvSpPr/>
          <p:nvPr/>
        </p:nvSpPr>
        <p:spPr>
          <a:xfrm>
            <a:off x="576072" y="2404872"/>
            <a:ext cx="1981139" cy="726948"/>
          </a:xfrm>
          <a:prstGeom prst="roundRect">
            <a:avLst>
              <a:gd name="adj" fmla="val 20000"/>
            </a:avLst>
          </a:prstGeom>
          <a:solidFill>
            <a:srgbClr val="FFFFFF"/>
          </a:solidFill>
          <a:ln w="19050">
            <a:solidFill>
              <a:srgbClr val="8B5A2B"/>
            </a:solidFill>
          </a:ln>
          <a:effectLst/>
        </p:spPr>
        <p:txBody>
          <a:bodyPr rtlCol="0" anchor="ctr" wrap="square" lIns="54864" rIns="54864" tIns="18288" bIns="18288">
            <a:noAutofit/>
          </a:bodyPr>
          <a:lstStyle/>
          <a:p>
            <a:pPr algn="ctr">
              <a:spcBef>
                <a:spcPts val="0"/>
              </a:spcBef>
              <a:spcAft>
                <a:spcPts val="0"/>
              </a:spcAft>
            </a:pPr>
            <a:r>
              <a:rPr lang="tr-TR" sz="1900" b="0" i="0">
                <a:solidFill>
                  <a:srgbClr val="262626"/>
                </a:solidFill>
                <a:latin typeface="Calibri"/>
              </a:rPr>
              <a:t>Volkanik faaliyetler</a:t>
            </a:r>
          </a:p>
        </p:txBody>
      </p:sp>
      <p:sp>
        <p:nvSpPr>
          <p:cNvPr id="10" name="Rounded Rectangle 9"/>
          <p:cNvSpPr/>
          <p:nvPr/>
        </p:nvSpPr>
        <p:spPr>
          <a:xfrm>
            <a:off x="2767523" y="1216152"/>
            <a:ext cx="2127443" cy="502920"/>
          </a:xfrm>
          <a:prstGeom prst="roundRect">
            <a:avLst>
              <a:gd name="adj" fmla="val 15000"/>
            </a:avLst>
          </a:prstGeom>
          <a:solidFill>
            <a:srgbClr val="2C6696"/>
          </a:solidFill>
          <a:ln>
            <a:noFill/>
          </a:ln>
          <a:effectLst/>
        </p:spPr>
        <p:txBody>
          <a:bodyPr rtlCol="0" anchor="ctr" wrap="square" lIns="45720" rIns="45720" tIns="73152" bIns="73152">
            <a:noAutofit/>
          </a:bodyPr>
          <a:lstStyle/>
          <a:p>
            <a:pPr algn="ctr">
              <a:spcBef>
                <a:spcPts val="0"/>
              </a:spcBef>
              <a:spcAft>
                <a:spcPts val="0"/>
              </a:spcAft>
            </a:pPr>
            <a:r>
              <a:rPr lang="tr-TR" sz="1700" b="1" i="0">
                <a:solidFill>
                  <a:srgbClr val="FFFFFF"/>
                </a:solidFill>
                <a:latin typeface="Calibri"/>
              </a:rPr>
              <a:t>Klimatik-hidrolojik</a:t>
            </a:r>
          </a:p>
        </p:txBody>
      </p:sp>
      <p:sp>
        <p:nvSpPr>
          <p:cNvPr id="11" name="Rounded Rectangle 10"/>
          <p:cNvSpPr/>
          <p:nvPr/>
        </p:nvSpPr>
        <p:spPr>
          <a:xfrm>
            <a:off x="2767523" y="1783080"/>
            <a:ext cx="2127443" cy="4507992"/>
          </a:xfrm>
          <a:prstGeom prst="roundRect">
            <a:avLst>
              <a:gd name="adj" fmla="val 4000"/>
            </a:avLst>
          </a:prstGeom>
          <a:solidFill>
            <a:srgbClr val="EEE8F5"/>
          </a:solidFill>
          <a:ln>
            <a:noFill/>
          </a:ln>
          <a:effectLst/>
        </p:spPr>
        <p:txBody>
          <a:bodyPr rtlCol="0" anchor="ctr"/>
          <a:lstStyle/>
          <a:p/>
        </p:txBody>
      </p:sp>
      <p:sp>
        <p:nvSpPr>
          <p:cNvPr id="12" name="Rounded Rectangle 11"/>
          <p:cNvSpPr/>
          <p:nvPr/>
        </p:nvSpPr>
        <p:spPr>
          <a:xfrm>
            <a:off x="2840675" y="1874520"/>
            <a:ext cx="1981139" cy="457200"/>
          </a:xfrm>
          <a:prstGeom prst="roundRect">
            <a:avLst>
              <a:gd name="adj" fmla="val 20000"/>
            </a:avLst>
          </a:prstGeom>
          <a:solidFill>
            <a:srgbClr val="FFFFFF"/>
          </a:solidFill>
          <a:ln w="19050">
            <a:solidFill>
              <a:srgbClr val="2C6696"/>
            </a:solidFill>
          </a:ln>
          <a:effectLst/>
        </p:spPr>
        <p:txBody>
          <a:bodyPr rtlCol="0" anchor="ctr" wrap="square" lIns="54864" rIns="54864" tIns="18288" bIns="18288">
            <a:noAutofit/>
          </a:bodyPr>
          <a:lstStyle/>
          <a:p>
            <a:pPr algn="ctr">
              <a:spcBef>
                <a:spcPts val="0"/>
              </a:spcBef>
              <a:spcAft>
                <a:spcPts val="0"/>
              </a:spcAft>
            </a:pPr>
            <a:r>
              <a:rPr lang="tr-TR" sz="1900" b="0" i="0">
                <a:solidFill>
                  <a:srgbClr val="262626"/>
                </a:solidFill>
                <a:latin typeface="Calibri"/>
              </a:rPr>
              <a:t>Kuraklık</a:t>
            </a:r>
          </a:p>
        </p:txBody>
      </p:sp>
      <p:sp>
        <p:nvSpPr>
          <p:cNvPr id="13" name="Rounded Rectangle 12"/>
          <p:cNvSpPr/>
          <p:nvPr/>
        </p:nvSpPr>
        <p:spPr>
          <a:xfrm>
            <a:off x="2840675" y="2404872"/>
            <a:ext cx="1981139" cy="457200"/>
          </a:xfrm>
          <a:prstGeom prst="roundRect">
            <a:avLst>
              <a:gd name="adj" fmla="val 20000"/>
            </a:avLst>
          </a:prstGeom>
          <a:solidFill>
            <a:srgbClr val="FFFFFF"/>
          </a:solidFill>
          <a:ln w="19050">
            <a:solidFill>
              <a:srgbClr val="2C6696"/>
            </a:solidFill>
          </a:ln>
          <a:effectLst/>
        </p:spPr>
        <p:txBody>
          <a:bodyPr rtlCol="0" anchor="ctr" wrap="square" lIns="54864" rIns="54864" tIns="18288" bIns="18288">
            <a:noAutofit/>
          </a:bodyPr>
          <a:lstStyle/>
          <a:p>
            <a:pPr algn="ctr">
              <a:spcBef>
                <a:spcPts val="0"/>
              </a:spcBef>
              <a:spcAft>
                <a:spcPts val="0"/>
              </a:spcAft>
            </a:pPr>
            <a:r>
              <a:rPr lang="tr-TR" sz="1900" b="0" i="0">
                <a:solidFill>
                  <a:srgbClr val="262626"/>
                </a:solidFill>
                <a:latin typeface="Calibri"/>
              </a:rPr>
              <a:t>Sel</a:t>
            </a:r>
          </a:p>
        </p:txBody>
      </p:sp>
      <p:sp>
        <p:nvSpPr>
          <p:cNvPr id="14" name="Rounded Rectangle 13"/>
          <p:cNvSpPr/>
          <p:nvPr/>
        </p:nvSpPr>
        <p:spPr>
          <a:xfrm>
            <a:off x="5032126" y="1216152"/>
            <a:ext cx="2127443" cy="502920"/>
          </a:xfrm>
          <a:prstGeom prst="roundRect">
            <a:avLst>
              <a:gd name="adj" fmla="val 15000"/>
            </a:avLst>
          </a:prstGeom>
          <a:solidFill>
            <a:srgbClr val="3E8E41"/>
          </a:solidFill>
          <a:ln>
            <a:noFill/>
          </a:ln>
          <a:effectLst/>
        </p:spPr>
        <p:txBody>
          <a:bodyPr rtlCol="0" anchor="ctr" wrap="square" lIns="45720" rIns="45720" tIns="73152" bIns="73152">
            <a:noAutofit/>
          </a:bodyPr>
          <a:lstStyle/>
          <a:p>
            <a:pPr algn="ctr">
              <a:spcBef>
                <a:spcPts val="0"/>
              </a:spcBef>
              <a:spcAft>
                <a:spcPts val="0"/>
              </a:spcAft>
            </a:pPr>
            <a:r>
              <a:rPr lang="tr-TR" sz="1700" b="1" i="0">
                <a:solidFill>
                  <a:srgbClr val="FFFFFF"/>
                </a:solidFill>
                <a:latin typeface="Calibri"/>
              </a:rPr>
              <a:t>Biyolojik</a:t>
            </a:r>
          </a:p>
        </p:txBody>
      </p:sp>
      <p:sp>
        <p:nvSpPr>
          <p:cNvPr id="15" name="Rounded Rectangle 14"/>
          <p:cNvSpPr/>
          <p:nvPr/>
        </p:nvSpPr>
        <p:spPr>
          <a:xfrm>
            <a:off x="5032126" y="1783080"/>
            <a:ext cx="2127443" cy="4507992"/>
          </a:xfrm>
          <a:prstGeom prst="roundRect">
            <a:avLst>
              <a:gd name="adj" fmla="val 4000"/>
            </a:avLst>
          </a:prstGeom>
          <a:solidFill>
            <a:srgbClr val="EEE8F5"/>
          </a:solidFill>
          <a:ln>
            <a:noFill/>
          </a:ln>
          <a:effectLst/>
        </p:spPr>
        <p:txBody>
          <a:bodyPr rtlCol="0" anchor="ctr"/>
          <a:lstStyle/>
          <a:p/>
        </p:txBody>
      </p:sp>
      <p:sp>
        <p:nvSpPr>
          <p:cNvPr id="16" name="Rounded Rectangle 15"/>
          <p:cNvSpPr/>
          <p:nvPr/>
        </p:nvSpPr>
        <p:spPr>
          <a:xfrm>
            <a:off x="5105278" y="1874520"/>
            <a:ext cx="1981139" cy="457200"/>
          </a:xfrm>
          <a:prstGeom prst="roundRect">
            <a:avLst>
              <a:gd name="adj" fmla="val 20000"/>
            </a:avLst>
          </a:prstGeom>
          <a:solidFill>
            <a:srgbClr val="FFFFFF"/>
          </a:solidFill>
          <a:ln w="19050">
            <a:solidFill>
              <a:srgbClr val="3E8E41"/>
            </a:solidFill>
          </a:ln>
          <a:effectLst/>
        </p:spPr>
        <p:txBody>
          <a:bodyPr rtlCol="0" anchor="ctr" wrap="square" lIns="54864" rIns="54864" tIns="18288" bIns="18288">
            <a:noAutofit/>
          </a:bodyPr>
          <a:lstStyle/>
          <a:p>
            <a:pPr algn="ctr">
              <a:spcBef>
                <a:spcPts val="0"/>
              </a:spcBef>
              <a:spcAft>
                <a:spcPts val="0"/>
              </a:spcAft>
            </a:pPr>
            <a:r>
              <a:rPr lang="tr-TR" sz="1900" b="0" i="0">
                <a:solidFill>
                  <a:srgbClr val="262626"/>
                </a:solidFill>
                <a:latin typeface="Calibri"/>
              </a:rPr>
              <a:t>Erozyon</a:t>
            </a:r>
          </a:p>
        </p:txBody>
      </p:sp>
      <p:sp>
        <p:nvSpPr>
          <p:cNvPr id="17" name="Rounded Rectangle 16"/>
          <p:cNvSpPr/>
          <p:nvPr/>
        </p:nvSpPr>
        <p:spPr>
          <a:xfrm>
            <a:off x="5105278" y="2404872"/>
            <a:ext cx="1981139" cy="457200"/>
          </a:xfrm>
          <a:prstGeom prst="roundRect">
            <a:avLst>
              <a:gd name="adj" fmla="val 20000"/>
            </a:avLst>
          </a:prstGeom>
          <a:solidFill>
            <a:srgbClr val="FFFFFF"/>
          </a:solidFill>
          <a:ln w="19050">
            <a:solidFill>
              <a:srgbClr val="3E8E41"/>
            </a:solidFill>
          </a:ln>
          <a:effectLst/>
        </p:spPr>
        <p:txBody>
          <a:bodyPr rtlCol="0" anchor="ctr" wrap="square" lIns="54864" rIns="54864" tIns="18288" bIns="18288">
            <a:noAutofit/>
          </a:bodyPr>
          <a:lstStyle/>
          <a:p>
            <a:pPr algn="ctr">
              <a:spcBef>
                <a:spcPts val="0"/>
              </a:spcBef>
              <a:spcAft>
                <a:spcPts val="0"/>
              </a:spcAft>
            </a:pPr>
            <a:r>
              <a:rPr lang="tr-TR" sz="1900" b="0" i="0">
                <a:solidFill>
                  <a:srgbClr val="262626"/>
                </a:solidFill>
                <a:latin typeface="Calibri"/>
              </a:rPr>
              <a:t>Salgınlar</a:t>
            </a:r>
          </a:p>
        </p:txBody>
      </p:sp>
      <p:sp>
        <p:nvSpPr>
          <p:cNvPr id="18" name="Rounded Rectangle 17"/>
          <p:cNvSpPr/>
          <p:nvPr/>
        </p:nvSpPr>
        <p:spPr>
          <a:xfrm>
            <a:off x="7296729" y="1216152"/>
            <a:ext cx="2127443" cy="502920"/>
          </a:xfrm>
          <a:prstGeom prst="roundRect">
            <a:avLst>
              <a:gd name="adj" fmla="val 15000"/>
            </a:avLst>
          </a:prstGeom>
          <a:solidFill>
            <a:srgbClr val="7A4EA0"/>
          </a:solidFill>
          <a:ln>
            <a:noFill/>
          </a:ln>
          <a:effectLst/>
        </p:spPr>
        <p:txBody>
          <a:bodyPr rtlCol="0" anchor="ctr" wrap="square" lIns="45720" rIns="45720" tIns="73152" bIns="73152">
            <a:noAutofit/>
          </a:bodyPr>
          <a:lstStyle/>
          <a:p>
            <a:pPr algn="ctr">
              <a:spcBef>
                <a:spcPts val="0"/>
              </a:spcBef>
              <a:spcAft>
                <a:spcPts val="0"/>
              </a:spcAft>
            </a:pPr>
            <a:r>
              <a:rPr lang="tr-TR" sz="1700" b="1" i="0">
                <a:solidFill>
                  <a:srgbClr val="FFFFFF"/>
                </a:solidFill>
                <a:latin typeface="Calibri"/>
              </a:rPr>
              <a:t>Sosyal</a:t>
            </a:r>
          </a:p>
        </p:txBody>
      </p:sp>
      <p:sp>
        <p:nvSpPr>
          <p:cNvPr id="19" name="Rounded Rectangle 18"/>
          <p:cNvSpPr/>
          <p:nvPr/>
        </p:nvSpPr>
        <p:spPr>
          <a:xfrm>
            <a:off x="7296729" y="1783080"/>
            <a:ext cx="2127443" cy="4507992"/>
          </a:xfrm>
          <a:prstGeom prst="roundRect">
            <a:avLst>
              <a:gd name="adj" fmla="val 4000"/>
            </a:avLst>
          </a:prstGeom>
          <a:solidFill>
            <a:srgbClr val="F0F0F0"/>
          </a:solidFill>
          <a:ln>
            <a:noFill/>
          </a:ln>
          <a:effectLst/>
        </p:spPr>
        <p:txBody>
          <a:bodyPr rtlCol="0" anchor="ctr"/>
          <a:lstStyle/>
          <a:p/>
        </p:txBody>
      </p:sp>
      <p:sp>
        <p:nvSpPr>
          <p:cNvPr id="20" name="Rounded Rectangle 19"/>
          <p:cNvSpPr/>
          <p:nvPr/>
        </p:nvSpPr>
        <p:spPr>
          <a:xfrm>
            <a:off x="7369881" y="1874520"/>
            <a:ext cx="1981139" cy="457200"/>
          </a:xfrm>
          <a:prstGeom prst="roundRect">
            <a:avLst>
              <a:gd name="adj" fmla="val 20000"/>
            </a:avLst>
          </a:prstGeom>
          <a:solidFill>
            <a:srgbClr val="FFFFFF"/>
          </a:solidFill>
          <a:ln w="19050">
            <a:solidFill>
              <a:srgbClr val="7A4EA0"/>
            </a:solidFill>
          </a:ln>
          <a:effectLst/>
        </p:spPr>
        <p:txBody>
          <a:bodyPr rtlCol="0" anchor="ctr" wrap="square" lIns="54864" rIns="54864" tIns="18288" bIns="18288">
            <a:noAutofit/>
          </a:bodyPr>
          <a:lstStyle/>
          <a:p>
            <a:pPr algn="ctr">
              <a:spcBef>
                <a:spcPts val="0"/>
              </a:spcBef>
              <a:spcAft>
                <a:spcPts val="0"/>
              </a:spcAft>
            </a:pPr>
            <a:r>
              <a:rPr lang="tr-TR" sz="1900" b="0" i="0">
                <a:solidFill>
                  <a:srgbClr val="262626"/>
                </a:solidFill>
                <a:latin typeface="Calibri"/>
              </a:rPr>
              <a:t>Savaşlar</a:t>
            </a:r>
          </a:p>
        </p:txBody>
      </p:sp>
      <p:sp>
        <p:nvSpPr>
          <p:cNvPr id="21" name="Rounded Rectangle 20"/>
          <p:cNvSpPr/>
          <p:nvPr/>
        </p:nvSpPr>
        <p:spPr>
          <a:xfrm>
            <a:off x="7369881" y="2404872"/>
            <a:ext cx="1981139" cy="457200"/>
          </a:xfrm>
          <a:prstGeom prst="roundRect">
            <a:avLst>
              <a:gd name="adj" fmla="val 20000"/>
            </a:avLst>
          </a:prstGeom>
          <a:solidFill>
            <a:srgbClr val="FFFFFF"/>
          </a:solidFill>
          <a:ln w="19050">
            <a:solidFill>
              <a:srgbClr val="7A4EA0"/>
            </a:solidFill>
          </a:ln>
          <a:effectLst/>
        </p:spPr>
        <p:txBody>
          <a:bodyPr rtlCol="0" anchor="ctr" wrap="square" lIns="54864" rIns="54864" tIns="18288" bIns="18288">
            <a:noAutofit/>
          </a:bodyPr>
          <a:lstStyle/>
          <a:p>
            <a:pPr algn="ctr">
              <a:spcBef>
                <a:spcPts val="0"/>
              </a:spcBef>
              <a:spcAft>
                <a:spcPts val="0"/>
              </a:spcAft>
            </a:pPr>
            <a:r>
              <a:rPr lang="tr-TR" sz="1900" b="0" i="0">
                <a:solidFill>
                  <a:srgbClr val="262626"/>
                </a:solidFill>
                <a:latin typeface="Calibri"/>
              </a:rPr>
              <a:t>Terör saldırıları</a:t>
            </a:r>
          </a:p>
        </p:txBody>
      </p:sp>
      <p:sp>
        <p:nvSpPr>
          <p:cNvPr id="22" name="Rounded Rectangle 21"/>
          <p:cNvSpPr/>
          <p:nvPr/>
        </p:nvSpPr>
        <p:spPr>
          <a:xfrm>
            <a:off x="7369881" y="2935224"/>
            <a:ext cx="1981139" cy="457200"/>
          </a:xfrm>
          <a:prstGeom prst="roundRect">
            <a:avLst>
              <a:gd name="adj" fmla="val 20000"/>
            </a:avLst>
          </a:prstGeom>
          <a:solidFill>
            <a:srgbClr val="FFFFFF"/>
          </a:solidFill>
          <a:ln w="19050">
            <a:solidFill>
              <a:srgbClr val="7A4EA0"/>
            </a:solidFill>
          </a:ln>
          <a:effectLst/>
        </p:spPr>
        <p:txBody>
          <a:bodyPr rtlCol="0" anchor="ctr" wrap="square" lIns="54864" rIns="54864" tIns="18288" bIns="18288">
            <a:noAutofit/>
          </a:bodyPr>
          <a:lstStyle/>
          <a:p>
            <a:pPr algn="ctr">
              <a:spcBef>
                <a:spcPts val="0"/>
              </a:spcBef>
              <a:spcAft>
                <a:spcPts val="0"/>
              </a:spcAft>
            </a:pPr>
            <a:r>
              <a:rPr lang="tr-TR" sz="1900" b="0" i="0">
                <a:solidFill>
                  <a:srgbClr val="262626"/>
                </a:solidFill>
                <a:latin typeface="Calibri"/>
              </a:rPr>
              <a:t>Göçler</a:t>
            </a:r>
          </a:p>
        </p:txBody>
      </p:sp>
      <p:sp>
        <p:nvSpPr>
          <p:cNvPr id="23" name="Rounded Rectangle 22"/>
          <p:cNvSpPr/>
          <p:nvPr/>
        </p:nvSpPr>
        <p:spPr>
          <a:xfrm>
            <a:off x="9561332" y="1216152"/>
            <a:ext cx="2127443" cy="502920"/>
          </a:xfrm>
          <a:prstGeom prst="roundRect">
            <a:avLst>
              <a:gd name="adj" fmla="val 15000"/>
            </a:avLst>
          </a:prstGeom>
          <a:solidFill>
            <a:srgbClr val="5A6470"/>
          </a:solidFill>
          <a:ln>
            <a:noFill/>
          </a:ln>
          <a:effectLst/>
        </p:spPr>
        <p:txBody>
          <a:bodyPr rtlCol="0" anchor="ctr" wrap="square" lIns="45720" rIns="45720" tIns="73152" bIns="73152">
            <a:noAutofit/>
          </a:bodyPr>
          <a:lstStyle/>
          <a:p>
            <a:pPr algn="ctr">
              <a:spcBef>
                <a:spcPts val="0"/>
              </a:spcBef>
              <a:spcAft>
                <a:spcPts val="0"/>
              </a:spcAft>
            </a:pPr>
            <a:r>
              <a:rPr lang="tr-TR" sz="1700" b="1" i="0">
                <a:solidFill>
                  <a:srgbClr val="FFFFFF"/>
                </a:solidFill>
                <a:latin typeface="Calibri"/>
              </a:rPr>
              <a:t>Teknolojik</a:t>
            </a:r>
          </a:p>
        </p:txBody>
      </p:sp>
      <p:sp>
        <p:nvSpPr>
          <p:cNvPr id="24" name="Rounded Rectangle 23"/>
          <p:cNvSpPr/>
          <p:nvPr/>
        </p:nvSpPr>
        <p:spPr>
          <a:xfrm>
            <a:off x="9561332" y="1783080"/>
            <a:ext cx="2127443" cy="4507992"/>
          </a:xfrm>
          <a:prstGeom prst="roundRect">
            <a:avLst>
              <a:gd name="adj" fmla="val 4000"/>
            </a:avLst>
          </a:prstGeom>
          <a:solidFill>
            <a:srgbClr val="F0F0F0"/>
          </a:solidFill>
          <a:ln>
            <a:noFill/>
          </a:ln>
          <a:effectLst/>
        </p:spPr>
        <p:txBody>
          <a:bodyPr rtlCol="0" anchor="ctr"/>
          <a:lstStyle/>
          <a:p/>
        </p:txBody>
      </p:sp>
      <p:sp>
        <p:nvSpPr>
          <p:cNvPr id="25" name="Rounded Rectangle 24"/>
          <p:cNvSpPr/>
          <p:nvPr/>
        </p:nvSpPr>
        <p:spPr>
          <a:xfrm>
            <a:off x="9634484" y="1874520"/>
            <a:ext cx="1981139" cy="457200"/>
          </a:xfrm>
          <a:prstGeom prst="roundRect">
            <a:avLst>
              <a:gd name="adj" fmla="val 20000"/>
            </a:avLst>
          </a:prstGeom>
          <a:solidFill>
            <a:srgbClr val="FFFFFF"/>
          </a:solidFill>
          <a:ln w="19050">
            <a:solidFill>
              <a:srgbClr val="5A6470"/>
            </a:solidFill>
          </a:ln>
          <a:effectLst/>
        </p:spPr>
        <p:txBody>
          <a:bodyPr rtlCol="0" anchor="ctr" wrap="square" lIns="54864" rIns="54864" tIns="18288" bIns="18288">
            <a:noAutofit/>
          </a:bodyPr>
          <a:lstStyle/>
          <a:p>
            <a:pPr algn="ctr">
              <a:spcBef>
                <a:spcPts val="0"/>
              </a:spcBef>
              <a:spcAft>
                <a:spcPts val="0"/>
              </a:spcAft>
            </a:pPr>
            <a:r>
              <a:rPr lang="tr-TR" sz="1900" b="0" i="0">
                <a:solidFill>
                  <a:srgbClr val="262626"/>
                </a:solidFill>
                <a:latin typeface="Calibri"/>
              </a:rPr>
              <a:t>Maden kazaları</a:t>
            </a:r>
          </a:p>
        </p:txBody>
      </p:sp>
      <p:sp>
        <p:nvSpPr>
          <p:cNvPr id="26" name="Rounded Rectangle 25"/>
          <p:cNvSpPr/>
          <p:nvPr/>
        </p:nvSpPr>
        <p:spPr>
          <a:xfrm>
            <a:off x="9634484" y="2404872"/>
            <a:ext cx="1981139" cy="726948"/>
          </a:xfrm>
          <a:prstGeom prst="roundRect">
            <a:avLst>
              <a:gd name="adj" fmla="val 20000"/>
            </a:avLst>
          </a:prstGeom>
          <a:solidFill>
            <a:srgbClr val="FFFFFF"/>
          </a:solidFill>
          <a:ln w="19050">
            <a:solidFill>
              <a:srgbClr val="5A6470"/>
            </a:solidFill>
          </a:ln>
          <a:effectLst/>
        </p:spPr>
        <p:txBody>
          <a:bodyPr rtlCol="0" anchor="ctr" wrap="square" lIns="54864" rIns="54864" tIns="18288" bIns="18288">
            <a:noAutofit/>
          </a:bodyPr>
          <a:lstStyle/>
          <a:p>
            <a:pPr algn="ctr">
              <a:spcBef>
                <a:spcPts val="0"/>
              </a:spcBef>
              <a:spcAft>
                <a:spcPts val="0"/>
              </a:spcAft>
            </a:pPr>
            <a:r>
              <a:rPr lang="tr-TR" sz="1900" b="0" i="0">
                <a:solidFill>
                  <a:srgbClr val="262626"/>
                </a:solidFill>
                <a:latin typeface="Calibri"/>
              </a:rPr>
              <a:t>Nükleer santral kazaları</a:t>
            </a:r>
          </a:p>
        </p:txBody>
      </p:sp>
      <p:sp>
        <p:nvSpPr>
          <p:cNvPr id="27" name="Rounded Rectangle 26"/>
          <p:cNvSpPr/>
          <p:nvPr/>
        </p:nvSpPr>
        <p:spPr>
          <a:xfrm>
            <a:off x="9634484" y="3204972"/>
            <a:ext cx="1981139" cy="457200"/>
          </a:xfrm>
          <a:prstGeom prst="roundRect">
            <a:avLst>
              <a:gd name="adj" fmla="val 20000"/>
            </a:avLst>
          </a:prstGeom>
          <a:solidFill>
            <a:srgbClr val="FFFFFF"/>
          </a:solidFill>
          <a:ln w="19050">
            <a:solidFill>
              <a:srgbClr val="5A6470"/>
            </a:solidFill>
          </a:ln>
          <a:effectLst/>
        </p:spPr>
        <p:txBody>
          <a:bodyPr rtlCol="0" anchor="ctr" wrap="square" lIns="54864" rIns="54864" tIns="18288" bIns="18288">
            <a:noAutofit/>
          </a:bodyPr>
          <a:lstStyle/>
          <a:p>
            <a:pPr algn="ctr">
              <a:spcBef>
                <a:spcPts val="0"/>
              </a:spcBef>
              <a:spcAft>
                <a:spcPts val="0"/>
              </a:spcAft>
            </a:pPr>
            <a:r>
              <a:rPr lang="tr-TR" sz="1900" b="0" i="0">
                <a:solidFill>
                  <a:srgbClr val="262626"/>
                </a:solidFill>
                <a:latin typeface="Calibri"/>
              </a:rPr>
              <a:t>Ulaşım kazaları</a:t>
            </a:r>
          </a:p>
        </p:txBody>
      </p:sp>
      <p:sp>
        <p:nvSpPr>
          <p:cNvPr id="28" name="TextBox 27"/>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9" name="Rounded Rectangle 28"/>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196</a:t>
            </a:r>
          </a:p>
        </p:txBody>
      </p:sp>
      <p:sp>
        <p:nvSpPr>
          <p:cNvPr id="30" name="TextBox 29"/>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86 / 250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Tartışmalı kartlar — örnek cevap (2)</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16152"/>
            <a:ext cx="2148840" cy="660196"/>
          </a:xfrm>
          <a:prstGeom prst="roundRect">
            <a:avLst>
              <a:gd name="adj" fmla="val 15000"/>
            </a:avLst>
          </a:prstGeom>
          <a:solidFill>
            <a:srgbClr val="8B5A2B"/>
          </a:solidFill>
          <a:ln>
            <a:noFill/>
          </a:ln>
          <a:effectLst/>
        </p:spPr>
        <p:txBody>
          <a:bodyPr rtlCol="0" anchor="ctr" wrap="square" lIns="45720" rIns="45720" tIns="73152" bIns="73152">
            <a:noAutofit/>
          </a:bodyPr>
          <a:lstStyle/>
          <a:p>
            <a:pPr algn="ctr">
              <a:spcBef>
                <a:spcPts val="0"/>
              </a:spcBef>
              <a:spcAft>
                <a:spcPts val="0"/>
              </a:spcAft>
            </a:pPr>
            <a:r>
              <a:rPr lang="tr-TR" sz="1700" b="1" i="0">
                <a:solidFill>
                  <a:srgbClr val="FFFFFF"/>
                </a:solidFill>
                <a:latin typeface="Calibri"/>
              </a:rPr>
              <a:t>Jeolojik</a:t>
            </a:r>
          </a:p>
        </p:txBody>
      </p:sp>
      <p:sp>
        <p:nvSpPr>
          <p:cNvPr id="7" name="Rounded Rectangle 6"/>
          <p:cNvSpPr/>
          <p:nvPr/>
        </p:nvSpPr>
        <p:spPr>
          <a:xfrm>
            <a:off x="2743200" y="1216152"/>
            <a:ext cx="8945575" cy="660196"/>
          </a:xfrm>
          <a:prstGeom prst="roundRect">
            <a:avLst>
              <a:gd name="adj" fmla="val 8000"/>
            </a:avLst>
          </a:prstGeom>
          <a:solidFill>
            <a:srgbClr val="EEE8F5"/>
          </a:solidFill>
          <a:ln>
            <a:noFill/>
          </a:ln>
          <a:effectLst/>
        </p:spPr>
        <p:txBody>
          <a:bodyPr rtlCol="0" anchor="ctr"/>
          <a:lstStyle/>
          <a:p/>
        </p:txBody>
      </p:sp>
      <p:sp>
        <p:nvSpPr>
          <p:cNvPr id="8" name="Rounded Rectangle 7"/>
          <p:cNvSpPr/>
          <p:nvPr/>
        </p:nvSpPr>
        <p:spPr>
          <a:xfrm>
            <a:off x="2834640" y="1363370"/>
            <a:ext cx="1028519" cy="365760"/>
          </a:xfrm>
          <a:prstGeom prst="roundRect">
            <a:avLst>
              <a:gd name="adj" fmla="val 50000"/>
            </a:avLst>
          </a:prstGeom>
          <a:solidFill>
            <a:srgbClr val="FFFFFF"/>
          </a:solidFill>
          <a:ln w="19050">
            <a:solidFill>
              <a:srgbClr val="8B5A2B"/>
            </a:solidFill>
          </a:ln>
          <a:effectLst/>
        </p:spPr>
        <p:txBody>
          <a:bodyPr rtlCol="0" anchor="ctr" wrap="square" lIns="54864" rIns="54864" tIns="0" bIns="0">
            <a:noAutofit/>
          </a:bodyPr>
          <a:lstStyle/>
          <a:p>
            <a:pPr algn="ctr">
              <a:spcBef>
                <a:spcPts val="0"/>
              </a:spcBef>
              <a:spcAft>
                <a:spcPts val="0"/>
              </a:spcAft>
            </a:pPr>
            <a:r>
              <a:rPr lang="tr-TR" sz="1500" b="0" i="0">
                <a:solidFill>
                  <a:srgbClr val="262626"/>
                </a:solidFill>
                <a:latin typeface="Calibri"/>
              </a:rPr>
              <a:t>Tsunami</a:t>
            </a:r>
          </a:p>
        </p:txBody>
      </p:sp>
      <p:sp>
        <p:nvSpPr>
          <p:cNvPr id="9" name="Rounded Rectangle 8"/>
          <p:cNvSpPr/>
          <p:nvPr/>
        </p:nvSpPr>
        <p:spPr>
          <a:xfrm>
            <a:off x="3954599" y="1363370"/>
            <a:ext cx="1981817" cy="365760"/>
          </a:xfrm>
          <a:prstGeom prst="roundRect">
            <a:avLst>
              <a:gd name="adj" fmla="val 50000"/>
            </a:avLst>
          </a:prstGeom>
          <a:solidFill>
            <a:srgbClr val="FFFFFF"/>
          </a:solidFill>
          <a:ln w="19050">
            <a:solidFill>
              <a:srgbClr val="8B5A2B"/>
            </a:solidFill>
          </a:ln>
          <a:effectLst/>
        </p:spPr>
        <p:txBody>
          <a:bodyPr rtlCol="0" anchor="ctr" wrap="square" lIns="54864" rIns="54864" tIns="0" bIns="0">
            <a:noAutofit/>
          </a:bodyPr>
          <a:lstStyle/>
          <a:p>
            <a:pPr algn="ctr">
              <a:spcBef>
                <a:spcPts val="0"/>
              </a:spcBef>
              <a:spcAft>
                <a:spcPts val="0"/>
              </a:spcAft>
            </a:pPr>
            <a:r>
              <a:rPr lang="tr-TR" sz="1500" b="0" i="0">
                <a:solidFill>
                  <a:srgbClr val="262626"/>
                </a:solidFill>
                <a:latin typeface="Calibri"/>
              </a:rPr>
              <a:t>Heyelan ↔ klimatik</a:t>
            </a:r>
          </a:p>
        </p:txBody>
      </p:sp>
      <p:sp>
        <p:nvSpPr>
          <p:cNvPr id="10" name="Rounded Rectangle 9"/>
          <p:cNvSpPr/>
          <p:nvPr/>
        </p:nvSpPr>
        <p:spPr>
          <a:xfrm>
            <a:off x="6027856" y="1363370"/>
            <a:ext cx="2409352" cy="365760"/>
          </a:xfrm>
          <a:prstGeom prst="roundRect">
            <a:avLst>
              <a:gd name="adj" fmla="val 50000"/>
            </a:avLst>
          </a:prstGeom>
          <a:solidFill>
            <a:srgbClr val="FFFFFF"/>
          </a:solidFill>
          <a:ln w="19050">
            <a:solidFill>
              <a:srgbClr val="8B5A2B"/>
            </a:solidFill>
          </a:ln>
          <a:effectLst/>
        </p:spPr>
        <p:txBody>
          <a:bodyPr rtlCol="0" anchor="ctr" wrap="square" lIns="54864" rIns="54864" tIns="0" bIns="0">
            <a:noAutofit/>
          </a:bodyPr>
          <a:lstStyle/>
          <a:p>
            <a:pPr algn="ctr">
              <a:spcBef>
                <a:spcPts val="0"/>
              </a:spcBef>
              <a:spcAft>
                <a:spcPts val="0"/>
              </a:spcAft>
            </a:pPr>
            <a:r>
              <a:rPr lang="tr-TR" sz="1500" b="0" i="0">
                <a:solidFill>
                  <a:srgbClr val="262626"/>
                </a:solidFill>
                <a:latin typeface="Calibri"/>
              </a:rPr>
              <a:t>Kaya düşmesi ↔ klimatik</a:t>
            </a:r>
          </a:p>
        </p:txBody>
      </p:sp>
      <p:sp>
        <p:nvSpPr>
          <p:cNvPr id="11" name="Rounded Rectangle 10"/>
          <p:cNvSpPr/>
          <p:nvPr/>
        </p:nvSpPr>
        <p:spPr>
          <a:xfrm>
            <a:off x="8528648" y="1363370"/>
            <a:ext cx="2468891" cy="365760"/>
          </a:xfrm>
          <a:prstGeom prst="roundRect">
            <a:avLst>
              <a:gd name="adj" fmla="val 50000"/>
            </a:avLst>
          </a:prstGeom>
          <a:solidFill>
            <a:srgbClr val="FFFFFF"/>
          </a:solidFill>
          <a:ln w="19050">
            <a:solidFill>
              <a:srgbClr val="8B5A2B"/>
            </a:solidFill>
          </a:ln>
          <a:effectLst/>
        </p:spPr>
        <p:txBody>
          <a:bodyPr rtlCol="0" anchor="ctr" wrap="square" lIns="54864" rIns="54864" tIns="0" bIns="0">
            <a:noAutofit/>
          </a:bodyPr>
          <a:lstStyle/>
          <a:p>
            <a:pPr algn="ctr">
              <a:spcBef>
                <a:spcPts val="0"/>
              </a:spcBef>
              <a:spcAft>
                <a:spcPts val="0"/>
              </a:spcAft>
            </a:pPr>
            <a:r>
              <a:rPr lang="tr-TR" sz="1500" b="0" i="0">
                <a:solidFill>
                  <a:srgbClr val="262626"/>
                </a:solidFill>
                <a:latin typeface="Calibri"/>
              </a:rPr>
              <a:t>Çamur akıntısı ↔ klimatik</a:t>
            </a:r>
          </a:p>
        </p:txBody>
      </p:sp>
      <p:sp>
        <p:nvSpPr>
          <p:cNvPr id="12" name="Rounded Rectangle 11"/>
          <p:cNvSpPr/>
          <p:nvPr/>
        </p:nvSpPr>
        <p:spPr>
          <a:xfrm>
            <a:off x="502920" y="1986076"/>
            <a:ext cx="2148840" cy="1099108"/>
          </a:xfrm>
          <a:prstGeom prst="roundRect">
            <a:avLst>
              <a:gd name="adj" fmla="val 15000"/>
            </a:avLst>
          </a:prstGeom>
          <a:solidFill>
            <a:srgbClr val="2C6696"/>
          </a:solidFill>
          <a:ln>
            <a:noFill/>
          </a:ln>
          <a:effectLst/>
        </p:spPr>
        <p:txBody>
          <a:bodyPr rtlCol="0" anchor="ctr" wrap="square" lIns="45720" rIns="45720" tIns="73152" bIns="73152">
            <a:noAutofit/>
          </a:bodyPr>
          <a:lstStyle/>
          <a:p>
            <a:pPr algn="ctr">
              <a:spcBef>
                <a:spcPts val="0"/>
              </a:spcBef>
              <a:spcAft>
                <a:spcPts val="0"/>
              </a:spcAft>
            </a:pPr>
            <a:r>
              <a:rPr lang="tr-TR" sz="1700" b="1" i="0">
                <a:solidFill>
                  <a:srgbClr val="FFFFFF"/>
                </a:solidFill>
                <a:latin typeface="Calibri"/>
              </a:rPr>
              <a:t>Klimatik-hidrolojik</a:t>
            </a:r>
          </a:p>
        </p:txBody>
      </p:sp>
      <p:sp>
        <p:nvSpPr>
          <p:cNvPr id="13" name="Rounded Rectangle 12"/>
          <p:cNvSpPr/>
          <p:nvPr/>
        </p:nvSpPr>
        <p:spPr>
          <a:xfrm>
            <a:off x="2743200" y="1986076"/>
            <a:ext cx="8945575" cy="1099108"/>
          </a:xfrm>
          <a:prstGeom prst="roundRect">
            <a:avLst>
              <a:gd name="adj" fmla="val 8000"/>
            </a:avLst>
          </a:prstGeom>
          <a:solidFill>
            <a:srgbClr val="EEE8F5"/>
          </a:solidFill>
          <a:ln>
            <a:noFill/>
          </a:ln>
          <a:effectLst/>
        </p:spPr>
        <p:txBody>
          <a:bodyPr rtlCol="0" anchor="ctr"/>
          <a:lstStyle/>
          <a:p/>
        </p:txBody>
      </p:sp>
      <p:sp>
        <p:nvSpPr>
          <p:cNvPr id="14" name="Rounded Rectangle 13"/>
          <p:cNvSpPr/>
          <p:nvPr/>
        </p:nvSpPr>
        <p:spPr>
          <a:xfrm>
            <a:off x="2834640" y="2133295"/>
            <a:ext cx="1064604" cy="365760"/>
          </a:xfrm>
          <a:prstGeom prst="roundRect">
            <a:avLst>
              <a:gd name="adj" fmla="val 50000"/>
            </a:avLst>
          </a:prstGeom>
          <a:solidFill>
            <a:srgbClr val="FFFFFF"/>
          </a:solidFill>
          <a:ln w="19050">
            <a:solidFill>
              <a:srgbClr val="2C6696"/>
            </a:solidFill>
          </a:ln>
          <a:effectLst/>
        </p:spPr>
        <p:txBody>
          <a:bodyPr rtlCol="0" anchor="ctr" wrap="square" lIns="54864" rIns="54864" tIns="0" bIns="0">
            <a:noAutofit/>
          </a:bodyPr>
          <a:lstStyle/>
          <a:p>
            <a:pPr algn="ctr">
              <a:spcBef>
                <a:spcPts val="0"/>
              </a:spcBef>
              <a:spcAft>
                <a:spcPts val="0"/>
              </a:spcAft>
            </a:pPr>
            <a:r>
              <a:rPr lang="tr-TR" sz="1500" b="0" i="0">
                <a:solidFill>
                  <a:srgbClr val="262626"/>
                </a:solidFill>
                <a:latin typeface="Calibri"/>
              </a:rPr>
              <a:t>Taşkınlar</a:t>
            </a:r>
          </a:p>
        </p:txBody>
      </p:sp>
      <p:sp>
        <p:nvSpPr>
          <p:cNvPr id="15" name="Rounded Rectangle 14"/>
          <p:cNvSpPr/>
          <p:nvPr/>
        </p:nvSpPr>
        <p:spPr>
          <a:xfrm>
            <a:off x="3990684" y="2133295"/>
            <a:ext cx="1363342" cy="365760"/>
          </a:xfrm>
          <a:prstGeom prst="roundRect">
            <a:avLst>
              <a:gd name="adj" fmla="val 50000"/>
            </a:avLst>
          </a:prstGeom>
          <a:solidFill>
            <a:srgbClr val="FFFFFF"/>
          </a:solidFill>
          <a:ln w="19050">
            <a:solidFill>
              <a:srgbClr val="2C6696"/>
            </a:solidFill>
          </a:ln>
          <a:effectLst/>
        </p:spPr>
        <p:txBody>
          <a:bodyPr rtlCol="0" anchor="ctr" wrap="square" lIns="54864" rIns="54864" tIns="0" bIns="0">
            <a:noAutofit/>
          </a:bodyPr>
          <a:lstStyle/>
          <a:p>
            <a:pPr algn="ctr">
              <a:spcBef>
                <a:spcPts val="0"/>
              </a:spcBef>
              <a:spcAft>
                <a:spcPts val="0"/>
              </a:spcAft>
            </a:pPr>
            <a:r>
              <a:rPr lang="tr-TR" sz="1500" b="0" i="0">
                <a:solidFill>
                  <a:srgbClr val="262626"/>
                </a:solidFill>
                <a:latin typeface="Calibri"/>
              </a:rPr>
              <a:t>Aşırı yağışlar</a:t>
            </a:r>
          </a:p>
        </p:txBody>
      </p:sp>
      <p:sp>
        <p:nvSpPr>
          <p:cNvPr id="16" name="Rounded Rectangle 15"/>
          <p:cNvSpPr/>
          <p:nvPr/>
        </p:nvSpPr>
        <p:spPr>
          <a:xfrm>
            <a:off x="5445466" y="2133295"/>
            <a:ext cx="741156" cy="365760"/>
          </a:xfrm>
          <a:prstGeom prst="roundRect">
            <a:avLst>
              <a:gd name="adj" fmla="val 50000"/>
            </a:avLst>
          </a:prstGeom>
          <a:solidFill>
            <a:srgbClr val="FFFFFF"/>
          </a:solidFill>
          <a:ln w="19050">
            <a:solidFill>
              <a:srgbClr val="2C6696"/>
            </a:solidFill>
          </a:ln>
          <a:effectLst/>
        </p:spPr>
        <p:txBody>
          <a:bodyPr rtlCol="0" anchor="ctr" wrap="square" lIns="54864" rIns="54864" tIns="0" bIns="0">
            <a:noAutofit/>
          </a:bodyPr>
          <a:lstStyle/>
          <a:p>
            <a:pPr algn="ctr">
              <a:spcBef>
                <a:spcPts val="0"/>
              </a:spcBef>
              <a:spcAft>
                <a:spcPts val="0"/>
              </a:spcAft>
            </a:pPr>
            <a:r>
              <a:rPr lang="tr-TR" sz="1500" b="0" i="0">
                <a:solidFill>
                  <a:srgbClr val="262626"/>
                </a:solidFill>
                <a:latin typeface="Calibri"/>
              </a:rPr>
              <a:t>Dolu</a:t>
            </a:r>
          </a:p>
        </p:txBody>
      </p:sp>
      <p:sp>
        <p:nvSpPr>
          <p:cNvPr id="17" name="Rounded Rectangle 16"/>
          <p:cNvSpPr/>
          <p:nvPr/>
        </p:nvSpPr>
        <p:spPr>
          <a:xfrm>
            <a:off x="6278062" y="2133295"/>
            <a:ext cx="988540" cy="365760"/>
          </a:xfrm>
          <a:prstGeom prst="roundRect">
            <a:avLst>
              <a:gd name="adj" fmla="val 50000"/>
            </a:avLst>
          </a:prstGeom>
          <a:solidFill>
            <a:srgbClr val="FFFFFF"/>
          </a:solidFill>
          <a:ln w="19050">
            <a:solidFill>
              <a:srgbClr val="2C6696"/>
            </a:solidFill>
          </a:ln>
          <a:effectLst/>
        </p:spPr>
        <p:txBody>
          <a:bodyPr rtlCol="0" anchor="ctr" wrap="square" lIns="54864" rIns="54864" tIns="0" bIns="0">
            <a:noAutofit/>
          </a:bodyPr>
          <a:lstStyle/>
          <a:p>
            <a:pPr algn="ctr">
              <a:spcBef>
                <a:spcPts val="0"/>
              </a:spcBef>
              <a:spcAft>
                <a:spcPts val="0"/>
              </a:spcAft>
            </a:pPr>
            <a:r>
              <a:rPr lang="tr-TR" sz="1500" b="0" i="0">
                <a:solidFill>
                  <a:srgbClr val="262626"/>
                </a:solidFill>
                <a:latin typeface="Calibri"/>
              </a:rPr>
              <a:t>Hortum</a:t>
            </a:r>
          </a:p>
        </p:txBody>
      </p:sp>
      <p:sp>
        <p:nvSpPr>
          <p:cNvPr id="18" name="Rounded Rectangle 17"/>
          <p:cNvSpPr/>
          <p:nvPr/>
        </p:nvSpPr>
        <p:spPr>
          <a:xfrm>
            <a:off x="7358042" y="2133295"/>
            <a:ext cx="931730" cy="365760"/>
          </a:xfrm>
          <a:prstGeom prst="roundRect">
            <a:avLst>
              <a:gd name="adj" fmla="val 50000"/>
            </a:avLst>
          </a:prstGeom>
          <a:solidFill>
            <a:srgbClr val="FFFFFF"/>
          </a:solidFill>
          <a:ln w="19050">
            <a:solidFill>
              <a:srgbClr val="2C6696"/>
            </a:solidFill>
          </a:ln>
          <a:effectLst/>
        </p:spPr>
        <p:txBody>
          <a:bodyPr rtlCol="0" anchor="ctr" wrap="square" lIns="54864" rIns="54864" tIns="0" bIns="0">
            <a:noAutofit/>
          </a:bodyPr>
          <a:lstStyle/>
          <a:p>
            <a:pPr algn="ctr">
              <a:spcBef>
                <a:spcPts val="0"/>
              </a:spcBef>
              <a:spcAft>
                <a:spcPts val="0"/>
              </a:spcAft>
            </a:pPr>
            <a:r>
              <a:rPr lang="tr-TR" sz="1500" b="0" i="0">
                <a:solidFill>
                  <a:srgbClr val="262626"/>
                </a:solidFill>
                <a:latin typeface="Calibri"/>
              </a:rPr>
              <a:t>Kasırga</a:t>
            </a:r>
          </a:p>
        </p:txBody>
      </p:sp>
      <p:sp>
        <p:nvSpPr>
          <p:cNvPr id="19" name="Rounded Rectangle 18"/>
          <p:cNvSpPr/>
          <p:nvPr/>
        </p:nvSpPr>
        <p:spPr>
          <a:xfrm>
            <a:off x="8381212" y="2133295"/>
            <a:ext cx="1667291" cy="365760"/>
          </a:xfrm>
          <a:prstGeom prst="roundRect">
            <a:avLst>
              <a:gd name="adj" fmla="val 50000"/>
            </a:avLst>
          </a:prstGeom>
          <a:solidFill>
            <a:srgbClr val="FFFFFF"/>
          </a:solidFill>
          <a:ln w="19050">
            <a:solidFill>
              <a:srgbClr val="2C6696"/>
            </a:solidFill>
          </a:ln>
          <a:effectLst/>
        </p:spPr>
        <p:txBody>
          <a:bodyPr rtlCol="0" anchor="ctr" wrap="square" lIns="54864" rIns="54864" tIns="0" bIns="0">
            <a:noAutofit/>
          </a:bodyPr>
          <a:lstStyle/>
          <a:p>
            <a:pPr algn="ctr">
              <a:spcBef>
                <a:spcPts val="0"/>
              </a:spcBef>
              <a:spcAft>
                <a:spcPts val="0"/>
              </a:spcAft>
            </a:pPr>
            <a:r>
              <a:rPr lang="tr-TR" sz="1500" b="0" i="0">
                <a:solidFill>
                  <a:srgbClr val="262626"/>
                </a:solidFill>
                <a:latin typeface="Calibri"/>
              </a:rPr>
              <a:t>Yıldırım düşmesi</a:t>
            </a:r>
          </a:p>
        </p:txBody>
      </p:sp>
      <p:sp>
        <p:nvSpPr>
          <p:cNvPr id="20" name="Rounded Rectangle 19"/>
          <p:cNvSpPr/>
          <p:nvPr/>
        </p:nvSpPr>
        <p:spPr>
          <a:xfrm>
            <a:off x="2834640" y="2572207"/>
            <a:ext cx="2295056" cy="365760"/>
          </a:xfrm>
          <a:prstGeom prst="roundRect">
            <a:avLst>
              <a:gd name="adj" fmla="val 50000"/>
            </a:avLst>
          </a:prstGeom>
          <a:solidFill>
            <a:srgbClr val="FFFFFF"/>
          </a:solidFill>
          <a:ln w="19050">
            <a:solidFill>
              <a:srgbClr val="2C6696"/>
            </a:solidFill>
          </a:ln>
          <a:effectLst/>
        </p:spPr>
        <p:txBody>
          <a:bodyPr rtlCol="0" anchor="ctr" wrap="square" lIns="54864" rIns="54864" tIns="0" bIns="0">
            <a:noAutofit/>
          </a:bodyPr>
          <a:lstStyle/>
          <a:p>
            <a:pPr algn="ctr">
              <a:spcBef>
                <a:spcPts val="0"/>
              </a:spcBef>
              <a:spcAft>
                <a:spcPts val="0"/>
              </a:spcAft>
            </a:pPr>
            <a:r>
              <a:rPr lang="tr-TR" sz="1500" b="0" i="0">
                <a:solidFill>
                  <a:srgbClr val="262626"/>
                </a:solidFill>
                <a:latin typeface="Calibri"/>
              </a:rPr>
              <a:t>Sıcak-soğuk hava dalgası</a:t>
            </a:r>
          </a:p>
        </p:txBody>
      </p:sp>
      <p:sp>
        <p:nvSpPr>
          <p:cNvPr id="21" name="Rounded Rectangle 20"/>
          <p:cNvSpPr/>
          <p:nvPr/>
        </p:nvSpPr>
        <p:spPr>
          <a:xfrm>
            <a:off x="5221136" y="2572207"/>
            <a:ext cx="1149038" cy="365760"/>
          </a:xfrm>
          <a:prstGeom prst="roundRect">
            <a:avLst>
              <a:gd name="adj" fmla="val 50000"/>
            </a:avLst>
          </a:prstGeom>
          <a:solidFill>
            <a:srgbClr val="FFFFFF"/>
          </a:solidFill>
          <a:ln w="19050">
            <a:solidFill>
              <a:srgbClr val="2C6696"/>
            </a:solidFill>
          </a:ln>
          <a:effectLst/>
        </p:spPr>
        <p:txBody>
          <a:bodyPr rtlCol="0" anchor="ctr" wrap="square" lIns="54864" rIns="54864" tIns="0" bIns="0">
            <a:noAutofit/>
          </a:bodyPr>
          <a:lstStyle/>
          <a:p>
            <a:pPr algn="ctr">
              <a:spcBef>
                <a:spcPts val="0"/>
              </a:spcBef>
              <a:spcAft>
                <a:spcPts val="0"/>
              </a:spcAft>
            </a:pPr>
            <a:r>
              <a:rPr lang="tr-TR" sz="1500" b="0" i="0">
                <a:solidFill>
                  <a:srgbClr val="262626"/>
                </a:solidFill>
                <a:latin typeface="Calibri"/>
              </a:rPr>
              <a:t>Buzlanma</a:t>
            </a:r>
          </a:p>
        </p:txBody>
      </p:sp>
      <p:sp>
        <p:nvSpPr>
          <p:cNvPr id="22" name="Rounded Rectangle 21"/>
          <p:cNvSpPr/>
          <p:nvPr/>
        </p:nvSpPr>
        <p:spPr>
          <a:xfrm>
            <a:off x="6461614" y="2572207"/>
            <a:ext cx="1530032" cy="365760"/>
          </a:xfrm>
          <a:prstGeom prst="roundRect">
            <a:avLst>
              <a:gd name="adj" fmla="val 50000"/>
            </a:avLst>
          </a:prstGeom>
          <a:solidFill>
            <a:srgbClr val="FFFFFF"/>
          </a:solidFill>
          <a:ln w="19050">
            <a:solidFill>
              <a:srgbClr val="2C6696"/>
            </a:solidFill>
          </a:ln>
          <a:effectLst/>
        </p:spPr>
        <p:txBody>
          <a:bodyPr rtlCol="0" anchor="ctr" wrap="square" lIns="54864" rIns="54864" tIns="0" bIns="0">
            <a:noAutofit/>
          </a:bodyPr>
          <a:lstStyle/>
          <a:p>
            <a:pPr algn="ctr">
              <a:spcBef>
                <a:spcPts val="0"/>
              </a:spcBef>
              <a:spcAft>
                <a:spcPts val="0"/>
              </a:spcAft>
            </a:pPr>
            <a:r>
              <a:rPr lang="tr-TR" sz="1500" b="0" i="0">
                <a:solidFill>
                  <a:srgbClr val="262626"/>
                </a:solidFill>
                <a:latin typeface="Calibri"/>
              </a:rPr>
              <a:t>Çığ ↔ jeolojik</a:t>
            </a:r>
          </a:p>
        </p:txBody>
      </p:sp>
      <p:sp>
        <p:nvSpPr>
          <p:cNvPr id="23" name="Rounded Rectangle 22"/>
          <p:cNvSpPr/>
          <p:nvPr/>
        </p:nvSpPr>
        <p:spPr>
          <a:xfrm>
            <a:off x="8083086" y="2572207"/>
            <a:ext cx="2504761" cy="365760"/>
          </a:xfrm>
          <a:prstGeom prst="roundRect">
            <a:avLst>
              <a:gd name="adj" fmla="val 50000"/>
            </a:avLst>
          </a:prstGeom>
          <a:solidFill>
            <a:srgbClr val="FFFFFF"/>
          </a:solidFill>
          <a:ln w="19050">
            <a:solidFill>
              <a:srgbClr val="2C6696"/>
            </a:solidFill>
          </a:ln>
          <a:effectLst/>
        </p:spPr>
        <p:txBody>
          <a:bodyPr rtlCol="0" anchor="ctr" wrap="square" lIns="54864" rIns="54864" tIns="0" bIns="0">
            <a:noAutofit/>
          </a:bodyPr>
          <a:lstStyle/>
          <a:p>
            <a:pPr algn="ctr">
              <a:spcBef>
                <a:spcPts val="0"/>
              </a:spcBef>
              <a:spcAft>
                <a:spcPts val="0"/>
              </a:spcAft>
            </a:pPr>
            <a:r>
              <a:rPr lang="tr-TR" sz="1500" b="0" i="0">
                <a:solidFill>
                  <a:srgbClr val="262626"/>
                </a:solidFill>
                <a:latin typeface="Calibri"/>
              </a:rPr>
              <a:t>Orman yangınları ↔ insan</a:t>
            </a:r>
          </a:p>
        </p:txBody>
      </p:sp>
      <p:sp>
        <p:nvSpPr>
          <p:cNvPr id="24" name="Rounded Rectangle 23"/>
          <p:cNvSpPr/>
          <p:nvPr/>
        </p:nvSpPr>
        <p:spPr>
          <a:xfrm>
            <a:off x="502920" y="3194913"/>
            <a:ext cx="2148840" cy="660196"/>
          </a:xfrm>
          <a:prstGeom prst="roundRect">
            <a:avLst>
              <a:gd name="adj" fmla="val 15000"/>
            </a:avLst>
          </a:prstGeom>
          <a:solidFill>
            <a:srgbClr val="3E8E41"/>
          </a:solidFill>
          <a:ln>
            <a:noFill/>
          </a:ln>
          <a:effectLst/>
        </p:spPr>
        <p:txBody>
          <a:bodyPr rtlCol="0" anchor="ctr" wrap="square" lIns="45720" rIns="45720" tIns="73152" bIns="73152">
            <a:noAutofit/>
          </a:bodyPr>
          <a:lstStyle/>
          <a:p>
            <a:pPr algn="ctr">
              <a:spcBef>
                <a:spcPts val="0"/>
              </a:spcBef>
              <a:spcAft>
                <a:spcPts val="0"/>
              </a:spcAft>
            </a:pPr>
            <a:r>
              <a:rPr lang="tr-TR" sz="1700" b="1" i="0">
                <a:solidFill>
                  <a:srgbClr val="FFFFFF"/>
                </a:solidFill>
                <a:latin typeface="Calibri"/>
              </a:rPr>
              <a:t>Biyolojik</a:t>
            </a:r>
          </a:p>
        </p:txBody>
      </p:sp>
      <p:sp>
        <p:nvSpPr>
          <p:cNvPr id="25" name="Rounded Rectangle 24"/>
          <p:cNvSpPr/>
          <p:nvPr/>
        </p:nvSpPr>
        <p:spPr>
          <a:xfrm>
            <a:off x="2743200" y="3194913"/>
            <a:ext cx="8945575" cy="660196"/>
          </a:xfrm>
          <a:prstGeom prst="roundRect">
            <a:avLst>
              <a:gd name="adj" fmla="val 8000"/>
            </a:avLst>
          </a:prstGeom>
          <a:solidFill>
            <a:srgbClr val="EEE8F5"/>
          </a:solidFill>
          <a:ln>
            <a:noFill/>
          </a:ln>
          <a:effectLst/>
        </p:spPr>
        <p:txBody>
          <a:bodyPr rtlCol="0" anchor="ctr"/>
          <a:lstStyle/>
          <a:p/>
        </p:txBody>
      </p:sp>
      <p:sp>
        <p:nvSpPr>
          <p:cNvPr id="26" name="Rounded Rectangle 25"/>
          <p:cNvSpPr/>
          <p:nvPr/>
        </p:nvSpPr>
        <p:spPr>
          <a:xfrm>
            <a:off x="2834640" y="3342132"/>
            <a:ext cx="1513538" cy="365760"/>
          </a:xfrm>
          <a:prstGeom prst="roundRect">
            <a:avLst>
              <a:gd name="adj" fmla="val 50000"/>
            </a:avLst>
          </a:prstGeom>
          <a:solidFill>
            <a:srgbClr val="FFFFFF"/>
          </a:solidFill>
          <a:ln w="19050">
            <a:solidFill>
              <a:srgbClr val="3E8E41"/>
            </a:solidFill>
          </a:ln>
          <a:effectLst/>
        </p:spPr>
        <p:txBody>
          <a:bodyPr rtlCol="0" anchor="ctr" wrap="square" lIns="54864" rIns="54864" tIns="0" bIns="0">
            <a:noAutofit/>
          </a:bodyPr>
          <a:lstStyle/>
          <a:p>
            <a:pPr algn="ctr">
              <a:spcBef>
                <a:spcPts val="0"/>
              </a:spcBef>
              <a:spcAft>
                <a:spcPts val="0"/>
              </a:spcAft>
            </a:pPr>
            <a:r>
              <a:rPr lang="tr-TR" sz="1500" b="0" i="0">
                <a:solidFill>
                  <a:srgbClr val="262626"/>
                </a:solidFill>
                <a:latin typeface="Calibri"/>
              </a:rPr>
              <a:t>Böcek istilaları</a:t>
            </a:r>
          </a:p>
        </p:txBody>
      </p:sp>
      <p:sp>
        <p:nvSpPr>
          <p:cNvPr id="27" name="Rounded Rectangle 26"/>
          <p:cNvSpPr/>
          <p:nvPr/>
        </p:nvSpPr>
        <p:spPr>
          <a:xfrm>
            <a:off x="502920" y="3964838"/>
            <a:ext cx="2148840" cy="660196"/>
          </a:xfrm>
          <a:prstGeom prst="roundRect">
            <a:avLst>
              <a:gd name="adj" fmla="val 15000"/>
            </a:avLst>
          </a:prstGeom>
          <a:solidFill>
            <a:srgbClr val="7A4EA0"/>
          </a:solidFill>
          <a:ln>
            <a:noFill/>
          </a:ln>
          <a:effectLst/>
        </p:spPr>
        <p:txBody>
          <a:bodyPr rtlCol="0" anchor="ctr" wrap="square" lIns="45720" rIns="45720" tIns="73152" bIns="73152">
            <a:noAutofit/>
          </a:bodyPr>
          <a:lstStyle/>
          <a:p>
            <a:pPr algn="ctr">
              <a:spcBef>
                <a:spcPts val="0"/>
              </a:spcBef>
              <a:spcAft>
                <a:spcPts val="0"/>
              </a:spcAft>
            </a:pPr>
            <a:r>
              <a:rPr lang="tr-TR" sz="1700" b="1" i="0">
                <a:solidFill>
                  <a:srgbClr val="FFFFFF"/>
                </a:solidFill>
                <a:latin typeface="Calibri"/>
              </a:rPr>
              <a:t>Sosyal</a:t>
            </a:r>
          </a:p>
        </p:txBody>
      </p:sp>
      <p:sp>
        <p:nvSpPr>
          <p:cNvPr id="28" name="Rounded Rectangle 27"/>
          <p:cNvSpPr/>
          <p:nvPr/>
        </p:nvSpPr>
        <p:spPr>
          <a:xfrm>
            <a:off x="2743200" y="3964838"/>
            <a:ext cx="8945575" cy="660196"/>
          </a:xfrm>
          <a:prstGeom prst="roundRect">
            <a:avLst>
              <a:gd name="adj" fmla="val 8000"/>
            </a:avLst>
          </a:prstGeom>
          <a:solidFill>
            <a:srgbClr val="F0F0F0"/>
          </a:solidFill>
          <a:ln>
            <a:noFill/>
          </a:ln>
          <a:effectLst/>
        </p:spPr>
        <p:txBody>
          <a:bodyPr rtlCol="0" anchor="ctr"/>
          <a:lstStyle/>
          <a:p/>
        </p:txBody>
      </p:sp>
      <p:sp>
        <p:nvSpPr>
          <p:cNvPr id="29" name="TextBox 28"/>
          <p:cNvSpPr txBox="1"/>
          <p:nvPr/>
        </p:nvSpPr>
        <p:spPr>
          <a:xfrm>
            <a:off x="2880360" y="3964838"/>
            <a:ext cx="8716975" cy="660196"/>
          </a:xfrm>
          <a:prstGeom prst="rect">
            <a:avLst/>
          </a:prstGeom>
          <a:noFill/>
        </p:spPr>
        <p:txBody>
          <a:bodyPr wrap="square" anchor="ctr" lIns="73152" rIns="73152" tIns="36576" bIns="36576">
            <a:noAutofit/>
          </a:bodyPr>
          <a:lstStyle/>
          <a:p>
            <a:pPr algn="l">
              <a:spcBef>
                <a:spcPts val="0"/>
              </a:spcBef>
              <a:spcAft>
                <a:spcPts val="0"/>
              </a:spcAft>
            </a:pPr>
            <a:r>
              <a:rPr lang="tr-TR" sz="1500" b="0" i="1">
                <a:solidFill>
                  <a:srgbClr val="767676"/>
                </a:solidFill>
                <a:latin typeface="Calibri"/>
              </a:rPr>
              <a:t>Listede kitabın saydıkları dışında kart yok (silahların kullanımı ↔ sosyal)</a:t>
            </a:r>
          </a:p>
        </p:txBody>
      </p:sp>
      <p:sp>
        <p:nvSpPr>
          <p:cNvPr id="30" name="Rounded Rectangle 29"/>
          <p:cNvSpPr/>
          <p:nvPr/>
        </p:nvSpPr>
        <p:spPr>
          <a:xfrm>
            <a:off x="502920" y="4734763"/>
            <a:ext cx="2148840" cy="1099108"/>
          </a:xfrm>
          <a:prstGeom prst="roundRect">
            <a:avLst>
              <a:gd name="adj" fmla="val 15000"/>
            </a:avLst>
          </a:prstGeom>
          <a:solidFill>
            <a:srgbClr val="5A6470"/>
          </a:solidFill>
          <a:ln>
            <a:noFill/>
          </a:ln>
          <a:effectLst/>
        </p:spPr>
        <p:txBody>
          <a:bodyPr rtlCol="0" anchor="ctr" wrap="square" lIns="45720" rIns="45720" tIns="73152" bIns="73152">
            <a:noAutofit/>
          </a:bodyPr>
          <a:lstStyle/>
          <a:p>
            <a:pPr algn="ctr">
              <a:spcBef>
                <a:spcPts val="0"/>
              </a:spcBef>
              <a:spcAft>
                <a:spcPts val="0"/>
              </a:spcAft>
            </a:pPr>
            <a:r>
              <a:rPr lang="tr-TR" sz="1700" b="1" i="0">
                <a:solidFill>
                  <a:srgbClr val="FFFFFF"/>
                </a:solidFill>
                <a:latin typeface="Calibri"/>
              </a:rPr>
              <a:t>Teknolojik</a:t>
            </a:r>
          </a:p>
        </p:txBody>
      </p:sp>
      <p:sp>
        <p:nvSpPr>
          <p:cNvPr id="31" name="Rounded Rectangle 30"/>
          <p:cNvSpPr/>
          <p:nvPr/>
        </p:nvSpPr>
        <p:spPr>
          <a:xfrm>
            <a:off x="2743200" y="4734763"/>
            <a:ext cx="8945575" cy="1099108"/>
          </a:xfrm>
          <a:prstGeom prst="roundRect">
            <a:avLst>
              <a:gd name="adj" fmla="val 8000"/>
            </a:avLst>
          </a:prstGeom>
          <a:solidFill>
            <a:srgbClr val="F0F0F0"/>
          </a:solidFill>
          <a:ln>
            <a:noFill/>
          </a:ln>
          <a:effectLst/>
        </p:spPr>
        <p:txBody>
          <a:bodyPr rtlCol="0" anchor="ctr"/>
          <a:lstStyle/>
          <a:p/>
        </p:txBody>
      </p:sp>
      <p:sp>
        <p:nvSpPr>
          <p:cNvPr id="32" name="Rounded Rectangle 31"/>
          <p:cNvSpPr/>
          <p:nvPr/>
        </p:nvSpPr>
        <p:spPr>
          <a:xfrm>
            <a:off x="2834640" y="4881981"/>
            <a:ext cx="1525219" cy="365760"/>
          </a:xfrm>
          <a:prstGeom prst="roundRect">
            <a:avLst>
              <a:gd name="adj" fmla="val 50000"/>
            </a:avLst>
          </a:prstGeom>
          <a:solidFill>
            <a:srgbClr val="FFFFFF"/>
          </a:solidFill>
          <a:ln w="19050">
            <a:solidFill>
              <a:srgbClr val="5A6470"/>
            </a:solidFill>
          </a:ln>
          <a:effectLst/>
        </p:spPr>
        <p:txBody>
          <a:bodyPr rtlCol="0" anchor="ctr" wrap="square" lIns="54864" rIns="54864" tIns="0" bIns="0">
            <a:noAutofit/>
          </a:bodyPr>
          <a:lstStyle/>
          <a:p>
            <a:pPr algn="ctr">
              <a:spcBef>
                <a:spcPts val="0"/>
              </a:spcBef>
              <a:spcAft>
                <a:spcPts val="0"/>
              </a:spcAft>
            </a:pPr>
            <a:r>
              <a:rPr lang="tr-TR" sz="1500" b="0" i="0">
                <a:solidFill>
                  <a:srgbClr val="262626"/>
                </a:solidFill>
                <a:latin typeface="Calibri"/>
              </a:rPr>
              <a:t>Sanayi kazaları</a:t>
            </a:r>
          </a:p>
        </p:txBody>
      </p:sp>
      <p:sp>
        <p:nvSpPr>
          <p:cNvPr id="33" name="Rounded Rectangle 32"/>
          <p:cNvSpPr/>
          <p:nvPr/>
        </p:nvSpPr>
        <p:spPr>
          <a:xfrm>
            <a:off x="4451299" y="4881981"/>
            <a:ext cx="1827421" cy="365760"/>
          </a:xfrm>
          <a:prstGeom prst="roundRect">
            <a:avLst>
              <a:gd name="adj" fmla="val 50000"/>
            </a:avLst>
          </a:prstGeom>
          <a:solidFill>
            <a:srgbClr val="FFFFFF"/>
          </a:solidFill>
          <a:ln w="19050">
            <a:solidFill>
              <a:srgbClr val="5A6470"/>
            </a:solidFill>
          </a:ln>
          <a:effectLst/>
        </p:spPr>
        <p:txBody>
          <a:bodyPr rtlCol="0" anchor="ctr" wrap="square" lIns="54864" rIns="54864" tIns="0" bIns="0">
            <a:noAutofit/>
          </a:bodyPr>
          <a:lstStyle/>
          <a:p>
            <a:pPr algn="ctr">
              <a:spcBef>
                <a:spcPts val="0"/>
              </a:spcBef>
              <a:spcAft>
                <a:spcPts val="0"/>
              </a:spcAft>
            </a:pPr>
            <a:r>
              <a:rPr lang="tr-TR" sz="1500" b="0" i="0">
                <a:solidFill>
                  <a:srgbClr val="262626"/>
                </a:solidFill>
                <a:latin typeface="Calibri"/>
              </a:rPr>
              <a:t>Yangınlar ↔ doğa</a:t>
            </a:r>
          </a:p>
        </p:txBody>
      </p:sp>
      <p:sp>
        <p:nvSpPr>
          <p:cNvPr id="34" name="Rounded Rectangle 33"/>
          <p:cNvSpPr/>
          <p:nvPr/>
        </p:nvSpPr>
        <p:spPr>
          <a:xfrm>
            <a:off x="6370160" y="4881981"/>
            <a:ext cx="2294320" cy="365760"/>
          </a:xfrm>
          <a:prstGeom prst="roundRect">
            <a:avLst>
              <a:gd name="adj" fmla="val 50000"/>
            </a:avLst>
          </a:prstGeom>
          <a:solidFill>
            <a:srgbClr val="FFFFFF"/>
          </a:solidFill>
          <a:ln w="19050">
            <a:solidFill>
              <a:srgbClr val="5A6470"/>
            </a:solidFill>
          </a:ln>
          <a:effectLst/>
        </p:spPr>
        <p:txBody>
          <a:bodyPr rtlCol="0" anchor="ctr" wrap="square" lIns="54864" rIns="54864" tIns="0" bIns="0">
            <a:noAutofit/>
          </a:bodyPr>
          <a:lstStyle/>
          <a:p>
            <a:pPr algn="ctr">
              <a:spcBef>
                <a:spcPts val="0"/>
              </a:spcBef>
              <a:spcAft>
                <a:spcPts val="0"/>
              </a:spcAft>
            </a:pPr>
            <a:r>
              <a:rPr lang="tr-TR" sz="1500" b="0" i="0">
                <a:solidFill>
                  <a:srgbClr val="262626"/>
                </a:solidFill>
                <a:latin typeface="Calibri"/>
              </a:rPr>
              <a:t>Hava kirliliği ↔ klimatik</a:t>
            </a:r>
          </a:p>
        </p:txBody>
      </p:sp>
      <p:sp>
        <p:nvSpPr>
          <p:cNvPr id="35" name="Rounded Rectangle 34"/>
          <p:cNvSpPr/>
          <p:nvPr/>
        </p:nvSpPr>
        <p:spPr>
          <a:xfrm>
            <a:off x="2834640" y="5320893"/>
            <a:ext cx="5045439" cy="365760"/>
          </a:xfrm>
          <a:prstGeom prst="roundRect">
            <a:avLst>
              <a:gd name="adj" fmla="val 50000"/>
            </a:avLst>
          </a:prstGeom>
          <a:solidFill>
            <a:srgbClr val="FFFFFF"/>
          </a:solidFill>
          <a:ln w="19050">
            <a:solidFill>
              <a:srgbClr val="5A6470"/>
            </a:solidFill>
          </a:ln>
          <a:effectLst/>
        </p:spPr>
        <p:txBody>
          <a:bodyPr rtlCol="0" anchor="ctr" wrap="square" lIns="54864" rIns="54864" tIns="0" bIns="0">
            <a:noAutofit/>
          </a:bodyPr>
          <a:lstStyle/>
          <a:p>
            <a:pPr algn="ctr">
              <a:spcBef>
                <a:spcPts val="0"/>
              </a:spcBef>
              <a:spcAft>
                <a:spcPts val="0"/>
              </a:spcAft>
            </a:pPr>
            <a:r>
              <a:rPr lang="tr-TR" sz="1500" b="0" i="0">
                <a:solidFill>
                  <a:srgbClr val="262626"/>
                </a:solidFill>
                <a:latin typeface="Calibri"/>
              </a:rPr>
              <a:t>Biyolojik, nükleer ve kimyasal silahların kullanımı ↔ sosyal</a:t>
            </a:r>
          </a:p>
        </p:txBody>
      </p:sp>
      <p:sp>
        <p:nvSpPr>
          <p:cNvPr id="36" name="TextBox 35"/>
          <p:cNvSpPr txBox="1"/>
          <p:nvPr/>
        </p:nvSpPr>
        <p:spPr>
          <a:xfrm>
            <a:off x="502920" y="5879592"/>
            <a:ext cx="11185855" cy="384048"/>
          </a:xfrm>
          <a:prstGeom prst="rect">
            <a:avLst/>
          </a:prstGeom>
          <a:noFill/>
        </p:spPr>
        <p:txBody>
          <a:bodyPr wrap="square" anchor="ctr" lIns="73152" rIns="73152" tIns="36576" bIns="36576">
            <a:noAutofit/>
          </a:bodyPr>
          <a:lstStyle/>
          <a:p>
            <a:pPr algn="ctr">
              <a:spcBef>
                <a:spcPts val="0"/>
              </a:spcBef>
              <a:spcAft>
                <a:spcPts val="0"/>
              </a:spcAft>
            </a:pPr>
            <a:r>
              <a:rPr lang="tr-TR" sz="1600" b="1" i="0">
                <a:solidFill>
                  <a:srgbClr val="767676"/>
                </a:solidFill>
                <a:latin typeface="Calibri"/>
              </a:rPr>
              <a:t>↔ iki türe de bağlanabilir: kaynağa dayanan gerekçe kabul edilir.</a:t>
            </a:r>
          </a:p>
        </p:txBody>
      </p:sp>
      <p:sp>
        <p:nvSpPr>
          <p:cNvPr id="37" name="TextBox 3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38" name="Rounded Rectangle 3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190, 196</a:t>
            </a:r>
          </a:p>
        </p:txBody>
      </p:sp>
      <p:sp>
        <p:nvSpPr>
          <p:cNvPr id="39" name="TextBox 3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87 / 250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Doğa mı, insan mı? Kaynağı bul</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ÖZET</a:t>
            </a:r>
          </a:p>
        </p:txBody>
      </p:sp>
      <p:sp>
        <p:nvSpPr>
          <p:cNvPr id="6" name="Rounded Rectangle 5"/>
          <p:cNvSpPr/>
          <p:nvPr/>
        </p:nvSpPr>
        <p:spPr>
          <a:xfrm>
            <a:off x="502920" y="2633472"/>
            <a:ext cx="2743200" cy="1828800"/>
          </a:xfrm>
          <a:prstGeom prst="roundRect">
            <a:avLst>
              <a:gd name="adj" fmla="val 8000"/>
            </a:avLst>
          </a:prstGeom>
          <a:solidFill>
            <a:srgbClr val="4F4F4F"/>
          </a:solidFill>
          <a:ln>
            <a:noFill/>
          </a:ln>
          <a:effectLst/>
        </p:spPr>
        <p:txBody>
          <a:bodyPr rtlCol="0" anchor="ctr" wrap="square" lIns="128016" rIns="128016" tIns="73152" bIns="73152">
            <a:noAutofit/>
          </a:bodyPr>
          <a:lstStyle/>
          <a:p>
            <a:pPr algn="ctr">
              <a:spcBef>
                <a:spcPts val="0"/>
              </a:spcBef>
              <a:spcAft>
                <a:spcPts val="0"/>
              </a:spcAft>
            </a:pPr>
            <a:r>
              <a:rPr lang="tr-TR" sz="2200" b="1" i="0">
                <a:solidFill>
                  <a:srgbClr val="FFFFFF"/>
                </a:solidFill>
                <a:latin typeface="Calibri"/>
              </a:rPr>
              <a:t>Kaynağı insan faaliyeti mi?</a:t>
            </a:r>
          </a:p>
        </p:txBody>
      </p:sp>
      <p:cxnSp>
        <p:nvCxnSpPr>
          <p:cNvPr id="7" name="Connector 6"/>
          <p:cNvCxnSpPr/>
          <p:nvPr/>
        </p:nvCxnSpPr>
        <p:spPr>
          <a:xfrm flipV="1">
            <a:off x="3246120" y="1675180"/>
            <a:ext cx="1005840" cy="1872692"/>
          </a:xfrm>
          <a:prstGeom prst="line">
            <a:avLst/>
          </a:prstGeom>
          <a:ln w="31750">
            <a:solidFill>
              <a:srgbClr val="2F6F8F"/>
            </a:solidFill>
            <a:tailEnd type="triangle" w="med" len="med"/>
          </a:ln>
        </p:spPr>
      </p:cxnSp>
      <p:sp>
        <p:nvSpPr>
          <p:cNvPr id="8" name="Rounded Rectangle 7"/>
          <p:cNvSpPr/>
          <p:nvPr/>
        </p:nvSpPr>
        <p:spPr>
          <a:xfrm>
            <a:off x="4251960" y="1216152"/>
            <a:ext cx="2651760" cy="918057"/>
          </a:xfrm>
          <a:prstGeom prst="roundRect">
            <a:avLst>
              <a:gd name="adj" fmla="val 15000"/>
            </a:avLst>
          </a:prstGeom>
          <a:solidFill>
            <a:srgbClr val="8B5A2B"/>
          </a:solidFill>
          <a:ln>
            <a:noFill/>
          </a:ln>
          <a:effectLst/>
        </p:spPr>
        <p:txBody>
          <a:bodyPr rtlCol="0" anchor="ctr" wrap="square" lIns="128016" rIns="128016" tIns="73152" bIns="73152">
            <a:noAutofit/>
          </a:bodyPr>
          <a:lstStyle/>
          <a:p>
            <a:pPr algn="ctr">
              <a:spcBef>
                <a:spcPts val="0"/>
              </a:spcBef>
              <a:spcAft>
                <a:spcPts val="0"/>
              </a:spcAft>
            </a:pPr>
            <a:r>
              <a:rPr lang="tr-TR" sz="1900" b="1" i="0">
                <a:solidFill>
                  <a:srgbClr val="FFFFFF"/>
                </a:solidFill>
                <a:latin typeface="Calibri"/>
              </a:rPr>
              <a:t>Jeolojik</a:t>
            </a:r>
          </a:p>
        </p:txBody>
      </p:sp>
      <p:sp>
        <p:nvSpPr>
          <p:cNvPr id="9" name="Rounded Rectangle 8"/>
          <p:cNvSpPr/>
          <p:nvPr/>
        </p:nvSpPr>
        <p:spPr>
          <a:xfrm>
            <a:off x="7040880" y="1216152"/>
            <a:ext cx="4647895" cy="918057"/>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l">
              <a:spcBef>
                <a:spcPts val="0"/>
              </a:spcBef>
              <a:spcAft>
                <a:spcPts val="0"/>
              </a:spcAft>
            </a:pPr>
            <a:r>
              <a:rPr lang="tr-TR" sz="1900" b="0" i="0">
                <a:solidFill>
                  <a:srgbClr val="262626"/>
                </a:solidFill>
                <a:latin typeface="Calibri"/>
              </a:rPr>
              <a:t>Kaynak yer kabuğu ya da yerin derinlikleri</a:t>
            </a:r>
          </a:p>
        </p:txBody>
      </p:sp>
      <p:cxnSp>
        <p:nvCxnSpPr>
          <p:cNvPr id="10" name="Connector 9"/>
          <p:cNvCxnSpPr/>
          <p:nvPr/>
        </p:nvCxnSpPr>
        <p:spPr>
          <a:xfrm flipV="1">
            <a:off x="3246120" y="2702966"/>
            <a:ext cx="1005840" cy="844906"/>
          </a:xfrm>
          <a:prstGeom prst="line">
            <a:avLst/>
          </a:prstGeom>
          <a:ln w="31750">
            <a:solidFill>
              <a:srgbClr val="2F6F8F"/>
            </a:solidFill>
            <a:tailEnd type="triangle" w="med" len="med"/>
          </a:ln>
        </p:spPr>
      </p:cxnSp>
      <p:sp>
        <p:nvSpPr>
          <p:cNvPr id="11" name="Rounded Rectangle 10"/>
          <p:cNvSpPr/>
          <p:nvPr/>
        </p:nvSpPr>
        <p:spPr>
          <a:xfrm>
            <a:off x="4251960" y="2243937"/>
            <a:ext cx="2651760" cy="918057"/>
          </a:xfrm>
          <a:prstGeom prst="roundRect">
            <a:avLst>
              <a:gd name="adj" fmla="val 15000"/>
            </a:avLst>
          </a:prstGeom>
          <a:solidFill>
            <a:srgbClr val="2C6696"/>
          </a:solidFill>
          <a:ln>
            <a:noFill/>
          </a:ln>
          <a:effectLst/>
        </p:spPr>
        <p:txBody>
          <a:bodyPr rtlCol="0" anchor="ctr" wrap="square" lIns="128016" rIns="128016" tIns="73152" bIns="73152">
            <a:noAutofit/>
          </a:bodyPr>
          <a:lstStyle/>
          <a:p>
            <a:pPr algn="ctr">
              <a:spcBef>
                <a:spcPts val="0"/>
              </a:spcBef>
              <a:spcAft>
                <a:spcPts val="0"/>
              </a:spcAft>
            </a:pPr>
            <a:r>
              <a:rPr lang="tr-TR" sz="1900" b="1" i="0">
                <a:solidFill>
                  <a:srgbClr val="FFFFFF"/>
                </a:solidFill>
                <a:latin typeface="Calibri"/>
              </a:rPr>
              <a:t>Klimatik-hidrolojik</a:t>
            </a:r>
          </a:p>
        </p:txBody>
      </p:sp>
      <p:sp>
        <p:nvSpPr>
          <p:cNvPr id="12" name="Rounded Rectangle 11"/>
          <p:cNvSpPr/>
          <p:nvPr/>
        </p:nvSpPr>
        <p:spPr>
          <a:xfrm>
            <a:off x="7040880" y="2243937"/>
            <a:ext cx="4647895" cy="918057"/>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l">
              <a:spcBef>
                <a:spcPts val="0"/>
              </a:spcBef>
              <a:spcAft>
                <a:spcPts val="0"/>
              </a:spcAft>
            </a:pPr>
            <a:r>
              <a:rPr lang="tr-TR" sz="1900" b="0" i="0">
                <a:solidFill>
                  <a:srgbClr val="262626"/>
                </a:solidFill>
                <a:latin typeface="Calibri"/>
              </a:rPr>
              <a:t>Kaynak atmosfer olayları ve su</a:t>
            </a:r>
          </a:p>
        </p:txBody>
      </p:sp>
      <p:cxnSp>
        <p:nvCxnSpPr>
          <p:cNvPr id="13" name="Connector 12"/>
          <p:cNvCxnSpPr/>
          <p:nvPr/>
        </p:nvCxnSpPr>
        <p:spPr>
          <a:xfrm>
            <a:off x="3246120" y="3547872"/>
            <a:ext cx="1005840" cy="182880"/>
          </a:xfrm>
          <a:prstGeom prst="line">
            <a:avLst/>
          </a:prstGeom>
          <a:ln w="31750">
            <a:solidFill>
              <a:srgbClr val="2F6F8F"/>
            </a:solidFill>
            <a:tailEnd type="triangle" w="med" len="med"/>
          </a:ln>
        </p:spPr>
      </p:cxnSp>
      <p:sp>
        <p:nvSpPr>
          <p:cNvPr id="14" name="Rounded Rectangle 13"/>
          <p:cNvSpPr/>
          <p:nvPr/>
        </p:nvSpPr>
        <p:spPr>
          <a:xfrm>
            <a:off x="4251960" y="3271723"/>
            <a:ext cx="2651760" cy="918057"/>
          </a:xfrm>
          <a:prstGeom prst="roundRect">
            <a:avLst>
              <a:gd name="adj" fmla="val 15000"/>
            </a:avLst>
          </a:prstGeom>
          <a:solidFill>
            <a:srgbClr val="3E8E41"/>
          </a:solidFill>
          <a:ln>
            <a:noFill/>
          </a:ln>
          <a:effectLst/>
        </p:spPr>
        <p:txBody>
          <a:bodyPr rtlCol="0" anchor="ctr" wrap="square" lIns="128016" rIns="128016" tIns="73152" bIns="73152">
            <a:noAutofit/>
          </a:bodyPr>
          <a:lstStyle/>
          <a:p>
            <a:pPr algn="ctr">
              <a:spcBef>
                <a:spcPts val="0"/>
              </a:spcBef>
              <a:spcAft>
                <a:spcPts val="0"/>
              </a:spcAft>
            </a:pPr>
            <a:r>
              <a:rPr lang="tr-TR" sz="1900" b="1" i="0">
                <a:solidFill>
                  <a:srgbClr val="FFFFFF"/>
                </a:solidFill>
                <a:latin typeface="Calibri"/>
              </a:rPr>
              <a:t>Biyolojik</a:t>
            </a:r>
          </a:p>
        </p:txBody>
      </p:sp>
      <p:sp>
        <p:nvSpPr>
          <p:cNvPr id="15" name="Rounded Rectangle 14"/>
          <p:cNvSpPr/>
          <p:nvPr/>
        </p:nvSpPr>
        <p:spPr>
          <a:xfrm>
            <a:off x="7040880" y="3271723"/>
            <a:ext cx="4647895" cy="918057"/>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l">
              <a:spcBef>
                <a:spcPts val="0"/>
              </a:spcBef>
              <a:spcAft>
                <a:spcPts val="0"/>
              </a:spcAft>
            </a:pPr>
            <a:r>
              <a:rPr lang="tr-TR" sz="1900" b="0" i="0">
                <a:solidFill>
                  <a:srgbClr val="262626"/>
                </a:solidFill>
                <a:latin typeface="Calibri"/>
              </a:rPr>
              <a:t>Kaynak canlı organizmalar</a:t>
            </a:r>
          </a:p>
        </p:txBody>
      </p:sp>
      <p:cxnSp>
        <p:nvCxnSpPr>
          <p:cNvPr id="16" name="Connector 15"/>
          <p:cNvCxnSpPr/>
          <p:nvPr/>
        </p:nvCxnSpPr>
        <p:spPr>
          <a:xfrm>
            <a:off x="3246120" y="3547872"/>
            <a:ext cx="1005840" cy="1210665"/>
          </a:xfrm>
          <a:prstGeom prst="line">
            <a:avLst/>
          </a:prstGeom>
          <a:ln w="31750">
            <a:solidFill>
              <a:srgbClr val="A0521A"/>
            </a:solidFill>
            <a:tailEnd type="triangle" w="med" len="med"/>
          </a:ln>
        </p:spPr>
      </p:cxnSp>
      <p:sp>
        <p:nvSpPr>
          <p:cNvPr id="17" name="Rounded Rectangle 16"/>
          <p:cNvSpPr/>
          <p:nvPr/>
        </p:nvSpPr>
        <p:spPr>
          <a:xfrm>
            <a:off x="4251960" y="4299508"/>
            <a:ext cx="2651760" cy="918057"/>
          </a:xfrm>
          <a:prstGeom prst="roundRect">
            <a:avLst>
              <a:gd name="adj" fmla="val 15000"/>
            </a:avLst>
          </a:prstGeom>
          <a:solidFill>
            <a:srgbClr val="7A4EA0"/>
          </a:solidFill>
          <a:ln>
            <a:noFill/>
          </a:ln>
          <a:effectLst/>
        </p:spPr>
        <p:txBody>
          <a:bodyPr rtlCol="0" anchor="ctr" wrap="square" lIns="128016" rIns="128016" tIns="73152" bIns="73152">
            <a:noAutofit/>
          </a:bodyPr>
          <a:lstStyle/>
          <a:p>
            <a:pPr algn="ctr">
              <a:spcBef>
                <a:spcPts val="0"/>
              </a:spcBef>
              <a:spcAft>
                <a:spcPts val="0"/>
              </a:spcAft>
            </a:pPr>
            <a:r>
              <a:rPr lang="tr-TR" sz="1900" b="1" i="0">
                <a:solidFill>
                  <a:srgbClr val="FFFFFF"/>
                </a:solidFill>
                <a:latin typeface="Calibri"/>
              </a:rPr>
              <a:t>Sosyal</a:t>
            </a:r>
          </a:p>
        </p:txBody>
      </p:sp>
      <p:sp>
        <p:nvSpPr>
          <p:cNvPr id="18" name="Rounded Rectangle 17"/>
          <p:cNvSpPr/>
          <p:nvPr/>
        </p:nvSpPr>
        <p:spPr>
          <a:xfrm>
            <a:off x="7040880" y="4299508"/>
            <a:ext cx="4647895" cy="918057"/>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l">
              <a:spcBef>
                <a:spcPts val="0"/>
              </a:spcBef>
              <a:spcAft>
                <a:spcPts val="0"/>
              </a:spcAft>
            </a:pPr>
            <a:r>
              <a:rPr lang="tr-TR" sz="1900" b="0" i="0">
                <a:solidFill>
                  <a:srgbClr val="262626"/>
                </a:solidFill>
                <a:latin typeface="Calibri"/>
              </a:rPr>
              <a:t>İnsanların ihtiyaçlarını karşılama faaliyetleri</a:t>
            </a:r>
          </a:p>
        </p:txBody>
      </p:sp>
      <p:cxnSp>
        <p:nvCxnSpPr>
          <p:cNvPr id="19" name="Connector 18"/>
          <p:cNvCxnSpPr/>
          <p:nvPr/>
        </p:nvCxnSpPr>
        <p:spPr>
          <a:xfrm>
            <a:off x="3246120" y="3547872"/>
            <a:ext cx="1005840" cy="2238451"/>
          </a:xfrm>
          <a:prstGeom prst="line">
            <a:avLst/>
          </a:prstGeom>
          <a:ln w="31750">
            <a:solidFill>
              <a:srgbClr val="A0521A"/>
            </a:solidFill>
            <a:tailEnd type="triangle" w="med" len="med"/>
          </a:ln>
        </p:spPr>
      </p:cxnSp>
      <p:sp>
        <p:nvSpPr>
          <p:cNvPr id="20" name="Rounded Rectangle 19"/>
          <p:cNvSpPr/>
          <p:nvPr/>
        </p:nvSpPr>
        <p:spPr>
          <a:xfrm>
            <a:off x="4251960" y="5327294"/>
            <a:ext cx="2651760" cy="918057"/>
          </a:xfrm>
          <a:prstGeom prst="roundRect">
            <a:avLst>
              <a:gd name="adj" fmla="val 15000"/>
            </a:avLst>
          </a:prstGeom>
          <a:solidFill>
            <a:srgbClr val="5A6470"/>
          </a:solidFill>
          <a:ln>
            <a:noFill/>
          </a:ln>
          <a:effectLst/>
        </p:spPr>
        <p:txBody>
          <a:bodyPr rtlCol="0" anchor="ctr" wrap="square" lIns="128016" rIns="128016" tIns="73152" bIns="73152">
            <a:noAutofit/>
          </a:bodyPr>
          <a:lstStyle/>
          <a:p>
            <a:pPr algn="ctr">
              <a:spcBef>
                <a:spcPts val="0"/>
              </a:spcBef>
              <a:spcAft>
                <a:spcPts val="0"/>
              </a:spcAft>
            </a:pPr>
            <a:r>
              <a:rPr lang="tr-TR" sz="1900" b="1" i="0">
                <a:solidFill>
                  <a:srgbClr val="FFFFFF"/>
                </a:solidFill>
                <a:latin typeface="Calibri"/>
              </a:rPr>
              <a:t>Teknolojik</a:t>
            </a:r>
          </a:p>
        </p:txBody>
      </p:sp>
      <p:sp>
        <p:nvSpPr>
          <p:cNvPr id="21" name="Rounded Rectangle 20"/>
          <p:cNvSpPr/>
          <p:nvPr/>
        </p:nvSpPr>
        <p:spPr>
          <a:xfrm>
            <a:off x="7040880" y="5327294"/>
            <a:ext cx="4647895" cy="918057"/>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l">
              <a:spcBef>
                <a:spcPts val="0"/>
              </a:spcBef>
              <a:spcAft>
                <a:spcPts val="0"/>
              </a:spcAft>
            </a:pPr>
            <a:r>
              <a:rPr lang="tr-TR" sz="1900" b="0" i="0">
                <a:solidFill>
                  <a:srgbClr val="262626"/>
                </a:solidFill>
                <a:latin typeface="Calibri"/>
              </a:rPr>
              <a:t>Teknolojinin amaç dışı kullanımı, kazalar</a:t>
            </a:r>
          </a:p>
        </p:txBody>
      </p:sp>
      <p:sp>
        <p:nvSpPr>
          <p:cNvPr id="22" name="TextBox 21"/>
          <p:cNvSpPr txBox="1"/>
          <p:nvPr/>
        </p:nvSpPr>
        <p:spPr>
          <a:xfrm>
            <a:off x="502920" y="4599432"/>
            <a:ext cx="2743200" cy="1463040"/>
          </a:xfrm>
          <a:prstGeom prst="rect">
            <a:avLst/>
          </a:prstGeom>
          <a:noFill/>
        </p:spPr>
        <p:txBody>
          <a:bodyPr wrap="square" anchor="t" lIns="73152" rIns="73152" tIns="36576" bIns="36576">
            <a:noAutofit/>
          </a:bodyPr>
          <a:lstStyle/>
          <a:p>
            <a:pPr algn="l">
              <a:spcBef>
                <a:spcPts val="0"/>
              </a:spcBef>
              <a:spcAft>
                <a:spcPts val="600"/>
              </a:spcAft>
            </a:pPr>
            <a:r>
              <a:rPr lang="tr-TR" sz="1700" b="1" i="0">
                <a:solidFill>
                  <a:srgbClr val="2F6F8F"/>
                </a:solidFill>
                <a:latin typeface="Calibri"/>
              </a:rPr>
              <a:t>Hayır → doğa kaynaklı (ilk üç)</a:t>
            </a:r>
          </a:p>
          <a:p>
            <a:pPr algn="l">
              <a:spcBef>
                <a:spcPts val="0"/>
              </a:spcBef>
              <a:spcAft>
                <a:spcPts val="0"/>
              </a:spcAft>
            </a:pPr>
            <a:r>
              <a:rPr lang="tr-TR" sz="1700" b="1" i="0">
                <a:solidFill>
                  <a:srgbClr val="A0521A"/>
                </a:solidFill>
                <a:latin typeface="Calibri"/>
              </a:rPr>
              <a:t>Evet → insan kaynaklı (son iki)</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196</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88 / 250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UYGULAMA: Türkiye'deki Bazı Afetler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UYGULAMA</a:t>
            </a:r>
          </a:p>
        </p:txBody>
      </p:sp>
      <p:sp>
        <p:nvSpPr>
          <p:cNvPr id="6" name="TextBox 5"/>
          <p:cNvSpPr txBox="1"/>
          <p:nvPr/>
        </p:nvSpPr>
        <p:spPr>
          <a:xfrm>
            <a:off x="502920" y="1170432"/>
            <a:ext cx="7543800" cy="402336"/>
          </a:xfrm>
          <a:prstGeom prst="rect">
            <a:avLst/>
          </a:prstGeom>
          <a:noFill/>
        </p:spPr>
        <p:txBody>
          <a:bodyPr wrap="square" anchor="ctr" lIns="73152" rIns="73152" tIns="36576" bIns="36576">
            <a:noAutofit/>
          </a:bodyPr>
          <a:lstStyle/>
          <a:p>
            <a:pPr algn="l">
              <a:spcBef>
                <a:spcPts val="0"/>
              </a:spcBef>
              <a:spcAft>
                <a:spcPts val="0"/>
              </a:spcAft>
            </a:pPr>
            <a:r>
              <a:rPr lang="tr-TR" sz="1250" b="1" i="0">
                <a:solidFill>
                  <a:srgbClr val="6A4C93"/>
                </a:solidFill>
                <a:latin typeface="Calibri"/>
              </a:rPr>
              <a:t>1990-2023 Yılları Arasında Türkiye’de Meydana Gelen Bazı Afetler (AFAD, İçişleri Bakanlığı ve Sağlık Bakanlığı)</a:t>
            </a:r>
          </a:p>
        </p:txBody>
      </p:sp>
      <p:graphicFrame>
        <p:nvGraphicFramePr>
          <p:cNvPr id="7" name="Table 6"/>
          <p:cNvGraphicFramePr>
            <a:graphicFrameLocks noGrp="1"/>
          </p:cNvGraphicFramePr>
          <p:nvPr/>
        </p:nvGraphicFramePr>
        <p:xfrm>
          <a:off x="502920" y="1591056"/>
          <a:ext cx="7543800" cy="4590288"/>
        </p:xfrm>
        <a:graphic>
          <a:graphicData uri="http://schemas.openxmlformats.org/drawingml/2006/table">
            <a:tbl>
              <a:tblPr firstRow="1" bandRow="1">
                <a:tableStyleId>{5C22544A-7EE6-4342-B048-85BDC9FD1C3A}</a:tableStyleId>
              </a:tblPr>
              <a:tblGrid>
                <a:gridCol w="2240280"/>
                <a:gridCol w="2697480"/>
                <a:gridCol w="1783080"/>
                <a:gridCol w="822960"/>
              </a:tblGrid>
              <a:tr h="365760">
                <a:tc>
                  <a:txBody>
                    <a:bodyPr wrap="square"/>
                    <a:lstStyle/>
                    <a:p>
                      <a:pPr algn="ctr">
                        <a:spcBef>
                          <a:spcPts val="0"/>
                        </a:spcBef>
                        <a:spcAft>
                          <a:spcPts val="0"/>
                        </a:spcAft>
                      </a:pPr>
                      <a:r>
                        <a:rPr lang="tr-TR" sz="1500" b="1" i="0">
                          <a:solidFill>
                            <a:srgbClr val="FFFFFF"/>
                          </a:solidFill>
                          <a:latin typeface="Calibri"/>
                        </a:rPr>
                        <a:t>Afet Türü</a:t>
                      </a:r>
                    </a:p>
                  </a:txBody>
                  <a:tcPr marL="54864" marR="54864" marT="18288" marB="18288" anchor="ctr">
                    <a:solidFill>
                      <a:srgbClr val="6A4C93"/>
                    </a:solidFill>
                  </a:tcPr>
                </a:tc>
                <a:tc>
                  <a:txBody>
                    <a:bodyPr wrap="square"/>
                    <a:lstStyle/>
                    <a:p>
                      <a:pPr algn="ctr">
                        <a:spcBef>
                          <a:spcPts val="0"/>
                        </a:spcBef>
                        <a:spcAft>
                          <a:spcPts val="0"/>
                        </a:spcAft>
                      </a:pPr>
                      <a:r>
                        <a:rPr lang="tr-TR" sz="1500" b="1" i="0">
                          <a:solidFill>
                            <a:srgbClr val="FFFFFF"/>
                          </a:solidFill>
                          <a:latin typeface="Calibri"/>
                        </a:rPr>
                        <a:t>Yer</a:t>
                      </a:r>
                    </a:p>
                  </a:txBody>
                  <a:tcPr marL="54864" marR="54864" marT="18288" marB="18288" anchor="ctr">
                    <a:solidFill>
                      <a:srgbClr val="6A4C93"/>
                    </a:solidFill>
                  </a:tcPr>
                </a:tc>
                <a:tc>
                  <a:txBody>
                    <a:bodyPr wrap="square"/>
                    <a:lstStyle/>
                    <a:p>
                      <a:pPr algn="ctr">
                        <a:spcBef>
                          <a:spcPts val="0"/>
                        </a:spcBef>
                        <a:spcAft>
                          <a:spcPts val="0"/>
                        </a:spcAft>
                      </a:pPr>
                      <a:r>
                        <a:rPr lang="tr-TR" sz="1500" b="1" i="0">
                          <a:solidFill>
                            <a:srgbClr val="FFFFFF"/>
                          </a:solidFill>
                          <a:latin typeface="Calibri"/>
                        </a:rPr>
                        <a:t>Tarih</a:t>
                      </a:r>
                    </a:p>
                  </a:txBody>
                  <a:tcPr marL="54864" marR="54864" marT="18288" marB="18288" anchor="ctr">
                    <a:solidFill>
                      <a:srgbClr val="6A4C93"/>
                    </a:solidFill>
                  </a:tcPr>
                </a:tc>
                <a:tc>
                  <a:txBody>
                    <a:bodyPr wrap="square"/>
                    <a:lstStyle/>
                    <a:p>
                      <a:pPr algn="ctr">
                        <a:spcBef>
                          <a:spcPts val="0"/>
                        </a:spcBef>
                        <a:spcAft>
                          <a:spcPts val="0"/>
                        </a:spcAft>
                      </a:pPr>
                      <a:r>
                        <a:rPr lang="tr-TR" sz="1300" b="1" i="0">
                          <a:solidFill>
                            <a:srgbClr val="FFFFFF"/>
                          </a:solidFill>
                          <a:latin typeface="Calibri"/>
                        </a:rPr>
                        <a:t>Can Kaybı</a:t>
                      </a:r>
                    </a:p>
                  </a:txBody>
                  <a:tcPr marL="54864" marR="54864" marT="18288" marB="18288" anchor="ctr">
                    <a:solidFill>
                      <a:srgbClr val="6A4C93"/>
                    </a:solidFill>
                  </a:tcPr>
                </a:tc>
              </a:tr>
              <a:tr h="352044">
                <a:tc>
                  <a:txBody>
                    <a:bodyPr wrap="square"/>
                    <a:lstStyle/>
                    <a:p>
                      <a:pPr algn="l">
                        <a:spcBef>
                          <a:spcPts val="0"/>
                        </a:spcBef>
                        <a:spcAft>
                          <a:spcPts val="0"/>
                        </a:spcAft>
                      </a:pPr>
                      <a:r>
                        <a:rPr lang="tr-TR" sz="1500" b="0" i="0">
                          <a:solidFill>
                            <a:srgbClr val="262626"/>
                          </a:solidFill>
                          <a:latin typeface="Calibri"/>
                        </a:rPr>
                        <a:t>Çığ Düşmesi</a:t>
                      </a:r>
                    </a:p>
                  </a:txBody>
                  <a:tcPr marL="54864" marR="54864" marT="18288" marB="18288" anchor="ctr">
                    <a:solidFill>
                      <a:srgbClr val="FFFFFF"/>
                    </a:solidFill>
                  </a:tcPr>
                </a:tc>
                <a:tc>
                  <a:txBody>
                    <a:bodyPr wrap="square"/>
                    <a:lstStyle/>
                    <a:p>
                      <a:pPr algn="l">
                        <a:spcBef>
                          <a:spcPts val="0"/>
                        </a:spcBef>
                        <a:spcAft>
                          <a:spcPts val="0"/>
                        </a:spcAft>
                      </a:pPr>
                      <a:r>
                        <a:rPr lang="tr-TR" sz="1500" b="0" i="0">
                          <a:solidFill>
                            <a:srgbClr val="262626"/>
                          </a:solidFill>
                          <a:latin typeface="Calibri"/>
                        </a:rPr>
                        <a:t>Güneydoğu Anadolu</a:t>
                      </a:r>
                    </a:p>
                  </a:txBody>
                  <a:tcPr marL="54864" marR="54864" marT="18288" marB="18288" anchor="ctr">
                    <a:solidFill>
                      <a:srgbClr val="FFFFFF"/>
                    </a:solidFill>
                  </a:tcPr>
                </a:tc>
                <a:tc>
                  <a:txBody>
                    <a:bodyPr wrap="square"/>
                    <a:lstStyle/>
                    <a:p>
                      <a:pPr algn="l">
                        <a:spcBef>
                          <a:spcPts val="0"/>
                        </a:spcBef>
                        <a:spcAft>
                          <a:spcPts val="0"/>
                        </a:spcAft>
                      </a:pPr>
                      <a:r>
                        <a:rPr lang="tr-TR" sz="1500" b="0" i="0">
                          <a:solidFill>
                            <a:srgbClr val="262626"/>
                          </a:solidFill>
                          <a:latin typeface="Calibri"/>
                        </a:rPr>
                        <a:t>1992</a:t>
                      </a:r>
                    </a:p>
                  </a:txBody>
                  <a:tcPr marL="54864" marR="54864" marT="18288" marB="18288" anchor="ctr">
                    <a:solidFill>
                      <a:srgbClr val="FFFFFF"/>
                    </a:solidFill>
                  </a:tcPr>
                </a:tc>
                <a:tc>
                  <a:txBody>
                    <a:bodyPr wrap="square"/>
                    <a:lstStyle/>
                    <a:p>
                      <a:pPr algn="r">
                        <a:spcBef>
                          <a:spcPts val="0"/>
                        </a:spcBef>
                        <a:spcAft>
                          <a:spcPts val="0"/>
                        </a:spcAft>
                      </a:pPr>
                      <a:r>
                        <a:rPr lang="tr-TR" sz="1500" b="0" i="0">
                          <a:solidFill>
                            <a:srgbClr val="262626"/>
                          </a:solidFill>
                          <a:latin typeface="Calibri"/>
                        </a:rPr>
                        <a:t>328</a:t>
                      </a:r>
                    </a:p>
                  </a:txBody>
                  <a:tcPr marL="54864" marR="54864" marT="18288" marB="18288" anchor="ctr">
                    <a:solidFill>
                      <a:srgbClr val="FFFFFF"/>
                    </a:solidFill>
                  </a:tcPr>
                </a:tc>
              </a:tr>
              <a:tr h="352044">
                <a:tc>
                  <a:txBody>
                    <a:bodyPr wrap="square"/>
                    <a:lstStyle/>
                    <a:p>
                      <a:pPr algn="l">
                        <a:spcBef>
                          <a:spcPts val="0"/>
                        </a:spcBef>
                        <a:spcAft>
                          <a:spcPts val="0"/>
                        </a:spcAft>
                      </a:pPr>
                      <a:r>
                        <a:rPr lang="tr-TR" sz="1500" b="0" i="0">
                          <a:solidFill>
                            <a:srgbClr val="262626"/>
                          </a:solidFill>
                          <a:latin typeface="Calibri"/>
                        </a:rPr>
                        <a:t>Deprem</a:t>
                      </a:r>
                    </a:p>
                  </a:txBody>
                  <a:tcPr marL="54864" marR="54864" marT="18288" marB="18288" anchor="ctr">
                    <a:solidFill>
                      <a:srgbClr val="EEE8F5"/>
                    </a:solidFill>
                  </a:tcPr>
                </a:tc>
                <a:tc>
                  <a:txBody>
                    <a:bodyPr wrap="square"/>
                    <a:lstStyle/>
                    <a:p>
                      <a:pPr algn="l">
                        <a:spcBef>
                          <a:spcPts val="0"/>
                        </a:spcBef>
                        <a:spcAft>
                          <a:spcPts val="0"/>
                        </a:spcAft>
                      </a:pPr>
                      <a:r>
                        <a:rPr lang="tr-TR" sz="1500" b="0" i="0">
                          <a:solidFill>
                            <a:srgbClr val="262626"/>
                          </a:solidFill>
                          <a:latin typeface="Calibri"/>
                        </a:rPr>
                        <a:t>Erzincan</a:t>
                      </a:r>
                    </a:p>
                  </a:txBody>
                  <a:tcPr marL="54864" marR="54864" marT="18288" marB="18288" anchor="ctr">
                    <a:solidFill>
                      <a:srgbClr val="EEE8F5"/>
                    </a:solidFill>
                  </a:tcPr>
                </a:tc>
                <a:tc>
                  <a:txBody>
                    <a:bodyPr wrap="square"/>
                    <a:lstStyle/>
                    <a:p>
                      <a:pPr algn="l">
                        <a:spcBef>
                          <a:spcPts val="0"/>
                        </a:spcBef>
                        <a:spcAft>
                          <a:spcPts val="0"/>
                        </a:spcAft>
                      </a:pPr>
                      <a:r>
                        <a:rPr lang="tr-TR" sz="1500" b="0" i="0">
                          <a:solidFill>
                            <a:srgbClr val="262626"/>
                          </a:solidFill>
                          <a:latin typeface="Calibri"/>
                        </a:rPr>
                        <a:t>13 Mart 1992</a:t>
                      </a:r>
                    </a:p>
                  </a:txBody>
                  <a:tcPr marL="54864" marR="54864" marT="18288" marB="18288" anchor="ctr">
                    <a:solidFill>
                      <a:srgbClr val="EEE8F5"/>
                    </a:solidFill>
                  </a:tcPr>
                </a:tc>
                <a:tc>
                  <a:txBody>
                    <a:bodyPr wrap="square"/>
                    <a:lstStyle/>
                    <a:p>
                      <a:pPr algn="r">
                        <a:spcBef>
                          <a:spcPts val="0"/>
                        </a:spcBef>
                        <a:spcAft>
                          <a:spcPts val="0"/>
                        </a:spcAft>
                      </a:pPr>
                      <a:r>
                        <a:rPr lang="tr-TR" sz="1500" b="0" i="0">
                          <a:solidFill>
                            <a:srgbClr val="262626"/>
                          </a:solidFill>
                          <a:latin typeface="Calibri"/>
                        </a:rPr>
                        <a:t>653</a:t>
                      </a:r>
                    </a:p>
                  </a:txBody>
                  <a:tcPr marL="54864" marR="54864" marT="18288" marB="18288" anchor="ctr">
                    <a:solidFill>
                      <a:srgbClr val="EEE8F5"/>
                    </a:solidFill>
                  </a:tcPr>
                </a:tc>
              </a:tr>
              <a:tr h="352044">
                <a:tc>
                  <a:txBody>
                    <a:bodyPr wrap="square"/>
                    <a:lstStyle/>
                    <a:p>
                      <a:pPr algn="l">
                        <a:spcBef>
                          <a:spcPts val="0"/>
                        </a:spcBef>
                        <a:spcAft>
                          <a:spcPts val="0"/>
                        </a:spcAft>
                      </a:pPr>
                      <a:r>
                        <a:rPr lang="tr-TR" sz="1500" b="0" i="0">
                          <a:solidFill>
                            <a:srgbClr val="262626"/>
                          </a:solidFill>
                          <a:latin typeface="Calibri"/>
                        </a:rPr>
                        <a:t>Deprem</a:t>
                      </a:r>
                    </a:p>
                  </a:txBody>
                  <a:tcPr marL="54864" marR="54864" marT="18288" marB="18288" anchor="ctr">
                    <a:solidFill>
                      <a:srgbClr val="FFFFFF"/>
                    </a:solidFill>
                  </a:tcPr>
                </a:tc>
                <a:tc>
                  <a:txBody>
                    <a:bodyPr wrap="square"/>
                    <a:lstStyle/>
                    <a:p>
                      <a:pPr algn="l">
                        <a:spcBef>
                          <a:spcPts val="0"/>
                        </a:spcBef>
                        <a:spcAft>
                          <a:spcPts val="0"/>
                        </a:spcAft>
                      </a:pPr>
                      <a:r>
                        <a:rPr lang="tr-TR" sz="1500" b="0" i="0">
                          <a:solidFill>
                            <a:srgbClr val="262626"/>
                          </a:solidFill>
                          <a:latin typeface="Calibri"/>
                        </a:rPr>
                        <a:t>Afyon (Dinar)</a:t>
                      </a:r>
                    </a:p>
                  </a:txBody>
                  <a:tcPr marL="54864" marR="54864" marT="18288" marB="18288" anchor="ctr">
                    <a:solidFill>
                      <a:srgbClr val="FFFFFF"/>
                    </a:solidFill>
                  </a:tcPr>
                </a:tc>
                <a:tc>
                  <a:txBody>
                    <a:bodyPr wrap="square"/>
                    <a:lstStyle/>
                    <a:p>
                      <a:pPr algn="l">
                        <a:spcBef>
                          <a:spcPts val="0"/>
                        </a:spcBef>
                        <a:spcAft>
                          <a:spcPts val="0"/>
                        </a:spcAft>
                      </a:pPr>
                      <a:r>
                        <a:rPr lang="tr-TR" sz="1500" b="0" i="0">
                          <a:solidFill>
                            <a:srgbClr val="262626"/>
                          </a:solidFill>
                          <a:latin typeface="Calibri"/>
                        </a:rPr>
                        <a:t>1 Ekim 1995</a:t>
                      </a:r>
                    </a:p>
                  </a:txBody>
                  <a:tcPr marL="54864" marR="54864" marT="18288" marB="18288" anchor="ctr">
                    <a:solidFill>
                      <a:srgbClr val="FFFFFF"/>
                    </a:solidFill>
                  </a:tcPr>
                </a:tc>
                <a:tc>
                  <a:txBody>
                    <a:bodyPr wrap="square"/>
                    <a:lstStyle/>
                    <a:p>
                      <a:pPr algn="r">
                        <a:spcBef>
                          <a:spcPts val="0"/>
                        </a:spcBef>
                        <a:spcAft>
                          <a:spcPts val="0"/>
                        </a:spcAft>
                      </a:pPr>
                      <a:r>
                        <a:rPr lang="tr-TR" sz="1500" b="0" i="0">
                          <a:solidFill>
                            <a:srgbClr val="262626"/>
                          </a:solidFill>
                          <a:latin typeface="Calibri"/>
                        </a:rPr>
                        <a:t>94</a:t>
                      </a:r>
                    </a:p>
                  </a:txBody>
                  <a:tcPr marL="54864" marR="54864" marT="18288" marB="18288" anchor="ctr">
                    <a:solidFill>
                      <a:srgbClr val="FFFFFF"/>
                    </a:solidFill>
                  </a:tcPr>
                </a:tc>
              </a:tr>
              <a:tr h="352044">
                <a:tc>
                  <a:txBody>
                    <a:bodyPr wrap="square"/>
                    <a:lstStyle/>
                    <a:p>
                      <a:pPr algn="l">
                        <a:spcBef>
                          <a:spcPts val="0"/>
                        </a:spcBef>
                        <a:spcAft>
                          <a:spcPts val="0"/>
                        </a:spcAft>
                      </a:pPr>
                      <a:r>
                        <a:rPr lang="tr-TR" sz="1500" b="0" i="0">
                          <a:solidFill>
                            <a:srgbClr val="262626"/>
                          </a:solidFill>
                          <a:latin typeface="Calibri"/>
                        </a:rPr>
                        <a:t>Sel ve Taşkın</a:t>
                      </a:r>
                    </a:p>
                  </a:txBody>
                  <a:tcPr marL="54864" marR="54864" marT="18288" marB="18288" anchor="ctr">
                    <a:solidFill>
                      <a:srgbClr val="EEE8F5"/>
                    </a:solidFill>
                  </a:tcPr>
                </a:tc>
                <a:tc>
                  <a:txBody>
                    <a:bodyPr wrap="square"/>
                    <a:lstStyle/>
                    <a:p>
                      <a:pPr algn="l">
                        <a:spcBef>
                          <a:spcPts val="0"/>
                        </a:spcBef>
                        <a:spcAft>
                          <a:spcPts val="0"/>
                        </a:spcAft>
                      </a:pPr>
                      <a:r>
                        <a:rPr lang="tr-TR" sz="1500" b="0" i="0">
                          <a:solidFill>
                            <a:srgbClr val="262626"/>
                          </a:solidFill>
                          <a:latin typeface="Calibri"/>
                        </a:rPr>
                        <a:t>İzmir</a:t>
                      </a:r>
                    </a:p>
                  </a:txBody>
                  <a:tcPr marL="54864" marR="54864" marT="18288" marB="18288" anchor="ctr">
                    <a:solidFill>
                      <a:srgbClr val="EEE8F5"/>
                    </a:solidFill>
                  </a:tcPr>
                </a:tc>
                <a:tc>
                  <a:txBody>
                    <a:bodyPr wrap="square"/>
                    <a:lstStyle/>
                    <a:p>
                      <a:pPr algn="l">
                        <a:spcBef>
                          <a:spcPts val="0"/>
                        </a:spcBef>
                        <a:spcAft>
                          <a:spcPts val="0"/>
                        </a:spcAft>
                      </a:pPr>
                      <a:r>
                        <a:rPr lang="tr-TR" sz="1500" b="0" i="0">
                          <a:solidFill>
                            <a:srgbClr val="262626"/>
                          </a:solidFill>
                          <a:latin typeface="Calibri"/>
                        </a:rPr>
                        <a:t>4 Kasım 1995</a:t>
                      </a:r>
                    </a:p>
                  </a:txBody>
                  <a:tcPr marL="54864" marR="54864" marT="18288" marB="18288" anchor="ctr">
                    <a:solidFill>
                      <a:srgbClr val="EEE8F5"/>
                    </a:solidFill>
                  </a:tcPr>
                </a:tc>
                <a:tc>
                  <a:txBody>
                    <a:bodyPr wrap="square"/>
                    <a:lstStyle/>
                    <a:p>
                      <a:pPr algn="r">
                        <a:spcBef>
                          <a:spcPts val="0"/>
                        </a:spcBef>
                        <a:spcAft>
                          <a:spcPts val="0"/>
                        </a:spcAft>
                      </a:pPr>
                      <a:r>
                        <a:rPr lang="tr-TR" sz="1500" b="0" i="0">
                          <a:solidFill>
                            <a:srgbClr val="262626"/>
                          </a:solidFill>
                          <a:latin typeface="Calibri"/>
                        </a:rPr>
                        <a:t>63</a:t>
                      </a:r>
                    </a:p>
                  </a:txBody>
                  <a:tcPr marL="54864" marR="54864" marT="18288" marB="18288" anchor="ctr">
                    <a:solidFill>
                      <a:srgbClr val="EEE8F5"/>
                    </a:solidFill>
                  </a:tcPr>
                </a:tc>
              </a:tr>
              <a:tr h="352044">
                <a:tc>
                  <a:txBody>
                    <a:bodyPr wrap="square"/>
                    <a:lstStyle/>
                    <a:p>
                      <a:pPr algn="l">
                        <a:spcBef>
                          <a:spcPts val="0"/>
                        </a:spcBef>
                        <a:spcAft>
                          <a:spcPts val="0"/>
                        </a:spcAft>
                      </a:pPr>
                      <a:r>
                        <a:rPr lang="tr-TR" sz="1500" b="0" i="0">
                          <a:solidFill>
                            <a:srgbClr val="262626"/>
                          </a:solidFill>
                          <a:latin typeface="Calibri"/>
                        </a:rPr>
                        <a:t>Deprem</a:t>
                      </a:r>
                    </a:p>
                  </a:txBody>
                  <a:tcPr marL="54864" marR="54864" marT="18288" marB="18288" anchor="ctr">
                    <a:solidFill>
                      <a:srgbClr val="FFFFFF"/>
                    </a:solidFill>
                  </a:tcPr>
                </a:tc>
                <a:tc>
                  <a:txBody>
                    <a:bodyPr wrap="square"/>
                    <a:lstStyle/>
                    <a:p>
                      <a:pPr algn="l">
                        <a:spcBef>
                          <a:spcPts val="0"/>
                        </a:spcBef>
                        <a:spcAft>
                          <a:spcPts val="0"/>
                        </a:spcAft>
                      </a:pPr>
                      <a:r>
                        <a:rPr lang="tr-TR" sz="1500" b="0" i="0">
                          <a:solidFill>
                            <a:srgbClr val="262626"/>
                          </a:solidFill>
                          <a:latin typeface="Calibri"/>
                        </a:rPr>
                        <a:t>İzmit Körfezi</a:t>
                      </a:r>
                    </a:p>
                  </a:txBody>
                  <a:tcPr marL="54864" marR="54864" marT="18288" marB="18288" anchor="ctr">
                    <a:solidFill>
                      <a:srgbClr val="FFFFFF"/>
                    </a:solidFill>
                  </a:tcPr>
                </a:tc>
                <a:tc>
                  <a:txBody>
                    <a:bodyPr wrap="square"/>
                    <a:lstStyle/>
                    <a:p>
                      <a:pPr algn="l">
                        <a:spcBef>
                          <a:spcPts val="0"/>
                        </a:spcBef>
                        <a:spcAft>
                          <a:spcPts val="0"/>
                        </a:spcAft>
                      </a:pPr>
                      <a:r>
                        <a:rPr lang="tr-TR" sz="1500" b="0" i="0">
                          <a:solidFill>
                            <a:srgbClr val="262626"/>
                          </a:solidFill>
                          <a:latin typeface="Calibri"/>
                        </a:rPr>
                        <a:t>17 Ağustos 1999</a:t>
                      </a:r>
                    </a:p>
                  </a:txBody>
                  <a:tcPr marL="54864" marR="54864" marT="18288" marB="18288" anchor="ctr">
                    <a:solidFill>
                      <a:srgbClr val="FFFFFF"/>
                    </a:solidFill>
                  </a:tcPr>
                </a:tc>
                <a:tc>
                  <a:txBody>
                    <a:bodyPr wrap="square"/>
                    <a:lstStyle/>
                    <a:p>
                      <a:pPr algn="r">
                        <a:spcBef>
                          <a:spcPts val="0"/>
                        </a:spcBef>
                        <a:spcAft>
                          <a:spcPts val="0"/>
                        </a:spcAft>
                      </a:pPr>
                      <a:r>
                        <a:rPr lang="tr-TR" sz="1500" b="0" i="0">
                          <a:solidFill>
                            <a:srgbClr val="262626"/>
                          </a:solidFill>
                          <a:latin typeface="Calibri"/>
                        </a:rPr>
                        <a:t>17.480</a:t>
                      </a:r>
                    </a:p>
                  </a:txBody>
                  <a:tcPr marL="54864" marR="54864" marT="18288" marB="18288" anchor="ctr">
                    <a:solidFill>
                      <a:srgbClr val="FFFFFF"/>
                    </a:solidFill>
                  </a:tcPr>
                </a:tc>
              </a:tr>
              <a:tr h="352044">
                <a:tc>
                  <a:txBody>
                    <a:bodyPr wrap="square"/>
                    <a:lstStyle/>
                    <a:p>
                      <a:pPr algn="l">
                        <a:spcBef>
                          <a:spcPts val="0"/>
                        </a:spcBef>
                        <a:spcAft>
                          <a:spcPts val="0"/>
                        </a:spcAft>
                      </a:pPr>
                      <a:r>
                        <a:rPr lang="tr-TR" sz="1500" b="0" i="0">
                          <a:solidFill>
                            <a:srgbClr val="262626"/>
                          </a:solidFill>
                          <a:latin typeface="Calibri"/>
                        </a:rPr>
                        <a:t>Sel ve Taşkın</a:t>
                      </a:r>
                    </a:p>
                  </a:txBody>
                  <a:tcPr marL="54864" marR="54864" marT="18288" marB="18288" anchor="ctr">
                    <a:solidFill>
                      <a:srgbClr val="EEE8F5"/>
                    </a:solidFill>
                  </a:tcPr>
                </a:tc>
                <a:tc>
                  <a:txBody>
                    <a:bodyPr wrap="square"/>
                    <a:lstStyle/>
                    <a:p>
                      <a:pPr algn="l">
                        <a:spcBef>
                          <a:spcPts val="0"/>
                        </a:spcBef>
                        <a:spcAft>
                          <a:spcPts val="0"/>
                        </a:spcAft>
                      </a:pPr>
                      <a:r>
                        <a:rPr lang="tr-TR" sz="1500" b="0" i="0">
                          <a:solidFill>
                            <a:srgbClr val="262626"/>
                          </a:solidFill>
                          <a:latin typeface="Calibri"/>
                        </a:rPr>
                        <a:t>İstanbul ve Tekirdağ</a:t>
                      </a:r>
                    </a:p>
                  </a:txBody>
                  <a:tcPr marL="54864" marR="54864" marT="18288" marB="18288" anchor="ctr">
                    <a:solidFill>
                      <a:srgbClr val="EEE8F5"/>
                    </a:solidFill>
                  </a:tcPr>
                </a:tc>
                <a:tc>
                  <a:txBody>
                    <a:bodyPr wrap="square"/>
                    <a:lstStyle/>
                    <a:p>
                      <a:pPr algn="l">
                        <a:spcBef>
                          <a:spcPts val="0"/>
                        </a:spcBef>
                        <a:spcAft>
                          <a:spcPts val="0"/>
                        </a:spcAft>
                      </a:pPr>
                      <a:r>
                        <a:rPr lang="tr-TR" sz="1500" b="0" i="0">
                          <a:solidFill>
                            <a:srgbClr val="262626"/>
                          </a:solidFill>
                          <a:latin typeface="Calibri"/>
                        </a:rPr>
                        <a:t>9 Eylül 2009</a:t>
                      </a:r>
                    </a:p>
                  </a:txBody>
                  <a:tcPr marL="54864" marR="54864" marT="18288" marB="18288" anchor="ctr">
                    <a:solidFill>
                      <a:srgbClr val="EEE8F5"/>
                    </a:solidFill>
                  </a:tcPr>
                </a:tc>
                <a:tc>
                  <a:txBody>
                    <a:bodyPr wrap="square"/>
                    <a:lstStyle/>
                    <a:p>
                      <a:pPr algn="r">
                        <a:spcBef>
                          <a:spcPts val="0"/>
                        </a:spcBef>
                        <a:spcAft>
                          <a:spcPts val="0"/>
                        </a:spcAft>
                      </a:pPr>
                      <a:r>
                        <a:rPr lang="tr-TR" sz="1500" b="0" i="0">
                          <a:solidFill>
                            <a:srgbClr val="262626"/>
                          </a:solidFill>
                          <a:latin typeface="Calibri"/>
                        </a:rPr>
                        <a:t>31</a:t>
                      </a:r>
                    </a:p>
                  </a:txBody>
                  <a:tcPr marL="54864" marR="54864" marT="18288" marB="18288" anchor="ctr">
                    <a:solidFill>
                      <a:srgbClr val="EEE8F5"/>
                    </a:solidFill>
                  </a:tcPr>
                </a:tc>
              </a:tr>
              <a:tr h="352044">
                <a:tc>
                  <a:txBody>
                    <a:bodyPr wrap="square"/>
                    <a:lstStyle/>
                    <a:p>
                      <a:pPr algn="l">
                        <a:spcBef>
                          <a:spcPts val="0"/>
                        </a:spcBef>
                        <a:spcAft>
                          <a:spcPts val="0"/>
                        </a:spcAft>
                      </a:pPr>
                      <a:r>
                        <a:rPr lang="tr-TR" sz="1500" b="0" i="0">
                          <a:solidFill>
                            <a:srgbClr val="262626"/>
                          </a:solidFill>
                          <a:latin typeface="Calibri"/>
                        </a:rPr>
                        <a:t>Deprem</a:t>
                      </a:r>
                    </a:p>
                  </a:txBody>
                  <a:tcPr marL="54864" marR="54864" marT="18288" marB="18288" anchor="ctr">
                    <a:solidFill>
                      <a:srgbClr val="FFFFFF"/>
                    </a:solidFill>
                  </a:tcPr>
                </a:tc>
                <a:tc>
                  <a:txBody>
                    <a:bodyPr wrap="square"/>
                    <a:lstStyle/>
                    <a:p>
                      <a:pPr algn="l">
                        <a:spcBef>
                          <a:spcPts val="0"/>
                        </a:spcBef>
                        <a:spcAft>
                          <a:spcPts val="0"/>
                        </a:spcAft>
                      </a:pPr>
                      <a:r>
                        <a:rPr lang="tr-TR" sz="1500" b="0" i="0">
                          <a:solidFill>
                            <a:srgbClr val="262626"/>
                          </a:solidFill>
                          <a:latin typeface="Calibri"/>
                        </a:rPr>
                        <a:t>Van (Erciş ve Edremit)</a:t>
                      </a:r>
                    </a:p>
                  </a:txBody>
                  <a:tcPr marL="54864" marR="54864" marT="18288" marB="18288" anchor="ctr">
                    <a:solidFill>
                      <a:srgbClr val="FFFFFF"/>
                    </a:solidFill>
                  </a:tcPr>
                </a:tc>
                <a:tc>
                  <a:txBody>
                    <a:bodyPr wrap="square"/>
                    <a:lstStyle/>
                    <a:p>
                      <a:pPr algn="l">
                        <a:spcBef>
                          <a:spcPts val="0"/>
                        </a:spcBef>
                        <a:spcAft>
                          <a:spcPts val="0"/>
                        </a:spcAft>
                      </a:pPr>
                      <a:r>
                        <a:rPr lang="tr-TR" sz="1500" b="0" i="0">
                          <a:solidFill>
                            <a:srgbClr val="262626"/>
                          </a:solidFill>
                          <a:latin typeface="Calibri"/>
                        </a:rPr>
                        <a:t>23 Ekim 2011</a:t>
                      </a:r>
                    </a:p>
                  </a:txBody>
                  <a:tcPr marL="54864" marR="54864" marT="18288" marB="18288" anchor="ctr">
                    <a:solidFill>
                      <a:srgbClr val="FFFFFF"/>
                    </a:solidFill>
                  </a:tcPr>
                </a:tc>
                <a:tc>
                  <a:txBody>
                    <a:bodyPr wrap="square"/>
                    <a:lstStyle/>
                    <a:p>
                      <a:pPr algn="r">
                        <a:spcBef>
                          <a:spcPts val="0"/>
                        </a:spcBef>
                        <a:spcAft>
                          <a:spcPts val="0"/>
                        </a:spcAft>
                      </a:pPr>
                      <a:r>
                        <a:rPr lang="tr-TR" sz="1500" b="0" i="0">
                          <a:solidFill>
                            <a:srgbClr val="262626"/>
                          </a:solidFill>
                          <a:latin typeface="Calibri"/>
                        </a:rPr>
                        <a:t>644</a:t>
                      </a:r>
                    </a:p>
                  </a:txBody>
                  <a:tcPr marL="54864" marR="54864" marT="18288" marB="18288" anchor="ctr">
                    <a:solidFill>
                      <a:srgbClr val="FFFFFF"/>
                    </a:solidFill>
                  </a:tcPr>
                </a:tc>
              </a:tr>
              <a:tr h="352044">
                <a:tc>
                  <a:txBody>
                    <a:bodyPr wrap="square"/>
                    <a:lstStyle/>
                    <a:p>
                      <a:pPr algn="l">
                        <a:spcBef>
                          <a:spcPts val="0"/>
                        </a:spcBef>
                        <a:spcAft>
                          <a:spcPts val="0"/>
                        </a:spcAft>
                      </a:pPr>
                      <a:r>
                        <a:rPr lang="tr-TR" sz="1500" b="0" i="0">
                          <a:solidFill>
                            <a:srgbClr val="262626"/>
                          </a:solidFill>
                          <a:latin typeface="Calibri"/>
                        </a:rPr>
                        <a:t>Heyelan</a:t>
                      </a:r>
                    </a:p>
                  </a:txBody>
                  <a:tcPr marL="54864" marR="54864" marT="18288" marB="18288" anchor="ctr">
                    <a:solidFill>
                      <a:srgbClr val="EEE8F5"/>
                    </a:solidFill>
                  </a:tcPr>
                </a:tc>
                <a:tc>
                  <a:txBody>
                    <a:bodyPr wrap="square"/>
                    <a:lstStyle/>
                    <a:p>
                      <a:pPr algn="l">
                        <a:spcBef>
                          <a:spcPts val="0"/>
                        </a:spcBef>
                        <a:spcAft>
                          <a:spcPts val="0"/>
                        </a:spcAft>
                      </a:pPr>
                      <a:r>
                        <a:rPr lang="tr-TR" sz="1500" b="0" i="0">
                          <a:solidFill>
                            <a:srgbClr val="262626"/>
                          </a:solidFill>
                          <a:latin typeface="Calibri"/>
                        </a:rPr>
                        <a:t>Siirt (Şirvan)</a:t>
                      </a:r>
                    </a:p>
                  </a:txBody>
                  <a:tcPr marL="54864" marR="54864" marT="18288" marB="18288" anchor="ctr">
                    <a:solidFill>
                      <a:srgbClr val="EEE8F5"/>
                    </a:solidFill>
                  </a:tcPr>
                </a:tc>
                <a:tc>
                  <a:txBody>
                    <a:bodyPr wrap="square"/>
                    <a:lstStyle/>
                    <a:p>
                      <a:pPr algn="l">
                        <a:spcBef>
                          <a:spcPts val="0"/>
                        </a:spcBef>
                        <a:spcAft>
                          <a:spcPts val="0"/>
                        </a:spcAft>
                      </a:pPr>
                      <a:r>
                        <a:rPr lang="tr-TR" sz="1500" b="0" i="0">
                          <a:solidFill>
                            <a:srgbClr val="262626"/>
                          </a:solidFill>
                          <a:latin typeface="Calibri"/>
                        </a:rPr>
                        <a:t>17 Kasım 2016</a:t>
                      </a:r>
                    </a:p>
                  </a:txBody>
                  <a:tcPr marL="54864" marR="54864" marT="18288" marB="18288" anchor="ctr">
                    <a:solidFill>
                      <a:srgbClr val="EEE8F5"/>
                    </a:solidFill>
                  </a:tcPr>
                </a:tc>
                <a:tc>
                  <a:txBody>
                    <a:bodyPr wrap="square"/>
                    <a:lstStyle/>
                    <a:p>
                      <a:pPr algn="r">
                        <a:spcBef>
                          <a:spcPts val="0"/>
                        </a:spcBef>
                        <a:spcAft>
                          <a:spcPts val="0"/>
                        </a:spcAft>
                      </a:pPr>
                      <a:r>
                        <a:rPr lang="tr-TR" sz="1500" b="0" i="0">
                          <a:solidFill>
                            <a:srgbClr val="262626"/>
                          </a:solidFill>
                          <a:latin typeface="Calibri"/>
                        </a:rPr>
                        <a:t>16</a:t>
                      </a:r>
                    </a:p>
                  </a:txBody>
                  <a:tcPr marL="54864" marR="54864" marT="18288" marB="18288" anchor="ctr">
                    <a:solidFill>
                      <a:srgbClr val="EEE8F5"/>
                    </a:solidFill>
                  </a:tcPr>
                </a:tc>
              </a:tr>
              <a:tr h="352044">
                <a:tc>
                  <a:txBody>
                    <a:bodyPr wrap="square"/>
                    <a:lstStyle/>
                    <a:p>
                      <a:pPr algn="l">
                        <a:spcBef>
                          <a:spcPts val="0"/>
                        </a:spcBef>
                        <a:spcAft>
                          <a:spcPts val="0"/>
                        </a:spcAft>
                      </a:pPr>
                      <a:r>
                        <a:rPr lang="tr-TR" sz="1500" b="0" i="0">
                          <a:solidFill>
                            <a:srgbClr val="262626"/>
                          </a:solidFill>
                          <a:latin typeface="Calibri"/>
                        </a:rPr>
                        <a:t>Çığ Düşmesi</a:t>
                      </a:r>
                    </a:p>
                  </a:txBody>
                  <a:tcPr marL="54864" marR="54864" marT="18288" marB="18288" anchor="ctr">
                    <a:solidFill>
                      <a:srgbClr val="FFFFFF"/>
                    </a:solidFill>
                  </a:tcPr>
                </a:tc>
                <a:tc>
                  <a:txBody>
                    <a:bodyPr wrap="square"/>
                    <a:lstStyle/>
                    <a:p>
                      <a:pPr algn="l">
                        <a:spcBef>
                          <a:spcPts val="0"/>
                        </a:spcBef>
                        <a:spcAft>
                          <a:spcPts val="0"/>
                        </a:spcAft>
                      </a:pPr>
                      <a:r>
                        <a:rPr lang="tr-TR" sz="1500" b="0" i="0">
                          <a:solidFill>
                            <a:srgbClr val="262626"/>
                          </a:solidFill>
                          <a:latin typeface="Calibri"/>
                        </a:rPr>
                        <a:t>Bahçesaray (Van)</a:t>
                      </a:r>
                    </a:p>
                  </a:txBody>
                  <a:tcPr marL="54864" marR="54864" marT="18288" marB="18288" anchor="ctr">
                    <a:solidFill>
                      <a:srgbClr val="FFFFFF"/>
                    </a:solidFill>
                  </a:tcPr>
                </a:tc>
                <a:tc>
                  <a:txBody>
                    <a:bodyPr wrap="square"/>
                    <a:lstStyle/>
                    <a:p>
                      <a:pPr algn="l">
                        <a:spcBef>
                          <a:spcPts val="0"/>
                        </a:spcBef>
                        <a:spcAft>
                          <a:spcPts val="0"/>
                        </a:spcAft>
                      </a:pPr>
                      <a:r>
                        <a:rPr lang="tr-TR" sz="1500" b="0" i="0">
                          <a:solidFill>
                            <a:srgbClr val="262626"/>
                          </a:solidFill>
                          <a:latin typeface="Calibri"/>
                        </a:rPr>
                        <a:t>4-5 Şubat 2020</a:t>
                      </a:r>
                    </a:p>
                  </a:txBody>
                  <a:tcPr marL="54864" marR="54864" marT="18288" marB="18288" anchor="ctr">
                    <a:solidFill>
                      <a:srgbClr val="FFFFFF"/>
                    </a:solidFill>
                  </a:tcPr>
                </a:tc>
                <a:tc>
                  <a:txBody>
                    <a:bodyPr wrap="square"/>
                    <a:lstStyle/>
                    <a:p>
                      <a:pPr algn="r">
                        <a:spcBef>
                          <a:spcPts val="0"/>
                        </a:spcBef>
                        <a:spcAft>
                          <a:spcPts val="0"/>
                        </a:spcAft>
                      </a:pPr>
                      <a:r>
                        <a:rPr lang="tr-TR" sz="1500" b="0" i="0">
                          <a:solidFill>
                            <a:srgbClr val="262626"/>
                          </a:solidFill>
                          <a:latin typeface="Calibri"/>
                        </a:rPr>
                        <a:t>42</a:t>
                      </a:r>
                    </a:p>
                  </a:txBody>
                  <a:tcPr marL="54864" marR="54864" marT="18288" marB="18288" anchor="ctr">
                    <a:solidFill>
                      <a:srgbClr val="FFFFFF"/>
                    </a:solidFill>
                  </a:tcPr>
                </a:tc>
              </a:tr>
              <a:tr h="352044">
                <a:tc>
                  <a:txBody>
                    <a:bodyPr wrap="square"/>
                    <a:lstStyle/>
                    <a:p>
                      <a:pPr algn="l">
                        <a:spcBef>
                          <a:spcPts val="0"/>
                        </a:spcBef>
                        <a:spcAft>
                          <a:spcPts val="0"/>
                        </a:spcAft>
                      </a:pPr>
                      <a:r>
                        <a:rPr lang="tr-TR" sz="1500" b="0" i="0">
                          <a:solidFill>
                            <a:srgbClr val="262626"/>
                          </a:solidFill>
                          <a:latin typeface="Calibri"/>
                        </a:rPr>
                        <a:t>Sel ve Taşkın</a:t>
                      </a:r>
                    </a:p>
                  </a:txBody>
                  <a:tcPr marL="54864" marR="54864" marT="18288" marB="18288" anchor="ctr">
                    <a:solidFill>
                      <a:srgbClr val="EEE8F5"/>
                    </a:solidFill>
                  </a:tcPr>
                </a:tc>
                <a:tc>
                  <a:txBody>
                    <a:bodyPr wrap="square"/>
                    <a:lstStyle/>
                    <a:p>
                      <a:pPr algn="l">
                        <a:spcBef>
                          <a:spcPts val="0"/>
                        </a:spcBef>
                        <a:spcAft>
                          <a:spcPts val="0"/>
                        </a:spcAft>
                      </a:pPr>
                      <a:r>
                        <a:rPr lang="tr-TR" sz="1500" b="0" i="0">
                          <a:solidFill>
                            <a:srgbClr val="262626"/>
                          </a:solidFill>
                          <a:latin typeface="Calibri"/>
                        </a:rPr>
                        <a:t>Batı Karadeniz</a:t>
                      </a:r>
                    </a:p>
                  </a:txBody>
                  <a:tcPr marL="54864" marR="54864" marT="18288" marB="18288" anchor="ctr">
                    <a:solidFill>
                      <a:srgbClr val="EEE8F5"/>
                    </a:solidFill>
                  </a:tcPr>
                </a:tc>
                <a:tc>
                  <a:txBody>
                    <a:bodyPr wrap="square"/>
                    <a:lstStyle/>
                    <a:p>
                      <a:pPr algn="l">
                        <a:spcBef>
                          <a:spcPts val="0"/>
                        </a:spcBef>
                        <a:spcAft>
                          <a:spcPts val="0"/>
                        </a:spcAft>
                      </a:pPr>
                      <a:r>
                        <a:rPr lang="tr-TR" sz="1500" b="0" i="0">
                          <a:solidFill>
                            <a:srgbClr val="262626"/>
                          </a:solidFill>
                          <a:latin typeface="Calibri"/>
                        </a:rPr>
                        <a:t>11 Ağustos 2021</a:t>
                      </a:r>
                    </a:p>
                  </a:txBody>
                  <a:tcPr marL="54864" marR="54864" marT="18288" marB="18288" anchor="ctr">
                    <a:solidFill>
                      <a:srgbClr val="EEE8F5"/>
                    </a:solidFill>
                  </a:tcPr>
                </a:tc>
                <a:tc>
                  <a:txBody>
                    <a:bodyPr wrap="square"/>
                    <a:lstStyle/>
                    <a:p>
                      <a:pPr algn="r">
                        <a:spcBef>
                          <a:spcPts val="0"/>
                        </a:spcBef>
                        <a:spcAft>
                          <a:spcPts val="0"/>
                        </a:spcAft>
                      </a:pPr>
                      <a:r>
                        <a:rPr lang="tr-TR" sz="1500" b="0" i="0">
                          <a:solidFill>
                            <a:srgbClr val="262626"/>
                          </a:solidFill>
                          <a:latin typeface="Calibri"/>
                        </a:rPr>
                        <a:t>97</a:t>
                      </a:r>
                    </a:p>
                  </a:txBody>
                  <a:tcPr marL="54864" marR="54864" marT="18288" marB="18288" anchor="ctr">
                    <a:solidFill>
                      <a:srgbClr val="EEE8F5"/>
                    </a:solidFill>
                  </a:tcPr>
                </a:tc>
              </a:tr>
              <a:tr h="352044">
                <a:tc>
                  <a:txBody>
                    <a:bodyPr wrap="square"/>
                    <a:lstStyle/>
                    <a:p>
                      <a:pPr algn="l">
                        <a:spcBef>
                          <a:spcPts val="0"/>
                        </a:spcBef>
                        <a:spcAft>
                          <a:spcPts val="0"/>
                        </a:spcAft>
                      </a:pPr>
                      <a:r>
                        <a:rPr lang="tr-TR" sz="1500" b="0" i="0">
                          <a:solidFill>
                            <a:srgbClr val="262626"/>
                          </a:solidFill>
                          <a:latin typeface="Calibri"/>
                        </a:rPr>
                        <a:t>Salgın Hastalık (COVID-19)</a:t>
                      </a:r>
                    </a:p>
                  </a:txBody>
                  <a:tcPr marL="54864" marR="54864" marT="18288" marB="18288" anchor="ctr">
                    <a:solidFill>
                      <a:srgbClr val="FFFFFF"/>
                    </a:solidFill>
                  </a:tcPr>
                </a:tc>
                <a:tc>
                  <a:txBody>
                    <a:bodyPr wrap="square"/>
                    <a:lstStyle/>
                    <a:p>
                      <a:pPr algn="l">
                        <a:spcBef>
                          <a:spcPts val="0"/>
                        </a:spcBef>
                        <a:spcAft>
                          <a:spcPts val="0"/>
                        </a:spcAft>
                      </a:pPr>
                      <a:r>
                        <a:rPr lang="tr-TR" sz="1500" b="0" i="0">
                          <a:solidFill>
                            <a:srgbClr val="262626"/>
                          </a:solidFill>
                          <a:latin typeface="Calibri"/>
                        </a:rPr>
                        <a:t>Türkiye</a:t>
                      </a:r>
                    </a:p>
                  </a:txBody>
                  <a:tcPr marL="54864" marR="54864" marT="18288" marB="18288" anchor="ctr">
                    <a:solidFill>
                      <a:srgbClr val="FFFFFF"/>
                    </a:solidFill>
                  </a:tcPr>
                </a:tc>
                <a:tc>
                  <a:txBody>
                    <a:bodyPr wrap="square"/>
                    <a:lstStyle/>
                    <a:p>
                      <a:pPr algn="l">
                        <a:spcBef>
                          <a:spcPts val="0"/>
                        </a:spcBef>
                        <a:spcAft>
                          <a:spcPts val="0"/>
                        </a:spcAft>
                      </a:pPr>
                      <a:r>
                        <a:rPr lang="tr-TR" sz="1400" b="0" i="0">
                          <a:solidFill>
                            <a:srgbClr val="262626"/>
                          </a:solidFill>
                          <a:latin typeface="Calibri"/>
                        </a:rPr>
                        <a:t>Mart 2020-Mart 2023</a:t>
                      </a:r>
                    </a:p>
                  </a:txBody>
                  <a:tcPr marL="54864" marR="54864" marT="18288" marB="18288" anchor="ctr">
                    <a:solidFill>
                      <a:srgbClr val="FFFFFF"/>
                    </a:solidFill>
                  </a:tcPr>
                </a:tc>
                <a:tc>
                  <a:txBody>
                    <a:bodyPr wrap="square"/>
                    <a:lstStyle/>
                    <a:p>
                      <a:pPr algn="r">
                        <a:spcBef>
                          <a:spcPts val="0"/>
                        </a:spcBef>
                        <a:spcAft>
                          <a:spcPts val="0"/>
                        </a:spcAft>
                      </a:pPr>
                      <a:r>
                        <a:rPr lang="tr-TR" sz="1500" b="0" i="0">
                          <a:solidFill>
                            <a:srgbClr val="262626"/>
                          </a:solidFill>
                          <a:latin typeface="Calibri"/>
                        </a:rPr>
                        <a:t>102.174</a:t>
                      </a:r>
                    </a:p>
                  </a:txBody>
                  <a:tcPr marL="54864" marR="54864" marT="18288" marB="18288" anchor="ctr">
                    <a:solidFill>
                      <a:srgbClr val="FFFFFF"/>
                    </a:solidFill>
                  </a:tcPr>
                </a:tc>
              </a:tr>
              <a:tr h="352044">
                <a:tc>
                  <a:txBody>
                    <a:bodyPr wrap="square"/>
                    <a:lstStyle/>
                    <a:p>
                      <a:pPr algn="l">
                        <a:spcBef>
                          <a:spcPts val="0"/>
                        </a:spcBef>
                        <a:spcAft>
                          <a:spcPts val="0"/>
                        </a:spcAft>
                      </a:pPr>
                      <a:r>
                        <a:rPr lang="tr-TR" sz="1500" b="0" i="0">
                          <a:solidFill>
                            <a:srgbClr val="262626"/>
                          </a:solidFill>
                          <a:latin typeface="Calibri"/>
                        </a:rPr>
                        <a:t>Deprem</a:t>
                      </a:r>
                    </a:p>
                  </a:txBody>
                  <a:tcPr marL="54864" marR="54864" marT="18288" marB="18288" anchor="ctr">
                    <a:solidFill>
                      <a:srgbClr val="EEE8F5"/>
                    </a:solidFill>
                  </a:tcPr>
                </a:tc>
                <a:tc>
                  <a:txBody>
                    <a:bodyPr wrap="square"/>
                    <a:lstStyle/>
                    <a:p>
                      <a:pPr algn="l">
                        <a:spcBef>
                          <a:spcPts val="0"/>
                        </a:spcBef>
                        <a:spcAft>
                          <a:spcPts val="0"/>
                        </a:spcAft>
                      </a:pPr>
                      <a:r>
                        <a:rPr lang="tr-TR" sz="1350" b="0" i="0">
                          <a:solidFill>
                            <a:srgbClr val="262626"/>
                          </a:solidFill>
                          <a:latin typeface="Calibri"/>
                        </a:rPr>
                        <a:t>Kahramanmaraş (Pazarcık-Elbistan)</a:t>
                      </a:r>
                    </a:p>
                  </a:txBody>
                  <a:tcPr marL="54864" marR="54864" marT="18288" marB="18288" anchor="ctr">
                    <a:solidFill>
                      <a:srgbClr val="EEE8F5"/>
                    </a:solidFill>
                  </a:tcPr>
                </a:tc>
                <a:tc>
                  <a:txBody>
                    <a:bodyPr wrap="square"/>
                    <a:lstStyle/>
                    <a:p>
                      <a:pPr algn="l">
                        <a:spcBef>
                          <a:spcPts val="0"/>
                        </a:spcBef>
                        <a:spcAft>
                          <a:spcPts val="0"/>
                        </a:spcAft>
                      </a:pPr>
                      <a:r>
                        <a:rPr lang="tr-TR" sz="1500" b="0" i="0">
                          <a:solidFill>
                            <a:srgbClr val="262626"/>
                          </a:solidFill>
                          <a:latin typeface="Calibri"/>
                        </a:rPr>
                        <a:t>6 Şubat 2023</a:t>
                      </a:r>
                    </a:p>
                  </a:txBody>
                  <a:tcPr marL="54864" marR="54864" marT="18288" marB="18288" anchor="ctr">
                    <a:solidFill>
                      <a:srgbClr val="EEE8F5"/>
                    </a:solidFill>
                  </a:tcPr>
                </a:tc>
                <a:tc>
                  <a:txBody>
                    <a:bodyPr wrap="square"/>
                    <a:lstStyle/>
                    <a:p>
                      <a:pPr algn="r">
                        <a:spcBef>
                          <a:spcPts val="0"/>
                        </a:spcBef>
                        <a:spcAft>
                          <a:spcPts val="0"/>
                        </a:spcAft>
                      </a:pPr>
                      <a:r>
                        <a:rPr lang="tr-TR" sz="1500" b="0" i="0">
                          <a:solidFill>
                            <a:srgbClr val="262626"/>
                          </a:solidFill>
                          <a:latin typeface="Calibri"/>
                        </a:rPr>
                        <a:t>53.537</a:t>
                      </a:r>
                    </a:p>
                  </a:txBody>
                  <a:tcPr marL="54864" marR="54864" marT="18288" marB="18288" anchor="ctr">
                    <a:solidFill>
                      <a:srgbClr val="EEE8F5"/>
                    </a:solidFill>
                  </a:tcPr>
                </a:tc>
              </a:tr>
            </a:tbl>
          </a:graphicData>
        </a:graphic>
      </p:graphicFrame>
      <p:sp>
        <p:nvSpPr>
          <p:cNvPr id="8" name="Rounded Rectangle 7"/>
          <p:cNvSpPr/>
          <p:nvPr/>
        </p:nvSpPr>
        <p:spPr>
          <a:xfrm>
            <a:off x="8275320" y="1216152"/>
            <a:ext cx="3413455" cy="1600200"/>
          </a:xfrm>
          <a:prstGeom prst="roundRect">
            <a:avLst>
              <a:gd name="adj" fmla="val 8000"/>
            </a:avLst>
          </a:prstGeom>
          <a:solidFill>
            <a:srgbClr val="FFF3D1"/>
          </a:solidFill>
          <a:ln>
            <a:noFill/>
          </a:ln>
          <a:effectLst/>
        </p:spPr>
        <p:txBody>
          <a:bodyPr rtlCol="0" anchor="ctr" wrap="square" lIns="182880" rIns="182880" tIns="73152" bIns="73152">
            <a:noAutofit/>
          </a:bodyPr>
          <a:lstStyle/>
          <a:p>
            <a:pPr algn="l">
              <a:spcBef>
                <a:spcPts val="0"/>
              </a:spcBef>
              <a:spcAft>
                <a:spcPts val="0"/>
              </a:spcAft>
            </a:pPr>
            <a:r>
              <a:rPr lang="tr-TR" sz="2000" b="1" i="0">
                <a:solidFill>
                  <a:srgbClr val="262626"/>
                </a:solidFill>
                <a:latin typeface="Calibri"/>
              </a:rPr>
              <a:t>1. Tabloda en çok can kaybına yol açan afet türleri hangileri?</a:t>
            </a:r>
          </a:p>
        </p:txBody>
      </p:sp>
      <p:sp>
        <p:nvSpPr>
          <p:cNvPr id="9" name="Rounded Rectangle 8"/>
          <p:cNvSpPr/>
          <p:nvPr/>
        </p:nvSpPr>
        <p:spPr>
          <a:xfrm>
            <a:off x="8275320" y="2953512"/>
            <a:ext cx="3413455" cy="3291840"/>
          </a:xfrm>
          <a:prstGeom prst="roundRect">
            <a:avLst>
              <a:gd name="adj" fmla="val 8000"/>
            </a:avLst>
          </a:prstGeom>
          <a:solidFill>
            <a:srgbClr val="FFF3D1"/>
          </a:solidFill>
          <a:ln>
            <a:noFill/>
          </a:ln>
          <a:effectLst/>
        </p:spPr>
        <p:txBody>
          <a:bodyPr rtlCol="0" anchor="ctr" wrap="square" lIns="182880" rIns="182880" tIns="73152" bIns="73152">
            <a:noAutofit/>
          </a:bodyPr>
          <a:lstStyle/>
          <a:p>
            <a:pPr algn="l">
              <a:spcBef>
                <a:spcPts val="0"/>
              </a:spcBef>
              <a:spcAft>
                <a:spcPts val="0"/>
              </a:spcAft>
            </a:pPr>
            <a:r>
              <a:rPr lang="tr-TR" sz="2000" b="1" i="1">
                <a:solidFill>
                  <a:srgbClr val="262626"/>
                </a:solidFill>
                <a:latin typeface="Calibri"/>
              </a:rPr>
              <a:t>2. Türkiye’de meydana gelen afetlerde farklı sayıda can kaybı yaşanmasının nedenleri neler olabilir? Düşüncelerinizi arkadaşlarınızla paylaşınız.</a:t>
            </a:r>
          </a:p>
        </p:txBody>
      </p:sp>
      <p:sp>
        <p:nvSpPr>
          <p:cNvPr id="10" name="TextBox 9"/>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11" name="Rounded Rectangle 10"/>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197</a:t>
            </a:r>
          </a:p>
        </p:txBody>
      </p:sp>
      <p:sp>
        <p:nvSpPr>
          <p:cNvPr id="12" name="TextBox 11"/>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89 / 250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UYGULAMA: Türkiye'deki Bazı Afetler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TextBox 5"/>
          <p:cNvSpPr txBox="1"/>
          <p:nvPr/>
        </p:nvSpPr>
        <p:spPr>
          <a:xfrm>
            <a:off x="502920" y="1170432"/>
            <a:ext cx="7543800" cy="402336"/>
          </a:xfrm>
          <a:prstGeom prst="rect">
            <a:avLst/>
          </a:prstGeom>
          <a:noFill/>
        </p:spPr>
        <p:txBody>
          <a:bodyPr wrap="square" anchor="ctr" lIns="73152" rIns="73152" tIns="36576" bIns="36576">
            <a:noAutofit/>
          </a:bodyPr>
          <a:lstStyle/>
          <a:p>
            <a:pPr algn="l">
              <a:spcBef>
                <a:spcPts val="0"/>
              </a:spcBef>
              <a:spcAft>
                <a:spcPts val="0"/>
              </a:spcAft>
            </a:pPr>
            <a:r>
              <a:rPr lang="tr-TR" sz="1250" b="1" i="0">
                <a:solidFill>
                  <a:srgbClr val="6A4C93"/>
                </a:solidFill>
                <a:latin typeface="Calibri"/>
              </a:rPr>
              <a:t>1990-2023 Yılları Arasında Türkiye’de Meydana Gelen Bazı Afetler (AFAD, İçişleri Bakanlığı ve Sağlık Bakanlığı)</a:t>
            </a:r>
          </a:p>
        </p:txBody>
      </p:sp>
      <p:graphicFrame>
        <p:nvGraphicFramePr>
          <p:cNvPr id="7" name="Table 6"/>
          <p:cNvGraphicFramePr>
            <a:graphicFrameLocks noGrp="1"/>
          </p:cNvGraphicFramePr>
          <p:nvPr/>
        </p:nvGraphicFramePr>
        <p:xfrm>
          <a:off x="502920" y="1591056"/>
          <a:ext cx="7543800" cy="4590288"/>
        </p:xfrm>
        <a:graphic>
          <a:graphicData uri="http://schemas.openxmlformats.org/drawingml/2006/table">
            <a:tbl>
              <a:tblPr firstRow="1" bandRow="1">
                <a:tableStyleId>{5C22544A-7EE6-4342-B048-85BDC9FD1C3A}</a:tableStyleId>
              </a:tblPr>
              <a:tblGrid>
                <a:gridCol w="2240280"/>
                <a:gridCol w="2697480"/>
                <a:gridCol w="1783080"/>
                <a:gridCol w="822960"/>
              </a:tblGrid>
              <a:tr h="365760">
                <a:tc>
                  <a:txBody>
                    <a:bodyPr wrap="square"/>
                    <a:lstStyle/>
                    <a:p>
                      <a:pPr algn="ctr">
                        <a:spcBef>
                          <a:spcPts val="0"/>
                        </a:spcBef>
                        <a:spcAft>
                          <a:spcPts val="0"/>
                        </a:spcAft>
                      </a:pPr>
                      <a:r>
                        <a:rPr lang="tr-TR" sz="1500" b="1" i="0">
                          <a:solidFill>
                            <a:srgbClr val="FFFFFF"/>
                          </a:solidFill>
                          <a:latin typeface="Calibri"/>
                        </a:rPr>
                        <a:t>Afet Türü</a:t>
                      </a:r>
                    </a:p>
                  </a:txBody>
                  <a:tcPr marL="54864" marR="54864" marT="18288" marB="18288" anchor="ctr">
                    <a:solidFill>
                      <a:srgbClr val="6A4C93"/>
                    </a:solidFill>
                  </a:tcPr>
                </a:tc>
                <a:tc>
                  <a:txBody>
                    <a:bodyPr wrap="square"/>
                    <a:lstStyle/>
                    <a:p>
                      <a:pPr algn="ctr">
                        <a:spcBef>
                          <a:spcPts val="0"/>
                        </a:spcBef>
                        <a:spcAft>
                          <a:spcPts val="0"/>
                        </a:spcAft>
                      </a:pPr>
                      <a:r>
                        <a:rPr lang="tr-TR" sz="1500" b="1" i="0">
                          <a:solidFill>
                            <a:srgbClr val="FFFFFF"/>
                          </a:solidFill>
                          <a:latin typeface="Calibri"/>
                        </a:rPr>
                        <a:t>Yer</a:t>
                      </a:r>
                    </a:p>
                  </a:txBody>
                  <a:tcPr marL="54864" marR="54864" marT="18288" marB="18288" anchor="ctr">
                    <a:solidFill>
                      <a:srgbClr val="6A4C93"/>
                    </a:solidFill>
                  </a:tcPr>
                </a:tc>
                <a:tc>
                  <a:txBody>
                    <a:bodyPr wrap="square"/>
                    <a:lstStyle/>
                    <a:p>
                      <a:pPr algn="ctr">
                        <a:spcBef>
                          <a:spcPts val="0"/>
                        </a:spcBef>
                        <a:spcAft>
                          <a:spcPts val="0"/>
                        </a:spcAft>
                      </a:pPr>
                      <a:r>
                        <a:rPr lang="tr-TR" sz="1500" b="1" i="0">
                          <a:solidFill>
                            <a:srgbClr val="FFFFFF"/>
                          </a:solidFill>
                          <a:latin typeface="Calibri"/>
                        </a:rPr>
                        <a:t>Tarih</a:t>
                      </a:r>
                    </a:p>
                  </a:txBody>
                  <a:tcPr marL="54864" marR="54864" marT="18288" marB="18288" anchor="ctr">
                    <a:solidFill>
                      <a:srgbClr val="6A4C93"/>
                    </a:solidFill>
                  </a:tcPr>
                </a:tc>
                <a:tc>
                  <a:txBody>
                    <a:bodyPr wrap="square"/>
                    <a:lstStyle/>
                    <a:p>
                      <a:pPr algn="ctr">
                        <a:spcBef>
                          <a:spcPts val="0"/>
                        </a:spcBef>
                        <a:spcAft>
                          <a:spcPts val="0"/>
                        </a:spcAft>
                      </a:pPr>
                      <a:r>
                        <a:rPr lang="tr-TR" sz="1300" b="1" i="0">
                          <a:solidFill>
                            <a:srgbClr val="FFFFFF"/>
                          </a:solidFill>
                          <a:latin typeface="Calibri"/>
                        </a:rPr>
                        <a:t>Can Kaybı</a:t>
                      </a:r>
                    </a:p>
                  </a:txBody>
                  <a:tcPr marL="54864" marR="54864" marT="18288" marB="18288" anchor="ctr">
                    <a:solidFill>
                      <a:srgbClr val="6A4C93"/>
                    </a:solidFill>
                  </a:tcPr>
                </a:tc>
              </a:tr>
              <a:tr h="352044">
                <a:tc>
                  <a:txBody>
                    <a:bodyPr wrap="square"/>
                    <a:lstStyle/>
                    <a:p>
                      <a:pPr algn="l">
                        <a:spcBef>
                          <a:spcPts val="0"/>
                        </a:spcBef>
                        <a:spcAft>
                          <a:spcPts val="0"/>
                        </a:spcAft>
                      </a:pPr>
                      <a:r>
                        <a:rPr lang="tr-TR" sz="1500" b="0" i="0">
                          <a:solidFill>
                            <a:srgbClr val="262626"/>
                          </a:solidFill>
                          <a:latin typeface="Calibri"/>
                        </a:rPr>
                        <a:t>Çığ Düşmesi</a:t>
                      </a:r>
                    </a:p>
                  </a:txBody>
                  <a:tcPr marL="54864" marR="54864" marT="18288" marB="18288" anchor="ctr">
                    <a:solidFill>
                      <a:srgbClr val="FFFFFF"/>
                    </a:solidFill>
                  </a:tcPr>
                </a:tc>
                <a:tc>
                  <a:txBody>
                    <a:bodyPr wrap="square"/>
                    <a:lstStyle/>
                    <a:p>
                      <a:pPr algn="l">
                        <a:spcBef>
                          <a:spcPts val="0"/>
                        </a:spcBef>
                        <a:spcAft>
                          <a:spcPts val="0"/>
                        </a:spcAft>
                      </a:pPr>
                      <a:r>
                        <a:rPr lang="tr-TR" sz="1500" b="0" i="0">
                          <a:solidFill>
                            <a:srgbClr val="262626"/>
                          </a:solidFill>
                          <a:latin typeface="Calibri"/>
                        </a:rPr>
                        <a:t>Güneydoğu Anadolu</a:t>
                      </a:r>
                    </a:p>
                  </a:txBody>
                  <a:tcPr marL="54864" marR="54864" marT="18288" marB="18288" anchor="ctr">
                    <a:solidFill>
                      <a:srgbClr val="FFFFFF"/>
                    </a:solidFill>
                  </a:tcPr>
                </a:tc>
                <a:tc>
                  <a:txBody>
                    <a:bodyPr wrap="square"/>
                    <a:lstStyle/>
                    <a:p>
                      <a:pPr algn="l">
                        <a:spcBef>
                          <a:spcPts val="0"/>
                        </a:spcBef>
                        <a:spcAft>
                          <a:spcPts val="0"/>
                        </a:spcAft>
                      </a:pPr>
                      <a:r>
                        <a:rPr lang="tr-TR" sz="1500" b="0" i="0">
                          <a:solidFill>
                            <a:srgbClr val="262626"/>
                          </a:solidFill>
                          <a:latin typeface="Calibri"/>
                        </a:rPr>
                        <a:t>1992</a:t>
                      </a:r>
                    </a:p>
                  </a:txBody>
                  <a:tcPr marL="54864" marR="54864" marT="18288" marB="18288" anchor="ctr">
                    <a:solidFill>
                      <a:srgbClr val="FFFFFF"/>
                    </a:solidFill>
                  </a:tcPr>
                </a:tc>
                <a:tc>
                  <a:txBody>
                    <a:bodyPr wrap="square"/>
                    <a:lstStyle/>
                    <a:p>
                      <a:pPr algn="r">
                        <a:spcBef>
                          <a:spcPts val="0"/>
                        </a:spcBef>
                        <a:spcAft>
                          <a:spcPts val="0"/>
                        </a:spcAft>
                      </a:pPr>
                      <a:r>
                        <a:rPr lang="tr-TR" sz="1500" b="0" i="0">
                          <a:solidFill>
                            <a:srgbClr val="262626"/>
                          </a:solidFill>
                          <a:latin typeface="Calibri"/>
                        </a:rPr>
                        <a:t>328</a:t>
                      </a:r>
                    </a:p>
                  </a:txBody>
                  <a:tcPr marL="54864" marR="54864" marT="18288" marB="18288" anchor="ctr">
                    <a:solidFill>
                      <a:srgbClr val="FFFFFF"/>
                    </a:solidFill>
                  </a:tcPr>
                </a:tc>
              </a:tr>
              <a:tr h="352044">
                <a:tc>
                  <a:txBody>
                    <a:bodyPr wrap="square"/>
                    <a:lstStyle/>
                    <a:p>
                      <a:pPr algn="l">
                        <a:spcBef>
                          <a:spcPts val="0"/>
                        </a:spcBef>
                        <a:spcAft>
                          <a:spcPts val="0"/>
                        </a:spcAft>
                      </a:pPr>
                      <a:r>
                        <a:rPr lang="tr-TR" sz="1500" b="0" i="0">
                          <a:solidFill>
                            <a:srgbClr val="262626"/>
                          </a:solidFill>
                          <a:latin typeface="Calibri"/>
                        </a:rPr>
                        <a:t>Deprem</a:t>
                      </a:r>
                    </a:p>
                  </a:txBody>
                  <a:tcPr marL="54864" marR="54864" marT="18288" marB="18288" anchor="ctr">
                    <a:solidFill>
                      <a:srgbClr val="EEE8F5"/>
                    </a:solidFill>
                  </a:tcPr>
                </a:tc>
                <a:tc>
                  <a:txBody>
                    <a:bodyPr wrap="square"/>
                    <a:lstStyle/>
                    <a:p>
                      <a:pPr algn="l">
                        <a:spcBef>
                          <a:spcPts val="0"/>
                        </a:spcBef>
                        <a:spcAft>
                          <a:spcPts val="0"/>
                        </a:spcAft>
                      </a:pPr>
                      <a:r>
                        <a:rPr lang="tr-TR" sz="1500" b="0" i="0">
                          <a:solidFill>
                            <a:srgbClr val="262626"/>
                          </a:solidFill>
                          <a:latin typeface="Calibri"/>
                        </a:rPr>
                        <a:t>Erzincan</a:t>
                      </a:r>
                    </a:p>
                  </a:txBody>
                  <a:tcPr marL="54864" marR="54864" marT="18288" marB="18288" anchor="ctr">
                    <a:solidFill>
                      <a:srgbClr val="EEE8F5"/>
                    </a:solidFill>
                  </a:tcPr>
                </a:tc>
                <a:tc>
                  <a:txBody>
                    <a:bodyPr wrap="square"/>
                    <a:lstStyle/>
                    <a:p>
                      <a:pPr algn="l">
                        <a:spcBef>
                          <a:spcPts val="0"/>
                        </a:spcBef>
                        <a:spcAft>
                          <a:spcPts val="0"/>
                        </a:spcAft>
                      </a:pPr>
                      <a:r>
                        <a:rPr lang="tr-TR" sz="1500" b="0" i="0">
                          <a:solidFill>
                            <a:srgbClr val="262626"/>
                          </a:solidFill>
                          <a:latin typeface="Calibri"/>
                        </a:rPr>
                        <a:t>13 Mart 1992</a:t>
                      </a:r>
                    </a:p>
                  </a:txBody>
                  <a:tcPr marL="54864" marR="54864" marT="18288" marB="18288" anchor="ctr">
                    <a:solidFill>
                      <a:srgbClr val="EEE8F5"/>
                    </a:solidFill>
                  </a:tcPr>
                </a:tc>
                <a:tc>
                  <a:txBody>
                    <a:bodyPr wrap="square"/>
                    <a:lstStyle/>
                    <a:p>
                      <a:pPr algn="r">
                        <a:spcBef>
                          <a:spcPts val="0"/>
                        </a:spcBef>
                        <a:spcAft>
                          <a:spcPts val="0"/>
                        </a:spcAft>
                      </a:pPr>
                      <a:r>
                        <a:rPr lang="tr-TR" sz="1500" b="0" i="0">
                          <a:solidFill>
                            <a:srgbClr val="262626"/>
                          </a:solidFill>
                          <a:latin typeface="Calibri"/>
                        </a:rPr>
                        <a:t>653</a:t>
                      </a:r>
                    </a:p>
                  </a:txBody>
                  <a:tcPr marL="54864" marR="54864" marT="18288" marB="18288" anchor="ctr">
                    <a:solidFill>
                      <a:srgbClr val="EEE8F5"/>
                    </a:solidFill>
                  </a:tcPr>
                </a:tc>
              </a:tr>
              <a:tr h="352044">
                <a:tc>
                  <a:txBody>
                    <a:bodyPr wrap="square"/>
                    <a:lstStyle/>
                    <a:p>
                      <a:pPr algn="l">
                        <a:spcBef>
                          <a:spcPts val="0"/>
                        </a:spcBef>
                        <a:spcAft>
                          <a:spcPts val="0"/>
                        </a:spcAft>
                      </a:pPr>
                      <a:r>
                        <a:rPr lang="tr-TR" sz="1500" b="0" i="0">
                          <a:solidFill>
                            <a:srgbClr val="262626"/>
                          </a:solidFill>
                          <a:latin typeface="Calibri"/>
                        </a:rPr>
                        <a:t>Deprem</a:t>
                      </a:r>
                    </a:p>
                  </a:txBody>
                  <a:tcPr marL="54864" marR="54864" marT="18288" marB="18288" anchor="ctr">
                    <a:solidFill>
                      <a:srgbClr val="FFFFFF"/>
                    </a:solidFill>
                  </a:tcPr>
                </a:tc>
                <a:tc>
                  <a:txBody>
                    <a:bodyPr wrap="square"/>
                    <a:lstStyle/>
                    <a:p>
                      <a:pPr algn="l">
                        <a:spcBef>
                          <a:spcPts val="0"/>
                        </a:spcBef>
                        <a:spcAft>
                          <a:spcPts val="0"/>
                        </a:spcAft>
                      </a:pPr>
                      <a:r>
                        <a:rPr lang="tr-TR" sz="1500" b="0" i="0">
                          <a:solidFill>
                            <a:srgbClr val="262626"/>
                          </a:solidFill>
                          <a:latin typeface="Calibri"/>
                        </a:rPr>
                        <a:t>Afyon (Dinar)</a:t>
                      </a:r>
                    </a:p>
                  </a:txBody>
                  <a:tcPr marL="54864" marR="54864" marT="18288" marB="18288" anchor="ctr">
                    <a:solidFill>
                      <a:srgbClr val="FFFFFF"/>
                    </a:solidFill>
                  </a:tcPr>
                </a:tc>
                <a:tc>
                  <a:txBody>
                    <a:bodyPr wrap="square"/>
                    <a:lstStyle/>
                    <a:p>
                      <a:pPr algn="l">
                        <a:spcBef>
                          <a:spcPts val="0"/>
                        </a:spcBef>
                        <a:spcAft>
                          <a:spcPts val="0"/>
                        </a:spcAft>
                      </a:pPr>
                      <a:r>
                        <a:rPr lang="tr-TR" sz="1500" b="0" i="0">
                          <a:solidFill>
                            <a:srgbClr val="262626"/>
                          </a:solidFill>
                          <a:latin typeface="Calibri"/>
                        </a:rPr>
                        <a:t>1 Ekim 1995</a:t>
                      </a:r>
                    </a:p>
                  </a:txBody>
                  <a:tcPr marL="54864" marR="54864" marT="18288" marB="18288" anchor="ctr">
                    <a:solidFill>
                      <a:srgbClr val="FFFFFF"/>
                    </a:solidFill>
                  </a:tcPr>
                </a:tc>
                <a:tc>
                  <a:txBody>
                    <a:bodyPr wrap="square"/>
                    <a:lstStyle/>
                    <a:p>
                      <a:pPr algn="r">
                        <a:spcBef>
                          <a:spcPts val="0"/>
                        </a:spcBef>
                        <a:spcAft>
                          <a:spcPts val="0"/>
                        </a:spcAft>
                      </a:pPr>
                      <a:r>
                        <a:rPr lang="tr-TR" sz="1500" b="0" i="0">
                          <a:solidFill>
                            <a:srgbClr val="262626"/>
                          </a:solidFill>
                          <a:latin typeface="Calibri"/>
                        </a:rPr>
                        <a:t>94</a:t>
                      </a:r>
                    </a:p>
                  </a:txBody>
                  <a:tcPr marL="54864" marR="54864" marT="18288" marB="18288" anchor="ctr">
                    <a:solidFill>
                      <a:srgbClr val="FFFFFF"/>
                    </a:solidFill>
                  </a:tcPr>
                </a:tc>
              </a:tr>
              <a:tr h="352044">
                <a:tc>
                  <a:txBody>
                    <a:bodyPr wrap="square"/>
                    <a:lstStyle/>
                    <a:p>
                      <a:pPr algn="l">
                        <a:spcBef>
                          <a:spcPts val="0"/>
                        </a:spcBef>
                        <a:spcAft>
                          <a:spcPts val="0"/>
                        </a:spcAft>
                      </a:pPr>
                      <a:r>
                        <a:rPr lang="tr-TR" sz="1500" b="0" i="0">
                          <a:solidFill>
                            <a:srgbClr val="262626"/>
                          </a:solidFill>
                          <a:latin typeface="Calibri"/>
                        </a:rPr>
                        <a:t>Sel ve Taşkın</a:t>
                      </a:r>
                    </a:p>
                  </a:txBody>
                  <a:tcPr marL="54864" marR="54864" marT="18288" marB="18288" anchor="ctr">
                    <a:solidFill>
                      <a:srgbClr val="EEE8F5"/>
                    </a:solidFill>
                  </a:tcPr>
                </a:tc>
                <a:tc>
                  <a:txBody>
                    <a:bodyPr wrap="square"/>
                    <a:lstStyle/>
                    <a:p>
                      <a:pPr algn="l">
                        <a:spcBef>
                          <a:spcPts val="0"/>
                        </a:spcBef>
                        <a:spcAft>
                          <a:spcPts val="0"/>
                        </a:spcAft>
                      </a:pPr>
                      <a:r>
                        <a:rPr lang="tr-TR" sz="1500" b="0" i="0">
                          <a:solidFill>
                            <a:srgbClr val="262626"/>
                          </a:solidFill>
                          <a:latin typeface="Calibri"/>
                        </a:rPr>
                        <a:t>İzmir</a:t>
                      </a:r>
                    </a:p>
                  </a:txBody>
                  <a:tcPr marL="54864" marR="54864" marT="18288" marB="18288" anchor="ctr">
                    <a:solidFill>
                      <a:srgbClr val="EEE8F5"/>
                    </a:solidFill>
                  </a:tcPr>
                </a:tc>
                <a:tc>
                  <a:txBody>
                    <a:bodyPr wrap="square"/>
                    <a:lstStyle/>
                    <a:p>
                      <a:pPr algn="l">
                        <a:spcBef>
                          <a:spcPts val="0"/>
                        </a:spcBef>
                        <a:spcAft>
                          <a:spcPts val="0"/>
                        </a:spcAft>
                      </a:pPr>
                      <a:r>
                        <a:rPr lang="tr-TR" sz="1500" b="0" i="0">
                          <a:solidFill>
                            <a:srgbClr val="262626"/>
                          </a:solidFill>
                          <a:latin typeface="Calibri"/>
                        </a:rPr>
                        <a:t>4 Kasım 1995</a:t>
                      </a:r>
                    </a:p>
                  </a:txBody>
                  <a:tcPr marL="54864" marR="54864" marT="18288" marB="18288" anchor="ctr">
                    <a:solidFill>
                      <a:srgbClr val="EEE8F5"/>
                    </a:solidFill>
                  </a:tcPr>
                </a:tc>
                <a:tc>
                  <a:txBody>
                    <a:bodyPr wrap="square"/>
                    <a:lstStyle/>
                    <a:p>
                      <a:pPr algn="r">
                        <a:spcBef>
                          <a:spcPts val="0"/>
                        </a:spcBef>
                        <a:spcAft>
                          <a:spcPts val="0"/>
                        </a:spcAft>
                      </a:pPr>
                      <a:r>
                        <a:rPr lang="tr-TR" sz="1500" b="0" i="0">
                          <a:solidFill>
                            <a:srgbClr val="262626"/>
                          </a:solidFill>
                          <a:latin typeface="Calibri"/>
                        </a:rPr>
                        <a:t>63</a:t>
                      </a:r>
                    </a:p>
                  </a:txBody>
                  <a:tcPr marL="54864" marR="54864" marT="18288" marB="18288" anchor="ctr">
                    <a:solidFill>
                      <a:srgbClr val="EEE8F5"/>
                    </a:solidFill>
                  </a:tcPr>
                </a:tc>
              </a:tr>
              <a:tr h="352044">
                <a:tc>
                  <a:txBody>
                    <a:bodyPr wrap="square"/>
                    <a:lstStyle/>
                    <a:p>
                      <a:pPr algn="l">
                        <a:spcBef>
                          <a:spcPts val="0"/>
                        </a:spcBef>
                        <a:spcAft>
                          <a:spcPts val="0"/>
                        </a:spcAft>
                      </a:pPr>
                      <a:r>
                        <a:rPr lang="tr-TR" sz="1500" b="0" i="0">
                          <a:solidFill>
                            <a:srgbClr val="262626"/>
                          </a:solidFill>
                          <a:latin typeface="Calibri"/>
                        </a:rPr>
                        <a:t>Deprem</a:t>
                      </a:r>
                    </a:p>
                  </a:txBody>
                  <a:tcPr marL="54864" marR="54864" marT="18288" marB="18288" anchor="ctr">
                    <a:solidFill>
                      <a:srgbClr val="FFF3D1"/>
                    </a:solidFill>
                  </a:tcPr>
                </a:tc>
                <a:tc>
                  <a:txBody>
                    <a:bodyPr wrap="square"/>
                    <a:lstStyle/>
                    <a:p>
                      <a:pPr algn="l">
                        <a:spcBef>
                          <a:spcPts val="0"/>
                        </a:spcBef>
                        <a:spcAft>
                          <a:spcPts val="0"/>
                        </a:spcAft>
                      </a:pPr>
                      <a:r>
                        <a:rPr lang="tr-TR" sz="1500" b="0" i="0">
                          <a:solidFill>
                            <a:srgbClr val="262626"/>
                          </a:solidFill>
                          <a:latin typeface="Calibri"/>
                        </a:rPr>
                        <a:t>İzmit Körfezi</a:t>
                      </a:r>
                    </a:p>
                  </a:txBody>
                  <a:tcPr marL="54864" marR="54864" marT="18288" marB="18288" anchor="ctr">
                    <a:solidFill>
                      <a:srgbClr val="FFF3D1"/>
                    </a:solidFill>
                  </a:tcPr>
                </a:tc>
                <a:tc>
                  <a:txBody>
                    <a:bodyPr wrap="square"/>
                    <a:lstStyle/>
                    <a:p>
                      <a:pPr algn="l">
                        <a:spcBef>
                          <a:spcPts val="0"/>
                        </a:spcBef>
                        <a:spcAft>
                          <a:spcPts val="0"/>
                        </a:spcAft>
                      </a:pPr>
                      <a:r>
                        <a:rPr lang="tr-TR" sz="1500" b="0" i="0">
                          <a:solidFill>
                            <a:srgbClr val="262626"/>
                          </a:solidFill>
                          <a:latin typeface="Calibri"/>
                        </a:rPr>
                        <a:t>17 Ağustos 1999</a:t>
                      </a:r>
                    </a:p>
                  </a:txBody>
                  <a:tcPr marL="54864" marR="54864" marT="18288" marB="18288" anchor="ctr">
                    <a:solidFill>
                      <a:srgbClr val="FFF3D1"/>
                    </a:solidFill>
                  </a:tcPr>
                </a:tc>
                <a:tc>
                  <a:txBody>
                    <a:bodyPr wrap="square"/>
                    <a:lstStyle/>
                    <a:p>
                      <a:pPr algn="r">
                        <a:spcBef>
                          <a:spcPts val="0"/>
                        </a:spcBef>
                        <a:spcAft>
                          <a:spcPts val="0"/>
                        </a:spcAft>
                      </a:pPr>
                      <a:r>
                        <a:rPr lang="tr-TR" sz="1500" b="0" i="0">
                          <a:solidFill>
                            <a:srgbClr val="262626"/>
                          </a:solidFill>
                          <a:latin typeface="Calibri"/>
                        </a:rPr>
                        <a:t>17.480</a:t>
                      </a:r>
                    </a:p>
                  </a:txBody>
                  <a:tcPr marL="54864" marR="54864" marT="18288" marB="18288" anchor="ctr">
                    <a:solidFill>
                      <a:srgbClr val="FFF3D1"/>
                    </a:solidFill>
                  </a:tcPr>
                </a:tc>
              </a:tr>
              <a:tr h="352044">
                <a:tc>
                  <a:txBody>
                    <a:bodyPr wrap="square"/>
                    <a:lstStyle/>
                    <a:p>
                      <a:pPr algn="l">
                        <a:spcBef>
                          <a:spcPts val="0"/>
                        </a:spcBef>
                        <a:spcAft>
                          <a:spcPts val="0"/>
                        </a:spcAft>
                      </a:pPr>
                      <a:r>
                        <a:rPr lang="tr-TR" sz="1500" b="0" i="0">
                          <a:solidFill>
                            <a:srgbClr val="262626"/>
                          </a:solidFill>
                          <a:latin typeface="Calibri"/>
                        </a:rPr>
                        <a:t>Sel ve Taşkın</a:t>
                      </a:r>
                    </a:p>
                  </a:txBody>
                  <a:tcPr marL="54864" marR="54864" marT="18288" marB="18288" anchor="ctr">
                    <a:solidFill>
                      <a:srgbClr val="EEE8F5"/>
                    </a:solidFill>
                  </a:tcPr>
                </a:tc>
                <a:tc>
                  <a:txBody>
                    <a:bodyPr wrap="square"/>
                    <a:lstStyle/>
                    <a:p>
                      <a:pPr algn="l">
                        <a:spcBef>
                          <a:spcPts val="0"/>
                        </a:spcBef>
                        <a:spcAft>
                          <a:spcPts val="0"/>
                        </a:spcAft>
                      </a:pPr>
                      <a:r>
                        <a:rPr lang="tr-TR" sz="1500" b="0" i="0">
                          <a:solidFill>
                            <a:srgbClr val="262626"/>
                          </a:solidFill>
                          <a:latin typeface="Calibri"/>
                        </a:rPr>
                        <a:t>İstanbul ve Tekirdağ</a:t>
                      </a:r>
                    </a:p>
                  </a:txBody>
                  <a:tcPr marL="54864" marR="54864" marT="18288" marB="18288" anchor="ctr">
                    <a:solidFill>
                      <a:srgbClr val="EEE8F5"/>
                    </a:solidFill>
                  </a:tcPr>
                </a:tc>
                <a:tc>
                  <a:txBody>
                    <a:bodyPr wrap="square"/>
                    <a:lstStyle/>
                    <a:p>
                      <a:pPr algn="l">
                        <a:spcBef>
                          <a:spcPts val="0"/>
                        </a:spcBef>
                        <a:spcAft>
                          <a:spcPts val="0"/>
                        </a:spcAft>
                      </a:pPr>
                      <a:r>
                        <a:rPr lang="tr-TR" sz="1500" b="0" i="0">
                          <a:solidFill>
                            <a:srgbClr val="262626"/>
                          </a:solidFill>
                          <a:latin typeface="Calibri"/>
                        </a:rPr>
                        <a:t>9 Eylül 2009</a:t>
                      </a:r>
                    </a:p>
                  </a:txBody>
                  <a:tcPr marL="54864" marR="54864" marT="18288" marB="18288" anchor="ctr">
                    <a:solidFill>
                      <a:srgbClr val="EEE8F5"/>
                    </a:solidFill>
                  </a:tcPr>
                </a:tc>
                <a:tc>
                  <a:txBody>
                    <a:bodyPr wrap="square"/>
                    <a:lstStyle/>
                    <a:p>
                      <a:pPr algn="r">
                        <a:spcBef>
                          <a:spcPts val="0"/>
                        </a:spcBef>
                        <a:spcAft>
                          <a:spcPts val="0"/>
                        </a:spcAft>
                      </a:pPr>
                      <a:r>
                        <a:rPr lang="tr-TR" sz="1500" b="0" i="0">
                          <a:solidFill>
                            <a:srgbClr val="262626"/>
                          </a:solidFill>
                          <a:latin typeface="Calibri"/>
                        </a:rPr>
                        <a:t>31</a:t>
                      </a:r>
                    </a:p>
                  </a:txBody>
                  <a:tcPr marL="54864" marR="54864" marT="18288" marB="18288" anchor="ctr">
                    <a:solidFill>
                      <a:srgbClr val="EEE8F5"/>
                    </a:solidFill>
                  </a:tcPr>
                </a:tc>
              </a:tr>
              <a:tr h="352044">
                <a:tc>
                  <a:txBody>
                    <a:bodyPr wrap="square"/>
                    <a:lstStyle/>
                    <a:p>
                      <a:pPr algn="l">
                        <a:spcBef>
                          <a:spcPts val="0"/>
                        </a:spcBef>
                        <a:spcAft>
                          <a:spcPts val="0"/>
                        </a:spcAft>
                      </a:pPr>
                      <a:r>
                        <a:rPr lang="tr-TR" sz="1500" b="0" i="0">
                          <a:solidFill>
                            <a:srgbClr val="262626"/>
                          </a:solidFill>
                          <a:latin typeface="Calibri"/>
                        </a:rPr>
                        <a:t>Deprem</a:t>
                      </a:r>
                    </a:p>
                  </a:txBody>
                  <a:tcPr marL="54864" marR="54864" marT="18288" marB="18288" anchor="ctr">
                    <a:solidFill>
                      <a:srgbClr val="FFFFFF"/>
                    </a:solidFill>
                  </a:tcPr>
                </a:tc>
                <a:tc>
                  <a:txBody>
                    <a:bodyPr wrap="square"/>
                    <a:lstStyle/>
                    <a:p>
                      <a:pPr algn="l">
                        <a:spcBef>
                          <a:spcPts val="0"/>
                        </a:spcBef>
                        <a:spcAft>
                          <a:spcPts val="0"/>
                        </a:spcAft>
                      </a:pPr>
                      <a:r>
                        <a:rPr lang="tr-TR" sz="1500" b="0" i="0">
                          <a:solidFill>
                            <a:srgbClr val="262626"/>
                          </a:solidFill>
                          <a:latin typeface="Calibri"/>
                        </a:rPr>
                        <a:t>Van (Erciş ve Edremit)</a:t>
                      </a:r>
                    </a:p>
                  </a:txBody>
                  <a:tcPr marL="54864" marR="54864" marT="18288" marB="18288" anchor="ctr">
                    <a:solidFill>
                      <a:srgbClr val="FFFFFF"/>
                    </a:solidFill>
                  </a:tcPr>
                </a:tc>
                <a:tc>
                  <a:txBody>
                    <a:bodyPr wrap="square"/>
                    <a:lstStyle/>
                    <a:p>
                      <a:pPr algn="l">
                        <a:spcBef>
                          <a:spcPts val="0"/>
                        </a:spcBef>
                        <a:spcAft>
                          <a:spcPts val="0"/>
                        </a:spcAft>
                      </a:pPr>
                      <a:r>
                        <a:rPr lang="tr-TR" sz="1500" b="0" i="0">
                          <a:solidFill>
                            <a:srgbClr val="262626"/>
                          </a:solidFill>
                          <a:latin typeface="Calibri"/>
                        </a:rPr>
                        <a:t>23 Ekim 2011</a:t>
                      </a:r>
                    </a:p>
                  </a:txBody>
                  <a:tcPr marL="54864" marR="54864" marT="18288" marB="18288" anchor="ctr">
                    <a:solidFill>
                      <a:srgbClr val="FFFFFF"/>
                    </a:solidFill>
                  </a:tcPr>
                </a:tc>
                <a:tc>
                  <a:txBody>
                    <a:bodyPr wrap="square"/>
                    <a:lstStyle/>
                    <a:p>
                      <a:pPr algn="r">
                        <a:spcBef>
                          <a:spcPts val="0"/>
                        </a:spcBef>
                        <a:spcAft>
                          <a:spcPts val="0"/>
                        </a:spcAft>
                      </a:pPr>
                      <a:r>
                        <a:rPr lang="tr-TR" sz="1500" b="0" i="0">
                          <a:solidFill>
                            <a:srgbClr val="262626"/>
                          </a:solidFill>
                          <a:latin typeface="Calibri"/>
                        </a:rPr>
                        <a:t>644</a:t>
                      </a:r>
                    </a:p>
                  </a:txBody>
                  <a:tcPr marL="54864" marR="54864" marT="18288" marB="18288" anchor="ctr">
                    <a:solidFill>
                      <a:srgbClr val="FFFFFF"/>
                    </a:solidFill>
                  </a:tcPr>
                </a:tc>
              </a:tr>
              <a:tr h="352044">
                <a:tc>
                  <a:txBody>
                    <a:bodyPr wrap="square"/>
                    <a:lstStyle/>
                    <a:p>
                      <a:pPr algn="l">
                        <a:spcBef>
                          <a:spcPts val="0"/>
                        </a:spcBef>
                        <a:spcAft>
                          <a:spcPts val="0"/>
                        </a:spcAft>
                      </a:pPr>
                      <a:r>
                        <a:rPr lang="tr-TR" sz="1500" b="0" i="0">
                          <a:solidFill>
                            <a:srgbClr val="262626"/>
                          </a:solidFill>
                          <a:latin typeface="Calibri"/>
                        </a:rPr>
                        <a:t>Heyelan</a:t>
                      </a:r>
                    </a:p>
                  </a:txBody>
                  <a:tcPr marL="54864" marR="54864" marT="18288" marB="18288" anchor="ctr">
                    <a:solidFill>
                      <a:srgbClr val="EEE8F5"/>
                    </a:solidFill>
                  </a:tcPr>
                </a:tc>
                <a:tc>
                  <a:txBody>
                    <a:bodyPr wrap="square"/>
                    <a:lstStyle/>
                    <a:p>
                      <a:pPr algn="l">
                        <a:spcBef>
                          <a:spcPts val="0"/>
                        </a:spcBef>
                        <a:spcAft>
                          <a:spcPts val="0"/>
                        </a:spcAft>
                      </a:pPr>
                      <a:r>
                        <a:rPr lang="tr-TR" sz="1500" b="0" i="0">
                          <a:solidFill>
                            <a:srgbClr val="262626"/>
                          </a:solidFill>
                          <a:latin typeface="Calibri"/>
                        </a:rPr>
                        <a:t>Siirt (Şirvan)</a:t>
                      </a:r>
                    </a:p>
                  </a:txBody>
                  <a:tcPr marL="54864" marR="54864" marT="18288" marB="18288" anchor="ctr">
                    <a:solidFill>
                      <a:srgbClr val="EEE8F5"/>
                    </a:solidFill>
                  </a:tcPr>
                </a:tc>
                <a:tc>
                  <a:txBody>
                    <a:bodyPr wrap="square"/>
                    <a:lstStyle/>
                    <a:p>
                      <a:pPr algn="l">
                        <a:spcBef>
                          <a:spcPts val="0"/>
                        </a:spcBef>
                        <a:spcAft>
                          <a:spcPts val="0"/>
                        </a:spcAft>
                      </a:pPr>
                      <a:r>
                        <a:rPr lang="tr-TR" sz="1500" b="0" i="0">
                          <a:solidFill>
                            <a:srgbClr val="262626"/>
                          </a:solidFill>
                          <a:latin typeface="Calibri"/>
                        </a:rPr>
                        <a:t>17 Kasım 2016</a:t>
                      </a:r>
                    </a:p>
                  </a:txBody>
                  <a:tcPr marL="54864" marR="54864" marT="18288" marB="18288" anchor="ctr">
                    <a:solidFill>
                      <a:srgbClr val="EEE8F5"/>
                    </a:solidFill>
                  </a:tcPr>
                </a:tc>
                <a:tc>
                  <a:txBody>
                    <a:bodyPr wrap="square"/>
                    <a:lstStyle/>
                    <a:p>
                      <a:pPr algn="r">
                        <a:spcBef>
                          <a:spcPts val="0"/>
                        </a:spcBef>
                        <a:spcAft>
                          <a:spcPts val="0"/>
                        </a:spcAft>
                      </a:pPr>
                      <a:r>
                        <a:rPr lang="tr-TR" sz="1500" b="0" i="0">
                          <a:solidFill>
                            <a:srgbClr val="262626"/>
                          </a:solidFill>
                          <a:latin typeface="Calibri"/>
                        </a:rPr>
                        <a:t>16</a:t>
                      </a:r>
                    </a:p>
                  </a:txBody>
                  <a:tcPr marL="54864" marR="54864" marT="18288" marB="18288" anchor="ctr">
                    <a:solidFill>
                      <a:srgbClr val="EEE8F5"/>
                    </a:solidFill>
                  </a:tcPr>
                </a:tc>
              </a:tr>
              <a:tr h="352044">
                <a:tc>
                  <a:txBody>
                    <a:bodyPr wrap="square"/>
                    <a:lstStyle/>
                    <a:p>
                      <a:pPr algn="l">
                        <a:spcBef>
                          <a:spcPts val="0"/>
                        </a:spcBef>
                        <a:spcAft>
                          <a:spcPts val="0"/>
                        </a:spcAft>
                      </a:pPr>
                      <a:r>
                        <a:rPr lang="tr-TR" sz="1500" b="0" i="0">
                          <a:solidFill>
                            <a:srgbClr val="262626"/>
                          </a:solidFill>
                          <a:latin typeface="Calibri"/>
                        </a:rPr>
                        <a:t>Çığ Düşmesi</a:t>
                      </a:r>
                    </a:p>
                  </a:txBody>
                  <a:tcPr marL="54864" marR="54864" marT="18288" marB="18288" anchor="ctr">
                    <a:solidFill>
                      <a:srgbClr val="FFFFFF"/>
                    </a:solidFill>
                  </a:tcPr>
                </a:tc>
                <a:tc>
                  <a:txBody>
                    <a:bodyPr wrap="square"/>
                    <a:lstStyle/>
                    <a:p>
                      <a:pPr algn="l">
                        <a:spcBef>
                          <a:spcPts val="0"/>
                        </a:spcBef>
                        <a:spcAft>
                          <a:spcPts val="0"/>
                        </a:spcAft>
                      </a:pPr>
                      <a:r>
                        <a:rPr lang="tr-TR" sz="1500" b="0" i="0">
                          <a:solidFill>
                            <a:srgbClr val="262626"/>
                          </a:solidFill>
                          <a:latin typeface="Calibri"/>
                        </a:rPr>
                        <a:t>Bahçesaray (Van)</a:t>
                      </a:r>
                    </a:p>
                  </a:txBody>
                  <a:tcPr marL="54864" marR="54864" marT="18288" marB="18288" anchor="ctr">
                    <a:solidFill>
                      <a:srgbClr val="FFFFFF"/>
                    </a:solidFill>
                  </a:tcPr>
                </a:tc>
                <a:tc>
                  <a:txBody>
                    <a:bodyPr wrap="square"/>
                    <a:lstStyle/>
                    <a:p>
                      <a:pPr algn="l">
                        <a:spcBef>
                          <a:spcPts val="0"/>
                        </a:spcBef>
                        <a:spcAft>
                          <a:spcPts val="0"/>
                        </a:spcAft>
                      </a:pPr>
                      <a:r>
                        <a:rPr lang="tr-TR" sz="1500" b="0" i="0">
                          <a:solidFill>
                            <a:srgbClr val="262626"/>
                          </a:solidFill>
                          <a:latin typeface="Calibri"/>
                        </a:rPr>
                        <a:t>4-5 Şubat 2020</a:t>
                      </a:r>
                    </a:p>
                  </a:txBody>
                  <a:tcPr marL="54864" marR="54864" marT="18288" marB="18288" anchor="ctr">
                    <a:solidFill>
                      <a:srgbClr val="FFFFFF"/>
                    </a:solidFill>
                  </a:tcPr>
                </a:tc>
                <a:tc>
                  <a:txBody>
                    <a:bodyPr wrap="square"/>
                    <a:lstStyle/>
                    <a:p>
                      <a:pPr algn="r">
                        <a:spcBef>
                          <a:spcPts val="0"/>
                        </a:spcBef>
                        <a:spcAft>
                          <a:spcPts val="0"/>
                        </a:spcAft>
                      </a:pPr>
                      <a:r>
                        <a:rPr lang="tr-TR" sz="1500" b="0" i="0">
                          <a:solidFill>
                            <a:srgbClr val="262626"/>
                          </a:solidFill>
                          <a:latin typeface="Calibri"/>
                        </a:rPr>
                        <a:t>42</a:t>
                      </a:r>
                    </a:p>
                  </a:txBody>
                  <a:tcPr marL="54864" marR="54864" marT="18288" marB="18288" anchor="ctr">
                    <a:solidFill>
                      <a:srgbClr val="FFFFFF"/>
                    </a:solidFill>
                  </a:tcPr>
                </a:tc>
              </a:tr>
              <a:tr h="352044">
                <a:tc>
                  <a:txBody>
                    <a:bodyPr wrap="square"/>
                    <a:lstStyle/>
                    <a:p>
                      <a:pPr algn="l">
                        <a:spcBef>
                          <a:spcPts val="0"/>
                        </a:spcBef>
                        <a:spcAft>
                          <a:spcPts val="0"/>
                        </a:spcAft>
                      </a:pPr>
                      <a:r>
                        <a:rPr lang="tr-TR" sz="1500" b="0" i="0">
                          <a:solidFill>
                            <a:srgbClr val="262626"/>
                          </a:solidFill>
                          <a:latin typeface="Calibri"/>
                        </a:rPr>
                        <a:t>Sel ve Taşkın</a:t>
                      </a:r>
                    </a:p>
                  </a:txBody>
                  <a:tcPr marL="54864" marR="54864" marT="18288" marB="18288" anchor="ctr">
                    <a:solidFill>
                      <a:srgbClr val="EEE8F5"/>
                    </a:solidFill>
                  </a:tcPr>
                </a:tc>
                <a:tc>
                  <a:txBody>
                    <a:bodyPr wrap="square"/>
                    <a:lstStyle/>
                    <a:p>
                      <a:pPr algn="l">
                        <a:spcBef>
                          <a:spcPts val="0"/>
                        </a:spcBef>
                        <a:spcAft>
                          <a:spcPts val="0"/>
                        </a:spcAft>
                      </a:pPr>
                      <a:r>
                        <a:rPr lang="tr-TR" sz="1500" b="0" i="0">
                          <a:solidFill>
                            <a:srgbClr val="262626"/>
                          </a:solidFill>
                          <a:latin typeface="Calibri"/>
                        </a:rPr>
                        <a:t>Batı Karadeniz</a:t>
                      </a:r>
                    </a:p>
                  </a:txBody>
                  <a:tcPr marL="54864" marR="54864" marT="18288" marB="18288" anchor="ctr">
                    <a:solidFill>
                      <a:srgbClr val="EEE8F5"/>
                    </a:solidFill>
                  </a:tcPr>
                </a:tc>
                <a:tc>
                  <a:txBody>
                    <a:bodyPr wrap="square"/>
                    <a:lstStyle/>
                    <a:p>
                      <a:pPr algn="l">
                        <a:spcBef>
                          <a:spcPts val="0"/>
                        </a:spcBef>
                        <a:spcAft>
                          <a:spcPts val="0"/>
                        </a:spcAft>
                      </a:pPr>
                      <a:r>
                        <a:rPr lang="tr-TR" sz="1500" b="0" i="0">
                          <a:solidFill>
                            <a:srgbClr val="262626"/>
                          </a:solidFill>
                          <a:latin typeface="Calibri"/>
                        </a:rPr>
                        <a:t>11 Ağustos 2021</a:t>
                      </a:r>
                    </a:p>
                  </a:txBody>
                  <a:tcPr marL="54864" marR="54864" marT="18288" marB="18288" anchor="ctr">
                    <a:solidFill>
                      <a:srgbClr val="EEE8F5"/>
                    </a:solidFill>
                  </a:tcPr>
                </a:tc>
                <a:tc>
                  <a:txBody>
                    <a:bodyPr wrap="square"/>
                    <a:lstStyle/>
                    <a:p>
                      <a:pPr algn="r">
                        <a:spcBef>
                          <a:spcPts val="0"/>
                        </a:spcBef>
                        <a:spcAft>
                          <a:spcPts val="0"/>
                        </a:spcAft>
                      </a:pPr>
                      <a:r>
                        <a:rPr lang="tr-TR" sz="1500" b="0" i="0">
                          <a:solidFill>
                            <a:srgbClr val="262626"/>
                          </a:solidFill>
                          <a:latin typeface="Calibri"/>
                        </a:rPr>
                        <a:t>97</a:t>
                      </a:r>
                    </a:p>
                  </a:txBody>
                  <a:tcPr marL="54864" marR="54864" marT="18288" marB="18288" anchor="ctr">
                    <a:solidFill>
                      <a:srgbClr val="EEE8F5"/>
                    </a:solidFill>
                  </a:tcPr>
                </a:tc>
              </a:tr>
              <a:tr h="352044">
                <a:tc>
                  <a:txBody>
                    <a:bodyPr wrap="square"/>
                    <a:lstStyle/>
                    <a:p>
                      <a:pPr algn="l">
                        <a:spcBef>
                          <a:spcPts val="0"/>
                        </a:spcBef>
                        <a:spcAft>
                          <a:spcPts val="0"/>
                        </a:spcAft>
                      </a:pPr>
                      <a:r>
                        <a:rPr lang="tr-TR" sz="1500" b="0" i="0">
                          <a:solidFill>
                            <a:srgbClr val="262626"/>
                          </a:solidFill>
                          <a:latin typeface="Calibri"/>
                        </a:rPr>
                        <a:t>Salgın Hastalık (COVID-19)</a:t>
                      </a:r>
                    </a:p>
                  </a:txBody>
                  <a:tcPr marL="54864" marR="54864" marT="18288" marB="18288" anchor="ctr">
                    <a:solidFill>
                      <a:srgbClr val="FFF3D1"/>
                    </a:solidFill>
                  </a:tcPr>
                </a:tc>
                <a:tc>
                  <a:txBody>
                    <a:bodyPr wrap="square"/>
                    <a:lstStyle/>
                    <a:p>
                      <a:pPr algn="l">
                        <a:spcBef>
                          <a:spcPts val="0"/>
                        </a:spcBef>
                        <a:spcAft>
                          <a:spcPts val="0"/>
                        </a:spcAft>
                      </a:pPr>
                      <a:r>
                        <a:rPr lang="tr-TR" sz="1500" b="0" i="0">
                          <a:solidFill>
                            <a:srgbClr val="262626"/>
                          </a:solidFill>
                          <a:latin typeface="Calibri"/>
                        </a:rPr>
                        <a:t>Türkiye</a:t>
                      </a:r>
                    </a:p>
                  </a:txBody>
                  <a:tcPr marL="54864" marR="54864" marT="18288" marB="18288" anchor="ctr">
                    <a:solidFill>
                      <a:srgbClr val="FFF3D1"/>
                    </a:solidFill>
                  </a:tcPr>
                </a:tc>
                <a:tc>
                  <a:txBody>
                    <a:bodyPr wrap="square"/>
                    <a:lstStyle/>
                    <a:p>
                      <a:pPr algn="l">
                        <a:spcBef>
                          <a:spcPts val="0"/>
                        </a:spcBef>
                        <a:spcAft>
                          <a:spcPts val="0"/>
                        </a:spcAft>
                      </a:pPr>
                      <a:r>
                        <a:rPr lang="tr-TR" sz="1400" b="0" i="0">
                          <a:solidFill>
                            <a:srgbClr val="262626"/>
                          </a:solidFill>
                          <a:latin typeface="Calibri"/>
                        </a:rPr>
                        <a:t>Mart 2020-Mart 2023</a:t>
                      </a:r>
                    </a:p>
                  </a:txBody>
                  <a:tcPr marL="54864" marR="54864" marT="18288" marB="18288" anchor="ctr">
                    <a:solidFill>
                      <a:srgbClr val="FFF3D1"/>
                    </a:solidFill>
                  </a:tcPr>
                </a:tc>
                <a:tc>
                  <a:txBody>
                    <a:bodyPr wrap="square"/>
                    <a:lstStyle/>
                    <a:p>
                      <a:pPr algn="r">
                        <a:spcBef>
                          <a:spcPts val="0"/>
                        </a:spcBef>
                        <a:spcAft>
                          <a:spcPts val="0"/>
                        </a:spcAft>
                      </a:pPr>
                      <a:r>
                        <a:rPr lang="tr-TR" sz="1500" b="0" i="0">
                          <a:solidFill>
                            <a:srgbClr val="262626"/>
                          </a:solidFill>
                          <a:latin typeface="Calibri"/>
                        </a:rPr>
                        <a:t>102.174</a:t>
                      </a:r>
                    </a:p>
                  </a:txBody>
                  <a:tcPr marL="54864" marR="54864" marT="18288" marB="18288" anchor="ctr">
                    <a:solidFill>
                      <a:srgbClr val="FFF3D1"/>
                    </a:solidFill>
                  </a:tcPr>
                </a:tc>
              </a:tr>
              <a:tr h="352044">
                <a:tc>
                  <a:txBody>
                    <a:bodyPr wrap="square"/>
                    <a:lstStyle/>
                    <a:p>
                      <a:pPr algn="l">
                        <a:spcBef>
                          <a:spcPts val="0"/>
                        </a:spcBef>
                        <a:spcAft>
                          <a:spcPts val="0"/>
                        </a:spcAft>
                      </a:pPr>
                      <a:r>
                        <a:rPr lang="tr-TR" sz="1500" b="0" i="0">
                          <a:solidFill>
                            <a:srgbClr val="262626"/>
                          </a:solidFill>
                          <a:latin typeface="Calibri"/>
                        </a:rPr>
                        <a:t>Deprem</a:t>
                      </a:r>
                    </a:p>
                  </a:txBody>
                  <a:tcPr marL="54864" marR="54864" marT="18288" marB="18288" anchor="ctr">
                    <a:solidFill>
                      <a:srgbClr val="FFF3D1"/>
                    </a:solidFill>
                  </a:tcPr>
                </a:tc>
                <a:tc>
                  <a:txBody>
                    <a:bodyPr wrap="square"/>
                    <a:lstStyle/>
                    <a:p>
                      <a:pPr algn="l">
                        <a:spcBef>
                          <a:spcPts val="0"/>
                        </a:spcBef>
                        <a:spcAft>
                          <a:spcPts val="0"/>
                        </a:spcAft>
                      </a:pPr>
                      <a:r>
                        <a:rPr lang="tr-TR" sz="1350" b="0" i="0">
                          <a:solidFill>
                            <a:srgbClr val="262626"/>
                          </a:solidFill>
                          <a:latin typeface="Calibri"/>
                        </a:rPr>
                        <a:t>Kahramanmaraş (Pazarcık-Elbistan)</a:t>
                      </a:r>
                    </a:p>
                  </a:txBody>
                  <a:tcPr marL="54864" marR="54864" marT="18288" marB="18288" anchor="ctr">
                    <a:solidFill>
                      <a:srgbClr val="FFF3D1"/>
                    </a:solidFill>
                  </a:tcPr>
                </a:tc>
                <a:tc>
                  <a:txBody>
                    <a:bodyPr wrap="square"/>
                    <a:lstStyle/>
                    <a:p>
                      <a:pPr algn="l">
                        <a:spcBef>
                          <a:spcPts val="0"/>
                        </a:spcBef>
                        <a:spcAft>
                          <a:spcPts val="0"/>
                        </a:spcAft>
                      </a:pPr>
                      <a:r>
                        <a:rPr lang="tr-TR" sz="1500" b="0" i="0">
                          <a:solidFill>
                            <a:srgbClr val="262626"/>
                          </a:solidFill>
                          <a:latin typeface="Calibri"/>
                        </a:rPr>
                        <a:t>6 Şubat 2023</a:t>
                      </a:r>
                    </a:p>
                  </a:txBody>
                  <a:tcPr marL="54864" marR="54864" marT="18288" marB="18288" anchor="ctr">
                    <a:solidFill>
                      <a:srgbClr val="FFF3D1"/>
                    </a:solidFill>
                  </a:tcPr>
                </a:tc>
                <a:tc>
                  <a:txBody>
                    <a:bodyPr wrap="square"/>
                    <a:lstStyle/>
                    <a:p>
                      <a:pPr algn="r">
                        <a:spcBef>
                          <a:spcPts val="0"/>
                        </a:spcBef>
                        <a:spcAft>
                          <a:spcPts val="0"/>
                        </a:spcAft>
                      </a:pPr>
                      <a:r>
                        <a:rPr lang="tr-TR" sz="1500" b="0" i="0">
                          <a:solidFill>
                            <a:srgbClr val="262626"/>
                          </a:solidFill>
                          <a:latin typeface="Calibri"/>
                        </a:rPr>
                        <a:t>53.537</a:t>
                      </a:r>
                    </a:p>
                  </a:txBody>
                  <a:tcPr marL="54864" marR="54864" marT="18288" marB="18288" anchor="ctr">
                    <a:solidFill>
                      <a:srgbClr val="FFF3D1"/>
                    </a:solidFill>
                  </a:tcPr>
                </a:tc>
              </a:tr>
            </a:tbl>
          </a:graphicData>
        </a:graphic>
      </p:graphicFrame>
      <p:sp>
        <p:nvSpPr>
          <p:cNvPr id="8" name="Rounded Rectangle 7"/>
          <p:cNvSpPr/>
          <p:nvPr/>
        </p:nvSpPr>
        <p:spPr>
          <a:xfrm>
            <a:off x="8275320" y="1216152"/>
            <a:ext cx="3413455" cy="2057400"/>
          </a:xfrm>
          <a:prstGeom prst="roundRect">
            <a:avLst>
              <a:gd name="adj" fmla="val 6000"/>
            </a:avLst>
          </a:prstGeom>
          <a:solidFill>
            <a:srgbClr val="E3F1E4"/>
          </a:solidFill>
          <a:ln>
            <a:noFill/>
          </a:ln>
          <a:effectLst/>
        </p:spPr>
        <p:txBody>
          <a:bodyPr rtlCol="0" anchor="ctr"/>
          <a:lstStyle/>
          <a:p/>
        </p:txBody>
      </p:sp>
      <p:sp>
        <p:nvSpPr>
          <p:cNvPr id="9" name="Rectangle 8"/>
          <p:cNvSpPr/>
          <p:nvPr/>
        </p:nvSpPr>
        <p:spPr>
          <a:xfrm>
            <a:off x="8275320" y="1216152"/>
            <a:ext cx="109728" cy="2057400"/>
          </a:xfrm>
          <a:prstGeom prst="rect">
            <a:avLst/>
          </a:prstGeom>
          <a:solidFill>
            <a:srgbClr val="2E7D32"/>
          </a:solidFill>
          <a:ln>
            <a:noFill/>
          </a:ln>
          <a:effectLst/>
        </p:spPr>
        <p:txBody>
          <a:bodyPr rtlCol="0" anchor="ctr"/>
          <a:lstStyle/>
          <a:p/>
        </p:txBody>
      </p:sp>
      <p:sp>
        <p:nvSpPr>
          <p:cNvPr id="10" name="TextBox 9"/>
          <p:cNvSpPr txBox="1"/>
          <p:nvPr/>
        </p:nvSpPr>
        <p:spPr>
          <a:xfrm>
            <a:off x="8503920" y="1271016"/>
            <a:ext cx="3093415" cy="1947672"/>
          </a:xfrm>
          <a:prstGeom prst="rect">
            <a:avLst/>
          </a:prstGeom>
          <a:noFill/>
        </p:spPr>
        <p:txBody>
          <a:bodyPr wrap="square" anchor="ctr" lIns="73152" rIns="73152" tIns="36576" bIns="36576">
            <a:noAutofit/>
          </a:bodyPr>
          <a:lstStyle/>
          <a:p>
            <a:pPr algn="l">
              <a:spcBef>
                <a:spcPts val="0"/>
              </a:spcBef>
              <a:spcAft>
                <a:spcPts val="400"/>
              </a:spcAft>
            </a:pPr>
            <a:r>
              <a:rPr lang="tr-TR" sz="1800" b="1" i="0">
                <a:solidFill>
                  <a:srgbClr val="2E7D32"/>
                </a:solidFill>
                <a:latin typeface="Calibri"/>
              </a:rPr>
              <a:t>1. En çok can kaybı</a:t>
            </a:r>
          </a:p>
          <a:p>
            <a:pPr algn="l" marL="223758" indent="-223758">
              <a:spcBef>
                <a:spcPts val="0"/>
              </a:spcBef>
              <a:spcAft>
                <a:spcPts val="500"/>
              </a:spcAft>
            </a:pPr>
            <a:r>
              <a:rPr lang="tr-TR" sz="1800" b="1" i="0">
                <a:solidFill>
                  <a:srgbClr val="2C6696"/>
                </a:solidFill>
                <a:latin typeface="Calibri"/>
              </a:rPr>
              <a:t>•  </a:t>
            </a:r>
            <a:r>
              <a:rPr lang="tr-TR" sz="1800" b="0" i="0">
                <a:solidFill>
                  <a:srgbClr val="262626"/>
                </a:solidFill>
                <a:latin typeface="Calibri"/>
              </a:rPr>
              <a:t>Salgın hastalık (COVID-19): 102.174</a:t>
            </a:r>
          </a:p>
          <a:p>
            <a:pPr algn="l" marL="223758" indent="-223758">
              <a:spcBef>
                <a:spcPts val="0"/>
              </a:spcBef>
              <a:spcAft>
                <a:spcPts val="0"/>
              </a:spcAft>
            </a:pPr>
            <a:r>
              <a:rPr lang="tr-TR" sz="1800" b="1" i="0">
                <a:solidFill>
                  <a:srgbClr val="2C6696"/>
                </a:solidFill>
                <a:latin typeface="Calibri"/>
              </a:rPr>
              <a:t>•  </a:t>
            </a:r>
            <a:r>
              <a:rPr lang="tr-TR" sz="1800" b="0" i="0">
                <a:solidFill>
                  <a:srgbClr val="262626"/>
                </a:solidFill>
                <a:latin typeface="Calibri"/>
              </a:rPr>
              <a:t>Depremler (beş deprem): 72.408</a:t>
            </a:r>
          </a:p>
        </p:txBody>
      </p:sp>
      <p:sp>
        <p:nvSpPr>
          <p:cNvPr id="11" name="Rounded Rectangle 10"/>
          <p:cNvSpPr/>
          <p:nvPr/>
        </p:nvSpPr>
        <p:spPr>
          <a:xfrm>
            <a:off x="8275320" y="3410712"/>
            <a:ext cx="3413455" cy="2834640"/>
          </a:xfrm>
          <a:prstGeom prst="roundRect">
            <a:avLst>
              <a:gd name="adj" fmla="val 6000"/>
            </a:avLst>
          </a:prstGeom>
          <a:solidFill>
            <a:srgbClr val="E3F1E4"/>
          </a:solidFill>
          <a:ln>
            <a:noFill/>
          </a:ln>
          <a:effectLst/>
        </p:spPr>
        <p:txBody>
          <a:bodyPr rtlCol="0" anchor="ctr"/>
          <a:lstStyle/>
          <a:p/>
        </p:txBody>
      </p:sp>
      <p:sp>
        <p:nvSpPr>
          <p:cNvPr id="12" name="Rectangle 11"/>
          <p:cNvSpPr/>
          <p:nvPr/>
        </p:nvSpPr>
        <p:spPr>
          <a:xfrm>
            <a:off x="8275320" y="3410712"/>
            <a:ext cx="109728" cy="2834640"/>
          </a:xfrm>
          <a:prstGeom prst="rect">
            <a:avLst/>
          </a:prstGeom>
          <a:solidFill>
            <a:srgbClr val="2E7D32"/>
          </a:solidFill>
          <a:ln>
            <a:noFill/>
          </a:ln>
          <a:effectLst/>
        </p:spPr>
        <p:txBody>
          <a:bodyPr rtlCol="0" anchor="ctr"/>
          <a:lstStyle/>
          <a:p/>
        </p:txBody>
      </p:sp>
      <p:sp>
        <p:nvSpPr>
          <p:cNvPr id="13" name="TextBox 12"/>
          <p:cNvSpPr txBox="1"/>
          <p:nvPr/>
        </p:nvSpPr>
        <p:spPr>
          <a:xfrm>
            <a:off x="8503920" y="3465576"/>
            <a:ext cx="3093415" cy="2724912"/>
          </a:xfrm>
          <a:prstGeom prst="rect">
            <a:avLst/>
          </a:prstGeom>
          <a:noFill/>
        </p:spPr>
        <p:txBody>
          <a:bodyPr wrap="square" anchor="ctr" lIns="73152" rIns="73152" tIns="36576" bIns="36576">
            <a:noAutofit/>
          </a:bodyPr>
          <a:lstStyle/>
          <a:p>
            <a:pPr algn="l">
              <a:spcBef>
                <a:spcPts val="0"/>
              </a:spcBef>
              <a:spcAft>
                <a:spcPts val="400"/>
              </a:spcAft>
            </a:pPr>
            <a:r>
              <a:rPr lang="tr-TR" sz="1800" b="1" i="0">
                <a:solidFill>
                  <a:srgbClr val="2E7D32"/>
                </a:solidFill>
                <a:latin typeface="Calibri"/>
              </a:rPr>
              <a:t>2. Farkların nedenleri</a:t>
            </a:r>
          </a:p>
          <a:p>
            <a:pPr algn="l" marL="223758" indent="-223758">
              <a:spcBef>
                <a:spcPts val="0"/>
              </a:spcBef>
              <a:spcAft>
                <a:spcPts val="500"/>
              </a:spcAft>
            </a:pPr>
            <a:r>
              <a:rPr lang="tr-TR" sz="1800" b="1" i="0">
                <a:solidFill>
                  <a:srgbClr val="2C6696"/>
                </a:solidFill>
                <a:latin typeface="Calibri"/>
              </a:rPr>
              <a:t>•  </a:t>
            </a:r>
            <a:r>
              <a:rPr lang="tr-TR" sz="1800" b="0" i="0">
                <a:solidFill>
                  <a:srgbClr val="262626"/>
                </a:solidFill>
                <a:latin typeface="Calibri"/>
              </a:rPr>
              <a:t>Afetin büyüklüğü, etki alanı</a:t>
            </a:r>
          </a:p>
          <a:p>
            <a:pPr algn="l" marL="223758" indent="-223758">
              <a:spcBef>
                <a:spcPts val="0"/>
              </a:spcBef>
              <a:spcAft>
                <a:spcPts val="500"/>
              </a:spcAft>
            </a:pPr>
            <a:r>
              <a:rPr lang="tr-TR" sz="1800" b="1" i="0">
                <a:solidFill>
                  <a:srgbClr val="2C6696"/>
                </a:solidFill>
                <a:latin typeface="Calibri"/>
              </a:rPr>
              <a:t>•  </a:t>
            </a:r>
            <a:r>
              <a:rPr lang="tr-TR" sz="1800" b="0" i="0">
                <a:solidFill>
                  <a:srgbClr val="262626"/>
                </a:solidFill>
                <a:latin typeface="Calibri"/>
              </a:rPr>
              <a:t>Nüfus yoğunluğu</a:t>
            </a:r>
          </a:p>
          <a:p>
            <a:pPr algn="l" marL="223758" indent="-223758">
              <a:spcBef>
                <a:spcPts val="0"/>
              </a:spcBef>
              <a:spcAft>
                <a:spcPts val="500"/>
              </a:spcAft>
            </a:pPr>
            <a:r>
              <a:rPr lang="tr-TR" sz="1800" b="1" i="0">
                <a:solidFill>
                  <a:srgbClr val="2C6696"/>
                </a:solidFill>
                <a:latin typeface="Calibri"/>
              </a:rPr>
              <a:t>•  </a:t>
            </a:r>
            <a:r>
              <a:rPr lang="tr-TR" sz="1800" b="0" i="0">
                <a:solidFill>
                  <a:srgbClr val="262626"/>
                </a:solidFill>
                <a:latin typeface="Calibri"/>
              </a:rPr>
              <a:t>Yapıların dayanıklılığı, zemin</a:t>
            </a:r>
          </a:p>
          <a:p>
            <a:pPr algn="l" marL="223758" indent="-223758">
              <a:spcBef>
                <a:spcPts val="0"/>
              </a:spcBef>
              <a:spcAft>
                <a:spcPts val="0"/>
              </a:spcAft>
            </a:pPr>
            <a:r>
              <a:rPr lang="tr-TR" sz="1800" b="1" i="0">
                <a:solidFill>
                  <a:srgbClr val="2C6696"/>
                </a:solidFill>
                <a:latin typeface="Calibri"/>
              </a:rPr>
              <a:t>•  </a:t>
            </a:r>
            <a:r>
              <a:rPr lang="tr-TR" sz="1800" b="0" i="0">
                <a:solidFill>
                  <a:srgbClr val="262626"/>
                </a:solidFill>
                <a:latin typeface="Calibri"/>
              </a:rPr>
              <a:t>Hazırlık, erken uyarı, gelişmişlik</a:t>
            </a:r>
          </a:p>
        </p:txBody>
      </p:sp>
      <p:sp>
        <p:nvSpPr>
          <p:cNvPr id="14" name="TextBox 13"/>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15" name="Rounded Rectangle 14"/>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191, 197</a:t>
            </a:r>
          </a:p>
        </p:txBody>
      </p:sp>
      <p:sp>
        <p:nvSpPr>
          <p:cNvPr id="16" name="TextBox 1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90 / 250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Uzman grupları: dört afet, dört sayfa</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8 GRUP · 6 dk</a:t>
            </a:r>
          </a:p>
        </p:txBody>
      </p:sp>
      <p:sp>
        <p:nvSpPr>
          <p:cNvPr id="6" name="Rounded Rectangle 5"/>
          <p:cNvSpPr/>
          <p:nvPr/>
        </p:nvSpPr>
        <p:spPr>
          <a:xfrm>
            <a:off x="502920" y="1216152"/>
            <a:ext cx="2673019" cy="2514600"/>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216152"/>
            <a:ext cx="2673019" cy="530352"/>
          </a:xfrm>
          <a:prstGeom prst="roundRect">
            <a:avLst>
              <a:gd name="adj" fmla="val 25000"/>
            </a:avLst>
          </a:prstGeom>
          <a:solidFill>
            <a:srgbClr val="6A4C93"/>
          </a:solidFill>
          <a:ln>
            <a:noFill/>
          </a:ln>
          <a:effectLst/>
        </p:spPr>
        <p:txBody>
          <a:bodyPr rtlCol="0" anchor="ctr"/>
          <a:lstStyle/>
          <a:p/>
        </p:txBody>
      </p:sp>
      <p:sp>
        <p:nvSpPr>
          <p:cNvPr id="8" name="Rectangle 7"/>
          <p:cNvSpPr/>
          <p:nvPr/>
        </p:nvSpPr>
        <p:spPr>
          <a:xfrm>
            <a:off x="502920" y="1481328"/>
            <a:ext cx="2673019" cy="265176"/>
          </a:xfrm>
          <a:prstGeom prst="rect">
            <a:avLst/>
          </a:prstGeom>
          <a:solidFill>
            <a:srgbClr val="6A4C93"/>
          </a:solidFill>
          <a:ln>
            <a:noFill/>
          </a:ln>
          <a:effectLst/>
        </p:spPr>
        <p:txBody>
          <a:bodyPr rtlCol="0" anchor="ctr"/>
          <a:lstStyle/>
          <a:p/>
        </p:txBody>
      </p:sp>
      <p:sp>
        <p:nvSpPr>
          <p:cNvPr id="9" name="TextBox 8"/>
          <p:cNvSpPr txBox="1"/>
          <p:nvPr/>
        </p:nvSpPr>
        <p:spPr>
          <a:xfrm>
            <a:off x="594360" y="1216152"/>
            <a:ext cx="2490139" cy="530352"/>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FFFFFF"/>
                </a:solidFill>
                <a:latin typeface="Calibri"/>
              </a:rPr>
              <a:t>1-2. gruplar · s. 198</a:t>
            </a:r>
          </a:p>
        </p:txBody>
      </p:sp>
      <p:sp>
        <p:nvSpPr>
          <p:cNvPr id="10" name="TextBox 9"/>
          <p:cNvSpPr txBox="1"/>
          <p:nvPr/>
        </p:nvSpPr>
        <p:spPr>
          <a:xfrm>
            <a:off x="612648" y="1819656"/>
            <a:ext cx="2453563" cy="1837944"/>
          </a:xfrm>
          <a:prstGeom prst="rect">
            <a:avLst/>
          </a:prstGeom>
          <a:noFill/>
        </p:spPr>
        <p:txBody>
          <a:bodyPr wrap="square" anchor="t" lIns="73152" rIns="73152" tIns="36576" bIns="36576">
            <a:noAutofit/>
          </a:bodyPr>
          <a:lstStyle/>
          <a:p>
            <a:pPr algn="l">
              <a:spcBef>
                <a:spcPts val="0"/>
              </a:spcBef>
              <a:spcAft>
                <a:spcPts val="564"/>
              </a:spcAft>
            </a:pPr>
            <a:r>
              <a:rPr lang="tr-TR" sz="1600" b="1" i="0">
                <a:solidFill>
                  <a:srgbClr val="6A4C93"/>
                </a:solidFill>
                <a:latin typeface="Calibri"/>
              </a:rPr>
              <a:t>Deprem</a:t>
            </a:r>
          </a:p>
          <a:p>
            <a:pPr algn="l" marL="198896" indent="-198896">
              <a:spcBef>
                <a:spcPts val="0"/>
              </a:spcBef>
              <a:spcAft>
                <a:spcPts val="564"/>
              </a:spcAft>
            </a:pPr>
            <a:r>
              <a:rPr lang="tr-TR" sz="1600" b="1" i="0">
                <a:solidFill>
                  <a:srgbClr val="2C6696"/>
                </a:solidFill>
                <a:latin typeface="Calibri"/>
              </a:rPr>
              <a:t>•  </a:t>
            </a:r>
            <a:r>
              <a:rPr lang="tr-TR" sz="1600" b="0" i="0">
                <a:solidFill>
                  <a:srgbClr val="262626"/>
                </a:solidFill>
                <a:latin typeface="Calibri"/>
              </a:rPr>
              <a:t>Akdeniz-Himalaya Deprem Kuşağı</a:t>
            </a:r>
          </a:p>
          <a:p>
            <a:pPr algn="l" marL="198896" indent="-198896">
              <a:spcBef>
                <a:spcPts val="0"/>
              </a:spcBef>
              <a:spcAft>
                <a:spcPts val="564"/>
              </a:spcAft>
            </a:pPr>
            <a:r>
              <a:rPr lang="tr-TR" sz="1600" b="1" i="0">
                <a:solidFill>
                  <a:srgbClr val="2C6696"/>
                </a:solidFill>
                <a:latin typeface="Calibri"/>
              </a:rPr>
              <a:t>•  </a:t>
            </a:r>
            <a:r>
              <a:rPr lang="tr-TR" sz="1600" b="0" i="0">
                <a:solidFill>
                  <a:srgbClr val="262626"/>
                </a:solidFill>
                <a:latin typeface="Calibri"/>
              </a:rPr>
              <a:t>6 Şubat 2023 depremleri</a:t>
            </a:r>
          </a:p>
          <a:p>
            <a:pPr algn="l" marL="198896" indent="-198896">
              <a:spcBef>
                <a:spcPts val="0"/>
              </a:spcBef>
              <a:spcAft>
                <a:spcPts val="0"/>
              </a:spcAft>
            </a:pPr>
            <a:r>
              <a:rPr lang="tr-TR" sz="1600" b="1" i="0">
                <a:solidFill>
                  <a:srgbClr val="2C6696"/>
                </a:solidFill>
                <a:latin typeface="Calibri"/>
              </a:rPr>
              <a:t>•  </a:t>
            </a:r>
            <a:r>
              <a:rPr lang="tr-TR" sz="1600" b="0" i="0">
                <a:solidFill>
                  <a:srgbClr val="262626"/>
                </a:solidFill>
                <a:latin typeface="Calibri"/>
              </a:rPr>
              <a:t>Harita 6.5 · kenar sorusu</a:t>
            </a:r>
          </a:p>
        </p:txBody>
      </p:sp>
      <p:sp>
        <p:nvSpPr>
          <p:cNvPr id="11" name="Rounded Rectangle 10"/>
          <p:cNvSpPr/>
          <p:nvPr/>
        </p:nvSpPr>
        <p:spPr>
          <a:xfrm>
            <a:off x="3340531" y="1216152"/>
            <a:ext cx="2673019" cy="2514600"/>
          </a:xfrm>
          <a:prstGeom prst="roundRect">
            <a:avLst>
              <a:gd name="adj" fmla="val 5000"/>
            </a:avLst>
          </a:prstGeom>
          <a:solidFill>
            <a:srgbClr val="F0F0F0"/>
          </a:solidFill>
          <a:ln>
            <a:noFill/>
          </a:ln>
          <a:effectLst/>
        </p:spPr>
        <p:txBody>
          <a:bodyPr rtlCol="0" anchor="ctr"/>
          <a:lstStyle/>
          <a:p/>
        </p:txBody>
      </p:sp>
      <p:sp>
        <p:nvSpPr>
          <p:cNvPr id="12" name="Rounded Rectangle 11"/>
          <p:cNvSpPr/>
          <p:nvPr/>
        </p:nvSpPr>
        <p:spPr>
          <a:xfrm>
            <a:off x="3340531" y="1216152"/>
            <a:ext cx="2673019" cy="530352"/>
          </a:xfrm>
          <a:prstGeom prst="roundRect">
            <a:avLst>
              <a:gd name="adj" fmla="val 25000"/>
            </a:avLst>
          </a:prstGeom>
          <a:solidFill>
            <a:srgbClr val="4F4F4F"/>
          </a:solidFill>
          <a:ln>
            <a:noFill/>
          </a:ln>
          <a:effectLst/>
        </p:spPr>
        <p:txBody>
          <a:bodyPr rtlCol="0" anchor="ctr"/>
          <a:lstStyle/>
          <a:p/>
        </p:txBody>
      </p:sp>
      <p:sp>
        <p:nvSpPr>
          <p:cNvPr id="13" name="Rectangle 12"/>
          <p:cNvSpPr/>
          <p:nvPr/>
        </p:nvSpPr>
        <p:spPr>
          <a:xfrm>
            <a:off x="3340531" y="1481328"/>
            <a:ext cx="2673019" cy="265176"/>
          </a:xfrm>
          <a:prstGeom prst="rect">
            <a:avLst/>
          </a:prstGeom>
          <a:solidFill>
            <a:srgbClr val="4F4F4F"/>
          </a:solidFill>
          <a:ln>
            <a:noFill/>
          </a:ln>
          <a:effectLst/>
        </p:spPr>
        <p:txBody>
          <a:bodyPr rtlCol="0" anchor="ctr"/>
          <a:lstStyle/>
          <a:p/>
        </p:txBody>
      </p:sp>
      <p:sp>
        <p:nvSpPr>
          <p:cNvPr id="14" name="TextBox 13"/>
          <p:cNvSpPr txBox="1"/>
          <p:nvPr/>
        </p:nvSpPr>
        <p:spPr>
          <a:xfrm>
            <a:off x="3431971" y="1216152"/>
            <a:ext cx="2490139" cy="530352"/>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FFFFFF"/>
                </a:solidFill>
                <a:latin typeface="Calibri"/>
              </a:rPr>
              <a:t>3-4. gruplar · s. 199</a:t>
            </a:r>
          </a:p>
        </p:txBody>
      </p:sp>
      <p:sp>
        <p:nvSpPr>
          <p:cNvPr id="15" name="TextBox 14"/>
          <p:cNvSpPr txBox="1"/>
          <p:nvPr/>
        </p:nvSpPr>
        <p:spPr>
          <a:xfrm>
            <a:off x="3450259" y="1819656"/>
            <a:ext cx="2453563" cy="1837944"/>
          </a:xfrm>
          <a:prstGeom prst="rect">
            <a:avLst/>
          </a:prstGeom>
          <a:noFill/>
        </p:spPr>
        <p:txBody>
          <a:bodyPr wrap="square" anchor="t" lIns="73152" rIns="73152" tIns="36576" bIns="36576">
            <a:noAutofit/>
          </a:bodyPr>
          <a:lstStyle/>
          <a:p>
            <a:pPr algn="l">
              <a:spcBef>
                <a:spcPts val="0"/>
              </a:spcBef>
              <a:spcAft>
                <a:spcPts val="600"/>
              </a:spcAft>
            </a:pPr>
            <a:r>
              <a:rPr lang="tr-TR" sz="1700" b="1" i="0">
                <a:solidFill>
                  <a:srgbClr val="6A4C93"/>
                </a:solidFill>
                <a:latin typeface="Calibri"/>
              </a:rPr>
              <a:t>Sel ve taşkın</a:t>
            </a:r>
          </a:p>
          <a:p>
            <a:pPr algn="l" marL="211327" indent="-211327">
              <a:spcBef>
                <a:spcPts val="0"/>
              </a:spcBef>
              <a:spcAft>
                <a:spcPts val="600"/>
              </a:spcAft>
            </a:pPr>
            <a:r>
              <a:rPr lang="tr-TR" sz="1700" b="1" i="0">
                <a:solidFill>
                  <a:srgbClr val="2C6696"/>
                </a:solidFill>
                <a:latin typeface="Calibri"/>
              </a:rPr>
              <a:t>•  </a:t>
            </a:r>
            <a:r>
              <a:rPr lang="tr-TR" sz="1700" b="0" i="0">
                <a:solidFill>
                  <a:srgbClr val="262626"/>
                </a:solidFill>
                <a:latin typeface="Calibri"/>
              </a:rPr>
              <a:t>Dereli taşkını (2020)</a:t>
            </a:r>
          </a:p>
          <a:p>
            <a:pPr algn="l" marL="211327" indent="-211327">
              <a:spcBef>
                <a:spcPts val="0"/>
              </a:spcBef>
              <a:spcAft>
                <a:spcPts val="600"/>
              </a:spcAft>
            </a:pPr>
            <a:r>
              <a:rPr lang="tr-TR" sz="1700" b="1" i="0">
                <a:solidFill>
                  <a:srgbClr val="2C6696"/>
                </a:solidFill>
                <a:latin typeface="Calibri"/>
              </a:rPr>
              <a:t>•  </a:t>
            </a:r>
            <a:r>
              <a:rPr lang="tr-TR" sz="1700" b="0" i="0">
                <a:solidFill>
                  <a:srgbClr val="262626"/>
                </a:solidFill>
                <a:latin typeface="Calibri"/>
              </a:rPr>
              <a:t>Harita 6.6</a:t>
            </a:r>
          </a:p>
          <a:p>
            <a:pPr algn="l" marL="211327" indent="-211327">
              <a:spcBef>
                <a:spcPts val="0"/>
              </a:spcBef>
              <a:spcAft>
                <a:spcPts val="0"/>
              </a:spcAft>
            </a:pPr>
            <a:r>
              <a:rPr lang="tr-TR" sz="1700" b="1" i="0">
                <a:solidFill>
                  <a:srgbClr val="2C6696"/>
                </a:solidFill>
                <a:latin typeface="Calibri"/>
              </a:rPr>
              <a:t>•  </a:t>
            </a:r>
            <a:r>
              <a:rPr lang="tr-TR" sz="1700" b="0" i="0">
                <a:solidFill>
                  <a:srgbClr val="262626"/>
                </a:solidFill>
                <a:latin typeface="Calibri"/>
              </a:rPr>
              <a:t>Kenar sorusu</a:t>
            </a:r>
          </a:p>
        </p:txBody>
      </p:sp>
      <p:sp>
        <p:nvSpPr>
          <p:cNvPr id="16" name="Rounded Rectangle 15"/>
          <p:cNvSpPr/>
          <p:nvPr/>
        </p:nvSpPr>
        <p:spPr>
          <a:xfrm>
            <a:off x="6178142" y="1216152"/>
            <a:ext cx="2673019" cy="2514600"/>
          </a:xfrm>
          <a:prstGeom prst="roundRect">
            <a:avLst>
              <a:gd name="adj" fmla="val 5000"/>
            </a:avLst>
          </a:prstGeom>
          <a:solidFill>
            <a:srgbClr val="F0F0F0"/>
          </a:solidFill>
          <a:ln>
            <a:noFill/>
          </a:ln>
          <a:effectLst/>
        </p:spPr>
        <p:txBody>
          <a:bodyPr rtlCol="0" anchor="ctr"/>
          <a:lstStyle/>
          <a:p/>
        </p:txBody>
      </p:sp>
      <p:sp>
        <p:nvSpPr>
          <p:cNvPr id="17" name="Rounded Rectangle 16"/>
          <p:cNvSpPr/>
          <p:nvPr/>
        </p:nvSpPr>
        <p:spPr>
          <a:xfrm>
            <a:off x="6178142" y="1216152"/>
            <a:ext cx="2673019" cy="530352"/>
          </a:xfrm>
          <a:prstGeom prst="roundRect">
            <a:avLst>
              <a:gd name="adj" fmla="val 25000"/>
            </a:avLst>
          </a:prstGeom>
          <a:solidFill>
            <a:srgbClr val="6A4C93"/>
          </a:solidFill>
          <a:ln>
            <a:noFill/>
          </a:ln>
          <a:effectLst/>
        </p:spPr>
        <p:txBody>
          <a:bodyPr rtlCol="0" anchor="ctr"/>
          <a:lstStyle/>
          <a:p/>
        </p:txBody>
      </p:sp>
      <p:sp>
        <p:nvSpPr>
          <p:cNvPr id="18" name="Rectangle 17"/>
          <p:cNvSpPr/>
          <p:nvPr/>
        </p:nvSpPr>
        <p:spPr>
          <a:xfrm>
            <a:off x="6178142" y="1481328"/>
            <a:ext cx="2673019" cy="265176"/>
          </a:xfrm>
          <a:prstGeom prst="rect">
            <a:avLst/>
          </a:prstGeom>
          <a:solidFill>
            <a:srgbClr val="6A4C93"/>
          </a:solidFill>
          <a:ln>
            <a:noFill/>
          </a:ln>
          <a:effectLst/>
        </p:spPr>
        <p:txBody>
          <a:bodyPr rtlCol="0" anchor="ctr"/>
          <a:lstStyle/>
          <a:p/>
        </p:txBody>
      </p:sp>
      <p:sp>
        <p:nvSpPr>
          <p:cNvPr id="19" name="TextBox 18"/>
          <p:cNvSpPr txBox="1"/>
          <p:nvPr/>
        </p:nvSpPr>
        <p:spPr>
          <a:xfrm>
            <a:off x="6269582" y="1216152"/>
            <a:ext cx="2490139" cy="530352"/>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FFFFFF"/>
                </a:solidFill>
                <a:latin typeface="Calibri"/>
              </a:rPr>
              <a:t>5-6. gruplar · s. 200</a:t>
            </a:r>
          </a:p>
        </p:txBody>
      </p:sp>
      <p:sp>
        <p:nvSpPr>
          <p:cNvPr id="20" name="TextBox 19"/>
          <p:cNvSpPr txBox="1"/>
          <p:nvPr/>
        </p:nvSpPr>
        <p:spPr>
          <a:xfrm>
            <a:off x="6287870" y="1819656"/>
            <a:ext cx="2453563" cy="1837944"/>
          </a:xfrm>
          <a:prstGeom prst="rect">
            <a:avLst/>
          </a:prstGeom>
          <a:noFill/>
        </p:spPr>
        <p:txBody>
          <a:bodyPr wrap="square" anchor="t" lIns="73152" rIns="73152" tIns="36576" bIns="36576">
            <a:noAutofit/>
          </a:bodyPr>
          <a:lstStyle/>
          <a:p>
            <a:pPr algn="l">
              <a:spcBef>
                <a:spcPts val="0"/>
              </a:spcBef>
              <a:spcAft>
                <a:spcPts val="600"/>
              </a:spcAft>
            </a:pPr>
            <a:r>
              <a:rPr lang="tr-TR" sz="1700" b="1" i="0">
                <a:solidFill>
                  <a:srgbClr val="6A4C93"/>
                </a:solidFill>
                <a:latin typeface="Calibri"/>
              </a:rPr>
              <a:t>Salgın ve erozyon</a:t>
            </a:r>
          </a:p>
          <a:p>
            <a:pPr algn="l" marL="211327" indent="-211327">
              <a:spcBef>
                <a:spcPts val="0"/>
              </a:spcBef>
              <a:spcAft>
                <a:spcPts val="600"/>
              </a:spcAft>
            </a:pPr>
            <a:r>
              <a:rPr lang="tr-TR" sz="1700" b="1" i="0">
                <a:solidFill>
                  <a:srgbClr val="2C6696"/>
                </a:solidFill>
                <a:latin typeface="Calibri"/>
              </a:rPr>
              <a:t>•  </a:t>
            </a:r>
            <a:r>
              <a:rPr lang="tr-TR" sz="1700" b="0" i="0">
                <a:solidFill>
                  <a:srgbClr val="262626"/>
                </a:solidFill>
                <a:latin typeface="Calibri"/>
              </a:rPr>
              <a:t>COVID-19, geçiş güzergâhı</a:t>
            </a:r>
          </a:p>
          <a:p>
            <a:pPr algn="l" marL="211327" indent="-211327">
              <a:spcBef>
                <a:spcPts val="0"/>
              </a:spcBef>
              <a:spcAft>
                <a:spcPts val="600"/>
              </a:spcAft>
            </a:pPr>
            <a:r>
              <a:rPr lang="tr-TR" sz="1700" b="1" i="0">
                <a:solidFill>
                  <a:srgbClr val="2C6696"/>
                </a:solidFill>
                <a:latin typeface="Calibri"/>
              </a:rPr>
              <a:t>•  </a:t>
            </a:r>
            <a:r>
              <a:rPr lang="tr-TR" sz="1700" b="0" i="0">
                <a:solidFill>
                  <a:srgbClr val="262626"/>
                </a:solidFill>
                <a:latin typeface="Calibri"/>
              </a:rPr>
              <a:t>Erozyon, Harita 6.7</a:t>
            </a:r>
          </a:p>
          <a:p>
            <a:pPr algn="l" marL="211327" indent="-211327">
              <a:spcBef>
                <a:spcPts val="0"/>
              </a:spcBef>
              <a:spcAft>
                <a:spcPts val="0"/>
              </a:spcAft>
            </a:pPr>
            <a:r>
              <a:rPr lang="tr-TR" sz="1700" b="1" i="0">
                <a:solidFill>
                  <a:srgbClr val="2C6696"/>
                </a:solidFill>
                <a:latin typeface="Calibri"/>
              </a:rPr>
              <a:t>•  </a:t>
            </a:r>
            <a:r>
              <a:rPr lang="tr-TR" sz="1700" b="0" i="0">
                <a:solidFill>
                  <a:srgbClr val="262626"/>
                </a:solidFill>
                <a:latin typeface="Calibri"/>
              </a:rPr>
              <a:t>İki kenar sorusu</a:t>
            </a:r>
          </a:p>
        </p:txBody>
      </p:sp>
      <p:sp>
        <p:nvSpPr>
          <p:cNvPr id="21" name="Rounded Rectangle 20"/>
          <p:cNvSpPr/>
          <p:nvPr/>
        </p:nvSpPr>
        <p:spPr>
          <a:xfrm>
            <a:off x="9015753" y="1216152"/>
            <a:ext cx="2673019" cy="2514600"/>
          </a:xfrm>
          <a:prstGeom prst="roundRect">
            <a:avLst>
              <a:gd name="adj" fmla="val 5000"/>
            </a:avLst>
          </a:prstGeom>
          <a:solidFill>
            <a:srgbClr val="F0F0F0"/>
          </a:solidFill>
          <a:ln>
            <a:noFill/>
          </a:ln>
          <a:effectLst/>
        </p:spPr>
        <p:txBody>
          <a:bodyPr rtlCol="0" anchor="ctr"/>
          <a:lstStyle/>
          <a:p/>
        </p:txBody>
      </p:sp>
      <p:sp>
        <p:nvSpPr>
          <p:cNvPr id="22" name="Rounded Rectangle 21"/>
          <p:cNvSpPr/>
          <p:nvPr/>
        </p:nvSpPr>
        <p:spPr>
          <a:xfrm>
            <a:off x="9015753" y="1216152"/>
            <a:ext cx="2673019" cy="530352"/>
          </a:xfrm>
          <a:prstGeom prst="roundRect">
            <a:avLst>
              <a:gd name="adj" fmla="val 25000"/>
            </a:avLst>
          </a:prstGeom>
          <a:solidFill>
            <a:srgbClr val="4F4F4F"/>
          </a:solidFill>
          <a:ln>
            <a:noFill/>
          </a:ln>
          <a:effectLst/>
        </p:spPr>
        <p:txBody>
          <a:bodyPr rtlCol="0" anchor="ctr"/>
          <a:lstStyle/>
          <a:p/>
        </p:txBody>
      </p:sp>
      <p:sp>
        <p:nvSpPr>
          <p:cNvPr id="23" name="Rectangle 22"/>
          <p:cNvSpPr/>
          <p:nvPr/>
        </p:nvSpPr>
        <p:spPr>
          <a:xfrm>
            <a:off x="9015753" y="1481328"/>
            <a:ext cx="2673019" cy="265176"/>
          </a:xfrm>
          <a:prstGeom prst="rect">
            <a:avLst/>
          </a:prstGeom>
          <a:solidFill>
            <a:srgbClr val="4F4F4F"/>
          </a:solidFill>
          <a:ln>
            <a:noFill/>
          </a:ln>
          <a:effectLst/>
        </p:spPr>
        <p:txBody>
          <a:bodyPr rtlCol="0" anchor="ctr"/>
          <a:lstStyle/>
          <a:p/>
        </p:txBody>
      </p:sp>
      <p:sp>
        <p:nvSpPr>
          <p:cNvPr id="24" name="TextBox 23"/>
          <p:cNvSpPr txBox="1"/>
          <p:nvPr/>
        </p:nvSpPr>
        <p:spPr>
          <a:xfrm>
            <a:off x="9107193" y="1216152"/>
            <a:ext cx="2490139" cy="530352"/>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FFFFFF"/>
                </a:solidFill>
                <a:latin typeface="Calibri"/>
              </a:rPr>
              <a:t>7-8. gruplar · s. 201</a:t>
            </a:r>
          </a:p>
        </p:txBody>
      </p:sp>
      <p:sp>
        <p:nvSpPr>
          <p:cNvPr id="25" name="TextBox 24"/>
          <p:cNvSpPr txBox="1"/>
          <p:nvPr/>
        </p:nvSpPr>
        <p:spPr>
          <a:xfrm>
            <a:off x="9125481" y="1819656"/>
            <a:ext cx="2453563" cy="1837944"/>
          </a:xfrm>
          <a:prstGeom prst="rect">
            <a:avLst/>
          </a:prstGeom>
          <a:noFill/>
        </p:spPr>
        <p:txBody>
          <a:bodyPr wrap="square" anchor="t" lIns="73152" rIns="73152" tIns="36576" bIns="36576">
            <a:noAutofit/>
          </a:bodyPr>
          <a:lstStyle/>
          <a:p>
            <a:pPr algn="l">
              <a:spcBef>
                <a:spcPts val="0"/>
              </a:spcBef>
              <a:spcAft>
                <a:spcPts val="600"/>
              </a:spcAft>
            </a:pPr>
            <a:r>
              <a:rPr lang="tr-TR" sz="1700" b="1" i="0">
                <a:solidFill>
                  <a:srgbClr val="6A4C93"/>
                </a:solidFill>
                <a:latin typeface="Calibri"/>
              </a:rPr>
              <a:t>Çığ, heyelan, orman yangını</a:t>
            </a:r>
          </a:p>
          <a:p>
            <a:pPr algn="l" marL="211327" indent="-211327">
              <a:spcBef>
                <a:spcPts val="0"/>
              </a:spcBef>
              <a:spcAft>
                <a:spcPts val="600"/>
              </a:spcAft>
            </a:pPr>
            <a:r>
              <a:rPr lang="tr-TR" sz="1700" b="1" i="0">
                <a:solidFill>
                  <a:srgbClr val="2C6696"/>
                </a:solidFill>
                <a:latin typeface="Calibri"/>
              </a:rPr>
              <a:t>•  </a:t>
            </a:r>
            <a:r>
              <a:rPr lang="tr-TR" sz="1700" b="0" i="0">
                <a:solidFill>
                  <a:srgbClr val="262626"/>
                </a:solidFill>
                <a:latin typeface="Calibri"/>
              </a:rPr>
              <a:t>Üç harita</a:t>
            </a:r>
          </a:p>
          <a:p>
            <a:pPr algn="l" marL="211327" indent="-211327">
              <a:spcBef>
                <a:spcPts val="0"/>
              </a:spcBef>
              <a:spcAft>
                <a:spcPts val="0"/>
              </a:spcAft>
            </a:pPr>
            <a:r>
              <a:rPr lang="tr-TR" sz="1700" b="1" i="0">
                <a:solidFill>
                  <a:srgbClr val="2C6696"/>
                </a:solidFill>
                <a:latin typeface="Calibri"/>
              </a:rPr>
              <a:t>•  </a:t>
            </a:r>
            <a:r>
              <a:rPr lang="tr-TR" sz="1700" b="0" i="0">
                <a:solidFill>
                  <a:srgbClr val="262626"/>
                </a:solidFill>
                <a:latin typeface="Calibri"/>
              </a:rPr>
              <a:t>UYGULAMA 1. ve 2. soru</a:t>
            </a:r>
          </a:p>
        </p:txBody>
      </p:sp>
      <p:sp>
        <p:nvSpPr>
          <p:cNvPr id="26" name="TextBox 25"/>
          <p:cNvSpPr txBox="1"/>
          <p:nvPr/>
        </p:nvSpPr>
        <p:spPr>
          <a:xfrm>
            <a:off x="502920" y="3913632"/>
            <a:ext cx="11185855" cy="384048"/>
          </a:xfrm>
          <a:prstGeom prst="rect">
            <a:avLst/>
          </a:prstGeom>
          <a:noFill/>
        </p:spPr>
        <p:txBody>
          <a:bodyPr wrap="square" anchor="t" lIns="73152" rIns="73152" tIns="36576" bIns="36576">
            <a:noAutofit/>
          </a:bodyPr>
          <a:lstStyle/>
          <a:p>
            <a:pPr algn="l">
              <a:spcBef>
                <a:spcPts val="0"/>
              </a:spcBef>
              <a:spcAft>
                <a:spcPts val="0"/>
              </a:spcAft>
            </a:pPr>
            <a:r>
              <a:rPr lang="tr-TR" sz="1800" b="1" i="0">
                <a:solidFill>
                  <a:srgbClr val="6A4C93"/>
                </a:solidFill>
                <a:latin typeface="Calibri"/>
              </a:rPr>
              <a:t>Grubunuzun satırı (defter):</a:t>
            </a:r>
          </a:p>
        </p:txBody>
      </p:sp>
      <p:graphicFrame>
        <p:nvGraphicFramePr>
          <p:cNvPr id="27" name="Table 26"/>
          <p:cNvGraphicFramePr>
            <a:graphicFrameLocks noGrp="1"/>
          </p:cNvGraphicFramePr>
          <p:nvPr/>
        </p:nvGraphicFramePr>
        <p:xfrm>
          <a:off x="502920" y="4352544"/>
          <a:ext cx="11185856" cy="1737360"/>
        </p:xfrm>
        <a:graphic>
          <a:graphicData uri="http://schemas.openxmlformats.org/drawingml/2006/table">
            <a:tbl>
              <a:tblPr firstRow="1" bandRow="1">
                <a:tableStyleId>{5C22544A-7EE6-4342-B048-85BDC9FD1C3A}</a:tableStyleId>
              </a:tblPr>
              <a:tblGrid>
                <a:gridCol w="1828800"/>
                <a:gridCol w="3383280"/>
                <a:gridCol w="2743200"/>
                <a:gridCol w="3230576"/>
              </a:tblGrid>
              <a:tr h="457200">
                <a:tc>
                  <a:txBody>
                    <a:bodyPr wrap="square"/>
                    <a:lstStyle/>
                    <a:p>
                      <a:pPr algn="ctr">
                        <a:spcBef>
                          <a:spcPts val="0"/>
                        </a:spcBef>
                        <a:spcAft>
                          <a:spcPts val="0"/>
                        </a:spcAft>
                      </a:pPr>
                      <a:r>
                        <a:rPr lang="tr-TR" sz="1600" b="1" i="0">
                          <a:solidFill>
                            <a:srgbClr val="FFFFFF"/>
                          </a:solidFill>
                          <a:latin typeface="Calibri"/>
                        </a:rPr>
                        <a:t>Afet</a:t>
                      </a:r>
                    </a:p>
                  </a:txBody>
                  <a:tcPr marL="54864" marR="54864" marT="18288" marB="18288" anchor="ctr">
                    <a:solidFill>
                      <a:srgbClr val="4F4F4F"/>
                    </a:solidFill>
                  </a:tcPr>
                </a:tc>
                <a:tc>
                  <a:txBody>
                    <a:bodyPr wrap="square"/>
                    <a:lstStyle/>
                    <a:p>
                      <a:pPr algn="ctr">
                        <a:spcBef>
                          <a:spcPts val="0"/>
                        </a:spcBef>
                        <a:spcAft>
                          <a:spcPts val="0"/>
                        </a:spcAft>
                      </a:pPr>
                      <a:r>
                        <a:rPr lang="tr-TR" sz="1600" b="1" i="0">
                          <a:solidFill>
                            <a:srgbClr val="FFFFFF"/>
                          </a:solidFill>
                          <a:latin typeface="Calibri"/>
                        </a:rPr>
                        <a:t>Örnek (s. 197: yer, tarih, can kaybı)</a:t>
                      </a:r>
                    </a:p>
                  </a:txBody>
                  <a:tcPr marL="54864" marR="54864" marT="18288" marB="18288" anchor="ctr">
                    <a:solidFill>
                      <a:srgbClr val="4F4F4F"/>
                    </a:solidFill>
                  </a:tcPr>
                </a:tc>
                <a:tc>
                  <a:txBody>
                    <a:bodyPr wrap="square"/>
                    <a:lstStyle/>
                    <a:p>
                      <a:pPr algn="ctr">
                        <a:spcBef>
                          <a:spcPts val="0"/>
                        </a:spcBef>
                        <a:spcAft>
                          <a:spcPts val="0"/>
                        </a:spcAft>
                      </a:pPr>
                      <a:r>
                        <a:rPr lang="tr-TR" sz="1600" b="1" i="0">
                          <a:solidFill>
                            <a:srgbClr val="FFFFFF"/>
                          </a:solidFill>
                          <a:latin typeface="Calibri"/>
                        </a:rPr>
                        <a:t>Neden</a:t>
                      </a:r>
                    </a:p>
                  </a:txBody>
                  <a:tcPr marL="54864" marR="54864" marT="18288" marB="18288" anchor="ctr">
                    <a:solidFill>
                      <a:srgbClr val="4F4F4F"/>
                    </a:solidFill>
                  </a:tcPr>
                </a:tc>
                <a:tc>
                  <a:txBody>
                    <a:bodyPr wrap="square"/>
                    <a:lstStyle/>
                    <a:p>
                      <a:pPr algn="ctr">
                        <a:spcBef>
                          <a:spcPts val="0"/>
                        </a:spcBef>
                        <a:spcAft>
                          <a:spcPts val="0"/>
                        </a:spcAft>
                      </a:pPr>
                      <a:r>
                        <a:rPr lang="tr-TR" sz="1600" b="1" i="0">
                          <a:solidFill>
                            <a:srgbClr val="FFFFFF"/>
                          </a:solidFill>
                          <a:latin typeface="Calibri"/>
                        </a:rPr>
                        <a:t>En sık görüldüğü yerler</a:t>
                      </a:r>
                    </a:p>
                  </a:txBody>
                  <a:tcPr marL="54864" marR="54864" marT="18288" marB="18288" anchor="ctr">
                    <a:solidFill>
                      <a:srgbClr val="4F4F4F"/>
                    </a:solidFill>
                  </a:tcPr>
                </a:tc>
              </a:tr>
              <a:tr h="1280160">
                <a:tc>
                  <a:txBody>
                    <a:bodyPr wrap="square"/>
                    <a:lstStyle/>
                    <a:p>
                      <a:pPr algn="l">
                        <a:spcBef>
                          <a:spcPts val="0"/>
                        </a:spcBef>
                        <a:spcAft>
                          <a:spcPts val="0"/>
                        </a:spcAft>
                      </a:pPr>
                    </a:p>
                  </a:txBody>
                  <a:tcPr marL="54864" marR="54864" marT="18288" marB="18288" anchor="ctr">
                    <a:solidFill>
                      <a:srgbClr val="F0F0F0"/>
                    </a:solidFill>
                  </a:tcPr>
                </a:tc>
                <a:tc>
                  <a:txBody>
                    <a:bodyPr wrap="square"/>
                    <a:lstStyle/>
                    <a:p>
                      <a:pPr algn="l">
                        <a:spcBef>
                          <a:spcPts val="0"/>
                        </a:spcBef>
                        <a:spcAft>
                          <a:spcPts val="0"/>
                        </a:spcAft>
                      </a:pPr>
                    </a:p>
                  </a:txBody>
                  <a:tcPr marL="54864" marR="54864" marT="18288" marB="18288" anchor="ctr">
                    <a:solidFill>
                      <a:srgbClr val="F0F0F0"/>
                    </a:solidFill>
                  </a:tcPr>
                </a:tc>
                <a:tc>
                  <a:txBody>
                    <a:bodyPr wrap="square"/>
                    <a:lstStyle/>
                    <a:p>
                      <a:pPr algn="l">
                        <a:spcBef>
                          <a:spcPts val="0"/>
                        </a:spcBef>
                        <a:spcAft>
                          <a:spcPts val="0"/>
                        </a:spcAft>
                      </a:pPr>
                    </a:p>
                  </a:txBody>
                  <a:tcPr marL="54864" marR="54864" marT="18288" marB="18288" anchor="ctr">
                    <a:solidFill>
                      <a:srgbClr val="F0F0F0"/>
                    </a:solidFill>
                  </a:tcPr>
                </a:tc>
                <a:tc>
                  <a:txBody>
                    <a:bodyPr wrap="square"/>
                    <a:lstStyle/>
                    <a:p>
                      <a:pPr algn="l">
                        <a:spcBef>
                          <a:spcPts val="0"/>
                        </a:spcBef>
                        <a:spcAft>
                          <a:spcPts val="0"/>
                        </a:spcAft>
                      </a:pPr>
                    </a:p>
                  </a:txBody>
                  <a:tcPr marL="54864" marR="54864" marT="18288" marB="18288" anchor="ctr">
                    <a:solidFill>
                      <a:srgbClr val="F0F0F0"/>
                    </a:solidFill>
                  </a:tcPr>
                </a:tc>
              </a:tr>
            </a:tbl>
          </a:graphicData>
        </a:graphic>
      </p:graphicFrame>
      <p:sp>
        <p:nvSpPr>
          <p:cNvPr id="28" name="TextBox 27"/>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9" name="Rounded Rectangle 28"/>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197-201</a:t>
            </a:r>
          </a:p>
        </p:txBody>
      </p:sp>
      <p:sp>
        <p:nvSpPr>
          <p:cNvPr id="30" name="TextBox 29"/>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91 / 250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1-2. gruplar: Türkiye'de depremler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UZMAN · DEPREM</a:t>
            </a:r>
          </a:p>
        </p:txBody>
      </p:sp>
      <p:sp>
        <p:nvSpPr>
          <p:cNvPr id="6" name="Rounded Rectangle 5"/>
          <p:cNvSpPr/>
          <p:nvPr/>
        </p:nvSpPr>
        <p:spPr>
          <a:xfrm>
            <a:off x="502920" y="1216152"/>
            <a:ext cx="4846320" cy="1608268"/>
          </a:xfrm>
          <a:prstGeom prst="roundRect">
            <a:avLst>
              <a:gd name="adj" fmla="val 8000"/>
            </a:avLst>
          </a:prstGeom>
          <a:solidFill>
            <a:srgbClr val="F0F0F0"/>
          </a:solidFill>
          <a:ln>
            <a:noFill/>
          </a:ln>
          <a:effectLst/>
        </p:spPr>
        <p:txBody>
          <a:bodyPr rtlCol="0" anchor="ctr"/>
          <a:lstStyle/>
          <a:p/>
        </p:txBody>
      </p:sp>
      <p:sp>
        <p:nvSpPr>
          <p:cNvPr id="7" name="Rectangle 6"/>
          <p:cNvSpPr/>
          <p:nvPr/>
        </p:nvSpPr>
        <p:spPr>
          <a:xfrm>
            <a:off x="502920" y="1216152"/>
            <a:ext cx="118872" cy="1608268"/>
          </a:xfrm>
          <a:prstGeom prst="rect">
            <a:avLst/>
          </a:prstGeom>
          <a:solidFill>
            <a:srgbClr val="6A4C93"/>
          </a:solidFill>
          <a:ln>
            <a:noFill/>
          </a:ln>
          <a:effectLst/>
        </p:spPr>
        <p:txBody>
          <a:bodyPr rtlCol="0" anchor="ctr"/>
          <a:lstStyle/>
          <a:p/>
        </p:txBody>
      </p:sp>
      <p:sp>
        <p:nvSpPr>
          <p:cNvPr id="8" name="TextBox 7"/>
          <p:cNvSpPr txBox="1"/>
          <p:nvPr/>
        </p:nvSpPr>
        <p:spPr>
          <a:xfrm>
            <a:off x="777240" y="1216152"/>
            <a:ext cx="4434840" cy="1608268"/>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262626"/>
                </a:solidFill>
                <a:latin typeface="Calibri"/>
              </a:rPr>
              <a:t>Türkiye, Akdeniz-Himalaya Deprem Kuşağı’nda yer aldığından ülkenin hemen her bölgesinde çok sayıda fay hattı oluşmuştur. Bu nedenle aktif fay hatlarının bulunduğu alanlarda depremler meydana gelmektedir.</a:t>
            </a:r>
          </a:p>
        </p:txBody>
      </p:sp>
      <p:sp>
        <p:nvSpPr>
          <p:cNvPr id="9" name="Rounded Rectangle 8"/>
          <p:cNvSpPr/>
          <p:nvPr/>
        </p:nvSpPr>
        <p:spPr>
          <a:xfrm>
            <a:off x="502920" y="2961580"/>
            <a:ext cx="4846320" cy="1748117"/>
          </a:xfrm>
          <a:prstGeom prst="roundRect">
            <a:avLst>
              <a:gd name="adj" fmla="val 8000"/>
            </a:avLst>
          </a:prstGeom>
          <a:solidFill>
            <a:srgbClr val="F0F0F0"/>
          </a:solidFill>
          <a:ln>
            <a:noFill/>
          </a:ln>
          <a:effectLst/>
        </p:spPr>
        <p:txBody>
          <a:bodyPr rtlCol="0" anchor="ctr"/>
          <a:lstStyle/>
          <a:p/>
        </p:txBody>
      </p:sp>
      <p:sp>
        <p:nvSpPr>
          <p:cNvPr id="10" name="Rectangle 9"/>
          <p:cNvSpPr/>
          <p:nvPr/>
        </p:nvSpPr>
        <p:spPr>
          <a:xfrm>
            <a:off x="502920" y="2961580"/>
            <a:ext cx="118872" cy="1748117"/>
          </a:xfrm>
          <a:prstGeom prst="rect">
            <a:avLst/>
          </a:prstGeom>
          <a:solidFill>
            <a:srgbClr val="6A4C93"/>
          </a:solidFill>
          <a:ln>
            <a:noFill/>
          </a:ln>
          <a:effectLst/>
        </p:spPr>
        <p:txBody>
          <a:bodyPr rtlCol="0" anchor="ctr"/>
          <a:lstStyle/>
          <a:p/>
        </p:txBody>
      </p:sp>
      <p:sp>
        <p:nvSpPr>
          <p:cNvPr id="11" name="TextBox 10"/>
          <p:cNvSpPr txBox="1"/>
          <p:nvPr/>
        </p:nvSpPr>
        <p:spPr>
          <a:xfrm>
            <a:off x="777240" y="2961580"/>
            <a:ext cx="4434840" cy="1748117"/>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262626"/>
                </a:solidFill>
                <a:latin typeface="Calibri"/>
              </a:rPr>
              <a:t>Türkiye, 6 Şubat 2023 tarihinde iki büyük deprem haberiyle sarsıldı. AFAD verilerine göre bu depremlerin ilki saat 04.17’de ve 7,7 büyüklüğünde Pazarcık merkezli, ikincisi ise saat 13.24’te ve 7,6 büyüklüğünde Elbistan merkezli meydana geldi.</a:t>
            </a:r>
          </a:p>
        </p:txBody>
      </p:sp>
      <p:sp>
        <p:nvSpPr>
          <p:cNvPr id="12" name="Rounded Rectangle 11"/>
          <p:cNvSpPr/>
          <p:nvPr/>
        </p:nvSpPr>
        <p:spPr>
          <a:xfrm>
            <a:off x="502920" y="4846857"/>
            <a:ext cx="4846320" cy="1398494"/>
          </a:xfrm>
          <a:prstGeom prst="roundRect">
            <a:avLst>
              <a:gd name="adj" fmla="val 8000"/>
            </a:avLst>
          </a:prstGeom>
          <a:solidFill>
            <a:srgbClr val="F0F0F0"/>
          </a:solidFill>
          <a:ln>
            <a:noFill/>
          </a:ln>
          <a:effectLst/>
        </p:spPr>
        <p:txBody>
          <a:bodyPr rtlCol="0" anchor="ctr"/>
          <a:lstStyle/>
          <a:p/>
        </p:txBody>
      </p:sp>
      <p:sp>
        <p:nvSpPr>
          <p:cNvPr id="13" name="Rectangle 12"/>
          <p:cNvSpPr/>
          <p:nvPr/>
        </p:nvSpPr>
        <p:spPr>
          <a:xfrm>
            <a:off x="502920" y="4846857"/>
            <a:ext cx="118872" cy="1398494"/>
          </a:xfrm>
          <a:prstGeom prst="rect">
            <a:avLst/>
          </a:prstGeom>
          <a:solidFill>
            <a:srgbClr val="6A4C93"/>
          </a:solidFill>
          <a:ln>
            <a:noFill/>
          </a:ln>
          <a:effectLst/>
        </p:spPr>
        <p:txBody>
          <a:bodyPr rtlCol="0" anchor="ctr"/>
          <a:lstStyle/>
          <a:p/>
        </p:txBody>
      </p:sp>
      <p:sp>
        <p:nvSpPr>
          <p:cNvPr id="14" name="TextBox 13"/>
          <p:cNvSpPr txBox="1"/>
          <p:nvPr/>
        </p:nvSpPr>
        <p:spPr>
          <a:xfrm>
            <a:off x="777240" y="4846857"/>
            <a:ext cx="4434840" cy="1398494"/>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262626"/>
                </a:solidFill>
                <a:latin typeface="Calibri"/>
              </a:rPr>
              <a:t>Yaşanan afette 53 bini aşkın kişi hayatını kaybetmiş, 100 binden fazla insan yaralanmış, 40 binin üzerinde bina da tamamen yıkılmıştır.</a:t>
            </a:r>
          </a:p>
        </p:txBody>
      </p:sp>
      <p:pic>
        <p:nvPicPr>
          <p:cNvPr id="15" name="Picture 14" descr="h31_h65_s198.jpg"/>
          <p:cNvPicPr>
            <a:picLocks noChangeAspect="1"/>
          </p:cNvPicPr>
          <p:nvPr/>
        </p:nvPicPr>
        <p:blipFill>
          <a:blip r:embed="rId3"/>
          <a:stretch>
            <a:fillRect/>
          </a:stretch>
        </p:blipFill>
        <p:spPr>
          <a:xfrm>
            <a:off x="6056531" y="1216152"/>
            <a:ext cx="5153551" cy="2697480"/>
          </a:xfrm>
          <a:prstGeom prst="rect">
            <a:avLst/>
          </a:prstGeom>
          <a:ln w="9525">
            <a:solidFill>
              <a:srgbClr val="D9D9D9"/>
            </a:solidFill>
          </a:ln>
        </p:spPr>
      </p:pic>
      <p:sp>
        <p:nvSpPr>
          <p:cNvPr id="16" name="TextBox 15"/>
          <p:cNvSpPr txBox="1"/>
          <p:nvPr/>
        </p:nvSpPr>
        <p:spPr>
          <a:xfrm>
            <a:off x="5577840" y="3968496"/>
            <a:ext cx="6110935" cy="274320"/>
          </a:xfrm>
          <a:prstGeom prst="rect">
            <a:avLst/>
          </a:prstGeom>
          <a:noFill/>
        </p:spPr>
        <p:txBody>
          <a:bodyPr wrap="square" anchor="t" lIns="73152" rIns="73152" tIns="36576" bIns="36576">
            <a:noAutofit/>
          </a:bodyPr>
          <a:lstStyle/>
          <a:p>
            <a:pPr algn="ctr">
              <a:spcBef>
                <a:spcPts val="0"/>
              </a:spcBef>
              <a:spcAft>
                <a:spcPts val="0"/>
              </a:spcAft>
            </a:pPr>
            <a:r>
              <a:rPr lang="tr-TR" sz="1200" b="0" i="1">
                <a:solidFill>
                  <a:srgbClr val="767676"/>
                </a:solidFill>
                <a:latin typeface="Calibri"/>
              </a:rPr>
              <a:t>Harita 6.5: son 100 yılda 7 ve üzeri depremler · renk: deprem tehlikesi</a:t>
            </a:r>
          </a:p>
        </p:txBody>
      </p:sp>
      <p:sp>
        <p:nvSpPr>
          <p:cNvPr id="17" name="Rounded Rectangle 16"/>
          <p:cNvSpPr/>
          <p:nvPr/>
        </p:nvSpPr>
        <p:spPr>
          <a:xfrm>
            <a:off x="5577840" y="4261104"/>
            <a:ext cx="6110935" cy="2029968"/>
          </a:xfrm>
          <a:prstGeom prst="roundRect">
            <a:avLst>
              <a:gd name="adj" fmla="val 5000"/>
            </a:avLst>
          </a:prstGeom>
          <a:solidFill>
            <a:srgbClr val="F0F0F0"/>
          </a:solidFill>
          <a:ln>
            <a:noFill/>
          </a:ln>
          <a:effectLst/>
        </p:spPr>
        <p:txBody>
          <a:bodyPr rtlCol="0" anchor="ctr"/>
          <a:lstStyle/>
          <a:p/>
        </p:txBody>
      </p:sp>
      <p:sp>
        <p:nvSpPr>
          <p:cNvPr id="18" name="Rectangle 17"/>
          <p:cNvSpPr/>
          <p:nvPr/>
        </p:nvSpPr>
        <p:spPr>
          <a:xfrm>
            <a:off x="5715000" y="4370832"/>
            <a:ext cx="5836615" cy="54864"/>
          </a:xfrm>
          <a:prstGeom prst="rect">
            <a:avLst/>
          </a:prstGeom>
          <a:solidFill>
            <a:srgbClr val="D3373A"/>
          </a:solidFill>
          <a:ln>
            <a:noFill/>
          </a:ln>
          <a:effectLst/>
        </p:spPr>
        <p:txBody>
          <a:bodyPr rtlCol="0" anchor="ctr"/>
          <a:lstStyle/>
          <a:p/>
        </p:txBody>
      </p:sp>
      <p:sp>
        <p:nvSpPr>
          <p:cNvPr id="19" name="TextBox 18"/>
          <p:cNvSpPr txBox="1"/>
          <p:nvPr/>
        </p:nvSpPr>
        <p:spPr>
          <a:xfrm>
            <a:off x="5715000" y="4462272"/>
            <a:ext cx="5836615" cy="365760"/>
          </a:xfrm>
          <a:prstGeom prst="rect">
            <a:avLst/>
          </a:prstGeom>
          <a:noFill/>
        </p:spPr>
        <p:txBody>
          <a:bodyPr wrap="square" anchor="t" lIns="73152" rIns="73152" tIns="36576" bIns="36576">
            <a:noAutofit/>
          </a:bodyPr>
          <a:lstStyle/>
          <a:p>
            <a:pPr algn="l">
              <a:spcBef>
                <a:spcPts val="0"/>
              </a:spcBef>
              <a:spcAft>
                <a:spcPts val="0"/>
              </a:spcAft>
            </a:pPr>
            <a:r>
              <a:rPr lang="tr-TR" sz="1400" b="1" i="0">
                <a:solidFill>
                  <a:srgbClr val="D3373A"/>
                </a:solidFill>
                <a:latin typeface="Calibri"/>
              </a:rPr>
              <a:t>KENAR SORUSU</a:t>
            </a:r>
          </a:p>
        </p:txBody>
      </p:sp>
      <p:sp>
        <p:nvSpPr>
          <p:cNvPr id="20" name="TextBox 19"/>
          <p:cNvSpPr txBox="1"/>
          <p:nvPr/>
        </p:nvSpPr>
        <p:spPr>
          <a:xfrm>
            <a:off x="5715000" y="4828032"/>
            <a:ext cx="5836615" cy="746760"/>
          </a:xfrm>
          <a:prstGeom prst="rect">
            <a:avLst/>
          </a:prstGeom>
          <a:noFill/>
        </p:spPr>
        <p:txBody>
          <a:bodyPr wrap="square" anchor="t" lIns="73152" rIns="73152" tIns="36576" bIns="36576">
            <a:noAutofit/>
          </a:bodyPr>
          <a:lstStyle/>
          <a:p>
            <a:pPr algn="l">
              <a:spcBef>
                <a:spcPts val="0"/>
              </a:spcBef>
              <a:spcAft>
                <a:spcPts val="0"/>
              </a:spcAft>
            </a:pPr>
            <a:r>
              <a:rPr lang="tr-TR" sz="2000" b="1" i="1">
                <a:solidFill>
                  <a:srgbClr val="262626"/>
                </a:solidFill>
                <a:latin typeface="Calibri"/>
              </a:rPr>
              <a:t>Türkiye’de deprem riskinin en çok ve en az olduğu alanlar nerelerdir?</a:t>
            </a:r>
          </a:p>
        </p:txBody>
      </p:sp>
      <p:sp>
        <p:nvSpPr>
          <p:cNvPr id="21" name="Rounded Rectangle 20"/>
          <p:cNvSpPr/>
          <p:nvPr/>
        </p:nvSpPr>
        <p:spPr>
          <a:xfrm>
            <a:off x="5715000" y="5684520"/>
            <a:ext cx="5836615" cy="469392"/>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22" name="Connector 21"/>
          <p:cNvCxnSpPr/>
          <p:nvPr/>
        </p:nvCxnSpPr>
        <p:spPr>
          <a:xfrm>
            <a:off x="5897880" y="5919216"/>
            <a:ext cx="5470855" cy="0"/>
          </a:xfrm>
          <a:prstGeom prst="line">
            <a:avLst/>
          </a:prstGeom>
          <a:ln w="12700">
            <a:solidFill>
              <a:srgbClr val="D9D9D9"/>
            </a:solidFill>
            <a:prstDash val="dash"/>
          </a:ln>
        </p:spPr>
      </p:cxn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198</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92 / 250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2600" b="1" i="0">
                <a:solidFill>
                  <a:srgbClr val="FFFFFF"/>
                </a:solidFill>
                <a:latin typeface="Calibri"/>
              </a:rPr>
              <a:t>Deprem riskinin en çok ve en az olduğu alanlar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pic>
        <p:nvPicPr>
          <p:cNvPr id="6" name="Picture 5" descr="h31_h65_s198.jpg"/>
          <p:cNvPicPr>
            <a:picLocks noChangeAspect="1"/>
          </p:cNvPicPr>
          <p:nvPr/>
        </p:nvPicPr>
        <p:blipFill>
          <a:blip r:embed="rId3"/>
          <a:stretch>
            <a:fillRect/>
          </a:stretch>
        </p:blipFill>
        <p:spPr>
          <a:xfrm>
            <a:off x="502920" y="1264432"/>
            <a:ext cx="7589520" cy="3972518"/>
          </a:xfrm>
          <a:prstGeom prst="rect">
            <a:avLst/>
          </a:prstGeom>
          <a:ln w="9525">
            <a:solidFill>
              <a:srgbClr val="D9D9D9"/>
            </a:solidFill>
          </a:ln>
        </p:spPr>
      </p:pic>
      <p:sp>
        <p:nvSpPr>
          <p:cNvPr id="7" name="Oval 6"/>
          <p:cNvSpPr/>
          <p:nvPr/>
        </p:nvSpPr>
        <p:spPr>
          <a:xfrm>
            <a:off x="5004723" y="2689593"/>
            <a:ext cx="347472" cy="347472"/>
          </a:xfrm>
          <a:prstGeom prst="ellipse">
            <a:avLst/>
          </a:prstGeom>
          <a:solidFill>
            <a:srgbClr val="D3373A"/>
          </a:solidFill>
          <a:ln w="22225">
            <a:solidFill>
              <a:srgbClr val="FFFFFF"/>
            </a:solidFill>
          </a:ln>
          <a:effectLst/>
        </p:spPr>
        <p:txBody>
          <a:bodyPr rtlCol="0" anchor="ctr" wrap="none" lIns="0" rIns="0" tIns="0" bIns="0">
            <a:noAutofit/>
          </a:bodyPr>
          <a:lstStyle/>
          <a:p>
            <a:pPr algn="ctr">
              <a:spcBef>
                <a:spcPts val="0"/>
              </a:spcBef>
              <a:spcAft>
                <a:spcPts val="0"/>
              </a:spcAft>
            </a:pPr>
            <a:r>
              <a:rPr lang="tr-TR" sz="1313" b="1" i="0">
                <a:solidFill>
                  <a:srgbClr val="FFFFFF"/>
                </a:solidFill>
                <a:latin typeface="Calibri"/>
              </a:rPr>
              <a:t>1</a:t>
            </a:r>
          </a:p>
        </p:txBody>
      </p:sp>
      <p:sp>
        <p:nvSpPr>
          <p:cNvPr id="8" name="Oval 7"/>
          <p:cNvSpPr/>
          <p:nvPr/>
        </p:nvSpPr>
        <p:spPr>
          <a:xfrm>
            <a:off x="5136428" y="3398382"/>
            <a:ext cx="347472" cy="347472"/>
          </a:xfrm>
          <a:prstGeom prst="ellipse">
            <a:avLst/>
          </a:prstGeom>
          <a:solidFill>
            <a:srgbClr val="D3373A"/>
          </a:solidFill>
          <a:ln w="22225">
            <a:solidFill>
              <a:srgbClr val="FFFFFF"/>
            </a:solidFill>
          </a:ln>
          <a:effectLst/>
        </p:spPr>
        <p:txBody>
          <a:bodyPr rtlCol="0" anchor="ctr" wrap="none" lIns="0" rIns="0" tIns="0" bIns="0">
            <a:noAutofit/>
          </a:bodyPr>
          <a:lstStyle/>
          <a:p>
            <a:pPr algn="ctr">
              <a:spcBef>
                <a:spcPts val="0"/>
              </a:spcBef>
              <a:spcAft>
                <a:spcPts val="0"/>
              </a:spcAft>
            </a:pPr>
            <a:r>
              <a:rPr lang="tr-TR" sz="1313" b="1" i="0">
                <a:solidFill>
                  <a:srgbClr val="FFFFFF"/>
                </a:solidFill>
                <a:latin typeface="Calibri"/>
              </a:rPr>
              <a:t>2</a:t>
            </a:r>
          </a:p>
        </p:txBody>
      </p:sp>
      <p:sp>
        <p:nvSpPr>
          <p:cNvPr id="9" name="Oval 8"/>
          <p:cNvSpPr/>
          <p:nvPr/>
        </p:nvSpPr>
        <p:spPr>
          <a:xfrm>
            <a:off x="2041353" y="3464316"/>
            <a:ext cx="347472" cy="347472"/>
          </a:xfrm>
          <a:prstGeom prst="ellipse">
            <a:avLst/>
          </a:prstGeom>
          <a:solidFill>
            <a:srgbClr val="D3373A"/>
          </a:solidFill>
          <a:ln w="22225">
            <a:solidFill>
              <a:srgbClr val="FFFFFF"/>
            </a:solidFill>
          </a:ln>
          <a:effectLst/>
        </p:spPr>
        <p:txBody>
          <a:bodyPr rtlCol="0" anchor="ctr" wrap="none" lIns="0" rIns="0" tIns="0" bIns="0">
            <a:noAutofit/>
          </a:bodyPr>
          <a:lstStyle/>
          <a:p>
            <a:pPr algn="ctr">
              <a:spcBef>
                <a:spcPts val="0"/>
              </a:spcBef>
              <a:spcAft>
                <a:spcPts val="0"/>
              </a:spcAft>
            </a:pPr>
            <a:r>
              <a:rPr lang="tr-TR" sz="1313" b="1" i="0">
                <a:solidFill>
                  <a:srgbClr val="FFFFFF"/>
                </a:solidFill>
                <a:latin typeface="Calibri"/>
              </a:rPr>
              <a:t>3</a:t>
            </a:r>
          </a:p>
        </p:txBody>
      </p:sp>
      <p:sp>
        <p:nvSpPr>
          <p:cNvPr id="10" name="Oval 9"/>
          <p:cNvSpPr/>
          <p:nvPr/>
        </p:nvSpPr>
        <p:spPr>
          <a:xfrm>
            <a:off x="6897987" y="3398382"/>
            <a:ext cx="347472" cy="347472"/>
          </a:xfrm>
          <a:prstGeom prst="ellipse">
            <a:avLst/>
          </a:prstGeom>
          <a:solidFill>
            <a:srgbClr val="D3373A"/>
          </a:solidFill>
          <a:ln w="22225">
            <a:solidFill>
              <a:srgbClr val="FFFFFF"/>
            </a:solidFill>
          </a:ln>
          <a:effectLst/>
        </p:spPr>
        <p:txBody>
          <a:bodyPr rtlCol="0" anchor="ctr" wrap="none" lIns="0" rIns="0" tIns="0" bIns="0">
            <a:noAutofit/>
          </a:bodyPr>
          <a:lstStyle/>
          <a:p>
            <a:pPr algn="ctr">
              <a:spcBef>
                <a:spcPts val="0"/>
              </a:spcBef>
              <a:spcAft>
                <a:spcPts val="0"/>
              </a:spcAft>
            </a:pPr>
            <a:r>
              <a:rPr lang="tr-TR" sz="1313" b="1" i="0">
                <a:solidFill>
                  <a:srgbClr val="FFFFFF"/>
                </a:solidFill>
                <a:latin typeface="Calibri"/>
              </a:rPr>
              <a:t>4</a:t>
            </a:r>
          </a:p>
        </p:txBody>
      </p:sp>
      <p:sp>
        <p:nvSpPr>
          <p:cNvPr id="11" name="Oval 10"/>
          <p:cNvSpPr/>
          <p:nvPr/>
        </p:nvSpPr>
        <p:spPr>
          <a:xfrm>
            <a:off x="3473648" y="3579701"/>
            <a:ext cx="347472" cy="347472"/>
          </a:xfrm>
          <a:prstGeom prst="ellipse">
            <a:avLst/>
          </a:prstGeom>
          <a:solidFill>
            <a:srgbClr val="2C6696"/>
          </a:solidFill>
          <a:ln w="22225">
            <a:solidFill>
              <a:srgbClr val="FFFFFF"/>
            </a:solidFill>
          </a:ln>
          <a:effectLst/>
        </p:spPr>
        <p:txBody>
          <a:bodyPr rtlCol="0" anchor="ctr" wrap="none" lIns="0" rIns="0" tIns="0" bIns="0">
            <a:noAutofit/>
          </a:bodyPr>
          <a:lstStyle/>
          <a:p>
            <a:pPr algn="ctr">
              <a:spcBef>
                <a:spcPts val="0"/>
              </a:spcBef>
              <a:spcAft>
                <a:spcPts val="0"/>
              </a:spcAft>
            </a:pPr>
            <a:r>
              <a:rPr lang="tr-TR" sz="1313" b="1" i="0">
                <a:solidFill>
                  <a:srgbClr val="FFFFFF"/>
                </a:solidFill>
                <a:latin typeface="Calibri"/>
              </a:rPr>
              <a:t>A</a:t>
            </a:r>
          </a:p>
        </p:txBody>
      </p:sp>
      <p:sp>
        <p:nvSpPr>
          <p:cNvPr id="12" name="Oval 11"/>
          <p:cNvSpPr/>
          <p:nvPr/>
        </p:nvSpPr>
        <p:spPr>
          <a:xfrm>
            <a:off x="6083060" y="3779151"/>
            <a:ext cx="347472" cy="347472"/>
          </a:xfrm>
          <a:prstGeom prst="ellipse">
            <a:avLst/>
          </a:prstGeom>
          <a:solidFill>
            <a:srgbClr val="2C6696"/>
          </a:solidFill>
          <a:ln w="22225">
            <a:solidFill>
              <a:srgbClr val="FFFFFF"/>
            </a:solidFill>
          </a:ln>
          <a:effectLst/>
        </p:spPr>
        <p:txBody>
          <a:bodyPr rtlCol="0" anchor="ctr" wrap="none" lIns="0" rIns="0" tIns="0" bIns="0">
            <a:noAutofit/>
          </a:bodyPr>
          <a:lstStyle/>
          <a:p>
            <a:pPr algn="ctr">
              <a:spcBef>
                <a:spcPts val="0"/>
              </a:spcBef>
              <a:spcAft>
                <a:spcPts val="0"/>
              </a:spcAft>
            </a:pPr>
            <a:r>
              <a:rPr lang="tr-TR" sz="1313" b="1" i="0">
                <a:solidFill>
                  <a:srgbClr val="FFFFFF"/>
                </a:solidFill>
                <a:latin typeface="Calibri"/>
              </a:rPr>
              <a:t>B</a:t>
            </a:r>
          </a:p>
        </p:txBody>
      </p:sp>
      <p:sp>
        <p:nvSpPr>
          <p:cNvPr id="13" name="Oval 12"/>
          <p:cNvSpPr/>
          <p:nvPr/>
        </p:nvSpPr>
        <p:spPr>
          <a:xfrm>
            <a:off x="4230954" y="2129155"/>
            <a:ext cx="347472" cy="347472"/>
          </a:xfrm>
          <a:prstGeom prst="ellipse">
            <a:avLst/>
          </a:prstGeom>
          <a:solidFill>
            <a:srgbClr val="2C6696"/>
          </a:solidFill>
          <a:ln w="22225">
            <a:solidFill>
              <a:srgbClr val="FFFFFF"/>
            </a:solidFill>
          </a:ln>
          <a:effectLst/>
        </p:spPr>
        <p:txBody>
          <a:bodyPr rtlCol="0" anchor="ctr" wrap="none" lIns="0" rIns="0" tIns="0" bIns="0">
            <a:noAutofit/>
          </a:bodyPr>
          <a:lstStyle/>
          <a:p>
            <a:pPr algn="ctr">
              <a:spcBef>
                <a:spcPts val="0"/>
              </a:spcBef>
              <a:spcAft>
                <a:spcPts val="0"/>
              </a:spcAft>
            </a:pPr>
            <a:r>
              <a:rPr lang="tr-TR" sz="1313" b="1" i="0">
                <a:solidFill>
                  <a:srgbClr val="FFFFFF"/>
                </a:solidFill>
                <a:latin typeface="Calibri"/>
              </a:rPr>
              <a:t>C</a:t>
            </a:r>
          </a:p>
        </p:txBody>
      </p:sp>
      <p:sp>
        <p:nvSpPr>
          <p:cNvPr id="14" name="Rounded Rectangle 13"/>
          <p:cNvSpPr/>
          <p:nvPr/>
        </p:nvSpPr>
        <p:spPr>
          <a:xfrm>
            <a:off x="502920" y="5298398"/>
            <a:ext cx="7589520" cy="992674"/>
          </a:xfrm>
          <a:prstGeom prst="roundRect">
            <a:avLst>
              <a:gd name="adj" fmla="val 8000"/>
            </a:avLst>
          </a:prstGeom>
          <a:solidFill>
            <a:srgbClr val="F0F0F0"/>
          </a:solidFill>
          <a:ln>
            <a:noFill/>
          </a:ln>
          <a:effectLst/>
        </p:spPr>
        <p:txBody>
          <a:bodyPr rtlCol="0" anchor="ctr"/>
          <a:lstStyle/>
          <a:p/>
        </p:txBody>
      </p:sp>
      <p:sp>
        <p:nvSpPr>
          <p:cNvPr id="15" name="Rectangle 14"/>
          <p:cNvSpPr/>
          <p:nvPr/>
        </p:nvSpPr>
        <p:spPr>
          <a:xfrm>
            <a:off x="502920" y="5298398"/>
            <a:ext cx="118872" cy="992674"/>
          </a:xfrm>
          <a:prstGeom prst="rect">
            <a:avLst/>
          </a:prstGeom>
          <a:solidFill>
            <a:srgbClr val="D3373A"/>
          </a:solidFill>
          <a:ln>
            <a:noFill/>
          </a:ln>
          <a:effectLst/>
        </p:spPr>
        <p:txBody>
          <a:bodyPr rtlCol="0" anchor="ctr"/>
          <a:lstStyle/>
          <a:p/>
        </p:txBody>
      </p:sp>
      <p:sp>
        <p:nvSpPr>
          <p:cNvPr id="16" name="TextBox 15"/>
          <p:cNvSpPr txBox="1"/>
          <p:nvPr/>
        </p:nvSpPr>
        <p:spPr>
          <a:xfrm>
            <a:off x="777240" y="5298398"/>
            <a:ext cx="7178040" cy="992674"/>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262626"/>
                </a:solidFill>
                <a:latin typeface="Calibri"/>
              </a:rPr>
              <a:t>Bu bölgelerde depreme dirençli olmayan yerleşim alanlarının kurulması afet riskini artırmaktadır.</a:t>
            </a:r>
          </a:p>
        </p:txBody>
      </p:sp>
      <p:sp>
        <p:nvSpPr>
          <p:cNvPr id="17" name="Rounded Rectangle 16"/>
          <p:cNvSpPr/>
          <p:nvPr/>
        </p:nvSpPr>
        <p:spPr>
          <a:xfrm>
            <a:off x="8321040" y="1216152"/>
            <a:ext cx="3367735" cy="2697480"/>
          </a:xfrm>
          <a:prstGeom prst="roundRect">
            <a:avLst>
              <a:gd name="adj" fmla="val 8000"/>
            </a:avLst>
          </a:prstGeom>
          <a:solidFill>
            <a:srgbClr val="F9E1E1"/>
          </a:solidFill>
          <a:ln>
            <a:noFill/>
          </a:ln>
          <a:effectLst/>
        </p:spPr>
        <p:txBody>
          <a:bodyPr rtlCol="0" anchor="ctr" wrap="square" lIns="128016" rIns="128016" tIns="73152" bIns="73152">
            <a:noAutofit/>
          </a:bodyPr>
          <a:lstStyle/>
          <a:p>
            <a:pPr algn="l">
              <a:spcBef>
                <a:spcPts val="0"/>
              </a:spcBef>
              <a:spcAft>
                <a:spcPts val="400"/>
              </a:spcAft>
            </a:pPr>
            <a:r>
              <a:rPr lang="tr-TR" sz="1800" b="1" i="0">
                <a:solidFill>
                  <a:srgbClr val="D3373A"/>
                </a:solidFill>
                <a:latin typeface="Calibri"/>
              </a:rPr>
              <a:t>En çok (koyu kırmızı-mor)</a:t>
            </a:r>
          </a:p>
          <a:p>
            <a:pPr algn="l" marL="225818" indent="-225818">
              <a:spcBef>
                <a:spcPts val="0"/>
              </a:spcBef>
              <a:spcAft>
                <a:spcPts val="400"/>
              </a:spcAft>
            </a:pPr>
            <a:r>
              <a:rPr lang="tr-TR" sz="1800" b="1" i="0">
                <a:solidFill>
                  <a:srgbClr val="D3373A"/>
                </a:solidFill>
                <a:latin typeface="Calibri"/>
              </a:rPr>
              <a:t>1  </a:t>
            </a:r>
            <a:r>
              <a:rPr lang="tr-TR" sz="1800" b="0" i="0">
                <a:solidFill>
                  <a:srgbClr val="262626"/>
                </a:solidFill>
                <a:latin typeface="Calibri"/>
              </a:rPr>
              <a:t>Marmara'dan Erzincan'a</a:t>
            </a:r>
          </a:p>
          <a:p>
            <a:pPr algn="l" marL="225818" indent="-225818">
              <a:spcBef>
                <a:spcPts val="0"/>
              </a:spcBef>
              <a:spcAft>
                <a:spcPts val="400"/>
              </a:spcAft>
            </a:pPr>
            <a:r>
              <a:rPr lang="tr-TR" sz="1800" b="1" i="0">
                <a:solidFill>
                  <a:srgbClr val="D3373A"/>
                </a:solidFill>
                <a:latin typeface="Calibri"/>
              </a:rPr>
              <a:t>2  </a:t>
            </a:r>
            <a:r>
              <a:rPr lang="tr-TR" sz="1800" b="0" i="0">
                <a:solidFill>
                  <a:srgbClr val="262626"/>
                </a:solidFill>
                <a:latin typeface="Calibri"/>
              </a:rPr>
              <a:t>Erzincan'dan Hatay'a</a:t>
            </a:r>
          </a:p>
          <a:p>
            <a:pPr algn="l" marL="225818" indent="-225818">
              <a:spcBef>
                <a:spcPts val="0"/>
              </a:spcBef>
              <a:spcAft>
                <a:spcPts val="400"/>
              </a:spcAft>
            </a:pPr>
            <a:r>
              <a:rPr lang="tr-TR" sz="1800" b="1" i="0">
                <a:solidFill>
                  <a:srgbClr val="D3373A"/>
                </a:solidFill>
                <a:latin typeface="Calibri"/>
              </a:rPr>
              <a:t>3  </a:t>
            </a:r>
            <a:r>
              <a:rPr lang="tr-TR" sz="1800" b="0" i="0">
                <a:solidFill>
                  <a:srgbClr val="262626"/>
                </a:solidFill>
                <a:latin typeface="Calibri"/>
              </a:rPr>
              <a:t>Ege'deki fay hatları</a:t>
            </a:r>
          </a:p>
          <a:p>
            <a:pPr algn="l" marL="225818" indent="-225818">
              <a:spcBef>
                <a:spcPts val="0"/>
              </a:spcBef>
              <a:spcAft>
                <a:spcPts val="0"/>
              </a:spcAft>
            </a:pPr>
            <a:r>
              <a:rPr lang="tr-TR" sz="1800" b="1" i="0">
                <a:solidFill>
                  <a:srgbClr val="D3373A"/>
                </a:solidFill>
                <a:latin typeface="Calibri"/>
              </a:rPr>
              <a:t>4  </a:t>
            </a:r>
            <a:r>
              <a:rPr lang="tr-TR" sz="1800" b="0" i="0">
                <a:solidFill>
                  <a:srgbClr val="262626"/>
                </a:solidFill>
                <a:latin typeface="Calibri"/>
              </a:rPr>
              <a:t>Van, Hakkâri çevresi</a:t>
            </a:r>
          </a:p>
        </p:txBody>
      </p:sp>
      <p:sp>
        <p:nvSpPr>
          <p:cNvPr id="18" name="Rounded Rectangle 17"/>
          <p:cNvSpPr/>
          <p:nvPr/>
        </p:nvSpPr>
        <p:spPr>
          <a:xfrm>
            <a:off x="8321040" y="4050792"/>
            <a:ext cx="3367735" cy="2194560"/>
          </a:xfrm>
          <a:prstGeom prst="roundRect">
            <a:avLst>
              <a:gd name="adj" fmla="val 8000"/>
            </a:avLst>
          </a:prstGeom>
          <a:solidFill>
            <a:srgbClr val="E3ECF5"/>
          </a:solidFill>
          <a:ln>
            <a:noFill/>
          </a:ln>
          <a:effectLst/>
        </p:spPr>
        <p:txBody>
          <a:bodyPr rtlCol="0" anchor="ctr" wrap="square" lIns="128016" rIns="128016" tIns="73152" bIns="73152">
            <a:noAutofit/>
          </a:bodyPr>
          <a:lstStyle/>
          <a:p>
            <a:pPr algn="l">
              <a:spcBef>
                <a:spcPts val="0"/>
              </a:spcBef>
              <a:spcAft>
                <a:spcPts val="400"/>
              </a:spcAft>
            </a:pPr>
            <a:r>
              <a:rPr lang="tr-TR" sz="1800" b="1" i="0">
                <a:solidFill>
                  <a:srgbClr val="2C6696"/>
                </a:solidFill>
                <a:latin typeface="Calibri"/>
              </a:rPr>
              <a:t>En az (açık sarı)</a:t>
            </a:r>
          </a:p>
          <a:p>
            <a:pPr algn="l" marL="249143" indent="-249143">
              <a:spcBef>
                <a:spcPts val="0"/>
              </a:spcBef>
              <a:spcAft>
                <a:spcPts val="400"/>
              </a:spcAft>
            </a:pPr>
            <a:r>
              <a:rPr lang="tr-TR" sz="1800" b="1" i="0">
                <a:solidFill>
                  <a:srgbClr val="2C6696"/>
                </a:solidFill>
                <a:latin typeface="Calibri"/>
              </a:rPr>
              <a:t>A  </a:t>
            </a:r>
            <a:r>
              <a:rPr lang="tr-TR" sz="1800" b="0" i="0">
                <a:solidFill>
                  <a:srgbClr val="262626"/>
                </a:solidFill>
                <a:latin typeface="Calibri"/>
              </a:rPr>
              <a:t>İç Anadolu'nun ortası</a:t>
            </a:r>
          </a:p>
          <a:p>
            <a:pPr algn="l" marL="238474" indent="-238474">
              <a:spcBef>
                <a:spcPts val="0"/>
              </a:spcBef>
              <a:spcAft>
                <a:spcPts val="400"/>
              </a:spcAft>
            </a:pPr>
            <a:r>
              <a:rPr lang="tr-TR" sz="1800" b="1" i="0">
                <a:solidFill>
                  <a:srgbClr val="2C6696"/>
                </a:solidFill>
                <a:latin typeface="Calibri"/>
              </a:rPr>
              <a:t>B  </a:t>
            </a:r>
            <a:r>
              <a:rPr lang="tr-TR" sz="1800" b="0" i="0">
                <a:solidFill>
                  <a:srgbClr val="262626"/>
                </a:solidFill>
                <a:latin typeface="Calibri"/>
              </a:rPr>
              <a:t>Güneydoğu'nun güneyi</a:t>
            </a:r>
          </a:p>
          <a:p>
            <a:pPr algn="l" marL="231116" indent="-231116">
              <a:spcBef>
                <a:spcPts val="0"/>
              </a:spcBef>
              <a:spcAft>
                <a:spcPts val="0"/>
              </a:spcAft>
            </a:pPr>
            <a:r>
              <a:rPr lang="tr-TR" sz="1800" b="1" i="0">
                <a:solidFill>
                  <a:srgbClr val="2C6696"/>
                </a:solidFill>
                <a:latin typeface="Calibri"/>
              </a:rPr>
              <a:t>C  </a:t>
            </a:r>
            <a:r>
              <a:rPr lang="tr-TR" sz="1800" b="0" i="0">
                <a:solidFill>
                  <a:srgbClr val="262626"/>
                </a:solidFill>
                <a:latin typeface="Calibri"/>
              </a:rPr>
              <a:t>Karadeniz kıyısının bir bölümü</a:t>
            </a:r>
          </a:p>
        </p:txBody>
      </p:sp>
      <p:sp>
        <p:nvSpPr>
          <p:cNvPr id="19" name="TextBox 1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0" name="Rounded Rectangle 19"/>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190, 198</a:t>
            </a:r>
          </a:p>
        </p:txBody>
      </p:sp>
      <p:sp>
        <p:nvSpPr>
          <p:cNvPr id="21" name="TextBox 20"/>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93 / 250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3-4. gruplar: Türkiye'de sel ve taşkınlar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UZMAN · SEL</a:t>
            </a:r>
          </a:p>
        </p:txBody>
      </p:sp>
      <p:sp>
        <p:nvSpPr>
          <p:cNvPr id="6" name="Rounded Rectangle 5"/>
          <p:cNvSpPr/>
          <p:nvPr/>
        </p:nvSpPr>
        <p:spPr>
          <a:xfrm>
            <a:off x="502920" y="1216152"/>
            <a:ext cx="5029200" cy="1975103"/>
          </a:xfrm>
          <a:prstGeom prst="roundRect">
            <a:avLst>
              <a:gd name="adj" fmla="val 8000"/>
            </a:avLst>
          </a:prstGeom>
          <a:solidFill>
            <a:srgbClr val="F0F0F0"/>
          </a:solidFill>
          <a:ln>
            <a:noFill/>
          </a:ln>
          <a:effectLst/>
        </p:spPr>
        <p:txBody>
          <a:bodyPr rtlCol="0" anchor="ctr"/>
          <a:lstStyle/>
          <a:p/>
        </p:txBody>
      </p:sp>
      <p:sp>
        <p:nvSpPr>
          <p:cNvPr id="7" name="Rectangle 6"/>
          <p:cNvSpPr/>
          <p:nvPr/>
        </p:nvSpPr>
        <p:spPr>
          <a:xfrm>
            <a:off x="502920" y="1216152"/>
            <a:ext cx="118872" cy="1975103"/>
          </a:xfrm>
          <a:prstGeom prst="rect">
            <a:avLst/>
          </a:prstGeom>
          <a:solidFill>
            <a:srgbClr val="6A4C93"/>
          </a:solidFill>
          <a:ln>
            <a:noFill/>
          </a:ln>
          <a:effectLst/>
        </p:spPr>
        <p:txBody>
          <a:bodyPr rtlCol="0" anchor="ctr"/>
          <a:lstStyle/>
          <a:p/>
        </p:txBody>
      </p:sp>
      <p:sp>
        <p:nvSpPr>
          <p:cNvPr id="8" name="TextBox 7"/>
          <p:cNvSpPr txBox="1"/>
          <p:nvPr/>
        </p:nvSpPr>
        <p:spPr>
          <a:xfrm>
            <a:off x="777240" y="1216152"/>
            <a:ext cx="4617720" cy="1975103"/>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262626"/>
                </a:solidFill>
                <a:latin typeface="Calibri"/>
              </a:rPr>
              <a:t>Giresun’un Dereli ilçesinde 22 Ağustos 2020 tarihinde şiddetli yağış nedeniyle taşkın meydana gelmiştir. Afete dönüşen bu olayda bir kişi hayatını kaybetmiş, üç bina yıkılmış, iş yerleri su ve suyun getirdiği malzemelerle dolarak kullanılamaz hâle gelmiştir.</a:t>
            </a:r>
          </a:p>
        </p:txBody>
      </p:sp>
      <p:sp>
        <p:nvSpPr>
          <p:cNvPr id="9" name="Rounded Rectangle 8"/>
          <p:cNvSpPr/>
          <p:nvPr/>
        </p:nvSpPr>
        <p:spPr>
          <a:xfrm>
            <a:off x="502920" y="3328415"/>
            <a:ext cx="5029200" cy="1170431"/>
          </a:xfrm>
          <a:prstGeom prst="roundRect">
            <a:avLst>
              <a:gd name="adj" fmla="val 8000"/>
            </a:avLst>
          </a:prstGeom>
          <a:solidFill>
            <a:srgbClr val="F0F0F0"/>
          </a:solidFill>
          <a:ln>
            <a:noFill/>
          </a:ln>
          <a:effectLst/>
        </p:spPr>
        <p:txBody>
          <a:bodyPr rtlCol="0" anchor="ctr"/>
          <a:lstStyle/>
          <a:p/>
        </p:txBody>
      </p:sp>
      <p:sp>
        <p:nvSpPr>
          <p:cNvPr id="10" name="Rectangle 9"/>
          <p:cNvSpPr/>
          <p:nvPr/>
        </p:nvSpPr>
        <p:spPr>
          <a:xfrm>
            <a:off x="502920" y="3328415"/>
            <a:ext cx="118872" cy="1170431"/>
          </a:xfrm>
          <a:prstGeom prst="rect">
            <a:avLst/>
          </a:prstGeom>
          <a:solidFill>
            <a:srgbClr val="6A4C93"/>
          </a:solidFill>
          <a:ln>
            <a:noFill/>
          </a:ln>
          <a:effectLst/>
        </p:spPr>
        <p:txBody>
          <a:bodyPr rtlCol="0" anchor="ctr"/>
          <a:lstStyle/>
          <a:p/>
        </p:txBody>
      </p:sp>
      <p:sp>
        <p:nvSpPr>
          <p:cNvPr id="11" name="TextBox 10"/>
          <p:cNvSpPr txBox="1"/>
          <p:nvPr/>
        </p:nvSpPr>
        <p:spPr>
          <a:xfrm>
            <a:off x="777240" y="3328415"/>
            <a:ext cx="4617720" cy="1170431"/>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262626"/>
                </a:solidFill>
                <a:latin typeface="Calibri"/>
              </a:rPr>
              <a:t>Meydana gelen taşkında asıl belirleyici faktör, dere yatağının daraltılarak yerleşime açılmasıdır.</a:t>
            </a:r>
          </a:p>
        </p:txBody>
      </p:sp>
      <p:sp>
        <p:nvSpPr>
          <p:cNvPr id="12" name="Rounded Rectangle 11"/>
          <p:cNvSpPr/>
          <p:nvPr/>
        </p:nvSpPr>
        <p:spPr>
          <a:xfrm>
            <a:off x="502920" y="4636006"/>
            <a:ext cx="5029200" cy="1609343"/>
          </a:xfrm>
          <a:prstGeom prst="roundRect">
            <a:avLst>
              <a:gd name="adj" fmla="val 8000"/>
            </a:avLst>
          </a:prstGeom>
          <a:solidFill>
            <a:srgbClr val="F0F0F0"/>
          </a:solidFill>
          <a:ln>
            <a:noFill/>
          </a:ln>
          <a:effectLst/>
        </p:spPr>
        <p:txBody>
          <a:bodyPr rtlCol="0" anchor="ctr"/>
          <a:lstStyle/>
          <a:p/>
        </p:txBody>
      </p:sp>
      <p:sp>
        <p:nvSpPr>
          <p:cNvPr id="13" name="Rectangle 12"/>
          <p:cNvSpPr/>
          <p:nvPr/>
        </p:nvSpPr>
        <p:spPr>
          <a:xfrm>
            <a:off x="502920" y="4636006"/>
            <a:ext cx="118872" cy="1609343"/>
          </a:xfrm>
          <a:prstGeom prst="rect">
            <a:avLst/>
          </a:prstGeom>
          <a:solidFill>
            <a:srgbClr val="6A4C93"/>
          </a:solidFill>
          <a:ln>
            <a:noFill/>
          </a:ln>
          <a:effectLst/>
        </p:spPr>
        <p:txBody>
          <a:bodyPr rtlCol="0" anchor="ctr"/>
          <a:lstStyle/>
          <a:p/>
        </p:txBody>
      </p:sp>
      <p:sp>
        <p:nvSpPr>
          <p:cNvPr id="14" name="TextBox 13"/>
          <p:cNvSpPr txBox="1"/>
          <p:nvPr/>
        </p:nvSpPr>
        <p:spPr>
          <a:xfrm>
            <a:off x="777240" y="4636006"/>
            <a:ext cx="4617720" cy="1609343"/>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262626"/>
                </a:solidFill>
                <a:latin typeface="Calibri"/>
              </a:rPr>
              <a:t>Ayrıca bu taşkında dere üzerinde birbirine çok yakın, kısa ve menfez açıklığı dar olan iki köprünün selle gelen iri bloklar, ağaç kök ve dallarıyla tıkanmasının da etkisi vardır.</a:t>
            </a:r>
          </a:p>
        </p:txBody>
      </p:sp>
      <p:pic>
        <p:nvPicPr>
          <p:cNvPr id="15" name="Picture 14" descr="h31_g65_s199.jpg"/>
          <p:cNvPicPr>
            <a:picLocks noChangeAspect="1"/>
          </p:cNvPicPr>
          <p:nvPr/>
        </p:nvPicPr>
        <p:blipFill>
          <a:blip r:embed="rId3"/>
          <a:stretch>
            <a:fillRect/>
          </a:stretch>
        </p:blipFill>
        <p:spPr>
          <a:xfrm>
            <a:off x="5760720" y="1291265"/>
            <a:ext cx="5928055" cy="2272933"/>
          </a:xfrm>
          <a:prstGeom prst="rect">
            <a:avLst/>
          </a:prstGeom>
          <a:ln w="9525">
            <a:solidFill>
              <a:srgbClr val="D9D9D9"/>
            </a:solidFill>
          </a:ln>
        </p:spPr>
      </p:pic>
      <p:sp>
        <p:nvSpPr>
          <p:cNvPr id="16" name="TextBox 15"/>
          <p:cNvSpPr txBox="1"/>
          <p:nvPr/>
        </p:nvSpPr>
        <p:spPr>
          <a:xfrm>
            <a:off x="5760720" y="3694176"/>
            <a:ext cx="5928055" cy="274320"/>
          </a:xfrm>
          <a:prstGeom prst="rect">
            <a:avLst/>
          </a:prstGeom>
          <a:noFill/>
        </p:spPr>
        <p:txBody>
          <a:bodyPr wrap="square" anchor="t" lIns="73152" rIns="73152" tIns="36576" bIns="36576">
            <a:noAutofit/>
          </a:bodyPr>
          <a:lstStyle/>
          <a:p>
            <a:pPr algn="ctr">
              <a:spcBef>
                <a:spcPts val="0"/>
              </a:spcBef>
              <a:spcAft>
                <a:spcPts val="0"/>
              </a:spcAft>
            </a:pPr>
            <a:r>
              <a:rPr lang="tr-TR" sz="1200" b="0" i="1">
                <a:solidFill>
                  <a:srgbClr val="767676"/>
                </a:solidFill>
                <a:latin typeface="Calibri"/>
              </a:rPr>
              <a:t>Görsel 6.5: sel bölgesinin uydu görüntüsü ve afet sonrası Dereli</a:t>
            </a:r>
          </a:p>
        </p:txBody>
      </p:sp>
      <p:sp>
        <p:nvSpPr>
          <p:cNvPr id="17" name="Rounded Rectangle 16"/>
          <p:cNvSpPr/>
          <p:nvPr/>
        </p:nvSpPr>
        <p:spPr>
          <a:xfrm>
            <a:off x="5760720" y="3986784"/>
            <a:ext cx="5928055" cy="2304288"/>
          </a:xfrm>
          <a:prstGeom prst="roundRect">
            <a:avLst>
              <a:gd name="adj" fmla="val 5000"/>
            </a:avLst>
          </a:prstGeom>
          <a:solidFill>
            <a:srgbClr val="F0F0F0"/>
          </a:solidFill>
          <a:ln>
            <a:noFill/>
          </a:ln>
          <a:effectLst/>
        </p:spPr>
        <p:txBody>
          <a:bodyPr rtlCol="0" anchor="ctr"/>
          <a:lstStyle/>
          <a:p/>
        </p:txBody>
      </p:sp>
      <p:sp>
        <p:nvSpPr>
          <p:cNvPr id="18" name="Rectangle 17"/>
          <p:cNvSpPr/>
          <p:nvPr/>
        </p:nvSpPr>
        <p:spPr>
          <a:xfrm>
            <a:off x="5897880" y="4096512"/>
            <a:ext cx="5653735" cy="54864"/>
          </a:xfrm>
          <a:prstGeom prst="rect">
            <a:avLst/>
          </a:prstGeom>
          <a:solidFill>
            <a:srgbClr val="D3373A"/>
          </a:solidFill>
          <a:ln>
            <a:noFill/>
          </a:ln>
          <a:effectLst/>
        </p:spPr>
        <p:txBody>
          <a:bodyPr rtlCol="0" anchor="ctr"/>
          <a:lstStyle/>
          <a:p/>
        </p:txBody>
      </p:sp>
      <p:sp>
        <p:nvSpPr>
          <p:cNvPr id="19" name="TextBox 18"/>
          <p:cNvSpPr txBox="1"/>
          <p:nvPr/>
        </p:nvSpPr>
        <p:spPr>
          <a:xfrm>
            <a:off x="5897880" y="4187952"/>
            <a:ext cx="5653735" cy="365760"/>
          </a:xfrm>
          <a:prstGeom prst="rect">
            <a:avLst/>
          </a:prstGeom>
          <a:noFill/>
        </p:spPr>
        <p:txBody>
          <a:bodyPr wrap="square" anchor="t" lIns="73152" rIns="73152" tIns="36576" bIns="36576">
            <a:noAutofit/>
          </a:bodyPr>
          <a:lstStyle/>
          <a:p>
            <a:pPr algn="l">
              <a:spcBef>
                <a:spcPts val="0"/>
              </a:spcBef>
              <a:spcAft>
                <a:spcPts val="0"/>
              </a:spcAft>
            </a:pPr>
            <a:r>
              <a:rPr lang="tr-TR" sz="1400" b="1" i="0">
                <a:solidFill>
                  <a:srgbClr val="D3373A"/>
                </a:solidFill>
                <a:latin typeface="Calibri"/>
              </a:rPr>
              <a:t>KENAR SORUSU</a:t>
            </a:r>
          </a:p>
        </p:txBody>
      </p:sp>
      <p:sp>
        <p:nvSpPr>
          <p:cNvPr id="20" name="TextBox 19"/>
          <p:cNvSpPr txBox="1"/>
          <p:nvPr/>
        </p:nvSpPr>
        <p:spPr>
          <a:xfrm>
            <a:off x="5897880" y="4553712"/>
            <a:ext cx="5653735" cy="436880"/>
          </a:xfrm>
          <a:prstGeom prst="rect">
            <a:avLst/>
          </a:prstGeom>
          <a:noFill/>
        </p:spPr>
        <p:txBody>
          <a:bodyPr wrap="square" anchor="t" lIns="73152" rIns="73152" tIns="36576" bIns="36576">
            <a:noAutofit/>
          </a:bodyPr>
          <a:lstStyle/>
          <a:p>
            <a:pPr algn="l">
              <a:spcBef>
                <a:spcPts val="0"/>
              </a:spcBef>
              <a:spcAft>
                <a:spcPts val="0"/>
              </a:spcAft>
            </a:pPr>
            <a:r>
              <a:rPr lang="tr-TR" sz="2000" b="1" i="1">
                <a:solidFill>
                  <a:srgbClr val="262626"/>
                </a:solidFill>
                <a:latin typeface="Calibri"/>
              </a:rPr>
              <a:t>Sel ve taşkın riskini azaltmak için neler yapılabilir?</a:t>
            </a:r>
          </a:p>
        </p:txBody>
      </p:sp>
      <p:sp>
        <p:nvSpPr>
          <p:cNvPr id="21" name="Rounded Rectangle 20"/>
          <p:cNvSpPr/>
          <p:nvPr/>
        </p:nvSpPr>
        <p:spPr>
          <a:xfrm>
            <a:off x="5897880" y="5100320"/>
            <a:ext cx="5653735" cy="1053592"/>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22" name="Connector 21"/>
          <p:cNvCxnSpPr/>
          <p:nvPr/>
        </p:nvCxnSpPr>
        <p:spPr>
          <a:xfrm>
            <a:off x="6080760" y="5451517"/>
            <a:ext cx="5287975" cy="0"/>
          </a:xfrm>
          <a:prstGeom prst="line">
            <a:avLst/>
          </a:prstGeom>
          <a:ln w="12700">
            <a:solidFill>
              <a:srgbClr val="D9D9D9"/>
            </a:solidFill>
            <a:prstDash val="dash"/>
          </a:ln>
        </p:spPr>
      </p:cxnSp>
      <p:cxnSp>
        <p:nvCxnSpPr>
          <p:cNvPr id="23" name="Connector 22"/>
          <p:cNvCxnSpPr/>
          <p:nvPr/>
        </p:nvCxnSpPr>
        <p:spPr>
          <a:xfrm>
            <a:off x="6080760" y="5802714"/>
            <a:ext cx="5287975" cy="0"/>
          </a:xfrm>
          <a:prstGeom prst="line">
            <a:avLst/>
          </a:prstGeom>
          <a:ln w="12700">
            <a:solidFill>
              <a:srgbClr val="D9D9D9"/>
            </a:solidFill>
            <a:prstDash val="dash"/>
          </a:ln>
        </p:spPr>
      </p:cxnSp>
      <p:sp>
        <p:nvSpPr>
          <p:cNvPr id="24" name="TextBox 23"/>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5" name="Rounded Rectangle 24"/>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199</a:t>
            </a:r>
          </a:p>
        </p:txBody>
      </p:sp>
      <p:sp>
        <p:nvSpPr>
          <p:cNvPr id="26" name="TextBox 2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94 / 250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Sel ve taşkın riskini azaltmak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16152"/>
            <a:ext cx="5120640" cy="5029200"/>
          </a:xfrm>
          <a:prstGeom prst="roundRect">
            <a:avLst>
              <a:gd name="adj" fmla="val 6000"/>
            </a:avLst>
          </a:prstGeom>
          <a:solidFill>
            <a:srgbClr val="E3F1E4"/>
          </a:solidFill>
          <a:ln>
            <a:noFill/>
          </a:ln>
          <a:effectLst/>
        </p:spPr>
        <p:txBody>
          <a:bodyPr rtlCol="0" anchor="ctr"/>
          <a:lstStyle/>
          <a:p/>
        </p:txBody>
      </p:sp>
      <p:sp>
        <p:nvSpPr>
          <p:cNvPr id="7" name="Rectangle 6"/>
          <p:cNvSpPr/>
          <p:nvPr/>
        </p:nvSpPr>
        <p:spPr>
          <a:xfrm>
            <a:off x="502920" y="1216152"/>
            <a:ext cx="109728" cy="5029200"/>
          </a:xfrm>
          <a:prstGeom prst="rect">
            <a:avLst/>
          </a:prstGeom>
          <a:solidFill>
            <a:srgbClr val="2E7D32"/>
          </a:solidFill>
          <a:ln>
            <a:noFill/>
          </a:ln>
          <a:effectLst/>
        </p:spPr>
        <p:txBody>
          <a:bodyPr rtlCol="0" anchor="ctr"/>
          <a:lstStyle/>
          <a:p/>
        </p:txBody>
      </p:sp>
      <p:sp>
        <p:nvSpPr>
          <p:cNvPr id="8" name="TextBox 7"/>
          <p:cNvSpPr txBox="1"/>
          <p:nvPr/>
        </p:nvSpPr>
        <p:spPr>
          <a:xfrm>
            <a:off x="731520" y="1271016"/>
            <a:ext cx="4800600" cy="4919472"/>
          </a:xfrm>
          <a:prstGeom prst="rect">
            <a:avLst/>
          </a:prstGeom>
          <a:noFill/>
        </p:spPr>
        <p:txBody>
          <a:bodyPr wrap="square" anchor="ctr" lIns="73152" rIns="73152" tIns="36576" bIns="36576">
            <a:noAutofit/>
          </a:bodyPr>
          <a:lstStyle/>
          <a:p>
            <a:pPr algn="l">
              <a:spcBef>
                <a:spcPts val="0"/>
              </a:spcBef>
              <a:spcAft>
                <a:spcPts val="400"/>
              </a:spcAft>
            </a:pPr>
            <a:r>
              <a:rPr lang="tr-TR" sz="1900" b="1" i="0">
                <a:solidFill>
                  <a:srgbClr val="2E7D32"/>
                </a:solidFill>
                <a:latin typeface="Calibri"/>
              </a:rPr>
              <a:t>Önlemler</a:t>
            </a:r>
          </a:p>
          <a:p>
            <a:pPr algn="l" marL="236189" indent="-236189">
              <a:spcBef>
                <a:spcPts val="0"/>
              </a:spcBef>
              <a:spcAft>
                <a:spcPts val="500"/>
              </a:spcAft>
            </a:pPr>
            <a:r>
              <a:rPr lang="tr-TR" sz="1900" b="1" i="0">
                <a:solidFill>
                  <a:srgbClr val="2C6696"/>
                </a:solidFill>
                <a:latin typeface="Calibri"/>
              </a:rPr>
              <a:t>•  </a:t>
            </a:r>
            <a:r>
              <a:rPr lang="tr-TR" sz="1900" b="0" i="0">
                <a:solidFill>
                  <a:srgbClr val="262626"/>
                </a:solidFill>
                <a:latin typeface="Calibri"/>
              </a:rPr>
              <a:t>Dere yataklarına yerleşmemek, yatakları daraltmamak</a:t>
            </a:r>
          </a:p>
          <a:p>
            <a:pPr algn="l" marL="236189" indent="-236189">
              <a:spcBef>
                <a:spcPts val="0"/>
              </a:spcBef>
              <a:spcAft>
                <a:spcPts val="500"/>
              </a:spcAft>
            </a:pPr>
            <a:r>
              <a:rPr lang="tr-TR" sz="1900" b="1" i="0">
                <a:solidFill>
                  <a:srgbClr val="2C6696"/>
                </a:solidFill>
                <a:latin typeface="Calibri"/>
              </a:rPr>
              <a:t>•  </a:t>
            </a:r>
            <a:r>
              <a:rPr lang="tr-TR" sz="1900" b="0" i="0">
                <a:solidFill>
                  <a:srgbClr val="262626"/>
                </a:solidFill>
                <a:latin typeface="Calibri"/>
              </a:rPr>
              <a:t>Köprü ve menfezleri geniş yapmak, yatakları temiz tutmak</a:t>
            </a:r>
          </a:p>
          <a:p>
            <a:pPr algn="l" marL="236189" indent="-236189">
              <a:spcBef>
                <a:spcPts val="0"/>
              </a:spcBef>
              <a:spcAft>
                <a:spcPts val="500"/>
              </a:spcAft>
            </a:pPr>
            <a:r>
              <a:rPr lang="tr-TR" sz="1900" b="1" i="0">
                <a:solidFill>
                  <a:srgbClr val="2C6696"/>
                </a:solidFill>
                <a:latin typeface="Calibri"/>
              </a:rPr>
              <a:t>•  </a:t>
            </a:r>
            <a:r>
              <a:rPr lang="tr-TR" sz="1900" b="0" i="0">
                <a:solidFill>
                  <a:srgbClr val="262626"/>
                </a:solidFill>
                <a:latin typeface="Calibri"/>
              </a:rPr>
              <a:t>Havzada ağaçlandırma, bitki örtüsünü korumak</a:t>
            </a:r>
          </a:p>
          <a:p>
            <a:pPr algn="l" marL="236189" indent="-236189">
              <a:spcBef>
                <a:spcPts val="0"/>
              </a:spcBef>
              <a:spcAft>
                <a:spcPts val="500"/>
              </a:spcAft>
            </a:pPr>
            <a:r>
              <a:rPr lang="tr-TR" sz="1900" b="1" i="0">
                <a:solidFill>
                  <a:srgbClr val="2C6696"/>
                </a:solidFill>
                <a:latin typeface="Calibri"/>
              </a:rPr>
              <a:t>•  </a:t>
            </a:r>
            <a:r>
              <a:rPr lang="tr-TR" sz="1900" b="0" i="0">
                <a:solidFill>
                  <a:srgbClr val="262626"/>
                </a:solidFill>
                <a:latin typeface="Calibri"/>
              </a:rPr>
              <a:t>Sel ve taşkın risk haritası hazırlanması ve yasal düzenlemelerin yapılması</a:t>
            </a:r>
          </a:p>
          <a:p>
            <a:pPr algn="l" marL="236189" indent="-236189">
              <a:spcBef>
                <a:spcPts val="0"/>
              </a:spcBef>
              <a:spcAft>
                <a:spcPts val="0"/>
              </a:spcAft>
            </a:pPr>
            <a:r>
              <a:rPr lang="tr-TR" sz="1900" b="1" i="0">
                <a:solidFill>
                  <a:srgbClr val="2C6696"/>
                </a:solidFill>
                <a:latin typeface="Calibri"/>
              </a:rPr>
              <a:t>•  </a:t>
            </a:r>
            <a:r>
              <a:rPr lang="tr-TR" sz="1900" b="0" i="0">
                <a:solidFill>
                  <a:srgbClr val="262626"/>
                </a:solidFill>
                <a:latin typeface="Calibri"/>
              </a:rPr>
              <a:t>Halkın sel ve taşkın konusunda eğitilmesi</a:t>
            </a:r>
          </a:p>
        </p:txBody>
      </p:sp>
      <p:pic>
        <p:nvPicPr>
          <p:cNvPr id="9" name="Picture 8" descr="h31_h66_s199.jpg"/>
          <p:cNvPicPr>
            <a:picLocks noChangeAspect="1"/>
          </p:cNvPicPr>
          <p:nvPr/>
        </p:nvPicPr>
        <p:blipFill>
          <a:blip r:embed="rId3"/>
          <a:stretch>
            <a:fillRect/>
          </a:stretch>
        </p:blipFill>
        <p:spPr>
          <a:xfrm>
            <a:off x="5852160" y="1249610"/>
            <a:ext cx="5836615" cy="2904883"/>
          </a:xfrm>
          <a:prstGeom prst="rect">
            <a:avLst/>
          </a:prstGeom>
          <a:ln w="9525">
            <a:solidFill>
              <a:srgbClr val="D9D9D9"/>
            </a:solidFill>
          </a:ln>
        </p:spPr>
      </p:pic>
      <p:sp>
        <p:nvSpPr>
          <p:cNvPr id="10" name="Oval 9"/>
          <p:cNvSpPr/>
          <p:nvPr/>
        </p:nvSpPr>
        <p:spPr>
          <a:xfrm>
            <a:off x="9195774" y="2191278"/>
            <a:ext cx="237744" cy="237744"/>
          </a:xfrm>
          <a:prstGeom prst="ellipse">
            <a:avLst/>
          </a:prstGeom>
          <a:noFill/>
          <a:ln w="31750">
            <a:solidFill>
              <a:srgbClr val="FCC021"/>
            </a:solidFill>
          </a:ln>
          <a:effectLst/>
        </p:spPr>
        <p:txBody>
          <a:bodyPr rtlCol="0" anchor="ctr"/>
          <a:lstStyle/>
          <a:p/>
        </p:txBody>
      </p:sp>
      <p:sp>
        <p:nvSpPr>
          <p:cNvPr id="11" name="Oval 10"/>
          <p:cNvSpPr/>
          <p:nvPr/>
        </p:nvSpPr>
        <p:spPr>
          <a:xfrm>
            <a:off x="8775194" y="2569428"/>
            <a:ext cx="237744" cy="237744"/>
          </a:xfrm>
          <a:prstGeom prst="ellipse">
            <a:avLst/>
          </a:prstGeom>
          <a:noFill/>
          <a:ln w="31750">
            <a:solidFill>
              <a:srgbClr val="FCC021"/>
            </a:solidFill>
          </a:ln>
          <a:effectLst/>
        </p:spPr>
        <p:txBody>
          <a:bodyPr rtlCol="0" anchor="ctr"/>
          <a:lstStyle/>
          <a:p/>
        </p:txBody>
      </p:sp>
      <p:sp>
        <p:nvSpPr>
          <p:cNvPr id="12" name="Oval 11"/>
          <p:cNvSpPr/>
          <p:nvPr/>
        </p:nvSpPr>
        <p:spPr>
          <a:xfrm>
            <a:off x="8709961" y="3030084"/>
            <a:ext cx="237744" cy="237744"/>
          </a:xfrm>
          <a:prstGeom prst="ellipse">
            <a:avLst/>
          </a:prstGeom>
          <a:noFill/>
          <a:ln w="31750">
            <a:solidFill>
              <a:srgbClr val="FCC021"/>
            </a:solidFill>
          </a:ln>
          <a:effectLst/>
        </p:spPr>
        <p:txBody>
          <a:bodyPr rtlCol="0" anchor="ctr"/>
          <a:lstStyle/>
          <a:p/>
        </p:txBody>
      </p:sp>
      <p:sp>
        <p:nvSpPr>
          <p:cNvPr id="13" name="Oval 12"/>
          <p:cNvSpPr/>
          <p:nvPr/>
        </p:nvSpPr>
        <p:spPr>
          <a:xfrm>
            <a:off x="9552837" y="1789063"/>
            <a:ext cx="237744" cy="237744"/>
          </a:xfrm>
          <a:prstGeom prst="ellipse">
            <a:avLst/>
          </a:prstGeom>
          <a:noFill/>
          <a:ln w="31750">
            <a:solidFill>
              <a:srgbClr val="FCC021"/>
            </a:solidFill>
          </a:ln>
          <a:effectLst/>
        </p:spPr>
        <p:txBody>
          <a:bodyPr rtlCol="0" anchor="ctr"/>
          <a:lstStyle/>
          <a:p/>
        </p:txBody>
      </p:sp>
      <p:sp>
        <p:nvSpPr>
          <p:cNvPr id="14" name="Oval 13"/>
          <p:cNvSpPr/>
          <p:nvPr/>
        </p:nvSpPr>
        <p:spPr>
          <a:xfrm>
            <a:off x="10428329" y="1936886"/>
            <a:ext cx="237744" cy="237744"/>
          </a:xfrm>
          <a:prstGeom prst="ellipse">
            <a:avLst/>
          </a:prstGeom>
          <a:noFill/>
          <a:ln w="31750">
            <a:solidFill>
              <a:srgbClr val="FCC021"/>
            </a:solidFill>
          </a:ln>
          <a:effectLst/>
        </p:spPr>
        <p:txBody>
          <a:bodyPr rtlCol="0" anchor="ctr"/>
          <a:lstStyle/>
          <a:p/>
        </p:txBody>
      </p:sp>
      <p:sp>
        <p:nvSpPr>
          <p:cNvPr id="15" name="Oval 14"/>
          <p:cNvSpPr/>
          <p:nvPr/>
        </p:nvSpPr>
        <p:spPr>
          <a:xfrm>
            <a:off x="11092673" y="2471453"/>
            <a:ext cx="237744" cy="237744"/>
          </a:xfrm>
          <a:prstGeom prst="ellipse">
            <a:avLst/>
          </a:prstGeom>
          <a:noFill/>
          <a:ln w="31750">
            <a:solidFill>
              <a:srgbClr val="FCC021"/>
            </a:solidFill>
          </a:ln>
          <a:effectLst/>
        </p:spPr>
        <p:txBody>
          <a:bodyPr rtlCol="0" anchor="ctr"/>
          <a:lstStyle/>
          <a:p/>
        </p:txBody>
      </p:sp>
      <p:sp>
        <p:nvSpPr>
          <p:cNvPr id="16" name="Oval 15"/>
          <p:cNvSpPr/>
          <p:nvPr/>
        </p:nvSpPr>
        <p:spPr>
          <a:xfrm>
            <a:off x="10727027" y="2497236"/>
            <a:ext cx="237744" cy="237744"/>
          </a:xfrm>
          <a:prstGeom prst="ellipse">
            <a:avLst/>
          </a:prstGeom>
          <a:noFill/>
          <a:ln w="31750">
            <a:solidFill>
              <a:srgbClr val="FCC021"/>
            </a:solidFill>
          </a:ln>
          <a:effectLst/>
        </p:spPr>
        <p:txBody>
          <a:bodyPr rtlCol="0" anchor="ctr"/>
          <a:lstStyle/>
          <a:p/>
        </p:txBody>
      </p:sp>
      <p:sp>
        <p:nvSpPr>
          <p:cNvPr id="17" name="TextBox 16"/>
          <p:cNvSpPr txBox="1"/>
          <p:nvPr/>
        </p:nvSpPr>
        <p:spPr>
          <a:xfrm>
            <a:off x="5852160" y="4139323"/>
            <a:ext cx="5836615" cy="292608"/>
          </a:xfrm>
          <a:prstGeom prst="rect">
            <a:avLst/>
          </a:prstGeom>
          <a:noFill/>
        </p:spPr>
        <p:txBody>
          <a:bodyPr wrap="square" anchor="t" lIns="73152" rIns="73152" tIns="36576" bIns="36576">
            <a:noAutofit/>
          </a:bodyPr>
          <a:lstStyle/>
          <a:p>
            <a:pPr algn="ctr">
              <a:spcBef>
                <a:spcPts val="0"/>
              </a:spcBef>
              <a:spcAft>
                <a:spcPts val="0"/>
              </a:spcAft>
            </a:pPr>
            <a:r>
              <a:rPr lang="tr-TR" sz="1200" b="0" i="1">
                <a:solidFill>
                  <a:srgbClr val="767676"/>
                </a:solidFill>
                <a:latin typeface="Calibri"/>
              </a:rPr>
              <a:t>Harita 6.6 · halka: 200 ve üzeri sel-taşkın görülen il</a:t>
            </a:r>
          </a:p>
        </p:txBody>
      </p:sp>
      <p:sp>
        <p:nvSpPr>
          <p:cNvPr id="18" name="Rounded Rectangle 17"/>
          <p:cNvSpPr/>
          <p:nvPr/>
        </p:nvSpPr>
        <p:spPr>
          <a:xfrm>
            <a:off x="5852160" y="4486795"/>
            <a:ext cx="5836615" cy="1804277"/>
          </a:xfrm>
          <a:prstGeom prst="roundRect">
            <a:avLst>
              <a:gd name="adj" fmla="val 8000"/>
            </a:avLst>
          </a:prstGeom>
          <a:solidFill>
            <a:srgbClr val="E3ECF5"/>
          </a:solidFill>
          <a:ln>
            <a:noFill/>
          </a:ln>
          <a:effectLst/>
        </p:spPr>
        <p:txBody>
          <a:bodyPr rtlCol="0" anchor="ctr" wrap="square" lIns="128016" rIns="128016" tIns="73152" bIns="73152">
            <a:noAutofit/>
          </a:bodyPr>
          <a:lstStyle/>
          <a:p>
            <a:pPr algn="l">
              <a:spcBef>
                <a:spcPts val="0"/>
              </a:spcBef>
              <a:spcAft>
                <a:spcPts val="400"/>
              </a:spcAft>
            </a:pPr>
            <a:r>
              <a:rPr lang="tr-TR" sz="1700" b="1" i="0">
                <a:solidFill>
                  <a:srgbClr val="262626"/>
                </a:solidFill>
                <a:latin typeface="Calibri"/>
              </a:rPr>
              <a:t>Haritaya göre 200+: Sivas, Kayseri, Adana, Giresun, Erzurum, Van, Bitlis</a:t>
            </a:r>
          </a:p>
          <a:p>
            <a:pPr algn="l">
              <a:spcBef>
                <a:spcPts val="0"/>
              </a:spcBef>
              <a:spcAft>
                <a:spcPts val="0"/>
              </a:spcAft>
            </a:pPr>
            <a:r>
              <a:rPr lang="tr-TR" sz="1700" b="0" i="0">
                <a:solidFill>
                  <a:srgbClr val="262626"/>
                </a:solidFill>
                <a:latin typeface="Calibri"/>
              </a:rPr>
              <a:t>Kitap: hemen her yerde; akarsu yataklarına yakın yerleşmelerde daha sık.</a:t>
            </a:r>
          </a:p>
        </p:txBody>
      </p:sp>
      <p:sp>
        <p:nvSpPr>
          <p:cNvPr id="19" name="TextBox 1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0" name="Rounded Rectangle 19"/>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199, 208</a:t>
            </a:r>
          </a:p>
        </p:txBody>
      </p:sp>
      <p:sp>
        <p:nvSpPr>
          <p:cNvPr id="21" name="TextBox 20"/>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95 / 250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5-6. gruplar: Türkiye'de salgın hastalıklar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UZMAN · SALGIN</a:t>
            </a:r>
          </a:p>
        </p:txBody>
      </p:sp>
      <p:sp>
        <p:nvSpPr>
          <p:cNvPr id="6" name="Rounded Rectangle 5"/>
          <p:cNvSpPr/>
          <p:nvPr/>
        </p:nvSpPr>
        <p:spPr>
          <a:xfrm>
            <a:off x="502920" y="1216152"/>
            <a:ext cx="5760720" cy="1138492"/>
          </a:xfrm>
          <a:prstGeom prst="roundRect">
            <a:avLst>
              <a:gd name="adj" fmla="val 8000"/>
            </a:avLst>
          </a:prstGeom>
          <a:solidFill>
            <a:srgbClr val="F0F0F0"/>
          </a:solidFill>
          <a:ln>
            <a:noFill/>
          </a:ln>
          <a:effectLst/>
        </p:spPr>
        <p:txBody>
          <a:bodyPr rtlCol="0" anchor="ctr"/>
          <a:lstStyle/>
          <a:p/>
        </p:txBody>
      </p:sp>
      <p:sp>
        <p:nvSpPr>
          <p:cNvPr id="7" name="Rectangle 6"/>
          <p:cNvSpPr/>
          <p:nvPr/>
        </p:nvSpPr>
        <p:spPr>
          <a:xfrm>
            <a:off x="502920" y="1216152"/>
            <a:ext cx="118872" cy="1138492"/>
          </a:xfrm>
          <a:prstGeom prst="rect">
            <a:avLst/>
          </a:prstGeom>
          <a:solidFill>
            <a:srgbClr val="6A4C93"/>
          </a:solidFill>
          <a:ln>
            <a:noFill/>
          </a:ln>
          <a:effectLst/>
        </p:spPr>
        <p:txBody>
          <a:bodyPr rtlCol="0" anchor="ctr"/>
          <a:lstStyle/>
          <a:p/>
        </p:txBody>
      </p:sp>
      <p:sp>
        <p:nvSpPr>
          <p:cNvPr id="8" name="TextBox 7"/>
          <p:cNvSpPr txBox="1"/>
          <p:nvPr/>
        </p:nvSpPr>
        <p:spPr>
          <a:xfrm>
            <a:off x="777240" y="1216152"/>
            <a:ext cx="5349240" cy="1138492"/>
          </a:xfrm>
          <a:prstGeom prst="rect">
            <a:avLst/>
          </a:prstGeom>
          <a:noFill/>
        </p:spPr>
        <p:txBody>
          <a:bodyPr wrap="square" anchor="ctr" lIns="73152" rIns="73152" tIns="36576" bIns="36576">
            <a:noAutofit/>
          </a:bodyPr>
          <a:lstStyle/>
          <a:p>
            <a:pPr algn="l">
              <a:spcBef>
                <a:spcPts val="0"/>
              </a:spcBef>
              <a:spcAft>
                <a:spcPts val="0"/>
              </a:spcAft>
            </a:pPr>
            <a:r>
              <a:rPr lang="tr-TR" sz="1850" b="0" i="0">
                <a:solidFill>
                  <a:srgbClr val="262626"/>
                </a:solidFill>
                <a:latin typeface="Calibri"/>
              </a:rPr>
              <a:t>Aralık 2019’da Çin’de ortaya çıkan COVID-19, kısa sürede dünyanın genelini etkisi altına alarak pandemiye dönüşmüştür.</a:t>
            </a:r>
          </a:p>
        </p:txBody>
      </p:sp>
      <p:sp>
        <p:nvSpPr>
          <p:cNvPr id="9" name="Rounded Rectangle 8"/>
          <p:cNvSpPr/>
          <p:nvPr/>
        </p:nvSpPr>
        <p:spPr>
          <a:xfrm>
            <a:off x="502920" y="2491804"/>
            <a:ext cx="5760720" cy="1808193"/>
          </a:xfrm>
          <a:prstGeom prst="roundRect">
            <a:avLst>
              <a:gd name="adj" fmla="val 8000"/>
            </a:avLst>
          </a:prstGeom>
          <a:solidFill>
            <a:srgbClr val="F0F0F0"/>
          </a:solidFill>
          <a:ln>
            <a:noFill/>
          </a:ln>
          <a:effectLst/>
        </p:spPr>
        <p:txBody>
          <a:bodyPr rtlCol="0" anchor="ctr"/>
          <a:lstStyle/>
          <a:p/>
        </p:txBody>
      </p:sp>
      <p:sp>
        <p:nvSpPr>
          <p:cNvPr id="10" name="Rectangle 9"/>
          <p:cNvSpPr/>
          <p:nvPr/>
        </p:nvSpPr>
        <p:spPr>
          <a:xfrm>
            <a:off x="502920" y="2491804"/>
            <a:ext cx="118872" cy="1808193"/>
          </a:xfrm>
          <a:prstGeom prst="rect">
            <a:avLst/>
          </a:prstGeom>
          <a:solidFill>
            <a:srgbClr val="6A4C93"/>
          </a:solidFill>
          <a:ln>
            <a:noFill/>
          </a:ln>
          <a:effectLst/>
        </p:spPr>
        <p:txBody>
          <a:bodyPr rtlCol="0" anchor="ctr"/>
          <a:lstStyle/>
          <a:p/>
        </p:txBody>
      </p:sp>
      <p:sp>
        <p:nvSpPr>
          <p:cNvPr id="11" name="TextBox 10"/>
          <p:cNvSpPr txBox="1"/>
          <p:nvPr/>
        </p:nvSpPr>
        <p:spPr>
          <a:xfrm>
            <a:off x="777240" y="2491804"/>
            <a:ext cx="5349240" cy="1808193"/>
          </a:xfrm>
          <a:prstGeom prst="rect">
            <a:avLst/>
          </a:prstGeom>
          <a:noFill/>
        </p:spPr>
        <p:txBody>
          <a:bodyPr wrap="square" anchor="ctr" lIns="73152" rIns="73152" tIns="36576" bIns="36576">
            <a:noAutofit/>
          </a:bodyPr>
          <a:lstStyle/>
          <a:p>
            <a:pPr algn="l">
              <a:spcBef>
                <a:spcPts val="0"/>
              </a:spcBef>
              <a:spcAft>
                <a:spcPts val="0"/>
              </a:spcAft>
            </a:pPr>
            <a:r>
              <a:rPr lang="tr-TR" sz="1850" b="0" i="0">
                <a:solidFill>
                  <a:srgbClr val="262626"/>
                </a:solidFill>
                <a:latin typeface="Calibri"/>
              </a:rPr>
              <a:t>Salgının bu kadar hızlı yayılmasında dünya nüfusunun yaklaşık yarısının şehirlerde yaşaması, bu tür kalabalık ortamlarda hastalığın bulaşma riskinin artması ve gelişen ulaşım sistemleri vasıtasıyla virüslerin dünyanın her yerine taşınabilmesi etkili olmuştur.</a:t>
            </a:r>
          </a:p>
        </p:txBody>
      </p:sp>
      <p:sp>
        <p:nvSpPr>
          <p:cNvPr id="12" name="Rounded Rectangle 11"/>
          <p:cNvSpPr/>
          <p:nvPr/>
        </p:nvSpPr>
        <p:spPr>
          <a:xfrm>
            <a:off x="502920" y="4437157"/>
            <a:ext cx="5760720" cy="1808193"/>
          </a:xfrm>
          <a:prstGeom prst="roundRect">
            <a:avLst>
              <a:gd name="adj" fmla="val 8000"/>
            </a:avLst>
          </a:prstGeom>
          <a:solidFill>
            <a:srgbClr val="F0F0F0"/>
          </a:solidFill>
          <a:ln>
            <a:noFill/>
          </a:ln>
          <a:effectLst/>
        </p:spPr>
        <p:txBody>
          <a:bodyPr rtlCol="0" anchor="ctr"/>
          <a:lstStyle/>
          <a:p/>
        </p:txBody>
      </p:sp>
      <p:sp>
        <p:nvSpPr>
          <p:cNvPr id="13" name="Rectangle 12"/>
          <p:cNvSpPr/>
          <p:nvPr/>
        </p:nvSpPr>
        <p:spPr>
          <a:xfrm>
            <a:off x="502920" y="4437157"/>
            <a:ext cx="118872" cy="1808193"/>
          </a:xfrm>
          <a:prstGeom prst="rect">
            <a:avLst/>
          </a:prstGeom>
          <a:solidFill>
            <a:srgbClr val="6A4C93"/>
          </a:solidFill>
          <a:ln>
            <a:noFill/>
          </a:ln>
          <a:effectLst/>
        </p:spPr>
        <p:txBody>
          <a:bodyPr rtlCol="0" anchor="ctr"/>
          <a:lstStyle/>
          <a:p/>
        </p:txBody>
      </p:sp>
      <p:sp>
        <p:nvSpPr>
          <p:cNvPr id="14" name="TextBox 13"/>
          <p:cNvSpPr txBox="1"/>
          <p:nvPr/>
        </p:nvSpPr>
        <p:spPr>
          <a:xfrm>
            <a:off x="777240" y="4437157"/>
            <a:ext cx="5349240" cy="1808193"/>
          </a:xfrm>
          <a:prstGeom prst="rect">
            <a:avLst/>
          </a:prstGeom>
          <a:noFill/>
        </p:spPr>
        <p:txBody>
          <a:bodyPr wrap="square" anchor="ctr" lIns="73152" rIns="73152" tIns="36576" bIns="36576">
            <a:noAutofit/>
          </a:bodyPr>
          <a:lstStyle/>
          <a:p>
            <a:pPr algn="l">
              <a:spcBef>
                <a:spcPts val="0"/>
              </a:spcBef>
              <a:spcAft>
                <a:spcPts val="0"/>
              </a:spcAft>
            </a:pPr>
            <a:r>
              <a:rPr lang="tr-TR" sz="1850" b="0" i="0">
                <a:solidFill>
                  <a:srgbClr val="262626"/>
                </a:solidFill>
                <a:latin typeface="Calibri"/>
              </a:rPr>
              <a:t>Türkiye, coğrafi konumundan dolayı pek çok ülkenin geçiş güzergâhında yer alan önemli bir ülkedir. Bu durum, insan hareketliliğini artırarak Türkiye’de geçmişten bugüne çiçek, cüzzam, verem gibi çeşitli salgın hastalıkların görülmesine neden olmuştur.</a:t>
            </a:r>
          </a:p>
        </p:txBody>
      </p:sp>
      <p:pic>
        <p:nvPicPr>
          <p:cNvPr id="15" name="Picture 14" descr="h31_g66_s200.jpg"/>
          <p:cNvPicPr>
            <a:picLocks noChangeAspect="1"/>
          </p:cNvPicPr>
          <p:nvPr/>
        </p:nvPicPr>
        <p:blipFill>
          <a:blip r:embed="rId3"/>
          <a:stretch>
            <a:fillRect/>
          </a:stretch>
        </p:blipFill>
        <p:spPr>
          <a:xfrm>
            <a:off x="7102765" y="1216152"/>
            <a:ext cx="3975484" cy="2651760"/>
          </a:xfrm>
          <a:prstGeom prst="rect">
            <a:avLst/>
          </a:prstGeom>
          <a:ln w="9525">
            <a:solidFill>
              <a:srgbClr val="D9D9D9"/>
            </a:solidFill>
          </a:ln>
        </p:spPr>
      </p:pic>
      <p:sp>
        <p:nvSpPr>
          <p:cNvPr id="16" name="TextBox 15"/>
          <p:cNvSpPr txBox="1"/>
          <p:nvPr/>
        </p:nvSpPr>
        <p:spPr>
          <a:xfrm>
            <a:off x="6492240" y="3922776"/>
            <a:ext cx="5196535" cy="274320"/>
          </a:xfrm>
          <a:prstGeom prst="rect">
            <a:avLst/>
          </a:prstGeom>
          <a:noFill/>
        </p:spPr>
        <p:txBody>
          <a:bodyPr wrap="square" anchor="t" lIns="73152" rIns="73152" tIns="36576" bIns="36576">
            <a:noAutofit/>
          </a:bodyPr>
          <a:lstStyle/>
          <a:p>
            <a:pPr algn="ctr">
              <a:spcBef>
                <a:spcPts val="0"/>
              </a:spcBef>
              <a:spcAft>
                <a:spcPts val="0"/>
              </a:spcAft>
            </a:pPr>
            <a:r>
              <a:rPr lang="tr-TR" sz="1200" b="0" i="1">
                <a:solidFill>
                  <a:srgbClr val="767676"/>
                </a:solidFill>
                <a:latin typeface="Calibri"/>
              </a:rPr>
              <a:t>Görsel 6.6: Ortaköy Camii çevresinin dezenfekte edilmesi (23 Mart 2020)</a:t>
            </a:r>
          </a:p>
        </p:txBody>
      </p:sp>
      <p:sp>
        <p:nvSpPr>
          <p:cNvPr id="17" name="Rounded Rectangle 16"/>
          <p:cNvSpPr/>
          <p:nvPr/>
        </p:nvSpPr>
        <p:spPr>
          <a:xfrm>
            <a:off x="6492240" y="4215384"/>
            <a:ext cx="5196535" cy="2075688"/>
          </a:xfrm>
          <a:prstGeom prst="roundRect">
            <a:avLst>
              <a:gd name="adj" fmla="val 5000"/>
            </a:avLst>
          </a:prstGeom>
          <a:solidFill>
            <a:srgbClr val="F0F0F0"/>
          </a:solidFill>
          <a:ln>
            <a:noFill/>
          </a:ln>
          <a:effectLst/>
        </p:spPr>
        <p:txBody>
          <a:bodyPr rtlCol="0" anchor="ctr"/>
          <a:lstStyle/>
          <a:p/>
        </p:txBody>
      </p:sp>
      <p:sp>
        <p:nvSpPr>
          <p:cNvPr id="18" name="Rectangle 17"/>
          <p:cNvSpPr/>
          <p:nvPr/>
        </p:nvSpPr>
        <p:spPr>
          <a:xfrm>
            <a:off x="6629400" y="4325112"/>
            <a:ext cx="4922215" cy="54864"/>
          </a:xfrm>
          <a:prstGeom prst="rect">
            <a:avLst/>
          </a:prstGeom>
          <a:solidFill>
            <a:srgbClr val="D3373A"/>
          </a:solidFill>
          <a:ln>
            <a:noFill/>
          </a:ln>
          <a:effectLst/>
        </p:spPr>
        <p:txBody>
          <a:bodyPr rtlCol="0" anchor="ctr"/>
          <a:lstStyle/>
          <a:p/>
        </p:txBody>
      </p:sp>
      <p:sp>
        <p:nvSpPr>
          <p:cNvPr id="19" name="TextBox 18"/>
          <p:cNvSpPr txBox="1"/>
          <p:nvPr/>
        </p:nvSpPr>
        <p:spPr>
          <a:xfrm>
            <a:off x="6629400" y="4416552"/>
            <a:ext cx="4922215" cy="365760"/>
          </a:xfrm>
          <a:prstGeom prst="rect">
            <a:avLst/>
          </a:prstGeom>
          <a:noFill/>
        </p:spPr>
        <p:txBody>
          <a:bodyPr wrap="square" anchor="t" lIns="73152" rIns="73152" tIns="36576" bIns="36576">
            <a:noAutofit/>
          </a:bodyPr>
          <a:lstStyle/>
          <a:p>
            <a:pPr algn="l">
              <a:spcBef>
                <a:spcPts val="0"/>
              </a:spcBef>
              <a:spcAft>
                <a:spcPts val="0"/>
              </a:spcAft>
            </a:pPr>
            <a:r>
              <a:rPr lang="tr-TR" sz="1400" b="1" i="0">
                <a:solidFill>
                  <a:srgbClr val="D3373A"/>
                </a:solidFill>
                <a:latin typeface="Calibri"/>
              </a:rPr>
              <a:t>KENAR SORUSU</a:t>
            </a:r>
          </a:p>
        </p:txBody>
      </p:sp>
      <p:sp>
        <p:nvSpPr>
          <p:cNvPr id="20" name="TextBox 19"/>
          <p:cNvSpPr txBox="1"/>
          <p:nvPr/>
        </p:nvSpPr>
        <p:spPr>
          <a:xfrm>
            <a:off x="6629400" y="4782312"/>
            <a:ext cx="4922215" cy="746760"/>
          </a:xfrm>
          <a:prstGeom prst="rect">
            <a:avLst/>
          </a:prstGeom>
          <a:noFill/>
        </p:spPr>
        <p:txBody>
          <a:bodyPr wrap="square" anchor="t" lIns="73152" rIns="73152" tIns="36576" bIns="36576">
            <a:noAutofit/>
          </a:bodyPr>
          <a:lstStyle/>
          <a:p>
            <a:pPr algn="l">
              <a:spcBef>
                <a:spcPts val="0"/>
              </a:spcBef>
              <a:spcAft>
                <a:spcPts val="0"/>
              </a:spcAft>
            </a:pPr>
            <a:r>
              <a:rPr lang="tr-TR" sz="2000" b="1" i="1">
                <a:solidFill>
                  <a:srgbClr val="262626"/>
                </a:solidFill>
                <a:latin typeface="Calibri"/>
              </a:rPr>
              <a:t>COVID-19 salgınının önlenmesi için ne gibi tedbirler alınmıştır?</a:t>
            </a:r>
          </a:p>
        </p:txBody>
      </p:sp>
      <p:sp>
        <p:nvSpPr>
          <p:cNvPr id="21" name="Rounded Rectangle 20"/>
          <p:cNvSpPr/>
          <p:nvPr/>
        </p:nvSpPr>
        <p:spPr>
          <a:xfrm>
            <a:off x="6629400" y="5638800"/>
            <a:ext cx="4922215" cy="515112"/>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22" name="Connector 21"/>
          <p:cNvCxnSpPr/>
          <p:nvPr/>
        </p:nvCxnSpPr>
        <p:spPr>
          <a:xfrm>
            <a:off x="6812280" y="5896356"/>
            <a:ext cx="4556455" cy="0"/>
          </a:xfrm>
          <a:prstGeom prst="line">
            <a:avLst/>
          </a:prstGeom>
          <a:ln w="12700">
            <a:solidFill>
              <a:srgbClr val="D9D9D9"/>
            </a:solidFill>
            <a:prstDash val="dash"/>
          </a:ln>
        </p:spPr>
      </p:cxn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200</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96 / 250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COVID-19 salgınında alınan tedbirler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16152"/>
            <a:ext cx="6675120" cy="5029200"/>
          </a:xfrm>
          <a:prstGeom prst="roundRect">
            <a:avLst>
              <a:gd name="adj" fmla="val 6000"/>
            </a:avLst>
          </a:prstGeom>
          <a:solidFill>
            <a:srgbClr val="E3F1E4"/>
          </a:solidFill>
          <a:ln>
            <a:noFill/>
          </a:ln>
          <a:effectLst/>
        </p:spPr>
        <p:txBody>
          <a:bodyPr rtlCol="0" anchor="ctr"/>
          <a:lstStyle/>
          <a:p/>
        </p:txBody>
      </p:sp>
      <p:sp>
        <p:nvSpPr>
          <p:cNvPr id="7" name="Rectangle 6"/>
          <p:cNvSpPr/>
          <p:nvPr/>
        </p:nvSpPr>
        <p:spPr>
          <a:xfrm>
            <a:off x="502920" y="1216152"/>
            <a:ext cx="109728" cy="5029200"/>
          </a:xfrm>
          <a:prstGeom prst="rect">
            <a:avLst/>
          </a:prstGeom>
          <a:solidFill>
            <a:srgbClr val="2E7D32"/>
          </a:solidFill>
          <a:ln>
            <a:noFill/>
          </a:ln>
          <a:effectLst/>
        </p:spPr>
        <p:txBody>
          <a:bodyPr rtlCol="0" anchor="ctr"/>
          <a:lstStyle/>
          <a:p/>
        </p:txBody>
      </p:sp>
      <p:sp>
        <p:nvSpPr>
          <p:cNvPr id="8" name="TextBox 7"/>
          <p:cNvSpPr txBox="1"/>
          <p:nvPr/>
        </p:nvSpPr>
        <p:spPr>
          <a:xfrm>
            <a:off x="731520" y="1271016"/>
            <a:ext cx="6355080" cy="4919472"/>
          </a:xfrm>
          <a:prstGeom prst="rect">
            <a:avLst/>
          </a:prstGeom>
          <a:noFill/>
        </p:spPr>
        <p:txBody>
          <a:bodyPr wrap="square" anchor="ctr" lIns="73152" rIns="73152" tIns="36576" bIns="36576">
            <a:noAutofit/>
          </a:bodyPr>
          <a:lstStyle/>
          <a:p>
            <a:pPr algn="l">
              <a:spcBef>
                <a:spcPts val="0"/>
              </a:spcBef>
              <a:spcAft>
                <a:spcPts val="400"/>
              </a:spcAft>
            </a:pPr>
            <a:r>
              <a:rPr lang="tr-TR" sz="2000" b="1" i="0">
                <a:solidFill>
                  <a:srgbClr val="2E7D32"/>
                </a:solidFill>
                <a:latin typeface="Calibri"/>
              </a:rPr>
              <a:t>Tedbirler (örnek)</a:t>
            </a:r>
          </a:p>
          <a:p>
            <a:pPr algn="l" marL="248620" indent="-248620">
              <a:spcBef>
                <a:spcPts val="0"/>
              </a:spcBef>
              <a:spcAft>
                <a:spcPts val="500"/>
              </a:spcAft>
            </a:pPr>
            <a:r>
              <a:rPr lang="tr-TR" sz="2000" b="1" i="0">
                <a:solidFill>
                  <a:srgbClr val="2C6696"/>
                </a:solidFill>
                <a:latin typeface="Calibri"/>
              </a:rPr>
              <a:t>•  </a:t>
            </a:r>
            <a:r>
              <a:rPr lang="tr-TR" sz="2000" b="0" i="0">
                <a:solidFill>
                  <a:srgbClr val="262626"/>
                </a:solidFill>
                <a:latin typeface="Calibri"/>
              </a:rPr>
              <a:t>Maske, fiziksel mesafe</a:t>
            </a:r>
          </a:p>
          <a:p>
            <a:pPr algn="l" marL="248620" indent="-248620">
              <a:spcBef>
                <a:spcPts val="0"/>
              </a:spcBef>
              <a:spcAft>
                <a:spcPts val="500"/>
              </a:spcAft>
            </a:pPr>
            <a:r>
              <a:rPr lang="tr-TR" sz="2000" b="1" i="0">
                <a:solidFill>
                  <a:srgbClr val="2C6696"/>
                </a:solidFill>
                <a:latin typeface="Calibri"/>
              </a:rPr>
              <a:t>•  </a:t>
            </a:r>
            <a:r>
              <a:rPr lang="tr-TR" sz="2000" b="0" i="0">
                <a:solidFill>
                  <a:srgbClr val="262626"/>
                </a:solidFill>
                <a:latin typeface="Calibri"/>
              </a:rPr>
              <a:t>El yıkama, temizlik</a:t>
            </a:r>
          </a:p>
          <a:p>
            <a:pPr algn="l" marL="248620" indent="-248620">
              <a:spcBef>
                <a:spcPts val="0"/>
              </a:spcBef>
              <a:spcAft>
                <a:spcPts val="500"/>
              </a:spcAft>
            </a:pPr>
            <a:r>
              <a:rPr lang="tr-TR" sz="2000" b="1" i="0">
                <a:solidFill>
                  <a:srgbClr val="2C6696"/>
                </a:solidFill>
                <a:latin typeface="Calibri"/>
              </a:rPr>
              <a:t>•  </a:t>
            </a:r>
            <a:r>
              <a:rPr lang="tr-TR" sz="2000" b="0" i="0">
                <a:solidFill>
                  <a:srgbClr val="262626"/>
                </a:solidFill>
                <a:latin typeface="Calibri"/>
              </a:rPr>
              <a:t>Kalabalık ortamların sınırlandırılması</a:t>
            </a:r>
          </a:p>
          <a:p>
            <a:pPr algn="l" marL="248620" indent="-248620">
              <a:spcBef>
                <a:spcPts val="0"/>
              </a:spcBef>
              <a:spcAft>
                <a:spcPts val="500"/>
              </a:spcAft>
            </a:pPr>
            <a:r>
              <a:rPr lang="tr-TR" sz="2000" b="1" i="0">
                <a:solidFill>
                  <a:srgbClr val="2C6696"/>
                </a:solidFill>
                <a:latin typeface="Calibri"/>
              </a:rPr>
              <a:t>•  </a:t>
            </a:r>
            <a:r>
              <a:rPr lang="tr-TR" sz="2000" b="0" i="0">
                <a:solidFill>
                  <a:srgbClr val="262626"/>
                </a:solidFill>
                <a:latin typeface="Calibri"/>
              </a:rPr>
              <a:t>Hastaların ayrılması (izolasyon, karantina)</a:t>
            </a:r>
          </a:p>
          <a:p>
            <a:pPr algn="l" marL="248620" indent="-248620">
              <a:spcBef>
                <a:spcPts val="0"/>
              </a:spcBef>
              <a:spcAft>
                <a:spcPts val="500"/>
              </a:spcAft>
            </a:pPr>
            <a:r>
              <a:rPr lang="tr-TR" sz="2000" b="1" i="0">
                <a:solidFill>
                  <a:srgbClr val="2C6696"/>
                </a:solidFill>
                <a:latin typeface="Calibri"/>
              </a:rPr>
              <a:t>•  </a:t>
            </a:r>
            <a:r>
              <a:rPr lang="tr-TR" sz="2000" b="0" i="0">
                <a:solidFill>
                  <a:srgbClr val="262626"/>
                </a:solidFill>
                <a:latin typeface="Calibri"/>
              </a:rPr>
              <a:t>Aşılama</a:t>
            </a:r>
          </a:p>
          <a:p>
            <a:pPr algn="l" marL="248620" indent="-248620">
              <a:spcBef>
                <a:spcPts val="0"/>
              </a:spcBef>
              <a:spcAft>
                <a:spcPts val="500"/>
              </a:spcAft>
            </a:pPr>
            <a:r>
              <a:rPr lang="tr-TR" sz="2000" b="1" i="0">
                <a:solidFill>
                  <a:srgbClr val="2C6696"/>
                </a:solidFill>
                <a:latin typeface="Calibri"/>
              </a:rPr>
              <a:t>•  </a:t>
            </a:r>
            <a:r>
              <a:rPr lang="tr-TR" sz="2000" b="0" i="0">
                <a:solidFill>
                  <a:srgbClr val="262626"/>
                </a:solidFill>
                <a:latin typeface="Calibri"/>
              </a:rPr>
              <a:t>Uzaktan eğitim ve çalışma, seyahat kısıtlaması</a:t>
            </a:r>
          </a:p>
          <a:p>
            <a:pPr algn="l" marL="248620" indent="-248620">
              <a:spcBef>
                <a:spcPts val="0"/>
              </a:spcBef>
              <a:spcAft>
                <a:spcPts val="0"/>
              </a:spcAft>
            </a:pPr>
            <a:r>
              <a:rPr lang="tr-TR" sz="2000" b="1" i="0">
                <a:solidFill>
                  <a:srgbClr val="2C6696"/>
                </a:solidFill>
                <a:latin typeface="Calibri"/>
              </a:rPr>
              <a:t>•  </a:t>
            </a:r>
            <a:r>
              <a:rPr lang="tr-TR" sz="2000" b="0" i="0">
                <a:solidFill>
                  <a:srgbClr val="262626"/>
                </a:solidFill>
                <a:latin typeface="Calibri"/>
              </a:rPr>
              <a:t>Kamusal alanların dezenfeksiyonu (Görsel 6.6)</a:t>
            </a:r>
          </a:p>
        </p:txBody>
      </p:sp>
      <p:sp>
        <p:nvSpPr>
          <p:cNvPr id="9" name="Rounded Rectangle 8"/>
          <p:cNvSpPr/>
          <p:nvPr/>
        </p:nvSpPr>
        <p:spPr>
          <a:xfrm>
            <a:off x="7406640" y="1216152"/>
            <a:ext cx="4282135" cy="5029200"/>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l">
              <a:spcBef>
                <a:spcPts val="0"/>
              </a:spcBef>
              <a:spcAft>
                <a:spcPts val="800"/>
              </a:spcAft>
            </a:pPr>
            <a:r>
              <a:rPr lang="tr-TR" sz="1800" b="1" i="0">
                <a:solidFill>
                  <a:srgbClr val="6A4C93"/>
                </a:solidFill>
                <a:latin typeface="Calibri"/>
              </a:rPr>
              <a:t>Satırımız: salgın hastalık</a:t>
            </a:r>
          </a:p>
          <a:p>
            <a:pPr algn="l" marL="223758" indent="-223758">
              <a:spcBef>
                <a:spcPts val="0"/>
              </a:spcBef>
              <a:spcAft>
                <a:spcPts val="800"/>
              </a:spcAft>
            </a:pPr>
            <a:r>
              <a:rPr lang="tr-TR" sz="1800" b="1" i="0">
                <a:solidFill>
                  <a:srgbClr val="6A4C93"/>
                </a:solidFill>
                <a:latin typeface="Calibri"/>
              </a:rPr>
              <a:t>•  </a:t>
            </a:r>
            <a:r>
              <a:rPr lang="tr-TR" sz="1800" b="0" i="0">
                <a:solidFill>
                  <a:srgbClr val="262626"/>
                </a:solidFill>
                <a:latin typeface="Calibri"/>
              </a:rPr>
              <a:t>Örnek: COVID-19, Mart 2020-Mart 2023, 102.174 (s. 197)</a:t>
            </a:r>
          </a:p>
          <a:p>
            <a:pPr algn="l" marL="223758" indent="-223758">
              <a:spcBef>
                <a:spcPts val="0"/>
              </a:spcBef>
              <a:spcAft>
                <a:spcPts val="800"/>
              </a:spcAft>
            </a:pPr>
            <a:r>
              <a:rPr lang="tr-TR" sz="1800" b="1" i="0">
                <a:solidFill>
                  <a:srgbClr val="6A4C93"/>
                </a:solidFill>
                <a:latin typeface="Calibri"/>
              </a:rPr>
              <a:t>•  </a:t>
            </a:r>
            <a:r>
              <a:rPr lang="tr-TR" sz="1800" b="0" i="0">
                <a:solidFill>
                  <a:srgbClr val="262626"/>
                </a:solidFill>
                <a:latin typeface="Calibri"/>
              </a:rPr>
              <a:t>Neden: kalabalık şehirler, gelişen ulaşım; Türkiye'nin geçiş güzergâhında olması</a:t>
            </a:r>
          </a:p>
          <a:p>
            <a:pPr algn="l" marL="223758" indent="-223758">
              <a:spcBef>
                <a:spcPts val="0"/>
              </a:spcBef>
              <a:spcAft>
                <a:spcPts val="0"/>
              </a:spcAft>
            </a:pPr>
            <a:r>
              <a:rPr lang="tr-TR" sz="1800" b="1" i="0">
                <a:solidFill>
                  <a:srgbClr val="6A4C93"/>
                </a:solidFill>
                <a:latin typeface="Calibri"/>
              </a:rPr>
              <a:t>•  </a:t>
            </a:r>
            <a:r>
              <a:rPr lang="tr-TR" sz="1800" b="0" i="0">
                <a:solidFill>
                  <a:srgbClr val="262626"/>
                </a:solidFill>
                <a:latin typeface="Calibri"/>
              </a:rPr>
              <a:t>Dağılış: ülkenin tamamı; insan hareketliliğinin yoğun olduğu yerler</a:t>
            </a:r>
          </a:p>
        </p:txBody>
      </p:sp>
      <p:sp>
        <p:nvSpPr>
          <p:cNvPr id="10" name="TextBox 9"/>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11" name="Rounded Rectangle 10"/>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200</a:t>
            </a:r>
          </a:p>
        </p:txBody>
      </p:sp>
      <p:sp>
        <p:nvSpPr>
          <p:cNvPr id="12" name="TextBox 11"/>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97 / 250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5-6. gruplar: Türkiye'de erozyon</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UZMAN · EROZYON</a:t>
            </a:r>
          </a:p>
        </p:txBody>
      </p:sp>
      <p:sp>
        <p:nvSpPr>
          <p:cNvPr id="6" name="Rounded Rectangle 5"/>
          <p:cNvSpPr/>
          <p:nvPr/>
        </p:nvSpPr>
        <p:spPr>
          <a:xfrm>
            <a:off x="502920" y="1216152"/>
            <a:ext cx="4937760" cy="1651000"/>
          </a:xfrm>
          <a:prstGeom prst="roundRect">
            <a:avLst>
              <a:gd name="adj" fmla="val 8000"/>
            </a:avLst>
          </a:prstGeom>
          <a:solidFill>
            <a:srgbClr val="F0F0F0"/>
          </a:solidFill>
          <a:ln>
            <a:noFill/>
          </a:ln>
          <a:effectLst/>
        </p:spPr>
        <p:txBody>
          <a:bodyPr rtlCol="0" anchor="ctr"/>
          <a:lstStyle/>
          <a:p/>
        </p:txBody>
      </p:sp>
      <p:sp>
        <p:nvSpPr>
          <p:cNvPr id="7" name="Rectangle 6"/>
          <p:cNvSpPr/>
          <p:nvPr/>
        </p:nvSpPr>
        <p:spPr>
          <a:xfrm>
            <a:off x="502920" y="1216152"/>
            <a:ext cx="118872" cy="1651000"/>
          </a:xfrm>
          <a:prstGeom prst="rect">
            <a:avLst/>
          </a:prstGeom>
          <a:solidFill>
            <a:srgbClr val="6A4C93"/>
          </a:solidFill>
          <a:ln>
            <a:noFill/>
          </a:ln>
          <a:effectLst/>
        </p:spPr>
        <p:txBody>
          <a:bodyPr rtlCol="0" anchor="ctr"/>
          <a:lstStyle/>
          <a:p/>
        </p:txBody>
      </p:sp>
      <p:sp>
        <p:nvSpPr>
          <p:cNvPr id="8" name="TextBox 7"/>
          <p:cNvSpPr txBox="1"/>
          <p:nvPr/>
        </p:nvSpPr>
        <p:spPr>
          <a:xfrm>
            <a:off x="777240" y="1216152"/>
            <a:ext cx="4526280" cy="1651000"/>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262626"/>
                </a:solidFill>
                <a:latin typeface="Calibri"/>
              </a:rPr>
              <a:t>Türkiye, erozyona maruz kalma konusunda hassas bir bölgede bulunmaktadır. Binlerce yılda oluşan toprak örtüsü, şiddetli erozyon nedeniyle deniz, göl gibi çukur alanlara taşınmaktadır.</a:t>
            </a:r>
          </a:p>
        </p:txBody>
      </p:sp>
      <p:sp>
        <p:nvSpPr>
          <p:cNvPr id="9" name="Rounded Rectangle 8"/>
          <p:cNvSpPr/>
          <p:nvPr/>
        </p:nvSpPr>
        <p:spPr>
          <a:xfrm>
            <a:off x="502920" y="3004312"/>
            <a:ext cx="4937760" cy="1320800"/>
          </a:xfrm>
          <a:prstGeom prst="roundRect">
            <a:avLst>
              <a:gd name="adj" fmla="val 8000"/>
            </a:avLst>
          </a:prstGeom>
          <a:solidFill>
            <a:srgbClr val="F0F0F0"/>
          </a:solidFill>
          <a:ln>
            <a:noFill/>
          </a:ln>
          <a:effectLst/>
        </p:spPr>
        <p:txBody>
          <a:bodyPr rtlCol="0" anchor="ctr"/>
          <a:lstStyle/>
          <a:p/>
        </p:txBody>
      </p:sp>
      <p:sp>
        <p:nvSpPr>
          <p:cNvPr id="10" name="Rectangle 9"/>
          <p:cNvSpPr/>
          <p:nvPr/>
        </p:nvSpPr>
        <p:spPr>
          <a:xfrm>
            <a:off x="502920" y="3004312"/>
            <a:ext cx="118872" cy="1320800"/>
          </a:xfrm>
          <a:prstGeom prst="rect">
            <a:avLst/>
          </a:prstGeom>
          <a:solidFill>
            <a:srgbClr val="6A4C93"/>
          </a:solidFill>
          <a:ln>
            <a:noFill/>
          </a:ln>
          <a:effectLst/>
        </p:spPr>
        <p:txBody>
          <a:bodyPr rtlCol="0" anchor="ctr"/>
          <a:lstStyle/>
          <a:p/>
        </p:txBody>
      </p:sp>
      <p:sp>
        <p:nvSpPr>
          <p:cNvPr id="11" name="TextBox 10"/>
          <p:cNvSpPr txBox="1"/>
          <p:nvPr/>
        </p:nvSpPr>
        <p:spPr>
          <a:xfrm>
            <a:off x="777240" y="3004312"/>
            <a:ext cx="4526280" cy="1320800"/>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262626"/>
                </a:solidFill>
                <a:latin typeface="Calibri"/>
              </a:rPr>
              <a:t>Erozyona maruz kalan toprakların bir kısmı, akarsular vasıtasıyla baraj göllerine taşındığı için barajların kullanım ömürleri kısalmaktadır.</a:t>
            </a:r>
          </a:p>
        </p:txBody>
      </p:sp>
      <p:sp>
        <p:nvSpPr>
          <p:cNvPr id="12" name="Rounded Rectangle 11"/>
          <p:cNvSpPr/>
          <p:nvPr/>
        </p:nvSpPr>
        <p:spPr>
          <a:xfrm>
            <a:off x="502920" y="4462272"/>
            <a:ext cx="4937760" cy="1783080"/>
          </a:xfrm>
          <a:prstGeom prst="roundRect">
            <a:avLst>
              <a:gd name="adj" fmla="val 8000"/>
            </a:avLst>
          </a:prstGeom>
          <a:solidFill>
            <a:srgbClr val="F0F0F0"/>
          </a:solidFill>
          <a:ln>
            <a:noFill/>
          </a:ln>
          <a:effectLst/>
        </p:spPr>
        <p:txBody>
          <a:bodyPr rtlCol="0" anchor="ctr"/>
          <a:lstStyle/>
          <a:p/>
        </p:txBody>
      </p:sp>
      <p:sp>
        <p:nvSpPr>
          <p:cNvPr id="13" name="Rectangle 12"/>
          <p:cNvSpPr/>
          <p:nvPr/>
        </p:nvSpPr>
        <p:spPr>
          <a:xfrm>
            <a:off x="502920" y="4462272"/>
            <a:ext cx="118872" cy="1783080"/>
          </a:xfrm>
          <a:prstGeom prst="rect">
            <a:avLst/>
          </a:prstGeom>
          <a:solidFill>
            <a:srgbClr val="6A4C93"/>
          </a:solidFill>
          <a:ln>
            <a:noFill/>
          </a:ln>
          <a:effectLst/>
        </p:spPr>
        <p:txBody>
          <a:bodyPr rtlCol="0" anchor="ctr"/>
          <a:lstStyle/>
          <a:p/>
        </p:txBody>
      </p:sp>
      <p:sp>
        <p:nvSpPr>
          <p:cNvPr id="14" name="TextBox 13"/>
          <p:cNvSpPr txBox="1"/>
          <p:nvPr/>
        </p:nvSpPr>
        <p:spPr>
          <a:xfrm>
            <a:off x="777240" y="4462272"/>
            <a:ext cx="4526280" cy="1783080"/>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262626"/>
                </a:solidFill>
                <a:latin typeface="Calibri"/>
              </a:rPr>
              <a:t>Şiddetlenen erozyon nedeniyle ülke topraklarının bir bölümü çölleşme riskiyle karşı karşıyadır. Ayrıca erozyon, kırsal alanların ekonomik potansiyelini olumsuz etkilediği için bazı sosyal sorunların ortaya çıkmasına da yol açabilmektedir.</a:t>
            </a:r>
          </a:p>
        </p:txBody>
      </p:sp>
      <p:pic>
        <p:nvPicPr>
          <p:cNvPr id="15" name="Picture 14" descr="h31_h67_s200.jpg"/>
          <p:cNvPicPr>
            <a:picLocks noChangeAspect="1"/>
          </p:cNvPicPr>
          <p:nvPr/>
        </p:nvPicPr>
        <p:blipFill>
          <a:blip r:embed="rId3"/>
          <a:stretch>
            <a:fillRect/>
          </a:stretch>
        </p:blipFill>
        <p:spPr>
          <a:xfrm>
            <a:off x="6010111" y="1216152"/>
            <a:ext cx="5337831" cy="2651760"/>
          </a:xfrm>
          <a:prstGeom prst="rect">
            <a:avLst/>
          </a:prstGeom>
          <a:ln w="9525">
            <a:solidFill>
              <a:srgbClr val="D9D9D9"/>
            </a:solidFill>
          </a:ln>
        </p:spPr>
      </p:pic>
      <p:sp>
        <p:nvSpPr>
          <p:cNvPr id="16" name="TextBox 15"/>
          <p:cNvSpPr txBox="1"/>
          <p:nvPr/>
        </p:nvSpPr>
        <p:spPr>
          <a:xfrm>
            <a:off x="5669280" y="3922776"/>
            <a:ext cx="6019495" cy="274320"/>
          </a:xfrm>
          <a:prstGeom prst="rect">
            <a:avLst/>
          </a:prstGeom>
          <a:noFill/>
        </p:spPr>
        <p:txBody>
          <a:bodyPr wrap="square" anchor="t" lIns="73152" rIns="73152" tIns="36576" bIns="36576">
            <a:noAutofit/>
          </a:bodyPr>
          <a:lstStyle/>
          <a:p>
            <a:pPr algn="ctr">
              <a:spcBef>
                <a:spcPts val="0"/>
              </a:spcBef>
              <a:spcAft>
                <a:spcPts val="0"/>
              </a:spcAft>
            </a:pPr>
            <a:r>
              <a:rPr lang="tr-TR" sz="1200" b="0" i="1">
                <a:solidFill>
                  <a:srgbClr val="767676"/>
                </a:solidFill>
                <a:latin typeface="Calibri"/>
              </a:rPr>
              <a:t>Harita 6.7: Türkiye'de çölleşme risk durumu</a:t>
            </a:r>
          </a:p>
        </p:txBody>
      </p:sp>
      <p:sp>
        <p:nvSpPr>
          <p:cNvPr id="17" name="Rounded Rectangle 16"/>
          <p:cNvSpPr/>
          <p:nvPr/>
        </p:nvSpPr>
        <p:spPr>
          <a:xfrm>
            <a:off x="5669280" y="4215384"/>
            <a:ext cx="6019495" cy="2075688"/>
          </a:xfrm>
          <a:prstGeom prst="roundRect">
            <a:avLst>
              <a:gd name="adj" fmla="val 5000"/>
            </a:avLst>
          </a:prstGeom>
          <a:solidFill>
            <a:srgbClr val="F0F0F0"/>
          </a:solidFill>
          <a:ln>
            <a:noFill/>
          </a:ln>
          <a:effectLst/>
        </p:spPr>
        <p:txBody>
          <a:bodyPr rtlCol="0" anchor="ctr"/>
          <a:lstStyle/>
          <a:p/>
        </p:txBody>
      </p:sp>
      <p:sp>
        <p:nvSpPr>
          <p:cNvPr id="18" name="Rectangle 17"/>
          <p:cNvSpPr/>
          <p:nvPr/>
        </p:nvSpPr>
        <p:spPr>
          <a:xfrm>
            <a:off x="5806440" y="4325112"/>
            <a:ext cx="5745175" cy="54864"/>
          </a:xfrm>
          <a:prstGeom prst="rect">
            <a:avLst/>
          </a:prstGeom>
          <a:solidFill>
            <a:srgbClr val="D3373A"/>
          </a:solidFill>
          <a:ln>
            <a:noFill/>
          </a:ln>
          <a:effectLst/>
        </p:spPr>
        <p:txBody>
          <a:bodyPr rtlCol="0" anchor="ctr"/>
          <a:lstStyle/>
          <a:p/>
        </p:txBody>
      </p:sp>
      <p:sp>
        <p:nvSpPr>
          <p:cNvPr id="19" name="TextBox 18"/>
          <p:cNvSpPr txBox="1"/>
          <p:nvPr/>
        </p:nvSpPr>
        <p:spPr>
          <a:xfrm>
            <a:off x="5806440" y="4416552"/>
            <a:ext cx="5745175" cy="365760"/>
          </a:xfrm>
          <a:prstGeom prst="rect">
            <a:avLst/>
          </a:prstGeom>
          <a:noFill/>
        </p:spPr>
        <p:txBody>
          <a:bodyPr wrap="square" anchor="t" lIns="73152" rIns="73152" tIns="36576" bIns="36576">
            <a:noAutofit/>
          </a:bodyPr>
          <a:lstStyle/>
          <a:p>
            <a:pPr algn="l">
              <a:spcBef>
                <a:spcPts val="0"/>
              </a:spcBef>
              <a:spcAft>
                <a:spcPts val="0"/>
              </a:spcAft>
            </a:pPr>
            <a:r>
              <a:rPr lang="tr-TR" sz="1400" b="1" i="0">
                <a:solidFill>
                  <a:srgbClr val="D3373A"/>
                </a:solidFill>
                <a:latin typeface="Calibri"/>
              </a:rPr>
              <a:t>KENAR SORUSU</a:t>
            </a:r>
          </a:p>
        </p:txBody>
      </p:sp>
      <p:sp>
        <p:nvSpPr>
          <p:cNvPr id="20" name="TextBox 19"/>
          <p:cNvSpPr txBox="1"/>
          <p:nvPr/>
        </p:nvSpPr>
        <p:spPr>
          <a:xfrm>
            <a:off x="5806440" y="4782312"/>
            <a:ext cx="5745175" cy="746760"/>
          </a:xfrm>
          <a:prstGeom prst="rect">
            <a:avLst/>
          </a:prstGeom>
          <a:noFill/>
        </p:spPr>
        <p:txBody>
          <a:bodyPr wrap="square" anchor="t" lIns="73152" rIns="73152" tIns="36576" bIns="36576">
            <a:noAutofit/>
          </a:bodyPr>
          <a:lstStyle/>
          <a:p>
            <a:pPr algn="l">
              <a:spcBef>
                <a:spcPts val="0"/>
              </a:spcBef>
              <a:spcAft>
                <a:spcPts val="0"/>
              </a:spcAft>
            </a:pPr>
            <a:r>
              <a:rPr lang="tr-TR" sz="2000" b="1" i="1">
                <a:solidFill>
                  <a:srgbClr val="262626"/>
                </a:solidFill>
                <a:latin typeface="Calibri"/>
              </a:rPr>
              <a:t>Türkiye’de çölleşme riskinin yüksek olduğu bölgeleri belirtiniz.</a:t>
            </a:r>
          </a:p>
        </p:txBody>
      </p:sp>
      <p:sp>
        <p:nvSpPr>
          <p:cNvPr id="21" name="Rounded Rectangle 20"/>
          <p:cNvSpPr/>
          <p:nvPr/>
        </p:nvSpPr>
        <p:spPr>
          <a:xfrm>
            <a:off x="5806440" y="5638800"/>
            <a:ext cx="5745175" cy="515112"/>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22" name="Connector 21"/>
          <p:cNvCxnSpPr/>
          <p:nvPr/>
        </p:nvCxnSpPr>
        <p:spPr>
          <a:xfrm>
            <a:off x="5989320" y="5896356"/>
            <a:ext cx="5379415" cy="0"/>
          </a:xfrm>
          <a:prstGeom prst="line">
            <a:avLst/>
          </a:prstGeom>
          <a:ln w="12700">
            <a:solidFill>
              <a:srgbClr val="D9D9D9"/>
            </a:solidFill>
            <a:prstDash val="dash"/>
          </a:ln>
        </p:spPr>
      </p:cxn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200</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98 / 250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2850" b="1" i="0">
                <a:solidFill>
                  <a:srgbClr val="FFFFFF"/>
                </a:solidFill>
                <a:latin typeface="Calibri"/>
              </a:rPr>
              <a:t>Çölleşme riskinin yüksek olduğu bölgeler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pic>
        <p:nvPicPr>
          <p:cNvPr id="6" name="Picture 5" descr="h31_h67_s200.jpg"/>
          <p:cNvPicPr>
            <a:picLocks noChangeAspect="1"/>
          </p:cNvPicPr>
          <p:nvPr/>
        </p:nvPicPr>
        <p:blipFill>
          <a:blip r:embed="rId3"/>
          <a:stretch>
            <a:fillRect/>
          </a:stretch>
        </p:blipFill>
        <p:spPr>
          <a:xfrm>
            <a:off x="502920" y="1845568"/>
            <a:ext cx="7589520" cy="3770367"/>
          </a:xfrm>
          <a:prstGeom prst="rect">
            <a:avLst/>
          </a:prstGeom>
          <a:ln w="9525">
            <a:solidFill>
              <a:srgbClr val="D9D9D9"/>
            </a:solidFill>
          </a:ln>
        </p:spPr>
      </p:pic>
      <p:sp>
        <p:nvSpPr>
          <p:cNvPr id="7" name="Oval 6"/>
          <p:cNvSpPr/>
          <p:nvPr/>
        </p:nvSpPr>
        <p:spPr>
          <a:xfrm>
            <a:off x="3206509" y="3704040"/>
            <a:ext cx="365760" cy="365760"/>
          </a:xfrm>
          <a:prstGeom prst="ellipse">
            <a:avLst/>
          </a:prstGeom>
          <a:solidFill>
            <a:srgbClr val="D3373A"/>
          </a:solidFill>
          <a:ln w="22225">
            <a:solidFill>
              <a:srgbClr val="FFFFFF"/>
            </a:solidFill>
          </a:ln>
          <a:effectLst/>
        </p:spPr>
        <p:txBody>
          <a:bodyPr rtlCol="0" anchor="ctr" wrap="none" lIns="0" rIns="0" tIns="0" bIns="0">
            <a:noAutofit/>
          </a:bodyPr>
          <a:lstStyle/>
          <a:p>
            <a:pPr algn="ctr">
              <a:spcBef>
                <a:spcPts val="0"/>
              </a:spcBef>
              <a:spcAft>
                <a:spcPts val="0"/>
              </a:spcAft>
            </a:pPr>
            <a:r>
              <a:rPr lang="tr-TR" sz="1382" b="1" i="0">
                <a:solidFill>
                  <a:srgbClr val="FFFFFF"/>
                </a:solidFill>
                <a:latin typeface="Calibri"/>
              </a:rPr>
              <a:t>A</a:t>
            </a:r>
          </a:p>
        </p:txBody>
      </p:sp>
      <p:sp>
        <p:nvSpPr>
          <p:cNvPr id="8" name="Oval 7"/>
          <p:cNvSpPr/>
          <p:nvPr/>
        </p:nvSpPr>
        <p:spPr>
          <a:xfrm>
            <a:off x="5725204" y="4168085"/>
            <a:ext cx="365760" cy="365760"/>
          </a:xfrm>
          <a:prstGeom prst="ellipse">
            <a:avLst/>
          </a:prstGeom>
          <a:solidFill>
            <a:srgbClr val="D3373A"/>
          </a:solidFill>
          <a:ln w="22225">
            <a:solidFill>
              <a:srgbClr val="FFFFFF"/>
            </a:solidFill>
          </a:ln>
          <a:effectLst/>
        </p:spPr>
        <p:txBody>
          <a:bodyPr rtlCol="0" anchor="ctr" wrap="none" lIns="0" rIns="0" tIns="0" bIns="0">
            <a:noAutofit/>
          </a:bodyPr>
          <a:lstStyle/>
          <a:p>
            <a:pPr algn="ctr">
              <a:spcBef>
                <a:spcPts val="0"/>
              </a:spcBef>
              <a:spcAft>
                <a:spcPts val="0"/>
              </a:spcAft>
            </a:pPr>
            <a:r>
              <a:rPr lang="tr-TR" sz="1382" b="1" i="0">
                <a:solidFill>
                  <a:srgbClr val="FFFFFF"/>
                </a:solidFill>
                <a:latin typeface="Calibri"/>
              </a:rPr>
              <a:t>B</a:t>
            </a:r>
          </a:p>
        </p:txBody>
      </p:sp>
      <p:sp>
        <p:nvSpPr>
          <p:cNvPr id="9" name="Oval 8"/>
          <p:cNvSpPr/>
          <p:nvPr/>
        </p:nvSpPr>
        <p:spPr>
          <a:xfrm>
            <a:off x="7521725" y="2751409"/>
            <a:ext cx="365760" cy="365760"/>
          </a:xfrm>
          <a:prstGeom prst="ellipse">
            <a:avLst/>
          </a:prstGeom>
          <a:solidFill>
            <a:srgbClr val="D3373A"/>
          </a:solidFill>
          <a:ln w="22225">
            <a:solidFill>
              <a:srgbClr val="FFFFFF"/>
            </a:solidFill>
          </a:ln>
          <a:effectLst/>
        </p:spPr>
        <p:txBody>
          <a:bodyPr rtlCol="0" anchor="ctr" wrap="none" lIns="0" rIns="0" tIns="0" bIns="0">
            <a:noAutofit/>
          </a:bodyPr>
          <a:lstStyle/>
          <a:p>
            <a:pPr algn="ctr">
              <a:spcBef>
                <a:spcPts val="0"/>
              </a:spcBef>
              <a:spcAft>
                <a:spcPts val="0"/>
              </a:spcAft>
            </a:pPr>
            <a:r>
              <a:rPr lang="tr-TR" sz="1382" b="1" i="0">
                <a:solidFill>
                  <a:srgbClr val="FFFFFF"/>
                </a:solidFill>
                <a:latin typeface="Calibri"/>
              </a:rPr>
              <a:t>C</a:t>
            </a:r>
          </a:p>
        </p:txBody>
      </p:sp>
      <p:sp>
        <p:nvSpPr>
          <p:cNvPr id="10" name="Rounded Rectangle 9"/>
          <p:cNvSpPr/>
          <p:nvPr/>
        </p:nvSpPr>
        <p:spPr>
          <a:xfrm>
            <a:off x="8321040" y="1216152"/>
            <a:ext cx="3367735" cy="2651760"/>
          </a:xfrm>
          <a:prstGeom prst="roundRect">
            <a:avLst>
              <a:gd name="adj" fmla="val 8000"/>
            </a:avLst>
          </a:prstGeom>
          <a:solidFill>
            <a:srgbClr val="F9E1E1"/>
          </a:solidFill>
          <a:ln>
            <a:noFill/>
          </a:ln>
          <a:effectLst/>
        </p:spPr>
        <p:txBody>
          <a:bodyPr rtlCol="0" anchor="ctr" wrap="square" lIns="128016" rIns="128016" tIns="73152" bIns="73152">
            <a:noAutofit/>
          </a:bodyPr>
          <a:lstStyle/>
          <a:p>
            <a:pPr algn="l">
              <a:spcBef>
                <a:spcPts val="0"/>
              </a:spcBef>
              <a:spcAft>
                <a:spcPts val="400"/>
              </a:spcAft>
            </a:pPr>
            <a:r>
              <a:rPr lang="tr-TR" sz="1900" b="1" i="0">
                <a:solidFill>
                  <a:srgbClr val="D3373A"/>
                </a:solidFill>
                <a:latin typeface="Calibri"/>
              </a:rPr>
              <a:t>Risk yüksek</a:t>
            </a:r>
          </a:p>
          <a:p>
            <a:pPr algn="l" marL="262985" indent="-262985">
              <a:spcBef>
                <a:spcPts val="0"/>
              </a:spcBef>
              <a:spcAft>
                <a:spcPts val="400"/>
              </a:spcAft>
            </a:pPr>
            <a:r>
              <a:rPr lang="tr-TR" sz="1900" b="1" i="0">
                <a:solidFill>
                  <a:srgbClr val="D3373A"/>
                </a:solidFill>
                <a:latin typeface="Calibri"/>
              </a:rPr>
              <a:t>A  </a:t>
            </a:r>
            <a:r>
              <a:rPr lang="tr-TR" sz="1900" b="0" i="0">
                <a:solidFill>
                  <a:srgbClr val="262626"/>
                </a:solidFill>
                <a:latin typeface="Calibri"/>
              </a:rPr>
              <a:t>İç Anadolu'nun ortası</a:t>
            </a:r>
          </a:p>
          <a:p>
            <a:pPr algn="l" marL="251723" indent="-251723">
              <a:spcBef>
                <a:spcPts val="0"/>
              </a:spcBef>
              <a:spcAft>
                <a:spcPts val="400"/>
              </a:spcAft>
            </a:pPr>
            <a:r>
              <a:rPr lang="tr-TR" sz="1900" b="1" i="0">
                <a:solidFill>
                  <a:srgbClr val="D3373A"/>
                </a:solidFill>
                <a:latin typeface="Calibri"/>
              </a:rPr>
              <a:t>B  </a:t>
            </a:r>
            <a:r>
              <a:rPr lang="tr-TR" sz="1900" b="0" i="0">
                <a:solidFill>
                  <a:srgbClr val="262626"/>
                </a:solidFill>
                <a:latin typeface="Calibri"/>
              </a:rPr>
              <a:t>Güneydoğu'nun güneyi</a:t>
            </a:r>
          </a:p>
          <a:p>
            <a:pPr algn="l" marL="243956" indent="-243956">
              <a:spcBef>
                <a:spcPts val="0"/>
              </a:spcBef>
              <a:spcAft>
                <a:spcPts val="0"/>
              </a:spcAft>
            </a:pPr>
            <a:r>
              <a:rPr lang="tr-TR" sz="1900" b="1" i="0">
                <a:solidFill>
                  <a:srgbClr val="D3373A"/>
                </a:solidFill>
                <a:latin typeface="Calibri"/>
              </a:rPr>
              <a:t>C  </a:t>
            </a:r>
            <a:r>
              <a:rPr lang="tr-TR" sz="1900" b="0" i="0">
                <a:solidFill>
                  <a:srgbClr val="262626"/>
                </a:solidFill>
                <a:latin typeface="Calibri"/>
              </a:rPr>
              <a:t>Iğdır çevresi</a:t>
            </a:r>
          </a:p>
        </p:txBody>
      </p:sp>
      <p:sp>
        <p:nvSpPr>
          <p:cNvPr id="11" name="Rounded Rectangle 10"/>
          <p:cNvSpPr/>
          <p:nvPr/>
        </p:nvSpPr>
        <p:spPr>
          <a:xfrm>
            <a:off x="8321040" y="4005072"/>
            <a:ext cx="3367735" cy="2240280"/>
          </a:xfrm>
          <a:prstGeom prst="roundRect">
            <a:avLst>
              <a:gd name="adj" fmla="val 6000"/>
            </a:avLst>
          </a:prstGeom>
          <a:solidFill>
            <a:srgbClr val="E3F1E4"/>
          </a:solidFill>
          <a:ln>
            <a:noFill/>
          </a:ln>
          <a:effectLst/>
        </p:spPr>
        <p:txBody>
          <a:bodyPr rtlCol="0" anchor="ctr"/>
          <a:lstStyle/>
          <a:p/>
        </p:txBody>
      </p:sp>
      <p:sp>
        <p:nvSpPr>
          <p:cNvPr id="12" name="Rectangle 11"/>
          <p:cNvSpPr/>
          <p:nvPr/>
        </p:nvSpPr>
        <p:spPr>
          <a:xfrm>
            <a:off x="8321040" y="4005072"/>
            <a:ext cx="109728" cy="2240280"/>
          </a:xfrm>
          <a:prstGeom prst="rect">
            <a:avLst/>
          </a:prstGeom>
          <a:solidFill>
            <a:srgbClr val="2E7D32"/>
          </a:solidFill>
          <a:ln>
            <a:noFill/>
          </a:ln>
          <a:effectLst/>
        </p:spPr>
        <p:txBody>
          <a:bodyPr rtlCol="0" anchor="ctr"/>
          <a:lstStyle/>
          <a:p/>
        </p:txBody>
      </p:sp>
      <p:sp>
        <p:nvSpPr>
          <p:cNvPr id="13" name="TextBox 12"/>
          <p:cNvSpPr txBox="1"/>
          <p:nvPr/>
        </p:nvSpPr>
        <p:spPr>
          <a:xfrm>
            <a:off x="8549640" y="4059936"/>
            <a:ext cx="3047695" cy="2130552"/>
          </a:xfrm>
          <a:prstGeom prst="rect">
            <a:avLst/>
          </a:prstGeom>
          <a:noFill/>
        </p:spPr>
        <p:txBody>
          <a:bodyPr wrap="square" anchor="ctr" lIns="73152" rIns="73152" tIns="36576" bIns="36576">
            <a:noAutofit/>
          </a:bodyPr>
          <a:lstStyle/>
          <a:p>
            <a:pPr algn="l">
              <a:spcBef>
                <a:spcPts val="0"/>
              </a:spcBef>
              <a:spcAft>
                <a:spcPts val="400"/>
              </a:spcAft>
            </a:pPr>
            <a:r>
              <a:rPr lang="tr-TR" sz="1700" b="1" i="0">
                <a:solidFill>
                  <a:srgbClr val="2E7D32"/>
                </a:solidFill>
                <a:latin typeface="Calibri"/>
              </a:rPr>
              <a:t>Erozyonun sonuçları (kitap)</a:t>
            </a:r>
          </a:p>
          <a:p>
            <a:pPr algn="l" marL="211327" indent="-211327">
              <a:spcBef>
                <a:spcPts val="0"/>
              </a:spcBef>
              <a:spcAft>
                <a:spcPts val="500"/>
              </a:spcAft>
            </a:pPr>
            <a:r>
              <a:rPr lang="tr-TR" sz="1700" b="1" i="0">
                <a:solidFill>
                  <a:srgbClr val="2C6696"/>
                </a:solidFill>
                <a:latin typeface="Calibri"/>
              </a:rPr>
              <a:t>•  </a:t>
            </a:r>
            <a:r>
              <a:rPr lang="tr-TR" sz="1700" b="0" i="0">
                <a:solidFill>
                  <a:srgbClr val="262626"/>
                </a:solidFill>
                <a:latin typeface="Calibri"/>
              </a:rPr>
              <a:t>Toprak örtüsü taşınır</a:t>
            </a:r>
          </a:p>
          <a:p>
            <a:pPr algn="l" marL="211327" indent="-211327">
              <a:spcBef>
                <a:spcPts val="0"/>
              </a:spcBef>
              <a:spcAft>
                <a:spcPts val="500"/>
              </a:spcAft>
            </a:pPr>
            <a:r>
              <a:rPr lang="tr-TR" sz="1700" b="1" i="0">
                <a:solidFill>
                  <a:srgbClr val="2C6696"/>
                </a:solidFill>
                <a:latin typeface="Calibri"/>
              </a:rPr>
              <a:t>•  </a:t>
            </a:r>
            <a:r>
              <a:rPr lang="tr-TR" sz="1700" b="0" i="0">
                <a:solidFill>
                  <a:srgbClr val="262626"/>
                </a:solidFill>
                <a:latin typeface="Calibri"/>
              </a:rPr>
              <a:t>Baraj ömrü kısalır</a:t>
            </a:r>
          </a:p>
          <a:p>
            <a:pPr algn="l" marL="211327" indent="-211327">
              <a:spcBef>
                <a:spcPts val="0"/>
              </a:spcBef>
              <a:spcAft>
                <a:spcPts val="0"/>
              </a:spcAft>
            </a:pPr>
            <a:r>
              <a:rPr lang="tr-TR" sz="1700" b="1" i="0">
                <a:solidFill>
                  <a:srgbClr val="2C6696"/>
                </a:solidFill>
                <a:latin typeface="Calibri"/>
              </a:rPr>
              <a:t>•  </a:t>
            </a:r>
            <a:r>
              <a:rPr lang="tr-TR" sz="1700" b="0" i="0">
                <a:solidFill>
                  <a:srgbClr val="262626"/>
                </a:solidFill>
                <a:latin typeface="Calibri"/>
              </a:rPr>
              <a:t>Çölleşme, kırsalda sosyal sorunlar</a:t>
            </a:r>
          </a:p>
        </p:txBody>
      </p:sp>
      <p:sp>
        <p:nvSpPr>
          <p:cNvPr id="14" name="TextBox 13"/>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15" name="Rounded Rectangle 14"/>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200</a:t>
            </a:r>
          </a:p>
        </p:txBody>
      </p:sp>
      <p:sp>
        <p:nvSpPr>
          <p:cNvPr id="16" name="TextBox 1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99 / 250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7-8. gruplar · UYGULAMA: doğa kaynaklı tehlikeler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UZMAN · s. 201</a:t>
            </a:r>
          </a:p>
        </p:txBody>
      </p:sp>
      <p:sp>
        <p:nvSpPr>
          <p:cNvPr id="6" name="Rounded Rectangle 5"/>
          <p:cNvSpPr/>
          <p:nvPr/>
        </p:nvSpPr>
        <p:spPr>
          <a:xfrm>
            <a:off x="502920" y="1216152"/>
            <a:ext cx="3606698" cy="475488"/>
          </a:xfrm>
          <a:prstGeom prst="roundRect">
            <a:avLst>
              <a:gd name="adj" fmla="val 20000"/>
            </a:avLst>
          </a:prstGeom>
          <a:solidFill>
            <a:srgbClr val="B82825"/>
          </a:solidFill>
          <a:ln>
            <a:noFill/>
          </a:ln>
          <a:effectLst/>
        </p:spPr>
        <p:txBody>
          <a:bodyPr rtlCol="0" anchor="ctr" wrap="square" lIns="128016" rIns="128016" tIns="36576" bIns="36576">
            <a:noAutofit/>
          </a:bodyPr>
          <a:lstStyle/>
          <a:p>
            <a:pPr algn="ctr">
              <a:spcBef>
                <a:spcPts val="0"/>
              </a:spcBef>
              <a:spcAft>
                <a:spcPts val="0"/>
              </a:spcAft>
            </a:pPr>
            <a:r>
              <a:rPr lang="tr-TR" sz="1500" b="1" i="0">
                <a:solidFill>
                  <a:srgbClr val="FFFFFF"/>
                </a:solidFill>
                <a:latin typeface="Calibri"/>
              </a:rPr>
              <a:t>Orman yangını</a:t>
            </a:r>
          </a:p>
        </p:txBody>
      </p:sp>
      <p:pic>
        <p:nvPicPr>
          <p:cNvPr id="7" name="Picture 6" descr="h31_s201_orman.jpg"/>
          <p:cNvPicPr>
            <a:picLocks noChangeAspect="1"/>
          </p:cNvPicPr>
          <p:nvPr/>
        </p:nvPicPr>
        <p:blipFill>
          <a:blip r:embed="rId3"/>
          <a:stretch>
            <a:fillRect/>
          </a:stretch>
        </p:blipFill>
        <p:spPr>
          <a:xfrm>
            <a:off x="505505" y="1764792"/>
            <a:ext cx="3601526" cy="1783080"/>
          </a:xfrm>
          <a:prstGeom prst="rect">
            <a:avLst/>
          </a:prstGeom>
          <a:ln w="9525">
            <a:solidFill>
              <a:srgbClr val="D9D9D9"/>
            </a:solidFill>
          </a:ln>
        </p:spPr>
      </p:pic>
      <p:sp>
        <p:nvSpPr>
          <p:cNvPr id="8" name="Rounded Rectangle 7"/>
          <p:cNvSpPr/>
          <p:nvPr/>
        </p:nvSpPr>
        <p:spPr>
          <a:xfrm>
            <a:off x="4292498" y="1216152"/>
            <a:ext cx="3606698" cy="475488"/>
          </a:xfrm>
          <a:prstGeom prst="roundRect">
            <a:avLst>
              <a:gd name="adj" fmla="val 20000"/>
            </a:avLst>
          </a:prstGeom>
          <a:solidFill>
            <a:srgbClr val="AD6626"/>
          </a:solidFill>
          <a:ln>
            <a:noFill/>
          </a:ln>
          <a:effectLst/>
        </p:spPr>
        <p:txBody>
          <a:bodyPr rtlCol="0" anchor="ctr" wrap="square" lIns="128016" rIns="128016" tIns="36576" bIns="36576">
            <a:noAutofit/>
          </a:bodyPr>
          <a:lstStyle/>
          <a:p>
            <a:pPr algn="ctr">
              <a:spcBef>
                <a:spcPts val="0"/>
              </a:spcBef>
              <a:spcAft>
                <a:spcPts val="0"/>
              </a:spcAft>
            </a:pPr>
            <a:r>
              <a:rPr lang="tr-TR" sz="1500" b="1" i="0">
                <a:solidFill>
                  <a:srgbClr val="FFFFFF"/>
                </a:solidFill>
                <a:latin typeface="Calibri"/>
              </a:rPr>
              <a:t>Heyelan ve kaya düşmesi</a:t>
            </a:r>
          </a:p>
        </p:txBody>
      </p:sp>
      <p:pic>
        <p:nvPicPr>
          <p:cNvPr id="9" name="Picture 8" descr="h31_s201_heyelan.jpg"/>
          <p:cNvPicPr>
            <a:picLocks noChangeAspect="1"/>
          </p:cNvPicPr>
          <p:nvPr/>
        </p:nvPicPr>
        <p:blipFill>
          <a:blip r:embed="rId4"/>
          <a:stretch>
            <a:fillRect/>
          </a:stretch>
        </p:blipFill>
        <p:spPr>
          <a:xfrm>
            <a:off x="4295083" y="1764792"/>
            <a:ext cx="3601526" cy="1783080"/>
          </a:xfrm>
          <a:prstGeom prst="rect">
            <a:avLst/>
          </a:prstGeom>
          <a:ln w="9525">
            <a:solidFill>
              <a:srgbClr val="D9D9D9"/>
            </a:solidFill>
          </a:ln>
        </p:spPr>
      </p:pic>
      <p:sp>
        <p:nvSpPr>
          <p:cNvPr id="10" name="Rounded Rectangle 9"/>
          <p:cNvSpPr/>
          <p:nvPr/>
        </p:nvSpPr>
        <p:spPr>
          <a:xfrm>
            <a:off x="8082076" y="1216152"/>
            <a:ext cx="3606698" cy="475488"/>
          </a:xfrm>
          <a:prstGeom prst="roundRect">
            <a:avLst>
              <a:gd name="adj" fmla="val 20000"/>
            </a:avLst>
          </a:prstGeom>
          <a:solidFill>
            <a:srgbClr val="894199"/>
          </a:solidFill>
          <a:ln>
            <a:noFill/>
          </a:ln>
          <a:effectLst/>
        </p:spPr>
        <p:txBody>
          <a:bodyPr rtlCol="0" anchor="ctr" wrap="square" lIns="128016" rIns="128016" tIns="36576" bIns="36576">
            <a:noAutofit/>
          </a:bodyPr>
          <a:lstStyle/>
          <a:p>
            <a:pPr algn="ctr">
              <a:spcBef>
                <a:spcPts val="0"/>
              </a:spcBef>
              <a:spcAft>
                <a:spcPts val="0"/>
              </a:spcAft>
            </a:pPr>
            <a:r>
              <a:rPr lang="tr-TR" sz="1500" b="1" i="0">
                <a:solidFill>
                  <a:srgbClr val="FFFFFF"/>
                </a:solidFill>
                <a:latin typeface="Calibri"/>
              </a:rPr>
              <a:t>Çığ</a:t>
            </a:r>
          </a:p>
        </p:txBody>
      </p:sp>
      <p:pic>
        <p:nvPicPr>
          <p:cNvPr id="11" name="Picture 10" descr="h31_s201_cig.jpg"/>
          <p:cNvPicPr>
            <a:picLocks noChangeAspect="1"/>
          </p:cNvPicPr>
          <p:nvPr/>
        </p:nvPicPr>
        <p:blipFill>
          <a:blip r:embed="rId5"/>
          <a:stretch>
            <a:fillRect/>
          </a:stretch>
        </p:blipFill>
        <p:spPr>
          <a:xfrm>
            <a:off x="8099421" y="1764792"/>
            <a:ext cx="3572006" cy="1783080"/>
          </a:xfrm>
          <a:prstGeom prst="rect">
            <a:avLst/>
          </a:prstGeom>
          <a:ln w="9525">
            <a:solidFill>
              <a:srgbClr val="D9D9D9"/>
            </a:solidFill>
          </a:ln>
        </p:spPr>
      </p:pic>
      <p:sp>
        <p:nvSpPr>
          <p:cNvPr id="12" name="Rounded Rectangle 11"/>
          <p:cNvSpPr/>
          <p:nvPr/>
        </p:nvSpPr>
        <p:spPr>
          <a:xfrm>
            <a:off x="502920" y="3730752"/>
            <a:ext cx="11185855" cy="251460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600"/>
              </a:spcAft>
            </a:pPr>
            <a:r>
              <a:rPr lang="tr-TR" sz="2000" b="0" i="1">
                <a:solidFill>
                  <a:srgbClr val="262626"/>
                </a:solidFill>
                <a:latin typeface="Calibri"/>
              </a:rPr>
              <a:t>Aşağıda verilen haritalardan yararlanarak soruları cevaplayınız.</a:t>
            </a:r>
          </a:p>
          <a:p>
            <a:pPr algn="l">
              <a:spcBef>
                <a:spcPts val="0"/>
              </a:spcBef>
              <a:spcAft>
                <a:spcPts val="600"/>
              </a:spcAft>
            </a:pPr>
            <a:r>
              <a:rPr lang="tr-TR" sz="2000" b="1" i="0">
                <a:solidFill>
                  <a:srgbClr val="262626"/>
                </a:solidFill>
                <a:latin typeface="Calibri"/>
              </a:rPr>
              <a:t>1. Türkiye’de orman yangını, heyelan ve çığ olaylarının en sık görüldüğü yerleri harita üzerinde işaretleyiniz.</a:t>
            </a:r>
          </a:p>
          <a:p>
            <a:pPr algn="l">
              <a:spcBef>
                <a:spcPts val="0"/>
              </a:spcBef>
              <a:spcAft>
                <a:spcPts val="0"/>
              </a:spcAft>
            </a:pPr>
            <a:r>
              <a:rPr lang="tr-TR" sz="2000" b="0" i="0">
                <a:solidFill>
                  <a:srgbClr val="767676"/>
                </a:solidFill>
                <a:latin typeface="Calibri"/>
              </a:rPr>
              <a:t>İpucu: lejantın en koyu kutusu = en sık görülen iller</a:t>
            </a:r>
          </a:p>
        </p:txBody>
      </p:sp>
      <p:sp>
        <p:nvSpPr>
          <p:cNvPr id="13" name="TextBox 1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14" name="Rounded Rectangle 1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201</a:t>
            </a:r>
          </a:p>
        </p:txBody>
      </p:sp>
      <p:sp>
        <p:nvSpPr>
          <p:cNvPr id="15" name="TextBox 1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100 / 250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1. soru — örnek cevap: orman yangını</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pic>
        <p:nvPicPr>
          <p:cNvPr id="6" name="Picture 5" descr="h31_s201_orman.jpg"/>
          <p:cNvPicPr>
            <a:picLocks noChangeAspect="1"/>
          </p:cNvPicPr>
          <p:nvPr/>
        </p:nvPicPr>
        <p:blipFill>
          <a:blip r:embed="rId3"/>
          <a:stretch>
            <a:fillRect/>
          </a:stretch>
        </p:blipFill>
        <p:spPr>
          <a:xfrm>
            <a:off x="502920" y="1235008"/>
            <a:ext cx="7680960" cy="3802766"/>
          </a:xfrm>
          <a:prstGeom prst="rect">
            <a:avLst/>
          </a:prstGeom>
          <a:ln w="9525">
            <a:solidFill>
              <a:srgbClr val="D9D9D9"/>
            </a:solidFill>
          </a:ln>
        </p:spPr>
      </p:pic>
      <p:sp>
        <p:nvSpPr>
          <p:cNvPr id="7" name="Oval 6"/>
          <p:cNvSpPr/>
          <p:nvPr/>
        </p:nvSpPr>
        <p:spPr>
          <a:xfrm>
            <a:off x="1516551" y="1566925"/>
            <a:ext cx="310896" cy="310896"/>
          </a:xfrm>
          <a:prstGeom prst="ellipse">
            <a:avLst/>
          </a:prstGeom>
          <a:noFill/>
          <a:ln w="38100">
            <a:solidFill>
              <a:srgbClr val="FCC021"/>
            </a:solidFill>
          </a:ln>
          <a:effectLst/>
        </p:spPr>
        <p:txBody>
          <a:bodyPr rtlCol="0" anchor="ctr"/>
          <a:lstStyle/>
          <a:p/>
        </p:txBody>
      </p:sp>
      <p:cxnSp>
        <p:nvCxnSpPr>
          <p:cNvPr id="8" name="Connector 7"/>
          <p:cNvCxnSpPr/>
          <p:nvPr/>
        </p:nvCxnSpPr>
        <p:spPr>
          <a:xfrm flipH="1" flipV="1">
            <a:off x="1169079" y="1338325"/>
            <a:ext cx="502920" cy="384048"/>
          </a:xfrm>
          <a:prstGeom prst="line">
            <a:avLst/>
          </a:prstGeom>
          <a:ln w="15875">
            <a:solidFill>
              <a:srgbClr val="4F4F4F"/>
            </a:solidFill>
          </a:ln>
        </p:spPr>
      </p:cxnSp>
      <p:sp>
        <p:nvSpPr>
          <p:cNvPr id="9" name="Rounded Rectangle 8"/>
          <p:cNvSpPr/>
          <p:nvPr/>
        </p:nvSpPr>
        <p:spPr>
          <a:xfrm>
            <a:off x="751979" y="1192021"/>
            <a:ext cx="834200" cy="292608"/>
          </a:xfrm>
          <a:prstGeom prst="roundRect">
            <a:avLst>
              <a:gd name="adj" fmla="val 25000"/>
            </a:avLst>
          </a:prstGeom>
          <a:solidFill>
            <a:srgbClr val="FFFFFF"/>
          </a:solidFill>
          <a:ln w="15875">
            <a:solidFill>
              <a:srgbClr val="4F4F4F"/>
            </a:solidFill>
          </a:ln>
          <a:effectLst/>
        </p:spPr>
        <p:txBody>
          <a:bodyPr rtlCol="0" anchor="ctr" wrap="square" lIns="36576" rIns="36576" tIns="0" bIns="0">
            <a:noAutofit/>
          </a:bodyPr>
          <a:lstStyle/>
          <a:p>
            <a:pPr algn="ctr">
              <a:spcBef>
                <a:spcPts val="0"/>
              </a:spcBef>
              <a:spcAft>
                <a:spcPts val="0"/>
              </a:spcAft>
            </a:pPr>
            <a:r>
              <a:rPr lang="tr-TR" sz="1400" b="1" i="0">
                <a:solidFill>
                  <a:srgbClr val="262626"/>
                </a:solidFill>
                <a:latin typeface="Calibri"/>
              </a:rPr>
              <a:t>İstanbul</a:t>
            </a:r>
          </a:p>
        </p:txBody>
      </p:sp>
      <p:sp>
        <p:nvSpPr>
          <p:cNvPr id="10" name="Oval 9"/>
          <p:cNvSpPr/>
          <p:nvPr/>
        </p:nvSpPr>
        <p:spPr>
          <a:xfrm>
            <a:off x="1857441" y="1676200"/>
            <a:ext cx="310896" cy="310896"/>
          </a:xfrm>
          <a:prstGeom prst="ellipse">
            <a:avLst/>
          </a:prstGeom>
          <a:noFill/>
          <a:ln w="38100">
            <a:solidFill>
              <a:srgbClr val="FCC021"/>
            </a:solidFill>
          </a:ln>
          <a:effectLst/>
        </p:spPr>
        <p:txBody>
          <a:bodyPr rtlCol="0" anchor="ctr"/>
          <a:lstStyle/>
          <a:p/>
        </p:txBody>
      </p:sp>
      <p:sp>
        <p:nvSpPr>
          <p:cNvPr id="11" name="Oval 10"/>
          <p:cNvSpPr/>
          <p:nvPr/>
        </p:nvSpPr>
        <p:spPr>
          <a:xfrm>
            <a:off x="1024882" y="3048693"/>
            <a:ext cx="310896" cy="310896"/>
          </a:xfrm>
          <a:prstGeom prst="ellipse">
            <a:avLst/>
          </a:prstGeom>
          <a:noFill/>
          <a:ln w="38100">
            <a:solidFill>
              <a:srgbClr val="FCC021"/>
            </a:solidFill>
          </a:ln>
          <a:effectLst/>
        </p:spPr>
        <p:txBody>
          <a:bodyPr rtlCol="0" anchor="ctr"/>
          <a:lstStyle/>
          <a:p/>
        </p:txBody>
      </p:sp>
      <p:cxnSp>
        <p:nvCxnSpPr>
          <p:cNvPr id="12" name="Connector 11"/>
          <p:cNvCxnSpPr/>
          <p:nvPr/>
        </p:nvCxnSpPr>
        <p:spPr>
          <a:xfrm>
            <a:off x="1180330" y="3204141"/>
            <a:ext cx="777240" cy="109728"/>
          </a:xfrm>
          <a:prstGeom prst="line">
            <a:avLst/>
          </a:prstGeom>
          <a:ln w="15875">
            <a:solidFill>
              <a:srgbClr val="4F4F4F"/>
            </a:solidFill>
          </a:ln>
        </p:spPr>
      </p:cxnSp>
      <p:sp>
        <p:nvSpPr>
          <p:cNvPr id="13" name="Rounded Rectangle 12"/>
          <p:cNvSpPr/>
          <p:nvPr/>
        </p:nvSpPr>
        <p:spPr>
          <a:xfrm>
            <a:off x="1655987" y="3167565"/>
            <a:ext cx="603165" cy="292608"/>
          </a:xfrm>
          <a:prstGeom prst="roundRect">
            <a:avLst>
              <a:gd name="adj" fmla="val 25000"/>
            </a:avLst>
          </a:prstGeom>
          <a:solidFill>
            <a:srgbClr val="FFFFFF"/>
          </a:solidFill>
          <a:ln w="15875">
            <a:solidFill>
              <a:srgbClr val="4F4F4F"/>
            </a:solidFill>
          </a:ln>
          <a:effectLst/>
        </p:spPr>
        <p:txBody>
          <a:bodyPr rtlCol="0" anchor="ctr" wrap="square" lIns="36576" rIns="36576" tIns="0" bIns="0">
            <a:noAutofit/>
          </a:bodyPr>
          <a:lstStyle/>
          <a:p>
            <a:pPr algn="ctr">
              <a:spcBef>
                <a:spcPts val="0"/>
              </a:spcBef>
              <a:spcAft>
                <a:spcPts val="0"/>
              </a:spcAft>
            </a:pPr>
            <a:r>
              <a:rPr lang="tr-TR" sz="1400" b="1" i="0">
                <a:solidFill>
                  <a:srgbClr val="262626"/>
                </a:solidFill>
                <a:latin typeface="Calibri"/>
              </a:rPr>
              <a:t>İzmir</a:t>
            </a:r>
          </a:p>
        </p:txBody>
      </p:sp>
      <p:sp>
        <p:nvSpPr>
          <p:cNvPr id="14" name="Oval 13"/>
          <p:cNvSpPr/>
          <p:nvPr/>
        </p:nvSpPr>
        <p:spPr>
          <a:xfrm>
            <a:off x="1352661" y="3555728"/>
            <a:ext cx="310896" cy="310896"/>
          </a:xfrm>
          <a:prstGeom prst="ellipse">
            <a:avLst/>
          </a:prstGeom>
          <a:noFill/>
          <a:ln w="38100">
            <a:solidFill>
              <a:srgbClr val="FCC021"/>
            </a:solidFill>
          </a:ln>
          <a:effectLst/>
        </p:spPr>
        <p:txBody>
          <a:bodyPr rtlCol="0" anchor="ctr"/>
          <a:lstStyle/>
          <a:p/>
        </p:txBody>
      </p:sp>
      <p:cxnSp>
        <p:nvCxnSpPr>
          <p:cNvPr id="15" name="Connector 14"/>
          <p:cNvCxnSpPr/>
          <p:nvPr/>
        </p:nvCxnSpPr>
        <p:spPr>
          <a:xfrm flipH="1">
            <a:off x="913749" y="3711176"/>
            <a:ext cx="594360" cy="384048"/>
          </a:xfrm>
          <a:prstGeom prst="line">
            <a:avLst/>
          </a:prstGeom>
          <a:ln w="15875">
            <a:solidFill>
              <a:srgbClr val="4F4F4F"/>
            </a:solidFill>
          </a:ln>
        </p:spPr>
      </p:cxnSp>
      <p:sp>
        <p:nvSpPr>
          <p:cNvPr id="16" name="Rounded Rectangle 15"/>
          <p:cNvSpPr/>
          <p:nvPr/>
        </p:nvSpPr>
        <p:spPr>
          <a:xfrm>
            <a:off x="562234" y="3948920"/>
            <a:ext cx="703030" cy="292608"/>
          </a:xfrm>
          <a:prstGeom prst="roundRect">
            <a:avLst>
              <a:gd name="adj" fmla="val 25000"/>
            </a:avLst>
          </a:prstGeom>
          <a:solidFill>
            <a:srgbClr val="FFFFFF"/>
          </a:solidFill>
          <a:ln w="15875">
            <a:solidFill>
              <a:srgbClr val="4F4F4F"/>
            </a:solidFill>
          </a:ln>
          <a:effectLst/>
        </p:spPr>
        <p:txBody>
          <a:bodyPr rtlCol="0" anchor="ctr" wrap="square" lIns="36576" rIns="36576" tIns="0" bIns="0">
            <a:noAutofit/>
          </a:bodyPr>
          <a:lstStyle/>
          <a:p>
            <a:pPr algn="ctr">
              <a:spcBef>
                <a:spcPts val="0"/>
              </a:spcBef>
              <a:spcAft>
                <a:spcPts val="0"/>
              </a:spcAft>
            </a:pPr>
            <a:r>
              <a:rPr lang="tr-TR" sz="1400" b="1" i="0">
                <a:solidFill>
                  <a:srgbClr val="262626"/>
                </a:solidFill>
                <a:latin typeface="Calibri"/>
              </a:rPr>
              <a:t>Muğla</a:t>
            </a:r>
          </a:p>
        </p:txBody>
      </p:sp>
      <p:sp>
        <p:nvSpPr>
          <p:cNvPr id="17" name="Oval 16"/>
          <p:cNvSpPr/>
          <p:nvPr/>
        </p:nvSpPr>
        <p:spPr>
          <a:xfrm>
            <a:off x="2067220" y="3896666"/>
            <a:ext cx="310896" cy="310896"/>
          </a:xfrm>
          <a:prstGeom prst="ellipse">
            <a:avLst/>
          </a:prstGeom>
          <a:noFill/>
          <a:ln w="38100">
            <a:solidFill>
              <a:srgbClr val="FCC021"/>
            </a:solidFill>
          </a:ln>
          <a:effectLst/>
        </p:spPr>
        <p:txBody>
          <a:bodyPr rtlCol="0" anchor="ctr"/>
          <a:lstStyle/>
          <a:p/>
        </p:txBody>
      </p:sp>
      <p:cxnSp>
        <p:nvCxnSpPr>
          <p:cNvPr id="18" name="Connector 17"/>
          <p:cNvCxnSpPr/>
          <p:nvPr/>
        </p:nvCxnSpPr>
        <p:spPr>
          <a:xfrm>
            <a:off x="2222668" y="4052114"/>
            <a:ext cx="45720" cy="566928"/>
          </a:xfrm>
          <a:prstGeom prst="line">
            <a:avLst/>
          </a:prstGeom>
          <a:ln w="15875">
            <a:solidFill>
              <a:srgbClr val="4F4F4F"/>
            </a:solidFill>
          </a:ln>
        </p:spPr>
      </p:cxnSp>
      <p:sp>
        <p:nvSpPr>
          <p:cNvPr id="19" name="Rounded Rectangle 18"/>
          <p:cNvSpPr/>
          <p:nvPr/>
        </p:nvSpPr>
        <p:spPr>
          <a:xfrm>
            <a:off x="1867641" y="4472738"/>
            <a:ext cx="801493" cy="292608"/>
          </a:xfrm>
          <a:prstGeom prst="roundRect">
            <a:avLst>
              <a:gd name="adj" fmla="val 25000"/>
            </a:avLst>
          </a:prstGeom>
          <a:solidFill>
            <a:srgbClr val="FFFFFF"/>
          </a:solidFill>
          <a:ln w="15875">
            <a:solidFill>
              <a:srgbClr val="4F4F4F"/>
            </a:solidFill>
          </a:ln>
          <a:effectLst/>
        </p:spPr>
        <p:txBody>
          <a:bodyPr rtlCol="0" anchor="ctr" wrap="square" lIns="36576" rIns="36576" tIns="0" bIns="0">
            <a:noAutofit/>
          </a:bodyPr>
          <a:lstStyle/>
          <a:p>
            <a:pPr algn="ctr">
              <a:spcBef>
                <a:spcPts val="0"/>
              </a:spcBef>
              <a:spcAft>
                <a:spcPts val="0"/>
              </a:spcAft>
            </a:pPr>
            <a:r>
              <a:rPr lang="tr-TR" sz="1400" b="1" i="0">
                <a:solidFill>
                  <a:srgbClr val="262626"/>
                </a:solidFill>
                <a:latin typeface="Calibri"/>
              </a:rPr>
              <a:t>Antalya</a:t>
            </a:r>
          </a:p>
        </p:txBody>
      </p:sp>
      <p:sp>
        <p:nvSpPr>
          <p:cNvPr id="20" name="Oval 19"/>
          <p:cNvSpPr/>
          <p:nvPr/>
        </p:nvSpPr>
        <p:spPr>
          <a:xfrm>
            <a:off x="4191229" y="3584140"/>
            <a:ext cx="310896" cy="310896"/>
          </a:xfrm>
          <a:prstGeom prst="ellipse">
            <a:avLst/>
          </a:prstGeom>
          <a:noFill/>
          <a:ln w="38100">
            <a:solidFill>
              <a:srgbClr val="FCC021"/>
            </a:solidFill>
          </a:ln>
          <a:effectLst/>
        </p:spPr>
        <p:txBody>
          <a:bodyPr rtlCol="0" anchor="ctr"/>
          <a:lstStyle/>
          <a:p/>
        </p:txBody>
      </p:sp>
      <p:cxnSp>
        <p:nvCxnSpPr>
          <p:cNvPr id="21" name="Connector 20"/>
          <p:cNvCxnSpPr/>
          <p:nvPr/>
        </p:nvCxnSpPr>
        <p:spPr>
          <a:xfrm>
            <a:off x="4346677" y="3739588"/>
            <a:ext cx="685800" cy="292608"/>
          </a:xfrm>
          <a:prstGeom prst="line">
            <a:avLst/>
          </a:prstGeom>
          <a:ln w="15875">
            <a:solidFill>
              <a:srgbClr val="4F4F4F"/>
            </a:solidFill>
          </a:ln>
        </p:spPr>
      </p:cxnSp>
      <p:sp>
        <p:nvSpPr>
          <p:cNvPr id="22" name="Rounded Rectangle 21"/>
          <p:cNvSpPr/>
          <p:nvPr/>
        </p:nvSpPr>
        <p:spPr>
          <a:xfrm>
            <a:off x="4677084" y="3885892"/>
            <a:ext cx="710785" cy="292608"/>
          </a:xfrm>
          <a:prstGeom prst="roundRect">
            <a:avLst>
              <a:gd name="adj" fmla="val 25000"/>
            </a:avLst>
          </a:prstGeom>
          <a:solidFill>
            <a:srgbClr val="FFFFFF"/>
          </a:solidFill>
          <a:ln w="15875">
            <a:solidFill>
              <a:srgbClr val="4F4F4F"/>
            </a:solidFill>
          </a:ln>
          <a:effectLst/>
        </p:spPr>
        <p:txBody>
          <a:bodyPr rtlCol="0" anchor="ctr" wrap="square" lIns="36576" rIns="36576" tIns="0" bIns="0">
            <a:noAutofit/>
          </a:bodyPr>
          <a:lstStyle/>
          <a:p>
            <a:pPr algn="ctr">
              <a:spcBef>
                <a:spcPts val="0"/>
              </a:spcBef>
              <a:spcAft>
                <a:spcPts val="0"/>
              </a:spcAft>
            </a:pPr>
            <a:r>
              <a:rPr lang="tr-TR" sz="1400" b="1" i="0">
                <a:solidFill>
                  <a:srgbClr val="262626"/>
                </a:solidFill>
                <a:latin typeface="Calibri"/>
              </a:rPr>
              <a:t>Adana</a:t>
            </a:r>
          </a:p>
        </p:txBody>
      </p:sp>
      <p:sp>
        <p:nvSpPr>
          <p:cNvPr id="23" name="TextBox 22"/>
          <p:cNvSpPr txBox="1"/>
          <p:nvPr/>
        </p:nvSpPr>
        <p:spPr>
          <a:xfrm>
            <a:off x="502920" y="5092070"/>
            <a:ext cx="7680960" cy="329184"/>
          </a:xfrm>
          <a:prstGeom prst="rect">
            <a:avLst/>
          </a:prstGeom>
          <a:noFill/>
        </p:spPr>
        <p:txBody>
          <a:bodyPr wrap="square" anchor="t" lIns="73152" rIns="73152" tIns="36576" bIns="36576">
            <a:noAutofit/>
          </a:bodyPr>
          <a:lstStyle/>
          <a:p>
            <a:pPr algn="l">
              <a:spcBef>
                <a:spcPts val="0"/>
              </a:spcBef>
              <a:spcAft>
                <a:spcPts val="0"/>
              </a:spcAft>
            </a:pPr>
            <a:r>
              <a:rPr lang="tr-TR" sz="1200" b="0" i="1">
                <a:solidFill>
                  <a:srgbClr val="767676"/>
                </a:solidFill>
                <a:latin typeface="Calibri"/>
              </a:rPr>
              <a:t>Türkiye’de İller Bazında Gerçekleşen Orman Yangınları Haritası (AFAD, MGM, 1950-2022)</a:t>
            </a:r>
          </a:p>
        </p:txBody>
      </p:sp>
      <p:sp>
        <p:nvSpPr>
          <p:cNvPr id="24" name="Rounded Rectangle 23"/>
          <p:cNvSpPr/>
          <p:nvPr/>
        </p:nvSpPr>
        <p:spPr>
          <a:xfrm>
            <a:off x="502920" y="5476118"/>
            <a:ext cx="7680960" cy="769234"/>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l">
              <a:spcBef>
                <a:spcPts val="0"/>
              </a:spcBef>
              <a:spcAft>
                <a:spcPts val="0"/>
              </a:spcAft>
            </a:pPr>
            <a:r>
              <a:rPr lang="tr-TR" sz="1700" b="1" i="0">
                <a:solidFill>
                  <a:srgbClr val="262626"/>
                </a:solidFill>
                <a:latin typeface="Calibri"/>
              </a:rPr>
              <a:t>Halka: lejantın en koyu sınıfı (1000+)</a:t>
            </a:r>
          </a:p>
        </p:txBody>
      </p:sp>
      <p:sp>
        <p:nvSpPr>
          <p:cNvPr id="25" name="Rounded Rectangle 24"/>
          <p:cNvSpPr/>
          <p:nvPr/>
        </p:nvSpPr>
        <p:spPr>
          <a:xfrm>
            <a:off x="8412480" y="1216152"/>
            <a:ext cx="3276295" cy="2743200"/>
          </a:xfrm>
          <a:prstGeom prst="roundRect">
            <a:avLst>
              <a:gd name="adj" fmla="val 6000"/>
            </a:avLst>
          </a:prstGeom>
          <a:solidFill>
            <a:srgbClr val="E3F1E4"/>
          </a:solidFill>
          <a:ln>
            <a:noFill/>
          </a:ln>
          <a:effectLst/>
        </p:spPr>
        <p:txBody>
          <a:bodyPr rtlCol="0" anchor="ctr"/>
          <a:lstStyle/>
          <a:p/>
        </p:txBody>
      </p:sp>
      <p:sp>
        <p:nvSpPr>
          <p:cNvPr id="26" name="Rectangle 25"/>
          <p:cNvSpPr/>
          <p:nvPr/>
        </p:nvSpPr>
        <p:spPr>
          <a:xfrm>
            <a:off x="8412480" y="1216152"/>
            <a:ext cx="109728" cy="2743200"/>
          </a:xfrm>
          <a:prstGeom prst="rect">
            <a:avLst/>
          </a:prstGeom>
          <a:solidFill>
            <a:srgbClr val="2E7D32"/>
          </a:solidFill>
          <a:ln>
            <a:noFill/>
          </a:ln>
          <a:effectLst/>
        </p:spPr>
        <p:txBody>
          <a:bodyPr rtlCol="0" anchor="ctr"/>
          <a:lstStyle/>
          <a:p/>
        </p:txBody>
      </p:sp>
      <p:sp>
        <p:nvSpPr>
          <p:cNvPr id="27" name="TextBox 26"/>
          <p:cNvSpPr txBox="1"/>
          <p:nvPr/>
        </p:nvSpPr>
        <p:spPr>
          <a:xfrm>
            <a:off x="8641080" y="1271016"/>
            <a:ext cx="2956255" cy="2633472"/>
          </a:xfrm>
          <a:prstGeom prst="rect">
            <a:avLst/>
          </a:prstGeom>
          <a:noFill/>
        </p:spPr>
        <p:txBody>
          <a:bodyPr wrap="square" anchor="ctr" lIns="73152" rIns="73152" tIns="36576" bIns="36576">
            <a:noAutofit/>
          </a:bodyPr>
          <a:lstStyle/>
          <a:p>
            <a:pPr algn="l">
              <a:spcBef>
                <a:spcPts val="0"/>
              </a:spcBef>
              <a:spcAft>
                <a:spcPts val="400"/>
              </a:spcAft>
            </a:pPr>
            <a:r>
              <a:rPr lang="tr-TR" sz="1900" b="1" i="0">
                <a:solidFill>
                  <a:srgbClr val="2E7D32"/>
                </a:solidFill>
                <a:latin typeface="Calibri"/>
              </a:rPr>
              <a:t>En sık (1000+)</a:t>
            </a:r>
          </a:p>
          <a:p>
            <a:pPr algn="l">
              <a:spcBef>
                <a:spcPts val="0"/>
              </a:spcBef>
              <a:spcAft>
                <a:spcPts val="500"/>
              </a:spcAft>
            </a:pPr>
            <a:r>
              <a:rPr lang="tr-TR" sz="1900" b="1" i="0">
                <a:solidFill>
                  <a:srgbClr val="262626"/>
                </a:solidFill>
                <a:latin typeface="Calibri"/>
              </a:rPr>
              <a:t>İstanbul, İzmir, Muğla, Antalya, Adana</a:t>
            </a:r>
          </a:p>
          <a:p>
            <a:pPr algn="l">
              <a:spcBef>
                <a:spcPts val="0"/>
              </a:spcBef>
              <a:spcAft>
                <a:spcPts val="0"/>
              </a:spcAft>
            </a:pPr>
            <a:r>
              <a:rPr lang="tr-TR" sz="1900" b="0" i="0">
                <a:solidFill>
                  <a:srgbClr val="262626"/>
                </a:solidFill>
                <a:latin typeface="Calibri"/>
              </a:rPr>
              <a:t>Ege, Akdeniz ve Marmara kıyıları</a:t>
            </a:r>
          </a:p>
        </p:txBody>
      </p:sp>
      <p:sp>
        <p:nvSpPr>
          <p:cNvPr id="28" name="Rounded Rectangle 27"/>
          <p:cNvSpPr/>
          <p:nvPr/>
        </p:nvSpPr>
        <p:spPr>
          <a:xfrm>
            <a:off x="8412480" y="4096512"/>
            <a:ext cx="3276295" cy="2148840"/>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l">
              <a:spcBef>
                <a:spcPts val="0"/>
              </a:spcBef>
              <a:spcAft>
                <a:spcPts val="400"/>
              </a:spcAft>
            </a:pPr>
            <a:r>
              <a:rPr lang="tr-TR" sz="1600" b="1" i="0">
                <a:solidFill>
                  <a:srgbClr val="262626"/>
                </a:solidFill>
                <a:latin typeface="Calibri"/>
              </a:rPr>
              <a:t>Sonraki sınıf</a:t>
            </a:r>
          </a:p>
          <a:p>
            <a:pPr algn="l">
              <a:spcBef>
                <a:spcPts val="0"/>
              </a:spcBef>
              <a:spcAft>
                <a:spcPts val="0"/>
              </a:spcAft>
            </a:pPr>
            <a:r>
              <a:rPr lang="tr-TR" sz="1600" b="0" i="0">
                <a:solidFill>
                  <a:srgbClr val="262626"/>
                </a:solidFill>
                <a:latin typeface="Calibri"/>
              </a:rPr>
              <a:t>500-999: Çanakkale, Balıkesir, Bursa, Aydın, Manisa, Mersin, Hatay, Kahramanmaraş…</a:t>
            </a:r>
          </a:p>
        </p:txBody>
      </p:sp>
      <p:sp>
        <p:nvSpPr>
          <p:cNvPr id="29" name="TextBox 2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30" name="Rounded Rectangle 29"/>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201</a:t>
            </a:r>
          </a:p>
        </p:txBody>
      </p:sp>
      <p:sp>
        <p:nvSpPr>
          <p:cNvPr id="31" name="TextBox 30"/>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101 / 250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1. soru — örnek cevap: heyelan ve kaya düşmesi</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pic>
        <p:nvPicPr>
          <p:cNvPr id="6" name="Picture 5" descr="h31_s201_heyelan.jpg"/>
          <p:cNvPicPr>
            <a:picLocks noChangeAspect="1"/>
          </p:cNvPicPr>
          <p:nvPr/>
        </p:nvPicPr>
        <p:blipFill>
          <a:blip r:embed="rId3"/>
          <a:stretch>
            <a:fillRect/>
          </a:stretch>
        </p:blipFill>
        <p:spPr>
          <a:xfrm>
            <a:off x="502920" y="1235008"/>
            <a:ext cx="7680960" cy="3802766"/>
          </a:xfrm>
          <a:prstGeom prst="rect">
            <a:avLst/>
          </a:prstGeom>
          <a:ln w="9525">
            <a:solidFill>
              <a:srgbClr val="D9D9D9"/>
            </a:solidFill>
          </a:ln>
        </p:spPr>
      </p:pic>
      <p:sp>
        <p:nvSpPr>
          <p:cNvPr id="7" name="Oval 6"/>
          <p:cNvSpPr/>
          <p:nvPr/>
        </p:nvSpPr>
        <p:spPr>
          <a:xfrm>
            <a:off x="5740532" y="1798588"/>
            <a:ext cx="310896" cy="310896"/>
          </a:xfrm>
          <a:prstGeom prst="ellipse">
            <a:avLst/>
          </a:prstGeom>
          <a:noFill/>
          <a:ln w="38100">
            <a:solidFill>
              <a:srgbClr val="FCC021"/>
            </a:solidFill>
          </a:ln>
          <a:effectLst/>
        </p:spPr>
        <p:txBody>
          <a:bodyPr rtlCol="0" anchor="ctr"/>
          <a:lstStyle/>
          <a:p/>
        </p:txBody>
      </p:sp>
      <p:cxnSp>
        <p:nvCxnSpPr>
          <p:cNvPr id="8" name="Connector 7"/>
          <p:cNvCxnSpPr/>
          <p:nvPr/>
        </p:nvCxnSpPr>
        <p:spPr>
          <a:xfrm flipH="1">
            <a:off x="5393060" y="1954036"/>
            <a:ext cx="502920" cy="566928"/>
          </a:xfrm>
          <a:prstGeom prst="line">
            <a:avLst/>
          </a:prstGeom>
          <a:ln w="15875">
            <a:solidFill>
              <a:srgbClr val="4F4F4F"/>
            </a:solidFill>
          </a:ln>
        </p:spPr>
      </p:cxnSp>
      <p:sp>
        <p:nvSpPr>
          <p:cNvPr id="9" name="Rounded Rectangle 8"/>
          <p:cNvSpPr/>
          <p:nvPr/>
        </p:nvSpPr>
        <p:spPr>
          <a:xfrm>
            <a:off x="4984215" y="2374660"/>
            <a:ext cx="817689" cy="292608"/>
          </a:xfrm>
          <a:prstGeom prst="roundRect">
            <a:avLst>
              <a:gd name="adj" fmla="val 25000"/>
            </a:avLst>
          </a:prstGeom>
          <a:solidFill>
            <a:srgbClr val="FFFFFF"/>
          </a:solidFill>
          <a:ln w="15875">
            <a:solidFill>
              <a:srgbClr val="4F4F4F"/>
            </a:solidFill>
          </a:ln>
          <a:effectLst/>
        </p:spPr>
        <p:txBody>
          <a:bodyPr rtlCol="0" anchor="ctr" wrap="square" lIns="36576" rIns="36576" tIns="0" bIns="0">
            <a:noAutofit/>
          </a:bodyPr>
          <a:lstStyle/>
          <a:p>
            <a:pPr algn="ctr">
              <a:spcBef>
                <a:spcPts val="0"/>
              </a:spcBef>
              <a:spcAft>
                <a:spcPts val="0"/>
              </a:spcAft>
            </a:pPr>
            <a:r>
              <a:rPr lang="tr-TR" sz="1400" b="1" i="0">
                <a:solidFill>
                  <a:srgbClr val="262626"/>
                </a:solidFill>
                <a:latin typeface="Calibri"/>
              </a:rPr>
              <a:t>Trabzon</a:t>
            </a:r>
          </a:p>
        </p:txBody>
      </p:sp>
      <p:sp>
        <p:nvSpPr>
          <p:cNvPr id="10" name="Oval 9"/>
          <p:cNvSpPr/>
          <p:nvPr/>
        </p:nvSpPr>
        <p:spPr>
          <a:xfrm>
            <a:off x="6164460" y="1746136"/>
            <a:ext cx="310896" cy="310896"/>
          </a:xfrm>
          <a:prstGeom prst="ellipse">
            <a:avLst/>
          </a:prstGeom>
          <a:noFill/>
          <a:ln w="38100">
            <a:solidFill>
              <a:srgbClr val="FCC021"/>
            </a:solidFill>
          </a:ln>
          <a:effectLst/>
        </p:spPr>
        <p:txBody>
          <a:bodyPr rtlCol="0" anchor="ctr"/>
          <a:lstStyle/>
          <a:p/>
        </p:txBody>
      </p:sp>
      <p:cxnSp>
        <p:nvCxnSpPr>
          <p:cNvPr id="11" name="Connector 10"/>
          <p:cNvCxnSpPr/>
          <p:nvPr/>
        </p:nvCxnSpPr>
        <p:spPr>
          <a:xfrm>
            <a:off x="6319908" y="1901584"/>
            <a:ext cx="457200" cy="566928"/>
          </a:xfrm>
          <a:prstGeom prst="line">
            <a:avLst/>
          </a:prstGeom>
          <a:ln w="15875">
            <a:solidFill>
              <a:srgbClr val="4F4F4F"/>
            </a:solidFill>
          </a:ln>
        </p:spPr>
      </p:cxnSp>
      <p:sp>
        <p:nvSpPr>
          <p:cNvPr id="12" name="Rounded Rectangle 11"/>
          <p:cNvSpPr/>
          <p:nvPr/>
        </p:nvSpPr>
        <p:spPr>
          <a:xfrm>
            <a:off x="6511022" y="2322208"/>
            <a:ext cx="532172" cy="292608"/>
          </a:xfrm>
          <a:prstGeom prst="roundRect">
            <a:avLst>
              <a:gd name="adj" fmla="val 25000"/>
            </a:avLst>
          </a:prstGeom>
          <a:solidFill>
            <a:srgbClr val="FFFFFF"/>
          </a:solidFill>
          <a:ln w="15875">
            <a:solidFill>
              <a:srgbClr val="4F4F4F"/>
            </a:solidFill>
          </a:ln>
          <a:effectLst/>
        </p:spPr>
        <p:txBody>
          <a:bodyPr rtlCol="0" anchor="ctr" wrap="square" lIns="36576" rIns="36576" tIns="0" bIns="0">
            <a:noAutofit/>
          </a:bodyPr>
          <a:lstStyle/>
          <a:p>
            <a:pPr algn="ctr">
              <a:spcBef>
                <a:spcPts val="0"/>
              </a:spcBef>
              <a:spcAft>
                <a:spcPts val="0"/>
              </a:spcAft>
            </a:pPr>
            <a:r>
              <a:rPr lang="tr-TR" sz="1400" b="1" i="0">
                <a:solidFill>
                  <a:srgbClr val="262626"/>
                </a:solidFill>
                <a:latin typeface="Calibri"/>
              </a:rPr>
              <a:t>Rize</a:t>
            </a:r>
          </a:p>
        </p:txBody>
      </p:sp>
      <p:sp>
        <p:nvSpPr>
          <p:cNvPr id="13" name="TextBox 12"/>
          <p:cNvSpPr txBox="1"/>
          <p:nvPr/>
        </p:nvSpPr>
        <p:spPr>
          <a:xfrm>
            <a:off x="502920" y="5092070"/>
            <a:ext cx="7680960" cy="329184"/>
          </a:xfrm>
          <a:prstGeom prst="rect">
            <a:avLst/>
          </a:prstGeom>
          <a:noFill/>
        </p:spPr>
        <p:txBody>
          <a:bodyPr wrap="square" anchor="t" lIns="73152" rIns="73152" tIns="36576" bIns="36576">
            <a:noAutofit/>
          </a:bodyPr>
          <a:lstStyle/>
          <a:p>
            <a:pPr algn="l">
              <a:spcBef>
                <a:spcPts val="0"/>
              </a:spcBef>
              <a:spcAft>
                <a:spcPts val="0"/>
              </a:spcAft>
            </a:pPr>
            <a:r>
              <a:rPr lang="tr-TR" sz="1200" b="0" i="1">
                <a:solidFill>
                  <a:srgbClr val="767676"/>
                </a:solidFill>
                <a:latin typeface="Calibri"/>
              </a:rPr>
              <a:t>Türkiye’de İller Bazında Gerçekleşen Heyelan ve Kaya Düşmesi Haritası (AFAD, MGM, 1950-2022)</a:t>
            </a:r>
          </a:p>
        </p:txBody>
      </p:sp>
      <p:sp>
        <p:nvSpPr>
          <p:cNvPr id="14" name="Rounded Rectangle 13"/>
          <p:cNvSpPr/>
          <p:nvPr/>
        </p:nvSpPr>
        <p:spPr>
          <a:xfrm>
            <a:off x="502920" y="5476118"/>
            <a:ext cx="7680960" cy="769234"/>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l">
              <a:spcBef>
                <a:spcPts val="0"/>
              </a:spcBef>
              <a:spcAft>
                <a:spcPts val="0"/>
              </a:spcAft>
            </a:pPr>
            <a:r>
              <a:rPr lang="tr-TR" sz="1700" b="1" i="0">
                <a:solidFill>
                  <a:srgbClr val="262626"/>
                </a:solidFill>
                <a:latin typeface="Calibri"/>
              </a:rPr>
              <a:t>Halka: lejantın en koyu sınıfı (1000+)</a:t>
            </a:r>
          </a:p>
        </p:txBody>
      </p:sp>
      <p:sp>
        <p:nvSpPr>
          <p:cNvPr id="15" name="Rounded Rectangle 14"/>
          <p:cNvSpPr/>
          <p:nvPr/>
        </p:nvSpPr>
        <p:spPr>
          <a:xfrm>
            <a:off x="8412480" y="1216152"/>
            <a:ext cx="3276295" cy="2743200"/>
          </a:xfrm>
          <a:prstGeom prst="roundRect">
            <a:avLst>
              <a:gd name="adj" fmla="val 6000"/>
            </a:avLst>
          </a:prstGeom>
          <a:solidFill>
            <a:srgbClr val="E3F1E4"/>
          </a:solidFill>
          <a:ln>
            <a:noFill/>
          </a:ln>
          <a:effectLst/>
        </p:spPr>
        <p:txBody>
          <a:bodyPr rtlCol="0" anchor="ctr"/>
          <a:lstStyle/>
          <a:p/>
        </p:txBody>
      </p:sp>
      <p:sp>
        <p:nvSpPr>
          <p:cNvPr id="16" name="Rectangle 15"/>
          <p:cNvSpPr/>
          <p:nvPr/>
        </p:nvSpPr>
        <p:spPr>
          <a:xfrm>
            <a:off x="8412480" y="1216152"/>
            <a:ext cx="109728" cy="2743200"/>
          </a:xfrm>
          <a:prstGeom prst="rect">
            <a:avLst/>
          </a:prstGeom>
          <a:solidFill>
            <a:srgbClr val="2E7D32"/>
          </a:solidFill>
          <a:ln>
            <a:noFill/>
          </a:ln>
          <a:effectLst/>
        </p:spPr>
        <p:txBody>
          <a:bodyPr rtlCol="0" anchor="ctr"/>
          <a:lstStyle/>
          <a:p/>
        </p:txBody>
      </p:sp>
      <p:sp>
        <p:nvSpPr>
          <p:cNvPr id="17" name="TextBox 16"/>
          <p:cNvSpPr txBox="1"/>
          <p:nvPr/>
        </p:nvSpPr>
        <p:spPr>
          <a:xfrm>
            <a:off x="8641080" y="1271016"/>
            <a:ext cx="2956255" cy="2633472"/>
          </a:xfrm>
          <a:prstGeom prst="rect">
            <a:avLst/>
          </a:prstGeom>
          <a:noFill/>
        </p:spPr>
        <p:txBody>
          <a:bodyPr wrap="square" anchor="ctr" lIns="73152" rIns="73152" tIns="36576" bIns="36576">
            <a:noAutofit/>
          </a:bodyPr>
          <a:lstStyle/>
          <a:p>
            <a:pPr algn="l">
              <a:spcBef>
                <a:spcPts val="0"/>
              </a:spcBef>
              <a:spcAft>
                <a:spcPts val="400"/>
              </a:spcAft>
            </a:pPr>
            <a:r>
              <a:rPr lang="tr-TR" sz="1900" b="1" i="0">
                <a:solidFill>
                  <a:srgbClr val="2E7D32"/>
                </a:solidFill>
                <a:latin typeface="Calibri"/>
              </a:rPr>
              <a:t>En sık (1000+)</a:t>
            </a:r>
          </a:p>
          <a:p>
            <a:pPr algn="l">
              <a:spcBef>
                <a:spcPts val="0"/>
              </a:spcBef>
              <a:spcAft>
                <a:spcPts val="500"/>
              </a:spcAft>
            </a:pPr>
            <a:r>
              <a:rPr lang="tr-TR" sz="1900" b="1" i="0">
                <a:solidFill>
                  <a:srgbClr val="262626"/>
                </a:solidFill>
                <a:latin typeface="Calibri"/>
              </a:rPr>
              <a:t>Trabzon, Rize</a:t>
            </a:r>
          </a:p>
          <a:p>
            <a:pPr algn="l">
              <a:spcBef>
                <a:spcPts val="0"/>
              </a:spcBef>
              <a:spcAft>
                <a:spcPts val="0"/>
              </a:spcAft>
            </a:pPr>
            <a:r>
              <a:rPr lang="tr-TR" sz="1900" b="0" i="0">
                <a:solidFill>
                  <a:srgbClr val="262626"/>
                </a:solidFill>
                <a:latin typeface="Calibri"/>
              </a:rPr>
              <a:t>Doğu Karadeniz kıyısı</a:t>
            </a:r>
          </a:p>
        </p:txBody>
      </p:sp>
      <p:sp>
        <p:nvSpPr>
          <p:cNvPr id="18" name="Rounded Rectangle 17"/>
          <p:cNvSpPr/>
          <p:nvPr/>
        </p:nvSpPr>
        <p:spPr>
          <a:xfrm>
            <a:off x="8412480" y="4096512"/>
            <a:ext cx="3276295" cy="2148840"/>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l">
              <a:spcBef>
                <a:spcPts val="0"/>
              </a:spcBef>
              <a:spcAft>
                <a:spcPts val="400"/>
              </a:spcAft>
            </a:pPr>
            <a:r>
              <a:rPr lang="tr-TR" sz="1600" b="1" i="0">
                <a:solidFill>
                  <a:srgbClr val="262626"/>
                </a:solidFill>
                <a:latin typeface="Calibri"/>
              </a:rPr>
              <a:t>Sonraki sınıf</a:t>
            </a:r>
          </a:p>
          <a:p>
            <a:pPr algn="l">
              <a:spcBef>
                <a:spcPts val="0"/>
              </a:spcBef>
              <a:spcAft>
                <a:spcPts val="0"/>
              </a:spcAft>
            </a:pPr>
            <a:r>
              <a:rPr lang="tr-TR" sz="1600" b="0" i="0">
                <a:solidFill>
                  <a:srgbClr val="262626"/>
                </a:solidFill>
                <a:latin typeface="Calibri"/>
              </a:rPr>
              <a:t>500-999: Artvin, Giresun, Zonguldak, Kastamonu; Sivas, Erzincan, Erzurum, Tunceli, Bingöl, Malatya, Kahramanmaraş, Kayseri</a:t>
            </a:r>
          </a:p>
        </p:txBody>
      </p:sp>
      <p:sp>
        <p:nvSpPr>
          <p:cNvPr id="19" name="TextBox 1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0" name="Rounded Rectangle 19"/>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201</a:t>
            </a:r>
          </a:p>
        </p:txBody>
      </p:sp>
      <p:sp>
        <p:nvSpPr>
          <p:cNvPr id="21" name="TextBox 20"/>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102 / 250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1. soru — örnek cevap: çığ</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pic>
        <p:nvPicPr>
          <p:cNvPr id="6" name="Picture 5" descr="h31_s201_cig.jpg"/>
          <p:cNvPicPr>
            <a:picLocks noChangeAspect="1"/>
          </p:cNvPicPr>
          <p:nvPr/>
        </p:nvPicPr>
        <p:blipFill>
          <a:blip r:embed="rId3"/>
          <a:stretch>
            <a:fillRect/>
          </a:stretch>
        </p:blipFill>
        <p:spPr>
          <a:xfrm>
            <a:off x="502920" y="1219294"/>
            <a:ext cx="7680960" cy="3834194"/>
          </a:xfrm>
          <a:prstGeom prst="rect">
            <a:avLst/>
          </a:prstGeom>
          <a:ln w="9525">
            <a:solidFill>
              <a:srgbClr val="D9D9D9"/>
            </a:solidFill>
          </a:ln>
        </p:spPr>
      </p:pic>
      <p:sp>
        <p:nvSpPr>
          <p:cNvPr id="7" name="Oval 6"/>
          <p:cNvSpPr/>
          <p:nvPr/>
        </p:nvSpPr>
        <p:spPr>
          <a:xfrm>
            <a:off x="5744903" y="2642117"/>
            <a:ext cx="310896" cy="310896"/>
          </a:xfrm>
          <a:prstGeom prst="ellipse">
            <a:avLst/>
          </a:prstGeom>
          <a:noFill/>
          <a:ln w="38100">
            <a:solidFill>
              <a:srgbClr val="FCC021"/>
            </a:solidFill>
          </a:ln>
          <a:effectLst/>
        </p:spPr>
        <p:txBody>
          <a:bodyPr rtlCol="0" anchor="ctr"/>
          <a:lstStyle/>
          <a:p/>
        </p:txBody>
      </p:sp>
      <p:cxnSp>
        <p:nvCxnSpPr>
          <p:cNvPr id="8" name="Connector 7"/>
          <p:cNvCxnSpPr/>
          <p:nvPr/>
        </p:nvCxnSpPr>
        <p:spPr>
          <a:xfrm flipH="1" flipV="1">
            <a:off x="5214551" y="2230637"/>
            <a:ext cx="685800" cy="566928"/>
          </a:xfrm>
          <a:prstGeom prst="line">
            <a:avLst/>
          </a:prstGeom>
          <a:ln w="15875">
            <a:solidFill>
              <a:srgbClr val="4F4F4F"/>
            </a:solidFill>
          </a:ln>
        </p:spPr>
      </p:cxnSp>
      <p:sp>
        <p:nvSpPr>
          <p:cNvPr id="9" name="Rounded Rectangle 8"/>
          <p:cNvSpPr/>
          <p:nvPr/>
        </p:nvSpPr>
        <p:spPr>
          <a:xfrm>
            <a:off x="4834993" y="2084333"/>
            <a:ext cx="759115" cy="292608"/>
          </a:xfrm>
          <a:prstGeom prst="roundRect">
            <a:avLst>
              <a:gd name="adj" fmla="val 25000"/>
            </a:avLst>
          </a:prstGeom>
          <a:solidFill>
            <a:srgbClr val="FFFFFF"/>
          </a:solidFill>
          <a:ln w="15875">
            <a:solidFill>
              <a:srgbClr val="4F4F4F"/>
            </a:solidFill>
          </a:ln>
          <a:effectLst/>
        </p:spPr>
        <p:txBody>
          <a:bodyPr rtlCol="0" anchor="ctr" wrap="square" lIns="36576" rIns="36576" tIns="0" bIns="0">
            <a:noAutofit/>
          </a:bodyPr>
          <a:lstStyle/>
          <a:p>
            <a:pPr algn="ctr">
              <a:spcBef>
                <a:spcPts val="0"/>
              </a:spcBef>
              <a:spcAft>
                <a:spcPts val="0"/>
              </a:spcAft>
            </a:pPr>
            <a:r>
              <a:rPr lang="tr-TR" sz="1400" b="1" i="0">
                <a:solidFill>
                  <a:srgbClr val="262626"/>
                </a:solidFill>
                <a:latin typeface="Calibri"/>
              </a:rPr>
              <a:t>Tunceli</a:t>
            </a:r>
          </a:p>
        </p:txBody>
      </p:sp>
      <p:sp>
        <p:nvSpPr>
          <p:cNvPr id="10" name="Oval 9"/>
          <p:cNvSpPr/>
          <p:nvPr/>
        </p:nvSpPr>
        <p:spPr>
          <a:xfrm>
            <a:off x="6258424" y="2668349"/>
            <a:ext cx="310896" cy="310896"/>
          </a:xfrm>
          <a:prstGeom prst="ellipse">
            <a:avLst/>
          </a:prstGeom>
          <a:noFill/>
          <a:ln w="38100">
            <a:solidFill>
              <a:srgbClr val="FCC021"/>
            </a:solidFill>
          </a:ln>
          <a:effectLst/>
        </p:spPr>
        <p:txBody>
          <a:bodyPr rtlCol="0" anchor="ctr"/>
          <a:lstStyle/>
          <a:p/>
        </p:txBody>
      </p:sp>
      <p:cxnSp>
        <p:nvCxnSpPr>
          <p:cNvPr id="11" name="Connector 10"/>
          <p:cNvCxnSpPr/>
          <p:nvPr/>
        </p:nvCxnSpPr>
        <p:spPr>
          <a:xfrm flipV="1">
            <a:off x="6413872" y="2165429"/>
            <a:ext cx="137160" cy="658368"/>
          </a:xfrm>
          <a:prstGeom prst="line">
            <a:avLst/>
          </a:prstGeom>
          <a:ln w="15875">
            <a:solidFill>
              <a:srgbClr val="4F4F4F"/>
            </a:solidFill>
          </a:ln>
        </p:spPr>
      </p:cxnSp>
      <p:sp>
        <p:nvSpPr>
          <p:cNvPr id="12" name="Rounded Rectangle 11"/>
          <p:cNvSpPr/>
          <p:nvPr/>
        </p:nvSpPr>
        <p:spPr>
          <a:xfrm>
            <a:off x="6202579" y="2019125"/>
            <a:ext cx="696906" cy="292608"/>
          </a:xfrm>
          <a:prstGeom prst="roundRect">
            <a:avLst>
              <a:gd name="adj" fmla="val 25000"/>
            </a:avLst>
          </a:prstGeom>
          <a:solidFill>
            <a:srgbClr val="FFFFFF"/>
          </a:solidFill>
          <a:ln w="15875">
            <a:solidFill>
              <a:srgbClr val="4F4F4F"/>
            </a:solidFill>
          </a:ln>
          <a:effectLst/>
        </p:spPr>
        <p:txBody>
          <a:bodyPr rtlCol="0" anchor="ctr" wrap="square" lIns="36576" rIns="36576" tIns="0" bIns="0">
            <a:noAutofit/>
          </a:bodyPr>
          <a:lstStyle/>
          <a:p>
            <a:pPr algn="ctr">
              <a:spcBef>
                <a:spcPts val="0"/>
              </a:spcBef>
              <a:spcAft>
                <a:spcPts val="0"/>
              </a:spcAft>
            </a:pPr>
            <a:r>
              <a:rPr lang="tr-TR" sz="1400" b="1" i="0">
                <a:solidFill>
                  <a:srgbClr val="262626"/>
                </a:solidFill>
                <a:latin typeface="Calibri"/>
              </a:rPr>
              <a:t>Bingöl</a:t>
            </a:r>
          </a:p>
        </p:txBody>
      </p:sp>
      <p:sp>
        <p:nvSpPr>
          <p:cNvPr id="13" name="Oval 12"/>
          <p:cNvSpPr/>
          <p:nvPr/>
        </p:nvSpPr>
        <p:spPr>
          <a:xfrm>
            <a:off x="6916167" y="2873830"/>
            <a:ext cx="310896" cy="310896"/>
          </a:xfrm>
          <a:prstGeom prst="ellipse">
            <a:avLst/>
          </a:prstGeom>
          <a:noFill/>
          <a:ln w="38100">
            <a:solidFill>
              <a:srgbClr val="FCC021"/>
            </a:solidFill>
          </a:ln>
          <a:effectLst/>
        </p:spPr>
        <p:txBody>
          <a:bodyPr rtlCol="0" anchor="ctr"/>
          <a:lstStyle/>
          <a:p/>
        </p:txBody>
      </p:sp>
      <p:cxnSp>
        <p:nvCxnSpPr>
          <p:cNvPr id="14" name="Connector 13"/>
          <p:cNvCxnSpPr/>
          <p:nvPr/>
        </p:nvCxnSpPr>
        <p:spPr>
          <a:xfrm>
            <a:off x="7071615" y="3029278"/>
            <a:ext cx="502920" cy="548640"/>
          </a:xfrm>
          <a:prstGeom prst="line">
            <a:avLst/>
          </a:prstGeom>
          <a:ln w="15875">
            <a:solidFill>
              <a:srgbClr val="4F4F4F"/>
            </a:solidFill>
          </a:ln>
        </p:spPr>
      </p:cxnSp>
      <p:sp>
        <p:nvSpPr>
          <p:cNvPr id="15" name="Rounded Rectangle 14"/>
          <p:cNvSpPr/>
          <p:nvPr/>
        </p:nvSpPr>
        <p:spPr>
          <a:xfrm>
            <a:off x="7276200" y="3431614"/>
            <a:ext cx="596669" cy="292608"/>
          </a:xfrm>
          <a:prstGeom prst="roundRect">
            <a:avLst>
              <a:gd name="adj" fmla="val 25000"/>
            </a:avLst>
          </a:prstGeom>
          <a:solidFill>
            <a:srgbClr val="FFFFFF"/>
          </a:solidFill>
          <a:ln w="15875">
            <a:solidFill>
              <a:srgbClr val="4F4F4F"/>
            </a:solidFill>
          </a:ln>
          <a:effectLst/>
        </p:spPr>
        <p:txBody>
          <a:bodyPr rtlCol="0" anchor="ctr" wrap="square" lIns="36576" rIns="36576" tIns="0" bIns="0">
            <a:noAutofit/>
          </a:bodyPr>
          <a:lstStyle/>
          <a:p>
            <a:pPr algn="ctr">
              <a:spcBef>
                <a:spcPts val="0"/>
              </a:spcBef>
              <a:spcAft>
                <a:spcPts val="0"/>
              </a:spcAft>
            </a:pPr>
            <a:r>
              <a:rPr lang="tr-TR" sz="1400" b="1" i="0">
                <a:solidFill>
                  <a:srgbClr val="262626"/>
                </a:solidFill>
                <a:latin typeface="Calibri"/>
              </a:rPr>
              <a:t>Bitlis</a:t>
            </a:r>
          </a:p>
        </p:txBody>
      </p:sp>
      <p:sp>
        <p:nvSpPr>
          <p:cNvPr id="16" name="TextBox 15"/>
          <p:cNvSpPr txBox="1"/>
          <p:nvPr/>
        </p:nvSpPr>
        <p:spPr>
          <a:xfrm>
            <a:off x="502920" y="5123498"/>
            <a:ext cx="7680960" cy="329184"/>
          </a:xfrm>
          <a:prstGeom prst="rect">
            <a:avLst/>
          </a:prstGeom>
          <a:noFill/>
        </p:spPr>
        <p:txBody>
          <a:bodyPr wrap="square" anchor="t" lIns="73152" rIns="73152" tIns="36576" bIns="36576">
            <a:noAutofit/>
          </a:bodyPr>
          <a:lstStyle/>
          <a:p>
            <a:pPr algn="l">
              <a:spcBef>
                <a:spcPts val="0"/>
              </a:spcBef>
              <a:spcAft>
                <a:spcPts val="0"/>
              </a:spcAft>
            </a:pPr>
            <a:r>
              <a:rPr lang="tr-TR" sz="1200" b="0" i="1">
                <a:solidFill>
                  <a:srgbClr val="767676"/>
                </a:solidFill>
                <a:latin typeface="Calibri"/>
              </a:rPr>
              <a:t>Türkiye’de İller Bazında Gerçekleşen Çığ Olayları Haritası (AFAD, MGM, 1950-2022)</a:t>
            </a:r>
          </a:p>
        </p:txBody>
      </p:sp>
      <p:sp>
        <p:nvSpPr>
          <p:cNvPr id="17" name="Rounded Rectangle 16"/>
          <p:cNvSpPr/>
          <p:nvPr/>
        </p:nvSpPr>
        <p:spPr>
          <a:xfrm>
            <a:off x="502920" y="5507546"/>
            <a:ext cx="7680960" cy="737806"/>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l">
              <a:spcBef>
                <a:spcPts val="0"/>
              </a:spcBef>
              <a:spcAft>
                <a:spcPts val="0"/>
              </a:spcAft>
            </a:pPr>
            <a:r>
              <a:rPr lang="tr-TR" sz="1700" b="1" i="0">
                <a:solidFill>
                  <a:srgbClr val="262626"/>
                </a:solidFill>
                <a:latin typeface="Calibri"/>
              </a:rPr>
              <a:t>Halka: lejantın en koyu sınıfı (100+)</a:t>
            </a:r>
          </a:p>
        </p:txBody>
      </p:sp>
      <p:sp>
        <p:nvSpPr>
          <p:cNvPr id="18" name="Rounded Rectangle 17"/>
          <p:cNvSpPr/>
          <p:nvPr/>
        </p:nvSpPr>
        <p:spPr>
          <a:xfrm>
            <a:off x="8412480" y="1216152"/>
            <a:ext cx="3276295" cy="2743200"/>
          </a:xfrm>
          <a:prstGeom prst="roundRect">
            <a:avLst>
              <a:gd name="adj" fmla="val 6000"/>
            </a:avLst>
          </a:prstGeom>
          <a:solidFill>
            <a:srgbClr val="E3F1E4"/>
          </a:solidFill>
          <a:ln>
            <a:noFill/>
          </a:ln>
          <a:effectLst/>
        </p:spPr>
        <p:txBody>
          <a:bodyPr rtlCol="0" anchor="ctr"/>
          <a:lstStyle/>
          <a:p/>
        </p:txBody>
      </p:sp>
      <p:sp>
        <p:nvSpPr>
          <p:cNvPr id="19" name="Rectangle 18"/>
          <p:cNvSpPr/>
          <p:nvPr/>
        </p:nvSpPr>
        <p:spPr>
          <a:xfrm>
            <a:off x="8412480" y="1216152"/>
            <a:ext cx="109728" cy="2743200"/>
          </a:xfrm>
          <a:prstGeom prst="rect">
            <a:avLst/>
          </a:prstGeom>
          <a:solidFill>
            <a:srgbClr val="2E7D32"/>
          </a:solidFill>
          <a:ln>
            <a:noFill/>
          </a:ln>
          <a:effectLst/>
        </p:spPr>
        <p:txBody>
          <a:bodyPr rtlCol="0" anchor="ctr"/>
          <a:lstStyle/>
          <a:p/>
        </p:txBody>
      </p:sp>
      <p:sp>
        <p:nvSpPr>
          <p:cNvPr id="20" name="TextBox 19"/>
          <p:cNvSpPr txBox="1"/>
          <p:nvPr/>
        </p:nvSpPr>
        <p:spPr>
          <a:xfrm>
            <a:off x="8641080" y="1271016"/>
            <a:ext cx="2956255" cy="2633472"/>
          </a:xfrm>
          <a:prstGeom prst="rect">
            <a:avLst/>
          </a:prstGeom>
          <a:noFill/>
        </p:spPr>
        <p:txBody>
          <a:bodyPr wrap="square" anchor="ctr" lIns="73152" rIns="73152" tIns="36576" bIns="36576">
            <a:noAutofit/>
          </a:bodyPr>
          <a:lstStyle/>
          <a:p>
            <a:pPr algn="l">
              <a:spcBef>
                <a:spcPts val="0"/>
              </a:spcBef>
              <a:spcAft>
                <a:spcPts val="400"/>
              </a:spcAft>
            </a:pPr>
            <a:r>
              <a:rPr lang="tr-TR" sz="1900" b="1" i="0">
                <a:solidFill>
                  <a:srgbClr val="2E7D32"/>
                </a:solidFill>
                <a:latin typeface="Calibri"/>
              </a:rPr>
              <a:t>En sık (100+)</a:t>
            </a:r>
          </a:p>
          <a:p>
            <a:pPr algn="l">
              <a:spcBef>
                <a:spcPts val="0"/>
              </a:spcBef>
              <a:spcAft>
                <a:spcPts val="500"/>
              </a:spcAft>
            </a:pPr>
            <a:r>
              <a:rPr lang="tr-TR" sz="1900" b="1" i="0">
                <a:solidFill>
                  <a:srgbClr val="262626"/>
                </a:solidFill>
                <a:latin typeface="Calibri"/>
              </a:rPr>
              <a:t>Tunceli, Bingöl, Bitlis</a:t>
            </a:r>
          </a:p>
          <a:p>
            <a:pPr algn="l">
              <a:spcBef>
                <a:spcPts val="0"/>
              </a:spcBef>
              <a:spcAft>
                <a:spcPts val="0"/>
              </a:spcAft>
            </a:pPr>
            <a:r>
              <a:rPr lang="tr-TR" sz="1900" b="0" i="0">
                <a:solidFill>
                  <a:srgbClr val="262626"/>
                </a:solidFill>
                <a:latin typeface="Calibri"/>
              </a:rPr>
              <a:t>Doğu Anadolu'nun yüksek kesimleri</a:t>
            </a:r>
          </a:p>
        </p:txBody>
      </p:sp>
      <p:sp>
        <p:nvSpPr>
          <p:cNvPr id="21" name="Rounded Rectangle 20"/>
          <p:cNvSpPr/>
          <p:nvPr/>
        </p:nvSpPr>
        <p:spPr>
          <a:xfrm>
            <a:off x="8412480" y="4096512"/>
            <a:ext cx="3276295" cy="2148840"/>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l">
              <a:spcBef>
                <a:spcPts val="0"/>
              </a:spcBef>
              <a:spcAft>
                <a:spcPts val="400"/>
              </a:spcAft>
            </a:pPr>
            <a:r>
              <a:rPr lang="tr-TR" sz="1600" b="1" i="0">
                <a:solidFill>
                  <a:srgbClr val="262626"/>
                </a:solidFill>
                <a:latin typeface="Calibri"/>
              </a:rPr>
              <a:t>Sonraki sınıf</a:t>
            </a:r>
          </a:p>
          <a:p>
            <a:pPr algn="l">
              <a:spcBef>
                <a:spcPts val="0"/>
              </a:spcBef>
              <a:spcAft>
                <a:spcPts val="0"/>
              </a:spcAft>
            </a:pPr>
            <a:r>
              <a:rPr lang="tr-TR" sz="1600" b="0" i="0">
                <a:solidFill>
                  <a:srgbClr val="262626"/>
                </a:solidFill>
                <a:latin typeface="Calibri"/>
              </a:rPr>
              <a:t>50-99: Erzurum, Bayburt, Trabzon, Elazığ, Malatya, Hakkâri</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201</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103 / 250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2. soru: yer ile coğrafi özellikler arasındaki ilişki</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2. SORU</a:t>
            </a:r>
          </a:p>
        </p:txBody>
      </p:sp>
      <p:sp>
        <p:nvSpPr>
          <p:cNvPr id="6" name="Rounded Rectangle 5"/>
          <p:cNvSpPr/>
          <p:nvPr/>
        </p:nvSpPr>
        <p:spPr>
          <a:xfrm>
            <a:off x="502920" y="1216152"/>
            <a:ext cx="3606698" cy="475488"/>
          </a:xfrm>
          <a:prstGeom prst="roundRect">
            <a:avLst>
              <a:gd name="adj" fmla="val 20000"/>
            </a:avLst>
          </a:prstGeom>
          <a:solidFill>
            <a:srgbClr val="B82825"/>
          </a:solidFill>
          <a:ln>
            <a:noFill/>
          </a:ln>
          <a:effectLst/>
        </p:spPr>
        <p:txBody>
          <a:bodyPr rtlCol="0" anchor="ctr" wrap="square" lIns="128016" rIns="128016" tIns="36576" bIns="36576">
            <a:noAutofit/>
          </a:bodyPr>
          <a:lstStyle/>
          <a:p>
            <a:pPr algn="ctr">
              <a:spcBef>
                <a:spcPts val="0"/>
              </a:spcBef>
              <a:spcAft>
                <a:spcPts val="0"/>
              </a:spcAft>
            </a:pPr>
            <a:r>
              <a:rPr lang="tr-TR" sz="1500" b="1" i="0">
                <a:solidFill>
                  <a:srgbClr val="FFFFFF"/>
                </a:solidFill>
                <a:latin typeface="Calibri"/>
              </a:rPr>
              <a:t>Orman yangını</a:t>
            </a:r>
          </a:p>
        </p:txBody>
      </p:sp>
      <p:pic>
        <p:nvPicPr>
          <p:cNvPr id="7" name="Picture 6" descr="h31_s201_orman.jpg"/>
          <p:cNvPicPr>
            <a:picLocks noChangeAspect="1"/>
          </p:cNvPicPr>
          <p:nvPr/>
        </p:nvPicPr>
        <p:blipFill>
          <a:blip r:embed="rId3"/>
          <a:stretch>
            <a:fillRect/>
          </a:stretch>
        </p:blipFill>
        <p:spPr>
          <a:xfrm>
            <a:off x="505505" y="1764792"/>
            <a:ext cx="3601526" cy="1783080"/>
          </a:xfrm>
          <a:prstGeom prst="rect">
            <a:avLst/>
          </a:prstGeom>
          <a:ln w="9525">
            <a:solidFill>
              <a:srgbClr val="D9D9D9"/>
            </a:solidFill>
          </a:ln>
        </p:spPr>
      </p:pic>
      <p:sp>
        <p:nvSpPr>
          <p:cNvPr id="8" name="Oval 7"/>
          <p:cNvSpPr/>
          <p:nvPr/>
        </p:nvSpPr>
        <p:spPr>
          <a:xfrm>
            <a:off x="971378" y="1911017"/>
            <a:ext cx="164592" cy="164592"/>
          </a:xfrm>
          <a:prstGeom prst="ellipse">
            <a:avLst/>
          </a:prstGeom>
          <a:noFill/>
          <a:ln w="28575">
            <a:solidFill>
              <a:srgbClr val="FCC021"/>
            </a:solidFill>
          </a:ln>
          <a:effectLst/>
        </p:spPr>
        <p:txBody>
          <a:bodyPr rtlCol="0" anchor="ctr"/>
          <a:lstStyle/>
          <a:p/>
        </p:txBody>
      </p:sp>
      <p:sp>
        <p:nvSpPr>
          <p:cNvPr id="9" name="Oval 8"/>
          <p:cNvSpPr/>
          <p:nvPr/>
        </p:nvSpPr>
        <p:spPr>
          <a:xfrm>
            <a:off x="1131218" y="1962255"/>
            <a:ext cx="164592" cy="164592"/>
          </a:xfrm>
          <a:prstGeom prst="ellipse">
            <a:avLst/>
          </a:prstGeom>
          <a:noFill/>
          <a:ln w="28575">
            <a:solidFill>
              <a:srgbClr val="FCC021"/>
            </a:solidFill>
          </a:ln>
          <a:effectLst/>
        </p:spPr>
        <p:txBody>
          <a:bodyPr rtlCol="0" anchor="ctr"/>
          <a:lstStyle/>
          <a:p/>
        </p:txBody>
      </p:sp>
      <p:sp>
        <p:nvSpPr>
          <p:cNvPr id="10" name="Oval 9"/>
          <p:cNvSpPr/>
          <p:nvPr/>
        </p:nvSpPr>
        <p:spPr>
          <a:xfrm>
            <a:off x="740840" y="2605803"/>
            <a:ext cx="164592" cy="164592"/>
          </a:xfrm>
          <a:prstGeom prst="ellipse">
            <a:avLst/>
          </a:prstGeom>
          <a:noFill/>
          <a:ln w="28575">
            <a:solidFill>
              <a:srgbClr val="FCC021"/>
            </a:solidFill>
          </a:ln>
          <a:effectLst/>
        </p:spPr>
        <p:txBody>
          <a:bodyPr rtlCol="0" anchor="ctr"/>
          <a:lstStyle/>
          <a:p/>
        </p:txBody>
      </p:sp>
      <p:sp>
        <p:nvSpPr>
          <p:cNvPr id="11" name="Oval 10"/>
          <p:cNvSpPr/>
          <p:nvPr/>
        </p:nvSpPr>
        <p:spPr>
          <a:xfrm>
            <a:off x="894532" y="2843547"/>
            <a:ext cx="164592" cy="164592"/>
          </a:xfrm>
          <a:prstGeom prst="ellipse">
            <a:avLst/>
          </a:prstGeom>
          <a:noFill/>
          <a:ln w="28575">
            <a:solidFill>
              <a:srgbClr val="FCC021"/>
            </a:solidFill>
          </a:ln>
          <a:effectLst/>
        </p:spPr>
        <p:txBody>
          <a:bodyPr rtlCol="0" anchor="ctr"/>
          <a:lstStyle/>
          <a:p/>
        </p:txBody>
      </p:sp>
      <p:sp>
        <p:nvSpPr>
          <p:cNvPr id="12" name="Oval 11"/>
          <p:cNvSpPr/>
          <p:nvPr/>
        </p:nvSpPr>
        <p:spPr>
          <a:xfrm>
            <a:off x="1229581" y="3003409"/>
            <a:ext cx="164592" cy="164592"/>
          </a:xfrm>
          <a:prstGeom prst="ellipse">
            <a:avLst/>
          </a:prstGeom>
          <a:noFill/>
          <a:ln w="28575">
            <a:solidFill>
              <a:srgbClr val="FCC021"/>
            </a:solidFill>
          </a:ln>
          <a:effectLst/>
        </p:spPr>
        <p:txBody>
          <a:bodyPr rtlCol="0" anchor="ctr"/>
          <a:lstStyle/>
          <a:p/>
        </p:txBody>
      </p:sp>
      <p:sp>
        <p:nvSpPr>
          <p:cNvPr id="13" name="Oval 12"/>
          <p:cNvSpPr/>
          <p:nvPr/>
        </p:nvSpPr>
        <p:spPr>
          <a:xfrm>
            <a:off x="2225508" y="2856869"/>
            <a:ext cx="164592" cy="164592"/>
          </a:xfrm>
          <a:prstGeom prst="ellipse">
            <a:avLst/>
          </a:prstGeom>
          <a:noFill/>
          <a:ln w="28575">
            <a:solidFill>
              <a:srgbClr val="FCC021"/>
            </a:solidFill>
          </a:ln>
          <a:effectLst/>
        </p:spPr>
        <p:txBody>
          <a:bodyPr rtlCol="0" anchor="ctr"/>
          <a:lstStyle/>
          <a:p/>
        </p:txBody>
      </p:sp>
      <p:sp>
        <p:nvSpPr>
          <p:cNvPr id="14" name="Rounded Rectangle 13"/>
          <p:cNvSpPr/>
          <p:nvPr/>
        </p:nvSpPr>
        <p:spPr>
          <a:xfrm>
            <a:off x="4292498" y="1216152"/>
            <a:ext cx="3606698" cy="475488"/>
          </a:xfrm>
          <a:prstGeom prst="roundRect">
            <a:avLst>
              <a:gd name="adj" fmla="val 20000"/>
            </a:avLst>
          </a:prstGeom>
          <a:solidFill>
            <a:srgbClr val="AD6626"/>
          </a:solidFill>
          <a:ln>
            <a:noFill/>
          </a:ln>
          <a:effectLst/>
        </p:spPr>
        <p:txBody>
          <a:bodyPr rtlCol="0" anchor="ctr" wrap="square" lIns="128016" rIns="128016" tIns="36576" bIns="36576">
            <a:noAutofit/>
          </a:bodyPr>
          <a:lstStyle/>
          <a:p>
            <a:pPr algn="ctr">
              <a:spcBef>
                <a:spcPts val="0"/>
              </a:spcBef>
              <a:spcAft>
                <a:spcPts val="0"/>
              </a:spcAft>
            </a:pPr>
            <a:r>
              <a:rPr lang="tr-TR" sz="1500" b="1" i="0">
                <a:solidFill>
                  <a:srgbClr val="FFFFFF"/>
                </a:solidFill>
                <a:latin typeface="Calibri"/>
              </a:rPr>
              <a:t>Heyelan ve kaya düşmesi</a:t>
            </a:r>
          </a:p>
        </p:txBody>
      </p:sp>
      <p:pic>
        <p:nvPicPr>
          <p:cNvPr id="15" name="Picture 14" descr="h31_s201_heyelan.jpg"/>
          <p:cNvPicPr>
            <a:picLocks noChangeAspect="1"/>
          </p:cNvPicPr>
          <p:nvPr/>
        </p:nvPicPr>
        <p:blipFill>
          <a:blip r:embed="rId4"/>
          <a:stretch>
            <a:fillRect/>
          </a:stretch>
        </p:blipFill>
        <p:spPr>
          <a:xfrm>
            <a:off x="4295083" y="1764792"/>
            <a:ext cx="3601526" cy="1783080"/>
          </a:xfrm>
          <a:prstGeom prst="rect">
            <a:avLst/>
          </a:prstGeom>
          <a:ln w="9525">
            <a:solidFill>
              <a:srgbClr val="D9D9D9"/>
            </a:solidFill>
          </a:ln>
        </p:spPr>
      </p:pic>
      <p:sp>
        <p:nvSpPr>
          <p:cNvPr id="16" name="Oval 15"/>
          <p:cNvSpPr/>
          <p:nvPr/>
        </p:nvSpPr>
        <p:spPr>
          <a:xfrm>
            <a:off x="6741539" y="2019641"/>
            <a:ext cx="164592" cy="164592"/>
          </a:xfrm>
          <a:prstGeom prst="ellipse">
            <a:avLst/>
          </a:prstGeom>
          <a:noFill/>
          <a:ln w="28575">
            <a:solidFill>
              <a:srgbClr val="FCC021"/>
            </a:solidFill>
          </a:ln>
          <a:effectLst/>
        </p:spPr>
        <p:txBody>
          <a:bodyPr rtlCol="0" anchor="ctr"/>
          <a:lstStyle/>
          <a:p/>
        </p:txBody>
      </p:sp>
      <p:sp>
        <p:nvSpPr>
          <p:cNvPr id="17" name="Oval 16"/>
          <p:cNvSpPr/>
          <p:nvPr/>
        </p:nvSpPr>
        <p:spPr>
          <a:xfrm>
            <a:off x="6940315" y="1995047"/>
            <a:ext cx="164592" cy="164592"/>
          </a:xfrm>
          <a:prstGeom prst="ellipse">
            <a:avLst/>
          </a:prstGeom>
          <a:noFill/>
          <a:ln w="28575">
            <a:solidFill>
              <a:srgbClr val="FCC021"/>
            </a:solidFill>
          </a:ln>
          <a:effectLst/>
        </p:spPr>
        <p:txBody>
          <a:bodyPr rtlCol="0" anchor="ctr"/>
          <a:lstStyle/>
          <a:p/>
        </p:txBody>
      </p:sp>
      <p:sp>
        <p:nvSpPr>
          <p:cNvPr id="18" name="Rounded Rectangle 17"/>
          <p:cNvSpPr/>
          <p:nvPr/>
        </p:nvSpPr>
        <p:spPr>
          <a:xfrm>
            <a:off x="8082076" y="1216152"/>
            <a:ext cx="3606698" cy="475488"/>
          </a:xfrm>
          <a:prstGeom prst="roundRect">
            <a:avLst>
              <a:gd name="adj" fmla="val 20000"/>
            </a:avLst>
          </a:prstGeom>
          <a:solidFill>
            <a:srgbClr val="894199"/>
          </a:solidFill>
          <a:ln>
            <a:noFill/>
          </a:ln>
          <a:effectLst/>
        </p:spPr>
        <p:txBody>
          <a:bodyPr rtlCol="0" anchor="ctr" wrap="square" lIns="128016" rIns="128016" tIns="36576" bIns="36576">
            <a:noAutofit/>
          </a:bodyPr>
          <a:lstStyle/>
          <a:p>
            <a:pPr algn="ctr">
              <a:spcBef>
                <a:spcPts val="0"/>
              </a:spcBef>
              <a:spcAft>
                <a:spcPts val="0"/>
              </a:spcAft>
            </a:pPr>
            <a:r>
              <a:rPr lang="tr-TR" sz="1500" b="1" i="0">
                <a:solidFill>
                  <a:srgbClr val="FFFFFF"/>
                </a:solidFill>
                <a:latin typeface="Calibri"/>
              </a:rPr>
              <a:t>Çığ</a:t>
            </a:r>
          </a:p>
        </p:txBody>
      </p:sp>
      <p:pic>
        <p:nvPicPr>
          <p:cNvPr id="19" name="Picture 18" descr="h31_s201_cig.jpg"/>
          <p:cNvPicPr>
            <a:picLocks noChangeAspect="1"/>
          </p:cNvPicPr>
          <p:nvPr/>
        </p:nvPicPr>
        <p:blipFill>
          <a:blip r:embed="rId5"/>
          <a:stretch>
            <a:fillRect/>
          </a:stretch>
        </p:blipFill>
        <p:spPr>
          <a:xfrm>
            <a:off x="8099421" y="1764792"/>
            <a:ext cx="3572006" cy="1783080"/>
          </a:xfrm>
          <a:prstGeom prst="rect">
            <a:avLst/>
          </a:prstGeom>
          <a:ln w="9525">
            <a:solidFill>
              <a:srgbClr val="D9D9D9"/>
            </a:solidFill>
          </a:ln>
        </p:spPr>
      </p:pic>
      <p:sp>
        <p:nvSpPr>
          <p:cNvPr id="20" name="Oval 19"/>
          <p:cNvSpPr/>
          <p:nvPr/>
        </p:nvSpPr>
        <p:spPr>
          <a:xfrm>
            <a:off x="10527183" y="2416466"/>
            <a:ext cx="164592" cy="164592"/>
          </a:xfrm>
          <a:prstGeom prst="ellipse">
            <a:avLst/>
          </a:prstGeom>
          <a:noFill/>
          <a:ln w="28575">
            <a:solidFill>
              <a:srgbClr val="FCC021"/>
            </a:solidFill>
          </a:ln>
          <a:effectLst/>
        </p:spPr>
        <p:txBody>
          <a:bodyPr rtlCol="0" anchor="ctr"/>
          <a:lstStyle/>
          <a:p/>
        </p:txBody>
      </p:sp>
      <p:sp>
        <p:nvSpPr>
          <p:cNvPr id="21" name="Oval 20"/>
          <p:cNvSpPr/>
          <p:nvPr/>
        </p:nvSpPr>
        <p:spPr>
          <a:xfrm>
            <a:off x="10765994" y="2428665"/>
            <a:ext cx="164592" cy="164592"/>
          </a:xfrm>
          <a:prstGeom prst="ellipse">
            <a:avLst/>
          </a:prstGeom>
          <a:noFill/>
          <a:ln w="28575">
            <a:solidFill>
              <a:srgbClr val="FCC021"/>
            </a:solidFill>
          </a:ln>
          <a:effectLst/>
        </p:spPr>
        <p:txBody>
          <a:bodyPr rtlCol="0" anchor="ctr"/>
          <a:lstStyle/>
          <a:p/>
        </p:txBody>
      </p:sp>
      <p:sp>
        <p:nvSpPr>
          <p:cNvPr id="22" name="Oval 21"/>
          <p:cNvSpPr/>
          <p:nvPr/>
        </p:nvSpPr>
        <p:spPr>
          <a:xfrm>
            <a:off x="11071876" y="2524223"/>
            <a:ext cx="164592" cy="164592"/>
          </a:xfrm>
          <a:prstGeom prst="ellipse">
            <a:avLst/>
          </a:prstGeom>
          <a:noFill/>
          <a:ln w="28575">
            <a:solidFill>
              <a:srgbClr val="FCC021"/>
            </a:solidFill>
          </a:ln>
          <a:effectLst/>
        </p:spPr>
        <p:txBody>
          <a:bodyPr rtlCol="0" anchor="ctr"/>
          <a:lstStyle/>
          <a:p/>
        </p:txBody>
      </p:sp>
      <p:sp>
        <p:nvSpPr>
          <p:cNvPr id="23" name="Rounded Rectangle 22"/>
          <p:cNvSpPr/>
          <p:nvPr/>
        </p:nvSpPr>
        <p:spPr>
          <a:xfrm>
            <a:off x="502920" y="3730752"/>
            <a:ext cx="11185855" cy="251460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100" b="1" i="0">
                <a:solidFill>
                  <a:srgbClr val="262626"/>
                </a:solidFill>
                <a:latin typeface="Calibri"/>
              </a:rPr>
              <a:t>2. Türkiye’de orman yangını, heyelan ve çığ olayı ile bu olayların sıklıkla görüldüğü yerlerin coğrafi özellikleri arasında nasıl bir ilişki olabilir? Düşüncelerinizi arkadaşlarınızla paylaşınız.</a:t>
            </a:r>
          </a:p>
        </p:txBody>
      </p:sp>
      <p:sp>
        <p:nvSpPr>
          <p:cNvPr id="24" name="TextBox 23"/>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5" name="Rounded Rectangle 24"/>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201</a:t>
            </a:r>
          </a:p>
        </p:txBody>
      </p:sp>
      <p:sp>
        <p:nvSpPr>
          <p:cNvPr id="26" name="TextBox 2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104 / 250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2. soru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16152"/>
            <a:ext cx="3594506" cy="3520440"/>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216152"/>
            <a:ext cx="3594506" cy="530352"/>
          </a:xfrm>
          <a:prstGeom prst="roundRect">
            <a:avLst>
              <a:gd name="adj" fmla="val 25000"/>
            </a:avLst>
          </a:prstGeom>
          <a:solidFill>
            <a:srgbClr val="B82825"/>
          </a:solidFill>
          <a:ln>
            <a:noFill/>
          </a:ln>
          <a:effectLst/>
        </p:spPr>
        <p:txBody>
          <a:bodyPr rtlCol="0" anchor="ctr"/>
          <a:lstStyle/>
          <a:p/>
        </p:txBody>
      </p:sp>
      <p:sp>
        <p:nvSpPr>
          <p:cNvPr id="8" name="Rectangle 7"/>
          <p:cNvSpPr/>
          <p:nvPr/>
        </p:nvSpPr>
        <p:spPr>
          <a:xfrm>
            <a:off x="502920" y="1481328"/>
            <a:ext cx="3594506" cy="265176"/>
          </a:xfrm>
          <a:prstGeom prst="rect">
            <a:avLst/>
          </a:prstGeom>
          <a:solidFill>
            <a:srgbClr val="B82825"/>
          </a:solidFill>
          <a:ln>
            <a:noFill/>
          </a:ln>
          <a:effectLst/>
        </p:spPr>
        <p:txBody>
          <a:bodyPr rtlCol="0" anchor="ctr"/>
          <a:lstStyle/>
          <a:p/>
        </p:txBody>
      </p:sp>
      <p:sp>
        <p:nvSpPr>
          <p:cNvPr id="9" name="TextBox 8"/>
          <p:cNvSpPr txBox="1"/>
          <p:nvPr/>
        </p:nvSpPr>
        <p:spPr>
          <a:xfrm>
            <a:off x="594360" y="121615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1700" b="1" i="0">
                <a:solidFill>
                  <a:srgbClr val="FFFFFF"/>
                </a:solidFill>
                <a:latin typeface="Calibri"/>
              </a:rPr>
              <a:t>Orman yangını · Ege, Akdeniz</a:t>
            </a:r>
          </a:p>
        </p:txBody>
      </p:sp>
      <p:sp>
        <p:nvSpPr>
          <p:cNvPr id="10" name="TextBox 9"/>
          <p:cNvSpPr txBox="1"/>
          <p:nvPr/>
        </p:nvSpPr>
        <p:spPr>
          <a:xfrm>
            <a:off x="612648" y="1819656"/>
            <a:ext cx="3375050" cy="2843784"/>
          </a:xfrm>
          <a:prstGeom prst="rect">
            <a:avLst/>
          </a:prstGeom>
          <a:noFill/>
        </p:spPr>
        <p:txBody>
          <a:bodyPr wrap="square" anchor="t" lIns="73152" rIns="73152" tIns="36576" bIns="36576">
            <a:noAutofit/>
          </a:bodyPr>
          <a:lstStyle/>
          <a:p>
            <a:pPr algn="l" marL="273482" indent="-273482">
              <a:spcBef>
                <a:spcPts val="0"/>
              </a:spcBef>
              <a:spcAft>
                <a:spcPts val="600"/>
              </a:spcAft>
            </a:pPr>
            <a:r>
              <a:rPr lang="tr-TR" sz="2200" b="1" i="0">
                <a:solidFill>
                  <a:srgbClr val="2C6696"/>
                </a:solidFill>
                <a:latin typeface="Calibri"/>
              </a:rPr>
              <a:t>•  </a:t>
            </a:r>
            <a:r>
              <a:rPr lang="tr-TR" sz="2200" b="0" i="0">
                <a:solidFill>
                  <a:srgbClr val="262626"/>
                </a:solidFill>
                <a:latin typeface="Calibri"/>
              </a:rPr>
              <a:t>Yazlar sıcak ve kurak</a:t>
            </a:r>
          </a:p>
          <a:p>
            <a:pPr algn="l" marL="273482" indent="-273482">
              <a:spcBef>
                <a:spcPts val="0"/>
              </a:spcBef>
              <a:spcAft>
                <a:spcPts val="600"/>
              </a:spcAft>
            </a:pPr>
            <a:r>
              <a:rPr lang="tr-TR" sz="2200" b="1" i="0">
                <a:solidFill>
                  <a:srgbClr val="2C6696"/>
                </a:solidFill>
                <a:latin typeface="Calibri"/>
              </a:rPr>
              <a:t>•  </a:t>
            </a:r>
            <a:r>
              <a:rPr lang="tr-TR" sz="2200" b="0" i="0">
                <a:solidFill>
                  <a:srgbClr val="262626"/>
                </a:solidFill>
                <a:latin typeface="Calibri"/>
              </a:rPr>
              <a:t>Geniş çam ormanları, rüzgâr</a:t>
            </a:r>
          </a:p>
          <a:p>
            <a:pPr algn="l" marL="273482" indent="-273482">
              <a:spcBef>
                <a:spcPts val="0"/>
              </a:spcBef>
              <a:spcAft>
                <a:spcPts val="0"/>
              </a:spcAft>
            </a:pPr>
            <a:r>
              <a:rPr lang="tr-TR" sz="2200" b="1" i="0">
                <a:solidFill>
                  <a:srgbClr val="2C6696"/>
                </a:solidFill>
                <a:latin typeface="Calibri"/>
              </a:rPr>
              <a:t>•  </a:t>
            </a:r>
            <a:r>
              <a:rPr lang="tr-TR" sz="2200" b="0" i="0">
                <a:solidFill>
                  <a:srgbClr val="262626"/>
                </a:solidFill>
                <a:latin typeface="Calibri"/>
              </a:rPr>
              <a:t>Kıyılarda nüfus ve turizm</a:t>
            </a:r>
          </a:p>
        </p:txBody>
      </p:sp>
      <p:sp>
        <p:nvSpPr>
          <p:cNvPr id="11" name="Rounded Rectangle 10"/>
          <p:cNvSpPr/>
          <p:nvPr/>
        </p:nvSpPr>
        <p:spPr>
          <a:xfrm>
            <a:off x="4298594" y="1216152"/>
            <a:ext cx="3594506" cy="3520440"/>
          </a:xfrm>
          <a:prstGeom prst="roundRect">
            <a:avLst>
              <a:gd name="adj" fmla="val 5000"/>
            </a:avLst>
          </a:prstGeom>
          <a:solidFill>
            <a:srgbClr val="F0F0F0"/>
          </a:solidFill>
          <a:ln>
            <a:noFill/>
          </a:ln>
          <a:effectLst/>
        </p:spPr>
        <p:txBody>
          <a:bodyPr rtlCol="0" anchor="ctr"/>
          <a:lstStyle/>
          <a:p/>
        </p:txBody>
      </p:sp>
      <p:sp>
        <p:nvSpPr>
          <p:cNvPr id="12" name="Rounded Rectangle 11"/>
          <p:cNvSpPr/>
          <p:nvPr/>
        </p:nvSpPr>
        <p:spPr>
          <a:xfrm>
            <a:off x="4298594" y="1216152"/>
            <a:ext cx="3594506" cy="530352"/>
          </a:xfrm>
          <a:prstGeom prst="roundRect">
            <a:avLst>
              <a:gd name="adj" fmla="val 25000"/>
            </a:avLst>
          </a:prstGeom>
          <a:solidFill>
            <a:srgbClr val="AD6626"/>
          </a:solidFill>
          <a:ln>
            <a:noFill/>
          </a:ln>
          <a:effectLst/>
        </p:spPr>
        <p:txBody>
          <a:bodyPr rtlCol="0" anchor="ctr"/>
          <a:lstStyle/>
          <a:p/>
        </p:txBody>
      </p:sp>
      <p:sp>
        <p:nvSpPr>
          <p:cNvPr id="13" name="Rectangle 12"/>
          <p:cNvSpPr/>
          <p:nvPr/>
        </p:nvSpPr>
        <p:spPr>
          <a:xfrm>
            <a:off x="4298594" y="1481328"/>
            <a:ext cx="3594506" cy="265176"/>
          </a:xfrm>
          <a:prstGeom prst="rect">
            <a:avLst/>
          </a:prstGeom>
          <a:solidFill>
            <a:srgbClr val="AD6626"/>
          </a:solidFill>
          <a:ln>
            <a:noFill/>
          </a:ln>
          <a:effectLst/>
        </p:spPr>
        <p:txBody>
          <a:bodyPr rtlCol="0" anchor="ctr"/>
          <a:lstStyle/>
          <a:p/>
        </p:txBody>
      </p:sp>
      <p:sp>
        <p:nvSpPr>
          <p:cNvPr id="14" name="TextBox 13"/>
          <p:cNvSpPr txBox="1"/>
          <p:nvPr/>
        </p:nvSpPr>
        <p:spPr>
          <a:xfrm>
            <a:off x="4390034" y="121615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1700" b="1" i="0">
                <a:solidFill>
                  <a:srgbClr val="FFFFFF"/>
                </a:solidFill>
                <a:latin typeface="Calibri"/>
              </a:rPr>
              <a:t>Heyelan · Doğu Karadeniz</a:t>
            </a:r>
          </a:p>
        </p:txBody>
      </p:sp>
      <p:sp>
        <p:nvSpPr>
          <p:cNvPr id="15" name="TextBox 14"/>
          <p:cNvSpPr txBox="1"/>
          <p:nvPr/>
        </p:nvSpPr>
        <p:spPr>
          <a:xfrm>
            <a:off x="4408322" y="1819656"/>
            <a:ext cx="3375050" cy="2843784"/>
          </a:xfrm>
          <a:prstGeom prst="rect">
            <a:avLst/>
          </a:prstGeom>
          <a:noFill/>
        </p:spPr>
        <p:txBody>
          <a:bodyPr wrap="square" anchor="t" lIns="73152" rIns="73152" tIns="36576" bIns="36576">
            <a:noAutofit/>
          </a:bodyPr>
          <a:lstStyle/>
          <a:p>
            <a:pPr algn="l" marL="273482" indent="-273482">
              <a:spcBef>
                <a:spcPts val="0"/>
              </a:spcBef>
              <a:spcAft>
                <a:spcPts val="600"/>
              </a:spcAft>
            </a:pPr>
            <a:r>
              <a:rPr lang="tr-TR" sz="2200" b="1" i="0">
                <a:solidFill>
                  <a:srgbClr val="2C6696"/>
                </a:solidFill>
                <a:latin typeface="Calibri"/>
              </a:rPr>
              <a:t>•  </a:t>
            </a:r>
            <a:r>
              <a:rPr lang="tr-TR" sz="2200" b="0" i="0">
                <a:solidFill>
                  <a:srgbClr val="262626"/>
                </a:solidFill>
                <a:latin typeface="Calibri"/>
              </a:rPr>
              <a:t>Dik, eğimli yamaçlar</a:t>
            </a:r>
          </a:p>
          <a:p>
            <a:pPr algn="l" marL="273482" indent="-273482">
              <a:spcBef>
                <a:spcPts val="0"/>
              </a:spcBef>
              <a:spcAft>
                <a:spcPts val="600"/>
              </a:spcAft>
            </a:pPr>
            <a:r>
              <a:rPr lang="tr-TR" sz="2200" b="1" i="0">
                <a:solidFill>
                  <a:srgbClr val="2C6696"/>
                </a:solidFill>
                <a:latin typeface="Calibri"/>
              </a:rPr>
              <a:t>•  </a:t>
            </a:r>
            <a:r>
              <a:rPr lang="tr-TR" sz="2200" b="0" i="0">
                <a:solidFill>
                  <a:srgbClr val="262626"/>
                </a:solidFill>
                <a:latin typeface="Calibri"/>
              </a:rPr>
              <a:t>Her mevsim bol yağış</a:t>
            </a:r>
          </a:p>
          <a:p>
            <a:pPr algn="l" marL="273482" indent="-273482">
              <a:spcBef>
                <a:spcPts val="0"/>
              </a:spcBef>
              <a:spcAft>
                <a:spcPts val="0"/>
              </a:spcAft>
            </a:pPr>
            <a:r>
              <a:rPr lang="tr-TR" sz="2200" b="1" i="0">
                <a:solidFill>
                  <a:srgbClr val="2C6696"/>
                </a:solidFill>
                <a:latin typeface="Calibri"/>
              </a:rPr>
              <a:t>•  </a:t>
            </a:r>
            <a:r>
              <a:rPr lang="tr-TR" sz="2200" b="0" i="0">
                <a:solidFill>
                  <a:srgbClr val="262626"/>
                </a:solidFill>
                <a:latin typeface="Calibri"/>
              </a:rPr>
              <a:t>Yamaçlarda yerleşme, yol</a:t>
            </a:r>
          </a:p>
        </p:txBody>
      </p:sp>
      <p:sp>
        <p:nvSpPr>
          <p:cNvPr id="16" name="Rounded Rectangle 15"/>
          <p:cNvSpPr/>
          <p:nvPr/>
        </p:nvSpPr>
        <p:spPr>
          <a:xfrm>
            <a:off x="8094268" y="1216152"/>
            <a:ext cx="3594506" cy="3520440"/>
          </a:xfrm>
          <a:prstGeom prst="roundRect">
            <a:avLst>
              <a:gd name="adj" fmla="val 5000"/>
            </a:avLst>
          </a:prstGeom>
          <a:solidFill>
            <a:srgbClr val="F0F0F0"/>
          </a:solidFill>
          <a:ln>
            <a:noFill/>
          </a:ln>
          <a:effectLst/>
        </p:spPr>
        <p:txBody>
          <a:bodyPr rtlCol="0" anchor="ctr"/>
          <a:lstStyle/>
          <a:p/>
        </p:txBody>
      </p:sp>
      <p:sp>
        <p:nvSpPr>
          <p:cNvPr id="17" name="Rounded Rectangle 16"/>
          <p:cNvSpPr/>
          <p:nvPr/>
        </p:nvSpPr>
        <p:spPr>
          <a:xfrm>
            <a:off x="8094268" y="1216152"/>
            <a:ext cx="3594506" cy="530352"/>
          </a:xfrm>
          <a:prstGeom prst="roundRect">
            <a:avLst>
              <a:gd name="adj" fmla="val 25000"/>
            </a:avLst>
          </a:prstGeom>
          <a:solidFill>
            <a:srgbClr val="894199"/>
          </a:solidFill>
          <a:ln>
            <a:noFill/>
          </a:ln>
          <a:effectLst/>
        </p:spPr>
        <p:txBody>
          <a:bodyPr rtlCol="0" anchor="ctr"/>
          <a:lstStyle/>
          <a:p/>
        </p:txBody>
      </p:sp>
      <p:sp>
        <p:nvSpPr>
          <p:cNvPr id="18" name="Rectangle 17"/>
          <p:cNvSpPr/>
          <p:nvPr/>
        </p:nvSpPr>
        <p:spPr>
          <a:xfrm>
            <a:off x="8094268" y="1481328"/>
            <a:ext cx="3594506" cy="265176"/>
          </a:xfrm>
          <a:prstGeom prst="rect">
            <a:avLst/>
          </a:prstGeom>
          <a:solidFill>
            <a:srgbClr val="894199"/>
          </a:solidFill>
          <a:ln>
            <a:noFill/>
          </a:ln>
          <a:effectLst/>
        </p:spPr>
        <p:txBody>
          <a:bodyPr rtlCol="0" anchor="ctr"/>
          <a:lstStyle/>
          <a:p/>
        </p:txBody>
      </p:sp>
      <p:sp>
        <p:nvSpPr>
          <p:cNvPr id="19" name="TextBox 18"/>
          <p:cNvSpPr txBox="1"/>
          <p:nvPr/>
        </p:nvSpPr>
        <p:spPr>
          <a:xfrm>
            <a:off x="8185708" y="121615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1700" b="1" i="0">
                <a:solidFill>
                  <a:srgbClr val="FFFFFF"/>
                </a:solidFill>
                <a:latin typeface="Calibri"/>
              </a:rPr>
              <a:t>Çığ · Doğu Anadolu</a:t>
            </a:r>
          </a:p>
        </p:txBody>
      </p:sp>
      <p:sp>
        <p:nvSpPr>
          <p:cNvPr id="20" name="TextBox 19"/>
          <p:cNvSpPr txBox="1"/>
          <p:nvPr/>
        </p:nvSpPr>
        <p:spPr>
          <a:xfrm>
            <a:off x="8203996" y="1819656"/>
            <a:ext cx="3375050" cy="2843784"/>
          </a:xfrm>
          <a:prstGeom prst="rect">
            <a:avLst/>
          </a:prstGeom>
          <a:noFill/>
        </p:spPr>
        <p:txBody>
          <a:bodyPr wrap="square" anchor="t" lIns="73152" rIns="73152" tIns="36576" bIns="36576">
            <a:noAutofit/>
          </a:bodyPr>
          <a:lstStyle/>
          <a:p>
            <a:pPr algn="l" marL="273482" indent="-273482">
              <a:spcBef>
                <a:spcPts val="0"/>
              </a:spcBef>
              <a:spcAft>
                <a:spcPts val="600"/>
              </a:spcAft>
            </a:pPr>
            <a:r>
              <a:rPr lang="tr-TR" sz="2200" b="1" i="0">
                <a:solidFill>
                  <a:srgbClr val="2C6696"/>
                </a:solidFill>
                <a:latin typeface="Calibri"/>
              </a:rPr>
              <a:t>•  </a:t>
            </a:r>
            <a:r>
              <a:rPr lang="tr-TR" sz="2200" b="0" i="0">
                <a:solidFill>
                  <a:srgbClr val="262626"/>
                </a:solidFill>
                <a:latin typeface="Calibri"/>
              </a:rPr>
              <a:t>Yükselti fazla</a:t>
            </a:r>
          </a:p>
          <a:p>
            <a:pPr algn="l" marL="273482" indent="-273482">
              <a:spcBef>
                <a:spcPts val="0"/>
              </a:spcBef>
              <a:spcAft>
                <a:spcPts val="600"/>
              </a:spcAft>
            </a:pPr>
            <a:r>
              <a:rPr lang="tr-TR" sz="2200" b="1" i="0">
                <a:solidFill>
                  <a:srgbClr val="2C6696"/>
                </a:solidFill>
                <a:latin typeface="Calibri"/>
              </a:rPr>
              <a:t>•  </a:t>
            </a:r>
            <a:r>
              <a:rPr lang="tr-TR" sz="2200" b="0" i="0">
                <a:solidFill>
                  <a:srgbClr val="262626"/>
                </a:solidFill>
                <a:latin typeface="Calibri"/>
              </a:rPr>
              <a:t>Kışlar uzun ve karlı, kar kalın</a:t>
            </a:r>
          </a:p>
          <a:p>
            <a:pPr algn="l" marL="273482" indent="-273482">
              <a:spcBef>
                <a:spcPts val="0"/>
              </a:spcBef>
              <a:spcAft>
                <a:spcPts val="0"/>
              </a:spcAft>
            </a:pPr>
            <a:r>
              <a:rPr lang="tr-TR" sz="2200" b="1" i="0">
                <a:solidFill>
                  <a:srgbClr val="2C6696"/>
                </a:solidFill>
                <a:latin typeface="Calibri"/>
              </a:rPr>
              <a:t>•  </a:t>
            </a:r>
            <a:r>
              <a:rPr lang="tr-TR" sz="2200" b="0" i="0">
                <a:solidFill>
                  <a:srgbClr val="262626"/>
                </a:solidFill>
                <a:latin typeface="Calibri"/>
              </a:rPr>
              <a:t>Dik, ağaçsız yamaçlar</a:t>
            </a:r>
          </a:p>
        </p:txBody>
      </p:sp>
      <p:sp>
        <p:nvSpPr>
          <p:cNvPr id="21" name="Rounded Rectangle 20"/>
          <p:cNvSpPr/>
          <p:nvPr/>
        </p:nvSpPr>
        <p:spPr>
          <a:xfrm>
            <a:off x="502920" y="4919471"/>
            <a:ext cx="11185855" cy="1325880"/>
          </a:xfrm>
          <a:prstGeom prst="roundRect">
            <a:avLst>
              <a:gd name="adj" fmla="val 8000"/>
            </a:avLst>
          </a:prstGeom>
          <a:solidFill>
            <a:srgbClr val="E3F1E4"/>
          </a:solidFill>
          <a:ln>
            <a:noFill/>
          </a:ln>
          <a:effectLst/>
        </p:spPr>
        <p:txBody>
          <a:bodyPr rtlCol="0" anchor="ctr" wrap="square" lIns="274320" rIns="274320" tIns="73152" bIns="73152">
            <a:noAutofit/>
          </a:bodyPr>
          <a:lstStyle/>
          <a:p>
            <a:pPr algn="ctr">
              <a:spcBef>
                <a:spcPts val="0"/>
              </a:spcBef>
              <a:spcAft>
                <a:spcPts val="0"/>
              </a:spcAft>
            </a:pPr>
            <a:r>
              <a:rPr lang="tr-TR" sz="2000" b="1" i="0">
                <a:solidFill>
                  <a:srgbClr val="262626"/>
                </a:solidFill>
                <a:latin typeface="Calibri"/>
              </a:rPr>
              <a:t>Ortak sonuç: olayların sık görüldüğü yerler, o yerlerin iklimi, yer şekilleri ve bitki örtüsüyle ilişkilidir; insan faaliyetleri de etkiyi artırır.</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201</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105 / 250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Ortak tablo: afet · neden · dağılış</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TAHTA</a:t>
            </a:r>
          </a:p>
        </p:txBody>
      </p:sp>
      <p:graphicFrame>
        <p:nvGraphicFramePr>
          <p:cNvPr id="6" name="Table 5"/>
          <p:cNvGraphicFramePr>
            <a:graphicFrameLocks noGrp="1"/>
          </p:cNvGraphicFramePr>
          <p:nvPr/>
        </p:nvGraphicFramePr>
        <p:xfrm>
          <a:off x="502920" y="1216152"/>
          <a:ext cx="11185854" cy="5029200"/>
        </p:xfrm>
        <a:graphic>
          <a:graphicData uri="http://schemas.openxmlformats.org/drawingml/2006/table">
            <a:tbl>
              <a:tblPr firstRow="1" bandRow="1">
                <a:tableStyleId>{5C22544A-7EE6-4342-B048-85BDC9FD1C3A}</a:tableStyleId>
              </a:tblPr>
              <a:tblGrid>
                <a:gridCol w="1874519"/>
                <a:gridCol w="3063240"/>
                <a:gridCol w="3108960"/>
                <a:gridCol w="3139135"/>
              </a:tblGrid>
              <a:tr h="457200">
                <a:tc>
                  <a:txBody>
                    <a:bodyPr wrap="square"/>
                    <a:lstStyle/>
                    <a:p>
                      <a:pPr algn="ctr">
                        <a:spcBef>
                          <a:spcPts val="0"/>
                        </a:spcBef>
                        <a:spcAft>
                          <a:spcPts val="0"/>
                        </a:spcAft>
                      </a:pPr>
                      <a:r>
                        <a:rPr lang="tr-TR" sz="1600" b="1" i="0">
                          <a:solidFill>
                            <a:srgbClr val="FFFFFF"/>
                          </a:solidFill>
                          <a:latin typeface="Calibri"/>
                        </a:rPr>
                        <a:t>Afet</a:t>
                      </a:r>
                    </a:p>
                  </a:txBody>
                  <a:tcPr marL="54864" marR="54864" marT="18288" marB="18288" anchor="ctr">
                    <a:solidFill>
                      <a:srgbClr val="6A4C93"/>
                    </a:solidFill>
                  </a:tcPr>
                </a:tc>
                <a:tc>
                  <a:txBody>
                    <a:bodyPr wrap="square"/>
                    <a:lstStyle/>
                    <a:p>
                      <a:pPr algn="ctr">
                        <a:spcBef>
                          <a:spcPts val="0"/>
                        </a:spcBef>
                        <a:spcAft>
                          <a:spcPts val="0"/>
                        </a:spcAft>
                      </a:pPr>
                      <a:r>
                        <a:rPr lang="tr-TR" sz="1600" b="1" i="0">
                          <a:solidFill>
                            <a:srgbClr val="FFFFFF"/>
                          </a:solidFill>
                          <a:latin typeface="Calibri"/>
                        </a:rPr>
                        <a:t>Örnek (s. 197)</a:t>
                      </a:r>
                    </a:p>
                  </a:txBody>
                  <a:tcPr marL="54864" marR="54864" marT="18288" marB="18288" anchor="ctr">
                    <a:solidFill>
                      <a:srgbClr val="6A4C93"/>
                    </a:solidFill>
                  </a:tcPr>
                </a:tc>
                <a:tc>
                  <a:txBody>
                    <a:bodyPr wrap="square"/>
                    <a:lstStyle/>
                    <a:p>
                      <a:pPr algn="ctr">
                        <a:spcBef>
                          <a:spcPts val="0"/>
                        </a:spcBef>
                        <a:spcAft>
                          <a:spcPts val="0"/>
                        </a:spcAft>
                      </a:pPr>
                      <a:r>
                        <a:rPr lang="tr-TR" sz="1600" b="1" i="0">
                          <a:solidFill>
                            <a:srgbClr val="FFFFFF"/>
                          </a:solidFill>
                          <a:latin typeface="Calibri"/>
                        </a:rPr>
                        <a:t>Neden</a:t>
                      </a:r>
                    </a:p>
                  </a:txBody>
                  <a:tcPr marL="54864" marR="54864" marT="18288" marB="18288" anchor="ctr">
                    <a:solidFill>
                      <a:srgbClr val="6A4C93"/>
                    </a:solidFill>
                  </a:tcPr>
                </a:tc>
                <a:tc>
                  <a:txBody>
                    <a:bodyPr wrap="square"/>
                    <a:lstStyle/>
                    <a:p>
                      <a:pPr algn="ctr">
                        <a:spcBef>
                          <a:spcPts val="0"/>
                        </a:spcBef>
                        <a:spcAft>
                          <a:spcPts val="0"/>
                        </a:spcAft>
                      </a:pPr>
                      <a:r>
                        <a:rPr lang="tr-TR" sz="1600" b="1" i="0">
                          <a:solidFill>
                            <a:srgbClr val="FFFFFF"/>
                          </a:solidFill>
                          <a:latin typeface="Calibri"/>
                        </a:rPr>
                        <a:t>Dağılış</a:t>
                      </a:r>
                    </a:p>
                  </a:txBody>
                  <a:tcPr marL="54864" marR="54864" marT="18288" marB="18288" anchor="ctr">
                    <a:solidFill>
                      <a:srgbClr val="6A4C93"/>
                    </a:solidFill>
                  </a:tcPr>
                </a:tc>
              </a:tr>
              <a:tr h="914400">
                <a:tc>
                  <a:txBody>
                    <a:bodyPr wrap="square"/>
                    <a:lstStyle/>
                    <a:p>
                      <a:pPr algn="l">
                        <a:spcBef>
                          <a:spcPts val="0"/>
                        </a:spcBef>
                        <a:spcAft>
                          <a:spcPts val="0"/>
                        </a:spcAft>
                      </a:pPr>
                      <a:r>
                        <a:rPr lang="tr-TR" sz="1600" b="0" i="0">
                          <a:solidFill>
                            <a:srgbClr val="262626"/>
                          </a:solidFill>
                          <a:latin typeface="Calibri"/>
                        </a:rPr>
                        <a:t>Deprem</a:t>
                      </a:r>
                    </a:p>
                  </a:txBody>
                  <a:tcPr marL="54864" marR="54864" marT="18288" marB="18288" anchor="ctr">
                    <a:solidFill>
                      <a:srgbClr val="FFFFFF"/>
                    </a:solidFill>
                  </a:tcPr>
                </a:tc>
                <a:tc>
                  <a:txBody>
                    <a:bodyPr wrap="square"/>
                    <a:lstStyle/>
                    <a:p>
                      <a:pPr algn="l">
                        <a:spcBef>
                          <a:spcPts val="0"/>
                        </a:spcBef>
                        <a:spcAft>
                          <a:spcPts val="0"/>
                        </a:spcAft>
                      </a:pPr>
                    </a:p>
                  </a:txBody>
                  <a:tcPr marL="54864" marR="54864" marT="18288" marB="18288" anchor="ctr">
                    <a:solidFill>
                      <a:srgbClr val="FFFFFF"/>
                    </a:solidFill>
                  </a:tcPr>
                </a:tc>
                <a:tc>
                  <a:txBody>
                    <a:bodyPr wrap="square"/>
                    <a:lstStyle/>
                    <a:p>
                      <a:pPr algn="l">
                        <a:spcBef>
                          <a:spcPts val="0"/>
                        </a:spcBef>
                        <a:spcAft>
                          <a:spcPts val="0"/>
                        </a:spcAft>
                      </a:pPr>
                    </a:p>
                  </a:txBody>
                  <a:tcPr marL="54864" marR="54864" marT="18288" marB="18288" anchor="ctr">
                    <a:solidFill>
                      <a:srgbClr val="FFFFFF"/>
                    </a:solidFill>
                  </a:tcPr>
                </a:tc>
                <a:tc>
                  <a:txBody>
                    <a:bodyPr wrap="square"/>
                    <a:lstStyle/>
                    <a:p>
                      <a:pPr algn="l">
                        <a:spcBef>
                          <a:spcPts val="0"/>
                        </a:spcBef>
                        <a:spcAft>
                          <a:spcPts val="0"/>
                        </a:spcAft>
                      </a:pPr>
                    </a:p>
                  </a:txBody>
                  <a:tcPr marL="54864" marR="54864" marT="18288" marB="18288" anchor="ctr">
                    <a:solidFill>
                      <a:srgbClr val="FFFFFF"/>
                    </a:solidFill>
                  </a:tcPr>
                </a:tc>
              </a:tr>
              <a:tr h="914400">
                <a:tc>
                  <a:txBody>
                    <a:bodyPr wrap="square"/>
                    <a:lstStyle/>
                    <a:p>
                      <a:pPr algn="l">
                        <a:spcBef>
                          <a:spcPts val="0"/>
                        </a:spcBef>
                        <a:spcAft>
                          <a:spcPts val="0"/>
                        </a:spcAft>
                      </a:pPr>
                      <a:r>
                        <a:rPr lang="tr-TR" sz="1600" b="0" i="0">
                          <a:solidFill>
                            <a:srgbClr val="262626"/>
                          </a:solidFill>
                          <a:latin typeface="Calibri"/>
                        </a:rPr>
                        <a:t>Sel ve taşkın</a:t>
                      </a:r>
                    </a:p>
                  </a:txBody>
                  <a:tcPr marL="54864" marR="54864" marT="18288" marB="18288" anchor="ctr">
                    <a:solidFill>
                      <a:srgbClr val="EEE8F5"/>
                    </a:solidFill>
                  </a:tcPr>
                </a:tc>
                <a:tc>
                  <a:txBody>
                    <a:bodyPr wrap="square"/>
                    <a:lstStyle/>
                    <a:p>
                      <a:pPr algn="l">
                        <a:spcBef>
                          <a:spcPts val="0"/>
                        </a:spcBef>
                        <a:spcAft>
                          <a:spcPts val="0"/>
                        </a:spcAft>
                      </a:pPr>
                    </a:p>
                  </a:txBody>
                  <a:tcPr marL="54864" marR="54864" marT="18288" marB="18288" anchor="ctr">
                    <a:solidFill>
                      <a:srgbClr val="EEE8F5"/>
                    </a:solidFill>
                  </a:tcPr>
                </a:tc>
                <a:tc>
                  <a:txBody>
                    <a:bodyPr wrap="square"/>
                    <a:lstStyle/>
                    <a:p>
                      <a:pPr algn="l">
                        <a:spcBef>
                          <a:spcPts val="0"/>
                        </a:spcBef>
                        <a:spcAft>
                          <a:spcPts val="0"/>
                        </a:spcAft>
                      </a:pPr>
                    </a:p>
                  </a:txBody>
                  <a:tcPr marL="54864" marR="54864" marT="18288" marB="18288" anchor="ctr">
                    <a:solidFill>
                      <a:srgbClr val="EEE8F5"/>
                    </a:solidFill>
                  </a:tcPr>
                </a:tc>
                <a:tc>
                  <a:txBody>
                    <a:bodyPr wrap="square"/>
                    <a:lstStyle/>
                    <a:p>
                      <a:pPr algn="l">
                        <a:spcBef>
                          <a:spcPts val="0"/>
                        </a:spcBef>
                        <a:spcAft>
                          <a:spcPts val="0"/>
                        </a:spcAft>
                      </a:pPr>
                    </a:p>
                  </a:txBody>
                  <a:tcPr marL="54864" marR="54864" marT="18288" marB="18288" anchor="ctr">
                    <a:solidFill>
                      <a:srgbClr val="EEE8F5"/>
                    </a:solidFill>
                  </a:tcPr>
                </a:tc>
              </a:tr>
              <a:tr h="914400">
                <a:tc>
                  <a:txBody>
                    <a:bodyPr wrap="square"/>
                    <a:lstStyle/>
                    <a:p>
                      <a:pPr algn="l">
                        <a:spcBef>
                          <a:spcPts val="0"/>
                        </a:spcBef>
                        <a:spcAft>
                          <a:spcPts val="0"/>
                        </a:spcAft>
                      </a:pPr>
                      <a:r>
                        <a:rPr lang="tr-TR" sz="1600" b="0" i="0">
                          <a:solidFill>
                            <a:srgbClr val="262626"/>
                          </a:solidFill>
                          <a:latin typeface="Calibri"/>
                        </a:rPr>
                        <a:t>Salgın hastalık</a:t>
                      </a:r>
                    </a:p>
                  </a:txBody>
                  <a:tcPr marL="54864" marR="54864" marT="18288" marB="18288" anchor="ctr">
                    <a:solidFill>
                      <a:srgbClr val="FFFFFF"/>
                    </a:solidFill>
                  </a:tcPr>
                </a:tc>
                <a:tc>
                  <a:txBody>
                    <a:bodyPr wrap="square"/>
                    <a:lstStyle/>
                    <a:p>
                      <a:pPr algn="l">
                        <a:spcBef>
                          <a:spcPts val="0"/>
                        </a:spcBef>
                        <a:spcAft>
                          <a:spcPts val="0"/>
                        </a:spcAft>
                      </a:pPr>
                    </a:p>
                  </a:txBody>
                  <a:tcPr marL="54864" marR="54864" marT="18288" marB="18288" anchor="ctr">
                    <a:solidFill>
                      <a:srgbClr val="FFFFFF"/>
                    </a:solidFill>
                  </a:tcPr>
                </a:tc>
                <a:tc>
                  <a:txBody>
                    <a:bodyPr wrap="square"/>
                    <a:lstStyle/>
                    <a:p>
                      <a:pPr algn="l">
                        <a:spcBef>
                          <a:spcPts val="0"/>
                        </a:spcBef>
                        <a:spcAft>
                          <a:spcPts val="0"/>
                        </a:spcAft>
                      </a:pPr>
                    </a:p>
                  </a:txBody>
                  <a:tcPr marL="54864" marR="54864" marT="18288" marB="18288" anchor="ctr">
                    <a:solidFill>
                      <a:srgbClr val="FFFFFF"/>
                    </a:solidFill>
                  </a:tcPr>
                </a:tc>
                <a:tc>
                  <a:txBody>
                    <a:bodyPr wrap="square"/>
                    <a:lstStyle/>
                    <a:p>
                      <a:pPr algn="l">
                        <a:spcBef>
                          <a:spcPts val="0"/>
                        </a:spcBef>
                        <a:spcAft>
                          <a:spcPts val="0"/>
                        </a:spcAft>
                      </a:pPr>
                    </a:p>
                  </a:txBody>
                  <a:tcPr marL="54864" marR="54864" marT="18288" marB="18288" anchor="ctr">
                    <a:solidFill>
                      <a:srgbClr val="FFFFFF"/>
                    </a:solidFill>
                  </a:tcPr>
                </a:tc>
              </a:tr>
              <a:tr h="914400">
                <a:tc>
                  <a:txBody>
                    <a:bodyPr wrap="square"/>
                    <a:lstStyle/>
                    <a:p>
                      <a:pPr algn="l">
                        <a:spcBef>
                          <a:spcPts val="0"/>
                        </a:spcBef>
                        <a:spcAft>
                          <a:spcPts val="0"/>
                        </a:spcAft>
                      </a:pPr>
                      <a:r>
                        <a:rPr lang="tr-TR" sz="1600" b="0" i="0">
                          <a:solidFill>
                            <a:srgbClr val="262626"/>
                          </a:solidFill>
                          <a:latin typeface="Calibri"/>
                        </a:rPr>
                        <a:t>Erozyon</a:t>
                      </a:r>
                    </a:p>
                  </a:txBody>
                  <a:tcPr marL="54864" marR="54864" marT="18288" marB="18288" anchor="ctr">
                    <a:solidFill>
                      <a:srgbClr val="EEE8F5"/>
                    </a:solidFill>
                  </a:tcPr>
                </a:tc>
                <a:tc>
                  <a:txBody>
                    <a:bodyPr wrap="square"/>
                    <a:lstStyle/>
                    <a:p>
                      <a:pPr algn="l">
                        <a:spcBef>
                          <a:spcPts val="0"/>
                        </a:spcBef>
                        <a:spcAft>
                          <a:spcPts val="0"/>
                        </a:spcAft>
                      </a:pPr>
                    </a:p>
                  </a:txBody>
                  <a:tcPr marL="54864" marR="54864" marT="18288" marB="18288" anchor="ctr">
                    <a:solidFill>
                      <a:srgbClr val="EEE8F5"/>
                    </a:solidFill>
                  </a:tcPr>
                </a:tc>
                <a:tc>
                  <a:txBody>
                    <a:bodyPr wrap="square"/>
                    <a:lstStyle/>
                    <a:p>
                      <a:pPr algn="l">
                        <a:spcBef>
                          <a:spcPts val="0"/>
                        </a:spcBef>
                        <a:spcAft>
                          <a:spcPts val="0"/>
                        </a:spcAft>
                      </a:pPr>
                    </a:p>
                  </a:txBody>
                  <a:tcPr marL="54864" marR="54864" marT="18288" marB="18288" anchor="ctr">
                    <a:solidFill>
                      <a:srgbClr val="EEE8F5"/>
                    </a:solidFill>
                  </a:tcPr>
                </a:tc>
                <a:tc>
                  <a:txBody>
                    <a:bodyPr wrap="square"/>
                    <a:lstStyle/>
                    <a:p>
                      <a:pPr algn="l">
                        <a:spcBef>
                          <a:spcPts val="0"/>
                        </a:spcBef>
                        <a:spcAft>
                          <a:spcPts val="0"/>
                        </a:spcAft>
                      </a:pPr>
                    </a:p>
                  </a:txBody>
                  <a:tcPr marL="54864" marR="54864" marT="18288" marB="18288" anchor="ctr">
                    <a:solidFill>
                      <a:srgbClr val="EEE8F5"/>
                    </a:solidFill>
                  </a:tcPr>
                </a:tc>
              </a:tr>
              <a:tr h="914400">
                <a:tc>
                  <a:txBody>
                    <a:bodyPr wrap="square"/>
                    <a:lstStyle/>
                    <a:p>
                      <a:pPr algn="l">
                        <a:spcBef>
                          <a:spcPts val="0"/>
                        </a:spcBef>
                        <a:spcAft>
                          <a:spcPts val="0"/>
                        </a:spcAft>
                      </a:pPr>
                      <a:r>
                        <a:rPr lang="tr-TR" sz="1600" b="0" i="0">
                          <a:solidFill>
                            <a:srgbClr val="262626"/>
                          </a:solidFill>
                          <a:latin typeface="Calibri"/>
                        </a:rPr>
                        <a:t>Çığ, heyelan, orman yangını</a:t>
                      </a:r>
                    </a:p>
                  </a:txBody>
                  <a:tcPr marL="54864" marR="54864" marT="18288" marB="18288" anchor="ctr">
                    <a:solidFill>
                      <a:srgbClr val="FFFFFF"/>
                    </a:solidFill>
                  </a:tcPr>
                </a:tc>
                <a:tc>
                  <a:txBody>
                    <a:bodyPr wrap="square"/>
                    <a:lstStyle/>
                    <a:p>
                      <a:pPr algn="l">
                        <a:spcBef>
                          <a:spcPts val="0"/>
                        </a:spcBef>
                        <a:spcAft>
                          <a:spcPts val="0"/>
                        </a:spcAft>
                      </a:pPr>
                    </a:p>
                  </a:txBody>
                  <a:tcPr marL="54864" marR="54864" marT="18288" marB="18288" anchor="ctr">
                    <a:solidFill>
                      <a:srgbClr val="FFFFFF"/>
                    </a:solidFill>
                  </a:tcPr>
                </a:tc>
                <a:tc>
                  <a:txBody>
                    <a:bodyPr wrap="square"/>
                    <a:lstStyle/>
                    <a:p>
                      <a:pPr algn="l">
                        <a:spcBef>
                          <a:spcPts val="0"/>
                        </a:spcBef>
                        <a:spcAft>
                          <a:spcPts val="0"/>
                        </a:spcAft>
                      </a:pPr>
                    </a:p>
                  </a:txBody>
                  <a:tcPr marL="54864" marR="54864" marT="18288" marB="18288" anchor="ctr">
                    <a:solidFill>
                      <a:srgbClr val="FFFFFF"/>
                    </a:solidFill>
                  </a:tcPr>
                </a:tc>
                <a:tc>
                  <a:txBody>
                    <a:bodyPr wrap="square"/>
                    <a:lstStyle/>
                    <a:p>
                      <a:pPr algn="l">
                        <a:spcBef>
                          <a:spcPts val="0"/>
                        </a:spcBef>
                        <a:spcAft>
                          <a:spcPts val="0"/>
                        </a:spcAft>
                      </a:pPr>
                    </a:p>
                  </a:txBody>
                  <a:tcPr marL="54864" marR="54864" marT="18288" marB="18288" anchor="ctr">
                    <a:solidFill>
                      <a:srgbClr val="FFFFFF"/>
                    </a:solidFill>
                  </a:tcPr>
                </a:tc>
              </a:tr>
            </a:tbl>
          </a:graphicData>
        </a:graphic>
      </p:graphicFrame>
      <p:sp>
        <p:nvSpPr>
          <p:cNvPr id="7" name="TextBox 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8" name="Rounded Rectangle 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197-201</a:t>
            </a:r>
          </a:p>
        </p:txBody>
      </p:sp>
      <p:sp>
        <p:nvSpPr>
          <p:cNvPr id="9" name="TextBox 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106 / 250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Ortak tablo: afet · neden · dağılış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graphicFrame>
        <p:nvGraphicFramePr>
          <p:cNvPr id="6" name="Table 5"/>
          <p:cNvGraphicFramePr>
            <a:graphicFrameLocks noGrp="1"/>
          </p:cNvGraphicFramePr>
          <p:nvPr/>
        </p:nvGraphicFramePr>
        <p:xfrm>
          <a:off x="502920" y="1216152"/>
          <a:ext cx="11185854" cy="5029200"/>
        </p:xfrm>
        <a:graphic>
          <a:graphicData uri="http://schemas.openxmlformats.org/drawingml/2006/table">
            <a:tbl>
              <a:tblPr firstRow="1" bandRow="1">
                <a:tableStyleId>{5C22544A-7EE6-4342-B048-85BDC9FD1C3A}</a:tableStyleId>
              </a:tblPr>
              <a:tblGrid>
                <a:gridCol w="1874519"/>
                <a:gridCol w="3063240"/>
                <a:gridCol w="3108960"/>
                <a:gridCol w="3139135"/>
              </a:tblGrid>
              <a:tr h="457200">
                <a:tc>
                  <a:txBody>
                    <a:bodyPr wrap="square"/>
                    <a:lstStyle/>
                    <a:p>
                      <a:pPr algn="ctr">
                        <a:spcBef>
                          <a:spcPts val="0"/>
                        </a:spcBef>
                        <a:spcAft>
                          <a:spcPts val="0"/>
                        </a:spcAft>
                      </a:pPr>
                      <a:r>
                        <a:rPr lang="tr-TR" sz="1600" b="1" i="0">
                          <a:solidFill>
                            <a:srgbClr val="FFFFFF"/>
                          </a:solidFill>
                          <a:latin typeface="Calibri"/>
                        </a:rPr>
                        <a:t>Afet</a:t>
                      </a:r>
                    </a:p>
                  </a:txBody>
                  <a:tcPr marL="54864" marR="54864" marT="18288" marB="18288" anchor="ctr">
                    <a:solidFill>
                      <a:srgbClr val="2E7D32"/>
                    </a:solidFill>
                  </a:tcPr>
                </a:tc>
                <a:tc>
                  <a:txBody>
                    <a:bodyPr wrap="square"/>
                    <a:lstStyle/>
                    <a:p>
                      <a:pPr algn="ctr">
                        <a:spcBef>
                          <a:spcPts val="0"/>
                        </a:spcBef>
                        <a:spcAft>
                          <a:spcPts val="0"/>
                        </a:spcAft>
                      </a:pPr>
                      <a:r>
                        <a:rPr lang="tr-TR" sz="1600" b="1" i="0">
                          <a:solidFill>
                            <a:srgbClr val="FFFFFF"/>
                          </a:solidFill>
                          <a:latin typeface="Calibri"/>
                        </a:rPr>
                        <a:t>Örnek (s. 197)</a:t>
                      </a:r>
                    </a:p>
                  </a:txBody>
                  <a:tcPr marL="54864" marR="54864" marT="18288" marB="18288" anchor="ctr">
                    <a:solidFill>
                      <a:srgbClr val="2E7D32"/>
                    </a:solidFill>
                  </a:tcPr>
                </a:tc>
                <a:tc>
                  <a:txBody>
                    <a:bodyPr wrap="square"/>
                    <a:lstStyle/>
                    <a:p>
                      <a:pPr algn="ctr">
                        <a:spcBef>
                          <a:spcPts val="0"/>
                        </a:spcBef>
                        <a:spcAft>
                          <a:spcPts val="0"/>
                        </a:spcAft>
                      </a:pPr>
                      <a:r>
                        <a:rPr lang="tr-TR" sz="1600" b="1" i="0">
                          <a:solidFill>
                            <a:srgbClr val="FFFFFF"/>
                          </a:solidFill>
                          <a:latin typeface="Calibri"/>
                        </a:rPr>
                        <a:t>Neden</a:t>
                      </a:r>
                    </a:p>
                  </a:txBody>
                  <a:tcPr marL="54864" marR="54864" marT="18288" marB="18288" anchor="ctr">
                    <a:solidFill>
                      <a:srgbClr val="2E7D32"/>
                    </a:solidFill>
                  </a:tcPr>
                </a:tc>
                <a:tc>
                  <a:txBody>
                    <a:bodyPr wrap="square"/>
                    <a:lstStyle/>
                    <a:p>
                      <a:pPr algn="ctr">
                        <a:spcBef>
                          <a:spcPts val="0"/>
                        </a:spcBef>
                        <a:spcAft>
                          <a:spcPts val="0"/>
                        </a:spcAft>
                      </a:pPr>
                      <a:r>
                        <a:rPr lang="tr-TR" sz="1600" b="1" i="0">
                          <a:solidFill>
                            <a:srgbClr val="FFFFFF"/>
                          </a:solidFill>
                          <a:latin typeface="Calibri"/>
                        </a:rPr>
                        <a:t>Dağılış</a:t>
                      </a:r>
                    </a:p>
                  </a:txBody>
                  <a:tcPr marL="54864" marR="54864" marT="18288" marB="18288" anchor="ctr">
                    <a:solidFill>
                      <a:srgbClr val="2E7D32"/>
                    </a:solidFill>
                  </a:tcPr>
                </a:tc>
              </a:tr>
              <a:tr h="914400">
                <a:tc>
                  <a:txBody>
                    <a:bodyPr wrap="square"/>
                    <a:lstStyle/>
                    <a:p>
                      <a:pPr algn="l">
                        <a:spcBef>
                          <a:spcPts val="0"/>
                        </a:spcBef>
                        <a:spcAft>
                          <a:spcPts val="0"/>
                        </a:spcAft>
                      </a:pPr>
                      <a:r>
                        <a:rPr lang="tr-TR" sz="1600" b="0" i="0">
                          <a:solidFill>
                            <a:srgbClr val="262626"/>
                          </a:solidFill>
                          <a:latin typeface="Calibri"/>
                        </a:rPr>
                        <a:t>Deprem</a:t>
                      </a:r>
                    </a:p>
                  </a:txBody>
                  <a:tcPr marL="54864" marR="54864" marT="18288" marB="18288" anchor="ctr">
                    <a:solidFill>
                      <a:srgbClr val="FFFFFF"/>
                    </a:solidFill>
                  </a:tcPr>
                </a:tc>
                <a:tc>
                  <a:txBody>
                    <a:bodyPr wrap="square"/>
                    <a:lstStyle/>
                    <a:p>
                      <a:pPr algn="l">
                        <a:spcBef>
                          <a:spcPts val="0"/>
                        </a:spcBef>
                        <a:spcAft>
                          <a:spcPts val="0"/>
                        </a:spcAft>
                      </a:pPr>
                      <a:r>
                        <a:rPr lang="tr-TR" sz="1600" b="0" i="0">
                          <a:solidFill>
                            <a:srgbClr val="262626"/>
                          </a:solidFill>
                          <a:latin typeface="Calibri"/>
                        </a:rPr>
                        <a:t>Kahramanmaraş 2023 (53.537), İzmit Körfezi 1999 (17.480)</a:t>
                      </a:r>
                    </a:p>
                  </a:txBody>
                  <a:tcPr marL="54864" marR="54864" marT="18288" marB="18288" anchor="ctr">
                    <a:solidFill>
                      <a:srgbClr val="FFFFFF"/>
                    </a:solidFill>
                  </a:tcPr>
                </a:tc>
                <a:tc>
                  <a:txBody>
                    <a:bodyPr wrap="square"/>
                    <a:lstStyle/>
                    <a:p>
                      <a:pPr algn="l">
                        <a:spcBef>
                          <a:spcPts val="0"/>
                        </a:spcBef>
                        <a:spcAft>
                          <a:spcPts val="0"/>
                        </a:spcAft>
                      </a:pPr>
                      <a:r>
                        <a:rPr lang="tr-TR" sz="1600" b="0" i="0">
                          <a:solidFill>
                            <a:srgbClr val="262626"/>
                          </a:solidFill>
                          <a:latin typeface="Calibri"/>
                        </a:rPr>
                        <a:t>Akdeniz-Himalaya Deprem Kuşağı, aktif faylar; dayanıksız yapılar</a:t>
                      </a:r>
                    </a:p>
                  </a:txBody>
                  <a:tcPr marL="54864" marR="54864" marT="18288" marB="18288" anchor="ctr">
                    <a:solidFill>
                      <a:srgbClr val="FFFFFF"/>
                    </a:solidFill>
                  </a:tcPr>
                </a:tc>
                <a:tc>
                  <a:txBody>
                    <a:bodyPr wrap="square"/>
                    <a:lstStyle/>
                    <a:p>
                      <a:pPr algn="l">
                        <a:spcBef>
                          <a:spcPts val="0"/>
                        </a:spcBef>
                        <a:spcAft>
                          <a:spcPts val="0"/>
                        </a:spcAft>
                      </a:pPr>
                      <a:r>
                        <a:rPr lang="tr-TR" sz="1600" b="0" i="0">
                          <a:solidFill>
                            <a:srgbClr val="262626"/>
                          </a:solidFill>
                          <a:latin typeface="Calibri"/>
                        </a:rPr>
                        <a:t>Fay hatları boyunca: kuzey, doğu ve batı kuşakları</a:t>
                      </a:r>
                    </a:p>
                  </a:txBody>
                  <a:tcPr marL="54864" marR="54864" marT="18288" marB="18288" anchor="ctr">
                    <a:solidFill>
                      <a:srgbClr val="FFFFFF"/>
                    </a:solidFill>
                  </a:tcPr>
                </a:tc>
              </a:tr>
              <a:tr h="914400">
                <a:tc>
                  <a:txBody>
                    <a:bodyPr wrap="square"/>
                    <a:lstStyle/>
                    <a:p>
                      <a:pPr algn="l">
                        <a:spcBef>
                          <a:spcPts val="0"/>
                        </a:spcBef>
                        <a:spcAft>
                          <a:spcPts val="0"/>
                        </a:spcAft>
                      </a:pPr>
                      <a:r>
                        <a:rPr lang="tr-TR" sz="1600" b="0" i="0">
                          <a:solidFill>
                            <a:srgbClr val="262626"/>
                          </a:solidFill>
                          <a:latin typeface="Calibri"/>
                        </a:rPr>
                        <a:t>Sel ve taşkın</a:t>
                      </a:r>
                    </a:p>
                  </a:txBody>
                  <a:tcPr marL="54864" marR="54864" marT="18288" marB="18288" anchor="ctr">
                    <a:solidFill>
                      <a:srgbClr val="E3F1E4"/>
                    </a:solidFill>
                  </a:tcPr>
                </a:tc>
                <a:tc>
                  <a:txBody>
                    <a:bodyPr wrap="square"/>
                    <a:lstStyle/>
                    <a:p>
                      <a:pPr algn="l">
                        <a:spcBef>
                          <a:spcPts val="0"/>
                        </a:spcBef>
                        <a:spcAft>
                          <a:spcPts val="0"/>
                        </a:spcAft>
                      </a:pPr>
                      <a:r>
                        <a:rPr lang="tr-TR" sz="1600" b="0" i="0">
                          <a:solidFill>
                            <a:srgbClr val="262626"/>
                          </a:solidFill>
                          <a:latin typeface="Calibri"/>
                        </a:rPr>
                        <a:t>Batı Karadeniz 2021 (97), İzmir 1995 (63)</a:t>
                      </a:r>
                    </a:p>
                  </a:txBody>
                  <a:tcPr marL="54864" marR="54864" marT="18288" marB="18288" anchor="ctr">
                    <a:solidFill>
                      <a:srgbClr val="E3F1E4"/>
                    </a:solidFill>
                  </a:tcPr>
                </a:tc>
                <a:tc>
                  <a:txBody>
                    <a:bodyPr wrap="square"/>
                    <a:lstStyle/>
                    <a:p>
                      <a:pPr algn="l">
                        <a:spcBef>
                          <a:spcPts val="0"/>
                        </a:spcBef>
                        <a:spcAft>
                          <a:spcPts val="0"/>
                        </a:spcAft>
                      </a:pPr>
                      <a:r>
                        <a:rPr lang="tr-TR" sz="1600" b="0" i="0">
                          <a:solidFill>
                            <a:srgbClr val="262626"/>
                          </a:solidFill>
                          <a:latin typeface="Calibri"/>
                        </a:rPr>
                        <a:t>Şiddetli yağış; dere yatağının daraltılması, dar menfezler</a:t>
                      </a:r>
                    </a:p>
                  </a:txBody>
                  <a:tcPr marL="54864" marR="54864" marT="18288" marB="18288" anchor="ctr">
                    <a:solidFill>
                      <a:srgbClr val="E3F1E4"/>
                    </a:solidFill>
                  </a:tcPr>
                </a:tc>
                <a:tc>
                  <a:txBody>
                    <a:bodyPr wrap="square"/>
                    <a:lstStyle/>
                    <a:p>
                      <a:pPr algn="l">
                        <a:spcBef>
                          <a:spcPts val="0"/>
                        </a:spcBef>
                        <a:spcAft>
                          <a:spcPts val="0"/>
                        </a:spcAft>
                      </a:pPr>
                      <a:r>
                        <a:rPr lang="tr-TR" sz="1600" b="0" i="0">
                          <a:solidFill>
                            <a:srgbClr val="262626"/>
                          </a:solidFill>
                          <a:latin typeface="Calibri"/>
                        </a:rPr>
                        <a:t>Hemen her yer; akarsu yataklarına yakın yerleşmeler</a:t>
                      </a:r>
                    </a:p>
                  </a:txBody>
                  <a:tcPr marL="54864" marR="54864" marT="18288" marB="18288" anchor="ctr">
                    <a:solidFill>
                      <a:srgbClr val="E3F1E4"/>
                    </a:solidFill>
                  </a:tcPr>
                </a:tc>
              </a:tr>
              <a:tr h="914400">
                <a:tc>
                  <a:txBody>
                    <a:bodyPr wrap="square"/>
                    <a:lstStyle/>
                    <a:p>
                      <a:pPr algn="l">
                        <a:spcBef>
                          <a:spcPts val="0"/>
                        </a:spcBef>
                        <a:spcAft>
                          <a:spcPts val="0"/>
                        </a:spcAft>
                      </a:pPr>
                      <a:r>
                        <a:rPr lang="tr-TR" sz="1600" b="0" i="0">
                          <a:solidFill>
                            <a:srgbClr val="262626"/>
                          </a:solidFill>
                          <a:latin typeface="Calibri"/>
                        </a:rPr>
                        <a:t>Salgın hastalık</a:t>
                      </a:r>
                    </a:p>
                  </a:txBody>
                  <a:tcPr marL="54864" marR="54864" marT="18288" marB="18288" anchor="ctr">
                    <a:solidFill>
                      <a:srgbClr val="FFFFFF"/>
                    </a:solidFill>
                  </a:tcPr>
                </a:tc>
                <a:tc>
                  <a:txBody>
                    <a:bodyPr wrap="square"/>
                    <a:lstStyle/>
                    <a:p>
                      <a:pPr algn="l">
                        <a:spcBef>
                          <a:spcPts val="0"/>
                        </a:spcBef>
                        <a:spcAft>
                          <a:spcPts val="0"/>
                        </a:spcAft>
                      </a:pPr>
                      <a:r>
                        <a:rPr lang="tr-TR" sz="1600" b="0" i="0">
                          <a:solidFill>
                            <a:srgbClr val="262626"/>
                          </a:solidFill>
                          <a:latin typeface="Calibri"/>
                        </a:rPr>
                        <a:t>COVID-19, Mart 2020-Mart 2023 (102.174)</a:t>
                      </a:r>
                    </a:p>
                  </a:txBody>
                  <a:tcPr marL="54864" marR="54864" marT="18288" marB="18288" anchor="ctr">
                    <a:solidFill>
                      <a:srgbClr val="FFFFFF"/>
                    </a:solidFill>
                  </a:tcPr>
                </a:tc>
                <a:tc>
                  <a:txBody>
                    <a:bodyPr wrap="square"/>
                    <a:lstStyle/>
                    <a:p>
                      <a:pPr algn="l">
                        <a:spcBef>
                          <a:spcPts val="0"/>
                        </a:spcBef>
                        <a:spcAft>
                          <a:spcPts val="0"/>
                        </a:spcAft>
                      </a:pPr>
                      <a:r>
                        <a:rPr lang="tr-TR" sz="1600" b="0" i="0">
                          <a:solidFill>
                            <a:srgbClr val="262626"/>
                          </a:solidFill>
                          <a:latin typeface="Calibri"/>
                        </a:rPr>
                        <a:t>Kalabalık şehirler, gelişen ulaşım, geçiş güzergâhı</a:t>
                      </a:r>
                    </a:p>
                  </a:txBody>
                  <a:tcPr marL="54864" marR="54864" marT="18288" marB="18288" anchor="ctr">
                    <a:solidFill>
                      <a:srgbClr val="FFFFFF"/>
                    </a:solidFill>
                  </a:tcPr>
                </a:tc>
                <a:tc>
                  <a:txBody>
                    <a:bodyPr wrap="square"/>
                    <a:lstStyle/>
                    <a:p>
                      <a:pPr algn="l">
                        <a:spcBef>
                          <a:spcPts val="0"/>
                        </a:spcBef>
                        <a:spcAft>
                          <a:spcPts val="0"/>
                        </a:spcAft>
                      </a:pPr>
                      <a:r>
                        <a:rPr lang="tr-TR" sz="1600" b="0" i="0">
                          <a:solidFill>
                            <a:srgbClr val="262626"/>
                          </a:solidFill>
                          <a:latin typeface="Calibri"/>
                        </a:rPr>
                        <a:t>Ülkenin tamamı</a:t>
                      </a:r>
                    </a:p>
                  </a:txBody>
                  <a:tcPr marL="54864" marR="54864" marT="18288" marB="18288" anchor="ctr">
                    <a:solidFill>
                      <a:srgbClr val="FFFFFF"/>
                    </a:solidFill>
                  </a:tcPr>
                </a:tc>
              </a:tr>
              <a:tr h="914400">
                <a:tc>
                  <a:txBody>
                    <a:bodyPr wrap="square"/>
                    <a:lstStyle/>
                    <a:p>
                      <a:pPr algn="l">
                        <a:spcBef>
                          <a:spcPts val="0"/>
                        </a:spcBef>
                        <a:spcAft>
                          <a:spcPts val="0"/>
                        </a:spcAft>
                      </a:pPr>
                      <a:r>
                        <a:rPr lang="tr-TR" sz="1600" b="0" i="0">
                          <a:solidFill>
                            <a:srgbClr val="262626"/>
                          </a:solidFill>
                          <a:latin typeface="Calibri"/>
                        </a:rPr>
                        <a:t>Erozyon</a:t>
                      </a:r>
                    </a:p>
                  </a:txBody>
                  <a:tcPr marL="54864" marR="54864" marT="18288" marB="18288" anchor="ctr">
                    <a:solidFill>
                      <a:srgbClr val="E3F1E4"/>
                    </a:solidFill>
                  </a:tcPr>
                </a:tc>
                <a:tc>
                  <a:txBody>
                    <a:bodyPr wrap="square"/>
                    <a:lstStyle/>
                    <a:p>
                      <a:pPr algn="l">
                        <a:spcBef>
                          <a:spcPts val="0"/>
                        </a:spcBef>
                        <a:spcAft>
                          <a:spcPts val="0"/>
                        </a:spcAft>
                      </a:pPr>
                      <a:r>
                        <a:rPr lang="tr-TR" sz="1600" b="0" i="0">
                          <a:solidFill>
                            <a:srgbClr val="262626"/>
                          </a:solidFill>
                          <a:latin typeface="Calibri"/>
                        </a:rPr>
                        <a:t>Tabloda yok</a:t>
                      </a:r>
                    </a:p>
                  </a:txBody>
                  <a:tcPr marL="54864" marR="54864" marT="18288" marB="18288" anchor="ctr">
                    <a:solidFill>
                      <a:srgbClr val="E3F1E4"/>
                    </a:solidFill>
                  </a:tcPr>
                </a:tc>
                <a:tc>
                  <a:txBody>
                    <a:bodyPr wrap="square"/>
                    <a:lstStyle/>
                    <a:p>
                      <a:pPr algn="l">
                        <a:spcBef>
                          <a:spcPts val="0"/>
                        </a:spcBef>
                        <a:spcAft>
                          <a:spcPts val="0"/>
                        </a:spcAft>
                      </a:pPr>
                      <a:r>
                        <a:rPr lang="tr-TR" sz="1600" b="0" i="0">
                          <a:solidFill>
                            <a:srgbClr val="262626"/>
                          </a:solidFill>
                          <a:latin typeface="Calibri"/>
                        </a:rPr>
                        <a:t>Toprak örtüsünün taşınması; çölleşme</a:t>
                      </a:r>
                    </a:p>
                  </a:txBody>
                  <a:tcPr marL="54864" marR="54864" marT="18288" marB="18288" anchor="ctr">
                    <a:solidFill>
                      <a:srgbClr val="E3F1E4"/>
                    </a:solidFill>
                  </a:tcPr>
                </a:tc>
                <a:tc>
                  <a:txBody>
                    <a:bodyPr wrap="square"/>
                    <a:lstStyle/>
                    <a:p>
                      <a:pPr algn="l">
                        <a:spcBef>
                          <a:spcPts val="0"/>
                        </a:spcBef>
                        <a:spcAft>
                          <a:spcPts val="0"/>
                        </a:spcAft>
                      </a:pPr>
                      <a:r>
                        <a:rPr lang="tr-TR" sz="1600" b="0" i="0">
                          <a:solidFill>
                            <a:srgbClr val="262626"/>
                          </a:solidFill>
                          <a:latin typeface="Calibri"/>
                        </a:rPr>
                        <a:t>Çölleşme riski: İç Anadolu, Güneydoğu'nun güneyi, Iğdır</a:t>
                      </a:r>
                    </a:p>
                  </a:txBody>
                  <a:tcPr marL="54864" marR="54864" marT="18288" marB="18288" anchor="ctr">
                    <a:solidFill>
                      <a:srgbClr val="E3F1E4"/>
                    </a:solidFill>
                  </a:tcPr>
                </a:tc>
              </a:tr>
              <a:tr h="914400">
                <a:tc>
                  <a:txBody>
                    <a:bodyPr wrap="square"/>
                    <a:lstStyle/>
                    <a:p>
                      <a:pPr algn="l">
                        <a:spcBef>
                          <a:spcPts val="0"/>
                        </a:spcBef>
                        <a:spcAft>
                          <a:spcPts val="0"/>
                        </a:spcAft>
                      </a:pPr>
                      <a:r>
                        <a:rPr lang="tr-TR" sz="1600" b="0" i="0">
                          <a:solidFill>
                            <a:srgbClr val="262626"/>
                          </a:solidFill>
                          <a:latin typeface="Calibri"/>
                        </a:rPr>
                        <a:t>Çığ, heyelan, orman yangını</a:t>
                      </a:r>
                    </a:p>
                  </a:txBody>
                  <a:tcPr marL="54864" marR="54864" marT="18288" marB="18288" anchor="ctr">
                    <a:solidFill>
                      <a:srgbClr val="FFFFFF"/>
                    </a:solidFill>
                  </a:tcPr>
                </a:tc>
                <a:tc>
                  <a:txBody>
                    <a:bodyPr wrap="square"/>
                    <a:lstStyle/>
                    <a:p>
                      <a:pPr algn="l">
                        <a:spcBef>
                          <a:spcPts val="0"/>
                        </a:spcBef>
                        <a:spcAft>
                          <a:spcPts val="0"/>
                        </a:spcAft>
                      </a:pPr>
                      <a:r>
                        <a:rPr lang="tr-TR" sz="1600" b="0" i="0">
                          <a:solidFill>
                            <a:srgbClr val="262626"/>
                          </a:solidFill>
                          <a:latin typeface="Calibri"/>
                        </a:rPr>
                        <a:t>Çığ: Güneydoğu Anadolu 1992 (328); heyelan: Şirvan 2016 (16)</a:t>
                      </a:r>
                    </a:p>
                  </a:txBody>
                  <a:tcPr marL="54864" marR="54864" marT="18288" marB="18288" anchor="ctr">
                    <a:solidFill>
                      <a:srgbClr val="FFFFFF"/>
                    </a:solidFill>
                  </a:tcPr>
                </a:tc>
                <a:tc>
                  <a:txBody>
                    <a:bodyPr wrap="square"/>
                    <a:lstStyle/>
                    <a:p>
                      <a:pPr algn="l">
                        <a:spcBef>
                          <a:spcPts val="0"/>
                        </a:spcBef>
                        <a:spcAft>
                          <a:spcPts val="0"/>
                        </a:spcAft>
                      </a:pPr>
                      <a:r>
                        <a:rPr lang="tr-TR" sz="1600" b="0" i="0">
                          <a:solidFill>
                            <a:srgbClr val="262626"/>
                          </a:solidFill>
                          <a:latin typeface="Calibri"/>
                        </a:rPr>
                        <a:t>Yükselti ve kar; dik yamaç ve bol yağış; kurak yaz ve orman</a:t>
                      </a:r>
                    </a:p>
                  </a:txBody>
                  <a:tcPr marL="54864" marR="54864" marT="18288" marB="18288" anchor="ctr">
                    <a:solidFill>
                      <a:srgbClr val="FFFFFF"/>
                    </a:solidFill>
                  </a:tcPr>
                </a:tc>
                <a:tc>
                  <a:txBody>
                    <a:bodyPr wrap="square"/>
                    <a:lstStyle/>
                    <a:p>
                      <a:pPr algn="l">
                        <a:spcBef>
                          <a:spcPts val="0"/>
                        </a:spcBef>
                        <a:spcAft>
                          <a:spcPts val="0"/>
                        </a:spcAft>
                      </a:pPr>
                      <a:r>
                        <a:rPr lang="tr-TR" sz="1600" b="0" i="0">
                          <a:solidFill>
                            <a:srgbClr val="262626"/>
                          </a:solidFill>
                          <a:latin typeface="Calibri"/>
                        </a:rPr>
                        <a:t>Doğu Anadolu; Doğu Karadeniz; Ege-Akdeniz kıyıları</a:t>
                      </a:r>
                    </a:p>
                  </a:txBody>
                  <a:tcPr marL="54864" marR="54864" marT="18288" marB="18288" anchor="ctr">
                    <a:solidFill>
                      <a:srgbClr val="FFFFFF"/>
                    </a:solidFill>
                  </a:tcPr>
                </a:tc>
              </a:tr>
            </a:tbl>
          </a:graphicData>
        </a:graphic>
      </p:graphicFrame>
      <p:sp>
        <p:nvSpPr>
          <p:cNvPr id="7" name="TextBox 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8" name="Rounded Rectangle 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197-201</a:t>
            </a:r>
          </a:p>
        </p:txBody>
      </p:sp>
      <p:sp>
        <p:nvSpPr>
          <p:cNvPr id="9" name="TextBox 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107 / 250</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Türkiye INFORM'a göre hangi risk grubunda?</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KENAR SORUSU</a:t>
            </a:r>
          </a:p>
        </p:txBody>
      </p:sp>
      <p:sp>
        <p:nvSpPr>
          <p:cNvPr id="6" name="Rounded Rectangle 5"/>
          <p:cNvSpPr/>
          <p:nvPr/>
        </p:nvSpPr>
        <p:spPr>
          <a:xfrm>
            <a:off x="502920" y="1216152"/>
            <a:ext cx="4846320" cy="1678192"/>
          </a:xfrm>
          <a:prstGeom prst="roundRect">
            <a:avLst>
              <a:gd name="adj" fmla="val 8000"/>
            </a:avLst>
          </a:prstGeom>
          <a:solidFill>
            <a:srgbClr val="F0F0F0"/>
          </a:solidFill>
          <a:ln>
            <a:noFill/>
          </a:ln>
          <a:effectLst/>
        </p:spPr>
        <p:txBody>
          <a:bodyPr rtlCol="0" anchor="ctr"/>
          <a:lstStyle/>
          <a:p/>
        </p:txBody>
      </p:sp>
      <p:sp>
        <p:nvSpPr>
          <p:cNvPr id="7" name="Rectangle 6"/>
          <p:cNvSpPr/>
          <p:nvPr/>
        </p:nvSpPr>
        <p:spPr>
          <a:xfrm>
            <a:off x="502920" y="1216152"/>
            <a:ext cx="118872" cy="1678192"/>
          </a:xfrm>
          <a:prstGeom prst="rect">
            <a:avLst/>
          </a:prstGeom>
          <a:solidFill>
            <a:srgbClr val="6A4C93"/>
          </a:solidFill>
          <a:ln>
            <a:noFill/>
          </a:ln>
          <a:effectLst/>
        </p:spPr>
        <p:txBody>
          <a:bodyPr rtlCol="0" anchor="ctr"/>
          <a:lstStyle/>
          <a:p/>
        </p:txBody>
      </p:sp>
      <p:sp>
        <p:nvSpPr>
          <p:cNvPr id="8" name="TextBox 7"/>
          <p:cNvSpPr txBox="1"/>
          <p:nvPr/>
        </p:nvSpPr>
        <p:spPr>
          <a:xfrm>
            <a:off x="777240" y="1216152"/>
            <a:ext cx="4434840" cy="1678192"/>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262626"/>
                </a:solidFill>
                <a:latin typeface="Calibri"/>
              </a:rPr>
              <a:t>Türkiye, afetlerin sık yaşandığı ülkelerden biridir. Bununla birlikte doğal çevre özelliklerine bağlı çok sayıda tehlike kaynağını barındırmaktadır.</a:t>
            </a:r>
          </a:p>
        </p:txBody>
      </p:sp>
      <p:sp>
        <p:nvSpPr>
          <p:cNvPr id="9" name="Rounded Rectangle 8"/>
          <p:cNvSpPr/>
          <p:nvPr/>
        </p:nvSpPr>
        <p:spPr>
          <a:xfrm>
            <a:off x="502920" y="3031504"/>
            <a:ext cx="4846320" cy="1748117"/>
          </a:xfrm>
          <a:prstGeom prst="roundRect">
            <a:avLst>
              <a:gd name="adj" fmla="val 8000"/>
            </a:avLst>
          </a:prstGeom>
          <a:solidFill>
            <a:srgbClr val="F0F0F0"/>
          </a:solidFill>
          <a:ln>
            <a:noFill/>
          </a:ln>
          <a:effectLst/>
        </p:spPr>
        <p:txBody>
          <a:bodyPr rtlCol="0" anchor="ctr"/>
          <a:lstStyle/>
          <a:p/>
        </p:txBody>
      </p:sp>
      <p:sp>
        <p:nvSpPr>
          <p:cNvPr id="10" name="Rectangle 9"/>
          <p:cNvSpPr/>
          <p:nvPr/>
        </p:nvSpPr>
        <p:spPr>
          <a:xfrm>
            <a:off x="502920" y="3031504"/>
            <a:ext cx="118872" cy="1748117"/>
          </a:xfrm>
          <a:prstGeom prst="rect">
            <a:avLst/>
          </a:prstGeom>
          <a:solidFill>
            <a:srgbClr val="6A4C93"/>
          </a:solidFill>
          <a:ln>
            <a:noFill/>
          </a:ln>
          <a:effectLst/>
        </p:spPr>
        <p:txBody>
          <a:bodyPr rtlCol="0" anchor="ctr"/>
          <a:lstStyle/>
          <a:p/>
        </p:txBody>
      </p:sp>
      <p:sp>
        <p:nvSpPr>
          <p:cNvPr id="11" name="TextBox 10"/>
          <p:cNvSpPr txBox="1"/>
          <p:nvPr/>
        </p:nvSpPr>
        <p:spPr>
          <a:xfrm>
            <a:off x="777240" y="3031504"/>
            <a:ext cx="4434840" cy="1748117"/>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262626"/>
                </a:solidFill>
                <a:latin typeface="Calibri"/>
              </a:rPr>
              <a:t>Diğer yandan Türkiye, coğrafi konumu nedeniyle yakın çevresinde yaşanan insani krizler ve bunların ortaya çıkardığı sosyal sorunlarla da mücadele etmek durumunda kalmaktadır.</a:t>
            </a:r>
          </a:p>
        </p:txBody>
      </p:sp>
      <p:sp>
        <p:nvSpPr>
          <p:cNvPr id="12" name="Rounded Rectangle 11"/>
          <p:cNvSpPr/>
          <p:nvPr/>
        </p:nvSpPr>
        <p:spPr>
          <a:xfrm>
            <a:off x="502920" y="4916781"/>
            <a:ext cx="4846320" cy="1328569"/>
          </a:xfrm>
          <a:prstGeom prst="roundRect">
            <a:avLst>
              <a:gd name="adj" fmla="val 8000"/>
            </a:avLst>
          </a:prstGeom>
          <a:solidFill>
            <a:srgbClr val="F0F0F0"/>
          </a:solidFill>
          <a:ln>
            <a:noFill/>
          </a:ln>
          <a:effectLst/>
        </p:spPr>
        <p:txBody>
          <a:bodyPr rtlCol="0" anchor="ctr"/>
          <a:lstStyle/>
          <a:p/>
        </p:txBody>
      </p:sp>
      <p:sp>
        <p:nvSpPr>
          <p:cNvPr id="13" name="Rectangle 12"/>
          <p:cNvSpPr/>
          <p:nvPr/>
        </p:nvSpPr>
        <p:spPr>
          <a:xfrm>
            <a:off x="502920" y="4916781"/>
            <a:ext cx="118872" cy="1328569"/>
          </a:xfrm>
          <a:prstGeom prst="rect">
            <a:avLst/>
          </a:prstGeom>
          <a:solidFill>
            <a:srgbClr val="6A4C93"/>
          </a:solidFill>
          <a:ln>
            <a:noFill/>
          </a:ln>
          <a:effectLst/>
        </p:spPr>
        <p:txBody>
          <a:bodyPr rtlCol="0" anchor="ctr"/>
          <a:lstStyle/>
          <a:p/>
        </p:txBody>
      </p:sp>
      <p:sp>
        <p:nvSpPr>
          <p:cNvPr id="14" name="TextBox 13"/>
          <p:cNvSpPr txBox="1"/>
          <p:nvPr/>
        </p:nvSpPr>
        <p:spPr>
          <a:xfrm>
            <a:off x="777240" y="4916781"/>
            <a:ext cx="4434840" cy="1328569"/>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262626"/>
                </a:solidFill>
                <a:latin typeface="Calibri"/>
              </a:rPr>
              <a:t>Bu çalışmalar arasında Risk Yönetimi Endeksi (INFORM) ve Dünya Risk Raporu (World Risk Report) öne çıkmaktadır.</a:t>
            </a:r>
          </a:p>
        </p:txBody>
      </p:sp>
      <p:pic>
        <p:nvPicPr>
          <p:cNvPr id="15" name="Picture 14" descr="h31_h63_s197.jpg"/>
          <p:cNvPicPr>
            <a:picLocks noChangeAspect="1"/>
          </p:cNvPicPr>
          <p:nvPr/>
        </p:nvPicPr>
        <p:blipFill>
          <a:blip r:embed="rId3"/>
          <a:stretch>
            <a:fillRect/>
          </a:stretch>
        </p:blipFill>
        <p:spPr>
          <a:xfrm>
            <a:off x="6022920" y="1216152"/>
            <a:ext cx="5220773" cy="2743200"/>
          </a:xfrm>
          <a:prstGeom prst="rect">
            <a:avLst/>
          </a:prstGeom>
          <a:ln w="9525">
            <a:solidFill>
              <a:srgbClr val="D9D9D9"/>
            </a:solidFill>
          </a:ln>
        </p:spPr>
      </p:pic>
      <p:sp>
        <p:nvSpPr>
          <p:cNvPr id="16" name="TextBox 15"/>
          <p:cNvSpPr txBox="1"/>
          <p:nvPr/>
        </p:nvSpPr>
        <p:spPr>
          <a:xfrm>
            <a:off x="5577840" y="4014216"/>
            <a:ext cx="6110935" cy="274320"/>
          </a:xfrm>
          <a:prstGeom prst="rect">
            <a:avLst/>
          </a:prstGeom>
          <a:noFill/>
        </p:spPr>
        <p:txBody>
          <a:bodyPr wrap="square" anchor="t" lIns="73152" rIns="73152" tIns="36576" bIns="36576">
            <a:noAutofit/>
          </a:bodyPr>
          <a:lstStyle/>
          <a:p>
            <a:pPr algn="ctr">
              <a:spcBef>
                <a:spcPts val="0"/>
              </a:spcBef>
              <a:spcAft>
                <a:spcPts val="0"/>
              </a:spcAft>
            </a:pPr>
            <a:r>
              <a:rPr lang="tr-TR" sz="1200" b="0" i="1">
                <a:solidFill>
                  <a:srgbClr val="767676"/>
                </a:solidFill>
                <a:latin typeface="Calibri"/>
              </a:rPr>
              <a:t>Harita 6.3: INFORM puanlarına göre risk sınıfları (2023)</a:t>
            </a:r>
          </a:p>
        </p:txBody>
      </p:sp>
      <p:sp>
        <p:nvSpPr>
          <p:cNvPr id="17" name="Rounded Rectangle 16"/>
          <p:cNvSpPr/>
          <p:nvPr/>
        </p:nvSpPr>
        <p:spPr>
          <a:xfrm>
            <a:off x="5577840" y="4306824"/>
            <a:ext cx="6110935" cy="1984248"/>
          </a:xfrm>
          <a:prstGeom prst="roundRect">
            <a:avLst>
              <a:gd name="adj" fmla="val 5000"/>
            </a:avLst>
          </a:prstGeom>
          <a:solidFill>
            <a:srgbClr val="F0F0F0"/>
          </a:solidFill>
          <a:ln>
            <a:noFill/>
          </a:ln>
          <a:effectLst/>
        </p:spPr>
        <p:txBody>
          <a:bodyPr rtlCol="0" anchor="ctr"/>
          <a:lstStyle/>
          <a:p/>
        </p:txBody>
      </p:sp>
      <p:sp>
        <p:nvSpPr>
          <p:cNvPr id="18" name="Rectangle 17"/>
          <p:cNvSpPr/>
          <p:nvPr/>
        </p:nvSpPr>
        <p:spPr>
          <a:xfrm>
            <a:off x="5715000" y="4416552"/>
            <a:ext cx="5836615" cy="54864"/>
          </a:xfrm>
          <a:prstGeom prst="rect">
            <a:avLst/>
          </a:prstGeom>
          <a:solidFill>
            <a:srgbClr val="D3373A"/>
          </a:solidFill>
          <a:ln>
            <a:noFill/>
          </a:ln>
          <a:effectLst/>
        </p:spPr>
        <p:txBody>
          <a:bodyPr rtlCol="0" anchor="ctr"/>
          <a:lstStyle/>
          <a:p/>
        </p:txBody>
      </p:sp>
      <p:sp>
        <p:nvSpPr>
          <p:cNvPr id="19" name="TextBox 18"/>
          <p:cNvSpPr txBox="1"/>
          <p:nvPr/>
        </p:nvSpPr>
        <p:spPr>
          <a:xfrm>
            <a:off x="5715000" y="4507992"/>
            <a:ext cx="5836615" cy="365760"/>
          </a:xfrm>
          <a:prstGeom prst="rect">
            <a:avLst/>
          </a:prstGeom>
          <a:noFill/>
        </p:spPr>
        <p:txBody>
          <a:bodyPr wrap="square" anchor="t" lIns="73152" rIns="73152" tIns="36576" bIns="36576">
            <a:noAutofit/>
          </a:bodyPr>
          <a:lstStyle/>
          <a:p>
            <a:pPr algn="l">
              <a:spcBef>
                <a:spcPts val="0"/>
              </a:spcBef>
              <a:spcAft>
                <a:spcPts val="0"/>
              </a:spcAft>
            </a:pPr>
            <a:r>
              <a:rPr lang="tr-TR" sz="1400" b="1" i="0">
                <a:solidFill>
                  <a:srgbClr val="D3373A"/>
                </a:solidFill>
                <a:latin typeface="Calibri"/>
              </a:rPr>
              <a:t>KENAR SORUSU</a:t>
            </a:r>
          </a:p>
        </p:txBody>
      </p:sp>
      <p:sp>
        <p:nvSpPr>
          <p:cNvPr id="20" name="TextBox 19"/>
          <p:cNvSpPr txBox="1"/>
          <p:nvPr/>
        </p:nvSpPr>
        <p:spPr>
          <a:xfrm>
            <a:off x="5715000" y="4873752"/>
            <a:ext cx="5836615" cy="746760"/>
          </a:xfrm>
          <a:prstGeom prst="rect">
            <a:avLst/>
          </a:prstGeom>
          <a:noFill/>
        </p:spPr>
        <p:txBody>
          <a:bodyPr wrap="square" anchor="t" lIns="73152" rIns="73152" tIns="36576" bIns="36576">
            <a:noAutofit/>
          </a:bodyPr>
          <a:lstStyle/>
          <a:p>
            <a:pPr algn="l">
              <a:spcBef>
                <a:spcPts val="0"/>
              </a:spcBef>
              <a:spcAft>
                <a:spcPts val="0"/>
              </a:spcAft>
            </a:pPr>
            <a:r>
              <a:rPr lang="tr-TR" sz="2000" b="1" i="1">
                <a:solidFill>
                  <a:srgbClr val="262626"/>
                </a:solidFill>
                <a:latin typeface="Calibri"/>
              </a:rPr>
              <a:t>Türkiye, INFORM endeksine göre hangi risk grubunda yer almaktadır?</a:t>
            </a:r>
          </a:p>
        </p:txBody>
      </p:sp>
      <p:sp>
        <p:nvSpPr>
          <p:cNvPr id="21" name="Rounded Rectangle 20"/>
          <p:cNvSpPr/>
          <p:nvPr/>
        </p:nvSpPr>
        <p:spPr>
          <a:xfrm>
            <a:off x="5715000" y="5730240"/>
            <a:ext cx="5836615" cy="423672"/>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22" name="Connector 21"/>
          <p:cNvCxnSpPr/>
          <p:nvPr/>
        </p:nvCxnSpPr>
        <p:spPr>
          <a:xfrm>
            <a:off x="5897880" y="5942076"/>
            <a:ext cx="5470855" cy="0"/>
          </a:xfrm>
          <a:prstGeom prst="line">
            <a:avLst/>
          </a:prstGeom>
          <a:ln w="12700">
            <a:solidFill>
              <a:srgbClr val="D9D9D9"/>
            </a:solidFill>
            <a:prstDash val="dash"/>
          </a:ln>
        </p:spPr>
      </p:cxn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197</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108 / 250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Türkiye INFORM'a göre hangi risk grubunda?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CEVAP</a:t>
            </a:r>
          </a:p>
        </p:txBody>
      </p:sp>
      <p:pic>
        <p:nvPicPr>
          <p:cNvPr id="6" name="Picture 5" descr="h31_h63_s197.jpg"/>
          <p:cNvPicPr>
            <a:picLocks noChangeAspect="1"/>
          </p:cNvPicPr>
          <p:nvPr/>
        </p:nvPicPr>
        <p:blipFill>
          <a:blip r:embed="rId3"/>
          <a:stretch>
            <a:fillRect/>
          </a:stretch>
        </p:blipFill>
        <p:spPr>
          <a:xfrm>
            <a:off x="502920" y="1736835"/>
            <a:ext cx="7589520" cy="3987832"/>
          </a:xfrm>
          <a:prstGeom prst="rect">
            <a:avLst/>
          </a:prstGeom>
          <a:ln w="9525">
            <a:solidFill>
              <a:srgbClr val="D9D9D9"/>
            </a:solidFill>
          </a:ln>
        </p:spPr>
      </p:pic>
      <p:sp>
        <p:nvSpPr>
          <p:cNvPr id="7" name="Oval 6"/>
          <p:cNvSpPr/>
          <p:nvPr/>
        </p:nvSpPr>
        <p:spPr>
          <a:xfrm>
            <a:off x="4694415" y="2472076"/>
            <a:ext cx="585216" cy="585216"/>
          </a:xfrm>
          <a:prstGeom prst="ellipse">
            <a:avLst/>
          </a:prstGeom>
          <a:noFill/>
          <a:ln w="44450">
            <a:solidFill>
              <a:srgbClr val="FCC021"/>
            </a:solidFill>
          </a:ln>
          <a:effectLst/>
        </p:spPr>
        <p:txBody>
          <a:bodyPr rtlCol="0" anchor="ctr"/>
          <a:lstStyle/>
          <a:p/>
        </p:txBody>
      </p:sp>
      <p:cxnSp>
        <p:nvCxnSpPr>
          <p:cNvPr id="8" name="Connector 7"/>
          <p:cNvCxnSpPr/>
          <p:nvPr/>
        </p:nvCxnSpPr>
        <p:spPr>
          <a:xfrm flipH="1" flipV="1">
            <a:off x="4666983" y="2078884"/>
            <a:ext cx="320040" cy="393192"/>
          </a:xfrm>
          <a:prstGeom prst="line">
            <a:avLst/>
          </a:prstGeom>
          <a:ln w="19050">
            <a:solidFill>
              <a:srgbClr val="4F4F4F"/>
            </a:solidFill>
          </a:ln>
        </p:spPr>
      </p:cxnSp>
      <p:sp>
        <p:nvSpPr>
          <p:cNvPr id="9" name="Rounded Rectangle 8"/>
          <p:cNvSpPr/>
          <p:nvPr/>
        </p:nvSpPr>
        <p:spPr>
          <a:xfrm>
            <a:off x="4258726" y="1777132"/>
            <a:ext cx="816514" cy="310896"/>
          </a:xfrm>
          <a:prstGeom prst="roundRect">
            <a:avLst>
              <a:gd name="adj" fmla="val 25000"/>
            </a:avLst>
          </a:prstGeom>
          <a:solidFill>
            <a:srgbClr val="FFFFFF"/>
          </a:solidFill>
          <a:ln w="15875">
            <a:solidFill>
              <a:srgbClr val="4F4F4F"/>
            </a:solidFill>
          </a:ln>
          <a:effectLst/>
        </p:spPr>
        <p:txBody>
          <a:bodyPr rtlCol="0" anchor="ctr" wrap="square" lIns="36576" rIns="36576" tIns="0" bIns="0">
            <a:noAutofit/>
          </a:bodyPr>
          <a:lstStyle/>
          <a:p>
            <a:pPr algn="ctr">
              <a:spcBef>
                <a:spcPts val="0"/>
              </a:spcBef>
              <a:spcAft>
                <a:spcPts val="0"/>
              </a:spcAft>
            </a:pPr>
            <a:r>
              <a:rPr lang="tr-TR" sz="1500" b="1" i="0">
                <a:solidFill>
                  <a:srgbClr val="262626"/>
                </a:solidFill>
                <a:latin typeface="Calibri"/>
              </a:rPr>
              <a:t>Türkiye</a:t>
            </a:r>
          </a:p>
        </p:txBody>
      </p:sp>
      <p:sp>
        <p:nvSpPr>
          <p:cNvPr id="10" name="Rounded Rectangle 9"/>
          <p:cNvSpPr/>
          <p:nvPr/>
        </p:nvSpPr>
        <p:spPr>
          <a:xfrm>
            <a:off x="8321040" y="1216152"/>
            <a:ext cx="3367735" cy="1828800"/>
          </a:xfrm>
          <a:prstGeom prst="roundRect">
            <a:avLst>
              <a:gd name="adj" fmla="val 8000"/>
            </a:avLst>
          </a:prstGeom>
          <a:solidFill>
            <a:srgbClr val="EE1F38"/>
          </a:solidFill>
          <a:ln>
            <a:noFill/>
          </a:ln>
          <a:effectLst/>
        </p:spPr>
        <p:txBody>
          <a:bodyPr rtlCol="0" anchor="ctr" wrap="square" lIns="128016" rIns="128016" tIns="73152" bIns="73152">
            <a:noAutofit/>
          </a:bodyPr>
          <a:lstStyle/>
          <a:p>
            <a:pPr algn="ctr">
              <a:spcBef>
                <a:spcPts val="0"/>
              </a:spcBef>
              <a:spcAft>
                <a:spcPts val="200"/>
              </a:spcAft>
            </a:pPr>
            <a:r>
              <a:rPr lang="tr-TR" sz="4000" b="1" i="0">
                <a:solidFill>
                  <a:srgbClr val="FFFFFF"/>
                </a:solidFill>
                <a:latin typeface="Calibri"/>
              </a:rPr>
              <a:t>ORTA</a:t>
            </a:r>
          </a:p>
          <a:p>
            <a:pPr algn="ctr">
              <a:spcBef>
                <a:spcPts val="0"/>
              </a:spcBef>
              <a:spcAft>
                <a:spcPts val="0"/>
              </a:spcAft>
            </a:pPr>
            <a:r>
              <a:rPr lang="tr-TR" sz="1900" b="0" i="0">
                <a:solidFill>
                  <a:srgbClr val="FFFFFF"/>
                </a:solidFill>
                <a:latin typeface="Calibri"/>
              </a:rPr>
              <a:t>INFORM puanı 3,5-5</a:t>
            </a:r>
          </a:p>
        </p:txBody>
      </p:sp>
      <p:sp>
        <p:nvSpPr>
          <p:cNvPr id="11" name="Rounded Rectangle 10"/>
          <p:cNvSpPr/>
          <p:nvPr/>
        </p:nvSpPr>
        <p:spPr>
          <a:xfrm>
            <a:off x="8321040" y="3182112"/>
            <a:ext cx="3367735" cy="3063240"/>
          </a:xfrm>
          <a:prstGeom prst="roundRect">
            <a:avLst>
              <a:gd name="adj" fmla="val 6000"/>
            </a:avLst>
          </a:prstGeom>
          <a:solidFill>
            <a:srgbClr val="E3F1E4"/>
          </a:solidFill>
          <a:ln>
            <a:noFill/>
          </a:ln>
          <a:effectLst/>
        </p:spPr>
        <p:txBody>
          <a:bodyPr rtlCol="0" anchor="ctr"/>
          <a:lstStyle/>
          <a:p/>
        </p:txBody>
      </p:sp>
      <p:sp>
        <p:nvSpPr>
          <p:cNvPr id="12" name="Rectangle 11"/>
          <p:cNvSpPr/>
          <p:nvPr/>
        </p:nvSpPr>
        <p:spPr>
          <a:xfrm>
            <a:off x="8321040" y="3182112"/>
            <a:ext cx="109728" cy="3063240"/>
          </a:xfrm>
          <a:prstGeom prst="rect">
            <a:avLst/>
          </a:prstGeom>
          <a:solidFill>
            <a:srgbClr val="2E7D32"/>
          </a:solidFill>
          <a:ln>
            <a:noFill/>
          </a:ln>
          <a:effectLst/>
        </p:spPr>
        <p:txBody>
          <a:bodyPr rtlCol="0" anchor="ctr"/>
          <a:lstStyle/>
          <a:p/>
        </p:txBody>
      </p:sp>
      <p:sp>
        <p:nvSpPr>
          <p:cNvPr id="13" name="TextBox 12"/>
          <p:cNvSpPr txBox="1"/>
          <p:nvPr/>
        </p:nvSpPr>
        <p:spPr>
          <a:xfrm>
            <a:off x="8549640" y="3236976"/>
            <a:ext cx="3047695" cy="2953512"/>
          </a:xfrm>
          <a:prstGeom prst="rect">
            <a:avLst/>
          </a:prstGeom>
          <a:noFill/>
        </p:spPr>
        <p:txBody>
          <a:bodyPr wrap="square" anchor="ctr" lIns="73152" rIns="73152" tIns="36576" bIns="36576">
            <a:noAutofit/>
          </a:bodyPr>
          <a:lstStyle/>
          <a:p>
            <a:pPr algn="l">
              <a:spcBef>
                <a:spcPts val="0"/>
              </a:spcBef>
              <a:spcAft>
                <a:spcPts val="400"/>
              </a:spcAft>
            </a:pPr>
            <a:r>
              <a:rPr lang="tr-TR" sz="1700" b="1" i="0">
                <a:solidFill>
                  <a:srgbClr val="2E7D32"/>
                </a:solidFill>
                <a:latin typeface="Calibri"/>
              </a:rPr>
              <a:t>Nasıl okuduk?</a:t>
            </a:r>
          </a:p>
          <a:p>
            <a:pPr algn="l" marL="211327" indent="-211327">
              <a:spcBef>
                <a:spcPts val="0"/>
              </a:spcBef>
              <a:spcAft>
                <a:spcPts val="500"/>
              </a:spcAft>
            </a:pPr>
            <a:r>
              <a:rPr lang="tr-TR" sz="1700" b="1" i="0">
                <a:solidFill>
                  <a:srgbClr val="2C6696"/>
                </a:solidFill>
                <a:latin typeface="Calibri"/>
              </a:rPr>
              <a:t>•  </a:t>
            </a:r>
            <a:r>
              <a:rPr lang="tr-TR" sz="1700" b="0" i="0">
                <a:solidFill>
                  <a:srgbClr val="262626"/>
                </a:solidFill>
                <a:latin typeface="Calibri"/>
              </a:rPr>
              <a:t>Türkiye'nin rengi lejantın üçüncü kutusuyla aynı.</a:t>
            </a:r>
          </a:p>
          <a:p>
            <a:pPr algn="l" marL="211327" indent="-211327">
              <a:spcBef>
                <a:spcPts val="0"/>
              </a:spcBef>
              <a:spcAft>
                <a:spcPts val="0"/>
              </a:spcAft>
            </a:pPr>
            <a:r>
              <a:rPr lang="tr-TR" sz="1700" b="1" i="0">
                <a:solidFill>
                  <a:srgbClr val="2C6696"/>
                </a:solidFill>
                <a:latin typeface="Calibri"/>
              </a:rPr>
              <a:t>•  </a:t>
            </a:r>
            <a:r>
              <a:rPr lang="tr-TR" sz="1700" b="0" i="0">
                <a:solidFill>
                  <a:srgbClr val="262626"/>
                </a:solidFill>
                <a:latin typeface="Calibri"/>
              </a:rPr>
              <a:t>Yakın çevresinde daha yüksek sınıfta ülkeler var.</a:t>
            </a:r>
          </a:p>
        </p:txBody>
      </p:sp>
      <p:sp>
        <p:nvSpPr>
          <p:cNvPr id="14" name="TextBox 13"/>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15" name="Rounded Rectangle 14"/>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197</a:t>
            </a:r>
          </a:p>
        </p:txBody>
      </p:sp>
      <p:sp>
        <p:nvSpPr>
          <p:cNvPr id="16" name="TextBox 1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109 / 250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7</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Kitaba göre Türkiye'nin hemen her bölgesinde çok sayıda fay hattı bulunmasının nedeni nedir?</a:t>
            </a:r>
          </a:p>
        </p:txBody>
      </p:sp>
      <p:sp>
        <p:nvSpPr>
          <p:cNvPr id="7" name="Rounded Rectangle 6"/>
          <p:cNvSpPr/>
          <p:nvPr/>
        </p:nvSpPr>
        <p:spPr>
          <a:xfrm>
            <a:off x="502920" y="2633472"/>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694736"/>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Ekvatora yakın olması</a:t>
            </a:r>
          </a:p>
        </p:txBody>
      </p:sp>
      <p:sp>
        <p:nvSpPr>
          <p:cNvPr id="10" name="Rounded Rectangle 9"/>
          <p:cNvSpPr/>
          <p:nvPr/>
        </p:nvSpPr>
        <p:spPr>
          <a:xfrm>
            <a:off x="502920" y="3368649"/>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429913"/>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368649"/>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Nüfusunun kalabalık olması</a:t>
            </a:r>
          </a:p>
        </p:txBody>
      </p:sp>
      <p:sp>
        <p:nvSpPr>
          <p:cNvPr id="13" name="Rounded Rectangle 12"/>
          <p:cNvSpPr/>
          <p:nvPr/>
        </p:nvSpPr>
        <p:spPr>
          <a:xfrm>
            <a:off x="502920" y="4103826"/>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4165090"/>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4103826"/>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Akdeniz-Himalaya Deprem Kuşağı'nda yer alması</a:t>
            </a:r>
          </a:p>
        </p:txBody>
      </p:sp>
      <p:sp>
        <p:nvSpPr>
          <p:cNvPr id="16" name="Rounded Rectangle 15"/>
          <p:cNvSpPr/>
          <p:nvPr/>
        </p:nvSpPr>
        <p:spPr>
          <a:xfrm>
            <a:off x="502920" y="4839003"/>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900267"/>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839003"/>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Üç tarafının denizlerle çevrili olması</a:t>
            </a:r>
          </a:p>
        </p:txBody>
      </p:sp>
      <p:sp>
        <p:nvSpPr>
          <p:cNvPr id="19" name="Rounded Rectangle 18"/>
          <p:cNvSpPr/>
          <p:nvPr/>
        </p:nvSpPr>
        <p:spPr>
          <a:xfrm>
            <a:off x="502920" y="5574180"/>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5635444"/>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5574180"/>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Akarsularının kısa olması</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198</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110 / 250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7</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Kitaba göre Türkiye'nin hemen her bölgesinde çok sayıda fay hattı bulunmasının nedeni nedir?</a:t>
            </a:r>
          </a:p>
        </p:txBody>
      </p:sp>
      <p:sp>
        <p:nvSpPr>
          <p:cNvPr id="7" name="Rounded Rectangle 6"/>
          <p:cNvSpPr/>
          <p:nvPr/>
        </p:nvSpPr>
        <p:spPr>
          <a:xfrm>
            <a:off x="502920" y="263347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58958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Ekvatora yakın olması</a:t>
            </a:r>
          </a:p>
        </p:txBody>
      </p:sp>
      <p:sp>
        <p:nvSpPr>
          <p:cNvPr id="10" name="Rounded Rectangle 9"/>
          <p:cNvSpPr/>
          <p:nvPr/>
        </p:nvSpPr>
        <p:spPr>
          <a:xfrm>
            <a:off x="502920" y="315833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11444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15833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Nüfusunun kalabalık olması</a:t>
            </a:r>
          </a:p>
        </p:txBody>
      </p:sp>
      <p:sp>
        <p:nvSpPr>
          <p:cNvPr id="13" name="Rounded Rectangle 12"/>
          <p:cNvSpPr/>
          <p:nvPr/>
        </p:nvSpPr>
        <p:spPr>
          <a:xfrm>
            <a:off x="502920" y="3683202"/>
            <a:ext cx="11185855" cy="415137"/>
          </a:xfrm>
          <a:prstGeom prst="roundRect">
            <a:avLst>
              <a:gd name="adj" fmla="val 30000"/>
            </a:avLst>
          </a:prstGeom>
          <a:solidFill>
            <a:srgbClr val="E3F1E4"/>
          </a:solidFill>
          <a:ln w="31750">
            <a:solidFill>
              <a:srgbClr val="2E7D32"/>
            </a:solidFill>
          </a:ln>
          <a:effectLst/>
        </p:spPr>
        <p:txBody>
          <a:bodyPr rtlCol="0" anchor="ctr"/>
          <a:lstStyle/>
          <a:p/>
        </p:txBody>
      </p:sp>
      <p:sp>
        <p:nvSpPr>
          <p:cNvPr id="14" name="Oval 13"/>
          <p:cNvSpPr/>
          <p:nvPr/>
        </p:nvSpPr>
        <p:spPr>
          <a:xfrm>
            <a:off x="594360" y="3639310"/>
            <a:ext cx="502920" cy="50292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368320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262626"/>
                </a:solidFill>
                <a:latin typeface="Calibri"/>
              </a:rPr>
              <a:t>Akdeniz-Himalaya Deprem Kuşağı'nda yer alması</a:t>
            </a:r>
          </a:p>
        </p:txBody>
      </p:sp>
      <p:sp>
        <p:nvSpPr>
          <p:cNvPr id="16" name="Rounded Rectangle 15"/>
          <p:cNvSpPr/>
          <p:nvPr/>
        </p:nvSpPr>
        <p:spPr>
          <a:xfrm>
            <a:off x="502920" y="420806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16417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20806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Üç tarafının denizlerle çevrili olması</a:t>
            </a:r>
          </a:p>
        </p:txBody>
      </p:sp>
      <p:sp>
        <p:nvSpPr>
          <p:cNvPr id="19" name="Rounded Rectangle 18"/>
          <p:cNvSpPr/>
          <p:nvPr/>
        </p:nvSpPr>
        <p:spPr>
          <a:xfrm>
            <a:off x="502920" y="473293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468904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473293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Akarsularının kısa olması</a:t>
            </a:r>
          </a:p>
        </p:txBody>
      </p:sp>
      <p:sp>
        <p:nvSpPr>
          <p:cNvPr id="22" name="Rounded Rectangle 21"/>
          <p:cNvSpPr/>
          <p:nvPr/>
        </p:nvSpPr>
        <p:spPr>
          <a:xfrm>
            <a:off x="502920" y="5266944"/>
            <a:ext cx="11185855" cy="100584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000" b="0" i="0">
                <a:solidFill>
                  <a:srgbClr val="262626"/>
                </a:solidFill>
                <a:latin typeface="Calibri"/>
              </a:rPr>
              <a:t>Türkiye, Akdeniz-Himalaya Deprem Kuşağı’nda yer aldığından ülkenin hemen her bölgesinde çok sayıda fay hattı oluşmuştur.</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198</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111 / 250</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8</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s. 201 haritasına göre çığ olaylarının en sık görüldüğü iller hangi bölgededir?</a:t>
            </a:r>
          </a:p>
        </p:txBody>
      </p:sp>
      <p:sp>
        <p:nvSpPr>
          <p:cNvPr id="7" name="Rounded Rectangle 6"/>
          <p:cNvSpPr/>
          <p:nvPr/>
        </p:nvSpPr>
        <p:spPr>
          <a:xfrm>
            <a:off x="502920" y="2633472"/>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694736"/>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Doğu Anadolu</a:t>
            </a:r>
          </a:p>
        </p:txBody>
      </p:sp>
      <p:sp>
        <p:nvSpPr>
          <p:cNvPr id="10" name="Rounded Rectangle 9"/>
          <p:cNvSpPr/>
          <p:nvPr/>
        </p:nvSpPr>
        <p:spPr>
          <a:xfrm>
            <a:off x="502920" y="3368649"/>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429913"/>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368649"/>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Ege</a:t>
            </a:r>
          </a:p>
        </p:txBody>
      </p:sp>
      <p:sp>
        <p:nvSpPr>
          <p:cNvPr id="13" name="Rounded Rectangle 12"/>
          <p:cNvSpPr/>
          <p:nvPr/>
        </p:nvSpPr>
        <p:spPr>
          <a:xfrm>
            <a:off x="502920" y="4103826"/>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4165090"/>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4103826"/>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Akdeniz</a:t>
            </a:r>
          </a:p>
        </p:txBody>
      </p:sp>
      <p:sp>
        <p:nvSpPr>
          <p:cNvPr id="16" name="Rounded Rectangle 15"/>
          <p:cNvSpPr/>
          <p:nvPr/>
        </p:nvSpPr>
        <p:spPr>
          <a:xfrm>
            <a:off x="502920" y="4839003"/>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900267"/>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839003"/>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Marmara</a:t>
            </a:r>
          </a:p>
        </p:txBody>
      </p:sp>
      <p:sp>
        <p:nvSpPr>
          <p:cNvPr id="19" name="Rounded Rectangle 18"/>
          <p:cNvSpPr/>
          <p:nvPr/>
        </p:nvSpPr>
        <p:spPr>
          <a:xfrm>
            <a:off x="502920" y="5574180"/>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5635444"/>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5574180"/>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Güneydoğu Anadolu'nun güneyi</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201</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112 / 250</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8</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s. 201 haritasına göre çığ olaylarının en sık görüldüğü iller hangi bölgededir?</a:t>
            </a:r>
          </a:p>
        </p:txBody>
      </p:sp>
      <p:sp>
        <p:nvSpPr>
          <p:cNvPr id="7" name="Rounded Rectangle 6"/>
          <p:cNvSpPr/>
          <p:nvPr/>
        </p:nvSpPr>
        <p:spPr>
          <a:xfrm>
            <a:off x="502920" y="2633472"/>
            <a:ext cx="11185855" cy="415137"/>
          </a:xfrm>
          <a:prstGeom prst="roundRect">
            <a:avLst>
              <a:gd name="adj" fmla="val 30000"/>
            </a:avLst>
          </a:prstGeom>
          <a:solidFill>
            <a:srgbClr val="E3F1E4"/>
          </a:solidFill>
          <a:ln w="31750">
            <a:solidFill>
              <a:srgbClr val="2E7D32"/>
            </a:solidFill>
          </a:ln>
          <a:effectLst/>
        </p:spPr>
        <p:txBody>
          <a:bodyPr rtlCol="0" anchor="ctr"/>
          <a:lstStyle/>
          <a:p/>
        </p:txBody>
      </p:sp>
      <p:sp>
        <p:nvSpPr>
          <p:cNvPr id="8" name="Oval 7"/>
          <p:cNvSpPr/>
          <p:nvPr/>
        </p:nvSpPr>
        <p:spPr>
          <a:xfrm>
            <a:off x="594360" y="2589580"/>
            <a:ext cx="502920" cy="50292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262626"/>
                </a:solidFill>
                <a:latin typeface="Calibri"/>
              </a:rPr>
              <a:t>Doğu Anadolu</a:t>
            </a:r>
          </a:p>
        </p:txBody>
      </p:sp>
      <p:sp>
        <p:nvSpPr>
          <p:cNvPr id="10" name="Rounded Rectangle 9"/>
          <p:cNvSpPr/>
          <p:nvPr/>
        </p:nvSpPr>
        <p:spPr>
          <a:xfrm>
            <a:off x="502920" y="315833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11444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15833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Ege</a:t>
            </a:r>
          </a:p>
        </p:txBody>
      </p:sp>
      <p:sp>
        <p:nvSpPr>
          <p:cNvPr id="13" name="Rounded Rectangle 12"/>
          <p:cNvSpPr/>
          <p:nvPr/>
        </p:nvSpPr>
        <p:spPr>
          <a:xfrm>
            <a:off x="502920" y="368320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363931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368320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Akdeniz</a:t>
            </a:r>
          </a:p>
        </p:txBody>
      </p:sp>
      <p:sp>
        <p:nvSpPr>
          <p:cNvPr id="16" name="Rounded Rectangle 15"/>
          <p:cNvSpPr/>
          <p:nvPr/>
        </p:nvSpPr>
        <p:spPr>
          <a:xfrm>
            <a:off x="502920" y="420806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16417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20806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Marmara</a:t>
            </a:r>
          </a:p>
        </p:txBody>
      </p:sp>
      <p:sp>
        <p:nvSpPr>
          <p:cNvPr id="19" name="Rounded Rectangle 18"/>
          <p:cNvSpPr/>
          <p:nvPr/>
        </p:nvSpPr>
        <p:spPr>
          <a:xfrm>
            <a:off x="502920" y="473293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468904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473293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Güneydoğu Anadolu'nun güneyi</a:t>
            </a:r>
          </a:p>
        </p:txBody>
      </p:sp>
      <p:sp>
        <p:nvSpPr>
          <p:cNvPr id="22" name="Rounded Rectangle 21"/>
          <p:cNvSpPr/>
          <p:nvPr/>
        </p:nvSpPr>
        <p:spPr>
          <a:xfrm>
            <a:off x="502920" y="5266944"/>
            <a:ext cx="11185855" cy="100584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000" b="0" i="0">
                <a:solidFill>
                  <a:srgbClr val="262626"/>
                </a:solidFill>
                <a:latin typeface="Calibri"/>
              </a:rPr>
              <a:t>Haritaya göre en koyu sınıf (100+) Tunceli, Bingöl ve Bitlis'tir: Doğu Anadolu'nun yüksek ve karlı kesimleri.</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201</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113 / 250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Yapılandırılmış grid: 12 kutu</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BİREYSEL · 8 dk</a:t>
            </a:r>
          </a:p>
        </p:txBody>
      </p:sp>
      <p:sp>
        <p:nvSpPr>
          <p:cNvPr id="6" name="Rounded Rectangle 5"/>
          <p:cNvSpPr/>
          <p:nvPr/>
        </p:nvSpPr>
        <p:spPr>
          <a:xfrm>
            <a:off x="502920" y="1216152"/>
            <a:ext cx="2700451" cy="1362456"/>
          </a:xfrm>
          <a:prstGeom prst="roundRect">
            <a:avLst>
              <a:gd name="adj" fmla="val 10000"/>
            </a:avLst>
          </a:prstGeom>
          <a:solidFill>
            <a:srgbClr val="FFFFFF"/>
          </a:solidFill>
          <a:ln w="28575">
            <a:solidFill>
              <a:srgbClr val="4F4F4F"/>
            </a:solidFill>
          </a:ln>
          <a:effectLst/>
        </p:spPr>
        <p:txBody>
          <a:bodyPr rtlCol="0" anchor="ctr"/>
          <a:lstStyle/>
          <a:p/>
        </p:txBody>
      </p:sp>
      <p:sp>
        <p:nvSpPr>
          <p:cNvPr id="7" name="Oval 6"/>
          <p:cNvSpPr/>
          <p:nvPr/>
        </p:nvSpPr>
        <p:spPr>
          <a:xfrm>
            <a:off x="594360" y="1307592"/>
            <a:ext cx="457200" cy="457200"/>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1</a:t>
            </a:r>
          </a:p>
        </p:txBody>
      </p:sp>
      <p:sp>
        <p:nvSpPr>
          <p:cNvPr id="8" name="TextBox 7"/>
          <p:cNvSpPr txBox="1"/>
          <p:nvPr/>
        </p:nvSpPr>
        <p:spPr>
          <a:xfrm>
            <a:off x="612648" y="1719072"/>
            <a:ext cx="2480995" cy="795528"/>
          </a:xfrm>
          <a:prstGeom prst="rect">
            <a:avLst/>
          </a:prstGeom>
          <a:noFill/>
        </p:spPr>
        <p:txBody>
          <a:bodyPr wrap="square" anchor="ctr" lIns="73152" rIns="73152" tIns="36576" bIns="36576">
            <a:noAutofit/>
          </a:bodyPr>
          <a:lstStyle/>
          <a:p>
            <a:pPr algn="ctr">
              <a:spcBef>
                <a:spcPts val="0"/>
              </a:spcBef>
              <a:spcAft>
                <a:spcPts val="0"/>
              </a:spcAft>
            </a:pPr>
            <a:r>
              <a:rPr lang="tr-TR" sz="2100" b="1" i="0">
                <a:solidFill>
                  <a:srgbClr val="262626"/>
                </a:solidFill>
                <a:latin typeface="Calibri"/>
              </a:rPr>
              <a:t>Deprem</a:t>
            </a:r>
          </a:p>
        </p:txBody>
      </p:sp>
      <p:sp>
        <p:nvSpPr>
          <p:cNvPr id="9" name="Rounded Rectangle 8"/>
          <p:cNvSpPr/>
          <p:nvPr/>
        </p:nvSpPr>
        <p:spPr>
          <a:xfrm>
            <a:off x="3331387" y="1216152"/>
            <a:ext cx="2700451" cy="1362456"/>
          </a:xfrm>
          <a:prstGeom prst="roundRect">
            <a:avLst>
              <a:gd name="adj" fmla="val 10000"/>
            </a:avLst>
          </a:prstGeom>
          <a:solidFill>
            <a:srgbClr val="FFFFFF"/>
          </a:solidFill>
          <a:ln w="28575">
            <a:solidFill>
              <a:srgbClr val="4F4F4F"/>
            </a:solidFill>
          </a:ln>
          <a:effectLst/>
        </p:spPr>
        <p:txBody>
          <a:bodyPr rtlCol="0" anchor="ctr"/>
          <a:lstStyle/>
          <a:p/>
        </p:txBody>
      </p:sp>
      <p:sp>
        <p:nvSpPr>
          <p:cNvPr id="10" name="Oval 9"/>
          <p:cNvSpPr/>
          <p:nvPr/>
        </p:nvSpPr>
        <p:spPr>
          <a:xfrm>
            <a:off x="3422827" y="1307592"/>
            <a:ext cx="457200" cy="457200"/>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2</a:t>
            </a:r>
          </a:p>
        </p:txBody>
      </p:sp>
      <p:sp>
        <p:nvSpPr>
          <p:cNvPr id="11" name="TextBox 10"/>
          <p:cNvSpPr txBox="1"/>
          <p:nvPr/>
        </p:nvSpPr>
        <p:spPr>
          <a:xfrm>
            <a:off x="3441115" y="1719072"/>
            <a:ext cx="2480995" cy="795528"/>
          </a:xfrm>
          <a:prstGeom prst="rect">
            <a:avLst/>
          </a:prstGeom>
          <a:noFill/>
        </p:spPr>
        <p:txBody>
          <a:bodyPr wrap="square" anchor="ctr" lIns="73152" rIns="73152" tIns="36576" bIns="36576">
            <a:noAutofit/>
          </a:bodyPr>
          <a:lstStyle/>
          <a:p>
            <a:pPr algn="ctr">
              <a:spcBef>
                <a:spcPts val="0"/>
              </a:spcBef>
              <a:spcAft>
                <a:spcPts val="0"/>
              </a:spcAft>
            </a:pPr>
            <a:r>
              <a:rPr lang="tr-TR" sz="2100" b="1" i="0">
                <a:solidFill>
                  <a:srgbClr val="262626"/>
                </a:solidFill>
                <a:latin typeface="Calibri"/>
              </a:rPr>
              <a:t>Volkanik faaliyet</a:t>
            </a:r>
          </a:p>
        </p:txBody>
      </p:sp>
      <p:sp>
        <p:nvSpPr>
          <p:cNvPr id="12" name="Rounded Rectangle 11"/>
          <p:cNvSpPr/>
          <p:nvPr/>
        </p:nvSpPr>
        <p:spPr>
          <a:xfrm>
            <a:off x="6159854" y="1216152"/>
            <a:ext cx="2700451" cy="1362456"/>
          </a:xfrm>
          <a:prstGeom prst="roundRect">
            <a:avLst>
              <a:gd name="adj" fmla="val 10000"/>
            </a:avLst>
          </a:prstGeom>
          <a:solidFill>
            <a:srgbClr val="FFFFFF"/>
          </a:solidFill>
          <a:ln w="28575">
            <a:solidFill>
              <a:srgbClr val="4F4F4F"/>
            </a:solidFill>
          </a:ln>
          <a:effectLst/>
        </p:spPr>
        <p:txBody>
          <a:bodyPr rtlCol="0" anchor="ctr"/>
          <a:lstStyle/>
          <a:p/>
        </p:txBody>
      </p:sp>
      <p:sp>
        <p:nvSpPr>
          <p:cNvPr id="13" name="Oval 12"/>
          <p:cNvSpPr/>
          <p:nvPr/>
        </p:nvSpPr>
        <p:spPr>
          <a:xfrm>
            <a:off x="6251294" y="1307592"/>
            <a:ext cx="457200" cy="457200"/>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3</a:t>
            </a:r>
          </a:p>
        </p:txBody>
      </p:sp>
      <p:sp>
        <p:nvSpPr>
          <p:cNvPr id="14" name="TextBox 13"/>
          <p:cNvSpPr txBox="1"/>
          <p:nvPr/>
        </p:nvSpPr>
        <p:spPr>
          <a:xfrm>
            <a:off x="6269582" y="1719072"/>
            <a:ext cx="2480995" cy="795528"/>
          </a:xfrm>
          <a:prstGeom prst="rect">
            <a:avLst/>
          </a:prstGeom>
          <a:noFill/>
        </p:spPr>
        <p:txBody>
          <a:bodyPr wrap="square" anchor="ctr" lIns="73152" rIns="73152" tIns="36576" bIns="36576">
            <a:noAutofit/>
          </a:bodyPr>
          <a:lstStyle/>
          <a:p>
            <a:pPr algn="ctr">
              <a:spcBef>
                <a:spcPts val="0"/>
              </a:spcBef>
              <a:spcAft>
                <a:spcPts val="0"/>
              </a:spcAft>
            </a:pPr>
            <a:r>
              <a:rPr lang="tr-TR" sz="2100" b="1" i="0">
                <a:solidFill>
                  <a:srgbClr val="262626"/>
                </a:solidFill>
                <a:latin typeface="Calibri"/>
              </a:rPr>
              <a:t>Kuraklık</a:t>
            </a:r>
          </a:p>
        </p:txBody>
      </p:sp>
      <p:sp>
        <p:nvSpPr>
          <p:cNvPr id="15" name="Rounded Rectangle 14"/>
          <p:cNvSpPr/>
          <p:nvPr/>
        </p:nvSpPr>
        <p:spPr>
          <a:xfrm>
            <a:off x="8988321" y="1216152"/>
            <a:ext cx="2700451" cy="1362456"/>
          </a:xfrm>
          <a:prstGeom prst="roundRect">
            <a:avLst>
              <a:gd name="adj" fmla="val 10000"/>
            </a:avLst>
          </a:prstGeom>
          <a:solidFill>
            <a:srgbClr val="FFFFFF"/>
          </a:solidFill>
          <a:ln w="28575">
            <a:solidFill>
              <a:srgbClr val="4F4F4F"/>
            </a:solidFill>
          </a:ln>
          <a:effectLst/>
        </p:spPr>
        <p:txBody>
          <a:bodyPr rtlCol="0" anchor="ctr"/>
          <a:lstStyle/>
          <a:p/>
        </p:txBody>
      </p:sp>
      <p:sp>
        <p:nvSpPr>
          <p:cNvPr id="16" name="Oval 15"/>
          <p:cNvSpPr/>
          <p:nvPr/>
        </p:nvSpPr>
        <p:spPr>
          <a:xfrm>
            <a:off x="9079761" y="1307592"/>
            <a:ext cx="457200" cy="457200"/>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4</a:t>
            </a:r>
          </a:p>
        </p:txBody>
      </p:sp>
      <p:sp>
        <p:nvSpPr>
          <p:cNvPr id="17" name="TextBox 16"/>
          <p:cNvSpPr txBox="1"/>
          <p:nvPr/>
        </p:nvSpPr>
        <p:spPr>
          <a:xfrm>
            <a:off x="9098049" y="1719072"/>
            <a:ext cx="2480995" cy="795528"/>
          </a:xfrm>
          <a:prstGeom prst="rect">
            <a:avLst/>
          </a:prstGeom>
          <a:noFill/>
        </p:spPr>
        <p:txBody>
          <a:bodyPr wrap="square" anchor="ctr" lIns="73152" rIns="73152" tIns="36576" bIns="36576">
            <a:noAutofit/>
          </a:bodyPr>
          <a:lstStyle/>
          <a:p>
            <a:pPr algn="ctr">
              <a:spcBef>
                <a:spcPts val="0"/>
              </a:spcBef>
              <a:spcAft>
                <a:spcPts val="0"/>
              </a:spcAft>
            </a:pPr>
            <a:r>
              <a:rPr lang="tr-TR" sz="2100" b="1" i="0">
                <a:solidFill>
                  <a:srgbClr val="262626"/>
                </a:solidFill>
                <a:latin typeface="Calibri"/>
              </a:rPr>
              <a:t>Sel</a:t>
            </a:r>
          </a:p>
        </p:txBody>
      </p:sp>
      <p:sp>
        <p:nvSpPr>
          <p:cNvPr id="18" name="Rounded Rectangle 17"/>
          <p:cNvSpPr/>
          <p:nvPr/>
        </p:nvSpPr>
        <p:spPr>
          <a:xfrm>
            <a:off x="502920" y="2706624"/>
            <a:ext cx="2700451" cy="1362456"/>
          </a:xfrm>
          <a:prstGeom prst="roundRect">
            <a:avLst>
              <a:gd name="adj" fmla="val 10000"/>
            </a:avLst>
          </a:prstGeom>
          <a:solidFill>
            <a:srgbClr val="FFFFFF"/>
          </a:solidFill>
          <a:ln w="28575">
            <a:solidFill>
              <a:srgbClr val="4F4F4F"/>
            </a:solidFill>
          </a:ln>
          <a:effectLst/>
        </p:spPr>
        <p:txBody>
          <a:bodyPr rtlCol="0" anchor="ctr"/>
          <a:lstStyle/>
          <a:p/>
        </p:txBody>
      </p:sp>
      <p:sp>
        <p:nvSpPr>
          <p:cNvPr id="19" name="Oval 18"/>
          <p:cNvSpPr/>
          <p:nvPr/>
        </p:nvSpPr>
        <p:spPr>
          <a:xfrm>
            <a:off x="594360" y="2798064"/>
            <a:ext cx="457200" cy="457200"/>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5</a:t>
            </a:r>
          </a:p>
        </p:txBody>
      </p:sp>
      <p:sp>
        <p:nvSpPr>
          <p:cNvPr id="20" name="TextBox 19"/>
          <p:cNvSpPr txBox="1"/>
          <p:nvPr/>
        </p:nvSpPr>
        <p:spPr>
          <a:xfrm>
            <a:off x="612648" y="3209544"/>
            <a:ext cx="2480995" cy="795528"/>
          </a:xfrm>
          <a:prstGeom prst="rect">
            <a:avLst/>
          </a:prstGeom>
          <a:noFill/>
        </p:spPr>
        <p:txBody>
          <a:bodyPr wrap="square" anchor="ctr" lIns="73152" rIns="73152" tIns="36576" bIns="36576">
            <a:noAutofit/>
          </a:bodyPr>
          <a:lstStyle/>
          <a:p>
            <a:pPr algn="ctr">
              <a:spcBef>
                <a:spcPts val="0"/>
              </a:spcBef>
              <a:spcAft>
                <a:spcPts val="0"/>
              </a:spcAft>
            </a:pPr>
            <a:r>
              <a:rPr lang="tr-TR" sz="2100" b="1" i="0">
                <a:solidFill>
                  <a:srgbClr val="262626"/>
                </a:solidFill>
                <a:latin typeface="Calibri"/>
              </a:rPr>
              <a:t>Erozyon</a:t>
            </a:r>
          </a:p>
        </p:txBody>
      </p:sp>
      <p:sp>
        <p:nvSpPr>
          <p:cNvPr id="21" name="Rounded Rectangle 20"/>
          <p:cNvSpPr/>
          <p:nvPr/>
        </p:nvSpPr>
        <p:spPr>
          <a:xfrm>
            <a:off x="3331387" y="2706624"/>
            <a:ext cx="2700451" cy="1362456"/>
          </a:xfrm>
          <a:prstGeom prst="roundRect">
            <a:avLst>
              <a:gd name="adj" fmla="val 10000"/>
            </a:avLst>
          </a:prstGeom>
          <a:solidFill>
            <a:srgbClr val="FFFFFF"/>
          </a:solidFill>
          <a:ln w="28575">
            <a:solidFill>
              <a:srgbClr val="4F4F4F"/>
            </a:solidFill>
          </a:ln>
          <a:effectLst/>
        </p:spPr>
        <p:txBody>
          <a:bodyPr rtlCol="0" anchor="ctr"/>
          <a:lstStyle/>
          <a:p/>
        </p:txBody>
      </p:sp>
      <p:sp>
        <p:nvSpPr>
          <p:cNvPr id="22" name="Oval 21"/>
          <p:cNvSpPr/>
          <p:nvPr/>
        </p:nvSpPr>
        <p:spPr>
          <a:xfrm>
            <a:off x="3422827" y="2798064"/>
            <a:ext cx="457200" cy="457200"/>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6</a:t>
            </a:r>
          </a:p>
        </p:txBody>
      </p:sp>
      <p:sp>
        <p:nvSpPr>
          <p:cNvPr id="23" name="TextBox 22"/>
          <p:cNvSpPr txBox="1"/>
          <p:nvPr/>
        </p:nvSpPr>
        <p:spPr>
          <a:xfrm>
            <a:off x="3441115" y="3209544"/>
            <a:ext cx="2480995" cy="795528"/>
          </a:xfrm>
          <a:prstGeom prst="rect">
            <a:avLst/>
          </a:prstGeom>
          <a:noFill/>
        </p:spPr>
        <p:txBody>
          <a:bodyPr wrap="square" anchor="ctr" lIns="73152" rIns="73152" tIns="36576" bIns="36576">
            <a:noAutofit/>
          </a:bodyPr>
          <a:lstStyle/>
          <a:p>
            <a:pPr algn="ctr">
              <a:spcBef>
                <a:spcPts val="0"/>
              </a:spcBef>
              <a:spcAft>
                <a:spcPts val="0"/>
              </a:spcAft>
            </a:pPr>
            <a:r>
              <a:rPr lang="tr-TR" sz="2100" b="1" i="0">
                <a:solidFill>
                  <a:srgbClr val="262626"/>
                </a:solidFill>
                <a:latin typeface="Calibri"/>
              </a:rPr>
              <a:t>Salgın hastalık</a:t>
            </a:r>
          </a:p>
        </p:txBody>
      </p:sp>
      <p:sp>
        <p:nvSpPr>
          <p:cNvPr id="24" name="Rounded Rectangle 23"/>
          <p:cNvSpPr/>
          <p:nvPr/>
        </p:nvSpPr>
        <p:spPr>
          <a:xfrm>
            <a:off x="6159854" y="2706624"/>
            <a:ext cx="2700451" cy="1362456"/>
          </a:xfrm>
          <a:prstGeom prst="roundRect">
            <a:avLst>
              <a:gd name="adj" fmla="val 10000"/>
            </a:avLst>
          </a:prstGeom>
          <a:solidFill>
            <a:srgbClr val="FFFFFF"/>
          </a:solidFill>
          <a:ln w="28575">
            <a:solidFill>
              <a:srgbClr val="4F4F4F"/>
            </a:solidFill>
          </a:ln>
          <a:effectLst/>
        </p:spPr>
        <p:txBody>
          <a:bodyPr rtlCol="0" anchor="ctr"/>
          <a:lstStyle/>
          <a:p/>
        </p:txBody>
      </p:sp>
      <p:sp>
        <p:nvSpPr>
          <p:cNvPr id="25" name="Oval 24"/>
          <p:cNvSpPr/>
          <p:nvPr/>
        </p:nvSpPr>
        <p:spPr>
          <a:xfrm>
            <a:off x="6251294" y="2798064"/>
            <a:ext cx="457200" cy="457200"/>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7</a:t>
            </a:r>
          </a:p>
        </p:txBody>
      </p:sp>
      <p:sp>
        <p:nvSpPr>
          <p:cNvPr id="26" name="TextBox 25"/>
          <p:cNvSpPr txBox="1"/>
          <p:nvPr/>
        </p:nvSpPr>
        <p:spPr>
          <a:xfrm>
            <a:off x="6269582" y="3209544"/>
            <a:ext cx="2480995" cy="795528"/>
          </a:xfrm>
          <a:prstGeom prst="rect">
            <a:avLst/>
          </a:prstGeom>
          <a:noFill/>
        </p:spPr>
        <p:txBody>
          <a:bodyPr wrap="square" anchor="ctr" lIns="73152" rIns="73152" tIns="36576" bIns="36576">
            <a:noAutofit/>
          </a:bodyPr>
          <a:lstStyle/>
          <a:p>
            <a:pPr algn="ctr">
              <a:spcBef>
                <a:spcPts val="0"/>
              </a:spcBef>
              <a:spcAft>
                <a:spcPts val="0"/>
              </a:spcAft>
            </a:pPr>
            <a:r>
              <a:rPr lang="tr-TR" sz="2100" b="1" i="0">
                <a:solidFill>
                  <a:srgbClr val="262626"/>
                </a:solidFill>
                <a:latin typeface="Calibri"/>
              </a:rPr>
              <a:t>Savaş</a:t>
            </a:r>
          </a:p>
        </p:txBody>
      </p:sp>
      <p:sp>
        <p:nvSpPr>
          <p:cNvPr id="27" name="Rounded Rectangle 26"/>
          <p:cNvSpPr/>
          <p:nvPr/>
        </p:nvSpPr>
        <p:spPr>
          <a:xfrm>
            <a:off x="8988321" y="2706624"/>
            <a:ext cx="2700451" cy="1362456"/>
          </a:xfrm>
          <a:prstGeom prst="roundRect">
            <a:avLst>
              <a:gd name="adj" fmla="val 10000"/>
            </a:avLst>
          </a:prstGeom>
          <a:solidFill>
            <a:srgbClr val="FFFFFF"/>
          </a:solidFill>
          <a:ln w="28575">
            <a:solidFill>
              <a:srgbClr val="4F4F4F"/>
            </a:solidFill>
          </a:ln>
          <a:effectLst/>
        </p:spPr>
        <p:txBody>
          <a:bodyPr rtlCol="0" anchor="ctr"/>
          <a:lstStyle/>
          <a:p/>
        </p:txBody>
      </p:sp>
      <p:sp>
        <p:nvSpPr>
          <p:cNvPr id="28" name="Oval 27"/>
          <p:cNvSpPr/>
          <p:nvPr/>
        </p:nvSpPr>
        <p:spPr>
          <a:xfrm>
            <a:off x="9079761" y="2798064"/>
            <a:ext cx="457200" cy="457200"/>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8</a:t>
            </a:r>
          </a:p>
        </p:txBody>
      </p:sp>
      <p:sp>
        <p:nvSpPr>
          <p:cNvPr id="29" name="TextBox 28"/>
          <p:cNvSpPr txBox="1"/>
          <p:nvPr/>
        </p:nvSpPr>
        <p:spPr>
          <a:xfrm>
            <a:off x="9098049" y="3209544"/>
            <a:ext cx="2480995" cy="795528"/>
          </a:xfrm>
          <a:prstGeom prst="rect">
            <a:avLst/>
          </a:prstGeom>
          <a:noFill/>
        </p:spPr>
        <p:txBody>
          <a:bodyPr wrap="square" anchor="ctr" lIns="73152" rIns="73152" tIns="36576" bIns="36576">
            <a:noAutofit/>
          </a:bodyPr>
          <a:lstStyle/>
          <a:p>
            <a:pPr algn="ctr">
              <a:spcBef>
                <a:spcPts val="0"/>
              </a:spcBef>
              <a:spcAft>
                <a:spcPts val="0"/>
              </a:spcAft>
            </a:pPr>
            <a:r>
              <a:rPr lang="tr-TR" sz="2100" b="1" i="0">
                <a:solidFill>
                  <a:srgbClr val="262626"/>
                </a:solidFill>
                <a:latin typeface="Calibri"/>
              </a:rPr>
              <a:t>Terör saldırısı</a:t>
            </a:r>
          </a:p>
        </p:txBody>
      </p:sp>
      <p:sp>
        <p:nvSpPr>
          <p:cNvPr id="30" name="Rounded Rectangle 29"/>
          <p:cNvSpPr/>
          <p:nvPr/>
        </p:nvSpPr>
        <p:spPr>
          <a:xfrm>
            <a:off x="502920" y="4197096"/>
            <a:ext cx="2700451" cy="1362456"/>
          </a:xfrm>
          <a:prstGeom prst="roundRect">
            <a:avLst>
              <a:gd name="adj" fmla="val 10000"/>
            </a:avLst>
          </a:prstGeom>
          <a:solidFill>
            <a:srgbClr val="FFFFFF"/>
          </a:solidFill>
          <a:ln w="28575">
            <a:solidFill>
              <a:srgbClr val="4F4F4F"/>
            </a:solidFill>
          </a:ln>
          <a:effectLst/>
        </p:spPr>
        <p:txBody>
          <a:bodyPr rtlCol="0" anchor="ctr"/>
          <a:lstStyle/>
          <a:p/>
        </p:txBody>
      </p:sp>
      <p:sp>
        <p:nvSpPr>
          <p:cNvPr id="31" name="Oval 30"/>
          <p:cNvSpPr/>
          <p:nvPr/>
        </p:nvSpPr>
        <p:spPr>
          <a:xfrm>
            <a:off x="594360" y="4288536"/>
            <a:ext cx="457200" cy="457200"/>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9</a:t>
            </a:r>
          </a:p>
        </p:txBody>
      </p:sp>
      <p:sp>
        <p:nvSpPr>
          <p:cNvPr id="32" name="TextBox 31"/>
          <p:cNvSpPr txBox="1"/>
          <p:nvPr/>
        </p:nvSpPr>
        <p:spPr>
          <a:xfrm>
            <a:off x="612648" y="4700016"/>
            <a:ext cx="2480995" cy="795528"/>
          </a:xfrm>
          <a:prstGeom prst="rect">
            <a:avLst/>
          </a:prstGeom>
          <a:noFill/>
        </p:spPr>
        <p:txBody>
          <a:bodyPr wrap="square" anchor="ctr" lIns="73152" rIns="73152" tIns="36576" bIns="36576">
            <a:noAutofit/>
          </a:bodyPr>
          <a:lstStyle/>
          <a:p>
            <a:pPr algn="ctr">
              <a:spcBef>
                <a:spcPts val="0"/>
              </a:spcBef>
              <a:spcAft>
                <a:spcPts val="0"/>
              </a:spcAft>
            </a:pPr>
            <a:r>
              <a:rPr lang="tr-TR" sz="2100" b="1" i="0">
                <a:solidFill>
                  <a:srgbClr val="262626"/>
                </a:solidFill>
                <a:latin typeface="Calibri"/>
              </a:rPr>
              <a:t>Göç</a:t>
            </a:r>
          </a:p>
        </p:txBody>
      </p:sp>
      <p:sp>
        <p:nvSpPr>
          <p:cNvPr id="33" name="Rounded Rectangle 32"/>
          <p:cNvSpPr/>
          <p:nvPr/>
        </p:nvSpPr>
        <p:spPr>
          <a:xfrm>
            <a:off x="3331387" y="4197096"/>
            <a:ext cx="2700451" cy="1362456"/>
          </a:xfrm>
          <a:prstGeom prst="roundRect">
            <a:avLst>
              <a:gd name="adj" fmla="val 10000"/>
            </a:avLst>
          </a:prstGeom>
          <a:solidFill>
            <a:srgbClr val="FFFFFF"/>
          </a:solidFill>
          <a:ln w="28575">
            <a:solidFill>
              <a:srgbClr val="4F4F4F"/>
            </a:solidFill>
          </a:ln>
          <a:effectLst/>
        </p:spPr>
        <p:txBody>
          <a:bodyPr rtlCol="0" anchor="ctr"/>
          <a:lstStyle/>
          <a:p/>
        </p:txBody>
      </p:sp>
      <p:sp>
        <p:nvSpPr>
          <p:cNvPr id="34" name="Oval 33"/>
          <p:cNvSpPr/>
          <p:nvPr/>
        </p:nvSpPr>
        <p:spPr>
          <a:xfrm>
            <a:off x="3422827" y="4288536"/>
            <a:ext cx="457200" cy="457200"/>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10</a:t>
            </a:r>
          </a:p>
        </p:txBody>
      </p:sp>
      <p:sp>
        <p:nvSpPr>
          <p:cNvPr id="35" name="TextBox 34"/>
          <p:cNvSpPr txBox="1"/>
          <p:nvPr/>
        </p:nvSpPr>
        <p:spPr>
          <a:xfrm>
            <a:off x="3441115" y="4700016"/>
            <a:ext cx="2480995" cy="795528"/>
          </a:xfrm>
          <a:prstGeom prst="rect">
            <a:avLst/>
          </a:prstGeom>
          <a:noFill/>
        </p:spPr>
        <p:txBody>
          <a:bodyPr wrap="square" anchor="ctr" lIns="73152" rIns="73152" tIns="36576" bIns="36576">
            <a:noAutofit/>
          </a:bodyPr>
          <a:lstStyle/>
          <a:p>
            <a:pPr algn="ctr">
              <a:spcBef>
                <a:spcPts val="0"/>
              </a:spcBef>
              <a:spcAft>
                <a:spcPts val="0"/>
              </a:spcAft>
            </a:pPr>
            <a:r>
              <a:rPr lang="tr-TR" sz="2100" b="1" i="0">
                <a:solidFill>
                  <a:srgbClr val="262626"/>
                </a:solidFill>
                <a:latin typeface="Calibri"/>
              </a:rPr>
              <a:t>Maden kazası</a:t>
            </a:r>
          </a:p>
        </p:txBody>
      </p:sp>
      <p:sp>
        <p:nvSpPr>
          <p:cNvPr id="36" name="Rounded Rectangle 35"/>
          <p:cNvSpPr/>
          <p:nvPr/>
        </p:nvSpPr>
        <p:spPr>
          <a:xfrm>
            <a:off x="6159854" y="4197096"/>
            <a:ext cx="2700451" cy="1362456"/>
          </a:xfrm>
          <a:prstGeom prst="roundRect">
            <a:avLst>
              <a:gd name="adj" fmla="val 10000"/>
            </a:avLst>
          </a:prstGeom>
          <a:solidFill>
            <a:srgbClr val="FFFFFF"/>
          </a:solidFill>
          <a:ln w="28575">
            <a:solidFill>
              <a:srgbClr val="4F4F4F"/>
            </a:solidFill>
          </a:ln>
          <a:effectLst/>
        </p:spPr>
        <p:txBody>
          <a:bodyPr rtlCol="0" anchor="ctr"/>
          <a:lstStyle/>
          <a:p/>
        </p:txBody>
      </p:sp>
      <p:sp>
        <p:nvSpPr>
          <p:cNvPr id="37" name="Oval 36"/>
          <p:cNvSpPr/>
          <p:nvPr/>
        </p:nvSpPr>
        <p:spPr>
          <a:xfrm>
            <a:off x="6251294" y="4288536"/>
            <a:ext cx="457200" cy="457200"/>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11</a:t>
            </a:r>
          </a:p>
        </p:txBody>
      </p:sp>
      <p:sp>
        <p:nvSpPr>
          <p:cNvPr id="38" name="TextBox 37"/>
          <p:cNvSpPr txBox="1"/>
          <p:nvPr/>
        </p:nvSpPr>
        <p:spPr>
          <a:xfrm>
            <a:off x="6269582" y="4700016"/>
            <a:ext cx="2480995" cy="795528"/>
          </a:xfrm>
          <a:prstGeom prst="rect">
            <a:avLst/>
          </a:prstGeom>
          <a:noFill/>
        </p:spPr>
        <p:txBody>
          <a:bodyPr wrap="square" anchor="ctr" lIns="73152" rIns="73152" tIns="36576" bIns="36576">
            <a:noAutofit/>
          </a:bodyPr>
          <a:lstStyle/>
          <a:p>
            <a:pPr algn="ctr">
              <a:spcBef>
                <a:spcPts val="0"/>
              </a:spcBef>
              <a:spcAft>
                <a:spcPts val="0"/>
              </a:spcAft>
            </a:pPr>
            <a:r>
              <a:rPr lang="tr-TR" sz="2100" b="1" i="0">
                <a:solidFill>
                  <a:srgbClr val="262626"/>
                </a:solidFill>
                <a:latin typeface="Calibri"/>
              </a:rPr>
              <a:t>Nükleer santral kazası</a:t>
            </a:r>
          </a:p>
        </p:txBody>
      </p:sp>
      <p:sp>
        <p:nvSpPr>
          <p:cNvPr id="39" name="Rounded Rectangle 38"/>
          <p:cNvSpPr/>
          <p:nvPr/>
        </p:nvSpPr>
        <p:spPr>
          <a:xfrm>
            <a:off x="8988321" y="4197096"/>
            <a:ext cx="2700451" cy="1362456"/>
          </a:xfrm>
          <a:prstGeom prst="roundRect">
            <a:avLst>
              <a:gd name="adj" fmla="val 10000"/>
            </a:avLst>
          </a:prstGeom>
          <a:solidFill>
            <a:srgbClr val="FFFFFF"/>
          </a:solidFill>
          <a:ln w="28575">
            <a:solidFill>
              <a:srgbClr val="4F4F4F"/>
            </a:solidFill>
          </a:ln>
          <a:effectLst/>
        </p:spPr>
        <p:txBody>
          <a:bodyPr rtlCol="0" anchor="ctr"/>
          <a:lstStyle/>
          <a:p/>
        </p:txBody>
      </p:sp>
      <p:sp>
        <p:nvSpPr>
          <p:cNvPr id="40" name="Oval 39"/>
          <p:cNvSpPr/>
          <p:nvPr/>
        </p:nvSpPr>
        <p:spPr>
          <a:xfrm>
            <a:off x="9079761" y="4288536"/>
            <a:ext cx="457200" cy="457200"/>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12</a:t>
            </a:r>
          </a:p>
        </p:txBody>
      </p:sp>
      <p:sp>
        <p:nvSpPr>
          <p:cNvPr id="41" name="TextBox 40"/>
          <p:cNvSpPr txBox="1"/>
          <p:nvPr/>
        </p:nvSpPr>
        <p:spPr>
          <a:xfrm>
            <a:off x="9098049" y="4700016"/>
            <a:ext cx="2480995" cy="795528"/>
          </a:xfrm>
          <a:prstGeom prst="rect">
            <a:avLst/>
          </a:prstGeom>
          <a:noFill/>
        </p:spPr>
        <p:txBody>
          <a:bodyPr wrap="square" anchor="ctr" lIns="73152" rIns="73152" tIns="36576" bIns="36576">
            <a:noAutofit/>
          </a:bodyPr>
          <a:lstStyle/>
          <a:p>
            <a:pPr algn="ctr">
              <a:spcBef>
                <a:spcPts val="0"/>
              </a:spcBef>
              <a:spcAft>
                <a:spcPts val="0"/>
              </a:spcAft>
            </a:pPr>
            <a:r>
              <a:rPr lang="tr-TR" sz="2100" b="1" i="0">
                <a:solidFill>
                  <a:srgbClr val="262626"/>
                </a:solidFill>
                <a:latin typeface="Calibri"/>
              </a:rPr>
              <a:t>Ulaşım kazası</a:t>
            </a:r>
          </a:p>
        </p:txBody>
      </p:sp>
      <p:sp>
        <p:nvSpPr>
          <p:cNvPr id="42" name="Rounded Rectangle 41"/>
          <p:cNvSpPr/>
          <p:nvPr/>
        </p:nvSpPr>
        <p:spPr>
          <a:xfrm>
            <a:off x="502920" y="5650992"/>
            <a:ext cx="11185855" cy="594360"/>
          </a:xfrm>
          <a:prstGeom prst="roundRect">
            <a:avLst>
              <a:gd name="adj" fmla="val 8000"/>
            </a:avLst>
          </a:prstGeom>
          <a:solidFill>
            <a:srgbClr val="FFF3D1"/>
          </a:solidFill>
          <a:ln>
            <a:noFill/>
          </a:ln>
          <a:effectLst/>
        </p:spPr>
        <p:txBody>
          <a:bodyPr rtlCol="0" anchor="ctr" wrap="square" lIns="128016" rIns="128016" tIns="73152" bIns="73152">
            <a:noAutofit/>
          </a:bodyPr>
          <a:lstStyle/>
          <a:p>
            <a:pPr algn="ctr">
              <a:spcBef>
                <a:spcPts val="0"/>
              </a:spcBef>
              <a:spcAft>
                <a:spcPts val="0"/>
              </a:spcAft>
            </a:pPr>
            <a:r>
              <a:rPr lang="tr-TR" sz="1900" b="1" i="0">
                <a:solidFill>
                  <a:srgbClr val="262626"/>
                </a:solidFill>
                <a:latin typeface="Calibri"/>
              </a:rPr>
              <a:t>Cevabı kutu numarasıyla yaz · 6 ve 7. soruda bir cümle gerekçe · süre 5 dk</a:t>
            </a:r>
          </a:p>
        </p:txBody>
      </p:sp>
      <p:sp>
        <p:nvSpPr>
          <p:cNvPr id="43" name="TextBox 4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44" name="Rounded Rectangle 4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196, 211</a:t>
            </a:r>
          </a:p>
        </p:txBody>
      </p:sp>
      <p:sp>
        <p:nvSpPr>
          <p:cNvPr id="45" name="TextBox 4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114 / 250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Grid soruları (1-8)</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BİREYSEL</a:t>
            </a:r>
          </a:p>
        </p:txBody>
      </p:sp>
      <p:sp>
        <p:nvSpPr>
          <p:cNvPr id="6" name="Rounded Rectangle 5"/>
          <p:cNvSpPr/>
          <p:nvPr/>
        </p:nvSpPr>
        <p:spPr>
          <a:xfrm>
            <a:off x="502920" y="1216152"/>
            <a:ext cx="5478627" cy="1175004"/>
          </a:xfrm>
          <a:prstGeom prst="roundRect">
            <a:avLst>
              <a:gd name="adj" fmla="val 10000"/>
            </a:avLst>
          </a:prstGeom>
          <a:solidFill>
            <a:srgbClr val="F0F0F0"/>
          </a:solidFill>
          <a:ln>
            <a:noFill/>
          </a:ln>
          <a:effectLst/>
        </p:spPr>
        <p:txBody>
          <a:bodyPr rtlCol="0" anchor="ctr"/>
          <a:lstStyle/>
          <a:p/>
        </p:txBody>
      </p:sp>
      <p:sp>
        <p:nvSpPr>
          <p:cNvPr id="7" name="Oval 6"/>
          <p:cNvSpPr/>
          <p:nvPr/>
        </p:nvSpPr>
        <p:spPr>
          <a:xfrm>
            <a:off x="612648" y="1552194"/>
            <a:ext cx="502920" cy="502920"/>
          </a:xfrm>
          <a:prstGeom prst="ellipse">
            <a:avLst/>
          </a:prstGeom>
          <a:solidFill>
            <a:srgbClr val="6A4C93"/>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1</a:t>
            </a:r>
          </a:p>
        </p:txBody>
      </p:sp>
      <p:sp>
        <p:nvSpPr>
          <p:cNvPr id="8" name="TextBox 7"/>
          <p:cNvSpPr txBox="1"/>
          <p:nvPr/>
        </p:nvSpPr>
        <p:spPr>
          <a:xfrm>
            <a:off x="1234440" y="1216152"/>
            <a:ext cx="3421227" cy="1175004"/>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262626"/>
                </a:solidFill>
                <a:latin typeface="Calibri"/>
              </a:rPr>
              <a:t>Kaynağını yer kabuğundan alan jeolojik afetler</a:t>
            </a:r>
          </a:p>
        </p:txBody>
      </p:sp>
      <p:sp>
        <p:nvSpPr>
          <p:cNvPr id="9" name="Rounded Rectangle 8"/>
          <p:cNvSpPr/>
          <p:nvPr/>
        </p:nvSpPr>
        <p:spPr>
          <a:xfrm>
            <a:off x="4747107" y="1552194"/>
            <a:ext cx="1097280" cy="502920"/>
          </a:xfrm>
          <a:prstGeom prst="roundRect">
            <a:avLst>
              <a:gd name="adj" fmla="val 8000"/>
            </a:avLst>
          </a:prstGeom>
          <a:solidFill>
            <a:srgbClr val="FFFFFF"/>
          </a:solidFill>
          <a:ln w="12700">
            <a:solidFill>
              <a:srgbClr val="D9D9D9"/>
            </a:solidFill>
          </a:ln>
          <a:effectLst/>
        </p:spPr>
        <p:txBody>
          <a:bodyPr rtlCol="0" anchor="ctr" wrap="square" lIns="36576" rIns="36576" tIns="73152" bIns="73152">
            <a:noAutofit/>
          </a:bodyPr>
          <a:lstStyle/>
          <a:p>
            <a:pPr algn="ctr">
              <a:spcBef>
                <a:spcPts val="0"/>
              </a:spcBef>
              <a:spcAft>
                <a:spcPts val="0"/>
              </a:spcAft>
            </a:pPr>
            <a:r>
              <a:rPr lang="tr-TR" sz="1500" b="0" i="0">
                <a:solidFill>
                  <a:srgbClr val="262626"/>
                </a:solidFill>
                <a:latin typeface="Calibri"/>
              </a:rPr>
              <a:t>kutu: …</a:t>
            </a:r>
          </a:p>
        </p:txBody>
      </p:sp>
      <p:sp>
        <p:nvSpPr>
          <p:cNvPr id="10" name="Rounded Rectangle 9"/>
          <p:cNvSpPr/>
          <p:nvPr/>
        </p:nvSpPr>
        <p:spPr>
          <a:xfrm>
            <a:off x="502920" y="2500884"/>
            <a:ext cx="5478627" cy="1175004"/>
          </a:xfrm>
          <a:prstGeom prst="roundRect">
            <a:avLst>
              <a:gd name="adj" fmla="val 10000"/>
            </a:avLst>
          </a:prstGeom>
          <a:solidFill>
            <a:srgbClr val="F0F0F0"/>
          </a:solidFill>
          <a:ln>
            <a:noFill/>
          </a:ln>
          <a:effectLst/>
        </p:spPr>
        <p:txBody>
          <a:bodyPr rtlCol="0" anchor="ctr"/>
          <a:lstStyle/>
          <a:p/>
        </p:txBody>
      </p:sp>
      <p:sp>
        <p:nvSpPr>
          <p:cNvPr id="11" name="Oval 10"/>
          <p:cNvSpPr/>
          <p:nvPr/>
        </p:nvSpPr>
        <p:spPr>
          <a:xfrm>
            <a:off x="612648" y="2836926"/>
            <a:ext cx="502920" cy="502920"/>
          </a:xfrm>
          <a:prstGeom prst="ellipse">
            <a:avLst/>
          </a:prstGeom>
          <a:solidFill>
            <a:srgbClr val="6A4C93"/>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2</a:t>
            </a:r>
          </a:p>
        </p:txBody>
      </p:sp>
      <p:sp>
        <p:nvSpPr>
          <p:cNvPr id="12" name="TextBox 11"/>
          <p:cNvSpPr txBox="1"/>
          <p:nvPr/>
        </p:nvSpPr>
        <p:spPr>
          <a:xfrm>
            <a:off x="1234440" y="2500884"/>
            <a:ext cx="3421227" cy="1175004"/>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262626"/>
                </a:solidFill>
                <a:latin typeface="Calibri"/>
              </a:rPr>
              <a:t>Atmosfer olaylarına bağlı klimatik-hidrolojik afetler</a:t>
            </a:r>
          </a:p>
        </p:txBody>
      </p:sp>
      <p:sp>
        <p:nvSpPr>
          <p:cNvPr id="13" name="Rounded Rectangle 12"/>
          <p:cNvSpPr/>
          <p:nvPr/>
        </p:nvSpPr>
        <p:spPr>
          <a:xfrm>
            <a:off x="4747107" y="2836926"/>
            <a:ext cx="1097280" cy="502920"/>
          </a:xfrm>
          <a:prstGeom prst="roundRect">
            <a:avLst>
              <a:gd name="adj" fmla="val 8000"/>
            </a:avLst>
          </a:prstGeom>
          <a:solidFill>
            <a:srgbClr val="FFFFFF"/>
          </a:solidFill>
          <a:ln w="12700">
            <a:solidFill>
              <a:srgbClr val="D9D9D9"/>
            </a:solidFill>
          </a:ln>
          <a:effectLst/>
        </p:spPr>
        <p:txBody>
          <a:bodyPr rtlCol="0" anchor="ctr" wrap="square" lIns="36576" rIns="36576" tIns="73152" bIns="73152">
            <a:noAutofit/>
          </a:bodyPr>
          <a:lstStyle/>
          <a:p>
            <a:pPr algn="ctr">
              <a:spcBef>
                <a:spcPts val="0"/>
              </a:spcBef>
              <a:spcAft>
                <a:spcPts val="0"/>
              </a:spcAft>
            </a:pPr>
            <a:r>
              <a:rPr lang="tr-TR" sz="1500" b="0" i="0">
                <a:solidFill>
                  <a:srgbClr val="262626"/>
                </a:solidFill>
                <a:latin typeface="Calibri"/>
              </a:rPr>
              <a:t>kutu: …</a:t>
            </a:r>
          </a:p>
        </p:txBody>
      </p:sp>
      <p:sp>
        <p:nvSpPr>
          <p:cNvPr id="14" name="Rounded Rectangle 13"/>
          <p:cNvSpPr/>
          <p:nvPr/>
        </p:nvSpPr>
        <p:spPr>
          <a:xfrm>
            <a:off x="502920" y="3785616"/>
            <a:ext cx="5478627" cy="1175004"/>
          </a:xfrm>
          <a:prstGeom prst="roundRect">
            <a:avLst>
              <a:gd name="adj" fmla="val 10000"/>
            </a:avLst>
          </a:prstGeom>
          <a:solidFill>
            <a:srgbClr val="F0F0F0"/>
          </a:solidFill>
          <a:ln>
            <a:noFill/>
          </a:ln>
          <a:effectLst/>
        </p:spPr>
        <p:txBody>
          <a:bodyPr rtlCol="0" anchor="ctr"/>
          <a:lstStyle/>
          <a:p/>
        </p:txBody>
      </p:sp>
      <p:sp>
        <p:nvSpPr>
          <p:cNvPr id="15" name="Oval 14"/>
          <p:cNvSpPr/>
          <p:nvPr/>
        </p:nvSpPr>
        <p:spPr>
          <a:xfrm>
            <a:off x="612648" y="4121658"/>
            <a:ext cx="502920" cy="502920"/>
          </a:xfrm>
          <a:prstGeom prst="ellipse">
            <a:avLst/>
          </a:prstGeom>
          <a:solidFill>
            <a:srgbClr val="6A4C93"/>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3</a:t>
            </a:r>
          </a:p>
        </p:txBody>
      </p:sp>
      <p:sp>
        <p:nvSpPr>
          <p:cNvPr id="16" name="TextBox 15"/>
          <p:cNvSpPr txBox="1"/>
          <p:nvPr/>
        </p:nvSpPr>
        <p:spPr>
          <a:xfrm>
            <a:off x="1234440" y="3785616"/>
            <a:ext cx="3421227" cy="1175004"/>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262626"/>
                </a:solidFill>
                <a:latin typeface="Calibri"/>
              </a:rPr>
              <a:t>Kitabın biyolojik afetler başlığında saydıkları</a:t>
            </a:r>
          </a:p>
        </p:txBody>
      </p:sp>
      <p:sp>
        <p:nvSpPr>
          <p:cNvPr id="17" name="Rounded Rectangle 16"/>
          <p:cNvSpPr/>
          <p:nvPr/>
        </p:nvSpPr>
        <p:spPr>
          <a:xfrm>
            <a:off x="4747107" y="4121658"/>
            <a:ext cx="1097280" cy="502920"/>
          </a:xfrm>
          <a:prstGeom prst="roundRect">
            <a:avLst>
              <a:gd name="adj" fmla="val 8000"/>
            </a:avLst>
          </a:prstGeom>
          <a:solidFill>
            <a:srgbClr val="FFFFFF"/>
          </a:solidFill>
          <a:ln w="12700">
            <a:solidFill>
              <a:srgbClr val="D9D9D9"/>
            </a:solidFill>
          </a:ln>
          <a:effectLst/>
        </p:spPr>
        <p:txBody>
          <a:bodyPr rtlCol="0" anchor="ctr" wrap="square" lIns="36576" rIns="36576" tIns="73152" bIns="73152">
            <a:noAutofit/>
          </a:bodyPr>
          <a:lstStyle/>
          <a:p>
            <a:pPr algn="ctr">
              <a:spcBef>
                <a:spcPts val="0"/>
              </a:spcBef>
              <a:spcAft>
                <a:spcPts val="0"/>
              </a:spcAft>
            </a:pPr>
            <a:r>
              <a:rPr lang="tr-TR" sz="1500" b="0" i="0">
                <a:solidFill>
                  <a:srgbClr val="262626"/>
                </a:solidFill>
                <a:latin typeface="Calibri"/>
              </a:rPr>
              <a:t>kutu: …</a:t>
            </a:r>
          </a:p>
        </p:txBody>
      </p:sp>
      <p:sp>
        <p:nvSpPr>
          <p:cNvPr id="18" name="Rounded Rectangle 17"/>
          <p:cNvSpPr/>
          <p:nvPr/>
        </p:nvSpPr>
        <p:spPr>
          <a:xfrm>
            <a:off x="502920" y="5070348"/>
            <a:ext cx="5478627" cy="1175004"/>
          </a:xfrm>
          <a:prstGeom prst="roundRect">
            <a:avLst>
              <a:gd name="adj" fmla="val 10000"/>
            </a:avLst>
          </a:prstGeom>
          <a:solidFill>
            <a:srgbClr val="F0F0F0"/>
          </a:solidFill>
          <a:ln>
            <a:noFill/>
          </a:ln>
          <a:effectLst/>
        </p:spPr>
        <p:txBody>
          <a:bodyPr rtlCol="0" anchor="ctr"/>
          <a:lstStyle/>
          <a:p/>
        </p:txBody>
      </p:sp>
      <p:sp>
        <p:nvSpPr>
          <p:cNvPr id="19" name="Oval 18"/>
          <p:cNvSpPr/>
          <p:nvPr/>
        </p:nvSpPr>
        <p:spPr>
          <a:xfrm>
            <a:off x="612648" y="5406390"/>
            <a:ext cx="502920" cy="502920"/>
          </a:xfrm>
          <a:prstGeom prst="ellipse">
            <a:avLst/>
          </a:prstGeom>
          <a:solidFill>
            <a:srgbClr val="6A4C93"/>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4</a:t>
            </a:r>
          </a:p>
        </p:txBody>
      </p:sp>
      <p:sp>
        <p:nvSpPr>
          <p:cNvPr id="20" name="TextBox 19"/>
          <p:cNvSpPr txBox="1"/>
          <p:nvPr/>
        </p:nvSpPr>
        <p:spPr>
          <a:xfrm>
            <a:off x="1234440" y="5070348"/>
            <a:ext cx="3421227" cy="1175004"/>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262626"/>
                </a:solidFill>
                <a:latin typeface="Calibri"/>
              </a:rPr>
              <a:t>Sosyal afetler</a:t>
            </a:r>
          </a:p>
        </p:txBody>
      </p:sp>
      <p:sp>
        <p:nvSpPr>
          <p:cNvPr id="21" name="Rounded Rectangle 20"/>
          <p:cNvSpPr/>
          <p:nvPr/>
        </p:nvSpPr>
        <p:spPr>
          <a:xfrm>
            <a:off x="4747107" y="5406390"/>
            <a:ext cx="1097280" cy="502920"/>
          </a:xfrm>
          <a:prstGeom prst="roundRect">
            <a:avLst>
              <a:gd name="adj" fmla="val 8000"/>
            </a:avLst>
          </a:prstGeom>
          <a:solidFill>
            <a:srgbClr val="FFFFFF"/>
          </a:solidFill>
          <a:ln w="12700">
            <a:solidFill>
              <a:srgbClr val="D9D9D9"/>
            </a:solidFill>
          </a:ln>
          <a:effectLst/>
        </p:spPr>
        <p:txBody>
          <a:bodyPr rtlCol="0" anchor="ctr" wrap="square" lIns="36576" rIns="36576" tIns="73152" bIns="73152">
            <a:noAutofit/>
          </a:bodyPr>
          <a:lstStyle/>
          <a:p>
            <a:pPr algn="ctr">
              <a:spcBef>
                <a:spcPts val="0"/>
              </a:spcBef>
              <a:spcAft>
                <a:spcPts val="0"/>
              </a:spcAft>
            </a:pPr>
            <a:r>
              <a:rPr lang="tr-TR" sz="1500" b="0" i="0">
                <a:solidFill>
                  <a:srgbClr val="262626"/>
                </a:solidFill>
                <a:latin typeface="Calibri"/>
              </a:rPr>
              <a:t>kutu: …</a:t>
            </a:r>
          </a:p>
        </p:txBody>
      </p:sp>
      <p:sp>
        <p:nvSpPr>
          <p:cNvPr id="22" name="Rounded Rectangle 21"/>
          <p:cNvSpPr/>
          <p:nvPr/>
        </p:nvSpPr>
        <p:spPr>
          <a:xfrm>
            <a:off x="6210147" y="1216152"/>
            <a:ext cx="5478627" cy="1175004"/>
          </a:xfrm>
          <a:prstGeom prst="roundRect">
            <a:avLst>
              <a:gd name="adj" fmla="val 10000"/>
            </a:avLst>
          </a:prstGeom>
          <a:solidFill>
            <a:srgbClr val="F0F0F0"/>
          </a:solidFill>
          <a:ln>
            <a:noFill/>
          </a:ln>
          <a:effectLst/>
        </p:spPr>
        <p:txBody>
          <a:bodyPr rtlCol="0" anchor="ctr"/>
          <a:lstStyle/>
          <a:p/>
        </p:txBody>
      </p:sp>
      <p:sp>
        <p:nvSpPr>
          <p:cNvPr id="23" name="Oval 22"/>
          <p:cNvSpPr/>
          <p:nvPr/>
        </p:nvSpPr>
        <p:spPr>
          <a:xfrm>
            <a:off x="6319875" y="1552194"/>
            <a:ext cx="502920" cy="502920"/>
          </a:xfrm>
          <a:prstGeom prst="ellipse">
            <a:avLst/>
          </a:prstGeom>
          <a:solidFill>
            <a:srgbClr val="6A4C93"/>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5</a:t>
            </a:r>
          </a:p>
        </p:txBody>
      </p:sp>
      <p:sp>
        <p:nvSpPr>
          <p:cNvPr id="24" name="TextBox 23"/>
          <p:cNvSpPr txBox="1"/>
          <p:nvPr/>
        </p:nvSpPr>
        <p:spPr>
          <a:xfrm>
            <a:off x="6941667" y="1216152"/>
            <a:ext cx="3421227" cy="1175004"/>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262626"/>
                </a:solidFill>
                <a:latin typeface="Calibri"/>
              </a:rPr>
              <a:t>Teknolojik afetler</a:t>
            </a:r>
          </a:p>
        </p:txBody>
      </p:sp>
      <p:sp>
        <p:nvSpPr>
          <p:cNvPr id="25" name="Rounded Rectangle 24"/>
          <p:cNvSpPr/>
          <p:nvPr/>
        </p:nvSpPr>
        <p:spPr>
          <a:xfrm>
            <a:off x="10454334" y="1552194"/>
            <a:ext cx="1097280" cy="502920"/>
          </a:xfrm>
          <a:prstGeom prst="roundRect">
            <a:avLst>
              <a:gd name="adj" fmla="val 8000"/>
            </a:avLst>
          </a:prstGeom>
          <a:solidFill>
            <a:srgbClr val="FFFFFF"/>
          </a:solidFill>
          <a:ln w="12700">
            <a:solidFill>
              <a:srgbClr val="D9D9D9"/>
            </a:solidFill>
          </a:ln>
          <a:effectLst/>
        </p:spPr>
        <p:txBody>
          <a:bodyPr rtlCol="0" anchor="ctr" wrap="square" lIns="36576" rIns="36576" tIns="73152" bIns="73152">
            <a:noAutofit/>
          </a:bodyPr>
          <a:lstStyle/>
          <a:p>
            <a:pPr algn="ctr">
              <a:spcBef>
                <a:spcPts val="0"/>
              </a:spcBef>
              <a:spcAft>
                <a:spcPts val="0"/>
              </a:spcAft>
            </a:pPr>
            <a:r>
              <a:rPr lang="tr-TR" sz="1500" b="0" i="0">
                <a:solidFill>
                  <a:srgbClr val="262626"/>
                </a:solidFill>
                <a:latin typeface="Calibri"/>
              </a:rPr>
              <a:t>kutu: …</a:t>
            </a:r>
          </a:p>
        </p:txBody>
      </p:sp>
      <p:sp>
        <p:nvSpPr>
          <p:cNvPr id="26" name="Rounded Rectangle 25"/>
          <p:cNvSpPr/>
          <p:nvPr/>
        </p:nvSpPr>
        <p:spPr>
          <a:xfrm>
            <a:off x="6210147" y="2500884"/>
            <a:ext cx="5478627" cy="1175004"/>
          </a:xfrm>
          <a:prstGeom prst="roundRect">
            <a:avLst>
              <a:gd name="adj" fmla="val 10000"/>
            </a:avLst>
          </a:prstGeom>
          <a:solidFill>
            <a:srgbClr val="F0F0F0"/>
          </a:solidFill>
          <a:ln>
            <a:noFill/>
          </a:ln>
          <a:effectLst/>
        </p:spPr>
        <p:txBody>
          <a:bodyPr rtlCol="0" anchor="ctr"/>
          <a:lstStyle/>
          <a:p/>
        </p:txBody>
      </p:sp>
      <p:sp>
        <p:nvSpPr>
          <p:cNvPr id="27" name="Oval 26"/>
          <p:cNvSpPr/>
          <p:nvPr/>
        </p:nvSpPr>
        <p:spPr>
          <a:xfrm>
            <a:off x="6319875" y="2836926"/>
            <a:ext cx="502920" cy="502920"/>
          </a:xfrm>
          <a:prstGeom prst="ellipse">
            <a:avLst/>
          </a:prstGeom>
          <a:solidFill>
            <a:srgbClr val="6A4C93"/>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6</a:t>
            </a:r>
          </a:p>
        </p:txBody>
      </p:sp>
      <p:sp>
        <p:nvSpPr>
          <p:cNvPr id="28" name="TextBox 27"/>
          <p:cNvSpPr txBox="1"/>
          <p:nvPr/>
        </p:nvSpPr>
        <p:spPr>
          <a:xfrm>
            <a:off x="6941667" y="2500884"/>
            <a:ext cx="3421227" cy="1175004"/>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262626"/>
                </a:solidFill>
                <a:latin typeface="Calibri"/>
              </a:rPr>
              <a:t>Doğa kaynaklı afetlerin tümü (bir cümle gerekçe)</a:t>
            </a:r>
          </a:p>
        </p:txBody>
      </p:sp>
      <p:sp>
        <p:nvSpPr>
          <p:cNvPr id="29" name="Rounded Rectangle 28"/>
          <p:cNvSpPr/>
          <p:nvPr/>
        </p:nvSpPr>
        <p:spPr>
          <a:xfrm>
            <a:off x="10454334" y="2836926"/>
            <a:ext cx="1097280" cy="502920"/>
          </a:xfrm>
          <a:prstGeom prst="roundRect">
            <a:avLst>
              <a:gd name="adj" fmla="val 8000"/>
            </a:avLst>
          </a:prstGeom>
          <a:solidFill>
            <a:srgbClr val="FFFFFF"/>
          </a:solidFill>
          <a:ln w="12700">
            <a:solidFill>
              <a:srgbClr val="D9D9D9"/>
            </a:solidFill>
          </a:ln>
          <a:effectLst/>
        </p:spPr>
        <p:txBody>
          <a:bodyPr rtlCol="0" anchor="ctr" wrap="square" lIns="36576" rIns="36576" tIns="73152" bIns="73152">
            <a:noAutofit/>
          </a:bodyPr>
          <a:lstStyle/>
          <a:p>
            <a:pPr algn="ctr">
              <a:spcBef>
                <a:spcPts val="0"/>
              </a:spcBef>
              <a:spcAft>
                <a:spcPts val="0"/>
              </a:spcAft>
            </a:pPr>
            <a:r>
              <a:rPr lang="tr-TR" sz="1500" b="0" i="0">
                <a:solidFill>
                  <a:srgbClr val="262626"/>
                </a:solidFill>
                <a:latin typeface="Calibri"/>
              </a:rPr>
              <a:t>kutu: …</a:t>
            </a:r>
          </a:p>
        </p:txBody>
      </p:sp>
      <p:sp>
        <p:nvSpPr>
          <p:cNvPr id="30" name="Rounded Rectangle 29"/>
          <p:cNvSpPr/>
          <p:nvPr/>
        </p:nvSpPr>
        <p:spPr>
          <a:xfrm>
            <a:off x="6210147" y="3785616"/>
            <a:ext cx="5478627" cy="1175004"/>
          </a:xfrm>
          <a:prstGeom prst="roundRect">
            <a:avLst>
              <a:gd name="adj" fmla="val 10000"/>
            </a:avLst>
          </a:prstGeom>
          <a:solidFill>
            <a:srgbClr val="F0F0F0"/>
          </a:solidFill>
          <a:ln>
            <a:noFill/>
          </a:ln>
          <a:effectLst/>
        </p:spPr>
        <p:txBody>
          <a:bodyPr rtlCol="0" anchor="ctr"/>
          <a:lstStyle/>
          <a:p/>
        </p:txBody>
      </p:sp>
      <p:sp>
        <p:nvSpPr>
          <p:cNvPr id="31" name="Oval 30"/>
          <p:cNvSpPr/>
          <p:nvPr/>
        </p:nvSpPr>
        <p:spPr>
          <a:xfrm>
            <a:off x="6319875" y="4121658"/>
            <a:ext cx="502920" cy="502920"/>
          </a:xfrm>
          <a:prstGeom prst="ellipse">
            <a:avLst/>
          </a:prstGeom>
          <a:solidFill>
            <a:srgbClr val="6A4C93"/>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7</a:t>
            </a:r>
          </a:p>
        </p:txBody>
      </p:sp>
      <p:sp>
        <p:nvSpPr>
          <p:cNvPr id="32" name="TextBox 31"/>
          <p:cNvSpPr txBox="1"/>
          <p:nvPr/>
        </p:nvSpPr>
        <p:spPr>
          <a:xfrm>
            <a:off x="6941667" y="3785616"/>
            <a:ext cx="3421227" cy="1175004"/>
          </a:xfrm>
          <a:prstGeom prst="rect">
            <a:avLst/>
          </a:prstGeom>
          <a:noFill/>
        </p:spPr>
        <p:txBody>
          <a:bodyPr wrap="square" anchor="ctr" lIns="73152" rIns="73152" tIns="36576" bIns="36576">
            <a:noAutofit/>
          </a:bodyPr>
          <a:lstStyle/>
          <a:p>
            <a:pPr algn="l">
              <a:spcBef>
                <a:spcPts val="0"/>
              </a:spcBef>
              <a:spcAft>
                <a:spcPts val="0"/>
              </a:spcAft>
            </a:pPr>
            <a:r>
              <a:rPr lang="tr-TR" sz="1750" b="0" i="0">
                <a:solidFill>
                  <a:srgbClr val="262626"/>
                </a:solidFill>
                <a:latin typeface="Calibri"/>
              </a:rPr>
              <a:t>s. 197 tablosuna göre 1990-2023'te Türkiye'de en çok can kaybına yol açan iki afet türü (bir cümle gerekçe)</a:t>
            </a:r>
          </a:p>
        </p:txBody>
      </p:sp>
      <p:sp>
        <p:nvSpPr>
          <p:cNvPr id="33" name="Rounded Rectangle 32"/>
          <p:cNvSpPr/>
          <p:nvPr/>
        </p:nvSpPr>
        <p:spPr>
          <a:xfrm>
            <a:off x="10454334" y="4121658"/>
            <a:ext cx="1097280" cy="502920"/>
          </a:xfrm>
          <a:prstGeom prst="roundRect">
            <a:avLst>
              <a:gd name="adj" fmla="val 8000"/>
            </a:avLst>
          </a:prstGeom>
          <a:solidFill>
            <a:srgbClr val="FFFFFF"/>
          </a:solidFill>
          <a:ln w="12700">
            <a:solidFill>
              <a:srgbClr val="D9D9D9"/>
            </a:solidFill>
          </a:ln>
          <a:effectLst/>
        </p:spPr>
        <p:txBody>
          <a:bodyPr rtlCol="0" anchor="ctr" wrap="square" lIns="36576" rIns="36576" tIns="73152" bIns="73152">
            <a:noAutofit/>
          </a:bodyPr>
          <a:lstStyle/>
          <a:p>
            <a:pPr algn="ctr">
              <a:spcBef>
                <a:spcPts val="0"/>
              </a:spcBef>
              <a:spcAft>
                <a:spcPts val="0"/>
              </a:spcAft>
            </a:pPr>
            <a:r>
              <a:rPr lang="tr-TR" sz="1500" b="0" i="0">
                <a:solidFill>
                  <a:srgbClr val="262626"/>
                </a:solidFill>
                <a:latin typeface="Calibri"/>
              </a:rPr>
              <a:t>kutu: …</a:t>
            </a:r>
          </a:p>
        </p:txBody>
      </p:sp>
      <p:sp>
        <p:nvSpPr>
          <p:cNvPr id="34" name="Rounded Rectangle 33"/>
          <p:cNvSpPr/>
          <p:nvPr/>
        </p:nvSpPr>
        <p:spPr>
          <a:xfrm>
            <a:off x="6210147" y="5070348"/>
            <a:ext cx="5478627" cy="1175004"/>
          </a:xfrm>
          <a:prstGeom prst="roundRect">
            <a:avLst>
              <a:gd name="adj" fmla="val 10000"/>
            </a:avLst>
          </a:prstGeom>
          <a:solidFill>
            <a:srgbClr val="F0F0F0"/>
          </a:solidFill>
          <a:ln>
            <a:noFill/>
          </a:ln>
          <a:effectLst/>
        </p:spPr>
        <p:txBody>
          <a:bodyPr rtlCol="0" anchor="ctr"/>
          <a:lstStyle/>
          <a:p/>
        </p:txBody>
      </p:sp>
      <p:sp>
        <p:nvSpPr>
          <p:cNvPr id="35" name="Oval 34"/>
          <p:cNvSpPr/>
          <p:nvPr/>
        </p:nvSpPr>
        <p:spPr>
          <a:xfrm>
            <a:off x="6319875" y="5406390"/>
            <a:ext cx="502920" cy="502920"/>
          </a:xfrm>
          <a:prstGeom prst="ellipse">
            <a:avLst/>
          </a:prstGeom>
          <a:solidFill>
            <a:srgbClr val="6A4C93"/>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8</a:t>
            </a:r>
          </a:p>
        </p:txBody>
      </p:sp>
      <p:sp>
        <p:nvSpPr>
          <p:cNvPr id="36" name="TextBox 35"/>
          <p:cNvSpPr txBox="1"/>
          <p:nvPr/>
        </p:nvSpPr>
        <p:spPr>
          <a:xfrm>
            <a:off x="6941667" y="5070348"/>
            <a:ext cx="3421227" cy="1175004"/>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262626"/>
                </a:solidFill>
                <a:latin typeface="Calibri"/>
              </a:rPr>
              <a:t>s. 211 tablosuna göre 2000-2019'da dünyada en çok insanı etkileyen afet türü</a:t>
            </a:r>
          </a:p>
        </p:txBody>
      </p:sp>
      <p:sp>
        <p:nvSpPr>
          <p:cNvPr id="37" name="Rounded Rectangle 36"/>
          <p:cNvSpPr/>
          <p:nvPr/>
        </p:nvSpPr>
        <p:spPr>
          <a:xfrm>
            <a:off x="10454334" y="5406390"/>
            <a:ext cx="1097280" cy="502920"/>
          </a:xfrm>
          <a:prstGeom prst="roundRect">
            <a:avLst>
              <a:gd name="adj" fmla="val 8000"/>
            </a:avLst>
          </a:prstGeom>
          <a:solidFill>
            <a:srgbClr val="FFFFFF"/>
          </a:solidFill>
          <a:ln w="12700">
            <a:solidFill>
              <a:srgbClr val="D9D9D9"/>
            </a:solidFill>
          </a:ln>
          <a:effectLst/>
        </p:spPr>
        <p:txBody>
          <a:bodyPr rtlCol="0" anchor="ctr" wrap="square" lIns="36576" rIns="36576" tIns="73152" bIns="73152">
            <a:noAutofit/>
          </a:bodyPr>
          <a:lstStyle/>
          <a:p>
            <a:pPr algn="ctr">
              <a:spcBef>
                <a:spcPts val="0"/>
              </a:spcBef>
              <a:spcAft>
                <a:spcPts val="0"/>
              </a:spcAft>
            </a:pPr>
            <a:r>
              <a:rPr lang="tr-TR" sz="1500" b="0" i="0">
                <a:solidFill>
                  <a:srgbClr val="262626"/>
                </a:solidFill>
                <a:latin typeface="Calibri"/>
              </a:rPr>
              <a:t>kutu: …</a:t>
            </a:r>
          </a:p>
        </p:txBody>
      </p:sp>
      <p:sp>
        <p:nvSpPr>
          <p:cNvPr id="38" name="TextBox 37"/>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39" name="Rounded Rectangle 38"/>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196, 211</a:t>
            </a:r>
          </a:p>
        </p:txBody>
      </p:sp>
      <p:sp>
        <p:nvSpPr>
          <p:cNvPr id="40" name="TextBox 39"/>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115 / 250</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Grid — cevaplar</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CEVAP</a:t>
            </a:r>
          </a:p>
        </p:txBody>
      </p:sp>
      <p:sp>
        <p:nvSpPr>
          <p:cNvPr id="6" name="Rounded Rectangle 5"/>
          <p:cNvSpPr/>
          <p:nvPr/>
        </p:nvSpPr>
        <p:spPr>
          <a:xfrm>
            <a:off x="502920" y="1216152"/>
            <a:ext cx="1504188" cy="1591056"/>
          </a:xfrm>
          <a:prstGeom prst="roundRect">
            <a:avLst>
              <a:gd name="adj" fmla="val 10000"/>
            </a:avLst>
          </a:prstGeom>
          <a:solidFill>
            <a:srgbClr val="F0F0F0"/>
          </a:solidFill>
          <a:ln w="28575">
            <a:solidFill>
              <a:srgbClr val="8B5A2B"/>
            </a:solidFill>
          </a:ln>
          <a:effectLst/>
        </p:spPr>
        <p:txBody>
          <a:bodyPr rtlCol="0" anchor="ctr"/>
          <a:lstStyle/>
          <a:p/>
        </p:txBody>
      </p:sp>
      <p:sp>
        <p:nvSpPr>
          <p:cNvPr id="7" name="Oval 6"/>
          <p:cNvSpPr/>
          <p:nvPr/>
        </p:nvSpPr>
        <p:spPr>
          <a:xfrm>
            <a:off x="594360" y="1307592"/>
            <a:ext cx="457200" cy="457200"/>
          </a:xfrm>
          <a:prstGeom prst="ellipse">
            <a:avLst/>
          </a:prstGeom>
          <a:solidFill>
            <a:srgbClr val="8B5A2B"/>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1</a:t>
            </a:r>
          </a:p>
        </p:txBody>
      </p:sp>
      <p:sp>
        <p:nvSpPr>
          <p:cNvPr id="8" name="TextBox 7"/>
          <p:cNvSpPr txBox="1"/>
          <p:nvPr/>
        </p:nvSpPr>
        <p:spPr>
          <a:xfrm>
            <a:off x="612648" y="1719072"/>
            <a:ext cx="1284732" cy="630936"/>
          </a:xfrm>
          <a:prstGeom prst="rect">
            <a:avLst/>
          </a:prstGeom>
          <a:noFill/>
        </p:spPr>
        <p:txBody>
          <a:bodyPr wrap="square" anchor="ctr" lIns="73152" rIns="73152" tIns="36576" bIns="36576">
            <a:noAutofit/>
          </a:bodyPr>
          <a:lstStyle/>
          <a:p>
            <a:pPr algn="ctr">
              <a:spcBef>
                <a:spcPts val="0"/>
              </a:spcBef>
              <a:spcAft>
                <a:spcPts val="0"/>
              </a:spcAft>
            </a:pPr>
            <a:r>
              <a:rPr lang="tr-TR" sz="1700" b="1" i="0">
                <a:solidFill>
                  <a:srgbClr val="262626"/>
                </a:solidFill>
                <a:latin typeface="Calibri"/>
              </a:rPr>
              <a:t>Deprem</a:t>
            </a:r>
          </a:p>
        </p:txBody>
      </p:sp>
      <p:sp>
        <p:nvSpPr>
          <p:cNvPr id="9" name="Rounded Rectangle 8"/>
          <p:cNvSpPr/>
          <p:nvPr/>
        </p:nvSpPr>
        <p:spPr>
          <a:xfrm>
            <a:off x="576072" y="2386584"/>
            <a:ext cx="1357884" cy="347472"/>
          </a:xfrm>
          <a:prstGeom prst="roundRect">
            <a:avLst>
              <a:gd name="adj" fmla="val 30000"/>
            </a:avLst>
          </a:prstGeom>
          <a:solidFill>
            <a:srgbClr val="8B5A2B"/>
          </a:solidFill>
          <a:ln>
            <a:noFill/>
          </a:ln>
          <a:effectLst/>
        </p:spPr>
        <p:txBody>
          <a:bodyPr rtlCol="0" anchor="ctr" wrap="square" lIns="27432" rIns="27432" tIns="0" bIns="0">
            <a:noAutofit/>
          </a:bodyPr>
          <a:lstStyle/>
          <a:p>
            <a:pPr algn="ctr">
              <a:spcBef>
                <a:spcPts val="0"/>
              </a:spcBef>
              <a:spcAft>
                <a:spcPts val="0"/>
              </a:spcAft>
            </a:pPr>
            <a:r>
              <a:rPr lang="tr-TR" sz="1400" b="1" i="0">
                <a:solidFill>
                  <a:srgbClr val="FFFFFF"/>
                </a:solidFill>
                <a:latin typeface="Calibri"/>
              </a:rPr>
              <a:t>Jeolojik</a:t>
            </a:r>
          </a:p>
        </p:txBody>
      </p:sp>
      <p:sp>
        <p:nvSpPr>
          <p:cNvPr id="10" name="Rounded Rectangle 9"/>
          <p:cNvSpPr/>
          <p:nvPr/>
        </p:nvSpPr>
        <p:spPr>
          <a:xfrm>
            <a:off x="2135124" y="1216152"/>
            <a:ext cx="1504188" cy="1591056"/>
          </a:xfrm>
          <a:prstGeom prst="roundRect">
            <a:avLst>
              <a:gd name="adj" fmla="val 10000"/>
            </a:avLst>
          </a:prstGeom>
          <a:solidFill>
            <a:srgbClr val="F0F0F0"/>
          </a:solidFill>
          <a:ln w="28575">
            <a:solidFill>
              <a:srgbClr val="8B5A2B"/>
            </a:solidFill>
          </a:ln>
          <a:effectLst/>
        </p:spPr>
        <p:txBody>
          <a:bodyPr rtlCol="0" anchor="ctr"/>
          <a:lstStyle/>
          <a:p/>
        </p:txBody>
      </p:sp>
      <p:sp>
        <p:nvSpPr>
          <p:cNvPr id="11" name="Oval 10"/>
          <p:cNvSpPr/>
          <p:nvPr/>
        </p:nvSpPr>
        <p:spPr>
          <a:xfrm>
            <a:off x="2226564" y="1307592"/>
            <a:ext cx="457200" cy="457200"/>
          </a:xfrm>
          <a:prstGeom prst="ellipse">
            <a:avLst/>
          </a:prstGeom>
          <a:solidFill>
            <a:srgbClr val="8B5A2B"/>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2</a:t>
            </a:r>
          </a:p>
        </p:txBody>
      </p:sp>
      <p:sp>
        <p:nvSpPr>
          <p:cNvPr id="12" name="TextBox 11"/>
          <p:cNvSpPr txBox="1"/>
          <p:nvPr/>
        </p:nvSpPr>
        <p:spPr>
          <a:xfrm>
            <a:off x="2244852" y="1719072"/>
            <a:ext cx="1284732" cy="630936"/>
          </a:xfrm>
          <a:prstGeom prst="rect">
            <a:avLst/>
          </a:prstGeom>
          <a:noFill/>
        </p:spPr>
        <p:txBody>
          <a:bodyPr wrap="square" anchor="ctr" lIns="73152" rIns="73152" tIns="36576" bIns="36576">
            <a:noAutofit/>
          </a:bodyPr>
          <a:lstStyle/>
          <a:p>
            <a:pPr algn="ctr">
              <a:spcBef>
                <a:spcPts val="0"/>
              </a:spcBef>
              <a:spcAft>
                <a:spcPts val="0"/>
              </a:spcAft>
            </a:pPr>
            <a:r>
              <a:rPr lang="tr-TR" sz="1700" b="1" i="0">
                <a:solidFill>
                  <a:srgbClr val="262626"/>
                </a:solidFill>
                <a:latin typeface="Calibri"/>
              </a:rPr>
              <a:t>Volkanik faaliyet</a:t>
            </a:r>
          </a:p>
        </p:txBody>
      </p:sp>
      <p:sp>
        <p:nvSpPr>
          <p:cNvPr id="13" name="Rounded Rectangle 12"/>
          <p:cNvSpPr/>
          <p:nvPr/>
        </p:nvSpPr>
        <p:spPr>
          <a:xfrm>
            <a:off x="2208276" y="2386584"/>
            <a:ext cx="1357884" cy="347472"/>
          </a:xfrm>
          <a:prstGeom prst="roundRect">
            <a:avLst>
              <a:gd name="adj" fmla="val 30000"/>
            </a:avLst>
          </a:prstGeom>
          <a:solidFill>
            <a:srgbClr val="8B5A2B"/>
          </a:solidFill>
          <a:ln>
            <a:noFill/>
          </a:ln>
          <a:effectLst/>
        </p:spPr>
        <p:txBody>
          <a:bodyPr rtlCol="0" anchor="ctr" wrap="square" lIns="27432" rIns="27432" tIns="0" bIns="0">
            <a:noAutofit/>
          </a:bodyPr>
          <a:lstStyle/>
          <a:p>
            <a:pPr algn="ctr">
              <a:spcBef>
                <a:spcPts val="0"/>
              </a:spcBef>
              <a:spcAft>
                <a:spcPts val="0"/>
              </a:spcAft>
            </a:pPr>
            <a:r>
              <a:rPr lang="tr-TR" sz="1400" b="1" i="0">
                <a:solidFill>
                  <a:srgbClr val="FFFFFF"/>
                </a:solidFill>
                <a:latin typeface="Calibri"/>
              </a:rPr>
              <a:t>Jeolojik</a:t>
            </a:r>
          </a:p>
        </p:txBody>
      </p:sp>
      <p:sp>
        <p:nvSpPr>
          <p:cNvPr id="14" name="Rounded Rectangle 13"/>
          <p:cNvSpPr/>
          <p:nvPr/>
        </p:nvSpPr>
        <p:spPr>
          <a:xfrm>
            <a:off x="3767328" y="1216152"/>
            <a:ext cx="1504188" cy="1591056"/>
          </a:xfrm>
          <a:prstGeom prst="roundRect">
            <a:avLst>
              <a:gd name="adj" fmla="val 10000"/>
            </a:avLst>
          </a:prstGeom>
          <a:solidFill>
            <a:srgbClr val="F0F0F0"/>
          </a:solidFill>
          <a:ln w="28575">
            <a:solidFill>
              <a:srgbClr val="2C6696"/>
            </a:solidFill>
          </a:ln>
          <a:effectLst/>
        </p:spPr>
        <p:txBody>
          <a:bodyPr rtlCol="0" anchor="ctr"/>
          <a:lstStyle/>
          <a:p/>
        </p:txBody>
      </p:sp>
      <p:sp>
        <p:nvSpPr>
          <p:cNvPr id="15" name="Oval 14"/>
          <p:cNvSpPr/>
          <p:nvPr/>
        </p:nvSpPr>
        <p:spPr>
          <a:xfrm>
            <a:off x="3858768" y="1307592"/>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3</a:t>
            </a:r>
          </a:p>
        </p:txBody>
      </p:sp>
      <p:sp>
        <p:nvSpPr>
          <p:cNvPr id="16" name="TextBox 15"/>
          <p:cNvSpPr txBox="1"/>
          <p:nvPr/>
        </p:nvSpPr>
        <p:spPr>
          <a:xfrm>
            <a:off x="3877056" y="1719072"/>
            <a:ext cx="1284732" cy="630936"/>
          </a:xfrm>
          <a:prstGeom prst="rect">
            <a:avLst/>
          </a:prstGeom>
          <a:noFill/>
        </p:spPr>
        <p:txBody>
          <a:bodyPr wrap="square" anchor="ctr" lIns="73152" rIns="73152" tIns="36576" bIns="36576">
            <a:noAutofit/>
          </a:bodyPr>
          <a:lstStyle/>
          <a:p>
            <a:pPr algn="ctr">
              <a:spcBef>
                <a:spcPts val="0"/>
              </a:spcBef>
              <a:spcAft>
                <a:spcPts val="0"/>
              </a:spcAft>
            </a:pPr>
            <a:r>
              <a:rPr lang="tr-TR" sz="1700" b="1" i="0">
                <a:solidFill>
                  <a:srgbClr val="262626"/>
                </a:solidFill>
                <a:latin typeface="Calibri"/>
              </a:rPr>
              <a:t>Kuraklık</a:t>
            </a:r>
          </a:p>
        </p:txBody>
      </p:sp>
      <p:sp>
        <p:nvSpPr>
          <p:cNvPr id="17" name="Rounded Rectangle 16"/>
          <p:cNvSpPr/>
          <p:nvPr/>
        </p:nvSpPr>
        <p:spPr>
          <a:xfrm>
            <a:off x="3840480" y="2386584"/>
            <a:ext cx="1357884" cy="347472"/>
          </a:xfrm>
          <a:prstGeom prst="roundRect">
            <a:avLst>
              <a:gd name="adj" fmla="val 30000"/>
            </a:avLst>
          </a:prstGeom>
          <a:solidFill>
            <a:srgbClr val="2C6696"/>
          </a:solidFill>
          <a:ln>
            <a:noFill/>
          </a:ln>
          <a:effectLst/>
        </p:spPr>
        <p:txBody>
          <a:bodyPr rtlCol="0" anchor="ctr" wrap="square" lIns="27432" rIns="27432" tIns="0" bIns="0">
            <a:noAutofit/>
          </a:bodyPr>
          <a:lstStyle/>
          <a:p>
            <a:pPr algn="ctr">
              <a:spcBef>
                <a:spcPts val="0"/>
              </a:spcBef>
              <a:spcAft>
                <a:spcPts val="0"/>
              </a:spcAft>
            </a:pPr>
            <a:r>
              <a:rPr lang="tr-TR" sz="1400" b="1" i="0">
                <a:solidFill>
                  <a:srgbClr val="FFFFFF"/>
                </a:solidFill>
                <a:latin typeface="Calibri"/>
              </a:rPr>
              <a:t>Klimatik-hidr.</a:t>
            </a:r>
          </a:p>
        </p:txBody>
      </p:sp>
      <p:sp>
        <p:nvSpPr>
          <p:cNvPr id="18" name="Rounded Rectangle 17"/>
          <p:cNvSpPr/>
          <p:nvPr/>
        </p:nvSpPr>
        <p:spPr>
          <a:xfrm>
            <a:off x="5399532" y="1216152"/>
            <a:ext cx="1504188" cy="1591056"/>
          </a:xfrm>
          <a:prstGeom prst="roundRect">
            <a:avLst>
              <a:gd name="adj" fmla="val 10000"/>
            </a:avLst>
          </a:prstGeom>
          <a:solidFill>
            <a:srgbClr val="F0F0F0"/>
          </a:solidFill>
          <a:ln w="28575">
            <a:solidFill>
              <a:srgbClr val="2C6696"/>
            </a:solidFill>
          </a:ln>
          <a:effectLst/>
        </p:spPr>
        <p:txBody>
          <a:bodyPr rtlCol="0" anchor="ctr"/>
          <a:lstStyle/>
          <a:p/>
        </p:txBody>
      </p:sp>
      <p:sp>
        <p:nvSpPr>
          <p:cNvPr id="19" name="Oval 18"/>
          <p:cNvSpPr/>
          <p:nvPr/>
        </p:nvSpPr>
        <p:spPr>
          <a:xfrm>
            <a:off x="5490972" y="1307592"/>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4</a:t>
            </a:r>
          </a:p>
        </p:txBody>
      </p:sp>
      <p:sp>
        <p:nvSpPr>
          <p:cNvPr id="20" name="TextBox 19"/>
          <p:cNvSpPr txBox="1"/>
          <p:nvPr/>
        </p:nvSpPr>
        <p:spPr>
          <a:xfrm>
            <a:off x="5509260" y="1719072"/>
            <a:ext cx="1284732" cy="630936"/>
          </a:xfrm>
          <a:prstGeom prst="rect">
            <a:avLst/>
          </a:prstGeom>
          <a:noFill/>
        </p:spPr>
        <p:txBody>
          <a:bodyPr wrap="square" anchor="ctr" lIns="73152" rIns="73152" tIns="36576" bIns="36576">
            <a:noAutofit/>
          </a:bodyPr>
          <a:lstStyle/>
          <a:p>
            <a:pPr algn="ctr">
              <a:spcBef>
                <a:spcPts val="0"/>
              </a:spcBef>
              <a:spcAft>
                <a:spcPts val="0"/>
              </a:spcAft>
            </a:pPr>
            <a:r>
              <a:rPr lang="tr-TR" sz="1700" b="1" i="0">
                <a:solidFill>
                  <a:srgbClr val="262626"/>
                </a:solidFill>
                <a:latin typeface="Calibri"/>
              </a:rPr>
              <a:t>Sel</a:t>
            </a:r>
          </a:p>
        </p:txBody>
      </p:sp>
      <p:sp>
        <p:nvSpPr>
          <p:cNvPr id="21" name="Rounded Rectangle 20"/>
          <p:cNvSpPr/>
          <p:nvPr/>
        </p:nvSpPr>
        <p:spPr>
          <a:xfrm>
            <a:off x="5472684" y="2386584"/>
            <a:ext cx="1357884" cy="347472"/>
          </a:xfrm>
          <a:prstGeom prst="roundRect">
            <a:avLst>
              <a:gd name="adj" fmla="val 30000"/>
            </a:avLst>
          </a:prstGeom>
          <a:solidFill>
            <a:srgbClr val="2C6696"/>
          </a:solidFill>
          <a:ln>
            <a:noFill/>
          </a:ln>
          <a:effectLst/>
        </p:spPr>
        <p:txBody>
          <a:bodyPr rtlCol="0" anchor="ctr" wrap="square" lIns="27432" rIns="27432" tIns="0" bIns="0">
            <a:noAutofit/>
          </a:bodyPr>
          <a:lstStyle/>
          <a:p>
            <a:pPr algn="ctr">
              <a:spcBef>
                <a:spcPts val="0"/>
              </a:spcBef>
              <a:spcAft>
                <a:spcPts val="0"/>
              </a:spcAft>
            </a:pPr>
            <a:r>
              <a:rPr lang="tr-TR" sz="1400" b="1" i="0">
                <a:solidFill>
                  <a:srgbClr val="FFFFFF"/>
                </a:solidFill>
                <a:latin typeface="Calibri"/>
              </a:rPr>
              <a:t>Klimatik-hidr.</a:t>
            </a:r>
          </a:p>
        </p:txBody>
      </p:sp>
      <p:sp>
        <p:nvSpPr>
          <p:cNvPr id="22" name="Rounded Rectangle 21"/>
          <p:cNvSpPr/>
          <p:nvPr/>
        </p:nvSpPr>
        <p:spPr>
          <a:xfrm>
            <a:off x="502920" y="2935224"/>
            <a:ext cx="1504188" cy="1591056"/>
          </a:xfrm>
          <a:prstGeom prst="roundRect">
            <a:avLst>
              <a:gd name="adj" fmla="val 10000"/>
            </a:avLst>
          </a:prstGeom>
          <a:solidFill>
            <a:srgbClr val="F0F0F0"/>
          </a:solidFill>
          <a:ln w="28575">
            <a:solidFill>
              <a:srgbClr val="3E8E41"/>
            </a:solidFill>
          </a:ln>
          <a:effectLst/>
        </p:spPr>
        <p:txBody>
          <a:bodyPr rtlCol="0" anchor="ctr"/>
          <a:lstStyle/>
          <a:p/>
        </p:txBody>
      </p:sp>
      <p:sp>
        <p:nvSpPr>
          <p:cNvPr id="23" name="Oval 22"/>
          <p:cNvSpPr/>
          <p:nvPr/>
        </p:nvSpPr>
        <p:spPr>
          <a:xfrm>
            <a:off x="594360" y="3026664"/>
            <a:ext cx="457200" cy="457200"/>
          </a:xfrm>
          <a:prstGeom prst="ellipse">
            <a:avLst/>
          </a:prstGeom>
          <a:solidFill>
            <a:srgbClr val="3E8E41"/>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5</a:t>
            </a:r>
          </a:p>
        </p:txBody>
      </p:sp>
      <p:sp>
        <p:nvSpPr>
          <p:cNvPr id="24" name="TextBox 23"/>
          <p:cNvSpPr txBox="1"/>
          <p:nvPr/>
        </p:nvSpPr>
        <p:spPr>
          <a:xfrm>
            <a:off x="612648" y="3438144"/>
            <a:ext cx="1284732" cy="630936"/>
          </a:xfrm>
          <a:prstGeom prst="rect">
            <a:avLst/>
          </a:prstGeom>
          <a:noFill/>
        </p:spPr>
        <p:txBody>
          <a:bodyPr wrap="square" anchor="ctr" lIns="73152" rIns="73152" tIns="36576" bIns="36576">
            <a:noAutofit/>
          </a:bodyPr>
          <a:lstStyle/>
          <a:p>
            <a:pPr algn="ctr">
              <a:spcBef>
                <a:spcPts val="0"/>
              </a:spcBef>
              <a:spcAft>
                <a:spcPts val="0"/>
              </a:spcAft>
            </a:pPr>
            <a:r>
              <a:rPr lang="tr-TR" sz="1700" b="1" i="0">
                <a:solidFill>
                  <a:srgbClr val="262626"/>
                </a:solidFill>
                <a:latin typeface="Calibri"/>
              </a:rPr>
              <a:t>Erozyon</a:t>
            </a:r>
          </a:p>
        </p:txBody>
      </p:sp>
      <p:sp>
        <p:nvSpPr>
          <p:cNvPr id="25" name="Rounded Rectangle 24"/>
          <p:cNvSpPr/>
          <p:nvPr/>
        </p:nvSpPr>
        <p:spPr>
          <a:xfrm>
            <a:off x="576072" y="4105656"/>
            <a:ext cx="1357884" cy="347472"/>
          </a:xfrm>
          <a:prstGeom prst="roundRect">
            <a:avLst>
              <a:gd name="adj" fmla="val 30000"/>
            </a:avLst>
          </a:prstGeom>
          <a:solidFill>
            <a:srgbClr val="3E8E41"/>
          </a:solidFill>
          <a:ln>
            <a:noFill/>
          </a:ln>
          <a:effectLst/>
        </p:spPr>
        <p:txBody>
          <a:bodyPr rtlCol="0" anchor="ctr" wrap="square" lIns="27432" rIns="27432" tIns="0" bIns="0">
            <a:noAutofit/>
          </a:bodyPr>
          <a:lstStyle/>
          <a:p>
            <a:pPr algn="ctr">
              <a:spcBef>
                <a:spcPts val="0"/>
              </a:spcBef>
              <a:spcAft>
                <a:spcPts val="0"/>
              </a:spcAft>
            </a:pPr>
            <a:r>
              <a:rPr lang="tr-TR" sz="1400" b="1" i="0">
                <a:solidFill>
                  <a:srgbClr val="FFFFFF"/>
                </a:solidFill>
                <a:latin typeface="Calibri"/>
              </a:rPr>
              <a:t>Biyolojik</a:t>
            </a:r>
          </a:p>
        </p:txBody>
      </p:sp>
      <p:sp>
        <p:nvSpPr>
          <p:cNvPr id="26" name="Rounded Rectangle 25"/>
          <p:cNvSpPr/>
          <p:nvPr/>
        </p:nvSpPr>
        <p:spPr>
          <a:xfrm>
            <a:off x="2135124" y="2935224"/>
            <a:ext cx="1504188" cy="1591056"/>
          </a:xfrm>
          <a:prstGeom prst="roundRect">
            <a:avLst>
              <a:gd name="adj" fmla="val 10000"/>
            </a:avLst>
          </a:prstGeom>
          <a:solidFill>
            <a:srgbClr val="F0F0F0"/>
          </a:solidFill>
          <a:ln w="28575">
            <a:solidFill>
              <a:srgbClr val="3E8E41"/>
            </a:solidFill>
          </a:ln>
          <a:effectLst/>
        </p:spPr>
        <p:txBody>
          <a:bodyPr rtlCol="0" anchor="ctr"/>
          <a:lstStyle/>
          <a:p/>
        </p:txBody>
      </p:sp>
      <p:sp>
        <p:nvSpPr>
          <p:cNvPr id="27" name="Oval 26"/>
          <p:cNvSpPr/>
          <p:nvPr/>
        </p:nvSpPr>
        <p:spPr>
          <a:xfrm>
            <a:off x="2226564" y="3026664"/>
            <a:ext cx="457200" cy="457200"/>
          </a:xfrm>
          <a:prstGeom prst="ellipse">
            <a:avLst/>
          </a:prstGeom>
          <a:solidFill>
            <a:srgbClr val="3E8E41"/>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6</a:t>
            </a:r>
          </a:p>
        </p:txBody>
      </p:sp>
      <p:sp>
        <p:nvSpPr>
          <p:cNvPr id="28" name="TextBox 27"/>
          <p:cNvSpPr txBox="1"/>
          <p:nvPr/>
        </p:nvSpPr>
        <p:spPr>
          <a:xfrm>
            <a:off x="2244852" y="3438144"/>
            <a:ext cx="1284732" cy="630936"/>
          </a:xfrm>
          <a:prstGeom prst="rect">
            <a:avLst/>
          </a:prstGeom>
          <a:noFill/>
        </p:spPr>
        <p:txBody>
          <a:bodyPr wrap="square" anchor="ctr" lIns="73152" rIns="73152" tIns="36576" bIns="36576">
            <a:noAutofit/>
          </a:bodyPr>
          <a:lstStyle/>
          <a:p>
            <a:pPr algn="ctr">
              <a:spcBef>
                <a:spcPts val="0"/>
              </a:spcBef>
              <a:spcAft>
                <a:spcPts val="0"/>
              </a:spcAft>
            </a:pPr>
            <a:r>
              <a:rPr lang="tr-TR" sz="1700" b="1" i="0">
                <a:solidFill>
                  <a:srgbClr val="262626"/>
                </a:solidFill>
                <a:latin typeface="Calibri"/>
              </a:rPr>
              <a:t>Salgın hastalık</a:t>
            </a:r>
          </a:p>
        </p:txBody>
      </p:sp>
      <p:sp>
        <p:nvSpPr>
          <p:cNvPr id="29" name="Rounded Rectangle 28"/>
          <p:cNvSpPr/>
          <p:nvPr/>
        </p:nvSpPr>
        <p:spPr>
          <a:xfrm>
            <a:off x="2208276" y="4105656"/>
            <a:ext cx="1357884" cy="347472"/>
          </a:xfrm>
          <a:prstGeom prst="roundRect">
            <a:avLst>
              <a:gd name="adj" fmla="val 30000"/>
            </a:avLst>
          </a:prstGeom>
          <a:solidFill>
            <a:srgbClr val="3E8E41"/>
          </a:solidFill>
          <a:ln>
            <a:noFill/>
          </a:ln>
          <a:effectLst/>
        </p:spPr>
        <p:txBody>
          <a:bodyPr rtlCol="0" anchor="ctr" wrap="square" lIns="27432" rIns="27432" tIns="0" bIns="0">
            <a:noAutofit/>
          </a:bodyPr>
          <a:lstStyle/>
          <a:p>
            <a:pPr algn="ctr">
              <a:spcBef>
                <a:spcPts val="0"/>
              </a:spcBef>
              <a:spcAft>
                <a:spcPts val="0"/>
              </a:spcAft>
            </a:pPr>
            <a:r>
              <a:rPr lang="tr-TR" sz="1400" b="1" i="0">
                <a:solidFill>
                  <a:srgbClr val="FFFFFF"/>
                </a:solidFill>
                <a:latin typeface="Calibri"/>
              </a:rPr>
              <a:t>Biyolojik</a:t>
            </a:r>
          </a:p>
        </p:txBody>
      </p:sp>
      <p:sp>
        <p:nvSpPr>
          <p:cNvPr id="30" name="Rounded Rectangle 29"/>
          <p:cNvSpPr/>
          <p:nvPr/>
        </p:nvSpPr>
        <p:spPr>
          <a:xfrm>
            <a:off x="3767328" y="2935224"/>
            <a:ext cx="1504188" cy="1591056"/>
          </a:xfrm>
          <a:prstGeom prst="roundRect">
            <a:avLst>
              <a:gd name="adj" fmla="val 10000"/>
            </a:avLst>
          </a:prstGeom>
          <a:solidFill>
            <a:srgbClr val="F0F0F0"/>
          </a:solidFill>
          <a:ln w="28575">
            <a:solidFill>
              <a:srgbClr val="7A4EA0"/>
            </a:solidFill>
          </a:ln>
          <a:effectLst/>
        </p:spPr>
        <p:txBody>
          <a:bodyPr rtlCol="0" anchor="ctr"/>
          <a:lstStyle/>
          <a:p/>
        </p:txBody>
      </p:sp>
      <p:sp>
        <p:nvSpPr>
          <p:cNvPr id="31" name="Oval 30"/>
          <p:cNvSpPr/>
          <p:nvPr/>
        </p:nvSpPr>
        <p:spPr>
          <a:xfrm>
            <a:off x="3858768" y="3026664"/>
            <a:ext cx="457200" cy="457200"/>
          </a:xfrm>
          <a:prstGeom prst="ellipse">
            <a:avLst/>
          </a:prstGeom>
          <a:solidFill>
            <a:srgbClr val="7A4EA0"/>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7</a:t>
            </a:r>
          </a:p>
        </p:txBody>
      </p:sp>
      <p:sp>
        <p:nvSpPr>
          <p:cNvPr id="32" name="TextBox 31"/>
          <p:cNvSpPr txBox="1"/>
          <p:nvPr/>
        </p:nvSpPr>
        <p:spPr>
          <a:xfrm>
            <a:off x="3877056" y="3438144"/>
            <a:ext cx="1284732" cy="630936"/>
          </a:xfrm>
          <a:prstGeom prst="rect">
            <a:avLst/>
          </a:prstGeom>
          <a:noFill/>
        </p:spPr>
        <p:txBody>
          <a:bodyPr wrap="square" anchor="ctr" lIns="73152" rIns="73152" tIns="36576" bIns="36576">
            <a:noAutofit/>
          </a:bodyPr>
          <a:lstStyle/>
          <a:p>
            <a:pPr algn="ctr">
              <a:spcBef>
                <a:spcPts val="0"/>
              </a:spcBef>
              <a:spcAft>
                <a:spcPts val="0"/>
              </a:spcAft>
            </a:pPr>
            <a:r>
              <a:rPr lang="tr-TR" sz="1700" b="1" i="0">
                <a:solidFill>
                  <a:srgbClr val="262626"/>
                </a:solidFill>
                <a:latin typeface="Calibri"/>
              </a:rPr>
              <a:t>Savaş</a:t>
            </a:r>
          </a:p>
        </p:txBody>
      </p:sp>
      <p:sp>
        <p:nvSpPr>
          <p:cNvPr id="33" name="Rounded Rectangle 32"/>
          <p:cNvSpPr/>
          <p:nvPr/>
        </p:nvSpPr>
        <p:spPr>
          <a:xfrm>
            <a:off x="3840480" y="4105656"/>
            <a:ext cx="1357884" cy="347472"/>
          </a:xfrm>
          <a:prstGeom prst="roundRect">
            <a:avLst>
              <a:gd name="adj" fmla="val 30000"/>
            </a:avLst>
          </a:prstGeom>
          <a:solidFill>
            <a:srgbClr val="7A4EA0"/>
          </a:solidFill>
          <a:ln>
            <a:noFill/>
          </a:ln>
          <a:effectLst/>
        </p:spPr>
        <p:txBody>
          <a:bodyPr rtlCol="0" anchor="ctr" wrap="square" lIns="27432" rIns="27432" tIns="0" bIns="0">
            <a:noAutofit/>
          </a:bodyPr>
          <a:lstStyle/>
          <a:p>
            <a:pPr algn="ctr">
              <a:spcBef>
                <a:spcPts val="0"/>
              </a:spcBef>
              <a:spcAft>
                <a:spcPts val="0"/>
              </a:spcAft>
            </a:pPr>
            <a:r>
              <a:rPr lang="tr-TR" sz="1400" b="1" i="0">
                <a:solidFill>
                  <a:srgbClr val="FFFFFF"/>
                </a:solidFill>
                <a:latin typeface="Calibri"/>
              </a:rPr>
              <a:t>Sosyal</a:t>
            </a:r>
          </a:p>
        </p:txBody>
      </p:sp>
      <p:sp>
        <p:nvSpPr>
          <p:cNvPr id="34" name="Rounded Rectangle 33"/>
          <p:cNvSpPr/>
          <p:nvPr/>
        </p:nvSpPr>
        <p:spPr>
          <a:xfrm>
            <a:off x="5399532" y="2935224"/>
            <a:ext cx="1504188" cy="1591056"/>
          </a:xfrm>
          <a:prstGeom prst="roundRect">
            <a:avLst>
              <a:gd name="adj" fmla="val 10000"/>
            </a:avLst>
          </a:prstGeom>
          <a:solidFill>
            <a:srgbClr val="F0F0F0"/>
          </a:solidFill>
          <a:ln w="28575">
            <a:solidFill>
              <a:srgbClr val="7A4EA0"/>
            </a:solidFill>
          </a:ln>
          <a:effectLst/>
        </p:spPr>
        <p:txBody>
          <a:bodyPr rtlCol="0" anchor="ctr"/>
          <a:lstStyle/>
          <a:p/>
        </p:txBody>
      </p:sp>
      <p:sp>
        <p:nvSpPr>
          <p:cNvPr id="35" name="Oval 34"/>
          <p:cNvSpPr/>
          <p:nvPr/>
        </p:nvSpPr>
        <p:spPr>
          <a:xfrm>
            <a:off x="5490972" y="3026664"/>
            <a:ext cx="457200" cy="457200"/>
          </a:xfrm>
          <a:prstGeom prst="ellipse">
            <a:avLst/>
          </a:prstGeom>
          <a:solidFill>
            <a:srgbClr val="7A4EA0"/>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8</a:t>
            </a:r>
          </a:p>
        </p:txBody>
      </p:sp>
      <p:sp>
        <p:nvSpPr>
          <p:cNvPr id="36" name="TextBox 35"/>
          <p:cNvSpPr txBox="1"/>
          <p:nvPr/>
        </p:nvSpPr>
        <p:spPr>
          <a:xfrm>
            <a:off x="5509260" y="3438144"/>
            <a:ext cx="1284732" cy="630936"/>
          </a:xfrm>
          <a:prstGeom prst="rect">
            <a:avLst/>
          </a:prstGeom>
          <a:noFill/>
        </p:spPr>
        <p:txBody>
          <a:bodyPr wrap="square" anchor="ctr" lIns="73152" rIns="73152" tIns="36576" bIns="36576">
            <a:noAutofit/>
          </a:bodyPr>
          <a:lstStyle/>
          <a:p>
            <a:pPr algn="ctr">
              <a:spcBef>
                <a:spcPts val="0"/>
              </a:spcBef>
              <a:spcAft>
                <a:spcPts val="0"/>
              </a:spcAft>
            </a:pPr>
            <a:r>
              <a:rPr lang="tr-TR" sz="1700" b="1" i="0">
                <a:solidFill>
                  <a:srgbClr val="262626"/>
                </a:solidFill>
                <a:latin typeface="Calibri"/>
              </a:rPr>
              <a:t>Terör saldırısı</a:t>
            </a:r>
          </a:p>
        </p:txBody>
      </p:sp>
      <p:sp>
        <p:nvSpPr>
          <p:cNvPr id="37" name="Rounded Rectangle 36"/>
          <p:cNvSpPr/>
          <p:nvPr/>
        </p:nvSpPr>
        <p:spPr>
          <a:xfrm>
            <a:off x="5472684" y="4105656"/>
            <a:ext cx="1357884" cy="347472"/>
          </a:xfrm>
          <a:prstGeom prst="roundRect">
            <a:avLst>
              <a:gd name="adj" fmla="val 30000"/>
            </a:avLst>
          </a:prstGeom>
          <a:solidFill>
            <a:srgbClr val="7A4EA0"/>
          </a:solidFill>
          <a:ln>
            <a:noFill/>
          </a:ln>
          <a:effectLst/>
        </p:spPr>
        <p:txBody>
          <a:bodyPr rtlCol="0" anchor="ctr" wrap="square" lIns="27432" rIns="27432" tIns="0" bIns="0">
            <a:noAutofit/>
          </a:bodyPr>
          <a:lstStyle/>
          <a:p>
            <a:pPr algn="ctr">
              <a:spcBef>
                <a:spcPts val="0"/>
              </a:spcBef>
              <a:spcAft>
                <a:spcPts val="0"/>
              </a:spcAft>
            </a:pPr>
            <a:r>
              <a:rPr lang="tr-TR" sz="1400" b="1" i="0">
                <a:solidFill>
                  <a:srgbClr val="FFFFFF"/>
                </a:solidFill>
                <a:latin typeface="Calibri"/>
              </a:rPr>
              <a:t>Sosyal</a:t>
            </a:r>
          </a:p>
        </p:txBody>
      </p:sp>
      <p:sp>
        <p:nvSpPr>
          <p:cNvPr id="38" name="Rounded Rectangle 37"/>
          <p:cNvSpPr/>
          <p:nvPr/>
        </p:nvSpPr>
        <p:spPr>
          <a:xfrm>
            <a:off x="502920" y="4654296"/>
            <a:ext cx="1504188" cy="1591056"/>
          </a:xfrm>
          <a:prstGeom prst="roundRect">
            <a:avLst>
              <a:gd name="adj" fmla="val 10000"/>
            </a:avLst>
          </a:prstGeom>
          <a:solidFill>
            <a:srgbClr val="F0F0F0"/>
          </a:solidFill>
          <a:ln w="28575">
            <a:solidFill>
              <a:srgbClr val="7A4EA0"/>
            </a:solidFill>
          </a:ln>
          <a:effectLst/>
        </p:spPr>
        <p:txBody>
          <a:bodyPr rtlCol="0" anchor="ctr"/>
          <a:lstStyle/>
          <a:p/>
        </p:txBody>
      </p:sp>
      <p:sp>
        <p:nvSpPr>
          <p:cNvPr id="39" name="Oval 38"/>
          <p:cNvSpPr/>
          <p:nvPr/>
        </p:nvSpPr>
        <p:spPr>
          <a:xfrm>
            <a:off x="594360" y="4745736"/>
            <a:ext cx="457200" cy="457200"/>
          </a:xfrm>
          <a:prstGeom prst="ellipse">
            <a:avLst/>
          </a:prstGeom>
          <a:solidFill>
            <a:srgbClr val="7A4EA0"/>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9</a:t>
            </a:r>
          </a:p>
        </p:txBody>
      </p:sp>
      <p:sp>
        <p:nvSpPr>
          <p:cNvPr id="40" name="TextBox 39"/>
          <p:cNvSpPr txBox="1"/>
          <p:nvPr/>
        </p:nvSpPr>
        <p:spPr>
          <a:xfrm>
            <a:off x="612648" y="5157216"/>
            <a:ext cx="1284732" cy="630936"/>
          </a:xfrm>
          <a:prstGeom prst="rect">
            <a:avLst/>
          </a:prstGeom>
          <a:noFill/>
        </p:spPr>
        <p:txBody>
          <a:bodyPr wrap="square" anchor="ctr" lIns="73152" rIns="73152" tIns="36576" bIns="36576">
            <a:noAutofit/>
          </a:bodyPr>
          <a:lstStyle/>
          <a:p>
            <a:pPr algn="ctr">
              <a:spcBef>
                <a:spcPts val="0"/>
              </a:spcBef>
              <a:spcAft>
                <a:spcPts val="0"/>
              </a:spcAft>
            </a:pPr>
            <a:r>
              <a:rPr lang="tr-TR" sz="1700" b="1" i="0">
                <a:solidFill>
                  <a:srgbClr val="262626"/>
                </a:solidFill>
                <a:latin typeface="Calibri"/>
              </a:rPr>
              <a:t>Göç</a:t>
            </a:r>
          </a:p>
        </p:txBody>
      </p:sp>
      <p:sp>
        <p:nvSpPr>
          <p:cNvPr id="41" name="Rounded Rectangle 40"/>
          <p:cNvSpPr/>
          <p:nvPr/>
        </p:nvSpPr>
        <p:spPr>
          <a:xfrm>
            <a:off x="576072" y="5824728"/>
            <a:ext cx="1357884" cy="347472"/>
          </a:xfrm>
          <a:prstGeom prst="roundRect">
            <a:avLst>
              <a:gd name="adj" fmla="val 30000"/>
            </a:avLst>
          </a:prstGeom>
          <a:solidFill>
            <a:srgbClr val="7A4EA0"/>
          </a:solidFill>
          <a:ln>
            <a:noFill/>
          </a:ln>
          <a:effectLst/>
        </p:spPr>
        <p:txBody>
          <a:bodyPr rtlCol="0" anchor="ctr" wrap="square" lIns="27432" rIns="27432" tIns="0" bIns="0">
            <a:noAutofit/>
          </a:bodyPr>
          <a:lstStyle/>
          <a:p>
            <a:pPr algn="ctr">
              <a:spcBef>
                <a:spcPts val="0"/>
              </a:spcBef>
              <a:spcAft>
                <a:spcPts val="0"/>
              </a:spcAft>
            </a:pPr>
            <a:r>
              <a:rPr lang="tr-TR" sz="1400" b="1" i="0">
                <a:solidFill>
                  <a:srgbClr val="FFFFFF"/>
                </a:solidFill>
                <a:latin typeface="Calibri"/>
              </a:rPr>
              <a:t>Sosyal</a:t>
            </a:r>
          </a:p>
        </p:txBody>
      </p:sp>
      <p:sp>
        <p:nvSpPr>
          <p:cNvPr id="42" name="Rounded Rectangle 41"/>
          <p:cNvSpPr/>
          <p:nvPr/>
        </p:nvSpPr>
        <p:spPr>
          <a:xfrm>
            <a:off x="2135124" y="4654296"/>
            <a:ext cx="1504188" cy="1591056"/>
          </a:xfrm>
          <a:prstGeom prst="roundRect">
            <a:avLst>
              <a:gd name="adj" fmla="val 10000"/>
            </a:avLst>
          </a:prstGeom>
          <a:solidFill>
            <a:srgbClr val="F0F0F0"/>
          </a:solidFill>
          <a:ln w="28575">
            <a:solidFill>
              <a:srgbClr val="5A6470"/>
            </a:solidFill>
          </a:ln>
          <a:effectLst/>
        </p:spPr>
        <p:txBody>
          <a:bodyPr rtlCol="0" anchor="ctr"/>
          <a:lstStyle/>
          <a:p/>
        </p:txBody>
      </p:sp>
      <p:sp>
        <p:nvSpPr>
          <p:cNvPr id="43" name="Oval 42"/>
          <p:cNvSpPr/>
          <p:nvPr/>
        </p:nvSpPr>
        <p:spPr>
          <a:xfrm>
            <a:off x="2226564" y="4745736"/>
            <a:ext cx="457200" cy="457200"/>
          </a:xfrm>
          <a:prstGeom prst="ellipse">
            <a:avLst/>
          </a:prstGeom>
          <a:solidFill>
            <a:srgbClr val="5A6470"/>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10</a:t>
            </a:r>
          </a:p>
        </p:txBody>
      </p:sp>
      <p:sp>
        <p:nvSpPr>
          <p:cNvPr id="44" name="TextBox 43"/>
          <p:cNvSpPr txBox="1"/>
          <p:nvPr/>
        </p:nvSpPr>
        <p:spPr>
          <a:xfrm>
            <a:off x="2244852" y="5157216"/>
            <a:ext cx="1284732" cy="630936"/>
          </a:xfrm>
          <a:prstGeom prst="rect">
            <a:avLst/>
          </a:prstGeom>
          <a:noFill/>
        </p:spPr>
        <p:txBody>
          <a:bodyPr wrap="square" anchor="ctr" lIns="73152" rIns="73152" tIns="36576" bIns="36576">
            <a:noAutofit/>
          </a:bodyPr>
          <a:lstStyle/>
          <a:p>
            <a:pPr algn="ctr">
              <a:spcBef>
                <a:spcPts val="0"/>
              </a:spcBef>
              <a:spcAft>
                <a:spcPts val="0"/>
              </a:spcAft>
            </a:pPr>
            <a:r>
              <a:rPr lang="tr-TR" sz="1700" b="1" i="0">
                <a:solidFill>
                  <a:srgbClr val="262626"/>
                </a:solidFill>
                <a:latin typeface="Calibri"/>
              </a:rPr>
              <a:t>Maden kazası</a:t>
            </a:r>
          </a:p>
        </p:txBody>
      </p:sp>
      <p:sp>
        <p:nvSpPr>
          <p:cNvPr id="45" name="Rounded Rectangle 44"/>
          <p:cNvSpPr/>
          <p:nvPr/>
        </p:nvSpPr>
        <p:spPr>
          <a:xfrm>
            <a:off x="2208276" y="5824728"/>
            <a:ext cx="1357884" cy="347472"/>
          </a:xfrm>
          <a:prstGeom prst="roundRect">
            <a:avLst>
              <a:gd name="adj" fmla="val 30000"/>
            </a:avLst>
          </a:prstGeom>
          <a:solidFill>
            <a:srgbClr val="5A6470"/>
          </a:solidFill>
          <a:ln>
            <a:noFill/>
          </a:ln>
          <a:effectLst/>
        </p:spPr>
        <p:txBody>
          <a:bodyPr rtlCol="0" anchor="ctr" wrap="square" lIns="27432" rIns="27432" tIns="0" bIns="0">
            <a:noAutofit/>
          </a:bodyPr>
          <a:lstStyle/>
          <a:p>
            <a:pPr algn="ctr">
              <a:spcBef>
                <a:spcPts val="0"/>
              </a:spcBef>
              <a:spcAft>
                <a:spcPts val="0"/>
              </a:spcAft>
            </a:pPr>
            <a:r>
              <a:rPr lang="tr-TR" sz="1400" b="1" i="0">
                <a:solidFill>
                  <a:srgbClr val="FFFFFF"/>
                </a:solidFill>
                <a:latin typeface="Calibri"/>
              </a:rPr>
              <a:t>Teknolojik</a:t>
            </a:r>
          </a:p>
        </p:txBody>
      </p:sp>
      <p:sp>
        <p:nvSpPr>
          <p:cNvPr id="46" name="Rounded Rectangle 45"/>
          <p:cNvSpPr/>
          <p:nvPr/>
        </p:nvSpPr>
        <p:spPr>
          <a:xfrm>
            <a:off x="3767328" y="4654296"/>
            <a:ext cx="1504188" cy="1591056"/>
          </a:xfrm>
          <a:prstGeom prst="roundRect">
            <a:avLst>
              <a:gd name="adj" fmla="val 10000"/>
            </a:avLst>
          </a:prstGeom>
          <a:solidFill>
            <a:srgbClr val="F0F0F0"/>
          </a:solidFill>
          <a:ln w="28575">
            <a:solidFill>
              <a:srgbClr val="5A6470"/>
            </a:solidFill>
          </a:ln>
          <a:effectLst/>
        </p:spPr>
        <p:txBody>
          <a:bodyPr rtlCol="0" anchor="ctr"/>
          <a:lstStyle/>
          <a:p/>
        </p:txBody>
      </p:sp>
      <p:sp>
        <p:nvSpPr>
          <p:cNvPr id="47" name="Oval 46"/>
          <p:cNvSpPr/>
          <p:nvPr/>
        </p:nvSpPr>
        <p:spPr>
          <a:xfrm>
            <a:off x="3858768" y="4745736"/>
            <a:ext cx="457200" cy="457200"/>
          </a:xfrm>
          <a:prstGeom prst="ellipse">
            <a:avLst/>
          </a:prstGeom>
          <a:solidFill>
            <a:srgbClr val="5A6470"/>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11</a:t>
            </a:r>
          </a:p>
        </p:txBody>
      </p:sp>
      <p:sp>
        <p:nvSpPr>
          <p:cNvPr id="48" name="TextBox 47"/>
          <p:cNvSpPr txBox="1"/>
          <p:nvPr/>
        </p:nvSpPr>
        <p:spPr>
          <a:xfrm>
            <a:off x="3877056" y="5157216"/>
            <a:ext cx="1284732" cy="630936"/>
          </a:xfrm>
          <a:prstGeom prst="rect">
            <a:avLst/>
          </a:prstGeom>
          <a:noFill/>
        </p:spPr>
        <p:txBody>
          <a:bodyPr wrap="square" anchor="ctr" lIns="73152" rIns="73152" tIns="36576" bIns="36576">
            <a:noAutofit/>
          </a:bodyPr>
          <a:lstStyle/>
          <a:p>
            <a:pPr algn="ctr">
              <a:spcBef>
                <a:spcPts val="0"/>
              </a:spcBef>
              <a:spcAft>
                <a:spcPts val="0"/>
              </a:spcAft>
            </a:pPr>
            <a:r>
              <a:rPr lang="tr-TR" sz="1550" b="1" i="0">
                <a:solidFill>
                  <a:srgbClr val="262626"/>
                </a:solidFill>
                <a:latin typeface="Calibri"/>
              </a:rPr>
              <a:t>Nükleer santral kazası</a:t>
            </a:r>
          </a:p>
        </p:txBody>
      </p:sp>
      <p:sp>
        <p:nvSpPr>
          <p:cNvPr id="49" name="Rounded Rectangle 48"/>
          <p:cNvSpPr/>
          <p:nvPr/>
        </p:nvSpPr>
        <p:spPr>
          <a:xfrm>
            <a:off x="3840480" y="5824728"/>
            <a:ext cx="1357884" cy="347472"/>
          </a:xfrm>
          <a:prstGeom prst="roundRect">
            <a:avLst>
              <a:gd name="adj" fmla="val 30000"/>
            </a:avLst>
          </a:prstGeom>
          <a:solidFill>
            <a:srgbClr val="5A6470"/>
          </a:solidFill>
          <a:ln>
            <a:noFill/>
          </a:ln>
          <a:effectLst/>
        </p:spPr>
        <p:txBody>
          <a:bodyPr rtlCol="0" anchor="ctr" wrap="square" lIns="27432" rIns="27432" tIns="0" bIns="0">
            <a:noAutofit/>
          </a:bodyPr>
          <a:lstStyle/>
          <a:p>
            <a:pPr algn="ctr">
              <a:spcBef>
                <a:spcPts val="0"/>
              </a:spcBef>
              <a:spcAft>
                <a:spcPts val="0"/>
              </a:spcAft>
            </a:pPr>
            <a:r>
              <a:rPr lang="tr-TR" sz="1400" b="1" i="0">
                <a:solidFill>
                  <a:srgbClr val="FFFFFF"/>
                </a:solidFill>
                <a:latin typeface="Calibri"/>
              </a:rPr>
              <a:t>Teknolojik</a:t>
            </a:r>
          </a:p>
        </p:txBody>
      </p:sp>
      <p:sp>
        <p:nvSpPr>
          <p:cNvPr id="50" name="Rounded Rectangle 49"/>
          <p:cNvSpPr/>
          <p:nvPr/>
        </p:nvSpPr>
        <p:spPr>
          <a:xfrm>
            <a:off x="5399532" y="4654296"/>
            <a:ext cx="1504188" cy="1591056"/>
          </a:xfrm>
          <a:prstGeom prst="roundRect">
            <a:avLst>
              <a:gd name="adj" fmla="val 10000"/>
            </a:avLst>
          </a:prstGeom>
          <a:solidFill>
            <a:srgbClr val="F0F0F0"/>
          </a:solidFill>
          <a:ln w="28575">
            <a:solidFill>
              <a:srgbClr val="5A6470"/>
            </a:solidFill>
          </a:ln>
          <a:effectLst/>
        </p:spPr>
        <p:txBody>
          <a:bodyPr rtlCol="0" anchor="ctr"/>
          <a:lstStyle/>
          <a:p/>
        </p:txBody>
      </p:sp>
      <p:sp>
        <p:nvSpPr>
          <p:cNvPr id="51" name="Oval 50"/>
          <p:cNvSpPr/>
          <p:nvPr/>
        </p:nvSpPr>
        <p:spPr>
          <a:xfrm>
            <a:off x="5490972" y="4745736"/>
            <a:ext cx="457200" cy="457200"/>
          </a:xfrm>
          <a:prstGeom prst="ellipse">
            <a:avLst/>
          </a:prstGeom>
          <a:solidFill>
            <a:srgbClr val="5A6470"/>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12</a:t>
            </a:r>
          </a:p>
        </p:txBody>
      </p:sp>
      <p:sp>
        <p:nvSpPr>
          <p:cNvPr id="52" name="TextBox 51"/>
          <p:cNvSpPr txBox="1"/>
          <p:nvPr/>
        </p:nvSpPr>
        <p:spPr>
          <a:xfrm>
            <a:off x="5509260" y="5157216"/>
            <a:ext cx="1284732" cy="630936"/>
          </a:xfrm>
          <a:prstGeom prst="rect">
            <a:avLst/>
          </a:prstGeom>
          <a:noFill/>
        </p:spPr>
        <p:txBody>
          <a:bodyPr wrap="square" anchor="ctr" lIns="73152" rIns="73152" tIns="36576" bIns="36576">
            <a:noAutofit/>
          </a:bodyPr>
          <a:lstStyle/>
          <a:p>
            <a:pPr algn="ctr">
              <a:spcBef>
                <a:spcPts val="0"/>
              </a:spcBef>
              <a:spcAft>
                <a:spcPts val="0"/>
              </a:spcAft>
            </a:pPr>
            <a:r>
              <a:rPr lang="tr-TR" sz="1700" b="1" i="0">
                <a:solidFill>
                  <a:srgbClr val="262626"/>
                </a:solidFill>
                <a:latin typeface="Calibri"/>
              </a:rPr>
              <a:t>Ulaşım kazası</a:t>
            </a:r>
          </a:p>
        </p:txBody>
      </p:sp>
      <p:sp>
        <p:nvSpPr>
          <p:cNvPr id="53" name="Rounded Rectangle 52"/>
          <p:cNvSpPr/>
          <p:nvPr/>
        </p:nvSpPr>
        <p:spPr>
          <a:xfrm>
            <a:off x="5472684" y="5824728"/>
            <a:ext cx="1357884" cy="347472"/>
          </a:xfrm>
          <a:prstGeom prst="roundRect">
            <a:avLst>
              <a:gd name="adj" fmla="val 30000"/>
            </a:avLst>
          </a:prstGeom>
          <a:solidFill>
            <a:srgbClr val="5A6470"/>
          </a:solidFill>
          <a:ln>
            <a:noFill/>
          </a:ln>
          <a:effectLst/>
        </p:spPr>
        <p:txBody>
          <a:bodyPr rtlCol="0" anchor="ctr" wrap="square" lIns="27432" rIns="27432" tIns="0" bIns="0">
            <a:noAutofit/>
          </a:bodyPr>
          <a:lstStyle/>
          <a:p>
            <a:pPr algn="ctr">
              <a:spcBef>
                <a:spcPts val="0"/>
              </a:spcBef>
              <a:spcAft>
                <a:spcPts val="0"/>
              </a:spcAft>
            </a:pPr>
            <a:r>
              <a:rPr lang="tr-TR" sz="1400" b="1" i="0">
                <a:solidFill>
                  <a:srgbClr val="FFFFFF"/>
                </a:solidFill>
                <a:latin typeface="Calibri"/>
              </a:rPr>
              <a:t>Teknolojik</a:t>
            </a:r>
          </a:p>
        </p:txBody>
      </p:sp>
      <p:graphicFrame>
        <p:nvGraphicFramePr>
          <p:cNvPr id="54" name="Table 53"/>
          <p:cNvGraphicFramePr>
            <a:graphicFrameLocks noGrp="1"/>
          </p:cNvGraphicFramePr>
          <p:nvPr/>
        </p:nvGraphicFramePr>
        <p:xfrm>
          <a:off x="7132320" y="1216152"/>
          <a:ext cx="4556455" cy="3483864"/>
        </p:xfrm>
        <a:graphic>
          <a:graphicData uri="http://schemas.openxmlformats.org/drawingml/2006/table">
            <a:tbl>
              <a:tblPr firstRow="1" bandRow="1">
                <a:tableStyleId>{5C22544A-7EE6-4342-B048-85BDC9FD1C3A}</a:tableStyleId>
              </a:tblPr>
              <a:tblGrid>
                <a:gridCol w="685800"/>
                <a:gridCol w="3870655"/>
              </a:tblGrid>
              <a:tr h="411480">
                <a:tc>
                  <a:txBody>
                    <a:bodyPr wrap="square"/>
                    <a:lstStyle/>
                    <a:p>
                      <a:pPr algn="ctr">
                        <a:spcBef>
                          <a:spcPts val="0"/>
                        </a:spcBef>
                        <a:spcAft>
                          <a:spcPts val="0"/>
                        </a:spcAft>
                      </a:pPr>
                      <a:r>
                        <a:rPr lang="tr-TR" sz="1600" b="1" i="0">
                          <a:solidFill>
                            <a:srgbClr val="FFFFFF"/>
                          </a:solidFill>
                          <a:latin typeface="Calibri"/>
                        </a:rPr>
                        <a:t>Soru</a:t>
                      </a:r>
                    </a:p>
                  </a:txBody>
                  <a:tcPr marL="54864" marR="54864" marT="18288" marB="18288" anchor="ctr">
                    <a:solidFill>
                      <a:srgbClr val="2E7D32"/>
                    </a:solidFill>
                  </a:tcPr>
                </a:tc>
                <a:tc>
                  <a:txBody>
                    <a:bodyPr wrap="square"/>
                    <a:lstStyle/>
                    <a:p>
                      <a:pPr algn="ctr">
                        <a:spcBef>
                          <a:spcPts val="0"/>
                        </a:spcBef>
                        <a:spcAft>
                          <a:spcPts val="0"/>
                        </a:spcAft>
                      </a:pPr>
                      <a:r>
                        <a:rPr lang="tr-TR" sz="1600" b="1" i="0">
                          <a:solidFill>
                            <a:srgbClr val="FFFFFF"/>
                          </a:solidFill>
                          <a:latin typeface="Calibri"/>
                        </a:rPr>
                        <a:t>Kutu</a:t>
                      </a:r>
                    </a:p>
                  </a:txBody>
                  <a:tcPr marL="54864" marR="54864" marT="18288" marB="18288" anchor="ctr">
                    <a:solidFill>
                      <a:srgbClr val="2E7D32"/>
                    </a:solidFill>
                  </a:tcPr>
                </a:tc>
              </a:tr>
              <a:tr h="384048">
                <a:tc>
                  <a:txBody>
                    <a:bodyPr wrap="square"/>
                    <a:lstStyle/>
                    <a:p>
                      <a:pPr algn="ctr">
                        <a:spcBef>
                          <a:spcPts val="0"/>
                        </a:spcBef>
                        <a:spcAft>
                          <a:spcPts val="0"/>
                        </a:spcAft>
                      </a:pPr>
                      <a:r>
                        <a:rPr lang="tr-TR" sz="1700" b="0" i="0">
                          <a:solidFill>
                            <a:srgbClr val="262626"/>
                          </a:solidFill>
                          <a:latin typeface="Calibri"/>
                        </a:rPr>
                        <a:t>(1)</a:t>
                      </a:r>
                    </a:p>
                  </a:txBody>
                  <a:tcPr marL="54864" marR="54864" marT="18288" marB="18288" anchor="ctr">
                    <a:solidFill>
                      <a:srgbClr val="FFFFFF"/>
                    </a:solidFill>
                  </a:tcPr>
                </a:tc>
                <a:tc>
                  <a:txBody>
                    <a:bodyPr wrap="square"/>
                    <a:lstStyle/>
                    <a:p>
                      <a:pPr algn="l">
                        <a:spcBef>
                          <a:spcPts val="0"/>
                        </a:spcBef>
                        <a:spcAft>
                          <a:spcPts val="0"/>
                        </a:spcAft>
                      </a:pPr>
                      <a:r>
                        <a:rPr lang="tr-TR" sz="1700" b="0" i="0">
                          <a:solidFill>
                            <a:srgbClr val="262626"/>
                          </a:solidFill>
                          <a:latin typeface="Calibri"/>
                        </a:rPr>
                        <a:t>1, 2</a:t>
                      </a:r>
                    </a:p>
                  </a:txBody>
                  <a:tcPr marL="54864" marR="54864" marT="18288" marB="18288" anchor="ctr">
                    <a:solidFill>
                      <a:srgbClr val="FFFFFF"/>
                    </a:solidFill>
                  </a:tcPr>
                </a:tc>
              </a:tr>
              <a:tr h="384048">
                <a:tc>
                  <a:txBody>
                    <a:bodyPr wrap="square"/>
                    <a:lstStyle/>
                    <a:p>
                      <a:pPr algn="ctr">
                        <a:spcBef>
                          <a:spcPts val="0"/>
                        </a:spcBef>
                        <a:spcAft>
                          <a:spcPts val="0"/>
                        </a:spcAft>
                      </a:pPr>
                      <a:r>
                        <a:rPr lang="tr-TR" sz="1700" b="0" i="0">
                          <a:solidFill>
                            <a:srgbClr val="262626"/>
                          </a:solidFill>
                          <a:latin typeface="Calibri"/>
                        </a:rPr>
                        <a:t>(2)</a:t>
                      </a:r>
                    </a:p>
                  </a:txBody>
                  <a:tcPr marL="54864" marR="54864" marT="18288" marB="18288" anchor="ctr">
                    <a:solidFill>
                      <a:srgbClr val="E3F1E4"/>
                    </a:solidFill>
                  </a:tcPr>
                </a:tc>
                <a:tc>
                  <a:txBody>
                    <a:bodyPr wrap="square"/>
                    <a:lstStyle/>
                    <a:p>
                      <a:pPr algn="l">
                        <a:spcBef>
                          <a:spcPts val="0"/>
                        </a:spcBef>
                        <a:spcAft>
                          <a:spcPts val="0"/>
                        </a:spcAft>
                      </a:pPr>
                      <a:r>
                        <a:rPr lang="tr-TR" sz="1700" b="0" i="0">
                          <a:solidFill>
                            <a:srgbClr val="262626"/>
                          </a:solidFill>
                          <a:latin typeface="Calibri"/>
                        </a:rPr>
                        <a:t>3, 4</a:t>
                      </a:r>
                    </a:p>
                  </a:txBody>
                  <a:tcPr marL="54864" marR="54864" marT="18288" marB="18288" anchor="ctr">
                    <a:solidFill>
                      <a:srgbClr val="E3F1E4"/>
                    </a:solidFill>
                  </a:tcPr>
                </a:tc>
              </a:tr>
              <a:tr h="384048">
                <a:tc>
                  <a:txBody>
                    <a:bodyPr wrap="square"/>
                    <a:lstStyle/>
                    <a:p>
                      <a:pPr algn="ctr">
                        <a:spcBef>
                          <a:spcPts val="0"/>
                        </a:spcBef>
                        <a:spcAft>
                          <a:spcPts val="0"/>
                        </a:spcAft>
                      </a:pPr>
                      <a:r>
                        <a:rPr lang="tr-TR" sz="1700" b="0" i="0">
                          <a:solidFill>
                            <a:srgbClr val="262626"/>
                          </a:solidFill>
                          <a:latin typeface="Calibri"/>
                        </a:rPr>
                        <a:t>(3)</a:t>
                      </a:r>
                    </a:p>
                  </a:txBody>
                  <a:tcPr marL="54864" marR="54864" marT="18288" marB="18288" anchor="ctr">
                    <a:solidFill>
                      <a:srgbClr val="FFFFFF"/>
                    </a:solidFill>
                  </a:tcPr>
                </a:tc>
                <a:tc>
                  <a:txBody>
                    <a:bodyPr wrap="square"/>
                    <a:lstStyle/>
                    <a:p>
                      <a:pPr algn="l">
                        <a:spcBef>
                          <a:spcPts val="0"/>
                        </a:spcBef>
                        <a:spcAft>
                          <a:spcPts val="0"/>
                        </a:spcAft>
                      </a:pPr>
                      <a:r>
                        <a:rPr lang="tr-TR" sz="1700" b="0" i="0">
                          <a:solidFill>
                            <a:srgbClr val="262626"/>
                          </a:solidFill>
                          <a:latin typeface="Calibri"/>
                        </a:rPr>
                        <a:t>5, 6</a:t>
                      </a:r>
                    </a:p>
                  </a:txBody>
                  <a:tcPr marL="54864" marR="54864" marT="18288" marB="18288" anchor="ctr">
                    <a:solidFill>
                      <a:srgbClr val="FFFFFF"/>
                    </a:solidFill>
                  </a:tcPr>
                </a:tc>
              </a:tr>
              <a:tr h="384048">
                <a:tc>
                  <a:txBody>
                    <a:bodyPr wrap="square"/>
                    <a:lstStyle/>
                    <a:p>
                      <a:pPr algn="ctr">
                        <a:spcBef>
                          <a:spcPts val="0"/>
                        </a:spcBef>
                        <a:spcAft>
                          <a:spcPts val="0"/>
                        </a:spcAft>
                      </a:pPr>
                      <a:r>
                        <a:rPr lang="tr-TR" sz="1700" b="0" i="0">
                          <a:solidFill>
                            <a:srgbClr val="262626"/>
                          </a:solidFill>
                          <a:latin typeface="Calibri"/>
                        </a:rPr>
                        <a:t>(4)</a:t>
                      </a:r>
                    </a:p>
                  </a:txBody>
                  <a:tcPr marL="54864" marR="54864" marT="18288" marB="18288" anchor="ctr">
                    <a:solidFill>
                      <a:srgbClr val="E3F1E4"/>
                    </a:solidFill>
                  </a:tcPr>
                </a:tc>
                <a:tc>
                  <a:txBody>
                    <a:bodyPr wrap="square"/>
                    <a:lstStyle/>
                    <a:p>
                      <a:pPr algn="l">
                        <a:spcBef>
                          <a:spcPts val="0"/>
                        </a:spcBef>
                        <a:spcAft>
                          <a:spcPts val="0"/>
                        </a:spcAft>
                      </a:pPr>
                      <a:r>
                        <a:rPr lang="tr-TR" sz="1700" b="0" i="0">
                          <a:solidFill>
                            <a:srgbClr val="262626"/>
                          </a:solidFill>
                          <a:latin typeface="Calibri"/>
                        </a:rPr>
                        <a:t>7, 8, 9</a:t>
                      </a:r>
                    </a:p>
                  </a:txBody>
                  <a:tcPr marL="54864" marR="54864" marT="18288" marB="18288" anchor="ctr">
                    <a:solidFill>
                      <a:srgbClr val="E3F1E4"/>
                    </a:solidFill>
                  </a:tcPr>
                </a:tc>
              </a:tr>
              <a:tr h="384048">
                <a:tc>
                  <a:txBody>
                    <a:bodyPr wrap="square"/>
                    <a:lstStyle/>
                    <a:p>
                      <a:pPr algn="ctr">
                        <a:spcBef>
                          <a:spcPts val="0"/>
                        </a:spcBef>
                        <a:spcAft>
                          <a:spcPts val="0"/>
                        </a:spcAft>
                      </a:pPr>
                      <a:r>
                        <a:rPr lang="tr-TR" sz="1700" b="0" i="0">
                          <a:solidFill>
                            <a:srgbClr val="262626"/>
                          </a:solidFill>
                          <a:latin typeface="Calibri"/>
                        </a:rPr>
                        <a:t>(5)</a:t>
                      </a:r>
                    </a:p>
                  </a:txBody>
                  <a:tcPr marL="54864" marR="54864" marT="18288" marB="18288" anchor="ctr">
                    <a:solidFill>
                      <a:srgbClr val="FFFFFF"/>
                    </a:solidFill>
                  </a:tcPr>
                </a:tc>
                <a:tc>
                  <a:txBody>
                    <a:bodyPr wrap="square"/>
                    <a:lstStyle/>
                    <a:p>
                      <a:pPr algn="l">
                        <a:spcBef>
                          <a:spcPts val="0"/>
                        </a:spcBef>
                        <a:spcAft>
                          <a:spcPts val="0"/>
                        </a:spcAft>
                      </a:pPr>
                      <a:r>
                        <a:rPr lang="tr-TR" sz="1700" b="0" i="0">
                          <a:solidFill>
                            <a:srgbClr val="262626"/>
                          </a:solidFill>
                          <a:latin typeface="Calibri"/>
                        </a:rPr>
                        <a:t>10, 11, 12</a:t>
                      </a:r>
                    </a:p>
                  </a:txBody>
                  <a:tcPr marL="54864" marR="54864" marT="18288" marB="18288" anchor="ctr">
                    <a:solidFill>
                      <a:srgbClr val="FFFFFF"/>
                    </a:solidFill>
                  </a:tcPr>
                </a:tc>
              </a:tr>
              <a:tr h="384048">
                <a:tc>
                  <a:txBody>
                    <a:bodyPr wrap="square"/>
                    <a:lstStyle/>
                    <a:p>
                      <a:pPr algn="ctr">
                        <a:spcBef>
                          <a:spcPts val="0"/>
                        </a:spcBef>
                        <a:spcAft>
                          <a:spcPts val="0"/>
                        </a:spcAft>
                      </a:pPr>
                      <a:r>
                        <a:rPr lang="tr-TR" sz="1700" b="0" i="0">
                          <a:solidFill>
                            <a:srgbClr val="262626"/>
                          </a:solidFill>
                          <a:latin typeface="Calibri"/>
                        </a:rPr>
                        <a:t>(6)</a:t>
                      </a:r>
                    </a:p>
                  </a:txBody>
                  <a:tcPr marL="54864" marR="54864" marT="18288" marB="18288" anchor="ctr">
                    <a:solidFill>
                      <a:srgbClr val="E3F1E4"/>
                    </a:solidFill>
                  </a:tcPr>
                </a:tc>
                <a:tc>
                  <a:txBody>
                    <a:bodyPr wrap="square"/>
                    <a:lstStyle/>
                    <a:p>
                      <a:pPr algn="l">
                        <a:spcBef>
                          <a:spcPts val="0"/>
                        </a:spcBef>
                        <a:spcAft>
                          <a:spcPts val="0"/>
                        </a:spcAft>
                      </a:pPr>
                      <a:r>
                        <a:rPr lang="tr-TR" sz="1700" b="0" i="0">
                          <a:solidFill>
                            <a:srgbClr val="262626"/>
                          </a:solidFill>
                          <a:latin typeface="Calibri"/>
                        </a:rPr>
                        <a:t>1-6</a:t>
                      </a:r>
                    </a:p>
                  </a:txBody>
                  <a:tcPr marL="54864" marR="54864" marT="18288" marB="18288" anchor="ctr">
                    <a:solidFill>
                      <a:srgbClr val="E3F1E4"/>
                    </a:solidFill>
                  </a:tcPr>
                </a:tc>
              </a:tr>
              <a:tr h="384048">
                <a:tc>
                  <a:txBody>
                    <a:bodyPr wrap="square"/>
                    <a:lstStyle/>
                    <a:p>
                      <a:pPr algn="ctr">
                        <a:spcBef>
                          <a:spcPts val="0"/>
                        </a:spcBef>
                        <a:spcAft>
                          <a:spcPts val="0"/>
                        </a:spcAft>
                      </a:pPr>
                      <a:r>
                        <a:rPr lang="tr-TR" sz="1700" b="0" i="0">
                          <a:solidFill>
                            <a:srgbClr val="262626"/>
                          </a:solidFill>
                          <a:latin typeface="Calibri"/>
                        </a:rPr>
                        <a:t>(7)</a:t>
                      </a:r>
                    </a:p>
                  </a:txBody>
                  <a:tcPr marL="54864" marR="54864" marT="18288" marB="18288" anchor="ctr">
                    <a:solidFill>
                      <a:srgbClr val="FFFFFF"/>
                    </a:solidFill>
                  </a:tcPr>
                </a:tc>
                <a:tc>
                  <a:txBody>
                    <a:bodyPr wrap="square"/>
                    <a:lstStyle/>
                    <a:p>
                      <a:pPr algn="l">
                        <a:spcBef>
                          <a:spcPts val="0"/>
                        </a:spcBef>
                        <a:spcAft>
                          <a:spcPts val="0"/>
                        </a:spcAft>
                      </a:pPr>
                      <a:r>
                        <a:rPr lang="tr-TR" sz="1700" b="0" i="0">
                          <a:solidFill>
                            <a:srgbClr val="262626"/>
                          </a:solidFill>
                          <a:latin typeface="Calibri"/>
                        </a:rPr>
                        <a:t>1, 6</a:t>
                      </a:r>
                    </a:p>
                  </a:txBody>
                  <a:tcPr marL="54864" marR="54864" marT="18288" marB="18288" anchor="ctr">
                    <a:solidFill>
                      <a:srgbClr val="FFFFFF"/>
                    </a:solidFill>
                  </a:tcPr>
                </a:tc>
              </a:tr>
              <a:tr h="384048">
                <a:tc>
                  <a:txBody>
                    <a:bodyPr wrap="square"/>
                    <a:lstStyle/>
                    <a:p>
                      <a:pPr algn="ctr">
                        <a:spcBef>
                          <a:spcPts val="0"/>
                        </a:spcBef>
                        <a:spcAft>
                          <a:spcPts val="0"/>
                        </a:spcAft>
                      </a:pPr>
                      <a:r>
                        <a:rPr lang="tr-TR" sz="1700" b="0" i="0">
                          <a:solidFill>
                            <a:srgbClr val="262626"/>
                          </a:solidFill>
                          <a:latin typeface="Calibri"/>
                        </a:rPr>
                        <a:t>(8)</a:t>
                      </a:r>
                    </a:p>
                  </a:txBody>
                  <a:tcPr marL="54864" marR="54864" marT="18288" marB="18288" anchor="ctr">
                    <a:solidFill>
                      <a:srgbClr val="E3F1E4"/>
                    </a:solidFill>
                  </a:tcPr>
                </a:tc>
                <a:tc>
                  <a:txBody>
                    <a:bodyPr wrap="square"/>
                    <a:lstStyle/>
                    <a:p>
                      <a:pPr algn="l">
                        <a:spcBef>
                          <a:spcPts val="0"/>
                        </a:spcBef>
                        <a:spcAft>
                          <a:spcPts val="0"/>
                        </a:spcAft>
                      </a:pPr>
                      <a:r>
                        <a:rPr lang="tr-TR" sz="1700" b="0" i="0">
                          <a:solidFill>
                            <a:srgbClr val="262626"/>
                          </a:solidFill>
                          <a:latin typeface="Calibri"/>
                        </a:rPr>
                        <a:t>4</a:t>
                      </a:r>
                    </a:p>
                  </a:txBody>
                  <a:tcPr marL="54864" marR="54864" marT="18288" marB="18288" anchor="ctr">
                    <a:solidFill>
                      <a:srgbClr val="E3F1E4"/>
                    </a:solidFill>
                  </a:tcPr>
                </a:tc>
              </a:tr>
            </a:tbl>
          </a:graphicData>
        </a:graphic>
      </p:graphicFrame>
      <p:sp>
        <p:nvSpPr>
          <p:cNvPr id="55" name="Rounded Rectangle 54"/>
          <p:cNvSpPr/>
          <p:nvPr/>
        </p:nvSpPr>
        <p:spPr>
          <a:xfrm>
            <a:off x="7132320" y="4837176"/>
            <a:ext cx="4556455" cy="1453896"/>
          </a:xfrm>
          <a:prstGeom prst="roundRect">
            <a:avLst>
              <a:gd name="adj" fmla="val 8000"/>
            </a:avLst>
          </a:prstGeom>
          <a:solidFill>
            <a:srgbClr val="FFF3D1"/>
          </a:solidFill>
          <a:ln>
            <a:noFill/>
          </a:ln>
          <a:effectLst/>
        </p:spPr>
        <p:txBody>
          <a:bodyPr rtlCol="0" anchor="ctr" wrap="square" lIns="128016" rIns="128016" tIns="73152" bIns="73152">
            <a:noAutofit/>
          </a:bodyPr>
          <a:lstStyle/>
          <a:p>
            <a:pPr algn="l" marL="186465" indent="-186465">
              <a:spcBef>
                <a:spcPts val="0"/>
              </a:spcBef>
              <a:spcAft>
                <a:spcPts val="400"/>
              </a:spcAft>
            </a:pPr>
            <a:r>
              <a:rPr lang="tr-TR" sz="1500" b="1" i="0">
                <a:solidFill>
                  <a:srgbClr val="2E7D32"/>
                </a:solidFill>
                <a:latin typeface="Calibri"/>
              </a:rPr>
              <a:t>•  </a:t>
            </a:r>
            <a:r>
              <a:rPr lang="tr-TR" sz="1500" b="0" i="0">
                <a:solidFill>
                  <a:srgbClr val="262626"/>
                </a:solidFill>
                <a:latin typeface="Calibri"/>
              </a:rPr>
              <a:t>(6) Kaynak: yer kabuğu, atmosfer, canlılar</a:t>
            </a:r>
          </a:p>
          <a:p>
            <a:pPr algn="l" marL="186465" indent="-186465">
              <a:spcBef>
                <a:spcPts val="0"/>
              </a:spcBef>
              <a:spcAft>
                <a:spcPts val="400"/>
              </a:spcAft>
            </a:pPr>
            <a:r>
              <a:rPr lang="tr-TR" sz="1500" b="1" i="0">
                <a:solidFill>
                  <a:srgbClr val="2E7D32"/>
                </a:solidFill>
                <a:latin typeface="Calibri"/>
              </a:rPr>
              <a:t>•  </a:t>
            </a:r>
            <a:r>
              <a:rPr lang="tr-TR" sz="1500" b="0" i="0">
                <a:solidFill>
                  <a:srgbClr val="262626"/>
                </a:solidFill>
                <a:latin typeface="Calibri"/>
              </a:rPr>
              <a:t>(7) Salgın 102.174; depremler 72.408</a:t>
            </a:r>
          </a:p>
          <a:p>
            <a:pPr algn="l" marL="186465" indent="-186465">
              <a:spcBef>
                <a:spcPts val="0"/>
              </a:spcBef>
              <a:spcAft>
                <a:spcPts val="0"/>
              </a:spcAft>
            </a:pPr>
            <a:r>
              <a:rPr lang="tr-TR" sz="1500" b="1" i="0">
                <a:solidFill>
                  <a:srgbClr val="2E7D32"/>
                </a:solidFill>
                <a:latin typeface="Calibri"/>
              </a:rPr>
              <a:t>•  </a:t>
            </a:r>
            <a:r>
              <a:rPr lang="tr-TR" sz="1500" b="0" i="0">
                <a:solidFill>
                  <a:srgbClr val="262626"/>
                </a:solidFill>
                <a:latin typeface="Calibri"/>
              </a:rPr>
              <a:t>(8) Sel: 1.650 milyon kişi</a:t>
            </a:r>
          </a:p>
        </p:txBody>
      </p:sp>
      <p:sp>
        <p:nvSpPr>
          <p:cNvPr id="56" name="TextBox 5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57" name="Rounded Rectangle 56"/>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196, 211</a:t>
            </a:r>
          </a:p>
        </p:txBody>
      </p:sp>
      <p:sp>
        <p:nvSpPr>
          <p:cNvPr id="58" name="TextBox 5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116 / 250</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Aynı afet herkesi aynı etkiler mi?</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ENGELLİLER HAFTASI</a:t>
            </a:r>
          </a:p>
        </p:txBody>
      </p:sp>
      <p:sp>
        <p:nvSpPr>
          <p:cNvPr id="6" name="Rounded Rectangle 5"/>
          <p:cNvSpPr/>
          <p:nvPr/>
        </p:nvSpPr>
        <p:spPr>
          <a:xfrm>
            <a:off x="502920" y="1536192"/>
            <a:ext cx="11185855" cy="2011680"/>
          </a:xfrm>
          <a:prstGeom prst="roundRect">
            <a:avLst>
              <a:gd name="adj" fmla="val 8000"/>
            </a:avLst>
          </a:prstGeom>
          <a:solidFill>
            <a:srgbClr val="FFF3D1"/>
          </a:solidFill>
          <a:ln>
            <a:noFill/>
          </a:ln>
          <a:effectLst/>
        </p:spPr>
        <p:txBody>
          <a:bodyPr rtlCol="0" anchor="ctr" wrap="square" lIns="128016" rIns="128016" tIns="73152" bIns="73152">
            <a:noAutofit/>
          </a:bodyPr>
          <a:lstStyle/>
          <a:p>
            <a:pPr algn="ctr">
              <a:spcBef>
                <a:spcPts val="0"/>
              </a:spcBef>
              <a:spcAft>
                <a:spcPts val="0"/>
              </a:spcAft>
            </a:pPr>
            <a:r>
              <a:rPr lang="tr-TR" sz="3600" b="1" i="0">
                <a:solidFill>
                  <a:srgbClr val="262626"/>
                </a:solidFill>
                <a:latin typeface="Calibri"/>
              </a:rPr>
              <a:t>Aynı afet herkesi aynı etkiler mi?</a:t>
            </a:r>
          </a:p>
        </p:txBody>
      </p:sp>
      <p:sp>
        <p:nvSpPr>
          <p:cNvPr id="7" name="Rounded Rectangle 6"/>
          <p:cNvSpPr/>
          <p:nvPr/>
        </p:nvSpPr>
        <p:spPr>
          <a:xfrm>
            <a:off x="502920" y="3822192"/>
            <a:ext cx="5492343" cy="2423160"/>
          </a:xfrm>
          <a:prstGeom prst="roundRect">
            <a:avLst>
              <a:gd name="adj" fmla="val 5000"/>
            </a:avLst>
          </a:prstGeom>
          <a:solidFill>
            <a:srgbClr val="F0F0F0"/>
          </a:solidFill>
          <a:ln>
            <a:noFill/>
          </a:ln>
          <a:effectLst/>
        </p:spPr>
        <p:txBody>
          <a:bodyPr rtlCol="0" anchor="ctr"/>
          <a:lstStyle/>
          <a:p/>
        </p:txBody>
      </p:sp>
      <p:sp>
        <p:nvSpPr>
          <p:cNvPr id="8" name="Rounded Rectangle 7"/>
          <p:cNvSpPr/>
          <p:nvPr/>
        </p:nvSpPr>
        <p:spPr>
          <a:xfrm>
            <a:off x="502920" y="3822192"/>
            <a:ext cx="5492343" cy="530352"/>
          </a:xfrm>
          <a:prstGeom prst="roundRect">
            <a:avLst>
              <a:gd name="adj" fmla="val 25000"/>
            </a:avLst>
          </a:prstGeom>
          <a:solidFill>
            <a:srgbClr val="6A4C93"/>
          </a:solidFill>
          <a:ln>
            <a:noFill/>
          </a:ln>
          <a:effectLst/>
        </p:spPr>
        <p:txBody>
          <a:bodyPr rtlCol="0" anchor="ctr"/>
          <a:lstStyle/>
          <a:p/>
        </p:txBody>
      </p:sp>
      <p:sp>
        <p:nvSpPr>
          <p:cNvPr id="9" name="Rectangle 8"/>
          <p:cNvSpPr/>
          <p:nvPr/>
        </p:nvSpPr>
        <p:spPr>
          <a:xfrm>
            <a:off x="502920" y="4087368"/>
            <a:ext cx="5492343" cy="265176"/>
          </a:xfrm>
          <a:prstGeom prst="rect">
            <a:avLst/>
          </a:prstGeom>
          <a:solidFill>
            <a:srgbClr val="6A4C93"/>
          </a:solidFill>
          <a:ln>
            <a:noFill/>
          </a:ln>
          <a:effectLst/>
        </p:spPr>
        <p:txBody>
          <a:bodyPr rtlCol="0" anchor="ctr"/>
          <a:lstStyle/>
          <a:p/>
        </p:txBody>
      </p:sp>
      <p:sp>
        <p:nvSpPr>
          <p:cNvPr id="10" name="TextBox 9"/>
          <p:cNvSpPr txBox="1"/>
          <p:nvPr/>
        </p:nvSpPr>
        <p:spPr>
          <a:xfrm>
            <a:off x="594360" y="3822192"/>
            <a:ext cx="5309463" cy="530352"/>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Düşün</a:t>
            </a:r>
          </a:p>
        </p:txBody>
      </p:sp>
      <p:sp>
        <p:nvSpPr>
          <p:cNvPr id="11" name="TextBox 10"/>
          <p:cNvSpPr txBox="1"/>
          <p:nvPr/>
        </p:nvSpPr>
        <p:spPr>
          <a:xfrm>
            <a:off x="612648" y="4425696"/>
            <a:ext cx="5272887" cy="1746504"/>
          </a:xfrm>
          <a:prstGeom prst="rect">
            <a:avLst/>
          </a:prstGeom>
          <a:noFill/>
        </p:spPr>
        <p:txBody>
          <a:bodyPr wrap="square" anchor="t" lIns="73152" rIns="73152" tIns="36576" bIns="36576">
            <a:noAutofit/>
          </a:bodyPr>
          <a:lstStyle/>
          <a:p>
            <a:pPr algn="l">
              <a:spcBef>
                <a:spcPts val="0"/>
              </a:spcBef>
              <a:spcAft>
                <a:spcPts val="0"/>
              </a:spcAft>
            </a:pPr>
            <a:r>
              <a:rPr lang="tr-TR" sz="2200" b="0" i="0">
                <a:solidFill>
                  <a:srgbClr val="262626"/>
                </a:solidFill>
                <a:latin typeface="Calibri"/>
              </a:rPr>
              <a:t>Kimler daha çok etkilenir?</a:t>
            </a:r>
          </a:p>
        </p:txBody>
      </p:sp>
      <p:sp>
        <p:nvSpPr>
          <p:cNvPr id="12" name="Rounded Rectangle 11"/>
          <p:cNvSpPr/>
          <p:nvPr/>
        </p:nvSpPr>
        <p:spPr>
          <a:xfrm>
            <a:off x="6196431" y="3822192"/>
            <a:ext cx="5492343" cy="2423160"/>
          </a:xfrm>
          <a:prstGeom prst="roundRect">
            <a:avLst>
              <a:gd name="adj" fmla="val 5000"/>
            </a:avLst>
          </a:prstGeom>
          <a:solidFill>
            <a:srgbClr val="F0F0F0"/>
          </a:solidFill>
          <a:ln>
            <a:noFill/>
          </a:ln>
          <a:effectLst/>
        </p:spPr>
        <p:txBody>
          <a:bodyPr rtlCol="0" anchor="ctr"/>
          <a:lstStyle/>
          <a:p/>
        </p:txBody>
      </p:sp>
      <p:sp>
        <p:nvSpPr>
          <p:cNvPr id="13" name="Rounded Rectangle 12"/>
          <p:cNvSpPr/>
          <p:nvPr/>
        </p:nvSpPr>
        <p:spPr>
          <a:xfrm>
            <a:off x="6196431" y="3822192"/>
            <a:ext cx="5492343" cy="530352"/>
          </a:xfrm>
          <a:prstGeom prst="roundRect">
            <a:avLst>
              <a:gd name="adj" fmla="val 25000"/>
            </a:avLst>
          </a:prstGeom>
          <a:solidFill>
            <a:srgbClr val="4F4F4F"/>
          </a:solidFill>
          <a:ln>
            <a:noFill/>
          </a:ln>
          <a:effectLst/>
        </p:spPr>
        <p:txBody>
          <a:bodyPr rtlCol="0" anchor="ctr"/>
          <a:lstStyle/>
          <a:p/>
        </p:txBody>
      </p:sp>
      <p:sp>
        <p:nvSpPr>
          <p:cNvPr id="14" name="Rectangle 13"/>
          <p:cNvSpPr/>
          <p:nvPr/>
        </p:nvSpPr>
        <p:spPr>
          <a:xfrm>
            <a:off x="6196431" y="4087368"/>
            <a:ext cx="5492343" cy="265176"/>
          </a:xfrm>
          <a:prstGeom prst="rect">
            <a:avLst/>
          </a:prstGeom>
          <a:solidFill>
            <a:srgbClr val="4F4F4F"/>
          </a:solidFill>
          <a:ln>
            <a:noFill/>
          </a:ln>
          <a:effectLst/>
        </p:spPr>
        <p:txBody>
          <a:bodyPr rtlCol="0" anchor="ctr"/>
          <a:lstStyle/>
          <a:p/>
        </p:txBody>
      </p:sp>
      <p:sp>
        <p:nvSpPr>
          <p:cNvPr id="15" name="TextBox 14"/>
          <p:cNvSpPr txBox="1"/>
          <p:nvPr/>
        </p:nvSpPr>
        <p:spPr>
          <a:xfrm>
            <a:off x="6287871" y="3822192"/>
            <a:ext cx="5309463" cy="530352"/>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33. hafta</a:t>
            </a:r>
          </a:p>
        </p:txBody>
      </p:sp>
      <p:sp>
        <p:nvSpPr>
          <p:cNvPr id="16" name="TextBox 15"/>
          <p:cNvSpPr txBox="1"/>
          <p:nvPr/>
        </p:nvSpPr>
        <p:spPr>
          <a:xfrm>
            <a:off x="6306159" y="4425696"/>
            <a:ext cx="5272887" cy="1746504"/>
          </a:xfrm>
          <a:prstGeom prst="rect">
            <a:avLst/>
          </a:prstGeom>
          <a:noFill/>
        </p:spPr>
        <p:txBody>
          <a:bodyPr wrap="square" anchor="t" lIns="73152" rIns="73152" tIns="36576" bIns="36576">
            <a:noAutofit/>
          </a:bodyPr>
          <a:lstStyle/>
          <a:p>
            <a:pPr algn="l">
              <a:spcBef>
                <a:spcPts val="0"/>
              </a:spcBef>
              <a:spcAft>
                <a:spcPts val="0"/>
              </a:spcAft>
            </a:pPr>
            <a:r>
              <a:rPr lang="tr-TR" sz="2200" b="0" i="0">
                <a:solidFill>
                  <a:srgbClr val="262626"/>
                </a:solidFill>
                <a:latin typeface="Calibri"/>
              </a:rPr>
              <a:t>Afetler ve savunmasız gruplar (s. 203)</a:t>
            </a:r>
          </a:p>
        </p:txBody>
      </p:sp>
      <p:sp>
        <p:nvSpPr>
          <p:cNvPr id="17" name="TextBox 1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18" name="Rounded Rectangle 1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203</a:t>
            </a:r>
          </a:p>
        </p:txBody>
      </p:sp>
      <p:sp>
        <p:nvSpPr>
          <p:cNvPr id="19" name="TextBox 1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117 / 250</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Çıkış Kartı</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31. HAFTA</a:t>
            </a:r>
          </a:p>
        </p:txBody>
      </p:sp>
      <p:sp>
        <p:nvSpPr>
          <p:cNvPr id="6" name="TextBox 5"/>
          <p:cNvSpPr txBox="1"/>
          <p:nvPr/>
        </p:nvSpPr>
        <p:spPr>
          <a:xfrm>
            <a:off x="502920" y="1170432"/>
            <a:ext cx="11185855" cy="502920"/>
          </a:xfrm>
          <a:prstGeom prst="rect">
            <a:avLst/>
          </a:prstGeom>
          <a:noFill/>
        </p:spPr>
        <p:txBody>
          <a:bodyPr wrap="square" anchor="t" lIns="73152" rIns="73152" tIns="36576" bIns="36576">
            <a:noAutofit/>
          </a:bodyPr>
          <a:lstStyle/>
          <a:p>
            <a:pPr algn="l">
              <a:spcBef>
                <a:spcPts val="0"/>
              </a:spcBef>
              <a:spcAft>
                <a:spcPts val="0"/>
              </a:spcAft>
            </a:pPr>
            <a:r>
              <a:rPr lang="tr-TR" sz="2200" b="0" i="0">
                <a:solidFill>
                  <a:srgbClr val="767676"/>
                </a:solidFill>
                <a:latin typeface="Calibri"/>
              </a:rPr>
              <a:t>Çıkmadan önce kâğıdına yaz:</a:t>
            </a:r>
          </a:p>
        </p:txBody>
      </p:sp>
      <p:sp>
        <p:nvSpPr>
          <p:cNvPr id="7" name="Rounded Rectangle 6"/>
          <p:cNvSpPr/>
          <p:nvPr/>
        </p:nvSpPr>
        <p:spPr>
          <a:xfrm>
            <a:off x="502920" y="1764792"/>
            <a:ext cx="11185855" cy="1399032"/>
          </a:xfrm>
          <a:prstGeom prst="roundRect">
            <a:avLst>
              <a:gd name="adj" fmla="val 10000"/>
            </a:avLst>
          </a:prstGeom>
          <a:solidFill>
            <a:srgbClr val="F0F0F0"/>
          </a:solidFill>
          <a:ln>
            <a:noFill/>
          </a:ln>
          <a:effectLst/>
        </p:spPr>
        <p:txBody>
          <a:bodyPr rtlCol="0" anchor="ctr"/>
          <a:lstStyle/>
          <a:p/>
        </p:txBody>
      </p:sp>
      <p:sp>
        <p:nvSpPr>
          <p:cNvPr id="8" name="Oval 7"/>
          <p:cNvSpPr/>
          <p:nvPr/>
        </p:nvSpPr>
        <p:spPr>
          <a:xfrm>
            <a:off x="667512" y="2144268"/>
            <a:ext cx="640080" cy="64008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2600" b="1" i="0">
                <a:solidFill>
                  <a:srgbClr val="262626"/>
                </a:solidFill>
                <a:latin typeface="Calibri"/>
              </a:rPr>
              <a:t>1</a:t>
            </a:r>
          </a:p>
        </p:txBody>
      </p:sp>
      <p:sp>
        <p:nvSpPr>
          <p:cNvPr id="9" name="TextBox 8"/>
          <p:cNvSpPr txBox="1"/>
          <p:nvPr/>
        </p:nvSpPr>
        <p:spPr>
          <a:xfrm>
            <a:off x="1508760" y="1764792"/>
            <a:ext cx="9997135" cy="1399032"/>
          </a:xfrm>
          <a:prstGeom prst="rect">
            <a:avLst/>
          </a:prstGeom>
          <a:noFill/>
        </p:spPr>
        <p:txBody>
          <a:bodyPr wrap="square" anchor="ctr" lIns="73152" rIns="73152" tIns="36576" bIns="36576">
            <a:noAutofit/>
          </a:bodyPr>
          <a:lstStyle/>
          <a:p>
            <a:pPr algn="l">
              <a:spcBef>
                <a:spcPts val="0"/>
              </a:spcBef>
              <a:spcAft>
                <a:spcPts val="0"/>
              </a:spcAft>
            </a:pPr>
            <a:r>
              <a:rPr lang="tr-TR" sz="2600" b="0" i="0">
                <a:solidFill>
                  <a:srgbClr val="262626"/>
                </a:solidFill>
                <a:latin typeface="Calibri"/>
              </a:rPr>
              <a:t>Doğa kaynaklı afetlerin üç türünü birer örnekle yazınız.</a:t>
            </a:r>
          </a:p>
        </p:txBody>
      </p:sp>
      <p:sp>
        <p:nvSpPr>
          <p:cNvPr id="10" name="Rounded Rectangle 9"/>
          <p:cNvSpPr/>
          <p:nvPr/>
        </p:nvSpPr>
        <p:spPr>
          <a:xfrm>
            <a:off x="502920" y="3328416"/>
            <a:ext cx="11185855" cy="1399032"/>
          </a:xfrm>
          <a:prstGeom prst="roundRect">
            <a:avLst>
              <a:gd name="adj" fmla="val 10000"/>
            </a:avLst>
          </a:prstGeom>
          <a:solidFill>
            <a:srgbClr val="F0F0F0"/>
          </a:solidFill>
          <a:ln>
            <a:noFill/>
          </a:ln>
          <a:effectLst/>
        </p:spPr>
        <p:txBody>
          <a:bodyPr rtlCol="0" anchor="ctr"/>
          <a:lstStyle/>
          <a:p/>
        </p:txBody>
      </p:sp>
      <p:sp>
        <p:nvSpPr>
          <p:cNvPr id="11" name="Oval 10"/>
          <p:cNvSpPr/>
          <p:nvPr/>
        </p:nvSpPr>
        <p:spPr>
          <a:xfrm>
            <a:off x="667512" y="3707892"/>
            <a:ext cx="640080" cy="64008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2600" b="1" i="0">
                <a:solidFill>
                  <a:srgbClr val="262626"/>
                </a:solidFill>
                <a:latin typeface="Calibri"/>
              </a:rPr>
              <a:t>2</a:t>
            </a:r>
          </a:p>
        </p:txBody>
      </p:sp>
      <p:sp>
        <p:nvSpPr>
          <p:cNvPr id="12" name="TextBox 11"/>
          <p:cNvSpPr txBox="1"/>
          <p:nvPr/>
        </p:nvSpPr>
        <p:spPr>
          <a:xfrm>
            <a:off x="1508760" y="3328416"/>
            <a:ext cx="9997135" cy="1399032"/>
          </a:xfrm>
          <a:prstGeom prst="rect">
            <a:avLst/>
          </a:prstGeom>
          <a:noFill/>
        </p:spPr>
        <p:txBody>
          <a:bodyPr wrap="square" anchor="ctr" lIns="73152" rIns="73152" tIns="36576" bIns="36576">
            <a:noAutofit/>
          </a:bodyPr>
          <a:lstStyle/>
          <a:p>
            <a:pPr algn="l">
              <a:spcBef>
                <a:spcPts val="0"/>
              </a:spcBef>
              <a:spcAft>
                <a:spcPts val="0"/>
              </a:spcAft>
            </a:pPr>
            <a:r>
              <a:rPr lang="tr-TR" sz="2600" b="0" i="0">
                <a:solidFill>
                  <a:srgbClr val="262626"/>
                </a:solidFill>
                <a:latin typeface="Calibri"/>
              </a:rPr>
              <a:t>İnsan kaynaklı afetlerin iki türünü birer örnekle yazınız.</a:t>
            </a:r>
          </a:p>
        </p:txBody>
      </p:sp>
      <p:sp>
        <p:nvSpPr>
          <p:cNvPr id="13" name="Rounded Rectangle 12"/>
          <p:cNvSpPr/>
          <p:nvPr/>
        </p:nvSpPr>
        <p:spPr>
          <a:xfrm>
            <a:off x="502920" y="4892040"/>
            <a:ext cx="11185855" cy="1399032"/>
          </a:xfrm>
          <a:prstGeom prst="roundRect">
            <a:avLst>
              <a:gd name="adj" fmla="val 10000"/>
            </a:avLst>
          </a:prstGeom>
          <a:solidFill>
            <a:srgbClr val="F0F0F0"/>
          </a:solidFill>
          <a:ln>
            <a:noFill/>
          </a:ln>
          <a:effectLst/>
        </p:spPr>
        <p:txBody>
          <a:bodyPr rtlCol="0" anchor="ctr"/>
          <a:lstStyle/>
          <a:p/>
        </p:txBody>
      </p:sp>
      <p:sp>
        <p:nvSpPr>
          <p:cNvPr id="14" name="Oval 13"/>
          <p:cNvSpPr/>
          <p:nvPr/>
        </p:nvSpPr>
        <p:spPr>
          <a:xfrm>
            <a:off x="667512" y="5271516"/>
            <a:ext cx="640080" cy="64008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2600" b="1" i="0">
                <a:solidFill>
                  <a:srgbClr val="262626"/>
                </a:solidFill>
                <a:latin typeface="Calibri"/>
              </a:rPr>
              <a:t>3</a:t>
            </a:r>
          </a:p>
        </p:txBody>
      </p:sp>
      <p:sp>
        <p:nvSpPr>
          <p:cNvPr id="15" name="TextBox 14"/>
          <p:cNvSpPr txBox="1"/>
          <p:nvPr/>
        </p:nvSpPr>
        <p:spPr>
          <a:xfrm>
            <a:off x="1508760" y="4892040"/>
            <a:ext cx="9997135" cy="1399032"/>
          </a:xfrm>
          <a:prstGeom prst="rect">
            <a:avLst/>
          </a:prstGeom>
          <a:noFill/>
        </p:spPr>
        <p:txBody>
          <a:bodyPr wrap="square" anchor="ctr" lIns="73152" rIns="73152" tIns="36576" bIns="36576">
            <a:noAutofit/>
          </a:bodyPr>
          <a:lstStyle/>
          <a:p>
            <a:pPr algn="l">
              <a:spcBef>
                <a:spcPts val="0"/>
              </a:spcBef>
              <a:spcAft>
                <a:spcPts val="0"/>
              </a:spcAft>
            </a:pPr>
            <a:r>
              <a:rPr lang="tr-TR" sz="2600" b="0" i="0">
                <a:solidFill>
                  <a:srgbClr val="262626"/>
                </a:solidFill>
                <a:latin typeface="Calibri"/>
              </a:rPr>
              <a:t>Türkiye'de sel ve taşkınların afete dönüşmesinde etkili bir beşerî etken yazınız.</a:t>
            </a:r>
          </a:p>
        </p:txBody>
      </p:sp>
      <p:sp>
        <p:nvSpPr>
          <p:cNvPr id="16" name="TextBox 1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17" name="Rounded Rectangle 16"/>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194-201</a:t>
            </a:r>
          </a:p>
        </p:txBody>
      </p:sp>
      <p:sp>
        <p:nvSpPr>
          <p:cNvPr id="18" name="TextBox 1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118 / 250</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Bu hafta evde</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31. HAFTA</a:t>
            </a:r>
          </a:p>
        </p:txBody>
      </p:sp>
      <p:sp>
        <p:nvSpPr>
          <p:cNvPr id="6" name="TextBox 5"/>
          <p:cNvSpPr txBox="1"/>
          <p:nvPr/>
        </p:nvSpPr>
        <p:spPr>
          <a:xfrm>
            <a:off x="594360" y="1307592"/>
            <a:ext cx="11002975" cy="4846320"/>
          </a:xfrm>
          <a:prstGeom prst="rect">
            <a:avLst/>
          </a:prstGeom>
          <a:noFill/>
        </p:spPr>
        <p:txBody>
          <a:bodyPr wrap="square" anchor="t" lIns="73152" rIns="73152" tIns="36576" bIns="36576">
            <a:noAutofit/>
          </a:bodyPr>
          <a:lstStyle/>
          <a:p>
            <a:pPr algn="l" marL="323206" indent="-323206">
              <a:spcBef>
                <a:spcPts val="0"/>
              </a:spcBef>
              <a:spcAft>
                <a:spcPts val="1200"/>
              </a:spcAft>
            </a:pPr>
            <a:r>
              <a:rPr lang="tr-TR" sz="2600" b="1" i="0">
                <a:solidFill>
                  <a:srgbClr val="6A4C93"/>
                </a:solidFill>
                <a:latin typeface="Calibri"/>
              </a:rPr>
              <a:t>•  </a:t>
            </a:r>
            <a:r>
              <a:rPr lang="tr-TR" sz="2600" b="0" i="0">
                <a:solidFill>
                  <a:srgbClr val="262626"/>
                </a:solidFill>
                <a:latin typeface="Calibri"/>
              </a:rPr>
              <a:t>Çalışma kâğıdı Bölüm 2: 6-10. sorular (kitap s. 194-201).</a:t>
            </a:r>
          </a:p>
          <a:p>
            <a:pPr algn="l" marL="323206" indent="-323206">
              <a:spcBef>
                <a:spcPts val="0"/>
              </a:spcBef>
              <a:spcAft>
                <a:spcPts val="1200"/>
              </a:spcAft>
            </a:pPr>
            <a:r>
              <a:rPr lang="tr-TR" sz="2600" b="1" i="0">
                <a:solidFill>
                  <a:srgbClr val="6A4C93"/>
                </a:solidFill>
                <a:latin typeface="Calibri"/>
              </a:rPr>
              <a:t>•  </a:t>
            </a:r>
            <a:r>
              <a:rPr lang="tr-TR" sz="2600" b="0" i="0">
                <a:solidFill>
                  <a:srgbClr val="262626"/>
                </a:solidFill>
                <a:latin typeface="Calibri"/>
              </a:rPr>
              <a:t>Bayram öncesi başka ödev yok; bayram sonrası ilk derste kitap ve defter yeterli.</a:t>
            </a:r>
          </a:p>
          <a:p>
            <a:pPr algn="l" marL="323206" indent="-323206">
              <a:spcBef>
                <a:spcPts val="0"/>
              </a:spcBef>
              <a:spcAft>
                <a:spcPts val="0"/>
              </a:spcAft>
            </a:pPr>
            <a:r>
              <a:rPr lang="tr-TR" sz="2600" b="1" i="0">
                <a:solidFill>
                  <a:srgbClr val="6A4C93"/>
                </a:solidFill>
                <a:latin typeface="Calibri"/>
              </a:rPr>
              <a:t>•  </a:t>
            </a:r>
            <a:r>
              <a:rPr lang="tr-TR" sz="2600" b="0" i="0">
                <a:solidFill>
                  <a:srgbClr val="262626"/>
                </a:solidFill>
                <a:latin typeface="Calibri"/>
              </a:rPr>
              <a:t>Gelecek hafta kısa: Kurban Bayramı nedeniyle yalnız perşembe ve cuma ders var.</a:t>
            </a:r>
          </a:p>
        </p:txBody>
      </p:sp>
      <p:sp>
        <p:nvSpPr>
          <p:cNvPr id="7" name="TextBox 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8" name="Rounded Rectangle 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194-201</a:t>
            </a:r>
          </a:p>
        </p:txBody>
      </p:sp>
      <p:sp>
        <p:nvSpPr>
          <p:cNvPr id="9" name="TextBox 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119 / 250</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Kaynaklar ve Haklar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KAYNAKÇA</a:t>
            </a:r>
          </a:p>
        </p:txBody>
      </p:sp>
      <p:sp>
        <p:nvSpPr>
          <p:cNvPr id="6" name="Rounded Rectangle 5"/>
          <p:cNvSpPr/>
          <p:nvPr/>
        </p:nvSpPr>
        <p:spPr>
          <a:xfrm>
            <a:off x="502920" y="1280160"/>
            <a:ext cx="11185855" cy="1508760"/>
          </a:xfrm>
          <a:prstGeom prst="roundRect">
            <a:avLst>
              <a:gd name="adj" fmla="val 8000"/>
            </a:avLst>
          </a:prstGeom>
          <a:solidFill>
            <a:srgbClr val="F0F0F0"/>
          </a:solidFill>
          <a:ln>
            <a:noFill/>
          </a:ln>
          <a:effectLst/>
        </p:spPr>
        <p:txBody>
          <a:bodyPr rtlCol="0" anchor="t" wrap="square" lIns="128016" rIns="128016" tIns="73152" bIns="73152">
            <a:noAutofit/>
          </a:bodyPr>
          <a:lstStyle/>
          <a:p>
            <a:pPr algn="l">
              <a:spcBef>
                <a:spcPts val="0"/>
              </a:spcBef>
              <a:spcAft>
                <a:spcPts val="0"/>
              </a:spcAft>
            </a:pPr>
            <a:r>
              <a:rPr lang="tr-TR" sz="1650" b="1" i="0">
                <a:solidFill>
                  <a:srgbClr val="262626"/>
                </a:solidFill>
                <a:latin typeface="Calibri"/>
              </a:rPr>
              <a:t>Ders kitabı.</a:t>
            </a:r>
            <a:r>
              <a:rPr lang="tr-TR" sz="1650" b="0" i="0">
                <a:solidFill>
                  <a:srgbClr val="262626"/>
                </a:solidFill>
                <a:latin typeface="Calibri"/>
              </a:rPr>
              <a:t> Coğrafya 9. Sınıf Ders Kitabı (Ortaöğretim), 2026-2027 baskısı. </a:t>
            </a:r>
            <a:r>
              <a:rPr lang="tr-TR" sz="1650" b="1" i="0">
                <a:solidFill>
                  <a:srgbClr val="262626"/>
                </a:solidFill>
                <a:latin typeface="Calibri"/>
              </a:rPr>
              <a:t>Yazarlar:</a:t>
            </a:r>
            <a:r>
              <a:rPr lang="tr-TR" sz="1650" b="0" i="0">
                <a:solidFill>
                  <a:srgbClr val="262626"/>
                </a:solidFill>
                <a:latin typeface="Calibri"/>
              </a:rPr>
              <a:t> Dr. Gülten İçel, Alper Soyatlar, Beyhan Polat, Bülent Akça, Cem Erdebil, Kenan Türkez, Mehmet Ekici, Mutlu Karakoç, Nihal Öztürk, Nurullah Balşen, Orhan Ekin, Ramazan Bıçaklı, Raşit Düzgün, Soner Cırık, Tuba Dirim. Millî Eğitim Bakanlığı Yayınları No 9606 · Ders Kitapları Dizisi No 2027 · Devlet Kitapları, 2026 · ISBN 978-975-11-8046-9. Slaytlardaki “Kitap s. …” etiketleri bu baskının sayfalarıdır.</a:t>
            </a:r>
          </a:p>
        </p:txBody>
      </p:sp>
      <p:sp>
        <p:nvSpPr>
          <p:cNvPr id="7" name="Rounded Rectangle 6"/>
          <p:cNvSpPr/>
          <p:nvPr/>
        </p:nvSpPr>
        <p:spPr>
          <a:xfrm>
            <a:off x="502920" y="2916936"/>
            <a:ext cx="11185855" cy="1143000"/>
          </a:xfrm>
          <a:prstGeom prst="roundRect">
            <a:avLst>
              <a:gd name="adj" fmla="val 8000"/>
            </a:avLst>
          </a:prstGeom>
          <a:solidFill>
            <a:srgbClr val="F0F0F0"/>
          </a:solidFill>
          <a:ln>
            <a:noFill/>
          </a:ln>
          <a:effectLst/>
        </p:spPr>
        <p:txBody>
          <a:bodyPr rtlCol="0" anchor="t" wrap="square" lIns="128016" rIns="128016" tIns="73152" bIns="73152">
            <a:noAutofit/>
          </a:bodyPr>
          <a:lstStyle/>
          <a:p>
            <a:pPr algn="l">
              <a:spcBef>
                <a:spcPts val="0"/>
              </a:spcBef>
              <a:spcAft>
                <a:spcPts val="0"/>
              </a:spcAft>
            </a:pPr>
            <a:r>
              <a:rPr lang="tr-TR" sz="1650" b="1" i="0">
                <a:solidFill>
                  <a:srgbClr val="262626"/>
                </a:solidFill>
                <a:latin typeface="Calibri"/>
              </a:rPr>
              <a:t>Öğretim programı ve etkinlikler.</a:t>
            </a:r>
            <a:r>
              <a:rPr lang="tr-TR" sz="1650" b="0" i="0">
                <a:solidFill>
                  <a:srgbClr val="262626"/>
                </a:solidFill>
                <a:latin typeface="Calibri"/>
              </a:rPr>
              <a:t> Coğrafya dersi öğretim programı (2026 nüshası): Talim ve Terbiye Kurulunun 23.05.2024 tarihli ve 20 sayılı kararıyla kabul edilen, 13.05.2026 tarihli ve 53 sayılı kararıyla güncellenen program. Etkinliklerin bir bölümü MEB Ortaöğretim Genel Müdürlüğünün OGM Materyal platformundaki etkileşimli etkinliklerle paralel kurulmuştur.</a:t>
            </a:r>
          </a:p>
        </p:txBody>
      </p:sp>
      <p:sp>
        <p:nvSpPr>
          <p:cNvPr id="8" name="Rounded Rectangle 7"/>
          <p:cNvSpPr/>
          <p:nvPr/>
        </p:nvSpPr>
        <p:spPr>
          <a:xfrm>
            <a:off x="502920" y="4187952"/>
            <a:ext cx="11185855" cy="1371600"/>
          </a:xfrm>
          <a:prstGeom prst="roundRect">
            <a:avLst>
              <a:gd name="adj" fmla="val 8000"/>
            </a:avLst>
          </a:prstGeom>
          <a:solidFill>
            <a:srgbClr val="F0F0F0"/>
          </a:solidFill>
          <a:ln>
            <a:noFill/>
          </a:ln>
          <a:effectLst/>
        </p:spPr>
        <p:txBody>
          <a:bodyPr rtlCol="0" anchor="t" wrap="square" lIns="128016" rIns="128016" tIns="73152" bIns="73152">
            <a:noAutofit/>
          </a:bodyPr>
          <a:lstStyle/>
          <a:p>
            <a:pPr algn="l">
              <a:spcBef>
                <a:spcPts val="0"/>
              </a:spcBef>
              <a:spcAft>
                <a:spcPts val="0"/>
              </a:spcAft>
            </a:pPr>
            <a:r>
              <a:rPr lang="tr-TR" sz="1650" b="1" i="0">
                <a:solidFill>
                  <a:srgbClr val="262626"/>
                </a:solidFill>
                <a:latin typeface="Calibri"/>
              </a:rPr>
              <a:t>Haklar ve lisans.</a:t>
            </a:r>
            <a:r>
              <a:rPr lang="tr-TR" sz="1650" b="0" i="0">
                <a:solidFill>
                  <a:srgbClr val="262626"/>
                </a:solidFill>
                <a:latin typeface="Calibri"/>
              </a:rPr>
              <a:t> Ders kitabından, kitabın karekod içeriklerinden (EBA) ve OGM Materyal'den alınan metin, soru ve görsellerin hakları Millî Eğitim Bakanlığına aittir; eğitim ve öğretim amacıyla, kaynak gösterilerek alıntılanmıştır (5846 sayılı Fikir ve Sanat Eserleri Kanunu md. 34). Sunumun tasarımı, ders akışı, etkinlik kurgusu, örnek cevaplar ve öğretmen notları okulapp.org'un özgün katkısıdır; yalnız bu katkılar CC BY 4.0 lisansıyla paylaşılır. Resmî bir Bakanlık materyali değildir.</a:t>
            </a:r>
          </a:p>
        </p:txBody>
      </p:sp>
      <p:sp>
        <p:nvSpPr>
          <p:cNvPr id="9" name="TextBox 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10" name="TextBox 9"/>
          <p:cNvSpPr txBox="1"/>
          <p:nvPr/>
        </p:nvSpPr>
        <p:spPr>
          <a:xfrm>
            <a:off x="8503920" y="6437376"/>
            <a:ext cx="32918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okulapp.org/cografya · sürüm 2026.10.2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GNL-COG9-SN-U6 — 31. hafta · Afet Türleri (slayt 64-119)</dc:title>
  <dc:subject>9. Sınıf Coğrafya ders sunumu. Kaynak: Coğrafya 9. Sınıf Ders Kitabı (MEB, 2026-2027 baskısı) ve 2026 öğretim programı. okulapp.org/cografya</dc:subject>
  <dc:creator>okulapp.org</dc:creator>
  <cp:keywords/>
  <dc:description>Kitaptan, karekod içeriklerinden (EBA) ve OGM Materyal'den alınan metin, soru ve görsellerin hakları MEB'e aittir (5846 sayılı Kanun md. 34 kapsamında kaynak gösterilerek alıntı). Özgün katkılar CC BY 4.0 — okulapp.org</dc:description>
  <cp:lastModifiedBy>okulapp.org</cp:lastModifiedBy>
  <cp:revision>1</cp:revision>
  <dcterms:created xsi:type="dcterms:W3CDTF">2013-01-27T09:14:16Z</dcterms:created>
  <dcterms:modified xsi:type="dcterms:W3CDTF">2013-01-27T09:15:58Z</dcterms:modified>
  <cp:category>Ders materyali</cp:category>
  <dc:language>tr-TR</dc:language>
</cp:coreProperties>
</file>