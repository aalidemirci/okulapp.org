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notesSlides/notesSlide223.xml" ContentType="application/vnd.openxmlformats-officedocument.presentationml.notesSlide+xml"/>
  <Override PartName="/ppt/notesSlides/notesSlide224.xml" ContentType="application/vnd.openxmlformats-officedocument.presentationml.notesSlide+xml"/>
  <Override PartName="/ppt/notesSlides/notesSlide225.xml" ContentType="application/vnd.openxmlformats-officedocument.presentationml.notesSlide+xml"/>
  <Override PartName="/ppt/notesSlides/notesSlide226.xml" ContentType="application/vnd.openxmlformats-officedocument.presentationml.notesSlide+xml"/>
  <Override PartName="/ppt/notesSlides/notesSlide227.xml" ContentType="application/vnd.openxmlformats-officedocument.presentationml.notesSlide+xml"/>
  <Override PartName="/ppt/notesSlides/notesSlide228.xml" ContentType="application/vnd.openxmlformats-officedocument.presentationml.notesSlide+xml"/>
  <Override PartName="/ppt/notesSlides/notesSlide229.xml" ContentType="application/vnd.openxmlformats-officedocument.presentationml.notesSlide+xml"/>
  <Override PartName="/ppt/notesSlides/notesSlide230.xml" ContentType="application/vnd.openxmlformats-officedocument.presentationml.notesSlide+xml"/>
  <Override PartName="/ppt/notesSlides/notesSlide231.xml" ContentType="application/vnd.openxmlformats-officedocument.presentationml.notesSlide+xml"/>
  <Override PartName="/ppt/notesSlides/notesSlide232.xml" ContentType="application/vnd.openxmlformats-officedocument.presentationml.notesSlide+xml"/>
  <Override PartName="/ppt/notesSlides/notesSlide233.xml" ContentType="application/vnd.openxmlformats-officedocument.presentationml.notesSlide+xml"/>
  <Override PartName="/ppt/notesSlides/notesSlide234.xml" ContentType="application/vnd.openxmlformats-officedocument.presentationml.notesSlide+xml"/>
  <Override PartName="/ppt/notesSlides/notesSlide235.xml" ContentType="application/vnd.openxmlformats-officedocument.presentationml.notesSlide+xml"/>
  <Override PartName="/ppt/notesSlides/notesSlide236.xml" ContentType="application/vnd.openxmlformats-officedocument.presentationml.notesSlide+xml"/>
  <Override PartName="/ppt/notesSlides/notesSlide237.xml" ContentType="application/vnd.openxmlformats-officedocument.presentationml.notesSlide+xml"/>
  <Override PartName="/ppt/notesSlides/notesSlide238.xml" ContentType="application/vnd.openxmlformats-officedocument.presentationml.notesSlide+xml"/>
  <Override PartName="/ppt/notesSlides/notesSlide239.xml" ContentType="application/vnd.openxmlformats-officedocument.presentationml.notesSlide+xml"/>
  <Override PartName="/ppt/notesSlides/notesSlide240.xml" ContentType="application/vnd.openxmlformats-officedocument.presentationml.notesSlide+xml"/>
  <Override PartName="/ppt/notesSlides/notesSlide241.xml" ContentType="application/vnd.openxmlformats-officedocument.presentationml.notesSlide+xml"/>
  <Override PartName="/ppt/notesSlides/notesSlide242.xml" ContentType="application/vnd.openxmlformats-officedocument.presentationml.notesSlide+xml"/>
  <Override PartName="/ppt/notesSlides/notesSlide243.xml" ContentType="application/vnd.openxmlformats-officedocument.presentationml.notesSlide+xml"/>
  <Override PartName="/ppt/notesSlides/notesSlide244.xml" ContentType="application/vnd.openxmlformats-officedocument.presentationml.notesSlide+xml"/>
  <Override PartName="/ppt/notesSlides/notesSlide245.xml" ContentType="application/vnd.openxmlformats-officedocument.presentationml.notesSlide+xml"/>
  <Override PartName="/ppt/notesSlides/notesSlide246.xml" ContentType="application/vnd.openxmlformats-officedocument.presentationml.notesSlide+xml"/>
  <Override PartName="/ppt/notesSlides/notesSlide247.xml" ContentType="application/vnd.openxmlformats-officedocument.presentationml.notesSlide+xml"/>
  <Override PartName="/ppt/notesSlides/notesSlide248.xml" ContentType="application/vnd.openxmlformats-officedocument.presentationml.notesSlide+xml"/>
  <Override PartName="/ppt/notesSlides/notesSlide249.xml" ContentType="application/vnd.openxmlformats-officedocument.presentationml.notesSlide+xml"/>
  <Override PartName="/ppt/notesSlides/notesSlide250.xml" ContentType="application/vnd.openxmlformats-officedocument.presentationml.notesSlide+xml"/>
  <Override PartName="/ppt/notesSlides/notesSlide3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476" r:id="rId228"/>
    <p:sldId id="477" r:id="rId229"/>
    <p:sldId id="478" r:id="rId230"/>
    <p:sldId id="479" r:id="rId231"/>
    <p:sldId id="480" r:id="rId232"/>
    <p:sldId id="481" r:id="rId233"/>
    <p:sldId id="482" r:id="rId234"/>
    <p:sldId id="483" r:id="rId235"/>
    <p:sldId id="484" r:id="rId236"/>
    <p:sldId id="485" r:id="rId237"/>
    <p:sldId id="486" r:id="rId238"/>
    <p:sldId id="487" r:id="rId239"/>
    <p:sldId id="488" r:id="rId240"/>
    <p:sldId id="489" r:id="rId241"/>
    <p:sldId id="490" r:id="rId242"/>
    <p:sldId id="491" r:id="rId243"/>
    <p:sldId id="492" r:id="rId244"/>
    <p:sldId id="493" r:id="rId245"/>
    <p:sldId id="494" r:id="rId246"/>
    <p:sldId id="495" r:id="rId247"/>
    <p:sldId id="496" r:id="rId248"/>
    <p:sldId id="497" r:id="rId249"/>
    <p:sldId id="498" r:id="rId250"/>
    <p:sldId id="499" r:id="rId251"/>
    <p:sldId id="500" r:id="rId252"/>
    <p:sldId id="501" r:id="rId253"/>
    <p:sldId id="502" r:id="rId254"/>
    <p:sldId id="503" r:id="rId255"/>
    <p:sldId id="504" r:id="rId256"/>
    <p:sldId id="505" r:id="rId257"/>
    <p:sldId id="506" r:id="rId38"/>
  </p:sldIdLst>
  <p:sldSz cx="12191695" cy="6858000" type="screen4x3"/>
  <p:notesSz cx="6858000" cy="9144000"/>
  <p:defaultTextStyle>
    <a:defPPr>
      <a:defRPr lang="tr-TR"/>
    </a:defPPr>
    <a:lvl1pPr marL="0" algn="l" defTabSz="457200" rtl="0" eaLnBrk="1" latinLnBrk="0" hangingPunct="1">
      <a:defRPr lang="tr-TR" sz="1800" kern="1200">
        <a:solidFill>
          <a:schemeClr val="tx1"/>
        </a:solidFill>
        <a:latin typeface="+mn-lt"/>
        <a:ea typeface="+mn-ea"/>
        <a:cs typeface="+mn-cs"/>
      </a:defRPr>
    </a:lvl1pPr>
    <a:lvl2pPr marL="457200" algn="l" defTabSz="457200" rtl="0" eaLnBrk="1" latinLnBrk="0" hangingPunct="1">
      <a:defRPr lang="tr-TR" sz="1800" kern="1200">
        <a:solidFill>
          <a:schemeClr val="tx1"/>
        </a:solidFill>
        <a:latin typeface="+mn-lt"/>
        <a:ea typeface="+mn-ea"/>
        <a:cs typeface="+mn-cs"/>
      </a:defRPr>
    </a:lvl2pPr>
    <a:lvl3pPr marL="914400" algn="l" defTabSz="457200" rtl="0" eaLnBrk="1" latinLnBrk="0" hangingPunct="1">
      <a:defRPr lang="tr-TR" sz="1800" kern="1200">
        <a:solidFill>
          <a:schemeClr val="tx1"/>
        </a:solidFill>
        <a:latin typeface="+mn-lt"/>
        <a:ea typeface="+mn-ea"/>
        <a:cs typeface="+mn-cs"/>
      </a:defRPr>
    </a:lvl3pPr>
    <a:lvl4pPr marL="1371600" algn="l" defTabSz="457200" rtl="0" eaLnBrk="1" latinLnBrk="0" hangingPunct="1">
      <a:defRPr lang="tr-TR" sz="1800" kern="1200">
        <a:solidFill>
          <a:schemeClr val="tx1"/>
        </a:solidFill>
        <a:latin typeface="+mn-lt"/>
        <a:ea typeface="+mn-ea"/>
        <a:cs typeface="+mn-cs"/>
      </a:defRPr>
    </a:lvl4pPr>
    <a:lvl5pPr marL="1828800" algn="l" defTabSz="457200" rtl="0" eaLnBrk="1" latinLnBrk="0" hangingPunct="1">
      <a:defRPr lang="tr-TR" sz="1800" kern="1200">
        <a:solidFill>
          <a:schemeClr val="tx1"/>
        </a:solidFill>
        <a:latin typeface="+mn-lt"/>
        <a:ea typeface="+mn-ea"/>
        <a:cs typeface="+mn-cs"/>
      </a:defRPr>
    </a:lvl5pPr>
    <a:lvl6pPr marL="2286000" algn="l" defTabSz="457200" rtl="0" eaLnBrk="1" latinLnBrk="0" hangingPunct="1">
      <a:defRPr lang="tr-TR" sz="1800" kern="1200">
        <a:solidFill>
          <a:schemeClr val="tx1"/>
        </a:solidFill>
        <a:latin typeface="+mn-lt"/>
        <a:ea typeface="+mn-ea"/>
        <a:cs typeface="+mn-cs"/>
      </a:defRPr>
    </a:lvl6pPr>
    <a:lvl7pPr marL="2743200" algn="l" defTabSz="457200" rtl="0" eaLnBrk="1" latinLnBrk="0" hangingPunct="1">
      <a:defRPr lang="tr-TR" sz="1800" kern="1200">
        <a:solidFill>
          <a:schemeClr val="tx1"/>
        </a:solidFill>
        <a:latin typeface="+mn-lt"/>
        <a:ea typeface="+mn-ea"/>
        <a:cs typeface="+mn-cs"/>
      </a:defRPr>
    </a:lvl7pPr>
    <a:lvl8pPr marL="3200400" algn="l" defTabSz="457200" rtl="0" eaLnBrk="1" latinLnBrk="0" hangingPunct="1">
      <a:defRPr lang="tr-TR" sz="1800" kern="1200">
        <a:solidFill>
          <a:schemeClr val="tx1"/>
        </a:solidFill>
        <a:latin typeface="+mn-lt"/>
        <a:ea typeface="+mn-ea"/>
        <a:cs typeface="+mn-cs"/>
      </a:defRPr>
    </a:lvl8pPr>
    <a:lvl9pPr marL="3657600" algn="l" defTabSz="457200" rtl="0" eaLnBrk="1" latinLnBrk="0" hangingPunct="1">
      <a:defRPr lang="tr-T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8" Type="http://schemas.openxmlformats.org/officeDocument/2006/relationships/notesMaster" Target="notesMasters/notesMaster1.xml"/><Relationship Id="rId38" Type="http://schemas.openxmlformats.org/officeDocument/2006/relationships/slide" Target="slides/slide31.xml"/><Relationship Id="rId228" Type="http://schemas.openxmlformats.org/officeDocument/2006/relationships/slide" Target="slides/slide1.xml"/><Relationship Id="rId229" Type="http://schemas.openxmlformats.org/officeDocument/2006/relationships/slide" Target="slides/slide2.xml"/><Relationship Id="rId230" Type="http://schemas.openxmlformats.org/officeDocument/2006/relationships/slide" Target="slides/slide3.xml"/><Relationship Id="rId231" Type="http://schemas.openxmlformats.org/officeDocument/2006/relationships/slide" Target="slides/slide4.xml"/><Relationship Id="rId232" Type="http://schemas.openxmlformats.org/officeDocument/2006/relationships/slide" Target="slides/slide5.xml"/><Relationship Id="rId233" Type="http://schemas.openxmlformats.org/officeDocument/2006/relationships/slide" Target="slides/slide6.xml"/><Relationship Id="rId234" Type="http://schemas.openxmlformats.org/officeDocument/2006/relationships/slide" Target="slides/slide7.xml"/><Relationship Id="rId235" Type="http://schemas.openxmlformats.org/officeDocument/2006/relationships/slide" Target="slides/slide8.xml"/><Relationship Id="rId236" Type="http://schemas.openxmlformats.org/officeDocument/2006/relationships/slide" Target="slides/slide9.xml"/><Relationship Id="rId237" Type="http://schemas.openxmlformats.org/officeDocument/2006/relationships/slide" Target="slides/slide10.xml"/><Relationship Id="rId238" Type="http://schemas.openxmlformats.org/officeDocument/2006/relationships/slide" Target="slides/slide11.xml"/><Relationship Id="rId239" Type="http://schemas.openxmlformats.org/officeDocument/2006/relationships/slide" Target="slides/slide12.xml"/><Relationship Id="rId240" Type="http://schemas.openxmlformats.org/officeDocument/2006/relationships/slide" Target="slides/slide13.xml"/><Relationship Id="rId241" Type="http://schemas.openxmlformats.org/officeDocument/2006/relationships/slide" Target="slides/slide14.xml"/><Relationship Id="rId242" Type="http://schemas.openxmlformats.org/officeDocument/2006/relationships/slide" Target="slides/slide15.xml"/><Relationship Id="rId243" Type="http://schemas.openxmlformats.org/officeDocument/2006/relationships/slide" Target="slides/slide16.xml"/><Relationship Id="rId244" Type="http://schemas.openxmlformats.org/officeDocument/2006/relationships/slide" Target="slides/slide17.xml"/><Relationship Id="rId245" Type="http://schemas.openxmlformats.org/officeDocument/2006/relationships/slide" Target="slides/slide18.xml"/><Relationship Id="rId246" Type="http://schemas.openxmlformats.org/officeDocument/2006/relationships/slide" Target="slides/slide19.xml"/><Relationship Id="rId247" Type="http://schemas.openxmlformats.org/officeDocument/2006/relationships/slide" Target="slides/slide20.xml"/><Relationship Id="rId248" Type="http://schemas.openxmlformats.org/officeDocument/2006/relationships/slide" Target="slides/slide21.xml"/><Relationship Id="rId249" Type="http://schemas.openxmlformats.org/officeDocument/2006/relationships/slide" Target="slides/slide22.xml"/><Relationship Id="rId250" Type="http://schemas.openxmlformats.org/officeDocument/2006/relationships/slide" Target="slides/slide23.xml"/><Relationship Id="rId251" Type="http://schemas.openxmlformats.org/officeDocument/2006/relationships/slide" Target="slides/slide24.xml"/><Relationship Id="rId252" Type="http://schemas.openxmlformats.org/officeDocument/2006/relationships/slide" Target="slides/slide25.xml"/><Relationship Id="rId253" Type="http://schemas.openxmlformats.org/officeDocument/2006/relationships/slide" Target="slides/slide26.xml"/><Relationship Id="rId254" Type="http://schemas.openxmlformats.org/officeDocument/2006/relationships/slide" Target="slides/slide27.xml"/><Relationship Id="rId255" Type="http://schemas.openxmlformats.org/officeDocument/2006/relationships/slide" Target="slides/slide28.xml"/><Relationship Id="rId256" Type="http://schemas.openxmlformats.org/officeDocument/2006/relationships/slide" Target="slides/slide29.xml"/><Relationship Id="rId25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lang="tr-TR" sz="1200"/>
            </a:lvl1pPr>
          </a:lstStyle>
          <a:p>
            <a:endParaRPr lang="tr-T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lang="tr-TR" sz="1200"/>
            </a:lvl1pPr>
          </a:lstStyle>
          <a:p>
            <a:fld id="{0F89C1C7-3DCD-1040-A9CF-14679D8B5DDD}" type="datetimeFigureOut">
              <a:rPr lang="tr-TR" smtClean="0"/>
              <a:t>10/17/16</a:t>
            </a:fld>
            <a:endParaRPr lang="tr-TR"/>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tr-T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lang="tr-TR" sz="1200"/>
            </a:lvl1pPr>
          </a:lstStyle>
          <a:p>
            <a:endParaRPr lang="tr-T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lang="tr-TR" sz="1200"/>
            </a:lvl1pPr>
          </a:lstStyle>
          <a:p>
            <a:fld id="{BB5E49A5-4136-284D-997B-48E1D791AD67}" type="slidenum">
              <a:rPr lang="tr-TR" smtClean="0"/>
              <a:t>‹#›</a:t>
            </a:fld>
            <a:endParaRPr lang="tr-TR"/>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lang="tr-TR" sz="1200" kern="1200">
        <a:solidFill>
          <a:schemeClr val="tx1"/>
        </a:solidFill>
        <a:latin typeface="+mn-lt"/>
        <a:ea typeface="+mn-ea"/>
        <a:cs typeface="+mn-cs"/>
      </a:defRPr>
    </a:lvl1pPr>
    <a:lvl2pPr marL="457200" algn="l" defTabSz="457200" rtl="0" eaLnBrk="1" latinLnBrk="0" hangingPunct="1">
      <a:defRPr lang="tr-TR" sz="1200" kern="1200">
        <a:solidFill>
          <a:schemeClr val="tx1"/>
        </a:solidFill>
        <a:latin typeface="+mn-lt"/>
        <a:ea typeface="+mn-ea"/>
        <a:cs typeface="+mn-cs"/>
      </a:defRPr>
    </a:lvl2pPr>
    <a:lvl3pPr marL="914400" algn="l" defTabSz="457200" rtl="0" eaLnBrk="1" latinLnBrk="0" hangingPunct="1">
      <a:defRPr lang="tr-TR" sz="1200" kern="1200">
        <a:solidFill>
          <a:schemeClr val="tx1"/>
        </a:solidFill>
        <a:latin typeface="+mn-lt"/>
        <a:ea typeface="+mn-ea"/>
        <a:cs typeface="+mn-cs"/>
      </a:defRPr>
    </a:lvl3pPr>
    <a:lvl4pPr marL="1371600" algn="l" defTabSz="457200" rtl="0" eaLnBrk="1" latinLnBrk="0" hangingPunct="1">
      <a:defRPr lang="tr-TR" sz="1200" kern="1200">
        <a:solidFill>
          <a:schemeClr val="tx1"/>
        </a:solidFill>
        <a:latin typeface="+mn-lt"/>
        <a:ea typeface="+mn-ea"/>
        <a:cs typeface="+mn-cs"/>
      </a:defRPr>
    </a:lvl4pPr>
    <a:lvl5pPr marL="1828800" algn="l" defTabSz="457200" rtl="0" eaLnBrk="1" latinLnBrk="0" hangingPunct="1">
      <a:defRPr lang="tr-TR" sz="1200" kern="1200">
        <a:solidFill>
          <a:schemeClr val="tx1"/>
        </a:solidFill>
        <a:latin typeface="+mn-lt"/>
        <a:ea typeface="+mn-ea"/>
        <a:cs typeface="+mn-cs"/>
      </a:defRPr>
    </a:lvl5pPr>
    <a:lvl6pPr marL="2286000" algn="l" defTabSz="457200" rtl="0" eaLnBrk="1" latinLnBrk="0" hangingPunct="1">
      <a:defRPr lang="tr-TR" sz="1200" kern="1200">
        <a:solidFill>
          <a:schemeClr val="tx1"/>
        </a:solidFill>
        <a:latin typeface="+mn-lt"/>
        <a:ea typeface="+mn-ea"/>
        <a:cs typeface="+mn-cs"/>
      </a:defRPr>
    </a:lvl6pPr>
    <a:lvl7pPr marL="2743200" algn="l" defTabSz="457200" rtl="0" eaLnBrk="1" latinLnBrk="0" hangingPunct="1">
      <a:defRPr lang="tr-TR" sz="1200" kern="1200">
        <a:solidFill>
          <a:schemeClr val="tx1"/>
        </a:solidFill>
        <a:latin typeface="+mn-lt"/>
        <a:ea typeface="+mn-ea"/>
        <a:cs typeface="+mn-cs"/>
      </a:defRPr>
    </a:lvl7pPr>
    <a:lvl8pPr marL="3200400" algn="l" defTabSz="457200" rtl="0" eaLnBrk="1" latinLnBrk="0" hangingPunct="1">
      <a:defRPr lang="tr-TR" sz="1200" kern="1200">
        <a:solidFill>
          <a:schemeClr val="tx1"/>
        </a:solidFill>
        <a:latin typeface="+mn-lt"/>
        <a:ea typeface="+mn-ea"/>
        <a:cs typeface="+mn-cs"/>
      </a:defRPr>
    </a:lvl8pPr>
    <a:lvl9pPr marL="3657600" algn="l" defTabSz="457200" rtl="0" eaLnBrk="1" latinLnBrk="0" hangingPunct="1">
      <a:defRPr lang="tr-TR" sz="1200" kern="1200">
        <a:solidFill>
          <a:schemeClr val="tx1"/>
        </a:solidFill>
        <a:latin typeface="+mn-lt"/>
        <a:ea typeface="+mn-ea"/>
        <a:cs typeface="+mn-cs"/>
      </a:defRPr>
    </a:lvl9pPr>
  </p:notesStyle>
</p:notesMaster>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2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2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2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2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2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2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2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2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2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2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2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Kaynak gösterimi — 5846 sayılı Kanun md. 34 eğitim amaçlı seçme ve toplama eserlerde eserin ve eser sahibinin adının belirtilmesini ister. Derste gösterilmesi gerekmez; dosyayı paylaşırken bu slaytı silmeyin.</a:t>
            </a:r>
          </a:p>
        </p:txBody>
      </p:sp>
      <p:sp>
        <p:nvSpPr>
          <p:cNvPr id="4" name="Slide Number Placeholder 3"/>
          <p:cNvSpPr>
            <a:spLocks noGrp="1"/>
          </p:cNvSpPr>
          <p:nvPr>
            <p:ph type="sldNum" idx="5" sz="quarter"/>
          </p:nvPr>
        </p:nvSpPr>
        <p:spPr/>
      </p:sp>
    </p:spTree>
  </p:cSld>
  <p:clrMapOvr>
    <a:masterClrMapping/>
  </p:clrMapOvr>
</p:notes>
</file>

<file path=ppt/notesSlides/notesSlide2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Ünite sonu ölçme sorularının yapısını göstermek; hangi soruların evde (33. hafta ev çalışması), hangilerinin sınav öncesi tekrarda çözüleceğini ve cevapların nasıl kontrol edileceğini söylemek.</a:t>
            </a:r>
          </a:p>
          <a:p/>
          <a:p>
            <a:r>
              <a:t>SÜRE: Ders planında bu bölüm için ayrı aşama yoktur: 1, 2, 5 ve 8. sorular 33. haftanın ev çalışmasıdır (ders planı, 33. hafta 'ev'; 'Sınav öncesi tekrar haftası olduğundan ev çalışması hafiftir'). Süre önerisi (sunumun önerisi, kitapta yok): dört ev sorusu yaklaşık 25-30 dakika; öbür beş soru yaklaşık 15 dakika. Sınıfta kontrol cevap slaytlarıyla yaklaşık 10-15 dakikadır; zamanını öğretmen belirler (ör. 34. haftanın başı ya da 2. yazılı öncesi tekrar).</a:t>
            </a:r>
          </a:p>
          <a:p/>
          <a:p>
            <a:r>
              <a:t>NASIL: Üç kartı soldan sağa tanıtın: her grup aynı metne/tabloya dayanır, önce metin ve görsel okunur, sonra sorular gelir. EVDE çipli dört soru deftere yazılır; TEKRAR çipli beş soru 2. yazılı öncesi tekrar için isteğe bağlıdır (2. yazılının kapsamı 4-6. ünitelerdir — DP 33. hafta notu). Her sorunun cevabı ya da örnek cevabı sorunun hemen ardındaki slayttadır: kontrol ederken önce öğrencinin kendi cevabını söylemesini bekleyin, sonra cevap slaytını açın. Açık uçlu sorularda 'örnek cevap' tek doğru değildir; ölçütü (iyi bir cevap neleri içerir) gösterir.</a:t>
            </a:r>
          </a:p>
          <a:p/>
          <a:p>
            <a:r>
              <a:t>KAYNAK: Kitap s. 210 (başlık ve giriş cümleleri birebir), s. 210-213 (9 soru). Ders planı 33. hafta ev çalışması: 'kitap s. 210-213 ünite ölçme sorularından 1, 2, 5 ve 8 çözülür'.</a:t>
            </a:r>
          </a:p>
          <a:p/>
          <a:p>
            <a:r>
              <a:t>NOT: Kartların rengi öğrenme çıktısıdır: 1-2 tehlike-risk-afet (COĞ.9.6.1; 2. soru COĞ.9.6.3 ile bağlı), 3-5 afet türleri (COĞ.9.6.2), 6-9 bütüncül afet yönetimi (COĞ.9.6.3). Kitabın girişindeki karekod cümlesi: 'Daha fazla soruya ulaşmak için testin sonunda yer alan karekodu okutunuz.' Kitabın 'Daha fazla soru' karekodu (s. 213; EBA tema sonu e-ölçme soruları) bu sunum hazırlanırken indirilemedi (EBA içerik sunucusu dosya vermiyordu): ek soru bölümü kurulmadı; içerik indirilirse U5'teki gibi 'EK SORU' slaytları eklenebilir. Öğrenci telefonu kullanılmaz (Genelge bent 37). Kitabın bu dokuz sorusunun cevap anahtarı elimizde değildir (kitabın içindekiler listesine göre cevap anahtarları s. 233'teki karekoddadır); sunumdaki cevaplar kitap metninden gerekçelendirilmiştir. Hassasiyet: sorular gerçek afetlere dayanır (Shenzhen, Kahramanmaraş); sınıfta afet yaşamış ya da yakınını kaybetmiş öğrenci bulunabilir — kişisel anlatım istenmez, isteyen dinlenir.</a:t>
            </a:r>
          </a:p>
        </p:txBody>
      </p:sp>
      <p:sp>
        <p:nvSpPr>
          <p:cNvPr id="4" name="Slide Number Placeholder 3"/>
          <p:cNvSpPr>
            <a:spLocks noGrp="1"/>
          </p:cNvSpPr>
          <p:nvPr>
            <p:ph type="sldNum" idx="5" sz="quarter"/>
          </p:nvPr>
        </p:nvSpPr>
        <p:spPr/>
      </p:sp>
    </p:spTree>
  </p:cSld>
  <p:clrMapOvr>
    <a:masterClrMapping/>
  </p:clrMapOvr>
</p:notes>
</file>

<file path=ppt/notesSlides/notesSlide2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1 ve 2. soruların dayandığı metni okumak: olayın yeri, zamanı, etkisi ve nedeni.</a:t>
            </a:r>
          </a:p>
          <a:p/>
          <a:p>
            <a:r>
              <a:t>NASIL: Metni bir öğrenciye okutun. Üç sözlü soru: 'Olay ne zaman ve nerede oldu? Ne çöktü, neden çöktü? Pazar günü olması neyi değiştirdi?' Nedeni tahtaya iki parça hâlinde yazın: insan eliyle oluşturulan toprak yığını ve inşaat kalıntıları + yağışlar (iki soruda da kullanılacak).</a:t>
            </a:r>
          </a:p>
          <a:p/>
          <a:p>
            <a:r>
              <a:t>BEKLENEN CEVAP: 21.12.2015'te Shenzhen'deki bir sanayi alanında; eski bir taş ocağında insanların oluşturduğu devasa toprak yığını ve inşaat kalıntıları yağışlar sonucunda çöktü; yaklaşık 380 bin m²'lik alan etkilendi, 33 bina zarar gördü. Olay pazar günü olduğu için (sanayi alanında çalışan sayısı daha az olduğundan) sonuçlar daha kötü olmadı.</a:t>
            </a:r>
          </a:p>
          <a:p/>
          <a:p>
            <a:r>
              <a:t>KAYNAK: Kitap s. 210 (yönerge ve metin birebir).</a:t>
            </a:r>
          </a:p>
          <a:p/>
          <a:p>
            <a:r>
              <a:t>NOT: Kitap düzeltmesi: kitapta '380 bin m2lik' (üst simge 2, kesme işareti yok) yazılıdır; birim kısaltmasına gelen ek kesme işaretiyle ayrılır: 'm²’lik' (TDK). Kitap can kaybı sayısını vermez ('çok sayıda insanın hayatını kaybettiği'); sunumda sayı verilmez. 'Pazar günü' açıklamasındaki 'çalışan sayısı daha az' çıkarımı yorumdur; kitapta yazmaz.</a:t>
            </a:r>
          </a:p>
          <a:p/>
          <a:p>
            <a:r>
              <a:t>KİTAP: Kitapta tarih ile gün tutarsızdır: metin olayın 21.12.2015'te ve 'pazar günü' olduğunu söyler, oysa 21.12.2015 pazartesiye denk gelir. Sınıfta kitabın metni okunur; soran öğrenciye bu tutarsızlık söylenir.</a:t>
            </a:r>
          </a:p>
        </p:txBody>
      </p:sp>
      <p:sp>
        <p:nvSpPr>
          <p:cNvPr id="4" name="Slide Number Placeholder 3"/>
          <p:cNvSpPr>
            <a:spLocks noGrp="1"/>
          </p:cNvSpPr>
          <p:nvPr>
            <p:ph type="sldNum" idx="5" sz="quarter"/>
          </p:nvPr>
        </p:nvSpPr>
        <p:spPr/>
      </p:sp>
    </p:spTree>
  </p:cSld>
  <p:clrMapOvr>
    <a:masterClrMapping/>
  </p:clrMapOvr>
</p:notes>
</file>

<file path=ppt/notesSlides/notesSlide2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Üç tarihli görselde değişimi okumak: taş ocağı (2013) → inşaat ve hafriyat atıklarıyla oluşan toprak yığını (2014) → toprak kayması sonrası (2015).</a:t>
            </a:r>
          </a:p>
          <a:p/>
          <a:p>
            <a:r>
              <a:t>NASIL: Görselleri soldan sağa inceletin; alttaki üç soruyu sözlü sorun. Beyaz çember aynı yeri gösterir; üçüncü görseldeki oklar toprağın aktığı yöndür (çember ve oklar kitap görselindedir).</a:t>
            </a:r>
          </a:p>
          <a:p/>
          <a:p>
            <a:r>
              <a:t>BEKLENEN CEVAP: 1) 2013'te çemberin içinde taş ocağı vardır; 2014'te aynı yer inşaat ve hafriyat atıklarıyla doldurulmuş, açık renkli büyük bir toprak yığını oluşmuştur. 2) Toprak yığını insanlar tarafından oluşturulmuştur (metin: 'insanlar tarafından oluşturulan devasa bir toprak yığını'); bu, olayın doğal olduğu kadar insan kaynaklı da olduğunu gösterir. 3) Yağışlarla çöken yığın, oklar yönünde aşağıdaki sanayi yapılarının bulunduğu alana yayılmış, geniş bir alanı toprakla örtmüştür.</a:t>
            </a:r>
          </a:p>
          <a:p/>
          <a:p>
            <a:r>
              <a:t>KAYNAK: Kitap s. 210 (üç görsel kırpıldı; üstteki başlıklar ve alttaki tarihler kitabın yazısıyla sunumda yeniden yazıldı). Metin bir önceki slaytta.</a:t>
            </a:r>
          </a:p>
          <a:p/>
          <a:p>
            <a:r>
              <a:t>NOT: Görsellerde insan ya da yaralı görüntüsü yoktur (uydu görüntüleri). 2. sorudaki 'toprak yığını insanlar tarafından oluşturulmuştur' cevabı 1. sorunun cevabını (tehlike-risk-afet) hazırlar.</a:t>
            </a:r>
          </a:p>
        </p:txBody>
      </p:sp>
      <p:sp>
        <p:nvSpPr>
          <p:cNvPr id="4" name="Slide Number Placeholder 3"/>
          <p:cNvSpPr>
            <a:spLocks noGrp="1"/>
          </p:cNvSpPr>
          <p:nvPr>
            <p:ph type="sldNum" idx="5" sz="quarter"/>
          </p:nvPr>
        </p:nvSpPr>
        <p:spPr/>
      </p:sp>
    </p:spTree>
  </p:cSld>
  <p:clrMapOvr>
    <a:masterClrMapping/>
  </p:clrMapOvr>
</p:notes>
</file>

<file path=ppt/notesSlides/notesSlide2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Tehlike, risk ve afet kavramlarını bir örnek olay (Shenzhen) üzerinde ayırt etmek.</a:t>
            </a:r>
          </a:p>
          <a:p/>
          <a:p>
            <a:r>
              <a:t>NASIL: Seçenekler uzundur: önce her seçenekte 'tehlike', 'risk' ve 'afet' denen üç parçanın altını çizdirin (kitapta ya da defterde), sonra her parçayı kitabın tanımıyla karşılaştırtın (s. 190-191). 2 dakika bireysel, sonra ikili karşılaştırma. Kitap açık olabilir.</a:t>
            </a:r>
          </a:p>
          <a:p/>
          <a:p>
            <a:r>
              <a:t>BEKLENEN CEVAP: A. Gerekçe sonraki iki slaytta.</a:t>
            </a:r>
          </a:p>
          <a:p/>
          <a:p>
            <a:r>
              <a:t>KAYNAK: Kitap s. 210 (soru kökü ve beş seçenek birebir).</a:t>
            </a:r>
          </a:p>
          <a:p/>
          <a:p>
            <a:r>
              <a:t>NOT: 33. hafta ev çalışmasındaki sorulardandır. ⚠ Kitabın bu soruya ait cevap anahtarı elimizde değildir (kitabın içindekiler listesine göre cevap anahtarları s. 233'teki karekoddadır): cevabı kitabın karekodlu cevap anahtarıyla karşılaştırın.</a:t>
            </a:r>
          </a:p>
        </p:txBody>
      </p:sp>
      <p:sp>
        <p:nvSpPr>
          <p:cNvPr id="4" name="Slide Number Placeholder 3"/>
          <p:cNvSpPr>
            <a:spLocks noGrp="1"/>
          </p:cNvSpPr>
          <p:nvPr>
            <p:ph type="sldNum" idx="5" sz="quarter"/>
          </p:nvPr>
        </p:nvSpPr>
        <p:spPr/>
      </p:sp>
    </p:spTree>
  </p:cSld>
  <p:clrMapOvr>
    <a:masterClrMapping/>
  </p:clrMapOvr>
</p:notes>
</file>

<file path=ppt/notesSlides/notesSlide2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Doğru seçeneği kitabın tanımlarıyla gerekçelendirmek: A'daki üç parça tehlike, risk ve afet tanımlarıyla örtüşür.</a:t>
            </a:r>
          </a:p>
          <a:p/>
          <a:p>
            <a:r>
              <a:t>NASIL: Satırları sırayla okutun; her satırda soldaki seçenek parçasını sağdaki kitap cümlesiyle eşleştirtin. Risk satırında s. 191'deki sel örneğini hatırlatın: aynı eksiklikler (dirençsiz yapılar, tahliye planı yok) orada da 'riski artırır'.</a:t>
            </a:r>
          </a:p>
          <a:p/>
          <a:p>
            <a:r>
              <a:t>BEKLENEN CEVAP: A. Tehlike: toprak kayması (zarar verme potansiyeli). Risk: erken uyarı sistemi, dirençli yapı ve tahliye planı eksiklikleri. Afet: toprak kaymasının can ve mal kaybına yol açması.</a:t>
            </a:r>
          </a:p>
          <a:p/>
          <a:p>
            <a:r>
              <a:t>KAYNAK: Kitap s. 190: 'Afetlerin kaynağını oluşturan tehlikelerin belli bir zaman ve yerde ortaya çıkarak insan hayatını, mal varlıklarını, beşerî faaliyetleri ve doğal çevreyi olumsuz etkileyebilecek potansiyeli vardır.' s. 191: 'Risk, bir olayın belirli koşul ve ortamlarda meydana gelme ihtimali ve bu olayın doğurabileceği can ve mal kaybının yanında ekonomik ve çevresel değerlerin de kaybedilme olasılığıdır' Afet tanımı ve sel örneği s. 191.</a:t>
            </a:r>
          </a:p>
          <a:p/>
          <a:p>
            <a:r>
              <a:t>NOT: Görsel 6.4 (s. 191) ile bağ: A'daki eksiklikler 'güvenlik açığı'dır; tehlike ile güvenlik açığının kesiştiği yerde risk, insanların bu riske maruz kalmasıyla afet oluşur (şema bir zincir değil, iç içe çemberlerdir). İncelik: A eksikliklerin kendisine 'risk' der; kitap s. 191'de bunlara 'riski artıran eksiklikler' der — 9. sınıf düzeyinde aynı ilişkiyi anlatır, öbür seçeneklerdeki kavram karışıklığı ise açıktır. ⚠ Kitabın bu soruya ait cevap anahtarı elimizde değildir (kitabın içindekiler listesine göre cevap anahtarları s. 233'teki karekoddadır): cevabı kitabın karekodlu cevap anahtarıyla karşılaştırın.</a:t>
            </a:r>
          </a:p>
        </p:txBody>
      </p:sp>
      <p:sp>
        <p:nvSpPr>
          <p:cNvPr id="4" name="Slide Number Placeholder 3"/>
          <p:cNvSpPr>
            <a:spLocks noGrp="1"/>
          </p:cNvSpPr>
          <p:nvPr>
            <p:ph type="sldNum" idx="5" sz="quarter"/>
          </p:nvPr>
        </p:nvSpPr>
        <p:spPr/>
      </p:sp>
    </p:spTree>
  </p:cSld>
  <p:clrMapOvr>
    <a:masterClrMapping/>
  </p:clrMapOvr>
</p:notes>
</file>

<file path=ppt/notesSlides/notesSlide2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Yanlış seçeneklerde kavramların nerede karıştırıldığını göstermek (en sık hatalar: tehlikeyi 'sonuç', afeti 'olasılık' ya da 'hazırlık' sanmak).</a:t>
            </a:r>
          </a:p>
          <a:p/>
          <a:p>
            <a:r>
              <a:t>NASIL: Öğrencilerden önce kendi gerekçelerini isteyin: 'C'de tehlike için ne denmiş, kitap ne diyor?' Sonra satırı açın. Bütüncül afet yönetiminin aşamaları (müdahale, iyileştirme, hazırlık) 32. haftada işlendi; burada yalnızca 'bu bir aşamadır, kavram değildir' diye anılır.</a:t>
            </a:r>
          </a:p>
          <a:p/>
          <a:p>
            <a:r>
              <a:t>BEKLENEN CEVAP: B: müdahale ve iyileştirme risk değil, bütüncül afet yönetiminin aşamalarıdır; afet uzun vadeli etki değil, can ve mal kaybına yol açan olaydır. C: tehlike sonuç değil potansiyeldir; hazırlık afet değil, hazırlıklı olma aşamasıdır. D: savunmasızlık tehlike değil güvenlik açığıdır (riski oluşturur); ekonomik kayıp riskin değil afetin, olasılık afetin değil riskin tanımındadır. E: tedbirler tehlike değil riski azaltan önlemlerdir; iyileştirme afet değil, afet sonrası aşamadır.</a:t>
            </a:r>
          </a:p>
          <a:p/>
          <a:p>
            <a:r>
              <a:t>KAYNAK: Kitap s. 190 (tehlike), s. 191 (risk, afet, Görsel 6.4), s. 202 (bütüncül afet yönetiminin aşamaları: 'risk ve zarar azaltma, hazırlık, müdahale ve iyileştirme aşamalarında').</a:t>
            </a:r>
          </a:p>
          <a:p/>
          <a:p>
            <a:r>
              <a:t>NOT: ⚠ Kitabın bu soruya ait cevap anahtarı elimizde değildir (kitabın içindekiler listesine göre cevap anahtarları s. 233'teki karekoddadır): cevabı kitabın karekodlu cevap anahtarıyla karşılaştırın.</a:t>
            </a:r>
          </a:p>
        </p:txBody>
      </p:sp>
      <p:sp>
        <p:nvSpPr>
          <p:cNvPr id="4" name="Slide Number Placeholder 3"/>
          <p:cNvSpPr>
            <a:spLocks noGrp="1"/>
          </p:cNvSpPr>
          <p:nvPr>
            <p:ph type="sldNum" idx="5" sz="quarter"/>
          </p:nvPr>
        </p:nvSpPr>
        <p:spPr/>
      </p:sp>
    </p:spTree>
  </p:cSld>
  <p:clrMapOvr>
    <a:masterClrMapping/>
  </p:clrMapOvr>
</p:notes>
</file>

<file path=ppt/notesSlides/notesSlide2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Bütüncül afet yönetiminin dört aşamasını Shenzhen olayına uygulamak (COĞ.9.6.3 ile bağ).</a:t>
            </a:r>
          </a:p>
          <a:p/>
          <a:p>
            <a:r>
              <a:t>NASIL: Kartlar aşamaları ve düşünme sorularını verir (cevap değil). Evde: her aşama için olaya özgü en az bir öneri yazılır. Sınıfta kontrol ederken öğrencilerin önerilerini önce aşamalara yerleştirtin, sonra örnek cevap slaytını açın.</a:t>
            </a:r>
          </a:p>
          <a:p/>
          <a:p>
            <a:r>
              <a:t>BEKLENEN CEVAP: Örnek cevap sonraki slaytta: risk ve zarar azaltma (tehlike haritası, yasal düzenleme: yerleşime yakın denetimsiz döküm yok) · hazırlıklı olma (erken uyarı, tahliye planı, toplanma merkezi) · müdahale (arama kurtarma, zaruri ihtiyaçlar, hasar tespiti) · iyileştirme (altyapı, kalıcı konut, aynı riskin önlenmesi).</a:t>
            </a:r>
          </a:p>
          <a:p/>
          <a:p>
            <a:r>
              <a:t>KAYNAK: Kitap s. 210 (soru birebir), s. 202 (dört aşamanın kutuları; şema).</a:t>
            </a:r>
          </a:p>
          <a:p/>
          <a:p>
            <a:r>
              <a:t>NOT: 33. hafta ev çalışmasındaki sorulardandır. Kartların renkleri kitabın döngü şemasının renkleridir (s. 202).</a:t>
            </a:r>
          </a:p>
        </p:txBody>
      </p:sp>
      <p:sp>
        <p:nvSpPr>
          <p:cNvPr id="4" name="Slide Number Placeholder 3"/>
          <p:cNvSpPr>
            <a:spLocks noGrp="1"/>
          </p:cNvSpPr>
          <p:nvPr>
            <p:ph type="sldNum" idx="5" sz="quarter"/>
          </p:nvPr>
        </p:nvSpPr>
        <p:spPr/>
      </p:sp>
    </p:spTree>
  </p:cSld>
  <p:clrMapOvr>
    <a:masterClrMapping/>
  </p:clrMapOvr>
</p:notes>
</file>

<file path=ppt/notesSlides/notesSlide2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2. sorunun ölçütlü örnek cevabı: dört aşama, her biri için olaya özgü öneri.</a:t>
            </a:r>
          </a:p>
          <a:p/>
          <a:p>
            <a:r>
              <a:t>NASIL: Öğrencinin gerekçeli her önerisini kabul edin; önerinin hangi aşamaya ait olduğunu sorgulatın (aşamalar iç içe olabilir — s. 202). Olayın asıl nedenine (insan eliyle yığın + yağış) dokunan öneriyi öne çıkarın: risk ve zarar azaltma. 'Örnek cevap' tek doğru değildir.</a:t>
            </a:r>
          </a:p>
          <a:p/>
          <a:p>
            <a:r>
              <a:t>BEKLENEN CEVAP: Risk ve zarar azaltma: taş ocağı ve hafriyat döküm alanını tehlike haritasında göstermek; yerleşim ve sanayi alanına yakın, denetimsiz toprak ve inşaat atığı yığılmasını yasal düzenlemeyle önlemek; yığının yüksekliğini sınırlamak ve suyunu uzaklaştırmak (drenaj). Hazırlıklı olma: yığını ve yağışı izleyen erken uyarı sistemi; tahliye planı ve toplanma merkezi; çalışanların ve halkın eğitimi. Müdahale: arama kurtarma; gıda, barınma, ilaç, güvenlik; hasar tespiti ve enkaz kaldırma; yangın, patlama ve salgına karşı önlem. İyileştirme: temel ihtiyaçlar, ulaşım, elektrik, kalıcı konut; ekonomik ve sosyal hayatın normale dönmesi; yeni yapıları güvenli yerde kurmak; tecrübeyle başa dönmek.</a:t>
            </a:r>
          </a:p>
          <a:p/>
          <a:p>
            <a:r>
              <a:t>KAYNAK: Kitap s. 202 (dört aşamanın kutuları: 'tehlike haritalarının hazırlanması, afet için uygulanacak yasal düzenlemelerin oluşturulması'; 'erken uyarı sistemlerinin kurulması'; 'arama kurtarma faaliyetlerinin gerçekleştirilmesi'; 'kalıcı konut'), s. 203 (tecrübe ve bilgilerle başa dönüş). Yığın yüksekliğinin sınırlanması ve drenaj önerisi bilimseldir; kitapta yok.</a:t>
            </a:r>
          </a:p>
          <a:p/>
          <a:p>
            <a:r>
              <a:t>NOT: Ölçüt (iyi bir cevap): dört aşamanın her biri için olaya özgü en az bir öneri; olayın nedenini risk ve zarar azaltma aşamasına bağlama; genel cümle yerine 'bu olayda' somut öneri.</a:t>
            </a:r>
          </a:p>
          <a:p/>
          <a:p>
            <a:r>
              <a:t>OGM MATERYAL: OGM Materyal 178 aynı soruyu çözer. Olay metni ve görseller OGM sayfasında yoktur, kitaptan okunur. OGM'nin maddeleri aşamalara ayrılmamıştır; buradaki aşama eşlemesi s. 202 tanımlarına göredir. OGM'nin listesindeki jeolojik ve mühendislik analizleri, imar denetimi ve drenaj (risk ve zarar azaltma), halkın eğitimi (hazırlıklı olma), bölgenin güvenlik altına alınması (müdahale), psikososyal destek ve bölgenin jeoteknik olarak yeniden değerlendirilmesi (iyileştirme) de kabul edilir; hafriyat yönetiminde yeni düzenleme, başa dönüşle risk ve zarar azaltmaya girer (s. 203).</a:t>
            </a:r>
          </a:p>
        </p:txBody>
      </p:sp>
      <p:sp>
        <p:nvSpPr>
          <p:cNvPr id="4" name="Slide Number Placeholder 3"/>
          <p:cNvSpPr>
            <a:spLocks noGrp="1"/>
          </p:cNvSpPr>
          <p:nvPr>
            <p:ph type="sldNum" idx="5" sz="quarter"/>
          </p:nvPr>
        </p:nvSpPr>
        <p:spPr/>
      </p:sp>
    </p:spTree>
  </p:cSld>
  <p:clrMapOvr>
    <a:masterClrMapping/>
  </p:clrMapOvr>
</p:notes>
</file>

<file path=ppt/notesSlides/notesSlide2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3-5. soruların dayandığı metni okumak: afetlerin farklı özellikleri, bir afetin başka afetlere yol açması, 2000-2019 verileri.</a:t>
            </a:r>
          </a:p>
          <a:p/>
          <a:p>
            <a:r>
              <a:t>NASIL: Metni iki öğrenciye okutun. İki sözlü soru: 'Metne göre afetler hangi yönlerden farklıdır?' ve 'Bir afet başka bir afete nasıl yol açar?' (3 ve 4. sorulara hazırlık).</a:t>
            </a:r>
          </a:p>
          <a:p/>
          <a:p>
            <a:r>
              <a:t>BEKLENEN CEVAP: 1) Oluşum nedeni, süresi ve etki alanı (dar veya geniş) bakımından. 2) Sonuçları itibarıyla: sel, taşkın, deprem gibi afetlerden sonra salgın hastalıklar görülebilir.</a:t>
            </a:r>
          </a:p>
          <a:p/>
          <a:p>
            <a:r>
              <a:t>KAYNAK: Kitap s. 211 (yönerge ve metin birebir).</a:t>
            </a:r>
          </a:p>
          <a:p/>
          <a:p>
            <a:r>
              <a:t>NOT: Hassasiyet: Kahramanmaraş depremleri sınıfta yakın bir acıdır; kişisel anlatım istenmez, isteyen dinlenir. Metindeki sayılar kitabın cümlesiyle okunur; güncel ya da başka kaynaktan sayı eklenmez.</a:t>
            </a:r>
          </a:p>
        </p:txBody>
      </p:sp>
      <p:sp>
        <p:nvSpPr>
          <p:cNvPr id="4" name="Slide Number Placeholder 3"/>
          <p:cNvSpPr>
            <a:spLocks noGrp="1"/>
          </p:cNvSpPr>
          <p:nvPr>
            <p:ph type="sldNum" idx="5" sz="quarter"/>
          </p:nvPr>
        </p:nvSpPr>
        <p:spPr/>
      </p:sp>
    </p:spTree>
  </p:cSld>
  <p:clrMapOvr>
    <a:masterClrMapping/>
  </p:clrMapOvr>
</p:notes>
</file>

<file path=ppt/notesSlides/notesSlide2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Tabloyu okumak: en sık kaydedilen ve en çok insanı etkileyen afet türleri; tablonun metinle ilişkisi.</a:t>
            </a:r>
          </a:p>
          <a:p/>
          <a:p>
            <a:r>
              <a:t>NASIL: Önce başlığı ve sütunları okutun (birim: milyon kişi). Sağdaki üç soruyu sözlü sorun. '109' kitapta dört satırın ortak hücresidir: aşırı sıcaklar, volkanik faaliyetler, heyelan ve orman yangını birlikte 109 milyon kişiyi etkilemiştir. '---': uluslararası göç ve yoksullukta olay sayısı verilmemiştir.</a:t>
            </a:r>
          </a:p>
          <a:p/>
          <a:p>
            <a:r>
              <a:t>BEKLENEN CEVAP: 1) Ulaşım kazaları (3.548), sonra sel (3.254). 2) Sel (1.650 milyon), sonra kuraklık (1.430 milyon); yoksulluk satırı 1.167 milyon (ortalama insan sayısı). 3) Afet sayılarının toplamı 3.254 + 552 + 822 + 338 + 432 + 102 + 376 + 238 + 2.043 + 3.548 = 11.705: metindeki 'Son yirmi yılda 11.705 afet kaydedilmiş' sayısıdır.</a:t>
            </a:r>
          </a:p>
          <a:p/>
          <a:p>
            <a:r>
              <a:t>KAYNAK: Kitap s. 211 tablosu (sunumda yeniden dizildi; bütün hücreler kitaptaki gibi, birleşik hücre dâhil). Toplamlar tablodan hesaplandı.</a:t>
            </a:r>
          </a:p>
          <a:p/>
          <a:p>
            <a:r>
              <a:t>NOT: Etkilenen insan sayılarının toplamı ≈ 5.651,03 milyon kişidir; metindeki '5,6 milyar' bunun yaklaşık değeridir (göç ve yoksulluk satırları dâhil). Endüstriyel kaza ve ulaşım kazası satırlarının etkilediği insan sayısı az (1,4 ve 0,13 milyon) ama olay sayıları yüksektir: 'sık görülen' ile 'çok insan etkileyen' aynı şey değildir.</a:t>
            </a:r>
          </a:p>
        </p:txBody>
      </p:sp>
      <p:sp>
        <p:nvSpPr>
          <p:cNvPr id="4" name="Slide Number Placeholder 3"/>
          <p:cNvSpPr>
            <a:spLocks noGrp="1"/>
          </p:cNvSpPr>
          <p:nvPr>
            <p:ph type="sldNum" idx="5" sz="quarter"/>
          </p:nvPr>
        </p:nvSpPr>
        <p:spPr/>
      </p:sp>
    </p:spTree>
  </p:cSld>
  <p:clrMapOvr>
    <a:masterClrMapping/>
  </p:clrMapOvr>
</p:notes>
</file>

<file path=ppt/notesSlides/notesSlide2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Afetlerin sınıflandırılmasında kullanılan ölçütleri hatırlamak (COĞ.9.6.2).</a:t>
            </a:r>
          </a:p>
          <a:p/>
          <a:p>
            <a:r>
              <a:t>NASIL: 1 dakika bireysel işaretleme; sonra el kaldırarak her kutucuğu oylayın. Metindeki 'farklı oluşum nedeni ve süresine sahip, etki alanı dar veya geniş' ifadesine dikkat çekin.</a:t>
            </a:r>
          </a:p>
          <a:p/>
          <a:p>
            <a:r>
              <a:t>BEKLENEN CEVAP: İşaretlenecekler: etki alanına göre, oluşum nedenine göre, oluşum hızına göre.</a:t>
            </a:r>
          </a:p>
          <a:p/>
          <a:p>
            <a:r>
              <a:t>KAYNAK: Kitap s. 211 (soru ve altı kutucuk birebir, kitaptaki sırayla; numaralar sunuma aittir), s. 194.</a:t>
            </a:r>
          </a:p>
          <a:p/>
          <a:p>
            <a:r>
              <a:t>NOT: Sınav öncesi tekrar sorusudur (isteğe bağlı).</a:t>
            </a:r>
          </a:p>
        </p:txBody>
      </p:sp>
      <p:sp>
        <p:nvSpPr>
          <p:cNvPr id="4" name="Slide Number Placeholder 3"/>
          <p:cNvSpPr>
            <a:spLocks noGrp="1"/>
          </p:cNvSpPr>
          <p:nvPr>
            <p:ph type="sldNum" idx="5" sz="quarter"/>
          </p:nvPr>
        </p:nvSpPr>
        <p:spPr/>
      </p:sp>
    </p:spTree>
  </p:cSld>
  <p:clrMapOvr>
    <a:masterClrMapping/>
  </p:clrMapOvr>
</p:notes>
</file>

<file path=ppt/notesSlides/notesSlide2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Kitabın üç sınıflandırma ölçütünü göstermek; işaretlenmeyen üç kutucuğun neden ölçüt olmadığını açıklamak.</a:t>
            </a:r>
          </a:p>
          <a:p/>
          <a:p>
            <a:r>
              <a:t>NASIL: Alttaki kitap cümlesini okutun. 'Gelişmişlik düzeyi' kutucuğunda durun: gelişmişlik afetin etkisini değiştirir (aynı büyüklükteki deprem az gelişmiş ülkede daha çok kayba yol açabilir), ama afetleri türlere ayırmak için kullanılmaz.</a:t>
            </a:r>
          </a:p>
          <a:p/>
          <a:p>
            <a:r>
              <a:t>BEKLENEN CEVAP: ✓ etki alanına göre · ✓ oluşum nedenine göre · ✓ oluşum hızına göre · ✗ gelişmişlik düzeyine göre · ✗ beşerî faaliyetlere etkisine göre · ✗ doğal çevreye etkisine göre.</a:t>
            </a:r>
          </a:p>
          <a:p/>
          <a:p>
            <a:r>
              <a:t>KAYNAK: Kitap s. 194: 'Afetler, sınıflandırılırken çeşitli ölçütler dikkate alınmaktadır.' s. 191: 'Ekstrem doğa olaylarının beşerî unsurlar üzerindeki etkileri, meydana geldiği bölge veya ülkenin gelişmişlik seviyesi ve nüfus yoğunluğuna göre farklılık gösterir.'</a:t>
            </a:r>
          </a:p>
          <a:p/>
          <a:p>
            <a:r>
              <a:t>NOT: ⚠ Kitabın bu soruya ait cevap anahtarı elimizde değildir (kitabın içindekiler listesine göre cevap anahtarları s. 233'teki karekoddadır): cevabı kitabın karekodlu cevap anahtarıyla karşılaştırın.</a:t>
            </a:r>
          </a:p>
        </p:txBody>
      </p:sp>
      <p:sp>
        <p:nvSpPr>
          <p:cNvPr id="4" name="Slide Number Placeholder 3"/>
          <p:cNvSpPr>
            <a:spLocks noGrp="1"/>
          </p:cNvSpPr>
          <p:nvPr>
            <p:ph type="sldNum" idx="5" sz="quarter"/>
          </p:nvPr>
        </p:nvSpPr>
        <p:spPr/>
      </p:sp>
    </p:spTree>
  </p:cSld>
  <p:clrMapOvr>
    <a:masterClrMapping/>
  </p:clrMapOvr>
</p:notes>
</file>

<file path=ppt/notesSlides/notesSlide2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Bir afetin başka afetlere yol açabileceğini (ikincil afetler) bilmek; olumsuz soru kökünü fark etmek.</a:t>
            </a:r>
          </a:p>
          <a:p/>
          <a:p>
            <a:r>
              <a:t>NASIL: Soru kökündeki 'yer almaz' ifadesine dikkat çekin (kalın). Her seçenek için 'Deprem bunu tetikleyebilir mi? Nasıl?' diye sorun. Soldaki metin cümlesi kitabın 3-5. soru metnindendir.</a:t>
            </a:r>
          </a:p>
          <a:p/>
          <a:p>
            <a:r>
              <a:t>BEKLENEN CEVAP: D) Sel ve taşkın.</a:t>
            </a:r>
          </a:p>
          <a:p/>
          <a:p>
            <a:r>
              <a:t>KAYNAK: Kitap s. 211 (soru ve seçenekler birebir; soldaki iki cümle 3-5. soruların metninden).</a:t>
            </a:r>
          </a:p>
          <a:p/>
          <a:p>
            <a:r>
              <a:t>NOT: Sınav öncesi tekrar sorusudur (isteğe bağlı). Yoruma açık bir sorudur: cevap gerekçesi cevap slaytının notunda.</a:t>
            </a:r>
          </a:p>
        </p:txBody>
      </p:sp>
      <p:sp>
        <p:nvSpPr>
          <p:cNvPr id="4" name="Slide Number Placeholder 3"/>
          <p:cNvSpPr>
            <a:spLocks noGrp="1"/>
          </p:cNvSpPr>
          <p:nvPr>
            <p:ph type="sldNum" idx="5" sz="quarter"/>
          </p:nvPr>
        </p:nvSpPr>
        <p:spPr/>
      </p:sp>
    </p:spTree>
  </p:cSld>
  <p:clrMapOvr>
    <a:masterClrMapping/>
  </p:clrMapOvr>
</p:notes>
</file>

<file path=ppt/notesSlides/notesSlide2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Doğru seçeneği ve her seçeneğin gerekçesini göstermek.</a:t>
            </a:r>
          </a:p>
          <a:p/>
          <a:p>
            <a:r>
              <a:t>NASIL: Önce kitapta yazanı ayırın: salgın hastalık (s. 211, s. 202) kitapta deprem sonrası anılır. Heyelan, tsunami ve çığın depremle tetiklenmesi kitapta yazmaz; bilimsel bilgi olarak açıklayın. Sel ve taşkın ise atmosfer olaylarına (aşırı yağış) bağlıdır.</a:t>
            </a:r>
          </a:p>
          <a:p/>
          <a:p>
            <a:r>
              <a:t>BEKLENEN CEVAP: D) Sel ve taşkın: sel ve taşkın aşırı yağış gibi atmosfer olaylarına bağlı klimatik-hidrolojik afetlerdir (s. 196; s. 191 'aşırı yağışların etkisiyle taşan bir akarsu'); kitap s. 211'de onları depremle yan yana, salgın hastalığa yol açan afetler arasında sayar — depremin sonucu olarak değil. Öbürleri depremden sonra yaşanabilir: salgın hastalık (kitap), heyelan, tsunami ve çığ (bilimsel).</a:t>
            </a:r>
          </a:p>
          <a:p/>
          <a:p>
            <a:r>
              <a:t>KAYNAK: Kitap s. 196 (klimatik-hidrolojik afetler), s. 191 (sel örneği), s. 211 (salgın hastalıklar), s. 202 (müdahale: '… salgın hastalıklar, çevreye yönelik tehditler gibi olumsuzluklara karşı önlem'). Heyelan, tsunami ve çığın deprem sarsıntısıyla tetiklenebilmesi bilimseldir; kitapta bu ifadeyle yok.</a:t>
            </a:r>
          </a:p>
          <a:p/>
          <a:p>
            <a:r>
              <a:t>NOT: Yorum notu: deprem bir baraj ya da set gölünü yıkarsa ani su baskını yaşanabilir; bu istisnadır, soru genel durumu sorar. Kitap çığı depremle ilişkilendirmez; bu yüzden bazı öğrenciler A diyebilir — depremin karla kaplı dik yamaçlarda çığı tetikleyebildiği bilimsel bilgisiyle açıklayın. ⚠ Kitabın bu soruya ait cevap anahtarı elimizde değildir (kitabın içindekiler listesine göre cevap anahtarları s. 233'teki karekoddadır): cevabı kitabın karekodlu cevap anahtarıyla karşılaştırın.</a:t>
            </a:r>
          </a:p>
        </p:txBody>
      </p:sp>
      <p:sp>
        <p:nvSpPr>
          <p:cNvPr id="4" name="Slide Number Placeholder 3"/>
          <p:cNvSpPr>
            <a:spLocks noGrp="1"/>
          </p:cNvSpPr>
          <p:nvPr>
            <p:ph type="sldNum" idx="5" sz="quarter"/>
          </p:nvPr>
        </p:nvSpPr>
        <p:spPr/>
      </p:sp>
    </p:spTree>
  </p:cSld>
  <p:clrMapOvr>
    <a:masterClrMapping/>
  </p:clrMapOvr>
</p:notes>
</file>

<file path=ppt/notesSlides/notesSlide2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Tablodaki afet türlerini oluşum kaynağına göre sınıflandırmak (COĞ.9.6.2; s. 196'daki etkinliğin tekrarı).</a:t>
            </a:r>
          </a:p>
          <a:p/>
          <a:p>
            <a:r>
              <a:t>NASIL: Çipler tablonun 12 satırıdır. Önce iki ana grubu (doğa kaynaklı, insan kaynaklı), sonra beş türü sorun. Evde: beş başlıklı bir tablo çizilip afetler yerleştirilir; kararsız kalınan afetin yanına gerekçe yazılır.</a:t>
            </a:r>
          </a:p>
          <a:p/>
          <a:p>
            <a:r>
              <a:t>BEKLENEN CEVAP: Örnek cevap sonraki iki slaytta.</a:t>
            </a:r>
          </a:p>
          <a:p/>
          <a:p>
            <a:r>
              <a:t>KAYNAK: Kitap s. 211 (soru birebir; çipler tablonun satırlarıdır), s. 196 (beş tür).</a:t>
            </a:r>
          </a:p>
          <a:p/>
          <a:p>
            <a:r>
              <a:t>NOT: 33. hafta ev çalışmasındaki sorulardandır.</a:t>
            </a:r>
          </a:p>
        </p:txBody>
      </p:sp>
      <p:sp>
        <p:nvSpPr>
          <p:cNvPr id="4" name="Slide Number Placeholder 3"/>
          <p:cNvSpPr>
            <a:spLocks noGrp="1"/>
          </p:cNvSpPr>
          <p:nvPr>
            <p:ph type="sldNum" idx="5" sz="quarter"/>
          </p:nvPr>
        </p:nvSpPr>
        <p:spPr/>
      </p:sp>
    </p:spTree>
  </p:cSld>
  <p:clrMapOvr>
    <a:masterClrMapping/>
  </p:clrMapOvr>
</p:notes>
</file>

<file path=ppt/notesSlides/notesSlide2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Tablodaki 12 afet türünün oluşum kaynağına göre sınıflandırılması (örnek cevap).</a:t>
            </a:r>
          </a:p>
          <a:p/>
          <a:p>
            <a:r>
              <a:t>NASIL: Önce kitabın açıkça sınıflandırdıklarını gösterin (deprem, volkanik faaliyetler · sel, kuraklık · göçler · ulaşım kazaları; sanayi kazaları teknolojik afetin tanımına uyar). Yıldızlı üç kalemin gerekçesi sonraki slayttadır. Biyolojik sütunu boştur: tabloda biyolojik afet yoktur.</a:t>
            </a:r>
          </a:p>
          <a:p/>
          <a:p>
            <a:r>
              <a:t>BEKLENEN CEVAP: Doğa kaynaklı — jeolojik: deprem, volkanik faaliyetler, heyelan · klimatik-hidrolojik: sel, kuraklık, aşırı sıcaklar, fırtına, orman yangını · biyolojik: tabloda yok. İnsan kaynaklı — sosyal: uluslararası göç, yoksulluk · teknolojik: endüstriyel kazalar, ulaşım kazaları.</a:t>
            </a:r>
          </a:p>
          <a:p/>
          <a:p>
            <a:r>
              <a:t>KAYNAK: Kitap s. 196: 'Afetler, oluşum nedenlerine göre doğa kaynaklı ve insan kaynaklı olabilmektedir.' (beş türün tanımı ve örnekleri). Aşırı sıcaklar ve fırtına kitapta s. 196 metninde adıyla geçmez; atmosfer olayına bağlı oldukları için klimatik-hidrolojiktir (s. 196 Afet Listesi'nde 'sıcak-soğuk hava dalgası', 'kasırga', 'hortum' vardır). Endüstriyel kazalar: s. 196 listesindeki 'sanayi kazaları'.</a:t>
            </a:r>
          </a:p>
          <a:p/>
          <a:p>
            <a:r>
              <a:t>NOT: Kitap tutarsızlığı: kitap salgınları s. 196'da biyolojik afet sayar, s. 190'da ise 'yangın, patlama, kaza, salgın hastalık, savaş vb. insan kaynaklı olaylar' arasında anar. Sınıflandırmada s. 196 esastır (salgın: biyolojik). Bu tabloda salgın yoktur. 31. haftanın s. 196 etkinliğinin örnek cevabıyla aynı sınıflandırma kullanılmalıdır. ⚠ Kitabın bu soruya ait cevap anahtarı elimizde değildir (kitabın içindekiler listesine göre cevap anahtarları s. 233'teki karekoddadır): cevabı kitabın karekodlu cevap anahtarıyla karşılaştırın.</a:t>
            </a:r>
          </a:p>
          <a:p/>
          <a:p>
            <a:r>
              <a:t>OGM MATERYAL: OGM Materyal 179 aynı soruyu çözer. OGM orman yangınını biyolojik sayar; bu, kitabın biyolojik afet tanımına uymaz (31. haftadaki tartışmalı kartlar). Yoksulluğu da hiçbir sınıfa koymaz. Burada yoksulluk s. 196'daki sosyal afet tanımıyla gerekçeli yerleştirildi; 'yoksulluk oluşum nedenine göre bir afet türü değildir, tabloya etkilenen insan sayısıyla girmiştir' diyen gerekçeli cevap da kabul edilir. Heyelanı jeolojik sayması burada da aynıdır.</a:t>
            </a:r>
          </a:p>
        </p:txBody>
      </p:sp>
      <p:sp>
        <p:nvSpPr>
          <p:cNvPr id="4" name="Slide Number Placeholder 3"/>
          <p:cNvSpPr>
            <a:spLocks noGrp="1"/>
          </p:cNvSpPr>
          <p:nvPr>
            <p:ph type="sldNum" idx="5" sz="quarter"/>
          </p:nvPr>
        </p:nvSpPr>
        <p:spPr/>
      </p:sp>
    </p:spTree>
  </p:cSld>
  <p:clrMapOvr>
    <a:masterClrMapping/>
  </p:clrMapOvr>
</p:notes>
</file>

<file path=ppt/notesSlides/notesSlide2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Yıldızlı üç kalemin sınıflandırma gerekçesini kitaba dayandırmak; iki gerekçenin de kabul edilebileceği yerleri göstermek.</a:t>
            </a:r>
          </a:p>
          <a:p/>
          <a:p>
            <a:r>
              <a:t>NASIL: Her kartta öğrenciye 'Bu afetin kaynağı ne? Yer kabuğu mu, atmosfer mi, insan mı?' diye sordurun. Gerekçesi doğru olan farklı yerleştirmeleri kabul edin (heyelan ve orman yangını).</a:t>
            </a:r>
          </a:p>
          <a:p/>
          <a:p>
            <a:r>
              <a:t>BEKLENEN CEVAP: Heyelan: jeolojik (yamaçtaki toprak ve kaya kütlesinin hareketi; deprem de tetikleyebilir) — aşırı yağışla tetiklenirse klimatik-hidrolojik de denebilir. Orman yangını: yıldırım düşmesi ve aşırı sıcaklarla çıkarsa doğa kaynaklı (klimatik-hidrolojik), insan ihmali ya da kastıyla çıkarsa insan kaynaklı. Yoksulluk: kitap adıyla saymaz; sosyal afetin tanımına göre insan kaynaklı-sosyal.</a:t>
            </a:r>
          </a:p>
          <a:p/>
          <a:p>
            <a:r>
              <a:t>KAYNAK: Kitap s. 190 Görsel 6.1 künyesi ve 'yangın … insan kaynaklı olaylar' cümlesi; s. 196 (beş türün tanımları). Heyelanın yağışla tetiklenmesi bilimseldir; kitapta yok.</a:t>
            </a:r>
          </a:p>
          <a:p/>
          <a:p>
            <a:r>
              <a:t>NOT: Biyolojik grubun boş kalması öğrenciyi şaşırtabilir: tabloda salgın ya da böcek istilası gibi biyolojik afet yoktur.</a:t>
            </a:r>
          </a:p>
        </p:txBody>
      </p:sp>
      <p:sp>
        <p:nvSpPr>
          <p:cNvPr id="4" name="Slide Number Placeholder 3"/>
          <p:cNvSpPr>
            <a:spLocks noGrp="1"/>
          </p:cNvSpPr>
          <p:nvPr>
            <p:ph type="sldNum" idx="5" sz="quarter"/>
          </p:nvPr>
        </p:nvSpPr>
        <p:spPr/>
      </p:sp>
    </p:spTree>
  </p:cSld>
  <p:clrMapOvr>
    <a:masterClrMapping/>
  </p:clrMapOvr>
</p:notes>
</file>

<file path=ppt/notesSlides/notesSlide2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6-9. soruların dayandığı metni ve döngü şemasını okumak: bütüncül afet yönetiminin dört aşaması ve en önemli aşaması.</a:t>
            </a:r>
          </a:p>
          <a:p/>
          <a:p>
            <a:r>
              <a:t>NASIL: Metni okutun, sonra şemada dört aşamayı saat yönünde buldurun: risk ve zarar azaltma → hazırlıklı olma → (AFET) → müdahale → iyileştirme → yeniden başa. Üstteki 'RİSK YÖNETİMİ' ilk iki aşamayı (afet öncesi), alttaki 'KRİZ YÖNETİMİ' son iki aşamayı (afet esnası ve sonrası) kapsar. Sözlü soru: 'Metne göre en önemli aşama hangisi, neden?'</a:t>
            </a:r>
          </a:p>
          <a:p/>
          <a:p>
            <a:r>
              <a:t>BEKLENEN CEVAP: Risk ve zarar azaltma (afet risklerini azaltma evresi): zararların en aza indirilmesi için afet öncesi çalışmalar daha önemlidir.</a:t>
            </a:r>
          </a:p>
          <a:p/>
          <a:p>
            <a:r>
              <a:t>KAYNAK: Kitap s. 212 (yönerge, metin birebir; şema kırpıldı — kitabın s. 202 şemasıyla aynı).</a:t>
            </a:r>
          </a:p>
          <a:p/>
          <a:p>
            <a:r>
              <a:t>NOT: Şemadaki ok etiketleri: Önlem · Tahmin ve erken uyarı · Etki analizi · Rehabilitasyon · Yeniden yapılandırma (32. haftada işlendi).</a:t>
            </a:r>
          </a:p>
        </p:txBody>
      </p:sp>
      <p:sp>
        <p:nvSpPr>
          <p:cNvPr id="4" name="Slide Number Placeholder 3"/>
          <p:cNvSpPr>
            <a:spLocks noGrp="1"/>
          </p:cNvSpPr>
          <p:nvPr>
            <p:ph type="sldNum" idx="5" sz="quarter"/>
          </p:nvPr>
        </p:nvSpPr>
        <p:spPr/>
      </p:sp>
    </p:spTree>
  </p:cSld>
  <p:clrMapOvr>
    <a:masterClrMapping/>
  </p:clrMapOvr>
</p:notes>
</file>

<file path=ppt/notesSlides/notesSlide2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Kitabın klasik ve yeni (bütüncül) yaklaşım tablosunu okumak (7 ve 9. sorular).</a:t>
            </a:r>
          </a:p>
          <a:p/>
          <a:p>
            <a:r>
              <a:t>NASIL: Satır satır okutun; her satırda 'Ne değişti?' diye sorup tek kelimelik bir başlık buldurun (ör. afete bakış, toplumun yeri). Bu başlıklar 9. sorunun cevabında kullanılacak.</a:t>
            </a:r>
          </a:p>
          <a:p/>
          <a:p>
            <a:r>
              <a:t>BEKLENEN CEVAP: Başlık önerileri: 1 afete bakış · 2 toplumun ilgisi · 3 çözüm türü · 4 katılım ve karar verenler.</a:t>
            </a:r>
          </a:p>
          <a:p/>
          <a:p>
            <a:r>
              <a:t>KAYNAK: Kitap s. 212 tablosu (sunumda iki slayta bölündü; hücreler birebir, sıra kitaptaki gibi).</a:t>
            </a:r>
          </a:p>
          <a:p/>
          <a:p>
            <a:r>
              <a:t>NOT: Tablonun başlığı kitapta: 'Tablo: Klasik ve Bütüncül Afet Yönetiminin Getirdiği Yeni Yaklaşımın Özellikleri'.</a:t>
            </a:r>
          </a:p>
        </p:txBody>
      </p:sp>
      <p:sp>
        <p:nvSpPr>
          <p:cNvPr id="4" name="Slide Number Placeholder 3"/>
          <p:cNvSpPr>
            <a:spLocks noGrp="1"/>
          </p:cNvSpPr>
          <p:nvPr>
            <p:ph type="sldNum" idx="5" sz="quarter"/>
          </p:nvPr>
        </p:nvSpPr>
        <p:spPr/>
      </p:sp>
    </p:spTree>
  </p:cSld>
  <p:clrMapOvr>
    <a:masterClrMapping/>
  </p:clrMapOvr>
</p:notes>
</file>

<file path=ppt/notesSlides/notesSlide2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Tablonun devamı: hesap verme, çalışmaların zamanı, afet sonrası amaç.</a:t>
            </a:r>
          </a:p>
          <a:p/>
          <a:p>
            <a:r>
              <a:t>NASIL: Son satırda durun: klasik yaklaşımda amaç eski duruma dönmektir, yeni yaklaşımda afet bir dönüşüm fırsatıdır — 7. sorunun I. öncülüyle ilişkilidir.</a:t>
            </a:r>
          </a:p>
          <a:p/>
          <a:p>
            <a:r>
              <a:t>BEKLENEN CEVAP: Başlık önerileri: 5 hesap verme ve şeffaflık · 6 çalışmaların zamanı · 7 afet sonrası amaç.</a:t>
            </a:r>
          </a:p>
          <a:p/>
          <a:p>
            <a:r>
              <a:t>KAYNAK: Kitap s. 212 tablosu (sunumda iki slayta bölündü; hücreler birebir, sıra kitaptaki gibi).</a:t>
            </a:r>
          </a:p>
          <a:p/>
          <a:p>
            <a:r>
              <a:t>NOT: Tablonun başlığı kitapta: 'Tablo: Klasik ve Bütüncül Afet Yönetiminin Getirdiği Yeni Yaklaşımın Özellikleri'.</a:t>
            </a:r>
          </a:p>
        </p:txBody>
      </p:sp>
      <p:sp>
        <p:nvSpPr>
          <p:cNvPr id="4" name="Slide Number Placeholder 3"/>
          <p:cNvSpPr>
            <a:spLocks noGrp="1"/>
          </p:cNvSpPr>
          <p:nvPr>
            <p:ph type="sldNum" idx="5" sz="quarter"/>
          </p:nvPr>
        </p:nvSpPr>
        <p:spPr/>
      </p:sp>
    </p:spTree>
  </p:cSld>
  <p:clrMapOvr>
    <a:masterClrMapping/>
  </p:clrMapOvr>
</p:notes>
</file>

<file path=ppt/notesSlides/notesSlide2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Bütüncül afet yönetiminin dört aşamasını ayırt etmek.</a:t>
            </a:r>
          </a:p>
          <a:p/>
          <a:p>
            <a:r>
              <a:t>NASIL: 1 dakika bireysel işaretleme; şemaya (6-9. soruların ilk slaytı) bakılabilir. Sonra sınıfça kaç kutucuk işaretlendiğini sorun: dört.</a:t>
            </a:r>
          </a:p>
          <a:p/>
          <a:p>
            <a:r>
              <a:t>BEKLENEN CEVAP: İşaretlenecekler: hazırlıklı olma, risk ve zarar azaltma, iyileştirme, müdahale.</a:t>
            </a:r>
          </a:p>
          <a:p/>
          <a:p>
            <a:r>
              <a:t>KAYNAK: Kitap s. 213 (soru ve yedi kutucuk birebir, kitaptaki sırayla; numaralar sunuma aittir).</a:t>
            </a:r>
          </a:p>
          <a:p/>
          <a:p>
            <a:r>
              <a:t>NOT: Sınav öncesi tekrar sorusudur (isteğe bağlı).</a:t>
            </a:r>
          </a:p>
        </p:txBody>
      </p:sp>
      <p:sp>
        <p:nvSpPr>
          <p:cNvPr id="4" name="Slide Number Placeholder 3"/>
          <p:cNvSpPr>
            <a:spLocks noGrp="1"/>
          </p:cNvSpPr>
          <p:nvPr>
            <p:ph type="sldNum" idx="5" sz="quarter"/>
          </p:nvPr>
        </p:nvSpPr>
        <p:spPr/>
      </p:sp>
    </p:spTree>
  </p:cSld>
  <p:clrMapOvr>
    <a:masterClrMapping/>
  </p:clrMapOvr>
</p:notes>
</file>

<file path=ppt/notesSlides/notesSlide2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Dört aşamayı kitabın tanımı ve şemasıyla göstermek.</a:t>
            </a:r>
          </a:p>
          <a:p/>
          <a:p>
            <a:r>
              <a:t>NASIL: Doğru dört aşamayı şemadaki renkleriyle eşleştirtin. İşaretlenmeyen üç kutucuk (süreç izleme ve raporlama, performans ölçümü, belge ve kayıt kontrolü) bir kurumun yönetim işleri olabilir; ama kitabın bütüncül afet yönetimi aşamaları değildir.</a:t>
            </a:r>
          </a:p>
          <a:p/>
          <a:p>
            <a:r>
              <a:t>BEKLENEN CEVAP: ✓ hazırlıklı olma · ✓ risk ve zarar azaltma · ✓ iyileştirme · ✓ müdahale · ✗ süreç izleme ve raporlama · ✗ performans ölçümü · ✗ belge ve kayıt kontrolü.</a:t>
            </a:r>
          </a:p>
          <a:p/>
          <a:p>
            <a:r>
              <a:t>KAYNAK: Kitap s. 202: 'Bütüncül afet yönetimi, afetlerle baş edebilen bir toplum oluşturmak için tüm tehlikelerin dikkate alındığı; risk ve zarar azaltma, hazırlık, müdahale ve iyileştirme aşamalarında yapılması gereken çalışmalar ve alınması gereken önlemlerin toplumdaki kaynakların kullanılmasıyla gerçekleştirilebildiği bir süreçtir.' s. 212 şeması.</a:t>
            </a:r>
          </a:p>
          <a:p/>
          <a:p>
            <a:r>
              <a:t>NOT: ⚠ Kitabın bu soruya ait cevap anahtarı elimizde değildir (kitabın içindekiler listesine göre cevap anahtarları s. 233'teki karekoddadır): cevabı kitabın karekodlu cevap anahtarıyla karşılaştırın.</a:t>
            </a:r>
          </a:p>
        </p:txBody>
      </p:sp>
      <p:sp>
        <p:nvSpPr>
          <p:cNvPr id="4" name="Slide Number Placeholder 3"/>
          <p:cNvSpPr>
            <a:spLocks noGrp="1"/>
          </p:cNvSpPr>
          <p:nvPr>
            <p:ph type="sldNum" idx="5" sz="quarter"/>
          </p:nvPr>
        </p:nvSpPr>
        <p:spPr/>
      </p:sp>
    </p:spTree>
  </p:cSld>
  <p:clrMapOvr>
    <a:masterClrMapping/>
  </p:clrMapOvr>
</p:notes>
</file>

<file path=ppt/notesSlides/notesSlide2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İdeal (bütüncül) iyileştirme sürecinin özelliklerini kitabın yeni yaklaşımına göre değerlendirmek.</a:t>
            </a:r>
          </a:p>
          <a:p/>
          <a:p>
            <a:r>
              <a:t>NASIL: Öncülleri tek tek okuyup 'Kitapta bunu destekleyen bir cümle var mı?' diye sorun. İpucu: s. 212 tablosunun son satırı (afet sonrası amaç) ve s. 202'deki iyileştirme cümlesi. 1 dakika bireysel.</a:t>
            </a:r>
          </a:p>
          <a:p/>
          <a:p>
            <a:r>
              <a:t>BEKLENEN CEVAP: E) I, II ve III.</a:t>
            </a:r>
          </a:p>
          <a:p/>
          <a:p>
            <a:r>
              <a:t>KAYNAK: Kitap s. 213 (soru, öncüller ve seçenekler birebir).</a:t>
            </a:r>
          </a:p>
          <a:p/>
          <a:p>
            <a:r>
              <a:t>NOT: Sınav öncesi tekrar sorusudur (isteğe bağlı). Yoruma açık bir sorudur: gerekçe cevap slaytının notunda.</a:t>
            </a:r>
          </a:p>
        </p:txBody>
      </p:sp>
      <p:sp>
        <p:nvSpPr>
          <p:cNvPr id="4" name="Slide Number Placeholder 3"/>
          <p:cNvSpPr>
            <a:spLocks noGrp="1"/>
          </p:cNvSpPr>
          <p:nvPr>
            <p:ph type="sldNum" idx="5" sz="quarter"/>
          </p:nvPr>
        </p:nvSpPr>
        <p:spPr/>
      </p:sp>
    </p:spTree>
  </p:cSld>
  <p:clrMapOvr>
    <a:masterClrMapping/>
  </p:clrMapOvr>
</p:notes>
</file>

<file path=ppt/notesSlides/notesSlide2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Doğru seçeneği ve üç öncülün kitaptaki dayanağını göstermek.</a:t>
            </a:r>
          </a:p>
          <a:p/>
          <a:p>
            <a:r>
              <a:t>NASIL: Soldaki üç kartı okutun. I. öncülde durun: 'Afet öncesi sorunlar iyileştirmenin konusu mu?' Klasik yaklaşım toplumu afet öncesi duruma döndürmeyi amaçlar; yeni yaklaşımda afet bir dönüşüm fırsatıdır — yeniden yapılanmada afet öncesindeki sorunlar (dayanıksız yapılar, yanlış yer seçimi) tanımlanmazsa aynı afet tekrarlanır.</a:t>
            </a:r>
          </a:p>
          <a:p/>
          <a:p>
            <a:r>
              <a:t>BEKLENEN CEVAP: E) I, II ve III. I: afet bir dönüşüm fırsatıdır (s. 212), tecrübe ve bilgilerle başa dönülerek risk azaltmaya geçilir (s. 203) — afet öncesinde oluşan sorunlar tanımlanır. II: insanların sürece katılımı esastır (s. 212). III: iyileştirmede oluşması muhtemel tehlike ve riskler önlenir (s. 202).</a:t>
            </a:r>
          </a:p>
          <a:p/>
          <a:p>
            <a:r>
              <a:t>KAYNAK: Kitap s. 202, 203 ('Afet esnasında yapılan müdahaleler ve sonrasındaki iyileştirme çalışmalarının ardından elde edilen tecrübe ve bilgiler bağlamında başa dönülerek afet öncesi risk ve zarar azaltma ile hazırlıklı olma evrelerine geçilmelidir.'), s. 212 tablosu.</a:t>
            </a:r>
          </a:p>
          <a:p/>
          <a:p>
            <a:r>
              <a:t>NOT: Yorum notu: bir öğrenci I'i 'afet öncesi risk analizi' sayıp iyileştirme dışında bırakabilir ve D der. Kitabın yeni yaklaşımına göre ideal iyileştirme yalnız eski duruma dönüş değildir; afet öncesindeki sorunları tanımlayıp gidermeyi de kapsar → E. Sunumun gerekçesi budur. ⚠ Kitabın bu soruya ait cevap anahtarı elimizde değildir (kitabın içindekiler listesine göre cevap anahtarları s. 233'teki karekoddadır): cevabı kitabın karekodlu cevap anahtarıyla karşılaştırın.</a:t>
            </a:r>
          </a:p>
        </p:txBody>
      </p:sp>
      <p:sp>
        <p:nvSpPr>
          <p:cNvPr id="4" name="Slide Number Placeholder 3"/>
          <p:cNvSpPr>
            <a:spLocks noGrp="1"/>
          </p:cNvSpPr>
          <p:nvPr>
            <p:ph type="sldNum" idx="5" sz="quarter"/>
          </p:nvPr>
        </p:nvSpPr>
        <p:spPr/>
      </p:sp>
    </p:spTree>
  </p:cSld>
  <p:clrMapOvr>
    <a:masterClrMapping/>
  </p:clrMapOvr>
</p:notes>
</file>

<file path=ppt/notesSlides/notesSlide2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Risk ve zarar azaltma aşamasının öbür üç aşamayla ilişkisini kitabın metni ve şemasıyla açıklamak (COĞ.9.6.3 b-c: bileşenler arası ilişki, sonuç çıkarma).</a:t>
            </a:r>
          </a:p>
          <a:p/>
          <a:p>
            <a:r>
              <a:t>NASIL: Şemada risk ve zarar azaltmayı gösterin; 'Bu aşamada yapılanlar hazırlığı, müdahaleyi ve iyileştirmeyi nasıl etkiler? İyileştirmeden sonra neden yeniden bu aşamaya dönülür?' Evde her ilişki için bir cümle yazılır.</a:t>
            </a:r>
          </a:p>
          <a:p/>
          <a:p>
            <a:r>
              <a:t>BEKLENEN CEVAP: Örnek cevap sonraki slaytta.</a:t>
            </a:r>
          </a:p>
          <a:p/>
          <a:p>
            <a:r>
              <a:t>KAYNAK: Kitap s. 213 (soru birebir), s. 212 (metin ve şema).</a:t>
            </a:r>
          </a:p>
          <a:p/>
          <a:p>
            <a:r>
              <a:t>NOT: 33. hafta ev çalışmasındaki sorulardandır.</a:t>
            </a:r>
          </a:p>
        </p:txBody>
      </p:sp>
      <p:sp>
        <p:nvSpPr>
          <p:cNvPr id="4" name="Slide Number Placeholder 3"/>
          <p:cNvSpPr>
            <a:spLocks noGrp="1"/>
          </p:cNvSpPr>
          <p:nvPr>
            <p:ph type="sldNum" idx="5" sz="quarter"/>
          </p:nvPr>
        </p:nvSpPr>
        <p:spPr/>
      </p:sp>
    </p:spTree>
  </p:cSld>
  <p:clrMapOvr>
    <a:masterClrMapping/>
  </p:clrMapOvr>
</p:notes>
</file>

<file path=ppt/notesSlides/notesSlide2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8. sorunun ölçütlü örnek cevabı: risk ve zarar azaltmanın öbür üç aşamayla ilişkisi.</a:t>
            </a:r>
          </a:p>
          <a:p/>
          <a:p>
            <a:r>
              <a:t>NASIL: Okları sırayla açıklayın: hazırlığın verisi bu aşamadan gelir; riskler azaldıkça müdahalenin yükü azalır; iyileştirme yeni riskleri önler ve tecrübeyle başa, risk ve zarar azaltmaya döner. Öğrencinin cümlesinde 'ilişki' kelimesinin karşılığı aranır: etkiler, temel oluşturur, geri besler.</a:t>
            </a:r>
          </a:p>
          <a:p/>
          <a:p>
            <a:r>
              <a:t>BEKLENEN CEVAP: Risk ve zarar azaltma bütüncül afet yönetiminin ilk ve en önemli aşamasıdır. Bu aşamada hazırlanan tehlike haritaları ve risk analizinden elde edilen veriler hazırlıklı olmanın temelidir (ihtiyaçlar, tahliye, toplanma merkezi, acil eylem planı). Riskler önceden azaltılırsa can ve mal kaybı azalır, müdahale kolaylaşır. İyileştirmede yeni tehlike ve risklerin önlenmesi amaçlanır; edinilen tecrübe ve bilgilerle başa dönülerek yeniden risk ve zarar azaltma çalışmalarına geçilir. Aşamalar iç içedir; her aşama bir sonrakini etkiler.</a:t>
            </a:r>
          </a:p>
          <a:p/>
          <a:p>
            <a:r>
              <a:t>KAYNAK: Kitap s. 202 ('Herhangi bir afet yaşanmadan önce risk analizi ve zarar azaltma evresinde elde edilen verilerden hareketle …'; 'Aşamalar, her zaman birbirini takip etmek zorunda olmayıp genellikle iç içedir.'), s. 203 ('Bütüncül afet yönetimi döngüsü, her aşamada yapılan faaliyetlerden bir sonraki aşamada yapılması gereken faaliyetlerin de etkileneceğini ifade etmektedir.'), s. 212. 'Riskler azaltılırsa müdahale kolaylaşır' çıkarımı s. 212 metnine dayanır (zararların en aza indirilmesi için afet öncesi çalışmalar).</a:t>
            </a:r>
          </a:p>
          <a:p/>
          <a:p>
            <a:r>
              <a:t>NOT: Ölçüt (iyi bir cevap): üç aşamanın her biriyle ilişkiyi ayrı ayrı kurar; 'ilk ve en önemli aşama' gerekçesini verir; döngünün başa dönüşünü (geri besleme) anar.</a:t>
            </a:r>
          </a:p>
        </p:txBody>
      </p:sp>
      <p:sp>
        <p:nvSpPr>
          <p:cNvPr id="4" name="Slide Number Placeholder 3"/>
          <p:cNvSpPr>
            <a:spLocks noGrp="1"/>
          </p:cNvSpPr>
          <p:nvPr>
            <p:ph type="sldNum" idx="5" sz="quarter"/>
          </p:nvPr>
        </p:nvSpPr>
        <p:spPr/>
      </p:sp>
    </p:spTree>
  </p:cSld>
  <p:clrMapOvr>
    <a:masterClrMapping/>
  </p:clrMapOvr>
</p:notes>
</file>

<file path=ppt/notesSlides/notesSlide2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Klasik ve yeni yaklaşımı ölçütler belirleyerek karşılaştırmak (COĞ.9.6.3 ç: sonuçları karşılaştırma).</a:t>
            </a:r>
          </a:p>
          <a:p/>
          <a:p>
            <a:r>
              <a:t>NASIL: Karşılaştırmada tablo satırlarını kopyalamak yerine ölçüt belirlemeyi öğretin: alttaki çipler karşılaştırma ölçütleridir. Kalıp: 'Klasik yaklaşımda … iken yeni yaklaşımda …'.</a:t>
            </a:r>
          </a:p>
          <a:p/>
          <a:p>
            <a:r>
              <a:t>BEKLENEN CEVAP: Örnek cevap sonraki slaytta.</a:t>
            </a:r>
          </a:p>
          <a:p/>
          <a:p>
            <a:r>
              <a:t>KAYNAK: Kitap s. 213 (soru), s. 212 (tablo).</a:t>
            </a:r>
          </a:p>
          <a:p/>
          <a:p>
            <a:r>
              <a:t>NOT: Kitap düzeltmesi: soruda 'Bütüncül afet yönetimin getirdiği' yazılıdır; doğrusu 'yönetiminin' (tamlama eki). Sınav öncesi tekrar sorusudur (isteğe bağlı).</a:t>
            </a:r>
          </a:p>
        </p:txBody>
      </p:sp>
      <p:sp>
        <p:nvSpPr>
          <p:cNvPr id="4" name="Slide Number Placeholder 3"/>
          <p:cNvSpPr>
            <a:spLocks noGrp="1"/>
          </p:cNvSpPr>
          <p:nvPr>
            <p:ph type="sldNum" idx="5" sz="quarter"/>
          </p:nvPr>
        </p:nvSpPr>
        <p:spPr/>
      </p:sp>
    </p:spTree>
  </p:cSld>
  <p:clrMapOvr>
    <a:masterClrMapping/>
  </p:clrMapOvr>
</p:notes>
</file>

<file path=ppt/notesSlides/notesSlide2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9. sorunun ölçütlü örnek cevabı: altı ölçütte karşılaştırma ve bir sonuç cümlesi.</a:t>
            </a:r>
          </a:p>
          <a:p/>
          <a:p>
            <a:r>
              <a:t>NASIL: Satırları öğrencilerle birlikte doldurun gibi okuyun: önce ölçütü söyleyin, iki sütunu öğrenci söylesin. Son satırdaki sonuç cümlesi örnektir; öğrenci kendi sonucunu yazar.</a:t>
            </a:r>
          </a:p>
          <a:p/>
          <a:p>
            <a:r>
              <a:t>BEKLENEN CEVAP: Klasik yaklaşımda afetler nadir olay sayılır, çalışmalar daha çok afet sonrası yapılır, merkezî kamu kurumları tek söz sahibidir, toplumun katılımı istenmez, çözümler teknik ve yasal emirlerdir, amaç toplumu afet öncesi duruma döndürmektir. Yeni (bütüncül) yaklaşımda afetler gündelik hayatın parçası ve fırsat penceresidir; çalışmalar daha çok afet öncesi yapılır; insanlar önemli paydaştır, katılım esastır; yerel kurumlar güçlendirilir; toplum tabanlı çözümlerle kapasite geliştirilir; şeffaflık ve hesap verme önceliktir; afet toplumsal dönüşüm fırsatıdır.</a:t>
            </a:r>
          </a:p>
          <a:p/>
          <a:p>
            <a:r>
              <a:t>KAYNAK: Kitap s. 212 tablosu (satırlar ölçütlere göre özetlendi; sonuç cümlesi sunumun örneğidir).</a:t>
            </a:r>
          </a:p>
          <a:p/>
          <a:p>
            <a:r>
              <a:t>NOT: Ölçüt (iyi bir cevap): en az dört ölçütte iki yaklaşımı yan yana koyar ('… iken …'); kitabın satırlarını kopyalamak yerine ölçüt adı verir; bir sonuç cümlesiyle bitirir.</a:t>
            </a:r>
          </a:p>
        </p:txBody>
      </p:sp>
      <p:sp>
        <p:nvSpPr>
          <p:cNvPr id="4" name="Slide Number Placeholder 3"/>
          <p:cNvSpPr>
            <a:spLocks noGrp="1"/>
          </p:cNvSpPr>
          <p:nvPr>
            <p:ph type="sldNum" idx="5" sz="quarter"/>
          </p:nvPr>
        </p:nvSpPr>
        <p:spPr/>
      </p:sp>
    </p:spTree>
  </p:cSld>
  <p:clrMapOvr>
    <a:masterClrMapping/>
  </p:clrMapOvr>
</p:notes>
</file>

<file path=ppt/notesSlides/notesSlide2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Ünitenin üç öğrenme çıktısını tek slaytta toparlamak: kavramlar, afet türleri, bütüncül afet yönetimi.</a:t>
            </a:r>
          </a:p>
          <a:p/>
          <a:p>
            <a:r>
              <a:t>NASIL: Üç paneli soldan sağa açıklatın: 'Risk nerede oluşur? AFET nerede? Bir afeti hangi türe koyarız? Döngü neden başa döner?' Her panelde öğrencinin kendi cümlesini isteyin.</a:t>
            </a:r>
          </a:p>
          <a:p/>
          <a:p>
            <a:r>
              <a:t>BEKLENEN CEVAP: Risk: tehlike ile güvenlik açığının kesiştiği yer; AFET: tehlike, güvenlik açığı ve maruziyetin üçünün kesiştiği yer (hepsi çevre içinde). Afetler oluşum kaynağına göre doğa kaynaklı (jeolojik, klimatik-hidrolojik, biyolojik) ve insan kaynaklı (sosyal, teknolojik). Döngü: risk ve zarar azaltma → hazırlıklı olma → (afet) → müdahale → iyileştirme → tecrübeyle başa dönüş.</a:t>
            </a:r>
          </a:p>
          <a:p/>
          <a:p>
            <a:r>
              <a:t>KAYNAK: Kitap s. 191 (Görsel 6.4 kırpıldı), s. 196 (beş tür), s. 212 (döngü şeması kırpıldı). Program (2026): COĞ.9.6.1-9.6.3.</a:t>
            </a:r>
          </a:p>
          <a:p/>
          <a:p>
            <a:r>
              <a:t>NOT: Görsel 6.4 bir zincir değil, iç içe çemberlerden oluşan bir şemadır: risk tehlike ile güvenlik açığının, AFET üçünün kesişimindedir.</a:t>
            </a:r>
          </a:p>
        </p:txBody>
      </p:sp>
      <p:sp>
        <p:nvSpPr>
          <p:cNvPr id="4" name="Slide Number Placeholder 3"/>
          <p:cNvSpPr>
            <a:spLocks noGrp="1"/>
          </p:cNvSpPr>
          <p:nvPr>
            <p:ph type="sldNum" idx="5" sz="quarter"/>
          </p:nvPr>
        </p:nvSpPr>
        <p:spPr/>
      </p:sp>
    </p:spTree>
  </p:cSld>
  <p:clrMapOvr>
    <a:masterClrMapping/>
  </p:clrMapOvr>
</p:notes>
</file>

<file path=ppt/notesSlides/notesSlide2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Öğrencinin üç öğrenme çıktısına göre kendi öğrenmesini değerlendirmesi; tekrar edeceği konuyu belirlemesi.</a:t>
            </a:r>
          </a:p>
          <a:p/>
          <a:p>
            <a:r>
              <a:t>NASIL: Öğrenciler üç soruya deftere 'evet / kısmen / henüz değil' diye kısa cevap verir; alttaki iki boşluğu doldurur. Not verilmez. Cevapları 2. yazılı öncesi tekrarda kullanın: 'kısmen' ve 'henüz değil' denen çıktının ünite sonu sorularını (1-2, 3-5 ya da 6-9) yeniden çözdürün.</a:t>
            </a:r>
          </a:p>
          <a:p/>
          <a:p>
            <a:r>
              <a:t>KAYNAK: Program (2026): COĞ.9.6.1-9.6.3 (çıktı metinleri birebir). Kitap s. 186 (ünitenin beklentileri).</a:t>
            </a:r>
          </a:p>
          <a:p/>
          <a:p>
            <a:r>
              <a:t>NOT: Bu kısa öz değerlendirme ünite sonu soruları içindir; performans görevinin öz değerlendirme formu kitabın karekodundadır (EBA; indirilemedi) ve 33. haftada kullanılır. 7. üniteye geçiş bu bölümde yoktur: 33. haftanın son aşamasındadır. Kitabın 'Daha fazla soru' karekodu (s. 213; EBA tema sonu e-ölçme soruları) bu sunum hazırlanırken indirilemedi (EBA içerik sunucusu dosya vermiyordu): ek soru bölümü kurulmadı; içerik indirilirse U5'teki gibi 'EK SORU' slaytları eklenebilir. Öğrenci telefonu kullanılmaz (Genelge bent 37).</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tr-TR" smtClean="0"/>
              <a:t>Click to edit Master title style</a:t>
            </a:r>
            <a:endParaRPr lang="tr-TR"/>
          </a:p>
        </p:txBody>
      </p:sp>
      <p:sp>
        <p:nvSpPr>
          <p:cNvPr id="3" name="Subtitle 2"/>
          <p:cNvSpPr>
            <a:spLocks noGrp="1"/>
          </p:cNvSpPr>
          <p:nvPr>
            <p:ph type="subTitle" idx="1"/>
          </p:nvPr>
        </p:nvSpPr>
        <p:spPr>
          <a:xfrm>
            <a:off x="1371600" y="3886200"/>
            <a:ext cx="6400800" cy="1752600"/>
          </a:xfrm>
        </p:spPr>
        <p:txBody>
          <a:bodyPr/>
          <a:lstStyle>
            <a:lvl1pPr marL="0" indent="0" algn="ctr">
              <a:buNone/>
              <a:defRPr lang="tr-TR">
                <a:solidFill>
                  <a:schemeClr val="tx1">
                    <a:tint val="75000"/>
                  </a:schemeClr>
                </a:solidFill>
              </a:defRPr>
            </a:lvl1pPr>
            <a:lvl2pPr marL="457200" indent="0" algn="ctr">
              <a:buNone/>
              <a:defRPr lang="tr-TR">
                <a:solidFill>
                  <a:schemeClr val="tx1">
                    <a:tint val="75000"/>
                  </a:schemeClr>
                </a:solidFill>
              </a:defRPr>
            </a:lvl2pPr>
            <a:lvl3pPr marL="914400" indent="0" algn="ctr">
              <a:buNone/>
              <a:defRPr lang="tr-TR">
                <a:solidFill>
                  <a:schemeClr val="tx1">
                    <a:tint val="75000"/>
                  </a:schemeClr>
                </a:solidFill>
              </a:defRPr>
            </a:lvl3pPr>
            <a:lvl4pPr marL="1371600" indent="0" algn="ctr">
              <a:buNone/>
              <a:defRPr lang="tr-TR">
                <a:solidFill>
                  <a:schemeClr val="tx1">
                    <a:tint val="75000"/>
                  </a:schemeClr>
                </a:solidFill>
              </a:defRPr>
            </a:lvl4pPr>
            <a:lvl5pPr marL="1828800" indent="0" algn="ctr">
              <a:buNone/>
              <a:defRPr lang="tr-TR">
                <a:solidFill>
                  <a:schemeClr val="tx1">
                    <a:tint val="75000"/>
                  </a:schemeClr>
                </a:solidFill>
              </a:defRPr>
            </a:lvl5pPr>
            <a:lvl6pPr marL="2286000" indent="0" algn="ctr">
              <a:buNone/>
              <a:defRPr lang="tr-TR">
                <a:solidFill>
                  <a:schemeClr val="tx1">
                    <a:tint val="75000"/>
                  </a:schemeClr>
                </a:solidFill>
              </a:defRPr>
            </a:lvl6pPr>
            <a:lvl7pPr marL="2743200" indent="0" algn="ctr">
              <a:buNone/>
              <a:defRPr lang="tr-TR">
                <a:solidFill>
                  <a:schemeClr val="tx1">
                    <a:tint val="75000"/>
                  </a:schemeClr>
                </a:solidFill>
              </a:defRPr>
            </a:lvl7pPr>
            <a:lvl8pPr marL="3200400" indent="0" algn="ctr">
              <a:buNone/>
              <a:defRPr lang="tr-TR">
                <a:solidFill>
                  <a:schemeClr val="tx1">
                    <a:tint val="75000"/>
                  </a:schemeClr>
                </a:solidFill>
              </a:defRPr>
            </a:lvl8pPr>
            <a:lvl9pPr marL="3657600" indent="0" algn="ctr">
              <a:buNone/>
              <a:defRPr lang="tr-TR">
                <a:solidFill>
                  <a:schemeClr val="tx1">
                    <a:tint val="75000"/>
                  </a:schemeClr>
                </a:solidFill>
              </a:defRPr>
            </a:lvl9pPr>
          </a:lstStyle>
          <a:p>
            <a:r>
              <a:rPr lang="tr-TR" smtClean="0"/>
              <a:t>Click to edit Master subtitle style</a:t>
            </a:r>
            <a:endParaRPr lang="tr-TR"/>
          </a:p>
        </p:txBody>
      </p:sp>
      <p:sp>
        <p:nvSpPr>
          <p:cNvPr id="4" name="Date Placeholder 3"/>
          <p:cNvSpPr>
            <a:spLocks noGrp="1"/>
          </p:cNvSpPr>
          <p:nvPr>
            <p:ph type="dt" sz="half" idx="10"/>
          </p:nvPr>
        </p:nvSpPr>
        <p:spPr/>
        <p:txBody>
          <a:bodyPr/>
          <a:lstStyle/>
          <a:p>
            <a:fld id="{5BCAD085-E8A6-8845-BD4E-CB4CCA059FC4}" type="datetimeFigureOut">
              <a:rPr lang="tr-TR" smtClean="0"/>
              <a:t>1/27/13</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mtClean="0"/>
              <a:t>Click to edit Master title style</a:t>
            </a:r>
            <a:endParaRPr lang="tr-TR"/>
          </a:p>
        </p:txBody>
      </p:sp>
      <p:sp>
        <p:nvSpPr>
          <p:cNvPr id="3" name="Content Placeholder 2"/>
          <p:cNvSpPr>
            <a:spLocks noGrp="1"/>
          </p:cNvSpPr>
          <p:nvPr>
            <p:ph idx="1"/>
          </p:nvPr>
        </p:nvSpPr>
        <p:spPr/>
        <p:txBody>
          <a:bodyPr/>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4" name="Date Placeholder 3"/>
          <p:cNvSpPr>
            <a:spLocks noGrp="1"/>
          </p:cNvSpPr>
          <p:nvPr>
            <p:ph type="dt" sz="half" idx="10"/>
          </p:nvPr>
        </p:nvSpPr>
        <p:spPr/>
        <p:txBody>
          <a:bodyPr/>
          <a:lstStyle/>
          <a:p>
            <a:fld id="{5BCAD085-E8A6-8845-BD4E-CB4CCA059FC4}" type="datetimeFigureOut">
              <a:rPr lang="tr-TR" smtClean="0"/>
              <a:t>1/27/13</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lang="tr-TR" sz="4000" b="1" cap="all"/>
            </a:lvl1pPr>
          </a:lstStyle>
          <a:p>
            <a:r>
              <a:rPr lang="tr-TR" smtClean="0"/>
              <a:t>Click to edit Master title style</a:t>
            </a:r>
            <a:endParaRPr lang="tr-TR"/>
          </a:p>
        </p:txBody>
      </p:sp>
      <p:sp>
        <p:nvSpPr>
          <p:cNvPr id="3" name="Text Placeholder 2"/>
          <p:cNvSpPr>
            <a:spLocks noGrp="1"/>
          </p:cNvSpPr>
          <p:nvPr>
            <p:ph type="body" idx="1"/>
          </p:nvPr>
        </p:nvSpPr>
        <p:spPr>
          <a:xfrm>
            <a:off x="722313" y="2906713"/>
            <a:ext cx="7772400" cy="1500187"/>
          </a:xfrm>
        </p:spPr>
        <p:txBody>
          <a:bodyPr anchor="b"/>
          <a:lstStyle>
            <a:lvl1pPr marL="0" indent="0">
              <a:buNone/>
              <a:defRPr lang="tr-TR" sz="2000">
                <a:solidFill>
                  <a:schemeClr val="tx1">
                    <a:tint val="75000"/>
                  </a:schemeClr>
                </a:solidFill>
              </a:defRPr>
            </a:lvl1pPr>
            <a:lvl2pPr marL="457200" indent="0">
              <a:buNone/>
              <a:defRPr lang="tr-TR" sz="1800">
                <a:solidFill>
                  <a:schemeClr val="tx1">
                    <a:tint val="75000"/>
                  </a:schemeClr>
                </a:solidFill>
              </a:defRPr>
            </a:lvl2pPr>
            <a:lvl3pPr marL="914400" indent="0">
              <a:buNone/>
              <a:defRPr lang="tr-TR" sz="1600">
                <a:solidFill>
                  <a:schemeClr val="tx1">
                    <a:tint val="75000"/>
                  </a:schemeClr>
                </a:solidFill>
              </a:defRPr>
            </a:lvl3pPr>
            <a:lvl4pPr marL="1371600" indent="0">
              <a:buNone/>
              <a:defRPr lang="tr-TR" sz="1400">
                <a:solidFill>
                  <a:schemeClr val="tx1">
                    <a:tint val="75000"/>
                  </a:schemeClr>
                </a:solidFill>
              </a:defRPr>
            </a:lvl4pPr>
            <a:lvl5pPr marL="1828800" indent="0">
              <a:buNone/>
              <a:defRPr lang="tr-TR" sz="1400">
                <a:solidFill>
                  <a:schemeClr val="tx1">
                    <a:tint val="75000"/>
                  </a:schemeClr>
                </a:solidFill>
              </a:defRPr>
            </a:lvl5pPr>
            <a:lvl6pPr marL="2286000" indent="0">
              <a:buNone/>
              <a:defRPr lang="tr-TR" sz="1400">
                <a:solidFill>
                  <a:schemeClr val="tx1">
                    <a:tint val="75000"/>
                  </a:schemeClr>
                </a:solidFill>
              </a:defRPr>
            </a:lvl6pPr>
            <a:lvl7pPr marL="2743200" indent="0">
              <a:buNone/>
              <a:defRPr lang="tr-TR" sz="1400">
                <a:solidFill>
                  <a:schemeClr val="tx1">
                    <a:tint val="75000"/>
                  </a:schemeClr>
                </a:solidFill>
              </a:defRPr>
            </a:lvl7pPr>
            <a:lvl8pPr marL="3200400" indent="0">
              <a:buNone/>
              <a:defRPr lang="tr-TR" sz="1400">
                <a:solidFill>
                  <a:schemeClr val="tx1">
                    <a:tint val="75000"/>
                  </a:schemeClr>
                </a:solidFill>
              </a:defRPr>
            </a:lvl8pPr>
            <a:lvl9pPr marL="3657600" indent="0">
              <a:buNone/>
              <a:defRPr lang="tr-TR" sz="1400">
                <a:solidFill>
                  <a:schemeClr val="tx1">
                    <a:tint val="75000"/>
                  </a:schemeClr>
                </a:solidFill>
              </a:defRPr>
            </a:lvl9pPr>
          </a:lstStyle>
          <a:p>
            <a:pPr lvl="0"/>
            <a:r>
              <a:rPr lang="tr-TR"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tr-TR" smtClean="0"/>
              <a:t>1/27/13</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mtClean="0"/>
              <a:t>Click to edit Master title style</a:t>
            </a:r>
            <a:endParaRPr lang="tr-TR"/>
          </a:p>
        </p:txBody>
      </p:sp>
      <p:sp>
        <p:nvSpPr>
          <p:cNvPr id="3" name="Content Placeholder 2"/>
          <p:cNvSpPr>
            <a:spLocks noGrp="1"/>
          </p:cNvSpPr>
          <p:nvPr>
            <p:ph sz="half" idx="1"/>
          </p:nvPr>
        </p:nvSpPr>
        <p:spPr>
          <a:xfrm>
            <a:off x="457200" y="1600200"/>
            <a:ext cx="4038600" cy="4525963"/>
          </a:xfrm>
        </p:spPr>
        <p:txBody>
          <a:bodyPr/>
          <a:lstStyle>
            <a:lvl1pPr>
              <a:defRPr lang="tr-TR" sz="2800"/>
            </a:lvl1pPr>
            <a:lvl2pPr>
              <a:defRPr lang="tr-TR" sz="2400"/>
            </a:lvl2pPr>
            <a:lvl3pPr>
              <a:defRPr lang="tr-TR" sz="2000"/>
            </a:lvl3pPr>
            <a:lvl4pPr>
              <a:defRPr lang="tr-TR" sz="1800"/>
            </a:lvl4pPr>
            <a:lvl5pPr>
              <a:defRPr lang="tr-TR" sz="1800"/>
            </a:lvl5pPr>
            <a:lvl6pPr>
              <a:defRPr lang="tr-TR" sz="1800"/>
            </a:lvl6pPr>
            <a:lvl7pPr>
              <a:defRPr lang="tr-TR" sz="1800"/>
            </a:lvl7pPr>
            <a:lvl8pPr>
              <a:defRPr lang="tr-TR" sz="1800"/>
            </a:lvl8pPr>
            <a:lvl9pPr>
              <a:defRPr lang="tr-TR" sz="1800"/>
            </a:lvl9pPr>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4" name="Content Placeholder 3"/>
          <p:cNvSpPr>
            <a:spLocks noGrp="1"/>
          </p:cNvSpPr>
          <p:nvPr>
            <p:ph sz="half" idx="2"/>
          </p:nvPr>
        </p:nvSpPr>
        <p:spPr>
          <a:xfrm>
            <a:off x="4648200" y="1600200"/>
            <a:ext cx="4038600" cy="4525963"/>
          </a:xfrm>
        </p:spPr>
        <p:txBody>
          <a:bodyPr/>
          <a:lstStyle>
            <a:lvl1pPr>
              <a:defRPr lang="tr-TR" sz="2800"/>
            </a:lvl1pPr>
            <a:lvl2pPr>
              <a:defRPr lang="tr-TR" sz="2400"/>
            </a:lvl2pPr>
            <a:lvl3pPr>
              <a:defRPr lang="tr-TR" sz="2000"/>
            </a:lvl3pPr>
            <a:lvl4pPr>
              <a:defRPr lang="tr-TR" sz="1800"/>
            </a:lvl4pPr>
            <a:lvl5pPr>
              <a:defRPr lang="tr-TR" sz="1800"/>
            </a:lvl5pPr>
            <a:lvl6pPr>
              <a:defRPr lang="tr-TR" sz="1800"/>
            </a:lvl6pPr>
            <a:lvl7pPr>
              <a:defRPr lang="tr-TR" sz="1800"/>
            </a:lvl7pPr>
            <a:lvl8pPr>
              <a:defRPr lang="tr-TR" sz="1800"/>
            </a:lvl8pPr>
            <a:lvl9pPr>
              <a:defRPr lang="tr-TR" sz="1800"/>
            </a:lvl9pPr>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5" name="Date Placeholder 4"/>
          <p:cNvSpPr>
            <a:spLocks noGrp="1"/>
          </p:cNvSpPr>
          <p:nvPr>
            <p:ph type="dt" sz="half" idx="10"/>
          </p:nvPr>
        </p:nvSpPr>
        <p:spPr/>
        <p:txBody>
          <a:bodyPr/>
          <a:lstStyle/>
          <a:p>
            <a:fld id="{5BCAD085-E8A6-8845-BD4E-CB4CCA059FC4}" type="datetimeFigureOut">
              <a:rPr lang="tr-TR" smtClean="0"/>
              <a:t>1/27/13</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lang="tr-TR"/>
            </a:lvl1pPr>
          </a:lstStyle>
          <a:p>
            <a:r>
              <a:rPr lang="tr-TR" smtClean="0"/>
              <a:t>Click to edit Master title style</a:t>
            </a:r>
            <a:endParaRPr lang="tr-TR"/>
          </a:p>
        </p:txBody>
      </p:sp>
      <p:sp>
        <p:nvSpPr>
          <p:cNvPr id="3" name="Text Placeholder 2"/>
          <p:cNvSpPr>
            <a:spLocks noGrp="1"/>
          </p:cNvSpPr>
          <p:nvPr>
            <p:ph type="body" idx="1"/>
          </p:nvPr>
        </p:nvSpPr>
        <p:spPr>
          <a:xfrm>
            <a:off x="457200" y="1535113"/>
            <a:ext cx="4040188" cy="639762"/>
          </a:xfrm>
        </p:spPr>
        <p:txBody>
          <a:bodyPr anchor="b"/>
          <a:lstStyle>
            <a:lvl1pPr marL="0" indent="0">
              <a:buNone/>
              <a:defRPr lang="tr-TR" sz="2400" b="1"/>
            </a:lvl1pPr>
            <a:lvl2pPr marL="457200" indent="0">
              <a:buNone/>
              <a:defRPr lang="tr-TR" sz="2000" b="1"/>
            </a:lvl2pPr>
            <a:lvl3pPr marL="914400" indent="0">
              <a:buNone/>
              <a:defRPr lang="tr-TR" sz="1800" b="1"/>
            </a:lvl3pPr>
            <a:lvl4pPr marL="1371600" indent="0">
              <a:buNone/>
              <a:defRPr lang="tr-TR" sz="1600" b="1"/>
            </a:lvl4pPr>
            <a:lvl5pPr marL="1828800" indent="0">
              <a:buNone/>
              <a:defRPr lang="tr-TR" sz="1600" b="1"/>
            </a:lvl5pPr>
            <a:lvl6pPr marL="2286000" indent="0">
              <a:buNone/>
              <a:defRPr lang="tr-TR" sz="1600" b="1"/>
            </a:lvl6pPr>
            <a:lvl7pPr marL="2743200" indent="0">
              <a:buNone/>
              <a:defRPr lang="tr-TR" sz="1600" b="1"/>
            </a:lvl7pPr>
            <a:lvl8pPr marL="3200400" indent="0">
              <a:buNone/>
              <a:defRPr lang="tr-TR" sz="1600" b="1"/>
            </a:lvl8pPr>
            <a:lvl9pPr marL="3657600" indent="0">
              <a:buNone/>
              <a:defRPr lang="tr-TR" sz="1600" b="1"/>
            </a:lvl9pPr>
          </a:lstStyle>
          <a:p>
            <a:pPr lvl="0"/>
            <a:r>
              <a:rPr lang="tr-TR"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lang="tr-TR" sz="2400"/>
            </a:lvl1pPr>
            <a:lvl2pPr>
              <a:defRPr lang="tr-TR" sz="2000"/>
            </a:lvl2pPr>
            <a:lvl3pPr>
              <a:defRPr lang="tr-TR" sz="1800"/>
            </a:lvl3pPr>
            <a:lvl4pPr>
              <a:defRPr lang="tr-TR" sz="1600"/>
            </a:lvl4pPr>
            <a:lvl5pPr>
              <a:defRPr lang="tr-TR" sz="1600"/>
            </a:lvl5pPr>
            <a:lvl6pPr>
              <a:defRPr lang="tr-TR" sz="1600"/>
            </a:lvl6pPr>
            <a:lvl7pPr>
              <a:defRPr lang="tr-TR" sz="1600"/>
            </a:lvl7pPr>
            <a:lvl8pPr>
              <a:defRPr lang="tr-TR" sz="1600"/>
            </a:lvl8pPr>
            <a:lvl9pPr>
              <a:defRPr lang="tr-TR" sz="1600"/>
            </a:lvl9pPr>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lang="tr-TR" sz="2400" b="1"/>
            </a:lvl1pPr>
            <a:lvl2pPr marL="457200" indent="0">
              <a:buNone/>
              <a:defRPr lang="tr-TR" sz="2000" b="1"/>
            </a:lvl2pPr>
            <a:lvl3pPr marL="914400" indent="0">
              <a:buNone/>
              <a:defRPr lang="tr-TR" sz="1800" b="1"/>
            </a:lvl3pPr>
            <a:lvl4pPr marL="1371600" indent="0">
              <a:buNone/>
              <a:defRPr lang="tr-TR" sz="1600" b="1"/>
            </a:lvl4pPr>
            <a:lvl5pPr marL="1828800" indent="0">
              <a:buNone/>
              <a:defRPr lang="tr-TR" sz="1600" b="1"/>
            </a:lvl5pPr>
            <a:lvl6pPr marL="2286000" indent="0">
              <a:buNone/>
              <a:defRPr lang="tr-TR" sz="1600" b="1"/>
            </a:lvl6pPr>
            <a:lvl7pPr marL="2743200" indent="0">
              <a:buNone/>
              <a:defRPr lang="tr-TR" sz="1600" b="1"/>
            </a:lvl7pPr>
            <a:lvl8pPr marL="3200400" indent="0">
              <a:buNone/>
              <a:defRPr lang="tr-TR" sz="1600" b="1"/>
            </a:lvl8pPr>
            <a:lvl9pPr marL="3657600" indent="0">
              <a:buNone/>
              <a:defRPr lang="tr-TR" sz="1600" b="1"/>
            </a:lvl9pPr>
          </a:lstStyle>
          <a:p>
            <a:pPr lvl="0"/>
            <a:r>
              <a:rPr lang="tr-TR"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lang="tr-TR" sz="2400"/>
            </a:lvl1pPr>
            <a:lvl2pPr>
              <a:defRPr lang="tr-TR" sz="2000"/>
            </a:lvl2pPr>
            <a:lvl3pPr>
              <a:defRPr lang="tr-TR" sz="1800"/>
            </a:lvl3pPr>
            <a:lvl4pPr>
              <a:defRPr lang="tr-TR" sz="1600"/>
            </a:lvl4pPr>
            <a:lvl5pPr>
              <a:defRPr lang="tr-TR" sz="1600"/>
            </a:lvl5pPr>
            <a:lvl6pPr>
              <a:defRPr lang="tr-TR" sz="1600"/>
            </a:lvl6pPr>
            <a:lvl7pPr>
              <a:defRPr lang="tr-TR" sz="1600"/>
            </a:lvl7pPr>
            <a:lvl8pPr>
              <a:defRPr lang="tr-TR" sz="1600"/>
            </a:lvl8pPr>
            <a:lvl9pPr>
              <a:defRPr lang="tr-TR" sz="1600"/>
            </a:lvl9pPr>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7" name="Date Placeholder 6"/>
          <p:cNvSpPr>
            <a:spLocks noGrp="1"/>
          </p:cNvSpPr>
          <p:nvPr>
            <p:ph type="dt" sz="half" idx="10"/>
          </p:nvPr>
        </p:nvSpPr>
        <p:spPr/>
        <p:txBody>
          <a:bodyPr/>
          <a:lstStyle/>
          <a:p>
            <a:fld id="{5BCAD085-E8A6-8845-BD4E-CB4CCA059FC4}" type="datetimeFigureOut">
              <a:rPr lang="tr-TR" smtClean="0"/>
              <a:t>1/27/13</a:t>
            </a:fld>
            <a:endParaRPr lang="tr-TR"/>
          </a:p>
        </p:txBody>
      </p:sp>
      <p:sp>
        <p:nvSpPr>
          <p:cNvPr id="8" name="Footer Placeholder 7"/>
          <p:cNvSpPr>
            <a:spLocks noGrp="1"/>
          </p:cNvSpPr>
          <p:nvPr>
            <p:ph type="ftr" sz="quarter" idx="11"/>
          </p:nvPr>
        </p:nvSpPr>
        <p:spPr/>
        <p:txBody>
          <a:bodyPr/>
          <a:lstStyle/>
          <a:p>
            <a:endParaRPr lang="tr-TR"/>
          </a:p>
        </p:txBody>
      </p:sp>
      <p:sp>
        <p:nvSpPr>
          <p:cNvPr id="9" name="Slide Number Placeholder 8"/>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mtClean="0"/>
              <a:t>Click to edit Master title style</a:t>
            </a:r>
            <a:endParaRPr lang="tr-TR"/>
          </a:p>
        </p:txBody>
      </p:sp>
      <p:sp>
        <p:nvSpPr>
          <p:cNvPr id="3" name="Date Placeholder 2"/>
          <p:cNvSpPr>
            <a:spLocks noGrp="1"/>
          </p:cNvSpPr>
          <p:nvPr>
            <p:ph type="dt" sz="half" idx="10"/>
          </p:nvPr>
        </p:nvSpPr>
        <p:spPr/>
        <p:txBody>
          <a:bodyPr/>
          <a:lstStyle/>
          <a:p>
            <a:fld id="{5BCAD085-E8A6-8845-BD4E-CB4CCA059FC4}" type="datetimeFigureOut">
              <a:rPr lang="tr-TR" smtClean="0"/>
              <a:t>1/27/13</a:t>
            </a:fld>
            <a:endParaRPr lang="tr-TR"/>
          </a:p>
        </p:txBody>
      </p:sp>
      <p:sp>
        <p:nvSpPr>
          <p:cNvPr id="4" name="Footer Placeholder 3"/>
          <p:cNvSpPr>
            <a:spLocks noGrp="1"/>
          </p:cNvSpPr>
          <p:nvPr>
            <p:ph type="ftr" sz="quarter" idx="11"/>
          </p:nvPr>
        </p:nvSpPr>
        <p:spPr/>
        <p:txBody>
          <a:bodyPr/>
          <a:lstStyle/>
          <a:p>
            <a:endParaRPr lang="tr-TR"/>
          </a:p>
        </p:txBody>
      </p:sp>
      <p:sp>
        <p:nvSpPr>
          <p:cNvPr id="5" name="Slide Number Placeholder 4"/>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tr-TR" smtClean="0"/>
              <a:t>1/27/13</a:t>
            </a:fld>
            <a:endParaRPr lang="tr-TR"/>
          </a:p>
        </p:txBody>
      </p:sp>
      <p:sp>
        <p:nvSpPr>
          <p:cNvPr id="3" name="Footer Placeholder 2"/>
          <p:cNvSpPr>
            <a:spLocks noGrp="1"/>
          </p:cNvSpPr>
          <p:nvPr>
            <p:ph type="ftr" sz="quarter" idx="11"/>
          </p:nvPr>
        </p:nvSpPr>
        <p:spPr/>
        <p:txBody>
          <a:bodyPr/>
          <a:lstStyle/>
          <a:p>
            <a:endParaRPr lang="tr-TR"/>
          </a:p>
        </p:txBody>
      </p:sp>
      <p:sp>
        <p:nvSpPr>
          <p:cNvPr id="4" name="Slide Number Placeholder 3"/>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lang="tr-TR" sz="2000" b="1"/>
            </a:lvl1pPr>
          </a:lstStyle>
          <a:p>
            <a:r>
              <a:rPr lang="tr-TR" smtClean="0"/>
              <a:t>Click to edit Master title style</a:t>
            </a:r>
            <a:endParaRPr lang="tr-TR"/>
          </a:p>
        </p:txBody>
      </p:sp>
      <p:sp>
        <p:nvSpPr>
          <p:cNvPr id="3" name="Content Placeholder 2"/>
          <p:cNvSpPr>
            <a:spLocks noGrp="1"/>
          </p:cNvSpPr>
          <p:nvPr>
            <p:ph idx="1"/>
          </p:nvPr>
        </p:nvSpPr>
        <p:spPr>
          <a:xfrm>
            <a:off x="3575050" y="273050"/>
            <a:ext cx="5111750" cy="5853113"/>
          </a:xfrm>
        </p:spPr>
        <p:txBody>
          <a:bodyPr/>
          <a:lstStyle>
            <a:lvl1pPr>
              <a:defRPr lang="tr-TR" sz="3200"/>
            </a:lvl1pPr>
            <a:lvl2pPr>
              <a:defRPr lang="tr-TR" sz="2800"/>
            </a:lvl2pPr>
            <a:lvl3pPr>
              <a:defRPr lang="tr-TR" sz="2400"/>
            </a:lvl3pPr>
            <a:lvl4pPr>
              <a:defRPr lang="tr-TR" sz="2000"/>
            </a:lvl4pPr>
            <a:lvl5pPr>
              <a:defRPr lang="tr-TR" sz="2000"/>
            </a:lvl5pPr>
            <a:lvl6pPr>
              <a:defRPr lang="tr-TR" sz="2000"/>
            </a:lvl6pPr>
            <a:lvl7pPr>
              <a:defRPr lang="tr-TR" sz="2000"/>
            </a:lvl7pPr>
            <a:lvl8pPr>
              <a:defRPr lang="tr-TR" sz="2000"/>
            </a:lvl8pPr>
            <a:lvl9pPr>
              <a:defRPr lang="tr-TR" sz="2000"/>
            </a:lvl9pPr>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4" name="Text Placeholder 3"/>
          <p:cNvSpPr>
            <a:spLocks noGrp="1"/>
          </p:cNvSpPr>
          <p:nvPr>
            <p:ph type="body" sz="half" idx="2"/>
          </p:nvPr>
        </p:nvSpPr>
        <p:spPr>
          <a:xfrm>
            <a:off x="457200" y="1435100"/>
            <a:ext cx="3008313" cy="4691063"/>
          </a:xfrm>
        </p:spPr>
        <p:txBody>
          <a:bodyPr/>
          <a:lstStyle>
            <a:lvl1pPr marL="0" indent="0">
              <a:buNone/>
              <a:defRPr lang="tr-TR" sz="1400"/>
            </a:lvl1pPr>
            <a:lvl2pPr marL="457200" indent="0">
              <a:buNone/>
              <a:defRPr lang="tr-TR" sz="1200"/>
            </a:lvl2pPr>
            <a:lvl3pPr marL="914400" indent="0">
              <a:buNone/>
              <a:defRPr lang="tr-TR" sz="1000"/>
            </a:lvl3pPr>
            <a:lvl4pPr marL="1371600" indent="0">
              <a:buNone/>
              <a:defRPr lang="tr-TR" sz="900"/>
            </a:lvl4pPr>
            <a:lvl5pPr marL="1828800" indent="0">
              <a:buNone/>
              <a:defRPr lang="tr-TR" sz="900"/>
            </a:lvl5pPr>
            <a:lvl6pPr marL="2286000" indent="0">
              <a:buNone/>
              <a:defRPr lang="tr-TR" sz="900"/>
            </a:lvl6pPr>
            <a:lvl7pPr marL="2743200" indent="0">
              <a:buNone/>
              <a:defRPr lang="tr-TR" sz="900"/>
            </a:lvl7pPr>
            <a:lvl8pPr marL="3200400" indent="0">
              <a:buNone/>
              <a:defRPr lang="tr-TR" sz="900"/>
            </a:lvl8pPr>
            <a:lvl9pPr marL="3657600" indent="0">
              <a:buNone/>
              <a:defRPr lang="tr-TR" sz="900"/>
            </a:lvl9pPr>
          </a:lstStyle>
          <a:p>
            <a:pPr lvl="0"/>
            <a:r>
              <a:rPr lang="tr-TR"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tr-TR" smtClean="0"/>
              <a:t>1/27/13</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lang="tr-TR" sz="2000" b="1"/>
            </a:lvl1pPr>
          </a:lstStyle>
          <a:p>
            <a:r>
              <a:rPr lang="tr-TR" smtClean="0"/>
              <a:t>Click to edit Master title style</a:t>
            </a:r>
            <a:endParaRPr lang="tr-TR"/>
          </a:p>
        </p:txBody>
      </p:sp>
      <p:sp>
        <p:nvSpPr>
          <p:cNvPr id="3" name="Picture Placeholder 2"/>
          <p:cNvSpPr>
            <a:spLocks noGrp="1"/>
          </p:cNvSpPr>
          <p:nvPr>
            <p:ph type="pic" idx="1"/>
          </p:nvPr>
        </p:nvSpPr>
        <p:spPr>
          <a:xfrm>
            <a:off x="1792288" y="612775"/>
            <a:ext cx="5486400" cy="4114800"/>
          </a:xfrm>
        </p:spPr>
        <p:txBody>
          <a:bodyPr/>
          <a:lstStyle>
            <a:lvl1pPr marL="0" indent="0">
              <a:buNone/>
              <a:defRPr lang="tr-TR" sz="3200"/>
            </a:lvl1pPr>
            <a:lvl2pPr marL="457200" indent="0">
              <a:buNone/>
              <a:defRPr lang="tr-TR" sz="2800"/>
            </a:lvl2pPr>
            <a:lvl3pPr marL="914400" indent="0">
              <a:buNone/>
              <a:defRPr lang="tr-TR" sz="2400"/>
            </a:lvl3pPr>
            <a:lvl4pPr marL="1371600" indent="0">
              <a:buNone/>
              <a:defRPr lang="tr-TR" sz="2000"/>
            </a:lvl4pPr>
            <a:lvl5pPr marL="1828800" indent="0">
              <a:buNone/>
              <a:defRPr lang="tr-TR" sz="2000"/>
            </a:lvl5pPr>
            <a:lvl6pPr marL="2286000" indent="0">
              <a:buNone/>
              <a:defRPr lang="tr-TR" sz="2000"/>
            </a:lvl6pPr>
            <a:lvl7pPr marL="2743200" indent="0">
              <a:buNone/>
              <a:defRPr lang="tr-TR" sz="2000"/>
            </a:lvl7pPr>
            <a:lvl8pPr marL="3200400" indent="0">
              <a:buNone/>
              <a:defRPr lang="tr-TR" sz="2000"/>
            </a:lvl8pPr>
            <a:lvl9pPr marL="3657600" indent="0">
              <a:buNone/>
              <a:defRPr lang="tr-TR" sz="2000"/>
            </a:lvl9pPr>
          </a:lstStyle>
          <a:p>
            <a:endParaRPr lang="tr-TR"/>
          </a:p>
        </p:txBody>
      </p:sp>
      <p:sp>
        <p:nvSpPr>
          <p:cNvPr id="4" name="Text Placeholder 3"/>
          <p:cNvSpPr>
            <a:spLocks noGrp="1"/>
          </p:cNvSpPr>
          <p:nvPr>
            <p:ph type="body" sz="half" idx="2"/>
          </p:nvPr>
        </p:nvSpPr>
        <p:spPr>
          <a:xfrm>
            <a:off x="1792288" y="5367338"/>
            <a:ext cx="5486400" cy="804862"/>
          </a:xfrm>
        </p:spPr>
        <p:txBody>
          <a:bodyPr/>
          <a:lstStyle>
            <a:lvl1pPr marL="0" indent="0">
              <a:buNone/>
              <a:defRPr lang="tr-TR" sz="1400"/>
            </a:lvl1pPr>
            <a:lvl2pPr marL="457200" indent="0">
              <a:buNone/>
              <a:defRPr lang="tr-TR" sz="1200"/>
            </a:lvl2pPr>
            <a:lvl3pPr marL="914400" indent="0">
              <a:buNone/>
              <a:defRPr lang="tr-TR" sz="1000"/>
            </a:lvl3pPr>
            <a:lvl4pPr marL="1371600" indent="0">
              <a:buNone/>
              <a:defRPr lang="tr-TR" sz="900"/>
            </a:lvl4pPr>
            <a:lvl5pPr marL="1828800" indent="0">
              <a:buNone/>
              <a:defRPr lang="tr-TR" sz="900"/>
            </a:lvl5pPr>
            <a:lvl6pPr marL="2286000" indent="0">
              <a:buNone/>
              <a:defRPr lang="tr-TR" sz="900"/>
            </a:lvl6pPr>
            <a:lvl7pPr marL="2743200" indent="0">
              <a:buNone/>
              <a:defRPr lang="tr-TR" sz="900"/>
            </a:lvl7pPr>
            <a:lvl8pPr marL="3200400" indent="0">
              <a:buNone/>
              <a:defRPr lang="tr-TR" sz="900"/>
            </a:lvl8pPr>
            <a:lvl9pPr marL="3657600" indent="0">
              <a:buNone/>
              <a:defRPr lang="tr-TR" sz="900"/>
            </a:lvl9pPr>
          </a:lstStyle>
          <a:p>
            <a:pPr lvl="0"/>
            <a:r>
              <a:rPr lang="tr-TR"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tr-TR" smtClean="0"/>
              <a:t>1/27/13</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mtClean="0"/>
              <a:t>Click to edit Master title style</a:t>
            </a:r>
            <a:endParaRPr lang="tr-TR"/>
          </a:p>
        </p:txBody>
      </p:sp>
      <p:sp>
        <p:nvSpPr>
          <p:cNvPr id="3" name="Vertical Text Placeholder 2"/>
          <p:cNvSpPr>
            <a:spLocks noGrp="1"/>
          </p:cNvSpPr>
          <p:nvPr>
            <p:ph type="body" orient="vert" idx="1"/>
          </p:nvPr>
        </p:nvSpPr>
        <p:spPr/>
        <p:txBody>
          <a:bodyPr vert="eaVert"/>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4" name="Date Placeholder 3"/>
          <p:cNvSpPr>
            <a:spLocks noGrp="1"/>
          </p:cNvSpPr>
          <p:nvPr>
            <p:ph type="dt" sz="half" idx="10"/>
          </p:nvPr>
        </p:nvSpPr>
        <p:spPr/>
        <p:txBody>
          <a:bodyPr/>
          <a:lstStyle/>
          <a:p>
            <a:fld id="{5BCAD085-E8A6-8845-BD4E-CB4CCA059FC4}" type="datetimeFigureOut">
              <a:rPr lang="tr-TR" smtClean="0"/>
              <a:t>1/27/13</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tr-TR" smtClean="0"/>
              <a:t>Click to edit Master title style</a:t>
            </a:r>
            <a:endParaRPr lang="tr-T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4" name="Date Placeholder 3"/>
          <p:cNvSpPr>
            <a:spLocks noGrp="1"/>
          </p:cNvSpPr>
          <p:nvPr>
            <p:ph type="dt" sz="half" idx="10"/>
          </p:nvPr>
        </p:nvSpPr>
        <p:spPr/>
        <p:txBody>
          <a:bodyPr/>
          <a:lstStyle/>
          <a:p>
            <a:fld id="{5BCAD085-E8A6-8845-BD4E-CB4CCA059FC4}" type="datetimeFigureOut">
              <a:rPr lang="tr-TR" smtClean="0"/>
              <a:t>1/27/13</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tr-TR" smtClean="0"/>
              <a:t>Click to edit Master title style</a:t>
            </a:r>
            <a:endParaRPr lang="tr-T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lang="tr-TR" sz="1200">
                <a:solidFill>
                  <a:schemeClr val="tx1">
                    <a:tint val="75000"/>
                  </a:schemeClr>
                </a:solidFill>
              </a:defRPr>
            </a:lvl1pPr>
          </a:lstStyle>
          <a:p>
            <a:fld id="{5BCAD085-E8A6-8845-BD4E-CB4CCA059FC4}" type="datetimeFigureOut">
              <a:rPr lang="tr-TR" smtClean="0"/>
              <a:t>1/27/13</a:t>
            </a:fld>
            <a:endParaRPr lang="tr-T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lang="tr-TR" sz="1200">
                <a:solidFill>
                  <a:schemeClr val="tx1">
                    <a:tint val="75000"/>
                  </a:schemeClr>
                </a:solidFill>
              </a:defRPr>
            </a:lvl1pPr>
          </a:lstStyle>
          <a:p>
            <a:endParaRPr lang="tr-T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lang="tr-TR" sz="1200">
                <a:solidFill>
                  <a:schemeClr val="tx1">
                    <a:tint val="75000"/>
                  </a:schemeClr>
                </a:solidFill>
              </a:defRPr>
            </a:lvl1pPr>
          </a:lstStyle>
          <a:p>
            <a:fld id="{C1FF6DA9-008F-8B48-92A6-B652298478BF}" type="slidenum">
              <a:rPr lang="tr-TR" smtClean="0"/>
              <a:t>‹#›</a:t>
            </a:fld>
            <a:endParaRPr lang="tr-TR"/>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lang="tr-T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lang="tr-T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lang="tr-T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lang="tr-T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lang="tr-T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lang="tr-T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lang="tr-T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lang="tr-T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lang="tr-T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lang="tr-TR" sz="2000" kern="1200">
          <a:solidFill>
            <a:schemeClr val="tx1"/>
          </a:solidFill>
          <a:latin typeface="+mn-lt"/>
          <a:ea typeface="+mn-ea"/>
          <a:cs typeface="+mn-cs"/>
        </a:defRPr>
      </a:lvl9pPr>
    </p:bodyStyle>
    <p:otherStyle>
      <a:defPPr>
        <a:defRPr lang="tr-TR"/>
      </a:defPPr>
      <a:lvl1pPr marL="0" algn="l" defTabSz="457200" rtl="0" eaLnBrk="1" latinLnBrk="0" hangingPunct="1">
        <a:defRPr lang="tr-TR" sz="1800" kern="1200">
          <a:solidFill>
            <a:schemeClr val="tx1"/>
          </a:solidFill>
          <a:latin typeface="+mn-lt"/>
          <a:ea typeface="+mn-ea"/>
          <a:cs typeface="+mn-cs"/>
        </a:defRPr>
      </a:lvl1pPr>
      <a:lvl2pPr marL="457200" algn="l" defTabSz="457200" rtl="0" eaLnBrk="1" latinLnBrk="0" hangingPunct="1">
        <a:defRPr lang="tr-TR" sz="1800" kern="1200">
          <a:solidFill>
            <a:schemeClr val="tx1"/>
          </a:solidFill>
          <a:latin typeface="+mn-lt"/>
          <a:ea typeface="+mn-ea"/>
          <a:cs typeface="+mn-cs"/>
        </a:defRPr>
      </a:lvl2pPr>
      <a:lvl3pPr marL="914400" algn="l" defTabSz="457200" rtl="0" eaLnBrk="1" latinLnBrk="0" hangingPunct="1">
        <a:defRPr lang="tr-TR" sz="1800" kern="1200">
          <a:solidFill>
            <a:schemeClr val="tx1"/>
          </a:solidFill>
          <a:latin typeface="+mn-lt"/>
          <a:ea typeface="+mn-ea"/>
          <a:cs typeface="+mn-cs"/>
        </a:defRPr>
      </a:lvl3pPr>
      <a:lvl4pPr marL="1371600" algn="l" defTabSz="457200" rtl="0" eaLnBrk="1" latinLnBrk="0" hangingPunct="1">
        <a:defRPr lang="tr-TR" sz="1800" kern="1200">
          <a:solidFill>
            <a:schemeClr val="tx1"/>
          </a:solidFill>
          <a:latin typeface="+mn-lt"/>
          <a:ea typeface="+mn-ea"/>
          <a:cs typeface="+mn-cs"/>
        </a:defRPr>
      </a:lvl4pPr>
      <a:lvl5pPr marL="1828800" algn="l" defTabSz="457200" rtl="0" eaLnBrk="1" latinLnBrk="0" hangingPunct="1">
        <a:defRPr lang="tr-TR" sz="1800" kern="1200">
          <a:solidFill>
            <a:schemeClr val="tx1"/>
          </a:solidFill>
          <a:latin typeface="+mn-lt"/>
          <a:ea typeface="+mn-ea"/>
          <a:cs typeface="+mn-cs"/>
        </a:defRPr>
      </a:lvl5pPr>
      <a:lvl6pPr marL="2286000" algn="l" defTabSz="457200" rtl="0" eaLnBrk="1" latinLnBrk="0" hangingPunct="1">
        <a:defRPr lang="tr-TR" sz="1800" kern="1200">
          <a:solidFill>
            <a:schemeClr val="tx1"/>
          </a:solidFill>
          <a:latin typeface="+mn-lt"/>
          <a:ea typeface="+mn-ea"/>
          <a:cs typeface="+mn-cs"/>
        </a:defRPr>
      </a:lvl6pPr>
      <a:lvl7pPr marL="2743200" algn="l" defTabSz="457200" rtl="0" eaLnBrk="1" latinLnBrk="0" hangingPunct="1">
        <a:defRPr lang="tr-TR" sz="1800" kern="1200">
          <a:solidFill>
            <a:schemeClr val="tx1"/>
          </a:solidFill>
          <a:latin typeface="+mn-lt"/>
          <a:ea typeface="+mn-ea"/>
          <a:cs typeface="+mn-cs"/>
        </a:defRPr>
      </a:lvl7pPr>
      <a:lvl8pPr marL="3200400" algn="l" defTabSz="457200" rtl="0" eaLnBrk="1" latinLnBrk="0" hangingPunct="1">
        <a:defRPr lang="tr-TR" sz="1800" kern="1200">
          <a:solidFill>
            <a:schemeClr val="tx1"/>
          </a:solidFill>
          <a:latin typeface="+mn-lt"/>
          <a:ea typeface="+mn-ea"/>
          <a:cs typeface="+mn-cs"/>
        </a:defRPr>
      </a:lvl8pPr>
      <a:lvl9pPr marL="3657600" algn="l" defTabSz="457200" rtl="0" eaLnBrk="1" latinLnBrk="0" hangingPunct="1">
        <a:defRPr lang="tr-T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3.xml"/><Relationship Id="rId3" Type="http://schemas.openxmlformats.org/officeDocument/2006/relationships/image" Target="../media/image43.jpg"/><Relationship Id="rId4" Type="http://schemas.openxmlformats.org/officeDocument/2006/relationships/image" Target="../media/image44.jpg"/><Relationship Id="rId5" Type="http://schemas.openxmlformats.org/officeDocument/2006/relationships/image" Target="../media/image45.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8.xml"/><Relationship Id="rId3" Type="http://schemas.openxmlformats.org/officeDocument/2006/relationships/image" Target="../media/image46.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5.xml"/><Relationship Id="rId3" Type="http://schemas.openxmlformats.org/officeDocument/2006/relationships/image" Target="../media/image46.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9.xml"/><Relationship Id="rId3" Type="http://schemas.openxmlformats.org/officeDocument/2006/relationships/image" Target="../media/image47.jpg"/><Relationship Id="rId4" Type="http://schemas.openxmlformats.org/officeDocument/2006/relationships/image" Target="../media/image46.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Ünite sonu: ne yapacağız?</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ÜNİTE SONU</a:t>
            </a:r>
          </a:p>
        </p:txBody>
      </p:sp>
      <p:sp>
        <p:nvSpPr>
          <p:cNvPr id="6" name="TextBox 5"/>
          <p:cNvSpPr txBox="1"/>
          <p:nvPr/>
        </p:nvSpPr>
        <p:spPr>
          <a:xfrm>
            <a:off x="502920" y="1188720"/>
            <a:ext cx="11185855" cy="731520"/>
          </a:xfrm>
          <a:prstGeom prst="rect">
            <a:avLst/>
          </a:prstGeom>
          <a:noFill/>
        </p:spPr>
        <p:txBody>
          <a:bodyPr wrap="square" anchor="t" lIns="73152" rIns="73152" tIns="36576" bIns="36576">
            <a:noAutofit/>
          </a:bodyPr>
          <a:lstStyle/>
          <a:p>
            <a:pPr algn="ctr">
              <a:spcBef>
                <a:spcPts val="0"/>
              </a:spcBef>
              <a:spcAft>
                <a:spcPts val="200"/>
              </a:spcAft>
            </a:pPr>
            <a:r>
              <a:rPr lang="tr-TR" sz="2200" b="1" i="0">
                <a:solidFill>
                  <a:srgbClr val="A63A32"/>
                </a:solidFill>
                <a:latin typeface="Calibri"/>
              </a:rPr>
              <a:t>6. Ünite Ölçme ve Değerlendirme Soruları</a:t>
            </a:r>
          </a:p>
          <a:p>
            <a:pPr algn="ctr">
              <a:spcBef>
                <a:spcPts val="0"/>
              </a:spcBef>
              <a:spcAft>
                <a:spcPts val="0"/>
              </a:spcAft>
            </a:pPr>
            <a:r>
              <a:rPr lang="tr-TR" sz="1700" b="0" i="1">
                <a:solidFill>
                  <a:srgbClr val="767676"/>
                </a:solidFill>
                <a:latin typeface="Calibri"/>
              </a:rPr>
              <a:t>Bu testte cevaplamanız için farklı soru çeşitlerinden oluşan toplam 9 soru verilmiştir.</a:t>
            </a:r>
          </a:p>
        </p:txBody>
      </p:sp>
      <p:sp>
        <p:nvSpPr>
          <p:cNvPr id="7" name="Rounded Rectangle 6"/>
          <p:cNvSpPr/>
          <p:nvPr/>
        </p:nvSpPr>
        <p:spPr>
          <a:xfrm>
            <a:off x="502920" y="2011680"/>
            <a:ext cx="3606698" cy="3438144"/>
          </a:xfrm>
          <a:prstGeom prst="roundRect">
            <a:avLst>
              <a:gd name="adj" fmla="val 5000"/>
            </a:avLst>
          </a:prstGeom>
          <a:solidFill>
            <a:srgbClr val="F0F0F0"/>
          </a:solidFill>
          <a:ln>
            <a:noFill/>
          </a:ln>
          <a:effectLst/>
        </p:spPr>
        <p:txBody>
          <a:bodyPr rtlCol="0" anchor="ctr"/>
          <a:lstStyle/>
          <a:p/>
        </p:txBody>
      </p:sp>
      <p:sp>
        <p:nvSpPr>
          <p:cNvPr id="8" name="Rounded Rectangle 7"/>
          <p:cNvSpPr/>
          <p:nvPr/>
        </p:nvSpPr>
        <p:spPr>
          <a:xfrm>
            <a:off x="502920" y="2011680"/>
            <a:ext cx="3606698" cy="731520"/>
          </a:xfrm>
          <a:prstGeom prst="roundRect">
            <a:avLst>
              <a:gd name="adj" fmla="val 12000"/>
            </a:avLst>
          </a:prstGeom>
          <a:solidFill>
            <a:srgbClr val="A63A32"/>
          </a:solidFill>
          <a:ln>
            <a:noFill/>
          </a:ln>
          <a:effectLst/>
        </p:spPr>
        <p:txBody>
          <a:bodyPr rtlCol="0" anchor="ctr" wrap="square" lIns="128016" rIns="128016" tIns="73152" bIns="73152">
            <a:noAutofit/>
          </a:bodyPr>
          <a:lstStyle/>
          <a:p>
            <a:pPr algn="ctr">
              <a:spcBef>
                <a:spcPts val="0"/>
              </a:spcBef>
              <a:spcAft>
                <a:spcPts val="87"/>
              </a:spcAft>
            </a:pPr>
            <a:r>
              <a:rPr lang="tr-TR" sz="1750" b="1" i="0">
                <a:solidFill>
                  <a:srgbClr val="FFFFFF"/>
                </a:solidFill>
                <a:latin typeface="Calibri"/>
              </a:rPr>
              <a:t>1-2  ·  Shenzhen'de toprak kayması</a:t>
            </a:r>
          </a:p>
          <a:p>
            <a:pPr algn="ctr">
              <a:spcBef>
                <a:spcPts val="0"/>
              </a:spcBef>
              <a:spcAft>
                <a:spcPts val="0"/>
              </a:spcAft>
            </a:pPr>
            <a:r>
              <a:rPr lang="tr-TR" sz="1312" b="0" i="0">
                <a:solidFill>
                  <a:srgbClr val="FFFFFF"/>
                </a:solidFill>
                <a:latin typeface="Calibri"/>
              </a:rPr>
              <a:t>Kitap s. 210</a:t>
            </a:r>
          </a:p>
        </p:txBody>
      </p:sp>
      <p:sp>
        <p:nvSpPr>
          <p:cNvPr id="9" name="Rounded Rectangle 8"/>
          <p:cNvSpPr/>
          <p:nvPr/>
        </p:nvSpPr>
        <p:spPr>
          <a:xfrm>
            <a:off x="594360" y="2852928"/>
            <a:ext cx="3423818" cy="1225296"/>
          </a:xfrm>
          <a:prstGeom prst="roundRect">
            <a:avLst>
              <a:gd name="adj" fmla="val 7462"/>
            </a:avLst>
          </a:prstGeom>
          <a:solidFill>
            <a:srgbClr val="FFFFFF"/>
          </a:solidFill>
          <a:ln w="9525">
            <a:solidFill>
              <a:srgbClr val="D9D9D9"/>
            </a:solidFill>
          </a:ln>
          <a:effectLst/>
        </p:spPr>
        <p:txBody>
          <a:bodyPr rtlCol="0" anchor="ctr"/>
          <a:lstStyle/>
          <a:p/>
        </p:txBody>
      </p:sp>
      <p:sp>
        <p:nvSpPr>
          <p:cNvPr id="10" name="Oval 9"/>
          <p:cNvSpPr/>
          <p:nvPr/>
        </p:nvSpPr>
        <p:spPr>
          <a:xfrm>
            <a:off x="667512" y="3273552"/>
            <a:ext cx="384048" cy="384048"/>
          </a:xfrm>
          <a:prstGeom prst="ellipse">
            <a:avLst/>
          </a:prstGeom>
          <a:solidFill>
            <a:srgbClr val="A63A32"/>
          </a:solidFill>
          <a:ln>
            <a:noFill/>
          </a:ln>
          <a:effectLst/>
        </p:spPr>
        <p:txBody>
          <a:bodyPr rtlCol="0" anchor="ctr" wrap="none" lIns="0" rIns="0" tIns="0" bIns="0">
            <a:noAutofit/>
          </a:bodyPr>
          <a:lstStyle/>
          <a:p>
            <a:pPr algn="ctr">
              <a:spcBef>
                <a:spcPts val="0"/>
              </a:spcBef>
              <a:spcAft>
                <a:spcPts val="0"/>
              </a:spcAft>
            </a:pPr>
            <a:r>
              <a:rPr lang="tr-TR" sz="1600" b="1" i="0">
                <a:solidFill>
                  <a:srgbClr val="FFFFFF"/>
                </a:solidFill>
                <a:latin typeface="Calibri"/>
              </a:rPr>
              <a:t>1</a:t>
            </a:r>
          </a:p>
        </p:txBody>
      </p:sp>
      <p:sp>
        <p:nvSpPr>
          <p:cNvPr id="11" name="TextBox 10"/>
          <p:cNvSpPr txBox="1"/>
          <p:nvPr/>
        </p:nvSpPr>
        <p:spPr>
          <a:xfrm>
            <a:off x="1197864" y="3186684"/>
            <a:ext cx="2728874" cy="290047"/>
          </a:xfrm>
          <a:prstGeom prst="rect">
            <a:avLst/>
          </a:prstGeom>
          <a:noFill/>
        </p:spPr>
        <p:txBody>
          <a:bodyPr wrap="square" anchor="b" lIns="73152" rIns="73152" tIns="0" bIns="0">
            <a:noAutofit/>
          </a:bodyPr>
          <a:lstStyle/>
          <a:p>
            <a:pPr algn="l">
              <a:spcBef>
                <a:spcPts val="0"/>
              </a:spcBef>
              <a:spcAft>
                <a:spcPts val="0"/>
              </a:spcAft>
            </a:pPr>
            <a:r>
              <a:rPr lang="tr-TR" sz="1850" b="1" i="0">
                <a:solidFill>
                  <a:srgbClr val="262626"/>
                </a:solidFill>
                <a:latin typeface="Calibri"/>
              </a:rPr>
              <a:t>Tehlike, risk ve afet</a:t>
            </a:r>
          </a:p>
        </p:txBody>
      </p:sp>
      <p:sp>
        <p:nvSpPr>
          <p:cNvPr id="12" name="TextBox 11"/>
          <p:cNvSpPr txBox="1"/>
          <p:nvPr/>
        </p:nvSpPr>
        <p:spPr>
          <a:xfrm>
            <a:off x="1197864" y="3476731"/>
            <a:ext cx="1768754" cy="267736"/>
          </a:xfrm>
          <a:prstGeom prst="rect">
            <a:avLst/>
          </a:prstGeom>
          <a:noFill/>
        </p:spPr>
        <p:txBody>
          <a:bodyPr wrap="square" anchor="ctr" lIns="73152" rIns="73152" tIns="0" bIns="0">
            <a:noAutofit/>
          </a:bodyPr>
          <a:lstStyle/>
          <a:p>
            <a:pPr algn="l">
              <a:spcBef>
                <a:spcPts val="0"/>
              </a:spcBef>
              <a:spcAft>
                <a:spcPts val="0"/>
              </a:spcAft>
            </a:pPr>
            <a:r>
              <a:rPr lang="tr-TR" sz="1500" b="0" i="0">
                <a:solidFill>
                  <a:srgbClr val="767676"/>
                </a:solidFill>
                <a:latin typeface="Calibri"/>
              </a:rPr>
              <a:t>çoktan seçmeli</a:t>
            </a:r>
          </a:p>
        </p:txBody>
      </p:sp>
      <p:sp>
        <p:nvSpPr>
          <p:cNvPr id="13" name="Rounded Rectangle 12"/>
          <p:cNvSpPr/>
          <p:nvPr/>
        </p:nvSpPr>
        <p:spPr>
          <a:xfrm>
            <a:off x="2994050" y="3495019"/>
            <a:ext cx="914400" cy="231160"/>
          </a:xfrm>
          <a:prstGeom prst="roundRect">
            <a:avLst>
              <a:gd name="adj" fmla="val 30000"/>
            </a:avLst>
          </a:prstGeom>
          <a:solidFill>
            <a:srgbClr val="A63A32"/>
          </a:solidFill>
          <a:ln>
            <a:noFill/>
          </a:ln>
          <a:effectLst/>
        </p:spPr>
        <p:txBody>
          <a:bodyPr rtlCol="0" anchor="ctr" wrap="square" lIns="36576" rIns="36576" tIns="0" bIns="0">
            <a:noAutofit/>
          </a:bodyPr>
          <a:lstStyle/>
          <a:p>
            <a:pPr algn="ctr">
              <a:spcBef>
                <a:spcPts val="0"/>
              </a:spcBef>
              <a:spcAft>
                <a:spcPts val="0"/>
              </a:spcAft>
            </a:pPr>
            <a:r>
              <a:rPr lang="tr-TR" sz="1200" b="1" i="0">
                <a:solidFill>
                  <a:srgbClr val="FFFFFF"/>
                </a:solidFill>
                <a:latin typeface="Calibri"/>
              </a:rPr>
              <a:t>EVDE</a:t>
            </a:r>
          </a:p>
        </p:txBody>
      </p:sp>
      <p:sp>
        <p:nvSpPr>
          <p:cNvPr id="14" name="Rounded Rectangle 13"/>
          <p:cNvSpPr/>
          <p:nvPr/>
        </p:nvSpPr>
        <p:spPr>
          <a:xfrm>
            <a:off x="594360" y="4151376"/>
            <a:ext cx="3423818" cy="1225296"/>
          </a:xfrm>
          <a:prstGeom prst="roundRect">
            <a:avLst>
              <a:gd name="adj" fmla="val 7462"/>
            </a:avLst>
          </a:prstGeom>
          <a:solidFill>
            <a:srgbClr val="FFFFFF"/>
          </a:solidFill>
          <a:ln w="9525">
            <a:solidFill>
              <a:srgbClr val="D9D9D9"/>
            </a:solidFill>
          </a:ln>
          <a:effectLst/>
        </p:spPr>
        <p:txBody>
          <a:bodyPr rtlCol="0" anchor="ctr"/>
          <a:lstStyle/>
          <a:p/>
        </p:txBody>
      </p:sp>
      <p:sp>
        <p:nvSpPr>
          <p:cNvPr id="15" name="Oval 14"/>
          <p:cNvSpPr/>
          <p:nvPr/>
        </p:nvSpPr>
        <p:spPr>
          <a:xfrm>
            <a:off x="667512" y="4572000"/>
            <a:ext cx="384048" cy="384048"/>
          </a:xfrm>
          <a:prstGeom prst="ellipse">
            <a:avLst/>
          </a:prstGeom>
          <a:solidFill>
            <a:srgbClr val="A63A32"/>
          </a:solidFill>
          <a:ln>
            <a:noFill/>
          </a:ln>
          <a:effectLst/>
        </p:spPr>
        <p:txBody>
          <a:bodyPr rtlCol="0" anchor="ctr" wrap="none" lIns="0" rIns="0" tIns="0" bIns="0">
            <a:noAutofit/>
          </a:bodyPr>
          <a:lstStyle/>
          <a:p>
            <a:pPr algn="ctr">
              <a:spcBef>
                <a:spcPts val="0"/>
              </a:spcBef>
              <a:spcAft>
                <a:spcPts val="0"/>
              </a:spcAft>
            </a:pPr>
            <a:r>
              <a:rPr lang="tr-TR" sz="1600" b="1" i="0">
                <a:solidFill>
                  <a:srgbClr val="FFFFFF"/>
                </a:solidFill>
                <a:latin typeface="Calibri"/>
              </a:rPr>
              <a:t>2</a:t>
            </a:r>
          </a:p>
        </p:txBody>
      </p:sp>
      <p:sp>
        <p:nvSpPr>
          <p:cNvPr id="16" name="TextBox 15"/>
          <p:cNvSpPr txBox="1"/>
          <p:nvPr/>
        </p:nvSpPr>
        <p:spPr>
          <a:xfrm>
            <a:off x="1197864" y="4485132"/>
            <a:ext cx="2728874" cy="290047"/>
          </a:xfrm>
          <a:prstGeom prst="rect">
            <a:avLst/>
          </a:prstGeom>
          <a:noFill/>
        </p:spPr>
        <p:txBody>
          <a:bodyPr wrap="square" anchor="b" lIns="73152" rIns="73152" tIns="0" bIns="0">
            <a:noAutofit/>
          </a:bodyPr>
          <a:lstStyle/>
          <a:p>
            <a:pPr algn="l">
              <a:spcBef>
                <a:spcPts val="0"/>
              </a:spcBef>
              <a:spcAft>
                <a:spcPts val="0"/>
              </a:spcAft>
            </a:pPr>
            <a:r>
              <a:rPr lang="tr-TR" sz="1850" b="1" i="0">
                <a:solidFill>
                  <a:srgbClr val="262626"/>
                </a:solidFill>
                <a:latin typeface="Calibri"/>
              </a:rPr>
              <a:t>Yapılması gerekenler</a:t>
            </a:r>
          </a:p>
        </p:txBody>
      </p:sp>
      <p:sp>
        <p:nvSpPr>
          <p:cNvPr id="17" name="TextBox 16"/>
          <p:cNvSpPr txBox="1"/>
          <p:nvPr/>
        </p:nvSpPr>
        <p:spPr>
          <a:xfrm>
            <a:off x="1197864" y="4775179"/>
            <a:ext cx="1768754" cy="267736"/>
          </a:xfrm>
          <a:prstGeom prst="rect">
            <a:avLst/>
          </a:prstGeom>
          <a:noFill/>
        </p:spPr>
        <p:txBody>
          <a:bodyPr wrap="square" anchor="ctr" lIns="73152" rIns="73152" tIns="0" bIns="0">
            <a:noAutofit/>
          </a:bodyPr>
          <a:lstStyle/>
          <a:p>
            <a:pPr algn="l">
              <a:spcBef>
                <a:spcPts val="0"/>
              </a:spcBef>
              <a:spcAft>
                <a:spcPts val="0"/>
              </a:spcAft>
            </a:pPr>
            <a:r>
              <a:rPr lang="tr-TR" sz="1500" b="0" i="0">
                <a:solidFill>
                  <a:srgbClr val="767676"/>
                </a:solidFill>
                <a:latin typeface="Calibri"/>
              </a:rPr>
              <a:t>açık uçlu</a:t>
            </a:r>
          </a:p>
        </p:txBody>
      </p:sp>
      <p:sp>
        <p:nvSpPr>
          <p:cNvPr id="18" name="Rounded Rectangle 17"/>
          <p:cNvSpPr/>
          <p:nvPr/>
        </p:nvSpPr>
        <p:spPr>
          <a:xfrm>
            <a:off x="2994050" y="4793467"/>
            <a:ext cx="914400" cy="231160"/>
          </a:xfrm>
          <a:prstGeom prst="roundRect">
            <a:avLst>
              <a:gd name="adj" fmla="val 30000"/>
            </a:avLst>
          </a:prstGeom>
          <a:solidFill>
            <a:srgbClr val="A63A32"/>
          </a:solidFill>
          <a:ln>
            <a:noFill/>
          </a:ln>
          <a:effectLst/>
        </p:spPr>
        <p:txBody>
          <a:bodyPr rtlCol="0" anchor="ctr" wrap="square" lIns="36576" rIns="36576" tIns="0" bIns="0">
            <a:noAutofit/>
          </a:bodyPr>
          <a:lstStyle/>
          <a:p>
            <a:pPr algn="ctr">
              <a:spcBef>
                <a:spcPts val="0"/>
              </a:spcBef>
              <a:spcAft>
                <a:spcPts val="0"/>
              </a:spcAft>
            </a:pPr>
            <a:r>
              <a:rPr lang="tr-TR" sz="1200" b="1" i="0">
                <a:solidFill>
                  <a:srgbClr val="FFFFFF"/>
                </a:solidFill>
                <a:latin typeface="Calibri"/>
              </a:rPr>
              <a:t>EVDE</a:t>
            </a:r>
          </a:p>
        </p:txBody>
      </p:sp>
      <p:sp>
        <p:nvSpPr>
          <p:cNvPr id="19" name="Rounded Rectangle 18"/>
          <p:cNvSpPr/>
          <p:nvPr/>
        </p:nvSpPr>
        <p:spPr>
          <a:xfrm>
            <a:off x="4292498" y="2011680"/>
            <a:ext cx="3606698" cy="3438144"/>
          </a:xfrm>
          <a:prstGeom prst="roundRect">
            <a:avLst>
              <a:gd name="adj" fmla="val 5000"/>
            </a:avLst>
          </a:prstGeom>
          <a:solidFill>
            <a:srgbClr val="F0F0F0"/>
          </a:solidFill>
          <a:ln>
            <a:noFill/>
          </a:ln>
          <a:effectLst/>
        </p:spPr>
        <p:txBody>
          <a:bodyPr rtlCol="0" anchor="ctr"/>
          <a:lstStyle/>
          <a:p/>
        </p:txBody>
      </p:sp>
      <p:sp>
        <p:nvSpPr>
          <p:cNvPr id="20" name="Rounded Rectangle 19"/>
          <p:cNvSpPr/>
          <p:nvPr/>
        </p:nvSpPr>
        <p:spPr>
          <a:xfrm>
            <a:off x="4292498" y="2011680"/>
            <a:ext cx="3606698" cy="731520"/>
          </a:xfrm>
          <a:prstGeom prst="roundRect">
            <a:avLst>
              <a:gd name="adj" fmla="val 12000"/>
            </a:avLst>
          </a:prstGeom>
          <a:solidFill>
            <a:srgbClr val="6A4C93"/>
          </a:solidFill>
          <a:ln>
            <a:noFill/>
          </a:ln>
          <a:effectLst/>
        </p:spPr>
        <p:txBody>
          <a:bodyPr rtlCol="0" anchor="ctr" wrap="square" lIns="128016" rIns="128016" tIns="73152" bIns="73152">
            <a:noAutofit/>
          </a:bodyPr>
          <a:lstStyle/>
          <a:p>
            <a:pPr algn="ctr">
              <a:spcBef>
                <a:spcPts val="0"/>
              </a:spcBef>
              <a:spcAft>
                <a:spcPts val="95"/>
              </a:spcAft>
            </a:pPr>
            <a:r>
              <a:rPr lang="tr-TR" sz="1900" b="1" i="0">
                <a:solidFill>
                  <a:srgbClr val="FFFFFF"/>
                </a:solidFill>
                <a:latin typeface="Calibri"/>
              </a:rPr>
              <a:t>3-5  ·  Dünyada afetler</a:t>
            </a:r>
          </a:p>
          <a:p>
            <a:pPr algn="ctr">
              <a:spcBef>
                <a:spcPts val="0"/>
              </a:spcBef>
              <a:spcAft>
                <a:spcPts val="0"/>
              </a:spcAft>
            </a:pPr>
            <a:r>
              <a:rPr lang="tr-TR" sz="1425" b="0" i="0">
                <a:solidFill>
                  <a:srgbClr val="FFFFFF"/>
                </a:solidFill>
                <a:latin typeface="Calibri"/>
              </a:rPr>
              <a:t>Kitap s. 211</a:t>
            </a:r>
          </a:p>
        </p:txBody>
      </p:sp>
      <p:sp>
        <p:nvSpPr>
          <p:cNvPr id="21" name="Rounded Rectangle 20"/>
          <p:cNvSpPr/>
          <p:nvPr/>
        </p:nvSpPr>
        <p:spPr>
          <a:xfrm>
            <a:off x="4383938" y="2852928"/>
            <a:ext cx="3423818" cy="792480"/>
          </a:xfrm>
          <a:prstGeom prst="roundRect">
            <a:avLst>
              <a:gd name="adj" fmla="val 11538"/>
            </a:avLst>
          </a:prstGeom>
          <a:solidFill>
            <a:srgbClr val="FFFFFF"/>
          </a:solidFill>
          <a:ln w="9525">
            <a:solidFill>
              <a:srgbClr val="D9D9D9"/>
            </a:solidFill>
          </a:ln>
          <a:effectLst/>
        </p:spPr>
        <p:txBody>
          <a:bodyPr rtlCol="0" anchor="ctr"/>
          <a:lstStyle/>
          <a:p/>
        </p:txBody>
      </p:sp>
      <p:sp>
        <p:nvSpPr>
          <p:cNvPr id="22" name="Oval 21"/>
          <p:cNvSpPr/>
          <p:nvPr/>
        </p:nvSpPr>
        <p:spPr>
          <a:xfrm>
            <a:off x="4457090" y="3057144"/>
            <a:ext cx="384048" cy="384048"/>
          </a:xfrm>
          <a:prstGeom prst="ellipse">
            <a:avLst/>
          </a:prstGeom>
          <a:solidFill>
            <a:srgbClr val="6A4C93"/>
          </a:solidFill>
          <a:ln>
            <a:noFill/>
          </a:ln>
          <a:effectLst/>
        </p:spPr>
        <p:txBody>
          <a:bodyPr rtlCol="0" anchor="ctr" wrap="none" lIns="0" rIns="0" tIns="0" bIns="0">
            <a:noAutofit/>
          </a:bodyPr>
          <a:lstStyle/>
          <a:p>
            <a:pPr algn="ctr">
              <a:spcBef>
                <a:spcPts val="0"/>
              </a:spcBef>
              <a:spcAft>
                <a:spcPts val="0"/>
              </a:spcAft>
            </a:pPr>
            <a:r>
              <a:rPr lang="tr-TR" sz="1600" b="1" i="0">
                <a:solidFill>
                  <a:srgbClr val="FFFFFF"/>
                </a:solidFill>
                <a:latin typeface="Calibri"/>
              </a:rPr>
              <a:t>3</a:t>
            </a:r>
          </a:p>
        </p:txBody>
      </p:sp>
      <p:sp>
        <p:nvSpPr>
          <p:cNvPr id="23" name="TextBox 22"/>
          <p:cNvSpPr txBox="1"/>
          <p:nvPr/>
        </p:nvSpPr>
        <p:spPr>
          <a:xfrm>
            <a:off x="4987442" y="2970276"/>
            <a:ext cx="2728874" cy="290047"/>
          </a:xfrm>
          <a:prstGeom prst="rect">
            <a:avLst/>
          </a:prstGeom>
          <a:noFill/>
        </p:spPr>
        <p:txBody>
          <a:bodyPr wrap="square" anchor="b" lIns="73152" rIns="73152" tIns="0" bIns="0">
            <a:noAutofit/>
          </a:bodyPr>
          <a:lstStyle/>
          <a:p>
            <a:pPr algn="l">
              <a:spcBef>
                <a:spcPts val="0"/>
              </a:spcBef>
              <a:spcAft>
                <a:spcPts val="0"/>
              </a:spcAft>
            </a:pPr>
            <a:r>
              <a:rPr lang="tr-TR" sz="1850" b="1" i="0">
                <a:solidFill>
                  <a:srgbClr val="262626"/>
                </a:solidFill>
                <a:latin typeface="Calibri"/>
              </a:rPr>
              <a:t>Sınıflandırma ölçütleri</a:t>
            </a:r>
          </a:p>
        </p:txBody>
      </p:sp>
      <p:sp>
        <p:nvSpPr>
          <p:cNvPr id="24" name="TextBox 23"/>
          <p:cNvSpPr txBox="1"/>
          <p:nvPr/>
        </p:nvSpPr>
        <p:spPr>
          <a:xfrm>
            <a:off x="4987442" y="3260323"/>
            <a:ext cx="1768754" cy="267736"/>
          </a:xfrm>
          <a:prstGeom prst="rect">
            <a:avLst/>
          </a:prstGeom>
          <a:noFill/>
        </p:spPr>
        <p:txBody>
          <a:bodyPr wrap="square" anchor="ctr" lIns="73152" rIns="73152" tIns="0" bIns="0">
            <a:noAutofit/>
          </a:bodyPr>
          <a:lstStyle/>
          <a:p>
            <a:pPr algn="l">
              <a:spcBef>
                <a:spcPts val="0"/>
              </a:spcBef>
              <a:spcAft>
                <a:spcPts val="0"/>
              </a:spcAft>
            </a:pPr>
            <a:r>
              <a:rPr lang="tr-TR" sz="1500" b="0" i="0">
                <a:solidFill>
                  <a:srgbClr val="767676"/>
                </a:solidFill>
                <a:latin typeface="Calibri"/>
              </a:rPr>
              <a:t>kutucuk</a:t>
            </a:r>
          </a:p>
        </p:txBody>
      </p:sp>
      <p:sp>
        <p:nvSpPr>
          <p:cNvPr id="25" name="Rounded Rectangle 24"/>
          <p:cNvSpPr/>
          <p:nvPr/>
        </p:nvSpPr>
        <p:spPr>
          <a:xfrm>
            <a:off x="6783628" y="3278611"/>
            <a:ext cx="914400" cy="231160"/>
          </a:xfrm>
          <a:prstGeom prst="roundRect">
            <a:avLst>
              <a:gd name="adj" fmla="val 30000"/>
            </a:avLst>
          </a:prstGeom>
          <a:solidFill>
            <a:srgbClr val="FFF3D1"/>
          </a:solidFill>
          <a:ln w="12700">
            <a:solidFill>
              <a:srgbClr val="FCC021"/>
            </a:solidFill>
          </a:ln>
          <a:effectLst/>
        </p:spPr>
        <p:txBody>
          <a:bodyPr rtlCol="0" anchor="ctr" wrap="square" lIns="36576" rIns="36576" tIns="0" bIns="0">
            <a:noAutofit/>
          </a:bodyPr>
          <a:lstStyle/>
          <a:p>
            <a:pPr algn="ctr">
              <a:spcBef>
                <a:spcPts val="0"/>
              </a:spcBef>
              <a:spcAft>
                <a:spcPts val="0"/>
              </a:spcAft>
            </a:pPr>
            <a:r>
              <a:rPr lang="tr-TR" sz="1200" b="1" i="0">
                <a:solidFill>
                  <a:srgbClr val="262626"/>
                </a:solidFill>
                <a:latin typeface="Calibri"/>
              </a:rPr>
              <a:t>TEKRAR</a:t>
            </a:r>
          </a:p>
        </p:txBody>
      </p:sp>
      <p:sp>
        <p:nvSpPr>
          <p:cNvPr id="26" name="Rounded Rectangle 25"/>
          <p:cNvSpPr/>
          <p:nvPr/>
        </p:nvSpPr>
        <p:spPr>
          <a:xfrm>
            <a:off x="4383938" y="3718560"/>
            <a:ext cx="3423818" cy="792480"/>
          </a:xfrm>
          <a:prstGeom prst="roundRect">
            <a:avLst>
              <a:gd name="adj" fmla="val 11538"/>
            </a:avLst>
          </a:prstGeom>
          <a:solidFill>
            <a:srgbClr val="FFFFFF"/>
          </a:solidFill>
          <a:ln w="9525">
            <a:solidFill>
              <a:srgbClr val="D9D9D9"/>
            </a:solidFill>
          </a:ln>
          <a:effectLst/>
        </p:spPr>
        <p:txBody>
          <a:bodyPr rtlCol="0" anchor="ctr"/>
          <a:lstStyle/>
          <a:p/>
        </p:txBody>
      </p:sp>
      <p:sp>
        <p:nvSpPr>
          <p:cNvPr id="27" name="Oval 26"/>
          <p:cNvSpPr/>
          <p:nvPr/>
        </p:nvSpPr>
        <p:spPr>
          <a:xfrm>
            <a:off x="4457090" y="3922776"/>
            <a:ext cx="384048" cy="384048"/>
          </a:xfrm>
          <a:prstGeom prst="ellipse">
            <a:avLst/>
          </a:prstGeom>
          <a:solidFill>
            <a:srgbClr val="6A4C93"/>
          </a:solidFill>
          <a:ln>
            <a:noFill/>
          </a:ln>
          <a:effectLst/>
        </p:spPr>
        <p:txBody>
          <a:bodyPr rtlCol="0" anchor="ctr" wrap="none" lIns="0" rIns="0" tIns="0" bIns="0">
            <a:noAutofit/>
          </a:bodyPr>
          <a:lstStyle/>
          <a:p>
            <a:pPr algn="ctr">
              <a:spcBef>
                <a:spcPts val="0"/>
              </a:spcBef>
              <a:spcAft>
                <a:spcPts val="0"/>
              </a:spcAft>
            </a:pPr>
            <a:r>
              <a:rPr lang="tr-TR" sz="1600" b="1" i="0">
                <a:solidFill>
                  <a:srgbClr val="FFFFFF"/>
                </a:solidFill>
                <a:latin typeface="Calibri"/>
              </a:rPr>
              <a:t>4</a:t>
            </a:r>
          </a:p>
        </p:txBody>
      </p:sp>
      <p:sp>
        <p:nvSpPr>
          <p:cNvPr id="28" name="TextBox 27"/>
          <p:cNvSpPr txBox="1"/>
          <p:nvPr/>
        </p:nvSpPr>
        <p:spPr>
          <a:xfrm>
            <a:off x="4987442" y="3835908"/>
            <a:ext cx="2728874" cy="290047"/>
          </a:xfrm>
          <a:prstGeom prst="rect">
            <a:avLst/>
          </a:prstGeom>
          <a:noFill/>
        </p:spPr>
        <p:txBody>
          <a:bodyPr wrap="square" anchor="b" lIns="73152" rIns="73152" tIns="0" bIns="0">
            <a:noAutofit/>
          </a:bodyPr>
          <a:lstStyle/>
          <a:p>
            <a:pPr algn="l">
              <a:spcBef>
                <a:spcPts val="0"/>
              </a:spcBef>
              <a:spcAft>
                <a:spcPts val="0"/>
              </a:spcAft>
            </a:pPr>
            <a:r>
              <a:rPr lang="tr-TR" sz="1850" b="1" i="0">
                <a:solidFill>
                  <a:srgbClr val="262626"/>
                </a:solidFill>
                <a:latin typeface="Calibri"/>
              </a:rPr>
              <a:t>Deprem sonrası afetler</a:t>
            </a:r>
          </a:p>
        </p:txBody>
      </p:sp>
      <p:sp>
        <p:nvSpPr>
          <p:cNvPr id="29" name="TextBox 28"/>
          <p:cNvSpPr txBox="1"/>
          <p:nvPr/>
        </p:nvSpPr>
        <p:spPr>
          <a:xfrm>
            <a:off x="4987442" y="4125955"/>
            <a:ext cx="1768754" cy="267736"/>
          </a:xfrm>
          <a:prstGeom prst="rect">
            <a:avLst/>
          </a:prstGeom>
          <a:noFill/>
        </p:spPr>
        <p:txBody>
          <a:bodyPr wrap="square" anchor="ctr" lIns="73152" rIns="73152" tIns="0" bIns="0">
            <a:noAutofit/>
          </a:bodyPr>
          <a:lstStyle/>
          <a:p>
            <a:pPr algn="l">
              <a:spcBef>
                <a:spcPts val="0"/>
              </a:spcBef>
              <a:spcAft>
                <a:spcPts val="0"/>
              </a:spcAft>
            </a:pPr>
            <a:r>
              <a:rPr lang="tr-TR" sz="1500" b="0" i="0">
                <a:solidFill>
                  <a:srgbClr val="767676"/>
                </a:solidFill>
                <a:latin typeface="Calibri"/>
              </a:rPr>
              <a:t>çoktan seçmeli</a:t>
            </a:r>
          </a:p>
        </p:txBody>
      </p:sp>
      <p:sp>
        <p:nvSpPr>
          <p:cNvPr id="30" name="Rounded Rectangle 29"/>
          <p:cNvSpPr/>
          <p:nvPr/>
        </p:nvSpPr>
        <p:spPr>
          <a:xfrm>
            <a:off x="6783628" y="4144243"/>
            <a:ext cx="914400" cy="231160"/>
          </a:xfrm>
          <a:prstGeom prst="roundRect">
            <a:avLst>
              <a:gd name="adj" fmla="val 30000"/>
            </a:avLst>
          </a:prstGeom>
          <a:solidFill>
            <a:srgbClr val="FFF3D1"/>
          </a:solidFill>
          <a:ln w="12700">
            <a:solidFill>
              <a:srgbClr val="FCC021"/>
            </a:solidFill>
          </a:ln>
          <a:effectLst/>
        </p:spPr>
        <p:txBody>
          <a:bodyPr rtlCol="0" anchor="ctr" wrap="square" lIns="36576" rIns="36576" tIns="0" bIns="0">
            <a:noAutofit/>
          </a:bodyPr>
          <a:lstStyle/>
          <a:p>
            <a:pPr algn="ctr">
              <a:spcBef>
                <a:spcPts val="0"/>
              </a:spcBef>
              <a:spcAft>
                <a:spcPts val="0"/>
              </a:spcAft>
            </a:pPr>
            <a:r>
              <a:rPr lang="tr-TR" sz="1200" b="1" i="0">
                <a:solidFill>
                  <a:srgbClr val="262626"/>
                </a:solidFill>
                <a:latin typeface="Calibri"/>
              </a:rPr>
              <a:t>TEKRAR</a:t>
            </a:r>
          </a:p>
        </p:txBody>
      </p:sp>
      <p:sp>
        <p:nvSpPr>
          <p:cNvPr id="31" name="Rounded Rectangle 30"/>
          <p:cNvSpPr/>
          <p:nvPr/>
        </p:nvSpPr>
        <p:spPr>
          <a:xfrm>
            <a:off x="4383938" y="4584192"/>
            <a:ext cx="3423818" cy="792480"/>
          </a:xfrm>
          <a:prstGeom prst="roundRect">
            <a:avLst>
              <a:gd name="adj" fmla="val 11538"/>
            </a:avLst>
          </a:prstGeom>
          <a:solidFill>
            <a:srgbClr val="FFFFFF"/>
          </a:solidFill>
          <a:ln w="9525">
            <a:solidFill>
              <a:srgbClr val="D9D9D9"/>
            </a:solidFill>
          </a:ln>
          <a:effectLst/>
        </p:spPr>
        <p:txBody>
          <a:bodyPr rtlCol="0" anchor="ctr"/>
          <a:lstStyle/>
          <a:p/>
        </p:txBody>
      </p:sp>
      <p:sp>
        <p:nvSpPr>
          <p:cNvPr id="32" name="Oval 31"/>
          <p:cNvSpPr/>
          <p:nvPr/>
        </p:nvSpPr>
        <p:spPr>
          <a:xfrm>
            <a:off x="4457090" y="4788408"/>
            <a:ext cx="384048" cy="384048"/>
          </a:xfrm>
          <a:prstGeom prst="ellipse">
            <a:avLst/>
          </a:prstGeom>
          <a:solidFill>
            <a:srgbClr val="6A4C93"/>
          </a:solidFill>
          <a:ln>
            <a:noFill/>
          </a:ln>
          <a:effectLst/>
        </p:spPr>
        <p:txBody>
          <a:bodyPr rtlCol="0" anchor="ctr" wrap="none" lIns="0" rIns="0" tIns="0" bIns="0">
            <a:noAutofit/>
          </a:bodyPr>
          <a:lstStyle/>
          <a:p>
            <a:pPr algn="ctr">
              <a:spcBef>
                <a:spcPts val="0"/>
              </a:spcBef>
              <a:spcAft>
                <a:spcPts val="0"/>
              </a:spcAft>
            </a:pPr>
            <a:r>
              <a:rPr lang="tr-TR" sz="1600" b="1" i="0">
                <a:solidFill>
                  <a:srgbClr val="FFFFFF"/>
                </a:solidFill>
                <a:latin typeface="Calibri"/>
              </a:rPr>
              <a:t>5</a:t>
            </a:r>
          </a:p>
        </p:txBody>
      </p:sp>
      <p:sp>
        <p:nvSpPr>
          <p:cNvPr id="33" name="TextBox 32"/>
          <p:cNvSpPr txBox="1"/>
          <p:nvPr/>
        </p:nvSpPr>
        <p:spPr>
          <a:xfrm>
            <a:off x="4987442" y="4701540"/>
            <a:ext cx="2728874" cy="290047"/>
          </a:xfrm>
          <a:prstGeom prst="rect">
            <a:avLst/>
          </a:prstGeom>
          <a:noFill/>
        </p:spPr>
        <p:txBody>
          <a:bodyPr wrap="square" anchor="b" lIns="73152" rIns="73152" tIns="0" bIns="0">
            <a:noAutofit/>
          </a:bodyPr>
          <a:lstStyle/>
          <a:p>
            <a:pPr algn="l">
              <a:spcBef>
                <a:spcPts val="0"/>
              </a:spcBef>
              <a:spcAft>
                <a:spcPts val="0"/>
              </a:spcAft>
            </a:pPr>
            <a:r>
              <a:rPr lang="tr-TR" sz="1850" b="1" i="0">
                <a:solidFill>
                  <a:srgbClr val="262626"/>
                </a:solidFill>
                <a:latin typeface="Calibri"/>
              </a:rPr>
              <a:t>Tablodaki afetlerin türü</a:t>
            </a:r>
          </a:p>
        </p:txBody>
      </p:sp>
      <p:sp>
        <p:nvSpPr>
          <p:cNvPr id="34" name="TextBox 33"/>
          <p:cNvSpPr txBox="1"/>
          <p:nvPr/>
        </p:nvSpPr>
        <p:spPr>
          <a:xfrm>
            <a:off x="4987442" y="4991587"/>
            <a:ext cx="1768754" cy="267736"/>
          </a:xfrm>
          <a:prstGeom prst="rect">
            <a:avLst/>
          </a:prstGeom>
          <a:noFill/>
        </p:spPr>
        <p:txBody>
          <a:bodyPr wrap="square" anchor="ctr" lIns="73152" rIns="73152" tIns="0" bIns="0">
            <a:noAutofit/>
          </a:bodyPr>
          <a:lstStyle/>
          <a:p>
            <a:pPr algn="l">
              <a:spcBef>
                <a:spcPts val="0"/>
              </a:spcBef>
              <a:spcAft>
                <a:spcPts val="0"/>
              </a:spcAft>
            </a:pPr>
            <a:r>
              <a:rPr lang="tr-TR" sz="1500" b="0" i="0">
                <a:solidFill>
                  <a:srgbClr val="767676"/>
                </a:solidFill>
                <a:latin typeface="Calibri"/>
              </a:rPr>
              <a:t>açık uçlu</a:t>
            </a:r>
          </a:p>
        </p:txBody>
      </p:sp>
      <p:sp>
        <p:nvSpPr>
          <p:cNvPr id="35" name="Rounded Rectangle 34"/>
          <p:cNvSpPr/>
          <p:nvPr/>
        </p:nvSpPr>
        <p:spPr>
          <a:xfrm>
            <a:off x="6783628" y="5009875"/>
            <a:ext cx="914400" cy="231160"/>
          </a:xfrm>
          <a:prstGeom prst="roundRect">
            <a:avLst>
              <a:gd name="adj" fmla="val 30000"/>
            </a:avLst>
          </a:prstGeom>
          <a:solidFill>
            <a:srgbClr val="6A4C93"/>
          </a:solidFill>
          <a:ln>
            <a:noFill/>
          </a:ln>
          <a:effectLst/>
        </p:spPr>
        <p:txBody>
          <a:bodyPr rtlCol="0" anchor="ctr" wrap="square" lIns="36576" rIns="36576" tIns="0" bIns="0">
            <a:noAutofit/>
          </a:bodyPr>
          <a:lstStyle/>
          <a:p>
            <a:pPr algn="ctr">
              <a:spcBef>
                <a:spcPts val="0"/>
              </a:spcBef>
              <a:spcAft>
                <a:spcPts val="0"/>
              </a:spcAft>
            </a:pPr>
            <a:r>
              <a:rPr lang="tr-TR" sz="1200" b="1" i="0">
                <a:solidFill>
                  <a:srgbClr val="FFFFFF"/>
                </a:solidFill>
                <a:latin typeface="Calibri"/>
              </a:rPr>
              <a:t>EVDE</a:t>
            </a:r>
          </a:p>
        </p:txBody>
      </p:sp>
      <p:sp>
        <p:nvSpPr>
          <p:cNvPr id="36" name="Rounded Rectangle 35"/>
          <p:cNvSpPr/>
          <p:nvPr/>
        </p:nvSpPr>
        <p:spPr>
          <a:xfrm>
            <a:off x="8082076" y="2011680"/>
            <a:ext cx="3606698" cy="3438144"/>
          </a:xfrm>
          <a:prstGeom prst="roundRect">
            <a:avLst>
              <a:gd name="adj" fmla="val 5000"/>
            </a:avLst>
          </a:prstGeom>
          <a:solidFill>
            <a:srgbClr val="F0F0F0"/>
          </a:solidFill>
          <a:ln>
            <a:noFill/>
          </a:ln>
          <a:effectLst/>
        </p:spPr>
        <p:txBody>
          <a:bodyPr rtlCol="0" anchor="ctr"/>
          <a:lstStyle/>
          <a:p/>
        </p:txBody>
      </p:sp>
      <p:sp>
        <p:nvSpPr>
          <p:cNvPr id="37" name="Rounded Rectangle 36"/>
          <p:cNvSpPr/>
          <p:nvPr/>
        </p:nvSpPr>
        <p:spPr>
          <a:xfrm>
            <a:off x="8082076" y="2011680"/>
            <a:ext cx="3606698" cy="731520"/>
          </a:xfrm>
          <a:prstGeom prst="roundRect">
            <a:avLst>
              <a:gd name="adj" fmla="val 12000"/>
            </a:avLst>
          </a:prstGeom>
          <a:solidFill>
            <a:srgbClr val="1E7B6E"/>
          </a:solidFill>
          <a:ln>
            <a:noFill/>
          </a:ln>
          <a:effectLst/>
        </p:spPr>
        <p:txBody>
          <a:bodyPr rtlCol="0" anchor="ctr" wrap="square" lIns="128016" rIns="128016" tIns="73152" bIns="73152">
            <a:noAutofit/>
          </a:bodyPr>
          <a:lstStyle/>
          <a:p>
            <a:pPr algn="ctr">
              <a:spcBef>
                <a:spcPts val="0"/>
              </a:spcBef>
              <a:spcAft>
                <a:spcPts val="95"/>
              </a:spcAft>
            </a:pPr>
            <a:r>
              <a:rPr lang="tr-TR" sz="1900" b="1" i="0">
                <a:solidFill>
                  <a:srgbClr val="FFFFFF"/>
                </a:solidFill>
                <a:latin typeface="Calibri"/>
              </a:rPr>
              <a:t>6-9  ·  Bütüncül afet yönetimi</a:t>
            </a:r>
          </a:p>
          <a:p>
            <a:pPr algn="ctr">
              <a:spcBef>
                <a:spcPts val="0"/>
              </a:spcBef>
              <a:spcAft>
                <a:spcPts val="0"/>
              </a:spcAft>
            </a:pPr>
            <a:r>
              <a:rPr lang="tr-TR" sz="1425" b="0" i="0">
                <a:solidFill>
                  <a:srgbClr val="FFFFFF"/>
                </a:solidFill>
                <a:latin typeface="Calibri"/>
              </a:rPr>
              <a:t>Kitap s. 212-213</a:t>
            </a:r>
          </a:p>
        </p:txBody>
      </p:sp>
      <p:sp>
        <p:nvSpPr>
          <p:cNvPr id="38" name="Rounded Rectangle 37"/>
          <p:cNvSpPr/>
          <p:nvPr/>
        </p:nvSpPr>
        <p:spPr>
          <a:xfrm>
            <a:off x="8173516" y="2852928"/>
            <a:ext cx="3423818" cy="576072"/>
          </a:xfrm>
          <a:prstGeom prst="roundRect">
            <a:avLst>
              <a:gd name="adj" fmla="val 15873"/>
            </a:avLst>
          </a:prstGeom>
          <a:solidFill>
            <a:srgbClr val="FFFFFF"/>
          </a:solidFill>
          <a:ln w="9525">
            <a:solidFill>
              <a:srgbClr val="D9D9D9"/>
            </a:solidFill>
          </a:ln>
          <a:effectLst/>
        </p:spPr>
        <p:txBody>
          <a:bodyPr rtlCol="0" anchor="ctr"/>
          <a:lstStyle/>
          <a:p/>
        </p:txBody>
      </p:sp>
      <p:sp>
        <p:nvSpPr>
          <p:cNvPr id="39" name="Oval 38"/>
          <p:cNvSpPr/>
          <p:nvPr/>
        </p:nvSpPr>
        <p:spPr>
          <a:xfrm>
            <a:off x="8246668" y="2948940"/>
            <a:ext cx="384048" cy="384048"/>
          </a:xfrm>
          <a:prstGeom prst="ellipse">
            <a:avLst/>
          </a:prstGeom>
          <a:solidFill>
            <a:srgbClr val="1E7B6E"/>
          </a:solidFill>
          <a:ln>
            <a:noFill/>
          </a:ln>
          <a:effectLst/>
        </p:spPr>
        <p:txBody>
          <a:bodyPr rtlCol="0" anchor="ctr" wrap="none" lIns="0" rIns="0" tIns="0" bIns="0">
            <a:noAutofit/>
          </a:bodyPr>
          <a:lstStyle/>
          <a:p>
            <a:pPr algn="ctr">
              <a:spcBef>
                <a:spcPts val="0"/>
              </a:spcBef>
              <a:spcAft>
                <a:spcPts val="0"/>
              </a:spcAft>
            </a:pPr>
            <a:r>
              <a:rPr lang="tr-TR" sz="1600" b="1" i="0">
                <a:solidFill>
                  <a:srgbClr val="FFFFFF"/>
                </a:solidFill>
                <a:latin typeface="Calibri"/>
              </a:rPr>
              <a:t>6</a:t>
            </a:r>
          </a:p>
        </p:txBody>
      </p:sp>
      <p:sp>
        <p:nvSpPr>
          <p:cNvPr id="40" name="TextBox 39"/>
          <p:cNvSpPr txBox="1"/>
          <p:nvPr/>
        </p:nvSpPr>
        <p:spPr>
          <a:xfrm>
            <a:off x="8777020" y="2862072"/>
            <a:ext cx="2728874" cy="290047"/>
          </a:xfrm>
          <a:prstGeom prst="rect">
            <a:avLst/>
          </a:prstGeom>
          <a:noFill/>
        </p:spPr>
        <p:txBody>
          <a:bodyPr wrap="square" anchor="b" lIns="73152" rIns="73152" tIns="0" bIns="0">
            <a:noAutofit/>
          </a:bodyPr>
          <a:lstStyle/>
          <a:p>
            <a:pPr algn="l">
              <a:spcBef>
                <a:spcPts val="0"/>
              </a:spcBef>
              <a:spcAft>
                <a:spcPts val="0"/>
              </a:spcAft>
            </a:pPr>
            <a:r>
              <a:rPr lang="tr-TR" sz="1850" b="1" i="0">
                <a:solidFill>
                  <a:srgbClr val="262626"/>
                </a:solidFill>
                <a:latin typeface="Calibri"/>
              </a:rPr>
              <a:t>Aşamalar</a:t>
            </a:r>
          </a:p>
        </p:txBody>
      </p:sp>
      <p:sp>
        <p:nvSpPr>
          <p:cNvPr id="41" name="TextBox 40"/>
          <p:cNvSpPr txBox="1"/>
          <p:nvPr/>
        </p:nvSpPr>
        <p:spPr>
          <a:xfrm>
            <a:off x="8777020" y="3152119"/>
            <a:ext cx="1768754" cy="267736"/>
          </a:xfrm>
          <a:prstGeom prst="rect">
            <a:avLst/>
          </a:prstGeom>
          <a:noFill/>
        </p:spPr>
        <p:txBody>
          <a:bodyPr wrap="square" anchor="ctr" lIns="73152" rIns="73152" tIns="0" bIns="0">
            <a:noAutofit/>
          </a:bodyPr>
          <a:lstStyle/>
          <a:p>
            <a:pPr algn="l">
              <a:spcBef>
                <a:spcPts val="0"/>
              </a:spcBef>
              <a:spcAft>
                <a:spcPts val="0"/>
              </a:spcAft>
            </a:pPr>
            <a:r>
              <a:rPr lang="tr-TR" sz="1500" b="0" i="0">
                <a:solidFill>
                  <a:srgbClr val="767676"/>
                </a:solidFill>
                <a:latin typeface="Calibri"/>
              </a:rPr>
              <a:t>kutucuk</a:t>
            </a:r>
          </a:p>
        </p:txBody>
      </p:sp>
      <p:sp>
        <p:nvSpPr>
          <p:cNvPr id="42" name="Rounded Rectangle 41"/>
          <p:cNvSpPr/>
          <p:nvPr/>
        </p:nvSpPr>
        <p:spPr>
          <a:xfrm>
            <a:off x="10573207" y="3170407"/>
            <a:ext cx="914400" cy="231160"/>
          </a:xfrm>
          <a:prstGeom prst="roundRect">
            <a:avLst>
              <a:gd name="adj" fmla="val 30000"/>
            </a:avLst>
          </a:prstGeom>
          <a:solidFill>
            <a:srgbClr val="FFF3D1"/>
          </a:solidFill>
          <a:ln w="12700">
            <a:solidFill>
              <a:srgbClr val="FCC021"/>
            </a:solidFill>
          </a:ln>
          <a:effectLst/>
        </p:spPr>
        <p:txBody>
          <a:bodyPr rtlCol="0" anchor="ctr" wrap="square" lIns="36576" rIns="36576" tIns="0" bIns="0">
            <a:noAutofit/>
          </a:bodyPr>
          <a:lstStyle/>
          <a:p>
            <a:pPr algn="ctr">
              <a:spcBef>
                <a:spcPts val="0"/>
              </a:spcBef>
              <a:spcAft>
                <a:spcPts val="0"/>
              </a:spcAft>
            </a:pPr>
            <a:r>
              <a:rPr lang="tr-TR" sz="1200" b="1" i="0">
                <a:solidFill>
                  <a:srgbClr val="262626"/>
                </a:solidFill>
                <a:latin typeface="Calibri"/>
              </a:rPr>
              <a:t>TEKRAR</a:t>
            </a:r>
          </a:p>
        </p:txBody>
      </p:sp>
      <p:sp>
        <p:nvSpPr>
          <p:cNvPr id="43" name="Rounded Rectangle 42"/>
          <p:cNvSpPr/>
          <p:nvPr/>
        </p:nvSpPr>
        <p:spPr>
          <a:xfrm>
            <a:off x="8173516" y="3502152"/>
            <a:ext cx="3423818" cy="576072"/>
          </a:xfrm>
          <a:prstGeom prst="roundRect">
            <a:avLst>
              <a:gd name="adj" fmla="val 15873"/>
            </a:avLst>
          </a:prstGeom>
          <a:solidFill>
            <a:srgbClr val="FFFFFF"/>
          </a:solidFill>
          <a:ln w="9525">
            <a:solidFill>
              <a:srgbClr val="D9D9D9"/>
            </a:solidFill>
          </a:ln>
          <a:effectLst/>
        </p:spPr>
        <p:txBody>
          <a:bodyPr rtlCol="0" anchor="ctr"/>
          <a:lstStyle/>
          <a:p/>
        </p:txBody>
      </p:sp>
      <p:sp>
        <p:nvSpPr>
          <p:cNvPr id="44" name="Oval 43"/>
          <p:cNvSpPr/>
          <p:nvPr/>
        </p:nvSpPr>
        <p:spPr>
          <a:xfrm>
            <a:off x="8246668" y="3598164"/>
            <a:ext cx="384048" cy="384048"/>
          </a:xfrm>
          <a:prstGeom prst="ellipse">
            <a:avLst/>
          </a:prstGeom>
          <a:solidFill>
            <a:srgbClr val="1E7B6E"/>
          </a:solidFill>
          <a:ln>
            <a:noFill/>
          </a:ln>
          <a:effectLst/>
        </p:spPr>
        <p:txBody>
          <a:bodyPr rtlCol="0" anchor="ctr" wrap="none" lIns="0" rIns="0" tIns="0" bIns="0">
            <a:noAutofit/>
          </a:bodyPr>
          <a:lstStyle/>
          <a:p>
            <a:pPr algn="ctr">
              <a:spcBef>
                <a:spcPts val="0"/>
              </a:spcBef>
              <a:spcAft>
                <a:spcPts val="0"/>
              </a:spcAft>
            </a:pPr>
            <a:r>
              <a:rPr lang="tr-TR" sz="1600" b="1" i="0">
                <a:solidFill>
                  <a:srgbClr val="FFFFFF"/>
                </a:solidFill>
                <a:latin typeface="Calibri"/>
              </a:rPr>
              <a:t>7</a:t>
            </a:r>
          </a:p>
        </p:txBody>
      </p:sp>
      <p:sp>
        <p:nvSpPr>
          <p:cNvPr id="45" name="TextBox 44"/>
          <p:cNvSpPr txBox="1"/>
          <p:nvPr/>
        </p:nvSpPr>
        <p:spPr>
          <a:xfrm>
            <a:off x="8777020" y="3511296"/>
            <a:ext cx="2728874" cy="290047"/>
          </a:xfrm>
          <a:prstGeom prst="rect">
            <a:avLst/>
          </a:prstGeom>
          <a:noFill/>
        </p:spPr>
        <p:txBody>
          <a:bodyPr wrap="square" anchor="b" lIns="73152" rIns="73152" tIns="0" bIns="0">
            <a:noAutofit/>
          </a:bodyPr>
          <a:lstStyle/>
          <a:p>
            <a:pPr algn="l">
              <a:spcBef>
                <a:spcPts val="0"/>
              </a:spcBef>
              <a:spcAft>
                <a:spcPts val="0"/>
              </a:spcAft>
            </a:pPr>
            <a:r>
              <a:rPr lang="tr-TR" sz="1850" b="1" i="0">
                <a:solidFill>
                  <a:srgbClr val="262626"/>
                </a:solidFill>
                <a:latin typeface="Calibri"/>
              </a:rPr>
              <a:t>İdeal iyileştirme süreci</a:t>
            </a:r>
          </a:p>
        </p:txBody>
      </p:sp>
      <p:sp>
        <p:nvSpPr>
          <p:cNvPr id="46" name="TextBox 45"/>
          <p:cNvSpPr txBox="1"/>
          <p:nvPr/>
        </p:nvSpPr>
        <p:spPr>
          <a:xfrm>
            <a:off x="8777020" y="3801343"/>
            <a:ext cx="1768754" cy="267736"/>
          </a:xfrm>
          <a:prstGeom prst="rect">
            <a:avLst/>
          </a:prstGeom>
          <a:noFill/>
        </p:spPr>
        <p:txBody>
          <a:bodyPr wrap="square" anchor="ctr" lIns="73152" rIns="73152" tIns="0" bIns="0">
            <a:noAutofit/>
          </a:bodyPr>
          <a:lstStyle/>
          <a:p>
            <a:pPr algn="l">
              <a:spcBef>
                <a:spcPts val="0"/>
              </a:spcBef>
              <a:spcAft>
                <a:spcPts val="0"/>
              </a:spcAft>
            </a:pPr>
            <a:r>
              <a:rPr lang="tr-TR" sz="1500" b="0" i="0">
                <a:solidFill>
                  <a:srgbClr val="767676"/>
                </a:solidFill>
                <a:latin typeface="Calibri"/>
              </a:rPr>
              <a:t>çoktan seçmeli</a:t>
            </a:r>
          </a:p>
        </p:txBody>
      </p:sp>
      <p:sp>
        <p:nvSpPr>
          <p:cNvPr id="47" name="Rounded Rectangle 46"/>
          <p:cNvSpPr/>
          <p:nvPr/>
        </p:nvSpPr>
        <p:spPr>
          <a:xfrm>
            <a:off x="10573207" y="3819631"/>
            <a:ext cx="914400" cy="231160"/>
          </a:xfrm>
          <a:prstGeom prst="roundRect">
            <a:avLst>
              <a:gd name="adj" fmla="val 30000"/>
            </a:avLst>
          </a:prstGeom>
          <a:solidFill>
            <a:srgbClr val="FFF3D1"/>
          </a:solidFill>
          <a:ln w="12700">
            <a:solidFill>
              <a:srgbClr val="FCC021"/>
            </a:solidFill>
          </a:ln>
          <a:effectLst/>
        </p:spPr>
        <p:txBody>
          <a:bodyPr rtlCol="0" anchor="ctr" wrap="square" lIns="36576" rIns="36576" tIns="0" bIns="0">
            <a:noAutofit/>
          </a:bodyPr>
          <a:lstStyle/>
          <a:p>
            <a:pPr algn="ctr">
              <a:spcBef>
                <a:spcPts val="0"/>
              </a:spcBef>
              <a:spcAft>
                <a:spcPts val="0"/>
              </a:spcAft>
            </a:pPr>
            <a:r>
              <a:rPr lang="tr-TR" sz="1200" b="1" i="0">
                <a:solidFill>
                  <a:srgbClr val="262626"/>
                </a:solidFill>
                <a:latin typeface="Calibri"/>
              </a:rPr>
              <a:t>TEKRAR</a:t>
            </a:r>
          </a:p>
        </p:txBody>
      </p:sp>
      <p:sp>
        <p:nvSpPr>
          <p:cNvPr id="48" name="Rounded Rectangle 47"/>
          <p:cNvSpPr/>
          <p:nvPr/>
        </p:nvSpPr>
        <p:spPr>
          <a:xfrm>
            <a:off x="8173516" y="4151376"/>
            <a:ext cx="3423818" cy="576072"/>
          </a:xfrm>
          <a:prstGeom prst="roundRect">
            <a:avLst>
              <a:gd name="adj" fmla="val 15873"/>
            </a:avLst>
          </a:prstGeom>
          <a:solidFill>
            <a:srgbClr val="FFFFFF"/>
          </a:solidFill>
          <a:ln w="9525">
            <a:solidFill>
              <a:srgbClr val="D9D9D9"/>
            </a:solidFill>
          </a:ln>
          <a:effectLst/>
        </p:spPr>
        <p:txBody>
          <a:bodyPr rtlCol="0" anchor="ctr"/>
          <a:lstStyle/>
          <a:p/>
        </p:txBody>
      </p:sp>
      <p:sp>
        <p:nvSpPr>
          <p:cNvPr id="49" name="Oval 48"/>
          <p:cNvSpPr/>
          <p:nvPr/>
        </p:nvSpPr>
        <p:spPr>
          <a:xfrm>
            <a:off x="8246668" y="4247388"/>
            <a:ext cx="384048" cy="384048"/>
          </a:xfrm>
          <a:prstGeom prst="ellipse">
            <a:avLst/>
          </a:prstGeom>
          <a:solidFill>
            <a:srgbClr val="1E7B6E"/>
          </a:solidFill>
          <a:ln>
            <a:noFill/>
          </a:ln>
          <a:effectLst/>
        </p:spPr>
        <p:txBody>
          <a:bodyPr rtlCol="0" anchor="ctr" wrap="none" lIns="0" rIns="0" tIns="0" bIns="0">
            <a:noAutofit/>
          </a:bodyPr>
          <a:lstStyle/>
          <a:p>
            <a:pPr algn="ctr">
              <a:spcBef>
                <a:spcPts val="0"/>
              </a:spcBef>
              <a:spcAft>
                <a:spcPts val="0"/>
              </a:spcAft>
            </a:pPr>
            <a:r>
              <a:rPr lang="tr-TR" sz="1600" b="1" i="0">
                <a:solidFill>
                  <a:srgbClr val="FFFFFF"/>
                </a:solidFill>
                <a:latin typeface="Calibri"/>
              </a:rPr>
              <a:t>8</a:t>
            </a:r>
          </a:p>
        </p:txBody>
      </p:sp>
      <p:sp>
        <p:nvSpPr>
          <p:cNvPr id="50" name="TextBox 49"/>
          <p:cNvSpPr txBox="1"/>
          <p:nvPr/>
        </p:nvSpPr>
        <p:spPr>
          <a:xfrm>
            <a:off x="8777020" y="4160520"/>
            <a:ext cx="2728874" cy="290047"/>
          </a:xfrm>
          <a:prstGeom prst="rect">
            <a:avLst/>
          </a:prstGeom>
          <a:noFill/>
        </p:spPr>
        <p:txBody>
          <a:bodyPr wrap="square" anchor="b" lIns="73152" rIns="73152" tIns="0" bIns="0">
            <a:noAutofit/>
          </a:bodyPr>
          <a:lstStyle/>
          <a:p>
            <a:pPr algn="l">
              <a:spcBef>
                <a:spcPts val="0"/>
              </a:spcBef>
              <a:spcAft>
                <a:spcPts val="0"/>
              </a:spcAft>
            </a:pPr>
            <a:r>
              <a:rPr lang="tr-TR" sz="1850" b="1" i="0">
                <a:solidFill>
                  <a:srgbClr val="262626"/>
                </a:solidFill>
                <a:latin typeface="Calibri"/>
              </a:rPr>
              <a:t>Risk azaltmanın ilişkileri</a:t>
            </a:r>
          </a:p>
        </p:txBody>
      </p:sp>
      <p:sp>
        <p:nvSpPr>
          <p:cNvPr id="51" name="TextBox 50"/>
          <p:cNvSpPr txBox="1"/>
          <p:nvPr/>
        </p:nvSpPr>
        <p:spPr>
          <a:xfrm>
            <a:off x="8777020" y="4450567"/>
            <a:ext cx="1768754" cy="267736"/>
          </a:xfrm>
          <a:prstGeom prst="rect">
            <a:avLst/>
          </a:prstGeom>
          <a:noFill/>
        </p:spPr>
        <p:txBody>
          <a:bodyPr wrap="square" anchor="ctr" lIns="73152" rIns="73152" tIns="0" bIns="0">
            <a:noAutofit/>
          </a:bodyPr>
          <a:lstStyle/>
          <a:p>
            <a:pPr algn="l">
              <a:spcBef>
                <a:spcPts val="0"/>
              </a:spcBef>
              <a:spcAft>
                <a:spcPts val="0"/>
              </a:spcAft>
            </a:pPr>
            <a:r>
              <a:rPr lang="tr-TR" sz="1500" b="0" i="0">
                <a:solidFill>
                  <a:srgbClr val="767676"/>
                </a:solidFill>
                <a:latin typeface="Calibri"/>
              </a:rPr>
              <a:t>açık uçlu</a:t>
            </a:r>
          </a:p>
        </p:txBody>
      </p:sp>
      <p:sp>
        <p:nvSpPr>
          <p:cNvPr id="52" name="Rounded Rectangle 51"/>
          <p:cNvSpPr/>
          <p:nvPr/>
        </p:nvSpPr>
        <p:spPr>
          <a:xfrm>
            <a:off x="10573207" y="4468855"/>
            <a:ext cx="914400" cy="231160"/>
          </a:xfrm>
          <a:prstGeom prst="roundRect">
            <a:avLst>
              <a:gd name="adj" fmla="val 30000"/>
            </a:avLst>
          </a:prstGeom>
          <a:solidFill>
            <a:srgbClr val="1E7B6E"/>
          </a:solidFill>
          <a:ln>
            <a:noFill/>
          </a:ln>
          <a:effectLst/>
        </p:spPr>
        <p:txBody>
          <a:bodyPr rtlCol="0" anchor="ctr" wrap="square" lIns="36576" rIns="36576" tIns="0" bIns="0">
            <a:noAutofit/>
          </a:bodyPr>
          <a:lstStyle/>
          <a:p>
            <a:pPr algn="ctr">
              <a:spcBef>
                <a:spcPts val="0"/>
              </a:spcBef>
              <a:spcAft>
                <a:spcPts val="0"/>
              </a:spcAft>
            </a:pPr>
            <a:r>
              <a:rPr lang="tr-TR" sz="1200" b="1" i="0">
                <a:solidFill>
                  <a:srgbClr val="FFFFFF"/>
                </a:solidFill>
                <a:latin typeface="Calibri"/>
              </a:rPr>
              <a:t>EVDE</a:t>
            </a:r>
          </a:p>
        </p:txBody>
      </p:sp>
      <p:sp>
        <p:nvSpPr>
          <p:cNvPr id="53" name="Rounded Rectangle 52"/>
          <p:cNvSpPr/>
          <p:nvPr/>
        </p:nvSpPr>
        <p:spPr>
          <a:xfrm>
            <a:off x="8173516" y="4800600"/>
            <a:ext cx="3423818" cy="576072"/>
          </a:xfrm>
          <a:prstGeom prst="roundRect">
            <a:avLst>
              <a:gd name="adj" fmla="val 15873"/>
            </a:avLst>
          </a:prstGeom>
          <a:solidFill>
            <a:srgbClr val="FFFFFF"/>
          </a:solidFill>
          <a:ln w="9525">
            <a:solidFill>
              <a:srgbClr val="D9D9D9"/>
            </a:solidFill>
          </a:ln>
          <a:effectLst/>
        </p:spPr>
        <p:txBody>
          <a:bodyPr rtlCol="0" anchor="ctr"/>
          <a:lstStyle/>
          <a:p/>
        </p:txBody>
      </p:sp>
      <p:sp>
        <p:nvSpPr>
          <p:cNvPr id="54" name="Oval 53"/>
          <p:cNvSpPr/>
          <p:nvPr/>
        </p:nvSpPr>
        <p:spPr>
          <a:xfrm>
            <a:off x="8246668" y="4896612"/>
            <a:ext cx="384048" cy="384048"/>
          </a:xfrm>
          <a:prstGeom prst="ellipse">
            <a:avLst/>
          </a:prstGeom>
          <a:solidFill>
            <a:srgbClr val="1E7B6E"/>
          </a:solidFill>
          <a:ln>
            <a:noFill/>
          </a:ln>
          <a:effectLst/>
        </p:spPr>
        <p:txBody>
          <a:bodyPr rtlCol="0" anchor="ctr" wrap="none" lIns="0" rIns="0" tIns="0" bIns="0">
            <a:noAutofit/>
          </a:bodyPr>
          <a:lstStyle/>
          <a:p>
            <a:pPr algn="ctr">
              <a:spcBef>
                <a:spcPts val="0"/>
              </a:spcBef>
              <a:spcAft>
                <a:spcPts val="0"/>
              </a:spcAft>
            </a:pPr>
            <a:r>
              <a:rPr lang="tr-TR" sz="1600" b="1" i="0">
                <a:solidFill>
                  <a:srgbClr val="FFFFFF"/>
                </a:solidFill>
                <a:latin typeface="Calibri"/>
              </a:rPr>
              <a:t>9</a:t>
            </a:r>
          </a:p>
        </p:txBody>
      </p:sp>
      <p:sp>
        <p:nvSpPr>
          <p:cNvPr id="55" name="TextBox 54"/>
          <p:cNvSpPr txBox="1"/>
          <p:nvPr/>
        </p:nvSpPr>
        <p:spPr>
          <a:xfrm>
            <a:off x="8777020" y="4809744"/>
            <a:ext cx="2728874" cy="290047"/>
          </a:xfrm>
          <a:prstGeom prst="rect">
            <a:avLst/>
          </a:prstGeom>
          <a:noFill/>
        </p:spPr>
        <p:txBody>
          <a:bodyPr wrap="square" anchor="b" lIns="73152" rIns="73152" tIns="0" bIns="0">
            <a:noAutofit/>
          </a:bodyPr>
          <a:lstStyle/>
          <a:p>
            <a:pPr algn="l">
              <a:spcBef>
                <a:spcPts val="0"/>
              </a:spcBef>
              <a:spcAft>
                <a:spcPts val="0"/>
              </a:spcAft>
            </a:pPr>
            <a:r>
              <a:rPr lang="tr-TR" sz="1850" b="1" i="0">
                <a:solidFill>
                  <a:srgbClr val="262626"/>
                </a:solidFill>
                <a:latin typeface="Calibri"/>
              </a:rPr>
              <a:t>Klasik ve yeni yaklaşım</a:t>
            </a:r>
          </a:p>
        </p:txBody>
      </p:sp>
      <p:sp>
        <p:nvSpPr>
          <p:cNvPr id="56" name="TextBox 55"/>
          <p:cNvSpPr txBox="1"/>
          <p:nvPr/>
        </p:nvSpPr>
        <p:spPr>
          <a:xfrm>
            <a:off x="8777020" y="5099791"/>
            <a:ext cx="1768754" cy="267736"/>
          </a:xfrm>
          <a:prstGeom prst="rect">
            <a:avLst/>
          </a:prstGeom>
          <a:noFill/>
        </p:spPr>
        <p:txBody>
          <a:bodyPr wrap="square" anchor="ctr" lIns="73152" rIns="73152" tIns="0" bIns="0">
            <a:noAutofit/>
          </a:bodyPr>
          <a:lstStyle/>
          <a:p>
            <a:pPr algn="l">
              <a:spcBef>
                <a:spcPts val="0"/>
              </a:spcBef>
              <a:spcAft>
                <a:spcPts val="0"/>
              </a:spcAft>
            </a:pPr>
            <a:r>
              <a:rPr lang="tr-TR" sz="1500" b="0" i="0">
                <a:solidFill>
                  <a:srgbClr val="767676"/>
                </a:solidFill>
                <a:latin typeface="Calibri"/>
              </a:rPr>
              <a:t>açık uçlu</a:t>
            </a:r>
          </a:p>
        </p:txBody>
      </p:sp>
      <p:sp>
        <p:nvSpPr>
          <p:cNvPr id="57" name="Rounded Rectangle 56"/>
          <p:cNvSpPr/>
          <p:nvPr/>
        </p:nvSpPr>
        <p:spPr>
          <a:xfrm>
            <a:off x="10573207" y="5118079"/>
            <a:ext cx="914400" cy="231160"/>
          </a:xfrm>
          <a:prstGeom prst="roundRect">
            <a:avLst>
              <a:gd name="adj" fmla="val 30000"/>
            </a:avLst>
          </a:prstGeom>
          <a:solidFill>
            <a:srgbClr val="FFF3D1"/>
          </a:solidFill>
          <a:ln w="12700">
            <a:solidFill>
              <a:srgbClr val="FCC021"/>
            </a:solidFill>
          </a:ln>
          <a:effectLst/>
        </p:spPr>
        <p:txBody>
          <a:bodyPr rtlCol="0" anchor="ctr" wrap="square" lIns="36576" rIns="36576" tIns="0" bIns="0">
            <a:noAutofit/>
          </a:bodyPr>
          <a:lstStyle/>
          <a:p>
            <a:pPr algn="ctr">
              <a:spcBef>
                <a:spcPts val="0"/>
              </a:spcBef>
              <a:spcAft>
                <a:spcPts val="0"/>
              </a:spcAft>
            </a:pPr>
            <a:r>
              <a:rPr lang="tr-TR" sz="1200" b="1" i="0">
                <a:solidFill>
                  <a:srgbClr val="262626"/>
                </a:solidFill>
                <a:latin typeface="Calibri"/>
              </a:rPr>
              <a:t>TEKRAR</a:t>
            </a:r>
          </a:p>
        </p:txBody>
      </p:sp>
      <p:sp>
        <p:nvSpPr>
          <p:cNvPr id="58" name="Rounded Rectangle 57"/>
          <p:cNvSpPr/>
          <p:nvPr/>
        </p:nvSpPr>
        <p:spPr>
          <a:xfrm>
            <a:off x="502920" y="5577840"/>
            <a:ext cx="11185855" cy="713232"/>
          </a:xfrm>
          <a:prstGeom prst="roundRect">
            <a:avLst>
              <a:gd name="adj" fmla="val 8000"/>
            </a:avLst>
          </a:prstGeom>
          <a:solidFill>
            <a:srgbClr val="FFF3D1"/>
          </a:solidFill>
          <a:ln>
            <a:noFill/>
          </a:ln>
          <a:effectLst/>
        </p:spPr>
        <p:txBody>
          <a:bodyPr rtlCol="0" anchor="ctr" wrap="square" lIns="128016" rIns="128016" tIns="73152" bIns="73152">
            <a:noAutofit/>
          </a:bodyPr>
          <a:lstStyle/>
          <a:p>
            <a:pPr algn="ctr">
              <a:spcBef>
                <a:spcPts val="0"/>
              </a:spcBef>
              <a:spcAft>
                <a:spcPts val="175"/>
              </a:spcAft>
            </a:pPr>
            <a:r>
              <a:rPr lang="tr-TR" sz="1750" b="1" i="0">
                <a:solidFill>
                  <a:srgbClr val="262626"/>
                </a:solidFill>
                <a:latin typeface="Calibri"/>
              </a:rPr>
              <a:t>Evde (33. hafta): 1, 2, 5 ve 8 · yaklaşık 25-30 dk      Sınav öncesi tekrar: 3, 4, 6, 7 ve 9 · yaklaşık 15 dk</a:t>
            </a:r>
          </a:p>
          <a:p>
            <a:pPr algn="ctr">
              <a:spcBef>
                <a:spcPts val="0"/>
              </a:spcBef>
              <a:spcAft>
                <a:spcPts val="0"/>
              </a:spcAft>
            </a:pPr>
            <a:r>
              <a:rPr lang="tr-TR" sz="1487" b="0" i="0">
                <a:solidFill>
                  <a:srgbClr val="262626"/>
                </a:solidFill>
                <a:latin typeface="Calibri"/>
              </a:rPr>
              <a:t>Her sorunun cevabı hemen sonraki slaytta: önce kendi cevabını yaz, sonra karşılaştır.</a:t>
            </a:r>
          </a:p>
        </p:txBody>
      </p:sp>
      <p:sp>
        <p:nvSpPr>
          <p:cNvPr id="59" name="TextBox 58"/>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60" name="Rounded Rectangle 59"/>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210-213</a:t>
            </a:r>
          </a:p>
        </p:txBody>
      </p:sp>
      <p:sp>
        <p:nvSpPr>
          <p:cNvPr id="61" name="TextBox 60"/>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221 / 250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1-2. sorular: Shenzhen'de toprak kayması</a:t>
            </a:r>
          </a:p>
        </p:txBody>
      </p:sp>
      <p:sp>
        <p:nvSpPr>
          <p:cNvPr id="5" name="Rounded Rectangle 4"/>
          <p:cNvSpPr/>
          <p:nvPr/>
        </p:nvSpPr>
        <p:spPr>
          <a:xfrm>
            <a:off x="9555480" y="201168"/>
            <a:ext cx="2221992" cy="475488"/>
          </a:xfrm>
          <a:prstGeom prst="roundRect">
            <a:avLst>
              <a:gd name="adj" fmla="val 50000"/>
            </a:avLst>
          </a:prstGeom>
          <a:solidFill>
            <a:srgbClr val="D3373A"/>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SORU 1-2</a:t>
            </a:r>
          </a:p>
        </p:txBody>
      </p:sp>
      <p:sp>
        <p:nvSpPr>
          <p:cNvPr id="6" name="TextBox 5"/>
          <p:cNvSpPr txBox="1"/>
          <p:nvPr/>
        </p:nvSpPr>
        <p:spPr>
          <a:xfrm>
            <a:off x="502920" y="1170432"/>
            <a:ext cx="11185855" cy="365760"/>
          </a:xfrm>
          <a:prstGeom prst="rect">
            <a:avLst/>
          </a:prstGeom>
          <a:noFill/>
        </p:spPr>
        <p:txBody>
          <a:bodyPr wrap="square" anchor="t" lIns="73152" rIns="73152" tIns="36576" bIns="36576">
            <a:noAutofit/>
          </a:bodyPr>
          <a:lstStyle/>
          <a:p>
            <a:pPr algn="l">
              <a:spcBef>
                <a:spcPts val="0"/>
              </a:spcBef>
              <a:spcAft>
                <a:spcPts val="0"/>
              </a:spcAft>
            </a:pPr>
            <a:r>
              <a:rPr lang="tr-TR" sz="1600" b="0" i="1">
                <a:solidFill>
                  <a:srgbClr val="767676"/>
                </a:solidFill>
                <a:latin typeface="Calibri"/>
              </a:rPr>
              <a:t>1 ve 2. soruları aşağıdaki metin ve görsellere göre cevaplayınız.</a:t>
            </a:r>
          </a:p>
        </p:txBody>
      </p:sp>
      <p:sp>
        <p:nvSpPr>
          <p:cNvPr id="7" name="Rounded Rectangle 6"/>
          <p:cNvSpPr/>
          <p:nvPr/>
        </p:nvSpPr>
        <p:spPr>
          <a:xfrm>
            <a:off x="502920" y="1627632"/>
            <a:ext cx="11185855" cy="4617720"/>
          </a:xfrm>
          <a:prstGeom prst="roundRect">
            <a:avLst>
              <a:gd name="adj" fmla="val 6000"/>
            </a:avLst>
          </a:prstGeom>
          <a:solidFill>
            <a:srgbClr val="F0F0F0"/>
          </a:solidFill>
          <a:ln>
            <a:noFill/>
          </a:ln>
          <a:effectLst/>
        </p:spPr>
        <p:txBody>
          <a:bodyPr rtlCol="0" anchor="ctr"/>
          <a:lstStyle/>
          <a:p/>
        </p:txBody>
      </p:sp>
      <p:sp>
        <p:nvSpPr>
          <p:cNvPr id="8" name="Rectangle 7"/>
          <p:cNvSpPr/>
          <p:nvPr/>
        </p:nvSpPr>
        <p:spPr>
          <a:xfrm>
            <a:off x="502920" y="1627632"/>
            <a:ext cx="118872" cy="4617720"/>
          </a:xfrm>
          <a:prstGeom prst="rect">
            <a:avLst/>
          </a:prstGeom>
          <a:solidFill>
            <a:srgbClr val="A63A32"/>
          </a:solidFill>
          <a:ln>
            <a:noFill/>
          </a:ln>
          <a:effectLst/>
        </p:spPr>
        <p:txBody>
          <a:bodyPr rtlCol="0" anchor="ctr"/>
          <a:lstStyle/>
          <a:p/>
        </p:txBody>
      </p:sp>
      <p:sp>
        <p:nvSpPr>
          <p:cNvPr id="9" name="TextBox 8"/>
          <p:cNvSpPr txBox="1"/>
          <p:nvPr/>
        </p:nvSpPr>
        <p:spPr>
          <a:xfrm>
            <a:off x="777240" y="1627632"/>
            <a:ext cx="10774375" cy="4617720"/>
          </a:xfrm>
          <a:prstGeom prst="rect">
            <a:avLst/>
          </a:prstGeom>
          <a:noFill/>
        </p:spPr>
        <p:txBody>
          <a:bodyPr wrap="square" anchor="ctr" lIns="73152" rIns="73152" tIns="36576" bIns="36576">
            <a:noAutofit/>
          </a:bodyPr>
          <a:lstStyle/>
          <a:p>
            <a:pPr algn="l">
              <a:spcBef>
                <a:spcPts val="0"/>
              </a:spcBef>
              <a:spcAft>
                <a:spcPts val="1348"/>
              </a:spcAft>
            </a:pPr>
            <a:r>
              <a:rPr lang="tr-TR" sz="2600" b="0" i="0">
                <a:solidFill>
                  <a:srgbClr val="262626"/>
                </a:solidFill>
                <a:latin typeface="Calibri"/>
              </a:rPr>
              <a:t>Shenzhen (Şencen), Çin’in en büyük şehirlerinden ve sanayi merkezlerinden biridir.</a:t>
            </a:r>
          </a:p>
          <a:p>
            <a:pPr algn="l">
              <a:spcBef>
                <a:spcPts val="0"/>
              </a:spcBef>
              <a:spcAft>
                <a:spcPts val="1348"/>
              </a:spcAft>
            </a:pPr>
            <a:r>
              <a:rPr lang="tr-TR" sz="2600" b="0" i="0">
                <a:solidFill>
                  <a:srgbClr val="262626"/>
                </a:solidFill>
                <a:latin typeface="Calibri"/>
              </a:rPr>
              <a:t>Şehirdeki sanayi alanlarının birinde 21.12.2015 tarihinde toprak kayması meydana gelmiş ve bu olay, yaklaşık 380 bin m²’lik bir alanda etkili olmuştur.</a:t>
            </a:r>
          </a:p>
          <a:p>
            <a:pPr algn="l">
              <a:spcBef>
                <a:spcPts val="0"/>
              </a:spcBef>
              <a:spcAft>
                <a:spcPts val="1348"/>
              </a:spcAft>
            </a:pPr>
            <a:r>
              <a:rPr lang="tr-TR" sz="2600" b="0" i="0">
                <a:solidFill>
                  <a:srgbClr val="262626"/>
                </a:solidFill>
                <a:latin typeface="Calibri"/>
              </a:rPr>
              <a:t>33 binanın zarar gördüğü ve çok sayıda insanın hayatını kaybettiği bu olayın pazar günü meydana gelmesi, daha kötü sonuçların ortaya çıkmasını engellemiştir.</a:t>
            </a:r>
          </a:p>
          <a:p>
            <a:pPr algn="l">
              <a:spcBef>
                <a:spcPts val="0"/>
              </a:spcBef>
              <a:spcAft>
                <a:spcPts val="0"/>
              </a:spcAft>
            </a:pPr>
            <a:r>
              <a:rPr lang="tr-TR" sz="2600" b="0" i="0">
                <a:solidFill>
                  <a:srgbClr val="262626"/>
                </a:solidFill>
                <a:latin typeface="Calibri"/>
              </a:rPr>
              <a:t>Yetkililerden alınan bilgiye göre eski bir taş ocağında insanlar tarafından oluşturulan devasa bir toprak yığını ve inşaat kalıntıları, yağışlar sonucunda çökmüştür.</a:t>
            </a:r>
          </a:p>
        </p:txBody>
      </p:sp>
      <p:sp>
        <p:nvSpPr>
          <p:cNvPr id="10" name="TextBox 9"/>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11" name="Rounded Rectangle 10"/>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210</a:t>
            </a:r>
          </a:p>
        </p:txBody>
      </p:sp>
      <p:sp>
        <p:nvSpPr>
          <p:cNvPr id="12" name="TextBox 11"/>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222 / 250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1-2. sorular: aynı yerin üç görüntüsü</a:t>
            </a:r>
          </a:p>
        </p:txBody>
      </p:sp>
      <p:sp>
        <p:nvSpPr>
          <p:cNvPr id="5" name="Rounded Rectangle 4"/>
          <p:cNvSpPr/>
          <p:nvPr/>
        </p:nvSpPr>
        <p:spPr>
          <a:xfrm>
            <a:off x="9555480" y="201168"/>
            <a:ext cx="2221992" cy="475488"/>
          </a:xfrm>
          <a:prstGeom prst="roundRect">
            <a:avLst>
              <a:gd name="adj" fmla="val 50000"/>
            </a:avLst>
          </a:prstGeom>
          <a:solidFill>
            <a:srgbClr val="D3373A"/>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SORU 1-2</a:t>
            </a:r>
          </a:p>
        </p:txBody>
      </p:sp>
      <p:sp>
        <p:nvSpPr>
          <p:cNvPr id="6" name="TextBox 5"/>
          <p:cNvSpPr txBox="1"/>
          <p:nvPr/>
        </p:nvSpPr>
        <p:spPr>
          <a:xfrm>
            <a:off x="502920" y="1216152"/>
            <a:ext cx="3594506" cy="420624"/>
          </a:xfrm>
          <a:prstGeom prst="rect">
            <a:avLst/>
          </a:prstGeom>
          <a:noFill/>
        </p:spPr>
        <p:txBody>
          <a:bodyPr wrap="square" anchor="ctr" lIns="73152" rIns="73152" tIns="36576" bIns="36576">
            <a:noAutofit/>
          </a:bodyPr>
          <a:lstStyle/>
          <a:p>
            <a:pPr algn="ctr">
              <a:spcBef>
                <a:spcPts val="0"/>
              </a:spcBef>
              <a:spcAft>
                <a:spcPts val="0"/>
              </a:spcAft>
            </a:pPr>
            <a:r>
              <a:rPr lang="tr-TR" sz="2100" b="1" i="0">
                <a:solidFill>
                  <a:srgbClr val="262626"/>
                </a:solidFill>
                <a:latin typeface="Calibri"/>
              </a:rPr>
              <a:t>Taş ocağı</a:t>
            </a:r>
          </a:p>
        </p:txBody>
      </p:sp>
      <p:pic>
        <p:nvPicPr>
          <p:cNvPr id="7" name="Picture 6" descr="sonu_shenzhen_2013_s210.jpg"/>
          <p:cNvPicPr>
            <a:picLocks noChangeAspect="1"/>
          </p:cNvPicPr>
          <p:nvPr/>
        </p:nvPicPr>
        <p:blipFill>
          <a:blip r:embed="rId3"/>
          <a:stretch>
            <a:fillRect/>
          </a:stretch>
        </p:blipFill>
        <p:spPr>
          <a:xfrm>
            <a:off x="502920" y="1673352"/>
            <a:ext cx="3594506" cy="2833669"/>
          </a:xfrm>
          <a:prstGeom prst="rect">
            <a:avLst/>
          </a:prstGeom>
          <a:ln w="9525">
            <a:solidFill>
              <a:srgbClr val="D9D9D9"/>
            </a:solidFill>
          </a:ln>
        </p:spPr>
      </p:pic>
      <p:sp>
        <p:nvSpPr>
          <p:cNvPr id="8" name="Rounded Rectangle 7"/>
          <p:cNvSpPr/>
          <p:nvPr/>
        </p:nvSpPr>
        <p:spPr>
          <a:xfrm>
            <a:off x="1431493" y="4580173"/>
            <a:ext cx="1737360" cy="384048"/>
          </a:xfrm>
          <a:prstGeom prst="roundRect">
            <a:avLst>
              <a:gd name="adj" fmla="val 30000"/>
            </a:avLst>
          </a:prstGeom>
          <a:solidFill>
            <a:srgbClr val="4F4F4F"/>
          </a:solidFill>
          <a:ln>
            <a:noFill/>
          </a:ln>
          <a:effectLst/>
        </p:spPr>
        <p:txBody>
          <a:bodyPr rtlCol="0" anchor="ctr" wrap="square" lIns="36576" rIns="36576" tIns="0" bIns="0">
            <a:noAutofit/>
          </a:bodyPr>
          <a:lstStyle/>
          <a:p>
            <a:pPr algn="ctr">
              <a:spcBef>
                <a:spcPts val="0"/>
              </a:spcBef>
              <a:spcAft>
                <a:spcPts val="0"/>
              </a:spcAft>
            </a:pPr>
            <a:r>
              <a:rPr lang="tr-TR" sz="1600" b="1" i="0">
                <a:solidFill>
                  <a:srgbClr val="FFFFFF"/>
                </a:solidFill>
                <a:latin typeface="Calibri"/>
              </a:rPr>
              <a:t>Kasım-2013</a:t>
            </a:r>
          </a:p>
        </p:txBody>
      </p:sp>
      <p:cxnSp>
        <p:nvCxnSpPr>
          <p:cNvPr id="9" name="Connector 8"/>
          <p:cNvCxnSpPr/>
          <p:nvPr/>
        </p:nvCxnSpPr>
        <p:spPr>
          <a:xfrm>
            <a:off x="3429914" y="4772197"/>
            <a:ext cx="1527048" cy="0"/>
          </a:xfrm>
          <a:prstGeom prst="line">
            <a:avLst/>
          </a:prstGeom>
          <a:ln w="31750">
            <a:solidFill>
              <a:srgbClr val="D9D9D9"/>
            </a:solidFill>
            <a:tailEnd type="triangle" w="med" len="med"/>
          </a:ln>
        </p:spPr>
      </p:cxnSp>
      <p:sp>
        <p:nvSpPr>
          <p:cNvPr id="10" name="TextBox 9"/>
          <p:cNvSpPr txBox="1"/>
          <p:nvPr/>
        </p:nvSpPr>
        <p:spPr>
          <a:xfrm>
            <a:off x="4298594" y="1216152"/>
            <a:ext cx="3594506" cy="420624"/>
          </a:xfrm>
          <a:prstGeom prst="rect">
            <a:avLst/>
          </a:prstGeom>
          <a:noFill/>
        </p:spPr>
        <p:txBody>
          <a:bodyPr wrap="square" anchor="ctr" lIns="73152" rIns="73152" tIns="36576" bIns="36576">
            <a:noAutofit/>
          </a:bodyPr>
          <a:lstStyle/>
          <a:p>
            <a:pPr algn="ctr">
              <a:spcBef>
                <a:spcPts val="0"/>
              </a:spcBef>
              <a:spcAft>
                <a:spcPts val="0"/>
              </a:spcAft>
            </a:pPr>
            <a:r>
              <a:rPr lang="tr-TR" sz="2100" b="1" i="0">
                <a:solidFill>
                  <a:srgbClr val="262626"/>
                </a:solidFill>
                <a:latin typeface="Calibri"/>
              </a:rPr>
              <a:t>İnşaat ve hafriyat atıkları</a:t>
            </a:r>
          </a:p>
        </p:txBody>
      </p:sp>
      <p:pic>
        <p:nvPicPr>
          <p:cNvPr id="11" name="Picture 10" descr="sonu_shenzhen_2014_s210.jpg"/>
          <p:cNvPicPr>
            <a:picLocks noChangeAspect="1"/>
          </p:cNvPicPr>
          <p:nvPr/>
        </p:nvPicPr>
        <p:blipFill>
          <a:blip r:embed="rId4"/>
          <a:stretch>
            <a:fillRect/>
          </a:stretch>
        </p:blipFill>
        <p:spPr>
          <a:xfrm>
            <a:off x="4298594" y="1673352"/>
            <a:ext cx="3594506" cy="2838399"/>
          </a:xfrm>
          <a:prstGeom prst="rect">
            <a:avLst/>
          </a:prstGeom>
          <a:ln w="9525">
            <a:solidFill>
              <a:srgbClr val="D9D9D9"/>
            </a:solidFill>
          </a:ln>
        </p:spPr>
      </p:pic>
      <p:sp>
        <p:nvSpPr>
          <p:cNvPr id="12" name="Rounded Rectangle 11"/>
          <p:cNvSpPr/>
          <p:nvPr/>
        </p:nvSpPr>
        <p:spPr>
          <a:xfrm>
            <a:off x="5227167" y="4584903"/>
            <a:ext cx="1737360" cy="384048"/>
          </a:xfrm>
          <a:prstGeom prst="roundRect">
            <a:avLst>
              <a:gd name="adj" fmla="val 30000"/>
            </a:avLst>
          </a:prstGeom>
          <a:solidFill>
            <a:srgbClr val="4F4F4F"/>
          </a:solidFill>
          <a:ln>
            <a:noFill/>
          </a:ln>
          <a:effectLst/>
        </p:spPr>
        <p:txBody>
          <a:bodyPr rtlCol="0" anchor="ctr" wrap="square" lIns="36576" rIns="36576" tIns="0" bIns="0">
            <a:noAutofit/>
          </a:bodyPr>
          <a:lstStyle/>
          <a:p>
            <a:pPr algn="ctr">
              <a:spcBef>
                <a:spcPts val="0"/>
              </a:spcBef>
              <a:spcAft>
                <a:spcPts val="0"/>
              </a:spcAft>
            </a:pPr>
            <a:r>
              <a:rPr lang="tr-TR" sz="1600" b="1" i="0">
                <a:solidFill>
                  <a:srgbClr val="FFFFFF"/>
                </a:solidFill>
                <a:latin typeface="Calibri"/>
              </a:rPr>
              <a:t>Kasım-2014</a:t>
            </a:r>
          </a:p>
        </p:txBody>
      </p:sp>
      <p:cxnSp>
        <p:nvCxnSpPr>
          <p:cNvPr id="13" name="Connector 12"/>
          <p:cNvCxnSpPr/>
          <p:nvPr/>
        </p:nvCxnSpPr>
        <p:spPr>
          <a:xfrm>
            <a:off x="7225588" y="4776927"/>
            <a:ext cx="1527048" cy="0"/>
          </a:xfrm>
          <a:prstGeom prst="line">
            <a:avLst/>
          </a:prstGeom>
          <a:ln w="31750">
            <a:solidFill>
              <a:srgbClr val="D9D9D9"/>
            </a:solidFill>
            <a:tailEnd type="triangle" w="med" len="med"/>
          </a:ln>
        </p:spPr>
      </p:cxnSp>
      <p:sp>
        <p:nvSpPr>
          <p:cNvPr id="14" name="TextBox 13"/>
          <p:cNvSpPr txBox="1"/>
          <p:nvPr/>
        </p:nvSpPr>
        <p:spPr>
          <a:xfrm>
            <a:off x="8094268" y="1216152"/>
            <a:ext cx="3594506" cy="420624"/>
          </a:xfrm>
          <a:prstGeom prst="rect">
            <a:avLst/>
          </a:prstGeom>
          <a:noFill/>
        </p:spPr>
        <p:txBody>
          <a:bodyPr wrap="square" anchor="ctr" lIns="73152" rIns="73152" tIns="36576" bIns="36576">
            <a:noAutofit/>
          </a:bodyPr>
          <a:lstStyle/>
          <a:p>
            <a:pPr algn="ctr">
              <a:spcBef>
                <a:spcPts val="0"/>
              </a:spcBef>
              <a:spcAft>
                <a:spcPts val="0"/>
              </a:spcAft>
            </a:pPr>
            <a:r>
              <a:rPr lang="tr-TR" sz="2100" b="1" i="0">
                <a:solidFill>
                  <a:srgbClr val="262626"/>
                </a:solidFill>
                <a:latin typeface="Calibri"/>
              </a:rPr>
              <a:t>Afet sonrası</a:t>
            </a:r>
          </a:p>
        </p:txBody>
      </p:sp>
      <p:pic>
        <p:nvPicPr>
          <p:cNvPr id="15" name="Picture 14" descr="sonu_shenzhen_2015_s210.jpg"/>
          <p:cNvPicPr>
            <a:picLocks noChangeAspect="1"/>
          </p:cNvPicPr>
          <p:nvPr/>
        </p:nvPicPr>
        <p:blipFill>
          <a:blip r:embed="rId5"/>
          <a:stretch>
            <a:fillRect/>
          </a:stretch>
        </p:blipFill>
        <p:spPr>
          <a:xfrm>
            <a:off x="8094268" y="1673352"/>
            <a:ext cx="3594506" cy="2833669"/>
          </a:xfrm>
          <a:prstGeom prst="rect">
            <a:avLst/>
          </a:prstGeom>
          <a:ln w="9525">
            <a:solidFill>
              <a:srgbClr val="D9D9D9"/>
            </a:solidFill>
          </a:ln>
        </p:spPr>
      </p:pic>
      <p:sp>
        <p:nvSpPr>
          <p:cNvPr id="16" name="Rounded Rectangle 15"/>
          <p:cNvSpPr/>
          <p:nvPr/>
        </p:nvSpPr>
        <p:spPr>
          <a:xfrm>
            <a:off x="9022841" y="4580173"/>
            <a:ext cx="1737360" cy="384048"/>
          </a:xfrm>
          <a:prstGeom prst="roundRect">
            <a:avLst>
              <a:gd name="adj" fmla="val 30000"/>
            </a:avLst>
          </a:prstGeom>
          <a:solidFill>
            <a:srgbClr val="A63A32"/>
          </a:solidFill>
          <a:ln>
            <a:noFill/>
          </a:ln>
          <a:effectLst/>
        </p:spPr>
        <p:txBody>
          <a:bodyPr rtlCol="0" anchor="ctr" wrap="square" lIns="36576" rIns="36576" tIns="0" bIns="0">
            <a:noAutofit/>
          </a:bodyPr>
          <a:lstStyle/>
          <a:p>
            <a:pPr algn="ctr">
              <a:spcBef>
                <a:spcPts val="0"/>
              </a:spcBef>
              <a:spcAft>
                <a:spcPts val="0"/>
              </a:spcAft>
            </a:pPr>
            <a:r>
              <a:rPr lang="tr-TR" sz="1600" b="1" i="0">
                <a:solidFill>
                  <a:srgbClr val="FFFFFF"/>
                </a:solidFill>
                <a:latin typeface="Calibri"/>
              </a:rPr>
              <a:t>Aralık-2015</a:t>
            </a:r>
          </a:p>
        </p:txBody>
      </p:sp>
      <p:sp>
        <p:nvSpPr>
          <p:cNvPr id="17" name="Rounded Rectangle 16"/>
          <p:cNvSpPr/>
          <p:nvPr/>
        </p:nvSpPr>
        <p:spPr>
          <a:xfrm>
            <a:off x="502920" y="5078679"/>
            <a:ext cx="3618890" cy="1212393"/>
          </a:xfrm>
          <a:prstGeom prst="roundRect">
            <a:avLst>
              <a:gd name="adj" fmla="val 12000"/>
            </a:avLst>
          </a:prstGeom>
          <a:solidFill>
            <a:srgbClr val="F0F0F0"/>
          </a:solidFill>
          <a:ln>
            <a:noFill/>
          </a:ln>
          <a:effectLst/>
        </p:spPr>
        <p:txBody>
          <a:bodyPr rtlCol="0" anchor="ctr"/>
          <a:lstStyle/>
          <a:p/>
        </p:txBody>
      </p:sp>
      <p:sp>
        <p:nvSpPr>
          <p:cNvPr id="18" name="Oval 17"/>
          <p:cNvSpPr/>
          <p:nvPr/>
        </p:nvSpPr>
        <p:spPr>
          <a:xfrm>
            <a:off x="594360" y="5465419"/>
            <a:ext cx="438912" cy="438912"/>
          </a:xfrm>
          <a:prstGeom prst="ellipse">
            <a:avLst/>
          </a:prstGeom>
          <a:solidFill>
            <a:srgbClr val="A63A32"/>
          </a:solidFill>
          <a:ln>
            <a:noFill/>
          </a:ln>
          <a:effectLst/>
        </p:spPr>
        <p:txBody>
          <a:bodyPr rtlCol="0" anchor="ctr" wrap="none" lIns="0" rIns="0" tIns="0" bIns="0">
            <a:noAutofit/>
          </a:bodyPr>
          <a:lstStyle/>
          <a:p>
            <a:pPr algn="ctr">
              <a:spcBef>
                <a:spcPts val="0"/>
              </a:spcBef>
              <a:spcAft>
                <a:spcPts val="0"/>
              </a:spcAft>
            </a:pPr>
            <a:r>
              <a:rPr lang="tr-TR" sz="1700" b="1" i="0">
                <a:solidFill>
                  <a:srgbClr val="FFFFFF"/>
                </a:solidFill>
                <a:latin typeface="Calibri"/>
              </a:rPr>
              <a:t>1</a:t>
            </a:r>
          </a:p>
        </p:txBody>
      </p:sp>
      <p:sp>
        <p:nvSpPr>
          <p:cNvPr id="19" name="TextBox 18"/>
          <p:cNvSpPr txBox="1"/>
          <p:nvPr/>
        </p:nvSpPr>
        <p:spPr>
          <a:xfrm>
            <a:off x="1124712" y="5078679"/>
            <a:ext cx="2923946" cy="1212393"/>
          </a:xfrm>
          <a:prstGeom prst="rect">
            <a:avLst/>
          </a:prstGeom>
          <a:noFill/>
        </p:spPr>
        <p:txBody>
          <a:bodyPr wrap="square" anchor="ctr" lIns="73152" rIns="73152" tIns="36576" bIns="36576">
            <a:noAutofit/>
          </a:bodyPr>
          <a:lstStyle/>
          <a:p>
            <a:pPr algn="l">
              <a:spcBef>
                <a:spcPts val="0"/>
              </a:spcBef>
              <a:spcAft>
                <a:spcPts val="0"/>
              </a:spcAft>
            </a:pPr>
            <a:r>
              <a:rPr lang="tr-TR" sz="2000" b="1" i="0">
                <a:solidFill>
                  <a:srgbClr val="262626"/>
                </a:solidFill>
                <a:latin typeface="Calibri"/>
              </a:rPr>
              <a:t>2013'ten 2014'e çemberin içinde ne değişti?</a:t>
            </a:r>
          </a:p>
        </p:txBody>
      </p:sp>
      <p:sp>
        <p:nvSpPr>
          <p:cNvPr id="20" name="Rounded Rectangle 19"/>
          <p:cNvSpPr/>
          <p:nvPr/>
        </p:nvSpPr>
        <p:spPr>
          <a:xfrm>
            <a:off x="4286402" y="5078679"/>
            <a:ext cx="3618890" cy="1212393"/>
          </a:xfrm>
          <a:prstGeom prst="roundRect">
            <a:avLst>
              <a:gd name="adj" fmla="val 12000"/>
            </a:avLst>
          </a:prstGeom>
          <a:solidFill>
            <a:srgbClr val="F0F0F0"/>
          </a:solidFill>
          <a:ln>
            <a:noFill/>
          </a:ln>
          <a:effectLst/>
        </p:spPr>
        <p:txBody>
          <a:bodyPr rtlCol="0" anchor="ctr"/>
          <a:lstStyle/>
          <a:p/>
        </p:txBody>
      </p:sp>
      <p:sp>
        <p:nvSpPr>
          <p:cNvPr id="21" name="Oval 20"/>
          <p:cNvSpPr/>
          <p:nvPr/>
        </p:nvSpPr>
        <p:spPr>
          <a:xfrm>
            <a:off x="4377842" y="5465419"/>
            <a:ext cx="438912" cy="438912"/>
          </a:xfrm>
          <a:prstGeom prst="ellipse">
            <a:avLst/>
          </a:prstGeom>
          <a:solidFill>
            <a:srgbClr val="A63A32"/>
          </a:solidFill>
          <a:ln>
            <a:noFill/>
          </a:ln>
          <a:effectLst/>
        </p:spPr>
        <p:txBody>
          <a:bodyPr rtlCol="0" anchor="ctr" wrap="none" lIns="0" rIns="0" tIns="0" bIns="0">
            <a:noAutofit/>
          </a:bodyPr>
          <a:lstStyle/>
          <a:p>
            <a:pPr algn="ctr">
              <a:spcBef>
                <a:spcPts val="0"/>
              </a:spcBef>
              <a:spcAft>
                <a:spcPts val="0"/>
              </a:spcAft>
            </a:pPr>
            <a:r>
              <a:rPr lang="tr-TR" sz="1700" b="1" i="0">
                <a:solidFill>
                  <a:srgbClr val="FFFFFF"/>
                </a:solidFill>
                <a:latin typeface="Calibri"/>
              </a:rPr>
              <a:t>2</a:t>
            </a:r>
          </a:p>
        </p:txBody>
      </p:sp>
      <p:sp>
        <p:nvSpPr>
          <p:cNvPr id="22" name="TextBox 21"/>
          <p:cNvSpPr txBox="1"/>
          <p:nvPr/>
        </p:nvSpPr>
        <p:spPr>
          <a:xfrm>
            <a:off x="4908194" y="5078679"/>
            <a:ext cx="2923946" cy="1212393"/>
          </a:xfrm>
          <a:prstGeom prst="rect">
            <a:avLst/>
          </a:prstGeom>
          <a:noFill/>
        </p:spPr>
        <p:txBody>
          <a:bodyPr wrap="square" anchor="ctr" lIns="73152" rIns="73152" tIns="36576" bIns="36576">
            <a:noAutofit/>
          </a:bodyPr>
          <a:lstStyle/>
          <a:p>
            <a:pPr algn="l">
              <a:spcBef>
                <a:spcPts val="0"/>
              </a:spcBef>
              <a:spcAft>
                <a:spcPts val="0"/>
              </a:spcAft>
            </a:pPr>
            <a:r>
              <a:rPr lang="tr-TR" sz="2000" b="1" i="0">
                <a:solidFill>
                  <a:srgbClr val="262626"/>
                </a:solidFill>
                <a:latin typeface="Calibri"/>
              </a:rPr>
              <a:t>Toprak yığınını kim oluşturdu?</a:t>
            </a:r>
          </a:p>
        </p:txBody>
      </p:sp>
      <p:sp>
        <p:nvSpPr>
          <p:cNvPr id="23" name="Rounded Rectangle 22"/>
          <p:cNvSpPr/>
          <p:nvPr/>
        </p:nvSpPr>
        <p:spPr>
          <a:xfrm>
            <a:off x="8069884" y="5078679"/>
            <a:ext cx="3618890" cy="1212393"/>
          </a:xfrm>
          <a:prstGeom prst="roundRect">
            <a:avLst>
              <a:gd name="adj" fmla="val 12000"/>
            </a:avLst>
          </a:prstGeom>
          <a:solidFill>
            <a:srgbClr val="F0F0F0"/>
          </a:solidFill>
          <a:ln>
            <a:noFill/>
          </a:ln>
          <a:effectLst/>
        </p:spPr>
        <p:txBody>
          <a:bodyPr rtlCol="0" anchor="ctr"/>
          <a:lstStyle/>
          <a:p/>
        </p:txBody>
      </p:sp>
      <p:sp>
        <p:nvSpPr>
          <p:cNvPr id="24" name="Oval 23"/>
          <p:cNvSpPr/>
          <p:nvPr/>
        </p:nvSpPr>
        <p:spPr>
          <a:xfrm>
            <a:off x="8161324" y="5465419"/>
            <a:ext cx="438912" cy="438912"/>
          </a:xfrm>
          <a:prstGeom prst="ellipse">
            <a:avLst/>
          </a:prstGeom>
          <a:solidFill>
            <a:srgbClr val="A63A32"/>
          </a:solidFill>
          <a:ln>
            <a:noFill/>
          </a:ln>
          <a:effectLst/>
        </p:spPr>
        <p:txBody>
          <a:bodyPr rtlCol="0" anchor="ctr" wrap="none" lIns="0" rIns="0" tIns="0" bIns="0">
            <a:noAutofit/>
          </a:bodyPr>
          <a:lstStyle/>
          <a:p>
            <a:pPr algn="ctr">
              <a:spcBef>
                <a:spcPts val="0"/>
              </a:spcBef>
              <a:spcAft>
                <a:spcPts val="0"/>
              </a:spcAft>
            </a:pPr>
            <a:r>
              <a:rPr lang="tr-TR" sz="1700" b="1" i="0">
                <a:solidFill>
                  <a:srgbClr val="FFFFFF"/>
                </a:solidFill>
                <a:latin typeface="Calibri"/>
              </a:rPr>
              <a:t>3</a:t>
            </a:r>
          </a:p>
        </p:txBody>
      </p:sp>
      <p:sp>
        <p:nvSpPr>
          <p:cNvPr id="25" name="TextBox 24"/>
          <p:cNvSpPr txBox="1"/>
          <p:nvPr/>
        </p:nvSpPr>
        <p:spPr>
          <a:xfrm>
            <a:off x="8691676" y="5078679"/>
            <a:ext cx="2923946" cy="1212393"/>
          </a:xfrm>
          <a:prstGeom prst="rect">
            <a:avLst/>
          </a:prstGeom>
          <a:noFill/>
        </p:spPr>
        <p:txBody>
          <a:bodyPr wrap="square" anchor="ctr" lIns="73152" rIns="73152" tIns="36576" bIns="36576">
            <a:noAutofit/>
          </a:bodyPr>
          <a:lstStyle/>
          <a:p>
            <a:pPr algn="l">
              <a:spcBef>
                <a:spcPts val="0"/>
              </a:spcBef>
              <a:spcAft>
                <a:spcPts val="0"/>
              </a:spcAft>
            </a:pPr>
            <a:r>
              <a:rPr lang="tr-TR" sz="2000" b="1" i="0">
                <a:solidFill>
                  <a:srgbClr val="262626"/>
                </a:solidFill>
                <a:latin typeface="Calibri"/>
              </a:rPr>
              <a:t>2015'te oklar neyi gösteriyor?</a:t>
            </a:r>
          </a:p>
        </p:txBody>
      </p:sp>
      <p:sp>
        <p:nvSpPr>
          <p:cNvPr id="26" name="TextBox 25"/>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27" name="Rounded Rectangle 26"/>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210</a:t>
            </a:r>
          </a:p>
        </p:txBody>
      </p:sp>
      <p:sp>
        <p:nvSpPr>
          <p:cNvPr id="28" name="TextBox 27"/>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223 / 250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Ünite ölçme: 1. soru</a:t>
            </a:r>
          </a:p>
        </p:txBody>
      </p:sp>
      <p:sp>
        <p:nvSpPr>
          <p:cNvPr id="5" name="Rounded Rectangle 4"/>
          <p:cNvSpPr/>
          <p:nvPr/>
        </p:nvSpPr>
        <p:spPr>
          <a:xfrm>
            <a:off x="9555480" y="201168"/>
            <a:ext cx="2221992" cy="475488"/>
          </a:xfrm>
          <a:prstGeom prst="roundRect">
            <a:avLst>
              <a:gd name="adj" fmla="val 50000"/>
            </a:avLst>
          </a:prstGeom>
          <a:solidFill>
            <a:srgbClr val="D3373A"/>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SORU 1</a:t>
            </a:r>
          </a:p>
        </p:txBody>
      </p:sp>
      <p:sp>
        <p:nvSpPr>
          <p:cNvPr id="6" name="Rounded Rectangle 5"/>
          <p:cNvSpPr/>
          <p:nvPr/>
        </p:nvSpPr>
        <p:spPr>
          <a:xfrm>
            <a:off x="502920" y="1216152"/>
            <a:ext cx="11185855" cy="676656"/>
          </a:xfrm>
          <a:prstGeom prst="roundRect">
            <a:avLst>
              <a:gd name="adj" fmla="val 16216"/>
            </a:avLst>
          </a:prstGeom>
          <a:solidFill>
            <a:srgbClr val="F0F0F0"/>
          </a:solidFill>
          <a:ln>
            <a:noFill/>
          </a:ln>
          <a:effectLst/>
        </p:spPr>
        <p:txBody>
          <a:bodyPr rtlCol="0" anchor="ctr"/>
          <a:lstStyle/>
          <a:p/>
        </p:txBody>
      </p:sp>
      <p:sp>
        <p:nvSpPr>
          <p:cNvPr id="7" name="Oval 6"/>
          <p:cNvSpPr/>
          <p:nvPr/>
        </p:nvSpPr>
        <p:spPr>
          <a:xfrm>
            <a:off x="612648" y="1280160"/>
            <a:ext cx="548640" cy="548640"/>
          </a:xfrm>
          <a:prstGeom prst="ellipse">
            <a:avLst/>
          </a:prstGeom>
          <a:solidFill>
            <a:srgbClr val="D3373A"/>
          </a:solidFill>
          <a:ln>
            <a:noFill/>
          </a:ln>
          <a:effectLst/>
        </p:spPr>
        <p:txBody>
          <a:bodyPr rtlCol="0" anchor="ctr" wrap="none" lIns="0" rIns="0" tIns="0" bIns="0">
            <a:noAutofit/>
          </a:bodyPr>
          <a:lstStyle/>
          <a:p>
            <a:pPr algn="ctr">
              <a:spcBef>
                <a:spcPts val="0"/>
              </a:spcBef>
              <a:spcAft>
                <a:spcPts val="0"/>
              </a:spcAft>
            </a:pPr>
            <a:r>
              <a:rPr lang="tr-TR" sz="2200" b="1" i="0">
                <a:solidFill>
                  <a:srgbClr val="FFFFFF"/>
                </a:solidFill>
                <a:latin typeface="Calibri"/>
              </a:rPr>
              <a:t>1</a:t>
            </a:r>
          </a:p>
        </p:txBody>
      </p:sp>
      <p:sp>
        <p:nvSpPr>
          <p:cNvPr id="8" name="TextBox 7"/>
          <p:cNvSpPr txBox="1"/>
          <p:nvPr/>
        </p:nvSpPr>
        <p:spPr>
          <a:xfrm>
            <a:off x="1280160" y="1216152"/>
            <a:ext cx="10317175" cy="676656"/>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262626"/>
                </a:solidFill>
                <a:latin typeface="Calibri"/>
              </a:rPr>
              <a:t>Yerleşim alanlarının bulunduğu bölge için tehlike, risk ve afet kavramları aşağıdakilerin hangisinde doğru açıklanmıştır?</a:t>
            </a:r>
          </a:p>
        </p:txBody>
      </p:sp>
      <p:sp>
        <p:nvSpPr>
          <p:cNvPr id="9" name="Rounded Rectangle 8"/>
          <p:cNvSpPr/>
          <p:nvPr/>
        </p:nvSpPr>
        <p:spPr>
          <a:xfrm>
            <a:off x="502920" y="1956816"/>
            <a:ext cx="11185855" cy="922564"/>
          </a:xfrm>
          <a:prstGeom prst="roundRect">
            <a:avLst>
              <a:gd name="adj" fmla="val 11893"/>
            </a:avLst>
          </a:prstGeom>
          <a:solidFill>
            <a:srgbClr val="FFFFFF"/>
          </a:solidFill>
          <a:ln w="12700">
            <a:solidFill>
              <a:srgbClr val="D9D9D9"/>
            </a:solidFill>
          </a:ln>
          <a:effectLst/>
        </p:spPr>
        <p:txBody>
          <a:bodyPr rtlCol="0" anchor="ctr"/>
          <a:lstStyle/>
          <a:p/>
        </p:txBody>
      </p:sp>
      <p:sp>
        <p:nvSpPr>
          <p:cNvPr id="10" name="Oval 9"/>
          <p:cNvSpPr/>
          <p:nvPr/>
        </p:nvSpPr>
        <p:spPr>
          <a:xfrm>
            <a:off x="585216" y="2189498"/>
            <a:ext cx="457200" cy="45720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A</a:t>
            </a:r>
          </a:p>
        </p:txBody>
      </p:sp>
      <p:sp>
        <p:nvSpPr>
          <p:cNvPr id="11" name="TextBox 10"/>
          <p:cNvSpPr txBox="1"/>
          <p:nvPr/>
        </p:nvSpPr>
        <p:spPr>
          <a:xfrm>
            <a:off x="1106424" y="1956816"/>
            <a:ext cx="10509199" cy="922564"/>
          </a:xfrm>
          <a:prstGeom prst="rect">
            <a:avLst/>
          </a:prstGeom>
          <a:noFill/>
        </p:spPr>
        <p:txBody>
          <a:bodyPr wrap="square" anchor="ctr" lIns="73152" rIns="73152" tIns="36576" bIns="36576">
            <a:noAutofit/>
          </a:bodyPr>
          <a:lstStyle/>
          <a:p>
            <a:pPr algn="l">
              <a:spcBef>
                <a:spcPts val="0"/>
              </a:spcBef>
              <a:spcAft>
                <a:spcPts val="0"/>
              </a:spcAft>
            </a:pPr>
            <a:r>
              <a:rPr lang="tr-TR" sz="1600" b="0" i="0">
                <a:solidFill>
                  <a:srgbClr val="262626"/>
                </a:solidFill>
                <a:latin typeface="Calibri"/>
              </a:rPr>
              <a:t>Toprak kayması, bölgedeki yerleşim alanları için tehlike oluşturmaktadır. Bu bölgede erken uyarı sistemlerinin bulunmaması, toprak kaymasına dirençli yapıların inşa edilmemesi, tahliye planlarının olmaması gibi unsurlar risk; toprak kaymasının can ve mal kaybına yol açması ise afet olarak nitelendirilir.</a:t>
            </a:r>
          </a:p>
        </p:txBody>
      </p:sp>
      <p:sp>
        <p:nvSpPr>
          <p:cNvPr id="12" name="Rounded Rectangle 11"/>
          <p:cNvSpPr/>
          <p:nvPr/>
        </p:nvSpPr>
        <p:spPr>
          <a:xfrm>
            <a:off x="502920" y="2934244"/>
            <a:ext cx="11185855" cy="922564"/>
          </a:xfrm>
          <a:prstGeom prst="roundRect">
            <a:avLst>
              <a:gd name="adj" fmla="val 11893"/>
            </a:avLst>
          </a:prstGeom>
          <a:solidFill>
            <a:srgbClr val="FFFFFF"/>
          </a:solidFill>
          <a:ln w="12700">
            <a:solidFill>
              <a:srgbClr val="D9D9D9"/>
            </a:solidFill>
          </a:ln>
          <a:effectLst/>
        </p:spPr>
        <p:txBody>
          <a:bodyPr rtlCol="0" anchor="ctr"/>
          <a:lstStyle/>
          <a:p/>
        </p:txBody>
      </p:sp>
      <p:sp>
        <p:nvSpPr>
          <p:cNvPr id="13" name="Oval 12"/>
          <p:cNvSpPr/>
          <p:nvPr/>
        </p:nvSpPr>
        <p:spPr>
          <a:xfrm>
            <a:off x="585216" y="3166926"/>
            <a:ext cx="457200" cy="45720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B</a:t>
            </a:r>
          </a:p>
        </p:txBody>
      </p:sp>
      <p:sp>
        <p:nvSpPr>
          <p:cNvPr id="14" name="TextBox 13"/>
          <p:cNvSpPr txBox="1"/>
          <p:nvPr/>
        </p:nvSpPr>
        <p:spPr>
          <a:xfrm>
            <a:off x="1106424" y="2934244"/>
            <a:ext cx="10509199" cy="922564"/>
          </a:xfrm>
          <a:prstGeom prst="rect">
            <a:avLst/>
          </a:prstGeom>
          <a:noFill/>
        </p:spPr>
        <p:txBody>
          <a:bodyPr wrap="square" anchor="ctr" lIns="73152" rIns="73152" tIns="36576" bIns="36576">
            <a:noAutofit/>
          </a:bodyPr>
          <a:lstStyle/>
          <a:p>
            <a:pPr algn="l">
              <a:spcBef>
                <a:spcPts val="0"/>
              </a:spcBef>
              <a:spcAft>
                <a:spcPts val="0"/>
              </a:spcAft>
            </a:pPr>
            <a:r>
              <a:rPr lang="tr-TR" sz="1600" b="0" i="0">
                <a:solidFill>
                  <a:srgbClr val="262626"/>
                </a:solidFill>
                <a:latin typeface="Calibri"/>
              </a:rPr>
              <a:t>Bölge, toprak kayması potansiyeli nedeniyle yerleşim merkezleri için tehdit; acil müdahale tedbirleri ve iyileştirme faaliyetleri konularında da risk oluşturmaktadır. Doğa olaylarının bölgenin altyapısı üzerindeki uzun vadeli etkileri ise afet kavramıyla ifade edilir.</a:t>
            </a:r>
          </a:p>
        </p:txBody>
      </p:sp>
      <p:sp>
        <p:nvSpPr>
          <p:cNvPr id="15" name="Rounded Rectangle 14"/>
          <p:cNvSpPr/>
          <p:nvPr/>
        </p:nvSpPr>
        <p:spPr>
          <a:xfrm>
            <a:off x="502920" y="3911672"/>
            <a:ext cx="11185855" cy="922564"/>
          </a:xfrm>
          <a:prstGeom prst="roundRect">
            <a:avLst>
              <a:gd name="adj" fmla="val 11893"/>
            </a:avLst>
          </a:prstGeom>
          <a:solidFill>
            <a:srgbClr val="FFFFFF"/>
          </a:solidFill>
          <a:ln w="12700">
            <a:solidFill>
              <a:srgbClr val="D9D9D9"/>
            </a:solidFill>
          </a:ln>
          <a:effectLst/>
        </p:spPr>
        <p:txBody>
          <a:bodyPr rtlCol="0" anchor="ctr"/>
          <a:lstStyle/>
          <a:p/>
        </p:txBody>
      </p:sp>
      <p:sp>
        <p:nvSpPr>
          <p:cNvPr id="16" name="Oval 15"/>
          <p:cNvSpPr/>
          <p:nvPr/>
        </p:nvSpPr>
        <p:spPr>
          <a:xfrm>
            <a:off x="585216" y="4144354"/>
            <a:ext cx="457200" cy="45720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C</a:t>
            </a:r>
          </a:p>
        </p:txBody>
      </p:sp>
      <p:sp>
        <p:nvSpPr>
          <p:cNvPr id="17" name="TextBox 16"/>
          <p:cNvSpPr txBox="1"/>
          <p:nvPr/>
        </p:nvSpPr>
        <p:spPr>
          <a:xfrm>
            <a:off x="1106424" y="3911672"/>
            <a:ext cx="10509199" cy="922564"/>
          </a:xfrm>
          <a:prstGeom prst="rect">
            <a:avLst/>
          </a:prstGeom>
          <a:noFill/>
        </p:spPr>
        <p:txBody>
          <a:bodyPr wrap="square" anchor="ctr" lIns="73152" rIns="73152" tIns="36576" bIns="36576">
            <a:noAutofit/>
          </a:bodyPr>
          <a:lstStyle/>
          <a:p>
            <a:pPr algn="l">
              <a:spcBef>
                <a:spcPts val="0"/>
              </a:spcBef>
              <a:spcAft>
                <a:spcPts val="0"/>
              </a:spcAft>
            </a:pPr>
            <a:r>
              <a:rPr lang="tr-TR" sz="1600" b="0" i="0">
                <a:solidFill>
                  <a:srgbClr val="262626"/>
                </a:solidFill>
                <a:latin typeface="Calibri"/>
              </a:rPr>
              <a:t>Bölgedeki yerleşim alanını etkileyen toprak kayması, sonuçları itibarıyla tehlike oluşturur. Tahliye planlarının etkinliğinin değerlendirilmesi risk, yerleşim alanlarının toprak kaymasına tepki verme konusundaki hazırlığı ise afet olarak değerlendirilir.</a:t>
            </a:r>
          </a:p>
        </p:txBody>
      </p:sp>
      <p:sp>
        <p:nvSpPr>
          <p:cNvPr id="18" name="Rounded Rectangle 17"/>
          <p:cNvSpPr/>
          <p:nvPr/>
        </p:nvSpPr>
        <p:spPr>
          <a:xfrm>
            <a:off x="502920" y="4889100"/>
            <a:ext cx="11185855" cy="673553"/>
          </a:xfrm>
          <a:prstGeom prst="roundRect">
            <a:avLst>
              <a:gd name="adj" fmla="val 16290"/>
            </a:avLst>
          </a:prstGeom>
          <a:solidFill>
            <a:srgbClr val="FFFFFF"/>
          </a:solidFill>
          <a:ln w="12700">
            <a:solidFill>
              <a:srgbClr val="D9D9D9"/>
            </a:solidFill>
          </a:ln>
          <a:effectLst/>
        </p:spPr>
        <p:txBody>
          <a:bodyPr rtlCol="0" anchor="ctr"/>
          <a:lstStyle/>
          <a:p/>
        </p:txBody>
      </p:sp>
      <p:sp>
        <p:nvSpPr>
          <p:cNvPr id="19" name="Oval 18"/>
          <p:cNvSpPr/>
          <p:nvPr/>
        </p:nvSpPr>
        <p:spPr>
          <a:xfrm>
            <a:off x="585216" y="4997277"/>
            <a:ext cx="457200" cy="45720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D</a:t>
            </a:r>
          </a:p>
        </p:txBody>
      </p:sp>
      <p:sp>
        <p:nvSpPr>
          <p:cNvPr id="20" name="TextBox 19"/>
          <p:cNvSpPr txBox="1"/>
          <p:nvPr/>
        </p:nvSpPr>
        <p:spPr>
          <a:xfrm>
            <a:off x="1106424" y="4889100"/>
            <a:ext cx="10509199" cy="673553"/>
          </a:xfrm>
          <a:prstGeom prst="rect">
            <a:avLst/>
          </a:prstGeom>
          <a:noFill/>
        </p:spPr>
        <p:txBody>
          <a:bodyPr wrap="square" anchor="ctr" lIns="73152" rIns="73152" tIns="36576" bIns="36576">
            <a:noAutofit/>
          </a:bodyPr>
          <a:lstStyle/>
          <a:p>
            <a:pPr algn="l">
              <a:spcBef>
                <a:spcPts val="0"/>
              </a:spcBef>
              <a:spcAft>
                <a:spcPts val="0"/>
              </a:spcAft>
            </a:pPr>
            <a:r>
              <a:rPr lang="tr-TR" sz="1600" b="0" i="0">
                <a:solidFill>
                  <a:srgbClr val="262626"/>
                </a:solidFill>
                <a:latin typeface="Calibri"/>
              </a:rPr>
              <a:t>Yerleşim alanının toprak kaymasına karşı savunmasızlığı bölgede tehlike oluşturur. Bu alanlarda meydana gelen ekonomik kayıplar risk, doğa olaylarının gerçekleşme olasılığı ise afet olarak ifade edilir.</a:t>
            </a:r>
          </a:p>
        </p:txBody>
      </p:sp>
      <p:sp>
        <p:nvSpPr>
          <p:cNvPr id="21" name="Rounded Rectangle 20"/>
          <p:cNvSpPr/>
          <p:nvPr/>
        </p:nvSpPr>
        <p:spPr>
          <a:xfrm>
            <a:off x="502920" y="5617518"/>
            <a:ext cx="11185855" cy="673553"/>
          </a:xfrm>
          <a:prstGeom prst="roundRect">
            <a:avLst>
              <a:gd name="adj" fmla="val 16290"/>
            </a:avLst>
          </a:prstGeom>
          <a:solidFill>
            <a:srgbClr val="FFFFFF"/>
          </a:solidFill>
          <a:ln w="12700">
            <a:solidFill>
              <a:srgbClr val="D9D9D9"/>
            </a:solidFill>
          </a:ln>
          <a:effectLst/>
        </p:spPr>
        <p:txBody>
          <a:bodyPr rtlCol="0" anchor="ctr"/>
          <a:lstStyle/>
          <a:p/>
        </p:txBody>
      </p:sp>
      <p:sp>
        <p:nvSpPr>
          <p:cNvPr id="22" name="Oval 21"/>
          <p:cNvSpPr/>
          <p:nvPr/>
        </p:nvSpPr>
        <p:spPr>
          <a:xfrm>
            <a:off x="585216" y="5725695"/>
            <a:ext cx="457200" cy="45720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E</a:t>
            </a:r>
          </a:p>
        </p:txBody>
      </p:sp>
      <p:sp>
        <p:nvSpPr>
          <p:cNvPr id="23" name="TextBox 22"/>
          <p:cNvSpPr txBox="1"/>
          <p:nvPr/>
        </p:nvSpPr>
        <p:spPr>
          <a:xfrm>
            <a:off x="1106424" y="5617518"/>
            <a:ext cx="10509199" cy="673553"/>
          </a:xfrm>
          <a:prstGeom prst="rect">
            <a:avLst/>
          </a:prstGeom>
          <a:noFill/>
        </p:spPr>
        <p:txBody>
          <a:bodyPr wrap="square" anchor="ctr" lIns="73152" rIns="73152" tIns="36576" bIns="36576">
            <a:noAutofit/>
          </a:bodyPr>
          <a:lstStyle/>
          <a:p>
            <a:pPr algn="l">
              <a:spcBef>
                <a:spcPts val="0"/>
              </a:spcBef>
              <a:spcAft>
                <a:spcPts val="0"/>
              </a:spcAft>
            </a:pPr>
            <a:r>
              <a:rPr lang="tr-TR" sz="1600" b="0" i="0">
                <a:solidFill>
                  <a:srgbClr val="262626"/>
                </a:solidFill>
                <a:latin typeface="Calibri"/>
              </a:rPr>
              <a:t>Bölgedeki yerleşim alanlarında söz konusu doğa olaylarına karşı alınan tedbirler tehlike kavramıyla açıklanır. Aynı bölgede meydana gelen çevresel etki risk, risklerin gerçekleşmesi sonrasındaki iyileştirme çalışmaları ise afet olarak ifade edilir.</a:t>
            </a:r>
          </a:p>
        </p:txBody>
      </p:sp>
      <p:sp>
        <p:nvSpPr>
          <p:cNvPr id="24" name="TextBox 23"/>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25" name="Rounded Rectangle 24"/>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210</a:t>
            </a:r>
          </a:p>
        </p:txBody>
      </p:sp>
      <p:sp>
        <p:nvSpPr>
          <p:cNvPr id="26" name="TextBox 25"/>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224 / 250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1. soru — cevap: A</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SORU 1</a:t>
            </a:r>
          </a:p>
        </p:txBody>
      </p:sp>
      <p:sp>
        <p:nvSpPr>
          <p:cNvPr id="6" name="Rounded Rectangle 5"/>
          <p:cNvSpPr/>
          <p:nvPr/>
        </p:nvSpPr>
        <p:spPr>
          <a:xfrm>
            <a:off x="502920" y="1216152"/>
            <a:ext cx="1920240" cy="658368"/>
          </a:xfrm>
          <a:prstGeom prst="roundRect">
            <a:avLst>
              <a:gd name="adj" fmla="val 20000"/>
            </a:avLst>
          </a:prstGeom>
          <a:solidFill>
            <a:srgbClr val="2E7D32"/>
          </a:solidFill>
          <a:ln>
            <a:noFill/>
          </a:ln>
          <a:effectLst/>
        </p:spPr>
        <p:txBody>
          <a:bodyPr rtlCol="0" anchor="ctr" wrap="square" lIns="128016" rIns="128016" tIns="73152" bIns="73152">
            <a:noAutofit/>
          </a:bodyPr>
          <a:lstStyle/>
          <a:p>
            <a:pPr algn="ctr">
              <a:spcBef>
                <a:spcPts val="0"/>
              </a:spcBef>
              <a:spcAft>
                <a:spcPts val="0"/>
              </a:spcAft>
            </a:pPr>
            <a:r>
              <a:rPr lang="tr-TR" sz="2600" b="1" i="0">
                <a:solidFill>
                  <a:srgbClr val="FFFFFF"/>
                </a:solidFill>
                <a:latin typeface="Calibri"/>
              </a:rPr>
              <a:t>Cevap: A</a:t>
            </a:r>
          </a:p>
        </p:txBody>
      </p:sp>
      <p:sp>
        <p:nvSpPr>
          <p:cNvPr id="7" name="TextBox 6"/>
          <p:cNvSpPr txBox="1"/>
          <p:nvPr/>
        </p:nvSpPr>
        <p:spPr>
          <a:xfrm>
            <a:off x="2606040" y="1216152"/>
            <a:ext cx="9082735" cy="658368"/>
          </a:xfrm>
          <a:prstGeom prst="rect">
            <a:avLst/>
          </a:prstGeom>
          <a:noFill/>
        </p:spPr>
        <p:txBody>
          <a:bodyPr wrap="square" anchor="ctr" lIns="73152" rIns="73152" tIns="36576" bIns="36576">
            <a:noAutofit/>
          </a:bodyPr>
          <a:lstStyle/>
          <a:p>
            <a:pPr algn="l">
              <a:spcBef>
                <a:spcPts val="0"/>
              </a:spcBef>
              <a:spcAft>
                <a:spcPts val="0"/>
              </a:spcAft>
            </a:pPr>
            <a:r>
              <a:rPr lang="tr-TR" sz="2100" b="1" i="0">
                <a:solidFill>
                  <a:srgbClr val="767676"/>
                </a:solidFill>
                <a:latin typeface="Calibri"/>
              </a:rPr>
              <a:t>A'daki üç parça kitabın tanımlarıyla örtüşür:</a:t>
            </a:r>
          </a:p>
        </p:txBody>
      </p:sp>
      <p:sp>
        <p:nvSpPr>
          <p:cNvPr id="8" name="Rounded Rectangle 7"/>
          <p:cNvSpPr/>
          <p:nvPr/>
        </p:nvSpPr>
        <p:spPr>
          <a:xfrm>
            <a:off x="502920" y="2039112"/>
            <a:ext cx="11185855" cy="1331976"/>
          </a:xfrm>
          <a:prstGeom prst="roundRect">
            <a:avLst>
              <a:gd name="adj" fmla="val 8237"/>
            </a:avLst>
          </a:prstGeom>
          <a:solidFill>
            <a:srgbClr val="E3F1E4"/>
          </a:solidFill>
          <a:ln w="15875">
            <a:solidFill>
              <a:srgbClr val="2E7D32"/>
            </a:solidFill>
          </a:ln>
          <a:effectLst/>
        </p:spPr>
        <p:txBody>
          <a:bodyPr rtlCol="0" anchor="ctr"/>
          <a:lstStyle/>
          <a:p/>
        </p:txBody>
      </p:sp>
      <p:sp>
        <p:nvSpPr>
          <p:cNvPr id="9" name="Rounded Rectangle 8"/>
          <p:cNvSpPr/>
          <p:nvPr/>
        </p:nvSpPr>
        <p:spPr>
          <a:xfrm>
            <a:off x="612648" y="2421636"/>
            <a:ext cx="1307592" cy="566928"/>
          </a:xfrm>
          <a:prstGeom prst="roundRect">
            <a:avLst>
              <a:gd name="adj" fmla="val 30000"/>
            </a:avLst>
          </a:prstGeom>
          <a:solidFill>
            <a:srgbClr val="D3373A"/>
          </a:solidFill>
          <a:ln>
            <a:noFill/>
          </a:ln>
          <a:effectLst/>
        </p:spPr>
        <p:txBody>
          <a:bodyPr rtlCol="0" anchor="ctr" wrap="square" lIns="36576" rIns="36576" tIns="0" bIns="0">
            <a:noAutofit/>
          </a:bodyPr>
          <a:lstStyle/>
          <a:p>
            <a:pPr algn="ctr">
              <a:spcBef>
                <a:spcPts val="0"/>
              </a:spcBef>
              <a:spcAft>
                <a:spcPts val="0"/>
              </a:spcAft>
            </a:pPr>
            <a:r>
              <a:rPr lang="tr-TR" sz="1900" b="1" i="0">
                <a:solidFill>
                  <a:srgbClr val="FFFFFF"/>
                </a:solidFill>
                <a:latin typeface="Calibri"/>
              </a:rPr>
              <a:t>TEHLİKE</a:t>
            </a:r>
          </a:p>
        </p:txBody>
      </p:sp>
      <p:sp>
        <p:nvSpPr>
          <p:cNvPr id="10" name="TextBox 9"/>
          <p:cNvSpPr txBox="1"/>
          <p:nvPr/>
        </p:nvSpPr>
        <p:spPr>
          <a:xfrm>
            <a:off x="2011680" y="2039112"/>
            <a:ext cx="5257800" cy="1331976"/>
          </a:xfrm>
          <a:prstGeom prst="rect">
            <a:avLst/>
          </a:prstGeom>
          <a:noFill/>
        </p:spPr>
        <p:txBody>
          <a:bodyPr wrap="square" anchor="ctr" lIns="73152" rIns="73152" tIns="36576" bIns="36576">
            <a:noAutofit/>
          </a:bodyPr>
          <a:lstStyle/>
          <a:p>
            <a:pPr algn="l">
              <a:spcBef>
                <a:spcPts val="0"/>
              </a:spcBef>
              <a:spcAft>
                <a:spcPts val="0"/>
              </a:spcAft>
            </a:pPr>
            <a:r>
              <a:rPr lang="tr-TR" sz="1950" b="0" i="0">
                <a:solidFill>
                  <a:srgbClr val="262626"/>
                </a:solidFill>
                <a:latin typeface="Calibri"/>
              </a:rPr>
              <a:t>“Toprak kayması, bölgedeki yerleşim alanları için tehlike oluşturmaktadır.”</a:t>
            </a:r>
          </a:p>
        </p:txBody>
      </p:sp>
      <p:cxnSp>
        <p:nvCxnSpPr>
          <p:cNvPr id="11" name="Connector 10"/>
          <p:cNvCxnSpPr/>
          <p:nvPr/>
        </p:nvCxnSpPr>
        <p:spPr>
          <a:xfrm>
            <a:off x="7315200" y="2176272"/>
            <a:ext cx="0" cy="1057656"/>
          </a:xfrm>
          <a:prstGeom prst="line">
            <a:avLst/>
          </a:prstGeom>
          <a:ln w="15875">
            <a:solidFill>
              <a:srgbClr val="2E7D32"/>
            </a:solidFill>
          </a:ln>
        </p:spPr>
      </p:cxnSp>
      <p:sp>
        <p:nvSpPr>
          <p:cNvPr id="12" name="TextBox 11"/>
          <p:cNvSpPr txBox="1"/>
          <p:nvPr/>
        </p:nvSpPr>
        <p:spPr>
          <a:xfrm>
            <a:off x="7452360" y="2039112"/>
            <a:ext cx="4144975" cy="1331976"/>
          </a:xfrm>
          <a:prstGeom prst="rect">
            <a:avLst/>
          </a:prstGeom>
          <a:noFill/>
        </p:spPr>
        <p:txBody>
          <a:bodyPr wrap="square" anchor="ctr" lIns="73152" rIns="73152" tIns="36576" bIns="36576">
            <a:noAutofit/>
          </a:bodyPr>
          <a:lstStyle/>
          <a:p>
            <a:pPr algn="l">
              <a:spcBef>
                <a:spcPts val="0"/>
              </a:spcBef>
              <a:spcAft>
                <a:spcPts val="0"/>
              </a:spcAft>
            </a:pPr>
            <a:r>
              <a:rPr lang="tr-TR" sz="1850" b="0" i="1">
                <a:solidFill>
                  <a:srgbClr val="2E7D32"/>
                </a:solidFill>
                <a:latin typeface="Calibri"/>
              </a:rPr>
              <a:t>s. 190: tehlikelerin “olumsuz etkileyebilecek potansiyeli vardır”</a:t>
            </a:r>
          </a:p>
        </p:txBody>
      </p:sp>
      <p:sp>
        <p:nvSpPr>
          <p:cNvPr id="13" name="Rounded Rectangle 12"/>
          <p:cNvSpPr/>
          <p:nvPr/>
        </p:nvSpPr>
        <p:spPr>
          <a:xfrm>
            <a:off x="502920" y="3499104"/>
            <a:ext cx="11185855" cy="1331976"/>
          </a:xfrm>
          <a:prstGeom prst="roundRect">
            <a:avLst>
              <a:gd name="adj" fmla="val 8237"/>
            </a:avLst>
          </a:prstGeom>
          <a:solidFill>
            <a:srgbClr val="E3F1E4"/>
          </a:solidFill>
          <a:ln w="15875">
            <a:solidFill>
              <a:srgbClr val="2E7D32"/>
            </a:solidFill>
          </a:ln>
          <a:effectLst/>
        </p:spPr>
        <p:txBody>
          <a:bodyPr rtlCol="0" anchor="ctr"/>
          <a:lstStyle/>
          <a:p/>
        </p:txBody>
      </p:sp>
      <p:sp>
        <p:nvSpPr>
          <p:cNvPr id="14" name="Rounded Rectangle 13"/>
          <p:cNvSpPr/>
          <p:nvPr/>
        </p:nvSpPr>
        <p:spPr>
          <a:xfrm>
            <a:off x="612648" y="3881628"/>
            <a:ext cx="1307592" cy="566928"/>
          </a:xfrm>
          <a:prstGeom prst="roundRect">
            <a:avLst>
              <a:gd name="adj" fmla="val 30000"/>
            </a:avLst>
          </a:prstGeom>
          <a:solidFill>
            <a:srgbClr val="1F6F7A"/>
          </a:solidFill>
          <a:ln>
            <a:noFill/>
          </a:ln>
          <a:effectLst/>
        </p:spPr>
        <p:txBody>
          <a:bodyPr rtlCol="0" anchor="ctr" wrap="square" lIns="36576" rIns="36576" tIns="0" bIns="0">
            <a:noAutofit/>
          </a:bodyPr>
          <a:lstStyle/>
          <a:p>
            <a:pPr algn="ctr">
              <a:spcBef>
                <a:spcPts val="0"/>
              </a:spcBef>
              <a:spcAft>
                <a:spcPts val="0"/>
              </a:spcAft>
            </a:pPr>
            <a:r>
              <a:rPr lang="tr-TR" sz="1900" b="1" i="0">
                <a:solidFill>
                  <a:srgbClr val="FFFFFF"/>
                </a:solidFill>
                <a:latin typeface="Calibri"/>
              </a:rPr>
              <a:t>RİSK</a:t>
            </a:r>
          </a:p>
        </p:txBody>
      </p:sp>
      <p:sp>
        <p:nvSpPr>
          <p:cNvPr id="15" name="TextBox 14"/>
          <p:cNvSpPr txBox="1"/>
          <p:nvPr/>
        </p:nvSpPr>
        <p:spPr>
          <a:xfrm>
            <a:off x="2011680" y="3499104"/>
            <a:ext cx="5257800" cy="1331976"/>
          </a:xfrm>
          <a:prstGeom prst="rect">
            <a:avLst/>
          </a:prstGeom>
          <a:noFill/>
        </p:spPr>
        <p:txBody>
          <a:bodyPr wrap="square" anchor="ctr" lIns="73152" rIns="73152" tIns="36576" bIns="36576">
            <a:noAutofit/>
          </a:bodyPr>
          <a:lstStyle/>
          <a:p>
            <a:pPr algn="l">
              <a:spcBef>
                <a:spcPts val="0"/>
              </a:spcBef>
              <a:spcAft>
                <a:spcPts val="0"/>
              </a:spcAft>
            </a:pPr>
            <a:r>
              <a:rPr lang="tr-TR" sz="1950" b="0" i="0">
                <a:solidFill>
                  <a:srgbClr val="262626"/>
                </a:solidFill>
                <a:latin typeface="Calibri"/>
              </a:rPr>
              <a:t>“erken uyarı sistemlerinin bulunmaması, toprak kaymasına dirençli yapıların inşa edilmemesi, tahliye planlarının olmaması gibi unsurlar risk”</a:t>
            </a:r>
          </a:p>
        </p:txBody>
      </p:sp>
      <p:cxnSp>
        <p:nvCxnSpPr>
          <p:cNvPr id="16" name="Connector 15"/>
          <p:cNvCxnSpPr/>
          <p:nvPr/>
        </p:nvCxnSpPr>
        <p:spPr>
          <a:xfrm>
            <a:off x="7315200" y="3636264"/>
            <a:ext cx="0" cy="1057656"/>
          </a:xfrm>
          <a:prstGeom prst="line">
            <a:avLst/>
          </a:prstGeom>
          <a:ln w="15875">
            <a:solidFill>
              <a:srgbClr val="2E7D32"/>
            </a:solidFill>
          </a:ln>
        </p:spPr>
      </p:cxnSp>
      <p:sp>
        <p:nvSpPr>
          <p:cNvPr id="17" name="TextBox 16"/>
          <p:cNvSpPr txBox="1"/>
          <p:nvPr/>
        </p:nvSpPr>
        <p:spPr>
          <a:xfrm>
            <a:off x="7452360" y="3499104"/>
            <a:ext cx="4144975" cy="1331976"/>
          </a:xfrm>
          <a:prstGeom prst="rect">
            <a:avLst/>
          </a:prstGeom>
          <a:noFill/>
        </p:spPr>
        <p:txBody>
          <a:bodyPr wrap="square" anchor="ctr" lIns="73152" rIns="73152" tIns="36576" bIns="36576">
            <a:noAutofit/>
          </a:bodyPr>
          <a:lstStyle/>
          <a:p>
            <a:pPr algn="l">
              <a:spcBef>
                <a:spcPts val="0"/>
              </a:spcBef>
              <a:spcAft>
                <a:spcPts val="0"/>
              </a:spcAft>
            </a:pPr>
            <a:r>
              <a:rPr lang="tr-TR" sz="1850" b="0" i="1">
                <a:solidFill>
                  <a:srgbClr val="2E7D32"/>
                </a:solidFill>
                <a:latin typeface="Calibri"/>
              </a:rPr>
              <a:t>s. 191: “yapıların sele dirençli olmaması, tahliye planının yapılmaması gibi eksiklikler riski artırır”</a:t>
            </a:r>
          </a:p>
        </p:txBody>
      </p:sp>
      <p:sp>
        <p:nvSpPr>
          <p:cNvPr id="18" name="Rounded Rectangle 17"/>
          <p:cNvSpPr/>
          <p:nvPr/>
        </p:nvSpPr>
        <p:spPr>
          <a:xfrm>
            <a:off x="502920" y="4959096"/>
            <a:ext cx="11185855" cy="1331976"/>
          </a:xfrm>
          <a:prstGeom prst="roundRect">
            <a:avLst>
              <a:gd name="adj" fmla="val 8237"/>
            </a:avLst>
          </a:prstGeom>
          <a:solidFill>
            <a:srgbClr val="E3F1E4"/>
          </a:solidFill>
          <a:ln w="15875">
            <a:solidFill>
              <a:srgbClr val="2E7D32"/>
            </a:solidFill>
          </a:ln>
          <a:effectLst/>
        </p:spPr>
        <p:txBody>
          <a:bodyPr rtlCol="0" anchor="ctr"/>
          <a:lstStyle/>
          <a:p/>
        </p:txBody>
      </p:sp>
      <p:sp>
        <p:nvSpPr>
          <p:cNvPr id="19" name="Rounded Rectangle 18"/>
          <p:cNvSpPr/>
          <p:nvPr/>
        </p:nvSpPr>
        <p:spPr>
          <a:xfrm>
            <a:off x="612648" y="5341620"/>
            <a:ext cx="1307592" cy="566928"/>
          </a:xfrm>
          <a:prstGeom prst="roundRect">
            <a:avLst>
              <a:gd name="adj" fmla="val 30000"/>
            </a:avLst>
          </a:prstGeom>
          <a:solidFill>
            <a:srgbClr val="2F3E4E"/>
          </a:solidFill>
          <a:ln>
            <a:noFill/>
          </a:ln>
          <a:effectLst/>
        </p:spPr>
        <p:txBody>
          <a:bodyPr rtlCol="0" anchor="ctr" wrap="square" lIns="36576" rIns="36576" tIns="0" bIns="0">
            <a:noAutofit/>
          </a:bodyPr>
          <a:lstStyle/>
          <a:p>
            <a:pPr algn="ctr">
              <a:spcBef>
                <a:spcPts val="0"/>
              </a:spcBef>
              <a:spcAft>
                <a:spcPts val="0"/>
              </a:spcAft>
            </a:pPr>
            <a:r>
              <a:rPr lang="tr-TR" sz="1900" b="1" i="0">
                <a:solidFill>
                  <a:srgbClr val="FFFFFF"/>
                </a:solidFill>
                <a:latin typeface="Calibri"/>
              </a:rPr>
              <a:t>AFET</a:t>
            </a:r>
          </a:p>
        </p:txBody>
      </p:sp>
      <p:sp>
        <p:nvSpPr>
          <p:cNvPr id="20" name="TextBox 19"/>
          <p:cNvSpPr txBox="1"/>
          <p:nvPr/>
        </p:nvSpPr>
        <p:spPr>
          <a:xfrm>
            <a:off x="2011680" y="4959096"/>
            <a:ext cx="5257800" cy="1331976"/>
          </a:xfrm>
          <a:prstGeom prst="rect">
            <a:avLst/>
          </a:prstGeom>
          <a:noFill/>
        </p:spPr>
        <p:txBody>
          <a:bodyPr wrap="square" anchor="ctr" lIns="73152" rIns="73152" tIns="36576" bIns="36576">
            <a:noAutofit/>
          </a:bodyPr>
          <a:lstStyle/>
          <a:p>
            <a:pPr algn="l">
              <a:spcBef>
                <a:spcPts val="0"/>
              </a:spcBef>
              <a:spcAft>
                <a:spcPts val="0"/>
              </a:spcAft>
            </a:pPr>
            <a:r>
              <a:rPr lang="tr-TR" sz="1950" b="0" i="0">
                <a:solidFill>
                  <a:srgbClr val="262626"/>
                </a:solidFill>
                <a:latin typeface="Calibri"/>
              </a:rPr>
              <a:t>“toprak kaymasının can ve mal kaybına yol açması ise afet olarak nitelendirilir”</a:t>
            </a:r>
          </a:p>
        </p:txBody>
      </p:sp>
      <p:cxnSp>
        <p:nvCxnSpPr>
          <p:cNvPr id="21" name="Connector 20"/>
          <p:cNvCxnSpPr/>
          <p:nvPr/>
        </p:nvCxnSpPr>
        <p:spPr>
          <a:xfrm>
            <a:off x="7315200" y="5096256"/>
            <a:ext cx="0" cy="1057656"/>
          </a:xfrm>
          <a:prstGeom prst="line">
            <a:avLst/>
          </a:prstGeom>
          <a:ln w="15875">
            <a:solidFill>
              <a:srgbClr val="2E7D32"/>
            </a:solidFill>
          </a:ln>
        </p:spPr>
      </p:cxnSp>
      <p:sp>
        <p:nvSpPr>
          <p:cNvPr id="22" name="TextBox 21"/>
          <p:cNvSpPr txBox="1"/>
          <p:nvPr/>
        </p:nvSpPr>
        <p:spPr>
          <a:xfrm>
            <a:off x="7452360" y="4959096"/>
            <a:ext cx="4144975" cy="1331976"/>
          </a:xfrm>
          <a:prstGeom prst="rect">
            <a:avLst/>
          </a:prstGeom>
          <a:noFill/>
        </p:spPr>
        <p:txBody>
          <a:bodyPr wrap="square" anchor="ctr" lIns="73152" rIns="73152" tIns="36576" bIns="36576">
            <a:noAutofit/>
          </a:bodyPr>
          <a:lstStyle/>
          <a:p>
            <a:pPr algn="l">
              <a:spcBef>
                <a:spcPts val="0"/>
              </a:spcBef>
              <a:spcAft>
                <a:spcPts val="0"/>
              </a:spcAft>
            </a:pPr>
            <a:r>
              <a:rPr lang="tr-TR" sz="1850" b="0" i="1">
                <a:solidFill>
                  <a:srgbClr val="2E7D32"/>
                </a:solidFill>
                <a:latin typeface="Calibri"/>
              </a:rPr>
              <a:t>s. 191: afet “olağan hayat düzenini bozan, can ve mal kaybına neden olan” olaydır</a:t>
            </a:r>
          </a:p>
        </p:txBody>
      </p:sp>
      <p:sp>
        <p:nvSpPr>
          <p:cNvPr id="23" name="TextBox 22"/>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24" name="Rounded Rectangle 23"/>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190-191, 210</a:t>
            </a:r>
          </a:p>
        </p:txBody>
      </p:sp>
      <p:sp>
        <p:nvSpPr>
          <p:cNvPr id="25" name="TextBox 24"/>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225 / 250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1. soru — cevap: B, C, D ve E neden yanlış?</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SORU 1</a:t>
            </a:r>
          </a:p>
        </p:txBody>
      </p:sp>
      <p:sp>
        <p:nvSpPr>
          <p:cNvPr id="6" name="Rectangle 5"/>
          <p:cNvSpPr/>
          <p:nvPr/>
        </p:nvSpPr>
        <p:spPr>
          <a:xfrm>
            <a:off x="502920" y="1216152"/>
            <a:ext cx="731520" cy="457200"/>
          </a:xfrm>
          <a:prstGeom prst="rect">
            <a:avLst/>
          </a:prstGeom>
          <a:solidFill>
            <a:srgbClr val="4F4F4F"/>
          </a:solidFill>
          <a:ln w="19050">
            <a:solidFill>
              <a:srgbClr val="FFFFFF"/>
            </a:solidFill>
          </a:ln>
          <a:effectLst/>
        </p:spPr>
        <p:txBody>
          <a:bodyPr rtlCol="0" anchor="ctr" wrap="square" tIns="27432" bIns="27432">
            <a:noAutofit/>
          </a:bodyPr>
          <a:lstStyle/>
          <a:p>
            <a:pPr algn="ctr">
              <a:spcBef>
                <a:spcPts val="0"/>
              </a:spcBef>
              <a:spcAft>
                <a:spcPts val="0"/>
              </a:spcAft>
            </a:pPr>
          </a:p>
        </p:txBody>
      </p:sp>
      <p:sp>
        <p:nvSpPr>
          <p:cNvPr id="7" name="Rectangle 6"/>
          <p:cNvSpPr/>
          <p:nvPr/>
        </p:nvSpPr>
        <p:spPr>
          <a:xfrm>
            <a:off x="1234440" y="1216152"/>
            <a:ext cx="4023360" cy="457200"/>
          </a:xfrm>
          <a:prstGeom prst="rect">
            <a:avLst/>
          </a:prstGeom>
          <a:solidFill>
            <a:srgbClr val="4F4F4F"/>
          </a:solidFill>
          <a:ln w="19050">
            <a:solidFill>
              <a:srgbClr val="FFFFFF"/>
            </a:solidFill>
          </a:ln>
          <a:effectLst/>
        </p:spPr>
        <p:txBody>
          <a:bodyPr rtlCol="0" anchor="ctr" wrap="square" tIns="27432" bIns="27432">
            <a:noAutofit/>
          </a:bodyPr>
          <a:lstStyle/>
          <a:p>
            <a:pPr algn="ctr">
              <a:spcBef>
                <a:spcPts val="0"/>
              </a:spcBef>
              <a:spcAft>
                <a:spcPts val="0"/>
              </a:spcAft>
            </a:pPr>
            <a:r>
              <a:rPr lang="tr-TR" sz="1700" b="1" i="0">
                <a:solidFill>
                  <a:srgbClr val="FFFFFF"/>
                </a:solidFill>
                <a:latin typeface="Calibri"/>
              </a:rPr>
              <a:t>Seçenekte ne deniyor?</a:t>
            </a:r>
          </a:p>
        </p:txBody>
      </p:sp>
      <p:sp>
        <p:nvSpPr>
          <p:cNvPr id="8" name="Rectangle 7"/>
          <p:cNvSpPr/>
          <p:nvPr/>
        </p:nvSpPr>
        <p:spPr>
          <a:xfrm>
            <a:off x="5257800" y="1216152"/>
            <a:ext cx="6430975" cy="457200"/>
          </a:xfrm>
          <a:prstGeom prst="rect">
            <a:avLst/>
          </a:prstGeom>
          <a:solidFill>
            <a:srgbClr val="4F4F4F"/>
          </a:solidFill>
          <a:ln w="19050">
            <a:solidFill>
              <a:srgbClr val="FFFFFF"/>
            </a:solidFill>
          </a:ln>
          <a:effectLst/>
        </p:spPr>
        <p:txBody>
          <a:bodyPr rtlCol="0" anchor="ctr" wrap="square" tIns="27432" bIns="27432">
            <a:noAutofit/>
          </a:bodyPr>
          <a:lstStyle/>
          <a:p>
            <a:pPr algn="ctr">
              <a:spcBef>
                <a:spcPts val="0"/>
              </a:spcBef>
              <a:spcAft>
                <a:spcPts val="0"/>
              </a:spcAft>
            </a:pPr>
            <a:r>
              <a:rPr lang="tr-TR" sz="1700" b="1" i="0">
                <a:solidFill>
                  <a:srgbClr val="FFFFFF"/>
                </a:solidFill>
                <a:latin typeface="Calibri"/>
              </a:rPr>
              <a:t>Neden yanlış? (kitaba göre)</a:t>
            </a:r>
          </a:p>
        </p:txBody>
      </p:sp>
      <p:sp>
        <p:nvSpPr>
          <p:cNvPr id="9" name="Rectangle 8"/>
          <p:cNvSpPr/>
          <p:nvPr/>
        </p:nvSpPr>
        <p:spPr>
          <a:xfrm>
            <a:off x="502920" y="1673352"/>
            <a:ext cx="731520" cy="1154430"/>
          </a:xfrm>
          <a:prstGeom prst="rect">
            <a:avLst/>
          </a:prstGeom>
          <a:solidFill>
            <a:srgbClr val="F9E1E1"/>
          </a:solidFill>
          <a:ln w="19050">
            <a:solidFill>
              <a:srgbClr val="FFFFFF"/>
            </a:solidFill>
          </a:ln>
          <a:effectLst/>
        </p:spPr>
        <p:txBody>
          <a:bodyPr rtlCol="0" anchor="ctr" wrap="square" tIns="27432" bIns="27432">
            <a:noAutofit/>
          </a:bodyPr>
          <a:lstStyle/>
          <a:p>
            <a:pPr algn="ctr">
              <a:spcBef>
                <a:spcPts val="0"/>
              </a:spcBef>
              <a:spcAft>
                <a:spcPts val="0"/>
              </a:spcAft>
            </a:pPr>
          </a:p>
        </p:txBody>
      </p:sp>
      <p:sp>
        <p:nvSpPr>
          <p:cNvPr id="10" name="Oval 9"/>
          <p:cNvSpPr/>
          <p:nvPr/>
        </p:nvSpPr>
        <p:spPr>
          <a:xfrm>
            <a:off x="630936" y="2012823"/>
            <a:ext cx="475488" cy="475488"/>
          </a:xfrm>
          <a:prstGeom prst="ellipse">
            <a:avLst/>
          </a:prstGeom>
          <a:solidFill>
            <a:srgbClr val="D3373A"/>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B</a:t>
            </a:r>
          </a:p>
        </p:txBody>
      </p:sp>
      <p:sp>
        <p:nvSpPr>
          <p:cNvPr id="11" name="Rectangle 10"/>
          <p:cNvSpPr/>
          <p:nvPr/>
        </p:nvSpPr>
        <p:spPr>
          <a:xfrm>
            <a:off x="1234440" y="1673352"/>
            <a:ext cx="4023360" cy="1154430"/>
          </a:xfrm>
          <a:prstGeom prst="rect">
            <a:avLst/>
          </a:prstGeom>
          <a:solidFill>
            <a:srgbClr val="F9E1E1"/>
          </a:solidFill>
          <a:ln w="19050">
            <a:solidFill>
              <a:srgbClr val="FFFFFF"/>
            </a:solidFill>
          </a:ln>
          <a:effectLst/>
        </p:spPr>
        <p:txBody>
          <a:bodyPr rtlCol="0" anchor="ctr" wrap="square" tIns="27432" bIns="27432">
            <a:noAutofit/>
          </a:bodyPr>
          <a:lstStyle/>
          <a:p>
            <a:pPr algn="l">
              <a:spcBef>
                <a:spcPts val="0"/>
              </a:spcBef>
              <a:spcAft>
                <a:spcPts val="0"/>
              </a:spcAft>
            </a:pPr>
            <a:r>
              <a:rPr lang="tr-TR" sz="1900" b="0" i="0">
                <a:solidFill>
                  <a:srgbClr val="262626"/>
                </a:solidFill>
                <a:latin typeface="Calibri"/>
              </a:rPr>
              <a:t>Müdahale ve iyileştirme “risk”; uzun vadeli etkiler “afet”</a:t>
            </a:r>
          </a:p>
        </p:txBody>
      </p:sp>
      <p:sp>
        <p:nvSpPr>
          <p:cNvPr id="12" name="Rectangle 11"/>
          <p:cNvSpPr/>
          <p:nvPr/>
        </p:nvSpPr>
        <p:spPr>
          <a:xfrm>
            <a:off x="5257800" y="1673352"/>
            <a:ext cx="6430975" cy="1154430"/>
          </a:xfrm>
          <a:prstGeom prst="rect">
            <a:avLst/>
          </a:prstGeom>
          <a:solidFill>
            <a:srgbClr val="F9E1E1"/>
          </a:solidFill>
          <a:ln w="19050">
            <a:solidFill>
              <a:srgbClr val="FFFFFF"/>
            </a:solidFill>
          </a:ln>
          <a:effectLst/>
        </p:spPr>
        <p:txBody>
          <a:bodyPr rtlCol="0" anchor="ctr" wrap="square" tIns="27432" bIns="27432">
            <a:noAutofit/>
          </a:bodyPr>
          <a:lstStyle/>
          <a:p>
            <a:pPr algn="l">
              <a:spcBef>
                <a:spcPts val="0"/>
              </a:spcBef>
              <a:spcAft>
                <a:spcPts val="0"/>
              </a:spcAft>
            </a:pPr>
            <a:r>
              <a:rPr lang="tr-TR" sz="1900" b="0" i="0">
                <a:solidFill>
                  <a:srgbClr val="262626"/>
                </a:solidFill>
                <a:latin typeface="Calibri"/>
              </a:rPr>
              <a:t>Müdahale ve iyileştirme bütüncül afet yönetiminin aşamalarıdır (s. 202); afet can ve mal kaybına yol açan, dış yardım gerektiren olaydır (s. 191).</a:t>
            </a:r>
          </a:p>
        </p:txBody>
      </p:sp>
      <p:sp>
        <p:nvSpPr>
          <p:cNvPr id="13" name="Rectangle 12"/>
          <p:cNvSpPr/>
          <p:nvPr/>
        </p:nvSpPr>
        <p:spPr>
          <a:xfrm>
            <a:off x="502920" y="2827782"/>
            <a:ext cx="731520" cy="1154430"/>
          </a:xfrm>
          <a:prstGeom prst="rect">
            <a:avLst/>
          </a:prstGeom>
          <a:solidFill>
            <a:srgbClr val="FFFFFF"/>
          </a:solidFill>
          <a:ln w="19050">
            <a:solidFill>
              <a:srgbClr val="FFFFFF"/>
            </a:solidFill>
          </a:ln>
          <a:effectLst/>
        </p:spPr>
        <p:txBody>
          <a:bodyPr rtlCol="0" anchor="ctr" wrap="square" tIns="27432" bIns="27432">
            <a:noAutofit/>
          </a:bodyPr>
          <a:lstStyle/>
          <a:p>
            <a:pPr algn="ctr">
              <a:spcBef>
                <a:spcPts val="0"/>
              </a:spcBef>
              <a:spcAft>
                <a:spcPts val="0"/>
              </a:spcAft>
            </a:pPr>
          </a:p>
        </p:txBody>
      </p:sp>
      <p:sp>
        <p:nvSpPr>
          <p:cNvPr id="14" name="Oval 13"/>
          <p:cNvSpPr/>
          <p:nvPr/>
        </p:nvSpPr>
        <p:spPr>
          <a:xfrm>
            <a:off x="630936" y="3167253"/>
            <a:ext cx="475488" cy="475488"/>
          </a:xfrm>
          <a:prstGeom prst="ellipse">
            <a:avLst/>
          </a:prstGeom>
          <a:solidFill>
            <a:srgbClr val="D3373A"/>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C</a:t>
            </a:r>
          </a:p>
        </p:txBody>
      </p:sp>
      <p:sp>
        <p:nvSpPr>
          <p:cNvPr id="15" name="Rectangle 14"/>
          <p:cNvSpPr/>
          <p:nvPr/>
        </p:nvSpPr>
        <p:spPr>
          <a:xfrm>
            <a:off x="1234440" y="2827782"/>
            <a:ext cx="4023360" cy="1154430"/>
          </a:xfrm>
          <a:prstGeom prst="rect">
            <a:avLst/>
          </a:prstGeom>
          <a:solidFill>
            <a:srgbClr val="FFFFFF"/>
          </a:solidFill>
          <a:ln w="19050">
            <a:solidFill>
              <a:srgbClr val="FFFFFF"/>
            </a:solidFill>
          </a:ln>
          <a:effectLst/>
        </p:spPr>
        <p:txBody>
          <a:bodyPr rtlCol="0" anchor="ctr" wrap="square" tIns="27432" bIns="27432">
            <a:noAutofit/>
          </a:bodyPr>
          <a:lstStyle/>
          <a:p>
            <a:pPr algn="l">
              <a:spcBef>
                <a:spcPts val="0"/>
              </a:spcBef>
              <a:spcAft>
                <a:spcPts val="0"/>
              </a:spcAft>
            </a:pPr>
            <a:r>
              <a:rPr lang="tr-TR" sz="1900" b="0" i="0">
                <a:solidFill>
                  <a:srgbClr val="262626"/>
                </a:solidFill>
                <a:latin typeface="Calibri"/>
              </a:rPr>
              <a:t>Toprak kaymasının sonuçları “tehlike”; hazırlık “afet”</a:t>
            </a:r>
          </a:p>
        </p:txBody>
      </p:sp>
      <p:sp>
        <p:nvSpPr>
          <p:cNvPr id="16" name="Rectangle 15"/>
          <p:cNvSpPr/>
          <p:nvPr/>
        </p:nvSpPr>
        <p:spPr>
          <a:xfrm>
            <a:off x="5257800" y="2827782"/>
            <a:ext cx="6430975" cy="1154430"/>
          </a:xfrm>
          <a:prstGeom prst="rect">
            <a:avLst/>
          </a:prstGeom>
          <a:solidFill>
            <a:srgbClr val="FFFFFF"/>
          </a:solidFill>
          <a:ln w="19050">
            <a:solidFill>
              <a:srgbClr val="FFFFFF"/>
            </a:solidFill>
          </a:ln>
          <a:effectLst/>
        </p:spPr>
        <p:txBody>
          <a:bodyPr rtlCol="0" anchor="ctr" wrap="square" tIns="27432" bIns="27432">
            <a:noAutofit/>
          </a:bodyPr>
          <a:lstStyle/>
          <a:p>
            <a:pPr algn="l">
              <a:spcBef>
                <a:spcPts val="0"/>
              </a:spcBef>
              <a:spcAft>
                <a:spcPts val="0"/>
              </a:spcAft>
            </a:pPr>
            <a:r>
              <a:rPr lang="tr-TR" sz="1900" b="0" i="0">
                <a:solidFill>
                  <a:srgbClr val="262626"/>
                </a:solidFill>
                <a:latin typeface="Calibri"/>
              </a:rPr>
              <a:t>Tehlike bir sonuç değil, olumsuz etkileme potansiyelidir (s. 190); hazırlık, hazırlıklı olma aşamasıdır (s. 202).</a:t>
            </a:r>
          </a:p>
        </p:txBody>
      </p:sp>
      <p:sp>
        <p:nvSpPr>
          <p:cNvPr id="17" name="Rectangle 16"/>
          <p:cNvSpPr/>
          <p:nvPr/>
        </p:nvSpPr>
        <p:spPr>
          <a:xfrm>
            <a:off x="502920" y="3982212"/>
            <a:ext cx="731520" cy="1154430"/>
          </a:xfrm>
          <a:prstGeom prst="rect">
            <a:avLst/>
          </a:prstGeom>
          <a:solidFill>
            <a:srgbClr val="F9E1E1"/>
          </a:solidFill>
          <a:ln w="19050">
            <a:solidFill>
              <a:srgbClr val="FFFFFF"/>
            </a:solidFill>
          </a:ln>
          <a:effectLst/>
        </p:spPr>
        <p:txBody>
          <a:bodyPr rtlCol="0" anchor="ctr" wrap="square" tIns="27432" bIns="27432">
            <a:noAutofit/>
          </a:bodyPr>
          <a:lstStyle/>
          <a:p>
            <a:pPr algn="ctr">
              <a:spcBef>
                <a:spcPts val="0"/>
              </a:spcBef>
              <a:spcAft>
                <a:spcPts val="0"/>
              </a:spcAft>
            </a:pPr>
          </a:p>
        </p:txBody>
      </p:sp>
      <p:sp>
        <p:nvSpPr>
          <p:cNvPr id="18" name="Oval 17"/>
          <p:cNvSpPr/>
          <p:nvPr/>
        </p:nvSpPr>
        <p:spPr>
          <a:xfrm>
            <a:off x="630936" y="4321683"/>
            <a:ext cx="475488" cy="475488"/>
          </a:xfrm>
          <a:prstGeom prst="ellipse">
            <a:avLst/>
          </a:prstGeom>
          <a:solidFill>
            <a:srgbClr val="D3373A"/>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D</a:t>
            </a:r>
          </a:p>
        </p:txBody>
      </p:sp>
      <p:sp>
        <p:nvSpPr>
          <p:cNvPr id="19" name="Rectangle 18"/>
          <p:cNvSpPr/>
          <p:nvPr/>
        </p:nvSpPr>
        <p:spPr>
          <a:xfrm>
            <a:off x="1234440" y="3982212"/>
            <a:ext cx="4023360" cy="1154430"/>
          </a:xfrm>
          <a:prstGeom prst="rect">
            <a:avLst/>
          </a:prstGeom>
          <a:solidFill>
            <a:srgbClr val="F9E1E1"/>
          </a:solidFill>
          <a:ln w="19050">
            <a:solidFill>
              <a:srgbClr val="FFFFFF"/>
            </a:solidFill>
          </a:ln>
          <a:effectLst/>
        </p:spPr>
        <p:txBody>
          <a:bodyPr rtlCol="0" anchor="ctr" wrap="square" tIns="27432" bIns="27432">
            <a:noAutofit/>
          </a:bodyPr>
          <a:lstStyle/>
          <a:p>
            <a:pPr algn="l">
              <a:spcBef>
                <a:spcPts val="0"/>
              </a:spcBef>
              <a:spcAft>
                <a:spcPts val="0"/>
              </a:spcAft>
            </a:pPr>
            <a:r>
              <a:rPr lang="tr-TR" sz="1900" b="0" i="0">
                <a:solidFill>
                  <a:srgbClr val="262626"/>
                </a:solidFill>
                <a:latin typeface="Calibri"/>
              </a:rPr>
              <a:t>Savunmasızlık “tehlike”; ekonomik kayıplar “risk”; olasılık “afet”</a:t>
            </a:r>
          </a:p>
        </p:txBody>
      </p:sp>
      <p:sp>
        <p:nvSpPr>
          <p:cNvPr id="20" name="Rectangle 19"/>
          <p:cNvSpPr/>
          <p:nvPr/>
        </p:nvSpPr>
        <p:spPr>
          <a:xfrm>
            <a:off x="5257800" y="3982212"/>
            <a:ext cx="6430975" cy="1154430"/>
          </a:xfrm>
          <a:prstGeom prst="rect">
            <a:avLst/>
          </a:prstGeom>
          <a:solidFill>
            <a:srgbClr val="F9E1E1"/>
          </a:solidFill>
          <a:ln w="19050">
            <a:solidFill>
              <a:srgbClr val="FFFFFF"/>
            </a:solidFill>
          </a:ln>
          <a:effectLst/>
        </p:spPr>
        <p:txBody>
          <a:bodyPr rtlCol="0" anchor="ctr" wrap="square" tIns="27432" bIns="27432">
            <a:noAutofit/>
          </a:bodyPr>
          <a:lstStyle/>
          <a:p>
            <a:pPr algn="l">
              <a:spcBef>
                <a:spcPts val="0"/>
              </a:spcBef>
              <a:spcAft>
                <a:spcPts val="0"/>
              </a:spcAft>
            </a:pPr>
            <a:r>
              <a:rPr lang="tr-TR" sz="1900" b="0" i="0">
                <a:solidFill>
                  <a:srgbClr val="262626"/>
                </a:solidFill>
                <a:latin typeface="Calibri"/>
              </a:rPr>
              <a:t>Savunmasızlık güvenlik açığıdır, riski oluşturur; olasılık riskin, can ve mal kaybı afetin tanımında yer alır (s. 191).</a:t>
            </a:r>
          </a:p>
        </p:txBody>
      </p:sp>
      <p:sp>
        <p:nvSpPr>
          <p:cNvPr id="21" name="Rectangle 20"/>
          <p:cNvSpPr/>
          <p:nvPr/>
        </p:nvSpPr>
        <p:spPr>
          <a:xfrm>
            <a:off x="502920" y="5136642"/>
            <a:ext cx="731520" cy="1154430"/>
          </a:xfrm>
          <a:prstGeom prst="rect">
            <a:avLst/>
          </a:prstGeom>
          <a:solidFill>
            <a:srgbClr val="FFFFFF"/>
          </a:solidFill>
          <a:ln w="19050">
            <a:solidFill>
              <a:srgbClr val="FFFFFF"/>
            </a:solidFill>
          </a:ln>
          <a:effectLst/>
        </p:spPr>
        <p:txBody>
          <a:bodyPr rtlCol="0" anchor="ctr" wrap="square" tIns="27432" bIns="27432">
            <a:noAutofit/>
          </a:bodyPr>
          <a:lstStyle/>
          <a:p>
            <a:pPr algn="ctr">
              <a:spcBef>
                <a:spcPts val="0"/>
              </a:spcBef>
              <a:spcAft>
                <a:spcPts val="0"/>
              </a:spcAft>
            </a:pPr>
          </a:p>
        </p:txBody>
      </p:sp>
      <p:sp>
        <p:nvSpPr>
          <p:cNvPr id="22" name="Oval 21"/>
          <p:cNvSpPr/>
          <p:nvPr/>
        </p:nvSpPr>
        <p:spPr>
          <a:xfrm>
            <a:off x="630936" y="5476113"/>
            <a:ext cx="475488" cy="475488"/>
          </a:xfrm>
          <a:prstGeom prst="ellipse">
            <a:avLst/>
          </a:prstGeom>
          <a:solidFill>
            <a:srgbClr val="D3373A"/>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E</a:t>
            </a:r>
          </a:p>
        </p:txBody>
      </p:sp>
      <p:sp>
        <p:nvSpPr>
          <p:cNvPr id="23" name="Rectangle 22"/>
          <p:cNvSpPr/>
          <p:nvPr/>
        </p:nvSpPr>
        <p:spPr>
          <a:xfrm>
            <a:off x="1234440" y="5136642"/>
            <a:ext cx="4023360" cy="1154430"/>
          </a:xfrm>
          <a:prstGeom prst="rect">
            <a:avLst/>
          </a:prstGeom>
          <a:solidFill>
            <a:srgbClr val="FFFFFF"/>
          </a:solidFill>
          <a:ln w="19050">
            <a:solidFill>
              <a:srgbClr val="FFFFFF"/>
            </a:solidFill>
          </a:ln>
          <a:effectLst/>
        </p:spPr>
        <p:txBody>
          <a:bodyPr rtlCol="0" anchor="ctr" wrap="square" tIns="27432" bIns="27432">
            <a:noAutofit/>
          </a:bodyPr>
          <a:lstStyle/>
          <a:p>
            <a:pPr algn="l">
              <a:spcBef>
                <a:spcPts val="0"/>
              </a:spcBef>
              <a:spcAft>
                <a:spcPts val="0"/>
              </a:spcAft>
            </a:pPr>
            <a:r>
              <a:rPr lang="tr-TR" sz="1900" b="0" i="0">
                <a:solidFill>
                  <a:srgbClr val="262626"/>
                </a:solidFill>
                <a:latin typeface="Calibri"/>
              </a:rPr>
              <a:t>Alınan tedbirler “tehlike”; iyileştirme çalışmaları “afet”</a:t>
            </a:r>
          </a:p>
        </p:txBody>
      </p:sp>
      <p:sp>
        <p:nvSpPr>
          <p:cNvPr id="24" name="Rectangle 23"/>
          <p:cNvSpPr/>
          <p:nvPr/>
        </p:nvSpPr>
        <p:spPr>
          <a:xfrm>
            <a:off x="5257800" y="5136642"/>
            <a:ext cx="6430975" cy="1154430"/>
          </a:xfrm>
          <a:prstGeom prst="rect">
            <a:avLst/>
          </a:prstGeom>
          <a:solidFill>
            <a:srgbClr val="FFFFFF"/>
          </a:solidFill>
          <a:ln w="19050">
            <a:solidFill>
              <a:srgbClr val="FFFFFF"/>
            </a:solidFill>
          </a:ln>
          <a:effectLst/>
        </p:spPr>
        <p:txBody>
          <a:bodyPr rtlCol="0" anchor="ctr" wrap="square" tIns="27432" bIns="27432">
            <a:noAutofit/>
          </a:bodyPr>
          <a:lstStyle/>
          <a:p>
            <a:pPr algn="l">
              <a:spcBef>
                <a:spcPts val="0"/>
              </a:spcBef>
              <a:spcAft>
                <a:spcPts val="0"/>
              </a:spcAft>
            </a:pPr>
            <a:r>
              <a:rPr lang="tr-TR" sz="1900" b="0" i="0">
                <a:solidFill>
                  <a:srgbClr val="262626"/>
                </a:solidFill>
                <a:latin typeface="Calibri"/>
              </a:rPr>
              <a:t>Tedbirler riski azaltır (risk ve zarar azaltma, s. 202); iyileştirme afetten sonraki aşamadır (s. 202).</a:t>
            </a:r>
          </a:p>
        </p:txBody>
      </p:sp>
      <p:sp>
        <p:nvSpPr>
          <p:cNvPr id="25" name="TextBox 24"/>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26" name="Rounded Rectangle 25"/>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190-191, 202</a:t>
            </a:r>
          </a:p>
        </p:txBody>
      </p:sp>
      <p:sp>
        <p:nvSpPr>
          <p:cNvPr id="27" name="TextBox 26"/>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226 / 250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Ünite ölçme: 2. soru</a:t>
            </a:r>
          </a:p>
        </p:txBody>
      </p:sp>
      <p:sp>
        <p:nvSpPr>
          <p:cNvPr id="5" name="Rounded Rectangle 4"/>
          <p:cNvSpPr/>
          <p:nvPr/>
        </p:nvSpPr>
        <p:spPr>
          <a:xfrm>
            <a:off x="9555480" y="201168"/>
            <a:ext cx="2221992" cy="475488"/>
          </a:xfrm>
          <a:prstGeom prst="roundRect">
            <a:avLst>
              <a:gd name="adj" fmla="val 50000"/>
            </a:avLst>
          </a:prstGeom>
          <a:solidFill>
            <a:srgbClr val="D3373A"/>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SORU 2</a:t>
            </a:r>
          </a:p>
        </p:txBody>
      </p:sp>
      <p:sp>
        <p:nvSpPr>
          <p:cNvPr id="6" name="Rounded Rectangle 5"/>
          <p:cNvSpPr/>
          <p:nvPr/>
        </p:nvSpPr>
        <p:spPr>
          <a:xfrm>
            <a:off x="502920" y="1216152"/>
            <a:ext cx="11185855" cy="1051560"/>
          </a:xfrm>
          <a:prstGeom prst="roundRect">
            <a:avLst>
              <a:gd name="adj" fmla="val 6000"/>
            </a:avLst>
          </a:prstGeom>
          <a:solidFill>
            <a:srgbClr val="FFF3D1"/>
          </a:solidFill>
          <a:ln>
            <a:noFill/>
          </a:ln>
          <a:effectLst/>
        </p:spPr>
        <p:txBody>
          <a:bodyPr rtlCol="0" anchor="ctr"/>
          <a:lstStyle/>
          <a:p/>
        </p:txBody>
      </p:sp>
      <p:sp>
        <p:nvSpPr>
          <p:cNvPr id="7" name="Oval 6"/>
          <p:cNvSpPr/>
          <p:nvPr/>
        </p:nvSpPr>
        <p:spPr>
          <a:xfrm>
            <a:off x="640080" y="1353312"/>
            <a:ext cx="566928" cy="566928"/>
          </a:xfrm>
          <a:prstGeom prst="ellipse">
            <a:avLst/>
          </a:prstGeom>
          <a:solidFill>
            <a:srgbClr val="D3373A"/>
          </a:solidFill>
          <a:ln>
            <a:noFill/>
          </a:ln>
          <a:effectLst/>
        </p:spPr>
        <p:txBody>
          <a:bodyPr rtlCol="0" anchor="ctr" wrap="none" lIns="0" rIns="0" tIns="0" bIns="0">
            <a:noAutofit/>
          </a:bodyPr>
          <a:lstStyle/>
          <a:p>
            <a:pPr algn="ctr">
              <a:spcBef>
                <a:spcPts val="0"/>
              </a:spcBef>
              <a:spcAft>
                <a:spcPts val="0"/>
              </a:spcAft>
            </a:pPr>
            <a:r>
              <a:rPr lang="tr-TR" sz="2200" b="1" i="0">
                <a:solidFill>
                  <a:srgbClr val="FFFFFF"/>
                </a:solidFill>
                <a:latin typeface="Calibri"/>
              </a:rPr>
              <a:t>2</a:t>
            </a:r>
          </a:p>
        </p:txBody>
      </p:sp>
      <p:sp>
        <p:nvSpPr>
          <p:cNvPr id="8" name="TextBox 7"/>
          <p:cNvSpPr txBox="1"/>
          <p:nvPr/>
        </p:nvSpPr>
        <p:spPr>
          <a:xfrm>
            <a:off x="1325880" y="1289304"/>
            <a:ext cx="10271455" cy="905256"/>
          </a:xfrm>
          <a:prstGeom prst="rect">
            <a:avLst/>
          </a:prstGeom>
          <a:noFill/>
        </p:spPr>
        <p:txBody>
          <a:bodyPr wrap="square" anchor="ctr" lIns="73152" rIns="73152" tIns="36576" bIns="36576">
            <a:noAutofit/>
          </a:bodyPr>
          <a:lstStyle/>
          <a:p>
            <a:pPr algn="l">
              <a:spcBef>
                <a:spcPts val="0"/>
              </a:spcBef>
              <a:spcAft>
                <a:spcPts val="0"/>
              </a:spcAft>
            </a:pPr>
            <a:r>
              <a:rPr lang="tr-TR" sz="2650" b="1" i="0">
                <a:solidFill>
                  <a:srgbClr val="262626"/>
                </a:solidFill>
                <a:latin typeface="Calibri"/>
              </a:rPr>
              <a:t>Bütüncül afet yönetimine göre bu olayda yapılması gerekenler nelerdir? Açıklayınız.</a:t>
            </a:r>
          </a:p>
        </p:txBody>
      </p:sp>
      <p:sp>
        <p:nvSpPr>
          <p:cNvPr id="9" name="Rounded Rectangle 8"/>
          <p:cNvSpPr/>
          <p:nvPr/>
        </p:nvSpPr>
        <p:spPr>
          <a:xfrm>
            <a:off x="502920" y="2432304"/>
            <a:ext cx="2673019" cy="3291840"/>
          </a:xfrm>
          <a:prstGeom prst="roundRect">
            <a:avLst>
              <a:gd name="adj" fmla="val 5000"/>
            </a:avLst>
          </a:prstGeom>
          <a:solidFill>
            <a:srgbClr val="F0F0F0"/>
          </a:solidFill>
          <a:ln>
            <a:noFill/>
          </a:ln>
          <a:effectLst/>
        </p:spPr>
        <p:txBody>
          <a:bodyPr rtlCol="0" anchor="ctr"/>
          <a:lstStyle/>
          <a:p/>
        </p:txBody>
      </p:sp>
      <p:sp>
        <p:nvSpPr>
          <p:cNvPr id="10" name="Rounded Rectangle 9"/>
          <p:cNvSpPr/>
          <p:nvPr/>
        </p:nvSpPr>
        <p:spPr>
          <a:xfrm>
            <a:off x="502920" y="2432304"/>
            <a:ext cx="2673019" cy="548640"/>
          </a:xfrm>
          <a:prstGeom prst="roundRect">
            <a:avLst>
              <a:gd name="adj" fmla="val 25000"/>
            </a:avLst>
          </a:prstGeom>
          <a:solidFill>
            <a:srgbClr val="1F86BF"/>
          </a:solidFill>
          <a:ln>
            <a:noFill/>
          </a:ln>
          <a:effectLst/>
        </p:spPr>
        <p:txBody>
          <a:bodyPr rtlCol="0" anchor="ctr"/>
          <a:lstStyle/>
          <a:p/>
        </p:txBody>
      </p:sp>
      <p:sp>
        <p:nvSpPr>
          <p:cNvPr id="11" name="Rectangle 10"/>
          <p:cNvSpPr/>
          <p:nvPr/>
        </p:nvSpPr>
        <p:spPr>
          <a:xfrm>
            <a:off x="502920" y="2706624"/>
            <a:ext cx="2673019" cy="274320"/>
          </a:xfrm>
          <a:prstGeom prst="rect">
            <a:avLst/>
          </a:prstGeom>
          <a:solidFill>
            <a:srgbClr val="1F86BF"/>
          </a:solidFill>
          <a:ln>
            <a:noFill/>
          </a:ln>
          <a:effectLst/>
        </p:spPr>
        <p:txBody>
          <a:bodyPr rtlCol="0" anchor="ctr"/>
          <a:lstStyle/>
          <a:p/>
        </p:txBody>
      </p:sp>
      <p:sp>
        <p:nvSpPr>
          <p:cNvPr id="12" name="TextBox 11"/>
          <p:cNvSpPr txBox="1"/>
          <p:nvPr/>
        </p:nvSpPr>
        <p:spPr>
          <a:xfrm>
            <a:off x="594360" y="2432304"/>
            <a:ext cx="2490139" cy="548640"/>
          </a:xfrm>
          <a:prstGeom prst="rect">
            <a:avLst/>
          </a:prstGeom>
          <a:noFill/>
        </p:spPr>
        <p:txBody>
          <a:bodyPr wrap="square" anchor="ctr" lIns="73152" rIns="73152" tIns="36576" bIns="36576">
            <a:noAutofit/>
          </a:bodyPr>
          <a:lstStyle/>
          <a:p>
            <a:pPr algn="ctr">
              <a:spcBef>
                <a:spcPts val="0"/>
              </a:spcBef>
              <a:spcAft>
                <a:spcPts val="0"/>
              </a:spcAft>
            </a:pPr>
            <a:r>
              <a:rPr lang="tr-TR" sz="1800" b="1" i="0">
                <a:solidFill>
                  <a:srgbClr val="FFFFFF"/>
                </a:solidFill>
                <a:latin typeface="Calibri"/>
              </a:rPr>
              <a:t>Risk ve zarar azaltma</a:t>
            </a:r>
          </a:p>
        </p:txBody>
      </p:sp>
      <p:sp>
        <p:nvSpPr>
          <p:cNvPr id="13" name="TextBox 12"/>
          <p:cNvSpPr txBox="1"/>
          <p:nvPr/>
        </p:nvSpPr>
        <p:spPr>
          <a:xfrm>
            <a:off x="594360" y="2999232"/>
            <a:ext cx="2490139" cy="329184"/>
          </a:xfrm>
          <a:prstGeom prst="rect">
            <a:avLst/>
          </a:prstGeom>
          <a:noFill/>
        </p:spPr>
        <p:txBody>
          <a:bodyPr wrap="square" anchor="t" lIns="73152" rIns="73152" tIns="36576" bIns="36576">
            <a:noAutofit/>
          </a:bodyPr>
          <a:lstStyle/>
          <a:p>
            <a:pPr algn="ctr">
              <a:spcBef>
                <a:spcPts val="0"/>
              </a:spcBef>
              <a:spcAft>
                <a:spcPts val="0"/>
              </a:spcAft>
            </a:pPr>
            <a:r>
              <a:rPr lang="tr-TR" sz="1500" b="1" i="0">
                <a:solidFill>
                  <a:srgbClr val="1F86BF"/>
                </a:solidFill>
                <a:latin typeface="Calibri"/>
              </a:rPr>
              <a:t>Afet öncesi</a:t>
            </a:r>
          </a:p>
        </p:txBody>
      </p:sp>
      <p:sp>
        <p:nvSpPr>
          <p:cNvPr id="14" name="TextBox 13"/>
          <p:cNvSpPr txBox="1"/>
          <p:nvPr/>
        </p:nvSpPr>
        <p:spPr>
          <a:xfrm>
            <a:off x="612648" y="3328416"/>
            <a:ext cx="2453563" cy="2331720"/>
          </a:xfrm>
          <a:prstGeom prst="rect">
            <a:avLst/>
          </a:prstGeom>
          <a:noFill/>
        </p:spPr>
        <p:txBody>
          <a:bodyPr wrap="square" anchor="ctr" lIns="73152" rIns="73152" tIns="36576" bIns="36576">
            <a:noAutofit/>
          </a:bodyPr>
          <a:lstStyle/>
          <a:p>
            <a:pPr algn="ctr">
              <a:spcBef>
                <a:spcPts val="0"/>
              </a:spcBef>
              <a:spcAft>
                <a:spcPts val="0"/>
              </a:spcAft>
            </a:pPr>
            <a:r>
              <a:rPr lang="tr-TR" sz="2200" b="0" i="0">
                <a:solidFill>
                  <a:srgbClr val="262626"/>
                </a:solidFill>
                <a:latin typeface="Calibri"/>
              </a:rPr>
              <a:t>Bu olay önceden nasıl önlenebilirdi?</a:t>
            </a:r>
          </a:p>
        </p:txBody>
      </p:sp>
      <p:sp>
        <p:nvSpPr>
          <p:cNvPr id="15" name="Rounded Rectangle 14"/>
          <p:cNvSpPr/>
          <p:nvPr/>
        </p:nvSpPr>
        <p:spPr>
          <a:xfrm>
            <a:off x="3340531" y="2432304"/>
            <a:ext cx="2673019" cy="3291840"/>
          </a:xfrm>
          <a:prstGeom prst="roundRect">
            <a:avLst>
              <a:gd name="adj" fmla="val 5000"/>
            </a:avLst>
          </a:prstGeom>
          <a:solidFill>
            <a:srgbClr val="F0F0F0"/>
          </a:solidFill>
          <a:ln>
            <a:noFill/>
          </a:ln>
          <a:effectLst/>
        </p:spPr>
        <p:txBody>
          <a:bodyPr rtlCol="0" anchor="ctr"/>
          <a:lstStyle/>
          <a:p/>
        </p:txBody>
      </p:sp>
      <p:sp>
        <p:nvSpPr>
          <p:cNvPr id="16" name="Rounded Rectangle 15"/>
          <p:cNvSpPr/>
          <p:nvPr/>
        </p:nvSpPr>
        <p:spPr>
          <a:xfrm>
            <a:off x="3340531" y="2432304"/>
            <a:ext cx="2673019" cy="548640"/>
          </a:xfrm>
          <a:prstGeom prst="roundRect">
            <a:avLst>
              <a:gd name="adj" fmla="val 25000"/>
            </a:avLst>
          </a:prstGeom>
          <a:solidFill>
            <a:srgbClr val="D97316"/>
          </a:solidFill>
          <a:ln>
            <a:noFill/>
          </a:ln>
          <a:effectLst/>
        </p:spPr>
        <p:txBody>
          <a:bodyPr rtlCol="0" anchor="ctr"/>
          <a:lstStyle/>
          <a:p/>
        </p:txBody>
      </p:sp>
      <p:sp>
        <p:nvSpPr>
          <p:cNvPr id="17" name="Rectangle 16"/>
          <p:cNvSpPr/>
          <p:nvPr/>
        </p:nvSpPr>
        <p:spPr>
          <a:xfrm>
            <a:off x="3340531" y="2706624"/>
            <a:ext cx="2673019" cy="274320"/>
          </a:xfrm>
          <a:prstGeom prst="rect">
            <a:avLst/>
          </a:prstGeom>
          <a:solidFill>
            <a:srgbClr val="D97316"/>
          </a:solidFill>
          <a:ln>
            <a:noFill/>
          </a:ln>
          <a:effectLst/>
        </p:spPr>
        <p:txBody>
          <a:bodyPr rtlCol="0" anchor="ctr"/>
          <a:lstStyle/>
          <a:p/>
        </p:txBody>
      </p:sp>
      <p:sp>
        <p:nvSpPr>
          <p:cNvPr id="18" name="TextBox 17"/>
          <p:cNvSpPr txBox="1"/>
          <p:nvPr/>
        </p:nvSpPr>
        <p:spPr>
          <a:xfrm>
            <a:off x="3431971" y="2432304"/>
            <a:ext cx="2490139" cy="548640"/>
          </a:xfrm>
          <a:prstGeom prst="rect">
            <a:avLst/>
          </a:prstGeom>
          <a:noFill/>
        </p:spPr>
        <p:txBody>
          <a:bodyPr wrap="square" anchor="ctr" lIns="73152" rIns="73152" tIns="36576" bIns="36576">
            <a:noAutofit/>
          </a:bodyPr>
          <a:lstStyle/>
          <a:p>
            <a:pPr algn="ctr">
              <a:spcBef>
                <a:spcPts val="0"/>
              </a:spcBef>
              <a:spcAft>
                <a:spcPts val="0"/>
              </a:spcAft>
            </a:pPr>
            <a:r>
              <a:rPr lang="tr-TR" sz="1800" b="1" i="0">
                <a:solidFill>
                  <a:srgbClr val="FFFFFF"/>
                </a:solidFill>
                <a:latin typeface="Calibri"/>
              </a:rPr>
              <a:t>Hazırlıklı olma</a:t>
            </a:r>
          </a:p>
        </p:txBody>
      </p:sp>
      <p:sp>
        <p:nvSpPr>
          <p:cNvPr id="19" name="TextBox 18"/>
          <p:cNvSpPr txBox="1"/>
          <p:nvPr/>
        </p:nvSpPr>
        <p:spPr>
          <a:xfrm>
            <a:off x="3431971" y="2999232"/>
            <a:ext cx="2490139" cy="329184"/>
          </a:xfrm>
          <a:prstGeom prst="rect">
            <a:avLst/>
          </a:prstGeom>
          <a:noFill/>
        </p:spPr>
        <p:txBody>
          <a:bodyPr wrap="square" anchor="t" lIns="73152" rIns="73152" tIns="36576" bIns="36576">
            <a:noAutofit/>
          </a:bodyPr>
          <a:lstStyle/>
          <a:p>
            <a:pPr algn="ctr">
              <a:spcBef>
                <a:spcPts val="0"/>
              </a:spcBef>
              <a:spcAft>
                <a:spcPts val="0"/>
              </a:spcAft>
            </a:pPr>
            <a:r>
              <a:rPr lang="tr-TR" sz="1500" b="1" i="0">
                <a:solidFill>
                  <a:srgbClr val="D97316"/>
                </a:solidFill>
                <a:latin typeface="Calibri"/>
              </a:rPr>
              <a:t>Afet öncesi</a:t>
            </a:r>
          </a:p>
        </p:txBody>
      </p:sp>
      <p:sp>
        <p:nvSpPr>
          <p:cNvPr id="20" name="TextBox 19"/>
          <p:cNvSpPr txBox="1"/>
          <p:nvPr/>
        </p:nvSpPr>
        <p:spPr>
          <a:xfrm>
            <a:off x="3450259" y="3328416"/>
            <a:ext cx="2453563" cy="2331720"/>
          </a:xfrm>
          <a:prstGeom prst="rect">
            <a:avLst/>
          </a:prstGeom>
          <a:noFill/>
        </p:spPr>
        <p:txBody>
          <a:bodyPr wrap="square" anchor="ctr" lIns="73152" rIns="73152" tIns="36576" bIns="36576">
            <a:noAutofit/>
          </a:bodyPr>
          <a:lstStyle/>
          <a:p>
            <a:pPr algn="ctr">
              <a:spcBef>
                <a:spcPts val="0"/>
              </a:spcBef>
              <a:spcAft>
                <a:spcPts val="0"/>
              </a:spcAft>
            </a:pPr>
            <a:r>
              <a:rPr lang="tr-TR" sz="2200" b="0" i="0">
                <a:solidFill>
                  <a:srgbClr val="262626"/>
                </a:solidFill>
                <a:latin typeface="Calibri"/>
              </a:rPr>
              <a:t>Yağışlar başlayınca insanlar nasıl uyarılır ve nereye gider?</a:t>
            </a:r>
          </a:p>
        </p:txBody>
      </p:sp>
      <p:sp>
        <p:nvSpPr>
          <p:cNvPr id="21" name="Rounded Rectangle 20"/>
          <p:cNvSpPr/>
          <p:nvPr/>
        </p:nvSpPr>
        <p:spPr>
          <a:xfrm>
            <a:off x="6178143" y="2432304"/>
            <a:ext cx="2673019" cy="3291840"/>
          </a:xfrm>
          <a:prstGeom prst="roundRect">
            <a:avLst>
              <a:gd name="adj" fmla="val 5000"/>
            </a:avLst>
          </a:prstGeom>
          <a:solidFill>
            <a:srgbClr val="F0F0F0"/>
          </a:solidFill>
          <a:ln>
            <a:noFill/>
          </a:ln>
          <a:effectLst/>
        </p:spPr>
        <p:txBody>
          <a:bodyPr rtlCol="0" anchor="ctr"/>
          <a:lstStyle/>
          <a:p/>
        </p:txBody>
      </p:sp>
      <p:sp>
        <p:nvSpPr>
          <p:cNvPr id="22" name="Rounded Rectangle 21"/>
          <p:cNvSpPr/>
          <p:nvPr/>
        </p:nvSpPr>
        <p:spPr>
          <a:xfrm>
            <a:off x="6178143" y="2432304"/>
            <a:ext cx="2673019" cy="548640"/>
          </a:xfrm>
          <a:prstGeom prst="roundRect">
            <a:avLst>
              <a:gd name="adj" fmla="val 25000"/>
            </a:avLst>
          </a:prstGeom>
          <a:solidFill>
            <a:srgbClr val="CC3333"/>
          </a:solidFill>
          <a:ln>
            <a:noFill/>
          </a:ln>
          <a:effectLst/>
        </p:spPr>
        <p:txBody>
          <a:bodyPr rtlCol="0" anchor="ctr"/>
          <a:lstStyle/>
          <a:p/>
        </p:txBody>
      </p:sp>
      <p:sp>
        <p:nvSpPr>
          <p:cNvPr id="23" name="Rectangle 22"/>
          <p:cNvSpPr/>
          <p:nvPr/>
        </p:nvSpPr>
        <p:spPr>
          <a:xfrm>
            <a:off x="6178143" y="2706624"/>
            <a:ext cx="2673019" cy="274320"/>
          </a:xfrm>
          <a:prstGeom prst="rect">
            <a:avLst/>
          </a:prstGeom>
          <a:solidFill>
            <a:srgbClr val="CC3333"/>
          </a:solidFill>
          <a:ln>
            <a:noFill/>
          </a:ln>
          <a:effectLst/>
        </p:spPr>
        <p:txBody>
          <a:bodyPr rtlCol="0" anchor="ctr"/>
          <a:lstStyle/>
          <a:p/>
        </p:txBody>
      </p:sp>
      <p:sp>
        <p:nvSpPr>
          <p:cNvPr id="24" name="TextBox 23"/>
          <p:cNvSpPr txBox="1"/>
          <p:nvPr/>
        </p:nvSpPr>
        <p:spPr>
          <a:xfrm>
            <a:off x="6269583" y="2432304"/>
            <a:ext cx="2490139" cy="548640"/>
          </a:xfrm>
          <a:prstGeom prst="rect">
            <a:avLst/>
          </a:prstGeom>
          <a:noFill/>
        </p:spPr>
        <p:txBody>
          <a:bodyPr wrap="square" anchor="ctr" lIns="73152" rIns="73152" tIns="36576" bIns="36576">
            <a:noAutofit/>
          </a:bodyPr>
          <a:lstStyle/>
          <a:p>
            <a:pPr algn="ctr">
              <a:spcBef>
                <a:spcPts val="0"/>
              </a:spcBef>
              <a:spcAft>
                <a:spcPts val="0"/>
              </a:spcAft>
            </a:pPr>
            <a:r>
              <a:rPr lang="tr-TR" sz="1800" b="1" i="0">
                <a:solidFill>
                  <a:srgbClr val="FFFFFF"/>
                </a:solidFill>
                <a:latin typeface="Calibri"/>
              </a:rPr>
              <a:t>Müdahale</a:t>
            </a:r>
          </a:p>
        </p:txBody>
      </p:sp>
      <p:sp>
        <p:nvSpPr>
          <p:cNvPr id="25" name="TextBox 24"/>
          <p:cNvSpPr txBox="1"/>
          <p:nvPr/>
        </p:nvSpPr>
        <p:spPr>
          <a:xfrm>
            <a:off x="6269583" y="2999232"/>
            <a:ext cx="2490139" cy="329184"/>
          </a:xfrm>
          <a:prstGeom prst="rect">
            <a:avLst/>
          </a:prstGeom>
          <a:noFill/>
        </p:spPr>
        <p:txBody>
          <a:bodyPr wrap="square" anchor="t" lIns="73152" rIns="73152" tIns="36576" bIns="36576">
            <a:noAutofit/>
          </a:bodyPr>
          <a:lstStyle/>
          <a:p>
            <a:pPr algn="ctr">
              <a:spcBef>
                <a:spcPts val="0"/>
              </a:spcBef>
              <a:spcAft>
                <a:spcPts val="0"/>
              </a:spcAft>
            </a:pPr>
            <a:r>
              <a:rPr lang="tr-TR" sz="1500" b="1" i="0">
                <a:solidFill>
                  <a:srgbClr val="CC3333"/>
                </a:solidFill>
                <a:latin typeface="Calibri"/>
              </a:rPr>
              <a:t>Afet esnası</a:t>
            </a:r>
          </a:p>
        </p:txBody>
      </p:sp>
      <p:sp>
        <p:nvSpPr>
          <p:cNvPr id="26" name="TextBox 25"/>
          <p:cNvSpPr txBox="1"/>
          <p:nvPr/>
        </p:nvSpPr>
        <p:spPr>
          <a:xfrm>
            <a:off x="6287871" y="3328416"/>
            <a:ext cx="2453563" cy="2331720"/>
          </a:xfrm>
          <a:prstGeom prst="rect">
            <a:avLst/>
          </a:prstGeom>
          <a:noFill/>
        </p:spPr>
        <p:txBody>
          <a:bodyPr wrap="square" anchor="ctr" lIns="73152" rIns="73152" tIns="36576" bIns="36576">
            <a:noAutofit/>
          </a:bodyPr>
          <a:lstStyle/>
          <a:p>
            <a:pPr algn="ctr">
              <a:spcBef>
                <a:spcPts val="0"/>
              </a:spcBef>
              <a:spcAft>
                <a:spcPts val="0"/>
              </a:spcAft>
            </a:pPr>
            <a:r>
              <a:rPr lang="tr-TR" sz="2200" b="0" i="0">
                <a:solidFill>
                  <a:srgbClr val="262626"/>
                </a:solidFill>
                <a:latin typeface="Calibri"/>
              </a:rPr>
              <a:t>Toprak kaymasından hemen sonra neler yapılmalı?</a:t>
            </a:r>
          </a:p>
        </p:txBody>
      </p:sp>
      <p:sp>
        <p:nvSpPr>
          <p:cNvPr id="27" name="Rounded Rectangle 26"/>
          <p:cNvSpPr/>
          <p:nvPr/>
        </p:nvSpPr>
        <p:spPr>
          <a:xfrm>
            <a:off x="9015755" y="2432304"/>
            <a:ext cx="2673019" cy="3291840"/>
          </a:xfrm>
          <a:prstGeom prst="roundRect">
            <a:avLst>
              <a:gd name="adj" fmla="val 5000"/>
            </a:avLst>
          </a:prstGeom>
          <a:solidFill>
            <a:srgbClr val="F0F0F0"/>
          </a:solidFill>
          <a:ln>
            <a:noFill/>
          </a:ln>
          <a:effectLst/>
        </p:spPr>
        <p:txBody>
          <a:bodyPr rtlCol="0" anchor="ctr"/>
          <a:lstStyle/>
          <a:p/>
        </p:txBody>
      </p:sp>
      <p:sp>
        <p:nvSpPr>
          <p:cNvPr id="28" name="Rounded Rectangle 27"/>
          <p:cNvSpPr/>
          <p:nvPr/>
        </p:nvSpPr>
        <p:spPr>
          <a:xfrm>
            <a:off x="9015755" y="2432304"/>
            <a:ext cx="2673019" cy="548640"/>
          </a:xfrm>
          <a:prstGeom prst="roundRect">
            <a:avLst>
              <a:gd name="adj" fmla="val 25000"/>
            </a:avLst>
          </a:prstGeom>
          <a:solidFill>
            <a:srgbClr val="55992E"/>
          </a:solidFill>
          <a:ln>
            <a:noFill/>
          </a:ln>
          <a:effectLst/>
        </p:spPr>
        <p:txBody>
          <a:bodyPr rtlCol="0" anchor="ctr"/>
          <a:lstStyle/>
          <a:p/>
        </p:txBody>
      </p:sp>
      <p:sp>
        <p:nvSpPr>
          <p:cNvPr id="29" name="Rectangle 28"/>
          <p:cNvSpPr/>
          <p:nvPr/>
        </p:nvSpPr>
        <p:spPr>
          <a:xfrm>
            <a:off x="9015755" y="2706624"/>
            <a:ext cx="2673019" cy="274320"/>
          </a:xfrm>
          <a:prstGeom prst="rect">
            <a:avLst/>
          </a:prstGeom>
          <a:solidFill>
            <a:srgbClr val="55992E"/>
          </a:solidFill>
          <a:ln>
            <a:noFill/>
          </a:ln>
          <a:effectLst/>
        </p:spPr>
        <p:txBody>
          <a:bodyPr rtlCol="0" anchor="ctr"/>
          <a:lstStyle/>
          <a:p/>
        </p:txBody>
      </p:sp>
      <p:sp>
        <p:nvSpPr>
          <p:cNvPr id="30" name="TextBox 29"/>
          <p:cNvSpPr txBox="1"/>
          <p:nvPr/>
        </p:nvSpPr>
        <p:spPr>
          <a:xfrm>
            <a:off x="9107195" y="2432304"/>
            <a:ext cx="2490139" cy="548640"/>
          </a:xfrm>
          <a:prstGeom prst="rect">
            <a:avLst/>
          </a:prstGeom>
          <a:noFill/>
        </p:spPr>
        <p:txBody>
          <a:bodyPr wrap="square" anchor="ctr" lIns="73152" rIns="73152" tIns="36576" bIns="36576">
            <a:noAutofit/>
          </a:bodyPr>
          <a:lstStyle/>
          <a:p>
            <a:pPr algn="ctr">
              <a:spcBef>
                <a:spcPts val="0"/>
              </a:spcBef>
              <a:spcAft>
                <a:spcPts val="0"/>
              </a:spcAft>
            </a:pPr>
            <a:r>
              <a:rPr lang="tr-TR" sz="1800" b="1" i="0">
                <a:solidFill>
                  <a:srgbClr val="FFFFFF"/>
                </a:solidFill>
                <a:latin typeface="Calibri"/>
              </a:rPr>
              <a:t>İyileştirme</a:t>
            </a:r>
          </a:p>
        </p:txBody>
      </p:sp>
      <p:sp>
        <p:nvSpPr>
          <p:cNvPr id="31" name="TextBox 30"/>
          <p:cNvSpPr txBox="1"/>
          <p:nvPr/>
        </p:nvSpPr>
        <p:spPr>
          <a:xfrm>
            <a:off x="9107195" y="2999232"/>
            <a:ext cx="2490139" cy="329184"/>
          </a:xfrm>
          <a:prstGeom prst="rect">
            <a:avLst/>
          </a:prstGeom>
          <a:noFill/>
        </p:spPr>
        <p:txBody>
          <a:bodyPr wrap="square" anchor="t" lIns="73152" rIns="73152" tIns="36576" bIns="36576">
            <a:noAutofit/>
          </a:bodyPr>
          <a:lstStyle/>
          <a:p>
            <a:pPr algn="ctr">
              <a:spcBef>
                <a:spcPts val="0"/>
              </a:spcBef>
              <a:spcAft>
                <a:spcPts val="0"/>
              </a:spcAft>
            </a:pPr>
            <a:r>
              <a:rPr lang="tr-TR" sz="1500" b="1" i="0">
                <a:solidFill>
                  <a:srgbClr val="55992E"/>
                </a:solidFill>
                <a:latin typeface="Calibri"/>
              </a:rPr>
              <a:t>Afet sonrası</a:t>
            </a:r>
          </a:p>
        </p:txBody>
      </p:sp>
      <p:sp>
        <p:nvSpPr>
          <p:cNvPr id="32" name="TextBox 31"/>
          <p:cNvSpPr txBox="1"/>
          <p:nvPr/>
        </p:nvSpPr>
        <p:spPr>
          <a:xfrm>
            <a:off x="9125483" y="3328416"/>
            <a:ext cx="2453563" cy="2331720"/>
          </a:xfrm>
          <a:prstGeom prst="rect">
            <a:avLst/>
          </a:prstGeom>
          <a:noFill/>
        </p:spPr>
        <p:txBody>
          <a:bodyPr wrap="square" anchor="ctr" lIns="73152" rIns="73152" tIns="36576" bIns="36576">
            <a:noAutofit/>
          </a:bodyPr>
          <a:lstStyle/>
          <a:p>
            <a:pPr algn="ctr">
              <a:spcBef>
                <a:spcPts val="0"/>
              </a:spcBef>
              <a:spcAft>
                <a:spcPts val="0"/>
              </a:spcAft>
            </a:pPr>
            <a:r>
              <a:rPr lang="tr-TR" sz="2200" b="0" i="0">
                <a:solidFill>
                  <a:srgbClr val="262626"/>
                </a:solidFill>
                <a:latin typeface="Calibri"/>
              </a:rPr>
              <a:t>Bölge nasıl yeniden yaşanır hâle gelir; aynı olay nasıl önlenir?</a:t>
            </a:r>
          </a:p>
        </p:txBody>
      </p:sp>
      <p:sp>
        <p:nvSpPr>
          <p:cNvPr id="33" name="TextBox 32"/>
          <p:cNvSpPr txBox="1"/>
          <p:nvPr/>
        </p:nvSpPr>
        <p:spPr>
          <a:xfrm>
            <a:off x="502920" y="5833872"/>
            <a:ext cx="11185855" cy="457200"/>
          </a:xfrm>
          <a:prstGeom prst="rect">
            <a:avLst/>
          </a:prstGeom>
          <a:noFill/>
        </p:spPr>
        <p:txBody>
          <a:bodyPr wrap="square" anchor="ctr" lIns="73152" rIns="73152" tIns="36576" bIns="36576">
            <a:noAutofit/>
          </a:bodyPr>
          <a:lstStyle/>
          <a:p>
            <a:pPr algn="ctr">
              <a:spcBef>
                <a:spcPts val="0"/>
              </a:spcBef>
              <a:spcAft>
                <a:spcPts val="0"/>
              </a:spcAft>
            </a:pPr>
            <a:r>
              <a:rPr lang="tr-TR" sz="1700" b="0" i="1">
                <a:solidFill>
                  <a:srgbClr val="767676"/>
                </a:solidFill>
                <a:latin typeface="Calibri"/>
              </a:rPr>
              <a:t>İpucu: olayın nedeni metinde — insanların oluşturduğu toprak yığını ve inşaat kalıntıları + yağışlar</a:t>
            </a:r>
          </a:p>
        </p:txBody>
      </p:sp>
      <p:sp>
        <p:nvSpPr>
          <p:cNvPr id="34" name="TextBox 33"/>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35" name="Rounded Rectangle 34"/>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202, 210</a:t>
            </a:r>
          </a:p>
        </p:txBody>
      </p:sp>
      <p:sp>
        <p:nvSpPr>
          <p:cNvPr id="36" name="TextBox 35"/>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227 / 250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2. soru — örnek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SORU 2</a:t>
            </a:r>
          </a:p>
        </p:txBody>
      </p:sp>
      <p:sp>
        <p:nvSpPr>
          <p:cNvPr id="6" name="Rounded Rectangle 5"/>
          <p:cNvSpPr/>
          <p:nvPr/>
        </p:nvSpPr>
        <p:spPr>
          <a:xfrm>
            <a:off x="502920" y="1216152"/>
            <a:ext cx="11185855" cy="566928"/>
          </a:xfrm>
          <a:prstGeom prst="roundRect">
            <a:avLst>
              <a:gd name="adj" fmla="val 19354"/>
            </a:avLst>
          </a:prstGeom>
          <a:solidFill>
            <a:srgbClr val="F0F0F0"/>
          </a:solidFill>
          <a:ln>
            <a:noFill/>
          </a:ln>
          <a:effectLst/>
        </p:spPr>
        <p:txBody>
          <a:bodyPr rtlCol="0" anchor="ctr"/>
          <a:lstStyle/>
          <a:p/>
        </p:txBody>
      </p:sp>
      <p:sp>
        <p:nvSpPr>
          <p:cNvPr id="7" name="Oval 6"/>
          <p:cNvSpPr/>
          <p:nvPr/>
        </p:nvSpPr>
        <p:spPr>
          <a:xfrm>
            <a:off x="612648" y="1225296"/>
            <a:ext cx="548640" cy="548640"/>
          </a:xfrm>
          <a:prstGeom prst="ellipse">
            <a:avLst/>
          </a:prstGeom>
          <a:solidFill>
            <a:srgbClr val="D3373A"/>
          </a:solidFill>
          <a:ln>
            <a:noFill/>
          </a:ln>
          <a:effectLst/>
        </p:spPr>
        <p:txBody>
          <a:bodyPr rtlCol="0" anchor="ctr" wrap="none" lIns="0" rIns="0" tIns="0" bIns="0">
            <a:noAutofit/>
          </a:bodyPr>
          <a:lstStyle/>
          <a:p>
            <a:pPr algn="ctr">
              <a:spcBef>
                <a:spcPts val="0"/>
              </a:spcBef>
              <a:spcAft>
                <a:spcPts val="0"/>
              </a:spcAft>
            </a:pPr>
            <a:r>
              <a:rPr lang="tr-TR" sz="2200" b="1" i="0">
                <a:solidFill>
                  <a:srgbClr val="FFFFFF"/>
                </a:solidFill>
                <a:latin typeface="Calibri"/>
              </a:rPr>
              <a:t>2</a:t>
            </a:r>
          </a:p>
        </p:txBody>
      </p:sp>
      <p:sp>
        <p:nvSpPr>
          <p:cNvPr id="8" name="TextBox 7"/>
          <p:cNvSpPr txBox="1"/>
          <p:nvPr/>
        </p:nvSpPr>
        <p:spPr>
          <a:xfrm>
            <a:off x="1280160" y="1216152"/>
            <a:ext cx="10317175" cy="566928"/>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262626"/>
                </a:solidFill>
                <a:latin typeface="Calibri"/>
              </a:rPr>
              <a:t>Bütüncül afet yönetimine göre bu olayda yapılması gerekenler nelerdir? Açıklayınız.</a:t>
            </a:r>
          </a:p>
        </p:txBody>
      </p:sp>
      <p:sp>
        <p:nvSpPr>
          <p:cNvPr id="9" name="Rounded Rectangle 8"/>
          <p:cNvSpPr/>
          <p:nvPr/>
        </p:nvSpPr>
        <p:spPr>
          <a:xfrm>
            <a:off x="502920" y="1901952"/>
            <a:ext cx="5519775" cy="1773936"/>
          </a:xfrm>
          <a:prstGeom prst="roundRect">
            <a:avLst>
              <a:gd name="adj" fmla="val 5000"/>
            </a:avLst>
          </a:prstGeom>
          <a:solidFill>
            <a:srgbClr val="F0F0F0"/>
          </a:solidFill>
          <a:ln>
            <a:noFill/>
          </a:ln>
          <a:effectLst/>
        </p:spPr>
        <p:txBody>
          <a:bodyPr rtlCol="0" anchor="ctr"/>
          <a:lstStyle/>
          <a:p/>
        </p:txBody>
      </p:sp>
      <p:sp>
        <p:nvSpPr>
          <p:cNvPr id="10" name="Rounded Rectangle 9"/>
          <p:cNvSpPr/>
          <p:nvPr/>
        </p:nvSpPr>
        <p:spPr>
          <a:xfrm>
            <a:off x="502920" y="1901952"/>
            <a:ext cx="5519775" cy="502920"/>
          </a:xfrm>
          <a:prstGeom prst="roundRect">
            <a:avLst>
              <a:gd name="adj" fmla="val 25000"/>
            </a:avLst>
          </a:prstGeom>
          <a:solidFill>
            <a:srgbClr val="1F86BF"/>
          </a:solidFill>
          <a:ln>
            <a:noFill/>
          </a:ln>
          <a:effectLst/>
        </p:spPr>
        <p:txBody>
          <a:bodyPr rtlCol="0" anchor="ctr"/>
          <a:lstStyle/>
          <a:p/>
        </p:txBody>
      </p:sp>
      <p:sp>
        <p:nvSpPr>
          <p:cNvPr id="11" name="Rectangle 10"/>
          <p:cNvSpPr/>
          <p:nvPr/>
        </p:nvSpPr>
        <p:spPr>
          <a:xfrm>
            <a:off x="502920" y="2153412"/>
            <a:ext cx="5519775" cy="251460"/>
          </a:xfrm>
          <a:prstGeom prst="rect">
            <a:avLst/>
          </a:prstGeom>
          <a:solidFill>
            <a:srgbClr val="1F86BF"/>
          </a:solidFill>
          <a:ln>
            <a:noFill/>
          </a:ln>
          <a:effectLst/>
        </p:spPr>
        <p:txBody>
          <a:bodyPr rtlCol="0" anchor="ctr"/>
          <a:lstStyle/>
          <a:p/>
        </p:txBody>
      </p:sp>
      <p:sp>
        <p:nvSpPr>
          <p:cNvPr id="12" name="TextBox 11"/>
          <p:cNvSpPr txBox="1"/>
          <p:nvPr/>
        </p:nvSpPr>
        <p:spPr>
          <a:xfrm>
            <a:off x="594360" y="1901952"/>
            <a:ext cx="5336895" cy="502920"/>
          </a:xfrm>
          <a:prstGeom prst="rect">
            <a:avLst/>
          </a:prstGeom>
          <a:noFill/>
        </p:spPr>
        <p:txBody>
          <a:bodyPr wrap="square" anchor="ctr" lIns="73152" rIns="73152" tIns="36576" bIns="36576">
            <a:noAutofit/>
          </a:bodyPr>
          <a:lstStyle/>
          <a:p>
            <a:pPr algn="l">
              <a:spcBef>
                <a:spcPts val="0"/>
              </a:spcBef>
              <a:spcAft>
                <a:spcPts val="0"/>
              </a:spcAft>
            </a:pPr>
            <a:r>
              <a:rPr lang="tr-TR" sz="1800" b="1" i="0">
                <a:solidFill>
                  <a:srgbClr val="FFFFFF"/>
                </a:solidFill>
                <a:latin typeface="Calibri"/>
              </a:rPr>
              <a:t>Risk ve zarar azaltma · afet öncesi</a:t>
            </a:r>
          </a:p>
        </p:txBody>
      </p:sp>
      <p:sp>
        <p:nvSpPr>
          <p:cNvPr id="13" name="TextBox 12"/>
          <p:cNvSpPr txBox="1"/>
          <p:nvPr/>
        </p:nvSpPr>
        <p:spPr>
          <a:xfrm>
            <a:off x="612648" y="2478024"/>
            <a:ext cx="5300319" cy="1124712"/>
          </a:xfrm>
          <a:prstGeom prst="rect">
            <a:avLst/>
          </a:prstGeom>
          <a:noFill/>
        </p:spPr>
        <p:txBody>
          <a:bodyPr wrap="square" anchor="t" lIns="73152" rIns="73152" tIns="36576" bIns="36576">
            <a:noAutofit/>
          </a:bodyPr>
          <a:lstStyle/>
          <a:p>
            <a:pPr algn="l" marL="248620" indent="-248620">
              <a:spcBef>
                <a:spcPts val="0"/>
              </a:spcBef>
              <a:spcAft>
                <a:spcPts val="600"/>
              </a:spcAft>
            </a:pPr>
            <a:r>
              <a:rPr lang="tr-TR" sz="2000" b="1" i="0">
                <a:solidFill>
                  <a:srgbClr val="2C6696"/>
                </a:solidFill>
                <a:latin typeface="Calibri"/>
              </a:rPr>
              <a:t>•  </a:t>
            </a:r>
            <a:r>
              <a:rPr lang="tr-TR" sz="2000" b="0" i="0">
                <a:solidFill>
                  <a:srgbClr val="262626"/>
                </a:solidFill>
                <a:latin typeface="Calibri"/>
              </a:rPr>
              <a:t>Döküm alanını tehlike haritasında göstermek</a:t>
            </a:r>
          </a:p>
          <a:p>
            <a:pPr algn="l" marL="248620" indent="-248620">
              <a:spcBef>
                <a:spcPts val="0"/>
              </a:spcBef>
              <a:spcAft>
                <a:spcPts val="0"/>
              </a:spcAft>
            </a:pPr>
            <a:r>
              <a:rPr lang="tr-TR" sz="2000" b="1" i="0">
                <a:solidFill>
                  <a:srgbClr val="2C6696"/>
                </a:solidFill>
                <a:latin typeface="Calibri"/>
              </a:rPr>
              <a:t>•  </a:t>
            </a:r>
            <a:r>
              <a:rPr lang="tr-TR" sz="2000" b="0" i="0">
                <a:solidFill>
                  <a:srgbClr val="262626"/>
                </a:solidFill>
                <a:latin typeface="Calibri"/>
              </a:rPr>
              <a:t>Yerleşime yakın denetimsiz yığına yasal düzenlemeyle izin vermemek</a:t>
            </a:r>
          </a:p>
        </p:txBody>
      </p:sp>
      <p:sp>
        <p:nvSpPr>
          <p:cNvPr id="14" name="Rounded Rectangle 13"/>
          <p:cNvSpPr/>
          <p:nvPr/>
        </p:nvSpPr>
        <p:spPr>
          <a:xfrm>
            <a:off x="6168999" y="1901952"/>
            <a:ext cx="5519775" cy="1773936"/>
          </a:xfrm>
          <a:prstGeom prst="roundRect">
            <a:avLst>
              <a:gd name="adj" fmla="val 5000"/>
            </a:avLst>
          </a:prstGeom>
          <a:solidFill>
            <a:srgbClr val="F0F0F0"/>
          </a:solidFill>
          <a:ln>
            <a:noFill/>
          </a:ln>
          <a:effectLst/>
        </p:spPr>
        <p:txBody>
          <a:bodyPr rtlCol="0" anchor="ctr"/>
          <a:lstStyle/>
          <a:p/>
        </p:txBody>
      </p:sp>
      <p:sp>
        <p:nvSpPr>
          <p:cNvPr id="15" name="Rounded Rectangle 14"/>
          <p:cNvSpPr/>
          <p:nvPr/>
        </p:nvSpPr>
        <p:spPr>
          <a:xfrm>
            <a:off x="6168999" y="1901952"/>
            <a:ext cx="5519775" cy="502920"/>
          </a:xfrm>
          <a:prstGeom prst="roundRect">
            <a:avLst>
              <a:gd name="adj" fmla="val 25000"/>
            </a:avLst>
          </a:prstGeom>
          <a:solidFill>
            <a:srgbClr val="D97316"/>
          </a:solidFill>
          <a:ln>
            <a:noFill/>
          </a:ln>
          <a:effectLst/>
        </p:spPr>
        <p:txBody>
          <a:bodyPr rtlCol="0" anchor="ctr"/>
          <a:lstStyle/>
          <a:p/>
        </p:txBody>
      </p:sp>
      <p:sp>
        <p:nvSpPr>
          <p:cNvPr id="16" name="Rectangle 15"/>
          <p:cNvSpPr/>
          <p:nvPr/>
        </p:nvSpPr>
        <p:spPr>
          <a:xfrm>
            <a:off x="6168999" y="2153412"/>
            <a:ext cx="5519775" cy="251460"/>
          </a:xfrm>
          <a:prstGeom prst="rect">
            <a:avLst/>
          </a:prstGeom>
          <a:solidFill>
            <a:srgbClr val="D97316"/>
          </a:solidFill>
          <a:ln>
            <a:noFill/>
          </a:ln>
          <a:effectLst/>
        </p:spPr>
        <p:txBody>
          <a:bodyPr rtlCol="0" anchor="ctr"/>
          <a:lstStyle/>
          <a:p/>
        </p:txBody>
      </p:sp>
      <p:sp>
        <p:nvSpPr>
          <p:cNvPr id="17" name="TextBox 16"/>
          <p:cNvSpPr txBox="1"/>
          <p:nvPr/>
        </p:nvSpPr>
        <p:spPr>
          <a:xfrm>
            <a:off x="6260439" y="1901952"/>
            <a:ext cx="5336895" cy="502920"/>
          </a:xfrm>
          <a:prstGeom prst="rect">
            <a:avLst/>
          </a:prstGeom>
          <a:noFill/>
        </p:spPr>
        <p:txBody>
          <a:bodyPr wrap="square" anchor="ctr" lIns="73152" rIns="73152" tIns="36576" bIns="36576">
            <a:noAutofit/>
          </a:bodyPr>
          <a:lstStyle/>
          <a:p>
            <a:pPr algn="l">
              <a:spcBef>
                <a:spcPts val="0"/>
              </a:spcBef>
              <a:spcAft>
                <a:spcPts val="0"/>
              </a:spcAft>
            </a:pPr>
            <a:r>
              <a:rPr lang="tr-TR" sz="1800" b="1" i="0">
                <a:solidFill>
                  <a:srgbClr val="FFFFFF"/>
                </a:solidFill>
                <a:latin typeface="Calibri"/>
              </a:rPr>
              <a:t>Hazırlıklı olma · afet öncesi</a:t>
            </a:r>
          </a:p>
        </p:txBody>
      </p:sp>
      <p:sp>
        <p:nvSpPr>
          <p:cNvPr id="18" name="TextBox 17"/>
          <p:cNvSpPr txBox="1"/>
          <p:nvPr/>
        </p:nvSpPr>
        <p:spPr>
          <a:xfrm>
            <a:off x="6278727" y="2478024"/>
            <a:ext cx="5300319" cy="1124712"/>
          </a:xfrm>
          <a:prstGeom prst="rect">
            <a:avLst/>
          </a:prstGeom>
          <a:noFill/>
        </p:spPr>
        <p:txBody>
          <a:bodyPr wrap="square" anchor="t" lIns="73152" rIns="73152" tIns="36576" bIns="36576">
            <a:noAutofit/>
          </a:bodyPr>
          <a:lstStyle/>
          <a:p>
            <a:pPr algn="l" marL="248620" indent="-248620">
              <a:spcBef>
                <a:spcPts val="0"/>
              </a:spcBef>
              <a:spcAft>
                <a:spcPts val="600"/>
              </a:spcAft>
            </a:pPr>
            <a:r>
              <a:rPr lang="tr-TR" sz="2000" b="1" i="0">
                <a:solidFill>
                  <a:srgbClr val="2C6696"/>
                </a:solidFill>
                <a:latin typeface="Calibri"/>
              </a:rPr>
              <a:t>•  </a:t>
            </a:r>
            <a:r>
              <a:rPr lang="tr-TR" sz="2000" b="0" i="0">
                <a:solidFill>
                  <a:srgbClr val="262626"/>
                </a:solidFill>
                <a:latin typeface="Calibri"/>
              </a:rPr>
              <a:t>Yığını ve yağışı izleyen erken uyarı sistemi</a:t>
            </a:r>
          </a:p>
          <a:p>
            <a:pPr algn="l" marL="248620" indent="-248620">
              <a:spcBef>
                <a:spcPts val="0"/>
              </a:spcBef>
              <a:spcAft>
                <a:spcPts val="0"/>
              </a:spcAft>
            </a:pPr>
            <a:r>
              <a:rPr lang="tr-TR" sz="2000" b="1" i="0">
                <a:solidFill>
                  <a:srgbClr val="2C6696"/>
                </a:solidFill>
                <a:latin typeface="Calibri"/>
              </a:rPr>
              <a:t>•  </a:t>
            </a:r>
            <a:r>
              <a:rPr lang="tr-TR" sz="2000" b="0" i="0">
                <a:solidFill>
                  <a:srgbClr val="262626"/>
                </a:solidFill>
                <a:latin typeface="Calibri"/>
              </a:rPr>
              <a:t>Tahliye planı, toplanma merkezi, eğitim</a:t>
            </a:r>
          </a:p>
        </p:txBody>
      </p:sp>
      <p:sp>
        <p:nvSpPr>
          <p:cNvPr id="19" name="Rounded Rectangle 18"/>
          <p:cNvSpPr/>
          <p:nvPr/>
        </p:nvSpPr>
        <p:spPr>
          <a:xfrm>
            <a:off x="502920" y="3822192"/>
            <a:ext cx="5519775" cy="1773936"/>
          </a:xfrm>
          <a:prstGeom prst="roundRect">
            <a:avLst>
              <a:gd name="adj" fmla="val 5000"/>
            </a:avLst>
          </a:prstGeom>
          <a:solidFill>
            <a:srgbClr val="F0F0F0"/>
          </a:solidFill>
          <a:ln>
            <a:noFill/>
          </a:ln>
          <a:effectLst/>
        </p:spPr>
        <p:txBody>
          <a:bodyPr rtlCol="0" anchor="ctr"/>
          <a:lstStyle/>
          <a:p/>
        </p:txBody>
      </p:sp>
      <p:sp>
        <p:nvSpPr>
          <p:cNvPr id="20" name="Rounded Rectangle 19"/>
          <p:cNvSpPr/>
          <p:nvPr/>
        </p:nvSpPr>
        <p:spPr>
          <a:xfrm>
            <a:off x="502920" y="3822192"/>
            <a:ext cx="5519775" cy="502920"/>
          </a:xfrm>
          <a:prstGeom prst="roundRect">
            <a:avLst>
              <a:gd name="adj" fmla="val 25000"/>
            </a:avLst>
          </a:prstGeom>
          <a:solidFill>
            <a:srgbClr val="CC3333"/>
          </a:solidFill>
          <a:ln>
            <a:noFill/>
          </a:ln>
          <a:effectLst/>
        </p:spPr>
        <p:txBody>
          <a:bodyPr rtlCol="0" anchor="ctr"/>
          <a:lstStyle/>
          <a:p/>
        </p:txBody>
      </p:sp>
      <p:sp>
        <p:nvSpPr>
          <p:cNvPr id="21" name="Rectangle 20"/>
          <p:cNvSpPr/>
          <p:nvPr/>
        </p:nvSpPr>
        <p:spPr>
          <a:xfrm>
            <a:off x="502920" y="4073652"/>
            <a:ext cx="5519775" cy="251460"/>
          </a:xfrm>
          <a:prstGeom prst="rect">
            <a:avLst/>
          </a:prstGeom>
          <a:solidFill>
            <a:srgbClr val="CC3333"/>
          </a:solidFill>
          <a:ln>
            <a:noFill/>
          </a:ln>
          <a:effectLst/>
        </p:spPr>
        <p:txBody>
          <a:bodyPr rtlCol="0" anchor="ctr"/>
          <a:lstStyle/>
          <a:p/>
        </p:txBody>
      </p:sp>
      <p:sp>
        <p:nvSpPr>
          <p:cNvPr id="22" name="TextBox 21"/>
          <p:cNvSpPr txBox="1"/>
          <p:nvPr/>
        </p:nvSpPr>
        <p:spPr>
          <a:xfrm>
            <a:off x="594360" y="3822192"/>
            <a:ext cx="5336895" cy="502920"/>
          </a:xfrm>
          <a:prstGeom prst="rect">
            <a:avLst/>
          </a:prstGeom>
          <a:noFill/>
        </p:spPr>
        <p:txBody>
          <a:bodyPr wrap="square" anchor="ctr" lIns="73152" rIns="73152" tIns="36576" bIns="36576">
            <a:noAutofit/>
          </a:bodyPr>
          <a:lstStyle/>
          <a:p>
            <a:pPr algn="l">
              <a:spcBef>
                <a:spcPts val="0"/>
              </a:spcBef>
              <a:spcAft>
                <a:spcPts val="0"/>
              </a:spcAft>
            </a:pPr>
            <a:r>
              <a:rPr lang="tr-TR" sz="1800" b="1" i="0">
                <a:solidFill>
                  <a:srgbClr val="FFFFFF"/>
                </a:solidFill>
                <a:latin typeface="Calibri"/>
              </a:rPr>
              <a:t>Müdahale · afet esnası</a:t>
            </a:r>
          </a:p>
        </p:txBody>
      </p:sp>
      <p:sp>
        <p:nvSpPr>
          <p:cNvPr id="23" name="TextBox 22"/>
          <p:cNvSpPr txBox="1"/>
          <p:nvPr/>
        </p:nvSpPr>
        <p:spPr>
          <a:xfrm>
            <a:off x="612648" y="4398264"/>
            <a:ext cx="5300319" cy="1124712"/>
          </a:xfrm>
          <a:prstGeom prst="rect">
            <a:avLst/>
          </a:prstGeom>
          <a:noFill/>
        </p:spPr>
        <p:txBody>
          <a:bodyPr wrap="square" anchor="t" lIns="73152" rIns="73152" tIns="36576" bIns="36576">
            <a:noAutofit/>
          </a:bodyPr>
          <a:lstStyle/>
          <a:p>
            <a:pPr algn="l" marL="248620" indent="-248620">
              <a:spcBef>
                <a:spcPts val="0"/>
              </a:spcBef>
              <a:spcAft>
                <a:spcPts val="600"/>
              </a:spcAft>
            </a:pPr>
            <a:r>
              <a:rPr lang="tr-TR" sz="2000" b="1" i="0">
                <a:solidFill>
                  <a:srgbClr val="2C6696"/>
                </a:solidFill>
                <a:latin typeface="Calibri"/>
              </a:rPr>
              <a:t>•  </a:t>
            </a:r>
            <a:r>
              <a:rPr lang="tr-TR" sz="2000" b="0" i="0">
                <a:solidFill>
                  <a:srgbClr val="262626"/>
                </a:solidFill>
                <a:latin typeface="Calibri"/>
              </a:rPr>
              <a:t>Arama kurtarma; gıda, barınma, ilaç, güvenlik</a:t>
            </a:r>
          </a:p>
          <a:p>
            <a:pPr algn="l" marL="248620" indent="-248620">
              <a:spcBef>
                <a:spcPts val="0"/>
              </a:spcBef>
              <a:spcAft>
                <a:spcPts val="0"/>
              </a:spcAft>
            </a:pPr>
            <a:r>
              <a:rPr lang="tr-TR" sz="2000" b="1" i="0">
                <a:solidFill>
                  <a:srgbClr val="2C6696"/>
                </a:solidFill>
                <a:latin typeface="Calibri"/>
              </a:rPr>
              <a:t>•  </a:t>
            </a:r>
            <a:r>
              <a:rPr lang="tr-TR" sz="2000" b="0" i="0">
                <a:solidFill>
                  <a:srgbClr val="262626"/>
                </a:solidFill>
                <a:latin typeface="Calibri"/>
              </a:rPr>
              <a:t>Hasar tespiti, enkaz kaldırma; salgına karşı önlem</a:t>
            </a:r>
          </a:p>
        </p:txBody>
      </p:sp>
      <p:sp>
        <p:nvSpPr>
          <p:cNvPr id="24" name="Rounded Rectangle 23"/>
          <p:cNvSpPr/>
          <p:nvPr/>
        </p:nvSpPr>
        <p:spPr>
          <a:xfrm>
            <a:off x="6168999" y="3822192"/>
            <a:ext cx="5519775" cy="1773936"/>
          </a:xfrm>
          <a:prstGeom prst="roundRect">
            <a:avLst>
              <a:gd name="adj" fmla="val 5000"/>
            </a:avLst>
          </a:prstGeom>
          <a:solidFill>
            <a:srgbClr val="F0F0F0"/>
          </a:solidFill>
          <a:ln>
            <a:noFill/>
          </a:ln>
          <a:effectLst/>
        </p:spPr>
        <p:txBody>
          <a:bodyPr rtlCol="0" anchor="ctr"/>
          <a:lstStyle/>
          <a:p/>
        </p:txBody>
      </p:sp>
      <p:sp>
        <p:nvSpPr>
          <p:cNvPr id="25" name="Rounded Rectangle 24"/>
          <p:cNvSpPr/>
          <p:nvPr/>
        </p:nvSpPr>
        <p:spPr>
          <a:xfrm>
            <a:off x="6168999" y="3822192"/>
            <a:ext cx="5519775" cy="502920"/>
          </a:xfrm>
          <a:prstGeom prst="roundRect">
            <a:avLst>
              <a:gd name="adj" fmla="val 25000"/>
            </a:avLst>
          </a:prstGeom>
          <a:solidFill>
            <a:srgbClr val="55992E"/>
          </a:solidFill>
          <a:ln>
            <a:noFill/>
          </a:ln>
          <a:effectLst/>
        </p:spPr>
        <p:txBody>
          <a:bodyPr rtlCol="0" anchor="ctr"/>
          <a:lstStyle/>
          <a:p/>
        </p:txBody>
      </p:sp>
      <p:sp>
        <p:nvSpPr>
          <p:cNvPr id="26" name="Rectangle 25"/>
          <p:cNvSpPr/>
          <p:nvPr/>
        </p:nvSpPr>
        <p:spPr>
          <a:xfrm>
            <a:off x="6168999" y="4073652"/>
            <a:ext cx="5519775" cy="251460"/>
          </a:xfrm>
          <a:prstGeom prst="rect">
            <a:avLst/>
          </a:prstGeom>
          <a:solidFill>
            <a:srgbClr val="55992E"/>
          </a:solidFill>
          <a:ln>
            <a:noFill/>
          </a:ln>
          <a:effectLst/>
        </p:spPr>
        <p:txBody>
          <a:bodyPr rtlCol="0" anchor="ctr"/>
          <a:lstStyle/>
          <a:p/>
        </p:txBody>
      </p:sp>
      <p:sp>
        <p:nvSpPr>
          <p:cNvPr id="27" name="TextBox 26"/>
          <p:cNvSpPr txBox="1"/>
          <p:nvPr/>
        </p:nvSpPr>
        <p:spPr>
          <a:xfrm>
            <a:off x="6260439" y="3822192"/>
            <a:ext cx="5336895" cy="502920"/>
          </a:xfrm>
          <a:prstGeom prst="rect">
            <a:avLst/>
          </a:prstGeom>
          <a:noFill/>
        </p:spPr>
        <p:txBody>
          <a:bodyPr wrap="square" anchor="ctr" lIns="73152" rIns="73152" tIns="36576" bIns="36576">
            <a:noAutofit/>
          </a:bodyPr>
          <a:lstStyle/>
          <a:p>
            <a:pPr algn="l">
              <a:spcBef>
                <a:spcPts val="0"/>
              </a:spcBef>
              <a:spcAft>
                <a:spcPts val="0"/>
              </a:spcAft>
            </a:pPr>
            <a:r>
              <a:rPr lang="tr-TR" sz="1800" b="1" i="0">
                <a:solidFill>
                  <a:srgbClr val="FFFFFF"/>
                </a:solidFill>
                <a:latin typeface="Calibri"/>
              </a:rPr>
              <a:t>İyileştirme · afet sonrası</a:t>
            </a:r>
          </a:p>
        </p:txBody>
      </p:sp>
      <p:sp>
        <p:nvSpPr>
          <p:cNvPr id="28" name="TextBox 27"/>
          <p:cNvSpPr txBox="1"/>
          <p:nvPr/>
        </p:nvSpPr>
        <p:spPr>
          <a:xfrm>
            <a:off x="6278727" y="4398264"/>
            <a:ext cx="5300319" cy="1124712"/>
          </a:xfrm>
          <a:prstGeom prst="rect">
            <a:avLst/>
          </a:prstGeom>
          <a:noFill/>
        </p:spPr>
        <p:txBody>
          <a:bodyPr wrap="square" anchor="t" lIns="73152" rIns="73152" tIns="36576" bIns="36576">
            <a:noAutofit/>
          </a:bodyPr>
          <a:lstStyle/>
          <a:p>
            <a:pPr algn="l" marL="248620" indent="-248620">
              <a:spcBef>
                <a:spcPts val="0"/>
              </a:spcBef>
              <a:spcAft>
                <a:spcPts val="600"/>
              </a:spcAft>
            </a:pPr>
            <a:r>
              <a:rPr lang="tr-TR" sz="2000" b="1" i="0">
                <a:solidFill>
                  <a:srgbClr val="2C6696"/>
                </a:solidFill>
                <a:latin typeface="Calibri"/>
              </a:rPr>
              <a:t>•  </a:t>
            </a:r>
            <a:r>
              <a:rPr lang="tr-TR" sz="2000" b="0" i="0">
                <a:solidFill>
                  <a:srgbClr val="262626"/>
                </a:solidFill>
                <a:latin typeface="Calibri"/>
              </a:rPr>
              <a:t>Altyapı, kalıcı konut, ekonomik ve sosyal hayat</a:t>
            </a:r>
          </a:p>
          <a:p>
            <a:pPr algn="l" marL="248620" indent="-248620">
              <a:spcBef>
                <a:spcPts val="0"/>
              </a:spcBef>
              <a:spcAft>
                <a:spcPts val="0"/>
              </a:spcAft>
            </a:pPr>
            <a:r>
              <a:rPr lang="tr-TR" sz="2000" b="1" i="0">
                <a:solidFill>
                  <a:srgbClr val="2C6696"/>
                </a:solidFill>
                <a:latin typeface="Calibri"/>
              </a:rPr>
              <a:t>•  </a:t>
            </a:r>
            <a:r>
              <a:rPr lang="tr-TR" sz="2000" b="0" i="0">
                <a:solidFill>
                  <a:srgbClr val="262626"/>
                </a:solidFill>
                <a:latin typeface="Calibri"/>
              </a:rPr>
              <a:t>Yeni yapıları güvenli yerde kurmak; tecrübeyle başa dönmek</a:t>
            </a:r>
          </a:p>
        </p:txBody>
      </p:sp>
      <p:sp>
        <p:nvSpPr>
          <p:cNvPr id="29" name="Rounded Rectangle 28"/>
          <p:cNvSpPr/>
          <p:nvPr/>
        </p:nvSpPr>
        <p:spPr>
          <a:xfrm>
            <a:off x="502920" y="5724144"/>
            <a:ext cx="11185855" cy="566928"/>
          </a:xfrm>
          <a:prstGeom prst="roundRect">
            <a:avLst>
              <a:gd name="adj" fmla="val 8000"/>
            </a:avLst>
          </a:prstGeom>
          <a:solidFill>
            <a:srgbClr val="FFF3D1"/>
          </a:solidFill>
          <a:ln>
            <a:noFill/>
          </a:ln>
          <a:effectLst/>
        </p:spPr>
        <p:txBody>
          <a:bodyPr rtlCol="0" anchor="ctr" wrap="square" lIns="228600" rIns="228600" tIns="73152" bIns="73152">
            <a:noAutofit/>
          </a:bodyPr>
          <a:lstStyle/>
          <a:p>
            <a:pPr algn="l">
              <a:spcBef>
                <a:spcPts val="0"/>
              </a:spcBef>
              <a:spcAft>
                <a:spcPts val="0"/>
              </a:spcAft>
            </a:pPr>
            <a:r>
              <a:rPr lang="tr-TR" sz="1450" b="1" i="0">
                <a:solidFill>
                  <a:srgbClr val="262626"/>
                </a:solidFill>
                <a:latin typeface="Calibri"/>
              </a:rPr>
              <a:t>Ölçüt:</a:t>
            </a:r>
            <a:r>
              <a:rPr lang="tr-TR" sz="1450" b="0" i="0">
                <a:solidFill>
                  <a:srgbClr val="262626"/>
                </a:solidFill>
                <a:latin typeface="Calibri"/>
              </a:rPr>
              <a:t> her aşama için bu olaya özgü en az bir öneri; olayın nedenini (insan eliyle oluşturulan yığın + yağış) risk ve zarar azaltmaya bağlamak.</a:t>
            </a:r>
          </a:p>
        </p:txBody>
      </p:sp>
      <p:sp>
        <p:nvSpPr>
          <p:cNvPr id="30" name="TextBox 29"/>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31" name="Rounded Rectangle 30"/>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202-203, 210</a:t>
            </a:r>
          </a:p>
        </p:txBody>
      </p:sp>
      <p:sp>
        <p:nvSpPr>
          <p:cNvPr id="32" name="TextBox 31"/>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228 / 250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3-5. sorular: dünyada afetler</a:t>
            </a:r>
          </a:p>
        </p:txBody>
      </p:sp>
      <p:sp>
        <p:nvSpPr>
          <p:cNvPr id="5" name="Rounded Rectangle 4"/>
          <p:cNvSpPr/>
          <p:nvPr/>
        </p:nvSpPr>
        <p:spPr>
          <a:xfrm>
            <a:off x="9555480" y="201168"/>
            <a:ext cx="2221992" cy="475488"/>
          </a:xfrm>
          <a:prstGeom prst="roundRect">
            <a:avLst>
              <a:gd name="adj" fmla="val 50000"/>
            </a:avLst>
          </a:prstGeom>
          <a:solidFill>
            <a:srgbClr val="D3373A"/>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SORU 3-5</a:t>
            </a:r>
          </a:p>
        </p:txBody>
      </p:sp>
      <p:sp>
        <p:nvSpPr>
          <p:cNvPr id="6" name="TextBox 5"/>
          <p:cNvSpPr txBox="1"/>
          <p:nvPr/>
        </p:nvSpPr>
        <p:spPr>
          <a:xfrm>
            <a:off x="502920" y="1170432"/>
            <a:ext cx="11185855" cy="365760"/>
          </a:xfrm>
          <a:prstGeom prst="rect">
            <a:avLst/>
          </a:prstGeom>
          <a:noFill/>
        </p:spPr>
        <p:txBody>
          <a:bodyPr wrap="square" anchor="t" lIns="73152" rIns="73152" tIns="36576" bIns="36576">
            <a:noAutofit/>
          </a:bodyPr>
          <a:lstStyle/>
          <a:p>
            <a:pPr algn="l">
              <a:spcBef>
                <a:spcPts val="0"/>
              </a:spcBef>
              <a:spcAft>
                <a:spcPts val="0"/>
              </a:spcAft>
            </a:pPr>
            <a:r>
              <a:rPr lang="tr-TR" sz="1600" b="0" i="1">
                <a:solidFill>
                  <a:srgbClr val="767676"/>
                </a:solidFill>
                <a:latin typeface="Calibri"/>
              </a:rPr>
              <a:t>3-5. soruları aşağıdaki metin ve tabloya göre cevaplayınız.</a:t>
            </a:r>
          </a:p>
        </p:txBody>
      </p:sp>
      <p:sp>
        <p:nvSpPr>
          <p:cNvPr id="7" name="Rounded Rectangle 6"/>
          <p:cNvSpPr/>
          <p:nvPr/>
        </p:nvSpPr>
        <p:spPr>
          <a:xfrm>
            <a:off x="502920" y="1627632"/>
            <a:ext cx="11185855" cy="4617720"/>
          </a:xfrm>
          <a:prstGeom prst="roundRect">
            <a:avLst>
              <a:gd name="adj" fmla="val 6000"/>
            </a:avLst>
          </a:prstGeom>
          <a:solidFill>
            <a:srgbClr val="F0F0F0"/>
          </a:solidFill>
          <a:ln>
            <a:noFill/>
          </a:ln>
          <a:effectLst/>
        </p:spPr>
        <p:txBody>
          <a:bodyPr rtlCol="0" anchor="ctr"/>
          <a:lstStyle/>
          <a:p/>
        </p:txBody>
      </p:sp>
      <p:sp>
        <p:nvSpPr>
          <p:cNvPr id="8" name="Rectangle 7"/>
          <p:cNvSpPr/>
          <p:nvPr/>
        </p:nvSpPr>
        <p:spPr>
          <a:xfrm>
            <a:off x="502920" y="1627632"/>
            <a:ext cx="118872" cy="4617720"/>
          </a:xfrm>
          <a:prstGeom prst="rect">
            <a:avLst/>
          </a:prstGeom>
          <a:solidFill>
            <a:srgbClr val="6A4C93"/>
          </a:solidFill>
          <a:ln>
            <a:noFill/>
          </a:ln>
          <a:effectLst/>
        </p:spPr>
        <p:txBody>
          <a:bodyPr rtlCol="0" anchor="ctr"/>
          <a:lstStyle/>
          <a:p/>
        </p:txBody>
      </p:sp>
      <p:sp>
        <p:nvSpPr>
          <p:cNvPr id="9" name="TextBox 8"/>
          <p:cNvSpPr txBox="1"/>
          <p:nvPr/>
        </p:nvSpPr>
        <p:spPr>
          <a:xfrm>
            <a:off x="777240" y="1627632"/>
            <a:ext cx="10774375" cy="4617720"/>
          </a:xfrm>
          <a:prstGeom prst="rect">
            <a:avLst/>
          </a:prstGeom>
          <a:noFill/>
        </p:spPr>
        <p:txBody>
          <a:bodyPr wrap="square" anchor="ctr" lIns="73152" rIns="73152" tIns="36576" bIns="36576">
            <a:noAutofit/>
          </a:bodyPr>
          <a:lstStyle/>
          <a:p>
            <a:pPr algn="l">
              <a:spcBef>
                <a:spcPts val="0"/>
              </a:spcBef>
              <a:spcAft>
                <a:spcPts val="1566"/>
              </a:spcAft>
            </a:pPr>
            <a:r>
              <a:rPr lang="tr-TR" sz="2350" b="0" i="0">
                <a:solidFill>
                  <a:srgbClr val="262626"/>
                </a:solidFill>
                <a:latin typeface="Calibri"/>
              </a:rPr>
              <a:t>Dünyada her yıl farklı oluşum nedeni ve süresine sahip, etki alanı dar veya geniş olan yüzlerce afet yaşanabilmektedir. Örneğin 2023 yılında Türkiye’nin en etkin diri fay sistemlerinden biri olan, Anadolu ve Arap levhaları arasındaki sınırı oluşturan, DAF üzerinde Kahramanmaraş (Pazarcık-Elbistan) depremleri meydana gelmiştir. Yaklaşık 2 dakika süren ve geniş bir alanı etkilemiş olan bu afet, can kaybı ve ekonomik hasar açısından 2023 yılının en yıkıcı olayı olmuştur. Bazı afetler, sonuçları itibarıyla başka afetlerin ortaya çıkmasına neden olabilmektedir. Sel, taşkın, deprem gibi afetlerden sonra görülen salgın hastalıklar bu duruma örnek olarak verilebilir.</a:t>
            </a:r>
          </a:p>
          <a:p>
            <a:pPr algn="l">
              <a:spcBef>
                <a:spcPts val="0"/>
              </a:spcBef>
              <a:spcAft>
                <a:spcPts val="0"/>
              </a:spcAft>
            </a:pPr>
            <a:r>
              <a:rPr lang="tr-TR" sz="2350" b="0" i="0">
                <a:solidFill>
                  <a:srgbClr val="262626"/>
                </a:solidFill>
                <a:latin typeface="Calibri"/>
              </a:rPr>
              <a:t>Son yirmi yılda 11.705 afet kaydedilmiş olup 2000-2019 yılları arasında bu afetlerden 5,6 milyar insan etkilenmiştir. Ayrıca dünya çapında yaklaşık 2,97 trilyon ABD doları tutarında ekonomik kayıp meydana gelmiştir.</a:t>
            </a:r>
          </a:p>
        </p:txBody>
      </p:sp>
      <p:sp>
        <p:nvSpPr>
          <p:cNvPr id="10" name="TextBox 9"/>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11" name="Rounded Rectangle 10"/>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211</a:t>
            </a:r>
          </a:p>
        </p:txBody>
      </p:sp>
      <p:sp>
        <p:nvSpPr>
          <p:cNvPr id="12" name="TextBox 11"/>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229 / 250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3-5. sorular: afet sayısı ve etkilenen insan sayısı</a:t>
            </a:r>
          </a:p>
        </p:txBody>
      </p:sp>
      <p:sp>
        <p:nvSpPr>
          <p:cNvPr id="5" name="Rounded Rectangle 4"/>
          <p:cNvSpPr/>
          <p:nvPr/>
        </p:nvSpPr>
        <p:spPr>
          <a:xfrm>
            <a:off x="9555480" y="201168"/>
            <a:ext cx="2221992" cy="475488"/>
          </a:xfrm>
          <a:prstGeom prst="roundRect">
            <a:avLst>
              <a:gd name="adj" fmla="val 50000"/>
            </a:avLst>
          </a:prstGeom>
          <a:solidFill>
            <a:srgbClr val="D3373A"/>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SORU 3-5</a:t>
            </a:r>
          </a:p>
        </p:txBody>
      </p:sp>
      <p:sp>
        <p:nvSpPr>
          <p:cNvPr id="6" name="Rectangle 5"/>
          <p:cNvSpPr/>
          <p:nvPr/>
        </p:nvSpPr>
        <p:spPr>
          <a:xfrm>
            <a:off x="502920" y="1197864"/>
            <a:ext cx="3931920" cy="566928"/>
          </a:xfrm>
          <a:prstGeom prst="rect">
            <a:avLst/>
          </a:prstGeom>
          <a:solidFill>
            <a:srgbClr val="A63A32"/>
          </a:solidFill>
          <a:ln w="19050">
            <a:solidFill>
              <a:srgbClr val="FFFFFF"/>
            </a:solidFill>
          </a:ln>
          <a:effectLst/>
        </p:spPr>
        <p:txBody>
          <a:bodyPr rtlCol="0" anchor="ctr" wrap="square" tIns="27432" bIns="27432">
            <a:noAutofit/>
          </a:bodyPr>
          <a:lstStyle/>
          <a:p>
            <a:pPr algn="ctr">
              <a:spcBef>
                <a:spcPts val="0"/>
              </a:spcBef>
              <a:spcAft>
                <a:spcPts val="0"/>
              </a:spcAft>
            </a:pPr>
            <a:r>
              <a:rPr lang="tr-TR" sz="1500" b="1" i="0">
                <a:solidFill>
                  <a:srgbClr val="FFFFFF"/>
                </a:solidFill>
                <a:latin typeface="Calibri"/>
              </a:rPr>
              <a:t>Afet Türü</a:t>
            </a:r>
          </a:p>
        </p:txBody>
      </p:sp>
      <p:sp>
        <p:nvSpPr>
          <p:cNvPr id="7" name="Rectangle 6"/>
          <p:cNvSpPr/>
          <p:nvPr/>
        </p:nvSpPr>
        <p:spPr>
          <a:xfrm>
            <a:off x="4434840" y="1197864"/>
            <a:ext cx="1415491" cy="566928"/>
          </a:xfrm>
          <a:prstGeom prst="rect">
            <a:avLst/>
          </a:prstGeom>
          <a:solidFill>
            <a:srgbClr val="A63A32"/>
          </a:solidFill>
          <a:ln w="19050">
            <a:solidFill>
              <a:srgbClr val="FFFFFF"/>
            </a:solidFill>
          </a:ln>
          <a:effectLst/>
        </p:spPr>
        <p:txBody>
          <a:bodyPr rtlCol="0" anchor="ctr" wrap="square" tIns="27432" bIns="27432">
            <a:noAutofit/>
          </a:bodyPr>
          <a:lstStyle/>
          <a:p>
            <a:pPr algn="ctr">
              <a:spcBef>
                <a:spcPts val="0"/>
              </a:spcBef>
              <a:spcAft>
                <a:spcPts val="0"/>
              </a:spcAft>
            </a:pPr>
            <a:r>
              <a:rPr lang="tr-TR" sz="1500" b="1" i="0">
                <a:solidFill>
                  <a:srgbClr val="FFFFFF"/>
                </a:solidFill>
                <a:latin typeface="Calibri"/>
              </a:rPr>
              <a:t>Afet Sayısı</a:t>
            </a:r>
          </a:p>
        </p:txBody>
      </p:sp>
      <p:sp>
        <p:nvSpPr>
          <p:cNvPr id="8" name="Rectangle 7"/>
          <p:cNvSpPr/>
          <p:nvPr/>
        </p:nvSpPr>
        <p:spPr>
          <a:xfrm>
            <a:off x="5850331" y="1197864"/>
            <a:ext cx="2516428" cy="566928"/>
          </a:xfrm>
          <a:prstGeom prst="rect">
            <a:avLst/>
          </a:prstGeom>
          <a:solidFill>
            <a:srgbClr val="A63A32"/>
          </a:solidFill>
          <a:ln w="19050">
            <a:solidFill>
              <a:srgbClr val="FFFFFF"/>
            </a:solidFill>
          </a:ln>
          <a:effectLst/>
        </p:spPr>
        <p:txBody>
          <a:bodyPr rtlCol="0" anchor="ctr" wrap="square" tIns="27432" bIns="27432">
            <a:noAutofit/>
          </a:bodyPr>
          <a:lstStyle/>
          <a:p>
            <a:pPr algn="ctr">
              <a:spcBef>
                <a:spcPts val="0"/>
              </a:spcBef>
              <a:spcAft>
                <a:spcPts val="0"/>
              </a:spcAft>
            </a:pPr>
            <a:r>
              <a:rPr lang="tr-TR" sz="1500" b="1" i="0">
                <a:solidFill>
                  <a:srgbClr val="FFFFFF"/>
                </a:solidFill>
                <a:latin typeface="Calibri"/>
              </a:rPr>
              <a:t>Etkilenen İnsan Sayısı (Milyon Kişi)</a:t>
            </a:r>
          </a:p>
        </p:txBody>
      </p:sp>
      <p:sp>
        <p:nvSpPr>
          <p:cNvPr id="9" name="Rectangle 8"/>
          <p:cNvSpPr/>
          <p:nvPr/>
        </p:nvSpPr>
        <p:spPr>
          <a:xfrm>
            <a:off x="502920" y="1764792"/>
            <a:ext cx="3931920" cy="337566"/>
          </a:xfrm>
          <a:prstGeom prst="rect">
            <a:avLst/>
          </a:prstGeom>
          <a:solidFill>
            <a:srgbClr val="F0F0F0"/>
          </a:solidFill>
          <a:ln w="19050">
            <a:solidFill>
              <a:srgbClr val="FFFFFF"/>
            </a:solidFill>
          </a:ln>
          <a:effectLst/>
        </p:spPr>
        <p:txBody>
          <a:bodyPr rtlCol="0" anchor="ctr" wrap="square" tIns="27432" bIns="27432">
            <a:noAutofit/>
          </a:bodyPr>
          <a:lstStyle/>
          <a:p>
            <a:pPr algn="l">
              <a:spcBef>
                <a:spcPts val="0"/>
              </a:spcBef>
              <a:spcAft>
                <a:spcPts val="0"/>
              </a:spcAft>
            </a:pPr>
            <a:r>
              <a:rPr lang="tr-TR" sz="1800" b="0" i="0">
                <a:solidFill>
                  <a:srgbClr val="262626"/>
                </a:solidFill>
                <a:latin typeface="Calibri"/>
              </a:rPr>
              <a:t>Sel</a:t>
            </a:r>
          </a:p>
        </p:txBody>
      </p:sp>
      <p:sp>
        <p:nvSpPr>
          <p:cNvPr id="10" name="Rectangle 9"/>
          <p:cNvSpPr/>
          <p:nvPr/>
        </p:nvSpPr>
        <p:spPr>
          <a:xfrm>
            <a:off x="4434840" y="1764792"/>
            <a:ext cx="1415491" cy="337566"/>
          </a:xfrm>
          <a:prstGeom prst="rect">
            <a:avLst/>
          </a:prstGeom>
          <a:solidFill>
            <a:srgbClr val="F0F0F0"/>
          </a:solidFill>
          <a:ln w="19050">
            <a:solidFill>
              <a:srgbClr val="FFFFFF"/>
            </a:solidFill>
          </a:ln>
          <a:effectLst/>
        </p:spPr>
        <p:txBody>
          <a:bodyPr rtlCol="0" anchor="ctr" wrap="square" tIns="27432" bIns="27432">
            <a:noAutofit/>
          </a:bodyPr>
          <a:lstStyle/>
          <a:p>
            <a:pPr algn="ctr">
              <a:spcBef>
                <a:spcPts val="0"/>
              </a:spcBef>
              <a:spcAft>
                <a:spcPts val="0"/>
              </a:spcAft>
            </a:pPr>
            <a:r>
              <a:rPr lang="tr-TR" sz="1800" b="0" i="0">
                <a:solidFill>
                  <a:srgbClr val="262626"/>
                </a:solidFill>
                <a:latin typeface="Calibri"/>
              </a:rPr>
              <a:t>3.254</a:t>
            </a:r>
          </a:p>
        </p:txBody>
      </p:sp>
      <p:sp>
        <p:nvSpPr>
          <p:cNvPr id="11" name="Rectangle 10"/>
          <p:cNvSpPr/>
          <p:nvPr/>
        </p:nvSpPr>
        <p:spPr>
          <a:xfrm>
            <a:off x="5850331" y="1764792"/>
            <a:ext cx="2516428" cy="337566"/>
          </a:xfrm>
          <a:prstGeom prst="rect">
            <a:avLst/>
          </a:prstGeom>
          <a:solidFill>
            <a:srgbClr val="F0F0F0"/>
          </a:solidFill>
          <a:ln w="19050">
            <a:solidFill>
              <a:srgbClr val="FFFFFF"/>
            </a:solidFill>
          </a:ln>
          <a:effectLst/>
        </p:spPr>
        <p:txBody>
          <a:bodyPr rtlCol="0" anchor="ctr" wrap="square" tIns="27432" bIns="27432">
            <a:noAutofit/>
          </a:bodyPr>
          <a:lstStyle/>
          <a:p>
            <a:pPr algn="ctr">
              <a:spcBef>
                <a:spcPts val="0"/>
              </a:spcBef>
              <a:spcAft>
                <a:spcPts val="0"/>
              </a:spcAft>
            </a:pPr>
            <a:r>
              <a:rPr lang="tr-TR" sz="1800" b="0" i="0">
                <a:solidFill>
                  <a:srgbClr val="262626"/>
                </a:solidFill>
                <a:latin typeface="Calibri"/>
              </a:rPr>
              <a:t>1.650</a:t>
            </a:r>
          </a:p>
        </p:txBody>
      </p:sp>
      <p:sp>
        <p:nvSpPr>
          <p:cNvPr id="12" name="Rectangle 11"/>
          <p:cNvSpPr/>
          <p:nvPr/>
        </p:nvSpPr>
        <p:spPr>
          <a:xfrm>
            <a:off x="502920" y="2102358"/>
            <a:ext cx="3931920" cy="337566"/>
          </a:xfrm>
          <a:prstGeom prst="rect">
            <a:avLst/>
          </a:prstGeom>
          <a:solidFill>
            <a:srgbClr val="FFFFFF"/>
          </a:solidFill>
          <a:ln w="19050">
            <a:solidFill>
              <a:srgbClr val="FFFFFF"/>
            </a:solidFill>
          </a:ln>
          <a:effectLst/>
        </p:spPr>
        <p:txBody>
          <a:bodyPr rtlCol="0" anchor="ctr" wrap="square" tIns="27432" bIns="27432">
            <a:noAutofit/>
          </a:bodyPr>
          <a:lstStyle/>
          <a:p>
            <a:pPr algn="l">
              <a:spcBef>
                <a:spcPts val="0"/>
              </a:spcBef>
              <a:spcAft>
                <a:spcPts val="0"/>
              </a:spcAft>
            </a:pPr>
            <a:r>
              <a:rPr lang="tr-TR" sz="1800" b="0" i="0">
                <a:solidFill>
                  <a:srgbClr val="262626"/>
                </a:solidFill>
                <a:latin typeface="Calibri"/>
              </a:rPr>
              <a:t>Deprem</a:t>
            </a:r>
          </a:p>
        </p:txBody>
      </p:sp>
      <p:sp>
        <p:nvSpPr>
          <p:cNvPr id="13" name="Rectangle 12"/>
          <p:cNvSpPr/>
          <p:nvPr/>
        </p:nvSpPr>
        <p:spPr>
          <a:xfrm>
            <a:off x="4434840" y="2102358"/>
            <a:ext cx="1415491" cy="337566"/>
          </a:xfrm>
          <a:prstGeom prst="rect">
            <a:avLst/>
          </a:prstGeom>
          <a:solidFill>
            <a:srgbClr val="FFFFFF"/>
          </a:solidFill>
          <a:ln w="19050">
            <a:solidFill>
              <a:srgbClr val="FFFFFF"/>
            </a:solidFill>
          </a:ln>
          <a:effectLst/>
        </p:spPr>
        <p:txBody>
          <a:bodyPr rtlCol="0" anchor="ctr" wrap="square" tIns="27432" bIns="27432">
            <a:noAutofit/>
          </a:bodyPr>
          <a:lstStyle/>
          <a:p>
            <a:pPr algn="ctr">
              <a:spcBef>
                <a:spcPts val="0"/>
              </a:spcBef>
              <a:spcAft>
                <a:spcPts val="0"/>
              </a:spcAft>
            </a:pPr>
            <a:r>
              <a:rPr lang="tr-TR" sz="1800" b="0" i="0">
                <a:solidFill>
                  <a:srgbClr val="262626"/>
                </a:solidFill>
                <a:latin typeface="Calibri"/>
              </a:rPr>
              <a:t>552</a:t>
            </a:r>
          </a:p>
        </p:txBody>
      </p:sp>
      <p:sp>
        <p:nvSpPr>
          <p:cNvPr id="14" name="Rectangle 13"/>
          <p:cNvSpPr/>
          <p:nvPr/>
        </p:nvSpPr>
        <p:spPr>
          <a:xfrm>
            <a:off x="5850331" y="2102358"/>
            <a:ext cx="2516428" cy="337566"/>
          </a:xfrm>
          <a:prstGeom prst="rect">
            <a:avLst/>
          </a:prstGeom>
          <a:solidFill>
            <a:srgbClr val="FFFFFF"/>
          </a:solidFill>
          <a:ln w="19050">
            <a:solidFill>
              <a:srgbClr val="FFFFFF"/>
            </a:solidFill>
          </a:ln>
          <a:effectLst/>
        </p:spPr>
        <p:txBody>
          <a:bodyPr rtlCol="0" anchor="ctr" wrap="square" tIns="27432" bIns="27432">
            <a:noAutofit/>
          </a:bodyPr>
          <a:lstStyle/>
          <a:p>
            <a:pPr algn="ctr">
              <a:spcBef>
                <a:spcPts val="0"/>
              </a:spcBef>
              <a:spcAft>
                <a:spcPts val="0"/>
              </a:spcAft>
            </a:pPr>
            <a:r>
              <a:rPr lang="tr-TR" sz="1800" b="0" i="0">
                <a:solidFill>
                  <a:srgbClr val="262626"/>
                </a:solidFill>
                <a:latin typeface="Calibri"/>
              </a:rPr>
              <a:t>118</a:t>
            </a:r>
          </a:p>
        </p:txBody>
      </p:sp>
      <p:sp>
        <p:nvSpPr>
          <p:cNvPr id="15" name="Rectangle 14"/>
          <p:cNvSpPr/>
          <p:nvPr/>
        </p:nvSpPr>
        <p:spPr>
          <a:xfrm>
            <a:off x="502920" y="2439924"/>
            <a:ext cx="3931920" cy="337566"/>
          </a:xfrm>
          <a:prstGeom prst="rect">
            <a:avLst/>
          </a:prstGeom>
          <a:solidFill>
            <a:srgbClr val="F0F0F0"/>
          </a:solidFill>
          <a:ln w="19050">
            <a:solidFill>
              <a:srgbClr val="FFFFFF"/>
            </a:solidFill>
          </a:ln>
          <a:effectLst/>
        </p:spPr>
        <p:txBody>
          <a:bodyPr rtlCol="0" anchor="ctr" wrap="square" tIns="27432" bIns="27432">
            <a:noAutofit/>
          </a:bodyPr>
          <a:lstStyle/>
          <a:p>
            <a:pPr algn="l">
              <a:spcBef>
                <a:spcPts val="0"/>
              </a:spcBef>
              <a:spcAft>
                <a:spcPts val="0"/>
              </a:spcAft>
            </a:pPr>
            <a:r>
              <a:rPr lang="tr-TR" sz="1800" b="0" i="0">
                <a:solidFill>
                  <a:srgbClr val="262626"/>
                </a:solidFill>
                <a:latin typeface="Calibri"/>
              </a:rPr>
              <a:t>Endüstriyel Kazalar</a:t>
            </a:r>
          </a:p>
        </p:txBody>
      </p:sp>
      <p:sp>
        <p:nvSpPr>
          <p:cNvPr id="16" name="Rectangle 15"/>
          <p:cNvSpPr/>
          <p:nvPr/>
        </p:nvSpPr>
        <p:spPr>
          <a:xfrm>
            <a:off x="4434840" y="2439924"/>
            <a:ext cx="1415491" cy="337566"/>
          </a:xfrm>
          <a:prstGeom prst="rect">
            <a:avLst/>
          </a:prstGeom>
          <a:solidFill>
            <a:srgbClr val="F0F0F0"/>
          </a:solidFill>
          <a:ln w="19050">
            <a:solidFill>
              <a:srgbClr val="FFFFFF"/>
            </a:solidFill>
          </a:ln>
          <a:effectLst/>
        </p:spPr>
        <p:txBody>
          <a:bodyPr rtlCol="0" anchor="ctr" wrap="square" tIns="27432" bIns="27432">
            <a:noAutofit/>
          </a:bodyPr>
          <a:lstStyle/>
          <a:p>
            <a:pPr algn="ctr">
              <a:spcBef>
                <a:spcPts val="0"/>
              </a:spcBef>
              <a:spcAft>
                <a:spcPts val="0"/>
              </a:spcAft>
            </a:pPr>
            <a:r>
              <a:rPr lang="tr-TR" sz="1800" b="0" i="0">
                <a:solidFill>
                  <a:srgbClr val="262626"/>
                </a:solidFill>
                <a:latin typeface="Calibri"/>
              </a:rPr>
              <a:t>822</a:t>
            </a:r>
          </a:p>
        </p:txBody>
      </p:sp>
      <p:sp>
        <p:nvSpPr>
          <p:cNvPr id="17" name="Rectangle 16"/>
          <p:cNvSpPr/>
          <p:nvPr/>
        </p:nvSpPr>
        <p:spPr>
          <a:xfrm>
            <a:off x="5850331" y="2439924"/>
            <a:ext cx="2516428" cy="337566"/>
          </a:xfrm>
          <a:prstGeom prst="rect">
            <a:avLst/>
          </a:prstGeom>
          <a:solidFill>
            <a:srgbClr val="F0F0F0"/>
          </a:solidFill>
          <a:ln w="19050">
            <a:solidFill>
              <a:srgbClr val="FFFFFF"/>
            </a:solidFill>
          </a:ln>
          <a:effectLst/>
        </p:spPr>
        <p:txBody>
          <a:bodyPr rtlCol="0" anchor="ctr" wrap="square" tIns="27432" bIns="27432">
            <a:noAutofit/>
          </a:bodyPr>
          <a:lstStyle/>
          <a:p>
            <a:pPr algn="ctr">
              <a:spcBef>
                <a:spcPts val="0"/>
              </a:spcBef>
              <a:spcAft>
                <a:spcPts val="0"/>
              </a:spcAft>
            </a:pPr>
            <a:r>
              <a:rPr lang="tr-TR" sz="1800" b="0" i="0">
                <a:solidFill>
                  <a:srgbClr val="262626"/>
                </a:solidFill>
                <a:latin typeface="Calibri"/>
              </a:rPr>
              <a:t>1,4</a:t>
            </a:r>
          </a:p>
        </p:txBody>
      </p:sp>
      <p:sp>
        <p:nvSpPr>
          <p:cNvPr id="18" name="Rectangle 17"/>
          <p:cNvSpPr/>
          <p:nvPr/>
        </p:nvSpPr>
        <p:spPr>
          <a:xfrm>
            <a:off x="502920" y="2777490"/>
            <a:ext cx="3931920" cy="337566"/>
          </a:xfrm>
          <a:prstGeom prst="rect">
            <a:avLst/>
          </a:prstGeom>
          <a:solidFill>
            <a:srgbClr val="FFFFFF"/>
          </a:solidFill>
          <a:ln w="19050">
            <a:solidFill>
              <a:srgbClr val="FFFFFF"/>
            </a:solidFill>
          </a:ln>
          <a:effectLst/>
        </p:spPr>
        <p:txBody>
          <a:bodyPr rtlCol="0" anchor="ctr" wrap="square" tIns="27432" bIns="27432">
            <a:noAutofit/>
          </a:bodyPr>
          <a:lstStyle/>
          <a:p>
            <a:pPr algn="l">
              <a:spcBef>
                <a:spcPts val="0"/>
              </a:spcBef>
              <a:spcAft>
                <a:spcPts val="0"/>
              </a:spcAft>
            </a:pPr>
            <a:r>
              <a:rPr lang="tr-TR" sz="1800" b="0" i="0">
                <a:solidFill>
                  <a:srgbClr val="262626"/>
                </a:solidFill>
                <a:latin typeface="Calibri"/>
              </a:rPr>
              <a:t>Kuraklık</a:t>
            </a:r>
          </a:p>
        </p:txBody>
      </p:sp>
      <p:sp>
        <p:nvSpPr>
          <p:cNvPr id="19" name="Rectangle 18"/>
          <p:cNvSpPr/>
          <p:nvPr/>
        </p:nvSpPr>
        <p:spPr>
          <a:xfrm>
            <a:off x="4434840" y="2777490"/>
            <a:ext cx="1415491" cy="337566"/>
          </a:xfrm>
          <a:prstGeom prst="rect">
            <a:avLst/>
          </a:prstGeom>
          <a:solidFill>
            <a:srgbClr val="FFFFFF"/>
          </a:solidFill>
          <a:ln w="19050">
            <a:solidFill>
              <a:srgbClr val="FFFFFF"/>
            </a:solidFill>
          </a:ln>
          <a:effectLst/>
        </p:spPr>
        <p:txBody>
          <a:bodyPr rtlCol="0" anchor="ctr" wrap="square" tIns="27432" bIns="27432">
            <a:noAutofit/>
          </a:bodyPr>
          <a:lstStyle/>
          <a:p>
            <a:pPr algn="ctr">
              <a:spcBef>
                <a:spcPts val="0"/>
              </a:spcBef>
              <a:spcAft>
                <a:spcPts val="0"/>
              </a:spcAft>
            </a:pPr>
            <a:r>
              <a:rPr lang="tr-TR" sz="1800" b="0" i="0">
                <a:solidFill>
                  <a:srgbClr val="262626"/>
                </a:solidFill>
                <a:latin typeface="Calibri"/>
              </a:rPr>
              <a:t>338</a:t>
            </a:r>
          </a:p>
        </p:txBody>
      </p:sp>
      <p:sp>
        <p:nvSpPr>
          <p:cNvPr id="20" name="Rectangle 19"/>
          <p:cNvSpPr/>
          <p:nvPr/>
        </p:nvSpPr>
        <p:spPr>
          <a:xfrm>
            <a:off x="5850331" y="2777490"/>
            <a:ext cx="2516428" cy="337566"/>
          </a:xfrm>
          <a:prstGeom prst="rect">
            <a:avLst/>
          </a:prstGeom>
          <a:solidFill>
            <a:srgbClr val="FFFFFF"/>
          </a:solidFill>
          <a:ln w="19050">
            <a:solidFill>
              <a:srgbClr val="FFFFFF"/>
            </a:solidFill>
          </a:ln>
          <a:effectLst/>
        </p:spPr>
        <p:txBody>
          <a:bodyPr rtlCol="0" anchor="ctr" wrap="square" tIns="27432" bIns="27432">
            <a:noAutofit/>
          </a:bodyPr>
          <a:lstStyle/>
          <a:p>
            <a:pPr algn="ctr">
              <a:spcBef>
                <a:spcPts val="0"/>
              </a:spcBef>
              <a:spcAft>
                <a:spcPts val="0"/>
              </a:spcAft>
            </a:pPr>
            <a:r>
              <a:rPr lang="tr-TR" sz="1800" b="0" i="0">
                <a:solidFill>
                  <a:srgbClr val="262626"/>
                </a:solidFill>
                <a:latin typeface="Calibri"/>
              </a:rPr>
              <a:t>1.430</a:t>
            </a:r>
          </a:p>
        </p:txBody>
      </p:sp>
      <p:sp>
        <p:nvSpPr>
          <p:cNvPr id="21" name="Rectangle 20"/>
          <p:cNvSpPr/>
          <p:nvPr/>
        </p:nvSpPr>
        <p:spPr>
          <a:xfrm>
            <a:off x="502920" y="3115056"/>
            <a:ext cx="3931920" cy="337566"/>
          </a:xfrm>
          <a:prstGeom prst="rect">
            <a:avLst/>
          </a:prstGeom>
          <a:solidFill>
            <a:srgbClr val="F0F0F0"/>
          </a:solidFill>
          <a:ln w="19050">
            <a:solidFill>
              <a:srgbClr val="FFFFFF"/>
            </a:solidFill>
          </a:ln>
          <a:effectLst/>
        </p:spPr>
        <p:txBody>
          <a:bodyPr rtlCol="0" anchor="ctr" wrap="square" tIns="27432" bIns="27432">
            <a:noAutofit/>
          </a:bodyPr>
          <a:lstStyle/>
          <a:p>
            <a:pPr algn="l">
              <a:spcBef>
                <a:spcPts val="0"/>
              </a:spcBef>
              <a:spcAft>
                <a:spcPts val="0"/>
              </a:spcAft>
            </a:pPr>
            <a:r>
              <a:rPr lang="tr-TR" sz="1800" b="0" i="0">
                <a:solidFill>
                  <a:srgbClr val="262626"/>
                </a:solidFill>
                <a:latin typeface="Calibri"/>
              </a:rPr>
              <a:t>Uluslararası Göç</a:t>
            </a:r>
          </a:p>
        </p:txBody>
      </p:sp>
      <p:sp>
        <p:nvSpPr>
          <p:cNvPr id="22" name="Rectangle 21"/>
          <p:cNvSpPr/>
          <p:nvPr/>
        </p:nvSpPr>
        <p:spPr>
          <a:xfrm>
            <a:off x="4434840" y="3115056"/>
            <a:ext cx="1415491" cy="337566"/>
          </a:xfrm>
          <a:prstGeom prst="rect">
            <a:avLst/>
          </a:prstGeom>
          <a:solidFill>
            <a:srgbClr val="F0F0F0"/>
          </a:solidFill>
          <a:ln w="19050">
            <a:solidFill>
              <a:srgbClr val="FFFFFF"/>
            </a:solidFill>
          </a:ln>
          <a:effectLst/>
        </p:spPr>
        <p:txBody>
          <a:bodyPr rtlCol="0" anchor="ctr" wrap="square" tIns="27432" bIns="27432">
            <a:noAutofit/>
          </a:bodyPr>
          <a:lstStyle/>
          <a:p>
            <a:pPr algn="ctr">
              <a:spcBef>
                <a:spcPts val="0"/>
              </a:spcBef>
              <a:spcAft>
                <a:spcPts val="0"/>
              </a:spcAft>
            </a:pPr>
            <a:r>
              <a:rPr lang="tr-TR" sz="1800" b="0" i="0">
                <a:solidFill>
                  <a:srgbClr val="262626"/>
                </a:solidFill>
                <a:latin typeface="Calibri"/>
              </a:rPr>
              <a:t>---</a:t>
            </a:r>
          </a:p>
        </p:txBody>
      </p:sp>
      <p:sp>
        <p:nvSpPr>
          <p:cNvPr id="23" name="Rectangle 22"/>
          <p:cNvSpPr/>
          <p:nvPr/>
        </p:nvSpPr>
        <p:spPr>
          <a:xfrm>
            <a:off x="5850331" y="3115056"/>
            <a:ext cx="2516428" cy="337566"/>
          </a:xfrm>
          <a:prstGeom prst="rect">
            <a:avLst/>
          </a:prstGeom>
          <a:solidFill>
            <a:srgbClr val="F0F0F0"/>
          </a:solidFill>
          <a:ln w="19050">
            <a:solidFill>
              <a:srgbClr val="FFFFFF"/>
            </a:solidFill>
          </a:ln>
          <a:effectLst/>
        </p:spPr>
        <p:txBody>
          <a:bodyPr rtlCol="0" anchor="ctr" wrap="square" tIns="27432" bIns="27432">
            <a:noAutofit/>
          </a:bodyPr>
          <a:lstStyle/>
          <a:p>
            <a:pPr algn="ctr">
              <a:spcBef>
                <a:spcPts val="0"/>
              </a:spcBef>
              <a:spcAft>
                <a:spcPts val="0"/>
              </a:spcAft>
            </a:pPr>
            <a:r>
              <a:rPr lang="tr-TR" sz="1800" b="0" i="0">
                <a:solidFill>
                  <a:srgbClr val="262626"/>
                </a:solidFill>
                <a:latin typeface="Calibri"/>
              </a:rPr>
              <a:t>448,5</a:t>
            </a:r>
          </a:p>
        </p:txBody>
      </p:sp>
      <p:sp>
        <p:nvSpPr>
          <p:cNvPr id="24" name="Rectangle 23"/>
          <p:cNvSpPr/>
          <p:nvPr/>
        </p:nvSpPr>
        <p:spPr>
          <a:xfrm>
            <a:off x="502920" y="3452622"/>
            <a:ext cx="3931920" cy="337566"/>
          </a:xfrm>
          <a:prstGeom prst="rect">
            <a:avLst/>
          </a:prstGeom>
          <a:solidFill>
            <a:srgbClr val="FFFFFF"/>
          </a:solidFill>
          <a:ln w="19050">
            <a:solidFill>
              <a:srgbClr val="FFFFFF"/>
            </a:solidFill>
          </a:ln>
          <a:effectLst/>
        </p:spPr>
        <p:txBody>
          <a:bodyPr rtlCol="0" anchor="ctr" wrap="square" tIns="27432" bIns="27432">
            <a:noAutofit/>
          </a:bodyPr>
          <a:lstStyle/>
          <a:p>
            <a:pPr algn="l">
              <a:spcBef>
                <a:spcPts val="0"/>
              </a:spcBef>
              <a:spcAft>
                <a:spcPts val="0"/>
              </a:spcAft>
            </a:pPr>
            <a:r>
              <a:rPr lang="tr-TR" sz="1800" b="0" i="0">
                <a:solidFill>
                  <a:srgbClr val="262626"/>
                </a:solidFill>
                <a:latin typeface="Calibri"/>
              </a:rPr>
              <a:t>Aşırı Sıcaklar</a:t>
            </a:r>
          </a:p>
        </p:txBody>
      </p:sp>
      <p:sp>
        <p:nvSpPr>
          <p:cNvPr id="25" name="Rectangle 24"/>
          <p:cNvSpPr/>
          <p:nvPr/>
        </p:nvSpPr>
        <p:spPr>
          <a:xfrm>
            <a:off x="4434840" y="3452622"/>
            <a:ext cx="1415491" cy="337566"/>
          </a:xfrm>
          <a:prstGeom prst="rect">
            <a:avLst/>
          </a:prstGeom>
          <a:solidFill>
            <a:srgbClr val="FFFFFF"/>
          </a:solidFill>
          <a:ln w="19050">
            <a:solidFill>
              <a:srgbClr val="FFFFFF"/>
            </a:solidFill>
          </a:ln>
          <a:effectLst/>
        </p:spPr>
        <p:txBody>
          <a:bodyPr rtlCol="0" anchor="ctr" wrap="square" tIns="27432" bIns="27432">
            <a:noAutofit/>
          </a:bodyPr>
          <a:lstStyle/>
          <a:p>
            <a:pPr algn="ctr">
              <a:spcBef>
                <a:spcPts val="0"/>
              </a:spcBef>
              <a:spcAft>
                <a:spcPts val="0"/>
              </a:spcAft>
            </a:pPr>
            <a:r>
              <a:rPr lang="tr-TR" sz="1800" b="0" i="0">
                <a:solidFill>
                  <a:srgbClr val="262626"/>
                </a:solidFill>
                <a:latin typeface="Calibri"/>
              </a:rPr>
              <a:t>432</a:t>
            </a:r>
          </a:p>
        </p:txBody>
      </p:sp>
      <p:sp>
        <p:nvSpPr>
          <p:cNvPr id="26" name="Rectangle 25"/>
          <p:cNvSpPr/>
          <p:nvPr/>
        </p:nvSpPr>
        <p:spPr>
          <a:xfrm>
            <a:off x="5850331" y="3452622"/>
            <a:ext cx="2516428" cy="1350264"/>
          </a:xfrm>
          <a:prstGeom prst="rect">
            <a:avLst/>
          </a:prstGeom>
          <a:solidFill>
            <a:srgbClr val="E3ECF5"/>
          </a:solidFill>
          <a:ln w="19050">
            <a:solidFill>
              <a:srgbClr val="FFFFFF"/>
            </a:solidFill>
          </a:ln>
          <a:effectLst/>
        </p:spPr>
        <p:txBody>
          <a:bodyPr rtlCol="0" anchor="ctr" wrap="square" tIns="27432" bIns="27432">
            <a:noAutofit/>
          </a:bodyPr>
          <a:lstStyle/>
          <a:p>
            <a:pPr algn="ctr">
              <a:spcBef>
                <a:spcPts val="0"/>
              </a:spcBef>
              <a:spcAft>
                <a:spcPts val="0"/>
              </a:spcAft>
            </a:pPr>
            <a:r>
              <a:rPr lang="tr-TR" sz="1800" b="1" i="0">
                <a:solidFill>
                  <a:srgbClr val="262626"/>
                </a:solidFill>
                <a:latin typeface="Calibri"/>
              </a:rPr>
              <a:t>109</a:t>
            </a:r>
          </a:p>
        </p:txBody>
      </p:sp>
      <p:sp>
        <p:nvSpPr>
          <p:cNvPr id="27" name="Rectangle 26"/>
          <p:cNvSpPr/>
          <p:nvPr/>
        </p:nvSpPr>
        <p:spPr>
          <a:xfrm>
            <a:off x="502920" y="3790188"/>
            <a:ext cx="3931920" cy="337566"/>
          </a:xfrm>
          <a:prstGeom prst="rect">
            <a:avLst/>
          </a:prstGeom>
          <a:solidFill>
            <a:srgbClr val="F0F0F0"/>
          </a:solidFill>
          <a:ln w="19050">
            <a:solidFill>
              <a:srgbClr val="FFFFFF"/>
            </a:solidFill>
          </a:ln>
          <a:effectLst/>
        </p:spPr>
        <p:txBody>
          <a:bodyPr rtlCol="0" anchor="ctr" wrap="square" tIns="27432" bIns="27432">
            <a:noAutofit/>
          </a:bodyPr>
          <a:lstStyle/>
          <a:p>
            <a:pPr algn="l">
              <a:spcBef>
                <a:spcPts val="0"/>
              </a:spcBef>
              <a:spcAft>
                <a:spcPts val="0"/>
              </a:spcAft>
            </a:pPr>
            <a:r>
              <a:rPr lang="tr-TR" sz="1800" b="0" i="0">
                <a:solidFill>
                  <a:srgbClr val="262626"/>
                </a:solidFill>
                <a:latin typeface="Calibri"/>
              </a:rPr>
              <a:t>Volkanik Faaliyetler</a:t>
            </a:r>
          </a:p>
        </p:txBody>
      </p:sp>
      <p:sp>
        <p:nvSpPr>
          <p:cNvPr id="28" name="Rectangle 27"/>
          <p:cNvSpPr/>
          <p:nvPr/>
        </p:nvSpPr>
        <p:spPr>
          <a:xfrm>
            <a:off x="4434840" y="3790188"/>
            <a:ext cx="1415491" cy="337566"/>
          </a:xfrm>
          <a:prstGeom prst="rect">
            <a:avLst/>
          </a:prstGeom>
          <a:solidFill>
            <a:srgbClr val="F0F0F0"/>
          </a:solidFill>
          <a:ln w="19050">
            <a:solidFill>
              <a:srgbClr val="FFFFFF"/>
            </a:solidFill>
          </a:ln>
          <a:effectLst/>
        </p:spPr>
        <p:txBody>
          <a:bodyPr rtlCol="0" anchor="ctr" wrap="square" tIns="27432" bIns="27432">
            <a:noAutofit/>
          </a:bodyPr>
          <a:lstStyle/>
          <a:p>
            <a:pPr algn="ctr">
              <a:spcBef>
                <a:spcPts val="0"/>
              </a:spcBef>
              <a:spcAft>
                <a:spcPts val="0"/>
              </a:spcAft>
            </a:pPr>
            <a:r>
              <a:rPr lang="tr-TR" sz="1800" b="0" i="0">
                <a:solidFill>
                  <a:srgbClr val="262626"/>
                </a:solidFill>
                <a:latin typeface="Calibri"/>
              </a:rPr>
              <a:t>102</a:t>
            </a:r>
          </a:p>
        </p:txBody>
      </p:sp>
      <p:sp>
        <p:nvSpPr>
          <p:cNvPr id="29" name="Rectangle 28"/>
          <p:cNvSpPr/>
          <p:nvPr/>
        </p:nvSpPr>
        <p:spPr>
          <a:xfrm>
            <a:off x="502920" y="4127754"/>
            <a:ext cx="3931920" cy="337566"/>
          </a:xfrm>
          <a:prstGeom prst="rect">
            <a:avLst/>
          </a:prstGeom>
          <a:solidFill>
            <a:srgbClr val="FFFFFF"/>
          </a:solidFill>
          <a:ln w="19050">
            <a:solidFill>
              <a:srgbClr val="FFFFFF"/>
            </a:solidFill>
          </a:ln>
          <a:effectLst/>
        </p:spPr>
        <p:txBody>
          <a:bodyPr rtlCol="0" anchor="ctr" wrap="square" tIns="27432" bIns="27432">
            <a:noAutofit/>
          </a:bodyPr>
          <a:lstStyle/>
          <a:p>
            <a:pPr algn="l">
              <a:spcBef>
                <a:spcPts val="0"/>
              </a:spcBef>
              <a:spcAft>
                <a:spcPts val="0"/>
              </a:spcAft>
            </a:pPr>
            <a:r>
              <a:rPr lang="tr-TR" sz="1800" b="0" i="0">
                <a:solidFill>
                  <a:srgbClr val="262626"/>
                </a:solidFill>
                <a:latin typeface="Calibri"/>
              </a:rPr>
              <a:t>Heyelan</a:t>
            </a:r>
          </a:p>
        </p:txBody>
      </p:sp>
      <p:sp>
        <p:nvSpPr>
          <p:cNvPr id="30" name="Rectangle 29"/>
          <p:cNvSpPr/>
          <p:nvPr/>
        </p:nvSpPr>
        <p:spPr>
          <a:xfrm>
            <a:off x="4434840" y="4127754"/>
            <a:ext cx="1415491" cy="337566"/>
          </a:xfrm>
          <a:prstGeom prst="rect">
            <a:avLst/>
          </a:prstGeom>
          <a:solidFill>
            <a:srgbClr val="FFFFFF"/>
          </a:solidFill>
          <a:ln w="19050">
            <a:solidFill>
              <a:srgbClr val="FFFFFF"/>
            </a:solidFill>
          </a:ln>
          <a:effectLst/>
        </p:spPr>
        <p:txBody>
          <a:bodyPr rtlCol="0" anchor="ctr" wrap="square" tIns="27432" bIns="27432">
            <a:noAutofit/>
          </a:bodyPr>
          <a:lstStyle/>
          <a:p>
            <a:pPr algn="ctr">
              <a:spcBef>
                <a:spcPts val="0"/>
              </a:spcBef>
              <a:spcAft>
                <a:spcPts val="0"/>
              </a:spcAft>
            </a:pPr>
            <a:r>
              <a:rPr lang="tr-TR" sz="1800" b="0" i="0">
                <a:solidFill>
                  <a:srgbClr val="262626"/>
                </a:solidFill>
                <a:latin typeface="Calibri"/>
              </a:rPr>
              <a:t>376</a:t>
            </a:r>
          </a:p>
        </p:txBody>
      </p:sp>
      <p:sp>
        <p:nvSpPr>
          <p:cNvPr id="31" name="Rectangle 30"/>
          <p:cNvSpPr/>
          <p:nvPr/>
        </p:nvSpPr>
        <p:spPr>
          <a:xfrm>
            <a:off x="502920" y="4465320"/>
            <a:ext cx="3931920" cy="337566"/>
          </a:xfrm>
          <a:prstGeom prst="rect">
            <a:avLst/>
          </a:prstGeom>
          <a:solidFill>
            <a:srgbClr val="F0F0F0"/>
          </a:solidFill>
          <a:ln w="19050">
            <a:solidFill>
              <a:srgbClr val="FFFFFF"/>
            </a:solidFill>
          </a:ln>
          <a:effectLst/>
        </p:spPr>
        <p:txBody>
          <a:bodyPr rtlCol="0" anchor="ctr" wrap="square" tIns="27432" bIns="27432">
            <a:noAutofit/>
          </a:bodyPr>
          <a:lstStyle/>
          <a:p>
            <a:pPr algn="l">
              <a:spcBef>
                <a:spcPts val="0"/>
              </a:spcBef>
              <a:spcAft>
                <a:spcPts val="0"/>
              </a:spcAft>
            </a:pPr>
            <a:r>
              <a:rPr lang="tr-TR" sz="1800" b="0" i="0">
                <a:solidFill>
                  <a:srgbClr val="262626"/>
                </a:solidFill>
                <a:latin typeface="Calibri"/>
              </a:rPr>
              <a:t>Orman Yangını</a:t>
            </a:r>
          </a:p>
        </p:txBody>
      </p:sp>
      <p:sp>
        <p:nvSpPr>
          <p:cNvPr id="32" name="Rectangle 31"/>
          <p:cNvSpPr/>
          <p:nvPr/>
        </p:nvSpPr>
        <p:spPr>
          <a:xfrm>
            <a:off x="4434840" y="4465320"/>
            <a:ext cx="1415491" cy="337566"/>
          </a:xfrm>
          <a:prstGeom prst="rect">
            <a:avLst/>
          </a:prstGeom>
          <a:solidFill>
            <a:srgbClr val="F0F0F0"/>
          </a:solidFill>
          <a:ln w="19050">
            <a:solidFill>
              <a:srgbClr val="FFFFFF"/>
            </a:solidFill>
          </a:ln>
          <a:effectLst/>
        </p:spPr>
        <p:txBody>
          <a:bodyPr rtlCol="0" anchor="ctr" wrap="square" tIns="27432" bIns="27432">
            <a:noAutofit/>
          </a:bodyPr>
          <a:lstStyle/>
          <a:p>
            <a:pPr algn="ctr">
              <a:spcBef>
                <a:spcPts val="0"/>
              </a:spcBef>
              <a:spcAft>
                <a:spcPts val="0"/>
              </a:spcAft>
            </a:pPr>
            <a:r>
              <a:rPr lang="tr-TR" sz="1800" b="0" i="0">
                <a:solidFill>
                  <a:srgbClr val="262626"/>
                </a:solidFill>
                <a:latin typeface="Calibri"/>
              </a:rPr>
              <a:t>238</a:t>
            </a:r>
          </a:p>
        </p:txBody>
      </p:sp>
      <p:sp>
        <p:nvSpPr>
          <p:cNvPr id="33" name="Rectangle 32"/>
          <p:cNvSpPr/>
          <p:nvPr/>
        </p:nvSpPr>
        <p:spPr>
          <a:xfrm>
            <a:off x="502920" y="4802886"/>
            <a:ext cx="3931920" cy="337566"/>
          </a:xfrm>
          <a:prstGeom prst="rect">
            <a:avLst/>
          </a:prstGeom>
          <a:solidFill>
            <a:srgbClr val="FFFFFF"/>
          </a:solidFill>
          <a:ln w="19050">
            <a:solidFill>
              <a:srgbClr val="FFFFFF"/>
            </a:solidFill>
          </a:ln>
          <a:effectLst/>
        </p:spPr>
        <p:txBody>
          <a:bodyPr rtlCol="0" anchor="ctr" wrap="square" tIns="27432" bIns="27432">
            <a:noAutofit/>
          </a:bodyPr>
          <a:lstStyle/>
          <a:p>
            <a:pPr algn="l">
              <a:spcBef>
                <a:spcPts val="0"/>
              </a:spcBef>
              <a:spcAft>
                <a:spcPts val="0"/>
              </a:spcAft>
            </a:pPr>
            <a:r>
              <a:rPr lang="tr-TR" sz="1800" b="0" i="0">
                <a:solidFill>
                  <a:srgbClr val="262626"/>
                </a:solidFill>
                <a:latin typeface="Calibri"/>
              </a:rPr>
              <a:t>Yoksulluk (ortalama insan sayısı)</a:t>
            </a:r>
          </a:p>
        </p:txBody>
      </p:sp>
      <p:sp>
        <p:nvSpPr>
          <p:cNvPr id="34" name="Rectangle 33"/>
          <p:cNvSpPr/>
          <p:nvPr/>
        </p:nvSpPr>
        <p:spPr>
          <a:xfrm>
            <a:off x="4434840" y="4802886"/>
            <a:ext cx="1415491" cy="337566"/>
          </a:xfrm>
          <a:prstGeom prst="rect">
            <a:avLst/>
          </a:prstGeom>
          <a:solidFill>
            <a:srgbClr val="FFFFFF"/>
          </a:solidFill>
          <a:ln w="19050">
            <a:solidFill>
              <a:srgbClr val="FFFFFF"/>
            </a:solidFill>
          </a:ln>
          <a:effectLst/>
        </p:spPr>
        <p:txBody>
          <a:bodyPr rtlCol="0" anchor="ctr" wrap="square" tIns="27432" bIns="27432">
            <a:noAutofit/>
          </a:bodyPr>
          <a:lstStyle/>
          <a:p>
            <a:pPr algn="ctr">
              <a:spcBef>
                <a:spcPts val="0"/>
              </a:spcBef>
              <a:spcAft>
                <a:spcPts val="0"/>
              </a:spcAft>
            </a:pPr>
            <a:r>
              <a:rPr lang="tr-TR" sz="1800" b="0" i="0">
                <a:solidFill>
                  <a:srgbClr val="262626"/>
                </a:solidFill>
                <a:latin typeface="Calibri"/>
              </a:rPr>
              <a:t>---</a:t>
            </a:r>
          </a:p>
        </p:txBody>
      </p:sp>
      <p:sp>
        <p:nvSpPr>
          <p:cNvPr id="35" name="Rectangle 34"/>
          <p:cNvSpPr/>
          <p:nvPr/>
        </p:nvSpPr>
        <p:spPr>
          <a:xfrm>
            <a:off x="5850331" y="4802886"/>
            <a:ext cx="2516428" cy="337566"/>
          </a:xfrm>
          <a:prstGeom prst="rect">
            <a:avLst/>
          </a:prstGeom>
          <a:solidFill>
            <a:srgbClr val="FFFFFF"/>
          </a:solidFill>
          <a:ln w="19050">
            <a:solidFill>
              <a:srgbClr val="FFFFFF"/>
            </a:solidFill>
          </a:ln>
          <a:effectLst/>
        </p:spPr>
        <p:txBody>
          <a:bodyPr rtlCol="0" anchor="ctr" wrap="square" tIns="27432" bIns="27432">
            <a:noAutofit/>
          </a:bodyPr>
          <a:lstStyle/>
          <a:p>
            <a:pPr algn="ctr">
              <a:spcBef>
                <a:spcPts val="0"/>
              </a:spcBef>
              <a:spcAft>
                <a:spcPts val="0"/>
              </a:spcAft>
            </a:pPr>
            <a:r>
              <a:rPr lang="tr-TR" sz="1800" b="0" i="0">
                <a:solidFill>
                  <a:srgbClr val="262626"/>
                </a:solidFill>
                <a:latin typeface="Calibri"/>
              </a:rPr>
              <a:t>1.167</a:t>
            </a:r>
          </a:p>
        </p:txBody>
      </p:sp>
      <p:sp>
        <p:nvSpPr>
          <p:cNvPr id="36" name="Rectangle 35"/>
          <p:cNvSpPr/>
          <p:nvPr/>
        </p:nvSpPr>
        <p:spPr>
          <a:xfrm>
            <a:off x="502920" y="5140452"/>
            <a:ext cx="3931920" cy="337566"/>
          </a:xfrm>
          <a:prstGeom prst="rect">
            <a:avLst/>
          </a:prstGeom>
          <a:solidFill>
            <a:srgbClr val="F0F0F0"/>
          </a:solidFill>
          <a:ln w="19050">
            <a:solidFill>
              <a:srgbClr val="FFFFFF"/>
            </a:solidFill>
          </a:ln>
          <a:effectLst/>
        </p:spPr>
        <p:txBody>
          <a:bodyPr rtlCol="0" anchor="ctr" wrap="square" tIns="27432" bIns="27432">
            <a:noAutofit/>
          </a:bodyPr>
          <a:lstStyle/>
          <a:p>
            <a:pPr algn="l">
              <a:spcBef>
                <a:spcPts val="0"/>
              </a:spcBef>
              <a:spcAft>
                <a:spcPts val="0"/>
              </a:spcAft>
            </a:pPr>
            <a:r>
              <a:rPr lang="tr-TR" sz="1800" b="0" i="0">
                <a:solidFill>
                  <a:srgbClr val="262626"/>
                </a:solidFill>
                <a:latin typeface="Calibri"/>
              </a:rPr>
              <a:t>Fırtına</a:t>
            </a:r>
          </a:p>
        </p:txBody>
      </p:sp>
      <p:sp>
        <p:nvSpPr>
          <p:cNvPr id="37" name="Rectangle 36"/>
          <p:cNvSpPr/>
          <p:nvPr/>
        </p:nvSpPr>
        <p:spPr>
          <a:xfrm>
            <a:off x="4434840" y="5140452"/>
            <a:ext cx="1415491" cy="337566"/>
          </a:xfrm>
          <a:prstGeom prst="rect">
            <a:avLst/>
          </a:prstGeom>
          <a:solidFill>
            <a:srgbClr val="F0F0F0"/>
          </a:solidFill>
          <a:ln w="19050">
            <a:solidFill>
              <a:srgbClr val="FFFFFF"/>
            </a:solidFill>
          </a:ln>
          <a:effectLst/>
        </p:spPr>
        <p:txBody>
          <a:bodyPr rtlCol="0" anchor="ctr" wrap="square" tIns="27432" bIns="27432">
            <a:noAutofit/>
          </a:bodyPr>
          <a:lstStyle/>
          <a:p>
            <a:pPr algn="ctr">
              <a:spcBef>
                <a:spcPts val="0"/>
              </a:spcBef>
              <a:spcAft>
                <a:spcPts val="0"/>
              </a:spcAft>
            </a:pPr>
            <a:r>
              <a:rPr lang="tr-TR" sz="1800" b="0" i="0">
                <a:solidFill>
                  <a:srgbClr val="262626"/>
                </a:solidFill>
                <a:latin typeface="Calibri"/>
              </a:rPr>
              <a:t>2.043</a:t>
            </a:r>
          </a:p>
        </p:txBody>
      </p:sp>
      <p:sp>
        <p:nvSpPr>
          <p:cNvPr id="38" name="Rectangle 37"/>
          <p:cNvSpPr/>
          <p:nvPr/>
        </p:nvSpPr>
        <p:spPr>
          <a:xfrm>
            <a:off x="5850331" y="5140452"/>
            <a:ext cx="2516428" cy="337566"/>
          </a:xfrm>
          <a:prstGeom prst="rect">
            <a:avLst/>
          </a:prstGeom>
          <a:solidFill>
            <a:srgbClr val="F0F0F0"/>
          </a:solidFill>
          <a:ln w="19050">
            <a:solidFill>
              <a:srgbClr val="FFFFFF"/>
            </a:solidFill>
          </a:ln>
          <a:effectLst/>
        </p:spPr>
        <p:txBody>
          <a:bodyPr rtlCol="0" anchor="ctr" wrap="square" tIns="27432" bIns="27432">
            <a:noAutofit/>
          </a:bodyPr>
          <a:lstStyle/>
          <a:p>
            <a:pPr algn="ctr">
              <a:spcBef>
                <a:spcPts val="0"/>
              </a:spcBef>
              <a:spcAft>
                <a:spcPts val="0"/>
              </a:spcAft>
            </a:pPr>
            <a:r>
              <a:rPr lang="tr-TR" sz="1800" b="0" i="0">
                <a:solidFill>
                  <a:srgbClr val="262626"/>
                </a:solidFill>
                <a:latin typeface="Calibri"/>
              </a:rPr>
              <a:t>727</a:t>
            </a:r>
          </a:p>
        </p:txBody>
      </p:sp>
      <p:sp>
        <p:nvSpPr>
          <p:cNvPr id="39" name="Rectangle 38"/>
          <p:cNvSpPr/>
          <p:nvPr/>
        </p:nvSpPr>
        <p:spPr>
          <a:xfrm>
            <a:off x="502920" y="5478018"/>
            <a:ext cx="3931920" cy="337566"/>
          </a:xfrm>
          <a:prstGeom prst="rect">
            <a:avLst/>
          </a:prstGeom>
          <a:solidFill>
            <a:srgbClr val="FFFFFF"/>
          </a:solidFill>
          <a:ln w="19050">
            <a:solidFill>
              <a:srgbClr val="FFFFFF"/>
            </a:solidFill>
          </a:ln>
          <a:effectLst/>
        </p:spPr>
        <p:txBody>
          <a:bodyPr rtlCol="0" anchor="ctr" wrap="square" tIns="27432" bIns="27432">
            <a:noAutofit/>
          </a:bodyPr>
          <a:lstStyle/>
          <a:p>
            <a:pPr algn="l">
              <a:spcBef>
                <a:spcPts val="0"/>
              </a:spcBef>
              <a:spcAft>
                <a:spcPts val="0"/>
              </a:spcAft>
            </a:pPr>
            <a:r>
              <a:rPr lang="tr-TR" sz="1800" b="0" i="0">
                <a:solidFill>
                  <a:srgbClr val="262626"/>
                </a:solidFill>
                <a:latin typeface="Calibri"/>
              </a:rPr>
              <a:t>Ulaşım Kazaları</a:t>
            </a:r>
          </a:p>
        </p:txBody>
      </p:sp>
      <p:sp>
        <p:nvSpPr>
          <p:cNvPr id="40" name="Rectangle 39"/>
          <p:cNvSpPr/>
          <p:nvPr/>
        </p:nvSpPr>
        <p:spPr>
          <a:xfrm>
            <a:off x="4434840" y="5478018"/>
            <a:ext cx="1415491" cy="337566"/>
          </a:xfrm>
          <a:prstGeom prst="rect">
            <a:avLst/>
          </a:prstGeom>
          <a:solidFill>
            <a:srgbClr val="FFFFFF"/>
          </a:solidFill>
          <a:ln w="19050">
            <a:solidFill>
              <a:srgbClr val="FFFFFF"/>
            </a:solidFill>
          </a:ln>
          <a:effectLst/>
        </p:spPr>
        <p:txBody>
          <a:bodyPr rtlCol="0" anchor="ctr" wrap="square" tIns="27432" bIns="27432">
            <a:noAutofit/>
          </a:bodyPr>
          <a:lstStyle/>
          <a:p>
            <a:pPr algn="ctr">
              <a:spcBef>
                <a:spcPts val="0"/>
              </a:spcBef>
              <a:spcAft>
                <a:spcPts val="0"/>
              </a:spcAft>
            </a:pPr>
            <a:r>
              <a:rPr lang="tr-TR" sz="1800" b="0" i="0">
                <a:solidFill>
                  <a:srgbClr val="262626"/>
                </a:solidFill>
                <a:latin typeface="Calibri"/>
              </a:rPr>
              <a:t>3.548</a:t>
            </a:r>
          </a:p>
        </p:txBody>
      </p:sp>
      <p:sp>
        <p:nvSpPr>
          <p:cNvPr id="41" name="Rectangle 40"/>
          <p:cNvSpPr/>
          <p:nvPr/>
        </p:nvSpPr>
        <p:spPr>
          <a:xfrm>
            <a:off x="5850331" y="5478018"/>
            <a:ext cx="2516428" cy="337566"/>
          </a:xfrm>
          <a:prstGeom prst="rect">
            <a:avLst/>
          </a:prstGeom>
          <a:solidFill>
            <a:srgbClr val="FFFFFF"/>
          </a:solidFill>
          <a:ln w="19050">
            <a:solidFill>
              <a:srgbClr val="FFFFFF"/>
            </a:solidFill>
          </a:ln>
          <a:effectLst/>
        </p:spPr>
        <p:txBody>
          <a:bodyPr rtlCol="0" anchor="ctr" wrap="square" tIns="27432" bIns="27432">
            <a:noAutofit/>
          </a:bodyPr>
          <a:lstStyle/>
          <a:p>
            <a:pPr algn="ctr">
              <a:spcBef>
                <a:spcPts val="0"/>
              </a:spcBef>
              <a:spcAft>
                <a:spcPts val="0"/>
              </a:spcAft>
            </a:pPr>
            <a:r>
              <a:rPr lang="tr-TR" sz="1800" b="0" i="0">
                <a:solidFill>
                  <a:srgbClr val="262626"/>
                </a:solidFill>
                <a:latin typeface="Calibri"/>
              </a:rPr>
              <a:t>0,13</a:t>
            </a:r>
          </a:p>
        </p:txBody>
      </p:sp>
      <p:sp>
        <p:nvSpPr>
          <p:cNvPr id="42" name="TextBox 41"/>
          <p:cNvSpPr txBox="1"/>
          <p:nvPr/>
        </p:nvSpPr>
        <p:spPr>
          <a:xfrm>
            <a:off x="502920" y="5843016"/>
            <a:ext cx="7863840" cy="448056"/>
          </a:xfrm>
          <a:prstGeom prst="rect">
            <a:avLst/>
          </a:prstGeom>
          <a:noFill/>
        </p:spPr>
        <p:txBody>
          <a:bodyPr wrap="square" anchor="t" lIns="73152" rIns="73152" tIns="0" bIns="0">
            <a:noAutofit/>
          </a:bodyPr>
          <a:lstStyle/>
          <a:p>
            <a:pPr algn="l">
              <a:spcBef>
                <a:spcPts val="0"/>
              </a:spcBef>
              <a:spcAft>
                <a:spcPts val="0"/>
              </a:spcAft>
            </a:pPr>
            <a:r>
              <a:rPr lang="tr-TR" sz="1400" b="1" i="0">
                <a:solidFill>
                  <a:srgbClr val="262626"/>
                </a:solidFill>
                <a:latin typeface="Calibri"/>
              </a:rPr>
              <a:t>Tablo: 2000-2019 Yılları Arasında Meydana Gelen Afet Sayısı ve Etkilenen Kişi Sayısı</a:t>
            </a:r>
          </a:p>
          <a:p>
            <a:pPr algn="l">
              <a:spcBef>
                <a:spcPts val="0"/>
              </a:spcBef>
              <a:spcAft>
                <a:spcPts val="0"/>
              </a:spcAft>
            </a:pPr>
            <a:r>
              <a:rPr lang="tr-TR" sz="1100" b="0" i="0">
                <a:solidFill>
                  <a:srgbClr val="767676"/>
                </a:solidFill>
                <a:latin typeface="Calibri"/>
              </a:rPr>
              <a:t>Ders kitabı s. 211 (sunumda yeniden dizildi; değerler kitaptaki gibi)</a:t>
            </a:r>
          </a:p>
        </p:txBody>
      </p:sp>
      <p:sp>
        <p:nvSpPr>
          <p:cNvPr id="43" name="Rounded Rectangle 42"/>
          <p:cNvSpPr/>
          <p:nvPr/>
        </p:nvSpPr>
        <p:spPr>
          <a:xfrm>
            <a:off x="8595360" y="1197864"/>
            <a:ext cx="3093415" cy="548640"/>
          </a:xfrm>
          <a:prstGeom prst="roundRect">
            <a:avLst>
              <a:gd name="adj" fmla="val 8000"/>
            </a:avLst>
          </a:prstGeom>
          <a:solidFill>
            <a:srgbClr val="6A4C93"/>
          </a:solidFill>
          <a:ln>
            <a:noFill/>
          </a:ln>
          <a:effectLst/>
        </p:spPr>
        <p:txBody>
          <a:bodyPr rtlCol="0" anchor="ctr" wrap="square" lIns="128016" rIns="128016" tIns="73152" bIns="73152">
            <a:noAutofit/>
          </a:bodyPr>
          <a:lstStyle/>
          <a:p>
            <a:pPr algn="ctr">
              <a:spcBef>
                <a:spcPts val="0"/>
              </a:spcBef>
              <a:spcAft>
                <a:spcPts val="0"/>
              </a:spcAft>
            </a:pPr>
            <a:r>
              <a:rPr lang="tr-TR" sz="2000" b="1" i="0">
                <a:solidFill>
                  <a:srgbClr val="FFFFFF"/>
                </a:solidFill>
                <a:latin typeface="Calibri"/>
              </a:rPr>
              <a:t>Tabloyu okuyalım</a:t>
            </a:r>
          </a:p>
        </p:txBody>
      </p:sp>
      <p:sp>
        <p:nvSpPr>
          <p:cNvPr id="44" name="Rounded Rectangle 43"/>
          <p:cNvSpPr/>
          <p:nvPr/>
        </p:nvSpPr>
        <p:spPr>
          <a:xfrm>
            <a:off x="8595360" y="1883664"/>
            <a:ext cx="3093415" cy="1170432"/>
          </a:xfrm>
          <a:prstGeom prst="roundRect">
            <a:avLst>
              <a:gd name="adj" fmla="val 8000"/>
            </a:avLst>
          </a:prstGeom>
          <a:solidFill>
            <a:srgbClr val="F0F0F0"/>
          </a:solidFill>
          <a:ln>
            <a:noFill/>
          </a:ln>
          <a:effectLst/>
        </p:spPr>
        <p:txBody>
          <a:bodyPr rtlCol="0" anchor="ctr"/>
          <a:lstStyle/>
          <a:p/>
        </p:txBody>
      </p:sp>
      <p:sp>
        <p:nvSpPr>
          <p:cNvPr id="45" name="Oval 44"/>
          <p:cNvSpPr/>
          <p:nvPr/>
        </p:nvSpPr>
        <p:spPr>
          <a:xfrm>
            <a:off x="8686800" y="2249424"/>
            <a:ext cx="438912" cy="438912"/>
          </a:xfrm>
          <a:prstGeom prst="ellipse">
            <a:avLst/>
          </a:prstGeom>
          <a:solidFill>
            <a:srgbClr val="6A4C93"/>
          </a:solidFill>
          <a:ln>
            <a:noFill/>
          </a:ln>
          <a:effectLst/>
        </p:spPr>
        <p:txBody>
          <a:bodyPr rtlCol="0" anchor="ctr" wrap="none" lIns="0" rIns="0" tIns="0" bIns="0">
            <a:noAutofit/>
          </a:bodyPr>
          <a:lstStyle/>
          <a:p>
            <a:pPr algn="ctr">
              <a:spcBef>
                <a:spcPts val="0"/>
              </a:spcBef>
              <a:spcAft>
                <a:spcPts val="0"/>
              </a:spcAft>
            </a:pPr>
            <a:r>
              <a:rPr lang="tr-TR" sz="1700" b="1" i="0">
                <a:solidFill>
                  <a:srgbClr val="FFFFFF"/>
                </a:solidFill>
                <a:latin typeface="Calibri"/>
              </a:rPr>
              <a:t>1</a:t>
            </a:r>
          </a:p>
        </p:txBody>
      </p:sp>
      <p:sp>
        <p:nvSpPr>
          <p:cNvPr id="46" name="TextBox 45"/>
          <p:cNvSpPr txBox="1"/>
          <p:nvPr/>
        </p:nvSpPr>
        <p:spPr>
          <a:xfrm>
            <a:off x="9217152" y="1883664"/>
            <a:ext cx="2398471" cy="1170432"/>
          </a:xfrm>
          <a:prstGeom prst="rect">
            <a:avLst/>
          </a:prstGeom>
          <a:noFill/>
        </p:spPr>
        <p:txBody>
          <a:bodyPr wrap="square" anchor="ctr" lIns="73152" rIns="73152" tIns="36576" bIns="36576">
            <a:noAutofit/>
          </a:bodyPr>
          <a:lstStyle/>
          <a:p>
            <a:pPr algn="l">
              <a:spcBef>
                <a:spcPts val="0"/>
              </a:spcBef>
              <a:spcAft>
                <a:spcPts val="0"/>
              </a:spcAft>
            </a:pPr>
            <a:r>
              <a:rPr lang="tr-TR" sz="2100" b="1" i="0">
                <a:solidFill>
                  <a:srgbClr val="262626"/>
                </a:solidFill>
                <a:latin typeface="Calibri"/>
              </a:rPr>
              <a:t>En çok kaydedilen afet türü hangisi?</a:t>
            </a:r>
          </a:p>
        </p:txBody>
      </p:sp>
      <p:sp>
        <p:nvSpPr>
          <p:cNvPr id="47" name="Rounded Rectangle 46"/>
          <p:cNvSpPr/>
          <p:nvPr/>
        </p:nvSpPr>
        <p:spPr>
          <a:xfrm>
            <a:off x="8595360" y="3163824"/>
            <a:ext cx="3093415" cy="1170432"/>
          </a:xfrm>
          <a:prstGeom prst="roundRect">
            <a:avLst>
              <a:gd name="adj" fmla="val 8000"/>
            </a:avLst>
          </a:prstGeom>
          <a:solidFill>
            <a:srgbClr val="F0F0F0"/>
          </a:solidFill>
          <a:ln>
            <a:noFill/>
          </a:ln>
          <a:effectLst/>
        </p:spPr>
        <p:txBody>
          <a:bodyPr rtlCol="0" anchor="ctr"/>
          <a:lstStyle/>
          <a:p/>
        </p:txBody>
      </p:sp>
      <p:sp>
        <p:nvSpPr>
          <p:cNvPr id="48" name="Oval 47"/>
          <p:cNvSpPr/>
          <p:nvPr/>
        </p:nvSpPr>
        <p:spPr>
          <a:xfrm>
            <a:off x="8686800" y="3529584"/>
            <a:ext cx="438912" cy="438912"/>
          </a:xfrm>
          <a:prstGeom prst="ellipse">
            <a:avLst/>
          </a:prstGeom>
          <a:solidFill>
            <a:srgbClr val="6A4C93"/>
          </a:solidFill>
          <a:ln>
            <a:noFill/>
          </a:ln>
          <a:effectLst/>
        </p:spPr>
        <p:txBody>
          <a:bodyPr rtlCol="0" anchor="ctr" wrap="none" lIns="0" rIns="0" tIns="0" bIns="0">
            <a:noAutofit/>
          </a:bodyPr>
          <a:lstStyle/>
          <a:p>
            <a:pPr algn="ctr">
              <a:spcBef>
                <a:spcPts val="0"/>
              </a:spcBef>
              <a:spcAft>
                <a:spcPts val="0"/>
              </a:spcAft>
            </a:pPr>
            <a:r>
              <a:rPr lang="tr-TR" sz="1700" b="1" i="0">
                <a:solidFill>
                  <a:srgbClr val="FFFFFF"/>
                </a:solidFill>
                <a:latin typeface="Calibri"/>
              </a:rPr>
              <a:t>2</a:t>
            </a:r>
          </a:p>
        </p:txBody>
      </p:sp>
      <p:sp>
        <p:nvSpPr>
          <p:cNvPr id="49" name="TextBox 48"/>
          <p:cNvSpPr txBox="1"/>
          <p:nvPr/>
        </p:nvSpPr>
        <p:spPr>
          <a:xfrm>
            <a:off x="9217152" y="3163824"/>
            <a:ext cx="2398471" cy="1170432"/>
          </a:xfrm>
          <a:prstGeom prst="rect">
            <a:avLst/>
          </a:prstGeom>
          <a:noFill/>
        </p:spPr>
        <p:txBody>
          <a:bodyPr wrap="square" anchor="ctr" lIns="73152" rIns="73152" tIns="36576" bIns="36576">
            <a:noAutofit/>
          </a:bodyPr>
          <a:lstStyle/>
          <a:p>
            <a:pPr algn="l">
              <a:spcBef>
                <a:spcPts val="0"/>
              </a:spcBef>
              <a:spcAft>
                <a:spcPts val="0"/>
              </a:spcAft>
            </a:pPr>
            <a:r>
              <a:rPr lang="tr-TR" sz="2100" b="1" i="0">
                <a:solidFill>
                  <a:srgbClr val="262626"/>
                </a:solidFill>
                <a:latin typeface="Calibri"/>
              </a:rPr>
              <a:t>En çok insanı hangi afet etkilemiş?</a:t>
            </a:r>
          </a:p>
        </p:txBody>
      </p:sp>
      <p:sp>
        <p:nvSpPr>
          <p:cNvPr id="50" name="Rounded Rectangle 49"/>
          <p:cNvSpPr/>
          <p:nvPr/>
        </p:nvSpPr>
        <p:spPr>
          <a:xfrm>
            <a:off x="8595360" y="4443984"/>
            <a:ext cx="3093415" cy="1170432"/>
          </a:xfrm>
          <a:prstGeom prst="roundRect">
            <a:avLst>
              <a:gd name="adj" fmla="val 8000"/>
            </a:avLst>
          </a:prstGeom>
          <a:solidFill>
            <a:srgbClr val="F0F0F0"/>
          </a:solidFill>
          <a:ln>
            <a:noFill/>
          </a:ln>
          <a:effectLst/>
        </p:spPr>
        <p:txBody>
          <a:bodyPr rtlCol="0" anchor="ctr"/>
          <a:lstStyle/>
          <a:p/>
        </p:txBody>
      </p:sp>
      <p:sp>
        <p:nvSpPr>
          <p:cNvPr id="51" name="Oval 50"/>
          <p:cNvSpPr/>
          <p:nvPr/>
        </p:nvSpPr>
        <p:spPr>
          <a:xfrm>
            <a:off x="8686800" y="4809744"/>
            <a:ext cx="438912" cy="438912"/>
          </a:xfrm>
          <a:prstGeom prst="ellipse">
            <a:avLst/>
          </a:prstGeom>
          <a:solidFill>
            <a:srgbClr val="6A4C93"/>
          </a:solidFill>
          <a:ln>
            <a:noFill/>
          </a:ln>
          <a:effectLst/>
        </p:spPr>
        <p:txBody>
          <a:bodyPr rtlCol="0" anchor="ctr" wrap="none" lIns="0" rIns="0" tIns="0" bIns="0">
            <a:noAutofit/>
          </a:bodyPr>
          <a:lstStyle/>
          <a:p>
            <a:pPr algn="ctr">
              <a:spcBef>
                <a:spcPts val="0"/>
              </a:spcBef>
              <a:spcAft>
                <a:spcPts val="0"/>
              </a:spcAft>
            </a:pPr>
            <a:r>
              <a:rPr lang="tr-TR" sz="1700" b="1" i="0">
                <a:solidFill>
                  <a:srgbClr val="FFFFFF"/>
                </a:solidFill>
                <a:latin typeface="Calibri"/>
              </a:rPr>
              <a:t>3</a:t>
            </a:r>
          </a:p>
        </p:txBody>
      </p:sp>
      <p:sp>
        <p:nvSpPr>
          <p:cNvPr id="52" name="TextBox 51"/>
          <p:cNvSpPr txBox="1"/>
          <p:nvPr/>
        </p:nvSpPr>
        <p:spPr>
          <a:xfrm>
            <a:off x="9217152" y="4443984"/>
            <a:ext cx="2398471" cy="1170432"/>
          </a:xfrm>
          <a:prstGeom prst="rect">
            <a:avLst/>
          </a:prstGeom>
          <a:noFill/>
        </p:spPr>
        <p:txBody>
          <a:bodyPr wrap="square" anchor="ctr" lIns="73152" rIns="73152" tIns="36576" bIns="36576">
            <a:noAutofit/>
          </a:bodyPr>
          <a:lstStyle/>
          <a:p>
            <a:pPr algn="l">
              <a:spcBef>
                <a:spcPts val="0"/>
              </a:spcBef>
              <a:spcAft>
                <a:spcPts val="0"/>
              </a:spcAft>
            </a:pPr>
            <a:r>
              <a:rPr lang="tr-TR" sz="2100" b="1" i="0">
                <a:solidFill>
                  <a:srgbClr val="262626"/>
                </a:solidFill>
                <a:latin typeface="Calibri"/>
              </a:rPr>
              <a:t>Afet sayılarının toplamı metindeki hangi sayı?</a:t>
            </a:r>
          </a:p>
        </p:txBody>
      </p:sp>
      <p:sp>
        <p:nvSpPr>
          <p:cNvPr id="53" name="TextBox 52"/>
          <p:cNvSpPr txBox="1"/>
          <p:nvPr/>
        </p:nvSpPr>
        <p:spPr>
          <a:xfrm>
            <a:off x="8595360" y="5724144"/>
            <a:ext cx="3093415" cy="566928"/>
          </a:xfrm>
          <a:prstGeom prst="rect">
            <a:avLst/>
          </a:prstGeom>
          <a:noFill/>
        </p:spPr>
        <p:txBody>
          <a:bodyPr wrap="square" anchor="t" lIns="73152" rIns="73152" tIns="36576" bIns="36576">
            <a:noAutofit/>
          </a:bodyPr>
          <a:lstStyle/>
          <a:p>
            <a:pPr algn="l">
              <a:spcBef>
                <a:spcPts val="0"/>
              </a:spcBef>
              <a:spcAft>
                <a:spcPts val="0"/>
              </a:spcAft>
            </a:pPr>
            <a:r>
              <a:rPr lang="tr-TR" sz="1500" b="0" i="1">
                <a:solidFill>
                  <a:srgbClr val="767676"/>
                </a:solidFill>
                <a:latin typeface="Calibri"/>
              </a:rPr>
              <a:t>“109”: dört satırın ortak değeri (birleşik hücre)</a:t>
            </a:r>
          </a:p>
        </p:txBody>
      </p:sp>
      <p:sp>
        <p:nvSpPr>
          <p:cNvPr id="54" name="TextBox 53"/>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55" name="Rounded Rectangle 54"/>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211</a:t>
            </a:r>
          </a:p>
        </p:txBody>
      </p:sp>
      <p:sp>
        <p:nvSpPr>
          <p:cNvPr id="56" name="TextBox 55"/>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230 / 250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Ünite ölçme: 3. soru</a:t>
            </a:r>
          </a:p>
        </p:txBody>
      </p:sp>
      <p:sp>
        <p:nvSpPr>
          <p:cNvPr id="5" name="Rounded Rectangle 4"/>
          <p:cNvSpPr/>
          <p:nvPr/>
        </p:nvSpPr>
        <p:spPr>
          <a:xfrm>
            <a:off x="9555480" y="201168"/>
            <a:ext cx="2221992" cy="475488"/>
          </a:xfrm>
          <a:prstGeom prst="roundRect">
            <a:avLst>
              <a:gd name="adj" fmla="val 50000"/>
            </a:avLst>
          </a:prstGeom>
          <a:solidFill>
            <a:srgbClr val="D3373A"/>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SORU 3</a:t>
            </a:r>
          </a:p>
        </p:txBody>
      </p:sp>
      <p:sp>
        <p:nvSpPr>
          <p:cNvPr id="6" name="Rounded Rectangle 5"/>
          <p:cNvSpPr/>
          <p:nvPr/>
        </p:nvSpPr>
        <p:spPr>
          <a:xfrm>
            <a:off x="502920" y="1216152"/>
            <a:ext cx="11185855" cy="868680"/>
          </a:xfrm>
          <a:prstGeom prst="roundRect">
            <a:avLst>
              <a:gd name="adj" fmla="val 12631"/>
            </a:avLst>
          </a:prstGeom>
          <a:solidFill>
            <a:srgbClr val="F0F0F0"/>
          </a:solidFill>
          <a:ln>
            <a:noFill/>
          </a:ln>
          <a:effectLst/>
        </p:spPr>
        <p:txBody>
          <a:bodyPr rtlCol="0" anchor="ctr"/>
          <a:lstStyle/>
          <a:p/>
        </p:txBody>
      </p:sp>
      <p:sp>
        <p:nvSpPr>
          <p:cNvPr id="7" name="Oval 6"/>
          <p:cNvSpPr/>
          <p:nvPr/>
        </p:nvSpPr>
        <p:spPr>
          <a:xfrm>
            <a:off x="612648" y="1376172"/>
            <a:ext cx="548640" cy="548640"/>
          </a:xfrm>
          <a:prstGeom prst="ellipse">
            <a:avLst/>
          </a:prstGeom>
          <a:solidFill>
            <a:srgbClr val="D3373A"/>
          </a:solidFill>
          <a:ln>
            <a:noFill/>
          </a:ln>
          <a:effectLst/>
        </p:spPr>
        <p:txBody>
          <a:bodyPr rtlCol="0" anchor="ctr" wrap="none" lIns="0" rIns="0" tIns="0" bIns="0">
            <a:noAutofit/>
          </a:bodyPr>
          <a:lstStyle/>
          <a:p>
            <a:pPr algn="ctr">
              <a:spcBef>
                <a:spcPts val="0"/>
              </a:spcBef>
              <a:spcAft>
                <a:spcPts val="0"/>
              </a:spcAft>
            </a:pPr>
            <a:r>
              <a:rPr lang="tr-TR" sz="2200" b="1" i="0">
                <a:solidFill>
                  <a:srgbClr val="FFFFFF"/>
                </a:solidFill>
                <a:latin typeface="Calibri"/>
              </a:rPr>
              <a:t>3</a:t>
            </a:r>
          </a:p>
        </p:txBody>
      </p:sp>
      <p:sp>
        <p:nvSpPr>
          <p:cNvPr id="8" name="TextBox 7"/>
          <p:cNvSpPr txBox="1"/>
          <p:nvPr/>
        </p:nvSpPr>
        <p:spPr>
          <a:xfrm>
            <a:off x="1280160" y="1216152"/>
            <a:ext cx="10317175" cy="868680"/>
          </a:xfrm>
          <a:prstGeom prst="rect">
            <a:avLst/>
          </a:prstGeom>
          <a:noFill/>
        </p:spPr>
        <p:txBody>
          <a:bodyPr wrap="square" anchor="ctr" lIns="73152" rIns="73152" tIns="36576" bIns="36576">
            <a:noAutofit/>
          </a:bodyPr>
          <a:lstStyle/>
          <a:p>
            <a:pPr algn="l">
              <a:spcBef>
                <a:spcPts val="0"/>
              </a:spcBef>
              <a:spcAft>
                <a:spcPts val="0"/>
              </a:spcAft>
            </a:pPr>
            <a:r>
              <a:rPr lang="tr-TR" sz="2100" b="1" i="0">
                <a:solidFill>
                  <a:srgbClr val="262626"/>
                </a:solidFill>
                <a:latin typeface="Calibri"/>
              </a:rPr>
              <a:t>Afetlerin hangi ölçütlere göre sınıflandırılabildiğini aşağıdaki kutucukları işaretleyerek belirtiniz. (Birden fazla seçim yapabilirsiniz.)</a:t>
            </a:r>
          </a:p>
        </p:txBody>
      </p:sp>
      <p:sp>
        <p:nvSpPr>
          <p:cNvPr id="9" name="Rounded Rectangle 8"/>
          <p:cNvSpPr/>
          <p:nvPr/>
        </p:nvSpPr>
        <p:spPr>
          <a:xfrm>
            <a:off x="502920" y="2221992"/>
            <a:ext cx="11185855" cy="617219"/>
          </a:xfrm>
          <a:prstGeom prst="roundRect">
            <a:avLst>
              <a:gd name="adj" fmla="val 14814"/>
            </a:avLst>
          </a:prstGeom>
          <a:solidFill>
            <a:srgbClr val="FFFFFF"/>
          </a:solidFill>
          <a:ln w="12700">
            <a:solidFill>
              <a:srgbClr val="D9D9D9"/>
            </a:solidFill>
          </a:ln>
          <a:effectLst/>
        </p:spPr>
        <p:txBody>
          <a:bodyPr rtlCol="0" anchor="ctr"/>
          <a:lstStyle/>
          <a:p/>
        </p:txBody>
      </p:sp>
      <p:sp>
        <p:nvSpPr>
          <p:cNvPr id="10" name="TextBox 9"/>
          <p:cNvSpPr txBox="1"/>
          <p:nvPr/>
        </p:nvSpPr>
        <p:spPr>
          <a:xfrm>
            <a:off x="557784" y="2221992"/>
            <a:ext cx="365760" cy="617219"/>
          </a:xfrm>
          <a:prstGeom prst="rect">
            <a:avLst/>
          </a:prstGeom>
          <a:noFill/>
        </p:spPr>
        <p:txBody>
          <a:bodyPr wrap="square" anchor="ctr" lIns="0" rIns="0" tIns="36576" bIns="36576">
            <a:noAutofit/>
          </a:bodyPr>
          <a:lstStyle/>
          <a:p>
            <a:pPr algn="ctr">
              <a:spcBef>
                <a:spcPts val="0"/>
              </a:spcBef>
              <a:spcAft>
                <a:spcPts val="0"/>
              </a:spcAft>
            </a:pPr>
            <a:r>
              <a:rPr lang="tr-TR" sz="1500" b="1" i="0">
                <a:solidFill>
                  <a:srgbClr val="767676"/>
                </a:solidFill>
                <a:latin typeface="Calibri"/>
              </a:rPr>
              <a:t>1</a:t>
            </a:r>
          </a:p>
        </p:txBody>
      </p:sp>
      <p:sp>
        <p:nvSpPr>
          <p:cNvPr id="11" name="Rectangle 10"/>
          <p:cNvSpPr/>
          <p:nvPr/>
        </p:nvSpPr>
        <p:spPr>
          <a:xfrm>
            <a:off x="941832" y="2347722"/>
            <a:ext cx="365760" cy="365760"/>
          </a:xfrm>
          <a:prstGeom prst="rect">
            <a:avLst/>
          </a:prstGeom>
          <a:solidFill>
            <a:srgbClr val="FFFFFF"/>
          </a:solidFill>
          <a:ln w="19050">
            <a:solidFill>
              <a:srgbClr val="4F4F4F"/>
            </a:solidFill>
          </a:ln>
          <a:effectLst/>
        </p:spPr>
        <p:txBody>
          <a:bodyPr rtlCol="0" anchor="ctr"/>
          <a:lstStyle/>
          <a:p/>
        </p:txBody>
      </p:sp>
      <p:sp>
        <p:nvSpPr>
          <p:cNvPr id="12" name="TextBox 11"/>
          <p:cNvSpPr txBox="1"/>
          <p:nvPr/>
        </p:nvSpPr>
        <p:spPr>
          <a:xfrm>
            <a:off x="1453896" y="2221992"/>
            <a:ext cx="10161727" cy="617219"/>
          </a:xfrm>
          <a:prstGeom prst="rect">
            <a:avLst/>
          </a:prstGeom>
          <a:noFill/>
        </p:spPr>
        <p:txBody>
          <a:bodyPr wrap="square" anchor="ctr" lIns="73152" rIns="73152" tIns="36576" bIns="36576">
            <a:noAutofit/>
          </a:bodyPr>
          <a:lstStyle/>
          <a:p>
            <a:pPr algn="l">
              <a:spcBef>
                <a:spcPts val="0"/>
              </a:spcBef>
              <a:spcAft>
                <a:spcPts val="0"/>
              </a:spcAft>
            </a:pPr>
            <a:r>
              <a:rPr lang="tr-TR" sz="2400" b="0" i="0">
                <a:solidFill>
                  <a:srgbClr val="262626"/>
                </a:solidFill>
                <a:latin typeface="Calibri"/>
              </a:rPr>
              <a:t>Oluştukları ülkelerin gelişmişlik düzeyine göre</a:t>
            </a:r>
          </a:p>
        </p:txBody>
      </p:sp>
      <p:sp>
        <p:nvSpPr>
          <p:cNvPr id="13" name="Rounded Rectangle 12"/>
          <p:cNvSpPr/>
          <p:nvPr/>
        </p:nvSpPr>
        <p:spPr>
          <a:xfrm>
            <a:off x="502920" y="2912364"/>
            <a:ext cx="11185855" cy="617219"/>
          </a:xfrm>
          <a:prstGeom prst="roundRect">
            <a:avLst>
              <a:gd name="adj" fmla="val 14814"/>
            </a:avLst>
          </a:prstGeom>
          <a:solidFill>
            <a:srgbClr val="FFFFFF"/>
          </a:solidFill>
          <a:ln w="12700">
            <a:solidFill>
              <a:srgbClr val="D9D9D9"/>
            </a:solidFill>
          </a:ln>
          <a:effectLst/>
        </p:spPr>
        <p:txBody>
          <a:bodyPr rtlCol="0" anchor="ctr"/>
          <a:lstStyle/>
          <a:p/>
        </p:txBody>
      </p:sp>
      <p:sp>
        <p:nvSpPr>
          <p:cNvPr id="14" name="TextBox 13"/>
          <p:cNvSpPr txBox="1"/>
          <p:nvPr/>
        </p:nvSpPr>
        <p:spPr>
          <a:xfrm>
            <a:off x="557784" y="2912364"/>
            <a:ext cx="365760" cy="617219"/>
          </a:xfrm>
          <a:prstGeom prst="rect">
            <a:avLst/>
          </a:prstGeom>
          <a:noFill/>
        </p:spPr>
        <p:txBody>
          <a:bodyPr wrap="square" anchor="ctr" lIns="0" rIns="0" tIns="36576" bIns="36576">
            <a:noAutofit/>
          </a:bodyPr>
          <a:lstStyle/>
          <a:p>
            <a:pPr algn="ctr">
              <a:spcBef>
                <a:spcPts val="0"/>
              </a:spcBef>
              <a:spcAft>
                <a:spcPts val="0"/>
              </a:spcAft>
            </a:pPr>
            <a:r>
              <a:rPr lang="tr-TR" sz="1500" b="1" i="0">
                <a:solidFill>
                  <a:srgbClr val="767676"/>
                </a:solidFill>
                <a:latin typeface="Calibri"/>
              </a:rPr>
              <a:t>2</a:t>
            </a:r>
          </a:p>
        </p:txBody>
      </p:sp>
      <p:sp>
        <p:nvSpPr>
          <p:cNvPr id="15" name="Rectangle 14"/>
          <p:cNvSpPr/>
          <p:nvPr/>
        </p:nvSpPr>
        <p:spPr>
          <a:xfrm>
            <a:off x="941832" y="3038094"/>
            <a:ext cx="365760" cy="365760"/>
          </a:xfrm>
          <a:prstGeom prst="rect">
            <a:avLst/>
          </a:prstGeom>
          <a:solidFill>
            <a:srgbClr val="FFFFFF"/>
          </a:solidFill>
          <a:ln w="19050">
            <a:solidFill>
              <a:srgbClr val="4F4F4F"/>
            </a:solidFill>
          </a:ln>
          <a:effectLst/>
        </p:spPr>
        <p:txBody>
          <a:bodyPr rtlCol="0" anchor="ctr"/>
          <a:lstStyle/>
          <a:p/>
        </p:txBody>
      </p:sp>
      <p:sp>
        <p:nvSpPr>
          <p:cNvPr id="16" name="TextBox 15"/>
          <p:cNvSpPr txBox="1"/>
          <p:nvPr/>
        </p:nvSpPr>
        <p:spPr>
          <a:xfrm>
            <a:off x="1453896" y="2912364"/>
            <a:ext cx="10161727" cy="617219"/>
          </a:xfrm>
          <a:prstGeom prst="rect">
            <a:avLst/>
          </a:prstGeom>
          <a:noFill/>
        </p:spPr>
        <p:txBody>
          <a:bodyPr wrap="square" anchor="ctr" lIns="73152" rIns="73152" tIns="36576" bIns="36576">
            <a:noAutofit/>
          </a:bodyPr>
          <a:lstStyle/>
          <a:p>
            <a:pPr algn="l">
              <a:spcBef>
                <a:spcPts val="0"/>
              </a:spcBef>
              <a:spcAft>
                <a:spcPts val="0"/>
              </a:spcAft>
            </a:pPr>
            <a:r>
              <a:rPr lang="tr-TR" sz="2400" b="0" i="0">
                <a:solidFill>
                  <a:srgbClr val="262626"/>
                </a:solidFill>
                <a:latin typeface="Calibri"/>
              </a:rPr>
              <a:t>Etki alanına göre</a:t>
            </a:r>
          </a:p>
        </p:txBody>
      </p:sp>
      <p:sp>
        <p:nvSpPr>
          <p:cNvPr id="17" name="Rounded Rectangle 16"/>
          <p:cNvSpPr/>
          <p:nvPr/>
        </p:nvSpPr>
        <p:spPr>
          <a:xfrm>
            <a:off x="502920" y="3602736"/>
            <a:ext cx="11185855" cy="617219"/>
          </a:xfrm>
          <a:prstGeom prst="roundRect">
            <a:avLst>
              <a:gd name="adj" fmla="val 14814"/>
            </a:avLst>
          </a:prstGeom>
          <a:solidFill>
            <a:srgbClr val="FFFFFF"/>
          </a:solidFill>
          <a:ln w="12700">
            <a:solidFill>
              <a:srgbClr val="D9D9D9"/>
            </a:solidFill>
          </a:ln>
          <a:effectLst/>
        </p:spPr>
        <p:txBody>
          <a:bodyPr rtlCol="0" anchor="ctr"/>
          <a:lstStyle/>
          <a:p/>
        </p:txBody>
      </p:sp>
      <p:sp>
        <p:nvSpPr>
          <p:cNvPr id="18" name="TextBox 17"/>
          <p:cNvSpPr txBox="1"/>
          <p:nvPr/>
        </p:nvSpPr>
        <p:spPr>
          <a:xfrm>
            <a:off x="557784" y="3602736"/>
            <a:ext cx="365760" cy="617219"/>
          </a:xfrm>
          <a:prstGeom prst="rect">
            <a:avLst/>
          </a:prstGeom>
          <a:noFill/>
        </p:spPr>
        <p:txBody>
          <a:bodyPr wrap="square" anchor="ctr" lIns="0" rIns="0" tIns="36576" bIns="36576">
            <a:noAutofit/>
          </a:bodyPr>
          <a:lstStyle/>
          <a:p>
            <a:pPr algn="ctr">
              <a:spcBef>
                <a:spcPts val="0"/>
              </a:spcBef>
              <a:spcAft>
                <a:spcPts val="0"/>
              </a:spcAft>
            </a:pPr>
            <a:r>
              <a:rPr lang="tr-TR" sz="1500" b="1" i="0">
                <a:solidFill>
                  <a:srgbClr val="767676"/>
                </a:solidFill>
                <a:latin typeface="Calibri"/>
              </a:rPr>
              <a:t>3</a:t>
            </a:r>
          </a:p>
        </p:txBody>
      </p:sp>
      <p:sp>
        <p:nvSpPr>
          <p:cNvPr id="19" name="Rectangle 18"/>
          <p:cNvSpPr/>
          <p:nvPr/>
        </p:nvSpPr>
        <p:spPr>
          <a:xfrm>
            <a:off x="941832" y="3728466"/>
            <a:ext cx="365760" cy="365760"/>
          </a:xfrm>
          <a:prstGeom prst="rect">
            <a:avLst/>
          </a:prstGeom>
          <a:solidFill>
            <a:srgbClr val="FFFFFF"/>
          </a:solidFill>
          <a:ln w="19050">
            <a:solidFill>
              <a:srgbClr val="4F4F4F"/>
            </a:solidFill>
          </a:ln>
          <a:effectLst/>
        </p:spPr>
        <p:txBody>
          <a:bodyPr rtlCol="0" anchor="ctr"/>
          <a:lstStyle/>
          <a:p/>
        </p:txBody>
      </p:sp>
      <p:sp>
        <p:nvSpPr>
          <p:cNvPr id="20" name="TextBox 19"/>
          <p:cNvSpPr txBox="1"/>
          <p:nvPr/>
        </p:nvSpPr>
        <p:spPr>
          <a:xfrm>
            <a:off x="1453896" y="3602736"/>
            <a:ext cx="10161727" cy="617219"/>
          </a:xfrm>
          <a:prstGeom prst="rect">
            <a:avLst/>
          </a:prstGeom>
          <a:noFill/>
        </p:spPr>
        <p:txBody>
          <a:bodyPr wrap="square" anchor="ctr" lIns="73152" rIns="73152" tIns="36576" bIns="36576">
            <a:noAutofit/>
          </a:bodyPr>
          <a:lstStyle/>
          <a:p>
            <a:pPr algn="l">
              <a:spcBef>
                <a:spcPts val="0"/>
              </a:spcBef>
              <a:spcAft>
                <a:spcPts val="0"/>
              </a:spcAft>
            </a:pPr>
            <a:r>
              <a:rPr lang="tr-TR" sz="2400" b="0" i="0">
                <a:solidFill>
                  <a:srgbClr val="262626"/>
                </a:solidFill>
                <a:latin typeface="Calibri"/>
              </a:rPr>
              <a:t>Beşerî faaliyetlere etkisine göre</a:t>
            </a:r>
          </a:p>
        </p:txBody>
      </p:sp>
      <p:sp>
        <p:nvSpPr>
          <p:cNvPr id="21" name="Rounded Rectangle 20"/>
          <p:cNvSpPr/>
          <p:nvPr/>
        </p:nvSpPr>
        <p:spPr>
          <a:xfrm>
            <a:off x="502920" y="4293108"/>
            <a:ext cx="11185855" cy="617219"/>
          </a:xfrm>
          <a:prstGeom prst="roundRect">
            <a:avLst>
              <a:gd name="adj" fmla="val 14814"/>
            </a:avLst>
          </a:prstGeom>
          <a:solidFill>
            <a:srgbClr val="FFFFFF"/>
          </a:solidFill>
          <a:ln w="12700">
            <a:solidFill>
              <a:srgbClr val="D9D9D9"/>
            </a:solidFill>
          </a:ln>
          <a:effectLst/>
        </p:spPr>
        <p:txBody>
          <a:bodyPr rtlCol="0" anchor="ctr"/>
          <a:lstStyle/>
          <a:p/>
        </p:txBody>
      </p:sp>
      <p:sp>
        <p:nvSpPr>
          <p:cNvPr id="22" name="TextBox 21"/>
          <p:cNvSpPr txBox="1"/>
          <p:nvPr/>
        </p:nvSpPr>
        <p:spPr>
          <a:xfrm>
            <a:off x="557784" y="4293108"/>
            <a:ext cx="365760" cy="617219"/>
          </a:xfrm>
          <a:prstGeom prst="rect">
            <a:avLst/>
          </a:prstGeom>
          <a:noFill/>
        </p:spPr>
        <p:txBody>
          <a:bodyPr wrap="square" anchor="ctr" lIns="0" rIns="0" tIns="36576" bIns="36576">
            <a:noAutofit/>
          </a:bodyPr>
          <a:lstStyle/>
          <a:p>
            <a:pPr algn="ctr">
              <a:spcBef>
                <a:spcPts val="0"/>
              </a:spcBef>
              <a:spcAft>
                <a:spcPts val="0"/>
              </a:spcAft>
            </a:pPr>
            <a:r>
              <a:rPr lang="tr-TR" sz="1500" b="1" i="0">
                <a:solidFill>
                  <a:srgbClr val="767676"/>
                </a:solidFill>
                <a:latin typeface="Calibri"/>
              </a:rPr>
              <a:t>4</a:t>
            </a:r>
          </a:p>
        </p:txBody>
      </p:sp>
      <p:sp>
        <p:nvSpPr>
          <p:cNvPr id="23" name="Rectangle 22"/>
          <p:cNvSpPr/>
          <p:nvPr/>
        </p:nvSpPr>
        <p:spPr>
          <a:xfrm>
            <a:off x="941832" y="4418838"/>
            <a:ext cx="365760" cy="365760"/>
          </a:xfrm>
          <a:prstGeom prst="rect">
            <a:avLst/>
          </a:prstGeom>
          <a:solidFill>
            <a:srgbClr val="FFFFFF"/>
          </a:solidFill>
          <a:ln w="19050">
            <a:solidFill>
              <a:srgbClr val="4F4F4F"/>
            </a:solidFill>
          </a:ln>
          <a:effectLst/>
        </p:spPr>
        <p:txBody>
          <a:bodyPr rtlCol="0" anchor="ctr"/>
          <a:lstStyle/>
          <a:p/>
        </p:txBody>
      </p:sp>
      <p:sp>
        <p:nvSpPr>
          <p:cNvPr id="24" name="TextBox 23"/>
          <p:cNvSpPr txBox="1"/>
          <p:nvPr/>
        </p:nvSpPr>
        <p:spPr>
          <a:xfrm>
            <a:off x="1453896" y="4293108"/>
            <a:ext cx="10161727" cy="617219"/>
          </a:xfrm>
          <a:prstGeom prst="rect">
            <a:avLst/>
          </a:prstGeom>
          <a:noFill/>
        </p:spPr>
        <p:txBody>
          <a:bodyPr wrap="square" anchor="ctr" lIns="73152" rIns="73152" tIns="36576" bIns="36576">
            <a:noAutofit/>
          </a:bodyPr>
          <a:lstStyle/>
          <a:p>
            <a:pPr algn="l">
              <a:spcBef>
                <a:spcPts val="0"/>
              </a:spcBef>
              <a:spcAft>
                <a:spcPts val="0"/>
              </a:spcAft>
            </a:pPr>
            <a:r>
              <a:rPr lang="tr-TR" sz="2400" b="0" i="0">
                <a:solidFill>
                  <a:srgbClr val="262626"/>
                </a:solidFill>
                <a:latin typeface="Calibri"/>
              </a:rPr>
              <a:t>Oluşum nedenine göre</a:t>
            </a:r>
          </a:p>
        </p:txBody>
      </p:sp>
      <p:sp>
        <p:nvSpPr>
          <p:cNvPr id="25" name="Rounded Rectangle 24"/>
          <p:cNvSpPr/>
          <p:nvPr/>
        </p:nvSpPr>
        <p:spPr>
          <a:xfrm>
            <a:off x="502920" y="4983480"/>
            <a:ext cx="11185855" cy="617219"/>
          </a:xfrm>
          <a:prstGeom prst="roundRect">
            <a:avLst>
              <a:gd name="adj" fmla="val 14814"/>
            </a:avLst>
          </a:prstGeom>
          <a:solidFill>
            <a:srgbClr val="FFFFFF"/>
          </a:solidFill>
          <a:ln w="12700">
            <a:solidFill>
              <a:srgbClr val="D9D9D9"/>
            </a:solidFill>
          </a:ln>
          <a:effectLst/>
        </p:spPr>
        <p:txBody>
          <a:bodyPr rtlCol="0" anchor="ctr"/>
          <a:lstStyle/>
          <a:p/>
        </p:txBody>
      </p:sp>
      <p:sp>
        <p:nvSpPr>
          <p:cNvPr id="26" name="TextBox 25"/>
          <p:cNvSpPr txBox="1"/>
          <p:nvPr/>
        </p:nvSpPr>
        <p:spPr>
          <a:xfrm>
            <a:off x="557784" y="4983480"/>
            <a:ext cx="365760" cy="617219"/>
          </a:xfrm>
          <a:prstGeom prst="rect">
            <a:avLst/>
          </a:prstGeom>
          <a:noFill/>
        </p:spPr>
        <p:txBody>
          <a:bodyPr wrap="square" anchor="ctr" lIns="0" rIns="0" tIns="36576" bIns="36576">
            <a:noAutofit/>
          </a:bodyPr>
          <a:lstStyle/>
          <a:p>
            <a:pPr algn="ctr">
              <a:spcBef>
                <a:spcPts val="0"/>
              </a:spcBef>
              <a:spcAft>
                <a:spcPts val="0"/>
              </a:spcAft>
            </a:pPr>
            <a:r>
              <a:rPr lang="tr-TR" sz="1500" b="1" i="0">
                <a:solidFill>
                  <a:srgbClr val="767676"/>
                </a:solidFill>
                <a:latin typeface="Calibri"/>
              </a:rPr>
              <a:t>5</a:t>
            </a:r>
          </a:p>
        </p:txBody>
      </p:sp>
      <p:sp>
        <p:nvSpPr>
          <p:cNvPr id="27" name="Rectangle 26"/>
          <p:cNvSpPr/>
          <p:nvPr/>
        </p:nvSpPr>
        <p:spPr>
          <a:xfrm>
            <a:off x="941832" y="5109210"/>
            <a:ext cx="365760" cy="365760"/>
          </a:xfrm>
          <a:prstGeom prst="rect">
            <a:avLst/>
          </a:prstGeom>
          <a:solidFill>
            <a:srgbClr val="FFFFFF"/>
          </a:solidFill>
          <a:ln w="19050">
            <a:solidFill>
              <a:srgbClr val="4F4F4F"/>
            </a:solidFill>
          </a:ln>
          <a:effectLst/>
        </p:spPr>
        <p:txBody>
          <a:bodyPr rtlCol="0" anchor="ctr"/>
          <a:lstStyle/>
          <a:p/>
        </p:txBody>
      </p:sp>
      <p:sp>
        <p:nvSpPr>
          <p:cNvPr id="28" name="TextBox 27"/>
          <p:cNvSpPr txBox="1"/>
          <p:nvPr/>
        </p:nvSpPr>
        <p:spPr>
          <a:xfrm>
            <a:off x="1453896" y="4983480"/>
            <a:ext cx="10161727" cy="617219"/>
          </a:xfrm>
          <a:prstGeom prst="rect">
            <a:avLst/>
          </a:prstGeom>
          <a:noFill/>
        </p:spPr>
        <p:txBody>
          <a:bodyPr wrap="square" anchor="ctr" lIns="73152" rIns="73152" tIns="36576" bIns="36576">
            <a:noAutofit/>
          </a:bodyPr>
          <a:lstStyle/>
          <a:p>
            <a:pPr algn="l">
              <a:spcBef>
                <a:spcPts val="0"/>
              </a:spcBef>
              <a:spcAft>
                <a:spcPts val="0"/>
              </a:spcAft>
            </a:pPr>
            <a:r>
              <a:rPr lang="tr-TR" sz="2400" b="0" i="0">
                <a:solidFill>
                  <a:srgbClr val="262626"/>
                </a:solidFill>
                <a:latin typeface="Calibri"/>
              </a:rPr>
              <a:t>Oluşum hızına göre</a:t>
            </a:r>
          </a:p>
        </p:txBody>
      </p:sp>
      <p:sp>
        <p:nvSpPr>
          <p:cNvPr id="29" name="Rounded Rectangle 28"/>
          <p:cNvSpPr/>
          <p:nvPr/>
        </p:nvSpPr>
        <p:spPr>
          <a:xfrm>
            <a:off x="502920" y="5673852"/>
            <a:ext cx="11185855" cy="617219"/>
          </a:xfrm>
          <a:prstGeom prst="roundRect">
            <a:avLst>
              <a:gd name="adj" fmla="val 14814"/>
            </a:avLst>
          </a:prstGeom>
          <a:solidFill>
            <a:srgbClr val="FFFFFF"/>
          </a:solidFill>
          <a:ln w="12700">
            <a:solidFill>
              <a:srgbClr val="D9D9D9"/>
            </a:solidFill>
          </a:ln>
          <a:effectLst/>
        </p:spPr>
        <p:txBody>
          <a:bodyPr rtlCol="0" anchor="ctr"/>
          <a:lstStyle/>
          <a:p/>
        </p:txBody>
      </p:sp>
      <p:sp>
        <p:nvSpPr>
          <p:cNvPr id="30" name="TextBox 29"/>
          <p:cNvSpPr txBox="1"/>
          <p:nvPr/>
        </p:nvSpPr>
        <p:spPr>
          <a:xfrm>
            <a:off x="557784" y="5673852"/>
            <a:ext cx="365760" cy="617219"/>
          </a:xfrm>
          <a:prstGeom prst="rect">
            <a:avLst/>
          </a:prstGeom>
          <a:noFill/>
        </p:spPr>
        <p:txBody>
          <a:bodyPr wrap="square" anchor="ctr" lIns="0" rIns="0" tIns="36576" bIns="36576">
            <a:noAutofit/>
          </a:bodyPr>
          <a:lstStyle/>
          <a:p>
            <a:pPr algn="ctr">
              <a:spcBef>
                <a:spcPts val="0"/>
              </a:spcBef>
              <a:spcAft>
                <a:spcPts val="0"/>
              </a:spcAft>
            </a:pPr>
            <a:r>
              <a:rPr lang="tr-TR" sz="1500" b="1" i="0">
                <a:solidFill>
                  <a:srgbClr val="767676"/>
                </a:solidFill>
                <a:latin typeface="Calibri"/>
              </a:rPr>
              <a:t>6</a:t>
            </a:r>
          </a:p>
        </p:txBody>
      </p:sp>
      <p:sp>
        <p:nvSpPr>
          <p:cNvPr id="31" name="Rectangle 30"/>
          <p:cNvSpPr/>
          <p:nvPr/>
        </p:nvSpPr>
        <p:spPr>
          <a:xfrm>
            <a:off x="941832" y="5799582"/>
            <a:ext cx="365760" cy="365760"/>
          </a:xfrm>
          <a:prstGeom prst="rect">
            <a:avLst/>
          </a:prstGeom>
          <a:solidFill>
            <a:srgbClr val="FFFFFF"/>
          </a:solidFill>
          <a:ln w="19050">
            <a:solidFill>
              <a:srgbClr val="4F4F4F"/>
            </a:solidFill>
          </a:ln>
          <a:effectLst/>
        </p:spPr>
        <p:txBody>
          <a:bodyPr rtlCol="0" anchor="ctr"/>
          <a:lstStyle/>
          <a:p/>
        </p:txBody>
      </p:sp>
      <p:sp>
        <p:nvSpPr>
          <p:cNvPr id="32" name="TextBox 31"/>
          <p:cNvSpPr txBox="1"/>
          <p:nvPr/>
        </p:nvSpPr>
        <p:spPr>
          <a:xfrm>
            <a:off x="1453896" y="5673852"/>
            <a:ext cx="10161727" cy="617219"/>
          </a:xfrm>
          <a:prstGeom prst="rect">
            <a:avLst/>
          </a:prstGeom>
          <a:noFill/>
        </p:spPr>
        <p:txBody>
          <a:bodyPr wrap="square" anchor="ctr" lIns="73152" rIns="73152" tIns="36576" bIns="36576">
            <a:noAutofit/>
          </a:bodyPr>
          <a:lstStyle/>
          <a:p>
            <a:pPr algn="l">
              <a:spcBef>
                <a:spcPts val="0"/>
              </a:spcBef>
              <a:spcAft>
                <a:spcPts val="0"/>
              </a:spcAft>
            </a:pPr>
            <a:r>
              <a:rPr lang="tr-TR" sz="2400" b="0" i="0">
                <a:solidFill>
                  <a:srgbClr val="262626"/>
                </a:solidFill>
                <a:latin typeface="Calibri"/>
              </a:rPr>
              <a:t>Doğal çevreye etkisine göre</a:t>
            </a:r>
          </a:p>
        </p:txBody>
      </p:sp>
      <p:sp>
        <p:nvSpPr>
          <p:cNvPr id="33" name="TextBox 32"/>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34" name="Rounded Rectangle 33"/>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211</a:t>
            </a:r>
          </a:p>
        </p:txBody>
      </p:sp>
      <p:sp>
        <p:nvSpPr>
          <p:cNvPr id="35" name="TextBox 34"/>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231 / 250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3. soru —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SORU 3</a:t>
            </a:r>
          </a:p>
        </p:txBody>
      </p:sp>
      <p:sp>
        <p:nvSpPr>
          <p:cNvPr id="6" name="Rounded Rectangle 5"/>
          <p:cNvSpPr/>
          <p:nvPr/>
        </p:nvSpPr>
        <p:spPr>
          <a:xfrm>
            <a:off x="502920" y="1216152"/>
            <a:ext cx="11185855" cy="644652"/>
          </a:xfrm>
          <a:prstGeom prst="roundRect">
            <a:avLst>
              <a:gd name="adj" fmla="val 14184"/>
            </a:avLst>
          </a:prstGeom>
          <a:solidFill>
            <a:srgbClr val="F9E1E1"/>
          </a:solidFill>
          <a:ln w="22225">
            <a:solidFill>
              <a:srgbClr val="D3373A"/>
            </a:solidFill>
          </a:ln>
          <a:effectLst/>
        </p:spPr>
        <p:txBody>
          <a:bodyPr rtlCol="0" anchor="ctr"/>
          <a:lstStyle/>
          <a:p/>
        </p:txBody>
      </p:sp>
      <p:sp>
        <p:nvSpPr>
          <p:cNvPr id="7" name="TextBox 6"/>
          <p:cNvSpPr txBox="1"/>
          <p:nvPr/>
        </p:nvSpPr>
        <p:spPr>
          <a:xfrm>
            <a:off x="557784" y="1216152"/>
            <a:ext cx="365760" cy="644652"/>
          </a:xfrm>
          <a:prstGeom prst="rect">
            <a:avLst/>
          </a:prstGeom>
          <a:noFill/>
        </p:spPr>
        <p:txBody>
          <a:bodyPr wrap="square" anchor="ctr" lIns="0" rIns="0" tIns="36576" bIns="36576">
            <a:noAutofit/>
          </a:bodyPr>
          <a:lstStyle/>
          <a:p>
            <a:pPr algn="ctr">
              <a:spcBef>
                <a:spcPts val="0"/>
              </a:spcBef>
              <a:spcAft>
                <a:spcPts val="0"/>
              </a:spcAft>
            </a:pPr>
            <a:r>
              <a:rPr lang="tr-TR" sz="1500" b="1" i="0">
                <a:solidFill>
                  <a:srgbClr val="767676"/>
                </a:solidFill>
                <a:latin typeface="Calibri"/>
              </a:rPr>
              <a:t>1</a:t>
            </a:r>
          </a:p>
        </p:txBody>
      </p:sp>
      <p:sp>
        <p:nvSpPr>
          <p:cNvPr id="8" name="Rectangle 7"/>
          <p:cNvSpPr/>
          <p:nvPr/>
        </p:nvSpPr>
        <p:spPr>
          <a:xfrm>
            <a:off x="941832" y="1355598"/>
            <a:ext cx="365760" cy="365760"/>
          </a:xfrm>
          <a:prstGeom prst="rect">
            <a:avLst/>
          </a:prstGeom>
          <a:solidFill>
            <a:srgbClr val="D3373A"/>
          </a:solidFill>
          <a:ln>
            <a:noFill/>
          </a:ln>
          <a:effectLst/>
        </p:spPr>
        <p:txBody>
          <a:bodyPr rtlCol="0" anchor="ctr" wrap="square" lIns="0" rIns="0" tIns="0" bIns="0">
            <a:noAutofit/>
          </a:bodyPr>
          <a:lstStyle/>
          <a:p>
            <a:pPr algn="ctr">
              <a:spcBef>
                <a:spcPts val="0"/>
              </a:spcBef>
              <a:spcAft>
                <a:spcPts val="0"/>
              </a:spcAft>
            </a:pPr>
            <a:r>
              <a:rPr lang="tr-TR" sz="2000" b="1" i="0">
                <a:solidFill>
                  <a:srgbClr val="FFFFFF"/>
                </a:solidFill>
                <a:latin typeface="Calibri"/>
              </a:rPr>
              <a:t>✗</a:t>
            </a:r>
          </a:p>
        </p:txBody>
      </p:sp>
      <p:sp>
        <p:nvSpPr>
          <p:cNvPr id="9" name="TextBox 8"/>
          <p:cNvSpPr txBox="1"/>
          <p:nvPr/>
        </p:nvSpPr>
        <p:spPr>
          <a:xfrm>
            <a:off x="1453896" y="1216152"/>
            <a:ext cx="10161727" cy="644652"/>
          </a:xfrm>
          <a:prstGeom prst="rect">
            <a:avLst/>
          </a:prstGeom>
          <a:noFill/>
        </p:spPr>
        <p:txBody>
          <a:bodyPr wrap="square" anchor="ctr" lIns="73152" rIns="73152" tIns="36576" bIns="36576">
            <a:noAutofit/>
          </a:bodyPr>
          <a:lstStyle/>
          <a:p>
            <a:pPr algn="l">
              <a:spcBef>
                <a:spcPts val="0"/>
              </a:spcBef>
              <a:spcAft>
                <a:spcPts val="300"/>
              </a:spcAft>
            </a:pPr>
            <a:r>
              <a:rPr lang="tr-TR" sz="1900" b="0" i="0">
                <a:solidFill>
                  <a:srgbClr val="262626"/>
                </a:solidFill>
                <a:latin typeface="Calibri"/>
              </a:rPr>
              <a:t>Oluştukları ülkelerin gelişmişlik düzeyine göre</a:t>
            </a:r>
          </a:p>
          <a:p>
            <a:pPr algn="l">
              <a:spcBef>
                <a:spcPts val="0"/>
              </a:spcBef>
              <a:spcAft>
                <a:spcPts val="0"/>
              </a:spcAft>
            </a:pPr>
            <a:r>
              <a:rPr lang="tr-TR" sz="1520" b="0" i="0">
                <a:solidFill>
                  <a:srgbClr val="D3373A"/>
                </a:solidFill>
                <a:latin typeface="Calibri"/>
              </a:rPr>
              <a:t>→ Gelişmişlik afetin </a:t>
            </a:r>
            <a:r>
              <a:rPr lang="tr-TR" sz="1520" b="1" i="0">
                <a:solidFill>
                  <a:srgbClr val="D3373A"/>
                </a:solidFill>
                <a:latin typeface="Calibri"/>
              </a:rPr>
              <a:t>etkisini</a:t>
            </a:r>
            <a:r>
              <a:rPr lang="tr-TR" sz="1520" b="0" i="0">
                <a:solidFill>
                  <a:srgbClr val="D3373A"/>
                </a:solidFill>
                <a:latin typeface="Calibri"/>
              </a:rPr>
              <a:t> değiştirir (s. 191); sınıflandırma ölçütü değildir</a:t>
            </a:r>
          </a:p>
        </p:txBody>
      </p:sp>
      <p:sp>
        <p:nvSpPr>
          <p:cNvPr id="10" name="Rounded Rectangle 9"/>
          <p:cNvSpPr/>
          <p:nvPr/>
        </p:nvSpPr>
        <p:spPr>
          <a:xfrm>
            <a:off x="502920" y="1933956"/>
            <a:ext cx="11185855" cy="644652"/>
          </a:xfrm>
          <a:prstGeom prst="roundRect">
            <a:avLst>
              <a:gd name="adj" fmla="val 14184"/>
            </a:avLst>
          </a:prstGeom>
          <a:solidFill>
            <a:srgbClr val="E3F1E4"/>
          </a:solidFill>
          <a:ln w="22225">
            <a:solidFill>
              <a:srgbClr val="2E7D32"/>
            </a:solidFill>
          </a:ln>
          <a:effectLst/>
        </p:spPr>
        <p:txBody>
          <a:bodyPr rtlCol="0" anchor="ctr"/>
          <a:lstStyle/>
          <a:p/>
        </p:txBody>
      </p:sp>
      <p:sp>
        <p:nvSpPr>
          <p:cNvPr id="11" name="TextBox 10"/>
          <p:cNvSpPr txBox="1"/>
          <p:nvPr/>
        </p:nvSpPr>
        <p:spPr>
          <a:xfrm>
            <a:off x="557784" y="1933956"/>
            <a:ext cx="365760" cy="644652"/>
          </a:xfrm>
          <a:prstGeom prst="rect">
            <a:avLst/>
          </a:prstGeom>
          <a:noFill/>
        </p:spPr>
        <p:txBody>
          <a:bodyPr wrap="square" anchor="ctr" lIns="0" rIns="0" tIns="36576" bIns="36576">
            <a:noAutofit/>
          </a:bodyPr>
          <a:lstStyle/>
          <a:p>
            <a:pPr algn="ctr">
              <a:spcBef>
                <a:spcPts val="0"/>
              </a:spcBef>
              <a:spcAft>
                <a:spcPts val="0"/>
              </a:spcAft>
            </a:pPr>
            <a:r>
              <a:rPr lang="tr-TR" sz="1500" b="1" i="0">
                <a:solidFill>
                  <a:srgbClr val="767676"/>
                </a:solidFill>
                <a:latin typeface="Calibri"/>
              </a:rPr>
              <a:t>2</a:t>
            </a:r>
          </a:p>
        </p:txBody>
      </p:sp>
      <p:sp>
        <p:nvSpPr>
          <p:cNvPr id="12" name="Rectangle 11"/>
          <p:cNvSpPr/>
          <p:nvPr/>
        </p:nvSpPr>
        <p:spPr>
          <a:xfrm>
            <a:off x="941832" y="2073402"/>
            <a:ext cx="365760" cy="365760"/>
          </a:xfrm>
          <a:prstGeom prst="rect">
            <a:avLst/>
          </a:prstGeom>
          <a:solidFill>
            <a:srgbClr val="2E7D32"/>
          </a:solidFill>
          <a:ln>
            <a:noFill/>
          </a:ln>
          <a:effectLst/>
        </p:spPr>
        <p:txBody>
          <a:bodyPr rtlCol="0" anchor="ctr" wrap="square" lIns="0" rIns="0" tIns="0" bIns="0">
            <a:noAutofit/>
          </a:bodyPr>
          <a:lstStyle/>
          <a:p>
            <a:pPr algn="ctr">
              <a:spcBef>
                <a:spcPts val="0"/>
              </a:spcBef>
              <a:spcAft>
                <a:spcPts val="0"/>
              </a:spcAft>
            </a:pPr>
            <a:r>
              <a:rPr lang="tr-TR" sz="2000" b="1" i="0">
                <a:solidFill>
                  <a:srgbClr val="FFFFFF"/>
                </a:solidFill>
                <a:latin typeface="Calibri"/>
              </a:rPr>
              <a:t>✓</a:t>
            </a:r>
          </a:p>
        </p:txBody>
      </p:sp>
      <p:sp>
        <p:nvSpPr>
          <p:cNvPr id="13" name="TextBox 12"/>
          <p:cNvSpPr txBox="1"/>
          <p:nvPr/>
        </p:nvSpPr>
        <p:spPr>
          <a:xfrm>
            <a:off x="1453896" y="1933956"/>
            <a:ext cx="10161727" cy="644652"/>
          </a:xfrm>
          <a:prstGeom prst="rect">
            <a:avLst/>
          </a:prstGeom>
          <a:noFill/>
        </p:spPr>
        <p:txBody>
          <a:bodyPr wrap="square" anchor="ctr" lIns="73152" rIns="73152" tIns="36576" bIns="36576">
            <a:noAutofit/>
          </a:bodyPr>
          <a:lstStyle/>
          <a:p>
            <a:pPr algn="l">
              <a:spcBef>
                <a:spcPts val="0"/>
              </a:spcBef>
              <a:spcAft>
                <a:spcPts val="300"/>
              </a:spcAft>
            </a:pPr>
            <a:r>
              <a:rPr lang="tr-TR" sz="1900" b="1" i="0">
                <a:solidFill>
                  <a:srgbClr val="262626"/>
                </a:solidFill>
                <a:latin typeface="Calibri"/>
              </a:rPr>
              <a:t>Etki alanına göre</a:t>
            </a:r>
          </a:p>
          <a:p>
            <a:pPr algn="l">
              <a:spcBef>
                <a:spcPts val="0"/>
              </a:spcBef>
              <a:spcAft>
                <a:spcPts val="0"/>
              </a:spcAft>
            </a:pPr>
            <a:r>
              <a:rPr lang="tr-TR" sz="1520" b="0" i="0">
                <a:solidFill>
                  <a:srgbClr val="2E7D32"/>
                </a:solidFill>
                <a:latin typeface="Calibri"/>
              </a:rPr>
              <a:t>→ s. 194: “… oluşum hızı ve etki alanına göre”</a:t>
            </a:r>
          </a:p>
        </p:txBody>
      </p:sp>
      <p:sp>
        <p:nvSpPr>
          <p:cNvPr id="14" name="Rounded Rectangle 13"/>
          <p:cNvSpPr/>
          <p:nvPr/>
        </p:nvSpPr>
        <p:spPr>
          <a:xfrm>
            <a:off x="502920" y="2651760"/>
            <a:ext cx="11185855" cy="644652"/>
          </a:xfrm>
          <a:prstGeom prst="roundRect">
            <a:avLst>
              <a:gd name="adj" fmla="val 14184"/>
            </a:avLst>
          </a:prstGeom>
          <a:solidFill>
            <a:srgbClr val="F9E1E1"/>
          </a:solidFill>
          <a:ln w="22225">
            <a:solidFill>
              <a:srgbClr val="D3373A"/>
            </a:solidFill>
          </a:ln>
          <a:effectLst/>
        </p:spPr>
        <p:txBody>
          <a:bodyPr rtlCol="0" anchor="ctr"/>
          <a:lstStyle/>
          <a:p/>
        </p:txBody>
      </p:sp>
      <p:sp>
        <p:nvSpPr>
          <p:cNvPr id="15" name="TextBox 14"/>
          <p:cNvSpPr txBox="1"/>
          <p:nvPr/>
        </p:nvSpPr>
        <p:spPr>
          <a:xfrm>
            <a:off x="557784" y="2651760"/>
            <a:ext cx="365760" cy="644652"/>
          </a:xfrm>
          <a:prstGeom prst="rect">
            <a:avLst/>
          </a:prstGeom>
          <a:noFill/>
        </p:spPr>
        <p:txBody>
          <a:bodyPr wrap="square" anchor="ctr" lIns="0" rIns="0" tIns="36576" bIns="36576">
            <a:noAutofit/>
          </a:bodyPr>
          <a:lstStyle/>
          <a:p>
            <a:pPr algn="ctr">
              <a:spcBef>
                <a:spcPts val="0"/>
              </a:spcBef>
              <a:spcAft>
                <a:spcPts val="0"/>
              </a:spcAft>
            </a:pPr>
            <a:r>
              <a:rPr lang="tr-TR" sz="1500" b="1" i="0">
                <a:solidFill>
                  <a:srgbClr val="767676"/>
                </a:solidFill>
                <a:latin typeface="Calibri"/>
              </a:rPr>
              <a:t>3</a:t>
            </a:r>
          </a:p>
        </p:txBody>
      </p:sp>
      <p:sp>
        <p:nvSpPr>
          <p:cNvPr id="16" name="Rectangle 15"/>
          <p:cNvSpPr/>
          <p:nvPr/>
        </p:nvSpPr>
        <p:spPr>
          <a:xfrm>
            <a:off x="941832" y="2791206"/>
            <a:ext cx="365760" cy="365760"/>
          </a:xfrm>
          <a:prstGeom prst="rect">
            <a:avLst/>
          </a:prstGeom>
          <a:solidFill>
            <a:srgbClr val="D3373A"/>
          </a:solidFill>
          <a:ln>
            <a:noFill/>
          </a:ln>
          <a:effectLst/>
        </p:spPr>
        <p:txBody>
          <a:bodyPr rtlCol="0" anchor="ctr" wrap="square" lIns="0" rIns="0" tIns="0" bIns="0">
            <a:noAutofit/>
          </a:bodyPr>
          <a:lstStyle/>
          <a:p>
            <a:pPr algn="ctr">
              <a:spcBef>
                <a:spcPts val="0"/>
              </a:spcBef>
              <a:spcAft>
                <a:spcPts val="0"/>
              </a:spcAft>
            </a:pPr>
            <a:r>
              <a:rPr lang="tr-TR" sz="2000" b="1" i="0">
                <a:solidFill>
                  <a:srgbClr val="FFFFFF"/>
                </a:solidFill>
                <a:latin typeface="Calibri"/>
              </a:rPr>
              <a:t>✗</a:t>
            </a:r>
          </a:p>
        </p:txBody>
      </p:sp>
      <p:sp>
        <p:nvSpPr>
          <p:cNvPr id="17" name="TextBox 16"/>
          <p:cNvSpPr txBox="1"/>
          <p:nvPr/>
        </p:nvSpPr>
        <p:spPr>
          <a:xfrm>
            <a:off x="1453896" y="2651760"/>
            <a:ext cx="10161727" cy="644652"/>
          </a:xfrm>
          <a:prstGeom prst="rect">
            <a:avLst/>
          </a:prstGeom>
          <a:noFill/>
        </p:spPr>
        <p:txBody>
          <a:bodyPr wrap="square" anchor="ctr" lIns="73152" rIns="73152" tIns="36576" bIns="36576">
            <a:noAutofit/>
          </a:bodyPr>
          <a:lstStyle/>
          <a:p>
            <a:pPr algn="l">
              <a:spcBef>
                <a:spcPts val="0"/>
              </a:spcBef>
              <a:spcAft>
                <a:spcPts val="300"/>
              </a:spcAft>
            </a:pPr>
            <a:r>
              <a:rPr lang="tr-TR" sz="1900" b="0" i="0">
                <a:solidFill>
                  <a:srgbClr val="262626"/>
                </a:solidFill>
                <a:latin typeface="Calibri"/>
              </a:rPr>
              <a:t>Beşerî faaliyetlere etkisine göre</a:t>
            </a:r>
          </a:p>
          <a:p>
            <a:pPr algn="l">
              <a:spcBef>
                <a:spcPts val="0"/>
              </a:spcBef>
              <a:spcAft>
                <a:spcPts val="0"/>
              </a:spcAft>
            </a:pPr>
            <a:r>
              <a:rPr lang="tr-TR" sz="1520" b="0" i="0">
                <a:solidFill>
                  <a:srgbClr val="D3373A"/>
                </a:solidFill>
                <a:latin typeface="Calibri"/>
              </a:rPr>
              <a:t>→ Kitabın sınıflandırma ölçütleri arasında yok</a:t>
            </a:r>
          </a:p>
        </p:txBody>
      </p:sp>
      <p:sp>
        <p:nvSpPr>
          <p:cNvPr id="18" name="Rounded Rectangle 17"/>
          <p:cNvSpPr/>
          <p:nvPr/>
        </p:nvSpPr>
        <p:spPr>
          <a:xfrm>
            <a:off x="502920" y="3369564"/>
            <a:ext cx="11185855" cy="644652"/>
          </a:xfrm>
          <a:prstGeom prst="roundRect">
            <a:avLst>
              <a:gd name="adj" fmla="val 14184"/>
            </a:avLst>
          </a:prstGeom>
          <a:solidFill>
            <a:srgbClr val="E3F1E4"/>
          </a:solidFill>
          <a:ln w="22225">
            <a:solidFill>
              <a:srgbClr val="2E7D32"/>
            </a:solidFill>
          </a:ln>
          <a:effectLst/>
        </p:spPr>
        <p:txBody>
          <a:bodyPr rtlCol="0" anchor="ctr"/>
          <a:lstStyle/>
          <a:p/>
        </p:txBody>
      </p:sp>
      <p:sp>
        <p:nvSpPr>
          <p:cNvPr id="19" name="TextBox 18"/>
          <p:cNvSpPr txBox="1"/>
          <p:nvPr/>
        </p:nvSpPr>
        <p:spPr>
          <a:xfrm>
            <a:off x="557784" y="3369564"/>
            <a:ext cx="365760" cy="644652"/>
          </a:xfrm>
          <a:prstGeom prst="rect">
            <a:avLst/>
          </a:prstGeom>
          <a:noFill/>
        </p:spPr>
        <p:txBody>
          <a:bodyPr wrap="square" anchor="ctr" lIns="0" rIns="0" tIns="36576" bIns="36576">
            <a:noAutofit/>
          </a:bodyPr>
          <a:lstStyle/>
          <a:p>
            <a:pPr algn="ctr">
              <a:spcBef>
                <a:spcPts val="0"/>
              </a:spcBef>
              <a:spcAft>
                <a:spcPts val="0"/>
              </a:spcAft>
            </a:pPr>
            <a:r>
              <a:rPr lang="tr-TR" sz="1500" b="1" i="0">
                <a:solidFill>
                  <a:srgbClr val="767676"/>
                </a:solidFill>
                <a:latin typeface="Calibri"/>
              </a:rPr>
              <a:t>4</a:t>
            </a:r>
          </a:p>
        </p:txBody>
      </p:sp>
      <p:sp>
        <p:nvSpPr>
          <p:cNvPr id="20" name="Rectangle 19"/>
          <p:cNvSpPr/>
          <p:nvPr/>
        </p:nvSpPr>
        <p:spPr>
          <a:xfrm>
            <a:off x="941832" y="3509010"/>
            <a:ext cx="365760" cy="365760"/>
          </a:xfrm>
          <a:prstGeom prst="rect">
            <a:avLst/>
          </a:prstGeom>
          <a:solidFill>
            <a:srgbClr val="2E7D32"/>
          </a:solidFill>
          <a:ln>
            <a:noFill/>
          </a:ln>
          <a:effectLst/>
        </p:spPr>
        <p:txBody>
          <a:bodyPr rtlCol="0" anchor="ctr" wrap="square" lIns="0" rIns="0" tIns="0" bIns="0">
            <a:noAutofit/>
          </a:bodyPr>
          <a:lstStyle/>
          <a:p>
            <a:pPr algn="ctr">
              <a:spcBef>
                <a:spcPts val="0"/>
              </a:spcBef>
              <a:spcAft>
                <a:spcPts val="0"/>
              </a:spcAft>
            </a:pPr>
            <a:r>
              <a:rPr lang="tr-TR" sz="2000" b="1" i="0">
                <a:solidFill>
                  <a:srgbClr val="FFFFFF"/>
                </a:solidFill>
                <a:latin typeface="Calibri"/>
              </a:rPr>
              <a:t>✓</a:t>
            </a:r>
          </a:p>
        </p:txBody>
      </p:sp>
      <p:sp>
        <p:nvSpPr>
          <p:cNvPr id="21" name="TextBox 20"/>
          <p:cNvSpPr txBox="1"/>
          <p:nvPr/>
        </p:nvSpPr>
        <p:spPr>
          <a:xfrm>
            <a:off x="1453896" y="3369564"/>
            <a:ext cx="10161727" cy="644652"/>
          </a:xfrm>
          <a:prstGeom prst="rect">
            <a:avLst/>
          </a:prstGeom>
          <a:noFill/>
        </p:spPr>
        <p:txBody>
          <a:bodyPr wrap="square" anchor="ctr" lIns="73152" rIns="73152" tIns="36576" bIns="36576">
            <a:noAutofit/>
          </a:bodyPr>
          <a:lstStyle/>
          <a:p>
            <a:pPr algn="l">
              <a:spcBef>
                <a:spcPts val="0"/>
              </a:spcBef>
              <a:spcAft>
                <a:spcPts val="300"/>
              </a:spcAft>
            </a:pPr>
            <a:r>
              <a:rPr lang="tr-TR" sz="1900" b="1" i="0">
                <a:solidFill>
                  <a:srgbClr val="262626"/>
                </a:solidFill>
                <a:latin typeface="Calibri"/>
              </a:rPr>
              <a:t>Oluşum nedenine göre</a:t>
            </a:r>
          </a:p>
          <a:p>
            <a:pPr algn="l">
              <a:spcBef>
                <a:spcPts val="0"/>
              </a:spcBef>
              <a:spcAft>
                <a:spcPts val="0"/>
              </a:spcAft>
            </a:pPr>
            <a:r>
              <a:rPr lang="tr-TR" sz="1520" b="0" i="0">
                <a:solidFill>
                  <a:srgbClr val="2E7D32"/>
                </a:solidFill>
                <a:latin typeface="Calibri"/>
              </a:rPr>
              <a:t>→ s. 194: “oluşum nedeni başta olmak üzere”</a:t>
            </a:r>
          </a:p>
        </p:txBody>
      </p:sp>
      <p:sp>
        <p:nvSpPr>
          <p:cNvPr id="22" name="Rounded Rectangle 21"/>
          <p:cNvSpPr/>
          <p:nvPr/>
        </p:nvSpPr>
        <p:spPr>
          <a:xfrm>
            <a:off x="502920" y="4087368"/>
            <a:ext cx="11185855" cy="644652"/>
          </a:xfrm>
          <a:prstGeom prst="roundRect">
            <a:avLst>
              <a:gd name="adj" fmla="val 14184"/>
            </a:avLst>
          </a:prstGeom>
          <a:solidFill>
            <a:srgbClr val="E3F1E4"/>
          </a:solidFill>
          <a:ln w="22225">
            <a:solidFill>
              <a:srgbClr val="2E7D32"/>
            </a:solidFill>
          </a:ln>
          <a:effectLst/>
        </p:spPr>
        <p:txBody>
          <a:bodyPr rtlCol="0" anchor="ctr"/>
          <a:lstStyle/>
          <a:p/>
        </p:txBody>
      </p:sp>
      <p:sp>
        <p:nvSpPr>
          <p:cNvPr id="23" name="TextBox 22"/>
          <p:cNvSpPr txBox="1"/>
          <p:nvPr/>
        </p:nvSpPr>
        <p:spPr>
          <a:xfrm>
            <a:off x="557784" y="4087368"/>
            <a:ext cx="365760" cy="644652"/>
          </a:xfrm>
          <a:prstGeom prst="rect">
            <a:avLst/>
          </a:prstGeom>
          <a:noFill/>
        </p:spPr>
        <p:txBody>
          <a:bodyPr wrap="square" anchor="ctr" lIns="0" rIns="0" tIns="36576" bIns="36576">
            <a:noAutofit/>
          </a:bodyPr>
          <a:lstStyle/>
          <a:p>
            <a:pPr algn="ctr">
              <a:spcBef>
                <a:spcPts val="0"/>
              </a:spcBef>
              <a:spcAft>
                <a:spcPts val="0"/>
              </a:spcAft>
            </a:pPr>
            <a:r>
              <a:rPr lang="tr-TR" sz="1500" b="1" i="0">
                <a:solidFill>
                  <a:srgbClr val="767676"/>
                </a:solidFill>
                <a:latin typeface="Calibri"/>
              </a:rPr>
              <a:t>5</a:t>
            </a:r>
          </a:p>
        </p:txBody>
      </p:sp>
      <p:sp>
        <p:nvSpPr>
          <p:cNvPr id="24" name="Rectangle 23"/>
          <p:cNvSpPr/>
          <p:nvPr/>
        </p:nvSpPr>
        <p:spPr>
          <a:xfrm>
            <a:off x="941832" y="4226814"/>
            <a:ext cx="365760" cy="365760"/>
          </a:xfrm>
          <a:prstGeom prst="rect">
            <a:avLst/>
          </a:prstGeom>
          <a:solidFill>
            <a:srgbClr val="2E7D32"/>
          </a:solidFill>
          <a:ln>
            <a:noFill/>
          </a:ln>
          <a:effectLst/>
        </p:spPr>
        <p:txBody>
          <a:bodyPr rtlCol="0" anchor="ctr" wrap="square" lIns="0" rIns="0" tIns="0" bIns="0">
            <a:noAutofit/>
          </a:bodyPr>
          <a:lstStyle/>
          <a:p>
            <a:pPr algn="ctr">
              <a:spcBef>
                <a:spcPts val="0"/>
              </a:spcBef>
              <a:spcAft>
                <a:spcPts val="0"/>
              </a:spcAft>
            </a:pPr>
            <a:r>
              <a:rPr lang="tr-TR" sz="2000" b="1" i="0">
                <a:solidFill>
                  <a:srgbClr val="FFFFFF"/>
                </a:solidFill>
                <a:latin typeface="Calibri"/>
              </a:rPr>
              <a:t>✓</a:t>
            </a:r>
          </a:p>
        </p:txBody>
      </p:sp>
      <p:sp>
        <p:nvSpPr>
          <p:cNvPr id="25" name="TextBox 24"/>
          <p:cNvSpPr txBox="1"/>
          <p:nvPr/>
        </p:nvSpPr>
        <p:spPr>
          <a:xfrm>
            <a:off x="1453896" y="4087368"/>
            <a:ext cx="10161727" cy="644652"/>
          </a:xfrm>
          <a:prstGeom prst="rect">
            <a:avLst/>
          </a:prstGeom>
          <a:noFill/>
        </p:spPr>
        <p:txBody>
          <a:bodyPr wrap="square" anchor="ctr" lIns="73152" rIns="73152" tIns="36576" bIns="36576">
            <a:noAutofit/>
          </a:bodyPr>
          <a:lstStyle/>
          <a:p>
            <a:pPr algn="l">
              <a:spcBef>
                <a:spcPts val="0"/>
              </a:spcBef>
              <a:spcAft>
                <a:spcPts val="300"/>
              </a:spcAft>
            </a:pPr>
            <a:r>
              <a:rPr lang="tr-TR" sz="1900" b="1" i="0">
                <a:solidFill>
                  <a:srgbClr val="262626"/>
                </a:solidFill>
                <a:latin typeface="Calibri"/>
              </a:rPr>
              <a:t>Oluşum hızına göre</a:t>
            </a:r>
          </a:p>
          <a:p>
            <a:pPr algn="l">
              <a:spcBef>
                <a:spcPts val="0"/>
              </a:spcBef>
              <a:spcAft>
                <a:spcPts val="0"/>
              </a:spcAft>
            </a:pPr>
            <a:r>
              <a:rPr lang="tr-TR" sz="1520" b="0" i="0">
                <a:solidFill>
                  <a:srgbClr val="2E7D32"/>
                </a:solidFill>
                <a:latin typeface="Calibri"/>
              </a:rPr>
              <a:t>→ s. 194: “oluşum hızı …”</a:t>
            </a:r>
          </a:p>
        </p:txBody>
      </p:sp>
      <p:sp>
        <p:nvSpPr>
          <p:cNvPr id="26" name="Rounded Rectangle 25"/>
          <p:cNvSpPr/>
          <p:nvPr/>
        </p:nvSpPr>
        <p:spPr>
          <a:xfrm>
            <a:off x="502920" y="4805172"/>
            <a:ext cx="11185855" cy="644652"/>
          </a:xfrm>
          <a:prstGeom prst="roundRect">
            <a:avLst>
              <a:gd name="adj" fmla="val 14184"/>
            </a:avLst>
          </a:prstGeom>
          <a:solidFill>
            <a:srgbClr val="F9E1E1"/>
          </a:solidFill>
          <a:ln w="22225">
            <a:solidFill>
              <a:srgbClr val="D3373A"/>
            </a:solidFill>
          </a:ln>
          <a:effectLst/>
        </p:spPr>
        <p:txBody>
          <a:bodyPr rtlCol="0" anchor="ctr"/>
          <a:lstStyle/>
          <a:p/>
        </p:txBody>
      </p:sp>
      <p:sp>
        <p:nvSpPr>
          <p:cNvPr id="27" name="TextBox 26"/>
          <p:cNvSpPr txBox="1"/>
          <p:nvPr/>
        </p:nvSpPr>
        <p:spPr>
          <a:xfrm>
            <a:off x="557784" y="4805172"/>
            <a:ext cx="365760" cy="644652"/>
          </a:xfrm>
          <a:prstGeom prst="rect">
            <a:avLst/>
          </a:prstGeom>
          <a:noFill/>
        </p:spPr>
        <p:txBody>
          <a:bodyPr wrap="square" anchor="ctr" lIns="0" rIns="0" tIns="36576" bIns="36576">
            <a:noAutofit/>
          </a:bodyPr>
          <a:lstStyle/>
          <a:p>
            <a:pPr algn="ctr">
              <a:spcBef>
                <a:spcPts val="0"/>
              </a:spcBef>
              <a:spcAft>
                <a:spcPts val="0"/>
              </a:spcAft>
            </a:pPr>
            <a:r>
              <a:rPr lang="tr-TR" sz="1500" b="1" i="0">
                <a:solidFill>
                  <a:srgbClr val="767676"/>
                </a:solidFill>
                <a:latin typeface="Calibri"/>
              </a:rPr>
              <a:t>6</a:t>
            </a:r>
          </a:p>
        </p:txBody>
      </p:sp>
      <p:sp>
        <p:nvSpPr>
          <p:cNvPr id="28" name="Rectangle 27"/>
          <p:cNvSpPr/>
          <p:nvPr/>
        </p:nvSpPr>
        <p:spPr>
          <a:xfrm>
            <a:off x="941832" y="4944618"/>
            <a:ext cx="365760" cy="365760"/>
          </a:xfrm>
          <a:prstGeom prst="rect">
            <a:avLst/>
          </a:prstGeom>
          <a:solidFill>
            <a:srgbClr val="D3373A"/>
          </a:solidFill>
          <a:ln>
            <a:noFill/>
          </a:ln>
          <a:effectLst/>
        </p:spPr>
        <p:txBody>
          <a:bodyPr rtlCol="0" anchor="ctr" wrap="square" lIns="0" rIns="0" tIns="0" bIns="0">
            <a:noAutofit/>
          </a:bodyPr>
          <a:lstStyle/>
          <a:p>
            <a:pPr algn="ctr">
              <a:spcBef>
                <a:spcPts val="0"/>
              </a:spcBef>
              <a:spcAft>
                <a:spcPts val="0"/>
              </a:spcAft>
            </a:pPr>
            <a:r>
              <a:rPr lang="tr-TR" sz="2000" b="1" i="0">
                <a:solidFill>
                  <a:srgbClr val="FFFFFF"/>
                </a:solidFill>
                <a:latin typeface="Calibri"/>
              </a:rPr>
              <a:t>✗</a:t>
            </a:r>
          </a:p>
        </p:txBody>
      </p:sp>
      <p:sp>
        <p:nvSpPr>
          <p:cNvPr id="29" name="TextBox 28"/>
          <p:cNvSpPr txBox="1"/>
          <p:nvPr/>
        </p:nvSpPr>
        <p:spPr>
          <a:xfrm>
            <a:off x="1453896" y="4805172"/>
            <a:ext cx="10161727" cy="644652"/>
          </a:xfrm>
          <a:prstGeom prst="rect">
            <a:avLst/>
          </a:prstGeom>
          <a:noFill/>
        </p:spPr>
        <p:txBody>
          <a:bodyPr wrap="square" anchor="ctr" lIns="73152" rIns="73152" tIns="36576" bIns="36576">
            <a:noAutofit/>
          </a:bodyPr>
          <a:lstStyle/>
          <a:p>
            <a:pPr algn="l">
              <a:spcBef>
                <a:spcPts val="0"/>
              </a:spcBef>
              <a:spcAft>
                <a:spcPts val="300"/>
              </a:spcAft>
            </a:pPr>
            <a:r>
              <a:rPr lang="tr-TR" sz="1900" b="0" i="0">
                <a:solidFill>
                  <a:srgbClr val="262626"/>
                </a:solidFill>
                <a:latin typeface="Calibri"/>
              </a:rPr>
              <a:t>Doğal çevreye etkisine göre</a:t>
            </a:r>
          </a:p>
          <a:p>
            <a:pPr algn="l">
              <a:spcBef>
                <a:spcPts val="0"/>
              </a:spcBef>
              <a:spcAft>
                <a:spcPts val="0"/>
              </a:spcAft>
            </a:pPr>
            <a:r>
              <a:rPr lang="tr-TR" sz="1520" b="0" i="0">
                <a:solidFill>
                  <a:srgbClr val="D3373A"/>
                </a:solidFill>
                <a:latin typeface="Calibri"/>
              </a:rPr>
              <a:t>→ Kitabın sınıflandırma ölçütleri arasında yok</a:t>
            </a:r>
          </a:p>
        </p:txBody>
      </p:sp>
      <p:sp>
        <p:nvSpPr>
          <p:cNvPr id="30" name="Rounded Rectangle 29"/>
          <p:cNvSpPr/>
          <p:nvPr/>
        </p:nvSpPr>
        <p:spPr>
          <a:xfrm>
            <a:off x="502920" y="5559552"/>
            <a:ext cx="11185855" cy="731520"/>
          </a:xfrm>
          <a:prstGeom prst="roundRect">
            <a:avLst>
              <a:gd name="adj" fmla="val 6000"/>
            </a:avLst>
          </a:prstGeom>
          <a:solidFill>
            <a:srgbClr val="E3F1E4"/>
          </a:solidFill>
          <a:ln>
            <a:noFill/>
          </a:ln>
          <a:effectLst/>
        </p:spPr>
        <p:txBody>
          <a:bodyPr rtlCol="0" anchor="ctr"/>
          <a:lstStyle/>
          <a:p/>
        </p:txBody>
      </p:sp>
      <p:sp>
        <p:nvSpPr>
          <p:cNvPr id="31" name="Rectangle 30"/>
          <p:cNvSpPr/>
          <p:nvPr/>
        </p:nvSpPr>
        <p:spPr>
          <a:xfrm>
            <a:off x="502920" y="5559552"/>
            <a:ext cx="118872" cy="731520"/>
          </a:xfrm>
          <a:prstGeom prst="rect">
            <a:avLst/>
          </a:prstGeom>
          <a:solidFill>
            <a:srgbClr val="2E7D32"/>
          </a:solidFill>
          <a:ln>
            <a:noFill/>
          </a:ln>
          <a:effectLst/>
        </p:spPr>
        <p:txBody>
          <a:bodyPr rtlCol="0" anchor="ctr"/>
          <a:lstStyle/>
          <a:p/>
        </p:txBody>
      </p:sp>
      <p:sp>
        <p:nvSpPr>
          <p:cNvPr id="32" name="TextBox 31"/>
          <p:cNvSpPr txBox="1"/>
          <p:nvPr/>
        </p:nvSpPr>
        <p:spPr>
          <a:xfrm>
            <a:off x="777240" y="5559552"/>
            <a:ext cx="10774375" cy="731520"/>
          </a:xfrm>
          <a:prstGeom prst="rect">
            <a:avLst/>
          </a:prstGeom>
          <a:noFill/>
        </p:spPr>
        <p:txBody>
          <a:bodyPr wrap="square" anchor="ctr" lIns="73152" rIns="73152" tIns="36576" bIns="36576">
            <a:noAutofit/>
          </a:bodyPr>
          <a:lstStyle/>
          <a:p>
            <a:pPr algn="l">
              <a:spcBef>
                <a:spcPts val="0"/>
              </a:spcBef>
              <a:spcAft>
                <a:spcPts val="0"/>
              </a:spcAft>
            </a:pPr>
            <a:r>
              <a:rPr lang="tr-TR" sz="1900" b="0" i="1">
                <a:solidFill>
                  <a:srgbClr val="262626"/>
                </a:solidFill>
                <a:latin typeface="Calibri"/>
              </a:rPr>
              <a:t>s. 194: “Bu sınıflandırma, afetlerin oluşum nedeni başta olmak üzere oluşum hızı ve etki alanına göre yapılmaktadır.”</a:t>
            </a:r>
          </a:p>
        </p:txBody>
      </p:sp>
      <p:sp>
        <p:nvSpPr>
          <p:cNvPr id="33" name="TextBox 32"/>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34" name="Rounded Rectangle 33"/>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191, 194, 211</a:t>
            </a:r>
          </a:p>
        </p:txBody>
      </p:sp>
      <p:sp>
        <p:nvSpPr>
          <p:cNvPr id="35" name="TextBox 34"/>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232 / 250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Ünite ölçme: 4. soru</a:t>
            </a:r>
          </a:p>
        </p:txBody>
      </p:sp>
      <p:sp>
        <p:nvSpPr>
          <p:cNvPr id="5" name="Rounded Rectangle 4"/>
          <p:cNvSpPr/>
          <p:nvPr/>
        </p:nvSpPr>
        <p:spPr>
          <a:xfrm>
            <a:off x="9555480" y="201168"/>
            <a:ext cx="2221992" cy="475488"/>
          </a:xfrm>
          <a:prstGeom prst="roundRect">
            <a:avLst>
              <a:gd name="adj" fmla="val 50000"/>
            </a:avLst>
          </a:prstGeom>
          <a:solidFill>
            <a:srgbClr val="D3373A"/>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SORU 4</a:t>
            </a:r>
          </a:p>
        </p:txBody>
      </p:sp>
      <p:sp>
        <p:nvSpPr>
          <p:cNvPr id="6" name="Rounded Rectangle 5"/>
          <p:cNvSpPr/>
          <p:nvPr/>
        </p:nvSpPr>
        <p:spPr>
          <a:xfrm>
            <a:off x="502920" y="1216152"/>
            <a:ext cx="4572000" cy="5029200"/>
          </a:xfrm>
          <a:prstGeom prst="roundRect">
            <a:avLst>
              <a:gd name="adj" fmla="val 6000"/>
            </a:avLst>
          </a:prstGeom>
          <a:solidFill>
            <a:srgbClr val="F0F0F0"/>
          </a:solidFill>
          <a:ln>
            <a:noFill/>
          </a:ln>
          <a:effectLst/>
        </p:spPr>
        <p:txBody>
          <a:bodyPr rtlCol="0" anchor="ctr"/>
          <a:lstStyle/>
          <a:p/>
        </p:txBody>
      </p:sp>
      <p:sp>
        <p:nvSpPr>
          <p:cNvPr id="7" name="Rectangle 6"/>
          <p:cNvSpPr/>
          <p:nvPr/>
        </p:nvSpPr>
        <p:spPr>
          <a:xfrm>
            <a:off x="502920" y="1216152"/>
            <a:ext cx="118872" cy="5029200"/>
          </a:xfrm>
          <a:prstGeom prst="rect">
            <a:avLst/>
          </a:prstGeom>
          <a:solidFill>
            <a:srgbClr val="6A4C93"/>
          </a:solidFill>
          <a:ln>
            <a:noFill/>
          </a:ln>
          <a:effectLst/>
        </p:spPr>
        <p:txBody>
          <a:bodyPr rtlCol="0" anchor="ctr"/>
          <a:lstStyle/>
          <a:p/>
        </p:txBody>
      </p:sp>
      <p:sp>
        <p:nvSpPr>
          <p:cNvPr id="8" name="TextBox 7"/>
          <p:cNvSpPr txBox="1"/>
          <p:nvPr/>
        </p:nvSpPr>
        <p:spPr>
          <a:xfrm>
            <a:off x="777240" y="1216152"/>
            <a:ext cx="4160520" cy="5029200"/>
          </a:xfrm>
          <a:prstGeom prst="rect">
            <a:avLst/>
          </a:prstGeom>
          <a:noFill/>
        </p:spPr>
        <p:txBody>
          <a:bodyPr wrap="square" anchor="ctr" lIns="73152" rIns="73152" tIns="36576" bIns="36576">
            <a:noAutofit/>
          </a:bodyPr>
          <a:lstStyle/>
          <a:p>
            <a:pPr algn="l">
              <a:spcBef>
                <a:spcPts val="0"/>
              </a:spcBef>
              <a:spcAft>
                <a:spcPts val="1000"/>
              </a:spcAft>
            </a:pPr>
            <a:r>
              <a:rPr lang="tr-TR" sz="1600" b="0" i="0">
                <a:solidFill>
                  <a:srgbClr val="767676"/>
                </a:solidFill>
                <a:latin typeface="Calibri"/>
              </a:rPr>
              <a:t>3-5. soruların metninden:</a:t>
            </a:r>
          </a:p>
          <a:p>
            <a:pPr algn="l">
              <a:spcBef>
                <a:spcPts val="0"/>
              </a:spcBef>
              <a:spcAft>
                <a:spcPts val="1000"/>
              </a:spcAft>
            </a:pPr>
            <a:r>
              <a:rPr lang="tr-TR" sz="2300" b="0" i="0">
                <a:solidFill>
                  <a:srgbClr val="262626"/>
                </a:solidFill>
                <a:latin typeface="Calibri"/>
              </a:rPr>
              <a:t>Bazı afetler, sonuçları itibarıyla başka afetlerin ortaya çıkmasına neden olabilmektedir.</a:t>
            </a:r>
          </a:p>
          <a:p>
            <a:pPr algn="l">
              <a:spcBef>
                <a:spcPts val="0"/>
              </a:spcBef>
              <a:spcAft>
                <a:spcPts val="0"/>
              </a:spcAft>
            </a:pPr>
            <a:r>
              <a:rPr lang="tr-TR" sz="2300" b="0" i="0">
                <a:solidFill>
                  <a:srgbClr val="262626"/>
                </a:solidFill>
                <a:latin typeface="Calibri"/>
              </a:rPr>
              <a:t>Sel, taşkın, deprem gibi afetlerden sonra görülen salgın hastalıklar bu duruma örnek olarak verilebilir.</a:t>
            </a:r>
          </a:p>
        </p:txBody>
      </p:sp>
      <p:sp>
        <p:nvSpPr>
          <p:cNvPr id="9" name="Rounded Rectangle 8"/>
          <p:cNvSpPr/>
          <p:nvPr/>
        </p:nvSpPr>
        <p:spPr>
          <a:xfrm>
            <a:off x="5276088" y="1216152"/>
            <a:ext cx="6412687" cy="1097280"/>
          </a:xfrm>
          <a:prstGeom prst="roundRect">
            <a:avLst>
              <a:gd name="adj" fmla="val 10000"/>
            </a:avLst>
          </a:prstGeom>
          <a:solidFill>
            <a:srgbClr val="F0F0F0"/>
          </a:solidFill>
          <a:ln>
            <a:noFill/>
          </a:ln>
          <a:effectLst/>
        </p:spPr>
        <p:txBody>
          <a:bodyPr rtlCol="0" anchor="ctr"/>
          <a:lstStyle/>
          <a:p/>
        </p:txBody>
      </p:sp>
      <p:sp>
        <p:nvSpPr>
          <p:cNvPr id="10" name="Oval 9"/>
          <p:cNvSpPr/>
          <p:nvPr/>
        </p:nvSpPr>
        <p:spPr>
          <a:xfrm>
            <a:off x="5385816" y="1490472"/>
            <a:ext cx="548640" cy="548640"/>
          </a:xfrm>
          <a:prstGeom prst="ellipse">
            <a:avLst/>
          </a:prstGeom>
          <a:solidFill>
            <a:srgbClr val="D3373A"/>
          </a:solidFill>
          <a:ln>
            <a:noFill/>
          </a:ln>
          <a:effectLst/>
        </p:spPr>
        <p:txBody>
          <a:bodyPr rtlCol="0" anchor="ctr" wrap="none" lIns="0" rIns="0" tIns="0" bIns="0">
            <a:noAutofit/>
          </a:bodyPr>
          <a:lstStyle/>
          <a:p>
            <a:pPr algn="ctr">
              <a:spcBef>
                <a:spcPts val="0"/>
              </a:spcBef>
              <a:spcAft>
                <a:spcPts val="0"/>
              </a:spcAft>
            </a:pPr>
            <a:r>
              <a:rPr lang="tr-TR" sz="2200" b="1" i="0">
                <a:solidFill>
                  <a:srgbClr val="FFFFFF"/>
                </a:solidFill>
                <a:latin typeface="Calibri"/>
              </a:rPr>
              <a:t>4</a:t>
            </a:r>
          </a:p>
        </p:txBody>
      </p:sp>
      <p:sp>
        <p:nvSpPr>
          <p:cNvPr id="11" name="TextBox 10"/>
          <p:cNvSpPr txBox="1"/>
          <p:nvPr/>
        </p:nvSpPr>
        <p:spPr>
          <a:xfrm>
            <a:off x="6053328" y="1216152"/>
            <a:ext cx="5544007" cy="1097280"/>
          </a:xfrm>
          <a:prstGeom prst="rect">
            <a:avLst/>
          </a:prstGeom>
          <a:noFill/>
        </p:spPr>
        <p:txBody>
          <a:bodyPr wrap="square" anchor="ctr" lIns="73152" rIns="73152" tIns="36576" bIns="36576">
            <a:noAutofit/>
          </a:bodyPr>
          <a:lstStyle/>
          <a:p>
            <a:pPr algn="l">
              <a:spcBef>
                <a:spcPts val="0"/>
              </a:spcBef>
              <a:spcAft>
                <a:spcPts val="0"/>
              </a:spcAft>
            </a:pPr>
            <a:r>
              <a:rPr lang="tr-TR" sz="2100" b="0" i="0">
                <a:solidFill>
                  <a:srgbClr val="262626"/>
                </a:solidFill>
                <a:latin typeface="Calibri"/>
              </a:rPr>
              <a:t>Aşağıdakilerden hangisi olası bir deprem sonrası yaşanabilecek afetler arasında </a:t>
            </a:r>
            <a:r>
              <a:rPr lang="tr-TR" sz="2100" b="1" i="0">
                <a:solidFill>
                  <a:srgbClr val="262626"/>
                </a:solidFill>
                <a:latin typeface="Calibri"/>
              </a:rPr>
              <a:t>yer almaz</a:t>
            </a:r>
            <a:r>
              <a:rPr lang="tr-TR" sz="2100" b="0" i="0">
                <a:solidFill>
                  <a:srgbClr val="262626"/>
                </a:solidFill>
                <a:latin typeface="Calibri"/>
              </a:rPr>
              <a:t>?</a:t>
            </a:r>
          </a:p>
        </p:txBody>
      </p:sp>
      <p:sp>
        <p:nvSpPr>
          <p:cNvPr id="12" name="Rounded Rectangle 11"/>
          <p:cNvSpPr/>
          <p:nvPr/>
        </p:nvSpPr>
        <p:spPr>
          <a:xfrm>
            <a:off x="5276088" y="2441448"/>
            <a:ext cx="6412687" cy="696772"/>
          </a:xfrm>
          <a:prstGeom prst="roundRect">
            <a:avLst>
              <a:gd name="adj" fmla="val 15748"/>
            </a:avLst>
          </a:prstGeom>
          <a:solidFill>
            <a:srgbClr val="FFFFFF"/>
          </a:solidFill>
          <a:ln w="12700">
            <a:solidFill>
              <a:srgbClr val="D9D9D9"/>
            </a:solidFill>
          </a:ln>
          <a:effectLst/>
        </p:spPr>
        <p:txBody>
          <a:bodyPr rtlCol="0" anchor="ctr"/>
          <a:lstStyle/>
          <a:p/>
        </p:txBody>
      </p:sp>
      <p:sp>
        <p:nvSpPr>
          <p:cNvPr id="13" name="Oval 12"/>
          <p:cNvSpPr/>
          <p:nvPr/>
        </p:nvSpPr>
        <p:spPr>
          <a:xfrm>
            <a:off x="5358384" y="2561234"/>
            <a:ext cx="457200" cy="45720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A</a:t>
            </a:r>
          </a:p>
        </p:txBody>
      </p:sp>
      <p:sp>
        <p:nvSpPr>
          <p:cNvPr id="14" name="TextBox 13"/>
          <p:cNvSpPr txBox="1"/>
          <p:nvPr/>
        </p:nvSpPr>
        <p:spPr>
          <a:xfrm>
            <a:off x="5879592" y="2441448"/>
            <a:ext cx="5736031" cy="696772"/>
          </a:xfrm>
          <a:prstGeom prst="rect">
            <a:avLst/>
          </a:prstGeom>
          <a:noFill/>
        </p:spPr>
        <p:txBody>
          <a:bodyPr wrap="square" anchor="ctr" lIns="73152" rIns="73152" tIns="36576" bIns="36576">
            <a:noAutofit/>
          </a:bodyPr>
          <a:lstStyle/>
          <a:p>
            <a:pPr algn="l">
              <a:spcBef>
                <a:spcPts val="0"/>
              </a:spcBef>
              <a:spcAft>
                <a:spcPts val="0"/>
              </a:spcAft>
            </a:pPr>
            <a:r>
              <a:rPr lang="tr-TR" sz="2400" b="0" i="0">
                <a:solidFill>
                  <a:srgbClr val="262626"/>
                </a:solidFill>
                <a:latin typeface="Calibri"/>
              </a:rPr>
              <a:t>Çığ</a:t>
            </a:r>
          </a:p>
        </p:txBody>
      </p:sp>
      <p:sp>
        <p:nvSpPr>
          <p:cNvPr id="15" name="Rounded Rectangle 14"/>
          <p:cNvSpPr/>
          <p:nvPr/>
        </p:nvSpPr>
        <p:spPr>
          <a:xfrm>
            <a:off x="5276088" y="3229660"/>
            <a:ext cx="6412687" cy="696772"/>
          </a:xfrm>
          <a:prstGeom prst="roundRect">
            <a:avLst>
              <a:gd name="adj" fmla="val 15748"/>
            </a:avLst>
          </a:prstGeom>
          <a:solidFill>
            <a:srgbClr val="FFFFFF"/>
          </a:solidFill>
          <a:ln w="12700">
            <a:solidFill>
              <a:srgbClr val="D9D9D9"/>
            </a:solidFill>
          </a:ln>
          <a:effectLst/>
        </p:spPr>
        <p:txBody>
          <a:bodyPr rtlCol="0" anchor="ctr"/>
          <a:lstStyle/>
          <a:p/>
        </p:txBody>
      </p:sp>
      <p:sp>
        <p:nvSpPr>
          <p:cNvPr id="16" name="Oval 15"/>
          <p:cNvSpPr/>
          <p:nvPr/>
        </p:nvSpPr>
        <p:spPr>
          <a:xfrm>
            <a:off x="5358384" y="3349447"/>
            <a:ext cx="457200" cy="45720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B</a:t>
            </a:r>
          </a:p>
        </p:txBody>
      </p:sp>
      <p:sp>
        <p:nvSpPr>
          <p:cNvPr id="17" name="TextBox 16"/>
          <p:cNvSpPr txBox="1"/>
          <p:nvPr/>
        </p:nvSpPr>
        <p:spPr>
          <a:xfrm>
            <a:off x="5879592" y="3229660"/>
            <a:ext cx="5736031" cy="696772"/>
          </a:xfrm>
          <a:prstGeom prst="rect">
            <a:avLst/>
          </a:prstGeom>
          <a:noFill/>
        </p:spPr>
        <p:txBody>
          <a:bodyPr wrap="square" anchor="ctr" lIns="73152" rIns="73152" tIns="36576" bIns="36576">
            <a:noAutofit/>
          </a:bodyPr>
          <a:lstStyle/>
          <a:p>
            <a:pPr algn="l">
              <a:spcBef>
                <a:spcPts val="0"/>
              </a:spcBef>
              <a:spcAft>
                <a:spcPts val="0"/>
              </a:spcAft>
            </a:pPr>
            <a:r>
              <a:rPr lang="tr-TR" sz="2400" b="0" i="0">
                <a:solidFill>
                  <a:srgbClr val="262626"/>
                </a:solidFill>
                <a:latin typeface="Calibri"/>
              </a:rPr>
              <a:t>Heyelan</a:t>
            </a:r>
          </a:p>
        </p:txBody>
      </p:sp>
      <p:sp>
        <p:nvSpPr>
          <p:cNvPr id="18" name="Rounded Rectangle 17"/>
          <p:cNvSpPr/>
          <p:nvPr/>
        </p:nvSpPr>
        <p:spPr>
          <a:xfrm>
            <a:off x="5276088" y="4017873"/>
            <a:ext cx="6412687" cy="696772"/>
          </a:xfrm>
          <a:prstGeom prst="roundRect">
            <a:avLst>
              <a:gd name="adj" fmla="val 15748"/>
            </a:avLst>
          </a:prstGeom>
          <a:solidFill>
            <a:srgbClr val="FFFFFF"/>
          </a:solidFill>
          <a:ln w="12700">
            <a:solidFill>
              <a:srgbClr val="D9D9D9"/>
            </a:solidFill>
          </a:ln>
          <a:effectLst/>
        </p:spPr>
        <p:txBody>
          <a:bodyPr rtlCol="0" anchor="ctr"/>
          <a:lstStyle/>
          <a:p/>
        </p:txBody>
      </p:sp>
      <p:sp>
        <p:nvSpPr>
          <p:cNvPr id="19" name="Oval 18"/>
          <p:cNvSpPr/>
          <p:nvPr/>
        </p:nvSpPr>
        <p:spPr>
          <a:xfrm>
            <a:off x="5358384" y="4137659"/>
            <a:ext cx="457200" cy="45720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C</a:t>
            </a:r>
          </a:p>
        </p:txBody>
      </p:sp>
      <p:sp>
        <p:nvSpPr>
          <p:cNvPr id="20" name="TextBox 19"/>
          <p:cNvSpPr txBox="1"/>
          <p:nvPr/>
        </p:nvSpPr>
        <p:spPr>
          <a:xfrm>
            <a:off x="5879592" y="4017873"/>
            <a:ext cx="5736031" cy="696772"/>
          </a:xfrm>
          <a:prstGeom prst="rect">
            <a:avLst/>
          </a:prstGeom>
          <a:noFill/>
        </p:spPr>
        <p:txBody>
          <a:bodyPr wrap="square" anchor="ctr" lIns="73152" rIns="73152" tIns="36576" bIns="36576">
            <a:noAutofit/>
          </a:bodyPr>
          <a:lstStyle/>
          <a:p>
            <a:pPr algn="l">
              <a:spcBef>
                <a:spcPts val="0"/>
              </a:spcBef>
              <a:spcAft>
                <a:spcPts val="0"/>
              </a:spcAft>
            </a:pPr>
            <a:r>
              <a:rPr lang="tr-TR" sz="2400" b="0" i="0">
                <a:solidFill>
                  <a:srgbClr val="262626"/>
                </a:solidFill>
                <a:latin typeface="Calibri"/>
              </a:rPr>
              <a:t>Salgın hastalık</a:t>
            </a:r>
          </a:p>
        </p:txBody>
      </p:sp>
      <p:sp>
        <p:nvSpPr>
          <p:cNvPr id="21" name="Rounded Rectangle 20"/>
          <p:cNvSpPr/>
          <p:nvPr/>
        </p:nvSpPr>
        <p:spPr>
          <a:xfrm>
            <a:off x="5276088" y="4806086"/>
            <a:ext cx="6412687" cy="696772"/>
          </a:xfrm>
          <a:prstGeom prst="roundRect">
            <a:avLst>
              <a:gd name="adj" fmla="val 15748"/>
            </a:avLst>
          </a:prstGeom>
          <a:solidFill>
            <a:srgbClr val="FFFFFF"/>
          </a:solidFill>
          <a:ln w="12700">
            <a:solidFill>
              <a:srgbClr val="D9D9D9"/>
            </a:solidFill>
          </a:ln>
          <a:effectLst/>
        </p:spPr>
        <p:txBody>
          <a:bodyPr rtlCol="0" anchor="ctr"/>
          <a:lstStyle/>
          <a:p/>
        </p:txBody>
      </p:sp>
      <p:sp>
        <p:nvSpPr>
          <p:cNvPr id="22" name="Oval 21"/>
          <p:cNvSpPr/>
          <p:nvPr/>
        </p:nvSpPr>
        <p:spPr>
          <a:xfrm>
            <a:off x="5358384" y="4925872"/>
            <a:ext cx="457200" cy="45720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D</a:t>
            </a:r>
          </a:p>
        </p:txBody>
      </p:sp>
      <p:sp>
        <p:nvSpPr>
          <p:cNvPr id="23" name="TextBox 22"/>
          <p:cNvSpPr txBox="1"/>
          <p:nvPr/>
        </p:nvSpPr>
        <p:spPr>
          <a:xfrm>
            <a:off x="5879592" y="4806086"/>
            <a:ext cx="5736031" cy="696772"/>
          </a:xfrm>
          <a:prstGeom prst="rect">
            <a:avLst/>
          </a:prstGeom>
          <a:noFill/>
        </p:spPr>
        <p:txBody>
          <a:bodyPr wrap="square" anchor="ctr" lIns="73152" rIns="73152" tIns="36576" bIns="36576">
            <a:noAutofit/>
          </a:bodyPr>
          <a:lstStyle/>
          <a:p>
            <a:pPr algn="l">
              <a:spcBef>
                <a:spcPts val="0"/>
              </a:spcBef>
              <a:spcAft>
                <a:spcPts val="0"/>
              </a:spcAft>
            </a:pPr>
            <a:r>
              <a:rPr lang="tr-TR" sz="2400" b="0" i="0">
                <a:solidFill>
                  <a:srgbClr val="262626"/>
                </a:solidFill>
                <a:latin typeface="Calibri"/>
              </a:rPr>
              <a:t>Sel ve taşkın</a:t>
            </a:r>
          </a:p>
        </p:txBody>
      </p:sp>
      <p:sp>
        <p:nvSpPr>
          <p:cNvPr id="24" name="Rounded Rectangle 23"/>
          <p:cNvSpPr/>
          <p:nvPr/>
        </p:nvSpPr>
        <p:spPr>
          <a:xfrm>
            <a:off x="5276088" y="5594299"/>
            <a:ext cx="6412687" cy="696772"/>
          </a:xfrm>
          <a:prstGeom prst="roundRect">
            <a:avLst>
              <a:gd name="adj" fmla="val 15748"/>
            </a:avLst>
          </a:prstGeom>
          <a:solidFill>
            <a:srgbClr val="FFFFFF"/>
          </a:solidFill>
          <a:ln w="12700">
            <a:solidFill>
              <a:srgbClr val="D9D9D9"/>
            </a:solidFill>
          </a:ln>
          <a:effectLst/>
        </p:spPr>
        <p:txBody>
          <a:bodyPr rtlCol="0" anchor="ctr"/>
          <a:lstStyle/>
          <a:p/>
        </p:txBody>
      </p:sp>
      <p:sp>
        <p:nvSpPr>
          <p:cNvPr id="25" name="Oval 24"/>
          <p:cNvSpPr/>
          <p:nvPr/>
        </p:nvSpPr>
        <p:spPr>
          <a:xfrm>
            <a:off x="5358384" y="5714085"/>
            <a:ext cx="457200" cy="45720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E</a:t>
            </a:r>
          </a:p>
        </p:txBody>
      </p:sp>
      <p:sp>
        <p:nvSpPr>
          <p:cNvPr id="26" name="TextBox 25"/>
          <p:cNvSpPr txBox="1"/>
          <p:nvPr/>
        </p:nvSpPr>
        <p:spPr>
          <a:xfrm>
            <a:off x="5879592" y="5594299"/>
            <a:ext cx="5736031" cy="696772"/>
          </a:xfrm>
          <a:prstGeom prst="rect">
            <a:avLst/>
          </a:prstGeom>
          <a:noFill/>
        </p:spPr>
        <p:txBody>
          <a:bodyPr wrap="square" anchor="ctr" lIns="73152" rIns="73152" tIns="36576" bIns="36576">
            <a:noAutofit/>
          </a:bodyPr>
          <a:lstStyle/>
          <a:p>
            <a:pPr algn="l">
              <a:spcBef>
                <a:spcPts val="0"/>
              </a:spcBef>
              <a:spcAft>
                <a:spcPts val="0"/>
              </a:spcAft>
            </a:pPr>
            <a:r>
              <a:rPr lang="tr-TR" sz="2400" b="0" i="0">
                <a:solidFill>
                  <a:srgbClr val="262626"/>
                </a:solidFill>
                <a:latin typeface="Calibri"/>
              </a:rPr>
              <a:t>Tsunami</a:t>
            </a:r>
          </a:p>
        </p:txBody>
      </p:sp>
      <p:sp>
        <p:nvSpPr>
          <p:cNvPr id="27" name="TextBox 26"/>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28" name="Rounded Rectangle 27"/>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211</a:t>
            </a:r>
          </a:p>
        </p:txBody>
      </p:sp>
      <p:sp>
        <p:nvSpPr>
          <p:cNvPr id="29" name="TextBox 28"/>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233 / 250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4. soru —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SORU 4</a:t>
            </a:r>
          </a:p>
        </p:txBody>
      </p:sp>
      <p:sp>
        <p:nvSpPr>
          <p:cNvPr id="6" name="Rounded Rectangle 5"/>
          <p:cNvSpPr/>
          <p:nvPr/>
        </p:nvSpPr>
        <p:spPr>
          <a:xfrm>
            <a:off x="502920" y="1216152"/>
            <a:ext cx="4160520" cy="5029200"/>
          </a:xfrm>
          <a:prstGeom prst="roundRect">
            <a:avLst>
              <a:gd name="adj" fmla="val 6000"/>
            </a:avLst>
          </a:prstGeom>
          <a:solidFill>
            <a:srgbClr val="F0F0F0"/>
          </a:solidFill>
          <a:ln>
            <a:noFill/>
          </a:ln>
          <a:effectLst/>
        </p:spPr>
        <p:txBody>
          <a:bodyPr rtlCol="0" anchor="ctr"/>
          <a:lstStyle/>
          <a:p/>
        </p:txBody>
      </p:sp>
      <p:sp>
        <p:nvSpPr>
          <p:cNvPr id="7" name="Rectangle 6"/>
          <p:cNvSpPr/>
          <p:nvPr/>
        </p:nvSpPr>
        <p:spPr>
          <a:xfrm>
            <a:off x="502920" y="1216152"/>
            <a:ext cx="118872" cy="5029200"/>
          </a:xfrm>
          <a:prstGeom prst="rect">
            <a:avLst/>
          </a:prstGeom>
          <a:solidFill>
            <a:srgbClr val="2E7D32"/>
          </a:solidFill>
          <a:ln>
            <a:noFill/>
          </a:ln>
          <a:effectLst/>
        </p:spPr>
        <p:txBody>
          <a:bodyPr rtlCol="0" anchor="ctr"/>
          <a:lstStyle/>
          <a:p/>
        </p:txBody>
      </p:sp>
      <p:sp>
        <p:nvSpPr>
          <p:cNvPr id="8" name="TextBox 7"/>
          <p:cNvSpPr txBox="1"/>
          <p:nvPr/>
        </p:nvSpPr>
        <p:spPr>
          <a:xfrm>
            <a:off x="777240" y="1216152"/>
            <a:ext cx="3749040" cy="5029200"/>
          </a:xfrm>
          <a:prstGeom prst="rect">
            <a:avLst/>
          </a:prstGeom>
          <a:noFill/>
        </p:spPr>
        <p:txBody>
          <a:bodyPr wrap="square" anchor="ctr" lIns="73152" rIns="73152" tIns="36576" bIns="36576">
            <a:noAutofit/>
          </a:bodyPr>
          <a:lstStyle/>
          <a:p>
            <a:pPr algn="l">
              <a:spcBef>
                <a:spcPts val="0"/>
              </a:spcBef>
              <a:spcAft>
                <a:spcPts val="1000"/>
              </a:spcAft>
            </a:pPr>
            <a:r>
              <a:rPr lang="tr-TR" sz="1600" b="1" i="0">
                <a:solidFill>
                  <a:srgbClr val="2E7D32"/>
                </a:solidFill>
                <a:latin typeface="Calibri"/>
              </a:rPr>
              <a:t>Metindeki ve kitaptaki kanıtlar</a:t>
            </a:r>
          </a:p>
          <a:p>
            <a:pPr algn="l">
              <a:spcBef>
                <a:spcPts val="0"/>
              </a:spcBef>
              <a:spcAft>
                <a:spcPts val="1000"/>
              </a:spcAft>
            </a:pPr>
            <a:r>
              <a:rPr lang="tr-TR" sz="1900" b="0" i="0">
                <a:solidFill>
                  <a:srgbClr val="262626"/>
                </a:solidFill>
                <a:latin typeface="Calibri"/>
              </a:rPr>
              <a:t>s. 211: “Sel, taşkın, deprem gibi afetlerden sonra görülen </a:t>
            </a:r>
            <a:r>
              <a:rPr lang="tr-TR" sz="1900" b="1" i="0">
                <a:solidFill>
                  <a:srgbClr val="262626"/>
                </a:solidFill>
                <a:latin typeface="Calibri"/>
              </a:rPr>
              <a:t>salgın hastalıklar</a:t>
            </a:r>
            <a:r>
              <a:rPr lang="tr-TR" sz="1900" b="0" i="0">
                <a:solidFill>
                  <a:srgbClr val="262626"/>
                </a:solidFill>
                <a:latin typeface="Calibri"/>
              </a:rPr>
              <a:t> …”</a:t>
            </a:r>
          </a:p>
          <a:p>
            <a:pPr algn="l">
              <a:spcBef>
                <a:spcPts val="0"/>
              </a:spcBef>
              <a:spcAft>
                <a:spcPts val="1000"/>
              </a:spcAft>
            </a:pPr>
            <a:r>
              <a:rPr lang="tr-TR" sz="1900" b="0" i="0">
                <a:solidFill>
                  <a:srgbClr val="262626"/>
                </a:solidFill>
                <a:latin typeface="Calibri"/>
              </a:rPr>
              <a:t>s. 202 (müdahale): “afet sonrasında oluşabilecek yangın, patlama, salgın hastalıklar …”</a:t>
            </a:r>
          </a:p>
          <a:p>
            <a:pPr algn="l">
              <a:spcBef>
                <a:spcPts val="0"/>
              </a:spcBef>
              <a:spcAft>
                <a:spcPts val="0"/>
              </a:spcAft>
            </a:pPr>
            <a:r>
              <a:rPr lang="tr-TR" sz="1900" b="0" i="0">
                <a:solidFill>
                  <a:srgbClr val="262626"/>
                </a:solidFill>
                <a:latin typeface="Calibri"/>
              </a:rPr>
              <a:t>s. 196: “Doğa kaynaklı afetlerin önemli bir bölümü atmosfer olaylarına bağlı oluşur ve bunlar klimatik-hidrolojik afetler (kuraklık, sel vb.) olarak adlandırılır.”</a:t>
            </a:r>
          </a:p>
        </p:txBody>
      </p:sp>
      <p:sp>
        <p:nvSpPr>
          <p:cNvPr id="9" name="Rounded Rectangle 8"/>
          <p:cNvSpPr/>
          <p:nvPr/>
        </p:nvSpPr>
        <p:spPr>
          <a:xfrm>
            <a:off x="4864608" y="1216152"/>
            <a:ext cx="6824167" cy="960120"/>
          </a:xfrm>
          <a:prstGeom prst="roundRect">
            <a:avLst>
              <a:gd name="adj" fmla="val 11428"/>
            </a:avLst>
          </a:prstGeom>
          <a:solidFill>
            <a:srgbClr val="F0F0F0"/>
          </a:solidFill>
          <a:ln>
            <a:noFill/>
          </a:ln>
          <a:effectLst/>
        </p:spPr>
        <p:txBody>
          <a:bodyPr rtlCol="0" anchor="ctr"/>
          <a:lstStyle/>
          <a:p/>
        </p:txBody>
      </p:sp>
      <p:sp>
        <p:nvSpPr>
          <p:cNvPr id="10" name="Oval 9"/>
          <p:cNvSpPr/>
          <p:nvPr/>
        </p:nvSpPr>
        <p:spPr>
          <a:xfrm>
            <a:off x="4974336" y="1421892"/>
            <a:ext cx="548640" cy="548640"/>
          </a:xfrm>
          <a:prstGeom prst="ellipse">
            <a:avLst/>
          </a:prstGeom>
          <a:solidFill>
            <a:srgbClr val="D3373A"/>
          </a:solidFill>
          <a:ln>
            <a:noFill/>
          </a:ln>
          <a:effectLst/>
        </p:spPr>
        <p:txBody>
          <a:bodyPr rtlCol="0" anchor="ctr" wrap="none" lIns="0" rIns="0" tIns="0" bIns="0">
            <a:noAutofit/>
          </a:bodyPr>
          <a:lstStyle/>
          <a:p>
            <a:pPr algn="ctr">
              <a:spcBef>
                <a:spcPts val="0"/>
              </a:spcBef>
              <a:spcAft>
                <a:spcPts val="0"/>
              </a:spcAft>
            </a:pPr>
            <a:r>
              <a:rPr lang="tr-TR" sz="2200" b="1" i="0">
                <a:solidFill>
                  <a:srgbClr val="FFFFFF"/>
                </a:solidFill>
                <a:latin typeface="Calibri"/>
              </a:rPr>
              <a:t>4</a:t>
            </a:r>
          </a:p>
        </p:txBody>
      </p:sp>
      <p:sp>
        <p:nvSpPr>
          <p:cNvPr id="11" name="TextBox 10"/>
          <p:cNvSpPr txBox="1"/>
          <p:nvPr/>
        </p:nvSpPr>
        <p:spPr>
          <a:xfrm>
            <a:off x="5641848" y="1216152"/>
            <a:ext cx="5955487" cy="960120"/>
          </a:xfrm>
          <a:prstGeom prst="rect">
            <a:avLst/>
          </a:prstGeom>
          <a:noFill/>
        </p:spPr>
        <p:txBody>
          <a:bodyPr wrap="square" anchor="ctr" lIns="73152" rIns="73152" tIns="36576" bIns="36576">
            <a:noAutofit/>
          </a:bodyPr>
          <a:lstStyle/>
          <a:p>
            <a:pPr algn="l">
              <a:spcBef>
                <a:spcPts val="0"/>
              </a:spcBef>
              <a:spcAft>
                <a:spcPts val="0"/>
              </a:spcAft>
            </a:pPr>
            <a:r>
              <a:rPr lang="tr-TR" sz="1900" b="0" i="0">
                <a:solidFill>
                  <a:srgbClr val="262626"/>
                </a:solidFill>
                <a:latin typeface="Calibri"/>
              </a:rPr>
              <a:t>Aşağıdakilerden hangisi olası bir deprem sonrası yaşanabilecek afetler arasında </a:t>
            </a:r>
            <a:r>
              <a:rPr lang="tr-TR" sz="1900" b="1" i="0">
                <a:solidFill>
                  <a:srgbClr val="262626"/>
                </a:solidFill>
                <a:latin typeface="Calibri"/>
              </a:rPr>
              <a:t>yer almaz</a:t>
            </a:r>
            <a:r>
              <a:rPr lang="tr-TR" sz="1900" b="0" i="0">
                <a:solidFill>
                  <a:srgbClr val="262626"/>
                </a:solidFill>
                <a:latin typeface="Calibri"/>
              </a:rPr>
              <a:t>?</a:t>
            </a:r>
          </a:p>
        </p:txBody>
      </p:sp>
      <p:sp>
        <p:nvSpPr>
          <p:cNvPr id="12" name="Rounded Rectangle 11"/>
          <p:cNvSpPr/>
          <p:nvPr/>
        </p:nvSpPr>
        <p:spPr>
          <a:xfrm>
            <a:off x="4864608" y="2304288"/>
            <a:ext cx="6824167" cy="680020"/>
          </a:xfrm>
          <a:prstGeom prst="roundRect">
            <a:avLst>
              <a:gd name="adj" fmla="val 16135"/>
            </a:avLst>
          </a:prstGeom>
          <a:solidFill>
            <a:srgbClr val="FFFFFF"/>
          </a:solidFill>
          <a:ln w="12700">
            <a:solidFill>
              <a:srgbClr val="D9D9D9"/>
            </a:solidFill>
          </a:ln>
          <a:effectLst/>
        </p:spPr>
        <p:txBody>
          <a:bodyPr rtlCol="0" anchor="ctr"/>
          <a:lstStyle/>
          <a:p/>
        </p:txBody>
      </p:sp>
      <p:sp>
        <p:nvSpPr>
          <p:cNvPr id="13" name="Oval 12"/>
          <p:cNvSpPr/>
          <p:nvPr/>
        </p:nvSpPr>
        <p:spPr>
          <a:xfrm>
            <a:off x="4946904" y="2415698"/>
            <a:ext cx="457200" cy="45720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A</a:t>
            </a:r>
          </a:p>
        </p:txBody>
      </p:sp>
      <p:sp>
        <p:nvSpPr>
          <p:cNvPr id="14" name="TextBox 13"/>
          <p:cNvSpPr txBox="1"/>
          <p:nvPr/>
        </p:nvSpPr>
        <p:spPr>
          <a:xfrm>
            <a:off x="5468112" y="2304288"/>
            <a:ext cx="6147511" cy="680020"/>
          </a:xfrm>
          <a:prstGeom prst="rect">
            <a:avLst/>
          </a:prstGeom>
          <a:noFill/>
        </p:spPr>
        <p:txBody>
          <a:bodyPr wrap="square" anchor="ctr" lIns="73152" rIns="73152" tIns="36576" bIns="36576">
            <a:noAutofit/>
          </a:bodyPr>
          <a:lstStyle/>
          <a:p>
            <a:pPr algn="l">
              <a:spcBef>
                <a:spcPts val="0"/>
              </a:spcBef>
              <a:spcAft>
                <a:spcPts val="200"/>
              </a:spcAft>
            </a:pPr>
            <a:r>
              <a:rPr lang="tr-TR" sz="1950" b="0" i="0">
                <a:solidFill>
                  <a:srgbClr val="767676"/>
                </a:solidFill>
                <a:latin typeface="Calibri"/>
              </a:rPr>
              <a:t>Çığ</a:t>
            </a:r>
          </a:p>
          <a:p>
            <a:pPr algn="l">
              <a:spcBef>
                <a:spcPts val="0"/>
              </a:spcBef>
              <a:spcAft>
                <a:spcPts val="0"/>
              </a:spcAft>
            </a:pPr>
            <a:r>
              <a:rPr lang="tr-TR" sz="1560" b="0" i="0">
                <a:solidFill>
                  <a:srgbClr val="767676"/>
                </a:solidFill>
                <a:latin typeface="Calibri"/>
              </a:rPr>
              <a:t>→ Sarsıntı, karla kaplı dik yamaçlarda kar kütlesini kaydırabilir (bilimsel)</a:t>
            </a:r>
          </a:p>
        </p:txBody>
      </p:sp>
      <p:sp>
        <p:nvSpPr>
          <p:cNvPr id="15" name="Rounded Rectangle 14"/>
          <p:cNvSpPr/>
          <p:nvPr/>
        </p:nvSpPr>
        <p:spPr>
          <a:xfrm>
            <a:off x="4864608" y="3075748"/>
            <a:ext cx="6824167" cy="680020"/>
          </a:xfrm>
          <a:prstGeom prst="roundRect">
            <a:avLst>
              <a:gd name="adj" fmla="val 16135"/>
            </a:avLst>
          </a:prstGeom>
          <a:solidFill>
            <a:srgbClr val="FFFFFF"/>
          </a:solidFill>
          <a:ln w="12700">
            <a:solidFill>
              <a:srgbClr val="D9D9D9"/>
            </a:solidFill>
          </a:ln>
          <a:effectLst/>
        </p:spPr>
        <p:txBody>
          <a:bodyPr rtlCol="0" anchor="ctr"/>
          <a:lstStyle/>
          <a:p/>
        </p:txBody>
      </p:sp>
      <p:sp>
        <p:nvSpPr>
          <p:cNvPr id="16" name="Oval 15"/>
          <p:cNvSpPr/>
          <p:nvPr/>
        </p:nvSpPr>
        <p:spPr>
          <a:xfrm>
            <a:off x="4946904" y="3187158"/>
            <a:ext cx="457200" cy="45720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B</a:t>
            </a:r>
          </a:p>
        </p:txBody>
      </p:sp>
      <p:sp>
        <p:nvSpPr>
          <p:cNvPr id="17" name="TextBox 16"/>
          <p:cNvSpPr txBox="1"/>
          <p:nvPr/>
        </p:nvSpPr>
        <p:spPr>
          <a:xfrm>
            <a:off x="5468112" y="3075748"/>
            <a:ext cx="6147511" cy="680020"/>
          </a:xfrm>
          <a:prstGeom prst="rect">
            <a:avLst/>
          </a:prstGeom>
          <a:noFill/>
        </p:spPr>
        <p:txBody>
          <a:bodyPr wrap="square" anchor="ctr" lIns="73152" rIns="73152" tIns="36576" bIns="36576">
            <a:noAutofit/>
          </a:bodyPr>
          <a:lstStyle/>
          <a:p>
            <a:pPr algn="l">
              <a:spcBef>
                <a:spcPts val="0"/>
              </a:spcBef>
              <a:spcAft>
                <a:spcPts val="200"/>
              </a:spcAft>
            </a:pPr>
            <a:r>
              <a:rPr lang="tr-TR" sz="1950" b="0" i="0">
                <a:solidFill>
                  <a:srgbClr val="767676"/>
                </a:solidFill>
                <a:latin typeface="Calibri"/>
              </a:rPr>
              <a:t>Heyelan</a:t>
            </a:r>
          </a:p>
          <a:p>
            <a:pPr algn="l">
              <a:spcBef>
                <a:spcPts val="0"/>
              </a:spcBef>
              <a:spcAft>
                <a:spcPts val="0"/>
              </a:spcAft>
            </a:pPr>
            <a:r>
              <a:rPr lang="tr-TR" sz="1560" b="0" i="0">
                <a:solidFill>
                  <a:srgbClr val="767676"/>
                </a:solidFill>
                <a:latin typeface="Calibri"/>
              </a:rPr>
              <a:t>→ Sarsıntı, yamaçtaki toprak ve kayaları harekete geçirebilir (bilimsel)</a:t>
            </a:r>
          </a:p>
        </p:txBody>
      </p:sp>
      <p:sp>
        <p:nvSpPr>
          <p:cNvPr id="18" name="Rounded Rectangle 17"/>
          <p:cNvSpPr/>
          <p:nvPr/>
        </p:nvSpPr>
        <p:spPr>
          <a:xfrm>
            <a:off x="4864608" y="3847208"/>
            <a:ext cx="6824167" cy="680020"/>
          </a:xfrm>
          <a:prstGeom prst="roundRect">
            <a:avLst>
              <a:gd name="adj" fmla="val 16135"/>
            </a:avLst>
          </a:prstGeom>
          <a:solidFill>
            <a:srgbClr val="FFFFFF"/>
          </a:solidFill>
          <a:ln w="12700">
            <a:solidFill>
              <a:srgbClr val="D9D9D9"/>
            </a:solidFill>
          </a:ln>
          <a:effectLst/>
        </p:spPr>
        <p:txBody>
          <a:bodyPr rtlCol="0" anchor="ctr"/>
          <a:lstStyle/>
          <a:p/>
        </p:txBody>
      </p:sp>
      <p:sp>
        <p:nvSpPr>
          <p:cNvPr id="19" name="Oval 18"/>
          <p:cNvSpPr/>
          <p:nvPr/>
        </p:nvSpPr>
        <p:spPr>
          <a:xfrm>
            <a:off x="4946904" y="3958618"/>
            <a:ext cx="457200" cy="45720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C</a:t>
            </a:r>
          </a:p>
        </p:txBody>
      </p:sp>
      <p:sp>
        <p:nvSpPr>
          <p:cNvPr id="20" name="TextBox 19"/>
          <p:cNvSpPr txBox="1"/>
          <p:nvPr/>
        </p:nvSpPr>
        <p:spPr>
          <a:xfrm>
            <a:off x="5468112" y="3847208"/>
            <a:ext cx="6147511" cy="680020"/>
          </a:xfrm>
          <a:prstGeom prst="rect">
            <a:avLst/>
          </a:prstGeom>
          <a:noFill/>
        </p:spPr>
        <p:txBody>
          <a:bodyPr wrap="square" anchor="ctr" lIns="73152" rIns="73152" tIns="36576" bIns="36576">
            <a:noAutofit/>
          </a:bodyPr>
          <a:lstStyle/>
          <a:p>
            <a:pPr algn="l">
              <a:spcBef>
                <a:spcPts val="0"/>
              </a:spcBef>
              <a:spcAft>
                <a:spcPts val="200"/>
              </a:spcAft>
            </a:pPr>
            <a:r>
              <a:rPr lang="tr-TR" sz="1950" b="0" i="0">
                <a:solidFill>
                  <a:srgbClr val="767676"/>
                </a:solidFill>
                <a:latin typeface="Calibri"/>
              </a:rPr>
              <a:t>Salgın hastalık</a:t>
            </a:r>
          </a:p>
          <a:p>
            <a:pPr algn="l">
              <a:spcBef>
                <a:spcPts val="0"/>
              </a:spcBef>
              <a:spcAft>
                <a:spcPts val="0"/>
              </a:spcAft>
            </a:pPr>
            <a:r>
              <a:rPr lang="tr-TR" sz="1560" b="0" i="0">
                <a:solidFill>
                  <a:srgbClr val="767676"/>
                </a:solidFill>
                <a:latin typeface="Calibri"/>
              </a:rPr>
              <a:t>→ Kitap: deprem gibi afetlerden sonra görülen salgın hastalıklar (s. 211)</a:t>
            </a:r>
          </a:p>
        </p:txBody>
      </p:sp>
      <p:sp>
        <p:nvSpPr>
          <p:cNvPr id="21" name="Rounded Rectangle 20"/>
          <p:cNvSpPr/>
          <p:nvPr/>
        </p:nvSpPr>
        <p:spPr>
          <a:xfrm>
            <a:off x="4864608" y="4618668"/>
            <a:ext cx="6824167" cy="900943"/>
          </a:xfrm>
          <a:prstGeom prst="roundRect">
            <a:avLst>
              <a:gd name="adj" fmla="val 12179"/>
            </a:avLst>
          </a:prstGeom>
          <a:solidFill>
            <a:srgbClr val="E3F1E4"/>
          </a:solidFill>
          <a:ln w="31750">
            <a:solidFill>
              <a:srgbClr val="2E7D32"/>
            </a:solidFill>
          </a:ln>
          <a:effectLst/>
        </p:spPr>
        <p:txBody>
          <a:bodyPr rtlCol="0" anchor="ctr"/>
          <a:lstStyle/>
          <a:p/>
        </p:txBody>
      </p:sp>
      <p:sp>
        <p:nvSpPr>
          <p:cNvPr id="22" name="Oval 21"/>
          <p:cNvSpPr/>
          <p:nvPr/>
        </p:nvSpPr>
        <p:spPr>
          <a:xfrm>
            <a:off x="4946904" y="4840540"/>
            <a:ext cx="457200" cy="457200"/>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D</a:t>
            </a:r>
          </a:p>
        </p:txBody>
      </p:sp>
      <p:sp>
        <p:nvSpPr>
          <p:cNvPr id="23" name="TextBox 22"/>
          <p:cNvSpPr txBox="1"/>
          <p:nvPr/>
        </p:nvSpPr>
        <p:spPr>
          <a:xfrm>
            <a:off x="5468112" y="4618668"/>
            <a:ext cx="6147511" cy="900943"/>
          </a:xfrm>
          <a:prstGeom prst="rect">
            <a:avLst/>
          </a:prstGeom>
          <a:noFill/>
        </p:spPr>
        <p:txBody>
          <a:bodyPr wrap="square" anchor="ctr" lIns="73152" rIns="73152" tIns="36576" bIns="36576">
            <a:noAutofit/>
          </a:bodyPr>
          <a:lstStyle/>
          <a:p>
            <a:pPr algn="l">
              <a:spcBef>
                <a:spcPts val="0"/>
              </a:spcBef>
              <a:spcAft>
                <a:spcPts val="200"/>
              </a:spcAft>
            </a:pPr>
            <a:r>
              <a:rPr lang="tr-TR" sz="1950" b="1" i="0">
                <a:solidFill>
                  <a:srgbClr val="262626"/>
                </a:solidFill>
                <a:latin typeface="Calibri"/>
              </a:rPr>
              <a:t>Sel ve taşkın</a:t>
            </a:r>
          </a:p>
          <a:p>
            <a:pPr algn="l">
              <a:spcBef>
                <a:spcPts val="0"/>
              </a:spcBef>
              <a:spcAft>
                <a:spcPts val="0"/>
              </a:spcAft>
            </a:pPr>
            <a:r>
              <a:rPr lang="tr-TR" sz="1560" b="0" i="0">
                <a:solidFill>
                  <a:srgbClr val="2E7D32"/>
                </a:solidFill>
                <a:latin typeface="Calibri"/>
              </a:rPr>
              <a:t>→ Aşırı yağışa bağlı, atmosfer kaynaklı afettir; depremin sonucu sayılmaz (s. 191, 196)</a:t>
            </a:r>
          </a:p>
        </p:txBody>
      </p:sp>
      <p:sp>
        <p:nvSpPr>
          <p:cNvPr id="24" name="Rounded Rectangle 23"/>
          <p:cNvSpPr/>
          <p:nvPr/>
        </p:nvSpPr>
        <p:spPr>
          <a:xfrm>
            <a:off x="4864608" y="5611051"/>
            <a:ext cx="6824167" cy="680020"/>
          </a:xfrm>
          <a:prstGeom prst="roundRect">
            <a:avLst>
              <a:gd name="adj" fmla="val 16135"/>
            </a:avLst>
          </a:prstGeom>
          <a:solidFill>
            <a:srgbClr val="FFFFFF"/>
          </a:solidFill>
          <a:ln w="12700">
            <a:solidFill>
              <a:srgbClr val="D9D9D9"/>
            </a:solidFill>
          </a:ln>
          <a:effectLst/>
        </p:spPr>
        <p:txBody>
          <a:bodyPr rtlCol="0" anchor="ctr"/>
          <a:lstStyle/>
          <a:p/>
        </p:txBody>
      </p:sp>
      <p:sp>
        <p:nvSpPr>
          <p:cNvPr id="25" name="Oval 24"/>
          <p:cNvSpPr/>
          <p:nvPr/>
        </p:nvSpPr>
        <p:spPr>
          <a:xfrm>
            <a:off x="4946904" y="5722461"/>
            <a:ext cx="457200" cy="45720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E</a:t>
            </a:r>
          </a:p>
        </p:txBody>
      </p:sp>
      <p:sp>
        <p:nvSpPr>
          <p:cNvPr id="26" name="TextBox 25"/>
          <p:cNvSpPr txBox="1"/>
          <p:nvPr/>
        </p:nvSpPr>
        <p:spPr>
          <a:xfrm>
            <a:off x="5468112" y="5611051"/>
            <a:ext cx="6147511" cy="680020"/>
          </a:xfrm>
          <a:prstGeom prst="rect">
            <a:avLst/>
          </a:prstGeom>
          <a:noFill/>
        </p:spPr>
        <p:txBody>
          <a:bodyPr wrap="square" anchor="ctr" lIns="73152" rIns="73152" tIns="36576" bIns="36576">
            <a:noAutofit/>
          </a:bodyPr>
          <a:lstStyle/>
          <a:p>
            <a:pPr algn="l">
              <a:spcBef>
                <a:spcPts val="0"/>
              </a:spcBef>
              <a:spcAft>
                <a:spcPts val="200"/>
              </a:spcAft>
            </a:pPr>
            <a:r>
              <a:rPr lang="tr-TR" sz="1950" b="0" i="0">
                <a:solidFill>
                  <a:srgbClr val="767676"/>
                </a:solidFill>
                <a:latin typeface="Calibri"/>
              </a:rPr>
              <a:t>Tsunami</a:t>
            </a:r>
          </a:p>
          <a:p>
            <a:pPr algn="l">
              <a:spcBef>
                <a:spcPts val="0"/>
              </a:spcBef>
              <a:spcAft>
                <a:spcPts val="0"/>
              </a:spcAft>
            </a:pPr>
            <a:r>
              <a:rPr lang="tr-TR" sz="1560" b="0" i="0">
                <a:solidFill>
                  <a:srgbClr val="767676"/>
                </a:solidFill>
                <a:latin typeface="Calibri"/>
              </a:rPr>
              <a:t>→ Deniz tabanındaki deprem, büyük dalgalar oluşturabilir (bilimsel)</a:t>
            </a:r>
          </a:p>
        </p:txBody>
      </p:sp>
      <p:sp>
        <p:nvSpPr>
          <p:cNvPr id="27" name="TextBox 26"/>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28" name="Rounded Rectangle 27"/>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196, 202, 211</a:t>
            </a:r>
          </a:p>
        </p:txBody>
      </p:sp>
      <p:sp>
        <p:nvSpPr>
          <p:cNvPr id="29" name="TextBox 28"/>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234 / 250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Ünite ölçme: 5. soru</a:t>
            </a:r>
          </a:p>
        </p:txBody>
      </p:sp>
      <p:sp>
        <p:nvSpPr>
          <p:cNvPr id="5" name="Rounded Rectangle 4"/>
          <p:cNvSpPr/>
          <p:nvPr/>
        </p:nvSpPr>
        <p:spPr>
          <a:xfrm>
            <a:off x="9555480" y="201168"/>
            <a:ext cx="2221992" cy="475488"/>
          </a:xfrm>
          <a:prstGeom prst="roundRect">
            <a:avLst>
              <a:gd name="adj" fmla="val 50000"/>
            </a:avLst>
          </a:prstGeom>
          <a:solidFill>
            <a:srgbClr val="D3373A"/>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SORU 5</a:t>
            </a:r>
          </a:p>
        </p:txBody>
      </p:sp>
      <p:sp>
        <p:nvSpPr>
          <p:cNvPr id="6" name="Rounded Rectangle 5"/>
          <p:cNvSpPr/>
          <p:nvPr/>
        </p:nvSpPr>
        <p:spPr>
          <a:xfrm>
            <a:off x="502920" y="1216152"/>
            <a:ext cx="11185855" cy="914400"/>
          </a:xfrm>
          <a:prstGeom prst="roundRect">
            <a:avLst>
              <a:gd name="adj" fmla="val 6000"/>
            </a:avLst>
          </a:prstGeom>
          <a:solidFill>
            <a:srgbClr val="FFF3D1"/>
          </a:solidFill>
          <a:ln>
            <a:noFill/>
          </a:ln>
          <a:effectLst/>
        </p:spPr>
        <p:txBody>
          <a:bodyPr rtlCol="0" anchor="ctr"/>
          <a:lstStyle/>
          <a:p/>
        </p:txBody>
      </p:sp>
      <p:sp>
        <p:nvSpPr>
          <p:cNvPr id="7" name="Oval 6"/>
          <p:cNvSpPr/>
          <p:nvPr/>
        </p:nvSpPr>
        <p:spPr>
          <a:xfrm>
            <a:off x="640080" y="1353312"/>
            <a:ext cx="566928" cy="566928"/>
          </a:xfrm>
          <a:prstGeom prst="ellipse">
            <a:avLst/>
          </a:prstGeom>
          <a:solidFill>
            <a:srgbClr val="D3373A"/>
          </a:solidFill>
          <a:ln>
            <a:noFill/>
          </a:ln>
          <a:effectLst/>
        </p:spPr>
        <p:txBody>
          <a:bodyPr rtlCol="0" anchor="ctr" wrap="none" lIns="0" rIns="0" tIns="0" bIns="0">
            <a:noAutofit/>
          </a:bodyPr>
          <a:lstStyle/>
          <a:p>
            <a:pPr algn="ctr">
              <a:spcBef>
                <a:spcPts val="0"/>
              </a:spcBef>
              <a:spcAft>
                <a:spcPts val="0"/>
              </a:spcAft>
            </a:pPr>
            <a:r>
              <a:rPr lang="tr-TR" sz="2200" b="1" i="0">
                <a:solidFill>
                  <a:srgbClr val="FFFFFF"/>
                </a:solidFill>
                <a:latin typeface="Calibri"/>
              </a:rPr>
              <a:t>5</a:t>
            </a:r>
          </a:p>
        </p:txBody>
      </p:sp>
      <p:sp>
        <p:nvSpPr>
          <p:cNvPr id="8" name="TextBox 7"/>
          <p:cNvSpPr txBox="1"/>
          <p:nvPr/>
        </p:nvSpPr>
        <p:spPr>
          <a:xfrm>
            <a:off x="1325880" y="1289304"/>
            <a:ext cx="10271455" cy="768096"/>
          </a:xfrm>
          <a:prstGeom prst="rect">
            <a:avLst/>
          </a:prstGeom>
          <a:noFill/>
        </p:spPr>
        <p:txBody>
          <a:bodyPr wrap="square" anchor="ctr" lIns="73152" rIns="73152" tIns="36576" bIns="36576">
            <a:noAutofit/>
          </a:bodyPr>
          <a:lstStyle/>
          <a:p>
            <a:pPr algn="l">
              <a:spcBef>
                <a:spcPts val="0"/>
              </a:spcBef>
              <a:spcAft>
                <a:spcPts val="0"/>
              </a:spcAft>
            </a:pPr>
            <a:r>
              <a:rPr lang="tr-TR" sz="2400" b="1" i="0">
                <a:solidFill>
                  <a:srgbClr val="262626"/>
                </a:solidFill>
                <a:latin typeface="Calibri"/>
              </a:rPr>
              <a:t>Tabloda verilen afet türlerini oluşum nedenlerini dikkate alarak sınıflandırınız.</a:t>
            </a:r>
          </a:p>
        </p:txBody>
      </p:sp>
      <p:sp>
        <p:nvSpPr>
          <p:cNvPr id="9" name="Rounded Rectangle 8"/>
          <p:cNvSpPr/>
          <p:nvPr/>
        </p:nvSpPr>
        <p:spPr>
          <a:xfrm>
            <a:off x="502920" y="2359152"/>
            <a:ext cx="2673019" cy="685800"/>
          </a:xfrm>
          <a:prstGeom prst="roundRect">
            <a:avLst>
              <a:gd name="adj" fmla="val 25000"/>
            </a:avLst>
          </a:prstGeom>
          <a:solidFill>
            <a:srgbClr val="FFFFFF"/>
          </a:solidFill>
          <a:ln w="19050">
            <a:solidFill>
              <a:srgbClr val="6A4C93"/>
            </a:solidFill>
          </a:ln>
          <a:effectLst/>
        </p:spPr>
        <p:txBody>
          <a:bodyPr rtlCol="0" anchor="ctr" wrap="square" lIns="128016" rIns="128016" tIns="73152" bIns="73152">
            <a:noAutofit/>
          </a:bodyPr>
          <a:lstStyle/>
          <a:p>
            <a:pPr algn="ctr">
              <a:spcBef>
                <a:spcPts val="0"/>
              </a:spcBef>
              <a:spcAft>
                <a:spcPts val="0"/>
              </a:spcAft>
            </a:pPr>
            <a:r>
              <a:rPr lang="tr-TR" sz="2100" b="1" i="0">
                <a:solidFill>
                  <a:srgbClr val="262626"/>
                </a:solidFill>
                <a:latin typeface="Calibri"/>
              </a:rPr>
              <a:t>Sel</a:t>
            </a:r>
          </a:p>
        </p:txBody>
      </p:sp>
      <p:sp>
        <p:nvSpPr>
          <p:cNvPr id="10" name="Rounded Rectangle 9"/>
          <p:cNvSpPr/>
          <p:nvPr/>
        </p:nvSpPr>
        <p:spPr>
          <a:xfrm>
            <a:off x="3340531" y="2359152"/>
            <a:ext cx="2673019" cy="685800"/>
          </a:xfrm>
          <a:prstGeom prst="roundRect">
            <a:avLst>
              <a:gd name="adj" fmla="val 25000"/>
            </a:avLst>
          </a:prstGeom>
          <a:solidFill>
            <a:srgbClr val="FFFFFF"/>
          </a:solidFill>
          <a:ln w="19050">
            <a:solidFill>
              <a:srgbClr val="6A4C93"/>
            </a:solidFill>
          </a:ln>
          <a:effectLst/>
        </p:spPr>
        <p:txBody>
          <a:bodyPr rtlCol="0" anchor="ctr" wrap="square" lIns="128016" rIns="128016" tIns="73152" bIns="73152">
            <a:noAutofit/>
          </a:bodyPr>
          <a:lstStyle/>
          <a:p>
            <a:pPr algn="ctr">
              <a:spcBef>
                <a:spcPts val="0"/>
              </a:spcBef>
              <a:spcAft>
                <a:spcPts val="0"/>
              </a:spcAft>
            </a:pPr>
            <a:r>
              <a:rPr lang="tr-TR" sz="2100" b="1" i="0">
                <a:solidFill>
                  <a:srgbClr val="262626"/>
                </a:solidFill>
                <a:latin typeface="Calibri"/>
              </a:rPr>
              <a:t>Deprem</a:t>
            </a:r>
          </a:p>
        </p:txBody>
      </p:sp>
      <p:sp>
        <p:nvSpPr>
          <p:cNvPr id="11" name="Rounded Rectangle 10"/>
          <p:cNvSpPr/>
          <p:nvPr/>
        </p:nvSpPr>
        <p:spPr>
          <a:xfrm>
            <a:off x="6178143" y="2359152"/>
            <a:ext cx="2673019" cy="685800"/>
          </a:xfrm>
          <a:prstGeom prst="roundRect">
            <a:avLst>
              <a:gd name="adj" fmla="val 25000"/>
            </a:avLst>
          </a:prstGeom>
          <a:solidFill>
            <a:srgbClr val="FFFFFF"/>
          </a:solidFill>
          <a:ln w="19050">
            <a:solidFill>
              <a:srgbClr val="6A4C93"/>
            </a:solidFill>
          </a:ln>
          <a:effectLst/>
        </p:spPr>
        <p:txBody>
          <a:bodyPr rtlCol="0" anchor="ctr" wrap="square" lIns="128016" rIns="128016" tIns="73152" bIns="73152">
            <a:noAutofit/>
          </a:bodyPr>
          <a:lstStyle/>
          <a:p>
            <a:pPr algn="ctr">
              <a:spcBef>
                <a:spcPts val="0"/>
              </a:spcBef>
              <a:spcAft>
                <a:spcPts val="0"/>
              </a:spcAft>
            </a:pPr>
            <a:r>
              <a:rPr lang="tr-TR" sz="2100" b="1" i="0">
                <a:solidFill>
                  <a:srgbClr val="262626"/>
                </a:solidFill>
                <a:latin typeface="Calibri"/>
              </a:rPr>
              <a:t>Endüstriyel Kazalar</a:t>
            </a:r>
          </a:p>
        </p:txBody>
      </p:sp>
      <p:sp>
        <p:nvSpPr>
          <p:cNvPr id="12" name="Rounded Rectangle 11"/>
          <p:cNvSpPr/>
          <p:nvPr/>
        </p:nvSpPr>
        <p:spPr>
          <a:xfrm>
            <a:off x="9015755" y="2359152"/>
            <a:ext cx="2673019" cy="685800"/>
          </a:xfrm>
          <a:prstGeom prst="roundRect">
            <a:avLst>
              <a:gd name="adj" fmla="val 25000"/>
            </a:avLst>
          </a:prstGeom>
          <a:solidFill>
            <a:srgbClr val="FFFFFF"/>
          </a:solidFill>
          <a:ln w="19050">
            <a:solidFill>
              <a:srgbClr val="6A4C93"/>
            </a:solidFill>
          </a:ln>
          <a:effectLst/>
        </p:spPr>
        <p:txBody>
          <a:bodyPr rtlCol="0" anchor="ctr" wrap="square" lIns="128016" rIns="128016" tIns="73152" bIns="73152">
            <a:noAutofit/>
          </a:bodyPr>
          <a:lstStyle/>
          <a:p>
            <a:pPr algn="ctr">
              <a:spcBef>
                <a:spcPts val="0"/>
              </a:spcBef>
              <a:spcAft>
                <a:spcPts val="0"/>
              </a:spcAft>
            </a:pPr>
            <a:r>
              <a:rPr lang="tr-TR" sz="2100" b="1" i="0">
                <a:solidFill>
                  <a:srgbClr val="262626"/>
                </a:solidFill>
                <a:latin typeface="Calibri"/>
              </a:rPr>
              <a:t>Kuraklık</a:t>
            </a:r>
          </a:p>
        </p:txBody>
      </p:sp>
      <p:sp>
        <p:nvSpPr>
          <p:cNvPr id="13" name="Rounded Rectangle 12"/>
          <p:cNvSpPr/>
          <p:nvPr/>
        </p:nvSpPr>
        <p:spPr>
          <a:xfrm>
            <a:off x="502920" y="3191256"/>
            <a:ext cx="2673019" cy="685800"/>
          </a:xfrm>
          <a:prstGeom prst="roundRect">
            <a:avLst>
              <a:gd name="adj" fmla="val 25000"/>
            </a:avLst>
          </a:prstGeom>
          <a:solidFill>
            <a:srgbClr val="FFFFFF"/>
          </a:solidFill>
          <a:ln w="19050">
            <a:solidFill>
              <a:srgbClr val="6A4C93"/>
            </a:solidFill>
          </a:ln>
          <a:effectLst/>
        </p:spPr>
        <p:txBody>
          <a:bodyPr rtlCol="0" anchor="ctr" wrap="square" lIns="128016" rIns="128016" tIns="73152" bIns="73152">
            <a:noAutofit/>
          </a:bodyPr>
          <a:lstStyle/>
          <a:p>
            <a:pPr algn="ctr">
              <a:spcBef>
                <a:spcPts val="0"/>
              </a:spcBef>
              <a:spcAft>
                <a:spcPts val="0"/>
              </a:spcAft>
            </a:pPr>
            <a:r>
              <a:rPr lang="tr-TR" sz="2100" b="1" i="0">
                <a:solidFill>
                  <a:srgbClr val="262626"/>
                </a:solidFill>
                <a:latin typeface="Calibri"/>
              </a:rPr>
              <a:t>Uluslararası Göç</a:t>
            </a:r>
          </a:p>
        </p:txBody>
      </p:sp>
      <p:sp>
        <p:nvSpPr>
          <p:cNvPr id="14" name="Rounded Rectangle 13"/>
          <p:cNvSpPr/>
          <p:nvPr/>
        </p:nvSpPr>
        <p:spPr>
          <a:xfrm>
            <a:off x="3340531" y="3191256"/>
            <a:ext cx="2673019" cy="685800"/>
          </a:xfrm>
          <a:prstGeom prst="roundRect">
            <a:avLst>
              <a:gd name="adj" fmla="val 25000"/>
            </a:avLst>
          </a:prstGeom>
          <a:solidFill>
            <a:srgbClr val="FFFFFF"/>
          </a:solidFill>
          <a:ln w="19050">
            <a:solidFill>
              <a:srgbClr val="6A4C93"/>
            </a:solidFill>
          </a:ln>
          <a:effectLst/>
        </p:spPr>
        <p:txBody>
          <a:bodyPr rtlCol="0" anchor="ctr" wrap="square" lIns="128016" rIns="128016" tIns="73152" bIns="73152">
            <a:noAutofit/>
          </a:bodyPr>
          <a:lstStyle/>
          <a:p>
            <a:pPr algn="ctr">
              <a:spcBef>
                <a:spcPts val="0"/>
              </a:spcBef>
              <a:spcAft>
                <a:spcPts val="0"/>
              </a:spcAft>
            </a:pPr>
            <a:r>
              <a:rPr lang="tr-TR" sz="2100" b="1" i="0">
                <a:solidFill>
                  <a:srgbClr val="262626"/>
                </a:solidFill>
                <a:latin typeface="Calibri"/>
              </a:rPr>
              <a:t>Aşırı Sıcaklar</a:t>
            </a:r>
          </a:p>
        </p:txBody>
      </p:sp>
      <p:sp>
        <p:nvSpPr>
          <p:cNvPr id="15" name="Rounded Rectangle 14"/>
          <p:cNvSpPr/>
          <p:nvPr/>
        </p:nvSpPr>
        <p:spPr>
          <a:xfrm>
            <a:off x="6178143" y="3191256"/>
            <a:ext cx="2673019" cy="685800"/>
          </a:xfrm>
          <a:prstGeom prst="roundRect">
            <a:avLst>
              <a:gd name="adj" fmla="val 25000"/>
            </a:avLst>
          </a:prstGeom>
          <a:solidFill>
            <a:srgbClr val="FFFFFF"/>
          </a:solidFill>
          <a:ln w="19050">
            <a:solidFill>
              <a:srgbClr val="6A4C93"/>
            </a:solidFill>
          </a:ln>
          <a:effectLst/>
        </p:spPr>
        <p:txBody>
          <a:bodyPr rtlCol="0" anchor="ctr" wrap="square" lIns="128016" rIns="128016" tIns="73152" bIns="73152">
            <a:noAutofit/>
          </a:bodyPr>
          <a:lstStyle/>
          <a:p>
            <a:pPr algn="ctr">
              <a:spcBef>
                <a:spcPts val="0"/>
              </a:spcBef>
              <a:spcAft>
                <a:spcPts val="0"/>
              </a:spcAft>
            </a:pPr>
            <a:r>
              <a:rPr lang="tr-TR" sz="2100" b="1" i="0">
                <a:solidFill>
                  <a:srgbClr val="262626"/>
                </a:solidFill>
                <a:latin typeface="Calibri"/>
              </a:rPr>
              <a:t>Volkanik Faaliyetler</a:t>
            </a:r>
          </a:p>
        </p:txBody>
      </p:sp>
      <p:sp>
        <p:nvSpPr>
          <p:cNvPr id="16" name="Rounded Rectangle 15"/>
          <p:cNvSpPr/>
          <p:nvPr/>
        </p:nvSpPr>
        <p:spPr>
          <a:xfrm>
            <a:off x="9015755" y="3191256"/>
            <a:ext cx="2673019" cy="685800"/>
          </a:xfrm>
          <a:prstGeom prst="roundRect">
            <a:avLst>
              <a:gd name="adj" fmla="val 25000"/>
            </a:avLst>
          </a:prstGeom>
          <a:solidFill>
            <a:srgbClr val="FFFFFF"/>
          </a:solidFill>
          <a:ln w="19050">
            <a:solidFill>
              <a:srgbClr val="6A4C93"/>
            </a:solidFill>
          </a:ln>
          <a:effectLst/>
        </p:spPr>
        <p:txBody>
          <a:bodyPr rtlCol="0" anchor="ctr" wrap="square" lIns="128016" rIns="128016" tIns="73152" bIns="73152">
            <a:noAutofit/>
          </a:bodyPr>
          <a:lstStyle/>
          <a:p>
            <a:pPr algn="ctr">
              <a:spcBef>
                <a:spcPts val="0"/>
              </a:spcBef>
              <a:spcAft>
                <a:spcPts val="0"/>
              </a:spcAft>
            </a:pPr>
            <a:r>
              <a:rPr lang="tr-TR" sz="2100" b="1" i="0">
                <a:solidFill>
                  <a:srgbClr val="262626"/>
                </a:solidFill>
                <a:latin typeface="Calibri"/>
              </a:rPr>
              <a:t>Heyelan</a:t>
            </a:r>
          </a:p>
        </p:txBody>
      </p:sp>
      <p:sp>
        <p:nvSpPr>
          <p:cNvPr id="17" name="Rounded Rectangle 16"/>
          <p:cNvSpPr/>
          <p:nvPr/>
        </p:nvSpPr>
        <p:spPr>
          <a:xfrm>
            <a:off x="502920" y="4023360"/>
            <a:ext cx="2673019" cy="685800"/>
          </a:xfrm>
          <a:prstGeom prst="roundRect">
            <a:avLst>
              <a:gd name="adj" fmla="val 25000"/>
            </a:avLst>
          </a:prstGeom>
          <a:solidFill>
            <a:srgbClr val="FFFFFF"/>
          </a:solidFill>
          <a:ln w="19050">
            <a:solidFill>
              <a:srgbClr val="6A4C93"/>
            </a:solidFill>
          </a:ln>
          <a:effectLst/>
        </p:spPr>
        <p:txBody>
          <a:bodyPr rtlCol="0" anchor="ctr" wrap="square" lIns="128016" rIns="128016" tIns="73152" bIns="73152">
            <a:noAutofit/>
          </a:bodyPr>
          <a:lstStyle/>
          <a:p>
            <a:pPr algn="ctr">
              <a:spcBef>
                <a:spcPts val="0"/>
              </a:spcBef>
              <a:spcAft>
                <a:spcPts val="0"/>
              </a:spcAft>
            </a:pPr>
            <a:r>
              <a:rPr lang="tr-TR" sz="2100" b="1" i="0">
                <a:solidFill>
                  <a:srgbClr val="262626"/>
                </a:solidFill>
                <a:latin typeface="Calibri"/>
              </a:rPr>
              <a:t>Orman Yangını</a:t>
            </a:r>
          </a:p>
        </p:txBody>
      </p:sp>
      <p:sp>
        <p:nvSpPr>
          <p:cNvPr id="18" name="Rounded Rectangle 17"/>
          <p:cNvSpPr/>
          <p:nvPr/>
        </p:nvSpPr>
        <p:spPr>
          <a:xfrm>
            <a:off x="3340531" y="4023360"/>
            <a:ext cx="2673019" cy="685800"/>
          </a:xfrm>
          <a:prstGeom prst="roundRect">
            <a:avLst>
              <a:gd name="adj" fmla="val 25000"/>
            </a:avLst>
          </a:prstGeom>
          <a:solidFill>
            <a:srgbClr val="FFFFFF"/>
          </a:solidFill>
          <a:ln w="19050">
            <a:solidFill>
              <a:srgbClr val="6A4C93"/>
            </a:solidFill>
          </a:ln>
          <a:effectLst/>
        </p:spPr>
        <p:txBody>
          <a:bodyPr rtlCol="0" anchor="ctr" wrap="square" lIns="128016" rIns="128016" tIns="73152" bIns="73152">
            <a:noAutofit/>
          </a:bodyPr>
          <a:lstStyle/>
          <a:p>
            <a:pPr algn="ctr">
              <a:spcBef>
                <a:spcPts val="0"/>
              </a:spcBef>
              <a:spcAft>
                <a:spcPts val="0"/>
              </a:spcAft>
            </a:pPr>
            <a:r>
              <a:rPr lang="tr-TR" sz="2100" b="1" i="0">
                <a:solidFill>
                  <a:srgbClr val="262626"/>
                </a:solidFill>
                <a:latin typeface="Calibri"/>
              </a:rPr>
              <a:t>Yoksulluk</a:t>
            </a:r>
          </a:p>
        </p:txBody>
      </p:sp>
      <p:sp>
        <p:nvSpPr>
          <p:cNvPr id="19" name="Rounded Rectangle 18"/>
          <p:cNvSpPr/>
          <p:nvPr/>
        </p:nvSpPr>
        <p:spPr>
          <a:xfrm>
            <a:off x="6178143" y="4023360"/>
            <a:ext cx="2673019" cy="685800"/>
          </a:xfrm>
          <a:prstGeom prst="roundRect">
            <a:avLst>
              <a:gd name="adj" fmla="val 25000"/>
            </a:avLst>
          </a:prstGeom>
          <a:solidFill>
            <a:srgbClr val="FFFFFF"/>
          </a:solidFill>
          <a:ln w="19050">
            <a:solidFill>
              <a:srgbClr val="6A4C93"/>
            </a:solidFill>
          </a:ln>
          <a:effectLst/>
        </p:spPr>
        <p:txBody>
          <a:bodyPr rtlCol="0" anchor="ctr" wrap="square" lIns="128016" rIns="128016" tIns="73152" bIns="73152">
            <a:noAutofit/>
          </a:bodyPr>
          <a:lstStyle/>
          <a:p>
            <a:pPr algn="ctr">
              <a:spcBef>
                <a:spcPts val="0"/>
              </a:spcBef>
              <a:spcAft>
                <a:spcPts val="0"/>
              </a:spcAft>
            </a:pPr>
            <a:r>
              <a:rPr lang="tr-TR" sz="2100" b="1" i="0">
                <a:solidFill>
                  <a:srgbClr val="262626"/>
                </a:solidFill>
                <a:latin typeface="Calibri"/>
              </a:rPr>
              <a:t>Fırtına</a:t>
            </a:r>
          </a:p>
        </p:txBody>
      </p:sp>
      <p:sp>
        <p:nvSpPr>
          <p:cNvPr id="20" name="Rounded Rectangle 19"/>
          <p:cNvSpPr/>
          <p:nvPr/>
        </p:nvSpPr>
        <p:spPr>
          <a:xfrm>
            <a:off x="9015755" y="4023360"/>
            <a:ext cx="2673019" cy="685800"/>
          </a:xfrm>
          <a:prstGeom prst="roundRect">
            <a:avLst>
              <a:gd name="adj" fmla="val 25000"/>
            </a:avLst>
          </a:prstGeom>
          <a:solidFill>
            <a:srgbClr val="FFFFFF"/>
          </a:solidFill>
          <a:ln w="19050">
            <a:solidFill>
              <a:srgbClr val="6A4C93"/>
            </a:solidFill>
          </a:ln>
          <a:effectLst/>
        </p:spPr>
        <p:txBody>
          <a:bodyPr rtlCol="0" anchor="ctr" wrap="square" lIns="128016" rIns="128016" tIns="73152" bIns="73152">
            <a:noAutofit/>
          </a:bodyPr>
          <a:lstStyle/>
          <a:p>
            <a:pPr algn="ctr">
              <a:spcBef>
                <a:spcPts val="0"/>
              </a:spcBef>
              <a:spcAft>
                <a:spcPts val="0"/>
              </a:spcAft>
            </a:pPr>
            <a:r>
              <a:rPr lang="tr-TR" sz="2100" b="1" i="0">
                <a:solidFill>
                  <a:srgbClr val="262626"/>
                </a:solidFill>
                <a:latin typeface="Calibri"/>
              </a:rPr>
              <a:t>Ulaşım Kazaları</a:t>
            </a:r>
          </a:p>
        </p:txBody>
      </p:sp>
      <p:sp>
        <p:nvSpPr>
          <p:cNvPr id="21" name="Rounded Rectangle 20"/>
          <p:cNvSpPr/>
          <p:nvPr/>
        </p:nvSpPr>
        <p:spPr>
          <a:xfrm>
            <a:off x="502920" y="4901184"/>
            <a:ext cx="11185855" cy="1389888"/>
          </a:xfrm>
          <a:prstGeom prst="roundRect">
            <a:avLst>
              <a:gd name="adj" fmla="val 8000"/>
            </a:avLst>
          </a:prstGeom>
          <a:solidFill>
            <a:srgbClr val="E3ECF5"/>
          </a:solidFill>
          <a:ln>
            <a:noFill/>
          </a:ln>
          <a:effectLst/>
        </p:spPr>
        <p:txBody>
          <a:bodyPr rtlCol="0" anchor="ctr" wrap="square" lIns="228600" rIns="228600" tIns="73152" bIns="73152">
            <a:noAutofit/>
          </a:bodyPr>
          <a:lstStyle/>
          <a:p>
            <a:pPr algn="ctr">
              <a:spcBef>
                <a:spcPts val="0"/>
              </a:spcBef>
              <a:spcAft>
                <a:spcPts val="0"/>
              </a:spcAft>
            </a:pPr>
            <a:r>
              <a:rPr lang="tr-TR" sz="1900" b="0" i="0">
                <a:solidFill>
                  <a:srgbClr val="262626"/>
                </a:solidFill>
                <a:latin typeface="Calibri"/>
              </a:rPr>
              <a:t>Hatırla (s. 196): doğa kaynaklı → jeolojik · klimatik-hidrolojik · biyolojik    insan kaynaklı → sosyal · teknolojik</a:t>
            </a:r>
          </a:p>
        </p:txBody>
      </p:sp>
      <p:sp>
        <p:nvSpPr>
          <p:cNvPr id="22" name="TextBox 21"/>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23" name="Rounded Rectangle 22"/>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196, 211</a:t>
            </a:r>
          </a:p>
        </p:txBody>
      </p:sp>
      <p:sp>
        <p:nvSpPr>
          <p:cNvPr id="24" name="TextBox 23"/>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235 / 250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5. soru — örnek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SORU 5</a:t>
            </a:r>
          </a:p>
        </p:txBody>
      </p:sp>
      <p:sp>
        <p:nvSpPr>
          <p:cNvPr id="6" name="Rounded Rectangle 5"/>
          <p:cNvSpPr/>
          <p:nvPr/>
        </p:nvSpPr>
        <p:spPr>
          <a:xfrm>
            <a:off x="502920" y="1216152"/>
            <a:ext cx="6438963" cy="457200"/>
          </a:xfrm>
          <a:prstGeom prst="roundRect">
            <a:avLst>
              <a:gd name="adj" fmla="val 25000"/>
            </a:avLst>
          </a:prstGeom>
          <a:solidFill>
            <a:srgbClr val="2F6F8F"/>
          </a:solidFill>
          <a:ln>
            <a:noFill/>
          </a:ln>
          <a:effectLst/>
        </p:spPr>
        <p:txBody>
          <a:bodyPr rtlCol="0" anchor="ctr" wrap="square" lIns="36576" rIns="36576" tIns="0" bIns="0">
            <a:noAutofit/>
          </a:bodyPr>
          <a:lstStyle/>
          <a:p>
            <a:pPr algn="ctr">
              <a:spcBef>
                <a:spcPts val="0"/>
              </a:spcBef>
              <a:spcAft>
                <a:spcPts val="0"/>
              </a:spcAft>
            </a:pPr>
            <a:r>
              <a:rPr lang="tr-TR" sz="1900" b="1" i="0">
                <a:solidFill>
                  <a:srgbClr val="FFFFFF"/>
                </a:solidFill>
                <a:latin typeface="Calibri"/>
              </a:rPr>
              <a:t>Doğa kaynaklı</a:t>
            </a:r>
          </a:p>
        </p:txBody>
      </p:sp>
      <p:sp>
        <p:nvSpPr>
          <p:cNvPr id="7" name="Rounded Rectangle 6"/>
          <p:cNvSpPr/>
          <p:nvPr/>
        </p:nvSpPr>
        <p:spPr>
          <a:xfrm>
            <a:off x="7051611" y="1216152"/>
            <a:ext cx="4637163" cy="457200"/>
          </a:xfrm>
          <a:prstGeom prst="roundRect">
            <a:avLst>
              <a:gd name="adj" fmla="val 25000"/>
            </a:avLst>
          </a:prstGeom>
          <a:solidFill>
            <a:srgbClr val="A0521A"/>
          </a:solidFill>
          <a:ln>
            <a:noFill/>
          </a:ln>
          <a:effectLst/>
        </p:spPr>
        <p:txBody>
          <a:bodyPr rtlCol="0" anchor="ctr" wrap="square" lIns="36576" rIns="36576" tIns="0" bIns="0">
            <a:noAutofit/>
          </a:bodyPr>
          <a:lstStyle/>
          <a:p>
            <a:pPr algn="ctr">
              <a:spcBef>
                <a:spcPts val="0"/>
              </a:spcBef>
              <a:spcAft>
                <a:spcPts val="0"/>
              </a:spcAft>
            </a:pPr>
            <a:r>
              <a:rPr lang="tr-TR" sz="1900" b="1" i="0">
                <a:solidFill>
                  <a:srgbClr val="FFFFFF"/>
                </a:solidFill>
                <a:latin typeface="Calibri"/>
              </a:rPr>
              <a:t>İnsan kaynaklı</a:t>
            </a:r>
          </a:p>
        </p:txBody>
      </p:sp>
      <p:sp>
        <p:nvSpPr>
          <p:cNvPr id="8" name="Rounded Rectangle 7"/>
          <p:cNvSpPr/>
          <p:nvPr/>
        </p:nvSpPr>
        <p:spPr>
          <a:xfrm>
            <a:off x="502920" y="1764792"/>
            <a:ext cx="2423778" cy="502920"/>
          </a:xfrm>
          <a:prstGeom prst="roundRect">
            <a:avLst>
              <a:gd name="adj" fmla="val 20000"/>
            </a:avLst>
          </a:prstGeom>
          <a:solidFill>
            <a:srgbClr val="8B5A2B"/>
          </a:solidFill>
          <a:ln>
            <a:noFill/>
          </a:ln>
          <a:effectLst/>
        </p:spPr>
        <p:txBody>
          <a:bodyPr rtlCol="0" anchor="ctr" wrap="square" lIns="36576" rIns="36576" tIns="0" bIns="0">
            <a:noAutofit/>
          </a:bodyPr>
          <a:lstStyle/>
          <a:p>
            <a:pPr algn="ctr">
              <a:spcBef>
                <a:spcPts val="0"/>
              </a:spcBef>
              <a:spcAft>
                <a:spcPts val="0"/>
              </a:spcAft>
            </a:pPr>
            <a:r>
              <a:rPr lang="tr-TR" sz="1700" b="1" i="0">
                <a:solidFill>
                  <a:srgbClr val="FFFFFF"/>
                </a:solidFill>
                <a:latin typeface="Calibri"/>
              </a:rPr>
              <a:t>Jeolojik</a:t>
            </a:r>
          </a:p>
        </p:txBody>
      </p:sp>
      <p:sp>
        <p:nvSpPr>
          <p:cNvPr id="9" name="Rounded Rectangle 8"/>
          <p:cNvSpPr/>
          <p:nvPr/>
        </p:nvSpPr>
        <p:spPr>
          <a:xfrm>
            <a:off x="502920" y="2340864"/>
            <a:ext cx="2423778" cy="3401568"/>
          </a:xfrm>
          <a:prstGeom prst="roundRect">
            <a:avLst>
              <a:gd name="adj" fmla="val 6000"/>
            </a:avLst>
          </a:prstGeom>
          <a:solidFill>
            <a:srgbClr val="F0F0F0"/>
          </a:solidFill>
          <a:ln>
            <a:noFill/>
          </a:ln>
          <a:effectLst/>
        </p:spPr>
        <p:txBody>
          <a:bodyPr rtlCol="0" anchor="ctr"/>
          <a:lstStyle/>
          <a:p/>
        </p:txBody>
      </p:sp>
      <p:sp>
        <p:nvSpPr>
          <p:cNvPr id="10" name="Rounded Rectangle 9"/>
          <p:cNvSpPr/>
          <p:nvPr/>
        </p:nvSpPr>
        <p:spPr>
          <a:xfrm>
            <a:off x="557784" y="2414016"/>
            <a:ext cx="2314050" cy="566928"/>
          </a:xfrm>
          <a:prstGeom prst="roundRect">
            <a:avLst>
              <a:gd name="adj" fmla="val 30000"/>
            </a:avLst>
          </a:prstGeom>
          <a:solidFill>
            <a:srgbClr val="FFFFFF"/>
          </a:solidFill>
          <a:ln w="25400">
            <a:solidFill>
              <a:srgbClr val="8B5A2B"/>
            </a:solidFill>
          </a:ln>
          <a:effectLst/>
        </p:spPr>
        <p:txBody>
          <a:bodyPr rtlCol="0" anchor="ctr" wrap="square" lIns="36576" rIns="36576" tIns="0" bIns="0">
            <a:noAutofit/>
          </a:bodyPr>
          <a:lstStyle/>
          <a:p>
            <a:pPr algn="ctr">
              <a:spcBef>
                <a:spcPts val="0"/>
              </a:spcBef>
              <a:spcAft>
                <a:spcPts val="0"/>
              </a:spcAft>
            </a:pPr>
            <a:r>
              <a:rPr lang="tr-TR" sz="1900" b="1" i="0">
                <a:solidFill>
                  <a:srgbClr val="262626"/>
                </a:solidFill>
                <a:latin typeface="Calibri"/>
              </a:rPr>
              <a:t>Deprem</a:t>
            </a:r>
          </a:p>
        </p:txBody>
      </p:sp>
      <p:sp>
        <p:nvSpPr>
          <p:cNvPr id="11" name="Rounded Rectangle 10"/>
          <p:cNvSpPr/>
          <p:nvPr/>
        </p:nvSpPr>
        <p:spPr>
          <a:xfrm>
            <a:off x="557784" y="3054096"/>
            <a:ext cx="2314050" cy="566928"/>
          </a:xfrm>
          <a:prstGeom prst="roundRect">
            <a:avLst>
              <a:gd name="adj" fmla="val 30000"/>
            </a:avLst>
          </a:prstGeom>
          <a:solidFill>
            <a:srgbClr val="FFFFFF"/>
          </a:solidFill>
          <a:ln w="25400">
            <a:solidFill>
              <a:srgbClr val="8B5A2B"/>
            </a:solidFill>
          </a:ln>
          <a:effectLst/>
        </p:spPr>
        <p:txBody>
          <a:bodyPr rtlCol="0" anchor="ctr" wrap="square" lIns="36576" rIns="36576" tIns="0" bIns="0">
            <a:noAutofit/>
          </a:bodyPr>
          <a:lstStyle/>
          <a:p>
            <a:pPr algn="ctr">
              <a:spcBef>
                <a:spcPts val="0"/>
              </a:spcBef>
              <a:spcAft>
                <a:spcPts val="0"/>
              </a:spcAft>
            </a:pPr>
            <a:r>
              <a:rPr lang="tr-TR" sz="1900" b="1" i="0">
                <a:solidFill>
                  <a:srgbClr val="262626"/>
                </a:solidFill>
                <a:latin typeface="Calibri"/>
              </a:rPr>
              <a:t>Volkanik Faaliyetler</a:t>
            </a:r>
          </a:p>
        </p:txBody>
      </p:sp>
      <p:sp>
        <p:nvSpPr>
          <p:cNvPr id="12" name="Rounded Rectangle 11"/>
          <p:cNvSpPr/>
          <p:nvPr/>
        </p:nvSpPr>
        <p:spPr>
          <a:xfrm>
            <a:off x="557784" y="3694176"/>
            <a:ext cx="2314050" cy="566928"/>
          </a:xfrm>
          <a:prstGeom prst="roundRect">
            <a:avLst>
              <a:gd name="adj" fmla="val 30000"/>
            </a:avLst>
          </a:prstGeom>
          <a:solidFill>
            <a:srgbClr val="FFFFFF"/>
          </a:solidFill>
          <a:ln w="25400">
            <a:solidFill>
              <a:srgbClr val="8B5A2B"/>
            </a:solidFill>
          </a:ln>
          <a:effectLst/>
        </p:spPr>
        <p:txBody>
          <a:bodyPr rtlCol="0" anchor="ctr" wrap="square" lIns="36576" rIns="36576" tIns="0" bIns="0">
            <a:noAutofit/>
          </a:bodyPr>
          <a:lstStyle/>
          <a:p>
            <a:pPr algn="ctr">
              <a:spcBef>
                <a:spcPts val="0"/>
              </a:spcBef>
              <a:spcAft>
                <a:spcPts val="0"/>
              </a:spcAft>
            </a:pPr>
            <a:r>
              <a:rPr lang="tr-TR" sz="1900" b="1" i="0">
                <a:solidFill>
                  <a:srgbClr val="262626"/>
                </a:solidFill>
                <a:latin typeface="Calibri"/>
              </a:rPr>
              <a:t>Heyelan *</a:t>
            </a:r>
          </a:p>
        </p:txBody>
      </p:sp>
      <p:sp>
        <p:nvSpPr>
          <p:cNvPr id="13" name="Rounded Rectangle 12"/>
          <p:cNvSpPr/>
          <p:nvPr/>
        </p:nvSpPr>
        <p:spPr>
          <a:xfrm>
            <a:off x="3036426" y="1764792"/>
            <a:ext cx="2378046" cy="502920"/>
          </a:xfrm>
          <a:prstGeom prst="roundRect">
            <a:avLst>
              <a:gd name="adj" fmla="val 20000"/>
            </a:avLst>
          </a:prstGeom>
          <a:solidFill>
            <a:srgbClr val="2C6696"/>
          </a:solidFill>
          <a:ln>
            <a:noFill/>
          </a:ln>
          <a:effectLst/>
        </p:spPr>
        <p:txBody>
          <a:bodyPr rtlCol="0" anchor="ctr" wrap="square" lIns="36576" rIns="36576" tIns="0" bIns="0">
            <a:noAutofit/>
          </a:bodyPr>
          <a:lstStyle/>
          <a:p>
            <a:pPr algn="ctr">
              <a:spcBef>
                <a:spcPts val="0"/>
              </a:spcBef>
              <a:spcAft>
                <a:spcPts val="0"/>
              </a:spcAft>
            </a:pPr>
            <a:r>
              <a:rPr lang="tr-TR" sz="1700" b="1" i="0">
                <a:solidFill>
                  <a:srgbClr val="FFFFFF"/>
                </a:solidFill>
                <a:latin typeface="Calibri"/>
              </a:rPr>
              <a:t>Klimatik-hidrolojik</a:t>
            </a:r>
          </a:p>
        </p:txBody>
      </p:sp>
      <p:sp>
        <p:nvSpPr>
          <p:cNvPr id="14" name="Rounded Rectangle 13"/>
          <p:cNvSpPr/>
          <p:nvPr/>
        </p:nvSpPr>
        <p:spPr>
          <a:xfrm>
            <a:off x="3036426" y="2340864"/>
            <a:ext cx="2378046" cy="3401568"/>
          </a:xfrm>
          <a:prstGeom prst="roundRect">
            <a:avLst>
              <a:gd name="adj" fmla="val 6000"/>
            </a:avLst>
          </a:prstGeom>
          <a:solidFill>
            <a:srgbClr val="F0F0F0"/>
          </a:solidFill>
          <a:ln>
            <a:noFill/>
          </a:ln>
          <a:effectLst/>
        </p:spPr>
        <p:txBody>
          <a:bodyPr rtlCol="0" anchor="ctr"/>
          <a:lstStyle/>
          <a:p/>
        </p:txBody>
      </p:sp>
      <p:sp>
        <p:nvSpPr>
          <p:cNvPr id="15" name="Rounded Rectangle 14"/>
          <p:cNvSpPr/>
          <p:nvPr/>
        </p:nvSpPr>
        <p:spPr>
          <a:xfrm>
            <a:off x="3091290" y="2414016"/>
            <a:ext cx="2268318" cy="566928"/>
          </a:xfrm>
          <a:prstGeom prst="roundRect">
            <a:avLst>
              <a:gd name="adj" fmla="val 30000"/>
            </a:avLst>
          </a:prstGeom>
          <a:solidFill>
            <a:srgbClr val="FFFFFF"/>
          </a:solidFill>
          <a:ln w="25400">
            <a:solidFill>
              <a:srgbClr val="2C6696"/>
            </a:solidFill>
          </a:ln>
          <a:effectLst/>
        </p:spPr>
        <p:txBody>
          <a:bodyPr rtlCol="0" anchor="ctr" wrap="square" lIns="36576" rIns="36576" tIns="0" bIns="0">
            <a:noAutofit/>
          </a:bodyPr>
          <a:lstStyle/>
          <a:p>
            <a:pPr algn="ctr">
              <a:spcBef>
                <a:spcPts val="0"/>
              </a:spcBef>
              <a:spcAft>
                <a:spcPts val="0"/>
              </a:spcAft>
            </a:pPr>
            <a:r>
              <a:rPr lang="tr-TR" sz="1900" b="1" i="0">
                <a:solidFill>
                  <a:srgbClr val="262626"/>
                </a:solidFill>
                <a:latin typeface="Calibri"/>
              </a:rPr>
              <a:t>Sel</a:t>
            </a:r>
          </a:p>
        </p:txBody>
      </p:sp>
      <p:sp>
        <p:nvSpPr>
          <p:cNvPr id="16" name="Rounded Rectangle 15"/>
          <p:cNvSpPr/>
          <p:nvPr/>
        </p:nvSpPr>
        <p:spPr>
          <a:xfrm>
            <a:off x="3091290" y="3054096"/>
            <a:ext cx="2268318" cy="566928"/>
          </a:xfrm>
          <a:prstGeom prst="roundRect">
            <a:avLst>
              <a:gd name="adj" fmla="val 30000"/>
            </a:avLst>
          </a:prstGeom>
          <a:solidFill>
            <a:srgbClr val="FFFFFF"/>
          </a:solidFill>
          <a:ln w="25400">
            <a:solidFill>
              <a:srgbClr val="2C6696"/>
            </a:solidFill>
          </a:ln>
          <a:effectLst/>
        </p:spPr>
        <p:txBody>
          <a:bodyPr rtlCol="0" anchor="ctr" wrap="square" lIns="36576" rIns="36576" tIns="0" bIns="0">
            <a:noAutofit/>
          </a:bodyPr>
          <a:lstStyle/>
          <a:p>
            <a:pPr algn="ctr">
              <a:spcBef>
                <a:spcPts val="0"/>
              </a:spcBef>
              <a:spcAft>
                <a:spcPts val="0"/>
              </a:spcAft>
            </a:pPr>
            <a:r>
              <a:rPr lang="tr-TR" sz="1900" b="1" i="0">
                <a:solidFill>
                  <a:srgbClr val="262626"/>
                </a:solidFill>
                <a:latin typeface="Calibri"/>
              </a:rPr>
              <a:t>Kuraklık</a:t>
            </a:r>
          </a:p>
        </p:txBody>
      </p:sp>
      <p:sp>
        <p:nvSpPr>
          <p:cNvPr id="17" name="Rounded Rectangle 16"/>
          <p:cNvSpPr/>
          <p:nvPr/>
        </p:nvSpPr>
        <p:spPr>
          <a:xfrm>
            <a:off x="3091290" y="3694176"/>
            <a:ext cx="2268318" cy="566928"/>
          </a:xfrm>
          <a:prstGeom prst="roundRect">
            <a:avLst>
              <a:gd name="adj" fmla="val 30000"/>
            </a:avLst>
          </a:prstGeom>
          <a:solidFill>
            <a:srgbClr val="FFFFFF"/>
          </a:solidFill>
          <a:ln w="25400">
            <a:solidFill>
              <a:srgbClr val="2C6696"/>
            </a:solidFill>
          </a:ln>
          <a:effectLst/>
        </p:spPr>
        <p:txBody>
          <a:bodyPr rtlCol="0" anchor="ctr" wrap="square" lIns="36576" rIns="36576" tIns="0" bIns="0">
            <a:noAutofit/>
          </a:bodyPr>
          <a:lstStyle/>
          <a:p>
            <a:pPr algn="ctr">
              <a:spcBef>
                <a:spcPts val="0"/>
              </a:spcBef>
              <a:spcAft>
                <a:spcPts val="0"/>
              </a:spcAft>
            </a:pPr>
            <a:r>
              <a:rPr lang="tr-TR" sz="1900" b="1" i="0">
                <a:solidFill>
                  <a:srgbClr val="262626"/>
                </a:solidFill>
                <a:latin typeface="Calibri"/>
              </a:rPr>
              <a:t>Aşırı Sıcaklar</a:t>
            </a:r>
          </a:p>
        </p:txBody>
      </p:sp>
      <p:sp>
        <p:nvSpPr>
          <p:cNvPr id="18" name="Rounded Rectangle 17"/>
          <p:cNvSpPr/>
          <p:nvPr/>
        </p:nvSpPr>
        <p:spPr>
          <a:xfrm>
            <a:off x="3091290" y="4334256"/>
            <a:ext cx="2268318" cy="566928"/>
          </a:xfrm>
          <a:prstGeom prst="roundRect">
            <a:avLst>
              <a:gd name="adj" fmla="val 30000"/>
            </a:avLst>
          </a:prstGeom>
          <a:solidFill>
            <a:srgbClr val="FFFFFF"/>
          </a:solidFill>
          <a:ln w="25400">
            <a:solidFill>
              <a:srgbClr val="2C6696"/>
            </a:solidFill>
          </a:ln>
          <a:effectLst/>
        </p:spPr>
        <p:txBody>
          <a:bodyPr rtlCol="0" anchor="ctr" wrap="square" lIns="36576" rIns="36576" tIns="0" bIns="0">
            <a:noAutofit/>
          </a:bodyPr>
          <a:lstStyle/>
          <a:p>
            <a:pPr algn="ctr">
              <a:spcBef>
                <a:spcPts val="0"/>
              </a:spcBef>
              <a:spcAft>
                <a:spcPts val="0"/>
              </a:spcAft>
            </a:pPr>
            <a:r>
              <a:rPr lang="tr-TR" sz="1900" b="1" i="0">
                <a:solidFill>
                  <a:srgbClr val="262626"/>
                </a:solidFill>
                <a:latin typeface="Calibri"/>
              </a:rPr>
              <a:t>Fırtına</a:t>
            </a:r>
          </a:p>
        </p:txBody>
      </p:sp>
      <p:sp>
        <p:nvSpPr>
          <p:cNvPr id="19" name="Rounded Rectangle 18"/>
          <p:cNvSpPr/>
          <p:nvPr/>
        </p:nvSpPr>
        <p:spPr>
          <a:xfrm>
            <a:off x="3091290" y="4974336"/>
            <a:ext cx="2268318" cy="566928"/>
          </a:xfrm>
          <a:prstGeom prst="roundRect">
            <a:avLst>
              <a:gd name="adj" fmla="val 30000"/>
            </a:avLst>
          </a:prstGeom>
          <a:solidFill>
            <a:srgbClr val="FFFFFF"/>
          </a:solidFill>
          <a:ln w="25400">
            <a:solidFill>
              <a:srgbClr val="2C6696"/>
            </a:solidFill>
          </a:ln>
          <a:effectLst/>
        </p:spPr>
        <p:txBody>
          <a:bodyPr rtlCol="0" anchor="ctr" wrap="square" lIns="36576" rIns="36576" tIns="0" bIns="0">
            <a:noAutofit/>
          </a:bodyPr>
          <a:lstStyle/>
          <a:p>
            <a:pPr algn="ctr">
              <a:spcBef>
                <a:spcPts val="0"/>
              </a:spcBef>
              <a:spcAft>
                <a:spcPts val="0"/>
              </a:spcAft>
            </a:pPr>
            <a:r>
              <a:rPr lang="tr-TR" sz="1900" b="1" i="0">
                <a:solidFill>
                  <a:srgbClr val="262626"/>
                </a:solidFill>
                <a:latin typeface="Calibri"/>
              </a:rPr>
              <a:t>Orman Yangını *</a:t>
            </a:r>
          </a:p>
        </p:txBody>
      </p:sp>
      <p:sp>
        <p:nvSpPr>
          <p:cNvPr id="20" name="Rounded Rectangle 19"/>
          <p:cNvSpPr/>
          <p:nvPr/>
        </p:nvSpPr>
        <p:spPr>
          <a:xfrm>
            <a:off x="5524201" y="1764792"/>
            <a:ext cx="1417681" cy="502920"/>
          </a:xfrm>
          <a:prstGeom prst="roundRect">
            <a:avLst>
              <a:gd name="adj" fmla="val 20000"/>
            </a:avLst>
          </a:prstGeom>
          <a:solidFill>
            <a:srgbClr val="3E8E41"/>
          </a:solidFill>
          <a:ln>
            <a:noFill/>
          </a:ln>
          <a:effectLst/>
        </p:spPr>
        <p:txBody>
          <a:bodyPr rtlCol="0" anchor="ctr" wrap="square" lIns="36576" rIns="36576" tIns="0" bIns="0">
            <a:noAutofit/>
          </a:bodyPr>
          <a:lstStyle/>
          <a:p>
            <a:pPr algn="ctr">
              <a:spcBef>
                <a:spcPts val="0"/>
              </a:spcBef>
              <a:spcAft>
                <a:spcPts val="0"/>
              </a:spcAft>
            </a:pPr>
            <a:r>
              <a:rPr lang="tr-TR" sz="1700" b="1" i="0">
                <a:solidFill>
                  <a:srgbClr val="FFFFFF"/>
                </a:solidFill>
                <a:latin typeface="Calibri"/>
              </a:rPr>
              <a:t>Biyolojik</a:t>
            </a:r>
          </a:p>
        </p:txBody>
      </p:sp>
      <p:sp>
        <p:nvSpPr>
          <p:cNvPr id="21" name="Rounded Rectangle 20"/>
          <p:cNvSpPr/>
          <p:nvPr/>
        </p:nvSpPr>
        <p:spPr>
          <a:xfrm>
            <a:off x="5524201" y="2340864"/>
            <a:ext cx="1417681" cy="3401568"/>
          </a:xfrm>
          <a:prstGeom prst="roundRect">
            <a:avLst>
              <a:gd name="adj" fmla="val 6000"/>
            </a:avLst>
          </a:prstGeom>
          <a:solidFill>
            <a:srgbClr val="F0F0F0"/>
          </a:solidFill>
          <a:ln>
            <a:noFill/>
          </a:ln>
          <a:effectLst/>
        </p:spPr>
        <p:txBody>
          <a:bodyPr rtlCol="0" anchor="ctr"/>
          <a:lstStyle/>
          <a:p/>
        </p:txBody>
      </p:sp>
      <p:sp>
        <p:nvSpPr>
          <p:cNvPr id="22" name="TextBox 21"/>
          <p:cNvSpPr txBox="1"/>
          <p:nvPr/>
        </p:nvSpPr>
        <p:spPr>
          <a:xfrm>
            <a:off x="5597353" y="2340864"/>
            <a:ext cx="1271377" cy="3401568"/>
          </a:xfrm>
          <a:prstGeom prst="rect">
            <a:avLst/>
          </a:prstGeom>
          <a:noFill/>
        </p:spPr>
        <p:txBody>
          <a:bodyPr wrap="square" anchor="ctr" lIns="73152" rIns="73152" tIns="36576" bIns="36576">
            <a:noAutofit/>
          </a:bodyPr>
          <a:lstStyle/>
          <a:p>
            <a:pPr algn="ctr">
              <a:spcBef>
                <a:spcPts val="0"/>
              </a:spcBef>
              <a:spcAft>
                <a:spcPts val="600"/>
              </a:spcAft>
            </a:pPr>
            <a:r>
              <a:rPr lang="tr-TR" sz="1600" b="1" i="0">
                <a:solidFill>
                  <a:srgbClr val="767676"/>
                </a:solidFill>
                <a:latin typeface="Calibri"/>
              </a:rPr>
              <a:t>Tabloda yok</a:t>
            </a:r>
          </a:p>
          <a:p>
            <a:pPr algn="ctr">
              <a:spcBef>
                <a:spcPts val="0"/>
              </a:spcBef>
              <a:spcAft>
                <a:spcPts val="0"/>
              </a:spcAft>
            </a:pPr>
            <a:r>
              <a:rPr lang="tr-TR" sz="1400" b="0" i="0">
                <a:solidFill>
                  <a:srgbClr val="767676"/>
                </a:solidFill>
                <a:latin typeface="Calibri"/>
              </a:rPr>
              <a:t>(kitap: erozyon, salgınlar)</a:t>
            </a:r>
          </a:p>
        </p:txBody>
      </p:sp>
      <p:sp>
        <p:nvSpPr>
          <p:cNvPr id="23" name="Rounded Rectangle 22"/>
          <p:cNvSpPr/>
          <p:nvPr/>
        </p:nvSpPr>
        <p:spPr>
          <a:xfrm>
            <a:off x="7051611" y="1764792"/>
            <a:ext cx="2103656" cy="502920"/>
          </a:xfrm>
          <a:prstGeom prst="roundRect">
            <a:avLst>
              <a:gd name="adj" fmla="val 20000"/>
            </a:avLst>
          </a:prstGeom>
          <a:solidFill>
            <a:srgbClr val="7A4EA0"/>
          </a:solidFill>
          <a:ln>
            <a:noFill/>
          </a:ln>
          <a:effectLst/>
        </p:spPr>
        <p:txBody>
          <a:bodyPr rtlCol="0" anchor="ctr" wrap="square" lIns="36576" rIns="36576" tIns="0" bIns="0">
            <a:noAutofit/>
          </a:bodyPr>
          <a:lstStyle/>
          <a:p>
            <a:pPr algn="ctr">
              <a:spcBef>
                <a:spcPts val="0"/>
              </a:spcBef>
              <a:spcAft>
                <a:spcPts val="0"/>
              </a:spcAft>
            </a:pPr>
            <a:r>
              <a:rPr lang="tr-TR" sz="1700" b="1" i="0">
                <a:solidFill>
                  <a:srgbClr val="FFFFFF"/>
                </a:solidFill>
                <a:latin typeface="Calibri"/>
              </a:rPr>
              <a:t>Sosyal</a:t>
            </a:r>
          </a:p>
        </p:txBody>
      </p:sp>
      <p:sp>
        <p:nvSpPr>
          <p:cNvPr id="24" name="Rounded Rectangle 23"/>
          <p:cNvSpPr/>
          <p:nvPr/>
        </p:nvSpPr>
        <p:spPr>
          <a:xfrm>
            <a:off x="7051611" y="2340864"/>
            <a:ext cx="2103656" cy="3401568"/>
          </a:xfrm>
          <a:prstGeom prst="roundRect">
            <a:avLst>
              <a:gd name="adj" fmla="val 6000"/>
            </a:avLst>
          </a:prstGeom>
          <a:solidFill>
            <a:srgbClr val="F0F0F0"/>
          </a:solidFill>
          <a:ln>
            <a:noFill/>
          </a:ln>
          <a:effectLst/>
        </p:spPr>
        <p:txBody>
          <a:bodyPr rtlCol="0" anchor="ctr"/>
          <a:lstStyle/>
          <a:p/>
        </p:txBody>
      </p:sp>
      <p:sp>
        <p:nvSpPr>
          <p:cNvPr id="25" name="Rounded Rectangle 24"/>
          <p:cNvSpPr/>
          <p:nvPr/>
        </p:nvSpPr>
        <p:spPr>
          <a:xfrm>
            <a:off x="7106475" y="2414016"/>
            <a:ext cx="1993928" cy="566928"/>
          </a:xfrm>
          <a:prstGeom prst="roundRect">
            <a:avLst>
              <a:gd name="adj" fmla="val 30000"/>
            </a:avLst>
          </a:prstGeom>
          <a:solidFill>
            <a:srgbClr val="FFFFFF"/>
          </a:solidFill>
          <a:ln w="25400">
            <a:solidFill>
              <a:srgbClr val="7A4EA0"/>
            </a:solidFill>
          </a:ln>
          <a:effectLst/>
        </p:spPr>
        <p:txBody>
          <a:bodyPr rtlCol="0" anchor="ctr" wrap="square" lIns="36576" rIns="36576" tIns="0" bIns="0">
            <a:noAutofit/>
          </a:bodyPr>
          <a:lstStyle/>
          <a:p>
            <a:pPr algn="ctr">
              <a:spcBef>
                <a:spcPts val="0"/>
              </a:spcBef>
              <a:spcAft>
                <a:spcPts val="0"/>
              </a:spcAft>
            </a:pPr>
            <a:r>
              <a:rPr lang="tr-TR" sz="1900" b="1" i="0">
                <a:solidFill>
                  <a:srgbClr val="262626"/>
                </a:solidFill>
                <a:latin typeface="Calibri"/>
              </a:rPr>
              <a:t>Uluslararası Göç</a:t>
            </a:r>
          </a:p>
        </p:txBody>
      </p:sp>
      <p:sp>
        <p:nvSpPr>
          <p:cNvPr id="26" name="Rounded Rectangle 25"/>
          <p:cNvSpPr/>
          <p:nvPr/>
        </p:nvSpPr>
        <p:spPr>
          <a:xfrm>
            <a:off x="7106475" y="3054096"/>
            <a:ext cx="1993928" cy="566928"/>
          </a:xfrm>
          <a:prstGeom prst="roundRect">
            <a:avLst>
              <a:gd name="adj" fmla="val 30000"/>
            </a:avLst>
          </a:prstGeom>
          <a:solidFill>
            <a:srgbClr val="FFFFFF"/>
          </a:solidFill>
          <a:ln w="25400">
            <a:solidFill>
              <a:srgbClr val="7A4EA0"/>
            </a:solidFill>
          </a:ln>
          <a:effectLst/>
        </p:spPr>
        <p:txBody>
          <a:bodyPr rtlCol="0" anchor="ctr" wrap="square" lIns="36576" rIns="36576" tIns="0" bIns="0">
            <a:noAutofit/>
          </a:bodyPr>
          <a:lstStyle/>
          <a:p>
            <a:pPr algn="ctr">
              <a:spcBef>
                <a:spcPts val="0"/>
              </a:spcBef>
              <a:spcAft>
                <a:spcPts val="0"/>
              </a:spcAft>
            </a:pPr>
            <a:r>
              <a:rPr lang="tr-TR" sz="1900" b="1" i="0">
                <a:solidFill>
                  <a:srgbClr val="262626"/>
                </a:solidFill>
                <a:latin typeface="Calibri"/>
              </a:rPr>
              <a:t>Yoksulluk *</a:t>
            </a:r>
          </a:p>
        </p:txBody>
      </p:sp>
      <p:sp>
        <p:nvSpPr>
          <p:cNvPr id="27" name="Rounded Rectangle 26"/>
          <p:cNvSpPr/>
          <p:nvPr/>
        </p:nvSpPr>
        <p:spPr>
          <a:xfrm>
            <a:off x="9264996" y="1764792"/>
            <a:ext cx="2423778" cy="502920"/>
          </a:xfrm>
          <a:prstGeom prst="roundRect">
            <a:avLst>
              <a:gd name="adj" fmla="val 20000"/>
            </a:avLst>
          </a:prstGeom>
          <a:solidFill>
            <a:srgbClr val="5A6470"/>
          </a:solidFill>
          <a:ln>
            <a:noFill/>
          </a:ln>
          <a:effectLst/>
        </p:spPr>
        <p:txBody>
          <a:bodyPr rtlCol="0" anchor="ctr" wrap="square" lIns="36576" rIns="36576" tIns="0" bIns="0">
            <a:noAutofit/>
          </a:bodyPr>
          <a:lstStyle/>
          <a:p>
            <a:pPr algn="ctr">
              <a:spcBef>
                <a:spcPts val="0"/>
              </a:spcBef>
              <a:spcAft>
                <a:spcPts val="0"/>
              </a:spcAft>
            </a:pPr>
            <a:r>
              <a:rPr lang="tr-TR" sz="1700" b="1" i="0">
                <a:solidFill>
                  <a:srgbClr val="FFFFFF"/>
                </a:solidFill>
                <a:latin typeface="Calibri"/>
              </a:rPr>
              <a:t>Teknolojik</a:t>
            </a:r>
          </a:p>
        </p:txBody>
      </p:sp>
      <p:sp>
        <p:nvSpPr>
          <p:cNvPr id="28" name="Rounded Rectangle 27"/>
          <p:cNvSpPr/>
          <p:nvPr/>
        </p:nvSpPr>
        <p:spPr>
          <a:xfrm>
            <a:off x="9264996" y="2340864"/>
            <a:ext cx="2423778" cy="3401568"/>
          </a:xfrm>
          <a:prstGeom prst="roundRect">
            <a:avLst>
              <a:gd name="adj" fmla="val 6000"/>
            </a:avLst>
          </a:prstGeom>
          <a:solidFill>
            <a:srgbClr val="F0F0F0"/>
          </a:solidFill>
          <a:ln>
            <a:noFill/>
          </a:ln>
          <a:effectLst/>
        </p:spPr>
        <p:txBody>
          <a:bodyPr rtlCol="0" anchor="ctr"/>
          <a:lstStyle/>
          <a:p/>
        </p:txBody>
      </p:sp>
      <p:sp>
        <p:nvSpPr>
          <p:cNvPr id="29" name="Rounded Rectangle 28"/>
          <p:cNvSpPr/>
          <p:nvPr/>
        </p:nvSpPr>
        <p:spPr>
          <a:xfrm>
            <a:off x="9319860" y="2414016"/>
            <a:ext cx="2314050" cy="566928"/>
          </a:xfrm>
          <a:prstGeom prst="roundRect">
            <a:avLst>
              <a:gd name="adj" fmla="val 30000"/>
            </a:avLst>
          </a:prstGeom>
          <a:solidFill>
            <a:srgbClr val="FFFFFF"/>
          </a:solidFill>
          <a:ln w="25400">
            <a:solidFill>
              <a:srgbClr val="5A6470"/>
            </a:solidFill>
          </a:ln>
          <a:effectLst/>
        </p:spPr>
        <p:txBody>
          <a:bodyPr rtlCol="0" anchor="ctr" wrap="square" lIns="36576" rIns="36576" tIns="0" bIns="0">
            <a:noAutofit/>
          </a:bodyPr>
          <a:lstStyle/>
          <a:p>
            <a:pPr algn="ctr">
              <a:spcBef>
                <a:spcPts val="0"/>
              </a:spcBef>
              <a:spcAft>
                <a:spcPts val="0"/>
              </a:spcAft>
            </a:pPr>
            <a:r>
              <a:rPr lang="tr-TR" sz="1900" b="1" i="0">
                <a:solidFill>
                  <a:srgbClr val="262626"/>
                </a:solidFill>
                <a:latin typeface="Calibri"/>
              </a:rPr>
              <a:t>Endüstriyel Kazalar</a:t>
            </a:r>
          </a:p>
        </p:txBody>
      </p:sp>
      <p:sp>
        <p:nvSpPr>
          <p:cNvPr id="30" name="Rounded Rectangle 29"/>
          <p:cNvSpPr/>
          <p:nvPr/>
        </p:nvSpPr>
        <p:spPr>
          <a:xfrm>
            <a:off x="9319860" y="3054096"/>
            <a:ext cx="2314050" cy="566928"/>
          </a:xfrm>
          <a:prstGeom prst="roundRect">
            <a:avLst>
              <a:gd name="adj" fmla="val 30000"/>
            </a:avLst>
          </a:prstGeom>
          <a:solidFill>
            <a:srgbClr val="FFFFFF"/>
          </a:solidFill>
          <a:ln w="25400">
            <a:solidFill>
              <a:srgbClr val="5A6470"/>
            </a:solidFill>
          </a:ln>
          <a:effectLst/>
        </p:spPr>
        <p:txBody>
          <a:bodyPr rtlCol="0" anchor="ctr" wrap="square" lIns="36576" rIns="36576" tIns="0" bIns="0">
            <a:noAutofit/>
          </a:bodyPr>
          <a:lstStyle/>
          <a:p>
            <a:pPr algn="ctr">
              <a:spcBef>
                <a:spcPts val="0"/>
              </a:spcBef>
              <a:spcAft>
                <a:spcPts val="0"/>
              </a:spcAft>
            </a:pPr>
            <a:r>
              <a:rPr lang="tr-TR" sz="1900" b="1" i="0">
                <a:solidFill>
                  <a:srgbClr val="262626"/>
                </a:solidFill>
                <a:latin typeface="Calibri"/>
              </a:rPr>
              <a:t>Ulaşım Kazaları</a:t>
            </a:r>
          </a:p>
        </p:txBody>
      </p:sp>
      <p:sp>
        <p:nvSpPr>
          <p:cNvPr id="31" name="TextBox 30"/>
          <p:cNvSpPr txBox="1"/>
          <p:nvPr/>
        </p:nvSpPr>
        <p:spPr>
          <a:xfrm>
            <a:off x="502920" y="5833872"/>
            <a:ext cx="11185855" cy="457200"/>
          </a:xfrm>
          <a:prstGeom prst="rect">
            <a:avLst/>
          </a:prstGeom>
          <a:noFill/>
        </p:spPr>
        <p:txBody>
          <a:bodyPr wrap="square" anchor="ctr" lIns="73152" rIns="73152" tIns="36576" bIns="36576">
            <a:noAutofit/>
          </a:bodyPr>
          <a:lstStyle/>
          <a:p>
            <a:pPr algn="l">
              <a:spcBef>
                <a:spcPts val="0"/>
              </a:spcBef>
              <a:spcAft>
                <a:spcPts val="0"/>
              </a:spcAft>
            </a:pPr>
            <a:r>
              <a:rPr lang="tr-TR" sz="1600" b="0" i="1">
                <a:solidFill>
                  <a:srgbClr val="767676"/>
                </a:solidFill>
                <a:latin typeface="Calibri"/>
              </a:rPr>
              <a:t>* İki türe de bağlanabilir ya da kitapta adıyla sınıflandırılmamış: gerekçesi sonraki slaytta.</a:t>
            </a:r>
          </a:p>
        </p:txBody>
      </p:sp>
      <p:sp>
        <p:nvSpPr>
          <p:cNvPr id="32" name="TextBox 31"/>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33" name="Rounded Rectangle 32"/>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190, 196, 211</a:t>
            </a:r>
          </a:p>
        </p:txBody>
      </p:sp>
      <p:sp>
        <p:nvSpPr>
          <p:cNvPr id="34" name="TextBox 33"/>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236 / 250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5. soru — örnek cevap: gerekçeler</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SORU 5</a:t>
            </a:r>
          </a:p>
        </p:txBody>
      </p:sp>
      <p:sp>
        <p:nvSpPr>
          <p:cNvPr id="6" name="Rounded Rectangle 5"/>
          <p:cNvSpPr/>
          <p:nvPr/>
        </p:nvSpPr>
        <p:spPr>
          <a:xfrm>
            <a:off x="502920" y="1216152"/>
            <a:ext cx="3606698" cy="5029200"/>
          </a:xfrm>
          <a:prstGeom prst="roundRect">
            <a:avLst>
              <a:gd name="adj" fmla="val 5000"/>
            </a:avLst>
          </a:prstGeom>
          <a:solidFill>
            <a:srgbClr val="E3F1E4"/>
          </a:solidFill>
          <a:ln>
            <a:noFill/>
          </a:ln>
          <a:effectLst/>
        </p:spPr>
        <p:txBody>
          <a:bodyPr rtlCol="0" anchor="ctr"/>
          <a:lstStyle/>
          <a:p/>
        </p:txBody>
      </p:sp>
      <p:sp>
        <p:nvSpPr>
          <p:cNvPr id="7" name="Rounded Rectangle 6"/>
          <p:cNvSpPr/>
          <p:nvPr/>
        </p:nvSpPr>
        <p:spPr>
          <a:xfrm>
            <a:off x="502920" y="1216152"/>
            <a:ext cx="3606698" cy="566928"/>
          </a:xfrm>
          <a:prstGeom prst="roundRect">
            <a:avLst>
              <a:gd name="adj" fmla="val 25000"/>
            </a:avLst>
          </a:prstGeom>
          <a:solidFill>
            <a:srgbClr val="8B5A2B"/>
          </a:solidFill>
          <a:ln>
            <a:noFill/>
          </a:ln>
          <a:effectLst/>
        </p:spPr>
        <p:txBody>
          <a:bodyPr rtlCol="0" anchor="ctr"/>
          <a:lstStyle/>
          <a:p/>
        </p:txBody>
      </p:sp>
      <p:sp>
        <p:nvSpPr>
          <p:cNvPr id="8" name="Rectangle 7"/>
          <p:cNvSpPr/>
          <p:nvPr/>
        </p:nvSpPr>
        <p:spPr>
          <a:xfrm>
            <a:off x="502920" y="1499616"/>
            <a:ext cx="3606698" cy="283464"/>
          </a:xfrm>
          <a:prstGeom prst="rect">
            <a:avLst/>
          </a:prstGeom>
          <a:solidFill>
            <a:srgbClr val="8B5A2B"/>
          </a:solidFill>
          <a:ln>
            <a:noFill/>
          </a:ln>
          <a:effectLst/>
        </p:spPr>
        <p:txBody>
          <a:bodyPr rtlCol="0" anchor="ctr"/>
          <a:lstStyle/>
          <a:p/>
        </p:txBody>
      </p:sp>
      <p:sp>
        <p:nvSpPr>
          <p:cNvPr id="9" name="TextBox 8"/>
          <p:cNvSpPr txBox="1"/>
          <p:nvPr/>
        </p:nvSpPr>
        <p:spPr>
          <a:xfrm>
            <a:off x="594360" y="1216152"/>
            <a:ext cx="3423818" cy="566928"/>
          </a:xfrm>
          <a:prstGeom prst="rect">
            <a:avLst/>
          </a:prstGeom>
          <a:noFill/>
        </p:spPr>
        <p:txBody>
          <a:bodyPr wrap="square" anchor="ctr" lIns="73152" rIns="73152" tIns="36576" bIns="36576">
            <a:noAutofit/>
          </a:bodyPr>
          <a:lstStyle/>
          <a:p>
            <a:pPr algn="l">
              <a:spcBef>
                <a:spcPts val="0"/>
              </a:spcBef>
              <a:spcAft>
                <a:spcPts val="0"/>
              </a:spcAft>
            </a:pPr>
            <a:r>
              <a:rPr lang="tr-TR" sz="2000" b="1" i="0">
                <a:solidFill>
                  <a:srgbClr val="FFFFFF"/>
                </a:solidFill>
                <a:latin typeface="Calibri"/>
              </a:rPr>
              <a:t>Heyelan *</a:t>
            </a:r>
          </a:p>
        </p:txBody>
      </p:sp>
      <p:sp>
        <p:nvSpPr>
          <p:cNvPr id="10" name="TextBox 9"/>
          <p:cNvSpPr txBox="1"/>
          <p:nvPr/>
        </p:nvSpPr>
        <p:spPr>
          <a:xfrm>
            <a:off x="612648" y="1856232"/>
            <a:ext cx="3387242" cy="4315968"/>
          </a:xfrm>
          <a:prstGeom prst="rect">
            <a:avLst/>
          </a:prstGeom>
          <a:noFill/>
        </p:spPr>
        <p:txBody>
          <a:bodyPr wrap="square" anchor="t" lIns="73152" rIns="73152" tIns="36576" bIns="36576">
            <a:noAutofit/>
          </a:bodyPr>
          <a:lstStyle/>
          <a:p>
            <a:pPr algn="l" marL="261051" indent="-261051">
              <a:spcBef>
                <a:spcPts val="0"/>
              </a:spcBef>
              <a:spcAft>
                <a:spcPts val="600"/>
              </a:spcAft>
            </a:pPr>
            <a:r>
              <a:rPr lang="tr-TR" sz="2100" b="1" i="0">
                <a:solidFill>
                  <a:srgbClr val="2C6696"/>
                </a:solidFill>
                <a:latin typeface="Calibri"/>
              </a:rPr>
              <a:t>•  </a:t>
            </a:r>
            <a:r>
              <a:rPr lang="tr-TR" sz="2100" b="0" i="0">
                <a:solidFill>
                  <a:srgbClr val="262626"/>
                </a:solidFill>
                <a:latin typeface="Calibri"/>
              </a:rPr>
              <a:t>Jeolojik: yamaçtaki toprak ve kaya kütlesi kayar; deprem de tetikleyebilir.</a:t>
            </a:r>
          </a:p>
          <a:p>
            <a:pPr algn="l" marL="261051" indent="-261051">
              <a:spcBef>
                <a:spcPts val="0"/>
              </a:spcBef>
              <a:spcAft>
                <a:spcPts val="0"/>
              </a:spcAft>
            </a:pPr>
            <a:r>
              <a:rPr lang="tr-TR" sz="2100" b="1" i="0">
                <a:solidFill>
                  <a:srgbClr val="2C6696"/>
                </a:solidFill>
                <a:latin typeface="Calibri"/>
              </a:rPr>
              <a:t>•  </a:t>
            </a:r>
            <a:r>
              <a:rPr lang="tr-TR" sz="2100" b="0" i="0">
                <a:solidFill>
                  <a:srgbClr val="262626"/>
                </a:solidFill>
                <a:latin typeface="Calibri"/>
              </a:rPr>
              <a:t>Aşırı yağışla tetiklendiğinde klimatik-hidrolojik de denebilir: iki gerekçe de kabul.</a:t>
            </a:r>
          </a:p>
        </p:txBody>
      </p:sp>
      <p:sp>
        <p:nvSpPr>
          <p:cNvPr id="11" name="Rounded Rectangle 10"/>
          <p:cNvSpPr/>
          <p:nvPr/>
        </p:nvSpPr>
        <p:spPr>
          <a:xfrm>
            <a:off x="4292498" y="1216152"/>
            <a:ext cx="3606698" cy="5029200"/>
          </a:xfrm>
          <a:prstGeom prst="roundRect">
            <a:avLst>
              <a:gd name="adj" fmla="val 5000"/>
            </a:avLst>
          </a:prstGeom>
          <a:solidFill>
            <a:srgbClr val="E3F1E4"/>
          </a:solidFill>
          <a:ln>
            <a:noFill/>
          </a:ln>
          <a:effectLst/>
        </p:spPr>
        <p:txBody>
          <a:bodyPr rtlCol="0" anchor="ctr"/>
          <a:lstStyle/>
          <a:p/>
        </p:txBody>
      </p:sp>
      <p:sp>
        <p:nvSpPr>
          <p:cNvPr id="12" name="Rounded Rectangle 11"/>
          <p:cNvSpPr/>
          <p:nvPr/>
        </p:nvSpPr>
        <p:spPr>
          <a:xfrm>
            <a:off x="4292498" y="1216152"/>
            <a:ext cx="3606698" cy="566928"/>
          </a:xfrm>
          <a:prstGeom prst="roundRect">
            <a:avLst>
              <a:gd name="adj" fmla="val 25000"/>
            </a:avLst>
          </a:prstGeom>
          <a:solidFill>
            <a:srgbClr val="2C6696"/>
          </a:solidFill>
          <a:ln>
            <a:noFill/>
          </a:ln>
          <a:effectLst/>
        </p:spPr>
        <p:txBody>
          <a:bodyPr rtlCol="0" anchor="ctr"/>
          <a:lstStyle/>
          <a:p/>
        </p:txBody>
      </p:sp>
      <p:sp>
        <p:nvSpPr>
          <p:cNvPr id="13" name="Rectangle 12"/>
          <p:cNvSpPr/>
          <p:nvPr/>
        </p:nvSpPr>
        <p:spPr>
          <a:xfrm>
            <a:off x="4292498" y="1499616"/>
            <a:ext cx="3606698" cy="283464"/>
          </a:xfrm>
          <a:prstGeom prst="rect">
            <a:avLst/>
          </a:prstGeom>
          <a:solidFill>
            <a:srgbClr val="2C6696"/>
          </a:solidFill>
          <a:ln>
            <a:noFill/>
          </a:ln>
          <a:effectLst/>
        </p:spPr>
        <p:txBody>
          <a:bodyPr rtlCol="0" anchor="ctr"/>
          <a:lstStyle/>
          <a:p/>
        </p:txBody>
      </p:sp>
      <p:sp>
        <p:nvSpPr>
          <p:cNvPr id="14" name="TextBox 13"/>
          <p:cNvSpPr txBox="1"/>
          <p:nvPr/>
        </p:nvSpPr>
        <p:spPr>
          <a:xfrm>
            <a:off x="4383938" y="1216152"/>
            <a:ext cx="3423818" cy="566928"/>
          </a:xfrm>
          <a:prstGeom prst="rect">
            <a:avLst/>
          </a:prstGeom>
          <a:noFill/>
        </p:spPr>
        <p:txBody>
          <a:bodyPr wrap="square" anchor="ctr" lIns="73152" rIns="73152" tIns="36576" bIns="36576">
            <a:noAutofit/>
          </a:bodyPr>
          <a:lstStyle/>
          <a:p>
            <a:pPr algn="l">
              <a:spcBef>
                <a:spcPts val="0"/>
              </a:spcBef>
              <a:spcAft>
                <a:spcPts val="0"/>
              </a:spcAft>
            </a:pPr>
            <a:r>
              <a:rPr lang="tr-TR" sz="2000" b="1" i="0">
                <a:solidFill>
                  <a:srgbClr val="FFFFFF"/>
                </a:solidFill>
                <a:latin typeface="Calibri"/>
              </a:rPr>
              <a:t>Orman yangını *</a:t>
            </a:r>
          </a:p>
        </p:txBody>
      </p:sp>
      <p:sp>
        <p:nvSpPr>
          <p:cNvPr id="15" name="TextBox 14"/>
          <p:cNvSpPr txBox="1"/>
          <p:nvPr/>
        </p:nvSpPr>
        <p:spPr>
          <a:xfrm>
            <a:off x="4402226" y="1856232"/>
            <a:ext cx="3387242" cy="4315968"/>
          </a:xfrm>
          <a:prstGeom prst="rect">
            <a:avLst/>
          </a:prstGeom>
          <a:noFill/>
        </p:spPr>
        <p:txBody>
          <a:bodyPr wrap="square" anchor="t" lIns="73152" rIns="73152" tIns="36576" bIns="36576">
            <a:noAutofit/>
          </a:bodyPr>
          <a:lstStyle/>
          <a:p>
            <a:pPr algn="l" marL="261051" indent="-261051">
              <a:spcBef>
                <a:spcPts val="0"/>
              </a:spcBef>
              <a:spcAft>
                <a:spcPts val="600"/>
              </a:spcAft>
            </a:pPr>
            <a:r>
              <a:rPr lang="tr-TR" sz="2100" b="1" i="0">
                <a:solidFill>
                  <a:srgbClr val="2C6696"/>
                </a:solidFill>
                <a:latin typeface="Calibri"/>
              </a:rPr>
              <a:t>•  </a:t>
            </a:r>
            <a:r>
              <a:rPr lang="tr-TR" sz="2100" b="0" i="0">
                <a:solidFill>
                  <a:srgbClr val="262626"/>
                </a:solidFill>
                <a:latin typeface="Calibri"/>
              </a:rPr>
              <a:t>s. 190: “Yıldırım düşmesi veya aşırı sıcaklara bağlı meydana gelen orman yangınları, doğa kaynaklı tehlikeler arasındadır.”</a:t>
            </a:r>
          </a:p>
          <a:p>
            <a:pPr algn="l" marL="261051" indent="-261051">
              <a:spcBef>
                <a:spcPts val="0"/>
              </a:spcBef>
              <a:spcAft>
                <a:spcPts val="0"/>
              </a:spcAft>
            </a:pPr>
            <a:r>
              <a:rPr lang="tr-TR" sz="2100" b="1" i="0">
                <a:solidFill>
                  <a:srgbClr val="2C6696"/>
                </a:solidFill>
                <a:latin typeface="Calibri"/>
              </a:rPr>
              <a:t>•  </a:t>
            </a:r>
            <a:r>
              <a:rPr lang="tr-TR" sz="2100" b="0" i="0">
                <a:solidFill>
                  <a:srgbClr val="262626"/>
                </a:solidFill>
                <a:latin typeface="Calibri"/>
              </a:rPr>
              <a:t>İnsan ihmali ya da kastıyla çıkarsa insan kaynaklıdır (s. 190: “yangın, patlama, kaza, salgın hastalık, savaş vb. insan kaynaklı olaylar”).</a:t>
            </a:r>
          </a:p>
        </p:txBody>
      </p:sp>
      <p:sp>
        <p:nvSpPr>
          <p:cNvPr id="16" name="Rounded Rectangle 15"/>
          <p:cNvSpPr/>
          <p:nvPr/>
        </p:nvSpPr>
        <p:spPr>
          <a:xfrm>
            <a:off x="8082076" y="1216152"/>
            <a:ext cx="3606698" cy="5029200"/>
          </a:xfrm>
          <a:prstGeom prst="roundRect">
            <a:avLst>
              <a:gd name="adj" fmla="val 5000"/>
            </a:avLst>
          </a:prstGeom>
          <a:solidFill>
            <a:srgbClr val="E3F1E4"/>
          </a:solidFill>
          <a:ln>
            <a:noFill/>
          </a:ln>
          <a:effectLst/>
        </p:spPr>
        <p:txBody>
          <a:bodyPr rtlCol="0" anchor="ctr"/>
          <a:lstStyle/>
          <a:p/>
        </p:txBody>
      </p:sp>
      <p:sp>
        <p:nvSpPr>
          <p:cNvPr id="17" name="Rounded Rectangle 16"/>
          <p:cNvSpPr/>
          <p:nvPr/>
        </p:nvSpPr>
        <p:spPr>
          <a:xfrm>
            <a:off x="8082076" y="1216152"/>
            <a:ext cx="3606698" cy="566928"/>
          </a:xfrm>
          <a:prstGeom prst="roundRect">
            <a:avLst>
              <a:gd name="adj" fmla="val 25000"/>
            </a:avLst>
          </a:prstGeom>
          <a:solidFill>
            <a:srgbClr val="7A4EA0"/>
          </a:solidFill>
          <a:ln>
            <a:noFill/>
          </a:ln>
          <a:effectLst/>
        </p:spPr>
        <p:txBody>
          <a:bodyPr rtlCol="0" anchor="ctr"/>
          <a:lstStyle/>
          <a:p/>
        </p:txBody>
      </p:sp>
      <p:sp>
        <p:nvSpPr>
          <p:cNvPr id="18" name="Rectangle 17"/>
          <p:cNvSpPr/>
          <p:nvPr/>
        </p:nvSpPr>
        <p:spPr>
          <a:xfrm>
            <a:off x="8082076" y="1499616"/>
            <a:ext cx="3606698" cy="283464"/>
          </a:xfrm>
          <a:prstGeom prst="rect">
            <a:avLst/>
          </a:prstGeom>
          <a:solidFill>
            <a:srgbClr val="7A4EA0"/>
          </a:solidFill>
          <a:ln>
            <a:noFill/>
          </a:ln>
          <a:effectLst/>
        </p:spPr>
        <p:txBody>
          <a:bodyPr rtlCol="0" anchor="ctr"/>
          <a:lstStyle/>
          <a:p/>
        </p:txBody>
      </p:sp>
      <p:sp>
        <p:nvSpPr>
          <p:cNvPr id="19" name="TextBox 18"/>
          <p:cNvSpPr txBox="1"/>
          <p:nvPr/>
        </p:nvSpPr>
        <p:spPr>
          <a:xfrm>
            <a:off x="8173516" y="1216152"/>
            <a:ext cx="3423818" cy="566928"/>
          </a:xfrm>
          <a:prstGeom prst="rect">
            <a:avLst/>
          </a:prstGeom>
          <a:noFill/>
        </p:spPr>
        <p:txBody>
          <a:bodyPr wrap="square" anchor="ctr" lIns="73152" rIns="73152" tIns="36576" bIns="36576">
            <a:noAutofit/>
          </a:bodyPr>
          <a:lstStyle/>
          <a:p>
            <a:pPr algn="l">
              <a:spcBef>
                <a:spcPts val="0"/>
              </a:spcBef>
              <a:spcAft>
                <a:spcPts val="0"/>
              </a:spcAft>
            </a:pPr>
            <a:r>
              <a:rPr lang="tr-TR" sz="2000" b="1" i="0">
                <a:solidFill>
                  <a:srgbClr val="FFFFFF"/>
                </a:solidFill>
                <a:latin typeface="Calibri"/>
              </a:rPr>
              <a:t>Yoksulluk *</a:t>
            </a:r>
          </a:p>
        </p:txBody>
      </p:sp>
      <p:sp>
        <p:nvSpPr>
          <p:cNvPr id="20" name="TextBox 19"/>
          <p:cNvSpPr txBox="1"/>
          <p:nvPr/>
        </p:nvSpPr>
        <p:spPr>
          <a:xfrm>
            <a:off x="8191804" y="1856232"/>
            <a:ext cx="3387242" cy="4315968"/>
          </a:xfrm>
          <a:prstGeom prst="rect">
            <a:avLst/>
          </a:prstGeom>
          <a:noFill/>
        </p:spPr>
        <p:txBody>
          <a:bodyPr wrap="square" anchor="t" lIns="73152" rIns="73152" tIns="36576" bIns="36576">
            <a:noAutofit/>
          </a:bodyPr>
          <a:lstStyle/>
          <a:p>
            <a:pPr algn="l" marL="261051" indent="-261051">
              <a:spcBef>
                <a:spcPts val="0"/>
              </a:spcBef>
              <a:spcAft>
                <a:spcPts val="600"/>
              </a:spcAft>
            </a:pPr>
            <a:r>
              <a:rPr lang="tr-TR" sz="2100" b="1" i="0">
                <a:solidFill>
                  <a:srgbClr val="2C6696"/>
                </a:solidFill>
                <a:latin typeface="Calibri"/>
              </a:rPr>
              <a:t>•  </a:t>
            </a:r>
            <a:r>
              <a:rPr lang="tr-TR" sz="2100" b="0" i="0">
                <a:solidFill>
                  <a:srgbClr val="262626"/>
                </a:solidFill>
                <a:latin typeface="Calibri"/>
              </a:rPr>
              <a:t>Kitap adıyla saymaz; sosyal afetin tanımına uyar: “Sosyal afetler insanların yiyecek, içecek, barınma, konaklama gibi ihtiyaçlarının karşılanmasına yönelik faaliyetlerden oluşur.”</a:t>
            </a:r>
          </a:p>
          <a:p>
            <a:pPr algn="l" marL="261051" indent="-261051">
              <a:spcBef>
                <a:spcPts val="0"/>
              </a:spcBef>
              <a:spcAft>
                <a:spcPts val="0"/>
              </a:spcAft>
            </a:pPr>
            <a:r>
              <a:rPr lang="tr-TR" sz="2100" b="1" i="0">
                <a:solidFill>
                  <a:srgbClr val="2C6696"/>
                </a:solidFill>
                <a:latin typeface="Calibri"/>
              </a:rPr>
              <a:t>•  </a:t>
            </a:r>
            <a:r>
              <a:rPr lang="tr-TR" sz="2100" b="0" i="0">
                <a:solidFill>
                  <a:srgbClr val="262626"/>
                </a:solidFill>
                <a:latin typeface="Calibri"/>
              </a:rPr>
              <a:t>Uluslararası göç: kitap “göçler”i sosyal afet sayar (s. 196).</a:t>
            </a:r>
          </a:p>
        </p:txBody>
      </p:sp>
      <p:sp>
        <p:nvSpPr>
          <p:cNvPr id="21" name="TextBox 20"/>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22" name="Rounded Rectangle 21"/>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190, 196</a:t>
            </a:r>
          </a:p>
        </p:txBody>
      </p:sp>
      <p:sp>
        <p:nvSpPr>
          <p:cNvPr id="23" name="TextBox 22"/>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237 / 250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6-9. sorular: risk azaltma ve bütüncül afet yönetimi</a:t>
            </a:r>
          </a:p>
        </p:txBody>
      </p:sp>
      <p:sp>
        <p:nvSpPr>
          <p:cNvPr id="5" name="Rounded Rectangle 4"/>
          <p:cNvSpPr/>
          <p:nvPr/>
        </p:nvSpPr>
        <p:spPr>
          <a:xfrm>
            <a:off x="9555480" y="201168"/>
            <a:ext cx="2221992" cy="475488"/>
          </a:xfrm>
          <a:prstGeom prst="roundRect">
            <a:avLst>
              <a:gd name="adj" fmla="val 50000"/>
            </a:avLst>
          </a:prstGeom>
          <a:solidFill>
            <a:srgbClr val="D3373A"/>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SORU 6-9</a:t>
            </a:r>
          </a:p>
        </p:txBody>
      </p:sp>
      <p:sp>
        <p:nvSpPr>
          <p:cNvPr id="6" name="TextBox 5"/>
          <p:cNvSpPr txBox="1"/>
          <p:nvPr/>
        </p:nvSpPr>
        <p:spPr>
          <a:xfrm>
            <a:off x="502920" y="1170432"/>
            <a:ext cx="11185855" cy="365760"/>
          </a:xfrm>
          <a:prstGeom prst="rect">
            <a:avLst/>
          </a:prstGeom>
          <a:noFill/>
        </p:spPr>
        <p:txBody>
          <a:bodyPr wrap="square" anchor="t" lIns="73152" rIns="73152" tIns="36576" bIns="36576">
            <a:noAutofit/>
          </a:bodyPr>
          <a:lstStyle/>
          <a:p>
            <a:pPr algn="l">
              <a:spcBef>
                <a:spcPts val="0"/>
              </a:spcBef>
              <a:spcAft>
                <a:spcPts val="0"/>
              </a:spcAft>
            </a:pPr>
            <a:r>
              <a:rPr lang="tr-TR" sz="1600" b="0" i="1">
                <a:solidFill>
                  <a:srgbClr val="767676"/>
                </a:solidFill>
                <a:latin typeface="Calibri"/>
              </a:rPr>
              <a:t>6-9. soruları aşağıda verilen metin, şekil ve tabloya göre cevaplayınız.</a:t>
            </a:r>
          </a:p>
        </p:txBody>
      </p:sp>
      <p:pic>
        <p:nvPicPr>
          <p:cNvPr id="7" name="Picture 6" descr="sonu_dongu_s212.jpg"/>
          <p:cNvPicPr>
            <a:picLocks noChangeAspect="1"/>
          </p:cNvPicPr>
          <p:nvPr/>
        </p:nvPicPr>
        <p:blipFill>
          <a:blip r:embed="rId3"/>
          <a:stretch>
            <a:fillRect/>
          </a:stretch>
        </p:blipFill>
        <p:spPr>
          <a:xfrm>
            <a:off x="6900508" y="1581912"/>
            <a:ext cx="4547333" cy="4434840"/>
          </a:xfrm>
          <a:prstGeom prst="rect">
            <a:avLst/>
          </a:prstGeom>
          <a:ln w="9525">
            <a:solidFill>
              <a:srgbClr val="D9D9D9"/>
            </a:solidFill>
          </a:ln>
        </p:spPr>
      </p:pic>
      <p:sp>
        <p:nvSpPr>
          <p:cNvPr id="8" name="TextBox 7"/>
          <p:cNvSpPr txBox="1"/>
          <p:nvPr/>
        </p:nvSpPr>
        <p:spPr>
          <a:xfrm>
            <a:off x="6900508" y="6035040"/>
            <a:ext cx="4547333" cy="274320"/>
          </a:xfrm>
          <a:prstGeom prst="rect">
            <a:avLst/>
          </a:prstGeom>
          <a:noFill/>
        </p:spPr>
        <p:txBody>
          <a:bodyPr wrap="square" anchor="t" lIns="73152" rIns="73152" tIns="36576" bIns="36576">
            <a:noAutofit/>
          </a:bodyPr>
          <a:lstStyle/>
          <a:p>
            <a:pPr algn="r">
              <a:spcBef>
                <a:spcPts val="0"/>
              </a:spcBef>
              <a:spcAft>
                <a:spcPts val="0"/>
              </a:spcAft>
            </a:pPr>
            <a:r>
              <a:rPr lang="tr-TR" sz="1100" b="0" i="0">
                <a:solidFill>
                  <a:srgbClr val="767676"/>
                </a:solidFill>
                <a:latin typeface="Calibri"/>
              </a:rPr>
              <a:t>Şema: Ders kitabı s. 212</a:t>
            </a:r>
          </a:p>
        </p:txBody>
      </p:sp>
      <p:sp>
        <p:nvSpPr>
          <p:cNvPr id="9" name="Rounded Rectangle 8"/>
          <p:cNvSpPr/>
          <p:nvPr/>
        </p:nvSpPr>
        <p:spPr>
          <a:xfrm>
            <a:off x="502920" y="1581912"/>
            <a:ext cx="6168988" cy="4663440"/>
          </a:xfrm>
          <a:prstGeom prst="roundRect">
            <a:avLst>
              <a:gd name="adj" fmla="val 6000"/>
            </a:avLst>
          </a:prstGeom>
          <a:solidFill>
            <a:srgbClr val="F0F0F0"/>
          </a:solidFill>
          <a:ln>
            <a:noFill/>
          </a:ln>
          <a:effectLst/>
        </p:spPr>
        <p:txBody>
          <a:bodyPr rtlCol="0" anchor="ctr"/>
          <a:lstStyle/>
          <a:p/>
        </p:txBody>
      </p:sp>
      <p:sp>
        <p:nvSpPr>
          <p:cNvPr id="10" name="Rectangle 9"/>
          <p:cNvSpPr/>
          <p:nvPr/>
        </p:nvSpPr>
        <p:spPr>
          <a:xfrm>
            <a:off x="502920" y="1581912"/>
            <a:ext cx="118872" cy="4663440"/>
          </a:xfrm>
          <a:prstGeom prst="rect">
            <a:avLst/>
          </a:prstGeom>
          <a:solidFill>
            <a:srgbClr val="1E7B6E"/>
          </a:solidFill>
          <a:ln>
            <a:noFill/>
          </a:ln>
          <a:effectLst/>
        </p:spPr>
        <p:txBody>
          <a:bodyPr rtlCol="0" anchor="ctr"/>
          <a:lstStyle/>
          <a:p/>
        </p:txBody>
      </p:sp>
      <p:sp>
        <p:nvSpPr>
          <p:cNvPr id="11" name="TextBox 10"/>
          <p:cNvSpPr txBox="1"/>
          <p:nvPr/>
        </p:nvSpPr>
        <p:spPr>
          <a:xfrm>
            <a:off x="777240" y="1581912"/>
            <a:ext cx="5757508" cy="4663440"/>
          </a:xfrm>
          <a:prstGeom prst="rect">
            <a:avLst/>
          </a:prstGeom>
          <a:noFill/>
        </p:spPr>
        <p:txBody>
          <a:bodyPr wrap="square" anchor="ctr" lIns="73152" rIns="73152" tIns="36576" bIns="36576">
            <a:noAutofit/>
          </a:bodyPr>
          <a:lstStyle/>
          <a:p>
            <a:pPr algn="l">
              <a:spcBef>
                <a:spcPts val="0"/>
              </a:spcBef>
              <a:spcAft>
                <a:spcPts val="1316"/>
              </a:spcAft>
            </a:pPr>
            <a:r>
              <a:rPr lang="tr-TR" sz="2350" b="0" i="0">
                <a:solidFill>
                  <a:srgbClr val="262626"/>
                </a:solidFill>
                <a:latin typeface="Calibri"/>
              </a:rPr>
              <a:t>Afetlerin verebileceği zararların en aza indirilmesi için afet öncesi yapılması gereken çalışmalara daha çok önem verilmelidir.</a:t>
            </a:r>
          </a:p>
          <a:p>
            <a:pPr algn="l">
              <a:spcBef>
                <a:spcPts val="0"/>
              </a:spcBef>
              <a:spcAft>
                <a:spcPts val="1316"/>
              </a:spcAft>
            </a:pPr>
            <a:r>
              <a:rPr lang="tr-TR" sz="2350" b="0" i="0">
                <a:solidFill>
                  <a:srgbClr val="262626"/>
                </a:solidFill>
                <a:latin typeface="Calibri"/>
              </a:rPr>
              <a:t>Bu nedenle bütüncül afet yönetiminin ilk ve en önemli aşaması, afet risklerini azaltma evresidir.</a:t>
            </a:r>
          </a:p>
          <a:p>
            <a:pPr algn="l">
              <a:spcBef>
                <a:spcPts val="0"/>
              </a:spcBef>
              <a:spcAft>
                <a:spcPts val="0"/>
              </a:spcAft>
            </a:pPr>
            <a:r>
              <a:rPr lang="tr-TR" sz="2350" b="0" i="0">
                <a:solidFill>
                  <a:srgbClr val="262626"/>
                </a:solidFill>
                <a:latin typeface="Calibri"/>
              </a:rPr>
              <a:t>Afetler konusunda duyarlı olunması amacıyla toplumda afet kültürünün ve afet yönetim sisteminin tüm evreleriyle oluşturulmasına yönelik çalışmalara önem verilmelidir.</a:t>
            </a:r>
          </a:p>
        </p:txBody>
      </p:sp>
      <p:sp>
        <p:nvSpPr>
          <p:cNvPr id="12" name="TextBox 11"/>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13" name="Rounded Rectangle 12"/>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212</a:t>
            </a:r>
          </a:p>
        </p:txBody>
      </p:sp>
      <p:sp>
        <p:nvSpPr>
          <p:cNvPr id="14" name="TextBox 13"/>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238 / 250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6-9. sorular: klasik ve yeni yaklaşım (1/2)</a:t>
            </a:r>
          </a:p>
        </p:txBody>
      </p:sp>
      <p:sp>
        <p:nvSpPr>
          <p:cNvPr id="5" name="Rounded Rectangle 4"/>
          <p:cNvSpPr/>
          <p:nvPr/>
        </p:nvSpPr>
        <p:spPr>
          <a:xfrm>
            <a:off x="9555480" y="201168"/>
            <a:ext cx="2221992" cy="475488"/>
          </a:xfrm>
          <a:prstGeom prst="roundRect">
            <a:avLst>
              <a:gd name="adj" fmla="val 50000"/>
            </a:avLst>
          </a:prstGeom>
          <a:solidFill>
            <a:srgbClr val="D3373A"/>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SORU 6-9</a:t>
            </a:r>
          </a:p>
        </p:txBody>
      </p:sp>
      <p:sp>
        <p:nvSpPr>
          <p:cNvPr id="6" name="TextBox 5"/>
          <p:cNvSpPr txBox="1"/>
          <p:nvPr/>
        </p:nvSpPr>
        <p:spPr>
          <a:xfrm>
            <a:off x="502920" y="1188720"/>
            <a:ext cx="11185855" cy="384048"/>
          </a:xfrm>
          <a:prstGeom prst="rect">
            <a:avLst/>
          </a:prstGeom>
          <a:noFill/>
        </p:spPr>
        <p:txBody>
          <a:bodyPr wrap="square" anchor="ctr" lIns="73152" rIns="73152" tIns="36576" bIns="36576">
            <a:noAutofit/>
          </a:bodyPr>
          <a:lstStyle/>
          <a:p>
            <a:pPr algn="l">
              <a:spcBef>
                <a:spcPts val="0"/>
              </a:spcBef>
              <a:spcAft>
                <a:spcPts val="0"/>
              </a:spcAft>
            </a:pPr>
            <a:r>
              <a:rPr lang="tr-TR" sz="1700" b="1" i="0">
                <a:solidFill>
                  <a:srgbClr val="262626"/>
                </a:solidFill>
                <a:latin typeface="Calibri"/>
              </a:rPr>
              <a:t>Tablo: Klasik ve Bütüncül Afet Yönetiminin Getirdiği Yeni Yaklaşımın Özellikleri</a:t>
            </a:r>
          </a:p>
        </p:txBody>
      </p:sp>
      <p:sp>
        <p:nvSpPr>
          <p:cNvPr id="7" name="Rectangle 6"/>
          <p:cNvSpPr/>
          <p:nvPr/>
        </p:nvSpPr>
        <p:spPr>
          <a:xfrm>
            <a:off x="502920" y="1627632"/>
            <a:ext cx="5592927" cy="502920"/>
          </a:xfrm>
          <a:prstGeom prst="rect">
            <a:avLst/>
          </a:prstGeom>
          <a:solidFill>
            <a:srgbClr val="4F4F4F"/>
          </a:solidFill>
          <a:ln w="19050">
            <a:solidFill>
              <a:srgbClr val="FFFFFF"/>
            </a:solidFill>
          </a:ln>
          <a:effectLst/>
        </p:spPr>
        <p:txBody>
          <a:bodyPr rtlCol="0" anchor="ctr" wrap="square" tIns="27432" bIns="27432">
            <a:noAutofit/>
          </a:bodyPr>
          <a:lstStyle/>
          <a:p>
            <a:pPr algn="ctr">
              <a:spcBef>
                <a:spcPts val="0"/>
              </a:spcBef>
              <a:spcAft>
                <a:spcPts val="0"/>
              </a:spcAft>
            </a:pPr>
            <a:r>
              <a:rPr lang="tr-TR" sz="1900" b="1" i="0">
                <a:solidFill>
                  <a:srgbClr val="FFFFFF"/>
                </a:solidFill>
                <a:latin typeface="Calibri"/>
              </a:rPr>
              <a:t>Klasik Yaklaşım</a:t>
            </a:r>
          </a:p>
        </p:txBody>
      </p:sp>
      <p:sp>
        <p:nvSpPr>
          <p:cNvPr id="8" name="Rectangle 7"/>
          <p:cNvSpPr/>
          <p:nvPr/>
        </p:nvSpPr>
        <p:spPr>
          <a:xfrm>
            <a:off x="6095847" y="1627632"/>
            <a:ext cx="5592927" cy="502920"/>
          </a:xfrm>
          <a:prstGeom prst="rect">
            <a:avLst/>
          </a:prstGeom>
          <a:solidFill>
            <a:srgbClr val="1E7B6E"/>
          </a:solidFill>
          <a:ln w="19050">
            <a:solidFill>
              <a:srgbClr val="FFFFFF"/>
            </a:solidFill>
          </a:ln>
          <a:effectLst/>
        </p:spPr>
        <p:txBody>
          <a:bodyPr rtlCol="0" anchor="ctr" wrap="square" tIns="27432" bIns="27432">
            <a:noAutofit/>
          </a:bodyPr>
          <a:lstStyle/>
          <a:p>
            <a:pPr algn="ctr">
              <a:spcBef>
                <a:spcPts val="0"/>
              </a:spcBef>
              <a:spcAft>
                <a:spcPts val="0"/>
              </a:spcAft>
            </a:pPr>
            <a:r>
              <a:rPr lang="tr-TR" sz="1900" b="1" i="0">
                <a:solidFill>
                  <a:srgbClr val="FFFFFF"/>
                </a:solidFill>
                <a:latin typeface="Calibri"/>
              </a:rPr>
              <a:t>Yeni Yaklaşım</a:t>
            </a:r>
          </a:p>
        </p:txBody>
      </p:sp>
      <p:sp>
        <p:nvSpPr>
          <p:cNvPr id="9" name="Rectangle 8"/>
          <p:cNvSpPr/>
          <p:nvPr/>
        </p:nvSpPr>
        <p:spPr>
          <a:xfrm>
            <a:off x="502920" y="2130552"/>
            <a:ext cx="5592927" cy="966978"/>
          </a:xfrm>
          <a:prstGeom prst="rect">
            <a:avLst/>
          </a:prstGeom>
          <a:solidFill>
            <a:srgbClr val="F0F0F0"/>
          </a:solidFill>
          <a:ln w="19050">
            <a:solidFill>
              <a:srgbClr val="FFFFFF"/>
            </a:solidFill>
          </a:ln>
          <a:effectLst/>
        </p:spPr>
        <p:txBody>
          <a:bodyPr rtlCol="0" anchor="ctr" wrap="square" tIns="27432" bIns="27432">
            <a:noAutofit/>
          </a:bodyPr>
          <a:lstStyle/>
          <a:p>
            <a:pPr algn="l">
              <a:spcBef>
                <a:spcPts val="0"/>
              </a:spcBef>
              <a:spcAft>
                <a:spcPts val="0"/>
              </a:spcAft>
            </a:pPr>
            <a:r>
              <a:rPr lang="tr-TR" sz="1800" b="0" i="0">
                <a:solidFill>
                  <a:srgbClr val="262626"/>
                </a:solidFill>
                <a:latin typeface="Calibri"/>
              </a:rPr>
              <a:t>Afet ve acil durumlar, toplum hayatında nadir rastlanan olaylar olarak görülür.</a:t>
            </a:r>
          </a:p>
        </p:txBody>
      </p:sp>
      <p:sp>
        <p:nvSpPr>
          <p:cNvPr id="10" name="Rectangle 9"/>
          <p:cNvSpPr/>
          <p:nvPr/>
        </p:nvSpPr>
        <p:spPr>
          <a:xfrm>
            <a:off x="6095847" y="2130552"/>
            <a:ext cx="5592927" cy="966978"/>
          </a:xfrm>
          <a:prstGeom prst="rect">
            <a:avLst/>
          </a:prstGeom>
          <a:solidFill>
            <a:srgbClr val="E3F1E4"/>
          </a:solidFill>
          <a:ln w="19050">
            <a:solidFill>
              <a:srgbClr val="FFFFFF"/>
            </a:solidFill>
          </a:ln>
          <a:effectLst/>
        </p:spPr>
        <p:txBody>
          <a:bodyPr rtlCol="0" anchor="ctr" wrap="square" tIns="27432" bIns="27432">
            <a:noAutofit/>
          </a:bodyPr>
          <a:lstStyle/>
          <a:p>
            <a:pPr algn="l">
              <a:spcBef>
                <a:spcPts val="0"/>
              </a:spcBef>
              <a:spcAft>
                <a:spcPts val="0"/>
              </a:spcAft>
            </a:pPr>
            <a:r>
              <a:rPr lang="tr-TR" sz="1800" b="0" i="0">
                <a:solidFill>
                  <a:srgbClr val="262626"/>
                </a:solidFill>
                <a:latin typeface="Calibri"/>
              </a:rPr>
              <a:t>Afet ve acil durumlar; gündelik hayatın, sürdürülebilir kalkınmanın bir parçası ve fırsat penceresi olarak görülür.</a:t>
            </a:r>
          </a:p>
        </p:txBody>
      </p:sp>
      <p:sp>
        <p:nvSpPr>
          <p:cNvPr id="11" name="Rectangle 10"/>
          <p:cNvSpPr/>
          <p:nvPr/>
        </p:nvSpPr>
        <p:spPr>
          <a:xfrm>
            <a:off x="502920" y="3097530"/>
            <a:ext cx="5592927" cy="688086"/>
          </a:xfrm>
          <a:prstGeom prst="rect">
            <a:avLst/>
          </a:prstGeom>
          <a:solidFill>
            <a:srgbClr val="FFFFFF"/>
          </a:solidFill>
          <a:ln w="19050">
            <a:solidFill>
              <a:srgbClr val="FFFFFF"/>
            </a:solidFill>
          </a:ln>
          <a:effectLst/>
        </p:spPr>
        <p:txBody>
          <a:bodyPr rtlCol="0" anchor="ctr" wrap="square" tIns="27432" bIns="27432">
            <a:noAutofit/>
          </a:bodyPr>
          <a:lstStyle/>
          <a:p>
            <a:pPr algn="l">
              <a:spcBef>
                <a:spcPts val="0"/>
              </a:spcBef>
              <a:spcAft>
                <a:spcPts val="0"/>
              </a:spcAft>
            </a:pPr>
            <a:r>
              <a:rPr lang="tr-TR" sz="1800" b="0" i="0">
                <a:solidFill>
                  <a:srgbClr val="262626"/>
                </a:solidFill>
                <a:latin typeface="Calibri"/>
              </a:rPr>
              <a:t>Afetler, normal zamanlarda toplumu ilgilendirmez ve dikkate alınmaz.</a:t>
            </a:r>
          </a:p>
        </p:txBody>
      </p:sp>
      <p:sp>
        <p:nvSpPr>
          <p:cNvPr id="12" name="Rectangle 11"/>
          <p:cNvSpPr/>
          <p:nvPr/>
        </p:nvSpPr>
        <p:spPr>
          <a:xfrm>
            <a:off x="6095847" y="3097530"/>
            <a:ext cx="5592927" cy="688086"/>
          </a:xfrm>
          <a:prstGeom prst="rect">
            <a:avLst/>
          </a:prstGeom>
          <a:solidFill>
            <a:srgbClr val="FFFFFF"/>
          </a:solidFill>
          <a:ln w="19050">
            <a:solidFill>
              <a:srgbClr val="FFFFFF"/>
            </a:solidFill>
          </a:ln>
          <a:effectLst/>
        </p:spPr>
        <p:txBody>
          <a:bodyPr rtlCol="0" anchor="ctr" wrap="square" tIns="27432" bIns="27432">
            <a:noAutofit/>
          </a:bodyPr>
          <a:lstStyle/>
          <a:p>
            <a:pPr algn="l">
              <a:spcBef>
                <a:spcPts val="0"/>
              </a:spcBef>
              <a:spcAft>
                <a:spcPts val="0"/>
              </a:spcAft>
            </a:pPr>
            <a:r>
              <a:rPr lang="tr-TR" sz="1800" b="0" i="0">
                <a:solidFill>
                  <a:srgbClr val="262626"/>
                </a:solidFill>
                <a:latin typeface="Calibri"/>
              </a:rPr>
              <a:t>Toplum, afet öncesinde de afet ve acil durumları analiz edip dikkate alır.</a:t>
            </a:r>
          </a:p>
        </p:txBody>
      </p:sp>
      <p:sp>
        <p:nvSpPr>
          <p:cNvPr id="13" name="Rectangle 12"/>
          <p:cNvSpPr/>
          <p:nvPr/>
        </p:nvSpPr>
        <p:spPr>
          <a:xfrm>
            <a:off x="502920" y="3785616"/>
            <a:ext cx="5592927" cy="966978"/>
          </a:xfrm>
          <a:prstGeom prst="rect">
            <a:avLst/>
          </a:prstGeom>
          <a:solidFill>
            <a:srgbClr val="F0F0F0"/>
          </a:solidFill>
          <a:ln w="19050">
            <a:solidFill>
              <a:srgbClr val="FFFFFF"/>
            </a:solidFill>
          </a:ln>
          <a:effectLst/>
        </p:spPr>
        <p:txBody>
          <a:bodyPr rtlCol="0" anchor="ctr" wrap="square" tIns="27432" bIns="27432">
            <a:noAutofit/>
          </a:bodyPr>
          <a:lstStyle/>
          <a:p>
            <a:pPr algn="l">
              <a:spcBef>
                <a:spcPts val="0"/>
              </a:spcBef>
              <a:spcAft>
                <a:spcPts val="0"/>
              </a:spcAft>
            </a:pPr>
            <a:r>
              <a:rPr lang="tr-TR" sz="1800" b="0" i="0">
                <a:solidFill>
                  <a:srgbClr val="262626"/>
                </a:solidFill>
                <a:latin typeface="Calibri"/>
              </a:rPr>
              <a:t>Teknik ve yasal emirler şeklinde çözümler vardır.</a:t>
            </a:r>
          </a:p>
        </p:txBody>
      </p:sp>
      <p:sp>
        <p:nvSpPr>
          <p:cNvPr id="14" name="Rectangle 13"/>
          <p:cNvSpPr/>
          <p:nvPr/>
        </p:nvSpPr>
        <p:spPr>
          <a:xfrm>
            <a:off x="6095847" y="3785616"/>
            <a:ext cx="5592927" cy="966978"/>
          </a:xfrm>
          <a:prstGeom prst="rect">
            <a:avLst/>
          </a:prstGeom>
          <a:solidFill>
            <a:srgbClr val="E3F1E4"/>
          </a:solidFill>
          <a:ln w="19050">
            <a:solidFill>
              <a:srgbClr val="FFFFFF"/>
            </a:solidFill>
          </a:ln>
          <a:effectLst/>
        </p:spPr>
        <p:txBody>
          <a:bodyPr rtlCol="0" anchor="ctr" wrap="square" tIns="27432" bIns="27432">
            <a:noAutofit/>
          </a:bodyPr>
          <a:lstStyle/>
          <a:p>
            <a:pPr algn="l">
              <a:spcBef>
                <a:spcPts val="0"/>
              </a:spcBef>
              <a:spcAft>
                <a:spcPts val="0"/>
              </a:spcAft>
            </a:pPr>
            <a:r>
              <a:rPr lang="tr-TR" sz="1800" b="0" i="0">
                <a:solidFill>
                  <a:srgbClr val="262626"/>
                </a:solidFill>
                <a:latin typeface="Calibri"/>
              </a:rPr>
              <a:t>Temel hedef, toplumun kapasitesini geliştirecek ve afetlere karşı zarar görme riskini azaltacak şekilde toplum tabanlı çözümler geliştirmektir.</a:t>
            </a:r>
          </a:p>
        </p:txBody>
      </p:sp>
      <p:sp>
        <p:nvSpPr>
          <p:cNvPr id="15" name="Rectangle 14"/>
          <p:cNvSpPr/>
          <p:nvPr/>
        </p:nvSpPr>
        <p:spPr>
          <a:xfrm>
            <a:off x="502920" y="4752594"/>
            <a:ext cx="5592927" cy="1245870"/>
          </a:xfrm>
          <a:prstGeom prst="rect">
            <a:avLst/>
          </a:prstGeom>
          <a:solidFill>
            <a:srgbClr val="FFFFFF"/>
          </a:solidFill>
          <a:ln w="19050">
            <a:solidFill>
              <a:srgbClr val="FFFFFF"/>
            </a:solidFill>
          </a:ln>
          <a:effectLst/>
        </p:spPr>
        <p:txBody>
          <a:bodyPr rtlCol="0" anchor="ctr" wrap="square" tIns="27432" bIns="27432">
            <a:noAutofit/>
          </a:bodyPr>
          <a:lstStyle/>
          <a:p>
            <a:pPr algn="l">
              <a:spcBef>
                <a:spcPts val="0"/>
              </a:spcBef>
              <a:spcAft>
                <a:spcPts val="0"/>
              </a:spcAft>
            </a:pPr>
            <a:r>
              <a:rPr lang="tr-TR" sz="1800" b="0" i="0">
                <a:solidFill>
                  <a:srgbClr val="262626"/>
                </a:solidFill>
                <a:latin typeface="Calibri"/>
              </a:rPr>
              <a:t>Merkezî kamu kurumları bu konuda tek söz sahibidir. Toplumun katılımı istenmez. İnsanlar afetlerde genellikle sadece “afetzede” olarak yer alır.</a:t>
            </a:r>
          </a:p>
        </p:txBody>
      </p:sp>
      <p:sp>
        <p:nvSpPr>
          <p:cNvPr id="16" name="Rectangle 15"/>
          <p:cNvSpPr/>
          <p:nvPr/>
        </p:nvSpPr>
        <p:spPr>
          <a:xfrm>
            <a:off x="6095847" y="4752594"/>
            <a:ext cx="5592927" cy="1245870"/>
          </a:xfrm>
          <a:prstGeom prst="rect">
            <a:avLst/>
          </a:prstGeom>
          <a:solidFill>
            <a:srgbClr val="FFFFFF"/>
          </a:solidFill>
          <a:ln w="19050">
            <a:solidFill>
              <a:srgbClr val="FFFFFF"/>
            </a:solidFill>
          </a:ln>
          <a:effectLst/>
        </p:spPr>
        <p:txBody>
          <a:bodyPr rtlCol="0" anchor="ctr" wrap="square" tIns="27432" bIns="27432">
            <a:noAutofit/>
          </a:bodyPr>
          <a:lstStyle/>
          <a:p>
            <a:pPr algn="l">
              <a:spcBef>
                <a:spcPts val="0"/>
              </a:spcBef>
              <a:spcAft>
                <a:spcPts val="0"/>
              </a:spcAft>
            </a:pPr>
            <a:r>
              <a:rPr lang="tr-TR" sz="1800" b="0" i="0">
                <a:solidFill>
                  <a:srgbClr val="262626"/>
                </a:solidFill>
                <a:latin typeface="Calibri"/>
              </a:rPr>
              <a:t>İnsanlar afetlere hazırlıkta önemli bir paydaş olarak görülür ve onların da sürece katılımları esastır. Yerel kurumlar güçlendirilir, uzman ve uygulayıcıların ortak aklıyla iş yapılır.</a:t>
            </a:r>
          </a:p>
        </p:txBody>
      </p:sp>
      <p:sp>
        <p:nvSpPr>
          <p:cNvPr id="17" name="TextBox 16"/>
          <p:cNvSpPr txBox="1"/>
          <p:nvPr/>
        </p:nvSpPr>
        <p:spPr>
          <a:xfrm>
            <a:off x="502920" y="6016752"/>
            <a:ext cx="11185855" cy="274320"/>
          </a:xfrm>
          <a:prstGeom prst="rect">
            <a:avLst/>
          </a:prstGeom>
          <a:noFill/>
        </p:spPr>
        <p:txBody>
          <a:bodyPr wrap="square" anchor="t" lIns="73152" rIns="73152" tIns="36576" bIns="36576">
            <a:noAutofit/>
          </a:bodyPr>
          <a:lstStyle/>
          <a:p>
            <a:pPr algn="l">
              <a:spcBef>
                <a:spcPts val="0"/>
              </a:spcBef>
              <a:spcAft>
                <a:spcPts val="0"/>
              </a:spcAft>
            </a:pPr>
            <a:r>
              <a:rPr lang="tr-TR" sz="1100" b="0" i="0">
                <a:solidFill>
                  <a:srgbClr val="767676"/>
                </a:solidFill>
                <a:latin typeface="Calibri"/>
              </a:rPr>
              <a:t>Tablo: Ders kitabı s. 212 (sunumda yeniden dizildi)</a:t>
            </a:r>
          </a:p>
        </p:txBody>
      </p:sp>
      <p:sp>
        <p:nvSpPr>
          <p:cNvPr id="18" name="TextBox 17"/>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19" name="Rounded Rectangle 18"/>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212</a:t>
            </a:r>
          </a:p>
        </p:txBody>
      </p:sp>
      <p:sp>
        <p:nvSpPr>
          <p:cNvPr id="20" name="TextBox 19"/>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239 / 250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6-9. sorular: klasik ve yeni yaklaşım (2/2)</a:t>
            </a:r>
          </a:p>
        </p:txBody>
      </p:sp>
      <p:sp>
        <p:nvSpPr>
          <p:cNvPr id="5" name="Rounded Rectangle 4"/>
          <p:cNvSpPr/>
          <p:nvPr/>
        </p:nvSpPr>
        <p:spPr>
          <a:xfrm>
            <a:off x="9555480" y="201168"/>
            <a:ext cx="2221992" cy="475488"/>
          </a:xfrm>
          <a:prstGeom prst="roundRect">
            <a:avLst>
              <a:gd name="adj" fmla="val 50000"/>
            </a:avLst>
          </a:prstGeom>
          <a:solidFill>
            <a:srgbClr val="D3373A"/>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SORU 6-9</a:t>
            </a:r>
          </a:p>
        </p:txBody>
      </p:sp>
      <p:sp>
        <p:nvSpPr>
          <p:cNvPr id="6" name="TextBox 5"/>
          <p:cNvSpPr txBox="1"/>
          <p:nvPr/>
        </p:nvSpPr>
        <p:spPr>
          <a:xfrm>
            <a:off x="502920" y="1188720"/>
            <a:ext cx="11185855" cy="384048"/>
          </a:xfrm>
          <a:prstGeom prst="rect">
            <a:avLst/>
          </a:prstGeom>
          <a:noFill/>
        </p:spPr>
        <p:txBody>
          <a:bodyPr wrap="square" anchor="ctr" lIns="73152" rIns="73152" tIns="36576" bIns="36576">
            <a:noAutofit/>
          </a:bodyPr>
          <a:lstStyle/>
          <a:p>
            <a:pPr algn="l">
              <a:spcBef>
                <a:spcPts val="0"/>
              </a:spcBef>
              <a:spcAft>
                <a:spcPts val="0"/>
              </a:spcAft>
            </a:pPr>
            <a:r>
              <a:rPr lang="tr-TR" sz="1700" b="1" i="0">
                <a:solidFill>
                  <a:srgbClr val="262626"/>
                </a:solidFill>
                <a:latin typeface="Calibri"/>
              </a:rPr>
              <a:t>Tablo: Klasik ve Bütüncül Afet Yönetiminin Getirdiği Yeni Yaklaşımın Özellikleri</a:t>
            </a:r>
          </a:p>
        </p:txBody>
      </p:sp>
      <p:sp>
        <p:nvSpPr>
          <p:cNvPr id="7" name="Rectangle 6"/>
          <p:cNvSpPr/>
          <p:nvPr/>
        </p:nvSpPr>
        <p:spPr>
          <a:xfrm>
            <a:off x="502920" y="1627632"/>
            <a:ext cx="5592927" cy="502920"/>
          </a:xfrm>
          <a:prstGeom prst="rect">
            <a:avLst/>
          </a:prstGeom>
          <a:solidFill>
            <a:srgbClr val="4F4F4F"/>
          </a:solidFill>
          <a:ln w="19050">
            <a:solidFill>
              <a:srgbClr val="FFFFFF"/>
            </a:solidFill>
          </a:ln>
          <a:effectLst/>
        </p:spPr>
        <p:txBody>
          <a:bodyPr rtlCol="0" anchor="ctr" wrap="square" tIns="27432" bIns="27432">
            <a:noAutofit/>
          </a:bodyPr>
          <a:lstStyle/>
          <a:p>
            <a:pPr algn="ctr">
              <a:spcBef>
                <a:spcPts val="0"/>
              </a:spcBef>
              <a:spcAft>
                <a:spcPts val="0"/>
              </a:spcAft>
            </a:pPr>
            <a:r>
              <a:rPr lang="tr-TR" sz="1900" b="1" i="0">
                <a:solidFill>
                  <a:srgbClr val="FFFFFF"/>
                </a:solidFill>
                <a:latin typeface="Calibri"/>
              </a:rPr>
              <a:t>Klasik Yaklaşım</a:t>
            </a:r>
          </a:p>
        </p:txBody>
      </p:sp>
      <p:sp>
        <p:nvSpPr>
          <p:cNvPr id="8" name="Rectangle 7"/>
          <p:cNvSpPr/>
          <p:nvPr/>
        </p:nvSpPr>
        <p:spPr>
          <a:xfrm>
            <a:off x="6095847" y="1627632"/>
            <a:ext cx="5592927" cy="502920"/>
          </a:xfrm>
          <a:prstGeom prst="rect">
            <a:avLst/>
          </a:prstGeom>
          <a:solidFill>
            <a:srgbClr val="1E7B6E"/>
          </a:solidFill>
          <a:ln w="19050">
            <a:solidFill>
              <a:srgbClr val="FFFFFF"/>
            </a:solidFill>
          </a:ln>
          <a:effectLst/>
        </p:spPr>
        <p:txBody>
          <a:bodyPr rtlCol="0" anchor="ctr" wrap="square" tIns="27432" bIns="27432">
            <a:noAutofit/>
          </a:bodyPr>
          <a:lstStyle/>
          <a:p>
            <a:pPr algn="ctr">
              <a:spcBef>
                <a:spcPts val="0"/>
              </a:spcBef>
              <a:spcAft>
                <a:spcPts val="0"/>
              </a:spcAft>
            </a:pPr>
            <a:r>
              <a:rPr lang="tr-TR" sz="1900" b="1" i="0">
                <a:solidFill>
                  <a:srgbClr val="FFFFFF"/>
                </a:solidFill>
                <a:latin typeface="Calibri"/>
              </a:rPr>
              <a:t>Yeni Yaklaşım</a:t>
            </a:r>
          </a:p>
        </p:txBody>
      </p:sp>
      <p:sp>
        <p:nvSpPr>
          <p:cNvPr id="9" name="Rectangle 8"/>
          <p:cNvSpPr/>
          <p:nvPr/>
        </p:nvSpPr>
        <p:spPr>
          <a:xfrm>
            <a:off x="502920" y="2130552"/>
            <a:ext cx="5592927" cy="1397762"/>
          </a:xfrm>
          <a:prstGeom prst="rect">
            <a:avLst/>
          </a:prstGeom>
          <a:solidFill>
            <a:srgbClr val="F0F0F0"/>
          </a:solidFill>
          <a:ln w="19050">
            <a:solidFill>
              <a:srgbClr val="FFFFFF"/>
            </a:solidFill>
          </a:ln>
          <a:effectLst/>
        </p:spPr>
        <p:txBody>
          <a:bodyPr rtlCol="0" anchor="ctr" wrap="square" tIns="27432" bIns="27432">
            <a:noAutofit/>
          </a:bodyPr>
          <a:lstStyle/>
          <a:p>
            <a:pPr algn="l">
              <a:spcBef>
                <a:spcPts val="0"/>
              </a:spcBef>
              <a:spcAft>
                <a:spcPts val="0"/>
              </a:spcAft>
            </a:pPr>
            <a:r>
              <a:rPr lang="tr-TR" sz="2100" b="0" i="0">
                <a:solidFill>
                  <a:srgbClr val="262626"/>
                </a:solidFill>
                <a:latin typeface="Calibri"/>
              </a:rPr>
              <a:t>Uygulamacı kurumlar topluma nadiren hesap verir ve öz eleştiride bulunur.</a:t>
            </a:r>
          </a:p>
        </p:txBody>
      </p:sp>
      <p:sp>
        <p:nvSpPr>
          <p:cNvPr id="10" name="Rectangle 9"/>
          <p:cNvSpPr/>
          <p:nvPr/>
        </p:nvSpPr>
        <p:spPr>
          <a:xfrm>
            <a:off x="6095847" y="2130552"/>
            <a:ext cx="5592927" cy="1397762"/>
          </a:xfrm>
          <a:prstGeom prst="rect">
            <a:avLst/>
          </a:prstGeom>
          <a:solidFill>
            <a:srgbClr val="E3F1E4"/>
          </a:solidFill>
          <a:ln w="19050">
            <a:solidFill>
              <a:srgbClr val="FFFFFF"/>
            </a:solidFill>
          </a:ln>
          <a:effectLst/>
        </p:spPr>
        <p:txBody>
          <a:bodyPr rtlCol="0" anchor="ctr" wrap="square" tIns="27432" bIns="27432">
            <a:noAutofit/>
          </a:bodyPr>
          <a:lstStyle/>
          <a:p>
            <a:pPr algn="l">
              <a:spcBef>
                <a:spcPts val="0"/>
              </a:spcBef>
              <a:spcAft>
                <a:spcPts val="0"/>
              </a:spcAft>
            </a:pPr>
            <a:r>
              <a:rPr lang="tr-TR" sz="2100" b="0" i="0">
                <a:solidFill>
                  <a:srgbClr val="262626"/>
                </a:solidFill>
                <a:latin typeface="Calibri"/>
              </a:rPr>
              <a:t>Kamuya hesap vermek, şeffaflık ve başarı değerlendirmesiyle politikalar geliştirmek, ilgili kurum ve kuruluşların öncelikleri arasındadır.</a:t>
            </a:r>
          </a:p>
        </p:txBody>
      </p:sp>
      <p:sp>
        <p:nvSpPr>
          <p:cNvPr id="11" name="Rectangle 10"/>
          <p:cNvSpPr/>
          <p:nvPr/>
        </p:nvSpPr>
        <p:spPr>
          <a:xfrm>
            <a:off x="502920" y="3528314"/>
            <a:ext cx="5592927" cy="1397762"/>
          </a:xfrm>
          <a:prstGeom prst="rect">
            <a:avLst/>
          </a:prstGeom>
          <a:solidFill>
            <a:srgbClr val="FFFFFF"/>
          </a:solidFill>
          <a:ln w="19050">
            <a:solidFill>
              <a:srgbClr val="FFFFFF"/>
            </a:solidFill>
          </a:ln>
          <a:effectLst/>
        </p:spPr>
        <p:txBody>
          <a:bodyPr rtlCol="0" anchor="ctr" wrap="square" tIns="27432" bIns="27432">
            <a:noAutofit/>
          </a:bodyPr>
          <a:lstStyle/>
          <a:p>
            <a:pPr algn="l">
              <a:spcBef>
                <a:spcPts val="0"/>
              </a:spcBef>
              <a:spcAft>
                <a:spcPts val="0"/>
              </a:spcAft>
            </a:pPr>
            <a:r>
              <a:rPr lang="tr-TR" sz="2100" b="0" i="0">
                <a:solidFill>
                  <a:srgbClr val="262626"/>
                </a:solidFill>
                <a:latin typeface="Calibri"/>
              </a:rPr>
              <a:t>Afetle ilgili çalışmalar daha çok afet sonrası yapılır.</a:t>
            </a:r>
          </a:p>
        </p:txBody>
      </p:sp>
      <p:sp>
        <p:nvSpPr>
          <p:cNvPr id="12" name="Rectangle 11"/>
          <p:cNvSpPr/>
          <p:nvPr/>
        </p:nvSpPr>
        <p:spPr>
          <a:xfrm>
            <a:off x="6095847" y="3528314"/>
            <a:ext cx="5592927" cy="1397762"/>
          </a:xfrm>
          <a:prstGeom prst="rect">
            <a:avLst/>
          </a:prstGeom>
          <a:solidFill>
            <a:srgbClr val="FFFFFF"/>
          </a:solidFill>
          <a:ln w="19050">
            <a:solidFill>
              <a:srgbClr val="FFFFFF"/>
            </a:solidFill>
          </a:ln>
          <a:effectLst/>
        </p:spPr>
        <p:txBody>
          <a:bodyPr rtlCol="0" anchor="ctr" wrap="square" tIns="27432" bIns="27432">
            <a:noAutofit/>
          </a:bodyPr>
          <a:lstStyle/>
          <a:p>
            <a:pPr algn="l">
              <a:spcBef>
                <a:spcPts val="0"/>
              </a:spcBef>
              <a:spcAft>
                <a:spcPts val="0"/>
              </a:spcAft>
            </a:pPr>
            <a:r>
              <a:rPr lang="tr-TR" sz="2100" b="0" i="0">
                <a:solidFill>
                  <a:srgbClr val="262626"/>
                </a:solidFill>
                <a:latin typeface="Calibri"/>
              </a:rPr>
              <a:t>Afetle ilgili çalışmalar, toplumu afetlere hazırlamak ve afetlerin etkilerini azaltmaya yönelik olarak daha çok afet öncesi yapılır.</a:t>
            </a:r>
          </a:p>
        </p:txBody>
      </p:sp>
      <p:sp>
        <p:nvSpPr>
          <p:cNvPr id="13" name="Rectangle 12"/>
          <p:cNvSpPr/>
          <p:nvPr/>
        </p:nvSpPr>
        <p:spPr>
          <a:xfrm>
            <a:off x="502920" y="4926076"/>
            <a:ext cx="5592927" cy="1072388"/>
          </a:xfrm>
          <a:prstGeom prst="rect">
            <a:avLst/>
          </a:prstGeom>
          <a:solidFill>
            <a:srgbClr val="F0F0F0"/>
          </a:solidFill>
          <a:ln w="19050">
            <a:solidFill>
              <a:srgbClr val="FFFFFF"/>
            </a:solidFill>
          </a:ln>
          <a:effectLst/>
        </p:spPr>
        <p:txBody>
          <a:bodyPr rtlCol="0" anchor="ctr" wrap="square" tIns="27432" bIns="27432">
            <a:noAutofit/>
          </a:bodyPr>
          <a:lstStyle/>
          <a:p>
            <a:pPr algn="l">
              <a:spcBef>
                <a:spcPts val="0"/>
              </a:spcBef>
              <a:spcAft>
                <a:spcPts val="0"/>
              </a:spcAft>
            </a:pPr>
            <a:r>
              <a:rPr lang="tr-TR" sz="2100" b="0" i="0">
                <a:solidFill>
                  <a:srgbClr val="262626"/>
                </a:solidFill>
                <a:latin typeface="Calibri"/>
              </a:rPr>
              <a:t>Afet sonrası amaç, toplumu afet öncesi duruma döndürmektir.</a:t>
            </a:r>
          </a:p>
        </p:txBody>
      </p:sp>
      <p:sp>
        <p:nvSpPr>
          <p:cNvPr id="14" name="Rectangle 13"/>
          <p:cNvSpPr/>
          <p:nvPr/>
        </p:nvSpPr>
        <p:spPr>
          <a:xfrm>
            <a:off x="6095847" y="4926076"/>
            <a:ext cx="5592927" cy="1072388"/>
          </a:xfrm>
          <a:prstGeom prst="rect">
            <a:avLst/>
          </a:prstGeom>
          <a:solidFill>
            <a:srgbClr val="E3F1E4"/>
          </a:solidFill>
          <a:ln w="19050">
            <a:solidFill>
              <a:srgbClr val="FFFFFF"/>
            </a:solidFill>
          </a:ln>
          <a:effectLst/>
        </p:spPr>
        <p:txBody>
          <a:bodyPr rtlCol="0" anchor="ctr" wrap="square" tIns="27432" bIns="27432">
            <a:noAutofit/>
          </a:bodyPr>
          <a:lstStyle/>
          <a:p>
            <a:pPr algn="l">
              <a:spcBef>
                <a:spcPts val="0"/>
              </a:spcBef>
              <a:spcAft>
                <a:spcPts val="0"/>
              </a:spcAft>
            </a:pPr>
            <a:r>
              <a:rPr lang="tr-TR" sz="2100" b="0" i="0">
                <a:solidFill>
                  <a:srgbClr val="262626"/>
                </a:solidFill>
                <a:latin typeface="Calibri"/>
              </a:rPr>
              <a:t>Afet ve acil durumlar, toplumsal dönüşüm için önemli bir fırsat olarak görülür.</a:t>
            </a:r>
          </a:p>
        </p:txBody>
      </p:sp>
      <p:sp>
        <p:nvSpPr>
          <p:cNvPr id="15" name="TextBox 14"/>
          <p:cNvSpPr txBox="1"/>
          <p:nvPr/>
        </p:nvSpPr>
        <p:spPr>
          <a:xfrm>
            <a:off x="502920" y="6016752"/>
            <a:ext cx="11185855" cy="274320"/>
          </a:xfrm>
          <a:prstGeom prst="rect">
            <a:avLst/>
          </a:prstGeom>
          <a:noFill/>
        </p:spPr>
        <p:txBody>
          <a:bodyPr wrap="square" anchor="t" lIns="73152" rIns="73152" tIns="36576" bIns="36576">
            <a:noAutofit/>
          </a:bodyPr>
          <a:lstStyle/>
          <a:p>
            <a:pPr algn="l">
              <a:spcBef>
                <a:spcPts val="0"/>
              </a:spcBef>
              <a:spcAft>
                <a:spcPts val="0"/>
              </a:spcAft>
            </a:pPr>
            <a:r>
              <a:rPr lang="tr-TR" sz="1100" b="0" i="0">
                <a:solidFill>
                  <a:srgbClr val="767676"/>
                </a:solidFill>
                <a:latin typeface="Calibri"/>
              </a:rPr>
              <a:t>Tablo: Ders kitabı s. 212 (sunumda yeniden dizildi)</a:t>
            </a:r>
          </a:p>
        </p:txBody>
      </p:sp>
      <p:sp>
        <p:nvSpPr>
          <p:cNvPr id="16" name="TextBox 15"/>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17" name="Rounded Rectangle 16"/>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212</a:t>
            </a:r>
          </a:p>
        </p:txBody>
      </p:sp>
      <p:sp>
        <p:nvSpPr>
          <p:cNvPr id="18" name="TextBox 17"/>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240 / 250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Ünite ölçme: 6. soru</a:t>
            </a:r>
          </a:p>
        </p:txBody>
      </p:sp>
      <p:sp>
        <p:nvSpPr>
          <p:cNvPr id="5" name="Rounded Rectangle 4"/>
          <p:cNvSpPr/>
          <p:nvPr/>
        </p:nvSpPr>
        <p:spPr>
          <a:xfrm>
            <a:off x="9555480" y="201168"/>
            <a:ext cx="2221992" cy="475488"/>
          </a:xfrm>
          <a:prstGeom prst="roundRect">
            <a:avLst>
              <a:gd name="adj" fmla="val 50000"/>
            </a:avLst>
          </a:prstGeom>
          <a:solidFill>
            <a:srgbClr val="D3373A"/>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SORU 6</a:t>
            </a:r>
          </a:p>
        </p:txBody>
      </p:sp>
      <p:sp>
        <p:nvSpPr>
          <p:cNvPr id="6" name="Rounded Rectangle 5"/>
          <p:cNvSpPr/>
          <p:nvPr/>
        </p:nvSpPr>
        <p:spPr>
          <a:xfrm>
            <a:off x="502920" y="1216152"/>
            <a:ext cx="11185855" cy="868680"/>
          </a:xfrm>
          <a:prstGeom prst="roundRect">
            <a:avLst>
              <a:gd name="adj" fmla="val 12631"/>
            </a:avLst>
          </a:prstGeom>
          <a:solidFill>
            <a:srgbClr val="F0F0F0"/>
          </a:solidFill>
          <a:ln>
            <a:noFill/>
          </a:ln>
          <a:effectLst/>
        </p:spPr>
        <p:txBody>
          <a:bodyPr rtlCol="0" anchor="ctr"/>
          <a:lstStyle/>
          <a:p/>
        </p:txBody>
      </p:sp>
      <p:sp>
        <p:nvSpPr>
          <p:cNvPr id="7" name="Oval 6"/>
          <p:cNvSpPr/>
          <p:nvPr/>
        </p:nvSpPr>
        <p:spPr>
          <a:xfrm>
            <a:off x="612648" y="1376172"/>
            <a:ext cx="548640" cy="548640"/>
          </a:xfrm>
          <a:prstGeom prst="ellipse">
            <a:avLst/>
          </a:prstGeom>
          <a:solidFill>
            <a:srgbClr val="D3373A"/>
          </a:solidFill>
          <a:ln>
            <a:noFill/>
          </a:ln>
          <a:effectLst/>
        </p:spPr>
        <p:txBody>
          <a:bodyPr rtlCol="0" anchor="ctr" wrap="none" lIns="0" rIns="0" tIns="0" bIns="0">
            <a:noAutofit/>
          </a:bodyPr>
          <a:lstStyle/>
          <a:p>
            <a:pPr algn="ctr">
              <a:spcBef>
                <a:spcPts val="0"/>
              </a:spcBef>
              <a:spcAft>
                <a:spcPts val="0"/>
              </a:spcAft>
            </a:pPr>
            <a:r>
              <a:rPr lang="tr-TR" sz="2200" b="1" i="0">
                <a:solidFill>
                  <a:srgbClr val="FFFFFF"/>
                </a:solidFill>
                <a:latin typeface="Calibri"/>
              </a:rPr>
              <a:t>6</a:t>
            </a:r>
          </a:p>
        </p:txBody>
      </p:sp>
      <p:sp>
        <p:nvSpPr>
          <p:cNvPr id="8" name="TextBox 7"/>
          <p:cNvSpPr txBox="1"/>
          <p:nvPr/>
        </p:nvSpPr>
        <p:spPr>
          <a:xfrm>
            <a:off x="1280160" y="1216152"/>
            <a:ext cx="10317175" cy="868680"/>
          </a:xfrm>
          <a:prstGeom prst="rect">
            <a:avLst/>
          </a:prstGeom>
          <a:noFill/>
        </p:spPr>
        <p:txBody>
          <a:bodyPr wrap="square" anchor="ctr" lIns="73152" rIns="73152" tIns="36576" bIns="36576">
            <a:noAutofit/>
          </a:bodyPr>
          <a:lstStyle/>
          <a:p>
            <a:pPr algn="l">
              <a:spcBef>
                <a:spcPts val="0"/>
              </a:spcBef>
              <a:spcAft>
                <a:spcPts val="0"/>
              </a:spcAft>
            </a:pPr>
            <a:r>
              <a:rPr lang="tr-TR" sz="2000" b="1" i="0">
                <a:solidFill>
                  <a:srgbClr val="262626"/>
                </a:solidFill>
                <a:latin typeface="Calibri"/>
              </a:rPr>
              <a:t>Aşağıdakilerden hangilerinin bütüncül afet yönetiminin aşamaları arasında yer aldığını kutucukları işaretleyerek belirtiniz. (Birden fazla seçim yapabilirsiniz.)</a:t>
            </a:r>
          </a:p>
        </p:txBody>
      </p:sp>
      <p:sp>
        <p:nvSpPr>
          <p:cNvPr id="9" name="Rounded Rectangle 8"/>
          <p:cNvSpPr/>
          <p:nvPr/>
        </p:nvSpPr>
        <p:spPr>
          <a:xfrm>
            <a:off x="502920" y="2221992"/>
            <a:ext cx="11185855" cy="526433"/>
          </a:xfrm>
          <a:prstGeom prst="roundRect">
            <a:avLst>
              <a:gd name="adj" fmla="val 17369"/>
            </a:avLst>
          </a:prstGeom>
          <a:solidFill>
            <a:srgbClr val="FFFFFF"/>
          </a:solidFill>
          <a:ln w="12700">
            <a:solidFill>
              <a:srgbClr val="D9D9D9"/>
            </a:solidFill>
          </a:ln>
          <a:effectLst/>
        </p:spPr>
        <p:txBody>
          <a:bodyPr rtlCol="0" anchor="ctr"/>
          <a:lstStyle/>
          <a:p/>
        </p:txBody>
      </p:sp>
      <p:sp>
        <p:nvSpPr>
          <p:cNvPr id="10" name="TextBox 9"/>
          <p:cNvSpPr txBox="1"/>
          <p:nvPr/>
        </p:nvSpPr>
        <p:spPr>
          <a:xfrm>
            <a:off x="557784" y="2221992"/>
            <a:ext cx="365760" cy="526433"/>
          </a:xfrm>
          <a:prstGeom prst="rect">
            <a:avLst/>
          </a:prstGeom>
          <a:noFill/>
        </p:spPr>
        <p:txBody>
          <a:bodyPr wrap="square" anchor="ctr" lIns="0" rIns="0" tIns="36576" bIns="36576">
            <a:noAutofit/>
          </a:bodyPr>
          <a:lstStyle/>
          <a:p>
            <a:pPr algn="ctr">
              <a:spcBef>
                <a:spcPts val="0"/>
              </a:spcBef>
              <a:spcAft>
                <a:spcPts val="0"/>
              </a:spcAft>
            </a:pPr>
            <a:r>
              <a:rPr lang="tr-TR" sz="1500" b="1" i="0">
                <a:solidFill>
                  <a:srgbClr val="767676"/>
                </a:solidFill>
                <a:latin typeface="Calibri"/>
              </a:rPr>
              <a:t>1</a:t>
            </a:r>
          </a:p>
        </p:txBody>
      </p:sp>
      <p:sp>
        <p:nvSpPr>
          <p:cNvPr id="11" name="Rectangle 10"/>
          <p:cNvSpPr/>
          <p:nvPr/>
        </p:nvSpPr>
        <p:spPr>
          <a:xfrm>
            <a:off x="941832" y="2302328"/>
            <a:ext cx="365760" cy="365760"/>
          </a:xfrm>
          <a:prstGeom prst="rect">
            <a:avLst/>
          </a:prstGeom>
          <a:solidFill>
            <a:srgbClr val="FFFFFF"/>
          </a:solidFill>
          <a:ln w="19050">
            <a:solidFill>
              <a:srgbClr val="4F4F4F"/>
            </a:solidFill>
          </a:ln>
          <a:effectLst/>
        </p:spPr>
        <p:txBody>
          <a:bodyPr rtlCol="0" anchor="ctr"/>
          <a:lstStyle/>
          <a:p/>
        </p:txBody>
      </p:sp>
      <p:sp>
        <p:nvSpPr>
          <p:cNvPr id="12" name="TextBox 11"/>
          <p:cNvSpPr txBox="1"/>
          <p:nvPr/>
        </p:nvSpPr>
        <p:spPr>
          <a:xfrm>
            <a:off x="1453896" y="2221992"/>
            <a:ext cx="10161727" cy="526433"/>
          </a:xfrm>
          <a:prstGeom prst="rect">
            <a:avLst/>
          </a:prstGeom>
          <a:noFill/>
        </p:spPr>
        <p:txBody>
          <a:bodyPr wrap="square" anchor="ctr" lIns="73152" rIns="73152" tIns="36576" bIns="36576">
            <a:noAutofit/>
          </a:bodyPr>
          <a:lstStyle/>
          <a:p>
            <a:pPr algn="l">
              <a:spcBef>
                <a:spcPts val="0"/>
              </a:spcBef>
              <a:spcAft>
                <a:spcPts val="0"/>
              </a:spcAft>
            </a:pPr>
            <a:r>
              <a:rPr lang="tr-TR" sz="2400" b="0" i="0">
                <a:solidFill>
                  <a:srgbClr val="262626"/>
                </a:solidFill>
                <a:latin typeface="Calibri"/>
              </a:rPr>
              <a:t>Süreç izleme ve raporlama</a:t>
            </a:r>
          </a:p>
        </p:txBody>
      </p:sp>
      <p:sp>
        <p:nvSpPr>
          <p:cNvPr id="13" name="Rounded Rectangle 12"/>
          <p:cNvSpPr/>
          <p:nvPr/>
        </p:nvSpPr>
        <p:spPr>
          <a:xfrm>
            <a:off x="502920" y="2812433"/>
            <a:ext cx="11185855" cy="526433"/>
          </a:xfrm>
          <a:prstGeom prst="roundRect">
            <a:avLst>
              <a:gd name="adj" fmla="val 17369"/>
            </a:avLst>
          </a:prstGeom>
          <a:solidFill>
            <a:srgbClr val="FFFFFF"/>
          </a:solidFill>
          <a:ln w="12700">
            <a:solidFill>
              <a:srgbClr val="D9D9D9"/>
            </a:solidFill>
          </a:ln>
          <a:effectLst/>
        </p:spPr>
        <p:txBody>
          <a:bodyPr rtlCol="0" anchor="ctr"/>
          <a:lstStyle/>
          <a:p/>
        </p:txBody>
      </p:sp>
      <p:sp>
        <p:nvSpPr>
          <p:cNvPr id="14" name="TextBox 13"/>
          <p:cNvSpPr txBox="1"/>
          <p:nvPr/>
        </p:nvSpPr>
        <p:spPr>
          <a:xfrm>
            <a:off x="557784" y="2812433"/>
            <a:ext cx="365760" cy="526433"/>
          </a:xfrm>
          <a:prstGeom prst="rect">
            <a:avLst/>
          </a:prstGeom>
          <a:noFill/>
        </p:spPr>
        <p:txBody>
          <a:bodyPr wrap="square" anchor="ctr" lIns="0" rIns="0" tIns="36576" bIns="36576">
            <a:noAutofit/>
          </a:bodyPr>
          <a:lstStyle/>
          <a:p>
            <a:pPr algn="ctr">
              <a:spcBef>
                <a:spcPts val="0"/>
              </a:spcBef>
              <a:spcAft>
                <a:spcPts val="0"/>
              </a:spcAft>
            </a:pPr>
            <a:r>
              <a:rPr lang="tr-TR" sz="1500" b="1" i="0">
                <a:solidFill>
                  <a:srgbClr val="767676"/>
                </a:solidFill>
                <a:latin typeface="Calibri"/>
              </a:rPr>
              <a:t>2</a:t>
            </a:r>
          </a:p>
        </p:txBody>
      </p:sp>
      <p:sp>
        <p:nvSpPr>
          <p:cNvPr id="15" name="Rectangle 14"/>
          <p:cNvSpPr/>
          <p:nvPr/>
        </p:nvSpPr>
        <p:spPr>
          <a:xfrm>
            <a:off x="941832" y="2892769"/>
            <a:ext cx="365760" cy="365760"/>
          </a:xfrm>
          <a:prstGeom prst="rect">
            <a:avLst/>
          </a:prstGeom>
          <a:solidFill>
            <a:srgbClr val="FFFFFF"/>
          </a:solidFill>
          <a:ln w="19050">
            <a:solidFill>
              <a:srgbClr val="4F4F4F"/>
            </a:solidFill>
          </a:ln>
          <a:effectLst/>
        </p:spPr>
        <p:txBody>
          <a:bodyPr rtlCol="0" anchor="ctr"/>
          <a:lstStyle/>
          <a:p/>
        </p:txBody>
      </p:sp>
      <p:sp>
        <p:nvSpPr>
          <p:cNvPr id="16" name="TextBox 15"/>
          <p:cNvSpPr txBox="1"/>
          <p:nvPr/>
        </p:nvSpPr>
        <p:spPr>
          <a:xfrm>
            <a:off x="1453896" y="2812433"/>
            <a:ext cx="10161727" cy="526433"/>
          </a:xfrm>
          <a:prstGeom prst="rect">
            <a:avLst/>
          </a:prstGeom>
          <a:noFill/>
        </p:spPr>
        <p:txBody>
          <a:bodyPr wrap="square" anchor="ctr" lIns="73152" rIns="73152" tIns="36576" bIns="36576">
            <a:noAutofit/>
          </a:bodyPr>
          <a:lstStyle/>
          <a:p>
            <a:pPr algn="l">
              <a:spcBef>
                <a:spcPts val="0"/>
              </a:spcBef>
              <a:spcAft>
                <a:spcPts val="0"/>
              </a:spcAft>
            </a:pPr>
            <a:r>
              <a:rPr lang="tr-TR" sz="2400" b="0" i="0">
                <a:solidFill>
                  <a:srgbClr val="262626"/>
                </a:solidFill>
                <a:latin typeface="Calibri"/>
              </a:rPr>
              <a:t>Hazırlıklı olma</a:t>
            </a:r>
          </a:p>
        </p:txBody>
      </p:sp>
      <p:sp>
        <p:nvSpPr>
          <p:cNvPr id="17" name="Rounded Rectangle 16"/>
          <p:cNvSpPr/>
          <p:nvPr/>
        </p:nvSpPr>
        <p:spPr>
          <a:xfrm>
            <a:off x="502920" y="3402874"/>
            <a:ext cx="11185855" cy="526433"/>
          </a:xfrm>
          <a:prstGeom prst="roundRect">
            <a:avLst>
              <a:gd name="adj" fmla="val 17369"/>
            </a:avLst>
          </a:prstGeom>
          <a:solidFill>
            <a:srgbClr val="FFFFFF"/>
          </a:solidFill>
          <a:ln w="12700">
            <a:solidFill>
              <a:srgbClr val="D9D9D9"/>
            </a:solidFill>
          </a:ln>
          <a:effectLst/>
        </p:spPr>
        <p:txBody>
          <a:bodyPr rtlCol="0" anchor="ctr"/>
          <a:lstStyle/>
          <a:p/>
        </p:txBody>
      </p:sp>
      <p:sp>
        <p:nvSpPr>
          <p:cNvPr id="18" name="TextBox 17"/>
          <p:cNvSpPr txBox="1"/>
          <p:nvPr/>
        </p:nvSpPr>
        <p:spPr>
          <a:xfrm>
            <a:off x="557784" y="3402874"/>
            <a:ext cx="365760" cy="526433"/>
          </a:xfrm>
          <a:prstGeom prst="rect">
            <a:avLst/>
          </a:prstGeom>
          <a:noFill/>
        </p:spPr>
        <p:txBody>
          <a:bodyPr wrap="square" anchor="ctr" lIns="0" rIns="0" tIns="36576" bIns="36576">
            <a:noAutofit/>
          </a:bodyPr>
          <a:lstStyle/>
          <a:p>
            <a:pPr algn="ctr">
              <a:spcBef>
                <a:spcPts val="0"/>
              </a:spcBef>
              <a:spcAft>
                <a:spcPts val="0"/>
              </a:spcAft>
            </a:pPr>
            <a:r>
              <a:rPr lang="tr-TR" sz="1500" b="1" i="0">
                <a:solidFill>
                  <a:srgbClr val="767676"/>
                </a:solidFill>
                <a:latin typeface="Calibri"/>
              </a:rPr>
              <a:t>3</a:t>
            </a:r>
          </a:p>
        </p:txBody>
      </p:sp>
      <p:sp>
        <p:nvSpPr>
          <p:cNvPr id="19" name="Rectangle 18"/>
          <p:cNvSpPr/>
          <p:nvPr/>
        </p:nvSpPr>
        <p:spPr>
          <a:xfrm>
            <a:off x="941832" y="3483210"/>
            <a:ext cx="365760" cy="365760"/>
          </a:xfrm>
          <a:prstGeom prst="rect">
            <a:avLst/>
          </a:prstGeom>
          <a:solidFill>
            <a:srgbClr val="FFFFFF"/>
          </a:solidFill>
          <a:ln w="19050">
            <a:solidFill>
              <a:srgbClr val="4F4F4F"/>
            </a:solidFill>
          </a:ln>
          <a:effectLst/>
        </p:spPr>
        <p:txBody>
          <a:bodyPr rtlCol="0" anchor="ctr"/>
          <a:lstStyle/>
          <a:p/>
        </p:txBody>
      </p:sp>
      <p:sp>
        <p:nvSpPr>
          <p:cNvPr id="20" name="TextBox 19"/>
          <p:cNvSpPr txBox="1"/>
          <p:nvPr/>
        </p:nvSpPr>
        <p:spPr>
          <a:xfrm>
            <a:off x="1453896" y="3402874"/>
            <a:ext cx="10161727" cy="526433"/>
          </a:xfrm>
          <a:prstGeom prst="rect">
            <a:avLst/>
          </a:prstGeom>
          <a:noFill/>
        </p:spPr>
        <p:txBody>
          <a:bodyPr wrap="square" anchor="ctr" lIns="73152" rIns="73152" tIns="36576" bIns="36576">
            <a:noAutofit/>
          </a:bodyPr>
          <a:lstStyle/>
          <a:p>
            <a:pPr algn="l">
              <a:spcBef>
                <a:spcPts val="0"/>
              </a:spcBef>
              <a:spcAft>
                <a:spcPts val="0"/>
              </a:spcAft>
            </a:pPr>
            <a:r>
              <a:rPr lang="tr-TR" sz="2400" b="0" i="0">
                <a:solidFill>
                  <a:srgbClr val="262626"/>
                </a:solidFill>
                <a:latin typeface="Calibri"/>
              </a:rPr>
              <a:t>Performans ölçümü</a:t>
            </a:r>
          </a:p>
        </p:txBody>
      </p:sp>
      <p:sp>
        <p:nvSpPr>
          <p:cNvPr id="21" name="Rounded Rectangle 20"/>
          <p:cNvSpPr/>
          <p:nvPr/>
        </p:nvSpPr>
        <p:spPr>
          <a:xfrm>
            <a:off x="502920" y="3993315"/>
            <a:ext cx="11185855" cy="526433"/>
          </a:xfrm>
          <a:prstGeom prst="roundRect">
            <a:avLst>
              <a:gd name="adj" fmla="val 17369"/>
            </a:avLst>
          </a:prstGeom>
          <a:solidFill>
            <a:srgbClr val="FFFFFF"/>
          </a:solidFill>
          <a:ln w="12700">
            <a:solidFill>
              <a:srgbClr val="D9D9D9"/>
            </a:solidFill>
          </a:ln>
          <a:effectLst/>
        </p:spPr>
        <p:txBody>
          <a:bodyPr rtlCol="0" anchor="ctr"/>
          <a:lstStyle/>
          <a:p/>
        </p:txBody>
      </p:sp>
      <p:sp>
        <p:nvSpPr>
          <p:cNvPr id="22" name="TextBox 21"/>
          <p:cNvSpPr txBox="1"/>
          <p:nvPr/>
        </p:nvSpPr>
        <p:spPr>
          <a:xfrm>
            <a:off x="557784" y="3993315"/>
            <a:ext cx="365760" cy="526433"/>
          </a:xfrm>
          <a:prstGeom prst="rect">
            <a:avLst/>
          </a:prstGeom>
          <a:noFill/>
        </p:spPr>
        <p:txBody>
          <a:bodyPr wrap="square" anchor="ctr" lIns="0" rIns="0" tIns="36576" bIns="36576">
            <a:noAutofit/>
          </a:bodyPr>
          <a:lstStyle/>
          <a:p>
            <a:pPr algn="ctr">
              <a:spcBef>
                <a:spcPts val="0"/>
              </a:spcBef>
              <a:spcAft>
                <a:spcPts val="0"/>
              </a:spcAft>
            </a:pPr>
            <a:r>
              <a:rPr lang="tr-TR" sz="1500" b="1" i="0">
                <a:solidFill>
                  <a:srgbClr val="767676"/>
                </a:solidFill>
                <a:latin typeface="Calibri"/>
              </a:rPr>
              <a:t>4</a:t>
            </a:r>
          </a:p>
        </p:txBody>
      </p:sp>
      <p:sp>
        <p:nvSpPr>
          <p:cNvPr id="23" name="Rectangle 22"/>
          <p:cNvSpPr/>
          <p:nvPr/>
        </p:nvSpPr>
        <p:spPr>
          <a:xfrm>
            <a:off x="941832" y="4073651"/>
            <a:ext cx="365760" cy="365760"/>
          </a:xfrm>
          <a:prstGeom prst="rect">
            <a:avLst/>
          </a:prstGeom>
          <a:solidFill>
            <a:srgbClr val="FFFFFF"/>
          </a:solidFill>
          <a:ln w="19050">
            <a:solidFill>
              <a:srgbClr val="4F4F4F"/>
            </a:solidFill>
          </a:ln>
          <a:effectLst/>
        </p:spPr>
        <p:txBody>
          <a:bodyPr rtlCol="0" anchor="ctr"/>
          <a:lstStyle/>
          <a:p/>
        </p:txBody>
      </p:sp>
      <p:sp>
        <p:nvSpPr>
          <p:cNvPr id="24" name="TextBox 23"/>
          <p:cNvSpPr txBox="1"/>
          <p:nvPr/>
        </p:nvSpPr>
        <p:spPr>
          <a:xfrm>
            <a:off x="1453896" y="3993315"/>
            <a:ext cx="10161727" cy="526433"/>
          </a:xfrm>
          <a:prstGeom prst="rect">
            <a:avLst/>
          </a:prstGeom>
          <a:noFill/>
        </p:spPr>
        <p:txBody>
          <a:bodyPr wrap="square" anchor="ctr" lIns="73152" rIns="73152" tIns="36576" bIns="36576">
            <a:noAutofit/>
          </a:bodyPr>
          <a:lstStyle/>
          <a:p>
            <a:pPr algn="l">
              <a:spcBef>
                <a:spcPts val="0"/>
              </a:spcBef>
              <a:spcAft>
                <a:spcPts val="0"/>
              </a:spcAft>
            </a:pPr>
            <a:r>
              <a:rPr lang="tr-TR" sz="2400" b="0" i="0">
                <a:solidFill>
                  <a:srgbClr val="262626"/>
                </a:solidFill>
                <a:latin typeface="Calibri"/>
              </a:rPr>
              <a:t>Risk ve zarar azaltma</a:t>
            </a:r>
          </a:p>
        </p:txBody>
      </p:sp>
      <p:sp>
        <p:nvSpPr>
          <p:cNvPr id="25" name="Rounded Rectangle 24"/>
          <p:cNvSpPr/>
          <p:nvPr/>
        </p:nvSpPr>
        <p:spPr>
          <a:xfrm>
            <a:off x="502920" y="4583756"/>
            <a:ext cx="11185855" cy="526433"/>
          </a:xfrm>
          <a:prstGeom prst="roundRect">
            <a:avLst>
              <a:gd name="adj" fmla="val 17369"/>
            </a:avLst>
          </a:prstGeom>
          <a:solidFill>
            <a:srgbClr val="FFFFFF"/>
          </a:solidFill>
          <a:ln w="12700">
            <a:solidFill>
              <a:srgbClr val="D9D9D9"/>
            </a:solidFill>
          </a:ln>
          <a:effectLst/>
        </p:spPr>
        <p:txBody>
          <a:bodyPr rtlCol="0" anchor="ctr"/>
          <a:lstStyle/>
          <a:p/>
        </p:txBody>
      </p:sp>
      <p:sp>
        <p:nvSpPr>
          <p:cNvPr id="26" name="TextBox 25"/>
          <p:cNvSpPr txBox="1"/>
          <p:nvPr/>
        </p:nvSpPr>
        <p:spPr>
          <a:xfrm>
            <a:off x="557784" y="4583756"/>
            <a:ext cx="365760" cy="526433"/>
          </a:xfrm>
          <a:prstGeom prst="rect">
            <a:avLst/>
          </a:prstGeom>
          <a:noFill/>
        </p:spPr>
        <p:txBody>
          <a:bodyPr wrap="square" anchor="ctr" lIns="0" rIns="0" tIns="36576" bIns="36576">
            <a:noAutofit/>
          </a:bodyPr>
          <a:lstStyle/>
          <a:p>
            <a:pPr algn="ctr">
              <a:spcBef>
                <a:spcPts val="0"/>
              </a:spcBef>
              <a:spcAft>
                <a:spcPts val="0"/>
              </a:spcAft>
            </a:pPr>
            <a:r>
              <a:rPr lang="tr-TR" sz="1500" b="1" i="0">
                <a:solidFill>
                  <a:srgbClr val="767676"/>
                </a:solidFill>
                <a:latin typeface="Calibri"/>
              </a:rPr>
              <a:t>5</a:t>
            </a:r>
          </a:p>
        </p:txBody>
      </p:sp>
      <p:sp>
        <p:nvSpPr>
          <p:cNvPr id="27" name="Rectangle 26"/>
          <p:cNvSpPr/>
          <p:nvPr/>
        </p:nvSpPr>
        <p:spPr>
          <a:xfrm>
            <a:off x="941832" y="4664093"/>
            <a:ext cx="365760" cy="365760"/>
          </a:xfrm>
          <a:prstGeom prst="rect">
            <a:avLst/>
          </a:prstGeom>
          <a:solidFill>
            <a:srgbClr val="FFFFFF"/>
          </a:solidFill>
          <a:ln w="19050">
            <a:solidFill>
              <a:srgbClr val="4F4F4F"/>
            </a:solidFill>
          </a:ln>
          <a:effectLst/>
        </p:spPr>
        <p:txBody>
          <a:bodyPr rtlCol="0" anchor="ctr"/>
          <a:lstStyle/>
          <a:p/>
        </p:txBody>
      </p:sp>
      <p:sp>
        <p:nvSpPr>
          <p:cNvPr id="28" name="TextBox 27"/>
          <p:cNvSpPr txBox="1"/>
          <p:nvPr/>
        </p:nvSpPr>
        <p:spPr>
          <a:xfrm>
            <a:off x="1453896" y="4583756"/>
            <a:ext cx="10161727" cy="526433"/>
          </a:xfrm>
          <a:prstGeom prst="rect">
            <a:avLst/>
          </a:prstGeom>
          <a:noFill/>
        </p:spPr>
        <p:txBody>
          <a:bodyPr wrap="square" anchor="ctr" lIns="73152" rIns="73152" tIns="36576" bIns="36576">
            <a:noAutofit/>
          </a:bodyPr>
          <a:lstStyle/>
          <a:p>
            <a:pPr algn="l">
              <a:spcBef>
                <a:spcPts val="0"/>
              </a:spcBef>
              <a:spcAft>
                <a:spcPts val="0"/>
              </a:spcAft>
            </a:pPr>
            <a:r>
              <a:rPr lang="tr-TR" sz="2400" b="0" i="0">
                <a:solidFill>
                  <a:srgbClr val="262626"/>
                </a:solidFill>
                <a:latin typeface="Calibri"/>
              </a:rPr>
              <a:t>Belge ve kayıt kontrolü</a:t>
            </a:r>
          </a:p>
        </p:txBody>
      </p:sp>
      <p:sp>
        <p:nvSpPr>
          <p:cNvPr id="29" name="Rounded Rectangle 28"/>
          <p:cNvSpPr/>
          <p:nvPr/>
        </p:nvSpPr>
        <p:spPr>
          <a:xfrm>
            <a:off x="502920" y="5174197"/>
            <a:ext cx="11185855" cy="526433"/>
          </a:xfrm>
          <a:prstGeom prst="roundRect">
            <a:avLst>
              <a:gd name="adj" fmla="val 17369"/>
            </a:avLst>
          </a:prstGeom>
          <a:solidFill>
            <a:srgbClr val="FFFFFF"/>
          </a:solidFill>
          <a:ln w="12700">
            <a:solidFill>
              <a:srgbClr val="D9D9D9"/>
            </a:solidFill>
          </a:ln>
          <a:effectLst/>
        </p:spPr>
        <p:txBody>
          <a:bodyPr rtlCol="0" anchor="ctr"/>
          <a:lstStyle/>
          <a:p/>
        </p:txBody>
      </p:sp>
      <p:sp>
        <p:nvSpPr>
          <p:cNvPr id="30" name="TextBox 29"/>
          <p:cNvSpPr txBox="1"/>
          <p:nvPr/>
        </p:nvSpPr>
        <p:spPr>
          <a:xfrm>
            <a:off x="557784" y="5174197"/>
            <a:ext cx="365760" cy="526433"/>
          </a:xfrm>
          <a:prstGeom prst="rect">
            <a:avLst/>
          </a:prstGeom>
          <a:noFill/>
        </p:spPr>
        <p:txBody>
          <a:bodyPr wrap="square" anchor="ctr" lIns="0" rIns="0" tIns="36576" bIns="36576">
            <a:noAutofit/>
          </a:bodyPr>
          <a:lstStyle/>
          <a:p>
            <a:pPr algn="ctr">
              <a:spcBef>
                <a:spcPts val="0"/>
              </a:spcBef>
              <a:spcAft>
                <a:spcPts val="0"/>
              </a:spcAft>
            </a:pPr>
            <a:r>
              <a:rPr lang="tr-TR" sz="1500" b="1" i="0">
                <a:solidFill>
                  <a:srgbClr val="767676"/>
                </a:solidFill>
                <a:latin typeface="Calibri"/>
              </a:rPr>
              <a:t>6</a:t>
            </a:r>
          </a:p>
        </p:txBody>
      </p:sp>
      <p:sp>
        <p:nvSpPr>
          <p:cNvPr id="31" name="Rectangle 30"/>
          <p:cNvSpPr/>
          <p:nvPr/>
        </p:nvSpPr>
        <p:spPr>
          <a:xfrm>
            <a:off x="941832" y="5254534"/>
            <a:ext cx="365760" cy="365760"/>
          </a:xfrm>
          <a:prstGeom prst="rect">
            <a:avLst/>
          </a:prstGeom>
          <a:solidFill>
            <a:srgbClr val="FFFFFF"/>
          </a:solidFill>
          <a:ln w="19050">
            <a:solidFill>
              <a:srgbClr val="4F4F4F"/>
            </a:solidFill>
          </a:ln>
          <a:effectLst/>
        </p:spPr>
        <p:txBody>
          <a:bodyPr rtlCol="0" anchor="ctr"/>
          <a:lstStyle/>
          <a:p/>
        </p:txBody>
      </p:sp>
      <p:sp>
        <p:nvSpPr>
          <p:cNvPr id="32" name="TextBox 31"/>
          <p:cNvSpPr txBox="1"/>
          <p:nvPr/>
        </p:nvSpPr>
        <p:spPr>
          <a:xfrm>
            <a:off x="1453896" y="5174197"/>
            <a:ext cx="10161727" cy="526433"/>
          </a:xfrm>
          <a:prstGeom prst="rect">
            <a:avLst/>
          </a:prstGeom>
          <a:noFill/>
        </p:spPr>
        <p:txBody>
          <a:bodyPr wrap="square" anchor="ctr" lIns="73152" rIns="73152" tIns="36576" bIns="36576">
            <a:noAutofit/>
          </a:bodyPr>
          <a:lstStyle/>
          <a:p>
            <a:pPr algn="l">
              <a:spcBef>
                <a:spcPts val="0"/>
              </a:spcBef>
              <a:spcAft>
                <a:spcPts val="0"/>
              </a:spcAft>
            </a:pPr>
            <a:r>
              <a:rPr lang="tr-TR" sz="2400" b="0" i="0">
                <a:solidFill>
                  <a:srgbClr val="262626"/>
                </a:solidFill>
                <a:latin typeface="Calibri"/>
              </a:rPr>
              <a:t>İyileştirme</a:t>
            </a:r>
          </a:p>
        </p:txBody>
      </p:sp>
      <p:sp>
        <p:nvSpPr>
          <p:cNvPr id="33" name="Rounded Rectangle 32"/>
          <p:cNvSpPr/>
          <p:nvPr/>
        </p:nvSpPr>
        <p:spPr>
          <a:xfrm>
            <a:off x="502920" y="5764638"/>
            <a:ext cx="11185855" cy="526433"/>
          </a:xfrm>
          <a:prstGeom prst="roundRect">
            <a:avLst>
              <a:gd name="adj" fmla="val 17369"/>
            </a:avLst>
          </a:prstGeom>
          <a:solidFill>
            <a:srgbClr val="FFFFFF"/>
          </a:solidFill>
          <a:ln w="12700">
            <a:solidFill>
              <a:srgbClr val="D9D9D9"/>
            </a:solidFill>
          </a:ln>
          <a:effectLst/>
        </p:spPr>
        <p:txBody>
          <a:bodyPr rtlCol="0" anchor="ctr"/>
          <a:lstStyle/>
          <a:p/>
        </p:txBody>
      </p:sp>
      <p:sp>
        <p:nvSpPr>
          <p:cNvPr id="34" name="TextBox 33"/>
          <p:cNvSpPr txBox="1"/>
          <p:nvPr/>
        </p:nvSpPr>
        <p:spPr>
          <a:xfrm>
            <a:off x="557784" y="5764638"/>
            <a:ext cx="365760" cy="526433"/>
          </a:xfrm>
          <a:prstGeom prst="rect">
            <a:avLst/>
          </a:prstGeom>
          <a:noFill/>
        </p:spPr>
        <p:txBody>
          <a:bodyPr wrap="square" anchor="ctr" lIns="0" rIns="0" tIns="36576" bIns="36576">
            <a:noAutofit/>
          </a:bodyPr>
          <a:lstStyle/>
          <a:p>
            <a:pPr algn="ctr">
              <a:spcBef>
                <a:spcPts val="0"/>
              </a:spcBef>
              <a:spcAft>
                <a:spcPts val="0"/>
              </a:spcAft>
            </a:pPr>
            <a:r>
              <a:rPr lang="tr-TR" sz="1500" b="1" i="0">
                <a:solidFill>
                  <a:srgbClr val="767676"/>
                </a:solidFill>
                <a:latin typeface="Calibri"/>
              </a:rPr>
              <a:t>7</a:t>
            </a:r>
          </a:p>
        </p:txBody>
      </p:sp>
      <p:sp>
        <p:nvSpPr>
          <p:cNvPr id="35" name="Rectangle 34"/>
          <p:cNvSpPr/>
          <p:nvPr/>
        </p:nvSpPr>
        <p:spPr>
          <a:xfrm>
            <a:off x="941832" y="5844975"/>
            <a:ext cx="365760" cy="365760"/>
          </a:xfrm>
          <a:prstGeom prst="rect">
            <a:avLst/>
          </a:prstGeom>
          <a:solidFill>
            <a:srgbClr val="FFFFFF"/>
          </a:solidFill>
          <a:ln w="19050">
            <a:solidFill>
              <a:srgbClr val="4F4F4F"/>
            </a:solidFill>
          </a:ln>
          <a:effectLst/>
        </p:spPr>
        <p:txBody>
          <a:bodyPr rtlCol="0" anchor="ctr"/>
          <a:lstStyle/>
          <a:p/>
        </p:txBody>
      </p:sp>
      <p:sp>
        <p:nvSpPr>
          <p:cNvPr id="36" name="TextBox 35"/>
          <p:cNvSpPr txBox="1"/>
          <p:nvPr/>
        </p:nvSpPr>
        <p:spPr>
          <a:xfrm>
            <a:off x="1453896" y="5764638"/>
            <a:ext cx="10161727" cy="526433"/>
          </a:xfrm>
          <a:prstGeom prst="rect">
            <a:avLst/>
          </a:prstGeom>
          <a:noFill/>
        </p:spPr>
        <p:txBody>
          <a:bodyPr wrap="square" anchor="ctr" lIns="73152" rIns="73152" tIns="36576" bIns="36576">
            <a:noAutofit/>
          </a:bodyPr>
          <a:lstStyle/>
          <a:p>
            <a:pPr algn="l">
              <a:spcBef>
                <a:spcPts val="0"/>
              </a:spcBef>
              <a:spcAft>
                <a:spcPts val="0"/>
              </a:spcAft>
            </a:pPr>
            <a:r>
              <a:rPr lang="tr-TR" sz="2400" b="0" i="0">
                <a:solidFill>
                  <a:srgbClr val="262626"/>
                </a:solidFill>
                <a:latin typeface="Calibri"/>
              </a:rPr>
              <a:t>Müdahale</a:t>
            </a:r>
          </a:p>
        </p:txBody>
      </p:sp>
      <p:sp>
        <p:nvSpPr>
          <p:cNvPr id="37" name="TextBox 36"/>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38" name="Rounded Rectangle 37"/>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213</a:t>
            </a:r>
          </a:p>
        </p:txBody>
      </p:sp>
      <p:sp>
        <p:nvSpPr>
          <p:cNvPr id="39" name="TextBox 38"/>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241 / 250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6. soru —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SORU 6</a:t>
            </a:r>
          </a:p>
        </p:txBody>
      </p:sp>
      <p:sp>
        <p:nvSpPr>
          <p:cNvPr id="6" name="Rounded Rectangle 5"/>
          <p:cNvSpPr/>
          <p:nvPr/>
        </p:nvSpPr>
        <p:spPr>
          <a:xfrm>
            <a:off x="502920" y="1216152"/>
            <a:ext cx="11185855" cy="663593"/>
          </a:xfrm>
          <a:prstGeom prst="roundRect">
            <a:avLst>
              <a:gd name="adj" fmla="val 13779"/>
            </a:avLst>
          </a:prstGeom>
          <a:solidFill>
            <a:srgbClr val="F9E1E1"/>
          </a:solidFill>
          <a:ln w="22225">
            <a:solidFill>
              <a:srgbClr val="D3373A"/>
            </a:solidFill>
          </a:ln>
          <a:effectLst/>
        </p:spPr>
        <p:txBody>
          <a:bodyPr rtlCol="0" anchor="ctr"/>
          <a:lstStyle/>
          <a:p/>
        </p:txBody>
      </p:sp>
      <p:sp>
        <p:nvSpPr>
          <p:cNvPr id="7" name="TextBox 6"/>
          <p:cNvSpPr txBox="1"/>
          <p:nvPr/>
        </p:nvSpPr>
        <p:spPr>
          <a:xfrm>
            <a:off x="557784" y="1216152"/>
            <a:ext cx="365760" cy="663593"/>
          </a:xfrm>
          <a:prstGeom prst="rect">
            <a:avLst/>
          </a:prstGeom>
          <a:noFill/>
        </p:spPr>
        <p:txBody>
          <a:bodyPr wrap="square" anchor="ctr" lIns="0" rIns="0" tIns="36576" bIns="36576">
            <a:noAutofit/>
          </a:bodyPr>
          <a:lstStyle/>
          <a:p>
            <a:pPr algn="ctr">
              <a:spcBef>
                <a:spcPts val="0"/>
              </a:spcBef>
              <a:spcAft>
                <a:spcPts val="0"/>
              </a:spcAft>
            </a:pPr>
            <a:r>
              <a:rPr lang="tr-TR" sz="1500" b="1" i="0">
                <a:solidFill>
                  <a:srgbClr val="767676"/>
                </a:solidFill>
                <a:latin typeface="Calibri"/>
              </a:rPr>
              <a:t>1</a:t>
            </a:r>
          </a:p>
        </p:txBody>
      </p:sp>
      <p:sp>
        <p:nvSpPr>
          <p:cNvPr id="8" name="Rectangle 7"/>
          <p:cNvSpPr/>
          <p:nvPr/>
        </p:nvSpPr>
        <p:spPr>
          <a:xfrm>
            <a:off x="941832" y="1365068"/>
            <a:ext cx="365760" cy="365760"/>
          </a:xfrm>
          <a:prstGeom prst="rect">
            <a:avLst/>
          </a:prstGeom>
          <a:solidFill>
            <a:srgbClr val="D3373A"/>
          </a:solidFill>
          <a:ln>
            <a:noFill/>
          </a:ln>
          <a:effectLst/>
        </p:spPr>
        <p:txBody>
          <a:bodyPr rtlCol="0" anchor="ctr" wrap="square" lIns="0" rIns="0" tIns="0" bIns="0">
            <a:noAutofit/>
          </a:bodyPr>
          <a:lstStyle/>
          <a:p>
            <a:pPr algn="ctr">
              <a:spcBef>
                <a:spcPts val="0"/>
              </a:spcBef>
              <a:spcAft>
                <a:spcPts val="0"/>
              </a:spcAft>
            </a:pPr>
            <a:r>
              <a:rPr lang="tr-TR" sz="2000" b="1" i="0">
                <a:solidFill>
                  <a:srgbClr val="FFFFFF"/>
                </a:solidFill>
                <a:latin typeface="Calibri"/>
              </a:rPr>
              <a:t>✗</a:t>
            </a:r>
          </a:p>
        </p:txBody>
      </p:sp>
      <p:sp>
        <p:nvSpPr>
          <p:cNvPr id="9" name="TextBox 8"/>
          <p:cNvSpPr txBox="1"/>
          <p:nvPr/>
        </p:nvSpPr>
        <p:spPr>
          <a:xfrm>
            <a:off x="1453896" y="1216152"/>
            <a:ext cx="10161727" cy="663593"/>
          </a:xfrm>
          <a:prstGeom prst="rect">
            <a:avLst/>
          </a:prstGeom>
          <a:noFill/>
        </p:spPr>
        <p:txBody>
          <a:bodyPr wrap="square" anchor="ctr" lIns="73152" rIns="73152" tIns="36576" bIns="36576">
            <a:noAutofit/>
          </a:bodyPr>
          <a:lstStyle/>
          <a:p>
            <a:pPr algn="l">
              <a:spcBef>
                <a:spcPts val="0"/>
              </a:spcBef>
              <a:spcAft>
                <a:spcPts val="300"/>
              </a:spcAft>
            </a:pPr>
            <a:r>
              <a:rPr lang="tr-TR" sz="1950" b="0" i="0">
                <a:solidFill>
                  <a:srgbClr val="262626"/>
                </a:solidFill>
                <a:latin typeface="Calibri"/>
              </a:rPr>
              <a:t>Süreç izleme ve raporlama</a:t>
            </a:r>
          </a:p>
          <a:p>
            <a:pPr algn="l">
              <a:spcBef>
                <a:spcPts val="0"/>
              </a:spcBef>
              <a:spcAft>
                <a:spcPts val="0"/>
              </a:spcAft>
            </a:pPr>
            <a:r>
              <a:rPr lang="tr-TR" sz="1560" b="0" i="0">
                <a:solidFill>
                  <a:srgbClr val="D3373A"/>
                </a:solidFill>
                <a:latin typeface="Calibri"/>
              </a:rPr>
              <a:t>→ Bütüncül afet yönetiminin dört aşaması arasında yok (s. 202)</a:t>
            </a:r>
          </a:p>
        </p:txBody>
      </p:sp>
      <p:sp>
        <p:nvSpPr>
          <p:cNvPr id="10" name="Rounded Rectangle 9"/>
          <p:cNvSpPr/>
          <p:nvPr/>
        </p:nvSpPr>
        <p:spPr>
          <a:xfrm>
            <a:off x="502920" y="1943753"/>
            <a:ext cx="11185855" cy="663593"/>
          </a:xfrm>
          <a:prstGeom prst="roundRect">
            <a:avLst>
              <a:gd name="adj" fmla="val 13779"/>
            </a:avLst>
          </a:prstGeom>
          <a:solidFill>
            <a:srgbClr val="E3F1E4"/>
          </a:solidFill>
          <a:ln w="22225">
            <a:solidFill>
              <a:srgbClr val="2E7D32"/>
            </a:solidFill>
          </a:ln>
          <a:effectLst/>
        </p:spPr>
        <p:txBody>
          <a:bodyPr rtlCol="0" anchor="ctr"/>
          <a:lstStyle/>
          <a:p/>
        </p:txBody>
      </p:sp>
      <p:sp>
        <p:nvSpPr>
          <p:cNvPr id="11" name="TextBox 10"/>
          <p:cNvSpPr txBox="1"/>
          <p:nvPr/>
        </p:nvSpPr>
        <p:spPr>
          <a:xfrm>
            <a:off x="557784" y="1943753"/>
            <a:ext cx="365760" cy="663593"/>
          </a:xfrm>
          <a:prstGeom prst="rect">
            <a:avLst/>
          </a:prstGeom>
          <a:noFill/>
        </p:spPr>
        <p:txBody>
          <a:bodyPr wrap="square" anchor="ctr" lIns="0" rIns="0" tIns="36576" bIns="36576">
            <a:noAutofit/>
          </a:bodyPr>
          <a:lstStyle/>
          <a:p>
            <a:pPr algn="ctr">
              <a:spcBef>
                <a:spcPts val="0"/>
              </a:spcBef>
              <a:spcAft>
                <a:spcPts val="0"/>
              </a:spcAft>
            </a:pPr>
            <a:r>
              <a:rPr lang="tr-TR" sz="1500" b="1" i="0">
                <a:solidFill>
                  <a:srgbClr val="767676"/>
                </a:solidFill>
                <a:latin typeface="Calibri"/>
              </a:rPr>
              <a:t>2</a:t>
            </a:r>
          </a:p>
        </p:txBody>
      </p:sp>
      <p:sp>
        <p:nvSpPr>
          <p:cNvPr id="12" name="Rectangle 11"/>
          <p:cNvSpPr/>
          <p:nvPr/>
        </p:nvSpPr>
        <p:spPr>
          <a:xfrm>
            <a:off x="941832" y="2092669"/>
            <a:ext cx="365760" cy="365760"/>
          </a:xfrm>
          <a:prstGeom prst="rect">
            <a:avLst/>
          </a:prstGeom>
          <a:solidFill>
            <a:srgbClr val="2E7D32"/>
          </a:solidFill>
          <a:ln>
            <a:noFill/>
          </a:ln>
          <a:effectLst/>
        </p:spPr>
        <p:txBody>
          <a:bodyPr rtlCol="0" anchor="ctr" wrap="square" lIns="0" rIns="0" tIns="0" bIns="0">
            <a:noAutofit/>
          </a:bodyPr>
          <a:lstStyle/>
          <a:p>
            <a:pPr algn="ctr">
              <a:spcBef>
                <a:spcPts val="0"/>
              </a:spcBef>
              <a:spcAft>
                <a:spcPts val="0"/>
              </a:spcAft>
            </a:pPr>
            <a:r>
              <a:rPr lang="tr-TR" sz="2000" b="1" i="0">
                <a:solidFill>
                  <a:srgbClr val="FFFFFF"/>
                </a:solidFill>
                <a:latin typeface="Calibri"/>
              </a:rPr>
              <a:t>✓</a:t>
            </a:r>
          </a:p>
        </p:txBody>
      </p:sp>
      <p:sp>
        <p:nvSpPr>
          <p:cNvPr id="13" name="TextBox 12"/>
          <p:cNvSpPr txBox="1"/>
          <p:nvPr/>
        </p:nvSpPr>
        <p:spPr>
          <a:xfrm>
            <a:off x="1453896" y="1943753"/>
            <a:ext cx="10161727" cy="663593"/>
          </a:xfrm>
          <a:prstGeom prst="rect">
            <a:avLst/>
          </a:prstGeom>
          <a:noFill/>
        </p:spPr>
        <p:txBody>
          <a:bodyPr wrap="square" anchor="ctr" lIns="73152" rIns="73152" tIns="36576" bIns="36576">
            <a:noAutofit/>
          </a:bodyPr>
          <a:lstStyle/>
          <a:p>
            <a:pPr algn="l">
              <a:spcBef>
                <a:spcPts val="0"/>
              </a:spcBef>
              <a:spcAft>
                <a:spcPts val="300"/>
              </a:spcAft>
            </a:pPr>
            <a:r>
              <a:rPr lang="tr-TR" sz="1950" b="1" i="0">
                <a:solidFill>
                  <a:srgbClr val="262626"/>
                </a:solidFill>
                <a:latin typeface="Calibri"/>
              </a:rPr>
              <a:t>Hazırlıklı olma</a:t>
            </a:r>
          </a:p>
          <a:p>
            <a:pPr algn="l">
              <a:spcBef>
                <a:spcPts val="0"/>
              </a:spcBef>
              <a:spcAft>
                <a:spcPts val="0"/>
              </a:spcAft>
            </a:pPr>
            <a:r>
              <a:rPr lang="tr-TR" sz="1560" b="0" i="0">
                <a:solidFill>
                  <a:srgbClr val="2E7D32"/>
                </a:solidFill>
                <a:latin typeface="Calibri"/>
              </a:rPr>
              <a:t>→ Aşama: şemada turuncu; risk yönetimi (afet öncesi)</a:t>
            </a:r>
          </a:p>
        </p:txBody>
      </p:sp>
      <p:sp>
        <p:nvSpPr>
          <p:cNvPr id="14" name="Rounded Rectangle 13"/>
          <p:cNvSpPr/>
          <p:nvPr/>
        </p:nvSpPr>
        <p:spPr>
          <a:xfrm>
            <a:off x="502920" y="2671354"/>
            <a:ext cx="11185855" cy="663593"/>
          </a:xfrm>
          <a:prstGeom prst="roundRect">
            <a:avLst>
              <a:gd name="adj" fmla="val 13779"/>
            </a:avLst>
          </a:prstGeom>
          <a:solidFill>
            <a:srgbClr val="F9E1E1"/>
          </a:solidFill>
          <a:ln w="22225">
            <a:solidFill>
              <a:srgbClr val="D3373A"/>
            </a:solidFill>
          </a:ln>
          <a:effectLst/>
        </p:spPr>
        <p:txBody>
          <a:bodyPr rtlCol="0" anchor="ctr"/>
          <a:lstStyle/>
          <a:p/>
        </p:txBody>
      </p:sp>
      <p:sp>
        <p:nvSpPr>
          <p:cNvPr id="15" name="TextBox 14"/>
          <p:cNvSpPr txBox="1"/>
          <p:nvPr/>
        </p:nvSpPr>
        <p:spPr>
          <a:xfrm>
            <a:off x="557784" y="2671354"/>
            <a:ext cx="365760" cy="663593"/>
          </a:xfrm>
          <a:prstGeom prst="rect">
            <a:avLst/>
          </a:prstGeom>
          <a:noFill/>
        </p:spPr>
        <p:txBody>
          <a:bodyPr wrap="square" anchor="ctr" lIns="0" rIns="0" tIns="36576" bIns="36576">
            <a:noAutofit/>
          </a:bodyPr>
          <a:lstStyle/>
          <a:p>
            <a:pPr algn="ctr">
              <a:spcBef>
                <a:spcPts val="0"/>
              </a:spcBef>
              <a:spcAft>
                <a:spcPts val="0"/>
              </a:spcAft>
            </a:pPr>
            <a:r>
              <a:rPr lang="tr-TR" sz="1500" b="1" i="0">
                <a:solidFill>
                  <a:srgbClr val="767676"/>
                </a:solidFill>
                <a:latin typeface="Calibri"/>
              </a:rPr>
              <a:t>3</a:t>
            </a:r>
          </a:p>
        </p:txBody>
      </p:sp>
      <p:sp>
        <p:nvSpPr>
          <p:cNvPr id="16" name="Rectangle 15"/>
          <p:cNvSpPr/>
          <p:nvPr/>
        </p:nvSpPr>
        <p:spPr>
          <a:xfrm>
            <a:off x="941832" y="2820270"/>
            <a:ext cx="365760" cy="365760"/>
          </a:xfrm>
          <a:prstGeom prst="rect">
            <a:avLst/>
          </a:prstGeom>
          <a:solidFill>
            <a:srgbClr val="D3373A"/>
          </a:solidFill>
          <a:ln>
            <a:noFill/>
          </a:ln>
          <a:effectLst/>
        </p:spPr>
        <p:txBody>
          <a:bodyPr rtlCol="0" anchor="ctr" wrap="square" lIns="0" rIns="0" tIns="0" bIns="0">
            <a:noAutofit/>
          </a:bodyPr>
          <a:lstStyle/>
          <a:p>
            <a:pPr algn="ctr">
              <a:spcBef>
                <a:spcPts val="0"/>
              </a:spcBef>
              <a:spcAft>
                <a:spcPts val="0"/>
              </a:spcAft>
            </a:pPr>
            <a:r>
              <a:rPr lang="tr-TR" sz="2000" b="1" i="0">
                <a:solidFill>
                  <a:srgbClr val="FFFFFF"/>
                </a:solidFill>
                <a:latin typeface="Calibri"/>
              </a:rPr>
              <a:t>✗</a:t>
            </a:r>
          </a:p>
        </p:txBody>
      </p:sp>
      <p:sp>
        <p:nvSpPr>
          <p:cNvPr id="17" name="TextBox 16"/>
          <p:cNvSpPr txBox="1"/>
          <p:nvPr/>
        </p:nvSpPr>
        <p:spPr>
          <a:xfrm>
            <a:off x="1453896" y="2671354"/>
            <a:ext cx="10161727" cy="663593"/>
          </a:xfrm>
          <a:prstGeom prst="rect">
            <a:avLst/>
          </a:prstGeom>
          <a:noFill/>
        </p:spPr>
        <p:txBody>
          <a:bodyPr wrap="square" anchor="ctr" lIns="73152" rIns="73152" tIns="36576" bIns="36576">
            <a:noAutofit/>
          </a:bodyPr>
          <a:lstStyle/>
          <a:p>
            <a:pPr algn="l">
              <a:spcBef>
                <a:spcPts val="0"/>
              </a:spcBef>
              <a:spcAft>
                <a:spcPts val="300"/>
              </a:spcAft>
            </a:pPr>
            <a:r>
              <a:rPr lang="tr-TR" sz="1950" b="0" i="0">
                <a:solidFill>
                  <a:srgbClr val="262626"/>
                </a:solidFill>
                <a:latin typeface="Calibri"/>
              </a:rPr>
              <a:t>Performans ölçümü</a:t>
            </a:r>
          </a:p>
          <a:p>
            <a:pPr algn="l">
              <a:spcBef>
                <a:spcPts val="0"/>
              </a:spcBef>
              <a:spcAft>
                <a:spcPts val="0"/>
              </a:spcAft>
            </a:pPr>
            <a:r>
              <a:rPr lang="tr-TR" sz="1560" b="0" i="0">
                <a:solidFill>
                  <a:srgbClr val="D3373A"/>
                </a:solidFill>
                <a:latin typeface="Calibri"/>
              </a:rPr>
              <a:t>→ Dört aşama arasında yok (s. 202)</a:t>
            </a:r>
          </a:p>
        </p:txBody>
      </p:sp>
      <p:sp>
        <p:nvSpPr>
          <p:cNvPr id="18" name="Rounded Rectangle 17"/>
          <p:cNvSpPr/>
          <p:nvPr/>
        </p:nvSpPr>
        <p:spPr>
          <a:xfrm>
            <a:off x="502920" y="3398955"/>
            <a:ext cx="11185855" cy="663593"/>
          </a:xfrm>
          <a:prstGeom prst="roundRect">
            <a:avLst>
              <a:gd name="adj" fmla="val 13779"/>
            </a:avLst>
          </a:prstGeom>
          <a:solidFill>
            <a:srgbClr val="E3F1E4"/>
          </a:solidFill>
          <a:ln w="22225">
            <a:solidFill>
              <a:srgbClr val="2E7D32"/>
            </a:solidFill>
          </a:ln>
          <a:effectLst/>
        </p:spPr>
        <p:txBody>
          <a:bodyPr rtlCol="0" anchor="ctr"/>
          <a:lstStyle/>
          <a:p/>
        </p:txBody>
      </p:sp>
      <p:sp>
        <p:nvSpPr>
          <p:cNvPr id="19" name="TextBox 18"/>
          <p:cNvSpPr txBox="1"/>
          <p:nvPr/>
        </p:nvSpPr>
        <p:spPr>
          <a:xfrm>
            <a:off x="557784" y="3398955"/>
            <a:ext cx="365760" cy="663593"/>
          </a:xfrm>
          <a:prstGeom prst="rect">
            <a:avLst/>
          </a:prstGeom>
          <a:noFill/>
        </p:spPr>
        <p:txBody>
          <a:bodyPr wrap="square" anchor="ctr" lIns="0" rIns="0" tIns="36576" bIns="36576">
            <a:noAutofit/>
          </a:bodyPr>
          <a:lstStyle/>
          <a:p>
            <a:pPr algn="ctr">
              <a:spcBef>
                <a:spcPts val="0"/>
              </a:spcBef>
              <a:spcAft>
                <a:spcPts val="0"/>
              </a:spcAft>
            </a:pPr>
            <a:r>
              <a:rPr lang="tr-TR" sz="1500" b="1" i="0">
                <a:solidFill>
                  <a:srgbClr val="767676"/>
                </a:solidFill>
                <a:latin typeface="Calibri"/>
              </a:rPr>
              <a:t>4</a:t>
            </a:r>
          </a:p>
        </p:txBody>
      </p:sp>
      <p:sp>
        <p:nvSpPr>
          <p:cNvPr id="20" name="Rectangle 19"/>
          <p:cNvSpPr/>
          <p:nvPr/>
        </p:nvSpPr>
        <p:spPr>
          <a:xfrm>
            <a:off x="941832" y="3547871"/>
            <a:ext cx="365760" cy="365760"/>
          </a:xfrm>
          <a:prstGeom prst="rect">
            <a:avLst/>
          </a:prstGeom>
          <a:solidFill>
            <a:srgbClr val="2E7D32"/>
          </a:solidFill>
          <a:ln>
            <a:noFill/>
          </a:ln>
          <a:effectLst/>
        </p:spPr>
        <p:txBody>
          <a:bodyPr rtlCol="0" anchor="ctr" wrap="square" lIns="0" rIns="0" tIns="0" bIns="0">
            <a:noAutofit/>
          </a:bodyPr>
          <a:lstStyle/>
          <a:p>
            <a:pPr algn="ctr">
              <a:spcBef>
                <a:spcPts val="0"/>
              </a:spcBef>
              <a:spcAft>
                <a:spcPts val="0"/>
              </a:spcAft>
            </a:pPr>
            <a:r>
              <a:rPr lang="tr-TR" sz="2000" b="1" i="0">
                <a:solidFill>
                  <a:srgbClr val="FFFFFF"/>
                </a:solidFill>
                <a:latin typeface="Calibri"/>
              </a:rPr>
              <a:t>✓</a:t>
            </a:r>
          </a:p>
        </p:txBody>
      </p:sp>
      <p:sp>
        <p:nvSpPr>
          <p:cNvPr id="21" name="TextBox 20"/>
          <p:cNvSpPr txBox="1"/>
          <p:nvPr/>
        </p:nvSpPr>
        <p:spPr>
          <a:xfrm>
            <a:off x="1453896" y="3398955"/>
            <a:ext cx="10161727" cy="663593"/>
          </a:xfrm>
          <a:prstGeom prst="rect">
            <a:avLst/>
          </a:prstGeom>
          <a:noFill/>
        </p:spPr>
        <p:txBody>
          <a:bodyPr wrap="square" anchor="ctr" lIns="73152" rIns="73152" tIns="36576" bIns="36576">
            <a:noAutofit/>
          </a:bodyPr>
          <a:lstStyle/>
          <a:p>
            <a:pPr algn="l">
              <a:spcBef>
                <a:spcPts val="0"/>
              </a:spcBef>
              <a:spcAft>
                <a:spcPts val="300"/>
              </a:spcAft>
            </a:pPr>
            <a:r>
              <a:rPr lang="tr-TR" sz="1950" b="1" i="0">
                <a:solidFill>
                  <a:srgbClr val="262626"/>
                </a:solidFill>
                <a:latin typeface="Calibri"/>
              </a:rPr>
              <a:t>Risk ve zarar azaltma</a:t>
            </a:r>
          </a:p>
          <a:p>
            <a:pPr algn="l">
              <a:spcBef>
                <a:spcPts val="0"/>
              </a:spcBef>
              <a:spcAft>
                <a:spcPts val="0"/>
              </a:spcAft>
            </a:pPr>
            <a:r>
              <a:rPr lang="tr-TR" sz="1560" b="0" i="0">
                <a:solidFill>
                  <a:srgbClr val="2E7D32"/>
                </a:solidFill>
                <a:latin typeface="Calibri"/>
              </a:rPr>
              <a:t>→ Aşama: “ilk ve en önemli aşaması” (s. 212)</a:t>
            </a:r>
          </a:p>
        </p:txBody>
      </p:sp>
      <p:sp>
        <p:nvSpPr>
          <p:cNvPr id="22" name="Rounded Rectangle 21"/>
          <p:cNvSpPr/>
          <p:nvPr/>
        </p:nvSpPr>
        <p:spPr>
          <a:xfrm>
            <a:off x="502920" y="4126556"/>
            <a:ext cx="11185855" cy="663593"/>
          </a:xfrm>
          <a:prstGeom prst="roundRect">
            <a:avLst>
              <a:gd name="adj" fmla="val 13779"/>
            </a:avLst>
          </a:prstGeom>
          <a:solidFill>
            <a:srgbClr val="F9E1E1"/>
          </a:solidFill>
          <a:ln w="22225">
            <a:solidFill>
              <a:srgbClr val="D3373A"/>
            </a:solidFill>
          </a:ln>
          <a:effectLst/>
        </p:spPr>
        <p:txBody>
          <a:bodyPr rtlCol="0" anchor="ctr"/>
          <a:lstStyle/>
          <a:p/>
        </p:txBody>
      </p:sp>
      <p:sp>
        <p:nvSpPr>
          <p:cNvPr id="23" name="TextBox 22"/>
          <p:cNvSpPr txBox="1"/>
          <p:nvPr/>
        </p:nvSpPr>
        <p:spPr>
          <a:xfrm>
            <a:off x="557784" y="4126556"/>
            <a:ext cx="365760" cy="663593"/>
          </a:xfrm>
          <a:prstGeom prst="rect">
            <a:avLst/>
          </a:prstGeom>
          <a:noFill/>
        </p:spPr>
        <p:txBody>
          <a:bodyPr wrap="square" anchor="ctr" lIns="0" rIns="0" tIns="36576" bIns="36576">
            <a:noAutofit/>
          </a:bodyPr>
          <a:lstStyle/>
          <a:p>
            <a:pPr algn="ctr">
              <a:spcBef>
                <a:spcPts val="0"/>
              </a:spcBef>
              <a:spcAft>
                <a:spcPts val="0"/>
              </a:spcAft>
            </a:pPr>
            <a:r>
              <a:rPr lang="tr-TR" sz="1500" b="1" i="0">
                <a:solidFill>
                  <a:srgbClr val="767676"/>
                </a:solidFill>
                <a:latin typeface="Calibri"/>
              </a:rPr>
              <a:t>5</a:t>
            </a:r>
          </a:p>
        </p:txBody>
      </p:sp>
      <p:sp>
        <p:nvSpPr>
          <p:cNvPr id="24" name="Rectangle 23"/>
          <p:cNvSpPr/>
          <p:nvPr/>
        </p:nvSpPr>
        <p:spPr>
          <a:xfrm>
            <a:off x="941832" y="4275473"/>
            <a:ext cx="365760" cy="365760"/>
          </a:xfrm>
          <a:prstGeom prst="rect">
            <a:avLst/>
          </a:prstGeom>
          <a:solidFill>
            <a:srgbClr val="D3373A"/>
          </a:solidFill>
          <a:ln>
            <a:noFill/>
          </a:ln>
          <a:effectLst/>
        </p:spPr>
        <p:txBody>
          <a:bodyPr rtlCol="0" anchor="ctr" wrap="square" lIns="0" rIns="0" tIns="0" bIns="0">
            <a:noAutofit/>
          </a:bodyPr>
          <a:lstStyle/>
          <a:p>
            <a:pPr algn="ctr">
              <a:spcBef>
                <a:spcPts val="0"/>
              </a:spcBef>
              <a:spcAft>
                <a:spcPts val="0"/>
              </a:spcAft>
            </a:pPr>
            <a:r>
              <a:rPr lang="tr-TR" sz="2000" b="1" i="0">
                <a:solidFill>
                  <a:srgbClr val="FFFFFF"/>
                </a:solidFill>
                <a:latin typeface="Calibri"/>
              </a:rPr>
              <a:t>✗</a:t>
            </a:r>
          </a:p>
        </p:txBody>
      </p:sp>
      <p:sp>
        <p:nvSpPr>
          <p:cNvPr id="25" name="TextBox 24"/>
          <p:cNvSpPr txBox="1"/>
          <p:nvPr/>
        </p:nvSpPr>
        <p:spPr>
          <a:xfrm>
            <a:off x="1453896" y="4126556"/>
            <a:ext cx="10161727" cy="663593"/>
          </a:xfrm>
          <a:prstGeom prst="rect">
            <a:avLst/>
          </a:prstGeom>
          <a:noFill/>
        </p:spPr>
        <p:txBody>
          <a:bodyPr wrap="square" anchor="ctr" lIns="73152" rIns="73152" tIns="36576" bIns="36576">
            <a:noAutofit/>
          </a:bodyPr>
          <a:lstStyle/>
          <a:p>
            <a:pPr algn="l">
              <a:spcBef>
                <a:spcPts val="0"/>
              </a:spcBef>
              <a:spcAft>
                <a:spcPts val="300"/>
              </a:spcAft>
            </a:pPr>
            <a:r>
              <a:rPr lang="tr-TR" sz="1950" b="0" i="0">
                <a:solidFill>
                  <a:srgbClr val="262626"/>
                </a:solidFill>
                <a:latin typeface="Calibri"/>
              </a:rPr>
              <a:t>Belge ve kayıt kontrolü</a:t>
            </a:r>
          </a:p>
          <a:p>
            <a:pPr algn="l">
              <a:spcBef>
                <a:spcPts val="0"/>
              </a:spcBef>
              <a:spcAft>
                <a:spcPts val="0"/>
              </a:spcAft>
            </a:pPr>
            <a:r>
              <a:rPr lang="tr-TR" sz="1560" b="0" i="0">
                <a:solidFill>
                  <a:srgbClr val="D3373A"/>
                </a:solidFill>
                <a:latin typeface="Calibri"/>
              </a:rPr>
              <a:t>→ Dört aşama arasında yok (s. 202)</a:t>
            </a:r>
          </a:p>
        </p:txBody>
      </p:sp>
      <p:sp>
        <p:nvSpPr>
          <p:cNvPr id="26" name="Rounded Rectangle 25"/>
          <p:cNvSpPr/>
          <p:nvPr/>
        </p:nvSpPr>
        <p:spPr>
          <a:xfrm>
            <a:off x="502920" y="4854157"/>
            <a:ext cx="11185855" cy="663593"/>
          </a:xfrm>
          <a:prstGeom prst="roundRect">
            <a:avLst>
              <a:gd name="adj" fmla="val 13779"/>
            </a:avLst>
          </a:prstGeom>
          <a:solidFill>
            <a:srgbClr val="E3F1E4"/>
          </a:solidFill>
          <a:ln w="22225">
            <a:solidFill>
              <a:srgbClr val="2E7D32"/>
            </a:solidFill>
          </a:ln>
          <a:effectLst/>
        </p:spPr>
        <p:txBody>
          <a:bodyPr rtlCol="0" anchor="ctr"/>
          <a:lstStyle/>
          <a:p/>
        </p:txBody>
      </p:sp>
      <p:sp>
        <p:nvSpPr>
          <p:cNvPr id="27" name="TextBox 26"/>
          <p:cNvSpPr txBox="1"/>
          <p:nvPr/>
        </p:nvSpPr>
        <p:spPr>
          <a:xfrm>
            <a:off x="557784" y="4854157"/>
            <a:ext cx="365760" cy="663593"/>
          </a:xfrm>
          <a:prstGeom prst="rect">
            <a:avLst/>
          </a:prstGeom>
          <a:noFill/>
        </p:spPr>
        <p:txBody>
          <a:bodyPr wrap="square" anchor="ctr" lIns="0" rIns="0" tIns="36576" bIns="36576">
            <a:noAutofit/>
          </a:bodyPr>
          <a:lstStyle/>
          <a:p>
            <a:pPr algn="ctr">
              <a:spcBef>
                <a:spcPts val="0"/>
              </a:spcBef>
              <a:spcAft>
                <a:spcPts val="0"/>
              </a:spcAft>
            </a:pPr>
            <a:r>
              <a:rPr lang="tr-TR" sz="1500" b="1" i="0">
                <a:solidFill>
                  <a:srgbClr val="767676"/>
                </a:solidFill>
                <a:latin typeface="Calibri"/>
              </a:rPr>
              <a:t>6</a:t>
            </a:r>
          </a:p>
        </p:txBody>
      </p:sp>
      <p:sp>
        <p:nvSpPr>
          <p:cNvPr id="28" name="Rectangle 27"/>
          <p:cNvSpPr/>
          <p:nvPr/>
        </p:nvSpPr>
        <p:spPr>
          <a:xfrm>
            <a:off x="941832" y="5003074"/>
            <a:ext cx="365760" cy="365760"/>
          </a:xfrm>
          <a:prstGeom prst="rect">
            <a:avLst/>
          </a:prstGeom>
          <a:solidFill>
            <a:srgbClr val="2E7D32"/>
          </a:solidFill>
          <a:ln>
            <a:noFill/>
          </a:ln>
          <a:effectLst/>
        </p:spPr>
        <p:txBody>
          <a:bodyPr rtlCol="0" anchor="ctr" wrap="square" lIns="0" rIns="0" tIns="0" bIns="0">
            <a:noAutofit/>
          </a:bodyPr>
          <a:lstStyle/>
          <a:p>
            <a:pPr algn="ctr">
              <a:spcBef>
                <a:spcPts val="0"/>
              </a:spcBef>
              <a:spcAft>
                <a:spcPts val="0"/>
              </a:spcAft>
            </a:pPr>
            <a:r>
              <a:rPr lang="tr-TR" sz="2000" b="1" i="0">
                <a:solidFill>
                  <a:srgbClr val="FFFFFF"/>
                </a:solidFill>
                <a:latin typeface="Calibri"/>
              </a:rPr>
              <a:t>✓</a:t>
            </a:r>
          </a:p>
        </p:txBody>
      </p:sp>
      <p:sp>
        <p:nvSpPr>
          <p:cNvPr id="29" name="TextBox 28"/>
          <p:cNvSpPr txBox="1"/>
          <p:nvPr/>
        </p:nvSpPr>
        <p:spPr>
          <a:xfrm>
            <a:off x="1453896" y="4854157"/>
            <a:ext cx="10161727" cy="663593"/>
          </a:xfrm>
          <a:prstGeom prst="rect">
            <a:avLst/>
          </a:prstGeom>
          <a:noFill/>
        </p:spPr>
        <p:txBody>
          <a:bodyPr wrap="square" anchor="ctr" lIns="73152" rIns="73152" tIns="36576" bIns="36576">
            <a:noAutofit/>
          </a:bodyPr>
          <a:lstStyle/>
          <a:p>
            <a:pPr algn="l">
              <a:spcBef>
                <a:spcPts val="0"/>
              </a:spcBef>
              <a:spcAft>
                <a:spcPts val="300"/>
              </a:spcAft>
            </a:pPr>
            <a:r>
              <a:rPr lang="tr-TR" sz="1950" b="1" i="0">
                <a:solidFill>
                  <a:srgbClr val="262626"/>
                </a:solidFill>
                <a:latin typeface="Calibri"/>
              </a:rPr>
              <a:t>İyileştirme</a:t>
            </a:r>
          </a:p>
          <a:p>
            <a:pPr algn="l">
              <a:spcBef>
                <a:spcPts val="0"/>
              </a:spcBef>
              <a:spcAft>
                <a:spcPts val="0"/>
              </a:spcAft>
            </a:pPr>
            <a:r>
              <a:rPr lang="tr-TR" sz="1560" b="0" i="0">
                <a:solidFill>
                  <a:srgbClr val="2E7D32"/>
                </a:solidFill>
                <a:latin typeface="Calibri"/>
              </a:rPr>
              <a:t>→ Aşama: şemada yeşil; kriz yönetimi (afet sonrası)</a:t>
            </a:r>
          </a:p>
        </p:txBody>
      </p:sp>
      <p:sp>
        <p:nvSpPr>
          <p:cNvPr id="30" name="Rounded Rectangle 29"/>
          <p:cNvSpPr/>
          <p:nvPr/>
        </p:nvSpPr>
        <p:spPr>
          <a:xfrm>
            <a:off x="502920" y="5581758"/>
            <a:ext cx="11185855" cy="663593"/>
          </a:xfrm>
          <a:prstGeom prst="roundRect">
            <a:avLst>
              <a:gd name="adj" fmla="val 13779"/>
            </a:avLst>
          </a:prstGeom>
          <a:solidFill>
            <a:srgbClr val="E3F1E4"/>
          </a:solidFill>
          <a:ln w="22225">
            <a:solidFill>
              <a:srgbClr val="2E7D32"/>
            </a:solidFill>
          </a:ln>
          <a:effectLst/>
        </p:spPr>
        <p:txBody>
          <a:bodyPr rtlCol="0" anchor="ctr"/>
          <a:lstStyle/>
          <a:p/>
        </p:txBody>
      </p:sp>
      <p:sp>
        <p:nvSpPr>
          <p:cNvPr id="31" name="TextBox 30"/>
          <p:cNvSpPr txBox="1"/>
          <p:nvPr/>
        </p:nvSpPr>
        <p:spPr>
          <a:xfrm>
            <a:off x="557784" y="5581758"/>
            <a:ext cx="365760" cy="663593"/>
          </a:xfrm>
          <a:prstGeom prst="rect">
            <a:avLst/>
          </a:prstGeom>
          <a:noFill/>
        </p:spPr>
        <p:txBody>
          <a:bodyPr wrap="square" anchor="ctr" lIns="0" rIns="0" tIns="36576" bIns="36576">
            <a:noAutofit/>
          </a:bodyPr>
          <a:lstStyle/>
          <a:p>
            <a:pPr algn="ctr">
              <a:spcBef>
                <a:spcPts val="0"/>
              </a:spcBef>
              <a:spcAft>
                <a:spcPts val="0"/>
              </a:spcAft>
            </a:pPr>
            <a:r>
              <a:rPr lang="tr-TR" sz="1500" b="1" i="0">
                <a:solidFill>
                  <a:srgbClr val="767676"/>
                </a:solidFill>
                <a:latin typeface="Calibri"/>
              </a:rPr>
              <a:t>7</a:t>
            </a:r>
          </a:p>
        </p:txBody>
      </p:sp>
      <p:sp>
        <p:nvSpPr>
          <p:cNvPr id="32" name="Rectangle 31"/>
          <p:cNvSpPr/>
          <p:nvPr/>
        </p:nvSpPr>
        <p:spPr>
          <a:xfrm>
            <a:off x="941832" y="5730675"/>
            <a:ext cx="365760" cy="365760"/>
          </a:xfrm>
          <a:prstGeom prst="rect">
            <a:avLst/>
          </a:prstGeom>
          <a:solidFill>
            <a:srgbClr val="2E7D32"/>
          </a:solidFill>
          <a:ln>
            <a:noFill/>
          </a:ln>
          <a:effectLst/>
        </p:spPr>
        <p:txBody>
          <a:bodyPr rtlCol="0" anchor="ctr" wrap="square" lIns="0" rIns="0" tIns="0" bIns="0">
            <a:noAutofit/>
          </a:bodyPr>
          <a:lstStyle/>
          <a:p>
            <a:pPr algn="ctr">
              <a:spcBef>
                <a:spcPts val="0"/>
              </a:spcBef>
              <a:spcAft>
                <a:spcPts val="0"/>
              </a:spcAft>
            </a:pPr>
            <a:r>
              <a:rPr lang="tr-TR" sz="2000" b="1" i="0">
                <a:solidFill>
                  <a:srgbClr val="FFFFFF"/>
                </a:solidFill>
                <a:latin typeface="Calibri"/>
              </a:rPr>
              <a:t>✓</a:t>
            </a:r>
          </a:p>
        </p:txBody>
      </p:sp>
      <p:sp>
        <p:nvSpPr>
          <p:cNvPr id="33" name="TextBox 32"/>
          <p:cNvSpPr txBox="1"/>
          <p:nvPr/>
        </p:nvSpPr>
        <p:spPr>
          <a:xfrm>
            <a:off x="1453896" y="5581758"/>
            <a:ext cx="10161727" cy="663593"/>
          </a:xfrm>
          <a:prstGeom prst="rect">
            <a:avLst/>
          </a:prstGeom>
          <a:noFill/>
        </p:spPr>
        <p:txBody>
          <a:bodyPr wrap="square" anchor="ctr" lIns="73152" rIns="73152" tIns="36576" bIns="36576">
            <a:noAutofit/>
          </a:bodyPr>
          <a:lstStyle/>
          <a:p>
            <a:pPr algn="l">
              <a:spcBef>
                <a:spcPts val="0"/>
              </a:spcBef>
              <a:spcAft>
                <a:spcPts val="300"/>
              </a:spcAft>
            </a:pPr>
            <a:r>
              <a:rPr lang="tr-TR" sz="1950" b="1" i="0">
                <a:solidFill>
                  <a:srgbClr val="262626"/>
                </a:solidFill>
                <a:latin typeface="Calibri"/>
              </a:rPr>
              <a:t>Müdahale</a:t>
            </a:r>
          </a:p>
          <a:p>
            <a:pPr algn="l">
              <a:spcBef>
                <a:spcPts val="0"/>
              </a:spcBef>
              <a:spcAft>
                <a:spcPts val="0"/>
              </a:spcAft>
            </a:pPr>
            <a:r>
              <a:rPr lang="tr-TR" sz="1560" b="0" i="0">
                <a:solidFill>
                  <a:srgbClr val="2E7D32"/>
                </a:solidFill>
                <a:latin typeface="Calibri"/>
              </a:rPr>
              <a:t>→ Aşama: şemada kırmızı; kriz yönetimi (afet esnası)</a:t>
            </a:r>
          </a:p>
        </p:txBody>
      </p:sp>
      <p:sp>
        <p:nvSpPr>
          <p:cNvPr id="34" name="TextBox 33"/>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35" name="Rounded Rectangle 34"/>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202, 212-213</a:t>
            </a:r>
          </a:p>
        </p:txBody>
      </p:sp>
      <p:sp>
        <p:nvSpPr>
          <p:cNvPr id="36" name="TextBox 35"/>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242 / 250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Ünite ölçme: 7. soru</a:t>
            </a:r>
          </a:p>
        </p:txBody>
      </p:sp>
      <p:sp>
        <p:nvSpPr>
          <p:cNvPr id="5" name="Rounded Rectangle 4"/>
          <p:cNvSpPr/>
          <p:nvPr/>
        </p:nvSpPr>
        <p:spPr>
          <a:xfrm>
            <a:off x="9555480" y="201168"/>
            <a:ext cx="2221992" cy="475488"/>
          </a:xfrm>
          <a:prstGeom prst="roundRect">
            <a:avLst>
              <a:gd name="adj" fmla="val 50000"/>
            </a:avLst>
          </a:prstGeom>
          <a:solidFill>
            <a:srgbClr val="D3373A"/>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SORU 7</a:t>
            </a:r>
          </a:p>
        </p:txBody>
      </p:sp>
      <p:sp>
        <p:nvSpPr>
          <p:cNvPr id="6" name="Rounded Rectangle 5"/>
          <p:cNvSpPr/>
          <p:nvPr/>
        </p:nvSpPr>
        <p:spPr>
          <a:xfrm>
            <a:off x="502920" y="1216152"/>
            <a:ext cx="6537960" cy="5029200"/>
          </a:xfrm>
          <a:prstGeom prst="roundRect">
            <a:avLst>
              <a:gd name="adj" fmla="val 6000"/>
            </a:avLst>
          </a:prstGeom>
          <a:solidFill>
            <a:srgbClr val="FFF3D1"/>
          </a:solidFill>
          <a:ln>
            <a:noFill/>
          </a:ln>
          <a:effectLst/>
        </p:spPr>
        <p:txBody>
          <a:bodyPr rtlCol="0" anchor="ctr"/>
          <a:lstStyle/>
          <a:p/>
        </p:txBody>
      </p:sp>
      <p:sp>
        <p:nvSpPr>
          <p:cNvPr id="7" name="Oval 6"/>
          <p:cNvSpPr/>
          <p:nvPr/>
        </p:nvSpPr>
        <p:spPr>
          <a:xfrm>
            <a:off x="640080" y="1353312"/>
            <a:ext cx="566928" cy="566928"/>
          </a:xfrm>
          <a:prstGeom prst="ellipse">
            <a:avLst/>
          </a:prstGeom>
          <a:solidFill>
            <a:srgbClr val="D3373A"/>
          </a:solidFill>
          <a:ln>
            <a:noFill/>
          </a:ln>
          <a:effectLst/>
        </p:spPr>
        <p:txBody>
          <a:bodyPr rtlCol="0" anchor="ctr" wrap="none" lIns="0" rIns="0" tIns="0" bIns="0">
            <a:noAutofit/>
          </a:bodyPr>
          <a:lstStyle/>
          <a:p>
            <a:pPr algn="ctr">
              <a:spcBef>
                <a:spcPts val="0"/>
              </a:spcBef>
              <a:spcAft>
                <a:spcPts val="0"/>
              </a:spcAft>
            </a:pPr>
            <a:r>
              <a:rPr lang="tr-TR" sz="2200" b="1" i="0">
                <a:solidFill>
                  <a:srgbClr val="FFFFFF"/>
                </a:solidFill>
                <a:latin typeface="Calibri"/>
              </a:rPr>
              <a:t>7</a:t>
            </a:r>
          </a:p>
        </p:txBody>
      </p:sp>
      <p:sp>
        <p:nvSpPr>
          <p:cNvPr id="8" name="TextBox 7"/>
          <p:cNvSpPr txBox="1"/>
          <p:nvPr/>
        </p:nvSpPr>
        <p:spPr>
          <a:xfrm>
            <a:off x="1325880" y="1289304"/>
            <a:ext cx="5623560" cy="4882896"/>
          </a:xfrm>
          <a:prstGeom prst="rect">
            <a:avLst/>
          </a:prstGeom>
          <a:noFill/>
        </p:spPr>
        <p:txBody>
          <a:bodyPr wrap="square" anchor="ctr" lIns="73152" rIns="73152" tIns="36576" bIns="36576">
            <a:noAutofit/>
          </a:bodyPr>
          <a:lstStyle/>
          <a:p>
            <a:pPr algn="l">
              <a:spcBef>
                <a:spcPts val="0"/>
              </a:spcBef>
              <a:spcAft>
                <a:spcPts val="400"/>
              </a:spcAft>
            </a:pPr>
            <a:r>
              <a:rPr lang="tr-TR" sz="2600" b="1" i="0">
                <a:solidFill>
                  <a:srgbClr val="262626"/>
                </a:solidFill>
                <a:latin typeface="Calibri"/>
              </a:rPr>
              <a:t>Afet sonrası ideal iyileştirme süreci ile ilgili olarak</a:t>
            </a:r>
          </a:p>
          <a:p>
            <a:pPr algn="l">
              <a:spcBef>
                <a:spcPts val="0"/>
              </a:spcBef>
              <a:spcAft>
                <a:spcPts val="400"/>
              </a:spcAft>
            </a:pPr>
            <a:r>
              <a:rPr lang="tr-TR" sz="2600" b="1" i="0">
                <a:solidFill>
                  <a:srgbClr val="262626"/>
                </a:solidFill>
                <a:latin typeface="Calibri"/>
              </a:rPr>
              <a:t>I.  Afet öncesi oluşan sorunları tanımlama</a:t>
            </a:r>
          </a:p>
          <a:p>
            <a:pPr algn="l">
              <a:spcBef>
                <a:spcPts val="0"/>
              </a:spcBef>
              <a:spcAft>
                <a:spcPts val="400"/>
              </a:spcAft>
            </a:pPr>
            <a:r>
              <a:rPr lang="tr-TR" sz="2600" b="1" i="0">
                <a:solidFill>
                  <a:srgbClr val="262626"/>
                </a:solidFill>
                <a:latin typeface="Calibri"/>
              </a:rPr>
              <a:t>II.  Halkın katılımını sağlama</a:t>
            </a:r>
          </a:p>
          <a:p>
            <a:pPr algn="l">
              <a:spcBef>
                <a:spcPts val="0"/>
              </a:spcBef>
              <a:spcAft>
                <a:spcPts val="400"/>
              </a:spcAft>
            </a:pPr>
            <a:r>
              <a:rPr lang="tr-TR" sz="2600" b="1" i="0">
                <a:solidFill>
                  <a:srgbClr val="262626"/>
                </a:solidFill>
                <a:latin typeface="Calibri"/>
              </a:rPr>
              <a:t>III.  Oluşabilecek yeni afetlere karşı tedbir alma</a:t>
            </a:r>
          </a:p>
          <a:p>
            <a:pPr algn="l">
              <a:spcBef>
                <a:spcPts val="0"/>
              </a:spcBef>
              <a:spcAft>
                <a:spcPts val="0"/>
              </a:spcAft>
            </a:pPr>
            <a:r>
              <a:rPr lang="tr-TR" sz="2600" b="1" i="0">
                <a:solidFill>
                  <a:srgbClr val="262626"/>
                </a:solidFill>
                <a:latin typeface="Calibri"/>
              </a:rPr>
              <a:t>maddelerinden hangileri doğrudur?</a:t>
            </a:r>
          </a:p>
        </p:txBody>
      </p:sp>
      <p:sp>
        <p:nvSpPr>
          <p:cNvPr id="9" name="Rounded Rectangle 8"/>
          <p:cNvSpPr/>
          <p:nvPr/>
        </p:nvSpPr>
        <p:spPr>
          <a:xfrm>
            <a:off x="7242048" y="1216152"/>
            <a:ext cx="4446727" cy="731520"/>
          </a:xfrm>
          <a:prstGeom prst="roundRect">
            <a:avLst>
              <a:gd name="adj" fmla="val 15000"/>
            </a:avLst>
          </a:prstGeom>
          <a:solidFill>
            <a:srgbClr val="FFFFFF"/>
          </a:solidFill>
          <a:ln w="12700">
            <a:solidFill>
              <a:srgbClr val="D9D9D9"/>
            </a:solidFill>
          </a:ln>
          <a:effectLst/>
        </p:spPr>
        <p:txBody>
          <a:bodyPr rtlCol="0" anchor="ctr"/>
          <a:lstStyle/>
          <a:p/>
        </p:txBody>
      </p:sp>
      <p:sp>
        <p:nvSpPr>
          <p:cNvPr id="10" name="Oval 9"/>
          <p:cNvSpPr/>
          <p:nvPr/>
        </p:nvSpPr>
        <p:spPr>
          <a:xfrm>
            <a:off x="7324344" y="1353312"/>
            <a:ext cx="457200" cy="45720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A</a:t>
            </a:r>
          </a:p>
        </p:txBody>
      </p:sp>
      <p:sp>
        <p:nvSpPr>
          <p:cNvPr id="11" name="TextBox 10"/>
          <p:cNvSpPr txBox="1"/>
          <p:nvPr/>
        </p:nvSpPr>
        <p:spPr>
          <a:xfrm>
            <a:off x="7845552" y="1216152"/>
            <a:ext cx="3770071" cy="731520"/>
          </a:xfrm>
          <a:prstGeom prst="rect">
            <a:avLst/>
          </a:prstGeom>
          <a:noFill/>
        </p:spPr>
        <p:txBody>
          <a:bodyPr wrap="square" anchor="ctr" lIns="73152" rIns="73152" tIns="36576" bIns="36576">
            <a:noAutofit/>
          </a:bodyPr>
          <a:lstStyle/>
          <a:p>
            <a:pPr algn="l">
              <a:spcBef>
                <a:spcPts val="0"/>
              </a:spcBef>
              <a:spcAft>
                <a:spcPts val="0"/>
              </a:spcAft>
            </a:pPr>
            <a:r>
              <a:rPr lang="tr-TR" sz="2600" b="0" i="0">
                <a:solidFill>
                  <a:srgbClr val="262626"/>
                </a:solidFill>
                <a:latin typeface="Calibri"/>
              </a:rPr>
              <a:t>Yalnız I</a:t>
            </a:r>
          </a:p>
        </p:txBody>
      </p:sp>
      <p:sp>
        <p:nvSpPr>
          <p:cNvPr id="12" name="Rounded Rectangle 11"/>
          <p:cNvSpPr/>
          <p:nvPr/>
        </p:nvSpPr>
        <p:spPr>
          <a:xfrm>
            <a:off x="7242048" y="2075688"/>
            <a:ext cx="4446727" cy="731520"/>
          </a:xfrm>
          <a:prstGeom prst="roundRect">
            <a:avLst>
              <a:gd name="adj" fmla="val 15000"/>
            </a:avLst>
          </a:prstGeom>
          <a:solidFill>
            <a:srgbClr val="FFFFFF"/>
          </a:solidFill>
          <a:ln w="12700">
            <a:solidFill>
              <a:srgbClr val="D9D9D9"/>
            </a:solidFill>
          </a:ln>
          <a:effectLst/>
        </p:spPr>
        <p:txBody>
          <a:bodyPr rtlCol="0" anchor="ctr"/>
          <a:lstStyle/>
          <a:p/>
        </p:txBody>
      </p:sp>
      <p:sp>
        <p:nvSpPr>
          <p:cNvPr id="13" name="Oval 12"/>
          <p:cNvSpPr/>
          <p:nvPr/>
        </p:nvSpPr>
        <p:spPr>
          <a:xfrm>
            <a:off x="7324344" y="2212848"/>
            <a:ext cx="457200" cy="45720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B</a:t>
            </a:r>
          </a:p>
        </p:txBody>
      </p:sp>
      <p:sp>
        <p:nvSpPr>
          <p:cNvPr id="14" name="TextBox 13"/>
          <p:cNvSpPr txBox="1"/>
          <p:nvPr/>
        </p:nvSpPr>
        <p:spPr>
          <a:xfrm>
            <a:off x="7845552" y="2075688"/>
            <a:ext cx="3770071" cy="731520"/>
          </a:xfrm>
          <a:prstGeom prst="rect">
            <a:avLst/>
          </a:prstGeom>
          <a:noFill/>
        </p:spPr>
        <p:txBody>
          <a:bodyPr wrap="square" anchor="ctr" lIns="73152" rIns="73152" tIns="36576" bIns="36576">
            <a:noAutofit/>
          </a:bodyPr>
          <a:lstStyle/>
          <a:p>
            <a:pPr algn="l">
              <a:spcBef>
                <a:spcPts val="0"/>
              </a:spcBef>
              <a:spcAft>
                <a:spcPts val="0"/>
              </a:spcAft>
            </a:pPr>
            <a:r>
              <a:rPr lang="tr-TR" sz="2600" b="0" i="0">
                <a:solidFill>
                  <a:srgbClr val="262626"/>
                </a:solidFill>
                <a:latin typeface="Calibri"/>
              </a:rPr>
              <a:t>Yalnız II</a:t>
            </a:r>
          </a:p>
        </p:txBody>
      </p:sp>
      <p:sp>
        <p:nvSpPr>
          <p:cNvPr id="15" name="Rounded Rectangle 14"/>
          <p:cNvSpPr/>
          <p:nvPr/>
        </p:nvSpPr>
        <p:spPr>
          <a:xfrm>
            <a:off x="7242048" y="2935224"/>
            <a:ext cx="4446727" cy="731520"/>
          </a:xfrm>
          <a:prstGeom prst="roundRect">
            <a:avLst>
              <a:gd name="adj" fmla="val 15000"/>
            </a:avLst>
          </a:prstGeom>
          <a:solidFill>
            <a:srgbClr val="FFFFFF"/>
          </a:solidFill>
          <a:ln w="12700">
            <a:solidFill>
              <a:srgbClr val="D9D9D9"/>
            </a:solidFill>
          </a:ln>
          <a:effectLst/>
        </p:spPr>
        <p:txBody>
          <a:bodyPr rtlCol="0" anchor="ctr"/>
          <a:lstStyle/>
          <a:p/>
        </p:txBody>
      </p:sp>
      <p:sp>
        <p:nvSpPr>
          <p:cNvPr id="16" name="Oval 15"/>
          <p:cNvSpPr/>
          <p:nvPr/>
        </p:nvSpPr>
        <p:spPr>
          <a:xfrm>
            <a:off x="7324344" y="3072384"/>
            <a:ext cx="457200" cy="45720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C</a:t>
            </a:r>
          </a:p>
        </p:txBody>
      </p:sp>
      <p:sp>
        <p:nvSpPr>
          <p:cNvPr id="17" name="TextBox 16"/>
          <p:cNvSpPr txBox="1"/>
          <p:nvPr/>
        </p:nvSpPr>
        <p:spPr>
          <a:xfrm>
            <a:off x="7845552" y="2935224"/>
            <a:ext cx="3770071" cy="731520"/>
          </a:xfrm>
          <a:prstGeom prst="rect">
            <a:avLst/>
          </a:prstGeom>
          <a:noFill/>
        </p:spPr>
        <p:txBody>
          <a:bodyPr wrap="square" anchor="ctr" lIns="73152" rIns="73152" tIns="36576" bIns="36576">
            <a:noAutofit/>
          </a:bodyPr>
          <a:lstStyle/>
          <a:p>
            <a:pPr algn="l">
              <a:spcBef>
                <a:spcPts val="0"/>
              </a:spcBef>
              <a:spcAft>
                <a:spcPts val="0"/>
              </a:spcAft>
            </a:pPr>
            <a:r>
              <a:rPr lang="tr-TR" sz="2600" b="0" i="0">
                <a:solidFill>
                  <a:srgbClr val="262626"/>
                </a:solidFill>
                <a:latin typeface="Calibri"/>
              </a:rPr>
              <a:t>I ve II</a:t>
            </a:r>
          </a:p>
        </p:txBody>
      </p:sp>
      <p:sp>
        <p:nvSpPr>
          <p:cNvPr id="18" name="Rounded Rectangle 17"/>
          <p:cNvSpPr/>
          <p:nvPr/>
        </p:nvSpPr>
        <p:spPr>
          <a:xfrm>
            <a:off x="7242048" y="3794760"/>
            <a:ext cx="4446727" cy="731520"/>
          </a:xfrm>
          <a:prstGeom prst="roundRect">
            <a:avLst>
              <a:gd name="adj" fmla="val 15000"/>
            </a:avLst>
          </a:prstGeom>
          <a:solidFill>
            <a:srgbClr val="FFFFFF"/>
          </a:solidFill>
          <a:ln w="12700">
            <a:solidFill>
              <a:srgbClr val="D9D9D9"/>
            </a:solidFill>
          </a:ln>
          <a:effectLst/>
        </p:spPr>
        <p:txBody>
          <a:bodyPr rtlCol="0" anchor="ctr"/>
          <a:lstStyle/>
          <a:p/>
        </p:txBody>
      </p:sp>
      <p:sp>
        <p:nvSpPr>
          <p:cNvPr id="19" name="Oval 18"/>
          <p:cNvSpPr/>
          <p:nvPr/>
        </p:nvSpPr>
        <p:spPr>
          <a:xfrm>
            <a:off x="7324344" y="3931920"/>
            <a:ext cx="457200" cy="45720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D</a:t>
            </a:r>
          </a:p>
        </p:txBody>
      </p:sp>
      <p:sp>
        <p:nvSpPr>
          <p:cNvPr id="20" name="TextBox 19"/>
          <p:cNvSpPr txBox="1"/>
          <p:nvPr/>
        </p:nvSpPr>
        <p:spPr>
          <a:xfrm>
            <a:off x="7845552" y="3794760"/>
            <a:ext cx="3770071" cy="731520"/>
          </a:xfrm>
          <a:prstGeom prst="rect">
            <a:avLst/>
          </a:prstGeom>
          <a:noFill/>
        </p:spPr>
        <p:txBody>
          <a:bodyPr wrap="square" anchor="ctr" lIns="73152" rIns="73152" tIns="36576" bIns="36576">
            <a:noAutofit/>
          </a:bodyPr>
          <a:lstStyle/>
          <a:p>
            <a:pPr algn="l">
              <a:spcBef>
                <a:spcPts val="0"/>
              </a:spcBef>
              <a:spcAft>
                <a:spcPts val="0"/>
              </a:spcAft>
            </a:pPr>
            <a:r>
              <a:rPr lang="tr-TR" sz="2600" b="0" i="0">
                <a:solidFill>
                  <a:srgbClr val="262626"/>
                </a:solidFill>
                <a:latin typeface="Calibri"/>
              </a:rPr>
              <a:t>II ve III</a:t>
            </a:r>
          </a:p>
        </p:txBody>
      </p:sp>
      <p:sp>
        <p:nvSpPr>
          <p:cNvPr id="21" name="Rounded Rectangle 20"/>
          <p:cNvSpPr/>
          <p:nvPr/>
        </p:nvSpPr>
        <p:spPr>
          <a:xfrm>
            <a:off x="7242048" y="4654296"/>
            <a:ext cx="4446727" cy="731520"/>
          </a:xfrm>
          <a:prstGeom prst="roundRect">
            <a:avLst>
              <a:gd name="adj" fmla="val 15000"/>
            </a:avLst>
          </a:prstGeom>
          <a:solidFill>
            <a:srgbClr val="FFFFFF"/>
          </a:solidFill>
          <a:ln w="12700">
            <a:solidFill>
              <a:srgbClr val="D9D9D9"/>
            </a:solidFill>
          </a:ln>
          <a:effectLst/>
        </p:spPr>
        <p:txBody>
          <a:bodyPr rtlCol="0" anchor="ctr"/>
          <a:lstStyle/>
          <a:p/>
        </p:txBody>
      </p:sp>
      <p:sp>
        <p:nvSpPr>
          <p:cNvPr id="22" name="Oval 21"/>
          <p:cNvSpPr/>
          <p:nvPr/>
        </p:nvSpPr>
        <p:spPr>
          <a:xfrm>
            <a:off x="7324344" y="4791456"/>
            <a:ext cx="457200" cy="45720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E</a:t>
            </a:r>
          </a:p>
        </p:txBody>
      </p:sp>
      <p:sp>
        <p:nvSpPr>
          <p:cNvPr id="23" name="TextBox 22"/>
          <p:cNvSpPr txBox="1"/>
          <p:nvPr/>
        </p:nvSpPr>
        <p:spPr>
          <a:xfrm>
            <a:off x="7845552" y="4654296"/>
            <a:ext cx="3770071" cy="731520"/>
          </a:xfrm>
          <a:prstGeom prst="rect">
            <a:avLst/>
          </a:prstGeom>
          <a:noFill/>
        </p:spPr>
        <p:txBody>
          <a:bodyPr wrap="square" anchor="ctr" lIns="73152" rIns="73152" tIns="36576" bIns="36576">
            <a:noAutofit/>
          </a:bodyPr>
          <a:lstStyle/>
          <a:p>
            <a:pPr algn="l">
              <a:spcBef>
                <a:spcPts val="0"/>
              </a:spcBef>
              <a:spcAft>
                <a:spcPts val="0"/>
              </a:spcAft>
            </a:pPr>
            <a:r>
              <a:rPr lang="tr-TR" sz="2600" b="0" i="0">
                <a:solidFill>
                  <a:srgbClr val="262626"/>
                </a:solidFill>
                <a:latin typeface="Calibri"/>
              </a:rPr>
              <a:t>I, II ve III</a:t>
            </a:r>
          </a:p>
        </p:txBody>
      </p:sp>
      <p:sp>
        <p:nvSpPr>
          <p:cNvPr id="24" name="TextBox 23"/>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25" name="Rounded Rectangle 24"/>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213</a:t>
            </a:r>
          </a:p>
        </p:txBody>
      </p:sp>
      <p:sp>
        <p:nvSpPr>
          <p:cNvPr id="26" name="TextBox 25"/>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243 / 250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7. soru —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SORU 7</a:t>
            </a:r>
          </a:p>
        </p:txBody>
      </p:sp>
      <p:sp>
        <p:nvSpPr>
          <p:cNvPr id="6" name="Rounded Rectangle 5"/>
          <p:cNvSpPr/>
          <p:nvPr/>
        </p:nvSpPr>
        <p:spPr>
          <a:xfrm>
            <a:off x="502920" y="1216152"/>
            <a:ext cx="6537960" cy="566928"/>
          </a:xfrm>
          <a:prstGeom prst="roundRect">
            <a:avLst>
              <a:gd name="adj" fmla="val 19354"/>
            </a:avLst>
          </a:prstGeom>
          <a:solidFill>
            <a:srgbClr val="F0F0F0"/>
          </a:solidFill>
          <a:ln>
            <a:noFill/>
          </a:ln>
          <a:effectLst/>
        </p:spPr>
        <p:txBody>
          <a:bodyPr rtlCol="0" anchor="ctr"/>
          <a:lstStyle/>
          <a:p/>
        </p:txBody>
      </p:sp>
      <p:sp>
        <p:nvSpPr>
          <p:cNvPr id="7" name="Oval 6"/>
          <p:cNvSpPr/>
          <p:nvPr/>
        </p:nvSpPr>
        <p:spPr>
          <a:xfrm>
            <a:off x="612648" y="1225296"/>
            <a:ext cx="548640" cy="548640"/>
          </a:xfrm>
          <a:prstGeom prst="ellipse">
            <a:avLst/>
          </a:prstGeom>
          <a:solidFill>
            <a:srgbClr val="D3373A"/>
          </a:solidFill>
          <a:ln>
            <a:noFill/>
          </a:ln>
          <a:effectLst/>
        </p:spPr>
        <p:txBody>
          <a:bodyPr rtlCol="0" anchor="ctr" wrap="none" lIns="0" rIns="0" tIns="0" bIns="0">
            <a:noAutofit/>
          </a:bodyPr>
          <a:lstStyle/>
          <a:p>
            <a:pPr algn="ctr">
              <a:spcBef>
                <a:spcPts val="0"/>
              </a:spcBef>
              <a:spcAft>
                <a:spcPts val="0"/>
              </a:spcAft>
            </a:pPr>
            <a:r>
              <a:rPr lang="tr-TR" sz="2200" b="1" i="0">
                <a:solidFill>
                  <a:srgbClr val="FFFFFF"/>
                </a:solidFill>
                <a:latin typeface="Calibri"/>
              </a:rPr>
              <a:t>7</a:t>
            </a:r>
          </a:p>
        </p:txBody>
      </p:sp>
      <p:sp>
        <p:nvSpPr>
          <p:cNvPr id="8" name="TextBox 7"/>
          <p:cNvSpPr txBox="1"/>
          <p:nvPr/>
        </p:nvSpPr>
        <p:spPr>
          <a:xfrm>
            <a:off x="1280160" y="1216152"/>
            <a:ext cx="5669280" cy="566928"/>
          </a:xfrm>
          <a:prstGeom prst="rect">
            <a:avLst/>
          </a:prstGeom>
          <a:noFill/>
        </p:spPr>
        <p:txBody>
          <a:bodyPr wrap="square" anchor="ctr" lIns="73152" rIns="73152" tIns="36576" bIns="36576">
            <a:noAutofit/>
          </a:bodyPr>
          <a:lstStyle/>
          <a:p>
            <a:pPr algn="l">
              <a:spcBef>
                <a:spcPts val="0"/>
              </a:spcBef>
              <a:spcAft>
                <a:spcPts val="0"/>
              </a:spcAft>
            </a:pPr>
            <a:r>
              <a:rPr lang="tr-TR" sz="1550" b="1" i="0">
                <a:solidFill>
                  <a:srgbClr val="262626"/>
                </a:solidFill>
                <a:latin typeface="Calibri"/>
              </a:rPr>
              <a:t>Afet sonrası ideal iyileştirme süreci ile ilgili olarak … maddelerinden hangileri doğrudur?</a:t>
            </a:r>
          </a:p>
        </p:txBody>
      </p:sp>
      <p:sp>
        <p:nvSpPr>
          <p:cNvPr id="9" name="Rounded Rectangle 8"/>
          <p:cNvSpPr/>
          <p:nvPr/>
        </p:nvSpPr>
        <p:spPr>
          <a:xfrm>
            <a:off x="502920" y="1901952"/>
            <a:ext cx="6537960" cy="1643989"/>
          </a:xfrm>
          <a:prstGeom prst="roundRect">
            <a:avLst>
              <a:gd name="adj" fmla="val 5562"/>
            </a:avLst>
          </a:prstGeom>
          <a:solidFill>
            <a:srgbClr val="E3F1E4"/>
          </a:solidFill>
          <a:ln w="19050">
            <a:solidFill>
              <a:srgbClr val="2E7D32"/>
            </a:solidFill>
          </a:ln>
          <a:effectLst/>
        </p:spPr>
        <p:txBody>
          <a:bodyPr rtlCol="0" anchor="ctr"/>
          <a:lstStyle/>
          <a:p/>
        </p:txBody>
      </p:sp>
      <p:sp>
        <p:nvSpPr>
          <p:cNvPr id="10" name="Rectangle 9"/>
          <p:cNvSpPr/>
          <p:nvPr/>
        </p:nvSpPr>
        <p:spPr>
          <a:xfrm>
            <a:off x="630936" y="2504490"/>
            <a:ext cx="438912" cy="438912"/>
          </a:xfrm>
          <a:prstGeom prst="rect">
            <a:avLst/>
          </a:prstGeom>
          <a:solidFill>
            <a:srgbClr val="2E7D32"/>
          </a:solidFill>
          <a:ln>
            <a:noFill/>
          </a:ln>
          <a:effectLst/>
        </p:spPr>
        <p:txBody>
          <a:bodyPr rtlCol="0" anchor="ctr" wrap="square" lIns="0" rIns="0" tIns="0" bIns="0">
            <a:noAutofit/>
          </a:bodyPr>
          <a:lstStyle/>
          <a:p>
            <a:pPr algn="ctr">
              <a:spcBef>
                <a:spcPts val="0"/>
              </a:spcBef>
              <a:spcAft>
                <a:spcPts val="0"/>
              </a:spcAft>
            </a:pPr>
            <a:r>
              <a:rPr lang="tr-TR" sz="2000" b="1" i="0">
                <a:solidFill>
                  <a:srgbClr val="FFFFFF"/>
                </a:solidFill>
                <a:latin typeface="Calibri"/>
              </a:rPr>
              <a:t>✓</a:t>
            </a:r>
          </a:p>
        </p:txBody>
      </p:sp>
      <p:sp>
        <p:nvSpPr>
          <p:cNvPr id="11" name="TextBox 10"/>
          <p:cNvSpPr txBox="1"/>
          <p:nvPr/>
        </p:nvSpPr>
        <p:spPr>
          <a:xfrm>
            <a:off x="1234440" y="1901952"/>
            <a:ext cx="5715000" cy="1643989"/>
          </a:xfrm>
          <a:prstGeom prst="rect">
            <a:avLst/>
          </a:prstGeom>
          <a:noFill/>
        </p:spPr>
        <p:txBody>
          <a:bodyPr wrap="square" anchor="ctr" lIns="73152" rIns="73152" tIns="36576" bIns="36576">
            <a:noAutofit/>
          </a:bodyPr>
          <a:lstStyle/>
          <a:p>
            <a:pPr algn="l">
              <a:spcBef>
                <a:spcPts val="0"/>
              </a:spcBef>
              <a:spcAft>
                <a:spcPts val="300"/>
              </a:spcAft>
            </a:pPr>
            <a:r>
              <a:rPr lang="tr-TR" sz="2000" b="1" i="0">
                <a:solidFill>
                  <a:srgbClr val="262626"/>
                </a:solidFill>
                <a:latin typeface="Calibri"/>
              </a:rPr>
              <a:t>I. Afet öncesi oluşan sorunları tanımlama</a:t>
            </a:r>
          </a:p>
          <a:p>
            <a:pPr algn="l">
              <a:spcBef>
                <a:spcPts val="0"/>
              </a:spcBef>
              <a:spcAft>
                <a:spcPts val="0"/>
              </a:spcAft>
            </a:pPr>
            <a:r>
              <a:rPr lang="tr-TR" sz="1639" b="0" i="0">
                <a:solidFill>
                  <a:srgbClr val="2E7D32"/>
                </a:solidFill>
                <a:latin typeface="Calibri"/>
              </a:rPr>
              <a:t>→ s. 212: afet “toplumsal dönüşüm için önemli bir fırsat” olarak görülür; amaç eski duruma dönmek değil, afet öncesindeki sorunları (ör. dayanıksız yapılar) gidermektir (s. 203)</a:t>
            </a:r>
          </a:p>
        </p:txBody>
      </p:sp>
      <p:sp>
        <p:nvSpPr>
          <p:cNvPr id="12" name="Rounded Rectangle 11"/>
          <p:cNvSpPr/>
          <p:nvPr/>
        </p:nvSpPr>
        <p:spPr>
          <a:xfrm>
            <a:off x="502920" y="3655669"/>
            <a:ext cx="6537960" cy="1135786"/>
          </a:xfrm>
          <a:prstGeom prst="roundRect">
            <a:avLst>
              <a:gd name="adj" fmla="val 8050"/>
            </a:avLst>
          </a:prstGeom>
          <a:solidFill>
            <a:srgbClr val="E3F1E4"/>
          </a:solidFill>
          <a:ln w="19050">
            <a:solidFill>
              <a:srgbClr val="2E7D32"/>
            </a:solidFill>
          </a:ln>
          <a:effectLst/>
        </p:spPr>
        <p:txBody>
          <a:bodyPr rtlCol="0" anchor="ctr"/>
          <a:lstStyle/>
          <a:p/>
        </p:txBody>
      </p:sp>
      <p:sp>
        <p:nvSpPr>
          <p:cNvPr id="13" name="Rectangle 12"/>
          <p:cNvSpPr/>
          <p:nvPr/>
        </p:nvSpPr>
        <p:spPr>
          <a:xfrm>
            <a:off x="630936" y="4004106"/>
            <a:ext cx="438912" cy="438912"/>
          </a:xfrm>
          <a:prstGeom prst="rect">
            <a:avLst/>
          </a:prstGeom>
          <a:solidFill>
            <a:srgbClr val="2E7D32"/>
          </a:solidFill>
          <a:ln>
            <a:noFill/>
          </a:ln>
          <a:effectLst/>
        </p:spPr>
        <p:txBody>
          <a:bodyPr rtlCol="0" anchor="ctr" wrap="square" lIns="0" rIns="0" tIns="0" bIns="0">
            <a:noAutofit/>
          </a:bodyPr>
          <a:lstStyle/>
          <a:p>
            <a:pPr algn="ctr">
              <a:spcBef>
                <a:spcPts val="0"/>
              </a:spcBef>
              <a:spcAft>
                <a:spcPts val="0"/>
              </a:spcAft>
            </a:pPr>
            <a:r>
              <a:rPr lang="tr-TR" sz="2000" b="1" i="0">
                <a:solidFill>
                  <a:srgbClr val="FFFFFF"/>
                </a:solidFill>
                <a:latin typeface="Calibri"/>
              </a:rPr>
              <a:t>✓</a:t>
            </a:r>
          </a:p>
        </p:txBody>
      </p:sp>
      <p:sp>
        <p:nvSpPr>
          <p:cNvPr id="14" name="TextBox 13"/>
          <p:cNvSpPr txBox="1"/>
          <p:nvPr/>
        </p:nvSpPr>
        <p:spPr>
          <a:xfrm>
            <a:off x="1234440" y="3655669"/>
            <a:ext cx="5715000" cy="1135786"/>
          </a:xfrm>
          <a:prstGeom prst="rect">
            <a:avLst/>
          </a:prstGeom>
          <a:noFill/>
        </p:spPr>
        <p:txBody>
          <a:bodyPr wrap="square" anchor="ctr" lIns="73152" rIns="73152" tIns="36576" bIns="36576">
            <a:noAutofit/>
          </a:bodyPr>
          <a:lstStyle/>
          <a:p>
            <a:pPr algn="l">
              <a:spcBef>
                <a:spcPts val="0"/>
              </a:spcBef>
              <a:spcAft>
                <a:spcPts val="300"/>
              </a:spcAft>
            </a:pPr>
            <a:r>
              <a:rPr lang="tr-TR" sz="2000" b="1" i="0">
                <a:solidFill>
                  <a:srgbClr val="262626"/>
                </a:solidFill>
                <a:latin typeface="Calibri"/>
              </a:rPr>
              <a:t>II. Halkın katılımını sağlama</a:t>
            </a:r>
          </a:p>
          <a:p>
            <a:pPr algn="l">
              <a:spcBef>
                <a:spcPts val="0"/>
              </a:spcBef>
              <a:spcAft>
                <a:spcPts val="0"/>
              </a:spcAft>
            </a:pPr>
            <a:r>
              <a:rPr lang="tr-TR" sz="1639" b="0" i="0">
                <a:solidFill>
                  <a:srgbClr val="2E7D32"/>
                </a:solidFill>
                <a:latin typeface="Calibri"/>
              </a:rPr>
              <a:t>→ s. 212: “onların da sürece katılımları esastır”</a:t>
            </a:r>
          </a:p>
        </p:txBody>
      </p:sp>
      <p:sp>
        <p:nvSpPr>
          <p:cNvPr id="15" name="Rounded Rectangle 14"/>
          <p:cNvSpPr/>
          <p:nvPr/>
        </p:nvSpPr>
        <p:spPr>
          <a:xfrm>
            <a:off x="502920" y="4901183"/>
            <a:ext cx="6537960" cy="1389888"/>
          </a:xfrm>
          <a:prstGeom prst="roundRect">
            <a:avLst>
              <a:gd name="adj" fmla="val 6578"/>
            </a:avLst>
          </a:prstGeom>
          <a:solidFill>
            <a:srgbClr val="E3F1E4"/>
          </a:solidFill>
          <a:ln w="19050">
            <a:solidFill>
              <a:srgbClr val="2E7D32"/>
            </a:solidFill>
          </a:ln>
          <a:effectLst/>
        </p:spPr>
        <p:txBody>
          <a:bodyPr rtlCol="0" anchor="ctr"/>
          <a:lstStyle/>
          <a:p/>
        </p:txBody>
      </p:sp>
      <p:sp>
        <p:nvSpPr>
          <p:cNvPr id="16" name="Rectangle 15"/>
          <p:cNvSpPr/>
          <p:nvPr/>
        </p:nvSpPr>
        <p:spPr>
          <a:xfrm>
            <a:off x="630936" y="5376671"/>
            <a:ext cx="438912" cy="438912"/>
          </a:xfrm>
          <a:prstGeom prst="rect">
            <a:avLst/>
          </a:prstGeom>
          <a:solidFill>
            <a:srgbClr val="2E7D32"/>
          </a:solidFill>
          <a:ln>
            <a:noFill/>
          </a:ln>
          <a:effectLst/>
        </p:spPr>
        <p:txBody>
          <a:bodyPr rtlCol="0" anchor="ctr" wrap="square" lIns="0" rIns="0" tIns="0" bIns="0">
            <a:noAutofit/>
          </a:bodyPr>
          <a:lstStyle/>
          <a:p>
            <a:pPr algn="ctr">
              <a:spcBef>
                <a:spcPts val="0"/>
              </a:spcBef>
              <a:spcAft>
                <a:spcPts val="0"/>
              </a:spcAft>
            </a:pPr>
            <a:r>
              <a:rPr lang="tr-TR" sz="2000" b="1" i="0">
                <a:solidFill>
                  <a:srgbClr val="FFFFFF"/>
                </a:solidFill>
                <a:latin typeface="Calibri"/>
              </a:rPr>
              <a:t>✓</a:t>
            </a:r>
          </a:p>
        </p:txBody>
      </p:sp>
      <p:sp>
        <p:nvSpPr>
          <p:cNvPr id="17" name="TextBox 16"/>
          <p:cNvSpPr txBox="1"/>
          <p:nvPr/>
        </p:nvSpPr>
        <p:spPr>
          <a:xfrm>
            <a:off x="1234440" y="4901183"/>
            <a:ext cx="5715000" cy="1389888"/>
          </a:xfrm>
          <a:prstGeom prst="rect">
            <a:avLst/>
          </a:prstGeom>
          <a:noFill/>
        </p:spPr>
        <p:txBody>
          <a:bodyPr wrap="square" anchor="ctr" lIns="73152" rIns="73152" tIns="36576" bIns="36576">
            <a:noAutofit/>
          </a:bodyPr>
          <a:lstStyle/>
          <a:p>
            <a:pPr algn="l">
              <a:spcBef>
                <a:spcPts val="0"/>
              </a:spcBef>
              <a:spcAft>
                <a:spcPts val="300"/>
              </a:spcAft>
            </a:pPr>
            <a:r>
              <a:rPr lang="tr-TR" sz="2000" b="1" i="0">
                <a:solidFill>
                  <a:srgbClr val="262626"/>
                </a:solidFill>
                <a:latin typeface="Calibri"/>
              </a:rPr>
              <a:t>III. Oluşabilecek yeni afetlere karşı tedbir alma</a:t>
            </a:r>
          </a:p>
          <a:p>
            <a:pPr algn="l">
              <a:spcBef>
                <a:spcPts val="0"/>
              </a:spcBef>
              <a:spcAft>
                <a:spcPts val="0"/>
              </a:spcAft>
            </a:pPr>
            <a:r>
              <a:rPr lang="tr-TR" sz="1639" b="0" i="0">
                <a:solidFill>
                  <a:srgbClr val="2E7D32"/>
                </a:solidFill>
                <a:latin typeface="Calibri"/>
              </a:rPr>
              <a:t>→ s. 202: “oluşması muhtemel tehlike ve risklerin önlenmesi veya etkilerinin en aza indirilmesi amaçlanmalıdır”</a:t>
            </a:r>
          </a:p>
        </p:txBody>
      </p:sp>
      <p:sp>
        <p:nvSpPr>
          <p:cNvPr id="18" name="Rounded Rectangle 17"/>
          <p:cNvSpPr/>
          <p:nvPr/>
        </p:nvSpPr>
        <p:spPr>
          <a:xfrm>
            <a:off x="7242048" y="1216152"/>
            <a:ext cx="4446727" cy="932688"/>
          </a:xfrm>
          <a:prstGeom prst="roundRect">
            <a:avLst>
              <a:gd name="adj" fmla="val 11764"/>
            </a:avLst>
          </a:prstGeom>
          <a:solidFill>
            <a:srgbClr val="FFFFFF"/>
          </a:solidFill>
          <a:ln w="12700">
            <a:solidFill>
              <a:srgbClr val="D9D9D9"/>
            </a:solidFill>
          </a:ln>
          <a:effectLst/>
        </p:spPr>
        <p:txBody>
          <a:bodyPr rtlCol="0" anchor="ctr"/>
          <a:lstStyle/>
          <a:p/>
        </p:txBody>
      </p:sp>
      <p:sp>
        <p:nvSpPr>
          <p:cNvPr id="19" name="Oval 18"/>
          <p:cNvSpPr/>
          <p:nvPr/>
        </p:nvSpPr>
        <p:spPr>
          <a:xfrm>
            <a:off x="7324344" y="1453896"/>
            <a:ext cx="457200" cy="45720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A</a:t>
            </a:r>
          </a:p>
        </p:txBody>
      </p:sp>
      <p:sp>
        <p:nvSpPr>
          <p:cNvPr id="20" name="TextBox 19"/>
          <p:cNvSpPr txBox="1"/>
          <p:nvPr/>
        </p:nvSpPr>
        <p:spPr>
          <a:xfrm>
            <a:off x="7845552" y="1216152"/>
            <a:ext cx="3770071" cy="932688"/>
          </a:xfrm>
          <a:prstGeom prst="rect">
            <a:avLst/>
          </a:prstGeom>
          <a:noFill/>
        </p:spPr>
        <p:txBody>
          <a:bodyPr wrap="square" anchor="ctr" lIns="73152" rIns="73152" tIns="36576" bIns="36576">
            <a:noAutofit/>
          </a:bodyPr>
          <a:lstStyle/>
          <a:p>
            <a:pPr algn="l">
              <a:spcBef>
                <a:spcPts val="0"/>
              </a:spcBef>
              <a:spcAft>
                <a:spcPts val="200"/>
              </a:spcAft>
            </a:pPr>
            <a:r>
              <a:rPr lang="tr-TR" sz="2100" b="0" i="0">
                <a:solidFill>
                  <a:srgbClr val="767676"/>
                </a:solidFill>
                <a:latin typeface="Calibri"/>
              </a:rPr>
              <a:t>Yalnız I</a:t>
            </a:r>
          </a:p>
          <a:p>
            <a:pPr algn="l">
              <a:spcBef>
                <a:spcPts val="0"/>
              </a:spcBef>
              <a:spcAft>
                <a:spcPts val="0"/>
              </a:spcAft>
            </a:pPr>
            <a:r>
              <a:rPr lang="tr-TR" sz="1680" b="0" i="0">
                <a:solidFill>
                  <a:srgbClr val="767676"/>
                </a:solidFill>
                <a:latin typeface="Calibri"/>
              </a:rPr>
              <a:t>→ Eksik: II ve III de doğru</a:t>
            </a:r>
          </a:p>
        </p:txBody>
      </p:sp>
      <p:sp>
        <p:nvSpPr>
          <p:cNvPr id="21" name="Rounded Rectangle 20"/>
          <p:cNvSpPr/>
          <p:nvPr/>
        </p:nvSpPr>
        <p:spPr>
          <a:xfrm>
            <a:off x="7242048" y="2240280"/>
            <a:ext cx="4446727" cy="932688"/>
          </a:xfrm>
          <a:prstGeom prst="roundRect">
            <a:avLst>
              <a:gd name="adj" fmla="val 11764"/>
            </a:avLst>
          </a:prstGeom>
          <a:solidFill>
            <a:srgbClr val="FFFFFF"/>
          </a:solidFill>
          <a:ln w="12700">
            <a:solidFill>
              <a:srgbClr val="D9D9D9"/>
            </a:solidFill>
          </a:ln>
          <a:effectLst/>
        </p:spPr>
        <p:txBody>
          <a:bodyPr rtlCol="0" anchor="ctr"/>
          <a:lstStyle/>
          <a:p/>
        </p:txBody>
      </p:sp>
      <p:sp>
        <p:nvSpPr>
          <p:cNvPr id="22" name="Oval 21"/>
          <p:cNvSpPr/>
          <p:nvPr/>
        </p:nvSpPr>
        <p:spPr>
          <a:xfrm>
            <a:off x="7324344" y="2478024"/>
            <a:ext cx="457200" cy="45720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B</a:t>
            </a:r>
          </a:p>
        </p:txBody>
      </p:sp>
      <p:sp>
        <p:nvSpPr>
          <p:cNvPr id="23" name="TextBox 22"/>
          <p:cNvSpPr txBox="1"/>
          <p:nvPr/>
        </p:nvSpPr>
        <p:spPr>
          <a:xfrm>
            <a:off x="7845552" y="2240280"/>
            <a:ext cx="3770071" cy="932688"/>
          </a:xfrm>
          <a:prstGeom prst="rect">
            <a:avLst/>
          </a:prstGeom>
          <a:noFill/>
        </p:spPr>
        <p:txBody>
          <a:bodyPr wrap="square" anchor="ctr" lIns="73152" rIns="73152" tIns="36576" bIns="36576">
            <a:noAutofit/>
          </a:bodyPr>
          <a:lstStyle/>
          <a:p>
            <a:pPr algn="l">
              <a:spcBef>
                <a:spcPts val="0"/>
              </a:spcBef>
              <a:spcAft>
                <a:spcPts val="200"/>
              </a:spcAft>
            </a:pPr>
            <a:r>
              <a:rPr lang="tr-TR" sz="2100" b="0" i="0">
                <a:solidFill>
                  <a:srgbClr val="767676"/>
                </a:solidFill>
                <a:latin typeface="Calibri"/>
              </a:rPr>
              <a:t>Yalnız II</a:t>
            </a:r>
          </a:p>
          <a:p>
            <a:pPr algn="l">
              <a:spcBef>
                <a:spcPts val="0"/>
              </a:spcBef>
              <a:spcAft>
                <a:spcPts val="0"/>
              </a:spcAft>
            </a:pPr>
            <a:r>
              <a:rPr lang="tr-TR" sz="1680" b="0" i="0">
                <a:solidFill>
                  <a:srgbClr val="767676"/>
                </a:solidFill>
                <a:latin typeface="Calibri"/>
              </a:rPr>
              <a:t>→ Eksik: I ve III de doğru</a:t>
            </a:r>
          </a:p>
        </p:txBody>
      </p:sp>
      <p:sp>
        <p:nvSpPr>
          <p:cNvPr id="24" name="Rounded Rectangle 23"/>
          <p:cNvSpPr/>
          <p:nvPr/>
        </p:nvSpPr>
        <p:spPr>
          <a:xfrm>
            <a:off x="7242048" y="3264408"/>
            <a:ext cx="4446727" cy="932688"/>
          </a:xfrm>
          <a:prstGeom prst="roundRect">
            <a:avLst>
              <a:gd name="adj" fmla="val 11764"/>
            </a:avLst>
          </a:prstGeom>
          <a:solidFill>
            <a:srgbClr val="FFFFFF"/>
          </a:solidFill>
          <a:ln w="12700">
            <a:solidFill>
              <a:srgbClr val="D9D9D9"/>
            </a:solidFill>
          </a:ln>
          <a:effectLst/>
        </p:spPr>
        <p:txBody>
          <a:bodyPr rtlCol="0" anchor="ctr"/>
          <a:lstStyle/>
          <a:p/>
        </p:txBody>
      </p:sp>
      <p:sp>
        <p:nvSpPr>
          <p:cNvPr id="25" name="Oval 24"/>
          <p:cNvSpPr/>
          <p:nvPr/>
        </p:nvSpPr>
        <p:spPr>
          <a:xfrm>
            <a:off x="7324344" y="3502152"/>
            <a:ext cx="457200" cy="45720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C</a:t>
            </a:r>
          </a:p>
        </p:txBody>
      </p:sp>
      <p:sp>
        <p:nvSpPr>
          <p:cNvPr id="26" name="TextBox 25"/>
          <p:cNvSpPr txBox="1"/>
          <p:nvPr/>
        </p:nvSpPr>
        <p:spPr>
          <a:xfrm>
            <a:off x="7845552" y="3264408"/>
            <a:ext cx="3770071" cy="932688"/>
          </a:xfrm>
          <a:prstGeom prst="rect">
            <a:avLst/>
          </a:prstGeom>
          <a:noFill/>
        </p:spPr>
        <p:txBody>
          <a:bodyPr wrap="square" anchor="ctr" lIns="73152" rIns="73152" tIns="36576" bIns="36576">
            <a:noAutofit/>
          </a:bodyPr>
          <a:lstStyle/>
          <a:p>
            <a:pPr algn="l">
              <a:spcBef>
                <a:spcPts val="0"/>
              </a:spcBef>
              <a:spcAft>
                <a:spcPts val="200"/>
              </a:spcAft>
            </a:pPr>
            <a:r>
              <a:rPr lang="tr-TR" sz="2100" b="0" i="0">
                <a:solidFill>
                  <a:srgbClr val="767676"/>
                </a:solidFill>
                <a:latin typeface="Calibri"/>
              </a:rPr>
              <a:t>I ve II</a:t>
            </a:r>
          </a:p>
          <a:p>
            <a:pPr algn="l">
              <a:spcBef>
                <a:spcPts val="0"/>
              </a:spcBef>
              <a:spcAft>
                <a:spcPts val="0"/>
              </a:spcAft>
            </a:pPr>
            <a:r>
              <a:rPr lang="tr-TR" sz="1680" b="0" i="0">
                <a:solidFill>
                  <a:srgbClr val="767676"/>
                </a:solidFill>
                <a:latin typeface="Calibri"/>
              </a:rPr>
              <a:t>→ Eksik: III de doğru (s. 202)</a:t>
            </a:r>
          </a:p>
        </p:txBody>
      </p:sp>
      <p:sp>
        <p:nvSpPr>
          <p:cNvPr id="27" name="Rounded Rectangle 26"/>
          <p:cNvSpPr/>
          <p:nvPr/>
        </p:nvSpPr>
        <p:spPr>
          <a:xfrm>
            <a:off x="7242048" y="4288536"/>
            <a:ext cx="4446727" cy="932688"/>
          </a:xfrm>
          <a:prstGeom prst="roundRect">
            <a:avLst>
              <a:gd name="adj" fmla="val 11764"/>
            </a:avLst>
          </a:prstGeom>
          <a:solidFill>
            <a:srgbClr val="FFFFFF"/>
          </a:solidFill>
          <a:ln w="12700">
            <a:solidFill>
              <a:srgbClr val="D9D9D9"/>
            </a:solidFill>
          </a:ln>
          <a:effectLst/>
        </p:spPr>
        <p:txBody>
          <a:bodyPr rtlCol="0" anchor="ctr"/>
          <a:lstStyle/>
          <a:p/>
        </p:txBody>
      </p:sp>
      <p:sp>
        <p:nvSpPr>
          <p:cNvPr id="28" name="Oval 27"/>
          <p:cNvSpPr/>
          <p:nvPr/>
        </p:nvSpPr>
        <p:spPr>
          <a:xfrm>
            <a:off x="7324344" y="4526280"/>
            <a:ext cx="457200" cy="45720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D</a:t>
            </a:r>
          </a:p>
        </p:txBody>
      </p:sp>
      <p:sp>
        <p:nvSpPr>
          <p:cNvPr id="29" name="TextBox 28"/>
          <p:cNvSpPr txBox="1"/>
          <p:nvPr/>
        </p:nvSpPr>
        <p:spPr>
          <a:xfrm>
            <a:off x="7845552" y="4288536"/>
            <a:ext cx="3770071" cy="932688"/>
          </a:xfrm>
          <a:prstGeom prst="rect">
            <a:avLst/>
          </a:prstGeom>
          <a:noFill/>
        </p:spPr>
        <p:txBody>
          <a:bodyPr wrap="square" anchor="ctr" lIns="73152" rIns="73152" tIns="36576" bIns="36576">
            <a:noAutofit/>
          </a:bodyPr>
          <a:lstStyle/>
          <a:p>
            <a:pPr algn="l">
              <a:spcBef>
                <a:spcPts val="0"/>
              </a:spcBef>
              <a:spcAft>
                <a:spcPts val="200"/>
              </a:spcAft>
            </a:pPr>
            <a:r>
              <a:rPr lang="tr-TR" sz="2100" b="0" i="0">
                <a:solidFill>
                  <a:srgbClr val="767676"/>
                </a:solidFill>
                <a:latin typeface="Calibri"/>
              </a:rPr>
              <a:t>II ve III</a:t>
            </a:r>
          </a:p>
          <a:p>
            <a:pPr algn="l">
              <a:spcBef>
                <a:spcPts val="0"/>
              </a:spcBef>
              <a:spcAft>
                <a:spcPts val="0"/>
              </a:spcAft>
            </a:pPr>
            <a:r>
              <a:rPr lang="tr-TR" sz="1680" b="0" i="0">
                <a:solidFill>
                  <a:srgbClr val="767676"/>
                </a:solidFill>
                <a:latin typeface="Calibri"/>
              </a:rPr>
              <a:t>→ Eksik: I de doğru (s. 203, 212)</a:t>
            </a:r>
          </a:p>
        </p:txBody>
      </p:sp>
      <p:sp>
        <p:nvSpPr>
          <p:cNvPr id="30" name="Rounded Rectangle 29"/>
          <p:cNvSpPr/>
          <p:nvPr/>
        </p:nvSpPr>
        <p:spPr>
          <a:xfrm>
            <a:off x="7242048" y="5312664"/>
            <a:ext cx="4446727" cy="932688"/>
          </a:xfrm>
          <a:prstGeom prst="roundRect">
            <a:avLst>
              <a:gd name="adj" fmla="val 11764"/>
            </a:avLst>
          </a:prstGeom>
          <a:solidFill>
            <a:srgbClr val="E3F1E4"/>
          </a:solidFill>
          <a:ln w="31750">
            <a:solidFill>
              <a:srgbClr val="2E7D32"/>
            </a:solidFill>
          </a:ln>
          <a:effectLst/>
        </p:spPr>
        <p:txBody>
          <a:bodyPr rtlCol="0" anchor="ctr"/>
          <a:lstStyle/>
          <a:p/>
        </p:txBody>
      </p:sp>
      <p:sp>
        <p:nvSpPr>
          <p:cNvPr id="31" name="Oval 30"/>
          <p:cNvSpPr/>
          <p:nvPr/>
        </p:nvSpPr>
        <p:spPr>
          <a:xfrm>
            <a:off x="7324344" y="5550408"/>
            <a:ext cx="457200" cy="457200"/>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E</a:t>
            </a:r>
          </a:p>
        </p:txBody>
      </p:sp>
      <p:sp>
        <p:nvSpPr>
          <p:cNvPr id="32" name="TextBox 31"/>
          <p:cNvSpPr txBox="1"/>
          <p:nvPr/>
        </p:nvSpPr>
        <p:spPr>
          <a:xfrm>
            <a:off x="7845552" y="5312664"/>
            <a:ext cx="3770071" cy="932688"/>
          </a:xfrm>
          <a:prstGeom prst="rect">
            <a:avLst/>
          </a:prstGeom>
          <a:noFill/>
        </p:spPr>
        <p:txBody>
          <a:bodyPr wrap="square" anchor="ctr" lIns="73152" rIns="73152" tIns="36576" bIns="36576">
            <a:noAutofit/>
          </a:bodyPr>
          <a:lstStyle/>
          <a:p>
            <a:pPr algn="l">
              <a:spcBef>
                <a:spcPts val="0"/>
              </a:spcBef>
              <a:spcAft>
                <a:spcPts val="200"/>
              </a:spcAft>
            </a:pPr>
            <a:r>
              <a:rPr lang="tr-TR" sz="2100" b="1" i="0">
                <a:solidFill>
                  <a:srgbClr val="262626"/>
                </a:solidFill>
                <a:latin typeface="Calibri"/>
              </a:rPr>
              <a:t>I, II ve III</a:t>
            </a:r>
          </a:p>
          <a:p>
            <a:pPr algn="l">
              <a:spcBef>
                <a:spcPts val="0"/>
              </a:spcBef>
              <a:spcAft>
                <a:spcPts val="0"/>
              </a:spcAft>
            </a:pPr>
            <a:r>
              <a:rPr lang="tr-TR" sz="1680" b="0" i="0">
                <a:solidFill>
                  <a:srgbClr val="2E7D32"/>
                </a:solidFill>
                <a:latin typeface="Calibri"/>
              </a:rPr>
              <a:t>→ Üç öncül de kitapla desteklenir</a:t>
            </a:r>
          </a:p>
        </p:txBody>
      </p:sp>
      <p:sp>
        <p:nvSpPr>
          <p:cNvPr id="33" name="TextBox 32"/>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34" name="Rounded Rectangle 33"/>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202-203, 212</a:t>
            </a:r>
          </a:p>
        </p:txBody>
      </p:sp>
      <p:sp>
        <p:nvSpPr>
          <p:cNvPr id="35" name="TextBox 34"/>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244 / 250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Ünite ölçme: 8. soru</a:t>
            </a:r>
          </a:p>
        </p:txBody>
      </p:sp>
      <p:sp>
        <p:nvSpPr>
          <p:cNvPr id="5" name="Rounded Rectangle 4"/>
          <p:cNvSpPr/>
          <p:nvPr/>
        </p:nvSpPr>
        <p:spPr>
          <a:xfrm>
            <a:off x="9555480" y="201168"/>
            <a:ext cx="2221992" cy="475488"/>
          </a:xfrm>
          <a:prstGeom prst="roundRect">
            <a:avLst>
              <a:gd name="adj" fmla="val 50000"/>
            </a:avLst>
          </a:prstGeom>
          <a:solidFill>
            <a:srgbClr val="D3373A"/>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SORU 8</a:t>
            </a:r>
          </a:p>
        </p:txBody>
      </p:sp>
      <p:sp>
        <p:nvSpPr>
          <p:cNvPr id="6" name="Rounded Rectangle 5"/>
          <p:cNvSpPr/>
          <p:nvPr/>
        </p:nvSpPr>
        <p:spPr>
          <a:xfrm>
            <a:off x="502920" y="1216152"/>
            <a:ext cx="6751015" cy="2377440"/>
          </a:xfrm>
          <a:prstGeom prst="roundRect">
            <a:avLst>
              <a:gd name="adj" fmla="val 6000"/>
            </a:avLst>
          </a:prstGeom>
          <a:solidFill>
            <a:srgbClr val="FFF3D1"/>
          </a:solidFill>
          <a:ln>
            <a:noFill/>
          </a:ln>
          <a:effectLst/>
        </p:spPr>
        <p:txBody>
          <a:bodyPr rtlCol="0" anchor="ctr"/>
          <a:lstStyle/>
          <a:p/>
        </p:txBody>
      </p:sp>
      <p:sp>
        <p:nvSpPr>
          <p:cNvPr id="7" name="Oval 6"/>
          <p:cNvSpPr/>
          <p:nvPr/>
        </p:nvSpPr>
        <p:spPr>
          <a:xfrm>
            <a:off x="640080" y="1353312"/>
            <a:ext cx="566928" cy="566928"/>
          </a:xfrm>
          <a:prstGeom prst="ellipse">
            <a:avLst/>
          </a:prstGeom>
          <a:solidFill>
            <a:srgbClr val="D3373A"/>
          </a:solidFill>
          <a:ln>
            <a:noFill/>
          </a:ln>
          <a:effectLst/>
        </p:spPr>
        <p:txBody>
          <a:bodyPr rtlCol="0" anchor="ctr" wrap="none" lIns="0" rIns="0" tIns="0" bIns="0">
            <a:noAutofit/>
          </a:bodyPr>
          <a:lstStyle/>
          <a:p>
            <a:pPr algn="ctr">
              <a:spcBef>
                <a:spcPts val="0"/>
              </a:spcBef>
              <a:spcAft>
                <a:spcPts val="0"/>
              </a:spcAft>
            </a:pPr>
            <a:r>
              <a:rPr lang="tr-TR" sz="2200" b="1" i="0">
                <a:solidFill>
                  <a:srgbClr val="FFFFFF"/>
                </a:solidFill>
                <a:latin typeface="Calibri"/>
              </a:rPr>
              <a:t>8</a:t>
            </a:r>
          </a:p>
        </p:txBody>
      </p:sp>
      <p:sp>
        <p:nvSpPr>
          <p:cNvPr id="8" name="TextBox 7"/>
          <p:cNvSpPr txBox="1"/>
          <p:nvPr/>
        </p:nvSpPr>
        <p:spPr>
          <a:xfrm>
            <a:off x="1325880" y="1289304"/>
            <a:ext cx="5836615" cy="2231136"/>
          </a:xfrm>
          <a:prstGeom prst="rect">
            <a:avLst/>
          </a:prstGeom>
          <a:noFill/>
        </p:spPr>
        <p:txBody>
          <a:bodyPr wrap="square" anchor="ctr" lIns="73152" rIns="73152" tIns="36576" bIns="36576">
            <a:noAutofit/>
          </a:bodyPr>
          <a:lstStyle/>
          <a:p>
            <a:pPr algn="l">
              <a:spcBef>
                <a:spcPts val="0"/>
              </a:spcBef>
              <a:spcAft>
                <a:spcPts val="0"/>
              </a:spcAft>
            </a:pPr>
            <a:r>
              <a:rPr lang="tr-TR" sz="2700" b="1" i="0">
                <a:solidFill>
                  <a:srgbClr val="262626"/>
                </a:solidFill>
                <a:latin typeface="Calibri"/>
              </a:rPr>
              <a:t>Bütüncül afet yönetimi kapsamında risk ve zarar azaltma çalışmalarıyla bütüncül afet yönetiminin diğer aşamaları arasındaki ilişkiyi açıklayınız.</a:t>
            </a:r>
          </a:p>
        </p:txBody>
      </p:sp>
      <p:sp>
        <p:nvSpPr>
          <p:cNvPr id="9" name="Rounded Rectangle 8"/>
          <p:cNvSpPr/>
          <p:nvPr/>
        </p:nvSpPr>
        <p:spPr>
          <a:xfrm>
            <a:off x="502920" y="3776472"/>
            <a:ext cx="6751015" cy="2514600"/>
          </a:xfrm>
          <a:prstGeom prst="roundRect">
            <a:avLst>
              <a:gd name="adj" fmla="val 6000"/>
            </a:avLst>
          </a:prstGeom>
          <a:solidFill>
            <a:srgbClr val="F0F0F0"/>
          </a:solidFill>
          <a:ln>
            <a:noFill/>
          </a:ln>
          <a:effectLst/>
        </p:spPr>
        <p:txBody>
          <a:bodyPr rtlCol="0" anchor="ctr"/>
          <a:lstStyle/>
          <a:p/>
        </p:txBody>
      </p:sp>
      <p:sp>
        <p:nvSpPr>
          <p:cNvPr id="10" name="Rectangle 9"/>
          <p:cNvSpPr/>
          <p:nvPr/>
        </p:nvSpPr>
        <p:spPr>
          <a:xfrm>
            <a:off x="502920" y="3776472"/>
            <a:ext cx="118872" cy="2514600"/>
          </a:xfrm>
          <a:prstGeom prst="rect">
            <a:avLst/>
          </a:prstGeom>
          <a:solidFill>
            <a:srgbClr val="1E7B6E"/>
          </a:solidFill>
          <a:ln>
            <a:noFill/>
          </a:ln>
          <a:effectLst/>
        </p:spPr>
        <p:txBody>
          <a:bodyPr rtlCol="0" anchor="ctr"/>
          <a:lstStyle/>
          <a:p/>
        </p:txBody>
      </p:sp>
      <p:sp>
        <p:nvSpPr>
          <p:cNvPr id="11" name="TextBox 10"/>
          <p:cNvSpPr txBox="1"/>
          <p:nvPr/>
        </p:nvSpPr>
        <p:spPr>
          <a:xfrm>
            <a:off x="777240" y="3776472"/>
            <a:ext cx="6339535" cy="2514600"/>
          </a:xfrm>
          <a:prstGeom prst="rect">
            <a:avLst/>
          </a:prstGeom>
          <a:noFill/>
        </p:spPr>
        <p:txBody>
          <a:bodyPr wrap="square" anchor="ctr" lIns="73152" rIns="73152" tIns="36576" bIns="36576">
            <a:noAutofit/>
          </a:bodyPr>
          <a:lstStyle/>
          <a:p>
            <a:pPr algn="l">
              <a:spcBef>
                <a:spcPts val="0"/>
              </a:spcBef>
              <a:spcAft>
                <a:spcPts val="0"/>
              </a:spcAft>
            </a:pPr>
            <a:r>
              <a:rPr lang="tr-TR" sz="2200" b="0" i="1">
                <a:solidFill>
                  <a:srgbClr val="262626"/>
                </a:solidFill>
                <a:latin typeface="Calibri"/>
              </a:rPr>
              <a:t>s. 212: “Bu nedenle bütüncül afet yönetiminin ilk ve en önemli aşaması, afet risklerini azaltma evresidir.”</a:t>
            </a:r>
          </a:p>
        </p:txBody>
      </p:sp>
      <p:pic>
        <p:nvPicPr>
          <p:cNvPr id="12" name="Picture 11" descr="sonu_dongu_s212.jpg"/>
          <p:cNvPicPr>
            <a:picLocks noChangeAspect="1"/>
          </p:cNvPicPr>
          <p:nvPr/>
        </p:nvPicPr>
        <p:blipFill>
          <a:blip r:embed="rId3"/>
          <a:stretch>
            <a:fillRect/>
          </a:stretch>
        </p:blipFill>
        <p:spPr>
          <a:xfrm>
            <a:off x="7482535" y="1542499"/>
            <a:ext cx="4206240" cy="4102184"/>
          </a:xfrm>
          <a:prstGeom prst="rect">
            <a:avLst/>
          </a:prstGeom>
          <a:ln w="9525">
            <a:solidFill>
              <a:srgbClr val="D9D9D9"/>
            </a:solidFill>
          </a:ln>
        </p:spPr>
      </p:pic>
      <p:sp>
        <p:nvSpPr>
          <p:cNvPr id="13" name="TextBox 12"/>
          <p:cNvSpPr txBox="1"/>
          <p:nvPr/>
        </p:nvSpPr>
        <p:spPr>
          <a:xfrm>
            <a:off x="7482535" y="5662971"/>
            <a:ext cx="4206240" cy="274320"/>
          </a:xfrm>
          <a:prstGeom prst="rect">
            <a:avLst/>
          </a:prstGeom>
          <a:noFill/>
        </p:spPr>
        <p:txBody>
          <a:bodyPr wrap="square" anchor="t" lIns="73152" rIns="73152" tIns="36576" bIns="36576">
            <a:noAutofit/>
          </a:bodyPr>
          <a:lstStyle/>
          <a:p>
            <a:pPr algn="r">
              <a:spcBef>
                <a:spcPts val="0"/>
              </a:spcBef>
              <a:spcAft>
                <a:spcPts val="0"/>
              </a:spcAft>
            </a:pPr>
            <a:r>
              <a:rPr lang="tr-TR" sz="1100" b="0" i="0">
                <a:solidFill>
                  <a:srgbClr val="767676"/>
                </a:solidFill>
                <a:latin typeface="Calibri"/>
              </a:rPr>
              <a:t>Şema: Ders kitabı s. 212</a:t>
            </a:r>
          </a:p>
        </p:txBody>
      </p:sp>
      <p:sp>
        <p:nvSpPr>
          <p:cNvPr id="14" name="TextBox 13"/>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15" name="Rounded Rectangle 14"/>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212-213</a:t>
            </a:r>
          </a:p>
        </p:txBody>
      </p:sp>
      <p:sp>
        <p:nvSpPr>
          <p:cNvPr id="16" name="TextBox 15"/>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245 / 250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8. soru — örnek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SORU 8</a:t>
            </a:r>
          </a:p>
        </p:txBody>
      </p:sp>
      <p:sp>
        <p:nvSpPr>
          <p:cNvPr id="6" name="Rounded Rectangle 5"/>
          <p:cNvSpPr/>
          <p:nvPr/>
        </p:nvSpPr>
        <p:spPr>
          <a:xfrm>
            <a:off x="502920" y="1216152"/>
            <a:ext cx="2880360" cy="4379976"/>
          </a:xfrm>
          <a:prstGeom prst="roundRect">
            <a:avLst>
              <a:gd name="adj" fmla="val 8000"/>
            </a:avLst>
          </a:prstGeom>
          <a:solidFill>
            <a:srgbClr val="1F86BF"/>
          </a:solidFill>
          <a:ln>
            <a:noFill/>
          </a:ln>
          <a:effectLst/>
        </p:spPr>
        <p:txBody>
          <a:bodyPr rtlCol="0" anchor="ctr" wrap="square" lIns="128016" rIns="128016" tIns="73152" bIns="73152">
            <a:noAutofit/>
          </a:bodyPr>
          <a:lstStyle/>
          <a:p>
            <a:pPr algn="ctr">
              <a:spcBef>
                <a:spcPts val="0"/>
              </a:spcBef>
              <a:spcAft>
                <a:spcPts val="1000"/>
              </a:spcAft>
            </a:pPr>
            <a:r>
              <a:rPr lang="tr-TR" sz="2400" b="1" i="0">
                <a:solidFill>
                  <a:srgbClr val="FFFFFF"/>
                </a:solidFill>
                <a:latin typeface="Calibri"/>
              </a:rPr>
              <a:t>Risk ve zarar azaltma</a:t>
            </a:r>
          </a:p>
          <a:p>
            <a:pPr algn="ctr">
              <a:spcBef>
                <a:spcPts val="0"/>
              </a:spcBef>
              <a:spcAft>
                <a:spcPts val="1000"/>
              </a:spcAft>
            </a:pPr>
            <a:r>
              <a:rPr lang="tr-TR" sz="1900" b="0" i="1">
                <a:solidFill>
                  <a:srgbClr val="FFFFFF"/>
                </a:solidFill>
                <a:latin typeface="Calibri"/>
              </a:rPr>
              <a:t>“ilk ve en önemli aşaması”</a:t>
            </a:r>
          </a:p>
          <a:p>
            <a:pPr algn="ctr">
              <a:spcBef>
                <a:spcPts val="0"/>
              </a:spcBef>
              <a:spcAft>
                <a:spcPts val="0"/>
              </a:spcAft>
            </a:pPr>
            <a:r>
              <a:rPr lang="tr-TR" sz="1600" b="0" i="0">
                <a:solidFill>
                  <a:srgbClr val="FFFFFF"/>
                </a:solidFill>
                <a:latin typeface="Calibri"/>
              </a:rPr>
              <a:t>tehlike haritası · yasal düzenleme · risk analizi</a:t>
            </a:r>
          </a:p>
        </p:txBody>
      </p:sp>
      <p:cxnSp>
        <p:nvCxnSpPr>
          <p:cNvPr id="7" name="Connector 6"/>
          <p:cNvCxnSpPr/>
          <p:nvPr/>
        </p:nvCxnSpPr>
        <p:spPr>
          <a:xfrm>
            <a:off x="3429000" y="1897380"/>
            <a:ext cx="1051560" cy="0"/>
          </a:xfrm>
          <a:prstGeom prst="line">
            <a:avLst/>
          </a:prstGeom>
          <a:ln w="38100">
            <a:solidFill>
              <a:srgbClr val="D97316"/>
            </a:solidFill>
            <a:tailEnd type="triangle" w="med" len="med"/>
          </a:ln>
        </p:spPr>
      </p:cxnSp>
      <p:sp>
        <p:nvSpPr>
          <p:cNvPr id="8" name="TextBox 7"/>
          <p:cNvSpPr txBox="1"/>
          <p:nvPr/>
        </p:nvSpPr>
        <p:spPr>
          <a:xfrm>
            <a:off x="3401568" y="1513332"/>
            <a:ext cx="1097280" cy="329184"/>
          </a:xfrm>
          <a:prstGeom prst="rect">
            <a:avLst/>
          </a:prstGeom>
          <a:noFill/>
        </p:spPr>
        <p:txBody>
          <a:bodyPr wrap="square" anchor="t" lIns="73152" rIns="73152" tIns="36576" bIns="36576">
            <a:noAutofit/>
          </a:bodyPr>
          <a:lstStyle/>
          <a:p>
            <a:pPr algn="ctr">
              <a:spcBef>
                <a:spcPts val="0"/>
              </a:spcBef>
              <a:spcAft>
                <a:spcPts val="0"/>
              </a:spcAft>
            </a:pPr>
            <a:r>
              <a:rPr lang="tr-TR" sz="1400" b="1" i="0">
                <a:solidFill>
                  <a:srgbClr val="D97316"/>
                </a:solidFill>
                <a:latin typeface="Calibri"/>
              </a:rPr>
              <a:t>veri sağlar</a:t>
            </a:r>
          </a:p>
        </p:txBody>
      </p:sp>
      <p:sp>
        <p:nvSpPr>
          <p:cNvPr id="9" name="Rounded Rectangle 8"/>
          <p:cNvSpPr/>
          <p:nvPr/>
        </p:nvSpPr>
        <p:spPr>
          <a:xfrm>
            <a:off x="4526280" y="1216152"/>
            <a:ext cx="7162495" cy="1362456"/>
          </a:xfrm>
          <a:prstGeom prst="roundRect">
            <a:avLst>
              <a:gd name="adj" fmla="val 6711"/>
            </a:avLst>
          </a:prstGeom>
          <a:solidFill>
            <a:srgbClr val="F0F0F0"/>
          </a:solidFill>
          <a:ln>
            <a:noFill/>
          </a:ln>
          <a:effectLst/>
        </p:spPr>
        <p:txBody>
          <a:bodyPr rtlCol="0" anchor="ctr"/>
          <a:lstStyle/>
          <a:p/>
        </p:txBody>
      </p:sp>
      <p:sp>
        <p:nvSpPr>
          <p:cNvPr id="10" name="Rounded Rectangle 9"/>
          <p:cNvSpPr/>
          <p:nvPr/>
        </p:nvSpPr>
        <p:spPr>
          <a:xfrm>
            <a:off x="4526280" y="1216152"/>
            <a:ext cx="2057400" cy="1362456"/>
          </a:xfrm>
          <a:prstGeom prst="roundRect">
            <a:avLst>
              <a:gd name="adj" fmla="val 6711"/>
            </a:avLst>
          </a:prstGeom>
          <a:solidFill>
            <a:srgbClr val="D97316"/>
          </a:solidFill>
          <a:ln>
            <a:noFill/>
          </a:ln>
          <a:effectLst/>
        </p:spPr>
        <p:txBody>
          <a:bodyPr rtlCol="0" anchor="ctr" wrap="square" lIns="128016" rIns="128016" tIns="73152" bIns="73152">
            <a:noAutofit/>
          </a:bodyPr>
          <a:lstStyle/>
          <a:p>
            <a:pPr algn="ctr">
              <a:spcBef>
                <a:spcPts val="0"/>
              </a:spcBef>
              <a:spcAft>
                <a:spcPts val="0"/>
              </a:spcAft>
            </a:pPr>
            <a:r>
              <a:rPr lang="tr-TR" sz="1900" b="1" i="0">
                <a:solidFill>
                  <a:srgbClr val="FFFFFF"/>
                </a:solidFill>
                <a:latin typeface="Calibri"/>
              </a:rPr>
              <a:t>Hazırlıklı olma</a:t>
            </a:r>
          </a:p>
        </p:txBody>
      </p:sp>
      <p:sp>
        <p:nvSpPr>
          <p:cNvPr id="11" name="TextBox 10"/>
          <p:cNvSpPr txBox="1"/>
          <p:nvPr/>
        </p:nvSpPr>
        <p:spPr>
          <a:xfrm>
            <a:off x="6693408" y="1216152"/>
            <a:ext cx="4940503" cy="1362456"/>
          </a:xfrm>
          <a:prstGeom prst="rect">
            <a:avLst/>
          </a:prstGeom>
          <a:noFill/>
        </p:spPr>
        <p:txBody>
          <a:bodyPr wrap="square" anchor="ctr" lIns="73152" rIns="73152" tIns="36576" bIns="36576">
            <a:noAutofit/>
          </a:bodyPr>
          <a:lstStyle/>
          <a:p>
            <a:pPr algn="l">
              <a:spcBef>
                <a:spcPts val="0"/>
              </a:spcBef>
              <a:spcAft>
                <a:spcPts val="0"/>
              </a:spcAft>
            </a:pPr>
            <a:r>
              <a:rPr lang="tr-TR" sz="2000" b="0" i="0">
                <a:solidFill>
                  <a:srgbClr val="262626"/>
                </a:solidFill>
                <a:latin typeface="Calibri"/>
              </a:rPr>
              <a:t>Risk analizinden elde edilen veriler hazırlığın temelidir: ihtiyaçlar, tahliye, toplanma merkezi, acil eylem planı (s. 202).</a:t>
            </a:r>
          </a:p>
        </p:txBody>
      </p:sp>
      <p:cxnSp>
        <p:nvCxnSpPr>
          <p:cNvPr id="12" name="Connector 11"/>
          <p:cNvCxnSpPr/>
          <p:nvPr/>
        </p:nvCxnSpPr>
        <p:spPr>
          <a:xfrm>
            <a:off x="3429000" y="3406140"/>
            <a:ext cx="1051560" cy="0"/>
          </a:xfrm>
          <a:prstGeom prst="line">
            <a:avLst/>
          </a:prstGeom>
          <a:ln w="38100">
            <a:solidFill>
              <a:srgbClr val="CC3333"/>
            </a:solidFill>
            <a:tailEnd type="triangle" w="med" len="med"/>
          </a:ln>
        </p:spPr>
      </p:cxnSp>
      <p:sp>
        <p:nvSpPr>
          <p:cNvPr id="13" name="TextBox 12"/>
          <p:cNvSpPr txBox="1"/>
          <p:nvPr/>
        </p:nvSpPr>
        <p:spPr>
          <a:xfrm>
            <a:off x="3401568" y="3022092"/>
            <a:ext cx="1097280" cy="329184"/>
          </a:xfrm>
          <a:prstGeom prst="rect">
            <a:avLst/>
          </a:prstGeom>
          <a:noFill/>
        </p:spPr>
        <p:txBody>
          <a:bodyPr wrap="square" anchor="t" lIns="73152" rIns="73152" tIns="36576" bIns="36576">
            <a:noAutofit/>
          </a:bodyPr>
          <a:lstStyle/>
          <a:p>
            <a:pPr algn="ctr">
              <a:spcBef>
                <a:spcPts val="0"/>
              </a:spcBef>
              <a:spcAft>
                <a:spcPts val="0"/>
              </a:spcAft>
            </a:pPr>
            <a:r>
              <a:rPr lang="tr-TR" sz="1400" b="1" i="0">
                <a:solidFill>
                  <a:srgbClr val="CC3333"/>
                </a:solidFill>
                <a:latin typeface="Calibri"/>
              </a:rPr>
              <a:t>yükü azaltır</a:t>
            </a:r>
          </a:p>
        </p:txBody>
      </p:sp>
      <p:sp>
        <p:nvSpPr>
          <p:cNvPr id="14" name="Rounded Rectangle 13"/>
          <p:cNvSpPr/>
          <p:nvPr/>
        </p:nvSpPr>
        <p:spPr>
          <a:xfrm>
            <a:off x="4526280" y="2724912"/>
            <a:ext cx="7162495" cy="1362456"/>
          </a:xfrm>
          <a:prstGeom prst="roundRect">
            <a:avLst>
              <a:gd name="adj" fmla="val 6711"/>
            </a:avLst>
          </a:prstGeom>
          <a:solidFill>
            <a:srgbClr val="F0F0F0"/>
          </a:solidFill>
          <a:ln>
            <a:noFill/>
          </a:ln>
          <a:effectLst/>
        </p:spPr>
        <p:txBody>
          <a:bodyPr rtlCol="0" anchor="ctr"/>
          <a:lstStyle/>
          <a:p/>
        </p:txBody>
      </p:sp>
      <p:sp>
        <p:nvSpPr>
          <p:cNvPr id="15" name="Rounded Rectangle 14"/>
          <p:cNvSpPr/>
          <p:nvPr/>
        </p:nvSpPr>
        <p:spPr>
          <a:xfrm>
            <a:off x="4526280" y="2724912"/>
            <a:ext cx="2057400" cy="1362456"/>
          </a:xfrm>
          <a:prstGeom prst="roundRect">
            <a:avLst>
              <a:gd name="adj" fmla="val 6711"/>
            </a:avLst>
          </a:prstGeom>
          <a:solidFill>
            <a:srgbClr val="CC3333"/>
          </a:solidFill>
          <a:ln>
            <a:noFill/>
          </a:ln>
          <a:effectLst/>
        </p:spPr>
        <p:txBody>
          <a:bodyPr rtlCol="0" anchor="ctr" wrap="square" lIns="128016" rIns="128016" tIns="73152" bIns="73152">
            <a:noAutofit/>
          </a:bodyPr>
          <a:lstStyle/>
          <a:p>
            <a:pPr algn="ctr">
              <a:spcBef>
                <a:spcPts val="0"/>
              </a:spcBef>
              <a:spcAft>
                <a:spcPts val="0"/>
              </a:spcAft>
            </a:pPr>
            <a:r>
              <a:rPr lang="tr-TR" sz="1900" b="1" i="0">
                <a:solidFill>
                  <a:srgbClr val="FFFFFF"/>
                </a:solidFill>
                <a:latin typeface="Calibri"/>
              </a:rPr>
              <a:t>Müdahale</a:t>
            </a:r>
          </a:p>
        </p:txBody>
      </p:sp>
      <p:sp>
        <p:nvSpPr>
          <p:cNvPr id="16" name="TextBox 15"/>
          <p:cNvSpPr txBox="1"/>
          <p:nvPr/>
        </p:nvSpPr>
        <p:spPr>
          <a:xfrm>
            <a:off x="6693408" y="2724912"/>
            <a:ext cx="4940503" cy="1362456"/>
          </a:xfrm>
          <a:prstGeom prst="rect">
            <a:avLst/>
          </a:prstGeom>
          <a:noFill/>
        </p:spPr>
        <p:txBody>
          <a:bodyPr wrap="square" anchor="ctr" lIns="73152" rIns="73152" tIns="36576" bIns="36576">
            <a:noAutofit/>
          </a:bodyPr>
          <a:lstStyle/>
          <a:p>
            <a:pPr algn="l">
              <a:spcBef>
                <a:spcPts val="0"/>
              </a:spcBef>
              <a:spcAft>
                <a:spcPts val="0"/>
              </a:spcAft>
            </a:pPr>
            <a:r>
              <a:rPr lang="tr-TR" sz="2000" b="0" i="0">
                <a:solidFill>
                  <a:srgbClr val="262626"/>
                </a:solidFill>
                <a:latin typeface="Calibri"/>
              </a:rPr>
              <a:t>Riskler önceden azaltılırsa can ve mal kaybı azalır, müdahale kolaylaşır (s. 212).</a:t>
            </a:r>
          </a:p>
        </p:txBody>
      </p:sp>
      <p:cxnSp>
        <p:nvCxnSpPr>
          <p:cNvPr id="17" name="Connector 16"/>
          <p:cNvCxnSpPr/>
          <p:nvPr/>
        </p:nvCxnSpPr>
        <p:spPr>
          <a:xfrm>
            <a:off x="3429000" y="4914900"/>
            <a:ext cx="1051560" cy="0"/>
          </a:xfrm>
          <a:prstGeom prst="line">
            <a:avLst/>
          </a:prstGeom>
          <a:ln w="38100">
            <a:solidFill>
              <a:srgbClr val="55992E"/>
            </a:solidFill>
            <a:headEnd type="triangle" w="med" len="med"/>
            <a:tailEnd type="triangle" w="med" len="med"/>
          </a:ln>
        </p:spPr>
      </p:cxnSp>
      <p:sp>
        <p:nvSpPr>
          <p:cNvPr id="18" name="TextBox 17"/>
          <p:cNvSpPr txBox="1"/>
          <p:nvPr/>
        </p:nvSpPr>
        <p:spPr>
          <a:xfrm>
            <a:off x="3401568" y="4530852"/>
            <a:ext cx="1097280" cy="329184"/>
          </a:xfrm>
          <a:prstGeom prst="rect">
            <a:avLst/>
          </a:prstGeom>
          <a:noFill/>
        </p:spPr>
        <p:txBody>
          <a:bodyPr wrap="square" anchor="t" lIns="73152" rIns="73152" tIns="36576" bIns="36576">
            <a:noAutofit/>
          </a:bodyPr>
          <a:lstStyle/>
          <a:p>
            <a:pPr algn="ctr">
              <a:spcBef>
                <a:spcPts val="0"/>
              </a:spcBef>
              <a:spcAft>
                <a:spcPts val="0"/>
              </a:spcAft>
            </a:pPr>
            <a:r>
              <a:rPr lang="tr-TR" sz="1400" b="1" i="0">
                <a:solidFill>
                  <a:srgbClr val="55992E"/>
                </a:solidFill>
                <a:latin typeface="Calibri"/>
              </a:rPr>
              <a:t>geri besler</a:t>
            </a:r>
          </a:p>
        </p:txBody>
      </p:sp>
      <p:sp>
        <p:nvSpPr>
          <p:cNvPr id="19" name="Rounded Rectangle 18"/>
          <p:cNvSpPr/>
          <p:nvPr/>
        </p:nvSpPr>
        <p:spPr>
          <a:xfrm>
            <a:off x="4526280" y="4233672"/>
            <a:ext cx="7162495" cy="1362456"/>
          </a:xfrm>
          <a:prstGeom prst="roundRect">
            <a:avLst>
              <a:gd name="adj" fmla="val 6711"/>
            </a:avLst>
          </a:prstGeom>
          <a:solidFill>
            <a:srgbClr val="F0F0F0"/>
          </a:solidFill>
          <a:ln>
            <a:noFill/>
          </a:ln>
          <a:effectLst/>
        </p:spPr>
        <p:txBody>
          <a:bodyPr rtlCol="0" anchor="ctr"/>
          <a:lstStyle/>
          <a:p/>
        </p:txBody>
      </p:sp>
      <p:sp>
        <p:nvSpPr>
          <p:cNvPr id="20" name="Rounded Rectangle 19"/>
          <p:cNvSpPr/>
          <p:nvPr/>
        </p:nvSpPr>
        <p:spPr>
          <a:xfrm>
            <a:off x="4526280" y="4233672"/>
            <a:ext cx="2057400" cy="1362456"/>
          </a:xfrm>
          <a:prstGeom prst="roundRect">
            <a:avLst>
              <a:gd name="adj" fmla="val 6711"/>
            </a:avLst>
          </a:prstGeom>
          <a:solidFill>
            <a:srgbClr val="55992E"/>
          </a:solidFill>
          <a:ln>
            <a:noFill/>
          </a:ln>
          <a:effectLst/>
        </p:spPr>
        <p:txBody>
          <a:bodyPr rtlCol="0" anchor="ctr" wrap="square" lIns="128016" rIns="128016" tIns="73152" bIns="73152">
            <a:noAutofit/>
          </a:bodyPr>
          <a:lstStyle/>
          <a:p>
            <a:pPr algn="ctr">
              <a:spcBef>
                <a:spcPts val="0"/>
              </a:spcBef>
              <a:spcAft>
                <a:spcPts val="0"/>
              </a:spcAft>
            </a:pPr>
            <a:r>
              <a:rPr lang="tr-TR" sz="1900" b="1" i="0">
                <a:solidFill>
                  <a:srgbClr val="FFFFFF"/>
                </a:solidFill>
                <a:latin typeface="Calibri"/>
              </a:rPr>
              <a:t>İyileştirme</a:t>
            </a:r>
          </a:p>
        </p:txBody>
      </p:sp>
      <p:sp>
        <p:nvSpPr>
          <p:cNvPr id="21" name="TextBox 20"/>
          <p:cNvSpPr txBox="1"/>
          <p:nvPr/>
        </p:nvSpPr>
        <p:spPr>
          <a:xfrm>
            <a:off x="6693408" y="4233672"/>
            <a:ext cx="4940503" cy="1362456"/>
          </a:xfrm>
          <a:prstGeom prst="rect">
            <a:avLst/>
          </a:prstGeom>
          <a:noFill/>
        </p:spPr>
        <p:txBody>
          <a:bodyPr wrap="square" anchor="ctr" lIns="73152" rIns="73152" tIns="36576" bIns="36576">
            <a:noAutofit/>
          </a:bodyPr>
          <a:lstStyle/>
          <a:p>
            <a:pPr algn="l">
              <a:spcBef>
                <a:spcPts val="0"/>
              </a:spcBef>
              <a:spcAft>
                <a:spcPts val="0"/>
              </a:spcAft>
            </a:pPr>
            <a:r>
              <a:rPr lang="tr-TR" sz="2000" b="0" i="0">
                <a:solidFill>
                  <a:srgbClr val="262626"/>
                </a:solidFill>
                <a:latin typeface="Calibri"/>
              </a:rPr>
              <a:t>İyileştirmede yeni riskler önlenir; tecrübe ve bilgilerle başa dönülüp yeniden risk azaltmaya geçilir (s. 202-203).</a:t>
            </a:r>
          </a:p>
        </p:txBody>
      </p:sp>
      <p:sp>
        <p:nvSpPr>
          <p:cNvPr id="22" name="Rounded Rectangle 21"/>
          <p:cNvSpPr/>
          <p:nvPr/>
        </p:nvSpPr>
        <p:spPr>
          <a:xfrm>
            <a:off x="502920" y="5724144"/>
            <a:ext cx="11185855" cy="566928"/>
          </a:xfrm>
          <a:prstGeom prst="roundRect">
            <a:avLst>
              <a:gd name="adj" fmla="val 8000"/>
            </a:avLst>
          </a:prstGeom>
          <a:solidFill>
            <a:srgbClr val="FFF3D1"/>
          </a:solidFill>
          <a:ln>
            <a:noFill/>
          </a:ln>
          <a:effectLst/>
        </p:spPr>
        <p:txBody>
          <a:bodyPr rtlCol="0" anchor="ctr" wrap="square" lIns="228600" rIns="228600" tIns="73152" bIns="73152">
            <a:noAutofit/>
          </a:bodyPr>
          <a:lstStyle/>
          <a:p>
            <a:pPr algn="l">
              <a:spcBef>
                <a:spcPts val="0"/>
              </a:spcBef>
              <a:spcAft>
                <a:spcPts val="0"/>
              </a:spcAft>
            </a:pPr>
            <a:r>
              <a:rPr lang="tr-TR" sz="1550" b="1" i="0">
                <a:solidFill>
                  <a:srgbClr val="262626"/>
                </a:solidFill>
                <a:latin typeface="Calibri"/>
              </a:rPr>
              <a:t>Ölçüt:</a:t>
            </a:r>
            <a:r>
              <a:rPr lang="tr-TR" sz="1550" b="0" i="0">
                <a:solidFill>
                  <a:srgbClr val="262626"/>
                </a:solidFill>
                <a:latin typeface="Calibri"/>
              </a:rPr>
              <a:t> üç aşamanın her biriyle ilişkiyi ayrı kurmak; “ilk ve en önemli aşama” gerekçesini vermek; döngünün başa dönüşünü anmak.</a:t>
            </a:r>
          </a:p>
        </p:txBody>
      </p:sp>
      <p:sp>
        <p:nvSpPr>
          <p:cNvPr id="23" name="TextBox 22"/>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24" name="Rounded Rectangle 23"/>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202-203, 212</a:t>
            </a:r>
          </a:p>
        </p:txBody>
      </p:sp>
      <p:sp>
        <p:nvSpPr>
          <p:cNvPr id="25" name="TextBox 24"/>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246 / 250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Ünite ölçme: 9. soru</a:t>
            </a:r>
          </a:p>
        </p:txBody>
      </p:sp>
      <p:sp>
        <p:nvSpPr>
          <p:cNvPr id="5" name="Rounded Rectangle 4"/>
          <p:cNvSpPr/>
          <p:nvPr/>
        </p:nvSpPr>
        <p:spPr>
          <a:xfrm>
            <a:off x="9555480" y="201168"/>
            <a:ext cx="2221992" cy="475488"/>
          </a:xfrm>
          <a:prstGeom prst="roundRect">
            <a:avLst>
              <a:gd name="adj" fmla="val 50000"/>
            </a:avLst>
          </a:prstGeom>
          <a:solidFill>
            <a:srgbClr val="D3373A"/>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SORU 9</a:t>
            </a:r>
          </a:p>
        </p:txBody>
      </p:sp>
      <p:sp>
        <p:nvSpPr>
          <p:cNvPr id="6" name="Rounded Rectangle 5"/>
          <p:cNvSpPr/>
          <p:nvPr/>
        </p:nvSpPr>
        <p:spPr>
          <a:xfrm>
            <a:off x="502920" y="1216152"/>
            <a:ext cx="11185855" cy="1234440"/>
          </a:xfrm>
          <a:prstGeom prst="roundRect">
            <a:avLst>
              <a:gd name="adj" fmla="val 6000"/>
            </a:avLst>
          </a:prstGeom>
          <a:solidFill>
            <a:srgbClr val="FFF3D1"/>
          </a:solidFill>
          <a:ln>
            <a:noFill/>
          </a:ln>
          <a:effectLst/>
        </p:spPr>
        <p:txBody>
          <a:bodyPr rtlCol="0" anchor="ctr"/>
          <a:lstStyle/>
          <a:p/>
        </p:txBody>
      </p:sp>
      <p:sp>
        <p:nvSpPr>
          <p:cNvPr id="7" name="Oval 6"/>
          <p:cNvSpPr/>
          <p:nvPr/>
        </p:nvSpPr>
        <p:spPr>
          <a:xfrm>
            <a:off x="640080" y="1353312"/>
            <a:ext cx="566928" cy="566928"/>
          </a:xfrm>
          <a:prstGeom prst="ellipse">
            <a:avLst/>
          </a:prstGeom>
          <a:solidFill>
            <a:srgbClr val="D3373A"/>
          </a:solidFill>
          <a:ln>
            <a:noFill/>
          </a:ln>
          <a:effectLst/>
        </p:spPr>
        <p:txBody>
          <a:bodyPr rtlCol="0" anchor="ctr" wrap="none" lIns="0" rIns="0" tIns="0" bIns="0">
            <a:noAutofit/>
          </a:bodyPr>
          <a:lstStyle/>
          <a:p>
            <a:pPr algn="ctr">
              <a:spcBef>
                <a:spcPts val="0"/>
              </a:spcBef>
              <a:spcAft>
                <a:spcPts val="0"/>
              </a:spcAft>
            </a:pPr>
            <a:r>
              <a:rPr lang="tr-TR" sz="2200" b="1" i="0">
                <a:solidFill>
                  <a:srgbClr val="FFFFFF"/>
                </a:solidFill>
                <a:latin typeface="Calibri"/>
              </a:rPr>
              <a:t>9</a:t>
            </a:r>
          </a:p>
        </p:txBody>
      </p:sp>
      <p:sp>
        <p:nvSpPr>
          <p:cNvPr id="8" name="TextBox 7"/>
          <p:cNvSpPr txBox="1"/>
          <p:nvPr/>
        </p:nvSpPr>
        <p:spPr>
          <a:xfrm>
            <a:off x="1325880" y="1289304"/>
            <a:ext cx="10271455" cy="1088136"/>
          </a:xfrm>
          <a:prstGeom prst="rect">
            <a:avLst/>
          </a:prstGeom>
          <a:noFill/>
        </p:spPr>
        <p:txBody>
          <a:bodyPr wrap="square" anchor="ctr" lIns="73152" rIns="73152" tIns="36576" bIns="36576">
            <a:noAutofit/>
          </a:bodyPr>
          <a:lstStyle/>
          <a:p>
            <a:pPr algn="l">
              <a:spcBef>
                <a:spcPts val="0"/>
              </a:spcBef>
              <a:spcAft>
                <a:spcPts val="0"/>
              </a:spcAft>
            </a:pPr>
            <a:r>
              <a:rPr lang="tr-TR" sz="2800" b="1" i="0">
                <a:solidFill>
                  <a:srgbClr val="262626"/>
                </a:solidFill>
                <a:latin typeface="Calibri"/>
              </a:rPr>
              <a:t>Bütüncül afet yönetiminin getirdiği yeni yaklaşım ile klasik afet ve acil durum yönetim yaklaşımını karşılaştırınız.</a:t>
            </a:r>
          </a:p>
        </p:txBody>
      </p:sp>
      <p:sp>
        <p:nvSpPr>
          <p:cNvPr id="9" name="TextBox 8"/>
          <p:cNvSpPr txBox="1"/>
          <p:nvPr/>
        </p:nvSpPr>
        <p:spPr>
          <a:xfrm>
            <a:off x="502920" y="2633472"/>
            <a:ext cx="11185855" cy="457200"/>
          </a:xfrm>
          <a:prstGeom prst="rect">
            <a:avLst/>
          </a:prstGeom>
          <a:noFill/>
        </p:spPr>
        <p:txBody>
          <a:bodyPr wrap="square" anchor="ctr" lIns="73152" rIns="73152" tIns="36576" bIns="36576">
            <a:noAutofit/>
          </a:bodyPr>
          <a:lstStyle/>
          <a:p>
            <a:pPr algn="l">
              <a:spcBef>
                <a:spcPts val="0"/>
              </a:spcBef>
              <a:spcAft>
                <a:spcPts val="0"/>
              </a:spcAft>
            </a:pPr>
            <a:r>
              <a:rPr lang="tr-TR" sz="2000" b="1" i="0">
                <a:solidFill>
                  <a:srgbClr val="767676"/>
                </a:solidFill>
                <a:latin typeface="Calibri"/>
              </a:rPr>
              <a:t>Karşılaştırırken şu ölçütlere bak (s. 212 tablosu):</a:t>
            </a:r>
          </a:p>
        </p:txBody>
      </p:sp>
      <p:sp>
        <p:nvSpPr>
          <p:cNvPr id="10" name="Rounded Rectangle 9"/>
          <p:cNvSpPr/>
          <p:nvPr/>
        </p:nvSpPr>
        <p:spPr>
          <a:xfrm>
            <a:off x="502920" y="3227832"/>
            <a:ext cx="3618890" cy="777240"/>
          </a:xfrm>
          <a:prstGeom prst="roundRect">
            <a:avLst>
              <a:gd name="adj" fmla="val 30000"/>
            </a:avLst>
          </a:prstGeom>
          <a:solidFill>
            <a:srgbClr val="FFFFFF"/>
          </a:solidFill>
          <a:ln w="25400">
            <a:solidFill>
              <a:srgbClr val="1E7B6E"/>
            </a:solidFill>
          </a:ln>
          <a:effectLst/>
        </p:spPr>
        <p:txBody>
          <a:bodyPr rtlCol="0" anchor="ctr" wrap="square" lIns="128016" rIns="128016" tIns="73152" bIns="73152">
            <a:noAutofit/>
          </a:bodyPr>
          <a:lstStyle/>
          <a:p>
            <a:pPr algn="ctr">
              <a:spcBef>
                <a:spcPts val="0"/>
              </a:spcBef>
              <a:spcAft>
                <a:spcPts val="0"/>
              </a:spcAft>
            </a:pPr>
            <a:r>
              <a:rPr lang="tr-TR" sz="2200" b="1" i="0">
                <a:solidFill>
                  <a:srgbClr val="262626"/>
                </a:solidFill>
                <a:latin typeface="Calibri"/>
              </a:rPr>
              <a:t>Afete bakış</a:t>
            </a:r>
          </a:p>
        </p:txBody>
      </p:sp>
      <p:sp>
        <p:nvSpPr>
          <p:cNvPr id="11" name="Rounded Rectangle 10"/>
          <p:cNvSpPr/>
          <p:nvPr/>
        </p:nvSpPr>
        <p:spPr>
          <a:xfrm>
            <a:off x="4286402" y="3227832"/>
            <a:ext cx="3618890" cy="777240"/>
          </a:xfrm>
          <a:prstGeom prst="roundRect">
            <a:avLst>
              <a:gd name="adj" fmla="val 30000"/>
            </a:avLst>
          </a:prstGeom>
          <a:solidFill>
            <a:srgbClr val="FFFFFF"/>
          </a:solidFill>
          <a:ln w="25400">
            <a:solidFill>
              <a:srgbClr val="1E7B6E"/>
            </a:solidFill>
          </a:ln>
          <a:effectLst/>
        </p:spPr>
        <p:txBody>
          <a:bodyPr rtlCol="0" anchor="ctr" wrap="square" lIns="128016" rIns="128016" tIns="73152" bIns="73152">
            <a:noAutofit/>
          </a:bodyPr>
          <a:lstStyle/>
          <a:p>
            <a:pPr algn="ctr">
              <a:spcBef>
                <a:spcPts val="0"/>
              </a:spcBef>
              <a:spcAft>
                <a:spcPts val="0"/>
              </a:spcAft>
            </a:pPr>
            <a:r>
              <a:rPr lang="tr-TR" sz="2200" b="1" i="0">
                <a:solidFill>
                  <a:srgbClr val="262626"/>
                </a:solidFill>
                <a:latin typeface="Calibri"/>
              </a:rPr>
              <a:t>Çalışmaların zamanı</a:t>
            </a:r>
          </a:p>
        </p:txBody>
      </p:sp>
      <p:sp>
        <p:nvSpPr>
          <p:cNvPr id="12" name="Rounded Rectangle 11"/>
          <p:cNvSpPr/>
          <p:nvPr/>
        </p:nvSpPr>
        <p:spPr>
          <a:xfrm>
            <a:off x="8069884" y="3227832"/>
            <a:ext cx="3618890" cy="777240"/>
          </a:xfrm>
          <a:prstGeom prst="roundRect">
            <a:avLst>
              <a:gd name="adj" fmla="val 30000"/>
            </a:avLst>
          </a:prstGeom>
          <a:solidFill>
            <a:srgbClr val="FFFFFF"/>
          </a:solidFill>
          <a:ln w="25400">
            <a:solidFill>
              <a:srgbClr val="1E7B6E"/>
            </a:solidFill>
          </a:ln>
          <a:effectLst/>
        </p:spPr>
        <p:txBody>
          <a:bodyPr rtlCol="0" anchor="ctr" wrap="square" lIns="128016" rIns="128016" tIns="73152" bIns="73152">
            <a:noAutofit/>
          </a:bodyPr>
          <a:lstStyle/>
          <a:p>
            <a:pPr algn="ctr">
              <a:spcBef>
                <a:spcPts val="0"/>
              </a:spcBef>
              <a:spcAft>
                <a:spcPts val="0"/>
              </a:spcAft>
            </a:pPr>
            <a:r>
              <a:rPr lang="tr-TR" sz="2200" b="1" i="0">
                <a:solidFill>
                  <a:srgbClr val="262626"/>
                </a:solidFill>
                <a:latin typeface="Calibri"/>
              </a:rPr>
              <a:t>Toplumun yeri</a:t>
            </a:r>
          </a:p>
        </p:txBody>
      </p:sp>
      <p:sp>
        <p:nvSpPr>
          <p:cNvPr id="13" name="Rounded Rectangle 12"/>
          <p:cNvSpPr/>
          <p:nvPr/>
        </p:nvSpPr>
        <p:spPr>
          <a:xfrm>
            <a:off x="502920" y="4169664"/>
            <a:ext cx="3618890" cy="777240"/>
          </a:xfrm>
          <a:prstGeom prst="roundRect">
            <a:avLst>
              <a:gd name="adj" fmla="val 30000"/>
            </a:avLst>
          </a:prstGeom>
          <a:solidFill>
            <a:srgbClr val="FFFFFF"/>
          </a:solidFill>
          <a:ln w="25400">
            <a:solidFill>
              <a:srgbClr val="1E7B6E"/>
            </a:solidFill>
          </a:ln>
          <a:effectLst/>
        </p:spPr>
        <p:txBody>
          <a:bodyPr rtlCol="0" anchor="ctr" wrap="square" lIns="128016" rIns="128016" tIns="73152" bIns="73152">
            <a:noAutofit/>
          </a:bodyPr>
          <a:lstStyle/>
          <a:p>
            <a:pPr algn="ctr">
              <a:spcBef>
                <a:spcPts val="0"/>
              </a:spcBef>
              <a:spcAft>
                <a:spcPts val="0"/>
              </a:spcAft>
            </a:pPr>
            <a:r>
              <a:rPr lang="tr-TR" sz="2200" b="1" i="0">
                <a:solidFill>
                  <a:srgbClr val="262626"/>
                </a:solidFill>
                <a:latin typeface="Calibri"/>
              </a:rPr>
              <a:t>Karar verenler</a:t>
            </a:r>
          </a:p>
        </p:txBody>
      </p:sp>
      <p:sp>
        <p:nvSpPr>
          <p:cNvPr id="14" name="Rounded Rectangle 13"/>
          <p:cNvSpPr/>
          <p:nvPr/>
        </p:nvSpPr>
        <p:spPr>
          <a:xfrm>
            <a:off x="4286402" y="4169664"/>
            <a:ext cx="3618890" cy="777240"/>
          </a:xfrm>
          <a:prstGeom prst="roundRect">
            <a:avLst>
              <a:gd name="adj" fmla="val 30000"/>
            </a:avLst>
          </a:prstGeom>
          <a:solidFill>
            <a:srgbClr val="FFFFFF"/>
          </a:solidFill>
          <a:ln w="25400">
            <a:solidFill>
              <a:srgbClr val="1E7B6E"/>
            </a:solidFill>
          </a:ln>
          <a:effectLst/>
        </p:spPr>
        <p:txBody>
          <a:bodyPr rtlCol="0" anchor="ctr" wrap="square" lIns="128016" rIns="128016" tIns="73152" bIns="73152">
            <a:noAutofit/>
          </a:bodyPr>
          <a:lstStyle/>
          <a:p>
            <a:pPr algn="ctr">
              <a:spcBef>
                <a:spcPts val="0"/>
              </a:spcBef>
              <a:spcAft>
                <a:spcPts val="0"/>
              </a:spcAft>
            </a:pPr>
            <a:r>
              <a:rPr lang="tr-TR" sz="2200" b="1" i="0">
                <a:solidFill>
                  <a:srgbClr val="262626"/>
                </a:solidFill>
                <a:latin typeface="Calibri"/>
              </a:rPr>
              <a:t>Çözüm ve hesap verme</a:t>
            </a:r>
          </a:p>
        </p:txBody>
      </p:sp>
      <p:sp>
        <p:nvSpPr>
          <p:cNvPr id="15" name="Rounded Rectangle 14"/>
          <p:cNvSpPr/>
          <p:nvPr/>
        </p:nvSpPr>
        <p:spPr>
          <a:xfrm>
            <a:off x="8069884" y="4169664"/>
            <a:ext cx="3618890" cy="777240"/>
          </a:xfrm>
          <a:prstGeom prst="roundRect">
            <a:avLst>
              <a:gd name="adj" fmla="val 30000"/>
            </a:avLst>
          </a:prstGeom>
          <a:solidFill>
            <a:srgbClr val="FFFFFF"/>
          </a:solidFill>
          <a:ln w="25400">
            <a:solidFill>
              <a:srgbClr val="1E7B6E"/>
            </a:solidFill>
          </a:ln>
          <a:effectLst/>
        </p:spPr>
        <p:txBody>
          <a:bodyPr rtlCol="0" anchor="ctr" wrap="square" lIns="128016" rIns="128016" tIns="73152" bIns="73152">
            <a:noAutofit/>
          </a:bodyPr>
          <a:lstStyle/>
          <a:p>
            <a:pPr algn="ctr">
              <a:spcBef>
                <a:spcPts val="0"/>
              </a:spcBef>
              <a:spcAft>
                <a:spcPts val="0"/>
              </a:spcAft>
            </a:pPr>
            <a:r>
              <a:rPr lang="tr-TR" sz="2200" b="1" i="0">
                <a:solidFill>
                  <a:srgbClr val="262626"/>
                </a:solidFill>
                <a:latin typeface="Calibri"/>
              </a:rPr>
              <a:t>Afet sonrası amaç</a:t>
            </a:r>
          </a:p>
        </p:txBody>
      </p:sp>
      <p:sp>
        <p:nvSpPr>
          <p:cNvPr id="16" name="Rounded Rectangle 15"/>
          <p:cNvSpPr/>
          <p:nvPr/>
        </p:nvSpPr>
        <p:spPr>
          <a:xfrm>
            <a:off x="502920" y="5157216"/>
            <a:ext cx="11185855" cy="1133856"/>
          </a:xfrm>
          <a:prstGeom prst="roundRect">
            <a:avLst>
              <a:gd name="adj" fmla="val 8000"/>
            </a:avLst>
          </a:prstGeom>
          <a:solidFill>
            <a:srgbClr val="FFF3D1"/>
          </a:solidFill>
          <a:ln>
            <a:noFill/>
          </a:ln>
          <a:effectLst/>
        </p:spPr>
        <p:txBody>
          <a:bodyPr rtlCol="0" anchor="ctr" wrap="square" lIns="128016" rIns="128016" tIns="73152" bIns="73152">
            <a:noAutofit/>
          </a:bodyPr>
          <a:lstStyle/>
          <a:p>
            <a:pPr algn="ctr">
              <a:spcBef>
                <a:spcPts val="0"/>
              </a:spcBef>
              <a:spcAft>
                <a:spcPts val="0"/>
              </a:spcAft>
            </a:pPr>
            <a:r>
              <a:rPr lang="tr-TR" sz="2100" b="0" i="0">
                <a:solidFill>
                  <a:srgbClr val="262626"/>
                </a:solidFill>
                <a:latin typeface="Calibri"/>
              </a:rPr>
              <a:t>Kalıp: “Klasik yaklaşımda … iken yeni yaklaşımda …”</a:t>
            </a:r>
          </a:p>
        </p:txBody>
      </p:sp>
      <p:sp>
        <p:nvSpPr>
          <p:cNvPr id="17" name="TextBox 16"/>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18" name="Rounded Rectangle 17"/>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212-213</a:t>
            </a:r>
          </a:p>
        </p:txBody>
      </p:sp>
      <p:sp>
        <p:nvSpPr>
          <p:cNvPr id="19" name="TextBox 18"/>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247 / 250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9. soru — örnek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SORU 9</a:t>
            </a:r>
          </a:p>
        </p:txBody>
      </p:sp>
      <p:sp>
        <p:nvSpPr>
          <p:cNvPr id="6" name="Rectangle 5"/>
          <p:cNvSpPr/>
          <p:nvPr/>
        </p:nvSpPr>
        <p:spPr>
          <a:xfrm>
            <a:off x="502920" y="1216152"/>
            <a:ext cx="2423160" cy="457200"/>
          </a:xfrm>
          <a:prstGeom prst="rect">
            <a:avLst/>
          </a:prstGeom>
          <a:solidFill>
            <a:srgbClr val="F0F0F0"/>
          </a:solidFill>
          <a:ln w="19050">
            <a:solidFill>
              <a:srgbClr val="FFFFFF"/>
            </a:solidFill>
          </a:ln>
          <a:effectLst/>
        </p:spPr>
        <p:txBody>
          <a:bodyPr rtlCol="0" anchor="ctr" wrap="square" tIns="27432" bIns="27432">
            <a:noAutofit/>
          </a:bodyPr>
          <a:lstStyle/>
          <a:p>
            <a:pPr algn="ctr">
              <a:spcBef>
                <a:spcPts val="0"/>
              </a:spcBef>
              <a:spcAft>
                <a:spcPts val="0"/>
              </a:spcAft>
            </a:pPr>
            <a:r>
              <a:rPr lang="tr-TR" sz="1700" b="1" i="0">
                <a:solidFill>
                  <a:srgbClr val="262626"/>
                </a:solidFill>
                <a:latin typeface="Calibri"/>
              </a:rPr>
              <a:t>Karşılaştırma ölçütü</a:t>
            </a:r>
          </a:p>
        </p:txBody>
      </p:sp>
      <p:sp>
        <p:nvSpPr>
          <p:cNvPr id="7" name="Rectangle 6"/>
          <p:cNvSpPr/>
          <p:nvPr/>
        </p:nvSpPr>
        <p:spPr>
          <a:xfrm>
            <a:off x="2926080" y="1216152"/>
            <a:ext cx="3657600" cy="457200"/>
          </a:xfrm>
          <a:prstGeom prst="rect">
            <a:avLst/>
          </a:prstGeom>
          <a:solidFill>
            <a:srgbClr val="4F4F4F"/>
          </a:solidFill>
          <a:ln w="19050">
            <a:solidFill>
              <a:srgbClr val="FFFFFF"/>
            </a:solidFill>
          </a:ln>
          <a:effectLst/>
        </p:spPr>
        <p:txBody>
          <a:bodyPr rtlCol="0" anchor="ctr" wrap="square" tIns="27432" bIns="27432">
            <a:noAutofit/>
          </a:bodyPr>
          <a:lstStyle/>
          <a:p>
            <a:pPr algn="ctr">
              <a:spcBef>
                <a:spcPts val="0"/>
              </a:spcBef>
              <a:spcAft>
                <a:spcPts val="0"/>
              </a:spcAft>
            </a:pPr>
            <a:r>
              <a:rPr lang="tr-TR" sz="1700" b="1" i="0">
                <a:solidFill>
                  <a:srgbClr val="FFFFFF"/>
                </a:solidFill>
                <a:latin typeface="Calibri"/>
              </a:rPr>
              <a:t>Klasik yaklaşım</a:t>
            </a:r>
          </a:p>
        </p:txBody>
      </p:sp>
      <p:sp>
        <p:nvSpPr>
          <p:cNvPr id="8" name="Rectangle 7"/>
          <p:cNvSpPr/>
          <p:nvPr/>
        </p:nvSpPr>
        <p:spPr>
          <a:xfrm>
            <a:off x="6583680" y="1216152"/>
            <a:ext cx="5105095" cy="457200"/>
          </a:xfrm>
          <a:prstGeom prst="rect">
            <a:avLst/>
          </a:prstGeom>
          <a:solidFill>
            <a:srgbClr val="1E7B6E"/>
          </a:solidFill>
          <a:ln w="19050">
            <a:solidFill>
              <a:srgbClr val="FFFFFF"/>
            </a:solidFill>
          </a:ln>
          <a:effectLst/>
        </p:spPr>
        <p:txBody>
          <a:bodyPr rtlCol="0" anchor="ctr" wrap="square" tIns="27432" bIns="27432">
            <a:noAutofit/>
          </a:bodyPr>
          <a:lstStyle/>
          <a:p>
            <a:pPr algn="ctr">
              <a:spcBef>
                <a:spcPts val="0"/>
              </a:spcBef>
              <a:spcAft>
                <a:spcPts val="0"/>
              </a:spcAft>
            </a:pPr>
            <a:r>
              <a:rPr lang="tr-TR" sz="1700" b="1" i="0">
                <a:solidFill>
                  <a:srgbClr val="FFFFFF"/>
                </a:solidFill>
                <a:latin typeface="Calibri"/>
              </a:rPr>
              <a:t>Yeni (bütüncül) yaklaşım</a:t>
            </a:r>
          </a:p>
        </p:txBody>
      </p:sp>
      <p:sp>
        <p:nvSpPr>
          <p:cNvPr id="9" name="Rectangle 8"/>
          <p:cNvSpPr/>
          <p:nvPr/>
        </p:nvSpPr>
        <p:spPr>
          <a:xfrm>
            <a:off x="502920" y="1673352"/>
            <a:ext cx="2423160" cy="641540"/>
          </a:xfrm>
          <a:prstGeom prst="rect">
            <a:avLst/>
          </a:prstGeom>
          <a:solidFill>
            <a:srgbClr val="F0F0F0"/>
          </a:solidFill>
          <a:ln w="19050">
            <a:solidFill>
              <a:srgbClr val="FFFFFF"/>
            </a:solidFill>
          </a:ln>
          <a:effectLst/>
        </p:spPr>
        <p:txBody>
          <a:bodyPr rtlCol="0" anchor="ctr" wrap="square" tIns="27432" bIns="27432">
            <a:noAutofit/>
          </a:bodyPr>
          <a:lstStyle/>
          <a:p>
            <a:pPr algn="l">
              <a:spcBef>
                <a:spcPts val="0"/>
              </a:spcBef>
              <a:spcAft>
                <a:spcPts val="0"/>
              </a:spcAft>
            </a:pPr>
            <a:r>
              <a:rPr lang="tr-TR" sz="1650" b="1" i="0">
                <a:solidFill>
                  <a:srgbClr val="262626"/>
                </a:solidFill>
                <a:latin typeface="Calibri"/>
              </a:rPr>
              <a:t>Afete bakış</a:t>
            </a:r>
          </a:p>
        </p:txBody>
      </p:sp>
      <p:sp>
        <p:nvSpPr>
          <p:cNvPr id="10" name="Rectangle 9"/>
          <p:cNvSpPr/>
          <p:nvPr/>
        </p:nvSpPr>
        <p:spPr>
          <a:xfrm>
            <a:off x="2926080" y="1673352"/>
            <a:ext cx="3657600" cy="641540"/>
          </a:xfrm>
          <a:prstGeom prst="rect">
            <a:avLst/>
          </a:prstGeom>
          <a:solidFill>
            <a:srgbClr val="F0F0F0"/>
          </a:solidFill>
          <a:ln w="19050">
            <a:solidFill>
              <a:srgbClr val="FFFFFF"/>
            </a:solidFill>
          </a:ln>
          <a:effectLst/>
        </p:spPr>
        <p:txBody>
          <a:bodyPr rtlCol="0" anchor="ctr" wrap="square" tIns="27432" bIns="27432">
            <a:noAutofit/>
          </a:bodyPr>
          <a:lstStyle/>
          <a:p>
            <a:pPr algn="l">
              <a:spcBef>
                <a:spcPts val="0"/>
              </a:spcBef>
              <a:spcAft>
                <a:spcPts val="0"/>
              </a:spcAft>
            </a:pPr>
            <a:r>
              <a:rPr lang="tr-TR" sz="1650" b="0" i="0">
                <a:solidFill>
                  <a:srgbClr val="262626"/>
                </a:solidFill>
                <a:latin typeface="Calibri"/>
              </a:rPr>
              <a:t>Nadir rastlanan olay</a:t>
            </a:r>
          </a:p>
        </p:txBody>
      </p:sp>
      <p:sp>
        <p:nvSpPr>
          <p:cNvPr id="11" name="Rectangle 10"/>
          <p:cNvSpPr/>
          <p:nvPr/>
        </p:nvSpPr>
        <p:spPr>
          <a:xfrm>
            <a:off x="6583680" y="1673352"/>
            <a:ext cx="5105095" cy="641540"/>
          </a:xfrm>
          <a:prstGeom prst="rect">
            <a:avLst/>
          </a:prstGeom>
          <a:solidFill>
            <a:srgbClr val="E3F1E4"/>
          </a:solidFill>
          <a:ln w="19050">
            <a:solidFill>
              <a:srgbClr val="FFFFFF"/>
            </a:solidFill>
          </a:ln>
          <a:effectLst/>
        </p:spPr>
        <p:txBody>
          <a:bodyPr rtlCol="0" anchor="ctr" wrap="square" tIns="27432" bIns="27432">
            <a:noAutofit/>
          </a:bodyPr>
          <a:lstStyle/>
          <a:p>
            <a:pPr algn="l">
              <a:spcBef>
                <a:spcPts val="0"/>
              </a:spcBef>
              <a:spcAft>
                <a:spcPts val="0"/>
              </a:spcAft>
            </a:pPr>
            <a:r>
              <a:rPr lang="tr-TR" sz="1650" b="0" i="0">
                <a:solidFill>
                  <a:srgbClr val="262626"/>
                </a:solidFill>
                <a:latin typeface="Calibri"/>
              </a:rPr>
              <a:t>Gündelik hayatın, sürdürülebilir kalkınmanın parçası; fırsat penceresi</a:t>
            </a:r>
          </a:p>
        </p:txBody>
      </p:sp>
      <p:sp>
        <p:nvSpPr>
          <p:cNvPr id="12" name="Rectangle 11"/>
          <p:cNvSpPr/>
          <p:nvPr/>
        </p:nvSpPr>
        <p:spPr>
          <a:xfrm>
            <a:off x="502920" y="2314892"/>
            <a:ext cx="2423160" cy="385889"/>
          </a:xfrm>
          <a:prstGeom prst="rect">
            <a:avLst/>
          </a:prstGeom>
          <a:solidFill>
            <a:srgbClr val="FFFFFF"/>
          </a:solidFill>
          <a:ln w="19050">
            <a:solidFill>
              <a:srgbClr val="FFFFFF"/>
            </a:solidFill>
          </a:ln>
          <a:effectLst/>
        </p:spPr>
        <p:txBody>
          <a:bodyPr rtlCol="0" anchor="ctr" wrap="square" tIns="27432" bIns="27432">
            <a:noAutofit/>
          </a:bodyPr>
          <a:lstStyle/>
          <a:p>
            <a:pPr algn="l">
              <a:spcBef>
                <a:spcPts val="0"/>
              </a:spcBef>
              <a:spcAft>
                <a:spcPts val="0"/>
              </a:spcAft>
            </a:pPr>
            <a:r>
              <a:rPr lang="tr-TR" sz="1650" b="1" i="0">
                <a:solidFill>
                  <a:srgbClr val="262626"/>
                </a:solidFill>
                <a:latin typeface="Calibri"/>
              </a:rPr>
              <a:t>Çalışmaların zamanı</a:t>
            </a:r>
          </a:p>
        </p:txBody>
      </p:sp>
      <p:sp>
        <p:nvSpPr>
          <p:cNvPr id="13" name="Rectangle 12"/>
          <p:cNvSpPr/>
          <p:nvPr/>
        </p:nvSpPr>
        <p:spPr>
          <a:xfrm>
            <a:off x="2926080" y="2314892"/>
            <a:ext cx="3657600" cy="385889"/>
          </a:xfrm>
          <a:prstGeom prst="rect">
            <a:avLst/>
          </a:prstGeom>
          <a:solidFill>
            <a:srgbClr val="FFFFFF"/>
          </a:solidFill>
          <a:ln w="19050">
            <a:solidFill>
              <a:srgbClr val="FFFFFF"/>
            </a:solidFill>
          </a:ln>
          <a:effectLst/>
        </p:spPr>
        <p:txBody>
          <a:bodyPr rtlCol="0" anchor="ctr" wrap="square" tIns="27432" bIns="27432">
            <a:noAutofit/>
          </a:bodyPr>
          <a:lstStyle/>
          <a:p>
            <a:pPr algn="l">
              <a:spcBef>
                <a:spcPts val="0"/>
              </a:spcBef>
              <a:spcAft>
                <a:spcPts val="0"/>
              </a:spcAft>
            </a:pPr>
            <a:r>
              <a:rPr lang="tr-TR" sz="1650" b="0" i="0">
                <a:solidFill>
                  <a:srgbClr val="262626"/>
                </a:solidFill>
                <a:latin typeface="Calibri"/>
              </a:rPr>
              <a:t>Daha çok afet sonrası</a:t>
            </a:r>
          </a:p>
        </p:txBody>
      </p:sp>
      <p:sp>
        <p:nvSpPr>
          <p:cNvPr id="14" name="Rectangle 13"/>
          <p:cNvSpPr/>
          <p:nvPr/>
        </p:nvSpPr>
        <p:spPr>
          <a:xfrm>
            <a:off x="6583680" y="2314892"/>
            <a:ext cx="5105095" cy="385889"/>
          </a:xfrm>
          <a:prstGeom prst="rect">
            <a:avLst/>
          </a:prstGeom>
          <a:solidFill>
            <a:srgbClr val="FFFFFF"/>
          </a:solidFill>
          <a:ln w="19050">
            <a:solidFill>
              <a:srgbClr val="FFFFFF"/>
            </a:solidFill>
          </a:ln>
          <a:effectLst/>
        </p:spPr>
        <p:txBody>
          <a:bodyPr rtlCol="0" anchor="ctr" wrap="square" tIns="27432" bIns="27432">
            <a:noAutofit/>
          </a:bodyPr>
          <a:lstStyle/>
          <a:p>
            <a:pPr algn="l">
              <a:spcBef>
                <a:spcPts val="0"/>
              </a:spcBef>
              <a:spcAft>
                <a:spcPts val="0"/>
              </a:spcAft>
            </a:pPr>
            <a:r>
              <a:rPr lang="tr-TR" sz="1650" b="0" i="0">
                <a:solidFill>
                  <a:srgbClr val="262626"/>
                </a:solidFill>
                <a:latin typeface="Calibri"/>
              </a:rPr>
              <a:t>Daha çok afet öncesi: hazırlık ve etkileri azaltma</a:t>
            </a:r>
          </a:p>
        </p:txBody>
      </p:sp>
      <p:sp>
        <p:nvSpPr>
          <p:cNvPr id="15" name="Rectangle 14"/>
          <p:cNvSpPr/>
          <p:nvPr/>
        </p:nvSpPr>
        <p:spPr>
          <a:xfrm>
            <a:off x="502920" y="2700781"/>
            <a:ext cx="2423160" cy="641540"/>
          </a:xfrm>
          <a:prstGeom prst="rect">
            <a:avLst/>
          </a:prstGeom>
          <a:solidFill>
            <a:srgbClr val="F0F0F0"/>
          </a:solidFill>
          <a:ln w="19050">
            <a:solidFill>
              <a:srgbClr val="FFFFFF"/>
            </a:solidFill>
          </a:ln>
          <a:effectLst/>
        </p:spPr>
        <p:txBody>
          <a:bodyPr rtlCol="0" anchor="ctr" wrap="square" tIns="27432" bIns="27432">
            <a:noAutofit/>
          </a:bodyPr>
          <a:lstStyle/>
          <a:p>
            <a:pPr algn="l">
              <a:spcBef>
                <a:spcPts val="0"/>
              </a:spcBef>
              <a:spcAft>
                <a:spcPts val="0"/>
              </a:spcAft>
            </a:pPr>
            <a:r>
              <a:rPr lang="tr-TR" sz="1650" b="1" i="0">
                <a:solidFill>
                  <a:srgbClr val="262626"/>
                </a:solidFill>
                <a:latin typeface="Calibri"/>
              </a:rPr>
              <a:t>Toplumun yeri</a:t>
            </a:r>
          </a:p>
        </p:txBody>
      </p:sp>
      <p:sp>
        <p:nvSpPr>
          <p:cNvPr id="16" name="Rectangle 15"/>
          <p:cNvSpPr/>
          <p:nvPr/>
        </p:nvSpPr>
        <p:spPr>
          <a:xfrm>
            <a:off x="2926080" y="2700781"/>
            <a:ext cx="3657600" cy="641540"/>
          </a:xfrm>
          <a:prstGeom prst="rect">
            <a:avLst/>
          </a:prstGeom>
          <a:solidFill>
            <a:srgbClr val="F0F0F0"/>
          </a:solidFill>
          <a:ln w="19050">
            <a:solidFill>
              <a:srgbClr val="FFFFFF"/>
            </a:solidFill>
          </a:ln>
          <a:effectLst/>
        </p:spPr>
        <p:txBody>
          <a:bodyPr rtlCol="0" anchor="ctr" wrap="square" tIns="27432" bIns="27432">
            <a:noAutofit/>
          </a:bodyPr>
          <a:lstStyle/>
          <a:p>
            <a:pPr algn="l">
              <a:spcBef>
                <a:spcPts val="0"/>
              </a:spcBef>
              <a:spcAft>
                <a:spcPts val="0"/>
              </a:spcAft>
            </a:pPr>
            <a:r>
              <a:rPr lang="tr-TR" sz="1650" b="0" i="0">
                <a:solidFill>
                  <a:srgbClr val="262626"/>
                </a:solidFill>
                <a:latin typeface="Calibri"/>
              </a:rPr>
              <a:t>Katılımı istenmez; insanlar yalnız “afetzede”</a:t>
            </a:r>
          </a:p>
        </p:txBody>
      </p:sp>
      <p:sp>
        <p:nvSpPr>
          <p:cNvPr id="17" name="Rectangle 16"/>
          <p:cNvSpPr/>
          <p:nvPr/>
        </p:nvSpPr>
        <p:spPr>
          <a:xfrm>
            <a:off x="6583680" y="2700781"/>
            <a:ext cx="5105095" cy="641540"/>
          </a:xfrm>
          <a:prstGeom prst="rect">
            <a:avLst/>
          </a:prstGeom>
          <a:solidFill>
            <a:srgbClr val="E3F1E4"/>
          </a:solidFill>
          <a:ln w="19050">
            <a:solidFill>
              <a:srgbClr val="FFFFFF"/>
            </a:solidFill>
          </a:ln>
          <a:effectLst/>
        </p:spPr>
        <p:txBody>
          <a:bodyPr rtlCol="0" anchor="ctr" wrap="square" tIns="27432" bIns="27432">
            <a:noAutofit/>
          </a:bodyPr>
          <a:lstStyle/>
          <a:p>
            <a:pPr algn="l">
              <a:spcBef>
                <a:spcPts val="0"/>
              </a:spcBef>
              <a:spcAft>
                <a:spcPts val="0"/>
              </a:spcAft>
            </a:pPr>
            <a:r>
              <a:rPr lang="tr-TR" sz="1650" b="0" i="0">
                <a:solidFill>
                  <a:srgbClr val="262626"/>
                </a:solidFill>
                <a:latin typeface="Calibri"/>
              </a:rPr>
              <a:t>Önemli paydaş, katılım esas; afet öncesinde de afeti analiz edip dikkate alır</a:t>
            </a:r>
          </a:p>
        </p:txBody>
      </p:sp>
      <p:sp>
        <p:nvSpPr>
          <p:cNvPr id="18" name="Rectangle 17"/>
          <p:cNvSpPr/>
          <p:nvPr/>
        </p:nvSpPr>
        <p:spPr>
          <a:xfrm>
            <a:off x="502920" y="3342321"/>
            <a:ext cx="2423160" cy="641540"/>
          </a:xfrm>
          <a:prstGeom prst="rect">
            <a:avLst/>
          </a:prstGeom>
          <a:solidFill>
            <a:srgbClr val="FFFFFF"/>
          </a:solidFill>
          <a:ln w="19050">
            <a:solidFill>
              <a:srgbClr val="FFFFFF"/>
            </a:solidFill>
          </a:ln>
          <a:effectLst/>
        </p:spPr>
        <p:txBody>
          <a:bodyPr rtlCol="0" anchor="ctr" wrap="square" tIns="27432" bIns="27432">
            <a:noAutofit/>
          </a:bodyPr>
          <a:lstStyle/>
          <a:p>
            <a:pPr algn="l">
              <a:spcBef>
                <a:spcPts val="0"/>
              </a:spcBef>
              <a:spcAft>
                <a:spcPts val="0"/>
              </a:spcAft>
            </a:pPr>
            <a:r>
              <a:rPr lang="tr-TR" sz="1650" b="1" i="0">
                <a:solidFill>
                  <a:srgbClr val="262626"/>
                </a:solidFill>
                <a:latin typeface="Calibri"/>
              </a:rPr>
              <a:t>Karar verenler</a:t>
            </a:r>
          </a:p>
        </p:txBody>
      </p:sp>
      <p:sp>
        <p:nvSpPr>
          <p:cNvPr id="19" name="Rectangle 18"/>
          <p:cNvSpPr/>
          <p:nvPr/>
        </p:nvSpPr>
        <p:spPr>
          <a:xfrm>
            <a:off x="2926080" y="3342321"/>
            <a:ext cx="3657600" cy="641540"/>
          </a:xfrm>
          <a:prstGeom prst="rect">
            <a:avLst/>
          </a:prstGeom>
          <a:solidFill>
            <a:srgbClr val="FFFFFF"/>
          </a:solidFill>
          <a:ln w="19050">
            <a:solidFill>
              <a:srgbClr val="FFFFFF"/>
            </a:solidFill>
          </a:ln>
          <a:effectLst/>
        </p:spPr>
        <p:txBody>
          <a:bodyPr rtlCol="0" anchor="ctr" wrap="square" tIns="27432" bIns="27432">
            <a:noAutofit/>
          </a:bodyPr>
          <a:lstStyle/>
          <a:p>
            <a:pPr algn="l">
              <a:spcBef>
                <a:spcPts val="0"/>
              </a:spcBef>
              <a:spcAft>
                <a:spcPts val="0"/>
              </a:spcAft>
            </a:pPr>
            <a:r>
              <a:rPr lang="tr-TR" sz="1650" b="0" i="0">
                <a:solidFill>
                  <a:srgbClr val="262626"/>
                </a:solidFill>
                <a:latin typeface="Calibri"/>
              </a:rPr>
              <a:t>Merkezî kamu kurumları tek söz sahibi</a:t>
            </a:r>
          </a:p>
        </p:txBody>
      </p:sp>
      <p:sp>
        <p:nvSpPr>
          <p:cNvPr id="20" name="Rectangle 19"/>
          <p:cNvSpPr/>
          <p:nvPr/>
        </p:nvSpPr>
        <p:spPr>
          <a:xfrm>
            <a:off x="6583680" y="3342321"/>
            <a:ext cx="5105095" cy="641540"/>
          </a:xfrm>
          <a:prstGeom prst="rect">
            <a:avLst/>
          </a:prstGeom>
          <a:solidFill>
            <a:srgbClr val="FFFFFF"/>
          </a:solidFill>
          <a:ln w="19050">
            <a:solidFill>
              <a:srgbClr val="FFFFFF"/>
            </a:solidFill>
          </a:ln>
          <a:effectLst/>
        </p:spPr>
        <p:txBody>
          <a:bodyPr rtlCol="0" anchor="ctr" wrap="square" tIns="27432" bIns="27432">
            <a:noAutofit/>
          </a:bodyPr>
          <a:lstStyle/>
          <a:p>
            <a:pPr algn="l">
              <a:spcBef>
                <a:spcPts val="0"/>
              </a:spcBef>
              <a:spcAft>
                <a:spcPts val="0"/>
              </a:spcAft>
            </a:pPr>
            <a:r>
              <a:rPr lang="tr-TR" sz="1650" b="0" i="0">
                <a:solidFill>
                  <a:srgbClr val="262626"/>
                </a:solidFill>
                <a:latin typeface="Calibri"/>
              </a:rPr>
              <a:t>Yerel kurumlar güçlendirilir; uzman ve uygulayıcıların ortak aklı</a:t>
            </a:r>
          </a:p>
        </p:txBody>
      </p:sp>
      <p:sp>
        <p:nvSpPr>
          <p:cNvPr id="21" name="Rectangle 20"/>
          <p:cNvSpPr/>
          <p:nvPr/>
        </p:nvSpPr>
        <p:spPr>
          <a:xfrm>
            <a:off x="502920" y="3983861"/>
            <a:ext cx="2423160" cy="641540"/>
          </a:xfrm>
          <a:prstGeom prst="rect">
            <a:avLst/>
          </a:prstGeom>
          <a:solidFill>
            <a:srgbClr val="F0F0F0"/>
          </a:solidFill>
          <a:ln w="19050">
            <a:solidFill>
              <a:srgbClr val="FFFFFF"/>
            </a:solidFill>
          </a:ln>
          <a:effectLst/>
        </p:spPr>
        <p:txBody>
          <a:bodyPr rtlCol="0" anchor="ctr" wrap="square" tIns="27432" bIns="27432">
            <a:noAutofit/>
          </a:bodyPr>
          <a:lstStyle/>
          <a:p>
            <a:pPr algn="l">
              <a:spcBef>
                <a:spcPts val="0"/>
              </a:spcBef>
              <a:spcAft>
                <a:spcPts val="0"/>
              </a:spcAft>
            </a:pPr>
            <a:r>
              <a:rPr lang="tr-TR" sz="1650" b="1" i="0">
                <a:solidFill>
                  <a:srgbClr val="262626"/>
                </a:solidFill>
                <a:latin typeface="Calibri"/>
              </a:rPr>
              <a:t>Çözüm ve hesap verme</a:t>
            </a:r>
          </a:p>
        </p:txBody>
      </p:sp>
      <p:sp>
        <p:nvSpPr>
          <p:cNvPr id="22" name="Rectangle 21"/>
          <p:cNvSpPr/>
          <p:nvPr/>
        </p:nvSpPr>
        <p:spPr>
          <a:xfrm>
            <a:off x="2926080" y="3983861"/>
            <a:ext cx="3657600" cy="641540"/>
          </a:xfrm>
          <a:prstGeom prst="rect">
            <a:avLst/>
          </a:prstGeom>
          <a:solidFill>
            <a:srgbClr val="F0F0F0"/>
          </a:solidFill>
          <a:ln w="19050">
            <a:solidFill>
              <a:srgbClr val="FFFFFF"/>
            </a:solidFill>
          </a:ln>
          <a:effectLst/>
        </p:spPr>
        <p:txBody>
          <a:bodyPr rtlCol="0" anchor="ctr" wrap="square" tIns="27432" bIns="27432">
            <a:noAutofit/>
          </a:bodyPr>
          <a:lstStyle/>
          <a:p>
            <a:pPr algn="l">
              <a:spcBef>
                <a:spcPts val="0"/>
              </a:spcBef>
              <a:spcAft>
                <a:spcPts val="0"/>
              </a:spcAft>
            </a:pPr>
            <a:r>
              <a:rPr lang="tr-TR" sz="1650" b="0" i="0">
                <a:solidFill>
                  <a:srgbClr val="262626"/>
                </a:solidFill>
                <a:latin typeface="Calibri"/>
              </a:rPr>
              <a:t>Teknik ve yasal emirler; nadiren hesap verme</a:t>
            </a:r>
          </a:p>
        </p:txBody>
      </p:sp>
      <p:sp>
        <p:nvSpPr>
          <p:cNvPr id="23" name="Rectangle 22"/>
          <p:cNvSpPr/>
          <p:nvPr/>
        </p:nvSpPr>
        <p:spPr>
          <a:xfrm>
            <a:off x="6583680" y="3983861"/>
            <a:ext cx="5105095" cy="641540"/>
          </a:xfrm>
          <a:prstGeom prst="rect">
            <a:avLst/>
          </a:prstGeom>
          <a:solidFill>
            <a:srgbClr val="E3F1E4"/>
          </a:solidFill>
          <a:ln w="19050">
            <a:solidFill>
              <a:srgbClr val="FFFFFF"/>
            </a:solidFill>
          </a:ln>
          <a:effectLst/>
        </p:spPr>
        <p:txBody>
          <a:bodyPr rtlCol="0" anchor="ctr" wrap="square" tIns="27432" bIns="27432">
            <a:noAutofit/>
          </a:bodyPr>
          <a:lstStyle/>
          <a:p>
            <a:pPr algn="l">
              <a:spcBef>
                <a:spcPts val="0"/>
              </a:spcBef>
              <a:spcAft>
                <a:spcPts val="0"/>
              </a:spcAft>
            </a:pPr>
            <a:r>
              <a:rPr lang="tr-TR" sz="1650" b="0" i="0">
                <a:solidFill>
                  <a:srgbClr val="262626"/>
                </a:solidFill>
                <a:latin typeface="Calibri"/>
              </a:rPr>
              <a:t>Toplum tabanlı, kapasite geliştiren çözümler; şeffaflık ve hesap verme</a:t>
            </a:r>
          </a:p>
        </p:txBody>
      </p:sp>
      <p:sp>
        <p:nvSpPr>
          <p:cNvPr id="24" name="Rectangle 23"/>
          <p:cNvSpPr/>
          <p:nvPr/>
        </p:nvSpPr>
        <p:spPr>
          <a:xfrm>
            <a:off x="502920" y="4625401"/>
            <a:ext cx="2423160" cy="641540"/>
          </a:xfrm>
          <a:prstGeom prst="rect">
            <a:avLst/>
          </a:prstGeom>
          <a:solidFill>
            <a:srgbClr val="FFFFFF"/>
          </a:solidFill>
          <a:ln w="19050">
            <a:solidFill>
              <a:srgbClr val="FFFFFF"/>
            </a:solidFill>
          </a:ln>
          <a:effectLst/>
        </p:spPr>
        <p:txBody>
          <a:bodyPr rtlCol="0" anchor="ctr" wrap="square" tIns="27432" bIns="27432">
            <a:noAutofit/>
          </a:bodyPr>
          <a:lstStyle/>
          <a:p>
            <a:pPr algn="l">
              <a:spcBef>
                <a:spcPts val="0"/>
              </a:spcBef>
              <a:spcAft>
                <a:spcPts val="0"/>
              </a:spcAft>
            </a:pPr>
            <a:r>
              <a:rPr lang="tr-TR" sz="1650" b="1" i="0">
                <a:solidFill>
                  <a:srgbClr val="262626"/>
                </a:solidFill>
                <a:latin typeface="Calibri"/>
              </a:rPr>
              <a:t>Afet sonrası amaç</a:t>
            </a:r>
          </a:p>
        </p:txBody>
      </p:sp>
      <p:sp>
        <p:nvSpPr>
          <p:cNvPr id="25" name="Rectangle 24"/>
          <p:cNvSpPr/>
          <p:nvPr/>
        </p:nvSpPr>
        <p:spPr>
          <a:xfrm>
            <a:off x="2926080" y="4625401"/>
            <a:ext cx="3657600" cy="641540"/>
          </a:xfrm>
          <a:prstGeom prst="rect">
            <a:avLst/>
          </a:prstGeom>
          <a:solidFill>
            <a:srgbClr val="FFFFFF"/>
          </a:solidFill>
          <a:ln w="19050">
            <a:solidFill>
              <a:srgbClr val="FFFFFF"/>
            </a:solidFill>
          </a:ln>
          <a:effectLst/>
        </p:spPr>
        <p:txBody>
          <a:bodyPr rtlCol="0" anchor="ctr" wrap="square" tIns="27432" bIns="27432">
            <a:noAutofit/>
          </a:bodyPr>
          <a:lstStyle/>
          <a:p>
            <a:pPr algn="l">
              <a:spcBef>
                <a:spcPts val="0"/>
              </a:spcBef>
              <a:spcAft>
                <a:spcPts val="0"/>
              </a:spcAft>
            </a:pPr>
            <a:r>
              <a:rPr lang="tr-TR" sz="1650" b="0" i="0">
                <a:solidFill>
                  <a:srgbClr val="262626"/>
                </a:solidFill>
                <a:latin typeface="Calibri"/>
              </a:rPr>
              <a:t>Toplumu afet öncesi duruma döndürmek</a:t>
            </a:r>
          </a:p>
        </p:txBody>
      </p:sp>
      <p:sp>
        <p:nvSpPr>
          <p:cNvPr id="26" name="Rectangle 25"/>
          <p:cNvSpPr/>
          <p:nvPr/>
        </p:nvSpPr>
        <p:spPr>
          <a:xfrm>
            <a:off x="6583680" y="4625401"/>
            <a:ext cx="5105095" cy="641540"/>
          </a:xfrm>
          <a:prstGeom prst="rect">
            <a:avLst/>
          </a:prstGeom>
          <a:solidFill>
            <a:srgbClr val="FFFFFF"/>
          </a:solidFill>
          <a:ln w="19050">
            <a:solidFill>
              <a:srgbClr val="FFFFFF"/>
            </a:solidFill>
          </a:ln>
          <a:effectLst/>
        </p:spPr>
        <p:txBody>
          <a:bodyPr rtlCol="0" anchor="ctr" wrap="square" tIns="27432" bIns="27432">
            <a:noAutofit/>
          </a:bodyPr>
          <a:lstStyle/>
          <a:p>
            <a:pPr algn="l">
              <a:spcBef>
                <a:spcPts val="0"/>
              </a:spcBef>
              <a:spcAft>
                <a:spcPts val="0"/>
              </a:spcAft>
            </a:pPr>
            <a:r>
              <a:rPr lang="tr-TR" sz="1650" b="0" i="0">
                <a:solidFill>
                  <a:srgbClr val="262626"/>
                </a:solidFill>
                <a:latin typeface="Calibri"/>
              </a:rPr>
              <a:t>Toplumsal dönüşüm için fırsat</a:t>
            </a:r>
          </a:p>
        </p:txBody>
      </p:sp>
      <p:sp>
        <p:nvSpPr>
          <p:cNvPr id="27" name="Rounded Rectangle 26"/>
          <p:cNvSpPr/>
          <p:nvPr/>
        </p:nvSpPr>
        <p:spPr>
          <a:xfrm>
            <a:off x="502920" y="5376672"/>
            <a:ext cx="6035040" cy="914400"/>
          </a:xfrm>
          <a:prstGeom prst="roundRect">
            <a:avLst>
              <a:gd name="adj" fmla="val 6000"/>
            </a:avLst>
          </a:prstGeom>
          <a:solidFill>
            <a:srgbClr val="E3F1E4"/>
          </a:solidFill>
          <a:ln>
            <a:noFill/>
          </a:ln>
          <a:effectLst/>
        </p:spPr>
        <p:txBody>
          <a:bodyPr rtlCol="0" anchor="ctr"/>
          <a:lstStyle/>
          <a:p/>
        </p:txBody>
      </p:sp>
      <p:sp>
        <p:nvSpPr>
          <p:cNvPr id="28" name="Rectangle 27"/>
          <p:cNvSpPr/>
          <p:nvPr/>
        </p:nvSpPr>
        <p:spPr>
          <a:xfrm>
            <a:off x="502920" y="5376672"/>
            <a:ext cx="109728" cy="914400"/>
          </a:xfrm>
          <a:prstGeom prst="rect">
            <a:avLst/>
          </a:prstGeom>
          <a:solidFill>
            <a:srgbClr val="2E7D32"/>
          </a:solidFill>
          <a:ln>
            <a:noFill/>
          </a:ln>
          <a:effectLst/>
        </p:spPr>
        <p:txBody>
          <a:bodyPr rtlCol="0" anchor="ctr"/>
          <a:lstStyle/>
          <a:p/>
        </p:txBody>
      </p:sp>
      <p:sp>
        <p:nvSpPr>
          <p:cNvPr id="29" name="TextBox 28"/>
          <p:cNvSpPr txBox="1"/>
          <p:nvPr/>
        </p:nvSpPr>
        <p:spPr>
          <a:xfrm>
            <a:off x="731520" y="5376672"/>
            <a:ext cx="5715000" cy="914400"/>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262626"/>
                </a:solidFill>
                <a:latin typeface="Calibri"/>
              </a:rPr>
              <a:t>Sonuç (örnek):</a:t>
            </a:r>
            <a:r>
              <a:rPr lang="tr-TR" sz="1900" b="0" i="0">
                <a:solidFill>
                  <a:srgbClr val="262626"/>
                </a:solidFill>
                <a:latin typeface="Calibri"/>
              </a:rPr>
              <a:t> Yeni yaklaşım riski afetten önce azaltmayı ve toplumun katılımını esas alır.</a:t>
            </a:r>
          </a:p>
        </p:txBody>
      </p:sp>
      <p:sp>
        <p:nvSpPr>
          <p:cNvPr id="30" name="Rounded Rectangle 29"/>
          <p:cNvSpPr/>
          <p:nvPr/>
        </p:nvSpPr>
        <p:spPr>
          <a:xfrm>
            <a:off x="6684264" y="5376672"/>
            <a:ext cx="5004511" cy="914400"/>
          </a:xfrm>
          <a:prstGeom prst="roundRect">
            <a:avLst>
              <a:gd name="adj" fmla="val 8000"/>
            </a:avLst>
          </a:prstGeom>
          <a:solidFill>
            <a:srgbClr val="FFF3D1"/>
          </a:solidFill>
          <a:ln>
            <a:noFill/>
          </a:ln>
          <a:effectLst/>
        </p:spPr>
        <p:txBody>
          <a:bodyPr rtlCol="0" anchor="ctr" wrap="square" lIns="228600" rIns="228600" tIns="73152" bIns="73152">
            <a:noAutofit/>
          </a:bodyPr>
          <a:lstStyle/>
          <a:p>
            <a:pPr algn="l">
              <a:spcBef>
                <a:spcPts val="0"/>
              </a:spcBef>
              <a:spcAft>
                <a:spcPts val="0"/>
              </a:spcAft>
            </a:pPr>
            <a:r>
              <a:rPr lang="tr-TR" sz="1900" b="1" i="0">
                <a:solidFill>
                  <a:srgbClr val="262626"/>
                </a:solidFill>
                <a:latin typeface="Calibri"/>
              </a:rPr>
              <a:t>Ölçüt:</a:t>
            </a:r>
            <a:r>
              <a:rPr lang="tr-TR" sz="1900" b="0" i="0">
                <a:solidFill>
                  <a:srgbClr val="262626"/>
                </a:solidFill>
                <a:latin typeface="Calibri"/>
              </a:rPr>
              <a:t> en az dört ölçütte “… iken …” karşılaştırması; ölçüt adı; sonuç cümlesi.</a:t>
            </a:r>
          </a:p>
        </p:txBody>
      </p:sp>
      <p:sp>
        <p:nvSpPr>
          <p:cNvPr id="31" name="TextBox 30"/>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32" name="Rounded Rectangle 31"/>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212</a:t>
            </a:r>
          </a:p>
        </p:txBody>
      </p:sp>
      <p:sp>
        <p:nvSpPr>
          <p:cNvPr id="33" name="TextBox 32"/>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248 / 250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Ünitenin özeti: kavram haritası</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ÜNİTE SONU</a:t>
            </a:r>
          </a:p>
        </p:txBody>
      </p:sp>
      <p:sp>
        <p:nvSpPr>
          <p:cNvPr id="6" name="Rounded Rectangle 5"/>
          <p:cNvSpPr/>
          <p:nvPr/>
        </p:nvSpPr>
        <p:spPr>
          <a:xfrm>
            <a:off x="502920" y="1216152"/>
            <a:ext cx="3606698" cy="5074920"/>
          </a:xfrm>
          <a:prstGeom prst="roundRect">
            <a:avLst>
              <a:gd name="adj" fmla="val 5000"/>
            </a:avLst>
          </a:prstGeom>
          <a:solidFill>
            <a:srgbClr val="F0F0F0"/>
          </a:solidFill>
          <a:ln>
            <a:noFill/>
          </a:ln>
          <a:effectLst/>
        </p:spPr>
        <p:txBody>
          <a:bodyPr rtlCol="0" anchor="ctr"/>
          <a:lstStyle/>
          <a:p/>
        </p:txBody>
      </p:sp>
      <p:sp>
        <p:nvSpPr>
          <p:cNvPr id="7" name="Rounded Rectangle 6"/>
          <p:cNvSpPr/>
          <p:nvPr/>
        </p:nvSpPr>
        <p:spPr>
          <a:xfrm>
            <a:off x="502920" y="1216152"/>
            <a:ext cx="3606698" cy="658368"/>
          </a:xfrm>
          <a:prstGeom prst="roundRect">
            <a:avLst>
              <a:gd name="adj" fmla="val 12000"/>
            </a:avLst>
          </a:prstGeom>
          <a:solidFill>
            <a:srgbClr val="A63A32"/>
          </a:solidFill>
          <a:ln>
            <a:noFill/>
          </a:ln>
          <a:effectLst/>
        </p:spPr>
        <p:txBody>
          <a:bodyPr rtlCol="0" anchor="ctr" wrap="square" lIns="128016" rIns="128016" tIns="73152" bIns="73152">
            <a:noAutofit/>
          </a:bodyPr>
          <a:lstStyle/>
          <a:p>
            <a:pPr algn="ctr">
              <a:spcBef>
                <a:spcPts val="0"/>
              </a:spcBef>
              <a:spcAft>
                <a:spcPts val="0"/>
              </a:spcAft>
            </a:pPr>
            <a:r>
              <a:rPr lang="tr-TR" sz="2000" b="1" i="0">
                <a:solidFill>
                  <a:srgbClr val="FFFFFF"/>
                </a:solidFill>
                <a:latin typeface="Calibri"/>
              </a:rPr>
              <a:t>6.1.1 · Tehlike, risk ve afet</a:t>
            </a:r>
          </a:p>
        </p:txBody>
      </p:sp>
      <p:sp>
        <p:nvSpPr>
          <p:cNvPr id="8" name="Rounded Rectangle 7"/>
          <p:cNvSpPr/>
          <p:nvPr/>
        </p:nvSpPr>
        <p:spPr>
          <a:xfrm>
            <a:off x="4292498" y="1216152"/>
            <a:ext cx="3606698" cy="5074920"/>
          </a:xfrm>
          <a:prstGeom prst="roundRect">
            <a:avLst>
              <a:gd name="adj" fmla="val 5000"/>
            </a:avLst>
          </a:prstGeom>
          <a:solidFill>
            <a:srgbClr val="F0F0F0"/>
          </a:solidFill>
          <a:ln>
            <a:noFill/>
          </a:ln>
          <a:effectLst/>
        </p:spPr>
        <p:txBody>
          <a:bodyPr rtlCol="0" anchor="ctr"/>
          <a:lstStyle/>
          <a:p/>
        </p:txBody>
      </p:sp>
      <p:sp>
        <p:nvSpPr>
          <p:cNvPr id="9" name="Rounded Rectangle 8"/>
          <p:cNvSpPr/>
          <p:nvPr/>
        </p:nvSpPr>
        <p:spPr>
          <a:xfrm>
            <a:off x="4292498" y="1216152"/>
            <a:ext cx="3606698" cy="658368"/>
          </a:xfrm>
          <a:prstGeom prst="roundRect">
            <a:avLst>
              <a:gd name="adj" fmla="val 12000"/>
            </a:avLst>
          </a:prstGeom>
          <a:solidFill>
            <a:srgbClr val="6A4C93"/>
          </a:solidFill>
          <a:ln>
            <a:noFill/>
          </a:ln>
          <a:effectLst/>
        </p:spPr>
        <p:txBody>
          <a:bodyPr rtlCol="0" anchor="ctr" wrap="square" lIns="128016" rIns="128016" tIns="73152" bIns="73152">
            <a:noAutofit/>
          </a:bodyPr>
          <a:lstStyle/>
          <a:p>
            <a:pPr algn="ctr">
              <a:spcBef>
                <a:spcPts val="0"/>
              </a:spcBef>
              <a:spcAft>
                <a:spcPts val="0"/>
              </a:spcAft>
            </a:pPr>
            <a:r>
              <a:rPr lang="tr-TR" sz="2000" b="1" i="0">
                <a:solidFill>
                  <a:srgbClr val="FFFFFF"/>
                </a:solidFill>
                <a:latin typeface="Calibri"/>
              </a:rPr>
              <a:t>6.1.2 · Afet türleri</a:t>
            </a:r>
          </a:p>
        </p:txBody>
      </p:sp>
      <p:sp>
        <p:nvSpPr>
          <p:cNvPr id="10" name="Rounded Rectangle 9"/>
          <p:cNvSpPr/>
          <p:nvPr/>
        </p:nvSpPr>
        <p:spPr>
          <a:xfrm>
            <a:off x="8082076" y="1216152"/>
            <a:ext cx="3606698" cy="5074920"/>
          </a:xfrm>
          <a:prstGeom prst="roundRect">
            <a:avLst>
              <a:gd name="adj" fmla="val 5000"/>
            </a:avLst>
          </a:prstGeom>
          <a:solidFill>
            <a:srgbClr val="F0F0F0"/>
          </a:solidFill>
          <a:ln>
            <a:noFill/>
          </a:ln>
          <a:effectLst/>
        </p:spPr>
        <p:txBody>
          <a:bodyPr rtlCol="0" anchor="ctr"/>
          <a:lstStyle/>
          <a:p/>
        </p:txBody>
      </p:sp>
      <p:sp>
        <p:nvSpPr>
          <p:cNvPr id="11" name="Rounded Rectangle 10"/>
          <p:cNvSpPr/>
          <p:nvPr/>
        </p:nvSpPr>
        <p:spPr>
          <a:xfrm>
            <a:off x="8082076" y="1216152"/>
            <a:ext cx="3606698" cy="658368"/>
          </a:xfrm>
          <a:prstGeom prst="roundRect">
            <a:avLst>
              <a:gd name="adj" fmla="val 12000"/>
            </a:avLst>
          </a:prstGeom>
          <a:solidFill>
            <a:srgbClr val="1E7B6E"/>
          </a:solidFill>
          <a:ln>
            <a:noFill/>
          </a:ln>
          <a:effectLst/>
        </p:spPr>
        <p:txBody>
          <a:bodyPr rtlCol="0" anchor="ctr" wrap="square" lIns="128016" rIns="128016" tIns="73152" bIns="73152">
            <a:noAutofit/>
          </a:bodyPr>
          <a:lstStyle/>
          <a:p>
            <a:pPr algn="ctr">
              <a:spcBef>
                <a:spcPts val="0"/>
              </a:spcBef>
              <a:spcAft>
                <a:spcPts val="0"/>
              </a:spcAft>
            </a:pPr>
            <a:r>
              <a:rPr lang="tr-TR" sz="2000" b="1" i="0">
                <a:solidFill>
                  <a:srgbClr val="FFFFFF"/>
                </a:solidFill>
                <a:latin typeface="Calibri"/>
              </a:rPr>
              <a:t>6.1.3 · Bütüncül afet yönetimi</a:t>
            </a:r>
          </a:p>
        </p:txBody>
      </p:sp>
      <p:pic>
        <p:nvPicPr>
          <p:cNvPr id="12" name="Picture 11" descr="sonu_venn_s191.jpg"/>
          <p:cNvPicPr>
            <a:picLocks noChangeAspect="1"/>
          </p:cNvPicPr>
          <p:nvPr/>
        </p:nvPicPr>
        <p:blipFill>
          <a:blip r:embed="rId3"/>
          <a:stretch>
            <a:fillRect/>
          </a:stretch>
        </p:blipFill>
        <p:spPr>
          <a:xfrm>
            <a:off x="594360" y="2031205"/>
            <a:ext cx="3423818" cy="3188781"/>
          </a:xfrm>
          <a:prstGeom prst="rect">
            <a:avLst/>
          </a:prstGeom>
        </p:spPr>
      </p:pic>
      <p:sp>
        <p:nvSpPr>
          <p:cNvPr id="13" name="TextBox 12"/>
          <p:cNvSpPr txBox="1"/>
          <p:nvPr/>
        </p:nvSpPr>
        <p:spPr>
          <a:xfrm>
            <a:off x="612648" y="5330952"/>
            <a:ext cx="3387242" cy="914400"/>
          </a:xfrm>
          <a:prstGeom prst="rect">
            <a:avLst/>
          </a:prstGeom>
          <a:noFill/>
        </p:spPr>
        <p:txBody>
          <a:bodyPr wrap="square" anchor="ctr" lIns="73152" rIns="73152" tIns="36576" bIns="36576">
            <a:noAutofit/>
          </a:bodyPr>
          <a:lstStyle/>
          <a:p>
            <a:pPr algn="ctr">
              <a:spcBef>
                <a:spcPts val="0"/>
              </a:spcBef>
              <a:spcAft>
                <a:spcPts val="200"/>
              </a:spcAft>
            </a:pPr>
            <a:r>
              <a:rPr lang="tr-TR" sz="1700" b="1" i="0">
                <a:solidFill>
                  <a:srgbClr val="262626"/>
                </a:solidFill>
                <a:latin typeface="Calibri"/>
              </a:rPr>
              <a:t>Risk: tehlike ∩ güvenlik açığı</a:t>
            </a:r>
          </a:p>
          <a:p>
            <a:pPr algn="ctr">
              <a:spcBef>
                <a:spcPts val="0"/>
              </a:spcBef>
              <a:spcAft>
                <a:spcPts val="0"/>
              </a:spcAft>
            </a:pPr>
            <a:r>
              <a:rPr lang="tr-TR" sz="1700" b="0" i="0">
                <a:solidFill>
                  <a:srgbClr val="262626"/>
                </a:solidFill>
                <a:latin typeface="Calibri"/>
              </a:rPr>
              <a:t>AFET: üçünün kesişimi · hepsi çevre içinde</a:t>
            </a:r>
          </a:p>
        </p:txBody>
      </p:sp>
      <p:sp>
        <p:nvSpPr>
          <p:cNvPr id="14" name="Rounded Rectangle 13"/>
          <p:cNvSpPr/>
          <p:nvPr/>
        </p:nvSpPr>
        <p:spPr>
          <a:xfrm>
            <a:off x="4402226" y="1984248"/>
            <a:ext cx="3387242" cy="384048"/>
          </a:xfrm>
          <a:prstGeom prst="roundRect">
            <a:avLst>
              <a:gd name="adj" fmla="val 25000"/>
            </a:avLst>
          </a:prstGeom>
          <a:solidFill>
            <a:srgbClr val="2F6F8F"/>
          </a:solidFill>
          <a:ln>
            <a:noFill/>
          </a:ln>
          <a:effectLst/>
        </p:spPr>
        <p:txBody>
          <a:bodyPr rtlCol="0" anchor="ctr" wrap="square" lIns="36576" rIns="36576" tIns="0" bIns="0">
            <a:noAutofit/>
          </a:bodyPr>
          <a:lstStyle/>
          <a:p>
            <a:pPr algn="ctr">
              <a:spcBef>
                <a:spcPts val="0"/>
              </a:spcBef>
              <a:spcAft>
                <a:spcPts val="0"/>
              </a:spcAft>
            </a:pPr>
            <a:r>
              <a:rPr lang="tr-TR" sz="1700" b="1" i="0">
                <a:solidFill>
                  <a:srgbClr val="FFFFFF"/>
                </a:solidFill>
                <a:latin typeface="Calibri"/>
              </a:rPr>
              <a:t>Doğa kaynaklı</a:t>
            </a:r>
          </a:p>
        </p:txBody>
      </p:sp>
      <p:cxnSp>
        <p:nvCxnSpPr>
          <p:cNvPr id="15" name="Connector 14"/>
          <p:cNvCxnSpPr/>
          <p:nvPr/>
        </p:nvCxnSpPr>
        <p:spPr>
          <a:xfrm>
            <a:off x="4612538" y="2368296"/>
            <a:ext cx="0" cy="347472"/>
          </a:xfrm>
          <a:prstGeom prst="line">
            <a:avLst/>
          </a:prstGeom>
          <a:ln w="25400">
            <a:solidFill>
              <a:srgbClr val="2F6F8F"/>
            </a:solidFill>
          </a:ln>
        </p:spPr>
      </p:cxnSp>
      <p:cxnSp>
        <p:nvCxnSpPr>
          <p:cNvPr id="16" name="Connector 15"/>
          <p:cNvCxnSpPr/>
          <p:nvPr/>
        </p:nvCxnSpPr>
        <p:spPr>
          <a:xfrm>
            <a:off x="4612538" y="2715768"/>
            <a:ext cx="228600" cy="0"/>
          </a:xfrm>
          <a:prstGeom prst="line">
            <a:avLst/>
          </a:prstGeom>
          <a:ln w="25400">
            <a:solidFill>
              <a:srgbClr val="2F6F8F"/>
            </a:solidFill>
          </a:ln>
        </p:spPr>
      </p:cxnSp>
      <p:sp>
        <p:nvSpPr>
          <p:cNvPr id="17" name="Rounded Rectangle 16"/>
          <p:cNvSpPr/>
          <p:nvPr/>
        </p:nvSpPr>
        <p:spPr>
          <a:xfrm>
            <a:off x="4841138" y="2414016"/>
            <a:ext cx="2948330" cy="603504"/>
          </a:xfrm>
          <a:prstGeom prst="roundRect">
            <a:avLst>
              <a:gd name="adj" fmla="val 15000"/>
            </a:avLst>
          </a:prstGeom>
          <a:solidFill>
            <a:srgbClr val="8B5A2B"/>
          </a:solidFill>
          <a:ln>
            <a:noFill/>
          </a:ln>
          <a:effectLst/>
        </p:spPr>
        <p:txBody>
          <a:bodyPr rtlCol="0" anchor="ctr" wrap="square" lIns="73152" rIns="73152" tIns="18288" bIns="18288">
            <a:noAutofit/>
          </a:bodyPr>
          <a:lstStyle/>
          <a:p>
            <a:pPr algn="l">
              <a:spcBef>
                <a:spcPts val="0"/>
              </a:spcBef>
              <a:spcAft>
                <a:spcPts val="0"/>
              </a:spcAft>
            </a:pPr>
            <a:r>
              <a:rPr lang="tr-TR" sz="1800" b="1" i="0">
                <a:solidFill>
                  <a:srgbClr val="FFFFFF"/>
                </a:solidFill>
                <a:latin typeface="Calibri"/>
              </a:rPr>
              <a:t>Jeolojik</a:t>
            </a:r>
          </a:p>
          <a:p>
            <a:pPr algn="l">
              <a:spcBef>
                <a:spcPts val="0"/>
              </a:spcBef>
              <a:spcAft>
                <a:spcPts val="0"/>
              </a:spcAft>
            </a:pPr>
            <a:r>
              <a:rPr lang="tr-TR" sz="1440" b="0" i="0">
                <a:solidFill>
                  <a:srgbClr val="FFFFFF"/>
                </a:solidFill>
                <a:latin typeface="Calibri"/>
              </a:rPr>
              <a:t>deprem, volkanik faaliyetler</a:t>
            </a:r>
          </a:p>
        </p:txBody>
      </p:sp>
      <p:cxnSp>
        <p:nvCxnSpPr>
          <p:cNvPr id="18" name="Connector 17"/>
          <p:cNvCxnSpPr/>
          <p:nvPr/>
        </p:nvCxnSpPr>
        <p:spPr>
          <a:xfrm>
            <a:off x="4612538" y="3017520"/>
            <a:ext cx="0" cy="347472"/>
          </a:xfrm>
          <a:prstGeom prst="line">
            <a:avLst/>
          </a:prstGeom>
          <a:ln w="25400">
            <a:solidFill>
              <a:srgbClr val="2F6F8F"/>
            </a:solidFill>
          </a:ln>
        </p:spPr>
      </p:cxnSp>
      <p:cxnSp>
        <p:nvCxnSpPr>
          <p:cNvPr id="19" name="Connector 18"/>
          <p:cNvCxnSpPr/>
          <p:nvPr/>
        </p:nvCxnSpPr>
        <p:spPr>
          <a:xfrm>
            <a:off x="4612538" y="3364992"/>
            <a:ext cx="228600" cy="0"/>
          </a:xfrm>
          <a:prstGeom prst="line">
            <a:avLst/>
          </a:prstGeom>
          <a:ln w="25400">
            <a:solidFill>
              <a:srgbClr val="2F6F8F"/>
            </a:solidFill>
          </a:ln>
        </p:spPr>
      </p:cxnSp>
      <p:sp>
        <p:nvSpPr>
          <p:cNvPr id="20" name="Rounded Rectangle 19"/>
          <p:cNvSpPr/>
          <p:nvPr/>
        </p:nvSpPr>
        <p:spPr>
          <a:xfrm>
            <a:off x="4841138" y="3063240"/>
            <a:ext cx="2948330" cy="603504"/>
          </a:xfrm>
          <a:prstGeom prst="roundRect">
            <a:avLst>
              <a:gd name="adj" fmla="val 15000"/>
            </a:avLst>
          </a:prstGeom>
          <a:solidFill>
            <a:srgbClr val="2C6696"/>
          </a:solidFill>
          <a:ln>
            <a:noFill/>
          </a:ln>
          <a:effectLst/>
        </p:spPr>
        <p:txBody>
          <a:bodyPr rtlCol="0" anchor="ctr" wrap="square" lIns="73152" rIns="73152" tIns="18288" bIns="18288">
            <a:noAutofit/>
          </a:bodyPr>
          <a:lstStyle/>
          <a:p>
            <a:pPr algn="l">
              <a:spcBef>
                <a:spcPts val="0"/>
              </a:spcBef>
              <a:spcAft>
                <a:spcPts val="0"/>
              </a:spcAft>
            </a:pPr>
            <a:r>
              <a:rPr lang="tr-TR" sz="1800" b="1" i="0">
                <a:solidFill>
                  <a:srgbClr val="FFFFFF"/>
                </a:solidFill>
                <a:latin typeface="Calibri"/>
              </a:rPr>
              <a:t>Klimatik-hidrolojik</a:t>
            </a:r>
          </a:p>
          <a:p>
            <a:pPr algn="l">
              <a:spcBef>
                <a:spcPts val="0"/>
              </a:spcBef>
              <a:spcAft>
                <a:spcPts val="0"/>
              </a:spcAft>
            </a:pPr>
            <a:r>
              <a:rPr lang="tr-TR" sz="1440" b="0" i="0">
                <a:solidFill>
                  <a:srgbClr val="FFFFFF"/>
                </a:solidFill>
                <a:latin typeface="Calibri"/>
              </a:rPr>
              <a:t>kuraklık, sel</a:t>
            </a:r>
          </a:p>
        </p:txBody>
      </p:sp>
      <p:cxnSp>
        <p:nvCxnSpPr>
          <p:cNvPr id="21" name="Connector 20"/>
          <p:cNvCxnSpPr/>
          <p:nvPr/>
        </p:nvCxnSpPr>
        <p:spPr>
          <a:xfrm>
            <a:off x="4612538" y="3666744"/>
            <a:ext cx="0" cy="347472"/>
          </a:xfrm>
          <a:prstGeom prst="line">
            <a:avLst/>
          </a:prstGeom>
          <a:ln w="25400">
            <a:solidFill>
              <a:srgbClr val="2F6F8F"/>
            </a:solidFill>
          </a:ln>
        </p:spPr>
      </p:cxnSp>
      <p:cxnSp>
        <p:nvCxnSpPr>
          <p:cNvPr id="22" name="Connector 21"/>
          <p:cNvCxnSpPr/>
          <p:nvPr/>
        </p:nvCxnSpPr>
        <p:spPr>
          <a:xfrm>
            <a:off x="4612538" y="4014216"/>
            <a:ext cx="228600" cy="0"/>
          </a:xfrm>
          <a:prstGeom prst="line">
            <a:avLst/>
          </a:prstGeom>
          <a:ln w="25400">
            <a:solidFill>
              <a:srgbClr val="2F6F8F"/>
            </a:solidFill>
          </a:ln>
        </p:spPr>
      </p:cxnSp>
      <p:sp>
        <p:nvSpPr>
          <p:cNvPr id="23" name="Rounded Rectangle 22"/>
          <p:cNvSpPr/>
          <p:nvPr/>
        </p:nvSpPr>
        <p:spPr>
          <a:xfrm>
            <a:off x="4841138" y="3712464"/>
            <a:ext cx="2948330" cy="603504"/>
          </a:xfrm>
          <a:prstGeom prst="roundRect">
            <a:avLst>
              <a:gd name="adj" fmla="val 15000"/>
            </a:avLst>
          </a:prstGeom>
          <a:solidFill>
            <a:srgbClr val="3E8E41"/>
          </a:solidFill>
          <a:ln>
            <a:noFill/>
          </a:ln>
          <a:effectLst/>
        </p:spPr>
        <p:txBody>
          <a:bodyPr rtlCol="0" anchor="ctr" wrap="square" lIns="73152" rIns="73152" tIns="18288" bIns="18288">
            <a:noAutofit/>
          </a:bodyPr>
          <a:lstStyle/>
          <a:p>
            <a:pPr algn="l">
              <a:spcBef>
                <a:spcPts val="0"/>
              </a:spcBef>
              <a:spcAft>
                <a:spcPts val="0"/>
              </a:spcAft>
            </a:pPr>
            <a:r>
              <a:rPr lang="tr-TR" sz="1800" b="1" i="0">
                <a:solidFill>
                  <a:srgbClr val="FFFFFF"/>
                </a:solidFill>
                <a:latin typeface="Calibri"/>
              </a:rPr>
              <a:t>Biyolojik</a:t>
            </a:r>
          </a:p>
          <a:p>
            <a:pPr algn="l">
              <a:spcBef>
                <a:spcPts val="0"/>
              </a:spcBef>
              <a:spcAft>
                <a:spcPts val="0"/>
              </a:spcAft>
            </a:pPr>
            <a:r>
              <a:rPr lang="tr-TR" sz="1440" b="0" i="0">
                <a:solidFill>
                  <a:srgbClr val="FFFFFF"/>
                </a:solidFill>
                <a:latin typeface="Calibri"/>
              </a:rPr>
              <a:t>erozyon, salgınlar</a:t>
            </a:r>
          </a:p>
        </p:txBody>
      </p:sp>
      <p:sp>
        <p:nvSpPr>
          <p:cNvPr id="24" name="Rounded Rectangle 23"/>
          <p:cNvSpPr/>
          <p:nvPr/>
        </p:nvSpPr>
        <p:spPr>
          <a:xfrm>
            <a:off x="4402226" y="4407408"/>
            <a:ext cx="3387242" cy="384048"/>
          </a:xfrm>
          <a:prstGeom prst="roundRect">
            <a:avLst>
              <a:gd name="adj" fmla="val 25000"/>
            </a:avLst>
          </a:prstGeom>
          <a:solidFill>
            <a:srgbClr val="A0521A"/>
          </a:solidFill>
          <a:ln>
            <a:noFill/>
          </a:ln>
          <a:effectLst/>
        </p:spPr>
        <p:txBody>
          <a:bodyPr rtlCol="0" anchor="ctr" wrap="square" lIns="36576" rIns="36576" tIns="0" bIns="0">
            <a:noAutofit/>
          </a:bodyPr>
          <a:lstStyle/>
          <a:p>
            <a:pPr algn="ctr">
              <a:spcBef>
                <a:spcPts val="0"/>
              </a:spcBef>
              <a:spcAft>
                <a:spcPts val="0"/>
              </a:spcAft>
            </a:pPr>
            <a:r>
              <a:rPr lang="tr-TR" sz="1700" b="1" i="0">
                <a:solidFill>
                  <a:srgbClr val="FFFFFF"/>
                </a:solidFill>
                <a:latin typeface="Calibri"/>
              </a:rPr>
              <a:t>İnsan kaynaklı</a:t>
            </a:r>
          </a:p>
        </p:txBody>
      </p:sp>
      <p:cxnSp>
        <p:nvCxnSpPr>
          <p:cNvPr id="25" name="Connector 24"/>
          <p:cNvCxnSpPr/>
          <p:nvPr/>
        </p:nvCxnSpPr>
        <p:spPr>
          <a:xfrm>
            <a:off x="4612538" y="4791456"/>
            <a:ext cx="0" cy="347472"/>
          </a:xfrm>
          <a:prstGeom prst="line">
            <a:avLst/>
          </a:prstGeom>
          <a:ln w="25400">
            <a:solidFill>
              <a:srgbClr val="A0521A"/>
            </a:solidFill>
          </a:ln>
        </p:spPr>
      </p:cxnSp>
      <p:cxnSp>
        <p:nvCxnSpPr>
          <p:cNvPr id="26" name="Connector 25"/>
          <p:cNvCxnSpPr/>
          <p:nvPr/>
        </p:nvCxnSpPr>
        <p:spPr>
          <a:xfrm>
            <a:off x="4612538" y="5138928"/>
            <a:ext cx="228600" cy="0"/>
          </a:xfrm>
          <a:prstGeom prst="line">
            <a:avLst/>
          </a:prstGeom>
          <a:ln w="25400">
            <a:solidFill>
              <a:srgbClr val="A0521A"/>
            </a:solidFill>
          </a:ln>
        </p:spPr>
      </p:cxnSp>
      <p:sp>
        <p:nvSpPr>
          <p:cNvPr id="27" name="Rounded Rectangle 26"/>
          <p:cNvSpPr/>
          <p:nvPr/>
        </p:nvSpPr>
        <p:spPr>
          <a:xfrm>
            <a:off x="4841138" y="4837176"/>
            <a:ext cx="2948330" cy="603504"/>
          </a:xfrm>
          <a:prstGeom prst="roundRect">
            <a:avLst>
              <a:gd name="adj" fmla="val 15000"/>
            </a:avLst>
          </a:prstGeom>
          <a:solidFill>
            <a:srgbClr val="7A4EA0"/>
          </a:solidFill>
          <a:ln>
            <a:noFill/>
          </a:ln>
          <a:effectLst/>
        </p:spPr>
        <p:txBody>
          <a:bodyPr rtlCol="0" anchor="ctr" wrap="square" lIns="73152" rIns="73152" tIns="18288" bIns="18288">
            <a:noAutofit/>
          </a:bodyPr>
          <a:lstStyle/>
          <a:p>
            <a:pPr algn="l">
              <a:spcBef>
                <a:spcPts val="0"/>
              </a:spcBef>
              <a:spcAft>
                <a:spcPts val="0"/>
              </a:spcAft>
            </a:pPr>
            <a:r>
              <a:rPr lang="tr-TR" sz="1800" b="1" i="0">
                <a:solidFill>
                  <a:srgbClr val="FFFFFF"/>
                </a:solidFill>
                <a:latin typeface="Calibri"/>
              </a:rPr>
              <a:t>Sosyal</a:t>
            </a:r>
          </a:p>
          <a:p>
            <a:pPr algn="l">
              <a:spcBef>
                <a:spcPts val="0"/>
              </a:spcBef>
              <a:spcAft>
                <a:spcPts val="0"/>
              </a:spcAft>
            </a:pPr>
            <a:r>
              <a:rPr lang="tr-TR" sz="1440" b="0" i="0">
                <a:solidFill>
                  <a:srgbClr val="FFFFFF"/>
                </a:solidFill>
                <a:latin typeface="Calibri"/>
              </a:rPr>
              <a:t>savaşlar, göçler</a:t>
            </a:r>
          </a:p>
        </p:txBody>
      </p:sp>
      <p:cxnSp>
        <p:nvCxnSpPr>
          <p:cNvPr id="28" name="Connector 27"/>
          <p:cNvCxnSpPr/>
          <p:nvPr/>
        </p:nvCxnSpPr>
        <p:spPr>
          <a:xfrm>
            <a:off x="4612538" y="5440680"/>
            <a:ext cx="0" cy="347472"/>
          </a:xfrm>
          <a:prstGeom prst="line">
            <a:avLst/>
          </a:prstGeom>
          <a:ln w="25400">
            <a:solidFill>
              <a:srgbClr val="A0521A"/>
            </a:solidFill>
          </a:ln>
        </p:spPr>
      </p:cxnSp>
      <p:cxnSp>
        <p:nvCxnSpPr>
          <p:cNvPr id="29" name="Connector 28"/>
          <p:cNvCxnSpPr/>
          <p:nvPr/>
        </p:nvCxnSpPr>
        <p:spPr>
          <a:xfrm>
            <a:off x="4612538" y="5788152"/>
            <a:ext cx="228600" cy="0"/>
          </a:xfrm>
          <a:prstGeom prst="line">
            <a:avLst/>
          </a:prstGeom>
          <a:ln w="25400">
            <a:solidFill>
              <a:srgbClr val="A0521A"/>
            </a:solidFill>
          </a:ln>
        </p:spPr>
      </p:cxnSp>
      <p:sp>
        <p:nvSpPr>
          <p:cNvPr id="30" name="Rounded Rectangle 29"/>
          <p:cNvSpPr/>
          <p:nvPr/>
        </p:nvSpPr>
        <p:spPr>
          <a:xfrm>
            <a:off x="4841138" y="5486400"/>
            <a:ext cx="2948330" cy="603504"/>
          </a:xfrm>
          <a:prstGeom prst="roundRect">
            <a:avLst>
              <a:gd name="adj" fmla="val 15000"/>
            </a:avLst>
          </a:prstGeom>
          <a:solidFill>
            <a:srgbClr val="5A6470"/>
          </a:solidFill>
          <a:ln>
            <a:noFill/>
          </a:ln>
          <a:effectLst/>
        </p:spPr>
        <p:txBody>
          <a:bodyPr rtlCol="0" anchor="ctr" wrap="square" lIns="73152" rIns="73152" tIns="18288" bIns="18288">
            <a:noAutofit/>
          </a:bodyPr>
          <a:lstStyle/>
          <a:p>
            <a:pPr algn="l">
              <a:spcBef>
                <a:spcPts val="0"/>
              </a:spcBef>
              <a:spcAft>
                <a:spcPts val="0"/>
              </a:spcAft>
            </a:pPr>
            <a:r>
              <a:rPr lang="tr-TR" sz="1800" b="1" i="0">
                <a:solidFill>
                  <a:srgbClr val="FFFFFF"/>
                </a:solidFill>
                <a:latin typeface="Calibri"/>
              </a:rPr>
              <a:t>Teknolojik</a:t>
            </a:r>
          </a:p>
          <a:p>
            <a:pPr algn="l">
              <a:spcBef>
                <a:spcPts val="0"/>
              </a:spcBef>
              <a:spcAft>
                <a:spcPts val="0"/>
              </a:spcAft>
            </a:pPr>
            <a:r>
              <a:rPr lang="tr-TR" sz="1440" b="0" i="0">
                <a:solidFill>
                  <a:srgbClr val="FFFFFF"/>
                </a:solidFill>
                <a:latin typeface="Calibri"/>
              </a:rPr>
              <a:t>maden ve ulaşım kazaları</a:t>
            </a:r>
          </a:p>
        </p:txBody>
      </p:sp>
      <p:pic>
        <p:nvPicPr>
          <p:cNvPr id="31" name="Picture 30" descr="sonu_dongu_s212.jpg"/>
          <p:cNvPicPr>
            <a:picLocks noChangeAspect="1"/>
          </p:cNvPicPr>
          <p:nvPr/>
        </p:nvPicPr>
        <p:blipFill>
          <a:blip r:embed="rId4"/>
          <a:stretch>
            <a:fillRect/>
          </a:stretch>
        </p:blipFill>
        <p:spPr>
          <a:xfrm>
            <a:off x="8183691" y="1965960"/>
            <a:ext cx="3403468" cy="3319272"/>
          </a:xfrm>
          <a:prstGeom prst="rect">
            <a:avLst/>
          </a:prstGeom>
        </p:spPr>
      </p:pic>
      <p:sp>
        <p:nvSpPr>
          <p:cNvPr id="32" name="TextBox 31"/>
          <p:cNvSpPr txBox="1"/>
          <p:nvPr/>
        </p:nvSpPr>
        <p:spPr>
          <a:xfrm>
            <a:off x="8191804" y="5330952"/>
            <a:ext cx="3387242" cy="914400"/>
          </a:xfrm>
          <a:prstGeom prst="rect">
            <a:avLst/>
          </a:prstGeom>
          <a:noFill/>
        </p:spPr>
        <p:txBody>
          <a:bodyPr wrap="square" anchor="ctr" lIns="73152" rIns="73152" tIns="36576" bIns="36576">
            <a:noAutofit/>
          </a:bodyPr>
          <a:lstStyle/>
          <a:p>
            <a:pPr algn="ctr">
              <a:spcBef>
                <a:spcPts val="0"/>
              </a:spcBef>
              <a:spcAft>
                <a:spcPts val="200"/>
              </a:spcAft>
            </a:pPr>
            <a:r>
              <a:rPr lang="tr-TR" sz="1600" b="0" i="0">
                <a:solidFill>
                  <a:srgbClr val="262626"/>
                </a:solidFill>
                <a:latin typeface="Calibri"/>
              </a:rPr>
              <a:t>Risk yönetimi: risk ve zarar azaltma, hazırlıklı olma</a:t>
            </a:r>
          </a:p>
          <a:p>
            <a:pPr algn="ctr">
              <a:spcBef>
                <a:spcPts val="0"/>
              </a:spcBef>
              <a:spcAft>
                <a:spcPts val="0"/>
              </a:spcAft>
            </a:pPr>
            <a:r>
              <a:rPr lang="tr-TR" sz="1600" b="0" i="0">
                <a:solidFill>
                  <a:srgbClr val="262626"/>
                </a:solidFill>
                <a:latin typeface="Calibri"/>
              </a:rPr>
              <a:t>Kriz yönetimi: müdahale, iyileştirme</a:t>
            </a:r>
          </a:p>
        </p:txBody>
      </p:sp>
      <p:sp>
        <p:nvSpPr>
          <p:cNvPr id="33" name="TextBox 32"/>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34" name="Rounded Rectangle 33"/>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191, 196, 212</a:t>
            </a:r>
          </a:p>
        </p:txBody>
      </p:sp>
      <p:sp>
        <p:nvSpPr>
          <p:cNvPr id="35" name="TextBox 34"/>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249 / 250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Ünite sonu: öz değerlendirme</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ÜNİTE SONU</a:t>
            </a:r>
          </a:p>
        </p:txBody>
      </p:sp>
      <p:sp>
        <p:nvSpPr>
          <p:cNvPr id="6" name="Rounded Rectangle 5"/>
          <p:cNvSpPr/>
          <p:nvPr/>
        </p:nvSpPr>
        <p:spPr>
          <a:xfrm>
            <a:off x="502920" y="1216152"/>
            <a:ext cx="3606698" cy="3520440"/>
          </a:xfrm>
          <a:prstGeom prst="roundRect">
            <a:avLst>
              <a:gd name="adj" fmla="val 5000"/>
            </a:avLst>
          </a:prstGeom>
          <a:solidFill>
            <a:srgbClr val="F0F0F0"/>
          </a:solidFill>
          <a:ln>
            <a:noFill/>
          </a:ln>
          <a:effectLst/>
        </p:spPr>
        <p:txBody>
          <a:bodyPr rtlCol="0" anchor="ctr"/>
          <a:lstStyle/>
          <a:p/>
        </p:txBody>
      </p:sp>
      <p:sp>
        <p:nvSpPr>
          <p:cNvPr id="7" name="Rounded Rectangle 6"/>
          <p:cNvSpPr/>
          <p:nvPr/>
        </p:nvSpPr>
        <p:spPr>
          <a:xfrm>
            <a:off x="502920" y="1216152"/>
            <a:ext cx="3606698" cy="502920"/>
          </a:xfrm>
          <a:prstGeom prst="roundRect">
            <a:avLst>
              <a:gd name="adj" fmla="val 15000"/>
            </a:avLst>
          </a:prstGeom>
          <a:solidFill>
            <a:srgbClr val="A63A32"/>
          </a:solidFill>
          <a:ln>
            <a:noFill/>
          </a:ln>
          <a:effectLst/>
        </p:spPr>
        <p:txBody>
          <a:bodyPr rtlCol="0" anchor="ctr" wrap="square" lIns="128016" rIns="128016" tIns="73152" bIns="73152">
            <a:noAutofit/>
          </a:bodyPr>
          <a:lstStyle/>
          <a:p>
            <a:pPr algn="ctr">
              <a:spcBef>
                <a:spcPts val="0"/>
              </a:spcBef>
              <a:spcAft>
                <a:spcPts val="0"/>
              </a:spcAft>
            </a:pPr>
            <a:r>
              <a:rPr lang="tr-TR" sz="1800" b="1" i="0">
                <a:solidFill>
                  <a:srgbClr val="FFFFFF"/>
                </a:solidFill>
                <a:latin typeface="Calibri"/>
              </a:rPr>
              <a:t>COĞ.9.6.1</a:t>
            </a:r>
          </a:p>
        </p:txBody>
      </p:sp>
      <p:sp>
        <p:nvSpPr>
          <p:cNvPr id="8" name="TextBox 7"/>
          <p:cNvSpPr txBox="1"/>
          <p:nvPr/>
        </p:nvSpPr>
        <p:spPr>
          <a:xfrm>
            <a:off x="640080" y="1764792"/>
            <a:ext cx="3332378" cy="1143000"/>
          </a:xfrm>
          <a:prstGeom prst="rect">
            <a:avLst/>
          </a:prstGeom>
          <a:noFill/>
        </p:spPr>
        <p:txBody>
          <a:bodyPr wrap="square" anchor="ctr" lIns="73152" rIns="73152" tIns="36576" bIns="36576">
            <a:noAutofit/>
          </a:bodyPr>
          <a:lstStyle/>
          <a:p>
            <a:pPr algn="l">
              <a:spcBef>
                <a:spcPts val="0"/>
              </a:spcBef>
              <a:spcAft>
                <a:spcPts val="0"/>
              </a:spcAft>
            </a:pPr>
            <a:r>
              <a:rPr lang="tr-TR" sz="1600" b="0" i="1">
                <a:solidFill>
                  <a:srgbClr val="767676"/>
                </a:solidFill>
                <a:latin typeface="Calibri"/>
              </a:rPr>
              <a:t>Tehlike, risk ve afet kavramlarını çözümleyebilme</a:t>
            </a:r>
          </a:p>
        </p:txBody>
      </p:sp>
      <p:sp>
        <p:nvSpPr>
          <p:cNvPr id="9" name="TextBox 8"/>
          <p:cNvSpPr txBox="1"/>
          <p:nvPr/>
        </p:nvSpPr>
        <p:spPr>
          <a:xfrm>
            <a:off x="640080" y="2953512"/>
            <a:ext cx="3332378" cy="1554480"/>
          </a:xfrm>
          <a:prstGeom prst="rect">
            <a:avLst/>
          </a:prstGeom>
          <a:noFill/>
        </p:spPr>
        <p:txBody>
          <a:bodyPr wrap="square" anchor="ctr" lIns="73152" rIns="73152" tIns="36576" bIns="36576">
            <a:noAutofit/>
          </a:bodyPr>
          <a:lstStyle/>
          <a:p>
            <a:pPr algn="l">
              <a:spcBef>
                <a:spcPts val="0"/>
              </a:spcBef>
              <a:spcAft>
                <a:spcPts val="0"/>
              </a:spcAft>
            </a:pPr>
            <a:r>
              <a:rPr lang="tr-TR" sz="2200" b="1" i="0">
                <a:solidFill>
                  <a:srgbClr val="262626"/>
                </a:solidFill>
                <a:latin typeface="Calibri"/>
              </a:rPr>
              <a:t>Tehlike, risk ve afet arasındaki ilişkiyi bir örnekle açıklayabiliyor muyum?</a:t>
            </a:r>
          </a:p>
        </p:txBody>
      </p:sp>
      <p:sp>
        <p:nvSpPr>
          <p:cNvPr id="10" name="Rounded Rectangle 9"/>
          <p:cNvSpPr/>
          <p:nvPr/>
        </p:nvSpPr>
        <p:spPr>
          <a:xfrm>
            <a:off x="4292498" y="1216152"/>
            <a:ext cx="3606698" cy="3520440"/>
          </a:xfrm>
          <a:prstGeom prst="roundRect">
            <a:avLst>
              <a:gd name="adj" fmla="val 5000"/>
            </a:avLst>
          </a:prstGeom>
          <a:solidFill>
            <a:srgbClr val="F0F0F0"/>
          </a:solidFill>
          <a:ln>
            <a:noFill/>
          </a:ln>
          <a:effectLst/>
        </p:spPr>
        <p:txBody>
          <a:bodyPr rtlCol="0" anchor="ctr"/>
          <a:lstStyle/>
          <a:p/>
        </p:txBody>
      </p:sp>
      <p:sp>
        <p:nvSpPr>
          <p:cNvPr id="11" name="Rounded Rectangle 10"/>
          <p:cNvSpPr/>
          <p:nvPr/>
        </p:nvSpPr>
        <p:spPr>
          <a:xfrm>
            <a:off x="4292498" y="1216152"/>
            <a:ext cx="3606698" cy="502920"/>
          </a:xfrm>
          <a:prstGeom prst="roundRect">
            <a:avLst>
              <a:gd name="adj" fmla="val 15000"/>
            </a:avLst>
          </a:prstGeom>
          <a:solidFill>
            <a:srgbClr val="6A4C93"/>
          </a:solidFill>
          <a:ln>
            <a:noFill/>
          </a:ln>
          <a:effectLst/>
        </p:spPr>
        <p:txBody>
          <a:bodyPr rtlCol="0" anchor="ctr" wrap="square" lIns="128016" rIns="128016" tIns="73152" bIns="73152">
            <a:noAutofit/>
          </a:bodyPr>
          <a:lstStyle/>
          <a:p>
            <a:pPr algn="ctr">
              <a:spcBef>
                <a:spcPts val="0"/>
              </a:spcBef>
              <a:spcAft>
                <a:spcPts val="0"/>
              </a:spcAft>
            </a:pPr>
            <a:r>
              <a:rPr lang="tr-TR" sz="1800" b="1" i="0">
                <a:solidFill>
                  <a:srgbClr val="FFFFFF"/>
                </a:solidFill>
                <a:latin typeface="Calibri"/>
              </a:rPr>
              <a:t>COĞ.9.6.2</a:t>
            </a:r>
          </a:p>
        </p:txBody>
      </p:sp>
      <p:sp>
        <p:nvSpPr>
          <p:cNvPr id="12" name="TextBox 11"/>
          <p:cNvSpPr txBox="1"/>
          <p:nvPr/>
        </p:nvSpPr>
        <p:spPr>
          <a:xfrm>
            <a:off x="4429658" y="1764792"/>
            <a:ext cx="3332378" cy="1143000"/>
          </a:xfrm>
          <a:prstGeom prst="rect">
            <a:avLst/>
          </a:prstGeom>
          <a:noFill/>
        </p:spPr>
        <p:txBody>
          <a:bodyPr wrap="square" anchor="ctr" lIns="73152" rIns="73152" tIns="36576" bIns="36576">
            <a:noAutofit/>
          </a:bodyPr>
          <a:lstStyle/>
          <a:p>
            <a:pPr algn="l">
              <a:spcBef>
                <a:spcPts val="0"/>
              </a:spcBef>
              <a:spcAft>
                <a:spcPts val="0"/>
              </a:spcAft>
            </a:pPr>
            <a:r>
              <a:rPr lang="tr-TR" sz="1600" b="0" i="1">
                <a:solidFill>
                  <a:srgbClr val="767676"/>
                </a:solidFill>
                <a:latin typeface="Calibri"/>
              </a:rPr>
              <a:t>Afetleri sınıflandırabilme</a:t>
            </a:r>
          </a:p>
        </p:txBody>
      </p:sp>
      <p:sp>
        <p:nvSpPr>
          <p:cNvPr id="13" name="TextBox 12"/>
          <p:cNvSpPr txBox="1"/>
          <p:nvPr/>
        </p:nvSpPr>
        <p:spPr>
          <a:xfrm>
            <a:off x="4429658" y="2953512"/>
            <a:ext cx="3332378" cy="1554480"/>
          </a:xfrm>
          <a:prstGeom prst="rect">
            <a:avLst/>
          </a:prstGeom>
          <a:noFill/>
        </p:spPr>
        <p:txBody>
          <a:bodyPr wrap="square" anchor="ctr" lIns="73152" rIns="73152" tIns="36576" bIns="36576">
            <a:noAutofit/>
          </a:bodyPr>
          <a:lstStyle/>
          <a:p>
            <a:pPr algn="l">
              <a:spcBef>
                <a:spcPts val="0"/>
              </a:spcBef>
              <a:spcAft>
                <a:spcPts val="0"/>
              </a:spcAft>
            </a:pPr>
            <a:r>
              <a:rPr lang="tr-TR" sz="2200" b="1" i="0">
                <a:solidFill>
                  <a:srgbClr val="262626"/>
                </a:solidFill>
                <a:latin typeface="Calibri"/>
              </a:rPr>
              <a:t>Bir afeti oluşum kaynağına göre sınıflandırıp gerekçesini söyleyebiliyor muyum?</a:t>
            </a:r>
          </a:p>
        </p:txBody>
      </p:sp>
      <p:sp>
        <p:nvSpPr>
          <p:cNvPr id="14" name="Rounded Rectangle 13"/>
          <p:cNvSpPr/>
          <p:nvPr/>
        </p:nvSpPr>
        <p:spPr>
          <a:xfrm>
            <a:off x="8082076" y="1216152"/>
            <a:ext cx="3606698" cy="3520440"/>
          </a:xfrm>
          <a:prstGeom prst="roundRect">
            <a:avLst>
              <a:gd name="adj" fmla="val 5000"/>
            </a:avLst>
          </a:prstGeom>
          <a:solidFill>
            <a:srgbClr val="F0F0F0"/>
          </a:solidFill>
          <a:ln>
            <a:noFill/>
          </a:ln>
          <a:effectLst/>
        </p:spPr>
        <p:txBody>
          <a:bodyPr rtlCol="0" anchor="ctr"/>
          <a:lstStyle/>
          <a:p/>
        </p:txBody>
      </p:sp>
      <p:sp>
        <p:nvSpPr>
          <p:cNvPr id="15" name="Rounded Rectangle 14"/>
          <p:cNvSpPr/>
          <p:nvPr/>
        </p:nvSpPr>
        <p:spPr>
          <a:xfrm>
            <a:off x="8082076" y="1216152"/>
            <a:ext cx="3606698" cy="502920"/>
          </a:xfrm>
          <a:prstGeom prst="roundRect">
            <a:avLst>
              <a:gd name="adj" fmla="val 15000"/>
            </a:avLst>
          </a:prstGeom>
          <a:solidFill>
            <a:srgbClr val="1E7B6E"/>
          </a:solidFill>
          <a:ln>
            <a:noFill/>
          </a:ln>
          <a:effectLst/>
        </p:spPr>
        <p:txBody>
          <a:bodyPr rtlCol="0" anchor="ctr" wrap="square" lIns="128016" rIns="128016" tIns="73152" bIns="73152">
            <a:noAutofit/>
          </a:bodyPr>
          <a:lstStyle/>
          <a:p>
            <a:pPr algn="ctr">
              <a:spcBef>
                <a:spcPts val="0"/>
              </a:spcBef>
              <a:spcAft>
                <a:spcPts val="0"/>
              </a:spcAft>
            </a:pPr>
            <a:r>
              <a:rPr lang="tr-TR" sz="1800" b="1" i="0">
                <a:solidFill>
                  <a:srgbClr val="FFFFFF"/>
                </a:solidFill>
                <a:latin typeface="Calibri"/>
              </a:rPr>
              <a:t>COĞ.9.6.3</a:t>
            </a:r>
          </a:p>
        </p:txBody>
      </p:sp>
      <p:sp>
        <p:nvSpPr>
          <p:cNvPr id="16" name="TextBox 15"/>
          <p:cNvSpPr txBox="1"/>
          <p:nvPr/>
        </p:nvSpPr>
        <p:spPr>
          <a:xfrm>
            <a:off x="8219236" y="1764792"/>
            <a:ext cx="3332378" cy="1143000"/>
          </a:xfrm>
          <a:prstGeom prst="rect">
            <a:avLst/>
          </a:prstGeom>
          <a:noFill/>
        </p:spPr>
        <p:txBody>
          <a:bodyPr wrap="square" anchor="ctr" lIns="73152" rIns="73152" tIns="36576" bIns="36576">
            <a:noAutofit/>
          </a:bodyPr>
          <a:lstStyle/>
          <a:p>
            <a:pPr algn="l">
              <a:spcBef>
                <a:spcPts val="0"/>
              </a:spcBef>
              <a:spcAft>
                <a:spcPts val="0"/>
              </a:spcAft>
            </a:pPr>
            <a:r>
              <a:rPr lang="tr-TR" sz="1600" b="0" i="1">
                <a:solidFill>
                  <a:srgbClr val="767676"/>
                </a:solidFill>
                <a:latin typeface="Calibri"/>
              </a:rPr>
              <a:t>Bütüncül afet yönetimi uygulamalarını tablo, grafik, şekil ve/veya diyagramlar aracılığıyla yorumlayabilme</a:t>
            </a:r>
          </a:p>
        </p:txBody>
      </p:sp>
      <p:sp>
        <p:nvSpPr>
          <p:cNvPr id="17" name="TextBox 16"/>
          <p:cNvSpPr txBox="1"/>
          <p:nvPr/>
        </p:nvSpPr>
        <p:spPr>
          <a:xfrm>
            <a:off x="8219236" y="2953512"/>
            <a:ext cx="3332378" cy="1554480"/>
          </a:xfrm>
          <a:prstGeom prst="rect">
            <a:avLst/>
          </a:prstGeom>
          <a:noFill/>
        </p:spPr>
        <p:txBody>
          <a:bodyPr wrap="square" anchor="ctr" lIns="73152" rIns="73152" tIns="36576" bIns="36576">
            <a:noAutofit/>
          </a:bodyPr>
          <a:lstStyle/>
          <a:p>
            <a:pPr algn="l">
              <a:spcBef>
                <a:spcPts val="0"/>
              </a:spcBef>
              <a:spcAft>
                <a:spcPts val="0"/>
              </a:spcAft>
            </a:pPr>
            <a:r>
              <a:rPr lang="tr-TR" sz="2200" b="1" i="0">
                <a:solidFill>
                  <a:srgbClr val="262626"/>
                </a:solidFill>
                <a:latin typeface="Calibri"/>
              </a:rPr>
              <a:t>Döngü şemasını ve klasik-yeni yaklaşım tablosunu yorumlayabiliyor muyum?</a:t>
            </a:r>
          </a:p>
        </p:txBody>
      </p:sp>
      <p:sp>
        <p:nvSpPr>
          <p:cNvPr id="18" name="Rounded Rectangle 17"/>
          <p:cNvSpPr/>
          <p:nvPr/>
        </p:nvSpPr>
        <p:spPr>
          <a:xfrm>
            <a:off x="502920" y="4901184"/>
            <a:ext cx="11185855" cy="1389888"/>
          </a:xfrm>
          <a:prstGeom prst="roundRect">
            <a:avLst>
              <a:gd name="adj" fmla="val 8000"/>
            </a:avLst>
          </a:prstGeom>
          <a:solidFill>
            <a:srgbClr val="FFF3D1"/>
          </a:solidFill>
          <a:ln>
            <a:noFill/>
          </a:ln>
          <a:effectLst/>
        </p:spPr>
        <p:txBody>
          <a:bodyPr rtlCol="0" anchor="ctr" wrap="square" lIns="128016" rIns="128016" tIns="73152" bIns="73152">
            <a:noAutofit/>
          </a:bodyPr>
          <a:lstStyle/>
          <a:p>
            <a:pPr algn="ctr">
              <a:spcBef>
                <a:spcPts val="0"/>
              </a:spcBef>
              <a:spcAft>
                <a:spcPts val="300"/>
              </a:spcAft>
            </a:pPr>
            <a:r>
              <a:rPr lang="tr-TR" sz="2100" b="1" i="0">
                <a:solidFill>
                  <a:srgbClr val="262626"/>
                </a:solidFill>
                <a:latin typeface="Calibri"/>
              </a:rPr>
              <a:t>En çok zorlandığım soru: ……    ·    Tekrar edeceğim konu: ……</a:t>
            </a:r>
          </a:p>
          <a:p>
            <a:pPr algn="ctr">
              <a:spcBef>
                <a:spcPts val="0"/>
              </a:spcBef>
              <a:spcAft>
                <a:spcPts val="0"/>
              </a:spcAft>
            </a:pPr>
            <a:r>
              <a:rPr lang="tr-TR" sz="1700" b="0" i="0">
                <a:solidFill>
                  <a:srgbClr val="262626"/>
                </a:solidFill>
                <a:latin typeface="Calibri"/>
              </a:rPr>
              <a:t>Defterine yaz; 2. yazılı öncesi bu konunun sorularını yeniden çöz.</a:t>
            </a:r>
          </a:p>
        </p:txBody>
      </p:sp>
      <p:sp>
        <p:nvSpPr>
          <p:cNvPr id="19" name="TextBox 18"/>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20" name="Rounded Rectangle 19"/>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186</a:t>
            </a:r>
          </a:p>
        </p:txBody>
      </p:sp>
      <p:sp>
        <p:nvSpPr>
          <p:cNvPr id="21" name="TextBox 20"/>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250 / 250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Kaynaklar ve Haklar</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KAYNAKÇA</a:t>
            </a:r>
          </a:p>
        </p:txBody>
      </p:sp>
      <p:sp>
        <p:nvSpPr>
          <p:cNvPr id="6" name="Rounded Rectangle 5"/>
          <p:cNvSpPr/>
          <p:nvPr/>
        </p:nvSpPr>
        <p:spPr>
          <a:xfrm>
            <a:off x="502920" y="1280160"/>
            <a:ext cx="11185855" cy="1508760"/>
          </a:xfrm>
          <a:prstGeom prst="roundRect">
            <a:avLst>
              <a:gd name="adj" fmla="val 8000"/>
            </a:avLst>
          </a:prstGeom>
          <a:solidFill>
            <a:srgbClr val="F0F0F0"/>
          </a:solidFill>
          <a:ln>
            <a:noFill/>
          </a:ln>
          <a:effectLst/>
        </p:spPr>
        <p:txBody>
          <a:bodyPr rtlCol="0" anchor="t" wrap="square" lIns="128016" rIns="128016" tIns="73152" bIns="73152">
            <a:noAutofit/>
          </a:bodyPr>
          <a:lstStyle/>
          <a:p>
            <a:pPr algn="l">
              <a:spcBef>
                <a:spcPts val="0"/>
              </a:spcBef>
              <a:spcAft>
                <a:spcPts val="0"/>
              </a:spcAft>
            </a:pPr>
            <a:r>
              <a:rPr lang="tr-TR" sz="1650" b="1" i="0">
                <a:solidFill>
                  <a:srgbClr val="262626"/>
                </a:solidFill>
                <a:latin typeface="Calibri"/>
              </a:rPr>
              <a:t>Ders kitabı.</a:t>
            </a:r>
            <a:r>
              <a:rPr lang="tr-TR" sz="1650" b="0" i="0">
                <a:solidFill>
                  <a:srgbClr val="262626"/>
                </a:solidFill>
                <a:latin typeface="Calibri"/>
              </a:rPr>
              <a:t> Coğrafya 9. Sınıf Ders Kitabı (Ortaöğretim), 2026-2027 baskısı. </a:t>
            </a:r>
            <a:r>
              <a:rPr lang="tr-TR" sz="1650" b="1" i="0">
                <a:solidFill>
                  <a:srgbClr val="262626"/>
                </a:solidFill>
                <a:latin typeface="Calibri"/>
              </a:rPr>
              <a:t>Yazarlar:</a:t>
            </a:r>
            <a:r>
              <a:rPr lang="tr-TR" sz="1650" b="0" i="0">
                <a:solidFill>
                  <a:srgbClr val="262626"/>
                </a:solidFill>
                <a:latin typeface="Calibri"/>
              </a:rPr>
              <a:t> Dr. Gülten İçel, Alper Soyatlar, Beyhan Polat, Bülent Akça, Cem Erdebil, Kenan Türkez, Mehmet Ekici, Mutlu Karakoç, Nihal Öztürk, Nurullah Balşen, Orhan Ekin, Ramazan Bıçaklı, Raşit Düzgün, Soner Cırık, Tuba Dirim. Millî Eğitim Bakanlığı Yayınları No 9606 · Ders Kitapları Dizisi No 2027 · Devlet Kitapları, 2026 · ISBN 978-975-11-8046-9. Slaytlardaki “Kitap s. …” etiketleri bu baskının sayfalarıdır.</a:t>
            </a:r>
          </a:p>
        </p:txBody>
      </p:sp>
      <p:sp>
        <p:nvSpPr>
          <p:cNvPr id="7" name="Rounded Rectangle 6"/>
          <p:cNvSpPr/>
          <p:nvPr/>
        </p:nvSpPr>
        <p:spPr>
          <a:xfrm>
            <a:off x="502920" y="2916936"/>
            <a:ext cx="11185855" cy="1143000"/>
          </a:xfrm>
          <a:prstGeom prst="roundRect">
            <a:avLst>
              <a:gd name="adj" fmla="val 8000"/>
            </a:avLst>
          </a:prstGeom>
          <a:solidFill>
            <a:srgbClr val="F0F0F0"/>
          </a:solidFill>
          <a:ln>
            <a:noFill/>
          </a:ln>
          <a:effectLst/>
        </p:spPr>
        <p:txBody>
          <a:bodyPr rtlCol="0" anchor="t" wrap="square" lIns="128016" rIns="128016" tIns="73152" bIns="73152">
            <a:noAutofit/>
          </a:bodyPr>
          <a:lstStyle/>
          <a:p>
            <a:pPr algn="l">
              <a:spcBef>
                <a:spcPts val="0"/>
              </a:spcBef>
              <a:spcAft>
                <a:spcPts val="0"/>
              </a:spcAft>
            </a:pPr>
            <a:r>
              <a:rPr lang="tr-TR" sz="1650" b="1" i="0">
                <a:solidFill>
                  <a:srgbClr val="262626"/>
                </a:solidFill>
                <a:latin typeface="Calibri"/>
              </a:rPr>
              <a:t>Öğretim programı ve etkinlikler.</a:t>
            </a:r>
            <a:r>
              <a:rPr lang="tr-TR" sz="1650" b="0" i="0">
                <a:solidFill>
                  <a:srgbClr val="262626"/>
                </a:solidFill>
                <a:latin typeface="Calibri"/>
              </a:rPr>
              <a:t> Coğrafya dersi öğretim programı (2026 nüshası): Talim ve Terbiye Kurulunun 23.05.2024 tarihli ve 20 sayılı kararıyla kabul edilen, 13.05.2026 tarihli ve 53 sayılı kararıyla güncellenen program. Etkinliklerin bir bölümü MEB Ortaöğretim Genel Müdürlüğünün OGM Materyal platformundaki etkileşimli etkinliklerle paralel kurulmuştur.</a:t>
            </a:r>
          </a:p>
        </p:txBody>
      </p:sp>
      <p:sp>
        <p:nvSpPr>
          <p:cNvPr id="8" name="Rounded Rectangle 7"/>
          <p:cNvSpPr/>
          <p:nvPr/>
        </p:nvSpPr>
        <p:spPr>
          <a:xfrm>
            <a:off x="502920" y="4187952"/>
            <a:ext cx="11185855" cy="1371600"/>
          </a:xfrm>
          <a:prstGeom prst="roundRect">
            <a:avLst>
              <a:gd name="adj" fmla="val 8000"/>
            </a:avLst>
          </a:prstGeom>
          <a:solidFill>
            <a:srgbClr val="F0F0F0"/>
          </a:solidFill>
          <a:ln>
            <a:noFill/>
          </a:ln>
          <a:effectLst/>
        </p:spPr>
        <p:txBody>
          <a:bodyPr rtlCol="0" anchor="t" wrap="square" lIns="128016" rIns="128016" tIns="73152" bIns="73152">
            <a:noAutofit/>
          </a:bodyPr>
          <a:lstStyle/>
          <a:p>
            <a:pPr algn="l">
              <a:spcBef>
                <a:spcPts val="0"/>
              </a:spcBef>
              <a:spcAft>
                <a:spcPts val="0"/>
              </a:spcAft>
            </a:pPr>
            <a:r>
              <a:rPr lang="tr-TR" sz="1650" b="1" i="0">
                <a:solidFill>
                  <a:srgbClr val="262626"/>
                </a:solidFill>
                <a:latin typeface="Calibri"/>
              </a:rPr>
              <a:t>Haklar ve lisans.</a:t>
            </a:r>
            <a:r>
              <a:rPr lang="tr-TR" sz="1650" b="0" i="0">
                <a:solidFill>
                  <a:srgbClr val="262626"/>
                </a:solidFill>
                <a:latin typeface="Calibri"/>
              </a:rPr>
              <a:t> Ders kitabından, kitabın karekod içeriklerinden (EBA) ve OGM Materyal'den alınan metin, soru ve görsellerin hakları Millî Eğitim Bakanlığına aittir; eğitim ve öğretim amacıyla, kaynak gösterilerek alıntılanmıştır (5846 sayılı Fikir ve Sanat Eserleri Kanunu md. 34). Sunumun tasarımı, ders akışı, etkinlik kurgusu, örnek cevaplar ve öğretmen notları okulapp.org'un özgün katkısıdır; yalnız bu katkılar CC BY 4.0 lisansıyla paylaşılır. Resmî bir Bakanlık materyali değildir.</a:t>
            </a:r>
          </a:p>
        </p:txBody>
      </p:sp>
      <p:sp>
        <p:nvSpPr>
          <p:cNvPr id="9" name="TextBox 8"/>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10" name="TextBox 9"/>
          <p:cNvSpPr txBox="1"/>
          <p:nvPr/>
        </p:nvSpPr>
        <p:spPr>
          <a:xfrm>
            <a:off x="8503920" y="6437376"/>
            <a:ext cx="32918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okulapp.org/cografya · sürüm 2026.10.2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GNL-COG9-SN-U6 — Ünite sonu · Ünite sonu ölçme ve değerlendirme (slayt 221-250)</dc:title>
  <dc:subject>9. Sınıf Coğrafya ders sunumu. Kaynak: Coğrafya 9. Sınıf Ders Kitabı (MEB, 2026-2027 baskısı) ve 2026 öğretim programı. okulapp.org/cografya</dc:subject>
  <dc:creator>okulapp.org</dc:creator>
  <cp:keywords/>
  <dc:description>Kitaptan, karekod içeriklerinden (EBA) ve OGM Materyal'den alınan metin, soru ve görsellerin hakları MEB'e aittir (5846 sayılı Kanun md. 34 kapsamında kaynak gösterilerek alıntı). Özgün katkılar CC BY 4.0 — okulapp.org</dc:description>
  <cp:lastModifiedBy>okulapp.org</cp:lastModifiedBy>
  <cp:revision>1</cp:revision>
  <dcterms:created xsi:type="dcterms:W3CDTF">2013-01-27T09:14:16Z</dcterms:created>
  <dcterms:modified xsi:type="dcterms:W3CDTF">2013-01-27T09:15:58Z</dcterms:modified>
  <cp:category>Ders materyali</cp:category>
  <dc:language>tr-TR</dc:language>
</cp:coreProperties>
</file>